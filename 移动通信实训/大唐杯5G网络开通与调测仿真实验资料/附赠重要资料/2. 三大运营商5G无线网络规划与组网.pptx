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Default Extension="jpg" ContentType="image/jpg"/>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Lst>
  <p:sldSz cx="9144000" cy="5143500"/>
  <p:notesSz cx="9144000" cy="51435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801937" y="125825"/>
            <a:ext cx="3798570" cy="513080"/>
          </a:xfrm>
          <a:prstGeom prst="rect">
            <a:avLst/>
          </a:prstGeom>
        </p:spPr>
        <p:txBody>
          <a:bodyPr wrap="square" lIns="0" tIns="0" rIns="0" bIns="0">
            <a:spAutoFit/>
          </a:bodyPr>
          <a:lstStyle>
            <a:lvl1pPr>
              <a:defRPr sz="3200" b="1" i="0">
                <a:solidFill>
                  <a:schemeClr val="bg1"/>
                </a:solidFill>
                <a:latin typeface="Microsoft JhengHei"/>
                <a:cs typeface="Microsoft JhengHei"/>
              </a:defRPr>
            </a:lvl1pPr>
          </a:lstStyle>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600" b="1" i="0">
                <a:solidFill>
                  <a:schemeClr val="tx1"/>
                </a:solidFill>
                <a:latin typeface="Microsoft YaHei"/>
                <a:cs typeface="Microsoft YaHei"/>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Microsoft JhengHei"/>
                <a:cs typeface="Microsoft JhengHei"/>
              </a:defRPr>
            </a:lvl1pPr>
          </a:lstStyle>
          <a:p/>
        </p:txBody>
      </p:sp>
      <p:sp>
        <p:nvSpPr>
          <p:cNvPr id="3" name="Holder 3"/>
          <p:cNvSpPr>
            <a:spLocks noGrp="1"/>
          </p:cNvSpPr>
          <p:nvPr>
            <p:ph type="body" idx="1"/>
          </p:nvPr>
        </p:nvSpPr>
        <p:spPr/>
        <p:txBody>
          <a:bodyPr lIns="0" tIns="0" rIns="0" bIns="0"/>
          <a:lstStyle>
            <a:lvl1pPr>
              <a:defRPr sz="1600" b="1" i="0">
                <a:solidFill>
                  <a:schemeClr val="tx1"/>
                </a:solidFill>
                <a:latin typeface="Microsoft YaHei"/>
                <a:cs typeface="Microsoft YaHei"/>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Microsoft JhengHei"/>
                <a:cs typeface="Microsoft JhengHei"/>
              </a:defRPr>
            </a:lvl1pPr>
          </a:lstStyle>
          <a:p/>
        </p:txBody>
      </p:sp>
      <p:sp>
        <p:nvSpPr>
          <p:cNvPr id="3" name="Holder 3"/>
          <p:cNvSpPr>
            <a:spLocks noGrp="1"/>
          </p:cNvSpPr>
          <p:nvPr>
            <p:ph idx="2" sz="half"/>
          </p:nvPr>
        </p:nvSpPr>
        <p:spPr>
          <a:xfrm>
            <a:off x="457200" y="1183005"/>
            <a:ext cx="3977640" cy="339471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183005"/>
            <a:ext cx="3977640" cy="339471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Microsoft JhengHei"/>
                <a:cs typeface="Microsoft JhengHei"/>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00100"/>
          </a:xfrm>
          <a:custGeom>
            <a:avLst/>
            <a:gdLst/>
            <a:ahLst/>
            <a:cxnLst/>
            <a:rect l="l" t="t" r="r" b="b"/>
            <a:pathLst>
              <a:path w="9144000" h="800100">
                <a:moveTo>
                  <a:pt x="9144000" y="0"/>
                </a:moveTo>
                <a:lnTo>
                  <a:pt x="0" y="0"/>
                </a:lnTo>
                <a:lnTo>
                  <a:pt x="0" y="800100"/>
                </a:lnTo>
                <a:lnTo>
                  <a:pt x="9144000" y="800100"/>
                </a:lnTo>
                <a:lnTo>
                  <a:pt x="9144000" y="0"/>
                </a:lnTo>
                <a:close/>
              </a:path>
            </a:pathLst>
          </a:custGeom>
          <a:solidFill>
            <a:srgbClr val="0056AC"/>
          </a:solidFill>
        </p:spPr>
        <p:txBody>
          <a:bodyPr wrap="square" lIns="0" tIns="0" rIns="0" bIns="0" rtlCol="0"/>
          <a:lstStyle/>
          <a:p/>
        </p:txBody>
      </p:sp>
      <p:sp>
        <p:nvSpPr>
          <p:cNvPr id="17" name="bg object 17"/>
          <p:cNvSpPr/>
          <p:nvPr/>
        </p:nvSpPr>
        <p:spPr>
          <a:xfrm>
            <a:off x="0" y="0"/>
            <a:ext cx="9144000" cy="800100"/>
          </a:xfrm>
          <a:custGeom>
            <a:avLst/>
            <a:gdLst/>
            <a:ahLst/>
            <a:cxnLst/>
            <a:rect l="l" t="t" r="r" b="b"/>
            <a:pathLst>
              <a:path w="9144000" h="800100">
                <a:moveTo>
                  <a:pt x="0" y="0"/>
                </a:moveTo>
                <a:lnTo>
                  <a:pt x="9144000" y="0"/>
                </a:lnTo>
                <a:lnTo>
                  <a:pt x="9144000" y="800100"/>
                </a:lnTo>
                <a:lnTo>
                  <a:pt x="0" y="800100"/>
                </a:lnTo>
                <a:lnTo>
                  <a:pt x="0" y="0"/>
                </a:lnTo>
                <a:close/>
              </a:path>
            </a:pathLst>
          </a:custGeom>
          <a:ln w="9525">
            <a:solidFill>
              <a:srgbClr val="000000"/>
            </a:solidFill>
          </a:ln>
        </p:spPr>
        <p:txBody>
          <a:bodyPr wrap="square" lIns="0" tIns="0" rIns="0" bIns="0" rtlCol="0"/>
          <a:lstStyle/>
          <a:p/>
        </p:txBody>
      </p:sp>
      <p:pic>
        <p:nvPicPr>
          <p:cNvPr id="18" name="bg object 18"/>
          <p:cNvPicPr/>
          <p:nvPr/>
        </p:nvPicPr>
        <p:blipFill>
          <a:blip r:embed="rId7" cstate="print"/>
          <a:stretch>
            <a:fillRect/>
          </a:stretch>
        </p:blipFill>
        <p:spPr>
          <a:xfrm>
            <a:off x="0" y="4972050"/>
            <a:ext cx="9144000" cy="171450"/>
          </a:xfrm>
          <a:prstGeom prst="rect">
            <a:avLst/>
          </a:prstGeom>
        </p:spPr>
      </p:pic>
      <p:sp>
        <p:nvSpPr>
          <p:cNvPr id="19" name="bg object 19"/>
          <p:cNvSpPr/>
          <p:nvPr/>
        </p:nvSpPr>
        <p:spPr>
          <a:xfrm>
            <a:off x="1066006" y="114894"/>
            <a:ext cx="1905" cy="571500"/>
          </a:xfrm>
          <a:custGeom>
            <a:avLst/>
            <a:gdLst/>
            <a:ahLst/>
            <a:cxnLst/>
            <a:rect l="l" t="t" r="r" b="b"/>
            <a:pathLst>
              <a:path w="1905" h="571500">
                <a:moveTo>
                  <a:pt x="1587" y="0"/>
                </a:moveTo>
                <a:lnTo>
                  <a:pt x="0" y="571500"/>
                </a:lnTo>
              </a:path>
            </a:pathLst>
          </a:custGeom>
          <a:ln w="9525">
            <a:solidFill>
              <a:srgbClr val="B6DCDF"/>
            </a:solidFill>
          </a:ln>
        </p:spPr>
        <p:txBody>
          <a:bodyPr wrap="square" lIns="0" tIns="0" rIns="0" bIns="0" rtlCol="0"/>
          <a:lstStyle/>
          <a:p/>
        </p:txBody>
      </p:sp>
      <p:pic>
        <p:nvPicPr>
          <p:cNvPr id="20" name="bg object 20"/>
          <p:cNvPicPr/>
          <p:nvPr/>
        </p:nvPicPr>
        <p:blipFill>
          <a:blip r:embed="rId8" cstate="print"/>
          <a:stretch>
            <a:fillRect/>
          </a:stretch>
        </p:blipFill>
        <p:spPr>
          <a:xfrm>
            <a:off x="152400" y="133350"/>
            <a:ext cx="804532" cy="576579"/>
          </a:xfrm>
          <a:prstGeom prst="rect">
            <a:avLst/>
          </a:prstGeom>
        </p:spPr>
      </p:pic>
      <p:sp>
        <p:nvSpPr>
          <p:cNvPr id="2" name="Holder 2"/>
          <p:cNvSpPr>
            <a:spLocks noGrp="1"/>
          </p:cNvSpPr>
          <p:nvPr>
            <p:ph type="title"/>
          </p:nvPr>
        </p:nvSpPr>
        <p:spPr>
          <a:xfrm>
            <a:off x="3415093" y="187706"/>
            <a:ext cx="2467610" cy="513080"/>
          </a:xfrm>
          <a:prstGeom prst="rect">
            <a:avLst/>
          </a:prstGeom>
        </p:spPr>
        <p:txBody>
          <a:bodyPr wrap="square" lIns="0" tIns="0" rIns="0" bIns="0">
            <a:spAutoFit/>
          </a:bodyPr>
          <a:lstStyle>
            <a:lvl1pPr>
              <a:defRPr sz="3200" b="1" i="0">
                <a:solidFill>
                  <a:schemeClr val="bg1"/>
                </a:solidFill>
                <a:latin typeface="Microsoft JhengHei"/>
                <a:cs typeface="Microsoft JhengHei"/>
              </a:defRPr>
            </a:lvl1pPr>
          </a:lstStyle>
          <a:p/>
        </p:txBody>
      </p:sp>
      <p:sp>
        <p:nvSpPr>
          <p:cNvPr id="3" name="Holder 3"/>
          <p:cNvSpPr>
            <a:spLocks noGrp="1"/>
          </p:cNvSpPr>
          <p:nvPr>
            <p:ph type="body" idx="1"/>
          </p:nvPr>
        </p:nvSpPr>
        <p:spPr>
          <a:xfrm>
            <a:off x="307340" y="1605145"/>
            <a:ext cx="5398135" cy="2963545"/>
          </a:xfrm>
          <a:prstGeom prst="rect">
            <a:avLst/>
          </a:prstGeom>
        </p:spPr>
        <p:txBody>
          <a:bodyPr wrap="square" lIns="0" tIns="0" rIns="0" bIns="0">
            <a:spAutoFit/>
          </a:bodyPr>
          <a:lstStyle>
            <a:lvl1pPr>
              <a:defRPr sz="1600" b="1" i="0">
                <a:solidFill>
                  <a:schemeClr val="tx1"/>
                </a:solidFill>
                <a:latin typeface="Microsoft YaHei"/>
                <a:cs typeface="Microsoft YaHei"/>
              </a:defRPr>
            </a:lvl1pPr>
          </a:lstStyle>
          <a:p/>
        </p:txBody>
      </p:sp>
      <p:sp>
        <p:nvSpPr>
          <p:cNvPr id="4" name="Holder 4"/>
          <p:cNvSpPr>
            <a:spLocks noGrp="1"/>
          </p:cNvSpPr>
          <p:nvPr>
            <p:ph type="ftr" idx="5" sz="quarter"/>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jp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jp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jpg"/><Relationship Id="rId14"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 Id="rId12" Type="http://schemas.openxmlformats.org/officeDocument/2006/relationships/image" Target="../media/image42.png"/><Relationship Id="rId13" Type="http://schemas.openxmlformats.org/officeDocument/2006/relationships/image" Target="../media/image4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 Id="rId9" Type="http://schemas.openxmlformats.org/officeDocument/2006/relationships/image" Target="../media/image64.png"/><Relationship Id="rId10" Type="http://schemas.openxmlformats.org/officeDocument/2006/relationships/image" Target="../media/image65.png"/><Relationship Id="rId11" Type="http://schemas.openxmlformats.org/officeDocument/2006/relationships/image" Target="../media/image66.png"/><Relationship Id="rId12" Type="http://schemas.openxmlformats.org/officeDocument/2006/relationships/image" Target="../media/image67.png"/><Relationship Id="rId13" Type="http://schemas.openxmlformats.org/officeDocument/2006/relationships/image" Target="../media/image68.png"/><Relationship Id="rId14" Type="http://schemas.openxmlformats.org/officeDocument/2006/relationships/image" Target="../media/image69.png"/><Relationship Id="rId15" Type="http://schemas.openxmlformats.org/officeDocument/2006/relationships/image" Target="../media/image70.png"/><Relationship Id="rId16" Type="http://schemas.openxmlformats.org/officeDocument/2006/relationships/image" Target="../media/image71.png"/><Relationship Id="rId17" Type="http://schemas.openxmlformats.org/officeDocument/2006/relationships/image" Target="../media/image72.png"/><Relationship Id="rId18" Type="http://schemas.openxmlformats.org/officeDocument/2006/relationships/image" Target="../media/image73.png"/><Relationship Id="rId19" Type="http://schemas.openxmlformats.org/officeDocument/2006/relationships/image" Target="../media/image74.png"/><Relationship Id="rId20" Type="http://schemas.openxmlformats.org/officeDocument/2006/relationships/image" Target="../media/image75.png"/><Relationship Id="rId21" Type="http://schemas.openxmlformats.org/officeDocument/2006/relationships/image" Target="../media/image76.png"/><Relationship Id="rId22" Type="http://schemas.openxmlformats.org/officeDocument/2006/relationships/image" Target="../media/image77.png"/><Relationship Id="rId23" Type="http://schemas.openxmlformats.org/officeDocument/2006/relationships/image" Target="../media/image78.png"/><Relationship Id="rId24" Type="http://schemas.openxmlformats.org/officeDocument/2006/relationships/image" Target="../media/image79.png"/><Relationship Id="rId25" Type="http://schemas.openxmlformats.org/officeDocument/2006/relationships/image" Target="../media/image80.png"/><Relationship Id="rId26" Type="http://schemas.openxmlformats.org/officeDocument/2006/relationships/image" Target="../media/image81.png"/><Relationship Id="rId27" Type="http://schemas.openxmlformats.org/officeDocument/2006/relationships/image" Target="../media/image82.png"/><Relationship Id="rId28" Type="http://schemas.openxmlformats.org/officeDocument/2006/relationships/image" Target="../media/image83.png"/><Relationship Id="rId29" Type="http://schemas.openxmlformats.org/officeDocument/2006/relationships/image" Target="../media/image84.png"/><Relationship Id="rId30" Type="http://schemas.openxmlformats.org/officeDocument/2006/relationships/image" Target="../media/image85.png"/><Relationship Id="rId31" Type="http://schemas.openxmlformats.org/officeDocument/2006/relationships/image" Target="../media/image86.png"/><Relationship Id="rId32" Type="http://schemas.openxmlformats.org/officeDocument/2006/relationships/image" Target="../media/image87.png"/><Relationship Id="rId33" Type="http://schemas.openxmlformats.org/officeDocument/2006/relationships/image" Target="../media/image88.png"/><Relationship Id="rId34" Type="http://schemas.openxmlformats.org/officeDocument/2006/relationships/image" Target="../media/image89.png"/><Relationship Id="rId35" Type="http://schemas.openxmlformats.org/officeDocument/2006/relationships/image" Target="../media/image90.png"/><Relationship Id="rId36" Type="http://schemas.openxmlformats.org/officeDocument/2006/relationships/image" Target="../media/image91.png"/><Relationship Id="rId37" Type="http://schemas.openxmlformats.org/officeDocument/2006/relationships/image" Target="../media/image92.png"/><Relationship Id="rId38" Type="http://schemas.openxmlformats.org/officeDocument/2006/relationships/image" Target="../media/image93.png"/><Relationship Id="rId39" Type="http://schemas.openxmlformats.org/officeDocument/2006/relationships/image" Target="../media/image94.png"/><Relationship Id="rId40" Type="http://schemas.openxmlformats.org/officeDocument/2006/relationships/image" Target="../media/image95.png"/><Relationship Id="rId41" Type="http://schemas.openxmlformats.org/officeDocument/2006/relationships/image" Target="../media/image96.png"/><Relationship Id="rId42" Type="http://schemas.openxmlformats.org/officeDocument/2006/relationships/image" Target="../media/image97.png"/><Relationship Id="rId43" Type="http://schemas.openxmlformats.org/officeDocument/2006/relationships/image" Target="../media/image98.png"/><Relationship Id="rId44" Type="http://schemas.openxmlformats.org/officeDocument/2006/relationships/image" Target="../media/image99.png"/><Relationship Id="rId45" Type="http://schemas.openxmlformats.org/officeDocument/2006/relationships/image" Target="../media/image100.png"/><Relationship Id="rId46" Type="http://schemas.openxmlformats.org/officeDocument/2006/relationships/image" Target="../media/image101.png"/><Relationship Id="rId47" Type="http://schemas.openxmlformats.org/officeDocument/2006/relationships/image" Target="../media/image102.png"/><Relationship Id="rId48" Type="http://schemas.openxmlformats.org/officeDocument/2006/relationships/image" Target="../media/image103.png"/><Relationship Id="rId49" Type="http://schemas.openxmlformats.org/officeDocument/2006/relationships/image" Target="../media/image104.png"/><Relationship Id="rId50" Type="http://schemas.openxmlformats.org/officeDocument/2006/relationships/image" Target="../media/image105.png"/><Relationship Id="rId51" Type="http://schemas.openxmlformats.org/officeDocument/2006/relationships/image" Target="../media/image106.png"/><Relationship Id="rId52" Type="http://schemas.openxmlformats.org/officeDocument/2006/relationships/image" Target="../media/image107.png"/><Relationship Id="rId53" Type="http://schemas.openxmlformats.org/officeDocument/2006/relationships/image" Target="../media/image108.png"/><Relationship Id="rId54" Type="http://schemas.openxmlformats.org/officeDocument/2006/relationships/image" Target="../media/image109.png"/><Relationship Id="rId55" Type="http://schemas.openxmlformats.org/officeDocument/2006/relationships/image" Target="../media/image110.png"/><Relationship Id="rId56" Type="http://schemas.openxmlformats.org/officeDocument/2006/relationships/image" Target="../media/image111.png"/><Relationship Id="rId57" Type="http://schemas.openxmlformats.org/officeDocument/2006/relationships/image" Target="../media/image112.png"/><Relationship Id="rId58" Type="http://schemas.openxmlformats.org/officeDocument/2006/relationships/image" Target="../media/image113.png"/><Relationship Id="rId59" Type="http://schemas.openxmlformats.org/officeDocument/2006/relationships/image" Target="../media/image114.png"/><Relationship Id="rId60" Type="http://schemas.openxmlformats.org/officeDocument/2006/relationships/image" Target="../media/image115.png"/><Relationship Id="rId61" Type="http://schemas.openxmlformats.org/officeDocument/2006/relationships/image" Target="../media/image116.png"/><Relationship Id="rId62" Type="http://schemas.openxmlformats.org/officeDocument/2006/relationships/image" Target="../media/image117.png"/><Relationship Id="rId63" Type="http://schemas.openxmlformats.org/officeDocument/2006/relationships/image" Target="../media/image118.png"/><Relationship Id="rId64" Type="http://schemas.openxmlformats.org/officeDocument/2006/relationships/image" Target="../media/image119.png"/><Relationship Id="rId65" Type="http://schemas.openxmlformats.org/officeDocument/2006/relationships/image" Target="../media/image120.png"/><Relationship Id="rId66" Type="http://schemas.openxmlformats.org/officeDocument/2006/relationships/image" Target="../media/image1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30.png"/><Relationship Id="rId11" Type="http://schemas.openxmlformats.org/officeDocument/2006/relationships/image" Target="../media/image131.png"/><Relationship Id="rId12" Type="http://schemas.openxmlformats.org/officeDocument/2006/relationships/image" Target="../media/image132.png"/><Relationship Id="rId13" Type="http://schemas.openxmlformats.org/officeDocument/2006/relationships/image" Target="../media/image133.png"/><Relationship Id="rId14" Type="http://schemas.openxmlformats.org/officeDocument/2006/relationships/image" Target="../media/image134.png"/><Relationship Id="rId15" Type="http://schemas.openxmlformats.org/officeDocument/2006/relationships/image" Target="../media/image135.png"/><Relationship Id="rId16" Type="http://schemas.openxmlformats.org/officeDocument/2006/relationships/image" Target="../media/image136.png"/><Relationship Id="rId17" Type="http://schemas.openxmlformats.org/officeDocument/2006/relationships/image" Target="../media/image137.png"/><Relationship Id="rId18" Type="http://schemas.openxmlformats.org/officeDocument/2006/relationships/image" Target="../media/image138.png"/><Relationship Id="rId19" Type="http://schemas.openxmlformats.org/officeDocument/2006/relationships/image" Target="../media/image139.png"/><Relationship Id="rId20" Type="http://schemas.openxmlformats.org/officeDocument/2006/relationships/image" Target="../media/image140.png"/><Relationship Id="rId21" Type="http://schemas.openxmlformats.org/officeDocument/2006/relationships/image" Target="../media/image141.png"/><Relationship Id="rId22" Type="http://schemas.openxmlformats.org/officeDocument/2006/relationships/image" Target="../media/image142.png"/><Relationship Id="rId23" Type="http://schemas.openxmlformats.org/officeDocument/2006/relationships/image" Target="../media/image143.png"/><Relationship Id="rId24" Type="http://schemas.openxmlformats.org/officeDocument/2006/relationships/image" Target="../media/image144.png"/><Relationship Id="rId25" Type="http://schemas.openxmlformats.org/officeDocument/2006/relationships/image" Target="../media/image145.png"/><Relationship Id="rId26" Type="http://schemas.openxmlformats.org/officeDocument/2006/relationships/image" Target="../media/image146.png"/><Relationship Id="rId27" Type="http://schemas.openxmlformats.org/officeDocument/2006/relationships/image" Target="../media/image147.png"/><Relationship Id="rId28" Type="http://schemas.openxmlformats.org/officeDocument/2006/relationships/image" Target="../media/image148.png"/><Relationship Id="rId29" Type="http://schemas.openxmlformats.org/officeDocument/2006/relationships/image" Target="../media/image149.png"/><Relationship Id="rId30" Type="http://schemas.openxmlformats.org/officeDocument/2006/relationships/image" Target="../media/image150.png"/><Relationship Id="rId31" Type="http://schemas.openxmlformats.org/officeDocument/2006/relationships/image" Target="../media/image151.png"/><Relationship Id="rId32" Type="http://schemas.openxmlformats.org/officeDocument/2006/relationships/image" Target="../media/image152.png"/><Relationship Id="rId33" Type="http://schemas.openxmlformats.org/officeDocument/2006/relationships/image" Target="../media/image153.png"/><Relationship Id="rId34" Type="http://schemas.openxmlformats.org/officeDocument/2006/relationships/image" Target="../media/image154.png"/><Relationship Id="rId35" Type="http://schemas.openxmlformats.org/officeDocument/2006/relationships/image" Target="../media/image155.png"/><Relationship Id="rId36" Type="http://schemas.openxmlformats.org/officeDocument/2006/relationships/image" Target="../media/image156.png"/><Relationship Id="rId37" Type="http://schemas.openxmlformats.org/officeDocument/2006/relationships/image" Target="../media/image157.png"/><Relationship Id="rId38" Type="http://schemas.openxmlformats.org/officeDocument/2006/relationships/image" Target="../media/image158.png"/><Relationship Id="rId39" Type="http://schemas.openxmlformats.org/officeDocument/2006/relationships/image" Target="../media/image159.png"/><Relationship Id="rId40" Type="http://schemas.openxmlformats.org/officeDocument/2006/relationships/image" Target="../media/image160.png"/><Relationship Id="rId41" Type="http://schemas.openxmlformats.org/officeDocument/2006/relationships/image" Target="../media/image161.png"/><Relationship Id="rId42" Type="http://schemas.openxmlformats.org/officeDocument/2006/relationships/image" Target="../media/image162.png"/><Relationship Id="rId43" Type="http://schemas.openxmlformats.org/officeDocument/2006/relationships/image" Target="../media/image163.png"/><Relationship Id="rId44" Type="http://schemas.openxmlformats.org/officeDocument/2006/relationships/image" Target="../media/image164.png"/><Relationship Id="rId45" Type="http://schemas.openxmlformats.org/officeDocument/2006/relationships/image" Target="../media/image165.png"/><Relationship Id="rId46" Type="http://schemas.openxmlformats.org/officeDocument/2006/relationships/image" Target="../media/image166.png"/><Relationship Id="rId47" Type="http://schemas.openxmlformats.org/officeDocument/2006/relationships/image" Target="../media/image167.png"/><Relationship Id="rId48" Type="http://schemas.openxmlformats.org/officeDocument/2006/relationships/image" Target="../media/image168.png"/><Relationship Id="rId49" Type="http://schemas.openxmlformats.org/officeDocument/2006/relationships/image" Target="../media/image169.png"/><Relationship Id="rId50" Type="http://schemas.openxmlformats.org/officeDocument/2006/relationships/image" Target="../media/image170.png"/><Relationship Id="rId51" Type="http://schemas.openxmlformats.org/officeDocument/2006/relationships/image" Target="../media/image17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3.png"/><Relationship Id="rId3" Type="http://schemas.openxmlformats.org/officeDocument/2006/relationships/image" Target="../media/image174.png"/><Relationship Id="rId4" Type="http://schemas.openxmlformats.org/officeDocument/2006/relationships/image" Target="../media/image175.png"/><Relationship Id="rId5" Type="http://schemas.openxmlformats.org/officeDocument/2006/relationships/image" Target="../media/image176.png"/><Relationship Id="rId6" Type="http://schemas.openxmlformats.org/officeDocument/2006/relationships/image" Target="../media/image177.png"/><Relationship Id="rId7" Type="http://schemas.openxmlformats.org/officeDocument/2006/relationships/image" Target="../media/image178.png"/><Relationship Id="rId8" Type="http://schemas.openxmlformats.org/officeDocument/2006/relationships/image" Target="../media/image17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0.png"/><Relationship Id="rId3" Type="http://schemas.openxmlformats.org/officeDocument/2006/relationships/image" Target="../media/image181.png"/><Relationship Id="rId4" Type="http://schemas.openxmlformats.org/officeDocument/2006/relationships/image" Target="../media/image182.png"/><Relationship Id="rId5" Type="http://schemas.openxmlformats.org/officeDocument/2006/relationships/image" Target="../media/image183.png"/><Relationship Id="rId6" Type="http://schemas.openxmlformats.org/officeDocument/2006/relationships/image" Target="../media/image184.png"/><Relationship Id="rId7" Type="http://schemas.openxmlformats.org/officeDocument/2006/relationships/image" Target="../media/image185.png"/><Relationship Id="rId8" Type="http://schemas.openxmlformats.org/officeDocument/2006/relationships/image" Target="../media/image186.png"/><Relationship Id="rId9" Type="http://schemas.openxmlformats.org/officeDocument/2006/relationships/image" Target="../media/image187.png"/><Relationship Id="rId10" Type="http://schemas.openxmlformats.org/officeDocument/2006/relationships/image" Target="../media/image188.png"/><Relationship Id="rId11" Type="http://schemas.openxmlformats.org/officeDocument/2006/relationships/image" Target="../media/image189.png"/><Relationship Id="rId12" Type="http://schemas.openxmlformats.org/officeDocument/2006/relationships/image" Target="../media/image190.png"/><Relationship Id="rId13" Type="http://schemas.openxmlformats.org/officeDocument/2006/relationships/image" Target="../media/image191.png"/><Relationship Id="rId14" Type="http://schemas.openxmlformats.org/officeDocument/2006/relationships/image" Target="../media/image192.png"/><Relationship Id="rId15" Type="http://schemas.openxmlformats.org/officeDocument/2006/relationships/image" Target="../media/image193.png"/><Relationship Id="rId16" Type="http://schemas.openxmlformats.org/officeDocument/2006/relationships/image" Target="../media/image194.png"/><Relationship Id="rId17" Type="http://schemas.openxmlformats.org/officeDocument/2006/relationships/image" Target="../media/image195.png"/><Relationship Id="rId18" Type="http://schemas.openxmlformats.org/officeDocument/2006/relationships/image" Target="../media/image196.png"/><Relationship Id="rId19" Type="http://schemas.openxmlformats.org/officeDocument/2006/relationships/image" Target="../media/image197.png"/><Relationship Id="rId20" Type="http://schemas.openxmlformats.org/officeDocument/2006/relationships/image" Target="../media/image198.png"/><Relationship Id="rId21" Type="http://schemas.openxmlformats.org/officeDocument/2006/relationships/image" Target="../media/image199.png"/><Relationship Id="rId22" Type="http://schemas.openxmlformats.org/officeDocument/2006/relationships/image" Target="../media/image200.png"/><Relationship Id="rId23" Type="http://schemas.openxmlformats.org/officeDocument/2006/relationships/image" Target="../media/image201.png"/><Relationship Id="rId24" Type="http://schemas.openxmlformats.org/officeDocument/2006/relationships/image" Target="../media/image202.png"/><Relationship Id="rId25" Type="http://schemas.openxmlformats.org/officeDocument/2006/relationships/image" Target="../media/image203.png"/><Relationship Id="rId26" Type="http://schemas.openxmlformats.org/officeDocument/2006/relationships/image" Target="../media/image204.png"/><Relationship Id="rId27" Type="http://schemas.openxmlformats.org/officeDocument/2006/relationships/image" Target="../media/image205.png"/><Relationship Id="rId28" Type="http://schemas.openxmlformats.org/officeDocument/2006/relationships/image" Target="../media/image206.png"/><Relationship Id="rId29" Type="http://schemas.openxmlformats.org/officeDocument/2006/relationships/image" Target="../media/image207.png"/><Relationship Id="rId30" Type="http://schemas.openxmlformats.org/officeDocument/2006/relationships/image" Target="../media/image208.png"/><Relationship Id="rId31" Type="http://schemas.openxmlformats.org/officeDocument/2006/relationships/image" Target="../media/image209.png"/><Relationship Id="rId32" Type="http://schemas.openxmlformats.org/officeDocument/2006/relationships/image" Target="../media/image210.png"/><Relationship Id="rId33" Type="http://schemas.openxmlformats.org/officeDocument/2006/relationships/image" Target="../media/image211.png"/><Relationship Id="rId34" Type="http://schemas.openxmlformats.org/officeDocument/2006/relationships/image" Target="../media/image212.png"/><Relationship Id="rId35" Type="http://schemas.openxmlformats.org/officeDocument/2006/relationships/image" Target="../media/image213.png"/><Relationship Id="rId36" Type="http://schemas.openxmlformats.org/officeDocument/2006/relationships/image" Target="../media/image214.png"/><Relationship Id="rId37" Type="http://schemas.openxmlformats.org/officeDocument/2006/relationships/image" Target="../media/image215.png"/><Relationship Id="rId38" Type="http://schemas.openxmlformats.org/officeDocument/2006/relationships/image" Target="../media/image216.png"/><Relationship Id="rId39" Type="http://schemas.openxmlformats.org/officeDocument/2006/relationships/image" Target="../media/image217.png"/><Relationship Id="rId40" Type="http://schemas.openxmlformats.org/officeDocument/2006/relationships/image" Target="../media/image2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0.png"/><Relationship Id="rId3" Type="http://schemas.openxmlformats.org/officeDocument/2006/relationships/image" Target="../media/image221.png"/><Relationship Id="rId4" Type="http://schemas.openxmlformats.org/officeDocument/2006/relationships/image" Target="../media/image222.png"/><Relationship Id="rId5" Type="http://schemas.openxmlformats.org/officeDocument/2006/relationships/image" Target="../media/image223.png"/><Relationship Id="rId6" Type="http://schemas.openxmlformats.org/officeDocument/2006/relationships/image" Target="../media/image224.png"/><Relationship Id="rId7" Type="http://schemas.openxmlformats.org/officeDocument/2006/relationships/image" Target="../media/image225.png"/><Relationship Id="rId8" Type="http://schemas.openxmlformats.org/officeDocument/2006/relationships/image" Target="../media/image226.png"/><Relationship Id="rId9" Type="http://schemas.openxmlformats.org/officeDocument/2006/relationships/image" Target="../media/image227.png"/><Relationship Id="rId10" Type="http://schemas.openxmlformats.org/officeDocument/2006/relationships/image" Target="../media/image228.png"/><Relationship Id="rId11" Type="http://schemas.openxmlformats.org/officeDocument/2006/relationships/image" Target="../media/image229.png"/><Relationship Id="rId12" Type="http://schemas.openxmlformats.org/officeDocument/2006/relationships/image" Target="../media/image230.png"/><Relationship Id="rId13" Type="http://schemas.openxmlformats.org/officeDocument/2006/relationships/image" Target="../media/image231.png"/><Relationship Id="rId14" Type="http://schemas.openxmlformats.org/officeDocument/2006/relationships/image" Target="../media/image232.png"/><Relationship Id="rId15" Type="http://schemas.openxmlformats.org/officeDocument/2006/relationships/image" Target="../media/image233.png"/><Relationship Id="rId16" Type="http://schemas.openxmlformats.org/officeDocument/2006/relationships/image" Target="../media/image234.png"/><Relationship Id="rId17" Type="http://schemas.openxmlformats.org/officeDocument/2006/relationships/image" Target="../media/image235.png"/><Relationship Id="rId18" Type="http://schemas.openxmlformats.org/officeDocument/2006/relationships/image" Target="../media/image236.png"/><Relationship Id="rId19" Type="http://schemas.openxmlformats.org/officeDocument/2006/relationships/image" Target="../media/image237.png"/><Relationship Id="rId20" Type="http://schemas.openxmlformats.org/officeDocument/2006/relationships/image" Target="../media/image23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9.png"/><Relationship Id="rId3" Type="http://schemas.openxmlformats.org/officeDocument/2006/relationships/image" Target="../media/image240.png"/><Relationship Id="rId4" Type="http://schemas.openxmlformats.org/officeDocument/2006/relationships/image" Target="../media/image241.png"/><Relationship Id="rId5" Type="http://schemas.openxmlformats.org/officeDocument/2006/relationships/image" Target="../media/image242.png"/><Relationship Id="rId6" Type="http://schemas.openxmlformats.org/officeDocument/2006/relationships/image" Target="../media/image243.png"/><Relationship Id="rId7" Type="http://schemas.openxmlformats.org/officeDocument/2006/relationships/image" Target="../media/image244.png"/><Relationship Id="rId8" Type="http://schemas.openxmlformats.org/officeDocument/2006/relationships/image" Target="../media/image245.png"/><Relationship Id="rId9" Type="http://schemas.openxmlformats.org/officeDocument/2006/relationships/image" Target="../media/image246.png"/><Relationship Id="rId10" Type="http://schemas.openxmlformats.org/officeDocument/2006/relationships/image" Target="../media/image247.png"/><Relationship Id="rId11" Type="http://schemas.openxmlformats.org/officeDocument/2006/relationships/image" Target="../media/image248.png"/><Relationship Id="rId12" Type="http://schemas.openxmlformats.org/officeDocument/2006/relationships/image" Target="../media/image249.png"/><Relationship Id="rId13" Type="http://schemas.openxmlformats.org/officeDocument/2006/relationships/image" Target="../media/image250.png"/><Relationship Id="rId14" Type="http://schemas.openxmlformats.org/officeDocument/2006/relationships/image" Target="../media/image251.png"/><Relationship Id="rId15" Type="http://schemas.openxmlformats.org/officeDocument/2006/relationships/image" Target="../media/image252.png"/><Relationship Id="rId16" Type="http://schemas.openxmlformats.org/officeDocument/2006/relationships/image" Target="../media/image253.png"/><Relationship Id="rId17" Type="http://schemas.openxmlformats.org/officeDocument/2006/relationships/image" Target="../media/image254.png"/><Relationship Id="rId18" Type="http://schemas.openxmlformats.org/officeDocument/2006/relationships/image" Target="../media/image255.png"/><Relationship Id="rId19" Type="http://schemas.openxmlformats.org/officeDocument/2006/relationships/image" Target="../media/image256.png"/><Relationship Id="rId20" Type="http://schemas.openxmlformats.org/officeDocument/2006/relationships/image" Target="../media/image257.png"/><Relationship Id="rId21" Type="http://schemas.openxmlformats.org/officeDocument/2006/relationships/image" Target="../media/image258.png"/><Relationship Id="rId22" Type="http://schemas.openxmlformats.org/officeDocument/2006/relationships/image" Target="../media/image259.png"/><Relationship Id="rId23" Type="http://schemas.openxmlformats.org/officeDocument/2006/relationships/image" Target="../media/image260.png"/><Relationship Id="rId24" Type="http://schemas.openxmlformats.org/officeDocument/2006/relationships/image" Target="../media/image261.png"/><Relationship Id="rId25" Type="http://schemas.openxmlformats.org/officeDocument/2006/relationships/image" Target="../media/image262.png"/><Relationship Id="rId26" Type="http://schemas.openxmlformats.org/officeDocument/2006/relationships/image" Target="../media/image263.png"/><Relationship Id="rId27" Type="http://schemas.openxmlformats.org/officeDocument/2006/relationships/image" Target="../media/image264.png"/><Relationship Id="rId28" Type="http://schemas.openxmlformats.org/officeDocument/2006/relationships/image" Target="../media/image265.png"/><Relationship Id="rId29" Type="http://schemas.openxmlformats.org/officeDocument/2006/relationships/image" Target="../media/image266.png"/><Relationship Id="rId30" Type="http://schemas.openxmlformats.org/officeDocument/2006/relationships/image" Target="../media/image267.png"/><Relationship Id="rId31" Type="http://schemas.openxmlformats.org/officeDocument/2006/relationships/image" Target="../media/image268.png"/><Relationship Id="rId32" Type="http://schemas.openxmlformats.org/officeDocument/2006/relationships/image" Target="../media/image269.png"/><Relationship Id="rId33" Type="http://schemas.openxmlformats.org/officeDocument/2006/relationships/image" Target="../media/image270.png"/><Relationship Id="rId34" Type="http://schemas.openxmlformats.org/officeDocument/2006/relationships/image" Target="../media/image271.png"/><Relationship Id="rId35" Type="http://schemas.openxmlformats.org/officeDocument/2006/relationships/image" Target="../media/image272.jpg"/><Relationship Id="rId36" Type="http://schemas.openxmlformats.org/officeDocument/2006/relationships/image" Target="../media/image273.jpg"/><Relationship Id="rId37" Type="http://schemas.openxmlformats.org/officeDocument/2006/relationships/image" Target="../media/image274.jpg"/><Relationship Id="rId38" Type="http://schemas.openxmlformats.org/officeDocument/2006/relationships/image" Target="../media/image275.jpg"/><Relationship Id="rId39" Type="http://schemas.openxmlformats.org/officeDocument/2006/relationships/image" Target="../media/image27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7.png"/><Relationship Id="rId3" Type="http://schemas.openxmlformats.org/officeDocument/2006/relationships/image" Target="../media/image278.png"/><Relationship Id="rId4" Type="http://schemas.openxmlformats.org/officeDocument/2006/relationships/image" Target="../media/image279.png"/><Relationship Id="rId5" Type="http://schemas.openxmlformats.org/officeDocument/2006/relationships/image" Target="../media/image259.png"/><Relationship Id="rId6" Type="http://schemas.openxmlformats.org/officeDocument/2006/relationships/image" Target="../media/image280.png"/><Relationship Id="rId7" Type="http://schemas.openxmlformats.org/officeDocument/2006/relationships/image" Target="../media/image281.png"/><Relationship Id="rId8" Type="http://schemas.openxmlformats.org/officeDocument/2006/relationships/image" Target="../media/image282.png"/><Relationship Id="rId9" Type="http://schemas.openxmlformats.org/officeDocument/2006/relationships/image" Target="../media/image283.png"/><Relationship Id="rId10" Type="http://schemas.openxmlformats.org/officeDocument/2006/relationships/image" Target="../media/image284.png"/><Relationship Id="rId11" Type="http://schemas.openxmlformats.org/officeDocument/2006/relationships/image" Target="../media/image285.jpg"/><Relationship Id="rId12" Type="http://schemas.openxmlformats.org/officeDocument/2006/relationships/image" Target="../media/image286.png"/><Relationship Id="rId13" Type="http://schemas.openxmlformats.org/officeDocument/2006/relationships/image" Target="../media/image287.png"/><Relationship Id="rId14" Type="http://schemas.openxmlformats.org/officeDocument/2006/relationships/image" Target="../media/image288.png"/><Relationship Id="rId15" Type="http://schemas.openxmlformats.org/officeDocument/2006/relationships/image" Target="../media/image289.png"/><Relationship Id="rId16" Type="http://schemas.openxmlformats.org/officeDocument/2006/relationships/image" Target="../media/image290.png"/><Relationship Id="rId17" Type="http://schemas.openxmlformats.org/officeDocument/2006/relationships/image" Target="../media/image291.png"/><Relationship Id="rId18" Type="http://schemas.openxmlformats.org/officeDocument/2006/relationships/image" Target="../media/image17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59.png"/><Relationship Id="rId8" Type="http://schemas.openxmlformats.org/officeDocument/2006/relationships/image" Target="../media/image280.png"/><Relationship Id="rId9" Type="http://schemas.openxmlformats.org/officeDocument/2006/relationships/image" Target="../media/image297.png"/><Relationship Id="rId10" Type="http://schemas.openxmlformats.org/officeDocument/2006/relationships/image" Target="../media/image298.png"/><Relationship Id="rId11" Type="http://schemas.openxmlformats.org/officeDocument/2006/relationships/image" Target="../media/image299.png"/><Relationship Id="rId12" Type="http://schemas.openxmlformats.org/officeDocument/2006/relationships/image" Target="../media/image300.png"/><Relationship Id="rId13" Type="http://schemas.openxmlformats.org/officeDocument/2006/relationships/image" Target="../media/image301.png"/><Relationship Id="rId14" Type="http://schemas.openxmlformats.org/officeDocument/2006/relationships/image" Target="../media/image302.png"/><Relationship Id="rId15" Type="http://schemas.openxmlformats.org/officeDocument/2006/relationships/image" Target="../media/image303.png"/><Relationship Id="rId16" Type="http://schemas.openxmlformats.org/officeDocument/2006/relationships/image" Target="../media/image304.png"/><Relationship Id="rId17" Type="http://schemas.openxmlformats.org/officeDocument/2006/relationships/image" Target="../media/image30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6.png"/><Relationship Id="rId3" Type="http://schemas.openxmlformats.org/officeDocument/2006/relationships/image" Target="../media/image307.png"/><Relationship Id="rId4" Type="http://schemas.openxmlformats.org/officeDocument/2006/relationships/image" Target="../media/image308.png"/><Relationship Id="rId5" Type="http://schemas.openxmlformats.org/officeDocument/2006/relationships/image" Target="../media/image30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0.png"/><Relationship Id="rId3" Type="http://schemas.openxmlformats.org/officeDocument/2006/relationships/image" Target="../media/image311.png"/><Relationship Id="rId4" Type="http://schemas.openxmlformats.org/officeDocument/2006/relationships/image" Target="../media/image312.png"/><Relationship Id="rId5" Type="http://schemas.openxmlformats.org/officeDocument/2006/relationships/image" Target="../media/image313.png"/><Relationship Id="rId6" Type="http://schemas.openxmlformats.org/officeDocument/2006/relationships/image" Target="../media/image314.png"/><Relationship Id="rId7" Type="http://schemas.openxmlformats.org/officeDocument/2006/relationships/image" Target="../media/image315.png"/><Relationship Id="rId8" Type="http://schemas.openxmlformats.org/officeDocument/2006/relationships/image" Target="../media/image316.png"/><Relationship Id="rId9" Type="http://schemas.openxmlformats.org/officeDocument/2006/relationships/image" Target="../media/image317.png"/><Relationship Id="rId10" Type="http://schemas.openxmlformats.org/officeDocument/2006/relationships/image" Target="../media/image318.png"/><Relationship Id="rId11" Type="http://schemas.openxmlformats.org/officeDocument/2006/relationships/image" Target="../media/image319.png"/><Relationship Id="rId12" Type="http://schemas.openxmlformats.org/officeDocument/2006/relationships/image" Target="../media/image320.png"/><Relationship Id="rId13" Type="http://schemas.openxmlformats.org/officeDocument/2006/relationships/image" Target="../media/image321.png"/><Relationship Id="rId14" Type="http://schemas.openxmlformats.org/officeDocument/2006/relationships/image" Target="../media/image322.png"/><Relationship Id="rId15" Type="http://schemas.openxmlformats.org/officeDocument/2006/relationships/image" Target="../media/image323.png"/><Relationship Id="rId16" Type="http://schemas.openxmlformats.org/officeDocument/2006/relationships/image" Target="../media/image324.png"/><Relationship Id="rId17" Type="http://schemas.openxmlformats.org/officeDocument/2006/relationships/image" Target="../media/image325.png"/><Relationship Id="rId18" Type="http://schemas.openxmlformats.org/officeDocument/2006/relationships/image" Target="../media/image326.png"/><Relationship Id="rId19" Type="http://schemas.openxmlformats.org/officeDocument/2006/relationships/image" Target="../media/image327.png"/><Relationship Id="rId20" Type="http://schemas.openxmlformats.org/officeDocument/2006/relationships/image" Target="../media/image328.png"/><Relationship Id="rId21" Type="http://schemas.openxmlformats.org/officeDocument/2006/relationships/image" Target="../media/image329.png"/><Relationship Id="rId22" Type="http://schemas.openxmlformats.org/officeDocument/2006/relationships/image" Target="../media/image330.png"/><Relationship Id="rId23" Type="http://schemas.openxmlformats.org/officeDocument/2006/relationships/image" Target="../media/image331.png"/><Relationship Id="rId24" Type="http://schemas.openxmlformats.org/officeDocument/2006/relationships/image" Target="../media/image332.png"/><Relationship Id="rId25" Type="http://schemas.openxmlformats.org/officeDocument/2006/relationships/image" Target="../media/image333.png"/><Relationship Id="rId26" Type="http://schemas.openxmlformats.org/officeDocument/2006/relationships/image" Target="../media/image334.png"/><Relationship Id="rId27" Type="http://schemas.openxmlformats.org/officeDocument/2006/relationships/image" Target="../media/image335.png"/><Relationship Id="rId28" Type="http://schemas.openxmlformats.org/officeDocument/2006/relationships/image" Target="../media/image336.png"/><Relationship Id="rId29" Type="http://schemas.openxmlformats.org/officeDocument/2006/relationships/image" Target="../media/image337.png"/><Relationship Id="rId30" Type="http://schemas.openxmlformats.org/officeDocument/2006/relationships/image" Target="../media/image3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9.png"/><Relationship Id="rId3" Type="http://schemas.openxmlformats.org/officeDocument/2006/relationships/image" Target="../media/image340.png"/><Relationship Id="rId4" Type="http://schemas.openxmlformats.org/officeDocument/2006/relationships/image" Target="../media/image341.png"/><Relationship Id="rId5" Type="http://schemas.openxmlformats.org/officeDocument/2006/relationships/image" Target="../media/image3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3.png"/><Relationship Id="rId3" Type="http://schemas.openxmlformats.org/officeDocument/2006/relationships/image" Target="../media/image344.png"/><Relationship Id="rId4" Type="http://schemas.openxmlformats.org/officeDocument/2006/relationships/image" Target="../media/image345.png"/><Relationship Id="rId5" Type="http://schemas.openxmlformats.org/officeDocument/2006/relationships/image" Target="../media/image296.png"/><Relationship Id="rId6" Type="http://schemas.openxmlformats.org/officeDocument/2006/relationships/image" Target="../media/image259.png"/><Relationship Id="rId7" Type="http://schemas.openxmlformats.org/officeDocument/2006/relationships/image" Target="../media/image280.png"/><Relationship Id="rId8" Type="http://schemas.openxmlformats.org/officeDocument/2006/relationships/image" Target="../media/image346.png"/><Relationship Id="rId9" Type="http://schemas.openxmlformats.org/officeDocument/2006/relationships/image" Target="../media/image347.png"/><Relationship Id="rId10" Type="http://schemas.openxmlformats.org/officeDocument/2006/relationships/image" Target="../media/image348.png"/><Relationship Id="rId11" Type="http://schemas.openxmlformats.org/officeDocument/2006/relationships/image" Target="../media/image349.png"/><Relationship Id="rId12" Type="http://schemas.openxmlformats.org/officeDocument/2006/relationships/image" Target="../media/image350.png"/><Relationship Id="rId13" Type="http://schemas.openxmlformats.org/officeDocument/2006/relationships/image" Target="../media/image351.png"/><Relationship Id="rId14" Type="http://schemas.openxmlformats.org/officeDocument/2006/relationships/image" Target="../media/image352.png"/><Relationship Id="rId15" Type="http://schemas.openxmlformats.org/officeDocument/2006/relationships/image" Target="../media/image353.png"/><Relationship Id="rId16" Type="http://schemas.openxmlformats.org/officeDocument/2006/relationships/image" Target="../media/image301.png"/><Relationship Id="rId17" Type="http://schemas.openxmlformats.org/officeDocument/2006/relationships/image" Target="../media/image302.png"/><Relationship Id="rId18" Type="http://schemas.openxmlformats.org/officeDocument/2006/relationships/image" Target="../media/image354.png"/><Relationship Id="rId19" Type="http://schemas.openxmlformats.org/officeDocument/2006/relationships/image" Target="../media/image35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6.png"/><Relationship Id="rId3" Type="http://schemas.openxmlformats.org/officeDocument/2006/relationships/image" Target="../media/image357.png"/><Relationship Id="rId4" Type="http://schemas.openxmlformats.org/officeDocument/2006/relationships/image" Target="../media/image358.png"/><Relationship Id="rId5" Type="http://schemas.openxmlformats.org/officeDocument/2006/relationships/image" Target="../media/image359.png"/><Relationship Id="rId6" Type="http://schemas.openxmlformats.org/officeDocument/2006/relationships/image" Target="../media/image360.png"/><Relationship Id="rId7" Type="http://schemas.openxmlformats.org/officeDocument/2006/relationships/image" Target="../media/image361.png"/><Relationship Id="rId8" Type="http://schemas.openxmlformats.org/officeDocument/2006/relationships/image" Target="../media/image362.png"/><Relationship Id="rId9" Type="http://schemas.openxmlformats.org/officeDocument/2006/relationships/image" Target="../media/image363.png"/><Relationship Id="rId10" Type="http://schemas.openxmlformats.org/officeDocument/2006/relationships/image" Target="../media/image364.png"/><Relationship Id="rId11" Type="http://schemas.openxmlformats.org/officeDocument/2006/relationships/image" Target="../media/image365.png"/><Relationship Id="rId12" Type="http://schemas.openxmlformats.org/officeDocument/2006/relationships/image" Target="../media/image36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7.jpg"/><Relationship Id="rId3" Type="http://schemas.openxmlformats.org/officeDocument/2006/relationships/image" Target="../media/image368.png"/><Relationship Id="rId4" Type="http://schemas.openxmlformats.org/officeDocument/2006/relationships/image" Target="../media/image369.png"/><Relationship Id="rId5" Type="http://schemas.openxmlformats.org/officeDocument/2006/relationships/image" Target="../media/image370.png"/><Relationship Id="rId6" Type="http://schemas.openxmlformats.org/officeDocument/2006/relationships/image" Target="../media/image371.png"/><Relationship Id="rId7" Type="http://schemas.openxmlformats.org/officeDocument/2006/relationships/image" Target="../media/image37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3.png"/><Relationship Id="rId3" Type="http://schemas.openxmlformats.org/officeDocument/2006/relationships/image" Target="../media/image374.png"/><Relationship Id="rId4" Type="http://schemas.openxmlformats.org/officeDocument/2006/relationships/image" Target="../media/image375.png"/><Relationship Id="rId5" Type="http://schemas.openxmlformats.org/officeDocument/2006/relationships/image" Target="../media/image376.png"/><Relationship Id="rId6" Type="http://schemas.openxmlformats.org/officeDocument/2006/relationships/image" Target="../media/image377.png"/><Relationship Id="rId7" Type="http://schemas.openxmlformats.org/officeDocument/2006/relationships/image" Target="../media/image378.png"/><Relationship Id="rId8" Type="http://schemas.openxmlformats.org/officeDocument/2006/relationships/image" Target="../media/image379.png"/><Relationship Id="rId9" Type="http://schemas.openxmlformats.org/officeDocument/2006/relationships/image" Target="../media/image380.png"/><Relationship Id="rId10" Type="http://schemas.openxmlformats.org/officeDocument/2006/relationships/image" Target="../media/image381.png"/><Relationship Id="rId11" Type="http://schemas.openxmlformats.org/officeDocument/2006/relationships/image" Target="../media/image382.png"/><Relationship Id="rId12" Type="http://schemas.openxmlformats.org/officeDocument/2006/relationships/image" Target="../media/image383.png"/><Relationship Id="rId13" Type="http://schemas.openxmlformats.org/officeDocument/2006/relationships/image" Target="../media/image384.png"/><Relationship Id="rId14" Type="http://schemas.openxmlformats.org/officeDocument/2006/relationships/image" Target="../media/image385.png"/><Relationship Id="rId15" Type="http://schemas.openxmlformats.org/officeDocument/2006/relationships/image" Target="../media/image255.png"/><Relationship Id="rId16" Type="http://schemas.openxmlformats.org/officeDocument/2006/relationships/image" Target="../media/image386.png"/><Relationship Id="rId17" Type="http://schemas.openxmlformats.org/officeDocument/2006/relationships/image" Target="../media/image387.png"/><Relationship Id="rId18" Type="http://schemas.openxmlformats.org/officeDocument/2006/relationships/image" Target="../media/image388.png"/><Relationship Id="rId19" Type="http://schemas.openxmlformats.org/officeDocument/2006/relationships/image" Target="../media/image389.png"/><Relationship Id="rId20" Type="http://schemas.openxmlformats.org/officeDocument/2006/relationships/image" Target="../media/image390.png"/><Relationship Id="rId21" Type="http://schemas.openxmlformats.org/officeDocument/2006/relationships/image" Target="../media/image391.png"/><Relationship Id="rId22" Type="http://schemas.openxmlformats.org/officeDocument/2006/relationships/image" Target="../media/image392.png"/><Relationship Id="rId23" Type="http://schemas.openxmlformats.org/officeDocument/2006/relationships/image" Target="../media/image393.png"/><Relationship Id="rId24" Type="http://schemas.openxmlformats.org/officeDocument/2006/relationships/image" Target="../media/image394.png"/><Relationship Id="rId25" Type="http://schemas.openxmlformats.org/officeDocument/2006/relationships/image" Target="../media/image395.png"/><Relationship Id="rId26" Type="http://schemas.openxmlformats.org/officeDocument/2006/relationships/image" Target="../media/image396.png"/><Relationship Id="rId27" Type="http://schemas.openxmlformats.org/officeDocument/2006/relationships/image" Target="../media/image397.png"/><Relationship Id="rId28" Type="http://schemas.openxmlformats.org/officeDocument/2006/relationships/image" Target="../media/image398.png"/><Relationship Id="rId29" Type="http://schemas.openxmlformats.org/officeDocument/2006/relationships/image" Target="../media/image399.png"/><Relationship Id="rId30" Type="http://schemas.openxmlformats.org/officeDocument/2006/relationships/image" Target="../media/image400.png"/><Relationship Id="rId31" Type="http://schemas.openxmlformats.org/officeDocument/2006/relationships/image" Target="../media/image401.png"/><Relationship Id="rId32" Type="http://schemas.openxmlformats.org/officeDocument/2006/relationships/image" Target="../media/image402.png"/><Relationship Id="rId33" Type="http://schemas.openxmlformats.org/officeDocument/2006/relationships/image" Target="../media/image403.png"/><Relationship Id="rId34" Type="http://schemas.openxmlformats.org/officeDocument/2006/relationships/image" Target="../media/image404.png"/><Relationship Id="rId35" Type="http://schemas.openxmlformats.org/officeDocument/2006/relationships/image" Target="../media/image405.png"/><Relationship Id="rId36" Type="http://schemas.openxmlformats.org/officeDocument/2006/relationships/image" Target="../media/image406.png"/><Relationship Id="rId37" Type="http://schemas.openxmlformats.org/officeDocument/2006/relationships/image" Target="../media/image407.png"/><Relationship Id="rId38" Type="http://schemas.openxmlformats.org/officeDocument/2006/relationships/image" Target="../media/image408.png"/><Relationship Id="rId39" Type="http://schemas.openxmlformats.org/officeDocument/2006/relationships/image" Target="../media/image409.png"/><Relationship Id="rId40" Type="http://schemas.openxmlformats.org/officeDocument/2006/relationships/image" Target="../media/image410.png"/><Relationship Id="rId41" Type="http://schemas.openxmlformats.org/officeDocument/2006/relationships/image" Target="../media/image411.png"/><Relationship Id="rId42" Type="http://schemas.openxmlformats.org/officeDocument/2006/relationships/image" Target="../media/image412.png"/><Relationship Id="rId43" Type="http://schemas.openxmlformats.org/officeDocument/2006/relationships/image" Target="../media/image413.png"/><Relationship Id="rId44" Type="http://schemas.openxmlformats.org/officeDocument/2006/relationships/image" Target="../media/image252.png"/><Relationship Id="rId45" Type="http://schemas.openxmlformats.org/officeDocument/2006/relationships/image" Target="../media/image414.png"/><Relationship Id="rId46" Type="http://schemas.openxmlformats.org/officeDocument/2006/relationships/image" Target="../media/image415.png"/><Relationship Id="rId47" Type="http://schemas.openxmlformats.org/officeDocument/2006/relationships/image" Target="../media/image416.png"/><Relationship Id="rId48" Type="http://schemas.openxmlformats.org/officeDocument/2006/relationships/image" Target="../media/image417.png"/><Relationship Id="rId49" Type="http://schemas.openxmlformats.org/officeDocument/2006/relationships/image" Target="../media/image418.png"/><Relationship Id="rId50" Type="http://schemas.openxmlformats.org/officeDocument/2006/relationships/image" Target="../media/image4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0.jpg"/><Relationship Id="rId3" Type="http://schemas.openxmlformats.org/officeDocument/2006/relationships/image" Target="../media/image421.png"/><Relationship Id="rId4" Type="http://schemas.openxmlformats.org/officeDocument/2006/relationships/image" Target="../media/image422.png"/><Relationship Id="rId5" Type="http://schemas.openxmlformats.org/officeDocument/2006/relationships/image" Target="../media/image423.png"/><Relationship Id="rId6" Type="http://schemas.openxmlformats.org/officeDocument/2006/relationships/image" Target="../media/image424.png"/><Relationship Id="rId7" Type="http://schemas.openxmlformats.org/officeDocument/2006/relationships/image" Target="../media/image425.png"/><Relationship Id="rId8" Type="http://schemas.openxmlformats.org/officeDocument/2006/relationships/image" Target="../media/image426.png"/><Relationship Id="rId9" Type="http://schemas.openxmlformats.org/officeDocument/2006/relationships/image" Target="../media/image427.png"/><Relationship Id="rId10" Type="http://schemas.openxmlformats.org/officeDocument/2006/relationships/image" Target="../media/image428.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1.jpg"/><Relationship Id="rId3" Type="http://schemas.openxmlformats.org/officeDocument/2006/relationships/image" Target="../media/image432.png"/><Relationship Id="rId4" Type="http://schemas.openxmlformats.org/officeDocument/2006/relationships/image" Target="../media/image433.jpg"/><Relationship Id="rId5" Type="http://schemas.openxmlformats.org/officeDocument/2006/relationships/image" Target="../media/image434.jpg"/><Relationship Id="rId6" Type="http://schemas.openxmlformats.org/officeDocument/2006/relationships/image" Target="../media/image435.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6.jpg"/><Relationship Id="rId3" Type="http://schemas.openxmlformats.org/officeDocument/2006/relationships/image" Target="../media/image437.jpg"/><Relationship Id="rId4" Type="http://schemas.openxmlformats.org/officeDocument/2006/relationships/image" Target="../media/image43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9.png"/><Relationship Id="rId3" Type="http://schemas.openxmlformats.org/officeDocument/2006/relationships/image" Target="../media/image440.png"/><Relationship Id="rId4" Type="http://schemas.openxmlformats.org/officeDocument/2006/relationships/image" Target="../media/image441.png"/><Relationship Id="rId5" Type="http://schemas.openxmlformats.org/officeDocument/2006/relationships/image" Target="../media/image442.png"/><Relationship Id="rId6" Type="http://schemas.openxmlformats.org/officeDocument/2006/relationships/image" Target="../media/image443.png"/><Relationship Id="rId7" Type="http://schemas.openxmlformats.org/officeDocument/2006/relationships/image" Target="../media/image444.png"/><Relationship Id="rId8" Type="http://schemas.openxmlformats.org/officeDocument/2006/relationships/image" Target="../media/image445.png"/><Relationship Id="rId9" Type="http://schemas.openxmlformats.org/officeDocument/2006/relationships/image" Target="../media/image446.png"/><Relationship Id="rId10" Type="http://schemas.openxmlformats.org/officeDocument/2006/relationships/image" Target="../media/image447.png"/><Relationship Id="rId11" Type="http://schemas.openxmlformats.org/officeDocument/2006/relationships/image" Target="../media/image448.png"/><Relationship Id="rId12" Type="http://schemas.openxmlformats.org/officeDocument/2006/relationships/image" Target="../media/image449.png"/><Relationship Id="rId13" Type="http://schemas.openxmlformats.org/officeDocument/2006/relationships/image" Target="../media/image450.png"/><Relationship Id="rId14" Type="http://schemas.openxmlformats.org/officeDocument/2006/relationships/image" Target="../media/image451.png"/><Relationship Id="rId15" Type="http://schemas.openxmlformats.org/officeDocument/2006/relationships/image" Target="../media/image452.png"/><Relationship Id="rId16" Type="http://schemas.openxmlformats.org/officeDocument/2006/relationships/image" Target="../media/image453.png"/><Relationship Id="rId17" Type="http://schemas.openxmlformats.org/officeDocument/2006/relationships/image" Target="../media/image454.png"/><Relationship Id="rId18" Type="http://schemas.openxmlformats.org/officeDocument/2006/relationships/image" Target="../media/image455.png"/><Relationship Id="rId19" Type="http://schemas.openxmlformats.org/officeDocument/2006/relationships/image" Target="../media/image456.png"/><Relationship Id="rId20" Type="http://schemas.openxmlformats.org/officeDocument/2006/relationships/image" Target="../media/image457.png"/><Relationship Id="rId21" Type="http://schemas.openxmlformats.org/officeDocument/2006/relationships/image" Target="../media/image458.png"/><Relationship Id="rId22" Type="http://schemas.openxmlformats.org/officeDocument/2006/relationships/image" Target="../media/image459.png"/><Relationship Id="rId23" Type="http://schemas.openxmlformats.org/officeDocument/2006/relationships/image" Target="../media/image460.png"/><Relationship Id="rId24" Type="http://schemas.openxmlformats.org/officeDocument/2006/relationships/image" Target="../media/image461.png"/><Relationship Id="rId25" Type="http://schemas.openxmlformats.org/officeDocument/2006/relationships/image" Target="../media/image462.png"/><Relationship Id="rId26" Type="http://schemas.openxmlformats.org/officeDocument/2006/relationships/image" Target="../media/image463.png"/><Relationship Id="rId27" Type="http://schemas.openxmlformats.org/officeDocument/2006/relationships/image" Target="../media/image464.png"/><Relationship Id="rId28" Type="http://schemas.openxmlformats.org/officeDocument/2006/relationships/image" Target="../media/image465.png"/><Relationship Id="rId29" Type="http://schemas.openxmlformats.org/officeDocument/2006/relationships/image" Target="../media/image466.png"/><Relationship Id="rId30" Type="http://schemas.openxmlformats.org/officeDocument/2006/relationships/image" Target="../media/image467.png"/><Relationship Id="rId31" Type="http://schemas.openxmlformats.org/officeDocument/2006/relationships/image" Target="../media/image468.png"/><Relationship Id="rId32" Type="http://schemas.openxmlformats.org/officeDocument/2006/relationships/image" Target="../media/image469.png"/><Relationship Id="rId33" Type="http://schemas.openxmlformats.org/officeDocument/2006/relationships/image" Target="../media/image470.png"/><Relationship Id="rId34" Type="http://schemas.openxmlformats.org/officeDocument/2006/relationships/image" Target="../media/image471.png"/><Relationship Id="rId35" Type="http://schemas.openxmlformats.org/officeDocument/2006/relationships/image" Target="../media/image472.png"/><Relationship Id="rId36" Type="http://schemas.openxmlformats.org/officeDocument/2006/relationships/image" Target="../media/image473.png"/><Relationship Id="rId37" Type="http://schemas.openxmlformats.org/officeDocument/2006/relationships/image" Target="../media/image474.png"/><Relationship Id="rId38" Type="http://schemas.openxmlformats.org/officeDocument/2006/relationships/image" Target="../media/image475.png"/><Relationship Id="rId39" Type="http://schemas.openxmlformats.org/officeDocument/2006/relationships/image" Target="../media/image47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7.png"/><Relationship Id="rId3" Type="http://schemas.openxmlformats.org/officeDocument/2006/relationships/image" Target="../media/image478.png"/><Relationship Id="rId4" Type="http://schemas.openxmlformats.org/officeDocument/2006/relationships/image" Target="../media/image479.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0.png"/><Relationship Id="rId3" Type="http://schemas.openxmlformats.org/officeDocument/2006/relationships/image" Target="../media/image481.png"/><Relationship Id="rId4" Type="http://schemas.openxmlformats.org/officeDocument/2006/relationships/image" Target="../media/image482.jpg"/><Relationship Id="rId5" Type="http://schemas.openxmlformats.org/officeDocument/2006/relationships/image" Target="../media/image483.jpg"/><Relationship Id="rId6" Type="http://schemas.openxmlformats.org/officeDocument/2006/relationships/image" Target="../media/image484.jpg"/><Relationship Id="rId7" Type="http://schemas.openxmlformats.org/officeDocument/2006/relationships/image" Target="../media/image485.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86.png"/><Relationship Id="rId5" Type="http://schemas.openxmlformats.org/officeDocument/2006/relationships/image" Target="../media/image487.png"/><Relationship Id="rId6" Type="http://schemas.openxmlformats.org/officeDocument/2006/relationships/image" Target="../media/image488.jpg"/><Relationship Id="rId7" Type="http://schemas.openxmlformats.org/officeDocument/2006/relationships/image" Target="../media/image489.png"/><Relationship Id="rId8" Type="http://schemas.openxmlformats.org/officeDocument/2006/relationships/image" Target="../media/image490.png"/><Relationship Id="rId9" Type="http://schemas.openxmlformats.org/officeDocument/2006/relationships/image" Target="../media/image491.png"/><Relationship Id="rId10" Type="http://schemas.openxmlformats.org/officeDocument/2006/relationships/image" Target="../media/image492.jpg"/><Relationship Id="rId11" Type="http://schemas.openxmlformats.org/officeDocument/2006/relationships/image" Target="../media/image493.jpg"/><Relationship Id="rId12" Type="http://schemas.openxmlformats.org/officeDocument/2006/relationships/image" Target="../media/image494.png"/><Relationship Id="rId13" Type="http://schemas.openxmlformats.org/officeDocument/2006/relationships/image" Target="../media/image495.png"/><Relationship Id="rId14" Type="http://schemas.openxmlformats.org/officeDocument/2006/relationships/image" Target="../media/image496.png"/><Relationship Id="rId15" Type="http://schemas.openxmlformats.org/officeDocument/2006/relationships/image" Target="../media/image497.jpg"/><Relationship Id="rId16" Type="http://schemas.openxmlformats.org/officeDocument/2006/relationships/image" Target="../media/image498.png"/><Relationship Id="rId17" Type="http://schemas.openxmlformats.org/officeDocument/2006/relationships/image" Target="../media/image499.png"/><Relationship Id="rId18" Type="http://schemas.openxmlformats.org/officeDocument/2006/relationships/image" Target="../media/image500.png"/><Relationship Id="rId19" Type="http://schemas.openxmlformats.org/officeDocument/2006/relationships/image" Target="../media/image501.jpg"/><Relationship Id="rId20" Type="http://schemas.openxmlformats.org/officeDocument/2006/relationships/image" Target="../media/image502.jpg"/><Relationship Id="rId21" Type="http://schemas.openxmlformats.org/officeDocument/2006/relationships/image" Target="../media/image503.jpg"/><Relationship Id="rId22" Type="http://schemas.openxmlformats.org/officeDocument/2006/relationships/image" Target="../media/image504.png"/><Relationship Id="rId23" Type="http://schemas.openxmlformats.org/officeDocument/2006/relationships/image" Target="../media/image505.jpg"/><Relationship Id="rId24" Type="http://schemas.openxmlformats.org/officeDocument/2006/relationships/image" Target="../media/image506.png"/><Relationship Id="rId25" Type="http://schemas.openxmlformats.org/officeDocument/2006/relationships/image" Target="../media/image507.png"/><Relationship Id="rId26" Type="http://schemas.openxmlformats.org/officeDocument/2006/relationships/image" Target="../media/image50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9.png"/><Relationship Id="rId3" Type="http://schemas.openxmlformats.org/officeDocument/2006/relationships/image" Target="../media/image510.png"/><Relationship Id="rId4" Type="http://schemas.openxmlformats.org/officeDocument/2006/relationships/image" Target="../media/image511.png"/><Relationship Id="rId5" Type="http://schemas.openxmlformats.org/officeDocument/2006/relationships/image" Target="../media/image512.png"/><Relationship Id="rId6" Type="http://schemas.openxmlformats.org/officeDocument/2006/relationships/image" Target="../media/image513.png"/><Relationship Id="rId7" Type="http://schemas.openxmlformats.org/officeDocument/2006/relationships/image" Target="../media/image514.png"/><Relationship Id="rId8" Type="http://schemas.openxmlformats.org/officeDocument/2006/relationships/image" Target="../media/image51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6.png"/><Relationship Id="rId3" Type="http://schemas.openxmlformats.org/officeDocument/2006/relationships/image" Target="../media/image517.png"/><Relationship Id="rId4" Type="http://schemas.openxmlformats.org/officeDocument/2006/relationships/image" Target="../media/image518.png"/><Relationship Id="rId5" Type="http://schemas.openxmlformats.org/officeDocument/2006/relationships/image" Target="../media/image519.jpg"/><Relationship Id="rId6" Type="http://schemas.openxmlformats.org/officeDocument/2006/relationships/image" Target="../media/image520.png"/><Relationship Id="rId7" Type="http://schemas.openxmlformats.org/officeDocument/2006/relationships/image" Target="../media/image52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image" Target="../media/image527.png"/><Relationship Id="rId8" Type="http://schemas.openxmlformats.org/officeDocument/2006/relationships/image" Target="../media/image528.png"/><Relationship Id="rId9" Type="http://schemas.openxmlformats.org/officeDocument/2006/relationships/image" Target="../media/image529.png"/><Relationship Id="rId10" Type="http://schemas.openxmlformats.org/officeDocument/2006/relationships/image" Target="../media/image530.png"/><Relationship Id="rId11" Type="http://schemas.openxmlformats.org/officeDocument/2006/relationships/image" Target="../media/image531.png"/><Relationship Id="rId12" Type="http://schemas.openxmlformats.org/officeDocument/2006/relationships/image" Target="../media/image532.png"/><Relationship Id="rId13" Type="http://schemas.openxmlformats.org/officeDocument/2006/relationships/image" Target="../media/image533.png"/><Relationship Id="rId14" Type="http://schemas.openxmlformats.org/officeDocument/2006/relationships/image" Target="../media/image534.png"/><Relationship Id="rId15" Type="http://schemas.openxmlformats.org/officeDocument/2006/relationships/image" Target="../media/image535.png"/><Relationship Id="rId16" Type="http://schemas.openxmlformats.org/officeDocument/2006/relationships/image" Target="../media/image536.png"/><Relationship Id="rId17" Type="http://schemas.openxmlformats.org/officeDocument/2006/relationships/image" Target="../media/image537.png"/><Relationship Id="rId18" Type="http://schemas.openxmlformats.org/officeDocument/2006/relationships/image" Target="../media/image538.png"/><Relationship Id="rId19" Type="http://schemas.openxmlformats.org/officeDocument/2006/relationships/image" Target="../media/image539.png"/><Relationship Id="rId20" Type="http://schemas.openxmlformats.org/officeDocument/2006/relationships/image" Target="../media/image540.png"/><Relationship Id="rId21" Type="http://schemas.openxmlformats.org/officeDocument/2006/relationships/image" Target="../media/image541.png"/><Relationship Id="rId22" Type="http://schemas.openxmlformats.org/officeDocument/2006/relationships/image" Target="../media/image542.jpg"/><Relationship Id="rId23" Type="http://schemas.openxmlformats.org/officeDocument/2006/relationships/image" Target="../media/image543.png"/><Relationship Id="rId24" Type="http://schemas.openxmlformats.org/officeDocument/2006/relationships/image" Target="../media/image544.png"/><Relationship Id="rId25" Type="http://schemas.openxmlformats.org/officeDocument/2006/relationships/image" Target="../media/image545.png"/><Relationship Id="rId26" Type="http://schemas.openxmlformats.org/officeDocument/2006/relationships/image" Target="../media/image546.png"/><Relationship Id="rId27" Type="http://schemas.openxmlformats.org/officeDocument/2006/relationships/image" Target="../media/image547.png"/><Relationship Id="rId28" Type="http://schemas.openxmlformats.org/officeDocument/2006/relationships/image" Target="../media/image548.png"/><Relationship Id="rId29" Type="http://schemas.openxmlformats.org/officeDocument/2006/relationships/image" Target="../media/image549.png"/><Relationship Id="rId30" Type="http://schemas.openxmlformats.org/officeDocument/2006/relationships/image" Target="../media/image550.png"/><Relationship Id="rId31" Type="http://schemas.openxmlformats.org/officeDocument/2006/relationships/image" Target="../media/image551.png"/><Relationship Id="rId32" Type="http://schemas.openxmlformats.org/officeDocument/2006/relationships/image" Target="../media/image552.png"/><Relationship Id="rId33" Type="http://schemas.openxmlformats.org/officeDocument/2006/relationships/image" Target="../media/image553.png"/><Relationship Id="rId34" Type="http://schemas.openxmlformats.org/officeDocument/2006/relationships/image" Target="../media/image554.png"/><Relationship Id="rId35" Type="http://schemas.openxmlformats.org/officeDocument/2006/relationships/image" Target="../media/image555.png"/><Relationship Id="rId36" Type="http://schemas.openxmlformats.org/officeDocument/2006/relationships/image" Target="../media/image556.png"/><Relationship Id="rId37" Type="http://schemas.openxmlformats.org/officeDocument/2006/relationships/image" Target="../media/image557.png"/><Relationship Id="rId38" Type="http://schemas.openxmlformats.org/officeDocument/2006/relationships/image" Target="../media/image558.png"/><Relationship Id="rId39" Type="http://schemas.openxmlformats.org/officeDocument/2006/relationships/image" Target="../media/image559.png"/><Relationship Id="rId40" Type="http://schemas.openxmlformats.org/officeDocument/2006/relationships/image" Target="../media/image560.png"/><Relationship Id="rId41" Type="http://schemas.openxmlformats.org/officeDocument/2006/relationships/image" Target="../media/image561.png"/><Relationship Id="rId42" Type="http://schemas.openxmlformats.org/officeDocument/2006/relationships/image" Target="../media/image562.png"/><Relationship Id="rId43" Type="http://schemas.openxmlformats.org/officeDocument/2006/relationships/image" Target="../media/image563.png"/><Relationship Id="rId44" Type="http://schemas.openxmlformats.org/officeDocument/2006/relationships/image" Target="../media/image564.png"/><Relationship Id="rId45" Type="http://schemas.openxmlformats.org/officeDocument/2006/relationships/image" Target="../media/image565.png"/><Relationship Id="rId46" Type="http://schemas.openxmlformats.org/officeDocument/2006/relationships/image" Target="../media/image566.png"/><Relationship Id="rId47" Type="http://schemas.openxmlformats.org/officeDocument/2006/relationships/image" Target="../media/image567.png"/><Relationship Id="rId48" Type="http://schemas.openxmlformats.org/officeDocument/2006/relationships/image" Target="../media/image568.png"/><Relationship Id="rId49" Type="http://schemas.openxmlformats.org/officeDocument/2006/relationships/image" Target="../media/image569.png"/><Relationship Id="rId50" Type="http://schemas.openxmlformats.org/officeDocument/2006/relationships/image" Target="../media/image570.png"/><Relationship Id="rId51" Type="http://schemas.openxmlformats.org/officeDocument/2006/relationships/image" Target="../media/image571.png"/><Relationship Id="rId52" Type="http://schemas.openxmlformats.org/officeDocument/2006/relationships/image" Target="../media/image572.png"/><Relationship Id="rId53" Type="http://schemas.openxmlformats.org/officeDocument/2006/relationships/image" Target="../media/image573.png"/><Relationship Id="rId54" Type="http://schemas.openxmlformats.org/officeDocument/2006/relationships/image" Target="../media/image574.png"/><Relationship Id="rId55" Type="http://schemas.openxmlformats.org/officeDocument/2006/relationships/image" Target="../media/image575.jpg"/><Relationship Id="rId56" Type="http://schemas.openxmlformats.org/officeDocument/2006/relationships/image" Target="../media/image576.png"/><Relationship Id="rId57" Type="http://schemas.openxmlformats.org/officeDocument/2006/relationships/image" Target="../media/image57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8.png"/><Relationship Id="rId3" Type="http://schemas.openxmlformats.org/officeDocument/2006/relationships/image" Target="../media/image579.png"/><Relationship Id="rId4" Type="http://schemas.openxmlformats.org/officeDocument/2006/relationships/image" Target="../media/image580.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1.png"/><Relationship Id="rId3" Type="http://schemas.openxmlformats.org/officeDocument/2006/relationships/image" Target="../media/image582.png"/><Relationship Id="rId4" Type="http://schemas.openxmlformats.org/officeDocument/2006/relationships/image" Target="../media/image58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1.png"/><Relationship Id="rId3" Type="http://schemas.openxmlformats.org/officeDocument/2006/relationships/image" Target="../media/image584.png"/><Relationship Id="rId4" Type="http://schemas.openxmlformats.org/officeDocument/2006/relationships/image" Target="../media/image585.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6.png"/><Relationship Id="rId3" Type="http://schemas.openxmlformats.org/officeDocument/2006/relationships/image" Target="../media/image587.png"/><Relationship Id="rId4" Type="http://schemas.openxmlformats.org/officeDocument/2006/relationships/image" Target="../media/image588.png"/><Relationship Id="rId5" Type="http://schemas.openxmlformats.org/officeDocument/2006/relationships/image" Target="../media/image589.png"/><Relationship Id="rId6" Type="http://schemas.openxmlformats.org/officeDocument/2006/relationships/image" Target="../media/image590.png"/><Relationship Id="rId7" Type="http://schemas.openxmlformats.org/officeDocument/2006/relationships/image" Target="../media/image591.png"/><Relationship Id="rId8" Type="http://schemas.openxmlformats.org/officeDocument/2006/relationships/image" Target="../media/image592.png"/><Relationship Id="rId9" Type="http://schemas.openxmlformats.org/officeDocument/2006/relationships/image" Target="../media/image593.png"/><Relationship Id="rId10" Type="http://schemas.openxmlformats.org/officeDocument/2006/relationships/image" Target="../media/image594.png"/><Relationship Id="rId11" Type="http://schemas.openxmlformats.org/officeDocument/2006/relationships/image" Target="../media/image595.png"/><Relationship Id="rId12" Type="http://schemas.openxmlformats.org/officeDocument/2006/relationships/image" Target="../media/image596.png"/><Relationship Id="rId13" Type="http://schemas.openxmlformats.org/officeDocument/2006/relationships/image" Target="../media/image597.png"/><Relationship Id="rId14" Type="http://schemas.openxmlformats.org/officeDocument/2006/relationships/image" Target="../media/image598.png"/><Relationship Id="rId15" Type="http://schemas.openxmlformats.org/officeDocument/2006/relationships/image" Target="../media/image599.png"/><Relationship Id="rId16" Type="http://schemas.openxmlformats.org/officeDocument/2006/relationships/image" Target="../media/image600.png"/><Relationship Id="rId17" Type="http://schemas.openxmlformats.org/officeDocument/2006/relationships/image" Target="../media/image601.png"/><Relationship Id="rId18" Type="http://schemas.openxmlformats.org/officeDocument/2006/relationships/image" Target="../media/image602.png"/><Relationship Id="rId19" Type="http://schemas.openxmlformats.org/officeDocument/2006/relationships/image" Target="../media/image60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4.png"/><Relationship Id="rId3" Type="http://schemas.openxmlformats.org/officeDocument/2006/relationships/image" Target="../media/image605.png"/><Relationship Id="rId4" Type="http://schemas.openxmlformats.org/officeDocument/2006/relationships/image" Target="../media/image606.png"/><Relationship Id="rId5" Type="http://schemas.openxmlformats.org/officeDocument/2006/relationships/image" Target="../media/image607.png"/><Relationship Id="rId6" Type="http://schemas.openxmlformats.org/officeDocument/2006/relationships/image" Target="../media/image608.png"/><Relationship Id="rId7" Type="http://schemas.openxmlformats.org/officeDocument/2006/relationships/image" Target="../media/image609.png"/><Relationship Id="rId8" Type="http://schemas.openxmlformats.org/officeDocument/2006/relationships/image" Target="../media/image610.png"/><Relationship Id="rId9" Type="http://schemas.openxmlformats.org/officeDocument/2006/relationships/image" Target="../media/image611.png"/><Relationship Id="rId10" Type="http://schemas.openxmlformats.org/officeDocument/2006/relationships/image" Target="../media/image612.png"/><Relationship Id="rId11" Type="http://schemas.openxmlformats.org/officeDocument/2006/relationships/image" Target="../media/image613.png"/><Relationship Id="rId12" Type="http://schemas.openxmlformats.org/officeDocument/2006/relationships/image" Target="../media/image61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5.png"/><Relationship Id="rId3" Type="http://schemas.openxmlformats.org/officeDocument/2006/relationships/image" Target="../media/image616.png"/><Relationship Id="rId4" Type="http://schemas.openxmlformats.org/officeDocument/2006/relationships/image" Target="../media/image617.jpg"/><Relationship Id="rId5" Type="http://schemas.openxmlformats.org/officeDocument/2006/relationships/image" Target="../media/image618.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9.jpg"/><Relationship Id="rId3" Type="http://schemas.openxmlformats.org/officeDocument/2006/relationships/image" Target="../media/image620.jpg"/><Relationship Id="rId4" Type="http://schemas.openxmlformats.org/officeDocument/2006/relationships/image" Target="../media/image621.jpg"/><Relationship Id="rId5" Type="http://schemas.openxmlformats.org/officeDocument/2006/relationships/image" Target="../media/image622.jpg"/><Relationship Id="rId6" Type="http://schemas.openxmlformats.org/officeDocument/2006/relationships/image" Target="../media/image623.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4.png"/><Relationship Id="rId3" Type="http://schemas.openxmlformats.org/officeDocument/2006/relationships/image" Target="../media/image625.png"/><Relationship Id="rId4" Type="http://schemas.openxmlformats.org/officeDocument/2006/relationships/image" Target="../media/image626.jpg"/><Relationship Id="rId5" Type="http://schemas.openxmlformats.org/officeDocument/2006/relationships/image" Target="../media/image627.jpg"/><Relationship Id="rId6" Type="http://schemas.openxmlformats.org/officeDocument/2006/relationships/image" Target="../media/image628.png"/><Relationship Id="rId7" Type="http://schemas.openxmlformats.org/officeDocument/2006/relationships/image" Target="../media/image629.png"/><Relationship Id="rId8" Type="http://schemas.openxmlformats.org/officeDocument/2006/relationships/image" Target="../media/image630.jpg"/><Relationship Id="rId9" Type="http://schemas.openxmlformats.org/officeDocument/2006/relationships/image" Target="../media/image631.jpg"/><Relationship Id="rId10" Type="http://schemas.openxmlformats.org/officeDocument/2006/relationships/image" Target="../media/image632.jpg"/><Relationship Id="rId11" Type="http://schemas.openxmlformats.org/officeDocument/2006/relationships/image" Target="../media/image633.jpg"/><Relationship Id="rId12" Type="http://schemas.openxmlformats.org/officeDocument/2006/relationships/image" Target="../media/image63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5.png"/><Relationship Id="rId3" Type="http://schemas.openxmlformats.org/officeDocument/2006/relationships/image" Target="../media/image636.png"/><Relationship Id="rId4" Type="http://schemas.openxmlformats.org/officeDocument/2006/relationships/image" Target="../media/image637.jpg"/><Relationship Id="rId5" Type="http://schemas.openxmlformats.org/officeDocument/2006/relationships/image" Target="../media/image638.png"/><Relationship Id="rId6" Type="http://schemas.openxmlformats.org/officeDocument/2006/relationships/image" Target="../media/image639.png"/><Relationship Id="rId7" Type="http://schemas.openxmlformats.org/officeDocument/2006/relationships/image" Target="../media/image640.jpg"/><Relationship Id="rId8" Type="http://schemas.openxmlformats.org/officeDocument/2006/relationships/image" Target="../media/image641.png"/><Relationship Id="rId9" Type="http://schemas.openxmlformats.org/officeDocument/2006/relationships/image" Target="../media/image642.png"/><Relationship Id="rId10" Type="http://schemas.openxmlformats.org/officeDocument/2006/relationships/image" Target="../media/image643.png"/><Relationship Id="rId11" Type="http://schemas.openxmlformats.org/officeDocument/2006/relationships/image" Target="../media/image644.jpg"/><Relationship Id="rId12" Type="http://schemas.openxmlformats.org/officeDocument/2006/relationships/image" Target="../media/image645.png"/><Relationship Id="rId13" Type="http://schemas.openxmlformats.org/officeDocument/2006/relationships/image" Target="../media/image646.jpg"/><Relationship Id="rId14" Type="http://schemas.openxmlformats.org/officeDocument/2006/relationships/image" Target="../media/image647.png"/><Relationship Id="rId15" Type="http://schemas.openxmlformats.org/officeDocument/2006/relationships/image" Target="../media/image648.png"/><Relationship Id="rId16" Type="http://schemas.openxmlformats.org/officeDocument/2006/relationships/image" Target="../media/image64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0.png"/><Relationship Id="rId3" Type="http://schemas.openxmlformats.org/officeDocument/2006/relationships/image" Target="../media/image651.png"/><Relationship Id="rId4" Type="http://schemas.openxmlformats.org/officeDocument/2006/relationships/image" Target="../media/image652.jpg"/><Relationship Id="rId5" Type="http://schemas.openxmlformats.org/officeDocument/2006/relationships/image" Target="../media/image653.jpg"/><Relationship Id="rId6" Type="http://schemas.openxmlformats.org/officeDocument/2006/relationships/image" Target="../media/image654.jpg"/><Relationship Id="rId7" Type="http://schemas.openxmlformats.org/officeDocument/2006/relationships/image" Target="../media/image655.png"/><Relationship Id="rId8" Type="http://schemas.openxmlformats.org/officeDocument/2006/relationships/image" Target="../media/image656.png"/><Relationship Id="rId9" Type="http://schemas.openxmlformats.org/officeDocument/2006/relationships/image" Target="../media/image657.png"/><Relationship Id="rId10" Type="http://schemas.openxmlformats.org/officeDocument/2006/relationships/image" Target="../media/image658.png"/><Relationship Id="rId11" Type="http://schemas.openxmlformats.org/officeDocument/2006/relationships/image" Target="../media/image659.png"/><Relationship Id="rId12" Type="http://schemas.openxmlformats.org/officeDocument/2006/relationships/image" Target="../media/image66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1.jpg"/><Relationship Id="rId3" Type="http://schemas.openxmlformats.org/officeDocument/2006/relationships/image" Target="../media/image662.jpg"/><Relationship Id="rId4" Type="http://schemas.openxmlformats.org/officeDocument/2006/relationships/image" Target="../media/image663.jpg"/><Relationship Id="rId5" Type="http://schemas.openxmlformats.org/officeDocument/2006/relationships/image" Target="../media/image664.jpg"/><Relationship Id="rId6" Type="http://schemas.openxmlformats.org/officeDocument/2006/relationships/image" Target="../media/image665.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6.png"/><Relationship Id="rId3" Type="http://schemas.openxmlformats.org/officeDocument/2006/relationships/image" Target="../media/image667.png"/><Relationship Id="rId4" Type="http://schemas.openxmlformats.org/officeDocument/2006/relationships/image" Target="../media/image668.jpg"/><Relationship Id="rId5" Type="http://schemas.openxmlformats.org/officeDocument/2006/relationships/image" Target="../media/image669.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6.png"/><Relationship Id="rId3" Type="http://schemas.openxmlformats.org/officeDocument/2006/relationships/image" Target="../media/image670.png"/><Relationship Id="rId4" Type="http://schemas.openxmlformats.org/officeDocument/2006/relationships/image" Target="../media/image671.jpg"/><Relationship Id="rId5" Type="http://schemas.openxmlformats.org/officeDocument/2006/relationships/image" Target="../media/image672.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6.png"/><Relationship Id="rId3" Type="http://schemas.openxmlformats.org/officeDocument/2006/relationships/image" Target="../media/image673.png"/><Relationship Id="rId4" Type="http://schemas.openxmlformats.org/officeDocument/2006/relationships/image" Target="../media/image674.jpg"/><Relationship Id="rId5" Type="http://schemas.openxmlformats.org/officeDocument/2006/relationships/image" Target="../media/image675.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6.png"/><Relationship Id="rId3" Type="http://schemas.openxmlformats.org/officeDocument/2006/relationships/image" Target="../media/image673.png"/><Relationship Id="rId4" Type="http://schemas.openxmlformats.org/officeDocument/2006/relationships/image" Target="../media/image676.jpg"/><Relationship Id="rId5" Type="http://schemas.openxmlformats.org/officeDocument/2006/relationships/image" Target="../media/image677.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8.png"/><Relationship Id="rId3" Type="http://schemas.openxmlformats.org/officeDocument/2006/relationships/image" Target="../media/image679.png"/><Relationship Id="rId4" Type="http://schemas.openxmlformats.org/officeDocument/2006/relationships/image" Target="../media/image680.png"/><Relationship Id="rId5" Type="http://schemas.openxmlformats.org/officeDocument/2006/relationships/image" Target="../media/image681.png"/><Relationship Id="rId6" Type="http://schemas.openxmlformats.org/officeDocument/2006/relationships/image" Target="../media/image682.png"/><Relationship Id="rId7" Type="http://schemas.openxmlformats.org/officeDocument/2006/relationships/image" Target="../media/image683.png"/><Relationship Id="rId8" Type="http://schemas.openxmlformats.org/officeDocument/2006/relationships/image" Target="../media/image684.png"/><Relationship Id="rId9" Type="http://schemas.openxmlformats.org/officeDocument/2006/relationships/image" Target="../media/image685.png"/><Relationship Id="rId10" Type="http://schemas.openxmlformats.org/officeDocument/2006/relationships/image" Target="../media/image686.png"/><Relationship Id="rId11" Type="http://schemas.openxmlformats.org/officeDocument/2006/relationships/image" Target="../media/image687.png"/><Relationship Id="rId12" Type="http://schemas.openxmlformats.org/officeDocument/2006/relationships/image" Target="../media/image688.png"/><Relationship Id="rId13" Type="http://schemas.openxmlformats.org/officeDocument/2006/relationships/image" Target="../media/image68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0.png"/><Relationship Id="rId3" Type="http://schemas.openxmlformats.org/officeDocument/2006/relationships/image" Target="../media/image69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image" Target="../media/image695.png"/><Relationship Id="rId6" Type="http://schemas.openxmlformats.org/officeDocument/2006/relationships/image" Target="../media/image696.png"/><Relationship Id="rId7" Type="http://schemas.openxmlformats.org/officeDocument/2006/relationships/image" Target="../media/image697.png"/><Relationship Id="rId8" Type="http://schemas.openxmlformats.org/officeDocument/2006/relationships/image" Target="../media/image698.png"/><Relationship Id="rId9" Type="http://schemas.openxmlformats.org/officeDocument/2006/relationships/image" Target="../media/image699.png"/><Relationship Id="rId10" Type="http://schemas.openxmlformats.org/officeDocument/2006/relationships/image" Target="../media/image700.png"/><Relationship Id="rId11" Type="http://schemas.openxmlformats.org/officeDocument/2006/relationships/image" Target="../media/image701.png"/><Relationship Id="rId12" Type="http://schemas.openxmlformats.org/officeDocument/2006/relationships/image" Target="../media/image702.png"/><Relationship Id="rId13" Type="http://schemas.openxmlformats.org/officeDocument/2006/relationships/image" Target="../media/image703.png"/><Relationship Id="rId14" Type="http://schemas.openxmlformats.org/officeDocument/2006/relationships/image" Target="../media/image704.png"/><Relationship Id="rId15" Type="http://schemas.openxmlformats.org/officeDocument/2006/relationships/image" Target="../media/image705.png"/><Relationship Id="rId16" Type="http://schemas.openxmlformats.org/officeDocument/2006/relationships/image" Target="../media/image706.png"/><Relationship Id="rId17" Type="http://schemas.openxmlformats.org/officeDocument/2006/relationships/image" Target="../media/image707.png"/><Relationship Id="rId18" Type="http://schemas.openxmlformats.org/officeDocument/2006/relationships/image" Target="../media/image708.png"/><Relationship Id="rId19" Type="http://schemas.openxmlformats.org/officeDocument/2006/relationships/image" Target="../media/image709.png"/><Relationship Id="rId20" Type="http://schemas.openxmlformats.org/officeDocument/2006/relationships/image" Target="../media/image710.png"/><Relationship Id="rId21" Type="http://schemas.openxmlformats.org/officeDocument/2006/relationships/image" Target="../media/image711.png"/><Relationship Id="rId22" Type="http://schemas.openxmlformats.org/officeDocument/2006/relationships/image" Target="../media/image712.png"/><Relationship Id="rId23" Type="http://schemas.openxmlformats.org/officeDocument/2006/relationships/image" Target="../media/image713.png"/><Relationship Id="rId24" Type="http://schemas.openxmlformats.org/officeDocument/2006/relationships/image" Target="../media/image714.png"/><Relationship Id="rId25" Type="http://schemas.openxmlformats.org/officeDocument/2006/relationships/image" Target="../media/image715.png"/><Relationship Id="rId26" Type="http://schemas.openxmlformats.org/officeDocument/2006/relationships/image" Target="../media/image716.png"/><Relationship Id="rId27" Type="http://schemas.openxmlformats.org/officeDocument/2006/relationships/image" Target="../media/image717.png"/><Relationship Id="rId28" Type="http://schemas.openxmlformats.org/officeDocument/2006/relationships/image" Target="../media/image718.png"/><Relationship Id="rId29" Type="http://schemas.openxmlformats.org/officeDocument/2006/relationships/image" Target="../media/image719.png"/><Relationship Id="rId30" Type="http://schemas.openxmlformats.org/officeDocument/2006/relationships/image" Target="../media/image720.png"/><Relationship Id="rId31" Type="http://schemas.openxmlformats.org/officeDocument/2006/relationships/image" Target="../media/image721.png"/><Relationship Id="rId32" Type="http://schemas.openxmlformats.org/officeDocument/2006/relationships/image" Target="../media/image722.png"/><Relationship Id="rId33" Type="http://schemas.openxmlformats.org/officeDocument/2006/relationships/image" Target="../media/image723.png"/><Relationship Id="rId34" Type="http://schemas.openxmlformats.org/officeDocument/2006/relationships/image" Target="../media/image724.png"/><Relationship Id="rId35" Type="http://schemas.openxmlformats.org/officeDocument/2006/relationships/image" Target="../media/image725.png"/><Relationship Id="rId36" Type="http://schemas.openxmlformats.org/officeDocument/2006/relationships/image" Target="../media/image726.png"/><Relationship Id="rId37" Type="http://schemas.openxmlformats.org/officeDocument/2006/relationships/image" Target="../media/image727.png"/><Relationship Id="rId38" Type="http://schemas.openxmlformats.org/officeDocument/2006/relationships/image" Target="../media/image728.png"/><Relationship Id="rId39" Type="http://schemas.openxmlformats.org/officeDocument/2006/relationships/image" Target="../media/image729.png"/><Relationship Id="rId40" Type="http://schemas.openxmlformats.org/officeDocument/2006/relationships/image" Target="../media/image730.png"/><Relationship Id="rId41" Type="http://schemas.openxmlformats.org/officeDocument/2006/relationships/image" Target="../media/image731.png"/><Relationship Id="rId42" Type="http://schemas.openxmlformats.org/officeDocument/2006/relationships/image" Target="../media/image732.png"/><Relationship Id="rId43" Type="http://schemas.openxmlformats.org/officeDocument/2006/relationships/image" Target="../media/image733.png"/><Relationship Id="rId44" Type="http://schemas.openxmlformats.org/officeDocument/2006/relationships/image" Target="../media/image734.png"/><Relationship Id="rId45" Type="http://schemas.openxmlformats.org/officeDocument/2006/relationships/image" Target="../media/image735.png"/><Relationship Id="rId46" Type="http://schemas.openxmlformats.org/officeDocument/2006/relationships/image" Target="../media/image736.png"/><Relationship Id="rId47" Type="http://schemas.openxmlformats.org/officeDocument/2006/relationships/image" Target="../media/image737.png"/><Relationship Id="rId48" Type="http://schemas.openxmlformats.org/officeDocument/2006/relationships/image" Target="../media/image738.png"/><Relationship Id="rId49" Type="http://schemas.openxmlformats.org/officeDocument/2006/relationships/image" Target="../media/image73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0.jpg"/><Relationship Id="rId3" Type="http://schemas.openxmlformats.org/officeDocument/2006/relationships/image" Target="../media/image741.jpg"/><Relationship Id="rId4" Type="http://schemas.openxmlformats.org/officeDocument/2006/relationships/image" Target="../media/image742.jpg"/><Relationship Id="rId5" Type="http://schemas.openxmlformats.org/officeDocument/2006/relationships/image" Target="../media/image743.jpg"/><Relationship Id="rId6" Type="http://schemas.openxmlformats.org/officeDocument/2006/relationships/image" Target="../media/image744.jpg"/><Relationship Id="rId7" Type="http://schemas.openxmlformats.org/officeDocument/2006/relationships/image" Target="../media/image745.jpg"/><Relationship Id="rId8" Type="http://schemas.openxmlformats.org/officeDocument/2006/relationships/image" Target="../media/image746.jpg"/><Relationship Id="rId9" Type="http://schemas.openxmlformats.org/officeDocument/2006/relationships/image" Target="../media/image74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8.png"/><Relationship Id="rId3" Type="http://schemas.openxmlformats.org/officeDocument/2006/relationships/image" Target="../media/image749.png"/><Relationship Id="rId4" Type="http://schemas.openxmlformats.org/officeDocument/2006/relationships/image" Target="../media/image750.png"/><Relationship Id="rId5" Type="http://schemas.openxmlformats.org/officeDocument/2006/relationships/image" Target="../media/image751.png"/><Relationship Id="rId6" Type="http://schemas.openxmlformats.org/officeDocument/2006/relationships/image" Target="../media/image752.png"/><Relationship Id="rId7" Type="http://schemas.openxmlformats.org/officeDocument/2006/relationships/image" Target="../media/image753.png"/><Relationship Id="rId8" Type="http://schemas.openxmlformats.org/officeDocument/2006/relationships/image" Target="../media/image754.png"/><Relationship Id="rId9" Type="http://schemas.openxmlformats.org/officeDocument/2006/relationships/image" Target="../media/image755.png"/><Relationship Id="rId10" Type="http://schemas.openxmlformats.org/officeDocument/2006/relationships/image" Target="../media/image756.png"/><Relationship Id="rId11" Type="http://schemas.openxmlformats.org/officeDocument/2006/relationships/image" Target="../media/image757.png"/><Relationship Id="rId12" Type="http://schemas.openxmlformats.org/officeDocument/2006/relationships/image" Target="../media/image758.jpg"/><Relationship Id="rId13" Type="http://schemas.openxmlformats.org/officeDocument/2006/relationships/image" Target="../media/image75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0.png"/><Relationship Id="rId3" Type="http://schemas.openxmlformats.org/officeDocument/2006/relationships/image" Target="../media/image76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image" Target="../media/image764.png"/><Relationship Id="rId5" Type="http://schemas.openxmlformats.org/officeDocument/2006/relationships/image" Target="../media/image765.png"/><Relationship Id="rId6" Type="http://schemas.openxmlformats.org/officeDocument/2006/relationships/image" Target="../media/image766.png"/><Relationship Id="rId7" Type="http://schemas.openxmlformats.org/officeDocument/2006/relationships/image" Target="../media/image767.png"/><Relationship Id="rId8" Type="http://schemas.openxmlformats.org/officeDocument/2006/relationships/image" Target="../media/image768.png"/><Relationship Id="rId9" Type="http://schemas.openxmlformats.org/officeDocument/2006/relationships/image" Target="../media/image769.png"/><Relationship Id="rId10" Type="http://schemas.openxmlformats.org/officeDocument/2006/relationships/image" Target="../media/image770.png"/><Relationship Id="rId11" Type="http://schemas.openxmlformats.org/officeDocument/2006/relationships/image" Target="../media/image771.png"/><Relationship Id="rId12" Type="http://schemas.openxmlformats.org/officeDocument/2006/relationships/image" Target="../media/image772.png"/><Relationship Id="rId13" Type="http://schemas.openxmlformats.org/officeDocument/2006/relationships/image" Target="../media/image773.png"/><Relationship Id="rId14" Type="http://schemas.openxmlformats.org/officeDocument/2006/relationships/image" Target="../media/image774.jpg"/><Relationship Id="rId15" Type="http://schemas.openxmlformats.org/officeDocument/2006/relationships/image" Target="../media/image775.jpg"/><Relationship Id="rId16" Type="http://schemas.openxmlformats.org/officeDocument/2006/relationships/image" Target="../media/image776.jpg"/><Relationship Id="rId17" Type="http://schemas.openxmlformats.org/officeDocument/2006/relationships/image" Target="../media/image777.jpg"/><Relationship Id="rId18" Type="http://schemas.openxmlformats.org/officeDocument/2006/relationships/image" Target="../media/image778.jpg"/><Relationship Id="rId19" Type="http://schemas.openxmlformats.org/officeDocument/2006/relationships/image" Target="../media/image77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0.png"/><Relationship Id="rId3" Type="http://schemas.openxmlformats.org/officeDocument/2006/relationships/image" Target="../media/image781.png"/><Relationship Id="rId4" Type="http://schemas.openxmlformats.org/officeDocument/2006/relationships/image" Target="../media/image782.png"/><Relationship Id="rId5" Type="http://schemas.openxmlformats.org/officeDocument/2006/relationships/image" Target="../media/image783.png"/><Relationship Id="rId6" Type="http://schemas.openxmlformats.org/officeDocument/2006/relationships/image" Target="../media/image784.png"/><Relationship Id="rId7" Type="http://schemas.openxmlformats.org/officeDocument/2006/relationships/image" Target="../media/image785.png"/><Relationship Id="rId8" Type="http://schemas.openxmlformats.org/officeDocument/2006/relationships/image" Target="../media/image786.png"/><Relationship Id="rId9" Type="http://schemas.openxmlformats.org/officeDocument/2006/relationships/image" Target="../media/image78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8.png"/><Relationship Id="rId3" Type="http://schemas.openxmlformats.org/officeDocument/2006/relationships/image" Target="../media/image789.png"/><Relationship Id="rId4" Type="http://schemas.openxmlformats.org/officeDocument/2006/relationships/image" Target="../media/image790.png"/><Relationship Id="rId5" Type="http://schemas.openxmlformats.org/officeDocument/2006/relationships/image" Target="../media/image79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92.png"/><Relationship Id="rId3" Type="http://schemas.openxmlformats.org/officeDocument/2006/relationships/image" Target="../media/image79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94.jpg"/><Relationship Id="rId3" Type="http://schemas.openxmlformats.org/officeDocument/2006/relationships/image" Target="../media/image795.jpg"/><Relationship Id="rId4" Type="http://schemas.openxmlformats.org/officeDocument/2006/relationships/image" Target="../media/image796.png"/><Relationship Id="rId5" Type="http://schemas.openxmlformats.org/officeDocument/2006/relationships/image" Target="../media/image797.jpg"/><Relationship Id="rId6" Type="http://schemas.openxmlformats.org/officeDocument/2006/relationships/image" Target="../media/image798.jpg"/><Relationship Id="rId7" Type="http://schemas.openxmlformats.org/officeDocument/2006/relationships/image" Target="../media/image799.png"/><Relationship Id="rId8" Type="http://schemas.openxmlformats.org/officeDocument/2006/relationships/image" Target="../media/image80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01.png"/><Relationship Id="rId3" Type="http://schemas.openxmlformats.org/officeDocument/2006/relationships/image" Target="../media/image802.png"/><Relationship Id="rId4" Type="http://schemas.openxmlformats.org/officeDocument/2006/relationships/image" Target="../media/image797.jpg"/><Relationship Id="rId5" Type="http://schemas.openxmlformats.org/officeDocument/2006/relationships/image" Target="../media/image794.jpg"/><Relationship Id="rId6" Type="http://schemas.openxmlformats.org/officeDocument/2006/relationships/image" Target="../media/image803.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804.png"/><Relationship Id="rId4" Type="http://schemas.openxmlformats.org/officeDocument/2006/relationships/image" Target="../media/image805.png"/><Relationship Id="rId5" Type="http://schemas.openxmlformats.org/officeDocument/2006/relationships/image" Target="../media/image806.png"/><Relationship Id="rId6" Type="http://schemas.openxmlformats.org/officeDocument/2006/relationships/image" Target="../media/image80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0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09.jpg"/><Relationship Id="rId3" Type="http://schemas.openxmlformats.org/officeDocument/2006/relationships/image" Target="../media/image810.jpg"/><Relationship Id="rId4" Type="http://schemas.openxmlformats.org/officeDocument/2006/relationships/image" Target="../media/image811.jpg"/><Relationship Id="rId5" Type="http://schemas.openxmlformats.org/officeDocument/2006/relationships/image" Target="../media/image812.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13.jpg"/><Relationship Id="rId3" Type="http://schemas.openxmlformats.org/officeDocument/2006/relationships/image" Target="../media/image814.jpg"/><Relationship Id="rId4" Type="http://schemas.openxmlformats.org/officeDocument/2006/relationships/image" Target="../media/image815.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16.png"/><Relationship Id="rId3" Type="http://schemas.openxmlformats.org/officeDocument/2006/relationships/image" Target="../media/image817.png"/><Relationship Id="rId4" Type="http://schemas.openxmlformats.org/officeDocument/2006/relationships/image" Target="../media/image818.png"/><Relationship Id="rId5" Type="http://schemas.openxmlformats.org/officeDocument/2006/relationships/image" Target="../media/image819.png"/><Relationship Id="rId6" Type="http://schemas.openxmlformats.org/officeDocument/2006/relationships/image" Target="../media/image820.png"/><Relationship Id="rId7" Type="http://schemas.openxmlformats.org/officeDocument/2006/relationships/image" Target="../media/image821.png"/><Relationship Id="rId8" Type="http://schemas.openxmlformats.org/officeDocument/2006/relationships/image" Target="../media/image822.png"/><Relationship Id="rId9" Type="http://schemas.openxmlformats.org/officeDocument/2006/relationships/image" Target="../media/image823.png"/><Relationship Id="rId10" Type="http://schemas.openxmlformats.org/officeDocument/2006/relationships/image" Target="../media/image824.png"/><Relationship Id="rId11" Type="http://schemas.openxmlformats.org/officeDocument/2006/relationships/image" Target="../media/image825.png"/><Relationship Id="rId12" Type="http://schemas.openxmlformats.org/officeDocument/2006/relationships/image" Target="../media/image826.png"/><Relationship Id="rId13" Type="http://schemas.openxmlformats.org/officeDocument/2006/relationships/image" Target="../media/image827.png"/><Relationship Id="rId14" Type="http://schemas.openxmlformats.org/officeDocument/2006/relationships/image" Target="../media/image828.png"/><Relationship Id="rId15" Type="http://schemas.openxmlformats.org/officeDocument/2006/relationships/image" Target="../media/image829.png"/><Relationship Id="rId16" Type="http://schemas.openxmlformats.org/officeDocument/2006/relationships/image" Target="../media/image830.png"/><Relationship Id="rId17" Type="http://schemas.openxmlformats.org/officeDocument/2006/relationships/image" Target="../media/image831.png"/><Relationship Id="rId18" Type="http://schemas.openxmlformats.org/officeDocument/2006/relationships/image" Target="../media/image832.png"/><Relationship Id="rId19" Type="http://schemas.openxmlformats.org/officeDocument/2006/relationships/image" Target="../media/image833.png"/><Relationship Id="rId20" Type="http://schemas.openxmlformats.org/officeDocument/2006/relationships/image" Target="../media/image834.png"/><Relationship Id="rId21" Type="http://schemas.openxmlformats.org/officeDocument/2006/relationships/image" Target="../media/image835.png"/><Relationship Id="rId22" Type="http://schemas.openxmlformats.org/officeDocument/2006/relationships/image" Target="../media/image836.jpg"/><Relationship Id="rId23" Type="http://schemas.openxmlformats.org/officeDocument/2006/relationships/image" Target="../media/image837.jpg"/><Relationship Id="rId24" Type="http://schemas.openxmlformats.org/officeDocument/2006/relationships/image" Target="../media/image838.jpg"/><Relationship Id="rId25" Type="http://schemas.openxmlformats.org/officeDocument/2006/relationships/image" Target="../media/image839.png"/><Relationship Id="rId26" Type="http://schemas.openxmlformats.org/officeDocument/2006/relationships/image" Target="../media/image840.png"/><Relationship Id="rId27" Type="http://schemas.openxmlformats.org/officeDocument/2006/relationships/image" Target="../media/image841.png"/><Relationship Id="rId28" Type="http://schemas.openxmlformats.org/officeDocument/2006/relationships/image" Target="../media/image842.png"/><Relationship Id="rId29" Type="http://schemas.openxmlformats.org/officeDocument/2006/relationships/image" Target="../media/image843.png"/><Relationship Id="rId30" Type="http://schemas.openxmlformats.org/officeDocument/2006/relationships/image" Target="../media/image844.png"/><Relationship Id="rId31" Type="http://schemas.openxmlformats.org/officeDocument/2006/relationships/image" Target="../media/image845.png"/><Relationship Id="rId32" Type="http://schemas.openxmlformats.org/officeDocument/2006/relationships/image" Target="../media/image846.png"/><Relationship Id="rId33" Type="http://schemas.openxmlformats.org/officeDocument/2006/relationships/image" Target="../media/image847.png"/><Relationship Id="rId34" Type="http://schemas.openxmlformats.org/officeDocument/2006/relationships/image" Target="../media/image848.png"/><Relationship Id="rId35" Type="http://schemas.openxmlformats.org/officeDocument/2006/relationships/image" Target="../media/image849.png"/><Relationship Id="rId36" Type="http://schemas.openxmlformats.org/officeDocument/2006/relationships/image" Target="../media/image850.png"/><Relationship Id="rId37" Type="http://schemas.openxmlformats.org/officeDocument/2006/relationships/image" Target="../media/image851.png"/><Relationship Id="rId38" Type="http://schemas.openxmlformats.org/officeDocument/2006/relationships/image" Target="../media/image852.png"/><Relationship Id="rId39" Type="http://schemas.openxmlformats.org/officeDocument/2006/relationships/image" Target="../media/image853.png"/><Relationship Id="rId40" Type="http://schemas.openxmlformats.org/officeDocument/2006/relationships/image" Target="../media/image854.png"/><Relationship Id="rId41" Type="http://schemas.openxmlformats.org/officeDocument/2006/relationships/image" Target="../media/image855.png"/><Relationship Id="rId42" Type="http://schemas.openxmlformats.org/officeDocument/2006/relationships/image" Target="../media/image856.png"/><Relationship Id="rId43" Type="http://schemas.openxmlformats.org/officeDocument/2006/relationships/image" Target="../media/image857.png"/><Relationship Id="rId44" Type="http://schemas.openxmlformats.org/officeDocument/2006/relationships/image" Target="../media/image858.png"/><Relationship Id="rId45" Type="http://schemas.openxmlformats.org/officeDocument/2006/relationships/image" Target="../media/image859.png"/><Relationship Id="rId46" Type="http://schemas.openxmlformats.org/officeDocument/2006/relationships/image" Target="../media/image860.png"/><Relationship Id="rId47" Type="http://schemas.openxmlformats.org/officeDocument/2006/relationships/image" Target="../media/image861.png"/><Relationship Id="rId48" Type="http://schemas.openxmlformats.org/officeDocument/2006/relationships/image" Target="../media/image862.png"/><Relationship Id="rId49" Type="http://schemas.openxmlformats.org/officeDocument/2006/relationships/image" Target="../media/image863.png"/><Relationship Id="rId50" Type="http://schemas.openxmlformats.org/officeDocument/2006/relationships/image" Target="../media/image864.png"/><Relationship Id="rId51" Type="http://schemas.openxmlformats.org/officeDocument/2006/relationships/image" Target="../media/image865.jpg"/><Relationship Id="rId52" Type="http://schemas.openxmlformats.org/officeDocument/2006/relationships/image" Target="../media/image866.jpg"/><Relationship Id="rId53" Type="http://schemas.openxmlformats.org/officeDocument/2006/relationships/image" Target="../media/image867.jpg"/><Relationship Id="rId54" Type="http://schemas.openxmlformats.org/officeDocument/2006/relationships/image" Target="../media/image868.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69.jpg"/><Relationship Id="rId3" Type="http://schemas.openxmlformats.org/officeDocument/2006/relationships/image" Target="../media/image870.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71.jpg"/><Relationship Id="rId3" Type="http://schemas.openxmlformats.org/officeDocument/2006/relationships/image" Target="../media/image872.jpg"/><Relationship Id="rId4" Type="http://schemas.openxmlformats.org/officeDocument/2006/relationships/image" Target="../media/image87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74.jpg"/><Relationship Id="rId3" Type="http://schemas.openxmlformats.org/officeDocument/2006/relationships/image" Target="../media/image875.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76.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77.jpg"/><Relationship Id="rId3" Type="http://schemas.openxmlformats.org/officeDocument/2006/relationships/image" Target="../media/image878.jpg"/><Relationship Id="rId4" Type="http://schemas.openxmlformats.org/officeDocument/2006/relationships/image" Target="../media/image879.jpg"/><Relationship Id="rId5" Type="http://schemas.openxmlformats.org/officeDocument/2006/relationships/image" Target="../media/image880.jpg"/><Relationship Id="rId6" Type="http://schemas.openxmlformats.org/officeDocument/2006/relationships/image" Target="../media/image881.jpg"/><Relationship Id="rId7" Type="http://schemas.openxmlformats.org/officeDocument/2006/relationships/image" Target="../media/image882.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8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8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85.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86.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87.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88.jpg"/><Relationship Id="rId3" Type="http://schemas.openxmlformats.org/officeDocument/2006/relationships/image" Target="../media/image889.png"/><Relationship Id="rId4" Type="http://schemas.openxmlformats.org/officeDocument/2006/relationships/image" Target="../media/image89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91.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92.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93.jpg"/><Relationship Id="rId3" Type="http://schemas.openxmlformats.org/officeDocument/2006/relationships/image" Target="../media/image894.jpg"/><Relationship Id="rId4" Type="http://schemas.openxmlformats.org/officeDocument/2006/relationships/image" Target="../media/image895.jpg"/><Relationship Id="rId5" Type="http://schemas.openxmlformats.org/officeDocument/2006/relationships/image" Target="../media/image896.jpg"/><Relationship Id="rId6" Type="http://schemas.openxmlformats.org/officeDocument/2006/relationships/image" Target="../media/image897.jpg"/><Relationship Id="rId7" Type="http://schemas.openxmlformats.org/officeDocument/2006/relationships/image" Target="../media/image898.jpg"/><Relationship Id="rId8" Type="http://schemas.openxmlformats.org/officeDocument/2006/relationships/image" Target="../media/image899.jpg"/><Relationship Id="rId9" Type="http://schemas.openxmlformats.org/officeDocument/2006/relationships/image" Target="../media/image900.jpg"/><Relationship Id="rId10" Type="http://schemas.openxmlformats.org/officeDocument/2006/relationships/image" Target="../media/image901.jpg"/><Relationship Id="rId11" Type="http://schemas.openxmlformats.org/officeDocument/2006/relationships/image" Target="../media/image902.jpg"/><Relationship Id="rId12" Type="http://schemas.openxmlformats.org/officeDocument/2006/relationships/image" Target="../media/image903.jpg"/><Relationship Id="rId13" Type="http://schemas.openxmlformats.org/officeDocument/2006/relationships/image" Target="../media/image904.jpg"/><Relationship Id="rId14" Type="http://schemas.openxmlformats.org/officeDocument/2006/relationships/image" Target="../media/image905.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06.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07.png"/><Relationship Id="rId3" Type="http://schemas.openxmlformats.org/officeDocument/2006/relationships/image" Target="../media/image908.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09.jpg"/><Relationship Id="rId3" Type="http://schemas.openxmlformats.org/officeDocument/2006/relationships/image" Target="../media/image910.jpg"/><Relationship Id="rId4" Type="http://schemas.openxmlformats.org/officeDocument/2006/relationships/image" Target="../media/image911.jpg"/><Relationship Id="rId5" Type="http://schemas.openxmlformats.org/officeDocument/2006/relationships/image" Target="../media/image912.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13.jpg"/><Relationship Id="rId3" Type="http://schemas.openxmlformats.org/officeDocument/2006/relationships/image" Target="../media/image914.jpg"/><Relationship Id="rId4" Type="http://schemas.openxmlformats.org/officeDocument/2006/relationships/image" Target="../media/image915.jpg"/><Relationship Id="rId5" Type="http://schemas.openxmlformats.org/officeDocument/2006/relationships/image" Target="../media/image916.jpg"/><Relationship Id="rId6" Type="http://schemas.openxmlformats.org/officeDocument/2006/relationships/image" Target="../media/image917.jpg"/><Relationship Id="rId7" Type="http://schemas.openxmlformats.org/officeDocument/2006/relationships/image" Target="../media/image918.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19.png"/><Relationship Id="rId3" Type="http://schemas.openxmlformats.org/officeDocument/2006/relationships/image" Target="../media/image920.png"/><Relationship Id="rId4" Type="http://schemas.openxmlformats.org/officeDocument/2006/relationships/image" Target="../media/image921.jpg"/><Relationship Id="rId5" Type="http://schemas.openxmlformats.org/officeDocument/2006/relationships/image" Target="../media/image922.jpg"/><Relationship Id="rId6" Type="http://schemas.openxmlformats.org/officeDocument/2006/relationships/image" Target="../media/image923.jpg"/><Relationship Id="rId7" Type="http://schemas.openxmlformats.org/officeDocument/2006/relationships/image" Target="../media/image924.jpg"/><Relationship Id="rId8" Type="http://schemas.openxmlformats.org/officeDocument/2006/relationships/image" Target="../media/image925.jpg"/><Relationship Id="rId9" Type="http://schemas.openxmlformats.org/officeDocument/2006/relationships/image" Target="../media/image926.jpg"/><Relationship Id="rId10" Type="http://schemas.openxmlformats.org/officeDocument/2006/relationships/image" Target="../media/image927.jpg"/><Relationship Id="rId11" Type="http://schemas.openxmlformats.org/officeDocument/2006/relationships/image" Target="../media/image928.jpg"/><Relationship Id="rId12" Type="http://schemas.openxmlformats.org/officeDocument/2006/relationships/image" Target="../media/image929.jpg"/><Relationship Id="rId13" Type="http://schemas.openxmlformats.org/officeDocument/2006/relationships/image" Target="../media/image930.png"/><Relationship Id="rId14" Type="http://schemas.openxmlformats.org/officeDocument/2006/relationships/image" Target="../media/image931.jpg"/><Relationship Id="rId15" Type="http://schemas.openxmlformats.org/officeDocument/2006/relationships/image" Target="../media/image932.png"/><Relationship Id="rId16" Type="http://schemas.openxmlformats.org/officeDocument/2006/relationships/image" Target="../media/image933.png"/><Relationship Id="rId17" Type="http://schemas.openxmlformats.org/officeDocument/2006/relationships/image" Target="../media/image93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35.jpg"/><Relationship Id="rId3" Type="http://schemas.openxmlformats.org/officeDocument/2006/relationships/image" Target="../media/image936.jpg"/><Relationship Id="rId4" Type="http://schemas.openxmlformats.org/officeDocument/2006/relationships/image" Target="../media/image937.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38.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3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895350"/>
            <a:ext cx="9144000" cy="3962400"/>
          </a:xfrm>
          <a:custGeom>
            <a:avLst/>
            <a:gdLst/>
            <a:ahLst/>
            <a:cxnLst/>
            <a:rect l="l" t="t" r="r" b="b"/>
            <a:pathLst>
              <a:path w="9144000" h="3962400">
                <a:moveTo>
                  <a:pt x="9144000" y="0"/>
                </a:moveTo>
                <a:lnTo>
                  <a:pt x="0" y="0"/>
                </a:lnTo>
                <a:lnTo>
                  <a:pt x="0" y="3962400"/>
                </a:lnTo>
                <a:lnTo>
                  <a:pt x="9144000" y="3962400"/>
                </a:lnTo>
                <a:lnTo>
                  <a:pt x="9144000" y="0"/>
                </a:lnTo>
                <a:close/>
              </a:path>
            </a:pathLst>
          </a:custGeom>
          <a:solidFill>
            <a:srgbClr val="2544A7">
              <a:alpha val="85098"/>
            </a:srgbClr>
          </a:solidFill>
        </p:spPr>
        <p:txBody>
          <a:bodyPr wrap="square" lIns="0" tIns="0" rIns="0" bIns="0" rtlCol="0"/>
          <a:lstStyle/>
          <a:p/>
        </p:txBody>
      </p:sp>
      <p:sp>
        <p:nvSpPr>
          <p:cNvPr id="3" name="object 3"/>
          <p:cNvSpPr txBox="1">
            <a:spLocks noGrp="1"/>
          </p:cNvSpPr>
          <p:nvPr>
            <p:ph type="title"/>
          </p:nvPr>
        </p:nvSpPr>
        <p:spPr>
          <a:xfrm>
            <a:off x="1413668" y="2133854"/>
            <a:ext cx="6316980" cy="756920"/>
          </a:xfrm>
          <a:prstGeom prst="rect"/>
        </p:spPr>
        <p:txBody>
          <a:bodyPr wrap="square" lIns="0" tIns="12700" rIns="0" bIns="0" rtlCol="0" vert="horz">
            <a:spAutoFit/>
          </a:bodyPr>
          <a:lstStyle/>
          <a:p>
            <a:pPr marL="12700">
              <a:lnSpc>
                <a:spcPct val="100000"/>
              </a:lnSpc>
              <a:spcBef>
                <a:spcPts val="100"/>
              </a:spcBef>
            </a:pPr>
            <a:r>
              <a:rPr dirty="0" sz="4800" spc="-40">
                <a:latin typeface="Times New Roman"/>
                <a:cs typeface="Times New Roman"/>
              </a:rPr>
              <a:t>5G</a:t>
            </a:r>
            <a:r>
              <a:rPr dirty="0" sz="4800" spc="-10"/>
              <a:t>无线网络规划与组网</a:t>
            </a:r>
            <a:endParaRPr sz="48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4619" y="15495"/>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课</a:t>
            </a:r>
            <a:r>
              <a:rPr dirty="0" sz="4400"/>
              <a:t>	</a:t>
            </a:r>
            <a:r>
              <a:rPr dirty="0" sz="4400" spc="-50"/>
              <a:t>程</a:t>
            </a:r>
            <a:r>
              <a:rPr dirty="0" sz="4400"/>
              <a:t>	</a:t>
            </a:r>
            <a:r>
              <a:rPr dirty="0" sz="4400" spc="-50"/>
              <a:t>目</a:t>
            </a:r>
            <a:r>
              <a:rPr dirty="0" sz="4400"/>
              <a:t>	</a:t>
            </a:r>
            <a:r>
              <a:rPr dirty="0" sz="4400" spc="-50"/>
              <a:t>的</a:t>
            </a:r>
            <a:endParaRPr sz="4400"/>
          </a:p>
        </p:txBody>
      </p:sp>
      <p:sp>
        <p:nvSpPr>
          <p:cNvPr id="3" name="object 3" descr=""/>
          <p:cNvSpPr txBox="1"/>
          <p:nvPr/>
        </p:nvSpPr>
        <p:spPr>
          <a:xfrm>
            <a:off x="1027865" y="800083"/>
            <a:ext cx="3243580" cy="4141470"/>
          </a:xfrm>
          <a:prstGeom prst="rect">
            <a:avLst/>
          </a:prstGeom>
        </p:spPr>
        <p:txBody>
          <a:bodyPr wrap="square" lIns="0" tIns="165100" rIns="0" bIns="0" rtlCol="0" vert="horz">
            <a:spAutoFit/>
          </a:bodyPr>
          <a:lstStyle/>
          <a:p>
            <a:pPr marL="354965" indent="-342265">
              <a:lnSpc>
                <a:spcPct val="100000"/>
              </a:lnSpc>
              <a:spcBef>
                <a:spcPts val="1300"/>
              </a:spcBef>
              <a:buFont typeface="Wingdings"/>
              <a:buChar char=""/>
              <a:tabLst>
                <a:tab pos="354965" algn="l"/>
              </a:tabLst>
            </a:pPr>
            <a:r>
              <a:rPr dirty="0" sz="2000" spc="-15">
                <a:latin typeface="SimSun"/>
                <a:cs typeface="SimSun"/>
              </a:rPr>
              <a:t>了解</a:t>
            </a:r>
            <a:r>
              <a:rPr dirty="0" sz="2000" spc="-10" b="1">
                <a:latin typeface="Times New Roman"/>
                <a:cs typeface="Times New Roman"/>
              </a:rPr>
              <a:t>5G</a:t>
            </a:r>
            <a:r>
              <a:rPr dirty="0" sz="2000" spc="-20">
                <a:latin typeface="SimSun"/>
                <a:cs typeface="SimSun"/>
              </a:rPr>
              <a:t>无线网络规划特点</a:t>
            </a:r>
            <a:endParaRPr sz="2000">
              <a:latin typeface="SimSun"/>
              <a:cs typeface="SimSun"/>
            </a:endParaRPr>
          </a:p>
          <a:p>
            <a:pPr marL="354965" indent="-342265">
              <a:lnSpc>
                <a:spcPct val="100000"/>
              </a:lnSpc>
              <a:spcBef>
                <a:spcPts val="1200"/>
              </a:spcBef>
              <a:buFont typeface="Wingdings"/>
              <a:buChar char=""/>
              <a:tabLst>
                <a:tab pos="354965" algn="l"/>
              </a:tabLst>
            </a:pPr>
            <a:r>
              <a:rPr dirty="0" sz="2000" spc="-15">
                <a:latin typeface="SimSun"/>
                <a:cs typeface="SimSun"/>
              </a:rPr>
              <a:t>熟悉</a:t>
            </a:r>
            <a:r>
              <a:rPr dirty="0" sz="2000" spc="-10" b="1">
                <a:latin typeface="Times New Roman"/>
                <a:cs typeface="Times New Roman"/>
              </a:rPr>
              <a:t>5G</a:t>
            </a:r>
            <a:r>
              <a:rPr dirty="0" sz="2000" spc="-20">
                <a:latin typeface="SimSun"/>
                <a:cs typeface="SimSun"/>
              </a:rPr>
              <a:t>无线网络规划流程</a:t>
            </a:r>
            <a:endParaRPr sz="2000">
              <a:latin typeface="SimSun"/>
              <a:cs typeface="SimSun"/>
            </a:endParaRPr>
          </a:p>
          <a:p>
            <a:pPr marL="354965" indent="-342265">
              <a:lnSpc>
                <a:spcPct val="100000"/>
              </a:lnSpc>
              <a:spcBef>
                <a:spcPts val="1200"/>
              </a:spcBef>
              <a:buFont typeface="Wingdings"/>
              <a:buChar char=""/>
              <a:tabLst>
                <a:tab pos="354965" algn="l"/>
              </a:tabLst>
            </a:pPr>
            <a:r>
              <a:rPr dirty="0" sz="2000" spc="-15">
                <a:latin typeface="SimSun"/>
                <a:cs typeface="SimSun"/>
              </a:rPr>
              <a:t>掌握</a:t>
            </a:r>
            <a:r>
              <a:rPr dirty="0" sz="2000" spc="-10" b="1">
                <a:latin typeface="Times New Roman"/>
                <a:cs typeface="Times New Roman"/>
              </a:rPr>
              <a:t>5G</a:t>
            </a:r>
            <a:r>
              <a:rPr dirty="0" sz="2000" spc="-20">
                <a:latin typeface="SimSun"/>
                <a:cs typeface="SimSun"/>
              </a:rPr>
              <a:t>网络宏站部署策略</a:t>
            </a:r>
            <a:endParaRPr sz="2000">
              <a:latin typeface="SimSun"/>
              <a:cs typeface="SimSun"/>
            </a:endParaRPr>
          </a:p>
          <a:p>
            <a:pPr marL="354965" indent="-342265">
              <a:lnSpc>
                <a:spcPct val="100000"/>
              </a:lnSpc>
              <a:spcBef>
                <a:spcPts val="1200"/>
              </a:spcBef>
              <a:buFont typeface="Wingdings"/>
              <a:buChar char=""/>
              <a:tabLst>
                <a:tab pos="354965" algn="l"/>
              </a:tabLst>
            </a:pPr>
            <a:r>
              <a:rPr dirty="0" sz="2000" spc="-15">
                <a:latin typeface="SimSun"/>
                <a:cs typeface="SimSun"/>
              </a:rPr>
              <a:t>掌握</a:t>
            </a:r>
            <a:r>
              <a:rPr dirty="0" sz="2000" spc="-10" b="1">
                <a:latin typeface="Times New Roman"/>
                <a:cs typeface="Times New Roman"/>
              </a:rPr>
              <a:t>5G</a:t>
            </a:r>
            <a:r>
              <a:rPr dirty="0" sz="2000" spc="-20">
                <a:latin typeface="SimSun"/>
                <a:cs typeface="SimSun"/>
              </a:rPr>
              <a:t>网络微站部署策略</a:t>
            </a:r>
            <a:endParaRPr sz="2000">
              <a:latin typeface="SimSun"/>
              <a:cs typeface="SimSun"/>
            </a:endParaRPr>
          </a:p>
          <a:p>
            <a:pPr marL="354965" indent="-342265">
              <a:lnSpc>
                <a:spcPct val="100000"/>
              </a:lnSpc>
              <a:spcBef>
                <a:spcPts val="1200"/>
              </a:spcBef>
              <a:buFont typeface="Wingdings"/>
              <a:buChar char=""/>
              <a:tabLst>
                <a:tab pos="354965" algn="l"/>
              </a:tabLst>
            </a:pPr>
            <a:r>
              <a:rPr dirty="0" sz="2000" spc="-15">
                <a:latin typeface="SimSun"/>
                <a:cs typeface="SimSun"/>
              </a:rPr>
              <a:t>掌握</a:t>
            </a:r>
            <a:r>
              <a:rPr dirty="0" sz="2000" spc="-10" b="1">
                <a:latin typeface="Times New Roman"/>
                <a:cs typeface="Times New Roman"/>
              </a:rPr>
              <a:t>5G</a:t>
            </a:r>
            <a:r>
              <a:rPr dirty="0" sz="2000" spc="-20">
                <a:latin typeface="SimSun"/>
                <a:cs typeface="SimSun"/>
              </a:rPr>
              <a:t>网络室分部署策略</a:t>
            </a:r>
            <a:endParaRPr sz="2000">
              <a:latin typeface="SimSun"/>
              <a:cs typeface="SimSun"/>
            </a:endParaRPr>
          </a:p>
          <a:p>
            <a:pPr marL="89535">
              <a:lnSpc>
                <a:spcPct val="100000"/>
              </a:lnSpc>
              <a:spcBef>
                <a:spcPts val="1445"/>
              </a:spcBef>
            </a:pPr>
            <a:r>
              <a:rPr dirty="0" sz="2400" spc="-15" b="1">
                <a:solidFill>
                  <a:srgbClr val="FF0000"/>
                </a:solidFill>
                <a:latin typeface="Microsoft YaHei"/>
                <a:cs typeface="Microsoft YaHei"/>
              </a:rPr>
              <a:t>先修课程</a:t>
            </a:r>
            <a:endParaRPr sz="2400">
              <a:latin typeface="Microsoft YaHei"/>
              <a:cs typeface="Microsoft YaHei"/>
            </a:endParaRPr>
          </a:p>
          <a:p>
            <a:pPr marL="354965" indent="-342265">
              <a:lnSpc>
                <a:spcPct val="100000"/>
              </a:lnSpc>
              <a:spcBef>
                <a:spcPts val="1280"/>
              </a:spcBef>
              <a:buFont typeface="Wingdings"/>
              <a:buChar char=""/>
              <a:tabLst>
                <a:tab pos="354965" algn="l"/>
              </a:tabLst>
            </a:pPr>
            <a:r>
              <a:rPr dirty="0" sz="2000" spc="-25" b="1">
                <a:latin typeface="Arial"/>
                <a:cs typeface="Arial"/>
              </a:rPr>
              <a:t>LTE</a:t>
            </a:r>
            <a:r>
              <a:rPr dirty="0" sz="2000" spc="-20">
                <a:latin typeface="SimSun"/>
                <a:cs typeface="SimSun"/>
              </a:rPr>
              <a:t>基本原理与技术</a:t>
            </a:r>
            <a:endParaRPr sz="2000">
              <a:latin typeface="SimSun"/>
              <a:cs typeface="SimSun"/>
            </a:endParaRPr>
          </a:p>
          <a:p>
            <a:pPr marL="354965" indent="-342265">
              <a:lnSpc>
                <a:spcPct val="100000"/>
              </a:lnSpc>
              <a:spcBef>
                <a:spcPts val="800"/>
              </a:spcBef>
              <a:buFont typeface="Wingdings"/>
              <a:buChar char=""/>
              <a:tabLst>
                <a:tab pos="354965" algn="l"/>
              </a:tabLst>
            </a:pPr>
            <a:r>
              <a:rPr dirty="0" sz="2000" spc="-20">
                <a:latin typeface="SimSun"/>
                <a:cs typeface="SimSun"/>
              </a:rPr>
              <a:t>下一代网络基本原理</a:t>
            </a:r>
            <a:endParaRPr sz="2000">
              <a:latin typeface="SimSun"/>
              <a:cs typeface="SimSun"/>
            </a:endParaRPr>
          </a:p>
          <a:p>
            <a:pPr marL="354965" indent="-342265">
              <a:lnSpc>
                <a:spcPct val="100000"/>
              </a:lnSpc>
              <a:spcBef>
                <a:spcPts val="800"/>
              </a:spcBef>
              <a:buFont typeface="Wingdings"/>
              <a:buChar char=""/>
              <a:tabLst>
                <a:tab pos="354965" algn="l"/>
              </a:tabLst>
            </a:pPr>
            <a:r>
              <a:rPr dirty="0" sz="2000" spc="-20">
                <a:latin typeface="SimSun"/>
                <a:cs typeface="SimSun"/>
              </a:rPr>
              <a:t>通信工程与网络技术</a:t>
            </a:r>
            <a:endParaRPr sz="2000">
              <a:latin typeface="SimSun"/>
              <a:cs typeface="SimSun"/>
            </a:endParaRPr>
          </a:p>
        </p:txBody>
      </p:sp>
      <p:pic>
        <p:nvPicPr>
          <p:cNvPr id="4" name="object 4"/>
          <p:cNvPicPr/>
          <p:nvPr/>
        </p:nvPicPr>
        <p:blipFill>
          <a:blip r:embed="rId2" cstate="print"/>
          <a:stretch>
            <a:fillRect/>
          </a:stretch>
        </p:blipFill>
        <p:spPr>
          <a:xfrm>
            <a:off x="5841263" y="1051560"/>
            <a:ext cx="2400629" cy="1846084"/>
          </a:xfrm>
          <a:prstGeom prst="rect">
            <a:avLst/>
          </a:prstGeom>
        </p:spPr>
      </p:pic>
      <p:pic>
        <p:nvPicPr>
          <p:cNvPr id="5" name="object 5" descr=""/>
          <p:cNvPicPr/>
          <p:nvPr/>
        </p:nvPicPr>
        <p:blipFill>
          <a:blip r:embed="rId3" cstate="print"/>
          <a:stretch>
            <a:fillRect/>
          </a:stretch>
        </p:blipFill>
        <p:spPr>
          <a:xfrm>
            <a:off x="5414588" y="3295318"/>
            <a:ext cx="3219111" cy="15407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429000" y="971550"/>
            <a:ext cx="45720" cy="3759200"/>
          </a:xfrm>
          <a:custGeom>
            <a:avLst/>
            <a:gdLst/>
            <a:ahLst/>
            <a:cxnLst/>
            <a:rect l="l" t="t" r="r" b="b"/>
            <a:pathLst>
              <a:path w="45720" h="3759200">
                <a:moveTo>
                  <a:pt x="0" y="0"/>
                </a:moveTo>
                <a:lnTo>
                  <a:pt x="45720" y="3758806"/>
                </a:lnTo>
              </a:path>
            </a:pathLst>
          </a:custGeom>
          <a:ln w="34924">
            <a:solidFill>
              <a:srgbClr val="000000"/>
            </a:solidFill>
          </a:ln>
        </p:spPr>
        <p:txBody>
          <a:bodyPr wrap="square" lIns="0" tIns="0" rIns="0" bIns="0" rtlCol="0"/>
          <a:lstStyle/>
          <a:p/>
        </p:txBody>
      </p:sp>
      <p:grpSp>
        <p:nvGrpSpPr>
          <p:cNvPr id="3" name="object 3" descr=""/>
          <p:cNvGrpSpPr/>
          <p:nvPr/>
        </p:nvGrpSpPr>
        <p:grpSpPr>
          <a:xfrm>
            <a:off x="3727450" y="1614091"/>
            <a:ext cx="4660900" cy="498475"/>
            <a:chOff x="3727450" y="1614091"/>
            <a:chExt cx="4660900" cy="498475"/>
          </a:xfrm>
        </p:grpSpPr>
        <p:pic>
          <p:nvPicPr>
            <p:cNvPr id="4" name="object 4" descr=""/>
            <p:cNvPicPr/>
            <p:nvPr/>
          </p:nvPicPr>
          <p:blipFill>
            <a:blip r:embed="rId2" cstate="print"/>
            <a:stretch>
              <a:fillRect/>
            </a:stretch>
          </p:blipFill>
          <p:spPr>
            <a:xfrm>
              <a:off x="3733800" y="1620441"/>
              <a:ext cx="4648200" cy="485775"/>
            </a:xfrm>
            <a:prstGeom prst="rect">
              <a:avLst/>
            </a:prstGeom>
          </p:spPr>
        </p:pic>
        <p:sp>
          <p:nvSpPr>
            <p:cNvPr id="5" name="object 5" descr=""/>
            <p:cNvSpPr/>
            <p:nvPr/>
          </p:nvSpPr>
          <p:spPr>
            <a:xfrm>
              <a:off x="3733800" y="16204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727450" y="2261791"/>
            <a:ext cx="4660900" cy="498475"/>
            <a:chOff x="3727450" y="2261791"/>
            <a:chExt cx="4660900" cy="498475"/>
          </a:xfrm>
        </p:grpSpPr>
        <p:pic>
          <p:nvPicPr>
            <p:cNvPr id="7" name="object 7" descr=""/>
            <p:cNvPicPr/>
            <p:nvPr/>
          </p:nvPicPr>
          <p:blipFill>
            <a:blip r:embed="rId3" cstate="print"/>
            <a:stretch>
              <a:fillRect/>
            </a:stretch>
          </p:blipFill>
          <p:spPr>
            <a:xfrm>
              <a:off x="3733800" y="2268141"/>
              <a:ext cx="4648200" cy="485775"/>
            </a:xfrm>
            <a:prstGeom prst="rect">
              <a:avLst/>
            </a:prstGeom>
          </p:spPr>
        </p:pic>
        <p:sp>
          <p:nvSpPr>
            <p:cNvPr id="8" name="object 8" descr=""/>
            <p:cNvSpPr/>
            <p:nvPr/>
          </p:nvSpPr>
          <p:spPr>
            <a:xfrm>
              <a:off x="3733800" y="22681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727450" y="965200"/>
            <a:ext cx="4660900" cy="498475"/>
            <a:chOff x="3727450" y="965200"/>
            <a:chExt cx="4660900" cy="498475"/>
          </a:xfrm>
        </p:grpSpPr>
        <p:pic>
          <p:nvPicPr>
            <p:cNvPr id="10" name="object 10" descr=""/>
            <p:cNvPicPr/>
            <p:nvPr/>
          </p:nvPicPr>
          <p:blipFill>
            <a:blip r:embed="rId4" cstate="print"/>
            <a:stretch>
              <a:fillRect/>
            </a:stretch>
          </p:blipFill>
          <p:spPr>
            <a:xfrm>
              <a:off x="3733800" y="971550"/>
              <a:ext cx="4648200" cy="485775"/>
            </a:xfrm>
            <a:prstGeom prst="rect">
              <a:avLst/>
            </a:prstGeom>
          </p:spPr>
        </p:pic>
        <p:sp>
          <p:nvSpPr>
            <p:cNvPr id="11" name="object 11" descr=""/>
            <p:cNvSpPr/>
            <p:nvPr/>
          </p:nvSpPr>
          <p:spPr>
            <a:xfrm>
              <a:off x="3733800" y="971550"/>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174619" y="39229"/>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主</a:t>
            </a:r>
            <a:r>
              <a:rPr dirty="0" sz="4400"/>
              <a:t>	</a:t>
            </a:r>
            <a:r>
              <a:rPr dirty="0" sz="4400" spc="-50"/>
              <a:t>要</a:t>
            </a:r>
            <a:r>
              <a:rPr dirty="0" sz="4400"/>
              <a:t>	</a:t>
            </a:r>
            <a:r>
              <a:rPr dirty="0" sz="4400" spc="-50"/>
              <a:t>内</a:t>
            </a:r>
            <a:r>
              <a:rPr dirty="0" sz="4400"/>
              <a:t>	</a:t>
            </a:r>
            <a:r>
              <a:rPr dirty="0" sz="4400" spc="-50"/>
              <a:t>容</a:t>
            </a:r>
            <a:endParaRPr sz="4400"/>
          </a:p>
        </p:txBody>
      </p:sp>
      <p:grpSp>
        <p:nvGrpSpPr>
          <p:cNvPr id="13" name="object 13" descr=""/>
          <p:cNvGrpSpPr/>
          <p:nvPr/>
        </p:nvGrpSpPr>
        <p:grpSpPr>
          <a:xfrm>
            <a:off x="3727450" y="2909491"/>
            <a:ext cx="4660900" cy="498475"/>
            <a:chOff x="3727450" y="2909491"/>
            <a:chExt cx="4660900" cy="498475"/>
          </a:xfrm>
        </p:grpSpPr>
        <p:pic>
          <p:nvPicPr>
            <p:cNvPr id="14" name="object 14" descr=""/>
            <p:cNvPicPr/>
            <p:nvPr/>
          </p:nvPicPr>
          <p:blipFill>
            <a:blip r:embed="rId3" cstate="print"/>
            <a:stretch>
              <a:fillRect/>
            </a:stretch>
          </p:blipFill>
          <p:spPr>
            <a:xfrm>
              <a:off x="3733800" y="2915841"/>
              <a:ext cx="4648200" cy="485775"/>
            </a:xfrm>
            <a:prstGeom prst="rect">
              <a:avLst/>
            </a:prstGeom>
          </p:spPr>
        </p:pic>
        <p:sp>
          <p:nvSpPr>
            <p:cNvPr id="15" name="object 15" descr=""/>
            <p:cNvSpPr/>
            <p:nvPr/>
          </p:nvSpPr>
          <p:spPr>
            <a:xfrm>
              <a:off x="3733800" y="29158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6" name="object 16" descr=""/>
          <p:cNvGrpSpPr/>
          <p:nvPr/>
        </p:nvGrpSpPr>
        <p:grpSpPr>
          <a:xfrm>
            <a:off x="3727450" y="3557189"/>
            <a:ext cx="4660900" cy="498475"/>
            <a:chOff x="3727450" y="3557189"/>
            <a:chExt cx="4660900" cy="498475"/>
          </a:xfrm>
        </p:grpSpPr>
        <p:pic>
          <p:nvPicPr>
            <p:cNvPr id="17" name="object 17" descr=""/>
            <p:cNvPicPr/>
            <p:nvPr/>
          </p:nvPicPr>
          <p:blipFill>
            <a:blip r:embed="rId5" cstate="print"/>
            <a:stretch>
              <a:fillRect/>
            </a:stretch>
          </p:blipFill>
          <p:spPr>
            <a:xfrm>
              <a:off x="3733800" y="3563539"/>
              <a:ext cx="4648200" cy="485775"/>
            </a:xfrm>
            <a:prstGeom prst="rect">
              <a:avLst/>
            </a:prstGeom>
          </p:spPr>
        </p:pic>
        <p:sp>
          <p:nvSpPr>
            <p:cNvPr id="18" name="object 18" descr=""/>
            <p:cNvSpPr/>
            <p:nvPr/>
          </p:nvSpPr>
          <p:spPr>
            <a:xfrm>
              <a:off x="3733800" y="3563539"/>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4"/>
                  </a:lnTo>
                  <a:lnTo>
                    <a:pt x="80962" y="485774"/>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9" name="object 19" descr=""/>
          <p:cNvGrpSpPr/>
          <p:nvPr/>
        </p:nvGrpSpPr>
        <p:grpSpPr>
          <a:xfrm>
            <a:off x="3727450" y="4238228"/>
            <a:ext cx="4660900" cy="498475"/>
            <a:chOff x="3727450" y="4238228"/>
            <a:chExt cx="4660900" cy="498475"/>
          </a:xfrm>
        </p:grpSpPr>
        <p:pic>
          <p:nvPicPr>
            <p:cNvPr id="20" name="object 20" descr=""/>
            <p:cNvPicPr/>
            <p:nvPr/>
          </p:nvPicPr>
          <p:blipFill>
            <a:blip r:embed="rId6" cstate="print"/>
            <a:stretch>
              <a:fillRect/>
            </a:stretch>
          </p:blipFill>
          <p:spPr>
            <a:xfrm>
              <a:off x="3733800" y="4244578"/>
              <a:ext cx="4648200" cy="485775"/>
            </a:xfrm>
            <a:prstGeom prst="rect">
              <a:avLst/>
            </a:prstGeom>
          </p:spPr>
        </p:pic>
        <p:sp>
          <p:nvSpPr>
            <p:cNvPr id="21" name="object 21" descr=""/>
            <p:cNvSpPr/>
            <p:nvPr/>
          </p:nvSpPr>
          <p:spPr>
            <a:xfrm>
              <a:off x="3733800" y="4244578"/>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3836253" y="1007427"/>
            <a:ext cx="4072890" cy="3664585"/>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FF0000"/>
                </a:solidFill>
                <a:latin typeface="Microsoft YaHei"/>
                <a:cs typeface="Microsoft YaHei"/>
              </a:rPr>
              <a:t>一、</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系统无线网络规划概述</a:t>
            </a:r>
            <a:endParaRPr sz="2400">
              <a:latin typeface="Microsoft YaHei"/>
              <a:cs typeface="Microsoft YaHei"/>
            </a:endParaRPr>
          </a:p>
          <a:p>
            <a:pPr algn="just" marL="12700" marR="21590">
              <a:lnSpc>
                <a:spcPct val="177100"/>
              </a:lnSpc>
              <a:spcBef>
                <a:spcPts val="5"/>
              </a:spcBef>
            </a:pPr>
            <a:r>
              <a:rPr dirty="0" sz="2400">
                <a:latin typeface="Microsoft YaHei"/>
                <a:cs typeface="Microsoft YaHei"/>
              </a:rPr>
              <a:t>二、</a:t>
            </a:r>
            <a:r>
              <a:rPr dirty="0" sz="2400" spc="-20">
                <a:latin typeface="Times New Roman"/>
                <a:cs typeface="Times New Roman"/>
              </a:rPr>
              <a:t>5G</a:t>
            </a:r>
            <a:r>
              <a:rPr dirty="0" sz="2400" spc="-5">
                <a:latin typeface="Microsoft YaHei"/>
                <a:cs typeface="Microsoft YaHei"/>
              </a:rPr>
              <a:t>系统无线网络规划过程</a:t>
            </a:r>
            <a:r>
              <a:rPr dirty="0" sz="2400">
                <a:latin typeface="Microsoft YaHei"/>
                <a:cs typeface="Microsoft YaHei"/>
              </a:rPr>
              <a:t>三、</a:t>
            </a:r>
            <a:r>
              <a:rPr dirty="0" sz="2400" spc="-20">
                <a:latin typeface="Times New Roman"/>
                <a:cs typeface="Times New Roman"/>
              </a:rPr>
              <a:t>5G</a:t>
            </a:r>
            <a:r>
              <a:rPr dirty="0" sz="2400" spc="-5">
                <a:latin typeface="Microsoft YaHei"/>
                <a:cs typeface="Microsoft YaHei"/>
              </a:rPr>
              <a:t>无线网络宏站组网策略</a:t>
            </a:r>
            <a:r>
              <a:rPr dirty="0" sz="2400">
                <a:latin typeface="Microsoft YaHei"/>
                <a:cs typeface="Microsoft YaHei"/>
              </a:rPr>
              <a:t>四、</a:t>
            </a:r>
            <a:r>
              <a:rPr dirty="0" sz="2400" spc="-20">
                <a:latin typeface="Times New Roman"/>
                <a:cs typeface="Times New Roman"/>
              </a:rPr>
              <a:t>5G</a:t>
            </a:r>
            <a:r>
              <a:rPr dirty="0" sz="2400" spc="-5">
                <a:latin typeface="Microsoft YaHei"/>
                <a:cs typeface="Microsoft YaHei"/>
              </a:rPr>
              <a:t>无线网络微站组网策略</a:t>
            </a:r>
            <a:r>
              <a:rPr dirty="0" sz="2400">
                <a:latin typeface="Microsoft YaHei"/>
                <a:cs typeface="Microsoft YaHei"/>
              </a:rPr>
              <a:t>五、</a:t>
            </a:r>
            <a:r>
              <a:rPr dirty="0" sz="2400" spc="-20">
                <a:latin typeface="Times New Roman"/>
                <a:cs typeface="Times New Roman"/>
              </a:rPr>
              <a:t>5G</a:t>
            </a:r>
            <a:r>
              <a:rPr dirty="0" sz="2400" spc="-5">
                <a:latin typeface="Microsoft YaHei"/>
                <a:cs typeface="Microsoft YaHei"/>
              </a:rPr>
              <a:t>无线网络室分组网策略</a:t>
            </a:r>
            <a:endParaRPr sz="2400">
              <a:latin typeface="Microsoft YaHei"/>
              <a:cs typeface="Microsoft YaHei"/>
            </a:endParaRPr>
          </a:p>
          <a:p>
            <a:pPr marL="12700">
              <a:lnSpc>
                <a:spcPct val="100000"/>
              </a:lnSpc>
              <a:spcBef>
                <a:spcPts val="2485"/>
              </a:spcBef>
            </a:pPr>
            <a:r>
              <a:rPr dirty="0" sz="2400">
                <a:latin typeface="Microsoft YaHei"/>
                <a:cs typeface="Microsoft YaHei"/>
              </a:rPr>
              <a:t>六、</a:t>
            </a:r>
            <a:r>
              <a:rPr dirty="0" sz="2400" spc="-20">
                <a:latin typeface="Times New Roman"/>
                <a:cs typeface="Times New Roman"/>
              </a:rPr>
              <a:t>5G</a:t>
            </a:r>
            <a:r>
              <a:rPr dirty="0" sz="2400" spc="-5">
                <a:latin typeface="Microsoft YaHei"/>
                <a:cs typeface="Microsoft YaHei"/>
              </a:rPr>
              <a:t>无线网络现场测试分享</a:t>
            </a:r>
            <a:endParaRPr sz="2400">
              <a:latin typeface="Microsoft YaHei"/>
              <a:cs typeface="Microsoft YaHei"/>
            </a:endParaRPr>
          </a:p>
        </p:txBody>
      </p:sp>
      <p:pic>
        <p:nvPicPr>
          <p:cNvPr id="23" name="object 23"/>
          <p:cNvPicPr/>
          <p:nvPr/>
        </p:nvPicPr>
        <p:blipFill>
          <a:blip r:embed="rId7" cstate="print"/>
          <a:stretch>
            <a:fillRect/>
          </a:stretch>
        </p:blipFill>
        <p:spPr>
          <a:xfrm>
            <a:off x="179400" y="971550"/>
            <a:ext cx="3097199" cy="37862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33974" y="173048"/>
            <a:ext cx="2985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目标网络规划</a:t>
            </a:r>
          </a:p>
        </p:txBody>
      </p:sp>
      <p:sp>
        <p:nvSpPr>
          <p:cNvPr id="3" name="object 3" descr=""/>
          <p:cNvSpPr txBox="1"/>
          <p:nvPr/>
        </p:nvSpPr>
        <p:spPr>
          <a:xfrm>
            <a:off x="547865" y="931862"/>
            <a:ext cx="1368425" cy="360045"/>
          </a:xfrm>
          <a:prstGeom prst="rect">
            <a:avLst/>
          </a:prstGeom>
          <a:solidFill>
            <a:srgbClr val="92D050"/>
          </a:solidFill>
          <a:ln w="25400">
            <a:solidFill>
              <a:srgbClr val="89A4A7"/>
            </a:solidFill>
          </a:ln>
        </p:spPr>
        <p:txBody>
          <a:bodyPr wrap="square" lIns="0" tIns="34290" rIns="0" bIns="0" rtlCol="0" vert="horz">
            <a:spAutoFit/>
          </a:bodyPr>
          <a:lstStyle/>
          <a:p>
            <a:pPr marL="112395">
              <a:lnSpc>
                <a:spcPct val="100000"/>
              </a:lnSpc>
              <a:spcBef>
                <a:spcPts val="270"/>
              </a:spcBef>
            </a:pPr>
            <a:r>
              <a:rPr dirty="0" sz="1800" spc="-10" b="1">
                <a:solidFill>
                  <a:srgbClr val="FFFFFF"/>
                </a:solidFill>
                <a:latin typeface="Microsoft YaHei"/>
                <a:cs typeface="Microsoft YaHei"/>
              </a:rPr>
              <a:t>多天线增强</a:t>
            </a:r>
            <a:endParaRPr sz="1800">
              <a:latin typeface="Microsoft YaHei"/>
              <a:cs typeface="Microsoft YaHei"/>
            </a:endParaRPr>
          </a:p>
        </p:txBody>
      </p:sp>
      <p:pic>
        <p:nvPicPr>
          <p:cNvPr id="4" name="object 4" descr=""/>
          <p:cNvPicPr/>
          <p:nvPr/>
        </p:nvPicPr>
        <p:blipFill>
          <a:blip r:embed="rId2" cstate="print"/>
          <a:stretch>
            <a:fillRect/>
          </a:stretch>
        </p:blipFill>
        <p:spPr>
          <a:xfrm>
            <a:off x="163459" y="1410169"/>
            <a:ext cx="8526034" cy="3638668"/>
          </a:xfrm>
          <a:prstGeom prst="rect">
            <a:avLst/>
          </a:prstGeom>
        </p:spPr>
      </p:pic>
      <p:sp>
        <p:nvSpPr>
          <p:cNvPr id="5" name="object 5" descr=""/>
          <p:cNvSpPr txBox="1"/>
          <p:nvPr/>
        </p:nvSpPr>
        <p:spPr>
          <a:xfrm>
            <a:off x="348010" y="1875582"/>
            <a:ext cx="1529715" cy="999490"/>
          </a:xfrm>
          <a:prstGeom prst="rect">
            <a:avLst/>
          </a:prstGeom>
        </p:spPr>
        <p:txBody>
          <a:bodyPr wrap="square" lIns="0" tIns="12700" rIns="0" bIns="0" rtlCol="0" vert="horz">
            <a:spAutoFit/>
          </a:bodyPr>
          <a:lstStyle/>
          <a:p>
            <a:pPr marL="297815" indent="-285115">
              <a:lnSpc>
                <a:spcPct val="100000"/>
              </a:lnSpc>
              <a:spcBef>
                <a:spcPts val="100"/>
              </a:spcBef>
              <a:buChar char="•"/>
              <a:tabLst>
                <a:tab pos="297815" algn="l"/>
              </a:tabLst>
            </a:pPr>
            <a:r>
              <a:rPr dirty="0" sz="1600" spc="-10">
                <a:latin typeface="Arial MT"/>
                <a:cs typeface="Arial MT"/>
              </a:rPr>
              <a:t>4G:8T8R</a:t>
            </a:r>
            <a:endParaRPr sz="1600">
              <a:latin typeface="Arial MT"/>
              <a:cs typeface="Arial MT"/>
            </a:endParaRPr>
          </a:p>
          <a:p>
            <a:pPr marL="297815" indent="-285115">
              <a:lnSpc>
                <a:spcPts val="1914"/>
              </a:lnSpc>
              <a:buChar char="•"/>
              <a:tabLst>
                <a:tab pos="297815" algn="l"/>
              </a:tabLst>
            </a:pPr>
            <a:r>
              <a:rPr dirty="0" sz="1600" spc="-10">
                <a:latin typeface="Arial MT"/>
                <a:cs typeface="Arial MT"/>
              </a:rPr>
              <a:t>4.5G:64T64R</a:t>
            </a:r>
            <a:endParaRPr sz="1600">
              <a:latin typeface="Arial MT"/>
              <a:cs typeface="Arial MT"/>
            </a:endParaRPr>
          </a:p>
          <a:p>
            <a:pPr marL="298450" marR="81915" indent="-285750">
              <a:lnSpc>
                <a:spcPts val="1920"/>
              </a:lnSpc>
              <a:spcBef>
                <a:spcPts val="60"/>
              </a:spcBef>
              <a:buChar char="•"/>
              <a:tabLst>
                <a:tab pos="298450" algn="l"/>
              </a:tabLst>
            </a:pPr>
            <a:r>
              <a:rPr dirty="0" sz="1600" spc="-20">
                <a:latin typeface="Arial MT"/>
                <a:cs typeface="Arial MT"/>
              </a:rPr>
              <a:t>5G:</a:t>
            </a:r>
            <a:r>
              <a:rPr dirty="0" sz="1600" spc="-15">
                <a:latin typeface="Microsoft YaHei"/>
                <a:cs typeface="Microsoft YaHei"/>
              </a:rPr>
              <a:t>新频段，</a:t>
            </a:r>
            <a:r>
              <a:rPr dirty="0" sz="1600" spc="-20">
                <a:latin typeface="Microsoft YaHei"/>
                <a:cs typeface="Microsoft YaHei"/>
              </a:rPr>
              <a:t>大带宽</a:t>
            </a:r>
            <a:endParaRPr sz="1600">
              <a:latin typeface="Microsoft YaHei"/>
              <a:cs typeface="Microsoft YaHei"/>
            </a:endParaRPr>
          </a:p>
        </p:txBody>
      </p:sp>
      <p:sp>
        <p:nvSpPr>
          <p:cNvPr id="6" name="object 6" descr=""/>
          <p:cNvSpPr txBox="1"/>
          <p:nvPr/>
        </p:nvSpPr>
        <p:spPr>
          <a:xfrm>
            <a:off x="4964226" y="915568"/>
            <a:ext cx="1368425" cy="360045"/>
          </a:xfrm>
          <a:prstGeom prst="rect">
            <a:avLst/>
          </a:prstGeom>
          <a:solidFill>
            <a:srgbClr val="92D050"/>
          </a:solidFill>
          <a:ln w="25400">
            <a:solidFill>
              <a:srgbClr val="89A4A7"/>
            </a:solidFill>
          </a:ln>
        </p:spPr>
        <p:txBody>
          <a:bodyPr wrap="square" lIns="0" tIns="34290" rIns="0" bIns="0" rtlCol="0" vert="horz">
            <a:spAutoFit/>
          </a:bodyPr>
          <a:lstStyle/>
          <a:p>
            <a:pPr marL="340995">
              <a:lnSpc>
                <a:spcPct val="100000"/>
              </a:lnSpc>
              <a:spcBef>
                <a:spcPts val="270"/>
              </a:spcBef>
            </a:pPr>
            <a:r>
              <a:rPr dirty="0" sz="1800" spc="-20" b="1">
                <a:solidFill>
                  <a:srgbClr val="FFFFFF"/>
                </a:solidFill>
                <a:latin typeface="Microsoft YaHei"/>
                <a:cs typeface="Microsoft YaHei"/>
              </a:rPr>
              <a:t>物联网</a:t>
            </a:r>
            <a:endParaRPr sz="1800">
              <a:latin typeface="Microsoft YaHei"/>
              <a:cs typeface="Microsoft YaHei"/>
            </a:endParaRPr>
          </a:p>
        </p:txBody>
      </p:sp>
      <p:sp>
        <p:nvSpPr>
          <p:cNvPr id="7" name="object 7" descr=""/>
          <p:cNvSpPr txBox="1"/>
          <p:nvPr/>
        </p:nvSpPr>
        <p:spPr>
          <a:xfrm>
            <a:off x="4986826" y="1751087"/>
            <a:ext cx="1226185" cy="269875"/>
          </a:xfrm>
          <a:prstGeom prst="rect">
            <a:avLst/>
          </a:prstGeom>
        </p:spPr>
        <p:txBody>
          <a:bodyPr wrap="square" lIns="0" tIns="12700" rIns="0" bIns="0" rtlCol="0" vert="horz">
            <a:spAutoFit/>
          </a:bodyPr>
          <a:lstStyle/>
          <a:p>
            <a:pPr marL="297815" indent="-285115">
              <a:lnSpc>
                <a:spcPct val="100000"/>
              </a:lnSpc>
              <a:spcBef>
                <a:spcPts val="100"/>
              </a:spcBef>
              <a:buChar char="•"/>
              <a:tabLst>
                <a:tab pos="297815" algn="l"/>
              </a:tabLst>
            </a:pPr>
            <a:r>
              <a:rPr dirty="0" sz="1600" spc="-10">
                <a:latin typeface="Arial MT"/>
                <a:cs typeface="Arial MT"/>
              </a:rPr>
              <a:t>4G</a:t>
            </a:r>
            <a:r>
              <a:rPr dirty="0" sz="1600" spc="-10">
                <a:latin typeface="Microsoft YaHei"/>
                <a:cs typeface="Microsoft YaHei"/>
              </a:rPr>
              <a:t>：</a:t>
            </a:r>
            <a:r>
              <a:rPr dirty="0" sz="1600" spc="-10">
                <a:latin typeface="Arial MT"/>
                <a:cs typeface="Arial MT"/>
              </a:rPr>
              <a:t>MTC</a:t>
            </a:r>
            <a:endParaRPr sz="1600">
              <a:latin typeface="Arial MT"/>
              <a:cs typeface="Arial MT"/>
            </a:endParaRPr>
          </a:p>
        </p:txBody>
      </p:sp>
      <p:sp>
        <p:nvSpPr>
          <p:cNvPr id="8" name="object 8" descr=""/>
          <p:cNvSpPr txBox="1"/>
          <p:nvPr/>
        </p:nvSpPr>
        <p:spPr>
          <a:xfrm>
            <a:off x="4986826" y="2240291"/>
            <a:ext cx="1203960" cy="513715"/>
          </a:xfrm>
          <a:prstGeom prst="rect">
            <a:avLst/>
          </a:prstGeom>
        </p:spPr>
        <p:txBody>
          <a:bodyPr wrap="square" lIns="0" tIns="12700" rIns="0" bIns="0" rtlCol="0" vert="horz">
            <a:spAutoFit/>
          </a:bodyPr>
          <a:lstStyle/>
          <a:p>
            <a:pPr marL="298450" marR="5080" indent="-285750">
              <a:lnSpc>
                <a:spcPct val="100000"/>
              </a:lnSpc>
              <a:spcBef>
                <a:spcPts val="100"/>
              </a:spcBef>
              <a:buChar char="•"/>
              <a:tabLst>
                <a:tab pos="298450" algn="l"/>
              </a:tabLst>
            </a:pPr>
            <a:r>
              <a:rPr dirty="0" sz="1600" spc="-10">
                <a:latin typeface="Arial MT"/>
                <a:cs typeface="Arial MT"/>
              </a:rPr>
              <a:t>4.5G: eMTC/NB</a:t>
            </a:r>
            <a:endParaRPr sz="1600">
              <a:latin typeface="Arial MT"/>
              <a:cs typeface="Arial MT"/>
            </a:endParaRPr>
          </a:p>
        </p:txBody>
      </p:sp>
      <p:sp>
        <p:nvSpPr>
          <p:cNvPr id="9" name="object 9" descr=""/>
          <p:cNvSpPr txBox="1"/>
          <p:nvPr/>
        </p:nvSpPr>
        <p:spPr>
          <a:xfrm>
            <a:off x="4986826" y="2971811"/>
            <a:ext cx="1305560" cy="269875"/>
          </a:xfrm>
          <a:prstGeom prst="rect">
            <a:avLst/>
          </a:prstGeom>
        </p:spPr>
        <p:txBody>
          <a:bodyPr wrap="square" lIns="0" tIns="12700" rIns="0" bIns="0" rtlCol="0" vert="horz">
            <a:spAutoFit/>
          </a:bodyPr>
          <a:lstStyle/>
          <a:p>
            <a:pPr marL="297815" indent="-285115">
              <a:lnSpc>
                <a:spcPct val="100000"/>
              </a:lnSpc>
              <a:spcBef>
                <a:spcPts val="100"/>
              </a:spcBef>
              <a:buChar char="•"/>
              <a:tabLst>
                <a:tab pos="297815" algn="l"/>
              </a:tabLst>
            </a:pPr>
            <a:r>
              <a:rPr dirty="0" sz="1600">
                <a:latin typeface="Arial MT"/>
                <a:cs typeface="Arial MT"/>
              </a:rPr>
              <a:t>5G:</a:t>
            </a:r>
            <a:r>
              <a:rPr dirty="0" sz="1600" spc="-40">
                <a:latin typeface="Arial MT"/>
                <a:cs typeface="Arial MT"/>
              </a:rPr>
              <a:t> </a:t>
            </a:r>
            <a:r>
              <a:rPr dirty="0" sz="1600" spc="-20">
                <a:latin typeface="Arial MT"/>
                <a:cs typeface="Arial MT"/>
              </a:rPr>
              <a:t>mMTC</a:t>
            </a:r>
            <a:endParaRPr sz="1600">
              <a:latin typeface="Arial MT"/>
              <a:cs typeface="Arial MT"/>
            </a:endParaRPr>
          </a:p>
        </p:txBody>
      </p:sp>
      <p:sp>
        <p:nvSpPr>
          <p:cNvPr id="10" name="object 10" descr=""/>
          <p:cNvSpPr txBox="1"/>
          <p:nvPr/>
        </p:nvSpPr>
        <p:spPr>
          <a:xfrm>
            <a:off x="2483764" y="929513"/>
            <a:ext cx="1368425" cy="360045"/>
          </a:xfrm>
          <a:prstGeom prst="rect">
            <a:avLst/>
          </a:prstGeom>
          <a:solidFill>
            <a:srgbClr val="92D050"/>
          </a:solidFill>
          <a:ln w="25400">
            <a:solidFill>
              <a:srgbClr val="89A4A7"/>
            </a:solidFill>
          </a:ln>
        </p:spPr>
        <p:txBody>
          <a:bodyPr wrap="square" lIns="0" tIns="34290" rIns="0" bIns="0" rtlCol="0" vert="horz">
            <a:spAutoFit/>
          </a:bodyPr>
          <a:lstStyle/>
          <a:p>
            <a:pPr marL="226695">
              <a:lnSpc>
                <a:spcPct val="100000"/>
              </a:lnSpc>
              <a:spcBef>
                <a:spcPts val="270"/>
              </a:spcBef>
            </a:pPr>
            <a:r>
              <a:rPr dirty="0" sz="1800" spc="-15" b="1">
                <a:solidFill>
                  <a:srgbClr val="FFFFFF"/>
                </a:solidFill>
                <a:latin typeface="Microsoft YaHei"/>
                <a:cs typeface="Microsoft YaHei"/>
              </a:rPr>
              <a:t>异构组网</a:t>
            </a:r>
            <a:endParaRPr sz="1800">
              <a:latin typeface="Microsoft YaHei"/>
              <a:cs typeface="Microsoft YaHei"/>
            </a:endParaRPr>
          </a:p>
        </p:txBody>
      </p:sp>
      <p:sp>
        <p:nvSpPr>
          <p:cNvPr id="11" name="object 11" descr=""/>
          <p:cNvSpPr txBox="1"/>
          <p:nvPr/>
        </p:nvSpPr>
        <p:spPr>
          <a:xfrm>
            <a:off x="2506370" y="1643110"/>
            <a:ext cx="1418590" cy="1732914"/>
          </a:xfrm>
          <a:prstGeom prst="rect">
            <a:avLst/>
          </a:prstGeom>
        </p:spPr>
        <p:txBody>
          <a:bodyPr wrap="square" lIns="0" tIns="12700" rIns="0" bIns="0" rtlCol="0" vert="horz">
            <a:spAutoFit/>
          </a:bodyPr>
          <a:lstStyle/>
          <a:p>
            <a:pPr marL="297815" indent="-285115">
              <a:lnSpc>
                <a:spcPct val="100000"/>
              </a:lnSpc>
              <a:spcBef>
                <a:spcPts val="100"/>
              </a:spcBef>
              <a:buChar char="•"/>
              <a:tabLst>
                <a:tab pos="297815" algn="l"/>
              </a:tabLst>
            </a:pPr>
            <a:r>
              <a:rPr dirty="0" sz="1600" spc="-20">
                <a:latin typeface="Arial MT"/>
                <a:cs typeface="Arial MT"/>
              </a:rPr>
              <a:t>4G:</a:t>
            </a:r>
            <a:r>
              <a:rPr dirty="0" sz="1600" spc="-20">
                <a:latin typeface="Microsoft YaHei"/>
                <a:cs typeface="Microsoft YaHei"/>
              </a:rPr>
              <a:t>小基站</a:t>
            </a:r>
            <a:endParaRPr sz="1600">
              <a:latin typeface="Microsoft YaHei"/>
              <a:cs typeface="Microsoft YaHei"/>
            </a:endParaRPr>
          </a:p>
          <a:p>
            <a:pPr marL="298450" marR="5080" indent="-285750">
              <a:lnSpc>
                <a:spcPct val="100000"/>
              </a:lnSpc>
              <a:spcBef>
                <a:spcPts val="1920"/>
              </a:spcBef>
              <a:buChar char="•"/>
              <a:tabLst>
                <a:tab pos="298450" algn="l"/>
              </a:tabLst>
            </a:pPr>
            <a:r>
              <a:rPr dirty="0" sz="1600" spc="-20">
                <a:latin typeface="Arial MT"/>
                <a:cs typeface="Arial MT"/>
              </a:rPr>
              <a:t>4.5G:</a:t>
            </a:r>
            <a:r>
              <a:rPr dirty="0" sz="1600" spc="-20">
                <a:latin typeface="Microsoft YaHei"/>
                <a:cs typeface="Microsoft YaHei"/>
              </a:rPr>
              <a:t>异构组</a:t>
            </a:r>
            <a:r>
              <a:rPr dirty="0" sz="1600" spc="-50">
                <a:latin typeface="Microsoft YaHei"/>
                <a:cs typeface="Microsoft YaHei"/>
              </a:rPr>
              <a:t>网</a:t>
            </a:r>
            <a:endParaRPr sz="1600">
              <a:latin typeface="Microsoft YaHei"/>
              <a:cs typeface="Microsoft YaHei"/>
            </a:endParaRPr>
          </a:p>
          <a:p>
            <a:pPr marL="297815" indent="-285115">
              <a:lnSpc>
                <a:spcPct val="100000"/>
              </a:lnSpc>
              <a:spcBef>
                <a:spcPts val="1920"/>
              </a:spcBef>
              <a:buChar char="•"/>
              <a:tabLst>
                <a:tab pos="297815" algn="l"/>
              </a:tabLst>
            </a:pPr>
            <a:r>
              <a:rPr dirty="0" sz="1600" spc="-10">
                <a:latin typeface="Arial MT"/>
                <a:cs typeface="Arial MT"/>
              </a:rPr>
              <a:t>5G:UDN</a:t>
            </a:r>
            <a:r>
              <a:rPr dirty="0" sz="1600" spc="-10">
                <a:latin typeface="Microsoft YaHei"/>
                <a:cs typeface="Microsoft YaHei"/>
              </a:rPr>
              <a:t>，</a:t>
            </a:r>
            <a:endParaRPr sz="1600">
              <a:latin typeface="Microsoft YaHei"/>
              <a:cs typeface="Microsoft YaHei"/>
            </a:endParaRPr>
          </a:p>
          <a:p>
            <a:pPr marL="298450">
              <a:lnSpc>
                <a:spcPct val="100000"/>
              </a:lnSpc>
            </a:pPr>
            <a:r>
              <a:rPr dirty="0" sz="1600" spc="-10">
                <a:latin typeface="Microsoft YaHei"/>
                <a:cs typeface="Microsoft YaHei"/>
              </a:rPr>
              <a:t>超密集组网</a:t>
            </a:r>
            <a:endParaRPr sz="1600">
              <a:latin typeface="Microsoft YaHei"/>
              <a:cs typeface="Microsoft YaHei"/>
            </a:endParaRPr>
          </a:p>
        </p:txBody>
      </p:sp>
      <p:sp>
        <p:nvSpPr>
          <p:cNvPr id="12" name="object 12" descr=""/>
          <p:cNvSpPr txBox="1"/>
          <p:nvPr/>
        </p:nvSpPr>
        <p:spPr>
          <a:xfrm>
            <a:off x="7020611" y="915568"/>
            <a:ext cx="1368425" cy="360045"/>
          </a:xfrm>
          <a:prstGeom prst="rect">
            <a:avLst/>
          </a:prstGeom>
          <a:solidFill>
            <a:srgbClr val="92D050"/>
          </a:solidFill>
          <a:ln w="25400">
            <a:solidFill>
              <a:srgbClr val="89A4A7"/>
            </a:solidFill>
          </a:ln>
        </p:spPr>
        <p:txBody>
          <a:bodyPr wrap="square" lIns="0" tIns="34290" rIns="0" bIns="0" rtlCol="0" vert="horz">
            <a:spAutoFit/>
          </a:bodyPr>
          <a:lstStyle/>
          <a:p>
            <a:pPr marL="340995">
              <a:lnSpc>
                <a:spcPct val="100000"/>
              </a:lnSpc>
              <a:spcBef>
                <a:spcPts val="270"/>
              </a:spcBef>
            </a:pPr>
            <a:r>
              <a:rPr dirty="0" sz="1800" spc="-20" b="1">
                <a:solidFill>
                  <a:srgbClr val="FFFFFF"/>
                </a:solidFill>
                <a:latin typeface="Microsoft YaHei"/>
                <a:cs typeface="Microsoft YaHei"/>
              </a:rPr>
              <a:t>车联网</a:t>
            </a:r>
            <a:endParaRPr sz="1800">
              <a:latin typeface="Microsoft YaHei"/>
              <a:cs typeface="Microsoft YaHei"/>
            </a:endParaRPr>
          </a:p>
        </p:txBody>
      </p:sp>
      <p:sp>
        <p:nvSpPr>
          <p:cNvPr id="13" name="object 13" descr=""/>
          <p:cNvSpPr txBox="1"/>
          <p:nvPr/>
        </p:nvSpPr>
        <p:spPr>
          <a:xfrm>
            <a:off x="7043211" y="2118371"/>
            <a:ext cx="1426845" cy="269875"/>
          </a:xfrm>
          <a:prstGeom prst="rect">
            <a:avLst/>
          </a:prstGeom>
        </p:spPr>
        <p:txBody>
          <a:bodyPr wrap="square" lIns="0" tIns="12700" rIns="0" bIns="0" rtlCol="0" vert="horz">
            <a:spAutoFit/>
          </a:bodyPr>
          <a:lstStyle/>
          <a:p>
            <a:pPr marL="297815" indent="-285115">
              <a:lnSpc>
                <a:spcPct val="100000"/>
              </a:lnSpc>
              <a:spcBef>
                <a:spcPts val="100"/>
              </a:spcBef>
              <a:buChar char="•"/>
              <a:tabLst>
                <a:tab pos="297815" algn="l"/>
              </a:tabLst>
            </a:pPr>
            <a:r>
              <a:rPr dirty="0" sz="1600">
                <a:latin typeface="Arial MT"/>
                <a:cs typeface="Arial MT"/>
              </a:rPr>
              <a:t>4.5G:</a:t>
            </a:r>
            <a:r>
              <a:rPr dirty="0" sz="1600" spc="-10">
                <a:latin typeface="Arial MT"/>
                <a:cs typeface="Arial MT"/>
              </a:rPr>
              <a:t> </a:t>
            </a:r>
            <a:r>
              <a:rPr dirty="0" sz="1600" spc="-45">
                <a:latin typeface="Arial MT"/>
                <a:cs typeface="Arial MT"/>
              </a:rPr>
              <a:t>LTE-</a:t>
            </a:r>
            <a:r>
              <a:rPr dirty="0" sz="1600" spc="-50">
                <a:latin typeface="Arial MT"/>
                <a:cs typeface="Arial MT"/>
              </a:rPr>
              <a:t>V</a:t>
            </a:r>
            <a:endParaRPr sz="1600">
              <a:latin typeface="Arial MT"/>
              <a:cs typeface="Arial MT"/>
            </a:endParaRPr>
          </a:p>
        </p:txBody>
      </p:sp>
      <p:sp>
        <p:nvSpPr>
          <p:cNvPr id="14" name="object 14" descr=""/>
          <p:cNvSpPr txBox="1"/>
          <p:nvPr/>
        </p:nvSpPr>
        <p:spPr>
          <a:xfrm>
            <a:off x="7043211" y="2606051"/>
            <a:ext cx="1327785" cy="269875"/>
          </a:xfrm>
          <a:prstGeom prst="rect">
            <a:avLst/>
          </a:prstGeom>
        </p:spPr>
        <p:txBody>
          <a:bodyPr wrap="square" lIns="0" tIns="12700" rIns="0" bIns="0" rtlCol="0" vert="horz">
            <a:spAutoFit/>
          </a:bodyPr>
          <a:lstStyle/>
          <a:p>
            <a:pPr marL="297815" indent="-285115">
              <a:lnSpc>
                <a:spcPct val="100000"/>
              </a:lnSpc>
              <a:spcBef>
                <a:spcPts val="100"/>
              </a:spcBef>
              <a:buChar char="•"/>
              <a:tabLst>
                <a:tab pos="297815" algn="l"/>
              </a:tabLst>
            </a:pPr>
            <a:r>
              <a:rPr dirty="0" sz="1600">
                <a:latin typeface="Arial MT"/>
                <a:cs typeface="Arial MT"/>
              </a:rPr>
              <a:t>5G:</a:t>
            </a:r>
            <a:r>
              <a:rPr dirty="0" sz="1600" spc="-40">
                <a:latin typeface="Arial MT"/>
                <a:cs typeface="Arial MT"/>
              </a:rPr>
              <a:t> </a:t>
            </a:r>
            <a:r>
              <a:rPr dirty="0" sz="1600" spc="-10">
                <a:latin typeface="Arial MT"/>
                <a:cs typeface="Arial MT"/>
              </a:rPr>
              <a:t>uRLLC</a:t>
            </a:r>
            <a:endParaRPr sz="1600">
              <a:latin typeface="Arial MT"/>
              <a:cs typeface="Arial MT"/>
            </a:endParaRPr>
          </a:p>
        </p:txBody>
      </p:sp>
      <p:grpSp>
        <p:nvGrpSpPr>
          <p:cNvPr id="15" name="object 15" descr=""/>
          <p:cNvGrpSpPr/>
          <p:nvPr/>
        </p:nvGrpSpPr>
        <p:grpSpPr>
          <a:xfrm>
            <a:off x="4249194" y="2346148"/>
            <a:ext cx="462280" cy="525780"/>
            <a:chOff x="4249194" y="2346148"/>
            <a:chExt cx="462280" cy="525780"/>
          </a:xfrm>
        </p:grpSpPr>
        <p:sp>
          <p:nvSpPr>
            <p:cNvPr id="16" name="object 16" descr=""/>
            <p:cNvSpPr/>
            <p:nvPr/>
          </p:nvSpPr>
          <p:spPr>
            <a:xfrm>
              <a:off x="4261894" y="2358848"/>
              <a:ext cx="436880" cy="500380"/>
            </a:xfrm>
            <a:custGeom>
              <a:avLst/>
              <a:gdLst/>
              <a:ahLst/>
              <a:cxnLst/>
              <a:rect l="l" t="t" r="r" b="b"/>
              <a:pathLst>
                <a:path w="436879" h="500380">
                  <a:moveTo>
                    <a:pt x="218186" y="0"/>
                  </a:moveTo>
                  <a:lnTo>
                    <a:pt x="0" y="0"/>
                  </a:lnTo>
                  <a:lnTo>
                    <a:pt x="218186" y="249961"/>
                  </a:lnTo>
                  <a:lnTo>
                    <a:pt x="0" y="499935"/>
                  </a:lnTo>
                  <a:lnTo>
                    <a:pt x="218186" y="499935"/>
                  </a:lnTo>
                  <a:lnTo>
                    <a:pt x="436372" y="249961"/>
                  </a:lnTo>
                  <a:lnTo>
                    <a:pt x="218186" y="0"/>
                  </a:lnTo>
                  <a:close/>
                </a:path>
              </a:pathLst>
            </a:custGeom>
            <a:solidFill>
              <a:srgbClr val="FFFF00"/>
            </a:solidFill>
          </p:spPr>
          <p:txBody>
            <a:bodyPr wrap="square" lIns="0" tIns="0" rIns="0" bIns="0" rtlCol="0"/>
            <a:lstStyle/>
            <a:p/>
          </p:txBody>
        </p:sp>
        <p:sp>
          <p:nvSpPr>
            <p:cNvPr id="17" name="object 17" descr=""/>
            <p:cNvSpPr/>
            <p:nvPr/>
          </p:nvSpPr>
          <p:spPr>
            <a:xfrm>
              <a:off x="4261894" y="2358848"/>
              <a:ext cx="436880" cy="500380"/>
            </a:xfrm>
            <a:custGeom>
              <a:avLst/>
              <a:gdLst/>
              <a:ahLst/>
              <a:cxnLst/>
              <a:rect l="l" t="t" r="r" b="b"/>
              <a:pathLst>
                <a:path w="436879" h="500380">
                  <a:moveTo>
                    <a:pt x="0" y="0"/>
                  </a:moveTo>
                  <a:lnTo>
                    <a:pt x="218186" y="0"/>
                  </a:lnTo>
                  <a:lnTo>
                    <a:pt x="436372" y="249961"/>
                  </a:lnTo>
                  <a:lnTo>
                    <a:pt x="218186" y="499935"/>
                  </a:lnTo>
                  <a:lnTo>
                    <a:pt x="0" y="499935"/>
                  </a:lnTo>
                  <a:lnTo>
                    <a:pt x="218186" y="249961"/>
                  </a:lnTo>
                  <a:lnTo>
                    <a:pt x="0" y="0"/>
                  </a:lnTo>
                  <a:close/>
                </a:path>
              </a:pathLst>
            </a:custGeom>
            <a:ln w="25400">
              <a:solidFill>
                <a:srgbClr val="6B6BCF"/>
              </a:solidFill>
            </a:ln>
          </p:spPr>
          <p:txBody>
            <a:bodyPr wrap="square" lIns="0" tIns="0" rIns="0" bIns="0" rtlCol="0"/>
            <a:lstStyle/>
            <a:p/>
          </p:txBody>
        </p:sp>
      </p:grpSp>
      <p:sp>
        <p:nvSpPr>
          <p:cNvPr id="18" name="object 18" descr=""/>
          <p:cNvSpPr txBox="1"/>
          <p:nvPr/>
        </p:nvSpPr>
        <p:spPr>
          <a:xfrm>
            <a:off x="1155415" y="4180743"/>
            <a:ext cx="2009139" cy="726440"/>
          </a:xfrm>
          <a:prstGeom prst="rect">
            <a:avLst/>
          </a:prstGeom>
        </p:spPr>
        <p:txBody>
          <a:bodyPr wrap="square" lIns="0" tIns="12065" rIns="0" bIns="0" rtlCol="0" vert="horz">
            <a:spAutoFit/>
          </a:bodyPr>
          <a:lstStyle/>
          <a:p>
            <a:pPr algn="ctr">
              <a:lnSpc>
                <a:spcPct val="100000"/>
              </a:lnSpc>
              <a:spcBef>
                <a:spcPts val="95"/>
              </a:spcBef>
            </a:pPr>
            <a:r>
              <a:rPr dirty="0" sz="1400" spc="-20" b="1">
                <a:solidFill>
                  <a:srgbClr val="FFFFFF"/>
                </a:solidFill>
                <a:latin typeface="Microsoft YaHei"/>
                <a:cs typeface="Microsoft YaHei"/>
              </a:rPr>
              <a:t>宏站新增</a:t>
            </a:r>
            <a:r>
              <a:rPr dirty="0" sz="1400" spc="-10" b="1">
                <a:solidFill>
                  <a:srgbClr val="FFFFFF"/>
                </a:solidFill>
                <a:latin typeface="Arial"/>
                <a:cs typeface="Arial"/>
              </a:rPr>
              <a:t>3.5G</a:t>
            </a:r>
            <a:r>
              <a:rPr dirty="0" sz="1400" spc="-30" b="1">
                <a:solidFill>
                  <a:srgbClr val="FFFFFF"/>
                </a:solidFill>
                <a:latin typeface="Microsoft YaHei"/>
                <a:cs typeface="Microsoft YaHei"/>
              </a:rPr>
              <a:t>大规模天线</a:t>
            </a:r>
            <a:endParaRPr sz="1400">
              <a:latin typeface="Microsoft YaHei"/>
              <a:cs typeface="Microsoft YaHei"/>
            </a:endParaRPr>
          </a:p>
          <a:p>
            <a:pPr algn="ctr">
              <a:lnSpc>
                <a:spcPts val="2160"/>
              </a:lnSpc>
              <a:spcBef>
                <a:spcPts val="5"/>
              </a:spcBef>
            </a:pPr>
            <a:r>
              <a:rPr dirty="0" sz="1800" spc="-50" b="1">
                <a:solidFill>
                  <a:srgbClr val="FFFFFF"/>
                </a:solidFill>
                <a:latin typeface="Arial"/>
                <a:cs typeface="Arial"/>
              </a:rPr>
              <a:t>+</a:t>
            </a:r>
            <a:endParaRPr sz="1800">
              <a:latin typeface="Arial"/>
              <a:cs typeface="Arial"/>
            </a:endParaRPr>
          </a:p>
          <a:p>
            <a:pPr algn="ctr">
              <a:lnSpc>
                <a:spcPts val="1680"/>
              </a:lnSpc>
            </a:pPr>
            <a:r>
              <a:rPr dirty="0" sz="1400" spc="-25" b="1">
                <a:solidFill>
                  <a:srgbClr val="FFFFFF"/>
                </a:solidFill>
                <a:latin typeface="Microsoft YaHei"/>
                <a:cs typeface="Microsoft YaHei"/>
              </a:rPr>
              <a:t>小基站密集组网</a:t>
            </a:r>
            <a:endParaRPr sz="1400">
              <a:latin typeface="Microsoft YaHei"/>
              <a:cs typeface="Microsoft YaHei"/>
            </a:endParaRPr>
          </a:p>
        </p:txBody>
      </p:sp>
      <p:sp>
        <p:nvSpPr>
          <p:cNvPr id="19" name="object 19" descr=""/>
          <p:cNvSpPr txBox="1"/>
          <p:nvPr/>
        </p:nvSpPr>
        <p:spPr>
          <a:xfrm>
            <a:off x="3207468" y="3704339"/>
            <a:ext cx="1486535" cy="485775"/>
          </a:xfrm>
          <a:prstGeom prst="rect">
            <a:avLst/>
          </a:prstGeom>
        </p:spPr>
        <p:txBody>
          <a:bodyPr wrap="square" lIns="0" tIns="12700" rIns="0" bIns="0" rtlCol="0" vert="horz">
            <a:spAutoFit/>
          </a:bodyPr>
          <a:lstStyle/>
          <a:p>
            <a:pPr marL="88900">
              <a:lnSpc>
                <a:spcPct val="100000"/>
              </a:lnSpc>
              <a:spcBef>
                <a:spcPts val="100"/>
              </a:spcBef>
            </a:pPr>
            <a:r>
              <a:rPr dirty="0" sz="1800">
                <a:solidFill>
                  <a:srgbClr val="C00000"/>
                </a:solidFill>
                <a:latin typeface="Arial MT"/>
                <a:cs typeface="Arial MT"/>
              </a:rPr>
              <a:t>eMBB</a:t>
            </a:r>
            <a:r>
              <a:rPr dirty="0" sz="1800" spc="-20">
                <a:solidFill>
                  <a:srgbClr val="C00000"/>
                </a:solidFill>
                <a:latin typeface="Microsoft YaHei"/>
                <a:cs typeface="Microsoft YaHei"/>
              </a:rPr>
              <a:t>基础网</a:t>
            </a:r>
            <a:endParaRPr sz="1800">
              <a:latin typeface="Microsoft YaHei"/>
              <a:cs typeface="Microsoft YaHei"/>
            </a:endParaRPr>
          </a:p>
          <a:p>
            <a:pPr marL="12700">
              <a:lnSpc>
                <a:spcPct val="100000"/>
              </a:lnSpc>
              <a:spcBef>
                <a:spcPts val="25"/>
              </a:spcBef>
            </a:pPr>
            <a:r>
              <a:rPr dirty="0" sz="1200">
                <a:solidFill>
                  <a:srgbClr val="0033CC"/>
                </a:solidFill>
                <a:latin typeface="Microsoft YaHei"/>
                <a:cs typeface="Microsoft YaHei"/>
              </a:rPr>
              <a:t>连续覆盖</a:t>
            </a:r>
            <a:r>
              <a:rPr dirty="0" sz="1200">
                <a:solidFill>
                  <a:srgbClr val="0033CC"/>
                </a:solidFill>
                <a:latin typeface="Arial MT"/>
                <a:cs typeface="Arial MT"/>
              </a:rPr>
              <a:t>+</a:t>
            </a:r>
            <a:r>
              <a:rPr dirty="0" sz="1200" spc="-10">
                <a:solidFill>
                  <a:srgbClr val="0033CC"/>
                </a:solidFill>
                <a:latin typeface="Microsoft YaHei"/>
                <a:cs typeface="Microsoft YaHei"/>
              </a:rPr>
              <a:t>热点高容量</a:t>
            </a:r>
            <a:endParaRPr sz="1200">
              <a:latin typeface="Microsoft YaHei"/>
              <a:cs typeface="Microsoft YaHei"/>
            </a:endParaRPr>
          </a:p>
        </p:txBody>
      </p:sp>
      <p:sp>
        <p:nvSpPr>
          <p:cNvPr id="20" name="object 20" descr=""/>
          <p:cNvSpPr txBox="1"/>
          <p:nvPr/>
        </p:nvSpPr>
        <p:spPr>
          <a:xfrm>
            <a:off x="6000680" y="4188826"/>
            <a:ext cx="1623695" cy="726440"/>
          </a:xfrm>
          <a:prstGeom prst="rect">
            <a:avLst/>
          </a:prstGeom>
        </p:spPr>
        <p:txBody>
          <a:bodyPr wrap="square" lIns="0" tIns="12065" rIns="0" bIns="0" rtlCol="0" vert="horz">
            <a:spAutoFit/>
          </a:bodyPr>
          <a:lstStyle/>
          <a:p>
            <a:pPr algn="ctr">
              <a:lnSpc>
                <a:spcPct val="100000"/>
              </a:lnSpc>
              <a:spcBef>
                <a:spcPts val="95"/>
              </a:spcBef>
            </a:pPr>
            <a:r>
              <a:rPr dirty="0" sz="1400" spc="-25" b="1">
                <a:solidFill>
                  <a:srgbClr val="FFFFFF"/>
                </a:solidFill>
                <a:latin typeface="Microsoft YaHei"/>
                <a:cs typeface="Microsoft YaHei"/>
              </a:rPr>
              <a:t>物联网低频深度覆盖</a:t>
            </a:r>
            <a:endParaRPr sz="1400">
              <a:latin typeface="Microsoft YaHei"/>
              <a:cs typeface="Microsoft YaHei"/>
            </a:endParaRPr>
          </a:p>
          <a:p>
            <a:pPr algn="ctr">
              <a:lnSpc>
                <a:spcPts val="2160"/>
              </a:lnSpc>
              <a:spcBef>
                <a:spcPts val="5"/>
              </a:spcBef>
            </a:pPr>
            <a:r>
              <a:rPr dirty="0" sz="1800" spc="-50" b="1">
                <a:solidFill>
                  <a:srgbClr val="FFFFFF"/>
                </a:solidFill>
                <a:latin typeface="Arial"/>
                <a:cs typeface="Arial"/>
              </a:rPr>
              <a:t>+</a:t>
            </a:r>
            <a:endParaRPr sz="1800">
              <a:latin typeface="Arial"/>
              <a:cs typeface="Arial"/>
            </a:endParaRPr>
          </a:p>
          <a:p>
            <a:pPr algn="ctr" marL="635">
              <a:lnSpc>
                <a:spcPct val="100000"/>
              </a:lnSpc>
            </a:pPr>
            <a:r>
              <a:rPr dirty="0" sz="1400" spc="-25" b="1">
                <a:solidFill>
                  <a:srgbClr val="FFFFFF"/>
                </a:solidFill>
                <a:latin typeface="Microsoft YaHei"/>
                <a:cs typeface="Microsoft YaHei"/>
              </a:rPr>
              <a:t>垂直行业特殊覆盖</a:t>
            </a:r>
            <a:endParaRPr sz="1400">
              <a:latin typeface="Microsoft YaHei"/>
              <a:cs typeface="Microsoft YaHei"/>
            </a:endParaRPr>
          </a:p>
        </p:txBody>
      </p:sp>
      <p:sp>
        <p:nvSpPr>
          <p:cNvPr id="21" name="object 21" descr=""/>
          <p:cNvSpPr txBox="1"/>
          <p:nvPr/>
        </p:nvSpPr>
        <p:spPr>
          <a:xfrm>
            <a:off x="7918861" y="3657396"/>
            <a:ext cx="939800" cy="574040"/>
          </a:xfrm>
          <a:prstGeom prst="rect">
            <a:avLst/>
          </a:prstGeom>
        </p:spPr>
        <p:txBody>
          <a:bodyPr wrap="square" lIns="0" tIns="12700" rIns="0" bIns="0" rtlCol="0" vert="horz">
            <a:spAutoFit/>
          </a:bodyPr>
          <a:lstStyle/>
          <a:p>
            <a:pPr marL="127000" marR="5080" indent="-114300">
              <a:lnSpc>
                <a:spcPct val="100000"/>
              </a:lnSpc>
              <a:spcBef>
                <a:spcPts val="100"/>
              </a:spcBef>
            </a:pPr>
            <a:r>
              <a:rPr dirty="0" sz="1800" spc="-15">
                <a:solidFill>
                  <a:srgbClr val="C00000"/>
                </a:solidFill>
                <a:latin typeface="Microsoft YaHei"/>
                <a:cs typeface="Microsoft YaHei"/>
              </a:rPr>
              <a:t>物联网按</a:t>
            </a:r>
            <a:r>
              <a:rPr dirty="0" sz="1800" spc="-20">
                <a:solidFill>
                  <a:srgbClr val="C00000"/>
                </a:solidFill>
                <a:latin typeface="Microsoft YaHei"/>
                <a:cs typeface="Microsoft YaHei"/>
              </a:rPr>
              <a:t>需建设</a:t>
            </a:r>
            <a:endParaRPr sz="1800">
              <a:latin typeface="Microsoft YaHei"/>
              <a:cs typeface="Microsoft YaHe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87332" y="152688"/>
            <a:ext cx="33915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建网的技术挑战</a:t>
            </a:r>
          </a:p>
        </p:txBody>
      </p:sp>
      <p:pic>
        <p:nvPicPr>
          <p:cNvPr id="3" name="object 3" descr=""/>
          <p:cNvPicPr/>
          <p:nvPr/>
        </p:nvPicPr>
        <p:blipFill>
          <a:blip r:embed="rId2" cstate="print"/>
          <a:stretch>
            <a:fillRect/>
          </a:stretch>
        </p:blipFill>
        <p:spPr>
          <a:xfrm>
            <a:off x="376360" y="1157452"/>
            <a:ext cx="152400" cy="160011"/>
          </a:xfrm>
          <a:prstGeom prst="rect">
            <a:avLst/>
          </a:prstGeom>
        </p:spPr>
      </p:pic>
      <p:sp>
        <p:nvSpPr>
          <p:cNvPr id="4" name="object 4" descr=""/>
          <p:cNvSpPr txBox="1"/>
          <p:nvPr/>
        </p:nvSpPr>
        <p:spPr>
          <a:xfrm>
            <a:off x="304800" y="971550"/>
            <a:ext cx="8250555" cy="854710"/>
          </a:xfrm>
          <a:prstGeom prst="rect">
            <a:avLst/>
          </a:prstGeom>
          <a:ln w="3175">
            <a:solidFill>
              <a:srgbClr val="FF0000"/>
            </a:solidFill>
          </a:ln>
        </p:spPr>
        <p:txBody>
          <a:bodyPr wrap="square" lIns="0" tIns="15240" rIns="0" bIns="0" rtlCol="0" vert="horz">
            <a:spAutoFit/>
          </a:bodyPr>
          <a:lstStyle/>
          <a:p>
            <a:pPr marL="212090" marR="140335" indent="19050">
              <a:lnSpc>
                <a:spcPts val="3240"/>
              </a:lnSpc>
              <a:spcBef>
                <a:spcPts val="120"/>
              </a:spcBef>
            </a:pPr>
            <a:r>
              <a:rPr dirty="0" sz="1800" b="1">
                <a:solidFill>
                  <a:srgbClr val="0070C0"/>
                </a:solidFill>
                <a:latin typeface="Microsoft YaHei"/>
                <a:cs typeface="Microsoft YaHei"/>
              </a:rPr>
              <a:t>对于5G</a:t>
            </a:r>
            <a:r>
              <a:rPr dirty="0" sz="1800" spc="-5" b="1">
                <a:solidFill>
                  <a:srgbClr val="0070C0"/>
                </a:solidFill>
                <a:latin typeface="Microsoft YaHei"/>
                <a:cs typeface="Microsoft YaHei"/>
              </a:rPr>
              <a:t>室外覆盖场景，传统覆盖方案往往会受到多种因素的制约，应采用创新工程技术，有效的解决密集站点部署时环境美化或设备安装空间受限的问题。</a:t>
            </a:r>
            <a:endParaRPr sz="1800">
              <a:latin typeface="Microsoft YaHei"/>
              <a:cs typeface="Microsoft YaHei"/>
            </a:endParaRPr>
          </a:p>
        </p:txBody>
      </p:sp>
      <p:grpSp>
        <p:nvGrpSpPr>
          <p:cNvPr id="5" name="object 5" descr=""/>
          <p:cNvGrpSpPr/>
          <p:nvPr/>
        </p:nvGrpSpPr>
        <p:grpSpPr>
          <a:xfrm>
            <a:off x="416813" y="2151887"/>
            <a:ext cx="1979295" cy="1376680"/>
            <a:chOff x="416813" y="2151887"/>
            <a:chExt cx="1979295" cy="1376680"/>
          </a:xfrm>
        </p:grpSpPr>
        <p:pic>
          <p:nvPicPr>
            <p:cNvPr id="6" name="object 6"/>
            <p:cNvPicPr/>
            <p:nvPr/>
          </p:nvPicPr>
          <p:blipFill>
            <a:blip r:embed="rId3" cstate="print"/>
            <a:stretch>
              <a:fillRect/>
            </a:stretch>
          </p:blipFill>
          <p:spPr>
            <a:xfrm>
              <a:off x="416813" y="2151887"/>
              <a:ext cx="1978913" cy="1376171"/>
            </a:xfrm>
            <a:prstGeom prst="rect">
              <a:avLst/>
            </a:prstGeom>
          </p:spPr>
        </p:pic>
        <p:pic>
          <p:nvPicPr>
            <p:cNvPr id="7" name="object 7"/>
            <p:cNvPicPr/>
            <p:nvPr/>
          </p:nvPicPr>
          <p:blipFill>
            <a:blip r:embed="rId4" cstate="print"/>
            <a:stretch>
              <a:fillRect/>
            </a:stretch>
          </p:blipFill>
          <p:spPr>
            <a:xfrm>
              <a:off x="477126" y="2191842"/>
              <a:ext cx="1858048" cy="1255891"/>
            </a:xfrm>
            <a:prstGeom prst="rect">
              <a:avLst/>
            </a:prstGeom>
          </p:spPr>
        </p:pic>
        <p:sp>
          <p:nvSpPr>
            <p:cNvPr id="8" name="object 8" descr=""/>
            <p:cNvSpPr/>
            <p:nvPr/>
          </p:nvSpPr>
          <p:spPr>
            <a:xfrm>
              <a:off x="477126" y="2191842"/>
              <a:ext cx="1858645" cy="1256030"/>
            </a:xfrm>
            <a:custGeom>
              <a:avLst/>
              <a:gdLst/>
              <a:ahLst/>
              <a:cxnLst/>
              <a:rect l="l" t="t" r="r" b="b"/>
              <a:pathLst>
                <a:path w="1858645" h="1256029">
                  <a:moveTo>
                    <a:pt x="0" y="0"/>
                  </a:moveTo>
                  <a:lnTo>
                    <a:pt x="1858048" y="0"/>
                  </a:lnTo>
                  <a:lnTo>
                    <a:pt x="1858048" y="1255890"/>
                  </a:lnTo>
                  <a:lnTo>
                    <a:pt x="0" y="1255890"/>
                  </a:lnTo>
                  <a:lnTo>
                    <a:pt x="0" y="0"/>
                  </a:lnTo>
                  <a:close/>
                </a:path>
              </a:pathLst>
            </a:custGeom>
            <a:ln w="38100">
              <a:solidFill>
                <a:srgbClr val="FFFFFF"/>
              </a:solidFill>
            </a:ln>
          </p:spPr>
          <p:txBody>
            <a:bodyPr wrap="square" lIns="0" tIns="0" rIns="0" bIns="0" rtlCol="0"/>
            <a:lstStyle/>
            <a:p/>
          </p:txBody>
        </p:sp>
      </p:grpSp>
      <p:grpSp>
        <p:nvGrpSpPr>
          <p:cNvPr id="9" name="object 9" descr=""/>
          <p:cNvGrpSpPr/>
          <p:nvPr/>
        </p:nvGrpSpPr>
        <p:grpSpPr>
          <a:xfrm>
            <a:off x="416813" y="3600450"/>
            <a:ext cx="1979295" cy="448945"/>
            <a:chOff x="416813" y="3600450"/>
            <a:chExt cx="1979295" cy="448945"/>
          </a:xfrm>
        </p:grpSpPr>
        <p:pic>
          <p:nvPicPr>
            <p:cNvPr id="10" name="object 10" descr=""/>
            <p:cNvPicPr/>
            <p:nvPr/>
          </p:nvPicPr>
          <p:blipFill>
            <a:blip r:embed="rId5" cstate="print"/>
            <a:stretch>
              <a:fillRect/>
            </a:stretch>
          </p:blipFill>
          <p:spPr>
            <a:xfrm>
              <a:off x="416813" y="3600450"/>
              <a:ext cx="1978913" cy="448817"/>
            </a:xfrm>
            <a:prstGeom prst="rect">
              <a:avLst/>
            </a:prstGeom>
          </p:spPr>
        </p:pic>
        <p:sp>
          <p:nvSpPr>
            <p:cNvPr id="11" name="object 11" descr=""/>
            <p:cNvSpPr/>
            <p:nvPr/>
          </p:nvSpPr>
          <p:spPr>
            <a:xfrm>
              <a:off x="477126" y="3640963"/>
              <a:ext cx="1858645" cy="328930"/>
            </a:xfrm>
            <a:custGeom>
              <a:avLst/>
              <a:gdLst/>
              <a:ahLst/>
              <a:cxnLst/>
              <a:rect l="l" t="t" r="r" b="b"/>
              <a:pathLst>
                <a:path w="1858645" h="328929">
                  <a:moveTo>
                    <a:pt x="1858048" y="0"/>
                  </a:moveTo>
                  <a:lnTo>
                    <a:pt x="0" y="0"/>
                  </a:lnTo>
                  <a:lnTo>
                    <a:pt x="0" y="328447"/>
                  </a:lnTo>
                  <a:lnTo>
                    <a:pt x="1858048" y="328447"/>
                  </a:lnTo>
                  <a:lnTo>
                    <a:pt x="1858048" y="0"/>
                  </a:lnTo>
                  <a:close/>
                </a:path>
              </a:pathLst>
            </a:custGeom>
            <a:solidFill>
              <a:srgbClr val="00B050"/>
            </a:solidFill>
          </p:spPr>
          <p:txBody>
            <a:bodyPr wrap="square" lIns="0" tIns="0" rIns="0" bIns="0" rtlCol="0"/>
            <a:lstStyle/>
            <a:p/>
          </p:txBody>
        </p:sp>
        <p:sp>
          <p:nvSpPr>
            <p:cNvPr id="12" name="object 12" descr=""/>
            <p:cNvSpPr/>
            <p:nvPr/>
          </p:nvSpPr>
          <p:spPr>
            <a:xfrm>
              <a:off x="477126" y="3640963"/>
              <a:ext cx="1858645" cy="328930"/>
            </a:xfrm>
            <a:custGeom>
              <a:avLst/>
              <a:gdLst/>
              <a:ahLst/>
              <a:cxnLst/>
              <a:rect l="l" t="t" r="r" b="b"/>
              <a:pathLst>
                <a:path w="1858645" h="328929">
                  <a:moveTo>
                    <a:pt x="0" y="0"/>
                  </a:moveTo>
                  <a:lnTo>
                    <a:pt x="1858048" y="0"/>
                  </a:lnTo>
                  <a:lnTo>
                    <a:pt x="1858048" y="328447"/>
                  </a:lnTo>
                  <a:lnTo>
                    <a:pt x="0" y="328447"/>
                  </a:lnTo>
                  <a:lnTo>
                    <a:pt x="0" y="0"/>
                  </a:lnTo>
                  <a:close/>
                </a:path>
              </a:pathLst>
            </a:custGeom>
            <a:ln w="38100">
              <a:solidFill>
                <a:srgbClr val="FFFFFF"/>
              </a:solidFill>
            </a:ln>
          </p:spPr>
          <p:txBody>
            <a:bodyPr wrap="square" lIns="0" tIns="0" rIns="0" bIns="0" rtlCol="0"/>
            <a:lstStyle/>
            <a:p/>
          </p:txBody>
        </p:sp>
      </p:grpSp>
      <p:grpSp>
        <p:nvGrpSpPr>
          <p:cNvPr id="13" name="object 13" descr=""/>
          <p:cNvGrpSpPr/>
          <p:nvPr/>
        </p:nvGrpSpPr>
        <p:grpSpPr>
          <a:xfrm>
            <a:off x="2481071" y="2151887"/>
            <a:ext cx="1979295" cy="1376680"/>
            <a:chOff x="2481071" y="2151887"/>
            <a:chExt cx="1979295" cy="1376680"/>
          </a:xfrm>
        </p:grpSpPr>
        <p:pic>
          <p:nvPicPr>
            <p:cNvPr id="14" name="object 14"/>
            <p:cNvPicPr/>
            <p:nvPr/>
          </p:nvPicPr>
          <p:blipFill>
            <a:blip r:embed="rId6" cstate="print"/>
            <a:stretch>
              <a:fillRect/>
            </a:stretch>
          </p:blipFill>
          <p:spPr>
            <a:xfrm>
              <a:off x="2481071" y="2151887"/>
              <a:ext cx="1978913" cy="1376171"/>
            </a:xfrm>
            <a:prstGeom prst="rect">
              <a:avLst/>
            </a:prstGeom>
          </p:spPr>
        </p:pic>
        <p:pic>
          <p:nvPicPr>
            <p:cNvPr id="15" name="object 15"/>
            <p:cNvPicPr/>
            <p:nvPr/>
          </p:nvPicPr>
          <p:blipFill>
            <a:blip r:embed="rId7" cstate="print"/>
            <a:stretch>
              <a:fillRect/>
            </a:stretch>
          </p:blipFill>
          <p:spPr>
            <a:xfrm>
              <a:off x="2541625" y="2191842"/>
              <a:ext cx="1858048" cy="1255890"/>
            </a:xfrm>
            <a:prstGeom prst="rect">
              <a:avLst/>
            </a:prstGeom>
          </p:spPr>
        </p:pic>
        <p:sp>
          <p:nvSpPr>
            <p:cNvPr id="16" name="object 16" descr=""/>
            <p:cNvSpPr/>
            <p:nvPr/>
          </p:nvSpPr>
          <p:spPr>
            <a:xfrm>
              <a:off x="2541625" y="2191842"/>
              <a:ext cx="1858645" cy="1256030"/>
            </a:xfrm>
            <a:custGeom>
              <a:avLst/>
              <a:gdLst/>
              <a:ahLst/>
              <a:cxnLst/>
              <a:rect l="l" t="t" r="r" b="b"/>
              <a:pathLst>
                <a:path w="1858645" h="1256029">
                  <a:moveTo>
                    <a:pt x="0" y="0"/>
                  </a:moveTo>
                  <a:lnTo>
                    <a:pt x="1858048" y="0"/>
                  </a:lnTo>
                  <a:lnTo>
                    <a:pt x="1858048" y="1255890"/>
                  </a:lnTo>
                  <a:lnTo>
                    <a:pt x="0" y="1255890"/>
                  </a:lnTo>
                  <a:lnTo>
                    <a:pt x="0" y="0"/>
                  </a:lnTo>
                  <a:close/>
                </a:path>
              </a:pathLst>
            </a:custGeom>
            <a:ln w="38100">
              <a:solidFill>
                <a:srgbClr val="FFFFFF"/>
              </a:solidFill>
            </a:ln>
          </p:spPr>
          <p:txBody>
            <a:bodyPr wrap="square" lIns="0" tIns="0" rIns="0" bIns="0" rtlCol="0"/>
            <a:lstStyle/>
            <a:p/>
          </p:txBody>
        </p:sp>
      </p:grpSp>
      <p:grpSp>
        <p:nvGrpSpPr>
          <p:cNvPr id="17" name="object 17" descr=""/>
          <p:cNvGrpSpPr/>
          <p:nvPr/>
        </p:nvGrpSpPr>
        <p:grpSpPr>
          <a:xfrm>
            <a:off x="2481072" y="3600450"/>
            <a:ext cx="1979295" cy="448945"/>
            <a:chOff x="2481072" y="3600450"/>
            <a:chExt cx="1979295" cy="448945"/>
          </a:xfrm>
        </p:grpSpPr>
        <p:pic>
          <p:nvPicPr>
            <p:cNvPr id="18" name="object 18" descr=""/>
            <p:cNvPicPr/>
            <p:nvPr/>
          </p:nvPicPr>
          <p:blipFill>
            <a:blip r:embed="rId8" cstate="print"/>
            <a:stretch>
              <a:fillRect/>
            </a:stretch>
          </p:blipFill>
          <p:spPr>
            <a:xfrm>
              <a:off x="2481072" y="3600450"/>
              <a:ext cx="1978913" cy="448817"/>
            </a:xfrm>
            <a:prstGeom prst="rect">
              <a:avLst/>
            </a:prstGeom>
          </p:spPr>
        </p:pic>
        <p:sp>
          <p:nvSpPr>
            <p:cNvPr id="19" name="object 19" descr=""/>
            <p:cNvSpPr/>
            <p:nvPr/>
          </p:nvSpPr>
          <p:spPr>
            <a:xfrm>
              <a:off x="2541625" y="3640963"/>
              <a:ext cx="1858645" cy="328930"/>
            </a:xfrm>
            <a:custGeom>
              <a:avLst/>
              <a:gdLst/>
              <a:ahLst/>
              <a:cxnLst/>
              <a:rect l="l" t="t" r="r" b="b"/>
              <a:pathLst>
                <a:path w="1858645" h="328929">
                  <a:moveTo>
                    <a:pt x="1858048" y="0"/>
                  </a:moveTo>
                  <a:lnTo>
                    <a:pt x="0" y="0"/>
                  </a:lnTo>
                  <a:lnTo>
                    <a:pt x="0" y="328447"/>
                  </a:lnTo>
                  <a:lnTo>
                    <a:pt x="1858048" y="328447"/>
                  </a:lnTo>
                  <a:lnTo>
                    <a:pt x="1858048" y="0"/>
                  </a:lnTo>
                  <a:close/>
                </a:path>
              </a:pathLst>
            </a:custGeom>
            <a:solidFill>
              <a:srgbClr val="00B050"/>
            </a:solidFill>
          </p:spPr>
          <p:txBody>
            <a:bodyPr wrap="square" lIns="0" tIns="0" rIns="0" bIns="0" rtlCol="0"/>
            <a:lstStyle/>
            <a:p/>
          </p:txBody>
        </p:sp>
        <p:sp>
          <p:nvSpPr>
            <p:cNvPr id="20" name="object 20" descr=""/>
            <p:cNvSpPr/>
            <p:nvPr/>
          </p:nvSpPr>
          <p:spPr>
            <a:xfrm>
              <a:off x="2541625" y="3640963"/>
              <a:ext cx="1858645" cy="328930"/>
            </a:xfrm>
            <a:custGeom>
              <a:avLst/>
              <a:gdLst/>
              <a:ahLst/>
              <a:cxnLst/>
              <a:rect l="l" t="t" r="r" b="b"/>
              <a:pathLst>
                <a:path w="1858645" h="328929">
                  <a:moveTo>
                    <a:pt x="0" y="0"/>
                  </a:moveTo>
                  <a:lnTo>
                    <a:pt x="1858048" y="0"/>
                  </a:lnTo>
                  <a:lnTo>
                    <a:pt x="1858048" y="328447"/>
                  </a:lnTo>
                  <a:lnTo>
                    <a:pt x="0" y="328447"/>
                  </a:lnTo>
                  <a:lnTo>
                    <a:pt x="0" y="0"/>
                  </a:lnTo>
                  <a:close/>
                </a:path>
              </a:pathLst>
            </a:custGeom>
            <a:ln w="38100">
              <a:solidFill>
                <a:srgbClr val="FFFFFF"/>
              </a:solidFill>
            </a:ln>
          </p:spPr>
          <p:txBody>
            <a:bodyPr wrap="square" lIns="0" tIns="0" rIns="0" bIns="0" rtlCol="0"/>
            <a:lstStyle/>
            <a:p/>
          </p:txBody>
        </p:sp>
      </p:grpSp>
      <p:grpSp>
        <p:nvGrpSpPr>
          <p:cNvPr id="21" name="object 21" descr=""/>
          <p:cNvGrpSpPr/>
          <p:nvPr/>
        </p:nvGrpSpPr>
        <p:grpSpPr>
          <a:xfrm>
            <a:off x="4542282" y="2151887"/>
            <a:ext cx="1978660" cy="1376680"/>
            <a:chOff x="4542282" y="2151887"/>
            <a:chExt cx="1978660" cy="1376680"/>
          </a:xfrm>
        </p:grpSpPr>
        <p:pic>
          <p:nvPicPr>
            <p:cNvPr id="22" name="object 22"/>
            <p:cNvPicPr/>
            <p:nvPr/>
          </p:nvPicPr>
          <p:blipFill>
            <a:blip r:embed="rId9" cstate="print"/>
            <a:stretch>
              <a:fillRect/>
            </a:stretch>
          </p:blipFill>
          <p:spPr>
            <a:xfrm>
              <a:off x="4542282" y="2151887"/>
              <a:ext cx="1978151" cy="1376171"/>
            </a:xfrm>
            <a:prstGeom prst="rect">
              <a:avLst/>
            </a:prstGeom>
          </p:spPr>
        </p:pic>
        <p:pic>
          <p:nvPicPr>
            <p:cNvPr id="23" name="object 23"/>
            <p:cNvPicPr/>
            <p:nvPr/>
          </p:nvPicPr>
          <p:blipFill>
            <a:blip r:embed="rId10" cstate="print"/>
            <a:stretch>
              <a:fillRect/>
            </a:stretch>
          </p:blipFill>
          <p:spPr>
            <a:xfrm>
              <a:off x="4602139" y="2191842"/>
              <a:ext cx="1858045" cy="1255891"/>
            </a:xfrm>
            <a:prstGeom prst="rect">
              <a:avLst/>
            </a:prstGeom>
          </p:spPr>
        </p:pic>
        <p:sp>
          <p:nvSpPr>
            <p:cNvPr id="24" name="object 24" descr=""/>
            <p:cNvSpPr/>
            <p:nvPr/>
          </p:nvSpPr>
          <p:spPr>
            <a:xfrm>
              <a:off x="4602137" y="2191842"/>
              <a:ext cx="1858645" cy="1256030"/>
            </a:xfrm>
            <a:custGeom>
              <a:avLst/>
              <a:gdLst/>
              <a:ahLst/>
              <a:cxnLst/>
              <a:rect l="l" t="t" r="r" b="b"/>
              <a:pathLst>
                <a:path w="1858645" h="1256029">
                  <a:moveTo>
                    <a:pt x="0" y="0"/>
                  </a:moveTo>
                  <a:lnTo>
                    <a:pt x="1858048" y="0"/>
                  </a:lnTo>
                  <a:lnTo>
                    <a:pt x="1858048" y="1255890"/>
                  </a:lnTo>
                  <a:lnTo>
                    <a:pt x="0" y="1255890"/>
                  </a:lnTo>
                  <a:lnTo>
                    <a:pt x="0" y="0"/>
                  </a:lnTo>
                  <a:close/>
                </a:path>
              </a:pathLst>
            </a:custGeom>
            <a:ln w="38100">
              <a:solidFill>
                <a:srgbClr val="FFFFFF"/>
              </a:solidFill>
            </a:ln>
          </p:spPr>
          <p:txBody>
            <a:bodyPr wrap="square" lIns="0" tIns="0" rIns="0" bIns="0" rtlCol="0"/>
            <a:lstStyle/>
            <a:p/>
          </p:txBody>
        </p:sp>
      </p:grpSp>
      <p:grpSp>
        <p:nvGrpSpPr>
          <p:cNvPr id="25" name="object 25" descr=""/>
          <p:cNvGrpSpPr/>
          <p:nvPr/>
        </p:nvGrpSpPr>
        <p:grpSpPr>
          <a:xfrm>
            <a:off x="4542282" y="3600450"/>
            <a:ext cx="1978660" cy="448945"/>
            <a:chOff x="4542282" y="3600450"/>
            <a:chExt cx="1978660" cy="448945"/>
          </a:xfrm>
        </p:grpSpPr>
        <p:pic>
          <p:nvPicPr>
            <p:cNvPr id="26" name="object 26" descr=""/>
            <p:cNvPicPr/>
            <p:nvPr/>
          </p:nvPicPr>
          <p:blipFill>
            <a:blip r:embed="rId11" cstate="print"/>
            <a:stretch>
              <a:fillRect/>
            </a:stretch>
          </p:blipFill>
          <p:spPr>
            <a:xfrm>
              <a:off x="4542282" y="3600450"/>
              <a:ext cx="1978151" cy="448817"/>
            </a:xfrm>
            <a:prstGeom prst="rect">
              <a:avLst/>
            </a:prstGeom>
          </p:spPr>
        </p:pic>
        <p:sp>
          <p:nvSpPr>
            <p:cNvPr id="27" name="object 27" descr=""/>
            <p:cNvSpPr/>
            <p:nvPr/>
          </p:nvSpPr>
          <p:spPr>
            <a:xfrm>
              <a:off x="4602137" y="3640963"/>
              <a:ext cx="1858645" cy="328930"/>
            </a:xfrm>
            <a:custGeom>
              <a:avLst/>
              <a:gdLst/>
              <a:ahLst/>
              <a:cxnLst/>
              <a:rect l="l" t="t" r="r" b="b"/>
              <a:pathLst>
                <a:path w="1858645" h="328929">
                  <a:moveTo>
                    <a:pt x="1858048" y="0"/>
                  </a:moveTo>
                  <a:lnTo>
                    <a:pt x="0" y="0"/>
                  </a:lnTo>
                  <a:lnTo>
                    <a:pt x="0" y="328447"/>
                  </a:lnTo>
                  <a:lnTo>
                    <a:pt x="1858048" y="328447"/>
                  </a:lnTo>
                  <a:lnTo>
                    <a:pt x="1858048" y="0"/>
                  </a:lnTo>
                  <a:close/>
                </a:path>
              </a:pathLst>
            </a:custGeom>
            <a:solidFill>
              <a:srgbClr val="00B050"/>
            </a:solidFill>
          </p:spPr>
          <p:txBody>
            <a:bodyPr wrap="square" lIns="0" tIns="0" rIns="0" bIns="0" rtlCol="0"/>
            <a:lstStyle/>
            <a:p/>
          </p:txBody>
        </p:sp>
        <p:sp>
          <p:nvSpPr>
            <p:cNvPr id="28" name="object 28" descr=""/>
            <p:cNvSpPr/>
            <p:nvPr/>
          </p:nvSpPr>
          <p:spPr>
            <a:xfrm>
              <a:off x="4602137" y="3640963"/>
              <a:ext cx="1858645" cy="328930"/>
            </a:xfrm>
            <a:custGeom>
              <a:avLst/>
              <a:gdLst/>
              <a:ahLst/>
              <a:cxnLst/>
              <a:rect l="l" t="t" r="r" b="b"/>
              <a:pathLst>
                <a:path w="1858645" h="328929">
                  <a:moveTo>
                    <a:pt x="0" y="0"/>
                  </a:moveTo>
                  <a:lnTo>
                    <a:pt x="1858048" y="0"/>
                  </a:lnTo>
                  <a:lnTo>
                    <a:pt x="1858048" y="328447"/>
                  </a:lnTo>
                  <a:lnTo>
                    <a:pt x="0" y="328447"/>
                  </a:lnTo>
                  <a:lnTo>
                    <a:pt x="0" y="0"/>
                  </a:lnTo>
                  <a:close/>
                </a:path>
              </a:pathLst>
            </a:custGeom>
            <a:ln w="38100">
              <a:solidFill>
                <a:srgbClr val="FFFFFF"/>
              </a:solidFill>
            </a:ln>
          </p:spPr>
          <p:txBody>
            <a:bodyPr wrap="square" lIns="0" tIns="0" rIns="0" bIns="0" rtlCol="0"/>
            <a:lstStyle/>
            <a:p/>
          </p:txBody>
        </p:sp>
      </p:grpSp>
      <p:grpSp>
        <p:nvGrpSpPr>
          <p:cNvPr id="29" name="object 29" descr=""/>
          <p:cNvGrpSpPr/>
          <p:nvPr/>
        </p:nvGrpSpPr>
        <p:grpSpPr>
          <a:xfrm>
            <a:off x="6602730" y="2151888"/>
            <a:ext cx="1978660" cy="1376680"/>
            <a:chOff x="6602730" y="2151888"/>
            <a:chExt cx="1978660" cy="1376680"/>
          </a:xfrm>
        </p:grpSpPr>
        <p:pic>
          <p:nvPicPr>
            <p:cNvPr id="30" name="object 30"/>
            <p:cNvPicPr/>
            <p:nvPr/>
          </p:nvPicPr>
          <p:blipFill>
            <a:blip r:embed="rId12" cstate="print"/>
            <a:stretch>
              <a:fillRect/>
            </a:stretch>
          </p:blipFill>
          <p:spPr>
            <a:xfrm>
              <a:off x="6602730" y="2151888"/>
              <a:ext cx="1978139" cy="1376171"/>
            </a:xfrm>
            <a:prstGeom prst="rect">
              <a:avLst/>
            </a:prstGeom>
          </p:spPr>
        </p:pic>
        <p:pic>
          <p:nvPicPr>
            <p:cNvPr id="31" name="object 31"/>
            <p:cNvPicPr/>
            <p:nvPr/>
          </p:nvPicPr>
          <p:blipFill>
            <a:blip r:embed="rId13" cstate="print"/>
            <a:stretch>
              <a:fillRect/>
            </a:stretch>
          </p:blipFill>
          <p:spPr>
            <a:xfrm>
              <a:off x="6662651" y="2191842"/>
              <a:ext cx="1858045" cy="1255890"/>
            </a:xfrm>
            <a:prstGeom prst="rect">
              <a:avLst/>
            </a:prstGeom>
          </p:spPr>
        </p:pic>
        <p:sp>
          <p:nvSpPr>
            <p:cNvPr id="32" name="object 32" descr=""/>
            <p:cNvSpPr/>
            <p:nvPr/>
          </p:nvSpPr>
          <p:spPr>
            <a:xfrm>
              <a:off x="6662648" y="2191842"/>
              <a:ext cx="1858645" cy="1256030"/>
            </a:xfrm>
            <a:custGeom>
              <a:avLst/>
              <a:gdLst/>
              <a:ahLst/>
              <a:cxnLst/>
              <a:rect l="l" t="t" r="r" b="b"/>
              <a:pathLst>
                <a:path w="1858645" h="1256029">
                  <a:moveTo>
                    <a:pt x="0" y="0"/>
                  </a:moveTo>
                  <a:lnTo>
                    <a:pt x="1858048" y="0"/>
                  </a:lnTo>
                  <a:lnTo>
                    <a:pt x="1858048" y="1255890"/>
                  </a:lnTo>
                  <a:lnTo>
                    <a:pt x="0" y="1255890"/>
                  </a:lnTo>
                  <a:lnTo>
                    <a:pt x="0" y="0"/>
                  </a:lnTo>
                  <a:close/>
                </a:path>
              </a:pathLst>
            </a:custGeom>
            <a:ln w="38100">
              <a:solidFill>
                <a:srgbClr val="FFFFFF"/>
              </a:solidFill>
            </a:ln>
          </p:spPr>
          <p:txBody>
            <a:bodyPr wrap="square" lIns="0" tIns="0" rIns="0" bIns="0" rtlCol="0"/>
            <a:lstStyle/>
            <a:p/>
          </p:txBody>
        </p:sp>
      </p:grpSp>
      <p:grpSp>
        <p:nvGrpSpPr>
          <p:cNvPr id="33" name="object 33" descr=""/>
          <p:cNvGrpSpPr/>
          <p:nvPr/>
        </p:nvGrpSpPr>
        <p:grpSpPr>
          <a:xfrm>
            <a:off x="6602730" y="3600450"/>
            <a:ext cx="1978660" cy="448945"/>
            <a:chOff x="6602730" y="3600450"/>
            <a:chExt cx="1978660" cy="448945"/>
          </a:xfrm>
        </p:grpSpPr>
        <p:pic>
          <p:nvPicPr>
            <p:cNvPr id="34" name="object 34" descr=""/>
            <p:cNvPicPr/>
            <p:nvPr/>
          </p:nvPicPr>
          <p:blipFill>
            <a:blip r:embed="rId14" cstate="print"/>
            <a:stretch>
              <a:fillRect/>
            </a:stretch>
          </p:blipFill>
          <p:spPr>
            <a:xfrm>
              <a:off x="6602730" y="3600450"/>
              <a:ext cx="1978139" cy="448817"/>
            </a:xfrm>
            <a:prstGeom prst="rect">
              <a:avLst/>
            </a:prstGeom>
          </p:spPr>
        </p:pic>
        <p:sp>
          <p:nvSpPr>
            <p:cNvPr id="35" name="object 35" descr=""/>
            <p:cNvSpPr/>
            <p:nvPr/>
          </p:nvSpPr>
          <p:spPr>
            <a:xfrm>
              <a:off x="6662648" y="3640963"/>
              <a:ext cx="1858645" cy="328930"/>
            </a:xfrm>
            <a:custGeom>
              <a:avLst/>
              <a:gdLst/>
              <a:ahLst/>
              <a:cxnLst/>
              <a:rect l="l" t="t" r="r" b="b"/>
              <a:pathLst>
                <a:path w="1858645" h="328929">
                  <a:moveTo>
                    <a:pt x="1858048" y="0"/>
                  </a:moveTo>
                  <a:lnTo>
                    <a:pt x="0" y="0"/>
                  </a:lnTo>
                  <a:lnTo>
                    <a:pt x="0" y="328447"/>
                  </a:lnTo>
                  <a:lnTo>
                    <a:pt x="1858048" y="328447"/>
                  </a:lnTo>
                  <a:lnTo>
                    <a:pt x="1858048" y="0"/>
                  </a:lnTo>
                  <a:close/>
                </a:path>
              </a:pathLst>
            </a:custGeom>
            <a:solidFill>
              <a:srgbClr val="00B050"/>
            </a:solidFill>
          </p:spPr>
          <p:txBody>
            <a:bodyPr wrap="square" lIns="0" tIns="0" rIns="0" bIns="0" rtlCol="0"/>
            <a:lstStyle/>
            <a:p/>
          </p:txBody>
        </p:sp>
        <p:sp>
          <p:nvSpPr>
            <p:cNvPr id="36" name="object 36" descr=""/>
            <p:cNvSpPr/>
            <p:nvPr/>
          </p:nvSpPr>
          <p:spPr>
            <a:xfrm>
              <a:off x="6662648" y="3640963"/>
              <a:ext cx="1858645" cy="328930"/>
            </a:xfrm>
            <a:custGeom>
              <a:avLst/>
              <a:gdLst/>
              <a:ahLst/>
              <a:cxnLst/>
              <a:rect l="l" t="t" r="r" b="b"/>
              <a:pathLst>
                <a:path w="1858645" h="328929">
                  <a:moveTo>
                    <a:pt x="0" y="0"/>
                  </a:moveTo>
                  <a:lnTo>
                    <a:pt x="1858048" y="0"/>
                  </a:lnTo>
                  <a:lnTo>
                    <a:pt x="1858048" y="328447"/>
                  </a:lnTo>
                  <a:lnTo>
                    <a:pt x="0" y="328447"/>
                  </a:lnTo>
                  <a:lnTo>
                    <a:pt x="0" y="0"/>
                  </a:lnTo>
                  <a:close/>
                </a:path>
              </a:pathLst>
            </a:custGeom>
            <a:ln w="38100">
              <a:solidFill>
                <a:srgbClr val="FFFFFF"/>
              </a:solidFill>
            </a:ln>
          </p:spPr>
          <p:txBody>
            <a:bodyPr wrap="square" lIns="0" tIns="0" rIns="0" bIns="0" rtlCol="0"/>
            <a:lstStyle/>
            <a:p/>
          </p:txBody>
        </p:sp>
      </p:grpSp>
      <p:graphicFrame>
        <p:nvGraphicFramePr>
          <p:cNvPr id="37" name="object 37" descr=""/>
          <p:cNvGraphicFramePr>
            <a:graphicFrameLocks noGrp="1"/>
          </p:cNvGraphicFramePr>
          <p:nvPr/>
        </p:nvGraphicFramePr>
        <p:xfrm>
          <a:off x="369138" y="2109787"/>
          <a:ext cx="8336280" cy="1931670"/>
        </p:xfrm>
        <a:graphic>
          <a:graphicData uri="http://schemas.openxmlformats.org/drawingml/2006/table">
            <a:tbl>
              <a:tblPr firstRow="1" bandRow="1">
                <a:tableStyleId>{2D5ABB26-0587-4C30-8999-92F81FD0307C}</a:tableStyleId>
              </a:tblPr>
              <a:tblGrid>
                <a:gridCol w="2064385"/>
                <a:gridCol w="2062480"/>
                <a:gridCol w="2060575"/>
                <a:gridCol w="2062479"/>
              </a:tblGrid>
              <a:tr h="1931670">
                <a:tc>
                  <a:txBody>
                    <a:bodyPr/>
                    <a:lstStyle/>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spcBef>
                          <a:spcPts val="1465"/>
                        </a:spcBef>
                      </a:pPr>
                      <a:endParaRPr sz="1300">
                        <a:latin typeface="Times New Roman"/>
                        <a:cs typeface="Times New Roman"/>
                      </a:endParaRPr>
                    </a:p>
                    <a:p>
                      <a:pPr algn="ctr">
                        <a:lnSpc>
                          <a:spcPct val="100000"/>
                        </a:lnSpc>
                        <a:spcBef>
                          <a:spcPts val="5"/>
                        </a:spcBef>
                      </a:pPr>
                      <a:r>
                        <a:rPr dirty="0" sz="1300" spc="-20" b="1">
                          <a:latin typeface="Microsoft JhengHei"/>
                          <a:cs typeface="Microsoft JhengHei"/>
                        </a:rPr>
                        <a:t>街道站</a:t>
                      </a:r>
                      <a:endParaRPr sz="1300">
                        <a:latin typeface="Microsoft JhengHei"/>
                        <a:cs typeface="Microsoft JhengHei"/>
                      </a:endParaRPr>
                    </a:p>
                    <a:p>
                      <a:pPr algn="ctr">
                        <a:lnSpc>
                          <a:spcPct val="100000"/>
                        </a:lnSpc>
                        <a:spcBef>
                          <a:spcPts val="335"/>
                        </a:spcBef>
                      </a:pPr>
                      <a:r>
                        <a:rPr dirty="0" sz="1400" spc="-20" b="1">
                          <a:solidFill>
                            <a:srgbClr val="FFFFFF"/>
                          </a:solidFill>
                          <a:latin typeface="Microsoft YaHei"/>
                          <a:cs typeface="Microsoft YaHei"/>
                        </a:rPr>
                        <a:t>点状覆盖场景</a:t>
                      </a:r>
                      <a:endParaRPr sz="1400">
                        <a:latin typeface="Microsoft YaHei"/>
                        <a:cs typeface="Microsoft YaHei"/>
                      </a:endParaRPr>
                    </a:p>
                  </a:txBody>
                  <a:tcPr marL="0" marR="0" marB="0" marT="0">
                    <a:lnL w="9525">
                      <a:solidFill>
                        <a:srgbClr val="B6DCDF"/>
                      </a:solidFill>
                      <a:prstDash val="solid"/>
                    </a:lnL>
                    <a:lnR w="9525">
                      <a:solidFill>
                        <a:srgbClr val="B6DCDF"/>
                      </a:solidFill>
                      <a:prstDash val="solid"/>
                    </a:lnR>
                    <a:lnT w="9525">
                      <a:solidFill>
                        <a:srgbClr val="B6DCDF"/>
                      </a:solidFill>
                      <a:prstDash val="solid"/>
                    </a:lnT>
                    <a:lnB w="9525">
                      <a:solidFill>
                        <a:srgbClr val="B6DCDF"/>
                      </a:solidFill>
                      <a:prstDash val="solid"/>
                    </a:lnB>
                  </a:tcPr>
                </a:tc>
                <a:tc>
                  <a:txBody>
                    <a:bodyPr/>
                    <a:lstStyle/>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spcBef>
                          <a:spcPts val="1465"/>
                        </a:spcBef>
                      </a:pPr>
                      <a:endParaRPr sz="1300">
                        <a:latin typeface="Times New Roman"/>
                        <a:cs typeface="Times New Roman"/>
                      </a:endParaRPr>
                    </a:p>
                    <a:p>
                      <a:pPr algn="ctr" marL="1270">
                        <a:lnSpc>
                          <a:spcPct val="100000"/>
                        </a:lnSpc>
                        <a:spcBef>
                          <a:spcPts val="5"/>
                        </a:spcBef>
                      </a:pPr>
                      <a:r>
                        <a:rPr dirty="0" sz="1300" spc="-15" b="1">
                          <a:latin typeface="Microsoft JhengHei"/>
                          <a:cs typeface="Microsoft JhengHei"/>
                        </a:rPr>
                        <a:t>高速公路</a:t>
                      </a:r>
                      <a:endParaRPr sz="1300">
                        <a:latin typeface="Microsoft JhengHei"/>
                        <a:cs typeface="Microsoft JhengHei"/>
                      </a:endParaRPr>
                    </a:p>
                    <a:p>
                      <a:pPr algn="ctr" marL="1270">
                        <a:lnSpc>
                          <a:spcPct val="100000"/>
                        </a:lnSpc>
                        <a:spcBef>
                          <a:spcPts val="335"/>
                        </a:spcBef>
                      </a:pPr>
                      <a:r>
                        <a:rPr dirty="0" sz="1400" spc="-20" b="1">
                          <a:solidFill>
                            <a:srgbClr val="FFFFFF"/>
                          </a:solidFill>
                          <a:latin typeface="Microsoft YaHei"/>
                          <a:cs typeface="Microsoft YaHei"/>
                        </a:rPr>
                        <a:t>线状覆盖场景</a:t>
                      </a:r>
                      <a:endParaRPr sz="1400">
                        <a:latin typeface="Microsoft YaHei"/>
                        <a:cs typeface="Microsoft YaHei"/>
                      </a:endParaRPr>
                    </a:p>
                  </a:txBody>
                  <a:tcPr marL="0" marR="0" marB="0" marT="0">
                    <a:lnL w="9525">
                      <a:solidFill>
                        <a:srgbClr val="B6DCDF"/>
                      </a:solidFill>
                      <a:prstDash val="solid"/>
                    </a:lnL>
                    <a:lnR w="19050">
                      <a:solidFill>
                        <a:srgbClr val="B6DCDF"/>
                      </a:solidFill>
                      <a:prstDash val="solid"/>
                    </a:lnR>
                    <a:lnT w="9525">
                      <a:solidFill>
                        <a:srgbClr val="B6DCDF"/>
                      </a:solidFill>
                      <a:prstDash val="solid"/>
                    </a:lnT>
                    <a:lnB w="9525">
                      <a:solidFill>
                        <a:srgbClr val="B6DCDF"/>
                      </a:solidFill>
                      <a:prstDash val="solid"/>
                    </a:lnB>
                  </a:tcPr>
                </a:tc>
                <a:tc>
                  <a:txBody>
                    <a:bodyPr/>
                    <a:lstStyle/>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spcBef>
                          <a:spcPts val="1465"/>
                        </a:spcBef>
                      </a:pPr>
                      <a:endParaRPr sz="1300">
                        <a:latin typeface="Times New Roman"/>
                        <a:cs typeface="Times New Roman"/>
                      </a:endParaRPr>
                    </a:p>
                    <a:p>
                      <a:pPr algn="ctr">
                        <a:lnSpc>
                          <a:spcPct val="100000"/>
                        </a:lnSpc>
                        <a:spcBef>
                          <a:spcPts val="5"/>
                        </a:spcBef>
                      </a:pPr>
                      <a:r>
                        <a:rPr dirty="0" sz="1300" spc="-25" b="1">
                          <a:latin typeface="Microsoft JhengHei"/>
                          <a:cs typeface="Microsoft JhengHei"/>
                        </a:rPr>
                        <a:t>校园</a:t>
                      </a:r>
                      <a:endParaRPr sz="1300">
                        <a:latin typeface="Microsoft JhengHei"/>
                        <a:cs typeface="Microsoft JhengHei"/>
                      </a:endParaRPr>
                    </a:p>
                    <a:p>
                      <a:pPr algn="ctr">
                        <a:lnSpc>
                          <a:spcPct val="100000"/>
                        </a:lnSpc>
                        <a:spcBef>
                          <a:spcPts val="335"/>
                        </a:spcBef>
                      </a:pPr>
                      <a:r>
                        <a:rPr dirty="0" sz="1400" spc="-20" b="1">
                          <a:solidFill>
                            <a:srgbClr val="FFFFFF"/>
                          </a:solidFill>
                          <a:latin typeface="Microsoft YaHei"/>
                          <a:cs typeface="Microsoft YaHei"/>
                        </a:rPr>
                        <a:t>面状覆盖场景</a:t>
                      </a:r>
                      <a:endParaRPr sz="1400">
                        <a:latin typeface="Microsoft YaHei"/>
                        <a:cs typeface="Microsoft YaHei"/>
                      </a:endParaRPr>
                    </a:p>
                  </a:txBody>
                  <a:tcPr marL="0" marR="0" marB="0" marT="0">
                    <a:lnL w="19050">
                      <a:solidFill>
                        <a:srgbClr val="B6DCDF"/>
                      </a:solidFill>
                      <a:prstDash val="solid"/>
                    </a:lnL>
                    <a:lnR w="19050">
                      <a:solidFill>
                        <a:srgbClr val="B6DCDF"/>
                      </a:solidFill>
                      <a:prstDash val="solid"/>
                    </a:lnR>
                    <a:lnT w="9525">
                      <a:solidFill>
                        <a:srgbClr val="B6DCDF"/>
                      </a:solidFill>
                      <a:prstDash val="solid"/>
                    </a:lnT>
                    <a:lnB w="9525">
                      <a:solidFill>
                        <a:srgbClr val="B6DCDF"/>
                      </a:solidFill>
                      <a:prstDash val="solid"/>
                    </a:lnB>
                  </a:tcPr>
                </a:tc>
                <a:tc>
                  <a:txBody>
                    <a:bodyPr/>
                    <a:lstStyle/>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spcBef>
                          <a:spcPts val="1465"/>
                        </a:spcBef>
                      </a:pPr>
                      <a:endParaRPr sz="1300">
                        <a:latin typeface="Times New Roman"/>
                        <a:cs typeface="Times New Roman"/>
                      </a:endParaRPr>
                    </a:p>
                    <a:p>
                      <a:pPr algn="ctr">
                        <a:lnSpc>
                          <a:spcPct val="100000"/>
                        </a:lnSpc>
                        <a:spcBef>
                          <a:spcPts val="5"/>
                        </a:spcBef>
                      </a:pPr>
                      <a:r>
                        <a:rPr dirty="0" sz="1300" spc="-15" b="1">
                          <a:latin typeface="Microsoft JhengHei"/>
                          <a:cs typeface="Microsoft JhengHei"/>
                        </a:rPr>
                        <a:t>大型景区</a:t>
                      </a:r>
                      <a:endParaRPr sz="1300">
                        <a:latin typeface="Microsoft JhengHei"/>
                        <a:cs typeface="Microsoft JhengHei"/>
                      </a:endParaRPr>
                    </a:p>
                    <a:p>
                      <a:pPr algn="ctr">
                        <a:lnSpc>
                          <a:spcPct val="100000"/>
                        </a:lnSpc>
                        <a:spcBef>
                          <a:spcPts val="335"/>
                        </a:spcBef>
                      </a:pPr>
                      <a:r>
                        <a:rPr dirty="0" sz="1400" spc="-20" b="1">
                          <a:solidFill>
                            <a:srgbClr val="FFFFFF"/>
                          </a:solidFill>
                          <a:latin typeface="Microsoft YaHei"/>
                          <a:cs typeface="Microsoft YaHei"/>
                        </a:rPr>
                        <a:t>环境美化场景</a:t>
                      </a:r>
                      <a:endParaRPr sz="1400">
                        <a:latin typeface="Microsoft YaHei"/>
                        <a:cs typeface="Microsoft YaHei"/>
                      </a:endParaRPr>
                    </a:p>
                  </a:txBody>
                  <a:tcPr marL="0" marR="0" marB="0" marT="0">
                    <a:lnL w="19050">
                      <a:solidFill>
                        <a:srgbClr val="B6DCDF"/>
                      </a:solidFill>
                      <a:prstDash val="solid"/>
                    </a:lnL>
                    <a:lnR w="9525">
                      <a:solidFill>
                        <a:srgbClr val="B6DCDF"/>
                      </a:solidFill>
                      <a:prstDash val="solid"/>
                    </a:lnR>
                    <a:lnT w="9525">
                      <a:solidFill>
                        <a:srgbClr val="B6DCDF"/>
                      </a:solidFill>
                      <a:prstDash val="solid"/>
                    </a:lnT>
                    <a:lnB w="9525">
                      <a:solidFill>
                        <a:srgbClr val="B6DCDF"/>
                      </a:solidFill>
                      <a:prstDash val="solid"/>
                    </a:lnB>
                  </a:tcPr>
                </a:tc>
              </a:tr>
            </a:tbl>
          </a:graphicData>
        </a:graphic>
      </p:graphicFrame>
    </p:spTree>
  </p:cSld>
  <p:clrMapOvr>
    <a:masterClrMapping/>
  </p:clrMapOvr>
  <p:transition spd="med">
    <p:fade thruBlk="0"/>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1849" y="130818"/>
            <a:ext cx="298704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0"/>
              <a:t>频谱应用预测</a:t>
            </a:r>
          </a:p>
        </p:txBody>
      </p:sp>
      <p:pic>
        <p:nvPicPr>
          <p:cNvPr id="3" name="object 3"/>
          <p:cNvPicPr/>
          <p:nvPr/>
        </p:nvPicPr>
        <p:blipFill>
          <a:blip r:embed="rId2" cstate="print"/>
          <a:stretch>
            <a:fillRect/>
          </a:stretch>
        </p:blipFill>
        <p:spPr>
          <a:xfrm>
            <a:off x="439217" y="1199112"/>
            <a:ext cx="8089381" cy="2914646"/>
          </a:xfrm>
          <a:prstGeom prst="rect">
            <a:avLst/>
          </a:prstGeom>
        </p:spPr>
      </p:pic>
      <p:sp>
        <p:nvSpPr>
          <p:cNvPr id="4" name="object 4" descr=""/>
          <p:cNvSpPr txBox="1"/>
          <p:nvPr/>
        </p:nvSpPr>
        <p:spPr>
          <a:xfrm>
            <a:off x="475424" y="4228055"/>
            <a:ext cx="8030845" cy="574040"/>
          </a:xfrm>
          <a:prstGeom prst="rect">
            <a:avLst/>
          </a:prstGeom>
        </p:spPr>
        <p:txBody>
          <a:bodyPr wrap="square" lIns="0" tIns="12700" rIns="0" bIns="0" rtlCol="0" vert="horz">
            <a:spAutoFit/>
          </a:bodyPr>
          <a:lstStyle/>
          <a:p>
            <a:pPr marL="12700">
              <a:lnSpc>
                <a:spcPct val="100000"/>
              </a:lnSpc>
              <a:spcBef>
                <a:spcPts val="100"/>
              </a:spcBef>
            </a:pPr>
            <a:r>
              <a:rPr dirty="0" sz="1800" spc="-5">
                <a:solidFill>
                  <a:srgbClr val="FF0000"/>
                </a:solidFill>
                <a:latin typeface="Microsoft YaHei"/>
                <a:cs typeface="Microsoft YaHei"/>
              </a:rPr>
              <a:t>低频：</a:t>
            </a:r>
            <a:r>
              <a:rPr dirty="0" sz="1800" spc="-10">
                <a:solidFill>
                  <a:srgbClr val="FF0000"/>
                </a:solidFill>
                <a:latin typeface="Arial MT"/>
                <a:cs typeface="Arial MT"/>
              </a:rPr>
              <a:t>3.5G</a:t>
            </a:r>
            <a:r>
              <a:rPr dirty="0" sz="1800">
                <a:solidFill>
                  <a:srgbClr val="FF0000"/>
                </a:solidFill>
                <a:latin typeface="Microsoft YaHei"/>
                <a:cs typeface="Microsoft YaHei"/>
              </a:rPr>
              <a:t>是国内</a:t>
            </a:r>
            <a:r>
              <a:rPr dirty="0" sz="1800" spc="-10">
                <a:solidFill>
                  <a:srgbClr val="FF0000"/>
                </a:solidFill>
                <a:latin typeface="Arial MT"/>
                <a:cs typeface="Arial MT"/>
              </a:rPr>
              <a:t>5G</a:t>
            </a:r>
            <a:r>
              <a:rPr dirty="0" sz="1800" spc="-15">
                <a:solidFill>
                  <a:srgbClr val="FF0000"/>
                </a:solidFill>
                <a:latin typeface="Microsoft YaHei"/>
                <a:cs typeface="Microsoft YaHei"/>
              </a:rPr>
              <a:t>最佳频谱</a:t>
            </a:r>
            <a:endParaRPr sz="1800">
              <a:latin typeface="Microsoft YaHei"/>
              <a:cs typeface="Microsoft YaHei"/>
            </a:endParaRPr>
          </a:p>
          <a:p>
            <a:pPr marL="41910">
              <a:lnSpc>
                <a:spcPct val="100000"/>
              </a:lnSpc>
            </a:pPr>
            <a:r>
              <a:rPr dirty="0" sz="1800">
                <a:solidFill>
                  <a:srgbClr val="FF0000"/>
                </a:solidFill>
                <a:latin typeface="Microsoft YaHei"/>
                <a:cs typeface="Microsoft YaHei"/>
              </a:rPr>
              <a:t>高频：美日韩意向为</a:t>
            </a:r>
            <a:r>
              <a:rPr dirty="0" sz="1800">
                <a:solidFill>
                  <a:srgbClr val="FF0000"/>
                </a:solidFill>
                <a:latin typeface="Arial MT"/>
                <a:cs typeface="Arial MT"/>
              </a:rPr>
              <a:t>28GHz; </a:t>
            </a:r>
            <a:r>
              <a:rPr dirty="0" sz="1800">
                <a:solidFill>
                  <a:srgbClr val="FF0000"/>
                </a:solidFill>
                <a:latin typeface="Microsoft YaHei"/>
                <a:cs typeface="Microsoft YaHei"/>
              </a:rPr>
              <a:t>欧洲倾向于</a:t>
            </a:r>
            <a:r>
              <a:rPr dirty="0" sz="1800" spc="-10">
                <a:solidFill>
                  <a:srgbClr val="FF0000"/>
                </a:solidFill>
                <a:latin typeface="Arial MT"/>
                <a:cs typeface="Arial MT"/>
              </a:rPr>
              <a:t>24GHz</a:t>
            </a:r>
            <a:r>
              <a:rPr dirty="0" sz="1800" spc="-5">
                <a:solidFill>
                  <a:srgbClr val="FF0000"/>
                </a:solidFill>
                <a:latin typeface="Microsoft YaHei"/>
                <a:cs typeface="Microsoft YaHei"/>
              </a:rPr>
              <a:t>；中国正在评估</a:t>
            </a:r>
            <a:r>
              <a:rPr dirty="0" sz="1800" spc="-10">
                <a:solidFill>
                  <a:srgbClr val="FF0000"/>
                </a:solidFill>
                <a:latin typeface="Arial MT"/>
                <a:cs typeface="Arial MT"/>
              </a:rPr>
              <a:t>39GHz</a:t>
            </a:r>
            <a:r>
              <a:rPr dirty="0" sz="1800" spc="-15">
                <a:solidFill>
                  <a:srgbClr val="FF0000"/>
                </a:solidFill>
                <a:latin typeface="Microsoft YaHei"/>
                <a:cs typeface="Microsoft YaHei"/>
              </a:rPr>
              <a:t>的可行性</a:t>
            </a:r>
            <a:endParaRPr sz="1800">
              <a:latin typeface="Microsoft YaHei"/>
              <a:cs typeface="Microsoft YaHe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txBox="1"/>
          <p:nvPr/>
        </p:nvSpPr>
        <p:spPr>
          <a:xfrm>
            <a:off x="942822" y="1172362"/>
            <a:ext cx="605155" cy="497840"/>
          </a:xfrm>
          <a:prstGeom prst="rect">
            <a:avLst/>
          </a:prstGeom>
          <a:solidFill>
            <a:srgbClr val="C00000"/>
          </a:solidFill>
        </p:spPr>
        <p:txBody>
          <a:bodyPr wrap="square" lIns="0" tIns="66675" rIns="0" bIns="0" rtlCol="0" vert="horz">
            <a:spAutoFit/>
          </a:bodyPr>
          <a:lstStyle/>
          <a:p>
            <a:pPr>
              <a:lnSpc>
                <a:spcPct val="100000"/>
              </a:lnSpc>
              <a:spcBef>
                <a:spcPts val="525"/>
              </a:spcBef>
            </a:pPr>
            <a:endParaRPr sz="800">
              <a:latin typeface="Times New Roman"/>
              <a:cs typeface="Times New Roman"/>
            </a:endParaRPr>
          </a:p>
          <a:p>
            <a:pPr marL="120014">
              <a:lnSpc>
                <a:spcPct val="100000"/>
              </a:lnSpc>
            </a:pPr>
            <a:r>
              <a:rPr dirty="0" sz="800" spc="-10" b="1">
                <a:solidFill>
                  <a:srgbClr val="FFFFFF"/>
                </a:solidFill>
                <a:latin typeface="Microsoft YaHei"/>
                <a:cs typeface="Microsoft YaHei"/>
              </a:rPr>
              <a:t>19MHz</a:t>
            </a:r>
            <a:endParaRPr sz="800">
              <a:latin typeface="Microsoft YaHei"/>
              <a:cs typeface="Microsoft YaHei"/>
            </a:endParaRPr>
          </a:p>
        </p:txBody>
      </p:sp>
      <p:sp>
        <p:nvSpPr>
          <p:cNvPr id="3" name="object 3" descr=""/>
          <p:cNvSpPr txBox="1"/>
          <p:nvPr/>
        </p:nvSpPr>
        <p:spPr>
          <a:xfrm>
            <a:off x="865318" y="1709994"/>
            <a:ext cx="767715" cy="147320"/>
          </a:xfrm>
          <a:prstGeom prst="rect">
            <a:avLst/>
          </a:prstGeom>
        </p:spPr>
        <p:txBody>
          <a:bodyPr wrap="square" lIns="0" tIns="12065" rIns="0" bIns="0" rtlCol="0" vert="horz">
            <a:spAutoFit/>
          </a:bodyPr>
          <a:lstStyle/>
          <a:p>
            <a:pPr marL="38100">
              <a:lnSpc>
                <a:spcPct val="100000"/>
              </a:lnSpc>
              <a:spcBef>
                <a:spcPts val="95"/>
              </a:spcBef>
              <a:tabLst>
                <a:tab pos="541020" algn="l"/>
              </a:tabLst>
            </a:pPr>
            <a:r>
              <a:rPr dirty="0" baseline="6944" sz="1200" spc="-37" b="1">
                <a:latin typeface="Microsoft YaHei"/>
                <a:cs typeface="Microsoft YaHei"/>
              </a:rPr>
              <a:t>890</a:t>
            </a:r>
            <a:r>
              <a:rPr dirty="0" baseline="6944" sz="1200" b="1">
                <a:latin typeface="Microsoft YaHei"/>
                <a:cs typeface="Microsoft YaHei"/>
              </a:rPr>
              <a:t>	</a:t>
            </a:r>
            <a:r>
              <a:rPr dirty="0" sz="800" spc="-25" b="1">
                <a:latin typeface="Microsoft YaHei"/>
                <a:cs typeface="Microsoft YaHei"/>
              </a:rPr>
              <a:t>909</a:t>
            </a:r>
            <a:endParaRPr sz="800">
              <a:latin typeface="Microsoft YaHei"/>
              <a:cs typeface="Microsoft YaHei"/>
            </a:endParaRPr>
          </a:p>
        </p:txBody>
      </p:sp>
      <p:sp>
        <p:nvSpPr>
          <p:cNvPr id="4" name="object 4" descr=""/>
          <p:cNvSpPr txBox="1"/>
          <p:nvPr/>
        </p:nvSpPr>
        <p:spPr>
          <a:xfrm>
            <a:off x="2929077" y="1172362"/>
            <a:ext cx="717550" cy="497205"/>
          </a:xfrm>
          <a:prstGeom prst="rect">
            <a:avLst/>
          </a:prstGeom>
          <a:solidFill>
            <a:srgbClr val="C00000"/>
          </a:solidFill>
        </p:spPr>
        <p:txBody>
          <a:bodyPr wrap="square" lIns="0" tIns="67945" rIns="0" bIns="0" rtlCol="0" vert="horz">
            <a:spAutoFit/>
          </a:bodyPr>
          <a:lstStyle/>
          <a:p>
            <a:pPr>
              <a:lnSpc>
                <a:spcPct val="100000"/>
              </a:lnSpc>
              <a:spcBef>
                <a:spcPts val="535"/>
              </a:spcBef>
            </a:pPr>
            <a:endParaRPr sz="800">
              <a:latin typeface="Times New Roman"/>
              <a:cs typeface="Times New Roman"/>
            </a:endParaRPr>
          </a:p>
          <a:p>
            <a:pPr marL="197485">
              <a:lnSpc>
                <a:spcPct val="100000"/>
              </a:lnSpc>
            </a:pPr>
            <a:r>
              <a:rPr dirty="0" sz="800" spc="-10" b="1">
                <a:solidFill>
                  <a:srgbClr val="FFFFFF"/>
                </a:solidFill>
                <a:latin typeface="Arial"/>
                <a:cs typeface="Arial"/>
              </a:rPr>
              <a:t>25MHz</a:t>
            </a:r>
            <a:endParaRPr sz="800">
              <a:latin typeface="Arial"/>
              <a:cs typeface="Arial"/>
            </a:endParaRPr>
          </a:p>
        </p:txBody>
      </p:sp>
      <p:sp>
        <p:nvSpPr>
          <p:cNvPr id="5" name="object 5" descr=""/>
          <p:cNvSpPr txBox="1"/>
          <p:nvPr/>
        </p:nvSpPr>
        <p:spPr>
          <a:xfrm>
            <a:off x="2848763" y="1699056"/>
            <a:ext cx="836294" cy="147320"/>
          </a:xfrm>
          <a:prstGeom prst="rect">
            <a:avLst/>
          </a:prstGeom>
        </p:spPr>
        <p:txBody>
          <a:bodyPr wrap="square" lIns="0" tIns="12065" rIns="0" bIns="0" rtlCol="0" vert="horz">
            <a:spAutoFit/>
          </a:bodyPr>
          <a:lstStyle/>
          <a:p>
            <a:pPr marL="12700">
              <a:lnSpc>
                <a:spcPct val="100000"/>
              </a:lnSpc>
              <a:spcBef>
                <a:spcPts val="95"/>
              </a:spcBef>
              <a:tabLst>
                <a:tab pos="572770" algn="l"/>
              </a:tabLst>
            </a:pPr>
            <a:r>
              <a:rPr dirty="0" sz="800" spc="-20" b="1">
                <a:latin typeface="Microsoft YaHei"/>
                <a:cs typeface="Microsoft YaHei"/>
              </a:rPr>
              <a:t>1710</a:t>
            </a:r>
            <a:r>
              <a:rPr dirty="0" sz="800" b="1">
                <a:latin typeface="Microsoft YaHei"/>
                <a:cs typeface="Microsoft YaHei"/>
              </a:rPr>
              <a:t>	</a:t>
            </a:r>
            <a:r>
              <a:rPr dirty="0" sz="800" spc="-20" b="1">
                <a:latin typeface="Microsoft YaHei"/>
                <a:cs typeface="Microsoft YaHei"/>
              </a:rPr>
              <a:t>1735</a:t>
            </a:r>
            <a:endParaRPr sz="800">
              <a:latin typeface="Microsoft YaHei"/>
              <a:cs typeface="Microsoft YaHei"/>
            </a:endParaRPr>
          </a:p>
        </p:txBody>
      </p:sp>
      <p:sp>
        <p:nvSpPr>
          <p:cNvPr id="6" name="object 6" descr=""/>
          <p:cNvSpPr txBox="1"/>
          <p:nvPr/>
        </p:nvSpPr>
        <p:spPr>
          <a:xfrm>
            <a:off x="3923347" y="1172362"/>
            <a:ext cx="717550" cy="497205"/>
          </a:xfrm>
          <a:prstGeom prst="rect">
            <a:avLst/>
          </a:prstGeom>
          <a:solidFill>
            <a:srgbClr val="00B050"/>
          </a:solidFill>
        </p:spPr>
        <p:txBody>
          <a:bodyPr wrap="square" lIns="0" tIns="67945" rIns="0" bIns="0" rtlCol="0" vert="horz">
            <a:spAutoFit/>
          </a:bodyPr>
          <a:lstStyle/>
          <a:p>
            <a:pPr>
              <a:lnSpc>
                <a:spcPct val="100000"/>
              </a:lnSpc>
              <a:spcBef>
                <a:spcPts val="535"/>
              </a:spcBef>
            </a:pPr>
            <a:endParaRPr sz="800">
              <a:latin typeface="Times New Roman"/>
              <a:cs typeface="Times New Roman"/>
            </a:endParaRPr>
          </a:p>
          <a:p>
            <a:pPr marL="197485">
              <a:lnSpc>
                <a:spcPct val="100000"/>
              </a:lnSpc>
            </a:pPr>
            <a:r>
              <a:rPr dirty="0" sz="800" spc="-10" b="1">
                <a:solidFill>
                  <a:srgbClr val="FFFFFF"/>
                </a:solidFill>
                <a:latin typeface="Arial"/>
                <a:cs typeface="Arial"/>
              </a:rPr>
              <a:t>25MHz</a:t>
            </a:r>
            <a:endParaRPr sz="800">
              <a:latin typeface="Arial"/>
              <a:cs typeface="Arial"/>
            </a:endParaRPr>
          </a:p>
        </p:txBody>
      </p:sp>
      <p:sp>
        <p:nvSpPr>
          <p:cNvPr id="7" name="object 7" descr=""/>
          <p:cNvSpPr txBox="1"/>
          <p:nvPr/>
        </p:nvSpPr>
        <p:spPr>
          <a:xfrm>
            <a:off x="3758658" y="1709698"/>
            <a:ext cx="945515" cy="147320"/>
          </a:xfrm>
          <a:prstGeom prst="rect">
            <a:avLst/>
          </a:prstGeom>
        </p:spPr>
        <p:txBody>
          <a:bodyPr wrap="square" lIns="0" tIns="12065" rIns="0" bIns="0" rtlCol="0" vert="horz">
            <a:spAutoFit/>
          </a:bodyPr>
          <a:lstStyle/>
          <a:p>
            <a:pPr marL="38100">
              <a:lnSpc>
                <a:spcPct val="100000"/>
              </a:lnSpc>
              <a:spcBef>
                <a:spcPts val="95"/>
              </a:spcBef>
              <a:tabLst>
                <a:tab pos="656590" algn="l"/>
              </a:tabLst>
            </a:pPr>
            <a:r>
              <a:rPr dirty="0" sz="800" spc="-20" b="1">
                <a:latin typeface="Microsoft YaHei"/>
                <a:cs typeface="Microsoft YaHei"/>
              </a:rPr>
              <a:t>1805</a:t>
            </a:r>
            <a:r>
              <a:rPr dirty="0" sz="800" b="1">
                <a:latin typeface="Microsoft YaHei"/>
                <a:cs typeface="Microsoft YaHei"/>
              </a:rPr>
              <a:t>	</a:t>
            </a:r>
            <a:r>
              <a:rPr dirty="0" baseline="6944" sz="1200" spc="-30" b="1">
                <a:latin typeface="Microsoft YaHei"/>
                <a:cs typeface="Microsoft YaHei"/>
              </a:rPr>
              <a:t>1830</a:t>
            </a:r>
            <a:endParaRPr baseline="6944" sz="1200">
              <a:latin typeface="Microsoft YaHei"/>
              <a:cs typeface="Microsoft YaHei"/>
            </a:endParaRPr>
          </a:p>
        </p:txBody>
      </p:sp>
      <p:sp>
        <p:nvSpPr>
          <p:cNvPr id="8" name="object 8" descr=""/>
          <p:cNvSpPr txBox="1"/>
          <p:nvPr/>
        </p:nvSpPr>
        <p:spPr>
          <a:xfrm>
            <a:off x="6216459" y="1172362"/>
            <a:ext cx="605155" cy="496570"/>
          </a:xfrm>
          <a:prstGeom prst="rect">
            <a:avLst/>
          </a:prstGeom>
          <a:solidFill>
            <a:srgbClr val="333399"/>
          </a:solidFill>
        </p:spPr>
        <p:txBody>
          <a:bodyPr wrap="square" lIns="0" tIns="67310" rIns="0" bIns="0" rtlCol="0" vert="horz">
            <a:spAutoFit/>
          </a:bodyPr>
          <a:lstStyle/>
          <a:p>
            <a:pPr>
              <a:lnSpc>
                <a:spcPct val="100000"/>
              </a:lnSpc>
              <a:spcBef>
                <a:spcPts val="530"/>
              </a:spcBef>
            </a:pPr>
            <a:endParaRPr sz="800">
              <a:latin typeface="Times New Roman"/>
              <a:cs typeface="Times New Roman"/>
            </a:endParaRPr>
          </a:p>
          <a:p>
            <a:pPr marL="140970">
              <a:lnSpc>
                <a:spcPct val="100000"/>
              </a:lnSpc>
              <a:spcBef>
                <a:spcPts val="5"/>
              </a:spcBef>
            </a:pPr>
            <a:r>
              <a:rPr dirty="0" sz="800" spc="-10" b="1">
                <a:solidFill>
                  <a:srgbClr val="FFFFFF"/>
                </a:solidFill>
                <a:latin typeface="Arial"/>
                <a:cs typeface="Arial"/>
              </a:rPr>
              <a:t>15MHz</a:t>
            </a:r>
            <a:endParaRPr sz="800">
              <a:latin typeface="Arial"/>
              <a:cs typeface="Arial"/>
            </a:endParaRPr>
          </a:p>
        </p:txBody>
      </p:sp>
      <p:sp>
        <p:nvSpPr>
          <p:cNvPr id="9" name="object 9" descr=""/>
          <p:cNvSpPr txBox="1"/>
          <p:nvPr/>
        </p:nvSpPr>
        <p:spPr>
          <a:xfrm>
            <a:off x="4794790" y="1675451"/>
            <a:ext cx="2362200" cy="147320"/>
          </a:xfrm>
          <a:prstGeom prst="rect">
            <a:avLst/>
          </a:prstGeom>
        </p:spPr>
        <p:txBody>
          <a:bodyPr wrap="square" lIns="0" tIns="12065" rIns="0" bIns="0" rtlCol="0" vert="horz">
            <a:spAutoFit/>
          </a:bodyPr>
          <a:lstStyle/>
          <a:p>
            <a:pPr marL="12700">
              <a:lnSpc>
                <a:spcPct val="100000"/>
              </a:lnSpc>
              <a:spcBef>
                <a:spcPts val="95"/>
              </a:spcBef>
              <a:tabLst>
                <a:tab pos="572770" algn="l"/>
                <a:tab pos="1812289" algn="l"/>
              </a:tabLst>
            </a:pPr>
            <a:r>
              <a:rPr dirty="0" baseline="3472" sz="1200" spc="-30" b="1">
                <a:latin typeface="Microsoft YaHei"/>
                <a:cs typeface="Microsoft YaHei"/>
              </a:rPr>
              <a:t>1885</a:t>
            </a:r>
            <a:r>
              <a:rPr dirty="0" baseline="3472" sz="1200" b="1">
                <a:latin typeface="Microsoft YaHei"/>
                <a:cs typeface="Microsoft YaHei"/>
              </a:rPr>
              <a:t>	1905</a:t>
            </a:r>
            <a:r>
              <a:rPr dirty="0" baseline="3472" sz="1200" spc="300" b="1">
                <a:latin typeface="Microsoft YaHei"/>
                <a:cs typeface="Microsoft YaHei"/>
              </a:rPr>
              <a:t>  </a:t>
            </a:r>
            <a:r>
              <a:rPr dirty="0" baseline="3472" sz="1200" b="1">
                <a:latin typeface="Microsoft YaHei"/>
                <a:cs typeface="Microsoft YaHei"/>
              </a:rPr>
              <a:t>1915</a:t>
            </a:r>
            <a:r>
              <a:rPr dirty="0" baseline="3472" sz="1200" spc="240" b="1">
                <a:latin typeface="Microsoft YaHei"/>
                <a:cs typeface="Microsoft YaHei"/>
              </a:rPr>
              <a:t>  </a:t>
            </a:r>
            <a:r>
              <a:rPr dirty="0" sz="800" spc="-20" b="1">
                <a:latin typeface="Microsoft YaHei"/>
                <a:cs typeface="Microsoft YaHei"/>
              </a:rPr>
              <a:t>2010</a:t>
            </a:r>
            <a:r>
              <a:rPr dirty="0" sz="800" b="1">
                <a:latin typeface="Microsoft YaHei"/>
                <a:cs typeface="Microsoft YaHei"/>
              </a:rPr>
              <a:t>	2025</a:t>
            </a:r>
            <a:r>
              <a:rPr dirty="0" sz="800" spc="40" b="1">
                <a:latin typeface="Microsoft YaHei"/>
                <a:cs typeface="Microsoft YaHei"/>
              </a:rPr>
              <a:t> </a:t>
            </a:r>
            <a:r>
              <a:rPr dirty="0" sz="800" spc="-20" b="1">
                <a:latin typeface="Microsoft YaHei"/>
                <a:cs typeface="Microsoft YaHei"/>
              </a:rPr>
              <a:t>2320</a:t>
            </a:r>
            <a:endParaRPr sz="800">
              <a:latin typeface="Microsoft YaHei"/>
              <a:cs typeface="Microsoft YaHei"/>
            </a:endParaRPr>
          </a:p>
        </p:txBody>
      </p:sp>
      <p:sp>
        <p:nvSpPr>
          <p:cNvPr id="10" name="object 10" descr=""/>
          <p:cNvSpPr txBox="1"/>
          <p:nvPr/>
        </p:nvSpPr>
        <p:spPr>
          <a:xfrm>
            <a:off x="6998157" y="1172362"/>
            <a:ext cx="768350" cy="496570"/>
          </a:xfrm>
          <a:prstGeom prst="rect">
            <a:avLst/>
          </a:prstGeom>
          <a:solidFill>
            <a:srgbClr val="333399"/>
          </a:solidFill>
        </p:spPr>
        <p:txBody>
          <a:bodyPr wrap="square" lIns="0" tIns="66040" rIns="0" bIns="0" rtlCol="0" vert="horz">
            <a:spAutoFit/>
          </a:bodyPr>
          <a:lstStyle/>
          <a:p>
            <a:pPr>
              <a:lnSpc>
                <a:spcPct val="100000"/>
              </a:lnSpc>
              <a:spcBef>
                <a:spcPts val="520"/>
              </a:spcBef>
            </a:pPr>
            <a:endParaRPr sz="800">
              <a:latin typeface="Times New Roman"/>
              <a:cs typeface="Times New Roman"/>
            </a:endParaRPr>
          </a:p>
          <a:p>
            <a:pPr marL="201295">
              <a:lnSpc>
                <a:spcPct val="100000"/>
              </a:lnSpc>
            </a:pPr>
            <a:r>
              <a:rPr dirty="0" sz="800" spc="-10" b="1">
                <a:solidFill>
                  <a:srgbClr val="FFFFFF"/>
                </a:solidFill>
                <a:latin typeface="Microsoft YaHei"/>
                <a:cs typeface="Microsoft YaHei"/>
              </a:rPr>
              <a:t>50MHz</a:t>
            </a:r>
            <a:endParaRPr sz="800">
              <a:latin typeface="Microsoft YaHei"/>
              <a:cs typeface="Microsoft YaHei"/>
            </a:endParaRPr>
          </a:p>
        </p:txBody>
      </p:sp>
      <p:sp>
        <p:nvSpPr>
          <p:cNvPr id="11" name="object 11" descr=""/>
          <p:cNvSpPr txBox="1"/>
          <p:nvPr/>
        </p:nvSpPr>
        <p:spPr>
          <a:xfrm>
            <a:off x="7492815" y="1675447"/>
            <a:ext cx="598170" cy="147320"/>
          </a:xfrm>
          <a:prstGeom prst="rect">
            <a:avLst/>
          </a:prstGeom>
        </p:spPr>
        <p:txBody>
          <a:bodyPr wrap="square" lIns="0" tIns="12065" rIns="0" bIns="0" rtlCol="0" vert="horz">
            <a:spAutoFit/>
          </a:bodyPr>
          <a:lstStyle/>
          <a:p>
            <a:pPr marL="12700">
              <a:lnSpc>
                <a:spcPct val="100000"/>
              </a:lnSpc>
              <a:spcBef>
                <a:spcPts val="95"/>
              </a:spcBef>
            </a:pPr>
            <a:r>
              <a:rPr dirty="0" sz="800" b="1">
                <a:latin typeface="Microsoft YaHei"/>
                <a:cs typeface="Microsoft YaHei"/>
              </a:rPr>
              <a:t>2370</a:t>
            </a:r>
            <a:r>
              <a:rPr dirty="0" sz="800" spc="315" b="1">
                <a:latin typeface="Microsoft YaHei"/>
                <a:cs typeface="Microsoft YaHei"/>
              </a:rPr>
              <a:t> </a:t>
            </a:r>
            <a:r>
              <a:rPr dirty="0" baseline="3472" sz="1200" spc="-30" b="1">
                <a:latin typeface="Microsoft YaHei"/>
                <a:cs typeface="Microsoft YaHei"/>
              </a:rPr>
              <a:t>2575</a:t>
            </a:r>
            <a:endParaRPr baseline="3472" sz="1200">
              <a:latin typeface="Microsoft YaHei"/>
              <a:cs typeface="Microsoft YaHei"/>
            </a:endParaRPr>
          </a:p>
        </p:txBody>
      </p:sp>
      <p:sp>
        <p:nvSpPr>
          <p:cNvPr id="12" name="object 12" descr=""/>
          <p:cNvSpPr txBox="1"/>
          <p:nvPr/>
        </p:nvSpPr>
        <p:spPr>
          <a:xfrm>
            <a:off x="7861757" y="1172362"/>
            <a:ext cx="1022350" cy="487680"/>
          </a:xfrm>
          <a:prstGeom prst="rect">
            <a:avLst/>
          </a:prstGeom>
          <a:solidFill>
            <a:srgbClr val="333399"/>
          </a:solidFill>
        </p:spPr>
        <p:txBody>
          <a:bodyPr wrap="square" lIns="0" tIns="62865" rIns="0" bIns="0" rtlCol="0" vert="horz">
            <a:spAutoFit/>
          </a:bodyPr>
          <a:lstStyle/>
          <a:p>
            <a:pPr>
              <a:lnSpc>
                <a:spcPct val="100000"/>
              </a:lnSpc>
              <a:spcBef>
                <a:spcPts val="495"/>
              </a:spcBef>
            </a:pPr>
            <a:endParaRPr sz="800">
              <a:latin typeface="Times New Roman"/>
              <a:cs typeface="Times New Roman"/>
            </a:endParaRPr>
          </a:p>
          <a:p>
            <a:pPr algn="ctr">
              <a:lnSpc>
                <a:spcPct val="100000"/>
              </a:lnSpc>
            </a:pPr>
            <a:r>
              <a:rPr dirty="0" sz="800" spc="-10" b="1">
                <a:solidFill>
                  <a:srgbClr val="FFFFFF"/>
                </a:solidFill>
                <a:latin typeface="Arial"/>
                <a:cs typeface="Arial"/>
              </a:rPr>
              <a:t>60MHz</a:t>
            </a:r>
            <a:endParaRPr sz="800">
              <a:latin typeface="Arial"/>
              <a:cs typeface="Arial"/>
            </a:endParaRPr>
          </a:p>
        </p:txBody>
      </p:sp>
      <p:sp>
        <p:nvSpPr>
          <p:cNvPr id="13" name="object 13" descr=""/>
          <p:cNvSpPr txBox="1"/>
          <p:nvPr/>
        </p:nvSpPr>
        <p:spPr>
          <a:xfrm>
            <a:off x="8745468" y="1690364"/>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2635</a:t>
            </a:r>
            <a:endParaRPr sz="800">
              <a:latin typeface="Microsoft YaHei"/>
              <a:cs typeface="Microsoft YaHei"/>
            </a:endParaRPr>
          </a:p>
        </p:txBody>
      </p:sp>
      <p:sp>
        <p:nvSpPr>
          <p:cNvPr id="14" name="object 14" descr=""/>
          <p:cNvSpPr txBox="1"/>
          <p:nvPr/>
        </p:nvSpPr>
        <p:spPr>
          <a:xfrm>
            <a:off x="1899140" y="1688540"/>
            <a:ext cx="718185" cy="147320"/>
          </a:xfrm>
          <a:prstGeom prst="rect">
            <a:avLst/>
          </a:prstGeom>
        </p:spPr>
        <p:txBody>
          <a:bodyPr wrap="square" lIns="0" tIns="12065" rIns="0" bIns="0" rtlCol="0" vert="horz">
            <a:spAutoFit/>
          </a:bodyPr>
          <a:lstStyle/>
          <a:p>
            <a:pPr marL="12700">
              <a:lnSpc>
                <a:spcPct val="100000"/>
              </a:lnSpc>
              <a:spcBef>
                <a:spcPts val="95"/>
              </a:spcBef>
              <a:tabLst>
                <a:tab pos="517525" algn="l"/>
              </a:tabLst>
            </a:pPr>
            <a:r>
              <a:rPr dirty="0" sz="800" spc="-25" b="1">
                <a:latin typeface="Microsoft YaHei"/>
                <a:cs typeface="Microsoft YaHei"/>
              </a:rPr>
              <a:t>935</a:t>
            </a:r>
            <a:r>
              <a:rPr dirty="0" sz="800" b="1">
                <a:latin typeface="Microsoft YaHei"/>
                <a:cs typeface="Microsoft YaHei"/>
              </a:rPr>
              <a:t>	</a:t>
            </a:r>
            <a:r>
              <a:rPr dirty="0" sz="800" spc="-25" b="1">
                <a:latin typeface="Microsoft YaHei"/>
                <a:cs typeface="Microsoft YaHei"/>
              </a:rPr>
              <a:t>954</a:t>
            </a:r>
            <a:endParaRPr sz="800">
              <a:latin typeface="Microsoft YaHei"/>
              <a:cs typeface="Microsoft YaHei"/>
            </a:endParaRPr>
          </a:p>
        </p:txBody>
      </p:sp>
      <p:sp>
        <p:nvSpPr>
          <p:cNvPr id="15" name="object 15" descr=""/>
          <p:cNvSpPr txBox="1"/>
          <p:nvPr/>
        </p:nvSpPr>
        <p:spPr>
          <a:xfrm>
            <a:off x="1938591" y="1172362"/>
            <a:ext cx="605155" cy="497840"/>
          </a:xfrm>
          <a:prstGeom prst="rect">
            <a:avLst/>
          </a:prstGeom>
          <a:solidFill>
            <a:srgbClr val="00B050"/>
          </a:solidFill>
        </p:spPr>
        <p:txBody>
          <a:bodyPr wrap="square" lIns="0" tIns="66675" rIns="0" bIns="0" rtlCol="0" vert="horz">
            <a:spAutoFit/>
          </a:bodyPr>
          <a:lstStyle/>
          <a:p>
            <a:pPr>
              <a:lnSpc>
                <a:spcPct val="100000"/>
              </a:lnSpc>
              <a:spcBef>
                <a:spcPts val="525"/>
              </a:spcBef>
            </a:pPr>
            <a:endParaRPr sz="800">
              <a:latin typeface="Times New Roman"/>
              <a:cs typeface="Times New Roman"/>
            </a:endParaRPr>
          </a:p>
          <a:p>
            <a:pPr marL="120014">
              <a:lnSpc>
                <a:spcPct val="100000"/>
              </a:lnSpc>
            </a:pPr>
            <a:r>
              <a:rPr dirty="0" sz="800" spc="-10" b="1">
                <a:solidFill>
                  <a:srgbClr val="FFFFFF"/>
                </a:solidFill>
                <a:latin typeface="Microsoft YaHei"/>
                <a:cs typeface="Microsoft YaHei"/>
              </a:rPr>
              <a:t>19MHz</a:t>
            </a:r>
            <a:endParaRPr sz="800">
              <a:latin typeface="Microsoft YaHei"/>
              <a:cs typeface="Microsoft YaHei"/>
            </a:endParaRPr>
          </a:p>
        </p:txBody>
      </p:sp>
      <p:sp>
        <p:nvSpPr>
          <p:cNvPr id="16" name="object 16" descr=""/>
          <p:cNvSpPr txBox="1"/>
          <p:nvPr/>
        </p:nvSpPr>
        <p:spPr>
          <a:xfrm>
            <a:off x="4959845" y="1172362"/>
            <a:ext cx="982980" cy="498475"/>
          </a:xfrm>
          <a:prstGeom prst="rect">
            <a:avLst/>
          </a:prstGeom>
          <a:solidFill>
            <a:srgbClr val="333399"/>
          </a:solidFill>
        </p:spPr>
        <p:txBody>
          <a:bodyPr wrap="square" lIns="0" tIns="69215" rIns="0" bIns="0" rtlCol="0" vert="horz">
            <a:spAutoFit/>
          </a:bodyPr>
          <a:lstStyle/>
          <a:p>
            <a:pPr>
              <a:lnSpc>
                <a:spcPct val="100000"/>
              </a:lnSpc>
              <a:spcBef>
                <a:spcPts val="545"/>
              </a:spcBef>
            </a:pPr>
            <a:endParaRPr sz="800">
              <a:latin typeface="Times New Roman"/>
              <a:cs typeface="Times New Roman"/>
            </a:endParaRPr>
          </a:p>
          <a:p>
            <a:pPr marL="83820">
              <a:lnSpc>
                <a:spcPct val="100000"/>
              </a:lnSpc>
              <a:tabLst>
                <a:tab pos="603250" algn="l"/>
              </a:tabLst>
            </a:pPr>
            <a:r>
              <a:rPr dirty="0" sz="800" spc="-10" b="1">
                <a:solidFill>
                  <a:srgbClr val="FFFFFF"/>
                </a:solidFill>
                <a:latin typeface="Microsoft YaHei"/>
                <a:cs typeface="Microsoft YaHei"/>
              </a:rPr>
              <a:t>20MHz</a:t>
            </a:r>
            <a:r>
              <a:rPr dirty="0" sz="800" b="1">
                <a:solidFill>
                  <a:srgbClr val="FFFFFF"/>
                </a:solidFill>
                <a:latin typeface="Microsoft YaHei"/>
                <a:cs typeface="Microsoft YaHei"/>
              </a:rPr>
              <a:t>	</a:t>
            </a:r>
            <a:r>
              <a:rPr dirty="0" sz="800" spc="-10" b="1">
                <a:solidFill>
                  <a:srgbClr val="FFFFFF"/>
                </a:solidFill>
                <a:latin typeface="Arial"/>
                <a:cs typeface="Arial"/>
              </a:rPr>
              <a:t>10MHz</a:t>
            </a:r>
            <a:endParaRPr sz="800">
              <a:latin typeface="Arial"/>
              <a:cs typeface="Arial"/>
            </a:endParaRPr>
          </a:p>
        </p:txBody>
      </p:sp>
      <p:sp>
        <p:nvSpPr>
          <p:cNvPr id="17" name="object 17" descr=""/>
          <p:cNvSpPr txBox="1"/>
          <p:nvPr/>
        </p:nvSpPr>
        <p:spPr>
          <a:xfrm>
            <a:off x="1193863" y="2211704"/>
            <a:ext cx="440055" cy="497840"/>
          </a:xfrm>
          <a:prstGeom prst="rect">
            <a:avLst/>
          </a:prstGeom>
          <a:solidFill>
            <a:srgbClr val="C00000"/>
          </a:solidFill>
        </p:spPr>
        <p:txBody>
          <a:bodyPr wrap="square" lIns="0" tIns="67945" rIns="0" bIns="0" rtlCol="0" vert="horz">
            <a:spAutoFit/>
          </a:bodyPr>
          <a:lstStyle/>
          <a:p>
            <a:pPr>
              <a:lnSpc>
                <a:spcPct val="100000"/>
              </a:lnSpc>
              <a:spcBef>
                <a:spcPts val="535"/>
              </a:spcBef>
            </a:pPr>
            <a:endParaRPr sz="800">
              <a:latin typeface="Times New Roman"/>
              <a:cs typeface="Times New Roman"/>
            </a:endParaRPr>
          </a:p>
          <a:p>
            <a:pPr marL="64769">
              <a:lnSpc>
                <a:spcPct val="100000"/>
              </a:lnSpc>
              <a:spcBef>
                <a:spcPts val="5"/>
              </a:spcBef>
            </a:pPr>
            <a:r>
              <a:rPr dirty="0" sz="800" spc="-10" b="1">
                <a:solidFill>
                  <a:srgbClr val="FFFFFF"/>
                </a:solidFill>
                <a:latin typeface="Arial"/>
                <a:cs typeface="Arial"/>
              </a:rPr>
              <a:t>10Mhz</a:t>
            </a:r>
            <a:endParaRPr sz="800">
              <a:latin typeface="Arial"/>
              <a:cs typeface="Arial"/>
            </a:endParaRPr>
          </a:p>
        </p:txBody>
      </p:sp>
      <p:sp>
        <p:nvSpPr>
          <p:cNvPr id="18" name="object 18" descr=""/>
          <p:cNvSpPr txBox="1"/>
          <p:nvPr/>
        </p:nvSpPr>
        <p:spPr>
          <a:xfrm>
            <a:off x="1056686" y="2738605"/>
            <a:ext cx="1365885" cy="147320"/>
          </a:xfrm>
          <a:prstGeom prst="rect">
            <a:avLst/>
          </a:prstGeom>
        </p:spPr>
        <p:txBody>
          <a:bodyPr wrap="square" lIns="0" tIns="12065" rIns="0" bIns="0" rtlCol="0" vert="horz">
            <a:spAutoFit/>
          </a:bodyPr>
          <a:lstStyle/>
          <a:p>
            <a:pPr marL="12700">
              <a:lnSpc>
                <a:spcPct val="100000"/>
              </a:lnSpc>
              <a:spcBef>
                <a:spcPts val="95"/>
              </a:spcBef>
              <a:tabLst>
                <a:tab pos="443865" algn="l"/>
                <a:tab pos="788670" algn="l"/>
                <a:tab pos="1164590" algn="l"/>
              </a:tabLst>
            </a:pPr>
            <a:r>
              <a:rPr dirty="0" sz="800" spc="-25" b="1">
                <a:latin typeface="Microsoft YaHei"/>
                <a:cs typeface="Microsoft YaHei"/>
              </a:rPr>
              <a:t>821</a:t>
            </a:r>
            <a:r>
              <a:rPr dirty="0" sz="800" b="1">
                <a:latin typeface="Microsoft YaHei"/>
                <a:cs typeface="Microsoft YaHei"/>
              </a:rPr>
              <a:t>	</a:t>
            </a:r>
            <a:r>
              <a:rPr dirty="0" sz="800" spc="-25" b="1">
                <a:latin typeface="Microsoft YaHei"/>
                <a:cs typeface="Microsoft YaHei"/>
              </a:rPr>
              <a:t>835</a:t>
            </a:r>
            <a:r>
              <a:rPr dirty="0" sz="800" b="1">
                <a:latin typeface="Microsoft YaHei"/>
                <a:cs typeface="Microsoft YaHei"/>
              </a:rPr>
              <a:t>	</a:t>
            </a:r>
            <a:r>
              <a:rPr dirty="0" sz="800" spc="-25" b="1">
                <a:latin typeface="Microsoft YaHei"/>
                <a:cs typeface="Microsoft YaHei"/>
              </a:rPr>
              <a:t>866</a:t>
            </a:r>
            <a:r>
              <a:rPr dirty="0" sz="800" b="1">
                <a:latin typeface="Microsoft YaHei"/>
                <a:cs typeface="Microsoft YaHei"/>
              </a:rPr>
              <a:t>	</a:t>
            </a:r>
            <a:r>
              <a:rPr dirty="0" sz="800" spc="-25" b="1">
                <a:latin typeface="Microsoft YaHei"/>
                <a:cs typeface="Microsoft YaHei"/>
              </a:rPr>
              <a:t>880</a:t>
            </a:r>
            <a:endParaRPr sz="800">
              <a:latin typeface="Microsoft YaHei"/>
              <a:cs typeface="Microsoft YaHei"/>
            </a:endParaRPr>
          </a:p>
        </p:txBody>
      </p:sp>
      <p:sp>
        <p:nvSpPr>
          <p:cNvPr id="19" name="object 19" descr=""/>
          <p:cNvSpPr txBox="1"/>
          <p:nvPr/>
        </p:nvSpPr>
        <p:spPr>
          <a:xfrm>
            <a:off x="1913001" y="2211704"/>
            <a:ext cx="441325" cy="497840"/>
          </a:xfrm>
          <a:prstGeom prst="rect">
            <a:avLst/>
          </a:prstGeom>
          <a:solidFill>
            <a:srgbClr val="00B050"/>
          </a:solidFill>
        </p:spPr>
        <p:txBody>
          <a:bodyPr wrap="square" lIns="0" tIns="67945" rIns="0" bIns="0" rtlCol="0" vert="horz">
            <a:spAutoFit/>
          </a:bodyPr>
          <a:lstStyle/>
          <a:p>
            <a:pPr>
              <a:lnSpc>
                <a:spcPct val="100000"/>
              </a:lnSpc>
              <a:spcBef>
                <a:spcPts val="535"/>
              </a:spcBef>
            </a:pPr>
            <a:endParaRPr sz="800">
              <a:latin typeface="Times New Roman"/>
              <a:cs typeface="Times New Roman"/>
            </a:endParaRPr>
          </a:p>
          <a:p>
            <a:pPr marL="59690">
              <a:lnSpc>
                <a:spcPct val="100000"/>
              </a:lnSpc>
              <a:spcBef>
                <a:spcPts val="5"/>
              </a:spcBef>
            </a:pPr>
            <a:r>
              <a:rPr dirty="0" sz="800" spc="-10" b="1">
                <a:solidFill>
                  <a:srgbClr val="FFFFFF"/>
                </a:solidFill>
                <a:latin typeface="Arial"/>
                <a:cs typeface="Arial"/>
              </a:rPr>
              <a:t>10MHz</a:t>
            </a:r>
            <a:endParaRPr sz="800">
              <a:latin typeface="Arial"/>
              <a:cs typeface="Arial"/>
            </a:endParaRPr>
          </a:p>
        </p:txBody>
      </p:sp>
      <p:sp>
        <p:nvSpPr>
          <p:cNvPr id="20" name="object 20" descr=""/>
          <p:cNvSpPr txBox="1"/>
          <p:nvPr/>
        </p:nvSpPr>
        <p:spPr>
          <a:xfrm>
            <a:off x="5239093" y="2211704"/>
            <a:ext cx="764540" cy="496570"/>
          </a:xfrm>
          <a:prstGeom prst="rect">
            <a:avLst/>
          </a:prstGeom>
          <a:solidFill>
            <a:srgbClr val="C00000"/>
          </a:solidFill>
        </p:spPr>
        <p:txBody>
          <a:bodyPr wrap="square" lIns="0" tIns="67310" rIns="0" bIns="0" rtlCol="0" vert="horz">
            <a:spAutoFit/>
          </a:bodyPr>
          <a:lstStyle/>
          <a:p>
            <a:pPr>
              <a:lnSpc>
                <a:spcPct val="100000"/>
              </a:lnSpc>
              <a:spcBef>
                <a:spcPts val="530"/>
              </a:spcBef>
            </a:pPr>
            <a:endParaRPr sz="800">
              <a:latin typeface="Times New Roman"/>
              <a:cs typeface="Times New Roman"/>
            </a:endParaRPr>
          </a:p>
          <a:p>
            <a:pPr marL="220979">
              <a:lnSpc>
                <a:spcPct val="100000"/>
              </a:lnSpc>
              <a:spcBef>
                <a:spcPts val="5"/>
              </a:spcBef>
            </a:pPr>
            <a:r>
              <a:rPr dirty="0" sz="800" spc="-10" b="1">
                <a:solidFill>
                  <a:srgbClr val="FFFFFF"/>
                </a:solidFill>
                <a:latin typeface="Arial"/>
                <a:cs typeface="Arial"/>
              </a:rPr>
              <a:t>20MHz</a:t>
            </a:r>
            <a:endParaRPr sz="800">
              <a:latin typeface="Arial"/>
              <a:cs typeface="Arial"/>
            </a:endParaRPr>
          </a:p>
        </p:txBody>
      </p:sp>
      <p:sp>
        <p:nvSpPr>
          <p:cNvPr id="21" name="object 21" descr=""/>
          <p:cNvSpPr txBox="1"/>
          <p:nvPr/>
        </p:nvSpPr>
        <p:spPr>
          <a:xfrm>
            <a:off x="5188798" y="2722606"/>
            <a:ext cx="1718945" cy="147320"/>
          </a:xfrm>
          <a:prstGeom prst="rect">
            <a:avLst/>
          </a:prstGeom>
        </p:spPr>
        <p:txBody>
          <a:bodyPr wrap="square" lIns="0" tIns="12065" rIns="0" bIns="0" rtlCol="0" vert="horz">
            <a:spAutoFit/>
          </a:bodyPr>
          <a:lstStyle/>
          <a:p>
            <a:pPr marL="12700">
              <a:lnSpc>
                <a:spcPct val="100000"/>
              </a:lnSpc>
              <a:spcBef>
                <a:spcPts val="95"/>
              </a:spcBef>
              <a:tabLst>
                <a:tab pos="505459" algn="l"/>
                <a:tab pos="962025" algn="l"/>
                <a:tab pos="1455420" algn="l"/>
              </a:tabLst>
            </a:pPr>
            <a:r>
              <a:rPr dirty="0" sz="800" spc="-20" b="1">
                <a:latin typeface="Microsoft YaHei"/>
                <a:cs typeface="Microsoft YaHei"/>
              </a:rPr>
              <a:t>1920</a:t>
            </a:r>
            <a:r>
              <a:rPr dirty="0" sz="800" b="1">
                <a:latin typeface="Microsoft YaHei"/>
                <a:cs typeface="Microsoft YaHei"/>
              </a:rPr>
              <a:t>	</a:t>
            </a:r>
            <a:r>
              <a:rPr dirty="0" sz="800" spc="-20" b="1">
                <a:latin typeface="Microsoft YaHei"/>
                <a:cs typeface="Microsoft YaHei"/>
              </a:rPr>
              <a:t>1940</a:t>
            </a:r>
            <a:r>
              <a:rPr dirty="0" sz="800" b="1">
                <a:latin typeface="Microsoft YaHei"/>
                <a:cs typeface="Microsoft YaHei"/>
              </a:rPr>
              <a:t>	</a:t>
            </a:r>
            <a:r>
              <a:rPr dirty="0" sz="800" spc="-20" b="1">
                <a:latin typeface="Microsoft YaHei"/>
                <a:cs typeface="Microsoft YaHei"/>
              </a:rPr>
              <a:t>2110</a:t>
            </a:r>
            <a:r>
              <a:rPr dirty="0" sz="800" b="1">
                <a:latin typeface="Microsoft YaHei"/>
                <a:cs typeface="Microsoft YaHei"/>
              </a:rPr>
              <a:t>	</a:t>
            </a:r>
            <a:r>
              <a:rPr dirty="0" sz="800" spc="-20" b="1">
                <a:latin typeface="Microsoft YaHei"/>
                <a:cs typeface="Microsoft YaHei"/>
              </a:rPr>
              <a:t>2130</a:t>
            </a:r>
            <a:endParaRPr sz="800">
              <a:latin typeface="Microsoft YaHei"/>
              <a:cs typeface="Microsoft YaHei"/>
            </a:endParaRPr>
          </a:p>
        </p:txBody>
      </p:sp>
      <p:sp>
        <p:nvSpPr>
          <p:cNvPr id="22" name="object 22" descr=""/>
          <p:cNvSpPr txBox="1"/>
          <p:nvPr/>
        </p:nvSpPr>
        <p:spPr>
          <a:xfrm>
            <a:off x="6202654" y="2211704"/>
            <a:ext cx="764540" cy="496570"/>
          </a:xfrm>
          <a:prstGeom prst="rect">
            <a:avLst/>
          </a:prstGeom>
          <a:solidFill>
            <a:srgbClr val="00B050"/>
          </a:solidFill>
        </p:spPr>
        <p:txBody>
          <a:bodyPr wrap="square" lIns="0" tIns="67310" rIns="0" bIns="0" rtlCol="0" vert="horz">
            <a:spAutoFit/>
          </a:bodyPr>
          <a:lstStyle/>
          <a:p>
            <a:pPr>
              <a:lnSpc>
                <a:spcPct val="100000"/>
              </a:lnSpc>
              <a:spcBef>
                <a:spcPts val="530"/>
              </a:spcBef>
            </a:pPr>
            <a:endParaRPr sz="800">
              <a:latin typeface="Times New Roman"/>
              <a:cs typeface="Times New Roman"/>
            </a:endParaRPr>
          </a:p>
          <a:p>
            <a:pPr marL="220979">
              <a:lnSpc>
                <a:spcPct val="100000"/>
              </a:lnSpc>
              <a:spcBef>
                <a:spcPts val="5"/>
              </a:spcBef>
            </a:pPr>
            <a:r>
              <a:rPr dirty="0" sz="800" spc="-10" b="1">
                <a:solidFill>
                  <a:srgbClr val="FFFFFF"/>
                </a:solidFill>
                <a:latin typeface="Arial"/>
                <a:cs typeface="Arial"/>
              </a:rPr>
              <a:t>20MHz</a:t>
            </a:r>
            <a:endParaRPr sz="800">
              <a:latin typeface="Arial"/>
              <a:cs typeface="Arial"/>
            </a:endParaRPr>
          </a:p>
        </p:txBody>
      </p:sp>
      <p:sp>
        <p:nvSpPr>
          <p:cNvPr id="23" name="object 23" descr=""/>
          <p:cNvSpPr txBox="1"/>
          <p:nvPr/>
        </p:nvSpPr>
        <p:spPr>
          <a:xfrm>
            <a:off x="7401674" y="2211704"/>
            <a:ext cx="764540" cy="497840"/>
          </a:xfrm>
          <a:prstGeom prst="rect">
            <a:avLst/>
          </a:prstGeom>
          <a:solidFill>
            <a:srgbClr val="333399"/>
          </a:solidFill>
        </p:spPr>
        <p:txBody>
          <a:bodyPr wrap="square" lIns="0" tIns="67945" rIns="0" bIns="0" rtlCol="0" vert="horz">
            <a:spAutoFit/>
          </a:bodyPr>
          <a:lstStyle/>
          <a:p>
            <a:pPr>
              <a:lnSpc>
                <a:spcPct val="100000"/>
              </a:lnSpc>
              <a:spcBef>
                <a:spcPts val="535"/>
              </a:spcBef>
            </a:pPr>
            <a:endParaRPr sz="800">
              <a:latin typeface="Times New Roman"/>
              <a:cs typeface="Times New Roman"/>
            </a:endParaRPr>
          </a:p>
          <a:p>
            <a:pPr marL="220979">
              <a:lnSpc>
                <a:spcPct val="100000"/>
              </a:lnSpc>
            </a:pPr>
            <a:r>
              <a:rPr dirty="0" sz="800" spc="-10" b="1">
                <a:solidFill>
                  <a:srgbClr val="FFFFFF"/>
                </a:solidFill>
                <a:latin typeface="Arial"/>
                <a:cs typeface="Arial"/>
              </a:rPr>
              <a:t>20MHz</a:t>
            </a:r>
            <a:endParaRPr sz="800">
              <a:latin typeface="Arial"/>
              <a:cs typeface="Arial"/>
            </a:endParaRPr>
          </a:p>
        </p:txBody>
      </p:sp>
      <p:sp>
        <p:nvSpPr>
          <p:cNvPr id="24" name="object 24" descr=""/>
          <p:cNvSpPr txBox="1"/>
          <p:nvPr/>
        </p:nvSpPr>
        <p:spPr>
          <a:xfrm>
            <a:off x="7199261" y="2067699"/>
            <a:ext cx="1016000" cy="841375"/>
          </a:xfrm>
          <a:prstGeom prst="rect">
            <a:avLst/>
          </a:prstGeom>
          <a:ln w="25400">
            <a:solidFill>
              <a:srgbClr val="FF0000"/>
            </a:solidFill>
          </a:ln>
        </p:spPr>
        <p:txBody>
          <a:bodyPr wrap="square" lIns="0" tIns="0" rIns="0" bIns="0" rtlCol="0" vert="horz">
            <a:spAutoFit/>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655"/>
              </a:spcBef>
            </a:pPr>
            <a:endParaRPr sz="800">
              <a:latin typeface="Times New Roman"/>
              <a:cs typeface="Times New Roman"/>
            </a:endParaRPr>
          </a:p>
          <a:p>
            <a:pPr marL="72390">
              <a:lnSpc>
                <a:spcPct val="100000"/>
              </a:lnSpc>
              <a:tabLst>
                <a:tab pos="560705" algn="l"/>
              </a:tabLst>
            </a:pPr>
            <a:r>
              <a:rPr dirty="0" sz="800" spc="-20" b="1">
                <a:latin typeface="Microsoft YaHei"/>
                <a:cs typeface="Microsoft YaHei"/>
              </a:rPr>
              <a:t>2635</a:t>
            </a:r>
            <a:r>
              <a:rPr dirty="0" sz="800" b="1">
                <a:latin typeface="Microsoft YaHei"/>
                <a:cs typeface="Microsoft YaHei"/>
              </a:rPr>
              <a:t>	</a:t>
            </a:r>
            <a:r>
              <a:rPr dirty="0" sz="800" spc="-20" b="1">
                <a:latin typeface="Microsoft YaHei"/>
                <a:cs typeface="Microsoft YaHei"/>
              </a:rPr>
              <a:t>2655</a:t>
            </a:r>
            <a:endParaRPr sz="800">
              <a:latin typeface="Microsoft YaHei"/>
              <a:cs typeface="Microsoft YaHei"/>
            </a:endParaRPr>
          </a:p>
        </p:txBody>
      </p:sp>
      <p:sp>
        <p:nvSpPr>
          <p:cNvPr id="25" name="object 25" descr=""/>
          <p:cNvSpPr txBox="1"/>
          <p:nvPr/>
        </p:nvSpPr>
        <p:spPr>
          <a:xfrm>
            <a:off x="2656900" y="2722606"/>
            <a:ext cx="636270" cy="147320"/>
          </a:xfrm>
          <a:prstGeom prst="rect">
            <a:avLst/>
          </a:prstGeom>
        </p:spPr>
        <p:txBody>
          <a:bodyPr wrap="square" lIns="0" tIns="12065" rIns="0" bIns="0" rtlCol="0" vert="horz">
            <a:spAutoFit/>
          </a:bodyPr>
          <a:lstStyle/>
          <a:p>
            <a:pPr marL="12700">
              <a:lnSpc>
                <a:spcPct val="100000"/>
              </a:lnSpc>
              <a:spcBef>
                <a:spcPts val="95"/>
              </a:spcBef>
            </a:pPr>
            <a:r>
              <a:rPr dirty="0" sz="800" b="1">
                <a:latin typeface="Microsoft YaHei"/>
                <a:cs typeface="Microsoft YaHei"/>
              </a:rPr>
              <a:t>1765</a:t>
            </a:r>
            <a:r>
              <a:rPr dirty="0" sz="800" spc="185" b="1">
                <a:latin typeface="Microsoft YaHei"/>
                <a:cs typeface="Microsoft YaHei"/>
              </a:rPr>
              <a:t>  </a:t>
            </a:r>
            <a:r>
              <a:rPr dirty="0" sz="800" spc="-20" b="1">
                <a:latin typeface="Microsoft YaHei"/>
                <a:cs typeface="Microsoft YaHei"/>
              </a:rPr>
              <a:t>1785</a:t>
            </a:r>
            <a:endParaRPr sz="800">
              <a:latin typeface="Microsoft YaHei"/>
              <a:cs typeface="Microsoft YaHei"/>
            </a:endParaRPr>
          </a:p>
        </p:txBody>
      </p:sp>
      <p:sp>
        <p:nvSpPr>
          <p:cNvPr id="26" name="object 26" descr=""/>
          <p:cNvSpPr txBox="1"/>
          <p:nvPr/>
        </p:nvSpPr>
        <p:spPr>
          <a:xfrm>
            <a:off x="2731312" y="2211704"/>
            <a:ext cx="764540" cy="496570"/>
          </a:xfrm>
          <a:prstGeom prst="rect">
            <a:avLst/>
          </a:prstGeom>
          <a:solidFill>
            <a:srgbClr val="C00000"/>
          </a:solidFill>
        </p:spPr>
        <p:txBody>
          <a:bodyPr wrap="square" lIns="0" tIns="67310" rIns="0" bIns="0" rtlCol="0" vert="horz">
            <a:spAutoFit/>
          </a:bodyPr>
          <a:lstStyle/>
          <a:p>
            <a:pPr>
              <a:lnSpc>
                <a:spcPct val="100000"/>
              </a:lnSpc>
              <a:spcBef>
                <a:spcPts val="530"/>
              </a:spcBef>
            </a:pPr>
            <a:endParaRPr sz="800">
              <a:latin typeface="Times New Roman"/>
              <a:cs typeface="Times New Roman"/>
            </a:endParaRPr>
          </a:p>
          <a:p>
            <a:pPr marL="220979">
              <a:lnSpc>
                <a:spcPct val="100000"/>
              </a:lnSpc>
              <a:spcBef>
                <a:spcPts val="5"/>
              </a:spcBef>
            </a:pPr>
            <a:r>
              <a:rPr dirty="0" sz="800" spc="-10" b="1">
                <a:solidFill>
                  <a:srgbClr val="FFFFFF"/>
                </a:solidFill>
                <a:latin typeface="Arial"/>
                <a:cs typeface="Arial"/>
              </a:rPr>
              <a:t>20MHz</a:t>
            </a:r>
            <a:endParaRPr sz="800">
              <a:latin typeface="Arial"/>
              <a:cs typeface="Arial"/>
            </a:endParaRPr>
          </a:p>
        </p:txBody>
      </p:sp>
      <p:sp>
        <p:nvSpPr>
          <p:cNvPr id="27" name="object 27" descr=""/>
          <p:cNvSpPr txBox="1"/>
          <p:nvPr/>
        </p:nvSpPr>
        <p:spPr>
          <a:xfrm>
            <a:off x="3915876" y="2722606"/>
            <a:ext cx="686435" cy="147320"/>
          </a:xfrm>
          <a:prstGeom prst="rect">
            <a:avLst/>
          </a:prstGeom>
        </p:spPr>
        <p:txBody>
          <a:bodyPr wrap="square" lIns="0" tIns="12065" rIns="0" bIns="0" rtlCol="0" vert="horz">
            <a:spAutoFit/>
          </a:bodyPr>
          <a:lstStyle/>
          <a:p>
            <a:pPr marL="12700">
              <a:lnSpc>
                <a:spcPct val="100000"/>
              </a:lnSpc>
              <a:spcBef>
                <a:spcPts val="95"/>
              </a:spcBef>
              <a:tabLst>
                <a:tab pos="422909" algn="l"/>
              </a:tabLst>
            </a:pPr>
            <a:r>
              <a:rPr dirty="0" sz="800" spc="-20" b="1">
                <a:latin typeface="Microsoft YaHei"/>
                <a:cs typeface="Microsoft YaHei"/>
              </a:rPr>
              <a:t>1860</a:t>
            </a:r>
            <a:r>
              <a:rPr dirty="0" sz="800" b="1">
                <a:latin typeface="Microsoft YaHei"/>
                <a:cs typeface="Microsoft YaHei"/>
              </a:rPr>
              <a:t>	</a:t>
            </a:r>
            <a:r>
              <a:rPr dirty="0" sz="800" spc="-20" b="1">
                <a:latin typeface="Microsoft YaHei"/>
                <a:cs typeface="Microsoft YaHei"/>
              </a:rPr>
              <a:t>1880</a:t>
            </a:r>
            <a:endParaRPr sz="800">
              <a:latin typeface="Microsoft YaHei"/>
              <a:cs typeface="Microsoft YaHei"/>
            </a:endParaRPr>
          </a:p>
        </p:txBody>
      </p:sp>
      <p:sp>
        <p:nvSpPr>
          <p:cNvPr id="28" name="object 28" descr=""/>
          <p:cNvSpPr txBox="1"/>
          <p:nvPr/>
        </p:nvSpPr>
        <p:spPr>
          <a:xfrm>
            <a:off x="3886415" y="2211704"/>
            <a:ext cx="764540" cy="496570"/>
          </a:xfrm>
          <a:prstGeom prst="rect">
            <a:avLst/>
          </a:prstGeom>
          <a:solidFill>
            <a:srgbClr val="00B050"/>
          </a:solidFill>
        </p:spPr>
        <p:txBody>
          <a:bodyPr wrap="square" lIns="0" tIns="67310" rIns="0" bIns="0" rtlCol="0" vert="horz">
            <a:spAutoFit/>
          </a:bodyPr>
          <a:lstStyle/>
          <a:p>
            <a:pPr>
              <a:lnSpc>
                <a:spcPct val="100000"/>
              </a:lnSpc>
              <a:spcBef>
                <a:spcPts val="530"/>
              </a:spcBef>
            </a:pPr>
            <a:endParaRPr sz="800">
              <a:latin typeface="Times New Roman"/>
              <a:cs typeface="Times New Roman"/>
            </a:endParaRPr>
          </a:p>
          <a:p>
            <a:pPr marL="220979">
              <a:lnSpc>
                <a:spcPct val="100000"/>
              </a:lnSpc>
              <a:spcBef>
                <a:spcPts val="5"/>
              </a:spcBef>
            </a:pPr>
            <a:r>
              <a:rPr dirty="0" sz="800" spc="-10" b="1">
                <a:solidFill>
                  <a:srgbClr val="FFFFFF"/>
                </a:solidFill>
                <a:latin typeface="Arial"/>
                <a:cs typeface="Arial"/>
              </a:rPr>
              <a:t>20MHz</a:t>
            </a:r>
            <a:endParaRPr sz="800">
              <a:latin typeface="Arial"/>
              <a:cs typeface="Arial"/>
            </a:endParaRPr>
          </a:p>
        </p:txBody>
      </p:sp>
      <p:sp>
        <p:nvSpPr>
          <p:cNvPr id="29" name="object 29" descr=""/>
          <p:cNvSpPr txBox="1"/>
          <p:nvPr/>
        </p:nvSpPr>
        <p:spPr>
          <a:xfrm>
            <a:off x="778433" y="3363836"/>
            <a:ext cx="344805" cy="497205"/>
          </a:xfrm>
          <a:prstGeom prst="rect">
            <a:avLst/>
          </a:prstGeom>
          <a:solidFill>
            <a:srgbClr val="C00000"/>
          </a:solidFill>
        </p:spPr>
        <p:txBody>
          <a:bodyPr wrap="square" lIns="0" tIns="67945" rIns="0" bIns="0" rtlCol="0" vert="horz">
            <a:spAutoFit/>
          </a:bodyPr>
          <a:lstStyle/>
          <a:p>
            <a:pPr>
              <a:lnSpc>
                <a:spcPct val="100000"/>
              </a:lnSpc>
              <a:spcBef>
                <a:spcPts val="535"/>
              </a:spcBef>
            </a:pPr>
            <a:endParaRPr sz="800">
              <a:latin typeface="Times New Roman"/>
              <a:cs typeface="Times New Roman"/>
            </a:endParaRPr>
          </a:p>
          <a:p>
            <a:pPr marL="40005">
              <a:lnSpc>
                <a:spcPct val="100000"/>
              </a:lnSpc>
            </a:pPr>
            <a:r>
              <a:rPr dirty="0" sz="800" spc="-20" b="1">
                <a:solidFill>
                  <a:srgbClr val="FFFFFF"/>
                </a:solidFill>
                <a:latin typeface="Arial"/>
                <a:cs typeface="Arial"/>
              </a:rPr>
              <a:t>6MHz</a:t>
            </a:r>
            <a:endParaRPr sz="800">
              <a:latin typeface="Arial"/>
              <a:cs typeface="Arial"/>
            </a:endParaRPr>
          </a:p>
        </p:txBody>
      </p:sp>
      <p:sp>
        <p:nvSpPr>
          <p:cNvPr id="30" name="object 30" descr=""/>
          <p:cNvSpPr txBox="1"/>
          <p:nvPr/>
        </p:nvSpPr>
        <p:spPr>
          <a:xfrm>
            <a:off x="625411" y="3900873"/>
            <a:ext cx="213360" cy="147320"/>
          </a:xfrm>
          <a:prstGeom prst="rect">
            <a:avLst/>
          </a:prstGeom>
        </p:spPr>
        <p:txBody>
          <a:bodyPr wrap="square" lIns="0" tIns="12065" rIns="0" bIns="0" rtlCol="0" vert="horz">
            <a:spAutoFit/>
          </a:bodyPr>
          <a:lstStyle/>
          <a:p>
            <a:pPr marL="12700">
              <a:lnSpc>
                <a:spcPct val="100000"/>
              </a:lnSpc>
              <a:spcBef>
                <a:spcPts val="95"/>
              </a:spcBef>
            </a:pPr>
            <a:r>
              <a:rPr dirty="0" sz="800" spc="-25" b="1">
                <a:latin typeface="Microsoft YaHei"/>
                <a:cs typeface="Microsoft YaHei"/>
              </a:rPr>
              <a:t>909</a:t>
            </a:r>
            <a:endParaRPr sz="800">
              <a:latin typeface="Microsoft YaHei"/>
              <a:cs typeface="Microsoft YaHei"/>
            </a:endParaRPr>
          </a:p>
        </p:txBody>
      </p:sp>
      <p:sp>
        <p:nvSpPr>
          <p:cNvPr id="31" name="object 31" descr=""/>
          <p:cNvSpPr txBox="1"/>
          <p:nvPr/>
        </p:nvSpPr>
        <p:spPr>
          <a:xfrm>
            <a:off x="914348" y="3890738"/>
            <a:ext cx="803910" cy="147320"/>
          </a:xfrm>
          <a:prstGeom prst="rect">
            <a:avLst/>
          </a:prstGeom>
        </p:spPr>
        <p:txBody>
          <a:bodyPr wrap="square" lIns="0" tIns="12065" rIns="0" bIns="0" rtlCol="0" vert="horz">
            <a:spAutoFit/>
          </a:bodyPr>
          <a:lstStyle/>
          <a:p>
            <a:pPr marL="12700">
              <a:lnSpc>
                <a:spcPct val="100000"/>
              </a:lnSpc>
              <a:spcBef>
                <a:spcPts val="95"/>
              </a:spcBef>
            </a:pPr>
            <a:r>
              <a:rPr dirty="0" sz="800" b="1">
                <a:latin typeface="Microsoft YaHei"/>
                <a:cs typeface="Microsoft YaHei"/>
              </a:rPr>
              <a:t>915</a:t>
            </a:r>
            <a:r>
              <a:rPr dirty="0" sz="800" spc="240" b="1">
                <a:latin typeface="Microsoft YaHei"/>
                <a:cs typeface="Microsoft YaHei"/>
              </a:rPr>
              <a:t>  </a:t>
            </a:r>
            <a:r>
              <a:rPr dirty="0" sz="800" b="1">
                <a:latin typeface="Microsoft YaHei"/>
                <a:cs typeface="Microsoft YaHei"/>
              </a:rPr>
              <a:t>954</a:t>
            </a:r>
            <a:r>
              <a:rPr dirty="0" sz="800" spc="480" b="1">
                <a:latin typeface="Microsoft YaHei"/>
                <a:cs typeface="Microsoft YaHei"/>
              </a:rPr>
              <a:t> </a:t>
            </a:r>
            <a:r>
              <a:rPr dirty="0" sz="800" spc="-25" b="1">
                <a:latin typeface="Microsoft YaHei"/>
                <a:cs typeface="Microsoft YaHei"/>
              </a:rPr>
              <a:t>960</a:t>
            </a:r>
            <a:endParaRPr sz="800">
              <a:latin typeface="Microsoft YaHei"/>
              <a:cs typeface="Microsoft YaHei"/>
            </a:endParaRPr>
          </a:p>
        </p:txBody>
      </p:sp>
      <p:sp>
        <p:nvSpPr>
          <p:cNvPr id="32" name="object 32" descr=""/>
          <p:cNvSpPr txBox="1"/>
          <p:nvPr/>
        </p:nvSpPr>
        <p:spPr>
          <a:xfrm>
            <a:off x="1378508" y="3363836"/>
            <a:ext cx="344805" cy="497840"/>
          </a:xfrm>
          <a:prstGeom prst="rect">
            <a:avLst/>
          </a:prstGeom>
          <a:solidFill>
            <a:srgbClr val="00B050"/>
          </a:solidFill>
        </p:spPr>
        <p:txBody>
          <a:bodyPr wrap="square" lIns="0" tIns="67945" rIns="0" bIns="0" rtlCol="0" vert="horz">
            <a:spAutoFit/>
          </a:bodyPr>
          <a:lstStyle/>
          <a:p>
            <a:pPr>
              <a:lnSpc>
                <a:spcPct val="100000"/>
              </a:lnSpc>
              <a:spcBef>
                <a:spcPts val="535"/>
              </a:spcBef>
            </a:pPr>
            <a:endParaRPr sz="800">
              <a:latin typeface="Times New Roman"/>
              <a:cs typeface="Times New Roman"/>
            </a:endParaRPr>
          </a:p>
          <a:p>
            <a:pPr marL="40005">
              <a:lnSpc>
                <a:spcPct val="100000"/>
              </a:lnSpc>
              <a:spcBef>
                <a:spcPts val="5"/>
              </a:spcBef>
            </a:pPr>
            <a:r>
              <a:rPr dirty="0" sz="800" spc="-20" b="1">
                <a:solidFill>
                  <a:srgbClr val="FFFFFF"/>
                </a:solidFill>
                <a:latin typeface="Arial"/>
                <a:cs typeface="Arial"/>
              </a:rPr>
              <a:t>6MHz</a:t>
            </a:r>
            <a:endParaRPr sz="800">
              <a:latin typeface="Arial"/>
              <a:cs typeface="Arial"/>
            </a:endParaRPr>
          </a:p>
        </p:txBody>
      </p:sp>
      <p:sp>
        <p:nvSpPr>
          <p:cNvPr id="33" name="object 33" descr=""/>
          <p:cNvSpPr txBox="1"/>
          <p:nvPr/>
        </p:nvSpPr>
        <p:spPr>
          <a:xfrm>
            <a:off x="4992357" y="3363836"/>
            <a:ext cx="763270" cy="496570"/>
          </a:xfrm>
          <a:prstGeom prst="rect">
            <a:avLst/>
          </a:prstGeom>
          <a:solidFill>
            <a:srgbClr val="00B050"/>
          </a:solidFill>
        </p:spPr>
        <p:txBody>
          <a:bodyPr wrap="square" lIns="0" tIns="67310" rIns="0" bIns="0" rtlCol="0" vert="horz">
            <a:spAutoFit/>
          </a:bodyPr>
          <a:lstStyle/>
          <a:p>
            <a:pPr>
              <a:lnSpc>
                <a:spcPct val="100000"/>
              </a:lnSpc>
              <a:spcBef>
                <a:spcPts val="530"/>
              </a:spcBef>
            </a:pPr>
            <a:endParaRPr sz="800">
              <a:latin typeface="Times New Roman"/>
              <a:cs typeface="Times New Roman"/>
            </a:endParaRPr>
          </a:p>
          <a:p>
            <a:pPr marL="220345">
              <a:lnSpc>
                <a:spcPct val="100000"/>
              </a:lnSpc>
              <a:spcBef>
                <a:spcPts val="5"/>
              </a:spcBef>
            </a:pPr>
            <a:r>
              <a:rPr dirty="0" sz="800" spc="-10" b="1">
                <a:solidFill>
                  <a:srgbClr val="FFFFFF"/>
                </a:solidFill>
                <a:latin typeface="Arial"/>
                <a:cs typeface="Arial"/>
              </a:rPr>
              <a:t>25MHz</a:t>
            </a:r>
            <a:endParaRPr sz="800">
              <a:latin typeface="Arial"/>
              <a:cs typeface="Arial"/>
            </a:endParaRPr>
          </a:p>
        </p:txBody>
      </p:sp>
      <p:sp>
        <p:nvSpPr>
          <p:cNvPr id="34" name="object 34" descr=""/>
          <p:cNvSpPr txBox="1"/>
          <p:nvPr/>
        </p:nvSpPr>
        <p:spPr>
          <a:xfrm>
            <a:off x="4506535" y="3899057"/>
            <a:ext cx="594995" cy="147320"/>
          </a:xfrm>
          <a:prstGeom prst="rect">
            <a:avLst/>
          </a:prstGeom>
        </p:spPr>
        <p:txBody>
          <a:bodyPr wrap="square" lIns="0" tIns="12065" rIns="0" bIns="0" rtlCol="0" vert="horz">
            <a:spAutoFit/>
          </a:bodyPr>
          <a:lstStyle/>
          <a:p>
            <a:pPr marL="12700">
              <a:lnSpc>
                <a:spcPct val="100000"/>
              </a:lnSpc>
              <a:spcBef>
                <a:spcPts val="95"/>
              </a:spcBef>
            </a:pPr>
            <a:r>
              <a:rPr dirty="0" sz="800" b="1">
                <a:latin typeface="Microsoft YaHei"/>
                <a:cs typeface="Microsoft YaHei"/>
              </a:rPr>
              <a:t>1860</a:t>
            </a:r>
            <a:r>
              <a:rPr dirty="0" sz="800" spc="295" b="1">
                <a:latin typeface="Microsoft YaHei"/>
                <a:cs typeface="Microsoft YaHei"/>
              </a:rPr>
              <a:t> </a:t>
            </a:r>
            <a:r>
              <a:rPr dirty="0" sz="800" spc="-20" b="1">
                <a:latin typeface="Microsoft YaHei"/>
                <a:cs typeface="Microsoft YaHei"/>
              </a:rPr>
              <a:t>1940</a:t>
            </a:r>
            <a:endParaRPr sz="800">
              <a:latin typeface="Microsoft YaHei"/>
              <a:cs typeface="Microsoft YaHei"/>
            </a:endParaRPr>
          </a:p>
        </p:txBody>
      </p:sp>
      <p:sp>
        <p:nvSpPr>
          <p:cNvPr id="35" name="object 35" descr=""/>
          <p:cNvSpPr txBox="1"/>
          <p:nvPr/>
        </p:nvSpPr>
        <p:spPr>
          <a:xfrm>
            <a:off x="5591218" y="3897638"/>
            <a:ext cx="615950" cy="147320"/>
          </a:xfrm>
          <a:prstGeom prst="rect">
            <a:avLst/>
          </a:prstGeom>
        </p:spPr>
        <p:txBody>
          <a:bodyPr wrap="square" lIns="0" tIns="12065" rIns="0" bIns="0" rtlCol="0" vert="horz">
            <a:spAutoFit/>
          </a:bodyPr>
          <a:lstStyle/>
          <a:p>
            <a:pPr marL="12700">
              <a:lnSpc>
                <a:spcPct val="100000"/>
              </a:lnSpc>
              <a:spcBef>
                <a:spcPts val="95"/>
              </a:spcBef>
            </a:pPr>
            <a:r>
              <a:rPr dirty="0" sz="800" b="1">
                <a:latin typeface="Microsoft YaHei"/>
                <a:cs typeface="Microsoft YaHei"/>
              </a:rPr>
              <a:t>1965</a:t>
            </a:r>
            <a:r>
              <a:rPr dirty="0" sz="800" spc="455" b="1">
                <a:latin typeface="Microsoft YaHei"/>
                <a:cs typeface="Microsoft YaHei"/>
              </a:rPr>
              <a:t> </a:t>
            </a:r>
            <a:r>
              <a:rPr dirty="0" sz="800" spc="-20" b="1">
                <a:latin typeface="Microsoft YaHei"/>
                <a:cs typeface="Microsoft YaHei"/>
              </a:rPr>
              <a:t>2130</a:t>
            </a:r>
            <a:endParaRPr sz="800">
              <a:latin typeface="Microsoft YaHei"/>
              <a:cs typeface="Microsoft YaHei"/>
            </a:endParaRPr>
          </a:p>
        </p:txBody>
      </p:sp>
      <p:sp>
        <p:nvSpPr>
          <p:cNvPr id="36" name="object 36" descr=""/>
          <p:cNvSpPr txBox="1"/>
          <p:nvPr/>
        </p:nvSpPr>
        <p:spPr>
          <a:xfrm>
            <a:off x="6507290" y="3897638"/>
            <a:ext cx="1227455" cy="147320"/>
          </a:xfrm>
          <a:prstGeom prst="rect">
            <a:avLst/>
          </a:prstGeom>
        </p:spPr>
        <p:txBody>
          <a:bodyPr wrap="square" lIns="0" tIns="12065" rIns="0" bIns="0" rtlCol="0" vert="horz">
            <a:spAutoFit/>
          </a:bodyPr>
          <a:lstStyle/>
          <a:p>
            <a:pPr marL="12700">
              <a:lnSpc>
                <a:spcPct val="100000"/>
              </a:lnSpc>
              <a:spcBef>
                <a:spcPts val="95"/>
              </a:spcBef>
              <a:tabLst>
                <a:tab pos="963930" algn="l"/>
              </a:tabLst>
            </a:pPr>
            <a:r>
              <a:rPr dirty="0" sz="800" b="1">
                <a:latin typeface="Microsoft YaHei"/>
                <a:cs typeface="Microsoft YaHei"/>
              </a:rPr>
              <a:t>2155</a:t>
            </a:r>
            <a:r>
              <a:rPr dirty="0" sz="800" spc="170" b="1">
                <a:latin typeface="Microsoft YaHei"/>
                <a:cs typeface="Microsoft YaHei"/>
              </a:rPr>
              <a:t> </a:t>
            </a:r>
            <a:r>
              <a:rPr dirty="0" sz="800" spc="-20" b="1">
                <a:latin typeface="Microsoft YaHei"/>
                <a:cs typeface="Microsoft YaHei"/>
              </a:rPr>
              <a:t>2300</a:t>
            </a:r>
            <a:r>
              <a:rPr dirty="0" sz="800" b="1">
                <a:latin typeface="Microsoft YaHei"/>
                <a:cs typeface="Microsoft YaHei"/>
              </a:rPr>
              <a:t>	</a:t>
            </a:r>
            <a:r>
              <a:rPr dirty="0" sz="800" spc="-20" b="1">
                <a:latin typeface="Microsoft YaHei"/>
                <a:cs typeface="Microsoft YaHei"/>
              </a:rPr>
              <a:t>2320</a:t>
            </a:r>
            <a:endParaRPr sz="800">
              <a:latin typeface="Microsoft YaHei"/>
              <a:cs typeface="Microsoft YaHei"/>
            </a:endParaRPr>
          </a:p>
        </p:txBody>
      </p:sp>
      <p:sp>
        <p:nvSpPr>
          <p:cNvPr id="37" name="object 37" descr=""/>
          <p:cNvSpPr txBox="1"/>
          <p:nvPr/>
        </p:nvSpPr>
        <p:spPr>
          <a:xfrm>
            <a:off x="6948258" y="3363836"/>
            <a:ext cx="758825" cy="496570"/>
          </a:xfrm>
          <a:prstGeom prst="rect">
            <a:avLst/>
          </a:prstGeom>
          <a:solidFill>
            <a:srgbClr val="333399"/>
          </a:solidFill>
        </p:spPr>
        <p:txBody>
          <a:bodyPr wrap="square" lIns="0" tIns="67310" rIns="0" bIns="0" rtlCol="0" vert="horz">
            <a:spAutoFit/>
          </a:bodyPr>
          <a:lstStyle/>
          <a:p>
            <a:pPr>
              <a:lnSpc>
                <a:spcPct val="100000"/>
              </a:lnSpc>
              <a:spcBef>
                <a:spcPts val="530"/>
              </a:spcBef>
            </a:pPr>
            <a:endParaRPr sz="800">
              <a:latin typeface="Times New Roman"/>
              <a:cs typeface="Times New Roman"/>
            </a:endParaRPr>
          </a:p>
          <a:p>
            <a:pPr marL="217804">
              <a:lnSpc>
                <a:spcPct val="100000"/>
              </a:lnSpc>
              <a:spcBef>
                <a:spcPts val="5"/>
              </a:spcBef>
            </a:pPr>
            <a:r>
              <a:rPr dirty="0" sz="800" spc="-10" b="1">
                <a:solidFill>
                  <a:srgbClr val="FFFFFF"/>
                </a:solidFill>
                <a:latin typeface="Arial"/>
                <a:cs typeface="Arial"/>
              </a:rPr>
              <a:t>20MHz</a:t>
            </a:r>
            <a:endParaRPr sz="800">
              <a:latin typeface="Arial"/>
              <a:cs typeface="Arial"/>
            </a:endParaRPr>
          </a:p>
        </p:txBody>
      </p:sp>
      <p:sp>
        <p:nvSpPr>
          <p:cNvPr id="38" name="object 38" descr=""/>
          <p:cNvSpPr txBox="1"/>
          <p:nvPr/>
        </p:nvSpPr>
        <p:spPr>
          <a:xfrm>
            <a:off x="7876552" y="3291827"/>
            <a:ext cx="1016000" cy="841375"/>
          </a:xfrm>
          <a:prstGeom prst="rect">
            <a:avLst/>
          </a:prstGeom>
          <a:ln w="25400">
            <a:solidFill>
              <a:srgbClr val="FF0000"/>
            </a:solidFill>
          </a:ln>
        </p:spPr>
        <p:txBody>
          <a:bodyPr wrap="square" lIns="0" tIns="0" rIns="0" bIns="0" rtlCol="0" vert="horz">
            <a:spAutoFit/>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370"/>
              </a:spcBef>
            </a:pPr>
            <a:endParaRPr sz="800">
              <a:latin typeface="Times New Roman"/>
              <a:cs typeface="Times New Roman"/>
            </a:endParaRPr>
          </a:p>
          <a:p>
            <a:pPr marL="99060">
              <a:lnSpc>
                <a:spcPct val="100000"/>
              </a:lnSpc>
              <a:tabLst>
                <a:tab pos="681990" algn="l"/>
              </a:tabLst>
            </a:pPr>
            <a:r>
              <a:rPr dirty="0" sz="800" spc="-20" b="1">
                <a:latin typeface="Microsoft YaHei"/>
                <a:cs typeface="Microsoft YaHei"/>
              </a:rPr>
              <a:t>2555</a:t>
            </a:r>
            <a:r>
              <a:rPr dirty="0" sz="800" b="1">
                <a:latin typeface="Microsoft YaHei"/>
                <a:cs typeface="Microsoft YaHei"/>
              </a:rPr>
              <a:t>	</a:t>
            </a:r>
            <a:r>
              <a:rPr dirty="0" sz="800" spc="-20" b="1">
                <a:latin typeface="Microsoft YaHei"/>
                <a:cs typeface="Microsoft YaHei"/>
              </a:rPr>
              <a:t>2575</a:t>
            </a:r>
            <a:endParaRPr sz="800">
              <a:latin typeface="Microsoft YaHei"/>
              <a:cs typeface="Microsoft YaHei"/>
            </a:endParaRPr>
          </a:p>
        </p:txBody>
      </p:sp>
      <p:sp>
        <p:nvSpPr>
          <p:cNvPr id="39" name="object 39" descr=""/>
          <p:cNvSpPr txBox="1"/>
          <p:nvPr/>
        </p:nvSpPr>
        <p:spPr>
          <a:xfrm>
            <a:off x="8028381" y="3363836"/>
            <a:ext cx="758825" cy="497840"/>
          </a:xfrm>
          <a:prstGeom prst="rect">
            <a:avLst/>
          </a:prstGeom>
          <a:solidFill>
            <a:srgbClr val="333399"/>
          </a:solidFill>
        </p:spPr>
        <p:txBody>
          <a:bodyPr wrap="square" lIns="0" tIns="67945" rIns="0" bIns="0" rtlCol="0" vert="horz">
            <a:spAutoFit/>
          </a:bodyPr>
          <a:lstStyle/>
          <a:p>
            <a:pPr>
              <a:lnSpc>
                <a:spcPct val="100000"/>
              </a:lnSpc>
              <a:spcBef>
                <a:spcPts val="535"/>
              </a:spcBef>
            </a:pPr>
            <a:endParaRPr sz="800">
              <a:latin typeface="Times New Roman"/>
              <a:cs typeface="Times New Roman"/>
            </a:endParaRPr>
          </a:p>
          <a:p>
            <a:pPr marL="217804">
              <a:lnSpc>
                <a:spcPct val="100000"/>
              </a:lnSpc>
            </a:pPr>
            <a:r>
              <a:rPr dirty="0" sz="800" spc="-10" b="1">
                <a:solidFill>
                  <a:srgbClr val="FFFFFF"/>
                </a:solidFill>
                <a:latin typeface="Arial"/>
                <a:cs typeface="Arial"/>
              </a:rPr>
              <a:t>20MHz</a:t>
            </a:r>
            <a:endParaRPr sz="800">
              <a:latin typeface="Arial"/>
              <a:cs typeface="Arial"/>
            </a:endParaRPr>
          </a:p>
        </p:txBody>
      </p:sp>
      <p:sp>
        <p:nvSpPr>
          <p:cNvPr id="40" name="object 40" descr=""/>
          <p:cNvSpPr txBox="1"/>
          <p:nvPr/>
        </p:nvSpPr>
        <p:spPr>
          <a:xfrm>
            <a:off x="5940158" y="3363836"/>
            <a:ext cx="763270" cy="496570"/>
          </a:xfrm>
          <a:prstGeom prst="rect">
            <a:avLst/>
          </a:prstGeom>
          <a:solidFill>
            <a:srgbClr val="00B050"/>
          </a:solidFill>
        </p:spPr>
        <p:txBody>
          <a:bodyPr wrap="square" lIns="0" tIns="67310" rIns="0" bIns="0" rtlCol="0" vert="horz">
            <a:spAutoFit/>
          </a:bodyPr>
          <a:lstStyle/>
          <a:p>
            <a:pPr>
              <a:lnSpc>
                <a:spcPct val="100000"/>
              </a:lnSpc>
              <a:spcBef>
                <a:spcPts val="530"/>
              </a:spcBef>
            </a:pPr>
            <a:endParaRPr sz="800">
              <a:latin typeface="Times New Roman"/>
              <a:cs typeface="Times New Roman"/>
            </a:endParaRPr>
          </a:p>
          <a:p>
            <a:pPr marL="220345">
              <a:lnSpc>
                <a:spcPct val="100000"/>
              </a:lnSpc>
              <a:spcBef>
                <a:spcPts val="5"/>
              </a:spcBef>
            </a:pPr>
            <a:r>
              <a:rPr dirty="0" sz="800" spc="-10" b="1">
                <a:solidFill>
                  <a:srgbClr val="FFFFFF"/>
                </a:solidFill>
                <a:latin typeface="Arial"/>
                <a:cs typeface="Arial"/>
              </a:rPr>
              <a:t>25MHz</a:t>
            </a:r>
            <a:endParaRPr sz="800">
              <a:latin typeface="Arial"/>
              <a:cs typeface="Arial"/>
            </a:endParaRPr>
          </a:p>
        </p:txBody>
      </p:sp>
      <p:sp>
        <p:nvSpPr>
          <p:cNvPr id="41" name="object 41" descr=""/>
          <p:cNvSpPr txBox="1"/>
          <p:nvPr/>
        </p:nvSpPr>
        <p:spPr>
          <a:xfrm>
            <a:off x="2028304" y="3363836"/>
            <a:ext cx="1242695" cy="497840"/>
          </a:xfrm>
          <a:prstGeom prst="rect">
            <a:avLst/>
          </a:prstGeom>
          <a:solidFill>
            <a:srgbClr val="C00000"/>
          </a:solidFill>
        </p:spPr>
        <p:txBody>
          <a:bodyPr wrap="square" lIns="0" tIns="67945" rIns="0" bIns="0" rtlCol="0" vert="horz">
            <a:spAutoFit/>
          </a:bodyPr>
          <a:lstStyle/>
          <a:p>
            <a:pPr>
              <a:lnSpc>
                <a:spcPct val="100000"/>
              </a:lnSpc>
              <a:spcBef>
                <a:spcPts val="535"/>
              </a:spcBef>
            </a:pPr>
            <a:endParaRPr sz="800">
              <a:latin typeface="Times New Roman"/>
              <a:cs typeface="Times New Roman"/>
            </a:endParaRPr>
          </a:p>
          <a:p>
            <a:pPr marL="217804">
              <a:lnSpc>
                <a:spcPct val="100000"/>
              </a:lnSpc>
              <a:spcBef>
                <a:spcPts val="5"/>
              </a:spcBef>
              <a:tabLst>
                <a:tab pos="825500" algn="l"/>
              </a:tabLst>
            </a:pPr>
            <a:r>
              <a:rPr dirty="0" sz="800" spc="-10" b="1">
                <a:solidFill>
                  <a:srgbClr val="FFFFFF"/>
                </a:solidFill>
                <a:latin typeface="Arial"/>
                <a:cs typeface="Arial"/>
              </a:rPr>
              <a:t>20MHz</a:t>
            </a:r>
            <a:r>
              <a:rPr dirty="0" sz="800" b="1">
                <a:solidFill>
                  <a:srgbClr val="FFFFFF"/>
                </a:solidFill>
                <a:latin typeface="Arial"/>
                <a:cs typeface="Arial"/>
              </a:rPr>
              <a:t>	</a:t>
            </a:r>
            <a:r>
              <a:rPr dirty="0" sz="800" spc="-20" b="1">
                <a:solidFill>
                  <a:srgbClr val="FFFFFF"/>
                </a:solidFill>
                <a:latin typeface="Arial"/>
                <a:cs typeface="Arial"/>
              </a:rPr>
              <a:t>10MHz</a:t>
            </a:r>
            <a:endParaRPr sz="800">
              <a:latin typeface="Arial"/>
              <a:cs typeface="Arial"/>
            </a:endParaRPr>
          </a:p>
        </p:txBody>
      </p:sp>
      <p:sp>
        <p:nvSpPr>
          <p:cNvPr id="42" name="object 42" descr=""/>
          <p:cNvSpPr txBox="1"/>
          <p:nvPr/>
        </p:nvSpPr>
        <p:spPr>
          <a:xfrm>
            <a:off x="2017792" y="3899044"/>
            <a:ext cx="2188210" cy="147320"/>
          </a:xfrm>
          <a:prstGeom prst="rect">
            <a:avLst/>
          </a:prstGeom>
        </p:spPr>
        <p:txBody>
          <a:bodyPr wrap="square" lIns="0" tIns="12065" rIns="0" bIns="0" rtlCol="0" vert="horz">
            <a:spAutoFit/>
          </a:bodyPr>
          <a:lstStyle/>
          <a:p>
            <a:pPr marL="12700">
              <a:lnSpc>
                <a:spcPct val="100000"/>
              </a:lnSpc>
              <a:spcBef>
                <a:spcPts val="95"/>
              </a:spcBef>
              <a:tabLst>
                <a:tab pos="451484" algn="l"/>
                <a:tab pos="1027430" algn="l"/>
                <a:tab pos="1924685" algn="l"/>
              </a:tabLst>
            </a:pPr>
            <a:r>
              <a:rPr dirty="0" baseline="3472" sz="1200" spc="-30" b="1">
                <a:latin typeface="Microsoft YaHei"/>
                <a:cs typeface="Microsoft YaHei"/>
              </a:rPr>
              <a:t>1735</a:t>
            </a:r>
            <a:r>
              <a:rPr dirty="0" baseline="3472" sz="1200" b="1">
                <a:latin typeface="Microsoft YaHei"/>
                <a:cs typeface="Microsoft YaHei"/>
              </a:rPr>
              <a:t>	</a:t>
            </a:r>
            <a:r>
              <a:rPr dirty="0" baseline="3472" sz="1200" spc="-30" b="1">
                <a:latin typeface="Microsoft YaHei"/>
                <a:cs typeface="Microsoft YaHei"/>
              </a:rPr>
              <a:t>1745</a:t>
            </a:r>
            <a:r>
              <a:rPr dirty="0" baseline="3472" sz="1200" b="1">
                <a:latin typeface="Microsoft YaHei"/>
                <a:cs typeface="Microsoft YaHei"/>
              </a:rPr>
              <a:t>	1765</a:t>
            </a:r>
            <a:r>
              <a:rPr dirty="0" baseline="3472" sz="1200" spc="232" b="1">
                <a:latin typeface="Microsoft YaHei"/>
                <a:cs typeface="Microsoft YaHei"/>
              </a:rPr>
              <a:t>  </a:t>
            </a:r>
            <a:r>
              <a:rPr dirty="0" baseline="3472" sz="1200" spc="-30" b="1">
                <a:latin typeface="Microsoft YaHei"/>
                <a:cs typeface="Microsoft YaHei"/>
              </a:rPr>
              <a:t>1830</a:t>
            </a:r>
            <a:r>
              <a:rPr dirty="0" baseline="3472" sz="1200" b="1">
                <a:latin typeface="Microsoft YaHei"/>
                <a:cs typeface="Microsoft YaHei"/>
              </a:rPr>
              <a:t>	</a:t>
            </a:r>
            <a:r>
              <a:rPr dirty="0" sz="800" spc="-20" b="1">
                <a:latin typeface="Microsoft YaHei"/>
                <a:cs typeface="Microsoft YaHei"/>
              </a:rPr>
              <a:t>1840</a:t>
            </a:r>
            <a:endParaRPr sz="800">
              <a:latin typeface="Microsoft YaHei"/>
              <a:cs typeface="Microsoft YaHei"/>
            </a:endParaRPr>
          </a:p>
        </p:txBody>
      </p:sp>
      <p:sp>
        <p:nvSpPr>
          <p:cNvPr id="43" name="object 43" descr=""/>
          <p:cNvSpPr txBox="1"/>
          <p:nvPr/>
        </p:nvSpPr>
        <p:spPr>
          <a:xfrm>
            <a:off x="3451174" y="3363836"/>
            <a:ext cx="1231265" cy="497840"/>
          </a:xfrm>
          <a:prstGeom prst="rect">
            <a:avLst/>
          </a:prstGeom>
          <a:solidFill>
            <a:srgbClr val="00B050"/>
          </a:solidFill>
        </p:spPr>
        <p:txBody>
          <a:bodyPr wrap="square" lIns="0" tIns="67945" rIns="0" bIns="0" rtlCol="0" vert="horz">
            <a:spAutoFit/>
          </a:bodyPr>
          <a:lstStyle/>
          <a:p>
            <a:pPr>
              <a:lnSpc>
                <a:spcPct val="100000"/>
              </a:lnSpc>
              <a:spcBef>
                <a:spcPts val="535"/>
              </a:spcBef>
            </a:pPr>
            <a:endParaRPr sz="800">
              <a:latin typeface="Times New Roman"/>
              <a:cs typeface="Times New Roman"/>
            </a:endParaRPr>
          </a:p>
          <a:p>
            <a:pPr marL="217804">
              <a:lnSpc>
                <a:spcPct val="100000"/>
              </a:lnSpc>
              <a:spcBef>
                <a:spcPts val="5"/>
              </a:spcBef>
              <a:tabLst>
                <a:tab pos="788670" algn="l"/>
              </a:tabLst>
            </a:pPr>
            <a:r>
              <a:rPr dirty="0" sz="800" spc="-10" b="1">
                <a:solidFill>
                  <a:srgbClr val="FFFFFF"/>
                </a:solidFill>
                <a:latin typeface="Arial"/>
                <a:cs typeface="Arial"/>
              </a:rPr>
              <a:t>20MHz</a:t>
            </a:r>
            <a:r>
              <a:rPr dirty="0" sz="800" b="1">
                <a:solidFill>
                  <a:srgbClr val="FFFFFF"/>
                </a:solidFill>
                <a:latin typeface="Arial"/>
                <a:cs typeface="Arial"/>
              </a:rPr>
              <a:t>	</a:t>
            </a:r>
            <a:r>
              <a:rPr dirty="0" sz="800" spc="-10" b="1">
                <a:solidFill>
                  <a:srgbClr val="FFFFFF"/>
                </a:solidFill>
                <a:latin typeface="Arial"/>
                <a:cs typeface="Arial"/>
              </a:rPr>
              <a:t>10MzHz</a:t>
            </a:r>
            <a:endParaRPr sz="800">
              <a:latin typeface="Arial"/>
              <a:cs typeface="Arial"/>
            </a:endParaRPr>
          </a:p>
        </p:txBody>
      </p:sp>
      <p:sp>
        <p:nvSpPr>
          <p:cNvPr id="44" name="object 44" descr=""/>
          <p:cNvSpPr/>
          <p:nvPr/>
        </p:nvSpPr>
        <p:spPr>
          <a:xfrm>
            <a:off x="3476625" y="4632718"/>
            <a:ext cx="179705" cy="201295"/>
          </a:xfrm>
          <a:custGeom>
            <a:avLst/>
            <a:gdLst/>
            <a:ahLst/>
            <a:cxnLst/>
            <a:rect l="l" t="t" r="r" b="b"/>
            <a:pathLst>
              <a:path w="179704" h="201295">
                <a:moveTo>
                  <a:pt x="179387" y="0"/>
                </a:moveTo>
                <a:lnTo>
                  <a:pt x="0" y="0"/>
                </a:lnTo>
                <a:lnTo>
                  <a:pt x="0" y="201218"/>
                </a:lnTo>
                <a:lnTo>
                  <a:pt x="179387" y="201218"/>
                </a:lnTo>
                <a:lnTo>
                  <a:pt x="179387" y="0"/>
                </a:lnTo>
                <a:close/>
              </a:path>
            </a:pathLst>
          </a:custGeom>
          <a:solidFill>
            <a:srgbClr val="C00000"/>
          </a:solidFill>
        </p:spPr>
        <p:txBody>
          <a:bodyPr wrap="square" lIns="0" tIns="0" rIns="0" bIns="0" rtlCol="0"/>
          <a:lstStyle/>
          <a:p/>
        </p:txBody>
      </p:sp>
      <p:sp>
        <p:nvSpPr>
          <p:cNvPr id="45" name="object 45" descr=""/>
          <p:cNvSpPr txBox="1"/>
          <p:nvPr/>
        </p:nvSpPr>
        <p:spPr>
          <a:xfrm>
            <a:off x="3663316" y="4646121"/>
            <a:ext cx="529590" cy="193040"/>
          </a:xfrm>
          <a:prstGeom prst="rect">
            <a:avLst/>
          </a:prstGeom>
        </p:spPr>
        <p:txBody>
          <a:bodyPr wrap="square" lIns="0" tIns="12065" rIns="0" bIns="0" rtlCol="0" vert="horz">
            <a:spAutoFit/>
          </a:bodyPr>
          <a:lstStyle/>
          <a:p>
            <a:pPr marL="12700">
              <a:lnSpc>
                <a:spcPct val="100000"/>
              </a:lnSpc>
              <a:spcBef>
                <a:spcPts val="95"/>
              </a:spcBef>
            </a:pPr>
            <a:r>
              <a:rPr dirty="0" sz="1100">
                <a:latin typeface="Microsoft YaHei"/>
                <a:cs typeface="Microsoft YaHei"/>
              </a:rPr>
              <a:t>FDD</a:t>
            </a:r>
            <a:r>
              <a:rPr dirty="0" sz="1100" spc="-35">
                <a:latin typeface="Microsoft YaHei"/>
                <a:cs typeface="Microsoft YaHei"/>
              </a:rPr>
              <a:t> </a:t>
            </a:r>
            <a:r>
              <a:rPr dirty="0" sz="1100" spc="-25">
                <a:latin typeface="Microsoft YaHei"/>
                <a:cs typeface="Microsoft YaHei"/>
              </a:rPr>
              <a:t>UL</a:t>
            </a:r>
            <a:endParaRPr sz="1100">
              <a:latin typeface="Microsoft YaHei"/>
              <a:cs typeface="Microsoft YaHei"/>
            </a:endParaRPr>
          </a:p>
        </p:txBody>
      </p:sp>
      <p:sp>
        <p:nvSpPr>
          <p:cNvPr id="46" name="object 46" descr=""/>
          <p:cNvSpPr/>
          <p:nvPr/>
        </p:nvSpPr>
        <p:spPr>
          <a:xfrm>
            <a:off x="4724400" y="4638675"/>
            <a:ext cx="180975" cy="201295"/>
          </a:xfrm>
          <a:custGeom>
            <a:avLst/>
            <a:gdLst/>
            <a:ahLst/>
            <a:cxnLst/>
            <a:rect l="l" t="t" r="r" b="b"/>
            <a:pathLst>
              <a:path w="180975" h="201295">
                <a:moveTo>
                  <a:pt x="180975" y="0"/>
                </a:moveTo>
                <a:lnTo>
                  <a:pt x="0" y="0"/>
                </a:lnTo>
                <a:lnTo>
                  <a:pt x="0" y="201218"/>
                </a:lnTo>
                <a:lnTo>
                  <a:pt x="180975" y="201218"/>
                </a:lnTo>
                <a:lnTo>
                  <a:pt x="180975" y="0"/>
                </a:lnTo>
                <a:close/>
              </a:path>
            </a:pathLst>
          </a:custGeom>
          <a:solidFill>
            <a:srgbClr val="00B050"/>
          </a:solidFill>
        </p:spPr>
        <p:txBody>
          <a:bodyPr wrap="square" lIns="0" tIns="0" rIns="0" bIns="0" rtlCol="0"/>
          <a:lstStyle/>
          <a:p/>
        </p:txBody>
      </p:sp>
      <p:sp>
        <p:nvSpPr>
          <p:cNvPr id="47" name="object 47" descr=""/>
          <p:cNvSpPr txBox="1"/>
          <p:nvPr/>
        </p:nvSpPr>
        <p:spPr>
          <a:xfrm>
            <a:off x="4923791" y="4646121"/>
            <a:ext cx="530860" cy="193040"/>
          </a:xfrm>
          <a:prstGeom prst="rect">
            <a:avLst/>
          </a:prstGeom>
        </p:spPr>
        <p:txBody>
          <a:bodyPr wrap="square" lIns="0" tIns="12065" rIns="0" bIns="0" rtlCol="0" vert="horz">
            <a:spAutoFit/>
          </a:bodyPr>
          <a:lstStyle/>
          <a:p>
            <a:pPr marL="12700">
              <a:lnSpc>
                <a:spcPct val="100000"/>
              </a:lnSpc>
              <a:spcBef>
                <a:spcPts val="95"/>
              </a:spcBef>
            </a:pPr>
            <a:r>
              <a:rPr dirty="0" sz="1100">
                <a:latin typeface="Microsoft YaHei"/>
                <a:cs typeface="Microsoft YaHei"/>
              </a:rPr>
              <a:t>FDD</a:t>
            </a:r>
            <a:r>
              <a:rPr dirty="0" sz="1100" spc="-35">
                <a:latin typeface="Microsoft YaHei"/>
                <a:cs typeface="Microsoft YaHei"/>
              </a:rPr>
              <a:t> </a:t>
            </a:r>
            <a:r>
              <a:rPr dirty="0" sz="1100" spc="-25">
                <a:latin typeface="Microsoft YaHei"/>
                <a:cs typeface="Microsoft YaHei"/>
              </a:rPr>
              <a:t>DL</a:t>
            </a:r>
            <a:endParaRPr sz="1100">
              <a:latin typeface="Microsoft YaHei"/>
              <a:cs typeface="Microsoft YaHei"/>
            </a:endParaRPr>
          </a:p>
        </p:txBody>
      </p:sp>
      <p:sp>
        <p:nvSpPr>
          <p:cNvPr id="48" name="object 48" descr=""/>
          <p:cNvSpPr/>
          <p:nvPr/>
        </p:nvSpPr>
        <p:spPr>
          <a:xfrm>
            <a:off x="6013450" y="4632718"/>
            <a:ext cx="180975" cy="201295"/>
          </a:xfrm>
          <a:custGeom>
            <a:avLst/>
            <a:gdLst/>
            <a:ahLst/>
            <a:cxnLst/>
            <a:rect l="l" t="t" r="r" b="b"/>
            <a:pathLst>
              <a:path w="180975" h="201295">
                <a:moveTo>
                  <a:pt x="180975" y="0"/>
                </a:moveTo>
                <a:lnTo>
                  <a:pt x="0" y="0"/>
                </a:lnTo>
                <a:lnTo>
                  <a:pt x="0" y="201218"/>
                </a:lnTo>
                <a:lnTo>
                  <a:pt x="180975" y="201218"/>
                </a:lnTo>
                <a:lnTo>
                  <a:pt x="180975" y="0"/>
                </a:lnTo>
                <a:close/>
              </a:path>
            </a:pathLst>
          </a:custGeom>
          <a:solidFill>
            <a:srgbClr val="333399"/>
          </a:solidFill>
        </p:spPr>
        <p:txBody>
          <a:bodyPr wrap="square" lIns="0" tIns="0" rIns="0" bIns="0" rtlCol="0"/>
          <a:lstStyle/>
          <a:p/>
        </p:txBody>
      </p:sp>
      <p:sp>
        <p:nvSpPr>
          <p:cNvPr id="49" name="object 49" descr=""/>
          <p:cNvSpPr txBox="1"/>
          <p:nvPr/>
        </p:nvSpPr>
        <p:spPr>
          <a:xfrm>
            <a:off x="6342591" y="4646121"/>
            <a:ext cx="318135" cy="193040"/>
          </a:xfrm>
          <a:prstGeom prst="rect">
            <a:avLst/>
          </a:prstGeom>
        </p:spPr>
        <p:txBody>
          <a:bodyPr wrap="square" lIns="0" tIns="12065" rIns="0" bIns="0" rtlCol="0" vert="horz">
            <a:spAutoFit/>
          </a:bodyPr>
          <a:lstStyle/>
          <a:p>
            <a:pPr marL="12700">
              <a:lnSpc>
                <a:spcPct val="100000"/>
              </a:lnSpc>
              <a:spcBef>
                <a:spcPts val="95"/>
              </a:spcBef>
            </a:pPr>
            <a:r>
              <a:rPr dirty="0" sz="1100" spc="-25">
                <a:latin typeface="Microsoft YaHei"/>
                <a:cs typeface="Microsoft YaHei"/>
              </a:rPr>
              <a:t>TDD</a:t>
            </a:r>
            <a:endParaRPr sz="1100">
              <a:latin typeface="Microsoft YaHei"/>
              <a:cs typeface="Microsoft YaHei"/>
            </a:endParaRPr>
          </a:p>
        </p:txBody>
      </p:sp>
      <p:pic>
        <p:nvPicPr>
          <p:cNvPr id="50" name="object 50"/>
          <p:cNvPicPr/>
          <p:nvPr/>
        </p:nvPicPr>
        <p:blipFill>
          <a:blip r:embed="rId2" cstate="print"/>
          <a:stretch>
            <a:fillRect/>
          </a:stretch>
        </p:blipFill>
        <p:spPr>
          <a:xfrm>
            <a:off x="135902" y="2211709"/>
            <a:ext cx="410108" cy="339008"/>
          </a:xfrm>
          <a:prstGeom prst="rect">
            <a:avLst/>
          </a:prstGeom>
        </p:spPr>
      </p:pic>
      <p:pic>
        <p:nvPicPr>
          <p:cNvPr id="51" name="object 51"/>
          <p:cNvPicPr/>
          <p:nvPr/>
        </p:nvPicPr>
        <p:blipFill>
          <a:blip r:embed="rId3" cstate="print"/>
          <a:stretch>
            <a:fillRect/>
          </a:stretch>
        </p:blipFill>
        <p:spPr>
          <a:xfrm>
            <a:off x="15709" y="3406359"/>
            <a:ext cx="650498" cy="369972"/>
          </a:xfrm>
          <a:prstGeom prst="rect">
            <a:avLst/>
          </a:prstGeom>
        </p:spPr>
      </p:pic>
      <p:pic>
        <p:nvPicPr>
          <p:cNvPr id="52" name="object 52"/>
          <p:cNvPicPr/>
          <p:nvPr/>
        </p:nvPicPr>
        <p:blipFill>
          <a:blip r:embed="rId4" cstate="print"/>
          <a:stretch>
            <a:fillRect/>
          </a:stretch>
        </p:blipFill>
        <p:spPr>
          <a:xfrm>
            <a:off x="10617" y="1237327"/>
            <a:ext cx="660679" cy="357245"/>
          </a:xfrm>
          <a:prstGeom prst="rect">
            <a:avLst/>
          </a:prstGeom>
        </p:spPr>
      </p:pic>
      <p:sp>
        <p:nvSpPr>
          <p:cNvPr id="53" name="object 53"/>
          <p:cNvSpPr txBox="1">
            <a:spLocks noGrp="1"/>
          </p:cNvSpPr>
          <p:nvPr>
            <p:ph type="title"/>
          </p:nvPr>
        </p:nvSpPr>
        <p:spPr>
          <a:xfrm>
            <a:off x="2107057" y="115315"/>
            <a:ext cx="5311140" cy="513080"/>
          </a:xfrm>
          <a:prstGeom prst="rect"/>
        </p:spPr>
        <p:txBody>
          <a:bodyPr wrap="square" lIns="0" tIns="12065" rIns="0" bIns="0" rtlCol="0" vert="horz">
            <a:spAutoFit/>
          </a:bodyPr>
          <a:lstStyle/>
          <a:p>
            <a:pPr marL="12700">
              <a:lnSpc>
                <a:spcPct val="100000"/>
              </a:lnSpc>
              <a:spcBef>
                <a:spcPts val="95"/>
              </a:spcBef>
            </a:pPr>
            <a:r>
              <a:rPr dirty="0" spc="-50"/>
              <a:t>国内运营商现有频率分配情况</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3392" y="115315"/>
            <a:ext cx="5017770" cy="513080"/>
          </a:xfrm>
          <a:prstGeom prst="rect"/>
        </p:spPr>
        <p:txBody>
          <a:bodyPr wrap="square" lIns="0" tIns="12065" rIns="0" bIns="0" rtlCol="0" vert="horz">
            <a:spAutoFit/>
          </a:bodyPr>
          <a:lstStyle/>
          <a:p>
            <a:pPr marL="12700">
              <a:lnSpc>
                <a:spcPct val="100000"/>
              </a:lnSpc>
              <a:spcBef>
                <a:spcPts val="95"/>
              </a:spcBef>
            </a:pPr>
            <a:r>
              <a:rPr dirty="0" spc="-40"/>
              <a:t>国内运营商</a:t>
            </a:r>
            <a:r>
              <a:rPr dirty="0" spc="-30">
                <a:latin typeface="Times New Roman"/>
                <a:cs typeface="Times New Roman"/>
              </a:rPr>
              <a:t>5G</a:t>
            </a:r>
            <a:r>
              <a:rPr dirty="0" spc="-45"/>
              <a:t>频率分配情况</a:t>
            </a:r>
          </a:p>
        </p:txBody>
      </p:sp>
      <p:sp>
        <p:nvSpPr>
          <p:cNvPr id="3" name="object 3" descr=""/>
          <p:cNvSpPr txBox="1"/>
          <p:nvPr/>
        </p:nvSpPr>
        <p:spPr>
          <a:xfrm>
            <a:off x="1006033" y="1264896"/>
            <a:ext cx="2136140" cy="147320"/>
          </a:xfrm>
          <a:prstGeom prst="rect">
            <a:avLst/>
          </a:prstGeom>
        </p:spPr>
        <p:txBody>
          <a:bodyPr wrap="square" lIns="0" tIns="12065" rIns="0" bIns="0" rtlCol="0" vert="horz">
            <a:spAutoFit/>
          </a:bodyPr>
          <a:lstStyle/>
          <a:p>
            <a:pPr marL="12700">
              <a:lnSpc>
                <a:spcPct val="100000"/>
              </a:lnSpc>
              <a:spcBef>
                <a:spcPts val="95"/>
              </a:spcBef>
              <a:tabLst>
                <a:tab pos="1872614" algn="l"/>
              </a:tabLst>
            </a:pPr>
            <a:r>
              <a:rPr dirty="0" sz="800" spc="-20" b="1">
                <a:latin typeface="Microsoft YaHei"/>
                <a:cs typeface="Microsoft YaHei"/>
              </a:rPr>
              <a:t>3300</a:t>
            </a:r>
            <a:r>
              <a:rPr dirty="0" sz="800" b="1">
                <a:latin typeface="Microsoft YaHei"/>
                <a:cs typeface="Microsoft YaHei"/>
              </a:rPr>
              <a:t>	</a:t>
            </a:r>
            <a:r>
              <a:rPr dirty="0" sz="800" spc="-20" b="1">
                <a:latin typeface="Microsoft YaHei"/>
                <a:cs typeface="Microsoft YaHei"/>
              </a:rPr>
              <a:t>3400</a:t>
            </a:r>
            <a:endParaRPr sz="800">
              <a:latin typeface="Microsoft YaHei"/>
              <a:cs typeface="Microsoft YaHei"/>
            </a:endParaRPr>
          </a:p>
        </p:txBody>
      </p:sp>
      <p:sp>
        <p:nvSpPr>
          <p:cNvPr id="4" name="object 4" descr=""/>
          <p:cNvSpPr txBox="1"/>
          <p:nvPr/>
        </p:nvSpPr>
        <p:spPr>
          <a:xfrm>
            <a:off x="3363315" y="916279"/>
            <a:ext cx="2088514" cy="336550"/>
          </a:xfrm>
          <a:prstGeom prst="rect">
            <a:avLst/>
          </a:prstGeom>
          <a:solidFill>
            <a:srgbClr val="92D050"/>
          </a:solidFill>
        </p:spPr>
        <p:txBody>
          <a:bodyPr wrap="square" lIns="0" tIns="26034" rIns="0" bIns="0" rtlCol="0" vert="horz">
            <a:spAutoFit/>
          </a:bodyPr>
          <a:lstStyle/>
          <a:p>
            <a:pPr algn="ctr">
              <a:lnSpc>
                <a:spcPct val="100000"/>
              </a:lnSpc>
              <a:spcBef>
                <a:spcPts val="204"/>
              </a:spcBef>
            </a:pPr>
            <a:r>
              <a:rPr dirty="0" sz="900" spc="-10" b="1">
                <a:latin typeface="Microsoft YaHei"/>
                <a:cs typeface="Microsoft YaHei"/>
              </a:rPr>
              <a:t>电信/联通</a:t>
            </a:r>
            <a:endParaRPr sz="900">
              <a:latin typeface="Microsoft YaHei"/>
              <a:cs typeface="Microsoft YaHei"/>
            </a:endParaRPr>
          </a:p>
          <a:p>
            <a:pPr algn="ctr">
              <a:lnSpc>
                <a:spcPct val="100000"/>
              </a:lnSpc>
            </a:pPr>
            <a:r>
              <a:rPr dirty="0" sz="900" spc="-10" b="1">
                <a:latin typeface="Microsoft YaHei"/>
                <a:cs typeface="Microsoft YaHei"/>
              </a:rPr>
              <a:t>100MHz</a:t>
            </a:r>
            <a:endParaRPr sz="900">
              <a:latin typeface="Microsoft YaHei"/>
              <a:cs typeface="Microsoft YaHei"/>
            </a:endParaRPr>
          </a:p>
        </p:txBody>
      </p:sp>
      <p:sp>
        <p:nvSpPr>
          <p:cNvPr id="5" name="object 5" descr=""/>
          <p:cNvSpPr txBox="1"/>
          <p:nvPr/>
        </p:nvSpPr>
        <p:spPr>
          <a:xfrm>
            <a:off x="1174559" y="916279"/>
            <a:ext cx="2048510" cy="336550"/>
          </a:xfrm>
          <a:prstGeom prst="rect">
            <a:avLst/>
          </a:prstGeom>
          <a:solidFill>
            <a:srgbClr val="818181"/>
          </a:solidFill>
        </p:spPr>
        <p:txBody>
          <a:bodyPr wrap="square" lIns="0" tIns="26034" rIns="0" bIns="0" rtlCol="0" vert="horz">
            <a:spAutoFit/>
          </a:bodyPr>
          <a:lstStyle/>
          <a:p>
            <a:pPr algn="ctr">
              <a:lnSpc>
                <a:spcPct val="100000"/>
              </a:lnSpc>
              <a:spcBef>
                <a:spcPts val="204"/>
              </a:spcBef>
            </a:pPr>
            <a:r>
              <a:rPr dirty="0" sz="900" spc="-10" b="1">
                <a:latin typeface="Microsoft YaHei"/>
                <a:cs typeface="Microsoft YaHei"/>
              </a:rPr>
              <a:t>100MHz</a:t>
            </a:r>
            <a:endParaRPr sz="900">
              <a:latin typeface="Microsoft YaHei"/>
              <a:cs typeface="Microsoft YaHei"/>
            </a:endParaRPr>
          </a:p>
          <a:p>
            <a:pPr algn="ctr">
              <a:lnSpc>
                <a:spcPct val="100000"/>
              </a:lnSpc>
            </a:pPr>
            <a:r>
              <a:rPr dirty="0" sz="900" b="1">
                <a:latin typeface="Microsoft YaHei"/>
                <a:cs typeface="Microsoft YaHei"/>
              </a:rPr>
              <a:t>（待分配</a:t>
            </a:r>
            <a:r>
              <a:rPr dirty="0" sz="900" spc="-50" b="1">
                <a:latin typeface="Microsoft YaHei"/>
                <a:cs typeface="Microsoft YaHei"/>
              </a:rPr>
              <a:t>）</a:t>
            </a:r>
            <a:endParaRPr sz="900">
              <a:latin typeface="Microsoft YaHei"/>
              <a:cs typeface="Microsoft YaHei"/>
            </a:endParaRPr>
          </a:p>
        </p:txBody>
      </p:sp>
      <p:sp>
        <p:nvSpPr>
          <p:cNvPr id="6" name="object 6" descr=""/>
          <p:cNvSpPr txBox="1"/>
          <p:nvPr/>
        </p:nvSpPr>
        <p:spPr>
          <a:xfrm>
            <a:off x="5340164" y="1260815"/>
            <a:ext cx="2669540" cy="147320"/>
          </a:xfrm>
          <a:prstGeom prst="rect">
            <a:avLst/>
          </a:prstGeom>
        </p:spPr>
        <p:txBody>
          <a:bodyPr wrap="square" lIns="0" tIns="12065" rIns="0" bIns="0" rtlCol="0" vert="horz">
            <a:spAutoFit/>
          </a:bodyPr>
          <a:lstStyle/>
          <a:p>
            <a:pPr marL="38100">
              <a:lnSpc>
                <a:spcPct val="100000"/>
              </a:lnSpc>
              <a:spcBef>
                <a:spcPts val="95"/>
              </a:spcBef>
              <a:tabLst>
                <a:tab pos="2380615" algn="l"/>
              </a:tabLst>
            </a:pPr>
            <a:r>
              <a:rPr dirty="0" sz="800" spc="-20" b="1">
                <a:latin typeface="Microsoft YaHei"/>
                <a:cs typeface="Microsoft YaHei"/>
              </a:rPr>
              <a:t>3500</a:t>
            </a:r>
            <a:r>
              <a:rPr dirty="0" sz="800" b="1">
                <a:latin typeface="Microsoft YaHei"/>
                <a:cs typeface="Microsoft YaHei"/>
              </a:rPr>
              <a:t>	</a:t>
            </a:r>
            <a:r>
              <a:rPr dirty="0" baseline="6944" sz="1200" spc="-30" b="1">
                <a:latin typeface="Microsoft YaHei"/>
                <a:cs typeface="Microsoft YaHei"/>
              </a:rPr>
              <a:t>3600</a:t>
            </a:r>
            <a:endParaRPr baseline="6944" sz="1200">
              <a:latin typeface="Microsoft YaHei"/>
              <a:cs typeface="Microsoft YaHei"/>
            </a:endParaRPr>
          </a:p>
        </p:txBody>
      </p:sp>
      <p:sp>
        <p:nvSpPr>
          <p:cNvPr id="7" name="object 7" descr=""/>
          <p:cNvSpPr txBox="1"/>
          <p:nvPr/>
        </p:nvSpPr>
        <p:spPr>
          <a:xfrm>
            <a:off x="5509412" y="916279"/>
            <a:ext cx="2367280" cy="336550"/>
          </a:xfrm>
          <a:prstGeom prst="rect">
            <a:avLst/>
          </a:prstGeom>
          <a:solidFill>
            <a:srgbClr val="00B0F0"/>
          </a:solidFill>
        </p:spPr>
        <p:txBody>
          <a:bodyPr wrap="square" lIns="0" tIns="26034" rIns="0" bIns="0" rtlCol="0" vert="horz">
            <a:spAutoFit/>
          </a:bodyPr>
          <a:lstStyle/>
          <a:p>
            <a:pPr algn="ctr">
              <a:lnSpc>
                <a:spcPct val="100000"/>
              </a:lnSpc>
              <a:spcBef>
                <a:spcPts val="204"/>
              </a:spcBef>
            </a:pPr>
            <a:r>
              <a:rPr dirty="0" sz="900" spc="-10" b="1">
                <a:latin typeface="Microsoft YaHei"/>
                <a:cs typeface="Microsoft YaHei"/>
              </a:rPr>
              <a:t>联通/电信</a:t>
            </a:r>
            <a:endParaRPr sz="900">
              <a:latin typeface="Microsoft YaHei"/>
              <a:cs typeface="Microsoft YaHei"/>
            </a:endParaRPr>
          </a:p>
          <a:p>
            <a:pPr algn="ctr">
              <a:lnSpc>
                <a:spcPct val="100000"/>
              </a:lnSpc>
            </a:pPr>
            <a:r>
              <a:rPr dirty="0" sz="900" spc="-10" b="1">
                <a:latin typeface="Microsoft YaHei"/>
                <a:cs typeface="Microsoft YaHei"/>
              </a:rPr>
              <a:t>100MHz</a:t>
            </a:r>
            <a:endParaRPr sz="900">
              <a:latin typeface="Microsoft YaHei"/>
              <a:cs typeface="Microsoft YaHei"/>
            </a:endParaRPr>
          </a:p>
        </p:txBody>
      </p:sp>
      <p:sp>
        <p:nvSpPr>
          <p:cNvPr id="8" name="object 8" descr=""/>
          <p:cNvSpPr txBox="1"/>
          <p:nvPr/>
        </p:nvSpPr>
        <p:spPr>
          <a:xfrm>
            <a:off x="274774" y="962707"/>
            <a:ext cx="67818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C00000"/>
                </a:solidFill>
                <a:latin typeface="Microsoft YaHei"/>
                <a:cs typeface="Microsoft YaHei"/>
              </a:rPr>
              <a:t>3.5G</a:t>
            </a:r>
            <a:r>
              <a:rPr dirty="0" sz="1200" spc="-25" b="1">
                <a:solidFill>
                  <a:srgbClr val="C00000"/>
                </a:solidFill>
                <a:latin typeface="Microsoft YaHei"/>
                <a:cs typeface="Microsoft YaHei"/>
              </a:rPr>
              <a:t>频段</a:t>
            </a:r>
            <a:endParaRPr sz="1200">
              <a:latin typeface="Microsoft YaHei"/>
              <a:cs typeface="Microsoft YaHei"/>
            </a:endParaRPr>
          </a:p>
        </p:txBody>
      </p:sp>
      <p:sp>
        <p:nvSpPr>
          <p:cNvPr id="9" name="object 9" descr=""/>
          <p:cNvSpPr txBox="1"/>
          <p:nvPr/>
        </p:nvSpPr>
        <p:spPr>
          <a:xfrm>
            <a:off x="1149150" y="2056986"/>
            <a:ext cx="3089910" cy="147320"/>
          </a:xfrm>
          <a:prstGeom prst="rect">
            <a:avLst/>
          </a:prstGeom>
        </p:spPr>
        <p:txBody>
          <a:bodyPr wrap="square" lIns="0" tIns="12065" rIns="0" bIns="0" rtlCol="0" vert="horz">
            <a:spAutoFit/>
          </a:bodyPr>
          <a:lstStyle/>
          <a:p>
            <a:pPr marL="12700">
              <a:lnSpc>
                <a:spcPct val="100000"/>
              </a:lnSpc>
              <a:spcBef>
                <a:spcPts val="95"/>
              </a:spcBef>
              <a:tabLst>
                <a:tab pos="2827020" algn="l"/>
              </a:tabLst>
            </a:pPr>
            <a:r>
              <a:rPr dirty="0" sz="800" spc="-20" b="1">
                <a:latin typeface="Microsoft YaHei"/>
                <a:cs typeface="Microsoft YaHei"/>
              </a:rPr>
              <a:t>4800</a:t>
            </a:r>
            <a:r>
              <a:rPr dirty="0" sz="800" b="1">
                <a:latin typeface="Microsoft YaHei"/>
                <a:cs typeface="Microsoft YaHei"/>
              </a:rPr>
              <a:t>	</a:t>
            </a:r>
            <a:r>
              <a:rPr dirty="0" sz="800" spc="-20" b="1">
                <a:latin typeface="Microsoft YaHei"/>
                <a:cs typeface="Microsoft YaHei"/>
              </a:rPr>
              <a:t>4900</a:t>
            </a:r>
            <a:endParaRPr sz="800">
              <a:latin typeface="Microsoft YaHei"/>
              <a:cs typeface="Microsoft YaHei"/>
            </a:endParaRPr>
          </a:p>
        </p:txBody>
      </p:sp>
      <p:sp>
        <p:nvSpPr>
          <p:cNvPr id="10" name="object 10" descr=""/>
          <p:cNvSpPr txBox="1"/>
          <p:nvPr/>
        </p:nvSpPr>
        <p:spPr>
          <a:xfrm>
            <a:off x="1187627" y="1697482"/>
            <a:ext cx="2966085" cy="336550"/>
          </a:xfrm>
          <a:prstGeom prst="rect">
            <a:avLst/>
          </a:prstGeom>
          <a:solidFill>
            <a:srgbClr val="9C9CDF"/>
          </a:solidFill>
        </p:spPr>
        <p:txBody>
          <a:bodyPr wrap="square" lIns="0" tIns="26034" rIns="0" bIns="0" rtlCol="0" vert="horz">
            <a:spAutoFit/>
          </a:bodyPr>
          <a:lstStyle/>
          <a:p>
            <a:pPr algn="ctr">
              <a:lnSpc>
                <a:spcPct val="100000"/>
              </a:lnSpc>
              <a:spcBef>
                <a:spcPts val="204"/>
              </a:spcBef>
            </a:pPr>
            <a:r>
              <a:rPr dirty="0" sz="900" spc="-25" b="1">
                <a:latin typeface="Microsoft YaHei"/>
                <a:cs typeface="Microsoft YaHei"/>
              </a:rPr>
              <a:t>移动</a:t>
            </a:r>
            <a:endParaRPr sz="900">
              <a:latin typeface="Microsoft YaHei"/>
              <a:cs typeface="Microsoft YaHei"/>
            </a:endParaRPr>
          </a:p>
          <a:p>
            <a:pPr algn="ctr">
              <a:lnSpc>
                <a:spcPct val="100000"/>
              </a:lnSpc>
            </a:pPr>
            <a:r>
              <a:rPr dirty="0" sz="900" spc="-10" b="1">
                <a:latin typeface="Microsoft YaHei"/>
                <a:cs typeface="Microsoft YaHei"/>
              </a:rPr>
              <a:t>100MHz</a:t>
            </a:r>
            <a:endParaRPr sz="900">
              <a:latin typeface="Microsoft YaHei"/>
              <a:cs typeface="Microsoft YaHei"/>
            </a:endParaRPr>
          </a:p>
        </p:txBody>
      </p:sp>
      <p:sp>
        <p:nvSpPr>
          <p:cNvPr id="11" name="object 11" descr=""/>
          <p:cNvSpPr txBox="1"/>
          <p:nvPr/>
        </p:nvSpPr>
        <p:spPr>
          <a:xfrm>
            <a:off x="5761860" y="2052904"/>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4960</a:t>
            </a:r>
            <a:endParaRPr sz="800">
              <a:latin typeface="Microsoft YaHei"/>
              <a:cs typeface="Microsoft YaHei"/>
            </a:endParaRPr>
          </a:p>
        </p:txBody>
      </p:sp>
      <p:sp>
        <p:nvSpPr>
          <p:cNvPr id="12" name="object 12" descr=""/>
          <p:cNvSpPr txBox="1"/>
          <p:nvPr/>
        </p:nvSpPr>
        <p:spPr>
          <a:xfrm>
            <a:off x="4211954" y="1708365"/>
            <a:ext cx="1709420" cy="336550"/>
          </a:xfrm>
          <a:prstGeom prst="rect">
            <a:avLst/>
          </a:prstGeom>
          <a:solidFill>
            <a:srgbClr val="00B0F0"/>
          </a:solidFill>
        </p:spPr>
        <p:txBody>
          <a:bodyPr wrap="square" lIns="0" tIns="26034" rIns="0" bIns="0" rtlCol="0" vert="horz">
            <a:spAutoFit/>
          </a:bodyPr>
          <a:lstStyle/>
          <a:p>
            <a:pPr algn="ctr">
              <a:lnSpc>
                <a:spcPct val="100000"/>
              </a:lnSpc>
              <a:spcBef>
                <a:spcPts val="204"/>
              </a:spcBef>
            </a:pPr>
            <a:r>
              <a:rPr dirty="0" sz="900" spc="-25" b="1">
                <a:latin typeface="Microsoft YaHei"/>
                <a:cs typeface="Microsoft YaHei"/>
              </a:rPr>
              <a:t>广电</a:t>
            </a:r>
            <a:endParaRPr sz="900">
              <a:latin typeface="Microsoft YaHei"/>
              <a:cs typeface="Microsoft YaHei"/>
            </a:endParaRPr>
          </a:p>
          <a:p>
            <a:pPr algn="ctr">
              <a:lnSpc>
                <a:spcPct val="100000"/>
              </a:lnSpc>
            </a:pPr>
            <a:r>
              <a:rPr dirty="0" sz="900" spc="-10" b="1">
                <a:latin typeface="Microsoft YaHei"/>
                <a:cs typeface="Microsoft YaHei"/>
              </a:rPr>
              <a:t>60MHz</a:t>
            </a:r>
            <a:endParaRPr sz="900">
              <a:latin typeface="Microsoft YaHei"/>
              <a:cs typeface="Microsoft YaHei"/>
            </a:endParaRPr>
          </a:p>
        </p:txBody>
      </p:sp>
      <p:sp>
        <p:nvSpPr>
          <p:cNvPr id="13" name="object 13" descr=""/>
          <p:cNvSpPr txBox="1"/>
          <p:nvPr/>
        </p:nvSpPr>
        <p:spPr>
          <a:xfrm>
            <a:off x="7589221" y="2041230"/>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5000</a:t>
            </a:r>
            <a:endParaRPr sz="800">
              <a:latin typeface="Microsoft YaHei"/>
              <a:cs typeface="Microsoft YaHei"/>
            </a:endParaRPr>
          </a:p>
        </p:txBody>
      </p:sp>
      <p:sp>
        <p:nvSpPr>
          <p:cNvPr id="14" name="object 14" descr=""/>
          <p:cNvSpPr txBox="1"/>
          <p:nvPr/>
        </p:nvSpPr>
        <p:spPr>
          <a:xfrm>
            <a:off x="6012154" y="1723402"/>
            <a:ext cx="1709420" cy="336550"/>
          </a:xfrm>
          <a:prstGeom prst="rect">
            <a:avLst/>
          </a:prstGeom>
          <a:solidFill>
            <a:srgbClr val="FFC000"/>
          </a:solidFill>
        </p:spPr>
        <p:txBody>
          <a:bodyPr wrap="square" lIns="0" tIns="26034" rIns="0" bIns="0" rtlCol="0" vert="horz">
            <a:spAutoFit/>
          </a:bodyPr>
          <a:lstStyle/>
          <a:p>
            <a:pPr algn="ctr">
              <a:lnSpc>
                <a:spcPct val="100000"/>
              </a:lnSpc>
              <a:spcBef>
                <a:spcPts val="204"/>
              </a:spcBef>
            </a:pPr>
            <a:r>
              <a:rPr dirty="0" sz="900" spc="-25" b="1">
                <a:latin typeface="Microsoft YaHei"/>
                <a:cs typeface="Microsoft YaHei"/>
              </a:rPr>
              <a:t>军队</a:t>
            </a:r>
            <a:endParaRPr sz="900">
              <a:latin typeface="Microsoft YaHei"/>
              <a:cs typeface="Microsoft YaHei"/>
            </a:endParaRPr>
          </a:p>
          <a:p>
            <a:pPr algn="ctr">
              <a:lnSpc>
                <a:spcPct val="100000"/>
              </a:lnSpc>
            </a:pPr>
            <a:r>
              <a:rPr dirty="0" sz="900" spc="-10" b="1">
                <a:latin typeface="Microsoft YaHei"/>
                <a:cs typeface="Microsoft YaHei"/>
              </a:rPr>
              <a:t>40MHz</a:t>
            </a:r>
            <a:endParaRPr sz="900">
              <a:latin typeface="Microsoft YaHei"/>
              <a:cs typeface="Microsoft YaHei"/>
            </a:endParaRPr>
          </a:p>
        </p:txBody>
      </p:sp>
      <p:sp>
        <p:nvSpPr>
          <p:cNvPr id="15" name="object 15" descr=""/>
          <p:cNvSpPr txBox="1"/>
          <p:nvPr/>
        </p:nvSpPr>
        <p:spPr>
          <a:xfrm>
            <a:off x="274646" y="1749312"/>
            <a:ext cx="67818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C00000"/>
                </a:solidFill>
                <a:latin typeface="Microsoft YaHei"/>
                <a:cs typeface="Microsoft YaHei"/>
              </a:rPr>
              <a:t>4.9G</a:t>
            </a:r>
            <a:r>
              <a:rPr dirty="0" sz="1200" spc="-25" b="1">
                <a:solidFill>
                  <a:srgbClr val="C00000"/>
                </a:solidFill>
                <a:latin typeface="Microsoft YaHei"/>
                <a:cs typeface="Microsoft YaHei"/>
              </a:rPr>
              <a:t>频段</a:t>
            </a:r>
            <a:endParaRPr sz="1200">
              <a:latin typeface="Microsoft YaHei"/>
              <a:cs typeface="Microsoft YaHei"/>
            </a:endParaRPr>
          </a:p>
        </p:txBody>
      </p:sp>
      <p:sp>
        <p:nvSpPr>
          <p:cNvPr id="16" name="object 16" descr=""/>
          <p:cNvSpPr txBox="1"/>
          <p:nvPr/>
        </p:nvSpPr>
        <p:spPr>
          <a:xfrm>
            <a:off x="692226" y="3174190"/>
            <a:ext cx="141605" cy="162560"/>
          </a:xfrm>
          <a:prstGeom prst="rect">
            <a:avLst/>
          </a:prstGeom>
        </p:spPr>
        <p:txBody>
          <a:bodyPr wrap="square" lIns="0" tIns="12700" rIns="0" bIns="0" rtlCol="0" vert="horz">
            <a:spAutoFit/>
          </a:bodyPr>
          <a:lstStyle/>
          <a:p>
            <a:pPr marL="12700">
              <a:lnSpc>
                <a:spcPct val="100000"/>
              </a:lnSpc>
              <a:spcBef>
                <a:spcPts val="100"/>
              </a:spcBef>
            </a:pPr>
            <a:r>
              <a:rPr dirty="0" sz="900" spc="-25">
                <a:solidFill>
                  <a:srgbClr val="F2F2F2"/>
                </a:solidFill>
                <a:latin typeface="SimSun"/>
                <a:cs typeface="SimSun"/>
              </a:rPr>
              <a:t>55</a:t>
            </a:r>
            <a:endParaRPr sz="900">
              <a:latin typeface="SimSun"/>
              <a:cs typeface="SimSun"/>
            </a:endParaRPr>
          </a:p>
        </p:txBody>
      </p:sp>
      <p:sp>
        <p:nvSpPr>
          <p:cNvPr id="17" name="object 17" descr=""/>
          <p:cNvSpPr txBox="1"/>
          <p:nvPr/>
        </p:nvSpPr>
        <p:spPr>
          <a:xfrm>
            <a:off x="8691494" y="3051081"/>
            <a:ext cx="139700" cy="162560"/>
          </a:xfrm>
          <a:prstGeom prst="rect">
            <a:avLst/>
          </a:prstGeom>
        </p:spPr>
        <p:txBody>
          <a:bodyPr wrap="square" lIns="0" tIns="12700" rIns="0" bIns="0" rtlCol="0" vert="horz">
            <a:spAutoFit/>
          </a:bodyPr>
          <a:lstStyle/>
          <a:p>
            <a:pPr marL="12700">
              <a:lnSpc>
                <a:spcPct val="100000"/>
              </a:lnSpc>
              <a:spcBef>
                <a:spcPts val="100"/>
              </a:spcBef>
            </a:pPr>
            <a:r>
              <a:rPr dirty="0" sz="900" spc="-50">
                <a:latin typeface="SimSun"/>
                <a:cs typeface="SimSun"/>
              </a:rPr>
              <a:t>…</a:t>
            </a:r>
            <a:endParaRPr sz="900">
              <a:latin typeface="SimSun"/>
              <a:cs typeface="SimSun"/>
            </a:endParaRPr>
          </a:p>
        </p:txBody>
      </p:sp>
      <p:sp>
        <p:nvSpPr>
          <p:cNvPr id="18" name="object 18" descr=""/>
          <p:cNvSpPr txBox="1"/>
          <p:nvPr/>
        </p:nvSpPr>
        <p:spPr>
          <a:xfrm>
            <a:off x="1130448" y="3537064"/>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2515</a:t>
            </a:r>
            <a:endParaRPr sz="800">
              <a:latin typeface="Microsoft YaHei"/>
              <a:cs typeface="Microsoft YaHei"/>
            </a:endParaRPr>
          </a:p>
        </p:txBody>
      </p:sp>
      <p:sp>
        <p:nvSpPr>
          <p:cNvPr id="19" name="object 19" descr=""/>
          <p:cNvSpPr txBox="1"/>
          <p:nvPr/>
        </p:nvSpPr>
        <p:spPr>
          <a:xfrm>
            <a:off x="8009713" y="3465007"/>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2675</a:t>
            </a:r>
            <a:endParaRPr sz="800">
              <a:latin typeface="Microsoft YaHei"/>
              <a:cs typeface="Microsoft YaHei"/>
            </a:endParaRPr>
          </a:p>
        </p:txBody>
      </p:sp>
      <p:sp>
        <p:nvSpPr>
          <p:cNvPr id="20" name="object 20" descr=""/>
          <p:cNvSpPr txBox="1"/>
          <p:nvPr/>
        </p:nvSpPr>
        <p:spPr>
          <a:xfrm>
            <a:off x="3041124" y="3537570"/>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2555</a:t>
            </a:r>
            <a:endParaRPr sz="800">
              <a:latin typeface="Microsoft YaHei"/>
              <a:cs typeface="Microsoft YaHei"/>
            </a:endParaRPr>
          </a:p>
        </p:txBody>
      </p:sp>
      <p:sp>
        <p:nvSpPr>
          <p:cNvPr id="21" name="object 21" descr=""/>
          <p:cNvSpPr txBox="1"/>
          <p:nvPr/>
        </p:nvSpPr>
        <p:spPr>
          <a:xfrm>
            <a:off x="4102521" y="3536962"/>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2575</a:t>
            </a:r>
            <a:endParaRPr sz="800">
              <a:latin typeface="Microsoft YaHei"/>
              <a:cs typeface="Microsoft YaHei"/>
            </a:endParaRPr>
          </a:p>
        </p:txBody>
      </p:sp>
      <p:grpSp>
        <p:nvGrpSpPr>
          <p:cNvPr id="22" name="object 22" descr=""/>
          <p:cNvGrpSpPr/>
          <p:nvPr/>
        </p:nvGrpSpPr>
        <p:grpSpPr>
          <a:xfrm>
            <a:off x="3206673" y="2964002"/>
            <a:ext cx="1038225" cy="537210"/>
            <a:chOff x="3206673" y="2964002"/>
            <a:chExt cx="1038225" cy="537210"/>
          </a:xfrm>
        </p:grpSpPr>
        <p:sp>
          <p:nvSpPr>
            <p:cNvPr id="23" name="object 23" descr=""/>
            <p:cNvSpPr/>
            <p:nvPr/>
          </p:nvSpPr>
          <p:spPr>
            <a:xfrm>
              <a:off x="3206673" y="2964002"/>
              <a:ext cx="1010919" cy="497840"/>
            </a:xfrm>
            <a:custGeom>
              <a:avLst/>
              <a:gdLst/>
              <a:ahLst/>
              <a:cxnLst/>
              <a:rect l="l" t="t" r="r" b="b"/>
              <a:pathLst>
                <a:path w="1010920" h="497839">
                  <a:moveTo>
                    <a:pt x="1010793" y="0"/>
                  </a:moveTo>
                  <a:lnTo>
                    <a:pt x="0" y="0"/>
                  </a:lnTo>
                  <a:lnTo>
                    <a:pt x="0" y="497382"/>
                  </a:lnTo>
                  <a:lnTo>
                    <a:pt x="1010793" y="497382"/>
                  </a:lnTo>
                  <a:lnTo>
                    <a:pt x="1010793" y="0"/>
                  </a:lnTo>
                  <a:close/>
                </a:path>
              </a:pathLst>
            </a:custGeom>
            <a:solidFill>
              <a:srgbClr val="00B050"/>
            </a:solidFill>
          </p:spPr>
          <p:txBody>
            <a:bodyPr wrap="square" lIns="0" tIns="0" rIns="0" bIns="0" rtlCol="0"/>
            <a:lstStyle/>
            <a:p/>
          </p:txBody>
        </p:sp>
        <p:sp>
          <p:nvSpPr>
            <p:cNvPr id="24" name="object 24" descr=""/>
            <p:cNvSpPr/>
            <p:nvPr/>
          </p:nvSpPr>
          <p:spPr>
            <a:xfrm>
              <a:off x="3218929" y="2973222"/>
              <a:ext cx="1026160" cy="527685"/>
            </a:xfrm>
            <a:custGeom>
              <a:avLst/>
              <a:gdLst/>
              <a:ahLst/>
              <a:cxnLst/>
              <a:rect l="l" t="t" r="r" b="b"/>
              <a:pathLst>
                <a:path w="1026160" h="527685">
                  <a:moveTo>
                    <a:pt x="1025829" y="0"/>
                  </a:moveTo>
                  <a:lnTo>
                    <a:pt x="0" y="0"/>
                  </a:lnTo>
                  <a:lnTo>
                    <a:pt x="0" y="527380"/>
                  </a:lnTo>
                  <a:lnTo>
                    <a:pt x="1025829" y="527380"/>
                  </a:lnTo>
                  <a:lnTo>
                    <a:pt x="1025829" y="0"/>
                  </a:lnTo>
                  <a:close/>
                </a:path>
              </a:pathLst>
            </a:custGeom>
            <a:solidFill>
              <a:srgbClr val="6B6BCF"/>
            </a:solidFill>
          </p:spPr>
          <p:txBody>
            <a:bodyPr wrap="square" lIns="0" tIns="0" rIns="0" bIns="0" rtlCol="0"/>
            <a:lstStyle/>
            <a:p/>
          </p:txBody>
        </p:sp>
      </p:grpSp>
      <p:sp>
        <p:nvSpPr>
          <p:cNvPr id="25" name="object 25" descr=""/>
          <p:cNvSpPr txBox="1"/>
          <p:nvPr/>
        </p:nvSpPr>
        <p:spPr>
          <a:xfrm>
            <a:off x="3297675" y="3010052"/>
            <a:ext cx="427990" cy="162560"/>
          </a:xfrm>
          <a:prstGeom prst="rect">
            <a:avLst/>
          </a:prstGeom>
        </p:spPr>
        <p:txBody>
          <a:bodyPr wrap="square" lIns="0" tIns="12700" rIns="0" bIns="0" rtlCol="0" vert="horz">
            <a:spAutoFit/>
          </a:bodyPr>
          <a:lstStyle/>
          <a:p>
            <a:pPr marL="12700">
              <a:lnSpc>
                <a:spcPct val="100000"/>
              </a:lnSpc>
              <a:spcBef>
                <a:spcPts val="100"/>
              </a:spcBef>
            </a:pPr>
            <a:r>
              <a:rPr dirty="0" sz="900">
                <a:latin typeface="SimSun"/>
                <a:cs typeface="SimSun"/>
              </a:rPr>
              <a:t>联通</a:t>
            </a:r>
            <a:r>
              <a:rPr dirty="0" sz="900" spc="-25">
                <a:latin typeface="SimSun"/>
                <a:cs typeface="SimSun"/>
              </a:rPr>
              <a:t>20M</a:t>
            </a:r>
            <a:endParaRPr sz="900">
              <a:latin typeface="SimSun"/>
              <a:cs typeface="SimSun"/>
            </a:endParaRPr>
          </a:p>
        </p:txBody>
      </p:sp>
      <p:sp>
        <p:nvSpPr>
          <p:cNvPr id="26" name="object 26" descr=""/>
          <p:cNvSpPr txBox="1"/>
          <p:nvPr/>
        </p:nvSpPr>
        <p:spPr>
          <a:xfrm>
            <a:off x="4316069" y="2958769"/>
            <a:ext cx="1871345" cy="508000"/>
          </a:xfrm>
          <a:prstGeom prst="rect">
            <a:avLst/>
          </a:prstGeom>
          <a:solidFill>
            <a:srgbClr val="00B0F0"/>
          </a:solidFill>
        </p:spPr>
        <p:txBody>
          <a:bodyPr wrap="square" lIns="0" tIns="43180" rIns="0" bIns="0" rtlCol="0" vert="horz">
            <a:spAutoFit/>
          </a:bodyPr>
          <a:lstStyle/>
          <a:p>
            <a:pPr algn="ctr">
              <a:lnSpc>
                <a:spcPct val="100000"/>
              </a:lnSpc>
              <a:spcBef>
                <a:spcPts val="340"/>
              </a:spcBef>
            </a:pPr>
            <a:r>
              <a:rPr dirty="0" sz="900" spc="-25" b="1">
                <a:latin typeface="Microsoft YaHei"/>
                <a:cs typeface="Microsoft YaHei"/>
              </a:rPr>
              <a:t>移动</a:t>
            </a:r>
            <a:endParaRPr sz="900">
              <a:latin typeface="Microsoft YaHei"/>
              <a:cs typeface="Microsoft YaHei"/>
            </a:endParaRPr>
          </a:p>
          <a:p>
            <a:pPr algn="ctr">
              <a:lnSpc>
                <a:spcPct val="100000"/>
              </a:lnSpc>
            </a:pPr>
            <a:r>
              <a:rPr dirty="0" sz="900" spc="-10" b="1">
                <a:latin typeface="Microsoft YaHei"/>
                <a:cs typeface="Microsoft YaHei"/>
              </a:rPr>
              <a:t>60MHz</a:t>
            </a:r>
            <a:endParaRPr sz="900">
              <a:latin typeface="Microsoft YaHei"/>
              <a:cs typeface="Microsoft YaHei"/>
            </a:endParaRPr>
          </a:p>
        </p:txBody>
      </p:sp>
      <p:sp>
        <p:nvSpPr>
          <p:cNvPr id="27" name="object 27" descr=""/>
          <p:cNvSpPr txBox="1"/>
          <p:nvPr/>
        </p:nvSpPr>
        <p:spPr>
          <a:xfrm>
            <a:off x="6118853" y="3537064"/>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2635</a:t>
            </a:r>
            <a:endParaRPr sz="800">
              <a:latin typeface="Microsoft YaHei"/>
              <a:cs typeface="Microsoft YaHei"/>
            </a:endParaRPr>
          </a:p>
        </p:txBody>
      </p:sp>
      <p:sp>
        <p:nvSpPr>
          <p:cNvPr id="28" name="object 28" descr=""/>
          <p:cNvSpPr txBox="1"/>
          <p:nvPr/>
        </p:nvSpPr>
        <p:spPr>
          <a:xfrm>
            <a:off x="6307988" y="2957372"/>
            <a:ext cx="871219" cy="497840"/>
          </a:xfrm>
          <a:prstGeom prst="rect">
            <a:avLst/>
          </a:prstGeom>
          <a:solidFill>
            <a:srgbClr val="FFC000"/>
          </a:solidFill>
        </p:spPr>
        <p:txBody>
          <a:bodyPr wrap="square" lIns="0" tIns="98425" rIns="0" bIns="0" rtlCol="0" vert="horz">
            <a:spAutoFit/>
          </a:bodyPr>
          <a:lstStyle/>
          <a:p>
            <a:pPr marL="124460">
              <a:lnSpc>
                <a:spcPct val="100000"/>
              </a:lnSpc>
              <a:spcBef>
                <a:spcPts val="775"/>
              </a:spcBef>
            </a:pPr>
            <a:r>
              <a:rPr dirty="0" sz="900">
                <a:latin typeface="SimSun"/>
                <a:cs typeface="SimSun"/>
              </a:rPr>
              <a:t>电信</a:t>
            </a:r>
            <a:r>
              <a:rPr dirty="0" sz="900" spc="-25">
                <a:latin typeface="SimSun"/>
                <a:cs typeface="SimSun"/>
              </a:rPr>
              <a:t>20M</a:t>
            </a:r>
            <a:endParaRPr sz="900">
              <a:latin typeface="SimSun"/>
              <a:cs typeface="SimSun"/>
            </a:endParaRPr>
          </a:p>
        </p:txBody>
      </p:sp>
      <p:sp>
        <p:nvSpPr>
          <p:cNvPr id="29" name="object 29" descr=""/>
          <p:cNvSpPr txBox="1"/>
          <p:nvPr/>
        </p:nvSpPr>
        <p:spPr>
          <a:xfrm>
            <a:off x="7054955" y="3503654"/>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2655</a:t>
            </a:r>
            <a:endParaRPr sz="800">
              <a:latin typeface="Microsoft YaHei"/>
              <a:cs typeface="Microsoft YaHei"/>
            </a:endParaRPr>
          </a:p>
        </p:txBody>
      </p:sp>
      <p:sp>
        <p:nvSpPr>
          <p:cNvPr id="30" name="object 30" descr=""/>
          <p:cNvSpPr txBox="1"/>
          <p:nvPr/>
        </p:nvSpPr>
        <p:spPr>
          <a:xfrm>
            <a:off x="7436888" y="3195468"/>
            <a:ext cx="116205" cy="114300"/>
          </a:xfrm>
          <a:prstGeom prst="rect">
            <a:avLst/>
          </a:prstGeom>
        </p:spPr>
        <p:txBody>
          <a:bodyPr wrap="square" lIns="0" tIns="0" rIns="0" bIns="0" rtlCol="0" vert="horz">
            <a:spAutoFit/>
          </a:bodyPr>
          <a:lstStyle/>
          <a:p>
            <a:pPr>
              <a:lnSpc>
                <a:spcPts val="900"/>
              </a:lnSpc>
            </a:pPr>
            <a:r>
              <a:rPr dirty="0" sz="900" spc="-25">
                <a:solidFill>
                  <a:srgbClr val="F2F2F2"/>
                </a:solidFill>
                <a:latin typeface="SimSun"/>
                <a:cs typeface="SimSun"/>
              </a:rPr>
              <a:t>35</a:t>
            </a:r>
            <a:endParaRPr sz="900">
              <a:latin typeface="SimSun"/>
              <a:cs typeface="SimSun"/>
            </a:endParaRPr>
          </a:p>
        </p:txBody>
      </p:sp>
      <p:sp>
        <p:nvSpPr>
          <p:cNvPr id="31" name="object 31" descr=""/>
          <p:cNvSpPr txBox="1"/>
          <p:nvPr/>
        </p:nvSpPr>
        <p:spPr>
          <a:xfrm>
            <a:off x="342585" y="2741668"/>
            <a:ext cx="67818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C00000"/>
                </a:solidFill>
                <a:latin typeface="Microsoft YaHei"/>
                <a:cs typeface="Microsoft YaHei"/>
              </a:rPr>
              <a:t>2.6G</a:t>
            </a:r>
            <a:r>
              <a:rPr dirty="0" sz="1200" spc="-25" b="1">
                <a:solidFill>
                  <a:srgbClr val="C00000"/>
                </a:solidFill>
                <a:latin typeface="Microsoft YaHei"/>
                <a:cs typeface="Microsoft YaHei"/>
              </a:rPr>
              <a:t>频段</a:t>
            </a:r>
            <a:endParaRPr sz="1200">
              <a:latin typeface="Microsoft YaHei"/>
              <a:cs typeface="Microsoft YaHei"/>
            </a:endParaRPr>
          </a:p>
        </p:txBody>
      </p:sp>
      <p:sp>
        <p:nvSpPr>
          <p:cNvPr id="32" name="object 32" descr=""/>
          <p:cNvSpPr/>
          <p:nvPr/>
        </p:nvSpPr>
        <p:spPr>
          <a:xfrm>
            <a:off x="1283614" y="2973997"/>
            <a:ext cx="900430" cy="508000"/>
          </a:xfrm>
          <a:custGeom>
            <a:avLst/>
            <a:gdLst/>
            <a:ahLst/>
            <a:cxnLst/>
            <a:rect l="l" t="t" r="r" b="b"/>
            <a:pathLst>
              <a:path w="900430" h="508000">
                <a:moveTo>
                  <a:pt x="900163" y="0"/>
                </a:moveTo>
                <a:lnTo>
                  <a:pt x="0" y="0"/>
                </a:lnTo>
                <a:lnTo>
                  <a:pt x="0" y="507834"/>
                </a:lnTo>
                <a:lnTo>
                  <a:pt x="900163" y="507834"/>
                </a:lnTo>
                <a:lnTo>
                  <a:pt x="900163" y="0"/>
                </a:lnTo>
                <a:close/>
              </a:path>
            </a:pathLst>
          </a:custGeom>
          <a:solidFill>
            <a:srgbClr val="92D050"/>
          </a:solidFill>
        </p:spPr>
        <p:txBody>
          <a:bodyPr wrap="square" lIns="0" tIns="0" rIns="0" bIns="0" rtlCol="0"/>
          <a:lstStyle/>
          <a:p/>
        </p:txBody>
      </p:sp>
      <p:sp>
        <p:nvSpPr>
          <p:cNvPr id="33" name="object 33" descr=""/>
          <p:cNvSpPr txBox="1"/>
          <p:nvPr/>
        </p:nvSpPr>
        <p:spPr>
          <a:xfrm>
            <a:off x="1462675" y="3010829"/>
            <a:ext cx="542290" cy="162560"/>
          </a:xfrm>
          <a:prstGeom prst="rect">
            <a:avLst/>
          </a:prstGeom>
        </p:spPr>
        <p:txBody>
          <a:bodyPr wrap="square" lIns="0" tIns="12700" rIns="0" bIns="0" rtlCol="0" vert="horz">
            <a:spAutoFit/>
          </a:bodyPr>
          <a:lstStyle/>
          <a:p>
            <a:pPr marL="12700">
              <a:lnSpc>
                <a:spcPct val="100000"/>
              </a:lnSpc>
              <a:spcBef>
                <a:spcPts val="100"/>
              </a:spcBef>
            </a:pPr>
            <a:r>
              <a:rPr dirty="0" sz="900">
                <a:latin typeface="SimSun"/>
                <a:cs typeface="SimSun"/>
              </a:rPr>
              <a:t>未分配</a:t>
            </a:r>
            <a:r>
              <a:rPr dirty="0" sz="900" spc="-25">
                <a:latin typeface="SimSun"/>
                <a:cs typeface="SimSun"/>
              </a:rPr>
              <a:t>20M</a:t>
            </a:r>
            <a:endParaRPr sz="900">
              <a:latin typeface="SimSun"/>
              <a:cs typeface="SimSun"/>
            </a:endParaRPr>
          </a:p>
        </p:txBody>
      </p:sp>
      <p:sp>
        <p:nvSpPr>
          <p:cNvPr id="34" name="object 34" descr=""/>
          <p:cNvSpPr/>
          <p:nvPr/>
        </p:nvSpPr>
        <p:spPr>
          <a:xfrm>
            <a:off x="2254618" y="2973222"/>
            <a:ext cx="900430" cy="508000"/>
          </a:xfrm>
          <a:custGeom>
            <a:avLst/>
            <a:gdLst/>
            <a:ahLst/>
            <a:cxnLst/>
            <a:rect l="l" t="t" r="r" b="b"/>
            <a:pathLst>
              <a:path w="900430" h="508000">
                <a:moveTo>
                  <a:pt x="900163" y="0"/>
                </a:moveTo>
                <a:lnTo>
                  <a:pt x="0" y="0"/>
                </a:lnTo>
                <a:lnTo>
                  <a:pt x="0" y="507834"/>
                </a:lnTo>
                <a:lnTo>
                  <a:pt x="900163" y="507834"/>
                </a:lnTo>
                <a:lnTo>
                  <a:pt x="900163" y="0"/>
                </a:lnTo>
                <a:close/>
              </a:path>
            </a:pathLst>
          </a:custGeom>
          <a:solidFill>
            <a:srgbClr val="92D050"/>
          </a:solidFill>
        </p:spPr>
        <p:txBody>
          <a:bodyPr wrap="square" lIns="0" tIns="0" rIns="0" bIns="0" rtlCol="0"/>
          <a:lstStyle/>
          <a:p/>
        </p:txBody>
      </p:sp>
      <p:sp>
        <p:nvSpPr>
          <p:cNvPr id="35" name="object 35" descr=""/>
          <p:cNvSpPr txBox="1"/>
          <p:nvPr/>
        </p:nvSpPr>
        <p:spPr>
          <a:xfrm>
            <a:off x="2433684" y="3010052"/>
            <a:ext cx="542290" cy="162560"/>
          </a:xfrm>
          <a:prstGeom prst="rect">
            <a:avLst/>
          </a:prstGeom>
        </p:spPr>
        <p:txBody>
          <a:bodyPr wrap="square" lIns="0" tIns="12700" rIns="0" bIns="0" rtlCol="0" vert="horz">
            <a:spAutoFit/>
          </a:bodyPr>
          <a:lstStyle/>
          <a:p>
            <a:pPr marL="12700">
              <a:lnSpc>
                <a:spcPct val="100000"/>
              </a:lnSpc>
              <a:spcBef>
                <a:spcPts val="100"/>
              </a:spcBef>
            </a:pPr>
            <a:r>
              <a:rPr dirty="0" sz="900">
                <a:latin typeface="SimSun"/>
                <a:cs typeface="SimSun"/>
              </a:rPr>
              <a:t>未分配</a:t>
            </a:r>
            <a:r>
              <a:rPr dirty="0" sz="900" spc="-25">
                <a:latin typeface="SimSun"/>
                <a:cs typeface="SimSun"/>
              </a:rPr>
              <a:t>20M</a:t>
            </a:r>
            <a:endParaRPr sz="900">
              <a:latin typeface="SimSun"/>
              <a:cs typeface="SimSun"/>
            </a:endParaRPr>
          </a:p>
        </p:txBody>
      </p:sp>
      <p:sp>
        <p:nvSpPr>
          <p:cNvPr id="36" name="object 36" descr=""/>
          <p:cNvSpPr txBox="1"/>
          <p:nvPr/>
        </p:nvSpPr>
        <p:spPr>
          <a:xfrm>
            <a:off x="7296112" y="2960039"/>
            <a:ext cx="900430" cy="508000"/>
          </a:xfrm>
          <a:prstGeom prst="rect">
            <a:avLst/>
          </a:prstGeom>
          <a:solidFill>
            <a:srgbClr val="92D050"/>
          </a:solidFill>
        </p:spPr>
        <p:txBody>
          <a:bodyPr wrap="square" lIns="0" tIns="49530" rIns="0" bIns="0" rtlCol="0" vert="horz">
            <a:spAutoFit/>
          </a:bodyPr>
          <a:lstStyle/>
          <a:p>
            <a:pPr marL="191770">
              <a:lnSpc>
                <a:spcPct val="100000"/>
              </a:lnSpc>
              <a:spcBef>
                <a:spcPts val="390"/>
              </a:spcBef>
            </a:pPr>
            <a:r>
              <a:rPr dirty="0" sz="900">
                <a:latin typeface="SimSun"/>
                <a:cs typeface="SimSun"/>
              </a:rPr>
              <a:t>未分配</a:t>
            </a:r>
            <a:r>
              <a:rPr dirty="0" sz="900" spc="-25">
                <a:latin typeface="SimSun"/>
                <a:cs typeface="SimSun"/>
              </a:rPr>
              <a:t>20M</a:t>
            </a:r>
            <a:endParaRPr sz="900">
              <a:latin typeface="SimSun"/>
              <a:cs typeface="SimSun"/>
            </a:endParaRPr>
          </a:p>
        </p:txBody>
      </p:sp>
      <p:grpSp>
        <p:nvGrpSpPr>
          <p:cNvPr id="37" name="object 37" descr=""/>
          <p:cNvGrpSpPr/>
          <p:nvPr/>
        </p:nvGrpSpPr>
        <p:grpSpPr>
          <a:xfrm>
            <a:off x="1278848" y="2411935"/>
            <a:ext cx="6911340" cy="934719"/>
            <a:chOff x="1278848" y="2411935"/>
            <a:chExt cx="6911340" cy="934719"/>
          </a:xfrm>
        </p:grpSpPr>
        <p:sp>
          <p:nvSpPr>
            <p:cNvPr id="38" name="object 38" descr=""/>
            <p:cNvSpPr/>
            <p:nvPr/>
          </p:nvSpPr>
          <p:spPr>
            <a:xfrm>
              <a:off x="1283610" y="2582299"/>
              <a:ext cx="0" cy="645795"/>
            </a:xfrm>
            <a:custGeom>
              <a:avLst/>
              <a:gdLst/>
              <a:ahLst/>
              <a:cxnLst/>
              <a:rect l="l" t="t" r="r" b="b"/>
              <a:pathLst>
                <a:path w="0" h="645794">
                  <a:moveTo>
                    <a:pt x="0" y="0"/>
                  </a:moveTo>
                  <a:lnTo>
                    <a:pt x="0" y="645617"/>
                  </a:lnTo>
                </a:path>
              </a:pathLst>
            </a:custGeom>
            <a:ln w="9525">
              <a:solidFill>
                <a:srgbClr val="B6DCDF"/>
              </a:solidFill>
            </a:ln>
          </p:spPr>
          <p:txBody>
            <a:bodyPr wrap="square" lIns="0" tIns="0" rIns="0" bIns="0" rtlCol="0"/>
            <a:lstStyle/>
            <a:p/>
          </p:txBody>
        </p:sp>
        <p:sp>
          <p:nvSpPr>
            <p:cNvPr id="39" name="object 39" descr=""/>
            <p:cNvSpPr/>
            <p:nvPr/>
          </p:nvSpPr>
          <p:spPr>
            <a:xfrm>
              <a:off x="8170887" y="2571749"/>
              <a:ext cx="14604" cy="770255"/>
            </a:xfrm>
            <a:custGeom>
              <a:avLst/>
              <a:gdLst/>
              <a:ahLst/>
              <a:cxnLst/>
              <a:rect l="l" t="t" r="r" b="b"/>
              <a:pathLst>
                <a:path w="14604" h="770254">
                  <a:moveTo>
                    <a:pt x="0" y="0"/>
                  </a:moveTo>
                  <a:lnTo>
                    <a:pt x="14173" y="769988"/>
                  </a:lnTo>
                </a:path>
              </a:pathLst>
            </a:custGeom>
            <a:ln w="9524">
              <a:solidFill>
                <a:srgbClr val="B6DCDF"/>
              </a:solidFill>
            </a:ln>
          </p:spPr>
          <p:txBody>
            <a:bodyPr wrap="square" lIns="0" tIns="0" rIns="0" bIns="0" rtlCol="0"/>
            <a:lstStyle/>
            <a:p/>
          </p:txBody>
        </p:sp>
        <p:sp>
          <p:nvSpPr>
            <p:cNvPr id="40" name="object 40" descr=""/>
            <p:cNvSpPr/>
            <p:nvPr/>
          </p:nvSpPr>
          <p:spPr>
            <a:xfrm>
              <a:off x="6222052" y="2781763"/>
              <a:ext cx="3810" cy="463550"/>
            </a:xfrm>
            <a:custGeom>
              <a:avLst/>
              <a:gdLst/>
              <a:ahLst/>
              <a:cxnLst/>
              <a:rect l="l" t="t" r="r" b="b"/>
              <a:pathLst>
                <a:path w="3810" h="463550">
                  <a:moveTo>
                    <a:pt x="0" y="0"/>
                  </a:moveTo>
                  <a:lnTo>
                    <a:pt x="3759" y="463524"/>
                  </a:lnTo>
                </a:path>
              </a:pathLst>
            </a:custGeom>
            <a:ln w="9525">
              <a:solidFill>
                <a:srgbClr val="B6DCDF"/>
              </a:solidFill>
            </a:ln>
          </p:spPr>
          <p:txBody>
            <a:bodyPr wrap="square" lIns="0" tIns="0" rIns="0" bIns="0" rtlCol="0"/>
            <a:lstStyle/>
            <a:p/>
          </p:txBody>
        </p:sp>
        <p:sp>
          <p:nvSpPr>
            <p:cNvPr id="41" name="object 41" descr=""/>
            <p:cNvSpPr/>
            <p:nvPr/>
          </p:nvSpPr>
          <p:spPr>
            <a:xfrm>
              <a:off x="4275419" y="2751782"/>
              <a:ext cx="0" cy="454659"/>
            </a:xfrm>
            <a:custGeom>
              <a:avLst/>
              <a:gdLst/>
              <a:ahLst/>
              <a:cxnLst/>
              <a:rect l="l" t="t" r="r" b="b"/>
              <a:pathLst>
                <a:path w="0" h="454660">
                  <a:moveTo>
                    <a:pt x="0" y="0"/>
                  </a:moveTo>
                  <a:lnTo>
                    <a:pt x="0" y="454279"/>
                  </a:lnTo>
                </a:path>
              </a:pathLst>
            </a:custGeom>
            <a:ln w="9525">
              <a:solidFill>
                <a:srgbClr val="B6DCDF"/>
              </a:solidFill>
            </a:ln>
          </p:spPr>
          <p:txBody>
            <a:bodyPr wrap="square" lIns="0" tIns="0" rIns="0" bIns="0" rtlCol="0"/>
            <a:lstStyle/>
            <a:p/>
          </p:txBody>
        </p:sp>
        <p:sp>
          <p:nvSpPr>
            <p:cNvPr id="42" name="object 42" descr=""/>
            <p:cNvSpPr/>
            <p:nvPr/>
          </p:nvSpPr>
          <p:spPr>
            <a:xfrm>
              <a:off x="1290812" y="2416698"/>
              <a:ext cx="6822440" cy="127000"/>
            </a:xfrm>
            <a:custGeom>
              <a:avLst/>
              <a:gdLst/>
              <a:ahLst/>
              <a:cxnLst/>
              <a:rect l="l" t="t" r="r" b="b"/>
              <a:pathLst>
                <a:path w="6822440" h="127000">
                  <a:moveTo>
                    <a:pt x="0" y="126936"/>
                  </a:moveTo>
                  <a:lnTo>
                    <a:pt x="831" y="102233"/>
                  </a:lnTo>
                  <a:lnTo>
                    <a:pt x="3098" y="82061"/>
                  </a:lnTo>
                  <a:lnTo>
                    <a:pt x="6461" y="68461"/>
                  </a:lnTo>
                  <a:lnTo>
                    <a:pt x="10579" y="63474"/>
                  </a:lnTo>
                  <a:lnTo>
                    <a:pt x="3400513" y="63474"/>
                  </a:lnTo>
                  <a:lnTo>
                    <a:pt x="3404631" y="58485"/>
                  </a:lnTo>
                  <a:lnTo>
                    <a:pt x="3407994" y="44881"/>
                  </a:lnTo>
                  <a:lnTo>
                    <a:pt x="3410261" y="24705"/>
                  </a:lnTo>
                  <a:lnTo>
                    <a:pt x="3411092" y="0"/>
                  </a:lnTo>
                  <a:lnTo>
                    <a:pt x="3411924" y="24705"/>
                  </a:lnTo>
                  <a:lnTo>
                    <a:pt x="3414191" y="44881"/>
                  </a:lnTo>
                  <a:lnTo>
                    <a:pt x="3417554" y="58485"/>
                  </a:lnTo>
                  <a:lnTo>
                    <a:pt x="3421672" y="63474"/>
                  </a:lnTo>
                  <a:lnTo>
                    <a:pt x="6811606" y="63474"/>
                  </a:lnTo>
                  <a:lnTo>
                    <a:pt x="6815724" y="68461"/>
                  </a:lnTo>
                  <a:lnTo>
                    <a:pt x="6819087" y="82061"/>
                  </a:lnTo>
                  <a:lnTo>
                    <a:pt x="6821354" y="102233"/>
                  </a:lnTo>
                  <a:lnTo>
                    <a:pt x="6822185" y="126936"/>
                  </a:lnTo>
                </a:path>
              </a:pathLst>
            </a:custGeom>
            <a:ln w="9525">
              <a:solidFill>
                <a:srgbClr val="B6DCDF"/>
              </a:solidFill>
            </a:ln>
          </p:spPr>
          <p:txBody>
            <a:bodyPr wrap="square" lIns="0" tIns="0" rIns="0" bIns="0" rtlCol="0"/>
            <a:lstStyle/>
            <a:p/>
          </p:txBody>
        </p:sp>
        <p:sp>
          <p:nvSpPr>
            <p:cNvPr id="43" name="object 43" descr=""/>
            <p:cNvSpPr/>
            <p:nvPr/>
          </p:nvSpPr>
          <p:spPr>
            <a:xfrm>
              <a:off x="1309522" y="2796322"/>
              <a:ext cx="2910205" cy="124460"/>
            </a:xfrm>
            <a:custGeom>
              <a:avLst/>
              <a:gdLst/>
              <a:ahLst/>
              <a:cxnLst/>
              <a:rect l="l" t="t" r="r" b="b"/>
              <a:pathLst>
                <a:path w="2910204" h="124460">
                  <a:moveTo>
                    <a:pt x="0" y="124434"/>
                  </a:moveTo>
                  <a:lnTo>
                    <a:pt x="815" y="100214"/>
                  </a:lnTo>
                  <a:lnTo>
                    <a:pt x="3038" y="80438"/>
                  </a:lnTo>
                  <a:lnTo>
                    <a:pt x="6332" y="67106"/>
                  </a:lnTo>
                  <a:lnTo>
                    <a:pt x="10363" y="62217"/>
                  </a:lnTo>
                  <a:lnTo>
                    <a:pt x="1444599" y="62217"/>
                  </a:lnTo>
                  <a:lnTo>
                    <a:pt x="1448635" y="57328"/>
                  </a:lnTo>
                  <a:lnTo>
                    <a:pt x="1451929" y="43995"/>
                  </a:lnTo>
                  <a:lnTo>
                    <a:pt x="1454149" y="24219"/>
                  </a:lnTo>
                  <a:lnTo>
                    <a:pt x="1454962" y="0"/>
                  </a:lnTo>
                  <a:lnTo>
                    <a:pt x="1455778" y="24219"/>
                  </a:lnTo>
                  <a:lnTo>
                    <a:pt x="1458002" y="43995"/>
                  </a:lnTo>
                  <a:lnTo>
                    <a:pt x="1461301" y="57328"/>
                  </a:lnTo>
                  <a:lnTo>
                    <a:pt x="1465338" y="62217"/>
                  </a:lnTo>
                  <a:lnTo>
                    <a:pt x="2899562" y="62217"/>
                  </a:lnTo>
                  <a:lnTo>
                    <a:pt x="2903598" y="67107"/>
                  </a:lnTo>
                  <a:lnTo>
                    <a:pt x="2906891" y="80443"/>
                  </a:lnTo>
                  <a:lnTo>
                    <a:pt x="2909111" y="100220"/>
                  </a:lnTo>
                  <a:lnTo>
                    <a:pt x="2909925" y="124434"/>
                  </a:lnTo>
                </a:path>
              </a:pathLst>
            </a:custGeom>
            <a:ln w="9525">
              <a:solidFill>
                <a:srgbClr val="B6DCDF"/>
              </a:solidFill>
            </a:ln>
          </p:spPr>
          <p:txBody>
            <a:bodyPr wrap="square" lIns="0" tIns="0" rIns="0" bIns="0" rtlCol="0"/>
            <a:lstStyle/>
            <a:p/>
          </p:txBody>
        </p:sp>
      </p:grpSp>
      <p:sp>
        <p:nvSpPr>
          <p:cNvPr id="44" name="object 44" descr=""/>
          <p:cNvSpPr txBox="1"/>
          <p:nvPr/>
        </p:nvSpPr>
        <p:spPr>
          <a:xfrm>
            <a:off x="2114810" y="2581228"/>
            <a:ext cx="5588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SimSun"/>
                <a:cs typeface="SimSun"/>
              </a:rPr>
              <a:t>新增</a:t>
            </a:r>
            <a:r>
              <a:rPr dirty="0" sz="1200" spc="-25">
                <a:latin typeface="SimSun"/>
                <a:cs typeface="SimSun"/>
              </a:rPr>
              <a:t>60M</a:t>
            </a:r>
            <a:endParaRPr sz="1200">
              <a:latin typeface="SimSun"/>
              <a:cs typeface="SimSun"/>
            </a:endParaRPr>
          </a:p>
        </p:txBody>
      </p:sp>
      <p:sp>
        <p:nvSpPr>
          <p:cNvPr id="45" name="object 45" descr=""/>
          <p:cNvSpPr/>
          <p:nvPr/>
        </p:nvSpPr>
        <p:spPr>
          <a:xfrm>
            <a:off x="6236644" y="2776741"/>
            <a:ext cx="1904364" cy="144145"/>
          </a:xfrm>
          <a:custGeom>
            <a:avLst/>
            <a:gdLst/>
            <a:ahLst/>
            <a:cxnLst/>
            <a:rect l="l" t="t" r="r" b="b"/>
            <a:pathLst>
              <a:path w="1904365" h="144144">
                <a:moveTo>
                  <a:pt x="0" y="144018"/>
                </a:moveTo>
                <a:lnTo>
                  <a:pt x="942" y="115991"/>
                </a:lnTo>
                <a:lnTo>
                  <a:pt x="3514" y="93102"/>
                </a:lnTo>
                <a:lnTo>
                  <a:pt x="7329" y="77668"/>
                </a:lnTo>
                <a:lnTo>
                  <a:pt x="12001" y="72009"/>
                </a:lnTo>
                <a:lnTo>
                  <a:pt x="940003" y="72009"/>
                </a:lnTo>
                <a:lnTo>
                  <a:pt x="944669" y="66351"/>
                </a:lnTo>
                <a:lnTo>
                  <a:pt x="948485" y="50920"/>
                </a:lnTo>
                <a:lnTo>
                  <a:pt x="951059" y="28032"/>
                </a:lnTo>
                <a:lnTo>
                  <a:pt x="952004" y="0"/>
                </a:lnTo>
                <a:lnTo>
                  <a:pt x="952947" y="28032"/>
                </a:lnTo>
                <a:lnTo>
                  <a:pt x="955517" y="50920"/>
                </a:lnTo>
                <a:lnTo>
                  <a:pt x="959328" y="66351"/>
                </a:lnTo>
                <a:lnTo>
                  <a:pt x="963993" y="72009"/>
                </a:lnTo>
                <a:lnTo>
                  <a:pt x="1891995" y="72009"/>
                </a:lnTo>
                <a:lnTo>
                  <a:pt x="1896667" y="77668"/>
                </a:lnTo>
                <a:lnTo>
                  <a:pt x="1900481" y="93102"/>
                </a:lnTo>
                <a:lnTo>
                  <a:pt x="1903053" y="115991"/>
                </a:lnTo>
                <a:lnTo>
                  <a:pt x="1903996" y="144018"/>
                </a:lnTo>
              </a:path>
            </a:pathLst>
          </a:custGeom>
          <a:ln w="9525">
            <a:solidFill>
              <a:srgbClr val="B6DCDF"/>
            </a:solidFill>
          </a:ln>
        </p:spPr>
        <p:txBody>
          <a:bodyPr wrap="square" lIns="0" tIns="0" rIns="0" bIns="0" rtlCol="0"/>
          <a:lstStyle/>
          <a:p/>
        </p:txBody>
      </p:sp>
      <p:sp>
        <p:nvSpPr>
          <p:cNvPr id="46" name="object 46" descr=""/>
          <p:cNvSpPr txBox="1"/>
          <p:nvPr/>
        </p:nvSpPr>
        <p:spPr>
          <a:xfrm>
            <a:off x="6496941" y="2609342"/>
            <a:ext cx="5588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SimSun"/>
                <a:cs typeface="SimSun"/>
              </a:rPr>
              <a:t>新增</a:t>
            </a:r>
            <a:r>
              <a:rPr dirty="0" sz="1200" spc="-25">
                <a:latin typeface="SimSun"/>
                <a:cs typeface="SimSun"/>
              </a:rPr>
              <a:t>40M</a:t>
            </a:r>
            <a:endParaRPr sz="1200">
              <a:latin typeface="SimSun"/>
              <a:cs typeface="SimSun"/>
            </a:endParaRPr>
          </a:p>
        </p:txBody>
      </p:sp>
      <p:sp>
        <p:nvSpPr>
          <p:cNvPr id="47" name="object 47" descr=""/>
          <p:cNvSpPr txBox="1"/>
          <p:nvPr/>
        </p:nvSpPr>
        <p:spPr>
          <a:xfrm>
            <a:off x="4268548" y="2249373"/>
            <a:ext cx="7874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SimSun"/>
                <a:cs typeface="SimSun"/>
              </a:rPr>
              <a:t>移动共</a:t>
            </a:r>
            <a:r>
              <a:rPr dirty="0" sz="1200" spc="-20">
                <a:latin typeface="SimSun"/>
                <a:cs typeface="SimSun"/>
              </a:rPr>
              <a:t>120M</a:t>
            </a:r>
            <a:endParaRPr sz="1200">
              <a:latin typeface="SimSun"/>
              <a:cs typeface="SimSun"/>
            </a:endParaRPr>
          </a:p>
        </p:txBody>
      </p:sp>
      <p:sp>
        <p:nvSpPr>
          <p:cNvPr id="48" name="object 48" descr=""/>
          <p:cNvSpPr txBox="1"/>
          <p:nvPr/>
        </p:nvSpPr>
        <p:spPr>
          <a:xfrm>
            <a:off x="402268" y="4050691"/>
            <a:ext cx="3820795" cy="745490"/>
          </a:xfrm>
          <a:prstGeom prst="rect">
            <a:avLst/>
          </a:prstGeom>
        </p:spPr>
        <p:txBody>
          <a:bodyPr wrap="square" lIns="0" tIns="12700" rIns="0" bIns="0" rtlCol="0" vert="horz">
            <a:spAutoFit/>
          </a:bodyPr>
          <a:lstStyle/>
          <a:p>
            <a:pPr marL="182880" marR="5080" indent="-170815">
              <a:lnSpc>
                <a:spcPct val="150000"/>
              </a:lnSpc>
              <a:spcBef>
                <a:spcPts val="100"/>
              </a:spcBef>
              <a:buFont typeface="Wingdings"/>
              <a:buChar char=""/>
              <a:tabLst>
                <a:tab pos="184150" algn="l"/>
              </a:tabLst>
            </a:pPr>
            <a:r>
              <a:rPr dirty="0" sz="1050" spc="-10">
                <a:latin typeface="Microsoft YaHei"/>
                <a:cs typeface="Microsoft YaHei"/>
              </a:rPr>
              <a:t>2.6G</a:t>
            </a:r>
            <a:r>
              <a:rPr dirty="0" sz="1050">
                <a:latin typeface="Microsoft YaHei"/>
                <a:cs typeface="Microsoft YaHei"/>
              </a:rPr>
              <a:t>覆盖能力优于</a:t>
            </a:r>
            <a:r>
              <a:rPr dirty="0" sz="1050" spc="-10">
                <a:latin typeface="Microsoft YaHei"/>
                <a:cs typeface="Microsoft YaHei"/>
              </a:rPr>
              <a:t>3.5G</a:t>
            </a:r>
            <a:r>
              <a:rPr dirty="0" sz="1050" spc="-5">
                <a:latin typeface="Microsoft YaHei"/>
                <a:cs typeface="Microsoft YaHei"/>
              </a:rPr>
              <a:t>，在</a:t>
            </a:r>
            <a:r>
              <a:rPr dirty="0" sz="1050" spc="-10">
                <a:latin typeface="Microsoft YaHei"/>
                <a:cs typeface="Microsoft YaHei"/>
              </a:rPr>
              <a:t>300-350m</a:t>
            </a:r>
            <a:r>
              <a:rPr dirty="0" sz="1050" spc="-5">
                <a:latin typeface="Microsoft YaHei"/>
                <a:cs typeface="Microsoft YaHei"/>
              </a:rPr>
              <a:t>站间距下，上行速率可</a:t>
            </a:r>
            <a:r>
              <a:rPr dirty="0" sz="1050" spc="-5">
                <a:latin typeface="Microsoft YaHei"/>
                <a:cs typeface="Microsoft YaHei"/>
              </a:rPr>
              <a:t>	</a:t>
            </a:r>
            <a:r>
              <a:rPr dirty="0" sz="1050">
                <a:latin typeface="Microsoft YaHei"/>
                <a:cs typeface="Microsoft YaHei"/>
              </a:rPr>
              <a:t>达</a:t>
            </a:r>
            <a:r>
              <a:rPr dirty="0" sz="1050" spc="-10">
                <a:latin typeface="Microsoft YaHei"/>
                <a:cs typeface="Microsoft YaHei"/>
              </a:rPr>
              <a:t>1Mbps</a:t>
            </a:r>
            <a:r>
              <a:rPr dirty="0" sz="1050" spc="-5">
                <a:latin typeface="Microsoft YaHei"/>
                <a:cs typeface="Microsoft YaHei"/>
              </a:rPr>
              <a:t>，而同等条件下</a:t>
            </a:r>
            <a:r>
              <a:rPr dirty="0" sz="1050" spc="-10">
                <a:latin typeface="Microsoft YaHei"/>
                <a:cs typeface="Microsoft YaHei"/>
              </a:rPr>
              <a:t>3.5G</a:t>
            </a:r>
            <a:r>
              <a:rPr dirty="0" sz="1050">
                <a:latin typeface="Microsoft YaHei"/>
                <a:cs typeface="Microsoft YaHei"/>
              </a:rPr>
              <a:t>只能</a:t>
            </a:r>
            <a:r>
              <a:rPr dirty="0" sz="1050" spc="-10">
                <a:latin typeface="Microsoft YaHei"/>
                <a:cs typeface="Microsoft YaHei"/>
              </a:rPr>
              <a:t>178kbps</a:t>
            </a:r>
            <a:endParaRPr sz="1050">
              <a:latin typeface="Microsoft YaHei"/>
              <a:cs typeface="Microsoft YaHei"/>
            </a:endParaRPr>
          </a:p>
          <a:p>
            <a:pPr marL="183515" indent="-170815">
              <a:lnSpc>
                <a:spcPct val="100000"/>
              </a:lnSpc>
              <a:spcBef>
                <a:spcPts val="630"/>
              </a:spcBef>
              <a:buFont typeface="Wingdings"/>
              <a:buChar char=""/>
              <a:tabLst>
                <a:tab pos="183515" algn="l"/>
              </a:tabLst>
            </a:pPr>
            <a:r>
              <a:rPr dirty="0" sz="1050" spc="-10">
                <a:latin typeface="Microsoft YaHei"/>
                <a:cs typeface="Microsoft YaHei"/>
              </a:rPr>
              <a:t>2.6G</a:t>
            </a:r>
            <a:r>
              <a:rPr dirty="0" sz="1050">
                <a:latin typeface="Microsoft YaHei"/>
                <a:cs typeface="Microsoft YaHei"/>
              </a:rPr>
              <a:t>建网可复用现网</a:t>
            </a:r>
            <a:r>
              <a:rPr dirty="0" sz="1050" spc="-10">
                <a:latin typeface="Microsoft YaHei"/>
                <a:cs typeface="Microsoft YaHei"/>
              </a:rPr>
              <a:t>4G</a:t>
            </a:r>
            <a:r>
              <a:rPr dirty="0" sz="1050">
                <a:latin typeface="Microsoft YaHei"/>
                <a:cs typeface="Microsoft YaHei"/>
              </a:rPr>
              <a:t>部分资源，如</a:t>
            </a:r>
            <a:r>
              <a:rPr dirty="0" sz="1050" spc="-10">
                <a:latin typeface="Microsoft YaHei"/>
                <a:cs typeface="Microsoft YaHei"/>
              </a:rPr>
              <a:t>DAS</a:t>
            </a:r>
            <a:r>
              <a:rPr dirty="0" sz="1050" spc="-25">
                <a:latin typeface="Microsoft YaHei"/>
                <a:cs typeface="Microsoft YaHei"/>
              </a:rPr>
              <a:t>系统</a:t>
            </a:r>
            <a:endParaRPr sz="1050">
              <a:latin typeface="Microsoft YaHei"/>
              <a:cs typeface="Microsoft YaHei"/>
            </a:endParaRPr>
          </a:p>
        </p:txBody>
      </p:sp>
      <p:sp>
        <p:nvSpPr>
          <p:cNvPr id="49" name="object 49" descr=""/>
          <p:cNvSpPr txBox="1"/>
          <p:nvPr/>
        </p:nvSpPr>
        <p:spPr>
          <a:xfrm>
            <a:off x="4581007" y="3810237"/>
            <a:ext cx="3901440" cy="960119"/>
          </a:xfrm>
          <a:prstGeom prst="rect">
            <a:avLst/>
          </a:prstGeom>
        </p:spPr>
        <p:txBody>
          <a:bodyPr wrap="square" lIns="0" tIns="12700" rIns="0" bIns="0" rtlCol="0" vert="horz">
            <a:spAutoFit/>
          </a:bodyPr>
          <a:lstStyle/>
          <a:p>
            <a:pPr marL="12700">
              <a:lnSpc>
                <a:spcPct val="100000"/>
              </a:lnSpc>
              <a:spcBef>
                <a:spcPts val="100"/>
              </a:spcBef>
            </a:pPr>
            <a:r>
              <a:rPr dirty="0" sz="1200">
                <a:solidFill>
                  <a:srgbClr val="2304BC"/>
                </a:solidFill>
                <a:latin typeface="SimSun"/>
                <a:cs typeface="SimSun"/>
              </a:rPr>
              <a:t>2.6G</a:t>
            </a:r>
            <a:r>
              <a:rPr dirty="0" sz="1200" spc="-10">
                <a:solidFill>
                  <a:srgbClr val="2304BC"/>
                </a:solidFill>
                <a:latin typeface="SimSun"/>
                <a:cs typeface="SimSun"/>
              </a:rPr>
              <a:t>频谱劣势：</a:t>
            </a:r>
            <a:endParaRPr sz="1200">
              <a:latin typeface="SimSun"/>
              <a:cs typeface="SimSun"/>
            </a:endParaRPr>
          </a:p>
          <a:p>
            <a:pPr marL="221615" indent="-169545">
              <a:lnSpc>
                <a:spcPct val="100000"/>
              </a:lnSpc>
              <a:spcBef>
                <a:spcPts val="875"/>
              </a:spcBef>
              <a:buFont typeface="Arial MT"/>
              <a:buChar char="•"/>
              <a:tabLst>
                <a:tab pos="221615" algn="l"/>
              </a:tabLst>
            </a:pPr>
            <a:r>
              <a:rPr dirty="0" sz="1050" spc="-10">
                <a:latin typeface="Microsoft YaHei"/>
                <a:cs typeface="Microsoft YaHei"/>
              </a:rPr>
              <a:t>2.6G</a:t>
            </a:r>
            <a:r>
              <a:rPr dirty="0" sz="1050">
                <a:latin typeface="Microsoft YaHei"/>
                <a:cs typeface="Microsoft YaHei"/>
              </a:rPr>
              <a:t>产业进度上整体比</a:t>
            </a:r>
            <a:r>
              <a:rPr dirty="0" sz="1050" spc="-10">
                <a:latin typeface="Microsoft YaHei"/>
                <a:cs typeface="Microsoft YaHei"/>
              </a:rPr>
              <a:t>3.5GHz</a:t>
            </a:r>
            <a:r>
              <a:rPr dirty="0" sz="1050" spc="-50">
                <a:latin typeface="Microsoft YaHei"/>
                <a:cs typeface="Microsoft YaHei"/>
              </a:rPr>
              <a:t>晚</a:t>
            </a:r>
            <a:endParaRPr sz="1050">
              <a:latin typeface="Microsoft YaHei"/>
              <a:cs typeface="Microsoft YaHei"/>
            </a:endParaRPr>
          </a:p>
          <a:p>
            <a:pPr marL="221615" indent="-169545">
              <a:lnSpc>
                <a:spcPct val="100000"/>
              </a:lnSpc>
              <a:spcBef>
                <a:spcPts val="630"/>
              </a:spcBef>
              <a:buFont typeface="Arial MT"/>
              <a:buChar char="•"/>
              <a:tabLst>
                <a:tab pos="221615" algn="l"/>
              </a:tabLst>
            </a:pPr>
            <a:r>
              <a:rPr dirty="0" sz="1050" spc="-10">
                <a:latin typeface="Microsoft YaHei"/>
                <a:cs typeface="Microsoft YaHei"/>
              </a:rPr>
              <a:t>2.6G</a:t>
            </a:r>
            <a:r>
              <a:rPr dirty="0" sz="1050">
                <a:latin typeface="Microsoft YaHei"/>
                <a:cs typeface="Microsoft YaHei"/>
              </a:rPr>
              <a:t>非全球主流</a:t>
            </a:r>
            <a:r>
              <a:rPr dirty="0" sz="1050" spc="-10">
                <a:latin typeface="Microsoft YaHei"/>
                <a:cs typeface="Microsoft YaHei"/>
              </a:rPr>
              <a:t>5G</a:t>
            </a:r>
            <a:r>
              <a:rPr dirty="0" sz="1050" spc="-5">
                <a:latin typeface="Microsoft YaHei"/>
                <a:cs typeface="Microsoft YaHei"/>
              </a:rPr>
              <a:t>频谱，需要推动包括终端在内的整个生态链</a:t>
            </a:r>
            <a:endParaRPr sz="1050">
              <a:latin typeface="Microsoft YaHei"/>
              <a:cs typeface="Microsoft YaHei"/>
            </a:endParaRPr>
          </a:p>
          <a:p>
            <a:pPr marL="221615" indent="-169545">
              <a:lnSpc>
                <a:spcPct val="100000"/>
              </a:lnSpc>
              <a:spcBef>
                <a:spcPts val="630"/>
              </a:spcBef>
              <a:buFont typeface="Arial MT"/>
              <a:buChar char="•"/>
              <a:tabLst>
                <a:tab pos="221615" algn="l"/>
              </a:tabLst>
            </a:pPr>
            <a:r>
              <a:rPr dirty="0" sz="1050" spc="-10">
                <a:latin typeface="Microsoft YaHei"/>
                <a:cs typeface="Microsoft YaHei"/>
              </a:rPr>
              <a:t>2.6G</a:t>
            </a:r>
            <a:r>
              <a:rPr dirty="0" sz="1050">
                <a:latin typeface="Microsoft YaHei"/>
                <a:cs typeface="Microsoft YaHei"/>
              </a:rPr>
              <a:t>帧结构需要与</a:t>
            </a:r>
            <a:r>
              <a:rPr dirty="0" sz="1050" spc="-10">
                <a:latin typeface="Microsoft YaHei"/>
                <a:cs typeface="Microsoft YaHei"/>
              </a:rPr>
              <a:t>4G同步，影响上行性能</a:t>
            </a:r>
            <a:endParaRPr sz="1050">
              <a:latin typeface="Microsoft YaHei"/>
              <a:cs typeface="Microsoft YaHei"/>
            </a:endParaRPr>
          </a:p>
        </p:txBody>
      </p:sp>
      <p:sp>
        <p:nvSpPr>
          <p:cNvPr id="50" name="object 50" descr=""/>
          <p:cNvSpPr txBox="1"/>
          <p:nvPr/>
        </p:nvSpPr>
        <p:spPr>
          <a:xfrm>
            <a:off x="404544" y="3818512"/>
            <a:ext cx="1094740" cy="208279"/>
          </a:xfrm>
          <a:prstGeom prst="rect">
            <a:avLst/>
          </a:prstGeom>
        </p:spPr>
        <p:txBody>
          <a:bodyPr wrap="square" lIns="0" tIns="12700" rIns="0" bIns="0" rtlCol="0" vert="horz">
            <a:spAutoFit/>
          </a:bodyPr>
          <a:lstStyle/>
          <a:p>
            <a:pPr marL="12700">
              <a:lnSpc>
                <a:spcPct val="100000"/>
              </a:lnSpc>
              <a:spcBef>
                <a:spcPts val="100"/>
              </a:spcBef>
            </a:pPr>
            <a:r>
              <a:rPr dirty="0" sz="1200">
                <a:solidFill>
                  <a:srgbClr val="2304BC"/>
                </a:solidFill>
                <a:latin typeface="SimSun"/>
                <a:cs typeface="SimSun"/>
              </a:rPr>
              <a:t>2.6G</a:t>
            </a:r>
            <a:r>
              <a:rPr dirty="0" sz="1200" spc="-10">
                <a:solidFill>
                  <a:srgbClr val="2304BC"/>
                </a:solidFill>
                <a:latin typeface="SimSun"/>
                <a:cs typeface="SimSun"/>
              </a:rPr>
              <a:t>频谱优势：</a:t>
            </a:r>
            <a:endParaRPr sz="1200">
              <a:latin typeface="SimSun"/>
              <a:cs typeface="SimSu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4612617" y="819152"/>
            <a:ext cx="4310380" cy="4129404"/>
          </a:xfrm>
          <a:custGeom>
            <a:avLst/>
            <a:gdLst/>
            <a:ahLst/>
            <a:cxnLst/>
            <a:rect l="l" t="t" r="r" b="b"/>
            <a:pathLst>
              <a:path w="4310380" h="4129404">
                <a:moveTo>
                  <a:pt x="0" y="208711"/>
                </a:moveTo>
                <a:lnTo>
                  <a:pt x="5512" y="160857"/>
                </a:lnTo>
                <a:lnTo>
                  <a:pt x="21214" y="116927"/>
                </a:lnTo>
                <a:lnTo>
                  <a:pt x="45852" y="78174"/>
                </a:lnTo>
                <a:lnTo>
                  <a:pt x="78174" y="45852"/>
                </a:lnTo>
                <a:lnTo>
                  <a:pt x="116927" y="21214"/>
                </a:lnTo>
                <a:lnTo>
                  <a:pt x="160857" y="5512"/>
                </a:lnTo>
                <a:lnTo>
                  <a:pt x="208711" y="0"/>
                </a:lnTo>
                <a:lnTo>
                  <a:pt x="4101211" y="0"/>
                </a:lnTo>
                <a:lnTo>
                  <a:pt x="4149070" y="5512"/>
                </a:lnTo>
                <a:lnTo>
                  <a:pt x="4193003" y="21214"/>
                </a:lnTo>
                <a:lnTo>
                  <a:pt x="4231758" y="45852"/>
                </a:lnTo>
                <a:lnTo>
                  <a:pt x="4264081" y="78174"/>
                </a:lnTo>
                <a:lnTo>
                  <a:pt x="4288720" y="116927"/>
                </a:lnTo>
                <a:lnTo>
                  <a:pt x="4304423" y="160857"/>
                </a:lnTo>
                <a:lnTo>
                  <a:pt x="4309935" y="208711"/>
                </a:lnTo>
                <a:lnTo>
                  <a:pt x="4309935" y="3920147"/>
                </a:lnTo>
                <a:lnTo>
                  <a:pt x="4304423" y="3968001"/>
                </a:lnTo>
                <a:lnTo>
                  <a:pt x="4288720" y="4011931"/>
                </a:lnTo>
                <a:lnTo>
                  <a:pt x="4264081" y="4050684"/>
                </a:lnTo>
                <a:lnTo>
                  <a:pt x="4231758" y="4083006"/>
                </a:lnTo>
                <a:lnTo>
                  <a:pt x="4193003" y="4107644"/>
                </a:lnTo>
                <a:lnTo>
                  <a:pt x="4149070" y="4123346"/>
                </a:lnTo>
                <a:lnTo>
                  <a:pt x="4101211" y="4128858"/>
                </a:lnTo>
                <a:lnTo>
                  <a:pt x="208711" y="4128858"/>
                </a:lnTo>
                <a:lnTo>
                  <a:pt x="160857" y="4123346"/>
                </a:lnTo>
                <a:lnTo>
                  <a:pt x="116927" y="4107644"/>
                </a:lnTo>
                <a:lnTo>
                  <a:pt x="78174" y="4083006"/>
                </a:lnTo>
                <a:lnTo>
                  <a:pt x="45852" y="4050684"/>
                </a:lnTo>
                <a:lnTo>
                  <a:pt x="21214" y="4011931"/>
                </a:lnTo>
                <a:lnTo>
                  <a:pt x="5512" y="3968001"/>
                </a:lnTo>
                <a:lnTo>
                  <a:pt x="0" y="3920147"/>
                </a:lnTo>
                <a:lnTo>
                  <a:pt x="0" y="208711"/>
                </a:lnTo>
                <a:close/>
              </a:path>
            </a:pathLst>
          </a:custGeom>
          <a:ln w="25400">
            <a:solidFill>
              <a:srgbClr val="333399"/>
            </a:solidFill>
            <a:prstDash val="sysDash"/>
          </a:ln>
        </p:spPr>
        <p:txBody>
          <a:bodyPr wrap="square" lIns="0" tIns="0" rIns="0" bIns="0" rtlCol="0"/>
          <a:lstStyle/>
          <a:p/>
        </p:txBody>
      </p:sp>
      <p:sp>
        <p:nvSpPr>
          <p:cNvPr id="3" name="object 3" descr=""/>
          <p:cNvSpPr/>
          <p:nvPr/>
        </p:nvSpPr>
        <p:spPr>
          <a:xfrm>
            <a:off x="323527" y="819148"/>
            <a:ext cx="3960495" cy="4129404"/>
          </a:xfrm>
          <a:custGeom>
            <a:avLst/>
            <a:gdLst/>
            <a:ahLst/>
            <a:cxnLst/>
            <a:rect l="l" t="t" r="r" b="b"/>
            <a:pathLst>
              <a:path w="3960495" h="4129404">
                <a:moveTo>
                  <a:pt x="0" y="215607"/>
                </a:moveTo>
                <a:lnTo>
                  <a:pt x="5694" y="166171"/>
                </a:lnTo>
                <a:lnTo>
                  <a:pt x="21914" y="120789"/>
                </a:lnTo>
                <a:lnTo>
                  <a:pt x="47367" y="80756"/>
                </a:lnTo>
                <a:lnTo>
                  <a:pt x="80756" y="47367"/>
                </a:lnTo>
                <a:lnTo>
                  <a:pt x="120789" y="21914"/>
                </a:lnTo>
                <a:lnTo>
                  <a:pt x="166171" y="5694"/>
                </a:lnTo>
                <a:lnTo>
                  <a:pt x="215607" y="0"/>
                </a:lnTo>
                <a:lnTo>
                  <a:pt x="3744836" y="0"/>
                </a:lnTo>
                <a:lnTo>
                  <a:pt x="3794272" y="5694"/>
                </a:lnTo>
                <a:lnTo>
                  <a:pt x="3839654" y="21914"/>
                </a:lnTo>
                <a:lnTo>
                  <a:pt x="3879687" y="47367"/>
                </a:lnTo>
                <a:lnTo>
                  <a:pt x="3913077" y="80756"/>
                </a:lnTo>
                <a:lnTo>
                  <a:pt x="3938529" y="120789"/>
                </a:lnTo>
                <a:lnTo>
                  <a:pt x="3954749" y="166171"/>
                </a:lnTo>
                <a:lnTo>
                  <a:pt x="3960444" y="215607"/>
                </a:lnTo>
                <a:lnTo>
                  <a:pt x="3960444" y="3913263"/>
                </a:lnTo>
                <a:lnTo>
                  <a:pt x="3954749" y="3962700"/>
                </a:lnTo>
                <a:lnTo>
                  <a:pt x="3938529" y="4008081"/>
                </a:lnTo>
                <a:lnTo>
                  <a:pt x="3913077" y="4048114"/>
                </a:lnTo>
                <a:lnTo>
                  <a:pt x="3879687" y="4081504"/>
                </a:lnTo>
                <a:lnTo>
                  <a:pt x="3839654" y="4106956"/>
                </a:lnTo>
                <a:lnTo>
                  <a:pt x="3794272" y="4123177"/>
                </a:lnTo>
                <a:lnTo>
                  <a:pt x="3744836" y="4128871"/>
                </a:lnTo>
                <a:lnTo>
                  <a:pt x="215607" y="4128871"/>
                </a:lnTo>
                <a:lnTo>
                  <a:pt x="166171" y="4123177"/>
                </a:lnTo>
                <a:lnTo>
                  <a:pt x="120789" y="4106956"/>
                </a:lnTo>
                <a:lnTo>
                  <a:pt x="80756" y="4081504"/>
                </a:lnTo>
                <a:lnTo>
                  <a:pt x="47367" y="4048114"/>
                </a:lnTo>
                <a:lnTo>
                  <a:pt x="21914" y="4008081"/>
                </a:lnTo>
                <a:lnTo>
                  <a:pt x="5694" y="3962700"/>
                </a:lnTo>
                <a:lnTo>
                  <a:pt x="0" y="3913263"/>
                </a:lnTo>
                <a:lnTo>
                  <a:pt x="0" y="215607"/>
                </a:lnTo>
                <a:close/>
              </a:path>
            </a:pathLst>
          </a:custGeom>
          <a:ln w="25400">
            <a:solidFill>
              <a:srgbClr val="333399"/>
            </a:solidFill>
            <a:prstDash val="sysDash"/>
          </a:ln>
        </p:spPr>
        <p:txBody>
          <a:bodyPr wrap="square" lIns="0" tIns="0" rIns="0" bIns="0" rtlCol="0"/>
          <a:lstStyle/>
          <a:p/>
        </p:txBody>
      </p:sp>
      <p:sp>
        <p:nvSpPr>
          <p:cNvPr id="4" name="object 4" descr=""/>
          <p:cNvSpPr txBox="1"/>
          <p:nvPr/>
        </p:nvSpPr>
        <p:spPr>
          <a:xfrm>
            <a:off x="2414282" y="804862"/>
            <a:ext cx="606425" cy="300355"/>
          </a:xfrm>
          <a:prstGeom prst="rect">
            <a:avLst/>
          </a:prstGeom>
          <a:solidFill>
            <a:srgbClr val="0000FF"/>
          </a:solidFill>
        </p:spPr>
        <p:txBody>
          <a:bodyPr wrap="square" lIns="0" tIns="0" rIns="0" bIns="0" rtlCol="0" vert="horz">
            <a:spAutoFit/>
          </a:bodyPr>
          <a:lstStyle/>
          <a:p>
            <a:pPr marL="57150">
              <a:lnSpc>
                <a:spcPts val="944"/>
              </a:lnSpc>
            </a:pPr>
            <a:r>
              <a:rPr dirty="0" sz="800" spc="-25" b="1">
                <a:solidFill>
                  <a:srgbClr val="FFFF00"/>
                </a:solidFill>
                <a:latin typeface="Microsoft YaHei"/>
                <a:cs typeface="Microsoft YaHei"/>
              </a:rPr>
              <a:t>19</a:t>
            </a:r>
            <a:endParaRPr sz="800">
              <a:latin typeface="Microsoft YaHei"/>
              <a:cs typeface="Microsoft YaHei"/>
            </a:endParaRPr>
          </a:p>
          <a:p>
            <a:pPr marL="57150">
              <a:lnSpc>
                <a:spcPct val="100000"/>
              </a:lnSpc>
            </a:pPr>
            <a:r>
              <a:rPr dirty="0" sz="800" spc="-25" b="1">
                <a:solidFill>
                  <a:srgbClr val="FFFF00"/>
                </a:solidFill>
                <a:latin typeface="Microsoft YaHei"/>
                <a:cs typeface="Microsoft YaHei"/>
              </a:rPr>
              <a:t>MHz</a:t>
            </a:r>
            <a:endParaRPr sz="800">
              <a:latin typeface="Microsoft YaHei"/>
              <a:cs typeface="Microsoft YaHei"/>
            </a:endParaRPr>
          </a:p>
        </p:txBody>
      </p:sp>
      <p:sp>
        <p:nvSpPr>
          <p:cNvPr id="5" name="object 5" descr=""/>
          <p:cNvSpPr txBox="1"/>
          <p:nvPr/>
        </p:nvSpPr>
        <p:spPr>
          <a:xfrm>
            <a:off x="3013671" y="771779"/>
            <a:ext cx="316230" cy="333375"/>
          </a:xfrm>
          <a:prstGeom prst="rect">
            <a:avLst/>
          </a:prstGeom>
          <a:solidFill>
            <a:srgbClr val="00B050"/>
          </a:solidFill>
        </p:spPr>
        <p:txBody>
          <a:bodyPr wrap="square" lIns="0" tIns="36195" rIns="0" bIns="0" rtlCol="0" vert="horz">
            <a:spAutoFit/>
          </a:bodyPr>
          <a:lstStyle/>
          <a:p>
            <a:pPr marL="67945">
              <a:lnSpc>
                <a:spcPct val="100000"/>
              </a:lnSpc>
              <a:spcBef>
                <a:spcPts val="285"/>
              </a:spcBef>
            </a:pPr>
            <a:r>
              <a:rPr dirty="0" sz="800" spc="-50" b="1">
                <a:latin typeface="Microsoft YaHei"/>
                <a:cs typeface="Microsoft YaHei"/>
              </a:rPr>
              <a:t>6</a:t>
            </a:r>
            <a:endParaRPr sz="800">
              <a:latin typeface="Microsoft YaHei"/>
              <a:cs typeface="Microsoft YaHei"/>
            </a:endParaRPr>
          </a:p>
          <a:p>
            <a:pPr marL="67945">
              <a:lnSpc>
                <a:spcPct val="100000"/>
              </a:lnSpc>
            </a:pPr>
            <a:r>
              <a:rPr dirty="0" sz="800" spc="-25" b="1">
                <a:latin typeface="Microsoft YaHei"/>
                <a:cs typeface="Microsoft YaHei"/>
              </a:rPr>
              <a:t>MHz</a:t>
            </a:r>
            <a:endParaRPr sz="800">
              <a:latin typeface="Microsoft YaHei"/>
              <a:cs typeface="Microsoft YaHei"/>
            </a:endParaRPr>
          </a:p>
        </p:txBody>
      </p:sp>
      <p:sp>
        <p:nvSpPr>
          <p:cNvPr id="6" name="object 6" descr=""/>
          <p:cNvSpPr txBox="1"/>
          <p:nvPr/>
        </p:nvSpPr>
        <p:spPr>
          <a:xfrm>
            <a:off x="2332726" y="1078914"/>
            <a:ext cx="997585" cy="147320"/>
          </a:xfrm>
          <a:prstGeom prst="rect">
            <a:avLst/>
          </a:prstGeom>
        </p:spPr>
        <p:txBody>
          <a:bodyPr wrap="square" lIns="0" tIns="12065" rIns="0" bIns="0" rtlCol="0" vert="horz">
            <a:spAutoFit/>
          </a:bodyPr>
          <a:lstStyle/>
          <a:p>
            <a:pPr marL="12700">
              <a:lnSpc>
                <a:spcPct val="100000"/>
              </a:lnSpc>
              <a:spcBef>
                <a:spcPts val="95"/>
              </a:spcBef>
              <a:tabLst>
                <a:tab pos="517525" algn="l"/>
              </a:tabLst>
            </a:pPr>
            <a:r>
              <a:rPr dirty="0" sz="800" spc="-25" b="1">
                <a:latin typeface="Microsoft YaHei"/>
                <a:cs typeface="Microsoft YaHei"/>
              </a:rPr>
              <a:t>935</a:t>
            </a:r>
            <a:r>
              <a:rPr dirty="0" sz="800" b="1">
                <a:latin typeface="Microsoft YaHei"/>
                <a:cs typeface="Microsoft YaHei"/>
              </a:rPr>
              <a:t>	954</a:t>
            </a:r>
            <a:r>
              <a:rPr dirty="0" sz="800" spc="475" b="1">
                <a:latin typeface="Microsoft YaHei"/>
                <a:cs typeface="Microsoft YaHei"/>
              </a:rPr>
              <a:t> </a:t>
            </a:r>
            <a:r>
              <a:rPr dirty="0" sz="800" spc="-25" b="1">
                <a:latin typeface="Microsoft YaHei"/>
                <a:cs typeface="Microsoft YaHei"/>
              </a:rPr>
              <a:t>960</a:t>
            </a:r>
            <a:endParaRPr sz="800">
              <a:latin typeface="Microsoft YaHei"/>
              <a:cs typeface="Microsoft YaHei"/>
            </a:endParaRPr>
          </a:p>
        </p:txBody>
      </p:sp>
      <p:grpSp>
        <p:nvGrpSpPr>
          <p:cNvPr id="7" name="object 7" descr=""/>
          <p:cNvGrpSpPr/>
          <p:nvPr/>
        </p:nvGrpSpPr>
        <p:grpSpPr>
          <a:xfrm>
            <a:off x="620458" y="4145432"/>
            <a:ext cx="891540" cy="207645"/>
            <a:chOff x="620458" y="4145432"/>
            <a:chExt cx="891540" cy="207645"/>
          </a:xfrm>
        </p:grpSpPr>
        <p:sp>
          <p:nvSpPr>
            <p:cNvPr id="8" name="object 8" descr=""/>
            <p:cNvSpPr/>
            <p:nvPr/>
          </p:nvSpPr>
          <p:spPr>
            <a:xfrm>
              <a:off x="620458" y="4145432"/>
              <a:ext cx="179705" cy="201295"/>
            </a:xfrm>
            <a:custGeom>
              <a:avLst/>
              <a:gdLst/>
              <a:ahLst/>
              <a:cxnLst/>
              <a:rect l="l" t="t" r="r" b="b"/>
              <a:pathLst>
                <a:path w="179704" h="201295">
                  <a:moveTo>
                    <a:pt x="179387" y="0"/>
                  </a:moveTo>
                  <a:lnTo>
                    <a:pt x="0" y="0"/>
                  </a:lnTo>
                  <a:lnTo>
                    <a:pt x="0" y="201218"/>
                  </a:lnTo>
                  <a:lnTo>
                    <a:pt x="179387" y="201218"/>
                  </a:lnTo>
                  <a:lnTo>
                    <a:pt x="179387" y="0"/>
                  </a:lnTo>
                  <a:close/>
                </a:path>
              </a:pathLst>
            </a:custGeom>
            <a:solidFill>
              <a:srgbClr val="0000FF"/>
            </a:solidFill>
          </p:spPr>
          <p:txBody>
            <a:bodyPr wrap="square" lIns="0" tIns="0" rIns="0" bIns="0" rtlCol="0"/>
            <a:lstStyle/>
            <a:p/>
          </p:txBody>
        </p:sp>
        <p:sp>
          <p:nvSpPr>
            <p:cNvPr id="9" name="object 9" descr=""/>
            <p:cNvSpPr/>
            <p:nvPr/>
          </p:nvSpPr>
          <p:spPr>
            <a:xfrm>
              <a:off x="1330718" y="4151388"/>
              <a:ext cx="180975" cy="201295"/>
            </a:xfrm>
            <a:custGeom>
              <a:avLst/>
              <a:gdLst/>
              <a:ahLst/>
              <a:cxnLst/>
              <a:rect l="l" t="t" r="r" b="b"/>
              <a:pathLst>
                <a:path w="180975" h="201295">
                  <a:moveTo>
                    <a:pt x="180975" y="0"/>
                  </a:moveTo>
                  <a:lnTo>
                    <a:pt x="0" y="0"/>
                  </a:lnTo>
                  <a:lnTo>
                    <a:pt x="0" y="201218"/>
                  </a:lnTo>
                  <a:lnTo>
                    <a:pt x="180975" y="201218"/>
                  </a:lnTo>
                  <a:lnTo>
                    <a:pt x="180975" y="0"/>
                  </a:lnTo>
                  <a:close/>
                </a:path>
              </a:pathLst>
            </a:custGeom>
            <a:solidFill>
              <a:srgbClr val="00B050"/>
            </a:solidFill>
          </p:spPr>
          <p:txBody>
            <a:bodyPr wrap="square" lIns="0" tIns="0" rIns="0" bIns="0" rtlCol="0"/>
            <a:lstStyle/>
            <a:p/>
          </p:txBody>
        </p:sp>
      </p:grpSp>
      <p:sp>
        <p:nvSpPr>
          <p:cNvPr id="10" name="object 10" descr=""/>
          <p:cNvSpPr/>
          <p:nvPr/>
        </p:nvSpPr>
        <p:spPr>
          <a:xfrm>
            <a:off x="2046338" y="4145432"/>
            <a:ext cx="180975" cy="201295"/>
          </a:xfrm>
          <a:custGeom>
            <a:avLst/>
            <a:gdLst/>
            <a:ahLst/>
            <a:cxnLst/>
            <a:rect l="l" t="t" r="r" b="b"/>
            <a:pathLst>
              <a:path w="180975" h="201295">
                <a:moveTo>
                  <a:pt x="180975" y="0"/>
                </a:moveTo>
                <a:lnTo>
                  <a:pt x="0" y="0"/>
                </a:lnTo>
                <a:lnTo>
                  <a:pt x="0" y="201218"/>
                </a:lnTo>
                <a:lnTo>
                  <a:pt x="180975" y="201218"/>
                </a:lnTo>
                <a:lnTo>
                  <a:pt x="180975" y="0"/>
                </a:lnTo>
                <a:close/>
              </a:path>
            </a:pathLst>
          </a:custGeom>
          <a:solidFill>
            <a:srgbClr val="FFC000"/>
          </a:solidFill>
        </p:spPr>
        <p:txBody>
          <a:bodyPr wrap="square" lIns="0" tIns="0" rIns="0" bIns="0" rtlCol="0"/>
          <a:lstStyle/>
          <a:p/>
        </p:txBody>
      </p:sp>
      <p:sp>
        <p:nvSpPr>
          <p:cNvPr id="11" name="object 11" descr=""/>
          <p:cNvSpPr txBox="1"/>
          <p:nvPr/>
        </p:nvSpPr>
        <p:spPr>
          <a:xfrm>
            <a:off x="807154" y="4180595"/>
            <a:ext cx="1875789" cy="147320"/>
          </a:xfrm>
          <a:prstGeom prst="rect">
            <a:avLst/>
          </a:prstGeom>
        </p:spPr>
        <p:txBody>
          <a:bodyPr wrap="square" lIns="0" tIns="12065" rIns="0" bIns="0" rtlCol="0" vert="horz">
            <a:spAutoFit/>
          </a:bodyPr>
          <a:lstStyle/>
          <a:p>
            <a:pPr marL="12700">
              <a:lnSpc>
                <a:spcPct val="100000"/>
              </a:lnSpc>
              <a:spcBef>
                <a:spcPts val="95"/>
              </a:spcBef>
              <a:tabLst>
                <a:tab pos="735330" algn="l"/>
                <a:tab pos="1457325" algn="l"/>
              </a:tabLst>
            </a:pPr>
            <a:r>
              <a:rPr dirty="0" sz="800" spc="-10">
                <a:latin typeface="Microsoft YaHei"/>
                <a:cs typeface="Microsoft YaHei"/>
              </a:rPr>
              <a:t>中国移</a:t>
            </a:r>
            <a:r>
              <a:rPr dirty="0" sz="800" spc="-50">
                <a:latin typeface="Microsoft YaHei"/>
                <a:cs typeface="Microsoft YaHei"/>
              </a:rPr>
              <a:t>动</a:t>
            </a:r>
            <a:r>
              <a:rPr dirty="0" sz="800">
                <a:latin typeface="Microsoft YaHei"/>
                <a:cs typeface="Microsoft YaHei"/>
              </a:rPr>
              <a:t>	</a:t>
            </a:r>
            <a:r>
              <a:rPr dirty="0" sz="800" spc="-10">
                <a:latin typeface="Microsoft YaHei"/>
                <a:cs typeface="Microsoft YaHei"/>
              </a:rPr>
              <a:t>中国联</a:t>
            </a:r>
            <a:r>
              <a:rPr dirty="0" sz="800" spc="-50">
                <a:latin typeface="Microsoft YaHei"/>
                <a:cs typeface="Microsoft YaHei"/>
              </a:rPr>
              <a:t>通</a:t>
            </a:r>
            <a:r>
              <a:rPr dirty="0" sz="800">
                <a:latin typeface="Microsoft YaHei"/>
                <a:cs typeface="Microsoft YaHei"/>
              </a:rPr>
              <a:t>	</a:t>
            </a:r>
            <a:r>
              <a:rPr dirty="0" sz="800" spc="-10">
                <a:latin typeface="Microsoft YaHei"/>
                <a:cs typeface="Microsoft YaHei"/>
              </a:rPr>
              <a:t>中国电</a:t>
            </a:r>
            <a:r>
              <a:rPr dirty="0" sz="800" spc="-50">
                <a:latin typeface="Microsoft YaHei"/>
                <a:cs typeface="Microsoft YaHei"/>
              </a:rPr>
              <a:t>信</a:t>
            </a:r>
            <a:endParaRPr sz="800">
              <a:latin typeface="Microsoft YaHei"/>
              <a:cs typeface="Microsoft YaHei"/>
            </a:endParaRPr>
          </a:p>
        </p:txBody>
      </p:sp>
      <p:sp>
        <p:nvSpPr>
          <p:cNvPr id="12" name="object 12" descr=""/>
          <p:cNvSpPr/>
          <p:nvPr/>
        </p:nvSpPr>
        <p:spPr>
          <a:xfrm>
            <a:off x="2770885" y="4145432"/>
            <a:ext cx="180975" cy="201295"/>
          </a:xfrm>
          <a:custGeom>
            <a:avLst/>
            <a:gdLst/>
            <a:ahLst/>
            <a:cxnLst/>
            <a:rect l="l" t="t" r="r" b="b"/>
            <a:pathLst>
              <a:path w="180975" h="201295">
                <a:moveTo>
                  <a:pt x="180975" y="0"/>
                </a:moveTo>
                <a:lnTo>
                  <a:pt x="0" y="0"/>
                </a:lnTo>
                <a:lnTo>
                  <a:pt x="0" y="201218"/>
                </a:lnTo>
                <a:lnTo>
                  <a:pt x="180975" y="201218"/>
                </a:lnTo>
                <a:lnTo>
                  <a:pt x="180975" y="0"/>
                </a:lnTo>
                <a:close/>
              </a:path>
            </a:pathLst>
          </a:custGeom>
          <a:solidFill>
            <a:srgbClr val="00B0F0"/>
          </a:solidFill>
        </p:spPr>
        <p:txBody>
          <a:bodyPr wrap="square" lIns="0" tIns="0" rIns="0" bIns="0" rtlCol="0"/>
          <a:lstStyle/>
          <a:p/>
        </p:txBody>
      </p:sp>
      <p:sp>
        <p:nvSpPr>
          <p:cNvPr id="13" name="object 13" descr=""/>
          <p:cNvSpPr txBox="1"/>
          <p:nvPr/>
        </p:nvSpPr>
        <p:spPr>
          <a:xfrm>
            <a:off x="731164" y="3663441"/>
            <a:ext cx="513715" cy="305435"/>
          </a:xfrm>
          <a:prstGeom prst="rect">
            <a:avLst/>
          </a:prstGeom>
          <a:solidFill>
            <a:srgbClr val="00B0F0"/>
          </a:solidFill>
        </p:spPr>
        <p:txBody>
          <a:bodyPr wrap="square" lIns="0" tIns="102235" rIns="0" bIns="0" rtlCol="0" vert="horz">
            <a:spAutoFit/>
          </a:bodyPr>
          <a:lstStyle/>
          <a:p>
            <a:pPr marL="119380">
              <a:lnSpc>
                <a:spcPct val="100000"/>
              </a:lnSpc>
              <a:spcBef>
                <a:spcPts val="805"/>
              </a:spcBef>
            </a:pPr>
            <a:r>
              <a:rPr dirty="0" sz="800" spc="-10" b="1">
                <a:latin typeface="Microsoft YaHei"/>
                <a:cs typeface="Microsoft YaHei"/>
              </a:rPr>
              <a:t>55MHz</a:t>
            </a:r>
            <a:endParaRPr sz="800">
              <a:latin typeface="Microsoft YaHei"/>
              <a:cs typeface="Microsoft YaHei"/>
            </a:endParaRPr>
          </a:p>
        </p:txBody>
      </p:sp>
      <p:sp>
        <p:nvSpPr>
          <p:cNvPr id="14" name="object 14" descr=""/>
          <p:cNvSpPr txBox="1"/>
          <p:nvPr/>
        </p:nvSpPr>
        <p:spPr>
          <a:xfrm>
            <a:off x="3062992" y="3965278"/>
            <a:ext cx="405765" cy="356870"/>
          </a:xfrm>
          <a:prstGeom prst="rect">
            <a:avLst/>
          </a:prstGeom>
        </p:spPr>
        <p:txBody>
          <a:bodyPr wrap="square" lIns="0" tIns="12065" rIns="0" bIns="0" rtlCol="0" vert="horz">
            <a:spAutoFit/>
          </a:bodyPr>
          <a:lstStyle/>
          <a:p>
            <a:pPr marL="142240">
              <a:lnSpc>
                <a:spcPct val="100000"/>
              </a:lnSpc>
              <a:spcBef>
                <a:spcPts val="95"/>
              </a:spcBef>
            </a:pPr>
            <a:r>
              <a:rPr dirty="0" sz="800" spc="-20" b="1">
                <a:latin typeface="Microsoft YaHei"/>
                <a:cs typeface="Microsoft YaHei"/>
              </a:rPr>
              <a:t>2690</a:t>
            </a:r>
            <a:endParaRPr sz="800">
              <a:latin typeface="Microsoft YaHei"/>
              <a:cs typeface="Microsoft YaHei"/>
            </a:endParaRPr>
          </a:p>
          <a:p>
            <a:pPr marL="12700">
              <a:lnSpc>
                <a:spcPct val="100000"/>
              </a:lnSpc>
              <a:spcBef>
                <a:spcPts val="690"/>
              </a:spcBef>
            </a:pPr>
            <a:r>
              <a:rPr dirty="0" sz="800" spc="-25">
                <a:latin typeface="Microsoft YaHei"/>
                <a:cs typeface="Microsoft YaHei"/>
              </a:rPr>
              <a:t>待发放</a:t>
            </a:r>
            <a:endParaRPr sz="800">
              <a:latin typeface="Microsoft YaHei"/>
              <a:cs typeface="Microsoft YaHei"/>
            </a:endParaRPr>
          </a:p>
        </p:txBody>
      </p:sp>
      <p:sp>
        <p:nvSpPr>
          <p:cNvPr id="15" name="object 15" descr=""/>
          <p:cNvSpPr txBox="1"/>
          <p:nvPr/>
        </p:nvSpPr>
        <p:spPr>
          <a:xfrm>
            <a:off x="696636" y="3947644"/>
            <a:ext cx="1144905" cy="147320"/>
          </a:xfrm>
          <a:prstGeom prst="rect">
            <a:avLst/>
          </a:prstGeom>
        </p:spPr>
        <p:txBody>
          <a:bodyPr wrap="square" lIns="0" tIns="12065" rIns="0" bIns="0" rtlCol="0" vert="horz">
            <a:spAutoFit/>
          </a:bodyPr>
          <a:lstStyle/>
          <a:p>
            <a:pPr marL="12700">
              <a:lnSpc>
                <a:spcPct val="100000"/>
              </a:lnSpc>
              <a:spcBef>
                <a:spcPts val="95"/>
              </a:spcBef>
              <a:tabLst>
                <a:tab pos="459105" algn="l"/>
                <a:tab pos="881380" algn="l"/>
              </a:tabLst>
            </a:pPr>
            <a:r>
              <a:rPr dirty="0" sz="800" spc="-20" b="1">
                <a:latin typeface="Microsoft YaHei"/>
                <a:cs typeface="Microsoft YaHei"/>
              </a:rPr>
              <a:t>2500</a:t>
            </a:r>
            <a:r>
              <a:rPr dirty="0" sz="800" b="1">
                <a:latin typeface="Microsoft YaHei"/>
                <a:cs typeface="Microsoft YaHei"/>
              </a:rPr>
              <a:t>	</a:t>
            </a:r>
            <a:r>
              <a:rPr dirty="0" sz="800" spc="-20" b="1">
                <a:latin typeface="Microsoft YaHei"/>
                <a:cs typeface="Microsoft YaHei"/>
              </a:rPr>
              <a:t>2555</a:t>
            </a:r>
            <a:r>
              <a:rPr dirty="0" sz="800" b="1">
                <a:latin typeface="Microsoft YaHei"/>
                <a:cs typeface="Microsoft YaHei"/>
              </a:rPr>
              <a:t>	</a:t>
            </a:r>
            <a:r>
              <a:rPr dirty="0" sz="800" spc="-20" b="1">
                <a:latin typeface="Microsoft YaHei"/>
                <a:cs typeface="Microsoft YaHei"/>
              </a:rPr>
              <a:t>2575</a:t>
            </a:r>
            <a:endParaRPr sz="800">
              <a:latin typeface="Microsoft YaHei"/>
              <a:cs typeface="Microsoft YaHei"/>
            </a:endParaRPr>
          </a:p>
        </p:txBody>
      </p:sp>
      <p:sp>
        <p:nvSpPr>
          <p:cNvPr id="16" name="object 16" descr=""/>
          <p:cNvSpPr/>
          <p:nvPr/>
        </p:nvSpPr>
        <p:spPr>
          <a:xfrm>
            <a:off x="1244638" y="3641381"/>
            <a:ext cx="510540" cy="327660"/>
          </a:xfrm>
          <a:custGeom>
            <a:avLst/>
            <a:gdLst/>
            <a:ahLst/>
            <a:cxnLst/>
            <a:rect l="l" t="t" r="r" b="b"/>
            <a:pathLst>
              <a:path w="510539" h="327660">
                <a:moveTo>
                  <a:pt x="0" y="327253"/>
                </a:moveTo>
                <a:lnTo>
                  <a:pt x="510400" y="327253"/>
                </a:lnTo>
                <a:lnTo>
                  <a:pt x="510400" y="0"/>
                </a:lnTo>
                <a:lnTo>
                  <a:pt x="0" y="0"/>
                </a:lnTo>
                <a:lnTo>
                  <a:pt x="0" y="327253"/>
                </a:lnTo>
                <a:close/>
              </a:path>
            </a:pathLst>
          </a:custGeom>
          <a:solidFill>
            <a:srgbClr val="00B050"/>
          </a:solidFill>
        </p:spPr>
        <p:txBody>
          <a:bodyPr wrap="square" lIns="0" tIns="0" rIns="0" bIns="0" rtlCol="0"/>
          <a:lstStyle/>
          <a:p/>
        </p:txBody>
      </p:sp>
      <p:sp>
        <p:nvSpPr>
          <p:cNvPr id="17" name="object 17" descr=""/>
          <p:cNvSpPr txBox="1"/>
          <p:nvPr/>
        </p:nvSpPr>
        <p:spPr>
          <a:xfrm>
            <a:off x="1244638" y="3699351"/>
            <a:ext cx="510540" cy="269240"/>
          </a:xfrm>
          <a:prstGeom prst="rect">
            <a:avLst/>
          </a:prstGeom>
        </p:spPr>
        <p:txBody>
          <a:bodyPr wrap="square" lIns="0" tIns="12065" rIns="0" bIns="0" rtlCol="0" vert="horz">
            <a:spAutoFit/>
          </a:bodyPr>
          <a:lstStyle/>
          <a:p>
            <a:pPr marL="134620">
              <a:lnSpc>
                <a:spcPct val="100000"/>
              </a:lnSpc>
              <a:spcBef>
                <a:spcPts val="95"/>
              </a:spcBef>
            </a:pPr>
            <a:r>
              <a:rPr dirty="0" sz="800" spc="-25" b="1">
                <a:latin typeface="Microsoft YaHei"/>
                <a:cs typeface="Microsoft YaHei"/>
              </a:rPr>
              <a:t>20M</a:t>
            </a:r>
            <a:endParaRPr sz="800">
              <a:latin typeface="Microsoft YaHei"/>
              <a:cs typeface="Microsoft YaHei"/>
            </a:endParaRPr>
          </a:p>
          <a:p>
            <a:pPr marL="134620">
              <a:lnSpc>
                <a:spcPct val="100000"/>
              </a:lnSpc>
            </a:pPr>
            <a:r>
              <a:rPr dirty="0" sz="800" spc="-25" b="1">
                <a:latin typeface="Microsoft YaHei"/>
                <a:cs typeface="Microsoft YaHei"/>
              </a:rPr>
              <a:t>Hz</a:t>
            </a:r>
            <a:endParaRPr sz="800">
              <a:latin typeface="Microsoft YaHei"/>
              <a:cs typeface="Microsoft YaHei"/>
            </a:endParaRPr>
          </a:p>
        </p:txBody>
      </p:sp>
      <p:sp>
        <p:nvSpPr>
          <p:cNvPr id="18" name="object 18" descr=""/>
          <p:cNvSpPr txBox="1"/>
          <p:nvPr/>
        </p:nvSpPr>
        <p:spPr>
          <a:xfrm>
            <a:off x="1755038" y="3663441"/>
            <a:ext cx="681355" cy="305435"/>
          </a:xfrm>
          <a:prstGeom prst="rect">
            <a:avLst/>
          </a:prstGeom>
          <a:solidFill>
            <a:srgbClr val="0000FF"/>
          </a:solidFill>
        </p:spPr>
        <p:txBody>
          <a:bodyPr wrap="square" lIns="0" tIns="98425" rIns="0" bIns="0" rtlCol="0" vert="horz">
            <a:spAutoFit/>
          </a:bodyPr>
          <a:lstStyle/>
          <a:p>
            <a:pPr marL="148590">
              <a:lnSpc>
                <a:spcPct val="100000"/>
              </a:lnSpc>
              <a:spcBef>
                <a:spcPts val="775"/>
              </a:spcBef>
            </a:pPr>
            <a:r>
              <a:rPr dirty="0" sz="800" spc="-10" b="1">
                <a:solidFill>
                  <a:srgbClr val="FFFF00"/>
                </a:solidFill>
                <a:latin typeface="Microsoft YaHei"/>
                <a:cs typeface="Microsoft YaHei"/>
              </a:rPr>
              <a:t>60MHz</a:t>
            </a:r>
            <a:endParaRPr sz="800">
              <a:latin typeface="Microsoft YaHei"/>
              <a:cs typeface="Microsoft YaHei"/>
            </a:endParaRPr>
          </a:p>
        </p:txBody>
      </p:sp>
      <p:sp>
        <p:nvSpPr>
          <p:cNvPr id="19" name="object 19" descr=""/>
          <p:cNvSpPr txBox="1"/>
          <p:nvPr/>
        </p:nvSpPr>
        <p:spPr>
          <a:xfrm>
            <a:off x="2266484" y="3947624"/>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2635</a:t>
            </a:r>
            <a:endParaRPr sz="800">
              <a:latin typeface="Microsoft YaHei"/>
              <a:cs typeface="Microsoft YaHei"/>
            </a:endParaRPr>
          </a:p>
        </p:txBody>
      </p:sp>
      <p:sp>
        <p:nvSpPr>
          <p:cNvPr id="20" name="object 20" descr=""/>
          <p:cNvSpPr txBox="1"/>
          <p:nvPr/>
        </p:nvSpPr>
        <p:spPr>
          <a:xfrm>
            <a:off x="2436190" y="3663441"/>
            <a:ext cx="472440" cy="305435"/>
          </a:xfrm>
          <a:prstGeom prst="rect">
            <a:avLst/>
          </a:prstGeom>
          <a:solidFill>
            <a:srgbClr val="FFC000"/>
          </a:solidFill>
        </p:spPr>
        <p:txBody>
          <a:bodyPr wrap="square" lIns="0" tIns="26034" rIns="0" bIns="0" rtlCol="0" vert="horz">
            <a:spAutoFit/>
          </a:bodyPr>
          <a:lstStyle/>
          <a:p>
            <a:pPr marL="40640">
              <a:lnSpc>
                <a:spcPct val="100000"/>
              </a:lnSpc>
              <a:spcBef>
                <a:spcPts val="204"/>
              </a:spcBef>
            </a:pPr>
            <a:r>
              <a:rPr dirty="0" sz="800" spc="-25" b="1">
                <a:latin typeface="Microsoft YaHei"/>
                <a:cs typeface="Microsoft YaHei"/>
              </a:rPr>
              <a:t>20M</a:t>
            </a:r>
            <a:endParaRPr sz="800">
              <a:latin typeface="Microsoft YaHei"/>
              <a:cs typeface="Microsoft YaHei"/>
            </a:endParaRPr>
          </a:p>
          <a:p>
            <a:pPr marL="40640">
              <a:lnSpc>
                <a:spcPct val="100000"/>
              </a:lnSpc>
            </a:pPr>
            <a:r>
              <a:rPr dirty="0" sz="800" spc="-25" b="1">
                <a:latin typeface="Microsoft YaHei"/>
                <a:cs typeface="Microsoft YaHei"/>
              </a:rPr>
              <a:t>Hz</a:t>
            </a:r>
            <a:endParaRPr sz="800">
              <a:latin typeface="Microsoft YaHei"/>
              <a:cs typeface="Microsoft YaHei"/>
            </a:endParaRPr>
          </a:p>
        </p:txBody>
      </p:sp>
      <p:sp>
        <p:nvSpPr>
          <p:cNvPr id="21" name="object 21" descr=""/>
          <p:cNvSpPr txBox="1"/>
          <p:nvPr/>
        </p:nvSpPr>
        <p:spPr>
          <a:xfrm>
            <a:off x="2779083" y="3947604"/>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2655</a:t>
            </a:r>
            <a:endParaRPr sz="800">
              <a:latin typeface="Microsoft YaHei"/>
              <a:cs typeface="Microsoft YaHei"/>
            </a:endParaRPr>
          </a:p>
        </p:txBody>
      </p:sp>
      <p:sp>
        <p:nvSpPr>
          <p:cNvPr id="22" name="object 22" descr=""/>
          <p:cNvSpPr txBox="1"/>
          <p:nvPr/>
        </p:nvSpPr>
        <p:spPr>
          <a:xfrm>
            <a:off x="2908515" y="3663441"/>
            <a:ext cx="497840" cy="305435"/>
          </a:xfrm>
          <a:prstGeom prst="rect">
            <a:avLst/>
          </a:prstGeom>
          <a:solidFill>
            <a:srgbClr val="00B0F0"/>
          </a:solidFill>
        </p:spPr>
        <p:txBody>
          <a:bodyPr wrap="square" lIns="0" tIns="75565" rIns="0" bIns="0" rtlCol="0" vert="horz">
            <a:spAutoFit/>
          </a:bodyPr>
          <a:lstStyle/>
          <a:p>
            <a:pPr marL="90805">
              <a:lnSpc>
                <a:spcPct val="100000"/>
              </a:lnSpc>
              <a:spcBef>
                <a:spcPts val="595"/>
              </a:spcBef>
            </a:pPr>
            <a:r>
              <a:rPr dirty="0" sz="800" spc="-10" b="1">
                <a:latin typeface="Microsoft YaHei"/>
                <a:cs typeface="Microsoft YaHei"/>
              </a:rPr>
              <a:t>35MHz</a:t>
            </a:r>
            <a:endParaRPr sz="800">
              <a:latin typeface="Microsoft YaHei"/>
              <a:cs typeface="Microsoft YaHei"/>
            </a:endParaRPr>
          </a:p>
        </p:txBody>
      </p:sp>
      <p:grpSp>
        <p:nvGrpSpPr>
          <p:cNvPr id="23" name="object 23" descr=""/>
          <p:cNvGrpSpPr/>
          <p:nvPr/>
        </p:nvGrpSpPr>
        <p:grpSpPr>
          <a:xfrm>
            <a:off x="716875" y="3630436"/>
            <a:ext cx="2703830" cy="353060"/>
            <a:chOff x="716875" y="3630436"/>
            <a:chExt cx="2703830" cy="353060"/>
          </a:xfrm>
        </p:grpSpPr>
        <p:sp>
          <p:nvSpPr>
            <p:cNvPr id="24" name="object 24" descr=""/>
            <p:cNvSpPr/>
            <p:nvPr/>
          </p:nvSpPr>
          <p:spPr>
            <a:xfrm>
              <a:off x="2908354" y="3644723"/>
              <a:ext cx="497840" cy="324485"/>
            </a:xfrm>
            <a:custGeom>
              <a:avLst/>
              <a:gdLst/>
              <a:ahLst/>
              <a:cxnLst/>
              <a:rect l="l" t="t" r="r" b="b"/>
              <a:pathLst>
                <a:path w="497839" h="324485">
                  <a:moveTo>
                    <a:pt x="0" y="53987"/>
                  </a:moveTo>
                  <a:lnTo>
                    <a:pt x="4242" y="32971"/>
                  </a:lnTo>
                  <a:lnTo>
                    <a:pt x="15811" y="15811"/>
                  </a:lnTo>
                  <a:lnTo>
                    <a:pt x="32971" y="4242"/>
                  </a:lnTo>
                  <a:lnTo>
                    <a:pt x="53987" y="0"/>
                  </a:lnTo>
                  <a:lnTo>
                    <a:pt x="443522" y="0"/>
                  </a:lnTo>
                  <a:lnTo>
                    <a:pt x="464530" y="4242"/>
                  </a:lnTo>
                  <a:lnTo>
                    <a:pt x="481687" y="15811"/>
                  </a:lnTo>
                  <a:lnTo>
                    <a:pt x="493255" y="32971"/>
                  </a:lnTo>
                  <a:lnTo>
                    <a:pt x="497497" y="53987"/>
                  </a:lnTo>
                  <a:lnTo>
                    <a:pt x="497497" y="269913"/>
                  </a:lnTo>
                  <a:lnTo>
                    <a:pt x="493255" y="290928"/>
                  </a:lnTo>
                  <a:lnTo>
                    <a:pt x="481687" y="308089"/>
                  </a:lnTo>
                  <a:lnTo>
                    <a:pt x="464530" y="319658"/>
                  </a:lnTo>
                  <a:lnTo>
                    <a:pt x="443522" y="323900"/>
                  </a:lnTo>
                  <a:lnTo>
                    <a:pt x="53987" y="323900"/>
                  </a:lnTo>
                  <a:lnTo>
                    <a:pt x="32971" y="319658"/>
                  </a:lnTo>
                  <a:lnTo>
                    <a:pt x="15811" y="308089"/>
                  </a:lnTo>
                  <a:lnTo>
                    <a:pt x="4242" y="290928"/>
                  </a:lnTo>
                  <a:lnTo>
                    <a:pt x="0" y="269913"/>
                  </a:lnTo>
                  <a:lnTo>
                    <a:pt x="0" y="53987"/>
                  </a:lnTo>
                  <a:close/>
                </a:path>
              </a:pathLst>
            </a:custGeom>
            <a:ln w="28575">
              <a:solidFill>
                <a:srgbClr val="FF0000"/>
              </a:solidFill>
            </a:ln>
          </p:spPr>
          <p:txBody>
            <a:bodyPr wrap="square" lIns="0" tIns="0" rIns="0" bIns="0" rtlCol="0"/>
            <a:lstStyle/>
            <a:p/>
          </p:txBody>
        </p:sp>
        <p:sp>
          <p:nvSpPr>
            <p:cNvPr id="25" name="object 25" descr=""/>
            <p:cNvSpPr/>
            <p:nvPr/>
          </p:nvSpPr>
          <p:spPr>
            <a:xfrm>
              <a:off x="731163" y="3648207"/>
              <a:ext cx="543560" cy="320675"/>
            </a:xfrm>
            <a:custGeom>
              <a:avLst/>
              <a:gdLst/>
              <a:ahLst/>
              <a:cxnLst/>
              <a:rect l="l" t="t" r="r" b="b"/>
              <a:pathLst>
                <a:path w="543560" h="320675">
                  <a:moveTo>
                    <a:pt x="0" y="53403"/>
                  </a:moveTo>
                  <a:lnTo>
                    <a:pt x="4197" y="32618"/>
                  </a:lnTo>
                  <a:lnTo>
                    <a:pt x="15643" y="15643"/>
                  </a:lnTo>
                  <a:lnTo>
                    <a:pt x="32618" y="4197"/>
                  </a:lnTo>
                  <a:lnTo>
                    <a:pt x="53403" y="0"/>
                  </a:lnTo>
                  <a:lnTo>
                    <a:pt x="489597" y="0"/>
                  </a:lnTo>
                  <a:lnTo>
                    <a:pt x="510390" y="4197"/>
                  </a:lnTo>
                  <a:lnTo>
                    <a:pt x="527369" y="15643"/>
                  </a:lnTo>
                  <a:lnTo>
                    <a:pt x="538816" y="32618"/>
                  </a:lnTo>
                  <a:lnTo>
                    <a:pt x="543013" y="53403"/>
                  </a:lnTo>
                  <a:lnTo>
                    <a:pt x="543013" y="267017"/>
                  </a:lnTo>
                  <a:lnTo>
                    <a:pt x="538816" y="287802"/>
                  </a:lnTo>
                  <a:lnTo>
                    <a:pt x="527369" y="304777"/>
                  </a:lnTo>
                  <a:lnTo>
                    <a:pt x="510390" y="316223"/>
                  </a:lnTo>
                  <a:lnTo>
                    <a:pt x="489597" y="320420"/>
                  </a:lnTo>
                  <a:lnTo>
                    <a:pt x="53403" y="320420"/>
                  </a:lnTo>
                  <a:lnTo>
                    <a:pt x="32618" y="316223"/>
                  </a:lnTo>
                  <a:lnTo>
                    <a:pt x="15643" y="304777"/>
                  </a:lnTo>
                  <a:lnTo>
                    <a:pt x="4197" y="287802"/>
                  </a:lnTo>
                  <a:lnTo>
                    <a:pt x="0" y="267017"/>
                  </a:lnTo>
                  <a:lnTo>
                    <a:pt x="0" y="53403"/>
                  </a:lnTo>
                  <a:close/>
                </a:path>
              </a:pathLst>
            </a:custGeom>
            <a:ln w="28575">
              <a:solidFill>
                <a:srgbClr val="FF0000"/>
              </a:solidFill>
            </a:ln>
          </p:spPr>
          <p:txBody>
            <a:bodyPr wrap="square" lIns="0" tIns="0" rIns="0" bIns="0" rtlCol="0"/>
            <a:lstStyle/>
            <a:p/>
          </p:txBody>
        </p:sp>
      </p:grpSp>
      <p:sp>
        <p:nvSpPr>
          <p:cNvPr id="26" name="object 26" descr=""/>
          <p:cNvSpPr txBox="1"/>
          <p:nvPr/>
        </p:nvSpPr>
        <p:spPr>
          <a:xfrm>
            <a:off x="1931314" y="2489250"/>
            <a:ext cx="567055" cy="275590"/>
          </a:xfrm>
          <a:prstGeom prst="rect">
            <a:avLst/>
          </a:prstGeom>
          <a:solidFill>
            <a:srgbClr val="FFC000"/>
          </a:solidFill>
        </p:spPr>
        <p:txBody>
          <a:bodyPr wrap="square" lIns="0" tIns="50800" rIns="0" bIns="0" rtlCol="0" vert="horz">
            <a:spAutoFit/>
          </a:bodyPr>
          <a:lstStyle/>
          <a:p>
            <a:pPr marL="133985">
              <a:lnSpc>
                <a:spcPct val="100000"/>
              </a:lnSpc>
              <a:spcBef>
                <a:spcPts val="400"/>
              </a:spcBef>
            </a:pPr>
            <a:r>
              <a:rPr dirty="0" sz="800" spc="-25" b="1">
                <a:latin typeface="Microsoft YaHei"/>
                <a:cs typeface="Microsoft YaHei"/>
              </a:rPr>
              <a:t>20</a:t>
            </a:r>
            <a:endParaRPr sz="800">
              <a:latin typeface="Microsoft YaHei"/>
              <a:cs typeface="Microsoft YaHei"/>
            </a:endParaRPr>
          </a:p>
          <a:p>
            <a:pPr marL="133985">
              <a:lnSpc>
                <a:spcPts val="805"/>
              </a:lnSpc>
            </a:pPr>
            <a:r>
              <a:rPr dirty="0" sz="800" spc="-25" b="1">
                <a:latin typeface="Microsoft YaHei"/>
                <a:cs typeface="Microsoft YaHei"/>
              </a:rPr>
              <a:t>MHz</a:t>
            </a:r>
            <a:endParaRPr sz="800">
              <a:latin typeface="Microsoft YaHei"/>
              <a:cs typeface="Microsoft YaHei"/>
            </a:endParaRPr>
          </a:p>
        </p:txBody>
      </p:sp>
      <p:sp>
        <p:nvSpPr>
          <p:cNvPr id="27" name="object 27" descr=""/>
          <p:cNvSpPr txBox="1"/>
          <p:nvPr/>
        </p:nvSpPr>
        <p:spPr>
          <a:xfrm>
            <a:off x="2497861" y="2489250"/>
            <a:ext cx="544830" cy="275590"/>
          </a:xfrm>
          <a:prstGeom prst="rect">
            <a:avLst/>
          </a:prstGeom>
          <a:solidFill>
            <a:srgbClr val="00B050"/>
          </a:solidFill>
        </p:spPr>
        <p:txBody>
          <a:bodyPr wrap="square" lIns="0" tIns="50800" rIns="0" bIns="0" rtlCol="0" vert="horz">
            <a:spAutoFit/>
          </a:bodyPr>
          <a:lstStyle/>
          <a:p>
            <a:pPr marL="123825">
              <a:lnSpc>
                <a:spcPct val="100000"/>
              </a:lnSpc>
              <a:spcBef>
                <a:spcPts val="400"/>
              </a:spcBef>
            </a:pPr>
            <a:r>
              <a:rPr dirty="0" sz="800" spc="-25" b="1">
                <a:latin typeface="Microsoft YaHei"/>
                <a:cs typeface="Microsoft YaHei"/>
              </a:rPr>
              <a:t>25</a:t>
            </a:r>
            <a:endParaRPr sz="800">
              <a:latin typeface="Microsoft YaHei"/>
              <a:cs typeface="Microsoft YaHei"/>
            </a:endParaRPr>
          </a:p>
          <a:p>
            <a:pPr marL="123825">
              <a:lnSpc>
                <a:spcPts val="805"/>
              </a:lnSpc>
            </a:pPr>
            <a:r>
              <a:rPr dirty="0" sz="800" spc="-25" b="1">
                <a:latin typeface="Microsoft YaHei"/>
                <a:cs typeface="Microsoft YaHei"/>
              </a:rPr>
              <a:t>MHz</a:t>
            </a:r>
            <a:endParaRPr sz="800">
              <a:latin typeface="Microsoft YaHei"/>
              <a:cs typeface="Microsoft YaHei"/>
            </a:endParaRPr>
          </a:p>
        </p:txBody>
      </p:sp>
      <p:sp>
        <p:nvSpPr>
          <p:cNvPr id="28" name="object 28" descr=""/>
          <p:cNvSpPr txBox="1"/>
          <p:nvPr/>
        </p:nvSpPr>
        <p:spPr>
          <a:xfrm>
            <a:off x="1879925" y="2766070"/>
            <a:ext cx="725170" cy="147320"/>
          </a:xfrm>
          <a:prstGeom prst="rect">
            <a:avLst/>
          </a:prstGeom>
        </p:spPr>
        <p:txBody>
          <a:bodyPr wrap="square" lIns="0" tIns="12065" rIns="0" bIns="0" rtlCol="0" vert="horz">
            <a:spAutoFit/>
          </a:bodyPr>
          <a:lstStyle/>
          <a:p>
            <a:pPr marL="12700">
              <a:lnSpc>
                <a:spcPct val="100000"/>
              </a:lnSpc>
              <a:spcBef>
                <a:spcPts val="95"/>
              </a:spcBef>
              <a:tabLst>
                <a:tab pos="461645" algn="l"/>
              </a:tabLst>
            </a:pPr>
            <a:r>
              <a:rPr dirty="0" sz="800" spc="-20" b="1">
                <a:latin typeface="Microsoft YaHei"/>
                <a:cs typeface="Microsoft YaHei"/>
              </a:rPr>
              <a:t>2110</a:t>
            </a:r>
            <a:r>
              <a:rPr dirty="0" sz="800" b="1">
                <a:latin typeface="Microsoft YaHei"/>
                <a:cs typeface="Microsoft YaHei"/>
              </a:rPr>
              <a:t>	</a:t>
            </a:r>
            <a:r>
              <a:rPr dirty="0" sz="800" spc="-20" b="1">
                <a:latin typeface="Microsoft YaHei"/>
                <a:cs typeface="Microsoft YaHei"/>
              </a:rPr>
              <a:t>2130</a:t>
            </a:r>
            <a:endParaRPr sz="800">
              <a:latin typeface="Microsoft YaHei"/>
              <a:cs typeface="Microsoft YaHei"/>
            </a:endParaRPr>
          </a:p>
        </p:txBody>
      </p:sp>
      <p:sp>
        <p:nvSpPr>
          <p:cNvPr id="29" name="object 29" descr=""/>
          <p:cNvSpPr/>
          <p:nvPr/>
        </p:nvSpPr>
        <p:spPr>
          <a:xfrm>
            <a:off x="3042411" y="2489250"/>
            <a:ext cx="403860" cy="275590"/>
          </a:xfrm>
          <a:custGeom>
            <a:avLst/>
            <a:gdLst/>
            <a:ahLst/>
            <a:cxnLst/>
            <a:rect l="l" t="t" r="r" b="b"/>
            <a:pathLst>
              <a:path w="403860" h="275589">
                <a:moveTo>
                  <a:pt x="403377" y="0"/>
                </a:moveTo>
                <a:lnTo>
                  <a:pt x="0" y="0"/>
                </a:lnTo>
                <a:lnTo>
                  <a:pt x="0" y="275031"/>
                </a:lnTo>
                <a:lnTo>
                  <a:pt x="403377" y="275031"/>
                </a:lnTo>
                <a:lnTo>
                  <a:pt x="403377" y="0"/>
                </a:lnTo>
                <a:close/>
              </a:path>
            </a:pathLst>
          </a:custGeom>
          <a:solidFill>
            <a:srgbClr val="00B0F0"/>
          </a:solidFill>
        </p:spPr>
        <p:txBody>
          <a:bodyPr wrap="square" lIns="0" tIns="0" rIns="0" bIns="0" rtlCol="0"/>
          <a:lstStyle/>
          <a:p/>
        </p:txBody>
      </p:sp>
      <p:sp>
        <p:nvSpPr>
          <p:cNvPr id="30" name="object 30" descr=""/>
          <p:cNvSpPr txBox="1"/>
          <p:nvPr/>
        </p:nvSpPr>
        <p:spPr>
          <a:xfrm>
            <a:off x="3042411" y="2489250"/>
            <a:ext cx="403860" cy="133350"/>
          </a:xfrm>
          <a:prstGeom prst="rect">
            <a:avLst/>
          </a:prstGeom>
          <a:solidFill>
            <a:srgbClr val="00B0F0"/>
          </a:solidFill>
        </p:spPr>
        <p:txBody>
          <a:bodyPr wrap="square" lIns="0" tIns="0" rIns="0" bIns="0" rtlCol="0" vert="horz">
            <a:spAutoFit/>
          </a:bodyPr>
          <a:lstStyle/>
          <a:p>
            <a:pPr marL="130810">
              <a:lnSpc>
                <a:spcPts val="1045"/>
              </a:lnSpc>
            </a:pPr>
            <a:r>
              <a:rPr dirty="0" sz="900" spc="-25" b="1">
                <a:latin typeface="Microsoft YaHei"/>
                <a:cs typeface="Microsoft YaHei"/>
              </a:rPr>
              <a:t>15</a:t>
            </a:r>
            <a:endParaRPr sz="900">
              <a:latin typeface="Microsoft YaHei"/>
              <a:cs typeface="Microsoft YaHei"/>
            </a:endParaRPr>
          </a:p>
        </p:txBody>
      </p:sp>
      <p:sp>
        <p:nvSpPr>
          <p:cNvPr id="31" name="object 31" descr=""/>
          <p:cNvSpPr txBox="1"/>
          <p:nvPr/>
        </p:nvSpPr>
        <p:spPr>
          <a:xfrm>
            <a:off x="3042411" y="2622398"/>
            <a:ext cx="403860" cy="142240"/>
          </a:xfrm>
          <a:prstGeom prst="rect">
            <a:avLst/>
          </a:prstGeom>
          <a:solidFill>
            <a:srgbClr val="00B0F0"/>
          </a:solidFill>
        </p:spPr>
        <p:txBody>
          <a:bodyPr wrap="square" lIns="0" tIns="0" rIns="0" bIns="0" rtlCol="0" vert="horz">
            <a:spAutoFit/>
          </a:bodyPr>
          <a:lstStyle/>
          <a:p>
            <a:pPr marL="66675">
              <a:lnSpc>
                <a:spcPts val="1080"/>
              </a:lnSpc>
            </a:pPr>
            <a:r>
              <a:rPr dirty="0" sz="900" spc="-25" b="1">
                <a:latin typeface="Microsoft YaHei"/>
                <a:cs typeface="Microsoft YaHei"/>
              </a:rPr>
              <a:t>MHz</a:t>
            </a:r>
            <a:endParaRPr sz="900">
              <a:latin typeface="Microsoft YaHei"/>
              <a:cs typeface="Microsoft YaHei"/>
            </a:endParaRPr>
          </a:p>
        </p:txBody>
      </p:sp>
      <p:sp>
        <p:nvSpPr>
          <p:cNvPr id="32" name="object 32" descr=""/>
          <p:cNvSpPr txBox="1"/>
          <p:nvPr/>
        </p:nvSpPr>
        <p:spPr>
          <a:xfrm>
            <a:off x="2833186" y="2766070"/>
            <a:ext cx="635635" cy="147320"/>
          </a:xfrm>
          <a:prstGeom prst="rect">
            <a:avLst/>
          </a:prstGeom>
        </p:spPr>
        <p:txBody>
          <a:bodyPr wrap="square" lIns="0" tIns="12065" rIns="0" bIns="0" rtlCol="0" vert="horz">
            <a:spAutoFit/>
          </a:bodyPr>
          <a:lstStyle/>
          <a:p>
            <a:pPr marL="12700">
              <a:lnSpc>
                <a:spcPct val="100000"/>
              </a:lnSpc>
              <a:spcBef>
                <a:spcPts val="95"/>
              </a:spcBef>
            </a:pPr>
            <a:r>
              <a:rPr dirty="0" sz="800" b="1">
                <a:latin typeface="Microsoft YaHei"/>
                <a:cs typeface="Microsoft YaHei"/>
              </a:rPr>
              <a:t>2155</a:t>
            </a:r>
            <a:r>
              <a:rPr dirty="0" sz="800" spc="185" b="1">
                <a:latin typeface="Microsoft YaHei"/>
                <a:cs typeface="Microsoft YaHei"/>
              </a:rPr>
              <a:t>  </a:t>
            </a:r>
            <a:r>
              <a:rPr dirty="0" sz="800" spc="-20" b="1">
                <a:latin typeface="Microsoft YaHei"/>
                <a:cs typeface="Microsoft YaHei"/>
              </a:rPr>
              <a:t>2170</a:t>
            </a:r>
            <a:endParaRPr sz="800">
              <a:latin typeface="Microsoft YaHei"/>
              <a:cs typeface="Microsoft YaHei"/>
            </a:endParaRPr>
          </a:p>
        </p:txBody>
      </p:sp>
      <p:sp>
        <p:nvSpPr>
          <p:cNvPr id="33" name="object 33" descr=""/>
          <p:cNvSpPr/>
          <p:nvPr/>
        </p:nvSpPr>
        <p:spPr>
          <a:xfrm>
            <a:off x="3042419" y="2489248"/>
            <a:ext cx="432434" cy="280035"/>
          </a:xfrm>
          <a:custGeom>
            <a:avLst/>
            <a:gdLst/>
            <a:ahLst/>
            <a:cxnLst/>
            <a:rect l="l" t="t" r="r" b="b"/>
            <a:pathLst>
              <a:path w="432435" h="280035">
                <a:moveTo>
                  <a:pt x="0" y="46634"/>
                </a:moveTo>
                <a:lnTo>
                  <a:pt x="3664" y="28482"/>
                </a:lnTo>
                <a:lnTo>
                  <a:pt x="13658" y="13658"/>
                </a:lnTo>
                <a:lnTo>
                  <a:pt x="28482" y="3664"/>
                </a:lnTo>
                <a:lnTo>
                  <a:pt x="46634" y="0"/>
                </a:lnTo>
                <a:lnTo>
                  <a:pt x="385318" y="0"/>
                </a:lnTo>
                <a:lnTo>
                  <a:pt x="403470" y="3664"/>
                </a:lnTo>
                <a:lnTo>
                  <a:pt x="418293" y="13658"/>
                </a:lnTo>
                <a:lnTo>
                  <a:pt x="428287" y="28482"/>
                </a:lnTo>
                <a:lnTo>
                  <a:pt x="431952" y="46634"/>
                </a:lnTo>
                <a:lnTo>
                  <a:pt x="431952" y="233159"/>
                </a:lnTo>
                <a:lnTo>
                  <a:pt x="428287" y="251311"/>
                </a:lnTo>
                <a:lnTo>
                  <a:pt x="418293" y="266134"/>
                </a:lnTo>
                <a:lnTo>
                  <a:pt x="403470" y="276128"/>
                </a:lnTo>
                <a:lnTo>
                  <a:pt x="385318" y="279793"/>
                </a:lnTo>
                <a:lnTo>
                  <a:pt x="46634" y="279793"/>
                </a:lnTo>
                <a:lnTo>
                  <a:pt x="28482" y="276128"/>
                </a:lnTo>
                <a:lnTo>
                  <a:pt x="13658" y="266134"/>
                </a:lnTo>
                <a:lnTo>
                  <a:pt x="3664" y="251311"/>
                </a:lnTo>
                <a:lnTo>
                  <a:pt x="0" y="233159"/>
                </a:lnTo>
                <a:lnTo>
                  <a:pt x="0" y="46634"/>
                </a:lnTo>
                <a:close/>
              </a:path>
            </a:pathLst>
          </a:custGeom>
          <a:ln w="28575">
            <a:solidFill>
              <a:srgbClr val="FF0000"/>
            </a:solidFill>
          </a:ln>
        </p:spPr>
        <p:txBody>
          <a:bodyPr wrap="square" lIns="0" tIns="0" rIns="0" bIns="0" rtlCol="0"/>
          <a:lstStyle/>
          <a:p/>
        </p:txBody>
      </p:sp>
      <p:sp>
        <p:nvSpPr>
          <p:cNvPr id="34" name="object 34" descr=""/>
          <p:cNvSpPr txBox="1"/>
          <p:nvPr/>
        </p:nvSpPr>
        <p:spPr>
          <a:xfrm>
            <a:off x="1377162" y="1916760"/>
            <a:ext cx="532765" cy="340360"/>
          </a:xfrm>
          <a:prstGeom prst="rect">
            <a:avLst/>
          </a:prstGeom>
          <a:solidFill>
            <a:srgbClr val="0000FF"/>
          </a:solidFill>
        </p:spPr>
        <p:txBody>
          <a:bodyPr wrap="square" lIns="0" tIns="43180" rIns="0" bIns="0" rtlCol="0" vert="horz">
            <a:spAutoFit/>
          </a:bodyPr>
          <a:lstStyle/>
          <a:p>
            <a:pPr marL="91440">
              <a:lnSpc>
                <a:spcPct val="100000"/>
              </a:lnSpc>
              <a:spcBef>
                <a:spcPts val="340"/>
              </a:spcBef>
            </a:pPr>
            <a:r>
              <a:rPr dirty="0" sz="800" spc="-25" b="1">
                <a:solidFill>
                  <a:srgbClr val="FFFF00"/>
                </a:solidFill>
                <a:latin typeface="Microsoft YaHei"/>
                <a:cs typeface="Microsoft YaHei"/>
              </a:rPr>
              <a:t>20</a:t>
            </a:r>
            <a:endParaRPr sz="800">
              <a:latin typeface="Microsoft YaHei"/>
              <a:cs typeface="Microsoft YaHei"/>
            </a:endParaRPr>
          </a:p>
          <a:p>
            <a:pPr marL="91440">
              <a:lnSpc>
                <a:spcPct val="100000"/>
              </a:lnSpc>
            </a:pPr>
            <a:r>
              <a:rPr dirty="0" sz="800" spc="-20" b="1">
                <a:solidFill>
                  <a:srgbClr val="FFFF00"/>
                </a:solidFill>
                <a:latin typeface="Microsoft YaHei"/>
                <a:cs typeface="Microsoft YaHei"/>
              </a:rPr>
              <a:t>MHz)</a:t>
            </a:r>
            <a:endParaRPr sz="800">
              <a:latin typeface="Microsoft YaHei"/>
              <a:cs typeface="Microsoft YaHei"/>
            </a:endParaRPr>
          </a:p>
        </p:txBody>
      </p:sp>
      <p:sp>
        <p:nvSpPr>
          <p:cNvPr id="35" name="object 35" descr=""/>
          <p:cNvSpPr txBox="1"/>
          <p:nvPr/>
        </p:nvSpPr>
        <p:spPr>
          <a:xfrm>
            <a:off x="1324256" y="2239378"/>
            <a:ext cx="768350" cy="147320"/>
          </a:xfrm>
          <a:prstGeom prst="rect">
            <a:avLst/>
          </a:prstGeom>
        </p:spPr>
        <p:txBody>
          <a:bodyPr wrap="square" lIns="0" tIns="12065" rIns="0" bIns="0" rtlCol="0" vert="horz">
            <a:spAutoFit/>
          </a:bodyPr>
          <a:lstStyle/>
          <a:p>
            <a:pPr marL="12700">
              <a:lnSpc>
                <a:spcPct val="100000"/>
              </a:lnSpc>
              <a:spcBef>
                <a:spcPts val="95"/>
              </a:spcBef>
              <a:tabLst>
                <a:tab pos="504825" algn="l"/>
              </a:tabLst>
            </a:pPr>
            <a:r>
              <a:rPr dirty="0" sz="800" spc="-20" b="1">
                <a:latin typeface="Microsoft YaHei"/>
                <a:cs typeface="Microsoft YaHei"/>
              </a:rPr>
              <a:t>1885</a:t>
            </a:r>
            <a:r>
              <a:rPr dirty="0" sz="800" b="1">
                <a:latin typeface="Microsoft YaHei"/>
                <a:cs typeface="Microsoft YaHei"/>
              </a:rPr>
              <a:t>	</a:t>
            </a:r>
            <a:r>
              <a:rPr dirty="0" sz="800" spc="-20" b="1">
                <a:latin typeface="Microsoft YaHei"/>
                <a:cs typeface="Microsoft YaHei"/>
              </a:rPr>
              <a:t>1905</a:t>
            </a:r>
            <a:endParaRPr sz="800">
              <a:latin typeface="Microsoft YaHei"/>
              <a:cs typeface="Microsoft YaHei"/>
            </a:endParaRPr>
          </a:p>
        </p:txBody>
      </p:sp>
      <p:sp>
        <p:nvSpPr>
          <p:cNvPr id="36" name="object 36" descr=""/>
          <p:cNvSpPr txBox="1"/>
          <p:nvPr/>
        </p:nvSpPr>
        <p:spPr>
          <a:xfrm>
            <a:off x="1923313" y="1916760"/>
            <a:ext cx="436880" cy="340360"/>
          </a:xfrm>
          <a:prstGeom prst="rect">
            <a:avLst/>
          </a:prstGeom>
          <a:solidFill>
            <a:srgbClr val="0000FF"/>
          </a:solidFill>
        </p:spPr>
        <p:txBody>
          <a:bodyPr wrap="square" lIns="0" tIns="46990" rIns="0" bIns="0" rtlCol="0" vert="horz">
            <a:spAutoFit/>
          </a:bodyPr>
          <a:lstStyle/>
          <a:p>
            <a:pPr marL="37465">
              <a:lnSpc>
                <a:spcPct val="100000"/>
              </a:lnSpc>
              <a:spcBef>
                <a:spcPts val="370"/>
              </a:spcBef>
            </a:pPr>
            <a:r>
              <a:rPr dirty="0" sz="800" spc="-25" b="1">
                <a:solidFill>
                  <a:srgbClr val="FFFF00"/>
                </a:solidFill>
                <a:latin typeface="Microsoft YaHei"/>
                <a:cs typeface="Microsoft YaHei"/>
              </a:rPr>
              <a:t>10</a:t>
            </a:r>
            <a:endParaRPr sz="800">
              <a:latin typeface="Microsoft YaHei"/>
              <a:cs typeface="Microsoft YaHei"/>
            </a:endParaRPr>
          </a:p>
          <a:p>
            <a:pPr marL="37465">
              <a:lnSpc>
                <a:spcPct val="100000"/>
              </a:lnSpc>
            </a:pPr>
            <a:r>
              <a:rPr dirty="0" sz="800" spc="-25" b="1">
                <a:solidFill>
                  <a:srgbClr val="FFFF00"/>
                </a:solidFill>
                <a:latin typeface="Microsoft YaHei"/>
                <a:cs typeface="Microsoft YaHei"/>
              </a:rPr>
              <a:t>MHz</a:t>
            </a:r>
            <a:endParaRPr sz="800">
              <a:latin typeface="Microsoft YaHei"/>
              <a:cs typeface="Microsoft YaHei"/>
            </a:endParaRPr>
          </a:p>
        </p:txBody>
      </p:sp>
      <p:sp>
        <p:nvSpPr>
          <p:cNvPr id="37" name="object 37" descr=""/>
          <p:cNvSpPr txBox="1"/>
          <p:nvPr/>
        </p:nvSpPr>
        <p:spPr>
          <a:xfrm>
            <a:off x="2810814" y="1913191"/>
            <a:ext cx="605155" cy="302895"/>
          </a:xfrm>
          <a:prstGeom prst="rect">
            <a:avLst/>
          </a:prstGeom>
          <a:solidFill>
            <a:srgbClr val="0000FF"/>
          </a:solidFill>
        </p:spPr>
        <p:txBody>
          <a:bodyPr wrap="square" lIns="0" tIns="42544" rIns="0" bIns="0" rtlCol="0" vert="horz">
            <a:spAutoFit/>
          </a:bodyPr>
          <a:lstStyle/>
          <a:p>
            <a:pPr marL="140335">
              <a:lnSpc>
                <a:spcPct val="100000"/>
              </a:lnSpc>
              <a:spcBef>
                <a:spcPts val="334"/>
              </a:spcBef>
            </a:pPr>
            <a:r>
              <a:rPr dirty="0" sz="800" spc="-25" b="1">
                <a:solidFill>
                  <a:srgbClr val="FFFF00"/>
                </a:solidFill>
                <a:latin typeface="Microsoft YaHei"/>
                <a:cs typeface="Microsoft YaHei"/>
              </a:rPr>
              <a:t>15</a:t>
            </a:r>
            <a:endParaRPr sz="800">
              <a:latin typeface="Microsoft YaHei"/>
              <a:cs typeface="Microsoft YaHei"/>
            </a:endParaRPr>
          </a:p>
          <a:p>
            <a:pPr marL="140335">
              <a:lnSpc>
                <a:spcPct val="100000"/>
              </a:lnSpc>
            </a:pPr>
            <a:r>
              <a:rPr dirty="0" sz="800" spc="-25" b="1">
                <a:solidFill>
                  <a:srgbClr val="FFFF00"/>
                </a:solidFill>
                <a:latin typeface="Microsoft YaHei"/>
                <a:cs typeface="Microsoft YaHei"/>
              </a:rPr>
              <a:t>MHz</a:t>
            </a:r>
            <a:endParaRPr sz="800">
              <a:latin typeface="Microsoft YaHei"/>
              <a:cs typeface="Microsoft YaHei"/>
            </a:endParaRPr>
          </a:p>
        </p:txBody>
      </p:sp>
      <p:sp>
        <p:nvSpPr>
          <p:cNvPr id="38" name="object 38" descr=""/>
          <p:cNvSpPr txBox="1"/>
          <p:nvPr/>
        </p:nvSpPr>
        <p:spPr>
          <a:xfrm>
            <a:off x="2711956" y="2245228"/>
            <a:ext cx="756920" cy="147320"/>
          </a:xfrm>
          <a:prstGeom prst="rect">
            <a:avLst/>
          </a:prstGeom>
        </p:spPr>
        <p:txBody>
          <a:bodyPr wrap="square" lIns="0" tIns="12065" rIns="0" bIns="0" rtlCol="0" vert="horz">
            <a:spAutoFit/>
          </a:bodyPr>
          <a:lstStyle/>
          <a:p>
            <a:pPr marL="12700">
              <a:lnSpc>
                <a:spcPct val="100000"/>
              </a:lnSpc>
              <a:spcBef>
                <a:spcPts val="95"/>
              </a:spcBef>
              <a:tabLst>
                <a:tab pos="493395" algn="l"/>
              </a:tabLst>
            </a:pPr>
            <a:r>
              <a:rPr dirty="0" sz="800" spc="-20" b="1">
                <a:latin typeface="Microsoft YaHei"/>
                <a:cs typeface="Microsoft YaHei"/>
              </a:rPr>
              <a:t>2010</a:t>
            </a:r>
            <a:r>
              <a:rPr dirty="0" sz="800" b="1">
                <a:latin typeface="Microsoft YaHei"/>
                <a:cs typeface="Microsoft YaHei"/>
              </a:rPr>
              <a:t>	</a:t>
            </a:r>
            <a:r>
              <a:rPr dirty="0" sz="800" spc="-20" b="1">
                <a:latin typeface="Microsoft YaHei"/>
                <a:cs typeface="Microsoft YaHei"/>
              </a:rPr>
              <a:t>2025</a:t>
            </a:r>
            <a:endParaRPr sz="800">
              <a:latin typeface="Microsoft YaHei"/>
              <a:cs typeface="Microsoft YaHei"/>
            </a:endParaRPr>
          </a:p>
        </p:txBody>
      </p:sp>
      <p:sp>
        <p:nvSpPr>
          <p:cNvPr id="39" name="object 39" descr=""/>
          <p:cNvSpPr txBox="1"/>
          <p:nvPr/>
        </p:nvSpPr>
        <p:spPr>
          <a:xfrm>
            <a:off x="1309872" y="1627625"/>
            <a:ext cx="902335" cy="147320"/>
          </a:xfrm>
          <a:prstGeom prst="rect">
            <a:avLst/>
          </a:prstGeom>
        </p:spPr>
        <p:txBody>
          <a:bodyPr wrap="square" lIns="0" tIns="12065" rIns="0" bIns="0" rtlCol="0" vert="horz">
            <a:spAutoFit/>
          </a:bodyPr>
          <a:lstStyle/>
          <a:p>
            <a:pPr marL="38100">
              <a:lnSpc>
                <a:spcPct val="100000"/>
              </a:lnSpc>
              <a:spcBef>
                <a:spcPts val="95"/>
              </a:spcBef>
              <a:tabLst>
                <a:tab pos="614045" algn="l"/>
              </a:tabLst>
            </a:pPr>
            <a:r>
              <a:rPr dirty="0" sz="800" spc="-20" b="1">
                <a:latin typeface="Microsoft YaHei"/>
                <a:cs typeface="Microsoft YaHei"/>
              </a:rPr>
              <a:t>1805</a:t>
            </a:r>
            <a:r>
              <a:rPr dirty="0" sz="800" b="1">
                <a:latin typeface="Microsoft YaHei"/>
                <a:cs typeface="Microsoft YaHei"/>
              </a:rPr>
              <a:t>	</a:t>
            </a:r>
            <a:r>
              <a:rPr dirty="0" baseline="6944" sz="1200" spc="-30" b="1">
                <a:latin typeface="Microsoft YaHei"/>
                <a:cs typeface="Microsoft YaHei"/>
              </a:rPr>
              <a:t>1830</a:t>
            </a:r>
            <a:endParaRPr baseline="6944" sz="1200">
              <a:latin typeface="Microsoft YaHei"/>
              <a:cs typeface="Microsoft YaHei"/>
            </a:endParaRPr>
          </a:p>
        </p:txBody>
      </p:sp>
      <p:sp>
        <p:nvSpPr>
          <p:cNvPr id="40" name="object 40" descr=""/>
          <p:cNvSpPr txBox="1"/>
          <p:nvPr/>
        </p:nvSpPr>
        <p:spPr>
          <a:xfrm>
            <a:off x="1335887" y="1337119"/>
            <a:ext cx="645795" cy="308610"/>
          </a:xfrm>
          <a:prstGeom prst="rect">
            <a:avLst/>
          </a:prstGeom>
          <a:solidFill>
            <a:srgbClr val="0000FF"/>
          </a:solidFill>
        </p:spPr>
        <p:txBody>
          <a:bodyPr wrap="square" lIns="0" tIns="27305" rIns="0" bIns="0" rtlCol="0" vert="horz">
            <a:spAutoFit/>
          </a:bodyPr>
          <a:lstStyle/>
          <a:p>
            <a:pPr marL="193675">
              <a:lnSpc>
                <a:spcPct val="100000"/>
              </a:lnSpc>
              <a:spcBef>
                <a:spcPts val="215"/>
              </a:spcBef>
            </a:pPr>
            <a:r>
              <a:rPr dirty="0" sz="900" spc="-25" b="1">
                <a:solidFill>
                  <a:srgbClr val="FFFF00"/>
                </a:solidFill>
                <a:latin typeface="Microsoft YaHei"/>
                <a:cs typeface="Microsoft YaHei"/>
              </a:rPr>
              <a:t>25</a:t>
            </a:r>
            <a:endParaRPr sz="900">
              <a:latin typeface="Microsoft YaHei"/>
              <a:cs typeface="Microsoft YaHei"/>
            </a:endParaRPr>
          </a:p>
          <a:p>
            <a:pPr marL="129539">
              <a:lnSpc>
                <a:spcPct val="100000"/>
              </a:lnSpc>
            </a:pPr>
            <a:r>
              <a:rPr dirty="0" sz="900" spc="-25" b="1">
                <a:solidFill>
                  <a:srgbClr val="FFFF00"/>
                </a:solidFill>
                <a:latin typeface="Microsoft YaHei"/>
                <a:cs typeface="Microsoft YaHei"/>
              </a:rPr>
              <a:t>MHz</a:t>
            </a:r>
            <a:endParaRPr sz="900">
              <a:latin typeface="Microsoft YaHei"/>
              <a:cs typeface="Microsoft YaHei"/>
            </a:endParaRPr>
          </a:p>
        </p:txBody>
      </p:sp>
      <p:sp>
        <p:nvSpPr>
          <p:cNvPr id="41" name="object 41" descr=""/>
          <p:cNvSpPr txBox="1"/>
          <p:nvPr/>
        </p:nvSpPr>
        <p:spPr>
          <a:xfrm>
            <a:off x="1981492" y="1337119"/>
            <a:ext cx="894080" cy="308610"/>
          </a:xfrm>
          <a:prstGeom prst="rect">
            <a:avLst/>
          </a:prstGeom>
          <a:solidFill>
            <a:srgbClr val="00B050"/>
          </a:solidFill>
        </p:spPr>
        <p:txBody>
          <a:bodyPr wrap="square" lIns="0" tIns="41275" rIns="0" bIns="0" rtlCol="0" vert="horz">
            <a:spAutoFit/>
          </a:bodyPr>
          <a:lstStyle/>
          <a:p>
            <a:pPr algn="ctr" marR="95885">
              <a:lnSpc>
                <a:spcPct val="100000"/>
              </a:lnSpc>
              <a:spcBef>
                <a:spcPts val="325"/>
              </a:spcBef>
            </a:pPr>
            <a:r>
              <a:rPr dirty="0" sz="800" spc="-25" b="1">
                <a:latin typeface="Microsoft YaHei"/>
                <a:cs typeface="Microsoft YaHei"/>
              </a:rPr>
              <a:t>30</a:t>
            </a:r>
            <a:endParaRPr sz="800">
              <a:latin typeface="Microsoft YaHei"/>
              <a:cs typeface="Microsoft YaHei"/>
            </a:endParaRPr>
          </a:p>
          <a:p>
            <a:pPr algn="ctr" marR="95885">
              <a:lnSpc>
                <a:spcPct val="100000"/>
              </a:lnSpc>
            </a:pPr>
            <a:r>
              <a:rPr dirty="0" sz="800" spc="-25" b="1">
                <a:latin typeface="Microsoft YaHei"/>
                <a:cs typeface="Microsoft YaHei"/>
              </a:rPr>
              <a:t>MHz</a:t>
            </a:r>
            <a:endParaRPr sz="800">
              <a:latin typeface="Microsoft YaHei"/>
              <a:cs typeface="Microsoft YaHei"/>
            </a:endParaRPr>
          </a:p>
        </p:txBody>
      </p:sp>
      <p:sp>
        <p:nvSpPr>
          <p:cNvPr id="42" name="object 42" descr=""/>
          <p:cNvSpPr txBox="1"/>
          <p:nvPr/>
        </p:nvSpPr>
        <p:spPr>
          <a:xfrm>
            <a:off x="2875026" y="1337119"/>
            <a:ext cx="445134" cy="308610"/>
          </a:xfrm>
          <a:prstGeom prst="rect">
            <a:avLst/>
          </a:prstGeom>
          <a:solidFill>
            <a:srgbClr val="FFC000"/>
          </a:solidFill>
        </p:spPr>
        <p:txBody>
          <a:bodyPr wrap="square" lIns="0" tIns="65404" rIns="0" bIns="0" rtlCol="0" vert="horz">
            <a:spAutoFit/>
          </a:bodyPr>
          <a:lstStyle/>
          <a:p>
            <a:pPr marL="226060">
              <a:lnSpc>
                <a:spcPct val="100000"/>
              </a:lnSpc>
              <a:spcBef>
                <a:spcPts val="515"/>
              </a:spcBef>
            </a:pPr>
            <a:r>
              <a:rPr dirty="0" sz="800" spc="-25" b="1">
                <a:latin typeface="Microsoft YaHei"/>
                <a:cs typeface="Microsoft YaHei"/>
              </a:rPr>
              <a:t>20</a:t>
            </a:r>
            <a:endParaRPr sz="800">
              <a:latin typeface="Microsoft YaHei"/>
              <a:cs typeface="Microsoft YaHei"/>
            </a:endParaRPr>
          </a:p>
          <a:p>
            <a:pPr marL="168275">
              <a:lnSpc>
                <a:spcPts val="955"/>
              </a:lnSpc>
            </a:pPr>
            <a:r>
              <a:rPr dirty="0" sz="800" spc="-25" b="1">
                <a:latin typeface="Microsoft YaHei"/>
                <a:cs typeface="Microsoft YaHei"/>
              </a:rPr>
              <a:t>MHz</a:t>
            </a:r>
            <a:endParaRPr sz="800">
              <a:latin typeface="Microsoft YaHei"/>
              <a:cs typeface="Microsoft YaHei"/>
            </a:endParaRPr>
          </a:p>
        </p:txBody>
      </p:sp>
      <p:sp>
        <p:nvSpPr>
          <p:cNvPr id="43" name="object 43" descr=""/>
          <p:cNvSpPr txBox="1"/>
          <p:nvPr/>
        </p:nvSpPr>
        <p:spPr>
          <a:xfrm>
            <a:off x="2780091" y="1626409"/>
            <a:ext cx="674370" cy="147320"/>
          </a:xfrm>
          <a:prstGeom prst="rect">
            <a:avLst/>
          </a:prstGeom>
        </p:spPr>
        <p:txBody>
          <a:bodyPr wrap="square" lIns="0" tIns="12065" rIns="0" bIns="0" rtlCol="0" vert="horz">
            <a:spAutoFit/>
          </a:bodyPr>
          <a:lstStyle/>
          <a:p>
            <a:pPr marL="12700">
              <a:lnSpc>
                <a:spcPct val="100000"/>
              </a:lnSpc>
              <a:spcBef>
                <a:spcPts val="95"/>
              </a:spcBef>
              <a:tabLst>
                <a:tab pos="410845" algn="l"/>
              </a:tabLst>
            </a:pPr>
            <a:r>
              <a:rPr dirty="0" sz="800" spc="-20" b="1">
                <a:latin typeface="Microsoft YaHei"/>
                <a:cs typeface="Microsoft YaHei"/>
              </a:rPr>
              <a:t>1860</a:t>
            </a:r>
            <a:r>
              <a:rPr dirty="0" sz="800" b="1">
                <a:latin typeface="Microsoft YaHei"/>
                <a:cs typeface="Microsoft YaHei"/>
              </a:rPr>
              <a:t>	</a:t>
            </a:r>
            <a:r>
              <a:rPr dirty="0" sz="800" spc="-20" b="1">
                <a:latin typeface="Microsoft YaHei"/>
                <a:cs typeface="Microsoft YaHei"/>
              </a:rPr>
              <a:t>1880</a:t>
            </a:r>
            <a:endParaRPr sz="800">
              <a:latin typeface="Microsoft YaHei"/>
              <a:cs typeface="Microsoft YaHei"/>
            </a:endParaRPr>
          </a:p>
        </p:txBody>
      </p:sp>
      <p:grpSp>
        <p:nvGrpSpPr>
          <p:cNvPr id="44" name="object 44" descr=""/>
          <p:cNvGrpSpPr/>
          <p:nvPr/>
        </p:nvGrpSpPr>
        <p:grpSpPr>
          <a:xfrm>
            <a:off x="656844" y="1258764"/>
            <a:ext cx="3046095" cy="3621404"/>
            <a:chOff x="656844" y="1258764"/>
            <a:chExt cx="3046095" cy="3621404"/>
          </a:xfrm>
        </p:grpSpPr>
        <p:sp>
          <p:nvSpPr>
            <p:cNvPr id="45" name="object 45" descr=""/>
            <p:cNvSpPr/>
            <p:nvPr/>
          </p:nvSpPr>
          <p:spPr>
            <a:xfrm>
              <a:off x="894251" y="1265114"/>
              <a:ext cx="2668270" cy="0"/>
            </a:xfrm>
            <a:custGeom>
              <a:avLst/>
              <a:gdLst/>
              <a:ahLst/>
              <a:cxnLst/>
              <a:rect l="l" t="t" r="r" b="b"/>
              <a:pathLst>
                <a:path w="2668270" h="0">
                  <a:moveTo>
                    <a:pt x="2667850" y="0"/>
                  </a:moveTo>
                  <a:lnTo>
                    <a:pt x="0" y="0"/>
                  </a:lnTo>
                </a:path>
              </a:pathLst>
            </a:custGeom>
            <a:ln w="12700">
              <a:solidFill>
                <a:srgbClr val="953735"/>
              </a:solidFill>
              <a:prstDash val="sysDash"/>
            </a:ln>
          </p:spPr>
          <p:txBody>
            <a:bodyPr wrap="square" lIns="0" tIns="0" rIns="0" bIns="0" rtlCol="0"/>
            <a:lstStyle/>
            <a:p/>
          </p:txBody>
        </p:sp>
        <p:sp>
          <p:nvSpPr>
            <p:cNvPr id="46" name="object 46" descr=""/>
            <p:cNvSpPr/>
            <p:nvPr/>
          </p:nvSpPr>
          <p:spPr>
            <a:xfrm>
              <a:off x="894251" y="1841178"/>
              <a:ext cx="2668270" cy="0"/>
            </a:xfrm>
            <a:custGeom>
              <a:avLst/>
              <a:gdLst/>
              <a:ahLst/>
              <a:cxnLst/>
              <a:rect l="l" t="t" r="r" b="b"/>
              <a:pathLst>
                <a:path w="2668270" h="0">
                  <a:moveTo>
                    <a:pt x="2667850" y="0"/>
                  </a:moveTo>
                  <a:lnTo>
                    <a:pt x="0" y="0"/>
                  </a:lnTo>
                </a:path>
              </a:pathLst>
            </a:custGeom>
            <a:ln w="12700">
              <a:solidFill>
                <a:srgbClr val="953735"/>
              </a:solidFill>
              <a:prstDash val="sysDash"/>
            </a:ln>
          </p:spPr>
          <p:txBody>
            <a:bodyPr wrap="square" lIns="0" tIns="0" rIns="0" bIns="0" rtlCol="0"/>
            <a:lstStyle/>
            <a:p/>
          </p:txBody>
        </p:sp>
        <p:sp>
          <p:nvSpPr>
            <p:cNvPr id="47" name="object 47" descr=""/>
            <p:cNvSpPr/>
            <p:nvPr/>
          </p:nvSpPr>
          <p:spPr>
            <a:xfrm>
              <a:off x="894251" y="2417241"/>
              <a:ext cx="2668270" cy="0"/>
            </a:xfrm>
            <a:custGeom>
              <a:avLst/>
              <a:gdLst/>
              <a:ahLst/>
              <a:cxnLst/>
              <a:rect l="l" t="t" r="r" b="b"/>
              <a:pathLst>
                <a:path w="2668270" h="0">
                  <a:moveTo>
                    <a:pt x="2667850" y="0"/>
                  </a:moveTo>
                  <a:lnTo>
                    <a:pt x="0" y="0"/>
                  </a:lnTo>
                </a:path>
              </a:pathLst>
            </a:custGeom>
            <a:ln w="12700">
              <a:solidFill>
                <a:srgbClr val="953735"/>
              </a:solidFill>
              <a:prstDash val="sysDash"/>
            </a:ln>
          </p:spPr>
          <p:txBody>
            <a:bodyPr wrap="square" lIns="0" tIns="0" rIns="0" bIns="0" rtlCol="0"/>
            <a:lstStyle/>
            <a:p/>
          </p:txBody>
        </p:sp>
        <p:sp>
          <p:nvSpPr>
            <p:cNvPr id="48" name="object 48" descr=""/>
            <p:cNvSpPr/>
            <p:nvPr/>
          </p:nvSpPr>
          <p:spPr>
            <a:xfrm>
              <a:off x="894251" y="2993306"/>
              <a:ext cx="2668270" cy="0"/>
            </a:xfrm>
            <a:custGeom>
              <a:avLst/>
              <a:gdLst/>
              <a:ahLst/>
              <a:cxnLst/>
              <a:rect l="l" t="t" r="r" b="b"/>
              <a:pathLst>
                <a:path w="2668270" h="0">
                  <a:moveTo>
                    <a:pt x="2667850" y="0"/>
                  </a:moveTo>
                  <a:lnTo>
                    <a:pt x="0" y="0"/>
                  </a:lnTo>
                </a:path>
              </a:pathLst>
            </a:custGeom>
            <a:ln w="12700">
              <a:solidFill>
                <a:srgbClr val="953735"/>
              </a:solidFill>
              <a:prstDash val="sysDash"/>
            </a:ln>
          </p:spPr>
          <p:txBody>
            <a:bodyPr wrap="square" lIns="0" tIns="0" rIns="0" bIns="0" rtlCol="0"/>
            <a:lstStyle/>
            <a:p/>
          </p:txBody>
        </p:sp>
        <p:sp>
          <p:nvSpPr>
            <p:cNvPr id="49" name="object 49" descr=""/>
            <p:cNvSpPr/>
            <p:nvPr/>
          </p:nvSpPr>
          <p:spPr>
            <a:xfrm>
              <a:off x="894251" y="3569370"/>
              <a:ext cx="2668270" cy="0"/>
            </a:xfrm>
            <a:custGeom>
              <a:avLst/>
              <a:gdLst/>
              <a:ahLst/>
              <a:cxnLst/>
              <a:rect l="l" t="t" r="r" b="b"/>
              <a:pathLst>
                <a:path w="2668270" h="0">
                  <a:moveTo>
                    <a:pt x="2667850" y="0"/>
                  </a:moveTo>
                  <a:lnTo>
                    <a:pt x="0" y="0"/>
                  </a:lnTo>
                </a:path>
              </a:pathLst>
            </a:custGeom>
            <a:ln w="12700">
              <a:solidFill>
                <a:srgbClr val="953735"/>
              </a:solidFill>
              <a:prstDash val="sysDash"/>
            </a:ln>
          </p:spPr>
          <p:txBody>
            <a:bodyPr wrap="square" lIns="0" tIns="0" rIns="0" bIns="0" rtlCol="0"/>
            <a:lstStyle/>
            <a:p/>
          </p:txBody>
        </p:sp>
        <p:pic>
          <p:nvPicPr>
            <p:cNvPr id="50" name="object 50" descr=""/>
            <p:cNvPicPr/>
            <p:nvPr/>
          </p:nvPicPr>
          <p:blipFill>
            <a:blip r:embed="rId2" cstate="print"/>
            <a:stretch>
              <a:fillRect/>
            </a:stretch>
          </p:blipFill>
          <p:spPr>
            <a:xfrm>
              <a:off x="668274" y="4421124"/>
              <a:ext cx="3034271" cy="458723"/>
            </a:xfrm>
            <a:prstGeom prst="rect">
              <a:avLst/>
            </a:prstGeom>
          </p:spPr>
        </p:pic>
        <p:pic>
          <p:nvPicPr>
            <p:cNvPr id="51" name="object 51" descr=""/>
            <p:cNvPicPr/>
            <p:nvPr/>
          </p:nvPicPr>
          <p:blipFill>
            <a:blip r:embed="rId3" cstate="print"/>
            <a:stretch>
              <a:fillRect/>
            </a:stretch>
          </p:blipFill>
          <p:spPr>
            <a:xfrm>
              <a:off x="656844" y="4415790"/>
              <a:ext cx="2235707" cy="396239"/>
            </a:xfrm>
            <a:prstGeom prst="rect">
              <a:avLst/>
            </a:prstGeom>
          </p:spPr>
        </p:pic>
      </p:grpSp>
      <p:sp>
        <p:nvSpPr>
          <p:cNvPr id="52" name="object 52" descr=""/>
          <p:cNvSpPr txBox="1"/>
          <p:nvPr/>
        </p:nvSpPr>
        <p:spPr>
          <a:xfrm>
            <a:off x="728421" y="4461357"/>
            <a:ext cx="2914015" cy="339090"/>
          </a:xfrm>
          <a:prstGeom prst="rect">
            <a:avLst/>
          </a:prstGeom>
          <a:solidFill>
            <a:srgbClr val="333399"/>
          </a:solidFill>
          <a:ln w="38100">
            <a:solidFill>
              <a:srgbClr val="FFFFFF"/>
            </a:solidFill>
          </a:ln>
        </p:spPr>
        <p:txBody>
          <a:bodyPr wrap="square" lIns="0" tIns="41910" rIns="0" bIns="0" rtlCol="0" vert="horz">
            <a:spAutoFit/>
          </a:bodyPr>
          <a:lstStyle/>
          <a:p>
            <a:pPr marL="90805">
              <a:lnSpc>
                <a:spcPct val="100000"/>
              </a:lnSpc>
              <a:spcBef>
                <a:spcPts val="330"/>
              </a:spcBef>
            </a:pPr>
            <a:r>
              <a:rPr dirty="0" sz="1600" spc="-10">
                <a:solidFill>
                  <a:srgbClr val="FFFFFF"/>
                </a:solidFill>
                <a:latin typeface="Arial MT"/>
                <a:cs typeface="Arial MT"/>
              </a:rPr>
              <a:t>Sub3G</a:t>
            </a:r>
            <a:r>
              <a:rPr dirty="0" sz="1600" spc="-10">
                <a:solidFill>
                  <a:srgbClr val="FFFFFF"/>
                </a:solidFill>
                <a:latin typeface="SimSun"/>
                <a:cs typeface="SimSun"/>
              </a:rPr>
              <a:t>存量频谱不足</a:t>
            </a:r>
            <a:endParaRPr sz="1600">
              <a:latin typeface="SimSun"/>
              <a:cs typeface="SimSun"/>
            </a:endParaRPr>
          </a:p>
        </p:txBody>
      </p:sp>
      <p:sp>
        <p:nvSpPr>
          <p:cNvPr id="53" name="object 53" descr=""/>
          <p:cNvSpPr txBox="1"/>
          <p:nvPr/>
        </p:nvSpPr>
        <p:spPr>
          <a:xfrm>
            <a:off x="6454562" y="1181688"/>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3400</a:t>
            </a:r>
            <a:endParaRPr sz="800">
              <a:latin typeface="Microsoft YaHei"/>
              <a:cs typeface="Microsoft YaHei"/>
            </a:endParaRPr>
          </a:p>
        </p:txBody>
      </p:sp>
      <p:sp>
        <p:nvSpPr>
          <p:cNvPr id="54" name="object 54" descr=""/>
          <p:cNvSpPr txBox="1"/>
          <p:nvPr/>
        </p:nvSpPr>
        <p:spPr>
          <a:xfrm>
            <a:off x="5935772" y="1181688"/>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3300</a:t>
            </a:r>
            <a:endParaRPr sz="800">
              <a:latin typeface="Microsoft YaHei"/>
              <a:cs typeface="Microsoft YaHei"/>
            </a:endParaRPr>
          </a:p>
        </p:txBody>
      </p:sp>
      <p:sp>
        <p:nvSpPr>
          <p:cNvPr id="55" name="object 55" descr=""/>
          <p:cNvSpPr/>
          <p:nvPr/>
        </p:nvSpPr>
        <p:spPr>
          <a:xfrm>
            <a:off x="6668401" y="833069"/>
            <a:ext cx="1541780" cy="336550"/>
          </a:xfrm>
          <a:custGeom>
            <a:avLst/>
            <a:gdLst/>
            <a:ahLst/>
            <a:cxnLst/>
            <a:rect l="l" t="t" r="r" b="b"/>
            <a:pathLst>
              <a:path w="1541779" h="336550">
                <a:moveTo>
                  <a:pt x="1541741" y="0"/>
                </a:moveTo>
                <a:lnTo>
                  <a:pt x="0" y="0"/>
                </a:lnTo>
                <a:lnTo>
                  <a:pt x="0" y="336486"/>
                </a:lnTo>
                <a:lnTo>
                  <a:pt x="1541741" y="336486"/>
                </a:lnTo>
                <a:lnTo>
                  <a:pt x="1541741" y="0"/>
                </a:lnTo>
                <a:close/>
              </a:path>
            </a:pathLst>
          </a:custGeom>
          <a:solidFill>
            <a:srgbClr val="00B0F0"/>
          </a:solidFill>
        </p:spPr>
        <p:txBody>
          <a:bodyPr wrap="square" lIns="0" tIns="0" rIns="0" bIns="0" rtlCol="0"/>
          <a:lstStyle/>
          <a:p/>
        </p:txBody>
      </p:sp>
      <p:sp>
        <p:nvSpPr>
          <p:cNvPr id="56" name="object 56" descr=""/>
          <p:cNvSpPr txBox="1"/>
          <p:nvPr/>
        </p:nvSpPr>
        <p:spPr>
          <a:xfrm>
            <a:off x="7185908" y="915458"/>
            <a:ext cx="507365" cy="162560"/>
          </a:xfrm>
          <a:prstGeom prst="rect">
            <a:avLst/>
          </a:prstGeom>
        </p:spPr>
        <p:txBody>
          <a:bodyPr wrap="square" lIns="0" tIns="12700" rIns="0" bIns="0" rtlCol="0" vert="horz">
            <a:spAutoFit/>
          </a:bodyPr>
          <a:lstStyle/>
          <a:p>
            <a:pPr marL="12700">
              <a:lnSpc>
                <a:spcPct val="100000"/>
              </a:lnSpc>
              <a:spcBef>
                <a:spcPts val="100"/>
              </a:spcBef>
            </a:pPr>
            <a:r>
              <a:rPr dirty="0" sz="900" spc="-10" b="1">
                <a:latin typeface="Microsoft YaHei"/>
                <a:cs typeface="Microsoft YaHei"/>
              </a:rPr>
              <a:t>200MHz</a:t>
            </a:r>
            <a:endParaRPr sz="900">
              <a:latin typeface="Microsoft YaHei"/>
              <a:cs typeface="Microsoft YaHei"/>
            </a:endParaRPr>
          </a:p>
        </p:txBody>
      </p:sp>
      <p:sp>
        <p:nvSpPr>
          <p:cNvPr id="57" name="object 57" descr=""/>
          <p:cNvSpPr txBox="1"/>
          <p:nvPr/>
        </p:nvSpPr>
        <p:spPr>
          <a:xfrm>
            <a:off x="7797127" y="1181688"/>
            <a:ext cx="275590" cy="147320"/>
          </a:xfrm>
          <a:prstGeom prst="rect">
            <a:avLst/>
          </a:prstGeom>
        </p:spPr>
        <p:txBody>
          <a:bodyPr wrap="square" lIns="0" tIns="12065" rIns="0" bIns="0" rtlCol="0" vert="horz">
            <a:spAutoFit/>
          </a:bodyPr>
          <a:lstStyle/>
          <a:p>
            <a:pPr marL="12700">
              <a:lnSpc>
                <a:spcPct val="100000"/>
              </a:lnSpc>
              <a:spcBef>
                <a:spcPts val="95"/>
              </a:spcBef>
            </a:pPr>
            <a:r>
              <a:rPr dirty="0" sz="800" spc="-20" b="1">
                <a:latin typeface="Microsoft YaHei"/>
                <a:cs typeface="Microsoft YaHei"/>
              </a:rPr>
              <a:t>3600</a:t>
            </a:r>
            <a:endParaRPr sz="800">
              <a:latin typeface="Microsoft YaHei"/>
              <a:cs typeface="Microsoft YaHei"/>
            </a:endParaRPr>
          </a:p>
        </p:txBody>
      </p:sp>
      <p:sp>
        <p:nvSpPr>
          <p:cNvPr id="58" name="object 58" descr=""/>
          <p:cNvSpPr/>
          <p:nvPr/>
        </p:nvSpPr>
        <p:spPr>
          <a:xfrm>
            <a:off x="5857062" y="833069"/>
            <a:ext cx="770890" cy="336550"/>
          </a:xfrm>
          <a:custGeom>
            <a:avLst/>
            <a:gdLst/>
            <a:ahLst/>
            <a:cxnLst/>
            <a:rect l="l" t="t" r="r" b="b"/>
            <a:pathLst>
              <a:path w="770890" h="336550">
                <a:moveTo>
                  <a:pt x="770864" y="0"/>
                </a:moveTo>
                <a:lnTo>
                  <a:pt x="0" y="0"/>
                </a:lnTo>
                <a:lnTo>
                  <a:pt x="0" y="336486"/>
                </a:lnTo>
                <a:lnTo>
                  <a:pt x="770864" y="336486"/>
                </a:lnTo>
                <a:lnTo>
                  <a:pt x="770864" y="0"/>
                </a:lnTo>
                <a:close/>
              </a:path>
            </a:pathLst>
          </a:custGeom>
          <a:solidFill>
            <a:srgbClr val="00B0F0"/>
          </a:solidFill>
        </p:spPr>
        <p:txBody>
          <a:bodyPr wrap="square" lIns="0" tIns="0" rIns="0" bIns="0" rtlCol="0"/>
          <a:lstStyle/>
          <a:p/>
        </p:txBody>
      </p:sp>
      <p:sp>
        <p:nvSpPr>
          <p:cNvPr id="59" name="object 59" descr=""/>
          <p:cNvSpPr txBox="1"/>
          <p:nvPr/>
        </p:nvSpPr>
        <p:spPr>
          <a:xfrm>
            <a:off x="5988682" y="915458"/>
            <a:ext cx="507365" cy="162560"/>
          </a:xfrm>
          <a:prstGeom prst="rect">
            <a:avLst/>
          </a:prstGeom>
        </p:spPr>
        <p:txBody>
          <a:bodyPr wrap="square" lIns="0" tIns="12700" rIns="0" bIns="0" rtlCol="0" vert="horz">
            <a:spAutoFit/>
          </a:bodyPr>
          <a:lstStyle/>
          <a:p>
            <a:pPr marL="12700">
              <a:lnSpc>
                <a:spcPct val="100000"/>
              </a:lnSpc>
              <a:spcBef>
                <a:spcPts val="100"/>
              </a:spcBef>
            </a:pPr>
            <a:r>
              <a:rPr dirty="0" sz="900" spc="-10" b="1">
                <a:latin typeface="Microsoft YaHei"/>
                <a:cs typeface="Microsoft YaHei"/>
              </a:rPr>
              <a:t>100MHz</a:t>
            </a:r>
            <a:endParaRPr sz="900">
              <a:latin typeface="Microsoft YaHei"/>
              <a:cs typeface="Microsoft YaHei"/>
            </a:endParaRPr>
          </a:p>
        </p:txBody>
      </p:sp>
      <p:sp>
        <p:nvSpPr>
          <p:cNvPr id="60" name="object 60" descr=""/>
          <p:cNvSpPr txBox="1"/>
          <p:nvPr/>
        </p:nvSpPr>
        <p:spPr>
          <a:xfrm>
            <a:off x="6668401" y="1536115"/>
            <a:ext cx="1541780" cy="336550"/>
          </a:xfrm>
          <a:prstGeom prst="rect">
            <a:avLst/>
          </a:prstGeom>
          <a:solidFill>
            <a:srgbClr val="00B0F0"/>
          </a:solidFill>
        </p:spPr>
        <p:txBody>
          <a:bodyPr wrap="square" lIns="0" tIns="94615" rIns="0" bIns="0" rtlCol="0" vert="horz">
            <a:spAutoFit/>
          </a:bodyPr>
          <a:lstStyle/>
          <a:p>
            <a:pPr algn="ctr">
              <a:lnSpc>
                <a:spcPct val="100000"/>
              </a:lnSpc>
              <a:spcBef>
                <a:spcPts val="745"/>
              </a:spcBef>
            </a:pPr>
            <a:r>
              <a:rPr dirty="0" sz="900" spc="-10" b="1">
                <a:latin typeface="Microsoft YaHei"/>
                <a:cs typeface="Microsoft YaHei"/>
              </a:rPr>
              <a:t>200MHz</a:t>
            </a:r>
            <a:endParaRPr sz="900">
              <a:latin typeface="Microsoft YaHei"/>
              <a:cs typeface="Microsoft YaHei"/>
            </a:endParaRPr>
          </a:p>
        </p:txBody>
      </p:sp>
      <p:sp>
        <p:nvSpPr>
          <p:cNvPr id="61" name="object 61" descr=""/>
          <p:cNvSpPr txBox="1"/>
          <p:nvPr/>
        </p:nvSpPr>
        <p:spPr>
          <a:xfrm>
            <a:off x="6454562" y="1884739"/>
            <a:ext cx="1617980" cy="147320"/>
          </a:xfrm>
          <a:prstGeom prst="rect">
            <a:avLst/>
          </a:prstGeom>
        </p:spPr>
        <p:txBody>
          <a:bodyPr wrap="square" lIns="0" tIns="12065" rIns="0" bIns="0" rtlCol="0" vert="horz">
            <a:spAutoFit/>
          </a:bodyPr>
          <a:lstStyle/>
          <a:p>
            <a:pPr marL="12700">
              <a:lnSpc>
                <a:spcPct val="100000"/>
              </a:lnSpc>
              <a:spcBef>
                <a:spcPts val="95"/>
              </a:spcBef>
              <a:tabLst>
                <a:tab pos="1355090" algn="l"/>
              </a:tabLst>
            </a:pPr>
            <a:r>
              <a:rPr dirty="0" sz="800" spc="-20" b="1">
                <a:latin typeface="Microsoft YaHei"/>
                <a:cs typeface="Microsoft YaHei"/>
              </a:rPr>
              <a:t>4800</a:t>
            </a:r>
            <a:r>
              <a:rPr dirty="0" sz="800" b="1">
                <a:latin typeface="Microsoft YaHei"/>
                <a:cs typeface="Microsoft YaHei"/>
              </a:rPr>
              <a:t>	</a:t>
            </a:r>
            <a:r>
              <a:rPr dirty="0" sz="800" spc="-20" b="1">
                <a:latin typeface="Microsoft YaHei"/>
                <a:cs typeface="Microsoft YaHei"/>
              </a:rPr>
              <a:t>5000</a:t>
            </a:r>
            <a:endParaRPr sz="800">
              <a:latin typeface="Microsoft YaHei"/>
              <a:cs typeface="Microsoft YaHei"/>
            </a:endParaRPr>
          </a:p>
        </p:txBody>
      </p:sp>
      <p:sp>
        <p:nvSpPr>
          <p:cNvPr id="62" name="object 62" descr=""/>
          <p:cNvSpPr txBox="1"/>
          <p:nvPr/>
        </p:nvSpPr>
        <p:spPr>
          <a:xfrm>
            <a:off x="5438704" y="2579466"/>
            <a:ext cx="517525" cy="147320"/>
          </a:xfrm>
          <a:prstGeom prst="rect">
            <a:avLst/>
          </a:prstGeom>
        </p:spPr>
        <p:txBody>
          <a:bodyPr wrap="square" lIns="0" tIns="12065" rIns="0" bIns="0" rtlCol="0" vert="horz">
            <a:spAutoFit/>
          </a:bodyPr>
          <a:lstStyle/>
          <a:p>
            <a:pPr marL="12700">
              <a:lnSpc>
                <a:spcPct val="100000"/>
              </a:lnSpc>
              <a:spcBef>
                <a:spcPts val="95"/>
              </a:spcBef>
            </a:pPr>
            <a:r>
              <a:rPr dirty="0" sz="800" spc="-10" b="1">
                <a:latin typeface="Microsoft YaHei"/>
                <a:cs typeface="Microsoft YaHei"/>
              </a:rPr>
              <a:t>24.75GHz</a:t>
            </a:r>
            <a:endParaRPr sz="800">
              <a:latin typeface="Microsoft YaHei"/>
              <a:cs typeface="Microsoft YaHei"/>
            </a:endParaRPr>
          </a:p>
        </p:txBody>
      </p:sp>
      <p:sp>
        <p:nvSpPr>
          <p:cNvPr id="63" name="object 63" descr=""/>
          <p:cNvSpPr txBox="1"/>
          <p:nvPr/>
        </p:nvSpPr>
        <p:spPr>
          <a:xfrm>
            <a:off x="5556161" y="2213736"/>
            <a:ext cx="2747645" cy="336550"/>
          </a:xfrm>
          <a:prstGeom prst="rect">
            <a:avLst/>
          </a:prstGeom>
          <a:solidFill>
            <a:srgbClr val="00B0F0"/>
          </a:solidFill>
        </p:spPr>
        <p:txBody>
          <a:bodyPr wrap="square" lIns="0" tIns="94615" rIns="0" bIns="0" rtlCol="0" vert="horz">
            <a:spAutoFit/>
          </a:bodyPr>
          <a:lstStyle/>
          <a:p>
            <a:pPr algn="ctr">
              <a:lnSpc>
                <a:spcPct val="100000"/>
              </a:lnSpc>
              <a:spcBef>
                <a:spcPts val="745"/>
              </a:spcBef>
            </a:pPr>
            <a:r>
              <a:rPr dirty="0" sz="900" spc="-10" b="1">
                <a:latin typeface="Microsoft YaHei"/>
                <a:cs typeface="Microsoft YaHei"/>
              </a:rPr>
              <a:t>2750MHz</a:t>
            </a:r>
            <a:endParaRPr sz="900">
              <a:latin typeface="Microsoft YaHei"/>
              <a:cs typeface="Microsoft YaHei"/>
            </a:endParaRPr>
          </a:p>
        </p:txBody>
      </p:sp>
      <p:sp>
        <p:nvSpPr>
          <p:cNvPr id="64" name="object 64" descr=""/>
          <p:cNvSpPr txBox="1"/>
          <p:nvPr/>
        </p:nvSpPr>
        <p:spPr>
          <a:xfrm>
            <a:off x="7531354" y="2599914"/>
            <a:ext cx="455295" cy="147320"/>
          </a:xfrm>
          <a:prstGeom prst="rect">
            <a:avLst/>
          </a:prstGeom>
        </p:spPr>
        <p:txBody>
          <a:bodyPr wrap="square" lIns="0" tIns="12065" rIns="0" bIns="0" rtlCol="0" vert="horz">
            <a:spAutoFit/>
          </a:bodyPr>
          <a:lstStyle/>
          <a:p>
            <a:pPr marL="12700">
              <a:lnSpc>
                <a:spcPct val="100000"/>
              </a:lnSpc>
              <a:spcBef>
                <a:spcPts val="95"/>
              </a:spcBef>
            </a:pPr>
            <a:r>
              <a:rPr dirty="0" sz="800" spc="-10" b="1">
                <a:latin typeface="Microsoft YaHei"/>
                <a:cs typeface="Microsoft YaHei"/>
              </a:rPr>
              <a:t>27.5GHz</a:t>
            </a:r>
            <a:endParaRPr sz="800">
              <a:latin typeface="Microsoft YaHei"/>
              <a:cs typeface="Microsoft YaHei"/>
            </a:endParaRPr>
          </a:p>
        </p:txBody>
      </p:sp>
      <p:sp>
        <p:nvSpPr>
          <p:cNvPr id="65" name="object 65" descr=""/>
          <p:cNvSpPr txBox="1"/>
          <p:nvPr/>
        </p:nvSpPr>
        <p:spPr>
          <a:xfrm>
            <a:off x="5187111" y="2933814"/>
            <a:ext cx="3116580" cy="336550"/>
          </a:xfrm>
          <a:prstGeom prst="rect">
            <a:avLst/>
          </a:prstGeom>
          <a:solidFill>
            <a:srgbClr val="00B0F0"/>
          </a:solidFill>
        </p:spPr>
        <p:txBody>
          <a:bodyPr wrap="square" lIns="0" tIns="94615" rIns="0" bIns="0" rtlCol="0" vert="horz">
            <a:spAutoFit/>
          </a:bodyPr>
          <a:lstStyle/>
          <a:p>
            <a:pPr algn="ctr">
              <a:lnSpc>
                <a:spcPct val="100000"/>
              </a:lnSpc>
              <a:spcBef>
                <a:spcPts val="745"/>
              </a:spcBef>
            </a:pPr>
            <a:r>
              <a:rPr dirty="0" sz="900" spc="-10" b="1">
                <a:latin typeface="Microsoft YaHei"/>
                <a:cs typeface="Microsoft YaHei"/>
              </a:rPr>
              <a:t>5550MHz</a:t>
            </a:r>
            <a:endParaRPr sz="900">
              <a:latin typeface="Microsoft YaHei"/>
              <a:cs typeface="Microsoft YaHei"/>
            </a:endParaRPr>
          </a:p>
        </p:txBody>
      </p:sp>
      <p:sp>
        <p:nvSpPr>
          <p:cNvPr id="66" name="object 66" descr=""/>
          <p:cNvSpPr txBox="1"/>
          <p:nvPr/>
        </p:nvSpPr>
        <p:spPr>
          <a:xfrm>
            <a:off x="4691358" y="3272852"/>
            <a:ext cx="4130040" cy="1590675"/>
          </a:xfrm>
          <a:prstGeom prst="rect">
            <a:avLst/>
          </a:prstGeom>
        </p:spPr>
        <p:txBody>
          <a:bodyPr wrap="square" lIns="0" tIns="12065" rIns="0" bIns="0" rtlCol="0" vert="horz">
            <a:spAutoFit/>
          </a:bodyPr>
          <a:lstStyle/>
          <a:p>
            <a:pPr marL="349885">
              <a:lnSpc>
                <a:spcPct val="100000"/>
              </a:lnSpc>
              <a:spcBef>
                <a:spcPts val="95"/>
              </a:spcBef>
              <a:tabLst>
                <a:tab pos="3050540" algn="l"/>
              </a:tabLst>
            </a:pPr>
            <a:r>
              <a:rPr dirty="0" sz="800" spc="-10" b="1">
                <a:latin typeface="Microsoft YaHei"/>
                <a:cs typeface="Microsoft YaHei"/>
              </a:rPr>
              <a:t>37GHz</a:t>
            </a:r>
            <a:r>
              <a:rPr dirty="0" sz="800" b="1">
                <a:latin typeface="Microsoft YaHei"/>
                <a:cs typeface="Microsoft YaHei"/>
              </a:rPr>
              <a:t>	</a:t>
            </a:r>
            <a:r>
              <a:rPr dirty="0" baseline="3472" sz="1200" spc="-15" b="1">
                <a:latin typeface="Microsoft YaHei"/>
                <a:cs typeface="Microsoft YaHei"/>
              </a:rPr>
              <a:t>42.5GHz</a:t>
            </a:r>
            <a:endParaRPr baseline="3472" sz="1200">
              <a:latin typeface="Microsoft YaHei"/>
              <a:cs typeface="Microsoft YaHei"/>
            </a:endParaRPr>
          </a:p>
          <a:p>
            <a:pPr marL="298450" marR="64135" indent="-285750">
              <a:lnSpc>
                <a:spcPct val="150000"/>
              </a:lnSpc>
              <a:spcBef>
                <a:spcPts val="1290"/>
              </a:spcBef>
              <a:buFont typeface="Wingdings"/>
              <a:buChar char=""/>
              <a:tabLst>
                <a:tab pos="298450" algn="l"/>
              </a:tabLst>
            </a:pPr>
            <a:r>
              <a:rPr dirty="0" sz="1400" spc="-10">
                <a:latin typeface="Arial MT"/>
                <a:cs typeface="Arial MT"/>
              </a:rPr>
              <a:t>4.9G</a:t>
            </a:r>
            <a:r>
              <a:rPr dirty="0" sz="1400" spc="-25">
                <a:latin typeface="SimSun"/>
                <a:cs typeface="SimSun"/>
              </a:rPr>
              <a:t>产业链不成熟，复用现网站点困难，运营商</a:t>
            </a:r>
            <a:r>
              <a:rPr dirty="0" sz="1400" spc="-20">
                <a:latin typeface="SimSun"/>
                <a:cs typeface="SimSun"/>
              </a:rPr>
              <a:t>应争取</a:t>
            </a:r>
            <a:r>
              <a:rPr dirty="0" sz="1400" spc="-10">
                <a:solidFill>
                  <a:srgbClr val="FF0000"/>
                </a:solidFill>
                <a:latin typeface="Arial MT"/>
                <a:cs typeface="Arial MT"/>
              </a:rPr>
              <a:t>3.5GHz</a:t>
            </a:r>
            <a:r>
              <a:rPr dirty="0" sz="1400" spc="-20">
                <a:solidFill>
                  <a:srgbClr val="FF0000"/>
                </a:solidFill>
                <a:latin typeface="SimSun"/>
                <a:cs typeface="SimSun"/>
              </a:rPr>
              <a:t>频段</a:t>
            </a:r>
            <a:r>
              <a:rPr dirty="0" sz="1400" spc="-25">
                <a:latin typeface="SimSun"/>
                <a:cs typeface="SimSun"/>
              </a:rPr>
              <a:t>，满足连续覆盖需求；</a:t>
            </a:r>
            <a:endParaRPr sz="1400">
              <a:latin typeface="SimSun"/>
              <a:cs typeface="SimSun"/>
            </a:endParaRPr>
          </a:p>
          <a:p>
            <a:pPr marL="298450" marR="5080" indent="-285750">
              <a:lnSpc>
                <a:spcPct val="150000"/>
              </a:lnSpc>
              <a:buFont typeface="Wingdings"/>
              <a:buChar char=""/>
              <a:tabLst>
                <a:tab pos="298450" algn="l"/>
              </a:tabLst>
            </a:pPr>
            <a:r>
              <a:rPr dirty="0" sz="1400" spc="-20">
                <a:latin typeface="SimSun"/>
                <a:cs typeface="SimSun"/>
              </a:rPr>
              <a:t>同时</a:t>
            </a:r>
            <a:r>
              <a:rPr dirty="0" sz="1400" spc="-20">
                <a:solidFill>
                  <a:srgbClr val="FF0000"/>
                </a:solidFill>
                <a:latin typeface="SimSun"/>
                <a:cs typeface="SimSun"/>
              </a:rPr>
              <a:t>争取</a:t>
            </a:r>
            <a:r>
              <a:rPr dirty="0" sz="1400" spc="-10">
                <a:solidFill>
                  <a:srgbClr val="FF0000"/>
                </a:solidFill>
                <a:latin typeface="Arial MT"/>
                <a:cs typeface="Arial MT"/>
              </a:rPr>
              <a:t>100M</a:t>
            </a:r>
            <a:r>
              <a:rPr dirty="0" sz="1400" spc="-20">
                <a:solidFill>
                  <a:srgbClr val="FF0000"/>
                </a:solidFill>
                <a:latin typeface="SimSun"/>
                <a:cs typeface="SimSun"/>
              </a:rPr>
              <a:t>室内频段</a:t>
            </a:r>
            <a:r>
              <a:rPr dirty="0" sz="1400" spc="-20">
                <a:latin typeface="SimSun"/>
                <a:cs typeface="SimSun"/>
              </a:rPr>
              <a:t>，高起点布局，</a:t>
            </a:r>
            <a:r>
              <a:rPr dirty="0" sz="1400" spc="-30">
                <a:solidFill>
                  <a:srgbClr val="FF0000"/>
                </a:solidFill>
                <a:latin typeface="SimSun"/>
                <a:cs typeface="SimSun"/>
              </a:rPr>
              <a:t>室内室外</a:t>
            </a:r>
            <a:r>
              <a:rPr dirty="0" sz="1400" spc="-25">
                <a:solidFill>
                  <a:srgbClr val="FF0000"/>
                </a:solidFill>
                <a:latin typeface="SimSun"/>
                <a:cs typeface="SimSun"/>
              </a:rPr>
              <a:t>建设同时开展</a:t>
            </a:r>
            <a:endParaRPr sz="1400">
              <a:latin typeface="SimSun"/>
              <a:cs typeface="SimSun"/>
            </a:endParaRPr>
          </a:p>
        </p:txBody>
      </p:sp>
      <p:sp>
        <p:nvSpPr>
          <p:cNvPr id="67" name="object 67" descr=""/>
          <p:cNvSpPr/>
          <p:nvPr/>
        </p:nvSpPr>
        <p:spPr>
          <a:xfrm>
            <a:off x="2282570" y="3051581"/>
            <a:ext cx="992505" cy="324485"/>
          </a:xfrm>
          <a:custGeom>
            <a:avLst/>
            <a:gdLst/>
            <a:ahLst/>
            <a:cxnLst/>
            <a:rect l="l" t="t" r="r" b="b"/>
            <a:pathLst>
              <a:path w="992504" h="324485">
                <a:moveTo>
                  <a:pt x="992187" y="0"/>
                </a:moveTo>
                <a:lnTo>
                  <a:pt x="0" y="0"/>
                </a:lnTo>
                <a:lnTo>
                  <a:pt x="0" y="323913"/>
                </a:lnTo>
                <a:lnTo>
                  <a:pt x="992187" y="323913"/>
                </a:lnTo>
                <a:lnTo>
                  <a:pt x="992187" y="0"/>
                </a:lnTo>
                <a:close/>
              </a:path>
            </a:pathLst>
          </a:custGeom>
          <a:solidFill>
            <a:srgbClr val="0000FF"/>
          </a:solidFill>
        </p:spPr>
        <p:txBody>
          <a:bodyPr wrap="square" lIns="0" tIns="0" rIns="0" bIns="0" rtlCol="0"/>
          <a:lstStyle/>
          <a:p/>
        </p:txBody>
      </p:sp>
      <p:sp>
        <p:nvSpPr>
          <p:cNvPr id="68" name="object 68" descr=""/>
          <p:cNvSpPr txBox="1"/>
          <p:nvPr/>
        </p:nvSpPr>
        <p:spPr>
          <a:xfrm>
            <a:off x="2282570" y="3022516"/>
            <a:ext cx="657225" cy="269240"/>
          </a:xfrm>
          <a:prstGeom prst="rect">
            <a:avLst/>
          </a:prstGeom>
        </p:spPr>
        <p:txBody>
          <a:bodyPr wrap="square" lIns="0" tIns="12065" rIns="0" bIns="0" rtlCol="0" vert="horz">
            <a:spAutoFit/>
          </a:bodyPr>
          <a:lstStyle/>
          <a:p>
            <a:pPr marL="127635">
              <a:lnSpc>
                <a:spcPct val="100000"/>
              </a:lnSpc>
              <a:spcBef>
                <a:spcPts val="95"/>
              </a:spcBef>
            </a:pPr>
            <a:r>
              <a:rPr dirty="0" sz="800" spc="-25" b="1">
                <a:solidFill>
                  <a:srgbClr val="FFFF00"/>
                </a:solidFill>
                <a:latin typeface="Microsoft YaHei"/>
                <a:cs typeface="Microsoft YaHei"/>
              </a:rPr>
              <a:t>50</a:t>
            </a:r>
            <a:endParaRPr sz="800">
              <a:latin typeface="Microsoft YaHei"/>
              <a:cs typeface="Microsoft YaHei"/>
            </a:endParaRPr>
          </a:p>
          <a:p>
            <a:pPr marL="127635">
              <a:lnSpc>
                <a:spcPct val="100000"/>
              </a:lnSpc>
            </a:pPr>
            <a:r>
              <a:rPr dirty="0" sz="800" spc="-25" b="1">
                <a:solidFill>
                  <a:srgbClr val="FFFF00"/>
                </a:solidFill>
                <a:latin typeface="Microsoft YaHei"/>
                <a:cs typeface="Microsoft YaHei"/>
              </a:rPr>
              <a:t>MHz</a:t>
            </a:r>
            <a:endParaRPr sz="800">
              <a:latin typeface="Microsoft YaHei"/>
              <a:cs typeface="Microsoft YaHei"/>
            </a:endParaRPr>
          </a:p>
        </p:txBody>
      </p:sp>
      <p:sp>
        <p:nvSpPr>
          <p:cNvPr id="69" name="object 69" descr=""/>
          <p:cNvSpPr txBox="1"/>
          <p:nvPr/>
        </p:nvSpPr>
        <p:spPr>
          <a:xfrm>
            <a:off x="1866645" y="3051581"/>
            <a:ext cx="409575" cy="324485"/>
          </a:xfrm>
          <a:prstGeom prst="rect">
            <a:avLst/>
          </a:prstGeom>
          <a:solidFill>
            <a:srgbClr val="00B050"/>
          </a:solidFill>
        </p:spPr>
        <p:txBody>
          <a:bodyPr wrap="square" lIns="0" tIns="0" rIns="0" bIns="0" rtlCol="0" vert="horz">
            <a:spAutoFit/>
          </a:bodyPr>
          <a:lstStyle/>
          <a:p>
            <a:pPr marL="123189">
              <a:lnSpc>
                <a:spcPts val="865"/>
              </a:lnSpc>
            </a:pPr>
            <a:r>
              <a:rPr dirty="0" sz="800" spc="-25" b="1">
                <a:latin typeface="Microsoft YaHei"/>
                <a:cs typeface="Microsoft YaHei"/>
              </a:rPr>
              <a:t>20</a:t>
            </a:r>
            <a:endParaRPr sz="800">
              <a:latin typeface="Microsoft YaHei"/>
              <a:cs typeface="Microsoft YaHei"/>
            </a:endParaRPr>
          </a:p>
          <a:p>
            <a:pPr marL="123189">
              <a:lnSpc>
                <a:spcPct val="100000"/>
              </a:lnSpc>
            </a:pPr>
            <a:r>
              <a:rPr dirty="0" sz="800" spc="-25" b="1">
                <a:latin typeface="Microsoft YaHei"/>
                <a:cs typeface="Microsoft YaHei"/>
              </a:rPr>
              <a:t>MHz</a:t>
            </a:r>
            <a:endParaRPr sz="800">
              <a:latin typeface="Microsoft YaHei"/>
              <a:cs typeface="Microsoft YaHei"/>
            </a:endParaRPr>
          </a:p>
        </p:txBody>
      </p:sp>
      <p:sp>
        <p:nvSpPr>
          <p:cNvPr id="70" name="object 70" descr=""/>
          <p:cNvSpPr txBox="1"/>
          <p:nvPr/>
        </p:nvSpPr>
        <p:spPr>
          <a:xfrm>
            <a:off x="1769179" y="3382089"/>
            <a:ext cx="672465" cy="147320"/>
          </a:xfrm>
          <a:prstGeom prst="rect">
            <a:avLst/>
          </a:prstGeom>
        </p:spPr>
        <p:txBody>
          <a:bodyPr wrap="square" lIns="0" tIns="12065" rIns="0" bIns="0" rtlCol="0" vert="horz">
            <a:spAutoFit/>
          </a:bodyPr>
          <a:lstStyle/>
          <a:p>
            <a:pPr marL="12700">
              <a:lnSpc>
                <a:spcPct val="100000"/>
              </a:lnSpc>
              <a:spcBef>
                <a:spcPts val="95"/>
              </a:spcBef>
              <a:tabLst>
                <a:tab pos="408940" algn="l"/>
              </a:tabLst>
            </a:pPr>
            <a:r>
              <a:rPr dirty="0" sz="800" spc="-20" b="1">
                <a:latin typeface="Microsoft YaHei"/>
                <a:cs typeface="Microsoft YaHei"/>
              </a:rPr>
              <a:t>2300</a:t>
            </a:r>
            <a:r>
              <a:rPr dirty="0" sz="800" b="1">
                <a:latin typeface="Microsoft YaHei"/>
                <a:cs typeface="Microsoft YaHei"/>
              </a:rPr>
              <a:t>	</a:t>
            </a:r>
            <a:r>
              <a:rPr dirty="0" sz="800" spc="-20" b="1">
                <a:latin typeface="Microsoft YaHei"/>
                <a:cs typeface="Microsoft YaHei"/>
              </a:rPr>
              <a:t>2320</a:t>
            </a:r>
            <a:endParaRPr sz="800">
              <a:latin typeface="Microsoft YaHei"/>
              <a:cs typeface="Microsoft YaHei"/>
            </a:endParaRPr>
          </a:p>
        </p:txBody>
      </p:sp>
      <p:sp>
        <p:nvSpPr>
          <p:cNvPr id="71" name="object 71" descr=""/>
          <p:cNvSpPr/>
          <p:nvPr/>
        </p:nvSpPr>
        <p:spPr>
          <a:xfrm>
            <a:off x="2939630" y="3045752"/>
            <a:ext cx="447675" cy="324485"/>
          </a:xfrm>
          <a:custGeom>
            <a:avLst/>
            <a:gdLst/>
            <a:ahLst/>
            <a:cxnLst/>
            <a:rect l="l" t="t" r="r" b="b"/>
            <a:pathLst>
              <a:path w="447675" h="324485">
                <a:moveTo>
                  <a:pt x="447674" y="0"/>
                </a:moveTo>
                <a:lnTo>
                  <a:pt x="0" y="0"/>
                </a:lnTo>
                <a:lnTo>
                  <a:pt x="0" y="324192"/>
                </a:lnTo>
                <a:lnTo>
                  <a:pt x="447674" y="324192"/>
                </a:lnTo>
                <a:lnTo>
                  <a:pt x="447674" y="0"/>
                </a:lnTo>
                <a:close/>
              </a:path>
            </a:pathLst>
          </a:custGeom>
          <a:solidFill>
            <a:srgbClr val="00B0F0"/>
          </a:solidFill>
        </p:spPr>
        <p:txBody>
          <a:bodyPr wrap="square" lIns="0" tIns="0" rIns="0" bIns="0" rtlCol="0"/>
          <a:lstStyle/>
          <a:p/>
        </p:txBody>
      </p:sp>
      <p:sp>
        <p:nvSpPr>
          <p:cNvPr id="72" name="object 72" descr=""/>
          <p:cNvSpPr txBox="1"/>
          <p:nvPr/>
        </p:nvSpPr>
        <p:spPr>
          <a:xfrm>
            <a:off x="2939630" y="3045752"/>
            <a:ext cx="447675" cy="324485"/>
          </a:xfrm>
          <a:prstGeom prst="rect">
            <a:avLst/>
          </a:prstGeom>
        </p:spPr>
        <p:txBody>
          <a:bodyPr wrap="square" lIns="0" tIns="20320" rIns="0" bIns="0" rtlCol="0" vert="horz">
            <a:spAutoFit/>
          </a:bodyPr>
          <a:lstStyle/>
          <a:p>
            <a:pPr algn="ctr">
              <a:lnSpc>
                <a:spcPct val="100000"/>
              </a:lnSpc>
              <a:spcBef>
                <a:spcPts val="160"/>
              </a:spcBef>
            </a:pPr>
            <a:r>
              <a:rPr dirty="0" sz="900" spc="-25" b="1">
                <a:latin typeface="Microsoft YaHei"/>
                <a:cs typeface="Microsoft YaHei"/>
              </a:rPr>
              <a:t>20</a:t>
            </a:r>
            <a:endParaRPr sz="900">
              <a:latin typeface="Microsoft YaHei"/>
              <a:cs typeface="Microsoft YaHei"/>
            </a:endParaRPr>
          </a:p>
          <a:p>
            <a:pPr algn="ctr">
              <a:lnSpc>
                <a:spcPct val="100000"/>
              </a:lnSpc>
            </a:pPr>
            <a:r>
              <a:rPr dirty="0" sz="900" spc="-25" b="1">
                <a:latin typeface="Microsoft YaHei"/>
                <a:cs typeface="Microsoft YaHei"/>
              </a:rPr>
              <a:t>MHz</a:t>
            </a:r>
            <a:endParaRPr sz="900">
              <a:latin typeface="Microsoft YaHei"/>
              <a:cs typeface="Microsoft YaHei"/>
            </a:endParaRPr>
          </a:p>
        </p:txBody>
      </p:sp>
      <p:sp>
        <p:nvSpPr>
          <p:cNvPr id="73" name="object 73" descr=""/>
          <p:cNvSpPr txBox="1"/>
          <p:nvPr/>
        </p:nvSpPr>
        <p:spPr>
          <a:xfrm>
            <a:off x="2777269" y="3382091"/>
            <a:ext cx="691515" cy="147320"/>
          </a:xfrm>
          <a:prstGeom prst="rect">
            <a:avLst/>
          </a:prstGeom>
        </p:spPr>
        <p:txBody>
          <a:bodyPr wrap="square" lIns="0" tIns="12065" rIns="0" bIns="0" rtlCol="0" vert="horz">
            <a:spAutoFit/>
          </a:bodyPr>
          <a:lstStyle/>
          <a:p>
            <a:pPr marL="12700">
              <a:lnSpc>
                <a:spcPct val="100000"/>
              </a:lnSpc>
              <a:spcBef>
                <a:spcPts val="95"/>
              </a:spcBef>
              <a:tabLst>
                <a:tab pos="427990" algn="l"/>
              </a:tabLst>
            </a:pPr>
            <a:r>
              <a:rPr dirty="0" sz="800" spc="-20" b="1">
                <a:latin typeface="Microsoft YaHei"/>
                <a:cs typeface="Microsoft YaHei"/>
              </a:rPr>
              <a:t>2370</a:t>
            </a:r>
            <a:r>
              <a:rPr dirty="0" sz="800" b="1">
                <a:latin typeface="Microsoft YaHei"/>
                <a:cs typeface="Microsoft YaHei"/>
              </a:rPr>
              <a:t>	</a:t>
            </a:r>
            <a:r>
              <a:rPr dirty="0" sz="800" spc="-20" b="1">
                <a:latin typeface="Microsoft YaHei"/>
                <a:cs typeface="Microsoft YaHei"/>
              </a:rPr>
              <a:t>2390</a:t>
            </a:r>
            <a:endParaRPr sz="800">
              <a:latin typeface="Microsoft YaHei"/>
              <a:cs typeface="Microsoft YaHei"/>
            </a:endParaRPr>
          </a:p>
        </p:txBody>
      </p:sp>
      <p:sp>
        <p:nvSpPr>
          <p:cNvPr id="74" name="object 74" descr=""/>
          <p:cNvSpPr/>
          <p:nvPr/>
        </p:nvSpPr>
        <p:spPr>
          <a:xfrm>
            <a:off x="2917427" y="3051577"/>
            <a:ext cx="469900" cy="311785"/>
          </a:xfrm>
          <a:custGeom>
            <a:avLst/>
            <a:gdLst/>
            <a:ahLst/>
            <a:cxnLst/>
            <a:rect l="l" t="t" r="r" b="b"/>
            <a:pathLst>
              <a:path w="469900" h="311785">
                <a:moveTo>
                  <a:pt x="0" y="51968"/>
                </a:moveTo>
                <a:lnTo>
                  <a:pt x="4083" y="31739"/>
                </a:lnTo>
                <a:lnTo>
                  <a:pt x="15220" y="15220"/>
                </a:lnTo>
                <a:lnTo>
                  <a:pt x="31739" y="4083"/>
                </a:lnTo>
                <a:lnTo>
                  <a:pt x="51968" y="0"/>
                </a:lnTo>
                <a:lnTo>
                  <a:pt x="417906" y="0"/>
                </a:lnTo>
                <a:lnTo>
                  <a:pt x="438134" y="4083"/>
                </a:lnTo>
                <a:lnTo>
                  <a:pt x="454653" y="15220"/>
                </a:lnTo>
                <a:lnTo>
                  <a:pt x="465790" y="31739"/>
                </a:lnTo>
                <a:lnTo>
                  <a:pt x="469874" y="51968"/>
                </a:lnTo>
                <a:lnTo>
                  <a:pt x="469874" y="259829"/>
                </a:lnTo>
                <a:lnTo>
                  <a:pt x="465790" y="280050"/>
                </a:lnTo>
                <a:lnTo>
                  <a:pt x="454653" y="296565"/>
                </a:lnTo>
                <a:lnTo>
                  <a:pt x="438134" y="307701"/>
                </a:lnTo>
                <a:lnTo>
                  <a:pt x="417906" y="311785"/>
                </a:lnTo>
                <a:lnTo>
                  <a:pt x="51968" y="311785"/>
                </a:lnTo>
                <a:lnTo>
                  <a:pt x="31739" y="307701"/>
                </a:lnTo>
                <a:lnTo>
                  <a:pt x="15220" y="296565"/>
                </a:lnTo>
                <a:lnTo>
                  <a:pt x="4083" y="280050"/>
                </a:lnTo>
                <a:lnTo>
                  <a:pt x="0" y="259829"/>
                </a:lnTo>
                <a:lnTo>
                  <a:pt x="0" y="51968"/>
                </a:lnTo>
                <a:close/>
              </a:path>
            </a:pathLst>
          </a:custGeom>
          <a:ln w="28575">
            <a:solidFill>
              <a:srgbClr val="FF0000"/>
            </a:solidFill>
          </a:ln>
        </p:spPr>
        <p:txBody>
          <a:bodyPr wrap="square" lIns="0" tIns="0" rIns="0" bIns="0" rtlCol="0"/>
          <a:lstStyle/>
          <a:p/>
        </p:txBody>
      </p:sp>
      <p:sp>
        <p:nvSpPr>
          <p:cNvPr id="75" name="object 75"/>
          <p:cNvSpPr txBox="1">
            <a:spLocks noGrp="1"/>
          </p:cNvSpPr>
          <p:nvPr>
            <p:ph type="title"/>
          </p:nvPr>
        </p:nvSpPr>
        <p:spPr>
          <a:xfrm>
            <a:off x="4762" y="114571"/>
            <a:ext cx="9134475" cy="513080"/>
          </a:xfrm>
          <a:prstGeom prst="rect"/>
        </p:spPr>
        <p:txBody>
          <a:bodyPr wrap="square" lIns="0" tIns="12065" rIns="0" bIns="0" rtlCol="0" vert="horz">
            <a:spAutoFit/>
          </a:bodyPr>
          <a:lstStyle/>
          <a:p>
            <a:pPr marL="1078230">
              <a:lnSpc>
                <a:spcPct val="100000"/>
              </a:lnSpc>
              <a:spcBef>
                <a:spcPts val="95"/>
              </a:spcBef>
            </a:pPr>
            <a:r>
              <a:rPr dirty="0" spc="-40"/>
              <a:t>运营商需积极争取</a:t>
            </a:r>
            <a:r>
              <a:rPr dirty="0" spc="-30">
                <a:latin typeface="Times New Roman"/>
                <a:cs typeface="Times New Roman"/>
              </a:rPr>
              <a:t>3.5GHZ</a:t>
            </a:r>
            <a:r>
              <a:rPr dirty="0" spc="-45"/>
              <a:t>频段，抢占先机</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460" y="152688"/>
            <a:ext cx="33915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全频段接入策略</a:t>
            </a:r>
          </a:p>
        </p:txBody>
      </p:sp>
      <p:grpSp>
        <p:nvGrpSpPr>
          <p:cNvPr id="3" name="object 3" descr=""/>
          <p:cNvGrpSpPr/>
          <p:nvPr/>
        </p:nvGrpSpPr>
        <p:grpSpPr>
          <a:xfrm>
            <a:off x="1238250" y="1083851"/>
            <a:ext cx="7232650" cy="3863340"/>
            <a:chOff x="1238250" y="1083851"/>
            <a:chExt cx="7232650" cy="3863340"/>
          </a:xfrm>
        </p:grpSpPr>
        <p:pic>
          <p:nvPicPr>
            <p:cNvPr id="4" name="object 4"/>
            <p:cNvPicPr/>
            <p:nvPr/>
          </p:nvPicPr>
          <p:blipFill>
            <a:blip r:embed="rId2" cstate="print"/>
            <a:stretch>
              <a:fillRect/>
            </a:stretch>
          </p:blipFill>
          <p:spPr>
            <a:xfrm>
              <a:off x="1238250" y="1083851"/>
              <a:ext cx="6953250" cy="3844794"/>
            </a:xfrm>
            <a:prstGeom prst="rect">
              <a:avLst/>
            </a:prstGeom>
          </p:spPr>
        </p:pic>
        <p:sp>
          <p:nvSpPr>
            <p:cNvPr id="5" name="object 5" descr=""/>
            <p:cNvSpPr/>
            <p:nvPr/>
          </p:nvSpPr>
          <p:spPr>
            <a:xfrm>
              <a:off x="7848600" y="4629150"/>
              <a:ext cx="609600" cy="304800"/>
            </a:xfrm>
            <a:custGeom>
              <a:avLst/>
              <a:gdLst/>
              <a:ahLst/>
              <a:cxnLst/>
              <a:rect l="l" t="t" r="r" b="b"/>
              <a:pathLst>
                <a:path w="609600" h="304800">
                  <a:moveTo>
                    <a:pt x="609600" y="0"/>
                  </a:moveTo>
                  <a:lnTo>
                    <a:pt x="0" y="0"/>
                  </a:lnTo>
                  <a:lnTo>
                    <a:pt x="0" y="304800"/>
                  </a:lnTo>
                  <a:lnTo>
                    <a:pt x="609600" y="304800"/>
                  </a:lnTo>
                  <a:lnTo>
                    <a:pt x="609600" y="0"/>
                  </a:lnTo>
                  <a:close/>
                </a:path>
              </a:pathLst>
            </a:custGeom>
            <a:solidFill>
              <a:srgbClr val="FFFFFF"/>
            </a:solidFill>
          </p:spPr>
          <p:txBody>
            <a:bodyPr wrap="square" lIns="0" tIns="0" rIns="0" bIns="0" rtlCol="0"/>
            <a:lstStyle/>
            <a:p/>
          </p:txBody>
        </p:sp>
        <p:sp>
          <p:nvSpPr>
            <p:cNvPr id="6" name="object 6" descr=""/>
            <p:cNvSpPr/>
            <p:nvPr/>
          </p:nvSpPr>
          <p:spPr>
            <a:xfrm>
              <a:off x="7848600" y="4629150"/>
              <a:ext cx="609600" cy="304800"/>
            </a:xfrm>
            <a:custGeom>
              <a:avLst/>
              <a:gdLst/>
              <a:ahLst/>
              <a:cxnLst/>
              <a:rect l="l" t="t" r="r" b="b"/>
              <a:pathLst>
                <a:path w="609600" h="304800">
                  <a:moveTo>
                    <a:pt x="0" y="0"/>
                  </a:moveTo>
                  <a:lnTo>
                    <a:pt x="609600" y="0"/>
                  </a:lnTo>
                  <a:lnTo>
                    <a:pt x="609600" y="304800"/>
                  </a:lnTo>
                  <a:lnTo>
                    <a:pt x="0" y="304800"/>
                  </a:lnTo>
                  <a:lnTo>
                    <a:pt x="0" y="0"/>
                  </a:lnTo>
                  <a:close/>
                </a:path>
              </a:pathLst>
            </a:custGeom>
            <a:ln w="25400">
              <a:solidFill>
                <a:srgbClr val="FFFFFF"/>
              </a:solidFill>
            </a:ln>
          </p:spPr>
          <p:txBody>
            <a:bodyPr wrap="square" lIns="0" tIns="0" rIns="0" bIns="0" rtlCol="0"/>
            <a:lstStyle/>
            <a:p/>
          </p:txBody>
        </p:sp>
      </p:gr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882139" y="977645"/>
            <a:ext cx="984885" cy="408940"/>
            <a:chOff x="1882139" y="977645"/>
            <a:chExt cx="984885" cy="408940"/>
          </a:xfrm>
        </p:grpSpPr>
        <p:pic>
          <p:nvPicPr>
            <p:cNvPr id="3" name="object 3" descr=""/>
            <p:cNvPicPr/>
            <p:nvPr/>
          </p:nvPicPr>
          <p:blipFill>
            <a:blip r:embed="rId2" cstate="print"/>
            <a:stretch>
              <a:fillRect/>
            </a:stretch>
          </p:blipFill>
          <p:spPr>
            <a:xfrm>
              <a:off x="1882139" y="977645"/>
              <a:ext cx="984503" cy="408431"/>
            </a:xfrm>
            <a:prstGeom prst="rect">
              <a:avLst/>
            </a:prstGeom>
          </p:spPr>
        </p:pic>
        <p:pic>
          <p:nvPicPr>
            <p:cNvPr id="4" name="object 4" descr=""/>
            <p:cNvPicPr/>
            <p:nvPr/>
          </p:nvPicPr>
          <p:blipFill>
            <a:blip r:embed="rId3" cstate="print"/>
            <a:stretch>
              <a:fillRect/>
            </a:stretch>
          </p:blipFill>
          <p:spPr>
            <a:xfrm>
              <a:off x="1936241" y="996696"/>
              <a:ext cx="919733" cy="317753"/>
            </a:xfrm>
            <a:prstGeom prst="rect">
              <a:avLst/>
            </a:prstGeom>
          </p:spPr>
        </p:pic>
        <p:sp>
          <p:nvSpPr>
            <p:cNvPr id="5" name="object 5" descr=""/>
            <p:cNvSpPr/>
            <p:nvPr/>
          </p:nvSpPr>
          <p:spPr>
            <a:xfrm>
              <a:off x="1942541" y="1017699"/>
              <a:ext cx="864235" cy="288290"/>
            </a:xfrm>
            <a:custGeom>
              <a:avLst/>
              <a:gdLst/>
              <a:ahLst/>
              <a:cxnLst/>
              <a:rect l="l" t="t" r="r" b="b"/>
              <a:pathLst>
                <a:path w="864235" h="288290">
                  <a:moveTo>
                    <a:pt x="816089" y="0"/>
                  </a:moveTo>
                  <a:lnTo>
                    <a:pt x="48006" y="0"/>
                  </a:lnTo>
                  <a:lnTo>
                    <a:pt x="29317" y="3771"/>
                  </a:lnTo>
                  <a:lnTo>
                    <a:pt x="14058" y="14058"/>
                  </a:lnTo>
                  <a:lnTo>
                    <a:pt x="3771" y="29317"/>
                  </a:lnTo>
                  <a:lnTo>
                    <a:pt x="0" y="48005"/>
                  </a:lnTo>
                  <a:lnTo>
                    <a:pt x="0" y="240029"/>
                  </a:lnTo>
                  <a:lnTo>
                    <a:pt x="3771" y="258712"/>
                  </a:lnTo>
                  <a:lnTo>
                    <a:pt x="14058" y="273972"/>
                  </a:lnTo>
                  <a:lnTo>
                    <a:pt x="29317" y="284262"/>
                  </a:lnTo>
                  <a:lnTo>
                    <a:pt x="48006" y="288035"/>
                  </a:lnTo>
                  <a:lnTo>
                    <a:pt x="816089" y="288035"/>
                  </a:lnTo>
                  <a:lnTo>
                    <a:pt x="834777" y="284262"/>
                  </a:lnTo>
                  <a:lnTo>
                    <a:pt x="850036" y="273972"/>
                  </a:lnTo>
                  <a:lnTo>
                    <a:pt x="860323" y="258712"/>
                  </a:lnTo>
                  <a:lnTo>
                    <a:pt x="864095" y="240029"/>
                  </a:lnTo>
                  <a:lnTo>
                    <a:pt x="864095" y="48005"/>
                  </a:lnTo>
                  <a:lnTo>
                    <a:pt x="860323" y="29317"/>
                  </a:lnTo>
                  <a:lnTo>
                    <a:pt x="850036" y="14058"/>
                  </a:lnTo>
                  <a:lnTo>
                    <a:pt x="834777" y="3771"/>
                  </a:lnTo>
                  <a:lnTo>
                    <a:pt x="816089" y="0"/>
                  </a:lnTo>
                  <a:close/>
                </a:path>
              </a:pathLst>
            </a:custGeom>
            <a:solidFill>
              <a:srgbClr val="C00000"/>
            </a:solidFill>
          </p:spPr>
          <p:txBody>
            <a:bodyPr wrap="square" lIns="0" tIns="0" rIns="0" bIns="0" rtlCol="0"/>
            <a:lstStyle/>
            <a:p/>
          </p:txBody>
        </p:sp>
        <p:sp>
          <p:nvSpPr>
            <p:cNvPr id="6" name="object 6" descr=""/>
            <p:cNvSpPr/>
            <p:nvPr/>
          </p:nvSpPr>
          <p:spPr>
            <a:xfrm>
              <a:off x="1942541" y="1017699"/>
              <a:ext cx="864235" cy="288290"/>
            </a:xfrm>
            <a:custGeom>
              <a:avLst/>
              <a:gdLst/>
              <a:ahLst/>
              <a:cxnLst/>
              <a:rect l="l" t="t" r="r" b="b"/>
              <a:pathLst>
                <a:path w="864235" h="288290">
                  <a:moveTo>
                    <a:pt x="0" y="48005"/>
                  </a:moveTo>
                  <a:lnTo>
                    <a:pt x="3771" y="29317"/>
                  </a:lnTo>
                  <a:lnTo>
                    <a:pt x="14058" y="14058"/>
                  </a:lnTo>
                  <a:lnTo>
                    <a:pt x="29317" y="3771"/>
                  </a:lnTo>
                  <a:lnTo>
                    <a:pt x="48006" y="0"/>
                  </a:lnTo>
                  <a:lnTo>
                    <a:pt x="816089" y="0"/>
                  </a:lnTo>
                  <a:lnTo>
                    <a:pt x="834777" y="3771"/>
                  </a:lnTo>
                  <a:lnTo>
                    <a:pt x="850036" y="14058"/>
                  </a:lnTo>
                  <a:lnTo>
                    <a:pt x="860323" y="29317"/>
                  </a:lnTo>
                  <a:lnTo>
                    <a:pt x="864095" y="48005"/>
                  </a:lnTo>
                  <a:lnTo>
                    <a:pt x="864095" y="240029"/>
                  </a:lnTo>
                  <a:lnTo>
                    <a:pt x="860323" y="258712"/>
                  </a:lnTo>
                  <a:lnTo>
                    <a:pt x="850036" y="273972"/>
                  </a:lnTo>
                  <a:lnTo>
                    <a:pt x="834777" y="284262"/>
                  </a:lnTo>
                  <a:lnTo>
                    <a:pt x="816089" y="288035"/>
                  </a:lnTo>
                  <a:lnTo>
                    <a:pt x="48006" y="288035"/>
                  </a:lnTo>
                  <a:lnTo>
                    <a:pt x="29317" y="284262"/>
                  </a:lnTo>
                  <a:lnTo>
                    <a:pt x="14058" y="273972"/>
                  </a:lnTo>
                  <a:lnTo>
                    <a:pt x="3771" y="258712"/>
                  </a:lnTo>
                  <a:lnTo>
                    <a:pt x="0" y="240029"/>
                  </a:lnTo>
                  <a:lnTo>
                    <a:pt x="0" y="48005"/>
                  </a:lnTo>
                  <a:close/>
                </a:path>
              </a:pathLst>
            </a:custGeom>
            <a:ln w="38099">
              <a:solidFill>
                <a:srgbClr val="FFFFFF"/>
              </a:solidFill>
            </a:ln>
          </p:spPr>
          <p:txBody>
            <a:bodyPr wrap="square" lIns="0" tIns="0" rIns="0" bIns="0" rtlCol="0"/>
            <a:lstStyle/>
            <a:p/>
          </p:txBody>
        </p:sp>
      </p:grpSp>
      <p:sp>
        <p:nvSpPr>
          <p:cNvPr id="7" name="object 7" descr=""/>
          <p:cNvSpPr txBox="1"/>
          <p:nvPr/>
        </p:nvSpPr>
        <p:spPr>
          <a:xfrm>
            <a:off x="2056072" y="1055289"/>
            <a:ext cx="638175" cy="208279"/>
          </a:xfrm>
          <a:prstGeom prst="rect">
            <a:avLst/>
          </a:prstGeom>
        </p:spPr>
        <p:txBody>
          <a:bodyPr wrap="square" lIns="0" tIns="12700" rIns="0" bIns="0" rtlCol="0" vert="horz">
            <a:spAutoFit/>
          </a:bodyPr>
          <a:lstStyle/>
          <a:p>
            <a:pPr marL="12700">
              <a:lnSpc>
                <a:spcPct val="100000"/>
              </a:lnSpc>
              <a:spcBef>
                <a:spcPts val="100"/>
              </a:spcBef>
            </a:pPr>
            <a:r>
              <a:rPr dirty="0" sz="1200" spc="-15">
                <a:solidFill>
                  <a:srgbClr val="FFFFFF"/>
                </a:solidFill>
                <a:latin typeface="SimSun"/>
                <a:cs typeface="SimSun"/>
              </a:rPr>
              <a:t>密集市区</a:t>
            </a:r>
            <a:endParaRPr sz="1200">
              <a:latin typeface="SimSun"/>
              <a:cs typeface="SimSun"/>
            </a:endParaRPr>
          </a:p>
        </p:txBody>
      </p:sp>
      <p:grpSp>
        <p:nvGrpSpPr>
          <p:cNvPr id="8" name="object 8" descr=""/>
          <p:cNvGrpSpPr/>
          <p:nvPr/>
        </p:nvGrpSpPr>
        <p:grpSpPr>
          <a:xfrm>
            <a:off x="3432047" y="977645"/>
            <a:ext cx="984885" cy="408940"/>
            <a:chOff x="3432047" y="977645"/>
            <a:chExt cx="984885" cy="408940"/>
          </a:xfrm>
        </p:grpSpPr>
        <p:pic>
          <p:nvPicPr>
            <p:cNvPr id="9" name="object 9" descr=""/>
            <p:cNvPicPr/>
            <p:nvPr/>
          </p:nvPicPr>
          <p:blipFill>
            <a:blip r:embed="rId4" cstate="print"/>
            <a:stretch>
              <a:fillRect/>
            </a:stretch>
          </p:blipFill>
          <p:spPr>
            <a:xfrm>
              <a:off x="3432047" y="977645"/>
              <a:ext cx="984503" cy="408431"/>
            </a:xfrm>
            <a:prstGeom prst="rect">
              <a:avLst/>
            </a:prstGeom>
          </p:spPr>
        </p:pic>
        <p:sp>
          <p:nvSpPr>
            <p:cNvPr id="10" name="object 10" descr=""/>
            <p:cNvSpPr/>
            <p:nvPr/>
          </p:nvSpPr>
          <p:spPr>
            <a:xfrm>
              <a:off x="3491880" y="1017699"/>
              <a:ext cx="864235" cy="288290"/>
            </a:xfrm>
            <a:custGeom>
              <a:avLst/>
              <a:gdLst/>
              <a:ahLst/>
              <a:cxnLst/>
              <a:rect l="l" t="t" r="r" b="b"/>
              <a:pathLst>
                <a:path w="864235" h="288290">
                  <a:moveTo>
                    <a:pt x="816089" y="0"/>
                  </a:moveTo>
                  <a:lnTo>
                    <a:pt x="48006" y="0"/>
                  </a:lnTo>
                  <a:lnTo>
                    <a:pt x="29317" y="3771"/>
                  </a:lnTo>
                  <a:lnTo>
                    <a:pt x="14058" y="14058"/>
                  </a:lnTo>
                  <a:lnTo>
                    <a:pt x="3771" y="29317"/>
                  </a:lnTo>
                  <a:lnTo>
                    <a:pt x="0" y="48005"/>
                  </a:lnTo>
                  <a:lnTo>
                    <a:pt x="0" y="240029"/>
                  </a:lnTo>
                  <a:lnTo>
                    <a:pt x="3771" y="258712"/>
                  </a:lnTo>
                  <a:lnTo>
                    <a:pt x="14058" y="273972"/>
                  </a:lnTo>
                  <a:lnTo>
                    <a:pt x="29317" y="284262"/>
                  </a:lnTo>
                  <a:lnTo>
                    <a:pt x="48006" y="288035"/>
                  </a:lnTo>
                  <a:lnTo>
                    <a:pt x="816089" y="288035"/>
                  </a:lnTo>
                  <a:lnTo>
                    <a:pt x="834777" y="284262"/>
                  </a:lnTo>
                  <a:lnTo>
                    <a:pt x="850036" y="273972"/>
                  </a:lnTo>
                  <a:lnTo>
                    <a:pt x="860323" y="258712"/>
                  </a:lnTo>
                  <a:lnTo>
                    <a:pt x="864095" y="240029"/>
                  </a:lnTo>
                  <a:lnTo>
                    <a:pt x="864095" y="48005"/>
                  </a:lnTo>
                  <a:lnTo>
                    <a:pt x="860323" y="29317"/>
                  </a:lnTo>
                  <a:lnTo>
                    <a:pt x="850036" y="14058"/>
                  </a:lnTo>
                  <a:lnTo>
                    <a:pt x="834777" y="3771"/>
                  </a:lnTo>
                  <a:lnTo>
                    <a:pt x="816089" y="0"/>
                  </a:lnTo>
                  <a:close/>
                </a:path>
              </a:pathLst>
            </a:custGeom>
            <a:solidFill>
              <a:srgbClr val="C00000"/>
            </a:solidFill>
          </p:spPr>
          <p:txBody>
            <a:bodyPr wrap="square" lIns="0" tIns="0" rIns="0" bIns="0" rtlCol="0"/>
            <a:lstStyle/>
            <a:p/>
          </p:txBody>
        </p:sp>
        <p:sp>
          <p:nvSpPr>
            <p:cNvPr id="11" name="object 11" descr=""/>
            <p:cNvSpPr/>
            <p:nvPr/>
          </p:nvSpPr>
          <p:spPr>
            <a:xfrm>
              <a:off x="3491880" y="1017699"/>
              <a:ext cx="864235" cy="288290"/>
            </a:xfrm>
            <a:custGeom>
              <a:avLst/>
              <a:gdLst/>
              <a:ahLst/>
              <a:cxnLst/>
              <a:rect l="l" t="t" r="r" b="b"/>
              <a:pathLst>
                <a:path w="864235" h="288290">
                  <a:moveTo>
                    <a:pt x="0" y="48005"/>
                  </a:moveTo>
                  <a:lnTo>
                    <a:pt x="3771" y="29317"/>
                  </a:lnTo>
                  <a:lnTo>
                    <a:pt x="14058" y="14058"/>
                  </a:lnTo>
                  <a:lnTo>
                    <a:pt x="29317" y="3771"/>
                  </a:lnTo>
                  <a:lnTo>
                    <a:pt x="48006" y="0"/>
                  </a:lnTo>
                  <a:lnTo>
                    <a:pt x="816089" y="0"/>
                  </a:lnTo>
                  <a:lnTo>
                    <a:pt x="834777" y="3771"/>
                  </a:lnTo>
                  <a:lnTo>
                    <a:pt x="850036" y="14058"/>
                  </a:lnTo>
                  <a:lnTo>
                    <a:pt x="860323" y="29317"/>
                  </a:lnTo>
                  <a:lnTo>
                    <a:pt x="864095" y="48005"/>
                  </a:lnTo>
                  <a:lnTo>
                    <a:pt x="864095" y="240029"/>
                  </a:lnTo>
                  <a:lnTo>
                    <a:pt x="860323" y="258712"/>
                  </a:lnTo>
                  <a:lnTo>
                    <a:pt x="850036" y="273972"/>
                  </a:lnTo>
                  <a:lnTo>
                    <a:pt x="834777" y="284262"/>
                  </a:lnTo>
                  <a:lnTo>
                    <a:pt x="816089" y="288035"/>
                  </a:lnTo>
                  <a:lnTo>
                    <a:pt x="48006" y="288035"/>
                  </a:lnTo>
                  <a:lnTo>
                    <a:pt x="29317" y="284262"/>
                  </a:lnTo>
                  <a:lnTo>
                    <a:pt x="14058" y="273972"/>
                  </a:lnTo>
                  <a:lnTo>
                    <a:pt x="3771" y="258712"/>
                  </a:lnTo>
                  <a:lnTo>
                    <a:pt x="0" y="240029"/>
                  </a:lnTo>
                  <a:lnTo>
                    <a:pt x="0" y="48005"/>
                  </a:lnTo>
                  <a:close/>
                </a:path>
              </a:pathLst>
            </a:custGeom>
            <a:ln w="38099">
              <a:solidFill>
                <a:srgbClr val="FFFFFF"/>
              </a:solidFill>
            </a:ln>
          </p:spPr>
          <p:txBody>
            <a:bodyPr wrap="square" lIns="0" tIns="0" rIns="0" bIns="0" rtlCol="0"/>
            <a:lstStyle/>
            <a:p/>
          </p:txBody>
        </p:sp>
      </p:grpSp>
      <p:sp>
        <p:nvSpPr>
          <p:cNvPr id="12" name="object 12" descr=""/>
          <p:cNvSpPr txBox="1"/>
          <p:nvPr/>
        </p:nvSpPr>
        <p:spPr>
          <a:xfrm>
            <a:off x="3757811" y="1055289"/>
            <a:ext cx="33210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FFFFFF"/>
                </a:solidFill>
                <a:latin typeface="SimSun"/>
                <a:cs typeface="SimSun"/>
              </a:rPr>
              <a:t>市区</a:t>
            </a:r>
            <a:endParaRPr sz="1200">
              <a:latin typeface="SimSun"/>
              <a:cs typeface="SimSun"/>
            </a:endParaRPr>
          </a:p>
        </p:txBody>
      </p:sp>
      <p:grpSp>
        <p:nvGrpSpPr>
          <p:cNvPr id="13" name="object 13" descr=""/>
          <p:cNvGrpSpPr/>
          <p:nvPr/>
        </p:nvGrpSpPr>
        <p:grpSpPr>
          <a:xfrm>
            <a:off x="5231891" y="977645"/>
            <a:ext cx="984885" cy="408940"/>
            <a:chOff x="5231891" y="977645"/>
            <a:chExt cx="984885" cy="408940"/>
          </a:xfrm>
        </p:grpSpPr>
        <p:pic>
          <p:nvPicPr>
            <p:cNvPr id="14" name="object 14" descr=""/>
            <p:cNvPicPr/>
            <p:nvPr/>
          </p:nvPicPr>
          <p:blipFill>
            <a:blip r:embed="rId5" cstate="print"/>
            <a:stretch>
              <a:fillRect/>
            </a:stretch>
          </p:blipFill>
          <p:spPr>
            <a:xfrm>
              <a:off x="5231891" y="977645"/>
              <a:ext cx="984503" cy="408431"/>
            </a:xfrm>
            <a:prstGeom prst="rect">
              <a:avLst/>
            </a:prstGeom>
          </p:spPr>
        </p:pic>
        <p:sp>
          <p:nvSpPr>
            <p:cNvPr id="15" name="object 15" descr=""/>
            <p:cNvSpPr/>
            <p:nvPr/>
          </p:nvSpPr>
          <p:spPr>
            <a:xfrm>
              <a:off x="5292079" y="1017699"/>
              <a:ext cx="864235" cy="288290"/>
            </a:xfrm>
            <a:custGeom>
              <a:avLst/>
              <a:gdLst/>
              <a:ahLst/>
              <a:cxnLst/>
              <a:rect l="l" t="t" r="r" b="b"/>
              <a:pathLst>
                <a:path w="864235" h="288290">
                  <a:moveTo>
                    <a:pt x="816089" y="0"/>
                  </a:moveTo>
                  <a:lnTo>
                    <a:pt x="48006" y="0"/>
                  </a:lnTo>
                  <a:lnTo>
                    <a:pt x="29317" y="3771"/>
                  </a:lnTo>
                  <a:lnTo>
                    <a:pt x="14058" y="14058"/>
                  </a:lnTo>
                  <a:lnTo>
                    <a:pt x="3771" y="29317"/>
                  </a:lnTo>
                  <a:lnTo>
                    <a:pt x="0" y="48005"/>
                  </a:lnTo>
                  <a:lnTo>
                    <a:pt x="0" y="240029"/>
                  </a:lnTo>
                  <a:lnTo>
                    <a:pt x="3771" y="258712"/>
                  </a:lnTo>
                  <a:lnTo>
                    <a:pt x="14058" y="273972"/>
                  </a:lnTo>
                  <a:lnTo>
                    <a:pt x="29317" y="284262"/>
                  </a:lnTo>
                  <a:lnTo>
                    <a:pt x="48006" y="288035"/>
                  </a:lnTo>
                  <a:lnTo>
                    <a:pt x="816089" y="288035"/>
                  </a:lnTo>
                  <a:lnTo>
                    <a:pt x="834777" y="284262"/>
                  </a:lnTo>
                  <a:lnTo>
                    <a:pt x="850036" y="273972"/>
                  </a:lnTo>
                  <a:lnTo>
                    <a:pt x="860323" y="258712"/>
                  </a:lnTo>
                  <a:lnTo>
                    <a:pt x="864095" y="240029"/>
                  </a:lnTo>
                  <a:lnTo>
                    <a:pt x="864095" y="48005"/>
                  </a:lnTo>
                  <a:lnTo>
                    <a:pt x="860323" y="29317"/>
                  </a:lnTo>
                  <a:lnTo>
                    <a:pt x="850036" y="14058"/>
                  </a:lnTo>
                  <a:lnTo>
                    <a:pt x="834777" y="3771"/>
                  </a:lnTo>
                  <a:lnTo>
                    <a:pt x="816089" y="0"/>
                  </a:lnTo>
                  <a:close/>
                </a:path>
              </a:pathLst>
            </a:custGeom>
            <a:solidFill>
              <a:srgbClr val="C00000"/>
            </a:solidFill>
          </p:spPr>
          <p:txBody>
            <a:bodyPr wrap="square" lIns="0" tIns="0" rIns="0" bIns="0" rtlCol="0"/>
            <a:lstStyle/>
            <a:p/>
          </p:txBody>
        </p:sp>
        <p:sp>
          <p:nvSpPr>
            <p:cNvPr id="16" name="object 16" descr=""/>
            <p:cNvSpPr/>
            <p:nvPr/>
          </p:nvSpPr>
          <p:spPr>
            <a:xfrm>
              <a:off x="5292079" y="1017699"/>
              <a:ext cx="864235" cy="288290"/>
            </a:xfrm>
            <a:custGeom>
              <a:avLst/>
              <a:gdLst/>
              <a:ahLst/>
              <a:cxnLst/>
              <a:rect l="l" t="t" r="r" b="b"/>
              <a:pathLst>
                <a:path w="864235" h="288290">
                  <a:moveTo>
                    <a:pt x="0" y="48005"/>
                  </a:moveTo>
                  <a:lnTo>
                    <a:pt x="3771" y="29317"/>
                  </a:lnTo>
                  <a:lnTo>
                    <a:pt x="14058" y="14058"/>
                  </a:lnTo>
                  <a:lnTo>
                    <a:pt x="29317" y="3771"/>
                  </a:lnTo>
                  <a:lnTo>
                    <a:pt x="48006" y="0"/>
                  </a:lnTo>
                  <a:lnTo>
                    <a:pt x="816089" y="0"/>
                  </a:lnTo>
                  <a:lnTo>
                    <a:pt x="834777" y="3771"/>
                  </a:lnTo>
                  <a:lnTo>
                    <a:pt x="850036" y="14058"/>
                  </a:lnTo>
                  <a:lnTo>
                    <a:pt x="860323" y="29317"/>
                  </a:lnTo>
                  <a:lnTo>
                    <a:pt x="864095" y="48005"/>
                  </a:lnTo>
                  <a:lnTo>
                    <a:pt x="864095" y="240029"/>
                  </a:lnTo>
                  <a:lnTo>
                    <a:pt x="860323" y="258712"/>
                  </a:lnTo>
                  <a:lnTo>
                    <a:pt x="850036" y="273972"/>
                  </a:lnTo>
                  <a:lnTo>
                    <a:pt x="834777" y="284262"/>
                  </a:lnTo>
                  <a:lnTo>
                    <a:pt x="816089" y="288035"/>
                  </a:lnTo>
                  <a:lnTo>
                    <a:pt x="48006" y="288035"/>
                  </a:lnTo>
                  <a:lnTo>
                    <a:pt x="29317" y="284262"/>
                  </a:lnTo>
                  <a:lnTo>
                    <a:pt x="14058" y="273972"/>
                  </a:lnTo>
                  <a:lnTo>
                    <a:pt x="3771" y="258712"/>
                  </a:lnTo>
                  <a:lnTo>
                    <a:pt x="0" y="240029"/>
                  </a:lnTo>
                  <a:lnTo>
                    <a:pt x="0" y="48005"/>
                  </a:lnTo>
                  <a:close/>
                </a:path>
              </a:pathLst>
            </a:custGeom>
            <a:ln w="38099">
              <a:solidFill>
                <a:srgbClr val="FFFFFF"/>
              </a:solidFill>
            </a:ln>
          </p:spPr>
          <p:txBody>
            <a:bodyPr wrap="square" lIns="0" tIns="0" rIns="0" bIns="0" rtlCol="0"/>
            <a:lstStyle/>
            <a:p/>
          </p:txBody>
        </p:sp>
      </p:grpSp>
      <p:sp>
        <p:nvSpPr>
          <p:cNvPr id="17" name="object 17" descr=""/>
          <p:cNvSpPr txBox="1"/>
          <p:nvPr/>
        </p:nvSpPr>
        <p:spPr>
          <a:xfrm>
            <a:off x="5558011" y="1055289"/>
            <a:ext cx="33210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FFFFFF"/>
                </a:solidFill>
                <a:latin typeface="SimSun"/>
                <a:cs typeface="SimSun"/>
              </a:rPr>
              <a:t>郊区</a:t>
            </a:r>
            <a:endParaRPr sz="1200">
              <a:latin typeface="SimSun"/>
              <a:cs typeface="SimSun"/>
            </a:endParaRPr>
          </a:p>
        </p:txBody>
      </p:sp>
      <p:grpSp>
        <p:nvGrpSpPr>
          <p:cNvPr id="18" name="object 18" descr=""/>
          <p:cNvGrpSpPr/>
          <p:nvPr/>
        </p:nvGrpSpPr>
        <p:grpSpPr>
          <a:xfrm>
            <a:off x="6887718" y="977645"/>
            <a:ext cx="984885" cy="408940"/>
            <a:chOff x="6887718" y="977645"/>
            <a:chExt cx="984885" cy="408940"/>
          </a:xfrm>
        </p:grpSpPr>
        <p:pic>
          <p:nvPicPr>
            <p:cNvPr id="19" name="object 19" descr=""/>
            <p:cNvPicPr/>
            <p:nvPr/>
          </p:nvPicPr>
          <p:blipFill>
            <a:blip r:embed="rId6" cstate="print"/>
            <a:stretch>
              <a:fillRect/>
            </a:stretch>
          </p:blipFill>
          <p:spPr>
            <a:xfrm>
              <a:off x="6887718" y="977645"/>
              <a:ext cx="984503" cy="408431"/>
            </a:xfrm>
            <a:prstGeom prst="rect">
              <a:avLst/>
            </a:prstGeom>
          </p:spPr>
        </p:pic>
        <p:sp>
          <p:nvSpPr>
            <p:cNvPr id="20" name="object 20" descr=""/>
            <p:cNvSpPr/>
            <p:nvPr/>
          </p:nvSpPr>
          <p:spPr>
            <a:xfrm>
              <a:off x="6948264" y="1017699"/>
              <a:ext cx="864235" cy="288290"/>
            </a:xfrm>
            <a:custGeom>
              <a:avLst/>
              <a:gdLst/>
              <a:ahLst/>
              <a:cxnLst/>
              <a:rect l="l" t="t" r="r" b="b"/>
              <a:pathLst>
                <a:path w="864234" h="288290">
                  <a:moveTo>
                    <a:pt x="816089" y="0"/>
                  </a:moveTo>
                  <a:lnTo>
                    <a:pt x="48006" y="0"/>
                  </a:lnTo>
                  <a:lnTo>
                    <a:pt x="29317" y="3771"/>
                  </a:lnTo>
                  <a:lnTo>
                    <a:pt x="14058" y="14058"/>
                  </a:lnTo>
                  <a:lnTo>
                    <a:pt x="3771" y="29317"/>
                  </a:lnTo>
                  <a:lnTo>
                    <a:pt x="0" y="48005"/>
                  </a:lnTo>
                  <a:lnTo>
                    <a:pt x="0" y="240029"/>
                  </a:lnTo>
                  <a:lnTo>
                    <a:pt x="3771" y="258712"/>
                  </a:lnTo>
                  <a:lnTo>
                    <a:pt x="14058" y="273972"/>
                  </a:lnTo>
                  <a:lnTo>
                    <a:pt x="29317" y="284262"/>
                  </a:lnTo>
                  <a:lnTo>
                    <a:pt x="48006" y="288035"/>
                  </a:lnTo>
                  <a:lnTo>
                    <a:pt x="816089" y="288035"/>
                  </a:lnTo>
                  <a:lnTo>
                    <a:pt x="834777" y="284262"/>
                  </a:lnTo>
                  <a:lnTo>
                    <a:pt x="850036" y="273972"/>
                  </a:lnTo>
                  <a:lnTo>
                    <a:pt x="860323" y="258712"/>
                  </a:lnTo>
                  <a:lnTo>
                    <a:pt x="864095" y="240029"/>
                  </a:lnTo>
                  <a:lnTo>
                    <a:pt x="864095" y="48005"/>
                  </a:lnTo>
                  <a:lnTo>
                    <a:pt x="860323" y="29317"/>
                  </a:lnTo>
                  <a:lnTo>
                    <a:pt x="850036" y="14058"/>
                  </a:lnTo>
                  <a:lnTo>
                    <a:pt x="834777" y="3771"/>
                  </a:lnTo>
                  <a:lnTo>
                    <a:pt x="816089" y="0"/>
                  </a:lnTo>
                  <a:close/>
                </a:path>
              </a:pathLst>
            </a:custGeom>
            <a:solidFill>
              <a:srgbClr val="C00000"/>
            </a:solidFill>
          </p:spPr>
          <p:txBody>
            <a:bodyPr wrap="square" lIns="0" tIns="0" rIns="0" bIns="0" rtlCol="0"/>
            <a:lstStyle/>
            <a:p/>
          </p:txBody>
        </p:sp>
        <p:sp>
          <p:nvSpPr>
            <p:cNvPr id="21" name="object 21" descr=""/>
            <p:cNvSpPr/>
            <p:nvPr/>
          </p:nvSpPr>
          <p:spPr>
            <a:xfrm>
              <a:off x="6948264" y="1017699"/>
              <a:ext cx="864235" cy="288290"/>
            </a:xfrm>
            <a:custGeom>
              <a:avLst/>
              <a:gdLst/>
              <a:ahLst/>
              <a:cxnLst/>
              <a:rect l="l" t="t" r="r" b="b"/>
              <a:pathLst>
                <a:path w="864234" h="288290">
                  <a:moveTo>
                    <a:pt x="0" y="48005"/>
                  </a:moveTo>
                  <a:lnTo>
                    <a:pt x="3771" y="29317"/>
                  </a:lnTo>
                  <a:lnTo>
                    <a:pt x="14058" y="14058"/>
                  </a:lnTo>
                  <a:lnTo>
                    <a:pt x="29317" y="3771"/>
                  </a:lnTo>
                  <a:lnTo>
                    <a:pt x="48006" y="0"/>
                  </a:lnTo>
                  <a:lnTo>
                    <a:pt x="816089" y="0"/>
                  </a:lnTo>
                  <a:lnTo>
                    <a:pt x="834777" y="3771"/>
                  </a:lnTo>
                  <a:lnTo>
                    <a:pt x="850036" y="14058"/>
                  </a:lnTo>
                  <a:lnTo>
                    <a:pt x="860323" y="29317"/>
                  </a:lnTo>
                  <a:lnTo>
                    <a:pt x="864095" y="48005"/>
                  </a:lnTo>
                  <a:lnTo>
                    <a:pt x="864095" y="240029"/>
                  </a:lnTo>
                  <a:lnTo>
                    <a:pt x="860323" y="258712"/>
                  </a:lnTo>
                  <a:lnTo>
                    <a:pt x="850036" y="273972"/>
                  </a:lnTo>
                  <a:lnTo>
                    <a:pt x="834777" y="284262"/>
                  </a:lnTo>
                  <a:lnTo>
                    <a:pt x="816089" y="288035"/>
                  </a:lnTo>
                  <a:lnTo>
                    <a:pt x="48006" y="288035"/>
                  </a:lnTo>
                  <a:lnTo>
                    <a:pt x="29317" y="284262"/>
                  </a:lnTo>
                  <a:lnTo>
                    <a:pt x="14058" y="273972"/>
                  </a:lnTo>
                  <a:lnTo>
                    <a:pt x="3771" y="258712"/>
                  </a:lnTo>
                  <a:lnTo>
                    <a:pt x="0" y="240029"/>
                  </a:lnTo>
                  <a:lnTo>
                    <a:pt x="0" y="48005"/>
                  </a:lnTo>
                  <a:close/>
                </a:path>
              </a:pathLst>
            </a:custGeom>
            <a:ln w="38099">
              <a:solidFill>
                <a:srgbClr val="FFFFFF"/>
              </a:solidFill>
            </a:ln>
          </p:spPr>
          <p:txBody>
            <a:bodyPr wrap="square" lIns="0" tIns="0" rIns="0" bIns="0" rtlCol="0"/>
            <a:lstStyle/>
            <a:p/>
          </p:txBody>
        </p:sp>
      </p:grpSp>
      <p:sp>
        <p:nvSpPr>
          <p:cNvPr id="22" name="object 22" descr=""/>
          <p:cNvSpPr txBox="1"/>
          <p:nvPr/>
        </p:nvSpPr>
        <p:spPr>
          <a:xfrm>
            <a:off x="7214195" y="1055289"/>
            <a:ext cx="33210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FFFFFF"/>
                </a:solidFill>
                <a:latin typeface="SimSun"/>
                <a:cs typeface="SimSun"/>
              </a:rPr>
              <a:t>农村</a:t>
            </a:r>
            <a:endParaRPr sz="1200">
              <a:latin typeface="SimSun"/>
              <a:cs typeface="SimSun"/>
            </a:endParaRPr>
          </a:p>
        </p:txBody>
      </p:sp>
      <p:sp>
        <p:nvSpPr>
          <p:cNvPr id="23" name="object 23" descr=""/>
          <p:cNvSpPr txBox="1"/>
          <p:nvPr/>
        </p:nvSpPr>
        <p:spPr>
          <a:xfrm>
            <a:off x="1328966" y="3931508"/>
            <a:ext cx="333375" cy="208279"/>
          </a:xfrm>
          <a:prstGeom prst="rect">
            <a:avLst/>
          </a:prstGeom>
        </p:spPr>
        <p:txBody>
          <a:bodyPr wrap="square" lIns="0" tIns="12700" rIns="0" bIns="0" rtlCol="0" vert="horz">
            <a:spAutoFit/>
          </a:bodyPr>
          <a:lstStyle/>
          <a:p>
            <a:pPr marL="12700">
              <a:lnSpc>
                <a:spcPct val="100000"/>
              </a:lnSpc>
              <a:spcBef>
                <a:spcPts val="100"/>
              </a:spcBef>
            </a:pPr>
            <a:r>
              <a:rPr dirty="0" sz="1200" spc="-20">
                <a:latin typeface="SimSun"/>
                <a:cs typeface="SimSun"/>
              </a:rPr>
              <a:t>900M</a:t>
            </a:r>
            <a:endParaRPr sz="1200">
              <a:latin typeface="SimSun"/>
              <a:cs typeface="SimSun"/>
            </a:endParaRPr>
          </a:p>
        </p:txBody>
      </p:sp>
      <p:sp>
        <p:nvSpPr>
          <p:cNvPr id="24" name="object 24" descr=""/>
          <p:cNvSpPr txBox="1"/>
          <p:nvPr/>
        </p:nvSpPr>
        <p:spPr>
          <a:xfrm>
            <a:off x="477451" y="2865026"/>
            <a:ext cx="332105" cy="574040"/>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0070C0"/>
                </a:solidFill>
                <a:latin typeface="SimSun"/>
                <a:cs typeface="SimSun"/>
              </a:rPr>
              <a:t>LTE</a:t>
            </a:r>
            <a:endParaRPr sz="1200">
              <a:latin typeface="SimSun"/>
              <a:cs typeface="SimSun"/>
            </a:endParaRPr>
          </a:p>
          <a:p>
            <a:pPr marL="12700" marR="5080">
              <a:lnSpc>
                <a:spcPct val="100000"/>
              </a:lnSpc>
            </a:pPr>
            <a:r>
              <a:rPr dirty="0" sz="1200" spc="-25">
                <a:solidFill>
                  <a:srgbClr val="0070C0"/>
                </a:solidFill>
                <a:latin typeface="SimSun"/>
                <a:cs typeface="SimSun"/>
              </a:rPr>
              <a:t>容量覆盖</a:t>
            </a:r>
            <a:endParaRPr sz="1200">
              <a:latin typeface="SimSun"/>
              <a:cs typeface="SimSun"/>
            </a:endParaRPr>
          </a:p>
        </p:txBody>
      </p:sp>
      <p:sp>
        <p:nvSpPr>
          <p:cNvPr id="25" name="object 25" descr=""/>
          <p:cNvSpPr txBox="1"/>
          <p:nvPr/>
        </p:nvSpPr>
        <p:spPr>
          <a:xfrm>
            <a:off x="1942541" y="2715399"/>
            <a:ext cx="5802630" cy="227329"/>
          </a:xfrm>
          <a:prstGeom prst="rect">
            <a:avLst/>
          </a:prstGeom>
          <a:solidFill>
            <a:srgbClr val="00B0F0"/>
          </a:solidFill>
        </p:spPr>
        <p:txBody>
          <a:bodyPr wrap="square" lIns="0" tIns="12700" rIns="0" bIns="0" rtlCol="0" vert="horz">
            <a:spAutoFit/>
          </a:bodyPr>
          <a:lstStyle/>
          <a:p>
            <a:pPr algn="ctr">
              <a:lnSpc>
                <a:spcPct val="100000"/>
              </a:lnSpc>
              <a:spcBef>
                <a:spcPts val="100"/>
              </a:spcBef>
            </a:pPr>
            <a:r>
              <a:rPr dirty="0" sz="1400">
                <a:solidFill>
                  <a:srgbClr val="FFFFFF"/>
                </a:solidFill>
                <a:latin typeface="SimSun"/>
                <a:cs typeface="SimSun"/>
              </a:rPr>
              <a:t>TDD</a:t>
            </a:r>
            <a:r>
              <a:rPr dirty="0" sz="1400" spc="-20">
                <a:solidFill>
                  <a:srgbClr val="FFFFFF"/>
                </a:solidFill>
                <a:latin typeface="SimSun"/>
                <a:cs typeface="SimSun"/>
              </a:rPr>
              <a:t> 频段 30MHz</a:t>
            </a:r>
            <a:endParaRPr sz="1400">
              <a:latin typeface="SimSun"/>
              <a:cs typeface="SimSun"/>
            </a:endParaRPr>
          </a:p>
        </p:txBody>
      </p:sp>
      <p:sp>
        <p:nvSpPr>
          <p:cNvPr id="26" name="object 26" descr=""/>
          <p:cNvSpPr txBox="1"/>
          <p:nvPr/>
        </p:nvSpPr>
        <p:spPr>
          <a:xfrm>
            <a:off x="1942541" y="3062046"/>
            <a:ext cx="4649470" cy="227329"/>
          </a:xfrm>
          <a:prstGeom prst="rect">
            <a:avLst/>
          </a:prstGeom>
          <a:solidFill>
            <a:srgbClr val="00B0F0"/>
          </a:solidFill>
        </p:spPr>
        <p:txBody>
          <a:bodyPr wrap="square" lIns="0" tIns="12700" rIns="0" bIns="0" rtlCol="0" vert="horz">
            <a:spAutoFit/>
          </a:bodyPr>
          <a:lstStyle/>
          <a:p>
            <a:pPr algn="ctr">
              <a:lnSpc>
                <a:spcPct val="100000"/>
              </a:lnSpc>
              <a:spcBef>
                <a:spcPts val="100"/>
              </a:spcBef>
            </a:pPr>
            <a:r>
              <a:rPr dirty="0" sz="1400">
                <a:solidFill>
                  <a:srgbClr val="FFFFFF"/>
                </a:solidFill>
                <a:latin typeface="SimSun"/>
                <a:cs typeface="SimSun"/>
              </a:rPr>
              <a:t>TDD</a:t>
            </a:r>
            <a:r>
              <a:rPr dirty="0" sz="1400" spc="-35">
                <a:solidFill>
                  <a:srgbClr val="FFFFFF"/>
                </a:solidFill>
                <a:latin typeface="SimSun"/>
                <a:cs typeface="SimSun"/>
              </a:rPr>
              <a:t> </a:t>
            </a:r>
            <a:r>
              <a:rPr dirty="0" sz="1400" spc="-10">
                <a:solidFill>
                  <a:srgbClr val="FFFFFF"/>
                </a:solidFill>
                <a:latin typeface="SimSun"/>
                <a:cs typeface="SimSun"/>
              </a:rPr>
              <a:t>15MHz</a:t>
            </a:r>
            <a:endParaRPr sz="1400">
              <a:latin typeface="SimSun"/>
              <a:cs typeface="SimSun"/>
            </a:endParaRPr>
          </a:p>
        </p:txBody>
      </p:sp>
      <p:sp>
        <p:nvSpPr>
          <p:cNvPr id="27" name="object 27" descr=""/>
          <p:cNvSpPr txBox="1"/>
          <p:nvPr/>
        </p:nvSpPr>
        <p:spPr>
          <a:xfrm>
            <a:off x="1942541" y="3958996"/>
            <a:ext cx="6014085" cy="227329"/>
          </a:xfrm>
          <a:prstGeom prst="rect">
            <a:avLst/>
          </a:prstGeom>
          <a:solidFill>
            <a:srgbClr val="FFC000"/>
          </a:solidFill>
        </p:spPr>
        <p:txBody>
          <a:bodyPr wrap="square" lIns="0" tIns="12700" rIns="0" bIns="0" rtlCol="0" vert="horz">
            <a:spAutoFit/>
          </a:bodyPr>
          <a:lstStyle/>
          <a:p>
            <a:pPr algn="ctr">
              <a:lnSpc>
                <a:spcPct val="100000"/>
              </a:lnSpc>
              <a:spcBef>
                <a:spcPts val="100"/>
              </a:spcBef>
            </a:pPr>
            <a:r>
              <a:rPr dirty="0" sz="1400">
                <a:solidFill>
                  <a:srgbClr val="FFFFFF"/>
                </a:solidFill>
                <a:latin typeface="SimSun"/>
                <a:cs typeface="SimSun"/>
              </a:rPr>
              <a:t>FDD</a:t>
            </a:r>
            <a:r>
              <a:rPr dirty="0" sz="1400" spc="-30">
                <a:solidFill>
                  <a:srgbClr val="FFFFFF"/>
                </a:solidFill>
                <a:latin typeface="SimSun"/>
                <a:cs typeface="SimSun"/>
              </a:rPr>
              <a:t> </a:t>
            </a:r>
            <a:r>
              <a:rPr dirty="0" sz="1400">
                <a:solidFill>
                  <a:srgbClr val="FFFFFF"/>
                </a:solidFill>
                <a:latin typeface="SimSun"/>
                <a:cs typeface="SimSun"/>
              </a:rPr>
              <a:t>GSM900</a:t>
            </a:r>
            <a:r>
              <a:rPr dirty="0" sz="1400" spc="-35">
                <a:solidFill>
                  <a:srgbClr val="FFFFFF"/>
                </a:solidFill>
                <a:latin typeface="SimSun"/>
                <a:cs typeface="SimSun"/>
              </a:rPr>
              <a:t> </a:t>
            </a:r>
            <a:r>
              <a:rPr dirty="0" sz="1400" spc="-10">
                <a:solidFill>
                  <a:srgbClr val="FFFFFF"/>
                </a:solidFill>
                <a:latin typeface="SimSun"/>
                <a:cs typeface="SimSun"/>
              </a:rPr>
              <a:t>eMTC，NB-</a:t>
            </a:r>
            <a:r>
              <a:rPr dirty="0" sz="1400" spc="-25">
                <a:solidFill>
                  <a:srgbClr val="FFFFFF"/>
                </a:solidFill>
                <a:latin typeface="SimSun"/>
                <a:cs typeface="SimSun"/>
              </a:rPr>
              <a:t>IOT</a:t>
            </a:r>
            <a:endParaRPr sz="1400">
              <a:latin typeface="SimSun"/>
              <a:cs typeface="SimSun"/>
            </a:endParaRPr>
          </a:p>
        </p:txBody>
      </p:sp>
      <p:sp>
        <p:nvSpPr>
          <p:cNvPr id="28" name="object 28" descr=""/>
          <p:cNvSpPr txBox="1"/>
          <p:nvPr/>
        </p:nvSpPr>
        <p:spPr>
          <a:xfrm>
            <a:off x="1951837" y="2097824"/>
            <a:ext cx="1884680" cy="288290"/>
          </a:xfrm>
          <a:prstGeom prst="rect">
            <a:avLst/>
          </a:prstGeom>
          <a:solidFill>
            <a:srgbClr val="92D050"/>
          </a:solidFill>
        </p:spPr>
        <p:txBody>
          <a:bodyPr wrap="square" lIns="0" tIns="43180" rIns="0" bIns="0" rtlCol="0" vert="horz">
            <a:spAutoFit/>
          </a:bodyPr>
          <a:lstStyle/>
          <a:p>
            <a:pPr marL="548640">
              <a:lnSpc>
                <a:spcPct val="100000"/>
              </a:lnSpc>
              <a:spcBef>
                <a:spcPts val="340"/>
              </a:spcBef>
            </a:pPr>
            <a:r>
              <a:rPr dirty="0" sz="1400">
                <a:solidFill>
                  <a:srgbClr val="FFFFFF"/>
                </a:solidFill>
                <a:latin typeface="SimSun"/>
                <a:cs typeface="SimSun"/>
              </a:rPr>
              <a:t>100MHz</a:t>
            </a:r>
            <a:r>
              <a:rPr dirty="0" sz="1400" spc="-60">
                <a:solidFill>
                  <a:srgbClr val="FFFFFF"/>
                </a:solidFill>
                <a:latin typeface="SimSun"/>
                <a:cs typeface="SimSun"/>
              </a:rPr>
              <a:t> </a:t>
            </a:r>
            <a:r>
              <a:rPr dirty="0" sz="1400" spc="-35">
                <a:solidFill>
                  <a:srgbClr val="FFFFFF"/>
                </a:solidFill>
                <a:latin typeface="SimSun"/>
                <a:cs typeface="SimSun"/>
              </a:rPr>
              <a:t>NR</a:t>
            </a:r>
            <a:endParaRPr sz="1400">
              <a:latin typeface="SimSun"/>
              <a:cs typeface="SimSun"/>
            </a:endParaRPr>
          </a:p>
        </p:txBody>
      </p:sp>
      <p:sp>
        <p:nvSpPr>
          <p:cNvPr id="29" name="object 29" descr=""/>
          <p:cNvSpPr/>
          <p:nvPr/>
        </p:nvSpPr>
        <p:spPr>
          <a:xfrm>
            <a:off x="5287632" y="2097824"/>
            <a:ext cx="124460" cy="277495"/>
          </a:xfrm>
          <a:custGeom>
            <a:avLst/>
            <a:gdLst/>
            <a:ahLst/>
            <a:cxnLst/>
            <a:rect l="l" t="t" r="r" b="b"/>
            <a:pathLst>
              <a:path w="124460" h="277494">
                <a:moveTo>
                  <a:pt x="124421" y="0"/>
                </a:moveTo>
                <a:lnTo>
                  <a:pt x="0" y="0"/>
                </a:lnTo>
                <a:lnTo>
                  <a:pt x="0" y="276999"/>
                </a:lnTo>
                <a:lnTo>
                  <a:pt x="124421" y="276999"/>
                </a:lnTo>
                <a:lnTo>
                  <a:pt x="124421" y="0"/>
                </a:lnTo>
                <a:close/>
              </a:path>
            </a:pathLst>
          </a:custGeom>
          <a:solidFill>
            <a:srgbClr val="92D050"/>
          </a:solidFill>
        </p:spPr>
        <p:txBody>
          <a:bodyPr wrap="square" lIns="0" tIns="0" rIns="0" bIns="0" rtlCol="0"/>
          <a:lstStyle/>
          <a:p/>
        </p:txBody>
      </p:sp>
      <p:grpSp>
        <p:nvGrpSpPr>
          <p:cNvPr id="30" name="object 30" descr=""/>
          <p:cNvGrpSpPr/>
          <p:nvPr/>
        </p:nvGrpSpPr>
        <p:grpSpPr>
          <a:xfrm>
            <a:off x="304800" y="4400550"/>
            <a:ext cx="8419465" cy="441959"/>
            <a:chOff x="304800" y="4400550"/>
            <a:chExt cx="8419465" cy="441959"/>
          </a:xfrm>
        </p:grpSpPr>
        <p:sp>
          <p:nvSpPr>
            <p:cNvPr id="31" name="object 31" descr=""/>
            <p:cNvSpPr/>
            <p:nvPr/>
          </p:nvSpPr>
          <p:spPr>
            <a:xfrm>
              <a:off x="304800" y="4400550"/>
              <a:ext cx="8419465" cy="441959"/>
            </a:xfrm>
            <a:custGeom>
              <a:avLst/>
              <a:gdLst/>
              <a:ahLst/>
              <a:cxnLst/>
              <a:rect l="l" t="t" r="r" b="b"/>
              <a:pathLst>
                <a:path w="8419465" h="441960">
                  <a:moveTo>
                    <a:pt x="8418982" y="0"/>
                  </a:moveTo>
                  <a:lnTo>
                    <a:pt x="0" y="0"/>
                  </a:lnTo>
                  <a:lnTo>
                    <a:pt x="0" y="441337"/>
                  </a:lnTo>
                  <a:lnTo>
                    <a:pt x="8418982" y="441337"/>
                  </a:lnTo>
                  <a:lnTo>
                    <a:pt x="8418982" y="0"/>
                  </a:lnTo>
                  <a:close/>
                </a:path>
              </a:pathLst>
            </a:custGeom>
            <a:solidFill>
              <a:srgbClr val="0070C0"/>
            </a:solidFill>
          </p:spPr>
          <p:txBody>
            <a:bodyPr wrap="square" lIns="0" tIns="0" rIns="0" bIns="0" rtlCol="0"/>
            <a:lstStyle/>
            <a:p/>
          </p:txBody>
        </p:sp>
        <p:pic>
          <p:nvPicPr>
            <p:cNvPr id="32" name="object 32" descr=""/>
            <p:cNvPicPr/>
            <p:nvPr/>
          </p:nvPicPr>
          <p:blipFill>
            <a:blip r:embed="rId7" cstate="print"/>
            <a:stretch>
              <a:fillRect/>
            </a:stretch>
          </p:blipFill>
          <p:spPr>
            <a:xfrm>
              <a:off x="1557527" y="4410455"/>
              <a:ext cx="539495" cy="378713"/>
            </a:xfrm>
            <a:prstGeom prst="rect">
              <a:avLst/>
            </a:prstGeom>
          </p:spPr>
        </p:pic>
        <p:pic>
          <p:nvPicPr>
            <p:cNvPr id="33" name="object 33" descr=""/>
            <p:cNvPicPr/>
            <p:nvPr/>
          </p:nvPicPr>
          <p:blipFill>
            <a:blip r:embed="rId8" cstate="print"/>
            <a:stretch>
              <a:fillRect/>
            </a:stretch>
          </p:blipFill>
          <p:spPr>
            <a:xfrm>
              <a:off x="1786127" y="4410455"/>
              <a:ext cx="2368295" cy="378713"/>
            </a:xfrm>
            <a:prstGeom prst="rect">
              <a:avLst/>
            </a:prstGeom>
          </p:spPr>
        </p:pic>
        <p:pic>
          <p:nvPicPr>
            <p:cNvPr id="34" name="object 34" descr=""/>
            <p:cNvPicPr/>
            <p:nvPr/>
          </p:nvPicPr>
          <p:blipFill>
            <a:blip r:embed="rId9" cstate="print"/>
            <a:stretch>
              <a:fillRect/>
            </a:stretch>
          </p:blipFill>
          <p:spPr>
            <a:xfrm>
              <a:off x="3843527" y="4410455"/>
              <a:ext cx="996695" cy="378713"/>
            </a:xfrm>
            <a:prstGeom prst="rect">
              <a:avLst/>
            </a:prstGeom>
          </p:spPr>
        </p:pic>
        <p:pic>
          <p:nvPicPr>
            <p:cNvPr id="35" name="object 35" descr=""/>
            <p:cNvPicPr/>
            <p:nvPr/>
          </p:nvPicPr>
          <p:blipFill>
            <a:blip r:embed="rId10" cstate="print"/>
            <a:stretch>
              <a:fillRect/>
            </a:stretch>
          </p:blipFill>
          <p:spPr>
            <a:xfrm>
              <a:off x="4529328" y="4410455"/>
              <a:ext cx="627113" cy="378713"/>
            </a:xfrm>
            <a:prstGeom prst="rect">
              <a:avLst/>
            </a:prstGeom>
          </p:spPr>
        </p:pic>
        <p:pic>
          <p:nvPicPr>
            <p:cNvPr id="36" name="object 36" descr=""/>
            <p:cNvPicPr/>
            <p:nvPr/>
          </p:nvPicPr>
          <p:blipFill>
            <a:blip r:embed="rId11" cstate="print"/>
            <a:stretch>
              <a:fillRect/>
            </a:stretch>
          </p:blipFill>
          <p:spPr>
            <a:xfrm>
              <a:off x="4845557" y="4410455"/>
              <a:ext cx="768095" cy="378713"/>
            </a:xfrm>
            <a:prstGeom prst="rect">
              <a:avLst/>
            </a:prstGeom>
          </p:spPr>
        </p:pic>
        <p:pic>
          <p:nvPicPr>
            <p:cNvPr id="37" name="object 37" descr=""/>
            <p:cNvPicPr/>
            <p:nvPr/>
          </p:nvPicPr>
          <p:blipFill>
            <a:blip r:embed="rId12" cstate="print"/>
            <a:stretch>
              <a:fillRect/>
            </a:stretch>
          </p:blipFill>
          <p:spPr>
            <a:xfrm>
              <a:off x="5302757" y="4410455"/>
              <a:ext cx="1050035" cy="378713"/>
            </a:xfrm>
            <a:prstGeom prst="rect">
              <a:avLst/>
            </a:prstGeom>
          </p:spPr>
        </p:pic>
        <p:pic>
          <p:nvPicPr>
            <p:cNvPr id="38" name="object 38" descr=""/>
            <p:cNvPicPr/>
            <p:nvPr/>
          </p:nvPicPr>
          <p:blipFill>
            <a:blip r:embed="rId13" cstate="print"/>
            <a:stretch>
              <a:fillRect/>
            </a:stretch>
          </p:blipFill>
          <p:spPr>
            <a:xfrm>
              <a:off x="6041897" y="4410455"/>
              <a:ext cx="1453895" cy="378713"/>
            </a:xfrm>
            <a:prstGeom prst="rect">
              <a:avLst/>
            </a:prstGeom>
          </p:spPr>
        </p:pic>
      </p:grpSp>
      <p:sp>
        <p:nvSpPr>
          <p:cNvPr id="39" name="object 39" descr=""/>
          <p:cNvSpPr txBox="1"/>
          <p:nvPr/>
        </p:nvSpPr>
        <p:spPr>
          <a:xfrm>
            <a:off x="304800" y="4400550"/>
            <a:ext cx="8419465" cy="441959"/>
          </a:xfrm>
          <a:prstGeom prst="rect">
            <a:avLst/>
          </a:prstGeom>
        </p:spPr>
        <p:txBody>
          <a:bodyPr wrap="square" lIns="0" tIns="74930" rIns="0" bIns="0" rtlCol="0" vert="horz">
            <a:spAutoFit/>
          </a:bodyPr>
          <a:lstStyle/>
          <a:p>
            <a:pPr algn="ctr">
              <a:lnSpc>
                <a:spcPct val="100000"/>
              </a:lnSpc>
              <a:spcBef>
                <a:spcPts val="590"/>
              </a:spcBef>
            </a:pPr>
            <a:r>
              <a:rPr dirty="0" sz="1800" spc="-5" b="1">
                <a:solidFill>
                  <a:srgbClr val="FFFFFF"/>
                </a:solidFill>
                <a:latin typeface="Microsoft YaHei"/>
                <a:cs typeface="Microsoft YaHei"/>
              </a:rPr>
              <a:t>以终为始制定网络演进目标，</a:t>
            </a:r>
            <a:r>
              <a:rPr dirty="0" sz="1800" spc="-10" b="1">
                <a:solidFill>
                  <a:srgbClr val="FFFFFF"/>
                </a:solidFill>
                <a:latin typeface="Microsoft YaHei"/>
                <a:cs typeface="Microsoft YaHei"/>
              </a:rPr>
              <a:t>2G薄网+</a:t>
            </a:r>
            <a:r>
              <a:rPr dirty="0" sz="1800" spc="-25" b="1">
                <a:solidFill>
                  <a:srgbClr val="FFFFFF"/>
                </a:solidFill>
                <a:latin typeface="Microsoft YaHei"/>
                <a:cs typeface="Microsoft YaHei"/>
              </a:rPr>
              <a:t>4/5G</a:t>
            </a:r>
            <a:r>
              <a:rPr dirty="0" sz="1800" spc="-10" b="1">
                <a:solidFill>
                  <a:srgbClr val="FFFFFF"/>
                </a:solidFill>
                <a:latin typeface="Microsoft YaHei"/>
                <a:cs typeface="Microsoft YaHei"/>
              </a:rPr>
              <a:t>广深厚兼得</a:t>
            </a:r>
            <a:endParaRPr sz="1800">
              <a:latin typeface="Microsoft YaHei"/>
              <a:cs typeface="Microsoft YaHei"/>
            </a:endParaRPr>
          </a:p>
        </p:txBody>
      </p:sp>
      <p:sp>
        <p:nvSpPr>
          <p:cNvPr id="40" name="object 40" descr=""/>
          <p:cNvSpPr/>
          <p:nvPr/>
        </p:nvSpPr>
        <p:spPr>
          <a:xfrm>
            <a:off x="6841972" y="3062046"/>
            <a:ext cx="152400" cy="227329"/>
          </a:xfrm>
          <a:custGeom>
            <a:avLst/>
            <a:gdLst/>
            <a:ahLst/>
            <a:cxnLst/>
            <a:rect l="l" t="t" r="r" b="b"/>
            <a:pathLst>
              <a:path w="152400" h="227329">
                <a:moveTo>
                  <a:pt x="152400" y="0"/>
                </a:moveTo>
                <a:lnTo>
                  <a:pt x="0" y="0"/>
                </a:lnTo>
                <a:lnTo>
                  <a:pt x="0" y="227050"/>
                </a:lnTo>
                <a:lnTo>
                  <a:pt x="152400" y="227050"/>
                </a:lnTo>
                <a:lnTo>
                  <a:pt x="152400" y="0"/>
                </a:lnTo>
                <a:close/>
              </a:path>
            </a:pathLst>
          </a:custGeom>
          <a:solidFill>
            <a:srgbClr val="00B0F0"/>
          </a:solidFill>
        </p:spPr>
        <p:txBody>
          <a:bodyPr wrap="square" lIns="0" tIns="0" rIns="0" bIns="0" rtlCol="0"/>
          <a:lstStyle/>
          <a:p/>
        </p:txBody>
      </p:sp>
      <p:sp>
        <p:nvSpPr>
          <p:cNvPr id="41" name="object 41" descr=""/>
          <p:cNvSpPr/>
          <p:nvPr/>
        </p:nvSpPr>
        <p:spPr>
          <a:xfrm>
            <a:off x="7184872" y="3062046"/>
            <a:ext cx="152400" cy="227329"/>
          </a:xfrm>
          <a:custGeom>
            <a:avLst/>
            <a:gdLst/>
            <a:ahLst/>
            <a:cxnLst/>
            <a:rect l="l" t="t" r="r" b="b"/>
            <a:pathLst>
              <a:path w="152400" h="227329">
                <a:moveTo>
                  <a:pt x="152400" y="0"/>
                </a:moveTo>
                <a:lnTo>
                  <a:pt x="0" y="0"/>
                </a:lnTo>
                <a:lnTo>
                  <a:pt x="0" y="227050"/>
                </a:lnTo>
                <a:lnTo>
                  <a:pt x="152400" y="227050"/>
                </a:lnTo>
                <a:lnTo>
                  <a:pt x="152400" y="0"/>
                </a:lnTo>
                <a:close/>
              </a:path>
            </a:pathLst>
          </a:custGeom>
          <a:solidFill>
            <a:srgbClr val="00B0F0"/>
          </a:solidFill>
        </p:spPr>
        <p:txBody>
          <a:bodyPr wrap="square" lIns="0" tIns="0" rIns="0" bIns="0" rtlCol="0"/>
          <a:lstStyle/>
          <a:p/>
        </p:txBody>
      </p:sp>
      <p:sp>
        <p:nvSpPr>
          <p:cNvPr id="42" name="object 42" descr=""/>
          <p:cNvSpPr/>
          <p:nvPr/>
        </p:nvSpPr>
        <p:spPr>
          <a:xfrm>
            <a:off x="7527772" y="3062046"/>
            <a:ext cx="152400" cy="227329"/>
          </a:xfrm>
          <a:custGeom>
            <a:avLst/>
            <a:gdLst/>
            <a:ahLst/>
            <a:cxnLst/>
            <a:rect l="l" t="t" r="r" b="b"/>
            <a:pathLst>
              <a:path w="152400" h="227329">
                <a:moveTo>
                  <a:pt x="152400" y="0"/>
                </a:moveTo>
                <a:lnTo>
                  <a:pt x="0" y="0"/>
                </a:lnTo>
                <a:lnTo>
                  <a:pt x="0" y="227050"/>
                </a:lnTo>
                <a:lnTo>
                  <a:pt x="152400" y="227050"/>
                </a:lnTo>
                <a:lnTo>
                  <a:pt x="152400" y="0"/>
                </a:lnTo>
                <a:close/>
              </a:path>
            </a:pathLst>
          </a:custGeom>
          <a:solidFill>
            <a:srgbClr val="00B0F0"/>
          </a:solidFill>
        </p:spPr>
        <p:txBody>
          <a:bodyPr wrap="square" lIns="0" tIns="0" rIns="0" bIns="0" rtlCol="0"/>
          <a:lstStyle/>
          <a:p/>
        </p:txBody>
      </p:sp>
      <p:sp>
        <p:nvSpPr>
          <p:cNvPr id="43" name="object 43" descr=""/>
          <p:cNvSpPr/>
          <p:nvPr/>
        </p:nvSpPr>
        <p:spPr>
          <a:xfrm>
            <a:off x="5630532" y="2097824"/>
            <a:ext cx="124460" cy="277495"/>
          </a:xfrm>
          <a:custGeom>
            <a:avLst/>
            <a:gdLst/>
            <a:ahLst/>
            <a:cxnLst/>
            <a:rect l="l" t="t" r="r" b="b"/>
            <a:pathLst>
              <a:path w="124460" h="277494">
                <a:moveTo>
                  <a:pt x="124421" y="0"/>
                </a:moveTo>
                <a:lnTo>
                  <a:pt x="0" y="0"/>
                </a:lnTo>
                <a:lnTo>
                  <a:pt x="0" y="276999"/>
                </a:lnTo>
                <a:lnTo>
                  <a:pt x="124421" y="276999"/>
                </a:lnTo>
                <a:lnTo>
                  <a:pt x="124421" y="0"/>
                </a:lnTo>
                <a:close/>
              </a:path>
            </a:pathLst>
          </a:custGeom>
          <a:solidFill>
            <a:srgbClr val="92D050"/>
          </a:solidFill>
        </p:spPr>
        <p:txBody>
          <a:bodyPr wrap="square" lIns="0" tIns="0" rIns="0" bIns="0" rtlCol="0"/>
          <a:lstStyle/>
          <a:p/>
        </p:txBody>
      </p:sp>
      <p:sp>
        <p:nvSpPr>
          <p:cNvPr id="44" name="object 44" descr=""/>
          <p:cNvSpPr/>
          <p:nvPr/>
        </p:nvSpPr>
        <p:spPr>
          <a:xfrm>
            <a:off x="5973432" y="2097824"/>
            <a:ext cx="124460" cy="277495"/>
          </a:xfrm>
          <a:custGeom>
            <a:avLst/>
            <a:gdLst/>
            <a:ahLst/>
            <a:cxnLst/>
            <a:rect l="l" t="t" r="r" b="b"/>
            <a:pathLst>
              <a:path w="124460" h="277494">
                <a:moveTo>
                  <a:pt x="124421" y="0"/>
                </a:moveTo>
                <a:lnTo>
                  <a:pt x="0" y="0"/>
                </a:lnTo>
                <a:lnTo>
                  <a:pt x="0" y="276999"/>
                </a:lnTo>
                <a:lnTo>
                  <a:pt x="124421" y="276999"/>
                </a:lnTo>
                <a:lnTo>
                  <a:pt x="124421" y="0"/>
                </a:lnTo>
                <a:close/>
              </a:path>
            </a:pathLst>
          </a:custGeom>
          <a:solidFill>
            <a:srgbClr val="92D050"/>
          </a:solidFill>
        </p:spPr>
        <p:txBody>
          <a:bodyPr wrap="square" lIns="0" tIns="0" rIns="0" bIns="0" rtlCol="0"/>
          <a:lstStyle/>
          <a:p/>
        </p:txBody>
      </p:sp>
      <p:sp>
        <p:nvSpPr>
          <p:cNvPr id="45" name="object 45" descr=""/>
          <p:cNvSpPr/>
          <p:nvPr/>
        </p:nvSpPr>
        <p:spPr>
          <a:xfrm>
            <a:off x="6316332" y="2097824"/>
            <a:ext cx="124460" cy="277495"/>
          </a:xfrm>
          <a:custGeom>
            <a:avLst/>
            <a:gdLst/>
            <a:ahLst/>
            <a:cxnLst/>
            <a:rect l="l" t="t" r="r" b="b"/>
            <a:pathLst>
              <a:path w="124460" h="277494">
                <a:moveTo>
                  <a:pt x="124421" y="0"/>
                </a:moveTo>
                <a:lnTo>
                  <a:pt x="0" y="0"/>
                </a:lnTo>
                <a:lnTo>
                  <a:pt x="0" y="276999"/>
                </a:lnTo>
                <a:lnTo>
                  <a:pt x="124421" y="276999"/>
                </a:lnTo>
                <a:lnTo>
                  <a:pt x="124421" y="0"/>
                </a:lnTo>
                <a:close/>
              </a:path>
            </a:pathLst>
          </a:custGeom>
          <a:solidFill>
            <a:srgbClr val="92D050"/>
          </a:solidFill>
        </p:spPr>
        <p:txBody>
          <a:bodyPr wrap="square" lIns="0" tIns="0" rIns="0" bIns="0" rtlCol="0"/>
          <a:lstStyle/>
          <a:p/>
        </p:txBody>
      </p:sp>
      <p:sp>
        <p:nvSpPr>
          <p:cNvPr id="46" name="object 46" descr=""/>
          <p:cNvSpPr/>
          <p:nvPr/>
        </p:nvSpPr>
        <p:spPr>
          <a:xfrm>
            <a:off x="6659232" y="2097824"/>
            <a:ext cx="124460" cy="277495"/>
          </a:xfrm>
          <a:custGeom>
            <a:avLst/>
            <a:gdLst/>
            <a:ahLst/>
            <a:cxnLst/>
            <a:rect l="l" t="t" r="r" b="b"/>
            <a:pathLst>
              <a:path w="124459" h="277494">
                <a:moveTo>
                  <a:pt x="124421" y="0"/>
                </a:moveTo>
                <a:lnTo>
                  <a:pt x="0" y="0"/>
                </a:lnTo>
                <a:lnTo>
                  <a:pt x="0" y="276999"/>
                </a:lnTo>
                <a:lnTo>
                  <a:pt x="124421" y="276999"/>
                </a:lnTo>
                <a:lnTo>
                  <a:pt x="124421" y="0"/>
                </a:lnTo>
                <a:close/>
              </a:path>
            </a:pathLst>
          </a:custGeom>
          <a:solidFill>
            <a:srgbClr val="92D050"/>
          </a:solidFill>
        </p:spPr>
        <p:txBody>
          <a:bodyPr wrap="square" lIns="0" tIns="0" rIns="0" bIns="0" rtlCol="0"/>
          <a:lstStyle/>
          <a:p/>
        </p:txBody>
      </p:sp>
      <p:sp>
        <p:nvSpPr>
          <p:cNvPr id="47" name="object 47" descr=""/>
          <p:cNvSpPr/>
          <p:nvPr/>
        </p:nvSpPr>
        <p:spPr>
          <a:xfrm>
            <a:off x="7002132" y="2097824"/>
            <a:ext cx="124460" cy="277495"/>
          </a:xfrm>
          <a:custGeom>
            <a:avLst/>
            <a:gdLst/>
            <a:ahLst/>
            <a:cxnLst/>
            <a:rect l="l" t="t" r="r" b="b"/>
            <a:pathLst>
              <a:path w="124459" h="277494">
                <a:moveTo>
                  <a:pt x="124421" y="0"/>
                </a:moveTo>
                <a:lnTo>
                  <a:pt x="0" y="0"/>
                </a:lnTo>
                <a:lnTo>
                  <a:pt x="0" y="276999"/>
                </a:lnTo>
                <a:lnTo>
                  <a:pt x="124421" y="276999"/>
                </a:lnTo>
                <a:lnTo>
                  <a:pt x="124421" y="0"/>
                </a:lnTo>
                <a:close/>
              </a:path>
            </a:pathLst>
          </a:custGeom>
          <a:solidFill>
            <a:srgbClr val="92D050"/>
          </a:solidFill>
        </p:spPr>
        <p:txBody>
          <a:bodyPr wrap="square" lIns="0" tIns="0" rIns="0" bIns="0" rtlCol="0"/>
          <a:lstStyle/>
          <a:p/>
        </p:txBody>
      </p:sp>
      <p:sp>
        <p:nvSpPr>
          <p:cNvPr id="48" name="object 48" descr=""/>
          <p:cNvSpPr/>
          <p:nvPr/>
        </p:nvSpPr>
        <p:spPr>
          <a:xfrm>
            <a:off x="7345032" y="2097824"/>
            <a:ext cx="124460" cy="277495"/>
          </a:xfrm>
          <a:custGeom>
            <a:avLst/>
            <a:gdLst/>
            <a:ahLst/>
            <a:cxnLst/>
            <a:rect l="l" t="t" r="r" b="b"/>
            <a:pathLst>
              <a:path w="124459" h="277494">
                <a:moveTo>
                  <a:pt x="124421" y="0"/>
                </a:moveTo>
                <a:lnTo>
                  <a:pt x="0" y="0"/>
                </a:lnTo>
                <a:lnTo>
                  <a:pt x="0" y="276999"/>
                </a:lnTo>
                <a:lnTo>
                  <a:pt x="124421" y="276999"/>
                </a:lnTo>
                <a:lnTo>
                  <a:pt x="124421" y="0"/>
                </a:lnTo>
                <a:close/>
              </a:path>
            </a:pathLst>
          </a:custGeom>
          <a:solidFill>
            <a:srgbClr val="92D050"/>
          </a:solidFill>
        </p:spPr>
        <p:txBody>
          <a:bodyPr wrap="square" lIns="0" tIns="0" rIns="0" bIns="0" rtlCol="0"/>
          <a:lstStyle/>
          <a:p/>
        </p:txBody>
      </p:sp>
      <p:sp>
        <p:nvSpPr>
          <p:cNvPr id="49" name="object 49" descr=""/>
          <p:cNvSpPr/>
          <p:nvPr/>
        </p:nvSpPr>
        <p:spPr>
          <a:xfrm>
            <a:off x="7687932" y="2097824"/>
            <a:ext cx="124460" cy="277495"/>
          </a:xfrm>
          <a:custGeom>
            <a:avLst/>
            <a:gdLst/>
            <a:ahLst/>
            <a:cxnLst/>
            <a:rect l="l" t="t" r="r" b="b"/>
            <a:pathLst>
              <a:path w="124459" h="277494">
                <a:moveTo>
                  <a:pt x="124421" y="0"/>
                </a:moveTo>
                <a:lnTo>
                  <a:pt x="0" y="0"/>
                </a:lnTo>
                <a:lnTo>
                  <a:pt x="0" y="276999"/>
                </a:lnTo>
                <a:lnTo>
                  <a:pt x="124421" y="276999"/>
                </a:lnTo>
                <a:lnTo>
                  <a:pt x="124421" y="0"/>
                </a:lnTo>
                <a:close/>
              </a:path>
            </a:pathLst>
          </a:custGeom>
          <a:solidFill>
            <a:srgbClr val="92D050"/>
          </a:solidFill>
        </p:spPr>
        <p:txBody>
          <a:bodyPr wrap="square" lIns="0" tIns="0" rIns="0" bIns="0" rtlCol="0"/>
          <a:lstStyle/>
          <a:p/>
        </p:txBody>
      </p:sp>
      <p:sp>
        <p:nvSpPr>
          <p:cNvPr id="50" name="object 50" descr=""/>
          <p:cNvSpPr txBox="1"/>
          <p:nvPr/>
        </p:nvSpPr>
        <p:spPr>
          <a:xfrm>
            <a:off x="1951837" y="1665770"/>
            <a:ext cx="1900555" cy="288290"/>
          </a:xfrm>
          <a:prstGeom prst="rect">
            <a:avLst/>
          </a:prstGeom>
          <a:solidFill>
            <a:srgbClr val="00B050"/>
          </a:solidFill>
        </p:spPr>
        <p:txBody>
          <a:bodyPr wrap="square" lIns="0" tIns="43180" rIns="0" bIns="0" rtlCol="0" vert="horz">
            <a:spAutoFit/>
          </a:bodyPr>
          <a:lstStyle/>
          <a:p>
            <a:pPr marL="548640">
              <a:lnSpc>
                <a:spcPct val="100000"/>
              </a:lnSpc>
              <a:spcBef>
                <a:spcPts val="340"/>
              </a:spcBef>
            </a:pPr>
            <a:r>
              <a:rPr dirty="0" sz="1400">
                <a:solidFill>
                  <a:srgbClr val="FFFFFF"/>
                </a:solidFill>
                <a:latin typeface="SimSun"/>
                <a:cs typeface="SimSun"/>
              </a:rPr>
              <a:t>NR</a:t>
            </a:r>
            <a:r>
              <a:rPr dirty="0" sz="1400" spc="-25">
                <a:solidFill>
                  <a:srgbClr val="FFFFFF"/>
                </a:solidFill>
                <a:latin typeface="SimSun"/>
                <a:cs typeface="SimSun"/>
              </a:rPr>
              <a:t> </a:t>
            </a:r>
            <a:r>
              <a:rPr dirty="0" sz="1400" spc="-10">
                <a:solidFill>
                  <a:srgbClr val="FFFFFF"/>
                </a:solidFill>
                <a:latin typeface="SimSun"/>
                <a:cs typeface="SimSun"/>
              </a:rPr>
              <a:t>100MHz</a:t>
            </a:r>
            <a:endParaRPr sz="1400">
              <a:latin typeface="SimSun"/>
              <a:cs typeface="SimSun"/>
            </a:endParaRPr>
          </a:p>
        </p:txBody>
      </p:sp>
      <p:sp>
        <p:nvSpPr>
          <p:cNvPr id="51" name="object 51" descr=""/>
          <p:cNvSpPr txBox="1"/>
          <p:nvPr/>
        </p:nvSpPr>
        <p:spPr>
          <a:xfrm>
            <a:off x="477451" y="1707539"/>
            <a:ext cx="68834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FF0000"/>
                </a:solidFill>
                <a:latin typeface="Arial"/>
                <a:cs typeface="Arial"/>
              </a:rPr>
              <a:t>5G</a:t>
            </a:r>
            <a:r>
              <a:rPr dirty="0" sz="1200" spc="-20">
                <a:solidFill>
                  <a:srgbClr val="FF0000"/>
                </a:solidFill>
                <a:latin typeface="SimSun"/>
                <a:cs typeface="SimSun"/>
              </a:rPr>
              <a:t>容量层</a:t>
            </a:r>
            <a:endParaRPr sz="1200">
              <a:latin typeface="SimSun"/>
              <a:cs typeface="SimSun"/>
            </a:endParaRPr>
          </a:p>
        </p:txBody>
      </p:sp>
      <p:sp>
        <p:nvSpPr>
          <p:cNvPr id="52" name="object 52" descr=""/>
          <p:cNvSpPr txBox="1"/>
          <p:nvPr/>
        </p:nvSpPr>
        <p:spPr>
          <a:xfrm>
            <a:off x="477451" y="2139593"/>
            <a:ext cx="68834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FF0000"/>
                </a:solidFill>
                <a:latin typeface="Arial"/>
                <a:cs typeface="Arial"/>
              </a:rPr>
              <a:t>5G</a:t>
            </a:r>
            <a:r>
              <a:rPr dirty="0" sz="1200" spc="-20">
                <a:solidFill>
                  <a:srgbClr val="FF0000"/>
                </a:solidFill>
                <a:latin typeface="SimSun"/>
                <a:cs typeface="SimSun"/>
              </a:rPr>
              <a:t>覆盖层</a:t>
            </a:r>
            <a:endParaRPr sz="1200">
              <a:latin typeface="SimSun"/>
              <a:cs typeface="SimSun"/>
            </a:endParaRPr>
          </a:p>
        </p:txBody>
      </p:sp>
      <p:sp>
        <p:nvSpPr>
          <p:cNvPr id="53" name="object 53" descr=""/>
          <p:cNvSpPr txBox="1"/>
          <p:nvPr/>
        </p:nvSpPr>
        <p:spPr>
          <a:xfrm>
            <a:off x="3836390" y="2097824"/>
            <a:ext cx="1311910" cy="288290"/>
          </a:xfrm>
          <a:prstGeom prst="rect">
            <a:avLst/>
          </a:prstGeom>
          <a:solidFill>
            <a:srgbClr val="00B050"/>
          </a:solidFill>
        </p:spPr>
        <p:txBody>
          <a:bodyPr wrap="square" lIns="0" tIns="43180" rIns="0" bIns="0" rtlCol="0" vert="horz">
            <a:spAutoFit/>
          </a:bodyPr>
          <a:lstStyle/>
          <a:p>
            <a:pPr marL="254000">
              <a:lnSpc>
                <a:spcPct val="100000"/>
              </a:lnSpc>
              <a:spcBef>
                <a:spcPts val="340"/>
              </a:spcBef>
            </a:pPr>
            <a:r>
              <a:rPr dirty="0" sz="1400">
                <a:solidFill>
                  <a:srgbClr val="FFFFFF"/>
                </a:solidFill>
                <a:latin typeface="SimSun"/>
                <a:cs typeface="SimSun"/>
              </a:rPr>
              <a:t>60MHz</a:t>
            </a:r>
            <a:r>
              <a:rPr dirty="0" sz="1400" spc="-50">
                <a:solidFill>
                  <a:srgbClr val="FFFFFF"/>
                </a:solidFill>
                <a:latin typeface="SimSun"/>
                <a:cs typeface="SimSun"/>
              </a:rPr>
              <a:t> </a:t>
            </a:r>
            <a:r>
              <a:rPr dirty="0" sz="1400" spc="-25">
                <a:solidFill>
                  <a:srgbClr val="FFFFFF"/>
                </a:solidFill>
                <a:latin typeface="SimSun"/>
                <a:cs typeface="SimSun"/>
              </a:rPr>
              <a:t>LTE</a:t>
            </a:r>
            <a:endParaRPr sz="1400">
              <a:latin typeface="SimSun"/>
              <a:cs typeface="SimSun"/>
            </a:endParaRPr>
          </a:p>
        </p:txBody>
      </p:sp>
      <p:sp>
        <p:nvSpPr>
          <p:cNvPr id="54" name="object 54" descr=""/>
          <p:cNvSpPr txBox="1"/>
          <p:nvPr/>
        </p:nvSpPr>
        <p:spPr>
          <a:xfrm>
            <a:off x="1942541" y="3424809"/>
            <a:ext cx="3997960" cy="227329"/>
          </a:xfrm>
          <a:prstGeom prst="rect">
            <a:avLst/>
          </a:prstGeom>
          <a:solidFill>
            <a:srgbClr val="00B0F0"/>
          </a:solidFill>
        </p:spPr>
        <p:txBody>
          <a:bodyPr wrap="square" lIns="0" tIns="12700" rIns="0" bIns="0" rtlCol="0" vert="horz">
            <a:spAutoFit/>
          </a:bodyPr>
          <a:lstStyle/>
          <a:p>
            <a:pPr algn="ctr">
              <a:lnSpc>
                <a:spcPct val="100000"/>
              </a:lnSpc>
              <a:spcBef>
                <a:spcPts val="100"/>
              </a:spcBef>
            </a:pPr>
            <a:r>
              <a:rPr dirty="0" sz="1400">
                <a:solidFill>
                  <a:srgbClr val="FFFFFF"/>
                </a:solidFill>
                <a:latin typeface="SimSun"/>
                <a:cs typeface="SimSun"/>
              </a:rPr>
              <a:t>FDD</a:t>
            </a:r>
            <a:r>
              <a:rPr dirty="0" sz="1400" spc="-35">
                <a:solidFill>
                  <a:srgbClr val="FFFFFF"/>
                </a:solidFill>
                <a:latin typeface="SimSun"/>
                <a:cs typeface="SimSun"/>
              </a:rPr>
              <a:t> </a:t>
            </a:r>
            <a:r>
              <a:rPr dirty="0" sz="1400" spc="-10">
                <a:solidFill>
                  <a:srgbClr val="FFFFFF"/>
                </a:solidFill>
                <a:latin typeface="SimSun"/>
                <a:cs typeface="SimSun"/>
              </a:rPr>
              <a:t>2*25MHz</a:t>
            </a:r>
            <a:endParaRPr sz="1400">
              <a:latin typeface="SimSun"/>
              <a:cs typeface="SimSun"/>
            </a:endParaRPr>
          </a:p>
        </p:txBody>
      </p:sp>
      <p:sp>
        <p:nvSpPr>
          <p:cNvPr id="55" name="object 55" descr=""/>
          <p:cNvSpPr/>
          <p:nvPr/>
        </p:nvSpPr>
        <p:spPr>
          <a:xfrm>
            <a:off x="6156172" y="3424809"/>
            <a:ext cx="152400" cy="227329"/>
          </a:xfrm>
          <a:custGeom>
            <a:avLst/>
            <a:gdLst/>
            <a:ahLst/>
            <a:cxnLst/>
            <a:rect l="l" t="t" r="r" b="b"/>
            <a:pathLst>
              <a:path w="152400" h="227329">
                <a:moveTo>
                  <a:pt x="152400" y="0"/>
                </a:moveTo>
                <a:lnTo>
                  <a:pt x="0" y="0"/>
                </a:lnTo>
                <a:lnTo>
                  <a:pt x="0" y="227063"/>
                </a:lnTo>
                <a:lnTo>
                  <a:pt x="152400" y="227063"/>
                </a:lnTo>
                <a:lnTo>
                  <a:pt x="152400" y="0"/>
                </a:lnTo>
                <a:close/>
              </a:path>
            </a:pathLst>
          </a:custGeom>
          <a:solidFill>
            <a:srgbClr val="00B0F0"/>
          </a:solidFill>
        </p:spPr>
        <p:txBody>
          <a:bodyPr wrap="square" lIns="0" tIns="0" rIns="0" bIns="0" rtlCol="0"/>
          <a:lstStyle/>
          <a:p/>
        </p:txBody>
      </p:sp>
      <p:sp>
        <p:nvSpPr>
          <p:cNvPr id="56" name="object 56" descr=""/>
          <p:cNvSpPr/>
          <p:nvPr/>
        </p:nvSpPr>
        <p:spPr>
          <a:xfrm>
            <a:off x="6499072" y="3424809"/>
            <a:ext cx="152400" cy="227329"/>
          </a:xfrm>
          <a:custGeom>
            <a:avLst/>
            <a:gdLst/>
            <a:ahLst/>
            <a:cxnLst/>
            <a:rect l="l" t="t" r="r" b="b"/>
            <a:pathLst>
              <a:path w="152400" h="227329">
                <a:moveTo>
                  <a:pt x="152400" y="0"/>
                </a:moveTo>
                <a:lnTo>
                  <a:pt x="0" y="0"/>
                </a:lnTo>
                <a:lnTo>
                  <a:pt x="0" y="227063"/>
                </a:lnTo>
                <a:lnTo>
                  <a:pt x="152400" y="227063"/>
                </a:lnTo>
                <a:lnTo>
                  <a:pt x="152400" y="0"/>
                </a:lnTo>
                <a:close/>
              </a:path>
            </a:pathLst>
          </a:custGeom>
          <a:solidFill>
            <a:srgbClr val="00B0F0"/>
          </a:solidFill>
        </p:spPr>
        <p:txBody>
          <a:bodyPr wrap="square" lIns="0" tIns="0" rIns="0" bIns="0" rtlCol="0"/>
          <a:lstStyle/>
          <a:p/>
        </p:txBody>
      </p:sp>
      <p:sp>
        <p:nvSpPr>
          <p:cNvPr id="57" name="object 57" descr=""/>
          <p:cNvSpPr/>
          <p:nvPr/>
        </p:nvSpPr>
        <p:spPr>
          <a:xfrm>
            <a:off x="6841972" y="3424809"/>
            <a:ext cx="152400" cy="227329"/>
          </a:xfrm>
          <a:custGeom>
            <a:avLst/>
            <a:gdLst/>
            <a:ahLst/>
            <a:cxnLst/>
            <a:rect l="l" t="t" r="r" b="b"/>
            <a:pathLst>
              <a:path w="152400" h="227329">
                <a:moveTo>
                  <a:pt x="152400" y="0"/>
                </a:moveTo>
                <a:lnTo>
                  <a:pt x="0" y="0"/>
                </a:lnTo>
                <a:lnTo>
                  <a:pt x="0" y="227063"/>
                </a:lnTo>
                <a:lnTo>
                  <a:pt x="152400" y="227063"/>
                </a:lnTo>
                <a:lnTo>
                  <a:pt x="152400" y="0"/>
                </a:lnTo>
                <a:close/>
              </a:path>
            </a:pathLst>
          </a:custGeom>
          <a:solidFill>
            <a:srgbClr val="00B0F0"/>
          </a:solidFill>
        </p:spPr>
        <p:txBody>
          <a:bodyPr wrap="square" lIns="0" tIns="0" rIns="0" bIns="0" rtlCol="0"/>
          <a:lstStyle/>
          <a:p/>
        </p:txBody>
      </p:sp>
      <p:sp>
        <p:nvSpPr>
          <p:cNvPr id="58" name="object 58" descr=""/>
          <p:cNvSpPr/>
          <p:nvPr/>
        </p:nvSpPr>
        <p:spPr>
          <a:xfrm>
            <a:off x="7184872" y="3424809"/>
            <a:ext cx="152400" cy="227329"/>
          </a:xfrm>
          <a:custGeom>
            <a:avLst/>
            <a:gdLst/>
            <a:ahLst/>
            <a:cxnLst/>
            <a:rect l="l" t="t" r="r" b="b"/>
            <a:pathLst>
              <a:path w="152400" h="227329">
                <a:moveTo>
                  <a:pt x="152400" y="0"/>
                </a:moveTo>
                <a:lnTo>
                  <a:pt x="0" y="0"/>
                </a:lnTo>
                <a:lnTo>
                  <a:pt x="0" y="227063"/>
                </a:lnTo>
                <a:lnTo>
                  <a:pt x="152400" y="227063"/>
                </a:lnTo>
                <a:lnTo>
                  <a:pt x="152400" y="0"/>
                </a:lnTo>
                <a:close/>
              </a:path>
            </a:pathLst>
          </a:custGeom>
          <a:solidFill>
            <a:srgbClr val="00B0F0"/>
          </a:solidFill>
        </p:spPr>
        <p:txBody>
          <a:bodyPr wrap="square" lIns="0" tIns="0" rIns="0" bIns="0" rtlCol="0"/>
          <a:lstStyle/>
          <a:p/>
        </p:txBody>
      </p:sp>
      <p:sp>
        <p:nvSpPr>
          <p:cNvPr id="59" name="object 59" descr=""/>
          <p:cNvSpPr/>
          <p:nvPr/>
        </p:nvSpPr>
        <p:spPr>
          <a:xfrm>
            <a:off x="7527772" y="3424809"/>
            <a:ext cx="152400" cy="227329"/>
          </a:xfrm>
          <a:custGeom>
            <a:avLst/>
            <a:gdLst/>
            <a:ahLst/>
            <a:cxnLst/>
            <a:rect l="l" t="t" r="r" b="b"/>
            <a:pathLst>
              <a:path w="152400" h="227329">
                <a:moveTo>
                  <a:pt x="152400" y="0"/>
                </a:moveTo>
                <a:lnTo>
                  <a:pt x="0" y="0"/>
                </a:lnTo>
                <a:lnTo>
                  <a:pt x="0" y="227063"/>
                </a:lnTo>
                <a:lnTo>
                  <a:pt x="152400" y="227063"/>
                </a:lnTo>
                <a:lnTo>
                  <a:pt x="152400" y="0"/>
                </a:lnTo>
                <a:close/>
              </a:path>
            </a:pathLst>
          </a:custGeom>
          <a:solidFill>
            <a:srgbClr val="00B0F0"/>
          </a:solidFill>
        </p:spPr>
        <p:txBody>
          <a:bodyPr wrap="square" lIns="0" tIns="0" rIns="0" bIns="0" rtlCol="0"/>
          <a:lstStyle/>
          <a:p/>
        </p:txBody>
      </p:sp>
      <p:sp>
        <p:nvSpPr>
          <p:cNvPr id="60" name="object 60" descr=""/>
          <p:cNvSpPr txBox="1"/>
          <p:nvPr/>
        </p:nvSpPr>
        <p:spPr>
          <a:xfrm>
            <a:off x="1275416" y="3392948"/>
            <a:ext cx="408940" cy="208279"/>
          </a:xfrm>
          <a:prstGeom prst="rect">
            <a:avLst/>
          </a:prstGeom>
        </p:spPr>
        <p:txBody>
          <a:bodyPr wrap="square" lIns="0" tIns="12700" rIns="0" bIns="0" rtlCol="0" vert="horz">
            <a:spAutoFit/>
          </a:bodyPr>
          <a:lstStyle/>
          <a:p>
            <a:pPr marL="12700">
              <a:lnSpc>
                <a:spcPct val="100000"/>
              </a:lnSpc>
              <a:spcBef>
                <a:spcPts val="100"/>
              </a:spcBef>
            </a:pPr>
            <a:r>
              <a:rPr dirty="0" sz="1200" spc="-20">
                <a:latin typeface="SimSun"/>
                <a:cs typeface="SimSun"/>
              </a:rPr>
              <a:t>1800M</a:t>
            </a:r>
            <a:endParaRPr sz="1200">
              <a:latin typeface="SimSun"/>
              <a:cs typeface="SimSun"/>
            </a:endParaRPr>
          </a:p>
        </p:txBody>
      </p:sp>
      <p:sp>
        <p:nvSpPr>
          <p:cNvPr id="61" name="object 61" descr=""/>
          <p:cNvSpPr txBox="1"/>
          <p:nvPr/>
        </p:nvSpPr>
        <p:spPr>
          <a:xfrm>
            <a:off x="1275416" y="2681893"/>
            <a:ext cx="408940" cy="576580"/>
          </a:xfrm>
          <a:prstGeom prst="rect">
            <a:avLst/>
          </a:prstGeom>
        </p:spPr>
        <p:txBody>
          <a:bodyPr wrap="square" lIns="0" tIns="12700" rIns="0" bIns="0" rtlCol="0" vert="horz">
            <a:spAutoFit/>
          </a:bodyPr>
          <a:lstStyle/>
          <a:p>
            <a:pPr marL="12700" marR="5080">
              <a:lnSpc>
                <a:spcPct val="150600"/>
              </a:lnSpc>
              <a:spcBef>
                <a:spcPts val="100"/>
              </a:spcBef>
            </a:pPr>
            <a:r>
              <a:rPr dirty="0" sz="1200">
                <a:latin typeface="SimSun"/>
                <a:cs typeface="SimSun"/>
              </a:rPr>
              <a:t>F</a:t>
            </a:r>
            <a:r>
              <a:rPr dirty="0" sz="1200" spc="-25">
                <a:latin typeface="SimSun"/>
                <a:cs typeface="SimSun"/>
              </a:rPr>
              <a:t>频段</a:t>
            </a:r>
            <a:r>
              <a:rPr dirty="0" sz="1200" spc="-50">
                <a:latin typeface="SimSun"/>
                <a:cs typeface="SimSun"/>
              </a:rPr>
              <a:t> </a:t>
            </a:r>
            <a:r>
              <a:rPr dirty="0" sz="1200">
                <a:latin typeface="SimSun"/>
                <a:cs typeface="SimSun"/>
              </a:rPr>
              <a:t>A</a:t>
            </a:r>
            <a:r>
              <a:rPr dirty="0" sz="1200" spc="-25">
                <a:latin typeface="SimSun"/>
                <a:cs typeface="SimSun"/>
              </a:rPr>
              <a:t>频段</a:t>
            </a:r>
            <a:endParaRPr sz="1200">
              <a:latin typeface="SimSun"/>
              <a:cs typeface="SimSun"/>
            </a:endParaRPr>
          </a:p>
        </p:txBody>
      </p:sp>
      <p:sp>
        <p:nvSpPr>
          <p:cNvPr id="62" name="object 62" descr=""/>
          <p:cNvSpPr txBox="1"/>
          <p:nvPr/>
        </p:nvSpPr>
        <p:spPr>
          <a:xfrm>
            <a:off x="1275416" y="2134734"/>
            <a:ext cx="333375" cy="208279"/>
          </a:xfrm>
          <a:prstGeom prst="rect">
            <a:avLst/>
          </a:prstGeom>
        </p:spPr>
        <p:txBody>
          <a:bodyPr wrap="square" lIns="0" tIns="12700" rIns="0" bIns="0" rtlCol="0" vert="horz">
            <a:spAutoFit/>
          </a:bodyPr>
          <a:lstStyle/>
          <a:p>
            <a:pPr marL="12700">
              <a:lnSpc>
                <a:spcPct val="100000"/>
              </a:lnSpc>
              <a:spcBef>
                <a:spcPts val="100"/>
              </a:spcBef>
            </a:pPr>
            <a:r>
              <a:rPr dirty="0" sz="1200" spc="-20">
                <a:latin typeface="SimSun"/>
                <a:cs typeface="SimSun"/>
              </a:rPr>
              <a:t>2.6G</a:t>
            </a:r>
            <a:endParaRPr sz="1200">
              <a:latin typeface="SimSun"/>
              <a:cs typeface="SimSun"/>
            </a:endParaRPr>
          </a:p>
        </p:txBody>
      </p:sp>
      <p:sp>
        <p:nvSpPr>
          <p:cNvPr id="63" name="object 63" descr=""/>
          <p:cNvSpPr txBox="1"/>
          <p:nvPr/>
        </p:nvSpPr>
        <p:spPr>
          <a:xfrm>
            <a:off x="1275416" y="1703296"/>
            <a:ext cx="333375" cy="208279"/>
          </a:xfrm>
          <a:prstGeom prst="rect">
            <a:avLst/>
          </a:prstGeom>
        </p:spPr>
        <p:txBody>
          <a:bodyPr wrap="square" lIns="0" tIns="12700" rIns="0" bIns="0" rtlCol="0" vert="horz">
            <a:spAutoFit/>
          </a:bodyPr>
          <a:lstStyle/>
          <a:p>
            <a:pPr marL="12700">
              <a:lnSpc>
                <a:spcPct val="100000"/>
              </a:lnSpc>
              <a:spcBef>
                <a:spcPts val="100"/>
              </a:spcBef>
            </a:pPr>
            <a:r>
              <a:rPr dirty="0" sz="1200" spc="-20">
                <a:latin typeface="SimSun"/>
                <a:cs typeface="SimSun"/>
              </a:rPr>
              <a:t>4.9G</a:t>
            </a:r>
            <a:endParaRPr sz="1200">
              <a:latin typeface="SimSun"/>
              <a:cs typeface="SimSun"/>
            </a:endParaRPr>
          </a:p>
        </p:txBody>
      </p:sp>
      <p:sp>
        <p:nvSpPr>
          <p:cNvPr id="64" name="object 64" descr=""/>
          <p:cNvSpPr txBox="1"/>
          <p:nvPr/>
        </p:nvSpPr>
        <p:spPr>
          <a:xfrm>
            <a:off x="402267" y="3761978"/>
            <a:ext cx="636270" cy="391160"/>
          </a:xfrm>
          <a:prstGeom prst="rect">
            <a:avLst/>
          </a:prstGeom>
        </p:spPr>
        <p:txBody>
          <a:bodyPr wrap="square" lIns="0" tIns="12700" rIns="0" bIns="0" rtlCol="0" vert="horz">
            <a:spAutoFit/>
          </a:bodyPr>
          <a:lstStyle/>
          <a:p>
            <a:pPr marL="12700" marR="5080">
              <a:lnSpc>
                <a:spcPct val="100000"/>
              </a:lnSpc>
              <a:spcBef>
                <a:spcPts val="100"/>
              </a:spcBef>
            </a:pPr>
            <a:r>
              <a:rPr dirty="0" sz="1200">
                <a:latin typeface="SimSun"/>
                <a:cs typeface="SimSun"/>
              </a:rPr>
              <a:t>GSM</a:t>
            </a:r>
            <a:r>
              <a:rPr dirty="0" sz="1200" spc="-65">
                <a:latin typeface="SimSun"/>
                <a:cs typeface="SimSun"/>
              </a:rPr>
              <a:t> 薄网</a:t>
            </a:r>
            <a:r>
              <a:rPr dirty="0" sz="1200" spc="-20">
                <a:latin typeface="SimSun"/>
                <a:cs typeface="SimSun"/>
              </a:rPr>
              <a:t>物联网</a:t>
            </a:r>
            <a:endParaRPr sz="1200">
              <a:latin typeface="SimSun"/>
              <a:cs typeface="SimSun"/>
            </a:endParaRPr>
          </a:p>
        </p:txBody>
      </p:sp>
      <p:grpSp>
        <p:nvGrpSpPr>
          <p:cNvPr id="65" name="object 65" descr=""/>
          <p:cNvGrpSpPr/>
          <p:nvPr/>
        </p:nvGrpSpPr>
        <p:grpSpPr>
          <a:xfrm>
            <a:off x="310827" y="1398021"/>
            <a:ext cx="1537970" cy="2842895"/>
            <a:chOff x="310827" y="1398021"/>
            <a:chExt cx="1537970" cy="2842895"/>
          </a:xfrm>
        </p:grpSpPr>
        <p:sp>
          <p:nvSpPr>
            <p:cNvPr id="66" name="object 66" descr=""/>
            <p:cNvSpPr/>
            <p:nvPr/>
          </p:nvSpPr>
          <p:spPr>
            <a:xfrm>
              <a:off x="323527" y="1410721"/>
              <a:ext cx="1512570" cy="1047750"/>
            </a:xfrm>
            <a:custGeom>
              <a:avLst/>
              <a:gdLst/>
              <a:ahLst/>
              <a:cxnLst/>
              <a:rect l="l" t="t" r="r" b="b"/>
              <a:pathLst>
                <a:path w="1512570" h="1047750">
                  <a:moveTo>
                    <a:pt x="0" y="174523"/>
                  </a:moveTo>
                  <a:lnTo>
                    <a:pt x="6234" y="128125"/>
                  </a:lnTo>
                  <a:lnTo>
                    <a:pt x="23828" y="86435"/>
                  </a:lnTo>
                  <a:lnTo>
                    <a:pt x="51119" y="51114"/>
                  </a:lnTo>
                  <a:lnTo>
                    <a:pt x="86440" y="23826"/>
                  </a:lnTo>
                  <a:lnTo>
                    <a:pt x="128130" y="6233"/>
                  </a:lnTo>
                  <a:lnTo>
                    <a:pt x="174523" y="0"/>
                  </a:lnTo>
                  <a:lnTo>
                    <a:pt x="1337640" y="0"/>
                  </a:lnTo>
                  <a:lnTo>
                    <a:pt x="1384037" y="6233"/>
                  </a:lnTo>
                  <a:lnTo>
                    <a:pt x="1425728" y="23826"/>
                  </a:lnTo>
                  <a:lnTo>
                    <a:pt x="1461049" y="51114"/>
                  </a:lnTo>
                  <a:lnTo>
                    <a:pt x="1488337" y="86435"/>
                  </a:lnTo>
                  <a:lnTo>
                    <a:pt x="1505929" y="128125"/>
                  </a:lnTo>
                  <a:lnTo>
                    <a:pt x="1512163" y="174523"/>
                  </a:lnTo>
                  <a:lnTo>
                    <a:pt x="1512163" y="872617"/>
                  </a:lnTo>
                  <a:lnTo>
                    <a:pt x="1505929" y="919010"/>
                  </a:lnTo>
                  <a:lnTo>
                    <a:pt x="1488337" y="960699"/>
                  </a:lnTo>
                  <a:lnTo>
                    <a:pt x="1461049" y="996021"/>
                  </a:lnTo>
                  <a:lnTo>
                    <a:pt x="1425728" y="1023311"/>
                  </a:lnTo>
                  <a:lnTo>
                    <a:pt x="1384037" y="1040905"/>
                  </a:lnTo>
                  <a:lnTo>
                    <a:pt x="1337640" y="1047140"/>
                  </a:lnTo>
                  <a:lnTo>
                    <a:pt x="174523" y="1047140"/>
                  </a:lnTo>
                  <a:lnTo>
                    <a:pt x="128130" y="1040905"/>
                  </a:lnTo>
                  <a:lnTo>
                    <a:pt x="86440" y="1023311"/>
                  </a:lnTo>
                  <a:lnTo>
                    <a:pt x="51119" y="996021"/>
                  </a:lnTo>
                  <a:lnTo>
                    <a:pt x="23828" y="960699"/>
                  </a:lnTo>
                  <a:lnTo>
                    <a:pt x="6234" y="919010"/>
                  </a:lnTo>
                  <a:lnTo>
                    <a:pt x="0" y="872617"/>
                  </a:lnTo>
                  <a:lnTo>
                    <a:pt x="0" y="174523"/>
                  </a:lnTo>
                  <a:close/>
                </a:path>
              </a:pathLst>
            </a:custGeom>
            <a:ln w="25400">
              <a:solidFill>
                <a:srgbClr val="333399"/>
              </a:solidFill>
              <a:prstDash val="sysDash"/>
            </a:ln>
          </p:spPr>
          <p:txBody>
            <a:bodyPr wrap="square" lIns="0" tIns="0" rIns="0" bIns="0" rtlCol="0"/>
            <a:lstStyle/>
            <a:p/>
          </p:txBody>
        </p:sp>
        <p:sp>
          <p:nvSpPr>
            <p:cNvPr id="67" name="object 67" descr=""/>
            <p:cNvSpPr/>
            <p:nvPr/>
          </p:nvSpPr>
          <p:spPr>
            <a:xfrm>
              <a:off x="323527" y="2108854"/>
              <a:ext cx="1512570" cy="1616075"/>
            </a:xfrm>
            <a:custGeom>
              <a:avLst/>
              <a:gdLst/>
              <a:ahLst/>
              <a:cxnLst/>
              <a:rect l="l" t="t" r="r" b="b"/>
              <a:pathLst>
                <a:path w="1512570" h="1616075">
                  <a:moveTo>
                    <a:pt x="0" y="252031"/>
                  </a:moveTo>
                  <a:lnTo>
                    <a:pt x="4060" y="206728"/>
                  </a:lnTo>
                  <a:lnTo>
                    <a:pt x="15767" y="164090"/>
                  </a:lnTo>
                  <a:lnTo>
                    <a:pt x="34409" y="124826"/>
                  </a:lnTo>
                  <a:lnTo>
                    <a:pt x="59275" y="89651"/>
                  </a:lnTo>
                  <a:lnTo>
                    <a:pt x="89651" y="59275"/>
                  </a:lnTo>
                  <a:lnTo>
                    <a:pt x="124826" y="34409"/>
                  </a:lnTo>
                  <a:lnTo>
                    <a:pt x="164090" y="15767"/>
                  </a:lnTo>
                  <a:lnTo>
                    <a:pt x="206728" y="4060"/>
                  </a:lnTo>
                  <a:lnTo>
                    <a:pt x="252031" y="0"/>
                  </a:lnTo>
                  <a:lnTo>
                    <a:pt x="1260132" y="0"/>
                  </a:lnTo>
                  <a:lnTo>
                    <a:pt x="1305434" y="4060"/>
                  </a:lnTo>
                  <a:lnTo>
                    <a:pt x="1348073" y="15767"/>
                  </a:lnTo>
                  <a:lnTo>
                    <a:pt x="1387336" y="34409"/>
                  </a:lnTo>
                  <a:lnTo>
                    <a:pt x="1422512" y="59275"/>
                  </a:lnTo>
                  <a:lnTo>
                    <a:pt x="1452888" y="89651"/>
                  </a:lnTo>
                  <a:lnTo>
                    <a:pt x="1477753" y="124826"/>
                  </a:lnTo>
                  <a:lnTo>
                    <a:pt x="1496395" y="164090"/>
                  </a:lnTo>
                  <a:lnTo>
                    <a:pt x="1508102" y="206728"/>
                  </a:lnTo>
                  <a:lnTo>
                    <a:pt x="1512163" y="252031"/>
                  </a:lnTo>
                  <a:lnTo>
                    <a:pt x="1512163" y="1363497"/>
                  </a:lnTo>
                  <a:lnTo>
                    <a:pt x="1508102" y="1408800"/>
                  </a:lnTo>
                  <a:lnTo>
                    <a:pt x="1496395" y="1451438"/>
                  </a:lnTo>
                  <a:lnTo>
                    <a:pt x="1477753" y="1490702"/>
                  </a:lnTo>
                  <a:lnTo>
                    <a:pt x="1452888" y="1525877"/>
                  </a:lnTo>
                  <a:lnTo>
                    <a:pt x="1422512" y="1556253"/>
                  </a:lnTo>
                  <a:lnTo>
                    <a:pt x="1387336" y="1581118"/>
                  </a:lnTo>
                  <a:lnTo>
                    <a:pt x="1348073" y="1599761"/>
                  </a:lnTo>
                  <a:lnTo>
                    <a:pt x="1305434" y="1611468"/>
                  </a:lnTo>
                  <a:lnTo>
                    <a:pt x="1260132" y="1615528"/>
                  </a:lnTo>
                  <a:lnTo>
                    <a:pt x="252031" y="1615528"/>
                  </a:lnTo>
                  <a:lnTo>
                    <a:pt x="206728" y="1611468"/>
                  </a:lnTo>
                  <a:lnTo>
                    <a:pt x="164090" y="1599761"/>
                  </a:lnTo>
                  <a:lnTo>
                    <a:pt x="124826" y="1581118"/>
                  </a:lnTo>
                  <a:lnTo>
                    <a:pt x="89651" y="1556253"/>
                  </a:lnTo>
                  <a:lnTo>
                    <a:pt x="59275" y="1525877"/>
                  </a:lnTo>
                  <a:lnTo>
                    <a:pt x="34409" y="1490702"/>
                  </a:lnTo>
                  <a:lnTo>
                    <a:pt x="15767" y="1451438"/>
                  </a:lnTo>
                  <a:lnTo>
                    <a:pt x="4060" y="1408800"/>
                  </a:lnTo>
                  <a:lnTo>
                    <a:pt x="0" y="1363497"/>
                  </a:lnTo>
                  <a:lnTo>
                    <a:pt x="0" y="252031"/>
                  </a:lnTo>
                  <a:close/>
                </a:path>
              </a:pathLst>
            </a:custGeom>
            <a:ln w="25400">
              <a:solidFill>
                <a:srgbClr val="333399"/>
              </a:solidFill>
              <a:prstDash val="sysDash"/>
            </a:ln>
          </p:spPr>
          <p:txBody>
            <a:bodyPr wrap="square" lIns="0" tIns="0" rIns="0" bIns="0" rtlCol="0"/>
            <a:lstStyle/>
            <a:p/>
          </p:txBody>
        </p:sp>
        <p:sp>
          <p:nvSpPr>
            <p:cNvPr id="68" name="object 68" descr=""/>
            <p:cNvSpPr/>
            <p:nvPr/>
          </p:nvSpPr>
          <p:spPr>
            <a:xfrm>
              <a:off x="323527" y="3724390"/>
              <a:ext cx="1512570" cy="503555"/>
            </a:xfrm>
            <a:custGeom>
              <a:avLst/>
              <a:gdLst/>
              <a:ahLst/>
              <a:cxnLst/>
              <a:rect l="l" t="t" r="r" b="b"/>
              <a:pathLst>
                <a:path w="1512570" h="503554">
                  <a:moveTo>
                    <a:pt x="0" y="83921"/>
                  </a:moveTo>
                  <a:lnTo>
                    <a:pt x="6595" y="51252"/>
                  </a:lnTo>
                  <a:lnTo>
                    <a:pt x="24582" y="24577"/>
                  </a:lnTo>
                  <a:lnTo>
                    <a:pt x="51258" y="6594"/>
                  </a:lnTo>
                  <a:lnTo>
                    <a:pt x="83921" y="0"/>
                  </a:lnTo>
                  <a:lnTo>
                    <a:pt x="1428242" y="0"/>
                  </a:lnTo>
                  <a:lnTo>
                    <a:pt x="1460910" y="6594"/>
                  </a:lnTo>
                  <a:lnTo>
                    <a:pt x="1487585" y="24577"/>
                  </a:lnTo>
                  <a:lnTo>
                    <a:pt x="1505569" y="51252"/>
                  </a:lnTo>
                  <a:lnTo>
                    <a:pt x="1512163" y="83921"/>
                  </a:lnTo>
                  <a:lnTo>
                    <a:pt x="1512163" y="419620"/>
                  </a:lnTo>
                  <a:lnTo>
                    <a:pt x="1505569" y="452284"/>
                  </a:lnTo>
                  <a:lnTo>
                    <a:pt x="1487585" y="478959"/>
                  </a:lnTo>
                  <a:lnTo>
                    <a:pt x="1460910" y="496946"/>
                  </a:lnTo>
                  <a:lnTo>
                    <a:pt x="1428242" y="503542"/>
                  </a:lnTo>
                  <a:lnTo>
                    <a:pt x="83921" y="503542"/>
                  </a:lnTo>
                  <a:lnTo>
                    <a:pt x="51258" y="496946"/>
                  </a:lnTo>
                  <a:lnTo>
                    <a:pt x="24582" y="478959"/>
                  </a:lnTo>
                  <a:lnTo>
                    <a:pt x="6595" y="452284"/>
                  </a:lnTo>
                  <a:lnTo>
                    <a:pt x="0" y="419620"/>
                  </a:lnTo>
                  <a:lnTo>
                    <a:pt x="0" y="83921"/>
                  </a:lnTo>
                  <a:close/>
                </a:path>
              </a:pathLst>
            </a:custGeom>
            <a:ln w="25400">
              <a:solidFill>
                <a:srgbClr val="333399"/>
              </a:solidFill>
              <a:prstDash val="sysDash"/>
            </a:ln>
          </p:spPr>
          <p:txBody>
            <a:bodyPr wrap="square" lIns="0" tIns="0" rIns="0" bIns="0" rtlCol="0"/>
            <a:lstStyle/>
            <a:p/>
          </p:txBody>
        </p:sp>
      </p:grpSp>
      <p:sp>
        <p:nvSpPr>
          <p:cNvPr id="69" name="object 69"/>
          <p:cNvSpPr txBox="1">
            <a:spLocks noGrp="1"/>
          </p:cNvSpPr>
          <p:nvPr>
            <p:ph type="title"/>
          </p:nvPr>
        </p:nvSpPr>
        <p:spPr>
          <a:xfrm>
            <a:off x="2513202" y="111629"/>
            <a:ext cx="4497705" cy="513080"/>
          </a:xfrm>
          <a:prstGeom prst="rect"/>
        </p:spPr>
        <p:txBody>
          <a:bodyPr wrap="square" lIns="0" tIns="12065" rIns="0" bIns="0" rtlCol="0" vert="horz">
            <a:spAutoFit/>
          </a:bodyPr>
          <a:lstStyle/>
          <a:p>
            <a:pPr marL="12700">
              <a:lnSpc>
                <a:spcPct val="100000"/>
              </a:lnSpc>
              <a:spcBef>
                <a:spcPts val="95"/>
              </a:spcBef>
            </a:pPr>
            <a:r>
              <a:rPr dirty="0" spc="-45"/>
              <a:t>中国移动多频段演进策略</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47182" y="148479"/>
            <a:ext cx="5808345" cy="513080"/>
          </a:xfrm>
          <a:prstGeom prst="rect"/>
        </p:spPr>
        <p:txBody>
          <a:bodyPr wrap="square" lIns="0" tIns="12065" rIns="0" bIns="0" rtlCol="0" vert="horz">
            <a:spAutoFit/>
          </a:bodyPr>
          <a:lstStyle/>
          <a:p>
            <a:pPr marL="12700">
              <a:lnSpc>
                <a:spcPct val="100000"/>
              </a:lnSpc>
              <a:spcBef>
                <a:spcPts val="95"/>
              </a:spcBef>
            </a:pPr>
            <a:r>
              <a:rPr dirty="0" spc="-35"/>
              <a:t>中国移动</a:t>
            </a:r>
            <a:r>
              <a:rPr dirty="0" spc="-30">
                <a:latin typeface="Times New Roman"/>
                <a:cs typeface="Times New Roman"/>
              </a:rPr>
              <a:t>4G</a:t>
            </a:r>
            <a:r>
              <a:rPr dirty="0" spc="-35"/>
              <a:t>向</a:t>
            </a:r>
            <a:r>
              <a:rPr dirty="0" spc="-30">
                <a:latin typeface="Times New Roman"/>
                <a:cs typeface="Times New Roman"/>
              </a:rPr>
              <a:t>5G</a:t>
            </a:r>
            <a:r>
              <a:rPr dirty="0" spc="-45"/>
              <a:t>演进建议</a:t>
            </a:r>
            <a:r>
              <a:rPr dirty="0" spc="-10">
                <a:latin typeface="Times New Roman"/>
                <a:cs typeface="Times New Roman"/>
              </a:rPr>
              <a:t>(</a:t>
            </a:r>
            <a:r>
              <a:rPr dirty="0" spc="-40"/>
              <a:t>参考</a:t>
            </a:r>
            <a:r>
              <a:rPr dirty="0" spc="-50">
                <a:latin typeface="Times New Roman"/>
                <a:cs typeface="Times New Roman"/>
              </a:rPr>
              <a:t>)</a:t>
            </a:r>
          </a:p>
        </p:txBody>
      </p:sp>
      <p:sp>
        <p:nvSpPr>
          <p:cNvPr id="3" name="object 3" descr=""/>
          <p:cNvSpPr/>
          <p:nvPr/>
        </p:nvSpPr>
        <p:spPr>
          <a:xfrm>
            <a:off x="510250" y="980019"/>
            <a:ext cx="7987030" cy="3261995"/>
          </a:xfrm>
          <a:custGeom>
            <a:avLst/>
            <a:gdLst/>
            <a:ahLst/>
            <a:cxnLst/>
            <a:rect l="l" t="t" r="r" b="b"/>
            <a:pathLst>
              <a:path w="7987030" h="3261995">
                <a:moveTo>
                  <a:pt x="0" y="115798"/>
                </a:moveTo>
                <a:lnTo>
                  <a:pt x="9099" y="70723"/>
                </a:lnTo>
                <a:lnTo>
                  <a:pt x="33915" y="33915"/>
                </a:lnTo>
                <a:lnTo>
                  <a:pt x="70723" y="9099"/>
                </a:lnTo>
                <a:lnTo>
                  <a:pt x="115798" y="0"/>
                </a:lnTo>
                <a:lnTo>
                  <a:pt x="7871180" y="0"/>
                </a:lnTo>
                <a:lnTo>
                  <a:pt x="7916256" y="9099"/>
                </a:lnTo>
                <a:lnTo>
                  <a:pt x="7953063" y="33915"/>
                </a:lnTo>
                <a:lnTo>
                  <a:pt x="7977879" y="70723"/>
                </a:lnTo>
                <a:lnTo>
                  <a:pt x="7986979" y="115798"/>
                </a:lnTo>
                <a:lnTo>
                  <a:pt x="7986979" y="3146183"/>
                </a:lnTo>
                <a:lnTo>
                  <a:pt x="7977879" y="3191259"/>
                </a:lnTo>
                <a:lnTo>
                  <a:pt x="7953063" y="3228066"/>
                </a:lnTo>
                <a:lnTo>
                  <a:pt x="7916256" y="3252882"/>
                </a:lnTo>
                <a:lnTo>
                  <a:pt x="7871180" y="3261982"/>
                </a:lnTo>
                <a:lnTo>
                  <a:pt x="115798" y="3261982"/>
                </a:lnTo>
                <a:lnTo>
                  <a:pt x="70723" y="3252882"/>
                </a:lnTo>
                <a:lnTo>
                  <a:pt x="33915" y="3228066"/>
                </a:lnTo>
                <a:lnTo>
                  <a:pt x="9099" y="3191259"/>
                </a:lnTo>
                <a:lnTo>
                  <a:pt x="0" y="3146183"/>
                </a:lnTo>
                <a:lnTo>
                  <a:pt x="0" y="115798"/>
                </a:lnTo>
                <a:close/>
              </a:path>
            </a:pathLst>
          </a:custGeom>
          <a:ln w="25400">
            <a:solidFill>
              <a:srgbClr val="00B0F0"/>
            </a:solidFill>
          </a:ln>
        </p:spPr>
        <p:txBody>
          <a:bodyPr wrap="square" lIns="0" tIns="0" rIns="0" bIns="0" rtlCol="0"/>
          <a:lstStyle/>
          <a:p/>
        </p:txBody>
      </p:sp>
      <p:sp>
        <p:nvSpPr>
          <p:cNvPr id="4" name="object 4" descr=""/>
          <p:cNvSpPr txBox="1"/>
          <p:nvPr/>
        </p:nvSpPr>
        <p:spPr>
          <a:xfrm>
            <a:off x="771956" y="2488717"/>
            <a:ext cx="832485" cy="269875"/>
          </a:xfrm>
          <a:prstGeom prst="rect">
            <a:avLst/>
          </a:prstGeom>
          <a:solidFill>
            <a:srgbClr val="00B0F0"/>
          </a:solidFill>
        </p:spPr>
        <p:txBody>
          <a:bodyPr wrap="square" lIns="0" tIns="0" rIns="0" bIns="0" rtlCol="0" vert="horz">
            <a:spAutoFit/>
          </a:bodyPr>
          <a:lstStyle/>
          <a:p>
            <a:pPr marL="271780">
              <a:lnSpc>
                <a:spcPts val="1030"/>
              </a:lnSpc>
            </a:pPr>
            <a:r>
              <a:rPr dirty="0" sz="1050" spc="-20" b="1">
                <a:solidFill>
                  <a:srgbClr val="FFFFFF"/>
                </a:solidFill>
                <a:latin typeface="Arial"/>
                <a:cs typeface="Arial"/>
              </a:rPr>
              <a:t>1.9G</a:t>
            </a:r>
            <a:endParaRPr sz="1050">
              <a:latin typeface="Arial"/>
              <a:cs typeface="Arial"/>
            </a:endParaRPr>
          </a:p>
          <a:p>
            <a:pPr marL="204470">
              <a:lnSpc>
                <a:spcPts val="1090"/>
              </a:lnSpc>
            </a:pPr>
            <a:r>
              <a:rPr dirty="0" sz="1050" spc="-10" b="1">
                <a:solidFill>
                  <a:srgbClr val="FFFFFF"/>
                </a:solidFill>
                <a:latin typeface="Arial"/>
                <a:cs typeface="Arial"/>
              </a:rPr>
              <a:t>45MHz</a:t>
            </a:r>
            <a:endParaRPr sz="1050">
              <a:latin typeface="Arial"/>
              <a:cs typeface="Arial"/>
            </a:endParaRPr>
          </a:p>
        </p:txBody>
      </p:sp>
      <p:sp>
        <p:nvSpPr>
          <p:cNvPr id="5" name="object 5" descr=""/>
          <p:cNvSpPr/>
          <p:nvPr/>
        </p:nvSpPr>
        <p:spPr>
          <a:xfrm>
            <a:off x="783932" y="2863316"/>
            <a:ext cx="832485" cy="271780"/>
          </a:xfrm>
          <a:custGeom>
            <a:avLst/>
            <a:gdLst/>
            <a:ahLst/>
            <a:cxnLst/>
            <a:rect l="l" t="t" r="r" b="b"/>
            <a:pathLst>
              <a:path w="832485" h="271780">
                <a:moveTo>
                  <a:pt x="832383" y="0"/>
                </a:moveTo>
                <a:lnTo>
                  <a:pt x="0" y="0"/>
                </a:lnTo>
                <a:lnTo>
                  <a:pt x="0" y="271322"/>
                </a:lnTo>
                <a:lnTo>
                  <a:pt x="832383" y="271322"/>
                </a:lnTo>
                <a:lnTo>
                  <a:pt x="832383" y="0"/>
                </a:lnTo>
                <a:close/>
              </a:path>
            </a:pathLst>
          </a:custGeom>
          <a:solidFill>
            <a:srgbClr val="00B0F0"/>
          </a:solidFill>
        </p:spPr>
        <p:txBody>
          <a:bodyPr wrap="square" lIns="0" tIns="0" rIns="0" bIns="0" rtlCol="0"/>
          <a:lstStyle/>
          <a:p/>
        </p:txBody>
      </p:sp>
      <p:sp>
        <p:nvSpPr>
          <p:cNvPr id="6" name="object 6" descr=""/>
          <p:cNvSpPr txBox="1"/>
          <p:nvPr/>
        </p:nvSpPr>
        <p:spPr>
          <a:xfrm>
            <a:off x="783932" y="2822450"/>
            <a:ext cx="832485" cy="345440"/>
          </a:xfrm>
          <a:prstGeom prst="rect">
            <a:avLst/>
          </a:prstGeom>
        </p:spPr>
        <p:txBody>
          <a:bodyPr wrap="square" lIns="0" tIns="12700" rIns="0" bIns="0" rtlCol="0" vert="horz">
            <a:spAutoFit/>
          </a:bodyPr>
          <a:lstStyle/>
          <a:p>
            <a:pPr algn="ctr">
              <a:lnSpc>
                <a:spcPct val="100000"/>
              </a:lnSpc>
              <a:spcBef>
                <a:spcPts val="100"/>
              </a:spcBef>
            </a:pPr>
            <a:r>
              <a:rPr dirty="0" sz="1050" spc="-20" b="1">
                <a:solidFill>
                  <a:srgbClr val="FFFFFF"/>
                </a:solidFill>
                <a:latin typeface="Arial"/>
                <a:cs typeface="Arial"/>
              </a:rPr>
              <a:t>1.8G</a:t>
            </a:r>
            <a:endParaRPr sz="1050">
              <a:latin typeface="Arial"/>
              <a:cs typeface="Arial"/>
            </a:endParaRPr>
          </a:p>
          <a:p>
            <a:pPr algn="ctr">
              <a:lnSpc>
                <a:spcPct val="100000"/>
              </a:lnSpc>
            </a:pPr>
            <a:r>
              <a:rPr dirty="0" sz="1050" spc="-10" b="1">
                <a:solidFill>
                  <a:srgbClr val="FFFFFF"/>
                </a:solidFill>
                <a:latin typeface="Arial"/>
                <a:cs typeface="Arial"/>
              </a:rPr>
              <a:t>2*25MHz</a:t>
            </a:r>
            <a:endParaRPr sz="1050">
              <a:latin typeface="Arial"/>
              <a:cs typeface="Arial"/>
            </a:endParaRPr>
          </a:p>
        </p:txBody>
      </p:sp>
      <p:sp>
        <p:nvSpPr>
          <p:cNvPr id="7" name="object 7" descr=""/>
          <p:cNvSpPr txBox="1"/>
          <p:nvPr/>
        </p:nvSpPr>
        <p:spPr>
          <a:xfrm>
            <a:off x="771956" y="1351025"/>
            <a:ext cx="832485" cy="271780"/>
          </a:xfrm>
          <a:prstGeom prst="rect">
            <a:avLst/>
          </a:prstGeom>
          <a:solidFill>
            <a:srgbClr val="92D050"/>
          </a:solidFill>
        </p:spPr>
        <p:txBody>
          <a:bodyPr wrap="square" lIns="0" tIns="0" rIns="0" bIns="0" rtlCol="0" vert="horz">
            <a:spAutoFit/>
          </a:bodyPr>
          <a:lstStyle/>
          <a:p>
            <a:pPr marL="179070">
              <a:lnSpc>
                <a:spcPts val="1040"/>
              </a:lnSpc>
            </a:pPr>
            <a:r>
              <a:rPr dirty="0" sz="1050" spc="-20" b="1">
                <a:solidFill>
                  <a:srgbClr val="FFFFFF"/>
                </a:solidFill>
                <a:latin typeface="Arial"/>
                <a:cs typeface="Arial"/>
              </a:rPr>
              <a:t>C-Band</a:t>
            </a:r>
            <a:endParaRPr sz="1050">
              <a:latin typeface="Arial"/>
              <a:cs typeface="Arial"/>
            </a:endParaRPr>
          </a:p>
          <a:p>
            <a:pPr marL="167640">
              <a:lnSpc>
                <a:spcPts val="1100"/>
              </a:lnSpc>
            </a:pPr>
            <a:r>
              <a:rPr dirty="0" sz="1050" spc="-10" b="1">
                <a:solidFill>
                  <a:srgbClr val="FFFFFF"/>
                </a:solidFill>
                <a:latin typeface="Arial"/>
                <a:cs typeface="Arial"/>
              </a:rPr>
              <a:t>100MHz</a:t>
            </a:r>
            <a:endParaRPr sz="1050">
              <a:latin typeface="Arial"/>
              <a:cs typeface="Arial"/>
            </a:endParaRPr>
          </a:p>
        </p:txBody>
      </p:sp>
      <p:sp>
        <p:nvSpPr>
          <p:cNvPr id="8" name="object 8" descr=""/>
          <p:cNvSpPr txBox="1"/>
          <p:nvPr/>
        </p:nvSpPr>
        <p:spPr>
          <a:xfrm>
            <a:off x="771956" y="3207092"/>
            <a:ext cx="832485" cy="271780"/>
          </a:xfrm>
          <a:prstGeom prst="rect">
            <a:avLst/>
          </a:prstGeom>
          <a:solidFill>
            <a:srgbClr val="00B0F0"/>
          </a:solidFill>
        </p:spPr>
        <p:txBody>
          <a:bodyPr wrap="square" lIns="0" tIns="0" rIns="0" bIns="0" rtlCol="0" vert="horz">
            <a:spAutoFit/>
          </a:bodyPr>
          <a:lstStyle/>
          <a:p>
            <a:pPr algn="ctr">
              <a:lnSpc>
                <a:spcPts val="1040"/>
              </a:lnSpc>
            </a:pPr>
            <a:r>
              <a:rPr dirty="0" sz="1050" spc="-20" b="1">
                <a:solidFill>
                  <a:srgbClr val="FFFFFF"/>
                </a:solidFill>
                <a:latin typeface="Arial"/>
                <a:cs typeface="Arial"/>
              </a:rPr>
              <a:t>900M</a:t>
            </a:r>
            <a:endParaRPr sz="1050">
              <a:latin typeface="Arial"/>
              <a:cs typeface="Arial"/>
            </a:endParaRPr>
          </a:p>
          <a:p>
            <a:pPr algn="ctr">
              <a:lnSpc>
                <a:spcPts val="1100"/>
              </a:lnSpc>
            </a:pPr>
            <a:r>
              <a:rPr dirty="0" sz="1050" spc="-10" b="1">
                <a:solidFill>
                  <a:srgbClr val="FFFFFF"/>
                </a:solidFill>
                <a:latin typeface="Arial"/>
                <a:cs typeface="Arial"/>
              </a:rPr>
              <a:t>2*19MHz</a:t>
            </a:r>
            <a:endParaRPr sz="1050">
              <a:latin typeface="Arial"/>
              <a:cs typeface="Arial"/>
            </a:endParaRPr>
          </a:p>
        </p:txBody>
      </p:sp>
      <p:grpSp>
        <p:nvGrpSpPr>
          <p:cNvPr id="9" name="object 9" descr=""/>
          <p:cNvGrpSpPr/>
          <p:nvPr/>
        </p:nvGrpSpPr>
        <p:grpSpPr>
          <a:xfrm>
            <a:off x="1450209" y="1671540"/>
            <a:ext cx="6852920" cy="1875155"/>
            <a:chOff x="1450209" y="1671540"/>
            <a:chExt cx="6852920" cy="1875155"/>
          </a:xfrm>
        </p:grpSpPr>
        <p:sp>
          <p:nvSpPr>
            <p:cNvPr id="10" name="object 10" descr=""/>
            <p:cNvSpPr/>
            <p:nvPr/>
          </p:nvSpPr>
          <p:spPr>
            <a:xfrm>
              <a:off x="1464496" y="3508160"/>
              <a:ext cx="6110605" cy="9525"/>
            </a:xfrm>
            <a:custGeom>
              <a:avLst/>
              <a:gdLst/>
              <a:ahLst/>
              <a:cxnLst/>
              <a:rect l="l" t="t" r="r" b="b"/>
              <a:pathLst>
                <a:path w="6110605" h="9525">
                  <a:moveTo>
                    <a:pt x="0" y="0"/>
                  </a:moveTo>
                  <a:lnTo>
                    <a:pt x="6110249" y="9461"/>
                  </a:lnTo>
                </a:path>
              </a:pathLst>
            </a:custGeom>
            <a:ln w="28574">
              <a:solidFill>
                <a:srgbClr val="000000"/>
              </a:solidFill>
            </a:ln>
          </p:spPr>
          <p:txBody>
            <a:bodyPr wrap="square" lIns="0" tIns="0" rIns="0" bIns="0" rtlCol="0"/>
            <a:lstStyle/>
            <a:p/>
          </p:txBody>
        </p:sp>
        <p:sp>
          <p:nvSpPr>
            <p:cNvPr id="11" name="object 11" descr=""/>
            <p:cNvSpPr/>
            <p:nvPr/>
          </p:nvSpPr>
          <p:spPr>
            <a:xfrm>
              <a:off x="7560419" y="3489012"/>
              <a:ext cx="143510" cy="57150"/>
            </a:xfrm>
            <a:custGeom>
              <a:avLst/>
              <a:gdLst/>
              <a:ahLst/>
              <a:cxnLst/>
              <a:rect l="l" t="t" r="r" b="b"/>
              <a:pathLst>
                <a:path w="143509" h="57150">
                  <a:moveTo>
                    <a:pt x="88" y="0"/>
                  </a:moveTo>
                  <a:lnTo>
                    <a:pt x="0" y="57149"/>
                  </a:lnTo>
                  <a:lnTo>
                    <a:pt x="142913" y="28803"/>
                  </a:lnTo>
                  <a:lnTo>
                    <a:pt x="88" y="0"/>
                  </a:lnTo>
                  <a:close/>
                </a:path>
              </a:pathLst>
            </a:custGeom>
            <a:solidFill>
              <a:srgbClr val="000000"/>
            </a:solidFill>
          </p:spPr>
          <p:txBody>
            <a:bodyPr wrap="square" lIns="0" tIns="0" rIns="0" bIns="0" rtlCol="0"/>
            <a:lstStyle/>
            <a:p/>
          </p:txBody>
        </p:sp>
        <p:sp>
          <p:nvSpPr>
            <p:cNvPr id="12" name="object 12" descr=""/>
            <p:cNvSpPr/>
            <p:nvPr/>
          </p:nvSpPr>
          <p:spPr>
            <a:xfrm>
              <a:off x="1530978" y="2089448"/>
              <a:ext cx="6767195" cy="0"/>
            </a:xfrm>
            <a:custGeom>
              <a:avLst/>
              <a:gdLst/>
              <a:ahLst/>
              <a:cxnLst/>
              <a:rect l="l" t="t" r="r" b="b"/>
              <a:pathLst>
                <a:path w="6767195" h="0">
                  <a:moveTo>
                    <a:pt x="0" y="0"/>
                  </a:moveTo>
                  <a:lnTo>
                    <a:pt x="6766852" y="0"/>
                  </a:lnTo>
                </a:path>
              </a:pathLst>
            </a:custGeom>
            <a:ln w="9525">
              <a:solidFill>
                <a:srgbClr val="B6DCDF"/>
              </a:solidFill>
              <a:prstDash val="sysDash"/>
            </a:ln>
          </p:spPr>
          <p:txBody>
            <a:bodyPr wrap="square" lIns="0" tIns="0" rIns="0" bIns="0" rtlCol="0"/>
            <a:lstStyle/>
            <a:p/>
          </p:txBody>
        </p:sp>
        <p:sp>
          <p:nvSpPr>
            <p:cNvPr id="13" name="object 13" descr=""/>
            <p:cNvSpPr/>
            <p:nvPr/>
          </p:nvSpPr>
          <p:spPr>
            <a:xfrm>
              <a:off x="1530978" y="2821699"/>
              <a:ext cx="6767195" cy="0"/>
            </a:xfrm>
            <a:custGeom>
              <a:avLst/>
              <a:gdLst/>
              <a:ahLst/>
              <a:cxnLst/>
              <a:rect l="l" t="t" r="r" b="b"/>
              <a:pathLst>
                <a:path w="6767195" h="0">
                  <a:moveTo>
                    <a:pt x="0" y="0"/>
                  </a:moveTo>
                  <a:lnTo>
                    <a:pt x="6766852" y="0"/>
                  </a:lnTo>
                </a:path>
              </a:pathLst>
            </a:custGeom>
            <a:ln w="9525">
              <a:solidFill>
                <a:srgbClr val="B6DCDF"/>
              </a:solidFill>
              <a:prstDash val="sysDash"/>
            </a:ln>
          </p:spPr>
          <p:txBody>
            <a:bodyPr wrap="square" lIns="0" tIns="0" rIns="0" bIns="0" rtlCol="0"/>
            <a:lstStyle/>
            <a:p/>
          </p:txBody>
        </p:sp>
        <p:sp>
          <p:nvSpPr>
            <p:cNvPr id="14" name="object 14" descr=""/>
            <p:cNvSpPr/>
            <p:nvPr/>
          </p:nvSpPr>
          <p:spPr>
            <a:xfrm>
              <a:off x="1504030" y="1676303"/>
              <a:ext cx="6767195" cy="0"/>
            </a:xfrm>
            <a:custGeom>
              <a:avLst/>
              <a:gdLst/>
              <a:ahLst/>
              <a:cxnLst/>
              <a:rect l="l" t="t" r="r" b="b"/>
              <a:pathLst>
                <a:path w="6767195" h="0">
                  <a:moveTo>
                    <a:pt x="0" y="0"/>
                  </a:moveTo>
                  <a:lnTo>
                    <a:pt x="6766852" y="0"/>
                  </a:lnTo>
                </a:path>
              </a:pathLst>
            </a:custGeom>
            <a:ln w="9525">
              <a:solidFill>
                <a:srgbClr val="B6DCDF"/>
              </a:solidFill>
              <a:prstDash val="sysDash"/>
            </a:ln>
          </p:spPr>
          <p:txBody>
            <a:bodyPr wrap="square" lIns="0" tIns="0" rIns="0" bIns="0" rtlCol="0"/>
            <a:lstStyle/>
            <a:p/>
          </p:txBody>
        </p:sp>
      </p:grpSp>
      <p:sp>
        <p:nvSpPr>
          <p:cNvPr id="15" name="object 15" descr=""/>
          <p:cNvSpPr txBox="1"/>
          <p:nvPr/>
        </p:nvSpPr>
        <p:spPr>
          <a:xfrm>
            <a:off x="771956" y="2141867"/>
            <a:ext cx="832485" cy="271780"/>
          </a:xfrm>
          <a:prstGeom prst="rect">
            <a:avLst/>
          </a:prstGeom>
          <a:solidFill>
            <a:srgbClr val="00B0F0"/>
          </a:solidFill>
        </p:spPr>
        <p:txBody>
          <a:bodyPr wrap="square" lIns="0" tIns="0" rIns="0" bIns="0" rtlCol="0" vert="horz">
            <a:spAutoFit/>
          </a:bodyPr>
          <a:lstStyle/>
          <a:p>
            <a:pPr marL="271780">
              <a:lnSpc>
                <a:spcPts val="1040"/>
              </a:lnSpc>
            </a:pPr>
            <a:r>
              <a:rPr dirty="0" sz="1050" spc="-20" b="1">
                <a:solidFill>
                  <a:srgbClr val="FFFFFF"/>
                </a:solidFill>
                <a:latin typeface="Arial"/>
                <a:cs typeface="Arial"/>
              </a:rPr>
              <a:t>2.3G</a:t>
            </a:r>
            <a:endParaRPr sz="1050">
              <a:latin typeface="Arial"/>
              <a:cs typeface="Arial"/>
            </a:endParaRPr>
          </a:p>
          <a:p>
            <a:pPr marL="204470">
              <a:lnSpc>
                <a:spcPts val="1100"/>
              </a:lnSpc>
            </a:pPr>
            <a:r>
              <a:rPr dirty="0" sz="1050" spc="-10" b="1">
                <a:solidFill>
                  <a:srgbClr val="FFFFFF"/>
                </a:solidFill>
                <a:latin typeface="Arial"/>
                <a:cs typeface="Arial"/>
              </a:rPr>
              <a:t>50MHz</a:t>
            </a:r>
            <a:endParaRPr sz="1050">
              <a:latin typeface="Arial"/>
              <a:cs typeface="Arial"/>
            </a:endParaRPr>
          </a:p>
        </p:txBody>
      </p:sp>
      <p:sp>
        <p:nvSpPr>
          <p:cNvPr id="16" name="object 16" descr=""/>
          <p:cNvSpPr txBox="1"/>
          <p:nvPr/>
        </p:nvSpPr>
        <p:spPr>
          <a:xfrm>
            <a:off x="6821703" y="1344866"/>
            <a:ext cx="756285" cy="271780"/>
          </a:xfrm>
          <a:prstGeom prst="rect">
            <a:avLst/>
          </a:prstGeom>
          <a:solidFill>
            <a:srgbClr val="92D050"/>
          </a:solidFill>
        </p:spPr>
        <p:txBody>
          <a:bodyPr wrap="square" lIns="0" tIns="50800" rIns="0" bIns="0" rtlCol="0" vert="horz">
            <a:spAutoFit/>
          </a:bodyPr>
          <a:lstStyle/>
          <a:p>
            <a:pPr marL="88265">
              <a:lnSpc>
                <a:spcPct val="100000"/>
              </a:lnSpc>
              <a:spcBef>
                <a:spcPts val="400"/>
              </a:spcBef>
            </a:pPr>
            <a:r>
              <a:rPr dirty="0" sz="1050" spc="-10" b="1">
                <a:solidFill>
                  <a:srgbClr val="FFFFFF"/>
                </a:solidFill>
                <a:latin typeface="Arial"/>
                <a:cs typeface="Arial"/>
              </a:rPr>
              <a:t>5G</a:t>
            </a:r>
            <a:r>
              <a:rPr dirty="0" sz="1050" spc="-20" b="1">
                <a:solidFill>
                  <a:srgbClr val="FFFFFF"/>
                </a:solidFill>
                <a:latin typeface="Microsoft YaHei"/>
                <a:cs typeface="Microsoft YaHei"/>
              </a:rPr>
              <a:t>容量层</a:t>
            </a:r>
            <a:endParaRPr sz="1050">
              <a:latin typeface="Microsoft YaHei"/>
              <a:cs typeface="Microsoft YaHei"/>
            </a:endParaRPr>
          </a:p>
        </p:txBody>
      </p:sp>
      <p:sp>
        <p:nvSpPr>
          <p:cNvPr id="17" name="object 17" descr=""/>
          <p:cNvSpPr txBox="1"/>
          <p:nvPr/>
        </p:nvSpPr>
        <p:spPr>
          <a:xfrm>
            <a:off x="6821703" y="2485631"/>
            <a:ext cx="756285" cy="271780"/>
          </a:xfrm>
          <a:prstGeom prst="rect">
            <a:avLst/>
          </a:prstGeom>
          <a:solidFill>
            <a:srgbClr val="00B0F0"/>
          </a:solidFill>
        </p:spPr>
        <p:txBody>
          <a:bodyPr wrap="square" lIns="0" tIns="51435" rIns="0" bIns="0" rtlCol="0" vert="horz">
            <a:spAutoFit/>
          </a:bodyPr>
          <a:lstStyle/>
          <a:p>
            <a:pPr algn="ctr">
              <a:lnSpc>
                <a:spcPct val="100000"/>
              </a:lnSpc>
              <a:spcBef>
                <a:spcPts val="405"/>
              </a:spcBef>
            </a:pPr>
            <a:r>
              <a:rPr dirty="0" sz="1050" spc="-25" b="1">
                <a:solidFill>
                  <a:srgbClr val="FFFFFF"/>
                </a:solidFill>
                <a:latin typeface="Arial"/>
                <a:cs typeface="Arial"/>
              </a:rPr>
              <a:t>4G</a:t>
            </a:r>
            <a:endParaRPr sz="1050">
              <a:latin typeface="Arial"/>
              <a:cs typeface="Arial"/>
            </a:endParaRPr>
          </a:p>
        </p:txBody>
      </p:sp>
      <p:sp>
        <p:nvSpPr>
          <p:cNvPr id="18" name="object 18" descr=""/>
          <p:cNvSpPr txBox="1"/>
          <p:nvPr/>
        </p:nvSpPr>
        <p:spPr>
          <a:xfrm>
            <a:off x="6821703" y="3205556"/>
            <a:ext cx="756285" cy="131445"/>
          </a:xfrm>
          <a:prstGeom prst="rect">
            <a:avLst/>
          </a:prstGeom>
          <a:solidFill>
            <a:srgbClr val="00B0F0"/>
          </a:solidFill>
        </p:spPr>
        <p:txBody>
          <a:bodyPr wrap="square" lIns="0" tIns="0" rIns="0" bIns="0" rtlCol="0" vert="horz">
            <a:spAutoFit/>
          </a:bodyPr>
          <a:lstStyle/>
          <a:p>
            <a:pPr marL="173990">
              <a:lnSpc>
                <a:spcPts val="1030"/>
              </a:lnSpc>
            </a:pPr>
            <a:r>
              <a:rPr dirty="0" sz="1050" spc="-10" b="1">
                <a:solidFill>
                  <a:srgbClr val="FFFFFF"/>
                </a:solidFill>
                <a:latin typeface="Arial"/>
                <a:cs typeface="Arial"/>
              </a:rPr>
              <a:t>4G/NB</a:t>
            </a:r>
            <a:endParaRPr sz="1050">
              <a:latin typeface="Arial"/>
              <a:cs typeface="Arial"/>
            </a:endParaRPr>
          </a:p>
        </p:txBody>
      </p:sp>
      <p:sp>
        <p:nvSpPr>
          <p:cNvPr id="19" name="object 19" descr=""/>
          <p:cNvSpPr txBox="1"/>
          <p:nvPr/>
        </p:nvSpPr>
        <p:spPr>
          <a:xfrm>
            <a:off x="6821703" y="2861779"/>
            <a:ext cx="756285" cy="271780"/>
          </a:xfrm>
          <a:prstGeom prst="rect">
            <a:avLst/>
          </a:prstGeom>
          <a:solidFill>
            <a:srgbClr val="00B0F0"/>
          </a:solidFill>
        </p:spPr>
        <p:txBody>
          <a:bodyPr wrap="square" lIns="0" tIns="51435" rIns="0" bIns="0" rtlCol="0" vert="horz">
            <a:spAutoFit/>
          </a:bodyPr>
          <a:lstStyle/>
          <a:p>
            <a:pPr algn="ctr" marL="22225">
              <a:lnSpc>
                <a:spcPct val="100000"/>
              </a:lnSpc>
              <a:spcBef>
                <a:spcPts val="405"/>
              </a:spcBef>
            </a:pPr>
            <a:r>
              <a:rPr dirty="0" sz="1050" spc="-25" b="1">
                <a:solidFill>
                  <a:srgbClr val="FFFFFF"/>
                </a:solidFill>
                <a:latin typeface="Arial"/>
                <a:cs typeface="Arial"/>
              </a:rPr>
              <a:t>4G</a:t>
            </a:r>
            <a:endParaRPr sz="1050">
              <a:latin typeface="Arial"/>
              <a:cs typeface="Arial"/>
            </a:endParaRPr>
          </a:p>
        </p:txBody>
      </p:sp>
      <p:sp>
        <p:nvSpPr>
          <p:cNvPr id="20" name="object 20" descr=""/>
          <p:cNvSpPr txBox="1"/>
          <p:nvPr/>
        </p:nvSpPr>
        <p:spPr>
          <a:xfrm>
            <a:off x="6821703" y="2140318"/>
            <a:ext cx="756285" cy="271780"/>
          </a:xfrm>
          <a:prstGeom prst="rect">
            <a:avLst/>
          </a:prstGeom>
          <a:solidFill>
            <a:srgbClr val="00B0F0"/>
          </a:solidFill>
        </p:spPr>
        <p:txBody>
          <a:bodyPr wrap="square" lIns="0" tIns="50800" rIns="0" bIns="0" rtlCol="0" vert="horz">
            <a:spAutoFit/>
          </a:bodyPr>
          <a:lstStyle/>
          <a:p>
            <a:pPr marL="243840">
              <a:lnSpc>
                <a:spcPct val="100000"/>
              </a:lnSpc>
              <a:spcBef>
                <a:spcPts val="400"/>
              </a:spcBef>
            </a:pPr>
            <a:r>
              <a:rPr dirty="0" sz="1050" spc="-25" b="1">
                <a:solidFill>
                  <a:srgbClr val="FFFFFF"/>
                </a:solidFill>
                <a:latin typeface="Microsoft YaHei"/>
                <a:cs typeface="Microsoft YaHei"/>
              </a:rPr>
              <a:t>室分</a:t>
            </a:r>
            <a:endParaRPr sz="1050">
              <a:latin typeface="Microsoft YaHei"/>
              <a:cs typeface="Microsoft YaHei"/>
            </a:endParaRPr>
          </a:p>
        </p:txBody>
      </p:sp>
      <p:sp>
        <p:nvSpPr>
          <p:cNvPr id="21" name="object 21" descr=""/>
          <p:cNvSpPr txBox="1"/>
          <p:nvPr/>
        </p:nvSpPr>
        <p:spPr>
          <a:xfrm>
            <a:off x="6823202" y="1736432"/>
            <a:ext cx="756285" cy="313055"/>
          </a:xfrm>
          <a:prstGeom prst="rect">
            <a:avLst/>
          </a:prstGeom>
          <a:solidFill>
            <a:srgbClr val="92D050"/>
          </a:solidFill>
        </p:spPr>
        <p:txBody>
          <a:bodyPr wrap="square" lIns="0" tIns="71755" rIns="0" bIns="0" rtlCol="0" vert="horz">
            <a:spAutoFit/>
          </a:bodyPr>
          <a:lstStyle/>
          <a:p>
            <a:pPr marL="88265">
              <a:lnSpc>
                <a:spcPct val="100000"/>
              </a:lnSpc>
              <a:spcBef>
                <a:spcPts val="565"/>
              </a:spcBef>
            </a:pPr>
            <a:r>
              <a:rPr dirty="0" sz="1050" spc="-10" b="1">
                <a:solidFill>
                  <a:srgbClr val="FFFFFF"/>
                </a:solidFill>
                <a:latin typeface="Arial"/>
                <a:cs typeface="Arial"/>
              </a:rPr>
              <a:t>5G</a:t>
            </a:r>
            <a:r>
              <a:rPr dirty="0" sz="1050" spc="-20" b="1">
                <a:solidFill>
                  <a:srgbClr val="FFFFFF"/>
                </a:solidFill>
                <a:latin typeface="Microsoft YaHei"/>
                <a:cs typeface="Microsoft YaHei"/>
              </a:rPr>
              <a:t>覆盖层</a:t>
            </a:r>
            <a:endParaRPr sz="1050">
              <a:latin typeface="Microsoft YaHei"/>
              <a:cs typeface="Microsoft YaHei"/>
            </a:endParaRPr>
          </a:p>
        </p:txBody>
      </p:sp>
      <p:sp>
        <p:nvSpPr>
          <p:cNvPr id="22" name="object 22" descr=""/>
          <p:cNvSpPr txBox="1"/>
          <p:nvPr/>
        </p:nvSpPr>
        <p:spPr>
          <a:xfrm>
            <a:off x="749503" y="1733346"/>
            <a:ext cx="832485" cy="271780"/>
          </a:xfrm>
          <a:prstGeom prst="rect">
            <a:avLst/>
          </a:prstGeom>
          <a:solidFill>
            <a:srgbClr val="92D050"/>
          </a:solidFill>
        </p:spPr>
        <p:txBody>
          <a:bodyPr wrap="square" lIns="0" tIns="0" rIns="0" bIns="0" rtlCol="0" vert="horz">
            <a:spAutoFit/>
          </a:bodyPr>
          <a:lstStyle/>
          <a:p>
            <a:pPr algn="ctr">
              <a:lnSpc>
                <a:spcPts val="1040"/>
              </a:lnSpc>
            </a:pPr>
            <a:r>
              <a:rPr dirty="0" sz="1050" spc="-20" b="1">
                <a:solidFill>
                  <a:srgbClr val="FFFFFF"/>
                </a:solidFill>
                <a:latin typeface="Arial"/>
                <a:cs typeface="Arial"/>
              </a:rPr>
              <a:t>2.6G</a:t>
            </a:r>
            <a:endParaRPr sz="1050">
              <a:latin typeface="Arial"/>
              <a:cs typeface="Arial"/>
            </a:endParaRPr>
          </a:p>
          <a:p>
            <a:pPr algn="ctr">
              <a:lnSpc>
                <a:spcPts val="1100"/>
              </a:lnSpc>
            </a:pPr>
            <a:r>
              <a:rPr dirty="0" sz="1050" spc="-10" b="1">
                <a:solidFill>
                  <a:srgbClr val="FFFFFF"/>
                </a:solidFill>
                <a:latin typeface="Arial"/>
                <a:cs typeface="Arial"/>
              </a:rPr>
              <a:t>100MHz</a:t>
            </a:r>
            <a:endParaRPr sz="1050">
              <a:latin typeface="Arial"/>
              <a:cs typeface="Arial"/>
            </a:endParaRPr>
          </a:p>
        </p:txBody>
      </p:sp>
      <p:sp>
        <p:nvSpPr>
          <p:cNvPr id="23" name="object 23" descr=""/>
          <p:cNvSpPr txBox="1"/>
          <p:nvPr/>
        </p:nvSpPr>
        <p:spPr>
          <a:xfrm>
            <a:off x="6821703" y="3358172"/>
            <a:ext cx="756285" cy="131445"/>
          </a:xfrm>
          <a:prstGeom prst="rect">
            <a:avLst/>
          </a:prstGeom>
          <a:solidFill>
            <a:srgbClr val="FFC000"/>
          </a:solidFill>
        </p:spPr>
        <p:txBody>
          <a:bodyPr wrap="square" lIns="0" tIns="0" rIns="0" bIns="0" rtlCol="0" vert="horz">
            <a:spAutoFit/>
          </a:bodyPr>
          <a:lstStyle/>
          <a:p>
            <a:pPr marL="155575">
              <a:lnSpc>
                <a:spcPts val="1030"/>
              </a:lnSpc>
            </a:pPr>
            <a:r>
              <a:rPr dirty="0" sz="1050" spc="-10" b="1">
                <a:solidFill>
                  <a:srgbClr val="FFFFFF"/>
                </a:solidFill>
                <a:latin typeface="Arial"/>
                <a:cs typeface="Arial"/>
              </a:rPr>
              <a:t>2G</a:t>
            </a:r>
            <a:r>
              <a:rPr dirty="0" sz="1050" spc="-25" b="1">
                <a:solidFill>
                  <a:srgbClr val="FFFFFF"/>
                </a:solidFill>
                <a:latin typeface="Microsoft YaHei"/>
                <a:cs typeface="Microsoft YaHei"/>
              </a:rPr>
              <a:t>薄网</a:t>
            </a:r>
            <a:endParaRPr sz="1050">
              <a:latin typeface="Microsoft YaHei"/>
              <a:cs typeface="Microsoft YaHei"/>
            </a:endParaRPr>
          </a:p>
        </p:txBody>
      </p:sp>
      <p:sp>
        <p:nvSpPr>
          <p:cNvPr id="24" name="object 24" descr=""/>
          <p:cNvSpPr txBox="1"/>
          <p:nvPr/>
        </p:nvSpPr>
        <p:spPr>
          <a:xfrm>
            <a:off x="3668200" y="2321384"/>
            <a:ext cx="1203960" cy="505459"/>
          </a:xfrm>
          <a:prstGeom prst="rect">
            <a:avLst/>
          </a:prstGeom>
        </p:spPr>
        <p:txBody>
          <a:bodyPr wrap="square" lIns="0" tIns="12700" rIns="0" bIns="0" rtlCol="0" vert="horz">
            <a:spAutoFit/>
          </a:bodyPr>
          <a:lstStyle/>
          <a:p>
            <a:pPr algn="ctr">
              <a:lnSpc>
                <a:spcPct val="100000"/>
              </a:lnSpc>
              <a:spcBef>
                <a:spcPts val="100"/>
              </a:spcBef>
            </a:pPr>
            <a:r>
              <a:rPr dirty="0" sz="1050">
                <a:latin typeface="Arial MT"/>
                <a:cs typeface="Arial MT"/>
              </a:rPr>
              <a:t>FA</a:t>
            </a:r>
            <a:r>
              <a:rPr dirty="0" sz="1050">
                <a:latin typeface="Microsoft YaHei"/>
                <a:cs typeface="Microsoft YaHei"/>
              </a:rPr>
              <a:t>频段</a:t>
            </a:r>
            <a:r>
              <a:rPr dirty="0" sz="1050">
                <a:latin typeface="Arial MT"/>
                <a:cs typeface="Arial MT"/>
              </a:rPr>
              <a:t>3D</a:t>
            </a:r>
            <a:r>
              <a:rPr dirty="0" sz="1050" spc="-10">
                <a:latin typeface="Arial MT"/>
                <a:cs typeface="Arial MT"/>
              </a:rPr>
              <a:t> MIMO</a:t>
            </a:r>
            <a:r>
              <a:rPr dirty="0" sz="1050" spc="-50">
                <a:latin typeface="Microsoft YaHei"/>
                <a:cs typeface="Microsoft YaHei"/>
              </a:rPr>
              <a:t>逐</a:t>
            </a:r>
            <a:endParaRPr sz="1050">
              <a:latin typeface="Microsoft YaHei"/>
              <a:cs typeface="Microsoft YaHei"/>
            </a:endParaRPr>
          </a:p>
          <a:p>
            <a:pPr algn="ctr" marL="12700" marR="5080">
              <a:lnSpc>
                <a:spcPct val="100000"/>
              </a:lnSpc>
            </a:pPr>
            <a:r>
              <a:rPr dirty="0" sz="1050">
                <a:latin typeface="Microsoft YaHei"/>
                <a:cs typeface="Microsoft YaHei"/>
              </a:rPr>
              <a:t>步替换现网</a:t>
            </a:r>
            <a:r>
              <a:rPr dirty="0" sz="1050" spc="-10">
                <a:latin typeface="Arial MT"/>
                <a:cs typeface="Arial MT"/>
              </a:rPr>
              <a:t>8FA</a:t>
            </a:r>
            <a:r>
              <a:rPr dirty="0" sz="1050" spc="-25">
                <a:latin typeface="Microsoft YaHei"/>
                <a:cs typeface="Microsoft YaHei"/>
              </a:rPr>
              <a:t>老设备？</a:t>
            </a:r>
            <a:endParaRPr sz="1050">
              <a:latin typeface="Microsoft YaHei"/>
              <a:cs typeface="Microsoft YaHei"/>
            </a:endParaRPr>
          </a:p>
        </p:txBody>
      </p:sp>
      <p:sp>
        <p:nvSpPr>
          <p:cNvPr id="25" name="object 25" descr=""/>
          <p:cNvSpPr txBox="1"/>
          <p:nvPr/>
        </p:nvSpPr>
        <p:spPr>
          <a:xfrm>
            <a:off x="3755678" y="1772516"/>
            <a:ext cx="988060" cy="345440"/>
          </a:xfrm>
          <a:prstGeom prst="rect">
            <a:avLst/>
          </a:prstGeom>
        </p:spPr>
        <p:txBody>
          <a:bodyPr wrap="square" lIns="0" tIns="12700" rIns="0" bIns="0" rtlCol="0" vert="horz">
            <a:spAutoFit/>
          </a:bodyPr>
          <a:lstStyle/>
          <a:p>
            <a:pPr marL="226695" marR="5080" indent="-214629">
              <a:lnSpc>
                <a:spcPct val="100000"/>
              </a:lnSpc>
              <a:spcBef>
                <a:spcPts val="100"/>
              </a:spcBef>
            </a:pPr>
            <a:r>
              <a:rPr dirty="0" sz="1050" spc="-20">
                <a:latin typeface="Arial MT"/>
                <a:cs typeface="Arial MT"/>
              </a:rPr>
              <a:t>D</a:t>
            </a:r>
            <a:r>
              <a:rPr dirty="0" sz="1050">
                <a:latin typeface="Microsoft YaHei"/>
                <a:cs typeface="Microsoft YaHei"/>
              </a:rPr>
              <a:t>频段</a:t>
            </a:r>
            <a:r>
              <a:rPr dirty="0" sz="1050" spc="-20">
                <a:latin typeface="Arial MT"/>
                <a:cs typeface="Arial MT"/>
              </a:rPr>
              <a:t>100M</a:t>
            </a:r>
            <a:r>
              <a:rPr dirty="0" sz="1050" spc="-25">
                <a:latin typeface="Microsoft YaHei"/>
                <a:cs typeface="Microsoft YaHei"/>
              </a:rPr>
              <a:t>带宽</a:t>
            </a:r>
            <a:r>
              <a:rPr dirty="0" sz="1050" spc="-15">
                <a:latin typeface="Microsoft YaHei"/>
                <a:cs typeface="Microsoft YaHei"/>
              </a:rPr>
              <a:t>能力储备</a:t>
            </a:r>
            <a:endParaRPr sz="1050">
              <a:latin typeface="Microsoft YaHei"/>
              <a:cs typeface="Microsoft YaHei"/>
            </a:endParaRPr>
          </a:p>
        </p:txBody>
      </p:sp>
      <p:sp>
        <p:nvSpPr>
          <p:cNvPr id="26" name="object 26" descr=""/>
          <p:cNvSpPr txBox="1"/>
          <p:nvPr/>
        </p:nvSpPr>
        <p:spPr>
          <a:xfrm>
            <a:off x="3457098" y="1022190"/>
            <a:ext cx="2097405" cy="687705"/>
          </a:xfrm>
          <a:prstGeom prst="rect">
            <a:avLst/>
          </a:prstGeom>
        </p:spPr>
        <p:txBody>
          <a:bodyPr wrap="square" lIns="0" tIns="12065" rIns="0" bIns="0" rtlCol="0" vert="horz">
            <a:spAutoFit/>
          </a:bodyPr>
          <a:lstStyle/>
          <a:p>
            <a:pPr marL="12700">
              <a:lnSpc>
                <a:spcPct val="100000"/>
              </a:lnSpc>
              <a:spcBef>
                <a:spcPts val="95"/>
              </a:spcBef>
            </a:pPr>
            <a:r>
              <a:rPr dirty="0" sz="1400" spc="-10" b="1">
                <a:solidFill>
                  <a:srgbClr val="C00000"/>
                </a:solidFill>
                <a:latin typeface="Arial"/>
                <a:cs typeface="Arial"/>
              </a:rPr>
              <a:t>4G</a:t>
            </a:r>
            <a:r>
              <a:rPr dirty="0" sz="1400" spc="-20" b="1">
                <a:solidFill>
                  <a:srgbClr val="C00000"/>
                </a:solidFill>
                <a:latin typeface="Microsoft YaHei"/>
                <a:cs typeface="Microsoft YaHei"/>
              </a:rPr>
              <a:t>网络</a:t>
            </a:r>
            <a:r>
              <a:rPr dirty="0" sz="1400" spc="-10" b="1">
                <a:solidFill>
                  <a:srgbClr val="C00000"/>
                </a:solidFill>
                <a:latin typeface="Arial"/>
                <a:cs typeface="Arial"/>
              </a:rPr>
              <a:t>5G</a:t>
            </a:r>
            <a:r>
              <a:rPr dirty="0" sz="1400" spc="-25" b="1">
                <a:solidFill>
                  <a:srgbClr val="C00000"/>
                </a:solidFill>
                <a:latin typeface="Microsoft YaHei"/>
                <a:cs typeface="Microsoft YaHei"/>
              </a:rPr>
              <a:t>化演进节奏建议</a:t>
            </a:r>
            <a:endParaRPr sz="1400">
              <a:latin typeface="Microsoft YaHei"/>
              <a:cs typeface="Microsoft YaHei"/>
            </a:endParaRPr>
          </a:p>
          <a:p>
            <a:pPr algn="ctr" marR="504825">
              <a:lnSpc>
                <a:spcPct val="100000"/>
              </a:lnSpc>
              <a:spcBef>
                <a:spcPts val="1015"/>
              </a:spcBef>
            </a:pPr>
            <a:r>
              <a:rPr dirty="0" sz="1050" spc="-20">
                <a:latin typeface="Arial MT"/>
                <a:cs typeface="Arial MT"/>
              </a:rPr>
              <a:t>18</a:t>
            </a:r>
            <a:r>
              <a:rPr dirty="0" sz="1050">
                <a:latin typeface="Microsoft YaHei"/>
                <a:cs typeface="Microsoft YaHei"/>
              </a:rPr>
              <a:t>年</a:t>
            </a:r>
            <a:r>
              <a:rPr dirty="0" sz="1050">
                <a:latin typeface="Arial MT"/>
                <a:cs typeface="Arial MT"/>
              </a:rPr>
              <a:t>5G</a:t>
            </a:r>
            <a:r>
              <a:rPr dirty="0" sz="1050" spc="10">
                <a:latin typeface="Arial MT"/>
                <a:cs typeface="Arial MT"/>
              </a:rPr>
              <a:t> </a:t>
            </a:r>
            <a:r>
              <a:rPr dirty="0" sz="1050" spc="-25">
                <a:latin typeface="Microsoft YaHei"/>
                <a:cs typeface="Microsoft YaHei"/>
              </a:rPr>
              <a:t>测试</a:t>
            </a:r>
            <a:endParaRPr sz="1050">
              <a:latin typeface="Microsoft YaHei"/>
              <a:cs typeface="Microsoft YaHei"/>
            </a:endParaRPr>
          </a:p>
          <a:p>
            <a:pPr algn="ctr" marR="504825">
              <a:lnSpc>
                <a:spcPct val="100000"/>
              </a:lnSpc>
            </a:pPr>
            <a:r>
              <a:rPr dirty="0" sz="1050" spc="-20">
                <a:latin typeface="Arial MT"/>
                <a:cs typeface="Arial MT"/>
              </a:rPr>
              <a:t>19</a:t>
            </a:r>
            <a:r>
              <a:rPr dirty="0" sz="1050" spc="-10">
                <a:latin typeface="Microsoft YaHei"/>
                <a:cs typeface="Microsoft YaHei"/>
              </a:rPr>
              <a:t>年小规模试商用</a:t>
            </a:r>
            <a:endParaRPr sz="1050">
              <a:latin typeface="Microsoft YaHei"/>
              <a:cs typeface="Microsoft YaHei"/>
            </a:endParaRPr>
          </a:p>
        </p:txBody>
      </p:sp>
      <p:sp>
        <p:nvSpPr>
          <p:cNvPr id="27" name="object 27" descr=""/>
          <p:cNvSpPr/>
          <p:nvPr/>
        </p:nvSpPr>
        <p:spPr>
          <a:xfrm>
            <a:off x="3523608" y="1297073"/>
            <a:ext cx="1452245" cy="2451735"/>
          </a:xfrm>
          <a:custGeom>
            <a:avLst/>
            <a:gdLst/>
            <a:ahLst/>
            <a:cxnLst/>
            <a:rect l="l" t="t" r="r" b="b"/>
            <a:pathLst>
              <a:path w="1452245" h="2451735">
                <a:moveTo>
                  <a:pt x="0" y="242036"/>
                </a:moveTo>
                <a:lnTo>
                  <a:pt x="4917" y="193259"/>
                </a:lnTo>
                <a:lnTo>
                  <a:pt x="19021" y="147827"/>
                </a:lnTo>
                <a:lnTo>
                  <a:pt x="41337" y="106714"/>
                </a:lnTo>
                <a:lnTo>
                  <a:pt x="70892" y="70892"/>
                </a:lnTo>
                <a:lnTo>
                  <a:pt x="106714" y="41337"/>
                </a:lnTo>
                <a:lnTo>
                  <a:pt x="147827" y="19021"/>
                </a:lnTo>
                <a:lnTo>
                  <a:pt x="193259" y="4917"/>
                </a:lnTo>
                <a:lnTo>
                  <a:pt x="242036" y="0"/>
                </a:lnTo>
                <a:lnTo>
                  <a:pt x="1210144" y="0"/>
                </a:lnTo>
                <a:lnTo>
                  <a:pt x="1258922" y="4917"/>
                </a:lnTo>
                <a:lnTo>
                  <a:pt x="1304354" y="19021"/>
                </a:lnTo>
                <a:lnTo>
                  <a:pt x="1345467" y="41337"/>
                </a:lnTo>
                <a:lnTo>
                  <a:pt x="1381288" y="70892"/>
                </a:lnTo>
                <a:lnTo>
                  <a:pt x="1410843" y="106714"/>
                </a:lnTo>
                <a:lnTo>
                  <a:pt x="1433160" y="147827"/>
                </a:lnTo>
                <a:lnTo>
                  <a:pt x="1447263" y="193259"/>
                </a:lnTo>
                <a:lnTo>
                  <a:pt x="1452181" y="242036"/>
                </a:lnTo>
                <a:lnTo>
                  <a:pt x="1452181" y="2209076"/>
                </a:lnTo>
                <a:lnTo>
                  <a:pt x="1447263" y="2257856"/>
                </a:lnTo>
                <a:lnTo>
                  <a:pt x="1433160" y="2303290"/>
                </a:lnTo>
                <a:lnTo>
                  <a:pt x="1410843" y="2344404"/>
                </a:lnTo>
                <a:lnTo>
                  <a:pt x="1381288" y="2380224"/>
                </a:lnTo>
                <a:lnTo>
                  <a:pt x="1345467" y="2409778"/>
                </a:lnTo>
                <a:lnTo>
                  <a:pt x="1304354" y="2432093"/>
                </a:lnTo>
                <a:lnTo>
                  <a:pt x="1258922" y="2446195"/>
                </a:lnTo>
                <a:lnTo>
                  <a:pt x="1210144" y="2451112"/>
                </a:lnTo>
                <a:lnTo>
                  <a:pt x="242036" y="2451112"/>
                </a:lnTo>
                <a:lnTo>
                  <a:pt x="193259" y="2446195"/>
                </a:lnTo>
                <a:lnTo>
                  <a:pt x="147827" y="2432093"/>
                </a:lnTo>
                <a:lnTo>
                  <a:pt x="106714" y="2409778"/>
                </a:lnTo>
                <a:lnTo>
                  <a:pt x="70892" y="2380224"/>
                </a:lnTo>
                <a:lnTo>
                  <a:pt x="41337" y="2344404"/>
                </a:lnTo>
                <a:lnTo>
                  <a:pt x="19021" y="2303290"/>
                </a:lnTo>
                <a:lnTo>
                  <a:pt x="4917" y="2257856"/>
                </a:lnTo>
                <a:lnTo>
                  <a:pt x="0" y="2209076"/>
                </a:lnTo>
                <a:lnTo>
                  <a:pt x="0" y="242036"/>
                </a:lnTo>
                <a:close/>
              </a:path>
            </a:pathLst>
          </a:custGeom>
          <a:ln w="38099">
            <a:solidFill>
              <a:srgbClr val="FF0000"/>
            </a:solidFill>
          </a:ln>
        </p:spPr>
        <p:txBody>
          <a:bodyPr wrap="square" lIns="0" tIns="0" rIns="0" bIns="0" rtlCol="0"/>
          <a:lstStyle/>
          <a:p/>
        </p:txBody>
      </p:sp>
      <p:sp>
        <p:nvSpPr>
          <p:cNvPr id="28" name="object 28" descr=""/>
          <p:cNvSpPr txBox="1"/>
          <p:nvPr/>
        </p:nvSpPr>
        <p:spPr>
          <a:xfrm>
            <a:off x="3691849" y="3427485"/>
            <a:ext cx="1116965" cy="835660"/>
          </a:xfrm>
          <a:prstGeom prst="rect">
            <a:avLst/>
          </a:prstGeom>
        </p:spPr>
        <p:txBody>
          <a:bodyPr wrap="square" lIns="0" tIns="104775" rIns="0" bIns="0" rtlCol="0" vert="horz">
            <a:spAutoFit/>
          </a:bodyPr>
          <a:lstStyle/>
          <a:p>
            <a:pPr algn="ctr">
              <a:lnSpc>
                <a:spcPct val="100000"/>
              </a:lnSpc>
              <a:spcBef>
                <a:spcPts val="825"/>
              </a:spcBef>
            </a:pPr>
            <a:r>
              <a:rPr dirty="0" sz="1100" spc="-10" b="1">
                <a:latin typeface="Arial"/>
                <a:cs typeface="Arial"/>
              </a:rPr>
              <a:t>2018~2019</a:t>
            </a:r>
            <a:endParaRPr sz="1100">
              <a:latin typeface="Arial"/>
              <a:cs typeface="Arial"/>
            </a:endParaRPr>
          </a:p>
          <a:p>
            <a:pPr algn="ctr" marL="12065" marR="5080" indent="-1905">
              <a:lnSpc>
                <a:spcPct val="100000"/>
              </a:lnSpc>
              <a:spcBef>
                <a:spcPts val="600"/>
              </a:spcBef>
            </a:pPr>
            <a:r>
              <a:rPr dirty="0" sz="900" spc="-10" b="1">
                <a:latin typeface="Arial"/>
                <a:cs typeface="Arial"/>
              </a:rPr>
              <a:t>1</a:t>
            </a:r>
            <a:r>
              <a:rPr dirty="0" sz="900" b="1">
                <a:latin typeface="Microsoft YaHei"/>
                <a:cs typeface="Microsoft YaHei"/>
              </a:rPr>
              <a:t>、用户体验</a:t>
            </a:r>
            <a:r>
              <a:rPr dirty="0" sz="900" spc="-10" b="1">
                <a:latin typeface="Arial"/>
                <a:cs typeface="Arial"/>
              </a:rPr>
              <a:t>600Mps 2</a:t>
            </a:r>
            <a:r>
              <a:rPr dirty="0" sz="900" b="1">
                <a:latin typeface="Microsoft YaHei"/>
                <a:cs typeface="Microsoft YaHei"/>
              </a:rPr>
              <a:t>、</a:t>
            </a:r>
            <a:r>
              <a:rPr dirty="0" sz="900" spc="-10" b="1">
                <a:latin typeface="Arial"/>
                <a:cs typeface="Arial"/>
              </a:rPr>
              <a:t>5G</a:t>
            </a:r>
            <a:r>
              <a:rPr dirty="0" sz="900" b="1">
                <a:latin typeface="Microsoft YaHei"/>
                <a:cs typeface="Microsoft YaHei"/>
              </a:rPr>
              <a:t>设备硬件</a:t>
            </a:r>
            <a:r>
              <a:rPr dirty="0" sz="900" spc="-20" b="1">
                <a:latin typeface="Arial"/>
                <a:cs typeface="Arial"/>
              </a:rPr>
              <a:t>ready</a:t>
            </a:r>
            <a:endParaRPr sz="900">
              <a:latin typeface="Arial"/>
              <a:cs typeface="Arial"/>
            </a:endParaRPr>
          </a:p>
          <a:p>
            <a:pPr marL="269875">
              <a:lnSpc>
                <a:spcPct val="100000"/>
              </a:lnSpc>
              <a:spcBef>
                <a:spcPts val="254"/>
              </a:spcBef>
            </a:pPr>
            <a:r>
              <a:rPr dirty="0" sz="1100" spc="-10" b="1">
                <a:solidFill>
                  <a:srgbClr val="FF0000"/>
                </a:solidFill>
                <a:latin typeface="Arial"/>
                <a:cs typeface="Arial"/>
              </a:rPr>
              <a:t>4G</a:t>
            </a:r>
            <a:r>
              <a:rPr dirty="0" sz="1100" spc="-35" b="1">
                <a:solidFill>
                  <a:srgbClr val="FF0000"/>
                </a:solidFill>
                <a:latin typeface="Microsoft YaHei"/>
                <a:cs typeface="Microsoft YaHei"/>
              </a:rPr>
              <a:t>演进</a:t>
            </a:r>
            <a:endParaRPr sz="1100">
              <a:latin typeface="Microsoft YaHei"/>
              <a:cs typeface="Microsoft YaHei"/>
            </a:endParaRPr>
          </a:p>
        </p:txBody>
      </p:sp>
      <p:sp>
        <p:nvSpPr>
          <p:cNvPr id="29" name="object 29" descr=""/>
          <p:cNvSpPr txBox="1"/>
          <p:nvPr/>
        </p:nvSpPr>
        <p:spPr>
          <a:xfrm>
            <a:off x="2408798" y="3509352"/>
            <a:ext cx="336550" cy="193040"/>
          </a:xfrm>
          <a:prstGeom prst="rect">
            <a:avLst/>
          </a:prstGeom>
        </p:spPr>
        <p:txBody>
          <a:bodyPr wrap="square" lIns="0" tIns="12065" rIns="0" bIns="0" rtlCol="0" vert="horz">
            <a:spAutoFit/>
          </a:bodyPr>
          <a:lstStyle/>
          <a:p>
            <a:pPr marL="12700">
              <a:lnSpc>
                <a:spcPct val="100000"/>
              </a:lnSpc>
              <a:spcBef>
                <a:spcPts val="95"/>
              </a:spcBef>
            </a:pPr>
            <a:r>
              <a:rPr dirty="0" sz="1100" spc="-20" b="1">
                <a:latin typeface="Arial"/>
                <a:cs typeface="Arial"/>
              </a:rPr>
              <a:t>2017</a:t>
            </a:r>
            <a:endParaRPr sz="1100">
              <a:latin typeface="Arial"/>
              <a:cs typeface="Arial"/>
            </a:endParaRPr>
          </a:p>
        </p:txBody>
      </p:sp>
      <p:sp>
        <p:nvSpPr>
          <p:cNvPr id="30" name="object 30" descr=""/>
          <p:cNvSpPr txBox="1"/>
          <p:nvPr/>
        </p:nvSpPr>
        <p:spPr>
          <a:xfrm>
            <a:off x="2012530" y="1772587"/>
            <a:ext cx="1129665" cy="345440"/>
          </a:xfrm>
          <a:prstGeom prst="rect">
            <a:avLst/>
          </a:prstGeom>
        </p:spPr>
        <p:txBody>
          <a:bodyPr wrap="square" lIns="0" tIns="12700" rIns="0" bIns="0" rtlCol="0" vert="horz">
            <a:spAutoFit/>
          </a:bodyPr>
          <a:lstStyle/>
          <a:p>
            <a:pPr algn="ctr">
              <a:lnSpc>
                <a:spcPct val="100000"/>
              </a:lnSpc>
              <a:spcBef>
                <a:spcPts val="100"/>
              </a:spcBef>
            </a:pPr>
            <a:r>
              <a:rPr dirty="0" sz="1050">
                <a:latin typeface="Arial MT"/>
                <a:cs typeface="Arial MT"/>
              </a:rPr>
              <a:t>3D </a:t>
            </a:r>
            <a:r>
              <a:rPr dirty="0" sz="1050" spc="-10">
                <a:latin typeface="Arial MT"/>
                <a:cs typeface="Arial MT"/>
              </a:rPr>
              <a:t>MIMO</a:t>
            </a:r>
            <a:r>
              <a:rPr dirty="0" sz="1050" spc="-15">
                <a:latin typeface="Microsoft YaHei"/>
                <a:cs typeface="Microsoft YaHei"/>
              </a:rPr>
              <a:t>启动建设</a:t>
            </a:r>
            <a:endParaRPr sz="1050">
              <a:latin typeface="Microsoft YaHei"/>
              <a:cs typeface="Microsoft YaHei"/>
            </a:endParaRPr>
          </a:p>
          <a:p>
            <a:pPr algn="ctr" marL="635">
              <a:lnSpc>
                <a:spcPct val="100000"/>
              </a:lnSpc>
            </a:pPr>
            <a:r>
              <a:rPr dirty="0" sz="1050" spc="-20">
                <a:latin typeface="Arial MT"/>
                <a:cs typeface="Arial MT"/>
              </a:rPr>
              <a:t>40M</a:t>
            </a:r>
            <a:r>
              <a:rPr dirty="0" sz="1050" spc="-15">
                <a:latin typeface="Microsoft YaHei"/>
                <a:cs typeface="Microsoft YaHei"/>
              </a:rPr>
              <a:t>频谱申请</a:t>
            </a:r>
            <a:endParaRPr sz="1050">
              <a:latin typeface="Microsoft YaHei"/>
              <a:cs typeface="Microsoft YaHei"/>
            </a:endParaRPr>
          </a:p>
        </p:txBody>
      </p:sp>
      <p:sp>
        <p:nvSpPr>
          <p:cNvPr id="31" name="object 31" descr=""/>
          <p:cNvSpPr/>
          <p:nvPr/>
        </p:nvSpPr>
        <p:spPr>
          <a:xfrm>
            <a:off x="1864831" y="1290911"/>
            <a:ext cx="1425575" cy="2451735"/>
          </a:xfrm>
          <a:custGeom>
            <a:avLst/>
            <a:gdLst/>
            <a:ahLst/>
            <a:cxnLst/>
            <a:rect l="l" t="t" r="r" b="b"/>
            <a:pathLst>
              <a:path w="1425575" h="2451735">
                <a:moveTo>
                  <a:pt x="0" y="237540"/>
                </a:moveTo>
                <a:lnTo>
                  <a:pt x="4825" y="189667"/>
                </a:lnTo>
                <a:lnTo>
                  <a:pt x="18667" y="145078"/>
                </a:lnTo>
                <a:lnTo>
                  <a:pt x="40568" y="104729"/>
                </a:lnTo>
                <a:lnTo>
                  <a:pt x="69573" y="69573"/>
                </a:lnTo>
                <a:lnTo>
                  <a:pt x="104729" y="40568"/>
                </a:lnTo>
                <a:lnTo>
                  <a:pt x="145078" y="18667"/>
                </a:lnTo>
                <a:lnTo>
                  <a:pt x="189667" y="4825"/>
                </a:lnTo>
                <a:lnTo>
                  <a:pt x="237540" y="0"/>
                </a:lnTo>
                <a:lnTo>
                  <a:pt x="1187691" y="0"/>
                </a:lnTo>
                <a:lnTo>
                  <a:pt x="1235564" y="4825"/>
                </a:lnTo>
                <a:lnTo>
                  <a:pt x="1280153" y="18667"/>
                </a:lnTo>
                <a:lnTo>
                  <a:pt x="1320502" y="40568"/>
                </a:lnTo>
                <a:lnTo>
                  <a:pt x="1355658" y="69573"/>
                </a:lnTo>
                <a:lnTo>
                  <a:pt x="1384664" y="104729"/>
                </a:lnTo>
                <a:lnTo>
                  <a:pt x="1406565" y="145078"/>
                </a:lnTo>
                <a:lnTo>
                  <a:pt x="1420406" y="189667"/>
                </a:lnTo>
                <a:lnTo>
                  <a:pt x="1425232" y="237540"/>
                </a:lnTo>
                <a:lnTo>
                  <a:pt x="1425232" y="2213571"/>
                </a:lnTo>
                <a:lnTo>
                  <a:pt x="1420406" y="2261444"/>
                </a:lnTo>
                <a:lnTo>
                  <a:pt x="1406565" y="2306033"/>
                </a:lnTo>
                <a:lnTo>
                  <a:pt x="1384664" y="2346383"/>
                </a:lnTo>
                <a:lnTo>
                  <a:pt x="1355658" y="2381538"/>
                </a:lnTo>
                <a:lnTo>
                  <a:pt x="1320502" y="2410544"/>
                </a:lnTo>
                <a:lnTo>
                  <a:pt x="1280153" y="2432445"/>
                </a:lnTo>
                <a:lnTo>
                  <a:pt x="1235564" y="2446286"/>
                </a:lnTo>
                <a:lnTo>
                  <a:pt x="1187691" y="2451112"/>
                </a:lnTo>
                <a:lnTo>
                  <a:pt x="237540" y="2451112"/>
                </a:lnTo>
                <a:lnTo>
                  <a:pt x="189667" y="2446286"/>
                </a:lnTo>
                <a:lnTo>
                  <a:pt x="145078" y="2432445"/>
                </a:lnTo>
                <a:lnTo>
                  <a:pt x="104729" y="2410544"/>
                </a:lnTo>
                <a:lnTo>
                  <a:pt x="69573" y="2381538"/>
                </a:lnTo>
                <a:lnTo>
                  <a:pt x="40568" y="2346383"/>
                </a:lnTo>
                <a:lnTo>
                  <a:pt x="18667" y="2306033"/>
                </a:lnTo>
                <a:lnTo>
                  <a:pt x="4825" y="2261444"/>
                </a:lnTo>
                <a:lnTo>
                  <a:pt x="0" y="2213571"/>
                </a:lnTo>
                <a:lnTo>
                  <a:pt x="0" y="237540"/>
                </a:lnTo>
                <a:close/>
              </a:path>
            </a:pathLst>
          </a:custGeom>
          <a:ln w="38100">
            <a:solidFill>
              <a:srgbClr val="FF0000"/>
            </a:solidFill>
          </a:ln>
        </p:spPr>
        <p:txBody>
          <a:bodyPr wrap="square" lIns="0" tIns="0" rIns="0" bIns="0" rtlCol="0"/>
          <a:lstStyle/>
          <a:p/>
        </p:txBody>
      </p:sp>
      <p:sp>
        <p:nvSpPr>
          <p:cNvPr id="32" name="object 32" descr=""/>
          <p:cNvSpPr txBox="1"/>
          <p:nvPr/>
        </p:nvSpPr>
        <p:spPr>
          <a:xfrm>
            <a:off x="2053602" y="3754684"/>
            <a:ext cx="1047750" cy="502284"/>
          </a:xfrm>
          <a:prstGeom prst="rect">
            <a:avLst/>
          </a:prstGeom>
        </p:spPr>
        <p:txBody>
          <a:bodyPr wrap="square" lIns="0" tIns="85090" rIns="0" bIns="0" rtlCol="0" vert="horz">
            <a:spAutoFit/>
          </a:bodyPr>
          <a:lstStyle/>
          <a:p>
            <a:pPr marL="12700">
              <a:lnSpc>
                <a:spcPct val="100000"/>
              </a:lnSpc>
              <a:spcBef>
                <a:spcPts val="670"/>
              </a:spcBef>
            </a:pPr>
            <a:r>
              <a:rPr dirty="0" sz="1050" b="1">
                <a:latin typeface="Microsoft YaHei"/>
                <a:cs typeface="Microsoft YaHei"/>
              </a:rPr>
              <a:t>用户体验</a:t>
            </a:r>
            <a:r>
              <a:rPr dirty="0" sz="1050" spc="-10" b="1">
                <a:latin typeface="Arial"/>
                <a:cs typeface="Arial"/>
              </a:rPr>
              <a:t>200Mps</a:t>
            </a:r>
            <a:endParaRPr sz="1050">
              <a:latin typeface="Arial"/>
              <a:cs typeface="Arial"/>
            </a:endParaRPr>
          </a:p>
          <a:p>
            <a:pPr marL="229235">
              <a:lnSpc>
                <a:spcPct val="100000"/>
              </a:lnSpc>
              <a:spcBef>
                <a:spcPts val="600"/>
              </a:spcBef>
            </a:pPr>
            <a:r>
              <a:rPr dirty="0" sz="1100" spc="-10" b="1">
                <a:solidFill>
                  <a:srgbClr val="FF0000"/>
                </a:solidFill>
                <a:latin typeface="Arial"/>
                <a:cs typeface="Arial"/>
              </a:rPr>
              <a:t>4G</a:t>
            </a:r>
            <a:r>
              <a:rPr dirty="0" sz="1100" spc="-35" b="1">
                <a:solidFill>
                  <a:srgbClr val="FF0000"/>
                </a:solidFill>
                <a:latin typeface="Microsoft YaHei"/>
                <a:cs typeface="Microsoft YaHei"/>
              </a:rPr>
              <a:t>时代</a:t>
            </a:r>
            <a:endParaRPr sz="1100">
              <a:latin typeface="Microsoft YaHei"/>
              <a:cs typeface="Microsoft YaHei"/>
            </a:endParaRPr>
          </a:p>
        </p:txBody>
      </p:sp>
      <p:sp>
        <p:nvSpPr>
          <p:cNvPr id="33" name="object 33" descr=""/>
          <p:cNvSpPr txBox="1"/>
          <p:nvPr/>
        </p:nvSpPr>
        <p:spPr>
          <a:xfrm>
            <a:off x="5601956" y="1364063"/>
            <a:ext cx="683895" cy="345440"/>
          </a:xfrm>
          <a:prstGeom prst="rect">
            <a:avLst/>
          </a:prstGeom>
        </p:spPr>
        <p:txBody>
          <a:bodyPr wrap="square" lIns="0" tIns="12700" rIns="0" bIns="0" rtlCol="0" vert="horz">
            <a:spAutoFit/>
          </a:bodyPr>
          <a:lstStyle/>
          <a:p>
            <a:pPr marL="12700" marR="5080" indent="62230">
              <a:lnSpc>
                <a:spcPct val="100000"/>
              </a:lnSpc>
              <a:spcBef>
                <a:spcPts val="100"/>
              </a:spcBef>
            </a:pPr>
            <a:r>
              <a:rPr dirty="0" sz="1050" spc="-15">
                <a:latin typeface="Microsoft YaHei"/>
                <a:cs typeface="Microsoft YaHei"/>
              </a:rPr>
              <a:t>规模新建</a:t>
            </a:r>
            <a:r>
              <a:rPr dirty="0" sz="1050">
                <a:latin typeface="Microsoft YaHei"/>
                <a:cs typeface="Microsoft YaHei"/>
              </a:rPr>
              <a:t>速率</a:t>
            </a:r>
            <a:r>
              <a:rPr dirty="0" sz="1050" spc="-20">
                <a:latin typeface="Arial MT"/>
                <a:cs typeface="Arial MT"/>
              </a:rPr>
              <a:t>5Gbps</a:t>
            </a:r>
            <a:endParaRPr sz="1050">
              <a:latin typeface="Arial MT"/>
              <a:cs typeface="Arial MT"/>
            </a:endParaRPr>
          </a:p>
        </p:txBody>
      </p:sp>
      <p:sp>
        <p:nvSpPr>
          <p:cNvPr id="34" name="object 34" descr=""/>
          <p:cNvSpPr txBox="1"/>
          <p:nvPr/>
        </p:nvSpPr>
        <p:spPr>
          <a:xfrm>
            <a:off x="5601822" y="1772514"/>
            <a:ext cx="683895" cy="345440"/>
          </a:xfrm>
          <a:prstGeom prst="rect">
            <a:avLst/>
          </a:prstGeom>
        </p:spPr>
        <p:txBody>
          <a:bodyPr wrap="square" lIns="0" tIns="12700" rIns="0" bIns="0" rtlCol="0" vert="horz">
            <a:spAutoFit/>
          </a:bodyPr>
          <a:lstStyle/>
          <a:p>
            <a:pPr marL="12700" marR="5080" indent="40640">
              <a:lnSpc>
                <a:spcPct val="100000"/>
              </a:lnSpc>
              <a:spcBef>
                <a:spcPts val="100"/>
              </a:spcBef>
            </a:pPr>
            <a:r>
              <a:rPr dirty="0" sz="1050">
                <a:latin typeface="Microsoft YaHei"/>
                <a:cs typeface="Microsoft YaHei"/>
              </a:rPr>
              <a:t>重耕到</a:t>
            </a:r>
            <a:r>
              <a:rPr dirty="0" sz="1050" spc="-25">
                <a:latin typeface="Arial MT"/>
                <a:cs typeface="Arial MT"/>
              </a:rPr>
              <a:t>5G</a:t>
            </a:r>
            <a:r>
              <a:rPr dirty="0" sz="1050">
                <a:latin typeface="Microsoft YaHei"/>
                <a:cs typeface="Microsoft YaHei"/>
              </a:rPr>
              <a:t>速率</a:t>
            </a:r>
            <a:r>
              <a:rPr dirty="0" sz="1050" spc="-20">
                <a:latin typeface="Arial MT"/>
                <a:cs typeface="Arial MT"/>
              </a:rPr>
              <a:t>5Gbps</a:t>
            </a:r>
            <a:endParaRPr sz="1050">
              <a:latin typeface="Arial MT"/>
              <a:cs typeface="Arial MT"/>
            </a:endParaRPr>
          </a:p>
        </p:txBody>
      </p:sp>
      <p:sp>
        <p:nvSpPr>
          <p:cNvPr id="35" name="object 35" descr=""/>
          <p:cNvSpPr txBox="1"/>
          <p:nvPr/>
        </p:nvSpPr>
        <p:spPr>
          <a:xfrm>
            <a:off x="5546215" y="2583416"/>
            <a:ext cx="795020" cy="185420"/>
          </a:xfrm>
          <a:prstGeom prst="rect">
            <a:avLst/>
          </a:prstGeom>
        </p:spPr>
        <p:txBody>
          <a:bodyPr wrap="square" lIns="0" tIns="12700" rIns="0" bIns="0" rtlCol="0" vert="horz">
            <a:spAutoFit/>
          </a:bodyPr>
          <a:lstStyle/>
          <a:p>
            <a:pPr marL="12700">
              <a:lnSpc>
                <a:spcPct val="100000"/>
              </a:lnSpc>
              <a:spcBef>
                <a:spcPts val="100"/>
              </a:spcBef>
            </a:pPr>
            <a:r>
              <a:rPr dirty="0" sz="1050">
                <a:latin typeface="Microsoft YaHei"/>
                <a:cs typeface="Microsoft YaHei"/>
              </a:rPr>
              <a:t>速率</a:t>
            </a:r>
            <a:r>
              <a:rPr dirty="0" sz="1050" spc="-10">
                <a:latin typeface="Arial MT"/>
                <a:cs typeface="Arial MT"/>
              </a:rPr>
              <a:t>1.2Gbps</a:t>
            </a:r>
            <a:endParaRPr sz="1050">
              <a:latin typeface="Arial MT"/>
              <a:cs typeface="Arial MT"/>
            </a:endParaRPr>
          </a:p>
        </p:txBody>
      </p:sp>
      <p:sp>
        <p:nvSpPr>
          <p:cNvPr id="36" name="object 36" descr=""/>
          <p:cNvSpPr txBox="1"/>
          <p:nvPr/>
        </p:nvSpPr>
        <p:spPr>
          <a:xfrm>
            <a:off x="5524079" y="2227371"/>
            <a:ext cx="839469" cy="185420"/>
          </a:xfrm>
          <a:prstGeom prst="rect">
            <a:avLst/>
          </a:prstGeom>
        </p:spPr>
        <p:txBody>
          <a:bodyPr wrap="square" lIns="0" tIns="12700" rIns="0" bIns="0" rtlCol="0" vert="horz">
            <a:spAutoFit/>
          </a:bodyPr>
          <a:lstStyle/>
          <a:p>
            <a:pPr marL="12700">
              <a:lnSpc>
                <a:spcPct val="100000"/>
              </a:lnSpc>
              <a:spcBef>
                <a:spcPts val="100"/>
              </a:spcBef>
            </a:pPr>
            <a:r>
              <a:rPr dirty="0" sz="1050">
                <a:latin typeface="Microsoft YaHei"/>
                <a:cs typeface="Microsoft YaHei"/>
              </a:rPr>
              <a:t>速率</a:t>
            </a:r>
            <a:r>
              <a:rPr dirty="0" sz="1050" spc="-10">
                <a:latin typeface="Arial MT"/>
                <a:cs typeface="Arial MT"/>
              </a:rPr>
              <a:t>350Mbps</a:t>
            </a:r>
            <a:endParaRPr sz="1050">
              <a:latin typeface="Arial MT"/>
              <a:cs typeface="Arial MT"/>
            </a:endParaRPr>
          </a:p>
        </p:txBody>
      </p:sp>
      <p:sp>
        <p:nvSpPr>
          <p:cNvPr id="37" name="object 37" descr=""/>
          <p:cNvSpPr/>
          <p:nvPr/>
        </p:nvSpPr>
        <p:spPr>
          <a:xfrm>
            <a:off x="5249754" y="1290905"/>
            <a:ext cx="1389380" cy="2451735"/>
          </a:xfrm>
          <a:custGeom>
            <a:avLst/>
            <a:gdLst/>
            <a:ahLst/>
            <a:cxnLst/>
            <a:rect l="l" t="t" r="r" b="b"/>
            <a:pathLst>
              <a:path w="1389379" h="2451735">
                <a:moveTo>
                  <a:pt x="0" y="231559"/>
                </a:moveTo>
                <a:lnTo>
                  <a:pt x="4704" y="184891"/>
                </a:lnTo>
                <a:lnTo>
                  <a:pt x="18196" y="141424"/>
                </a:lnTo>
                <a:lnTo>
                  <a:pt x="39546" y="102091"/>
                </a:lnTo>
                <a:lnTo>
                  <a:pt x="67821" y="67821"/>
                </a:lnTo>
                <a:lnTo>
                  <a:pt x="102091" y="39546"/>
                </a:lnTo>
                <a:lnTo>
                  <a:pt x="141424" y="18196"/>
                </a:lnTo>
                <a:lnTo>
                  <a:pt x="184891" y="4704"/>
                </a:lnTo>
                <a:lnTo>
                  <a:pt x="231559" y="0"/>
                </a:lnTo>
                <a:lnTo>
                  <a:pt x="1157744" y="0"/>
                </a:lnTo>
                <a:lnTo>
                  <a:pt x="1204412" y="4704"/>
                </a:lnTo>
                <a:lnTo>
                  <a:pt x="1247878" y="18196"/>
                </a:lnTo>
                <a:lnTo>
                  <a:pt x="1287212" y="39546"/>
                </a:lnTo>
                <a:lnTo>
                  <a:pt x="1321482" y="67821"/>
                </a:lnTo>
                <a:lnTo>
                  <a:pt x="1349757" y="102091"/>
                </a:lnTo>
                <a:lnTo>
                  <a:pt x="1371107" y="141424"/>
                </a:lnTo>
                <a:lnTo>
                  <a:pt x="1384599" y="184891"/>
                </a:lnTo>
                <a:lnTo>
                  <a:pt x="1389303" y="231559"/>
                </a:lnTo>
                <a:lnTo>
                  <a:pt x="1389303" y="2219566"/>
                </a:lnTo>
                <a:lnTo>
                  <a:pt x="1384599" y="2266230"/>
                </a:lnTo>
                <a:lnTo>
                  <a:pt x="1371107" y="2309693"/>
                </a:lnTo>
                <a:lnTo>
                  <a:pt x="1349757" y="2349024"/>
                </a:lnTo>
                <a:lnTo>
                  <a:pt x="1321482" y="2383293"/>
                </a:lnTo>
                <a:lnTo>
                  <a:pt x="1287212" y="2411567"/>
                </a:lnTo>
                <a:lnTo>
                  <a:pt x="1247878" y="2432916"/>
                </a:lnTo>
                <a:lnTo>
                  <a:pt x="1204412" y="2446408"/>
                </a:lnTo>
                <a:lnTo>
                  <a:pt x="1157744" y="2451112"/>
                </a:lnTo>
                <a:lnTo>
                  <a:pt x="231559" y="2451112"/>
                </a:lnTo>
                <a:lnTo>
                  <a:pt x="184891" y="2446408"/>
                </a:lnTo>
                <a:lnTo>
                  <a:pt x="141424" y="2432916"/>
                </a:lnTo>
                <a:lnTo>
                  <a:pt x="102091" y="2411567"/>
                </a:lnTo>
                <a:lnTo>
                  <a:pt x="67821" y="2383293"/>
                </a:lnTo>
                <a:lnTo>
                  <a:pt x="39546" y="2349024"/>
                </a:lnTo>
                <a:lnTo>
                  <a:pt x="18196" y="2309693"/>
                </a:lnTo>
                <a:lnTo>
                  <a:pt x="4704" y="2266230"/>
                </a:lnTo>
                <a:lnTo>
                  <a:pt x="0" y="2219566"/>
                </a:lnTo>
                <a:lnTo>
                  <a:pt x="0" y="231559"/>
                </a:lnTo>
                <a:close/>
              </a:path>
            </a:pathLst>
          </a:custGeom>
          <a:ln w="38100">
            <a:solidFill>
              <a:srgbClr val="FF0000"/>
            </a:solidFill>
          </a:ln>
        </p:spPr>
        <p:txBody>
          <a:bodyPr wrap="square" lIns="0" tIns="0" rIns="0" bIns="0" rtlCol="0"/>
          <a:lstStyle/>
          <a:p/>
        </p:txBody>
      </p:sp>
      <p:sp>
        <p:nvSpPr>
          <p:cNvPr id="38" name="object 38" descr=""/>
          <p:cNvSpPr txBox="1"/>
          <p:nvPr/>
        </p:nvSpPr>
        <p:spPr>
          <a:xfrm>
            <a:off x="5353791" y="3422838"/>
            <a:ext cx="1181100" cy="833755"/>
          </a:xfrm>
          <a:prstGeom prst="rect">
            <a:avLst/>
          </a:prstGeom>
        </p:spPr>
        <p:txBody>
          <a:bodyPr wrap="square" lIns="0" tIns="100330" rIns="0" bIns="0" rtlCol="0" vert="horz">
            <a:spAutoFit/>
          </a:bodyPr>
          <a:lstStyle/>
          <a:p>
            <a:pPr algn="ctr" marL="635">
              <a:lnSpc>
                <a:spcPct val="100000"/>
              </a:lnSpc>
              <a:spcBef>
                <a:spcPts val="790"/>
              </a:spcBef>
            </a:pPr>
            <a:r>
              <a:rPr dirty="0" sz="1100" spc="-10" b="1">
                <a:latin typeface="Arial"/>
                <a:cs typeface="Arial"/>
              </a:rPr>
              <a:t>2020+</a:t>
            </a:r>
            <a:endParaRPr sz="1100">
              <a:latin typeface="Arial"/>
              <a:cs typeface="Arial"/>
            </a:endParaRPr>
          </a:p>
          <a:p>
            <a:pPr algn="ctr">
              <a:lnSpc>
                <a:spcPct val="100000"/>
              </a:lnSpc>
              <a:spcBef>
                <a:spcPts val="665"/>
              </a:spcBef>
            </a:pPr>
            <a:r>
              <a:rPr dirty="0" sz="1050" spc="-20" b="1">
                <a:latin typeface="Arial"/>
                <a:cs typeface="Arial"/>
              </a:rPr>
              <a:t>1</a:t>
            </a:r>
            <a:r>
              <a:rPr dirty="0" sz="1050" b="1">
                <a:latin typeface="Microsoft YaHei"/>
                <a:cs typeface="Microsoft YaHei"/>
              </a:rPr>
              <a:t>、用户体验</a:t>
            </a:r>
            <a:r>
              <a:rPr dirty="0" sz="1050" spc="-20" b="1">
                <a:latin typeface="Arial"/>
                <a:cs typeface="Arial"/>
              </a:rPr>
              <a:t>1Gbps</a:t>
            </a:r>
            <a:endParaRPr sz="1050">
              <a:latin typeface="Arial"/>
              <a:cs typeface="Arial"/>
            </a:endParaRPr>
          </a:p>
          <a:p>
            <a:pPr algn="ctr">
              <a:lnSpc>
                <a:spcPts val="1185"/>
              </a:lnSpc>
            </a:pPr>
            <a:r>
              <a:rPr dirty="0" sz="1050" spc="-20" b="1">
                <a:latin typeface="Arial"/>
                <a:cs typeface="Arial"/>
              </a:rPr>
              <a:t>2</a:t>
            </a:r>
            <a:r>
              <a:rPr dirty="0" sz="1050" b="1">
                <a:latin typeface="Microsoft YaHei"/>
                <a:cs typeface="Microsoft YaHei"/>
              </a:rPr>
              <a:t>、大规模</a:t>
            </a:r>
            <a:r>
              <a:rPr dirty="0" sz="1050" spc="-10" b="1">
                <a:latin typeface="Arial"/>
                <a:cs typeface="Arial"/>
              </a:rPr>
              <a:t>5G</a:t>
            </a:r>
            <a:r>
              <a:rPr dirty="0" sz="1050" spc="-25" b="1">
                <a:latin typeface="Microsoft YaHei"/>
                <a:cs typeface="Microsoft YaHei"/>
              </a:rPr>
              <a:t>商用</a:t>
            </a:r>
            <a:endParaRPr sz="1050">
              <a:latin typeface="Microsoft YaHei"/>
              <a:cs typeface="Microsoft YaHei"/>
            </a:endParaRPr>
          </a:p>
          <a:p>
            <a:pPr algn="ctr" marL="50165">
              <a:lnSpc>
                <a:spcPts val="1245"/>
              </a:lnSpc>
            </a:pPr>
            <a:r>
              <a:rPr dirty="0" sz="1100" spc="-10" b="1">
                <a:solidFill>
                  <a:srgbClr val="FF0000"/>
                </a:solidFill>
                <a:latin typeface="Arial"/>
                <a:cs typeface="Arial"/>
              </a:rPr>
              <a:t>5G</a:t>
            </a:r>
            <a:r>
              <a:rPr dirty="0" sz="1100" spc="-35" b="1">
                <a:solidFill>
                  <a:srgbClr val="FF0000"/>
                </a:solidFill>
                <a:latin typeface="Microsoft YaHei"/>
                <a:cs typeface="Microsoft YaHei"/>
              </a:rPr>
              <a:t>时代</a:t>
            </a:r>
            <a:endParaRPr sz="1100">
              <a:latin typeface="Microsoft YaHei"/>
              <a:cs typeface="Microsoft YaHei"/>
            </a:endParaRPr>
          </a:p>
        </p:txBody>
      </p:sp>
      <p:sp>
        <p:nvSpPr>
          <p:cNvPr id="39" name="object 39" descr=""/>
          <p:cNvSpPr txBox="1"/>
          <p:nvPr/>
        </p:nvSpPr>
        <p:spPr>
          <a:xfrm>
            <a:off x="7760372" y="1762632"/>
            <a:ext cx="636270" cy="255904"/>
          </a:xfrm>
          <a:prstGeom prst="rect">
            <a:avLst/>
          </a:prstGeom>
          <a:ln w="9525">
            <a:solidFill>
              <a:srgbClr val="000000"/>
            </a:solidFill>
          </a:ln>
        </p:spPr>
        <p:txBody>
          <a:bodyPr wrap="square" lIns="0" tIns="43180" rIns="0" bIns="0" rtlCol="0" vert="horz">
            <a:spAutoFit/>
          </a:bodyPr>
          <a:lstStyle/>
          <a:p>
            <a:pPr marL="28575">
              <a:lnSpc>
                <a:spcPct val="100000"/>
              </a:lnSpc>
              <a:spcBef>
                <a:spcPts val="340"/>
              </a:spcBef>
            </a:pPr>
            <a:r>
              <a:rPr dirty="0" sz="1050" spc="-10" b="1">
                <a:solidFill>
                  <a:srgbClr val="C00000"/>
                </a:solidFill>
                <a:latin typeface="Arial"/>
                <a:cs typeface="Arial"/>
              </a:rPr>
              <a:t>4G</a:t>
            </a:r>
            <a:r>
              <a:rPr dirty="0" sz="1050" spc="-20" b="1">
                <a:solidFill>
                  <a:srgbClr val="C00000"/>
                </a:solidFill>
                <a:latin typeface="Microsoft YaHei"/>
                <a:cs typeface="Microsoft YaHei"/>
              </a:rPr>
              <a:t>容量层</a:t>
            </a:r>
            <a:endParaRPr sz="1050">
              <a:latin typeface="Microsoft YaHei"/>
              <a:cs typeface="Microsoft YaHei"/>
            </a:endParaRPr>
          </a:p>
        </p:txBody>
      </p:sp>
      <p:pic>
        <p:nvPicPr>
          <p:cNvPr id="40" name="object 40" descr=""/>
          <p:cNvPicPr/>
          <p:nvPr/>
        </p:nvPicPr>
        <p:blipFill>
          <a:blip r:embed="rId2" cstate="print"/>
          <a:stretch>
            <a:fillRect/>
          </a:stretch>
        </p:blipFill>
        <p:spPr>
          <a:xfrm>
            <a:off x="7607679" y="1785762"/>
            <a:ext cx="119760" cy="206565"/>
          </a:xfrm>
          <a:prstGeom prst="rect">
            <a:avLst/>
          </a:prstGeom>
        </p:spPr>
      </p:pic>
      <p:sp>
        <p:nvSpPr>
          <p:cNvPr id="41" name="object 41" descr=""/>
          <p:cNvSpPr txBox="1"/>
          <p:nvPr/>
        </p:nvSpPr>
        <p:spPr>
          <a:xfrm>
            <a:off x="7754391" y="1352575"/>
            <a:ext cx="636270" cy="255904"/>
          </a:xfrm>
          <a:prstGeom prst="rect">
            <a:avLst/>
          </a:prstGeom>
          <a:ln w="9525">
            <a:solidFill>
              <a:srgbClr val="000000"/>
            </a:solidFill>
          </a:ln>
        </p:spPr>
        <p:txBody>
          <a:bodyPr wrap="square" lIns="0" tIns="43180" rIns="0" bIns="0" rtlCol="0" vert="horz">
            <a:spAutoFit/>
          </a:bodyPr>
          <a:lstStyle/>
          <a:p>
            <a:pPr marL="50800">
              <a:lnSpc>
                <a:spcPct val="100000"/>
              </a:lnSpc>
              <a:spcBef>
                <a:spcPts val="340"/>
              </a:spcBef>
            </a:pPr>
            <a:r>
              <a:rPr dirty="0" sz="1050" spc="-15" b="1">
                <a:solidFill>
                  <a:srgbClr val="C00000"/>
                </a:solidFill>
                <a:latin typeface="Microsoft YaHei"/>
                <a:cs typeface="Microsoft YaHei"/>
              </a:rPr>
              <a:t>新增频谱</a:t>
            </a:r>
            <a:endParaRPr sz="1050">
              <a:latin typeface="Microsoft YaHei"/>
              <a:cs typeface="Microsoft YaHei"/>
            </a:endParaRPr>
          </a:p>
        </p:txBody>
      </p:sp>
      <p:grpSp>
        <p:nvGrpSpPr>
          <p:cNvPr id="42" name="object 42" descr=""/>
          <p:cNvGrpSpPr/>
          <p:nvPr/>
        </p:nvGrpSpPr>
        <p:grpSpPr>
          <a:xfrm>
            <a:off x="6707199" y="1273582"/>
            <a:ext cx="1868805" cy="2023745"/>
            <a:chOff x="6707199" y="1273582"/>
            <a:chExt cx="1868805" cy="2023745"/>
          </a:xfrm>
        </p:grpSpPr>
        <p:pic>
          <p:nvPicPr>
            <p:cNvPr id="43" name="object 43" descr=""/>
            <p:cNvPicPr/>
            <p:nvPr/>
          </p:nvPicPr>
          <p:blipFill>
            <a:blip r:embed="rId2" cstate="print"/>
            <a:stretch>
              <a:fillRect/>
            </a:stretch>
          </p:blipFill>
          <p:spPr>
            <a:xfrm>
              <a:off x="7607679" y="1384950"/>
              <a:ext cx="119760" cy="206565"/>
            </a:xfrm>
            <a:prstGeom prst="rect">
              <a:avLst/>
            </a:prstGeom>
          </p:spPr>
        </p:pic>
        <p:sp>
          <p:nvSpPr>
            <p:cNvPr id="44" name="object 44" descr=""/>
            <p:cNvSpPr/>
            <p:nvPr/>
          </p:nvSpPr>
          <p:spPr>
            <a:xfrm>
              <a:off x="6719899" y="1286282"/>
              <a:ext cx="1739900" cy="843280"/>
            </a:xfrm>
            <a:custGeom>
              <a:avLst/>
              <a:gdLst/>
              <a:ahLst/>
              <a:cxnLst/>
              <a:rect l="l" t="t" r="r" b="b"/>
              <a:pathLst>
                <a:path w="1739900" h="843280">
                  <a:moveTo>
                    <a:pt x="0" y="117601"/>
                  </a:moveTo>
                  <a:lnTo>
                    <a:pt x="9242" y="71826"/>
                  </a:lnTo>
                  <a:lnTo>
                    <a:pt x="34445" y="34445"/>
                  </a:lnTo>
                  <a:lnTo>
                    <a:pt x="71826" y="9242"/>
                  </a:lnTo>
                  <a:lnTo>
                    <a:pt x="117602" y="0"/>
                  </a:lnTo>
                  <a:lnTo>
                    <a:pt x="1622018" y="0"/>
                  </a:lnTo>
                  <a:lnTo>
                    <a:pt x="1667793" y="9242"/>
                  </a:lnTo>
                  <a:lnTo>
                    <a:pt x="1705175" y="34445"/>
                  </a:lnTo>
                  <a:lnTo>
                    <a:pt x="1730378" y="71826"/>
                  </a:lnTo>
                  <a:lnTo>
                    <a:pt x="1739620" y="117601"/>
                  </a:lnTo>
                  <a:lnTo>
                    <a:pt x="1739620" y="725652"/>
                  </a:lnTo>
                  <a:lnTo>
                    <a:pt x="1730378" y="771425"/>
                  </a:lnTo>
                  <a:lnTo>
                    <a:pt x="1705175" y="808802"/>
                  </a:lnTo>
                  <a:lnTo>
                    <a:pt x="1667793" y="834001"/>
                  </a:lnTo>
                  <a:lnTo>
                    <a:pt x="1622018" y="843241"/>
                  </a:lnTo>
                  <a:lnTo>
                    <a:pt x="117602" y="843241"/>
                  </a:lnTo>
                  <a:lnTo>
                    <a:pt x="71826" y="834001"/>
                  </a:lnTo>
                  <a:lnTo>
                    <a:pt x="34445" y="808802"/>
                  </a:lnTo>
                  <a:lnTo>
                    <a:pt x="9242" y="771425"/>
                  </a:lnTo>
                  <a:lnTo>
                    <a:pt x="0" y="725652"/>
                  </a:lnTo>
                  <a:lnTo>
                    <a:pt x="0" y="117601"/>
                  </a:lnTo>
                  <a:close/>
                </a:path>
              </a:pathLst>
            </a:custGeom>
            <a:ln w="25400">
              <a:solidFill>
                <a:srgbClr val="0000FF"/>
              </a:solidFill>
            </a:ln>
          </p:spPr>
          <p:txBody>
            <a:bodyPr wrap="square" lIns="0" tIns="0" rIns="0" bIns="0" rtlCol="0"/>
            <a:lstStyle/>
            <a:p/>
          </p:txBody>
        </p:sp>
        <p:pic>
          <p:nvPicPr>
            <p:cNvPr id="45" name="object 45" descr=""/>
            <p:cNvPicPr/>
            <p:nvPr/>
          </p:nvPicPr>
          <p:blipFill>
            <a:blip r:embed="rId3" cstate="print"/>
            <a:stretch>
              <a:fillRect/>
            </a:stretch>
          </p:blipFill>
          <p:spPr>
            <a:xfrm>
              <a:off x="7602473" y="2122169"/>
              <a:ext cx="973073" cy="1175003"/>
            </a:xfrm>
            <a:prstGeom prst="rect">
              <a:avLst/>
            </a:prstGeom>
          </p:spPr>
        </p:pic>
        <p:pic>
          <p:nvPicPr>
            <p:cNvPr id="46" name="object 46" descr=""/>
            <p:cNvPicPr/>
            <p:nvPr/>
          </p:nvPicPr>
          <p:blipFill>
            <a:blip r:embed="rId4" cstate="print"/>
            <a:stretch>
              <a:fillRect/>
            </a:stretch>
          </p:blipFill>
          <p:spPr>
            <a:xfrm>
              <a:off x="7623047" y="2464307"/>
              <a:ext cx="930401" cy="784097"/>
            </a:xfrm>
            <a:prstGeom prst="rect">
              <a:avLst/>
            </a:prstGeom>
          </p:spPr>
        </p:pic>
        <p:sp>
          <p:nvSpPr>
            <p:cNvPr id="47" name="object 47" descr=""/>
            <p:cNvSpPr/>
            <p:nvPr/>
          </p:nvSpPr>
          <p:spPr>
            <a:xfrm>
              <a:off x="7627136" y="2146918"/>
              <a:ext cx="869950" cy="1071880"/>
            </a:xfrm>
            <a:custGeom>
              <a:avLst/>
              <a:gdLst/>
              <a:ahLst/>
              <a:cxnLst/>
              <a:rect l="l" t="t" r="r" b="b"/>
              <a:pathLst>
                <a:path w="869950" h="1071880">
                  <a:moveTo>
                    <a:pt x="89611" y="0"/>
                  </a:moveTo>
                  <a:lnTo>
                    <a:pt x="144970" y="333197"/>
                  </a:lnTo>
                  <a:lnTo>
                    <a:pt x="0" y="333197"/>
                  </a:lnTo>
                  <a:lnTo>
                    <a:pt x="0" y="1071867"/>
                  </a:lnTo>
                  <a:lnTo>
                    <a:pt x="869810" y="1071867"/>
                  </a:lnTo>
                  <a:lnTo>
                    <a:pt x="869810" y="333197"/>
                  </a:lnTo>
                  <a:lnTo>
                    <a:pt x="362419" y="333197"/>
                  </a:lnTo>
                  <a:lnTo>
                    <a:pt x="89611" y="0"/>
                  </a:lnTo>
                  <a:close/>
                </a:path>
              </a:pathLst>
            </a:custGeom>
            <a:solidFill>
              <a:srgbClr val="F2F2F2"/>
            </a:solidFill>
          </p:spPr>
          <p:txBody>
            <a:bodyPr wrap="square" lIns="0" tIns="0" rIns="0" bIns="0" rtlCol="0"/>
            <a:lstStyle/>
            <a:p/>
          </p:txBody>
        </p:sp>
      </p:grpSp>
      <p:sp>
        <p:nvSpPr>
          <p:cNvPr id="48" name="object 48" descr=""/>
          <p:cNvSpPr txBox="1"/>
          <p:nvPr/>
        </p:nvSpPr>
        <p:spPr>
          <a:xfrm>
            <a:off x="7715472" y="2512134"/>
            <a:ext cx="692150" cy="344805"/>
          </a:xfrm>
          <a:prstGeom prst="rect">
            <a:avLst/>
          </a:prstGeom>
        </p:spPr>
        <p:txBody>
          <a:bodyPr wrap="square" lIns="0" tIns="12700" rIns="0" bIns="0" rtlCol="0" vert="horz">
            <a:spAutoFit/>
          </a:bodyPr>
          <a:lstStyle/>
          <a:p>
            <a:pPr marL="12700" marR="5080" indent="44450">
              <a:lnSpc>
                <a:spcPct val="100000"/>
              </a:lnSpc>
              <a:spcBef>
                <a:spcPts val="100"/>
              </a:spcBef>
            </a:pPr>
            <a:r>
              <a:rPr dirty="0" sz="1050" b="1">
                <a:solidFill>
                  <a:srgbClr val="FF0000"/>
                </a:solidFill>
                <a:latin typeface="Microsoft YaHei"/>
                <a:cs typeface="Microsoft YaHei"/>
              </a:rPr>
              <a:t>释放</a:t>
            </a:r>
            <a:r>
              <a:rPr dirty="0" sz="1050" spc="-10" b="1">
                <a:solidFill>
                  <a:srgbClr val="FF0000"/>
                </a:solidFill>
                <a:latin typeface="Arial"/>
                <a:cs typeface="Arial"/>
              </a:rPr>
              <a:t>4G</a:t>
            </a:r>
            <a:r>
              <a:rPr dirty="0" sz="1050" spc="-50" b="1">
                <a:solidFill>
                  <a:srgbClr val="FF0000"/>
                </a:solidFill>
                <a:latin typeface="Microsoft YaHei"/>
                <a:cs typeface="Microsoft YaHei"/>
              </a:rPr>
              <a:t>容</a:t>
            </a:r>
            <a:r>
              <a:rPr dirty="0" sz="1050" spc="-10" b="1">
                <a:solidFill>
                  <a:srgbClr val="FF0000"/>
                </a:solidFill>
                <a:latin typeface="Microsoft YaHei"/>
                <a:cs typeface="Microsoft YaHei"/>
              </a:rPr>
              <a:t>量层频谱，</a:t>
            </a:r>
            <a:endParaRPr sz="1050">
              <a:latin typeface="Microsoft YaHei"/>
              <a:cs typeface="Microsoft YaHei"/>
            </a:endParaRPr>
          </a:p>
        </p:txBody>
      </p:sp>
      <p:sp>
        <p:nvSpPr>
          <p:cNvPr id="49" name="object 49" descr=""/>
          <p:cNvSpPr txBox="1"/>
          <p:nvPr/>
        </p:nvSpPr>
        <p:spPr>
          <a:xfrm>
            <a:off x="7760411" y="2832174"/>
            <a:ext cx="603250" cy="345440"/>
          </a:xfrm>
          <a:prstGeom prst="rect">
            <a:avLst/>
          </a:prstGeom>
        </p:spPr>
        <p:txBody>
          <a:bodyPr wrap="square" lIns="0" tIns="12700" rIns="0" bIns="0" rtlCol="0" vert="horz">
            <a:spAutoFit/>
          </a:bodyPr>
          <a:lstStyle/>
          <a:p>
            <a:pPr marL="34290" marR="5080" indent="-22225">
              <a:lnSpc>
                <a:spcPct val="100000"/>
              </a:lnSpc>
              <a:spcBef>
                <a:spcPts val="100"/>
              </a:spcBef>
            </a:pPr>
            <a:r>
              <a:rPr dirty="0" sz="1050" b="1">
                <a:solidFill>
                  <a:srgbClr val="FF0000"/>
                </a:solidFill>
                <a:latin typeface="Microsoft YaHei"/>
                <a:cs typeface="Microsoft YaHei"/>
              </a:rPr>
              <a:t>构筑</a:t>
            </a:r>
            <a:r>
              <a:rPr dirty="0" sz="1050" spc="-10" b="1">
                <a:solidFill>
                  <a:srgbClr val="FF0000"/>
                </a:solidFill>
                <a:latin typeface="Arial"/>
                <a:cs typeface="Arial"/>
              </a:rPr>
              <a:t>5G</a:t>
            </a:r>
            <a:r>
              <a:rPr dirty="0" sz="1050" spc="-50" b="1">
                <a:solidFill>
                  <a:srgbClr val="FF0000"/>
                </a:solidFill>
                <a:latin typeface="Microsoft YaHei"/>
                <a:cs typeface="Microsoft YaHei"/>
              </a:rPr>
              <a:t>基</a:t>
            </a:r>
            <a:r>
              <a:rPr dirty="0" sz="1050" spc="-15" b="1">
                <a:solidFill>
                  <a:srgbClr val="FF0000"/>
                </a:solidFill>
                <a:latin typeface="Microsoft YaHei"/>
                <a:cs typeface="Microsoft YaHei"/>
              </a:rPr>
              <a:t>础覆盖层</a:t>
            </a:r>
            <a:endParaRPr sz="1050">
              <a:latin typeface="Microsoft YaHei"/>
              <a:cs typeface="Microsoft YaHei"/>
            </a:endParaRPr>
          </a:p>
        </p:txBody>
      </p:sp>
      <p:sp>
        <p:nvSpPr>
          <p:cNvPr id="50" name="object 50" descr=""/>
          <p:cNvSpPr/>
          <p:nvPr/>
        </p:nvSpPr>
        <p:spPr>
          <a:xfrm>
            <a:off x="3779913" y="2999422"/>
            <a:ext cx="2711450" cy="508634"/>
          </a:xfrm>
          <a:custGeom>
            <a:avLst/>
            <a:gdLst/>
            <a:ahLst/>
            <a:cxnLst/>
            <a:rect l="l" t="t" r="r" b="b"/>
            <a:pathLst>
              <a:path w="2711450" h="508635">
                <a:moveTo>
                  <a:pt x="2711234" y="216027"/>
                </a:moveTo>
                <a:lnTo>
                  <a:pt x="2258085" y="216027"/>
                </a:lnTo>
                <a:lnTo>
                  <a:pt x="2258085" y="0"/>
                </a:lnTo>
                <a:lnTo>
                  <a:pt x="163601" y="0"/>
                </a:lnTo>
                <a:lnTo>
                  <a:pt x="163601" y="216027"/>
                </a:lnTo>
                <a:lnTo>
                  <a:pt x="0" y="216027"/>
                </a:lnTo>
                <a:lnTo>
                  <a:pt x="0" y="508431"/>
                </a:lnTo>
                <a:lnTo>
                  <a:pt x="2711234" y="508431"/>
                </a:lnTo>
                <a:lnTo>
                  <a:pt x="2711234" y="216027"/>
                </a:lnTo>
                <a:close/>
              </a:path>
            </a:pathLst>
          </a:custGeom>
          <a:solidFill>
            <a:srgbClr val="FFFFFF"/>
          </a:solidFill>
        </p:spPr>
        <p:txBody>
          <a:bodyPr wrap="square" lIns="0" tIns="0" rIns="0" bIns="0" rtlCol="0"/>
          <a:lstStyle/>
          <a:p/>
        </p:txBody>
      </p:sp>
      <p:sp>
        <p:nvSpPr>
          <p:cNvPr id="51" name="object 51" descr=""/>
          <p:cNvSpPr txBox="1"/>
          <p:nvPr/>
        </p:nvSpPr>
        <p:spPr>
          <a:xfrm>
            <a:off x="3948808" y="2987117"/>
            <a:ext cx="2374265" cy="457834"/>
          </a:xfrm>
          <a:prstGeom prst="rect">
            <a:avLst/>
          </a:prstGeom>
        </p:spPr>
        <p:txBody>
          <a:bodyPr wrap="square" lIns="0" tIns="68580" rIns="0" bIns="0" rtlCol="0" vert="horz">
            <a:spAutoFit/>
          </a:bodyPr>
          <a:lstStyle/>
          <a:p>
            <a:pPr marL="345440">
              <a:lnSpc>
                <a:spcPct val="100000"/>
              </a:lnSpc>
              <a:spcBef>
                <a:spcPts val="540"/>
              </a:spcBef>
            </a:pPr>
            <a:r>
              <a:rPr dirty="0" sz="1050">
                <a:latin typeface="Microsoft YaHei"/>
                <a:cs typeface="Microsoft YaHei"/>
              </a:rPr>
              <a:t>以</a:t>
            </a:r>
            <a:r>
              <a:rPr dirty="0" sz="1050" spc="-10">
                <a:latin typeface="Arial MT"/>
                <a:cs typeface="Arial MT"/>
              </a:rPr>
              <a:t>4T4R</a:t>
            </a:r>
            <a:r>
              <a:rPr dirty="0" sz="1050" spc="-10">
                <a:latin typeface="Microsoft YaHei"/>
                <a:cs typeface="Microsoft YaHei"/>
              </a:rPr>
              <a:t>方式，按需建设</a:t>
            </a:r>
            <a:endParaRPr sz="1050">
              <a:latin typeface="Microsoft YaHei"/>
              <a:cs typeface="Microsoft YaHei"/>
            </a:endParaRPr>
          </a:p>
          <a:p>
            <a:pPr marL="12700">
              <a:lnSpc>
                <a:spcPct val="100000"/>
              </a:lnSpc>
              <a:spcBef>
                <a:spcPts val="440"/>
              </a:spcBef>
            </a:pPr>
            <a:r>
              <a:rPr dirty="0" sz="1050" spc="-10">
                <a:latin typeface="Arial MT"/>
                <a:cs typeface="Arial MT"/>
              </a:rPr>
              <a:t>GSM</a:t>
            </a:r>
            <a:r>
              <a:rPr dirty="0" sz="1050">
                <a:latin typeface="Microsoft YaHei"/>
                <a:cs typeface="Microsoft YaHei"/>
              </a:rPr>
              <a:t>长期保留一张薄网，逐步重耕为</a:t>
            </a:r>
            <a:r>
              <a:rPr dirty="0" sz="1050" spc="-25">
                <a:latin typeface="Arial MT"/>
                <a:cs typeface="Arial MT"/>
              </a:rPr>
              <a:t>4G</a:t>
            </a:r>
            <a:endParaRPr sz="1050">
              <a:latin typeface="Arial MT"/>
              <a:cs typeface="Arial MT"/>
            </a:endParaRPr>
          </a:p>
        </p:txBody>
      </p:sp>
      <p:sp>
        <p:nvSpPr>
          <p:cNvPr id="52" name="object 52" descr=""/>
          <p:cNvSpPr txBox="1"/>
          <p:nvPr/>
        </p:nvSpPr>
        <p:spPr>
          <a:xfrm>
            <a:off x="2112276" y="2881792"/>
            <a:ext cx="958850" cy="561975"/>
          </a:xfrm>
          <a:prstGeom prst="rect">
            <a:avLst/>
          </a:prstGeom>
        </p:spPr>
        <p:txBody>
          <a:bodyPr wrap="square" lIns="0" tIns="12700" rIns="0" bIns="0" rtlCol="0" vert="horz">
            <a:spAutoFit/>
          </a:bodyPr>
          <a:lstStyle/>
          <a:p>
            <a:pPr algn="ctr" marL="12700" marR="5080">
              <a:lnSpc>
                <a:spcPct val="100000"/>
              </a:lnSpc>
              <a:spcBef>
                <a:spcPts val="100"/>
              </a:spcBef>
            </a:pPr>
            <a:r>
              <a:rPr dirty="0" sz="1050" spc="-10">
                <a:latin typeface="Microsoft YaHei"/>
                <a:cs typeface="Microsoft YaHei"/>
              </a:rPr>
              <a:t>“三高一限”场</a:t>
            </a:r>
            <a:r>
              <a:rPr dirty="0" sz="1050">
                <a:latin typeface="Microsoft YaHei"/>
                <a:cs typeface="Microsoft YaHei"/>
              </a:rPr>
              <a:t>景</a:t>
            </a:r>
            <a:r>
              <a:rPr dirty="0" sz="1050" spc="-20">
                <a:latin typeface="Arial MT"/>
                <a:cs typeface="Arial MT"/>
              </a:rPr>
              <a:t>1800M</a:t>
            </a:r>
            <a:r>
              <a:rPr dirty="0" sz="1050" spc="-25">
                <a:latin typeface="Microsoft YaHei"/>
                <a:cs typeface="Microsoft YaHei"/>
              </a:rPr>
              <a:t>建设</a:t>
            </a:r>
            <a:endParaRPr sz="1050">
              <a:latin typeface="Microsoft YaHei"/>
              <a:cs typeface="Microsoft YaHei"/>
            </a:endParaRPr>
          </a:p>
          <a:p>
            <a:pPr algn="ctr">
              <a:lnSpc>
                <a:spcPct val="100000"/>
              </a:lnSpc>
              <a:spcBef>
                <a:spcPts val="440"/>
              </a:spcBef>
            </a:pPr>
            <a:r>
              <a:rPr dirty="0" sz="1050" spc="-10">
                <a:latin typeface="Arial MT"/>
                <a:cs typeface="Arial MT"/>
              </a:rPr>
              <a:t>NB</a:t>
            </a:r>
            <a:r>
              <a:rPr dirty="0" sz="1050" spc="-15">
                <a:latin typeface="Microsoft YaHei"/>
                <a:cs typeface="Microsoft YaHei"/>
              </a:rPr>
              <a:t>组网建设</a:t>
            </a:r>
            <a:endParaRPr sz="1050">
              <a:latin typeface="Microsoft YaHei"/>
              <a:cs typeface="Microsoft YaHe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12077" y="110196"/>
            <a:ext cx="4497705" cy="513080"/>
          </a:xfrm>
          <a:prstGeom prst="rect"/>
        </p:spPr>
        <p:txBody>
          <a:bodyPr wrap="square" lIns="0" tIns="12065" rIns="0" bIns="0" rtlCol="0" vert="horz">
            <a:spAutoFit/>
          </a:bodyPr>
          <a:lstStyle/>
          <a:p>
            <a:pPr marL="12700">
              <a:lnSpc>
                <a:spcPct val="100000"/>
              </a:lnSpc>
              <a:spcBef>
                <a:spcPts val="95"/>
              </a:spcBef>
            </a:pPr>
            <a:r>
              <a:rPr dirty="0" spc="-50"/>
              <a:t>中国电信多频段演进策略</a:t>
            </a:r>
          </a:p>
        </p:txBody>
      </p:sp>
      <p:sp>
        <p:nvSpPr>
          <p:cNvPr id="3" name="object 3" descr=""/>
          <p:cNvSpPr/>
          <p:nvPr/>
        </p:nvSpPr>
        <p:spPr>
          <a:xfrm>
            <a:off x="1628241" y="4299940"/>
            <a:ext cx="440055" cy="325755"/>
          </a:xfrm>
          <a:custGeom>
            <a:avLst/>
            <a:gdLst/>
            <a:ahLst/>
            <a:cxnLst/>
            <a:rect l="l" t="t" r="r" b="b"/>
            <a:pathLst>
              <a:path w="440055" h="325754">
                <a:moveTo>
                  <a:pt x="439737" y="0"/>
                </a:moveTo>
                <a:lnTo>
                  <a:pt x="0" y="0"/>
                </a:lnTo>
                <a:lnTo>
                  <a:pt x="0" y="325272"/>
                </a:lnTo>
                <a:lnTo>
                  <a:pt x="439737" y="325272"/>
                </a:lnTo>
                <a:lnTo>
                  <a:pt x="439737" y="0"/>
                </a:lnTo>
                <a:close/>
              </a:path>
            </a:pathLst>
          </a:custGeom>
          <a:solidFill>
            <a:srgbClr val="92D050"/>
          </a:solidFill>
        </p:spPr>
        <p:txBody>
          <a:bodyPr wrap="square" lIns="0" tIns="0" rIns="0" bIns="0" rtlCol="0"/>
          <a:lstStyle/>
          <a:p/>
        </p:txBody>
      </p:sp>
      <p:sp>
        <p:nvSpPr>
          <p:cNvPr id="4" name="object 4" descr=""/>
          <p:cNvSpPr/>
          <p:nvPr/>
        </p:nvSpPr>
        <p:spPr>
          <a:xfrm>
            <a:off x="6509220" y="4299953"/>
            <a:ext cx="2160270" cy="587375"/>
          </a:xfrm>
          <a:custGeom>
            <a:avLst/>
            <a:gdLst/>
            <a:ahLst/>
            <a:cxnLst/>
            <a:rect l="l" t="t" r="r" b="b"/>
            <a:pathLst>
              <a:path w="2160270" h="587375">
                <a:moveTo>
                  <a:pt x="1080122" y="293573"/>
                </a:moveTo>
                <a:lnTo>
                  <a:pt x="1065860" y="226263"/>
                </a:lnTo>
                <a:lnTo>
                  <a:pt x="1025232" y="164465"/>
                </a:lnTo>
                <a:lnTo>
                  <a:pt x="996048" y="136194"/>
                </a:lnTo>
                <a:lnTo>
                  <a:pt x="961478" y="109956"/>
                </a:lnTo>
                <a:lnTo>
                  <a:pt x="921943" y="85979"/>
                </a:lnTo>
                <a:lnTo>
                  <a:pt x="877836" y="64490"/>
                </a:lnTo>
                <a:lnTo>
                  <a:pt x="829576" y="45707"/>
                </a:lnTo>
                <a:lnTo>
                  <a:pt x="777570" y="29845"/>
                </a:lnTo>
                <a:lnTo>
                  <a:pt x="722198" y="17119"/>
                </a:lnTo>
                <a:lnTo>
                  <a:pt x="663892" y="7759"/>
                </a:lnTo>
                <a:lnTo>
                  <a:pt x="603046" y="1981"/>
                </a:lnTo>
                <a:lnTo>
                  <a:pt x="540054" y="0"/>
                </a:lnTo>
                <a:lnTo>
                  <a:pt x="477075" y="1981"/>
                </a:lnTo>
                <a:lnTo>
                  <a:pt x="416229" y="7759"/>
                </a:lnTo>
                <a:lnTo>
                  <a:pt x="357924" y="17119"/>
                </a:lnTo>
                <a:lnTo>
                  <a:pt x="302552" y="29845"/>
                </a:lnTo>
                <a:lnTo>
                  <a:pt x="250545" y="45707"/>
                </a:lnTo>
                <a:lnTo>
                  <a:pt x="202285" y="64490"/>
                </a:lnTo>
                <a:lnTo>
                  <a:pt x="158178" y="85979"/>
                </a:lnTo>
                <a:lnTo>
                  <a:pt x="118643" y="109956"/>
                </a:lnTo>
                <a:lnTo>
                  <a:pt x="84086" y="136194"/>
                </a:lnTo>
                <a:lnTo>
                  <a:pt x="54889" y="164465"/>
                </a:lnTo>
                <a:lnTo>
                  <a:pt x="31483" y="194564"/>
                </a:lnTo>
                <a:lnTo>
                  <a:pt x="3632" y="259334"/>
                </a:lnTo>
                <a:lnTo>
                  <a:pt x="0" y="293573"/>
                </a:lnTo>
                <a:lnTo>
                  <a:pt x="3632" y="327812"/>
                </a:lnTo>
                <a:lnTo>
                  <a:pt x="31483" y="392582"/>
                </a:lnTo>
                <a:lnTo>
                  <a:pt x="54889" y="422681"/>
                </a:lnTo>
                <a:lnTo>
                  <a:pt x="84086" y="450964"/>
                </a:lnTo>
                <a:lnTo>
                  <a:pt x="118643" y="477202"/>
                </a:lnTo>
                <a:lnTo>
                  <a:pt x="158178" y="501167"/>
                </a:lnTo>
                <a:lnTo>
                  <a:pt x="202285" y="522668"/>
                </a:lnTo>
                <a:lnTo>
                  <a:pt x="250545" y="541451"/>
                </a:lnTo>
                <a:lnTo>
                  <a:pt x="302552" y="557314"/>
                </a:lnTo>
                <a:lnTo>
                  <a:pt x="357924" y="570039"/>
                </a:lnTo>
                <a:lnTo>
                  <a:pt x="416229" y="579412"/>
                </a:lnTo>
                <a:lnTo>
                  <a:pt x="477075" y="585190"/>
                </a:lnTo>
                <a:lnTo>
                  <a:pt x="540054" y="587159"/>
                </a:lnTo>
                <a:lnTo>
                  <a:pt x="603046" y="585190"/>
                </a:lnTo>
                <a:lnTo>
                  <a:pt x="663892" y="579412"/>
                </a:lnTo>
                <a:lnTo>
                  <a:pt x="722198" y="570039"/>
                </a:lnTo>
                <a:lnTo>
                  <a:pt x="777570" y="557314"/>
                </a:lnTo>
                <a:lnTo>
                  <a:pt x="829576" y="541451"/>
                </a:lnTo>
                <a:lnTo>
                  <a:pt x="877836" y="522668"/>
                </a:lnTo>
                <a:lnTo>
                  <a:pt x="921943" y="501167"/>
                </a:lnTo>
                <a:lnTo>
                  <a:pt x="961478" y="477202"/>
                </a:lnTo>
                <a:lnTo>
                  <a:pt x="996048" y="450964"/>
                </a:lnTo>
                <a:lnTo>
                  <a:pt x="1025232" y="422681"/>
                </a:lnTo>
                <a:lnTo>
                  <a:pt x="1048639" y="392582"/>
                </a:lnTo>
                <a:lnTo>
                  <a:pt x="1076490" y="327812"/>
                </a:lnTo>
                <a:lnTo>
                  <a:pt x="1080122" y="293573"/>
                </a:lnTo>
                <a:close/>
              </a:path>
              <a:path w="2160270" h="587375">
                <a:moveTo>
                  <a:pt x="2160244" y="293573"/>
                </a:moveTo>
                <a:lnTo>
                  <a:pt x="2145982" y="226263"/>
                </a:lnTo>
                <a:lnTo>
                  <a:pt x="2105355" y="164465"/>
                </a:lnTo>
                <a:lnTo>
                  <a:pt x="2076157" y="136194"/>
                </a:lnTo>
                <a:lnTo>
                  <a:pt x="2041601" y="109956"/>
                </a:lnTo>
                <a:lnTo>
                  <a:pt x="2002066" y="85979"/>
                </a:lnTo>
                <a:lnTo>
                  <a:pt x="1957959" y="64490"/>
                </a:lnTo>
                <a:lnTo>
                  <a:pt x="1909699" y="45707"/>
                </a:lnTo>
                <a:lnTo>
                  <a:pt x="1857679" y="29845"/>
                </a:lnTo>
                <a:lnTo>
                  <a:pt x="1802320" y="17119"/>
                </a:lnTo>
                <a:lnTo>
                  <a:pt x="1744014" y="7759"/>
                </a:lnTo>
                <a:lnTo>
                  <a:pt x="1683156" y="1981"/>
                </a:lnTo>
                <a:lnTo>
                  <a:pt x="1620177" y="0"/>
                </a:lnTo>
                <a:lnTo>
                  <a:pt x="1557197" y="1981"/>
                </a:lnTo>
                <a:lnTo>
                  <a:pt x="1496352" y="7759"/>
                </a:lnTo>
                <a:lnTo>
                  <a:pt x="1438046" y="17119"/>
                </a:lnTo>
                <a:lnTo>
                  <a:pt x="1382674" y="29845"/>
                </a:lnTo>
                <a:lnTo>
                  <a:pt x="1330667" y="45707"/>
                </a:lnTo>
                <a:lnTo>
                  <a:pt x="1282407" y="64490"/>
                </a:lnTo>
                <a:lnTo>
                  <a:pt x="1238300" y="85979"/>
                </a:lnTo>
                <a:lnTo>
                  <a:pt x="1198765" y="109956"/>
                </a:lnTo>
                <a:lnTo>
                  <a:pt x="1164209" y="136194"/>
                </a:lnTo>
                <a:lnTo>
                  <a:pt x="1135011" y="164465"/>
                </a:lnTo>
                <a:lnTo>
                  <a:pt x="1111605" y="194564"/>
                </a:lnTo>
                <a:lnTo>
                  <a:pt x="1083754" y="259334"/>
                </a:lnTo>
                <a:lnTo>
                  <a:pt x="1080122" y="293573"/>
                </a:lnTo>
                <a:lnTo>
                  <a:pt x="1083754" y="327812"/>
                </a:lnTo>
                <a:lnTo>
                  <a:pt x="1111605" y="392582"/>
                </a:lnTo>
                <a:lnTo>
                  <a:pt x="1135011" y="422681"/>
                </a:lnTo>
                <a:lnTo>
                  <a:pt x="1164209" y="450964"/>
                </a:lnTo>
                <a:lnTo>
                  <a:pt x="1198765" y="477202"/>
                </a:lnTo>
                <a:lnTo>
                  <a:pt x="1238300" y="501167"/>
                </a:lnTo>
                <a:lnTo>
                  <a:pt x="1282407" y="522668"/>
                </a:lnTo>
                <a:lnTo>
                  <a:pt x="1330667" y="541451"/>
                </a:lnTo>
                <a:lnTo>
                  <a:pt x="1382674" y="557314"/>
                </a:lnTo>
                <a:lnTo>
                  <a:pt x="1438046" y="570039"/>
                </a:lnTo>
                <a:lnTo>
                  <a:pt x="1496352" y="579412"/>
                </a:lnTo>
                <a:lnTo>
                  <a:pt x="1557197" y="585190"/>
                </a:lnTo>
                <a:lnTo>
                  <a:pt x="1620177" y="587159"/>
                </a:lnTo>
                <a:lnTo>
                  <a:pt x="1683156" y="585190"/>
                </a:lnTo>
                <a:lnTo>
                  <a:pt x="1744014" y="579412"/>
                </a:lnTo>
                <a:lnTo>
                  <a:pt x="1802320" y="570039"/>
                </a:lnTo>
                <a:lnTo>
                  <a:pt x="1857679" y="557314"/>
                </a:lnTo>
                <a:lnTo>
                  <a:pt x="1909699" y="541451"/>
                </a:lnTo>
                <a:lnTo>
                  <a:pt x="1957959" y="522668"/>
                </a:lnTo>
                <a:lnTo>
                  <a:pt x="2002066" y="501167"/>
                </a:lnTo>
                <a:lnTo>
                  <a:pt x="2041601" y="477202"/>
                </a:lnTo>
                <a:lnTo>
                  <a:pt x="2076157" y="450964"/>
                </a:lnTo>
                <a:lnTo>
                  <a:pt x="2105355" y="422681"/>
                </a:lnTo>
                <a:lnTo>
                  <a:pt x="2128761" y="392582"/>
                </a:lnTo>
                <a:lnTo>
                  <a:pt x="2156612" y="327812"/>
                </a:lnTo>
                <a:lnTo>
                  <a:pt x="2160244" y="293573"/>
                </a:lnTo>
                <a:close/>
              </a:path>
            </a:pathLst>
          </a:custGeom>
          <a:solidFill>
            <a:srgbClr val="CC6600"/>
          </a:solidFill>
        </p:spPr>
        <p:txBody>
          <a:bodyPr wrap="square" lIns="0" tIns="0" rIns="0" bIns="0" rtlCol="0"/>
          <a:lstStyle/>
          <a:p/>
        </p:txBody>
      </p:sp>
      <p:sp>
        <p:nvSpPr>
          <p:cNvPr id="5" name="object 5" descr=""/>
          <p:cNvSpPr/>
          <p:nvPr/>
        </p:nvSpPr>
        <p:spPr>
          <a:xfrm>
            <a:off x="6509220" y="2938373"/>
            <a:ext cx="2160270" cy="597535"/>
          </a:xfrm>
          <a:custGeom>
            <a:avLst/>
            <a:gdLst/>
            <a:ahLst/>
            <a:cxnLst/>
            <a:rect l="l" t="t" r="r" b="b"/>
            <a:pathLst>
              <a:path w="2160270" h="597535">
                <a:moveTo>
                  <a:pt x="1080122" y="303517"/>
                </a:moveTo>
                <a:lnTo>
                  <a:pt x="1065860" y="236207"/>
                </a:lnTo>
                <a:lnTo>
                  <a:pt x="1025232" y="174409"/>
                </a:lnTo>
                <a:lnTo>
                  <a:pt x="996048" y="146138"/>
                </a:lnTo>
                <a:lnTo>
                  <a:pt x="961478" y="119900"/>
                </a:lnTo>
                <a:lnTo>
                  <a:pt x="921943" y="95935"/>
                </a:lnTo>
                <a:lnTo>
                  <a:pt x="877836" y="74447"/>
                </a:lnTo>
                <a:lnTo>
                  <a:pt x="829576" y="55651"/>
                </a:lnTo>
                <a:lnTo>
                  <a:pt x="777570" y="39789"/>
                </a:lnTo>
                <a:lnTo>
                  <a:pt x="722198" y="27063"/>
                </a:lnTo>
                <a:lnTo>
                  <a:pt x="663892" y="17703"/>
                </a:lnTo>
                <a:lnTo>
                  <a:pt x="603046" y="11925"/>
                </a:lnTo>
                <a:lnTo>
                  <a:pt x="540054" y="9944"/>
                </a:lnTo>
                <a:lnTo>
                  <a:pt x="477075" y="11925"/>
                </a:lnTo>
                <a:lnTo>
                  <a:pt x="416229" y="17703"/>
                </a:lnTo>
                <a:lnTo>
                  <a:pt x="357924" y="27063"/>
                </a:lnTo>
                <a:lnTo>
                  <a:pt x="302552" y="39789"/>
                </a:lnTo>
                <a:lnTo>
                  <a:pt x="250545" y="55651"/>
                </a:lnTo>
                <a:lnTo>
                  <a:pt x="202285" y="74447"/>
                </a:lnTo>
                <a:lnTo>
                  <a:pt x="158178" y="95935"/>
                </a:lnTo>
                <a:lnTo>
                  <a:pt x="118643" y="119900"/>
                </a:lnTo>
                <a:lnTo>
                  <a:pt x="84086" y="146138"/>
                </a:lnTo>
                <a:lnTo>
                  <a:pt x="54889" y="174409"/>
                </a:lnTo>
                <a:lnTo>
                  <a:pt x="31483" y="204508"/>
                </a:lnTo>
                <a:lnTo>
                  <a:pt x="3632" y="269290"/>
                </a:lnTo>
                <a:lnTo>
                  <a:pt x="0" y="303517"/>
                </a:lnTo>
                <a:lnTo>
                  <a:pt x="3632" y="337756"/>
                </a:lnTo>
                <a:lnTo>
                  <a:pt x="31483" y="402539"/>
                </a:lnTo>
                <a:lnTo>
                  <a:pt x="54889" y="432638"/>
                </a:lnTo>
                <a:lnTo>
                  <a:pt x="84086" y="460908"/>
                </a:lnTo>
                <a:lnTo>
                  <a:pt x="118643" y="487146"/>
                </a:lnTo>
                <a:lnTo>
                  <a:pt x="158178" y="511124"/>
                </a:lnTo>
                <a:lnTo>
                  <a:pt x="202285" y="532612"/>
                </a:lnTo>
                <a:lnTo>
                  <a:pt x="250545" y="551395"/>
                </a:lnTo>
                <a:lnTo>
                  <a:pt x="302552" y="567270"/>
                </a:lnTo>
                <a:lnTo>
                  <a:pt x="357924" y="579996"/>
                </a:lnTo>
                <a:lnTo>
                  <a:pt x="416229" y="589356"/>
                </a:lnTo>
                <a:lnTo>
                  <a:pt x="477075" y="595134"/>
                </a:lnTo>
                <a:lnTo>
                  <a:pt x="540054" y="597103"/>
                </a:lnTo>
                <a:lnTo>
                  <a:pt x="603046" y="595134"/>
                </a:lnTo>
                <a:lnTo>
                  <a:pt x="663892" y="589356"/>
                </a:lnTo>
                <a:lnTo>
                  <a:pt x="722198" y="579996"/>
                </a:lnTo>
                <a:lnTo>
                  <a:pt x="777570" y="567270"/>
                </a:lnTo>
                <a:lnTo>
                  <a:pt x="829576" y="551395"/>
                </a:lnTo>
                <a:lnTo>
                  <a:pt x="877836" y="532612"/>
                </a:lnTo>
                <a:lnTo>
                  <a:pt x="921943" y="511124"/>
                </a:lnTo>
                <a:lnTo>
                  <a:pt x="961478" y="487146"/>
                </a:lnTo>
                <a:lnTo>
                  <a:pt x="996048" y="460908"/>
                </a:lnTo>
                <a:lnTo>
                  <a:pt x="1025232" y="432638"/>
                </a:lnTo>
                <a:lnTo>
                  <a:pt x="1048639" y="402539"/>
                </a:lnTo>
                <a:lnTo>
                  <a:pt x="1076490" y="337756"/>
                </a:lnTo>
                <a:lnTo>
                  <a:pt x="1080122" y="303517"/>
                </a:lnTo>
                <a:close/>
              </a:path>
              <a:path w="2160270" h="597535">
                <a:moveTo>
                  <a:pt x="2160244" y="293573"/>
                </a:moveTo>
                <a:lnTo>
                  <a:pt x="2145982" y="226263"/>
                </a:lnTo>
                <a:lnTo>
                  <a:pt x="2105355" y="164465"/>
                </a:lnTo>
                <a:lnTo>
                  <a:pt x="2076157" y="136194"/>
                </a:lnTo>
                <a:lnTo>
                  <a:pt x="2041601" y="109956"/>
                </a:lnTo>
                <a:lnTo>
                  <a:pt x="2002066" y="85991"/>
                </a:lnTo>
                <a:lnTo>
                  <a:pt x="1957959" y="64503"/>
                </a:lnTo>
                <a:lnTo>
                  <a:pt x="1909699" y="45707"/>
                </a:lnTo>
                <a:lnTo>
                  <a:pt x="1857679" y="29845"/>
                </a:lnTo>
                <a:lnTo>
                  <a:pt x="1802320" y="17119"/>
                </a:lnTo>
                <a:lnTo>
                  <a:pt x="1744014" y="7759"/>
                </a:lnTo>
                <a:lnTo>
                  <a:pt x="1683156" y="1981"/>
                </a:lnTo>
                <a:lnTo>
                  <a:pt x="1620177" y="0"/>
                </a:lnTo>
                <a:lnTo>
                  <a:pt x="1557197" y="1981"/>
                </a:lnTo>
                <a:lnTo>
                  <a:pt x="1496352" y="7759"/>
                </a:lnTo>
                <a:lnTo>
                  <a:pt x="1438046" y="17119"/>
                </a:lnTo>
                <a:lnTo>
                  <a:pt x="1382674" y="29845"/>
                </a:lnTo>
                <a:lnTo>
                  <a:pt x="1330667" y="45707"/>
                </a:lnTo>
                <a:lnTo>
                  <a:pt x="1282407" y="64503"/>
                </a:lnTo>
                <a:lnTo>
                  <a:pt x="1238300" y="85991"/>
                </a:lnTo>
                <a:lnTo>
                  <a:pt x="1198765" y="109956"/>
                </a:lnTo>
                <a:lnTo>
                  <a:pt x="1164209" y="136194"/>
                </a:lnTo>
                <a:lnTo>
                  <a:pt x="1135011" y="164465"/>
                </a:lnTo>
                <a:lnTo>
                  <a:pt x="1111605" y="194564"/>
                </a:lnTo>
                <a:lnTo>
                  <a:pt x="1083754" y="259346"/>
                </a:lnTo>
                <a:lnTo>
                  <a:pt x="1080122" y="293573"/>
                </a:lnTo>
                <a:lnTo>
                  <a:pt x="1083754" y="327812"/>
                </a:lnTo>
                <a:lnTo>
                  <a:pt x="1111605" y="392595"/>
                </a:lnTo>
                <a:lnTo>
                  <a:pt x="1135011" y="422694"/>
                </a:lnTo>
                <a:lnTo>
                  <a:pt x="1164209" y="450964"/>
                </a:lnTo>
                <a:lnTo>
                  <a:pt x="1198765" y="477202"/>
                </a:lnTo>
                <a:lnTo>
                  <a:pt x="1238300" y="501180"/>
                </a:lnTo>
                <a:lnTo>
                  <a:pt x="1282407" y="522668"/>
                </a:lnTo>
                <a:lnTo>
                  <a:pt x="1330667" y="541451"/>
                </a:lnTo>
                <a:lnTo>
                  <a:pt x="1382674" y="557326"/>
                </a:lnTo>
                <a:lnTo>
                  <a:pt x="1438046" y="570052"/>
                </a:lnTo>
                <a:lnTo>
                  <a:pt x="1496352" y="579412"/>
                </a:lnTo>
                <a:lnTo>
                  <a:pt x="1557197" y="585190"/>
                </a:lnTo>
                <a:lnTo>
                  <a:pt x="1620177" y="587159"/>
                </a:lnTo>
                <a:lnTo>
                  <a:pt x="1683156" y="585190"/>
                </a:lnTo>
                <a:lnTo>
                  <a:pt x="1744014" y="579412"/>
                </a:lnTo>
                <a:lnTo>
                  <a:pt x="1802320" y="570052"/>
                </a:lnTo>
                <a:lnTo>
                  <a:pt x="1857679" y="557326"/>
                </a:lnTo>
                <a:lnTo>
                  <a:pt x="1909699" y="541451"/>
                </a:lnTo>
                <a:lnTo>
                  <a:pt x="1957959" y="522668"/>
                </a:lnTo>
                <a:lnTo>
                  <a:pt x="2002066" y="501180"/>
                </a:lnTo>
                <a:lnTo>
                  <a:pt x="2041601" y="477202"/>
                </a:lnTo>
                <a:lnTo>
                  <a:pt x="2076157" y="450964"/>
                </a:lnTo>
                <a:lnTo>
                  <a:pt x="2105355" y="422694"/>
                </a:lnTo>
                <a:lnTo>
                  <a:pt x="2128761" y="392595"/>
                </a:lnTo>
                <a:lnTo>
                  <a:pt x="2156612" y="327812"/>
                </a:lnTo>
                <a:lnTo>
                  <a:pt x="2160244" y="293573"/>
                </a:lnTo>
                <a:close/>
              </a:path>
            </a:pathLst>
          </a:custGeom>
          <a:solidFill>
            <a:srgbClr val="00CC00"/>
          </a:solidFill>
        </p:spPr>
        <p:txBody>
          <a:bodyPr wrap="square" lIns="0" tIns="0" rIns="0" bIns="0" rtlCol="0"/>
          <a:lstStyle/>
          <a:p/>
        </p:txBody>
      </p:sp>
      <p:sp>
        <p:nvSpPr>
          <p:cNvPr id="6" name="object 6" descr=""/>
          <p:cNvSpPr/>
          <p:nvPr/>
        </p:nvSpPr>
        <p:spPr>
          <a:xfrm>
            <a:off x="1460436" y="2680525"/>
            <a:ext cx="764540" cy="325120"/>
          </a:xfrm>
          <a:custGeom>
            <a:avLst/>
            <a:gdLst/>
            <a:ahLst/>
            <a:cxnLst/>
            <a:rect l="l" t="t" r="r" b="b"/>
            <a:pathLst>
              <a:path w="764539" h="325119">
                <a:moveTo>
                  <a:pt x="764362" y="0"/>
                </a:moveTo>
                <a:lnTo>
                  <a:pt x="0" y="0"/>
                </a:lnTo>
                <a:lnTo>
                  <a:pt x="0" y="324497"/>
                </a:lnTo>
                <a:lnTo>
                  <a:pt x="764362" y="324497"/>
                </a:lnTo>
                <a:lnTo>
                  <a:pt x="764362" y="0"/>
                </a:lnTo>
                <a:close/>
              </a:path>
            </a:pathLst>
          </a:custGeom>
          <a:solidFill>
            <a:srgbClr val="92D050"/>
          </a:solidFill>
        </p:spPr>
        <p:txBody>
          <a:bodyPr wrap="square" lIns="0" tIns="0" rIns="0" bIns="0" rtlCol="0"/>
          <a:lstStyle/>
          <a:p/>
        </p:txBody>
      </p:sp>
      <p:sp>
        <p:nvSpPr>
          <p:cNvPr id="7" name="object 7" descr=""/>
          <p:cNvSpPr/>
          <p:nvPr/>
        </p:nvSpPr>
        <p:spPr>
          <a:xfrm>
            <a:off x="1478889" y="3218129"/>
            <a:ext cx="764540" cy="325120"/>
          </a:xfrm>
          <a:custGeom>
            <a:avLst/>
            <a:gdLst/>
            <a:ahLst/>
            <a:cxnLst/>
            <a:rect l="l" t="t" r="r" b="b"/>
            <a:pathLst>
              <a:path w="764539" h="325120">
                <a:moveTo>
                  <a:pt x="764362" y="0"/>
                </a:moveTo>
                <a:lnTo>
                  <a:pt x="0" y="0"/>
                </a:lnTo>
                <a:lnTo>
                  <a:pt x="0" y="324497"/>
                </a:lnTo>
                <a:lnTo>
                  <a:pt x="764362" y="324497"/>
                </a:lnTo>
                <a:lnTo>
                  <a:pt x="764362" y="0"/>
                </a:lnTo>
                <a:close/>
              </a:path>
            </a:pathLst>
          </a:custGeom>
          <a:solidFill>
            <a:srgbClr val="92D050"/>
          </a:solidFill>
        </p:spPr>
        <p:txBody>
          <a:bodyPr wrap="square" lIns="0" tIns="0" rIns="0" bIns="0" rtlCol="0"/>
          <a:lstStyle/>
          <a:p/>
        </p:txBody>
      </p:sp>
      <p:grpSp>
        <p:nvGrpSpPr>
          <p:cNvPr id="8" name="object 8" descr=""/>
          <p:cNvGrpSpPr/>
          <p:nvPr/>
        </p:nvGrpSpPr>
        <p:grpSpPr>
          <a:xfrm>
            <a:off x="1085811" y="1100772"/>
            <a:ext cx="2616835" cy="336550"/>
            <a:chOff x="1085811" y="1100772"/>
            <a:chExt cx="2616835" cy="336550"/>
          </a:xfrm>
        </p:grpSpPr>
        <p:sp>
          <p:nvSpPr>
            <p:cNvPr id="9" name="object 9" descr=""/>
            <p:cNvSpPr/>
            <p:nvPr/>
          </p:nvSpPr>
          <p:spPr>
            <a:xfrm>
              <a:off x="2395905" y="1100772"/>
              <a:ext cx="1306830" cy="336550"/>
            </a:xfrm>
            <a:custGeom>
              <a:avLst/>
              <a:gdLst/>
              <a:ahLst/>
              <a:cxnLst/>
              <a:rect l="l" t="t" r="r" b="b"/>
              <a:pathLst>
                <a:path w="1306829" h="336550">
                  <a:moveTo>
                    <a:pt x="1306652" y="0"/>
                  </a:moveTo>
                  <a:lnTo>
                    <a:pt x="0" y="0"/>
                  </a:lnTo>
                  <a:lnTo>
                    <a:pt x="0" y="336486"/>
                  </a:lnTo>
                  <a:lnTo>
                    <a:pt x="1306652" y="336486"/>
                  </a:lnTo>
                  <a:lnTo>
                    <a:pt x="1306652" y="0"/>
                  </a:lnTo>
                  <a:close/>
                </a:path>
              </a:pathLst>
            </a:custGeom>
            <a:solidFill>
              <a:srgbClr val="00B0F0"/>
            </a:solidFill>
          </p:spPr>
          <p:txBody>
            <a:bodyPr wrap="square" lIns="0" tIns="0" rIns="0" bIns="0" rtlCol="0"/>
            <a:lstStyle/>
            <a:p/>
          </p:txBody>
        </p:sp>
        <p:sp>
          <p:nvSpPr>
            <p:cNvPr id="10" name="object 10" descr=""/>
            <p:cNvSpPr/>
            <p:nvPr/>
          </p:nvSpPr>
          <p:spPr>
            <a:xfrm>
              <a:off x="1085811" y="1100772"/>
              <a:ext cx="1306830" cy="336550"/>
            </a:xfrm>
            <a:custGeom>
              <a:avLst/>
              <a:gdLst/>
              <a:ahLst/>
              <a:cxnLst/>
              <a:rect l="l" t="t" r="r" b="b"/>
              <a:pathLst>
                <a:path w="1306830" h="336550">
                  <a:moveTo>
                    <a:pt x="1306652" y="0"/>
                  </a:moveTo>
                  <a:lnTo>
                    <a:pt x="0" y="0"/>
                  </a:lnTo>
                  <a:lnTo>
                    <a:pt x="0" y="336486"/>
                  </a:lnTo>
                  <a:lnTo>
                    <a:pt x="1306652" y="336486"/>
                  </a:lnTo>
                  <a:lnTo>
                    <a:pt x="1306652" y="0"/>
                  </a:lnTo>
                  <a:close/>
                </a:path>
              </a:pathLst>
            </a:custGeom>
            <a:solidFill>
              <a:srgbClr val="FFC000"/>
            </a:solidFill>
          </p:spPr>
          <p:txBody>
            <a:bodyPr wrap="square" lIns="0" tIns="0" rIns="0" bIns="0" rtlCol="0"/>
            <a:lstStyle/>
            <a:p/>
          </p:txBody>
        </p:sp>
      </p:grpSp>
      <p:sp>
        <p:nvSpPr>
          <p:cNvPr id="11" name="object 11" descr=""/>
          <p:cNvSpPr/>
          <p:nvPr/>
        </p:nvSpPr>
        <p:spPr>
          <a:xfrm>
            <a:off x="1781822" y="1829295"/>
            <a:ext cx="1306830" cy="336550"/>
          </a:xfrm>
          <a:custGeom>
            <a:avLst/>
            <a:gdLst/>
            <a:ahLst/>
            <a:cxnLst/>
            <a:rect l="l" t="t" r="r" b="b"/>
            <a:pathLst>
              <a:path w="1306830" h="336550">
                <a:moveTo>
                  <a:pt x="1306652" y="0"/>
                </a:moveTo>
                <a:lnTo>
                  <a:pt x="0" y="0"/>
                </a:lnTo>
                <a:lnTo>
                  <a:pt x="0" y="336486"/>
                </a:lnTo>
                <a:lnTo>
                  <a:pt x="1306652" y="336486"/>
                </a:lnTo>
                <a:lnTo>
                  <a:pt x="1306652" y="0"/>
                </a:lnTo>
                <a:close/>
              </a:path>
            </a:pathLst>
          </a:custGeom>
          <a:solidFill>
            <a:srgbClr val="00B0F0"/>
          </a:solidFill>
        </p:spPr>
        <p:txBody>
          <a:bodyPr wrap="square" lIns="0" tIns="0" rIns="0" bIns="0" rtlCol="0"/>
          <a:lstStyle/>
          <a:p/>
        </p:txBody>
      </p:sp>
      <p:sp>
        <p:nvSpPr>
          <p:cNvPr id="12" name="object 12" descr=""/>
          <p:cNvSpPr/>
          <p:nvPr/>
        </p:nvSpPr>
        <p:spPr>
          <a:xfrm>
            <a:off x="6509220" y="1809457"/>
            <a:ext cx="2160270" cy="618490"/>
          </a:xfrm>
          <a:custGeom>
            <a:avLst/>
            <a:gdLst/>
            <a:ahLst/>
            <a:cxnLst/>
            <a:rect l="l" t="t" r="r" b="b"/>
            <a:pathLst>
              <a:path w="2160270" h="618489">
                <a:moveTo>
                  <a:pt x="1080122" y="324700"/>
                </a:moveTo>
                <a:lnTo>
                  <a:pt x="1065860" y="257390"/>
                </a:lnTo>
                <a:lnTo>
                  <a:pt x="1025232" y="195592"/>
                </a:lnTo>
                <a:lnTo>
                  <a:pt x="996048" y="167322"/>
                </a:lnTo>
                <a:lnTo>
                  <a:pt x="961478" y="141084"/>
                </a:lnTo>
                <a:lnTo>
                  <a:pt x="921943" y="117119"/>
                </a:lnTo>
                <a:lnTo>
                  <a:pt x="877836" y="95631"/>
                </a:lnTo>
                <a:lnTo>
                  <a:pt x="829576" y="76835"/>
                </a:lnTo>
                <a:lnTo>
                  <a:pt x="777570" y="60972"/>
                </a:lnTo>
                <a:lnTo>
                  <a:pt x="722198" y="48247"/>
                </a:lnTo>
                <a:lnTo>
                  <a:pt x="663892" y="38887"/>
                </a:lnTo>
                <a:lnTo>
                  <a:pt x="603046" y="33108"/>
                </a:lnTo>
                <a:lnTo>
                  <a:pt x="540054" y="31127"/>
                </a:lnTo>
                <a:lnTo>
                  <a:pt x="477075" y="33108"/>
                </a:lnTo>
                <a:lnTo>
                  <a:pt x="416229" y="38887"/>
                </a:lnTo>
                <a:lnTo>
                  <a:pt x="357924" y="48247"/>
                </a:lnTo>
                <a:lnTo>
                  <a:pt x="302552" y="60972"/>
                </a:lnTo>
                <a:lnTo>
                  <a:pt x="250545" y="76835"/>
                </a:lnTo>
                <a:lnTo>
                  <a:pt x="202285" y="95631"/>
                </a:lnTo>
                <a:lnTo>
                  <a:pt x="158178" y="117119"/>
                </a:lnTo>
                <a:lnTo>
                  <a:pt x="118643" y="141084"/>
                </a:lnTo>
                <a:lnTo>
                  <a:pt x="84086" y="167322"/>
                </a:lnTo>
                <a:lnTo>
                  <a:pt x="54889" y="195592"/>
                </a:lnTo>
                <a:lnTo>
                  <a:pt x="31483" y="225691"/>
                </a:lnTo>
                <a:lnTo>
                  <a:pt x="3632" y="290461"/>
                </a:lnTo>
                <a:lnTo>
                  <a:pt x="0" y="324700"/>
                </a:lnTo>
                <a:lnTo>
                  <a:pt x="3632" y="358940"/>
                </a:lnTo>
                <a:lnTo>
                  <a:pt x="31483" y="423722"/>
                </a:lnTo>
                <a:lnTo>
                  <a:pt x="54889" y="453809"/>
                </a:lnTo>
                <a:lnTo>
                  <a:pt x="84086" y="482092"/>
                </a:lnTo>
                <a:lnTo>
                  <a:pt x="118643" y="508330"/>
                </a:lnTo>
                <a:lnTo>
                  <a:pt x="158178" y="532295"/>
                </a:lnTo>
                <a:lnTo>
                  <a:pt x="202285" y="553796"/>
                </a:lnTo>
                <a:lnTo>
                  <a:pt x="250545" y="572579"/>
                </a:lnTo>
                <a:lnTo>
                  <a:pt x="302552" y="588454"/>
                </a:lnTo>
                <a:lnTo>
                  <a:pt x="357924" y="601179"/>
                </a:lnTo>
                <a:lnTo>
                  <a:pt x="416229" y="610539"/>
                </a:lnTo>
                <a:lnTo>
                  <a:pt x="477075" y="616318"/>
                </a:lnTo>
                <a:lnTo>
                  <a:pt x="540054" y="618286"/>
                </a:lnTo>
                <a:lnTo>
                  <a:pt x="603046" y="616318"/>
                </a:lnTo>
                <a:lnTo>
                  <a:pt x="663892" y="610539"/>
                </a:lnTo>
                <a:lnTo>
                  <a:pt x="722198" y="601179"/>
                </a:lnTo>
                <a:lnTo>
                  <a:pt x="777570" y="588454"/>
                </a:lnTo>
                <a:lnTo>
                  <a:pt x="829576" y="572579"/>
                </a:lnTo>
                <a:lnTo>
                  <a:pt x="877836" y="553796"/>
                </a:lnTo>
                <a:lnTo>
                  <a:pt x="921943" y="532295"/>
                </a:lnTo>
                <a:lnTo>
                  <a:pt x="961478" y="508330"/>
                </a:lnTo>
                <a:lnTo>
                  <a:pt x="996048" y="482092"/>
                </a:lnTo>
                <a:lnTo>
                  <a:pt x="1025232" y="453809"/>
                </a:lnTo>
                <a:lnTo>
                  <a:pt x="1048639" y="423722"/>
                </a:lnTo>
                <a:lnTo>
                  <a:pt x="1076490" y="358940"/>
                </a:lnTo>
                <a:lnTo>
                  <a:pt x="1080122" y="324700"/>
                </a:lnTo>
                <a:close/>
              </a:path>
              <a:path w="2160270" h="618489">
                <a:moveTo>
                  <a:pt x="2160244" y="293573"/>
                </a:moveTo>
                <a:lnTo>
                  <a:pt x="2145982" y="226250"/>
                </a:lnTo>
                <a:lnTo>
                  <a:pt x="2105355" y="164465"/>
                </a:lnTo>
                <a:lnTo>
                  <a:pt x="2076157" y="136182"/>
                </a:lnTo>
                <a:lnTo>
                  <a:pt x="2041601" y="109956"/>
                </a:lnTo>
                <a:lnTo>
                  <a:pt x="2002066" y="85979"/>
                </a:lnTo>
                <a:lnTo>
                  <a:pt x="1957959" y="64490"/>
                </a:lnTo>
                <a:lnTo>
                  <a:pt x="1909699" y="45694"/>
                </a:lnTo>
                <a:lnTo>
                  <a:pt x="1857679" y="29832"/>
                </a:lnTo>
                <a:lnTo>
                  <a:pt x="1802320" y="17106"/>
                </a:lnTo>
                <a:lnTo>
                  <a:pt x="1744014" y="7747"/>
                </a:lnTo>
                <a:lnTo>
                  <a:pt x="1683156" y="1968"/>
                </a:lnTo>
                <a:lnTo>
                  <a:pt x="1620177" y="0"/>
                </a:lnTo>
                <a:lnTo>
                  <a:pt x="1557197" y="1968"/>
                </a:lnTo>
                <a:lnTo>
                  <a:pt x="1496352" y="7747"/>
                </a:lnTo>
                <a:lnTo>
                  <a:pt x="1438046" y="17106"/>
                </a:lnTo>
                <a:lnTo>
                  <a:pt x="1382674" y="29832"/>
                </a:lnTo>
                <a:lnTo>
                  <a:pt x="1330667" y="45694"/>
                </a:lnTo>
                <a:lnTo>
                  <a:pt x="1282407" y="64490"/>
                </a:lnTo>
                <a:lnTo>
                  <a:pt x="1238300" y="85979"/>
                </a:lnTo>
                <a:lnTo>
                  <a:pt x="1198765" y="109956"/>
                </a:lnTo>
                <a:lnTo>
                  <a:pt x="1164209" y="136182"/>
                </a:lnTo>
                <a:lnTo>
                  <a:pt x="1135011" y="164465"/>
                </a:lnTo>
                <a:lnTo>
                  <a:pt x="1111605" y="194551"/>
                </a:lnTo>
                <a:lnTo>
                  <a:pt x="1083754" y="259334"/>
                </a:lnTo>
                <a:lnTo>
                  <a:pt x="1080122" y="293573"/>
                </a:lnTo>
                <a:lnTo>
                  <a:pt x="1083754" y="327812"/>
                </a:lnTo>
                <a:lnTo>
                  <a:pt x="1111605" y="392582"/>
                </a:lnTo>
                <a:lnTo>
                  <a:pt x="1135011" y="422681"/>
                </a:lnTo>
                <a:lnTo>
                  <a:pt x="1164209" y="450951"/>
                </a:lnTo>
                <a:lnTo>
                  <a:pt x="1198765" y="477189"/>
                </a:lnTo>
                <a:lnTo>
                  <a:pt x="1238300" y="501167"/>
                </a:lnTo>
                <a:lnTo>
                  <a:pt x="1282407" y="522655"/>
                </a:lnTo>
                <a:lnTo>
                  <a:pt x="1330667" y="541451"/>
                </a:lnTo>
                <a:lnTo>
                  <a:pt x="1382674" y="557314"/>
                </a:lnTo>
                <a:lnTo>
                  <a:pt x="1438046" y="570039"/>
                </a:lnTo>
                <a:lnTo>
                  <a:pt x="1496352" y="579399"/>
                </a:lnTo>
                <a:lnTo>
                  <a:pt x="1557197" y="585177"/>
                </a:lnTo>
                <a:lnTo>
                  <a:pt x="1620177" y="587159"/>
                </a:lnTo>
                <a:lnTo>
                  <a:pt x="1683156" y="585177"/>
                </a:lnTo>
                <a:lnTo>
                  <a:pt x="1744014" y="579399"/>
                </a:lnTo>
                <a:lnTo>
                  <a:pt x="1802320" y="570039"/>
                </a:lnTo>
                <a:lnTo>
                  <a:pt x="1857679" y="557314"/>
                </a:lnTo>
                <a:lnTo>
                  <a:pt x="1909699" y="541451"/>
                </a:lnTo>
                <a:lnTo>
                  <a:pt x="1957959" y="522655"/>
                </a:lnTo>
                <a:lnTo>
                  <a:pt x="2002066" y="501167"/>
                </a:lnTo>
                <a:lnTo>
                  <a:pt x="2041601" y="477189"/>
                </a:lnTo>
                <a:lnTo>
                  <a:pt x="2076157" y="450951"/>
                </a:lnTo>
                <a:lnTo>
                  <a:pt x="2105355" y="422681"/>
                </a:lnTo>
                <a:lnTo>
                  <a:pt x="2128761" y="392582"/>
                </a:lnTo>
                <a:lnTo>
                  <a:pt x="2156612" y="327812"/>
                </a:lnTo>
                <a:lnTo>
                  <a:pt x="2160244" y="293573"/>
                </a:lnTo>
                <a:close/>
              </a:path>
            </a:pathLst>
          </a:custGeom>
          <a:solidFill>
            <a:srgbClr val="00B0F0"/>
          </a:solidFill>
        </p:spPr>
        <p:txBody>
          <a:bodyPr wrap="square" lIns="0" tIns="0" rIns="0" bIns="0" rtlCol="0"/>
          <a:lstStyle/>
          <a:p/>
        </p:txBody>
      </p:sp>
      <p:sp>
        <p:nvSpPr>
          <p:cNvPr id="13" name="object 13" descr=""/>
          <p:cNvSpPr/>
          <p:nvPr/>
        </p:nvSpPr>
        <p:spPr>
          <a:xfrm>
            <a:off x="6507810" y="1131595"/>
            <a:ext cx="2160270" cy="618490"/>
          </a:xfrm>
          <a:custGeom>
            <a:avLst/>
            <a:gdLst/>
            <a:ahLst/>
            <a:cxnLst/>
            <a:rect l="l" t="t" r="r" b="b"/>
            <a:pathLst>
              <a:path w="2160270" h="618489">
                <a:moveTo>
                  <a:pt x="1080122" y="324713"/>
                </a:moveTo>
                <a:lnTo>
                  <a:pt x="1065860" y="257403"/>
                </a:lnTo>
                <a:lnTo>
                  <a:pt x="1025232" y="195605"/>
                </a:lnTo>
                <a:lnTo>
                  <a:pt x="996048" y="167335"/>
                </a:lnTo>
                <a:lnTo>
                  <a:pt x="961478" y="141097"/>
                </a:lnTo>
                <a:lnTo>
                  <a:pt x="921943" y="117119"/>
                </a:lnTo>
                <a:lnTo>
                  <a:pt x="877849" y="95631"/>
                </a:lnTo>
                <a:lnTo>
                  <a:pt x="829589" y="76847"/>
                </a:lnTo>
                <a:lnTo>
                  <a:pt x="777570" y="60985"/>
                </a:lnTo>
                <a:lnTo>
                  <a:pt x="722198" y="48260"/>
                </a:lnTo>
                <a:lnTo>
                  <a:pt x="663892" y="38900"/>
                </a:lnTo>
                <a:lnTo>
                  <a:pt x="603046" y="33121"/>
                </a:lnTo>
                <a:lnTo>
                  <a:pt x="540054" y="31140"/>
                </a:lnTo>
                <a:lnTo>
                  <a:pt x="477075" y="33121"/>
                </a:lnTo>
                <a:lnTo>
                  <a:pt x="416229" y="38900"/>
                </a:lnTo>
                <a:lnTo>
                  <a:pt x="357924" y="48260"/>
                </a:lnTo>
                <a:lnTo>
                  <a:pt x="302564" y="60985"/>
                </a:lnTo>
                <a:lnTo>
                  <a:pt x="250545" y="76847"/>
                </a:lnTo>
                <a:lnTo>
                  <a:pt x="202285" y="95631"/>
                </a:lnTo>
                <a:lnTo>
                  <a:pt x="158191" y="117119"/>
                </a:lnTo>
                <a:lnTo>
                  <a:pt x="118656" y="141097"/>
                </a:lnTo>
                <a:lnTo>
                  <a:pt x="84086" y="167335"/>
                </a:lnTo>
                <a:lnTo>
                  <a:pt x="54902" y="195605"/>
                </a:lnTo>
                <a:lnTo>
                  <a:pt x="31496" y="225704"/>
                </a:lnTo>
                <a:lnTo>
                  <a:pt x="3632" y="290474"/>
                </a:lnTo>
                <a:lnTo>
                  <a:pt x="0" y="324713"/>
                </a:lnTo>
                <a:lnTo>
                  <a:pt x="3632" y="358952"/>
                </a:lnTo>
                <a:lnTo>
                  <a:pt x="31496" y="423722"/>
                </a:lnTo>
                <a:lnTo>
                  <a:pt x="54902" y="453821"/>
                </a:lnTo>
                <a:lnTo>
                  <a:pt x="84086" y="482104"/>
                </a:lnTo>
                <a:lnTo>
                  <a:pt x="118656" y="508342"/>
                </a:lnTo>
                <a:lnTo>
                  <a:pt x="158191" y="532307"/>
                </a:lnTo>
                <a:lnTo>
                  <a:pt x="202285" y="553808"/>
                </a:lnTo>
                <a:lnTo>
                  <a:pt x="250545" y="572592"/>
                </a:lnTo>
                <a:lnTo>
                  <a:pt x="302564" y="588454"/>
                </a:lnTo>
                <a:lnTo>
                  <a:pt x="357924" y="601179"/>
                </a:lnTo>
                <a:lnTo>
                  <a:pt x="416229" y="610552"/>
                </a:lnTo>
                <a:lnTo>
                  <a:pt x="477075" y="616331"/>
                </a:lnTo>
                <a:lnTo>
                  <a:pt x="540054" y="618299"/>
                </a:lnTo>
                <a:lnTo>
                  <a:pt x="603046" y="616331"/>
                </a:lnTo>
                <a:lnTo>
                  <a:pt x="663892" y="610552"/>
                </a:lnTo>
                <a:lnTo>
                  <a:pt x="722198" y="601179"/>
                </a:lnTo>
                <a:lnTo>
                  <a:pt x="777570" y="588454"/>
                </a:lnTo>
                <a:lnTo>
                  <a:pt x="829589" y="572592"/>
                </a:lnTo>
                <a:lnTo>
                  <a:pt x="877849" y="553808"/>
                </a:lnTo>
                <a:lnTo>
                  <a:pt x="921943" y="532307"/>
                </a:lnTo>
                <a:lnTo>
                  <a:pt x="961478" y="508342"/>
                </a:lnTo>
                <a:lnTo>
                  <a:pt x="996048" y="482104"/>
                </a:lnTo>
                <a:lnTo>
                  <a:pt x="1025232" y="453821"/>
                </a:lnTo>
                <a:lnTo>
                  <a:pt x="1048639" y="423722"/>
                </a:lnTo>
                <a:lnTo>
                  <a:pt x="1076490" y="358952"/>
                </a:lnTo>
                <a:lnTo>
                  <a:pt x="1080122" y="324713"/>
                </a:lnTo>
                <a:close/>
              </a:path>
              <a:path w="2160270" h="618489">
                <a:moveTo>
                  <a:pt x="2160244" y="293573"/>
                </a:moveTo>
                <a:lnTo>
                  <a:pt x="2145982" y="226263"/>
                </a:lnTo>
                <a:lnTo>
                  <a:pt x="2105355" y="164465"/>
                </a:lnTo>
                <a:lnTo>
                  <a:pt x="2076170" y="136194"/>
                </a:lnTo>
                <a:lnTo>
                  <a:pt x="2041601" y="109956"/>
                </a:lnTo>
                <a:lnTo>
                  <a:pt x="2002066" y="85991"/>
                </a:lnTo>
                <a:lnTo>
                  <a:pt x="1957971" y="64503"/>
                </a:lnTo>
                <a:lnTo>
                  <a:pt x="1909699" y="45707"/>
                </a:lnTo>
                <a:lnTo>
                  <a:pt x="1857692" y="29845"/>
                </a:lnTo>
                <a:lnTo>
                  <a:pt x="1802320" y="17119"/>
                </a:lnTo>
                <a:lnTo>
                  <a:pt x="1744014" y="7759"/>
                </a:lnTo>
                <a:lnTo>
                  <a:pt x="1683169" y="1981"/>
                </a:lnTo>
                <a:lnTo>
                  <a:pt x="1620177" y="0"/>
                </a:lnTo>
                <a:lnTo>
                  <a:pt x="1557197" y="1981"/>
                </a:lnTo>
                <a:lnTo>
                  <a:pt x="1496352" y="7759"/>
                </a:lnTo>
                <a:lnTo>
                  <a:pt x="1438046" y="17119"/>
                </a:lnTo>
                <a:lnTo>
                  <a:pt x="1382674" y="29845"/>
                </a:lnTo>
                <a:lnTo>
                  <a:pt x="1330667" y="45707"/>
                </a:lnTo>
                <a:lnTo>
                  <a:pt x="1282407" y="64503"/>
                </a:lnTo>
                <a:lnTo>
                  <a:pt x="1238300" y="85991"/>
                </a:lnTo>
                <a:lnTo>
                  <a:pt x="1198765" y="109956"/>
                </a:lnTo>
                <a:lnTo>
                  <a:pt x="1164209" y="136194"/>
                </a:lnTo>
                <a:lnTo>
                  <a:pt x="1135024" y="164465"/>
                </a:lnTo>
                <a:lnTo>
                  <a:pt x="1111605" y="194564"/>
                </a:lnTo>
                <a:lnTo>
                  <a:pt x="1083754" y="259346"/>
                </a:lnTo>
                <a:lnTo>
                  <a:pt x="1080122" y="293573"/>
                </a:lnTo>
                <a:lnTo>
                  <a:pt x="1083754" y="327812"/>
                </a:lnTo>
                <a:lnTo>
                  <a:pt x="1111605" y="392595"/>
                </a:lnTo>
                <a:lnTo>
                  <a:pt x="1135024" y="422694"/>
                </a:lnTo>
                <a:lnTo>
                  <a:pt x="1164209" y="450964"/>
                </a:lnTo>
                <a:lnTo>
                  <a:pt x="1198765" y="477202"/>
                </a:lnTo>
                <a:lnTo>
                  <a:pt x="1238300" y="501180"/>
                </a:lnTo>
                <a:lnTo>
                  <a:pt x="1282407" y="522668"/>
                </a:lnTo>
                <a:lnTo>
                  <a:pt x="1330667" y="541451"/>
                </a:lnTo>
                <a:lnTo>
                  <a:pt x="1382674" y="557326"/>
                </a:lnTo>
                <a:lnTo>
                  <a:pt x="1438046" y="570052"/>
                </a:lnTo>
                <a:lnTo>
                  <a:pt x="1496352" y="579412"/>
                </a:lnTo>
                <a:lnTo>
                  <a:pt x="1557197" y="585190"/>
                </a:lnTo>
                <a:lnTo>
                  <a:pt x="1620177" y="587159"/>
                </a:lnTo>
                <a:lnTo>
                  <a:pt x="1683169" y="585190"/>
                </a:lnTo>
                <a:lnTo>
                  <a:pt x="1744014" y="579412"/>
                </a:lnTo>
                <a:lnTo>
                  <a:pt x="1802320" y="570052"/>
                </a:lnTo>
                <a:lnTo>
                  <a:pt x="1857692" y="557326"/>
                </a:lnTo>
                <a:lnTo>
                  <a:pt x="1909699" y="541451"/>
                </a:lnTo>
                <a:lnTo>
                  <a:pt x="1957971" y="522668"/>
                </a:lnTo>
                <a:lnTo>
                  <a:pt x="2002066" y="501180"/>
                </a:lnTo>
                <a:lnTo>
                  <a:pt x="2041601" y="477202"/>
                </a:lnTo>
                <a:lnTo>
                  <a:pt x="2076170" y="450964"/>
                </a:lnTo>
                <a:lnTo>
                  <a:pt x="2105355" y="422694"/>
                </a:lnTo>
                <a:lnTo>
                  <a:pt x="2128761" y="392595"/>
                </a:lnTo>
                <a:lnTo>
                  <a:pt x="2156612" y="327812"/>
                </a:lnTo>
                <a:lnTo>
                  <a:pt x="2160244" y="293573"/>
                </a:lnTo>
                <a:close/>
              </a:path>
            </a:pathLst>
          </a:custGeom>
          <a:solidFill>
            <a:srgbClr val="00B0F0"/>
          </a:solidFill>
        </p:spPr>
        <p:txBody>
          <a:bodyPr wrap="square" lIns="0" tIns="0" rIns="0" bIns="0" rtlCol="0"/>
          <a:lstStyle/>
          <a:p/>
        </p:txBody>
      </p:sp>
      <p:graphicFrame>
        <p:nvGraphicFramePr>
          <p:cNvPr id="14" name="object 14" descr=""/>
          <p:cNvGraphicFramePr>
            <a:graphicFrameLocks noGrp="1"/>
          </p:cNvGraphicFramePr>
          <p:nvPr/>
        </p:nvGraphicFramePr>
        <p:xfrm>
          <a:off x="238823" y="902868"/>
          <a:ext cx="8815070" cy="3941445"/>
        </p:xfrm>
        <a:graphic>
          <a:graphicData uri="http://schemas.openxmlformats.org/drawingml/2006/table">
            <a:tbl>
              <a:tblPr firstRow="1" bandRow="1">
                <a:tableStyleId>{2D5ABB26-0587-4C30-8999-92F81FD0307C}</a:tableStyleId>
              </a:tblPr>
              <a:tblGrid>
                <a:gridCol w="923290"/>
                <a:gridCol w="1095374"/>
                <a:gridCol w="290830"/>
                <a:gridCol w="501650"/>
                <a:gridCol w="675005"/>
                <a:gridCol w="2890520"/>
                <a:gridCol w="974090"/>
                <a:gridCol w="1360170"/>
              </a:tblGrid>
              <a:tr h="1607820">
                <a:tc gridSpan="8">
                  <a:txBody>
                    <a:bodyPr/>
                    <a:lstStyle/>
                    <a:p>
                      <a:pPr>
                        <a:lnSpc>
                          <a:spcPct val="100000"/>
                        </a:lnSpc>
                        <a:spcBef>
                          <a:spcPts val="395"/>
                        </a:spcBef>
                      </a:pPr>
                      <a:endParaRPr sz="1100">
                        <a:latin typeface="Times New Roman"/>
                        <a:cs typeface="Times New Roman"/>
                      </a:endParaRPr>
                    </a:p>
                    <a:p>
                      <a:pPr marL="1131570">
                        <a:lnSpc>
                          <a:spcPct val="100000"/>
                        </a:lnSpc>
                        <a:tabLst>
                          <a:tab pos="2441575" algn="l"/>
                          <a:tab pos="3763645" algn="l"/>
                          <a:tab pos="6551295" algn="l"/>
                        </a:tabLst>
                      </a:pPr>
                      <a:r>
                        <a:rPr dirty="0" baseline="-21604" sz="1350" b="1">
                          <a:latin typeface="Microsoft YaHei"/>
                          <a:cs typeface="Microsoft YaHei"/>
                        </a:rPr>
                        <a:t>电信</a:t>
                      </a:r>
                      <a:r>
                        <a:rPr dirty="0" baseline="-21604" sz="1350" spc="-15" b="1">
                          <a:latin typeface="Microsoft YaHei"/>
                          <a:cs typeface="Microsoft YaHei"/>
                        </a:rPr>
                        <a:t>100MHz</a:t>
                      </a:r>
                      <a:r>
                        <a:rPr dirty="0" baseline="-21604" sz="1350" b="1">
                          <a:latin typeface="Microsoft YaHei"/>
                          <a:cs typeface="Microsoft YaHei"/>
                        </a:rPr>
                        <a:t>	联通</a:t>
                      </a:r>
                      <a:r>
                        <a:rPr dirty="0" baseline="-21604" sz="1350" spc="-15" b="1">
                          <a:latin typeface="Microsoft YaHei"/>
                          <a:cs typeface="Microsoft YaHei"/>
                        </a:rPr>
                        <a:t>100MHz</a:t>
                      </a:r>
                      <a:r>
                        <a:rPr dirty="0" baseline="-21604" sz="1350" b="1">
                          <a:latin typeface="Microsoft YaHei"/>
                          <a:cs typeface="Microsoft YaHei"/>
                        </a:rPr>
                        <a:t>	</a:t>
                      </a:r>
                      <a:r>
                        <a:rPr dirty="0" sz="1100">
                          <a:latin typeface="Wingdings"/>
                          <a:cs typeface="Wingdings"/>
                        </a:rPr>
                        <a:t></a:t>
                      </a:r>
                      <a:r>
                        <a:rPr dirty="0" sz="1100" spc="325">
                          <a:latin typeface="Times New Roman"/>
                          <a:cs typeface="Times New Roman"/>
                        </a:rPr>
                        <a:t> </a:t>
                      </a:r>
                      <a:r>
                        <a:rPr dirty="0" sz="1100" spc="-10">
                          <a:latin typeface="SimSun"/>
                          <a:cs typeface="SimSun"/>
                        </a:rPr>
                        <a:t>3.4-3.5GHz中</a:t>
                      </a:r>
                      <a:r>
                        <a:rPr dirty="0" sz="1100" spc="-25">
                          <a:latin typeface="SimSun"/>
                          <a:cs typeface="SimSun"/>
                        </a:rPr>
                        <a:t>的</a:t>
                      </a:r>
                      <a:r>
                        <a:rPr dirty="0" sz="1100" spc="-10">
                          <a:latin typeface="SimSun"/>
                          <a:cs typeface="SimSun"/>
                        </a:rPr>
                        <a:t>100MHz作</a:t>
                      </a:r>
                      <a:r>
                        <a:rPr dirty="0" sz="1100" spc="-25">
                          <a:latin typeface="SimSun"/>
                          <a:cs typeface="SimSun"/>
                        </a:rPr>
                        <a:t>为</a:t>
                      </a:r>
                      <a:r>
                        <a:rPr dirty="0" sz="1100" spc="-10">
                          <a:latin typeface="SimSun"/>
                          <a:cs typeface="SimSun"/>
                        </a:rPr>
                        <a:t>5G基</a:t>
                      </a:r>
                      <a:r>
                        <a:rPr dirty="0" sz="1100" spc="-50">
                          <a:latin typeface="SimSun"/>
                          <a:cs typeface="SimSun"/>
                        </a:rPr>
                        <a:t>础</a:t>
                      </a:r>
                      <a:r>
                        <a:rPr dirty="0" sz="1100">
                          <a:latin typeface="SimSun"/>
                          <a:cs typeface="SimSun"/>
                        </a:rPr>
                        <a:t>	</a:t>
                      </a:r>
                      <a:r>
                        <a:rPr dirty="0" baseline="-31746" sz="1575" b="1">
                          <a:solidFill>
                            <a:srgbClr val="FFFFFF"/>
                          </a:solidFill>
                          <a:latin typeface="Microsoft YaHei"/>
                          <a:cs typeface="Microsoft YaHei"/>
                        </a:rPr>
                        <a:t>5G</a:t>
                      </a:r>
                      <a:r>
                        <a:rPr dirty="0" baseline="-31746" sz="1575" spc="-37" b="1">
                          <a:solidFill>
                            <a:srgbClr val="FFFFFF"/>
                          </a:solidFill>
                          <a:latin typeface="Microsoft YaHei"/>
                          <a:cs typeface="Microsoft YaHei"/>
                        </a:rPr>
                        <a:t> </a:t>
                      </a:r>
                      <a:r>
                        <a:rPr dirty="0" baseline="-31746" sz="1575" b="1">
                          <a:solidFill>
                            <a:srgbClr val="FFFFFF"/>
                          </a:solidFill>
                          <a:latin typeface="Microsoft YaHei"/>
                          <a:cs typeface="Microsoft YaHei"/>
                        </a:rPr>
                        <a:t>室</a:t>
                      </a:r>
                      <a:r>
                        <a:rPr dirty="0" baseline="-31746" sz="1575" spc="-75" b="1">
                          <a:solidFill>
                            <a:srgbClr val="FFFFFF"/>
                          </a:solidFill>
                          <a:latin typeface="Microsoft YaHei"/>
                          <a:cs typeface="Microsoft YaHei"/>
                        </a:rPr>
                        <a:t>外</a:t>
                      </a:r>
                      <a:endParaRPr baseline="-31746" sz="1575">
                        <a:latin typeface="Microsoft YaHei"/>
                        <a:cs typeface="Microsoft YaHei"/>
                      </a:endParaRPr>
                    </a:p>
                    <a:p>
                      <a:pPr marL="772795">
                        <a:lnSpc>
                          <a:spcPct val="100000"/>
                        </a:lnSpc>
                        <a:spcBef>
                          <a:spcPts val="660"/>
                        </a:spcBef>
                        <a:tabLst>
                          <a:tab pos="1988185" algn="l"/>
                          <a:tab pos="3193415" algn="l"/>
                          <a:tab pos="3934460" algn="l"/>
                          <a:tab pos="6563995" algn="l"/>
                          <a:tab pos="7677150" algn="l"/>
                        </a:tabLst>
                      </a:pPr>
                      <a:r>
                        <a:rPr dirty="0" baseline="-24305" sz="1200" spc="-30" b="1">
                          <a:latin typeface="Microsoft YaHei"/>
                          <a:cs typeface="Microsoft YaHei"/>
                        </a:rPr>
                        <a:t>3400</a:t>
                      </a:r>
                      <a:r>
                        <a:rPr dirty="0" baseline="-24305" sz="1200" b="1">
                          <a:latin typeface="Microsoft YaHei"/>
                          <a:cs typeface="Microsoft YaHei"/>
                        </a:rPr>
                        <a:t>	</a:t>
                      </a:r>
                      <a:r>
                        <a:rPr dirty="0" baseline="-24305" sz="1200" spc="-30" b="1">
                          <a:latin typeface="Microsoft YaHei"/>
                          <a:cs typeface="Microsoft YaHei"/>
                        </a:rPr>
                        <a:t>3500</a:t>
                      </a:r>
                      <a:r>
                        <a:rPr dirty="0" baseline="-24305" sz="1200" b="1">
                          <a:latin typeface="Microsoft YaHei"/>
                          <a:cs typeface="Microsoft YaHei"/>
                        </a:rPr>
                        <a:t>	</a:t>
                      </a:r>
                      <a:r>
                        <a:rPr dirty="0" baseline="-24305" sz="1200" spc="-30" b="1">
                          <a:latin typeface="Microsoft YaHei"/>
                          <a:cs typeface="Microsoft YaHei"/>
                        </a:rPr>
                        <a:t>3600</a:t>
                      </a:r>
                      <a:r>
                        <a:rPr dirty="0" baseline="-24305" sz="1200" b="1">
                          <a:latin typeface="Microsoft YaHei"/>
                          <a:cs typeface="Microsoft YaHei"/>
                        </a:rPr>
                        <a:t>	</a:t>
                      </a:r>
                      <a:r>
                        <a:rPr dirty="0" sz="1100" spc="-10">
                          <a:latin typeface="SimSun"/>
                          <a:cs typeface="SimSun"/>
                        </a:rPr>
                        <a:t>层</a:t>
                      </a:r>
                      <a:r>
                        <a:rPr dirty="0" sz="1100" spc="-20">
                          <a:latin typeface="SimSun"/>
                          <a:cs typeface="SimSun"/>
                        </a:rPr>
                        <a:t>，提</a:t>
                      </a:r>
                      <a:r>
                        <a:rPr dirty="0" sz="1100" spc="-10">
                          <a:latin typeface="SimSun"/>
                          <a:cs typeface="SimSun"/>
                        </a:rPr>
                        <a:t>供eMBB</a:t>
                      </a:r>
                      <a:r>
                        <a:rPr dirty="0" sz="1100" spc="-20">
                          <a:latin typeface="SimSun"/>
                          <a:cs typeface="SimSun"/>
                        </a:rPr>
                        <a:t>业</a:t>
                      </a:r>
                      <a:r>
                        <a:rPr dirty="0" sz="1100" spc="-10">
                          <a:latin typeface="SimSun"/>
                          <a:cs typeface="SimSun"/>
                        </a:rPr>
                        <a:t>务</a:t>
                      </a:r>
                      <a:r>
                        <a:rPr dirty="0" sz="1100" spc="-20">
                          <a:latin typeface="SimSun"/>
                          <a:cs typeface="SimSun"/>
                        </a:rPr>
                        <a:t>浅层覆</a:t>
                      </a:r>
                      <a:r>
                        <a:rPr dirty="0" sz="1100" spc="-10">
                          <a:latin typeface="SimSun"/>
                          <a:cs typeface="SimSun"/>
                        </a:rPr>
                        <a:t>盖</a:t>
                      </a:r>
                      <a:r>
                        <a:rPr dirty="0" sz="1100" spc="-20">
                          <a:latin typeface="SimSun"/>
                          <a:cs typeface="SimSun"/>
                        </a:rPr>
                        <a:t>；可</a:t>
                      </a:r>
                      <a:r>
                        <a:rPr dirty="0" sz="1100" spc="-50">
                          <a:latin typeface="SimSun"/>
                          <a:cs typeface="SimSun"/>
                        </a:rPr>
                        <a:t>考</a:t>
                      </a:r>
                      <a:r>
                        <a:rPr dirty="0" sz="1100">
                          <a:latin typeface="SimSun"/>
                          <a:cs typeface="SimSun"/>
                        </a:rPr>
                        <a:t>	</a:t>
                      </a:r>
                      <a:r>
                        <a:rPr dirty="0" baseline="5291" sz="1575" b="1">
                          <a:solidFill>
                            <a:srgbClr val="FFFFFF"/>
                          </a:solidFill>
                          <a:latin typeface="Microsoft YaHei"/>
                          <a:cs typeface="Microsoft YaHei"/>
                        </a:rPr>
                        <a:t>覆盖</a:t>
                      </a:r>
                      <a:r>
                        <a:rPr dirty="0" baseline="5291" sz="1575" spc="-15" b="1">
                          <a:solidFill>
                            <a:srgbClr val="FFFFFF"/>
                          </a:solidFill>
                          <a:latin typeface="Microsoft YaHei"/>
                          <a:cs typeface="Microsoft YaHei"/>
                        </a:rPr>
                        <a:t>/</a:t>
                      </a:r>
                      <a:r>
                        <a:rPr dirty="0" baseline="5291" sz="1575" spc="-75" b="1">
                          <a:solidFill>
                            <a:srgbClr val="FFFFFF"/>
                          </a:solidFill>
                          <a:latin typeface="Microsoft YaHei"/>
                          <a:cs typeface="Microsoft YaHei"/>
                        </a:rPr>
                        <a:t>容</a:t>
                      </a:r>
                      <a:r>
                        <a:rPr dirty="0" baseline="5291" sz="1575" b="1">
                          <a:solidFill>
                            <a:srgbClr val="FFFFFF"/>
                          </a:solidFill>
                          <a:latin typeface="Microsoft YaHei"/>
                          <a:cs typeface="Microsoft YaHei"/>
                        </a:rPr>
                        <a:t>	</a:t>
                      </a:r>
                      <a:r>
                        <a:rPr dirty="0" baseline="18518" sz="1575" spc="-30" b="1">
                          <a:solidFill>
                            <a:srgbClr val="FFFFFF"/>
                          </a:solidFill>
                          <a:latin typeface="Microsoft YaHei"/>
                          <a:cs typeface="Microsoft YaHei"/>
                        </a:rPr>
                        <a:t>eMBB</a:t>
                      </a:r>
                      <a:endParaRPr baseline="18518" sz="1575">
                        <a:latin typeface="Microsoft YaHei"/>
                        <a:cs typeface="Microsoft YaHei"/>
                      </a:endParaRPr>
                    </a:p>
                    <a:p>
                      <a:pPr marL="171450">
                        <a:lnSpc>
                          <a:spcPct val="100000"/>
                        </a:lnSpc>
                        <a:spcBef>
                          <a:spcPts val="260"/>
                        </a:spcBef>
                        <a:tabLst>
                          <a:tab pos="3934460" algn="l"/>
                          <a:tab pos="6729095" algn="l"/>
                        </a:tabLst>
                      </a:pPr>
                      <a:r>
                        <a:rPr dirty="0" sz="1600" spc="-10">
                          <a:solidFill>
                            <a:srgbClr val="FF0000"/>
                          </a:solidFill>
                          <a:latin typeface="SimSun"/>
                          <a:cs typeface="SimSun"/>
                        </a:rPr>
                        <a:t>3.5GHz</a:t>
                      </a:r>
                      <a:r>
                        <a:rPr dirty="0" sz="1600">
                          <a:solidFill>
                            <a:srgbClr val="FF0000"/>
                          </a:solidFill>
                          <a:latin typeface="SimSun"/>
                          <a:cs typeface="SimSun"/>
                        </a:rPr>
                        <a:t>	</a:t>
                      </a:r>
                      <a:r>
                        <a:rPr dirty="0" baseline="5050" sz="1650" spc="-15">
                          <a:latin typeface="SimSun"/>
                          <a:cs typeface="SimSun"/>
                        </a:rPr>
                        <a:t>虑</a:t>
                      </a:r>
                      <a:r>
                        <a:rPr dirty="0" baseline="5050" sz="1650" spc="-30">
                          <a:latin typeface="SimSun"/>
                          <a:cs typeface="SimSun"/>
                        </a:rPr>
                        <a:t>用作</a:t>
                      </a:r>
                      <a:r>
                        <a:rPr dirty="0" baseline="5050" sz="1650" spc="-15">
                          <a:latin typeface="SimSun"/>
                          <a:cs typeface="SimSun"/>
                        </a:rPr>
                        <a:t>室</a:t>
                      </a:r>
                      <a:r>
                        <a:rPr dirty="0" baseline="5050" sz="1650" spc="-30">
                          <a:latin typeface="SimSun"/>
                          <a:cs typeface="SimSun"/>
                        </a:rPr>
                        <a:t>内</a:t>
                      </a:r>
                      <a:r>
                        <a:rPr dirty="0" baseline="5050" sz="1650" spc="-15">
                          <a:latin typeface="SimSun"/>
                          <a:cs typeface="SimSun"/>
                        </a:rPr>
                        <a:t>热</a:t>
                      </a:r>
                      <a:r>
                        <a:rPr dirty="0" baseline="5050" sz="1650" spc="-30">
                          <a:latin typeface="SimSun"/>
                          <a:cs typeface="SimSun"/>
                        </a:rPr>
                        <a:t>点区</a:t>
                      </a:r>
                      <a:r>
                        <a:rPr dirty="0" baseline="5050" sz="1650" spc="-15">
                          <a:latin typeface="SimSun"/>
                          <a:cs typeface="SimSun"/>
                        </a:rPr>
                        <a:t>域</a:t>
                      </a:r>
                      <a:r>
                        <a:rPr dirty="0" baseline="5050" sz="1650" spc="-30">
                          <a:latin typeface="SimSun"/>
                          <a:cs typeface="SimSun"/>
                        </a:rPr>
                        <a:t>新</a:t>
                      </a:r>
                      <a:r>
                        <a:rPr dirty="0" baseline="5050" sz="1650" spc="-15">
                          <a:latin typeface="SimSun"/>
                          <a:cs typeface="SimSun"/>
                        </a:rPr>
                        <a:t>型</a:t>
                      </a:r>
                      <a:r>
                        <a:rPr dirty="0" baseline="5050" sz="1650" spc="-30">
                          <a:latin typeface="SimSun"/>
                          <a:cs typeface="SimSun"/>
                        </a:rPr>
                        <a:t>室分</a:t>
                      </a:r>
                      <a:r>
                        <a:rPr dirty="0" baseline="5050" sz="1650" spc="-15">
                          <a:latin typeface="SimSun"/>
                          <a:cs typeface="SimSun"/>
                        </a:rPr>
                        <a:t>系</a:t>
                      </a:r>
                      <a:r>
                        <a:rPr dirty="0" baseline="5050" sz="1650" spc="-75">
                          <a:latin typeface="SimSun"/>
                          <a:cs typeface="SimSun"/>
                        </a:rPr>
                        <a:t>统</a:t>
                      </a:r>
                      <a:r>
                        <a:rPr dirty="0" baseline="5050" sz="1650">
                          <a:latin typeface="SimSun"/>
                          <a:cs typeface="SimSun"/>
                        </a:rPr>
                        <a:t>	</a:t>
                      </a:r>
                      <a:r>
                        <a:rPr dirty="0" baseline="50264" sz="1575" spc="-75" b="1">
                          <a:solidFill>
                            <a:srgbClr val="FFFFFF"/>
                          </a:solidFill>
                          <a:latin typeface="Microsoft YaHei"/>
                          <a:cs typeface="Microsoft YaHei"/>
                        </a:rPr>
                        <a:t>量</a:t>
                      </a:r>
                      <a:endParaRPr baseline="50264" sz="1575">
                        <a:latin typeface="Microsoft YaHei"/>
                        <a:cs typeface="Microsoft YaHei"/>
                      </a:endParaRPr>
                    </a:p>
                    <a:p>
                      <a:pPr algn="ctr" marL="55244">
                        <a:lnSpc>
                          <a:spcPct val="100000"/>
                        </a:lnSpc>
                        <a:spcBef>
                          <a:spcPts val="600"/>
                        </a:spcBef>
                        <a:tabLst>
                          <a:tab pos="2264410" algn="l"/>
                          <a:tab pos="4882515" algn="l"/>
                        </a:tabLst>
                      </a:pPr>
                      <a:r>
                        <a:rPr dirty="0" sz="900" b="1">
                          <a:latin typeface="Microsoft YaHei"/>
                          <a:cs typeface="Microsoft YaHei"/>
                        </a:rPr>
                        <a:t>仅限室内，待分</a:t>
                      </a:r>
                      <a:r>
                        <a:rPr dirty="0" sz="900" spc="-50" b="1">
                          <a:latin typeface="Microsoft YaHei"/>
                          <a:cs typeface="Microsoft YaHei"/>
                        </a:rPr>
                        <a:t>配</a:t>
                      </a:r>
                      <a:r>
                        <a:rPr dirty="0" sz="900" b="1">
                          <a:latin typeface="Microsoft YaHei"/>
                          <a:cs typeface="Microsoft YaHei"/>
                        </a:rPr>
                        <a:t>	</a:t>
                      </a:r>
                      <a:r>
                        <a:rPr dirty="0" baseline="7575" sz="1650" spc="-15">
                          <a:latin typeface="SimSun"/>
                          <a:cs typeface="SimSun"/>
                        </a:rPr>
                        <a:t>覆</a:t>
                      </a:r>
                      <a:r>
                        <a:rPr dirty="0" baseline="7575" sz="1650" spc="-75">
                          <a:latin typeface="SimSun"/>
                          <a:cs typeface="SimSun"/>
                        </a:rPr>
                        <a:t>盖</a:t>
                      </a:r>
                      <a:r>
                        <a:rPr dirty="0" baseline="7575" sz="1650">
                          <a:latin typeface="SimSun"/>
                          <a:cs typeface="SimSun"/>
                        </a:rPr>
                        <a:t>	</a:t>
                      </a:r>
                      <a:r>
                        <a:rPr dirty="0" baseline="7936" sz="1575" b="1">
                          <a:solidFill>
                            <a:srgbClr val="FFFFFF"/>
                          </a:solidFill>
                          <a:latin typeface="Microsoft YaHei"/>
                          <a:cs typeface="Microsoft YaHei"/>
                        </a:rPr>
                        <a:t>5G</a:t>
                      </a:r>
                      <a:r>
                        <a:rPr dirty="0" baseline="7936" sz="1575" spc="-37" b="1">
                          <a:solidFill>
                            <a:srgbClr val="FFFFFF"/>
                          </a:solidFill>
                          <a:latin typeface="Microsoft YaHei"/>
                          <a:cs typeface="Microsoft YaHei"/>
                        </a:rPr>
                        <a:t> </a:t>
                      </a:r>
                      <a:r>
                        <a:rPr dirty="0" baseline="7936" sz="1575" b="1">
                          <a:solidFill>
                            <a:srgbClr val="FFFFFF"/>
                          </a:solidFill>
                          <a:latin typeface="Microsoft YaHei"/>
                          <a:cs typeface="Microsoft YaHei"/>
                        </a:rPr>
                        <a:t>室</a:t>
                      </a:r>
                      <a:r>
                        <a:rPr dirty="0" baseline="7936" sz="1575" spc="-75" b="1">
                          <a:solidFill>
                            <a:srgbClr val="FFFFFF"/>
                          </a:solidFill>
                          <a:latin typeface="Microsoft YaHei"/>
                          <a:cs typeface="Microsoft YaHei"/>
                        </a:rPr>
                        <a:t>内</a:t>
                      </a:r>
                      <a:endParaRPr baseline="7936" sz="1575">
                        <a:latin typeface="Microsoft YaHei"/>
                        <a:cs typeface="Microsoft YaHei"/>
                      </a:endParaRPr>
                    </a:p>
                    <a:p>
                      <a:pPr marL="1374140">
                        <a:lnSpc>
                          <a:spcPts val="960"/>
                        </a:lnSpc>
                        <a:spcBef>
                          <a:spcPts val="520"/>
                        </a:spcBef>
                        <a:tabLst>
                          <a:tab pos="2578735" algn="l"/>
                          <a:tab pos="3763645" algn="l"/>
                          <a:tab pos="6565265" algn="l"/>
                          <a:tab pos="7678420" algn="l"/>
                        </a:tabLst>
                      </a:pPr>
                      <a:r>
                        <a:rPr dirty="0" baseline="-6944" sz="1200" spc="-30" b="1">
                          <a:latin typeface="Microsoft YaHei"/>
                          <a:cs typeface="Microsoft YaHei"/>
                        </a:rPr>
                        <a:t>3300</a:t>
                      </a:r>
                      <a:r>
                        <a:rPr dirty="0" baseline="-6944" sz="1200" b="1">
                          <a:latin typeface="Microsoft YaHei"/>
                          <a:cs typeface="Microsoft YaHei"/>
                        </a:rPr>
                        <a:t>	</a:t>
                      </a:r>
                      <a:r>
                        <a:rPr dirty="0" baseline="-10416" sz="1200" spc="-30" b="1">
                          <a:latin typeface="Microsoft YaHei"/>
                          <a:cs typeface="Microsoft YaHei"/>
                        </a:rPr>
                        <a:t>3400</a:t>
                      </a:r>
                      <a:r>
                        <a:rPr dirty="0" baseline="-10416" sz="1200" b="1">
                          <a:latin typeface="Microsoft YaHei"/>
                          <a:cs typeface="Microsoft YaHei"/>
                        </a:rPr>
                        <a:t>	</a:t>
                      </a:r>
                      <a:r>
                        <a:rPr dirty="0" sz="1100">
                          <a:latin typeface="Wingdings"/>
                          <a:cs typeface="Wingdings"/>
                        </a:rPr>
                        <a:t></a:t>
                      </a:r>
                      <a:r>
                        <a:rPr dirty="0" sz="1100" spc="245">
                          <a:latin typeface="Times New Roman"/>
                          <a:cs typeface="Times New Roman"/>
                        </a:rPr>
                        <a:t> </a:t>
                      </a:r>
                      <a:r>
                        <a:rPr dirty="0" sz="1100" spc="-10">
                          <a:latin typeface="SimSun"/>
                          <a:cs typeface="SimSun"/>
                        </a:rPr>
                        <a:t>3.3-</a:t>
                      </a:r>
                      <a:r>
                        <a:rPr dirty="0" sz="1100">
                          <a:latin typeface="SimSun"/>
                          <a:cs typeface="SimSun"/>
                        </a:rPr>
                        <a:t>3.4GHz</a:t>
                      </a:r>
                      <a:r>
                        <a:rPr dirty="0" sz="1100" spc="-25">
                          <a:latin typeface="SimSun"/>
                          <a:cs typeface="SimSun"/>
                        </a:rPr>
                        <a:t> </a:t>
                      </a:r>
                      <a:r>
                        <a:rPr dirty="0" sz="1100" spc="-10">
                          <a:latin typeface="SimSun"/>
                          <a:cs typeface="SimSun"/>
                        </a:rPr>
                        <a:t>待</a:t>
                      </a:r>
                      <a:r>
                        <a:rPr dirty="0" sz="1100" spc="-20">
                          <a:latin typeface="SimSun"/>
                          <a:cs typeface="SimSun"/>
                        </a:rPr>
                        <a:t>分</a:t>
                      </a:r>
                      <a:r>
                        <a:rPr dirty="0" sz="1100" spc="-50">
                          <a:latin typeface="SimSun"/>
                          <a:cs typeface="SimSun"/>
                        </a:rPr>
                        <a:t>配</a:t>
                      </a:r>
                      <a:r>
                        <a:rPr dirty="0" sz="1100">
                          <a:latin typeface="SimSun"/>
                          <a:cs typeface="SimSun"/>
                        </a:rPr>
                        <a:t>	</a:t>
                      </a:r>
                      <a:r>
                        <a:rPr dirty="0" baseline="37037" sz="1575" b="1">
                          <a:solidFill>
                            <a:srgbClr val="FFFFFF"/>
                          </a:solidFill>
                          <a:latin typeface="Microsoft YaHei"/>
                          <a:cs typeface="Microsoft YaHei"/>
                        </a:rPr>
                        <a:t>覆盖</a:t>
                      </a:r>
                      <a:r>
                        <a:rPr dirty="0" baseline="37037" sz="1575" spc="-15" b="1">
                          <a:solidFill>
                            <a:srgbClr val="FFFFFF"/>
                          </a:solidFill>
                          <a:latin typeface="Microsoft YaHei"/>
                          <a:cs typeface="Microsoft YaHei"/>
                        </a:rPr>
                        <a:t>/</a:t>
                      </a:r>
                      <a:r>
                        <a:rPr dirty="0" baseline="37037" sz="1575" spc="-75" b="1">
                          <a:solidFill>
                            <a:srgbClr val="FFFFFF"/>
                          </a:solidFill>
                          <a:latin typeface="Microsoft YaHei"/>
                          <a:cs typeface="Microsoft YaHei"/>
                        </a:rPr>
                        <a:t>容</a:t>
                      </a:r>
                      <a:r>
                        <a:rPr dirty="0" baseline="37037" sz="1575" b="1">
                          <a:solidFill>
                            <a:srgbClr val="FFFFFF"/>
                          </a:solidFill>
                          <a:latin typeface="Microsoft YaHei"/>
                          <a:cs typeface="Microsoft YaHei"/>
                        </a:rPr>
                        <a:t>	</a:t>
                      </a:r>
                      <a:r>
                        <a:rPr dirty="0" baseline="50264" sz="1575" spc="-30" b="1">
                          <a:solidFill>
                            <a:srgbClr val="FFFFFF"/>
                          </a:solidFill>
                          <a:latin typeface="Microsoft YaHei"/>
                          <a:cs typeface="Microsoft YaHei"/>
                        </a:rPr>
                        <a:t>eMBB</a:t>
                      </a:r>
                      <a:endParaRPr baseline="50264" sz="1575">
                        <a:latin typeface="Microsoft YaHei"/>
                        <a:cs typeface="Microsoft YaHei"/>
                      </a:endParaRPr>
                    </a:p>
                    <a:p>
                      <a:pPr algn="r" marR="1840230">
                        <a:lnSpc>
                          <a:spcPts val="900"/>
                        </a:lnSpc>
                      </a:pPr>
                      <a:r>
                        <a:rPr dirty="0" sz="1050" spc="-50" b="1">
                          <a:solidFill>
                            <a:srgbClr val="FFFFFF"/>
                          </a:solidFill>
                          <a:latin typeface="Microsoft YaHei"/>
                          <a:cs typeface="Microsoft YaHei"/>
                        </a:rPr>
                        <a:t>量</a:t>
                      </a:r>
                      <a:endParaRPr sz="1050">
                        <a:latin typeface="Microsoft YaHei"/>
                        <a:cs typeface="Microsoft YaHei"/>
                      </a:endParaRPr>
                    </a:p>
                  </a:txBody>
                  <a:tcPr marL="0" marR="0" marB="0" marT="50165">
                    <a:lnL w="28575">
                      <a:solidFill>
                        <a:srgbClr val="89A4A7"/>
                      </a:solidFill>
                      <a:prstDash val="lgDashDot"/>
                    </a:lnL>
                    <a:lnR w="28575">
                      <a:solidFill>
                        <a:srgbClr val="89A4A7"/>
                      </a:solidFill>
                      <a:prstDash val="lgDashDot"/>
                    </a:lnR>
                    <a:lnT w="28575">
                      <a:solidFill>
                        <a:srgbClr val="89A4A7"/>
                      </a:solidFill>
                      <a:prstDash val="lgDashDot"/>
                    </a:lnT>
                    <a:lnB w="19050">
                      <a:solidFill>
                        <a:srgbClr val="0070C0"/>
                      </a:solidFill>
                      <a:prstDash val="lgDashDot"/>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416050">
                <a:tc>
                  <a:txBody>
                    <a:bodyPr/>
                    <a:lstStyle/>
                    <a:p>
                      <a:pPr marL="90805">
                        <a:lnSpc>
                          <a:spcPct val="100000"/>
                        </a:lnSpc>
                        <a:spcBef>
                          <a:spcPts val="920"/>
                        </a:spcBef>
                      </a:pPr>
                      <a:r>
                        <a:rPr dirty="0" sz="1600" spc="-10">
                          <a:solidFill>
                            <a:srgbClr val="FF0000"/>
                          </a:solidFill>
                          <a:latin typeface="SimSun"/>
                          <a:cs typeface="SimSun"/>
                        </a:rPr>
                        <a:t>1.8GHz</a:t>
                      </a:r>
                      <a:endParaRPr sz="1600">
                        <a:latin typeface="SimSun"/>
                        <a:cs typeface="SimSun"/>
                      </a:endParaRPr>
                    </a:p>
                    <a:p>
                      <a:pPr>
                        <a:lnSpc>
                          <a:spcPct val="100000"/>
                        </a:lnSpc>
                      </a:pPr>
                      <a:endParaRPr sz="1600">
                        <a:latin typeface="Times New Roman"/>
                        <a:cs typeface="Times New Roman"/>
                      </a:endParaRPr>
                    </a:p>
                    <a:p>
                      <a:pPr>
                        <a:lnSpc>
                          <a:spcPct val="100000"/>
                        </a:lnSpc>
                        <a:spcBef>
                          <a:spcPts val="160"/>
                        </a:spcBef>
                      </a:pPr>
                      <a:endParaRPr sz="1600">
                        <a:latin typeface="Times New Roman"/>
                        <a:cs typeface="Times New Roman"/>
                      </a:endParaRPr>
                    </a:p>
                    <a:p>
                      <a:pPr marL="90805">
                        <a:lnSpc>
                          <a:spcPct val="100000"/>
                        </a:lnSpc>
                      </a:pPr>
                      <a:r>
                        <a:rPr dirty="0" sz="1600" spc="-10">
                          <a:solidFill>
                            <a:srgbClr val="FF0000"/>
                          </a:solidFill>
                          <a:latin typeface="SimSun"/>
                          <a:cs typeface="SimSun"/>
                        </a:rPr>
                        <a:t>2.1GHz</a:t>
                      </a:r>
                      <a:endParaRPr sz="1600">
                        <a:latin typeface="SimSun"/>
                        <a:cs typeface="SimSun"/>
                      </a:endParaRPr>
                    </a:p>
                  </a:txBody>
                  <a:tcPr marL="0" marR="0" marB="0" marT="116840">
                    <a:lnL w="28575">
                      <a:solidFill>
                        <a:srgbClr val="89A4A7"/>
                      </a:solidFill>
                      <a:prstDash val="lgDashDot"/>
                    </a:lnL>
                    <a:lnT w="19050">
                      <a:solidFill>
                        <a:srgbClr val="0070C0"/>
                      </a:solidFill>
                      <a:prstDash val="lgDashDot"/>
                    </a:lnT>
                    <a:lnB w="19050">
                      <a:solidFill>
                        <a:srgbClr val="0070C0"/>
                      </a:solidFill>
                      <a:prstDash val="lgDashDot"/>
                    </a:lnB>
                  </a:tcPr>
                </a:tc>
                <a:tc>
                  <a:txBody>
                    <a:bodyPr/>
                    <a:lstStyle/>
                    <a:p>
                      <a:pPr>
                        <a:lnSpc>
                          <a:spcPct val="100000"/>
                        </a:lnSpc>
                      </a:pPr>
                      <a:endParaRPr sz="800">
                        <a:latin typeface="Times New Roman"/>
                        <a:cs typeface="Times New Roman"/>
                      </a:endParaRPr>
                    </a:p>
                    <a:p>
                      <a:pPr>
                        <a:lnSpc>
                          <a:spcPct val="100000"/>
                        </a:lnSpc>
                        <a:spcBef>
                          <a:spcPts val="170"/>
                        </a:spcBef>
                      </a:pPr>
                      <a:endParaRPr sz="800">
                        <a:latin typeface="Times New Roman"/>
                        <a:cs typeface="Times New Roman"/>
                      </a:endParaRPr>
                    </a:p>
                    <a:p>
                      <a:pPr algn="ctr" marL="238760">
                        <a:lnSpc>
                          <a:spcPct val="100000"/>
                        </a:lnSpc>
                      </a:pPr>
                      <a:r>
                        <a:rPr dirty="0" sz="800" spc="-10" b="1">
                          <a:solidFill>
                            <a:srgbClr val="FFFFFF"/>
                          </a:solidFill>
                          <a:latin typeface="Arial"/>
                          <a:cs typeface="Arial"/>
                        </a:rPr>
                        <a:t>20MHz</a:t>
                      </a:r>
                      <a:endParaRPr sz="800">
                        <a:latin typeface="Arial"/>
                        <a:cs typeface="Arial"/>
                      </a:endParaRPr>
                    </a:p>
                    <a:p>
                      <a:pPr>
                        <a:lnSpc>
                          <a:spcPct val="100000"/>
                        </a:lnSpc>
                        <a:spcBef>
                          <a:spcPts val="150"/>
                        </a:spcBef>
                      </a:pPr>
                      <a:endParaRPr sz="800">
                        <a:latin typeface="Times New Roman"/>
                        <a:cs typeface="Times New Roman"/>
                      </a:endParaRPr>
                    </a:p>
                    <a:p>
                      <a:pPr algn="ctr" marL="197485">
                        <a:lnSpc>
                          <a:spcPct val="100000"/>
                        </a:lnSpc>
                        <a:tabLst>
                          <a:tab pos="793750" algn="l"/>
                        </a:tabLst>
                      </a:pPr>
                      <a:r>
                        <a:rPr dirty="0" sz="800" spc="-20" b="1">
                          <a:latin typeface="Microsoft YaHei"/>
                          <a:cs typeface="Microsoft YaHei"/>
                        </a:rPr>
                        <a:t>1765</a:t>
                      </a:r>
                      <a:r>
                        <a:rPr dirty="0" sz="800" b="1">
                          <a:latin typeface="Microsoft YaHei"/>
                          <a:cs typeface="Microsoft YaHei"/>
                        </a:rPr>
                        <a:t>	</a:t>
                      </a:r>
                      <a:r>
                        <a:rPr dirty="0" sz="800" spc="-20" b="1">
                          <a:latin typeface="Microsoft YaHei"/>
                          <a:cs typeface="Microsoft YaHei"/>
                        </a:rPr>
                        <a:t>1785</a:t>
                      </a:r>
                      <a:endParaRPr sz="800">
                        <a:latin typeface="Microsoft YaHei"/>
                        <a:cs typeface="Microsoft YaHei"/>
                      </a:endParaRPr>
                    </a:p>
                    <a:p>
                      <a:pPr>
                        <a:lnSpc>
                          <a:spcPct val="100000"/>
                        </a:lnSpc>
                        <a:spcBef>
                          <a:spcPts val="325"/>
                        </a:spcBef>
                      </a:pPr>
                      <a:endParaRPr sz="800">
                        <a:latin typeface="Times New Roman"/>
                        <a:cs typeface="Times New Roman"/>
                      </a:endParaRPr>
                    </a:p>
                    <a:p>
                      <a:pPr marL="525145">
                        <a:lnSpc>
                          <a:spcPct val="100000"/>
                        </a:lnSpc>
                      </a:pPr>
                      <a:r>
                        <a:rPr dirty="0" sz="800" spc="-10" b="1">
                          <a:solidFill>
                            <a:srgbClr val="FFFFFF"/>
                          </a:solidFill>
                          <a:latin typeface="Arial"/>
                          <a:cs typeface="Arial"/>
                        </a:rPr>
                        <a:t>20MHz</a:t>
                      </a:r>
                      <a:endParaRPr sz="800">
                        <a:latin typeface="Arial"/>
                        <a:cs typeface="Arial"/>
                      </a:endParaRPr>
                    </a:p>
                    <a:p>
                      <a:pPr>
                        <a:lnSpc>
                          <a:spcPct val="100000"/>
                        </a:lnSpc>
                        <a:spcBef>
                          <a:spcPts val="150"/>
                        </a:spcBef>
                      </a:pPr>
                      <a:endParaRPr sz="800">
                        <a:latin typeface="Times New Roman"/>
                        <a:cs typeface="Times New Roman"/>
                      </a:endParaRPr>
                    </a:p>
                    <a:p>
                      <a:pPr algn="ctr" marL="184785">
                        <a:lnSpc>
                          <a:spcPct val="100000"/>
                        </a:lnSpc>
                        <a:tabLst>
                          <a:tab pos="826769" algn="l"/>
                        </a:tabLst>
                      </a:pPr>
                      <a:r>
                        <a:rPr dirty="0" sz="800" spc="-20" b="1">
                          <a:latin typeface="Microsoft YaHei"/>
                          <a:cs typeface="Microsoft YaHei"/>
                        </a:rPr>
                        <a:t>1920</a:t>
                      </a:r>
                      <a:r>
                        <a:rPr dirty="0" sz="800" b="1">
                          <a:latin typeface="Microsoft YaHei"/>
                          <a:cs typeface="Microsoft YaHei"/>
                        </a:rPr>
                        <a:t>	</a:t>
                      </a:r>
                      <a:r>
                        <a:rPr dirty="0" sz="800" spc="-20" b="1">
                          <a:latin typeface="Microsoft YaHei"/>
                          <a:cs typeface="Microsoft YaHei"/>
                        </a:rPr>
                        <a:t>1940</a:t>
                      </a:r>
                      <a:endParaRPr sz="800">
                        <a:latin typeface="Microsoft YaHei"/>
                        <a:cs typeface="Microsoft YaHei"/>
                      </a:endParaRPr>
                    </a:p>
                  </a:txBody>
                  <a:tcPr marL="0" marR="0" marB="0" marT="0">
                    <a:lnT w="19050">
                      <a:solidFill>
                        <a:srgbClr val="0070C0"/>
                      </a:solidFill>
                      <a:prstDash val="lgDashDot"/>
                    </a:lnT>
                    <a:lnB w="19050">
                      <a:solidFill>
                        <a:srgbClr val="0070C0"/>
                      </a:solidFill>
                      <a:prstDash val="lgDashDot"/>
                    </a:lnB>
                  </a:tcPr>
                </a:tc>
                <a:tc>
                  <a:txBody>
                    <a:bodyPr/>
                    <a:lstStyle/>
                    <a:p>
                      <a:pPr>
                        <a:lnSpc>
                          <a:spcPct val="100000"/>
                        </a:lnSpc>
                      </a:pPr>
                      <a:endParaRPr sz="1100">
                        <a:latin typeface="Times New Roman"/>
                        <a:cs typeface="Times New Roman"/>
                      </a:endParaRPr>
                    </a:p>
                  </a:txBody>
                  <a:tcPr marL="0" marR="0" marB="0" marT="0">
                    <a:lnT w="19050">
                      <a:solidFill>
                        <a:srgbClr val="0070C0"/>
                      </a:solidFill>
                      <a:prstDash val="lgDashDot"/>
                    </a:lnT>
                    <a:lnB w="19050">
                      <a:solidFill>
                        <a:srgbClr val="0070C0"/>
                      </a:solidFill>
                      <a:prstDash val="lgDashDot"/>
                    </a:lnB>
                  </a:tcPr>
                </a:tc>
                <a:tc>
                  <a:txBody>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360"/>
                        </a:spcBef>
                      </a:pPr>
                      <a:endParaRPr sz="800">
                        <a:latin typeface="Times New Roman"/>
                        <a:cs typeface="Times New Roman"/>
                      </a:endParaRPr>
                    </a:p>
                    <a:p>
                      <a:pPr marL="95250">
                        <a:lnSpc>
                          <a:spcPct val="100000"/>
                        </a:lnSpc>
                      </a:pPr>
                      <a:r>
                        <a:rPr dirty="0" sz="800" spc="-20" b="1">
                          <a:latin typeface="Microsoft YaHei"/>
                          <a:cs typeface="Microsoft YaHei"/>
                        </a:rPr>
                        <a:t>1860</a:t>
                      </a:r>
                      <a:endParaRPr sz="800">
                        <a:latin typeface="Microsoft YaHei"/>
                        <a:cs typeface="Microsoft YaHei"/>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455"/>
                        </a:spcBef>
                      </a:pPr>
                      <a:endParaRPr sz="800">
                        <a:latin typeface="Times New Roman"/>
                        <a:cs typeface="Times New Roman"/>
                      </a:endParaRPr>
                    </a:p>
                    <a:p>
                      <a:pPr marL="116839">
                        <a:lnSpc>
                          <a:spcPct val="100000"/>
                        </a:lnSpc>
                      </a:pPr>
                      <a:r>
                        <a:rPr dirty="0" sz="800" spc="-20" b="1">
                          <a:latin typeface="Microsoft YaHei"/>
                          <a:cs typeface="Microsoft YaHei"/>
                        </a:rPr>
                        <a:t>2110</a:t>
                      </a:r>
                      <a:endParaRPr sz="800">
                        <a:latin typeface="Microsoft YaHei"/>
                        <a:cs typeface="Microsoft YaHei"/>
                      </a:endParaRPr>
                    </a:p>
                  </a:txBody>
                  <a:tcPr marL="0" marR="0" marB="0" marT="0">
                    <a:lnT w="19050">
                      <a:solidFill>
                        <a:srgbClr val="0070C0"/>
                      </a:solidFill>
                      <a:prstDash val="lgDashDot"/>
                    </a:lnT>
                    <a:lnB w="19050">
                      <a:solidFill>
                        <a:srgbClr val="0070C0"/>
                      </a:solidFill>
                      <a:prstDash val="lgDashDot"/>
                    </a:lnB>
                  </a:tcPr>
                </a:tc>
                <a:tc>
                  <a:txBody>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360"/>
                        </a:spcBef>
                      </a:pPr>
                      <a:endParaRPr sz="800">
                        <a:latin typeface="Times New Roman"/>
                        <a:cs typeface="Times New Roman"/>
                      </a:endParaRPr>
                    </a:p>
                    <a:p>
                      <a:pPr marL="148590">
                        <a:lnSpc>
                          <a:spcPct val="100000"/>
                        </a:lnSpc>
                      </a:pPr>
                      <a:r>
                        <a:rPr dirty="0" sz="800" spc="-20" b="1">
                          <a:latin typeface="Microsoft YaHei"/>
                          <a:cs typeface="Microsoft YaHei"/>
                        </a:rPr>
                        <a:t>1880</a:t>
                      </a:r>
                      <a:endParaRPr sz="800">
                        <a:latin typeface="Microsoft YaHei"/>
                        <a:cs typeface="Microsoft YaHei"/>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455"/>
                        </a:spcBef>
                      </a:pPr>
                      <a:endParaRPr sz="800">
                        <a:latin typeface="Times New Roman"/>
                        <a:cs typeface="Times New Roman"/>
                      </a:endParaRPr>
                    </a:p>
                    <a:p>
                      <a:pPr marL="134620">
                        <a:lnSpc>
                          <a:spcPct val="100000"/>
                        </a:lnSpc>
                      </a:pPr>
                      <a:r>
                        <a:rPr dirty="0" sz="800" spc="-20" b="1">
                          <a:latin typeface="Microsoft YaHei"/>
                          <a:cs typeface="Microsoft YaHei"/>
                        </a:rPr>
                        <a:t>2130</a:t>
                      </a:r>
                      <a:endParaRPr sz="800">
                        <a:latin typeface="Microsoft YaHei"/>
                        <a:cs typeface="Microsoft YaHei"/>
                      </a:endParaRPr>
                    </a:p>
                  </a:txBody>
                  <a:tcPr marL="0" marR="0" marB="0" marT="0">
                    <a:lnT w="19050">
                      <a:solidFill>
                        <a:srgbClr val="0070C0"/>
                      </a:solidFill>
                      <a:prstDash val="lgDashDot"/>
                    </a:lnT>
                    <a:lnB w="19050">
                      <a:solidFill>
                        <a:srgbClr val="0070C0"/>
                      </a:solidFill>
                      <a:prstDash val="lgDashDot"/>
                    </a:lnB>
                  </a:tcPr>
                </a:tc>
                <a:tc>
                  <a:txBody>
                    <a:bodyPr/>
                    <a:lstStyle/>
                    <a:p>
                      <a:pPr marL="447040" marR="338455" indent="-171450">
                        <a:lnSpc>
                          <a:spcPct val="150000"/>
                        </a:lnSpc>
                        <a:spcBef>
                          <a:spcPts val="910"/>
                        </a:spcBef>
                        <a:buFont typeface="Wingdings"/>
                        <a:buChar char=""/>
                        <a:tabLst>
                          <a:tab pos="447040" algn="l"/>
                        </a:tabLst>
                      </a:pPr>
                      <a:r>
                        <a:rPr dirty="0" sz="1100" spc="-10">
                          <a:latin typeface="SimSun"/>
                          <a:cs typeface="SimSun"/>
                        </a:rPr>
                        <a:t>1.8+2.1GHz</a:t>
                      </a:r>
                      <a:r>
                        <a:rPr dirty="0" sz="1100" spc="-20">
                          <a:latin typeface="SimSun"/>
                          <a:cs typeface="SimSun"/>
                        </a:rPr>
                        <a:t>作为</a:t>
                      </a:r>
                      <a:r>
                        <a:rPr dirty="0" sz="1100" spc="-10">
                          <a:latin typeface="SimSun"/>
                          <a:cs typeface="SimSun"/>
                        </a:rPr>
                        <a:t>4G</a:t>
                      </a:r>
                      <a:r>
                        <a:rPr dirty="0" sz="1100" spc="-20">
                          <a:latin typeface="SimSun"/>
                          <a:cs typeface="SimSun"/>
                        </a:rPr>
                        <a:t>容量层，满足</a:t>
                      </a:r>
                      <a:r>
                        <a:rPr dirty="0" sz="1100" spc="-25">
                          <a:latin typeface="SimSun"/>
                          <a:cs typeface="SimSun"/>
                        </a:rPr>
                        <a:t>4G室内外容量需求，长期逐步重耕到</a:t>
                      </a:r>
                      <a:r>
                        <a:rPr dirty="0" sz="1100" spc="-50">
                          <a:latin typeface="SimSun"/>
                          <a:cs typeface="SimSun"/>
                        </a:rPr>
                        <a:t> </a:t>
                      </a:r>
                      <a:r>
                        <a:rPr dirty="0" sz="1100" spc="-10">
                          <a:latin typeface="SimSun"/>
                          <a:cs typeface="SimSun"/>
                        </a:rPr>
                        <a:t>5G，</a:t>
                      </a:r>
                      <a:r>
                        <a:rPr dirty="0" sz="1100" spc="-20">
                          <a:latin typeface="SimSun"/>
                          <a:cs typeface="SimSun"/>
                        </a:rPr>
                        <a:t>作为</a:t>
                      </a:r>
                      <a:r>
                        <a:rPr dirty="0" sz="1100" spc="-10">
                          <a:latin typeface="SimSun"/>
                          <a:cs typeface="SimSun"/>
                        </a:rPr>
                        <a:t>eMBB</a:t>
                      </a:r>
                      <a:r>
                        <a:rPr dirty="0" sz="1100" spc="-25">
                          <a:latin typeface="SimSun"/>
                          <a:cs typeface="SimSun"/>
                        </a:rPr>
                        <a:t>业务的补充，提供</a:t>
                      </a:r>
                      <a:r>
                        <a:rPr dirty="0" sz="1100" spc="-50">
                          <a:latin typeface="SimSun"/>
                          <a:cs typeface="SimSun"/>
                        </a:rPr>
                        <a:t> </a:t>
                      </a:r>
                      <a:r>
                        <a:rPr dirty="0" sz="1100" spc="-10">
                          <a:latin typeface="SimSun"/>
                          <a:cs typeface="SimSun"/>
                        </a:rPr>
                        <a:t>URLLC</a:t>
                      </a:r>
                      <a:r>
                        <a:rPr dirty="0" sz="1100" spc="-20">
                          <a:latin typeface="SimSun"/>
                          <a:cs typeface="SimSun"/>
                        </a:rPr>
                        <a:t>和</a:t>
                      </a:r>
                      <a:r>
                        <a:rPr dirty="0" sz="1100" spc="-10">
                          <a:latin typeface="SimSun"/>
                          <a:cs typeface="SimSun"/>
                        </a:rPr>
                        <a:t>mMTC</a:t>
                      </a:r>
                      <a:r>
                        <a:rPr dirty="0" sz="1100" spc="-30">
                          <a:latin typeface="SimSun"/>
                          <a:cs typeface="SimSun"/>
                        </a:rPr>
                        <a:t>业务</a:t>
                      </a:r>
                      <a:endParaRPr sz="1100">
                        <a:latin typeface="SimSun"/>
                        <a:cs typeface="SimSun"/>
                      </a:endParaRPr>
                    </a:p>
                  </a:txBody>
                  <a:tcPr marL="0" marR="0" marB="0" marT="115570">
                    <a:lnT w="19050">
                      <a:solidFill>
                        <a:srgbClr val="0070C0"/>
                      </a:solidFill>
                      <a:prstDash val="lgDashDot"/>
                    </a:lnT>
                    <a:lnB w="19050">
                      <a:solidFill>
                        <a:srgbClr val="0070C0"/>
                      </a:solidFill>
                      <a:prstDash val="lgDashDot"/>
                    </a:lnB>
                  </a:tcPr>
                </a:tc>
                <a:tc>
                  <a:txBody>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25"/>
                        </a:spcBef>
                      </a:pPr>
                      <a:endParaRPr sz="1200">
                        <a:latin typeface="Times New Roman"/>
                        <a:cs typeface="Times New Roman"/>
                      </a:endParaRPr>
                    </a:p>
                    <a:p>
                      <a:pPr marL="342265" marR="267970" indent="-203835">
                        <a:lnSpc>
                          <a:spcPct val="100000"/>
                        </a:lnSpc>
                      </a:pPr>
                      <a:r>
                        <a:rPr dirty="0" sz="1200" b="1">
                          <a:solidFill>
                            <a:srgbClr val="FFFFFF"/>
                          </a:solidFill>
                          <a:latin typeface="Microsoft YaHei"/>
                          <a:cs typeface="Microsoft YaHei"/>
                        </a:rPr>
                        <a:t>4G</a:t>
                      </a:r>
                      <a:r>
                        <a:rPr dirty="0" sz="1200" spc="-50" b="1">
                          <a:solidFill>
                            <a:srgbClr val="FFFFFF"/>
                          </a:solidFill>
                          <a:latin typeface="Microsoft YaHei"/>
                          <a:cs typeface="Microsoft YaHei"/>
                        </a:rPr>
                        <a:t> 容量层</a:t>
                      </a:r>
                      <a:endParaRPr sz="1200">
                        <a:latin typeface="Microsoft YaHei"/>
                        <a:cs typeface="Microsoft YaHei"/>
                      </a:endParaRPr>
                    </a:p>
                  </a:txBody>
                  <a:tcPr marL="0" marR="0" marB="0" marT="0">
                    <a:lnT w="19050">
                      <a:solidFill>
                        <a:srgbClr val="0070C0"/>
                      </a:solidFill>
                      <a:prstDash val="lgDashDot"/>
                    </a:lnT>
                    <a:lnB w="19050">
                      <a:solidFill>
                        <a:srgbClr val="0070C0"/>
                      </a:solidFill>
                      <a:prstDash val="lgDashDot"/>
                    </a:lnB>
                  </a:tcPr>
                </a:tc>
                <a:tc>
                  <a:txBody>
                    <a:bodyPr/>
                    <a:lstStyle/>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spcBef>
                          <a:spcPts val="20"/>
                        </a:spcBef>
                      </a:pPr>
                      <a:endParaRPr sz="1050">
                        <a:latin typeface="Times New Roman"/>
                        <a:cs typeface="Times New Roman"/>
                      </a:endParaRPr>
                    </a:p>
                    <a:p>
                      <a:pPr algn="just" marL="304165" marR="606425" indent="20955">
                        <a:lnSpc>
                          <a:spcPct val="100000"/>
                        </a:lnSpc>
                      </a:pPr>
                      <a:r>
                        <a:rPr dirty="0" sz="1050" spc="-20" b="1">
                          <a:solidFill>
                            <a:srgbClr val="FFFFFF"/>
                          </a:solidFill>
                          <a:latin typeface="Microsoft YaHei"/>
                          <a:cs typeface="Microsoft YaHei"/>
                        </a:rPr>
                        <a:t>eMBB </a:t>
                      </a:r>
                      <a:r>
                        <a:rPr dirty="0" sz="1050" spc="-10" b="1">
                          <a:solidFill>
                            <a:srgbClr val="FFFFFF"/>
                          </a:solidFill>
                          <a:latin typeface="Microsoft YaHei"/>
                          <a:cs typeface="Microsoft YaHei"/>
                        </a:rPr>
                        <a:t>URLLC </a:t>
                      </a:r>
                      <a:r>
                        <a:rPr dirty="0" sz="1050" spc="-20" b="1">
                          <a:solidFill>
                            <a:srgbClr val="FFFFFF"/>
                          </a:solidFill>
                          <a:latin typeface="Microsoft YaHei"/>
                          <a:cs typeface="Microsoft YaHei"/>
                        </a:rPr>
                        <a:t>mMTC</a:t>
                      </a:r>
                      <a:endParaRPr sz="1050">
                        <a:latin typeface="Microsoft YaHei"/>
                        <a:cs typeface="Microsoft YaHei"/>
                      </a:endParaRPr>
                    </a:p>
                  </a:txBody>
                  <a:tcPr marL="0" marR="0" marB="0" marT="0">
                    <a:lnR w="28575">
                      <a:solidFill>
                        <a:srgbClr val="89A4A7"/>
                      </a:solidFill>
                      <a:prstDash val="lgDashDot"/>
                    </a:lnR>
                    <a:lnT w="19050">
                      <a:solidFill>
                        <a:srgbClr val="0070C0"/>
                      </a:solidFill>
                      <a:prstDash val="lgDashDot"/>
                    </a:lnT>
                    <a:lnB w="19050">
                      <a:solidFill>
                        <a:srgbClr val="0070C0"/>
                      </a:solidFill>
                      <a:prstDash val="lgDashDot"/>
                    </a:lnB>
                  </a:tcPr>
                </a:tc>
              </a:tr>
              <a:tr h="917575">
                <a:tc>
                  <a:txBody>
                    <a:bodyPr/>
                    <a:lstStyle/>
                    <a:p>
                      <a:pPr>
                        <a:lnSpc>
                          <a:spcPct val="100000"/>
                        </a:lnSpc>
                        <a:spcBef>
                          <a:spcPts val="1300"/>
                        </a:spcBef>
                      </a:pPr>
                      <a:endParaRPr sz="1600">
                        <a:latin typeface="Times New Roman"/>
                        <a:cs typeface="Times New Roman"/>
                      </a:endParaRPr>
                    </a:p>
                    <a:p>
                      <a:pPr marL="112395">
                        <a:lnSpc>
                          <a:spcPct val="100000"/>
                        </a:lnSpc>
                      </a:pPr>
                      <a:r>
                        <a:rPr dirty="0" sz="1600" spc="-10">
                          <a:solidFill>
                            <a:srgbClr val="FF0000"/>
                          </a:solidFill>
                          <a:latin typeface="SimSun"/>
                          <a:cs typeface="SimSun"/>
                        </a:rPr>
                        <a:t>800MHz</a:t>
                      </a:r>
                      <a:endParaRPr sz="1600">
                        <a:latin typeface="SimSun"/>
                        <a:cs typeface="SimSun"/>
                      </a:endParaRPr>
                    </a:p>
                  </a:txBody>
                  <a:tcPr marL="0" marR="0" marB="0" marT="165100">
                    <a:lnL w="28575">
                      <a:solidFill>
                        <a:srgbClr val="89A4A7"/>
                      </a:solidFill>
                      <a:prstDash val="lgDashDot"/>
                    </a:lnL>
                    <a:lnT w="19050">
                      <a:solidFill>
                        <a:srgbClr val="0070C0"/>
                      </a:solidFill>
                      <a:prstDash val="lgDashDot"/>
                    </a:lnT>
                    <a:lnB w="28575">
                      <a:solidFill>
                        <a:srgbClr val="89A4A7"/>
                      </a:solidFill>
                      <a:prstDash val="lgDashDot"/>
                    </a:lnB>
                  </a:tcPr>
                </a:tc>
                <a:tc>
                  <a:txBody>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855"/>
                        </a:spcBef>
                      </a:pPr>
                      <a:endParaRPr sz="800">
                        <a:latin typeface="Times New Roman"/>
                        <a:cs typeface="Times New Roman"/>
                      </a:endParaRPr>
                    </a:p>
                    <a:p>
                      <a:pPr marL="511809">
                        <a:lnSpc>
                          <a:spcPct val="100000"/>
                        </a:lnSpc>
                      </a:pPr>
                      <a:r>
                        <a:rPr dirty="0" sz="800" spc="-10" b="1">
                          <a:solidFill>
                            <a:srgbClr val="FFFFFF"/>
                          </a:solidFill>
                          <a:latin typeface="Arial"/>
                          <a:cs typeface="Arial"/>
                        </a:rPr>
                        <a:t>10MHz</a:t>
                      </a:r>
                      <a:endParaRPr sz="800">
                        <a:latin typeface="Arial"/>
                        <a:cs typeface="Arial"/>
                      </a:endParaRPr>
                    </a:p>
                    <a:p>
                      <a:pPr>
                        <a:lnSpc>
                          <a:spcPct val="100000"/>
                        </a:lnSpc>
                        <a:spcBef>
                          <a:spcPts val="225"/>
                        </a:spcBef>
                      </a:pPr>
                      <a:endParaRPr sz="800">
                        <a:latin typeface="Times New Roman"/>
                        <a:cs typeface="Times New Roman"/>
                      </a:endParaRPr>
                    </a:p>
                    <a:p>
                      <a:pPr marL="328295">
                        <a:lnSpc>
                          <a:spcPct val="100000"/>
                        </a:lnSpc>
                        <a:spcBef>
                          <a:spcPts val="5"/>
                        </a:spcBef>
                        <a:tabLst>
                          <a:tab pos="760095" algn="l"/>
                        </a:tabLst>
                      </a:pPr>
                      <a:r>
                        <a:rPr dirty="0" sz="800" spc="-25" b="1">
                          <a:latin typeface="Microsoft YaHei"/>
                          <a:cs typeface="Microsoft YaHei"/>
                        </a:rPr>
                        <a:t>821</a:t>
                      </a:r>
                      <a:r>
                        <a:rPr dirty="0" sz="800" b="1">
                          <a:latin typeface="Microsoft YaHei"/>
                          <a:cs typeface="Microsoft YaHei"/>
                        </a:rPr>
                        <a:t>	</a:t>
                      </a:r>
                      <a:r>
                        <a:rPr dirty="0" sz="800" spc="-25" b="1">
                          <a:latin typeface="Microsoft YaHei"/>
                          <a:cs typeface="Microsoft YaHei"/>
                        </a:rPr>
                        <a:t>835</a:t>
                      </a:r>
                      <a:endParaRPr sz="800">
                        <a:latin typeface="Microsoft YaHei"/>
                        <a:cs typeface="Microsoft YaHei"/>
                      </a:endParaRPr>
                    </a:p>
                  </a:txBody>
                  <a:tcPr marL="0" marR="0" marB="0" marT="0">
                    <a:lnT w="19050">
                      <a:solidFill>
                        <a:srgbClr val="0070C0"/>
                      </a:solidFill>
                      <a:prstDash val="lgDashDot"/>
                    </a:lnT>
                    <a:lnB w="28575">
                      <a:solidFill>
                        <a:srgbClr val="89A4A7"/>
                      </a:solidFill>
                      <a:prstDash val="lgDashDot"/>
                    </a:lnB>
                  </a:tcPr>
                </a:tc>
                <a:tc>
                  <a:txBody>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200"/>
                        </a:spcBef>
                      </a:pPr>
                      <a:endParaRPr sz="800">
                        <a:latin typeface="Times New Roman"/>
                        <a:cs typeface="Times New Roman"/>
                      </a:endParaRPr>
                    </a:p>
                    <a:p>
                      <a:pPr marL="8890">
                        <a:lnSpc>
                          <a:spcPct val="100000"/>
                        </a:lnSpc>
                        <a:spcBef>
                          <a:spcPts val="5"/>
                        </a:spcBef>
                      </a:pPr>
                      <a:r>
                        <a:rPr dirty="0" sz="800" spc="-25" b="1">
                          <a:latin typeface="Microsoft YaHei"/>
                          <a:cs typeface="Microsoft YaHei"/>
                        </a:rPr>
                        <a:t>866</a:t>
                      </a:r>
                      <a:endParaRPr sz="800">
                        <a:latin typeface="Microsoft YaHei"/>
                        <a:cs typeface="Microsoft YaHei"/>
                      </a:endParaRPr>
                    </a:p>
                  </a:txBody>
                  <a:tcPr marL="0" marR="0" marB="0" marT="0">
                    <a:lnT w="19050">
                      <a:solidFill>
                        <a:srgbClr val="0070C0"/>
                      </a:solidFill>
                      <a:prstDash val="lgDashDot"/>
                    </a:lnT>
                    <a:lnB w="28575">
                      <a:solidFill>
                        <a:srgbClr val="89A4A7"/>
                      </a:solidFill>
                      <a:prstDash val="lgDashDot"/>
                    </a:lnB>
                  </a:tcPr>
                </a:tc>
                <a:tc>
                  <a:txBody>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200"/>
                        </a:spcBef>
                      </a:pPr>
                      <a:endParaRPr sz="800">
                        <a:latin typeface="Times New Roman"/>
                        <a:cs typeface="Times New Roman"/>
                      </a:endParaRPr>
                    </a:p>
                    <a:p>
                      <a:pPr marL="93980">
                        <a:lnSpc>
                          <a:spcPct val="100000"/>
                        </a:lnSpc>
                        <a:spcBef>
                          <a:spcPts val="5"/>
                        </a:spcBef>
                      </a:pPr>
                      <a:r>
                        <a:rPr dirty="0" sz="800" spc="-25" b="1">
                          <a:latin typeface="Microsoft YaHei"/>
                          <a:cs typeface="Microsoft YaHei"/>
                        </a:rPr>
                        <a:t>880</a:t>
                      </a:r>
                      <a:endParaRPr sz="800">
                        <a:latin typeface="Microsoft YaHei"/>
                        <a:cs typeface="Microsoft YaHei"/>
                      </a:endParaRPr>
                    </a:p>
                  </a:txBody>
                  <a:tcPr marL="0" marR="0" marB="0" marT="0">
                    <a:lnT w="19050">
                      <a:solidFill>
                        <a:srgbClr val="0070C0"/>
                      </a:solidFill>
                      <a:prstDash val="lgDashDot"/>
                    </a:lnT>
                    <a:lnB w="28575">
                      <a:solidFill>
                        <a:srgbClr val="89A4A7"/>
                      </a:solidFill>
                      <a:prstDash val="lgDashDot"/>
                    </a:lnB>
                  </a:tcPr>
                </a:tc>
                <a:tc>
                  <a:txBody>
                    <a:bodyPr/>
                    <a:lstStyle/>
                    <a:p>
                      <a:pPr>
                        <a:lnSpc>
                          <a:spcPct val="100000"/>
                        </a:lnSpc>
                      </a:pPr>
                      <a:endParaRPr sz="1100">
                        <a:latin typeface="Times New Roman"/>
                        <a:cs typeface="Times New Roman"/>
                      </a:endParaRPr>
                    </a:p>
                  </a:txBody>
                  <a:tcPr marL="0" marR="0" marB="0" marT="0">
                    <a:lnT w="19050">
                      <a:solidFill>
                        <a:srgbClr val="0070C0"/>
                      </a:solidFill>
                      <a:prstDash val="lgDashDot"/>
                    </a:lnT>
                    <a:lnB w="28575">
                      <a:solidFill>
                        <a:srgbClr val="89A4A7"/>
                      </a:solidFill>
                      <a:prstDash val="lgDashDot"/>
                    </a:lnB>
                  </a:tcPr>
                </a:tc>
                <a:tc>
                  <a:txBody>
                    <a:bodyPr/>
                    <a:lstStyle/>
                    <a:p>
                      <a:pPr>
                        <a:lnSpc>
                          <a:spcPct val="100000"/>
                        </a:lnSpc>
                        <a:spcBef>
                          <a:spcPts val="770"/>
                        </a:spcBef>
                      </a:pPr>
                      <a:endParaRPr sz="1100">
                        <a:latin typeface="Times New Roman"/>
                        <a:cs typeface="Times New Roman"/>
                      </a:endParaRPr>
                    </a:p>
                    <a:p>
                      <a:pPr marL="446405" indent="-170815">
                        <a:lnSpc>
                          <a:spcPct val="100000"/>
                        </a:lnSpc>
                        <a:spcBef>
                          <a:spcPts val="5"/>
                        </a:spcBef>
                        <a:buFont typeface="Wingdings"/>
                        <a:buChar char=""/>
                        <a:tabLst>
                          <a:tab pos="446405" algn="l"/>
                        </a:tabLst>
                      </a:pPr>
                      <a:r>
                        <a:rPr dirty="0" sz="1100" spc="-10">
                          <a:latin typeface="SimSun"/>
                          <a:cs typeface="SimSun"/>
                        </a:rPr>
                        <a:t>800MHz</a:t>
                      </a:r>
                      <a:r>
                        <a:rPr dirty="0" sz="1100" spc="-20">
                          <a:latin typeface="SimSun"/>
                          <a:cs typeface="SimSun"/>
                        </a:rPr>
                        <a:t>支持</a:t>
                      </a:r>
                      <a:r>
                        <a:rPr dirty="0" sz="1100">
                          <a:latin typeface="SimSun"/>
                          <a:cs typeface="SimSun"/>
                        </a:rPr>
                        <a:t>CDMA，LTE</a:t>
                      </a:r>
                      <a:r>
                        <a:rPr dirty="0" sz="1100" spc="-15">
                          <a:latin typeface="SimSun"/>
                          <a:cs typeface="SimSun"/>
                        </a:rPr>
                        <a:t> </a:t>
                      </a:r>
                      <a:r>
                        <a:rPr dirty="0" sz="1100" spc="-10">
                          <a:latin typeface="SimSun"/>
                          <a:cs typeface="SimSun"/>
                        </a:rPr>
                        <a:t>FDD和NB-</a:t>
                      </a:r>
                      <a:r>
                        <a:rPr dirty="0" sz="1100" spc="-20">
                          <a:latin typeface="SimSun"/>
                          <a:cs typeface="SimSun"/>
                        </a:rPr>
                        <a:t>IoT，</a:t>
                      </a:r>
                      <a:endParaRPr sz="1100">
                        <a:latin typeface="SimSun"/>
                        <a:cs typeface="SimSun"/>
                      </a:endParaRPr>
                    </a:p>
                    <a:p>
                      <a:pPr marL="447040" marR="338455">
                        <a:lnSpc>
                          <a:spcPts val="1980"/>
                        </a:lnSpc>
                      </a:pPr>
                      <a:r>
                        <a:rPr dirty="0" sz="1100" spc="-20">
                          <a:latin typeface="SimSun"/>
                          <a:cs typeface="SimSun"/>
                        </a:rPr>
                        <a:t>长期作为打底网络，最终重耕到</a:t>
                      </a:r>
                      <a:r>
                        <a:rPr dirty="0" sz="1100" spc="-25">
                          <a:latin typeface="SimSun"/>
                          <a:cs typeface="SimSun"/>
                        </a:rPr>
                        <a:t>5G</a:t>
                      </a:r>
                      <a:r>
                        <a:rPr dirty="0" sz="1100" spc="-20">
                          <a:latin typeface="SimSun"/>
                          <a:cs typeface="SimSun"/>
                        </a:rPr>
                        <a:t>提供</a:t>
                      </a:r>
                      <a:r>
                        <a:rPr dirty="0" sz="1100" spc="-10">
                          <a:latin typeface="SimSun"/>
                          <a:cs typeface="SimSun"/>
                        </a:rPr>
                        <a:t>mMTC</a:t>
                      </a:r>
                      <a:r>
                        <a:rPr dirty="0" sz="1100" spc="-35">
                          <a:latin typeface="SimSun"/>
                          <a:cs typeface="SimSun"/>
                        </a:rPr>
                        <a:t>业务</a:t>
                      </a:r>
                      <a:endParaRPr sz="1100">
                        <a:latin typeface="SimSun"/>
                        <a:cs typeface="SimSun"/>
                      </a:endParaRPr>
                    </a:p>
                  </a:txBody>
                  <a:tcPr marL="0" marR="0" marB="0" marT="97790">
                    <a:lnT w="19050">
                      <a:solidFill>
                        <a:srgbClr val="0070C0"/>
                      </a:solidFill>
                      <a:prstDash val="lgDashDot"/>
                    </a:lnT>
                    <a:lnB w="28575">
                      <a:solidFill>
                        <a:srgbClr val="89A4A7"/>
                      </a:solidFill>
                      <a:prstDash val="lgDashDot"/>
                    </a:lnB>
                  </a:tcPr>
                </a:tc>
                <a:tc>
                  <a:txBody>
                    <a:bodyPr/>
                    <a:lstStyle/>
                    <a:p>
                      <a:pPr>
                        <a:lnSpc>
                          <a:spcPct val="100000"/>
                        </a:lnSpc>
                      </a:pPr>
                      <a:endParaRPr sz="1200">
                        <a:latin typeface="Times New Roman"/>
                        <a:cs typeface="Times New Roman"/>
                      </a:endParaRPr>
                    </a:p>
                    <a:p>
                      <a:pPr>
                        <a:lnSpc>
                          <a:spcPct val="100000"/>
                        </a:lnSpc>
                        <a:spcBef>
                          <a:spcPts val="894"/>
                        </a:spcBef>
                      </a:pPr>
                      <a:endParaRPr sz="1200">
                        <a:latin typeface="Times New Roman"/>
                        <a:cs typeface="Times New Roman"/>
                      </a:endParaRPr>
                    </a:p>
                    <a:p>
                      <a:pPr marL="266065" marR="267970" indent="-127635">
                        <a:lnSpc>
                          <a:spcPct val="100000"/>
                        </a:lnSpc>
                      </a:pPr>
                      <a:r>
                        <a:rPr dirty="0" sz="1200" b="1">
                          <a:solidFill>
                            <a:srgbClr val="FFFFFF"/>
                          </a:solidFill>
                          <a:latin typeface="Microsoft YaHei"/>
                          <a:cs typeface="Microsoft YaHei"/>
                        </a:rPr>
                        <a:t>4G</a:t>
                      </a:r>
                      <a:r>
                        <a:rPr dirty="0" sz="1200" spc="-50" b="1">
                          <a:solidFill>
                            <a:srgbClr val="FFFFFF"/>
                          </a:solidFill>
                          <a:latin typeface="Microsoft YaHei"/>
                          <a:cs typeface="Microsoft YaHei"/>
                        </a:rPr>
                        <a:t> 打底</a:t>
                      </a:r>
                      <a:r>
                        <a:rPr dirty="0" sz="1200" spc="-25" b="1">
                          <a:solidFill>
                            <a:srgbClr val="FFFFFF"/>
                          </a:solidFill>
                          <a:latin typeface="Microsoft YaHei"/>
                          <a:cs typeface="Microsoft YaHei"/>
                        </a:rPr>
                        <a:t>网络</a:t>
                      </a:r>
                      <a:endParaRPr sz="1200">
                        <a:latin typeface="Microsoft YaHei"/>
                        <a:cs typeface="Microsoft YaHei"/>
                      </a:endParaRPr>
                    </a:p>
                  </a:txBody>
                  <a:tcPr marL="0" marR="0" marB="0" marT="0">
                    <a:lnT w="19050">
                      <a:solidFill>
                        <a:srgbClr val="0070C0"/>
                      </a:solidFill>
                      <a:prstDash val="lgDashDot"/>
                    </a:lnT>
                    <a:lnB w="28575">
                      <a:solidFill>
                        <a:srgbClr val="89A4A7"/>
                      </a:solidFill>
                      <a:prstDash val="lgDashDot"/>
                    </a:lnB>
                  </a:tcPr>
                </a:tc>
                <a:tc>
                  <a:txBody>
                    <a:bodyPr/>
                    <a:lstStyle/>
                    <a:p>
                      <a:pPr>
                        <a:lnSpc>
                          <a:spcPct val="100000"/>
                        </a:lnSpc>
                      </a:pPr>
                      <a:endParaRPr sz="1200">
                        <a:latin typeface="Times New Roman"/>
                        <a:cs typeface="Times New Roman"/>
                      </a:endParaRPr>
                    </a:p>
                    <a:p>
                      <a:pPr>
                        <a:lnSpc>
                          <a:spcPct val="100000"/>
                        </a:lnSpc>
                        <a:spcBef>
                          <a:spcPts val="894"/>
                        </a:spcBef>
                      </a:pPr>
                      <a:endParaRPr sz="1200">
                        <a:latin typeface="Times New Roman"/>
                        <a:cs typeface="Times New Roman"/>
                      </a:endParaRPr>
                    </a:p>
                    <a:p>
                      <a:pPr marL="275590" marR="584835" indent="143510">
                        <a:lnSpc>
                          <a:spcPct val="100000"/>
                        </a:lnSpc>
                      </a:pPr>
                      <a:r>
                        <a:rPr dirty="0" sz="1200" spc="-25" b="1">
                          <a:solidFill>
                            <a:srgbClr val="FFFFFF"/>
                          </a:solidFill>
                          <a:latin typeface="Microsoft YaHei"/>
                          <a:cs typeface="Microsoft YaHei"/>
                        </a:rPr>
                        <a:t>5G </a:t>
                      </a:r>
                      <a:r>
                        <a:rPr dirty="0" sz="1200" spc="-45" b="1">
                          <a:solidFill>
                            <a:srgbClr val="FFFFFF"/>
                          </a:solidFill>
                          <a:latin typeface="Microsoft YaHei"/>
                          <a:cs typeface="Microsoft YaHei"/>
                        </a:rPr>
                        <a:t>mMTC</a:t>
                      </a:r>
                      <a:endParaRPr sz="1200">
                        <a:latin typeface="Microsoft YaHei"/>
                        <a:cs typeface="Microsoft YaHei"/>
                      </a:endParaRPr>
                    </a:p>
                  </a:txBody>
                  <a:tcPr marL="0" marR="0" marB="0" marT="0">
                    <a:lnR w="28575">
                      <a:solidFill>
                        <a:srgbClr val="89A4A7"/>
                      </a:solidFill>
                      <a:prstDash val="lgDashDot"/>
                    </a:lnR>
                    <a:lnT w="19050">
                      <a:solidFill>
                        <a:srgbClr val="0070C0"/>
                      </a:solidFill>
                      <a:prstDash val="lgDashDot"/>
                    </a:lnT>
                    <a:lnB w="28575">
                      <a:solidFill>
                        <a:srgbClr val="89A4A7"/>
                      </a:solidFill>
                      <a:prstDash val="lgDashDot"/>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12077" y="127561"/>
            <a:ext cx="4498340" cy="513080"/>
          </a:xfrm>
          <a:prstGeom prst="rect"/>
        </p:spPr>
        <p:txBody>
          <a:bodyPr wrap="square" lIns="0" tIns="12065" rIns="0" bIns="0" rtlCol="0" vert="horz">
            <a:spAutoFit/>
          </a:bodyPr>
          <a:lstStyle/>
          <a:p>
            <a:pPr marL="12700">
              <a:lnSpc>
                <a:spcPct val="100000"/>
              </a:lnSpc>
              <a:spcBef>
                <a:spcPts val="95"/>
              </a:spcBef>
            </a:pPr>
            <a:r>
              <a:rPr dirty="0" spc="-45"/>
              <a:t>中国联通多频段演进策略</a:t>
            </a:r>
          </a:p>
        </p:txBody>
      </p:sp>
      <p:sp>
        <p:nvSpPr>
          <p:cNvPr id="3" name="object 3" descr=""/>
          <p:cNvSpPr txBox="1"/>
          <p:nvPr/>
        </p:nvSpPr>
        <p:spPr>
          <a:xfrm>
            <a:off x="971600" y="1279080"/>
            <a:ext cx="2473325" cy="1887220"/>
          </a:xfrm>
          <a:prstGeom prst="rect">
            <a:avLst/>
          </a:prstGeom>
          <a:ln w="9525">
            <a:solidFill>
              <a:srgbClr val="0033CC"/>
            </a:solidFill>
          </a:ln>
        </p:spPr>
        <p:txBody>
          <a:bodyPr wrap="square" lIns="0" tIns="72390" rIns="0" bIns="0" rtlCol="0" vert="horz">
            <a:spAutoFit/>
          </a:bodyPr>
          <a:lstStyle/>
          <a:p>
            <a:pPr marL="62865">
              <a:lnSpc>
                <a:spcPct val="100000"/>
              </a:lnSpc>
              <a:spcBef>
                <a:spcPts val="570"/>
              </a:spcBef>
            </a:pPr>
            <a:r>
              <a:rPr dirty="0" sz="900" spc="-20" b="1">
                <a:solidFill>
                  <a:srgbClr val="C00000"/>
                </a:solidFill>
                <a:latin typeface="Microsoft YaHei"/>
                <a:cs typeface="Microsoft YaHei"/>
              </a:rPr>
              <a:t>室外：</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b="1">
                <a:latin typeface="Microsoft YaHei"/>
                <a:cs typeface="Microsoft YaHei"/>
              </a:rPr>
              <a:t>重点城市高价值区快速建网，5G</a:t>
            </a:r>
            <a:r>
              <a:rPr dirty="0" sz="900" spc="-25" b="1">
                <a:latin typeface="Microsoft YaHei"/>
                <a:cs typeface="Microsoft YaHei"/>
              </a:rPr>
              <a:t>领先</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a:latin typeface="Microsoft YaHei"/>
                <a:cs typeface="Microsoft YaHei"/>
              </a:rPr>
              <a:t>3.5GHz</a:t>
            </a:r>
            <a:r>
              <a:rPr dirty="0" sz="900" spc="-25">
                <a:latin typeface="Microsoft YaHei"/>
                <a:cs typeface="Microsoft YaHei"/>
              </a:rPr>
              <a:t> </a:t>
            </a:r>
            <a:r>
              <a:rPr dirty="0" sz="900">
                <a:latin typeface="Microsoft YaHei"/>
                <a:cs typeface="Microsoft YaHei"/>
              </a:rPr>
              <a:t>64TR</a:t>
            </a:r>
            <a:r>
              <a:rPr dirty="0" sz="900" spc="-20">
                <a:latin typeface="Microsoft YaHei"/>
                <a:cs typeface="Microsoft YaHei"/>
              </a:rPr>
              <a:t> </a:t>
            </a:r>
            <a:r>
              <a:rPr dirty="0" sz="900" spc="-25">
                <a:latin typeface="Microsoft YaHei"/>
                <a:cs typeface="Microsoft YaHei"/>
              </a:rPr>
              <a:t>MM</a:t>
            </a:r>
            <a:endParaRPr sz="900">
              <a:latin typeface="Microsoft YaHei"/>
              <a:cs typeface="Microsoft YaHei"/>
            </a:endParaRPr>
          </a:p>
          <a:p>
            <a:pPr marL="62865">
              <a:lnSpc>
                <a:spcPct val="100000"/>
              </a:lnSpc>
              <a:spcBef>
                <a:spcPts val="215"/>
              </a:spcBef>
            </a:pPr>
            <a:r>
              <a:rPr dirty="0" sz="900" spc="-20" b="1">
                <a:solidFill>
                  <a:srgbClr val="C00000"/>
                </a:solidFill>
                <a:latin typeface="Microsoft YaHei"/>
                <a:cs typeface="Microsoft YaHei"/>
              </a:rPr>
              <a:t>室内：</a:t>
            </a:r>
            <a:endParaRPr sz="900">
              <a:latin typeface="Microsoft YaHei"/>
              <a:cs typeface="Microsoft YaHei"/>
            </a:endParaRPr>
          </a:p>
          <a:p>
            <a:pPr marL="221615" indent="-158750">
              <a:lnSpc>
                <a:spcPct val="100000"/>
              </a:lnSpc>
              <a:spcBef>
                <a:spcPts val="219"/>
              </a:spcBef>
              <a:buFont typeface="Wingdings"/>
              <a:buChar char=""/>
              <a:tabLst>
                <a:tab pos="221615" algn="l"/>
              </a:tabLst>
            </a:pPr>
            <a:r>
              <a:rPr dirty="0" sz="900" spc="-5" b="1">
                <a:latin typeface="Microsoft YaHei"/>
                <a:cs typeface="Microsoft YaHei"/>
              </a:rPr>
              <a:t>高价值室内场景室分覆盖</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a:latin typeface="Microsoft YaHei"/>
                <a:cs typeface="Microsoft YaHei"/>
              </a:rPr>
              <a:t>3.5GHz</a:t>
            </a:r>
            <a:r>
              <a:rPr dirty="0" sz="900" spc="5">
                <a:latin typeface="Microsoft YaHei"/>
                <a:cs typeface="Microsoft YaHei"/>
              </a:rPr>
              <a:t> </a:t>
            </a:r>
            <a:r>
              <a:rPr dirty="0" sz="900" spc="-10">
                <a:latin typeface="Microsoft YaHei"/>
                <a:cs typeface="Microsoft YaHei"/>
              </a:rPr>
              <a:t>4T4R</a:t>
            </a:r>
            <a:r>
              <a:rPr dirty="0" sz="900" spc="-15">
                <a:latin typeface="Microsoft YaHei"/>
                <a:cs typeface="Microsoft YaHei"/>
              </a:rPr>
              <a:t>新型室分</a:t>
            </a:r>
            <a:endParaRPr sz="900">
              <a:latin typeface="Microsoft YaHei"/>
              <a:cs typeface="Microsoft YaHei"/>
            </a:endParaRPr>
          </a:p>
        </p:txBody>
      </p:sp>
      <p:sp>
        <p:nvSpPr>
          <p:cNvPr id="4" name="object 4" descr=""/>
          <p:cNvSpPr txBox="1"/>
          <p:nvPr/>
        </p:nvSpPr>
        <p:spPr>
          <a:xfrm>
            <a:off x="3640759" y="1285786"/>
            <a:ext cx="2587625" cy="1880235"/>
          </a:xfrm>
          <a:prstGeom prst="rect">
            <a:avLst/>
          </a:prstGeom>
          <a:ln w="9525">
            <a:solidFill>
              <a:srgbClr val="0033CC"/>
            </a:solidFill>
          </a:ln>
        </p:spPr>
        <p:txBody>
          <a:bodyPr wrap="square" lIns="0" tIns="72390" rIns="0" bIns="0" rtlCol="0" vert="horz">
            <a:spAutoFit/>
          </a:bodyPr>
          <a:lstStyle/>
          <a:p>
            <a:pPr marL="62865">
              <a:lnSpc>
                <a:spcPct val="100000"/>
              </a:lnSpc>
              <a:spcBef>
                <a:spcPts val="570"/>
              </a:spcBef>
            </a:pPr>
            <a:r>
              <a:rPr dirty="0" sz="900" spc="-20" b="1">
                <a:solidFill>
                  <a:srgbClr val="C00000"/>
                </a:solidFill>
                <a:latin typeface="Microsoft YaHei"/>
                <a:cs typeface="Microsoft YaHei"/>
              </a:rPr>
              <a:t>室外：</a:t>
            </a:r>
            <a:endParaRPr sz="900">
              <a:latin typeface="Microsoft YaHei"/>
              <a:cs typeface="Microsoft YaHei"/>
            </a:endParaRPr>
          </a:p>
          <a:p>
            <a:pPr marL="222250" marR="71120" indent="-159385">
              <a:lnSpc>
                <a:spcPct val="120000"/>
              </a:lnSpc>
              <a:buFont typeface="Wingdings"/>
              <a:buChar char=""/>
              <a:tabLst>
                <a:tab pos="222250" algn="l"/>
              </a:tabLst>
            </a:pPr>
            <a:r>
              <a:rPr dirty="0" sz="900" spc="-5" b="1">
                <a:latin typeface="Microsoft YaHei"/>
                <a:cs typeface="Microsoft YaHei"/>
              </a:rPr>
              <a:t>重点城市全面覆盖，一般城市高价值区连续覆</a:t>
            </a:r>
            <a:r>
              <a:rPr dirty="0" sz="900" spc="-50" b="1">
                <a:latin typeface="Microsoft YaHei"/>
                <a:cs typeface="Microsoft YaHei"/>
              </a:rPr>
              <a:t>盖</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a:latin typeface="Microsoft YaHei"/>
                <a:cs typeface="Microsoft YaHei"/>
              </a:rPr>
              <a:t>城区3.5GHz</a:t>
            </a:r>
            <a:r>
              <a:rPr dirty="0" sz="900" spc="-25">
                <a:latin typeface="Microsoft YaHei"/>
                <a:cs typeface="Microsoft YaHei"/>
              </a:rPr>
              <a:t> </a:t>
            </a:r>
            <a:r>
              <a:rPr dirty="0" sz="900">
                <a:latin typeface="Microsoft YaHei"/>
                <a:cs typeface="Microsoft YaHei"/>
              </a:rPr>
              <a:t>64TR</a:t>
            </a:r>
            <a:r>
              <a:rPr dirty="0" sz="900" spc="-20">
                <a:latin typeface="Microsoft YaHei"/>
                <a:cs typeface="Microsoft YaHei"/>
              </a:rPr>
              <a:t> </a:t>
            </a:r>
            <a:r>
              <a:rPr dirty="0" sz="900" spc="-25">
                <a:latin typeface="Microsoft YaHei"/>
                <a:cs typeface="Microsoft YaHei"/>
              </a:rPr>
              <a:t>MM</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a:latin typeface="Microsoft YaHei"/>
                <a:cs typeface="Microsoft YaHei"/>
              </a:rPr>
              <a:t>杆站、</a:t>
            </a:r>
            <a:r>
              <a:rPr dirty="0" sz="900" spc="-10">
                <a:latin typeface="Microsoft YaHei"/>
                <a:cs typeface="Microsoft YaHei"/>
              </a:rPr>
              <a:t>PAD</a:t>
            </a:r>
            <a:r>
              <a:rPr dirty="0" sz="900" spc="-15">
                <a:latin typeface="Microsoft YaHei"/>
                <a:cs typeface="Microsoft YaHei"/>
              </a:rPr>
              <a:t>提升容量</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spc="-5">
                <a:latin typeface="Microsoft YaHei"/>
                <a:cs typeface="Microsoft YaHei"/>
              </a:rPr>
              <a:t>城市周边 </a:t>
            </a:r>
            <a:r>
              <a:rPr dirty="0" sz="900">
                <a:latin typeface="Microsoft YaHei"/>
                <a:cs typeface="Microsoft YaHei"/>
              </a:rPr>
              <a:t>3.5G</a:t>
            </a:r>
            <a:r>
              <a:rPr dirty="0" sz="900" spc="-20">
                <a:latin typeface="Microsoft YaHei"/>
                <a:cs typeface="Microsoft YaHei"/>
              </a:rPr>
              <a:t> </a:t>
            </a:r>
            <a:r>
              <a:rPr dirty="0" sz="900">
                <a:latin typeface="Microsoft YaHei"/>
                <a:cs typeface="Microsoft YaHei"/>
              </a:rPr>
              <a:t>16TR</a:t>
            </a:r>
            <a:r>
              <a:rPr dirty="0" sz="900" spc="-10">
                <a:latin typeface="Microsoft YaHei"/>
                <a:cs typeface="Microsoft YaHei"/>
              </a:rPr>
              <a:t> </a:t>
            </a:r>
            <a:r>
              <a:rPr dirty="0" sz="900" spc="-25">
                <a:latin typeface="Microsoft YaHei"/>
                <a:cs typeface="Microsoft YaHei"/>
              </a:rPr>
              <a:t>MM</a:t>
            </a:r>
            <a:endParaRPr sz="900">
              <a:latin typeface="Microsoft YaHei"/>
              <a:cs typeface="Microsoft YaHei"/>
            </a:endParaRPr>
          </a:p>
          <a:p>
            <a:pPr marL="62865">
              <a:lnSpc>
                <a:spcPct val="100000"/>
              </a:lnSpc>
              <a:spcBef>
                <a:spcPts val="219"/>
              </a:spcBef>
            </a:pPr>
            <a:r>
              <a:rPr dirty="0" sz="900" spc="-20" b="1">
                <a:solidFill>
                  <a:srgbClr val="C00000"/>
                </a:solidFill>
                <a:latin typeface="Microsoft YaHei"/>
                <a:cs typeface="Microsoft YaHei"/>
              </a:rPr>
              <a:t>室内：</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b="1">
                <a:latin typeface="Microsoft YaHei"/>
                <a:cs typeface="Microsoft YaHei"/>
              </a:rPr>
              <a:t>重点城市</a:t>
            </a:r>
            <a:r>
              <a:rPr dirty="0" sz="900" spc="-10" b="1">
                <a:latin typeface="Microsoft YaHei"/>
                <a:cs typeface="Microsoft YaHei"/>
              </a:rPr>
              <a:t>&amp;一般城市：</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a:latin typeface="Microsoft YaHei"/>
                <a:cs typeface="Microsoft YaHei"/>
              </a:rPr>
              <a:t>高价值区域部署</a:t>
            </a:r>
            <a:r>
              <a:rPr dirty="0" sz="900" spc="-10">
                <a:latin typeface="Microsoft YaHei"/>
                <a:cs typeface="Microsoft YaHei"/>
              </a:rPr>
              <a:t>4T4R</a:t>
            </a:r>
            <a:r>
              <a:rPr dirty="0" sz="900" spc="-15">
                <a:latin typeface="Microsoft YaHei"/>
                <a:cs typeface="Microsoft YaHei"/>
              </a:rPr>
              <a:t>新型室分</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spc="-5">
                <a:latin typeface="Microsoft YaHei"/>
                <a:cs typeface="Microsoft YaHei"/>
              </a:rPr>
              <a:t>低价值区部署低成本室分系统</a:t>
            </a:r>
            <a:endParaRPr sz="900">
              <a:latin typeface="Microsoft YaHei"/>
              <a:cs typeface="Microsoft YaHei"/>
            </a:endParaRPr>
          </a:p>
        </p:txBody>
      </p:sp>
      <p:pic>
        <p:nvPicPr>
          <p:cNvPr id="5" name="object 5" descr=""/>
          <p:cNvPicPr/>
          <p:nvPr/>
        </p:nvPicPr>
        <p:blipFill>
          <a:blip r:embed="rId2" cstate="print"/>
          <a:stretch>
            <a:fillRect/>
          </a:stretch>
        </p:blipFill>
        <p:spPr>
          <a:xfrm>
            <a:off x="3635895" y="819150"/>
            <a:ext cx="1754911" cy="207899"/>
          </a:xfrm>
          <a:prstGeom prst="rect">
            <a:avLst/>
          </a:prstGeom>
        </p:spPr>
      </p:pic>
      <p:pic>
        <p:nvPicPr>
          <p:cNvPr id="6" name="object 6" descr=""/>
          <p:cNvPicPr/>
          <p:nvPr/>
        </p:nvPicPr>
        <p:blipFill>
          <a:blip r:embed="rId3" cstate="print"/>
          <a:stretch>
            <a:fillRect/>
          </a:stretch>
        </p:blipFill>
        <p:spPr>
          <a:xfrm>
            <a:off x="955840" y="819150"/>
            <a:ext cx="1743951" cy="207899"/>
          </a:xfrm>
          <a:prstGeom prst="rect">
            <a:avLst/>
          </a:prstGeom>
        </p:spPr>
      </p:pic>
      <p:sp>
        <p:nvSpPr>
          <p:cNvPr id="7" name="object 7" descr=""/>
          <p:cNvSpPr txBox="1"/>
          <p:nvPr/>
        </p:nvSpPr>
        <p:spPr>
          <a:xfrm>
            <a:off x="6408204" y="1295755"/>
            <a:ext cx="2428240" cy="1870075"/>
          </a:xfrm>
          <a:prstGeom prst="rect">
            <a:avLst/>
          </a:prstGeom>
          <a:ln w="9525">
            <a:solidFill>
              <a:srgbClr val="0033CC"/>
            </a:solidFill>
          </a:ln>
        </p:spPr>
        <p:txBody>
          <a:bodyPr wrap="square" lIns="0" tIns="72390" rIns="0" bIns="0" rtlCol="0" vert="horz">
            <a:spAutoFit/>
          </a:bodyPr>
          <a:lstStyle/>
          <a:p>
            <a:pPr marL="221615" indent="-158750">
              <a:lnSpc>
                <a:spcPct val="100000"/>
              </a:lnSpc>
              <a:spcBef>
                <a:spcPts val="570"/>
              </a:spcBef>
              <a:buFont typeface="Wingdings"/>
              <a:buChar char=""/>
              <a:tabLst>
                <a:tab pos="221615" algn="l"/>
              </a:tabLst>
            </a:pPr>
            <a:r>
              <a:rPr dirty="0" sz="900" b="1">
                <a:latin typeface="Microsoft YaHei"/>
                <a:cs typeface="Microsoft YaHei"/>
              </a:rPr>
              <a:t>5G</a:t>
            </a:r>
            <a:r>
              <a:rPr dirty="0" sz="900" spc="-10" b="1">
                <a:latin typeface="Microsoft YaHei"/>
                <a:cs typeface="Microsoft YaHei"/>
              </a:rPr>
              <a:t>全网连续覆盖</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spc="-5">
                <a:latin typeface="Microsoft YaHei"/>
                <a:cs typeface="Microsoft YaHei"/>
              </a:rPr>
              <a:t>密集城区宏微室立体组网</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a:latin typeface="Microsoft YaHei"/>
                <a:cs typeface="Microsoft YaHei"/>
              </a:rPr>
              <a:t>郊区农村16TR</a:t>
            </a:r>
            <a:r>
              <a:rPr dirty="0" sz="900" spc="-25">
                <a:latin typeface="Microsoft YaHei"/>
                <a:cs typeface="Microsoft YaHei"/>
              </a:rPr>
              <a:t> MM</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spc="-10">
                <a:latin typeface="Microsoft YaHei"/>
                <a:cs typeface="Microsoft YaHei"/>
              </a:rPr>
              <a:t>高铁、地铁、高速</a:t>
            </a:r>
            <a:endParaRPr sz="900">
              <a:latin typeface="Microsoft YaHei"/>
              <a:cs typeface="Microsoft YaHei"/>
            </a:endParaRPr>
          </a:p>
          <a:p>
            <a:pPr marL="221615" indent="-158750">
              <a:lnSpc>
                <a:spcPct val="100000"/>
              </a:lnSpc>
              <a:spcBef>
                <a:spcPts val="219"/>
              </a:spcBef>
              <a:buFont typeface="Wingdings"/>
              <a:buChar char=""/>
              <a:tabLst>
                <a:tab pos="221615" algn="l"/>
              </a:tabLst>
            </a:pPr>
            <a:r>
              <a:rPr dirty="0" sz="900">
                <a:latin typeface="Microsoft YaHei"/>
                <a:cs typeface="Microsoft YaHei"/>
              </a:rPr>
              <a:t>2.1G</a:t>
            </a:r>
            <a:r>
              <a:rPr dirty="0" sz="900" spc="-25">
                <a:latin typeface="Microsoft YaHei"/>
                <a:cs typeface="Microsoft YaHei"/>
              </a:rPr>
              <a:t> </a:t>
            </a:r>
            <a:r>
              <a:rPr dirty="0" sz="900" spc="-10">
                <a:latin typeface="Microsoft YaHei"/>
                <a:cs typeface="Microsoft YaHei"/>
              </a:rPr>
              <a:t>refarming</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spc="-10" b="1">
                <a:latin typeface="Microsoft YaHei"/>
                <a:cs typeface="Microsoft YaHei"/>
              </a:rPr>
              <a:t>网络自动切片部署</a:t>
            </a:r>
            <a:endParaRPr sz="900">
              <a:latin typeface="Microsoft YaHei"/>
              <a:cs typeface="Microsoft YaHei"/>
            </a:endParaRPr>
          </a:p>
          <a:p>
            <a:pPr marL="62865" marR="1625600" indent="-635">
              <a:lnSpc>
                <a:spcPct val="120000"/>
              </a:lnSpc>
              <a:buFont typeface="Wingdings"/>
              <a:buChar char=""/>
              <a:tabLst>
                <a:tab pos="62865" algn="l"/>
                <a:tab pos="220979" algn="l"/>
              </a:tabLst>
            </a:pPr>
            <a:r>
              <a:rPr dirty="0" sz="900" spc="-10" b="1">
                <a:latin typeface="Microsoft YaHei"/>
                <a:cs typeface="Microsoft YaHei"/>
              </a:rPr>
              <a:t>	</a:t>
            </a:r>
            <a:r>
              <a:rPr dirty="0" sz="900" spc="-10" b="1">
                <a:latin typeface="Microsoft YaHei"/>
                <a:cs typeface="Microsoft YaHei"/>
              </a:rPr>
              <a:t>全行业场景</a:t>
            </a:r>
            <a:r>
              <a:rPr dirty="0" sz="900" spc="-20" b="1">
                <a:solidFill>
                  <a:srgbClr val="C00000"/>
                </a:solidFill>
                <a:latin typeface="Microsoft YaHei"/>
                <a:cs typeface="Microsoft YaHei"/>
              </a:rPr>
              <a:t>室内：</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b="1">
                <a:latin typeface="Microsoft YaHei"/>
                <a:cs typeface="Microsoft YaHei"/>
              </a:rPr>
              <a:t>一般城市</a:t>
            </a:r>
            <a:r>
              <a:rPr dirty="0" sz="900" spc="-10" b="1">
                <a:latin typeface="Microsoft YaHei"/>
                <a:cs typeface="Microsoft YaHei"/>
              </a:rPr>
              <a:t>&amp;</a:t>
            </a:r>
            <a:r>
              <a:rPr dirty="0" sz="900" spc="-20" b="1">
                <a:latin typeface="Microsoft YaHei"/>
                <a:cs typeface="Microsoft YaHei"/>
              </a:rPr>
              <a:t>县镇：</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spc="-5">
                <a:latin typeface="Microsoft YaHei"/>
                <a:cs typeface="Microsoft YaHei"/>
              </a:rPr>
              <a:t>高价值区域部署新型室分</a:t>
            </a:r>
            <a:endParaRPr sz="900">
              <a:latin typeface="Microsoft YaHei"/>
              <a:cs typeface="Microsoft YaHei"/>
            </a:endParaRPr>
          </a:p>
          <a:p>
            <a:pPr marL="221615" indent="-158750">
              <a:lnSpc>
                <a:spcPct val="100000"/>
              </a:lnSpc>
              <a:spcBef>
                <a:spcPts val="215"/>
              </a:spcBef>
              <a:buFont typeface="Wingdings"/>
              <a:buChar char=""/>
              <a:tabLst>
                <a:tab pos="221615" algn="l"/>
              </a:tabLst>
            </a:pPr>
            <a:r>
              <a:rPr dirty="0" sz="900" spc="-5">
                <a:latin typeface="Microsoft YaHei"/>
                <a:cs typeface="Microsoft YaHei"/>
              </a:rPr>
              <a:t>低价值区部署低成本室分系统</a:t>
            </a:r>
            <a:endParaRPr sz="900">
              <a:latin typeface="Microsoft YaHei"/>
              <a:cs typeface="Microsoft YaHei"/>
            </a:endParaRPr>
          </a:p>
        </p:txBody>
      </p:sp>
      <p:pic>
        <p:nvPicPr>
          <p:cNvPr id="8" name="object 8" descr=""/>
          <p:cNvPicPr/>
          <p:nvPr/>
        </p:nvPicPr>
        <p:blipFill>
          <a:blip r:embed="rId4" cstate="print"/>
          <a:stretch>
            <a:fillRect/>
          </a:stretch>
        </p:blipFill>
        <p:spPr>
          <a:xfrm>
            <a:off x="6408204" y="819150"/>
            <a:ext cx="1813648" cy="207899"/>
          </a:xfrm>
          <a:prstGeom prst="rect">
            <a:avLst/>
          </a:prstGeom>
        </p:spPr>
      </p:pic>
      <p:sp>
        <p:nvSpPr>
          <p:cNvPr id="9" name="object 9" descr=""/>
          <p:cNvSpPr txBox="1"/>
          <p:nvPr/>
        </p:nvSpPr>
        <p:spPr>
          <a:xfrm>
            <a:off x="1111374" y="710441"/>
            <a:ext cx="2017395" cy="532765"/>
          </a:xfrm>
          <a:prstGeom prst="rect">
            <a:avLst/>
          </a:prstGeom>
        </p:spPr>
        <p:txBody>
          <a:bodyPr wrap="square" lIns="0" tIns="106045" rIns="0" bIns="0" rtlCol="0" vert="horz">
            <a:spAutoFit/>
          </a:bodyPr>
          <a:lstStyle/>
          <a:p>
            <a:pPr marL="477520">
              <a:lnSpc>
                <a:spcPct val="100000"/>
              </a:lnSpc>
              <a:spcBef>
                <a:spcPts val="835"/>
              </a:spcBef>
            </a:pPr>
            <a:r>
              <a:rPr dirty="0" sz="1200" spc="-20" b="1">
                <a:solidFill>
                  <a:srgbClr val="FFFFFF"/>
                </a:solidFill>
                <a:latin typeface="Microsoft YaHei"/>
                <a:cs typeface="Microsoft YaHei"/>
              </a:rPr>
              <a:t>2019</a:t>
            </a:r>
            <a:endParaRPr sz="1200">
              <a:latin typeface="Microsoft YaHei"/>
              <a:cs typeface="Microsoft YaHei"/>
            </a:endParaRPr>
          </a:p>
          <a:p>
            <a:pPr marL="12700">
              <a:lnSpc>
                <a:spcPct val="100000"/>
              </a:lnSpc>
              <a:spcBef>
                <a:spcPts val="615"/>
              </a:spcBef>
            </a:pPr>
            <a:r>
              <a:rPr dirty="0" sz="1000" spc="-10" b="1">
                <a:solidFill>
                  <a:srgbClr val="0000FF"/>
                </a:solidFill>
                <a:latin typeface="Microsoft YaHei"/>
                <a:cs typeface="Microsoft YaHei"/>
              </a:rPr>
              <a:t>5G预商用，抢占商机，面向2C</a:t>
            </a:r>
            <a:r>
              <a:rPr dirty="0" sz="1000" spc="-25" b="1">
                <a:solidFill>
                  <a:srgbClr val="0000FF"/>
                </a:solidFill>
                <a:latin typeface="Microsoft YaHei"/>
                <a:cs typeface="Microsoft YaHei"/>
              </a:rPr>
              <a:t>业务</a:t>
            </a:r>
            <a:endParaRPr sz="1000">
              <a:latin typeface="Microsoft YaHei"/>
              <a:cs typeface="Microsoft YaHei"/>
            </a:endParaRPr>
          </a:p>
        </p:txBody>
      </p:sp>
      <p:sp>
        <p:nvSpPr>
          <p:cNvPr id="10" name="object 10" descr=""/>
          <p:cNvSpPr txBox="1"/>
          <p:nvPr/>
        </p:nvSpPr>
        <p:spPr>
          <a:xfrm>
            <a:off x="3617129" y="700884"/>
            <a:ext cx="2651125" cy="525780"/>
          </a:xfrm>
          <a:prstGeom prst="rect">
            <a:avLst/>
          </a:prstGeom>
        </p:spPr>
        <p:txBody>
          <a:bodyPr wrap="square" lIns="0" tIns="115570" rIns="0" bIns="0" rtlCol="0" vert="horz">
            <a:spAutoFit/>
          </a:bodyPr>
          <a:lstStyle/>
          <a:p>
            <a:pPr marL="393065">
              <a:lnSpc>
                <a:spcPct val="100000"/>
              </a:lnSpc>
              <a:spcBef>
                <a:spcPts val="910"/>
              </a:spcBef>
            </a:pPr>
            <a:r>
              <a:rPr dirty="0" sz="1200" spc="-10" b="1">
                <a:solidFill>
                  <a:srgbClr val="FFFFFF"/>
                </a:solidFill>
                <a:latin typeface="Microsoft YaHei"/>
                <a:cs typeface="Microsoft YaHei"/>
              </a:rPr>
              <a:t>2020～2021</a:t>
            </a:r>
            <a:endParaRPr sz="1200">
              <a:latin typeface="Microsoft YaHei"/>
              <a:cs typeface="Microsoft YaHei"/>
            </a:endParaRPr>
          </a:p>
          <a:p>
            <a:pPr marL="12700">
              <a:lnSpc>
                <a:spcPct val="100000"/>
              </a:lnSpc>
              <a:spcBef>
                <a:spcPts val="605"/>
              </a:spcBef>
            </a:pPr>
            <a:r>
              <a:rPr dirty="0" sz="900" b="1">
                <a:solidFill>
                  <a:srgbClr val="0000FF"/>
                </a:solidFill>
                <a:latin typeface="Microsoft YaHei"/>
                <a:cs typeface="Microsoft YaHei"/>
              </a:rPr>
              <a:t>5G规模商用，提升用户体验，面向</a:t>
            </a:r>
            <a:r>
              <a:rPr dirty="0" sz="900" spc="-10" b="1">
                <a:solidFill>
                  <a:srgbClr val="0000FF"/>
                </a:solidFill>
                <a:latin typeface="Microsoft YaHei"/>
                <a:cs typeface="Microsoft YaHei"/>
              </a:rPr>
              <a:t>2C</a:t>
            </a:r>
            <a:r>
              <a:rPr dirty="0" sz="900" b="1">
                <a:solidFill>
                  <a:srgbClr val="0000FF"/>
                </a:solidFill>
                <a:latin typeface="Microsoft YaHei"/>
                <a:cs typeface="Microsoft YaHei"/>
              </a:rPr>
              <a:t>和部分</a:t>
            </a:r>
            <a:r>
              <a:rPr dirty="0" sz="900" spc="-10" b="1">
                <a:solidFill>
                  <a:srgbClr val="0000FF"/>
                </a:solidFill>
                <a:latin typeface="Microsoft YaHei"/>
                <a:cs typeface="Microsoft YaHei"/>
              </a:rPr>
              <a:t>2B</a:t>
            </a:r>
            <a:r>
              <a:rPr dirty="0" sz="900" spc="-25" b="1">
                <a:solidFill>
                  <a:srgbClr val="0000FF"/>
                </a:solidFill>
                <a:latin typeface="Microsoft YaHei"/>
                <a:cs typeface="Microsoft YaHei"/>
              </a:rPr>
              <a:t>业务</a:t>
            </a:r>
            <a:endParaRPr sz="900">
              <a:latin typeface="Microsoft YaHei"/>
              <a:cs typeface="Microsoft YaHei"/>
            </a:endParaRPr>
          </a:p>
        </p:txBody>
      </p:sp>
      <p:sp>
        <p:nvSpPr>
          <p:cNvPr id="11" name="object 11" descr=""/>
          <p:cNvSpPr txBox="1"/>
          <p:nvPr/>
        </p:nvSpPr>
        <p:spPr>
          <a:xfrm>
            <a:off x="6367988" y="699360"/>
            <a:ext cx="2536825" cy="528320"/>
          </a:xfrm>
          <a:prstGeom prst="rect">
            <a:avLst/>
          </a:prstGeom>
        </p:spPr>
        <p:txBody>
          <a:bodyPr wrap="square" lIns="0" tIns="116839" rIns="0" bIns="0" rtlCol="0" vert="horz">
            <a:spAutoFit/>
          </a:bodyPr>
          <a:lstStyle/>
          <a:p>
            <a:pPr marL="707390">
              <a:lnSpc>
                <a:spcPct val="100000"/>
              </a:lnSpc>
              <a:spcBef>
                <a:spcPts val="919"/>
              </a:spcBef>
            </a:pPr>
            <a:r>
              <a:rPr dirty="0" sz="1200" spc="-20" b="1">
                <a:solidFill>
                  <a:srgbClr val="FFFFFF"/>
                </a:solidFill>
                <a:latin typeface="Microsoft YaHei"/>
                <a:cs typeface="Microsoft YaHei"/>
              </a:rPr>
              <a:t>2022</a:t>
            </a:r>
            <a:endParaRPr sz="1200">
              <a:latin typeface="Microsoft YaHei"/>
              <a:cs typeface="Microsoft YaHei"/>
            </a:endParaRPr>
          </a:p>
          <a:p>
            <a:pPr marL="12700">
              <a:lnSpc>
                <a:spcPct val="100000"/>
              </a:lnSpc>
              <a:spcBef>
                <a:spcPts val="615"/>
              </a:spcBef>
            </a:pPr>
            <a:r>
              <a:rPr dirty="0" sz="900" b="1">
                <a:solidFill>
                  <a:srgbClr val="0000FF"/>
                </a:solidFill>
                <a:latin typeface="Microsoft YaHei"/>
                <a:cs typeface="Microsoft YaHei"/>
              </a:rPr>
              <a:t>5G全面商用，建设精品网络，面向</a:t>
            </a:r>
            <a:r>
              <a:rPr dirty="0" sz="900" spc="-10" b="1">
                <a:solidFill>
                  <a:srgbClr val="0000FF"/>
                </a:solidFill>
                <a:latin typeface="Microsoft YaHei"/>
                <a:cs typeface="Microsoft YaHei"/>
              </a:rPr>
              <a:t>2C</a:t>
            </a:r>
            <a:r>
              <a:rPr dirty="0" sz="900" b="1">
                <a:solidFill>
                  <a:srgbClr val="0000FF"/>
                </a:solidFill>
                <a:latin typeface="Microsoft YaHei"/>
                <a:cs typeface="Microsoft YaHei"/>
              </a:rPr>
              <a:t>和全</a:t>
            </a:r>
            <a:r>
              <a:rPr dirty="0" sz="900" spc="-10" b="1">
                <a:solidFill>
                  <a:srgbClr val="0000FF"/>
                </a:solidFill>
                <a:latin typeface="Microsoft YaHei"/>
                <a:cs typeface="Microsoft YaHei"/>
              </a:rPr>
              <a:t>2B</a:t>
            </a:r>
            <a:r>
              <a:rPr dirty="0" sz="900" spc="-25" b="1">
                <a:solidFill>
                  <a:srgbClr val="0000FF"/>
                </a:solidFill>
                <a:latin typeface="Microsoft YaHei"/>
                <a:cs typeface="Microsoft YaHei"/>
              </a:rPr>
              <a:t>应用</a:t>
            </a:r>
            <a:endParaRPr sz="900">
              <a:latin typeface="Microsoft YaHei"/>
              <a:cs typeface="Microsoft YaHei"/>
            </a:endParaRPr>
          </a:p>
        </p:txBody>
      </p:sp>
      <p:sp>
        <p:nvSpPr>
          <p:cNvPr id="12" name="object 12" descr=""/>
          <p:cNvSpPr txBox="1"/>
          <p:nvPr/>
        </p:nvSpPr>
        <p:spPr>
          <a:xfrm>
            <a:off x="1256347" y="3408451"/>
            <a:ext cx="1031240" cy="285750"/>
          </a:xfrm>
          <a:prstGeom prst="rect">
            <a:avLst/>
          </a:prstGeom>
          <a:solidFill>
            <a:srgbClr val="92D050"/>
          </a:solidFill>
        </p:spPr>
        <p:txBody>
          <a:bodyPr wrap="square" lIns="0" tIns="69215" rIns="0" bIns="0" rtlCol="0" vert="horz">
            <a:spAutoFit/>
          </a:bodyPr>
          <a:lstStyle/>
          <a:p>
            <a:pPr marL="142240">
              <a:lnSpc>
                <a:spcPct val="100000"/>
              </a:lnSpc>
              <a:spcBef>
                <a:spcPts val="545"/>
              </a:spcBef>
            </a:pPr>
            <a:r>
              <a:rPr dirty="0" sz="900" b="1">
                <a:solidFill>
                  <a:srgbClr val="FFFFFF"/>
                </a:solidFill>
                <a:latin typeface="Microsoft YaHei"/>
                <a:cs typeface="Microsoft YaHei"/>
              </a:rPr>
              <a:t>900M</a:t>
            </a:r>
            <a:r>
              <a:rPr dirty="0" sz="900" spc="-45" b="1">
                <a:solidFill>
                  <a:srgbClr val="FFFFFF"/>
                </a:solidFill>
                <a:latin typeface="Microsoft YaHei"/>
                <a:cs typeface="Microsoft YaHei"/>
              </a:rPr>
              <a:t> </a:t>
            </a:r>
            <a:r>
              <a:rPr dirty="0" sz="900" spc="-10" b="1">
                <a:solidFill>
                  <a:srgbClr val="FFFFFF"/>
                </a:solidFill>
                <a:latin typeface="Microsoft YaHei"/>
                <a:cs typeface="Microsoft YaHei"/>
              </a:rPr>
              <a:t>2*11M</a:t>
            </a:r>
            <a:endParaRPr sz="900">
              <a:latin typeface="Microsoft YaHei"/>
              <a:cs typeface="Microsoft YaHei"/>
            </a:endParaRPr>
          </a:p>
        </p:txBody>
      </p:sp>
      <p:sp>
        <p:nvSpPr>
          <p:cNvPr id="13" name="object 13" descr=""/>
          <p:cNvSpPr txBox="1"/>
          <p:nvPr/>
        </p:nvSpPr>
        <p:spPr>
          <a:xfrm>
            <a:off x="1256347" y="3862628"/>
            <a:ext cx="1031240" cy="285750"/>
          </a:xfrm>
          <a:prstGeom prst="rect">
            <a:avLst/>
          </a:prstGeom>
          <a:solidFill>
            <a:srgbClr val="00B0F0"/>
          </a:solidFill>
        </p:spPr>
        <p:txBody>
          <a:bodyPr wrap="square" lIns="0" tIns="69215" rIns="0" bIns="0" rtlCol="0" vert="horz">
            <a:spAutoFit/>
          </a:bodyPr>
          <a:lstStyle/>
          <a:p>
            <a:pPr marL="158750">
              <a:lnSpc>
                <a:spcPct val="100000"/>
              </a:lnSpc>
              <a:spcBef>
                <a:spcPts val="545"/>
              </a:spcBef>
            </a:pPr>
            <a:r>
              <a:rPr dirty="0" sz="900" b="1">
                <a:solidFill>
                  <a:srgbClr val="FFFFFF"/>
                </a:solidFill>
                <a:latin typeface="Microsoft YaHei"/>
                <a:cs typeface="Microsoft YaHei"/>
              </a:rPr>
              <a:t>1.8G</a:t>
            </a:r>
            <a:r>
              <a:rPr dirty="0" sz="900" spc="225" b="1">
                <a:solidFill>
                  <a:srgbClr val="FFFFFF"/>
                </a:solidFill>
                <a:latin typeface="Microsoft YaHei"/>
                <a:cs typeface="Microsoft YaHei"/>
              </a:rPr>
              <a:t> </a:t>
            </a:r>
            <a:r>
              <a:rPr dirty="0" sz="900" spc="-10" b="1">
                <a:solidFill>
                  <a:srgbClr val="FFFFFF"/>
                </a:solidFill>
                <a:latin typeface="Microsoft YaHei"/>
                <a:cs typeface="Microsoft YaHei"/>
              </a:rPr>
              <a:t>2*30M</a:t>
            </a:r>
            <a:endParaRPr sz="900">
              <a:latin typeface="Microsoft YaHei"/>
              <a:cs typeface="Microsoft YaHei"/>
            </a:endParaRPr>
          </a:p>
        </p:txBody>
      </p:sp>
      <p:sp>
        <p:nvSpPr>
          <p:cNvPr id="14" name="object 14" descr=""/>
          <p:cNvSpPr txBox="1"/>
          <p:nvPr/>
        </p:nvSpPr>
        <p:spPr>
          <a:xfrm>
            <a:off x="1256347" y="4316793"/>
            <a:ext cx="1031240" cy="285750"/>
          </a:xfrm>
          <a:prstGeom prst="rect">
            <a:avLst/>
          </a:prstGeom>
          <a:solidFill>
            <a:srgbClr val="FFC000"/>
          </a:solidFill>
        </p:spPr>
        <p:txBody>
          <a:bodyPr wrap="square" lIns="0" tIns="69215" rIns="0" bIns="0" rtlCol="0" vert="horz">
            <a:spAutoFit/>
          </a:bodyPr>
          <a:lstStyle/>
          <a:p>
            <a:pPr marL="158750">
              <a:lnSpc>
                <a:spcPct val="100000"/>
              </a:lnSpc>
              <a:spcBef>
                <a:spcPts val="545"/>
              </a:spcBef>
            </a:pPr>
            <a:r>
              <a:rPr dirty="0" sz="900" b="1">
                <a:solidFill>
                  <a:srgbClr val="FFFFFF"/>
                </a:solidFill>
                <a:latin typeface="Microsoft YaHei"/>
                <a:cs typeface="Microsoft YaHei"/>
              </a:rPr>
              <a:t>2.1G</a:t>
            </a:r>
            <a:r>
              <a:rPr dirty="0" sz="900" spc="225" b="1">
                <a:solidFill>
                  <a:srgbClr val="FFFFFF"/>
                </a:solidFill>
                <a:latin typeface="Microsoft YaHei"/>
                <a:cs typeface="Microsoft YaHei"/>
              </a:rPr>
              <a:t> </a:t>
            </a:r>
            <a:r>
              <a:rPr dirty="0" sz="900" spc="-10" b="1">
                <a:solidFill>
                  <a:srgbClr val="FFFFFF"/>
                </a:solidFill>
                <a:latin typeface="Microsoft YaHei"/>
                <a:cs typeface="Microsoft YaHei"/>
              </a:rPr>
              <a:t>2*25M</a:t>
            </a:r>
            <a:endParaRPr sz="900">
              <a:latin typeface="Microsoft YaHei"/>
              <a:cs typeface="Microsoft YaHei"/>
            </a:endParaRPr>
          </a:p>
        </p:txBody>
      </p:sp>
      <p:sp>
        <p:nvSpPr>
          <p:cNvPr id="15" name="object 15" descr=""/>
          <p:cNvSpPr/>
          <p:nvPr/>
        </p:nvSpPr>
        <p:spPr>
          <a:xfrm>
            <a:off x="2719998" y="3408456"/>
            <a:ext cx="1405255" cy="285750"/>
          </a:xfrm>
          <a:custGeom>
            <a:avLst/>
            <a:gdLst/>
            <a:ahLst/>
            <a:cxnLst/>
            <a:rect l="l" t="t" r="r" b="b"/>
            <a:pathLst>
              <a:path w="1405254" h="285750">
                <a:moveTo>
                  <a:pt x="1262138" y="0"/>
                </a:moveTo>
                <a:lnTo>
                  <a:pt x="0" y="0"/>
                </a:lnTo>
                <a:lnTo>
                  <a:pt x="0" y="285191"/>
                </a:lnTo>
                <a:lnTo>
                  <a:pt x="1262138" y="285191"/>
                </a:lnTo>
                <a:lnTo>
                  <a:pt x="1404734" y="142595"/>
                </a:lnTo>
                <a:lnTo>
                  <a:pt x="1262138" y="0"/>
                </a:lnTo>
                <a:close/>
              </a:path>
            </a:pathLst>
          </a:custGeom>
          <a:solidFill>
            <a:srgbClr val="92D050"/>
          </a:solidFill>
        </p:spPr>
        <p:txBody>
          <a:bodyPr wrap="square" lIns="0" tIns="0" rIns="0" bIns="0" rtlCol="0"/>
          <a:lstStyle/>
          <a:p/>
        </p:txBody>
      </p:sp>
      <p:sp>
        <p:nvSpPr>
          <p:cNvPr id="16" name="object 16" descr=""/>
          <p:cNvSpPr txBox="1"/>
          <p:nvPr/>
        </p:nvSpPr>
        <p:spPr>
          <a:xfrm>
            <a:off x="2942887" y="3465198"/>
            <a:ext cx="866775" cy="162560"/>
          </a:xfrm>
          <a:prstGeom prst="rect">
            <a:avLst/>
          </a:prstGeom>
        </p:spPr>
        <p:txBody>
          <a:bodyPr wrap="square" lIns="0" tIns="12700" rIns="0" bIns="0" rtlCol="0" vert="horz">
            <a:spAutoFit/>
          </a:bodyPr>
          <a:lstStyle/>
          <a:p>
            <a:pPr>
              <a:lnSpc>
                <a:spcPct val="100000"/>
              </a:lnSpc>
              <a:spcBef>
                <a:spcPts val="100"/>
              </a:spcBef>
            </a:pPr>
            <a:r>
              <a:rPr dirty="0" sz="900" b="1">
                <a:solidFill>
                  <a:srgbClr val="FFFFFF"/>
                </a:solidFill>
                <a:latin typeface="Microsoft YaHei"/>
                <a:cs typeface="Microsoft YaHei"/>
              </a:rPr>
              <a:t>GSM</a:t>
            </a:r>
            <a:r>
              <a:rPr dirty="0" sz="900" spc="-35" b="1">
                <a:solidFill>
                  <a:srgbClr val="FFFFFF"/>
                </a:solidFill>
                <a:latin typeface="Microsoft YaHei"/>
                <a:cs typeface="Microsoft YaHei"/>
              </a:rPr>
              <a:t> </a:t>
            </a:r>
            <a:r>
              <a:rPr dirty="0" sz="900" spc="-10" b="1">
                <a:solidFill>
                  <a:srgbClr val="FFFFFF"/>
                </a:solidFill>
                <a:latin typeface="Microsoft YaHei"/>
                <a:cs typeface="Microsoft YaHei"/>
              </a:rPr>
              <a:t>+LTE+NB</a:t>
            </a:r>
            <a:endParaRPr sz="900">
              <a:latin typeface="Microsoft YaHei"/>
              <a:cs typeface="Microsoft YaHei"/>
            </a:endParaRPr>
          </a:p>
        </p:txBody>
      </p:sp>
      <p:sp>
        <p:nvSpPr>
          <p:cNvPr id="17" name="object 17" descr=""/>
          <p:cNvSpPr/>
          <p:nvPr/>
        </p:nvSpPr>
        <p:spPr>
          <a:xfrm>
            <a:off x="2719998" y="3862626"/>
            <a:ext cx="1405255" cy="285750"/>
          </a:xfrm>
          <a:custGeom>
            <a:avLst/>
            <a:gdLst/>
            <a:ahLst/>
            <a:cxnLst/>
            <a:rect l="l" t="t" r="r" b="b"/>
            <a:pathLst>
              <a:path w="1405254" h="285750">
                <a:moveTo>
                  <a:pt x="1262138" y="0"/>
                </a:moveTo>
                <a:lnTo>
                  <a:pt x="0" y="0"/>
                </a:lnTo>
                <a:lnTo>
                  <a:pt x="0" y="285191"/>
                </a:lnTo>
                <a:lnTo>
                  <a:pt x="1262138" y="285191"/>
                </a:lnTo>
                <a:lnTo>
                  <a:pt x="1404734" y="142595"/>
                </a:lnTo>
                <a:lnTo>
                  <a:pt x="1262138" y="0"/>
                </a:lnTo>
                <a:close/>
              </a:path>
            </a:pathLst>
          </a:custGeom>
          <a:solidFill>
            <a:srgbClr val="00B0F0"/>
          </a:solidFill>
        </p:spPr>
        <p:txBody>
          <a:bodyPr wrap="square" lIns="0" tIns="0" rIns="0" bIns="0" rtlCol="0"/>
          <a:lstStyle/>
          <a:p/>
        </p:txBody>
      </p:sp>
      <p:sp>
        <p:nvSpPr>
          <p:cNvPr id="18" name="object 18" descr=""/>
          <p:cNvSpPr txBox="1"/>
          <p:nvPr/>
        </p:nvSpPr>
        <p:spPr>
          <a:xfrm>
            <a:off x="3270579" y="3919368"/>
            <a:ext cx="212725" cy="162560"/>
          </a:xfrm>
          <a:prstGeom prst="rect">
            <a:avLst/>
          </a:prstGeom>
        </p:spPr>
        <p:txBody>
          <a:bodyPr wrap="square" lIns="0" tIns="12700" rIns="0" bIns="0" rtlCol="0" vert="horz">
            <a:spAutoFit/>
          </a:bodyPr>
          <a:lstStyle/>
          <a:p>
            <a:pPr>
              <a:lnSpc>
                <a:spcPct val="100000"/>
              </a:lnSpc>
              <a:spcBef>
                <a:spcPts val="100"/>
              </a:spcBef>
            </a:pPr>
            <a:r>
              <a:rPr dirty="0" sz="900" spc="-25" b="1">
                <a:solidFill>
                  <a:srgbClr val="FFFFFF"/>
                </a:solidFill>
                <a:latin typeface="Microsoft YaHei"/>
                <a:cs typeface="Microsoft YaHei"/>
              </a:rPr>
              <a:t>LTE</a:t>
            </a:r>
            <a:endParaRPr sz="900">
              <a:latin typeface="Microsoft YaHei"/>
              <a:cs typeface="Microsoft YaHei"/>
            </a:endParaRPr>
          </a:p>
        </p:txBody>
      </p:sp>
      <p:sp>
        <p:nvSpPr>
          <p:cNvPr id="19" name="object 19" descr=""/>
          <p:cNvSpPr/>
          <p:nvPr/>
        </p:nvSpPr>
        <p:spPr>
          <a:xfrm>
            <a:off x="2719998" y="4313777"/>
            <a:ext cx="1405255" cy="285750"/>
          </a:xfrm>
          <a:custGeom>
            <a:avLst/>
            <a:gdLst/>
            <a:ahLst/>
            <a:cxnLst/>
            <a:rect l="l" t="t" r="r" b="b"/>
            <a:pathLst>
              <a:path w="1405254" h="285750">
                <a:moveTo>
                  <a:pt x="1262138" y="0"/>
                </a:moveTo>
                <a:lnTo>
                  <a:pt x="0" y="0"/>
                </a:lnTo>
                <a:lnTo>
                  <a:pt x="0" y="285191"/>
                </a:lnTo>
                <a:lnTo>
                  <a:pt x="1262138" y="285191"/>
                </a:lnTo>
                <a:lnTo>
                  <a:pt x="1404734" y="142595"/>
                </a:lnTo>
                <a:lnTo>
                  <a:pt x="1262138" y="0"/>
                </a:lnTo>
                <a:close/>
              </a:path>
            </a:pathLst>
          </a:custGeom>
          <a:solidFill>
            <a:srgbClr val="FFC000"/>
          </a:solidFill>
        </p:spPr>
        <p:txBody>
          <a:bodyPr wrap="square" lIns="0" tIns="0" rIns="0" bIns="0" rtlCol="0"/>
          <a:lstStyle/>
          <a:p/>
        </p:txBody>
      </p:sp>
      <p:sp>
        <p:nvSpPr>
          <p:cNvPr id="20" name="object 20" descr=""/>
          <p:cNvSpPr txBox="1"/>
          <p:nvPr/>
        </p:nvSpPr>
        <p:spPr>
          <a:xfrm>
            <a:off x="2980225" y="4370519"/>
            <a:ext cx="793115" cy="162560"/>
          </a:xfrm>
          <a:prstGeom prst="rect">
            <a:avLst/>
          </a:prstGeom>
        </p:spPr>
        <p:txBody>
          <a:bodyPr wrap="square" lIns="0" tIns="12700" rIns="0" bIns="0" rtlCol="0" vert="horz">
            <a:spAutoFit/>
          </a:bodyPr>
          <a:lstStyle/>
          <a:p>
            <a:pPr>
              <a:lnSpc>
                <a:spcPct val="100000"/>
              </a:lnSpc>
              <a:spcBef>
                <a:spcPts val="100"/>
              </a:spcBef>
            </a:pPr>
            <a:r>
              <a:rPr dirty="0" sz="900" spc="-10" b="1">
                <a:solidFill>
                  <a:srgbClr val="FFFFFF"/>
                </a:solidFill>
                <a:latin typeface="Microsoft YaHei"/>
                <a:cs typeface="Microsoft YaHei"/>
              </a:rPr>
              <a:t>LTE+WCDMA</a:t>
            </a:r>
            <a:endParaRPr sz="900">
              <a:latin typeface="Microsoft YaHei"/>
              <a:cs typeface="Microsoft YaHei"/>
            </a:endParaRPr>
          </a:p>
        </p:txBody>
      </p:sp>
      <p:sp>
        <p:nvSpPr>
          <p:cNvPr id="21" name="object 21" descr=""/>
          <p:cNvSpPr txBox="1"/>
          <p:nvPr/>
        </p:nvSpPr>
        <p:spPr>
          <a:xfrm>
            <a:off x="5303164" y="3408451"/>
            <a:ext cx="1619885" cy="285750"/>
          </a:xfrm>
          <a:prstGeom prst="rect">
            <a:avLst/>
          </a:prstGeom>
          <a:solidFill>
            <a:srgbClr val="92D050"/>
          </a:solidFill>
        </p:spPr>
        <p:txBody>
          <a:bodyPr wrap="square" lIns="0" tIns="69215" rIns="0" bIns="0" rtlCol="0" vert="horz">
            <a:spAutoFit/>
          </a:bodyPr>
          <a:lstStyle/>
          <a:p>
            <a:pPr marL="239395">
              <a:lnSpc>
                <a:spcPct val="100000"/>
              </a:lnSpc>
              <a:spcBef>
                <a:spcPts val="545"/>
              </a:spcBef>
            </a:pPr>
            <a:r>
              <a:rPr dirty="0" sz="900" spc="-10" b="1">
                <a:solidFill>
                  <a:srgbClr val="FFFFFF"/>
                </a:solidFill>
                <a:latin typeface="Microsoft YaHei"/>
                <a:cs typeface="Microsoft YaHei"/>
              </a:rPr>
              <a:t>LTE+mMTC+VoLTE</a:t>
            </a:r>
            <a:endParaRPr sz="900">
              <a:latin typeface="Microsoft YaHei"/>
              <a:cs typeface="Microsoft YaHei"/>
            </a:endParaRPr>
          </a:p>
        </p:txBody>
      </p:sp>
      <p:sp>
        <p:nvSpPr>
          <p:cNvPr id="22" name="object 22" descr=""/>
          <p:cNvSpPr txBox="1"/>
          <p:nvPr/>
        </p:nvSpPr>
        <p:spPr>
          <a:xfrm>
            <a:off x="5303164" y="3862628"/>
            <a:ext cx="1619885" cy="285750"/>
          </a:xfrm>
          <a:prstGeom prst="rect">
            <a:avLst/>
          </a:prstGeom>
          <a:solidFill>
            <a:srgbClr val="00B0F0"/>
          </a:solidFill>
        </p:spPr>
        <p:txBody>
          <a:bodyPr wrap="square" lIns="0" tIns="69215" rIns="0" bIns="0" rtlCol="0" vert="horz">
            <a:spAutoFit/>
          </a:bodyPr>
          <a:lstStyle/>
          <a:p>
            <a:pPr marL="438784">
              <a:lnSpc>
                <a:spcPct val="100000"/>
              </a:lnSpc>
              <a:spcBef>
                <a:spcPts val="545"/>
              </a:spcBef>
            </a:pPr>
            <a:r>
              <a:rPr dirty="0" sz="900" b="1">
                <a:solidFill>
                  <a:srgbClr val="FFFFFF"/>
                </a:solidFill>
                <a:latin typeface="Microsoft YaHei"/>
                <a:cs typeface="Microsoft YaHei"/>
              </a:rPr>
              <a:t>LTE</a:t>
            </a:r>
            <a:r>
              <a:rPr dirty="0" sz="900" spc="-35" b="1">
                <a:solidFill>
                  <a:srgbClr val="FFFFFF"/>
                </a:solidFill>
                <a:latin typeface="Microsoft YaHei"/>
                <a:cs typeface="Microsoft YaHei"/>
              </a:rPr>
              <a:t> </a:t>
            </a:r>
            <a:r>
              <a:rPr dirty="0" sz="900" b="1">
                <a:solidFill>
                  <a:srgbClr val="FFFFFF"/>
                </a:solidFill>
                <a:latin typeface="Microsoft YaHei"/>
                <a:cs typeface="Microsoft YaHei"/>
              </a:rPr>
              <a:t>+</a:t>
            </a:r>
            <a:r>
              <a:rPr dirty="0" sz="900" spc="-5" b="1">
                <a:solidFill>
                  <a:srgbClr val="FFFFFF"/>
                </a:solidFill>
                <a:latin typeface="Microsoft YaHei"/>
                <a:cs typeface="Microsoft YaHei"/>
              </a:rPr>
              <a:t> </a:t>
            </a:r>
            <a:r>
              <a:rPr dirty="0" sz="900" spc="-10" b="1">
                <a:solidFill>
                  <a:srgbClr val="FFFFFF"/>
                </a:solidFill>
                <a:latin typeface="Microsoft YaHei"/>
                <a:cs typeface="Microsoft YaHei"/>
              </a:rPr>
              <a:t>VoLTE</a:t>
            </a:r>
            <a:endParaRPr sz="900">
              <a:latin typeface="Microsoft YaHei"/>
              <a:cs typeface="Microsoft YaHei"/>
            </a:endParaRPr>
          </a:p>
        </p:txBody>
      </p:sp>
      <p:sp>
        <p:nvSpPr>
          <p:cNvPr id="23" name="object 23" descr=""/>
          <p:cNvSpPr txBox="1"/>
          <p:nvPr/>
        </p:nvSpPr>
        <p:spPr>
          <a:xfrm>
            <a:off x="5303164" y="4313770"/>
            <a:ext cx="1619885" cy="285750"/>
          </a:xfrm>
          <a:prstGeom prst="rect">
            <a:avLst/>
          </a:prstGeom>
          <a:solidFill>
            <a:srgbClr val="FFC000"/>
          </a:solidFill>
        </p:spPr>
        <p:txBody>
          <a:bodyPr wrap="square" lIns="0" tIns="69215" rIns="0" bIns="0" rtlCol="0" vert="horz">
            <a:spAutoFit/>
          </a:bodyPr>
          <a:lstStyle/>
          <a:p>
            <a:pPr marL="269240">
              <a:lnSpc>
                <a:spcPct val="100000"/>
              </a:lnSpc>
              <a:spcBef>
                <a:spcPts val="545"/>
              </a:spcBef>
            </a:pPr>
            <a:r>
              <a:rPr dirty="0" sz="900" b="1">
                <a:solidFill>
                  <a:srgbClr val="FFFFFF"/>
                </a:solidFill>
                <a:latin typeface="Microsoft YaHei"/>
                <a:cs typeface="Microsoft YaHei"/>
              </a:rPr>
              <a:t>LTE+5G</a:t>
            </a:r>
            <a:r>
              <a:rPr dirty="0" sz="900" spc="-50" b="1">
                <a:solidFill>
                  <a:srgbClr val="FFFFFF"/>
                </a:solidFill>
                <a:latin typeface="Microsoft YaHei"/>
                <a:cs typeface="Microsoft YaHei"/>
              </a:rPr>
              <a:t> </a:t>
            </a:r>
            <a:r>
              <a:rPr dirty="0" sz="900" spc="-10" b="1">
                <a:solidFill>
                  <a:srgbClr val="FFFFFF"/>
                </a:solidFill>
                <a:latin typeface="Microsoft YaHei"/>
                <a:cs typeface="Microsoft YaHei"/>
              </a:rPr>
              <a:t>refarming</a:t>
            </a:r>
            <a:endParaRPr sz="900">
              <a:latin typeface="Microsoft YaHei"/>
              <a:cs typeface="Microsoft YaHei"/>
            </a:endParaRPr>
          </a:p>
        </p:txBody>
      </p:sp>
      <p:grpSp>
        <p:nvGrpSpPr>
          <p:cNvPr id="24" name="object 24" descr=""/>
          <p:cNvGrpSpPr/>
          <p:nvPr/>
        </p:nvGrpSpPr>
        <p:grpSpPr>
          <a:xfrm>
            <a:off x="989914" y="3269069"/>
            <a:ext cx="7907655" cy="1407160"/>
            <a:chOff x="989914" y="3269069"/>
            <a:chExt cx="7907655" cy="1407160"/>
          </a:xfrm>
        </p:grpSpPr>
        <p:sp>
          <p:nvSpPr>
            <p:cNvPr id="25" name="object 25" descr=""/>
            <p:cNvSpPr/>
            <p:nvPr/>
          </p:nvSpPr>
          <p:spPr>
            <a:xfrm>
              <a:off x="4439056" y="3408464"/>
              <a:ext cx="332740" cy="1190625"/>
            </a:xfrm>
            <a:custGeom>
              <a:avLst/>
              <a:gdLst/>
              <a:ahLst/>
              <a:cxnLst/>
              <a:rect l="l" t="t" r="r" b="b"/>
              <a:pathLst>
                <a:path w="332739" h="1190625">
                  <a:moveTo>
                    <a:pt x="332346" y="1047915"/>
                  </a:moveTo>
                  <a:lnTo>
                    <a:pt x="189750" y="905319"/>
                  </a:lnTo>
                  <a:lnTo>
                    <a:pt x="0" y="905319"/>
                  </a:lnTo>
                  <a:lnTo>
                    <a:pt x="142595" y="1047915"/>
                  </a:lnTo>
                  <a:lnTo>
                    <a:pt x="0" y="1190510"/>
                  </a:lnTo>
                  <a:lnTo>
                    <a:pt x="189750" y="1190510"/>
                  </a:lnTo>
                  <a:lnTo>
                    <a:pt x="332346" y="1047915"/>
                  </a:lnTo>
                  <a:close/>
                </a:path>
                <a:path w="332739" h="1190625">
                  <a:moveTo>
                    <a:pt x="332346" y="596760"/>
                  </a:moveTo>
                  <a:lnTo>
                    <a:pt x="189750" y="454164"/>
                  </a:lnTo>
                  <a:lnTo>
                    <a:pt x="0" y="454164"/>
                  </a:lnTo>
                  <a:lnTo>
                    <a:pt x="142595" y="596760"/>
                  </a:lnTo>
                  <a:lnTo>
                    <a:pt x="0" y="739355"/>
                  </a:lnTo>
                  <a:lnTo>
                    <a:pt x="189750" y="739355"/>
                  </a:lnTo>
                  <a:lnTo>
                    <a:pt x="332346" y="596760"/>
                  </a:lnTo>
                  <a:close/>
                </a:path>
                <a:path w="332739" h="1190625">
                  <a:moveTo>
                    <a:pt x="332346" y="142595"/>
                  </a:moveTo>
                  <a:lnTo>
                    <a:pt x="189750" y="0"/>
                  </a:lnTo>
                  <a:lnTo>
                    <a:pt x="0" y="0"/>
                  </a:lnTo>
                  <a:lnTo>
                    <a:pt x="142595" y="142595"/>
                  </a:lnTo>
                  <a:lnTo>
                    <a:pt x="0" y="285191"/>
                  </a:lnTo>
                  <a:lnTo>
                    <a:pt x="189750" y="285191"/>
                  </a:lnTo>
                  <a:lnTo>
                    <a:pt x="332346" y="142595"/>
                  </a:lnTo>
                  <a:close/>
                </a:path>
              </a:pathLst>
            </a:custGeom>
            <a:solidFill>
              <a:srgbClr val="6B6BCF"/>
            </a:solidFill>
          </p:spPr>
          <p:txBody>
            <a:bodyPr wrap="square" lIns="0" tIns="0" rIns="0" bIns="0" rtlCol="0"/>
            <a:lstStyle/>
            <a:p/>
          </p:txBody>
        </p:sp>
        <p:sp>
          <p:nvSpPr>
            <p:cNvPr id="26" name="object 26" descr=""/>
            <p:cNvSpPr/>
            <p:nvPr/>
          </p:nvSpPr>
          <p:spPr>
            <a:xfrm>
              <a:off x="994676" y="3273831"/>
              <a:ext cx="7898130" cy="1397635"/>
            </a:xfrm>
            <a:custGeom>
              <a:avLst/>
              <a:gdLst/>
              <a:ahLst/>
              <a:cxnLst/>
              <a:rect l="l" t="t" r="r" b="b"/>
              <a:pathLst>
                <a:path w="7898130" h="1397635">
                  <a:moveTo>
                    <a:pt x="0" y="0"/>
                  </a:moveTo>
                  <a:lnTo>
                    <a:pt x="7897799" y="0"/>
                  </a:lnTo>
                  <a:lnTo>
                    <a:pt x="7897799" y="1397533"/>
                  </a:lnTo>
                  <a:lnTo>
                    <a:pt x="0" y="1397533"/>
                  </a:lnTo>
                  <a:lnTo>
                    <a:pt x="0" y="0"/>
                  </a:lnTo>
                  <a:close/>
                </a:path>
              </a:pathLst>
            </a:custGeom>
            <a:ln w="9525">
              <a:solidFill>
                <a:srgbClr val="0033CC"/>
              </a:solidFill>
            </a:ln>
          </p:spPr>
          <p:txBody>
            <a:bodyPr wrap="square" lIns="0" tIns="0" rIns="0" bIns="0" rtlCol="0"/>
            <a:lstStyle/>
            <a:p/>
          </p:txBody>
        </p:sp>
      </p:grpSp>
      <p:sp>
        <p:nvSpPr>
          <p:cNvPr id="27" name="object 27" descr=""/>
          <p:cNvSpPr txBox="1"/>
          <p:nvPr/>
        </p:nvSpPr>
        <p:spPr>
          <a:xfrm>
            <a:off x="6991508" y="3428522"/>
            <a:ext cx="1797685" cy="299720"/>
          </a:xfrm>
          <a:prstGeom prst="rect">
            <a:avLst/>
          </a:prstGeom>
        </p:spPr>
        <p:txBody>
          <a:bodyPr wrap="square" lIns="0" tIns="12700" rIns="0" bIns="0" rtlCol="0" vert="horz">
            <a:spAutoFit/>
          </a:bodyPr>
          <a:lstStyle/>
          <a:p>
            <a:pPr>
              <a:lnSpc>
                <a:spcPct val="100000"/>
              </a:lnSpc>
              <a:spcBef>
                <a:spcPts val="100"/>
              </a:spcBef>
            </a:pPr>
            <a:r>
              <a:rPr dirty="0" sz="900">
                <a:latin typeface="Arial MT"/>
                <a:cs typeface="Arial MT"/>
              </a:rPr>
              <a:t>LTE</a:t>
            </a:r>
            <a:r>
              <a:rPr dirty="0" sz="900">
                <a:latin typeface="SimSun"/>
                <a:cs typeface="SimSun"/>
              </a:rPr>
              <a:t>基础覆盖</a:t>
            </a:r>
            <a:r>
              <a:rPr dirty="0" sz="900">
                <a:latin typeface="Arial MT"/>
                <a:cs typeface="Arial MT"/>
              </a:rPr>
              <a:t>+</a:t>
            </a:r>
            <a:r>
              <a:rPr dirty="0" sz="900">
                <a:latin typeface="SimSun"/>
                <a:cs typeface="SimSun"/>
              </a:rPr>
              <a:t>语音打底</a:t>
            </a:r>
            <a:r>
              <a:rPr dirty="0" sz="900">
                <a:latin typeface="Arial MT"/>
                <a:cs typeface="Arial MT"/>
              </a:rPr>
              <a:t>+5G</a:t>
            </a:r>
            <a:r>
              <a:rPr dirty="0" sz="900" spc="-20">
                <a:latin typeface="Arial MT"/>
                <a:cs typeface="Arial MT"/>
              </a:rPr>
              <a:t> mMTC</a:t>
            </a:r>
            <a:endParaRPr sz="900">
              <a:latin typeface="Arial MT"/>
              <a:cs typeface="Arial MT"/>
            </a:endParaRPr>
          </a:p>
          <a:p>
            <a:pPr>
              <a:lnSpc>
                <a:spcPct val="100000"/>
              </a:lnSpc>
            </a:pPr>
            <a:r>
              <a:rPr dirty="0" sz="900" spc="-25">
                <a:latin typeface="SimSun"/>
                <a:cs typeface="SimSun"/>
              </a:rPr>
              <a:t>演进</a:t>
            </a:r>
            <a:endParaRPr sz="900">
              <a:latin typeface="SimSun"/>
              <a:cs typeface="SimSun"/>
            </a:endParaRPr>
          </a:p>
        </p:txBody>
      </p:sp>
      <p:sp>
        <p:nvSpPr>
          <p:cNvPr id="28" name="object 28" descr=""/>
          <p:cNvSpPr txBox="1"/>
          <p:nvPr/>
        </p:nvSpPr>
        <p:spPr>
          <a:xfrm>
            <a:off x="7016883" y="3921383"/>
            <a:ext cx="539750" cy="162560"/>
          </a:xfrm>
          <a:prstGeom prst="rect">
            <a:avLst/>
          </a:prstGeom>
        </p:spPr>
        <p:txBody>
          <a:bodyPr wrap="square" lIns="0" tIns="12700" rIns="0" bIns="0" rtlCol="0" vert="horz">
            <a:spAutoFit/>
          </a:bodyPr>
          <a:lstStyle/>
          <a:p>
            <a:pPr>
              <a:lnSpc>
                <a:spcPct val="100000"/>
              </a:lnSpc>
              <a:spcBef>
                <a:spcPts val="100"/>
              </a:spcBef>
            </a:pPr>
            <a:r>
              <a:rPr dirty="0" sz="900">
                <a:latin typeface="Arial MT"/>
                <a:cs typeface="Arial MT"/>
              </a:rPr>
              <a:t>4G</a:t>
            </a:r>
            <a:r>
              <a:rPr dirty="0" sz="900" spc="-10">
                <a:latin typeface="Arial MT"/>
                <a:cs typeface="Arial MT"/>
              </a:rPr>
              <a:t> </a:t>
            </a:r>
            <a:r>
              <a:rPr dirty="0" sz="900" spc="-20">
                <a:latin typeface="SimSun"/>
                <a:cs typeface="SimSun"/>
              </a:rPr>
              <a:t>容量层</a:t>
            </a:r>
            <a:endParaRPr sz="900">
              <a:latin typeface="SimSun"/>
              <a:cs typeface="SimSun"/>
            </a:endParaRPr>
          </a:p>
        </p:txBody>
      </p:sp>
      <p:sp>
        <p:nvSpPr>
          <p:cNvPr id="29" name="object 29" descr=""/>
          <p:cNvSpPr txBox="1"/>
          <p:nvPr/>
        </p:nvSpPr>
        <p:spPr>
          <a:xfrm>
            <a:off x="7016883" y="4372526"/>
            <a:ext cx="1797050" cy="162560"/>
          </a:xfrm>
          <a:prstGeom prst="rect">
            <a:avLst/>
          </a:prstGeom>
        </p:spPr>
        <p:txBody>
          <a:bodyPr wrap="square" lIns="0" tIns="12700" rIns="0" bIns="0" rtlCol="0" vert="horz">
            <a:spAutoFit/>
          </a:bodyPr>
          <a:lstStyle/>
          <a:p>
            <a:pPr>
              <a:lnSpc>
                <a:spcPct val="100000"/>
              </a:lnSpc>
              <a:spcBef>
                <a:spcPts val="100"/>
              </a:spcBef>
            </a:pPr>
            <a:r>
              <a:rPr dirty="0" sz="900">
                <a:latin typeface="SimSun"/>
                <a:cs typeface="SimSun"/>
              </a:rPr>
              <a:t>逐步重耕到</a:t>
            </a:r>
            <a:r>
              <a:rPr dirty="0" sz="900" spc="-10">
                <a:latin typeface="Arial MT"/>
                <a:cs typeface="Arial MT"/>
              </a:rPr>
              <a:t>5G</a:t>
            </a:r>
            <a:r>
              <a:rPr dirty="0" sz="900" spc="-5">
                <a:latin typeface="SimSun"/>
                <a:cs typeface="SimSun"/>
              </a:rPr>
              <a:t>，配合</a:t>
            </a:r>
            <a:r>
              <a:rPr dirty="0" sz="900" spc="-10">
                <a:latin typeface="Arial MT"/>
                <a:cs typeface="Arial MT"/>
              </a:rPr>
              <a:t>3.5G</a:t>
            </a:r>
            <a:r>
              <a:rPr dirty="0" sz="900">
                <a:latin typeface="SimSun"/>
                <a:cs typeface="SimSun"/>
              </a:rPr>
              <a:t>做</a:t>
            </a:r>
            <a:r>
              <a:rPr dirty="0" sz="900" spc="-10">
                <a:latin typeface="Arial MT"/>
                <a:cs typeface="Arial MT"/>
              </a:rPr>
              <a:t>CA/DC</a:t>
            </a:r>
            <a:endParaRPr sz="900">
              <a:latin typeface="Arial MT"/>
              <a:cs typeface="Arial MT"/>
            </a:endParaRPr>
          </a:p>
        </p:txBody>
      </p:sp>
      <p:grpSp>
        <p:nvGrpSpPr>
          <p:cNvPr id="30" name="object 30" descr=""/>
          <p:cNvGrpSpPr/>
          <p:nvPr/>
        </p:nvGrpSpPr>
        <p:grpSpPr>
          <a:xfrm>
            <a:off x="48083" y="3534400"/>
            <a:ext cx="8721090" cy="724535"/>
            <a:chOff x="48083" y="3534400"/>
            <a:chExt cx="8721090" cy="724535"/>
          </a:xfrm>
        </p:grpSpPr>
        <p:sp>
          <p:nvSpPr>
            <p:cNvPr id="31" name="object 31" descr=""/>
            <p:cNvSpPr/>
            <p:nvPr/>
          </p:nvSpPr>
          <p:spPr>
            <a:xfrm>
              <a:off x="1256346" y="3759881"/>
              <a:ext cx="7509509" cy="1905"/>
            </a:xfrm>
            <a:custGeom>
              <a:avLst/>
              <a:gdLst/>
              <a:ahLst/>
              <a:cxnLst/>
              <a:rect l="l" t="t" r="r" b="b"/>
              <a:pathLst>
                <a:path w="7509509" h="1904">
                  <a:moveTo>
                    <a:pt x="0" y="0"/>
                  </a:moveTo>
                  <a:lnTo>
                    <a:pt x="7509052" y="1587"/>
                  </a:lnTo>
                </a:path>
              </a:pathLst>
            </a:custGeom>
            <a:ln w="6350">
              <a:solidFill>
                <a:srgbClr val="B6DCDF"/>
              </a:solidFill>
              <a:prstDash val="lgDashDot"/>
            </a:ln>
          </p:spPr>
          <p:txBody>
            <a:bodyPr wrap="square" lIns="0" tIns="0" rIns="0" bIns="0" rtlCol="0"/>
            <a:lstStyle/>
            <a:p/>
          </p:txBody>
        </p:sp>
        <p:sp>
          <p:nvSpPr>
            <p:cNvPr id="32" name="object 32" descr=""/>
            <p:cNvSpPr/>
            <p:nvPr/>
          </p:nvSpPr>
          <p:spPr>
            <a:xfrm>
              <a:off x="1223628" y="4190343"/>
              <a:ext cx="7509509" cy="1905"/>
            </a:xfrm>
            <a:custGeom>
              <a:avLst/>
              <a:gdLst/>
              <a:ahLst/>
              <a:cxnLst/>
              <a:rect l="l" t="t" r="r" b="b"/>
              <a:pathLst>
                <a:path w="7509509" h="1904">
                  <a:moveTo>
                    <a:pt x="0" y="0"/>
                  </a:moveTo>
                  <a:lnTo>
                    <a:pt x="7509052" y="1587"/>
                  </a:lnTo>
                </a:path>
              </a:pathLst>
            </a:custGeom>
            <a:ln w="6350">
              <a:solidFill>
                <a:srgbClr val="B6DCDF"/>
              </a:solidFill>
              <a:prstDash val="lgDashDot"/>
            </a:ln>
          </p:spPr>
          <p:txBody>
            <a:bodyPr wrap="square" lIns="0" tIns="0" rIns="0" bIns="0" rtlCol="0"/>
            <a:lstStyle/>
            <a:p/>
          </p:txBody>
        </p:sp>
        <p:sp>
          <p:nvSpPr>
            <p:cNvPr id="33" name="object 33" descr=""/>
            <p:cNvSpPr/>
            <p:nvPr/>
          </p:nvSpPr>
          <p:spPr>
            <a:xfrm>
              <a:off x="60783" y="3547100"/>
              <a:ext cx="895350" cy="699135"/>
            </a:xfrm>
            <a:custGeom>
              <a:avLst/>
              <a:gdLst/>
              <a:ahLst/>
              <a:cxnLst/>
              <a:rect l="l" t="t" r="r" b="b"/>
              <a:pathLst>
                <a:path w="895350" h="699135">
                  <a:moveTo>
                    <a:pt x="778586" y="0"/>
                  </a:moveTo>
                  <a:lnTo>
                    <a:pt x="116471" y="0"/>
                  </a:lnTo>
                  <a:lnTo>
                    <a:pt x="71135" y="9152"/>
                  </a:lnTo>
                  <a:lnTo>
                    <a:pt x="34113" y="34113"/>
                  </a:lnTo>
                  <a:lnTo>
                    <a:pt x="9152" y="71135"/>
                  </a:lnTo>
                  <a:lnTo>
                    <a:pt x="0" y="116471"/>
                  </a:lnTo>
                  <a:lnTo>
                    <a:pt x="0" y="582358"/>
                  </a:lnTo>
                  <a:lnTo>
                    <a:pt x="9152" y="627694"/>
                  </a:lnTo>
                  <a:lnTo>
                    <a:pt x="34113" y="664716"/>
                  </a:lnTo>
                  <a:lnTo>
                    <a:pt x="71135" y="689677"/>
                  </a:lnTo>
                  <a:lnTo>
                    <a:pt x="116471" y="698830"/>
                  </a:lnTo>
                  <a:lnTo>
                    <a:pt x="778586" y="698830"/>
                  </a:lnTo>
                  <a:lnTo>
                    <a:pt x="823922" y="689677"/>
                  </a:lnTo>
                  <a:lnTo>
                    <a:pt x="860944" y="664716"/>
                  </a:lnTo>
                  <a:lnTo>
                    <a:pt x="885904" y="627694"/>
                  </a:lnTo>
                  <a:lnTo>
                    <a:pt x="895057" y="582358"/>
                  </a:lnTo>
                  <a:lnTo>
                    <a:pt x="895057" y="116471"/>
                  </a:lnTo>
                  <a:lnTo>
                    <a:pt x="885904" y="71135"/>
                  </a:lnTo>
                  <a:lnTo>
                    <a:pt x="860944" y="34113"/>
                  </a:lnTo>
                  <a:lnTo>
                    <a:pt x="823922" y="9152"/>
                  </a:lnTo>
                  <a:lnTo>
                    <a:pt x="778586" y="0"/>
                  </a:lnTo>
                  <a:close/>
                </a:path>
              </a:pathLst>
            </a:custGeom>
            <a:solidFill>
              <a:srgbClr val="00B0F0"/>
            </a:solidFill>
          </p:spPr>
          <p:txBody>
            <a:bodyPr wrap="square" lIns="0" tIns="0" rIns="0" bIns="0" rtlCol="0"/>
            <a:lstStyle/>
            <a:p/>
          </p:txBody>
        </p:sp>
        <p:sp>
          <p:nvSpPr>
            <p:cNvPr id="34" name="object 34" descr=""/>
            <p:cNvSpPr/>
            <p:nvPr/>
          </p:nvSpPr>
          <p:spPr>
            <a:xfrm>
              <a:off x="60783" y="3547100"/>
              <a:ext cx="895350" cy="699135"/>
            </a:xfrm>
            <a:custGeom>
              <a:avLst/>
              <a:gdLst/>
              <a:ahLst/>
              <a:cxnLst/>
              <a:rect l="l" t="t" r="r" b="b"/>
              <a:pathLst>
                <a:path w="895350" h="699135">
                  <a:moveTo>
                    <a:pt x="0" y="116471"/>
                  </a:moveTo>
                  <a:lnTo>
                    <a:pt x="9152" y="71135"/>
                  </a:lnTo>
                  <a:lnTo>
                    <a:pt x="34113" y="34113"/>
                  </a:lnTo>
                  <a:lnTo>
                    <a:pt x="71135" y="9152"/>
                  </a:lnTo>
                  <a:lnTo>
                    <a:pt x="116471" y="0"/>
                  </a:lnTo>
                  <a:lnTo>
                    <a:pt x="778586" y="0"/>
                  </a:lnTo>
                  <a:lnTo>
                    <a:pt x="823922" y="9152"/>
                  </a:lnTo>
                  <a:lnTo>
                    <a:pt x="860944" y="34113"/>
                  </a:lnTo>
                  <a:lnTo>
                    <a:pt x="885904" y="71135"/>
                  </a:lnTo>
                  <a:lnTo>
                    <a:pt x="895057" y="116471"/>
                  </a:lnTo>
                  <a:lnTo>
                    <a:pt x="895057" y="582358"/>
                  </a:lnTo>
                  <a:lnTo>
                    <a:pt x="885904" y="627694"/>
                  </a:lnTo>
                  <a:lnTo>
                    <a:pt x="860944" y="664716"/>
                  </a:lnTo>
                  <a:lnTo>
                    <a:pt x="823922" y="689677"/>
                  </a:lnTo>
                  <a:lnTo>
                    <a:pt x="778586" y="698830"/>
                  </a:lnTo>
                  <a:lnTo>
                    <a:pt x="116471" y="698830"/>
                  </a:lnTo>
                  <a:lnTo>
                    <a:pt x="71135" y="689677"/>
                  </a:lnTo>
                  <a:lnTo>
                    <a:pt x="34113" y="664716"/>
                  </a:lnTo>
                  <a:lnTo>
                    <a:pt x="9152" y="627694"/>
                  </a:lnTo>
                  <a:lnTo>
                    <a:pt x="0" y="582358"/>
                  </a:lnTo>
                  <a:lnTo>
                    <a:pt x="0" y="116471"/>
                  </a:lnTo>
                  <a:close/>
                </a:path>
              </a:pathLst>
            </a:custGeom>
            <a:ln w="25399">
              <a:solidFill>
                <a:srgbClr val="89A4A7"/>
              </a:solidFill>
            </a:ln>
          </p:spPr>
          <p:txBody>
            <a:bodyPr wrap="square" lIns="0" tIns="0" rIns="0" bIns="0" rtlCol="0"/>
            <a:lstStyle/>
            <a:p/>
          </p:txBody>
        </p:sp>
      </p:grpSp>
      <p:grpSp>
        <p:nvGrpSpPr>
          <p:cNvPr id="35" name="object 35" descr=""/>
          <p:cNvGrpSpPr/>
          <p:nvPr/>
        </p:nvGrpSpPr>
        <p:grpSpPr>
          <a:xfrm>
            <a:off x="55970" y="1838307"/>
            <a:ext cx="913130" cy="692150"/>
            <a:chOff x="55970" y="1838307"/>
            <a:chExt cx="913130" cy="692150"/>
          </a:xfrm>
        </p:grpSpPr>
        <p:sp>
          <p:nvSpPr>
            <p:cNvPr id="36" name="object 36" descr=""/>
            <p:cNvSpPr/>
            <p:nvPr/>
          </p:nvSpPr>
          <p:spPr>
            <a:xfrm>
              <a:off x="68670" y="1851007"/>
              <a:ext cx="887730" cy="666750"/>
            </a:xfrm>
            <a:custGeom>
              <a:avLst/>
              <a:gdLst/>
              <a:ahLst/>
              <a:cxnLst/>
              <a:rect l="l" t="t" r="r" b="b"/>
              <a:pathLst>
                <a:path w="887730" h="666750">
                  <a:moveTo>
                    <a:pt x="776046" y="0"/>
                  </a:moveTo>
                  <a:lnTo>
                    <a:pt x="111125" y="0"/>
                  </a:lnTo>
                  <a:lnTo>
                    <a:pt x="67872" y="8733"/>
                  </a:lnTo>
                  <a:lnTo>
                    <a:pt x="32550" y="32550"/>
                  </a:lnTo>
                  <a:lnTo>
                    <a:pt x="8733" y="67872"/>
                  </a:lnTo>
                  <a:lnTo>
                    <a:pt x="0" y="111125"/>
                  </a:lnTo>
                  <a:lnTo>
                    <a:pt x="0" y="555612"/>
                  </a:lnTo>
                  <a:lnTo>
                    <a:pt x="8733" y="598864"/>
                  </a:lnTo>
                  <a:lnTo>
                    <a:pt x="32550" y="634187"/>
                  </a:lnTo>
                  <a:lnTo>
                    <a:pt x="67872" y="658003"/>
                  </a:lnTo>
                  <a:lnTo>
                    <a:pt x="111125" y="666737"/>
                  </a:lnTo>
                  <a:lnTo>
                    <a:pt x="776046" y="666737"/>
                  </a:lnTo>
                  <a:lnTo>
                    <a:pt x="819298" y="658003"/>
                  </a:lnTo>
                  <a:lnTo>
                    <a:pt x="854621" y="634187"/>
                  </a:lnTo>
                  <a:lnTo>
                    <a:pt x="878437" y="598864"/>
                  </a:lnTo>
                  <a:lnTo>
                    <a:pt x="887171" y="555612"/>
                  </a:lnTo>
                  <a:lnTo>
                    <a:pt x="887171" y="111125"/>
                  </a:lnTo>
                  <a:lnTo>
                    <a:pt x="878437" y="67872"/>
                  </a:lnTo>
                  <a:lnTo>
                    <a:pt x="854621" y="32550"/>
                  </a:lnTo>
                  <a:lnTo>
                    <a:pt x="819298" y="8733"/>
                  </a:lnTo>
                  <a:lnTo>
                    <a:pt x="776046" y="0"/>
                  </a:lnTo>
                  <a:close/>
                </a:path>
              </a:pathLst>
            </a:custGeom>
            <a:solidFill>
              <a:srgbClr val="CC6600"/>
            </a:solidFill>
          </p:spPr>
          <p:txBody>
            <a:bodyPr wrap="square" lIns="0" tIns="0" rIns="0" bIns="0" rtlCol="0"/>
            <a:lstStyle/>
            <a:p/>
          </p:txBody>
        </p:sp>
        <p:sp>
          <p:nvSpPr>
            <p:cNvPr id="37" name="object 37" descr=""/>
            <p:cNvSpPr/>
            <p:nvPr/>
          </p:nvSpPr>
          <p:spPr>
            <a:xfrm>
              <a:off x="68670" y="1851007"/>
              <a:ext cx="887730" cy="666750"/>
            </a:xfrm>
            <a:custGeom>
              <a:avLst/>
              <a:gdLst/>
              <a:ahLst/>
              <a:cxnLst/>
              <a:rect l="l" t="t" r="r" b="b"/>
              <a:pathLst>
                <a:path w="887730" h="666750">
                  <a:moveTo>
                    <a:pt x="0" y="111125"/>
                  </a:moveTo>
                  <a:lnTo>
                    <a:pt x="8733" y="67872"/>
                  </a:lnTo>
                  <a:lnTo>
                    <a:pt x="32550" y="32550"/>
                  </a:lnTo>
                  <a:lnTo>
                    <a:pt x="67872" y="8733"/>
                  </a:lnTo>
                  <a:lnTo>
                    <a:pt x="111125" y="0"/>
                  </a:lnTo>
                  <a:lnTo>
                    <a:pt x="776046" y="0"/>
                  </a:lnTo>
                  <a:lnTo>
                    <a:pt x="819298" y="8733"/>
                  </a:lnTo>
                  <a:lnTo>
                    <a:pt x="854621" y="32550"/>
                  </a:lnTo>
                  <a:lnTo>
                    <a:pt x="878437" y="67872"/>
                  </a:lnTo>
                  <a:lnTo>
                    <a:pt x="887171" y="111125"/>
                  </a:lnTo>
                  <a:lnTo>
                    <a:pt x="887171" y="555612"/>
                  </a:lnTo>
                  <a:lnTo>
                    <a:pt x="878437" y="598864"/>
                  </a:lnTo>
                  <a:lnTo>
                    <a:pt x="854621" y="634187"/>
                  </a:lnTo>
                  <a:lnTo>
                    <a:pt x="819298" y="658003"/>
                  </a:lnTo>
                  <a:lnTo>
                    <a:pt x="776046" y="666737"/>
                  </a:lnTo>
                  <a:lnTo>
                    <a:pt x="111125" y="666737"/>
                  </a:lnTo>
                  <a:lnTo>
                    <a:pt x="67872" y="658003"/>
                  </a:lnTo>
                  <a:lnTo>
                    <a:pt x="32550" y="634187"/>
                  </a:lnTo>
                  <a:lnTo>
                    <a:pt x="8733" y="598864"/>
                  </a:lnTo>
                  <a:lnTo>
                    <a:pt x="0" y="555612"/>
                  </a:lnTo>
                  <a:lnTo>
                    <a:pt x="0" y="111125"/>
                  </a:lnTo>
                  <a:close/>
                </a:path>
              </a:pathLst>
            </a:custGeom>
            <a:ln w="25400">
              <a:solidFill>
                <a:srgbClr val="89A4A7"/>
              </a:solidFill>
            </a:ln>
          </p:spPr>
          <p:txBody>
            <a:bodyPr wrap="square" lIns="0" tIns="0" rIns="0" bIns="0" rtlCol="0"/>
            <a:lstStyle/>
            <a:p/>
          </p:txBody>
        </p:sp>
      </p:grpSp>
      <p:sp>
        <p:nvSpPr>
          <p:cNvPr id="38" name="object 38" descr=""/>
          <p:cNvSpPr txBox="1"/>
          <p:nvPr/>
        </p:nvSpPr>
        <p:spPr>
          <a:xfrm>
            <a:off x="367601" y="2050517"/>
            <a:ext cx="288290" cy="254000"/>
          </a:xfrm>
          <a:prstGeom prst="rect">
            <a:avLst/>
          </a:prstGeom>
        </p:spPr>
        <p:txBody>
          <a:bodyPr wrap="square" lIns="0" tIns="12700" rIns="0" bIns="0" rtlCol="0" vert="horz">
            <a:spAutoFit/>
          </a:bodyPr>
          <a:lstStyle/>
          <a:p>
            <a:pPr marL="12700">
              <a:lnSpc>
                <a:spcPct val="100000"/>
              </a:lnSpc>
              <a:spcBef>
                <a:spcPts val="100"/>
              </a:spcBef>
            </a:pPr>
            <a:r>
              <a:rPr dirty="0" sz="1500" spc="-25" b="1">
                <a:solidFill>
                  <a:srgbClr val="FFFFFF"/>
                </a:solidFill>
                <a:latin typeface="Microsoft YaHei"/>
                <a:cs typeface="Microsoft YaHei"/>
              </a:rPr>
              <a:t>5G</a:t>
            </a:r>
            <a:endParaRPr sz="1500">
              <a:latin typeface="Microsoft YaHei"/>
              <a:cs typeface="Microsoft YaHei"/>
            </a:endParaRPr>
          </a:p>
        </p:txBody>
      </p:sp>
      <p:sp>
        <p:nvSpPr>
          <p:cNvPr id="39" name="object 39" descr=""/>
          <p:cNvSpPr txBox="1"/>
          <p:nvPr/>
        </p:nvSpPr>
        <p:spPr>
          <a:xfrm>
            <a:off x="156458" y="3762659"/>
            <a:ext cx="702945" cy="254000"/>
          </a:xfrm>
          <a:prstGeom prst="rect">
            <a:avLst/>
          </a:prstGeom>
        </p:spPr>
        <p:txBody>
          <a:bodyPr wrap="square" lIns="0" tIns="12700" rIns="0" bIns="0" rtlCol="0" vert="horz">
            <a:spAutoFit/>
          </a:bodyPr>
          <a:lstStyle/>
          <a:p>
            <a:pPr marL="12700">
              <a:lnSpc>
                <a:spcPct val="100000"/>
              </a:lnSpc>
              <a:spcBef>
                <a:spcPts val="100"/>
              </a:spcBef>
            </a:pPr>
            <a:r>
              <a:rPr dirty="0" sz="1500" spc="-10" b="1">
                <a:solidFill>
                  <a:srgbClr val="FFFFFF"/>
                </a:solidFill>
                <a:latin typeface="Microsoft YaHei"/>
                <a:cs typeface="Microsoft YaHei"/>
              </a:rPr>
              <a:t>2/3/4G</a:t>
            </a:r>
            <a:endParaRPr sz="1500">
              <a:latin typeface="Microsoft YaHei"/>
              <a:cs typeface="Microsoft YaHei"/>
            </a:endParaRPr>
          </a:p>
        </p:txBody>
      </p:sp>
      <p:grpSp>
        <p:nvGrpSpPr>
          <p:cNvPr id="40" name="object 40" descr=""/>
          <p:cNvGrpSpPr/>
          <p:nvPr/>
        </p:nvGrpSpPr>
        <p:grpSpPr>
          <a:xfrm>
            <a:off x="238819" y="4712303"/>
            <a:ext cx="8720455" cy="234950"/>
            <a:chOff x="238819" y="4712303"/>
            <a:chExt cx="8720455" cy="234950"/>
          </a:xfrm>
        </p:grpSpPr>
        <p:sp>
          <p:nvSpPr>
            <p:cNvPr id="41" name="object 41" descr=""/>
            <p:cNvSpPr/>
            <p:nvPr/>
          </p:nvSpPr>
          <p:spPr>
            <a:xfrm>
              <a:off x="251519" y="4725003"/>
              <a:ext cx="8695055" cy="209550"/>
            </a:xfrm>
            <a:custGeom>
              <a:avLst/>
              <a:gdLst/>
              <a:ahLst/>
              <a:cxnLst/>
              <a:rect l="l" t="t" r="r" b="b"/>
              <a:pathLst>
                <a:path w="8695055" h="209550">
                  <a:moveTo>
                    <a:pt x="8660142" y="0"/>
                  </a:moveTo>
                  <a:lnTo>
                    <a:pt x="34823" y="0"/>
                  </a:lnTo>
                  <a:lnTo>
                    <a:pt x="21270" y="2737"/>
                  </a:lnTo>
                  <a:lnTo>
                    <a:pt x="10201" y="10201"/>
                  </a:lnTo>
                  <a:lnTo>
                    <a:pt x="2737" y="21270"/>
                  </a:lnTo>
                  <a:lnTo>
                    <a:pt x="0" y="34823"/>
                  </a:lnTo>
                  <a:lnTo>
                    <a:pt x="0" y="174116"/>
                  </a:lnTo>
                  <a:lnTo>
                    <a:pt x="2737" y="187677"/>
                  </a:lnTo>
                  <a:lnTo>
                    <a:pt x="10201" y="198750"/>
                  </a:lnTo>
                  <a:lnTo>
                    <a:pt x="21270" y="206215"/>
                  </a:lnTo>
                  <a:lnTo>
                    <a:pt x="34823" y="208953"/>
                  </a:lnTo>
                  <a:lnTo>
                    <a:pt x="8660142" y="208953"/>
                  </a:lnTo>
                  <a:lnTo>
                    <a:pt x="8673695" y="206215"/>
                  </a:lnTo>
                  <a:lnTo>
                    <a:pt x="8684764" y="198750"/>
                  </a:lnTo>
                  <a:lnTo>
                    <a:pt x="8692228" y="187677"/>
                  </a:lnTo>
                  <a:lnTo>
                    <a:pt x="8694966" y="174116"/>
                  </a:lnTo>
                  <a:lnTo>
                    <a:pt x="8694966" y="34823"/>
                  </a:lnTo>
                  <a:lnTo>
                    <a:pt x="8692228" y="21270"/>
                  </a:lnTo>
                  <a:lnTo>
                    <a:pt x="8684764" y="10201"/>
                  </a:lnTo>
                  <a:lnTo>
                    <a:pt x="8673695" y="2737"/>
                  </a:lnTo>
                  <a:lnTo>
                    <a:pt x="8660142" y="0"/>
                  </a:lnTo>
                  <a:close/>
                </a:path>
              </a:pathLst>
            </a:custGeom>
            <a:solidFill>
              <a:srgbClr val="DADADA"/>
            </a:solidFill>
          </p:spPr>
          <p:txBody>
            <a:bodyPr wrap="square" lIns="0" tIns="0" rIns="0" bIns="0" rtlCol="0"/>
            <a:lstStyle/>
            <a:p/>
          </p:txBody>
        </p:sp>
        <p:sp>
          <p:nvSpPr>
            <p:cNvPr id="42" name="object 42" descr=""/>
            <p:cNvSpPr/>
            <p:nvPr/>
          </p:nvSpPr>
          <p:spPr>
            <a:xfrm>
              <a:off x="251519" y="4725003"/>
              <a:ext cx="8695055" cy="209550"/>
            </a:xfrm>
            <a:custGeom>
              <a:avLst/>
              <a:gdLst/>
              <a:ahLst/>
              <a:cxnLst/>
              <a:rect l="l" t="t" r="r" b="b"/>
              <a:pathLst>
                <a:path w="8695055" h="209550">
                  <a:moveTo>
                    <a:pt x="0" y="34823"/>
                  </a:moveTo>
                  <a:lnTo>
                    <a:pt x="2737" y="21270"/>
                  </a:lnTo>
                  <a:lnTo>
                    <a:pt x="10201" y="10201"/>
                  </a:lnTo>
                  <a:lnTo>
                    <a:pt x="21270" y="2737"/>
                  </a:lnTo>
                  <a:lnTo>
                    <a:pt x="34823" y="0"/>
                  </a:lnTo>
                  <a:lnTo>
                    <a:pt x="8660142" y="0"/>
                  </a:lnTo>
                  <a:lnTo>
                    <a:pt x="8673695" y="2737"/>
                  </a:lnTo>
                  <a:lnTo>
                    <a:pt x="8684764" y="10201"/>
                  </a:lnTo>
                  <a:lnTo>
                    <a:pt x="8692228" y="21270"/>
                  </a:lnTo>
                  <a:lnTo>
                    <a:pt x="8694966" y="34823"/>
                  </a:lnTo>
                  <a:lnTo>
                    <a:pt x="8694966" y="174116"/>
                  </a:lnTo>
                  <a:lnTo>
                    <a:pt x="8692228" y="187677"/>
                  </a:lnTo>
                  <a:lnTo>
                    <a:pt x="8684764" y="198750"/>
                  </a:lnTo>
                  <a:lnTo>
                    <a:pt x="8673695" y="206215"/>
                  </a:lnTo>
                  <a:lnTo>
                    <a:pt x="8660142" y="208953"/>
                  </a:lnTo>
                  <a:lnTo>
                    <a:pt x="34823" y="208953"/>
                  </a:lnTo>
                  <a:lnTo>
                    <a:pt x="21270" y="206215"/>
                  </a:lnTo>
                  <a:lnTo>
                    <a:pt x="10201" y="198750"/>
                  </a:lnTo>
                  <a:lnTo>
                    <a:pt x="2737" y="187677"/>
                  </a:lnTo>
                  <a:lnTo>
                    <a:pt x="0" y="174116"/>
                  </a:lnTo>
                  <a:lnTo>
                    <a:pt x="0" y="34823"/>
                  </a:lnTo>
                  <a:close/>
                </a:path>
              </a:pathLst>
            </a:custGeom>
            <a:ln w="25400">
              <a:solidFill>
                <a:srgbClr val="89A4A7"/>
              </a:solidFill>
            </a:ln>
          </p:spPr>
          <p:txBody>
            <a:bodyPr wrap="square" lIns="0" tIns="0" rIns="0" bIns="0" rtlCol="0"/>
            <a:lstStyle/>
            <a:p/>
          </p:txBody>
        </p:sp>
      </p:grpSp>
      <p:sp>
        <p:nvSpPr>
          <p:cNvPr id="43" name="object 43" descr=""/>
          <p:cNvSpPr txBox="1"/>
          <p:nvPr/>
        </p:nvSpPr>
        <p:spPr>
          <a:xfrm>
            <a:off x="1483280" y="4703998"/>
            <a:ext cx="6231890" cy="238760"/>
          </a:xfrm>
          <a:prstGeom prst="rect">
            <a:avLst/>
          </a:prstGeom>
        </p:spPr>
        <p:txBody>
          <a:bodyPr wrap="square" lIns="0" tIns="12065" rIns="0" bIns="0" rtlCol="0" vert="horz">
            <a:spAutoFit/>
          </a:bodyPr>
          <a:lstStyle/>
          <a:p>
            <a:pPr marL="12700">
              <a:lnSpc>
                <a:spcPct val="100000"/>
              </a:lnSpc>
              <a:spcBef>
                <a:spcPts val="95"/>
              </a:spcBef>
            </a:pPr>
            <a:r>
              <a:rPr dirty="0" sz="1400" spc="-20" b="1">
                <a:solidFill>
                  <a:srgbClr val="FF0000"/>
                </a:solidFill>
                <a:latin typeface="Microsoft YaHei"/>
                <a:cs typeface="Microsoft YaHei"/>
              </a:rPr>
              <a:t>LTE</a:t>
            </a:r>
            <a:r>
              <a:rPr dirty="0" sz="1400" spc="-10" b="1">
                <a:solidFill>
                  <a:srgbClr val="FF0000"/>
                </a:solidFill>
                <a:latin typeface="Microsoft YaHei"/>
                <a:cs typeface="Microsoft YaHei"/>
              </a:rPr>
              <a:t> 开启</a:t>
            </a:r>
            <a:r>
              <a:rPr dirty="0" sz="1400" spc="-25" b="1">
                <a:solidFill>
                  <a:srgbClr val="FF0000"/>
                </a:solidFill>
                <a:latin typeface="Microsoft YaHei"/>
                <a:cs typeface="Microsoft YaHei"/>
              </a:rPr>
              <a:t>VoLTE，2/3G 逐步退网，频段重耕，</a:t>
            </a:r>
            <a:r>
              <a:rPr dirty="0" sz="1400" spc="-40" b="1">
                <a:solidFill>
                  <a:srgbClr val="FF0000"/>
                </a:solidFill>
                <a:latin typeface="Microsoft YaHei"/>
                <a:cs typeface="Microsoft YaHei"/>
              </a:rPr>
              <a:t>LTE</a:t>
            </a:r>
            <a:r>
              <a:rPr dirty="0" sz="1400" spc="-20" b="1">
                <a:solidFill>
                  <a:srgbClr val="FF0000"/>
                </a:solidFill>
                <a:latin typeface="Microsoft YaHei"/>
                <a:cs typeface="Microsoft YaHei"/>
              </a:rPr>
              <a:t>作为基础网络与NR</a:t>
            </a:r>
            <a:r>
              <a:rPr dirty="0" sz="1400" spc="-30" b="1">
                <a:solidFill>
                  <a:srgbClr val="FF0000"/>
                </a:solidFill>
                <a:latin typeface="Microsoft YaHei"/>
                <a:cs typeface="Microsoft YaHei"/>
              </a:rPr>
              <a:t>长期共存</a:t>
            </a:r>
            <a:endParaRPr sz="1400">
              <a:latin typeface="Microsoft YaHei"/>
              <a:cs typeface="Microsoft YaHe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429000" y="971550"/>
            <a:ext cx="45720" cy="3759200"/>
          </a:xfrm>
          <a:custGeom>
            <a:avLst/>
            <a:gdLst/>
            <a:ahLst/>
            <a:cxnLst/>
            <a:rect l="l" t="t" r="r" b="b"/>
            <a:pathLst>
              <a:path w="45720" h="3759200">
                <a:moveTo>
                  <a:pt x="0" y="0"/>
                </a:moveTo>
                <a:lnTo>
                  <a:pt x="45720" y="3758806"/>
                </a:lnTo>
              </a:path>
            </a:pathLst>
          </a:custGeom>
          <a:ln w="34924">
            <a:solidFill>
              <a:srgbClr val="000000"/>
            </a:solidFill>
          </a:ln>
        </p:spPr>
        <p:txBody>
          <a:bodyPr wrap="square" lIns="0" tIns="0" rIns="0" bIns="0" rtlCol="0"/>
          <a:lstStyle/>
          <a:p/>
        </p:txBody>
      </p:sp>
      <p:grpSp>
        <p:nvGrpSpPr>
          <p:cNvPr id="3" name="object 3" descr=""/>
          <p:cNvGrpSpPr/>
          <p:nvPr/>
        </p:nvGrpSpPr>
        <p:grpSpPr>
          <a:xfrm>
            <a:off x="3727450" y="1614091"/>
            <a:ext cx="4660900" cy="498475"/>
            <a:chOff x="3727450" y="1614091"/>
            <a:chExt cx="4660900" cy="498475"/>
          </a:xfrm>
        </p:grpSpPr>
        <p:pic>
          <p:nvPicPr>
            <p:cNvPr id="4" name="object 4" descr=""/>
            <p:cNvPicPr/>
            <p:nvPr/>
          </p:nvPicPr>
          <p:blipFill>
            <a:blip r:embed="rId2" cstate="print"/>
            <a:stretch>
              <a:fillRect/>
            </a:stretch>
          </p:blipFill>
          <p:spPr>
            <a:xfrm>
              <a:off x="3733800" y="1620441"/>
              <a:ext cx="4648200" cy="485775"/>
            </a:xfrm>
            <a:prstGeom prst="rect">
              <a:avLst/>
            </a:prstGeom>
          </p:spPr>
        </p:pic>
        <p:sp>
          <p:nvSpPr>
            <p:cNvPr id="5" name="object 5" descr=""/>
            <p:cNvSpPr/>
            <p:nvPr/>
          </p:nvSpPr>
          <p:spPr>
            <a:xfrm>
              <a:off x="3733800" y="16204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727450" y="2261791"/>
            <a:ext cx="4660900" cy="498475"/>
            <a:chOff x="3727450" y="2261791"/>
            <a:chExt cx="4660900" cy="498475"/>
          </a:xfrm>
        </p:grpSpPr>
        <p:pic>
          <p:nvPicPr>
            <p:cNvPr id="7" name="object 7" descr=""/>
            <p:cNvPicPr/>
            <p:nvPr/>
          </p:nvPicPr>
          <p:blipFill>
            <a:blip r:embed="rId3" cstate="print"/>
            <a:stretch>
              <a:fillRect/>
            </a:stretch>
          </p:blipFill>
          <p:spPr>
            <a:xfrm>
              <a:off x="3733800" y="2268141"/>
              <a:ext cx="4648200" cy="485775"/>
            </a:xfrm>
            <a:prstGeom prst="rect">
              <a:avLst/>
            </a:prstGeom>
          </p:spPr>
        </p:pic>
        <p:sp>
          <p:nvSpPr>
            <p:cNvPr id="8" name="object 8" descr=""/>
            <p:cNvSpPr/>
            <p:nvPr/>
          </p:nvSpPr>
          <p:spPr>
            <a:xfrm>
              <a:off x="3733800" y="22681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727450" y="965200"/>
            <a:ext cx="4660900" cy="498475"/>
            <a:chOff x="3727450" y="965200"/>
            <a:chExt cx="4660900" cy="498475"/>
          </a:xfrm>
        </p:grpSpPr>
        <p:pic>
          <p:nvPicPr>
            <p:cNvPr id="10" name="object 10" descr=""/>
            <p:cNvPicPr/>
            <p:nvPr/>
          </p:nvPicPr>
          <p:blipFill>
            <a:blip r:embed="rId4" cstate="print"/>
            <a:stretch>
              <a:fillRect/>
            </a:stretch>
          </p:blipFill>
          <p:spPr>
            <a:xfrm>
              <a:off x="3733800" y="971550"/>
              <a:ext cx="4648200" cy="485775"/>
            </a:xfrm>
            <a:prstGeom prst="rect">
              <a:avLst/>
            </a:prstGeom>
          </p:spPr>
        </p:pic>
        <p:sp>
          <p:nvSpPr>
            <p:cNvPr id="11" name="object 11" descr=""/>
            <p:cNvSpPr/>
            <p:nvPr/>
          </p:nvSpPr>
          <p:spPr>
            <a:xfrm>
              <a:off x="3733800" y="971550"/>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174619" y="39229"/>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主</a:t>
            </a:r>
            <a:r>
              <a:rPr dirty="0" sz="4400"/>
              <a:t>	</a:t>
            </a:r>
            <a:r>
              <a:rPr dirty="0" sz="4400" spc="-50"/>
              <a:t>要</a:t>
            </a:r>
            <a:r>
              <a:rPr dirty="0" sz="4400"/>
              <a:t>	</a:t>
            </a:r>
            <a:r>
              <a:rPr dirty="0" sz="4400" spc="-50"/>
              <a:t>内</a:t>
            </a:r>
            <a:r>
              <a:rPr dirty="0" sz="4400"/>
              <a:t>	</a:t>
            </a:r>
            <a:r>
              <a:rPr dirty="0" sz="4400" spc="-50"/>
              <a:t>容</a:t>
            </a:r>
            <a:endParaRPr sz="4400"/>
          </a:p>
        </p:txBody>
      </p:sp>
      <p:grpSp>
        <p:nvGrpSpPr>
          <p:cNvPr id="13" name="object 13" descr=""/>
          <p:cNvGrpSpPr/>
          <p:nvPr/>
        </p:nvGrpSpPr>
        <p:grpSpPr>
          <a:xfrm>
            <a:off x="3727450" y="2909491"/>
            <a:ext cx="4660900" cy="498475"/>
            <a:chOff x="3727450" y="2909491"/>
            <a:chExt cx="4660900" cy="498475"/>
          </a:xfrm>
        </p:grpSpPr>
        <p:pic>
          <p:nvPicPr>
            <p:cNvPr id="14" name="object 14" descr=""/>
            <p:cNvPicPr/>
            <p:nvPr/>
          </p:nvPicPr>
          <p:blipFill>
            <a:blip r:embed="rId3" cstate="print"/>
            <a:stretch>
              <a:fillRect/>
            </a:stretch>
          </p:blipFill>
          <p:spPr>
            <a:xfrm>
              <a:off x="3733800" y="2915841"/>
              <a:ext cx="4648200" cy="485775"/>
            </a:xfrm>
            <a:prstGeom prst="rect">
              <a:avLst/>
            </a:prstGeom>
          </p:spPr>
        </p:pic>
        <p:sp>
          <p:nvSpPr>
            <p:cNvPr id="15" name="object 15" descr=""/>
            <p:cNvSpPr/>
            <p:nvPr/>
          </p:nvSpPr>
          <p:spPr>
            <a:xfrm>
              <a:off x="3733800" y="29158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6" name="object 16" descr=""/>
          <p:cNvGrpSpPr/>
          <p:nvPr/>
        </p:nvGrpSpPr>
        <p:grpSpPr>
          <a:xfrm>
            <a:off x="3727450" y="3557189"/>
            <a:ext cx="4660900" cy="498475"/>
            <a:chOff x="3727450" y="3557189"/>
            <a:chExt cx="4660900" cy="498475"/>
          </a:xfrm>
        </p:grpSpPr>
        <p:pic>
          <p:nvPicPr>
            <p:cNvPr id="17" name="object 17" descr=""/>
            <p:cNvPicPr/>
            <p:nvPr/>
          </p:nvPicPr>
          <p:blipFill>
            <a:blip r:embed="rId5" cstate="print"/>
            <a:stretch>
              <a:fillRect/>
            </a:stretch>
          </p:blipFill>
          <p:spPr>
            <a:xfrm>
              <a:off x="3733800" y="3563539"/>
              <a:ext cx="4648200" cy="485775"/>
            </a:xfrm>
            <a:prstGeom prst="rect">
              <a:avLst/>
            </a:prstGeom>
          </p:spPr>
        </p:pic>
        <p:sp>
          <p:nvSpPr>
            <p:cNvPr id="18" name="object 18" descr=""/>
            <p:cNvSpPr/>
            <p:nvPr/>
          </p:nvSpPr>
          <p:spPr>
            <a:xfrm>
              <a:off x="3733800" y="3563539"/>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4"/>
                  </a:lnTo>
                  <a:lnTo>
                    <a:pt x="80962" y="485774"/>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9" name="object 19" descr=""/>
          <p:cNvGrpSpPr/>
          <p:nvPr/>
        </p:nvGrpSpPr>
        <p:grpSpPr>
          <a:xfrm>
            <a:off x="3727450" y="4238228"/>
            <a:ext cx="4660900" cy="498475"/>
            <a:chOff x="3727450" y="4238228"/>
            <a:chExt cx="4660900" cy="498475"/>
          </a:xfrm>
        </p:grpSpPr>
        <p:pic>
          <p:nvPicPr>
            <p:cNvPr id="20" name="object 20" descr=""/>
            <p:cNvPicPr/>
            <p:nvPr/>
          </p:nvPicPr>
          <p:blipFill>
            <a:blip r:embed="rId6" cstate="print"/>
            <a:stretch>
              <a:fillRect/>
            </a:stretch>
          </p:blipFill>
          <p:spPr>
            <a:xfrm>
              <a:off x="3733800" y="4244578"/>
              <a:ext cx="4648200" cy="485775"/>
            </a:xfrm>
            <a:prstGeom prst="rect">
              <a:avLst/>
            </a:prstGeom>
          </p:spPr>
        </p:pic>
        <p:sp>
          <p:nvSpPr>
            <p:cNvPr id="21" name="object 21" descr=""/>
            <p:cNvSpPr/>
            <p:nvPr/>
          </p:nvSpPr>
          <p:spPr>
            <a:xfrm>
              <a:off x="3733800" y="4244578"/>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3836253" y="1007427"/>
            <a:ext cx="4072890" cy="3664585"/>
          </a:xfrm>
          <a:prstGeom prst="rect">
            <a:avLst/>
          </a:prstGeom>
        </p:spPr>
        <p:txBody>
          <a:bodyPr wrap="square" lIns="0" tIns="12700" rIns="0" bIns="0" rtlCol="0" vert="horz">
            <a:spAutoFit/>
          </a:bodyPr>
          <a:lstStyle/>
          <a:p>
            <a:pPr marL="12700">
              <a:lnSpc>
                <a:spcPct val="100000"/>
              </a:lnSpc>
              <a:spcBef>
                <a:spcPts val="100"/>
              </a:spcBef>
            </a:pPr>
            <a:r>
              <a:rPr dirty="0" sz="2400">
                <a:latin typeface="Microsoft YaHei"/>
                <a:cs typeface="Microsoft YaHei"/>
              </a:rPr>
              <a:t>一、</a:t>
            </a:r>
            <a:r>
              <a:rPr dirty="0" sz="2400" spc="-20">
                <a:latin typeface="Times New Roman"/>
                <a:cs typeface="Times New Roman"/>
              </a:rPr>
              <a:t>5G</a:t>
            </a:r>
            <a:r>
              <a:rPr dirty="0" sz="2400" spc="-5">
                <a:latin typeface="Microsoft YaHei"/>
                <a:cs typeface="Microsoft YaHei"/>
              </a:rPr>
              <a:t>系统无线网络规划概述</a:t>
            </a:r>
            <a:endParaRPr sz="2400">
              <a:latin typeface="Microsoft YaHei"/>
              <a:cs typeface="Microsoft YaHei"/>
            </a:endParaRPr>
          </a:p>
          <a:p>
            <a:pPr algn="just" marL="12700" marR="5080">
              <a:lnSpc>
                <a:spcPct val="177100"/>
              </a:lnSpc>
              <a:spcBef>
                <a:spcPts val="5"/>
              </a:spcBef>
            </a:pPr>
            <a:r>
              <a:rPr dirty="0" sz="2400" b="1">
                <a:solidFill>
                  <a:srgbClr val="FF0000"/>
                </a:solidFill>
                <a:latin typeface="Microsoft YaHei"/>
                <a:cs typeface="Microsoft YaHei"/>
              </a:rPr>
              <a:t>二、</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系统无线网络规划过程</a:t>
            </a:r>
            <a:r>
              <a:rPr dirty="0" sz="2400">
                <a:latin typeface="Microsoft YaHei"/>
                <a:cs typeface="Microsoft YaHei"/>
              </a:rPr>
              <a:t>三、</a:t>
            </a:r>
            <a:r>
              <a:rPr dirty="0" sz="2400" spc="-20">
                <a:latin typeface="Times New Roman"/>
                <a:cs typeface="Times New Roman"/>
              </a:rPr>
              <a:t>5G</a:t>
            </a:r>
            <a:r>
              <a:rPr dirty="0" sz="2400" spc="-5">
                <a:latin typeface="Microsoft YaHei"/>
                <a:cs typeface="Microsoft YaHei"/>
              </a:rPr>
              <a:t>无线网络宏站组网策略</a:t>
            </a:r>
            <a:r>
              <a:rPr dirty="0" sz="2400">
                <a:latin typeface="Microsoft YaHei"/>
                <a:cs typeface="Microsoft YaHei"/>
              </a:rPr>
              <a:t>四、</a:t>
            </a:r>
            <a:r>
              <a:rPr dirty="0" sz="2400" spc="-20">
                <a:latin typeface="Times New Roman"/>
                <a:cs typeface="Times New Roman"/>
              </a:rPr>
              <a:t>5G</a:t>
            </a:r>
            <a:r>
              <a:rPr dirty="0" sz="2400" spc="-5">
                <a:latin typeface="Microsoft YaHei"/>
                <a:cs typeface="Microsoft YaHei"/>
              </a:rPr>
              <a:t>无线网络微站组网策略</a:t>
            </a:r>
            <a:r>
              <a:rPr dirty="0" sz="2400">
                <a:latin typeface="Microsoft YaHei"/>
                <a:cs typeface="Microsoft YaHei"/>
              </a:rPr>
              <a:t>五、</a:t>
            </a:r>
            <a:r>
              <a:rPr dirty="0" sz="2400" spc="-20">
                <a:latin typeface="Times New Roman"/>
                <a:cs typeface="Times New Roman"/>
              </a:rPr>
              <a:t>5G</a:t>
            </a:r>
            <a:r>
              <a:rPr dirty="0" sz="2400" spc="-5">
                <a:latin typeface="Microsoft YaHei"/>
                <a:cs typeface="Microsoft YaHei"/>
              </a:rPr>
              <a:t>无线网络室分组网策略</a:t>
            </a:r>
            <a:endParaRPr sz="2400">
              <a:latin typeface="Microsoft YaHei"/>
              <a:cs typeface="Microsoft YaHei"/>
            </a:endParaRPr>
          </a:p>
          <a:p>
            <a:pPr marL="12700">
              <a:lnSpc>
                <a:spcPct val="100000"/>
              </a:lnSpc>
              <a:spcBef>
                <a:spcPts val="2485"/>
              </a:spcBef>
            </a:pPr>
            <a:r>
              <a:rPr dirty="0" sz="2400">
                <a:latin typeface="Microsoft YaHei"/>
                <a:cs typeface="Microsoft YaHei"/>
              </a:rPr>
              <a:t>六、</a:t>
            </a:r>
            <a:r>
              <a:rPr dirty="0" sz="2400" spc="-20">
                <a:latin typeface="Times New Roman"/>
                <a:cs typeface="Times New Roman"/>
              </a:rPr>
              <a:t>5G</a:t>
            </a:r>
            <a:r>
              <a:rPr dirty="0" sz="2400" spc="-5">
                <a:latin typeface="Microsoft YaHei"/>
                <a:cs typeface="Microsoft YaHei"/>
              </a:rPr>
              <a:t>无线网络现场测试分享</a:t>
            </a:r>
            <a:endParaRPr sz="2400">
              <a:latin typeface="Microsoft YaHei"/>
              <a:cs typeface="Microsoft YaHei"/>
            </a:endParaRPr>
          </a:p>
        </p:txBody>
      </p:sp>
      <p:pic>
        <p:nvPicPr>
          <p:cNvPr id="23" name="object 23"/>
          <p:cNvPicPr/>
          <p:nvPr/>
        </p:nvPicPr>
        <p:blipFill>
          <a:blip r:embed="rId7" cstate="print"/>
          <a:stretch>
            <a:fillRect/>
          </a:stretch>
        </p:blipFill>
        <p:spPr>
          <a:xfrm>
            <a:off x="179400" y="971550"/>
            <a:ext cx="3097199" cy="378621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1000" y="819150"/>
            <a:ext cx="8405825" cy="4133755"/>
          </a:xfrm>
          <a:prstGeom prst="rect">
            <a:avLst/>
          </a:prstGeom>
        </p:spPr>
      </p:pic>
      <p:sp>
        <p:nvSpPr>
          <p:cNvPr id="3" name="object 3"/>
          <p:cNvSpPr txBox="1">
            <a:spLocks noGrp="1"/>
          </p:cNvSpPr>
          <p:nvPr>
            <p:ph type="title"/>
          </p:nvPr>
        </p:nvSpPr>
        <p:spPr>
          <a:xfrm>
            <a:off x="2817806" y="161391"/>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网络规划建设步骤</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8200" y="861790"/>
            <a:ext cx="7541042" cy="4069161"/>
          </a:xfrm>
          <a:prstGeom prst="rect">
            <a:avLst/>
          </a:prstGeom>
        </p:spPr>
      </p:pic>
      <p:sp>
        <p:nvSpPr>
          <p:cNvPr id="3" name="object 3"/>
          <p:cNvSpPr txBox="1">
            <a:spLocks noGrp="1"/>
          </p:cNvSpPr>
          <p:nvPr>
            <p:ph type="title"/>
          </p:nvPr>
        </p:nvSpPr>
        <p:spPr>
          <a:xfrm>
            <a:off x="2284406" y="123291"/>
            <a:ext cx="5017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网络规划需要考虑的因素</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9600" y="998934"/>
            <a:ext cx="7973782" cy="3942322"/>
          </a:xfrm>
          <a:prstGeom prst="rect">
            <a:avLst/>
          </a:prstGeom>
        </p:spPr>
      </p:pic>
      <p:sp>
        <p:nvSpPr>
          <p:cNvPr id="3" name="object 3"/>
          <p:cNvSpPr txBox="1">
            <a:spLocks noGrp="1"/>
          </p:cNvSpPr>
          <p:nvPr>
            <p:ph type="title"/>
          </p:nvPr>
        </p:nvSpPr>
        <p:spPr>
          <a:xfrm>
            <a:off x="2317140" y="123291"/>
            <a:ext cx="472376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35"/>
              <a:t>网络与</a:t>
            </a:r>
            <a:r>
              <a:rPr dirty="0" spc="-30">
                <a:latin typeface="Times New Roman"/>
                <a:cs typeface="Times New Roman"/>
              </a:rPr>
              <a:t>4G</a:t>
            </a:r>
            <a:r>
              <a:rPr dirty="0" spc="-45"/>
              <a:t>网络规划差异</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3400" y="819150"/>
            <a:ext cx="8135800" cy="4173147"/>
          </a:xfrm>
          <a:prstGeom prst="rect">
            <a:avLst/>
          </a:prstGeom>
        </p:spPr>
      </p:pic>
      <p:sp>
        <p:nvSpPr>
          <p:cNvPr id="3" name="object 3"/>
          <p:cNvSpPr txBox="1">
            <a:spLocks noGrp="1"/>
          </p:cNvSpPr>
          <p:nvPr>
            <p:ph type="title"/>
          </p:nvPr>
        </p:nvSpPr>
        <p:spPr>
          <a:xfrm>
            <a:off x="2209609" y="123291"/>
            <a:ext cx="472376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35"/>
              <a:t>网络与</a:t>
            </a:r>
            <a:r>
              <a:rPr dirty="0" spc="-30">
                <a:latin typeface="Times New Roman"/>
                <a:cs typeface="Times New Roman"/>
              </a:rPr>
              <a:t>4G</a:t>
            </a:r>
            <a:r>
              <a:rPr dirty="0" spc="-45"/>
              <a:t>网络规划差异</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4800" y="895350"/>
            <a:ext cx="8081784" cy="4088320"/>
          </a:xfrm>
          <a:prstGeom prst="rect">
            <a:avLst/>
          </a:prstGeom>
        </p:spPr>
      </p:pic>
      <p:sp>
        <p:nvSpPr>
          <p:cNvPr id="3" name="object 3"/>
          <p:cNvSpPr txBox="1">
            <a:spLocks noGrp="1"/>
          </p:cNvSpPr>
          <p:nvPr>
            <p:ph type="title"/>
          </p:nvPr>
        </p:nvSpPr>
        <p:spPr>
          <a:xfrm>
            <a:off x="3110414" y="123291"/>
            <a:ext cx="2985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网络参数规划</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1000" y="904484"/>
            <a:ext cx="8154905" cy="4053371"/>
          </a:xfrm>
          <a:prstGeom prst="rect">
            <a:avLst/>
          </a:prstGeom>
        </p:spPr>
      </p:pic>
      <p:sp>
        <p:nvSpPr>
          <p:cNvPr id="3" name="object 3"/>
          <p:cNvSpPr txBox="1">
            <a:spLocks noGrp="1"/>
          </p:cNvSpPr>
          <p:nvPr>
            <p:ph type="title"/>
          </p:nvPr>
        </p:nvSpPr>
        <p:spPr>
          <a:xfrm>
            <a:off x="3072314" y="123291"/>
            <a:ext cx="2985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网络参数规划</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200" y="819150"/>
            <a:ext cx="8351823" cy="4131614"/>
          </a:xfrm>
          <a:prstGeom prst="rect">
            <a:avLst/>
          </a:prstGeom>
        </p:spPr>
      </p:pic>
      <p:sp>
        <p:nvSpPr>
          <p:cNvPr id="3" name="object 3"/>
          <p:cNvSpPr txBox="1">
            <a:spLocks noGrp="1"/>
          </p:cNvSpPr>
          <p:nvPr>
            <p:ph type="title"/>
          </p:nvPr>
        </p:nvSpPr>
        <p:spPr>
          <a:xfrm>
            <a:off x="2970206" y="123291"/>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50"/>
              <a:t>网络使用频段影响</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6893" y="105966"/>
            <a:ext cx="275971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5GNR</a:t>
            </a:r>
            <a:r>
              <a:rPr dirty="0" spc="-40"/>
              <a:t>覆盖分析</a:t>
            </a:r>
          </a:p>
        </p:txBody>
      </p:sp>
      <p:grpSp>
        <p:nvGrpSpPr>
          <p:cNvPr id="3" name="object 3" descr=""/>
          <p:cNvGrpSpPr/>
          <p:nvPr/>
        </p:nvGrpSpPr>
        <p:grpSpPr>
          <a:xfrm>
            <a:off x="457771" y="1329499"/>
            <a:ext cx="8399145" cy="995044"/>
            <a:chOff x="457771" y="1329499"/>
            <a:chExt cx="8399145" cy="995044"/>
          </a:xfrm>
        </p:grpSpPr>
        <p:sp>
          <p:nvSpPr>
            <p:cNvPr id="4" name="object 4" descr=""/>
            <p:cNvSpPr/>
            <p:nvPr/>
          </p:nvSpPr>
          <p:spPr>
            <a:xfrm>
              <a:off x="462533" y="1334261"/>
              <a:ext cx="8389620" cy="814705"/>
            </a:xfrm>
            <a:custGeom>
              <a:avLst/>
              <a:gdLst/>
              <a:ahLst/>
              <a:cxnLst/>
              <a:rect l="l" t="t" r="r" b="b"/>
              <a:pathLst>
                <a:path w="8389620" h="814705">
                  <a:moveTo>
                    <a:pt x="0" y="814577"/>
                  </a:moveTo>
                  <a:lnTo>
                    <a:pt x="8389620" y="814577"/>
                  </a:lnTo>
                </a:path>
                <a:path w="8389620" h="814705">
                  <a:moveTo>
                    <a:pt x="0" y="652271"/>
                  </a:moveTo>
                  <a:lnTo>
                    <a:pt x="8389620" y="652271"/>
                  </a:lnTo>
                </a:path>
                <a:path w="8389620" h="814705">
                  <a:moveTo>
                    <a:pt x="0" y="489203"/>
                  </a:moveTo>
                  <a:lnTo>
                    <a:pt x="8389620" y="489203"/>
                  </a:lnTo>
                </a:path>
                <a:path w="8389620" h="814705">
                  <a:moveTo>
                    <a:pt x="0" y="326135"/>
                  </a:moveTo>
                  <a:lnTo>
                    <a:pt x="8389620" y="326135"/>
                  </a:lnTo>
                </a:path>
                <a:path w="8389620" h="814705">
                  <a:moveTo>
                    <a:pt x="0" y="163067"/>
                  </a:moveTo>
                  <a:lnTo>
                    <a:pt x="8389620" y="163067"/>
                  </a:lnTo>
                </a:path>
                <a:path w="8389620" h="814705">
                  <a:moveTo>
                    <a:pt x="0" y="0"/>
                  </a:moveTo>
                  <a:lnTo>
                    <a:pt x="8389620" y="0"/>
                  </a:lnTo>
                </a:path>
              </a:pathLst>
            </a:custGeom>
            <a:ln w="9144">
              <a:solidFill>
                <a:srgbClr val="F2F2F2"/>
              </a:solidFill>
            </a:ln>
          </p:spPr>
          <p:txBody>
            <a:bodyPr wrap="square" lIns="0" tIns="0" rIns="0" bIns="0" rtlCol="0"/>
            <a:lstStyle/>
            <a:p/>
          </p:txBody>
        </p:sp>
        <p:pic>
          <p:nvPicPr>
            <p:cNvPr id="5" name="object 5" descr=""/>
            <p:cNvPicPr/>
            <p:nvPr/>
          </p:nvPicPr>
          <p:blipFill>
            <a:blip r:embed="rId2" cstate="print"/>
            <a:stretch>
              <a:fillRect/>
            </a:stretch>
          </p:blipFill>
          <p:spPr>
            <a:xfrm>
              <a:off x="512825" y="1376933"/>
              <a:ext cx="8095475" cy="947610"/>
            </a:xfrm>
            <a:prstGeom prst="rect">
              <a:avLst/>
            </a:prstGeom>
          </p:spPr>
        </p:pic>
        <p:pic>
          <p:nvPicPr>
            <p:cNvPr id="6" name="object 6" descr=""/>
            <p:cNvPicPr/>
            <p:nvPr/>
          </p:nvPicPr>
          <p:blipFill>
            <a:blip r:embed="rId3" cstate="print"/>
            <a:stretch>
              <a:fillRect/>
            </a:stretch>
          </p:blipFill>
          <p:spPr>
            <a:xfrm>
              <a:off x="622554" y="1334820"/>
              <a:ext cx="8094724" cy="989723"/>
            </a:xfrm>
            <a:prstGeom prst="rect">
              <a:avLst/>
            </a:prstGeom>
          </p:spPr>
        </p:pic>
        <p:pic>
          <p:nvPicPr>
            <p:cNvPr id="7" name="object 7" descr=""/>
            <p:cNvPicPr/>
            <p:nvPr/>
          </p:nvPicPr>
          <p:blipFill>
            <a:blip r:embed="rId4" cstate="print"/>
            <a:stretch>
              <a:fillRect/>
            </a:stretch>
          </p:blipFill>
          <p:spPr>
            <a:xfrm>
              <a:off x="731519" y="1614677"/>
              <a:ext cx="8095487" cy="709866"/>
            </a:xfrm>
            <a:prstGeom prst="rect">
              <a:avLst/>
            </a:prstGeom>
          </p:spPr>
        </p:pic>
        <p:pic>
          <p:nvPicPr>
            <p:cNvPr id="8" name="object 8" descr=""/>
            <p:cNvPicPr/>
            <p:nvPr/>
          </p:nvPicPr>
          <p:blipFill>
            <a:blip r:embed="rId5" cstate="print"/>
            <a:stretch>
              <a:fillRect/>
            </a:stretch>
          </p:blipFill>
          <p:spPr>
            <a:xfrm>
              <a:off x="556767" y="2087117"/>
              <a:ext cx="86106" cy="224853"/>
            </a:xfrm>
            <a:prstGeom prst="rect">
              <a:avLst/>
            </a:prstGeom>
          </p:spPr>
        </p:pic>
        <p:pic>
          <p:nvPicPr>
            <p:cNvPr id="9" name="object 9" descr=""/>
            <p:cNvPicPr/>
            <p:nvPr/>
          </p:nvPicPr>
          <p:blipFill>
            <a:blip r:embed="rId6" cstate="print"/>
            <a:stretch>
              <a:fillRect/>
            </a:stretch>
          </p:blipFill>
          <p:spPr>
            <a:xfrm>
              <a:off x="1050543" y="2043683"/>
              <a:ext cx="86106" cy="268287"/>
            </a:xfrm>
            <a:prstGeom prst="rect">
              <a:avLst/>
            </a:prstGeom>
          </p:spPr>
        </p:pic>
        <p:pic>
          <p:nvPicPr>
            <p:cNvPr id="10" name="object 10" descr=""/>
            <p:cNvPicPr/>
            <p:nvPr/>
          </p:nvPicPr>
          <p:blipFill>
            <a:blip r:embed="rId7" cstate="print"/>
            <a:stretch>
              <a:fillRect/>
            </a:stretch>
          </p:blipFill>
          <p:spPr>
            <a:xfrm>
              <a:off x="1543558" y="1987295"/>
              <a:ext cx="86105" cy="324675"/>
            </a:xfrm>
            <a:prstGeom prst="rect">
              <a:avLst/>
            </a:prstGeom>
          </p:spPr>
        </p:pic>
        <p:pic>
          <p:nvPicPr>
            <p:cNvPr id="11" name="object 11" descr=""/>
            <p:cNvPicPr/>
            <p:nvPr/>
          </p:nvPicPr>
          <p:blipFill>
            <a:blip r:embed="rId8" cstate="print"/>
            <a:stretch>
              <a:fillRect/>
            </a:stretch>
          </p:blipFill>
          <p:spPr>
            <a:xfrm>
              <a:off x="2037333" y="1924049"/>
              <a:ext cx="86106" cy="387921"/>
            </a:xfrm>
            <a:prstGeom prst="rect">
              <a:avLst/>
            </a:prstGeom>
          </p:spPr>
        </p:pic>
        <p:pic>
          <p:nvPicPr>
            <p:cNvPr id="12" name="object 12" descr=""/>
            <p:cNvPicPr/>
            <p:nvPr/>
          </p:nvPicPr>
          <p:blipFill>
            <a:blip r:embed="rId9" cstate="print"/>
            <a:stretch>
              <a:fillRect/>
            </a:stretch>
          </p:blipFill>
          <p:spPr>
            <a:xfrm>
              <a:off x="2531110" y="1848611"/>
              <a:ext cx="86106" cy="463359"/>
            </a:xfrm>
            <a:prstGeom prst="rect">
              <a:avLst/>
            </a:prstGeom>
          </p:spPr>
        </p:pic>
        <p:pic>
          <p:nvPicPr>
            <p:cNvPr id="13" name="object 13" descr=""/>
            <p:cNvPicPr/>
            <p:nvPr/>
          </p:nvPicPr>
          <p:blipFill>
            <a:blip r:embed="rId10" cstate="print"/>
            <a:stretch>
              <a:fillRect/>
            </a:stretch>
          </p:blipFill>
          <p:spPr>
            <a:xfrm>
              <a:off x="3024123" y="1773173"/>
              <a:ext cx="86106" cy="538797"/>
            </a:xfrm>
            <a:prstGeom prst="rect">
              <a:avLst/>
            </a:prstGeom>
          </p:spPr>
        </p:pic>
        <p:pic>
          <p:nvPicPr>
            <p:cNvPr id="14" name="object 14" descr=""/>
            <p:cNvPicPr/>
            <p:nvPr/>
          </p:nvPicPr>
          <p:blipFill>
            <a:blip r:embed="rId11" cstate="print"/>
            <a:stretch>
              <a:fillRect/>
            </a:stretch>
          </p:blipFill>
          <p:spPr>
            <a:xfrm>
              <a:off x="3517900" y="1720595"/>
              <a:ext cx="86105" cy="591375"/>
            </a:xfrm>
            <a:prstGeom prst="rect">
              <a:avLst/>
            </a:prstGeom>
          </p:spPr>
        </p:pic>
        <p:pic>
          <p:nvPicPr>
            <p:cNvPr id="15" name="object 15" descr=""/>
            <p:cNvPicPr/>
            <p:nvPr/>
          </p:nvPicPr>
          <p:blipFill>
            <a:blip r:embed="rId12" cstate="print"/>
            <a:stretch>
              <a:fillRect/>
            </a:stretch>
          </p:blipFill>
          <p:spPr>
            <a:xfrm>
              <a:off x="4010913" y="1696973"/>
              <a:ext cx="86105" cy="614997"/>
            </a:xfrm>
            <a:prstGeom prst="rect">
              <a:avLst/>
            </a:prstGeom>
          </p:spPr>
        </p:pic>
        <p:pic>
          <p:nvPicPr>
            <p:cNvPr id="16" name="object 16" descr=""/>
            <p:cNvPicPr/>
            <p:nvPr/>
          </p:nvPicPr>
          <p:blipFill>
            <a:blip r:embed="rId13" cstate="print"/>
            <a:stretch>
              <a:fillRect/>
            </a:stretch>
          </p:blipFill>
          <p:spPr>
            <a:xfrm>
              <a:off x="4504689" y="1765553"/>
              <a:ext cx="86105" cy="546417"/>
            </a:xfrm>
            <a:prstGeom prst="rect">
              <a:avLst/>
            </a:prstGeom>
          </p:spPr>
        </p:pic>
        <p:pic>
          <p:nvPicPr>
            <p:cNvPr id="17" name="object 17" descr=""/>
            <p:cNvPicPr/>
            <p:nvPr/>
          </p:nvPicPr>
          <p:blipFill>
            <a:blip r:embed="rId14" cstate="print"/>
            <a:stretch>
              <a:fillRect/>
            </a:stretch>
          </p:blipFill>
          <p:spPr>
            <a:xfrm>
              <a:off x="4998466" y="1881377"/>
              <a:ext cx="86105" cy="430593"/>
            </a:xfrm>
            <a:prstGeom prst="rect">
              <a:avLst/>
            </a:prstGeom>
          </p:spPr>
        </p:pic>
        <p:pic>
          <p:nvPicPr>
            <p:cNvPr id="18" name="object 18" descr=""/>
            <p:cNvPicPr/>
            <p:nvPr/>
          </p:nvPicPr>
          <p:blipFill>
            <a:blip r:embed="rId15" cstate="print"/>
            <a:stretch>
              <a:fillRect/>
            </a:stretch>
          </p:blipFill>
          <p:spPr>
            <a:xfrm>
              <a:off x="5491480" y="1883663"/>
              <a:ext cx="86105" cy="428307"/>
            </a:xfrm>
            <a:prstGeom prst="rect">
              <a:avLst/>
            </a:prstGeom>
          </p:spPr>
        </p:pic>
        <p:pic>
          <p:nvPicPr>
            <p:cNvPr id="19" name="object 19" descr=""/>
            <p:cNvPicPr/>
            <p:nvPr/>
          </p:nvPicPr>
          <p:blipFill>
            <a:blip r:embed="rId16" cstate="print"/>
            <a:stretch>
              <a:fillRect/>
            </a:stretch>
          </p:blipFill>
          <p:spPr>
            <a:xfrm>
              <a:off x="5985255" y="1965959"/>
              <a:ext cx="86105" cy="346011"/>
            </a:xfrm>
            <a:prstGeom prst="rect">
              <a:avLst/>
            </a:prstGeom>
          </p:spPr>
        </p:pic>
        <p:pic>
          <p:nvPicPr>
            <p:cNvPr id="20" name="object 20" descr=""/>
            <p:cNvPicPr/>
            <p:nvPr/>
          </p:nvPicPr>
          <p:blipFill>
            <a:blip r:embed="rId17" cstate="print"/>
            <a:stretch>
              <a:fillRect/>
            </a:stretch>
          </p:blipFill>
          <p:spPr>
            <a:xfrm>
              <a:off x="6972045" y="1844039"/>
              <a:ext cx="86105" cy="467931"/>
            </a:xfrm>
            <a:prstGeom prst="rect">
              <a:avLst/>
            </a:prstGeom>
          </p:spPr>
        </p:pic>
        <p:pic>
          <p:nvPicPr>
            <p:cNvPr id="21" name="object 21" descr=""/>
            <p:cNvPicPr/>
            <p:nvPr/>
          </p:nvPicPr>
          <p:blipFill>
            <a:blip r:embed="rId18" cstate="print"/>
            <a:stretch>
              <a:fillRect/>
            </a:stretch>
          </p:blipFill>
          <p:spPr>
            <a:xfrm>
              <a:off x="6479031" y="1891283"/>
              <a:ext cx="86106" cy="420687"/>
            </a:xfrm>
            <a:prstGeom prst="rect">
              <a:avLst/>
            </a:prstGeom>
          </p:spPr>
        </p:pic>
        <p:pic>
          <p:nvPicPr>
            <p:cNvPr id="22" name="object 22" descr=""/>
            <p:cNvPicPr/>
            <p:nvPr/>
          </p:nvPicPr>
          <p:blipFill>
            <a:blip r:embed="rId19" cstate="print"/>
            <a:stretch>
              <a:fillRect/>
            </a:stretch>
          </p:blipFill>
          <p:spPr>
            <a:xfrm>
              <a:off x="7465822" y="1433321"/>
              <a:ext cx="86105" cy="878649"/>
            </a:xfrm>
            <a:prstGeom prst="rect">
              <a:avLst/>
            </a:prstGeom>
          </p:spPr>
        </p:pic>
        <p:pic>
          <p:nvPicPr>
            <p:cNvPr id="23" name="object 23" descr=""/>
            <p:cNvPicPr/>
            <p:nvPr/>
          </p:nvPicPr>
          <p:blipFill>
            <a:blip r:embed="rId20" cstate="print"/>
            <a:stretch>
              <a:fillRect/>
            </a:stretch>
          </p:blipFill>
          <p:spPr>
            <a:xfrm>
              <a:off x="7959598" y="1624583"/>
              <a:ext cx="86105" cy="687387"/>
            </a:xfrm>
            <a:prstGeom prst="rect">
              <a:avLst/>
            </a:prstGeom>
          </p:spPr>
        </p:pic>
        <p:pic>
          <p:nvPicPr>
            <p:cNvPr id="24" name="object 24" descr=""/>
            <p:cNvPicPr/>
            <p:nvPr/>
          </p:nvPicPr>
          <p:blipFill>
            <a:blip r:embed="rId21" cstate="print"/>
            <a:stretch>
              <a:fillRect/>
            </a:stretch>
          </p:blipFill>
          <p:spPr>
            <a:xfrm>
              <a:off x="8452612" y="1756409"/>
              <a:ext cx="86105" cy="555561"/>
            </a:xfrm>
            <a:prstGeom prst="rect">
              <a:avLst/>
            </a:prstGeom>
          </p:spPr>
        </p:pic>
        <p:sp>
          <p:nvSpPr>
            <p:cNvPr id="25" name="object 25" descr=""/>
            <p:cNvSpPr/>
            <p:nvPr/>
          </p:nvSpPr>
          <p:spPr>
            <a:xfrm>
              <a:off x="556767" y="1433321"/>
              <a:ext cx="7981950" cy="878840"/>
            </a:xfrm>
            <a:custGeom>
              <a:avLst/>
              <a:gdLst/>
              <a:ahLst/>
              <a:cxnLst/>
              <a:rect l="l" t="t" r="r" b="b"/>
              <a:pathLst>
                <a:path w="7981950" h="878839">
                  <a:moveTo>
                    <a:pt x="0" y="653795"/>
                  </a:moveTo>
                  <a:lnTo>
                    <a:pt x="86106" y="653795"/>
                  </a:lnTo>
                  <a:lnTo>
                    <a:pt x="86106" y="878649"/>
                  </a:lnTo>
                  <a:lnTo>
                    <a:pt x="0" y="878649"/>
                  </a:lnTo>
                  <a:lnTo>
                    <a:pt x="0" y="653795"/>
                  </a:lnTo>
                  <a:close/>
                </a:path>
                <a:path w="7981950" h="878839">
                  <a:moveTo>
                    <a:pt x="493775" y="610361"/>
                  </a:moveTo>
                  <a:lnTo>
                    <a:pt x="579882" y="610361"/>
                  </a:lnTo>
                  <a:lnTo>
                    <a:pt x="579882" y="878649"/>
                  </a:lnTo>
                  <a:lnTo>
                    <a:pt x="493775" y="878649"/>
                  </a:lnTo>
                  <a:lnTo>
                    <a:pt x="493775" y="610361"/>
                  </a:lnTo>
                  <a:close/>
                </a:path>
                <a:path w="7981950" h="878839">
                  <a:moveTo>
                    <a:pt x="986790" y="553973"/>
                  </a:moveTo>
                  <a:lnTo>
                    <a:pt x="1072895" y="553973"/>
                  </a:lnTo>
                  <a:lnTo>
                    <a:pt x="1072895" y="878649"/>
                  </a:lnTo>
                  <a:lnTo>
                    <a:pt x="986790" y="878649"/>
                  </a:lnTo>
                  <a:lnTo>
                    <a:pt x="986790" y="553973"/>
                  </a:lnTo>
                  <a:close/>
                </a:path>
                <a:path w="7981950" h="878839">
                  <a:moveTo>
                    <a:pt x="1480565" y="490727"/>
                  </a:moveTo>
                  <a:lnTo>
                    <a:pt x="1566671" y="490727"/>
                  </a:lnTo>
                  <a:lnTo>
                    <a:pt x="1566671" y="878649"/>
                  </a:lnTo>
                  <a:lnTo>
                    <a:pt x="1480565" y="878649"/>
                  </a:lnTo>
                  <a:lnTo>
                    <a:pt x="1480565" y="490727"/>
                  </a:lnTo>
                  <a:close/>
                </a:path>
                <a:path w="7981950" h="878839">
                  <a:moveTo>
                    <a:pt x="1974342" y="415289"/>
                  </a:moveTo>
                  <a:lnTo>
                    <a:pt x="2060448" y="415289"/>
                  </a:lnTo>
                  <a:lnTo>
                    <a:pt x="2060448" y="878649"/>
                  </a:lnTo>
                  <a:lnTo>
                    <a:pt x="1974342" y="878649"/>
                  </a:lnTo>
                  <a:lnTo>
                    <a:pt x="1974342" y="415289"/>
                  </a:lnTo>
                  <a:close/>
                </a:path>
                <a:path w="7981950" h="878839">
                  <a:moveTo>
                    <a:pt x="2467356" y="339851"/>
                  </a:moveTo>
                  <a:lnTo>
                    <a:pt x="2553462" y="339851"/>
                  </a:lnTo>
                  <a:lnTo>
                    <a:pt x="2553462" y="878649"/>
                  </a:lnTo>
                  <a:lnTo>
                    <a:pt x="2467356" y="878649"/>
                  </a:lnTo>
                  <a:lnTo>
                    <a:pt x="2467356" y="339851"/>
                  </a:lnTo>
                  <a:close/>
                </a:path>
                <a:path w="7981950" h="878839">
                  <a:moveTo>
                    <a:pt x="2961132" y="287274"/>
                  </a:moveTo>
                  <a:lnTo>
                    <a:pt x="3047237" y="287274"/>
                  </a:lnTo>
                  <a:lnTo>
                    <a:pt x="3047237" y="878649"/>
                  </a:lnTo>
                  <a:lnTo>
                    <a:pt x="2961132" y="878649"/>
                  </a:lnTo>
                  <a:lnTo>
                    <a:pt x="2961132" y="287274"/>
                  </a:lnTo>
                  <a:close/>
                </a:path>
                <a:path w="7981950" h="878839">
                  <a:moveTo>
                    <a:pt x="3454146" y="263651"/>
                  </a:moveTo>
                  <a:lnTo>
                    <a:pt x="3540252" y="263651"/>
                  </a:lnTo>
                  <a:lnTo>
                    <a:pt x="3540252" y="878649"/>
                  </a:lnTo>
                  <a:lnTo>
                    <a:pt x="3454146" y="878649"/>
                  </a:lnTo>
                  <a:lnTo>
                    <a:pt x="3454146" y="263651"/>
                  </a:lnTo>
                  <a:close/>
                </a:path>
                <a:path w="7981950" h="878839">
                  <a:moveTo>
                    <a:pt x="3947922" y="332231"/>
                  </a:moveTo>
                  <a:lnTo>
                    <a:pt x="4034028" y="332231"/>
                  </a:lnTo>
                  <a:lnTo>
                    <a:pt x="4034028" y="878649"/>
                  </a:lnTo>
                  <a:lnTo>
                    <a:pt x="3947922" y="878649"/>
                  </a:lnTo>
                  <a:lnTo>
                    <a:pt x="3947922" y="332231"/>
                  </a:lnTo>
                  <a:close/>
                </a:path>
                <a:path w="7981950" h="878839">
                  <a:moveTo>
                    <a:pt x="4441698" y="448055"/>
                  </a:moveTo>
                  <a:lnTo>
                    <a:pt x="4527804" y="448055"/>
                  </a:lnTo>
                  <a:lnTo>
                    <a:pt x="4527804" y="878649"/>
                  </a:lnTo>
                  <a:lnTo>
                    <a:pt x="4441698" y="878649"/>
                  </a:lnTo>
                  <a:lnTo>
                    <a:pt x="4441698" y="448055"/>
                  </a:lnTo>
                  <a:close/>
                </a:path>
                <a:path w="7981950" h="878839">
                  <a:moveTo>
                    <a:pt x="4934711" y="450341"/>
                  </a:moveTo>
                  <a:lnTo>
                    <a:pt x="5020817" y="450341"/>
                  </a:lnTo>
                  <a:lnTo>
                    <a:pt x="5020817" y="878649"/>
                  </a:lnTo>
                  <a:lnTo>
                    <a:pt x="4934711" y="878649"/>
                  </a:lnTo>
                  <a:lnTo>
                    <a:pt x="4934711" y="450341"/>
                  </a:lnTo>
                  <a:close/>
                </a:path>
                <a:path w="7981950" h="878839">
                  <a:moveTo>
                    <a:pt x="5428487" y="532638"/>
                  </a:moveTo>
                  <a:lnTo>
                    <a:pt x="5514593" y="532638"/>
                  </a:lnTo>
                  <a:lnTo>
                    <a:pt x="5514593" y="878649"/>
                  </a:lnTo>
                  <a:lnTo>
                    <a:pt x="5428487" y="878649"/>
                  </a:lnTo>
                  <a:lnTo>
                    <a:pt x="5428487" y="532638"/>
                  </a:lnTo>
                  <a:close/>
                </a:path>
                <a:path w="7981950" h="878839">
                  <a:moveTo>
                    <a:pt x="5922264" y="457962"/>
                  </a:moveTo>
                  <a:lnTo>
                    <a:pt x="6008370" y="457962"/>
                  </a:lnTo>
                  <a:lnTo>
                    <a:pt x="6008370" y="878649"/>
                  </a:lnTo>
                  <a:lnTo>
                    <a:pt x="5922264" y="878649"/>
                  </a:lnTo>
                  <a:lnTo>
                    <a:pt x="5922264" y="457962"/>
                  </a:lnTo>
                  <a:close/>
                </a:path>
                <a:path w="7981950" h="878839">
                  <a:moveTo>
                    <a:pt x="6415278" y="410717"/>
                  </a:moveTo>
                  <a:lnTo>
                    <a:pt x="6501383" y="410717"/>
                  </a:lnTo>
                  <a:lnTo>
                    <a:pt x="6501383" y="878649"/>
                  </a:lnTo>
                  <a:lnTo>
                    <a:pt x="6415278" y="878649"/>
                  </a:lnTo>
                  <a:lnTo>
                    <a:pt x="6415278" y="410717"/>
                  </a:lnTo>
                  <a:close/>
                </a:path>
                <a:path w="7981950" h="878839">
                  <a:moveTo>
                    <a:pt x="6909054" y="0"/>
                  </a:moveTo>
                  <a:lnTo>
                    <a:pt x="6995159" y="0"/>
                  </a:lnTo>
                  <a:lnTo>
                    <a:pt x="6995159" y="878649"/>
                  </a:lnTo>
                  <a:lnTo>
                    <a:pt x="6909054" y="878649"/>
                  </a:lnTo>
                  <a:lnTo>
                    <a:pt x="6909054" y="0"/>
                  </a:lnTo>
                  <a:close/>
                </a:path>
                <a:path w="7981950" h="878839">
                  <a:moveTo>
                    <a:pt x="7402830" y="191262"/>
                  </a:moveTo>
                  <a:lnTo>
                    <a:pt x="7488935" y="191262"/>
                  </a:lnTo>
                  <a:lnTo>
                    <a:pt x="7488935" y="878649"/>
                  </a:lnTo>
                  <a:lnTo>
                    <a:pt x="7402830" y="878649"/>
                  </a:lnTo>
                  <a:lnTo>
                    <a:pt x="7402830" y="191262"/>
                  </a:lnTo>
                  <a:close/>
                </a:path>
                <a:path w="7981950" h="878839">
                  <a:moveTo>
                    <a:pt x="7895843" y="323088"/>
                  </a:moveTo>
                  <a:lnTo>
                    <a:pt x="7981949" y="323088"/>
                  </a:lnTo>
                  <a:lnTo>
                    <a:pt x="7981949" y="878649"/>
                  </a:lnTo>
                  <a:lnTo>
                    <a:pt x="7895843" y="878649"/>
                  </a:lnTo>
                  <a:lnTo>
                    <a:pt x="7895843" y="323088"/>
                  </a:lnTo>
                  <a:close/>
                </a:path>
              </a:pathLst>
            </a:custGeom>
            <a:ln w="9525">
              <a:solidFill>
                <a:srgbClr val="FFFFFF"/>
              </a:solidFill>
            </a:ln>
          </p:spPr>
          <p:txBody>
            <a:bodyPr wrap="square" lIns="0" tIns="0" rIns="0" bIns="0" rtlCol="0"/>
            <a:lstStyle/>
            <a:p/>
          </p:txBody>
        </p:sp>
        <p:pic>
          <p:nvPicPr>
            <p:cNvPr id="26" name="object 26" descr=""/>
            <p:cNvPicPr/>
            <p:nvPr/>
          </p:nvPicPr>
          <p:blipFill>
            <a:blip r:embed="rId22" cstate="print"/>
            <a:stretch>
              <a:fillRect/>
            </a:stretch>
          </p:blipFill>
          <p:spPr>
            <a:xfrm>
              <a:off x="666495" y="2048255"/>
              <a:ext cx="86106" cy="263715"/>
            </a:xfrm>
            <a:prstGeom prst="rect">
              <a:avLst/>
            </a:prstGeom>
          </p:spPr>
        </p:pic>
        <p:pic>
          <p:nvPicPr>
            <p:cNvPr id="27" name="object 27" descr=""/>
            <p:cNvPicPr/>
            <p:nvPr/>
          </p:nvPicPr>
          <p:blipFill>
            <a:blip r:embed="rId23" cstate="print"/>
            <a:stretch>
              <a:fillRect/>
            </a:stretch>
          </p:blipFill>
          <p:spPr>
            <a:xfrm>
              <a:off x="1159509" y="1997201"/>
              <a:ext cx="86106" cy="314769"/>
            </a:xfrm>
            <a:prstGeom prst="rect">
              <a:avLst/>
            </a:prstGeom>
          </p:spPr>
        </p:pic>
        <p:pic>
          <p:nvPicPr>
            <p:cNvPr id="28" name="object 28" descr=""/>
            <p:cNvPicPr/>
            <p:nvPr/>
          </p:nvPicPr>
          <p:blipFill>
            <a:blip r:embed="rId24" cstate="print"/>
            <a:stretch>
              <a:fillRect/>
            </a:stretch>
          </p:blipFill>
          <p:spPr>
            <a:xfrm>
              <a:off x="2146300" y="1858517"/>
              <a:ext cx="86106" cy="453453"/>
            </a:xfrm>
            <a:prstGeom prst="rect">
              <a:avLst/>
            </a:prstGeom>
          </p:spPr>
        </p:pic>
        <p:pic>
          <p:nvPicPr>
            <p:cNvPr id="29" name="object 29" descr=""/>
            <p:cNvPicPr/>
            <p:nvPr/>
          </p:nvPicPr>
          <p:blipFill>
            <a:blip r:embed="rId25" cstate="print"/>
            <a:stretch>
              <a:fillRect/>
            </a:stretch>
          </p:blipFill>
          <p:spPr>
            <a:xfrm>
              <a:off x="1653286" y="1932431"/>
              <a:ext cx="86106" cy="379539"/>
            </a:xfrm>
            <a:prstGeom prst="rect">
              <a:avLst/>
            </a:prstGeom>
          </p:spPr>
        </p:pic>
        <p:pic>
          <p:nvPicPr>
            <p:cNvPr id="30" name="object 30" descr=""/>
            <p:cNvPicPr/>
            <p:nvPr/>
          </p:nvPicPr>
          <p:blipFill>
            <a:blip r:embed="rId26" cstate="print"/>
            <a:stretch>
              <a:fillRect/>
            </a:stretch>
          </p:blipFill>
          <p:spPr>
            <a:xfrm>
              <a:off x="2640076" y="1770887"/>
              <a:ext cx="86106" cy="541083"/>
            </a:xfrm>
            <a:prstGeom prst="rect">
              <a:avLst/>
            </a:prstGeom>
          </p:spPr>
        </p:pic>
        <p:pic>
          <p:nvPicPr>
            <p:cNvPr id="31" name="object 31" descr=""/>
            <p:cNvPicPr/>
            <p:nvPr/>
          </p:nvPicPr>
          <p:blipFill>
            <a:blip r:embed="rId27" cstate="print"/>
            <a:stretch>
              <a:fillRect/>
            </a:stretch>
          </p:blipFill>
          <p:spPr>
            <a:xfrm>
              <a:off x="3626866" y="1662683"/>
              <a:ext cx="86105" cy="649287"/>
            </a:xfrm>
            <a:prstGeom prst="rect">
              <a:avLst/>
            </a:prstGeom>
          </p:spPr>
        </p:pic>
        <p:pic>
          <p:nvPicPr>
            <p:cNvPr id="32" name="object 32" descr=""/>
            <p:cNvPicPr/>
            <p:nvPr/>
          </p:nvPicPr>
          <p:blipFill>
            <a:blip r:embed="rId28" cstate="print"/>
            <a:stretch>
              <a:fillRect/>
            </a:stretch>
          </p:blipFill>
          <p:spPr>
            <a:xfrm>
              <a:off x="3133851" y="1716785"/>
              <a:ext cx="86106" cy="595185"/>
            </a:xfrm>
            <a:prstGeom prst="rect">
              <a:avLst/>
            </a:prstGeom>
          </p:spPr>
        </p:pic>
        <p:pic>
          <p:nvPicPr>
            <p:cNvPr id="33" name="object 33" descr=""/>
            <p:cNvPicPr/>
            <p:nvPr/>
          </p:nvPicPr>
          <p:blipFill>
            <a:blip r:embed="rId29" cstate="print"/>
            <a:stretch>
              <a:fillRect/>
            </a:stretch>
          </p:blipFill>
          <p:spPr>
            <a:xfrm>
              <a:off x="4120642" y="1634489"/>
              <a:ext cx="86105" cy="677481"/>
            </a:xfrm>
            <a:prstGeom prst="rect">
              <a:avLst/>
            </a:prstGeom>
          </p:spPr>
        </p:pic>
        <p:pic>
          <p:nvPicPr>
            <p:cNvPr id="34" name="object 34" descr=""/>
            <p:cNvPicPr/>
            <p:nvPr/>
          </p:nvPicPr>
          <p:blipFill>
            <a:blip r:embed="rId30" cstate="print"/>
            <a:stretch>
              <a:fillRect/>
            </a:stretch>
          </p:blipFill>
          <p:spPr>
            <a:xfrm>
              <a:off x="4614418" y="1679447"/>
              <a:ext cx="86105" cy="632523"/>
            </a:xfrm>
            <a:prstGeom prst="rect">
              <a:avLst/>
            </a:prstGeom>
          </p:spPr>
        </p:pic>
        <p:pic>
          <p:nvPicPr>
            <p:cNvPr id="35" name="object 35" descr=""/>
            <p:cNvPicPr/>
            <p:nvPr/>
          </p:nvPicPr>
          <p:blipFill>
            <a:blip r:embed="rId31" cstate="print"/>
            <a:stretch>
              <a:fillRect/>
            </a:stretch>
          </p:blipFill>
          <p:spPr>
            <a:xfrm>
              <a:off x="5107431" y="1811273"/>
              <a:ext cx="86105" cy="500697"/>
            </a:xfrm>
            <a:prstGeom prst="rect">
              <a:avLst/>
            </a:prstGeom>
          </p:spPr>
        </p:pic>
        <p:pic>
          <p:nvPicPr>
            <p:cNvPr id="36" name="object 36" descr=""/>
            <p:cNvPicPr/>
            <p:nvPr/>
          </p:nvPicPr>
          <p:blipFill>
            <a:blip r:embed="rId32" cstate="print"/>
            <a:stretch>
              <a:fillRect/>
            </a:stretch>
          </p:blipFill>
          <p:spPr>
            <a:xfrm>
              <a:off x="5601207" y="1816607"/>
              <a:ext cx="86105" cy="495363"/>
            </a:xfrm>
            <a:prstGeom prst="rect">
              <a:avLst/>
            </a:prstGeom>
          </p:spPr>
        </p:pic>
        <p:pic>
          <p:nvPicPr>
            <p:cNvPr id="37" name="object 37" descr=""/>
            <p:cNvPicPr/>
            <p:nvPr/>
          </p:nvPicPr>
          <p:blipFill>
            <a:blip r:embed="rId33" cstate="print"/>
            <a:stretch>
              <a:fillRect/>
            </a:stretch>
          </p:blipFill>
          <p:spPr>
            <a:xfrm>
              <a:off x="6094983" y="1914143"/>
              <a:ext cx="86105" cy="397827"/>
            </a:xfrm>
            <a:prstGeom prst="rect">
              <a:avLst/>
            </a:prstGeom>
          </p:spPr>
        </p:pic>
        <p:pic>
          <p:nvPicPr>
            <p:cNvPr id="38" name="object 38" descr=""/>
            <p:cNvPicPr/>
            <p:nvPr/>
          </p:nvPicPr>
          <p:blipFill>
            <a:blip r:embed="rId34" cstate="print"/>
            <a:stretch>
              <a:fillRect/>
            </a:stretch>
          </p:blipFill>
          <p:spPr>
            <a:xfrm>
              <a:off x="6587998" y="1905761"/>
              <a:ext cx="86105" cy="406209"/>
            </a:xfrm>
            <a:prstGeom prst="rect">
              <a:avLst/>
            </a:prstGeom>
          </p:spPr>
        </p:pic>
        <p:pic>
          <p:nvPicPr>
            <p:cNvPr id="39" name="object 39" descr=""/>
            <p:cNvPicPr/>
            <p:nvPr/>
          </p:nvPicPr>
          <p:blipFill>
            <a:blip r:embed="rId35" cstate="print"/>
            <a:stretch>
              <a:fillRect/>
            </a:stretch>
          </p:blipFill>
          <p:spPr>
            <a:xfrm>
              <a:off x="7081774" y="1832609"/>
              <a:ext cx="86105" cy="479361"/>
            </a:xfrm>
            <a:prstGeom prst="rect">
              <a:avLst/>
            </a:prstGeom>
          </p:spPr>
        </p:pic>
        <p:pic>
          <p:nvPicPr>
            <p:cNvPr id="40" name="object 40" descr=""/>
            <p:cNvPicPr/>
            <p:nvPr/>
          </p:nvPicPr>
          <p:blipFill>
            <a:blip r:embed="rId36" cstate="print"/>
            <a:stretch>
              <a:fillRect/>
            </a:stretch>
          </p:blipFill>
          <p:spPr>
            <a:xfrm>
              <a:off x="7574788" y="1384553"/>
              <a:ext cx="86105" cy="927417"/>
            </a:xfrm>
            <a:prstGeom prst="rect">
              <a:avLst/>
            </a:prstGeom>
          </p:spPr>
        </p:pic>
        <p:pic>
          <p:nvPicPr>
            <p:cNvPr id="41" name="object 41" descr=""/>
            <p:cNvPicPr/>
            <p:nvPr/>
          </p:nvPicPr>
          <p:blipFill>
            <a:blip r:embed="rId37" cstate="print"/>
            <a:stretch>
              <a:fillRect/>
            </a:stretch>
          </p:blipFill>
          <p:spPr>
            <a:xfrm>
              <a:off x="8068564" y="1625345"/>
              <a:ext cx="86105" cy="686625"/>
            </a:xfrm>
            <a:prstGeom prst="rect">
              <a:avLst/>
            </a:prstGeom>
          </p:spPr>
        </p:pic>
        <p:pic>
          <p:nvPicPr>
            <p:cNvPr id="42" name="object 42" descr=""/>
            <p:cNvPicPr/>
            <p:nvPr/>
          </p:nvPicPr>
          <p:blipFill>
            <a:blip r:embed="rId38" cstate="print"/>
            <a:stretch>
              <a:fillRect/>
            </a:stretch>
          </p:blipFill>
          <p:spPr>
            <a:xfrm>
              <a:off x="8562340" y="1745741"/>
              <a:ext cx="86105" cy="566229"/>
            </a:xfrm>
            <a:prstGeom prst="rect">
              <a:avLst/>
            </a:prstGeom>
          </p:spPr>
        </p:pic>
        <p:sp>
          <p:nvSpPr>
            <p:cNvPr id="43" name="object 43" descr=""/>
            <p:cNvSpPr/>
            <p:nvPr/>
          </p:nvSpPr>
          <p:spPr>
            <a:xfrm>
              <a:off x="666495" y="1384553"/>
              <a:ext cx="7981950" cy="927735"/>
            </a:xfrm>
            <a:custGeom>
              <a:avLst/>
              <a:gdLst/>
              <a:ahLst/>
              <a:cxnLst/>
              <a:rect l="l" t="t" r="r" b="b"/>
              <a:pathLst>
                <a:path w="7981950" h="927735">
                  <a:moveTo>
                    <a:pt x="0" y="663702"/>
                  </a:moveTo>
                  <a:lnTo>
                    <a:pt x="86106" y="663702"/>
                  </a:lnTo>
                  <a:lnTo>
                    <a:pt x="86106" y="927417"/>
                  </a:lnTo>
                  <a:lnTo>
                    <a:pt x="0" y="927417"/>
                  </a:lnTo>
                  <a:lnTo>
                    <a:pt x="0" y="663702"/>
                  </a:lnTo>
                  <a:close/>
                </a:path>
                <a:path w="7981950" h="927735">
                  <a:moveTo>
                    <a:pt x="493014" y="612648"/>
                  </a:moveTo>
                  <a:lnTo>
                    <a:pt x="579120" y="612648"/>
                  </a:lnTo>
                  <a:lnTo>
                    <a:pt x="579120" y="927417"/>
                  </a:lnTo>
                  <a:lnTo>
                    <a:pt x="493014" y="927417"/>
                  </a:lnTo>
                  <a:lnTo>
                    <a:pt x="493014" y="612648"/>
                  </a:lnTo>
                  <a:close/>
                </a:path>
                <a:path w="7981950" h="927735">
                  <a:moveTo>
                    <a:pt x="986790" y="547878"/>
                  </a:moveTo>
                  <a:lnTo>
                    <a:pt x="1072896" y="547878"/>
                  </a:lnTo>
                  <a:lnTo>
                    <a:pt x="1072896" y="927417"/>
                  </a:lnTo>
                  <a:lnTo>
                    <a:pt x="986790" y="927417"/>
                  </a:lnTo>
                  <a:lnTo>
                    <a:pt x="986790" y="547878"/>
                  </a:lnTo>
                  <a:close/>
                </a:path>
                <a:path w="7981950" h="927735">
                  <a:moveTo>
                    <a:pt x="1479804" y="473963"/>
                  </a:moveTo>
                  <a:lnTo>
                    <a:pt x="1565910" y="473963"/>
                  </a:lnTo>
                  <a:lnTo>
                    <a:pt x="1565910" y="927417"/>
                  </a:lnTo>
                  <a:lnTo>
                    <a:pt x="1479804" y="927417"/>
                  </a:lnTo>
                  <a:lnTo>
                    <a:pt x="1479804" y="473963"/>
                  </a:lnTo>
                  <a:close/>
                </a:path>
                <a:path w="7981950" h="927735">
                  <a:moveTo>
                    <a:pt x="1973580" y="386334"/>
                  </a:moveTo>
                  <a:lnTo>
                    <a:pt x="2059686" y="386334"/>
                  </a:lnTo>
                  <a:lnTo>
                    <a:pt x="2059686" y="927417"/>
                  </a:lnTo>
                  <a:lnTo>
                    <a:pt x="1973580" y="927417"/>
                  </a:lnTo>
                  <a:lnTo>
                    <a:pt x="1973580" y="386334"/>
                  </a:lnTo>
                  <a:close/>
                </a:path>
                <a:path w="7981950" h="927735">
                  <a:moveTo>
                    <a:pt x="2467356" y="332232"/>
                  </a:moveTo>
                  <a:lnTo>
                    <a:pt x="2553462" y="332232"/>
                  </a:lnTo>
                  <a:lnTo>
                    <a:pt x="2553462" y="927417"/>
                  </a:lnTo>
                  <a:lnTo>
                    <a:pt x="2467356" y="927417"/>
                  </a:lnTo>
                  <a:lnTo>
                    <a:pt x="2467356" y="332232"/>
                  </a:lnTo>
                  <a:close/>
                </a:path>
                <a:path w="7981950" h="927735">
                  <a:moveTo>
                    <a:pt x="2960370" y="278130"/>
                  </a:moveTo>
                  <a:lnTo>
                    <a:pt x="3046475" y="278130"/>
                  </a:lnTo>
                  <a:lnTo>
                    <a:pt x="3046475" y="927417"/>
                  </a:lnTo>
                  <a:lnTo>
                    <a:pt x="2960370" y="927417"/>
                  </a:lnTo>
                  <a:lnTo>
                    <a:pt x="2960370" y="278130"/>
                  </a:lnTo>
                  <a:close/>
                </a:path>
                <a:path w="7981950" h="927735">
                  <a:moveTo>
                    <a:pt x="3454145" y="249936"/>
                  </a:moveTo>
                  <a:lnTo>
                    <a:pt x="3540251" y="249936"/>
                  </a:lnTo>
                  <a:lnTo>
                    <a:pt x="3540251" y="927417"/>
                  </a:lnTo>
                  <a:lnTo>
                    <a:pt x="3454145" y="927417"/>
                  </a:lnTo>
                  <a:lnTo>
                    <a:pt x="3454145" y="249936"/>
                  </a:lnTo>
                  <a:close/>
                </a:path>
                <a:path w="7981950" h="927735">
                  <a:moveTo>
                    <a:pt x="3947921" y="294894"/>
                  </a:moveTo>
                  <a:lnTo>
                    <a:pt x="4034027" y="294894"/>
                  </a:lnTo>
                  <a:lnTo>
                    <a:pt x="4034027" y="927417"/>
                  </a:lnTo>
                  <a:lnTo>
                    <a:pt x="3947921" y="927417"/>
                  </a:lnTo>
                  <a:lnTo>
                    <a:pt x="3947921" y="294894"/>
                  </a:lnTo>
                  <a:close/>
                </a:path>
                <a:path w="7981950" h="927735">
                  <a:moveTo>
                    <a:pt x="4440936" y="426720"/>
                  </a:moveTo>
                  <a:lnTo>
                    <a:pt x="4527042" y="426720"/>
                  </a:lnTo>
                  <a:lnTo>
                    <a:pt x="4527042" y="927417"/>
                  </a:lnTo>
                  <a:lnTo>
                    <a:pt x="4440936" y="927417"/>
                  </a:lnTo>
                  <a:lnTo>
                    <a:pt x="4440936" y="426720"/>
                  </a:lnTo>
                  <a:close/>
                </a:path>
                <a:path w="7981950" h="927735">
                  <a:moveTo>
                    <a:pt x="4934712" y="432054"/>
                  </a:moveTo>
                  <a:lnTo>
                    <a:pt x="5020818" y="432054"/>
                  </a:lnTo>
                  <a:lnTo>
                    <a:pt x="5020818" y="927417"/>
                  </a:lnTo>
                  <a:lnTo>
                    <a:pt x="4934712" y="927417"/>
                  </a:lnTo>
                  <a:lnTo>
                    <a:pt x="4934712" y="432054"/>
                  </a:lnTo>
                  <a:close/>
                </a:path>
                <a:path w="7981950" h="927735">
                  <a:moveTo>
                    <a:pt x="5428488" y="529590"/>
                  </a:moveTo>
                  <a:lnTo>
                    <a:pt x="5514594" y="529590"/>
                  </a:lnTo>
                  <a:lnTo>
                    <a:pt x="5514594" y="927417"/>
                  </a:lnTo>
                  <a:lnTo>
                    <a:pt x="5428488" y="927417"/>
                  </a:lnTo>
                  <a:lnTo>
                    <a:pt x="5428488" y="529590"/>
                  </a:lnTo>
                  <a:close/>
                </a:path>
                <a:path w="7981950" h="927735">
                  <a:moveTo>
                    <a:pt x="5921502" y="521208"/>
                  </a:moveTo>
                  <a:lnTo>
                    <a:pt x="6007608" y="521208"/>
                  </a:lnTo>
                  <a:lnTo>
                    <a:pt x="6007608" y="927417"/>
                  </a:lnTo>
                  <a:lnTo>
                    <a:pt x="5921502" y="927417"/>
                  </a:lnTo>
                  <a:lnTo>
                    <a:pt x="5921502" y="521208"/>
                  </a:lnTo>
                  <a:close/>
                </a:path>
                <a:path w="7981950" h="927735">
                  <a:moveTo>
                    <a:pt x="6415278" y="448056"/>
                  </a:moveTo>
                  <a:lnTo>
                    <a:pt x="6501383" y="448056"/>
                  </a:lnTo>
                  <a:lnTo>
                    <a:pt x="6501383" y="927417"/>
                  </a:lnTo>
                  <a:lnTo>
                    <a:pt x="6415278" y="927417"/>
                  </a:lnTo>
                  <a:lnTo>
                    <a:pt x="6415278" y="448056"/>
                  </a:lnTo>
                  <a:close/>
                </a:path>
                <a:path w="7981950" h="927735">
                  <a:moveTo>
                    <a:pt x="6908292" y="0"/>
                  </a:moveTo>
                  <a:lnTo>
                    <a:pt x="6994398" y="0"/>
                  </a:lnTo>
                  <a:lnTo>
                    <a:pt x="6994398" y="927417"/>
                  </a:lnTo>
                  <a:lnTo>
                    <a:pt x="6908292" y="927417"/>
                  </a:lnTo>
                  <a:lnTo>
                    <a:pt x="6908292" y="0"/>
                  </a:lnTo>
                  <a:close/>
                </a:path>
                <a:path w="7981950" h="927735">
                  <a:moveTo>
                    <a:pt x="7402068" y="240792"/>
                  </a:moveTo>
                  <a:lnTo>
                    <a:pt x="7488174" y="240792"/>
                  </a:lnTo>
                  <a:lnTo>
                    <a:pt x="7488174" y="927417"/>
                  </a:lnTo>
                  <a:lnTo>
                    <a:pt x="7402068" y="927417"/>
                  </a:lnTo>
                  <a:lnTo>
                    <a:pt x="7402068" y="240792"/>
                  </a:lnTo>
                  <a:close/>
                </a:path>
                <a:path w="7981950" h="927735">
                  <a:moveTo>
                    <a:pt x="7895844" y="361188"/>
                  </a:moveTo>
                  <a:lnTo>
                    <a:pt x="7981950" y="361188"/>
                  </a:lnTo>
                  <a:lnTo>
                    <a:pt x="7981950" y="927417"/>
                  </a:lnTo>
                  <a:lnTo>
                    <a:pt x="7895844" y="927417"/>
                  </a:lnTo>
                  <a:lnTo>
                    <a:pt x="7895844" y="361188"/>
                  </a:lnTo>
                  <a:close/>
                </a:path>
              </a:pathLst>
            </a:custGeom>
            <a:ln w="9525">
              <a:solidFill>
                <a:srgbClr val="FFFFFF"/>
              </a:solidFill>
            </a:ln>
          </p:spPr>
          <p:txBody>
            <a:bodyPr wrap="square" lIns="0" tIns="0" rIns="0" bIns="0" rtlCol="0"/>
            <a:lstStyle/>
            <a:p/>
          </p:txBody>
        </p:sp>
        <p:pic>
          <p:nvPicPr>
            <p:cNvPr id="44" name="object 44" descr=""/>
            <p:cNvPicPr/>
            <p:nvPr/>
          </p:nvPicPr>
          <p:blipFill>
            <a:blip r:embed="rId39" cstate="print"/>
            <a:stretch>
              <a:fillRect/>
            </a:stretch>
          </p:blipFill>
          <p:spPr>
            <a:xfrm>
              <a:off x="1269237" y="2094737"/>
              <a:ext cx="86106" cy="217233"/>
            </a:xfrm>
            <a:prstGeom prst="rect">
              <a:avLst/>
            </a:prstGeom>
          </p:spPr>
        </p:pic>
        <p:pic>
          <p:nvPicPr>
            <p:cNvPr id="45" name="object 45" descr=""/>
            <p:cNvPicPr/>
            <p:nvPr/>
          </p:nvPicPr>
          <p:blipFill>
            <a:blip r:embed="rId40" cstate="print"/>
            <a:stretch>
              <a:fillRect/>
            </a:stretch>
          </p:blipFill>
          <p:spPr>
            <a:xfrm>
              <a:off x="775461" y="2130551"/>
              <a:ext cx="86106" cy="181419"/>
            </a:xfrm>
            <a:prstGeom prst="rect">
              <a:avLst/>
            </a:prstGeom>
          </p:spPr>
        </p:pic>
        <p:pic>
          <p:nvPicPr>
            <p:cNvPr id="46" name="object 46" descr=""/>
            <p:cNvPicPr/>
            <p:nvPr/>
          </p:nvPicPr>
          <p:blipFill>
            <a:blip r:embed="rId41" cstate="print"/>
            <a:stretch>
              <a:fillRect/>
            </a:stretch>
          </p:blipFill>
          <p:spPr>
            <a:xfrm>
              <a:off x="1762251" y="2049779"/>
              <a:ext cx="86106" cy="262191"/>
            </a:xfrm>
            <a:prstGeom prst="rect">
              <a:avLst/>
            </a:prstGeom>
          </p:spPr>
        </p:pic>
        <p:pic>
          <p:nvPicPr>
            <p:cNvPr id="47" name="object 47" descr=""/>
            <p:cNvPicPr/>
            <p:nvPr/>
          </p:nvPicPr>
          <p:blipFill>
            <a:blip r:embed="rId42" cstate="print"/>
            <a:stretch>
              <a:fillRect/>
            </a:stretch>
          </p:blipFill>
          <p:spPr>
            <a:xfrm>
              <a:off x="2256027" y="1998725"/>
              <a:ext cx="86106" cy="313245"/>
            </a:xfrm>
            <a:prstGeom prst="rect">
              <a:avLst/>
            </a:prstGeom>
          </p:spPr>
        </p:pic>
        <p:pic>
          <p:nvPicPr>
            <p:cNvPr id="48" name="object 48" descr=""/>
            <p:cNvPicPr/>
            <p:nvPr/>
          </p:nvPicPr>
          <p:blipFill>
            <a:blip r:embed="rId43" cstate="print"/>
            <a:stretch>
              <a:fillRect/>
            </a:stretch>
          </p:blipFill>
          <p:spPr>
            <a:xfrm>
              <a:off x="2749804" y="1937765"/>
              <a:ext cx="86106" cy="374205"/>
            </a:xfrm>
            <a:prstGeom prst="rect">
              <a:avLst/>
            </a:prstGeom>
          </p:spPr>
        </p:pic>
        <p:pic>
          <p:nvPicPr>
            <p:cNvPr id="49" name="object 49" descr=""/>
            <p:cNvPicPr/>
            <p:nvPr/>
          </p:nvPicPr>
          <p:blipFill>
            <a:blip r:embed="rId44" cstate="print"/>
            <a:stretch>
              <a:fillRect/>
            </a:stretch>
          </p:blipFill>
          <p:spPr>
            <a:xfrm>
              <a:off x="3242817" y="1899665"/>
              <a:ext cx="86106" cy="412305"/>
            </a:xfrm>
            <a:prstGeom prst="rect">
              <a:avLst/>
            </a:prstGeom>
          </p:spPr>
        </p:pic>
        <p:pic>
          <p:nvPicPr>
            <p:cNvPr id="50" name="object 50" descr=""/>
            <p:cNvPicPr/>
            <p:nvPr/>
          </p:nvPicPr>
          <p:blipFill>
            <a:blip r:embed="rId45" cstate="print"/>
            <a:stretch>
              <a:fillRect/>
            </a:stretch>
          </p:blipFill>
          <p:spPr>
            <a:xfrm>
              <a:off x="3736593" y="1863851"/>
              <a:ext cx="86105" cy="448119"/>
            </a:xfrm>
            <a:prstGeom prst="rect">
              <a:avLst/>
            </a:prstGeom>
          </p:spPr>
        </p:pic>
        <p:pic>
          <p:nvPicPr>
            <p:cNvPr id="51" name="object 51" descr=""/>
            <p:cNvPicPr/>
            <p:nvPr/>
          </p:nvPicPr>
          <p:blipFill>
            <a:blip r:embed="rId46" cstate="print"/>
            <a:stretch>
              <a:fillRect/>
            </a:stretch>
          </p:blipFill>
          <p:spPr>
            <a:xfrm>
              <a:off x="4230369" y="1846325"/>
              <a:ext cx="86105" cy="465645"/>
            </a:xfrm>
            <a:prstGeom prst="rect">
              <a:avLst/>
            </a:prstGeom>
          </p:spPr>
        </p:pic>
        <p:pic>
          <p:nvPicPr>
            <p:cNvPr id="52" name="object 52" descr=""/>
            <p:cNvPicPr/>
            <p:nvPr/>
          </p:nvPicPr>
          <p:blipFill>
            <a:blip r:embed="rId47" cstate="print"/>
            <a:stretch>
              <a:fillRect/>
            </a:stretch>
          </p:blipFill>
          <p:spPr>
            <a:xfrm>
              <a:off x="4723383" y="1881377"/>
              <a:ext cx="86105" cy="430593"/>
            </a:xfrm>
            <a:prstGeom prst="rect">
              <a:avLst/>
            </a:prstGeom>
          </p:spPr>
        </p:pic>
        <p:pic>
          <p:nvPicPr>
            <p:cNvPr id="53" name="object 53" descr=""/>
            <p:cNvPicPr/>
            <p:nvPr/>
          </p:nvPicPr>
          <p:blipFill>
            <a:blip r:embed="rId48" cstate="print"/>
            <a:stretch>
              <a:fillRect/>
            </a:stretch>
          </p:blipFill>
          <p:spPr>
            <a:xfrm>
              <a:off x="5217160" y="1969769"/>
              <a:ext cx="86105" cy="342201"/>
            </a:xfrm>
            <a:prstGeom prst="rect">
              <a:avLst/>
            </a:prstGeom>
          </p:spPr>
        </p:pic>
        <p:pic>
          <p:nvPicPr>
            <p:cNvPr id="54" name="object 54" descr=""/>
            <p:cNvPicPr/>
            <p:nvPr/>
          </p:nvPicPr>
          <p:blipFill>
            <a:blip r:embed="rId49" cstate="print"/>
            <a:stretch>
              <a:fillRect/>
            </a:stretch>
          </p:blipFill>
          <p:spPr>
            <a:xfrm>
              <a:off x="6203949" y="2036825"/>
              <a:ext cx="86105" cy="275145"/>
            </a:xfrm>
            <a:prstGeom prst="rect">
              <a:avLst/>
            </a:prstGeom>
          </p:spPr>
        </p:pic>
        <p:pic>
          <p:nvPicPr>
            <p:cNvPr id="55" name="object 55" descr=""/>
            <p:cNvPicPr/>
            <p:nvPr/>
          </p:nvPicPr>
          <p:blipFill>
            <a:blip r:embed="rId50" cstate="print"/>
            <a:stretch>
              <a:fillRect/>
            </a:stretch>
          </p:blipFill>
          <p:spPr>
            <a:xfrm>
              <a:off x="5710174" y="1972055"/>
              <a:ext cx="86105" cy="339915"/>
            </a:xfrm>
            <a:prstGeom prst="rect">
              <a:avLst/>
            </a:prstGeom>
          </p:spPr>
        </p:pic>
        <p:pic>
          <p:nvPicPr>
            <p:cNvPr id="56" name="object 56" descr=""/>
            <p:cNvPicPr/>
            <p:nvPr/>
          </p:nvPicPr>
          <p:blipFill>
            <a:blip r:embed="rId51" cstate="print"/>
            <a:stretch>
              <a:fillRect/>
            </a:stretch>
          </p:blipFill>
          <p:spPr>
            <a:xfrm>
              <a:off x="7190740" y="1978151"/>
              <a:ext cx="86105" cy="333819"/>
            </a:xfrm>
            <a:prstGeom prst="rect">
              <a:avLst/>
            </a:prstGeom>
          </p:spPr>
        </p:pic>
        <p:pic>
          <p:nvPicPr>
            <p:cNvPr id="57" name="object 57" descr=""/>
            <p:cNvPicPr/>
            <p:nvPr/>
          </p:nvPicPr>
          <p:blipFill>
            <a:blip r:embed="rId52" cstate="print"/>
            <a:stretch>
              <a:fillRect/>
            </a:stretch>
          </p:blipFill>
          <p:spPr>
            <a:xfrm>
              <a:off x="6697725" y="1987295"/>
              <a:ext cx="86105" cy="324675"/>
            </a:xfrm>
            <a:prstGeom prst="rect">
              <a:avLst/>
            </a:prstGeom>
          </p:spPr>
        </p:pic>
        <p:pic>
          <p:nvPicPr>
            <p:cNvPr id="58" name="object 58" descr=""/>
            <p:cNvPicPr/>
            <p:nvPr/>
          </p:nvPicPr>
          <p:blipFill>
            <a:blip r:embed="rId53" cstate="print"/>
            <a:stretch>
              <a:fillRect/>
            </a:stretch>
          </p:blipFill>
          <p:spPr>
            <a:xfrm>
              <a:off x="7684515" y="1671827"/>
              <a:ext cx="86105" cy="640143"/>
            </a:xfrm>
            <a:prstGeom prst="rect">
              <a:avLst/>
            </a:prstGeom>
          </p:spPr>
        </p:pic>
        <p:pic>
          <p:nvPicPr>
            <p:cNvPr id="59" name="object 59" descr=""/>
            <p:cNvPicPr/>
            <p:nvPr/>
          </p:nvPicPr>
          <p:blipFill>
            <a:blip r:embed="rId54" cstate="print"/>
            <a:stretch>
              <a:fillRect/>
            </a:stretch>
          </p:blipFill>
          <p:spPr>
            <a:xfrm>
              <a:off x="8178291" y="1828799"/>
              <a:ext cx="86105" cy="483171"/>
            </a:xfrm>
            <a:prstGeom prst="rect">
              <a:avLst/>
            </a:prstGeom>
          </p:spPr>
        </p:pic>
        <p:pic>
          <p:nvPicPr>
            <p:cNvPr id="60" name="object 60" descr=""/>
            <p:cNvPicPr/>
            <p:nvPr/>
          </p:nvPicPr>
          <p:blipFill>
            <a:blip r:embed="rId55" cstate="print"/>
            <a:stretch>
              <a:fillRect/>
            </a:stretch>
          </p:blipFill>
          <p:spPr>
            <a:xfrm>
              <a:off x="8671305" y="1920239"/>
              <a:ext cx="86105" cy="391731"/>
            </a:xfrm>
            <a:prstGeom prst="rect">
              <a:avLst/>
            </a:prstGeom>
          </p:spPr>
        </p:pic>
        <p:sp>
          <p:nvSpPr>
            <p:cNvPr id="61" name="object 61" descr=""/>
            <p:cNvSpPr/>
            <p:nvPr/>
          </p:nvSpPr>
          <p:spPr>
            <a:xfrm>
              <a:off x="775461" y="1671827"/>
              <a:ext cx="7981950" cy="640715"/>
            </a:xfrm>
            <a:custGeom>
              <a:avLst/>
              <a:gdLst/>
              <a:ahLst/>
              <a:cxnLst/>
              <a:rect l="l" t="t" r="r" b="b"/>
              <a:pathLst>
                <a:path w="7981950" h="640714">
                  <a:moveTo>
                    <a:pt x="0" y="458724"/>
                  </a:moveTo>
                  <a:lnTo>
                    <a:pt x="86106" y="458724"/>
                  </a:lnTo>
                  <a:lnTo>
                    <a:pt x="86106" y="640143"/>
                  </a:lnTo>
                  <a:lnTo>
                    <a:pt x="0" y="640143"/>
                  </a:lnTo>
                  <a:lnTo>
                    <a:pt x="0" y="458724"/>
                  </a:lnTo>
                  <a:close/>
                </a:path>
                <a:path w="7981950" h="640714">
                  <a:moveTo>
                    <a:pt x="493775" y="422910"/>
                  </a:moveTo>
                  <a:lnTo>
                    <a:pt x="579882" y="422910"/>
                  </a:lnTo>
                  <a:lnTo>
                    <a:pt x="579882" y="640143"/>
                  </a:lnTo>
                  <a:lnTo>
                    <a:pt x="493775" y="640143"/>
                  </a:lnTo>
                  <a:lnTo>
                    <a:pt x="493775" y="422910"/>
                  </a:lnTo>
                  <a:close/>
                </a:path>
                <a:path w="7981950" h="640714">
                  <a:moveTo>
                    <a:pt x="986789" y="377952"/>
                  </a:moveTo>
                  <a:lnTo>
                    <a:pt x="1072895" y="377952"/>
                  </a:lnTo>
                  <a:lnTo>
                    <a:pt x="1072895" y="640143"/>
                  </a:lnTo>
                  <a:lnTo>
                    <a:pt x="986789" y="640143"/>
                  </a:lnTo>
                  <a:lnTo>
                    <a:pt x="986789" y="377952"/>
                  </a:lnTo>
                  <a:close/>
                </a:path>
                <a:path w="7981950" h="640714">
                  <a:moveTo>
                    <a:pt x="1480565" y="326898"/>
                  </a:moveTo>
                  <a:lnTo>
                    <a:pt x="1566671" y="326898"/>
                  </a:lnTo>
                  <a:lnTo>
                    <a:pt x="1566671" y="640143"/>
                  </a:lnTo>
                  <a:lnTo>
                    <a:pt x="1480565" y="640143"/>
                  </a:lnTo>
                  <a:lnTo>
                    <a:pt x="1480565" y="326898"/>
                  </a:lnTo>
                  <a:close/>
                </a:path>
                <a:path w="7981950" h="640714">
                  <a:moveTo>
                    <a:pt x="1974342" y="265938"/>
                  </a:moveTo>
                  <a:lnTo>
                    <a:pt x="2060448" y="265938"/>
                  </a:lnTo>
                  <a:lnTo>
                    <a:pt x="2060448" y="640143"/>
                  </a:lnTo>
                  <a:lnTo>
                    <a:pt x="1974342" y="640143"/>
                  </a:lnTo>
                  <a:lnTo>
                    <a:pt x="1974342" y="265938"/>
                  </a:lnTo>
                  <a:close/>
                </a:path>
                <a:path w="7981950" h="640714">
                  <a:moveTo>
                    <a:pt x="2467356" y="227838"/>
                  </a:moveTo>
                  <a:lnTo>
                    <a:pt x="2553462" y="227838"/>
                  </a:lnTo>
                  <a:lnTo>
                    <a:pt x="2553462" y="640143"/>
                  </a:lnTo>
                  <a:lnTo>
                    <a:pt x="2467356" y="640143"/>
                  </a:lnTo>
                  <a:lnTo>
                    <a:pt x="2467356" y="227838"/>
                  </a:lnTo>
                  <a:close/>
                </a:path>
                <a:path w="7981950" h="640714">
                  <a:moveTo>
                    <a:pt x="2961132" y="192024"/>
                  </a:moveTo>
                  <a:lnTo>
                    <a:pt x="3047238" y="192024"/>
                  </a:lnTo>
                  <a:lnTo>
                    <a:pt x="3047238" y="640143"/>
                  </a:lnTo>
                  <a:lnTo>
                    <a:pt x="2961132" y="640143"/>
                  </a:lnTo>
                  <a:lnTo>
                    <a:pt x="2961132" y="192024"/>
                  </a:lnTo>
                  <a:close/>
                </a:path>
                <a:path w="7981950" h="640714">
                  <a:moveTo>
                    <a:pt x="3454908" y="174498"/>
                  </a:moveTo>
                  <a:lnTo>
                    <a:pt x="3541014" y="174498"/>
                  </a:lnTo>
                  <a:lnTo>
                    <a:pt x="3541014" y="640143"/>
                  </a:lnTo>
                  <a:lnTo>
                    <a:pt x="3454908" y="640143"/>
                  </a:lnTo>
                  <a:lnTo>
                    <a:pt x="3454908" y="174498"/>
                  </a:lnTo>
                  <a:close/>
                </a:path>
                <a:path w="7981950" h="640714">
                  <a:moveTo>
                    <a:pt x="3947922" y="209550"/>
                  </a:moveTo>
                  <a:lnTo>
                    <a:pt x="4034028" y="209550"/>
                  </a:lnTo>
                  <a:lnTo>
                    <a:pt x="4034028" y="640143"/>
                  </a:lnTo>
                  <a:lnTo>
                    <a:pt x="3947922" y="640143"/>
                  </a:lnTo>
                  <a:lnTo>
                    <a:pt x="3947922" y="209550"/>
                  </a:lnTo>
                  <a:close/>
                </a:path>
                <a:path w="7981950" h="640714">
                  <a:moveTo>
                    <a:pt x="4441698" y="297942"/>
                  </a:moveTo>
                  <a:lnTo>
                    <a:pt x="4527804" y="297942"/>
                  </a:lnTo>
                  <a:lnTo>
                    <a:pt x="4527804" y="640143"/>
                  </a:lnTo>
                  <a:lnTo>
                    <a:pt x="4441698" y="640143"/>
                  </a:lnTo>
                  <a:lnTo>
                    <a:pt x="4441698" y="297942"/>
                  </a:lnTo>
                  <a:close/>
                </a:path>
                <a:path w="7981950" h="640714">
                  <a:moveTo>
                    <a:pt x="4934712" y="300228"/>
                  </a:moveTo>
                  <a:lnTo>
                    <a:pt x="5020818" y="300228"/>
                  </a:lnTo>
                  <a:lnTo>
                    <a:pt x="5020818" y="640143"/>
                  </a:lnTo>
                  <a:lnTo>
                    <a:pt x="4934712" y="640143"/>
                  </a:lnTo>
                  <a:lnTo>
                    <a:pt x="4934712" y="300228"/>
                  </a:lnTo>
                  <a:close/>
                </a:path>
                <a:path w="7981950" h="640714">
                  <a:moveTo>
                    <a:pt x="5428488" y="364998"/>
                  </a:moveTo>
                  <a:lnTo>
                    <a:pt x="5514594" y="364998"/>
                  </a:lnTo>
                  <a:lnTo>
                    <a:pt x="5514594" y="640143"/>
                  </a:lnTo>
                  <a:lnTo>
                    <a:pt x="5428488" y="640143"/>
                  </a:lnTo>
                  <a:lnTo>
                    <a:pt x="5428488" y="364998"/>
                  </a:lnTo>
                  <a:close/>
                </a:path>
                <a:path w="7981950" h="640714">
                  <a:moveTo>
                    <a:pt x="5922264" y="315468"/>
                  </a:moveTo>
                  <a:lnTo>
                    <a:pt x="6008370" y="315468"/>
                  </a:lnTo>
                  <a:lnTo>
                    <a:pt x="6008370" y="640143"/>
                  </a:lnTo>
                  <a:lnTo>
                    <a:pt x="5922264" y="640143"/>
                  </a:lnTo>
                  <a:lnTo>
                    <a:pt x="5922264" y="315468"/>
                  </a:lnTo>
                  <a:close/>
                </a:path>
                <a:path w="7981950" h="640714">
                  <a:moveTo>
                    <a:pt x="6415278" y="306324"/>
                  </a:moveTo>
                  <a:lnTo>
                    <a:pt x="6501384" y="306324"/>
                  </a:lnTo>
                  <a:lnTo>
                    <a:pt x="6501384" y="640143"/>
                  </a:lnTo>
                  <a:lnTo>
                    <a:pt x="6415278" y="640143"/>
                  </a:lnTo>
                  <a:lnTo>
                    <a:pt x="6415278" y="306324"/>
                  </a:lnTo>
                  <a:close/>
                </a:path>
                <a:path w="7981950" h="640714">
                  <a:moveTo>
                    <a:pt x="6909054" y="0"/>
                  </a:moveTo>
                  <a:lnTo>
                    <a:pt x="6995159" y="0"/>
                  </a:lnTo>
                  <a:lnTo>
                    <a:pt x="6995159" y="640143"/>
                  </a:lnTo>
                  <a:lnTo>
                    <a:pt x="6909054" y="640143"/>
                  </a:lnTo>
                  <a:lnTo>
                    <a:pt x="6909054" y="0"/>
                  </a:lnTo>
                  <a:close/>
                </a:path>
                <a:path w="7981950" h="640714">
                  <a:moveTo>
                    <a:pt x="7402830" y="156972"/>
                  </a:moveTo>
                  <a:lnTo>
                    <a:pt x="7488936" y="156972"/>
                  </a:lnTo>
                  <a:lnTo>
                    <a:pt x="7488936" y="640143"/>
                  </a:lnTo>
                  <a:lnTo>
                    <a:pt x="7402830" y="640143"/>
                  </a:lnTo>
                  <a:lnTo>
                    <a:pt x="7402830" y="156972"/>
                  </a:lnTo>
                  <a:close/>
                </a:path>
                <a:path w="7981950" h="640714">
                  <a:moveTo>
                    <a:pt x="7895844" y="248412"/>
                  </a:moveTo>
                  <a:lnTo>
                    <a:pt x="7981950" y="248412"/>
                  </a:lnTo>
                  <a:lnTo>
                    <a:pt x="7981950" y="640143"/>
                  </a:lnTo>
                  <a:lnTo>
                    <a:pt x="7895844" y="640143"/>
                  </a:lnTo>
                  <a:lnTo>
                    <a:pt x="7895844" y="248412"/>
                  </a:lnTo>
                  <a:close/>
                </a:path>
              </a:pathLst>
            </a:custGeom>
            <a:ln w="9525">
              <a:solidFill>
                <a:srgbClr val="FFFFFF"/>
              </a:solidFill>
            </a:ln>
          </p:spPr>
          <p:txBody>
            <a:bodyPr wrap="square" lIns="0" tIns="0" rIns="0" bIns="0" rtlCol="0"/>
            <a:lstStyle/>
            <a:p/>
          </p:txBody>
        </p:sp>
        <p:sp>
          <p:nvSpPr>
            <p:cNvPr id="62" name="object 62" descr=""/>
            <p:cNvSpPr/>
            <p:nvPr/>
          </p:nvSpPr>
          <p:spPr>
            <a:xfrm>
              <a:off x="462533" y="2311908"/>
              <a:ext cx="8389620" cy="0"/>
            </a:xfrm>
            <a:custGeom>
              <a:avLst/>
              <a:gdLst/>
              <a:ahLst/>
              <a:cxnLst/>
              <a:rect l="l" t="t" r="r" b="b"/>
              <a:pathLst>
                <a:path w="8389620" h="0">
                  <a:moveTo>
                    <a:pt x="0" y="0"/>
                  </a:moveTo>
                  <a:lnTo>
                    <a:pt x="8389620" y="0"/>
                  </a:lnTo>
                </a:path>
              </a:pathLst>
            </a:custGeom>
            <a:ln w="9144">
              <a:solidFill>
                <a:srgbClr val="F2F2F2"/>
              </a:solidFill>
            </a:ln>
          </p:spPr>
          <p:txBody>
            <a:bodyPr wrap="square" lIns="0" tIns="0" rIns="0" bIns="0" rtlCol="0"/>
            <a:lstStyle/>
            <a:p/>
          </p:txBody>
        </p:sp>
      </p:grpSp>
      <p:sp>
        <p:nvSpPr>
          <p:cNvPr id="63" name="object 63" descr=""/>
          <p:cNvSpPr txBox="1"/>
          <p:nvPr/>
        </p:nvSpPr>
        <p:spPr>
          <a:xfrm>
            <a:off x="2476482" y="1656233"/>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284</a:t>
            </a:r>
            <a:endParaRPr sz="800">
              <a:latin typeface="Arial MT"/>
              <a:cs typeface="Arial MT"/>
            </a:endParaRPr>
          </a:p>
        </p:txBody>
      </p:sp>
      <p:sp>
        <p:nvSpPr>
          <p:cNvPr id="64" name="object 64" descr=""/>
          <p:cNvSpPr txBox="1"/>
          <p:nvPr/>
        </p:nvSpPr>
        <p:spPr>
          <a:xfrm>
            <a:off x="3956969" y="1504121"/>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378</a:t>
            </a:r>
            <a:endParaRPr sz="800">
              <a:latin typeface="Arial MT"/>
              <a:cs typeface="Arial MT"/>
            </a:endParaRPr>
          </a:p>
        </p:txBody>
      </p:sp>
      <p:sp>
        <p:nvSpPr>
          <p:cNvPr id="65" name="object 65" descr=""/>
          <p:cNvSpPr txBox="1"/>
          <p:nvPr/>
        </p:nvSpPr>
        <p:spPr>
          <a:xfrm>
            <a:off x="4450464" y="1572809"/>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335</a:t>
            </a:r>
            <a:endParaRPr sz="800">
              <a:latin typeface="Arial MT"/>
              <a:cs typeface="Arial MT"/>
            </a:endParaRPr>
          </a:p>
        </p:txBody>
      </p:sp>
      <p:sp>
        <p:nvSpPr>
          <p:cNvPr id="66" name="object 66" descr=""/>
          <p:cNvSpPr txBox="1"/>
          <p:nvPr/>
        </p:nvSpPr>
        <p:spPr>
          <a:xfrm>
            <a:off x="477100" y="1855627"/>
            <a:ext cx="354965" cy="147320"/>
          </a:xfrm>
          <a:prstGeom prst="rect">
            <a:avLst/>
          </a:prstGeom>
        </p:spPr>
        <p:txBody>
          <a:bodyPr wrap="square" lIns="0" tIns="12065" rIns="0" bIns="0" rtlCol="0" vert="horz">
            <a:spAutoFit/>
          </a:bodyPr>
          <a:lstStyle/>
          <a:p>
            <a:pPr marL="38100">
              <a:lnSpc>
                <a:spcPct val="100000"/>
              </a:lnSpc>
              <a:spcBef>
                <a:spcPts val="95"/>
              </a:spcBef>
            </a:pPr>
            <a:r>
              <a:rPr dirty="0" baseline="-20833" sz="1200" spc="-75">
                <a:solidFill>
                  <a:srgbClr val="A7A8A7"/>
                </a:solidFill>
                <a:latin typeface="Arial MT"/>
                <a:cs typeface="Arial MT"/>
              </a:rPr>
              <a:t>13</a:t>
            </a:r>
            <a:r>
              <a:rPr dirty="0" sz="800" spc="-50">
                <a:solidFill>
                  <a:srgbClr val="A7A8A7"/>
                </a:solidFill>
                <a:latin typeface="Arial MT"/>
                <a:cs typeface="Arial MT"/>
              </a:rPr>
              <a:t>1</a:t>
            </a:r>
            <a:r>
              <a:rPr dirty="0" baseline="-20833" sz="1200" spc="-75">
                <a:solidFill>
                  <a:srgbClr val="A7A8A7"/>
                </a:solidFill>
                <a:latin typeface="Arial MT"/>
                <a:cs typeface="Arial MT"/>
              </a:rPr>
              <a:t>8</a:t>
            </a:r>
            <a:r>
              <a:rPr dirty="0" sz="800" spc="-50">
                <a:solidFill>
                  <a:srgbClr val="A7A8A7"/>
                </a:solidFill>
                <a:latin typeface="Arial MT"/>
                <a:cs typeface="Arial MT"/>
              </a:rPr>
              <a:t>62</a:t>
            </a:r>
            <a:endParaRPr sz="800">
              <a:latin typeface="Arial MT"/>
              <a:cs typeface="Arial MT"/>
            </a:endParaRPr>
          </a:p>
        </p:txBody>
      </p:sp>
      <p:sp>
        <p:nvSpPr>
          <p:cNvPr id="67" name="object 67" descr=""/>
          <p:cNvSpPr txBox="1"/>
          <p:nvPr/>
        </p:nvSpPr>
        <p:spPr>
          <a:xfrm>
            <a:off x="970596" y="1804477"/>
            <a:ext cx="354965" cy="147320"/>
          </a:xfrm>
          <a:prstGeom prst="rect">
            <a:avLst/>
          </a:prstGeom>
        </p:spPr>
        <p:txBody>
          <a:bodyPr wrap="square" lIns="0" tIns="12065" rIns="0" bIns="0" rtlCol="0" vert="horz">
            <a:spAutoFit/>
          </a:bodyPr>
          <a:lstStyle/>
          <a:p>
            <a:pPr marL="38100">
              <a:lnSpc>
                <a:spcPct val="100000"/>
              </a:lnSpc>
              <a:spcBef>
                <a:spcPts val="95"/>
              </a:spcBef>
            </a:pPr>
            <a:r>
              <a:rPr dirty="0" baseline="-24305" sz="1200" spc="-75">
                <a:solidFill>
                  <a:srgbClr val="A7A8A7"/>
                </a:solidFill>
                <a:latin typeface="Arial MT"/>
                <a:cs typeface="Arial MT"/>
              </a:rPr>
              <a:t>16</a:t>
            </a:r>
            <a:r>
              <a:rPr dirty="0" sz="800" spc="-50">
                <a:solidFill>
                  <a:srgbClr val="A7A8A7"/>
                </a:solidFill>
                <a:latin typeface="Arial MT"/>
                <a:cs typeface="Arial MT"/>
              </a:rPr>
              <a:t>1</a:t>
            </a:r>
            <a:r>
              <a:rPr dirty="0" baseline="-24305" sz="1200" spc="-75">
                <a:solidFill>
                  <a:srgbClr val="A7A8A7"/>
                </a:solidFill>
                <a:latin typeface="Arial MT"/>
                <a:cs typeface="Arial MT"/>
              </a:rPr>
              <a:t>5</a:t>
            </a:r>
            <a:r>
              <a:rPr dirty="0" sz="800" spc="-50">
                <a:solidFill>
                  <a:srgbClr val="A7A8A7"/>
                </a:solidFill>
                <a:latin typeface="Arial MT"/>
                <a:cs typeface="Arial MT"/>
              </a:rPr>
              <a:t>93</a:t>
            </a:r>
            <a:endParaRPr sz="800">
              <a:latin typeface="Arial MT"/>
              <a:cs typeface="Arial MT"/>
            </a:endParaRPr>
          </a:p>
        </p:txBody>
      </p:sp>
      <p:sp>
        <p:nvSpPr>
          <p:cNvPr id="68" name="object 68" descr=""/>
          <p:cNvSpPr txBox="1"/>
          <p:nvPr/>
        </p:nvSpPr>
        <p:spPr>
          <a:xfrm>
            <a:off x="1451392" y="1739618"/>
            <a:ext cx="751840" cy="147320"/>
          </a:xfrm>
          <a:prstGeom prst="rect">
            <a:avLst/>
          </a:prstGeom>
        </p:spPr>
        <p:txBody>
          <a:bodyPr wrap="square" lIns="0" tIns="12065" rIns="0" bIns="0" rtlCol="0" vert="horz">
            <a:spAutoFit/>
          </a:bodyPr>
          <a:lstStyle/>
          <a:p>
            <a:pPr marL="50800">
              <a:lnSpc>
                <a:spcPct val="100000"/>
              </a:lnSpc>
              <a:spcBef>
                <a:spcPts val="95"/>
              </a:spcBef>
              <a:tabLst>
                <a:tab pos="544195" algn="l"/>
              </a:tabLst>
            </a:pPr>
            <a:r>
              <a:rPr dirty="0" baseline="-31250" sz="1200" spc="-15">
                <a:solidFill>
                  <a:srgbClr val="A7A8A7"/>
                </a:solidFill>
                <a:latin typeface="Arial MT"/>
                <a:cs typeface="Arial MT"/>
              </a:rPr>
              <a:t>19</a:t>
            </a:r>
            <a:r>
              <a:rPr dirty="0" sz="800" spc="-10">
                <a:solidFill>
                  <a:srgbClr val="A7A8A7"/>
                </a:solidFill>
                <a:latin typeface="Arial MT"/>
                <a:cs typeface="Arial MT"/>
              </a:rPr>
              <a:t>2</a:t>
            </a:r>
            <a:r>
              <a:rPr dirty="0" baseline="-31250" sz="1200" spc="-15">
                <a:solidFill>
                  <a:srgbClr val="A7A8A7"/>
                </a:solidFill>
                <a:latin typeface="Arial MT"/>
                <a:cs typeface="Arial MT"/>
              </a:rPr>
              <a:t>9</a:t>
            </a:r>
            <a:r>
              <a:rPr dirty="0" sz="800" spc="-10">
                <a:solidFill>
                  <a:srgbClr val="A7A8A7"/>
                </a:solidFill>
                <a:latin typeface="Arial MT"/>
                <a:cs typeface="Arial MT"/>
              </a:rPr>
              <a:t>33</a:t>
            </a:r>
            <a:r>
              <a:rPr dirty="0" sz="800">
                <a:solidFill>
                  <a:srgbClr val="A7A8A7"/>
                </a:solidFill>
                <a:latin typeface="Arial MT"/>
                <a:cs typeface="Arial MT"/>
              </a:rPr>
              <a:t>	</a:t>
            </a:r>
            <a:r>
              <a:rPr dirty="0" baseline="3472" sz="1200" spc="-37">
                <a:solidFill>
                  <a:srgbClr val="A7A8A7"/>
                </a:solidFill>
                <a:latin typeface="Arial MT"/>
                <a:cs typeface="Arial MT"/>
              </a:rPr>
              <a:t>238</a:t>
            </a:r>
            <a:endParaRPr baseline="3472" sz="1200">
              <a:latin typeface="Arial MT"/>
              <a:cs typeface="Arial MT"/>
            </a:endParaRPr>
          </a:p>
        </p:txBody>
      </p:sp>
      <p:sp>
        <p:nvSpPr>
          <p:cNvPr id="69" name="object 69" descr=""/>
          <p:cNvSpPr txBox="1"/>
          <p:nvPr/>
        </p:nvSpPr>
        <p:spPr>
          <a:xfrm>
            <a:off x="2092366" y="1665958"/>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278</a:t>
            </a:r>
            <a:endParaRPr sz="800">
              <a:latin typeface="Arial MT"/>
              <a:cs typeface="Arial MT"/>
            </a:endParaRPr>
          </a:p>
        </p:txBody>
      </p:sp>
      <p:sp>
        <p:nvSpPr>
          <p:cNvPr id="70" name="object 70" descr=""/>
          <p:cNvSpPr txBox="1"/>
          <p:nvPr/>
        </p:nvSpPr>
        <p:spPr>
          <a:xfrm>
            <a:off x="2585860" y="1578004"/>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332</a:t>
            </a:r>
            <a:endParaRPr sz="800">
              <a:latin typeface="Arial MT"/>
              <a:cs typeface="Arial MT"/>
            </a:endParaRPr>
          </a:p>
        </p:txBody>
      </p:sp>
      <p:sp>
        <p:nvSpPr>
          <p:cNvPr id="71" name="object 71" descr=""/>
          <p:cNvSpPr txBox="1"/>
          <p:nvPr/>
        </p:nvSpPr>
        <p:spPr>
          <a:xfrm>
            <a:off x="2931878" y="1527926"/>
            <a:ext cx="751840" cy="147320"/>
          </a:xfrm>
          <a:prstGeom prst="rect">
            <a:avLst/>
          </a:prstGeom>
        </p:spPr>
        <p:txBody>
          <a:bodyPr wrap="square" lIns="0" tIns="12065" rIns="0" bIns="0" rtlCol="0" vert="horz">
            <a:spAutoFit/>
          </a:bodyPr>
          <a:lstStyle/>
          <a:p>
            <a:pPr marL="50800">
              <a:lnSpc>
                <a:spcPct val="100000"/>
              </a:lnSpc>
              <a:spcBef>
                <a:spcPts val="95"/>
              </a:spcBef>
              <a:tabLst>
                <a:tab pos="544195" algn="l"/>
              </a:tabLst>
            </a:pPr>
            <a:r>
              <a:rPr dirty="0" baseline="-27777" sz="1200" spc="-15">
                <a:solidFill>
                  <a:srgbClr val="A7A8A7"/>
                </a:solidFill>
                <a:latin typeface="Arial MT"/>
                <a:cs typeface="Arial MT"/>
              </a:rPr>
              <a:t>33</a:t>
            </a:r>
            <a:r>
              <a:rPr dirty="0" baseline="3472" sz="1200" spc="-15">
                <a:solidFill>
                  <a:srgbClr val="A7A8A7"/>
                </a:solidFill>
                <a:latin typeface="Arial MT"/>
                <a:cs typeface="Arial MT"/>
              </a:rPr>
              <a:t>3</a:t>
            </a:r>
            <a:r>
              <a:rPr dirty="0" baseline="-27777" sz="1200" spc="-15">
                <a:solidFill>
                  <a:srgbClr val="A7A8A7"/>
                </a:solidFill>
                <a:latin typeface="Arial MT"/>
                <a:cs typeface="Arial MT"/>
              </a:rPr>
              <a:t>1</a:t>
            </a:r>
            <a:r>
              <a:rPr dirty="0" baseline="3472" sz="1200" spc="-15">
                <a:solidFill>
                  <a:srgbClr val="A7A8A7"/>
                </a:solidFill>
                <a:latin typeface="Arial MT"/>
                <a:cs typeface="Arial MT"/>
              </a:rPr>
              <a:t>65</a:t>
            </a:r>
            <a:r>
              <a:rPr dirty="0" baseline="3472" sz="1200">
                <a:solidFill>
                  <a:srgbClr val="A7A8A7"/>
                </a:solidFill>
                <a:latin typeface="Arial MT"/>
                <a:cs typeface="Arial MT"/>
              </a:rPr>
              <a:t>	</a:t>
            </a:r>
            <a:r>
              <a:rPr dirty="0" sz="800" spc="-25">
                <a:solidFill>
                  <a:srgbClr val="A7A8A7"/>
                </a:solidFill>
                <a:latin typeface="Arial MT"/>
                <a:cs typeface="Arial MT"/>
              </a:rPr>
              <a:t>363</a:t>
            </a:r>
            <a:endParaRPr sz="800">
              <a:latin typeface="Arial MT"/>
              <a:cs typeface="Arial MT"/>
            </a:endParaRPr>
          </a:p>
        </p:txBody>
      </p:sp>
      <p:sp>
        <p:nvSpPr>
          <p:cNvPr id="72" name="object 72" descr=""/>
          <p:cNvSpPr txBox="1"/>
          <p:nvPr/>
        </p:nvSpPr>
        <p:spPr>
          <a:xfrm>
            <a:off x="3572852" y="1470246"/>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398</a:t>
            </a:r>
            <a:endParaRPr sz="800">
              <a:latin typeface="Arial MT"/>
              <a:cs typeface="Arial MT"/>
            </a:endParaRPr>
          </a:p>
        </p:txBody>
      </p:sp>
      <p:sp>
        <p:nvSpPr>
          <p:cNvPr id="73" name="object 73" descr=""/>
          <p:cNvSpPr txBox="1"/>
          <p:nvPr/>
        </p:nvSpPr>
        <p:spPr>
          <a:xfrm>
            <a:off x="4066347" y="1441726"/>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416</a:t>
            </a:r>
            <a:endParaRPr sz="800">
              <a:latin typeface="Arial MT"/>
              <a:cs typeface="Arial MT"/>
            </a:endParaRPr>
          </a:p>
        </p:txBody>
      </p:sp>
      <p:sp>
        <p:nvSpPr>
          <p:cNvPr id="74" name="object 74" descr=""/>
          <p:cNvSpPr txBox="1"/>
          <p:nvPr/>
        </p:nvSpPr>
        <p:spPr>
          <a:xfrm>
            <a:off x="4559843" y="1486852"/>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388</a:t>
            </a:r>
            <a:endParaRPr sz="800">
              <a:latin typeface="Arial MT"/>
              <a:cs typeface="Arial MT"/>
            </a:endParaRPr>
          </a:p>
        </p:txBody>
      </p:sp>
      <p:sp>
        <p:nvSpPr>
          <p:cNvPr id="75" name="object 75" descr=""/>
          <p:cNvSpPr txBox="1"/>
          <p:nvPr/>
        </p:nvSpPr>
        <p:spPr>
          <a:xfrm>
            <a:off x="5053338" y="1618729"/>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307</a:t>
            </a:r>
            <a:endParaRPr sz="800">
              <a:latin typeface="Arial MT"/>
              <a:cs typeface="Arial MT"/>
            </a:endParaRPr>
          </a:p>
        </p:txBody>
      </p:sp>
      <p:sp>
        <p:nvSpPr>
          <p:cNvPr id="76" name="object 76" descr=""/>
          <p:cNvSpPr txBox="1"/>
          <p:nvPr/>
        </p:nvSpPr>
        <p:spPr>
          <a:xfrm>
            <a:off x="5546834" y="1624219"/>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304</a:t>
            </a:r>
            <a:endParaRPr sz="800">
              <a:latin typeface="Arial MT"/>
              <a:cs typeface="Arial MT"/>
            </a:endParaRPr>
          </a:p>
        </p:txBody>
      </p:sp>
      <p:sp>
        <p:nvSpPr>
          <p:cNvPr id="77" name="object 77" descr=""/>
          <p:cNvSpPr txBox="1"/>
          <p:nvPr/>
        </p:nvSpPr>
        <p:spPr>
          <a:xfrm>
            <a:off x="5905550" y="1721573"/>
            <a:ext cx="354965" cy="147320"/>
          </a:xfrm>
          <a:prstGeom prst="rect">
            <a:avLst/>
          </a:prstGeom>
        </p:spPr>
        <p:txBody>
          <a:bodyPr wrap="square" lIns="0" tIns="12065" rIns="0" bIns="0" rtlCol="0" vert="horz">
            <a:spAutoFit/>
          </a:bodyPr>
          <a:lstStyle/>
          <a:p>
            <a:pPr marL="38100">
              <a:lnSpc>
                <a:spcPct val="100000"/>
              </a:lnSpc>
              <a:spcBef>
                <a:spcPts val="95"/>
              </a:spcBef>
            </a:pPr>
            <a:r>
              <a:rPr dirty="0" baseline="-27777" sz="1200" spc="-75">
                <a:solidFill>
                  <a:srgbClr val="A7A8A7"/>
                </a:solidFill>
                <a:latin typeface="Arial MT"/>
                <a:cs typeface="Arial MT"/>
              </a:rPr>
              <a:t>21</a:t>
            </a:r>
            <a:r>
              <a:rPr dirty="0" sz="800" spc="-50">
                <a:solidFill>
                  <a:srgbClr val="A7A8A7"/>
                </a:solidFill>
                <a:latin typeface="Arial MT"/>
                <a:cs typeface="Arial MT"/>
              </a:rPr>
              <a:t>2</a:t>
            </a:r>
            <a:r>
              <a:rPr dirty="0" baseline="-27777" sz="1200" spc="-75">
                <a:solidFill>
                  <a:srgbClr val="A7A8A7"/>
                </a:solidFill>
                <a:latin typeface="Arial MT"/>
                <a:cs typeface="Arial MT"/>
              </a:rPr>
              <a:t>3</a:t>
            </a:r>
            <a:r>
              <a:rPr dirty="0" sz="800" spc="-50">
                <a:solidFill>
                  <a:srgbClr val="A7A8A7"/>
                </a:solidFill>
                <a:latin typeface="Arial MT"/>
                <a:cs typeface="Arial MT"/>
              </a:rPr>
              <a:t>44</a:t>
            </a:r>
            <a:endParaRPr sz="800">
              <a:latin typeface="Arial MT"/>
              <a:cs typeface="Arial MT"/>
            </a:endParaRPr>
          </a:p>
        </p:txBody>
      </p:sp>
      <p:sp>
        <p:nvSpPr>
          <p:cNvPr id="78" name="object 78" descr=""/>
          <p:cNvSpPr txBox="1"/>
          <p:nvPr/>
        </p:nvSpPr>
        <p:spPr>
          <a:xfrm>
            <a:off x="6399046" y="1698416"/>
            <a:ext cx="354965" cy="147320"/>
          </a:xfrm>
          <a:prstGeom prst="rect">
            <a:avLst/>
          </a:prstGeom>
        </p:spPr>
        <p:txBody>
          <a:bodyPr wrap="square" lIns="0" tIns="12065" rIns="0" bIns="0" rtlCol="0" vert="horz">
            <a:spAutoFit/>
          </a:bodyPr>
          <a:lstStyle/>
          <a:p>
            <a:pPr marL="38100">
              <a:lnSpc>
                <a:spcPct val="100000"/>
              </a:lnSpc>
              <a:spcBef>
                <a:spcPts val="95"/>
              </a:spcBef>
            </a:pPr>
            <a:r>
              <a:rPr dirty="0" sz="800" spc="-50">
                <a:solidFill>
                  <a:srgbClr val="A7A8A7"/>
                </a:solidFill>
                <a:latin typeface="Arial MT"/>
                <a:cs typeface="Arial MT"/>
              </a:rPr>
              <a:t>25</a:t>
            </a:r>
            <a:r>
              <a:rPr dirty="0" baseline="-6944" sz="1200" spc="-75">
                <a:solidFill>
                  <a:srgbClr val="A7A8A7"/>
                </a:solidFill>
                <a:latin typeface="Arial MT"/>
                <a:cs typeface="Arial MT"/>
              </a:rPr>
              <a:t>2</a:t>
            </a:r>
            <a:r>
              <a:rPr dirty="0" sz="800" spc="-50">
                <a:solidFill>
                  <a:srgbClr val="A7A8A7"/>
                </a:solidFill>
                <a:latin typeface="Arial MT"/>
                <a:cs typeface="Arial MT"/>
              </a:rPr>
              <a:t>8</a:t>
            </a:r>
            <a:r>
              <a:rPr dirty="0" baseline="-6944" sz="1200" spc="-75">
                <a:solidFill>
                  <a:srgbClr val="A7A8A7"/>
                </a:solidFill>
                <a:latin typeface="Arial MT"/>
                <a:cs typeface="Arial MT"/>
              </a:rPr>
              <a:t>49</a:t>
            </a:r>
            <a:endParaRPr baseline="-6944" sz="1200">
              <a:latin typeface="Arial MT"/>
              <a:cs typeface="Arial MT"/>
            </a:endParaRPr>
          </a:p>
        </p:txBody>
      </p:sp>
      <p:sp>
        <p:nvSpPr>
          <p:cNvPr id="79" name="object 79" descr=""/>
          <p:cNvSpPr txBox="1"/>
          <p:nvPr/>
        </p:nvSpPr>
        <p:spPr>
          <a:xfrm>
            <a:off x="6892542" y="1651238"/>
            <a:ext cx="354965" cy="147320"/>
          </a:xfrm>
          <a:prstGeom prst="rect">
            <a:avLst/>
          </a:prstGeom>
        </p:spPr>
        <p:txBody>
          <a:bodyPr wrap="square" lIns="0" tIns="12065" rIns="0" bIns="0" rtlCol="0" vert="horz">
            <a:spAutoFit/>
          </a:bodyPr>
          <a:lstStyle/>
          <a:p>
            <a:pPr marL="38100">
              <a:lnSpc>
                <a:spcPct val="100000"/>
              </a:lnSpc>
              <a:spcBef>
                <a:spcPts val="95"/>
              </a:spcBef>
            </a:pPr>
            <a:r>
              <a:rPr dirty="0" sz="800" spc="-50">
                <a:solidFill>
                  <a:srgbClr val="A7A8A7"/>
                </a:solidFill>
                <a:latin typeface="Arial MT"/>
                <a:cs typeface="Arial MT"/>
              </a:rPr>
              <a:t>28</a:t>
            </a:r>
            <a:r>
              <a:rPr dirty="0" baseline="6944" sz="1200" spc="-75">
                <a:solidFill>
                  <a:srgbClr val="A7A8A7"/>
                </a:solidFill>
                <a:latin typeface="Arial MT"/>
                <a:cs typeface="Arial MT"/>
              </a:rPr>
              <a:t>2</a:t>
            </a:r>
            <a:r>
              <a:rPr dirty="0" sz="800" spc="-50">
                <a:solidFill>
                  <a:srgbClr val="A7A8A7"/>
                </a:solidFill>
                <a:latin typeface="Arial MT"/>
                <a:cs typeface="Arial MT"/>
              </a:rPr>
              <a:t>7</a:t>
            </a:r>
            <a:r>
              <a:rPr dirty="0" baseline="6944" sz="1200" spc="-75">
                <a:solidFill>
                  <a:srgbClr val="A7A8A7"/>
                </a:solidFill>
                <a:latin typeface="Arial MT"/>
                <a:cs typeface="Arial MT"/>
              </a:rPr>
              <a:t>94</a:t>
            </a:r>
            <a:endParaRPr baseline="6944" sz="1200">
              <a:latin typeface="Arial MT"/>
              <a:cs typeface="Arial MT"/>
            </a:endParaRPr>
          </a:p>
        </p:txBody>
      </p:sp>
      <p:sp>
        <p:nvSpPr>
          <p:cNvPr id="80" name="object 80" descr=""/>
          <p:cNvSpPr txBox="1"/>
          <p:nvPr/>
        </p:nvSpPr>
        <p:spPr>
          <a:xfrm>
            <a:off x="7386038" y="1191558"/>
            <a:ext cx="354965" cy="147320"/>
          </a:xfrm>
          <a:prstGeom prst="rect">
            <a:avLst/>
          </a:prstGeom>
        </p:spPr>
        <p:txBody>
          <a:bodyPr wrap="square" lIns="0" tIns="12065" rIns="0" bIns="0" rtlCol="0" vert="horz">
            <a:spAutoFit/>
          </a:bodyPr>
          <a:lstStyle/>
          <a:p>
            <a:pPr marL="38100">
              <a:lnSpc>
                <a:spcPct val="100000"/>
              </a:lnSpc>
              <a:spcBef>
                <a:spcPts val="95"/>
              </a:spcBef>
            </a:pPr>
            <a:r>
              <a:rPr dirty="0" baseline="-27777" sz="1200" spc="-75">
                <a:solidFill>
                  <a:srgbClr val="A7A8A7"/>
                </a:solidFill>
                <a:latin typeface="Arial MT"/>
                <a:cs typeface="Arial MT"/>
              </a:rPr>
              <a:t>53</a:t>
            </a:r>
            <a:r>
              <a:rPr dirty="0" sz="800" spc="-50">
                <a:solidFill>
                  <a:srgbClr val="A7A8A7"/>
                </a:solidFill>
                <a:latin typeface="Arial MT"/>
                <a:cs typeface="Arial MT"/>
              </a:rPr>
              <a:t>5</a:t>
            </a:r>
            <a:r>
              <a:rPr dirty="0" baseline="-27777" sz="1200" spc="-75">
                <a:solidFill>
                  <a:srgbClr val="A7A8A7"/>
                </a:solidFill>
                <a:latin typeface="Arial MT"/>
                <a:cs typeface="Arial MT"/>
              </a:rPr>
              <a:t>9</a:t>
            </a:r>
            <a:r>
              <a:rPr dirty="0" sz="800" spc="-50">
                <a:solidFill>
                  <a:srgbClr val="A7A8A7"/>
                </a:solidFill>
                <a:latin typeface="Arial MT"/>
                <a:cs typeface="Arial MT"/>
              </a:rPr>
              <a:t>69</a:t>
            </a:r>
            <a:endParaRPr sz="800">
              <a:latin typeface="Arial MT"/>
              <a:cs typeface="Arial MT"/>
            </a:endParaRPr>
          </a:p>
        </p:txBody>
      </p:sp>
      <p:sp>
        <p:nvSpPr>
          <p:cNvPr id="81" name="object 81" descr=""/>
          <p:cNvSpPr txBox="1"/>
          <p:nvPr/>
        </p:nvSpPr>
        <p:spPr>
          <a:xfrm>
            <a:off x="7904933" y="1432850"/>
            <a:ext cx="304165" cy="147320"/>
          </a:xfrm>
          <a:prstGeom prst="rect">
            <a:avLst/>
          </a:prstGeom>
        </p:spPr>
        <p:txBody>
          <a:bodyPr wrap="square" lIns="0" tIns="12065" rIns="0" bIns="0" rtlCol="0" vert="horz">
            <a:spAutoFit/>
          </a:bodyPr>
          <a:lstStyle/>
          <a:p>
            <a:pPr marL="12700">
              <a:lnSpc>
                <a:spcPct val="100000"/>
              </a:lnSpc>
              <a:spcBef>
                <a:spcPts val="95"/>
              </a:spcBef>
            </a:pPr>
            <a:r>
              <a:rPr dirty="0" sz="800" spc="-85">
                <a:solidFill>
                  <a:srgbClr val="A7A8A7"/>
                </a:solidFill>
                <a:latin typeface="Arial MT"/>
                <a:cs typeface="Arial MT"/>
              </a:rPr>
              <a:t>424221</a:t>
            </a:r>
            <a:endParaRPr sz="800">
              <a:latin typeface="Arial MT"/>
              <a:cs typeface="Arial MT"/>
            </a:endParaRPr>
          </a:p>
        </p:txBody>
      </p:sp>
      <p:sp>
        <p:nvSpPr>
          <p:cNvPr id="82" name="object 82" descr=""/>
          <p:cNvSpPr txBox="1"/>
          <p:nvPr/>
        </p:nvSpPr>
        <p:spPr>
          <a:xfrm>
            <a:off x="8373028" y="1563688"/>
            <a:ext cx="354965" cy="147320"/>
          </a:xfrm>
          <a:prstGeom prst="rect">
            <a:avLst/>
          </a:prstGeom>
        </p:spPr>
        <p:txBody>
          <a:bodyPr wrap="square" lIns="0" tIns="12065" rIns="0" bIns="0" rtlCol="0" vert="horz">
            <a:spAutoFit/>
          </a:bodyPr>
          <a:lstStyle/>
          <a:p>
            <a:pPr marL="38100">
              <a:lnSpc>
                <a:spcPct val="100000"/>
              </a:lnSpc>
              <a:spcBef>
                <a:spcPts val="95"/>
              </a:spcBef>
            </a:pPr>
            <a:r>
              <a:rPr dirty="0" sz="800" spc="-50">
                <a:solidFill>
                  <a:srgbClr val="A7A8A7"/>
                </a:solidFill>
                <a:latin typeface="Arial MT"/>
                <a:cs typeface="Arial MT"/>
              </a:rPr>
              <a:t>34</a:t>
            </a:r>
            <a:r>
              <a:rPr dirty="0" baseline="6944" sz="1200" spc="-75">
                <a:solidFill>
                  <a:srgbClr val="A7A8A7"/>
                </a:solidFill>
                <a:latin typeface="Arial MT"/>
                <a:cs typeface="Arial MT"/>
              </a:rPr>
              <a:t>3</a:t>
            </a:r>
            <a:r>
              <a:rPr dirty="0" sz="800" spc="-50">
                <a:solidFill>
                  <a:srgbClr val="A7A8A7"/>
                </a:solidFill>
                <a:latin typeface="Arial MT"/>
                <a:cs typeface="Arial MT"/>
              </a:rPr>
              <a:t>1</a:t>
            </a:r>
            <a:r>
              <a:rPr dirty="0" baseline="6944" sz="1200" spc="-75">
                <a:solidFill>
                  <a:srgbClr val="A7A8A7"/>
                </a:solidFill>
                <a:latin typeface="Arial MT"/>
                <a:cs typeface="Arial MT"/>
              </a:rPr>
              <a:t>47</a:t>
            </a:r>
            <a:endParaRPr baseline="6944" sz="1200">
              <a:latin typeface="Arial MT"/>
              <a:cs typeface="Arial MT"/>
            </a:endParaRPr>
          </a:p>
        </p:txBody>
      </p:sp>
      <p:sp>
        <p:nvSpPr>
          <p:cNvPr id="83" name="object 83" descr=""/>
          <p:cNvSpPr txBox="1"/>
          <p:nvPr/>
        </p:nvSpPr>
        <p:spPr>
          <a:xfrm>
            <a:off x="721258" y="1937602"/>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112</a:t>
            </a:r>
            <a:endParaRPr sz="800">
              <a:latin typeface="Arial MT"/>
              <a:cs typeface="Arial MT"/>
            </a:endParaRPr>
          </a:p>
        </p:txBody>
      </p:sp>
      <p:sp>
        <p:nvSpPr>
          <p:cNvPr id="84" name="object 84" descr=""/>
          <p:cNvSpPr txBox="1"/>
          <p:nvPr/>
        </p:nvSpPr>
        <p:spPr>
          <a:xfrm>
            <a:off x="1214753" y="1902358"/>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133</a:t>
            </a:r>
            <a:endParaRPr sz="800">
              <a:latin typeface="Arial MT"/>
              <a:cs typeface="Arial MT"/>
            </a:endParaRPr>
          </a:p>
        </p:txBody>
      </p:sp>
      <p:sp>
        <p:nvSpPr>
          <p:cNvPr id="85" name="object 85" descr=""/>
          <p:cNvSpPr txBox="1"/>
          <p:nvPr/>
        </p:nvSpPr>
        <p:spPr>
          <a:xfrm>
            <a:off x="1708249" y="1856896"/>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161</a:t>
            </a:r>
            <a:endParaRPr sz="800">
              <a:latin typeface="Arial MT"/>
              <a:cs typeface="Arial MT"/>
            </a:endParaRPr>
          </a:p>
        </p:txBody>
      </p:sp>
      <p:sp>
        <p:nvSpPr>
          <p:cNvPr id="86" name="object 86" descr=""/>
          <p:cNvSpPr txBox="1"/>
          <p:nvPr/>
        </p:nvSpPr>
        <p:spPr>
          <a:xfrm>
            <a:off x="2201744" y="1805992"/>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192</a:t>
            </a:r>
            <a:endParaRPr sz="800">
              <a:latin typeface="Arial MT"/>
              <a:cs typeface="Arial MT"/>
            </a:endParaRPr>
          </a:p>
        </p:txBody>
      </p:sp>
      <p:sp>
        <p:nvSpPr>
          <p:cNvPr id="87" name="object 87" descr=""/>
          <p:cNvSpPr txBox="1"/>
          <p:nvPr/>
        </p:nvSpPr>
        <p:spPr>
          <a:xfrm>
            <a:off x="2695240" y="1745209"/>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230</a:t>
            </a:r>
            <a:endParaRPr sz="800">
              <a:latin typeface="Arial MT"/>
              <a:cs typeface="Arial MT"/>
            </a:endParaRPr>
          </a:p>
        </p:txBody>
      </p:sp>
      <p:sp>
        <p:nvSpPr>
          <p:cNvPr id="88" name="object 88" descr=""/>
          <p:cNvSpPr txBox="1"/>
          <p:nvPr/>
        </p:nvSpPr>
        <p:spPr>
          <a:xfrm>
            <a:off x="3188735" y="1706977"/>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253</a:t>
            </a:r>
            <a:endParaRPr sz="800">
              <a:latin typeface="Arial MT"/>
              <a:cs typeface="Arial MT"/>
            </a:endParaRPr>
          </a:p>
        </p:txBody>
      </p:sp>
      <p:sp>
        <p:nvSpPr>
          <p:cNvPr id="89" name="object 89" descr=""/>
          <p:cNvSpPr txBox="1"/>
          <p:nvPr/>
        </p:nvSpPr>
        <p:spPr>
          <a:xfrm>
            <a:off x="3682231" y="1671270"/>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275</a:t>
            </a:r>
            <a:endParaRPr sz="800">
              <a:latin typeface="Arial MT"/>
              <a:cs typeface="Arial MT"/>
            </a:endParaRPr>
          </a:p>
        </p:txBody>
      </p:sp>
      <p:sp>
        <p:nvSpPr>
          <p:cNvPr id="90" name="object 90" descr=""/>
          <p:cNvSpPr txBox="1"/>
          <p:nvPr/>
        </p:nvSpPr>
        <p:spPr>
          <a:xfrm>
            <a:off x="4175725" y="1653509"/>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286</a:t>
            </a:r>
            <a:endParaRPr sz="800">
              <a:latin typeface="Arial MT"/>
              <a:cs typeface="Arial MT"/>
            </a:endParaRPr>
          </a:p>
        </p:txBody>
      </p:sp>
      <p:sp>
        <p:nvSpPr>
          <p:cNvPr id="91" name="object 91" descr=""/>
          <p:cNvSpPr txBox="1"/>
          <p:nvPr/>
        </p:nvSpPr>
        <p:spPr>
          <a:xfrm>
            <a:off x="4669222" y="1688542"/>
            <a:ext cx="688340" cy="236220"/>
          </a:xfrm>
          <a:prstGeom prst="rect">
            <a:avLst/>
          </a:prstGeom>
        </p:spPr>
        <p:txBody>
          <a:bodyPr wrap="square" lIns="0" tIns="12065" rIns="0" bIns="0" rtlCol="0" vert="horz">
            <a:spAutoFit/>
          </a:bodyPr>
          <a:lstStyle/>
          <a:p>
            <a:pPr marL="12700">
              <a:lnSpc>
                <a:spcPts val="830"/>
              </a:lnSpc>
              <a:spcBef>
                <a:spcPts val="95"/>
              </a:spcBef>
            </a:pPr>
            <a:r>
              <a:rPr dirty="0" sz="800">
                <a:solidFill>
                  <a:srgbClr val="A7A8A7"/>
                </a:solidFill>
                <a:latin typeface="Arial MT"/>
                <a:cs typeface="Arial MT"/>
              </a:rPr>
              <a:t>265</a:t>
            </a:r>
            <a:r>
              <a:rPr dirty="0" sz="800" spc="180">
                <a:solidFill>
                  <a:srgbClr val="A7A8A7"/>
                </a:solidFill>
                <a:latin typeface="Arial MT"/>
                <a:cs typeface="Arial MT"/>
              </a:rPr>
              <a:t>  </a:t>
            </a:r>
            <a:r>
              <a:rPr dirty="0" sz="800" spc="-25">
                <a:solidFill>
                  <a:srgbClr val="A7A8A7"/>
                </a:solidFill>
                <a:latin typeface="Arial MT"/>
                <a:cs typeface="Arial MT"/>
              </a:rPr>
              <a:t>264</a:t>
            </a:r>
            <a:endParaRPr sz="800">
              <a:latin typeface="Arial MT"/>
              <a:cs typeface="Arial MT"/>
            </a:endParaRPr>
          </a:p>
          <a:p>
            <a:pPr marL="506095">
              <a:lnSpc>
                <a:spcPts val="830"/>
              </a:lnSpc>
            </a:pPr>
            <a:r>
              <a:rPr dirty="0" sz="800" spc="-25">
                <a:solidFill>
                  <a:srgbClr val="A7A8A7"/>
                </a:solidFill>
                <a:latin typeface="Arial MT"/>
                <a:cs typeface="Arial MT"/>
              </a:rPr>
              <a:t>210</a:t>
            </a:r>
            <a:endParaRPr sz="800">
              <a:latin typeface="Arial MT"/>
              <a:cs typeface="Arial MT"/>
            </a:endParaRPr>
          </a:p>
        </p:txBody>
      </p:sp>
      <p:sp>
        <p:nvSpPr>
          <p:cNvPr id="92" name="object 92" descr=""/>
          <p:cNvSpPr txBox="1"/>
          <p:nvPr/>
        </p:nvSpPr>
        <p:spPr>
          <a:xfrm>
            <a:off x="5437455" y="1690877"/>
            <a:ext cx="413384" cy="235585"/>
          </a:xfrm>
          <a:prstGeom prst="rect">
            <a:avLst/>
          </a:prstGeom>
        </p:spPr>
        <p:txBody>
          <a:bodyPr wrap="square" lIns="0" tIns="12065" rIns="0" bIns="0" rtlCol="0" vert="horz">
            <a:spAutoFit/>
          </a:bodyPr>
          <a:lstStyle/>
          <a:p>
            <a:pPr marL="12700">
              <a:lnSpc>
                <a:spcPts val="830"/>
              </a:lnSpc>
              <a:spcBef>
                <a:spcPts val="95"/>
              </a:spcBef>
            </a:pPr>
            <a:r>
              <a:rPr dirty="0" sz="800" spc="-25">
                <a:solidFill>
                  <a:srgbClr val="A7A8A7"/>
                </a:solidFill>
                <a:latin typeface="Arial MT"/>
                <a:cs typeface="Arial MT"/>
              </a:rPr>
              <a:t>263</a:t>
            </a:r>
            <a:endParaRPr sz="800">
              <a:latin typeface="Arial MT"/>
              <a:cs typeface="Arial MT"/>
            </a:endParaRPr>
          </a:p>
          <a:p>
            <a:pPr marL="231140">
              <a:lnSpc>
                <a:spcPts val="830"/>
              </a:lnSpc>
            </a:pPr>
            <a:r>
              <a:rPr dirty="0" sz="800" spc="-25">
                <a:solidFill>
                  <a:srgbClr val="A7A8A7"/>
                </a:solidFill>
                <a:latin typeface="Arial MT"/>
                <a:cs typeface="Arial MT"/>
              </a:rPr>
              <a:t>209</a:t>
            </a:r>
            <a:endParaRPr sz="800">
              <a:latin typeface="Arial MT"/>
              <a:cs typeface="Arial MT"/>
            </a:endParaRPr>
          </a:p>
        </p:txBody>
      </p:sp>
      <p:sp>
        <p:nvSpPr>
          <p:cNvPr id="93" name="object 93" descr=""/>
          <p:cNvSpPr txBox="1"/>
          <p:nvPr/>
        </p:nvSpPr>
        <p:spPr>
          <a:xfrm>
            <a:off x="6149708" y="1844483"/>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169</a:t>
            </a:r>
            <a:endParaRPr sz="800">
              <a:latin typeface="Arial MT"/>
              <a:cs typeface="Arial MT"/>
            </a:endParaRPr>
          </a:p>
        </p:txBody>
      </p:sp>
      <p:sp>
        <p:nvSpPr>
          <p:cNvPr id="94" name="object 94" descr=""/>
          <p:cNvSpPr txBox="1"/>
          <p:nvPr/>
        </p:nvSpPr>
        <p:spPr>
          <a:xfrm>
            <a:off x="6643161" y="1794925"/>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199</a:t>
            </a:r>
            <a:endParaRPr sz="800">
              <a:latin typeface="Arial MT"/>
              <a:cs typeface="Arial MT"/>
            </a:endParaRPr>
          </a:p>
        </p:txBody>
      </p:sp>
      <p:sp>
        <p:nvSpPr>
          <p:cNvPr id="95" name="object 95" descr=""/>
          <p:cNvSpPr txBox="1"/>
          <p:nvPr/>
        </p:nvSpPr>
        <p:spPr>
          <a:xfrm>
            <a:off x="7136699" y="1785564"/>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205</a:t>
            </a:r>
            <a:endParaRPr sz="800">
              <a:latin typeface="Arial MT"/>
              <a:cs typeface="Arial MT"/>
            </a:endParaRPr>
          </a:p>
        </p:txBody>
      </p:sp>
      <p:sp>
        <p:nvSpPr>
          <p:cNvPr id="96" name="object 96" descr=""/>
          <p:cNvSpPr txBox="1"/>
          <p:nvPr/>
        </p:nvSpPr>
        <p:spPr>
          <a:xfrm>
            <a:off x="7630193" y="1478742"/>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393</a:t>
            </a:r>
            <a:endParaRPr sz="800">
              <a:latin typeface="Arial MT"/>
              <a:cs typeface="Arial MT"/>
            </a:endParaRPr>
          </a:p>
        </p:txBody>
      </p:sp>
      <p:sp>
        <p:nvSpPr>
          <p:cNvPr id="97" name="object 97" descr=""/>
          <p:cNvSpPr txBox="1"/>
          <p:nvPr/>
        </p:nvSpPr>
        <p:spPr>
          <a:xfrm>
            <a:off x="8123689" y="1636004"/>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297</a:t>
            </a:r>
            <a:endParaRPr sz="800">
              <a:latin typeface="Arial MT"/>
              <a:cs typeface="Arial MT"/>
            </a:endParaRPr>
          </a:p>
        </p:txBody>
      </p:sp>
      <p:sp>
        <p:nvSpPr>
          <p:cNvPr id="98" name="object 98" descr=""/>
          <p:cNvSpPr txBox="1"/>
          <p:nvPr/>
        </p:nvSpPr>
        <p:spPr>
          <a:xfrm>
            <a:off x="8617184" y="1727765"/>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240</a:t>
            </a:r>
            <a:endParaRPr sz="800">
              <a:latin typeface="Arial MT"/>
              <a:cs typeface="Arial MT"/>
            </a:endParaRPr>
          </a:p>
        </p:txBody>
      </p:sp>
      <p:grpSp>
        <p:nvGrpSpPr>
          <p:cNvPr id="99" name="object 99" descr=""/>
          <p:cNvGrpSpPr/>
          <p:nvPr/>
        </p:nvGrpSpPr>
        <p:grpSpPr>
          <a:xfrm>
            <a:off x="420316" y="2437635"/>
            <a:ext cx="8216900" cy="869950"/>
            <a:chOff x="420316" y="2437635"/>
            <a:chExt cx="8216900" cy="869950"/>
          </a:xfrm>
        </p:grpSpPr>
        <p:pic>
          <p:nvPicPr>
            <p:cNvPr id="100" name="object 100" descr=""/>
            <p:cNvPicPr/>
            <p:nvPr/>
          </p:nvPicPr>
          <p:blipFill>
            <a:blip r:embed="rId56" cstate="print"/>
            <a:stretch>
              <a:fillRect/>
            </a:stretch>
          </p:blipFill>
          <p:spPr>
            <a:xfrm>
              <a:off x="420316" y="2440764"/>
              <a:ext cx="312883" cy="344896"/>
            </a:xfrm>
            <a:prstGeom prst="rect">
              <a:avLst/>
            </a:prstGeom>
          </p:spPr>
        </p:pic>
        <p:pic>
          <p:nvPicPr>
            <p:cNvPr id="101" name="object 101" descr=""/>
            <p:cNvPicPr/>
            <p:nvPr/>
          </p:nvPicPr>
          <p:blipFill>
            <a:blip r:embed="rId57" cstate="print"/>
            <a:stretch>
              <a:fillRect/>
            </a:stretch>
          </p:blipFill>
          <p:spPr>
            <a:xfrm>
              <a:off x="913811" y="2440764"/>
              <a:ext cx="312882" cy="344896"/>
            </a:xfrm>
            <a:prstGeom prst="rect">
              <a:avLst/>
            </a:prstGeom>
          </p:spPr>
        </p:pic>
        <p:pic>
          <p:nvPicPr>
            <p:cNvPr id="102" name="object 102" descr=""/>
            <p:cNvPicPr/>
            <p:nvPr/>
          </p:nvPicPr>
          <p:blipFill>
            <a:blip r:embed="rId58" cstate="print"/>
            <a:stretch>
              <a:fillRect/>
            </a:stretch>
          </p:blipFill>
          <p:spPr>
            <a:xfrm>
              <a:off x="1347184" y="2452112"/>
              <a:ext cx="380693" cy="393671"/>
            </a:xfrm>
            <a:prstGeom prst="rect">
              <a:avLst/>
            </a:prstGeom>
          </p:spPr>
        </p:pic>
        <p:pic>
          <p:nvPicPr>
            <p:cNvPr id="103" name="object 103" descr=""/>
            <p:cNvPicPr/>
            <p:nvPr/>
          </p:nvPicPr>
          <p:blipFill>
            <a:blip r:embed="rId59" cstate="print"/>
            <a:stretch>
              <a:fillRect/>
            </a:stretch>
          </p:blipFill>
          <p:spPr>
            <a:xfrm>
              <a:off x="1840679" y="2452112"/>
              <a:ext cx="380687" cy="393671"/>
            </a:xfrm>
            <a:prstGeom prst="rect">
              <a:avLst/>
            </a:prstGeom>
          </p:spPr>
        </p:pic>
        <p:pic>
          <p:nvPicPr>
            <p:cNvPr id="104" name="object 104" descr=""/>
            <p:cNvPicPr/>
            <p:nvPr/>
          </p:nvPicPr>
          <p:blipFill>
            <a:blip r:embed="rId60" cstate="print"/>
            <a:stretch>
              <a:fillRect/>
            </a:stretch>
          </p:blipFill>
          <p:spPr>
            <a:xfrm>
              <a:off x="2334176" y="2452112"/>
              <a:ext cx="380693" cy="393671"/>
            </a:xfrm>
            <a:prstGeom prst="rect">
              <a:avLst/>
            </a:prstGeom>
          </p:spPr>
        </p:pic>
        <p:pic>
          <p:nvPicPr>
            <p:cNvPr id="105" name="object 105" descr=""/>
            <p:cNvPicPr/>
            <p:nvPr/>
          </p:nvPicPr>
          <p:blipFill>
            <a:blip r:embed="rId61" cstate="print"/>
            <a:stretch>
              <a:fillRect/>
            </a:stretch>
          </p:blipFill>
          <p:spPr>
            <a:xfrm>
              <a:off x="2814566" y="2440764"/>
              <a:ext cx="386109" cy="365484"/>
            </a:xfrm>
            <a:prstGeom prst="rect">
              <a:avLst/>
            </a:prstGeom>
          </p:spPr>
        </p:pic>
        <p:pic>
          <p:nvPicPr>
            <p:cNvPr id="106" name="object 106" descr=""/>
            <p:cNvPicPr/>
            <p:nvPr/>
          </p:nvPicPr>
          <p:blipFill>
            <a:blip r:embed="rId62" cstate="print"/>
            <a:stretch>
              <a:fillRect/>
            </a:stretch>
          </p:blipFill>
          <p:spPr>
            <a:xfrm>
              <a:off x="3308061" y="2440764"/>
              <a:ext cx="386110" cy="365484"/>
            </a:xfrm>
            <a:prstGeom prst="rect">
              <a:avLst/>
            </a:prstGeom>
          </p:spPr>
        </p:pic>
        <p:pic>
          <p:nvPicPr>
            <p:cNvPr id="107" name="object 107" descr=""/>
            <p:cNvPicPr/>
            <p:nvPr/>
          </p:nvPicPr>
          <p:blipFill>
            <a:blip r:embed="rId63" cstate="print"/>
            <a:stretch>
              <a:fillRect/>
            </a:stretch>
          </p:blipFill>
          <p:spPr>
            <a:xfrm>
              <a:off x="3801555" y="2437635"/>
              <a:ext cx="4835118" cy="869806"/>
            </a:xfrm>
            <a:prstGeom prst="rect">
              <a:avLst/>
            </a:prstGeom>
          </p:spPr>
        </p:pic>
      </p:grpSp>
      <p:sp>
        <p:nvSpPr>
          <p:cNvPr id="108" name="object 108" descr=""/>
          <p:cNvSpPr txBox="1"/>
          <p:nvPr/>
        </p:nvSpPr>
        <p:spPr>
          <a:xfrm>
            <a:off x="4067934" y="940561"/>
            <a:ext cx="1143000" cy="208279"/>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595958"/>
                </a:solidFill>
                <a:latin typeface="Microsoft YaHei"/>
                <a:cs typeface="Microsoft YaHei"/>
              </a:rPr>
              <a:t>5G覆盖距离对比</a:t>
            </a:r>
            <a:endParaRPr sz="1200">
              <a:latin typeface="Microsoft YaHei"/>
              <a:cs typeface="Microsoft YaHei"/>
            </a:endParaRPr>
          </a:p>
        </p:txBody>
      </p:sp>
      <p:grpSp>
        <p:nvGrpSpPr>
          <p:cNvPr id="109" name="object 109" descr=""/>
          <p:cNvGrpSpPr/>
          <p:nvPr/>
        </p:nvGrpSpPr>
        <p:grpSpPr>
          <a:xfrm>
            <a:off x="282257" y="814387"/>
            <a:ext cx="8714105" cy="2927350"/>
            <a:chOff x="282257" y="814387"/>
            <a:chExt cx="8714105" cy="2927350"/>
          </a:xfrm>
        </p:grpSpPr>
        <p:pic>
          <p:nvPicPr>
            <p:cNvPr id="110" name="object 110" descr=""/>
            <p:cNvPicPr/>
            <p:nvPr/>
          </p:nvPicPr>
          <p:blipFill>
            <a:blip r:embed="rId64" cstate="print"/>
            <a:stretch>
              <a:fillRect/>
            </a:stretch>
          </p:blipFill>
          <p:spPr>
            <a:xfrm>
              <a:off x="3543414" y="3513899"/>
              <a:ext cx="67894" cy="67894"/>
            </a:xfrm>
            <a:prstGeom prst="rect">
              <a:avLst/>
            </a:prstGeom>
          </p:spPr>
        </p:pic>
        <p:pic>
          <p:nvPicPr>
            <p:cNvPr id="111" name="object 111" descr=""/>
            <p:cNvPicPr/>
            <p:nvPr/>
          </p:nvPicPr>
          <p:blipFill>
            <a:blip r:embed="rId65" cstate="print"/>
            <a:stretch>
              <a:fillRect/>
            </a:stretch>
          </p:blipFill>
          <p:spPr>
            <a:xfrm>
              <a:off x="4337520" y="3513899"/>
              <a:ext cx="67894" cy="67894"/>
            </a:xfrm>
            <a:prstGeom prst="rect">
              <a:avLst/>
            </a:prstGeom>
          </p:spPr>
        </p:pic>
        <p:pic>
          <p:nvPicPr>
            <p:cNvPr id="112" name="object 112" descr=""/>
            <p:cNvPicPr/>
            <p:nvPr/>
          </p:nvPicPr>
          <p:blipFill>
            <a:blip r:embed="rId66" cstate="print"/>
            <a:stretch>
              <a:fillRect/>
            </a:stretch>
          </p:blipFill>
          <p:spPr>
            <a:xfrm>
              <a:off x="5131612" y="3513899"/>
              <a:ext cx="67894" cy="67894"/>
            </a:xfrm>
            <a:prstGeom prst="rect">
              <a:avLst/>
            </a:prstGeom>
          </p:spPr>
        </p:pic>
        <p:sp>
          <p:nvSpPr>
            <p:cNvPr id="113" name="object 113" descr=""/>
            <p:cNvSpPr/>
            <p:nvPr/>
          </p:nvSpPr>
          <p:spPr>
            <a:xfrm>
              <a:off x="287020" y="819150"/>
              <a:ext cx="8704580" cy="2917825"/>
            </a:xfrm>
            <a:custGeom>
              <a:avLst/>
              <a:gdLst/>
              <a:ahLst/>
              <a:cxnLst/>
              <a:rect l="l" t="t" r="r" b="b"/>
              <a:pathLst>
                <a:path w="8704580" h="2917825">
                  <a:moveTo>
                    <a:pt x="0" y="0"/>
                  </a:moveTo>
                  <a:lnTo>
                    <a:pt x="8704580" y="0"/>
                  </a:lnTo>
                  <a:lnTo>
                    <a:pt x="8704580" y="2917672"/>
                  </a:lnTo>
                  <a:lnTo>
                    <a:pt x="0" y="2917672"/>
                  </a:lnTo>
                  <a:lnTo>
                    <a:pt x="0" y="0"/>
                  </a:lnTo>
                  <a:close/>
                </a:path>
              </a:pathLst>
            </a:custGeom>
            <a:ln w="9524">
              <a:solidFill>
                <a:srgbClr val="F2F2F2"/>
              </a:solidFill>
            </a:ln>
          </p:spPr>
          <p:txBody>
            <a:bodyPr wrap="square" lIns="0" tIns="0" rIns="0" bIns="0" rtlCol="0"/>
            <a:lstStyle/>
            <a:p/>
          </p:txBody>
        </p:sp>
      </p:grpSp>
      <p:sp>
        <p:nvSpPr>
          <p:cNvPr id="114" name="object 114" descr=""/>
          <p:cNvSpPr txBox="1"/>
          <p:nvPr/>
        </p:nvSpPr>
        <p:spPr>
          <a:xfrm>
            <a:off x="546284" y="3456884"/>
            <a:ext cx="7917180" cy="1408430"/>
          </a:xfrm>
          <a:prstGeom prst="rect">
            <a:avLst/>
          </a:prstGeom>
        </p:spPr>
        <p:txBody>
          <a:bodyPr wrap="square" lIns="0" tIns="12700" rIns="0" bIns="0" rtlCol="0" vert="horz">
            <a:spAutoFit/>
          </a:bodyPr>
          <a:lstStyle/>
          <a:p>
            <a:pPr algn="ctr" marL="413384">
              <a:lnSpc>
                <a:spcPct val="100000"/>
              </a:lnSpc>
              <a:spcBef>
                <a:spcPts val="100"/>
              </a:spcBef>
              <a:tabLst>
                <a:tab pos="1207770" algn="l"/>
                <a:tab pos="2001520" algn="l"/>
              </a:tabLst>
            </a:pPr>
            <a:r>
              <a:rPr dirty="0" sz="900">
                <a:solidFill>
                  <a:srgbClr val="808080"/>
                </a:solidFill>
                <a:latin typeface="Microsoft YaHei"/>
                <a:cs typeface="Microsoft YaHei"/>
              </a:rPr>
              <a:t>3.5G</a:t>
            </a:r>
            <a:r>
              <a:rPr dirty="0" sz="900" spc="-20">
                <a:solidFill>
                  <a:srgbClr val="808080"/>
                </a:solidFill>
                <a:latin typeface="Microsoft YaHei"/>
                <a:cs typeface="Microsoft YaHei"/>
              </a:rPr>
              <a:t> 16TR</a:t>
            </a:r>
            <a:r>
              <a:rPr dirty="0" sz="900">
                <a:solidFill>
                  <a:srgbClr val="808080"/>
                </a:solidFill>
                <a:latin typeface="Microsoft YaHei"/>
                <a:cs typeface="Microsoft YaHei"/>
              </a:rPr>
              <a:t>	3.5G</a:t>
            </a:r>
            <a:r>
              <a:rPr dirty="0" sz="900" spc="-20">
                <a:solidFill>
                  <a:srgbClr val="808080"/>
                </a:solidFill>
                <a:latin typeface="Microsoft YaHei"/>
                <a:cs typeface="Microsoft YaHei"/>
              </a:rPr>
              <a:t> 64TR</a:t>
            </a:r>
            <a:r>
              <a:rPr dirty="0" sz="900">
                <a:solidFill>
                  <a:srgbClr val="808080"/>
                </a:solidFill>
                <a:latin typeface="Microsoft YaHei"/>
                <a:cs typeface="Microsoft YaHei"/>
              </a:rPr>
              <a:t>	4.9G</a:t>
            </a:r>
            <a:r>
              <a:rPr dirty="0" sz="900" spc="-20">
                <a:solidFill>
                  <a:srgbClr val="808080"/>
                </a:solidFill>
                <a:latin typeface="Microsoft YaHei"/>
                <a:cs typeface="Microsoft YaHei"/>
              </a:rPr>
              <a:t> 64TR</a:t>
            </a:r>
            <a:endParaRPr sz="900">
              <a:latin typeface="Microsoft YaHei"/>
              <a:cs typeface="Microsoft YaHei"/>
            </a:endParaRPr>
          </a:p>
          <a:p>
            <a:pPr>
              <a:lnSpc>
                <a:spcPct val="100000"/>
              </a:lnSpc>
              <a:spcBef>
                <a:spcPts val="229"/>
              </a:spcBef>
            </a:pPr>
            <a:endParaRPr sz="900">
              <a:latin typeface="Microsoft YaHei"/>
              <a:cs typeface="Microsoft YaHei"/>
            </a:endParaRPr>
          </a:p>
          <a:p>
            <a:pPr marL="297815" indent="-285115">
              <a:lnSpc>
                <a:spcPct val="100000"/>
              </a:lnSpc>
              <a:buFont typeface="Wingdings"/>
              <a:buChar char=""/>
              <a:tabLst>
                <a:tab pos="297815" algn="l"/>
              </a:tabLst>
            </a:pPr>
            <a:r>
              <a:rPr dirty="0" sz="1200" spc="-10">
                <a:latin typeface="Microsoft YaHei"/>
                <a:cs typeface="Microsoft YaHei"/>
              </a:rPr>
              <a:t>5GNR</a:t>
            </a:r>
            <a:r>
              <a:rPr dirty="0" sz="1200">
                <a:latin typeface="Microsoft YaHei"/>
                <a:cs typeface="Microsoft YaHei"/>
              </a:rPr>
              <a:t>下行不受限，相同覆盖下，下行边缘速率相比</a:t>
            </a:r>
            <a:r>
              <a:rPr dirty="0" sz="1200" spc="-10">
                <a:latin typeface="Microsoft YaHei"/>
                <a:cs typeface="Microsoft YaHei"/>
              </a:rPr>
              <a:t>D</a:t>
            </a:r>
            <a:r>
              <a:rPr dirty="0" sz="1200">
                <a:latin typeface="Microsoft YaHei"/>
                <a:cs typeface="Microsoft YaHei"/>
              </a:rPr>
              <a:t>频段约提升</a:t>
            </a:r>
            <a:r>
              <a:rPr dirty="0" sz="1200" spc="-10">
                <a:latin typeface="Microsoft YaHei"/>
                <a:cs typeface="Microsoft YaHei"/>
              </a:rPr>
              <a:t>5</a:t>
            </a:r>
            <a:r>
              <a:rPr dirty="0" sz="1200" spc="-25">
                <a:latin typeface="Microsoft YaHei"/>
                <a:cs typeface="Microsoft YaHei"/>
              </a:rPr>
              <a:t>倍。</a:t>
            </a:r>
            <a:endParaRPr sz="1200">
              <a:latin typeface="Microsoft YaHei"/>
              <a:cs typeface="Microsoft YaHei"/>
            </a:endParaRPr>
          </a:p>
          <a:p>
            <a:pPr marL="297815" indent="-285115">
              <a:lnSpc>
                <a:spcPct val="100000"/>
              </a:lnSpc>
              <a:spcBef>
                <a:spcPts val="720"/>
              </a:spcBef>
              <a:buFont typeface="Wingdings"/>
              <a:buChar char=""/>
              <a:tabLst>
                <a:tab pos="297815" algn="l"/>
              </a:tabLst>
            </a:pPr>
            <a:r>
              <a:rPr dirty="0" sz="1200">
                <a:latin typeface="Microsoft YaHei"/>
                <a:cs typeface="Microsoft YaHei"/>
              </a:rPr>
              <a:t>5G</a:t>
            </a:r>
            <a:r>
              <a:rPr dirty="0" sz="1200" spc="-30">
                <a:latin typeface="Microsoft YaHei"/>
                <a:cs typeface="Microsoft YaHei"/>
              </a:rPr>
              <a:t> </a:t>
            </a:r>
            <a:r>
              <a:rPr dirty="0" sz="1200" spc="-10">
                <a:latin typeface="Microsoft YaHei"/>
                <a:cs typeface="Microsoft YaHei"/>
              </a:rPr>
              <a:t>NR</a:t>
            </a:r>
            <a:r>
              <a:rPr dirty="0" sz="1200">
                <a:latin typeface="Microsoft YaHei"/>
                <a:cs typeface="Microsoft YaHei"/>
              </a:rPr>
              <a:t>上行采用</a:t>
            </a:r>
            <a:r>
              <a:rPr dirty="0" sz="1200" spc="-10">
                <a:latin typeface="Microsoft YaHei"/>
                <a:cs typeface="Microsoft YaHei"/>
              </a:rPr>
              <a:t>26dBm</a:t>
            </a:r>
            <a:r>
              <a:rPr dirty="0" sz="1200" spc="-5">
                <a:latin typeface="Microsoft YaHei"/>
                <a:cs typeface="Microsoft YaHei"/>
              </a:rPr>
              <a:t>，可与</a:t>
            </a:r>
            <a:r>
              <a:rPr dirty="0" sz="1200">
                <a:latin typeface="Microsoft YaHei"/>
                <a:cs typeface="Microsoft YaHei"/>
              </a:rPr>
              <a:t>TD</a:t>
            </a:r>
            <a:r>
              <a:rPr dirty="0" sz="1200" spc="-25">
                <a:latin typeface="Microsoft YaHei"/>
                <a:cs typeface="Microsoft YaHei"/>
              </a:rPr>
              <a:t> </a:t>
            </a:r>
            <a:r>
              <a:rPr dirty="0" sz="1200" spc="-10">
                <a:latin typeface="Microsoft YaHei"/>
                <a:cs typeface="Microsoft YaHei"/>
              </a:rPr>
              <a:t>LTE</a:t>
            </a:r>
            <a:r>
              <a:rPr dirty="0" sz="1200" spc="-25">
                <a:latin typeface="Microsoft YaHei"/>
                <a:cs typeface="Microsoft YaHei"/>
              </a:rPr>
              <a:t> </a:t>
            </a:r>
            <a:r>
              <a:rPr dirty="0" sz="1200" spc="-10">
                <a:latin typeface="Microsoft YaHei"/>
                <a:cs typeface="Microsoft YaHei"/>
              </a:rPr>
              <a:t>F</a:t>
            </a:r>
            <a:r>
              <a:rPr dirty="0" sz="1200">
                <a:latin typeface="Microsoft YaHei"/>
                <a:cs typeface="Microsoft YaHei"/>
              </a:rPr>
              <a:t>频段覆盖相当，预计3.5G</a:t>
            </a:r>
            <a:r>
              <a:rPr dirty="0" sz="1200" spc="-15">
                <a:latin typeface="Microsoft YaHei"/>
                <a:cs typeface="Microsoft YaHei"/>
              </a:rPr>
              <a:t> 独立组网能够保证覆盖连续性和基本用户体验。</a:t>
            </a:r>
            <a:endParaRPr sz="1200">
              <a:latin typeface="Microsoft YaHei"/>
              <a:cs typeface="Microsoft YaHei"/>
            </a:endParaRPr>
          </a:p>
          <a:p>
            <a:pPr marL="240665" indent="-227965">
              <a:lnSpc>
                <a:spcPct val="100000"/>
              </a:lnSpc>
              <a:spcBef>
                <a:spcPts val="720"/>
              </a:spcBef>
              <a:buFont typeface="Wingdings"/>
              <a:buChar char=""/>
              <a:tabLst>
                <a:tab pos="240665" algn="l"/>
              </a:tabLst>
            </a:pPr>
            <a:r>
              <a:rPr dirty="0" sz="1200">
                <a:latin typeface="Microsoft YaHei"/>
                <a:cs typeface="Microsoft YaHei"/>
              </a:rPr>
              <a:t>上下行信令信道可连续覆盖，无需</a:t>
            </a:r>
            <a:r>
              <a:rPr dirty="0" sz="1200" spc="-10">
                <a:latin typeface="Microsoft YaHei"/>
                <a:cs typeface="Microsoft YaHei"/>
              </a:rPr>
              <a:t>4G</a:t>
            </a:r>
            <a:r>
              <a:rPr dirty="0" sz="1200" spc="-20">
                <a:latin typeface="Microsoft YaHei"/>
                <a:cs typeface="Microsoft YaHei"/>
              </a:rPr>
              <a:t>做补充</a:t>
            </a:r>
            <a:endParaRPr sz="1200">
              <a:latin typeface="Microsoft YaHei"/>
              <a:cs typeface="Microsoft YaHei"/>
            </a:endParaRPr>
          </a:p>
          <a:p>
            <a:pPr marL="240665" indent="-227965">
              <a:lnSpc>
                <a:spcPct val="100000"/>
              </a:lnSpc>
              <a:spcBef>
                <a:spcPts val="720"/>
              </a:spcBef>
              <a:buFont typeface="Wingdings"/>
              <a:buChar char=""/>
              <a:tabLst>
                <a:tab pos="240665" algn="l"/>
              </a:tabLst>
            </a:pPr>
            <a:r>
              <a:rPr dirty="0" sz="1200">
                <a:latin typeface="Microsoft YaHei"/>
                <a:cs typeface="Microsoft YaHei"/>
              </a:rPr>
              <a:t>3.5G </a:t>
            </a:r>
            <a:r>
              <a:rPr dirty="0" sz="1200" spc="-10">
                <a:latin typeface="Microsoft YaHei"/>
                <a:cs typeface="Microsoft YaHei"/>
              </a:rPr>
              <a:t>NR</a:t>
            </a:r>
            <a:r>
              <a:rPr dirty="0" sz="1200">
                <a:latin typeface="Microsoft YaHei"/>
                <a:cs typeface="Microsoft YaHei"/>
              </a:rPr>
              <a:t>盲区位于室内深度覆盖区域，移动性不强。</a:t>
            </a:r>
            <a:r>
              <a:rPr dirty="0" sz="1200" spc="-10">
                <a:latin typeface="Microsoft YaHei"/>
                <a:cs typeface="Microsoft YaHei"/>
              </a:rPr>
              <a:t>NSA</a:t>
            </a:r>
            <a:r>
              <a:rPr dirty="0" sz="1200">
                <a:latin typeface="Microsoft YaHei"/>
                <a:cs typeface="Microsoft YaHei"/>
              </a:rPr>
              <a:t>双连接与回落</a:t>
            </a:r>
            <a:r>
              <a:rPr dirty="0" sz="1200" spc="-10">
                <a:latin typeface="Microsoft YaHei"/>
                <a:cs typeface="Microsoft YaHei"/>
              </a:rPr>
              <a:t>4G</a:t>
            </a:r>
            <a:r>
              <a:rPr dirty="0" sz="1200" spc="-15">
                <a:latin typeface="Microsoft YaHei"/>
                <a:cs typeface="Microsoft YaHei"/>
              </a:rPr>
              <a:t>差异不大</a:t>
            </a:r>
            <a:endParaRPr sz="1200">
              <a:latin typeface="Microsoft YaHei"/>
              <a:cs typeface="Microsoft YaHe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534923" y="2429255"/>
            <a:ext cx="7967980" cy="0"/>
          </a:xfrm>
          <a:custGeom>
            <a:avLst/>
            <a:gdLst/>
            <a:ahLst/>
            <a:cxnLst/>
            <a:rect l="l" t="t" r="r" b="b"/>
            <a:pathLst>
              <a:path w="7967980" h="0">
                <a:moveTo>
                  <a:pt x="0" y="0"/>
                </a:moveTo>
                <a:lnTo>
                  <a:pt x="7967472" y="0"/>
                </a:lnTo>
              </a:path>
            </a:pathLst>
          </a:custGeom>
          <a:ln w="9144">
            <a:solidFill>
              <a:srgbClr val="F2F2F2"/>
            </a:solidFill>
          </a:ln>
        </p:spPr>
        <p:txBody>
          <a:bodyPr wrap="square" lIns="0" tIns="0" rIns="0" bIns="0" rtlCol="0"/>
          <a:lstStyle/>
          <a:p/>
        </p:txBody>
      </p:sp>
      <p:sp>
        <p:nvSpPr>
          <p:cNvPr id="3" name="object 3" descr=""/>
          <p:cNvSpPr/>
          <p:nvPr/>
        </p:nvSpPr>
        <p:spPr>
          <a:xfrm>
            <a:off x="8598407" y="2429255"/>
            <a:ext cx="26034" cy="0"/>
          </a:xfrm>
          <a:custGeom>
            <a:avLst/>
            <a:gdLst/>
            <a:ahLst/>
            <a:cxnLst/>
            <a:rect l="l" t="t" r="r" b="b"/>
            <a:pathLst>
              <a:path w="26034" h="0">
                <a:moveTo>
                  <a:pt x="0" y="0"/>
                </a:moveTo>
                <a:lnTo>
                  <a:pt x="25908" y="0"/>
                </a:lnTo>
              </a:path>
            </a:pathLst>
          </a:custGeom>
          <a:ln w="9144">
            <a:solidFill>
              <a:srgbClr val="F2F2F2"/>
            </a:solidFill>
          </a:ln>
        </p:spPr>
        <p:txBody>
          <a:bodyPr wrap="square" lIns="0" tIns="0" rIns="0" bIns="0" rtlCol="0"/>
          <a:lstStyle/>
          <a:p/>
        </p:txBody>
      </p:sp>
      <p:sp>
        <p:nvSpPr>
          <p:cNvPr id="4" name="object 4" descr=""/>
          <p:cNvSpPr/>
          <p:nvPr/>
        </p:nvSpPr>
        <p:spPr>
          <a:xfrm>
            <a:off x="8719566" y="2429255"/>
            <a:ext cx="105410" cy="0"/>
          </a:xfrm>
          <a:custGeom>
            <a:avLst/>
            <a:gdLst/>
            <a:ahLst/>
            <a:cxnLst/>
            <a:rect l="l" t="t" r="r" b="b"/>
            <a:pathLst>
              <a:path w="105409" h="0">
                <a:moveTo>
                  <a:pt x="0" y="0"/>
                </a:moveTo>
                <a:lnTo>
                  <a:pt x="105155" y="0"/>
                </a:lnTo>
              </a:path>
            </a:pathLst>
          </a:custGeom>
          <a:ln w="9144">
            <a:solidFill>
              <a:srgbClr val="F2F2F2"/>
            </a:solidFill>
          </a:ln>
        </p:spPr>
        <p:txBody>
          <a:bodyPr wrap="square" lIns="0" tIns="0" rIns="0" bIns="0" rtlCol="0"/>
          <a:lstStyle/>
          <a:p/>
        </p:txBody>
      </p:sp>
      <p:sp>
        <p:nvSpPr>
          <p:cNvPr id="5" name="object 5" descr=""/>
          <p:cNvSpPr/>
          <p:nvPr/>
        </p:nvSpPr>
        <p:spPr>
          <a:xfrm>
            <a:off x="534923" y="2215133"/>
            <a:ext cx="7967980" cy="0"/>
          </a:xfrm>
          <a:custGeom>
            <a:avLst/>
            <a:gdLst/>
            <a:ahLst/>
            <a:cxnLst/>
            <a:rect l="l" t="t" r="r" b="b"/>
            <a:pathLst>
              <a:path w="7967980" h="0">
                <a:moveTo>
                  <a:pt x="0" y="0"/>
                </a:moveTo>
                <a:lnTo>
                  <a:pt x="7967472" y="0"/>
                </a:lnTo>
              </a:path>
            </a:pathLst>
          </a:custGeom>
          <a:ln w="9144">
            <a:solidFill>
              <a:srgbClr val="F2F2F2"/>
            </a:solidFill>
          </a:ln>
        </p:spPr>
        <p:txBody>
          <a:bodyPr wrap="square" lIns="0" tIns="0" rIns="0" bIns="0" rtlCol="0"/>
          <a:lstStyle/>
          <a:p/>
        </p:txBody>
      </p:sp>
      <p:sp>
        <p:nvSpPr>
          <p:cNvPr id="6" name="object 6" descr=""/>
          <p:cNvSpPr/>
          <p:nvPr/>
        </p:nvSpPr>
        <p:spPr>
          <a:xfrm>
            <a:off x="8598407" y="2215133"/>
            <a:ext cx="226695" cy="0"/>
          </a:xfrm>
          <a:custGeom>
            <a:avLst/>
            <a:gdLst/>
            <a:ahLst/>
            <a:cxnLst/>
            <a:rect l="l" t="t" r="r" b="b"/>
            <a:pathLst>
              <a:path w="226695" h="0">
                <a:moveTo>
                  <a:pt x="0" y="0"/>
                </a:moveTo>
                <a:lnTo>
                  <a:pt x="226314" y="0"/>
                </a:lnTo>
              </a:path>
            </a:pathLst>
          </a:custGeom>
          <a:ln w="9144">
            <a:solidFill>
              <a:srgbClr val="F2F2F2"/>
            </a:solidFill>
          </a:ln>
        </p:spPr>
        <p:txBody>
          <a:bodyPr wrap="square" lIns="0" tIns="0" rIns="0" bIns="0" rtlCol="0"/>
          <a:lstStyle/>
          <a:p/>
        </p:txBody>
      </p:sp>
      <p:sp>
        <p:nvSpPr>
          <p:cNvPr id="7" name="object 7" descr=""/>
          <p:cNvSpPr/>
          <p:nvPr/>
        </p:nvSpPr>
        <p:spPr>
          <a:xfrm>
            <a:off x="534923" y="2001011"/>
            <a:ext cx="8289925" cy="0"/>
          </a:xfrm>
          <a:custGeom>
            <a:avLst/>
            <a:gdLst/>
            <a:ahLst/>
            <a:cxnLst/>
            <a:rect l="l" t="t" r="r" b="b"/>
            <a:pathLst>
              <a:path w="8289925" h="0">
                <a:moveTo>
                  <a:pt x="0" y="0"/>
                </a:moveTo>
                <a:lnTo>
                  <a:pt x="8289798" y="0"/>
                </a:lnTo>
              </a:path>
            </a:pathLst>
          </a:custGeom>
          <a:ln w="9144">
            <a:solidFill>
              <a:srgbClr val="F2F2F2"/>
            </a:solidFill>
          </a:ln>
        </p:spPr>
        <p:txBody>
          <a:bodyPr wrap="square" lIns="0" tIns="0" rIns="0" bIns="0" rtlCol="0"/>
          <a:lstStyle/>
          <a:p/>
        </p:txBody>
      </p:sp>
      <p:sp>
        <p:nvSpPr>
          <p:cNvPr id="8" name="object 8" descr=""/>
          <p:cNvSpPr/>
          <p:nvPr/>
        </p:nvSpPr>
        <p:spPr>
          <a:xfrm>
            <a:off x="534923" y="1786889"/>
            <a:ext cx="8289925" cy="0"/>
          </a:xfrm>
          <a:custGeom>
            <a:avLst/>
            <a:gdLst/>
            <a:ahLst/>
            <a:cxnLst/>
            <a:rect l="l" t="t" r="r" b="b"/>
            <a:pathLst>
              <a:path w="8289925" h="0">
                <a:moveTo>
                  <a:pt x="0" y="0"/>
                </a:moveTo>
                <a:lnTo>
                  <a:pt x="8289798" y="0"/>
                </a:lnTo>
              </a:path>
            </a:pathLst>
          </a:custGeom>
          <a:ln w="9144">
            <a:solidFill>
              <a:srgbClr val="F2F2F2"/>
            </a:solidFill>
          </a:ln>
        </p:spPr>
        <p:txBody>
          <a:bodyPr wrap="square" lIns="0" tIns="0" rIns="0" bIns="0" rtlCol="0"/>
          <a:lstStyle/>
          <a:p/>
        </p:txBody>
      </p:sp>
      <p:sp>
        <p:nvSpPr>
          <p:cNvPr id="9" name="object 9" descr=""/>
          <p:cNvSpPr/>
          <p:nvPr/>
        </p:nvSpPr>
        <p:spPr>
          <a:xfrm>
            <a:off x="534923" y="1572767"/>
            <a:ext cx="8289925" cy="0"/>
          </a:xfrm>
          <a:custGeom>
            <a:avLst/>
            <a:gdLst/>
            <a:ahLst/>
            <a:cxnLst/>
            <a:rect l="l" t="t" r="r" b="b"/>
            <a:pathLst>
              <a:path w="8289925" h="0">
                <a:moveTo>
                  <a:pt x="0" y="0"/>
                </a:moveTo>
                <a:lnTo>
                  <a:pt x="8289798" y="0"/>
                </a:lnTo>
              </a:path>
            </a:pathLst>
          </a:custGeom>
          <a:ln w="9144">
            <a:solidFill>
              <a:srgbClr val="F2F2F2"/>
            </a:solidFill>
          </a:ln>
        </p:spPr>
        <p:txBody>
          <a:bodyPr wrap="square" lIns="0" tIns="0" rIns="0" bIns="0" rtlCol="0"/>
          <a:lstStyle/>
          <a:p/>
        </p:txBody>
      </p:sp>
      <p:sp>
        <p:nvSpPr>
          <p:cNvPr id="10" name="object 10" descr=""/>
          <p:cNvSpPr/>
          <p:nvPr/>
        </p:nvSpPr>
        <p:spPr>
          <a:xfrm>
            <a:off x="534923" y="1358646"/>
            <a:ext cx="8289925" cy="0"/>
          </a:xfrm>
          <a:custGeom>
            <a:avLst/>
            <a:gdLst/>
            <a:ahLst/>
            <a:cxnLst/>
            <a:rect l="l" t="t" r="r" b="b"/>
            <a:pathLst>
              <a:path w="8289925" h="0">
                <a:moveTo>
                  <a:pt x="0" y="0"/>
                </a:moveTo>
                <a:lnTo>
                  <a:pt x="8289798" y="0"/>
                </a:lnTo>
              </a:path>
            </a:pathLst>
          </a:custGeom>
          <a:ln w="9144">
            <a:solidFill>
              <a:srgbClr val="F2F2F2"/>
            </a:solidFill>
          </a:ln>
        </p:spPr>
        <p:txBody>
          <a:bodyPr wrap="square" lIns="0" tIns="0" rIns="0" bIns="0" rtlCol="0"/>
          <a:lstStyle/>
          <a:p/>
        </p:txBody>
      </p:sp>
      <p:grpSp>
        <p:nvGrpSpPr>
          <p:cNvPr id="11" name="object 11" descr=""/>
          <p:cNvGrpSpPr/>
          <p:nvPr/>
        </p:nvGrpSpPr>
        <p:grpSpPr>
          <a:xfrm>
            <a:off x="530161" y="1502664"/>
            <a:ext cx="8299450" cy="1153160"/>
            <a:chOff x="530161" y="1502664"/>
            <a:chExt cx="8299450" cy="1153160"/>
          </a:xfrm>
        </p:grpSpPr>
        <p:pic>
          <p:nvPicPr>
            <p:cNvPr id="12" name="object 12" descr=""/>
            <p:cNvPicPr/>
            <p:nvPr/>
          </p:nvPicPr>
          <p:blipFill>
            <a:blip r:embed="rId2" cstate="print"/>
            <a:stretch>
              <a:fillRect/>
            </a:stretch>
          </p:blipFill>
          <p:spPr>
            <a:xfrm>
              <a:off x="596646" y="1710690"/>
              <a:ext cx="7462263" cy="945006"/>
            </a:xfrm>
            <a:prstGeom prst="rect">
              <a:avLst/>
            </a:prstGeom>
          </p:spPr>
        </p:pic>
        <p:pic>
          <p:nvPicPr>
            <p:cNvPr id="13" name="object 13" descr=""/>
            <p:cNvPicPr/>
            <p:nvPr/>
          </p:nvPicPr>
          <p:blipFill>
            <a:blip r:embed="rId3" cstate="print"/>
            <a:stretch>
              <a:fillRect/>
            </a:stretch>
          </p:blipFill>
          <p:spPr>
            <a:xfrm>
              <a:off x="717804" y="1949958"/>
              <a:ext cx="7462263" cy="705738"/>
            </a:xfrm>
            <a:prstGeom prst="rect">
              <a:avLst/>
            </a:prstGeom>
          </p:spPr>
        </p:pic>
        <p:pic>
          <p:nvPicPr>
            <p:cNvPr id="14" name="object 14" descr=""/>
            <p:cNvPicPr/>
            <p:nvPr/>
          </p:nvPicPr>
          <p:blipFill>
            <a:blip r:embed="rId4" cstate="print"/>
            <a:stretch>
              <a:fillRect/>
            </a:stretch>
          </p:blipFill>
          <p:spPr>
            <a:xfrm>
              <a:off x="839724" y="2108454"/>
              <a:ext cx="7462252" cy="547243"/>
            </a:xfrm>
            <a:prstGeom prst="rect">
              <a:avLst/>
            </a:prstGeom>
          </p:spPr>
        </p:pic>
        <p:pic>
          <p:nvPicPr>
            <p:cNvPr id="15" name="object 15" descr=""/>
            <p:cNvPicPr/>
            <p:nvPr/>
          </p:nvPicPr>
          <p:blipFill>
            <a:blip r:embed="rId5" cstate="print"/>
            <a:stretch>
              <a:fillRect/>
            </a:stretch>
          </p:blipFill>
          <p:spPr>
            <a:xfrm>
              <a:off x="961644" y="1981199"/>
              <a:ext cx="7462263" cy="674497"/>
            </a:xfrm>
            <a:prstGeom prst="rect">
              <a:avLst/>
            </a:prstGeom>
          </p:spPr>
        </p:pic>
        <p:pic>
          <p:nvPicPr>
            <p:cNvPr id="16" name="object 16" descr=""/>
            <p:cNvPicPr/>
            <p:nvPr/>
          </p:nvPicPr>
          <p:blipFill>
            <a:blip r:embed="rId6" cstate="print"/>
            <a:stretch>
              <a:fillRect/>
            </a:stretch>
          </p:blipFill>
          <p:spPr>
            <a:xfrm>
              <a:off x="1083564" y="1502664"/>
              <a:ext cx="7462263" cy="1153032"/>
            </a:xfrm>
            <a:prstGeom prst="rect">
              <a:avLst/>
            </a:prstGeom>
          </p:spPr>
        </p:pic>
        <p:pic>
          <p:nvPicPr>
            <p:cNvPr id="17" name="object 17" descr=""/>
            <p:cNvPicPr/>
            <p:nvPr/>
          </p:nvPicPr>
          <p:blipFill>
            <a:blip r:embed="rId7" cstate="print"/>
            <a:stretch>
              <a:fillRect/>
            </a:stretch>
          </p:blipFill>
          <p:spPr>
            <a:xfrm>
              <a:off x="640143" y="2275357"/>
              <a:ext cx="96012" cy="367639"/>
            </a:xfrm>
            <a:prstGeom prst="rect">
              <a:avLst/>
            </a:prstGeom>
          </p:spPr>
        </p:pic>
        <p:pic>
          <p:nvPicPr>
            <p:cNvPr id="18" name="object 18" descr=""/>
            <p:cNvPicPr/>
            <p:nvPr/>
          </p:nvPicPr>
          <p:blipFill>
            <a:blip r:embed="rId8" cstate="print"/>
            <a:stretch>
              <a:fillRect/>
            </a:stretch>
          </p:blipFill>
          <p:spPr>
            <a:xfrm>
              <a:off x="1676463" y="2045995"/>
              <a:ext cx="96012" cy="597001"/>
            </a:xfrm>
            <a:prstGeom prst="rect">
              <a:avLst/>
            </a:prstGeom>
          </p:spPr>
        </p:pic>
        <p:pic>
          <p:nvPicPr>
            <p:cNvPr id="19" name="object 19" descr=""/>
            <p:cNvPicPr/>
            <p:nvPr/>
          </p:nvPicPr>
          <p:blipFill>
            <a:blip r:embed="rId9" cstate="print"/>
            <a:stretch>
              <a:fillRect/>
            </a:stretch>
          </p:blipFill>
          <p:spPr>
            <a:xfrm>
              <a:off x="2712783" y="1808251"/>
              <a:ext cx="96012" cy="834745"/>
            </a:xfrm>
            <a:prstGeom prst="rect">
              <a:avLst/>
            </a:prstGeom>
          </p:spPr>
        </p:pic>
        <p:pic>
          <p:nvPicPr>
            <p:cNvPr id="20" name="object 20" descr=""/>
            <p:cNvPicPr/>
            <p:nvPr/>
          </p:nvPicPr>
          <p:blipFill>
            <a:blip r:embed="rId10" cstate="print"/>
            <a:stretch>
              <a:fillRect/>
            </a:stretch>
          </p:blipFill>
          <p:spPr>
            <a:xfrm>
              <a:off x="3749103" y="2183917"/>
              <a:ext cx="95250" cy="459079"/>
            </a:xfrm>
            <a:prstGeom prst="rect">
              <a:avLst/>
            </a:prstGeom>
          </p:spPr>
        </p:pic>
        <p:pic>
          <p:nvPicPr>
            <p:cNvPr id="21" name="object 21" descr=""/>
            <p:cNvPicPr/>
            <p:nvPr/>
          </p:nvPicPr>
          <p:blipFill>
            <a:blip r:embed="rId11" cstate="print"/>
            <a:stretch>
              <a:fillRect/>
            </a:stretch>
          </p:blipFill>
          <p:spPr>
            <a:xfrm>
              <a:off x="4784661" y="2128291"/>
              <a:ext cx="96012" cy="514705"/>
            </a:xfrm>
            <a:prstGeom prst="rect">
              <a:avLst/>
            </a:prstGeom>
          </p:spPr>
        </p:pic>
        <p:pic>
          <p:nvPicPr>
            <p:cNvPr id="22" name="object 22" descr=""/>
            <p:cNvPicPr/>
            <p:nvPr/>
          </p:nvPicPr>
          <p:blipFill>
            <a:blip r:embed="rId12" cstate="print"/>
            <a:stretch>
              <a:fillRect/>
            </a:stretch>
          </p:blipFill>
          <p:spPr>
            <a:xfrm>
              <a:off x="5820981" y="2028469"/>
              <a:ext cx="96012" cy="614527"/>
            </a:xfrm>
            <a:prstGeom prst="rect">
              <a:avLst/>
            </a:prstGeom>
          </p:spPr>
        </p:pic>
        <p:pic>
          <p:nvPicPr>
            <p:cNvPr id="23" name="object 23" descr=""/>
            <p:cNvPicPr/>
            <p:nvPr/>
          </p:nvPicPr>
          <p:blipFill>
            <a:blip r:embed="rId13" cstate="print"/>
            <a:stretch>
              <a:fillRect/>
            </a:stretch>
          </p:blipFill>
          <p:spPr>
            <a:xfrm>
              <a:off x="6857301" y="1909597"/>
              <a:ext cx="96011" cy="733399"/>
            </a:xfrm>
            <a:prstGeom prst="rect">
              <a:avLst/>
            </a:prstGeom>
          </p:spPr>
        </p:pic>
        <p:pic>
          <p:nvPicPr>
            <p:cNvPr id="24" name="object 24" descr=""/>
            <p:cNvPicPr/>
            <p:nvPr/>
          </p:nvPicPr>
          <p:blipFill>
            <a:blip r:embed="rId14" cstate="print"/>
            <a:stretch>
              <a:fillRect/>
            </a:stretch>
          </p:blipFill>
          <p:spPr>
            <a:xfrm>
              <a:off x="7893621" y="1767103"/>
              <a:ext cx="96011" cy="875893"/>
            </a:xfrm>
            <a:prstGeom prst="rect">
              <a:avLst/>
            </a:prstGeom>
          </p:spPr>
        </p:pic>
        <p:sp>
          <p:nvSpPr>
            <p:cNvPr id="25" name="object 25" descr=""/>
            <p:cNvSpPr/>
            <p:nvPr/>
          </p:nvSpPr>
          <p:spPr>
            <a:xfrm>
              <a:off x="640143" y="1767103"/>
              <a:ext cx="7349490" cy="876300"/>
            </a:xfrm>
            <a:custGeom>
              <a:avLst/>
              <a:gdLst/>
              <a:ahLst/>
              <a:cxnLst/>
              <a:rect l="l" t="t" r="r" b="b"/>
              <a:pathLst>
                <a:path w="7349490" h="876300">
                  <a:moveTo>
                    <a:pt x="0" y="508254"/>
                  </a:moveTo>
                  <a:lnTo>
                    <a:pt x="96012" y="508254"/>
                  </a:lnTo>
                  <a:lnTo>
                    <a:pt x="96012" y="875893"/>
                  </a:lnTo>
                  <a:lnTo>
                    <a:pt x="0" y="875893"/>
                  </a:lnTo>
                  <a:lnTo>
                    <a:pt x="0" y="508254"/>
                  </a:lnTo>
                  <a:close/>
                </a:path>
                <a:path w="7349490" h="876300">
                  <a:moveTo>
                    <a:pt x="1036319" y="278892"/>
                  </a:moveTo>
                  <a:lnTo>
                    <a:pt x="1132332" y="278892"/>
                  </a:lnTo>
                  <a:lnTo>
                    <a:pt x="1132332" y="875893"/>
                  </a:lnTo>
                  <a:lnTo>
                    <a:pt x="1036319" y="875893"/>
                  </a:lnTo>
                  <a:lnTo>
                    <a:pt x="1036319" y="278892"/>
                  </a:lnTo>
                  <a:close/>
                </a:path>
                <a:path w="7349490" h="876300">
                  <a:moveTo>
                    <a:pt x="2072639" y="41148"/>
                  </a:moveTo>
                  <a:lnTo>
                    <a:pt x="2168652" y="41148"/>
                  </a:lnTo>
                  <a:lnTo>
                    <a:pt x="2168652" y="875893"/>
                  </a:lnTo>
                  <a:lnTo>
                    <a:pt x="2072639" y="875893"/>
                  </a:lnTo>
                  <a:lnTo>
                    <a:pt x="2072639" y="41148"/>
                  </a:lnTo>
                  <a:close/>
                </a:path>
                <a:path w="7349490" h="876300">
                  <a:moveTo>
                    <a:pt x="3108960" y="416813"/>
                  </a:moveTo>
                  <a:lnTo>
                    <a:pt x="3204210" y="416813"/>
                  </a:lnTo>
                  <a:lnTo>
                    <a:pt x="3204210" y="875893"/>
                  </a:lnTo>
                  <a:lnTo>
                    <a:pt x="3108960" y="875893"/>
                  </a:lnTo>
                  <a:lnTo>
                    <a:pt x="3108960" y="416813"/>
                  </a:lnTo>
                  <a:close/>
                </a:path>
                <a:path w="7349490" h="876300">
                  <a:moveTo>
                    <a:pt x="4144518" y="361188"/>
                  </a:moveTo>
                  <a:lnTo>
                    <a:pt x="4240530" y="361188"/>
                  </a:lnTo>
                  <a:lnTo>
                    <a:pt x="4240530" y="875893"/>
                  </a:lnTo>
                  <a:lnTo>
                    <a:pt x="4144518" y="875893"/>
                  </a:lnTo>
                  <a:lnTo>
                    <a:pt x="4144518" y="361188"/>
                  </a:lnTo>
                  <a:close/>
                </a:path>
                <a:path w="7349490" h="876300">
                  <a:moveTo>
                    <a:pt x="5180838" y="261366"/>
                  </a:moveTo>
                  <a:lnTo>
                    <a:pt x="5276850" y="261366"/>
                  </a:lnTo>
                  <a:lnTo>
                    <a:pt x="5276850" y="875893"/>
                  </a:lnTo>
                  <a:lnTo>
                    <a:pt x="5180838" y="875893"/>
                  </a:lnTo>
                  <a:lnTo>
                    <a:pt x="5180838" y="261366"/>
                  </a:lnTo>
                  <a:close/>
                </a:path>
                <a:path w="7349490" h="876300">
                  <a:moveTo>
                    <a:pt x="6217158" y="142494"/>
                  </a:moveTo>
                  <a:lnTo>
                    <a:pt x="6313170" y="142494"/>
                  </a:lnTo>
                  <a:lnTo>
                    <a:pt x="6313170" y="875893"/>
                  </a:lnTo>
                  <a:lnTo>
                    <a:pt x="6217158" y="875893"/>
                  </a:lnTo>
                  <a:lnTo>
                    <a:pt x="6217158" y="142494"/>
                  </a:lnTo>
                  <a:close/>
                </a:path>
                <a:path w="7349490" h="876300">
                  <a:moveTo>
                    <a:pt x="7253478" y="0"/>
                  </a:moveTo>
                  <a:lnTo>
                    <a:pt x="7349489" y="0"/>
                  </a:lnTo>
                  <a:lnTo>
                    <a:pt x="7349489" y="875893"/>
                  </a:lnTo>
                  <a:lnTo>
                    <a:pt x="7253478" y="875893"/>
                  </a:lnTo>
                  <a:lnTo>
                    <a:pt x="7253478" y="0"/>
                  </a:lnTo>
                  <a:close/>
                </a:path>
              </a:pathLst>
            </a:custGeom>
            <a:ln w="9525">
              <a:solidFill>
                <a:srgbClr val="FFFFFF"/>
              </a:solidFill>
            </a:ln>
          </p:spPr>
          <p:txBody>
            <a:bodyPr wrap="square" lIns="0" tIns="0" rIns="0" bIns="0" rtlCol="0"/>
            <a:lstStyle/>
            <a:p/>
          </p:txBody>
        </p:sp>
        <p:pic>
          <p:nvPicPr>
            <p:cNvPr id="26" name="object 26" descr=""/>
            <p:cNvPicPr/>
            <p:nvPr/>
          </p:nvPicPr>
          <p:blipFill>
            <a:blip r:embed="rId15" cstate="print"/>
            <a:stretch>
              <a:fillRect/>
            </a:stretch>
          </p:blipFill>
          <p:spPr>
            <a:xfrm>
              <a:off x="762063" y="2397277"/>
              <a:ext cx="96011" cy="245719"/>
            </a:xfrm>
            <a:prstGeom prst="rect">
              <a:avLst/>
            </a:prstGeom>
          </p:spPr>
        </p:pic>
        <p:pic>
          <p:nvPicPr>
            <p:cNvPr id="27" name="object 27" descr=""/>
            <p:cNvPicPr/>
            <p:nvPr/>
          </p:nvPicPr>
          <p:blipFill>
            <a:blip r:embed="rId16" cstate="print"/>
            <a:stretch>
              <a:fillRect/>
            </a:stretch>
          </p:blipFill>
          <p:spPr>
            <a:xfrm>
              <a:off x="1798383" y="2178583"/>
              <a:ext cx="95250" cy="464413"/>
            </a:xfrm>
            <a:prstGeom prst="rect">
              <a:avLst/>
            </a:prstGeom>
          </p:spPr>
        </p:pic>
        <p:pic>
          <p:nvPicPr>
            <p:cNvPr id="28" name="object 28" descr=""/>
            <p:cNvPicPr/>
            <p:nvPr/>
          </p:nvPicPr>
          <p:blipFill>
            <a:blip r:embed="rId17" cstate="print"/>
            <a:stretch>
              <a:fillRect/>
            </a:stretch>
          </p:blipFill>
          <p:spPr>
            <a:xfrm>
              <a:off x="2834703" y="2007133"/>
              <a:ext cx="95250" cy="635863"/>
            </a:xfrm>
            <a:prstGeom prst="rect">
              <a:avLst/>
            </a:prstGeom>
          </p:spPr>
        </p:pic>
        <p:pic>
          <p:nvPicPr>
            <p:cNvPr id="29" name="object 29" descr=""/>
            <p:cNvPicPr/>
            <p:nvPr/>
          </p:nvPicPr>
          <p:blipFill>
            <a:blip r:embed="rId18" cstate="print"/>
            <a:stretch>
              <a:fillRect/>
            </a:stretch>
          </p:blipFill>
          <p:spPr>
            <a:xfrm>
              <a:off x="3870261" y="2349271"/>
              <a:ext cx="96012" cy="293725"/>
            </a:xfrm>
            <a:prstGeom prst="rect">
              <a:avLst/>
            </a:prstGeom>
          </p:spPr>
        </p:pic>
        <p:pic>
          <p:nvPicPr>
            <p:cNvPr id="30" name="object 30" descr=""/>
            <p:cNvPicPr/>
            <p:nvPr/>
          </p:nvPicPr>
          <p:blipFill>
            <a:blip r:embed="rId19" cstate="print"/>
            <a:stretch>
              <a:fillRect/>
            </a:stretch>
          </p:blipFill>
          <p:spPr>
            <a:xfrm>
              <a:off x="4906581" y="2292883"/>
              <a:ext cx="96012" cy="350113"/>
            </a:xfrm>
            <a:prstGeom prst="rect">
              <a:avLst/>
            </a:prstGeom>
          </p:spPr>
        </p:pic>
        <p:pic>
          <p:nvPicPr>
            <p:cNvPr id="31" name="object 31" descr=""/>
            <p:cNvPicPr/>
            <p:nvPr/>
          </p:nvPicPr>
          <p:blipFill>
            <a:blip r:embed="rId20" cstate="print"/>
            <a:stretch>
              <a:fillRect/>
            </a:stretch>
          </p:blipFill>
          <p:spPr>
            <a:xfrm>
              <a:off x="5942901" y="2239543"/>
              <a:ext cx="96012" cy="403453"/>
            </a:xfrm>
            <a:prstGeom prst="rect">
              <a:avLst/>
            </a:prstGeom>
          </p:spPr>
        </p:pic>
        <p:pic>
          <p:nvPicPr>
            <p:cNvPr id="32" name="object 32" descr=""/>
            <p:cNvPicPr/>
            <p:nvPr/>
          </p:nvPicPr>
          <p:blipFill>
            <a:blip r:embed="rId21" cstate="print"/>
            <a:stretch>
              <a:fillRect/>
            </a:stretch>
          </p:blipFill>
          <p:spPr>
            <a:xfrm>
              <a:off x="6979221" y="2161057"/>
              <a:ext cx="96011" cy="481939"/>
            </a:xfrm>
            <a:prstGeom prst="rect">
              <a:avLst/>
            </a:prstGeom>
          </p:spPr>
        </p:pic>
        <p:pic>
          <p:nvPicPr>
            <p:cNvPr id="33" name="object 33" descr=""/>
            <p:cNvPicPr/>
            <p:nvPr/>
          </p:nvPicPr>
          <p:blipFill>
            <a:blip r:embed="rId22" cstate="print"/>
            <a:stretch>
              <a:fillRect/>
            </a:stretch>
          </p:blipFill>
          <p:spPr>
            <a:xfrm>
              <a:off x="8015541" y="2074951"/>
              <a:ext cx="95250" cy="568045"/>
            </a:xfrm>
            <a:prstGeom prst="rect">
              <a:avLst/>
            </a:prstGeom>
          </p:spPr>
        </p:pic>
        <p:sp>
          <p:nvSpPr>
            <p:cNvPr id="34" name="object 34" descr=""/>
            <p:cNvSpPr/>
            <p:nvPr/>
          </p:nvSpPr>
          <p:spPr>
            <a:xfrm>
              <a:off x="762063" y="2007133"/>
              <a:ext cx="7348855" cy="636270"/>
            </a:xfrm>
            <a:custGeom>
              <a:avLst/>
              <a:gdLst/>
              <a:ahLst/>
              <a:cxnLst/>
              <a:rect l="l" t="t" r="r" b="b"/>
              <a:pathLst>
                <a:path w="7348855" h="636269">
                  <a:moveTo>
                    <a:pt x="0" y="390144"/>
                  </a:moveTo>
                  <a:lnTo>
                    <a:pt x="96011" y="390144"/>
                  </a:lnTo>
                  <a:lnTo>
                    <a:pt x="96011" y="635863"/>
                  </a:lnTo>
                  <a:lnTo>
                    <a:pt x="0" y="635863"/>
                  </a:lnTo>
                  <a:lnTo>
                    <a:pt x="0" y="390144"/>
                  </a:lnTo>
                  <a:close/>
                </a:path>
                <a:path w="7348855" h="636269">
                  <a:moveTo>
                    <a:pt x="1036319" y="171450"/>
                  </a:moveTo>
                  <a:lnTo>
                    <a:pt x="1131570" y="171450"/>
                  </a:lnTo>
                  <a:lnTo>
                    <a:pt x="1131570" y="635863"/>
                  </a:lnTo>
                  <a:lnTo>
                    <a:pt x="1036319" y="635863"/>
                  </a:lnTo>
                  <a:lnTo>
                    <a:pt x="1036319" y="171450"/>
                  </a:lnTo>
                  <a:close/>
                </a:path>
                <a:path w="7348855" h="636269">
                  <a:moveTo>
                    <a:pt x="2072640" y="0"/>
                  </a:moveTo>
                  <a:lnTo>
                    <a:pt x="2167890" y="0"/>
                  </a:lnTo>
                  <a:lnTo>
                    <a:pt x="2167890" y="635863"/>
                  </a:lnTo>
                  <a:lnTo>
                    <a:pt x="2072640" y="635863"/>
                  </a:lnTo>
                  <a:lnTo>
                    <a:pt x="2072640" y="0"/>
                  </a:lnTo>
                  <a:close/>
                </a:path>
                <a:path w="7348855" h="636269">
                  <a:moveTo>
                    <a:pt x="3108198" y="342138"/>
                  </a:moveTo>
                  <a:lnTo>
                    <a:pt x="3204210" y="342138"/>
                  </a:lnTo>
                  <a:lnTo>
                    <a:pt x="3204210" y="635863"/>
                  </a:lnTo>
                  <a:lnTo>
                    <a:pt x="3108198" y="635863"/>
                  </a:lnTo>
                  <a:lnTo>
                    <a:pt x="3108198" y="342138"/>
                  </a:lnTo>
                  <a:close/>
                </a:path>
                <a:path w="7348855" h="636269">
                  <a:moveTo>
                    <a:pt x="4144518" y="285750"/>
                  </a:moveTo>
                  <a:lnTo>
                    <a:pt x="4240530" y="285750"/>
                  </a:lnTo>
                  <a:lnTo>
                    <a:pt x="4240530" y="635863"/>
                  </a:lnTo>
                  <a:lnTo>
                    <a:pt x="4144518" y="635863"/>
                  </a:lnTo>
                  <a:lnTo>
                    <a:pt x="4144518" y="285750"/>
                  </a:lnTo>
                  <a:close/>
                </a:path>
                <a:path w="7348855" h="636269">
                  <a:moveTo>
                    <a:pt x="5180838" y="232410"/>
                  </a:moveTo>
                  <a:lnTo>
                    <a:pt x="5276850" y="232410"/>
                  </a:lnTo>
                  <a:lnTo>
                    <a:pt x="5276850" y="635863"/>
                  </a:lnTo>
                  <a:lnTo>
                    <a:pt x="5180838" y="635863"/>
                  </a:lnTo>
                  <a:lnTo>
                    <a:pt x="5180838" y="232410"/>
                  </a:lnTo>
                  <a:close/>
                </a:path>
                <a:path w="7348855" h="636269">
                  <a:moveTo>
                    <a:pt x="6217158" y="153924"/>
                  </a:moveTo>
                  <a:lnTo>
                    <a:pt x="6313169" y="153924"/>
                  </a:lnTo>
                  <a:lnTo>
                    <a:pt x="6313169" y="635863"/>
                  </a:lnTo>
                  <a:lnTo>
                    <a:pt x="6217158" y="635863"/>
                  </a:lnTo>
                  <a:lnTo>
                    <a:pt x="6217158" y="153924"/>
                  </a:lnTo>
                  <a:close/>
                </a:path>
                <a:path w="7348855" h="636269">
                  <a:moveTo>
                    <a:pt x="7253478" y="67818"/>
                  </a:moveTo>
                  <a:lnTo>
                    <a:pt x="7348728" y="67818"/>
                  </a:lnTo>
                  <a:lnTo>
                    <a:pt x="7348728" y="635863"/>
                  </a:lnTo>
                  <a:lnTo>
                    <a:pt x="7253478" y="635863"/>
                  </a:lnTo>
                  <a:lnTo>
                    <a:pt x="7253478" y="67818"/>
                  </a:lnTo>
                  <a:close/>
                </a:path>
              </a:pathLst>
            </a:custGeom>
            <a:ln w="9525">
              <a:solidFill>
                <a:srgbClr val="FFFFFF"/>
              </a:solidFill>
            </a:ln>
          </p:spPr>
          <p:txBody>
            <a:bodyPr wrap="square" lIns="0" tIns="0" rIns="0" bIns="0" rtlCol="0"/>
            <a:lstStyle/>
            <a:p/>
          </p:txBody>
        </p:sp>
        <p:pic>
          <p:nvPicPr>
            <p:cNvPr id="35" name="object 35" descr=""/>
            <p:cNvPicPr/>
            <p:nvPr/>
          </p:nvPicPr>
          <p:blipFill>
            <a:blip r:embed="rId23" cstate="print"/>
            <a:stretch>
              <a:fillRect/>
            </a:stretch>
          </p:blipFill>
          <p:spPr>
            <a:xfrm>
              <a:off x="883983" y="2458999"/>
              <a:ext cx="95250" cy="183997"/>
            </a:xfrm>
            <a:prstGeom prst="rect">
              <a:avLst/>
            </a:prstGeom>
          </p:spPr>
        </p:pic>
        <p:pic>
          <p:nvPicPr>
            <p:cNvPr id="36" name="object 36" descr=""/>
            <p:cNvPicPr/>
            <p:nvPr/>
          </p:nvPicPr>
          <p:blipFill>
            <a:blip r:embed="rId24" cstate="print"/>
            <a:stretch>
              <a:fillRect/>
            </a:stretch>
          </p:blipFill>
          <p:spPr>
            <a:xfrm>
              <a:off x="1919541" y="2293645"/>
              <a:ext cx="96012" cy="349351"/>
            </a:xfrm>
            <a:prstGeom prst="rect">
              <a:avLst/>
            </a:prstGeom>
          </p:spPr>
        </p:pic>
        <p:pic>
          <p:nvPicPr>
            <p:cNvPr id="37" name="object 37" descr=""/>
            <p:cNvPicPr/>
            <p:nvPr/>
          </p:nvPicPr>
          <p:blipFill>
            <a:blip r:embed="rId25" cstate="print"/>
            <a:stretch>
              <a:fillRect/>
            </a:stretch>
          </p:blipFill>
          <p:spPr>
            <a:xfrm>
              <a:off x="2955861" y="2165629"/>
              <a:ext cx="96012" cy="477367"/>
            </a:xfrm>
            <a:prstGeom prst="rect">
              <a:avLst/>
            </a:prstGeom>
          </p:spPr>
        </p:pic>
        <p:pic>
          <p:nvPicPr>
            <p:cNvPr id="38" name="object 38" descr=""/>
            <p:cNvPicPr/>
            <p:nvPr/>
          </p:nvPicPr>
          <p:blipFill>
            <a:blip r:embed="rId26" cstate="print"/>
            <a:stretch>
              <a:fillRect/>
            </a:stretch>
          </p:blipFill>
          <p:spPr>
            <a:xfrm>
              <a:off x="3992181" y="2423185"/>
              <a:ext cx="96012" cy="219811"/>
            </a:xfrm>
            <a:prstGeom prst="rect">
              <a:avLst/>
            </a:prstGeom>
          </p:spPr>
        </p:pic>
        <p:pic>
          <p:nvPicPr>
            <p:cNvPr id="39" name="object 39" descr=""/>
            <p:cNvPicPr/>
            <p:nvPr/>
          </p:nvPicPr>
          <p:blipFill>
            <a:blip r:embed="rId27" cstate="print"/>
            <a:stretch>
              <a:fillRect/>
            </a:stretch>
          </p:blipFill>
          <p:spPr>
            <a:xfrm>
              <a:off x="5028501" y="2380513"/>
              <a:ext cx="96012" cy="262483"/>
            </a:xfrm>
            <a:prstGeom prst="rect">
              <a:avLst/>
            </a:prstGeom>
          </p:spPr>
        </p:pic>
        <p:pic>
          <p:nvPicPr>
            <p:cNvPr id="40" name="object 40" descr=""/>
            <p:cNvPicPr/>
            <p:nvPr/>
          </p:nvPicPr>
          <p:blipFill>
            <a:blip r:embed="rId28" cstate="print"/>
            <a:stretch>
              <a:fillRect/>
            </a:stretch>
          </p:blipFill>
          <p:spPr>
            <a:xfrm>
              <a:off x="6064821" y="2339365"/>
              <a:ext cx="96012" cy="303631"/>
            </a:xfrm>
            <a:prstGeom prst="rect">
              <a:avLst/>
            </a:prstGeom>
          </p:spPr>
        </p:pic>
        <p:pic>
          <p:nvPicPr>
            <p:cNvPr id="41" name="object 41" descr=""/>
            <p:cNvPicPr/>
            <p:nvPr/>
          </p:nvPicPr>
          <p:blipFill>
            <a:blip r:embed="rId29" cstate="print"/>
            <a:stretch>
              <a:fillRect/>
            </a:stretch>
          </p:blipFill>
          <p:spPr>
            <a:xfrm>
              <a:off x="7101141" y="2280691"/>
              <a:ext cx="95250" cy="362305"/>
            </a:xfrm>
            <a:prstGeom prst="rect">
              <a:avLst/>
            </a:prstGeom>
          </p:spPr>
        </p:pic>
        <p:pic>
          <p:nvPicPr>
            <p:cNvPr id="42" name="object 42" descr=""/>
            <p:cNvPicPr/>
            <p:nvPr/>
          </p:nvPicPr>
          <p:blipFill>
            <a:blip r:embed="rId30" cstate="print"/>
            <a:stretch>
              <a:fillRect/>
            </a:stretch>
          </p:blipFill>
          <p:spPr>
            <a:xfrm>
              <a:off x="8136699" y="2215921"/>
              <a:ext cx="96011" cy="427075"/>
            </a:xfrm>
            <a:prstGeom prst="rect">
              <a:avLst/>
            </a:prstGeom>
          </p:spPr>
        </p:pic>
        <p:sp>
          <p:nvSpPr>
            <p:cNvPr id="43" name="object 43" descr=""/>
            <p:cNvSpPr/>
            <p:nvPr/>
          </p:nvSpPr>
          <p:spPr>
            <a:xfrm>
              <a:off x="883983" y="2165629"/>
              <a:ext cx="7348855" cy="477520"/>
            </a:xfrm>
            <a:custGeom>
              <a:avLst/>
              <a:gdLst/>
              <a:ahLst/>
              <a:cxnLst/>
              <a:rect l="l" t="t" r="r" b="b"/>
              <a:pathLst>
                <a:path w="7348855" h="477519">
                  <a:moveTo>
                    <a:pt x="0" y="293370"/>
                  </a:moveTo>
                  <a:lnTo>
                    <a:pt x="95250" y="293370"/>
                  </a:lnTo>
                  <a:lnTo>
                    <a:pt x="95250" y="477367"/>
                  </a:lnTo>
                  <a:lnTo>
                    <a:pt x="0" y="477367"/>
                  </a:lnTo>
                  <a:lnTo>
                    <a:pt x="0" y="293370"/>
                  </a:lnTo>
                  <a:close/>
                </a:path>
                <a:path w="7348855" h="477519">
                  <a:moveTo>
                    <a:pt x="1035558" y="128016"/>
                  </a:moveTo>
                  <a:lnTo>
                    <a:pt x="1131570" y="128016"/>
                  </a:lnTo>
                  <a:lnTo>
                    <a:pt x="1131570" y="477367"/>
                  </a:lnTo>
                  <a:lnTo>
                    <a:pt x="1035558" y="477367"/>
                  </a:lnTo>
                  <a:lnTo>
                    <a:pt x="1035558" y="128016"/>
                  </a:lnTo>
                  <a:close/>
                </a:path>
                <a:path w="7348855" h="477519">
                  <a:moveTo>
                    <a:pt x="2071877" y="0"/>
                  </a:moveTo>
                  <a:lnTo>
                    <a:pt x="2167890" y="0"/>
                  </a:lnTo>
                  <a:lnTo>
                    <a:pt x="2167890" y="477367"/>
                  </a:lnTo>
                  <a:lnTo>
                    <a:pt x="2071877" y="477367"/>
                  </a:lnTo>
                  <a:lnTo>
                    <a:pt x="2071877" y="0"/>
                  </a:lnTo>
                  <a:close/>
                </a:path>
                <a:path w="7348855" h="477519">
                  <a:moveTo>
                    <a:pt x="3108198" y="257556"/>
                  </a:moveTo>
                  <a:lnTo>
                    <a:pt x="3204210" y="257556"/>
                  </a:lnTo>
                  <a:lnTo>
                    <a:pt x="3204210" y="477367"/>
                  </a:lnTo>
                  <a:lnTo>
                    <a:pt x="3108198" y="477367"/>
                  </a:lnTo>
                  <a:lnTo>
                    <a:pt x="3108198" y="257556"/>
                  </a:lnTo>
                  <a:close/>
                </a:path>
                <a:path w="7348855" h="477519">
                  <a:moveTo>
                    <a:pt x="4144517" y="214884"/>
                  </a:moveTo>
                  <a:lnTo>
                    <a:pt x="4240530" y="214884"/>
                  </a:lnTo>
                  <a:lnTo>
                    <a:pt x="4240530" y="477367"/>
                  </a:lnTo>
                  <a:lnTo>
                    <a:pt x="4144517" y="477367"/>
                  </a:lnTo>
                  <a:lnTo>
                    <a:pt x="4144517" y="214884"/>
                  </a:lnTo>
                  <a:close/>
                </a:path>
                <a:path w="7348855" h="477519">
                  <a:moveTo>
                    <a:pt x="5180838" y="173736"/>
                  </a:moveTo>
                  <a:lnTo>
                    <a:pt x="5276850" y="173736"/>
                  </a:lnTo>
                  <a:lnTo>
                    <a:pt x="5276850" y="477367"/>
                  </a:lnTo>
                  <a:lnTo>
                    <a:pt x="5180838" y="477367"/>
                  </a:lnTo>
                  <a:lnTo>
                    <a:pt x="5180838" y="173736"/>
                  </a:lnTo>
                  <a:close/>
                </a:path>
                <a:path w="7348855" h="477519">
                  <a:moveTo>
                    <a:pt x="6217158" y="115062"/>
                  </a:moveTo>
                  <a:lnTo>
                    <a:pt x="6312408" y="115062"/>
                  </a:lnTo>
                  <a:lnTo>
                    <a:pt x="6312408" y="477367"/>
                  </a:lnTo>
                  <a:lnTo>
                    <a:pt x="6217158" y="477367"/>
                  </a:lnTo>
                  <a:lnTo>
                    <a:pt x="6217158" y="115062"/>
                  </a:lnTo>
                  <a:close/>
                </a:path>
                <a:path w="7348855" h="477519">
                  <a:moveTo>
                    <a:pt x="7252715" y="50292"/>
                  </a:moveTo>
                  <a:lnTo>
                    <a:pt x="7348727" y="50292"/>
                  </a:lnTo>
                  <a:lnTo>
                    <a:pt x="7348727" y="477367"/>
                  </a:lnTo>
                  <a:lnTo>
                    <a:pt x="7252715" y="477367"/>
                  </a:lnTo>
                  <a:lnTo>
                    <a:pt x="7252715" y="50292"/>
                  </a:lnTo>
                  <a:close/>
                </a:path>
              </a:pathLst>
            </a:custGeom>
            <a:ln w="9525">
              <a:solidFill>
                <a:srgbClr val="FFFFFF"/>
              </a:solidFill>
            </a:ln>
          </p:spPr>
          <p:txBody>
            <a:bodyPr wrap="square" lIns="0" tIns="0" rIns="0" bIns="0" rtlCol="0"/>
            <a:lstStyle/>
            <a:p/>
          </p:txBody>
        </p:sp>
        <p:pic>
          <p:nvPicPr>
            <p:cNvPr id="44" name="object 44" descr=""/>
            <p:cNvPicPr/>
            <p:nvPr/>
          </p:nvPicPr>
          <p:blipFill>
            <a:blip r:embed="rId31" cstate="print"/>
            <a:stretch>
              <a:fillRect/>
            </a:stretch>
          </p:blipFill>
          <p:spPr>
            <a:xfrm>
              <a:off x="1005141" y="2409469"/>
              <a:ext cx="96012" cy="233527"/>
            </a:xfrm>
            <a:prstGeom prst="rect">
              <a:avLst/>
            </a:prstGeom>
          </p:spPr>
        </p:pic>
        <p:pic>
          <p:nvPicPr>
            <p:cNvPr id="45" name="object 45" descr=""/>
            <p:cNvPicPr/>
            <p:nvPr/>
          </p:nvPicPr>
          <p:blipFill>
            <a:blip r:embed="rId32" cstate="print"/>
            <a:stretch>
              <a:fillRect/>
            </a:stretch>
          </p:blipFill>
          <p:spPr>
            <a:xfrm>
              <a:off x="2041461" y="2199919"/>
              <a:ext cx="96012" cy="443077"/>
            </a:xfrm>
            <a:prstGeom prst="rect">
              <a:avLst/>
            </a:prstGeom>
          </p:spPr>
        </p:pic>
        <p:pic>
          <p:nvPicPr>
            <p:cNvPr id="46" name="object 46" descr=""/>
            <p:cNvPicPr/>
            <p:nvPr/>
          </p:nvPicPr>
          <p:blipFill>
            <a:blip r:embed="rId33" cstate="print"/>
            <a:stretch>
              <a:fillRect/>
            </a:stretch>
          </p:blipFill>
          <p:spPr>
            <a:xfrm>
              <a:off x="3077781" y="2037613"/>
              <a:ext cx="96012" cy="605383"/>
            </a:xfrm>
            <a:prstGeom prst="rect">
              <a:avLst/>
            </a:prstGeom>
          </p:spPr>
        </p:pic>
        <p:pic>
          <p:nvPicPr>
            <p:cNvPr id="47" name="object 47" descr=""/>
            <p:cNvPicPr/>
            <p:nvPr/>
          </p:nvPicPr>
          <p:blipFill>
            <a:blip r:embed="rId34" cstate="print"/>
            <a:stretch>
              <a:fillRect/>
            </a:stretch>
          </p:blipFill>
          <p:spPr>
            <a:xfrm>
              <a:off x="4114101" y="2364511"/>
              <a:ext cx="96012" cy="278485"/>
            </a:xfrm>
            <a:prstGeom prst="rect">
              <a:avLst/>
            </a:prstGeom>
          </p:spPr>
        </p:pic>
        <p:pic>
          <p:nvPicPr>
            <p:cNvPr id="48" name="object 48" descr=""/>
            <p:cNvPicPr/>
            <p:nvPr/>
          </p:nvPicPr>
          <p:blipFill>
            <a:blip r:embed="rId35" cstate="print"/>
            <a:stretch>
              <a:fillRect/>
            </a:stretch>
          </p:blipFill>
          <p:spPr>
            <a:xfrm>
              <a:off x="5150421" y="2310409"/>
              <a:ext cx="95250" cy="332587"/>
            </a:xfrm>
            <a:prstGeom prst="rect">
              <a:avLst/>
            </a:prstGeom>
          </p:spPr>
        </p:pic>
        <p:pic>
          <p:nvPicPr>
            <p:cNvPr id="49" name="object 49" descr=""/>
            <p:cNvPicPr/>
            <p:nvPr/>
          </p:nvPicPr>
          <p:blipFill>
            <a:blip r:embed="rId36" cstate="print"/>
            <a:stretch>
              <a:fillRect/>
            </a:stretch>
          </p:blipFill>
          <p:spPr>
            <a:xfrm>
              <a:off x="6186741" y="2258593"/>
              <a:ext cx="95250" cy="384403"/>
            </a:xfrm>
            <a:prstGeom prst="rect">
              <a:avLst/>
            </a:prstGeom>
          </p:spPr>
        </p:pic>
        <p:pic>
          <p:nvPicPr>
            <p:cNvPr id="50" name="object 50" descr=""/>
            <p:cNvPicPr/>
            <p:nvPr/>
          </p:nvPicPr>
          <p:blipFill>
            <a:blip r:embed="rId37" cstate="print"/>
            <a:stretch>
              <a:fillRect/>
            </a:stretch>
          </p:blipFill>
          <p:spPr>
            <a:xfrm>
              <a:off x="7222299" y="2183917"/>
              <a:ext cx="96011" cy="459079"/>
            </a:xfrm>
            <a:prstGeom prst="rect">
              <a:avLst/>
            </a:prstGeom>
          </p:spPr>
        </p:pic>
        <p:pic>
          <p:nvPicPr>
            <p:cNvPr id="51" name="object 51" descr=""/>
            <p:cNvPicPr/>
            <p:nvPr/>
          </p:nvPicPr>
          <p:blipFill>
            <a:blip r:embed="rId38" cstate="print"/>
            <a:stretch>
              <a:fillRect/>
            </a:stretch>
          </p:blipFill>
          <p:spPr>
            <a:xfrm>
              <a:off x="8258619" y="2102383"/>
              <a:ext cx="96011" cy="540613"/>
            </a:xfrm>
            <a:prstGeom prst="rect">
              <a:avLst/>
            </a:prstGeom>
          </p:spPr>
        </p:pic>
        <p:sp>
          <p:nvSpPr>
            <p:cNvPr id="52" name="object 52" descr=""/>
            <p:cNvSpPr/>
            <p:nvPr/>
          </p:nvSpPr>
          <p:spPr>
            <a:xfrm>
              <a:off x="1005141" y="2037613"/>
              <a:ext cx="7349490" cy="605790"/>
            </a:xfrm>
            <a:custGeom>
              <a:avLst/>
              <a:gdLst/>
              <a:ahLst/>
              <a:cxnLst/>
              <a:rect l="l" t="t" r="r" b="b"/>
              <a:pathLst>
                <a:path w="7349490" h="605789">
                  <a:moveTo>
                    <a:pt x="0" y="371856"/>
                  </a:moveTo>
                  <a:lnTo>
                    <a:pt x="96012" y="371856"/>
                  </a:lnTo>
                  <a:lnTo>
                    <a:pt x="96012" y="605383"/>
                  </a:lnTo>
                  <a:lnTo>
                    <a:pt x="0" y="605383"/>
                  </a:lnTo>
                  <a:lnTo>
                    <a:pt x="0" y="371856"/>
                  </a:lnTo>
                  <a:close/>
                </a:path>
                <a:path w="7349490" h="605789">
                  <a:moveTo>
                    <a:pt x="1036320" y="162306"/>
                  </a:moveTo>
                  <a:lnTo>
                    <a:pt x="1132332" y="162306"/>
                  </a:lnTo>
                  <a:lnTo>
                    <a:pt x="1132332" y="605383"/>
                  </a:lnTo>
                  <a:lnTo>
                    <a:pt x="1036320" y="605383"/>
                  </a:lnTo>
                  <a:lnTo>
                    <a:pt x="1036320" y="162306"/>
                  </a:lnTo>
                  <a:close/>
                </a:path>
                <a:path w="7349490" h="605789">
                  <a:moveTo>
                    <a:pt x="2072639" y="0"/>
                  </a:moveTo>
                  <a:lnTo>
                    <a:pt x="2168652" y="0"/>
                  </a:lnTo>
                  <a:lnTo>
                    <a:pt x="2168652" y="605383"/>
                  </a:lnTo>
                  <a:lnTo>
                    <a:pt x="2072639" y="605383"/>
                  </a:lnTo>
                  <a:lnTo>
                    <a:pt x="2072639" y="0"/>
                  </a:lnTo>
                  <a:close/>
                </a:path>
                <a:path w="7349490" h="605789">
                  <a:moveTo>
                    <a:pt x="3108960" y="326897"/>
                  </a:moveTo>
                  <a:lnTo>
                    <a:pt x="3204972" y="326897"/>
                  </a:lnTo>
                  <a:lnTo>
                    <a:pt x="3204972" y="605383"/>
                  </a:lnTo>
                  <a:lnTo>
                    <a:pt x="3108960" y="605383"/>
                  </a:lnTo>
                  <a:lnTo>
                    <a:pt x="3108960" y="326897"/>
                  </a:lnTo>
                  <a:close/>
                </a:path>
                <a:path w="7349490" h="605789">
                  <a:moveTo>
                    <a:pt x="4145280" y="272795"/>
                  </a:moveTo>
                  <a:lnTo>
                    <a:pt x="4240530" y="272795"/>
                  </a:lnTo>
                  <a:lnTo>
                    <a:pt x="4240530" y="605383"/>
                  </a:lnTo>
                  <a:lnTo>
                    <a:pt x="4145280" y="605383"/>
                  </a:lnTo>
                  <a:lnTo>
                    <a:pt x="4145280" y="272795"/>
                  </a:lnTo>
                  <a:close/>
                </a:path>
                <a:path w="7349490" h="605789">
                  <a:moveTo>
                    <a:pt x="5181600" y="220980"/>
                  </a:moveTo>
                  <a:lnTo>
                    <a:pt x="5276850" y="220980"/>
                  </a:lnTo>
                  <a:lnTo>
                    <a:pt x="5276850" y="605383"/>
                  </a:lnTo>
                  <a:lnTo>
                    <a:pt x="5181600" y="605383"/>
                  </a:lnTo>
                  <a:lnTo>
                    <a:pt x="5181600" y="220980"/>
                  </a:lnTo>
                  <a:close/>
                </a:path>
                <a:path w="7349490" h="605789">
                  <a:moveTo>
                    <a:pt x="6217158" y="146303"/>
                  </a:moveTo>
                  <a:lnTo>
                    <a:pt x="6313169" y="146303"/>
                  </a:lnTo>
                  <a:lnTo>
                    <a:pt x="6313169" y="605383"/>
                  </a:lnTo>
                  <a:lnTo>
                    <a:pt x="6217158" y="605383"/>
                  </a:lnTo>
                  <a:lnTo>
                    <a:pt x="6217158" y="146303"/>
                  </a:lnTo>
                  <a:close/>
                </a:path>
                <a:path w="7349490" h="605789">
                  <a:moveTo>
                    <a:pt x="7253478" y="64769"/>
                  </a:moveTo>
                  <a:lnTo>
                    <a:pt x="7349489" y="64769"/>
                  </a:lnTo>
                  <a:lnTo>
                    <a:pt x="7349489" y="605383"/>
                  </a:lnTo>
                  <a:lnTo>
                    <a:pt x="7253478" y="605383"/>
                  </a:lnTo>
                  <a:lnTo>
                    <a:pt x="7253478" y="64769"/>
                  </a:lnTo>
                  <a:close/>
                </a:path>
              </a:pathLst>
            </a:custGeom>
            <a:ln w="9525">
              <a:solidFill>
                <a:srgbClr val="FFFFFF"/>
              </a:solidFill>
            </a:ln>
          </p:spPr>
          <p:txBody>
            <a:bodyPr wrap="square" lIns="0" tIns="0" rIns="0" bIns="0" rtlCol="0"/>
            <a:lstStyle/>
            <a:p/>
          </p:txBody>
        </p:sp>
        <p:pic>
          <p:nvPicPr>
            <p:cNvPr id="53" name="object 53" descr=""/>
            <p:cNvPicPr/>
            <p:nvPr/>
          </p:nvPicPr>
          <p:blipFill>
            <a:blip r:embed="rId39" cstate="print"/>
            <a:stretch>
              <a:fillRect/>
            </a:stretch>
          </p:blipFill>
          <p:spPr>
            <a:xfrm>
              <a:off x="1127061" y="1829587"/>
              <a:ext cx="96012" cy="813409"/>
            </a:xfrm>
            <a:prstGeom prst="rect">
              <a:avLst/>
            </a:prstGeom>
          </p:spPr>
        </p:pic>
        <p:pic>
          <p:nvPicPr>
            <p:cNvPr id="54" name="object 54" descr=""/>
            <p:cNvPicPr/>
            <p:nvPr/>
          </p:nvPicPr>
          <p:blipFill>
            <a:blip r:embed="rId40" cstate="print"/>
            <a:stretch>
              <a:fillRect/>
            </a:stretch>
          </p:blipFill>
          <p:spPr>
            <a:xfrm>
              <a:off x="2163381" y="1655089"/>
              <a:ext cx="96012" cy="987907"/>
            </a:xfrm>
            <a:prstGeom prst="rect">
              <a:avLst/>
            </a:prstGeom>
          </p:spPr>
        </p:pic>
        <p:pic>
          <p:nvPicPr>
            <p:cNvPr id="55" name="object 55" descr=""/>
            <p:cNvPicPr/>
            <p:nvPr/>
          </p:nvPicPr>
          <p:blipFill>
            <a:blip r:embed="rId41" cstate="print"/>
            <a:stretch>
              <a:fillRect/>
            </a:stretch>
          </p:blipFill>
          <p:spPr>
            <a:xfrm>
              <a:off x="3199701" y="1559077"/>
              <a:ext cx="96012" cy="1083919"/>
            </a:xfrm>
            <a:prstGeom prst="rect">
              <a:avLst/>
            </a:prstGeom>
          </p:spPr>
        </p:pic>
        <p:pic>
          <p:nvPicPr>
            <p:cNvPr id="56" name="object 56" descr=""/>
            <p:cNvPicPr/>
            <p:nvPr/>
          </p:nvPicPr>
          <p:blipFill>
            <a:blip r:embed="rId42" cstate="print"/>
            <a:stretch>
              <a:fillRect/>
            </a:stretch>
          </p:blipFill>
          <p:spPr>
            <a:xfrm>
              <a:off x="4236021" y="2243353"/>
              <a:ext cx="95250" cy="399643"/>
            </a:xfrm>
            <a:prstGeom prst="rect">
              <a:avLst/>
            </a:prstGeom>
          </p:spPr>
        </p:pic>
        <p:pic>
          <p:nvPicPr>
            <p:cNvPr id="57" name="object 57" descr=""/>
            <p:cNvPicPr/>
            <p:nvPr/>
          </p:nvPicPr>
          <p:blipFill>
            <a:blip r:embed="rId43" cstate="print"/>
            <a:stretch>
              <a:fillRect/>
            </a:stretch>
          </p:blipFill>
          <p:spPr>
            <a:xfrm>
              <a:off x="5271579" y="2166391"/>
              <a:ext cx="96012" cy="476605"/>
            </a:xfrm>
            <a:prstGeom prst="rect">
              <a:avLst/>
            </a:prstGeom>
          </p:spPr>
        </p:pic>
        <p:pic>
          <p:nvPicPr>
            <p:cNvPr id="58" name="object 58" descr=""/>
            <p:cNvPicPr/>
            <p:nvPr/>
          </p:nvPicPr>
          <p:blipFill>
            <a:blip r:embed="rId44" cstate="print"/>
            <a:stretch>
              <a:fillRect/>
            </a:stretch>
          </p:blipFill>
          <p:spPr>
            <a:xfrm>
              <a:off x="6307899" y="2073427"/>
              <a:ext cx="96012" cy="569569"/>
            </a:xfrm>
            <a:prstGeom prst="rect">
              <a:avLst/>
            </a:prstGeom>
          </p:spPr>
        </p:pic>
        <p:pic>
          <p:nvPicPr>
            <p:cNvPr id="59" name="object 59" descr=""/>
            <p:cNvPicPr/>
            <p:nvPr/>
          </p:nvPicPr>
          <p:blipFill>
            <a:blip r:embed="rId45" cstate="print"/>
            <a:stretch>
              <a:fillRect/>
            </a:stretch>
          </p:blipFill>
          <p:spPr>
            <a:xfrm>
              <a:off x="7344219" y="1956841"/>
              <a:ext cx="96011" cy="686155"/>
            </a:xfrm>
            <a:prstGeom prst="rect">
              <a:avLst/>
            </a:prstGeom>
          </p:spPr>
        </p:pic>
        <p:pic>
          <p:nvPicPr>
            <p:cNvPr id="60" name="object 60" descr=""/>
            <p:cNvPicPr/>
            <p:nvPr/>
          </p:nvPicPr>
          <p:blipFill>
            <a:blip r:embed="rId46" cstate="print"/>
            <a:stretch>
              <a:fillRect/>
            </a:stretch>
          </p:blipFill>
          <p:spPr>
            <a:xfrm>
              <a:off x="8380539" y="1838731"/>
              <a:ext cx="96011" cy="804265"/>
            </a:xfrm>
            <a:prstGeom prst="rect">
              <a:avLst/>
            </a:prstGeom>
          </p:spPr>
        </p:pic>
        <p:sp>
          <p:nvSpPr>
            <p:cNvPr id="61" name="object 61" descr=""/>
            <p:cNvSpPr/>
            <p:nvPr/>
          </p:nvSpPr>
          <p:spPr>
            <a:xfrm>
              <a:off x="1127061" y="1559077"/>
              <a:ext cx="7349490" cy="1083945"/>
            </a:xfrm>
            <a:custGeom>
              <a:avLst/>
              <a:gdLst/>
              <a:ahLst/>
              <a:cxnLst/>
              <a:rect l="l" t="t" r="r" b="b"/>
              <a:pathLst>
                <a:path w="7349490" h="1083945">
                  <a:moveTo>
                    <a:pt x="0" y="270510"/>
                  </a:moveTo>
                  <a:lnTo>
                    <a:pt x="96012" y="270510"/>
                  </a:lnTo>
                  <a:lnTo>
                    <a:pt x="96012" y="1083919"/>
                  </a:lnTo>
                  <a:lnTo>
                    <a:pt x="0" y="1083919"/>
                  </a:lnTo>
                  <a:lnTo>
                    <a:pt x="0" y="270510"/>
                  </a:lnTo>
                  <a:close/>
                </a:path>
                <a:path w="7349490" h="1083945">
                  <a:moveTo>
                    <a:pt x="1036319" y="96012"/>
                  </a:moveTo>
                  <a:lnTo>
                    <a:pt x="1132332" y="96012"/>
                  </a:lnTo>
                  <a:lnTo>
                    <a:pt x="1132332" y="1083919"/>
                  </a:lnTo>
                  <a:lnTo>
                    <a:pt x="1036319" y="1083919"/>
                  </a:lnTo>
                  <a:lnTo>
                    <a:pt x="1036319" y="96012"/>
                  </a:lnTo>
                  <a:close/>
                </a:path>
                <a:path w="7349490" h="1083945">
                  <a:moveTo>
                    <a:pt x="2072639" y="0"/>
                  </a:moveTo>
                  <a:lnTo>
                    <a:pt x="2168652" y="0"/>
                  </a:lnTo>
                  <a:lnTo>
                    <a:pt x="2168652" y="1083919"/>
                  </a:lnTo>
                  <a:lnTo>
                    <a:pt x="2072639" y="1083919"/>
                  </a:lnTo>
                  <a:lnTo>
                    <a:pt x="2072639" y="0"/>
                  </a:lnTo>
                  <a:close/>
                </a:path>
                <a:path w="7349490" h="1083945">
                  <a:moveTo>
                    <a:pt x="3108960" y="684276"/>
                  </a:moveTo>
                  <a:lnTo>
                    <a:pt x="3204210" y="684276"/>
                  </a:lnTo>
                  <a:lnTo>
                    <a:pt x="3204210" y="1083919"/>
                  </a:lnTo>
                  <a:lnTo>
                    <a:pt x="3108960" y="1083919"/>
                  </a:lnTo>
                  <a:lnTo>
                    <a:pt x="3108960" y="684276"/>
                  </a:lnTo>
                  <a:close/>
                </a:path>
                <a:path w="7349490" h="1083945">
                  <a:moveTo>
                    <a:pt x="4144517" y="607313"/>
                  </a:moveTo>
                  <a:lnTo>
                    <a:pt x="4240530" y="607313"/>
                  </a:lnTo>
                  <a:lnTo>
                    <a:pt x="4240530" y="1083919"/>
                  </a:lnTo>
                  <a:lnTo>
                    <a:pt x="4144517" y="1083919"/>
                  </a:lnTo>
                  <a:lnTo>
                    <a:pt x="4144517" y="607313"/>
                  </a:lnTo>
                  <a:close/>
                </a:path>
                <a:path w="7349490" h="1083945">
                  <a:moveTo>
                    <a:pt x="5180838" y="514350"/>
                  </a:moveTo>
                  <a:lnTo>
                    <a:pt x="5276850" y="514350"/>
                  </a:lnTo>
                  <a:lnTo>
                    <a:pt x="5276850" y="1083919"/>
                  </a:lnTo>
                  <a:lnTo>
                    <a:pt x="5180838" y="1083919"/>
                  </a:lnTo>
                  <a:lnTo>
                    <a:pt x="5180838" y="514350"/>
                  </a:lnTo>
                  <a:close/>
                </a:path>
                <a:path w="7349490" h="1083945">
                  <a:moveTo>
                    <a:pt x="6217158" y="397763"/>
                  </a:moveTo>
                  <a:lnTo>
                    <a:pt x="6313169" y="397763"/>
                  </a:lnTo>
                  <a:lnTo>
                    <a:pt x="6313169" y="1083919"/>
                  </a:lnTo>
                  <a:lnTo>
                    <a:pt x="6217158" y="1083919"/>
                  </a:lnTo>
                  <a:lnTo>
                    <a:pt x="6217158" y="397763"/>
                  </a:lnTo>
                  <a:close/>
                </a:path>
                <a:path w="7349490" h="1083945">
                  <a:moveTo>
                    <a:pt x="7253478" y="279653"/>
                  </a:moveTo>
                  <a:lnTo>
                    <a:pt x="7349489" y="279653"/>
                  </a:lnTo>
                  <a:lnTo>
                    <a:pt x="7349489" y="1083919"/>
                  </a:lnTo>
                  <a:lnTo>
                    <a:pt x="7253478" y="1083919"/>
                  </a:lnTo>
                  <a:lnTo>
                    <a:pt x="7253478" y="279653"/>
                  </a:lnTo>
                  <a:close/>
                </a:path>
              </a:pathLst>
            </a:custGeom>
            <a:ln w="9525">
              <a:solidFill>
                <a:srgbClr val="FFFFFF"/>
              </a:solidFill>
            </a:ln>
          </p:spPr>
          <p:txBody>
            <a:bodyPr wrap="square" lIns="0" tIns="0" rIns="0" bIns="0" rtlCol="0"/>
            <a:lstStyle/>
            <a:p/>
          </p:txBody>
        </p:sp>
        <p:sp>
          <p:nvSpPr>
            <p:cNvPr id="62" name="object 62" descr=""/>
            <p:cNvSpPr/>
            <p:nvPr/>
          </p:nvSpPr>
          <p:spPr>
            <a:xfrm>
              <a:off x="1248918" y="1967483"/>
              <a:ext cx="7349490" cy="675640"/>
            </a:xfrm>
            <a:custGeom>
              <a:avLst/>
              <a:gdLst/>
              <a:ahLst/>
              <a:cxnLst/>
              <a:rect l="l" t="t" r="r" b="b"/>
              <a:pathLst>
                <a:path w="7349490" h="675639">
                  <a:moveTo>
                    <a:pt x="96012" y="169926"/>
                  </a:moveTo>
                  <a:lnTo>
                    <a:pt x="0" y="169926"/>
                  </a:lnTo>
                  <a:lnTo>
                    <a:pt x="0" y="675132"/>
                  </a:lnTo>
                  <a:lnTo>
                    <a:pt x="96012" y="675132"/>
                  </a:lnTo>
                  <a:lnTo>
                    <a:pt x="96012" y="169926"/>
                  </a:lnTo>
                  <a:close/>
                </a:path>
                <a:path w="7349490" h="675639">
                  <a:moveTo>
                    <a:pt x="1132332" y="61722"/>
                  </a:moveTo>
                  <a:lnTo>
                    <a:pt x="1036320" y="61722"/>
                  </a:lnTo>
                  <a:lnTo>
                    <a:pt x="1036320" y="675132"/>
                  </a:lnTo>
                  <a:lnTo>
                    <a:pt x="1132332" y="675132"/>
                  </a:lnTo>
                  <a:lnTo>
                    <a:pt x="1132332" y="61722"/>
                  </a:lnTo>
                  <a:close/>
                </a:path>
                <a:path w="7349490" h="675639">
                  <a:moveTo>
                    <a:pt x="2167890" y="0"/>
                  </a:moveTo>
                  <a:lnTo>
                    <a:pt x="2072640" y="0"/>
                  </a:lnTo>
                  <a:lnTo>
                    <a:pt x="2072640" y="675132"/>
                  </a:lnTo>
                  <a:lnTo>
                    <a:pt x="2167890" y="675132"/>
                  </a:lnTo>
                  <a:lnTo>
                    <a:pt x="2167890" y="0"/>
                  </a:lnTo>
                  <a:close/>
                </a:path>
                <a:path w="7349490" h="675639">
                  <a:moveTo>
                    <a:pt x="3204210" y="425958"/>
                  </a:moveTo>
                  <a:lnTo>
                    <a:pt x="3108198" y="425958"/>
                  </a:lnTo>
                  <a:lnTo>
                    <a:pt x="3108198" y="675132"/>
                  </a:lnTo>
                  <a:lnTo>
                    <a:pt x="3204210" y="675132"/>
                  </a:lnTo>
                  <a:lnTo>
                    <a:pt x="3204210" y="425958"/>
                  </a:lnTo>
                  <a:close/>
                </a:path>
                <a:path w="7349490" h="675639">
                  <a:moveTo>
                    <a:pt x="4240530" y="377190"/>
                  </a:moveTo>
                  <a:lnTo>
                    <a:pt x="4144518" y="377190"/>
                  </a:lnTo>
                  <a:lnTo>
                    <a:pt x="4144518" y="675132"/>
                  </a:lnTo>
                  <a:lnTo>
                    <a:pt x="4240530" y="675132"/>
                  </a:lnTo>
                  <a:lnTo>
                    <a:pt x="4240530" y="377190"/>
                  </a:lnTo>
                  <a:close/>
                </a:path>
                <a:path w="7349490" h="675639">
                  <a:moveTo>
                    <a:pt x="5276837" y="319278"/>
                  </a:moveTo>
                  <a:lnTo>
                    <a:pt x="5180838" y="319278"/>
                  </a:lnTo>
                  <a:lnTo>
                    <a:pt x="5180838" y="675132"/>
                  </a:lnTo>
                  <a:lnTo>
                    <a:pt x="5276837" y="675132"/>
                  </a:lnTo>
                  <a:lnTo>
                    <a:pt x="5276837" y="319278"/>
                  </a:lnTo>
                  <a:close/>
                </a:path>
                <a:path w="7349490" h="675639">
                  <a:moveTo>
                    <a:pt x="6313157" y="246126"/>
                  </a:moveTo>
                  <a:lnTo>
                    <a:pt x="6217158" y="246126"/>
                  </a:lnTo>
                  <a:lnTo>
                    <a:pt x="6217158" y="675132"/>
                  </a:lnTo>
                  <a:lnTo>
                    <a:pt x="6313157" y="675132"/>
                  </a:lnTo>
                  <a:lnTo>
                    <a:pt x="6313157" y="246126"/>
                  </a:lnTo>
                  <a:close/>
                </a:path>
                <a:path w="7349490" h="675639">
                  <a:moveTo>
                    <a:pt x="7349490" y="172974"/>
                  </a:moveTo>
                  <a:lnTo>
                    <a:pt x="7253478" y="172974"/>
                  </a:lnTo>
                  <a:lnTo>
                    <a:pt x="7253478" y="675132"/>
                  </a:lnTo>
                  <a:lnTo>
                    <a:pt x="7349490" y="675132"/>
                  </a:lnTo>
                  <a:lnTo>
                    <a:pt x="7349490" y="172974"/>
                  </a:lnTo>
                  <a:close/>
                </a:path>
              </a:pathLst>
            </a:custGeom>
            <a:solidFill>
              <a:srgbClr val="9F9E81"/>
            </a:solidFill>
          </p:spPr>
          <p:txBody>
            <a:bodyPr wrap="square" lIns="0" tIns="0" rIns="0" bIns="0" rtlCol="0"/>
            <a:lstStyle/>
            <a:p/>
          </p:txBody>
        </p:sp>
        <p:sp>
          <p:nvSpPr>
            <p:cNvPr id="63" name="object 63" descr=""/>
            <p:cNvSpPr/>
            <p:nvPr/>
          </p:nvSpPr>
          <p:spPr>
            <a:xfrm>
              <a:off x="1370838" y="2212085"/>
              <a:ext cx="7348855" cy="430530"/>
            </a:xfrm>
            <a:custGeom>
              <a:avLst/>
              <a:gdLst/>
              <a:ahLst/>
              <a:cxnLst/>
              <a:rect l="l" t="t" r="r" b="b"/>
              <a:pathLst>
                <a:path w="7348855" h="430530">
                  <a:moveTo>
                    <a:pt x="96012" y="108966"/>
                  </a:moveTo>
                  <a:lnTo>
                    <a:pt x="0" y="108966"/>
                  </a:lnTo>
                  <a:lnTo>
                    <a:pt x="0" y="430530"/>
                  </a:lnTo>
                  <a:lnTo>
                    <a:pt x="96012" y="430530"/>
                  </a:lnTo>
                  <a:lnTo>
                    <a:pt x="96012" y="108966"/>
                  </a:lnTo>
                  <a:close/>
                </a:path>
                <a:path w="7348855" h="430530">
                  <a:moveTo>
                    <a:pt x="1131570" y="39624"/>
                  </a:moveTo>
                  <a:lnTo>
                    <a:pt x="1036320" y="39624"/>
                  </a:lnTo>
                  <a:lnTo>
                    <a:pt x="1036320" y="430530"/>
                  </a:lnTo>
                  <a:lnTo>
                    <a:pt x="1131570" y="430530"/>
                  </a:lnTo>
                  <a:lnTo>
                    <a:pt x="1131570" y="39624"/>
                  </a:lnTo>
                  <a:close/>
                </a:path>
                <a:path w="7348855" h="430530">
                  <a:moveTo>
                    <a:pt x="2167890" y="0"/>
                  </a:moveTo>
                  <a:lnTo>
                    <a:pt x="2071878" y="0"/>
                  </a:lnTo>
                  <a:lnTo>
                    <a:pt x="2071878" y="430530"/>
                  </a:lnTo>
                  <a:lnTo>
                    <a:pt x="2167890" y="430530"/>
                  </a:lnTo>
                  <a:lnTo>
                    <a:pt x="2167890" y="0"/>
                  </a:lnTo>
                  <a:close/>
                </a:path>
                <a:path w="7348855" h="430530">
                  <a:moveTo>
                    <a:pt x="3204210" y="275082"/>
                  </a:moveTo>
                  <a:lnTo>
                    <a:pt x="3108198" y="275082"/>
                  </a:lnTo>
                  <a:lnTo>
                    <a:pt x="3108198" y="430530"/>
                  </a:lnTo>
                  <a:lnTo>
                    <a:pt x="3204210" y="430530"/>
                  </a:lnTo>
                  <a:lnTo>
                    <a:pt x="3204210" y="275082"/>
                  </a:lnTo>
                  <a:close/>
                </a:path>
                <a:path w="7348855" h="430530">
                  <a:moveTo>
                    <a:pt x="4240530" y="245364"/>
                  </a:moveTo>
                  <a:lnTo>
                    <a:pt x="4144518" y="245364"/>
                  </a:lnTo>
                  <a:lnTo>
                    <a:pt x="4144518" y="430530"/>
                  </a:lnTo>
                  <a:lnTo>
                    <a:pt x="4240530" y="430530"/>
                  </a:lnTo>
                  <a:lnTo>
                    <a:pt x="4240530" y="245364"/>
                  </a:lnTo>
                  <a:close/>
                </a:path>
                <a:path w="7348855" h="430530">
                  <a:moveTo>
                    <a:pt x="5276837" y="208788"/>
                  </a:moveTo>
                  <a:lnTo>
                    <a:pt x="5180838" y="208788"/>
                  </a:lnTo>
                  <a:lnTo>
                    <a:pt x="5180838" y="430530"/>
                  </a:lnTo>
                  <a:lnTo>
                    <a:pt x="5276837" y="430530"/>
                  </a:lnTo>
                  <a:lnTo>
                    <a:pt x="5276837" y="208788"/>
                  </a:lnTo>
                  <a:close/>
                </a:path>
                <a:path w="7348855" h="430530">
                  <a:moveTo>
                    <a:pt x="6313170" y="163068"/>
                  </a:moveTo>
                  <a:lnTo>
                    <a:pt x="6217158" y="163068"/>
                  </a:lnTo>
                  <a:lnTo>
                    <a:pt x="6217158" y="430530"/>
                  </a:lnTo>
                  <a:lnTo>
                    <a:pt x="6313170" y="430530"/>
                  </a:lnTo>
                  <a:lnTo>
                    <a:pt x="6313170" y="163068"/>
                  </a:lnTo>
                  <a:close/>
                </a:path>
                <a:path w="7348855" h="430530">
                  <a:moveTo>
                    <a:pt x="7348728" y="117348"/>
                  </a:moveTo>
                  <a:lnTo>
                    <a:pt x="7253478" y="117348"/>
                  </a:lnTo>
                  <a:lnTo>
                    <a:pt x="7253478" y="430530"/>
                  </a:lnTo>
                  <a:lnTo>
                    <a:pt x="7348728" y="430530"/>
                  </a:lnTo>
                  <a:lnTo>
                    <a:pt x="7348728" y="117348"/>
                  </a:lnTo>
                  <a:close/>
                </a:path>
              </a:pathLst>
            </a:custGeom>
            <a:solidFill>
              <a:srgbClr val="A7A8A7"/>
            </a:solidFill>
          </p:spPr>
          <p:txBody>
            <a:bodyPr wrap="square" lIns="0" tIns="0" rIns="0" bIns="0" rtlCol="0"/>
            <a:lstStyle/>
            <a:p/>
          </p:txBody>
        </p:sp>
        <p:sp>
          <p:nvSpPr>
            <p:cNvPr id="64" name="object 64" descr=""/>
            <p:cNvSpPr/>
            <p:nvPr/>
          </p:nvSpPr>
          <p:spPr>
            <a:xfrm>
              <a:off x="534923" y="2642616"/>
              <a:ext cx="8289925" cy="0"/>
            </a:xfrm>
            <a:custGeom>
              <a:avLst/>
              <a:gdLst/>
              <a:ahLst/>
              <a:cxnLst/>
              <a:rect l="l" t="t" r="r" b="b"/>
              <a:pathLst>
                <a:path w="8289925" h="0">
                  <a:moveTo>
                    <a:pt x="0" y="0"/>
                  </a:moveTo>
                  <a:lnTo>
                    <a:pt x="8289798" y="0"/>
                  </a:lnTo>
                </a:path>
              </a:pathLst>
            </a:custGeom>
            <a:ln w="9144">
              <a:solidFill>
                <a:srgbClr val="F2F2F2"/>
              </a:solidFill>
            </a:ln>
          </p:spPr>
          <p:txBody>
            <a:bodyPr wrap="square" lIns="0" tIns="0" rIns="0" bIns="0" rtlCol="0"/>
            <a:lstStyle/>
            <a:p/>
          </p:txBody>
        </p:sp>
      </p:grpSp>
      <p:sp>
        <p:nvSpPr>
          <p:cNvPr id="65" name="object 65" descr=""/>
          <p:cNvSpPr txBox="1"/>
          <p:nvPr/>
        </p:nvSpPr>
        <p:spPr>
          <a:xfrm>
            <a:off x="590715" y="2082288"/>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172</a:t>
            </a:r>
            <a:endParaRPr sz="800">
              <a:latin typeface="Arial MT"/>
              <a:cs typeface="Arial MT"/>
            </a:endParaRPr>
          </a:p>
        </p:txBody>
      </p:sp>
      <p:sp>
        <p:nvSpPr>
          <p:cNvPr id="66" name="object 66" descr=""/>
          <p:cNvSpPr txBox="1"/>
          <p:nvPr/>
        </p:nvSpPr>
        <p:spPr>
          <a:xfrm>
            <a:off x="1626909" y="1853365"/>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279</a:t>
            </a:r>
            <a:endParaRPr sz="800">
              <a:latin typeface="Arial MT"/>
              <a:cs typeface="Arial MT"/>
            </a:endParaRPr>
          </a:p>
        </p:txBody>
      </p:sp>
      <p:sp>
        <p:nvSpPr>
          <p:cNvPr id="67" name="object 67" descr=""/>
          <p:cNvSpPr txBox="1"/>
          <p:nvPr/>
        </p:nvSpPr>
        <p:spPr>
          <a:xfrm>
            <a:off x="2663103" y="1615520"/>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390</a:t>
            </a:r>
            <a:endParaRPr sz="800">
              <a:latin typeface="Arial MT"/>
              <a:cs typeface="Arial MT"/>
            </a:endParaRPr>
          </a:p>
        </p:txBody>
      </p:sp>
      <p:sp>
        <p:nvSpPr>
          <p:cNvPr id="68" name="object 68" descr=""/>
          <p:cNvSpPr txBox="1"/>
          <p:nvPr/>
        </p:nvSpPr>
        <p:spPr>
          <a:xfrm>
            <a:off x="3699297" y="1990994"/>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215</a:t>
            </a:r>
            <a:endParaRPr sz="800">
              <a:latin typeface="Arial MT"/>
              <a:cs typeface="Arial MT"/>
            </a:endParaRPr>
          </a:p>
        </p:txBody>
      </p:sp>
      <p:sp>
        <p:nvSpPr>
          <p:cNvPr id="69" name="object 69" descr=""/>
          <p:cNvSpPr txBox="1"/>
          <p:nvPr/>
        </p:nvSpPr>
        <p:spPr>
          <a:xfrm>
            <a:off x="4735492" y="1935905"/>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240</a:t>
            </a:r>
            <a:endParaRPr sz="800">
              <a:latin typeface="Arial MT"/>
              <a:cs typeface="Arial MT"/>
            </a:endParaRPr>
          </a:p>
        </p:txBody>
      </p:sp>
      <p:sp>
        <p:nvSpPr>
          <p:cNvPr id="70" name="object 70" descr=""/>
          <p:cNvSpPr txBox="1"/>
          <p:nvPr/>
        </p:nvSpPr>
        <p:spPr>
          <a:xfrm>
            <a:off x="5771685" y="1836101"/>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287</a:t>
            </a:r>
            <a:endParaRPr sz="800">
              <a:latin typeface="Arial MT"/>
              <a:cs typeface="Arial MT"/>
            </a:endParaRPr>
          </a:p>
        </p:txBody>
      </p:sp>
      <p:sp>
        <p:nvSpPr>
          <p:cNvPr id="71" name="object 71" descr=""/>
          <p:cNvSpPr txBox="1"/>
          <p:nvPr/>
        </p:nvSpPr>
        <p:spPr>
          <a:xfrm>
            <a:off x="6807879" y="1716930"/>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343</a:t>
            </a:r>
            <a:endParaRPr sz="800">
              <a:latin typeface="Arial MT"/>
              <a:cs typeface="Arial MT"/>
            </a:endParaRPr>
          </a:p>
        </p:txBody>
      </p:sp>
      <p:sp>
        <p:nvSpPr>
          <p:cNvPr id="72" name="object 72" descr=""/>
          <p:cNvSpPr txBox="1"/>
          <p:nvPr/>
        </p:nvSpPr>
        <p:spPr>
          <a:xfrm>
            <a:off x="7844073" y="1574640"/>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409</a:t>
            </a:r>
            <a:endParaRPr sz="800">
              <a:latin typeface="Arial MT"/>
              <a:cs typeface="Arial MT"/>
            </a:endParaRPr>
          </a:p>
        </p:txBody>
      </p:sp>
      <p:sp>
        <p:nvSpPr>
          <p:cNvPr id="73" name="object 73" descr=""/>
          <p:cNvSpPr txBox="1"/>
          <p:nvPr/>
        </p:nvSpPr>
        <p:spPr>
          <a:xfrm>
            <a:off x="2784839" y="1814061"/>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297</a:t>
            </a:r>
            <a:endParaRPr sz="800">
              <a:latin typeface="Arial MT"/>
              <a:cs typeface="Arial MT"/>
            </a:endParaRPr>
          </a:p>
        </p:txBody>
      </p:sp>
      <p:sp>
        <p:nvSpPr>
          <p:cNvPr id="74" name="object 74" descr=""/>
          <p:cNvSpPr txBox="1"/>
          <p:nvPr/>
        </p:nvSpPr>
        <p:spPr>
          <a:xfrm>
            <a:off x="862382" y="2265963"/>
            <a:ext cx="138430"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86</a:t>
            </a:r>
            <a:endParaRPr sz="800">
              <a:latin typeface="Arial MT"/>
              <a:cs typeface="Arial MT"/>
            </a:endParaRPr>
          </a:p>
        </p:txBody>
      </p:sp>
      <p:sp>
        <p:nvSpPr>
          <p:cNvPr id="75" name="object 75" descr=""/>
          <p:cNvSpPr txBox="1"/>
          <p:nvPr/>
        </p:nvSpPr>
        <p:spPr>
          <a:xfrm>
            <a:off x="1870380" y="2100652"/>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163</a:t>
            </a:r>
            <a:endParaRPr sz="800">
              <a:latin typeface="Arial MT"/>
              <a:cs typeface="Arial MT"/>
            </a:endParaRPr>
          </a:p>
        </p:txBody>
      </p:sp>
      <p:sp>
        <p:nvSpPr>
          <p:cNvPr id="76" name="object 76" descr=""/>
          <p:cNvSpPr txBox="1"/>
          <p:nvPr/>
        </p:nvSpPr>
        <p:spPr>
          <a:xfrm>
            <a:off x="2906575" y="1972608"/>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223</a:t>
            </a:r>
            <a:endParaRPr sz="800">
              <a:latin typeface="Arial MT"/>
              <a:cs typeface="Arial MT"/>
            </a:endParaRPr>
          </a:p>
        </p:txBody>
      </p:sp>
      <p:sp>
        <p:nvSpPr>
          <p:cNvPr id="77" name="object 77" descr=""/>
          <p:cNvSpPr txBox="1"/>
          <p:nvPr/>
        </p:nvSpPr>
        <p:spPr>
          <a:xfrm>
            <a:off x="3942769" y="2230264"/>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103</a:t>
            </a:r>
            <a:endParaRPr sz="800">
              <a:latin typeface="Arial MT"/>
              <a:cs typeface="Arial MT"/>
            </a:endParaRPr>
          </a:p>
        </p:txBody>
      </p:sp>
      <p:sp>
        <p:nvSpPr>
          <p:cNvPr id="78" name="object 78" descr=""/>
          <p:cNvSpPr txBox="1"/>
          <p:nvPr/>
        </p:nvSpPr>
        <p:spPr>
          <a:xfrm>
            <a:off x="4978962" y="2187577"/>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123</a:t>
            </a:r>
            <a:endParaRPr sz="800">
              <a:latin typeface="Arial MT"/>
              <a:cs typeface="Arial MT"/>
            </a:endParaRPr>
          </a:p>
        </p:txBody>
      </p:sp>
      <p:sp>
        <p:nvSpPr>
          <p:cNvPr id="79" name="object 79" descr=""/>
          <p:cNvSpPr txBox="1"/>
          <p:nvPr/>
        </p:nvSpPr>
        <p:spPr>
          <a:xfrm>
            <a:off x="6015156" y="2146808"/>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142</a:t>
            </a:r>
            <a:endParaRPr sz="800">
              <a:latin typeface="Arial MT"/>
              <a:cs typeface="Arial MT"/>
            </a:endParaRPr>
          </a:p>
        </p:txBody>
      </p:sp>
      <p:sp>
        <p:nvSpPr>
          <p:cNvPr id="80" name="object 80" descr=""/>
          <p:cNvSpPr txBox="1"/>
          <p:nvPr/>
        </p:nvSpPr>
        <p:spPr>
          <a:xfrm>
            <a:off x="7051350" y="2087927"/>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169</a:t>
            </a:r>
            <a:endParaRPr sz="800">
              <a:latin typeface="Arial MT"/>
              <a:cs typeface="Arial MT"/>
            </a:endParaRPr>
          </a:p>
        </p:txBody>
      </p:sp>
      <p:sp>
        <p:nvSpPr>
          <p:cNvPr id="81" name="object 81" descr=""/>
          <p:cNvSpPr txBox="1"/>
          <p:nvPr/>
        </p:nvSpPr>
        <p:spPr>
          <a:xfrm>
            <a:off x="8087545" y="2023259"/>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200</a:t>
            </a:r>
            <a:endParaRPr sz="800">
              <a:latin typeface="Arial MT"/>
              <a:cs typeface="Arial MT"/>
            </a:endParaRPr>
          </a:p>
        </p:txBody>
      </p:sp>
      <p:sp>
        <p:nvSpPr>
          <p:cNvPr id="82" name="object 82" descr=""/>
          <p:cNvSpPr txBox="1"/>
          <p:nvPr/>
        </p:nvSpPr>
        <p:spPr>
          <a:xfrm>
            <a:off x="687050" y="2216810"/>
            <a:ext cx="488950" cy="147320"/>
          </a:xfrm>
          <a:prstGeom prst="rect">
            <a:avLst/>
          </a:prstGeom>
        </p:spPr>
        <p:txBody>
          <a:bodyPr wrap="square" lIns="0" tIns="12065" rIns="0" bIns="0" rtlCol="0" vert="horz">
            <a:spAutoFit/>
          </a:bodyPr>
          <a:lstStyle/>
          <a:p>
            <a:pPr marL="38100">
              <a:lnSpc>
                <a:spcPct val="100000"/>
              </a:lnSpc>
              <a:spcBef>
                <a:spcPts val="95"/>
              </a:spcBef>
            </a:pPr>
            <a:r>
              <a:rPr dirty="0" baseline="6944" sz="1200">
                <a:solidFill>
                  <a:srgbClr val="A7A8A7"/>
                </a:solidFill>
                <a:latin typeface="Arial MT"/>
                <a:cs typeface="Arial MT"/>
              </a:rPr>
              <a:t>115</a:t>
            </a:r>
            <a:r>
              <a:rPr dirty="0" baseline="6944" sz="1200" spc="502">
                <a:solidFill>
                  <a:srgbClr val="A7A8A7"/>
                </a:solidFill>
                <a:latin typeface="Arial MT"/>
                <a:cs typeface="Arial MT"/>
              </a:rPr>
              <a:t> </a:t>
            </a:r>
            <a:r>
              <a:rPr dirty="0" sz="800" spc="-25">
                <a:solidFill>
                  <a:srgbClr val="A7A8A7"/>
                </a:solidFill>
                <a:latin typeface="Arial MT"/>
                <a:cs typeface="Arial MT"/>
              </a:rPr>
              <a:t>109</a:t>
            </a:r>
            <a:endParaRPr sz="800">
              <a:latin typeface="Arial MT"/>
              <a:cs typeface="Arial MT"/>
            </a:endParaRPr>
          </a:p>
        </p:txBody>
      </p:sp>
      <p:sp>
        <p:nvSpPr>
          <p:cNvPr id="83" name="object 83" descr=""/>
          <p:cNvSpPr txBox="1"/>
          <p:nvPr/>
        </p:nvSpPr>
        <p:spPr>
          <a:xfrm>
            <a:off x="1723245" y="1985756"/>
            <a:ext cx="488950" cy="147320"/>
          </a:xfrm>
          <a:prstGeom prst="rect">
            <a:avLst/>
          </a:prstGeom>
        </p:spPr>
        <p:txBody>
          <a:bodyPr wrap="square" lIns="0" tIns="12065" rIns="0" bIns="0" rtlCol="0" vert="horz">
            <a:spAutoFit/>
          </a:bodyPr>
          <a:lstStyle/>
          <a:p>
            <a:pPr marL="38100">
              <a:lnSpc>
                <a:spcPct val="100000"/>
              </a:lnSpc>
              <a:spcBef>
                <a:spcPts val="95"/>
              </a:spcBef>
            </a:pPr>
            <a:r>
              <a:rPr dirty="0" sz="800">
                <a:solidFill>
                  <a:srgbClr val="A7A8A7"/>
                </a:solidFill>
                <a:latin typeface="Arial MT"/>
                <a:cs typeface="Arial MT"/>
              </a:rPr>
              <a:t>217</a:t>
            </a:r>
            <a:r>
              <a:rPr dirty="0" sz="800" spc="335">
                <a:solidFill>
                  <a:srgbClr val="A7A8A7"/>
                </a:solidFill>
                <a:latin typeface="Arial MT"/>
                <a:cs typeface="Arial MT"/>
              </a:rPr>
              <a:t> </a:t>
            </a:r>
            <a:r>
              <a:rPr dirty="0" baseline="-10416" sz="1200" spc="-37">
                <a:solidFill>
                  <a:srgbClr val="A7A8A7"/>
                </a:solidFill>
                <a:latin typeface="Arial MT"/>
                <a:cs typeface="Arial MT"/>
              </a:rPr>
              <a:t>207</a:t>
            </a:r>
            <a:endParaRPr baseline="-10416" sz="1200">
              <a:latin typeface="Arial MT"/>
              <a:cs typeface="Arial MT"/>
            </a:endParaRPr>
          </a:p>
        </p:txBody>
      </p:sp>
      <p:sp>
        <p:nvSpPr>
          <p:cNvPr id="84" name="object 84" descr=""/>
          <p:cNvSpPr txBox="1"/>
          <p:nvPr/>
        </p:nvSpPr>
        <p:spPr>
          <a:xfrm>
            <a:off x="3028311" y="1845127"/>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283</a:t>
            </a:r>
            <a:endParaRPr sz="800">
              <a:latin typeface="Arial MT"/>
              <a:cs typeface="Arial MT"/>
            </a:endParaRPr>
          </a:p>
        </p:txBody>
      </p:sp>
      <p:sp>
        <p:nvSpPr>
          <p:cNvPr id="85" name="object 85" descr=""/>
          <p:cNvSpPr txBox="1"/>
          <p:nvPr/>
        </p:nvSpPr>
        <p:spPr>
          <a:xfrm>
            <a:off x="3795633" y="2156912"/>
            <a:ext cx="488950" cy="147320"/>
          </a:xfrm>
          <a:prstGeom prst="rect">
            <a:avLst/>
          </a:prstGeom>
        </p:spPr>
        <p:txBody>
          <a:bodyPr wrap="square" lIns="0" tIns="12065" rIns="0" bIns="0" rtlCol="0" vert="horz">
            <a:spAutoFit/>
          </a:bodyPr>
          <a:lstStyle/>
          <a:p>
            <a:pPr marL="38100">
              <a:lnSpc>
                <a:spcPct val="100000"/>
              </a:lnSpc>
              <a:spcBef>
                <a:spcPts val="95"/>
              </a:spcBef>
            </a:pPr>
            <a:r>
              <a:rPr dirty="0" sz="800">
                <a:solidFill>
                  <a:srgbClr val="A7A8A7"/>
                </a:solidFill>
                <a:latin typeface="Arial MT"/>
                <a:cs typeface="Arial MT"/>
              </a:rPr>
              <a:t>137</a:t>
            </a:r>
            <a:r>
              <a:rPr dirty="0" sz="800" spc="335">
                <a:solidFill>
                  <a:srgbClr val="A7A8A7"/>
                </a:solidFill>
                <a:latin typeface="Arial MT"/>
                <a:cs typeface="Arial MT"/>
              </a:rPr>
              <a:t> </a:t>
            </a:r>
            <a:r>
              <a:rPr dirty="0" baseline="-6944" sz="1200" spc="-37">
                <a:solidFill>
                  <a:srgbClr val="A7A8A7"/>
                </a:solidFill>
                <a:latin typeface="Arial MT"/>
                <a:cs typeface="Arial MT"/>
              </a:rPr>
              <a:t>130</a:t>
            </a:r>
            <a:endParaRPr baseline="-6944" sz="1200">
              <a:latin typeface="Arial MT"/>
              <a:cs typeface="Arial MT"/>
            </a:endParaRPr>
          </a:p>
        </p:txBody>
      </p:sp>
      <p:sp>
        <p:nvSpPr>
          <p:cNvPr id="86" name="object 86" descr=""/>
          <p:cNvSpPr txBox="1"/>
          <p:nvPr/>
        </p:nvSpPr>
        <p:spPr>
          <a:xfrm>
            <a:off x="5868020" y="2046580"/>
            <a:ext cx="488950" cy="147320"/>
          </a:xfrm>
          <a:prstGeom prst="rect">
            <a:avLst/>
          </a:prstGeom>
        </p:spPr>
        <p:txBody>
          <a:bodyPr wrap="square" lIns="0" tIns="12065" rIns="0" bIns="0" rtlCol="0" vert="horz">
            <a:spAutoFit/>
          </a:bodyPr>
          <a:lstStyle/>
          <a:p>
            <a:pPr marL="38100">
              <a:lnSpc>
                <a:spcPct val="100000"/>
              </a:lnSpc>
              <a:spcBef>
                <a:spcPts val="95"/>
              </a:spcBef>
            </a:pPr>
            <a:r>
              <a:rPr dirty="0" sz="800">
                <a:solidFill>
                  <a:srgbClr val="A7A8A7"/>
                </a:solidFill>
                <a:latin typeface="Arial MT"/>
                <a:cs typeface="Arial MT"/>
              </a:rPr>
              <a:t>189</a:t>
            </a:r>
            <a:r>
              <a:rPr dirty="0" sz="800" spc="335">
                <a:solidFill>
                  <a:srgbClr val="A7A8A7"/>
                </a:solidFill>
                <a:latin typeface="Arial MT"/>
                <a:cs typeface="Arial MT"/>
              </a:rPr>
              <a:t> </a:t>
            </a:r>
            <a:r>
              <a:rPr dirty="0" baseline="-10416" sz="1200" spc="-37">
                <a:solidFill>
                  <a:srgbClr val="A7A8A7"/>
                </a:solidFill>
                <a:latin typeface="Arial MT"/>
                <a:cs typeface="Arial MT"/>
              </a:rPr>
              <a:t>180</a:t>
            </a:r>
            <a:endParaRPr baseline="-10416" sz="1200">
              <a:latin typeface="Arial MT"/>
              <a:cs typeface="Arial MT"/>
            </a:endParaRPr>
          </a:p>
        </p:txBody>
      </p:sp>
      <p:sp>
        <p:nvSpPr>
          <p:cNvPr id="87" name="object 87" descr=""/>
          <p:cNvSpPr txBox="1"/>
          <p:nvPr/>
        </p:nvSpPr>
        <p:spPr>
          <a:xfrm>
            <a:off x="1077659" y="1636658"/>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380</a:t>
            </a:r>
            <a:endParaRPr sz="800">
              <a:latin typeface="Arial MT"/>
              <a:cs typeface="Arial MT"/>
            </a:endParaRPr>
          </a:p>
        </p:txBody>
      </p:sp>
      <p:sp>
        <p:nvSpPr>
          <p:cNvPr id="88" name="object 88" descr=""/>
          <p:cNvSpPr txBox="1"/>
          <p:nvPr/>
        </p:nvSpPr>
        <p:spPr>
          <a:xfrm>
            <a:off x="2113854" y="1462068"/>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462</a:t>
            </a:r>
            <a:endParaRPr sz="800">
              <a:latin typeface="Arial MT"/>
              <a:cs typeface="Arial MT"/>
            </a:endParaRPr>
          </a:p>
        </p:txBody>
      </p:sp>
      <p:sp>
        <p:nvSpPr>
          <p:cNvPr id="89" name="object 89" descr=""/>
          <p:cNvSpPr txBox="1"/>
          <p:nvPr/>
        </p:nvSpPr>
        <p:spPr>
          <a:xfrm>
            <a:off x="3150047" y="1366311"/>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507</a:t>
            </a:r>
            <a:endParaRPr sz="800">
              <a:latin typeface="Arial MT"/>
              <a:cs typeface="Arial MT"/>
            </a:endParaRPr>
          </a:p>
        </p:txBody>
      </p:sp>
      <p:sp>
        <p:nvSpPr>
          <p:cNvPr id="90" name="object 90" descr=""/>
          <p:cNvSpPr txBox="1"/>
          <p:nvPr/>
        </p:nvSpPr>
        <p:spPr>
          <a:xfrm>
            <a:off x="4186241" y="2050937"/>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187</a:t>
            </a:r>
            <a:endParaRPr sz="800">
              <a:latin typeface="Arial MT"/>
              <a:cs typeface="Arial MT"/>
            </a:endParaRPr>
          </a:p>
        </p:txBody>
      </p:sp>
      <p:sp>
        <p:nvSpPr>
          <p:cNvPr id="91" name="object 91" descr=""/>
          <p:cNvSpPr txBox="1"/>
          <p:nvPr/>
        </p:nvSpPr>
        <p:spPr>
          <a:xfrm>
            <a:off x="5222435" y="1973452"/>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223</a:t>
            </a:r>
            <a:endParaRPr sz="800">
              <a:latin typeface="Arial MT"/>
              <a:cs typeface="Arial MT"/>
            </a:endParaRPr>
          </a:p>
        </p:txBody>
      </p:sp>
      <p:sp>
        <p:nvSpPr>
          <p:cNvPr id="92" name="object 92" descr=""/>
          <p:cNvSpPr txBox="1"/>
          <p:nvPr/>
        </p:nvSpPr>
        <p:spPr>
          <a:xfrm>
            <a:off x="6258629" y="1880934"/>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266</a:t>
            </a:r>
            <a:endParaRPr sz="800">
              <a:latin typeface="Arial MT"/>
              <a:cs typeface="Arial MT"/>
            </a:endParaRPr>
          </a:p>
        </p:txBody>
      </p:sp>
      <p:sp>
        <p:nvSpPr>
          <p:cNvPr id="93" name="object 93" descr=""/>
          <p:cNvSpPr txBox="1"/>
          <p:nvPr/>
        </p:nvSpPr>
        <p:spPr>
          <a:xfrm>
            <a:off x="7294822" y="1763870"/>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321</a:t>
            </a:r>
            <a:endParaRPr sz="800">
              <a:latin typeface="Arial MT"/>
              <a:cs typeface="Arial MT"/>
            </a:endParaRPr>
          </a:p>
        </p:txBody>
      </p:sp>
      <p:sp>
        <p:nvSpPr>
          <p:cNvPr id="94" name="object 94" descr=""/>
          <p:cNvSpPr txBox="1"/>
          <p:nvPr/>
        </p:nvSpPr>
        <p:spPr>
          <a:xfrm>
            <a:off x="8331017" y="1646077"/>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376</a:t>
            </a:r>
            <a:endParaRPr sz="800">
              <a:latin typeface="Arial MT"/>
              <a:cs typeface="Arial MT"/>
            </a:endParaRPr>
          </a:p>
        </p:txBody>
      </p:sp>
      <p:sp>
        <p:nvSpPr>
          <p:cNvPr id="95" name="object 95" descr=""/>
          <p:cNvSpPr txBox="1"/>
          <p:nvPr/>
        </p:nvSpPr>
        <p:spPr>
          <a:xfrm>
            <a:off x="1199395" y="1944665"/>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236</a:t>
            </a:r>
            <a:endParaRPr sz="800">
              <a:latin typeface="Arial MT"/>
              <a:cs typeface="Arial MT"/>
            </a:endParaRPr>
          </a:p>
        </p:txBody>
      </p:sp>
      <p:sp>
        <p:nvSpPr>
          <p:cNvPr id="96" name="object 96" descr=""/>
          <p:cNvSpPr txBox="1"/>
          <p:nvPr/>
        </p:nvSpPr>
        <p:spPr>
          <a:xfrm>
            <a:off x="2235589" y="1836171"/>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287</a:t>
            </a:r>
            <a:endParaRPr sz="800">
              <a:latin typeface="Arial MT"/>
              <a:cs typeface="Arial MT"/>
            </a:endParaRPr>
          </a:p>
        </p:txBody>
      </p:sp>
      <p:sp>
        <p:nvSpPr>
          <p:cNvPr id="97" name="object 97" descr=""/>
          <p:cNvSpPr txBox="1"/>
          <p:nvPr/>
        </p:nvSpPr>
        <p:spPr>
          <a:xfrm>
            <a:off x="3271782" y="1774771"/>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316</a:t>
            </a:r>
            <a:endParaRPr sz="800">
              <a:latin typeface="Arial MT"/>
              <a:cs typeface="Arial MT"/>
            </a:endParaRPr>
          </a:p>
        </p:txBody>
      </p:sp>
      <p:sp>
        <p:nvSpPr>
          <p:cNvPr id="98" name="object 98" descr=""/>
          <p:cNvSpPr txBox="1"/>
          <p:nvPr/>
        </p:nvSpPr>
        <p:spPr>
          <a:xfrm>
            <a:off x="4307976" y="2200645"/>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117</a:t>
            </a:r>
            <a:endParaRPr sz="800">
              <a:latin typeface="Arial MT"/>
              <a:cs typeface="Arial MT"/>
            </a:endParaRPr>
          </a:p>
        </p:txBody>
      </p:sp>
      <p:sp>
        <p:nvSpPr>
          <p:cNvPr id="99" name="object 99" descr=""/>
          <p:cNvSpPr txBox="1"/>
          <p:nvPr/>
        </p:nvSpPr>
        <p:spPr>
          <a:xfrm>
            <a:off x="4831827" y="2099991"/>
            <a:ext cx="732790" cy="147320"/>
          </a:xfrm>
          <a:prstGeom prst="rect">
            <a:avLst/>
          </a:prstGeom>
        </p:spPr>
        <p:txBody>
          <a:bodyPr wrap="square" lIns="0" tIns="12065" rIns="0" bIns="0" rtlCol="0" vert="horz">
            <a:spAutoFit/>
          </a:bodyPr>
          <a:lstStyle/>
          <a:p>
            <a:pPr marL="38100">
              <a:lnSpc>
                <a:spcPct val="100000"/>
              </a:lnSpc>
              <a:spcBef>
                <a:spcPts val="95"/>
              </a:spcBef>
            </a:pPr>
            <a:r>
              <a:rPr dirty="0" sz="800">
                <a:solidFill>
                  <a:srgbClr val="A7A8A7"/>
                </a:solidFill>
                <a:latin typeface="Arial MT"/>
                <a:cs typeface="Arial MT"/>
              </a:rPr>
              <a:t>164</a:t>
            </a:r>
            <a:r>
              <a:rPr dirty="0" sz="800" spc="335">
                <a:solidFill>
                  <a:srgbClr val="A7A8A7"/>
                </a:solidFill>
                <a:latin typeface="Arial MT"/>
                <a:cs typeface="Arial MT"/>
              </a:rPr>
              <a:t> </a:t>
            </a:r>
            <a:r>
              <a:rPr dirty="0" baseline="-10416" sz="1200">
                <a:solidFill>
                  <a:srgbClr val="A7A8A7"/>
                </a:solidFill>
                <a:latin typeface="Arial MT"/>
                <a:cs typeface="Arial MT"/>
              </a:rPr>
              <a:t>155</a:t>
            </a:r>
            <a:r>
              <a:rPr dirty="0" baseline="-10416" sz="1200" spc="509">
                <a:solidFill>
                  <a:srgbClr val="A7A8A7"/>
                </a:solidFill>
                <a:latin typeface="Arial MT"/>
                <a:cs typeface="Arial MT"/>
              </a:rPr>
              <a:t> </a:t>
            </a:r>
            <a:r>
              <a:rPr dirty="0" baseline="-27777" sz="1200" spc="-37">
                <a:solidFill>
                  <a:srgbClr val="A7A8A7"/>
                </a:solidFill>
                <a:latin typeface="Arial MT"/>
                <a:cs typeface="Arial MT"/>
              </a:rPr>
              <a:t>139</a:t>
            </a:r>
            <a:endParaRPr baseline="-27777" sz="1200">
              <a:latin typeface="Arial MT"/>
              <a:cs typeface="Arial MT"/>
            </a:endParaRPr>
          </a:p>
        </p:txBody>
      </p:sp>
      <p:sp>
        <p:nvSpPr>
          <p:cNvPr id="100" name="object 100" descr=""/>
          <p:cNvSpPr txBox="1"/>
          <p:nvPr/>
        </p:nvSpPr>
        <p:spPr>
          <a:xfrm>
            <a:off x="6380365" y="2094376"/>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166</a:t>
            </a:r>
            <a:endParaRPr sz="800">
              <a:latin typeface="Arial MT"/>
              <a:cs typeface="Arial MT"/>
            </a:endParaRPr>
          </a:p>
        </p:txBody>
      </p:sp>
      <p:sp>
        <p:nvSpPr>
          <p:cNvPr id="101" name="object 101" descr=""/>
          <p:cNvSpPr txBox="1"/>
          <p:nvPr/>
        </p:nvSpPr>
        <p:spPr>
          <a:xfrm>
            <a:off x="6904215" y="1968252"/>
            <a:ext cx="732790" cy="147320"/>
          </a:xfrm>
          <a:prstGeom prst="rect">
            <a:avLst/>
          </a:prstGeom>
        </p:spPr>
        <p:txBody>
          <a:bodyPr wrap="square" lIns="0" tIns="12065" rIns="0" bIns="0" rtlCol="0" vert="horz">
            <a:spAutoFit/>
          </a:bodyPr>
          <a:lstStyle/>
          <a:p>
            <a:pPr marL="38100">
              <a:lnSpc>
                <a:spcPct val="100000"/>
              </a:lnSpc>
              <a:spcBef>
                <a:spcPts val="95"/>
              </a:spcBef>
            </a:pPr>
            <a:r>
              <a:rPr dirty="0" sz="800">
                <a:solidFill>
                  <a:srgbClr val="A7A8A7"/>
                </a:solidFill>
                <a:latin typeface="Arial MT"/>
                <a:cs typeface="Arial MT"/>
              </a:rPr>
              <a:t>225</a:t>
            </a:r>
            <a:r>
              <a:rPr dirty="0" sz="800" spc="335">
                <a:solidFill>
                  <a:srgbClr val="A7A8A7"/>
                </a:solidFill>
                <a:latin typeface="Arial MT"/>
                <a:cs typeface="Arial MT"/>
              </a:rPr>
              <a:t> </a:t>
            </a:r>
            <a:r>
              <a:rPr dirty="0" baseline="-13888" sz="1200">
                <a:solidFill>
                  <a:srgbClr val="A7A8A7"/>
                </a:solidFill>
                <a:latin typeface="Arial MT"/>
                <a:cs typeface="Arial MT"/>
              </a:rPr>
              <a:t>214</a:t>
            </a:r>
            <a:r>
              <a:rPr dirty="0" baseline="-13888" sz="1200" spc="509">
                <a:solidFill>
                  <a:srgbClr val="A7A8A7"/>
                </a:solidFill>
                <a:latin typeface="Arial MT"/>
                <a:cs typeface="Arial MT"/>
              </a:rPr>
              <a:t> </a:t>
            </a:r>
            <a:r>
              <a:rPr dirty="0" baseline="-27777" sz="1200" spc="-37">
                <a:solidFill>
                  <a:srgbClr val="A7A8A7"/>
                </a:solidFill>
                <a:latin typeface="Arial MT"/>
                <a:cs typeface="Arial MT"/>
              </a:rPr>
              <a:t>200</a:t>
            </a:r>
            <a:endParaRPr baseline="-27777" sz="1200">
              <a:latin typeface="Arial MT"/>
              <a:cs typeface="Arial MT"/>
            </a:endParaRPr>
          </a:p>
        </p:txBody>
      </p:sp>
      <p:sp>
        <p:nvSpPr>
          <p:cNvPr id="102" name="object 102" descr=""/>
          <p:cNvSpPr txBox="1"/>
          <p:nvPr/>
        </p:nvSpPr>
        <p:spPr>
          <a:xfrm>
            <a:off x="7940409" y="1882228"/>
            <a:ext cx="732790" cy="147320"/>
          </a:xfrm>
          <a:prstGeom prst="rect">
            <a:avLst/>
          </a:prstGeom>
        </p:spPr>
        <p:txBody>
          <a:bodyPr wrap="square" lIns="0" tIns="12065" rIns="0" bIns="0" rtlCol="0" vert="horz">
            <a:spAutoFit/>
          </a:bodyPr>
          <a:lstStyle/>
          <a:p>
            <a:pPr marL="38100">
              <a:lnSpc>
                <a:spcPct val="100000"/>
              </a:lnSpc>
              <a:spcBef>
                <a:spcPts val="95"/>
              </a:spcBef>
            </a:pPr>
            <a:r>
              <a:rPr dirty="0" sz="800">
                <a:solidFill>
                  <a:srgbClr val="A7A8A7"/>
                </a:solidFill>
                <a:latin typeface="Arial MT"/>
                <a:cs typeface="Arial MT"/>
              </a:rPr>
              <a:t>265</a:t>
            </a:r>
            <a:r>
              <a:rPr dirty="0" sz="800" spc="335">
                <a:solidFill>
                  <a:srgbClr val="A7A8A7"/>
                </a:solidFill>
                <a:latin typeface="Arial MT"/>
                <a:cs typeface="Arial MT"/>
              </a:rPr>
              <a:t> </a:t>
            </a:r>
            <a:r>
              <a:rPr dirty="0" baseline="-13888" sz="1200">
                <a:solidFill>
                  <a:srgbClr val="A7A8A7"/>
                </a:solidFill>
                <a:latin typeface="Arial MT"/>
                <a:cs typeface="Arial MT"/>
              </a:rPr>
              <a:t>253</a:t>
            </a:r>
            <a:r>
              <a:rPr dirty="0" baseline="-13888" sz="1200" spc="509">
                <a:solidFill>
                  <a:srgbClr val="A7A8A7"/>
                </a:solidFill>
                <a:latin typeface="Arial MT"/>
                <a:cs typeface="Arial MT"/>
              </a:rPr>
              <a:t> </a:t>
            </a:r>
            <a:r>
              <a:rPr dirty="0" baseline="-34722" sz="1200" spc="-37">
                <a:solidFill>
                  <a:srgbClr val="A7A8A7"/>
                </a:solidFill>
                <a:latin typeface="Arial MT"/>
                <a:cs typeface="Arial MT"/>
              </a:rPr>
              <a:t>235</a:t>
            </a:r>
            <a:endParaRPr baseline="-34722" sz="1200">
              <a:latin typeface="Arial MT"/>
              <a:cs typeface="Arial MT"/>
            </a:endParaRPr>
          </a:p>
        </p:txBody>
      </p:sp>
      <p:sp>
        <p:nvSpPr>
          <p:cNvPr id="103" name="object 103" descr=""/>
          <p:cNvSpPr txBox="1"/>
          <p:nvPr/>
        </p:nvSpPr>
        <p:spPr>
          <a:xfrm>
            <a:off x="1321131" y="2128537"/>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150</a:t>
            </a:r>
            <a:endParaRPr sz="800">
              <a:latin typeface="Arial MT"/>
              <a:cs typeface="Arial MT"/>
            </a:endParaRPr>
          </a:p>
        </p:txBody>
      </p:sp>
      <p:sp>
        <p:nvSpPr>
          <p:cNvPr id="104" name="object 104" descr=""/>
          <p:cNvSpPr txBox="1"/>
          <p:nvPr/>
        </p:nvSpPr>
        <p:spPr>
          <a:xfrm>
            <a:off x="2357325" y="2059037"/>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183</a:t>
            </a:r>
            <a:endParaRPr sz="800">
              <a:latin typeface="Arial MT"/>
              <a:cs typeface="Arial MT"/>
            </a:endParaRPr>
          </a:p>
        </p:txBody>
      </p:sp>
      <p:sp>
        <p:nvSpPr>
          <p:cNvPr id="105" name="object 105" descr=""/>
          <p:cNvSpPr txBox="1"/>
          <p:nvPr/>
        </p:nvSpPr>
        <p:spPr>
          <a:xfrm>
            <a:off x="3393518" y="2019607"/>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201</a:t>
            </a:r>
            <a:endParaRPr sz="800">
              <a:latin typeface="Arial MT"/>
              <a:cs typeface="Arial MT"/>
            </a:endParaRPr>
          </a:p>
        </p:txBody>
      </p:sp>
      <p:sp>
        <p:nvSpPr>
          <p:cNvPr id="106" name="object 106" descr=""/>
          <p:cNvSpPr txBox="1"/>
          <p:nvPr/>
        </p:nvSpPr>
        <p:spPr>
          <a:xfrm>
            <a:off x="4457908" y="2294575"/>
            <a:ext cx="138430"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73</a:t>
            </a:r>
            <a:endParaRPr sz="800">
              <a:latin typeface="Arial MT"/>
              <a:cs typeface="Arial MT"/>
            </a:endParaRPr>
          </a:p>
        </p:txBody>
      </p:sp>
      <p:sp>
        <p:nvSpPr>
          <p:cNvPr id="107" name="object 107" descr=""/>
          <p:cNvSpPr txBox="1"/>
          <p:nvPr/>
        </p:nvSpPr>
        <p:spPr>
          <a:xfrm>
            <a:off x="5494101" y="2264365"/>
            <a:ext cx="138430"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87</a:t>
            </a:r>
            <a:endParaRPr sz="800">
              <a:latin typeface="Arial MT"/>
              <a:cs typeface="Arial MT"/>
            </a:endParaRPr>
          </a:p>
        </p:txBody>
      </p:sp>
      <p:sp>
        <p:nvSpPr>
          <p:cNvPr id="108" name="object 108" descr=""/>
          <p:cNvSpPr txBox="1"/>
          <p:nvPr/>
        </p:nvSpPr>
        <p:spPr>
          <a:xfrm>
            <a:off x="6502101" y="2228294"/>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104</a:t>
            </a:r>
            <a:endParaRPr sz="800">
              <a:latin typeface="Arial MT"/>
              <a:cs typeface="Arial MT"/>
            </a:endParaRPr>
          </a:p>
        </p:txBody>
      </p:sp>
      <p:sp>
        <p:nvSpPr>
          <p:cNvPr id="109" name="object 109" descr=""/>
          <p:cNvSpPr txBox="1"/>
          <p:nvPr/>
        </p:nvSpPr>
        <p:spPr>
          <a:xfrm>
            <a:off x="7538294" y="2182651"/>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125</a:t>
            </a:r>
            <a:endParaRPr sz="800">
              <a:latin typeface="Arial MT"/>
              <a:cs typeface="Arial MT"/>
            </a:endParaRPr>
          </a:p>
        </p:txBody>
      </p:sp>
      <p:sp>
        <p:nvSpPr>
          <p:cNvPr id="110" name="object 110" descr=""/>
          <p:cNvSpPr txBox="1"/>
          <p:nvPr/>
        </p:nvSpPr>
        <p:spPr>
          <a:xfrm>
            <a:off x="8574489" y="2136726"/>
            <a:ext cx="194945" cy="147320"/>
          </a:xfrm>
          <a:prstGeom prst="rect">
            <a:avLst/>
          </a:prstGeom>
        </p:spPr>
        <p:txBody>
          <a:bodyPr wrap="square" lIns="0" tIns="12065" rIns="0" bIns="0" rtlCol="0" vert="horz">
            <a:spAutoFit/>
          </a:bodyPr>
          <a:lstStyle/>
          <a:p>
            <a:pPr marL="12700">
              <a:lnSpc>
                <a:spcPct val="100000"/>
              </a:lnSpc>
              <a:spcBef>
                <a:spcPts val="95"/>
              </a:spcBef>
            </a:pPr>
            <a:r>
              <a:rPr dirty="0" sz="800" spc="-25">
                <a:solidFill>
                  <a:srgbClr val="A7A8A7"/>
                </a:solidFill>
                <a:latin typeface="Arial MT"/>
                <a:cs typeface="Arial MT"/>
              </a:rPr>
              <a:t>147</a:t>
            </a:r>
            <a:endParaRPr sz="800">
              <a:latin typeface="Arial MT"/>
              <a:cs typeface="Arial MT"/>
            </a:endParaRPr>
          </a:p>
        </p:txBody>
      </p:sp>
      <p:sp>
        <p:nvSpPr>
          <p:cNvPr id="111" name="object 111" descr=""/>
          <p:cNvSpPr txBox="1"/>
          <p:nvPr/>
        </p:nvSpPr>
        <p:spPr>
          <a:xfrm>
            <a:off x="917538" y="2739892"/>
            <a:ext cx="271780" cy="162560"/>
          </a:xfrm>
          <a:prstGeom prst="rect">
            <a:avLst/>
          </a:prstGeom>
        </p:spPr>
        <p:txBody>
          <a:bodyPr wrap="square" lIns="0" tIns="12700" rIns="0" bIns="0" rtlCol="0" vert="horz">
            <a:spAutoFit/>
          </a:bodyPr>
          <a:lstStyle/>
          <a:p>
            <a:pPr marL="12700">
              <a:lnSpc>
                <a:spcPct val="100000"/>
              </a:lnSpc>
              <a:spcBef>
                <a:spcPts val="100"/>
              </a:spcBef>
            </a:pPr>
            <a:r>
              <a:rPr dirty="0" sz="900" spc="-25">
                <a:solidFill>
                  <a:srgbClr val="808080"/>
                </a:solidFill>
                <a:latin typeface="Microsoft YaHei"/>
                <a:cs typeface="Microsoft YaHei"/>
              </a:rPr>
              <a:t>50M</a:t>
            </a:r>
            <a:endParaRPr sz="900">
              <a:latin typeface="Microsoft YaHei"/>
              <a:cs typeface="Microsoft YaHei"/>
            </a:endParaRPr>
          </a:p>
        </p:txBody>
      </p:sp>
      <p:sp>
        <p:nvSpPr>
          <p:cNvPr id="112" name="object 112" descr=""/>
          <p:cNvSpPr txBox="1"/>
          <p:nvPr/>
        </p:nvSpPr>
        <p:spPr>
          <a:xfrm>
            <a:off x="1953667" y="2739892"/>
            <a:ext cx="271780" cy="162560"/>
          </a:xfrm>
          <a:prstGeom prst="rect">
            <a:avLst/>
          </a:prstGeom>
        </p:spPr>
        <p:txBody>
          <a:bodyPr wrap="square" lIns="0" tIns="12700" rIns="0" bIns="0" rtlCol="0" vert="horz">
            <a:spAutoFit/>
          </a:bodyPr>
          <a:lstStyle/>
          <a:p>
            <a:pPr marL="12700">
              <a:lnSpc>
                <a:spcPct val="100000"/>
              </a:lnSpc>
              <a:spcBef>
                <a:spcPts val="100"/>
              </a:spcBef>
            </a:pPr>
            <a:r>
              <a:rPr dirty="0" sz="900" spc="-25">
                <a:solidFill>
                  <a:srgbClr val="808080"/>
                </a:solidFill>
                <a:latin typeface="Microsoft YaHei"/>
                <a:cs typeface="Microsoft YaHei"/>
              </a:rPr>
              <a:t>20M</a:t>
            </a:r>
            <a:endParaRPr sz="900">
              <a:latin typeface="Microsoft YaHei"/>
              <a:cs typeface="Microsoft YaHei"/>
            </a:endParaRPr>
          </a:p>
        </p:txBody>
      </p:sp>
      <p:sp>
        <p:nvSpPr>
          <p:cNvPr id="113" name="object 113" descr=""/>
          <p:cNvSpPr txBox="1"/>
          <p:nvPr/>
        </p:nvSpPr>
        <p:spPr>
          <a:xfrm>
            <a:off x="2989797" y="2739892"/>
            <a:ext cx="271780" cy="162560"/>
          </a:xfrm>
          <a:prstGeom prst="rect">
            <a:avLst/>
          </a:prstGeom>
        </p:spPr>
        <p:txBody>
          <a:bodyPr wrap="square" lIns="0" tIns="12700" rIns="0" bIns="0" rtlCol="0" vert="horz">
            <a:spAutoFit/>
          </a:bodyPr>
          <a:lstStyle/>
          <a:p>
            <a:pPr marL="12700">
              <a:lnSpc>
                <a:spcPct val="100000"/>
              </a:lnSpc>
              <a:spcBef>
                <a:spcPts val="100"/>
              </a:spcBef>
            </a:pPr>
            <a:r>
              <a:rPr dirty="0" sz="900" spc="-25">
                <a:solidFill>
                  <a:srgbClr val="808080"/>
                </a:solidFill>
                <a:latin typeface="Microsoft YaHei"/>
                <a:cs typeface="Microsoft YaHei"/>
              </a:rPr>
              <a:t>10M</a:t>
            </a:r>
            <a:endParaRPr sz="900">
              <a:latin typeface="Microsoft YaHei"/>
              <a:cs typeface="Microsoft YaHei"/>
            </a:endParaRPr>
          </a:p>
        </p:txBody>
      </p:sp>
      <p:sp>
        <p:nvSpPr>
          <p:cNvPr id="114" name="object 114" descr=""/>
          <p:cNvSpPr txBox="1"/>
          <p:nvPr/>
        </p:nvSpPr>
        <p:spPr>
          <a:xfrm>
            <a:off x="4059530" y="2739892"/>
            <a:ext cx="204470" cy="162560"/>
          </a:xfrm>
          <a:prstGeom prst="rect">
            <a:avLst/>
          </a:prstGeom>
        </p:spPr>
        <p:txBody>
          <a:bodyPr wrap="square" lIns="0" tIns="12700" rIns="0" bIns="0" rtlCol="0" vert="horz">
            <a:spAutoFit/>
          </a:bodyPr>
          <a:lstStyle/>
          <a:p>
            <a:pPr marL="12700">
              <a:lnSpc>
                <a:spcPct val="100000"/>
              </a:lnSpc>
              <a:spcBef>
                <a:spcPts val="100"/>
              </a:spcBef>
            </a:pPr>
            <a:r>
              <a:rPr dirty="0" sz="900" spc="-25">
                <a:solidFill>
                  <a:srgbClr val="808080"/>
                </a:solidFill>
                <a:latin typeface="Microsoft YaHei"/>
                <a:cs typeface="Microsoft YaHei"/>
              </a:rPr>
              <a:t>2M</a:t>
            </a:r>
            <a:endParaRPr sz="900">
              <a:latin typeface="Microsoft YaHei"/>
              <a:cs typeface="Microsoft YaHei"/>
            </a:endParaRPr>
          </a:p>
        </p:txBody>
      </p:sp>
      <p:sp>
        <p:nvSpPr>
          <p:cNvPr id="115" name="object 115" descr=""/>
          <p:cNvSpPr txBox="1"/>
          <p:nvPr/>
        </p:nvSpPr>
        <p:spPr>
          <a:xfrm>
            <a:off x="5004092" y="2715767"/>
            <a:ext cx="432434" cy="216535"/>
          </a:xfrm>
          <a:prstGeom prst="rect">
            <a:avLst/>
          </a:prstGeom>
          <a:ln w="25400">
            <a:solidFill>
              <a:srgbClr val="FF0000"/>
            </a:solidFill>
          </a:ln>
        </p:spPr>
        <p:txBody>
          <a:bodyPr wrap="square" lIns="0" tIns="36830" rIns="0" bIns="0" rtlCol="0" vert="horz">
            <a:spAutoFit/>
          </a:bodyPr>
          <a:lstStyle/>
          <a:p>
            <a:pPr marL="104139">
              <a:lnSpc>
                <a:spcPct val="100000"/>
              </a:lnSpc>
              <a:spcBef>
                <a:spcPts val="290"/>
              </a:spcBef>
            </a:pPr>
            <a:r>
              <a:rPr dirty="0" sz="900" spc="-25">
                <a:solidFill>
                  <a:srgbClr val="808080"/>
                </a:solidFill>
                <a:latin typeface="Microsoft YaHei"/>
                <a:cs typeface="Microsoft YaHei"/>
              </a:rPr>
              <a:t>1M</a:t>
            </a:r>
            <a:endParaRPr sz="900">
              <a:latin typeface="Microsoft YaHei"/>
              <a:cs typeface="Microsoft YaHei"/>
            </a:endParaRPr>
          </a:p>
        </p:txBody>
      </p:sp>
      <p:sp>
        <p:nvSpPr>
          <p:cNvPr id="116" name="object 116" descr=""/>
          <p:cNvSpPr txBox="1"/>
          <p:nvPr/>
        </p:nvSpPr>
        <p:spPr>
          <a:xfrm>
            <a:off x="8161757" y="2739892"/>
            <a:ext cx="288925" cy="162560"/>
          </a:xfrm>
          <a:prstGeom prst="rect">
            <a:avLst/>
          </a:prstGeom>
        </p:spPr>
        <p:txBody>
          <a:bodyPr wrap="square" lIns="0" tIns="12700" rIns="0" bIns="0" rtlCol="0" vert="horz">
            <a:spAutoFit/>
          </a:bodyPr>
          <a:lstStyle/>
          <a:p>
            <a:pPr marL="12700">
              <a:lnSpc>
                <a:spcPct val="100000"/>
              </a:lnSpc>
              <a:spcBef>
                <a:spcPts val="100"/>
              </a:spcBef>
            </a:pPr>
            <a:r>
              <a:rPr dirty="0" sz="900" spc="-20">
                <a:solidFill>
                  <a:srgbClr val="808080"/>
                </a:solidFill>
                <a:latin typeface="Microsoft YaHei"/>
                <a:cs typeface="Microsoft YaHei"/>
              </a:rPr>
              <a:t>128k</a:t>
            </a:r>
            <a:endParaRPr sz="900">
              <a:latin typeface="Microsoft YaHei"/>
              <a:cs typeface="Microsoft YaHei"/>
            </a:endParaRPr>
          </a:p>
        </p:txBody>
      </p:sp>
      <p:sp>
        <p:nvSpPr>
          <p:cNvPr id="117" name="object 117" descr=""/>
          <p:cNvSpPr txBox="1"/>
          <p:nvPr/>
        </p:nvSpPr>
        <p:spPr>
          <a:xfrm>
            <a:off x="3682903" y="964970"/>
            <a:ext cx="199453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595958"/>
                </a:solidFill>
                <a:latin typeface="Microsoft YaHei"/>
                <a:cs typeface="Microsoft YaHei"/>
              </a:rPr>
              <a:t>LTE&amp;NR</a:t>
            </a:r>
            <a:r>
              <a:rPr dirty="0" sz="1200">
                <a:solidFill>
                  <a:srgbClr val="595958"/>
                </a:solidFill>
                <a:latin typeface="Microsoft YaHei"/>
                <a:cs typeface="Microsoft YaHei"/>
              </a:rPr>
              <a:t>覆盖距离对比（米</a:t>
            </a:r>
            <a:r>
              <a:rPr dirty="0" sz="1200" spc="-50">
                <a:solidFill>
                  <a:srgbClr val="595958"/>
                </a:solidFill>
                <a:latin typeface="Microsoft YaHei"/>
                <a:cs typeface="Microsoft YaHei"/>
              </a:rPr>
              <a:t>）</a:t>
            </a:r>
            <a:endParaRPr sz="1200">
              <a:latin typeface="Microsoft YaHei"/>
              <a:cs typeface="Microsoft YaHei"/>
            </a:endParaRPr>
          </a:p>
        </p:txBody>
      </p:sp>
      <p:grpSp>
        <p:nvGrpSpPr>
          <p:cNvPr id="118" name="object 118" descr=""/>
          <p:cNvGrpSpPr/>
          <p:nvPr/>
        </p:nvGrpSpPr>
        <p:grpSpPr>
          <a:xfrm>
            <a:off x="2156002" y="3081108"/>
            <a:ext cx="3919220" cy="67945"/>
            <a:chOff x="2156002" y="3081108"/>
            <a:chExt cx="3919220" cy="67945"/>
          </a:xfrm>
        </p:grpSpPr>
        <p:pic>
          <p:nvPicPr>
            <p:cNvPr id="119" name="object 119" descr=""/>
            <p:cNvPicPr/>
            <p:nvPr/>
          </p:nvPicPr>
          <p:blipFill>
            <a:blip r:embed="rId47" cstate="print"/>
            <a:stretch>
              <a:fillRect/>
            </a:stretch>
          </p:blipFill>
          <p:spPr>
            <a:xfrm>
              <a:off x="2156002" y="3081108"/>
              <a:ext cx="67894" cy="67894"/>
            </a:xfrm>
            <a:prstGeom prst="rect">
              <a:avLst/>
            </a:prstGeom>
          </p:spPr>
        </p:pic>
        <p:pic>
          <p:nvPicPr>
            <p:cNvPr id="120" name="object 120" descr=""/>
            <p:cNvPicPr/>
            <p:nvPr/>
          </p:nvPicPr>
          <p:blipFill>
            <a:blip r:embed="rId48" cstate="print"/>
            <a:stretch>
              <a:fillRect/>
            </a:stretch>
          </p:blipFill>
          <p:spPr>
            <a:xfrm>
              <a:off x="3439744" y="3081108"/>
              <a:ext cx="67894" cy="67894"/>
            </a:xfrm>
            <a:prstGeom prst="rect">
              <a:avLst/>
            </a:prstGeom>
          </p:spPr>
        </p:pic>
        <p:pic>
          <p:nvPicPr>
            <p:cNvPr id="121" name="object 121" descr=""/>
            <p:cNvPicPr/>
            <p:nvPr/>
          </p:nvPicPr>
          <p:blipFill>
            <a:blip r:embed="rId49" cstate="print"/>
            <a:stretch>
              <a:fillRect/>
            </a:stretch>
          </p:blipFill>
          <p:spPr>
            <a:xfrm>
              <a:off x="4723485" y="3081108"/>
              <a:ext cx="67894" cy="67894"/>
            </a:xfrm>
            <a:prstGeom prst="rect">
              <a:avLst/>
            </a:prstGeom>
          </p:spPr>
        </p:pic>
        <p:pic>
          <p:nvPicPr>
            <p:cNvPr id="122" name="object 122" descr=""/>
            <p:cNvPicPr/>
            <p:nvPr/>
          </p:nvPicPr>
          <p:blipFill>
            <a:blip r:embed="rId50" cstate="print"/>
            <a:stretch>
              <a:fillRect/>
            </a:stretch>
          </p:blipFill>
          <p:spPr>
            <a:xfrm>
              <a:off x="6007227" y="3081108"/>
              <a:ext cx="67894" cy="67894"/>
            </a:xfrm>
            <a:prstGeom prst="rect">
              <a:avLst/>
            </a:prstGeom>
          </p:spPr>
        </p:pic>
      </p:grpSp>
      <p:sp>
        <p:nvSpPr>
          <p:cNvPr id="123" name="object 123" descr=""/>
          <p:cNvSpPr txBox="1"/>
          <p:nvPr/>
        </p:nvSpPr>
        <p:spPr>
          <a:xfrm>
            <a:off x="6089270" y="2739892"/>
            <a:ext cx="1325245" cy="447040"/>
          </a:xfrm>
          <a:prstGeom prst="rect">
            <a:avLst/>
          </a:prstGeom>
        </p:spPr>
        <p:txBody>
          <a:bodyPr wrap="square" lIns="0" tIns="12700" rIns="0" bIns="0" rtlCol="0" vert="horz">
            <a:spAutoFit/>
          </a:bodyPr>
          <a:lstStyle/>
          <a:p>
            <a:pPr marL="12700">
              <a:lnSpc>
                <a:spcPct val="100000"/>
              </a:lnSpc>
              <a:spcBef>
                <a:spcPts val="100"/>
              </a:spcBef>
              <a:tabLst>
                <a:tab pos="1048385" algn="l"/>
              </a:tabLst>
            </a:pPr>
            <a:r>
              <a:rPr dirty="0" sz="900" spc="-20">
                <a:solidFill>
                  <a:srgbClr val="808080"/>
                </a:solidFill>
                <a:latin typeface="Microsoft YaHei"/>
                <a:cs typeface="Microsoft YaHei"/>
              </a:rPr>
              <a:t>512k</a:t>
            </a:r>
            <a:r>
              <a:rPr dirty="0" sz="900">
                <a:solidFill>
                  <a:srgbClr val="808080"/>
                </a:solidFill>
                <a:latin typeface="Microsoft YaHei"/>
                <a:cs typeface="Microsoft YaHei"/>
              </a:rPr>
              <a:t>	</a:t>
            </a:r>
            <a:r>
              <a:rPr dirty="0" sz="900" spc="-20">
                <a:solidFill>
                  <a:srgbClr val="808080"/>
                </a:solidFill>
                <a:latin typeface="Microsoft YaHei"/>
                <a:cs typeface="Microsoft YaHei"/>
              </a:rPr>
              <a:t>256k</a:t>
            </a:r>
            <a:endParaRPr sz="900">
              <a:latin typeface="Microsoft YaHei"/>
              <a:cs typeface="Microsoft YaHei"/>
            </a:endParaRPr>
          </a:p>
          <a:p>
            <a:pPr marL="14604">
              <a:lnSpc>
                <a:spcPct val="100000"/>
              </a:lnSpc>
              <a:spcBef>
                <a:spcPts val="1155"/>
              </a:spcBef>
            </a:pPr>
            <a:r>
              <a:rPr dirty="0" sz="900" spc="-10">
                <a:solidFill>
                  <a:srgbClr val="808080"/>
                </a:solidFill>
                <a:latin typeface="Microsoft YaHei"/>
                <a:cs typeface="Microsoft YaHei"/>
              </a:rPr>
              <a:t>TD-LTE(2.6G,64T64R)</a:t>
            </a:r>
            <a:endParaRPr sz="900">
              <a:latin typeface="Microsoft YaHei"/>
              <a:cs typeface="Microsoft YaHei"/>
            </a:endParaRPr>
          </a:p>
        </p:txBody>
      </p:sp>
      <p:pic>
        <p:nvPicPr>
          <p:cNvPr id="124" name="object 124" descr=""/>
          <p:cNvPicPr/>
          <p:nvPr/>
        </p:nvPicPr>
        <p:blipFill>
          <a:blip r:embed="rId51" cstate="print"/>
          <a:stretch>
            <a:fillRect/>
          </a:stretch>
        </p:blipFill>
        <p:spPr>
          <a:xfrm>
            <a:off x="2156002" y="3306673"/>
            <a:ext cx="67894" cy="67894"/>
          </a:xfrm>
          <a:prstGeom prst="rect">
            <a:avLst/>
          </a:prstGeom>
        </p:spPr>
      </p:pic>
      <p:sp>
        <p:nvSpPr>
          <p:cNvPr id="125" name="object 125" descr=""/>
          <p:cNvSpPr txBox="1"/>
          <p:nvPr/>
        </p:nvSpPr>
        <p:spPr>
          <a:xfrm>
            <a:off x="2240379" y="3024099"/>
            <a:ext cx="1105535" cy="388620"/>
          </a:xfrm>
          <a:prstGeom prst="rect">
            <a:avLst/>
          </a:prstGeom>
        </p:spPr>
        <p:txBody>
          <a:bodyPr wrap="square" lIns="0" tIns="12700" rIns="0" bIns="0" rtlCol="0" vert="horz">
            <a:spAutoFit/>
          </a:bodyPr>
          <a:lstStyle/>
          <a:p>
            <a:pPr marL="12700">
              <a:lnSpc>
                <a:spcPct val="100000"/>
              </a:lnSpc>
              <a:spcBef>
                <a:spcPts val="100"/>
              </a:spcBef>
            </a:pPr>
            <a:r>
              <a:rPr dirty="0" sz="900">
                <a:solidFill>
                  <a:srgbClr val="808080"/>
                </a:solidFill>
                <a:latin typeface="Microsoft YaHei"/>
                <a:cs typeface="Microsoft YaHei"/>
              </a:rPr>
              <a:t>FDD</a:t>
            </a:r>
            <a:r>
              <a:rPr dirty="0" sz="900" spc="-25">
                <a:solidFill>
                  <a:srgbClr val="808080"/>
                </a:solidFill>
                <a:latin typeface="Microsoft YaHei"/>
                <a:cs typeface="Microsoft YaHei"/>
              </a:rPr>
              <a:t> </a:t>
            </a:r>
            <a:r>
              <a:rPr dirty="0" sz="900" spc="-10">
                <a:solidFill>
                  <a:srgbClr val="808080"/>
                </a:solidFill>
                <a:latin typeface="Microsoft YaHei"/>
                <a:cs typeface="Microsoft YaHei"/>
              </a:rPr>
              <a:t>LTE(1.8G,4T4R)</a:t>
            </a:r>
            <a:endParaRPr sz="900">
              <a:latin typeface="Microsoft YaHei"/>
              <a:cs typeface="Microsoft YaHei"/>
            </a:endParaRPr>
          </a:p>
          <a:p>
            <a:pPr marL="12700">
              <a:lnSpc>
                <a:spcPct val="100000"/>
              </a:lnSpc>
              <a:spcBef>
                <a:spcPts val="695"/>
              </a:spcBef>
            </a:pPr>
            <a:r>
              <a:rPr dirty="0" sz="900" spc="-10">
                <a:solidFill>
                  <a:srgbClr val="808080"/>
                </a:solidFill>
                <a:latin typeface="Microsoft YaHei"/>
                <a:cs typeface="Microsoft YaHei"/>
              </a:rPr>
              <a:t>NR(2.6G,64T64R)</a:t>
            </a:r>
            <a:endParaRPr sz="900">
              <a:latin typeface="Microsoft YaHei"/>
              <a:cs typeface="Microsoft YaHei"/>
            </a:endParaRPr>
          </a:p>
        </p:txBody>
      </p:sp>
      <p:sp>
        <p:nvSpPr>
          <p:cNvPr id="126" name="object 126" descr=""/>
          <p:cNvSpPr/>
          <p:nvPr/>
        </p:nvSpPr>
        <p:spPr>
          <a:xfrm>
            <a:off x="3439667" y="3306317"/>
            <a:ext cx="68580" cy="69850"/>
          </a:xfrm>
          <a:custGeom>
            <a:avLst/>
            <a:gdLst/>
            <a:ahLst/>
            <a:cxnLst/>
            <a:rect l="l" t="t" r="r" b="b"/>
            <a:pathLst>
              <a:path w="68579" h="69850">
                <a:moveTo>
                  <a:pt x="68579" y="0"/>
                </a:moveTo>
                <a:lnTo>
                  <a:pt x="0" y="0"/>
                </a:lnTo>
                <a:lnTo>
                  <a:pt x="0" y="69341"/>
                </a:lnTo>
                <a:lnTo>
                  <a:pt x="68579" y="69341"/>
                </a:lnTo>
                <a:lnTo>
                  <a:pt x="68579" y="0"/>
                </a:lnTo>
                <a:close/>
              </a:path>
            </a:pathLst>
          </a:custGeom>
          <a:solidFill>
            <a:srgbClr val="9F9E81"/>
          </a:solidFill>
        </p:spPr>
        <p:txBody>
          <a:bodyPr wrap="square" lIns="0" tIns="0" rIns="0" bIns="0" rtlCol="0"/>
          <a:lstStyle/>
          <a:p/>
        </p:txBody>
      </p:sp>
      <p:sp>
        <p:nvSpPr>
          <p:cNvPr id="127" name="object 127" descr=""/>
          <p:cNvSpPr txBox="1"/>
          <p:nvPr/>
        </p:nvSpPr>
        <p:spPr>
          <a:xfrm>
            <a:off x="3524120" y="3024099"/>
            <a:ext cx="1038860" cy="388620"/>
          </a:xfrm>
          <a:prstGeom prst="rect">
            <a:avLst/>
          </a:prstGeom>
        </p:spPr>
        <p:txBody>
          <a:bodyPr wrap="square" lIns="0" tIns="12700" rIns="0" bIns="0" rtlCol="0" vert="horz">
            <a:spAutoFit/>
          </a:bodyPr>
          <a:lstStyle/>
          <a:p>
            <a:pPr marL="12700">
              <a:lnSpc>
                <a:spcPct val="100000"/>
              </a:lnSpc>
              <a:spcBef>
                <a:spcPts val="100"/>
              </a:spcBef>
            </a:pPr>
            <a:r>
              <a:rPr dirty="0" sz="900" spc="-10">
                <a:solidFill>
                  <a:srgbClr val="808080"/>
                </a:solidFill>
                <a:latin typeface="Microsoft YaHei"/>
                <a:cs typeface="Microsoft YaHei"/>
              </a:rPr>
              <a:t>TD-LTE(1.9G,8T8R)</a:t>
            </a:r>
            <a:endParaRPr sz="900">
              <a:latin typeface="Microsoft YaHei"/>
              <a:cs typeface="Microsoft YaHei"/>
            </a:endParaRPr>
          </a:p>
          <a:p>
            <a:pPr marL="12700">
              <a:lnSpc>
                <a:spcPct val="100000"/>
              </a:lnSpc>
              <a:spcBef>
                <a:spcPts val="695"/>
              </a:spcBef>
            </a:pPr>
            <a:r>
              <a:rPr dirty="0" sz="900" spc="-10">
                <a:solidFill>
                  <a:srgbClr val="808080"/>
                </a:solidFill>
                <a:latin typeface="Microsoft YaHei"/>
                <a:cs typeface="Microsoft YaHei"/>
              </a:rPr>
              <a:t>NR(3.5G,64T64R)</a:t>
            </a:r>
            <a:endParaRPr sz="900">
              <a:latin typeface="Microsoft YaHei"/>
              <a:cs typeface="Microsoft YaHei"/>
            </a:endParaRPr>
          </a:p>
        </p:txBody>
      </p:sp>
      <p:sp>
        <p:nvSpPr>
          <p:cNvPr id="128" name="object 128" descr=""/>
          <p:cNvSpPr/>
          <p:nvPr/>
        </p:nvSpPr>
        <p:spPr>
          <a:xfrm>
            <a:off x="4723638" y="3306317"/>
            <a:ext cx="68580" cy="69850"/>
          </a:xfrm>
          <a:custGeom>
            <a:avLst/>
            <a:gdLst/>
            <a:ahLst/>
            <a:cxnLst/>
            <a:rect l="l" t="t" r="r" b="b"/>
            <a:pathLst>
              <a:path w="68579" h="69850">
                <a:moveTo>
                  <a:pt x="68579" y="0"/>
                </a:moveTo>
                <a:lnTo>
                  <a:pt x="0" y="0"/>
                </a:lnTo>
                <a:lnTo>
                  <a:pt x="0" y="69341"/>
                </a:lnTo>
                <a:lnTo>
                  <a:pt x="68579" y="69341"/>
                </a:lnTo>
                <a:lnTo>
                  <a:pt x="68579" y="0"/>
                </a:lnTo>
                <a:close/>
              </a:path>
            </a:pathLst>
          </a:custGeom>
          <a:solidFill>
            <a:srgbClr val="A7A8A7"/>
          </a:solidFill>
        </p:spPr>
        <p:txBody>
          <a:bodyPr wrap="square" lIns="0" tIns="0" rIns="0" bIns="0" rtlCol="0"/>
          <a:lstStyle/>
          <a:p/>
        </p:txBody>
      </p:sp>
      <p:sp>
        <p:nvSpPr>
          <p:cNvPr id="129" name="object 129" descr=""/>
          <p:cNvSpPr txBox="1"/>
          <p:nvPr/>
        </p:nvSpPr>
        <p:spPr>
          <a:xfrm>
            <a:off x="4807863" y="3024099"/>
            <a:ext cx="1038860" cy="388620"/>
          </a:xfrm>
          <a:prstGeom prst="rect">
            <a:avLst/>
          </a:prstGeom>
        </p:spPr>
        <p:txBody>
          <a:bodyPr wrap="square" lIns="0" tIns="12700" rIns="0" bIns="0" rtlCol="0" vert="horz">
            <a:spAutoFit/>
          </a:bodyPr>
          <a:lstStyle/>
          <a:p>
            <a:pPr marL="12700">
              <a:lnSpc>
                <a:spcPct val="100000"/>
              </a:lnSpc>
              <a:spcBef>
                <a:spcPts val="100"/>
              </a:spcBef>
            </a:pPr>
            <a:r>
              <a:rPr dirty="0" sz="900" spc="-10">
                <a:solidFill>
                  <a:srgbClr val="808080"/>
                </a:solidFill>
                <a:latin typeface="Microsoft YaHei"/>
                <a:cs typeface="Microsoft YaHei"/>
              </a:rPr>
              <a:t>TD-LTE(2.6G,8T8R)</a:t>
            </a:r>
            <a:endParaRPr sz="900">
              <a:latin typeface="Microsoft YaHei"/>
              <a:cs typeface="Microsoft YaHei"/>
            </a:endParaRPr>
          </a:p>
          <a:p>
            <a:pPr marL="12700">
              <a:lnSpc>
                <a:spcPct val="100000"/>
              </a:lnSpc>
              <a:spcBef>
                <a:spcPts val="695"/>
              </a:spcBef>
            </a:pPr>
            <a:r>
              <a:rPr dirty="0" sz="900" spc="-10">
                <a:solidFill>
                  <a:srgbClr val="808080"/>
                </a:solidFill>
                <a:latin typeface="Microsoft YaHei"/>
                <a:cs typeface="Microsoft YaHei"/>
              </a:rPr>
              <a:t>NR(4,9G,64T64R)</a:t>
            </a:r>
            <a:endParaRPr sz="900">
              <a:latin typeface="Microsoft YaHei"/>
              <a:cs typeface="Microsoft YaHei"/>
            </a:endParaRPr>
          </a:p>
        </p:txBody>
      </p:sp>
      <p:grpSp>
        <p:nvGrpSpPr>
          <p:cNvPr id="130" name="object 130" descr=""/>
          <p:cNvGrpSpPr/>
          <p:nvPr/>
        </p:nvGrpSpPr>
        <p:grpSpPr>
          <a:xfrm>
            <a:off x="390779" y="838796"/>
            <a:ext cx="8578850" cy="2676525"/>
            <a:chOff x="390779" y="838796"/>
            <a:chExt cx="8578850" cy="2676525"/>
          </a:xfrm>
        </p:grpSpPr>
        <p:sp>
          <p:nvSpPr>
            <p:cNvPr id="131" name="object 131" descr=""/>
            <p:cNvSpPr/>
            <p:nvPr/>
          </p:nvSpPr>
          <p:spPr>
            <a:xfrm>
              <a:off x="395541" y="843559"/>
              <a:ext cx="8569325" cy="2667000"/>
            </a:xfrm>
            <a:custGeom>
              <a:avLst/>
              <a:gdLst/>
              <a:ahLst/>
              <a:cxnLst/>
              <a:rect l="l" t="t" r="r" b="b"/>
              <a:pathLst>
                <a:path w="8569325" h="2667000">
                  <a:moveTo>
                    <a:pt x="0" y="0"/>
                  </a:moveTo>
                  <a:lnTo>
                    <a:pt x="8568956" y="0"/>
                  </a:lnTo>
                  <a:lnTo>
                    <a:pt x="8568956" y="2667000"/>
                  </a:lnTo>
                  <a:lnTo>
                    <a:pt x="0" y="2667000"/>
                  </a:lnTo>
                  <a:lnTo>
                    <a:pt x="0" y="0"/>
                  </a:lnTo>
                  <a:close/>
                </a:path>
              </a:pathLst>
            </a:custGeom>
            <a:ln w="9525">
              <a:solidFill>
                <a:srgbClr val="F2F2F2"/>
              </a:solidFill>
            </a:ln>
          </p:spPr>
          <p:txBody>
            <a:bodyPr wrap="square" lIns="0" tIns="0" rIns="0" bIns="0" rtlCol="0"/>
            <a:lstStyle/>
            <a:p/>
          </p:txBody>
        </p:sp>
        <p:sp>
          <p:nvSpPr>
            <p:cNvPr id="132" name="object 132" descr=""/>
            <p:cNvSpPr/>
            <p:nvPr/>
          </p:nvSpPr>
          <p:spPr>
            <a:xfrm>
              <a:off x="4571961" y="1923668"/>
              <a:ext cx="987425" cy="267335"/>
            </a:xfrm>
            <a:custGeom>
              <a:avLst/>
              <a:gdLst/>
              <a:ahLst/>
              <a:cxnLst/>
              <a:rect l="l" t="t" r="r" b="b"/>
              <a:pathLst>
                <a:path w="987425" h="267335">
                  <a:moveTo>
                    <a:pt x="0" y="0"/>
                  </a:moveTo>
                  <a:lnTo>
                    <a:pt x="432130" y="0"/>
                  </a:lnTo>
                  <a:lnTo>
                    <a:pt x="432130" y="216026"/>
                  </a:lnTo>
                  <a:lnTo>
                    <a:pt x="0" y="216026"/>
                  </a:lnTo>
                  <a:lnTo>
                    <a:pt x="0" y="0"/>
                  </a:lnTo>
                  <a:close/>
                </a:path>
                <a:path w="987425" h="267335">
                  <a:moveTo>
                    <a:pt x="554926" y="50800"/>
                  </a:moveTo>
                  <a:lnTo>
                    <a:pt x="986967" y="50800"/>
                  </a:lnTo>
                  <a:lnTo>
                    <a:pt x="986967" y="266826"/>
                  </a:lnTo>
                  <a:lnTo>
                    <a:pt x="554926" y="266826"/>
                  </a:lnTo>
                  <a:lnTo>
                    <a:pt x="554926" y="50800"/>
                  </a:lnTo>
                  <a:close/>
                </a:path>
              </a:pathLst>
            </a:custGeom>
            <a:ln w="25400">
              <a:solidFill>
                <a:srgbClr val="FF0000"/>
              </a:solidFill>
            </a:ln>
          </p:spPr>
          <p:txBody>
            <a:bodyPr wrap="square" lIns="0" tIns="0" rIns="0" bIns="0" rtlCol="0"/>
            <a:lstStyle/>
            <a:p/>
          </p:txBody>
        </p:sp>
      </p:grpSp>
      <p:sp>
        <p:nvSpPr>
          <p:cNvPr id="133" name="object 133" descr=""/>
          <p:cNvSpPr txBox="1"/>
          <p:nvPr/>
        </p:nvSpPr>
        <p:spPr>
          <a:xfrm>
            <a:off x="688340" y="3474593"/>
            <a:ext cx="7822565" cy="986155"/>
          </a:xfrm>
          <a:prstGeom prst="rect">
            <a:avLst/>
          </a:prstGeom>
        </p:spPr>
        <p:txBody>
          <a:bodyPr wrap="square" lIns="0" tIns="119380" rIns="0" bIns="0" rtlCol="0" vert="horz">
            <a:spAutoFit/>
          </a:bodyPr>
          <a:lstStyle/>
          <a:p>
            <a:pPr marL="12700">
              <a:lnSpc>
                <a:spcPct val="100000"/>
              </a:lnSpc>
              <a:spcBef>
                <a:spcPts val="940"/>
              </a:spcBef>
            </a:pPr>
            <a:r>
              <a:rPr dirty="0" sz="1400">
                <a:latin typeface="Arial MT"/>
                <a:cs typeface="Arial MT"/>
              </a:rPr>
              <a:t>1</a:t>
            </a:r>
            <a:r>
              <a:rPr dirty="0" sz="1400">
                <a:latin typeface="SimSun"/>
                <a:cs typeface="SimSun"/>
              </a:rPr>
              <a:t>）</a:t>
            </a:r>
            <a:r>
              <a:rPr dirty="0" sz="1400">
                <a:latin typeface="Arial MT"/>
                <a:cs typeface="Arial MT"/>
              </a:rPr>
              <a:t>2.6G</a:t>
            </a:r>
            <a:r>
              <a:rPr dirty="0" sz="1400" spc="90">
                <a:latin typeface="Arial MT"/>
                <a:cs typeface="Arial MT"/>
              </a:rPr>
              <a:t> </a:t>
            </a:r>
            <a:r>
              <a:rPr dirty="0" sz="1400" spc="-25">
                <a:latin typeface="Arial MT"/>
                <a:cs typeface="Arial MT"/>
              </a:rPr>
              <a:t>NR</a:t>
            </a:r>
            <a:r>
              <a:rPr dirty="0" sz="1400" spc="-25">
                <a:latin typeface="SimSun"/>
                <a:cs typeface="SimSun"/>
              </a:rPr>
              <a:t>的下行具有绝对优势，覆盖距离远大于其它制式或频段；</a:t>
            </a:r>
            <a:endParaRPr sz="1400">
              <a:latin typeface="SimSun"/>
              <a:cs typeface="SimSun"/>
            </a:endParaRPr>
          </a:p>
          <a:p>
            <a:pPr marL="12700">
              <a:lnSpc>
                <a:spcPct val="100000"/>
              </a:lnSpc>
              <a:spcBef>
                <a:spcPts val="840"/>
              </a:spcBef>
            </a:pPr>
            <a:r>
              <a:rPr dirty="0" sz="1400">
                <a:latin typeface="Arial MT"/>
                <a:cs typeface="Arial MT"/>
              </a:rPr>
              <a:t>2</a:t>
            </a:r>
            <a:r>
              <a:rPr dirty="0" sz="1400">
                <a:latin typeface="SimSun"/>
                <a:cs typeface="SimSun"/>
              </a:rPr>
              <a:t>）</a:t>
            </a:r>
            <a:r>
              <a:rPr dirty="0" sz="1400">
                <a:latin typeface="Arial MT"/>
                <a:cs typeface="Arial MT"/>
              </a:rPr>
              <a:t>2.6G</a:t>
            </a:r>
            <a:r>
              <a:rPr dirty="0" sz="1400" spc="45">
                <a:latin typeface="Arial MT"/>
                <a:cs typeface="Arial MT"/>
              </a:rPr>
              <a:t> </a:t>
            </a:r>
            <a:r>
              <a:rPr dirty="0" sz="1400">
                <a:latin typeface="Arial MT"/>
                <a:cs typeface="Arial MT"/>
              </a:rPr>
              <a:t>NR</a:t>
            </a:r>
            <a:r>
              <a:rPr dirty="0" sz="1400" spc="80">
                <a:latin typeface="Arial MT"/>
                <a:cs typeface="Arial MT"/>
              </a:rPr>
              <a:t> </a:t>
            </a:r>
            <a:r>
              <a:rPr dirty="0" sz="1400" spc="-10">
                <a:latin typeface="Arial MT"/>
                <a:cs typeface="Arial MT"/>
              </a:rPr>
              <a:t>64TR</a:t>
            </a:r>
            <a:r>
              <a:rPr dirty="0" sz="1400" spc="-10">
                <a:solidFill>
                  <a:srgbClr val="FF0000"/>
                </a:solidFill>
                <a:latin typeface="SimSun"/>
                <a:cs typeface="SimSun"/>
              </a:rPr>
              <a:t>上行</a:t>
            </a:r>
            <a:r>
              <a:rPr dirty="0" sz="1400" spc="-10" b="1">
                <a:solidFill>
                  <a:srgbClr val="FF0000"/>
                </a:solidFill>
                <a:latin typeface="Arial"/>
                <a:cs typeface="Arial"/>
              </a:rPr>
              <a:t>1Mbps</a:t>
            </a:r>
            <a:r>
              <a:rPr dirty="0" sz="1400" spc="-20">
                <a:solidFill>
                  <a:srgbClr val="FF0000"/>
                </a:solidFill>
                <a:latin typeface="SimSun"/>
                <a:cs typeface="SimSun"/>
              </a:rPr>
              <a:t>速率下覆盖距离</a:t>
            </a:r>
            <a:r>
              <a:rPr dirty="0" sz="1400" spc="-20">
                <a:latin typeface="SimSun"/>
                <a:cs typeface="SimSun"/>
              </a:rPr>
              <a:t>为</a:t>
            </a:r>
            <a:r>
              <a:rPr dirty="0" sz="1400" spc="-10">
                <a:latin typeface="Arial MT"/>
                <a:cs typeface="Arial MT"/>
              </a:rPr>
              <a:t>223</a:t>
            </a:r>
            <a:r>
              <a:rPr dirty="0" sz="1400" spc="-20">
                <a:latin typeface="SimSun"/>
                <a:cs typeface="SimSun"/>
              </a:rPr>
              <a:t>米，相应站间距为</a:t>
            </a:r>
            <a:r>
              <a:rPr dirty="0" sz="1400">
                <a:latin typeface="Arial MT"/>
                <a:cs typeface="Arial MT"/>
              </a:rPr>
              <a:t>335</a:t>
            </a:r>
            <a:r>
              <a:rPr dirty="0" sz="1400" spc="-20">
                <a:latin typeface="SimSun"/>
                <a:cs typeface="SimSun"/>
              </a:rPr>
              <a:t>米，</a:t>
            </a:r>
            <a:r>
              <a:rPr dirty="0" sz="1400" spc="-10">
                <a:solidFill>
                  <a:srgbClr val="FF0000"/>
                </a:solidFill>
                <a:latin typeface="SimSun"/>
                <a:cs typeface="SimSun"/>
              </a:rPr>
              <a:t>接近</a:t>
            </a:r>
            <a:r>
              <a:rPr dirty="0" sz="1400" spc="-10" b="1">
                <a:solidFill>
                  <a:srgbClr val="FF0000"/>
                </a:solidFill>
                <a:latin typeface="Arial"/>
                <a:cs typeface="Arial"/>
              </a:rPr>
              <a:t>FDD1.8G</a:t>
            </a:r>
            <a:r>
              <a:rPr dirty="0" sz="1400" spc="-15">
                <a:solidFill>
                  <a:srgbClr val="FF0000"/>
                </a:solidFill>
                <a:latin typeface="SimSun"/>
                <a:cs typeface="SimSun"/>
              </a:rPr>
              <a:t>水平</a:t>
            </a:r>
            <a:r>
              <a:rPr dirty="0" sz="1400" spc="-50">
                <a:latin typeface="SimSun"/>
                <a:cs typeface="SimSun"/>
              </a:rPr>
              <a:t>；</a:t>
            </a:r>
            <a:endParaRPr sz="1400">
              <a:latin typeface="SimSun"/>
              <a:cs typeface="SimSun"/>
            </a:endParaRPr>
          </a:p>
          <a:p>
            <a:pPr marL="12700">
              <a:lnSpc>
                <a:spcPct val="100000"/>
              </a:lnSpc>
              <a:spcBef>
                <a:spcPts val="840"/>
              </a:spcBef>
            </a:pPr>
            <a:r>
              <a:rPr dirty="0" sz="1400" spc="-10">
                <a:latin typeface="Arial MT"/>
                <a:cs typeface="Arial MT"/>
              </a:rPr>
              <a:t>3</a:t>
            </a:r>
            <a:r>
              <a:rPr dirty="0" sz="1400" spc="-10">
                <a:latin typeface="SimSun"/>
                <a:cs typeface="SimSun"/>
              </a:rPr>
              <a:t>）</a:t>
            </a:r>
            <a:r>
              <a:rPr dirty="0" sz="1400" spc="-20">
                <a:latin typeface="SimSun"/>
                <a:cs typeface="SimSun"/>
              </a:rPr>
              <a:t>现网</a:t>
            </a:r>
            <a:r>
              <a:rPr dirty="0" sz="1400" spc="-10" b="1">
                <a:solidFill>
                  <a:srgbClr val="FF0000"/>
                </a:solidFill>
                <a:latin typeface="Arial"/>
                <a:cs typeface="Arial"/>
              </a:rPr>
              <a:t>300~350</a:t>
            </a:r>
            <a:r>
              <a:rPr dirty="0" sz="1400" spc="-20">
                <a:solidFill>
                  <a:srgbClr val="FF0000"/>
                </a:solidFill>
                <a:latin typeface="SimSun"/>
                <a:cs typeface="SimSun"/>
              </a:rPr>
              <a:t>米站间距</a:t>
            </a:r>
            <a:r>
              <a:rPr dirty="0" sz="1400" spc="-10">
                <a:latin typeface="SimSun"/>
                <a:cs typeface="SimSun"/>
              </a:rPr>
              <a:t>下，</a:t>
            </a:r>
            <a:r>
              <a:rPr dirty="0" sz="1400">
                <a:latin typeface="Arial MT"/>
                <a:cs typeface="Arial MT"/>
              </a:rPr>
              <a:t>2.6G</a:t>
            </a:r>
            <a:r>
              <a:rPr dirty="0" sz="1400" spc="145">
                <a:latin typeface="Arial MT"/>
                <a:cs typeface="Arial MT"/>
              </a:rPr>
              <a:t> </a:t>
            </a:r>
            <a:r>
              <a:rPr dirty="0" sz="1400" spc="-25">
                <a:latin typeface="Arial MT"/>
                <a:cs typeface="Arial MT"/>
              </a:rPr>
              <a:t>NR</a:t>
            </a:r>
            <a:r>
              <a:rPr dirty="0" sz="1400" spc="-20">
                <a:latin typeface="SimSun"/>
                <a:cs typeface="SimSun"/>
              </a:rPr>
              <a:t>可满足</a:t>
            </a:r>
            <a:r>
              <a:rPr dirty="0" sz="1400" spc="-10">
                <a:solidFill>
                  <a:srgbClr val="FF0000"/>
                </a:solidFill>
                <a:latin typeface="SimSun"/>
                <a:cs typeface="SimSun"/>
              </a:rPr>
              <a:t>上行</a:t>
            </a:r>
            <a:r>
              <a:rPr dirty="0" sz="1400" spc="-10" b="1">
                <a:solidFill>
                  <a:srgbClr val="FF0000"/>
                </a:solidFill>
                <a:latin typeface="Arial"/>
                <a:cs typeface="Arial"/>
              </a:rPr>
              <a:t>1Mbps</a:t>
            </a:r>
            <a:r>
              <a:rPr dirty="0" sz="1400" spc="-25">
                <a:latin typeface="SimSun"/>
                <a:cs typeface="SimSun"/>
              </a:rPr>
              <a:t>的浅层覆盖。</a:t>
            </a:r>
            <a:endParaRPr sz="1400">
              <a:latin typeface="SimSun"/>
              <a:cs typeface="SimSun"/>
            </a:endParaRPr>
          </a:p>
        </p:txBody>
      </p:sp>
      <p:sp>
        <p:nvSpPr>
          <p:cNvPr id="134" name="object 134"/>
          <p:cNvSpPr txBox="1">
            <a:spLocks noGrp="1"/>
          </p:cNvSpPr>
          <p:nvPr>
            <p:ph type="title"/>
          </p:nvPr>
        </p:nvSpPr>
        <p:spPr>
          <a:xfrm>
            <a:off x="2159666" y="115315"/>
            <a:ext cx="5052695" cy="513080"/>
          </a:xfrm>
          <a:prstGeom prst="rect"/>
        </p:spPr>
        <p:txBody>
          <a:bodyPr wrap="square" lIns="0" tIns="12065" rIns="0" bIns="0" rtlCol="0" vert="horz">
            <a:spAutoFit/>
          </a:bodyPr>
          <a:lstStyle/>
          <a:p>
            <a:pPr marL="12700">
              <a:lnSpc>
                <a:spcPct val="100000"/>
              </a:lnSpc>
              <a:spcBef>
                <a:spcPts val="95"/>
              </a:spcBef>
            </a:pPr>
            <a:r>
              <a:rPr dirty="0">
                <a:latin typeface="Times New Roman"/>
                <a:cs typeface="Times New Roman"/>
              </a:rPr>
              <a:t>2.6G</a:t>
            </a:r>
            <a:r>
              <a:rPr dirty="0" spc="-20">
                <a:latin typeface="Times New Roman"/>
                <a:cs typeface="Times New Roman"/>
              </a:rPr>
              <a:t> </a:t>
            </a:r>
            <a:r>
              <a:rPr dirty="0">
                <a:latin typeface="Times New Roman"/>
                <a:cs typeface="Times New Roman"/>
              </a:rPr>
              <a:t>NR</a:t>
            </a:r>
            <a:r>
              <a:rPr dirty="0" spc="-5">
                <a:latin typeface="Times New Roman"/>
                <a:cs typeface="Times New Roman"/>
              </a:rPr>
              <a:t> </a:t>
            </a:r>
            <a:r>
              <a:rPr dirty="0" spc="-30">
                <a:latin typeface="Times New Roman"/>
                <a:cs typeface="Times New Roman"/>
              </a:rPr>
              <a:t>64TR</a:t>
            </a:r>
            <a:r>
              <a:rPr dirty="0" spc="-40"/>
              <a:t>覆盖能力仿真</a:t>
            </a:r>
          </a:p>
        </p:txBody>
      </p:sp>
      <p:grpSp>
        <p:nvGrpSpPr>
          <p:cNvPr id="135" name="object 135" descr=""/>
          <p:cNvGrpSpPr/>
          <p:nvPr/>
        </p:nvGrpSpPr>
        <p:grpSpPr>
          <a:xfrm>
            <a:off x="602035" y="1194068"/>
            <a:ext cx="8156575" cy="379095"/>
            <a:chOff x="602035" y="1194068"/>
            <a:chExt cx="8156575" cy="379095"/>
          </a:xfrm>
        </p:grpSpPr>
        <p:sp>
          <p:nvSpPr>
            <p:cNvPr id="136" name="object 136" descr=""/>
            <p:cNvSpPr/>
            <p:nvPr/>
          </p:nvSpPr>
          <p:spPr>
            <a:xfrm>
              <a:off x="611560" y="1203593"/>
              <a:ext cx="2952750" cy="344805"/>
            </a:xfrm>
            <a:custGeom>
              <a:avLst/>
              <a:gdLst/>
              <a:ahLst/>
              <a:cxnLst/>
              <a:rect l="l" t="t" r="r" b="b"/>
              <a:pathLst>
                <a:path w="2952750" h="344805">
                  <a:moveTo>
                    <a:pt x="0" y="344322"/>
                  </a:moveTo>
                  <a:lnTo>
                    <a:pt x="2253" y="277308"/>
                  </a:lnTo>
                  <a:lnTo>
                    <a:pt x="8401" y="222584"/>
                  </a:lnTo>
                  <a:lnTo>
                    <a:pt x="17520" y="185690"/>
                  </a:lnTo>
                  <a:lnTo>
                    <a:pt x="28689" y="172161"/>
                  </a:lnTo>
                  <a:lnTo>
                    <a:pt x="1447469" y="172161"/>
                  </a:lnTo>
                  <a:lnTo>
                    <a:pt x="1458639" y="158632"/>
                  </a:lnTo>
                  <a:lnTo>
                    <a:pt x="1467758" y="121737"/>
                  </a:lnTo>
                  <a:lnTo>
                    <a:pt x="1473905" y="67014"/>
                  </a:lnTo>
                  <a:lnTo>
                    <a:pt x="1476159" y="0"/>
                  </a:lnTo>
                  <a:lnTo>
                    <a:pt x="1478414" y="67014"/>
                  </a:lnTo>
                  <a:lnTo>
                    <a:pt x="1484566" y="121737"/>
                  </a:lnTo>
                  <a:lnTo>
                    <a:pt x="1493689" y="158632"/>
                  </a:lnTo>
                  <a:lnTo>
                    <a:pt x="1504861" y="172161"/>
                  </a:lnTo>
                  <a:lnTo>
                    <a:pt x="2923641" y="172161"/>
                  </a:lnTo>
                  <a:lnTo>
                    <a:pt x="2934805" y="185690"/>
                  </a:lnTo>
                  <a:lnTo>
                    <a:pt x="2943925" y="222584"/>
                  </a:lnTo>
                  <a:lnTo>
                    <a:pt x="2950075" y="277308"/>
                  </a:lnTo>
                  <a:lnTo>
                    <a:pt x="2952330" y="344322"/>
                  </a:lnTo>
                </a:path>
              </a:pathLst>
            </a:custGeom>
            <a:ln w="19050">
              <a:solidFill>
                <a:srgbClr val="0000FF"/>
              </a:solidFill>
            </a:ln>
          </p:spPr>
          <p:txBody>
            <a:bodyPr wrap="square" lIns="0" tIns="0" rIns="0" bIns="0" rtlCol="0"/>
            <a:lstStyle/>
            <a:p/>
          </p:txBody>
        </p:sp>
        <p:sp>
          <p:nvSpPr>
            <p:cNvPr id="137" name="object 137" descr=""/>
            <p:cNvSpPr/>
            <p:nvPr/>
          </p:nvSpPr>
          <p:spPr>
            <a:xfrm>
              <a:off x="3779912" y="1219315"/>
              <a:ext cx="4968875" cy="344805"/>
            </a:xfrm>
            <a:custGeom>
              <a:avLst/>
              <a:gdLst/>
              <a:ahLst/>
              <a:cxnLst/>
              <a:rect l="l" t="t" r="r" b="b"/>
              <a:pathLst>
                <a:path w="4968875" h="344805">
                  <a:moveTo>
                    <a:pt x="0" y="344322"/>
                  </a:moveTo>
                  <a:lnTo>
                    <a:pt x="2253" y="277308"/>
                  </a:lnTo>
                  <a:lnTo>
                    <a:pt x="8401" y="222584"/>
                  </a:lnTo>
                  <a:lnTo>
                    <a:pt x="17520" y="185690"/>
                  </a:lnTo>
                  <a:lnTo>
                    <a:pt x="28689" y="172161"/>
                  </a:lnTo>
                  <a:lnTo>
                    <a:pt x="2455583" y="172161"/>
                  </a:lnTo>
                  <a:lnTo>
                    <a:pt x="2466752" y="158632"/>
                  </a:lnTo>
                  <a:lnTo>
                    <a:pt x="2475871" y="121737"/>
                  </a:lnTo>
                  <a:lnTo>
                    <a:pt x="2482018" y="67014"/>
                  </a:lnTo>
                  <a:lnTo>
                    <a:pt x="2484272" y="0"/>
                  </a:lnTo>
                  <a:lnTo>
                    <a:pt x="2486528" y="67014"/>
                  </a:lnTo>
                  <a:lnTo>
                    <a:pt x="2492678" y="121737"/>
                  </a:lnTo>
                  <a:lnTo>
                    <a:pt x="2501797" y="158632"/>
                  </a:lnTo>
                  <a:lnTo>
                    <a:pt x="2512961" y="172161"/>
                  </a:lnTo>
                  <a:lnTo>
                    <a:pt x="4939855" y="172161"/>
                  </a:lnTo>
                  <a:lnTo>
                    <a:pt x="4951026" y="185690"/>
                  </a:lnTo>
                  <a:lnTo>
                    <a:pt x="4960150" y="222584"/>
                  </a:lnTo>
                  <a:lnTo>
                    <a:pt x="4966301" y="277308"/>
                  </a:lnTo>
                  <a:lnTo>
                    <a:pt x="4968557" y="344322"/>
                  </a:lnTo>
                </a:path>
              </a:pathLst>
            </a:custGeom>
            <a:ln w="19049">
              <a:solidFill>
                <a:srgbClr val="0000FF"/>
              </a:solidFill>
            </a:ln>
          </p:spPr>
          <p:txBody>
            <a:bodyPr wrap="square" lIns="0" tIns="0" rIns="0" bIns="0" rtlCol="0"/>
            <a:lstStyle/>
            <a:p/>
          </p:txBody>
        </p:sp>
      </p:grpSp>
      <p:sp>
        <p:nvSpPr>
          <p:cNvPr id="138" name="object 138" descr=""/>
          <p:cNvSpPr txBox="1"/>
          <p:nvPr/>
        </p:nvSpPr>
        <p:spPr>
          <a:xfrm>
            <a:off x="1946761" y="945537"/>
            <a:ext cx="382270" cy="238760"/>
          </a:xfrm>
          <a:prstGeom prst="rect">
            <a:avLst/>
          </a:prstGeom>
        </p:spPr>
        <p:txBody>
          <a:bodyPr wrap="square" lIns="0" tIns="12065" rIns="0" bIns="0" rtlCol="0" vert="horz">
            <a:spAutoFit/>
          </a:bodyPr>
          <a:lstStyle/>
          <a:p>
            <a:pPr marL="12700">
              <a:lnSpc>
                <a:spcPct val="100000"/>
              </a:lnSpc>
              <a:spcBef>
                <a:spcPts val="95"/>
              </a:spcBef>
            </a:pPr>
            <a:r>
              <a:rPr dirty="0" sz="1400" spc="-30">
                <a:solidFill>
                  <a:srgbClr val="C00000"/>
                </a:solidFill>
                <a:latin typeface="SimSun"/>
                <a:cs typeface="SimSun"/>
              </a:rPr>
              <a:t>下行</a:t>
            </a:r>
            <a:endParaRPr sz="1400">
              <a:latin typeface="SimSun"/>
              <a:cs typeface="SimSun"/>
            </a:endParaRPr>
          </a:p>
        </p:txBody>
      </p:sp>
      <p:sp>
        <p:nvSpPr>
          <p:cNvPr id="139" name="object 139" descr=""/>
          <p:cNvSpPr txBox="1"/>
          <p:nvPr/>
        </p:nvSpPr>
        <p:spPr>
          <a:xfrm>
            <a:off x="6090899" y="945537"/>
            <a:ext cx="382270" cy="238760"/>
          </a:xfrm>
          <a:prstGeom prst="rect">
            <a:avLst/>
          </a:prstGeom>
        </p:spPr>
        <p:txBody>
          <a:bodyPr wrap="square" lIns="0" tIns="12065" rIns="0" bIns="0" rtlCol="0" vert="horz">
            <a:spAutoFit/>
          </a:bodyPr>
          <a:lstStyle/>
          <a:p>
            <a:pPr marL="12700">
              <a:lnSpc>
                <a:spcPct val="100000"/>
              </a:lnSpc>
              <a:spcBef>
                <a:spcPts val="95"/>
              </a:spcBef>
            </a:pPr>
            <a:r>
              <a:rPr dirty="0" sz="1400" spc="-30">
                <a:solidFill>
                  <a:srgbClr val="C00000"/>
                </a:solidFill>
                <a:latin typeface="SimSun"/>
                <a:cs typeface="SimSun"/>
              </a:rPr>
              <a:t>上行</a:t>
            </a:r>
            <a:endParaRPr sz="1400">
              <a:latin typeface="SimSun"/>
              <a:cs typeface="SimSun"/>
            </a:endParaRPr>
          </a:p>
        </p:txBody>
      </p:sp>
      <p:sp>
        <p:nvSpPr>
          <p:cNvPr id="140" name="object 140" descr=""/>
          <p:cNvSpPr/>
          <p:nvPr/>
        </p:nvSpPr>
        <p:spPr>
          <a:xfrm>
            <a:off x="395533" y="1995685"/>
            <a:ext cx="3384550" cy="0"/>
          </a:xfrm>
          <a:custGeom>
            <a:avLst/>
            <a:gdLst/>
            <a:ahLst/>
            <a:cxnLst/>
            <a:rect l="l" t="t" r="r" b="b"/>
            <a:pathLst>
              <a:path w="3384550" h="0">
                <a:moveTo>
                  <a:pt x="0" y="0"/>
                </a:moveTo>
                <a:lnTo>
                  <a:pt x="3384372" y="0"/>
                </a:lnTo>
              </a:path>
            </a:pathLst>
          </a:custGeom>
          <a:ln w="12700">
            <a:solidFill>
              <a:srgbClr val="FF0000"/>
            </a:solidFill>
          </a:ln>
        </p:spPr>
        <p:txBody>
          <a:bodyPr wrap="square" lIns="0" tIns="0" rIns="0" bIns="0" rtlCol="0"/>
          <a:lstStyle/>
          <a:p/>
        </p:txBody>
      </p:sp>
      <p:sp>
        <p:nvSpPr>
          <p:cNvPr id="141" name="object 141" descr=""/>
          <p:cNvSpPr txBox="1"/>
          <p:nvPr/>
        </p:nvSpPr>
        <p:spPr>
          <a:xfrm>
            <a:off x="503034" y="4552950"/>
            <a:ext cx="8107680" cy="292735"/>
          </a:xfrm>
          <a:prstGeom prst="rect">
            <a:avLst/>
          </a:prstGeom>
          <a:solidFill>
            <a:srgbClr val="0070C0"/>
          </a:solidFill>
        </p:spPr>
        <p:txBody>
          <a:bodyPr wrap="square" lIns="0" tIns="42545" rIns="0" bIns="0" rtlCol="0" vert="horz">
            <a:spAutoFit/>
          </a:bodyPr>
          <a:lstStyle/>
          <a:p>
            <a:pPr algn="ctr">
              <a:lnSpc>
                <a:spcPct val="100000"/>
              </a:lnSpc>
              <a:spcBef>
                <a:spcPts val="335"/>
              </a:spcBef>
            </a:pPr>
            <a:r>
              <a:rPr dirty="0" sz="1300" b="1">
                <a:solidFill>
                  <a:srgbClr val="FFFFFF"/>
                </a:solidFill>
                <a:latin typeface="Arial"/>
                <a:cs typeface="Arial"/>
              </a:rPr>
              <a:t>2.6G</a:t>
            </a:r>
            <a:r>
              <a:rPr dirty="0" sz="1300" spc="-5" b="1">
                <a:solidFill>
                  <a:srgbClr val="FFFFFF"/>
                </a:solidFill>
                <a:latin typeface="Arial"/>
                <a:cs typeface="Arial"/>
              </a:rPr>
              <a:t> </a:t>
            </a:r>
            <a:r>
              <a:rPr dirty="0" sz="1300" b="1">
                <a:solidFill>
                  <a:srgbClr val="FFFFFF"/>
                </a:solidFill>
                <a:latin typeface="Arial"/>
                <a:cs typeface="Arial"/>
              </a:rPr>
              <a:t>NR </a:t>
            </a:r>
            <a:r>
              <a:rPr dirty="0" sz="1300" spc="-10" b="1">
                <a:solidFill>
                  <a:srgbClr val="FFFFFF"/>
                </a:solidFill>
                <a:latin typeface="Arial"/>
                <a:cs typeface="Arial"/>
              </a:rPr>
              <a:t>64TR</a:t>
            </a:r>
            <a:r>
              <a:rPr dirty="0" sz="1300" spc="-5">
                <a:solidFill>
                  <a:srgbClr val="FFFFFF"/>
                </a:solidFill>
                <a:latin typeface="SimSun"/>
                <a:cs typeface="SimSun"/>
              </a:rPr>
              <a:t>与现有</a:t>
            </a:r>
            <a:r>
              <a:rPr dirty="0" sz="1300" spc="-10" b="1">
                <a:solidFill>
                  <a:srgbClr val="FFFFFF"/>
                </a:solidFill>
                <a:latin typeface="Arial"/>
                <a:cs typeface="Arial"/>
              </a:rPr>
              <a:t>4G</a:t>
            </a:r>
            <a:r>
              <a:rPr dirty="0" sz="1300" spc="-10">
                <a:solidFill>
                  <a:srgbClr val="FFFFFF"/>
                </a:solidFill>
                <a:latin typeface="SimSun"/>
                <a:cs typeface="SimSun"/>
              </a:rPr>
              <a:t>共站址，可达到上行</a:t>
            </a:r>
            <a:r>
              <a:rPr dirty="0" sz="1300" spc="-10" b="1">
                <a:solidFill>
                  <a:srgbClr val="FFFFFF"/>
                </a:solidFill>
                <a:latin typeface="Arial"/>
                <a:cs typeface="Arial"/>
              </a:rPr>
              <a:t>1Mbps</a:t>
            </a:r>
            <a:r>
              <a:rPr dirty="0" sz="1300" spc="-15">
                <a:solidFill>
                  <a:srgbClr val="FFFFFF"/>
                </a:solidFill>
                <a:latin typeface="SimSun"/>
                <a:cs typeface="SimSun"/>
              </a:rPr>
              <a:t>的浅层覆盖</a:t>
            </a:r>
            <a:endParaRPr sz="1300">
              <a:latin typeface="SimSun"/>
              <a:cs typeface="SimSu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455" y="141969"/>
            <a:ext cx="6033770" cy="513080"/>
          </a:xfrm>
          <a:prstGeom prst="rect"/>
        </p:spPr>
        <p:txBody>
          <a:bodyPr wrap="square" lIns="0" tIns="12065" rIns="0" bIns="0" rtlCol="0" vert="horz">
            <a:spAutoFit/>
          </a:bodyPr>
          <a:lstStyle/>
          <a:p>
            <a:pPr marL="12700">
              <a:lnSpc>
                <a:spcPct val="100000"/>
              </a:lnSpc>
              <a:spcBef>
                <a:spcPts val="95"/>
              </a:spcBef>
            </a:pPr>
            <a:r>
              <a:rPr dirty="0" spc="-20">
                <a:latin typeface="Times New Roman"/>
                <a:cs typeface="Times New Roman"/>
              </a:rPr>
              <a:t>2.6GH</a:t>
            </a:r>
            <a:r>
              <a:rPr dirty="0" spc="-20" b="0">
                <a:latin typeface="Times New Roman"/>
                <a:cs typeface="Times New Roman"/>
              </a:rPr>
              <a:t>z</a:t>
            </a:r>
            <a:r>
              <a:rPr dirty="0" spc="-20">
                <a:solidFill>
                  <a:srgbClr val="FF0000"/>
                </a:solidFill>
                <a:latin typeface="Times New Roman"/>
                <a:cs typeface="Times New Roman"/>
              </a:rPr>
              <a:t>/</a:t>
            </a:r>
            <a:r>
              <a:rPr dirty="0" spc="-20">
                <a:latin typeface="Times New Roman"/>
                <a:cs typeface="Times New Roman"/>
              </a:rPr>
              <a:t>3.5GH</a:t>
            </a:r>
            <a:r>
              <a:rPr dirty="0" spc="-20" b="0">
                <a:latin typeface="Times New Roman"/>
                <a:cs typeface="Times New Roman"/>
              </a:rPr>
              <a:t>z</a:t>
            </a:r>
            <a:r>
              <a:rPr dirty="0" spc="-50"/>
              <a:t>覆盖规划对比分析</a:t>
            </a:r>
          </a:p>
        </p:txBody>
      </p:sp>
      <p:grpSp>
        <p:nvGrpSpPr>
          <p:cNvPr id="3" name="object 3" descr=""/>
          <p:cNvGrpSpPr/>
          <p:nvPr/>
        </p:nvGrpSpPr>
        <p:grpSpPr>
          <a:xfrm>
            <a:off x="1099337" y="1884387"/>
            <a:ext cx="670560" cy="304800"/>
            <a:chOff x="1099337" y="1884387"/>
            <a:chExt cx="670560" cy="304800"/>
          </a:xfrm>
        </p:grpSpPr>
        <p:sp>
          <p:nvSpPr>
            <p:cNvPr id="4" name="object 4" descr=""/>
            <p:cNvSpPr/>
            <p:nvPr/>
          </p:nvSpPr>
          <p:spPr>
            <a:xfrm>
              <a:off x="1099337" y="1884387"/>
              <a:ext cx="670560" cy="304800"/>
            </a:xfrm>
            <a:custGeom>
              <a:avLst/>
              <a:gdLst/>
              <a:ahLst/>
              <a:cxnLst/>
              <a:rect l="l" t="t" r="r" b="b"/>
              <a:pathLst>
                <a:path w="670560" h="304800">
                  <a:moveTo>
                    <a:pt x="670293" y="0"/>
                  </a:moveTo>
                  <a:lnTo>
                    <a:pt x="0" y="0"/>
                  </a:lnTo>
                  <a:lnTo>
                    <a:pt x="0" y="304800"/>
                  </a:lnTo>
                  <a:lnTo>
                    <a:pt x="670293" y="304800"/>
                  </a:lnTo>
                  <a:lnTo>
                    <a:pt x="670293" y="0"/>
                  </a:lnTo>
                  <a:close/>
                </a:path>
              </a:pathLst>
            </a:custGeom>
            <a:solidFill>
              <a:srgbClr val="F3F9FA"/>
            </a:solidFill>
          </p:spPr>
          <p:txBody>
            <a:bodyPr wrap="square" lIns="0" tIns="0" rIns="0" bIns="0" rtlCol="0"/>
            <a:lstStyle/>
            <a:p/>
          </p:txBody>
        </p:sp>
        <p:sp>
          <p:nvSpPr>
            <p:cNvPr id="5" name="object 5" descr=""/>
            <p:cNvSpPr/>
            <p:nvPr/>
          </p:nvSpPr>
          <p:spPr>
            <a:xfrm>
              <a:off x="1310919" y="1968969"/>
              <a:ext cx="279400" cy="142240"/>
            </a:xfrm>
            <a:custGeom>
              <a:avLst/>
              <a:gdLst/>
              <a:ahLst/>
              <a:cxnLst/>
              <a:rect l="l" t="t" r="r" b="b"/>
              <a:pathLst>
                <a:path w="279400" h="142239">
                  <a:moveTo>
                    <a:pt x="278891" y="0"/>
                  </a:moveTo>
                  <a:lnTo>
                    <a:pt x="0" y="0"/>
                  </a:lnTo>
                  <a:lnTo>
                    <a:pt x="0" y="141731"/>
                  </a:lnTo>
                  <a:lnTo>
                    <a:pt x="278891" y="141731"/>
                  </a:lnTo>
                  <a:lnTo>
                    <a:pt x="278891" y="0"/>
                  </a:lnTo>
                  <a:close/>
                </a:path>
              </a:pathLst>
            </a:custGeom>
            <a:solidFill>
              <a:srgbClr val="FFFF00"/>
            </a:solidFill>
          </p:spPr>
          <p:txBody>
            <a:bodyPr wrap="square" lIns="0" tIns="0" rIns="0" bIns="0" rtlCol="0"/>
            <a:lstStyle/>
            <a:p/>
          </p:txBody>
        </p:sp>
      </p:grpSp>
      <p:grpSp>
        <p:nvGrpSpPr>
          <p:cNvPr id="6" name="object 6" descr=""/>
          <p:cNvGrpSpPr/>
          <p:nvPr/>
        </p:nvGrpSpPr>
        <p:grpSpPr>
          <a:xfrm>
            <a:off x="3780510" y="1884387"/>
            <a:ext cx="1329690" cy="304800"/>
            <a:chOff x="3780510" y="1884387"/>
            <a:chExt cx="1329690" cy="304800"/>
          </a:xfrm>
        </p:grpSpPr>
        <p:sp>
          <p:nvSpPr>
            <p:cNvPr id="7" name="object 7" descr=""/>
            <p:cNvSpPr/>
            <p:nvPr/>
          </p:nvSpPr>
          <p:spPr>
            <a:xfrm>
              <a:off x="3780510" y="1884387"/>
              <a:ext cx="1329690" cy="304800"/>
            </a:xfrm>
            <a:custGeom>
              <a:avLst/>
              <a:gdLst/>
              <a:ahLst/>
              <a:cxnLst/>
              <a:rect l="l" t="t" r="r" b="b"/>
              <a:pathLst>
                <a:path w="1329689" h="304800">
                  <a:moveTo>
                    <a:pt x="1329067" y="0"/>
                  </a:moveTo>
                  <a:lnTo>
                    <a:pt x="670293" y="0"/>
                  </a:lnTo>
                  <a:lnTo>
                    <a:pt x="0" y="0"/>
                  </a:lnTo>
                  <a:lnTo>
                    <a:pt x="0" y="304800"/>
                  </a:lnTo>
                  <a:lnTo>
                    <a:pt x="670293" y="304800"/>
                  </a:lnTo>
                  <a:lnTo>
                    <a:pt x="1329067" y="304800"/>
                  </a:lnTo>
                  <a:lnTo>
                    <a:pt x="1329067" y="0"/>
                  </a:lnTo>
                  <a:close/>
                </a:path>
              </a:pathLst>
            </a:custGeom>
            <a:solidFill>
              <a:srgbClr val="F3F9FA"/>
            </a:solidFill>
          </p:spPr>
          <p:txBody>
            <a:bodyPr wrap="square" lIns="0" tIns="0" rIns="0" bIns="0" rtlCol="0"/>
            <a:lstStyle/>
            <a:p/>
          </p:txBody>
        </p:sp>
        <p:sp>
          <p:nvSpPr>
            <p:cNvPr id="8" name="object 8" descr=""/>
            <p:cNvSpPr/>
            <p:nvPr/>
          </p:nvSpPr>
          <p:spPr>
            <a:xfrm>
              <a:off x="3992080" y="1968969"/>
              <a:ext cx="943610" cy="142240"/>
            </a:xfrm>
            <a:custGeom>
              <a:avLst/>
              <a:gdLst/>
              <a:ahLst/>
              <a:cxnLst/>
              <a:rect l="l" t="t" r="r" b="b"/>
              <a:pathLst>
                <a:path w="943610" h="142239">
                  <a:moveTo>
                    <a:pt x="278879" y="0"/>
                  </a:moveTo>
                  <a:lnTo>
                    <a:pt x="0" y="0"/>
                  </a:lnTo>
                  <a:lnTo>
                    <a:pt x="0" y="141732"/>
                  </a:lnTo>
                  <a:lnTo>
                    <a:pt x="278879" y="141732"/>
                  </a:lnTo>
                  <a:lnTo>
                    <a:pt x="278879" y="0"/>
                  </a:lnTo>
                  <a:close/>
                </a:path>
                <a:path w="943610" h="142239">
                  <a:moveTo>
                    <a:pt x="943038" y="0"/>
                  </a:moveTo>
                  <a:lnTo>
                    <a:pt x="664146" y="0"/>
                  </a:lnTo>
                  <a:lnTo>
                    <a:pt x="664146" y="141732"/>
                  </a:lnTo>
                  <a:lnTo>
                    <a:pt x="943038" y="141732"/>
                  </a:lnTo>
                  <a:lnTo>
                    <a:pt x="943038" y="0"/>
                  </a:lnTo>
                  <a:close/>
                </a:path>
              </a:pathLst>
            </a:custGeom>
            <a:solidFill>
              <a:srgbClr val="FFFF00"/>
            </a:solidFill>
          </p:spPr>
          <p:txBody>
            <a:bodyPr wrap="square" lIns="0" tIns="0" rIns="0" bIns="0" rtlCol="0"/>
            <a:lstStyle/>
            <a:p/>
          </p:txBody>
        </p:sp>
      </p:grpSp>
      <p:graphicFrame>
        <p:nvGraphicFramePr>
          <p:cNvPr id="9" name="object 9" descr=""/>
          <p:cNvGraphicFramePr>
            <a:graphicFrameLocks noGrp="1"/>
          </p:cNvGraphicFramePr>
          <p:nvPr/>
        </p:nvGraphicFramePr>
        <p:xfrm>
          <a:off x="422701" y="1116036"/>
          <a:ext cx="8132445" cy="1065530"/>
        </p:xfrm>
        <a:graphic>
          <a:graphicData uri="http://schemas.openxmlformats.org/drawingml/2006/table">
            <a:tbl>
              <a:tblPr firstRow="1" bandRow="1">
                <a:tableStyleId>{2D5ABB26-0587-4C30-8999-92F81FD0307C}</a:tableStyleId>
              </a:tblPr>
              <a:tblGrid>
                <a:gridCol w="670560"/>
                <a:gridCol w="670560"/>
                <a:gridCol w="670559"/>
                <a:gridCol w="670560"/>
                <a:gridCol w="670560"/>
                <a:gridCol w="670560"/>
                <a:gridCol w="659129"/>
                <a:gridCol w="681989"/>
                <a:gridCol w="670560"/>
                <a:gridCol w="670560"/>
                <a:gridCol w="670559"/>
                <a:gridCol w="670559"/>
              </a:tblGrid>
              <a:tr h="457200">
                <a:tc>
                  <a:txBody>
                    <a:bodyPr/>
                    <a:lstStyle/>
                    <a:p>
                      <a:pPr>
                        <a:lnSpc>
                          <a:spcPct val="100000"/>
                        </a:lnSpc>
                        <a:spcBef>
                          <a:spcPts val="15"/>
                        </a:spcBef>
                      </a:pPr>
                      <a:endParaRPr sz="1000">
                        <a:latin typeface="Times New Roman"/>
                        <a:cs typeface="Times New Roman"/>
                      </a:endParaRPr>
                    </a:p>
                    <a:p>
                      <a:pPr algn="ctr">
                        <a:lnSpc>
                          <a:spcPct val="100000"/>
                        </a:lnSpc>
                      </a:pPr>
                      <a:r>
                        <a:rPr dirty="0" sz="1000" spc="-25" b="1">
                          <a:solidFill>
                            <a:srgbClr val="FFFFFF"/>
                          </a:solidFill>
                          <a:latin typeface="Microsoft YaHei"/>
                          <a:cs typeface="Microsoft YaHei"/>
                        </a:rPr>
                        <a:t>信道</a:t>
                      </a:r>
                      <a:endParaRPr sz="1000">
                        <a:latin typeface="Microsoft YaHei"/>
                        <a:cs typeface="Microsoft YaHei"/>
                      </a:endParaRPr>
                    </a:p>
                  </a:txBody>
                  <a:tcPr marL="0" marR="0" marB="0" marT="190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a:txBody>
                    <a:bodyPr/>
                    <a:lstStyle/>
                    <a:p>
                      <a:pPr algn="ctr">
                        <a:lnSpc>
                          <a:spcPts val="1170"/>
                        </a:lnSpc>
                      </a:pPr>
                      <a:r>
                        <a:rPr dirty="0" sz="1000" spc="-25" b="1">
                          <a:solidFill>
                            <a:srgbClr val="FFFFFF"/>
                          </a:solidFill>
                          <a:latin typeface="Arial"/>
                          <a:cs typeface="Arial"/>
                        </a:rPr>
                        <a:t>CRS</a:t>
                      </a:r>
                      <a:endParaRPr sz="1000">
                        <a:latin typeface="Arial"/>
                        <a:cs typeface="Arial"/>
                      </a:endParaRPr>
                    </a:p>
                    <a:p>
                      <a:pPr algn="ctr">
                        <a:lnSpc>
                          <a:spcPct val="100000"/>
                        </a:lnSpc>
                      </a:pPr>
                      <a:r>
                        <a:rPr dirty="0" sz="1000" spc="-50" b="1">
                          <a:solidFill>
                            <a:srgbClr val="FFFFFF"/>
                          </a:solidFill>
                          <a:latin typeface="Arial"/>
                          <a:cs typeface="Arial"/>
                        </a:rPr>
                        <a:t>-</a:t>
                      </a:r>
                      <a:endParaRPr sz="1000">
                        <a:latin typeface="Arial"/>
                        <a:cs typeface="Arial"/>
                      </a:endParaRPr>
                    </a:p>
                    <a:p>
                      <a:pPr algn="ctr">
                        <a:lnSpc>
                          <a:spcPts val="1130"/>
                        </a:lnSpc>
                      </a:pPr>
                      <a:r>
                        <a:rPr dirty="0" sz="1000" spc="-10" b="1">
                          <a:solidFill>
                            <a:srgbClr val="FFFFFF"/>
                          </a:solidFill>
                          <a:latin typeface="Arial"/>
                          <a:cs typeface="Arial"/>
                        </a:rPr>
                        <a:t>110dBm</a:t>
                      </a:r>
                      <a:endParaRPr sz="1000">
                        <a:latin typeface="Arial"/>
                        <a:cs typeface="Arial"/>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a:txBody>
                    <a:bodyPr/>
                    <a:lstStyle/>
                    <a:p>
                      <a:pPr marL="111125">
                        <a:lnSpc>
                          <a:spcPct val="100000"/>
                        </a:lnSpc>
                        <a:spcBef>
                          <a:spcPts val="570"/>
                        </a:spcBef>
                      </a:pPr>
                      <a:r>
                        <a:rPr dirty="0" sz="1000" spc="-10" b="1">
                          <a:solidFill>
                            <a:srgbClr val="FFFFFF"/>
                          </a:solidFill>
                          <a:latin typeface="Arial"/>
                          <a:cs typeface="Arial"/>
                        </a:rPr>
                        <a:t>PDSCH</a:t>
                      </a:r>
                      <a:endParaRPr sz="1000">
                        <a:latin typeface="Arial"/>
                        <a:cs typeface="Arial"/>
                      </a:endParaRPr>
                    </a:p>
                    <a:p>
                      <a:pPr marL="132715">
                        <a:lnSpc>
                          <a:spcPct val="100000"/>
                        </a:lnSpc>
                      </a:pPr>
                      <a:r>
                        <a:rPr dirty="0" sz="1000" spc="-20" b="1">
                          <a:solidFill>
                            <a:srgbClr val="FFFFFF"/>
                          </a:solidFill>
                          <a:latin typeface="Arial"/>
                          <a:cs typeface="Arial"/>
                        </a:rPr>
                        <a:t>5Mbps</a:t>
                      </a:r>
                      <a:endParaRPr sz="1000">
                        <a:latin typeface="Arial"/>
                        <a:cs typeface="Arial"/>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a:txBody>
                    <a:bodyPr/>
                    <a:lstStyle/>
                    <a:p>
                      <a:pPr marL="111760">
                        <a:lnSpc>
                          <a:spcPct val="100000"/>
                        </a:lnSpc>
                        <a:spcBef>
                          <a:spcPts val="570"/>
                        </a:spcBef>
                      </a:pPr>
                      <a:r>
                        <a:rPr dirty="0" sz="1000" spc="-10" b="1">
                          <a:solidFill>
                            <a:srgbClr val="FFFFFF"/>
                          </a:solidFill>
                          <a:latin typeface="Arial"/>
                          <a:cs typeface="Arial"/>
                        </a:rPr>
                        <a:t>PDSCH</a:t>
                      </a:r>
                      <a:endParaRPr sz="1000">
                        <a:latin typeface="Arial"/>
                        <a:cs typeface="Arial"/>
                      </a:endParaRPr>
                    </a:p>
                    <a:p>
                      <a:pPr marL="97790">
                        <a:lnSpc>
                          <a:spcPct val="100000"/>
                        </a:lnSpc>
                      </a:pPr>
                      <a:r>
                        <a:rPr dirty="0" sz="1000" spc="-10" b="1">
                          <a:solidFill>
                            <a:srgbClr val="FFFFFF"/>
                          </a:solidFill>
                          <a:latin typeface="Arial"/>
                          <a:cs typeface="Arial"/>
                        </a:rPr>
                        <a:t>10Mbps</a:t>
                      </a:r>
                      <a:endParaRPr sz="1000">
                        <a:latin typeface="Arial"/>
                        <a:cs typeface="Arial"/>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a:txBody>
                    <a:bodyPr/>
                    <a:lstStyle/>
                    <a:p>
                      <a:pPr marL="111760">
                        <a:lnSpc>
                          <a:spcPct val="100000"/>
                        </a:lnSpc>
                        <a:spcBef>
                          <a:spcPts val="570"/>
                        </a:spcBef>
                      </a:pPr>
                      <a:r>
                        <a:rPr dirty="0" sz="1000" spc="-10" b="1">
                          <a:solidFill>
                            <a:srgbClr val="FFFFFF"/>
                          </a:solidFill>
                          <a:latin typeface="Arial"/>
                          <a:cs typeface="Arial"/>
                        </a:rPr>
                        <a:t>PDSCH</a:t>
                      </a:r>
                      <a:endParaRPr sz="1000">
                        <a:latin typeface="Arial"/>
                        <a:cs typeface="Arial"/>
                      </a:endParaRPr>
                    </a:p>
                    <a:p>
                      <a:pPr marL="97790">
                        <a:lnSpc>
                          <a:spcPct val="100000"/>
                        </a:lnSpc>
                      </a:pPr>
                      <a:r>
                        <a:rPr dirty="0" sz="1000" spc="-10" b="1">
                          <a:solidFill>
                            <a:srgbClr val="FFFFFF"/>
                          </a:solidFill>
                          <a:latin typeface="Arial"/>
                          <a:cs typeface="Arial"/>
                        </a:rPr>
                        <a:t>20Mbps</a:t>
                      </a:r>
                      <a:endParaRPr sz="1000">
                        <a:latin typeface="Arial"/>
                        <a:cs typeface="Arial"/>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a:txBody>
                    <a:bodyPr/>
                    <a:lstStyle/>
                    <a:p>
                      <a:pPr marL="111760">
                        <a:lnSpc>
                          <a:spcPct val="100000"/>
                        </a:lnSpc>
                        <a:spcBef>
                          <a:spcPts val="570"/>
                        </a:spcBef>
                      </a:pPr>
                      <a:r>
                        <a:rPr dirty="0" sz="1000" spc="-10" b="1">
                          <a:solidFill>
                            <a:srgbClr val="FFFFFF"/>
                          </a:solidFill>
                          <a:latin typeface="Arial"/>
                          <a:cs typeface="Arial"/>
                        </a:rPr>
                        <a:t>PUSCH</a:t>
                      </a:r>
                      <a:endParaRPr sz="1000">
                        <a:latin typeface="Arial"/>
                        <a:cs typeface="Arial"/>
                      </a:endParaRPr>
                    </a:p>
                    <a:p>
                      <a:pPr marL="81280">
                        <a:lnSpc>
                          <a:spcPct val="100000"/>
                        </a:lnSpc>
                      </a:pPr>
                      <a:r>
                        <a:rPr dirty="0" sz="1000" spc="-10" b="1">
                          <a:solidFill>
                            <a:srgbClr val="FFFFFF"/>
                          </a:solidFill>
                          <a:latin typeface="Arial"/>
                          <a:cs typeface="Arial"/>
                        </a:rPr>
                        <a:t>512kbps</a:t>
                      </a:r>
                      <a:endParaRPr sz="1000">
                        <a:latin typeface="Arial"/>
                        <a:cs typeface="Arial"/>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a:txBody>
                    <a:bodyPr/>
                    <a:lstStyle/>
                    <a:p>
                      <a:pPr algn="ctr">
                        <a:lnSpc>
                          <a:spcPts val="1175"/>
                        </a:lnSpc>
                      </a:pPr>
                      <a:r>
                        <a:rPr dirty="0" sz="1000" spc="-10" b="1">
                          <a:solidFill>
                            <a:srgbClr val="FFFFFF"/>
                          </a:solidFill>
                          <a:latin typeface="Arial"/>
                          <a:cs typeface="Arial"/>
                        </a:rPr>
                        <a:t>PUSCH</a:t>
                      </a:r>
                      <a:endParaRPr sz="1000">
                        <a:latin typeface="Arial"/>
                        <a:cs typeface="Arial"/>
                      </a:endParaRPr>
                    </a:p>
                    <a:p>
                      <a:pPr algn="ctr" marL="75565" marR="67945">
                        <a:lnSpc>
                          <a:spcPct val="100000"/>
                        </a:lnSpc>
                      </a:pPr>
                      <a:r>
                        <a:rPr dirty="0" sz="1000" spc="-10" b="1">
                          <a:solidFill>
                            <a:srgbClr val="FFFFFF"/>
                          </a:solidFill>
                          <a:latin typeface="Arial"/>
                          <a:cs typeface="Arial"/>
                        </a:rPr>
                        <a:t>1024kbp </a:t>
                      </a:r>
                      <a:r>
                        <a:rPr dirty="0" sz="1000" spc="-50" b="1">
                          <a:solidFill>
                            <a:srgbClr val="FFFFFF"/>
                          </a:solidFill>
                          <a:latin typeface="Arial"/>
                          <a:cs typeface="Arial"/>
                        </a:rPr>
                        <a:t>s</a:t>
                      </a:r>
                      <a:endParaRPr sz="1000">
                        <a:latin typeface="Arial"/>
                        <a:cs typeface="Arial"/>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a:txBody>
                    <a:bodyPr/>
                    <a:lstStyle/>
                    <a:p>
                      <a:pPr marL="170180" marR="106045" indent="-56515">
                        <a:lnSpc>
                          <a:spcPct val="100000"/>
                        </a:lnSpc>
                        <a:spcBef>
                          <a:spcPts val="575"/>
                        </a:spcBef>
                      </a:pPr>
                      <a:r>
                        <a:rPr dirty="0" sz="1000" spc="-10" b="1">
                          <a:solidFill>
                            <a:srgbClr val="FFFFFF"/>
                          </a:solidFill>
                          <a:latin typeface="Arial"/>
                          <a:cs typeface="Arial"/>
                        </a:rPr>
                        <a:t>PDCCH </a:t>
                      </a:r>
                      <a:r>
                        <a:rPr dirty="0" sz="1000" spc="-20" b="1">
                          <a:solidFill>
                            <a:srgbClr val="FFFFFF"/>
                          </a:solidFill>
                          <a:latin typeface="Arial"/>
                          <a:cs typeface="Arial"/>
                        </a:rPr>
                        <a:t>8CCE</a:t>
                      </a:r>
                      <a:endParaRPr sz="1000">
                        <a:latin typeface="Arial"/>
                        <a:cs typeface="Arial"/>
                      </a:endParaRPr>
                    </a:p>
                  </a:txBody>
                  <a:tcPr marL="0" marR="0" marB="0" marT="7302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a:txBody>
                    <a:bodyPr/>
                    <a:lstStyle/>
                    <a:p>
                      <a:pPr>
                        <a:lnSpc>
                          <a:spcPct val="100000"/>
                        </a:lnSpc>
                        <a:spcBef>
                          <a:spcPts val="25"/>
                        </a:spcBef>
                      </a:pPr>
                      <a:endParaRPr sz="1000">
                        <a:latin typeface="Times New Roman"/>
                        <a:cs typeface="Times New Roman"/>
                      </a:endParaRPr>
                    </a:p>
                    <a:p>
                      <a:pPr marL="136525">
                        <a:lnSpc>
                          <a:spcPct val="100000"/>
                        </a:lnSpc>
                      </a:pPr>
                      <a:r>
                        <a:rPr dirty="0" sz="1000" spc="-10" b="1">
                          <a:solidFill>
                            <a:srgbClr val="FFFFFF"/>
                          </a:solidFill>
                          <a:latin typeface="Arial"/>
                          <a:cs typeface="Arial"/>
                        </a:rPr>
                        <a:t>PHICH</a:t>
                      </a:r>
                      <a:endParaRPr sz="1000">
                        <a:latin typeface="Arial"/>
                        <a:cs typeface="Arial"/>
                      </a:endParaRPr>
                    </a:p>
                  </a:txBody>
                  <a:tcPr marL="0" marR="0" marB="0" marT="317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a:txBody>
                    <a:bodyPr/>
                    <a:lstStyle/>
                    <a:p>
                      <a:pPr>
                        <a:lnSpc>
                          <a:spcPct val="100000"/>
                        </a:lnSpc>
                        <a:spcBef>
                          <a:spcPts val="25"/>
                        </a:spcBef>
                      </a:pPr>
                      <a:endParaRPr sz="1000">
                        <a:latin typeface="Times New Roman"/>
                        <a:cs typeface="Times New Roman"/>
                      </a:endParaRPr>
                    </a:p>
                    <a:p>
                      <a:pPr marL="154305">
                        <a:lnSpc>
                          <a:spcPct val="100000"/>
                        </a:lnSpc>
                      </a:pPr>
                      <a:r>
                        <a:rPr dirty="0" sz="1000" spc="-20" b="1">
                          <a:solidFill>
                            <a:srgbClr val="FFFFFF"/>
                          </a:solidFill>
                          <a:latin typeface="Arial"/>
                          <a:cs typeface="Arial"/>
                        </a:rPr>
                        <a:t>PBCH</a:t>
                      </a:r>
                      <a:endParaRPr sz="1000">
                        <a:latin typeface="Arial"/>
                        <a:cs typeface="Arial"/>
                      </a:endParaRPr>
                    </a:p>
                  </a:txBody>
                  <a:tcPr marL="0" marR="0" marB="0" marT="317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a:txBody>
                    <a:bodyPr/>
                    <a:lstStyle/>
                    <a:p>
                      <a:pPr marL="107950">
                        <a:lnSpc>
                          <a:spcPct val="100000"/>
                        </a:lnSpc>
                        <a:spcBef>
                          <a:spcPts val="545"/>
                        </a:spcBef>
                      </a:pPr>
                      <a:r>
                        <a:rPr dirty="0" sz="1000" spc="-10" b="1">
                          <a:solidFill>
                            <a:srgbClr val="FFFFFF"/>
                          </a:solidFill>
                          <a:latin typeface="Arial"/>
                          <a:cs typeface="Arial"/>
                        </a:rPr>
                        <a:t>PUCCH</a:t>
                      </a:r>
                      <a:endParaRPr sz="1000">
                        <a:latin typeface="Arial"/>
                        <a:cs typeface="Arial"/>
                      </a:endParaRPr>
                    </a:p>
                  </a:txBody>
                  <a:tcPr marL="0" marR="0" marB="0" marT="6921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a:txBody>
                    <a:bodyPr/>
                    <a:lstStyle/>
                    <a:p>
                      <a:pPr algn="ctr">
                        <a:lnSpc>
                          <a:spcPts val="1170"/>
                        </a:lnSpc>
                      </a:pPr>
                      <a:r>
                        <a:rPr dirty="0" sz="1000" spc="-10" b="1">
                          <a:solidFill>
                            <a:srgbClr val="FFFFFF"/>
                          </a:solidFill>
                          <a:latin typeface="Arial"/>
                          <a:cs typeface="Arial"/>
                        </a:rPr>
                        <a:t>PRACH</a:t>
                      </a:r>
                      <a:endParaRPr sz="1000">
                        <a:latin typeface="Arial"/>
                        <a:cs typeface="Arial"/>
                      </a:endParaRPr>
                    </a:p>
                    <a:p>
                      <a:pPr algn="ctr" marL="119380" marR="111760">
                        <a:lnSpc>
                          <a:spcPct val="100000"/>
                        </a:lnSpc>
                      </a:pPr>
                      <a:r>
                        <a:rPr dirty="0" sz="1000" spc="-10" b="1">
                          <a:solidFill>
                            <a:srgbClr val="FFFFFF"/>
                          </a:solidFill>
                          <a:latin typeface="Arial"/>
                          <a:cs typeface="Arial"/>
                        </a:rPr>
                        <a:t>Format </a:t>
                      </a:r>
                      <a:r>
                        <a:rPr dirty="0" sz="1000" spc="-50" b="1">
                          <a:solidFill>
                            <a:srgbClr val="FFFFFF"/>
                          </a:solidFill>
                          <a:latin typeface="Arial"/>
                          <a:cs typeface="Arial"/>
                        </a:rPr>
                        <a:t>0</a:t>
                      </a:r>
                      <a:endParaRPr sz="1000">
                        <a:latin typeface="Arial"/>
                        <a:cs typeface="Arial"/>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r>
              <a:tr h="147955">
                <a:tc>
                  <a:txBody>
                    <a:bodyPr/>
                    <a:lstStyle/>
                    <a:p>
                      <a:pPr algn="ctr">
                        <a:lnSpc>
                          <a:spcPts val="1065"/>
                        </a:lnSpc>
                      </a:pPr>
                      <a:r>
                        <a:rPr dirty="0" sz="1000" spc="-15" b="1">
                          <a:solidFill>
                            <a:srgbClr val="FFFFFF"/>
                          </a:solidFill>
                          <a:latin typeface="Microsoft YaHei"/>
                          <a:cs typeface="Microsoft YaHei"/>
                        </a:rPr>
                        <a:t>最大允许</a:t>
                      </a:r>
                      <a:endParaRPr sz="1000">
                        <a:latin typeface="Microsoft YaHei"/>
                        <a:cs typeface="Microsoft YaHei"/>
                      </a:endParaRPr>
                    </a:p>
                  </a:txBody>
                  <a:tcPr marL="0" marR="0" marB="0" marT="0">
                    <a:lnL w="12700">
                      <a:solidFill>
                        <a:srgbClr val="FFFFFF"/>
                      </a:solidFill>
                      <a:prstDash val="solid"/>
                    </a:lnL>
                    <a:lnR w="12700">
                      <a:solidFill>
                        <a:srgbClr val="FFFFFF"/>
                      </a:solidFill>
                      <a:prstDash val="solid"/>
                    </a:lnR>
                    <a:lnT w="38100">
                      <a:solidFill>
                        <a:srgbClr val="FFFFFF"/>
                      </a:solidFill>
                      <a:prstDash val="solid"/>
                    </a:lnT>
                    <a:solidFill>
                      <a:srgbClr val="0070C0"/>
                    </a:solidFill>
                  </a:tcPr>
                </a:tc>
                <a:tc rowSpan="2">
                  <a:txBody>
                    <a:bodyPr/>
                    <a:lstStyle/>
                    <a:p>
                      <a:pPr marL="160020">
                        <a:lnSpc>
                          <a:spcPct val="100000"/>
                        </a:lnSpc>
                        <a:spcBef>
                          <a:spcPts val="635"/>
                        </a:spcBef>
                      </a:pPr>
                      <a:r>
                        <a:rPr dirty="0" sz="900" spc="-10">
                          <a:latin typeface="Arial MT"/>
                          <a:cs typeface="Arial MT"/>
                        </a:rPr>
                        <a:t>130.28</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rowSpan="2">
                  <a:txBody>
                    <a:bodyPr/>
                    <a:lstStyle/>
                    <a:p>
                      <a:pPr marL="160020">
                        <a:lnSpc>
                          <a:spcPct val="100000"/>
                        </a:lnSpc>
                        <a:spcBef>
                          <a:spcPts val="635"/>
                        </a:spcBef>
                      </a:pPr>
                      <a:r>
                        <a:rPr dirty="0" sz="900" spc="-10">
                          <a:latin typeface="Arial MT"/>
                          <a:cs typeface="Arial MT"/>
                        </a:rPr>
                        <a:t>146.21</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rowSpan="2">
                  <a:txBody>
                    <a:bodyPr/>
                    <a:lstStyle/>
                    <a:p>
                      <a:pPr marL="160655">
                        <a:lnSpc>
                          <a:spcPct val="100000"/>
                        </a:lnSpc>
                        <a:spcBef>
                          <a:spcPts val="635"/>
                        </a:spcBef>
                      </a:pPr>
                      <a:r>
                        <a:rPr dirty="0" sz="900" spc="-10">
                          <a:latin typeface="Arial MT"/>
                          <a:cs typeface="Arial MT"/>
                        </a:rPr>
                        <a:t>145.37</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rowSpan="2">
                  <a:txBody>
                    <a:bodyPr/>
                    <a:lstStyle/>
                    <a:p>
                      <a:pPr marL="160655">
                        <a:lnSpc>
                          <a:spcPct val="100000"/>
                        </a:lnSpc>
                        <a:spcBef>
                          <a:spcPts val="635"/>
                        </a:spcBef>
                      </a:pPr>
                      <a:r>
                        <a:rPr dirty="0" sz="900" spc="-10">
                          <a:latin typeface="Arial MT"/>
                          <a:cs typeface="Arial MT"/>
                        </a:rPr>
                        <a:t>143.01</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rowSpan="2">
                  <a:txBody>
                    <a:bodyPr/>
                    <a:lstStyle/>
                    <a:p>
                      <a:pPr marL="160655">
                        <a:lnSpc>
                          <a:spcPct val="100000"/>
                        </a:lnSpc>
                        <a:spcBef>
                          <a:spcPts val="635"/>
                        </a:spcBef>
                      </a:pPr>
                      <a:r>
                        <a:rPr dirty="0" sz="900" spc="-10">
                          <a:latin typeface="Arial MT"/>
                          <a:cs typeface="Arial MT"/>
                        </a:rPr>
                        <a:t>131.51</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rowSpan="2">
                  <a:txBody>
                    <a:bodyPr/>
                    <a:lstStyle/>
                    <a:p>
                      <a:pPr marL="154940">
                        <a:lnSpc>
                          <a:spcPct val="100000"/>
                        </a:lnSpc>
                        <a:spcBef>
                          <a:spcPts val="635"/>
                        </a:spcBef>
                      </a:pPr>
                      <a:r>
                        <a:rPr dirty="0" sz="900" spc="-10">
                          <a:latin typeface="Arial MT"/>
                          <a:cs typeface="Arial MT"/>
                        </a:rPr>
                        <a:t>128.61</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rowSpan="2">
                  <a:txBody>
                    <a:bodyPr/>
                    <a:lstStyle/>
                    <a:p>
                      <a:pPr marL="167005">
                        <a:lnSpc>
                          <a:spcPct val="100000"/>
                        </a:lnSpc>
                        <a:spcBef>
                          <a:spcPts val="635"/>
                        </a:spcBef>
                      </a:pPr>
                      <a:r>
                        <a:rPr dirty="0" sz="900" spc="-10">
                          <a:latin typeface="Arial MT"/>
                          <a:cs typeface="Arial MT"/>
                        </a:rPr>
                        <a:t>143.62</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rowSpan="2">
                  <a:txBody>
                    <a:bodyPr/>
                    <a:lstStyle/>
                    <a:p>
                      <a:pPr marL="160655">
                        <a:lnSpc>
                          <a:spcPct val="100000"/>
                        </a:lnSpc>
                        <a:spcBef>
                          <a:spcPts val="635"/>
                        </a:spcBef>
                      </a:pPr>
                      <a:r>
                        <a:rPr dirty="0" sz="900" spc="-10">
                          <a:latin typeface="Arial MT"/>
                          <a:cs typeface="Arial MT"/>
                        </a:rPr>
                        <a:t>144.61</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rowSpan="2">
                  <a:txBody>
                    <a:bodyPr/>
                    <a:lstStyle/>
                    <a:p>
                      <a:pPr marL="160655">
                        <a:lnSpc>
                          <a:spcPct val="100000"/>
                        </a:lnSpc>
                        <a:spcBef>
                          <a:spcPts val="635"/>
                        </a:spcBef>
                      </a:pPr>
                      <a:r>
                        <a:rPr dirty="0" sz="900" spc="-10">
                          <a:latin typeface="Arial MT"/>
                          <a:cs typeface="Arial MT"/>
                        </a:rPr>
                        <a:t>146.80</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rowSpan="2">
                  <a:txBody>
                    <a:bodyPr/>
                    <a:lstStyle/>
                    <a:p>
                      <a:pPr marL="160655">
                        <a:lnSpc>
                          <a:spcPct val="100000"/>
                        </a:lnSpc>
                        <a:spcBef>
                          <a:spcPts val="635"/>
                        </a:spcBef>
                      </a:pPr>
                      <a:r>
                        <a:rPr dirty="0" sz="900" spc="-10">
                          <a:latin typeface="Arial MT"/>
                          <a:cs typeface="Arial MT"/>
                        </a:rPr>
                        <a:t>146.33</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rowSpan="2">
                  <a:txBody>
                    <a:bodyPr/>
                    <a:lstStyle/>
                    <a:p>
                      <a:pPr marL="161290">
                        <a:lnSpc>
                          <a:spcPct val="100000"/>
                        </a:lnSpc>
                        <a:spcBef>
                          <a:spcPts val="635"/>
                        </a:spcBef>
                      </a:pPr>
                      <a:r>
                        <a:rPr dirty="0" sz="900" spc="-10">
                          <a:latin typeface="Arial MT"/>
                          <a:cs typeface="Arial MT"/>
                        </a:rPr>
                        <a:t>145.14</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r>
              <a:tr h="156210">
                <a:tc>
                  <a:txBody>
                    <a:bodyPr/>
                    <a:lstStyle/>
                    <a:p>
                      <a:pPr algn="ctr">
                        <a:lnSpc>
                          <a:spcPts val="1130"/>
                        </a:lnSpc>
                      </a:pPr>
                      <a:r>
                        <a:rPr dirty="0" sz="1000" b="1">
                          <a:solidFill>
                            <a:srgbClr val="FFFFFF"/>
                          </a:solidFill>
                          <a:latin typeface="Microsoft YaHei"/>
                          <a:cs typeface="Microsoft YaHei"/>
                        </a:rPr>
                        <a:t>路损</a:t>
                      </a:r>
                      <a:r>
                        <a:rPr dirty="0" sz="1000" spc="-20" b="1">
                          <a:solidFill>
                            <a:srgbClr val="FFFFFF"/>
                          </a:solidFill>
                          <a:latin typeface="Arial"/>
                          <a:cs typeface="Arial"/>
                        </a:rPr>
                        <a:t>[dB]</a:t>
                      </a:r>
                      <a:endParaRPr sz="1000">
                        <a:latin typeface="Arial"/>
                        <a:cs typeface="Arial"/>
                      </a:endParaRPr>
                    </a:p>
                  </a:txBody>
                  <a:tcPr marL="0" marR="0" marB="0" marT="0">
                    <a:lnL w="12700">
                      <a:solidFill>
                        <a:srgbClr val="FFFFFF"/>
                      </a:solidFill>
                      <a:prstDash val="solid"/>
                    </a:lnL>
                    <a:lnR w="12700">
                      <a:solidFill>
                        <a:srgbClr val="FFFFFF"/>
                      </a:solidFill>
                      <a:prstDash val="solid"/>
                    </a:lnR>
                    <a:lnB w="12700">
                      <a:solidFill>
                        <a:srgbClr val="FFFFFF"/>
                      </a:solidFill>
                      <a:prstDash val="solid"/>
                    </a:lnB>
                    <a:solidFill>
                      <a:srgbClr val="0070C0"/>
                    </a:solidFill>
                  </a:tcPr>
                </a:tc>
                <a:tc vMerge="1">
                  <a:txBody>
                    <a:bodyPr/>
                    <a:lstStyle/>
                    <a:p>
                      <a:p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vMerge="1">
                  <a:txBody>
                    <a:bodyPr/>
                    <a:lstStyle/>
                    <a:p>
                      <a:p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vMerge="1">
                  <a:txBody>
                    <a:bodyPr/>
                    <a:lstStyle/>
                    <a:p>
                      <a:p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vMerge="1">
                  <a:txBody>
                    <a:bodyPr/>
                    <a:lstStyle/>
                    <a:p>
                      <a:p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vMerge="1">
                  <a:txBody>
                    <a:bodyPr/>
                    <a:lstStyle/>
                    <a:p>
                      <a:p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vMerge="1">
                  <a:txBody>
                    <a:bodyPr/>
                    <a:lstStyle/>
                    <a:p>
                      <a:p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vMerge="1">
                  <a:txBody>
                    <a:bodyPr/>
                    <a:lstStyle/>
                    <a:p>
                      <a:p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vMerge="1">
                  <a:txBody>
                    <a:bodyPr/>
                    <a:lstStyle/>
                    <a:p>
                      <a:p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vMerge="1">
                  <a:txBody>
                    <a:bodyPr/>
                    <a:lstStyle/>
                    <a:p>
                      <a:p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vMerge="1">
                  <a:txBody>
                    <a:bodyPr/>
                    <a:lstStyle/>
                    <a:p>
                      <a:p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vMerge="1">
                  <a:txBody>
                    <a:bodyPr/>
                    <a:lstStyle/>
                    <a:p>
                      <a:pPr/>
                    </a:p>
                  </a:txBody>
                  <a:tcPr marL="0" marR="0" marB="0" marT="8064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r>
              <a:tr h="147320">
                <a:tc>
                  <a:txBody>
                    <a:bodyPr/>
                    <a:lstStyle/>
                    <a:p>
                      <a:pPr algn="ctr">
                        <a:lnSpc>
                          <a:spcPts val="1065"/>
                        </a:lnSpc>
                      </a:pPr>
                      <a:r>
                        <a:rPr dirty="0" sz="1000" spc="-15" b="1">
                          <a:solidFill>
                            <a:srgbClr val="FFFFFF"/>
                          </a:solidFill>
                          <a:latin typeface="Microsoft YaHei"/>
                          <a:cs typeface="Microsoft YaHei"/>
                        </a:rPr>
                        <a:t>最大覆盖</a:t>
                      </a:r>
                      <a:endParaRPr sz="10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solidFill>
                      <a:srgbClr val="0070C0"/>
                    </a:solidFill>
                  </a:tcPr>
                </a:tc>
                <a:tc rowSpan="2">
                  <a:txBody>
                    <a:bodyPr/>
                    <a:lstStyle/>
                    <a:p>
                      <a:pPr marL="211454">
                        <a:lnSpc>
                          <a:spcPct val="100000"/>
                        </a:lnSpc>
                        <a:spcBef>
                          <a:spcPts val="570"/>
                        </a:spcBef>
                      </a:pPr>
                      <a:r>
                        <a:rPr dirty="0" sz="1000" spc="-20">
                          <a:latin typeface="Arial MT"/>
                          <a:cs typeface="Arial MT"/>
                        </a:rPr>
                        <a:t>0.31</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rowSpan="2">
                  <a:txBody>
                    <a:bodyPr/>
                    <a:lstStyle/>
                    <a:p>
                      <a:pPr algn="ctr">
                        <a:lnSpc>
                          <a:spcPct val="100000"/>
                        </a:lnSpc>
                        <a:spcBef>
                          <a:spcPts val="635"/>
                        </a:spcBef>
                      </a:pPr>
                      <a:r>
                        <a:rPr dirty="0" sz="900" spc="-20">
                          <a:latin typeface="Arial MT"/>
                          <a:cs typeface="Arial MT"/>
                        </a:rPr>
                        <a:t>0.88</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2">
                  <a:txBody>
                    <a:bodyPr/>
                    <a:lstStyle/>
                    <a:p>
                      <a:pPr algn="ctr">
                        <a:lnSpc>
                          <a:spcPct val="100000"/>
                        </a:lnSpc>
                        <a:spcBef>
                          <a:spcPts val="635"/>
                        </a:spcBef>
                      </a:pPr>
                      <a:r>
                        <a:rPr dirty="0" sz="900" spc="-20">
                          <a:latin typeface="Arial MT"/>
                          <a:cs typeface="Arial MT"/>
                        </a:rPr>
                        <a:t>0.83</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2">
                  <a:txBody>
                    <a:bodyPr/>
                    <a:lstStyle/>
                    <a:p>
                      <a:pPr algn="ctr">
                        <a:lnSpc>
                          <a:spcPct val="100000"/>
                        </a:lnSpc>
                        <a:spcBef>
                          <a:spcPts val="635"/>
                        </a:spcBef>
                      </a:pPr>
                      <a:r>
                        <a:rPr dirty="0" sz="900" spc="-20">
                          <a:latin typeface="Arial MT"/>
                          <a:cs typeface="Arial MT"/>
                        </a:rPr>
                        <a:t>0.71</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2">
                  <a:txBody>
                    <a:bodyPr/>
                    <a:lstStyle/>
                    <a:p>
                      <a:pPr marL="211454">
                        <a:lnSpc>
                          <a:spcPct val="100000"/>
                        </a:lnSpc>
                        <a:spcBef>
                          <a:spcPts val="570"/>
                        </a:spcBef>
                      </a:pPr>
                      <a:r>
                        <a:rPr dirty="0" sz="1000" spc="-20">
                          <a:latin typeface="Arial MT"/>
                          <a:cs typeface="Arial MT"/>
                        </a:rPr>
                        <a:t>0.33</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rowSpan="2">
                  <a:txBody>
                    <a:bodyPr/>
                    <a:lstStyle/>
                    <a:p>
                      <a:pPr marL="205104">
                        <a:lnSpc>
                          <a:spcPct val="100000"/>
                        </a:lnSpc>
                        <a:spcBef>
                          <a:spcPts val="570"/>
                        </a:spcBef>
                      </a:pPr>
                      <a:r>
                        <a:rPr dirty="0" sz="1000" spc="-20">
                          <a:latin typeface="Arial MT"/>
                          <a:cs typeface="Arial MT"/>
                        </a:rPr>
                        <a:t>0.28</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rowSpan="2">
                  <a:txBody>
                    <a:bodyPr/>
                    <a:lstStyle/>
                    <a:p>
                      <a:pPr algn="ctr">
                        <a:lnSpc>
                          <a:spcPct val="100000"/>
                        </a:lnSpc>
                        <a:spcBef>
                          <a:spcPts val="635"/>
                        </a:spcBef>
                      </a:pPr>
                      <a:r>
                        <a:rPr dirty="0" sz="900" spc="-20">
                          <a:latin typeface="Arial MT"/>
                          <a:cs typeface="Arial MT"/>
                        </a:rPr>
                        <a:t>0.74</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2">
                  <a:txBody>
                    <a:bodyPr/>
                    <a:lstStyle/>
                    <a:p>
                      <a:pPr algn="ctr">
                        <a:lnSpc>
                          <a:spcPct val="100000"/>
                        </a:lnSpc>
                        <a:spcBef>
                          <a:spcPts val="635"/>
                        </a:spcBef>
                      </a:pPr>
                      <a:r>
                        <a:rPr dirty="0" sz="900" spc="-20">
                          <a:latin typeface="Arial MT"/>
                          <a:cs typeface="Arial MT"/>
                        </a:rPr>
                        <a:t>0.79</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2">
                  <a:txBody>
                    <a:bodyPr/>
                    <a:lstStyle/>
                    <a:p>
                      <a:pPr algn="ctr">
                        <a:lnSpc>
                          <a:spcPct val="100000"/>
                        </a:lnSpc>
                        <a:spcBef>
                          <a:spcPts val="635"/>
                        </a:spcBef>
                      </a:pPr>
                      <a:r>
                        <a:rPr dirty="0" sz="900" spc="-20">
                          <a:latin typeface="Arial MT"/>
                          <a:cs typeface="Arial MT"/>
                        </a:rPr>
                        <a:t>0.92</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2">
                  <a:txBody>
                    <a:bodyPr/>
                    <a:lstStyle/>
                    <a:p>
                      <a:pPr algn="ctr">
                        <a:lnSpc>
                          <a:spcPct val="100000"/>
                        </a:lnSpc>
                        <a:spcBef>
                          <a:spcPts val="635"/>
                        </a:spcBef>
                      </a:pPr>
                      <a:r>
                        <a:rPr dirty="0" sz="900" spc="-20">
                          <a:latin typeface="Arial MT"/>
                          <a:cs typeface="Arial MT"/>
                        </a:rPr>
                        <a:t>0.89</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2">
                  <a:txBody>
                    <a:bodyPr/>
                    <a:lstStyle/>
                    <a:p>
                      <a:pPr algn="ctr">
                        <a:lnSpc>
                          <a:spcPct val="100000"/>
                        </a:lnSpc>
                        <a:spcBef>
                          <a:spcPts val="635"/>
                        </a:spcBef>
                      </a:pPr>
                      <a:r>
                        <a:rPr dirty="0" sz="900" spc="-20">
                          <a:latin typeface="Arial MT"/>
                          <a:cs typeface="Arial MT"/>
                        </a:rPr>
                        <a:t>0.82</a:t>
                      </a:r>
                      <a:endParaRPr sz="900">
                        <a:latin typeface="Arial MT"/>
                        <a:cs typeface="Arial MT"/>
                      </a:endParaR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6845">
                <a:tc>
                  <a:txBody>
                    <a:bodyPr/>
                    <a:lstStyle/>
                    <a:p>
                      <a:pPr algn="ctr">
                        <a:lnSpc>
                          <a:spcPts val="1135"/>
                        </a:lnSpc>
                      </a:pPr>
                      <a:r>
                        <a:rPr dirty="0" sz="1000" b="1">
                          <a:solidFill>
                            <a:srgbClr val="FFFFFF"/>
                          </a:solidFill>
                          <a:latin typeface="Microsoft YaHei"/>
                          <a:cs typeface="Microsoft YaHei"/>
                        </a:rPr>
                        <a:t>距离</a:t>
                      </a:r>
                      <a:r>
                        <a:rPr dirty="0" sz="1000" spc="-20" b="1">
                          <a:solidFill>
                            <a:srgbClr val="FFFFFF"/>
                          </a:solidFill>
                          <a:latin typeface="Arial"/>
                          <a:cs typeface="Arial"/>
                        </a:rPr>
                        <a:t>[km]</a:t>
                      </a:r>
                      <a:endParaRPr sz="1000">
                        <a:latin typeface="Arial"/>
                        <a:cs typeface="Arial"/>
                      </a:endParaRPr>
                    </a:p>
                  </a:txBody>
                  <a:tcPr marL="0" marR="0" marB="0" marT="0">
                    <a:lnL w="12700">
                      <a:solidFill>
                        <a:srgbClr val="FFFFFF"/>
                      </a:solidFill>
                      <a:prstDash val="solid"/>
                    </a:lnL>
                    <a:lnR w="12700">
                      <a:solidFill>
                        <a:srgbClr val="FFFFFF"/>
                      </a:solidFill>
                      <a:prstDash val="solid"/>
                    </a:lnR>
                    <a:lnB w="12700">
                      <a:solidFill>
                        <a:srgbClr val="FFFFFF"/>
                      </a:solidFill>
                      <a:prstDash val="solid"/>
                    </a:lnB>
                    <a:solidFill>
                      <a:srgbClr val="0070C0"/>
                    </a:solidFill>
                  </a:tcPr>
                </a:tc>
                <a:tc vMerge="1">
                  <a:txBody>
                    <a:bodyPr/>
                    <a:lstStyle/>
                    <a:p>
                      <a:p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vMerge="1">
                  <a:txBody>
                    <a:bodyPr/>
                    <a:lstStyle/>
                    <a:p>
                      <a:p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vMerge="1">
                  <a:txBody>
                    <a:bodyPr/>
                    <a:lstStyle/>
                    <a:p>
                      <a:p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vMerge="1">
                  <a:txBody>
                    <a:bodyPr/>
                    <a:lstStyle/>
                    <a:p>
                      <a:p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bl>
          </a:graphicData>
        </a:graphic>
      </p:graphicFrame>
      <p:sp>
        <p:nvSpPr>
          <p:cNvPr id="10" name="object 10" descr=""/>
          <p:cNvSpPr/>
          <p:nvPr/>
        </p:nvSpPr>
        <p:spPr>
          <a:xfrm>
            <a:off x="1589811" y="1968969"/>
            <a:ext cx="35560" cy="142240"/>
          </a:xfrm>
          <a:custGeom>
            <a:avLst/>
            <a:gdLst/>
            <a:ahLst/>
            <a:cxnLst/>
            <a:rect l="l" t="t" r="r" b="b"/>
            <a:pathLst>
              <a:path w="35559" h="142239">
                <a:moveTo>
                  <a:pt x="35052" y="0"/>
                </a:moveTo>
                <a:lnTo>
                  <a:pt x="0" y="0"/>
                </a:lnTo>
                <a:lnTo>
                  <a:pt x="0" y="141731"/>
                </a:lnTo>
                <a:lnTo>
                  <a:pt x="35052" y="141731"/>
                </a:lnTo>
                <a:lnTo>
                  <a:pt x="35052" y="0"/>
                </a:lnTo>
                <a:close/>
              </a:path>
            </a:pathLst>
          </a:custGeom>
          <a:solidFill>
            <a:srgbClr val="FFFF00"/>
          </a:solidFill>
        </p:spPr>
        <p:txBody>
          <a:bodyPr wrap="square" lIns="0" tIns="0" rIns="0" bIns="0" rtlCol="0"/>
          <a:lstStyle/>
          <a:p/>
        </p:txBody>
      </p:sp>
      <p:sp>
        <p:nvSpPr>
          <p:cNvPr id="11" name="object 11" descr=""/>
          <p:cNvSpPr/>
          <p:nvPr/>
        </p:nvSpPr>
        <p:spPr>
          <a:xfrm>
            <a:off x="4270971" y="1968969"/>
            <a:ext cx="35560" cy="142240"/>
          </a:xfrm>
          <a:custGeom>
            <a:avLst/>
            <a:gdLst/>
            <a:ahLst/>
            <a:cxnLst/>
            <a:rect l="l" t="t" r="r" b="b"/>
            <a:pathLst>
              <a:path w="35560" h="142239">
                <a:moveTo>
                  <a:pt x="35051" y="0"/>
                </a:moveTo>
                <a:lnTo>
                  <a:pt x="0" y="0"/>
                </a:lnTo>
                <a:lnTo>
                  <a:pt x="0" y="141731"/>
                </a:lnTo>
                <a:lnTo>
                  <a:pt x="35051" y="141731"/>
                </a:lnTo>
                <a:lnTo>
                  <a:pt x="35051" y="0"/>
                </a:lnTo>
                <a:close/>
              </a:path>
            </a:pathLst>
          </a:custGeom>
          <a:solidFill>
            <a:srgbClr val="FFFF00"/>
          </a:solidFill>
        </p:spPr>
        <p:txBody>
          <a:bodyPr wrap="square" lIns="0" tIns="0" rIns="0" bIns="0" rtlCol="0"/>
          <a:lstStyle/>
          <a:p/>
        </p:txBody>
      </p:sp>
      <p:sp>
        <p:nvSpPr>
          <p:cNvPr id="12" name="object 12" descr=""/>
          <p:cNvSpPr/>
          <p:nvPr/>
        </p:nvSpPr>
        <p:spPr>
          <a:xfrm>
            <a:off x="4935118" y="1968969"/>
            <a:ext cx="35560" cy="142240"/>
          </a:xfrm>
          <a:custGeom>
            <a:avLst/>
            <a:gdLst/>
            <a:ahLst/>
            <a:cxnLst/>
            <a:rect l="l" t="t" r="r" b="b"/>
            <a:pathLst>
              <a:path w="35560" h="142239">
                <a:moveTo>
                  <a:pt x="35051" y="0"/>
                </a:moveTo>
                <a:lnTo>
                  <a:pt x="0" y="0"/>
                </a:lnTo>
                <a:lnTo>
                  <a:pt x="0" y="141731"/>
                </a:lnTo>
                <a:lnTo>
                  <a:pt x="35051" y="141731"/>
                </a:lnTo>
                <a:lnTo>
                  <a:pt x="35051" y="0"/>
                </a:lnTo>
                <a:close/>
              </a:path>
            </a:pathLst>
          </a:custGeom>
          <a:solidFill>
            <a:srgbClr val="FFFF00"/>
          </a:solidFill>
        </p:spPr>
        <p:txBody>
          <a:bodyPr wrap="square" lIns="0" tIns="0" rIns="0" bIns="0" rtlCol="0"/>
          <a:lstStyle/>
          <a:p/>
        </p:txBody>
      </p:sp>
      <p:sp>
        <p:nvSpPr>
          <p:cNvPr id="13" name="object 13" descr=""/>
          <p:cNvSpPr txBox="1"/>
          <p:nvPr/>
        </p:nvSpPr>
        <p:spPr>
          <a:xfrm>
            <a:off x="491034" y="792283"/>
            <a:ext cx="3155315" cy="269875"/>
          </a:xfrm>
          <a:prstGeom prst="rect">
            <a:avLst/>
          </a:prstGeom>
        </p:spPr>
        <p:txBody>
          <a:bodyPr wrap="square" lIns="0" tIns="12700" rIns="0" bIns="0" rtlCol="0" vert="horz">
            <a:spAutoFit/>
          </a:bodyPr>
          <a:lstStyle/>
          <a:p>
            <a:pPr marL="12700">
              <a:lnSpc>
                <a:spcPct val="100000"/>
              </a:lnSpc>
              <a:spcBef>
                <a:spcPts val="100"/>
              </a:spcBef>
            </a:pPr>
            <a:r>
              <a:rPr dirty="0" sz="1600">
                <a:latin typeface="Arial MT"/>
                <a:cs typeface="Arial MT"/>
              </a:rPr>
              <a:t>3.5GHz</a:t>
            </a:r>
            <a:r>
              <a:rPr dirty="0" sz="1600" spc="-5">
                <a:latin typeface="Arial MT"/>
                <a:cs typeface="Arial MT"/>
              </a:rPr>
              <a:t> </a:t>
            </a:r>
            <a:r>
              <a:rPr dirty="0" sz="1600" spc="-10">
                <a:latin typeface="Arial MT"/>
                <a:cs typeface="Arial MT"/>
              </a:rPr>
              <a:t>100MHz</a:t>
            </a:r>
            <a:r>
              <a:rPr dirty="0" sz="1600" spc="-10">
                <a:latin typeface="Microsoft YaHei"/>
                <a:cs typeface="Microsoft YaHei"/>
              </a:rPr>
              <a:t>带宽链路预算分析</a:t>
            </a:r>
            <a:endParaRPr sz="1600">
              <a:latin typeface="Microsoft YaHei"/>
              <a:cs typeface="Microsoft YaHei"/>
            </a:endParaRPr>
          </a:p>
        </p:txBody>
      </p:sp>
      <p:sp>
        <p:nvSpPr>
          <p:cNvPr id="14" name="object 14" descr=""/>
          <p:cNvSpPr txBox="1"/>
          <p:nvPr/>
        </p:nvSpPr>
        <p:spPr>
          <a:xfrm>
            <a:off x="473443" y="3589223"/>
            <a:ext cx="8065134" cy="1385570"/>
          </a:xfrm>
          <a:prstGeom prst="rect">
            <a:avLst/>
          </a:prstGeom>
          <a:solidFill>
            <a:srgbClr val="CCFFCC"/>
          </a:solidFill>
          <a:ln w="28575">
            <a:solidFill>
              <a:srgbClr val="000000"/>
            </a:solidFill>
          </a:ln>
        </p:spPr>
        <p:txBody>
          <a:bodyPr wrap="square" lIns="0" tIns="107950" rIns="0" bIns="0" rtlCol="0" vert="horz">
            <a:spAutoFit/>
          </a:bodyPr>
          <a:lstStyle/>
          <a:p>
            <a:pPr marL="376555" indent="-285115">
              <a:lnSpc>
                <a:spcPct val="100000"/>
              </a:lnSpc>
              <a:spcBef>
                <a:spcPts val="850"/>
              </a:spcBef>
              <a:buChar char="•"/>
              <a:tabLst>
                <a:tab pos="376555" algn="l"/>
              </a:tabLst>
            </a:pPr>
            <a:r>
              <a:rPr dirty="0" sz="1400">
                <a:latin typeface="Arial MT"/>
                <a:cs typeface="Arial MT"/>
              </a:rPr>
              <a:t>3.5G</a:t>
            </a:r>
            <a:r>
              <a:rPr dirty="0" sz="1400" spc="60">
                <a:latin typeface="Arial MT"/>
                <a:cs typeface="Arial MT"/>
              </a:rPr>
              <a:t> </a:t>
            </a:r>
            <a:r>
              <a:rPr dirty="0" sz="1400">
                <a:latin typeface="Arial MT"/>
                <a:cs typeface="Arial MT"/>
              </a:rPr>
              <a:t>64</a:t>
            </a:r>
            <a:r>
              <a:rPr dirty="0" sz="1400" spc="-20">
                <a:latin typeface="Microsoft YaHei"/>
                <a:cs typeface="Microsoft YaHei"/>
              </a:rPr>
              <a:t>天线覆盖能力与</a:t>
            </a:r>
            <a:r>
              <a:rPr dirty="0" sz="1400">
                <a:latin typeface="Arial MT"/>
                <a:cs typeface="Arial MT"/>
              </a:rPr>
              <a:t>2.6G</a:t>
            </a:r>
            <a:r>
              <a:rPr dirty="0" sz="1400" spc="65">
                <a:latin typeface="Arial MT"/>
                <a:cs typeface="Arial MT"/>
              </a:rPr>
              <a:t> </a:t>
            </a:r>
            <a:r>
              <a:rPr dirty="0" sz="1400">
                <a:latin typeface="Arial MT"/>
                <a:cs typeface="Arial MT"/>
              </a:rPr>
              <a:t>8</a:t>
            </a:r>
            <a:r>
              <a:rPr dirty="0" sz="1400" spc="-20">
                <a:latin typeface="Microsoft YaHei"/>
                <a:cs typeface="Microsoft YaHei"/>
              </a:rPr>
              <a:t>天线相当，组网应用时站间距规划可以满足</a:t>
            </a:r>
            <a:r>
              <a:rPr dirty="0" sz="1400">
                <a:latin typeface="Arial MT"/>
                <a:cs typeface="Arial MT"/>
              </a:rPr>
              <a:t>400</a:t>
            </a:r>
            <a:r>
              <a:rPr dirty="0" sz="1400" spc="-30">
                <a:latin typeface="Microsoft YaHei"/>
                <a:cs typeface="Microsoft YaHei"/>
              </a:rPr>
              <a:t>米以上；</a:t>
            </a:r>
            <a:endParaRPr sz="1400">
              <a:latin typeface="Microsoft YaHei"/>
              <a:cs typeface="Microsoft YaHei"/>
            </a:endParaRPr>
          </a:p>
          <a:p>
            <a:pPr marL="377190" marR="192405" indent="-286385">
              <a:lnSpc>
                <a:spcPct val="146600"/>
              </a:lnSpc>
              <a:spcBef>
                <a:spcPts val="55"/>
              </a:spcBef>
              <a:buChar char="•"/>
              <a:tabLst>
                <a:tab pos="377190" algn="l"/>
                <a:tab pos="3274060" algn="l"/>
              </a:tabLst>
            </a:pPr>
            <a:r>
              <a:rPr dirty="0" sz="1400" spc="-45">
                <a:latin typeface="Arial MT"/>
                <a:cs typeface="Arial MT"/>
              </a:rPr>
              <a:t>LTE</a:t>
            </a:r>
            <a:r>
              <a:rPr dirty="0" sz="1400" spc="-20">
                <a:latin typeface="Microsoft YaHei"/>
                <a:cs typeface="Microsoft YaHei"/>
              </a:rPr>
              <a:t>现网城区覆盖</a:t>
            </a:r>
            <a:r>
              <a:rPr dirty="0" sz="1400" spc="-20">
                <a:latin typeface="Arial MT"/>
                <a:cs typeface="Arial MT"/>
              </a:rPr>
              <a:t>80%</a:t>
            </a:r>
            <a:r>
              <a:rPr dirty="0" sz="1400" spc="-20">
                <a:latin typeface="Microsoft YaHei"/>
                <a:cs typeface="Microsoft YaHei"/>
              </a:rPr>
              <a:t>场景下站间距都不大于</a:t>
            </a:r>
            <a:r>
              <a:rPr dirty="0" sz="1400">
                <a:latin typeface="Arial MT"/>
                <a:cs typeface="Arial MT"/>
              </a:rPr>
              <a:t>400</a:t>
            </a:r>
            <a:r>
              <a:rPr dirty="0" sz="1400" spc="-20">
                <a:latin typeface="Microsoft YaHei"/>
                <a:cs typeface="Microsoft YaHei"/>
              </a:rPr>
              <a:t>米</a:t>
            </a:r>
            <a:r>
              <a:rPr dirty="0" sz="1400" spc="-10">
                <a:latin typeface="Microsoft YaHei"/>
                <a:cs typeface="Microsoft YaHei"/>
              </a:rPr>
              <a:t>，</a:t>
            </a:r>
            <a:r>
              <a:rPr dirty="0" sz="1400" spc="-10">
                <a:latin typeface="Arial MT"/>
                <a:cs typeface="Arial MT"/>
              </a:rPr>
              <a:t>3.5GHz</a:t>
            </a:r>
            <a:r>
              <a:rPr dirty="0" sz="1400" spc="-20">
                <a:latin typeface="Microsoft YaHei"/>
                <a:cs typeface="Microsoft YaHei"/>
              </a:rPr>
              <a:t>建网可以实现与</a:t>
            </a:r>
            <a:r>
              <a:rPr dirty="0" sz="1400" spc="-10">
                <a:latin typeface="Arial MT"/>
                <a:cs typeface="Arial MT"/>
              </a:rPr>
              <a:t>4G</a:t>
            </a:r>
            <a:r>
              <a:rPr dirty="0" sz="1400" spc="-20">
                <a:latin typeface="Microsoft YaHei"/>
                <a:cs typeface="Microsoft YaHei"/>
              </a:rPr>
              <a:t>共址覆盖或</a:t>
            </a:r>
            <a:r>
              <a:rPr dirty="0" sz="1400" spc="-10">
                <a:latin typeface="Microsoft YaHei"/>
                <a:cs typeface="Microsoft YaHei"/>
              </a:rPr>
              <a:t>使</a:t>
            </a:r>
            <a:r>
              <a:rPr dirty="0" sz="1400" spc="-50">
                <a:latin typeface="Microsoft YaHei"/>
                <a:cs typeface="Microsoft YaHei"/>
              </a:rPr>
              <a:t>用</a:t>
            </a:r>
            <a:r>
              <a:rPr dirty="0" baseline="5952" sz="2100" spc="-30">
                <a:latin typeface="Microsoft YaHei"/>
                <a:cs typeface="Microsoft YaHei"/>
              </a:rPr>
              <a:t>相当数量的站址建设</a:t>
            </a:r>
            <a:r>
              <a:rPr dirty="0" baseline="5952" sz="2100" spc="-75">
                <a:latin typeface="Microsoft YaHei"/>
                <a:cs typeface="Microsoft YaHei"/>
              </a:rPr>
              <a:t>。</a:t>
            </a:r>
            <a:r>
              <a:rPr dirty="0" baseline="5952" sz="2100">
                <a:latin typeface="Microsoft YaHei"/>
                <a:cs typeface="Microsoft YaHei"/>
              </a:rPr>
              <a:t>	</a:t>
            </a:r>
            <a:r>
              <a:rPr dirty="0" sz="1600" spc="-20" b="1">
                <a:solidFill>
                  <a:srgbClr val="FF0000"/>
                </a:solidFill>
                <a:latin typeface="Arial"/>
                <a:cs typeface="Arial"/>
              </a:rPr>
              <a:t>3.5G</a:t>
            </a:r>
            <a:r>
              <a:rPr dirty="0" sz="1600" b="1">
                <a:solidFill>
                  <a:srgbClr val="FF0000"/>
                </a:solidFill>
                <a:latin typeface="Microsoft YaHei"/>
                <a:cs typeface="Microsoft YaHei"/>
              </a:rPr>
              <a:t>可以满足</a:t>
            </a:r>
            <a:r>
              <a:rPr dirty="0" sz="1600" spc="-20" b="1">
                <a:solidFill>
                  <a:srgbClr val="FF0000"/>
                </a:solidFill>
                <a:latin typeface="Arial"/>
                <a:cs typeface="Arial"/>
              </a:rPr>
              <a:t>5G</a:t>
            </a:r>
            <a:r>
              <a:rPr dirty="0" sz="1600" b="1">
                <a:solidFill>
                  <a:srgbClr val="FF0000"/>
                </a:solidFill>
                <a:latin typeface="Microsoft YaHei"/>
                <a:cs typeface="Microsoft YaHei"/>
              </a:rPr>
              <a:t>独立组网</a:t>
            </a:r>
            <a:r>
              <a:rPr dirty="0" sz="1600" spc="-50" b="1">
                <a:solidFill>
                  <a:srgbClr val="FF0000"/>
                </a:solidFill>
                <a:latin typeface="Microsoft YaHei"/>
                <a:cs typeface="Microsoft YaHei"/>
              </a:rPr>
              <a:t>！</a:t>
            </a:r>
            <a:endParaRPr sz="1600">
              <a:latin typeface="Microsoft YaHei"/>
              <a:cs typeface="Microsoft YaHei"/>
            </a:endParaRPr>
          </a:p>
          <a:p>
            <a:pPr marL="376555" indent="-285115">
              <a:lnSpc>
                <a:spcPct val="100000"/>
              </a:lnSpc>
              <a:spcBef>
                <a:spcPts val="660"/>
              </a:spcBef>
              <a:buChar char="•"/>
              <a:tabLst>
                <a:tab pos="376555" algn="l"/>
              </a:tabLst>
            </a:pPr>
            <a:r>
              <a:rPr dirty="0" sz="1400" spc="-10">
                <a:latin typeface="Arial MT"/>
                <a:cs typeface="Arial MT"/>
              </a:rPr>
              <a:t>5G</a:t>
            </a:r>
            <a:r>
              <a:rPr dirty="0" sz="1400" spc="-20">
                <a:latin typeface="Microsoft YaHei"/>
                <a:cs typeface="Microsoft YaHei"/>
              </a:rPr>
              <a:t>组网使用</a:t>
            </a:r>
            <a:r>
              <a:rPr dirty="0" sz="1400" spc="-20">
                <a:latin typeface="Arial MT"/>
                <a:cs typeface="Arial MT"/>
              </a:rPr>
              <a:t>SIC</a:t>
            </a:r>
            <a:r>
              <a:rPr dirty="0" sz="1400" spc="-20">
                <a:latin typeface="Microsoft YaHei"/>
                <a:cs typeface="Microsoft YaHei"/>
              </a:rPr>
              <a:t>接收、</a:t>
            </a:r>
            <a:r>
              <a:rPr dirty="0" sz="1400">
                <a:latin typeface="Arial MT"/>
                <a:cs typeface="Arial MT"/>
              </a:rPr>
              <a:t>64</a:t>
            </a:r>
            <a:r>
              <a:rPr dirty="0" sz="1400" spc="-20">
                <a:latin typeface="Microsoft YaHei"/>
                <a:cs typeface="Microsoft YaHei"/>
              </a:rPr>
              <a:t>天线</a:t>
            </a:r>
            <a:r>
              <a:rPr dirty="0" sz="1400" spc="-20">
                <a:latin typeface="Arial MT"/>
                <a:cs typeface="Arial MT"/>
              </a:rPr>
              <a:t>IRC</a:t>
            </a:r>
            <a:r>
              <a:rPr dirty="0" sz="1400" spc="-25">
                <a:latin typeface="Microsoft YaHei"/>
                <a:cs typeface="Microsoft YaHei"/>
              </a:rPr>
              <a:t>等方案，上行覆盖性能可以进一步提升。</a:t>
            </a:r>
            <a:endParaRPr sz="1400">
              <a:latin typeface="Microsoft YaHei"/>
              <a:cs typeface="Microsoft YaHei"/>
            </a:endParaRPr>
          </a:p>
        </p:txBody>
      </p:sp>
      <p:grpSp>
        <p:nvGrpSpPr>
          <p:cNvPr id="15" name="object 15" descr=""/>
          <p:cNvGrpSpPr/>
          <p:nvPr/>
        </p:nvGrpSpPr>
        <p:grpSpPr>
          <a:xfrm>
            <a:off x="1082586" y="3231921"/>
            <a:ext cx="670560" cy="304800"/>
            <a:chOff x="1082586" y="3231921"/>
            <a:chExt cx="670560" cy="304800"/>
          </a:xfrm>
        </p:grpSpPr>
        <p:sp>
          <p:nvSpPr>
            <p:cNvPr id="16" name="object 16" descr=""/>
            <p:cNvSpPr/>
            <p:nvPr/>
          </p:nvSpPr>
          <p:spPr>
            <a:xfrm>
              <a:off x="1082586" y="3231921"/>
              <a:ext cx="670560" cy="304800"/>
            </a:xfrm>
            <a:custGeom>
              <a:avLst/>
              <a:gdLst/>
              <a:ahLst/>
              <a:cxnLst/>
              <a:rect l="l" t="t" r="r" b="b"/>
              <a:pathLst>
                <a:path w="670560" h="304800">
                  <a:moveTo>
                    <a:pt x="670293" y="0"/>
                  </a:moveTo>
                  <a:lnTo>
                    <a:pt x="0" y="0"/>
                  </a:lnTo>
                  <a:lnTo>
                    <a:pt x="0" y="304800"/>
                  </a:lnTo>
                  <a:lnTo>
                    <a:pt x="670293" y="304800"/>
                  </a:lnTo>
                  <a:lnTo>
                    <a:pt x="670293" y="0"/>
                  </a:lnTo>
                  <a:close/>
                </a:path>
              </a:pathLst>
            </a:custGeom>
            <a:solidFill>
              <a:srgbClr val="F3F9FA"/>
            </a:solidFill>
          </p:spPr>
          <p:txBody>
            <a:bodyPr wrap="square" lIns="0" tIns="0" rIns="0" bIns="0" rtlCol="0"/>
            <a:lstStyle/>
            <a:p/>
          </p:txBody>
        </p:sp>
        <p:sp>
          <p:nvSpPr>
            <p:cNvPr id="17" name="object 17" descr=""/>
            <p:cNvSpPr/>
            <p:nvPr/>
          </p:nvSpPr>
          <p:spPr>
            <a:xfrm>
              <a:off x="1294155" y="3316516"/>
              <a:ext cx="279400" cy="142240"/>
            </a:xfrm>
            <a:custGeom>
              <a:avLst/>
              <a:gdLst/>
              <a:ahLst/>
              <a:cxnLst/>
              <a:rect l="l" t="t" r="r" b="b"/>
              <a:pathLst>
                <a:path w="279400" h="142239">
                  <a:moveTo>
                    <a:pt x="278891" y="0"/>
                  </a:moveTo>
                  <a:lnTo>
                    <a:pt x="0" y="0"/>
                  </a:lnTo>
                  <a:lnTo>
                    <a:pt x="0" y="141731"/>
                  </a:lnTo>
                  <a:lnTo>
                    <a:pt x="278891" y="141731"/>
                  </a:lnTo>
                  <a:lnTo>
                    <a:pt x="278891" y="0"/>
                  </a:lnTo>
                  <a:close/>
                </a:path>
              </a:pathLst>
            </a:custGeom>
            <a:solidFill>
              <a:srgbClr val="FFFF00"/>
            </a:solidFill>
          </p:spPr>
          <p:txBody>
            <a:bodyPr wrap="square" lIns="0" tIns="0" rIns="0" bIns="0" rtlCol="0"/>
            <a:lstStyle/>
            <a:p/>
          </p:txBody>
        </p:sp>
      </p:grpSp>
      <p:grpSp>
        <p:nvGrpSpPr>
          <p:cNvPr id="18" name="object 18" descr=""/>
          <p:cNvGrpSpPr/>
          <p:nvPr/>
        </p:nvGrpSpPr>
        <p:grpSpPr>
          <a:xfrm>
            <a:off x="3763746" y="3231921"/>
            <a:ext cx="1329690" cy="304800"/>
            <a:chOff x="3763746" y="3231921"/>
            <a:chExt cx="1329690" cy="304800"/>
          </a:xfrm>
        </p:grpSpPr>
        <p:sp>
          <p:nvSpPr>
            <p:cNvPr id="19" name="object 19" descr=""/>
            <p:cNvSpPr/>
            <p:nvPr/>
          </p:nvSpPr>
          <p:spPr>
            <a:xfrm>
              <a:off x="3763746" y="3231921"/>
              <a:ext cx="1329690" cy="304800"/>
            </a:xfrm>
            <a:custGeom>
              <a:avLst/>
              <a:gdLst/>
              <a:ahLst/>
              <a:cxnLst/>
              <a:rect l="l" t="t" r="r" b="b"/>
              <a:pathLst>
                <a:path w="1329689" h="304800">
                  <a:moveTo>
                    <a:pt x="1329067" y="0"/>
                  </a:moveTo>
                  <a:lnTo>
                    <a:pt x="670293" y="0"/>
                  </a:lnTo>
                  <a:lnTo>
                    <a:pt x="0" y="0"/>
                  </a:lnTo>
                  <a:lnTo>
                    <a:pt x="0" y="304800"/>
                  </a:lnTo>
                  <a:lnTo>
                    <a:pt x="670293" y="304800"/>
                  </a:lnTo>
                  <a:lnTo>
                    <a:pt x="1329067" y="304800"/>
                  </a:lnTo>
                  <a:lnTo>
                    <a:pt x="1329067" y="0"/>
                  </a:lnTo>
                  <a:close/>
                </a:path>
              </a:pathLst>
            </a:custGeom>
            <a:solidFill>
              <a:srgbClr val="F3F9FA"/>
            </a:solidFill>
          </p:spPr>
          <p:txBody>
            <a:bodyPr wrap="square" lIns="0" tIns="0" rIns="0" bIns="0" rtlCol="0"/>
            <a:lstStyle/>
            <a:p/>
          </p:txBody>
        </p:sp>
        <p:sp>
          <p:nvSpPr>
            <p:cNvPr id="20" name="object 20" descr=""/>
            <p:cNvSpPr/>
            <p:nvPr/>
          </p:nvSpPr>
          <p:spPr>
            <a:xfrm>
              <a:off x="3975328" y="3316515"/>
              <a:ext cx="943610" cy="142240"/>
            </a:xfrm>
            <a:custGeom>
              <a:avLst/>
              <a:gdLst/>
              <a:ahLst/>
              <a:cxnLst/>
              <a:rect l="l" t="t" r="r" b="b"/>
              <a:pathLst>
                <a:path w="943610" h="142239">
                  <a:moveTo>
                    <a:pt x="278879" y="0"/>
                  </a:moveTo>
                  <a:lnTo>
                    <a:pt x="0" y="0"/>
                  </a:lnTo>
                  <a:lnTo>
                    <a:pt x="0" y="141732"/>
                  </a:lnTo>
                  <a:lnTo>
                    <a:pt x="278879" y="141732"/>
                  </a:lnTo>
                  <a:lnTo>
                    <a:pt x="278879" y="0"/>
                  </a:lnTo>
                  <a:close/>
                </a:path>
                <a:path w="943610" h="142239">
                  <a:moveTo>
                    <a:pt x="943025" y="0"/>
                  </a:moveTo>
                  <a:lnTo>
                    <a:pt x="664146" y="0"/>
                  </a:lnTo>
                  <a:lnTo>
                    <a:pt x="664146" y="141732"/>
                  </a:lnTo>
                  <a:lnTo>
                    <a:pt x="943025" y="141732"/>
                  </a:lnTo>
                  <a:lnTo>
                    <a:pt x="943025" y="0"/>
                  </a:lnTo>
                  <a:close/>
                </a:path>
              </a:pathLst>
            </a:custGeom>
            <a:solidFill>
              <a:srgbClr val="FFFF00"/>
            </a:solidFill>
          </p:spPr>
          <p:txBody>
            <a:bodyPr wrap="square" lIns="0" tIns="0" rIns="0" bIns="0" rtlCol="0"/>
            <a:lstStyle/>
            <a:p/>
          </p:txBody>
        </p:sp>
      </p:grpSp>
      <p:graphicFrame>
        <p:nvGraphicFramePr>
          <p:cNvPr id="21" name="object 21" descr=""/>
          <p:cNvGraphicFramePr>
            <a:graphicFrameLocks noGrp="1"/>
          </p:cNvGraphicFramePr>
          <p:nvPr/>
        </p:nvGraphicFramePr>
        <p:xfrm>
          <a:off x="405944" y="2463570"/>
          <a:ext cx="8132445" cy="1066800"/>
        </p:xfrm>
        <a:graphic>
          <a:graphicData uri="http://schemas.openxmlformats.org/drawingml/2006/table">
            <a:tbl>
              <a:tblPr firstRow="1" bandRow="1">
                <a:tableStyleId>{2D5ABB26-0587-4C30-8999-92F81FD0307C}</a:tableStyleId>
              </a:tblPr>
              <a:tblGrid>
                <a:gridCol w="670560"/>
                <a:gridCol w="670560"/>
                <a:gridCol w="670559"/>
                <a:gridCol w="670560"/>
                <a:gridCol w="670560"/>
                <a:gridCol w="670560"/>
                <a:gridCol w="659129"/>
                <a:gridCol w="681989"/>
                <a:gridCol w="670560"/>
                <a:gridCol w="670560"/>
                <a:gridCol w="670559"/>
                <a:gridCol w="670559"/>
              </a:tblGrid>
              <a:tr h="457200">
                <a:tc>
                  <a:txBody>
                    <a:bodyPr/>
                    <a:lstStyle/>
                    <a:p>
                      <a:pPr>
                        <a:lnSpc>
                          <a:spcPct val="100000"/>
                        </a:lnSpc>
                        <a:spcBef>
                          <a:spcPts val="15"/>
                        </a:spcBef>
                      </a:pPr>
                      <a:endParaRPr sz="1000">
                        <a:latin typeface="Times New Roman"/>
                        <a:cs typeface="Times New Roman"/>
                      </a:endParaRPr>
                    </a:p>
                    <a:p>
                      <a:pPr marL="207645">
                        <a:lnSpc>
                          <a:spcPct val="100000"/>
                        </a:lnSpc>
                      </a:pPr>
                      <a:r>
                        <a:rPr dirty="0" sz="1000" spc="-25" b="1">
                          <a:solidFill>
                            <a:srgbClr val="FFFFFF"/>
                          </a:solidFill>
                          <a:latin typeface="Microsoft YaHei"/>
                          <a:cs typeface="Microsoft YaHei"/>
                        </a:rPr>
                        <a:t>信道</a:t>
                      </a:r>
                      <a:endParaRPr sz="1000">
                        <a:latin typeface="Microsoft YaHei"/>
                        <a:cs typeface="Microsoft YaHei"/>
                      </a:endParaRPr>
                    </a:p>
                  </a:txBody>
                  <a:tcPr marL="0" marR="0" marB="0" marT="190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algn="ctr">
                        <a:lnSpc>
                          <a:spcPts val="1170"/>
                        </a:lnSpc>
                      </a:pPr>
                      <a:r>
                        <a:rPr dirty="0" sz="1000" spc="-25" b="1">
                          <a:solidFill>
                            <a:srgbClr val="FFFFFF"/>
                          </a:solidFill>
                          <a:latin typeface="Arial"/>
                          <a:cs typeface="Arial"/>
                        </a:rPr>
                        <a:t>CRS</a:t>
                      </a:r>
                      <a:endParaRPr sz="1000">
                        <a:latin typeface="Arial"/>
                        <a:cs typeface="Arial"/>
                      </a:endParaRPr>
                    </a:p>
                    <a:p>
                      <a:pPr algn="ctr">
                        <a:lnSpc>
                          <a:spcPct val="100000"/>
                        </a:lnSpc>
                      </a:pPr>
                      <a:r>
                        <a:rPr dirty="0" sz="1000" spc="-50" b="1">
                          <a:solidFill>
                            <a:srgbClr val="FFFFFF"/>
                          </a:solidFill>
                          <a:latin typeface="Arial"/>
                          <a:cs typeface="Arial"/>
                        </a:rPr>
                        <a:t>-</a:t>
                      </a:r>
                      <a:endParaRPr sz="1000">
                        <a:latin typeface="Arial"/>
                        <a:cs typeface="Arial"/>
                      </a:endParaRPr>
                    </a:p>
                    <a:p>
                      <a:pPr algn="ctr">
                        <a:lnSpc>
                          <a:spcPts val="1130"/>
                        </a:lnSpc>
                      </a:pPr>
                      <a:r>
                        <a:rPr dirty="0" sz="1000" spc="-10" b="1">
                          <a:solidFill>
                            <a:srgbClr val="FFFFFF"/>
                          </a:solidFill>
                          <a:latin typeface="Arial"/>
                          <a:cs typeface="Arial"/>
                        </a:rPr>
                        <a:t>110dBm</a:t>
                      </a:r>
                      <a:endParaRPr sz="1000">
                        <a:latin typeface="Arial"/>
                        <a:cs typeface="Arial"/>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marL="111125">
                        <a:lnSpc>
                          <a:spcPct val="100000"/>
                        </a:lnSpc>
                        <a:spcBef>
                          <a:spcPts val="570"/>
                        </a:spcBef>
                      </a:pPr>
                      <a:r>
                        <a:rPr dirty="0" sz="1000" spc="-10" b="1">
                          <a:solidFill>
                            <a:srgbClr val="FFFFFF"/>
                          </a:solidFill>
                          <a:latin typeface="Arial"/>
                          <a:cs typeface="Arial"/>
                        </a:rPr>
                        <a:t>PDSCH</a:t>
                      </a:r>
                      <a:endParaRPr sz="1000">
                        <a:latin typeface="Arial"/>
                        <a:cs typeface="Arial"/>
                      </a:endParaRPr>
                    </a:p>
                    <a:p>
                      <a:pPr marL="132715">
                        <a:lnSpc>
                          <a:spcPct val="100000"/>
                        </a:lnSpc>
                      </a:pPr>
                      <a:r>
                        <a:rPr dirty="0" sz="1000" spc="-20" b="1">
                          <a:solidFill>
                            <a:srgbClr val="FFFFFF"/>
                          </a:solidFill>
                          <a:latin typeface="Arial"/>
                          <a:cs typeface="Arial"/>
                        </a:rPr>
                        <a:t>1Mbps</a:t>
                      </a:r>
                      <a:endParaRPr sz="1000">
                        <a:latin typeface="Arial"/>
                        <a:cs typeface="Arial"/>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marL="111760">
                        <a:lnSpc>
                          <a:spcPct val="100000"/>
                        </a:lnSpc>
                        <a:spcBef>
                          <a:spcPts val="570"/>
                        </a:spcBef>
                      </a:pPr>
                      <a:r>
                        <a:rPr dirty="0" sz="1000" spc="-10" b="1">
                          <a:solidFill>
                            <a:srgbClr val="FFFFFF"/>
                          </a:solidFill>
                          <a:latin typeface="Arial"/>
                          <a:cs typeface="Arial"/>
                        </a:rPr>
                        <a:t>PDSCH</a:t>
                      </a:r>
                      <a:endParaRPr sz="1000">
                        <a:latin typeface="Arial"/>
                        <a:cs typeface="Arial"/>
                      </a:endParaRPr>
                    </a:p>
                    <a:p>
                      <a:pPr marL="132715">
                        <a:lnSpc>
                          <a:spcPct val="100000"/>
                        </a:lnSpc>
                      </a:pPr>
                      <a:r>
                        <a:rPr dirty="0" sz="1000" spc="-20" b="1">
                          <a:solidFill>
                            <a:srgbClr val="FFFFFF"/>
                          </a:solidFill>
                          <a:latin typeface="Arial"/>
                          <a:cs typeface="Arial"/>
                        </a:rPr>
                        <a:t>2Mbps</a:t>
                      </a:r>
                      <a:endParaRPr sz="1000">
                        <a:latin typeface="Arial"/>
                        <a:cs typeface="Arial"/>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marL="111760">
                        <a:lnSpc>
                          <a:spcPct val="100000"/>
                        </a:lnSpc>
                        <a:spcBef>
                          <a:spcPts val="570"/>
                        </a:spcBef>
                      </a:pPr>
                      <a:r>
                        <a:rPr dirty="0" sz="1000" spc="-10" b="1">
                          <a:solidFill>
                            <a:srgbClr val="FFFFFF"/>
                          </a:solidFill>
                          <a:latin typeface="Arial"/>
                          <a:cs typeface="Arial"/>
                        </a:rPr>
                        <a:t>PDSCH</a:t>
                      </a:r>
                      <a:endParaRPr sz="1000">
                        <a:latin typeface="Arial"/>
                        <a:cs typeface="Arial"/>
                      </a:endParaRPr>
                    </a:p>
                    <a:p>
                      <a:pPr marL="132715">
                        <a:lnSpc>
                          <a:spcPct val="100000"/>
                        </a:lnSpc>
                      </a:pPr>
                      <a:r>
                        <a:rPr dirty="0" sz="1000" spc="-20" b="1">
                          <a:solidFill>
                            <a:srgbClr val="FFFFFF"/>
                          </a:solidFill>
                          <a:latin typeface="Arial"/>
                          <a:cs typeface="Arial"/>
                        </a:rPr>
                        <a:t>4Mbps</a:t>
                      </a:r>
                      <a:endParaRPr sz="1000">
                        <a:latin typeface="Arial"/>
                        <a:cs typeface="Arial"/>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marL="111760">
                        <a:lnSpc>
                          <a:spcPct val="100000"/>
                        </a:lnSpc>
                        <a:spcBef>
                          <a:spcPts val="570"/>
                        </a:spcBef>
                      </a:pPr>
                      <a:r>
                        <a:rPr dirty="0" sz="1000" spc="-10" b="1">
                          <a:solidFill>
                            <a:srgbClr val="FFFFFF"/>
                          </a:solidFill>
                          <a:latin typeface="Arial"/>
                          <a:cs typeface="Arial"/>
                        </a:rPr>
                        <a:t>PUSCH</a:t>
                      </a:r>
                      <a:endParaRPr sz="1000">
                        <a:latin typeface="Arial"/>
                        <a:cs typeface="Arial"/>
                      </a:endParaRPr>
                    </a:p>
                    <a:p>
                      <a:pPr marL="81280">
                        <a:lnSpc>
                          <a:spcPct val="100000"/>
                        </a:lnSpc>
                      </a:pPr>
                      <a:r>
                        <a:rPr dirty="0" sz="1000" spc="-10" b="1">
                          <a:solidFill>
                            <a:srgbClr val="FFFFFF"/>
                          </a:solidFill>
                          <a:latin typeface="Arial"/>
                          <a:cs typeface="Arial"/>
                        </a:rPr>
                        <a:t>256kbps</a:t>
                      </a:r>
                      <a:endParaRPr sz="1000">
                        <a:latin typeface="Arial"/>
                        <a:cs typeface="Arial"/>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marL="106045">
                        <a:lnSpc>
                          <a:spcPct val="100000"/>
                        </a:lnSpc>
                        <a:spcBef>
                          <a:spcPts val="570"/>
                        </a:spcBef>
                      </a:pPr>
                      <a:r>
                        <a:rPr dirty="0" sz="1000" spc="-10" b="1">
                          <a:solidFill>
                            <a:srgbClr val="FFFFFF"/>
                          </a:solidFill>
                          <a:latin typeface="Arial"/>
                          <a:cs typeface="Arial"/>
                        </a:rPr>
                        <a:t>PUSCH</a:t>
                      </a:r>
                      <a:endParaRPr sz="1000">
                        <a:latin typeface="Arial"/>
                        <a:cs typeface="Arial"/>
                      </a:endParaRPr>
                    </a:p>
                    <a:p>
                      <a:pPr marL="74930">
                        <a:lnSpc>
                          <a:spcPct val="100000"/>
                        </a:lnSpc>
                      </a:pPr>
                      <a:r>
                        <a:rPr dirty="0" sz="1000" spc="-10" b="1">
                          <a:solidFill>
                            <a:srgbClr val="FFFFFF"/>
                          </a:solidFill>
                          <a:latin typeface="Arial"/>
                          <a:cs typeface="Arial"/>
                        </a:rPr>
                        <a:t>512kbps</a:t>
                      </a:r>
                      <a:endParaRPr sz="1000">
                        <a:latin typeface="Arial"/>
                        <a:cs typeface="Arial"/>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marL="170180" marR="106045" indent="-56515">
                        <a:lnSpc>
                          <a:spcPct val="100000"/>
                        </a:lnSpc>
                        <a:spcBef>
                          <a:spcPts val="570"/>
                        </a:spcBef>
                      </a:pPr>
                      <a:r>
                        <a:rPr dirty="0" sz="1000" spc="-10" b="1">
                          <a:solidFill>
                            <a:srgbClr val="FFFFFF"/>
                          </a:solidFill>
                          <a:latin typeface="Arial"/>
                          <a:cs typeface="Arial"/>
                        </a:rPr>
                        <a:t>PDCCH </a:t>
                      </a:r>
                      <a:r>
                        <a:rPr dirty="0" sz="1000" spc="-20" b="1">
                          <a:solidFill>
                            <a:srgbClr val="FFFFFF"/>
                          </a:solidFill>
                          <a:latin typeface="Arial"/>
                          <a:cs typeface="Arial"/>
                        </a:rPr>
                        <a:t>8CCE</a:t>
                      </a:r>
                      <a:endParaRPr sz="1000">
                        <a:latin typeface="Arial"/>
                        <a:cs typeface="Arial"/>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a:lnSpc>
                          <a:spcPct val="100000"/>
                        </a:lnSpc>
                        <a:spcBef>
                          <a:spcPts val="20"/>
                        </a:spcBef>
                      </a:pPr>
                      <a:endParaRPr sz="1000">
                        <a:latin typeface="Times New Roman"/>
                        <a:cs typeface="Times New Roman"/>
                      </a:endParaRPr>
                    </a:p>
                    <a:p>
                      <a:pPr algn="ctr">
                        <a:lnSpc>
                          <a:spcPct val="100000"/>
                        </a:lnSpc>
                      </a:pPr>
                      <a:r>
                        <a:rPr dirty="0" sz="1000" spc="-10" b="1">
                          <a:solidFill>
                            <a:srgbClr val="FFFFFF"/>
                          </a:solidFill>
                          <a:latin typeface="Arial"/>
                          <a:cs typeface="Arial"/>
                        </a:rPr>
                        <a:t>PHICH</a:t>
                      </a:r>
                      <a:endParaRPr sz="1000">
                        <a:latin typeface="Arial"/>
                        <a:cs typeface="Arial"/>
                      </a:endParaRPr>
                    </a:p>
                  </a:txBody>
                  <a:tcPr marL="0" marR="0" marB="0" marT="254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a:lnSpc>
                          <a:spcPct val="100000"/>
                        </a:lnSpc>
                        <a:spcBef>
                          <a:spcPts val="20"/>
                        </a:spcBef>
                      </a:pPr>
                      <a:endParaRPr sz="1000">
                        <a:latin typeface="Times New Roman"/>
                        <a:cs typeface="Times New Roman"/>
                      </a:endParaRPr>
                    </a:p>
                    <a:p>
                      <a:pPr algn="ctr">
                        <a:lnSpc>
                          <a:spcPct val="100000"/>
                        </a:lnSpc>
                      </a:pPr>
                      <a:r>
                        <a:rPr dirty="0" sz="1000" spc="-20" b="1">
                          <a:solidFill>
                            <a:srgbClr val="FFFFFF"/>
                          </a:solidFill>
                          <a:latin typeface="Arial"/>
                          <a:cs typeface="Arial"/>
                        </a:rPr>
                        <a:t>PBCH</a:t>
                      </a:r>
                      <a:endParaRPr sz="1000">
                        <a:latin typeface="Arial"/>
                        <a:cs typeface="Arial"/>
                      </a:endParaRPr>
                    </a:p>
                  </a:txBody>
                  <a:tcPr marL="0" marR="0" marB="0" marT="254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algn="ctr">
                        <a:lnSpc>
                          <a:spcPct val="100000"/>
                        </a:lnSpc>
                        <a:spcBef>
                          <a:spcPts val="540"/>
                        </a:spcBef>
                      </a:pPr>
                      <a:r>
                        <a:rPr dirty="0" sz="1000" spc="-10" b="1">
                          <a:solidFill>
                            <a:srgbClr val="FFFFFF"/>
                          </a:solidFill>
                          <a:latin typeface="Arial"/>
                          <a:cs typeface="Arial"/>
                        </a:rPr>
                        <a:t>PUCCH</a:t>
                      </a:r>
                      <a:endParaRPr sz="1000">
                        <a:latin typeface="Arial"/>
                        <a:cs typeface="Arial"/>
                      </a:endParaRPr>
                    </a:p>
                  </a:txBody>
                  <a:tcPr marL="0" marR="0" marB="0" marT="6858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algn="ctr">
                        <a:lnSpc>
                          <a:spcPts val="1170"/>
                        </a:lnSpc>
                      </a:pPr>
                      <a:r>
                        <a:rPr dirty="0" sz="1000" spc="-10" b="1">
                          <a:solidFill>
                            <a:srgbClr val="FFFFFF"/>
                          </a:solidFill>
                          <a:latin typeface="Arial"/>
                          <a:cs typeface="Arial"/>
                        </a:rPr>
                        <a:t>PRACH</a:t>
                      </a:r>
                      <a:endParaRPr sz="1000">
                        <a:latin typeface="Arial"/>
                        <a:cs typeface="Arial"/>
                      </a:endParaRPr>
                    </a:p>
                    <a:p>
                      <a:pPr algn="ctr" marL="119380" marR="111760">
                        <a:lnSpc>
                          <a:spcPct val="100000"/>
                        </a:lnSpc>
                      </a:pPr>
                      <a:r>
                        <a:rPr dirty="0" sz="1000" spc="-10" b="1">
                          <a:solidFill>
                            <a:srgbClr val="FFFFFF"/>
                          </a:solidFill>
                          <a:latin typeface="Arial"/>
                          <a:cs typeface="Arial"/>
                        </a:rPr>
                        <a:t>Format </a:t>
                      </a:r>
                      <a:r>
                        <a:rPr dirty="0" sz="1000" spc="-50" b="1">
                          <a:solidFill>
                            <a:srgbClr val="FFFFFF"/>
                          </a:solidFill>
                          <a:latin typeface="Arial"/>
                          <a:cs typeface="Arial"/>
                        </a:rPr>
                        <a:t>0</a:t>
                      </a:r>
                      <a:endParaRPr sz="1000">
                        <a:latin typeface="Arial"/>
                        <a:cs typeface="Arial"/>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r>
              <a:tr h="304800">
                <a:tc>
                  <a:txBody>
                    <a:bodyPr/>
                    <a:lstStyle/>
                    <a:p>
                      <a:pPr marL="80010">
                        <a:lnSpc>
                          <a:spcPts val="1160"/>
                        </a:lnSpc>
                      </a:pPr>
                      <a:r>
                        <a:rPr dirty="0" sz="1000" spc="-15" b="1">
                          <a:solidFill>
                            <a:srgbClr val="FFFFFF"/>
                          </a:solidFill>
                          <a:latin typeface="Microsoft YaHei"/>
                          <a:cs typeface="Microsoft YaHei"/>
                        </a:rPr>
                        <a:t>最大允许</a:t>
                      </a:r>
                      <a:endParaRPr sz="1000">
                        <a:latin typeface="Microsoft YaHei"/>
                        <a:cs typeface="Microsoft YaHei"/>
                      </a:endParaRPr>
                    </a:p>
                    <a:p>
                      <a:pPr marL="79375">
                        <a:lnSpc>
                          <a:spcPts val="1130"/>
                        </a:lnSpc>
                        <a:spcBef>
                          <a:spcPts val="5"/>
                        </a:spcBef>
                      </a:pPr>
                      <a:r>
                        <a:rPr dirty="0" sz="1000" b="1">
                          <a:solidFill>
                            <a:srgbClr val="FFFFFF"/>
                          </a:solidFill>
                          <a:latin typeface="Microsoft YaHei"/>
                          <a:cs typeface="Microsoft YaHei"/>
                        </a:rPr>
                        <a:t>路损</a:t>
                      </a:r>
                      <a:r>
                        <a:rPr dirty="0" sz="1000" spc="-20" b="1">
                          <a:solidFill>
                            <a:srgbClr val="FFFFFF"/>
                          </a:solidFill>
                          <a:latin typeface="Arial"/>
                          <a:cs typeface="Arial"/>
                        </a:rPr>
                        <a:t>[dB]</a:t>
                      </a:r>
                      <a:endParaRPr sz="1000">
                        <a:latin typeface="Arial"/>
                        <a:cs typeface="Arial"/>
                      </a:endParaRPr>
                    </a:p>
                  </a:txBody>
                  <a:tcPr marL="0" marR="0" marB="0" marT="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B0F0"/>
                    </a:solidFill>
                  </a:tcPr>
                </a:tc>
                <a:tc>
                  <a:txBody>
                    <a:bodyPr/>
                    <a:lstStyle/>
                    <a:p>
                      <a:pPr algn="ctr">
                        <a:lnSpc>
                          <a:spcPct val="100000"/>
                        </a:lnSpc>
                        <a:spcBef>
                          <a:spcPts val="570"/>
                        </a:spcBef>
                      </a:pPr>
                      <a:r>
                        <a:rPr dirty="0" sz="1000" spc="-10">
                          <a:latin typeface="Arial MT"/>
                          <a:cs typeface="Arial MT"/>
                        </a:rPr>
                        <a:t>131.28</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70"/>
                        </a:spcBef>
                      </a:pPr>
                      <a:r>
                        <a:rPr dirty="0" sz="1000" spc="-10">
                          <a:latin typeface="Arial MT"/>
                          <a:cs typeface="Arial MT"/>
                        </a:rPr>
                        <a:t>146.15</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70"/>
                        </a:spcBef>
                      </a:pPr>
                      <a:r>
                        <a:rPr dirty="0" sz="1000" spc="-10">
                          <a:latin typeface="Arial MT"/>
                          <a:cs typeface="Arial MT"/>
                        </a:rPr>
                        <a:t>145.31</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70"/>
                        </a:spcBef>
                      </a:pPr>
                      <a:r>
                        <a:rPr dirty="0" sz="1000" spc="-10">
                          <a:latin typeface="Arial MT"/>
                          <a:cs typeface="Arial MT"/>
                        </a:rPr>
                        <a:t>142.95</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70"/>
                        </a:spcBef>
                      </a:pPr>
                      <a:r>
                        <a:rPr dirty="0" sz="1000" spc="-10">
                          <a:latin typeface="Arial MT"/>
                          <a:cs typeface="Arial MT"/>
                        </a:rPr>
                        <a:t>129.76</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70"/>
                        </a:spcBef>
                      </a:pPr>
                      <a:r>
                        <a:rPr dirty="0" sz="1000" spc="-10">
                          <a:latin typeface="Arial MT"/>
                          <a:cs typeface="Arial MT"/>
                        </a:rPr>
                        <a:t>126.75</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70"/>
                        </a:spcBef>
                      </a:pPr>
                      <a:r>
                        <a:rPr dirty="0" sz="1000" spc="-10">
                          <a:latin typeface="Arial MT"/>
                          <a:cs typeface="Arial MT"/>
                        </a:rPr>
                        <a:t>144.05</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70"/>
                        </a:spcBef>
                      </a:pPr>
                      <a:r>
                        <a:rPr dirty="0" sz="1000" spc="-10">
                          <a:latin typeface="Arial MT"/>
                          <a:cs typeface="Arial MT"/>
                        </a:rPr>
                        <a:t>140.81</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70"/>
                        </a:spcBef>
                      </a:pPr>
                      <a:r>
                        <a:rPr dirty="0" sz="1000" spc="-10">
                          <a:latin typeface="Arial MT"/>
                          <a:cs typeface="Arial MT"/>
                        </a:rPr>
                        <a:t>146.54</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70"/>
                        </a:spcBef>
                      </a:pPr>
                      <a:r>
                        <a:rPr dirty="0" sz="1000" spc="-10">
                          <a:latin typeface="Arial MT"/>
                          <a:cs typeface="Arial MT"/>
                        </a:rPr>
                        <a:t>145.33</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70"/>
                        </a:spcBef>
                      </a:pPr>
                      <a:r>
                        <a:rPr dirty="0" sz="1000" spc="-10">
                          <a:latin typeface="Arial MT"/>
                          <a:cs typeface="Arial MT"/>
                        </a:rPr>
                        <a:t>144.14</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r>
              <a:tr h="304800">
                <a:tc>
                  <a:txBody>
                    <a:bodyPr/>
                    <a:lstStyle/>
                    <a:p>
                      <a:pPr marL="80010">
                        <a:lnSpc>
                          <a:spcPts val="1160"/>
                        </a:lnSpc>
                      </a:pPr>
                      <a:r>
                        <a:rPr dirty="0" sz="1000" spc="-15" b="1">
                          <a:solidFill>
                            <a:srgbClr val="FFFFFF"/>
                          </a:solidFill>
                          <a:latin typeface="Microsoft YaHei"/>
                          <a:cs typeface="Microsoft YaHei"/>
                        </a:rPr>
                        <a:t>最大覆盖</a:t>
                      </a:r>
                      <a:endParaRPr sz="1000">
                        <a:latin typeface="Microsoft YaHei"/>
                        <a:cs typeface="Microsoft YaHei"/>
                      </a:endParaRPr>
                    </a:p>
                    <a:p>
                      <a:pPr marL="72390">
                        <a:lnSpc>
                          <a:spcPts val="1135"/>
                        </a:lnSpc>
                        <a:spcBef>
                          <a:spcPts val="5"/>
                        </a:spcBef>
                      </a:pPr>
                      <a:r>
                        <a:rPr dirty="0" sz="1000" b="1">
                          <a:solidFill>
                            <a:srgbClr val="FFFFFF"/>
                          </a:solidFill>
                          <a:latin typeface="Microsoft YaHei"/>
                          <a:cs typeface="Microsoft YaHei"/>
                        </a:rPr>
                        <a:t>距离</a:t>
                      </a:r>
                      <a:r>
                        <a:rPr dirty="0" sz="1000" spc="-20" b="1">
                          <a:solidFill>
                            <a:srgbClr val="FFFFFF"/>
                          </a:solidFill>
                          <a:latin typeface="Arial"/>
                          <a:cs typeface="Arial"/>
                        </a:rPr>
                        <a:t>[km]</a:t>
                      </a:r>
                      <a:endParaRPr sz="1000">
                        <a:latin typeface="Arial"/>
                        <a:cs typeface="Arial"/>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c>
                  <a:txBody>
                    <a:bodyPr/>
                    <a:lstStyle/>
                    <a:p>
                      <a:pPr algn="ctr">
                        <a:lnSpc>
                          <a:spcPct val="100000"/>
                        </a:lnSpc>
                        <a:spcBef>
                          <a:spcPts val="570"/>
                        </a:spcBef>
                      </a:pPr>
                      <a:r>
                        <a:rPr dirty="0" sz="1000" spc="-20">
                          <a:latin typeface="Arial MT"/>
                          <a:cs typeface="Arial MT"/>
                        </a:rPr>
                        <a:t>0.43</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gn="ctr">
                        <a:lnSpc>
                          <a:spcPct val="100000"/>
                        </a:lnSpc>
                        <a:spcBef>
                          <a:spcPts val="570"/>
                        </a:spcBef>
                      </a:pPr>
                      <a:r>
                        <a:rPr dirty="0" sz="1000" spc="-20">
                          <a:latin typeface="Arial MT"/>
                          <a:cs typeface="Arial MT"/>
                        </a:rPr>
                        <a:t>1.15</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570"/>
                        </a:spcBef>
                      </a:pPr>
                      <a:r>
                        <a:rPr dirty="0" sz="1000" spc="-20">
                          <a:latin typeface="Arial MT"/>
                          <a:cs typeface="Arial MT"/>
                        </a:rPr>
                        <a:t>1.09</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570"/>
                        </a:spcBef>
                      </a:pPr>
                      <a:r>
                        <a:rPr dirty="0" sz="1000" spc="-20">
                          <a:latin typeface="Arial MT"/>
                          <a:cs typeface="Arial MT"/>
                        </a:rPr>
                        <a:t>0.93</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70"/>
                        </a:spcBef>
                      </a:pPr>
                      <a:r>
                        <a:rPr dirty="0" sz="1000" spc="-20">
                          <a:latin typeface="Arial MT"/>
                          <a:cs typeface="Arial MT"/>
                        </a:rPr>
                        <a:t>0.39</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gn="ctr">
                        <a:lnSpc>
                          <a:spcPct val="100000"/>
                        </a:lnSpc>
                        <a:spcBef>
                          <a:spcPts val="570"/>
                        </a:spcBef>
                      </a:pPr>
                      <a:r>
                        <a:rPr dirty="0" sz="1000" spc="-20">
                          <a:latin typeface="Arial MT"/>
                          <a:cs typeface="Arial MT"/>
                        </a:rPr>
                        <a:t>0.32</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gn="ctr">
                        <a:lnSpc>
                          <a:spcPct val="100000"/>
                        </a:lnSpc>
                        <a:spcBef>
                          <a:spcPts val="570"/>
                        </a:spcBef>
                      </a:pPr>
                      <a:r>
                        <a:rPr dirty="0" sz="1000" spc="-20">
                          <a:latin typeface="Arial MT"/>
                          <a:cs typeface="Arial MT"/>
                        </a:rPr>
                        <a:t>1.00</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570"/>
                        </a:spcBef>
                      </a:pPr>
                      <a:r>
                        <a:rPr dirty="0" sz="1000" spc="-20">
                          <a:latin typeface="Arial MT"/>
                          <a:cs typeface="Arial MT"/>
                        </a:rPr>
                        <a:t>0.81</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570"/>
                        </a:spcBef>
                      </a:pPr>
                      <a:r>
                        <a:rPr dirty="0" sz="1000" spc="-20">
                          <a:latin typeface="Arial MT"/>
                          <a:cs typeface="Arial MT"/>
                        </a:rPr>
                        <a:t>1.18</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570"/>
                        </a:spcBef>
                      </a:pPr>
                      <a:r>
                        <a:rPr dirty="0" sz="1000" spc="-20">
                          <a:latin typeface="Arial MT"/>
                          <a:cs typeface="Arial MT"/>
                        </a:rPr>
                        <a:t>1.09</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570"/>
                        </a:spcBef>
                      </a:pPr>
                      <a:r>
                        <a:rPr dirty="0" sz="1000" spc="-20">
                          <a:latin typeface="Arial MT"/>
                          <a:cs typeface="Arial MT"/>
                        </a:rPr>
                        <a:t>1.01</a:t>
                      </a:r>
                      <a:endParaRPr sz="1000">
                        <a:latin typeface="Arial MT"/>
                        <a:cs typeface="Arial MT"/>
                      </a:endParaRPr>
                    </a:p>
                  </a:txBody>
                  <a:tcPr marL="0" marR="0" marB="0" marT="723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bl>
          </a:graphicData>
        </a:graphic>
      </p:graphicFrame>
      <p:sp>
        <p:nvSpPr>
          <p:cNvPr id="22" name="object 22" descr=""/>
          <p:cNvSpPr/>
          <p:nvPr/>
        </p:nvSpPr>
        <p:spPr>
          <a:xfrm>
            <a:off x="1573047" y="3316516"/>
            <a:ext cx="35560" cy="142240"/>
          </a:xfrm>
          <a:custGeom>
            <a:avLst/>
            <a:gdLst/>
            <a:ahLst/>
            <a:cxnLst/>
            <a:rect l="l" t="t" r="r" b="b"/>
            <a:pathLst>
              <a:path w="35559" h="142239">
                <a:moveTo>
                  <a:pt x="35052" y="0"/>
                </a:moveTo>
                <a:lnTo>
                  <a:pt x="0" y="0"/>
                </a:lnTo>
                <a:lnTo>
                  <a:pt x="0" y="141731"/>
                </a:lnTo>
                <a:lnTo>
                  <a:pt x="35052" y="141731"/>
                </a:lnTo>
                <a:lnTo>
                  <a:pt x="35052" y="0"/>
                </a:lnTo>
                <a:close/>
              </a:path>
            </a:pathLst>
          </a:custGeom>
          <a:solidFill>
            <a:srgbClr val="FFFF00"/>
          </a:solidFill>
        </p:spPr>
        <p:txBody>
          <a:bodyPr wrap="square" lIns="0" tIns="0" rIns="0" bIns="0" rtlCol="0"/>
          <a:lstStyle/>
          <a:p/>
        </p:txBody>
      </p:sp>
      <p:sp>
        <p:nvSpPr>
          <p:cNvPr id="23" name="object 23" descr=""/>
          <p:cNvSpPr txBox="1"/>
          <p:nvPr/>
        </p:nvSpPr>
        <p:spPr>
          <a:xfrm>
            <a:off x="419026" y="2186889"/>
            <a:ext cx="3155315" cy="269875"/>
          </a:xfrm>
          <a:prstGeom prst="rect">
            <a:avLst/>
          </a:prstGeom>
        </p:spPr>
        <p:txBody>
          <a:bodyPr wrap="square" lIns="0" tIns="12700" rIns="0" bIns="0" rtlCol="0" vert="horz">
            <a:spAutoFit/>
          </a:bodyPr>
          <a:lstStyle/>
          <a:p>
            <a:pPr marL="12700">
              <a:lnSpc>
                <a:spcPct val="100000"/>
              </a:lnSpc>
              <a:spcBef>
                <a:spcPts val="100"/>
              </a:spcBef>
            </a:pPr>
            <a:r>
              <a:rPr dirty="0" sz="1600">
                <a:latin typeface="Arial MT"/>
                <a:cs typeface="Arial MT"/>
              </a:rPr>
              <a:t>2.6GHz</a:t>
            </a:r>
            <a:r>
              <a:rPr dirty="0" sz="1600" spc="-5">
                <a:latin typeface="Arial MT"/>
                <a:cs typeface="Arial MT"/>
              </a:rPr>
              <a:t> </a:t>
            </a:r>
            <a:r>
              <a:rPr dirty="0" sz="1600" spc="-10">
                <a:latin typeface="Arial MT"/>
                <a:cs typeface="Arial MT"/>
              </a:rPr>
              <a:t>100MHz</a:t>
            </a:r>
            <a:r>
              <a:rPr dirty="0" sz="1600" spc="-10">
                <a:latin typeface="Microsoft YaHei"/>
                <a:cs typeface="Microsoft YaHei"/>
              </a:rPr>
              <a:t>带宽链路预算分析</a:t>
            </a:r>
            <a:endParaRPr sz="1600">
              <a:latin typeface="Microsoft YaHei"/>
              <a:cs typeface="Microsoft YaHe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5800" y="861772"/>
            <a:ext cx="7973781" cy="4061230"/>
          </a:xfrm>
          <a:prstGeom prst="rect">
            <a:avLst/>
          </a:prstGeom>
        </p:spPr>
      </p:pic>
      <p:sp>
        <p:nvSpPr>
          <p:cNvPr id="3" name="object 3"/>
          <p:cNvSpPr txBox="1">
            <a:spLocks noGrp="1"/>
          </p:cNvSpPr>
          <p:nvPr>
            <p:ph type="title"/>
          </p:nvPr>
        </p:nvSpPr>
        <p:spPr>
          <a:xfrm>
            <a:off x="2779706" y="123291"/>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50"/>
              <a:t>网络使用频段影响</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8503" y="122525"/>
            <a:ext cx="6642734" cy="513080"/>
          </a:xfrm>
          <a:prstGeom prst="rect"/>
        </p:spPr>
        <p:txBody>
          <a:bodyPr wrap="square" lIns="0" tIns="12065" rIns="0" bIns="0" rtlCol="0" vert="horz">
            <a:spAutoFit/>
          </a:bodyPr>
          <a:lstStyle/>
          <a:p>
            <a:pPr marL="12700">
              <a:lnSpc>
                <a:spcPct val="100000"/>
              </a:lnSpc>
              <a:spcBef>
                <a:spcPts val="95"/>
              </a:spcBef>
            </a:pPr>
            <a:r>
              <a:rPr dirty="0" spc="-40"/>
              <a:t>端到端多种技术手段提升</a:t>
            </a:r>
            <a:r>
              <a:rPr dirty="0" spc="-30">
                <a:latin typeface="Times New Roman"/>
                <a:cs typeface="Times New Roman"/>
              </a:rPr>
              <a:t>5G</a:t>
            </a:r>
            <a:r>
              <a:rPr dirty="0" spc="-45"/>
              <a:t>上行能力</a:t>
            </a:r>
          </a:p>
        </p:txBody>
      </p:sp>
      <p:sp>
        <p:nvSpPr>
          <p:cNvPr id="3" name="object 3" descr=""/>
          <p:cNvSpPr/>
          <p:nvPr/>
        </p:nvSpPr>
        <p:spPr>
          <a:xfrm>
            <a:off x="1052968" y="2129674"/>
            <a:ext cx="1503045" cy="536575"/>
          </a:xfrm>
          <a:custGeom>
            <a:avLst/>
            <a:gdLst/>
            <a:ahLst/>
            <a:cxnLst/>
            <a:rect l="l" t="t" r="r" b="b"/>
            <a:pathLst>
              <a:path w="1503045" h="536575">
                <a:moveTo>
                  <a:pt x="751243" y="0"/>
                </a:moveTo>
                <a:lnTo>
                  <a:pt x="682865" y="1095"/>
                </a:lnTo>
                <a:lnTo>
                  <a:pt x="616207" y="4318"/>
                </a:lnTo>
                <a:lnTo>
                  <a:pt x="551534" y="9575"/>
                </a:lnTo>
                <a:lnTo>
                  <a:pt x="489111" y="16770"/>
                </a:lnTo>
                <a:lnTo>
                  <a:pt x="429204" y="25809"/>
                </a:lnTo>
                <a:lnTo>
                  <a:pt x="372078" y="36598"/>
                </a:lnTo>
                <a:lnTo>
                  <a:pt x="317997" y="49041"/>
                </a:lnTo>
                <a:lnTo>
                  <a:pt x="267228" y="63045"/>
                </a:lnTo>
                <a:lnTo>
                  <a:pt x="220035" y="78514"/>
                </a:lnTo>
                <a:lnTo>
                  <a:pt x="176684" y="95354"/>
                </a:lnTo>
                <a:lnTo>
                  <a:pt x="137439" y="113470"/>
                </a:lnTo>
                <a:lnTo>
                  <a:pt x="102567" y="132768"/>
                </a:lnTo>
                <a:lnTo>
                  <a:pt x="47000" y="174530"/>
                </a:lnTo>
                <a:lnTo>
                  <a:pt x="12103" y="219884"/>
                </a:lnTo>
                <a:lnTo>
                  <a:pt x="0" y="268071"/>
                </a:lnTo>
                <a:lnTo>
                  <a:pt x="3070" y="292472"/>
                </a:lnTo>
                <a:lnTo>
                  <a:pt x="26835" y="339338"/>
                </a:lnTo>
                <a:lnTo>
                  <a:pt x="72332" y="382992"/>
                </a:lnTo>
                <a:lnTo>
                  <a:pt x="137439" y="422676"/>
                </a:lnTo>
                <a:lnTo>
                  <a:pt x="176684" y="440793"/>
                </a:lnTo>
                <a:lnTo>
                  <a:pt x="220035" y="457634"/>
                </a:lnTo>
                <a:lnTo>
                  <a:pt x="267228" y="473105"/>
                </a:lnTo>
                <a:lnTo>
                  <a:pt x="317997" y="487109"/>
                </a:lnTo>
                <a:lnTo>
                  <a:pt x="372078" y="499554"/>
                </a:lnTo>
                <a:lnTo>
                  <a:pt x="429204" y="510343"/>
                </a:lnTo>
                <a:lnTo>
                  <a:pt x="489111" y="519383"/>
                </a:lnTo>
                <a:lnTo>
                  <a:pt x="551534" y="526579"/>
                </a:lnTo>
                <a:lnTo>
                  <a:pt x="616207" y="531836"/>
                </a:lnTo>
                <a:lnTo>
                  <a:pt x="682865" y="535060"/>
                </a:lnTo>
                <a:lnTo>
                  <a:pt x="751243" y="536155"/>
                </a:lnTo>
                <a:lnTo>
                  <a:pt x="819620" y="535060"/>
                </a:lnTo>
                <a:lnTo>
                  <a:pt x="886278" y="531836"/>
                </a:lnTo>
                <a:lnTo>
                  <a:pt x="950951" y="526579"/>
                </a:lnTo>
                <a:lnTo>
                  <a:pt x="1013373" y="519383"/>
                </a:lnTo>
                <a:lnTo>
                  <a:pt x="1073279" y="510343"/>
                </a:lnTo>
                <a:lnTo>
                  <a:pt x="1130404" y="499554"/>
                </a:lnTo>
                <a:lnTo>
                  <a:pt x="1184484" y="487109"/>
                </a:lnTo>
                <a:lnTo>
                  <a:pt x="1235252" y="473105"/>
                </a:lnTo>
                <a:lnTo>
                  <a:pt x="1282444" y="457634"/>
                </a:lnTo>
                <a:lnTo>
                  <a:pt x="1325794" y="440793"/>
                </a:lnTo>
                <a:lnTo>
                  <a:pt x="1365037" y="422676"/>
                </a:lnTo>
                <a:lnTo>
                  <a:pt x="1399909" y="403377"/>
                </a:lnTo>
                <a:lnTo>
                  <a:pt x="1455474" y="361613"/>
                </a:lnTo>
                <a:lnTo>
                  <a:pt x="1490370" y="316259"/>
                </a:lnTo>
                <a:lnTo>
                  <a:pt x="1502473" y="268071"/>
                </a:lnTo>
                <a:lnTo>
                  <a:pt x="1499403" y="243670"/>
                </a:lnTo>
                <a:lnTo>
                  <a:pt x="1475639" y="196805"/>
                </a:lnTo>
                <a:lnTo>
                  <a:pt x="1430143" y="153153"/>
                </a:lnTo>
                <a:lnTo>
                  <a:pt x="1365037" y="113470"/>
                </a:lnTo>
                <a:lnTo>
                  <a:pt x="1325794" y="95354"/>
                </a:lnTo>
                <a:lnTo>
                  <a:pt x="1282444" y="78514"/>
                </a:lnTo>
                <a:lnTo>
                  <a:pt x="1235252" y="63045"/>
                </a:lnTo>
                <a:lnTo>
                  <a:pt x="1184484" y="49041"/>
                </a:lnTo>
                <a:lnTo>
                  <a:pt x="1130404" y="36598"/>
                </a:lnTo>
                <a:lnTo>
                  <a:pt x="1073279" y="25809"/>
                </a:lnTo>
                <a:lnTo>
                  <a:pt x="1013373" y="16770"/>
                </a:lnTo>
                <a:lnTo>
                  <a:pt x="950951" y="9575"/>
                </a:lnTo>
                <a:lnTo>
                  <a:pt x="886278" y="4318"/>
                </a:lnTo>
                <a:lnTo>
                  <a:pt x="819620" y="1095"/>
                </a:lnTo>
                <a:lnTo>
                  <a:pt x="751243" y="0"/>
                </a:lnTo>
                <a:close/>
              </a:path>
            </a:pathLst>
          </a:custGeom>
          <a:solidFill>
            <a:srgbClr val="CCCCFF"/>
          </a:solidFill>
        </p:spPr>
        <p:txBody>
          <a:bodyPr wrap="square" lIns="0" tIns="0" rIns="0" bIns="0" rtlCol="0"/>
          <a:lstStyle/>
          <a:p/>
        </p:txBody>
      </p:sp>
      <p:grpSp>
        <p:nvGrpSpPr>
          <p:cNvPr id="4" name="object 4" descr=""/>
          <p:cNvGrpSpPr/>
          <p:nvPr/>
        </p:nvGrpSpPr>
        <p:grpSpPr>
          <a:xfrm>
            <a:off x="445084" y="3482447"/>
            <a:ext cx="2112010" cy="1012190"/>
            <a:chOff x="445084" y="3482447"/>
            <a:chExt cx="2112010" cy="1012190"/>
          </a:xfrm>
        </p:grpSpPr>
        <p:sp>
          <p:nvSpPr>
            <p:cNvPr id="5" name="object 5" descr=""/>
            <p:cNvSpPr/>
            <p:nvPr/>
          </p:nvSpPr>
          <p:spPr>
            <a:xfrm>
              <a:off x="629560" y="4058101"/>
              <a:ext cx="1925955" cy="434975"/>
            </a:xfrm>
            <a:custGeom>
              <a:avLst/>
              <a:gdLst/>
              <a:ahLst/>
              <a:cxnLst/>
              <a:rect l="l" t="t" r="r" b="b"/>
              <a:pathLst>
                <a:path w="1925955" h="434975">
                  <a:moveTo>
                    <a:pt x="962939" y="0"/>
                  </a:moveTo>
                  <a:lnTo>
                    <a:pt x="891074" y="596"/>
                  </a:lnTo>
                  <a:lnTo>
                    <a:pt x="820644" y="2357"/>
                  </a:lnTo>
                  <a:lnTo>
                    <a:pt x="751834" y="5241"/>
                  </a:lnTo>
                  <a:lnTo>
                    <a:pt x="684831" y="9206"/>
                  </a:lnTo>
                  <a:lnTo>
                    <a:pt x="619821" y="14210"/>
                  </a:lnTo>
                  <a:lnTo>
                    <a:pt x="556990" y="20210"/>
                  </a:lnTo>
                  <a:lnTo>
                    <a:pt x="496524" y="27165"/>
                  </a:lnTo>
                  <a:lnTo>
                    <a:pt x="438610" y="35033"/>
                  </a:lnTo>
                  <a:lnTo>
                    <a:pt x="383434" y="43771"/>
                  </a:lnTo>
                  <a:lnTo>
                    <a:pt x="331182" y="53337"/>
                  </a:lnTo>
                  <a:lnTo>
                    <a:pt x="282040" y="63690"/>
                  </a:lnTo>
                  <a:lnTo>
                    <a:pt x="236194" y="74787"/>
                  </a:lnTo>
                  <a:lnTo>
                    <a:pt x="193831" y="86587"/>
                  </a:lnTo>
                  <a:lnTo>
                    <a:pt x="155136" y="99047"/>
                  </a:lnTo>
                  <a:lnTo>
                    <a:pt x="89498" y="125779"/>
                  </a:lnTo>
                  <a:lnTo>
                    <a:pt x="40770" y="154648"/>
                  </a:lnTo>
                  <a:lnTo>
                    <a:pt x="10440" y="185316"/>
                  </a:lnTo>
                  <a:lnTo>
                    <a:pt x="0" y="217449"/>
                  </a:lnTo>
                  <a:lnTo>
                    <a:pt x="2641" y="233677"/>
                  </a:lnTo>
                  <a:lnTo>
                    <a:pt x="40770" y="280250"/>
                  </a:lnTo>
                  <a:lnTo>
                    <a:pt x="89498" y="309119"/>
                  </a:lnTo>
                  <a:lnTo>
                    <a:pt x="155136" y="335851"/>
                  </a:lnTo>
                  <a:lnTo>
                    <a:pt x="193831" y="348311"/>
                  </a:lnTo>
                  <a:lnTo>
                    <a:pt x="236194" y="360111"/>
                  </a:lnTo>
                  <a:lnTo>
                    <a:pt x="282040" y="371208"/>
                  </a:lnTo>
                  <a:lnTo>
                    <a:pt x="331182" y="381561"/>
                  </a:lnTo>
                  <a:lnTo>
                    <a:pt x="383434" y="391127"/>
                  </a:lnTo>
                  <a:lnTo>
                    <a:pt x="438610" y="399865"/>
                  </a:lnTo>
                  <a:lnTo>
                    <a:pt x="496524" y="407733"/>
                  </a:lnTo>
                  <a:lnTo>
                    <a:pt x="556990" y="414688"/>
                  </a:lnTo>
                  <a:lnTo>
                    <a:pt x="619821" y="420688"/>
                  </a:lnTo>
                  <a:lnTo>
                    <a:pt x="684831" y="425691"/>
                  </a:lnTo>
                  <a:lnTo>
                    <a:pt x="751834" y="429656"/>
                  </a:lnTo>
                  <a:lnTo>
                    <a:pt x="820644" y="432541"/>
                  </a:lnTo>
                  <a:lnTo>
                    <a:pt x="891074" y="434302"/>
                  </a:lnTo>
                  <a:lnTo>
                    <a:pt x="962939" y="434898"/>
                  </a:lnTo>
                  <a:lnTo>
                    <a:pt x="1034805" y="434302"/>
                  </a:lnTo>
                  <a:lnTo>
                    <a:pt x="1105237" y="432541"/>
                  </a:lnTo>
                  <a:lnTo>
                    <a:pt x="1174048" y="429656"/>
                  </a:lnTo>
                  <a:lnTo>
                    <a:pt x="1241052" y="425691"/>
                  </a:lnTo>
                  <a:lnTo>
                    <a:pt x="1306062" y="420688"/>
                  </a:lnTo>
                  <a:lnTo>
                    <a:pt x="1368894" y="414688"/>
                  </a:lnTo>
                  <a:lnTo>
                    <a:pt x="1429359" y="407733"/>
                  </a:lnTo>
                  <a:lnTo>
                    <a:pt x="1487273" y="399865"/>
                  </a:lnTo>
                  <a:lnTo>
                    <a:pt x="1542449" y="391127"/>
                  </a:lnTo>
                  <a:lnTo>
                    <a:pt x="1594701" y="381561"/>
                  </a:lnTo>
                  <a:lnTo>
                    <a:pt x="1643843" y="371208"/>
                  </a:lnTo>
                  <a:lnTo>
                    <a:pt x="1689688" y="360111"/>
                  </a:lnTo>
                  <a:lnTo>
                    <a:pt x="1732051" y="348311"/>
                  </a:lnTo>
                  <a:lnTo>
                    <a:pt x="1770745" y="335851"/>
                  </a:lnTo>
                  <a:lnTo>
                    <a:pt x="1836382" y="309119"/>
                  </a:lnTo>
                  <a:lnTo>
                    <a:pt x="1885109" y="280250"/>
                  </a:lnTo>
                  <a:lnTo>
                    <a:pt x="1915438" y="249581"/>
                  </a:lnTo>
                  <a:lnTo>
                    <a:pt x="1925878" y="217449"/>
                  </a:lnTo>
                  <a:lnTo>
                    <a:pt x="1923237" y="201221"/>
                  </a:lnTo>
                  <a:lnTo>
                    <a:pt x="1885109" y="154648"/>
                  </a:lnTo>
                  <a:lnTo>
                    <a:pt x="1836382" y="125779"/>
                  </a:lnTo>
                  <a:lnTo>
                    <a:pt x="1770745" y="99047"/>
                  </a:lnTo>
                  <a:lnTo>
                    <a:pt x="1732051" y="86587"/>
                  </a:lnTo>
                  <a:lnTo>
                    <a:pt x="1689688" y="74787"/>
                  </a:lnTo>
                  <a:lnTo>
                    <a:pt x="1643843" y="63690"/>
                  </a:lnTo>
                  <a:lnTo>
                    <a:pt x="1594701" y="53337"/>
                  </a:lnTo>
                  <a:lnTo>
                    <a:pt x="1542449" y="43771"/>
                  </a:lnTo>
                  <a:lnTo>
                    <a:pt x="1487273" y="35033"/>
                  </a:lnTo>
                  <a:lnTo>
                    <a:pt x="1429359" y="27165"/>
                  </a:lnTo>
                  <a:lnTo>
                    <a:pt x="1368894" y="20210"/>
                  </a:lnTo>
                  <a:lnTo>
                    <a:pt x="1306062" y="14210"/>
                  </a:lnTo>
                  <a:lnTo>
                    <a:pt x="1241052" y="9206"/>
                  </a:lnTo>
                  <a:lnTo>
                    <a:pt x="1174048" y="5241"/>
                  </a:lnTo>
                  <a:lnTo>
                    <a:pt x="1105237" y="2357"/>
                  </a:lnTo>
                  <a:lnTo>
                    <a:pt x="1034805" y="596"/>
                  </a:lnTo>
                  <a:lnTo>
                    <a:pt x="962939" y="0"/>
                  </a:lnTo>
                  <a:close/>
                </a:path>
              </a:pathLst>
            </a:custGeom>
            <a:solidFill>
              <a:srgbClr val="DDFEFF"/>
            </a:solidFill>
          </p:spPr>
          <p:txBody>
            <a:bodyPr wrap="square" lIns="0" tIns="0" rIns="0" bIns="0" rtlCol="0"/>
            <a:lstStyle/>
            <a:p/>
          </p:txBody>
        </p:sp>
        <p:sp>
          <p:nvSpPr>
            <p:cNvPr id="6" name="object 6" descr=""/>
            <p:cNvSpPr/>
            <p:nvPr/>
          </p:nvSpPr>
          <p:spPr>
            <a:xfrm>
              <a:off x="629560" y="4058101"/>
              <a:ext cx="1925955" cy="434975"/>
            </a:xfrm>
            <a:custGeom>
              <a:avLst/>
              <a:gdLst/>
              <a:ahLst/>
              <a:cxnLst/>
              <a:rect l="l" t="t" r="r" b="b"/>
              <a:pathLst>
                <a:path w="1925955" h="434975">
                  <a:moveTo>
                    <a:pt x="0" y="217449"/>
                  </a:moveTo>
                  <a:lnTo>
                    <a:pt x="23212" y="169778"/>
                  </a:lnTo>
                  <a:lnTo>
                    <a:pt x="62927" y="139967"/>
                  </a:lnTo>
                  <a:lnTo>
                    <a:pt x="120297" y="112125"/>
                  </a:lnTo>
                  <a:lnTo>
                    <a:pt x="193831" y="86587"/>
                  </a:lnTo>
                  <a:lnTo>
                    <a:pt x="236194" y="74787"/>
                  </a:lnTo>
                  <a:lnTo>
                    <a:pt x="282040" y="63690"/>
                  </a:lnTo>
                  <a:lnTo>
                    <a:pt x="331182" y="53337"/>
                  </a:lnTo>
                  <a:lnTo>
                    <a:pt x="383434" y="43771"/>
                  </a:lnTo>
                  <a:lnTo>
                    <a:pt x="438610" y="35033"/>
                  </a:lnTo>
                  <a:lnTo>
                    <a:pt x="496524" y="27165"/>
                  </a:lnTo>
                  <a:lnTo>
                    <a:pt x="556990" y="20210"/>
                  </a:lnTo>
                  <a:lnTo>
                    <a:pt x="619821" y="14210"/>
                  </a:lnTo>
                  <a:lnTo>
                    <a:pt x="684831" y="9206"/>
                  </a:lnTo>
                  <a:lnTo>
                    <a:pt x="751834" y="5241"/>
                  </a:lnTo>
                  <a:lnTo>
                    <a:pt x="820644" y="2357"/>
                  </a:lnTo>
                  <a:lnTo>
                    <a:pt x="891074" y="596"/>
                  </a:lnTo>
                  <a:lnTo>
                    <a:pt x="962939" y="0"/>
                  </a:lnTo>
                  <a:lnTo>
                    <a:pt x="1034805" y="596"/>
                  </a:lnTo>
                  <a:lnTo>
                    <a:pt x="1105237" y="2357"/>
                  </a:lnTo>
                  <a:lnTo>
                    <a:pt x="1174048" y="5241"/>
                  </a:lnTo>
                  <a:lnTo>
                    <a:pt x="1241052" y="9206"/>
                  </a:lnTo>
                  <a:lnTo>
                    <a:pt x="1306062" y="14210"/>
                  </a:lnTo>
                  <a:lnTo>
                    <a:pt x="1368894" y="20210"/>
                  </a:lnTo>
                  <a:lnTo>
                    <a:pt x="1429359" y="27165"/>
                  </a:lnTo>
                  <a:lnTo>
                    <a:pt x="1487273" y="35033"/>
                  </a:lnTo>
                  <a:lnTo>
                    <a:pt x="1542449" y="43771"/>
                  </a:lnTo>
                  <a:lnTo>
                    <a:pt x="1594701" y="53337"/>
                  </a:lnTo>
                  <a:lnTo>
                    <a:pt x="1643843" y="63690"/>
                  </a:lnTo>
                  <a:lnTo>
                    <a:pt x="1689688" y="74787"/>
                  </a:lnTo>
                  <a:lnTo>
                    <a:pt x="1732051" y="86587"/>
                  </a:lnTo>
                  <a:lnTo>
                    <a:pt x="1770745" y="99047"/>
                  </a:lnTo>
                  <a:lnTo>
                    <a:pt x="1836382" y="125779"/>
                  </a:lnTo>
                  <a:lnTo>
                    <a:pt x="1885109" y="154648"/>
                  </a:lnTo>
                  <a:lnTo>
                    <a:pt x="1915438" y="185316"/>
                  </a:lnTo>
                  <a:lnTo>
                    <a:pt x="1925878" y="217449"/>
                  </a:lnTo>
                  <a:lnTo>
                    <a:pt x="1923237" y="233677"/>
                  </a:lnTo>
                  <a:lnTo>
                    <a:pt x="1915438" y="249581"/>
                  </a:lnTo>
                  <a:lnTo>
                    <a:pt x="1885109" y="280250"/>
                  </a:lnTo>
                  <a:lnTo>
                    <a:pt x="1836382" y="309119"/>
                  </a:lnTo>
                  <a:lnTo>
                    <a:pt x="1770745" y="335851"/>
                  </a:lnTo>
                  <a:lnTo>
                    <a:pt x="1732051" y="348311"/>
                  </a:lnTo>
                  <a:lnTo>
                    <a:pt x="1689688" y="360111"/>
                  </a:lnTo>
                  <a:lnTo>
                    <a:pt x="1643843" y="371208"/>
                  </a:lnTo>
                  <a:lnTo>
                    <a:pt x="1594701" y="381561"/>
                  </a:lnTo>
                  <a:lnTo>
                    <a:pt x="1542449" y="391127"/>
                  </a:lnTo>
                  <a:lnTo>
                    <a:pt x="1487273" y="399865"/>
                  </a:lnTo>
                  <a:lnTo>
                    <a:pt x="1429359" y="407733"/>
                  </a:lnTo>
                  <a:lnTo>
                    <a:pt x="1368894" y="414688"/>
                  </a:lnTo>
                  <a:lnTo>
                    <a:pt x="1306062" y="420688"/>
                  </a:lnTo>
                  <a:lnTo>
                    <a:pt x="1241052" y="425691"/>
                  </a:lnTo>
                  <a:lnTo>
                    <a:pt x="1174048" y="429656"/>
                  </a:lnTo>
                  <a:lnTo>
                    <a:pt x="1105237" y="432541"/>
                  </a:lnTo>
                  <a:lnTo>
                    <a:pt x="1034805" y="434302"/>
                  </a:lnTo>
                  <a:lnTo>
                    <a:pt x="962939" y="434898"/>
                  </a:lnTo>
                  <a:lnTo>
                    <a:pt x="891074" y="434302"/>
                  </a:lnTo>
                  <a:lnTo>
                    <a:pt x="820644" y="432541"/>
                  </a:lnTo>
                  <a:lnTo>
                    <a:pt x="751834" y="429656"/>
                  </a:lnTo>
                  <a:lnTo>
                    <a:pt x="684831" y="425691"/>
                  </a:lnTo>
                  <a:lnTo>
                    <a:pt x="619821" y="420688"/>
                  </a:lnTo>
                  <a:lnTo>
                    <a:pt x="556990" y="414688"/>
                  </a:lnTo>
                  <a:lnTo>
                    <a:pt x="496524" y="407733"/>
                  </a:lnTo>
                  <a:lnTo>
                    <a:pt x="438610" y="399865"/>
                  </a:lnTo>
                  <a:lnTo>
                    <a:pt x="383434" y="391127"/>
                  </a:lnTo>
                  <a:lnTo>
                    <a:pt x="331182" y="381561"/>
                  </a:lnTo>
                  <a:lnTo>
                    <a:pt x="282040" y="371208"/>
                  </a:lnTo>
                  <a:lnTo>
                    <a:pt x="236194" y="360111"/>
                  </a:lnTo>
                  <a:lnTo>
                    <a:pt x="193831" y="348311"/>
                  </a:lnTo>
                  <a:lnTo>
                    <a:pt x="155136" y="335851"/>
                  </a:lnTo>
                  <a:lnTo>
                    <a:pt x="89498" y="309119"/>
                  </a:lnTo>
                  <a:lnTo>
                    <a:pt x="40770" y="280250"/>
                  </a:lnTo>
                  <a:lnTo>
                    <a:pt x="10440" y="249581"/>
                  </a:lnTo>
                  <a:lnTo>
                    <a:pt x="0" y="217449"/>
                  </a:lnTo>
                  <a:close/>
                </a:path>
              </a:pathLst>
            </a:custGeom>
            <a:ln w="3175">
              <a:solidFill>
                <a:srgbClr val="DDFEFF"/>
              </a:solidFill>
            </a:ln>
          </p:spPr>
          <p:txBody>
            <a:bodyPr wrap="square" lIns="0" tIns="0" rIns="0" bIns="0" rtlCol="0"/>
            <a:lstStyle/>
            <a:p/>
          </p:txBody>
        </p:sp>
        <p:pic>
          <p:nvPicPr>
            <p:cNvPr id="7" name="object 7"/>
            <p:cNvPicPr/>
            <p:nvPr/>
          </p:nvPicPr>
          <p:blipFill>
            <a:blip r:embed="rId2" cstate="print"/>
            <a:stretch>
              <a:fillRect/>
            </a:stretch>
          </p:blipFill>
          <p:spPr>
            <a:xfrm>
              <a:off x="445084" y="3482447"/>
              <a:ext cx="724437" cy="698164"/>
            </a:xfrm>
            <a:prstGeom prst="rect">
              <a:avLst/>
            </a:prstGeom>
          </p:spPr>
        </p:pic>
        <p:pic>
          <p:nvPicPr>
            <p:cNvPr id="8" name="object 8"/>
            <p:cNvPicPr/>
            <p:nvPr/>
          </p:nvPicPr>
          <p:blipFill>
            <a:blip r:embed="rId3" cstate="print"/>
            <a:stretch>
              <a:fillRect/>
            </a:stretch>
          </p:blipFill>
          <p:spPr>
            <a:xfrm>
              <a:off x="2205913" y="4076280"/>
              <a:ext cx="162130" cy="202514"/>
            </a:xfrm>
            <a:prstGeom prst="rect">
              <a:avLst/>
            </a:prstGeom>
          </p:spPr>
        </p:pic>
      </p:grpSp>
      <p:sp>
        <p:nvSpPr>
          <p:cNvPr id="9" name="object 9" descr=""/>
          <p:cNvSpPr txBox="1"/>
          <p:nvPr/>
        </p:nvSpPr>
        <p:spPr>
          <a:xfrm>
            <a:off x="52952" y="683457"/>
            <a:ext cx="2549525" cy="1076325"/>
          </a:xfrm>
          <a:prstGeom prst="rect">
            <a:avLst/>
          </a:prstGeom>
        </p:spPr>
        <p:txBody>
          <a:bodyPr wrap="square" lIns="0" tIns="117475" rIns="0" bIns="0" rtlCol="0" vert="horz">
            <a:spAutoFit/>
          </a:bodyPr>
          <a:lstStyle/>
          <a:p>
            <a:pPr marL="50800">
              <a:lnSpc>
                <a:spcPct val="100000"/>
              </a:lnSpc>
              <a:spcBef>
                <a:spcPts val="925"/>
              </a:spcBef>
            </a:pPr>
            <a:r>
              <a:rPr dirty="0" sz="1400" spc="-25" b="1">
                <a:solidFill>
                  <a:srgbClr val="C00000"/>
                </a:solidFill>
                <a:latin typeface="Microsoft YaHei"/>
                <a:cs typeface="Microsoft YaHei"/>
              </a:rPr>
              <a:t>终端：提升发射功率和端口数量</a:t>
            </a:r>
            <a:endParaRPr sz="1400">
              <a:latin typeface="Microsoft YaHei"/>
              <a:cs typeface="Microsoft YaHei"/>
            </a:endParaRPr>
          </a:p>
          <a:p>
            <a:pPr marL="268605" marR="572770" indent="-256540">
              <a:lnSpc>
                <a:spcPct val="100000"/>
              </a:lnSpc>
              <a:spcBef>
                <a:spcPts val="830"/>
              </a:spcBef>
              <a:buClr>
                <a:srgbClr val="0070C0"/>
              </a:buClr>
              <a:buFont typeface="Wingdings"/>
              <a:buChar char=""/>
              <a:tabLst>
                <a:tab pos="269875" algn="l"/>
              </a:tabLst>
            </a:pPr>
            <a:r>
              <a:rPr dirty="0" sz="1400" spc="-20" b="1">
                <a:latin typeface="Microsoft YaHei"/>
                <a:cs typeface="Microsoft YaHei"/>
              </a:rPr>
              <a:t>终端</a:t>
            </a:r>
            <a:r>
              <a:rPr dirty="0" sz="1400" spc="-20" b="1">
                <a:solidFill>
                  <a:srgbClr val="FF0000"/>
                </a:solidFill>
                <a:latin typeface="Microsoft YaHei"/>
                <a:cs typeface="Microsoft YaHei"/>
              </a:rPr>
              <a:t>发射功率</a:t>
            </a:r>
            <a:r>
              <a:rPr dirty="0" sz="1400" spc="-10" b="1">
                <a:latin typeface="Microsoft YaHei"/>
                <a:cs typeface="Microsoft YaHei"/>
              </a:rPr>
              <a:t>23dBm 	26dBm</a:t>
            </a:r>
            <a:r>
              <a:rPr dirty="0" sz="1400" spc="-10">
                <a:latin typeface="Microsoft YaHei"/>
                <a:cs typeface="Microsoft YaHei"/>
              </a:rPr>
              <a:t>：</a:t>
            </a:r>
            <a:endParaRPr sz="1400">
              <a:latin typeface="Microsoft YaHei"/>
              <a:cs typeface="Microsoft YaHei"/>
            </a:endParaRPr>
          </a:p>
          <a:p>
            <a:pPr marL="326390">
              <a:lnSpc>
                <a:spcPct val="100000"/>
              </a:lnSpc>
              <a:spcBef>
                <a:spcPts val="500"/>
              </a:spcBef>
              <a:tabLst>
                <a:tab pos="923290" algn="l"/>
              </a:tabLst>
            </a:pPr>
            <a:r>
              <a:rPr dirty="0" sz="900" spc="-50">
                <a:latin typeface="Microsoft YaHei"/>
                <a:cs typeface="Microsoft YaHei"/>
              </a:rPr>
              <a:t>上</a:t>
            </a:r>
            <a:r>
              <a:rPr dirty="0" sz="900">
                <a:latin typeface="Microsoft YaHei"/>
                <a:cs typeface="Microsoft YaHei"/>
              </a:rPr>
              <a:t>	</a:t>
            </a:r>
            <a:r>
              <a:rPr dirty="0" sz="900" spc="-50">
                <a:latin typeface="Microsoft YaHei"/>
                <a:cs typeface="Microsoft YaHei"/>
              </a:rPr>
              <a:t>B</a:t>
            </a:r>
            <a:endParaRPr sz="900">
              <a:latin typeface="Microsoft YaHei"/>
              <a:cs typeface="Microsoft YaHei"/>
            </a:endParaRPr>
          </a:p>
        </p:txBody>
      </p:sp>
      <p:sp>
        <p:nvSpPr>
          <p:cNvPr id="10" name="object 10" descr=""/>
          <p:cNvSpPr txBox="1"/>
          <p:nvPr/>
        </p:nvSpPr>
        <p:spPr>
          <a:xfrm>
            <a:off x="493896" y="1603211"/>
            <a:ext cx="483234" cy="151130"/>
          </a:xfrm>
          <a:prstGeom prst="rect">
            <a:avLst/>
          </a:prstGeom>
        </p:spPr>
        <p:txBody>
          <a:bodyPr wrap="square" lIns="0" tIns="6350" rIns="0" bIns="0" rtlCol="0" vert="horz">
            <a:spAutoFit/>
          </a:bodyPr>
          <a:lstStyle/>
          <a:p>
            <a:pPr>
              <a:lnSpc>
                <a:spcPct val="100000"/>
              </a:lnSpc>
              <a:spcBef>
                <a:spcPts val="50"/>
              </a:spcBef>
            </a:pPr>
            <a:r>
              <a:rPr dirty="0" sz="900">
                <a:latin typeface="Microsoft YaHei"/>
                <a:cs typeface="Microsoft YaHei"/>
              </a:rPr>
              <a:t>行提升</a:t>
            </a:r>
            <a:r>
              <a:rPr dirty="0" sz="900" spc="-25">
                <a:latin typeface="Microsoft YaHei"/>
                <a:cs typeface="Microsoft YaHei"/>
              </a:rPr>
              <a:t>3d</a:t>
            </a:r>
            <a:endParaRPr sz="900">
              <a:latin typeface="Microsoft YaHei"/>
              <a:cs typeface="Microsoft YaHei"/>
            </a:endParaRPr>
          </a:p>
        </p:txBody>
      </p:sp>
      <p:grpSp>
        <p:nvGrpSpPr>
          <p:cNvPr id="11" name="object 11" descr=""/>
          <p:cNvGrpSpPr/>
          <p:nvPr/>
        </p:nvGrpSpPr>
        <p:grpSpPr>
          <a:xfrm>
            <a:off x="445084" y="1600856"/>
            <a:ext cx="2120265" cy="1130300"/>
            <a:chOff x="445084" y="1600856"/>
            <a:chExt cx="2120265" cy="1130300"/>
          </a:xfrm>
        </p:grpSpPr>
        <p:pic>
          <p:nvPicPr>
            <p:cNvPr id="12" name="object 12"/>
            <p:cNvPicPr/>
            <p:nvPr/>
          </p:nvPicPr>
          <p:blipFill>
            <a:blip r:embed="rId4" cstate="print"/>
            <a:stretch>
              <a:fillRect/>
            </a:stretch>
          </p:blipFill>
          <p:spPr>
            <a:xfrm>
              <a:off x="445084" y="1730302"/>
              <a:ext cx="709783" cy="1000324"/>
            </a:xfrm>
            <a:prstGeom prst="rect">
              <a:avLst/>
            </a:prstGeom>
          </p:spPr>
        </p:pic>
        <p:sp>
          <p:nvSpPr>
            <p:cNvPr id="13" name="object 13" descr=""/>
            <p:cNvSpPr/>
            <p:nvPr/>
          </p:nvSpPr>
          <p:spPr>
            <a:xfrm>
              <a:off x="610628" y="1634718"/>
              <a:ext cx="355600" cy="313690"/>
            </a:xfrm>
            <a:custGeom>
              <a:avLst/>
              <a:gdLst/>
              <a:ahLst/>
              <a:cxnLst/>
              <a:rect l="l" t="t" r="r" b="b"/>
              <a:pathLst>
                <a:path w="355600" h="313689">
                  <a:moveTo>
                    <a:pt x="355269" y="0"/>
                  </a:moveTo>
                  <a:lnTo>
                    <a:pt x="0" y="0"/>
                  </a:lnTo>
                  <a:lnTo>
                    <a:pt x="0" y="313537"/>
                  </a:lnTo>
                  <a:lnTo>
                    <a:pt x="355269" y="313537"/>
                  </a:lnTo>
                  <a:lnTo>
                    <a:pt x="355269" y="0"/>
                  </a:lnTo>
                  <a:close/>
                </a:path>
              </a:pathLst>
            </a:custGeom>
            <a:solidFill>
              <a:srgbClr val="FFFFFF"/>
            </a:solidFill>
          </p:spPr>
          <p:txBody>
            <a:bodyPr wrap="square" lIns="0" tIns="0" rIns="0" bIns="0" rtlCol="0"/>
            <a:lstStyle/>
            <a:p/>
          </p:txBody>
        </p:sp>
        <p:sp>
          <p:nvSpPr>
            <p:cNvPr id="14" name="object 14" descr=""/>
            <p:cNvSpPr/>
            <p:nvPr/>
          </p:nvSpPr>
          <p:spPr>
            <a:xfrm>
              <a:off x="610626" y="1605621"/>
              <a:ext cx="355600" cy="29209"/>
            </a:xfrm>
            <a:custGeom>
              <a:avLst/>
              <a:gdLst/>
              <a:ahLst/>
              <a:cxnLst/>
              <a:rect l="l" t="t" r="r" b="b"/>
              <a:pathLst>
                <a:path w="355600" h="29210">
                  <a:moveTo>
                    <a:pt x="0" y="29095"/>
                  </a:moveTo>
                  <a:lnTo>
                    <a:pt x="355269" y="29095"/>
                  </a:lnTo>
                  <a:lnTo>
                    <a:pt x="355269" y="0"/>
                  </a:lnTo>
                  <a:lnTo>
                    <a:pt x="0" y="0"/>
                  </a:lnTo>
                  <a:lnTo>
                    <a:pt x="0" y="29095"/>
                  </a:lnTo>
                  <a:close/>
                </a:path>
              </a:pathLst>
            </a:custGeom>
            <a:solidFill>
              <a:srgbClr val="CECECE"/>
            </a:solidFill>
          </p:spPr>
          <p:txBody>
            <a:bodyPr wrap="square" lIns="0" tIns="0" rIns="0" bIns="0" rtlCol="0"/>
            <a:lstStyle/>
            <a:p/>
          </p:txBody>
        </p:sp>
        <p:sp>
          <p:nvSpPr>
            <p:cNvPr id="15" name="object 15" descr=""/>
            <p:cNvSpPr/>
            <p:nvPr/>
          </p:nvSpPr>
          <p:spPr>
            <a:xfrm>
              <a:off x="581530" y="1605619"/>
              <a:ext cx="29209" cy="342900"/>
            </a:xfrm>
            <a:custGeom>
              <a:avLst/>
              <a:gdLst/>
              <a:ahLst/>
              <a:cxnLst/>
              <a:rect l="l" t="t" r="r" b="b"/>
              <a:pathLst>
                <a:path w="29209" h="342900">
                  <a:moveTo>
                    <a:pt x="0" y="0"/>
                  </a:moveTo>
                  <a:lnTo>
                    <a:pt x="0" y="313537"/>
                  </a:lnTo>
                  <a:lnTo>
                    <a:pt x="29095" y="342633"/>
                  </a:lnTo>
                  <a:lnTo>
                    <a:pt x="29095" y="29095"/>
                  </a:lnTo>
                  <a:lnTo>
                    <a:pt x="0" y="0"/>
                  </a:lnTo>
                  <a:close/>
                </a:path>
              </a:pathLst>
            </a:custGeom>
            <a:solidFill>
              <a:srgbClr val="FFFFFF"/>
            </a:solidFill>
          </p:spPr>
          <p:txBody>
            <a:bodyPr wrap="square" lIns="0" tIns="0" rIns="0" bIns="0" rtlCol="0"/>
            <a:lstStyle/>
            <a:p/>
          </p:txBody>
        </p:sp>
        <p:sp>
          <p:nvSpPr>
            <p:cNvPr id="16" name="object 16" descr=""/>
            <p:cNvSpPr/>
            <p:nvPr/>
          </p:nvSpPr>
          <p:spPr>
            <a:xfrm>
              <a:off x="581530" y="1605619"/>
              <a:ext cx="384810" cy="342900"/>
            </a:xfrm>
            <a:custGeom>
              <a:avLst/>
              <a:gdLst/>
              <a:ahLst/>
              <a:cxnLst/>
              <a:rect l="l" t="t" r="r" b="b"/>
              <a:pathLst>
                <a:path w="384809" h="342900">
                  <a:moveTo>
                    <a:pt x="29095" y="342633"/>
                  </a:moveTo>
                  <a:lnTo>
                    <a:pt x="0" y="313537"/>
                  </a:lnTo>
                  <a:lnTo>
                    <a:pt x="0" y="0"/>
                  </a:lnTo>
                  <a:lnTo>
                    <a:pt x="355282" y="0"/>
                  </a:lnTo>
                  <a:lnTo>
                    <a:pt x="384365" y="29095"/>
                  </a:lnTo>
                  <a:lnTo>
                    <a:pt x="384365" y="342633"/>
                  </a:lnTo>
                  <a:lnTo>
                    <a:pt x="29095" y="342633"/>
                  </a:lnTo>
                  <a:close/>
                </a:path>
                <a:path w="384809" h="342900">
                  <a:moveTo>
                    <a:pt x="29095" y="342633"/>
                  </a:moveTo>
                  <a:lnTo>
                    <a:pt x="29095" y="29095"/>
                  </a:lnTo>
                  <a:lnTo>
                    <a:pt x="0" y="0"/>
                  </a:lnTo>
                </a:path>
                <a:path w="384809" h="342900">
                  <a:moveTo>
                    <a:pt x="29095" y="29095"/>
                  </a:moveTo>
                  <a:lnTo>
                    <a:pt x="384365" y="29095"/>
                  </a:lnTo>
                </a:path>
              </a:pathLst>
            </a:custGeom>
            <a:ln w="9525">
              <a:solidFill>
                <a:srgbClr val="89A4A7"/>
              </a:solidFill>
            </a:ln>
          </p:spPr>
          <p:txBody>
            <a:bodyPr wrap="square" lIns="0" tIns="0" rIns="0" bIns="0" rtlCol="0"/>
            <a:lstStyle/>
            <a:p/>
          </p:txBody>
        </p:sp>
        <p:sp>
          <p:nvSpPr>
            <p:cNvPr id="17" name="object 17" descr=""/>
            <p:cNvSpPr/>
            <p:nvPr/>
          </p:nvSpPr>
          <p:spPr>
            <a:xfrm>
              <a:off x="629561" y="1672248"/>
              <a:ext cx="348615" cy="1905"/>
            </a:xfrm>
            <a:custGeom>
              <a:avLst/>
              <a:gdLst/>
              <a:ahLst/>
              <a:cxnLst/>
              <a:rect l="l" t="t" r="r" b="b"/>
              <a:pathLst>
                <a:path w="348615" h="1905">
                  <a:moveTo>
                    <a:pt x="0" y="0"/>
                  </a:moveTo>
                  <a:lnTo>
                    <a:pt x="348348" y="1701"/>
                  </a:lnTo>
                </a:path>
              </a:pathLst>
            </a:custGeom>
            <a:ln w="28575">
              <a:solidFill>
                <a:srgbClr val="000000"/>
              </a:solidFill>
              <a:prstDash val="sysDot"/>
            </a:ln>
          </p:spPr>
          <p:txBody>
            <a:bodyPr wrap="square" lIns="0" tIns="0" rIns="0" bIns="0" rtlCol="0"/>
            <a:lstStyle/>
            <a:p/>
          </p:txBody>
        </p:sp>
        <p:sp>
          <p:nvSpPr>
            <p:cNvPr id="18" name="object 18" descr=""/>
            <p:cNvSpPr/>
            <p:nvPr/>
          </p:nvSpPr>
          <p:spPr>
            <a:xfrm>
              <a:off x="629561" y="1729351"/>
              <a:ext cx="348615" cy="1905"/>
            </a:xfrm>
            <a:custGeom>
              <a:avLst/>
              <a:gdLst/>
              <a:ahLst/>
              <a:cxnLst/>
              <a:rect l="l" t="t" r="r" b="b"/>
              <a:pathLst>
                <a:path w="348615" h="1905">
                  <a:moveTo>
                    <a:pt x="0" y="0"/>
                  </a:moveTo>
                  <a:lnTo>
                    <a:pt x="348348" y="1701"/>
                  </a:lnTo>
                </a:path>
              </a:pathLst>
            </a:custGeom>
            <a:ln w="28575">
              <a:solidFill>
                <a:srgbClr val="000000"/>
              </a:solidFill>
              <a:prstDash val="sysDot"/>
            </a:ln>
          </p:spPr>
          <p:txBody>
            <a:bodyPr wrap="square" lIns="0" tIns="0" rIns="0" bIns="0" rtlCol="0"/>
            <a:lstStyle/>
            <a:p/>
          </p:txBody>
        </p:sp>
        <p:sp>
          <p:nvSpPr>
            <p:cNvPr id="19" name="object 19" descr=""/>
            <p:cNvSpPr/>
            <p:nvPr/>
          </p:nvSpPr>
          <p:spPr>
            <a:xfrm>
              <a:off x="629561" y="1843559"/>
              <a:ext cx="348615" cy="1905"/>
            </a:xfrm>
            <a:custGeom>
              <a:avLst/>
              <a:gdLst/>
              <a:ahLst/>
              <a:cxnLst/>
              <a:rect l="l" t="t" r="r" b="b"/>
              <a:pathLst>
                <a:path w="348615" h="1905">
                  <a:moveTo>
                    <a:pt x="0" y="0"/>
                  </a:moveTo>
                  <a:lnTo>
                    <a:pt x="348348" y="1701"/>
                  </a:lnTo>
                </a:path>
              </a:pathLst>
            </a:custGeom>
            <a:ln w="28575">
              <a:solidFill>
                <a:srgbClr val="000000"/>
              </a:solidFill>
              <a:prstDash val="sysDot"/>
            </a:ln>
          </p:spPr>
          <p:txBody>
            <a:bodyPr wrap="square" lIns="0" tIns="0" rIns="0" bIns="0" rtlCol="0"/>
            <a:lstStyle/>
            <a:p/>
          </p:txBody>
        </p:sp>
        <p:sp>
          <p:nvSpPr>
            <p:cNvPr id="20" name="object 20" descr=""/>
            <p:cNvSpPr/>
            <p:nvPr/>
          </p:nvSpPr>
          <p:spPr>
            <a:xfrm>
              <a:off x="629561" y="1786455"/>
              <a:ext cx="348615" cy="1905"/>
            </a:xfrm>
            <a:custGeom>
              <a:avLst/>
              <a:gdLst/>
              <a:ahLst/>
              <a:cxnLst/>
              <a:rect l="l" t="t" r="r" b="b"/>
              <a:pathLst>
                <a:path w="348615" h="1905">
                  <a:moveTo>
                    <a:pt x="0" y="0"/>
                  </a:moveTo>
                  <a:lnTo>
                    <a:pt x="348348" y="1701"/>
                  </a:lnTo>
                </a:path>
              </a:pathLst>
            </a:custGeom>
            <a:ln w="28575">
              <a:solidFill>
                <a:srgbClr val="000000"/>
              </a:solidFill>
              <a:prstDash val="sysDot"/>
            </a:ln>
          </p:spPr>
          <p:txBody>
            <a:bodyPr wrap="square" lIns="0" tIns="0" rIns="0" bIns="0" rtlCol="0"/>
            <a:lstStyle/>
            <a:p/>
          </p:txBody>
        </p:sp>
        <p:sp>
          <p:nvSpPr>
            <p:cNvPr id="21" name="object 21" descr=""/>
            <p:cNvSpPr/>
            <p:nvPr/>
          </p:nvSpPr>
          <p:spPr>
            <a:xfrm>
              <a:off x="629561" y="1900665"/>
              <a:ext cx="348615" cy="1905"/>
            </a:xfrm>
            <a:custGeom>
              <a:avLst/>
              <a:gdLst/>
              <a:ahLst/>
              <a:cxnLst/>
              <a:rect l="l" t="t" r="r" b="b"/>
              <a:pathLst>
                <a:path w="348615" h="1905">
                  <a:moveTo>
                    <a:pt x="0" y="0"/>
                  </a:moveTo>
                  <a:lnTo>
                    <a:pt x="348348" y="1701"/>
                  </a:lnTo>
                </a:path>
              </a:pathLst>
            </a:custGeom>
            <a:ln w="28575">
              <a:solidFill>
                <a:srgbClr val="000000"/>
              </a:solidFill>
              <a:prstDash val="sysDot"/>
            </a:ln>
          </p:spPr>
          <p:txBody>
            <a:bodyPr wrap="square" lIns="0" tIns="0" rIns="0" bIns="0" rtlCol="0"/>
            <a:lstStyle/>
            <a:p/>
          </p:txBody>
        </p:sp>
        <p:sp>
          <p:nvSpPr>
            <p:cNvPr id="22" name="object 22" descr=""/>
            <p:cNvSpPr/>
            <p:nvPr/>
          </p:nvSpPr>
          <p:spPr>
            <a:xfrm>
              <a:off x="2555443" y="2341277"/>
              <a:ext cx="0" cy="349250"/>
            </a:xfrm>
            <a:custGeom>
              <a:avLst/>
              <a:gdLst/>
              <a:ahLst/>
              <a:cxnLst/>
              <a:rect l="l" t="t" r="r" b="b"/>
              <a:pathLst>
                <a:path w="0" h="349250">
                  <a:moveTo>
                    <a:pt x="0" y="0"/>
                  </a:moveTo>
                  <a:lnTo>
                    <a:pt x="0" y="348843"/>
                  </a:lnTo>
                </a:path>
              </a:pathLst>
            </a:custGeom>
            <a:ln w="19050">
              <a:solidFill>
                <a:srgbClr val="0000FF"/>
              </a:solidFill>
            </a:ln>
          </p:spPr>
          <p:txBody>
            <a:bodyPr wrap="square" lIns="0" tIns="0" rIns="0" bIns="0" rtlCol="0"/>
            <a:lstStyle/>
            <a:p/>
          </p:txBody>
        </p:sp>
        <p:sp>
          <p:nvSpPr>
            <p:cNvPr id="23" name="object 23" descr=""/>
            <p:cNvSpPr/>
            <p:nvPr/>
          </p:nvSpPr>
          <p:spPr>
            <a:xfrm>
              <a:off x="1044784" y="2173491"/>
              <a:ext cx="1106805" cy="457834"/>
            </a:xfrm>
            <a:custGeom>
              <a:avLst/>
              <a:gdLst/>
              <a:ahLst/>
              <a:cxnLst/>
              <a:rect l="l" t="t" r="r" b="b"/>
              <a:pathLst>
                <a:path w="1106805" h="457835">
                  <a:moveTo>
                    <a:pt x="553186" y="0"/>
                  </a:moveTo>
                  <a:lnTo>
                    <a:pt x="488674" y="1538"/>
                  </a:lnTo>
                  <a:lnTo>
                    <a:pt x="426347" y="6039"/>
                  </a:lnTo>
                  <a:lnTo>
                    <a:pt x="366621" y="13330"/>
                  </a:lnTo>
                  <a:lnTo>
                    <a:pt x="309911" y="23241"/>
                  </a:lnTo>
                  <a:lnTo>
                    <a:pt x="256632" y="35599"/>
                  </a:lnTo>
                  <a:lnTo>
                    <a:pt x="207198" y="50234"/>
                  </a:lnTo>
                  <a:lnTo>
                    <a:pt x="162026" y="66973"/>
                  </a:lnTo>
                  <a:lnTo>
                    <a:pt x="121530" y="85645"/>
                  </a:lnTo>
                  <a:lnTo>
                    <a:pt x="86125" y="106079"/>
                  </a:lnTo>
                  <a:lnTo>
                    <a:pt x="32250" y="151544"/>
                  </a:lnTo>
                  <a:lnTo>
                    <a:pt x="3721" y="201996"/>
                  </a:lnTo>
                  <a:lnTo>
                    <a:pt x="0" y="228663"/>
                  </a:lnTo>
                  <a:lnTo>
                    <a:pt x="3721" y="255330"/>
                  </a:lnTo>
                  <a:lnTo>
                    <a:pt x="32250" y="305782"/>
                  </a:lnTo>
                  <a:lnTo>
                    <a:pt x="86125" y="351247"/>
                  </a:lnTo>
                  <a:lnTo>
                    <a:pt x="121530" y="371681"/>
                  </a:lnTo>
                  <a:lnTo>
                    <a:pt x="162026" y="390353"/>
                  </a:lnTo>
                  <a:lnTo>
                    <a:pt x="207198" y="407092"/>
                  </a:lnTo>
                  <a:lnTo>
                    <a:pt x="256632" y="421727"/>
                  </a:lnTo>
                  <a:lnTo>
                    <a:pt x="309911" y="434085"/>
                  </a:lnTo>
                  <a:lnTo>
                    <a:pt x="366621" y="443996"/>
                  </a:lnTo>
                  <a:lnTo>
                    <a:pt x="426347" y="451287"/>
                  </a:lnTo>
                  <a:lnTo>
                    <a:pt x="488674" y="455788"/>
                  </a:lnTo>
                  <a:lnTo>
                    <a:pt x="553186" y="457326"/>
                  </a:lnTo>
                  <a:lnTo>
                    <a:pt x="617698" y="455788"/>
                  </a:lnTo>
                  <a:lnTo>
                    <a:pt x="680025" y="451287"/>
                  </a:lnTo>
                  <a:lnTo>
                    <a:pt x="739751" y="443996"/>
                  </a:lnTo>
                  <a:lnTo>
                    <a:pt x="796461" y="434085"/>
                  </a:lnTo>
                  <a:lnTo>
                    <a:pt x="849741" y="421727"/>
                  </a:lnTo>
                  <a:lnTo>
                    <a:pt x="899174" y="407092"/>
                  </a:lnTo>
                  <a:lnTo>
                    <a:pt x="944346" y="390353"/>
                  </a:lnTo>
                  <a:lnTo>
                    <a:pt x="984842" y="371681"/>
                  </a:lnTo>
                  <a:lnTo>
                    <a:pt x="1020247" y="351247"/>
                  </a:lnTo>
                  <a:lnTo>
                    <a:pt x="1074122" y="305782"/>
                  </a:lnTo>
                  <a:lnTo>
                    <a:pt x="1102651" y="255330"/>
                  </a:lnTo>
                  <a:lnTo>
                    <a:pt x="1106373" y="228663"/>
                  </a:lnTo>
                  <a:lnTo>
                    <a:pt x="1102651" y="201996"/>
                  </a:lnTo>
                  <a:lnTo>
                    <a:pt x="1074122" y="151544"/>
                  </a:lnTo>
                  <a:lnTo>
                    <a:pt x="1020247" y="106079"/>
                  </a:lnTo>
                  <a:lnTo>
                    <a:pt x="984842" y="85645"/>
                  </a:lnTo>
                  <a:lnTo>
                    <a:pt x="944346" y="66973"/>
                  </a:lnTo>
                  <a:lnTo>
                    <a:pt x="899174" y="50234"/>
                  </a:lnTo>
                  <a:lnTo>
                    <a:pt x="849741" y="35599"/>
                  </a:lnTo>
                  <a:lnTo>
                    <a:pt x="796461" y="23241"/>
                  </a:lnTo>
                  <a:lnTo>
                    <a:pt x="739751" y="13330"/>
                  </a:lnTo>
                  <a:lnTo>
                    <a:pt x="680025" y="6039"/>
                  </a:lnTo>
                  <a:lnTo>
                    <a:pt x="617698" y="1538"/>
                  </a:lnTo>
                  <a:lnTo>
                    <a:pt x="553186" y="0"/>
                  </a:lnTo>
                  <a:close/>
                </a:path>
              </a:pathLst>
            </a:custGeom>
            <a:solidFill>
              <a:srgbClr val="DDFEFF"/>
            </a:solidFill>
          </p:spPr>
          <p:txBody>
            <a:bodyPr wrap="square" lIns="0" tIns="0" rIns="0" bIns="0" rtlCol="0"/>
            <a:lstStyle/>
            <a:p/>
          </p:txBody>
        </p:sp>
        <p:sp>
          <p:nvSpPr>
            <p:cNvPr id="24" name="object 24" descr=""/>
            <p:cNvSpPr/>
            <p:nvPr/>
          </p:nvSpPr>
          <p:spPr>
            <a:xfrm>
              <a:off x="2182722" y="2554674"/>
              <a:ext cx="325120" cy="0"/>
            </a:xfrm>
            <a:custGeom>
              <a:avLst/>
              <a:gdLst/>
              <a:ahLst/>
              <a:cxnLst/>
              <a:rect l="l" t="t" r="r" b="b"/>
              <a:pathLst>
                <a:path w="325119" h="0">
                  <a:moveTo>
                    <a:pt x="0" y="0"/>
                  </a:moveTo>
                  <a:lnTo>
                    <a:pt x="324904" y="0"/>
                  </a:lnTo>
                </a:path>
              </a:pathLst>
            </a:custGeom>
            <a:ln w="28575">
              <a:solidFill>
                <a:srgbClr val="0065B0"/>
              </a:solidFill>
            </a:ln>
          </p:spPr>
          <p:txBody>
            <a:bodyPr wrap="square" lIns="0" tIns="0" rIns="0" bIns="0" rtlCol="0"/>
            <a:lstStyle/>
            <a:p/>
          </p:txBody>
        </p:sp>
        <p:sp>
          <p:nvSpPr>
            <p:cNvPr id="25" name="object 25" descr=""/>
            <p:cNvSpPr/>
            <p:nvPr/>
          </p:nvSpPr>
          <p:spPr>
            <a:xfrm>
              <a:off x="2421901" y="2504663"/>
              <a:ext cx="85725" cy="100330"/>
            </a:xfrm>
            <a:custGeom>
              <a:avLst/>
              <a:gdLst/>
              <a:ahLst/>
              <a:cxnLst/>
              <a:rect l="l" t="t" r="r" b="b"/>
              <a:pathLst>
                <a:path w="85725" h="100330">
                  <a:moveTo>
                    <a:pt x="0" y="0"/>
                  </a:moveTo>
                  <a:lnTo>
                    <a:pt x="85725" y="50012"/>
                  </a:lnTo>
                  <a:lnTo>
                    <a:pt x="0" y="100012"/>
                  </a:lnTo>
                </a:path>
              </a:pathLst>
            </a:custGeom>
            <a:ln w="28575">
              <a:solidFill>
                <a:srgbClr val="0065B0"/>
              </a:solidFill>
            </a:ln>
          </p:spPr>
          <p:txBody>
            <a:bodyPr wrap="square" lIns="0" tIns="0" rIns="0" bIns="0" rtlCol="0"/>
            <a:lstStyle/>
            <a:p/>
          </p:txBody>
        </p:sp>
        <p:sp>
          <p:nvSpPr>
            <p:cNvPr id="26" name="object 26" descr=""/>
            <p:cNvSpPr/>
            <p:nvPr/>
          </p:nvSpPr>
          <p:spPr>
            <a:xfrm>
              <a:off x="2182724" y="2504663"/>
              <a:ext cx="85725" cy="100330"/>
            </a:xfrm>
            <a:custGeom>
              <a:avLst/>
              <a:gdLst/>
              <a:ahLst/>
              <a:cxnLst/>
              <a:rect l="l" t="t" r="r" b="b"/>
              <a:pathLst>
                <a:path w="85725" h="100330">
                  <a:moveTo>
                    <a:pt x="85725" y="100012"/>
                  </a:moveTo>
                  <a:lnTo>
                    <a:pt x="0" y="50012"/>
                  </a:lnTo>
                  <a:lnTo>
                    <a:pt x="85725" y="0"/>
                  </a:lnTo>
                </a:path>
              </a:pathLst>
            </a:custGeom>
            <a:ln w="28575">
              <a:solidFill>
                <a:srgbClr val="0065B0"/>
              </a:solidFill>
            </a:ln>
          </p:spPr>
          <p:txBody>
            <a:bodyPr wrap="square" lIns="0" tIns="0" rIns="0" bIns="0" rtlCol="0"/>
            <a:lstStyle/>
            <a:p/>
          </p:txBody>
        </p:sp>
      </p:grpSp>
      <p:sp>
        <p:nvSpPr>
          <p:cNvPr id="27" name="object 27" descr=""/>
          <p:cNvSpPr txBox="1"/>
          <p:nvPr/>
        </p:nvSpPr>
        <p:spPr>
          <a:xfrm>
            <a:off x="2233281" y="2574067"/>
            <a:ext cx="300355" cy="193040"/>
          </a:xfrm>
          <a:prstGeom prst="rect">
            <a:avLst/>
          </a:prstGeom>
        </p:spPr>
        <p:txBody>
          <a:bodyPr wrap="square" lIns="0" tIns="12065" rIns="0" bIns="0" rtlCol="0" vert="horz">
            <a:spAutoFit/>
          </a:bodyPr>
          <a:lstStyle/>
          <a:p>
            <a:pPr marL="12700">
              <a:lnSpc>
                <a:spcPct val="100000"/>
              </a:lnSpc>
              <a:spcBef>
                <a:spcPts val="95"/>
              </a:spcBef>
            </a:pPr>
            <a:r>
              <a:rPr dirty="0" sz="1100" spc="-25" b="1">
                <a:solidFill>
                  <a:srgbClr val="FF0000"/>
                </a:solidFill>
                <a:latin typeface="Microsoft YaHei"/>
                <a:cs typeface="Microsoft YaHei"/>
              </a:rPr>
              <a:t>3dB</a:t>
            </a:r>
            <a:endParaRPr sz="1100">
              <a:latin typeface="Microsoft YaHei"/>
              <a:cs typeface="Microsoft YaHei"/>
            </a:endParaRPr>
          </a:p>
        </p:txBody>
      </p:sp>
      <p:sp>
        <p:nvSpPr>
          <p:cNvPr id="28" name="object 28" descr=""/>
          <p:cNvSpPr/>
          <p:nvPr/>
        </p:nvSpPr>
        <p:spPr>
          <a:xfrm>
            <a:off x="2154433" y="2341276"/>
            <a:ext cx="0" cy="349250"/>
          </a:xfrm>
          <a:custGeom>
            <a:avLst/>
            <a:gdLst/>
            <a:ahLst/>
            <a:cxnLst/>
            <a:rect l="l" t="t" r="r" b="b"/>
            <a:pathLst>
              <a:path w="0" h="349250">
                <a:moveTo>
                  <a:pt x="0" y="0"/>
                </a:moveTo>
                <a:lnTo>
                  <a:pt x="0" y="348843"/>
                </a:lnTo>
              </a:path>
            </a:pathLst>
          </a:custGeom>
          <a:ln w="19050">
            <a:solidFill>
              <a:srgbClr val="0000FF"/>
            </a:solidFill>
          </a:ln>
        </p:spPr>
        <p:txBody>
          <a:bodyPr wrap="square" lIns="0" tIns="0" rIns="0" bIns="0" rtlCol="0"/>
          <a:lstStyle/>
          <a:p/>
        </p:txBody>
      </p:sp>
      <p:sp>
        <p:nvSpPr>
          <p:cNvPr id="29" name="object 29" descr=""/>
          <p:cNvSpPr txBox="1"/>
          <p:nvPr/>
        </p:nvSpPr>
        <p:spPr>
          <a:xfrm>
            <a:off x="37369" y="2946392"/>
            <a:ext cx="1529715" cy="386715"/>
          </a:xfrm>
          <a:prstGeom prst="rect">
            <a:avLst/>
          </a:prstGeom>
        </p:spPr>
        <p:txBody>
          <a:bodyPr wrap="square" lIns="0" tIns="43180" rIns="0" bIns="0" rtlCol="0" vert="horz">
            <a:spAutoFit/>
          </a:bodyPr>
          <a:lstStyle/>
          <a:p>
            <a:pPr marL="226695" indent="-213995">
              <a:lnSpc>
                <a:spcPct val="100000"/>
              </a:lnSpc>
              <a:spcBef>
                <a:spcPts val="340"/>
              </a:spcBef>
              <a:buClr>
                <a:srgbClr val="0070C0"/>
              </a:buClr>
              <a:buFont typeface="Wingdings"/>
              <a:buChar char=""/>
              <a:tabLst>
                <a:tab pos="226695" algn="l"/>
              </a:tabLst>
            </a:pPr>
            <a:r>
              <a:rPr dirty="0" sz="1100" spc="-20" b="1">
                <a:latin typeface="Microsoft YaHei"/>
                <a:cs typeface="Microsoft YaHei"/>
              </a:rPr>
              <a:t>终端</a:t>
            </a:r>
            <a:r>
              <a:rPr dirty="0" sz="1100" spc="-20" b="1">
                <a:solidFill>
                  <a:srgbClr val="FF0000"/>
                </a:solidFill>
                <a:latin typeface="Microsoft YaHei"/>
                <a:cs typeface="Microsoft YaHei"/>
              </a:rPr>
              <a:t>发射端口数量</a:t>
            </a:r>
            <a:r>
              <a:rPr dirty="0" sz="1100" spc="-25" b="1">
                <a:latin typeface="Microsoft YaHei"/>
                <a:cs typeface="Microsoft YaHei"/>
              </a:rPr>
              <a:t>1T</a:t>
            </a:r>
            <a:endParaRPr sz="1100">
              <a:latin typeface="Microsoft YaHei"/>
              <a:cs typeface="Microsoft YaHei"/>
            </a:endParaRPr>
          </a:p>
          <a:p>
            <a:pPr marL="218440">
              <a:lnSpc>
                <a:spcPct val="100000"/>
              </a:lnSpc>
              <a:spcBef>
                <a:spcPts val="200"/>
              </a:spcBef>
            </a:pPr>
            <a:r>
              <a:rPr dirty="0" sz="900" spc="-10">
                <a:latin typeface="Microsoft YaHei"/>
                <a:cs typeface="Microsoft YaHei"/>
              </a:rPr>
              <a:t>提升上行分集增益</a:t>
            </a:r>
            <a:endParaRPr sz="900">
              <a:latin typeface="Microsoft YaHei"/>
              <a:cs typeface="Microsoft YaHei"/>
            </a:endParaRPr>
          </a:p>
        </p:txBody>
      </p:sp>
      <p:sp>
        <p:nvSpPr>
          <p:cNvPr id="30" name="object 30" descr=""/>
          <p:cNvSpPr txBox="1"/>
          <p:nvPr/>
        </p:nvSpPr>
        <p:spPr>
          <a:xfrm>
            <a:off x="1872197" y="2977441"/>
            <a:ext cx="337820" cy="193040"/>
          </a:xfrm>
          <a:prstGeom prst="rect">
            <a:avLst/>
          </a:prstGeom>
        </p:spPr>
        <p:txBody>
          <a:bodyPr wrap="square" lIns="0" tIns="12065" rIns="0" bIns="0" rtlCol="0" vert="horz">
            <a:spAutoFit/>
          </a:bodyPr>
          <a:lstStyle/>
          <a:p>
            <a:pPr marL="12700">
              <a:lnSpc>
                <a:spcPct val="100000"/>
              </a:lnSpc>
              <a:spcBef>
                <a:spcPts val="95"/>
              </a:spcBef>
            </a:pPr>
            <a:r>
              <a:rPr dirty="0" sz="1100" spc="-25" b="1">
                <a:latin typeface="Microsoft YaHei"/>
                <a:cs typeface="Microsoft YaHei"/>
              </a:rPr>
              <a:t>2T：</a:t>
            </a:r>
            <a:endParaRPr sz="1100">
              <a:latin typeface="Microsoft YaHei"/>
              <a:cs typeface="Microsoft YaHei"/>
            </a:endParaRPr>
          </a:p>
        </p:txBody>
      </p:sp>
      <p:pic>
        <p:nvPicPr>
          <p:cNvPr id="31" name="object 31" descr=""/>
          <p:cNvPicPr/>
          <p:nvPr/>
        </p:nvPicPr>
        <p:blipFill>
          <a:blip r:embed="rId5" cstate="print"/>
          <a:stretch>
            <a:fillRect/>
          </a:stretch>
        </p:blipFill>
        <p:spPr>
          <a:xfrm>
            <a:off x="1534963" y="3022709"/>
            <a:ext cx="241427" cy="94653"/>
          </a:xfrm>
          <a:prstGeom prst="rect">
            <a:avLst/>
          </a:prstGeom>
        </p:spPr>
      </p:pic>
      <p:sp>
        <p:nvSpPr>
          <p:cNvPr id="32" name="object 32" descr=""/>
          <p:cNvSpPr txBox="1"/>
          <p:nvPr/>
        </p:nvSpPr>
        <p:spPr>
          <a:xfrm>
            <a:off x="3061707" y="730467"/>
            <a:ext cx="2448560" cy="780415"/>
          </a:xfrm>
          <a:prstGeom prst="rect">
            <a:avLst/>
          </a:prstGeom>
        </p:spPr>
        <p:txBody>
          <a:bodyPr wrap="square" lIns="0" tIns="76200" rIns="0" bIns="0" rtlCol="0" vert="horz">
            <a:spAutoFit/>
          </a:bodyPr>
          <a:lstStyle/>
          <a:p>
            <a:pPr marL="157480">
              <a:lnSpc>
                <a:spcPct val="100000"/>
              </a:lnSpc>
              <a:spcBef>
                <a:spcPts val="600"/>
              </a:spcBef>
            </a:pPr>
            <a:r>
              <a:rPr dirty="0" sz="1400" spc="-20" b="1">
                <a:solidFill>
                  <a:srgbClr val="C00000"/>
                </a:solidFill>
                <a:latin typeface="Microsoft YaHei"/>
                <a:cs typeface="Microsoft YaHei"/>
              </a:rPr>
              <a:t>5G</a:t>
            </a:r>
            <a:r>
              <a:rPr dirty="0" sz="1400" spc="-35" b="1">
                <a:solidFill>
                  <a:srgbClr val="C00000"/>
                </a:solidFill>
                <a:latin typeface="Microsoft YaHei"/>
                <a:cs typeface="Microsoft YaHei"/>
              </a:rPr>
              <a:t>网络特性</a:t>
            </a:r>
            <a:endParaRPr sz="1400">
              <a:latin typeface="Microsoft YaHei"/>
              <a:cs typeface="Microsoft YaHei"/>
            </a:endParaRPr>
          </a:p>
          <a:p>
            <a:pPr marL="269240" indent="-256540">
              <a:lnSpc>
                <a:spcPct val="100000"/>
              </a:lnSpc>
              <a:spcBef>
                <a:spcPts val="500"/>
              </a:spcBef>
              <a:buClr>
                <a:srgbClr val="0070C0"/>
              </a:buClr>
              <a:buFont typeface="Wingdings"/>
              <a:buChar char=""/>
              <a:tabLst>
                <a:tab pos="269240" algn="l"/>
              </a:tabLst>
            </a:pPr>
            <a:r>
              <a:rPr dirty="0" sz="1400" spc="-25" b="1">
                <a:latin typeface="Microsoft YaHei"/>
                <a:cs typeface="Microsoft YaHei"/>
              </a:rPr>
              <a:t>上下行时隙配比：</a:t>
            </a:r>
            <a:endParaRPr sz="1400">
              <a:latin typeface="Microsoft YaHei"/>
              <a:cs typeface="Microsoft YaHei"/>
            </a:endParaRPr>
          </a:p>
          <a:p>
            <a:pPr marL="378460">
              <a:lnSpc>
                <a:spcPct val="100000"/>
              </a:lnSpc>
              <a:spcBef>
                <a:spcPts val="500"/>
              </a:spcBef>
            </a:pPr>
            <a:r>
              <a:rPr dirty="0" sz="900" spc="-5">
                <a:latin typeface="Microsoft YaHei"/>
                <a:cs typeface="Microsoft YaHei"/>
              </a:rPr>
              <a:t>上下行时隙比例不同影响覆盖能力和速率</a:t>
            </a:r>
            <a:endParaRPr sz="900">
              <a:latin typeface="Microsoft YaHei"/>
              <a:cs typeface="Microsoft YaHei"/>
            </a:endParaRPr>
          </a:p>
        </p:txBody>
      </p:sp>
      <p:sp>
        <p:nvSpPr>
          <p:cNvPr id="33" name="object 33" descr=""/>
          <p:cNvSpPr txBox="1"/>
          <p:nvPr/>
        </p:nvSpPr>
        <p:spPr>
          <a:xfrm>
            <a:off x="6032036" y="699260"/>
            <a:ext cx="1990089" cy="728345"/>
          </a:xfrm>
          <a:prstGeom prst="rect">
            <a:avLst/>
          </a:prstGeom>
        </p:spPr>
        <p:txBody>
          <a:bodyPr wrap="square" lIns="0" tIns="101600" rIns="0" bIns="0" rtlCol="0" vert="horz">
            <a:spAutoFit/>
          </a:bodyPr>
          <a:lstStyle/>
          <a:p>
            <a:pPr marL="45720">
              <a:lnSpc>
                <a:spcPct val="100000"/>
              </a:lnSpc>
              <a:spcBef>
                <a:spcPts val="800"/>
              </a:spcBef>
            </a:pPr>
            <a:r>
              <a:rPr dirty="0" sz="1400" spc="-25" b="1">
                <a:solidFill>
                  <a:srgbClr val="C00000"/>
                </a:solidFill>
                <a:latin typeface="Microsoft YaHei"/>
                <a:cs typeface="Microsoft YaHei"/>
              </a:rPr>
              <a:t>存量频谱协同特性</a:t>
            </a:r>
            <a:endParaRPr sz="1400">
              <a:latin typeface="Microsoft YaHei"/>
              <a:cs typeface="Microsoft YaHei"/>
            </a:endParaRPr>
          </a:p>
          <a:p>
            <a:pPr marL="269875" indent="-257175">
              <a:lnSpc>
                <a:spcPct val="100000"/>
              </a:lnSpc>
              <a:spcBef>
                <a:spcPts val="555"/>
              </a:spcBef>
              <a:buClr>
                <a:srgbClr val="0070C0"/>
              </a:buClr>
              <a:buFont typeface="Wingdings"/>
              <a:buChar char=""/>
              <a:tabLst>
                <a:tab pos="269875" algn="l"/>
              </a:tabLst>
            </a:pPr>
            <a:r>
              <a:rPr dirty="0" sz="1100" spc="-10" b="1">
                <a:latin typeface="Microsoft YaHei"/>
                <a:cs typeface="Microsoft YaHei"/>
              </a:rPr>
              <a:t>CA</a:t>
            </a:r>
            <a:r>
              <a:rPr dirty="0" sz="1100" spc="-30" b="1">
                <a:latin typeface="Microsoft YaHei"/>
                <a:cs typeface="Microsoft YaHei"/>
              </a:rPr>
              <a:t>(载波聚合)：</a:t>
            </a:r>
            <a:endParaRPr sz="1100">
              <a:latin typeface="Microsoft YaHei"/>
              <a:cs typeface="Microsoft YaHei"/>
            </a:endParaRPr>
          </a:p>
          <a:p>
            <a:pPr marL="300355">
              <a:lnSpc>
                <a:spcPct val="100000"/>
              </a:lnSpc>
              <a:spcBef>
                <a:spcPts val="200"/>
              </a:spcBef>
            </a:pPr>
            <a:r>
              <a:rPr dirty="0" sz="900">
                <a:latin typeface="Microsoft YaHei"/>
                <a:cs typeface="Microsoft YaHei"/>
              </a:rPr>
              <a:t>共享</a:t>
            </a:r>
            <a:r>
              <a:rPr dirty="0" sz="900" spc="-10">
                <a:latin typeface="Microsoft YaHei"/>
                <a:cs typeface="Microsoft YaHei"/>
              </a:rPr>
              <a:t>4G</a:t>
            </a:r>
            <a:r>
              <a:rPr dirty="0" sz="900">
                <a:latin typeface="Microsoft YaHei"/>
                <a:cs typeface="Microsoft YaHei"/>
              </a:rPr>
              <a:t>上下行频谱改善</a:t>
            </a:r>
            <a:r>
              <a:rPr dirty="0" sz="900" spc="-10">
                <a:latin typeface="Microsoft YaHei"/>
                <a:cs typeface="Microsoft YaHei"/>
              </a:rPr>
              <a:t>5G</a:t>
            </a:r>
            <a:r>
              <a:rPr dirty="0" sz="900" spc="-20">
                <a:latin typeface="Microsoft YaHei"/>
                <a:cs typeface="Microsoft YaHei"/>
              </a:rPr>
              <a:t>上下行</a:t>
            </a:r>
            <a:endParaRPr sz="900">
              <a:latin typeface="Microsoft YaHei"/>
              <a:cs typeface="Microsoft YaHei"/>
            </a:endParaRPr>
          </a:p>
        </p:txBody>
      </p:sp>
      <p:sp>
        <p:nvSpPr>
          <p:cNvPr id="34" name="object 34" descr=""/>
          <p:cNvSpPr txBox="1"/>
          <p:nvPr/>
        </p:nvSpPr>
        <p:spPr>
          <a:xfrm>
            <a:off x="2152271" y="3866314"/>
            <a:ext cx="318770" cy="162560"/>
          </a:xfrm>
          <a:prstGeom prst="rect">
            <a:avLst/>
          </a:prstGeom>
        </p:spPr>
        <p:txBody>
          <a:bodyPr wrap="square" lIns="0" tIns="12700" rIns="0" bIns="0" rtlCol="0" vert="horz">
            <a:spAutoFit/>
          </a:bodyPr>
          <a:lstStyle/>
          <a:p>
            <a:pPr marL="12700">
              <a:lnSpc>
                <a:spcPct val="100000"/>
              </a:lnSpc>
              <a:spcBef>
                <a:spcPts val="100"/>
              </a:spcBef>
            </a:pPr>
            <a:r>
              <a:rPr dirty="0" sz="900" spc="-20" b="1">
                <a:solidFill>
                  <a:srgbClr val="FF0000"/>
                </a:solidFill>
                <a:latin typeface="Microsoft YaHei"/>
                <a:cs typeface="Microsoft YaHei"/>
              </a:rPr>
              <a:t>2T4R</a:t>
            </a:r>
            <a:endParaRPr sz="900">
              <a:latin typeface="Microsoft YaHei"/>
              <a:cs typeface="Microsoft YaHei"/>
            </a:endParaRPr>
          </a:p>
        </p:txBody>
      </p:sp>
      <p:grpSp>
        <p:nvGrpSpPr>
          <p:cNvPr id="35" name="object 35" descr=""/>
          <p:cNvGrpSpPr/>
          <p:nvPr/>
        </p:nvGrpSpPr>
        <p:grpSpPr>
          <a:xfrm>
            <a:off x="990408" y="3680833"/>
            <a:ext cx="1228725" cy="511175"/>
            <a:chOff x="990408" y="3680833"/>
            <a:chExt cx="1228725" cy="511175"/>
          </a:xfrm>
        </p:grpSpPr>
        <p:sp>
          <p:nvSpPr>
            <p:cNvPr id="36" name="object 36" descr=""/>
            <p:cNvSpPr/>
            <p:nvPr/>
          </p:nvSpPr>
          <p:spPr>
            <a:xfrm>
              <a:off x="1004695" y="3779974"/>
              <a:ext cx="1172845" cy="398145"/>
            </a:xfrm>
            <a:custGeom>
              <a:avLst/>
              <a:gdLst/>
              <a:ahLst/>
              <a:cxnLst/>
              <a:rect l="l" t="t" r="r" b="b"/>
              <a:pathLst>
                <a:path w="1172845" h="398145">
                  <a:moveTo>
                    <a:pt x="1172705" y="397560"/>
                  </a:moveTo>
                  <a:lnTo>
                    <a:pt x="0" y="0"/>
                  </a:lnTo>
                </a:path>
              </a:pathLst>
            </a:custGeom>
            <a:ln w="28575">
              <a:solidFill>
                <a:srgbClr val="0070C0"/>
              </a:solidFill>
            </a:ln>
          </p:spPr>
          <p:txBody>
            <a:bodyPr wrap="square" lIns="0" tIns="0" rIns="0" bIns="0" rtlCol="0"/>
            <a:lstStyle/>
            <a:p/>
          </p:txBody>
        </p:sp>
        <p:sp>
          <p:nvSpPr>
            <p:cNvPr id="37" name="object 37" descr=""/>
            <p:cNvSpPr/>
            <p:nvPr/>
          </p:nvSpPr>
          <p:spPr>
            <a:xfrm>
              <a:off x="1004695" y="3760132"/>
              <a:ext cx="97790" cy="95250"/>
            </a:xfrm>
            <a:custGeom>
              <a:avLst/>
              <a:gdLst/>
              <a:ahLst/>
              <a:cxnLst/>
              <a:rect l="l" t="t" r="r" b="b"/>
              <a:pathLst>
                <a:path w="97790" h="95250">
                  <a:moveTo>
                    <a:pt x="65138" y="94716"/>
                  </a:moveTo>
                  <a:lnTo>
                    <a:pt x="0" y="19837"/>
                  </a:lnTo>
                  <a:lnTo>
                    <a:pt x="97243" y="0"/>
                  </a:lnTo>
                </a:path>
              </a:pathLst>
            </a:custGeom>
            <a:ln w="28574">
              <a:solidFill>
                <a:srgbClr val="0070C0"/>
              </a:solidFill>
            </a:ln>
          </p:spPr>
          <p:txBody>
            <a:bodyPr wrap="square" lIns="0" tIns="0" rIns="0" bIns="0" rtlCol="0"/>
            <a:lstStyle/>
            <a:p/>
          </p:txBody>
        </p:sp>
        <p:sp>
          <p:nvSpPr>
            <p:cNvPr id="38" name="object 38" descr=""/>
            <p:cNvSpPr/>
            <p:nvPr/>
          </p:nvSpPr>
          <p:spPr>
            <a:xfrm>
              <a:off x="1031698" y="3714963"/>
              <a:ext cx="1172845" cy="398145"/>
            </a:xfrm>
            <a:custGeom>
              <a:avLst/>
              <a:gdLst/>
              <a:ahLst/>
              <a:cxnLst/>
              <a:rect l="l" t="t" r="r" b="b"/>
              <a:pathLst>
                <a:path w="1172845" h="398145">
                  <a:moveTo>
                    <a:pt x="1172705" y="397560"/>
                  </a:moveTo>
                  <a:lnTo>
                    <a:pt x="0" y="0"/>
                  </a:lnTo>
                </a:path>
              </a:pathLst>
            </a:custGeom>
            <a:ln w="28575">
              <a:solidFill>
                <a:srgbClr val="0070C0"/>
              </a:solidFill>
            </a:ln>
          </p:spPr>
          <p:txBody>
            <a:bodyPr wrap="square" lIns="0" tIns="0" rIns="0" bIns="0" rtlCol="0"/>
            <a:lstStyle/>
            <a:p/>
          </p:txBody>
        </p:sp>
        <p:sp>
          <p:nvSpPr>
            <p:cNvPr id="39" name="object 39" descr=""/>
            <p:cNvSpPr/>
            <p:nvPr/>
          </p:nvSpPr>
          <p:spPr>
            <a:xfrm>
              <a:off x="1031698" y="3695120"/>
              <a:ext cx="97790" cy="95250"/>
            </a:xfrm>
            <a:custGeom>
              <a:avLst/>
              <a:gdLst/>
              <a:ahLst/>
              <a:cxnLst/>
              <a:rect l="l" t="t" r="r" b="b"/>
              <a:pathLst>
                <a:path w="97790" h="95250">
                  <a:moveTo>
                    <a:pt x="65138" y="94716"/>
                  </a:moveTo>
                  <a:lnTo>
                    <a:pt x="0" y="19837"/>
                  </a:lnTo>
                  <a:lnTo>
                    <a:pt x="97243" y="0"/>
                  </a:lnTo>
                </a:path>
              </a:pathLst>
            </a:custGeom>
            <a:ln w="28574">
              <a:solidFill>
                <a:srgbClr val="0070C0"/>
              </a:solidFill>
            </a:ln>
          </p:spPr>
          <p:txBody>
            <a:bodyPr wrap="square" lIns="0" tIns="0" rIns="0" bIns="0" rtlCol="0"/>
            <a:lstStyle/>
            <a:p/>
          </p:txBody>
        </p:sp>
      </p:grpSp>
      <p:pic>
        <p:nvPicPr>
          <p:cNvPr id="40" name="object 40" descr=""/>
          <p:cNvPicPr/>
          <p:nvPr/>
        </p:nvPicPr>
        <p:blipFill>
          <a:blip r:embed="rId6" cstate="print"/>
          <a:stretch>
            <a:fillRect/>
          </a:stretch>
        </p:blipFill>
        <p:spPr>
          <a:xfrm>
            <a:off x="1642976" y="1159786"/>
            <a:ext cx="241426" cy="94653"/>
          </a:xfrm>
          <a:prstGeom prst="rect">
            <a:avLst/>
          </a:prstGeom>
        </p:spPr>
      </p:pic>
      <p:sp>
        <p:nvSpPr>
          <p:cNvPr id="41" name="object 41" descr=""/>
          <p:cNvSpPr txBox="1"/>
          <p:nvPr/>
        </p:nvSpPr>
        <p:spPr>
          <a:xfrm>
            <a:off x="1745828" y="1773015"/>
            <a:ext cx="894715" cy="162560"/>
          </a:xfrm>
          <a:prstGeom prst="rect">
            <a:avLst/>
          </a:prstGeom>
        </p:spPr>
        <p:txBody>
          <a:bodyPr wrap="square" lIns="0" tIns="12700" rIns="0" bIns="0" rtlCol="0" vert="horz">
            <a:spAutoFit/>
          </a:bodyPr>
          <a:lstStyle/>
          <a:p>
            <a:pPr marL="12700">
              <a:lnSpc>
                <a:spcPct val="100000"/>
              </a:lnSpc>
              <a:spcBef>
                <a:spcPts val="100"/>
              </a:spcBef>
            </a:pPr>
            <a:r>
              <a:rPr dirty="0" sz="900" b="1">
                <a:solidFill>
                  <a:srgbClr val="FF0000"/>
                </a:solidFill>
                <a:latin typeface="Microsoft YaHei"/>
                <a:cs typeface="Microsoft YaHei"/>
              </a:rPr>
              <a:t>23dBm</a:t>
            </a:r>
            <a:r>
              <a:rPr dirty="0" sz="900" spc="125" b="1">
                <a:solidFill>
                  <a:srgbClr val="FF0000"/>
                </a:solidFill>
                <a:latin typeface="Microsoft YaHei"/>
                <a:cs typeface="Microsoft YaHei"/>
              </a:rPr>
              <a:t> </a:t>
            </a:r>
            <a:r>
              <a:rPr dirty="0" baseline="3086" sz="1350" spc="-30" b="1">
                <a:solidFill>
                  <a:srgbClr val="FF0000"/>
                </a:solidFill>
                <a:latin typeface="Microsoft YaHei"/>
                <a:cs typeface="Microsoft YaHei"/>
              </a:rPr>
              <a:t>26dBm</a:t>
            </a:r>
            <a:endParaRPr baseline="3086" sz="1350">
              <a:latin typeface="Microsoft YaHei"/>
              <a:cs typeface="Microsoft YaHei"/>
            </a:endParaRPr>
          </a:p>
        </p:txBody>
      </p:sp>
      <p:grpSp>
        <p:nvGrpSpPr>
          <p:cNvPr id="42" name="object 42" descr=""/>
          <p:cNvGrpSpPr/>
          <p:nvPr/>
        </p:nvGrpSpPr>
        <p:grpSpPr>
          <a:xfrm>
            <a:off x="1797964" y="1963750"/>
            <a:ext cx="665480" cy="324485"/>
            <a:chOff x="1797964" y="1963750"/>
            <a:chExt cx="665480" cy="324485"/>
          </a:xfrm>
        </p:grpSpPr>
        <p:pic>
          <p:nvPicPr>
            <p:cNvPr id="43" name="object 43"/>
            <p:cNvPicPr/>
            <p:nvPr/>
          </p:nvPicPr>
          <p:blipFill>
            <a:blip r:embed="rId3" cstate="print"/>
            <a:stretch>
              <a:fillRect/>
            </a:stretch>
          </p:blipFill>
          <p:spPr>
            <a:xfrm>
              <a:off x="1797964" y="1963750"/>
              <a:ext cx="175760" cy="316813"/>
            </a:xfrm>
            <a:prstGeom prst="rect">
              <a:avLst/>
            </a:prstGeom>
          </p:spPr>
        </p:pic>
        <p:pic>
          <p:nvPicPr>
            <p:cNvPr id="44" name="object 44"/>
            <p:cNvPicPr/>
            <p:nvPr/>
          </p:nvPicPr>
          <p:blipFill>
            <a:blip r:embed="rId3" cstate="print"/>
            <a:stretch>
              <a:fillRect/>
            </a:stretch>
          </p:blipFill>
          <p:spPr>
            <a:xfrm>
              <a:off x="2287300" y="1971259"/>
              <a:ext cx="175763" cy="316811"/>
            </a:xfrm>
            <a:prstGeom prst="rect">
              <a:avLst/>
            </a:prstGeom>
          </p:spPr>
        </p:pic>
      </p:grpSp>
      <p:sp>
        <p:nvSpPr>
          <p:cNvPr id="45" name="object 45" descr=""/>
          <p:cNvSpPr/>
          <p:nvPr/>
        </p:nvSpPr>
        <p:spPr>
          <a:xfrm>
            <a:off x="3491880" y="1734472"/>
            <a:ext cx="1656714" cy="345440"/>
          </a:xfrm>
          <a:custGeom>
            <a:avLst/>
            <a:gdLst/>
            <a:ahLst/>
            <a:cxnLst/>
            <a:rect l="l" t="t" r="r" b="b"/>
            <a:pathLst>
              <a:path w="1656714" h="345439">
                <a:moveTo>
                  <a:pt x="828090" y="0"/>
                </a:moveTo>
                <a:lnTo>
                  <a:pt x="752717" y="705"/>
                </a:lnTo>
                <a:lnTo>
                  <a:pt x="679241" y="2780"/>
                </a:lnTo>
                <a:lnTo>
                  <a:pt x="607952" y="6165"/>
                </a:lnTo>
                <a:lnTo>
                  <a:pt x="539143" y="10798"/>
                </a:lnTo>
                <a:lnTo>
                  <a:pt x="473108" y="16619"/>
                </a:lnTo>
                <a:lnTo>
                  <a:pt x="410138" y="23566"/>
                </a:lnTo>
                <a:lnTo>
                  <a:pt x="350525" y="31578"/>
                </a:lnTo>
                <a:lnTo>
                  <a:pt x="294563" y="40595"/>
                </a:lnTo>
                <a:lnTo>
                  <a:pt x="242543" y="50555"/>
                </a:lnTo>
                <a:lnTo>
                  <a:pt x="194757" y="61398"/>
                </a:lnTo>
                <a:lnTo>
                  <a:pt x="151498" y="73063"/>
                </a:lnTo>
                <a:lnTo>
                  <a:pt x="113059" y="85488"/>
                </a:lnTo>
                <a:lnTo>
                  <a:pt x="51807" y="112378"/>
                </a:lnTo>
                <a:lnTo>
                  <a:pt x="13341" y="141579"/>
                </a:lnTo>
                <a:lnTo>
                  <a:pt x="0" y="172605"/>
                </a:lnTo>
                <a:lnTo>
                  <a:pt x="3384" y="188316"/>
                </a:lnTo>
                <a:lnTo>
                  <a:pt x="29580" y="218490"/>
                </a:lnTo>
                <a:lnTo>
                  <a:pt x="79731" y="246597"/>
                </a:lnTo>
                <a:lnTo>
                  <a:pt x="151498" y="272148"/>
                </a:lnTo>
                <a:lnTo>
                  <a:pt x="194757" y="283812"/>
                </a:lnTo>
                <a:lnTo>
                  <a:pt x="242543" y="294655"/>
                </a:lnTo>
                <a:lnTo>
                  <a:pt x="294563" y="304616"/>
                </a:lnTo>
                <a:lnTo>
                  <a:pt x="350525" y="313633"/>
                </a:lnTo>
                <a:lnTo>
                  <a:pt x="410138" y="321645"/>
                </a:lnTo>
                <a:lnTo>
                  <a:pt x="473108" y="328592"/>
                </a:lnTo>
                <a:lnTo>
                  <a:pt x="539143" y="334412"/>
                </a:lnTo>
                <a:lnTo>
                  <a:pt x="607952" y="339045"/>
                </a:lnTo>
                <a:lnTo>
                  <a:pt x="679241" y="342430"/>
                </a:lnTo>
                <a:lnTo>
                  <a:pt x="752717" y="344506"/>
                </a:lnTo>
                <a:lnTo>
                  <a:pt x="828090" y="345211"/>
                </a:lnTo>
                <a:lnTo>
                  <a:pt x="903463" y="344506"/>
                </a:lnTo>
                <a:lnTo>
                  <a:pt x="976940" y="342430"/>
                </a:lnTo>
                <a:lnTo>
                  <a:pt x="1048229" y="339045"/>
                </a:lnTo>
                <a:lnTo>
                  <a:pt x="1117037" y="334412"/>
                </a:lnTo>
                <a:lnTo>
                  <a:pt x="1183072" y="328592"/>
                </a:lnTo>
                <a:lnTo>
                  <a:pt x="1246043" y="321645"/>
                </a:lnTo>
                <a:lnTo>
                  <a:pt x="1305655" y="313633"/>
                </a:lnTo>
                <a:lnTo>
                  <a:pt x="1361618" y="304616"/>
                </a:lnTo>
                <a:lnTo>
                  <a:pt x="1413638" y="294655"/>
                </a:lnTo>
                <a:lnTo>
                  <a:pt x="1461424" y="283812"/>
                </a:lnTo>
                <a:lnTo>
                  <a:pt x="1504683" y="272148"/>
                </a:lnTo>
                <a:lnTo>
                  <a:pt x="1543122" y="259722"/>
                </a:lnTo>
                <a:lnTo>
                  <a:pt x="1604373" y="232832"/>
                </a:lnTo>
                <a:lnTo>
                  <a:pt x="1642839" y="203631"/>
                </a:lnTo>
                <a:lnTo>
                  <a:pt x="1656181" y="172605"/>
                </a:lnTo>
                <a:lnTo>
                  <a:pt x="1652797" y="156895"/>
                </a:lnTo>
                <a:lnTo>
                  <a:pt x="1626601" y="126720"/>
                </a:lnTo>
                <a:lnTo>
                  <a:pt x="1576450" y="98614"/>
                </a:lnTo>
                <a:lnTo>
                  <a:pt x="1504683" y="73063"/>
                </a:lnTo>
                <a:lnTo>
                  <a:pt x="1461424" y="61398"/>
                </a:lnTo>
                <a:lnTo>
                  <a:pt x="1413638" y="50555"/>
                </a:lnTo>
                <a:lnTo>
                  <a:pt x="1361618" y="40595"/>
                </a:lnTo>
                <a:lnTo>
                  <a:pt x="1305655" y="31578"/>
                </a:lnTo>
                <a:lnTo>
                  <a:pt x="1246043" y="23566"/>
                </a:lnTo>
                <a:lnTo>
                  <a:pt x="1183072" y="16619"/>
                </a:lnTo>
                <a:lnTo>
                  <a:pt x="1117037" y="10798"/>
                </a:lnTo>
                <a:lnTo>
                  <a:pt x="1048229" y="6165"/>
                </a:lnTo>
                <a:lnTo>
                  <a:pt x="976940" y="2780"/>
                </a:lnTo>
                <a:lnTo>
                  <a:pt x="903463" y="705"/>
                </a:lnTo>
                <a:lnTo>
                  <a:pt x="828090" y="0"/>
                </a:lnTo>
                <a:close/>
              </a:path>
            </a:pathLst>
          </a:custGeom>
          <a:solidFill>
            <a:srgbClr val="0070C0"/>
          </a:solidFill>
        </p:spPr>
        <p:txBody>
          <a:bodyPr wrap="square" lIns="0" tIns="0" rIns="0" bIns="0" rtlCol="0"/>
          <a:lstStyle/>
          <a:p/>
        </p:txBody>
      </p:sp>
      <p:sp>
        <p:nvSpPr>
          <p:cNvPr id="46" name="object 46" descr=""/>
          <p:cNvSpPr txBox="1"/>
          <p:nvPr/>
        </p:nvSpPr>
        <p:spPr>
          <a:xfrm>
            <a:off x="3842198" y="1707687"/>
            <a:ext cx="955675" cy="391160"/>
          </a:xfrm>
          <a:prstGeom prst="rect">
            <a:avLst/>
          </a:prstGeom>
        </p:spPr>
        <p:txBody>
          <a:bodyPr wrap="square" lIns="0" tIns="12065" rIns="0" bIns="0" rtlCol="0" vert="horz">
            <a:spAutoFit/>
          </a:bodyPr>
          <a:lstStyle/>
          <a:p>
            <a:pPr marL="12700">
              <a:lnSpc>
                <a:spcPct val="100000"/>
              </a:lnSpc>
              <a:spcBef>
                <a:spcPts val="95"/>
              </a:spcBef>
            </a:pPr>
            <a:r>
              <a:rPr dirty="0" sz="800">
                <a:solidFill>
                  <a:srgbClr val="FFFFFF"/>
                </a:solidFill>
                <a:latin typeface="Microsoft YaHei"/>
                <a:cs typeface="Microsoft YaHei"/>
              </a:rPr>
              <a:t>3.5G</a:t>
            </a:r>
            <a:r>
              <a:rPr dirty="0" sz="800" spc="5">
                <a:solidFill>
                  <a:srgbClr val="FFFFFF"/>
                </a:solidFill>
                <a:latin typeface="Microsoft YaHei"/>
                <a:cs typeface="Microsoft YaHei"/>
              </a:rPr>
              <a:t> </a:t>
            </a:r>
            <a:r>
              <a:rPr dirty="0" sz="800" spc="-10">
                <a:solidFill>
                  <a:srgbClr val="FFFFFF"/>
                </a:solidFill>
                <a:latin typeface="Microsoft YaHei"/>
                <a:cs typeface="Microsoft YaHei"/>
              </a:rPr>
              <a:t>PUSCH</a:t>
            </a:r>
            <a:r>
              <a:rPr dirty="0" sz="800" spc="-20">
                <a:solidFill>
                  <a:srgbClr val="FFFFFF"/>
                </a:solidFill>
                <a:latin typeface="Microsoft YaHei"/>
                <a:cs typeface="Microsoft YaHei"/>
              </a:rPr>
              <a:t>(上行覆</a:t>
            </a:r>
            <a:endParaRPr sz="800">
              <a:latin typeface="Microsoft YaHei"/>
              <a:cs typeface="Microsoft YaHei"/>
            </a:endParaRPr>
          </a:p>
          <a:p>
            <a:pPr marL="182245" marR="174625" indent="227329">
              <a:lnSpc>
                <a:spcPct val="100000"/>
              </a:lnSpc>
            </a:pPr>
            <a:r>
              <a:rPr dirty="0" sz="800" spc="-30">
                <a:solidFill>
                  <a:srgbClr val="FFFFFF"/>
                </a:solidFill>
                <a:latin typeface="Microsoft YaHei"/>
                <a:cs typeface="Microsoft YaHei"/>
              </a:rPr>
              <a:t>盖)</a:t>
            </a:r>
            <a:r>
              <a:rPr dirty="0" sz="800" spc="-10">
                <a:solidFill>
                  <a:srgbClr val="FFFFFF"/>
                </a:solidFill>
                <a:latin typeface="Microsoft YaHei"/>
                <a:cs typeface="Microsoft YaHei"/>
              </a:rPr>
              <a:t> 2.5ms</a:t>
            </a:r>
            <a:r>
              <a:rPr dirty="0" sz="800" spc="-25">
                <a:solidFill>
                  <a:srgbClr val="FFFFFF"/>
                </a:solidFill>
                <a:latin typeface="Microsoft YaHei"/>
                <a:cs typeface="Microsoft YaHei"/>
              </a:rPr>
              <a:t>单周期</a:t>
            </a:r>
            <a:endParaRPr sz="800">
              <a:latin typeface="Microsoft YaHei"/>
              <a:cs typeface="Microsoft YaHei"/>
            </a:endParaRPr>
          </a:p>
        </p:txBody>
      </p:sp>
      <p:sp>
        <p:nvSpPr>
          <p:cNvPr id="47" name="object 47" descr=""/>
          <p:cNvSpPr/>
          <p:nvPr/>
        </p:nvSpPr>
        <p:spPr>
          <a:xfrm>
            <a:off x="3491880" y="2187995"/>
            <a:ext cx="2026920" cy="334645"/>
          </a:xfrm>
          <a:custGeom>
            <a:avLst/>
            <a:gdLst/>
            <a:ahLst/>
            <a:cxnLst/>
            <a:rect l="l" t="t" r="r" b="b"/>
            <a:pathLst>
              <a:path w="2026920" h="334644">
                <a:moveTo>
                  <a:pt x="1013396" y="0"/>
                </a:moveTo>
                <a:lnTo>
                  <a:pt x="937766" y="458"/>
                </a:lnTo>
                <a:lnTo>
                  <a:pt x="863645" y="1813"/>
                </a:lnTo>
                <a:lnTo>
                  <a:pt x="791230" y="4032"/>
                </a:lnTo>
                <a:lnTo>
                  <a:pt x="720716" y="7082"/>
                </a:lnTo>
                <a:lnTo>
                  <a:pt x="652300" y="10931"/>
                </a:lnTo>
                <a:lnTo>
                  <a:pt x="586177" y="15547"/>
                </a:lnTo>
                <a:lnTo>
                  <a:pt x="522543" y="20897"/>
                </a:lnTo>
                <a:lnTo>
                  <a:pt x="461594" y="26949"/>
                </a:lnTo>
                <a:lnTo>
                  <a:pt x="403527" y="33671"/>
                </a:lnTo>
                <a:lnTo>
                  <a:pt x="348536" y="41030"/>
                </a:lnTo>
                <a:lnTo>
                  <a:pt x="296819" y="48995"/>
                </a:lnTo>
                <a:lnTo>
                  <a:pt x="248571" y="57531"/>
                </a:lnTo>
                <a:lnTo>
                  <a:pt x="203988" y="66609"/>
                </a:lnTo>
                <a:lnTo>
                  <a:pt x="163266" y="76194"/>
                </a:lnTo>
                <a:lnTo>
                  <a:pt x="94188" y="96759"/>
                </a:lnTo>
                <a:lnTo>
                  <a:pt x="42906" y="118969"/>
                </a:lnTo>
                <a:lnTo>
                  <a:pt x="10987" y="142563"/>
                </a:lnTo>
                <a:lnTo>
                  <a:pt x="0" y="167284"/>
                </a:lnTo>
                <a:lnTo>
                  <a:pt x="2779" y="179769"/>
                </a:lnTo>
                <a:lnTo>
                  <a:pt x="42906" y="215599"/>
                </a:lnTo>
                <a:lnTo>
                  <a:pt x="94188" y="237808"/>
                </a:lnTo>
                <a:lnTo>
                  <a:pt x="163266" y="258374"/>
                </a:lnTo>
                <a:lnTo>
                  <a:pt x="203988" y="267959"/>
                </a:lnTo>
                <a:lnTo>
                  <a:pt x="248571" y="277036"/>
                </a:lnTo>
                <a:lnTo>
                  <a:pt x="296819" y="285573"/>
                </a:lnTo>
                <a:lnTo>
                  <a:pt x="348536" y="293538"/>
                </a:lnTo>
                <a:lnTo>
                  <a:pt x="403527" y="300897"/>
                </a:lnTo>
                <a:lnTo>
                  <a:pt x="461594" y="307619"/>
                </a:lnTo>
                <a:lnTo>
                  <a:pt x="522543" y="313671"/>
                </a:lnTo>
                <a:lnTo>
                  <a:pt x="586177" y="319021"/>
                </a:lnTo>
                <a:lnTo>
                  <a:pt x="652300" y="323637"/>
                </a:lnTo>
                <a:lnTo>
                  <a:pt x="720716" y="327486"/>
                </a:lnTo>
                <a:lnTo>
                  <a:pt x="791230" y="330536"/>
                </a:lnTo>
                <a:lnTo>
                  <a:pt x="863645" y="332755"/>
                </a:lnTo>
                <a:lnTo>
                  <a:pt x="937766" y="334109"/>
                </a:lnTo>
                <a:lnTo>
                  <a:pt x="1013396" y="334568"/>
                </a:lnTo>
                <a:lnTo>
                  <a:pt x="1089028" y="334109"/>
                </a:lnTo>
                <a:lnTo>
                  <a:pt x="1163150" y="332755"/>
                </a:lnTo>
                <a:lnTo>
                  <a:pt x="1235566" y="330536"/>
                </a:lnTo>
                <a:lnTo>
                  <a:pt x="1306081" y="327486"/>
                </a:lnTo>
                <a:lnTo>
                  <a:pt x="1374499" y="323637"/>
                </a:lnTo>
                <a:lnTo>
                  <a:pt x="1440623" y="319021"/>
                </a:lnTo>
                <a:lnTo>
                  <a:pt x="1504258" y="313671"/>
                </a:lnTo>
                <a:lnTo>
                  <a:pt x="1565207" y="307619"/>
                </a:lnTo>
                <a:lnTo>
                  <a:pt x="1623275" y="300897"/>
                </a:lnTo>
                <a:lnTo>
                  <a:pt x="1678266" y="293538"/>
                </a:lnTo>
                <a:lnTo>
                  <a:pt x="1729984" y="285573"/>
                </a:lnTo>
                <a:lnTo>
                  <a:pt x="1778233" y="277036"/>
                </a:lnTo>
                <a:lnTo>
                  <a:pt x="1822816" y="267959"/>
                </a:lnTo>
                <a:lnTo>
                  <a:pt x="1863538" y="258374"/>
                </a:lnTo>
                <a:lnTo>
                  <a:pt x="1932616" y="237808"/>
                </a:lnTo>
                <a:lnTo>
                  <a:pt x="1983898" y="215599"/>
                </a:lnTo>
                <a:lnTo>
                  <a:pt x="2015817" y="192005"/>
                </a:lnTo>
                <a:lnTo>
                  <a:pt x="2026805" y="167284"/>
                </a:lnTo>
                <a:lnTo>
                  <a:pt x="2024026" y="154799"/>
                </a:lnTo>
                <a:lnTo>
                  <a:pt x="1983898" y="118969"/>
                </a:lnTo>
                <a:lnTo>
                  <a:pt x="1932616" y="96759"/>
                </a:lnTo>
                <a:lnTo>
                  <a:pt x="1863538" y="76194"/>
                </a:lnTo>
                <a:lnTo>
                  <a:pt x="1822816" y="66609"/>
                </a:lnTo>
                <a:lnTo>
                  <a:pt x="1778233" y="57531"/>
                </a:lnTo>
                <a:lnTo>
                  <a:pt x="1729984" y="48995"/>
                </a:lnTo>
                <a:lnTo>
                  <a:pt x="1678266" y="41030"/>
                </a:lnTo>
                <a:lnTo>
                  <a:pt x="1623275" y="33671"/>
                </a:lnTo>
                <a:lnTo>
                  <a:pt x="1565207" y="26949"/>
                </a:lnTo>
                <a:lnTo>
                  <a:pt x="1504258" y="20897"/>
                </a:lnTo>
                <a:lnTo>
                  <a:pt x="1440623" y="15547"/>
                </a:lnTo>
                <a:lnTo>
                  <a:pt x="1374499" y="10931"/>
                </a:lnTo>
                <a:lnTo>
                  <a:pt x="1306081" y="7082"/>
                </a:lnTo>
                <a:lnTo>
                  <a:pt x="1235566" y="4032"/>
                </a:lnTo>
                <a:lnTo>
                  <a:pt x="1163150" y="1813"/>
                </a:lnTo>
                <a:lnTo>
                  <a:pt x="1089028" y="458"/>
                </a:lnTo>
                <a:lnTo>
                  <a:pt x="1013396" y="0"/>
                </a:lnTo>
                <a:close/>
              </a:path>
            </a:pathLst>
          </a:custGeom>
          <a:solidFill>
            <a:srgbClr val="BBE0E3"/>
          </a:solidFill>
        </p:spPr>
        <p:txBody>
          <a:bodyPr wrap="square" lIns="0" tIns="0" rIns="0" bIns="0" rtlCol="0"/>
          <a:lstStyle/>
          <a:p/>
        </p:txBody>
      </p:sp>
      <p:sp>
        <p:nvSpPr>
          <p:cNvPr id="48" name="object 48" descr=""/>
          <p:cNvSpPr txBox="1"/>
          <p:nvPr/>
        </p:nvSpPr>
        <p:spPr>
          <a:xfrm>
            <a:off x="3892887" y="2200847"/>
            <a:ext cx="1224280" cy="299720"/>
          </a:xfrm>
          <a:prstGeom prst="rect">
            <a:avLst/>
          </a:prstGeom>
        </p:spPr>
        <p:txBody>
          <a:bodyPr wrap="square" lIns="0" tIns="12700" rIns="0" bIns="0" rtlCol="0" vert="horz">
            <a:spAutoFit/>
          </a:bodyPr>
          <a:lstStyle/>
          <a:p>
            <a:pPr algn="ctr">
              <a:lnSpc>
                <a:spcPct val="100000"/>
              </a:lnSpc>
              <a:spcBef>
                <a:spcPts val="100"/>
              </a:spcBef>
            </a:pPr>
            <a:r>
              <a:rPr dirty="0" sz="900">
                <a:solidFill>
                  <a:srgbClr val="FFFFFF"/>
                </a:solidFill>
                <a:latin typeface="Microsoft YaHei"/>
                <a:cs typeface="Microsoft YaHei"/>
              </a:rPr>
              <a:t>3.5G</a:t>
            </a:r>
            <a:r>
              <a:rPr dirty="0" sz="900" spc="-5">
                <a:solidFill>
                  <a:srgbClr val="FFFFFF"/>
                </a:solidFill>
                <a:latin typeface="Microsoft YaHei"/>
                <a:cs typeface="Microsoft YaHei"/>
              </a:rPr>
              <a:t> </a:t>
            </a:r>
            <a:r>
              <a:rPr dirty="0" sz="900" spc="-10">
                <a:solidFill>
                  <a:srgbClr val="FFFFFF"/>
                </a:solidFill>
                <a:latin typeface="Microsoft YaHei"/>
                <a:cs typeface="Microsoft YaHei"/>
              </a:rPr>
              <a:t>PUSCH</a:t>
            </a:r>
            <a:r>
              <a:rPr dirty="0" sz="900" spc="-15">
                <a:solidFill>
                  <a:srgbClr val="FFFFFF"/>
                </a:solidFill>
                <a:latin typeface="Microsoft YaHei"/>
                <a:cs typeface="Microsoft YaHei"/>
              </a:rPr>
              <a:t>(上行覆盖)</a:t>
            </a:r>
            <a:endParaRPr sz="900">
              <a:latin typeface="Microsoft YaHei"/>
              <a:cs typeface="Microsoft YaHei"/>
            </a:endParaRPr>
          </a:p>
          <a:p>
            <a:pPr algn="ctr">
              <a:lnSpc>
                <a:spcPct val="100000"/>
              </a:lnSpc>
            </a:pPr>
            <a:r>
              <a:rPr dirty="0" sz="900" spc="-10">
                <a:solidFill>
                  <a:srgbClr val="FFFFFF"/>
                </a:solidFill>
                <a:latin typeface="Microsoft YaHei"/>
                <a:cs typeface="Microsoft YaHei"/>
              </a:rPr>
              <a:t>2.5ms</a:t>
            </a:r>
            <a:r>
              <a:rPr dirty="0" sz="900" spc="-20">
                <a:solidFill>
                  <a:srgbClr val="FFFFFF"/>
                </a:solidFill>
                <a:latin typeface="Microsoft YaHei"/>
                <a:cs typeface="Microsoft YaHei"/>
              </a:rPr>
              <a:t>双周期</a:t>
            </a:r>
            <a:endParaRPr sz="900">
              <a:latin typeface="Microsoft YaHei"/>
              <a:cs typeface="Microsoft YaHei"/>
            </a:endParaRPr>
          </a:p>
        </p:txBody>
      </p:sp>
      <p:grpSp>
        <p:nvGrpSpPr>
          <p:cNvPr id="49" name="object 49" descr=""/>
          <p:cNvGrpSpPr/>
          <p:nvPr/>
        </p:nvGrpSpPr>
        <p:grpSpPr>
          <a:xfrm>
            <a:off x="3059836" y="1448333"/>
            <a:ext cx="2514600" cy="996950"/>
            <a:chOff x="3059836" y="1448333"/>
            <a:chExt cx="2514600" cy="996950"/>
          </a:xfrm>
        </p:grpSpPr>
        <p:pic>
          <p:nvPicPr>
            <p:cNvPr id="50" name="object 50"/>
            <p:cNvPicPr/>
            <p:nvPr/>
          </p:nvPicPr>
          <p:blipFill>
            <a:blip r:embed="rId2" cstate="print"/>
            <a:stretch>
              <a:fillRect/>
            </a:stretch>
          </p:blipFill>
          <p:spPr>
            <a:xfrm>
              <a:off x="3059836" y="1448333"/>
              <a:ext cx="724439" cy="996835"/>
            </a:xfrm>
            <a:prstGeom prst="rect">
              <a:avLst/>
            </a:prstGeom>
          </p:spPr>
        </p:pic>
        <p:sp>
          <p:nvSpPr>
            <p:cNvPr id="51" name="object 51" descr=""/>
            <p:cNvSpPr/>
            <p:nvPr/>
          </p:nvSpPr>
          <p:spPr>
            <a:xfrm>
              <a:off x="5564440" y="1874121"/>
              <a:ext cx="0" cy="349250"/>
            </a:xfrm>
            <a:custGeom>
              <a:avLst/>
              <a:gdLst/>
              <a:ahLst/>
              <a:cxnLst/>
              <a:rect l="l" t="t" r="r" b="b"/>
              <a:pathLst>
                <a:path w="0" h="349250">
                  <a:moveTo>
                    <a:pt x="0" y="0"/>
                  </a:moveTo>
                  <a:lnTo>
                    <a:pt x="0" y="348843"/>
                  </a:lnTo>
                </a:path>
              </a:pathLst>
            </a:custGeom>
            <a:ln w="19050">
              <a:solidFill>
                <a:srgbClr val="0000FF"/>
              </a:solidFill>
            </a:ln>
          </p:spPr>
          <p:txBody>
            <a:bodyPr wrap="square" lIns="0" tIns="0" rIns="0" bIns="0" rtlCol="0"/>
            <a:lstStyle/>
            <a:p/>
          </p:txBody>
        </p:sp>
        <p:sp>
          <p:nvSpPr>
            <p:cNvPr id="52" name="object 52" descr=""/>
            <p:cNvSpPr/>
            <p:nvPr/>
          </p:nvSpPr>
          <p:spPr>
            <a:xfrm>
              <a:off x="5191719" y="2087518"/>
              <a:ext cx="325120" cy="0"/>
            </a:xfrm>
            <a:custGeom>
              <a:avLst/>
              <a:gdLst/>
              <a:ahLst/>
              <a:cxnLst/>
              <a:rect l="l" t="t" r="r" b="b"/>
              <a:pathLst>
                <a:path w="325120" h="0">
                  <a:moveTo>
                    <a:pt x="0" y="0"/>
                  </a:moveTo>
                  <a:lnTo>
                    <a:pt x="324904" y="0"/>
                  </a:lnTo>
                </a:path>
              </a:pathLst>
            </a:custGeom>
            <a:ln w="28575">
              <a:solidFill>
                <a:srgbClr val="0065B0"/>
              </a:solidFill>
            </a:ln>
          </p:spPr>
          <p:txBody>
            <a:bodyPr wrap="square" lIns="0" tIns="0" rIns="0" bIns="0" rtlCol="0"/>
            <a:lstStyle/>
            <a:p/>
          </p:txBody>
        </p:sp>
        <p:sp>
          <p:nvSpPr>
            <p:cNvPr id="53" name="object 53" descr=""/>
            <p:cNvSpPr/>
            <p:nvPr/>
          </p:nvSpPr>
          <p:spPr>
            <a:xfrm>
              <a:off x="5430898" y="2037506"/>
              <a:ext cx="85725" cy="100330"/>
            </a:xfrm>
            <a:custGeom>
              <a:avLst/>
              <a:gdLst/>
              <a:ahLst/>
              <a:cxnLst/>
              <a:rect l="l" t="t" r="r" b="b"/>
              <a:pathLst>
                <a:path w="85725" h="100330">
                  <a:moveTo>
                    <a:pt x="0" y="0"/>
                  </a:moveTo>
                  <a:lnTo>
                    <a:pt x="85725" y="50012"/>
                  </a:lnTo>
                  <a:lnTo>
                    <a:pt x="0" y="100012"/>
                  </a:lnTo>
                </a:path>
              </a:pathLst>
            </a:custGeom>
            <a:ln w="28575">
              <a:solidFill>
                <a:srgbClr val="0065B0"/>
              </a:solidFill>
            </a:ln>
          </p:spPr>
          <p:txBody>
            <a:bodyPr wrap="square" lIns="0" tIns="0" rIns="0" bIns="0" rtlCol="0"/>
            <a:lstStyle/>
            <a:p/>
          </p:txBody>
        </p:sp>
        <p:sp>
          <p:nvSpPr>
            <p:cNvPr id="54" name="object 54" descr=""/>
            <p:cNvSpPr/>
            <p:nvPr/>
          </p:nvSpPr>
          <p:spPr>
            <a:xfrm>
              <a:off x="5191722" y="2037506"/>
              <a:ext cx="85725" cy="100330"/>
            </a:xfrm>
            <a:custGeom>
              <a:avLst/>
              <a:gdLst/>
              <a:ahLst/>
              <a:cxnLst/>
              <a:rect l="l" t="t" r="r" b="b"/>
              <a:pathLst>
                <a:path w="85725" h="100330">
                  <a:moveTo>
                    <a:pt x="85725" y="100012"/>
                  </a:moveTo>
                  <a:lnTo>
                    <a:pt x="0" y="50012"/>
                  </a:lnTo>
                  <a:lnTo>
                    <a:pt x="85725" y="0"/>
                  </a:lnTo>
                </a:path>
              </a:pathLst>
            </a:custGeom>
            <a:ln w="28575">
              <a:solidFill>
                <a:srgbClr val="0065B0"/>
              </a:solidFill>
            </a:ln>
          </p:spPr>
          <p:txBody>
            <a:bodyPr wrap="square" lIns="0" tIns="0" rIns="0" bIns="0" rtlCol="0"/>
            <a:lstStyle/>
            <a:p/>
          </p:txBody>
        </p:sp>
      </p:grpSp>
      <p:sp>
        <p:nvSpPr>
          <p:cNvPr id="55" name="object 55" descr=""/>
          <p:cNvSpPr txBox="1"/>
          <p:nvPr/>
        </p:nvSpPr>
        <p:spPr>
          <a:xfrm>
            <a:off x="5158151" y="1785393"/>
            <a:ext cx="426084" cy="193040"/>
          </a:xfrm>
          <a:prstGeom prst="rect">
            <a:avLst/>
          </a:prstGeom>
        </p:spPr>
        <p:txBody>
          <a:bodyPr wrap="square" lIns="0" tIns="12065" rIns="0" bIns="0" rtlCol="0" vert="horz">
            <a:spAutoFit/>
          </a:bodyPr>
          <a:lstStyle/>
          <a:p>
            <a:pPr marL="12700">
              <a:lnSpc>
                <a:spcPct val="100000"/>
              </a:lnSpc>
              <a:spcBef>
                <a:spcPts val="95"/>
              </a:spcBef>
            </a:pPr>
            <a:r>
              <a:rPr dirty="0" sz="1100" spc="-10" b="1">
                <a:solidFill>
                  <a:srgbClr val="FF0000"/>
                </a:solidFill>
                <a:latin typeface="Microsoft YaHei"/>
                <a:cs typeface="Microsoft YaHei"/>
              </a:rPr>
              <a:t>1.6dB</a:t>
            </a:r>
            <a:endParaRPr sz="1100">
              <a:latin typeface="Microsoft YaHei"/>
              <a:cs typeface="Microsoft YaHei"/>
            </a:endParaRPr>
          </a:p>
        </p:txBody>
      </p:sp>
      <p:sp>
        <p:nvSpPr>
          <p:cNvPr id="56" name="object 56" descr=""/>
          <p:cNvSpPr/>
          <p:nvPr/>
        </p:nvSpPr>
        <p:spPr>
          <a:xfrm>
            <a:off x="5163430" y="1874119"/>
            <a:ext cx="0" cy="349250"/>
          </a:xfrm>
          <a:custGeom>
            <a:avLst/>
            <a:gdLst/>
            <a:ahLst/>
            <a:cxnLst/>
            <a:rect l="l" t="t" r="r" b="b"/>
            <a:pathLst>
              <a:path w="0" h="349250">
                <a:moveTo>
                  <a:pt x="0" y="0"/>
                </a:moveTo>
                <a:lnTo>
                  <a:pt x="0" y="348843"/>
                </a:lnTo>
              </a:path>
            </a:pathLst>
          </a:custGeom>
          <a:ln w="19050">
            <a:solidFill>
              <a:srgbClr val="0000FF"/>
            </a:solidFill>
          </a:ln>
        </p:spPr>
        <p:txBody>
          <a:bodyPr wrap="square" lIns="0" tIns="0" rIns="0" bIns="0" rtlCol="0"/>
          <a:lstStyle/>
          <a:p/>
        </p:txBody>
      </p:sp>
      <p:pic>
        <p:nvPicPr>
          <p:cNvPr id="57" name="object 57"/>
          <p:cNvPicPr/>
          <p:nvPr/>
        </p:nvPicPr>
        <p:blipFill>
          <a:blip r:embed="rId2" cstate="print"/>
          <a:stretch>
            <a:fillRect/>
          </a:stretch>
        </p:blipFill>
        <p:spPr>
          <a:xfrm>
            <a:off x="5922149" y="1491630"/>
            <a:ext cx="616432" cy="1047544"/>
          </a:xfrm>
          <a:prstGeom prst="rect">
            <a:avLst/>
          </a:prstGeom>
        </p:spPr>
      </p:pic>
      <p:sp>
        <p:nvSpPr>
          <p:cNvPr id="58" name="object 58" descr=""/>
          <p:cNvSpPr txBox="1"/>
          <p:nvPr/>
        </p:nvSpPr>
        <p:spPr>
          <a:xfrm>
            <a:off x="6472304" y="1757522"/>
            <a:ext cx="2091689" cy="162560"/>
          </a:xfrm>
          <a:prstGeom prst="rect">
            <a:avLst/>
          </a:prstGeom>
        </p:spPr>
        <p:txBody>
          <a:bodyPr wrap="square" lIns="0" tIns="12700" rIns="0" bIns="0" rtlCol="0" vert="horz">
            <a:spAutoFit/>
          </a:bodyPr>
          <a:lstStyle/>
          <a:p>
            <a:pPr marL="12700">
              <a:lnSpc>
                <a:spcPct val="100000"/>
              </a:lnSpc>
              <a:spcBef>
                <a:spcPts val="100"/>
              </a:spcBef>
            </a:pPr>
            <a:r>
              <a:rPr dirty="0" sz="900">
                <a:solidFill>
                  <a:srgbClr val="050505"/>
                </a:solidFill>
                <a:latin typeface="Microsoft YaHei"/>
                <a:cs typeface="Microsoft YaHei"/>
              </a:rPr>
              <a:t>UL</a:t>
            </a:r>
            <a:r>
              <a:rPr dirty="0" sz="900" spc="20">
                <a:solidFill>
                  <a:srgbClr val="050505"/>
                </a:solidFill>
                <a:latin typeface="Microsoft YaHei"/>
                <a:cs typeface="Microsoft YaHei"/>
              </a:rPr>
              <a:t> 远点</a:t>
            </a:r>
            <a:r>
              <a:rPr dirty="0" sz="900" spc="-10">
                <a:solidFill>
                  <a:srgbClr val="050505"/>
                </a:solidFill>
                <a:latin typeface="Microsoft YaHei"/>
                <a:cs typeface="Microsoft YaHei"/>
              </a:rPr>
              <a:t>@2.1G（</a:t>
            </a:r>
            <a:r>
              <a:rPr dirty="0" sz="900">
                <a:solidFill>
                  <a:srgbClr val="050505"/>
                </a:solidFill>
                <a:latin typeface="Microsoft YaHei"/>
                <a:cs typeface="Microsoft YaHei"/>
              </a:rPr>
              <a:t>或</a:t>
            </a:r>
            <a:r>
              <a:rPr dirty="0" sz="900" spc="-10">
                <a:solidFill>
                  <a:srgbClr val="050505"/>
                </a:solidFill>
                <a:latin typeface="Microsoft YaHei"/>
                <a:cs typeface="Microsoft YaHei"/>
              </a:rPr>
              <a:t>1.8G）</a:t>
            </a:r>
            <a:r>
              <a:rPr dirty="0" sz="900" spc="-5">
                <a:latin typeface="Microsoft YaHei"/>
                <a:cs typeface="Microsoft YaHei"/>
              </a:rPr>
              <a:t>，近点</a:t>
            </a:r>
            <a:r>
              <a:rPr dirty="0" sz="900" spc="-20">
                <a:latin typeface="Microsoft YaHei"/>
                <a:cs typeface="Microsoft YaHei"/>
              </a:rPr>
              <a:t>@3.5G</a:t>
            </a:r>
            <a:endParaRPr sz="900">
              <a:latin typeface="Microsoft YaHei"/>
              <a:cs typeface="Microsoft YaHei"/>
            </a:endParaRPr>
          </a:p>
        </p:txBody>
      </p:sp>
      <p:pic>
        <p:nvPicPr>
          <p:cNvPr id="59" name="object 59"/>
          <p:cNvPicPr/>
          <p:nvPr/>
        </p:nvPicPr>
        <p:blipFill>
          <a:blip r:embed="rId3" cstate="print"/>
          <a:stretch>
            <a:fillRect/>
          </a:stretch>
        </p:blipFill>
        <p:spPr>
          <a:xfrm>
            <a:off x="8708897" y="1925275"/>
            <a:ext cx="175764" cy="316807"/>
          </a:xfrm>
          <a:prstGeom prst="rect">
            <a:avLst/>
          </a:prstGeom>
        </p:spPr>
      </p:pic>
      <p:grpSp>
        <p:nvGrpSpPr>
          <p:cNvPr id="60" name="object 60" descr=""/>
          <p:cNvGrpSpPr/>
          <p:nvPr/>
        </p:nvGrpSpPr>
        <p:grpSpPr>
          <a:xfrm>
            <a:off x="5971394" y="814296"/>
            <a:ext cx="2651760" cy="4006215"/>
            <a:chOff x="5971394" y="814296"/>
            <a:chExt cx="2651760" cy="4006215"/>
          </a:xfrm>
        </p:grpSpPr>
        <p:sp>
          <p:nvSpPr>
            <p:cNvPr id="61" name="object 61" descr=""/>
            <p:cNvSpPr/>
            <p:nvPr/>
          </p:nvSpPr>
          <p:spPr>
            <a:xfrm>
              <a:off x="6444712" y="1988281"/>
              <a:ext cx="2164080" cy="0"/>
            </a:xfrm>
            <a:custGeom>
              <a:avLst/>
              <a:gdLst/>
              <a:ahLst/>
              <a:cxnLst/>
              <a:rect l="l" t="t" r="r" b="b"/>
              <a:pathLst>
                <a:path w="2164079" h="0">
                  <a:moveTo>
                    <a:pt x="2163991" y="0"/>
                  </a:moveTo>
                  <a:lnTo>
                    <a:pt x="0" y="0"/>
                  </a:lnTo>
                </a:path>
              </a:pathLst>
            </a:custGeom>
            <a:ln w="28575">
              <a:solidFill>
                <a:srgbClr val="0070C0"/>
              </a:solidFill>
            </a:ln>
          </p:spPr>
          <p:txBody>
            <a:bodyPr wrap="square" lIns="0" tIns="0" rIns="0" bIns="0" rtlCol="0"/>
            <a:lstStyle/>
            <a:p/>
          </p:txBody>
        </p:sp>
        <p:sp>
          <p:nvSpPr>
            <p:cNvPr id="62" name="object 62" descr=""/>
            <p:cNvSpPr/>
            <p:nvPr/>
          </p:nvSpPr>
          <p:spPr>
            <a:xfrm>
              <a:off x="6444716" y="1938270"/>
              <a:ext cx="85725" cy="100330"/>
            </a:xfrm>
            <a:custGeom>
              <a:avLst/>
              <a:gdLst/>
              <a:ahLst/>
              <a:cxnLst/>
              <a:rect l="l" t="t" r="r" b="b"/>
              <a:pathLst>
                <a:path w="85725" h="100330">
                  <a:moveTo>
                    <a:pt x="85725" y="100012"/>
                  </a:moveTo>
                  <a:lnTo>
                    <a:pt x="0" y="50012"/>
                  </a:lnTo>
                  <a:lnTo>
                    <a:pt x="85725" y="0"/>
                  </a:lnTo>
                </a:path>
              </a:pathLst>
            </a:custGeom>
            <a:ln w="28575">
              <a:solidFill>
                <a:srgbClr val="0070C0"/>
              </a:solidFill>
            </a:ln>
          </p:spPr>
          <p:txBody>
            <a:bodyPr wrap="square" lIns="0" tIns="0" rIns="0" bIns="0" rtlCol="0"/>
            <a:lstStyle/>
            <a:p/>
          </p:txBody>
        </p:sp>
        <p:sp>
          <p:nvSpPr>
            <p:cNvPr id="63" name="object 63" descr=""/>
            <p:cNvSpPr/>
            <p:nvPr/>
          </p:nvSpPr>
          <p:spPr>
            <a:xfrm>
              <a:off x="6416424" y="2208315"/>
              <a:ext cx="2164080" cy="0"/>
            </a:xfrm>
            <a:custGeom>
              <a:avLst/>
              <a:gdLst/>
              <a:ahLst/>
              <a:cxnLst/>
              <a:rect l="l" t="t" r="r" b="b"/>
              <a:pathLst>
                <a:path w="2164079" h="0">
                  <a:moveTo>
                    <a:pt x="0" y="0"/>
                  </a:moveTo>
                  <a:lnTo>
                    <a:pt x="2163991" y="0"/>
                  </a:lnTo>
                </a:path>
              </a:pathLst>
            </a:custGeom>
            <a:ln w="28575">
              <a:solidFill>
                <a:srgbClr val="92D050"/>
              </a:solidFill>
            </a:ln>
          </p:spPr>
          <p:txBody>
            <a:bodyPr wrap="square" lIns="0" tIns="0" rIns="0" bIns="0" rtlCol="0"/>
            <a:lstStyle/>
            <a:p/>
          </p:txBody>
        </p:sp>
        <p:sp>
          <p:nvSpPr>
            <p:cNvPr id="64" name="object 64" descr=""/>
            <p:cNvSpPr/>
            <p:nvPr/>
          </p:nvSpPr>
          <p:spPr>
            <a:xfrm>
              <a:off x="8494692" y="2158304"/>
              <a:ext cx="85725" cy="100330"/>
            </a:xfrm>
            <a:custGeom>
              <a:avLst/>
              <a:gdLst/>
              <a:ahLst/>
              <a:cxnLst/>
              <a:rect l="l" t="t" r="r" b="b"/>
              <a:pathLst>
                <a:path w="85725" h="100330">
                  <a:moveTo>
                    <a:pt x="0" y="0"/>
                  </a:moveTo>
                  <a:lnTo>
                    <a:pt x="85725" y="50012"/>
                  </a:lnTo>
                  <a:lnTo>
                    <a:pt x="0" y="100012"/>
                  </a:lnTo>
                </a:path>
              </a:pathLst>
            </a:custGeom>
            <a:ln w="28575">
              <a:solidFill>
                <a:srgbClr val="92D050"/>
              </a:solidFill>
            </a:ln>
          </p:spPr>
          <p:txBody>
            <a:bodyPr wrap="square" lIns="0" tIns="0" rIns="0" bIns="0" rtlCol="0"/>
            <a:lstStyle/>
            <a:p/>
          </p:txBody>
        </p:sp>
        <p:sp>
          <p:nvSpPr>
            <p:cNvPr id="65" name="object 65" descr=""/>
            <p:cNvSpPr/>
            <p:nvPr/>
          </p:nvSpPr>
          <p:spPr>
            <a:xfrm>
              <a:off x="6416424" y="2106411"/>
              <a:ext cx="2164080" cy="0"/>
            </a:xfrm>
            <a:custGeom>
              <a:avLst/>
              <a:gdLst/>
              <a:ahLst/>
              <a:cxnLst/>
              <a:rect l="l" t="t" r="r" b="b"/>
              <a:pathLst>
                <a:path w="2164079" h="0">
                  <a:moveTo>
                    <a:pt x="0" y="0"/>
                  </a:moveTo>
                  <a:lnTo>
                    <a:pt x="2163991" y="0"/>
                  </a:lnTo>
                </a:path>
              </a:pathLst>
            </a:custGeom>
            <a:ln w="28575">
              <a:solidFill>
                <a:srgbClr val="92D050"/>
              </a:solidFill>
            </a:ln>
          </p:spPr>
          <p:txBody>
            <a:bodyPr wrap="square" lIns="0" tIns="0" rIns="0" bIns="0" rtlCol="0"/>
            <a:lstStyle/>
            <a:p/>
          </p:txBody>
        </p:sp>
        <p:sp>
          <p:nvSpPr>
            <p:cNvPr id="66" name="object 66" descr=""/>
            <p:cNvSpPr/>
            <p:nvPr/>
          </p:nvSpPr>
          <p:spPr>
            <a:xfrm>
              <a:off x="8494690" y="2056400"/>
              <a:ext cx="85725" cy="100330"/>
            </a:xfrm>
            <a:custGeom>
              <a:avLst/>
              <a:gdLst/>
              <a:ahLst/>
              <a:cxnLst/>
              <a:rect l="l" t="t" r="r" b="b"/>
              <a:pathLst>
                <a:path w="85725" h="100330">
                  <a:moveTo>
                    <a:pt x="0" y="0"/>
                  </a:moveTo>
                  <a:lnTo>
                    <a:pt x="85725" y="50012"/>
                  </a:lnTo>
                  <a:lnTo>
                    <a:pt x="0" y="100012"/>
                  </a:lnTo>
                </a:path>
              </a:pathLst>
            </a:custGeom>
            <a:ln w="28575">
              <a:solidFill>
                <a:srgbClr val="92D050"/>
              </a:solidFill>
            </a:ln>
          </p:spPr>
          <p:txBody>
            <a:bodyPr wrap="square" lIns="0" tIns="0" rIns="0" bIns="0" rtlCol="0"/>
            <a:lstStyle/>
            <a:p/>
          </p:txBody>
        </p:sp>
        <p:sp>
          <p:nvSpPr>
            <p:cNvPr id="67" name="object 67" descr=""/>
            <p:cNvSpPr/>
            <p:nvPr/>
          </p:nvSpPr>
          <p:spPr>
            <a:xfrm>
              <a:off x="5976156" y="819058"/>
              <a:ext cx="0" cy="3996690"/>
            </a:xfrm>
            <a:custGeom>
              <a:avLst/>
              <a:gdLst/>
              <a:ahLst/>
              <a:cxnLst/>
              <a:rect l="l" t="t" r="r" b="b"/>
              <a:pathLst>
                <a:path w="0" h="3996690">
                  <a:moveTo>
                    <a:pt x="0" y="0"/>
                  </a:moveTo>
                  <a:lnTo>
                    <a:pt x="0" y="3996448"/>
                  </a:lnTo>
                </a:path>
              </a:pathLst>
            </a:custGeom>
            <a:ln w="9525">
              <a:solidFill>
                <a:srgbClr val="B6DCDF"/>
              </a:solidFill>
              <a:prstDash val="sysDash"/>
            </a:ln>
          </p:spPr>
          <p:txBody>
            <a:bodyPr wrap="square" lIns="0" tIns="0" rIns="0" bIns="0" rtlCol="0"/>
            <a:lstStyle/>
            <a:p/>
          </p:txBody>
        </p:sp>
      </p:grpSp>
      <p:sp>
        <p:nvSpPr>
          <p:cNvPr id="68" name="object 68" descr=""/>
          <p:cNvSpPr txBox="1"/>
          <p:nvPr/>
        </p:nvSpPr>
        <p:spPr>
          <a:xfrm>
            <a:off x="6740278" y="2288019"/>
            <a:ext cx="1600835" cy="162560"/>
          </a:xfrm>
          <a:prstGeom prst="rect">
            <a:avLst/>
          </a:prstGeom>
        </p:spPr>
        <p:txBody>
          <a:bodyPr wrap="square" lIns="0" tIns="12700" rIns="0" bIns="0" rtlCol="0" vert="horz">
            <a:spAutoFit/>
          </a:bodyPr>
          <a:lstStyle/>
          <a:p>
            <a:pPr marL="12700">
              <a:lnSpc>
                <a:spcPct val="100000"/>
              </a:lnSpc>
              <a:spcBef>
                <a:spcPts val="100"/>
              </a:spcBef>
            </a:pPr>
            <a:r>
              <a:rPr dirty="0" sz="900" spc="-10">
                <a:latin typeface="Microsoft YaHei"/>
                <a:cs typeface="Microsoft YaHei"/>
              </a:rPr>
              <a:t>DL@3.5G</a:t>
            </a:r>
            <a:r>
              <a:rPr dirty="0" sz="900">
                <a:latin typeface="Microsoft YaHei"/>
                <a:cs typeface="Microsoft YaHei"/>
              </a:rPr>
              <a:t>和</a:t>
            </a:r>
            <a:r>
              <a:rPr dirty="0" sz="900" spc="-10">
                <a:latin typeface="Microsoft YaHei"/>
                <a:cs typeface="Microsoft YaHei"/>
              </a:rPr>
              <a:t>2.1G（</a:t>
            </a:r>
            <a:r>
              <a:rPr dirty="0" sz="900">
                <a:latin typeface="Microsoft YaHei"/>
                <a:cs typeface="Microsoft YaHei"/>
              </a:rPr>
              <a:t>或者</a:t>
            </a:r>
            <a:r>
              <a:rPr dirty="0" sz="900" spc="-20">
                <a:latin typeface="Microsoft YaHei"/>
                <a:cs typeface="Microsoft YaHei"/>
              </a:rPr>
              <a:t>1.8G）</a:t>
            </a:r>
            <a:endParaRPr sz="900">
              <a:latin typeface="Microsoft YaHei"/>
              <a:cs typeface="Microsoft YaHei"/>
            </a:endParaRPr>
          </a:p>
        </p:txBody>
      </p:sp>
      <p:sp>
        <p:nvSpPr>
          <p:cNvPr id="69" name="object 69" descr=""/>
          <p:cNvSpPr/>
          <p:nvPr/>
        </p:nvSpPr>
        <p:spPr>
          <a:xfrm>
            <a:off x="3005825" y="843558"/>
            <a:ext cx="0" cy="3996690"/>
          </a:xfrm>
          <a:custGeom>
            <a:avLst/>
            <a:gdLst/>
            <a:ahLst/>
            <a:cxnLst/>
            <a:rect l="l" t="t" r="r" b="b"/>
            <a:pathLst>
              <a:path w="0" h="3996690">
                <a:moveTo>
                  <a:pt x="0" y="0"/>
                </a:moveTo>
                <a:lnTo>
                  <a:pt x="0" y="3996448"/>
                </a:lnTo>
              </a:path>
            </a:pathLst>
          </a:custGeom>
          <a:ln w="9525">
            <a:solidFill>
              <a:srgbClr val="B6DCDF"/>
            </a:solidFill>
            <a:prstDash val="sysDash"/>
          </a:ln>
        </p:spPr>
        <p:txBody>
          <a:bodyPr wrap="square" lIns="0" tIns="0" rIns="0" bIns="0" rtlCol="0"/>
          <a:lstStyle/>
          <a:p/>
        </p:txBody>
      </p:sp>
      <p:sp>
        <p:nvSpPr>
          <p:cNvPr id="70" name="object 70" descr=""/>
          <p:cNvSpPr txBox="1"/>
          <p:nvPr/>
        </p:nvSpPr>
        <p:spPr>
          <a:xfrm>
            <a:off x="3093582" y="2875068"/>
            <a:ext cx="2740025" cy="547370"/>
          </a:xfrm>
          <a:prstGeom prst="rect">
            <a:avLst/>
          </a:prstGeom>
        </p:spPr>
        <p:txBody>
          <a:bodyPr wrap="square" lIns="0" tIns="33020" rIns="0" bIns="0" rtlCol="0" vert="horz">
            <a:spAutoFit/>
          </a:bodyPr>
          <a:lstStyle/>
          <a:p>
            <a:pPr marL="269240" indent="-256540">
              <a:lnSpc>
                <a:spcPct val="100000"/>
              </a:lnSpc>
              <a:spcBef>
                <a:spcPts val="260"/>
              </a:spcBef>
              <a:buClr>
                <a:srgbClr val="0070C0"/>
              </a:buClr>
              <a:buFont typeface="Wingdings"/>
              <a:buChar char=""/>
              <a:tabLst>
                <a:tab pos="269240" algn="l"/>
              </a:tabLst>
            </a:pPr>
            <a:r>
              <a:rPr dirty="0" sz="1400" spc="-20" b="1">
                <a:latin typeface="Microsoft YaHei"/>
                <a:cs typeface="Microsoft YaHei"/>
              </a:rPr>
              <a:t>UDC（上行数据压缩</a:t>
            </a:r>
            <a:r>
              <a:rPr dirty="0" sz="1400" spc="-25" b="1">
                <a:latin typeface="Microsoft YaHei"/>
                <a:cs typeface="Microsoft YaHei"/>
              </a:rPr>
              <a:t>）：</a:t>
            </a:r>
            <a:endParaRPr sz="1400">
              <a:latin typeface="Microsoft YaHei"/>
              <a:cs typeface="Microsoft YaHei"/>
            </a:endParaRPr>
          </a:p>
          <a:p>
            <a:pPr marL="250825" marR="5080">
              <a:lnSpc>
                <a:spcPct val="100000"/>
              </a:lnSpc>
              <a:spcBef>
                <a:spcPts val="105"/>
              </a:spcBef>
            </a:pPr>
            <a:r>
              <a:rPr dirty="0" sz="900" spc="-5">
                <a:latin typeface="Microsoft YaHei"/>
                <a:cs typeface="Microsoft YaHei"/>
              </a:rPr>
              <a:t>相同空口资源传输更多应用层数据，提升上行应</a:t>
            </a:r>
            <a:r>
              <a:rPr dirty="0" sz="900" spc="-10">
                <a:latin typeface="Microsoft YaHei"/>
                <a:cs typeface="Microsoft YaHei"/>
              </a:rPr>
              <a:t>用层传输速率</a:t>
            </a:r>
            <a:endParaRPr sz="900">
              <a:latin typeface="Microsoft YaHei"/>
              <a:cs typeface="Microsoft YaHei"/>
            </a:endParaRPr>
          </a:p>
        </p:txBody>
      </p:sp>
      <p:pic>
        <p:nvPicPr>
          <p:cNvPr id="71" name="object 71"/>
          <p:cNvPicPr/>
          <p:nvPr/>
        </p:nvPicPr>
        <p:blipFill>
          <a:blip r:embed="rId2" cstate="print"/>
          <a:stretch>
            <a:fillRect/>
          </a:stretch>
        </p:blipFill>
        <p:spPr>
          <a:xfrm>
            <a:off x="5103107" y="3550847"/>
            <a:ext cx="724439" cy="535427"/>
          </a:xfrm>
          <a:prstGeom prst="rect">
            <a:avLst/>
          </a:prstGeom>
        </p:spPr>
      </p:pic>
      <p:pic>
        <p:nvPicPr>
          <p:cNvPr id="72" name="object 72"/>
          <p:cNvPicPr/>
          <p:nvPr/>
        </p:nvPicPr>
        <p:blipFill>
          <a:blip r:embed="rId3" cstate="print"/>
          <a:stretch>
            <a:fillRect/>
          </a:stretch>
        </p:blipFill>
        <p:spPr>
          <a:xfrm>
            <a:off x="3334016" y="3798622"/>
            <a:ext cx="175764" cy="316812"/>
          </a:xfrm>
          <a:prstGeom prst="rect">
            <a:avLst/>
          </a:prstGeom>
        </p:spPr>
      </p:pic>
      <p:sp>
        <p:nvSpPr>
          <p:cNvPr id="73" name="object 73" descr=""/>
          <p:cNvSpPr txBox="1"/>
          <p:nvPr/>
        </p:nvSpPr>
        <p:spPr>
          <a:xfrm>
            <a:off x="3310224" y="3614120"/>
            <a:ext cx="213995" cy="193040"/>
          </a:xfrm>
          <a:prstGeom prst="rect">
            <a:avLst/>
          </a:prstGeom>
        </p:spPr>
        <p:txBody>
          <a:bodyPr wrap="square" lIns="0" tIns="12065" rIns="0" bIns="0" rtlCol="0" vert="horz">
            <a:spAutoFit/>
          </a:bodyPr>
          <a:lstStyle/>
          <a:p>
            <a:pPr marL="12700">
              <a:lnSpc>
                <a:spcPct val="100000"/>
              </a:lnSpc>
              <a:spcBef>
                <a:spcPts val="95"/>
              </a:spcBef>
            </a:pPr>
            <a:r>
              <a:rPr dirty="0" sz="1100" spc="-25" b="1">
                <a:latin typeface="Microsoft YaHei"/>
                <a:cs typeface="Microsoft YaHei"/>
              </a:rPr>
              <a:t>UE</a:t>
            </a:r>
            <a:endParaRPr sz="1100">
              <a:latin typeface="Microsoft YaHei"/>
              <a:cs typeface="Microsoft YaHei"/>
            </a:endParaRPr>
          </a:p>
        </p:txBody>
      </p:sp>
      <p:grpSp>
        <p:nvGrpSpPr>
          <p:cNvPr id="74" name="object 74" descr=""/>
          <p:cNvGrpSpPr/>
          <p:nvPr/>
        </p:nvGrpSpPr>
        <p:grpSpPr>
          <a:xfrm>
            <a:off x="3825322" y="3836811"/>
            <a:ext cx="1181100" cy="128905"/>
            <a:chOff x="3825322" y="3836811"/>
            <a:chExt cx="1181100" cy="128905"/>
          </a:xfrm>
        </p:grpSpPr>
        <p:sp>
          <p:nvSpPr>
            <p:cNvPr id="75" name="object 75" descr=""/>
            <p:cNvSpPr/>
            <p:nvPr/>
          </p:nvSpPr>
          <p:spPr>
            <a:xfrm>
              <a:off x="3825322" y="3901109"/>
              <a:ext cx="1166495" cy="0"/>
            </a:xfrm>
            <a:custGeom>
              <a:avLst/>
              <a:gdLst/>
              <a:ahLst/>
              <a:cxnLst/>
              <a:rect l="l" t="t" r="r" b="b"/>
              <a:pathLst>
                <a:path w="1166495" h="0">
                  <a:moveTo>
                    <a:pt x="0" y="0"/>
                  </a:moveTo>
                  <a:lnTo>
                    <a:pt x="1166456" y="0"/>
                  </a:lnTo>
                </a:path>
              </a:pathLst>
            </a:custGeom>
            <a:ln w="28575">
              <a:solidFill>
                <a:srgbClr val="92D050"/>
              </a:solidFill>
            </a:ln>
          </p:spPr>
          <p:txBody>
            <a:bodyPr wrap="square" lIns="0" tIns="0" rIns="0" bIns="0" rtlCol="0"/>
            <a:lstStyle/>
            <a:p/>
          </p:txBody>
        </p:sp>
        <p:sp>
          <p:nvSpPr>
            <p:cNvPr id="76" name="object 76" descr=""/>
            <p:cNvSpPr/>
            <p:nvPr/>
          </p:nvSpPr>
          <p:spPr>
            <a:xfrm>
              <a:off x="4906055" y="3851098"/>
              <a:ext cx="85725" cy="100330"/>
            </a:xfrm>
            <a:custGeom>
              <a:avLst/>
              <a:gdLst/>
              <a:ahLst/>
              <a:cxnLst/>
              <a:rect l="l" t="t" r="r" b="b"/>
              <a:pathLst>
                <a:path w="85725" h="100329">
                  <a:moveTo>
                    <a:pt x="0" y="0"/>
                  </a:moveTo>
                  <a:lnTo>
                    <a:pt x="85725" y="50012"/>
                  </a:lnTo>
                  <a:lnTo>
                    <a:pt x="0" y="100012"/>
                  </a:lnTo>
                </a:path>
              </a:pathLst>
            </a:custGeom>
            <a:ln w="28575">
              <a:solidFill>
                <a:srgbClr val="92D050"/>
              </a:solidFill>
            </a:ln>
          </p:spPr>
          <p:txBody>
            <a:bodyPr wrap="square" lIns="0" tIns="0" rIns="0" bIns="0" rtlCol="0"/>
            <a:lstStyle/>
            <a:p/>
          </p:txBody>
        </p:sp>
      </p:grpSp>
      <p:pic>
        <p:nvPicPr>
          <p:cNvPr id="77" name="object 77"/>
          <p:cNvPicPr/>
          <p:nvPr/>
        </p:nvPicPr>
        <p:blipFill>
          <a:blip r:embed="rId7" cstate="print"/>
          <a:stretch>
            <a:fillRect/>
          </a:stretch>
        </p:blipFill>
        <p:spPr>
          <a:xfrm>
            <a:off x="3253740" y="4178046"/>
            <a:ext cx="373367" cy="428243"/>
          </a:xfrm>
          <a:prstGeom prst="rect">
            <a:avLst/>
          </a:prstGeom>
        </p:spPr>
      </p:pic>
      <p:pic>
        <p:nvPicPr>
          <p:cNvPr id="78" name="object 78"/>
          <p:cNvPicPr/>
          <p:nvPr/>
        </p:nvPicPr>
        <p:blipFill>
          <a:blip r:embed="rId8" cstate="print"/>
          <a:stretch>
            <a:fillRect/>
          </a:stretch>
        </p:blipFill>
        <p:spPr>
          <a:xfrm>
            <a:off x="5278373" y="4178045"/>
            <a:ext cx="373379" cy="428243"/>
          </a:xfrm>
          <a:prstGeom prst="rect">
            <a:avLst/>
          </a:prstGeom>
        </p:spPr>
      </p:pic>
      <p:sp>
        <p:nvSpPr>
          <p:cNvPr id="79" name="object 79" descr=""/>
          <p:cNvSpPr/>
          <p:nvPr/>
        </p:nvSpPr>
        <p:spPr>
          <a:xfrm>
            <a:off x="3768485" y="4285197"/>
            <a:ext cx="1338580" cy="214629"/>
          </a:xfrm>
          <a:custGeom>
            <a:avLst/>
            <a:gdLst/>
            <a:ahLst/>
            <a:cxnLst/>
            <a:rect l="l" t="t" r="r" b="b"/>
            <a:pathLst>
              <a:path w="1338579" h="214629">
                <a:moveTo>
                  <a:pt x="1231011" y="0"/>
                </a:moveTo>
                <a:lnTo>
                  <a:pt x="1231011" y="53543"/>
                </a:lnTo>
                <a:lnTo>
                  <a:pt x="107099" y="53543"/>
                </a:lnTo>
                <a:lnTo>
                  <a:pt x="107099" y="0"/>
                </a:lnTo>
                <a:lnTo>
                  <a:pt x="0" y="107099"/>
                </a:lnTo>
                <a:lnTo>
                  <a:pt x="107099" y="214198"/>
                </a:lnTo>
                <a:lnTo>
                  <a:pt x="107099" y="160654"/>
                </a:lnTo>
                <a:lnTo>
                  <a:pt x="1231011" y="160654"/>
                </a:lnTo>
                <a:lnTo>
                  <a:pt x="1231011" y="214198"/>
                </a:lnTo>
                <a:lnTo>
                  <a:pt x="1338110" y="107099"/>
                </a:lnTo>
                <a:lnTo>
                  <a:pt x="1231011" y="0"/>
                </a:lnTo>
                <a:close/>
              </a:path>
            </a:pathLst>
          </a:custGeom>
          <a:solidFill>
            <a:srgbClr val="33CCFF"/>
          </a:solidFill>
        </p:spPr>
        <p:txBody>
          <a:bodyPr wrap="square" lIns="0" tIns="0" rIns="0" bIns="0" rtlCol="0"/>
          <a:lstStyle/>
          <a:p/>
        </p:txBody>
      </p:sp>
      <p:sp>
        <p:nvSpPr>
          <p:cNvPr id="80" name="object 80" descr=""/>
          <p:cNvSpPr txBox="1"/>
          <p:nvPr/>
        </p:nvSpPr>
        <p:spPr>
          <a:xfrm>
            <a:off x="804509" y="4100231"/>
            <a:ext cx="7532370" cy="829310"/>
          </a:xfrm>
          <a:prstGeom prst="rect">
            <a:avLst/>
          </a:prstGeom>
        </p:spPr>
        <p:txBody>
          <a:bodyPr wrap="square" lIns="0" tIns="12065" rIns="0" bIns="0" rtlCol="0" vert="horz">
            <a:spAutoFit/>
          </a:bodyPr>
          <a:lstStyle/>
          <a:p>
            <a:pPr algn="ctr" marR="309245">
              <a:lnSpc>
                <a:spcPct val="100000"/>
              </a:lnSpc>
              <a:spcBef>
                <a:spcPts val="95"/>
              </a:spcBef>
            </a:pPr>
            <a:r>
              <a:rPr dirty="0" sz="1100" spc="-30" b="1">
                <a:latin typeface="Microsoft YaHei"/>
                <a:cs typeface="Microsoft YaHei"/>
              </a:rPr>
              <a:t>空口传输</a:t>
            </a:r>
            <a:endParaRPr sz="1100">
              <a:latin typeface="Microsoft YaHei"/>
              <a:cs typeface="Microsoft YaHei"/>
            </a:endParaRPr>
          </a:p>
          <a:p>
            <a:pPr>
              <a:lnSpc>
                <a:spcPct val="100000"/>
              </a:lnSpc>
              <a:spcBef>
                <a:spcPts val="365"/>
              </a:spcBef>
            </a:pPr>
            <a:endParaRPr sz="1100">
              <a:latin typeface="Microsoft YaHei"/>
              <a:cs typeface="Microsoft YaHei"/>
            </a:endParaRPr>
          </a:p>
          <a:p>
            <a:pPr algn="ctr" marR="175895">
              <a:lnSpc>
                <a:spcPts val="1250"/>
              </a:lnSpc>
              <a:tabLst>
                <a:tab pos="1884680" algn="l"/>
              </a:tabLst>
            </a:pPr>
            <a:r>
              <a:rPr dirty="0" sz="1100" spc="-20" b="1">
                <a:solidFill>
                  <a:srgbClr val="002060"/>
                </a:solidFill>
                <a:latin typeface="Microsoft YaHei"/>
                <a:cs typeface="Microsoft YaHei"/>
              </a:rPr>
              <a:t>数据压</a:t>
            </a:r>
            <a:r>
              <a:rPr dirty="0" sz="1100" spc="-50" b="1">
                <a:solidFill>
                  <a:srgbClr val="002060"/>
                </a:solidFill>
                <a:latin typeface="Microsoft YaHei"/>
                <a:cs typeface="Microsoft YaHei"/>
              </a:rPr>
              <a:t>缩</a:t>
            </a:r>
            <a:r>
              <a:rPr dirty="0" sz="1100" b="1">
                <a:solidFill>
                  <a:srgbClr val="002060"/>
                </a:solidFill>
                <a:latin typeface="Microsoft YaHei"/>
                <a:cs typeface="Microsoft YaHei"/>
              </a:rPr>
              <a:t>	</a:t>
            </a:r>
            <a:r>
              <a:rPr dirty="0" sz="1100" spc="-20" b="1">
                <a:solidFill>
                  <a:srgbClr val="002060"/>
                </a:solidFill>
                <a:latin typeface="Microsoft YaHei"/>
                <a:cs typeface="Microsoft YaHei"/>
              </a:rPr>
              <a:t>数据解压</a:t>
            </a:r>
            <a:r>
              <a:rPr dirty="0" sz="1100" spc="-50" b="1">
                <a:solidFill>
                  <a:srgbClr val="002060"/>
                </a:solidFill>
                <a:latin typeface="Microsoft YaHei"/>
                <a:cs typeface="Microsoft YaHei"/>
              </a:rPr>
              <a:t>缩</a:t>
            </a:r>
            <a:endParaRPr sz="1100">
              <a:latin typeface="Microsoft YaHei"/>
              <a:cs typeface="Microsoft YaHei"/>
            </a:endParaRPr>
          </a:p>
          <a:p>
            <a:pPr algn="ctr">
              <a:lnSpc>
                <a:spcPts val="1370"/>
              </a:lnSpc>
            </a:pPr>
            <a:r>
              <a:rPr dirty="0" sz="1200" b="1">
                <a:latin typeface="Microsoft YaHei"/>
                <a:cs typeface="Microsoft YaHei"/>
              </a:rPr>
              <a:t>初期</a:t>
            </a:r>
            <a:r>
              <a:rPr dirty="0" sz="1200" spc="-10" b="1">
                <a:latin typeface="Microsoft YaHei"/>
                <a:cs typeface="Microsoft YaHei"/>
              </a:rPr>
              <a:t>NSA</a:t>
            </a:r>
            <a:r>
              <a:rPr dirty="0" sz="1200" b="1">
                <a:latin typeface="Microsoft YaHei"/>
                <a:cs typeface="Microsoft YaHei"/>
              </a:rPr>
              <a:t>建议与</a:t>
            </a:r>
            <a:r>
              <a:rPr dirty="0" sz="1200" spc="-10" b="1">
                <a:latin typeface="Microsoft YaHei"/>
                <a:cs typeface="Microsoft YaHei"/>
              </a:rPr>
              <a:t>4G</a:t>
            </a:r>
            <a:r>
              <a:rPr dirty="0" sz="1200" b="1">
                <a:latin typeface="Microsoft YaHei"/>
                <a:cs typeface="Microsoft YaHei"/>
              </a:rPr>
              <a:t>站址</a:t>
            </a:r>
            <a:r>
              <a:rPr dirty="0" sz="1200" spc="-10" b="1">
                <a:latin typeface="Microsoft YaHei"/>
                <a:cs typeface="Microsoft YaHei"/>
              </a:rPr>
              <a:t>1:1</a:t>
            </a:r>
            <a:r>
              <a:rPr dirty="0" sz="1200" b="1">
                <a:latin typeface="Microsoft YaHei"/>
                <a:cs typeface="Microsoft YaHei"/>
              </a:rPr>
              <a:t>建设，满足室内浅层覆盖，后期通过</a:t>
            </a:r>
            <a:r>
              <a:rPr dirty="0" sz="1200" spc="-10" b="1">
                <a:latin typeface="Microsoft YaHei"/>
                <a:cs typeface="Microsoft YaHei"/>
              </a:rPr>
              <a:t>CA/DC</a:t>
            </a:r>
            <a:r>
              <a:rPr dirty="0" sz="1200" b="1">
                <a:latin typeface="Microsoft YaHei"/>
                <a:cs typeface="Microsoft YaHei"/>
              </a:rPr>
              <a:t>增强技术做到1:1</a:t>
            </a:r>
            <a:r>
              <a:rPr dirty="0" sz="1200" spc="-5" b="1">
                <a:latin typeface="Microsoft YaHei"/>
                <a:cs typeface="Microsoft YaHei"/>
              </a:rPr>
              <a:t> 共站址，无需增加新站</a:t>
            </a:r>
            <a:endParaRPr sz="1200">
              <a:latin typeface="Microsoft YaHei"/>
              <a:cs typeface="Microsoft YaHei"/>
            </a:endParaRPr>
          </a:p>
        </p:txBody>
      </p:sp>
      <p:grpSp>
        <p:nvGrpSpPr>
          <p:cNvPr id="81" name="object 81" descr=""/>
          <p:cNvGrpSpPr/>
          <p:nvPr/>
        </p:nvGrpSpPr>
        <p:grpSpPr>
          <a:xfrm>
            <a:off x="6596519" y="3353600"/>
            <a:ext cx="2193290" cy="1308100"/>
            <a:chOff x="6596519" y="3353600"/>
            <a:chExt cx="2193290" cy="1308100"/>
          </a:xfrm>
        </p:grpSpPr>
        <p:pic>
          <p:nvPicPr>
            <p:cNvPr id="82" name="object 82"/>
            <p:cNvPicPr/>
            <p:nvPr/>
          </p:nvPicPr>
          <p:blipFill>
            <a:blip r:embed="rId3" cstate="print"/>
            <a:stretch>
              <a:fillRect/>
            </a:stretch>
          </p:blipFill>
          <p:spPr>
            <a:xfrm>
              <a:off x="6596519" y="4156342"/>
              <a:ext cx="175761" cy="316813"/>
            </a:xfrm>
            <a:prstGeom prst="rect">
              <a:avLst/>
            </a:prstGeom>
          </p:spPr>
        </p:pic>
        <p:pic>
          <p:nvPicPr>
            <p:cNvPr id="83" name="object 83"/>
            <p:cNvPicPr/>
            <p:nvPr/>
          </p:nvPicPr>
          <p:blipFill>
            <a:blip r:embed="rId2" cstate="print"/>
            <a:stretch>
              <a:fillRect/>
            </a:stretch>
          </p:blipFill>
          <p:spPr>
            <a:xfrm>
              <a:off x="7703045" y="3353600"/>
              <a:ext cx="724438" cy="535430"/>
            </a:xfrm>
            <a:prstGeom prst="rect">
              <a:avLst/>
            </a:prstGeom>
          </p:spPr>
        </p:pic>
        <p:pic>
          <p:nvPicPr>
            <p:cNvPr id="84" name="object 84"/>
            <p:cNvPicPr/>
            <p:nvPr/>
          </p:nvPicPr>
          <p:blipFill>
            <a:blip r:embed="rId2" cstate="print"/>
            <a:stretch>
              <a:fillRect/>
            </a:stretch>
          </p:blipFill>
          <p:spPr>
            <a:xfrm>
              <a:off x="8065262" y="4125760"/>
              <a:ext cx="724443" cy="535429"/>
            </a:xfrm>
            <a:prstGeom prst="rect">
              <a:avLst/>
            </a:prstGeom>
          </p:spPr>
        </p:pic>
      </p:grpSp>
      <p:sp>
        <p:nvSpPr>
          <p:cNvPr id="85" name="object 85" descr=""/>
          <p:cNvSpPr txBox="1"/>
          <p:nvPr/>
        </p:nvSpPr>
        <p:spPr>
          <a:xfrm>
            <a:off x="6042557" y="2817542"/>
            <a:ext cx="2868295" cy="729615"/>
          </a:xfrm>
          <a:prstGeom prst="rect">
            <a:avLst/>
          </a:prstGeom>
        </p:spPr>
        <p:txBody>
          <a:bodyPr wrap="square" lIns="0" tIns="91440" rIns="0" bIns="0" rtlCol="0" vert="horz">
            <a:spAutoFit/>
          </a:bodyPr>
          <a:lstStyle/>
          <a:p>
            <a:pPr marL="269875" indent="-257175">
              <a:lnSpc>
                <a:spcPct val="100000"/>
              </a:lnSpc>
              <a:spcBef>
                <a:spcPts val="720"/>
              </a:spcBef>
              <a:buClr>
                <a:srgbClr val="0070C0"/>
              </a:buClr>
              <a:buFont typeface="Wingdings"/>
              <a:buChar char=""/>
              <a:tabLst>
                <a:tab pos="269875" algn="l"/>
              </a:tabLst>
            </a:pPr>
            <a:r>
              <a:rPr dirty="0" sz="1100" spc="-10" b="1">
                <a:latin typeface="Microsoft YaHei"/>
                <a:cs typeface="Microsoft YaHei"/>
              </a:rPr>
              <a:t>NR-DC</a:t>
            </a:r>
            <a:r>
              <a:rPr dirty="0" sz="1100" spc="-25" b="1">
                <a:latin typeface="Microsoft YaHei"/>
                <a:cs typeface="Microsoft YaHei"/>
              </a:rPr>
              <a:t>双连接技术：</a:t>
            </a:r>
            <a:endParaRPr sz="1100">
              <a:latin typeface="Microsoft YaHei"/>
              <a:cs typeface="Microsoft YaHei"/>
            </a:endParaRPr>
          </a:p>
          <a:p>
            <a:pPr marL="311150" marR="95885" indent="-635">
              <a:lnSpc>
                <a:spcPct val="100000"/>
              </a:lnSpc>
              <a:spcBef>
                <a:spcPts val="509"/>
              </a:spcBef>
            </a:pPr>
            <a:r>
              <a:rPr dirty="0" sz="900" spc="-10">
                <a:latin typeface="Microsoft YaHei"/>
                <a:cs typeface="Microsoft YaHei"/>
              </a:rPr>
              <a:t>2.1GHz</a:t>
            </a:r>
            <a:r>
              <a:rPr dirty="0" sz="900">
                <a:latin typeface="Microsoft YaHei"/>
                <a:cs typeface="Microsoft YaHei"/>
              </a:rPr>
              <a:t>重耕到</a:t>
            </a:r>
            <a:r>
              <a:rPr dirty="0" sz="900" spc="-10">
                <a:latin typeface="Microsoft YaHei"/>
                <a:cs typeface="Microsoft YaHei"/>
              </a:rPr>
              <a:t>NR</a:t>
            </a:r>
            <a:r>
              <a:rPr dirty="0" sz="900" spc="-5">
                <a:latin typeface="Microsoft YaHei"/>
                <a:cs typeface="Microsoft YaHei"/>
              </a:rPr>
              <a:t>，可以通过</a:t>
            </a:r>
            <a:r>
              <a:rPr dirty="0" sz="900" spc="-10">
                <a:latin typeface="Microsoft YaHei"/>
                <a:cs typeface="Microsoft YaHei"/>
              </a:rPr>
              <a:t>2.1+3.5双连接提升</a:t>
            </a:r>
            <a:r>
              <a:rPr dirty="0" sz="900" spc="-15">
                <a:latin typeface="Microsoft YaHei"/>
                <a:cs typeface="Microsoft YaHei"/>
              </a:rPr>
              <a:t>上行性能</a:t>
            </a:r>
            <a:endParaRPr sz="900">
              <a:latin typeface="Microsoft YaHei"/>
              <a:cs typeface="Microsoft YaHei"/>
            </a:endParaRPr>
          </a:p>
          <a:p>
            <a:pPr algn="r" marR="5080">
              <a:lnSpc>
                <a:spcPts val="930"/>
              </a:lnSpc>
            </a:pPr>
            <a:r>
              <a:rPr dirty="0" sz="900">
                <a:latin typeface="Microsoft YaHei"/>
                <a:cs typeface="Microsoft YaHei"/>
              </a:rPr>
              <a:t>2.1GHz</a:t>
            </a:r>
            <a:r>
              <a:rPr dirty="0" sz="900" spc="-30">
                <a:latin typeface="Microsoft YaHei"/>
                <a:cs typeface="Microsoft YaHei"/>
              </a:rPr>
              <a:t> </a:t>
            </a:r>
            <a:r>
              <a:rPr dirty="0" sz="900" spc="-25">
                <a:latin typeface="Microsoft YaHei"/>
                <a:cs typeface="Microsoft YaHei"/>
              </a:rPr>
              <a:t>NR</a:t>
            </a:r>
            <a:endParaRPr sz="900">
              <a:latin typeface="Microsoft YaHei"/>
              <a:cs typeface="Microsoft YaHei"/>
            </a:endParaRPr>
          </a:p>
        </p:txBody>
      </p:sp>
      <p:sp>
        <p:nvSpPr>
          <p:cNvPr id="86" name="object 86" descr=""/>
          <p:cNvSpPr txBox="1"/>
          <p:nvPr/>
        </p:nvSpPr>
        <p:spPr>
          <a:xfrm>
            <a:off x="8400439" y="3965606"/>
            <a:ext cx="615950" cy="162560"/>
          </a:xfrm>
          <a:prstGeom prst="rect">
            <a:avLst/>
          </a:prstGeom>
        </p:spPr>
        <p:txBody>
          <a:bodyPr wrap="square" lIns="0" tIns="12700" rIns="0" bIns="0" rtlCol="0" vert="horz">
            <a:spAutoFit/>
          </a:bodyPr>
          <a:lstStyle/>
          <a:p>
            <a:pPr marL="12700">
              <a:lnSpc>
                <a:spcPct val="100000"/>
              </a:lnSpc>
              <a:spcBef>
                <a:spcPts val="100"/>
              </a:spcBef>
            </a:pPr>
            <a:r>
              <a:rPr dirty="0" sz="900">
                <a:latin typeface="Microsoft YaHei"/>
                <a:cs typeface="Microsoft YaHei"/>
              </a:rPr>
              <a:t>3.5GHz</a:t>
            </a:r>
            <a:r>
              <a:rPr dirty="0" sz="900" spc="-30">
                <a:latin typeface="Microsoft YaHei"/>
                <a:cs typeface="Microsoft YaHei"/>
              </a:rPr>
              <a:t> </a:t>
            </a:r>
            <a:r>
              <a:rPr dirty="0" sz="900" spc="-25">
                <a:latin typeface="Microsoft YaHei"/>
                <a:cs typeface="Microsoft YaHei"/>
              </a:rPr>
              <a:t>NR</a:t>
            </a:r>
            <a:endParaRPr sz="900">
              <a:latin typeface="Microsoft YaHei"/>
              <a:cs typeface="Microsoft YaHei"/>
            </a:endParaRPr>
          </a:p>
        </p:txBody>
      </p:sp>
      <p:grpSp>
        <p:nvGrpSpPr>
          <p:cNvPr id="87" name="object 87" descr=""/>
          <p:cNvGrpSpPr/>
          <p:nvPr/>
        </p:nvGrpSpPr>
        <p:grpSpPr>
          <a:xfrm>
            <a:off x="6757992" y="3692874"/>
            <a:ext cx="1467485" cy="748665"/>
            <a:chOff x="6757992" y="3692874"/>
            <a:chExt cx="1467485" cy="748665"/>
          </a:xfrm>
        </p:grpSpPr>
        <p:sp>
          <p:nvSpPr>
            <p:cNvPr id="88" name="object 88" descr=""/>
            <p:cNvSpPr/>
            <p:nvPr/>
          </p:nvSpPr>
          <p:spPr>
            <a:xfrm>
              <a:off x="6772281" y="3717508"/>
              <a:ext cx="1068705" cy="481965"/>
            </a:xfrm>
            <a:custGeom>
              <a:avLst/>
              <a:gdLst/>
              <a:ahLst/>
              <a:cxnLst/>
              <a:rect l="l" t="t" r="r" b="b"/>
              <a:pathLst>
                <a:path w="1068704" h="481964">
                  <a:moveTo>
                    <a:pt x="0" y="481825"/>
                  </a:moveTo>
                  <a:lnTo>
                    <a:pt x="1068298" y="0"/>
                  </a:lnTo>
                </a:path>
              </a:pathLst>
            </a:custGeom>
            <a:ln w="28575">
              <a:solidFill>
                <a:srgbClr val="0070C0"/>
              </a:solidFill>
            </a:ln>
          </p:spPr>
          <p:txBody>
            <a:bodyPr wrap="square" lIns="0" tIns="0" rIns="0" bIns="0" rtlCol="0"/>
            <a:lstStyle/>
            <a:p/>
          </p:txBody>
        </p:sp>
        <p:sp>
          <p:nvSpPr>
            <p:cNvPr id="89" name="object 89" descr=""/>
            <p:cNvSpPr/>
            <p:nvPr/>
          </p:nvSpPr>
          <p:spPr>
            <a:xfrm>
              <a:off x="7741874" y="3707161"/>
              <a:ext cx="99060" cy="91440"/>
            </a:xfrm>
            <a:custGeom>
              <a:avLst/>
              <a:gdLst/>
              <a:ahLst/>
              <a:cxnLst/>
              <a:rect l="l" t="t" r="r" b="b"/>
              <a:pathLst>
                <a:path w="99059" h="91439">
                  <a:moveTo>
                    <a:pt x="0" y="0"/>
                  </a:moveTo>
                  <a:lnTo>
                    <a:pt x="98704" y="10337"/>
                  </a:lnTo>
                  <a:lnTo>
                    <a:pt x="41109" y="91173"/>
                  </a:lnTo>
                </a:path>
              </a:pathLst>
            </a:custGeom>
            <a:ln w="28575">
              <a:solidFill>
                <a:srgbClr val="0070C0"/>
              </a:solidFill>
            </a:ln>
          </p:spPr>
          <p:txBody>
            <a:bodyPr wrap="square" lIns="0" tIns="0" rIns="0" bIns="0" rtlCol="0"/>
            <a:lstStyle/>
            <a:p/>
          </p:txBody>
        </p:sp>
        <p:sp>
          <p:nvSpPr>
            <p:cNvPr id="90" name="object 90" descr=""/>
            <p:cNvSpPr/>
            <p:nvPr/>
          </p:nvSpPr>
          <p:spPr>
            <a:xfrm>
              <a:off x="6772280" y="4199334"/>
              <a:ext cx="1438910" cy="189865"/>
            </a:xfrm>
            <a:custGeom>
              <a:avLst/>
              <a:gdLst/>
              <a:ahLst/>
              <a:cxnLst/>
              <a:rect l="l" t="t" r="r" b="b"/>
              <a:pathLst>
                <a:path w="1438909" h="189864">
                  <a:moveTo>
                    <a:pt x="0" y="0"/>
                  </a:moveTo>
                  <a:lnTo>
                    <a:pt x="1438389" y="189268"/>
                  </a:lnTo>
                </a:path>
              </a:pathLst>
            </a:custGeom>
            <a:ln w="28575">
              <a:solidFill>
                <a:srgbClr val="0070C0"/>
              </a:solidFill>
            </a:ln>
          </p:spPr>
          <p:txBody>
            <a:bodyPr wrap="square" lIns="0" tIns="0" rIns="0" bIns="0" rtlCol="0"/>
            <a:lstStyle/>
            <a:p/>
          </p:txBody>
        </p:sp>
        <p:sp>
          <p:nvSpPr>
            <p:cNvPr id="91" name="object 91" descr=""/>
            <p:cNvSpPr/>
            <p:nvPr/>
          </p:nvSpPr>
          <p:spPr>
            <a:xfrm>
              <a:off x="8119147" y="4327839"/>
              <a:ext cx="92075" cy="99695"/>
            </a:xfrm>
            <a:custGeom>
              <a:avLst/>
              <a:gdLst/>
              <a:ahLst/>
              <a:cxnLst/>
              <a:rect l="l" t="t" r="r" b="b"/>
              <a:pathLst>
                <a:path w="92075" h="99695">
                  <a:moveTo>
                    <a:pt x="13055" y="0"/>
                  </a:moveTo>
                  <a:lnTo>
                    <a:pt x="91516" y="60769"/>
                  </a:lnTo>
                  <a:lnTo>
                    <a:pt x="0" y="99161"/>
                  </a:lnTo>
                </a:path>
              </a:pathLst>
            </a:custGeom>
            <a:ln w="28574">
              <a:solidFill>
                <a:srgbClr val="0070C0"/>
              </a:solidFill>
            </a:ln>
          </p:spPr>
          <p:txBody>
            <a:bodyPr wrap="square" lIns="0" tIns="0" rIns="0" bIns="0" rtlCol="0"/>
            <a:lstStyle/>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7998" y="123352"/>
            <a:ext cx="598932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35"/>
              <a:t>网络</a:t>
            </a:r>
            <a:r>
              <a:rPr dirty="0" spc="-30">
                <a:latin typeface="Times New Roman"/>
                <a:cs typeface="Times New Roman"/>
              </a:rPr>
              <a:t>UE</a:t>
            </a:r>
            <a:r>
              <a:rPr dirty="0" spc="-45"/>
              <a:t>峰值速率及小区吞吐量</a:t>
            </a:r>
          </a:p>
        </p:txBody>
      </p:sp>
      <p:graphicFrame>
        <p:nvGraphicFramePr>
          <p:cNvPr id="3" name="object 3" descr=""/>
          <p:cNvGraphicFramePr>
            <a:graphicFrameLocks noGrp="1"/>
          </p:cNvGraphicFramePr>
          <p:nvPr/>
        </p:nvGraphicFramePr>
        <p:xfrm>
          <a:off x="603250" y="965200"/>
          <a:ext cx="7866380" cy="3196590"/>
        </p:xfrm>
        <a:graphic>
          <a:graphicData uri="http://schemas.openxmlformats.org/drawingml/2006/table">
            <a:tbl>
              <a:tblPr firstRow="1" bandRow="1">
                <a:tableStyleId>{2D5ABB26-0587-4C30-8999-92F81FD0307C}</a:tableStyleId>
              </a:tblPr>
              <a:tblGrid>
                <a:gridCol w="791845"/>
                <a:gridCol w="647699"/>
                <a:gridCol w="4824095"/>
                <a:gridCol w="863600"/>
                <a:gridCol w="647700"/>
              </a:tblGrid>
              <a:tr h="431800">
                <a:tc rowSpan="4">
                  <a:txBody>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844"/>
                        </a:spcBef>
                      </a:pPr>
                      <a:endParaRPr sz="1400">
                        <a:latin typeface="Times New Roman"/>
                        <a:cs typeface="Times New Roman"/>
                      </a:endParaRPr>
                    </a:p>
                    <a:p>
                      <a:pPr marL="95250">
                        <a:lnSpc>
                          <a:spcPct val="100000"/>
                        </a:lnSpc>
                      </a:pPr>
                      <a:r>
                        <a:rPr dirty="0" sz="1400" spc="-20">
                          <a:latin typeface="Arial MT"/>
                          <a:cs typeface="Arial MT"/>
                        </a:rPr>
                        <a:t>UE</a:t>
                      </a:r>
                      <a:r>
                        <a:rPr dirty="0" sz="1400" spc="-35">
                          <a:latin typeface="SimSun"/>
                          <a:cs typeface="SimSun"/>
                        </a:rPr>
                        <a:t>峰速</a:t>
                      </a:r>
                      <a:endParaRPr sz="1400">
                        <a:latin typeface="SimSun"/>
                        <a:cs typeface="SimSun"/>
                      </a:endParaRPr>
                    </a:p>
                  </a:txBody>
                  <a:tcPr marL="0" marR="0" marB="0" marT="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rowSpan="2">
                  <a:txBody>
                    <a:bodyPr/>
                    <a:lstStyle/>
                    <a:p>
                      <a:pPr>
                        <a:lnSpc>
                          <a:spcPct val="100000"/>
                        </a:lnSpc>
                        <a:spcBef>
                          <a:spcPts val="910"/>
                        </a:spcBef>
                      </a:pPr>
                      <a:endParaRPr sz="1400">
                        <a:latin typeface="Times New Roman"/>
                        <a:cs typeface="Times New Roman"/>
                      </a:endParaRPr>
                    </a:p>
                    <a:p>
                      <a:pPr marL="145415">
                        <a:lnSpc>
                          <a:spcPct val="100000"/>
                        </a:lnSpc>
                      </a:pPr>
                      <a:r>
                        <a:rPr dirty="0" sz="1400" spc="-35">
                          <a:latin typeface="SimSun"/>
                          <a:cs typeface="SimSun"/>
                        </a:rPr>
                        <a:t>上行</a:t>
                      </a:r>
                      <a:endParaRPr sz="1400">
                        <a:latin typeface="SimSun"/>
                        <a:cs typeface="SimSun"/>
                      </a:endParaRPr>
                    </a:p>
                  </a:txBody>
                  <a:tcPr marL="0" marR="0" marB="0" marT="11557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marL="91440">
                        <a:lnSpc>
                          <a:spcPct val="100000"/>
                        </a:lnSpc>
                        <a:spcBef>
                          <a:spcPts val="1240"/>
                        </a:spcBef>
                      </a:pPr>
                      <a:r>
                        <a:rPr dirty="0" sz="1400" spc="-10">
                          <a:latin typeface="Arial MT"/>
                          <a:cs typeface="Arial MT"/>
                        </a:rPr>
                        <a:t>100MHz</a:t>
                      </a:r>
                      <a:r>
                        <a:rPr dirty="0" sz="1400" spc="-20">
                          <a:latin typeface="SimSun"/>
                          <a:cs typeface="SimSun"/>
                        </a:rPr>
                        <a:t>带宽，</a:t>
                      </a:r>
                      <a:r>
                        <a:rPr dirty="0" sz="1400" spc="-20">
                          <a:latin typeface="Arial MT"/>
                          <a:cs typeface="Arial MT"/>
                        </a:rPr>
                        <a:t>30%</a:t>
                      </a:r>
                      <a:r>
                        <a:rPr dirty="0" sz="1400" spc="-20">
                          <a:latin typeface="SimSun"/>
                          <a:cs typeface="SimSun"/>
                        </a:rPr>
                        <a:t>上行</a:t>
                      </a:r>
                      <a:r>
                        <a:rPr dirty="0" sz="1400" spc="-20">
                          <a:latin typeface="Arial MT"/>
                          <a:cs typeface="Arial MT"/>
                        </a:rPr>
                        <a:t>UE</a:t>
                      </a:r>
                      <a:r>
                        <a:rPr dirty="0" sz="1400" spc="-20">
                          <a:latin typeface="SimSun"/>
                          <a:cs typeface="SimSun"/>
                        </a:rPr>
                        <a:t>峰值速率大于</a:t>
                      </a:r>
                      <a:r>
                        <a:rPr dirty="0" sz="1400" spc="-10">
                          <a:latin typeface="Arial MT"/>
                          <a:cs typeface="Arial MT"/>
                        </a:rPr>
                        <a:t>175Mbps</a:t>
                      </a:r>
                      <a:endParaRPr sz="1400">
                        <a:latin typeface="Arial MT"/>
                        <a:cs typeface="Arial MT"/>
                      </a:endParaRPr>
                    </a:p>
                  </a:txBody>
                  <a:tcPr marL="0" marR="0" marB="0" marT="15748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819"/>
                        </a:spcBef>
                      </a:pPr>
                      <a:r>
                        <a:rPr dirty="0" sz="1400" spc="-10">
                          <a:latin typeface="SimSun"/>
                          <a:cs typeface="SimSun"/>
                        </a:rPr>
                        <a:t>64QAM</a:t>
                      </a:r>
                      <a:endParaRPr sz="1400">
                        <a:latin typeface="SimSun"/>
                        <a:cs typeface="SimSun"/>
                      </a:endParaRPr>
                    </a:p>
                  </a:txBody>
                  <a:tcPr marL="0" marR="0" marB="0" marT="104139">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819"/>
                        </a:spcBef>
                      </a:pPr>
                      <a:r>
                        <a:rPr dirty="0" sz="1400" spc="-10">
                          <a:latin typeface="SimSun"/>
                          <a:cs typeface="SimSun"/>
                        </a:rPr>
                        <a:t>2</a:t>
                      </a:r>
                      <a:r>
                        <a:rPr dirty="0" sz="1400" spc="-50">
                          <a:latin typeface="SimSun"/>
                          <a:cs typeface="SimSun"/>
                        </a:rPr>
                        <a:t>流</a:t>
                      </a:r>
                      <a:endParaRPr sz="1400">
                        <a:latin typeface="SimSun"/>
                        <a:cs typeface="SimSun"/>
                      </a:endParaRPr>
                    </a:p>
                  </a:txBody>
                  <a:tcPr marL="0" marR="0" marB="0" marT="104139">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r>
              <a:tr h="431800">
                <a:tc vMerge="1">
                  <a:txBody>
                    <a:bodyPr/>
                    <a:lstStyle/>
                    <a:p>
                      <a:pPr/>
                    </a:p>
                  </a:txBody>
                  <a:tcPr marL="0" marR="0" marB="0" marT="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vMerge="1">
                  <a:txBody>
                    <a:bodyPr/>
                    <a:lstStyle/>
                    <a:p>
                      <a:pPr/>
                    </a:p>
                  </a:txBody>
                  <a:tcPr marL="0" marR="0" marB="0" marT="11557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marL="91440">
                        <a:lnSpc>
                          <a:spcPct val="100000"/>
                        </a:lnSpc>
                        <a:spcBef>
                          <a:spcPts val="1240"/>
                        </a:spcBef>
                      </a:pPr>
                      <a:r>
                        <a:rPr dirty="0" sz="1400" spc="-10">
                          <a:latin typeface="Arial MT"/>
                          <a:cs typeface="Arial MT"/>
                        </a:rPr>
                        <a:t>100MHz</a:t>
                      </a:r>
                      <a:r>
                        <a:rPr dirty="0" sz="1400" spc="-20">
                          <a:latin typeface="SimSun"/>
                          <a:cs typeface="SimSun"/>
                        </a:rPr>
                        <a:t>带宽，</a:t>
                      </a:r>
                      <a:r>
                        <a:rPr dirty="0" sz="1400" spc="-20">
                          <a:latin typeface="Arial MT"/>
                          <a:cs typeface="Arial MT"/>
                        </a:rPr>
                        <a:t>30%</a:t>
                      </a:r>
                      <a:r>
                        <a:rPr dirty="0" sz="1400" spc="-20">
                          <a:latin typeface="SimSun"/>
                          <a:cs typeface="SimSun"/>
                        </a:rPr>
                        <a:t>上行</a:t>
                      </a:r>
                      <a:r>
                        <a:rPr dirty="0" sz="1400" spc="-20">
                          <a:latin typeface="Arial MT"/>
                          <a:cs typeface="Arial MT"/>
                        </a:rPr>
                        <a:t>UE</a:t>
                      </a:r>
                      <a:r>
                        <a:rPr dirty="0" sz="1400" spc="-20">
                          <a:latin typeface="SimSun"/>
                          <a:cs typeface="SimSun"/>
                        </a:rPr>
                        <a:t>峰值速率大于</a:t>
                      </a:r>
                      <a:r>
                        <a:rPr dirty="0" sz="1400" spc="-10">
                          <a:latin typeface="Arial MT"/>
                          <a:cs typeface="Arial MT"/>
                        </a:rPr>
                        <a:t>350Mbps</a:t>
                      </a:r>
                      <a:endParaRPr sz="1400">
                        <a:latin typeface="Arial MT"/>
                        <a:cs typeface="Arial MT"/>
                      </a:endParaRPr>
                    </a:p>
                  </a:txBody>
                  <a:tcPr marL="0" marR="0" marB="0" marT="15748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825"/>
                        </a:spcBef>
                      </a:pPr>
                      <a:r>
                        <a:rPr dirty="0" sz="1400" spc="-25">
                          <a:latin typeface="SimSun"/>
                          <a:cs typeface="SimSun"/>
                        </a:rPr>
                        <a:t>QAM</a:t>
                      </a:r>
                      <a:endParaRPr sz="1400">
                        <a:latin typeface="SimSun"/>
                        <a:cs typeface="SimSun"/>
                      </a:endParaRPr>
                    </a:p>
                  </a:txBody>
                  <a:tcPr marL="0" marR="0" marB="0" marT="104775">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825"/>
                        </a:spcBef>
                      </a:pPr>
                      <a:r>
                        <a:rPr dirty="0" sz="1400" spc="-10">
                          <a:latin typeface="SimSun"/>
                          <a:cs typeface="SimSun"/>
                        </a:rPr>
                        <a:t>4</a:t>
                      </a:r>
                      <a:r>
                        <a:rPr dirty="0" sz="1400" spc="-50">
                          <a:latin typeface="SimSun"/>
                          <a:cs typeface="SimSun"/>
                        </a:rPr>
                        <a:t>流</a:t>
                      </a:r>
                      <a:endParaRPr sz="1400">
                        <a:latin typeface="SimSun"/>
                        <a:cs typeface="SimSun"/>
                      </a:endParaRPr>
                    </a:p>
                  </a:txBody>
                  <a:tcPr marL="0" marR="0" marB="0" marT="104775">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r>
              <a:tr h="395605">
                <a:tc vMerge="1">
                  <a:txBody>
                    <a:bodyPr/>
                    <a:lstStyle/>
                    <a:p>
                      <a:pPr/>
                    </a:p>
                  </a:txBody>
                  <a:tcPr marL="0" marR="0" marB="0" marT="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rowSpan="2">
                  <a:txBody>
                    <a:bodyPr/>
                    <a:lstStyle/>
                    <a:p>
                      <a:pPr>
                        <a:lnSpc>
                          <a:spcPct val="100000"/>
                        </a:lnSpc>
                        <a:spcBef>
                          <a:spcPts val="630"/>
                        </a:spcBef>
                      </a:pPr>
                      <a:endParaRPr sz="1400">
                        <a:latin typeface="Times New Roman"/>
                        <a:cs typeface="Times New Roman"/>
                      </a:endParaRPr>
                    </a:p>
                    <a:p>
                      <a:pPr marL="145415">
                        <a:lnSpc>
                          <a:spcPct val="100000"/>
                        </a:lnSpc>
                      </a:pPr>
                      <a:r>
                        <a:rPr dirty="0" sz="1400" spc="-35">
                          <a:latin typeface="SimSun"/>
                          <a:cs typeface="SimSun"/>
                        </a:rPr>
                        <a:t>下行</a:t>
                      </a:r>
                      <a:endParaRPr sz="1400">
                        <a:latin typeface="SimSun"/>
                        <a:cs typeface="SimSun"/>
                      </a:endParaRPr>
                    </a:p>
                  </a:txBody>
                  <a:tcPr marL="0" marR="0" marB="0" marT="8001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marL="91440">
                        <a:lnSpc>
                          <a:spcPct val="100000"/>
                        </a:lnSpc>
                        <a:spcBef>
                          <a:spcPts val="1100"/>
                        </a:spcBef>
                      </a:pPr>
                      <a:r>
                        <a:rPr dirty="0" sz="1400" spc="-10">
                          <a:latin typeface="Arial MT"/>
                          <a:cs typeface="Arial MT"/>
                        </a:rPr>
                        <a:t>100MHz</a:t>
                      </a:r>
                      <a:r>
                        <a:rPr dirty="0" sz="1400" spc="-20">
                          <a:latin typeface="SimSun"/>
                          <a:cs typeface="SimSun"/>
                        </a:rPr>
                        <a:t>带宽，</a:t>
                      </a:r>
                      <a:r>
                        <a:rPr dirty="0" sz="1400" spc="-20">
                          <a:latin typeface="Arial MT"/>
                          <a:cs typeface="Arial MT"/>
                        </a:rPr>
                        <a:t>70%</a:t>
                      </a:r>
                      <a:r>
                        <a:rPr dirty="0" sz="1400" spc="-20">
                          <a:latin typeface="SimSun"/>
                          <a:cs typeface="SimSun"/>
                        </a:rPr>
                        <a:t>下行</a:t>
                      </a:r>
                      <a:r>
                        <a:rPr dirty="0" sz="1400" spc="-20">
                          <a:latin typeface="Arial MT"/>
                          <a:cs typeface="Arial MT"/>
                        </a:rPr>
                        <a:t>UE</a:t>
                      </a:r>
                      <a:r>
                        <a:rPr dirty="0" sz="1400" spc="-20">
                          <a:latin typeface="SimSun"/>
                          <a:cs typeface="SimSun"/>
                        </a:rPr>
                        <a:t>峰值速率大于</a:t>
                      </a:r>
                      <a:r>
                        <a:rPr dirty="0" sz="1400" spc="-10">
                          <a:latin typeface="Arial MT"/>
                          <a:cs typeface="Arial MT"/>
                        </a:rPr>
                        <a:t>1.3Gbps</a:t>
                      </a:r>
                      <a:endParaRPr sz="1400">
                        <a:latin typeface="Arial MT"/>
                        <a:cs typeface="Arial MT"/>
                      </a:endParaRPr>
                    </a:p>
                  </a:txBody>
                  <a:tcPr marL="0" marR="0" marB="0" marT="13970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680"/>
                        </a:spcBef>
                      </a:pPr>
                      <a:r>
                        <a:rPr dirty="0" sz="1400" spc="-10">
                          <a:latin typeface="SimSun"/>
                          <a:cs typeface="SimSun"/>
                        </a:rPr>
                        <a:t>256QAM</a:t>
                      </a:r>
                      <a:endParaRPr sz="1400">
                        <a:latin typeface="SimSun"/>
                        <a:cs typeface="SimSun"/>
                      </a:endParaRPr>
                    </a:p>
                  </a:txBody>
                  <a:tcPr marL="0" marR="0" marB="0" marT="8636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680"/>
                        </a:spcBef>
                      </a:pPr>
                      <a:r>
                        <a:rPr dirty="0" sz="1400" spc="-10">
                          <a:latin typeface="SimSun"/>
                          <a:cs typeface="SimSun"/>
                        </a:rPr>
                        <a:t>4</a:t>
                      </a:r>
                      <a:r>
                        <a:rPr dirty="0" sz="1400" spc="-50">
                          <a:latin typeface="SimSun"/>
                          <a:cs typeface="SimSun"/>
                        </a:rPr>
                        <a:t>流</a:t>
                      </a:r>
                      <a:endParaRPr sz="1400">
                        <a:latin typeface="SimSun"/>
                        <a:cs typeface="SimSun"/>
                      </a:endParaRPr>
                    </a:p>
                  </a:txBody>
                  <a:tcPr marL="0" marR="0" marB="0" marT="8636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r>
              <a:tr h="395605">
                <a:tc vMerge="1">
                  <a:txBody>
                    <a:bodyPr/>
                    <a:lstStyle/>
                    <a:p>
                      <a:pPr/>
                    </a:p>
                  </a:txBody>
                  <a:tcPr marL="0" marR="0" marB="0" marT="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vMerge="1">
                  <a:txBody>
                    <a:bodyPr/>
                    <a:lstStyle/>
                    <a:p>
                      <a:pPr/>
                    </a:p>
                  </a:txBody>
                  <a:tcPr marL="0" marR="0" marB="0" marT="8001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marL="90805">
                        <a:lnSpc>
                          <a:spcPct val="100000"/>
                        </a:lnSpc>
                        <a:spcBef>
                          <a:spcPts val="1100"/>
                        </a:spcBef>
                      </a:pPr>
                      <a:r>
                        <a:rPr dirty="0" sz="1400" spc="-10">
                          <a:latin typeface="Arial MT"/>
                          <a:cs typeface="Arial MT"/>
                        </a:rPr>
                        <a:t>100MHz</a:t>
                      </a:r>
                      <a:r>
                        <a:rPr dirty="0" sz="1400" spc="-20">
                          <a:latin typeface="SimSun"/>
                          <a:cs typeface="SimSun"/>
                        </a:rPr>
                        <a:t>带宽，</a:t>
                      </a:r>
                      <a:r>
                        <a:rPr dirty="0" sz="1400" spc="-20">
                          <a:latin typeface="Arial MT"/>
                          <a:cs typeface="Arial MT"/>
                        </a:rPr>
                        <a:t>70%</a:t>
                      </a:r>
                      <a:r>
                        <a:rPr dirty="0" sz="1400" spc="-20">
                          <a:latin typeface="SimSun"/>
                          <a:cs typeface="SimSun"/>
                        </a:rPr>
                        <a:t>下行</a:t>
                      </a:r>
                      <a:r>
                        <a:rPr dirty="0" sz="1400" spc="-20">
                          <a:latin typeface="Arial MT"/>
                          <a:cs typeface="Arial MT"/>
                        </a:rPr>
                        <a:t>UE</a:t>
                      </a:r>
                      <a:r>
                        <a:rPr dirty="0" sz="1400" spc="-20">
                          <a:latin typeface="SimSun"/>
                          <a:cs typeface="SimSun"/>
                        </a:rPr>
                        <a:t>峰值速率大于</a:t>
                      </a:r>
                      <a:r>
                        <a:rPr dirty="0" sz="1400" spc="-10">
                          <a:latin typeface="Arial MT"/>
                          <a:cs typeface="Arial MT"/>
                        </a:rPr>
                        <a:t>0.65Gbps</a:t>
                      </a:r>
                      <a:endParaRPr sz="1400">
                        <a:latin typeface="Arial MT"/>
                        <a:cs typeface="Arial MT"/>
                      </a:endParaRPr>
                    </a:p>
                  </a:txBody>
                  <a:tcPr marL="0" marR="0" marB="0" marT="13970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680"/>
                        </a:spcBef>
                      </a:pPr>
                      <a:r>
                        <a:rPr dirty="0" sz="1400" spc="-10">
                          <a:latin typeface="SimSun"/>
                          <a:cs typeface="SimSun"/>
                        </a:rPr>
                        <a:t>256QAM</a:t>
                      </a:r>
                      <a:endParaRPr sz="1400">
                        <a:latin typeface="SimSun"/>
                        <a:cs typeface="SimSun"/>
                      </a:endParaRPr>
                    </a:p>
                  </a:txBody>
                  <a:tcPr marL="0" marR="0" marB="0" marT="8636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680"/>
                        </a:spcBef>
                      </a:pPr>
                      <a:r>
                        <a:rPr dirty="0" sz="1400" spc="-10">
                          <a:latin typeface="SimSun"/>
                          <a:cs typeface="SimSun"/>
                        </a:rPr>
                        <a:t>2</a:t>
                      </a:r>
                      <a:r>
                        <a:rPr dirty="0" sz="1400" spc="-50">
                          <a:latin typeface="SimSun"/>
                          <a:cs typeface="SimSun"/>
                        </a:rPr>
                        <a:t>流</a:t>
                      </a:r>
                      <a:endParaRPr sz="1400">
                        <a:latin typeface="SimSun"/>
                        <a:cs typeface="SimSun"/>
                      </a:endParaRPr>
                    </a:p>
                  </a:txBody>
                  <a:tcPr marL="0" marR="0" marB="0" marT="8636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r>
              <a:tr h="395605">
                <a:tc rowSpan="4">
                  <a:txBody>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400"/>
                        </a:spcBef>
                      </a:pPr>
                      <a:endParaRPr sz="1400">
                        <a:latin typeface="Times New Roman"/>
                        <a:cs typeface="Times New Roman"/>
                      </a:endParaRPr>
                    </a:p>
                    <a:p>
                      <a:pPr marL="40005">
                        <a:lnSpc>
                          <a:spcPct val="100000"/>
                        </a:lnSpc>
                        <a:spcBef>
                          <a:spcPts val="5"/>
                        </a:spcBef>
                      </a:pPr>
                      <a:r>
                        <a:rPr dirty="0" sz="1400" spc="-30">
                          <a:latin typeface="SimSun"/>
                          <a:cs typeface="SimSun"/>
                        </a:rPr>
                        <a:t>小区峰速</a:t>
                      </a:r>
                      <a:endParaRPr sz="1400">
                        <a:latin typeface="SimSun"/>
                        <a:cs typeface="SimSun"/>
                      </a:endParaRPr>
                    </a:p>
                  </a:txBody>
                  <a:tcPr marL="0" marR="0" marB="0" marT="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rowSpan="2">
                  <a:txBody>
                    <a:bodyPr/>
                    <a:lstStyle/>
                    <a:p>
                      <a:pPr>
                        <a:lnSpc>
                          <a:spcPct val="100000"/>
                        </a:lnSpc>
                        <a:spcBef>
                          <a:spcPts val="625"/>
                        </a:spcBef>
                      </a:pPr>
                      <a:endParaRPr sz="1400">
                        <a:latin typeface="Times New Roman"/>
                        <a:cs typeface="Times New Roman"/>
                      </a:endParaRPr>
                    </a:p>
                    <a:p>
                      <a:pPr marL="145415">
                        <a:lnSpc>
                          <a:spcPct val="100000"/>
                        </a:lnSpc>
                        <a:spcBef>
                          <a:spcPts val="5"/>
                        </a:spcBef>
                      </a:pPr>
                      <a:r>
                        <a:rPr dirty="0" sz="1400" spc="-35">
                          <a:latin typeface="SimSun"/>
                          <a:cs typeface="SimSun"/>
                        </a:rPr>
                        <a:t>上行</a:t>
                      </a:r>
                      <a:endParaRPr sz="1400">
                        <a:latin typeface="SimSun"/>
                        <a:cs typeface="SimSun"/>
                      </a:endParaRPr>
                    </a:p>
                  </a:txBody>
                  <a:tcPr marL="0" marR="0" marB="0" marT="79375">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marL="91440">
                        <a:lnSpc>
                          <a:spcPct val="100000"/>
                        </a:lnSpc>
                        <a:spcBef>
                          <a:spcPts val="1100"/>
                        </a:spcBef>
                      </a:pPr>
                      <a:r>
                        <a:rPr dirty="0" sz="1400" spc="-10">
                          <a:latin typeface="Arial MT"/>
                          <a:cs typeface="Arial MT"/>
                        </a:rPr>
                        <a:t>100MHz</a:t>
                      </a:r>
                      <a:r>
                        <a:rPr dirty="0" sz="1400" spc="-20">
                          <a:latin typeface="SimSun"/>
                          <a:cs typeface="SimSun"/>
                        </a:rPr>
                        <a:t>带宽，每小区的</a:t>
                      </a:r>
                      <a:r>
                        <a:rPr dirty="0" sz="1400" spc="-20">
                          <a:latin typeface="Arial MT"/>
                          <a:cs typeface="Arial MT"/>
                        </a:rPr>
                        <a:t>30%</a:t>
                      </a:r>
                      <a:r>
                        <a:rPr dirty="0" sz="1400" spc="-20">
                          <a:latin typeface="SimSun"/>
                          <a:cs typeface="SimSun"/>
                        </a:rPr>
                        <a:t>上行吐量不低于</a:t>
                      </a:r>
                      <a:r>
                        <a:rPr dirty="0" sz="1400" spc="-10">
                          <a:latin typeface="Arial MT"/>
                          <a:cs typeface="Arial MT"/>
                        </a:rPr>
                        <a:t>700Mbps</a:t>
                      </a:r>
                      <a:endParaRPr sz="1400">
                        <a:latin typeface="Arial MT"/>
                        <a:cs typeface="Arial MT"/>
                      </a:endParaRPr>
                    </a:p>
                  </a:txBody>
                  <a:tcPr marL="0" marR="0" marB="0" marT="13970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680"/>
                        </a:spcBef>
                      </a:pPr>
                      <a:r>
                        <a:rPr dirty="0" sz="1400" spc="-10">
                          <a:latin typeface="SimSun"/>
                          <a:cs typeface="SimSun"/>
                        </a:rPr>
                        <a:t>64QAM</a:t>
                      </a:r>
                      <a:endParaRPr sz="1400">
                        <a:latin typeface="SimSun"/>
                        <a:cs typeface="SimSun"/>
                      </a:endParaRPr>
                    </a:p>
                  </a:txBody>
                  <a:tcPr marL="0" marR="0" marB="0" marT="8636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680"/>
                        </a:spcBef>
                      </a:pPr>
                      <a:r>
                        <a:rPr dirty="0" sz="1400" spc="-10">
                          <a:latin typeface="SimSun"/>
                          <a:cs typeface="SimSun"/>
                        </a:rPr>
                        <a:t>8</a:t>
                      </a:r>
                      <a:r>
                        <a:rPr dirty="0" sz="1400" spc="-50">
                          <a:latin typeface="SimSun"/>
                          <a:cs typeface="SimSun"/>
                        </a:rPr>
                        <a:t>流</a:t>
                      </a:r>
                      <a:endParaRPr sz="1400">
                        <a:latin typeface="SimSun"/>
                        <a:cs typeface="SimSun"/>
                      </a:endParaRPr>
                    </a:p>
                  </a:txBody>
                  <a:tcPr marL="0" marR="0" marB="0" marT="8636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r>
              <a:tr h="395605">
                <a:tc vMerge="1">
                  <a:txBody>
                    <a:bodyPr/>
                    <a:lstStyle/>
                    <a:p>
                      <a:pPr/>
                    </a:p>
                  </a:txBody>
                  <a:tcPr marL="0" marR="0" marB="0" marT="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vMerge="1">
                  <a:txBody>
                    <a:bodyPr/>
                    <a:lstStyle/>
                    <a:p>
                      <a:pPr/>
                    </a:p>
                  </a:txBody>
                  <a:tcPr marL="0" marR="0" marB="0" marT="79375">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marL="91440">
                        <a:lnSpc>
                          <a:spcPct val="100000"/>
                        </a:lnSpc>
                        <a:spcBef>
                          <a:spcPts val="1100"/>
                        </a:spcBef>
                      </a:pPr>
                      <a:r>
                        <a:rPr dirty="0" sz="1400" spc="-10">
                          <a:latin typeface="Arial MT"/>
                          <a:cs typeface="Arial MT"/>
                        </a:rPr>
                        <a:t>100MHz</a:t>
                      </a:r>
                      <a:r>
                        <a:rPr dirty="0" sz="1400" spc="-20">
                          <a:latin typeface="SimSun"/>
                          <a:cs typeface="SimSun"/>
                        </a:rPr>
                        <a:t>带宽，每小区的</a:t>
                      </a:r>
                      <a:r>
                        <a:rPr dirty="0" sz="1400" spc="-20">
                          <a:latin typeface="Arial MT"/>
                          <a:cs typeface="Arial MT"/>
                        </a:rPr>
                        <a:t>30%</a:t>
                      </a:r>
                      <a:r>
                        <a:rPr dirty="0" sz="1400" spc="-20">
                          <a:latin typeface="SimSun"/>
                          <a:cs typeface="SimSun"/>
                        </a:rPr>
                        <a:t>上行吞吐量不低于</a:t>
                      </a:r>
                      <a:r>
                        <a:rPr dirty="0" sz="1400" spc="-10">
                          <a:latin typeface="Arial MT"/>
                          <a:cs typeface="Arial MT"/>
                        </a:rPr>
                        <a:t>350Mbps</a:t>
                      </a:r>
                      <a:endParaRPr sz="1400">
                        <a:latin typeface="Arial MT"/>
                        <a:cs typeface="Arial MT"/>
                      </a:endParaRPr>
                    </a:p>
                  </a:txBody>
                  <a:tcPr marL="0" marR="0" marB="0" marT="13970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680"/>
                        </a:spcBef>
                      </a:pPr>
                      <a:r>
                        <a:rPr dirty="0" sz="1400" spc="-10">
                          <a:latin typeface="SimSun"/>
                          <a:cs typeface="SimSun"/>
                        </a:rPr>
                        <a:t>64QAM</a:t>
                      </a:r>
                      <a:endParaRPr sz="1400">
                        <a:latin typeface="SimSun"/>
                        <a:cs typeface="SimSun"/>
                      </a:endParaRPr>
                    </a:p>
                  </a:txBody>
                  <a:tcPr marL="0" marR="0" marB="0" marT="8636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680"/>
                        </a:spcBef>
                      </a:pPr>
                      <a:r>
                        <a:rPr dirty="0" sz="1400" spc="-10">
                          <a:latin typeface="SimSun"/>
                          <a:cs typeface="SimSun"/>
                        </a:rPr>
                        <a:t>4</a:t>
                      </a:r>
                      <a:r>
                        <a:rPr dirty="0" sz="1400" spc="-50">
                          <a:latin typeface="SimSun"/>
                          <a:cs typeface="SimSun"/>
                        </a:rPr>
                        <a:t>流</a:t>
                      </a:r>
                      <a:endParaRPr sz="1400">
                        <a:latin typeface="SimSun"/>
                        <a:cs typeface="SimSun"/>
                      </a:endParaRPr>
                    </a:p>
                  </a:txBody>
                  <a:tcPr marL="0" marR="0" marB="0" marT="8636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r>
              <a:tr h="375285">
                <a:tc vMerge="1">
                  <a:txBody>
                    <a:bodyPr/>
                    <a:lstStyle/>
                    <a:p>
                      <a:pPr/>
                    </a:p>
                  </a:txBody>
                  <a:tcPr marL="0" marR="0" marB="0" marT="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rowSpan="2">
                  <a:txBody>
                    <a:bodyPr/>
                    <a:lstStyle/>
                    <a:p>
                      <a:pPr>
                        <a:lnSpc>
                          <a:spcPct val="100000"/>
                        </a:lnSpc>
                        <a:spcBef>
                          <a:spcPts val="470"/>
                        </a:spcBef>
                      </a:pPr>
                      <a:endParaRPr sz="1400">
                        <a:latin typeface="Times New Roman"/>
                        <a:cs typeface="Times New Roman"/>
                      </a:endParaRPr>
                    </a:p>
                    <a:p>
                      <a:pPr marL="145415">
                        <a:lnSpc>
                          <a:spcPct val="100000"/>
                        </a:lnSpc>
                      </a:pPr>
                      <a:r>
                        <a:rPr dirty="0" sz="1400" spc="-35">
                          <a:latin typeface="SimSun"/>
                          <a:cs typeface="SimSun"/>
                        </a:rPr>
                        <a:t>下行</a:t>
                      </a:r>
                      <a:endParaRPr sz="1400">
                        <a:latin typeface="SimSun"/>
                        <a:cs typeface="SimSun"/>
                      </a:endParaRPr>
                    </a:p>
                  </a:txBody>
                  <a:tcPr marL="0" marR="0" marB="0" marT="5969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marL="91440">
                        <a:lnSpc>
                          <a:spcPct val="100000"/>
                        </a:lnSpc>
                        <a:spcBef>
                          <a:spcPts val="1019"/>
                        </a:spcBef>
                      </a:pPr>
                      <a:r>
                        <a:rPr dirty="0" sz="1400" spc="-10">
                          <a:latin typeface="Arial MT"/>
                          <a:cs typeface="Arial MT"/>
                        </a:rPr>
                        <a:t>100MHz</a:t>
                      </a:r>
                      <a:r>
                        <a:rPr dirty="0" sz="1400" spc="-20">
                          <a:latin typeface="SimSun"/>
                          <a:cs typeface="SimSun"/>
                        </a:rPr>
                        <a:t>带宽，每小区的</a:t>
                      </a:r>
                      <a:r>
                        <a:rPr dirty="0" sz="1400" spc="-20">
                          <a:latin typeface="Arial MT"/>
                          <a:cs typeface="Arial MT"/>
                        </a:rPr>
                        <a:t>70%</a:t>
                      </a:r>
                      <a:r>
                        <a:rPr dirty="0" sz="1400" spc="-20">
                          <a:latin typeface="SimSun"/>
                          <a:cs typeface="SimSun"/>
                        </a:rPr>
                        <a:t>下行吞吐量不低于</a:t>
                      </a:r>
                      <a:r>
                        <a:rPr dirty="0" sz="1400" spc="-10">
                          <a:latin typeface="Arial MT"/>
                          <a:cs typeface="Arial MT"/>
                        </a:rPr>
                        <a:t>4.2Gbps</a:t>
                      </a:r>
                      <a:endParaRPr sz="1400">
                        <a:latin typeface="Arial MT"/>
                        <a:cs typeface="Arial MT"/>
                      </a:endParaRPr>
                    </a:p>
                  </a:txBody>
                  <a:tcPr marL="0" marR="0" marB="0" marT="129539">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600"/>
                        </a:spcBef>
                      </a:pPr>
                      <a:r>
                        <a:rPr dirty="0" sz="1400" spc="-10">
                          <a:latin typeface="SimSun"/>
                          <a:cs typeface="SimSun"/>
                        </a:rPr>
                        <a:t>256QAM</a:t>
                      </a:r>
                      <a:endParaRPr sz="1400">
                        <a:latin typeface="SimSun"/>
                        <a:cs typeface="SimSun"/>
                      </a:endParaRPr>
                    </a:p>
                  </a:txBody>
                  <a:tcPr marL="0" marR="0" marB="0" marT="7620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600"/>
                        </a:spcBef>
                      </a:pPr>
                      <a:r>
                        <a:rPr dirty="0" sz="1400" spc="-10">
                          <a:latin typeface="SimSun"/>
                          <a:cs typeface="SimSun"/>
                        </a:rPr>
                        <a:t>16</a:t>
                      </a:r>
                      <a:r>
                        <a:rPr dirty="0" sz="1400" spc="-50">
                          <a:latin typeface="SimSun"/>
                          <a:cs typeface="SimSun"/>
                        </a:rPr>
                        <a:t>流</a:t>
                      </a:r>
                      <a:endParaRPr sz="1400">
                        <a:latin typeface="SimSun"/>
                        <a:cs typeface="SimSun"/>
                      </a:endParaRPr>
                    </a:p>
                  </a:txBody>
                  <a:tcPr marL="0" marR="0" marB="0" marT="7620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r>
              <a:tr h="375285">
                <a:tc vMerge="1">
                  <a:txBody>
                    <a:bodyPr/>
                    <a:lstStyle/>
                    <a:p>
                      <a:pPr/>
                    </a:p>
                  </a:txBody>
                  <a:tcPr marL="0" marR="0" marB="0" marT="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vMerge="1">
                  <a:txBody>
                    <a:bodyPr/>
                    <a:lstStyle/>
                    <a:p>
                      <a:pPr/>
                    </a:p>
                  </a:txBody>
                  <a:tcPr marL="0" marR="0" marB="0" marT="5969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marL="91440">
                        <a:lnSpc>
                          <a:spcPct val="100000"/>
                        </a:lnSpc>
                        <a:spcBef>
                          <a:spcPts val="1019"/>
                        </a:spcBef>
                      </a:pPr>
                      <a:r>
                        <a:rPr dirty="0" sz="1400" spc="-10">
                          <a:latin typeface="Arial MT"/>
                          <a:cs typeface="Arial MT"/>
                        </a:rPr>
                        <a:t>100MHz</a:t>
                      </a:r>
                      <a:r>
                        <a:rPr dirty="0" sz="1400" spc="-20">
                          <a:latin typeface="SimSun"/>
                          <a:cs typeface="SimSun"/>
                        </a:rPr>
                        <a:t>带宽，每小区的</a:t>
                      </a:r>
                      <a:r>
                        <a:rPr dirty="0" sz="1400" spc="-20">
                          <a:latin typeface="Arial MT"/>
                          <a:cs typeface="Arial MT"/>
                        </a:rPr>
                        <a:t>70%</a:t>
                      </a:r>
                      <a:r>
                        <a:rPr dirty="0" sz="1400" spc="-20">
                          <a:latin typeface="SimSun"/>
                          <a:cs typeface="SimSun"/>
                        </a:rPr>
                        <a:t>下行吞吐量不低于</a:t>
                      </a:r>
                      <a:r>
                        <a:rPr dirty="0" sz="1400" spc="-10">
                          <a:latin typeface="Arial MT"/>
                          <a:cs typeface="Arial MT"/>
                        </a:rPr>
                        <a:t>6.3Gbps</a:t>
                      </a:r>
                      <a:endParaRPr sz="1400">
                        <a:latin typeface="Arial MT"/>
                        <a:cs typeface="Arial MT"/>
                      </a:endParaRPr>
                    </a:p>
                  </a:txBody>
                  <a:tcPr marL="0" marR="0" marB="0" marT="129539">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600"/>
                        </a:spcBef>
                      </a:pPr>
                      <a:r>
                        <a:rPr dirty="0" sz="1400" spc="-10">
                          <a:latin typeface="SimSun"/>
                          <a:cs typeface="SimSun"/>
                        </a:rPr>
                        <a:t>256QAM</a:t>
                      </a:r>
                      <a:endParaRPr sz="1400">
                        <a:latin typeface="SimSun"/>
                        <a:cs typeface="SimSun"/>
                      </a:endParaRPr>
                    </a:p>
                  </a:txBody>
                  <a:tcPr marL="0" marR="0" marB="0" marT="7620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c>
                  <a:txBody>
                    <a:bodyPr/>
                    <a:lstStyle/>
                    <a:p>
                      <a:pPr algn="ctr">
                        <a:lnSpc>
                          <a:spcPct val="100000"/>
                        </a:lnSpc>
                        <a:spcBef>
                          <a:spcPts val="600"/>
                        </a:spcBef>
                      </a:pPr>
                      <a:r>
                        <a:rPr dirty="0" sz="1400" spc="-10">
                          <a:latin typeface="SimSun"/>
                          <a:cs typeface="SimSun"/>
                        </a:rPr>
                        <a:t>24</a:t>
                      </a:r>
                      <a:r>
                        <a:rPr dirty="0" sz="1400" spc="-50">
                          <a:latin typeface="SimSun"/>
                          <a:cs typeface="SimSun"/>
                        </a:rPr>
                        <a:t>流</a:t>
                      </a:r>
                      <a:endParaRPr sz="1400">
                        <a:latin typeface="SimSun"/>
                        <a:cs typeface="SimSun"/>
                      </a:endParaRPr>
                    </a:p>
                  </a:txBody>
                  <a:tcPr marL="0" marR="0" marB="0" marT="76200">
                    <a:lnL w="12700">
                      <a:solidFill>
                        <a:srgbClr val="C0C0C0"/>
                      </a:solidFill>
                      <a:prstDash val="solid"/>
                    </a:lnL>
                    <a:lnR w="12700">
                      <a:solidFill>
                        <a:srgbClr val="C0C0C0"/>
                      </a:solidFill>
                      <a:prstDash val="solid"/>
                    </a:lnR>
                    <a:lnT w="12700">
                      <a:solidFill>
                        <a:srgbClr val="C0C0C0"/>
                      </a:solidFill>
                      <a:prstDash val="solid"/>
                    </a:lnT>
                    <a:lnB w="12700">
                      <a:solidFill>
                        <a:srgbClr val="C0C0C0"/>
                      </a:solidFill>
                      <a:prstDash val="solid"/>
                    </a:lnB>
                    <a:solidFill>
                      <a:srgbClr val="00B0F0"/>
                    </a:solidFill>
                  </a:tcPr>
                </a:tc>
              </a:tr>
            </a:tbl>
          </a:graphicData>
        </a:graphic>
      </p:graphicFrame>
      <p:sp>
        <p:nvSpPr>
          <p:cNvPr id="4" name="object 4" descr=""/>
          <p:cNvSpPr txBox="1"/>
          <p:nvPr/>
        </p:nvSpPr>
        <p:spPr>
          <a:xfrm>
            <a:off x="467537" y="4515967"/>
            <a:ext cx="4340225" cy="369570"/>
          </a:xfrm>
          <a:prstGeom prst="rect">
            <a:avLst/>
          </a:prstGeom>
          <a:solidFill>
            <a:srgbClr val="92D050"/>
          </a:solidFill>
        </p:spPr>
        <p:txBody>
          <a:bodyPr wrap="square" lIns="0" tIns="41910" rIns="0" bIns="0" rtlCol="0" vert="horz">
            <a:spAutoFit/>
          </a:bodyPr>
          <a:lstStyle/>
          <a:p>
            <a:pPr marL="91440">
              <a:lnSpc>
                <a:spcPct val="100000"/>
              </a:lnSpc>
              <a:spcBef>
                <a:spcPts val="330"/>
              </a:spcBef>
            </a:pPr>
            <a:r>
              <a:rPr dirty="0" sz="1800" spc="-5">
                <a:latin typeface="SimSun"/>
                <a:cs typeface="SimSun"/>
              </a:rPr>
              <a:t>注：以上速率是移动设备规范的最低要求</a:t>
            </a:r>
            <a:endParaRPr sz="1800">
              <a:latin typeface="SimSun"/>
              <a:cs typeface="SimSu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6971538" y="3404615"/>
            <a:ext cx="1637030" cy="1412875"/>
            <a:chOff x="6971538" y="3404615"/>
            <a:chExt cx="1637030" cy="1412875"/>
          </a:xfrm>
        </p:grpSpPr>
        <p:pic>
          <p:nvPicPr>
            <p:cNvPr id="3" name="object 3" descr=""/>
            <p:cNvPicPr/>
            <p:nvPr/>
          </p:nvPicPr>
          <p:blipFill>
            <a:blip r:embed="rId2" cstate="print"/>
            <a:stretch>
              <a:fillRect/>
            </a:stretch>
          </p:blipFill>
          <p:spPr>
            <a:xfrm>
              <a:off x="6986778" y="3404615"/>
              <a:ext cx="1621523" cy="1412747"/>
            </a:xfrm>
            <a:prstGeom prst="rect">
              <a:avLst/>
            </a:prstGeom>
          </p:spPr>
        </p:pic>
        <p:pic>
          <p:nvPicPr>
            <p:cNvPr id="4" name="object 4" descr=""/>
            <p:cNvPicPr/>
            <p:nvPr/>
          </p:nvPicPr>
          <p:blipFill>
            <a:blip r:embed="rId3" cstate="print"/>
            <a:stretch>
              <a:fillRect/>
            </a:stretch>
          </p:blipFill>
          <p:spPr>
            <a:xfrm>
              <a:off x="6971538" y="3683507"/>
              <a:ext cx="1594103" cy="1063751"/>
            </a:xfrm>
            <a:prstGeom prst="rect">
              <a:avLst/>
            </a:prstGeom>
          </p:spPr>
        </p:pic>
        <p:sp>
          <p:nvSpPr>
            <p:cNvPr id="5" name="object 5" descr=""/>
            <p:cNvSpPr/>
            <p:nvPr/>
          </p:nvSpPr>
          <p:spPr>
            <a:xfrm>
              <a:off x="7017697" y="3435846"/>
              <a:ext cx="1506220" cy="1296670"/>
            </a:xfrm>
            <a:custGeom>
              <a:avLst/>
              <a:gdLst/>
              <a:ahLst/>
              <a:cxnLst/>
              <a:rect l="l" t="t" r="r" b="b"/>
              <a:pathLst>
                <a:path w="1506220" h="1296670">
                  <a:moveTo>
                    <a:pt x="1289748" y="0"/>
                  </a:moveTo>
                  <a:lnTo>
                    <a:pt x="216027" y="0"/>
                  </a:lnTo>
                  <a:lnTo>
                    <a:pt x="166495" y="5705"/>
                  </a:lnTo>
                  <a:lnTo>
                    <a:pt x="121025" y="21958"/>
                  </a:lnTo>
                  <a:lnTo>
                    <a:pt x="80915" y="47460"/>
                  </a:lnTo>
                  <a:lnTo>
                    <a:pt x="47460" y="80915"/>
                  </a:lnTo>
                  <a:lnTo>
                    <a:pt x="21958" y="121025"/>
                  </a:lnTo>
                  <a:lnTo>
                    <a:pt x="5705" y="166495"/>
                  </a:lnTo>
                  <a:lnTo>
                    <a:pt x="0" y="216027"/>
                  </a:lnTo>
                  <a:lnTo>
                    <a:pt x="0" y="1080109"/>
                  </a:lnTo>
                  <a:lnTo>
                    <a:pt x="5705" y="1129645"/>
                  </a:lnTo>
                  <a:lnTo>
                    <a:pt x="21958" y="1175118"/>
                  </a:lnTo>
                  <a:lnTo>
                    <a:pt x="47460" y="1215231"/>
                  </a:lnTo>
                  <a:lnTo>
                    <a:pt x="80915" y="1248688"/>
                  </a:lnTo>
                  <a:lnTo>
                    <a:pt x="121025" y="1274190"/>
                  </a:lnTo>
                  <a:lnTo>
                    <a:pt x="166495" y="1290443"/>
                  </a:lnTo>
                  <a:lnTo>
                    <a:pt x="216027" y="1296149"/>
                  </a:lnTo>
                  <a:lnTo>
                    <a:pt x="1289748" y="1296149"/>
                  </a:lnTo>
                  <a:lnTo>
                    <a:pt x="1339284" y="1290443"/>
                  </a:lnTo>
                  <a:lnTo>
                    <a:pt x="1384755" y="1274190"/>
                  </a:lnTo>
                  <a:lnTo>
                    <a:pt x="1424865" y="1248688"/>
                  </a:lnTo>
                  <a:lnTo>
                    <a:pt x="1458319" y="1215231"/>
                  </a:lnTo>
                  <a:lnTo>
                    <a:pt x="1483819" y="1175118"/>
                  </a:lnTo>
                  <a:lnTo>
                    <a:pt x="1500070" y="1129645"/>
                  </a:lnTo>
                  <a:lnTo>
                    <a:pt x="1505775" y="1080109"/>
                  </a:lnTo>
                  <a:lnTo>
                    <a:pt x="1505775" y="216027"/>
                  </a:lnTo>
                  <a:lnTo>
                    <a:pt x="1500070" y="166495"/>
                  </a:lnTo>
                  <a:lnTo>
                    <a:pt x="1483819" y="121025"/>
                  </a:lnTo>
                  <a:lnTo>
                    <a:pt x="1458319" y="80915"/>
                  </a:lnTo>
                  <a:lnTo>
                    <a:pt x="1424865" y="47460"/>
                  </a:lnTo>
                  <a:lnTo>
                    <a:pt x="1384755" y="21958"/>
                  </a:lnTo>
                  <a:lnTo>
                    <a:pt x="1339284" y="5705"/>
                  </a:lnTo>
                  <a:lnTo>
                    <a:pt x="1289748" y="0"/>
                  </a:lnTo>
                  <a:close/>
                </a:path>
              </a:pathLst>
            </a:custGeom>
            <a:solidFill>
              <a:srgbClr val="FFFFFF"/>
            </a:solidFill>
          </p:spPr>
          <p:txBody>
            <a:bodyPr wrap="square" lIns="0" tIns="0" rIns="0" bIns="0" rtlCol="0"/>
            <a:lstStyle/>
            <a:p/>
          </p:txBody>
        </p:sp>
        <p:sp>
          <p:nvSpPr>
            <p:cNvPr id="6" name="object 6" descr=""/>
            <p:cNvSpPr/>
            <p:nvPr/>
          </p:nvSpPr>
          <p:spPr>
            <a:xfrm>
              <a:off x="7017697" y="3435846"/>
              <a:ext cx="1506220" cy="1296670"/>
            </a:xfrm>
            <a:custGeom>
              <a:avLst/>
              <a:gdLst/>
              <a:ahLst/>
              <a:cxnLst/>
              <a:rect l="l" t="t" r="r" b="b"/>
              <a:pathLst>
                <a:path w="1506220" h="1296670">
                  <a:moveTo>
                    <a:pt x="0" y="216027"/>
                  </a:moveTo>
                  <a:lnTo>
                    <a:pt x="5705" y="166495"/>
                  </a:lnTo>
                  <a:lnTo>
                    <a:pt x="21958" y="121025"/>
                  </a:lnTo>
                  <a:lnTo>
                    <a:pt x="47460" y="80915"/>
                  </a:lnTo>
                  <a:lnTo>
                    <a:pt x="80915" y="47460"/>
                  </a:lnTo>
                  <a:lnTo>
                    <a:pt x="121025" y="21958"/>
                  </a:lnTo>
                  <a:lnTo>
                    <a:pt x="166495" y="5705"/>
                  </a:lnTo>
                  <a:lnTo>
                    <a:pt x="216027" y="0"/>
                  </a:lnTo>
                  <a:lnTo>
                    <a:pt x="1289748" y="0"/>
                  </a:lnTo>
                  <a:lnTo>
                    <a:pt x="1339284" y="5705"/>
                  </a:lnTo>
                  <a:lnTo>
                    <a:pt x="1384755" y="21958"/>
                  </a:lnTo>
                  <a:lnTo>
                    <a:pt x="1424865" y="47460"/>
                  </a:lnTo>
                  <a:lnTo>
                    <a:pt x="1458319" y="80915"/>
                  </a:lnTo>
                  <a:lnTo>
                    <a:pt x="1483819" y="121025"/>
                  </a:lnTo>
                  <a:lnTo>
                    <a:pt x="1500070" y="166495"/>
                  </a:lnTo>
                  <a:lnTo>
                    <a:pt x="1505775" y="216027"/>
                  </a:lnTo>
                  <a:lnTo>
                    <a:pt x="1505775" y="1080109"/>
                  </a:lnTo>
                  <a:lnTo>
                    <a:pt x="1500070" y="1129645"/>
                  </a:lnTo>
                  <a:lnTo>
                    <a:pt x="1483819" y="1175118"/>
                  </a:lnTo>
                  <a:lnTo>
                    <a:pt x="1458319" y="1215231"/>
                  </a:lnTo>
                  <a:lnTo>
                    <a:pt x="1424865" y="1248688"/>
                  </a:lnTo>
                  <a:lnTo>
                    <a:pt x="1384755" y="1274190"/>
                  </a:lnTo>
                  <a:lnTo>
                    <a:pt x="1339284" y="1290443"/>
                  </a:lnTo>
                  <a:lnTo>
                    <a:pt x="1289748" y="1296149"/>
                  </a:lnTo>
                  <a:lnTo>
                    <a:pt x="216027" y="1296149"/>
                  </a:lnTo>
                  <a:lnTo>
                    <a:pt x="166495" y="1290443"/>
                  </a:lnTo>
                  <a:lnTo>
                    <a:pt x="121025" y="1274190"/>
                  </a:lnTo>
                  <a:lnTo>
                    <a:pt x="80915" y="1248688"/>
                  </a:lnTo>
                  <a:lnTo>
                    <a:pt x="47460" y="1215231"/>
                  </a:lnTo>
                  <a:lnTo>
                    <a:pt x="21958" y="1175118"/>
                  </a:lnTo>
                  <a:lnTo>
                    <a:pt x="5705" y="1129645"/>
                  </a:lnTo>
                  <a:lnTo>
                    <a:pt x="0" y="1080109"/>
                  </a:lnTo>
                  <a:lnTo>
                    <a:pt x="0" y="216027"/>
                  </a:lnTo>
                  <a:close/>
                </a:path>
              </a:pathLst>
            </a:custGeom>
            <a:ln w="12699">
              <a:solidFill>
                <a:srgbClr val="0070C0"/>
              </a:solidFill>
            </a:ln>
          </p:spPr>
          <p:txBody>
            <a:bodyPr wrap="square" lIns="0" tIns="0" rIns="0" bIns="0" rtlCol="0"/>
            <a:lstStyle/>
            <a:p/>
          </p:txBody>
        </p:sp>
      </p:grpSp>
      <p:sp>
        <p:nvSpPr>
          <p:cNvPr id="7" name="object 7" descr=""/>
          <p:cNvSpPr txBox="1"/>
          <p:nvPr/>
        </p:nvSpPr>
        <p:spPr>
          <a:xfrm>
            <a:off x="7068268" y="3746188"/>
            <a:ext cx="1263650" cy="939800"/>
          </a:xfrm>
          <a:prstGeom prst="rect">
            <a:avLst/>
          </a:prstGeom>
        </p:spPr>
        <p:txBody>
          <a:bodyPr wrap="square" lIns="0" tIns="12700" rIns="0" bIns="0" rtlCol="0" vert="horz">
            <a:spAutoFit/>
          </a:bodyPr>
          <a:lstStyle/>
          <a:p>
            <a:pPr marL="184150" marR="233679" indent="-171450">
              <a:lnSpc>
                <a:spcPct val="100000"/>
              </a:lnSpc>
              <a:spcBef>
                <a:spcPts val="100"/>
              </a:spcBef>
              <a:buFont typeface="Arial MT"/>
              <a:buChar char="•"/>
              <a:tabLst>
                <a:tab pos="184150" algn="l"/>
              </a:tabLst>
            </a:pPr>
            <a:r>
              <a:rPr dirty="0" sz="1200">
                <a:latin typeface="SimSun"/>
                <a:cs typeface="SimSun"/>
              </a:rPr>
              <a:t>UE</a:t>
            </a:r>
            <a:r>
              <a:rPr dirty="0" sz="1200" spc="-15">
                <a:latin typeface="SimSun"/>
                <a:cs typeface="SimSun"/>
              </a:rPr>
              <a:t>的支持的</a:t>
            </a:r>
            <a:r>
              <a:rPr dirty="0" sz="1200" spc="-50">
                <a:latin typeface="SimSun"/>
                <a:cs typeface="SimSun"/>
              </a:rPr>
              <a:t> </a:t>
            </a:r>
            <a:r>
              <a:rPr dirty="0" sz="1200" spc="-10">
                <a:latin typeface="SimSun"/>
                <a:cs typeface="SimSun"/>
              </a:rPr>
              <a:t>Pmax(23/26)</a:t>
            </a:r>
            <a:endParaRPr sz="1200">
              <a:latin typeface="SimSun"/>
              <a:cs typeface="SimSun"/>
            </a:endParaRPr>
          </a:p>
          <a:p>
            <a:pPr marL="184785" indent="-172085">
              <a:lnSpc>
                <a:spcPct val="100000"/>
              </a:lnSpc>
              <a:buFont typeface="Arial MT"/>
              <a:buChar char="•"/>
              <a:tabLst>
                <a:tab pos="184785" algn="l"/>
              </a:tabLst>
            </a:pPr>
            <a:r>
              <a:rPr dirty="0" sz="1200" spc="-10">
                <a:latin typeface="SimSun"/>
                <a:cs typeface="SimSun"/>
              </a:rPr>
              <a:t>干扰情况及码率</a:t>
            </a:r>
            <a:endParaRPr sz="1200">
              <a:latin typeface="SimSun"/>
              <a:cs typeface="SimSun"/>
            </a:endParaRPr>
          </a:p>
          <a:p>
            <a:pPr marL="184150" marR="5080" indent="-171450">
              <a:lnSpc>
                <a:spcPct val="100000"/>
              </a:lnSpc>
              <a:buFont typeface="Arial MT"/>
              <a:buChar char="•"/>
              <a:tabLst>
                <a:tab pos="184150" algn="l"/>
              </a:tabLst>
            </a:pPr>
            <a:r>
              <a:rPr dirty="0" sz="1200" spc="-10">
                <a:latin typeface="SimSun"/>
                <a:cs typeface="SimSun"/>
              </a:rPr>
              <a:t>帧结构、调度时</a:t>
            </a:r>
            <a:r>
              <a:rPr dirty="0" sz="1200" spc="-25">
                <a:latin typeface="SimSun"/>
                <a:cs typeface="SimSun"/>
              </a:rPr>
              <a:t>序等</a:t>
            </a:r>
            <a:endParaRPr sz="1200">
              <a:latin typeface="SimSun"/>
              <a:cs typeface="SimSun"/>
            </a:endParaRPr>
          </a:p>
        </p:txBody>
      </p:sp>
      <p:grpSp>
        <p:nvGrpSpPr>
          <p:cNvPr id="8" name="object 8" descr=""/>
          <p:cNvGrpSpPr/>
          <p:nvPr/>
        </p:nvGrpSpPr>
        <p:grpSpPr>
          <a:xfrm>
            <a:off x="4840985" y="3404615"/>
            <a:ext cx="1637030" cy="1412875"/>
            <a:chOff x="4840985" y="3404615"/>
            <a:chExt cx="1637030" cy="1412875"/>
          </a:xfrm>
        </p:grpSpPr>
        <p:pic>
          <p:nvPicPr>
            <p:cNvPr id="9" name="object 9" descr=""/>
            <p:cNvPicPr/>
            <p:nvPr/>
          </p:nvPicPr>
          <p:blipFill>
            <a:blip r:embed="rId4" cstate="print"/>
            <a:stretch>
              <a:fillRect/>
            </a:stretch>
          </p:blipFill>
          <p:spPr>
            <a:xfrm>
              <a:off x="4855463" y="3404615"/>
              <a:ext cx="1622297" cy="1412747"/>
            </a:xfrm>
            <a:prstGeom prst="rect">
              <a:avLst/>
            </a:prstGeom>
          </p:spPr>
        </p:pic>
        <p:pic>
          <p:nvPicPr>
            <p:cNvPr id="10" name="object 10" descr=""/>
            <p:cNvPicPr/>
            <p:nvPr/>
          </p:nvPicPr>
          <p:blipFill>
            <a:blip r:embed="rId5" cstate="print"/>
            <a:stretch>
              <a:fillRect/>
            </a:stretch>
          </p:blipFill>
          <p:spPr>
            <a:xfrm>
              <a:off x="4840985" y="3866387"/>
              <a:ext cx="1517903" cy="880871"/>
            </a:xfrm>
            <a:prstGeom prst="rect">
              <a:avLst/>
            </a:prstGeom>
          </p:spPr>
        </p:pic>
        <p:sp>
          <p:nvSpPr>
            <p:cNvPr id="11" name="object 11" descr=""/>
            <p:cNvSpPr/>
            <p:nvPr/>
          </p:nvSpPr>
          <p:spPr>
            <a:xfrm>
              <a:off x="4886926" y="3435846"/>
              <a:ext cx="1506220" cy="1296670"/>
            </a:xfrm>
            <a:custGeom>
              <a:avLst/>
              <a:gdLst/>
              <a:ahLst/>
              <a:cxnLst/>
              <a:rect l="l" t="t" r="r" b="b"/>
              <a:pathLst>
                <a:path w="1506220" h="1296670">
                  <a:moveTo>
                    <a:pt x="1289748" y="0"/>
                  </a:moveTo>
                  <a:lnTo>
                    <a:pt x="216027" y="0"/>
                  </a:lnTo>
                  <a:lnTo>
                    <a:pt x="166495" y="5705"/>
                  </a:lnTo>
                  <a:lnTo>
                    <a:pt x="121025" y="21958"/>
                  </a:lnTo>
                  <a:lnTo>
                    <a:pt x="80915" y="47460"/>
                  </a:lnTo>
                  <a:lnTo>
                    <a:pt x="47460" y="80915"/>
                  </a:lnTo>
                  <a:lnTo>
                    <a:pt x="21958" y="121025"/>
                  </a:lnTo>
                  <a:lnTo>
                    <a:pt x="5705" y="166495"/>
                  </a:lnTo>
                  <a:lnTo>
                    <a:pt x="0" y="216027"/>
                  </a:lnTo>
                  <a:lnTo>
                    <a:pt x="0" y="1080109"/>
                  </a:lnTo>
                  <a:lnTo>
                    <a:pt x="5705" y="1129645"/>
                  </a:lnTo>
                  <a:lnTo>
                    <a:pt x="21958" y="1175118"/>
                  </a:lnTo>
                  <a:lnTo>
                    <a:pt x="47460" y="1215231"/>
                  </a:lnTo>
                  <a:lnTo>
                    <a:pt x="80915" y="1248688"/>
                  </a:lnTo>
                  <a:lnTo>
                    <a:pt x="121025" y="1274190"/>
                  </a:lnTo>
                  <a:lnTo>
                    <a:pt x="166495" y="1290443"/>
                  </a:lnTo>
                  <a:lnTo>
                    <a:pt x="216027" y="1296149"/>
                  </a:lnTo>
                  <a:lnTo>
                    <a:pt x="1289748" y="1296149"/>
                  </a:lnTo>
                  <a:lnTo>
                    <a:pt x="1339284" y="1290443"/>
                  </a:lnTo>
                  <a:lnTo>
                    <a:pt x="1384755" y="1274190"/>
                  </a:lnTo>
                  <a:lnTo>
                    <a:pt x="1424865" y="1248688"/>
                  </a:lnTo>
                  <a:lnTo>
                    <a:pt x="1458319" y="1215231"/>
                  </a:lnTo>
                  <a:lnTo>
                    <a:pt x="1483819" y="1175118"/>
                  </a:lnTo>
                  <a:lnTo>
                    <a:pt x="1500070" y="1129645"/>
                  </a:lnTo>
                  <a:lnTo>
                    <a:pt x="1505775" y="1080109"/>
                  </a:lnTo>
                  <a:lnTo>
                    <a:pt x="1505775" y="216027"/>
                  </a:lnTo>
                  <a:lnTo>
                    <a:pt x="1500070" y="166495"/>
                  </a:lnTo>
                  <a:lnTo>
                    <a:pt x="1483819" y="121025"/>
                  </a:lnTo>
                  <a:lnTo>
                    <a:pt x="1458319" y="80915"/>
                  </a:lnTo>
                  <a:lnTo>
                    <a:pt x="1424865" y="47460"/>
                  </a:lnTo>
                  <a:lnTo>
                    <a:pt x="1384755" y="21958"/>
                  </a:lnTo>
                  <a:lnTo>
                    <a:pt x="1339284" y="5705"/>
                  </a:lnTo>
                  <a:lnTo>
                    <a:pt x="1289748" y="0"/>
                  </a:lnTo>
                  <a:close/>
                </a:path>
              </a:pathLst>
            </a:custGeom>
            <a:solidFill>
              <a:srgbClr val="FFFFFF"/>
            </a:solidFill>
          </p:spPr>
          <p:txBody>
            <a:bodyPr wrap="square" lIns="0" tIns="0" rIns="0" bIns="0" rtlCol="0"/>
            <a:lstStyle/>
            <a:p/>
          </p:txBody>
        </p:sp>
        <p:sp>
          <p:nvSpPr>
            <p:cNvPr id="12" name="object 12" descr=""/>
            <p:cNvSpPr/>
            <p:nvPr/>
          </p:nvSpPr>
          <p:spPr>
            <a:xfrm>
              <a:off x="4886926" y="3435846"/>
              <a:ext cx="1506220" cy="1296670"/>
            </a:xfrm>
            <a:custGeom>
              <a:avLst/>
              <a:gdLst/>
              <a:ahLst/>
              <a:cxnLst/>
              <a:rect l="l" t="t" r="r" b="b"/>
              <a:pathLst>
                <a:path w="1506220" h="1296670">
                  <a:moveTo>
                    <a:pt x="0" y="216027"/>
                  </a:moveTo>
                  <a:lnTo>
                    <a:pt x="5705" y="166495"/>
                  </a:lnTo>
                  <a:lnTo>
                    <a:pt x="21958" y="121025"/>
                  </a:lnTo>
                  <a:lnTo>
                    <a:pt x="47460" y="80915"/>
                  </a:lnTo>
                  <a:lnTo>
                    <a:pt x="80915" y="47460"/>
                  </a:lnTo>
                  <a:lnTo>
                    <a:pt x="121025" y="21958"/>
                  </a:lnTo>
                  <a:lnTo>
                    <a:pt x="166495" y="5705"/>
                  </a:lnTo>
                  <a:lnTo>
                    <a:pt x="216027" y="0"/>
                  </a:lnTo>
                  <a:lnTo>
                    <a:pt x="1289748" y="0"/>
                  </a:lnTo>
                  <a:lnTo>
                    <a:pt x="1339284" y="5705"/>
                  </a:lnTo>
                  <a:lnTo>
                    <a:pt x="1384755" y="21958"/>
                  </a:lnTo>
                  <a:lnTo>
                    <a:pt x="1424865" y="47460"/>
                  </a:lnTo>
                  <a:lnTo>
                    <a:pt x="1458319" y="80915"/>
                  </a:lnTo>
                  <a:lnTo>
                    <a:pt x="1483819" y="121025"/>
                  </a:lnTo>
                  <a:lnTo>
                    <a:pt x="1500070" y="166495"/>
                  </a:lnTo>
                  <a:lnTo>
                    <a:pt x="1505775" y="216027"/>
                  </a:lnTo>
                  <a:lnTo>
                    <a:pt x="1505775" y="1080109"/>
                  </a:lnTo>
                  <a:lnTo>
                    <a:pt x="1500070" y="1129645"/>
                  </a:lnTo>
                  <a:lnTo>
                    <a:pt x="1483819" y="1175118"/>
                  </a:lnTo>
                  <a:lnTo>
                    <a:pt x="1458319" y="1215231"/>
                  </a:lnTo>
                  <a:lnTo>
                    <a:pt x="1424865" y="1248688"/>
                  </a:lnTo>
                  <a:lnTo>
                    <a:pt x="1384755" y="1274190"/>
                  </a:lnTo>
                  <a:lnTo>
                    <a:pt x="1339284" y="1290443"/>
                  </a:lnTo>
                  <a:lnTo>
                    <a:pt x="1289748" y="1296149"/>
                  </a:lnTo>
                  <a:lnTo>
                    <a:pt x="216027" y="1296149"/>
                  </a:lnTo>
                  <a:lnTo>
                    <a:pt x="166495" y="1290443"/>
                  </a:lnTo>
                  <a:lnTo>
                    <a:pt x="121025" y="1274190"/>
                  </a:lnTo>
                  <a:lnTo>
                    <a:pt x="80915" y="1248688"/>
                  </a:lnTo>
                  <a:lnTo>
                    <a:pt x="47460" y="1215231"/>
                  </a:lnTo>
                  <a:lnTo>
                    <a:pt x="21958" y="1175118"/>
                  </a:lnTo>
                  <a:lnTo>
                    <a:pt x="5705" y="1129645"/>
                  </a:lnTo>
                  <a:lnTo>
                    <a:pt x="0" y="1080109"/>
                  </a:lnTo>
                  <a:lnTo>
                    <a:pt x="0" y="216027"/>
                  </a:lnTo>
                  <a:close/>
                </a:path>
              </a:pathLst>
            </a:custGeom>
            <a:ln w="12699">
              <a:solidFill>
                <a:srgbClr val="0070C0"/>
              </a:solidFill>
            </a:ln>
          </p:spPr>
          <p:txBody>
            <a:bodyPr wrap="square" lIns="0" tIns="0" rIns="0" bIns="0" rtlCol="0"/>
            <a:lstStyle/>
            <a:p/>
          </p:txBody>
        </p:sp>
      </p:grpSp>
      <p:sp>
        <p:nvSpPr>
          <p:cNvPr id="13" name="object 13" descr=""/>
          <p:cNvSpPr txBox="1"/>
          <p:nvPr/>
        </p:nvSpPr>
        <p:spPr>
          <a:xfrm>
            <a:off x="4937499" y="3929068"/>
            <a:ext cx="1263650" cy="756920"/>
          </a:xfrm>
          <a:prstGeom prst="rect">
            <a:avLst/>
          </a:prstGeom>
        </p:spPr>
        <p:txBody>
          <a:bodyPr wrap="square" lIns="0" tIns="12700" rIns="0" bIns="0" rtlCol="0" vert="horz">
            <a:spAutoFit/>
          </a:bodyPr>
          <a:lstStyle/>
          <a:p>
            <a:pPr marL="184150" marR="5080" indent="-171450">
              <a:lnSpc>
                <a:spcPct val="100000"/>
              </a:lnSpc>
              <a:spcBef>
                <a:spcPts val="100"/>
              </a:spcBef>
              <a:buFont typeface="Arial MT"/>
              <a:buChar char="•"/>
              <a:tabLst>
                <a:tab pos="184150" algn="l"/>
              </a:tabLst>
            </a:pPr>
            <a:r>
              <a:rPr dirty="0" sz="1200">
                <a:latin typeface="SimSun"/>
                <a:cs typeface="SimSun"/>
              </a:rPr>
              <a:t>UE</a:t>
            </a:r>
            <a:r>
              <a:rPr dirty="0" sz="1200" spc="-10">
                <a:latin typeface="SimSun"/>
                <a:cs typeface="SimSun"/>
              </a:rPr>
              <a:t>下行能力支持</a:t>
            </a:r>
            <a:r>
              <a:rPr dirty="0" sz="1200">
                <a:latin typeface="SimSun"/>
                <a:cs typeface="SimSun"/>
              </a:rPr>
              <a:t>的最大</a:t>
            </a:r>
            <a:r>
              <a:rPr dirty="0" sz="1200" spc="-25">
                <a:latin typeface="SimSun"/>
                <a:cs typeface="SimSun"/>
              </a:rPr>
              <a:t>TBS</a:t>
            </a:r>
            <a:endParaRPr sz="1200">
              <a:latin typeface="SimSun"/>
              <a:cs typeface="SimSun"/>
            </a:endParaRPr>
          </a:p>
          <a:p>
            <a:pPr marL="184150" marR="5080" indent="-171450">
              <a:lnSpc>
                <a:spcPct val="100000"/>
              </a:lnSpc>
              <a:buFont typeface="Arial MT"/>
              <a:buChar char="•"/>
              <a:tabLst>
                <a:tab pos="184150" algn="l"/>
              </a:tabLst>
            </a:pPr>
            <a:r>
              <a:rPr dirty="0" sz="1200">
                <a:latin typeface="SimSun"/>
                <a:cs typeface="SimSun"/>
              </a:rPr>
              <a:t>UE</a:t>
            </a:r>
            <a:r>
              <a:rPr dirty="0" sz="1200" spc="-10">
                <a:latin typeface="SimSun"/>
                <a:cs typeface="SimSun"/>
              </a:rPr>
              <a:t>上行能力支持</a:t>
            </a:r>
            <a:r>
              <a:rPr dirty="0" sz="1200">
                <a:latin typeface="SimSun"/>
                <a:cs typeface="SimSun"/>
              </a:rPr>
              <a:t>的最大</a:t>
            </a:r>
            <a:r>
              <a:rPr dirty="0" sz="1200" spc="-25">
                <a:latin typeface="SimSun"/>
                <a:cs typeface="SimSun"/>
              </a:rPr>
              <a:t>TBS</a:t>
            </a:r>
            <a:endParaRPr sz="1200">
              <a:latin typeface="SimSun"/>
              <a:cs typeface="SimSun"/>
            </a:endParaRPr>
          </a:p>
        </p:txBody>
      </p:sp>
      <p:grpSp>
        <p:nvGrpSpPr>
          <p:cNvPr id="14" name="object 14" descr=""/>
          <p:cNvGrpSpPr/>
          <p:nvPr/>
        </p:nvGrpSpPr>
        <p:grpSpPr>
          <a:xfrm>
            <a:off x="2705100" y="3404615"/>
            <a:ext cx="1637030" cy="1412875"/>
            <a:chOff x="2705100" y="3404615"/>
            <a:chExt cx="1637030" cy="1412875"/>
          </a:xfrm>
        </p:grpSpPr>
        <p:pic>
          <p:nvPicPr>
            <p:cNvPr id="15" name="object 15" descr=""/>
            <p:cNvPicPr/>
            <p:nvPr/>
          </p:nvPicPr>
          <p:blipFill>
            <a:blip r:embed="rId6" cstate="print"/>
            <a:stretch>
              <a:fillRect/>
            </a:stretch>
          </p:blipFill>
          <p:spPr>
            <a:xfrm>
              <a:off x="2705100" y="3404615"/>
              <a:ext cx="1636775" cy="1412747"/>
            </a:xfrm>
            <a:prstGeom prst="rect">
              <a:avLst/>
            </a:prstGeom>
          </p:spPr>
        </p:pic>
        <p:sp>
          <p:nvSpPr>
            <p:cNvPr id="16" name="object 16" descr=""/>
            <p:cNvSpPr/>
            <p:nvPr/>
          </p:nvSpPr>
          <p:spPr>
            <a:xfrm>
              <a:off x="2751294" y="3435846"/>
              <a:ext cx="1506220" cy="1296670"/>
            </a:xfrm>
            <a:custGeom>
              <a:avLst/>
              <a:gdLst/>
              <a:ahLst/>
              <a:cxnLst/>
              <a:rect l="l" t="t" r="r" b="b"/>
              <a:pathLst>
                <a:path w="1506220" h="1296670">
                  <a:moveTo>
                    <a:pt x="1289748" y="0"/>
                  </a:moveTo>
                  <a:lnTo>
                    <a:pt x="216027" y="0"/>
                  </a:lnTo>
                  <a:lnTo>
                    <a:pt x="166495" y="5705"/>
                  </a:lnTo>
                  <a:lnTo>
                    <a:pt x="121025" y="21958"/>
                  </a:lnTo>
                  <a:lnTo>
                    <a:pt x="80915" y="47460"/>
                  </a:lnTo>
                  <a:lnTo>
                    <a:pt x="47460" y="80915"/>
                  </a:lnTo>
                  <a:lnTo>
                    <a:pt x="21958" y="121025"/>
                  </a:lnTo>
                  <a:lnTo>
                    <a:pt x="5705" y="166495"/>
                  </a:lnTo>
                  <a:lnTo>
                    <a:pt x="0" y="216027"/>
                  </a:lnTo>
                  <a:lnTo>
                    <a:pt x="0" y="1080109"/>
                  </a:lnTo>
                  <a:lnTo>
                    <a:pt x="5705" y="1129645"/>
                  </a:lnTo>
                  <a:lnTo>
                    <a:pt x="21958" y="1175118"/>
                  </a:lnTo>
                  <a:lnTo>
                    <a:pt x="47460" y="1215231"/>
                  </a:lnTo>
                  <a:lnTo>
                    <a:pt x="80915" y="1248688"/>
                  </a:lnTo>
                  <a:lnTo>
                    <a:pt x="121025" y="1274190"/>
                  </a:lnTo>
                  <a:lnTo>
                    <a:pt x="166495" y="1290443"/>
                  </a:lnTo>
                  <a:lnTo>
                    <a:pt x="216027" y="1296149"/>
                  </a:lnTo>
                  <a:lnTo>
                    <a:pt x="1289748" y="1296149"/>
                  </a:lnTo>
                  <a:lnTo>
                    <a:pt x="1339284" y="1290443"/>
                  </a:lnTo>
                  <a:lnTo>
                    <a:pt x="1384755" y="1274190"/>
                  </a:lnTo>
                  <a:lnTo>
                    <a:pt x="1424865" y="1248688"/>
                  </a:lnTo>
                  <a:lnTo>
                    <a:pt x="1458319" y="1215231"/>
                  </a:lnTo>
                  <a:lnTo>
                    <a:pt x="1483819" y="1175118"/>
                  </a:lnTo>
                  <a:lnTo>
                    <a:pt x="1500070" y="1129645"/>
                  </a:lnTo>
                  <a:lnTo>
                    <a:pt x="1505775" y="1080109"/>
                  </a:lnTo>
                  <a:lnTo>
                    <a:pt x="1505775" y="216027"/>
                  </a:lnTo>
                  <a:lnTo>
                    <a:pt x="1500070" y="166495"/>
                  </a:lnTo>
                  <a:lnTo>
                    <a:pt x="1483819" y="121025"/>
                  </a:lnTo>
                  <a:lnTo>
                    <a:pt x="1458319" y="80915"/>
                  </a:lnTo>
                  <a:lnTo>
                    <a:pt x="1424865" y="47460"/>
                  </a:lnTo>
                  <a:lnTo>
                    <a:pt x="1384755" y="21958"/>
                  </a:lnTo>
                  <a:lnTo>
                    <a:pt x="1339284" y="5705"/>
                  </a:lnTo>
                  <a:lnTo>
                    <a:pt x="1289748" y="0"/>
                  </a:lnTo>
                  <a:close/>
                </a:path>
              </a:pathLst>
            </a:custGeom>
            <a:solidFill>
              <a:srgbClr val="FFFFFF"/>
            </a:solidFill>
          </p:spPr>
          <p:txBody>
            <a:bodyPr wrap="square" lIns="0" tIns="0" rIns="0" bIns="0" rtlCol="0"/>
            <a:lstStyle/>
            <a:p/>
          </p:txBody>
        </p:sp>
        <p:sp>
          <p:nvSpPr>
            <p:cNvPr id="17" name="object 17" descr=""/>
            <p:cNvSpPr/>
            <p:nvPr/>
          </p:nvSpPr>
          <p:spPr>
            <a:xfrm>
              <a:off x="2751294" y="3435846"/>
              <a:ext cx="1506220" cy="1296670"/>
            </a:xfrm>
            <a:custGeom>
              <a:avLst/>
              <a:gdLst/>
              <a:ahLst/>
              <a:cxnLst/>
              <a:rect l="l" t="t" r="r" b="b"/>
              <a:pathLst>
                <a:path w="1506220" h="1296670">
                  <a:moveTo>
                    <a:pt x="0" y="216027"/>
                  </a:moveTo>
                  <a:lnTo>
                    <a:pt x="5705" y="166495"/>
                  </a:lnTo>
                  <a:lnTo>
                    <a:pt x="21958" y="121025"/>
                  </a:lnTo>
                  <a:lnTo>
                    <a:pt x="47460" y="80915"/>
                  </a:lnTo>
                  <a:lnTo>
                    <a:pt x="80915" y="47460"/>
                  </a:lnTo>
                  <a:lnTo>
                    <a:pt x="121025" y="21958"/>
                  </a:lnTo>
                  <a:lnTo>
                    <a:pt x="166495" y="5705"/>
                  </a:lnTo>
                  <a:lnTo>
                    <a:pt x="216027" y="0"/>
                  </a:lnTo>
                  <a:lnTo>
                    <a:pt x="1289748" y="0"/>
                  </a:lnTo>
                  <a:lnTo>
                    <a:pt x="1339284" y="5705"/>
                  </a:lnTo>
                  <a:lnTo>
                    <a:pt x="1384755" y="21958"/>
                  </a:lnTo>
                  <a:lnTo>
                    <a:pt x="1424865" y="47460"/>
                  </a:lnTo>
                  <a:lnTo>
                    <a:pt x="1458319" y="80915"/>
                  </a:lnTo>
                  <a:lnTo>
                    <a:pt x="1483819" y="121025"/>
                  </a:lnTo>
                  <a:lnTo>
                    <a:pt x="1500070" y="166495"/>
                  </a:lnTo>
                  <a:lnTo>
                    <a:pt x="1505775" y="216027"/>
                  </a:lnTo>
                  <a:lnTo>
                    <a:pt x="1505775" y="1080109"/>
                  </a:lnTo>
                  <a:lnTo>
                    <a:pt x="1500070" y="1129645"/>
                  </a:lnTo>
                  <a:lnTo>
                    <a:pt x="1483819" y="1175118"/>
                  </a:lnTo>
                  <a:lnTo>
                    <a:pt x="1458319" y="1215231"/>
                  </a:lnTo>
                  <a:lnTo>
                    <a:pt x="1424865" y="1248688"/>
                  </a:lnTo>
                  <a:lnTo>
                    <a:pt x="1384755" y="1274190"/>
                  </a:lnTo>
                  <a:lnTo>
                    <a:pt x="1339284" y="1290443"/>
                  </a:lnTo>
                  <a:lnTo>
                    <a:pt x="1289748" y="1296149"/>
                  </a:lnTo>
                  <a:lnTo>
                    <a:pt x="216027" y="1296149"/>
                  </a:lnTo>
                  <a:lnTo>
                    <a:pt x="166495" y="1290443"/>
                  </a:lnTo>
                  <a:lnTo>
                    <a:pt x="121025" y="1274190"/>
                  </a:lnTo>
                  <a:lnTo>
                    <a:pt x="80915" y="1248688"/>
                  </a:lnTo>
                  <a:lnTo>
                    <a:pt x="47460" y="1215231"/>
                  </a:lnTo>
                  <a:lnTo>
                    <a:pt x="21958" y="1175118"/>
                  </a:lnTo>
                  <a:lnTo>
                    <a:pt x="5705" y="1129645"/>
                  </a:lnTo>
                  <a:lnTo>
                    <a:pt x="0" y="1080109"/>
                  </a:lnTo>
                  <a:lnTo>
                    <a:pt x="0" y="216027"/>
                  </a:lnTo>
                  <a:close/>
                </a:path>
              </a:pathLst>
            </a:custGeom>
            <a:ln w="12699">
              <a:solidFill>
                <a:srgbClr val="0070C0"/>
              </a:solidFill>
            </a:ln>
          </p:spPr>
          <p:txBody>
            <a:bodyPr wrap="square" lIns="0" tIns="0" rIns="0" bIns="0" rtlCol="0"/>
            <a:lstStyle/>
            <a:p/>
          </p:txBody>
        </p:sp>
      </p:grpSp>
      <p:sp>
        <p:nvSpPr>
          <p:cNvPr id="18" name="object 18" descr=""/>
          <p:cNvSpPr txBox="1"/>
          <p:nvPr/>
        </p:nvSpPr>
        <p:spPr>
          <a:xfrm>
            <a:off x="2801867" y="3892910"/>
            <a:ext cx="1263650" cy="391160"/>
          </a:xfrm>
          <a:prstGeom prst="rect">
            <a:avLst/>
          </a:prstGeom>
        </p:spPr>
        <p:txBody>
          <a:bodyPr wrap="square" lIns="0" tIns="12700" rIns="0" bIns="0" rtlCol="0" vert="horz">
            <a:spAutoFit/>
          </a:bodyPr>
          <a:lstStyle/>
          <a:p>
            <a:pPr marL="184785" indent="-172085">
              <a:lnSpc>
                <a:spcPct val="100000"/>
              </a:lnSpc>
              <a:spcBef>
                <a:spcPts val="100"/>
              </a:spcBef>
              <a:buFont typeface="Arial MT"/>
              <a:buChar char="•"/>
              <a:tabLst>
                <a:tab pos="184785" algn="l"/>
              </a:tabLst>
            </a:pPr>
            <a:r>
              <a:rPr dirty="0" sz="1200">
                <a:latin typeface="SimSun"/>
                <a:cs typeface="SimSun"/>
              </a:rPr>
              <a:t>UE</a:t>
            </a:r>
            <a:r>
              <a:rPr dirty="0" sz="1200" spc="-10">
                <a:latin typeface="SimSun"/>
                <a:cs typeface="SimSun"/>
              </a:rPr>
              <a:t>支持的端口数</a:t>
            </a:r>
            <a:endParaRPr sz="1200">
              <a:latin typeface="SimSun"/>
              <a:cs typeface="SimSun"/>
            </a:endParaRPr>
          </a:p>
          <a:p>
            <a:pPr marL="184785" indent="-172085">
              <a:lnSpc>
                <a:spcPct val="100000"/>
              </a:lnSpc>
              <a:buFont typeface="Arial MT"/>
              <a:buChar char="•"/>
              <a:tabLst>
                <a:tab pos="184785" algn="l"/>
              </a:tabLst>
            </a:pPr>
            <a:r>
              <a:rPr dirty="0" sz="1200">
                <a:latin typeface="SimSun"/>
                <a:cs typeface="SimSun"/>
              </a:rPr>
              <a:t>UE</a:t>
            </a:r>
            <a:r>
              <a:rPr dirty="0" sz="1200" spc="-20">
                <a:latin typeface="SimSun"/>
                <a:cs typeface="SimSun"/>
              </a:rPr>
              <a:t>天线数</a:t>
            </a:r>
            <a:endParaRPr sz="1200">
              <a:latin typeface="SimSun"/>
              <a:cs typeface="SimSun"/>
            </a:endParaRPr>
          </a:p>
        </p:txBody>
      </p:sp>
      <p:grpSp>
        <p:nvGrpSpPr>
          <p:cNvPr id="19" name="object 19" descr=""/>
          <p:cNvGrpSpPr/>
          <p:nvPr/>
        </p:nvGrpSpPr>
        <p:grpSpPr>
          <a:xfrm>
            <a:off x="19050" y="707136"/>
            <a:ext cx="8531860" cy="2127885"/>
            <a:chOff x="19050" y="707136"/>
            <a:chExt cx="8531860" cy="2127885"/>
          </a:xfrm>
        </p:grpSpPr>
        <p:pic>
          <p:nvPicPr>
            <p:cNvPr id="20" name="object 20"/>
            <p:cNvPicPr/>
            <p:nvPr/>
          </p:nvPicPr>
          <p:blipFill>
            <a:blip r:embed="rId7" cstate="print"/>
            <a:stretch>
              <a:fillRect/>
            </a:stretch>
          </p:blipFill>
          <p:spPr>
            <a:xfrm>
              <a:off x="6797040" y="1980438"/>
              <a:ext cx="1753361" cy="854201"/>
            </a:xfrm>
            <a:prstGeom prst="rect">
              <a:avLst/>
            </a:prstGeom>
          </p:spPr>
        </p:pic>
        <p:sp>
          <p:nvSpPr>
            <p:cNvPr id="21" name="object 21" descr=""/>
            <p:cNvSpPr/>
            <p:nvPr/>
          </p:nvSpPr>
          <p:spPr>
            <a:xfrm>
              <a:off x="8403630" y="2016527"/>
              <a:ext cx="85725" cy="182880"/>
            </a:xfrm>
            <a:custGeom>
              <a:avLst/>
              <a:gdLst/>
              <a:ahLst/>
              <a:cxnLst/>
              <a:rect l="l" t="t" r="r" b="b"/>
              <a:pathLst>
                <a:path w="85725" h="182880">
                  <a:moveTo>
                    <a:pt x="68427" y="0"/>
                  </a:moveTo>
                  <a:lnTo>
                    <a:pt x="0" y="182880"/>
                  </a:lnTo>
                  <a:lnTo>
                    <a:pt x="85623" y="182880"/>
                  </a:lnTo>
                  <a:lnTo>
                    <a:pt x="68427" y="0"/>
                  </a:lnTo>
                  <a:close/>
                </a:path>
              </a:pathLst>
            </a:custGeom>
            <a:solidFill>
              <a:srgbClr val="F0F8F9"/>
            </a:solidFill>
          </p:spPr>
          <p:txBody>
            <a:bodyPr wrap="square" lIns="0" tIns="0" rIns="0" bIns="0" rtlCol="0"/>
            <a:lstStyle/>
            <a:p/>
          </p:txBody>
        </p:sp>
        <p:sp>
          <p:nvSpPr>
            <p:cNvPr id="22" name="object 22" descr=""/>
            <p:cNvSpPr/>
            <p:nvPr/>
          </p:nvSpPr>
          <p:spPr>
            <a:xfrm>
              <a:off x="6858696" y="2016527"/>
              <a:ext cx="1630680" cy="731520"/>
            </a:xfrm>
            <a:custGeom>
              <a:avLst/>
              <a:gdLst/>
              <a:ahLst/>
              <a:cxnLst/>
              <a:rect l="l" t="t" r="r" b="b"/>
              <a:pathLst>
                <a:path w="1630679" h="731519">
                  <a:moveTo>
                    <a:pt x="806678" y="731519"/>
                  </a:moveTo>
                  <a:lnTo>
                    <a:pt x="856533" y="730133"/>
                  </a:lnTo>
                  <a:lnTo>
                    <a:pt x="905707" y="726021"/>
                  </a:lnTo>
                  <a:lnTo>
                    <a:pt x="954097" y="719257"/>
                  </a:lnTo>
                  <a:lnTo>
                    <a:pt x="1001602" y="709912"/>
                  </a:lnTo>
                  <a:lnTo>
                    <a:pt x="1048117" y="698059"/>
                  </a:lnTo>
                  <a:lnTo>
                    <a:pt x="1093539" y="683770"/>
                  </a:lnTo>
                  <a:lnTo>
                    <a:pt x="1137767" y="667118"/>
                  </a:lnTo>
                  <a:lnTo>
                    <a:pt x="1180696" y="648174"/>
                  </a:lnTo>
                  <a:lnTo>
                    <a:pt x="1222224" y="627012"/>
                  </a:lnTo>
                  <a:lnTo>
                    <a:pt x="1262248" y="603703"/>
                  </a:lnTo>
                  <a:lnTo>
                    <a:pt x="1300665" y="578319"/>
                  </a:lnTo>
                  <a:lnTo>
                    <a:pt x="1337372" y="550934"/>
                  </a:lnTo>
                  <a:lnTo>
                    <a:pt x="1372266" y="521619"/>
                  </a:lnTo>
                  <a:lnTo>
                    <a:pt x="1405244" y="490447"/>
                  </a:lnTo>
                  <a:lnTo>
                    <a:pt x="1436204" y="457489"/>
                  </a:lnTo>
                  <a:lnTo>
                    <a:pt x="1465041" y="422819"/>
                  </a:lnTo>
                  <a:lnTo>
                    <a:pt x="1491653" y="386509"/>
                  </a:lnTo>
                  <a:lnTo>
                    <a:pt x="1515938" y="348630"/>
                  </a:lnTo>
                  <a:lnTo>
                    <a:pt x="1537792" y="309255"/>
                  </a:lnTo>
                  <a:lnTo>
                    <a:pt x="1557113" y="268457"/>
                  </a:lnTo>
                  <a:lnTo>
                    <a:pt x="1573797" y="226308"/>
                  </a:lnTo>
                  <a:lnTo>
                    <a:pt x="1587741" y="182879"/>
                  </a:lnTo>
                  <a:lnTo>
                    <a:pt x="1544929" y="182879"/>
                  </a:lnTo>
                  <a:lnTo>
                    <a:pt x="1613357" y="0"/>
                  </a:lnTo>
                  <a:lnTo>
                    <a:pt x="1630565" y="182879"/>
                  </a:lnTo>
                  <a:lnTo>
                    <a:pt x="1587741" y="182879"/>
                  </a:lnTo>
                  <a:lnTo>
                    <a:pt x="1573797" y="226306"/>
                  </a:lnTo>
                  <a:lnTo>
                    <a:pt x="1557113" y="268454"/>
                  </a:lnTo>
                  <a:lnTo>
                    <a:pt x="1537792" y="309251"/>
                  </a:lnTo>
                  <a:lnTo>
                    <a:pt x="1515938" y="348625"/>
                  </a:lnTo>
                  <a:lnTo>
                    <a:pt x="1491653" y="386503"/>
                  </a:lnTo>
                  <a:lnTo>
                    <a:pt x="1465041" y="422814"/>
                  </a:lnTo>
                  <a:lnTo>
                    <a:pt x="1436204" y="457484"/>
                  </a:lnTo>
                  <a:lnTo>
                    <a:pt x="1405244" y="490441"/>
                  </a:lnTo>
                  <a:lnTo>
                    <a:pt x="1372266" y="521614"/>
                  </a:lnTo>
                  <a:lnTo>
                    <a:pt x="1337372" y="550929"/>
                  </a:lnTo>
                  <a:lnTo>
                    <a:pt x="1300665" y="578315"/>
                  </a:lnTo>
                  <a:lnTo>
                    <a:pt x="1262248" y="603698"/>
                  </a:lnTo>
                  <a:lnTo>
                    <a:pt x="1222224" y="627008"/>
                  </a:lnTo>
                  <a:lnTo>
                    <a:pt x="1180696" y="648171"/>
                  </a:lnTo>
                  <a:lnTo>
                    <a:pt x="1137767" y="667115"/>
                  </a:lnTo>
                  <a:lnTo>
                    <a:pt x="1093539" y="683768"/>
                  </a:lnTo>
                  <a:lnTo>
                    <a:pt x="1048117" y="698057"/>
                  </a:lnTo>
                  <a:lnTo>
                    <a:pt x="1001602" y="709911"/>
                  </a:lnTo>
                  <a:lnTo>
                    <a:pt x="954097" y="719256"/>
                  </a:lnTo>
                  <a:lnTo>
                    <a:pt x="905707" y="726021"/>
                  </a:lnTo>
                  <a:lnTo>
                    <a:pt x="856533" y="730133"/>
                  </a:lnTo>
                  <a:lnTo>
                    <a:pt x="806678" y="731519"/>
                  </a:lnTo>
                  <a:lnTo>
                    <a:pt x="755663" y="730080"/>
                  </a:lnTo>
                  <a:lnTo>
                    <a:pt x="705490" y="725820"/>
                  </a:lnTo>
                  <a:lnTo>
                    <a:pt x="656255" y="718824"/>
                  </a:lnTo>
                  <a:lnTo>
                    <a:pt x="608053" y="709179"/>
                  </a:lnTo>
                  <a:lnTo>
                    <a:pt x="560977" y="696969"/>
                  </a:lnTo>
                  <a:lnTo>
                    <a:pt x="515122" y="682280"/>
                  </a:lnTo>
                  <a:lnTo>
                    <a:pt x="470583" y="665200"/>
                  </a:lnTo>
                  <a:lnTo>
                    <a:pt x="427455" y="645811"/>
                  </a:lnTo>
                  <a:lnTo>
                    <a:pt x="385830" y="624202"/>
                  </a:lnTo>
                  <a:lnTo>
                    <a:pt x="345805" y="600457"/>
                  </a:lnTo>
                  <a:lnTo>
                    <a:pt x="307474" y="574662"/>
                  </a:lnTo>
                  <a:lnTo>
                    <a:pt x="270931" y="546902"/>
                  </a:lnTo>
                  <a:lnTo>
                    <a:pt x="236270" y="517264"/>
                  </a:lnTo>
                  <a:lnTo>
                    <a:pt x="203587" y="485833"/>
                  </a:lnTo>
                  <a:lnTo>
                    <a:pt x="172975" y="452695"/>
                  </a:lnTo>
                  <a:lnTo>
                    <a:pt x="144529" y="417935"/>
                  </a:lnTo>
                  <a:lnTo>
                    <a:pt x="118344" y="381639"/>
                  </a:lnTo>
                  <a:lnTo>
                    <a:pt x="94515" y="343893"/>
                  </a:lnTo>
                  <a:lnTo>
                    <a:pt x="73134" y="304782"/>
                  </a:lnTo>
                  <a:lnTo>
                    <a:pt x="54298" y="264393"/>
                  </a:lnTo>
                  <a:lnTo>
                    <a:pt x="38101" y="222810"/>
                  </a:lnTo>
                  <a:lnTo>
                    <a:pt x="24636" y="180120"/>
                  </a:lnTo>
                  <a:lnTo>
                    <a:pt x="13999" y="136409"/>
                  </a:lnTo>
                  <a:lnTo>
                    <a:pt x="6285" y="91761"/>
                  </a:lnTo>
                  <a:lnTo>
                    <a:pt x="1587" y="46263"/>
                  </a:lnTo>
                  <a:lnTo>
                    <a:pt x="0" y="0"/>
                  </a:lnTo>
                  <a:lnTo>
                    <a:pt x="1587" y="46263"/>
                  </a:lnTo>
                  <a:lnTo>
                    <a:pt x="6285" y="91761"/>
                  </a:lnTo>
                  <a:lnTo>
                    <a:pt x="13999" y="136409"/>
                  </a:lnTo>
                  <a:lnTo>
                    <a:pt x="24636" y="180120"/>
                  </a:lnTo>
                  <a:lnTo>
                    <a:pt x="38101" y="222810"/>
                  </a:lnTo>
                  <a:lnTo>
                    <a:pt x="54298" y="264393"/>
                  </a:lnTo>
                  <a:lnTo>
                    <a:pt x="73134" y="304782"/>
                  </a:lnTo>
                  <a:lnTo>
                    <a:pt x="94515" y="343893"/>
                  </a:lnTo>
                  <a:lnTo>
                    <a:pt x="118344" y="381639"/>
                  </a:lnTo>
                  <a:lnTo>
                    <a:pt x="144529" y="417935"/>
                  </a:lnTo>
                  <a:lnTo>
                    <a:pt x="172975" y="452695"/>
                  </a:lnTo>
                  <a:lnTo>
                    <a:pt x="203587" y="485833"/>
                  </a:lnTo>
                  <a:lnTo>
                    <a:pt x="236270" y="517264"/>
                  </a:lnTo>
                  <a:lnTo>
                    <a:pt x="270931" y="546902"/>
                  </a:lnTo>
                  <a:lnTo>
                    <a:pt x="307474" y="574662"/>
                  </a:lnTo>
                  <a:lnTo>
                    <a:pt x="345805" y="600457"/>
                  </a:lnTo>
                  <a:lnTo>
                    <a:pt x="385830" y="624202"/>
                  </a:lnTo>
                  <a:lnTo>
                    <a:pt x="427455" y="645811"/>
                  </a:lnTo>
                  <a:lnTo>
                    <a:pt x="470583" y="665200"/>
                  </a:lnTo>
                  <a:lnTo>
                    <a:pt x="515122" y="682280"/>
                  </a:lnTo>
                  <a:lnTo>
                    <a:pt x="560977" y="696969"/>
                  </a:lnTo>
                  <a:lnTo>
                    <a:pt x="608053" y="709179"/>
                  </a:lnTo>
                  <a:lnTo>
                    <a:pt x="656255" y="718824"/>
                  </a:lnTo>
                  <a:lnTo>
                    <a:pt x="705490" y="725820"/>
                  </a:lnTo>
                  <a:lnTo>
                    <a:pt x="755663" y="730080"/>
                  </a:lnTo>
                  <a:lnTo>
                    <a:pt x="806678" y="731519"/>
                  </a:lnTo>
                </a:path>
              </a:pathLst>
            </a:custGeom>
            <a:ln w="19049">
              <a:solidFill>
                <a:srgbClr val="F0F8F9"/>
              </a:solidFill>
            </a:ln>
          </p:spPr>
          <p:txBody>
            <a:bodyPr wrap="square" lIns="0" tIns="0" rIns="0" bIns="0" rtlCol="0"/>
            <a:lstStyle/>
            <a:p/>
          </p:txBody>
        </p:sp>
        <p:pic>
          <p:nvPicPr>
            <p:cNvPr id="23" name="object 23"/>
            <p:cNvPicPr/>
            <p:nvPr/>
          </p:nvPicPr>
          <p:blipFill>
            <a:blip r:embed="rId8" cstate="print"/>
            <a:stretch>
              <a:fillRect/>
            </a:stretch>
          </p:blipFill>
          <p:spPr>
            <a:xfrm>
              <a:off x="3772661" y="1980438"/>
              <a:ext cx="1753361" cy="854201"/>
            </a:xfrm>
            <a:prstGeom prst="rect">
              <a:avLst/>
            </a:prstGeom>
          </p:spPr>
        </p:pic>
        <p:sp>
          <p:nvSpPr>
            <p:cNvPr id="24" name="object 24" descr=""/>
            <p:cNvSpPr/>
            <p:nvPr/>
          </p:nvSpPr>
          <p:spPr>
            <a:xfrm>
              <a:off x="5379294" y="2016527"/>
              <a:ext cx="85725" cy="182880"/>
            </a:xfrm>
            <a:custGeom>
              <a:avLst/>
              <a:gdLst/>
              <a:ahLst/>
              <a:cxnLst/>
              <a:rect l="l" t="t" r="r" b="b"/>
              <a:pathLst>
                <a:path w="85725" h="182880">
                  <a:moveTo>
                    <a:pt x="68427" y="0"/>
                  </a:moveTo>
                  <a:lnTo>
                    <a:pt x="0" y="182880"/>
                  </a:lnTo>
                  <a:lnTo>
                    <a:pt x="85623" y="182880"/>
                  </a:lnTo>
                  <a:lnTo>
                    <a:pt x="68427" y="0"/>
                  </a:lnTo>
                  <a:close/>
                </a:path>
              </a:pathLst>
            </a:custGeom>
            <a:solidFill>
              <a:srgbClr val="F0F8F9"/>
            </a:solidFill>
          </p:spPr>
          <p:txBody>
            <a:bodyPr wrap="square" lIns="0" tIns="0" rIns="0" bIns="0" rtlCol="0"/>
            <a:lstStyle/>
            <a:p/>
          </p:txBody>
        </p:sp>
        <p:sp>
          <p:nvSpPr>
            <p:cNvPr id="25" name="object 25" descr=""/>
            <p:cNvSpPr/>
            <p:nvPr/>
          </p:nvSpPr>
          <p:spPr>
            <a:xfrm>
              <a:off x="3834359" y="2016527"/>
              <a:ext cx="1630680" cy="731520"/>
            </a:xfrm>
            <a:custGeom>
              <a:avLst/>
              <a:gdLst/>
              <a:ahLst/>
              <a:cxnLst/>
              <a:rect l="l" t="t" r="r" b="b"/>
              <a:pathLst>
                <a:path w="1630679" h="731519">
                  <a:moveTo>
                    <a:pt x="806678" y="731519"/>
                  </a:moveTo>
                  <a:lnTo>
                    <a:pt x="856533" y="730133"/>
                  </a:lnTo>
                  <a:lnTo>
                    <a:pt x="905707" y="726021"/>
                  </a:lnTo>
                  <a:lnTo>
                    <a:pt x="954097" y="719257"/>
                  </a:lnTo>
                  <a:lnTo>
                    <a:pt x="1001602" y="709912"/>
                  </a:lnTo>
                  <a:lnTo>
                    <a:pt x="1048117" y="698059"/>
                  </a:lnTo>
                  <a:lnTo>
                    <a:pt x="1093539" y="683770"/>
                  </a:lnTo>
                  <a:lnTo>
                    <a:pt x="1137767" y="667118"/>
                  </a:lnTo>
                  <a:lnTo>
                    <a:pt x="1180696" y="648174"/>
                  </a:lnTo>
                  <a:lnTo>
                    <a:pt x="1222224" y="627012"/>
                  </a:lnTo>
                  <a:lnTo>
                    <a:pt x="1262248" y="603703"/>
                  </a:lnTo>
                  <a:lnTo>
                    <a:pt x="1300665" y="578319"/>
                  </a:lnTo>
                  <a:lnTo>
                    <a:pt x="1337372" y="550934"/>
                  </a:lnTo>
                  <a:lnTo>
                    <a:pt x="1372266" y="521619"/>
                  </a:lnTo>
                  <a:lnTo>
                    <a:pt x="1405244" y="490447"/>
                  </a:lnTo>
                  <a:lnTo>
                    <a:pt x="1436204" y="457489"/>
                  </a:lnTo>
                  <a:lnTo>
                    <a:pt x="1465041" y="422819"/>
                  </a:lnTo>
                  <a:lnTo>
                    <a:pt x="1491653" y="386509"/>
                  </a:lnTo>
                  <a:lnTo>
                    <a:pt x="1515938" y="348630"/>
                  </a:lnTo>
                  <a:lnTo>
                    <a:pt x="1537792" y="309255"/>
                  </a:lnTo>
                  <a:lnTo>
                    <a:pt x="1557113" y="268457"/>
                  </a:lnTo>
                  <a:lnTo>
                    <a:pt x="1573797" y="226308"/>
                  </a:lnTo>
                  <a:lnTo>
                    <a:pt x="1587741" y="182879"/>
                  </a:lnTo>
                  <a:lnTo>
                    <a:pt x="1544929" y="182879"/>
                  </a:lnTo>
                  <a:lnTo>
                    <a:pt x="1613357" y="0"/>
                  </a:lnTo>
                  <a:lnTo>
                    <a:pt x="1630565" y="182879"/>
                  </a:lnTo>
                  <a:lnTo>
                    <a:pt x="1587741" y="182879"/>
                  </a:lnTo>
                  <a:lnTo>
                    <a:pt x="1573797" y="226306"/>
                  </a:lnTo>
                  <a:lnTo>
                    <a:pt x="1557113" y="268454"/>
                  </a:lnTo>
                  <a:lnTo>
                    <a:pt x="1537792" y="309251"/>
                  </a:lnTo>
                  <a:lnTo>
                    <a:pt x="1515938" y="348625"/>
                  </a:lnTo>
                  <a:lnTo>
                    <a:pt x="1491653" y="386503"/>
                  </a:lnTo>
                  <a:lnTo>
                    <a:pt x="1465041" y="422814"/>
                  </a:lnTo>
                  <a:lnTo>
                    <a:pt x="1436204" y="457484"/>
                  </a:lnTo>
                  <a:lnTo>
                    <a:pt x="1405244" y="490441"/>
                  </a:lnTo>
                  <a:lnTo>
                    <a:pt x="1372266" y="521614"/>
                  </a:lnTo>
                  <a:lnTo>
                    <a:pt x="1337372" y="550929"/>
                  </a:lnTo>
                  <a:lnTo>
                    <a:pt x="1300665" y="578315"/>
                  </a:lnTo>
                  <a:lnTo>
                    <a:pt x="1262248" y="603698"/>
                  </a:lnTo>
                  <a:lnTo>
                    <a:pt x="1222224" y="627008"/>
                  </a:lnTo>
                  <a:lnTo>
                    <a:pt x="1180696" y="648171"/>
                  </a:lnTo>
                  <a:lnTo>
                    <a:pt x="1137767" y="667115"/>
                  </a:lnTo>
                  <a:lnTo>
                    <a:pt x="1093539" y="683768"/>
                  </a:lnTo>
                  <a:lnTo>
                    <a:pt x="1048117" y="698057"/>
                  </a:lnTo>
                  <a:lnTo>
                    <a:pt x="1001602" y="709911"/>
                  </a:lnTo>
                  <a:lnTo>
                    <a:pt x="954097" y="719256"/>
                  </a:lnTo>
                  <a:lnTo>
                    <a:pt x="905707" y="726021"/>
                  </a:lnTo>
                  <a:lnTo>
                    <a:pt x="856533" y="730133"/>
                  </a:lnTo>
                  <a:lnTo>
                    <a:pt x="806678" y="731519"/>
                  </a:lnTo>
                  <a:lnTo>
                    <a:pt x="755663" y="730080"/>
                  </a:lnTo>
                  <a:lnTo>
                    <a:pt x="705490" y="725820"/>
                  </a:lnTo>
                  <a:lnTo>
                    <a:pt x="656255" y="718824"/>
                  </a:lnTo>
                  <a:lnTo>
                    <a:pt x="608053" y="709179"/>
                  </a:lnTo>
                  <a:lnTo>
                    <a:pt x="560977" y="696969"/>
                  </a:lnTo>
                  <a:lnTo>
                    <a:pt x="515122" y="682280"/>
                  </a:lnTo>
                  <a:lnTo>
                    <a:pt x="470583" y="665200"/>
                  </a:lnTo>
                  <a:lnTo>
                    <a:pt x="427455" y="645811"/>
                  </a:lnTo>
                  <a:lnTo>
                    <a:pt x="385830" y="624202"/>
                  </a:lnTo>
                  <a:lnTo>
                    <a:pt x="345805" y="600457"/>
                  </a:lnTo>
                  <a:lnTo>
                    <a:pt x="307474" y="574662"/>
                  </a:lnTo>
                  <a:lnTo>
                    <a:pt x="270931" y="546902"/>
                  </a:lnTo>
                  <a:lnTo>
                    <a:pt x="236270" y="517264"/>
                  </a:lnTo>
                  <a:lnTo>
                    <a:pt x="203587" y="485833"/>
                  </a:lnTo>
                  <a:lnTo>
                    <a:pt x="172975" y="452695"/>
                  </a:lnTo>
                  <a:lnTo>
                    <a:pt x="144529" y="417935"/>
                  </a:lnTo>
                  <a:lnTo>
                    <a:pt x="118344" y="381639"/>
                  </a:lnTo>
                  <a:lnTo>
                    <a:pt x="94515" y="343893"/>
                  </a:lnTo>
                  <a:lnTo>
                    <a:pt x="73134" y="304782"/>
                  </a:lnTo>
                  <a:lnTo>
                    <a:pt x="54298" y="264393"/>
                  </a:lnTo>
                  <a:lnTo>
                    <a:pt x="38101" y="222810"/>
                  </a:lnTo>
                  <a:lnTo>
                    <a:pt x="24636" y="180120"/>
                  </a:lnTo>
                  <a:lnTo>
                    <a:pt x="13999" y="136409"/>
                  </a:lnTo>
                  <a:lnTo>
                    <a:pt x="6285" y="91761"/>
                  </a:lnTo>
                  <a:lnTo>
                    <a:pt x="1587" y="46263"/>
                  </a:lnTo>
                  <a:lnTo>
                    <a:pt x="0" y="0"/>
                  </a:lnTo>
                  <a:lnTo>
                    <a:pt x="1587" y="46263"/>
                  </a:lnTo>
                  <a:lnTo>
                    <a:pt x="6285" y="91761"/>
                  </a:lnTo>
                  <a:lnTo>
                    <a:pt x="13999" y="136409"/>
                  </a:lnTo>
                  <a:lnTo>
                    <a:pt x="24636" y="180120"/>
                  </a:lnTo>
                  <a:lnTo>
                    <a:pt x="38101" y="222810"/>
                  </a:lnTo>
                  <a:lnTo>
                    <a:pt x="54298" y="264393"/>
                  </a:lnTo>
                  <a:lnTo>
                    <a:pt x="73134" y="304782"/>
                  </a:lnTo>
                  <a:lnTo>
                    <a:pt x="94515" y="343893"/>
                  </a:lnTo>
                  <a:lnTo>
                    <a:pt x="118344" y="381639"/>
                  </a:lnTo>
                  <a:lnTo>
                    <a:pt x="144529" y="417935"/>
                  </a:lnTo>
                  <a:lnTo>
                    <a:pt x="172975" y="452695"/>
                  </a:lnTo>
                  <a:lnTo>
                    <a:pt x="203587" y="485833"/>
                  </a:lnTo>
                  <a:lnTo>
                    <a:pt x="236270" y="517264"/>
                  </a:lnTo>
                  <a:lnTo>
                    <a:pt x="270931" y="546902"/>
                  </a:lnTo>
                  <a:lnTo>
                    <a:pt x="307474" y="574662"/>
                  </a:lnTo>
                  <a:lnTo>
                    <a:pt x="345805" y="600457"/>
                  </a:lnTo>
                  <a:lnTo>
                    <a:pt x="385830" y="624202"/>
                  </a:lnTo>
                  <a:lnTo>
                    <a:pt x="427455" y="645811"/>
                  </a:lnTo>
                  <a:lnTo>
                    <a:pt x="470583" y="665200"/>
                  </a:lnTo>
                  <a:lnTo>
                    <a:pt x="515122" y="682280"/>
                  </a:lnTo>
                  <a:lnTo>
                    <a:pt x="560977" y="696969"/>
                  </a:lnTo>
                  <a:lnTo>
                    <a:pt x="608053" y="709179"/>
                  </a:lnTo>
                  <a:lnTo>
                    <a:pt x="656255" y="718824"/>
                  </a:lnTo>
                  <a:lnTo>
                    <a:pt x="705490" y="725820"/>
                  </a:lnTo>
                  <a:lnTo>
                    <a:pt x="755663" y="730080"/>
                  </a:lnTo>
                  <a:lnTo>
                    <a:pt x="806678" y="731519"/>
                  </a:lnTo>
                </a:path>
              </a:pathLst>
            </a:custGeom>
            <a:ln w="19049">
              <a:solidFill>
                <a:srgbClr val="F0F8F9"/>
              </a:solidFill>
            </a:ln>
          </p:spPr>
          <p:txBody>
            <a:bodyPr wrap="square" lIns="0" tIns="0" rIns="0" bIns="0" rtlCol="0"/>
            <a:lstStyle/>
            <a:p/>
          </p:txBody>
        </p:sp>
        <p:pic>
          <p:nvPicPr>
            <p:cNvPr id="26" name="object 26"/>
            <p:cNvPicPr/>
            <p:nvPr/>
          </p:nvPicPr>
          <p:blipFill>
            <a:blip r:embed="rId9" cstate="print"/>
            <a:stretch>
              <a:fillRect/>
            </a:stretch>
          </p:blipFill>
          <p:spPr>
            <a:xfrm>
              <a:off x="749045" y="1980438"/>
              <a:ext cx="1752599" cy="854201"/>
            </a:xfrm>
            <a:prstGeom prst="rect">
              <a:avLst/>
            </a:prstGeom>
          </p:spPr>
        </p:pic>
        <p:sp>
          <p:nvSpPr>
            <p:cNvPr id="27" name="object 27" descr=""/>
            <p:cNvSpPr/>
            <p:nvPr/>
          </p:nvSpPr>
          <p:spPr>
            <a:xfrm>
              <a:off x="2354958" y="2016527"/>
              <a:ext cx="85725" cy="182880"/>
            </a:xfrm>
            <a:custGeom>
              <a:avLst/>
              <a:gdLst/>
              <a:ahLst/>
              <a:cxnLst/>
              <a:rect l="l" t="t" r="r" b="b"/>
              <a:pathLst>
                <a:path w="85725" h="182880">
                  <a:moveTo>
                    <a:pt x="68427" y="0"/>
                  </a:moveTo>
                  <a:lnTo>
                    <a:pt x="0" y="182880"/>
                  </a:lnTo>
                  <a:lnTo>
                    <a:pt x="85623" y="182880"/>
                  </a:lnTo>
                  <a:lnTo>
                    <a:pt x="68427" y="0"/>
                  </a:lnTo>
                  <a:close/>
                </a:path>
              </a:pathLst>
            </a:custGeom>
            <a:solidFill>
              <a:srgbClr val="F0F8F9"/>
            </a:solidFill>
          </p:spPr>
          <p:txBody>
            <a:bodyPr wrap="square" lIns="0" tIns="0" rIns="0" bIns="0" rtlCol="0"/>
            <a:lstStyle/>
            <a:p/>
          </p:txBody>
        </p:sp>
        <p:sp>
          <p:nvSpPr>
            <p:cNvPr id="28" name="object 28" descr=""/>
            <p:cNvSpPr/>
            <p:nvPr/>
          </p:nvSpPr>
          <p:spPr>
            <a:xfrm>
              <a:off x="810023" y="2016527"/>
              <a:ext cx="1630680" cy="731520"/>
            </a:xfrm>
            <a:custGeom>
              <a:avLst/>
              <a:gdLst/>
              <a:ahLst/>
              <a:cxnLst/>
              <a:rect l="l" t="t" r="r" b="b"/>
              <a:pathLst>
                <a:path w="1630680" h="731519">
                  <a:moveTo>
                    <a:pt x="806678" y="731519"/>
                  </a:moveTo>
                  <a:lnTo>
                    <a:pt x="856533" y="730133"/>
                  </a:lnTo>
                  <a:lnTo>
                    <a:pt x="905707" y="726021"/>
                  </a:lnTo>
                  <a:lnTo>
                    <a:pt x="954097" y="719257"/>
                  </a:lnTo>
                  <a:lnTo>
                    <a:pt x="1001602" y="709912"/>
                  </a:lnTo>
                  <a:lnTo>
                    <a:pt x="1048117" y="698059"/>
                  </a:lnTo>
                  <a:lnTo>
                    <a:pt x="1093539" y="683770"/>
                  </a:lnTo>
                  <a:lnTo>
                    <a:pt x="1137767" y="667118"/>
                  </a:lnTo>
                  <a:lnTo>
                    <a:pt x="1180696" y="648174"/>
                  </a:lnTo>
                  <a:lnTo>
                    <a:pt x="1222224" y="627012"/>
                  </a:lnTo>
                  <a:lnTo>
                    <a:pt x="1262248" y="603703"/>
                  </a:lnTo>
                  <a:lnTo>
                    <a:pt x="1300665" y="578319"/>
                  </a:lnTo>
                  <a:lnTo>
                    <a:pt x="1337372" y="550934"/>
                  </a:lnTo>
                  <a:lnTo>
                    <a:pt x="1372266" y="521619"/>
                  </a:lnTo>
                  <a:lnTo>
                    <a:pt x="1405244" y="490447"/>
                  </a:lnTo>
                  <a:lnTo>
                    <a:pt x="1436204" y="457489"/>
                  </a:lnTo>
                  <a:lnTo>
                    <a:pt x="1465041" y="422819"/>
                  </a:lnTo>
                  <a:lnTo>
                    <a:pt x="1491653" y="386509"/>
                  </a:lnTo>
                  <a:lnTo>
                    <a:pt x="1515938" y="348630"/>
                  </a:lnTo>
                  <a:lnTo>
                    <a:pt x="1537792" y="309255"/>
                  </a:lnTo>
                  <a:lnTo>
                    <a:pt x="1557113" y="268457"/>
                  </a:lnTo>
                  <a:lnTo>
                    <a:pt x="1573797" y="226308"/>
                  </a:lnTo>
                  <a:lnTo>
                    <a:pt x="1587741" y="182879"/>
                  </a:lnTo>
                  <a:lnTo>
                    <a:pt x="1544929" y="182879"/>
                  </a:lnTo>
                  <a:lnTo>
                    <a:pt x="1613357" y="0"/>
                  </a:lnTo>
                  <a:lnTo>
                    <a:pt x="1630565" y="182879"/>
                  </a:lnTo>
                  <a:lnTo>
                    <a:pt x="1587741" y="182879"/>
                  </a:lnTo>
                  <a:lnTo>
                    <a:pt x="1573797" y="226306"/>
                  </a:lnTo>
                  <a:lnTo>
                    <a:pt x="1557113" y="268454"/>
                  </a:lnTo>
                  <a:lnTo>
                    <a:pt x="1537792" y="309251"/>
                  </a:lnTo>
                  <a:lnTo>
                    <a:pt x="1515938" y="348625"/>
                  </a:lnTo>
                  <a:lnTo>
                    <a:pt x="1491653" y="386503"/>
                  </a:lnTo>
                  <a:lnTo>
                    <a:pt x="1465041" y="422814"/>
                  </a:lnTo>
                  <a:lnTo>
                    <a:pt x="1436204" y="457484"/>
                  </a:lnTo>
                  <a:lnTo>
                    <a:pt x="1405244" y="490441"/>
                  </a:lnTo>
                  <a:lnTo>
                    <a:pt x="1372266" y="521614"/>
                  </a:lnTo>
                  <a:lnTo>
                    <a:pt x="1337372" y="550929"/>
                  </a:lnTo>
                  <a:lnTo>
                    <a:pt x="1300665" y="578315"/>
                  </a:lnTo>
                  <a:lnTo>
                    <a:pt x="1262248" y="603698"/>
                  </a:lnTo>
                  <a:lnTo>
                    <a:pt x="1222224" y="627008"/>
                  </a:lnTo>
                  <a:lnTo>
                    <a:pt x="1180696" y="648171"/>
                  </a:lnTo>
                  <a:lnTo>
                    <a:pt x="1137767" y="667115"/>
                  </a:lnTo>
                  <a:lnTo>
                    <a:pt x="1093539" y="683768"/>
                  </a:lnTo>
                  <a:lnTo>
                    <a:pt x="1048117" y="698057"/>
                  </a:lnTo>
                  <a:lnTo>
                    <a:pt x="1001602" y="709911"/>
                  </a:lnTo>
                  <a:lnTo>
                    <a:pt x="954097" y="719256"/>
                  </a:lnTo>
                  <a:lnTo>
                    <a:pt x="905707" y="726021"/>
                  </a:lnTo>
                  <a:lnTo>
                    <a:pt x="856533" y="730133"/>
                  </a:lnTo>
                  <a:lnTo>
                    <a:pt x="806678" y="731519"/>
                  </a:lnTo>
                  <a:lnTo>
                    <a:pt x="755663" y="730080"/>
                  </a:lnTo>
                  <a:lnTo>
                    <a:pt x="705490" y="725820"/>
                  </a:lnTo>
                  <a:lnTo>
                    <a:pt x="656255" y="718824"/>
                  </a:lnTo>
                  <a:lnTo>
                    <a:pt x="608053" y="709179"/>
                  </a:lnTo>
                  <a:lnTo>
                    <a:pt x="560977" y="696969"/>
                  </a:lnTo>
                  <a:lnTo>
                    <a:pt x="515122" y="682280"/>
                  </a:lnTo>
                  <a:lnTo>
                    <a:pt x="470583" y="665200"/>
                  </a:lnTo>
                  <a:lnTo>
                    <a:pt x="427455" y="645811"/>
                  </a:lnTo>
                  <a:lnTo>
                    <a:pt x="385830" y="624202"/>
                  </a:lnTo>
                  <a:lnTo>
                    <a:pt x="345805" y="600457"/>
                  </a:lnTo>
                  <a:lnTo>
                    <a:pt x="307474" y="574662"/>
                  </a:lnTo>
                  <a:lnTo>
                    <a:pt x="270931" y="546902"/>
                  </a:lnTo>
                  <a:lnTo>
                    <a:pt x="236270" y="517264"/>
                  </a:lnTo>
                  <a:lnTo>
                    <a:pt x="203587" y="485833"/>
                  </a:lnTo>
                  <a:lnTo>
                    <a:pt x="172975" y="452695"/>
                  </a:lnTo>
                  <a:lnTo>
                    <a:pt x="144529" y="417935"/>
                  </a:lnTo>
                  <a:lnTo>
                    <a:pt x="118344" y="381639"/>
                  </a:lnTo>
                  <a:lnTo>
                    <a:pt x="94515" y="343893"/>
                  </a:lnTo>
                  <a:lnTo>
                    <a:pt x="73134" y="304782"/>
                  </a:lnTo>
                  <a:lnTo>
                    <a:pt x="54298" y="264393"/>
                  </a:lnTo>
                  <a:lnTo>
                    <a:pt x="38101" y="222810"/>
                  </a:lnTo>
                  <a:lnTo>
                    <a:pt x="24636" y="180120"/>
                  </a:lnTo>
                  <a:lnTo>
                    <a:pt x="13999" y="136409"/>
                  </a:lnTo>
                  <a:lnTo>
                    <a:pt x="6285" y="91761"/>
                  </a:lnTo>
                  <a:lnTo>
                    <a:pt x="1587" y="46263"/>
                  </a:lnTo>
                  <a:lnTo>
                    <a:pt x="0" y="0"/>
                  </a:lnTo>
                  <a:lnTo>
                    <a:pt x="1587" y="46263"/>
                  </a:lnTo>
                  <a:lnTo>
                    <a:pt x="6285" y="91761"/>
                  </a:lnTo>
                  <a:lnTo>
                    <a:pt x="13999" y="136409"/>
                  </a:lnTo>
                  <a:lnTo>
                    <a:pt x="24636" y="180120"/>
                  </a:lnTo>
                  <a:lnTo>
                    <a:pt x="38101" y="222810"/>
                  </a:lnTo>
                  <a:lnTo>
                    <a:pt x="54298" y="264393"/>
                  </a:lnTo>
                  <a:lnTo>
                    <a:pt x="73134" y="304782"/>
                  </a:lnTo>
                  <a:lnTo>
                    <a:pt x="94515" y="343893"/>
                  </a:lnTo>
                  <a:lnTo>
                    <a:pt x="118344" y="381639"/>
                  </a:lnTo>
                  <a:lnTo>
                    <a:pt x="144529" y="417935"/>
                  </a:lnTo>
                  <a:lnTo>
                    <a:pt x="172975" y="452695"/>
                  </a:lnTo>
                  <a:lnTo>
                    <a:pt x="203587" y="485833"/>
                  </a:lnTo>
                  <a:lnTo>
                    <a:pt x="236270" y="517264"/>
                  </a:lnTo>
                  <a:lnTo>
                    <a:pt x="270931" y="546902"/>
                  </a:lnTo>
                  <a:lnTo>
                    <a:pt x="307474" y="574662"/>
                  </a:lnTo>
                  <a:lnTo>
                    <a:pt x="345805" y="600457"/>
                  </a:lnTo>
                  <a:lnTo>
                    <a:pt x="385830" y="624202"/>
                  </a:lnTo>
                  <a:lnTo>
                    <a:pt x="427455" y="645811"/>
                  </a:lnTo>
                  <a:lnTo>
                    <a:pt x="470583" y="665200"/>
                  </a:lnTo>
                  <a:lnTo>
                    <a:pt x="515122" y="682280"/>
                  </a:lnTo>
                  <a:lnTo>
                    <a:pt x="560977" y="696969"/>
                  </a:lnTo>
                  <a:lnTo>
                    <a:pt x="608053" y="709179"/>
                  </a:lnTo>
                  <a:lnTo>
                    <a:pt x="656255" y="718824"/>
                  </a:lnTo>
                  <a:lnTo>
                    <a:pt x="705490" y="725820"/>
                  </a:lnTo>
                  <a:lnTo>
                    <a:pt x="755663" y="730080"/>
                  </a:lnTo>
                  <a:lnTo>
                    <a:pt x="806678" y="731519"/>
                  </a:lnTo>
                </a:path>
              </a:pathLst>
            </a:custGeom>
            <a:ln w="19049">
              <a:solidFill>
                <a:srgbClr val="F0F8F9"/>
              </a:solidFill>
            </a:ln>
          </p:spPr>
          <p:txBody>
            <a:bodyPr wrap="square" lIns="0" tIns="0" rIns="0" bIns="0" rtlCol="0"/>
            <a:lstStyle/>
            <a:p/>
          </p:txBody>
        </p:sp>
        <p:pic>
          <p:nvPicPr>
            <p:cNvPr id="29" name="object 29"/>
            <p:cNvPicPr/>
            <p:nvPr/>
          </p:nvPicPr>
          <p:blipFill>
            <a:blip r:embed="rId10" cstate="print"/>
            <a:stretch>
              <a:fillRect/>
            </a:stretch>
          </p:blipFill>
          <p:spPr>
            <a:xfrm>
              <a:off x="2260854" y="707136"/>
              <a:ext cx="1792223" cy="819911"/>
            </a:xfrm>
            <a:prstGeom prst="rect">
              <a:avLst/>
            </a:prstGeom>
          </p:spPr>
        </p:pic>
        <p:sp>
          <p:nvSpPr>
            <p:cNvPr id="30" name="object 30" descr=""/>
            <p:cNvSpPr/>
            <p:nvPr/>
          </p:nvSpPr>
          <p:spPr>
            <a:xfrm>
              <a:off x="3892389" y="1266080"/>
              <a:ext cx="99695" cy="174625"/>
            </a:xfrm>
            <a:custGeom>
              <a:avLst/>
              <a:gdLst/>
              <a:ahLst/>
              <a:cxnLst/>
              <a:rect l="l" t="t" r="r" b="b"/>
              <a:pathLst>
                <a:path w="99695" h="174625">
                  <a:moveTo>
                    <a:pt x="99441" y="0"/>
                  </a:moveTo>
                  <a:lnTo>
                    <a:pt x="0" y="0"/>
                  </a:lnTo>
                  <a:lnTo>
                    <a:pt x="75857" y="174383"/>
                  </a:lnTo>
                  <a:lnTo>
                    <a:pt x="99441" y="0"/>
                  </a:lnTo>
                  <a:close/>
                </a:path>
              </a:pathLst>
            </a:custGeom>
            <a:solidFill>
              <a:srgbClr val="F0F8F9"/>
            </a:solidFill>
          </p:spPr>
          <p:txBody>
            <a:bodyPr wrap="square" lIns="0" tIns="0" rIns="0" bIns="0" rtlCol="0"/>
            <a:lstStyle/>
            <a:p/>
          </p:txBody>
        </p:sp>
        <p:sp>
          <p:nvSpPr>
            <p:cNvPr id="31" name="object 31" descr=""/>
            <p:cNvSpPr/>
            <p:nvPr/>
          </p:nvSpPr>
          <p:spPr>
            <a:xfrm>
              <a:off x="2322179" y="742950"/>
              <a:ext cx="1670050" cy="697865"/>
            </a:xfrm>
            <a:custGeom>
              <a:avLst/>
              <a:gdLst/>
              <a:ahLst/>
              <a:cxnLst/>
              <a:rect l="l" t="t" r="r" b="b"/>
              <a:pathLst>
                <a:path w="1670050" h="697865">
                  <a:moveTo>
                    <a:pt x="823036" y="0"/>
                  </a:moveTo>
                  <a:lnTo>
                    <a:pt x="770986" y="1372"/>
                  </a:lnTo>
                  <a:lnTo>
                    <a:pt x="719797" y="5434"/>
                  </a:lnTo>
                  <a:lnTo>
                    <a:pt x="669564" y="12105"/>
                  </a:lnTo>
                  <a:lnTo>
                    <a:pt x="620384" y="21303"/>
                  </a:lnTo>
                  <a:lnTo>
                    <a:pt x="572354" y="32945"/>
                  </a:lnTo>
                  <a:lnTo>
                    <a:pt x="525570" y="46951"/>
                  </a:lnTo>
                  <a:lnTo>
                    <a:pt x="480128" y="63238"/>
                  </a:lnTo>
                  <a:lnTo>
                    <a:pt x="436124" y="81725"/>
                  </a:lnTo>
                  <a:lnTo>
                    <a:pt x="393656" y="102330"/>
                  </a:lnTo>
                  <a:lnTo>
                    <a:pt x="352819" y="124972"/>
                  </a:lnTo>
                  <a:lnTo>
                    <a:pt x="313711" y="149568"/>
                  </a:lnTo>
                  <a:lnTo>
                    <a:pt x="276426" y="176038"/>
                  </a:lnTo>
                  <a:lnTo>
                    <a:pt x="241063" y="204298"/>
                  </a:lnTo>
                  <a:lnTo>
                    <a:pt x="207717" y="234268"/>
                  </a:lnTo>
                  <a:lnTo>
                    <a:pt x="176484" y="265866"/>
                  </a:lnTo>
                  <a:lnTo>
                    <a:pt x="147461" y="299010"/>
                  </a:lnTo>
                  <a:lnTo>
                    <a:pt x="120745" y="333618"/>
                  </a:lnTo>
                  <a:lnTo>
                    <a:pt x="96432" y="369609"/>
                  </a:lnTo>
                  <a:lnTo>
                    <a:pt x="74618" y="406902"/>
                  </a:lnTo>
                  <a:lnTo>
                    <a:pt x="55400" y="445413"/>
                  </a:lnTo>
                  <a:lnTo>
                    <a:pt x="38874" y="485062"/>
                  </a:lnTo>
                  <a:lnTo>
                    <a:pt x="25136" y="525766"/>
                  </a:lnTo>
                  <a:lnTo>
                    <a:pt x="14283" y="567445"/>
                  </a:lnTo>
                  <a:lnTo>
                    <a:pt x="6412" y="610016"/>
                  </a:lnTo>
                  <a:lnTo>
                    <a:pt x="1619" y="653398"/>
                  </a:lnTo>
                  <a:lnTo>
                    <a:pt x="0" y="697509"/>
                  </a:lnTo>
                  <a:lnTo>
                    <a:pt x="1631" y="653398"/>
                  </a:lnTo>
                  <a:lnTo>
                    <a:pt x="6425" y="610016"/>
                  </a:lnTo>
                  <a:lnTo>
                    <a:pt x="14296" y="567445"/>
                  </a:lnTo>
                  <a:lnTo>
                    <a:pt x="25148" y="525766"/>
                  </a:lnTo>
                  <a:lnTo>
                    <a:pt x="38885" y="485062"/>
                  </a:lnTo>
                  <a:lnTo>
                    <a:pt x="55411" y="445413"/>
                  </a:lnTo>
                  <a:lnTo>
                    <a:pt x="74628" y="406902"/>
                  </a:lnTo>
                  <a:lnTo>
                    <a:pt x="96442" y="369609"/>
                  </a:lnTo>
                  <a:lnTo>
                    <a:pt x="120754" y="333618"/>
                  </a:lnTo>
                  <a:lnTo>
                    <a:pt x="147470" y="299010"/>
                  </a:lnTo>
                  <a:lnTo>
                    <a:pt x="176492" y="265866"/>
                  </a:lnTo>
                  <a:lnTo>
                    <a:pt x="207724" y="234268"/>
                  </a:lnTo>
                  <a:lnTo>
                    <a:pt x="241069" y="204298"/>
                  </a:lnTo>
                  <a:lnTo>
                    <a:pt x="276432" y="176038"/>
                  </a:lnTo>
                  <a:lnTo>
                    <a:pt x="313716" y="149568"/>
                  </a:lnTo>
                  <a:lnTo>
                    <a:pt x="352824" y="124972"/>
                  </a:lnTo>
                  <a:lnTo>
                    <a:pt x="393660" y="102330"/>
                  </a:lnTo>
                  <a:lnTo>
                    <a:pt x="436127" y="81725"/>
                  </a:lnTo>
                  <a:lnTo>
                    <a:pt x="480130" y="63238"/>
                  </a:lnTo>
                  <a:lnTo>
                    <a:pt x="525571" y="46951"/>
                  </a:lnTo>
                  <a:lnTo>
                    <a:pt x="572355" y="32945"/>
                  </a:lnTo>
                  <a:lnTo>
                    <a:pt x="620385" y="21303"/>
                  </a:lnTo>
                  <a:lnTo>
                    <a:pt x="669564" y="12105"/>
                  </a:lnTo>
                  <a:lnTo>
                    <a:pt x="719797" y="5434"/>
                  </a:lnTo>
                  <a:lnTo>
                    <a:pt x="770986" y="1372"/>
                  </a:lnTo>
                  <a:lnTo>
                    <a:pt x="823036" y="0"/>
                  </a:lnTo>
                  <a:lnTo>
                    <a:pt x="876306" y="1450"/>
                  </a:lnTo>
                  <a:lnTo>
                    <a:pt x="928809" y="5749"/>
                  </a:lnTo>
                  <a:lnTo>
                    <a:pt x="980424" y="12817"/>
                  </a:lnTo>
                  <a:lnTo>
                    <a:pt x="1031031" y="22574"/>
                  </a:lnTo>
                  <a:lnTo>
                    <a:pt x="1080507" y="34942"/>
                  </a:lnTo>
                  <a:lnTo>
                    <a:pt x="1128733" y="49841"/>
                  </a:lnTo>
                  <a:lnTo>
                    <a:pt x="1175588" y="67192"/>
                  </a:lnTo>
                  <a:lnTo>
                    <a:pt x="1220950" y="86915"/>
                  </a:lnTo>
                  <a:lnTo>
                    <a:pt x="1264700" y="108932"/>
                  </a:lnTo>
                  <a:lnTo>
                    <a:pt x="1306716" y="133162"/>
                  </a:lnTo>
                  <a:lnTo>
                    <a:pt x="1346878" y="159527"/>
                  </a:lnTo>
                  <a:lnTo>
                    <a:pt x="1385065" y="187948"/>
                  </a:lnTo>
                  <a:lnTo>
                    <a:pt x="1421156" y="218344"/>
                  </a:lnTo>
                  <a:lnTo>
                    <a:pt x="1455030" y="250637"/>
                  </a:lnTo>
                  <a:lnTo>
                    <a:pt x="1486567" y="284748"/>
                  </a:lnTo>
                  <a:lnTo>
                    <a:pt x="1515645" y="320597"/>
                  </a:lnTo>
                  <a:lnTo>
                    <a:pt x="1542144" y="358104"/>
                  </a:lnTo>
                  <a:lnTo>
                    <a:pt x="1565944" y="397192"/>
                  </a:lnTo>
                  <a:lnTo>
                    <a:pt x="1586923" y="437779"/>
                  </a:lnTo>
                  <a:lnTo>
                    <a:pt x="1604960" y="479788"/>
                  </a:lnTo>
                  <a:lnTo>
                    <a:pt x="1619935" y="523138"/>
                  </a:lnTo>
                  <a:lnTo>
                    <a:pt x="1669656" y="523138"/>
                  </a:lnTo>
                  <a:lnTo>
                    <a:pt x="1646072" y="697509"/>
                  </a:lnTo>
                  <a:lnTo>
                    <a:pt x="1570215" y="523138"/>
                  </a:lnTo>
                  <a:lnTo>
                    <a:pt x="1619935" y="523138"/>
                  </a:lnTo>
                  <a:lnTo>
                    <a:pt x="1604960" y="479788"/>
                  </a:lnTo>
                  <a:lnTo>
                    <a:pt x="1586923" y="437779"/>
                  </a:lnTo>
                  <a:lnTo>
                    <a:pt x="1565944" y="397192"/>
                  </a:lnTo>
                  <a:lnTo>
                    <a:pt x="1542144" y="358104"/>
                  </a:lnTo>
                  <a:lnTo>
                    <a:pt x="1515645" y="320597"/>
                  </a:lnTo>
                  <a:lnTo>
                    <a:pt x="1486567" y="284748"/>
                  </a:lnTo>
                  <a:lnTo>
                    <a:pt x="1455030" y="250637"/>
                  </a:lnTo>
                  <a:lnTo>
                    <a:pt x="1421156" y="218344"/>
                  </a:lnTo>
                  <a:lnTo>
                    <a:pt x="1385065" y="187948"/>
                  </a:lnTo>
                  <a:lnTo>
                    <a:pt x="1346878" y="159527"/>
                  </a:lnTo>
                  <a:lnTo>
                    <a:pt x="1306716" y="133162"/>
                  </a:lnTo>
                  <a:lnTo>
                    <a:pt x="1264700" y="108932"/>
                  </a:lnTo>
                  <a:lnTo>
                    <a:pt x="1220950" y="86915"/>
                  </a:lnTo>
                  <a:lnTo>
                    <a:pt x="1175588" y="67192"/>
                  </a:lnTo>
                  <a:lnTo>
                    <a:pt x="1128733" y="49841"/>
                  </a:lnTo>
                  <a:lnTo>
                    <a:pt x="1080507" y="34942"/>
                  </a:lnTo>
                  <a:lnTo>
                    <a:pt x="1031031" y="22574"/>
                  </a:lnTo>
                  <a:lnTo>
                    <a:pt x="980424" y="12817"/>
                  </a:lnTo>
                  <a:lnTo>
                    <a:pt x="928809" y="5749"/>
                  </a:lnTo>
                  <a:lnTo>
                    <a:pt x="876306" y="1450"/>
                  </a:lnTo>
                  <a:lnTo>
                    <a:pt x="823036" y="0"/>
                  </a:lnTo>
                </a:path>
              </a:pathLst>
            </a:custGeom>
            <a:ln w="19050">
              <a:solidFill>
                <a:srgbClr val="F0F8F9"/>
              </a:solidFill>
            </a:ln>
          </p:spPr>
          <p:txBody>
            <a:bodyPr wrap="square" lIns="0" tIns="0" rIns="0" bIns="0" rtlCol="0"/>
            <a:lstStyle/>
            <a:p/>
          </p:txBody>
        </p:sp>
        <p:pic>
          <p:nvPicPr>
            <p:cNvPr id="32" name="object 32" descr=""/>
            <p:cNvPicPr/>
            <p:nvPr/>
          </p:nvPicPr>
          <p:blipFill>
            <a:blip r:embed="rId11" cstate="print"/>
            <a:stretch>
              <a:fillRect/>
            </a:stretch>
          </p:blipFill>
          <p:spPr>
            <a:xfrm>
              <a:off x="41148" y="1184148"/>
              <a:ext cx="1556003" cy="1277873"/>
            </a:xfrm>
            <a:prstGeom prst="rect">
              <a:avLst/>
            </a:prstGeom>
          </p:spPr>
        </p:pic>
        <p:pic>
          <p:nvPicPr>
            <p:cNvPr id="33" name="object 33" descr=""/>
            <p:cNvPicPr/>
            <p:nvPr/>
          </p:nvPicPr>
          <p:blipFill>
            <a:blip r:embed="rId3" cstate="print"/>
            <a:stretch>
              <a:fillRect/>
            </a:stretch>
          </p:blipFill>
          <p:spPr>
            <a:xfrm>
              <a:off x="19050" y="1201673"/>
              <a:ext cx="1594103" cy="1063751"/>
            </a:xfrm>
            <a:prstGeom prst="rect">
              <a:avLst/>
            </a:prstGeom>
          </p:spPr>
        </p:pic>
        <p:sp>
          <p:nvSpPr>
            <p:cNvPr id="34" name="object 34" descr=""/>
            <p:cNvSpPr/>
            <p:nvPr/>
          </p:nvSpPr>
          <p:spPr>
            <a:xfrm>
              <a:off x="72007" y="1215471"/>
              <a:ext cx="1440180" cy="1161415"/>
            </a:xfrm>
            <a:custGeom>
              <a:avLst/>
              <a:gdLst/>
              <a:ahLst/>
              <a:cxnLst/>
              <a:rect l="l" t="t" r="r" b="b"/>
              <a:pathLst>
                <a:path w="1440180" h="1161414">
                  <a:moveTo>
                    <a:pt x="1246644" y="0"/>
                  </a:moveTo>
                  <a:lnTo>
                    <a:pt x="193522" y="0"/>
                  </a:lnTo>
                  <a:lnTo>
                    <a:pt x="149148" y="5110"/>
                  </a:lnTo>
                  <a:lnTo>
                    <a:pt x="108414" y="19669"/>
                  </a:lnTo>
                  <a:lnTo>
                    <a:pt x="72482" y="42513"/>
                  </a:lnTo>
                  <a:lnTo>
                    <a:pt x="42513" y="72482"/>
                  </a:lnTo>
                  <a:lnTo>
                    <a:pt x="19669" y="108414"/>
                  </a:lnTo>
                  <a:lnTo>
                    <a:pt x="5110" y="149148"/>
                  </a:lnTo>
                  <a:lnTo>
                    <a:pt x="0" y="193522"/>
                  </a:lnTo>
                  <a:lnTo>
                    <a:pt x="0" y="967574"/>
                  </a:lnTo>
                  <a:lnTo>
                    <a:pt x="5110" y="1011948"/>
                  </a:lnTo>
                  <a:lnTo>
                    <a:pt x="19669" y="1052682"/>
                  </a:lnTo>
                  <a:lnTo>
                    <a:pt x="42513" y="1088614"/>
                  </a:lnTo>
                  <a:lnTo>
                    <a:pt x="72482" y="1118583"/>
                  </a:lnTo>
                  <a:lnTo>
                    <a:pt x="108414" y="1141428"/>
                  </a:lnTo>
                  <a:lnTo>
                    <a:pt x="149148" y="1155986"/>
                  </a:lnTo>
                  <a:lnTo>
                    <a:pt x="193522" y="1161097"/>
                  </a:lnTo>
                  <a:lnTo>
                    <a:pt x="1246644" y="1161097"/>
                  </a:lnTo>
                  <a:lnTo>
                    <a:pt x="1291014" y="1155986"/>
                  </a:lnTo>
                  <a:lnTo>
                    <a:pt x="1331744" y="1141428"/>
                  </a:lnTo>
                  <a:lnTo>
                    <a:pt x="1367674" y="1118583"/>
                  </a:lnTo>
                  <a:lnTo>
                    <a:pt x="1397641" y="1088614"/>
                  </a:lnTo>
                  <a:lnTo>
                    <a:pt x="1420485" y="1052682"/>
                  </a:lnTo>
                  <a:lnTo>
                    <a:pt x="1435043" y="1011948"/>
                  </a:lnTo>
                  <a:lnTo>
                    <a:pt x="1440154" y="967574"/>
                  </a:lnTo>
                  <a:lnTo>
                    <a:pt x="1440154" y="193522"/>
                  </a:lnTo>
                  <a:lnTo>
                    <a:pt x="1435043" y="149148"/>
                  </a:lnTo>
                  <a:lnTo>
                    <a:pt x="1420485" y="108414"/>
                  </a:lnTo>
                  <a:lnTo>
                    <a:pt x="1397641" y="72482"/>
                  </a:lnTo>
                  <a:lnTo>
                    <a:pt x="1367674" y="42513"/>
                  </a:lnTo>
                  <a:lnTo>
                    <a:pt x="1331744" y="19669"/>
                  </a:lnTo>
                  <a:lnTo>
                    <a:pt x="1291014" y="5110"/>
                  </a:lnTo>
                  <a:lnTo>
                    <a:pt x="1246644" y="0"/>
                  </a:lnTo>
                  <a:close/>
                </a:path>
              </a:pathLst>
            </a:custGeom>
            <a:solidFill>
              <a:srgbClr val="FFFFFF"/>
            </a:solidFill>
          </p:spPr>
          <p:txBody>
            <a:bodyPr wrap="square" lIns="0" tIns="0" rIns="0" bIns="0" rtlCol="0"/>
            <a:lstStyle/>
            <a:p/>
          </p:txBody>
        </p:sp>
        <p:sp>
          <p:nvSpPr>
            <p:cNvPr id="35" name="object 35" descr=""/>
            <p:cNvSpPr/>
            <p:nvPr/>
          </p:nvSpPr>
          <p:spPr>
            <a:xfrm>
              <a:off x="72007" y="1215471"/>
              <a:ext cx="1440180" cy="1161415"/>
            </a:xfrm>
            <a:custGeom>
              <a:avLst/>
              <a:gdLst/>
              <a:ahLst/>
              <a:cxnLst/>
              <a:rect l="l" t="t" r="r" b="b"/>
              <a:pathLst>
                <a:path w="1440180" h="1161414">
                  <a:moveTo>
                    <a:pt x="0" y="193522"/>
                  </a:moveTo>
                  <a:lnTo>
                    <a:pt x="5110" y="149148"/>
                  </a:lnTo>
                  <a:lnTo>
                    <a:pt x="19669" y="108414"/>
                  </a:lnTo>
                  <a:lnTo>
                    <a:pt x="42513" y="72482"/>
                  </a:lnTo>
                  <a:lnTo>
                    <a:pt x="72482" y="42513"/>
                  </a:lnTo>
                  <a:lnTo>
                    <a:pt x="108414" y="19669"/>
                  </a:lnTo>
                  <a:lnTo>
                    <a:pt x="149148" y="5110"/>
                  </a:lnTo>
                  <a:lnTo>
                    <a:pt x="193522" y="0"/>
                  </a:lnTo>
                  <a:lnTo>
                    <a:pt x="1246644" y="0"/>
                  </a:lnTo>
                  <a:lnTo>
                    <a:pt x="1291014" y="5110"/>
                  </a:lnTo>
                  <a:lnTo>
                    <a:pt x="1331744" y="19669"/>
                  </a:lnTo>
                  <a:lnTo>
                    <a:pt x="1367674" y="42513"/>
                  </a:lnTo>
                  <a:lnTo>
                    <a:pt x="1397641" y="72482"/>
                  </a:lnTo>
                  <a:lnTo>
                    <a:pt x="1420485" y="108414"/>
                  </a:lnTo>
                  <a:lnTo>
                    <a:pt x="1435043" y="149148"/>
                  </a:lnTo>
                  <a:lnTo>
                    <a:pt x="1440154" y="193522"/>
                  </a:lnTo>
                  <a:lnTo>
                    <a:pt x="1440154" y="967574"/>
                  </a:lnTo>
                  <a:lnTo>
                    <a:pt x="1435043" y="1011948"/>
                  </a:lnTo>
                  <a:lnTo>
                    <a:pt x="1420485" y="1052682"/>
                  </a:lnTo>
                  <a:lnTo>
                    <a:pt x="1397641" y="1088614"/>
                  </a:lnTo>
                  <a:lnTo>
                    <a:pt x="1367674" y="1118583"/>
                  </a:lnTo>
                  <a:lnTo>
                    <a:pt x="1331744" y="1141428"/>
                  </a:lnTo>
                  <a:lnTo>
                    <a:pt x="1291014" y="1155986"/>
                  </a:lnTo>
                  <a:lnTo>
                    <a:pt x="1246644" y="1161097"/>
                  </a:lnTo>
                  <a:lnTo>
                    <a:pt x="193522" y="1161097"/>
                  </a:lnTo>
                  <a:lnTo>
                    <a:pt x="149148" y="1155986"/>
                  </a:lnTo>
                  <a:lnTo>
                    <a:pt x="108414" y="1141428"/>
                  </a:lnTo>
                  <a:lnTo>
                    <a:pt x="72482" y="1118583"/>
                  </a:lnTo>
                  <a:lnTo>
                    <a:pt x="42513" y="1088614"/>
                  </a:lnTo>
                  <a:lnTo>
                    <a:pt x="19669" y="1052682"/>
                  </a:lnTo>
                  <a:lnTo>
                    <a:pt x="5110" y="1011948"/>
                  </a:lnTo>
                  <a:lnTo>
                    <a:pt x="0" y="967574"/>
                  </a:lnTo>
                  <a:lnTo>
                    <a:pt x="0" y="193522"/>
                  </a:lnTo>
                  <a:close/>
                </a:path>
              </a:pathLst>
            </a:custGeom>
            <a:ln w="12700">
              <a:solidFill>
                <a:srgbClr val="0070C0"/>
              </a:solidFill>
            </a:ln>
          </p:spPr>
          <p:txBody>
            <a:bodyPr wrap="square" lIns="0" tIns="0" rIns="0" bIns="0" rtlCol="0"/>
            <a:lstStyle/>
            <a:p/>
          </p:txBody>
        </p:sp>
        <p:pic>
          <p:nvPicPr>
            <p:cNvPr id="36" name="object 36" descr=""/>
            <p:cNvPicPr/>
            <p:nvPr/>
          </p:nvPicPr>
          <p:blipFill>
            <a:blip r:embed="rId12" cstate="print"/>
            <a:stretch>
              <a:fillRect/>
            </a:stretch>
          </p:blipFill>
          <p:spPr>
            <a:xfrm>
              <a:off x="256793" y="2209800"/>
              <a:ext cx="1124711" cy="404621"/>
            </a:xfrm>
            <a:prstGeom prst="rect">
              <a:avLst/>
            </a:prstGeom>
          </p:spPr>
        </p:pic>
        <p:pic>
          <p:nvPicPr>
            <p:cNvPr id="37" name="object 37" descr=""/>
            <p:cNvPicPr/>
            <p:nvPr/>
          </p:nvPicPr>
          <p:blipFill>
            <a:blip r:embed="rId13" cstate="print"/>
            <a:stretch>
              <a:fillRect/>
            </a:stretch>
          </p:blipFill>
          <p:spPr>
            <a:xfrm>
              <a:off x="305562" y="2191511"/>
              <a:ext cx="1076705" cy="378713"/>
            </a:xfrm>
            <a:prstGeom prst="rect">
              <a:avLst/>
            </a:prstGeom>
          </p:spPr>
        </p:pic>
        <p:sp>
          <p:nvSpPr>
            <p:cNvPr id="38" name="object 38" descr=""/>
            <p:cNvSpPr/>
            <p:nvPr/>
          </p:nvSpPr>
          <p:spPr>
            <a:xfrm>
              <a:off x="288032" y="2240936"/>
              <a:ext cx="1008380" cy="288290"/>
            </a:xfrm>
            <a:custGeom>
              <a:avLst/>
              <a:gdLst/>
              <a:ahLst/>
              <a:cxnLst/>
              <a:rect l="l" t="t" r="r" b="b"/>
              <a:pathLst>
                <a:path w="1008380" h="288289">
                  <a:moveTo>
                    <a:pt x="960107" y="0"/>
                  </a:moveTo>
                  <a:lnTo>
                    <a:pt x="48006" y="0"/>
                  </a:lnTo>
                  <a:lnTo>
                    <a:pt x="29317" y="3771"/>
                  </a:lnTo>
                  <a:lnTo>
                    <a:pt x="14058" y="14058"/>
                  </a:lnTo>
                  <a:lnTo>
                    <a:pt x="3771" y="29317"/>
                  </a:lnTo>
                  <a:lnTo>
                    <a:pt x="0" y="48006"/>
                  </a:lnTo>
                  <a:lnTo>
                    <a:pt x="0" y="240029"/>
                  </a:lnTo>
                  <a:lnTo>
                    <a:pt x="3771" y="258712"/>
                  </a:lnTo>
                  <a:lnTo>
                    <a:pt x="14058" y="273972"/>
                  </a:lnTo>
                  <a:lnTo>
                    <a:pt x="29317" y="284262"/>
                  </a:lnTo>
                  <a:lnTo>
                    <a:pt x="48006" y="288036"/>
                  </a:lnTo>
                  <a:lnTo>
                    <a:pt x="960107" y="288036"/>
                  </a:lnTo>
                  <a:lnTo>
                    <a:pt x="978795" y="284262"/>
                  </a:lnTo>
                  <a:lnTo>
                    <a:pt x="994054" y="273972"/>
                  </a:lnTo>
                  <a:lnTo>
                    <a:pt x="1004341" y="258712"/>
                  </a:lnTo>
                  <a:lnTo>
                    <a:pt x="1008113" y="240029"/>
                  </a:lnTo>
                  <a:lnTo>
                    <a:pt x="1008113" y="48006"/>
                  </a:lnTo>
                  <a:lnTo>
                    <a:pt x="1004341" y="29317"/>
                  </a:lnTo>
                  <a:lnTo>
                    <a:pt x="994054" y="14058"/>
                  </a:lnTo>
                  <a:lnTo>
                    <a:pt x="978795" y="3771"/>
                  </a:lnTo>
                  <a:lnTo>
                    <a:pt x="960107" y="0"/>
                  </a:lnTo>
                  <a:close/>
                </a:path>
              </a:pathLst>
            </a:custGeom>
            <a:solidFill>
              <a:srgbClr val="FFFFFF"/>
            </a:solidFill>
          </p:spPr>
          <p:txBody>
            <a:bodyPr wrap="square" lIns="0" tIns="0" rIns="0" bIns="0" rtlCol="0"/>
            <a:lstStyle/>
            <a:p/>
          </p:txBody>
        </p:sp>
        <p:sp>
          <p:nvSpPr>
            <p:cNvPr id="39" name="object 39" descr=""/>
            <p:cNvSpPr/>
            <p:nvPr/>
          </p:nvSpPr>
          <p:spPr>
            <a:xfrm>
              <a:off x="288032" y="2240936"/>
              <a:ext cx="1008380" cy="288290"/>
            </a:xfrm>
            <a:custGeom>
              <a:avLst/>
              <a:gdLst/>
              <a:ahLst/>
              <a:cxnLst/>
              <a:rect l="l" t="t" r="r" b="b"/>
              <a:pathLst>
                <a:path w="1008380" h="288289">
                  <a:moveTo>
                    <a:pt x="0" y="48006"/>
                  </a:moveTo>
                  <a:lnTo>
                    <a:pt x="3771" y="29317"/>
                  </a:lnTo>
                  <a:lnTo>
                    <a:pt x="14058" y="14058"/>
                  </a:lnTo>
                  <a:lnTo>
                    <a:pt x="29317" y="3771"/>
                  </a:lnTo>
                  <a:lnTo>
                    <a:pt x="48006" y="0"/>
                  </a:lnTo>
                  <a:lnTo>
                    <a:pt x="960107" y="0"/>
                  </a:lnTo>
                  <a:lnTo>
                    <a:pt x="978795" y="3771"/>
                  </a:lnTo>
                  <a:lnTo>
                    <a:pt x="994054" y="14058"/>
                  </a:lnTo>
                  <a:lnTo>
                    <a:pt x="1004341" y="29317"/>
                  </a:lnTo>
                  <a:lnTo>
                    <a:pt x="1008113" y="48006"/>
                  </a:lnTo>
                  <a:lnTo>
                    <a:pt x="1008113" y="240029"/>
                  </a:lnTo>
                  <a:lnTo>
                    <a:pt x="1004341" y="258712"/>
                  </a:lnTo>
                  <a:lnTo>
                    <a:pt x="994054" y="273972"/>
                  </a:lnTo>
                  <a:lnTo>
                    <a:pt x="978795" y="284262"/>
                  </a:lnTo>
                  <a:lnTo>
                    <a:pt x="960107" y="288036"/>
                  </a:lnTo>
                  <a:lnTo>
                    <a:pt x="48006" y="288036"/>
                  </a:lnTo>
                  <a:lnTo>
                    <a:pt x="29317" y="284262"/>
                  </a:lnTo>
                  <a:lnTo>
                    <a:pt x="14058" y="273972"/>
                  </a:lnTo>
                  <a:lnTo>
                    <a:pt x="3771" y="258712"/>
                  </a:lnTo>
                  <a:lnTo>
                    <a:pt x="0" y="240029"/>
                  </a:lnTo>
                  <a:lnTo>
                    <a:pt x="0" y="48006"/>
                  </a:lnTo>
                  <a:close/>
                </a:path>
              </a:pathLst>
            </a:custGeom>
            <a:ln w="12700">
              <a:solidFill>
                <a:srgbClr val="0070C0"/>
              </a:solidFill>
            </a:ln>
          </p:spPr>
          <p:txBody>
            <a:bodyPr wrap="square" lIns="0" tIns="0" rIns="0" bIns="0" rtlCol="0"/>
            <a:lstStyle/>
            <a:p/>
          </p:txBody>
        </p:sp>
      </p:grpSp>
      <p:sp>
        <p:nvSpPr>
          <p:cNvPr id="40" name="object 40" descr=""/>
          <p:cNvSpPr txBox="1"/>
          <p:nvPr/>
        </p:nvSpPr>
        <p:spPr>
          <a:xfrm>
            <a:off x="115987" y="1264027"/>
            <a:ext cx="1339850" cy="1236980"/>
          </a:xfrm>
          <a:prstGeom prst="rect">
            <a:avLst/>
          </a:prstGeom>
        </p:spPr>
        <p:txBody>
          <a:bodyPr wrap="square" lIns="0" tIns="12700" rIns="0" bIns="0" rtlCol="0" vert="horz">
            <a:spAutoFit/>
          </a:bodyPr>
          <a:lstStyle/>
          <a:p>
            <a:pPr algn="just" marL="184150" marR="5080" indent="-171450">
              <a:lnSpc>
                <a:spcPct val="100000"/>
              </a:lnSpc>
              <a:spcBef>
                <a:spcPts val="100"/>
              </a:spcBef>
              <a:buFont typeface="Arial MT"/>
              <a:buChar char="•"/>
              <a:tabLst>
                <a:tab pos="184150" algn="l"/>
              </a:tabLst>
            </a:pPr>
            <a:r>
              <a:rPr dirty="0" sz="1200" spc="-10">
                <a:latin typeface="SimSun"/>
                <a:cs typeface="SimSun"/>
              </a:rPr>
              <a:t>系统可用带宽(目</a:t>
            </a:r>
            <a:r>
              <a:rPr dirty="0" sz="1200">
                <a:latin typeface="SimSun"/>
                <a:cs typeface="SimSun"/>
              </a:rPr>
              <a:t>前版本</a:t>
            </a:r>
            <a:r>
              <a:rPr dirty="0" sz="1200" spc="-10">
                <a:latin typeface="SimSun"/>
                <a:cs typeface="SimSun"/>
              </a:rPr>
              <a:t>100mHz)</a:t>
            </a:r>
            <a:endParaRPr sz="1200">
              <a:latin typeface="SimSun"/>
              <a:cs typeface="SimSun"/>
            </a:endParaRPr>
          </a:p>
          <a:p>
            <a:pPr algn="just" marL="184150" marR="5080" indent="-171450">
              <a:lnSpc>
                <a:spcPct val="100000"/>
              </a:lnSpc>
              <a:buFont typeface="Arial MT"/>
              <a:buChar char="•"/>
              <a:tabLst>
                <a:tab pos="184150" algn="l"/>
              </a:tabLst>
            </a:pPr>
            <a:r>
              <a:rPr dirty="0" sz="1200">
                <a:latin typeface="SimSun"/>
                <a:cs typeface="SimSun"/>
              </a:rPr>
              <a:t>每slot每PRB</a:t>
            </a:r>
            <a:r>
              <a:rPr dirty="0" sz="1200" spc="-25">
                <a:latin typeface="SimSun"/>
                <a:cs typeface="SimSun"/>
              </a:rPr>
              <a:t>可用</a:t>
            </a:r>
            <a:r>
              <a:rPr dirty="0" sz="1200">
                <a:latin typeface="SimSun"/>
                <a:cs typeface="SimSun"/>
              </a:rPr>
              <a:t>于传数的RE</a:t>
            </a:r>
            <a:r>
              <a:rPr dirty="0" sz="1200" spc="-20">
                <a:latin typeface="SimSun"/>
                <a:cs typeface="SimSun"/>
              </a:rPr>
              <a:t>数(控</a:t>
            </a:r>
            <a:r>
              <a:rPr dirty="0" sz="1200">
                <a:latin typeface="SimSun"/>
                <a:cs typeface="SimSun"/>
              </a:rPr>
              <a:t>制区及</a:t>
            </a:r>
            <a:r>
              <a:rPr dirty="0" sz="1200" spc="-10">
                <a:latin typeface="SimSun"/>
                <a:cs typeface="SimSun"/>
              </a:rPr>
              <a:t>DMRS)</a:t>
            </a:r>
            <a:endParaRPr sz="1200">
              <a:latin typeface="SimSun"/>
              <a:cs typeface="SimSun"/>
            </a:endParaRPr>
          </a:p>
          <a:p>
            <a:pPr marL="320675">
              <a:lnSpc>
                <a:spcPct val="100000"/>
              </a:lnSpc>
              <a:spcBef>
                <a:spcPts val="660"/>
              </a:spcBef>
            </a:pPr>
            <a:r>
              <a:rPr dirty="0" sz="1400" spc="-30">
                <a:solidFill>
                  <a:srgbClr val="C00000"/>
                </a:solidFill>
                <a:latin typeface="SimSun"/>
                <a:cs typeface="SimSun"/>
              </a:rPr>
              <a:t>可用资源</a:t>
            </a:r>
            <a:endParaRPr sz="1400">
              <a:latin typeface="SimSun"/>
              <a:cs typeface="SimSun"/>
            </a:endParaRPr>
          </a:p>
        </p:txBody>
      </p:sp>
      <p:grpSp>
        <p:nvGrpSpPr>
          <p:cNvPr id="41" name="object 41" descr=""/>
          <p:cNvGrpSpPr/>
          <p:nvPr/>
        </p:nvGrpSpPr>
        <p:grpSpPr>
          <a:xfrm>
            <a:off x="1530858" y="1053846"/>
            <a:ext cx="1579245" cy="1264285"/>
            <a:chOff x="1530858" y="1053846"/>
            <a:chExt cx="1579245" cy="1264285"/>
          </a:xfrm>
        </p:grpSpPr>
        <p:pic>
          <p:nvPicPr>
            <p:cNvPr id="42" name="object 42" descr=""/>
            <p:cNvPicPr/>
            <p:nvPr/>
          </p:nvPicPr>
          <p:blipFill>
            <a:blip r:embed="rId14" cstate="print"/>
            <a:stretch>
              <a:fillRect/>
            </a:stretch>
          </p:blipFill>
          <p:spPr>
            <a:xfrm>
              <a:off x="1552955" y="1053846"/>
              <a:ext cx="1556765" cy="1264157"/>
            </a:xfrm>
            <a:prstGeom prst="rect">
              <a:avLst/>
            </a:prstGeom>
          </p:spPr>
        </p:pic>
        <p:pic>
          <p:nvPicPr>
            <p:cNvPr id="43" name="object 43" descr=""/>
            <p:cNvPicPr/>
            <p:nvPr/>
          </p:nvPicPr>
          <p:blipFill>
            <a:blip r:embed="rId15" cstate="print"/>
            <a:stretch>
              <a:fillRect/>
            </a:stretch>
          </p:blipFill>
          <p:spPr>
            <a:xfrm>
              <a:off x="1530858" y="1191768"/>
              <a:ext cx="1517903" cy="1063751"/>
            </a:xfrm>
            <a:prstGeom prst="rect">
              <a:avLst/>
            </a:prstGeom>
          </p:spPr>
        </p:pic>
        <p:sp>
          <p:nvSpPr>
            <p:cNvPr id="44" name="object 44" descr=""/>
            <p:cNvSpPr/>
            <p:nvPr/>
          </p:nvSpPr>
          <p:spPr>
            <a:xfrm>
              <a:off x="1584176" y="1084910"/>
              <a:ext cx="1440180" cy="1148080"/>
            </a:xfrm>
            <a:custGeom>
              <a:avLst/>
              <a:gdLst/>
              <a:ahLst/>
              <a:cxnLst/>
              <a:rect l="l" t="t" r="r" b="b"/>
              <a:pathLst>
                <a:path w="1440180" h="1148080">
                  <a:moveTo>
                    <a:pt x="1248879" y="0"/>
                  </a:moveTo>
                  <a:lnTo>
                    <a:pt x="191274" y="0"/>
                  </a:lnTo>
                  <a:lnTo>
                    <a:pt x="147417" y="5051"/>
                  </a:lnTo>
                  <a:lnTo>
                    <a:pt x="107156" y="19441"/>
                  </a:lnTo>
                  <a:lnTo>
                    <a:pt x="71641" y="42020"/>
                  </a:lnTo>
                  <a:lnTo>
                    <a:pt x="42020" y="71641"/>
                  </a:lnTo>
                  <a:lnTo>
                    <a:pt x="19441" y="107156"/>
                  </a:lnTo>
                  <a:lnTo>
                    <a:pt x="5051" y="147417"/>
                  </a:lnTo>
                  <a:lnTo>
                    <a:pt x="0" y="191274"/>
                  </a:lnTo>
                  <a:lnTo>
                    <a:pt x="0" y="956360"/>
                  </a:lnTo>
                  <a:lnTo>
                    <a:pt x="5051" y="1000218"/>
                  </a:lnTo>
                  <a:lnTo>
                    <a:pt x="19441" y="1040478"/>
                  </a:lnTo>
                  <a:lnTo>
                    <a:pt x="42020" y="1075993"/>
                  </a:lnTo>
                  <a:lnTo>
                    <a:pt x="71641" y="1105614"/>
                  </a:lnTo>
                  <a:lnTo>
                    <a:pt x="107156" y="1128194"/>
                  </a:lnTo>
                  <a:lnTo>
                    <a:pt x="147417" y="1142583"/>
                  </a:lnTo>
                  <a:lnTo>
                    <a:pt x="191274" y="1147635"/>
                  </a:lnTo>
                  <a:lnTo>
                    <a:pt x="1248879" y="1147635"/>
                  </a:lnTo>
                  <a:lnTo>
                    <a:pt x="1292737" y="1142583"/>
                  </a:lnTo>
                  <a:lnTo>
                    <a:pt x="1332997" y="1128194"/>
                  </a:lnTo>
                  <a:lnTo>
                    <a:pt x="1368512" y="1105614"/>
                  </a:lnTo>
                  <a:lnTo>
                    <a:pt x="1398133" y="1075993"/>
                  </a:lnTo>
                  <a:lnTo>
                    <a:pt x="1420713" y="1040478"/>
                  </a:lnTo>
                  <a:lnTo>
                    <a:pt x="1435102" y="1000218"/>
                  </a:lnTo>
                  <a:lnTo>
                    <a:pt x="1440154" y="956360"/>
                  </a:lnTo>
                  <a:lnTo>
                    <a:pt x="1440154" y="191274"/>
                  </a:lnTo>
                  <a:lnTo>
                    <a:pt x="1435102" y="147417"/>
                  </a:lnTo>
                  <a:lnTo>
                    <a:pt x="1420713" y="107156"/>
                  </a:lnTo>
                  <a:lnTo>
                    <a:pt x="1398133" y="71641"/>
                  </a:lnTo>
                  <a:lnTo>
                    <a:pt x="1368512" y="42020"/>
                  </a:lnTo>
                  <a:lnTo>
                    <a:pt x="1332997" y="19441"/>
                  </a:lnTo>
                  <a:lnTo>
                    <a:pt x="1292737" y="5051"/>
                  </a:lnTo>
                  <a:lnTo>
                    <a:pt x="1248879" y="0"/>
                  </a:lnTo>
                  <a:close/>
                </a:path>
              </a:pathLst>
            </a:custGeom>
            <a:solidFill>
              <a:srgbClr val="FFFFFF"/>
            </a:solidFill>
          </p:spPr>
          <p:txBody>
            <a:bodyPr wrap="square" lIns="0" tIns="0" rIns="0" bIns="0" rtlCol="0"/>
            <a:lstStyle/>
            <a:p/>
          </p:txBody>
        </p:sp>
        <p:sp>
          <p:nvSpPr>
            <p:cNvPr id="45" name="object 45" descr=""/>
            <p:cNvSpPr/>
            <p:nvPr/>
          </p:nvSpPr>
          <p:spPr>
            <a:xfrm>
              <a:off x="1584176" y="1084910"/>
              <a:ext cx="1440180" cy="1148080"/>
            </a:xfrm>
            <a:custGeom>
              <a:avLst/>
              <a:gdLst/>
              <a:ahLst/>
              <a:cxnLst/>
              <a:rect l="l" t="t" r="r" b="b"/>
              <a:pathLst>
                <a:path w="1440180" h="1148080">
                  <a:moveTo>
                    <a:pt x="0" y="191274"/>
                  </a:moveTo>
                  <a:lnTo>
                    <a:pt x="5051" y="147417"/>
                  </a:lnTo>
                  <a:lnTo>
                    <a:pt x="19441" y="107156"/>
                  </a:lnTo>
                  <a:lnTo>
                    <a:pt x="42020" y="71641"/>
                  </a:lnTo>
                  <a:lnTo>
                    <a:pt x="71641" y="42020"/>
                  </a:lnTo>
                  <a:lnTo>
                    <a:pt x="107156" y="19441"/>
                  </a:lnTo>
                  <a:lnTo>
                    <a:pt x="147417" y="5051"/>
                  </a:lnTo>
                  <a:lnTo>
                    <a:pt x="191274" y="0"/>
                  </a:lnTo>
                  <a:lnTo>
                    <a:pt x="1248879" y="0"/>
                  </a:lnTo>
                  <a:lnTo>
                    <a:pt x="1292737" y="5051"/>
                  </a:lnTo>
                  <a:lnTo>
                    <a:pt x="1332997" y="19441"/>
                  </a:lnTo>
                  <a:lnTo>
                    <a:pt x="1368512" y="42020"/>
                  </a:lnTo>
                  <a:lnTo>
                    <a:pt x="1398133" y="71641"/>
                  </a:lnTo>
                  <a:lnTo>
                    <a:pt x="1420713" y="107156"/>
                  </a:lnTo>
                  <a:lnTo>
                    <a:pt x="1435102" y="147417"/>
                  </a:lnTo>
                  <a:lnTo>
                    <a:pt x="1440154" y="191274"/>
                  </a:lnTo>
                  <a:lnTo>
                    <a:pt x="1440154" y="956360"/>
                  </a:lnTo>
                  <a:lnTo>
                    <a:pt x="1435102" y="1000218"/>
                  </a:lnTo>
                  <a:lnTo>
                    <a:pt x="1420713" y="1040478"/>
                  </a:lnTo>
                  <a:lnTo>
                    <a:pt x="1398133" y="1075993"/>
                  </a:lnTo>
                  <a:lnTo>
                    <a:pt x="1368512" y="1105614"/>
                  </a:lnTo>
                  <a:lnTo>
                    <a:pt x="1332997" y="1128194"/>
                  </a:lnTo>
                  <a:lnTo>
                    <a:pt x="1292737" y="1142583"/>
                  </a:lnTo>
                  <a:lnTo>
                    <a:pt x="1248879" y="1147635"/>
                  </a:lnTo>
                  <a:lnTo>
                    <a:pt x="191274" y="1147635"/>
                  </a:lnTo>
                  <a:lnTo>
                    <a:pt x="147417" y="1142583"/>
                  </a:lnTo>
                  <a:lnTo>
                    <a:pt x="107156" y="1128194"/>
                  </a:lnTo>
                  <a:lnTo>
                    <a:pt x="71641" y="1105614"/>
                  </a:lnTo>
                  <a:lnTo>
                    <a:pt x="42020" y="1075993"/>
                  </a:lnTo>
                  <a:lnTo>
                    <a:pt x="19441" y="1040478"/>
                  </a:lnTo>
                  <a:lnTo>
                    <a:pt x="5051" y="1000218"/>
                  </a:lnTo>
                  <a:lnTo>
                    <a:pt x="0" y="956360"/>
                  </a:lnTo>
                  <a:lnTo>
                    <a:pt x="0" y="191274"/>
                  </a:lnTo>
                  <a:close/>
                </a:path>
              </a:pathLst>
            </a:custGeom>
            <a:ln w="12700">
              <a:solidFill>
                <a:srgbClr val="0070C0"/>
              </a:solidFill>
            </a:ln>
          </p:spPr>
          <p:txBody>
            <a:bodyPr wrap="square" lIns="0" tIns="0" rIns="0" bIns="0" rtlCol="0"/>
            <a:lstStyle/>
            <a:p/>
          </p:txBody>
        </p:sp>
      </p:grpSp>
      <p:sp>
        <p:nvSpPr>
          <p:cNvPr id="46" name="object 46" descr=""/>
          <p:cNvSpPr txBox="1"/>
          <p:nvPr/>
        </p:nvSpPr>
        <p:spPr>
          <a:xfrm>
            <a:off x="1627498" y="1254000"/>
            <a:ext cx="1263650" cy="939800"/>
          </a:xfrm>
          <a:prstGeom prst="rect">
            <a:avLst/>
          </a:prstGeom>
        </p:spPr>
        <p:txBody>
          <a:bodyPr wrap="square" lIns="0" tIns="12700" rIns="0" bIns="0" rtlCol="0" vert="horz">
            <a:spAutoFit/>
          </a:bodyPr>
          <a:lstStyle/>
          <a:p>
            <a:pPr algn="r" marL="172085" marR="309880" indent="-172085">
              <a:lnSpc>
                <a:spcPct val="100000"/>
              </a:lnSpc>
              <a:spcBef>
                <a:spcPts val="100"/>
              </a:spcBef>
              <a:buFont typeface="Arial MT"/>
              <a:buChar char="•"/>
              <a:tabLst>
                <a:tab pos="172085" algn="l"/>
              </a:tabLst>
            </a:pPr>
            <a:r>
              <a:rPr dirty="0" sz="1200" spc="-10">
                <a:latin typeface="SimSun"/>
                <a:cs typeface="SimSun"/>
              </a:rPr>
              <a:t>上下行占比</a:t>
            </a:r>
            <a:endParaRPr sz="1200">
              <a:latin typeface="SimSun"/>
              <a:cs typeface="SimSun"/>
            </a:endParaRPr>
          </a:p>
          <a:p>
            <a:pPr algn="r" marR="309880">
              <a:lnSpc>
                <a:spcPct val="100000"/>
              </a:lnSpc>
            </a:pPr>
            <a:r>
              <a:rPr dirty="0" sz="1200" spc="-10">
                <a:latin typeface="SimSun"/>
                <a:cs typeface="SimSun"/>
              </a:rPr>
              <a:t>(opt1:3:7)</a:t>
            </a:r>
            <a:endParaRPr sz="1200">
              <a:latin typeface="SimSun"/>
              <a:cs typeface="SimSun"/>
            </a:endParaRPr>
          </a:p>
          <a:p>
            <a:pPr marL="184150" marR="5080" indent="-171450">
              <a:lnSpc>
                <a:spcPct val="100000"/>
              </a:lnSpc>
              <a:buFont typeface="Arial MT"/>
              <a:buChar char="•"/>
              <a:tabLst>
                <a:tab pos="184150" algn="l"/>
              </a:tabLst>
            </a:pPr>
            <a:r>
              <a:rPr dirty="0" sz="1200" spc="-10">
                <a:latin typeface="SimSun"/>
                <a:cs typeface="SimSun"/>
              </a:rPr>
              <a:t>上下行转换点</a:t>
            </a:r>
            <a:r>
              <a:rPr dirty="0" sz="1200" spc="-50">
                <a:latin typeface="SimSun"/>
                <a:cs typeface="SimSun"/>
              </a:rPr>
              <a:t> </a:t>
            </a:r>
            <a:r>
              <a:rPr dirty="0" sz="1200">
                <a:latin typeface="SimSun"/>
                <a:cs typeface="SimSun"/>
              </a:rPr>
              <a:t>(opt1：slot3</a:t>
            </a:r>
            <a:r>
              <a:rPr dirty="0" sz="1200" spc="-50">
                <a:latin typeface="SimSun"/>
                <a:cs typeface="SimSun"/>
              </a:rPr>
              <a:t>和 </a:t>
            </a:r>
            <a:r>
              <a:rPr dirty="0" sz="1200" spc="-10">
                <a:latin typeface="SimSun"/>
                <a:cs typeface="SimSun"/>
              </a:rPr>
              <a:t>slot7)</a:t>
            </a:r>
            <a:endParaRPr sz="1200">
              <a:latin typeface="SimSun"/>
              <a:cs typeface="SimSun"/>
            </a:endParaRPr>
          </a:p>
        </p:txBody>
      </p:sp>
      <p:grpSp>
        <p:nvGrpSpPr>
          <p:cNvPr id="47" name="object 47" descr=""/>
          <p:cNvGrpSpPr/>
          <p:nvPr/>
        </p:nvGrpSpPr>
        <p:grpSpPr>
          <a:xfrm>
            <a:off x="1802892" y="707136"/>
            <a:ext cx="5234940" cy="1899285"/>
            <a:chOff x="1802892" y="707136"/>
            <a:chExt cx="5234940" cy="1899285"/>
          </a:xfrm>
        </p:grpSpPr>
        <p:pic>
          <p:nvPicPr>
            <p:cNvPr id="48" name="object 48" descr=""/>
            <p:cNvPicPr/>
            <p:nvPr/>
          </p:nvPicPr>
          <p:blipFill>
            <a:blip r:embed="rId16" cstate="print"/>
            <a:stretch>
              <a:fillRect/>
            </a:stretch>
          </p:blipFill>
          <p:spPr>
            <a:xfrm>
              <a:off x="1802892" y="923544"/>
              <a:ext cx="1036319" cy="377189"/>
            </a:xfrm>
            <a:prstGeom prst="rect">
              <a:avLst/>
            </a:prstGeom>
          </p:spPr>
        </p:pic>
        <p:pic>
          <p:nvPicPr>
            <p:cNvPr id="49" name="object 49" descr=""/>
            <p:cNvPicPr/>
            <p:nvPr/>
          </p:nvPicPr>
          <p:blipFill>
            <a:blip r:embed="rId17" cstate="print"/>
            <a:stretch>
              <a:fillRect/>
            </a:stretch>
          </p:blipFill>
          <p:spPr>
            <a:xfrm>
              <a:off x="1896618" y="891540"/>
              <a:ext cx="899159" cy="378713"/>
            </a:xfrm>
            <a:prstGeom prst="rect">
              <a:avLst/>
            </a:prstGeom>
          </p:spPr>
        </p:pic>
        <p:sp>
          <p:nvSpPr>
            <p:cNvPr id="50" name="object 50" descr=""/>
            <p:cNvSpPr/>
            <p:nvPr/>
          </p:nvSpPr>
          <p:spPr>
            <a:xfrm>
              <a:off x="1834337" y="954868"/>
              <a:ext cx="920115" cy="260985"/>
            </a:xfrm>
            <a:custGeom>
              <a:avLst/>
              <a:gdLst/>
              <a:ahLst/>
              <a:cxnLst/>
              <a:rect l="l" t="t" r="r" b="b"/>
              <a:pathLst>
                <a:path w="920114" h="260984">
                  <a:moveTo>
                    <a:pt x="876465" y="0"/>
                  </a:moveTo>
                  <a:lnTo>
                    <a:pt x="43434" y="0"/>
                  </a:lnTo>
                  <a:lnTo>
                    <a:pt x="26526" y="3412"/>
                  </a:lnTo>
                  <a:lnTo>
                    <a:pt x="12720" y="12720"/>
                  </a:lnTo>
                  <a:lnTo>
                    <a:pt x="3412" y="26526"/>
                  </a:lnTo>
                  <a:lnTo>
                    <a:pt x="0" y="43434"/>
                  </a:lnTo>
                  <a:lnTo>
                    <a:pt x="0" y="217170"/>
                  </a:lnTo>
                  <a:lnTo>
                    <a:pt x="3412" y="234077"/>
                  </a:lnTo>
                  <a:lnTo>
                    <a:pt x="12720" y="247883"/>
                  </a:lnTo>
                  <a:lnTo>
                    <a:pt x="26526" y="257191"/>
                  </a:lnTo>
                  <a:lnTo>
                    <a:pt x="43434" y="260604"/>
                  </a:lnTo>
                  <a:lnTo>
                    <a:pt x="876465" y="260604"/>
                  </a:lnTo>
                  <a:lnTo>
                    <a:pt x="893372" y="257191"/>
                  </a:lnTo>
                  <a:lnTo>
                    <a:pt x="907178" y="247883"/>
                  </a:lnTo>
                  <a:lnTo>
                    <a:pt x="916486" y="234077"/>
                  </a:lnTo>
                  <a:lnTo>
                    <a:pt x="919899" y="217170"/>
                  </a:lnTo>
                  <a:lnTo>
                    <a:pt x="919899" y="43434"/>
                  </a:lnTo>
                  <a:lnTo>
                    <a:pt x="916486" y="26526"/>
                  </a:lnTo>
                  <a:lnTo>
                    <a:pt x="907178" y="12720"/>
                  </a:lnTo>
                  <a:lnTo>
                    <a:pt x="893372" y="3412"/>
                  </a:lnTo>
                  <a:lnTo>
                    <a:pt x="876465" y="0"/>
                  </a:lnTo>
                  <a:close/>
                </a:path>
              </a:pathLst>
            </a:custGeom>
            <a:solidFill>
              <a:srgbClr val="FFFFFF"/>
            </a:solidFill>
          </p:spPr>
          <p:txBody>
            <a:bodyPr wrap="square" lIns="0" tIns="0" rIns="0" bIns="0" rtlCol="0"/>
            <a:lstStyle/>
            <a:p/>
          </p:txBody>
        </p:sp>
        <p:sp>
          <p:nvSpPr>
            <p:cNvPr id="51" name="object 51" descr=""/>
            <p:cNvSpPr/>
            <p:nvPr/>
          </p:nvSpPr>
          <p:spPr>
            <a:xfrm>
              <a:off x="1834337" y="954868"/>
              <a:ext cx="920115" cy="260985"/>
            </a:xfrm>
            <a:custGeom>
              <a:avLst/>
              <a:gdLst/>
              <a:ahLst/>
              <a:cxnLst/>
              <a:rect l="l" t="t" r="r" b="b"/>
              <a:pathLst>
                <a:path w="920114" h="260984">
                  <a:moveTo>
                    <a:pt x="0" y="43434"/>
                  </a:moveTo>
                  <a:lnTo>
                    <a:pt x="3412" y="26526"/>
                  </a:lnTo>
                  <a:lnTo>
                    <a:pt x="12720" y="12720"/>
                  </a:lnTo>
                  <a:lnTo>
                    <a:pt x="26526" y="3412"/>
                  </a:lnTo>
                  <a:lnTo>
                    <a:pt x="43434" y="0"/>
                  </a:lnTo>
                  <a:lnTo>
                    <a:pt x="876465" y="0"/>
                  </a:lnTo>
                  <a:lnTo>
                    <a:pt x="893372" y="3412"/>
                  </a:lnTo>
                  <a:lnTo>
                    <a:pt x="907178" y="12720"/>
                  </a:lnTo>
                  <a:lnTo>
                    <a:pt x="916486" y="26526"/>
                  </a:lnTo>
                  <a:lnTo>
                    <a:pt x="919899" y="43434"/>
                  </a:lnTo>
                  <a:lnTo>
                    <a:pt x="919899" y="217170"/>
                  </a:lnTo>
                  <a:lnTo>
                    <a:pt x="916486" y="234077"/>
                  </a:lnTo>
                  <a:lnTo>
                    <a:pt x="907178" y="247883"/>
                  </a:lnTo>
                  <a:lnTo>
                    <a:pt x="893372" y="257191"/>
                  </a:lnTo>
                  <a:lnTo>
                    <a:pt x="876465" y="260604"/>
                  </a:lnTo>
                  <a:lnTo>
                    <a:pt x="43434" y="260604"/>
                  </a:lnTo>
                  <a:lnTo>
                    <a:pt x="26526" y="257191"/>
                  </a:lnTo>
                  <a:lnTo>
                    <a:pt x="12720" y="247883"/>
                  </a:lnTo>
                  <a:lnTo>
                    <a:pt x="3412" y="234077"/>
                  </a:lnTo>
                  <a:lnTo>
                    <a:pt x="0" y="217170"/>
                  </a:lnTo>
                  <a:lnTo>
                    <a:pt x="0" y="43434"/>
                  </a:lnTo>
                  <a:close/>
                </a:path>
              </a:pathLst>
            </a:custGeom>
            <a:ln w="12699">
              <a:solidFill>
                <a:srgbClr val="0070C0"/>
              </a:solidFill>
            </a:ln>
          </p:spPr>
          <p:txBody>
            <a:bodyPr wrap="square" lIns="0" tIns="0" rIns="0" bIns="0" rtlCol="0"/>
            <a:lstStyle/>
            <a:p/>
          </p:txBody>
        </p:sp>
        <p:pic>
          <p:nvPicPr>
            <p:cNvPr id="52" name="object 52"/>
            <p:cNvPicPr/>
            <p:nvPr/>
          </p:nvPicPr>
          <p:blipFill>
            <a:blip r:embed="rId18" cstate="print"/>
            <a:stretch>
              <a:fillRect/>
            </a:stretch>
          </p:blipFill>
          <p:spPr>
            <a:xfrm>
              <a:off x="5245607" y="707136"/>
              <a:ext cx="1792223" cy="819911"/>
            </a:xfrm>
            <a:prstGeom prst="rect">
              <a:avLst/>
            </a:prstGeom>
          </p:spPr>
        </p:pic>
        <p:sp>
          <p:nvSpPr>
            <p:cNvPr id="53" name="object 53" descr=""/>
            <p:cNvSpPr/>
            <p:nvPr/>
          </p:nvSpPr>
          <p:spPr>
            <a:xfrm>
              <a:off x="6877130" y="1266080"/>
              <a:ext cx="99695" cy="174625"/>
            </a:xfrm>
            <a:custGeom>
              <a:avLst/>
              <a:gdLst/>
              <a:ahLst/>
              <a:cxnLst/>
              <a:rect l="l" t="t" r="r" b="b"/>
              <a:pathLst>
                <a:path w="99695" h="174625">
                  <a:moveTo>
                    <a:pt x="99440" y="0"/>
                  </a:moveTo>
                  <a:lnTo>
                    <a:pt x="0" y="0"/>
                  </a:lnTo>
                  <a:lnTo>
                    <a:pt x="75857" y="174383"/>
                  </a:lnTo>
                  <a:lnTo>
                    <a:pt x="99440" y="0"/>
                  </a:lnTo>
                  <a:close/>
                </a:path>
              </a:pathLst>
            </a:custGeom>
            <a:solidFill>
              <a:srgbClr val="F0F8F9"/>
            </a:solidFill>
          </p:spPr>
          <p:txBody>
            <a:bodyPr wrap="square" lIns="0" tIns="0" rIns="0" bIns="0" rtlCol="0"/>
            <a:lstStyle/>
            <a:p/>
          </p:txBody>
        </p:sp>
        <p:sp>
          <p:nvSpPr>
            <p:cNvPr id="54" name="object 54" descr=""/>
            <p:cNvSpPr/>
            <p:nvPr/>
          </p:nvSpPr>
          <p:spPr>
            <a:xfrm>
              <a:off x="5306920" y="742950"/>
              <a:ext cx="1670050" cy="697865"/>
            </a:xfrm>
            <a:custGeom>
              <a:avLst/>
              <a:gdLst/>
              <a:ahLst/>
              <a:cxnLst/>
              <a:rect l="l" t="t" r="r" b="b"/>
              <a:pathLst>
                <a:path w="1670050" h="697865">
                  <a:moveTo>
                    <a:pt x="823036" y="0"/>
                  </a:moveTo>
                  <a:lnTo>
                    <a:pt x="770986" y="1372"/>
                  </a:lnTo>
                  <a:lnTo>
                    <a:pt x="719797" y="5434"/>
                  </a:lnTo>
                  <a:lnTo>
                    <a:pt x="669564" y="12105"/>
                  </a:lnTo>
                  <a:lnTo>
                    <a:pt x="620384" y="21303"/>
                  </a:lnTo>
                  <a:lnTo>
                    <a:pt x="572354" y="32945"/>
                  </a:lnTo>
                  <a:lnTo>
                    <a:pt x="525570" y="46951"/>
                  </a:lnTo>
                  <a:lnTo>
                    <a:pt x="480128" y="63238"/>
                  </a:lnTo>
                  <a:lnTo>
                    <a:pt x="436124" y="81725"/>
                  </a:lnTo>
                  <a:lnTo>
                    <a:pt x="393656" y="102330"/>
                  </a:lnTo>
                  <a:lnTo>
                    <a:pt x="352819" y="124972"/>
                  </a:lnTo>
                  <a:lnTo>
                    <a:pt x="313711" y="149568"/>
                  </a:lnTo>
                  <a:lnTo>
                    <a:pt x="276426" y="176038"/>
                  </a:lnTo>
                  <a:lnTo>
                    <a:pt x="241063" y="204298"/>
                  </a:lnTo>
                  <a:lnTo>
                    <a:pt x="207717" y="234268"/>
                  </a:lnTo>
                  <a:lnTo>
                    <a:pt x="176484" y="265866"/>
                  </a:lnTo>
                  <a:lnTo>
                    <a:pt x="147461" y="299010"/>
                  </a:lnTo>
                  <a:lnTo>
                    <a:pt x="120745" y="333618"/>
                  </a:lnTo>
                  <a:lnTo>
                    <a:pt x="96432" y="369609"/>
                  </a:lnTo>
                  <a:lnTo>
                    <a:pt x="74618" y="406902"/>
                  </a:lnTo>
                  <a:lnTo>
                    <a:pt x="55400" y="445413"/>
                  </a:lnTo>
                  <a:lnTo>
                    <a:pt x="38874" y="485062"/>
                  </a:lnTo>
                  <a:lnTo>
                    <a:pt x="25136" y="525766"/>
                  </a:lnTo>
                  <a:lnTo>
                    <a:pt x="14283" y="567445"/>
                  </a:lnTo>
                  <a:lnTo>
                    <a:pt x="6412" y="610016"/>
                  </a:lnTo>
                  <a:lnTo>
                    <a:pt x="1619" y="653398"/>
                  </a:lnTo>
                  <a:lnTo>
                    <a:pt x="0" y="697509"/>
                  </a:lnTo>
                  <a:lnTo>
                    <a:pt x="1631" y="653398"/>
                  </a:lnTo>
                  <a:lnTo>
                    <a:pt x="6425" y="610016"/>
                  </a:lnTo>
                  <a:lnTo>
                    <a:pt x="14296" y="567445"/>
                  </a:lnTo>
                  <a:lnTo>
                    <a:pt x="25148" y="525766"/>
                  </a:lnTo>
                  <a:lnTo>
                    <a:pt x="38885" y="485062"/>
                  </a:lnTo>
                  <a:lnTo>
                    <a:pt x="55411" y="445413"/>
                  </a:lnTo>
                  <a:lnTo>
                    <a:pt x="74628" y="406902"/>
                  </a:lnTo>
                  <a:lnTo>
                    <a:pt x="96442" y="369609"/>
                  </a:lnTo>
                  <a:lnTo>
                    <a:pt x="120754" y="333618"/>
                  </a:lnTo>
                  <a:lnTo>
                    <a:pt x="147470" y="299010"/>
                  </a:lnTo>
                  <a:lnTo>
                    <a:pt x="176492" y="265866"/>
                  </a:lnTo>
                  <a:lnTo>
                    <a:pt x="207724" y="234268"/>
                  </a:lnTo>
                  <a:lnTo>
                    <a:pt x="241069" y="204298"/>
                  </a:lnTo>
                  <a:lnTo>
                    <a:pt x="276432" y="176038"/>
                  </a:lnTo>
                  <a:lnTo>
                    <a:pt x="313716" y="149568"/>
                  </a:lnTo>
                  <a:lnTo>
                    <a:pt x="352824" y="124972"/>
                  </a:lnTo>
                  <a:lnTo>
                    <a:pt x="393660" y="102330"/>
                  </a:lnTo>
                  <a:lnTo>
                    <a:pt x="436127" y="81725"/>
                  </a:lnTo>
                  <a:lnTo>
                    <a:pt x="480130" y="63238"/>
                  </a:lnTo>
                  <a:lnTo>
                    <a:pt x="525571" y="46951"/>
                  </a:lnTo>
                  <a:lnTo>
                    <a:pt x="572355" y="32945"/>
                  </a:lnTo>
                  <a:lnTo>
                    <a:pt x="620385" y="21303"/>
                  </a:lnTo>
                  <a:lnTo>
                    <a:pt x="669564" y="12105"/>
                  </a:lnTo>
                  <a:lnTo>
                    <a:pt x="719797" y="5434"/>
                  </a:lnTo>
                  <a:lnTo>
                    <a:pt x="770986" y="1372"/>
                  </a:lnTo>
                  <a:lnTo>
                    <a:pt x="823036" y="0"/>
                  </a:lnTo>
                  <a:lnTo>
                    <a:pt x="876306" y="1450"/>
                  </a:lnTo>
                  <a:lnTo>
                    <a:pt x="928809" y="5749"/>
                  </a:lnTo>
                  <a:lnTo>
                    <a:pt x="980424" y="12817"/>
                  </a:lnTo>
                  <a:lnTo>
                    <a:pt x="1031031" y="22574"/>
                  </a:lnTo>
                  <a:lnTo>
                    <a:pt x="1080507" y="34942"/>
                  </a:lnTo>
                  <a:lnTo>
                    <a:pt x="1128733" y="49841"/>
                  </a:lnTo>
                  <a:lnTo>
                    <a:pt x="1175588" y="67192"/>
                  </a:lnTo>
                  <a:lnTo>
                    <a:pt x="1220950" y="86915"/>
                  </a:lnTo>
                  <a:lnTo>
                    <a:pt x="1264700" y="108932"/>
                  </a:lnTo>
                  <a:lnTo>
                    <a:pt x="1306716" y="133162"/>
                  </a:lnTo>
                  <a:lnTo>
                    <a:pt x="1346878" y="159527"/>
                  </a:lnTo>
                  <a:lnTo>
                    <a:pt x="1385065" y="187948"/>
                  </a:lnTo>
                  <a:lnTo>
                    <a:pt x="1421156" y="218344"/>
                  </a:lnTo>
                  <a:lnTo>
                    <a:pt x="1455030" y="250637"/>
                  </a:lnTo>
                  <a:lnTo>
                    <a:pt x="1486567" y="284748"/>
                  </a:lnTo>
                  <a:lnTo>
                    <a:pt x="1515645" y="320597"/>
                  </a:lnTo>
                  <a:lnTo>
                    <a:pt x="1542144" y="358104"/>
                  </a:lnTo>
                  <a:lnTo>
                    <a:pt x="1565944" y="397192"/>
                  </a:lnTo>
                  <a:lnTo>
                    <a:pt x="1586923" y="437779"/>
                  </a:lnTo>
                  <a:lnTo>
                    <a:pt x="1604960" y="479788"/>
                  </a:lnTo>
                  <a:lnTo>
                    <a:pt x="1619935" y="523138"/>
                  </a:lnTo>
                  <a:lnTo>
                    <a:pt x="1669656" y="523138"/>
                  </a:lnTo>
                  <a:lnTo>
                    <a:pt x="1646072" y="697509"/>
                  </a:lnTo>
                  <a:lnTo>
                    <a:pt x="1570215" y="523138"/>
                  </a:lnTo>
                  <a:lnTo>
                    <a:pt x="1619935" y="523138"/>
                  </a:lnTo>
                  <a:lnTo>
                    <a:pt x="1604960" y="479788"/>
                  </a:lnTo>
                  <a:lnTo>
                    <a:pt x="1586923" y="437779"/>
                  </a:lnTo>
                  <a:lnTo>
                    <a:pt x="1565944" y="397192"/>
                  </a:lnTo>
                  <a:lnTo>
                    <a:pt x="1542144" y="358104"/>
                  </a:lnTo>
                  <a:lnTo>
                    <a:pt x="1515645" y="320597"/>
                  </a:lnTo>
                  <a:lnTo>
                    <a:pt x="1486567" y="284748"/>
                  </a:lnTo>
                  <a:lnTo>
                    <a:pt x="1455030" y="250637"/>
                  </a:lnTo>
                  <a:lnTo>
                    <a:pt x="1421156" y="218344"/>
                  </a:lnTo>
                  <a:lnTo>
                    <a:pt x="1385065" y="187948"/>
                  </a:lnTo>
                  <a:lnTo>
                    <a:pt x="1346878" y="159527"/>
                  </a:lnTo>
                  <a:lnTo>
                    <a:pt x="1306716" y="133162"/>
                  </a:lnTo>
                  <a:lnTo>
                    <a:pt x="1264700" y="108932"/>
                  </a:lnTo>
                  <a:lnTo>
                    <a:pt x="1220950" y="86915"/>
                  </a:lnTo>
                  <a:lnTo>
                    <a:pt x="1175588" y="67192"/>
                  </a:lnTo>
                  <a:lnTo>
                    <a:pt x="1128733" y="49841"/>
                  </a:lnTo>
                  <a:lnTo>
                    <a:pt x="1080507" y="34942"/>
                  </a:lnTo>
                  <a:lnTo>
                    <a:pt x="1031031" y="22574"/>
                  </a:lnTo>
                  <a:lnTo>
                    <a:pt x="980424" y="12817"/>
                  </a:lnTo>
                  <a:lnTo>
                    <a:pt x="928809" y="5749"/>
                  </a:lnTo>
                  <a:lnTo>
                    <a:pt x="876306" y="1450"/>
                  </a:lnTo>
                  <a:lnTo>
                    <a:pt x="823036" y="0"/>
                  </a:lnTo>
                </a:path>
              </a:pathLst>
            </a:custGeom>
            <a:ln w="19050">
              <a:solidFill>
                <a:srgbClr val="F0F8F9"/>
              </a:solidFill>
            </a:ln>
          </p:spPr>
          <p:txBody>
            <a:bodyPr wrap="square" lIns="0" tIns="0" rIns="0" bIns="0" rtlCol="0"/>
            <a:lstStyle/>
            <a:p/>
          </p:txBody>
        </p:sp>
        <p:pic>
          <p:nvPicPr>
            <p:cNvPr id="55" name="object 55" descr=""/>
            <p:cNvPicPr/>
            <p:nvPr/>
          </p:nvPicPr>
          <p:blipFill>
            <a:blip r:embed="rId19" cstate="print"/>
            <a:stretch>
              <a:fillRect/>
            </a:stretch>
          </p:blipFill>
          <p:spPr>
            <a:xfrm>
              <a:off x="3064764" y="1193291"/>
              <a:ext cx="1556765" cy="1268729"/>
            </a:xfrm>
            <a:prstGeom prst="rect">
              <a:avLst/>
            </a:prstGeom>
          </p:spPr>
        </p:pic>
        <p:pic>
          <p:nvPicPr>
            <p:cNvPr id="56" name="object 56" descr=""/>
            <p:cNvPicPr/>
            <p:nvPr/>
          </p:nvPicPr>
          <p:blipFill>
            <a:blip r:embed="rId15" cstate="print"/>
            <a:stretch>
              <a:fillRect/>
            </a:stretch>
          </p:blipFill>
          <p:spPr>
            <a:xfrm>
              <a:off x="3043428" y="1210055"/>
              <a:ext cx="1517903" cy="1063751"/>
            </a:xfrm>
            <a:prstGeom prst="rect">
              <a:avLst/>
            </a:prstGeom>
          </p:spPr>
        </p:pic>
        <p:sp>
          <p:nvSpPr>
            <p:cNvPr id="57" name="object 57" descr=""/>
            <p:cNvSpPr/>
            <p:nvPr/>
          </p:nvSpPr>
          <p:spPr>
            <a:xfrm>
              <a:off x="3096343" y="1224446"/>
              <a:ext cx="1440180" cy="1153160"/>
            </a:xfrm>
            <a:custGeom>
              <a:avLst/>
              <a:gdLst/>
              <a:ahLst/>
              <a:cxnLst/>
              <a:rect l="l" t="t" r="r" b="b"/>
              <a:pathLst>
                <a:path w="1440179" h="1153160">
                  <a:moveTo>
                    <a:pt x="1248016" y="0"/>
                  </a:moveTo>
                  <a:lnTo>
                    <a:pt x="192138" y="0"/>
                  </a:lnTo>
                  <a:lnTo>
                    <a:pt x="148084" y="5074"/>
                  </a:lnTo>
                  <a:lnTo>
                    <a:pt x="107643" y="19528"/>
                  </a:lnTo>
                  <a:lnTo>
                    <a:pt x="71968" y="42208"/>
                  </a:lnTo>
                  <a:lnTo>
                    <a:pt x="42212" y="71963"/>
                  </a:lnTo>
                  <a:lnTo>
                    <a:pt x="19530" y="107638"/>
                  </a:lnTo>
                  <a:lnTo>
                    <a:pt x="5074" y="148080"/>
                  </a:lnTo>
                  <a:lnTo>
                    <a:pt x="0" y="192138"/>
                  </a:lnTo>
                  <a:lnTo>
                    <a:pt x="0" y="960691"/>
                  </a:lnTo>
                  <a:lnTo>
                    <a:pt x="5074" y="1004749"/>
                  </a:lnTo>
                  <a:lnTo>
                    <a:pt x="19530" y="1045194"/>
                  </a:lnTo>
                  <a:lnTo>
                    <a:pt x="42212" y="1080871"/>
                  </a:lnTo>
                  <a:lnTo>
                    <a:pt x="71968" y="1110628"/>
                  </a:lnTo>
                  <a:lnTo>
                    <a:pt x="107643" y="1133311"/>
                  </a:lnTo>
                  <a:lnTo>
                    <a:pt x="148084" y="1147767"/>
                  </a:lnTo>
                  <a:lnTo>
                    <a:pt x="192138" y="1152842"/>
                  </a:lnTo>
                  <a:lnTo>
                    <a:pt x="1248016" y="1152842"/>
                  </a:lnTo>
                  <a:lnTo>
                    <a:pt x="1292073" y="1147767"/>
                  </a:lnTo>
                  <a:lnTo>
                    <a:pt x="1332516" y="1133311"/>
                  </a:lnTo>
                  <a:lnTo>
                    <a:pt x="1368191" y="1110628"/>
                  </a:lnTo>
                  <a:lnTo>
                    <a:pt x="1397945" y="1080871"/>
                  </a:lnTo>
                  <a:lnTo>
                    <a:pt x="1420626" y="1045194"/>
                  </a:lnTo>
                  <a:lnTo>
                    <a:pt x="1435080" y="1004749"/>
                  </a:lnTo>
                  <a:lnTo>
                    <a:pt x="1440154" y="960691"/>
                  </a:lnTo>
                  <a:lnTo>
                    <a:pt x="1440154" y="192138"/>
                  </a:lnTo>
                  <a:lnTo>
                    <a:pt x="1435080" y="148080"/>
                  </a:lnTo>
                  <a:lnTo>
                    <a:pt x="1420626" y="107638"/>
                  </a:lnTo>
                  <a:lnTo>
                    <a:pt x="1397945" y="71963"/>
                  </a:lnTo>
                  <a:lnTo>
                    <a:pt x="1368191" y="42208"/>
                  </a:lnTo>
                  <a:lnTo>
                    <a:pt x="1332516" y="19528"/>
                  </a:lnTo>
                  <a:lnTo>
                    <a:pt x="1292073" y="5074"/>
                  </a:lnTo>
                  <a:lnTo>
                    <a:pt x="1248016" y="0"/>
                  </a:lnTo>
                  <a:close/>
                </a:path>
              </a:pathLst>
            </a:custGeom>
            <a:solidFill>
              <a:srgbClr val="FFFFFF"/>
            </a:solidFill>
          </p:spPr>
          <p:txBody>
            <a:bodyPr wrap="square" lIns="0" tIns="0" rIns="0" bIns="0" rtlCol="0"/>
            <a:lstStyle/>
            <a:p/>
          </p:txBody>
        </p:sp>
        <p:sp>
          <p:nvSpPr>
            <p:cNvPr id="58" name="object 58" descr=""/>
            <p:cNvSpPr/>
            <p:nvPr/>
          </p:nvSpPr>
          <p:spPr>
            <a:xfrm>
              <a:off x="3096343" y="1224446"/>
              <a:ext cx="1440180" cy="1153160"/>
            </a:xfrm>
            <a:custGeom>
              <a:avLst/>
              <a:gdLst/>
              <a:ahLst/>
              <a:cxnLst/>
              <a:rect l="l" t="t" r="r" b="b"/>
              <a:pathLst>
                <a:path w="1440179" h="1153160">
                  <a:moveTo>
                    <a:pt x="0" y="192138"/>
                  </a:moveTo>
                  <a:lnTo>
                    <a:pt x="5074" y="148080"/>
                  </a:lnTo>
                  <a:lnTo>
                    <a:pt x="19530" y="107638"/>
                  </a:lnTo>
                  <a:lnTo>
                    <a:pt x="42212" y="71963"/>
                  </a:lnTo>
                  <a:lnTo>
                    <a:pt x="71968" y="42208"/>
                  </a:lnTo>
                  <a:lnTo>
                    <a:pt x="107643" y="19528"/>
                  </a:lnTo>
                  <a:lnTo>
                    <a:pt x="148084" y="5074"/>
                  </a:lnTo>
                  <a:lnTo>
                    <a:pt x="192138" y="0"/>
                  </a:lnTo>
                  <a:lnTo>
                    <a:pt x="1248016" y="0"/>
                  </a:lnTo>
                  <a:lnTo>
                    <a:pt x="1292073" y="5074"/>
                  </a:lnTo>
                  <a:lnTo>
                    <a:pt x="1332516" y="19528"/>
                  </a:lnTo>
                  <a:lnTo>
                    <a:pt x="1368191" y="42208"/>
                  </a:lnTo>
                  <a:lnTo>
                    <a:pt x="1397945" y="71963"/>
                  </a:lnTo>
                  <a:lnTo>
                    <a:pt x="1420626" y="107638"/>
                  </a:lnTo>
                  <a:lnTo>
                    <a:pt x="1435080" y="148080"/>
                  </a:lnTo>
                  <a:lnTo>
                    <a:pt x="1440154" y="192138"/>
                  </a:lnTo>
                  <a:lnTo>
                    <a:pt x="1440154" y="960691"/>
                  </a:lnTo>
                  <a:lnTo>
                    <a:pt x="1435080" y="1004749"/>
                  </a:lnTo>
                  <a:lnTo>
                    <a:pt x="1420626" y="1045194"/>
                  </a:lnTo>
                  <a:lnTo>
                    <a:pt x="1397945" y="1080871"/>
                  </a:lnTo>
                  <a:lnTo>
                    <a:pt x="1368191" y="1110628"/>
                  </a:lnTo>
                  <a:lnTo>
                    <a:pt x="1332516" y="1133311"/>
                  </a:lnTo>
                  <a:lnTo>
                    <a:pt x="1292073" y="1147767"/>
                  </a:lnTo>
                  <a:lnTo>
                    <a:pt x="1248016" y="1152842"/>
                  </a:lnTo>
                  <a:lnTo>
                    <a:pt x="192138" y="1152842"/>
                  </a:lnTo>
                  <a:lnTo>
                    <a:pt x="148084" y="1147767"/>
                  </a:lnTo>
                  <a:lnTo>
                    <a:pt x="107643" y="1133311"/>
                  </a:lnTo>
                  <a:lnTo>
                    <a:pt x="71968" y="1110628"/>
                  </a:lnTo>
                  <a:lnTo>
                    <a:pt x="42212" y="1080871"/>
                  </a:lnTo>
                  <a:lnTo>
                    <a:pt x="19530" y="1045194"/>
                  </a:lnTo>
                  <a:lnTo>
                    <a:pt x="5074" y="1004749"/>
                  </a:lnTo>
                  <a:lnTo>
                    <a:pt x="0" y="960691"/>
                  </a:lnTo>
                  <a:lnTo>
                    <a:pt x="0" y="192138"/>
                  </a:lnTo>
                  <a:close/>
                </a:path>
              </a:pathLst>
            </a:custGeom>
            <a:ln w="12700">
              <a:solidFill>
                <a:srgbClr val="0070C0"/>
              </a:solidFill>
            </a:ln>
          </p:spPr>
          <p:txBody>
            <a:bodyPr wrap="square" lIns="0" tIns="0" rIns="0" bIns="0" rtlCol="0"/>
            <a:lstStyle/>
            <a:p/>
          </p:txBody>
        </p:sp>
        <p:pic>
          <p:nvPicPr>
            <p:cNvPr id="59" name="object 59" descr=""/>
            <p:cNvPicPr/>
            <p:nvPr/>
          </p:nvPicPr>
          <p:blipFill>
            <a:blip r:embed="rId20" cstate="print"/>
            <a:stretch>
              <a:fillRect/>
            </a:stretch>
          </p:blipFill>
          <p:spPr>
            <a:xfrm>
              <a:off x="3281172" y="2201418"/>
              <a:ext cx="1124711" cy="404621"/>
            </a:xfrm>
            <a:prstGeom prst="rect">
              <a:avLst/>
            </a:prstGeom>
          </p:spPr>
        </p:pic>
        <p:pic>
          <p:nvPicPr>
            <p:cNvPr id="60" name="object 60" descr=""/>
            <p:cNvPicPr/>
            <p:nvPr/>
          </p:nvPicPr>
          <p:blipFill>
            <a:blip r:embed="rId13" cstate="print"/>
            <a:stretch>
              <a:fillRect/>
            </a:stretch>
          </p:blipFill>
          <p:spPr>
            <a:xfrm>
              <a:off x="3329940" y="2183130"/>
              <a:ext cx="1076704" cy="378713"/>
            </a:xfrm>
            <a:prstGeom prst="rect">
              <a:avLst/>
            </a:prstGeom>
          </p:spPr>
        </p:pic>
        <p:sp>
          <p:nvSpPr>
            <p:cNvPr id="61" name="object 61" descr=""/>
            <p:cNvSpPr/>
            <p:nvPr/>
          </p:nvSpPr>
          <p:spPr>
            <a:xfrm>
              <a:off x="3312368" y="2232552"/>
              <a:ext cx="1008380" cy="288290"/>
            </a:xfrm>
            <a:custGeom>
              <a:avLst/>
              <a:gdLst/>
              <a:ahLst/>
              <a:cxnLst/>
              <a:rect l="l" t="t" r="r" b="b"/>
              <a:pathLst>
                <a:path w="1008379" h="288289">
                  <a:moveTo>
                    <a:pt x="960107" y="0"/>
                  </a:moveTo>
                  <a:lnTo>
                    <a:pt x="48006" y="0"/>
                  </a:lnTo>
                  <a:lnTo>
                    <a:pt x="29317" y="3771"/>
                  </a:lnTo>
                  <a:lnTo>
                    <a:pt x="14058" y="14058"/>
                  </a:lnTo>
                  <a:lnTo>
                    <a:pt x="3771" y="29317"/>
                  </a:lnTo>
                  <a:lnTo>
                    <a:pt x="0" y="48006"/>
                  </a:lnTo>
                  <a:lnTo>
                    <a:pt x="0" y="240029"/>
                  </a:lnTo>
                  <a:lnTo>
                    <a:pt x="3771" y="258712"/>
                  </a:lnTo>
                  <a:lnTo>
                    <a:pt x="14058" y="273972"/>
                  </a:lnTo>
                  <a:lnTo>
                    <a:pt x="29317" y="284262"/>
                  </a:lnTo>
                  <a:lnTo>
                    <a:pt x="48006" y="288036"/>
                  </a:lnTo>
                  <a:lnTo>
                    <a:pt x="960107" y="288036"/>
                  </a:lnTo>
                  <a:lnTo>
                    <a:pt x="978795" y="284262"/>
                  </a:lnTo>
                  <a:lnTo>
                    <a:pt x="994054" y="273972"/>
                  </a:lnTo>
                  <a:lnTo>
                    <a:pt x="1004341" y="258712"/>
                  </a:lnTo>
                  <a:lnTo>
                    <a:pt x="1008113" y="240029"/>
                  </a:lnTo>
                  <a:lnTo>
                    <a:pt x="1008113" y="48006"/>
                  </a:lnTo>
                  <a:lnTo>
                    <a:pt x="1004341" y="29317"/>
                  </a:lnTo>
                  <a:lnTo>
                    <a:pt x="994054" y="14058"/>
                  </a:lnTo>
                  <a:lnTo>
                    <a:pt x="978795" y="3771"/>
                  </a:lnTo>
                  <a:lnTo>
                    <a:pt x="960107" y="0"/>
                  </a:lnTo>
                  <a:close/>
                </a:path>
              </a:pathLst>
            </a:custGeom>
            <a:solidFill>
              <a:srgbClr val="FFFFFF"/>
            </a:solidFill>
          </p:spPr>
          <p:txBody>
            <a:bodyPr wrap="square" lIns="0" tIns="0" rIns="0" bIns="0" rtlCol="0"/>
            <a:lstStyle/>
            <a:p/>
          </p:txBody>
        </p:sp>
        <p:sp>
          <p:nvSpPr>
            <p:cNvPr id="62" name="object 62" descr=""/>
            <p:cNvSpPr/>
            <p:nvPr/>
          </p:nvSpPr>
          <p:spPr>
            <a:xfrm>
              <a:off x="3312368" y="2232552"/>
              <a:ext cx="1008380" cy="288290"/>
            </a:xfrm>
            <a:custGeom>
              <a:avLst/>
              <a:gdLst/>
              <a:ahLst/>
              <a:cxnLst/>
              <a:rect l="l" t="t" r="r" b="b"/>
              <a:pathLst>
                <a:path w="1008379" h="288289">
                  <a:moveTo>
                    <a:pt x="0" y="48006"/>
                  </a:moveTo>
                  <a:lnTo>
                    <a:pt x="3771" y="29317"/>
                  </a:lnTo>
                  <a:lnTo>
                    <a:pt x="14058" y="14058"/>
                  </a:lnTo>
                  <a:lnTo>
                    <a:pt x="29317" y="3771"/>
                  </a:lnTo>
                  <a:lnTo>
                    <a:pt x="48006" y="0"/>
                  </a:lnTo>
                  <a:lnTo>
                    <a:pt x="960107" y="0"/>
                  </a:lnTo>
                  <a:lnTo>
                    <a:pt x="978795" y="3771"/>
                  </a:lnTo>
                  <a:lnTo>
                    <a:pt x="994054" y="14058"/>
                  </a:lnTo>
                  <a:lnTo>
                    <a:pt x="1004341" y="29317"/>
                  </a:lnTo>
                  <a:lnTo>
                    <a:pt x="1008113" y="48006"/>
                  </a:lnTo>
                  <a:lnTo>
                    <a:pt x="1008113" y="240029"/>
                  </a:lnTo>
                  <a:lnTo>
                    <a:pt x="1004341" y="258712"/>
                  </a:lnTo>
                  <a:lnTo>
                    <a:pt x="994054" y="273972"/>
                  </a:lnTo>
                  <a:lnTo>
                    <a:pt x="978795" y="284262"/>
                  </a:lnTo>
                  <a:lnTo>
                    <a:pt x="960107" y="288036"/>
                  </a:lnTo>
                  <a:lnTo>
                    <a:pt x="48006" y="288036"/>
                  </a:lnTo>
                  <a:lnTo>
                    <a:pt x="29317" y="284262"/>
                  </a:lnTo>
                  <a:lnTo>
                    <a:pt x="14058" y="273972"/>
                  </a:lnTo>
                  <a:lnTo>
                    <a:pt x="3771" y="258712"/>
                  </a:lnTo>
                  <a:lnTo>
                    <a:pt x="0" y="240029"/>
                  </a:lnTo>
                  <a:lnTo>
                    <a:pt x="0" y="48006"/>
                  </a:lnTo>
                  <a:close/>
                </a:path>
              </a:pathLst>
            </a:custGeom>
            <a:ln w="12700">
              <a:solidFill>
                <a:srgbClr val="0070C0"/>
              </a:solidFill>
            </a:ln>
          </p:spPr>
          <p:txBody>
            <a:bodyPr wrap="square" lIns="0" tIns="0" rIns="0" bIns="0" rtlCol="0"/>
            <a:lstStyle/>
            <a:p/>
          </p:txBody>
        </p:sp>
      </p:grpSp>
      <p:sp>
        <p:nvSpPr>
          <p:cNvPr id="63" name="object 63" descr=""/>
          <p:cNvSpPr txBox="1"/>
          <p:nvPr/>
        </p:nvSpPr>
        <p:spPr>
          <a:xfrm>
            <a:off x="3139921" y="1272589"/>
            <a:ext cx="1263650" cy="1220470"/>
          </a:xfrm>
          <a:prstGeom prst="rect">
            <a:avLst/>
          </a:prstGeom>
        </p:spPr>
        <p:txBody>
          <a:bodyPr wrap="square" lIns="0" tIns="12700" rIns="0" bIns="0" rtlCol="0" vert="horz">
            <a:spAutoFit/>
          </a:bodyPr>
          <a:lstStyle/>
          <a:p>
            <a:pPr marL="184150" marR="5080" indent="-171450">
              <a:lnSpc>
                <a:spcPct val="100000"/>
              </a:lnSpc>
              <a:spcBef>
                <a:spcPts val="100"/>
              </a:spcBef>
              <a:buFont typeface="Arial MT"/>
              <a:buChar char="•"/>
              <a:tabLst>
                <a:tab pos="184150" algn="l"/>
              </a:tabLst>
            </a:pPr>
            <a:r>
              <a:rPr dirty="0" sz="1200">
                <a:latin typeface="SimSun"/>
                <a:cs typeface="SimSun"/>
              </a:rPr>
              <a:t>DCI与PDSCH</a:t>
            </a:r>
            <a:r>
              <a:rPr dirty="0" sz="1200" spc="-25">
                <a:latin typeface="SimSun"/>
                <a:cs typeface="SimSun"/>
              </a:rPr>
              <a:t>的间</a:t>
            </a:r>
            <a:r>
              <a:rPr dirty="0" sz="1200" spc="-50">
                <a:latin typeface="SimSun"/>
                <a:cs typeface="SimSun"/>
              </a:rPr>
              <a:t>隔</a:t>
            </a:r>
            <a:endParaRPr sz="1200">
              <a:latin typeface="SimSun"/>
              <a:cs typeface="SimSun"/>
            </a:endParaRPr>
          </a:p>
          <a:p>
            <a:pPr marL="184150" marR="5080" indent="-171450">
              <a:lnSpc>
                <a:spcPct val="100000"/>
              </a:lnSpc>
              <a:buFont typeface="Arial MT"/>
              <a:buChar char="•"/>
              <a:tabLst>
                <a:tab pos="184150" algn="l"/>
              </a:tabLst>
            </a:pPr>
            <a:r>
              <a:rPr dirty="0" sz="1200">
                <a:latin typeface="SimSun"/>
                <a:cs typeface="SimSun"/>
              </a:rPr>
              <a:t>UCI与PUSCH</a:t>
            </a:r>
            <a:r>
              <a:rPr dirty="0" sz="1200" spc="-25">
                <a:latin typeface="SimSun"/>
                <a:cs typeface="SimSun"/>
              </a:rPr>
              <a:t>的间</a:t>
            </a:r>
            <a:r>
              <a:rPr dirty="0" sz="1200" spc="-50">
                <a:latin typeface="SimSun"/>
                <a:cs typeface="SimSun"/>
              </a:rPr>
              <a:t>隔</a:t>
            </a:r>
            <a:endParaRPr sz="1200">
              <a:latin typeface="SimSun"/>
              <a:cs typeface="SimSun"/>
            </a:endParaRPr>
          </a:p>
          <a:p>
            <a:pPr marL="184785" indent="-172085">
              <a:lnSpc>
                <a:spcPct val="100000"/>
              </a:lnSpc>
              <a:buFont typeface="Arial MT"/>
              <a:buChar char="•"/>
              <a:tabLst>
                <a:tab pos="184785" algn="l"/>
              </a:tabLst>
            </a:pPr>
            <a:r>
              <a:rPr dirty="0" sz="1200">
                <a:latin typeface="SimSun"/>
                <a:cs typeface="SimSun"/>
              </a:rPr>
              <a:t>HARQ</a:t>
            </a:r>
            <a:r>
              <a:rPr dirty="0" sz="1200" spc="-20">
                <a:latin typeface="SimSun"/>
                <a:cs typeface="SimSun"/>
              </a:rPr>
              <a:t>进程数</a:t>
            </a:r>
            <a:endParaRPr sz="1200">
              <a:latin typeface="SimSun"/>
              <a:cs typeface="SimSun"/>
            </a:endParaRPr>
          </a:p>
          <a:p>
            <a:pPr marL="321310">
              <a:lnSpc>
                <a:spcPct val="100000"/>
              </a:lnSpc>
              <a:spcBef>
                <a:spcPts val="525"/>
              </a:spcBef>
            </a:pPr>
            <a:r>
              <a:rPr dirty="0" sz="1400" spc="-30">
                <a:solidFill>
                  <a:srgbClr val="C00000"/>
                </a:solidFill>
                <a:latin typeface="SimSun"/>
                <a:cs typeface="SimSun"/>
              </a:rPr>
              <a:t>调度时序</a:t>
            </a:r>
            <a:endParaRPr sz="1400">
              <a:latin typeface="SimSun"/>
              <a:cs typeface="SimSun"/>
            </a:endParaRPr>
          </a:p>
        </p:txBody>
      </p:sp>
      <p:grpSp>
        <p:nvGrpSpPr>
          <p:cNvPr id="64" name="object 64" descr=""/>
          <p:cNvGrpSpPr/>
          <p:nvPr/>
        </p:nvGrpSpPr>
        <p:grpSpPr>
          <a:xfrm>
            <a:off x="4555235" y="1048511"/>
            <a:ext cx="1594485" cy="1270000"/>
            <a:chOff x="4555235" y="1048511"/>
            <a:chExt cx="1594485" cy="1270000"/>
          </a:xfrm>
        </p:grpSpPr>
        <p:pic>
          <p:nvPicPr>
            <p:cNvPr id="65" name="object 65" descr=""/>
            <p:cNvPicPr/>
            <p:nvPr/>
          </p:nvPicPr>
          <p:blipFill>
            <a:blip r:embed="rId21" cstate="print"/>
            <a:stretch>
              <a:fillRect/>
            </a:stretch>
          </p:blipFill>
          <p:spPr>
            <a:xfrm>
              <a:off x="4577333" y="1048511"/>
              <a:ext cx="1556764" cy="1269491"/>
            </a:xfrm>
            <a:prstGeom prst="rect">
              <a:avLst/>
            </a:prstGeom>
          </p:spPr>
        </p:pic>
        <p:pic>
          <p:nvPicPr>
            <p:cNvPr id="66" name="object 66" descr=""/>
            <p:cNvPicPr/>
            <p:nvPr/>
          </p:nvPicPr>
          <p:blipFill>
            <a:blip r:embed="rId22" cstate="print"/>
            <a:stretch>
              <a:fillRect/>
            </a:stretch>
          </p:blipFill>
          <p:spPr>
            <a:xfrm>
              <a:off x="4555235" y="1556765"/>
              <a:ext cx="1594103" cy="697991"/>
            </a:xfrm>
            <a:prstGeom prst="rect">
              <a:avLst/>
            </a:prstGeom>
          </p:spPr>
        </p:pic>
        <p:sp>
          <p:nvSpPr>
            <p:cNvPr id="67" name="object 67" descr=""/>
            <p:cNvSpPr/>
            <p:nvPr/>
          </p:nvSpPr>
          <p:spPr>
            <a:xfrm>
              <a:off x="4608512" y="1079714"/>
              <a:ext cx="1440180" cy="1153160"/>
            </a:xfrm>
            <a:custGeom>
              <a:avLst/>
              <a:gdLst/>
              <a:ahLst/>
              <a:cxnLst/>
              <a:rect l="l" t="t" r="r" b="b"/>
              <a:pathLst>
                <a:path w="1440179" h="1153160">
                  <a:moveTo>
                    <a:pt x="1248016" y="0"/>
                  </a:moveTo>
                  <a:lnTo>
                    <a:pt x="192138" y="0"/>
                  </a:lnTo>
                  <a:lnTo>
                    <a:pt x="148084" y="5074"/>
                  </a:lnTo>
                  <a:lnTo>
                    <a:pt x="107643" y="19528"/>
                  </a:lnTo>
                  <a:lnTo>
                    <a:pt x="71968" y="42208"/>
                  </a:lnTo>
                  <a:lnTo>
                    <a:pt x="42212" y="71963"/>
                  </a:lnTo>
                  <a:lnTo>
                    <a:pt x="19530" y="107638"/>
                  </a:lnTo>
                  <a:lnTo>
                    <a:pt x="5074" y="148080"/>
                  </a:lnTo>
                  <a:lnTo>
                    <a:pt x="0" y="192138"/>
                  </a:lnTo>
                  <a:lnTo>
                    <a:pt x="0" y="960691"/>
                  </a:lnTo>
                  <a:lnTo>
                    <a:pt x="5074" y="1004749"/>
                  </a:lnTo>
                  <a:lnTo>
                    <a:pt x="19530" y="1045194"/>
                  </a:lnTo>
                  <a:lnTo>
                    <a:pt x="42212" y="1080871"/>
                  </a:lnTo>
                  <a:lnTo>
                    <a:pt x="71968" y="1110628"/>
                  </a:lnTo>
                  <a:lnTo>
                    <a:pt x="107643" y="1133311"/>
                  </a:lnTo>
                  <a:lnTo>
                    <a:pt x="148084" y="1147767"/>
                  </a:lnTo>
                  <a:lnTo>
                    <a:pt x="192138" y="1152842"/>
                  </a:lnTo>
                  <a:lnTo>
                    <a:pt x="1248016" y="1152842"/>
                  </a:lnTo>
                  <a:lnTo>
                    <a:pt x="1292073" y="1147767"/>
                  </a:lnTo>
                  <a:lnTo>
                    <a:pt x="1332516" y="1133311"/>
                  </a:lnTo>
                  <a:lnTo>
                    <a:pt x="1368191" y="1110628"/>
                  </a:lnTo>
                  <a:lnTo>
                    <a:pt x="1397945" y="1080871"/>
                  </a:lnTo>
                  <a:lnTo>
                    <a:pt x="1420626" y="1045194"/>
                  </a:lnTo>
                  <a:lnTo>
                    <a:pt x="1435080" y="1004749"/>
                  </a:lnTo>
                  <a:lnTo>
                    <a:pt x="1440154" y="960691"/>
                  </a:lnTo>
                  <a:lnTo>
                    <a:pt x="1440154" y="192138"/>
                  </a:lnTo>
                  <a:lnTo>
                    <a:pt x="1435080" y="148080"/>
                  </a:lnTo>
                  <a:lnTo>
                    <a:pt x="1420626" y="107638"/>
                  </a:lnTo>
                  <a:lnTo>
                    <a:pt x="1397945" y="71963"/>
                  </a:lnTo>
                  <a:lnTo>
                    <a:pt x="1368191" y="42208"/>
                  </a:lnTo>
                  <a:lnTo>
                    <a:pt x="1332516" y="19528"/>
                  </a:lnTo>
                  <a:lnTo>
                    <a:pt x="1292073" y="5074"/>
                  </a:lnTo>
                  <a:lnTo>
                    <a:pt x="1248016" y="0"/>
                  </a:lnTo>
                  <a:close/>
                </a:path>
              </a:pathLst>
            </a:custGeom>
            <a:solidFill>
              <a:srgbClr val="FFFFFF"/>
            </a:solidFill>
          </p:spPr>
          <p:txBody>
            <a:bodyPr wrap="square" lIns="0" tIns="0" rIns="0" bIns="0" rtlCol="0"/>
            <a:lstStyle/>
            <a:p/>
          </p:txBody>
        </p:sp>
        <p:sp>
          <p:nvSpPr>
            <p:cNvPr id="68" name="object 68" descr=""/>
            <p:cNvSpPr/>
            <p:nvPr/>
          </p:nvSpPr>
          <p:spPr>
            <a:xfrm>
              <a:off x="4608512" y="1079714"/>
              <a:ext cx="1440180" cy="1153160"/>
            </a:xfrm>
            <a:custGeom>
              <a:avLst/>
              <a:gdLst/>
              <a:ahLst/>
              <a:cxnLst/>
              <a:rect l="l" t="t" r="r" b="b"/>
              <a:pathLst>
                <a:path w="1440179" h="1153160">
                  <a:moveTo>
                    <a:pt x="0" y="192138"/>
                  </a:moveTo>
                  <a:lnTo>
                    <a:pt x="5074" y="148080"/>
                  </a:lnTo>
                  <a:lnTo>
                    <a:pt x="19530" y="107638"/>
                  </a:lnTo>
                  <a:lnTo>
                    <a:pt x="42212" y="71963"/>
                  </a:lnTo>
                  <a:lnTo>
                    <a:pt x="71968" y="42208"/>
                  </a:lnTo>
                  <a:lnTo>
                    <a:pt x="107643" y="19528"/>
                  </a:lnTo>
                  <a:lnTo>
                    <a:pt x="148084" y="5074"/>
                  </a:lnTo>
                  <a:lnTo>
                    <a:pt x="192138" y="0"/>
                  </a:lnTo>
                  <a:lnTo>
                    <a:pt x="1248016" y="0"/>
                  </a:lnTo>
                  <a:lnTo>
                    <a:pt x="1292073" y="5074"/>
                  </a:lnTo>
                  <a:lnTo>
                    <a:pt x="1332516" y="19528"/>
                  </a:lnTo>
                  <a:lnTo>
                    <a:pt x="1368191" y="42208"/>
                  </a:lnTo>
                  <a:lnTo>
                    <a:pt x="1397945" y="71963"/>
                  </a:lnTo>
                  <a:lnTo>
                    <a:pt x="1420626" y="107638"/>
                  </a:lnTo>
                  <a:lnTo>
                    <a:pt x="1435080" y="148080"/>
                  </a:lnTo>
                  <a:lnTo>
                    <a:pt x="1440154" y="192138"/>
                  </a:lnTo>
                  <a:lnTo>
                    <a:pt x="1440154" y="960691"/>
                  </a:lnTo>
                  <a:lnTo>
                    <a:pt x="1435080" y="1004749"/>
                  </a:lnTo>
                  <a:lnTo>
                    <a:pt x="1420626" y="1045194"/>
                  </a:lnTo>
                  <a:lnTo>
                    <a:pt x="1397945" y="1080871"/>
                  </a:lnTo>
                  <a:lnTo>
                    <a:pt x="1368191" y="1110628"/>
                  </a:lnTo>
                  <a:lnTo>
                    <a:pt x="1332516" y="1133311"/>
                  </a:lnTo>
                  <a:lnTo>
                    <a:pt x="1292073" y="1147767"/>
                  </a:lnTo>
                  <a:lnTo>
                    <a:pt x="1248016" y="1152842"/>
                  </a:lnTo>
                  <a:lnTo>
                    <a:pt x="192138" y="1152842"/>
                  </a:lnTo>
                  <a:lnTo>
                    <a:pt x="148084" y="1147767"/>
                  </a:lnTo>
                  <a:lnTo>
                    <a:pt x="107643" y="1133311"/>
                  </a:lnTo>
                  <a:lnTo>
                    <a:pt x="71968" y="1110628"/>
                  </a:lnTo>
                  <a:lnTo>
                    <a:pt x="42212" y="1080871"/>
                  </a:lnTo>
                  <a:lnTo>
                    <a:pt x="19530" y="1045194"/>
                  </a:lnTo>
                  <a:lnTo>
                    <a:pt x="5074" y="1004749"/>
                  </a:lnTo>
                  <a:lnTo>
                    <a:pt x="0" y="960691"/>
                  </a:lnTo>
                  <a:lnTo>
                    <a:pt x="0" y="192138"/>
                  </a:lnTo>
                  <a:close/>
                </a:path>
              </a:pathLst>
            </a:custGeom>
            <a:ln w="12700">
              <a:solidFill>
                <a:srgbClr val="0070C0"/>
              </a:solidFill>
            </a:ln>
          </p:spPr>
          <p:txBody>
            <a:bodyPr wrap="square" lIns="0" tIns="0" rIns="0" bIns="0" rtlCol="0"/>
            <a:lstStyle/>
            <a:p/>
          </p:txBody>
        </p:sp>
      </p:grpSp>
      <p:sp>
        <p:nvSpPr>
          <p:cNvPr id="69" name="object 69" descr=""/>
          <p:cNvSpPr txBox="1"/>
          <p:nvPr/>
        </p:nvSpPr>
        <p:spPr>
          <a:xfrm>
            <a:off x="4652088" y="1619506"/>
            <a:ext cx="1339850" cy="574040"/>
          </a:xfrm>
          <a:prstGeom prst="rect">
            <a:avLst/>
          </a:prstGeom>
        </p:spPr>
        <p:txBody>
          <a:bodyPr wrap="square" lIns="0" tIns="12700" rIns="0" bIns="0" rtlCol="0" vert="horz">
            <a:spAutoFit/>
          </a:bodyPr>
          <a:lstStyle/>
          <a:p>
            <a:pPr marL="184785" indent="-172085">
              <a:lnSpc>
                <a:spcPct val="100000"/>
              </a:lnSpc>
              <a:spcBef>
                <a:spcPts val="100"/>
              </a:spcBef>
              <a:buFont typeface="Arial MT"/>
              <a:buChar char="•"/>
              <a:tabLst>
                <a:tab pos="184785" algn="l"/>
              </a:tabLst>
            </a:pPr>
            <a:r>
              <a:rPr dirty="0" sz="1200">
                <a:latin typeface="SimSun"/>
                <a:cs typeface="SimSun"/>
              </a:rPr>
              <a:t>下行</a:t>
            </a:r>
            <a:r>
              <a:rPr dirty="0" sz="1200" spc="-10">
                <a:latin typeface="SimSun"/>
                <a:cs typeface="SimSun"/>
              </a:rPr>
              <a:t>256QAM</a:t>
            </a:r>
            <a:endParaRPr sz="1200">
              <a:latin typeface="SimSun"/>
              <a:cs typeface="SimSun"/>
            </a:endParaRPr>
          </a:p>
          <a:p>
            <a:pPr marL="184150" marR="5080" indent="-171450">
              <a:lnSpc>
                <a:spcPct val="100000"/>
              </a:lnSpc>
              <a:buFont typeface="Arial MT"/>
              <a:buChar char="•"/>
              <a:tabLst>
                <a:tab pos="184150" algn="l"/>
              </a:tabLst>
            </a:pPr>
            <a:r>
              <a:rPr dirty="0" sz="1200">
                <a:latin typeface="SimSun"/>
                <a:cs typeface="SimSun"/>
              </a:rPr>
              <a:t>上行64QAM，</a:t>
            </a:r>
            <a:r>
              <a:rPr dirty="0" sz="1200" spc="-25">
                <a:latin typeface="SimSun"/>
                <a:cs typeface="SimSun"/>
              </a:rPr>
              <a:t>后续</a:t>
            </a:r>
            <a:r>
              <a:rPr dirty="0" sz="1200">
                <a:latin typeface="SimSun"/>
                <a:cs typeface="SimSun"/>
              </a:rPr>
              <a:t>支持</a:t>
            </a:r>
            <a:r>
              <a:rPr dirty="0" sz="1200" spc="-10">
                <a:latin typeface="SimSun"/>
                <a:cs typeface="SimSun"/>
              </a:rPr>
              <a:t>256QAM</a:t>
            </a:r>
            <a:endParaRPr sz="1200">
              <a:latin typeface="SimSun"/>
              <a:cs typeface="SimSun"/>
            </a:endParaRPr>
          </a:p>
        </p:txBody>
      </p:sp>
      <p:grpSp>
        <p:nvGrpSpPr>
          <p:cNvPr id="70" name="object 70" descr=""/>
          <p:cNvGrpSpPr/>
          <p:nvPr/>
        </p:nvGrpSpPr>
        <p:grpSpPr>
          <a:xfrm>
            <a:off x="4811267" y="886205"/>
            <a:ext cx="1098550" cy="422909"/>
            <a:chOff x="4811267" y="886205"/>
            <a:chExt cx="1098550" cy="422909"/>
          </a:xfrm>
        </p:grpSpPr>
        <p:pic>
          <p:nvPicPr>
            <p:cNvPr id="71" name="object 71" descr=""/>
            <p:cNvPicPr/>
            <p:nvPr/>
          </p:nvPicPr>
          <p:blipFill>
            <a:blip r:embed="rId23" cstate="print"/>
            <a:stretch>
              <a:fillRect/>
            </a:stretch>
          </p:blipFill>
          <p:spPr>
            <a:xfrm>
              <a:off x="4811267" y="904494"/>
              <a:ext cx="1070609" cy="404621"/>
            </a:xfrm>
            <a:prstGeom prst="rect">
              <a:avLst/>
            </a:prstGeom>
          </p:spPr>
        </p:pic>
        <p:pic>
          <p:nvPicPr>
            <p:cNvPr id="72" name="object 72" descr=""/>
            <p:cNvPicPr/>
            <p:nvPr/>
          </p:nvPicPr>
          <p:blipFill>
            <a:blip r:embed="rId13" cstate="print"/>
            <a:stretch>
              <a:fillRect/>
            </a:stretch>
          </p:blipFill>
          <p:spPr>
            <a:xfrm>
              <a:off x="4832603" y="886205"/>
              <a:ext cx="1076705" cy="378713"/>
            </a:xfrm>
            <a:prstGeom prst="rect">
              <a:avLst/>
            </a:prstGeom>
          </p:spPr>
        </p:pic>
        <p:sp>
          <p:nvSpPr>
            <p:cNvPr id="73" name="object 73" descr=""/>
            <p:cNvSpPr/>
            <p:nvPr/>
          </p:nvSpPr>
          <p:spPr>
            <a:xfrm>
              <a:off x="4842465" y="935692"/>
              <a:ext cx="954405" cy="288290"/>
            </a:xfrm>
            <a:custGeom>
              <a:avLst/>
              <a:gdLst/>
              <a:ahLst/>
              <a:cxnLst/>
              <a:rect l="l" t="t" r="r" b="b"/>
              <a:pathLst>
                <a:path w="954404" h="288290">
                  <a:moveTo>
                    <a:pt x="906030" y="0"/>
                  </a:moveTo>
                  <a:lnTo>
                    <a:pt x="48006" y="0"/>
                  </a:lnTo>
                  <a:lnTo>
                    <a:pt x="29317" y="3771"/>
                  </a:lnTo>
                  <a:lnTo>
                    <a:pt x="14058" y="14058"/>
                  </a:lnTo>
                  <a:lnTo>
                    <a:pt x="3771" y="29317"/>
                  </a:lnTo>
                  <a:lnTo>
                    <a:pt x="0" y="48005"/>
                  </a:lnTo>
                  <a:lnTo>
                    <a:pt x="0" y="240029"/>
                  </a:lnTo>
                  <a:lnTo>
                    <a:pt x="3771" y="258712"/>
                  </a:lnTo>
                  <a:lnTo>
                    <a:pt x="14058" y="273972"/>
                  </a:lnTo>
                  <a:lnTo>
                    <a:pt x="29317" y="284262"/>
                  </a:lnTo>
                  <a:lnTo>
                    <a:pt x="48006" y="288035"/>
                  </a:lnTo>
                  <a:lnTo>
                    <a:pt x="906030" y="288035"/>
                  </a:lnTo>
                  <a:lnTo>
                    <a:pt x="924713" y="284262"/>
                  </a:lnTo>
                  <a:lnTo>
                    <a:pt x="939973" y="273972"/>
                  </a:lnTo>
                  <a:lnTo>
                    <a:pt x="950263" y="258712"/>
                  </a:lnTo>
                  <a:lnTo>
                    <a:pt x="954036" y="240029"/>
                  </a:lnTo>
                  <a:lnTo>
                    <a:pt x="954036" y="48005"/>
                  </a:lnTo>
                  <a:lnTo>
                    <a:pt x="950263" y="29317"/>
                  </a:lnTo>
                  <a:lnTo>
                    <a:pt x="939973" y="14058"/>
                  </a:lnTo>
                  <a:lnTo>
                    <a:pt x="924713" y="3771"/>
                  </a:lnTo>
                  <a:lnTo>
                    <a:pt x="906030" y="0"/>
                  </a:lnTo>
                  <a:close/>
                </a:path>
              </a:pathLst>
            </a:custGeom>
            <a:solidFill>
              <a:srgbClr val="FFFFFF"/>
            </a:solidFill>
          </p:spPr>
          <p:txBody>
            <a:bodyPr wrap="square" lIns="0" tIns="0" rIns="0" bIns="0" rtlCol="0"/>
            <a:lstStyle/>
            <a:p/>
          </p:txBody>
        </p:sp>
        <p:sp>
          <p:nvSpPr>
            <p:cNvPr id="74" name="object 74" descr=""/>
            <p:cNvSpPr/>
            <p:nvPr/>
          </p:nvSpPr>
          <p:spPr>
            <a:xfrm>
              <a:off x="4842465" y="935692"/>
              <a:ext cx="954405" cy="288290"/>
            </a:xfrm>
            <a:custGeom>
              <a:avLst/>
              <a:gdLst/>
              <a:ahLst/>
              <a:cxnLst/>
              <a:rect l="l" t="t" r="r" b="b"/>
              <a:pathLst>
                <a:path w="954404" h="288290">
                  <a:moveTo>
                    <a:pt x="0" y="48005"/>
                  </a:moveTo>
                  <a:lnTo>
                    <a:pt x="3771" y="29317"/>
                  </a:lnTo>
                  <a:lnTo>
                    <a:pt x="14058" y="14058"/>
                  </a:lnTo>
                  <a:lnTo>
                    <a:pt x="29317" y="3771"/>
                  </a:lnTo>
                  <a:lnTo>
                    <a:pt x="48006" y="0"/>
                  </a:lnTo>
                  <a:lnTo>
                    <a:pt x="906030" y="0"/>
                  </a:lnTo>
                  <a:lnTo>
                    <a:pt x="924713" y="3771"/>
                  </a:lnTo>
                  <a:lnTo>
                    <a:pt x="939973" y="14058"/>
                  </a:lnTo>
                  <a:lnTo>
                    <a:pt x="950263" y="29317"/>
                  </a:lnTo>
                  <a:lnTo>
                    <a:pt x="954036" y="48005"/>
                  </a:lnTo>
                  <a:lnTo>
                    <a:pt x="954036" y="240029"/>
                  </a:lnTo>
                  <a:lnTo>
                    <a:pt x="950263" y="258712"/>
                  </a:lnTo>
                  <a:lnTo>
                    <a:pt x="939973" y="273972"/>
                  </a:lnTo>
                  <a:lnTo>
                    <a:pt x="924713" y="284262"/>
                  </a:lnTo>
                  <a:lnTo>
                    <a:pt x="906030" y="288035"/>
                  </a:lnTo>
                  <a:lnTo>
                    <a:pt x="48006" y="288035"/>
                  </a:lnTo>
                  <a:lnTo>
                    <a:pt x="29317" y="284262"/>
                  </a:lnTo>
                  <a:lnTo>
                    <a:pt x="14058" y="273972"/>
                  </a:lnTo>
                  <a:lnTo>
                    <a:pt x="3771" y="258712"/>
                  </a:lnTo>
                  <a:lnTo>
                    <a:pt x="0" y="240029"/>
                  </a:lnTo>
                  <a:lnTo>
                    <a:pt x="0" y="48005"/>
                  </a:lnTo>
                  <a:close/>
                </a:path>
              </a:pathLst>
            </a:custGeom>
            <a:ln w="12699">
              <a:solidFill>
                <a:srgbClr val="0070C0"/>
              </a:solidFill>
            </a:ln>
          </p:spPr>
          <p:txBody>
            <a:bodyPr wrap="square" lIns="0" tIns="0" rIns="0" bIns="0" rtlCol="0"/>
            <a:lstStyle/>
            <a:p/>
          </p:txBody>
        </p:sp>
      </p:grpSp>
      <p:sp>
        <p:nvSpPr>
          <p:cNvPr id="75" name="object 75" descr=""/>
          <p:cNvSpPr txBox="1"/>
          <p:nvPr/>
        </p:nvSpPr>
        <p:spPr>
          <a:xfrm>
            <a:off x="4951309" y="957280"/>
            <a:ext cx="735965" cy="238760"/>
          </a:xfrm>
          <a:prstGeom prst="rect">
            <a:avLst/>
          </a:prstGeom>
        </p:spPr>
        <p:txBody>
          <a:bodyPr wrap="square" lIns="0" tIns="12065" rIns="0" bIns="0" rtlCol="0" vert="horz">
            <a:spAutoFit/>
          </a:bodyPr>
          <a:lstStyle/>
          <a:p>
            <a:pPr marL="12700">
              <a:lnSpc>
                <a:spcPct val="100000"/>
              </a:lnSpc>
              <a:spcBef>
                <a:spcPts val="95"/>
              </a:spcBef>
            </a:pPr>
            <a:r>
              <a:rPr dirty="0" sz="1400" spc="-30">
                <a:solidFill>
                  <a:srgbClr val="C00000"/>
                </a:solidFill>
                <a:latin typeface="SimSun"/>
                <a:cs typeface="SimSun"/>
              </a:rPr>
              <a:t>调制方式</a:t>
            </a:r>
            <a:endParaRPr sz="1400">
              <a:latin typeface="SimSun"/>
              <a:cs typeface="SimSun"/>
            </a:endParaRPr>
          </a:p>
        </p:txBody>
      </p:sp>
      <p:grpSp>
        <p:nvGrpSpPr>
          <p:cNvPr id="76" name="object 76" descr=""/>
          <p:cNvGrpSpPr/>
          <p:nvPr/>
        </p:nvGrpSpPr>
        <p:grpSpPr>
          <a:xfrm>
            <a:off x="6061709" y="1193291"/>
            <a:ext cx="1593850" cy="1268730"/>
            <a:chOff x="6061709" y="1193291"/>
            <a:chExt cx="1593850" cy="1268730"/>
          </a:xfrm>
        </p:grpSpPr>
        <p:pic>
          <p:nvPicPr>
            <p:cNvPr id="77" name="object 77" descr=""/>
            <p:cNvPicPr/>
            <p:nvPr/>
          </p:nvPicPr>
          <p:blipFill>
            <a:blip r:embed="rId24" cstate="print"/>
            <a:stretch>
              <a:fillRect/>
            </a:stretch>
          </p:blipFill>
          <p:spPr>
            <a:xfrm>
              <a:off x="6098285" y="1193291"/>
              <a:ext cx="1556764" cy="1268729"/>
            </a:xfrm>
            <a:prstGeom prst="rect">
              <a:avLst/>
            </a:prstGeom>
          </p:spPr>
        </p:pic>
        <p:pic>
          <p:nvPicPr>
            <p:cNvPr id="78" name="object 78" descr=""/>
            <p:cNvPicPr/>
            <p:nvPr/>
          </p:nvPicPr>
          <p:blipFill>
            <a:blip r:embed="rId25" cstate="print"/>
            <a:stretch>
              <a:fillRect/>
            </a:stretch>
          </p:blipFill>
          <p:spPr>
            <a:xfrm>
              <a:off x="6061709" y="1210055"/>
              <a:ext cx="1532380" cy="941831"/>
            </a:xfrm>
            <a:prstGeom prst="rect">
              <a:avLst/>
            </a:prstGeom>
          </p:spPr>
        </p:pic>
        <p:sp>
          <p:nvSpPr>
            <p:cNvPr id="79" name="object 79" descr=""/>
            <p:cNvSpPr/>
            <p:nvPr/>
          </p:nvSpPr>
          <p:spPr>
            <a:xfrm>
              <a:off x="6129644" y="1224446"/>
              <a:ext cx="1440180" cy="1153160"/>
            </a:xfrm>
            <a:custGeom>
              <a:avLst/>
              <a:gdLst/>
              <a:ahLst/>
              <a:cxnLst/>
              <a:rect l="l" t="t" r="r" b="b"/>
              <a:pathLst>
                <a:path w="1440179" h="1153160">
                  <a:moveTo>
                    <a:pt x="1248016" y="0"/>
                  </a:moveTo>
                  <a:lnTo>
                    <a:pt x="192138" y="0"/>
                  </a:lnTo>
                  <a:lnTo>
                    <a:pt x="148084" y="5074"/>
                  </a:lnTo>
                  <a:lnTo>
                    <a:pt x="107643" y="19528"/>
                  </a:lnTo>
                  <a:lnTo>
                    <a:pt x="71968" y="42208"/>
                  </a:lnTo>
                  <a:lnTo>
                    <a:pt x="42212" y="71963"/>
                  </a:lnTo>
                  <a:lnTo>
                    <a:pt x="19530" y="107638"/>
                  </a:lnTo>
                  <a:lnTo>
                    <a:pt x="5074" y="148080"/>
                  </a:lnTo>
                  <a:lnTo>
                    <a:pt x="0" y="192138"/>
                  </a:lnTo>
                  <a:lnTo>
                    <a:pt x="0" y="960691"/>
                  </a:lnTo>
                  <a:lnTo>
                    <a:pt x="5074" y="1004749"/>
                  </a:lnTo>
                  <a:lnTo>
                    <a:pt x="19530" y="1045194"/>
                  </a:lnTo>
                  <a:lnTo>
                    <a:pt x="42212" y="1080871"/>
                  </a:lnTo>
                  <a:lnTo>
                    <a:pt x="71968" y="1110628"/>
                  </a:lnTo>
                  <a:lnTo>
                    <a:pt x="107643" y="1133311"/>
                  </a:lnTo>
                  <a:lnTo>
                    <a:pt x="148084" y="1147767"/>
                  </a:lnTo>
                  <a:lnTo>
                    <a:pt x="192138" y="1152842"/>
                  </a:lnTo>
                  <a:lnTo>
                    <a:pt x="1248016" y="1152842"/>
                  </a:lnTo>
                  <a:lnTo>
                    <a:pt x="1292073" y="1147767"/>
                  </a:lnTo>
                  <a:lnTo>
                    <a:pt x="1332516" y="1133311"/>
                  </a:lnTo>
                  <a:lnTo>
                    <a:pt x="1368191" y="1110628"/>
                  </a:lnTo>
                  <a:lnTo>
                    <a:pt x="1397945" y="1080871"/>
                  </a:lnTo>
                  <a:lnTo>
                    <a:pt x="1420626" y="1045194"/>
                  </a:lnTo>
                  <a:lnTo>
                    <a:pt x="1435080" y="1004749"/>
                  </a:lnTo>
                  <a:lnTo>
                    <a:pt x="1440154" y="960691"/>
                  </a:lnTo>
                  <a:lnTo>
                    <a:pt x="1440154" y="192138"/>
                  </a:lnTo>
                  <a:lnTo>
                    <a:pt x="1435080" y="148080"/>
                  </a:lnTo>
                  <a:lnTo>
                    <a:pt x="1420626" y="107638"/>
                  </a:lnTo>
                  <a:lnTo>
                    <a:pt x="1397945" y="71963"/>
                  </a:lnTo>
                  <a:lnTo>
                    <a:pt x="1368191" y="42208"/>
                  </a:lnTo>
                  <a:lnTo>
                    <a:pt x="1332516" y="19528"/>
                  </a:lnTo>
                  <a:lnTo>
                    <a:pt x="1292073" y="5074"/>
                  </a:lnTo>
                  <a:lnTo>
                    <a:pt x="1248016" y="0"/>
                  </a:lnTo>
                  <a:close/>
                </a:path>
              </a:pathLst>
            </a:custGeom>
            <a:solidFill>
              <a:srgbClr val="FFFFFF"/>
            </a:solidFill>
          </p:spPr>
          <p:txBody>
            <a:bodyPr wrap="square" lIns="0" tIns="0" rIns="0" bIns="0" rtlCol="0"/>
            <a:lstStyle/>
            <a:p/>
          </p:txBody>
        </p:sp>
        <p:sp>
          <p:nvSpPr>
            <p:cNvPr id="80" name="object 80" descr=""/>
            <p:cNvSpPr/>
            <p:nvPr/>
          </p:nvSpPr>
          <p:spPr>
            <a:xfrm>
              <a:off x="6129644" y="1224446"/>
              <a:ext cx="1440180" cy="1153160"/>
            </a:xfrm>
            <a:custGeom>
              <a:avLst/>
              <a:gdLst/>
              <a:ahLst/>
              <a:cxnLst/>
              <a:rect l="l" t="t" r="r" b="b"/>
              <a:pathLst>
                <a:path w="1440179" h="1153160">
                  <a:moveTo>
                    <a:pt x="0" y="192138"/>
                  </a:moveTo>
                  <a:lnTo>
                    <a:pt x="5074" y="148080"/>
                  </a:lnTo>
                  <a:lnTo>
                    <a:pt x="19530" y="107638"/>
                  </a:lnTo>
                  <a:lnTo>
                    <a:pt x="42212" y="71963"/>
                  </a:lnTo>
                  <a:lnTo>
                    <a:pt x="71968" y="42208"/>
                  </a:lnTo>
                  <a:lnTo>
                    <a:pt x="107643" y="19528"/>
                  </a:lnTo>
                  <a:lnTo>
                    <a:pt x="148084" y="5074"/>
                  </a:lnTo>
                  <a:lnTo>
                    <a:pt x="192138" y="0"/>
                  </a:lnTo>
                  <a:lnTo>
                    <a:pt x="1248016" y="0"/>
                  </a:lnTo>
                  <a:lnTo>
                    <a:pt x="1292073" y="5074"/>
                  </a:lnTo>
                  <a:lnTo>
                    <a:pt x="1332516" y="19528"/>
                  </a:lnTo>
                  <a:lnTo>
                    <a:pt x="1368191" y="42208"/>
                  </a:lnTo>
                  <a:lnTo>
                    <a:pt x="1397945" y="71963"/>
                  </a:lnTo>
                  <a:lnTo>
                    <a:pt x="1420626" y="107638"/>
                  </a:lnTo>
                  <a:lnTo>
                    <a:pt x="1435080" y="148080"/>
                  </a:lnTo>
                  <a:lnTo>
                    <a:pt x="1440154" y="192138"/>
                  </a:lnTo>
                  <a:lnTo>
                    <a:pt x="1440154" y="960691"/>
                  </a:lnTo>
                  <a:lnTo>
                    <a:pt x="1435080" y="1004749"/>
                  </a:lnTo>
                  <a:lnTo>
                    <a:pt x="1420626" y="1045194"/>
                  </a:lnTo>
                  <a:lnTo>
                    <a:pt x="1397945" y="1080871"/>
                  </a:lnTo>
                  <a:lnTo>
                    <a:pt x="1368191" y="1110628"/>
                  </a:lnTo>
                  <a:lnTo>
                    <a:pt x="1332516" y="1133311"/>
                  </a:lnTo>
                  <a:lnTo>
                    <a:pt x="1292073" y="1147767"/>
                  </a:lnTo>
                  <a:lnTo>
                    <a:pt x="1248016" y="1152842"/>
                  </a:lnTo>
                  <a:lnTo>
                    <a:pt x="192138" y="1152842"/>
                  </a:lnTo>
                  <a:lnTo>
                    <a:pt x="148084" y="1147767"/>
                  </a:lnTo>
                  <a:lnTo>
                    <a:pt x="107643" y="1133311"/>
                  </a:lnTo>
                  <a:lnTo>
                    <a:pt x="71968" y="1110628"/>
                  </a:lnTo>
                  <a:lnTo>
                    <a:pt x="42212" y="1080871"/>
                  </a:lnTo>
                  <a:lnTo>
                    <a:pt x="19530" y="1045194"/>
                  </a:lnTo>
                  <a:lnTo>
                    <a:pt x="5074" y="1004749"/>
                  </a:lnTo>
                  <a:lnTo>
                    <a:pt x="0" y="960691"/>
                  </a:lnTo>
                  <a:lnTo>
                    <a:pt x="0" y="192138"/>
                  </a:lnTo>
                  <a:close/>
                </a:path>
              </a:pathLst>
            </a:custGeom>
            <a:ln w="12700">
              <a:solidFill>
                <a:srgbClr val="0070C0"/>
              </a:solidFill>
            </a:ln>
          </p:spPr>
          <p:txBody>
            <a:bodyPr wrap="square" lIns="0" tIns="0" rIns="0" bIns="0" rtlCol="0"/>
            <a:lstStyle/>
            <a:p/>
          </p:txBody>
        </p:sp>
      </p:grpSp>
      <p:sp>
        <p:nvSpPr>
          <p:cNvPr id="81" name="object 81" descr=""/>
          <p:cNvSpPr txBox="1"/>
          <p:nvPr/>
        </p:nvSpPr>
        <p:spPr>
          <a:xfrm>
            <a:off x="6173221" y="1272589"/>
            <a:ext cx="1187450" cy="819150"/>
          </a:xfrm>
          <a:prstGeom prst="rect">
            <a:avLst/>
          </a:prstGeom>
        </p:spPr>
        <p:txBody>
          <a:bodyPr wrap="square" lIns="0" tIns="12700" rIns="0" bIns="0" rtlCol="0" vert="horz">
            <a:spAutoFit/>
          </a:bodyPr>
          <a:lstStyle/>
          <a:p>
            <a:pPr marL="184785" indent="-172085">
              <a:lnSpc>
                <a:spcPct val="100000"/>
              </a:lnSpc>
              <a:spcBef>
                <a:spcPts val="100"/>
              </a:spcBef>
              <a:buFont typeface="Arial MT"/>
              <a:buChar char="•"/>
              <a:tabLst>
                <a:tab pos="184785" algn="l"/>
              </a:tabLst>
            </a:pPr>
            <a:r>
              <a:rPr dirty="0" sz="1200">
                <a:latin typeface="SimSun"/>
                <a:cs typeface="SimSun"/>
              </a:rPr>
              <a:t>下行最大TBS</a:t>
            </a:r>
            <a:r>
              <a:rPr dirty="0" sz="1200" spc="-50">
                <a:latin typeface="SimSun"/>
                <a:cs typeface="SimSun"/>
              </a:rPr>
              <a:t>。</a:t>
            </a:r>
            <a:endParaRPr sz="1200">
              <a:latin typeface="SimSun"/>
              <a:cs typeface="SimSun"/>
            </a:endParaRPr>
          </a:p>
          <a:p>
            <a:pPr marL="184785" indent="-172085">
              <a:lnSpc>
                <a:spcPct val="100000"/>
              </a:lnSpc>
              <a:buFont typeface="Arial MT"/>
              <a:buChar char="•"/>
              <a:tabLst>
                <a:tab pos="184785" algn="l"/>
              </a:tabLst>
            </a:pPr>
            <a:r>
              <a:rPr dirty="0" sz="1200">
                <a:latin typeface="SimSun"/>
                <a:cs typeface="SimSun"/>
              </a:rPr>
              <a:t>上行最大</a:t>
            </a:r>
            <a:r>
              <a:rPr dirty="0" sz="1200" spc="-25">
                <a:latin typeface="SimSun"/>
                <a:cs typeface="SimSun"/>
              </a:rPr>
              <a:t>TBS</a:t>
            </a:r>
            <a:endParaRPr sz="1200">
              <a:latin typeface="SimSun"/>
              <a:cs typeface="SimSun"/>
            </a:endParaRPr>
          </a:p>
          <a:p>
            <a:pPr marL="182880" indent="-170180">
              <a:lnSpc>
                <a:spcPct val="100000"/>
              </a:lnSpc>
              <a:spcBef>
                <a:spcPts val="10"/>
              </a:spcBef>
              <a:buFont typeface="Arial MT"/>
              <a:buChar char="•"/>
              <a:tabLst>
                <a:tab pos="182880" algn="l"/>
              </a:tabLst>
            </a:pPr>
            <a:r>
              <a:rPr dirty="0" sz="1400" spc="-30">
                <a:latin typeface="SimSun"/>
                <a:cs typeface="SimSun"/>
              </a:rPr>
              <a:t>最大码率</a:t>
            </a:r>
            <a:endParaRPr sz="1400">
              <a:latin typeface="SimSun"/>
              <a:cs typeface="SimSun"/>
            </a:endParaRPr>
          </a:p>
          <a:p>
            <a:pPr marL="184150">
              <a:lnSpc>
                <a:spcPct val="100000"/>
              </a:lnSpc>
            </a:pPr>
            <a:r>
              <a:rPr dirty="0" sz="1400" spc="-10">
                <a:latin typeface="SimSun"/>
                <a:cs typeface="SimSun"/>
              </a:rPr>
              <a:t>(0.948)</a:t>
            </a:r>
            <a:endParaRPr sz="1400">
              <a:latin typeface="SimSun"/>
              <a:cs typeface="SimSun"/>
            </a:endParaRPr>
          </a:p>
        </p:txBody>
      </p:sp>
      <p:grpSp>
        <p:nvGrpSpPr>
          <p:cNvPr id="82" name="object 82" descr=""/>
          <p:cNvGrpSpPr/>
          <p:nvPr/>
        </p:nvGrpSpPr>
        <p:grpSpPr>
          <a:xfrm>
            <a:off x="6314694" y="2183129"/>
            <a:ext cx="1123950" cy="422909"/>
            <a:chOff x="6314694" y="2183129"/>
            <a:chExt cx="1123950" cy="422909"/>
          </a:xfrm>
        </p:grpSpPr>
        <p:pic>
          <p:nvPicPr>
            <p:cNvPr id="83" name="object 83" descr=""/>
            <p:cNvPicPr/>
            <p:nvPr/>
          </p:nvPicPr>
          <p:blipFill>
            <a:blip r:embed="rId26" cstate="print"/>
            <a:stretch>
              <a:fillRect/>
            </a:stretch>
          </p:blipFill>
          <p:spPr>
            <a:xfrm>
              <a:off x="6314694" y="2201417"/>
              <a:ext cx="1123949" cy="404621"/>
            </a:xfrm>
            <a:prstGeom prst="rect">
              <a:avLst/>
            </a:prstGeom>
          </p:spPr>
        </p:pic>
        <p:pic>
          <p:nvPicPr>
            <p:cNvPr id="84" name="object 84" descr=""/>
            <p:cNvPicPr/>
            <p:nvPr/>
          </p:nvPicPr>
          <p:blipFill>
            <a:blip r:embed="rId27" cstate="print"/>
            <a:stretch>
              <a:fillRect/>
            </a:stretch>
          </p:blipFill>
          <p:spPr>
            <a:xfrm>
              <a:off x="6368796" y="2183129"/>
              <a:ext cx="1066036" cy="378713"/>
            </a:xfrm>
            <a:prstGeom prst="rect">
              <a:avLst/>
            </a:prstGeom>
          </p:spPr>
        </p:pic>
        <p:sp>
          <p:nvSpPr>
            <p:cNvPr id="85" name="object 85" descr=""/>
            <p:cNvSpPr/>
            <p:nvPr/>
          </p:nvSpPr>
          <p:spPr>
            <a:xfrm>
              <a:off x="6345669" y="2232551"/>
              <a:ext cx="1008380" cy="288290"/>
            </a:xfrm>
            <a:custGeom>
              <a:avLst/>
              <a:gdLst/>
              <a:ahLst/>
              <a:cxnLst/>
              <a:rect l="l" t="t" r="r" b="b"/>
              <a:pathLst>
                <a:path w="1008379" h="288289">
                  <a:moveTo>
                    <a:pt x="960107" y="0"/>
                  </a:moveTo>
                  <a:lnTo>
                    <a:pt x="48006" y="0"/>
                  </a:lnTo>
                  <a:lnTo>
                    <a:pt x="29317" y="3771"/>
                  </a:lnTo>
                  <a:lnTo>
                    <a:pt x="14058" y="14058"/>
                  </a:lnTo>
                  <a:lnTo>
                    <a:pt x="3771" y="29317"/>
                  </a:lnTo>
                  <a:lnTo>
                    <a:pt x="0" y="48006"/>
                  </a:lnTo>
                  <a:lnTo>
                    <a:pt x="0" y="240029"/>
                  </a:lnTo>
                  <a:lnTo>
                    <a:pt x="3771" y="258712"/>
                  </a:lnTo>
                  <a:lnTo>
                    <a:pt x="14058" y="273972"/>
                  </a:lnTo>
                  <a:lnTo>
                    <a:pt x="29317" y="284262"/>
                  </a:lnTo>
                  <a:lnTo>
                    <a:pt x="48006" y="288036"/>
                  </a:lnTo>
                  <a:lnTo>
                    <a:pt x="960107" y="288036"/>
                  </a:lnTo>
                  <a:lnTo>
                    <a:pt x="978795" y="284262"/>
                  </a:lnTo>
                  <a:lnTo>
                    <a:pt x="994054" y="273972"/>
                  </a:lnTo>
                  <a:lnTo>
                    <a:pt x="1004341" y="258712"/>
                  </a:lnTo>
                  <a:lnTo>
                    <a:pt x="1008113" y="240029"/>
                  </a:lnTo>
                  <a:lnTo>
                    <a:pt x="1008113" y="48006"/>
                  </a:lnTo>
                  <a:lnTo>
                    <a:pt x="1004341" y="29317"/>
                  </a:lnTo>
                  <a:lnTo>
                    <a:pt x="994054" y="14058"/>
                  </a:lnTo>
                  <a:lnTo>
                    <a:pt x="978795" y="3771"/>
                  </a:lnTo>
                  <a:lnTo>
                    <a:pt x="960107" y="0"/>
                  </a:lnTo>
                  <a:close/>
                </a:path>
              </a:pathLst>
            </a:custGeom>
            <a:solidFill>
              <a:srgbClr val="FFFFFF"/>
            </a:solidFill>
          </p:spPr>
          <p:txBody>
            <a:bodyPr wrap="square" lIns="0" tIns="0" rIns="0" bIns="0" rtlCol="0"/>
            <a:lstStyle/>
            <a:p/>
          </p:txBody>
        </p:sp>
        <p:sp>
          <p:nvSpPr>
            <p:cNvPr id="86" name="object 86" descr=""/>
            <p:cNvSpPr/>
            <p:nvPr/>
          </p:nvSpPr>
          <p:spPr>
            <a:xfrm>
              <a:off x="6345669" y="2232551"/>
              <a:ext cx="1008380" cy="288290"/>
            </a:xfrm>
            <a:custGeom>
              <a:avLst/>
              <a:gdLst/>
              <a:ahLst/>
              <a:cxnLst/>
              <a:rect l="l" t="t" r="r" b="b"/>
              <a:pathLst>
                <a:path w="1008379" h="288289">
                  <a:moveTo>
                    <a:pt x="0" y="48006"/>
                  </a:moveTo>
                  <a:lnTo>
                    <a:pt x="3771" y="29317"/>
                  </a:lnTo>
                  <a:lnTo>
                    <a:pt x="14058" y="14058"/>
                  </a:lnTo>
                  <a:lnTo>
                    <a:pt x="29317" y="3771"/>
                  </a:lnTo>
                  <a:lnTo>
                    <a:pt x="48006" y="0"/>
                  </a:lnTo>
                  <a:lnTo>
                    <a:pt x="960107" y="0"/>
                  </a:lnTo>
                  <a:lnTo>
                    <a:pt x="978795" y="3771"/>
                  </a:lnTo>
                  <a:lnTo>
                    <a:pt x="994054" y="14058"/>
                  </a:lnTo>
                  <a:lnTo>
                    <a:pt x="1004341" y="29317"/>
                  </a:lnTo>
                  <a:lnTo>
                    <a:pt x="1008113" y="48006"/>
                  </a:lnTo>
                  <a:lnTo>
                    <a:pt x="1008113" y="240029"/>
                  </a:lnTo>
                  <a:lnTo>
                    <a:pt x="1004341" y="258712"/>
                  </a:lnTo>
                  <a:lnTo>
                    <a:pt x="994054" y="273972"/>
                  </a:lnTo>
                  <a:lnTo>
                    <a:pt x="978795" y="284262"/>
                  </a:lnTo>
                  <a:lnTo>
                    <a:pt x="960107" y="288036"/>
                  </a:lnTo>
                  <a:lnTo>
                    <a:pt x="48006" y="288036"/>
                  </a:lnTo>
                  <a:lnTo>
                    <a:pt x="29317" y="284262"/>
                  </a:lnTo>
                  <a:lnTo>
                    <a:pt x="14058" y="273972"/>
                  </a:lnTo>
                  <a:lnTo>
                    <a:pt x="3771" y="258712"/>
                  </a:lnTo>
                  <a:lnTo>
                    <a:pt x="0" y="240029"/>
                  </a:lnTo>
                  <a:lnTo>
                    <a:pt x="0" y="48006"/>
                  </a:lnTo>
                  <a:close/>
                </a:path>
              </a:pathLst>
            </a:custGeom>
            <a:ln w="12700">
              <a:solidFill>
                <a:srgbClr val="0070C0"/>
              </a:solidFill>
            </a:ln>
          </p:spPr>
          <p:txBody>
            <a:bodyPr wrap="square" lIns="0" tIns="0" rIns="0" bIns="0" rtlCol="0"/>
            <a:lstStyle/>
            <a:p/>
          </p:txBody>
        </p:sp>
      </p:grpSp>
      <p:sp>
        <p:nvSpPr>
          <p:cNvPr id="87" name="object 87" descr=""/>
          <p:cNvSpPr txBox="1"/>
          <p:nvPr/>
        </p:nvSpPr>
        <p:spPr>
          <a:xfrm>
            <a:off x="6487329" y="2254139"/>
            <a:ext cx="725170" cy="238760"/>
          </a:xfrm>
          <a:prstGeom prst="rect">
            <a:avLst/>
          </a:prstGeom>
        </p:spPr>
        <p:txBody>
          <a:bodyPr wrap="square" lIns="0" tIns="12065" rIns="0" bIns="0" rtlCol="0" vert="horz">
            <a:spAutoFit/>
          </a:bodyPr>
          <a:lstStyle/>
          <a:p>
            <a:pPr marL="12700">
              <a:lnSpc>
                <a:spcPct val="100000"/>
              </a:lnSpc>
              <a:spcBef>
                <a:spcPts val="95"/>
              </a:spcBef>
            </a:pPr>
            <a:r>
              <a:rPr dirty="0" sz="1400" spc="-20">
                <a:solidFill>
                  <a:srgbClr val="C00000"/>
                </a:solidFill>
                <a:latin typeface="SimSun"/>
                <a:cs typeface="SimSun"/>
              </a:rPr>
              <a:t>最大</a:t>
            </a:r>
            <a:r>
              <a:rPr dirty="0" sz="1400" spc="-25">
                <a:solidFill>
                  <a:srgbClr val="C00000"/>
                </a:solidFill>
                <a:latin typeface="Arial MT"/>
                <a:cs typeface="Arial MT"/>
              </a:rPr>
              <a:t>TBS</a:t>
            </a:r>
            <a:endParaRPr sz="1400">
              <a:latin typeface="Arial MT"/>
              <a:cs typeface="Arial MT"/>
            </a:endParaRPr>
          </a:p>
        </p:txBody>
      </p:sp>
      <p:grpSp>
        <p:nvGrpSpPr>
          <p:cNvPr id="88" name="object 88" descr=""/>
          <p:cNvGrpSpPr/>
          <p:nvPr/>
        </p:nvGrpSpPr>
        <p:grpSpPr>
          <a:xfrm>
            <a:off x="7579614" y="1048511"/>
            <a:ext cx="1564640" cy="1270000"/>
            <a:chOff x="7579614" y="1048511"/>
            <a:chExt cx="1564640" cy="1270000"/>
          </a:xfrm>
        </p:grpSpPr>
        <p:pic>
          <p:nvPicPr>
            <p:cNvPr id="89" name="object 89" descr=""/>
            <p:cNvPicPr/>
            <p:nvPr/>
          </p:nvPicPr>
          <p:blipFill>
            <a:blip r:embed="rId28" cstate="print"/>
            <a:stretch>
              <a:fillRect/>
            </a:stretch>
          </p:blipFill>
          <p:spPr>
            <a:xfrm>
              <a:off x="7601712" y="1048511"/>
              <a:ext cx="1542287" cy="1269491"/>
            </a:xfrm>
            <a:prstGeom prst="rect">
              <a:avLst/>
            </a:prstGeom>
          </p:spPr>
        </p:pic>
        <p:pic>
          <p:nvPicPr>
            <p:cNvPr id="90" name="object 90" descr=""/>
            <p:cNvPicPr/>
            <p:nvPr/>
          </p:nvPicPr>
          <p:blipFill>
            <a:blip r:embed="rId29" cstate="print"/>
            <a:stretch>
              <a:fillRect/>
            </a:stretch>
          </p:blipFill>
          <p:spPr>
            <a:xfrm>
              <a:off x="7579614" y="1373885"/>
              <a:ext cx="1564384" cy="880871"/>
            </a:xfrm>
            <a:prstGeom prst="rect">
              <a:avLst/>
            </a:prstGeom>
          </p:spPr>
        </p:pic>
        <p:sp>
          <p:nvSpPr>
            <p:cNvPr id="91" name="object 91" descr=""/>
            <p:cNvSpPr/>
            <p:nvPr/>
          </p:nvSpPr>
          <p:spPr>
            <a:xfrm>
              <a:off x="7632848" y="1079714"/>
              <a:ext cx="1440180" cy="1153160"/>
            </a:xfrm>
            <a:custGeom>
              <a:avLst/>
              <a:gdLst/>
              <a:ahLst/>
              <a:cxnLst/>
              <a:rect l="l" t="t" r="r" b="b"/>
              <a:pathLst>
                <a:path w="1440179" h="1153160">
                  <a:moveTo>
                    <a:pt x="1248016" y="0"/>
                  </a:moveTo>
                  <a:lnTo>
                    <a:pt x="192138" y="0"/>
                  </a:lnTo>
                  <a:lnTo>
                    <a:pt x="148084" y="5074"/>
                  </a:lnTo>
                  <a:lnTo>
                    <a:pt x="107643" y="19528"/>
                  </a:lnTo>
                  <a:lnTo>
                    <a:pt x="71968" y="42208"/>
                  </a:lnTo>
                  <a:lnTo>
                    <a:pt x="42212" y="71963"/>
                  </a:lnTo>
                  <a:lnTo>
                    <a:pt x="19530" y="107638"/>
                  </a:lnTo>
                  <a:lnTo>
                    <a:pt x="5074" y="148080"/>
                  </a:lnTo>
                  <a:lnTo>
                    <a:pt x="0" y="192138"/>
                  </a:lnTo>
                  <a:lnTo>
                    <a:pt x="0" y="960691"/>
                  </a:lnTo>
                  <a:lnTo>
                    <a:pt x="5074" y="1004749"/>
                  </a:lnTo>
                  <a:lnTo>
                    <a:pt x="19530" y="1045194"/>
                  </a:lnTo>
                  <a:lnTo>
                    <a:pt x="42212" y="1080871"/>
                  </a:lnTo>
                  <a:lnTo>
                    <a:pt x="71968" y="1110628"/>
                  </a:lnTo>
                  <a:lnTo>
                    <a:pt x="107643" y="1133311"/>
                  </a:lnTo>
                  <a:lnTo>
                    <a:pt x="148084" y="1147767"/>
                  </a:lnTo>
                  <a:lnTo>
                    <a:pt x="192138" y="1152842"/>
                  </a:lnTo>
                  <a:lnTo>
                    <a:pt x="1248016" y="1152842"/>
                  </a:lnTo>
                  <a:lnTo>
                    <a:pt x="1292073" y="1147767"/>
                  </a:lnTo>
                  <a:lnTo>
                    <a:pt x="1332516" y="1133311"/>
                  </a:lnTo>
                  <a:lnTo>
                    <a:pt x="1368191" y="1110628"/>
                  </a:lnTo>
                  <a:lnTo>
                    <a:pt x="1397945" y="1080871"/>
                  </a:lnTo>
                  <a:lnTo>
                    <a:pt x="1420626" y="1045194"/>
                  </a:lnTo>
                  <a:lnTo>
                    <a:pt x="1435080" y="1004749"/>
                  </a:lnTo>
                  <a:lnTo>
                    <a:pt x="1440154" y="960691"/>
                  </a:lnTo>
                  <a:lnTo>
                    <a:pt x="1440154" y="192138"/>
                  </a:lnTo>
                  <a:lnTo>
                    <a:pt x="1435080" y="148080"/>
                  </a:lnTo>
                  <a:lnTo>
                    <a:pt x="1420626" y="107638"/>
                  </a:lnTo>
                  <a:lnTo>
                    <a:pt x="1397945" y="71963"/>
                  </a:lnTo>
                  <a:lnTo>
                    <a:pt x="1368191" y="42208"/>
                  </a:lnTo>
                  <a:lnTo>
                    <a:pt x="1332516" y="19528"/>
                  </a:lnTo>
                  <a:lnTo>
                    <a:pt x="1292073" y="5074"/>
                  </a:lnTo>
                  <a:lnTo>
                    <a:pt x="1248016" y="0"/>
                  </a:lnTo>
                  <a:close/>
                </a:path>
              </a:pathLst>
            </a:custGeom>
            <a:solidFill>
              <a:srgbClr val="FFFFFF"/>
            </a:solidFill>
          </p:spPr>
          <p:txBody>
            <a:bodyPr wrap="square" lIns="0" tIns="0" rIns="0" bIns="0" rtlCol="0"/>
            <a:lstStyle/>
            <a:p/>
          </p:txBody>
        </p:sp>
        <p:sp>
          <p:nvSpPr>
            <p:cNvPr id="92" name="object 92" descr=""/>
            <p:cNvSpPr/>
            <p:nvPr/>
          </p:nvSpPr>
          <p:spPr>
            <a:xfrm>
              <a:off x="7632848" y="1079714"/>
              <a:ext cx="1440180" cy="1153160"/>
            </a:xfrm>
            <a:custGeom>
              <a:avLst/>
              <a:gdLst/>
              <a:ahLst/>
              <a:cxnLst/>
              <a:rect l="l" t="t" r="r" b="b"/>
              <a:pathLst>
                <a:path w="1440179" h="1153160">
                  <a:moveTo>
                    <a:pt x="0" y="192138"/>
                  </a:moveTo>
                  <a:lnTo>
                    <a:pt x="5074" y="148080"/>
                  </a:lnTo>
                  <a:lnTo>
                    <a:pt x="19530" y="107638"/>
                  </a:lnTo>
                  <a:lnTo>
                    <a:pt x="42212" y="71963"/>
                  </a:lnTo>
                  <a:lnTo>
                    <a:pt x="71968" y="42208"/>
                  </a:lnTo>
                  <a:lnTo>
                    <a:pt x="107643" y="19528"/>
                  </a:lnTo>
                  <a:lnTo>
                    <a:pt x="148084" y="5074"/>
                  </a:lnTo>
                  <a:lnTo>
                    <a:pt x="192138" y="0"/>
                  </a:lnTo>
                  <a:lnTo>
                    <a:pt x="1248016" y="0"/>
                  </a:lnTo>
                  <a:lnTo>
                    <a:pt x="1292073" y="5074"/>
                  </a:lnTo>
                  <a:lnTo>
                    <a:pt x="1332516" y="19528"/>
                  </a:lnTo>
                  <a:lnTo>
                    <a:pt x="1368191" y="42208"/>
                  </a:lnTo>
                  <a:lnTo>
                    <a:pt x="1397945" y="71963"/>
                  </a:lnTo>
                  <a:lnTo>
                    <a:pt x="1420626" y="107638"/>
                  </a:lnTo>
                  <a:lnTo>
                    <a:pt x="1435080" y="148080"/>
                  </a:lnTo>
                  <a:lnTo>
                    <a:pt x="1440154" y="192138"/>
                  </a:lnTo>
                  <a:lnTo>
                    <a:pt x="1440154" y="960691"/>
                  </a:lnTo>
                  <a:lnTo>
                    <a:pt x="1435080" y="1004749"/>
                  </a:lnTo>
                  <a:lnTo>
                    <a:pt x="1420626" y="1045194"/>
                  </a:lnTo>
                  <a:lnTo>
                    <a:pt x="1397945" y="1080871"/>
                  </a:lnTo>
                  <a:lnTo>
                    <a:pt x="1368191" y="1110628"/>
                  </a:lnTo>
                  <a:lnTo>
                    <a:pt x="1332516" y="1133311"/>
                  </a:lnTo>
                  <a:lnTo>
                    <a:pt x="1292073" y="1147767"/>
                  </a:lnTo>
                  <a:lnTo>
                    <a:pt x="1248016" y="1152842"/>
                  </a:lnTo>
                  <a:lnTo>
                    <a:pt x="192138" y="1152842"/>
                  </a:lnTo>
                  <a:lnTo>
                    <a:pt x="148084" y="1147767"/>
                  </a:lnTo>
                  <a:lnTo>
                    <a:pt x="107643" y="1133311"/>
                  </a:lnTo>
                  <a:lnTo>
                    <a:pt x="71968" y="1110628"/>
                  </a:lnTo>
                  <a:lnTo>
                    <a:pt x="42212" y="1080871"/>
                  </a:lnTo>
                  <a:lnTo>
                    <a:pt x="19530" y="1045194"/>
                  </a:lnTo>
                  <a:lnTo>
                    <a:pt x="5074" y="1004749"/>
                  </a:lnTo>
                  <a:lnTo>
                    <a:pt x="0" y="960691"/>
                  </a:lnTo>
                  <a:lnTo>
                    <a:pt x="0" y="192138"/>
                  </a:lnTo>
                  <a:close/>
                </a:path>
              </a:pathLst>
            </a:custGeom>
            <a:ln w="12700">
              <a:solidFill>
                <a:srgbClr val="0070C0"/>
              </a:solidFill>
            </a:ln>
          </p:spPr>
          <p:txBody>
            <a:bodyPr wrap="square" lIns="0" tIns="0" rIns="0" bIns="0" rtlCol="0"/>
            <a:lstStyle/>
            <a:p/>
          </p:txBody>
        </p:sp>
      </p:grpSp>
      <p:sp>
        <p:nvSpPr>
          <p:cNvPr id="93" name="object 93" descr=""/>
          <p:cNvSpPr txBox="1"/>
          <p:nvPr/>
        </p:nvSpPr>
        <p:spPr>
          <a:xfrm>
            <a:off x="7676424" y="1436626"/>
            <a:ext cx="1339850" cy="756920"/>
          </a:xfrm>
          <a:prstGeom prst="rect">
            <a:avLst/>
          </a:prstGeom>
        </p:spPr>
        <p:txBody>
          <a:bodyPr wrap="square" lIns="0" tIns="12700" rIns="0" bIns="0" rtlCol="0" vert="horz">
            <a:spAutoFit/>
          </a:bodyPr>
          <a:lstStyle/>
          <a:p>
            <a:pPr marL="184785" indent="-172085">
              <a:lnSpc>
                <a:spcPct val="100000"/>
              </a:lnSpc>
              <a:spcBef>
                <a:spcPts val="100"/>
              </a:spcBef>
              <a:buFont typeface="Arial MT"/>
              <a:buChar char="•"/>
              <a:tabLst>
                <a:tab pos="184785" algn="l"/>
              </a:tabLst>
            </a:pPr>
            <a:r>
              <a:rPr dirty="0" sz="1200">
                <a:latin typeface="SimSun"/>
                <a:cs typeface="SimSun"/>
              </a:rPr>
              <a:t>支持端口数</a:t>
            </a:r>
            <a:r>
              <a:rPr dirty="0" sz="1200" spc="-20">
                <a:latin typeface="SimSun"/>
                <a:cs typeface="SimSun"/>
              </a:rPr>
              <a:t>(12)</a:t>
            </a:r>
            <a:endParaRPr sz="1200">
              <a:latin typeface="SimSun"/>
              <a:cs typeface="SimSun"/>
            </a:endParaRPr>
          </a:p>
          <a:p>
            <a:pPr marL="184785" indent="-172085">
              <a:lnSpc>
                <a:spcPct val="100000"/>
              </a:lnSpc>
              <a:buFont typeface="Arial MT"/>
              <a:buChar char="•"/>
              <a:tabLst>
                <a:tab pos="184785" algn="l"/>
              </a:tabLst>
            </a:pPr>
            <a:r>
              <a:rPr dirty="0" sz="1200">
                <a:latin typeface="SimSun"/>
                <a:cs typeface="SimSun"/>
              </a:rPr>
              <a:t>支持天线数</a:t>
            </a:r>
            <a:r>
              <a:rPr dirty="0" sz="1200" spc="-10">
                <a:latin typeface="SimSun"/>
                <a:cs typeface="SimSun"/>
              </a:rPr>
              <a:t>(192)</a:t>
            </a:r>
            <a:endParaRPr sz="1200">
              <a:latin typeface="SimSun"/>
              <a:cs typeface="SimSun"/>
            </a:endParaRPr>
          </a:p>
          <a:p>
            <a:pPr marL="184150" marR="81280" indent="-171450">
              <a:lnSpc>
                <a:spcPct val="100000"/>
              </a:lnSpc>
              <a:buFont typeface="Arial MT"/>
              <a:buChar char="•"/>
              <a:tabLst>
                <a:tab pos="184150" algn="l"/>
              </a:tabLst>
            </a:pPr>
            <a:r>
              <a:rPr dirty="0" sz="1200" spc="-10">
                <a:latin typeface="SimSun"/>
                <a:cs typeface="SimSun"/>
              </a:rPr>
              <a:t>流数的增加会导致码率的降低</a:t>
            </a:r>
            <a:endParaRPr sz="1200">
              <a:latin typeface="SimSun"/>
              <a:cs typeface="SimSun"/>
            </a:endParaRPr>
          </a:p>
        </p:txBody>
      </p:sp>
      <p:grpSp>
        <p:nvGrpSpPr>
          <p:cNvPr id="94" name="object 94" descr=""/>
          <p:cNvGrpSpPr/>
          <p:nvPr/>
        </p:nvGrpSpPr>
        <p:grpSpPr>
          <a:xfrm>
            <a:off x="7817357" y="886205"/>
            <a:ext cx="1143000" cy="422909"/>
            <a:chOff x="7817357" y="886205"/>
            <a:chExt cx="1143000" cy="422909"/>
          </a:xfrm>
        </p:grpSpPr>
        <p:pic>
          <p:nvPicPr>
            <p:cNvPr id="95" name="object 95" descr=""/>
            <p:cNvPicPr/>
            <p:nvPr/>
          </p:nvPicPr>
          <p:blipFill>
            <a:blip r:embed="rId30" cstate="print"/>
            <a:stretch>
              <a:fillRect/>
            </a:stretch>
          </p:blipFill>
          <p:spPr>
            <a:xfrm>
              <a:off x="7817357" y="904494"/>
              <a:ext cx="1142999" cy="404621"/>
            </a:xfrm>
            <a:prstGeom prst="rect">
              <a:avLst/>
            </a:prstGeom>
          </p:spPr>
        </p:pic>
        <p:pic>
          <p:nvPicPr>
            <p:cNvPr id="96" name="object 96" descr=""/>
            <p:cNvPicPr/>
            <p:nvPr/>
          </p:nvPicPr>
          <p:blipFill>
            <a:blip r:embed="rId13" cstate="print"/>
            <a:stretch>
              <a:fillRect/>
            </a:stretch>
          </p:blipFill>
          <p:spPr>
            <a:xfrm>
              <a:off x="7874507" y="886205"/>
              <a:ext cx="1076704" cy="378713"/>
            </a:xfrm>
            <a:prstGeom prst="rect">
              <a:avLst/>
            </a:prstGeom>
          </p:spPr>
        </p:pic>
        <p:sp>
          <p:nvSpPr>
            <p:cNvPr id="97" name="object 97" descr=""/>
            <p:cNvSpPr/>
            <p:nvPr/>
          </p:nvSpPr>
          <p:spPr>
            <a:xfrm>
              <a:off x="7848871" y="935692"/>
              <a:ext cx="1026160" cy="288290"/>
            </a:xfrm>
            <a:custGeom>
              <a:avLst/>
              <a:gdLst/>
              <a:ahLst/>
              <a:cxnLst/>
              <a:rect l="l" t="t" r="r" b="b"/>
              <a:pathLst>
                <a:path w="1026159" h="288290">
                  <a:moveTo>
                    <a:pt x="978039" y="0"/>
                  </a:moveTo>
                  <a:lnTo>
                    <a:pt x="48006" y="0"/>
                  </a:lnTo>
                  <a:lnTo>
                    <a:pt x="29317" y="3771"/>
                  </a:lnTo>
                  <a:lnTo>
                    <a:pt x="14058" y="14058"/>
                  </a:lnTo>
                  <a:lnTo>
                    <a:pt x="3771" y="29317"/>
                  </a:lnTo>
                  <a:lnTo>
                    <a:pt x="0" y="48005"/>
                  </a:lnTo>
                  <a:lnTo>
                    <a:pt x="0" y="240029"/>
                  </a:lnTo>
                  <a:lnTo>
                    <a:pt x="3771" y="258712"/>
                  </a:lnTo>
                  <a:lnTo>
                    <a:pt x="14058" y="273972"/>
                  </a:lnTo>
                  <a:lnTo>
                    <a:pt x="29317" y="284262"/>
                  </a:lnTo>
                  <a:lnTo>
                    <a:pt x="48006" y="288035"/>
                  </a:lnTo>
                  <a:lnTo>
                    <a:pt x="978039" y="288035"/>
                  </a:lnTo>
                  <a:lnTo>
                    <a:pt x="996722" y="284262"/>
                  </a:lnTo>
                  <a:lnTo>
                    <a:pt x="1011982" y="273972"/>
                  </a:lnTo>
                  <a:lnTo>
                    <a:pt x="1022272" y="258712"/>
                  </a:lnTo>
                  <a:lnTo>
                    <a:pt x="1026045" y="240029"/>
                  </a:lnTo>
                  <a:lnTo>
                    <a:pt x="1026045" y="48005"/>
                  </a:lnTo>
                  <a:lnTo>
                    <a:pt x="1022272" y="29317"/>
                  </a:lnTo>
                  <a:lnTo>
                    <a:pt x="1011982" y="14058"/>
                  </a:lnTo>
                  <a:lnTo>
                    <a:pt x="996722" y="3771"/>
                  </a:lnTo>
                  <a:lnTo>
                    <a:pt x="978039" y="0"/>
                  </a:lnTo>
                  <a:close/>
                </a:path>
              </a:pathLst>
            </a:custGeom>
            <a:solidFill>
              <a:srgbClr val="FFFFFF"/>
            </a:solidFill>
          </p:spPr>
          <p:txBody>
            <a:bodyPr wrap="square" lIns="0" tIns="0" rIns="0" bIns="0" rtlCol="0"/>
            <a:lstStyle/>
            <a:p/>
          </p:txBody>
        </p:sp>
        <p:sp>
          <p:nvSpPr>
            <p:cNvPr id="98" name="object 98" descr=""/>
            <p:cNvSpPr/>
            <p:nvPr/>
          </p:nvSpPr>
          <p:spPr>
            <a:xfrm>
              <a:off x="7848871" y="935692"/>
              <a:ext cx="1026160" cy="288290"/>
            </a:xfrm>
            <a:custGeom>
              <a:avLst/>
              <a:gdLst/>
              <a:ahLst/>
              <a:cxnLst/>
              <a:rect l="l" t="t" r="r" b="b"/>
              <a:pathLst>
                <a:path w="1026159" h="288290">
                  <a:moveTo>
                    <a:pt x="0" y="48005"/>
                  </a:moveTo>
                  <a:lnTo>
                    <a:pt x="3771" y="29317"/>
                  </a:lnTo>
                  <a:lnTo>
                    <a:pt x="14058" y="14058"/>
                  </a:lnTo>
                  <a:lnTo>
                    <a:pt x="29317" y="3771"/>
                  </a:lnTo>
                  <a:lnTo>
                    <a:pt x="48006" y="0"/>
                  </a:lnTo>
                  <a:lnTo>
                    <a:pt x="978039" y="0"/>
                  </a:lnTo>
                  <a:lnTo>
                    <a:pt x="996722" y="3771"/>
                  </a:lnTo>
                  <a:lnTo>
                    <a:pt x="1011982" y="14058"/>
                  </a:lnTo>
                  <a:lnTo>
                    <a:pt x="1022272" y="29317"/>
                  </a:lnTo>
                  <a:lnTo>
                    <a:pt x="1026045" y="48005"/>
                  </a:lnTo>
                  <a:lnTo>
                    <a:pt x="1026045" y="240029"/>
                  </a:lnTo>
                  <a:lnTo>
                    <a:pt x="1022272" y="258712"/>
                  </a:lnTo>
                  <a:lnTo>
                    <a:pt x="1011982" y="273972"/>
                  </a:lnTo>
                  <a:lnTo>
                    <a:pt x="996722" y="284262"/>
                  </a:lnTo>
                  <a:lnTo>
                    <a:pt x="978039" y="288035"/>
                  </a:lnTo>
                  <a:lnTo>
                    <a:pt x="48006" y="288035"/>
                  </a:lnTo>
                  <a:lnTo>
                    <a:pt x="29317" y="284262"/>
                  </a:lnTo>
                  <a:lnTo>
                    <a:pt x="14058" y="273972"/>
                  </a:lnTo>
                  <a:lnTo>
                    <a:pt x="3771" y="258712"/>
                  </a:lnTo>
                  <a:lnTo>
                    <a:pt x="0" y="240029"/>
                  </a:lnTo>
                  <a:lnTo>
                    <a:pt x="0" y="48005"/>
                  </a:lnTo>
                  <a:close/>
                </a:path>
              </a:pathLst>
            </a:custGeom>
            <a:ln w="12700">
              <a:solidFill>
                <a:srgbClr val="0070C0"/>
              </a:solidFill>
            </a:ln>
          </p:spPr>
          <p:txBody>
            <a:bodyPr wrap="square" lIns="0" tIns="0" rIns="0" bIns="0" rtlCol="0"/>
            <a:lstStyle/>
            <a:p/>
          </p:txBody>
        </p:sp>
      </p:grpSp>
      <p:sp>
        <p:nvSpPr>
          <p:cNvPr id="99" name="object 99" descr=""/>
          <p:cNvSpPr txBox="1"/>
          <p:nvPr/>
        </p:nvSpPr>
        <p:spPr>
          <a:xfrm>
            <a:off x="7857108" y="957280"/>
            <a:ext cx="1009650" cy="238760"/>
          </a:xfrm>
          <a:prstGeom prst="rect">
            <a:avLst/>
          </a:prstGeom>
        </p:spPr>
        <p:txBody>
          <a:bodyPr wrap="square" lIns="0" tIns="12065" rIns="0" bIns="0" rtlCol="0" vert="horz">
            <a:spAutoFit/>
          </a:bodyPr>
          <a:lstStyle/>
          <a:p>
            <a:pPr marL="149225">
              <a:lnSpc>
                <a:spcPct val="100000"/>
              </a:lnSpc>
              <a:spcBef>
                <a:spcPts val="95"/>
              </a:spcBef>
            </a:pPr>
            <a:r>
              <a:rPr dirty="0" sz="1400" spc="-30">
                <a:solidFill>
                  <a:srgbClr val="C00000"/>
                </a:solidFill>
                <a:latin typeface="SimSun"/>
                <a:cs typeface="SimSun"/>
              </a:rPr>
              <a:t>最大流数</a:t>
            </a:r>
            <a:endParaRPr sz="1400">
              <a:latin typeface="SimSun"/>
              <a:cs typeface="SimSun"/>
            </a:endParaRPr>
          </a:p>
        </p:txBody>
      </p:sp>
      <p:sp>
        <p:nvSpPr>
          <p:cNvPr id="100" name="object 100" descr=""/>
          <p:cNvSpPr txBox="1"/>
          <p:nvPr/>
        </p:nvSpPr>
        <p:spPr>
          <a:xfrm>
            <a:off x="53339" y="848360"/>
            <a:ext cx="2545715" cy="269875"/>
          </a:xfrm>
          <a:prstGeom prst="rect">
            <a:avLst/>
          </a:prstGeom>
        </p:spPr>
        <p:txBody>
          <a:bodyPr wrap="square" lIns="0" tIns="12700" rIns="0" bIns="0" rtlCol="0" vert="horz">
            <a:spAutoFit/>
          </a:bodyPr>
          <a:lstStyle/>
          <a:p>
            <a:pPr marL="38100">
              <a:lnSpc>
                <a:spcPct val="100000"/>
              </a:lnSpc>
              <a:spcBef>
                <a:spcPts val="100"/>
              </a:spcBef>
            </a:pPr>
            <a:r>
              <a:rPr dirty="0" sz="1600" spc="-80">
                <a:latin typeface="SimSun"/>
                <a:cs typeface="SimSun"/>
              </a:rPr>
              <a:t>小区吞吐量影响因素：</a:t>
            </a:r>
            <a:r>
              <a:rPr dirty="0" baseline="-27777" sz="2100" spc="-44">
                <a:solidFill>
                  <a:srgbClr val="C00000"/>
                </a:solidFill>
                <a:latin typeface="SimSun"/>
                <a:cs typeface="SimSun"/>
              </a:rPr>
              <a:t>帧结构</a:t>
            </a:r>
            <a:endParaRPr baseline="-27777" sz="2100">
              <a:latin typeface="SimSun"/>
              <a:cs typeface="SimSun"/>
            </a:endParaRPr>
          </a:p>
        </p:txBody>
      </p:sp>
      <p:sp>
        <p:nvSpPr>
          <p:cNvPr id="101" name="object 101"/>
          <p:cNvSpPr txBox="1">
            <a:spLocks noGrp="1"/>
          </p:cNvSpPr>
          <p:nvPr>
            <p:ph type="title"/>
          </p:nvPr>
        </p:nvSpPr>
        <p:spPr>
          <a:xfrm>
            <a:off x="2456846" y="114571"/>
            <a:ext cx="46107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网络速率影响因素分析</a:t>
            </a:r>
          </a:p>
        </p:txBody>
      </p:sp>
      <p:grpSp>
        <p:nvGrpSpPr>
          <p:cNvPr id="102" name="object 102" descr=""/>
          <p:cNvGrpSpPr/>
          <p:nvPr/>
        </p:nvGrpSpPr>
        <p:grpSpPr>
          <a:xfrm>
            <a:off x="577595" y="3404615"/>
            <a:ext cx="1637030" cy="1412875"/>
            <a:chOff x="577595" y="3404615"/>
            <a:chExt cx="1637030" cy="1412875"/>
          </a:xfrm>
        </p:grpSpPr>
        <p:pic>
          <p:nvPicPr>
            <p:cNvPr id="103" name="object 103" descr=""/>
            <p:cNvPicPr/>
            <p:nvPr/>
          </p:nvPicPr>
          <p:blipFill>
            <a:blip r:embed="rId31" cstate="print"/>
            <a:stretch>
              <a:fillRect/>
            </a:stretch>
          </p:blipFill>
          <p:spPr>
            <a:xfrm>
              <a:off x="592835" y="3404615"/>
              <a:ext cx="1621523" cy="1412747"/>
            </a:xfrm>
            <a:prstGeom prst="rect">
              <a:avLst/>
            </a:prstGeom>
          </p:spPr>
        </p:pic>
        <p:pic>
          <p:nvPicPr>
            <p:cNvPr id="104" name="object 104" descr=""/>
            <p:cNvPicPr/>
            <p:nvPr/>
          </p:nvPicPr>
          <p:blipFill>
            <a:blip r:embed="rId5" cstate="print"/>
            <a:stretch>
              <a:fillRect/>
            </a:stretch>
          </p:blipFill>
          <p:spPr>
            <a:xfrm>
              <a:off x="577595" y="3866387"/>
              <a:ext cx="1517903" cy="880871"/>
            </a:xfrm>
            <a:prstGeom prst="rect">
              <a:avLst/>
            </a:prstGeom>
          </p:spPr>
        </p:pic>
        <p:sp>
          <p:nvSpPr>
            <p:cNvPr id="105" name="object 105" descr=""/>
            <p:cNvSpPr/>
            <p:nvPr/>
          </p:nvSpPr>
          <p:spPr>
            <a:xfrm>
              <a:off x="623779" y="3435846"/>
              <a:ext cx="1506220" cy="1296670"/>
            </a:xfrm>
            <a:custGeom>
              <a:avLst/>
              <a:gdLst/>
              <a:ahLst/>
              <a:cxnLst/>
              <a:rect l="l" t="t" r="r" b="b"/>
              <a:pathLst>
                <a:path w="1506220" h="1296670">
                  <a:moveTo>
                    <a:pt x="1289748" y="0"/>
                  </a:moveTo>
                  <a:lnTo>
                    <a:pt x="216027" y="0"/>
                  </a:lnTo>
                  <a:lnTo>
                    <a:pt x="166495" y="5705"/>
                  </a:lnTo>
                  <a:lnTo>
                    <a:pt x="121025" y="21958"/>
                  </a:lnTo>
                  <a:lnTo>
                    <a:pt x="80915" y="47460"/>
                  </a:lnTo>
                  <a:lnTo>
                    <a:pt x="47460" y="80915"/>
                  </a:lnTo>
                  <a:lnTo>
                    <a:pt x="21958" y="121025"/>
                  </a:lnTo>
                  <a:lnTo>
                    <a:pt x="5705" y="166495"/>
                  </a:lnTo>
                  <a:lnTo>
                    <a:pt x="0" y="216027"/>
                  </a:lnTo>
                  <a:lnTo>
                    <a:pt x="0" y="1080109"/>
                  </a:lnTo>
                  <a:lnTo>
                    <a:pt x="5705" y="1129645"/>
                  </a:lnTo>
                  <a:lnTo>
                    <a:pt x="21958" y="1175118"/>
                  </a:lnTo>
                  <a:lnTo>
                    <a:pt x="47460" y="1215231"/>
                  </a:lnTo>
                  <a:lnTo>
                    <a:pt x="80915" y="1248688"/>
                  </a:lnTo>
                  <a:lnTo>
                    <a:pt x="121025" y="1274190"/>
                  </a:lnTo>
                  <a:lnTo>
                    <a:pt x="166495" y="1290443"/>
                  </a:lnTo>
                  <a:lnTo>
                    <a:pt x="216027" y="1296149"/>
                  </a:lnTo>
                  <a:lnTo>
                    <a:pt x="1289748" y="1296149"/>
                  </a:lnTo>
                  <a:lnTo>
                    <a:pt x="1339284" y="1290443"/>
                  </a:lnTo>
                  <a:lnTo>
                    <a:pt x="1384755" y="1274190"/>
                  </a:lnTo>
                  <a:lnTo>
                    <a:pt x="1424865" y="1248688"/>
                  </a:lnTo>
                  <a:lnTo>
                    <a:pt x="1458319" y="1215231"/>
                  </a:lnTo>
                  <a:lnTo>
                    <a:pt x="1483819" y="1175118"/>
                  </a:lnTo>
                  <a:lnTo>
                    <a:pt x="1500070" y="1129645"/>
                  </a:lnTo>
                  <a:lnTo>
                    <a:pt x="1505775" y="1080109"/>
                  </a:lnTo>
                  <a:lnTo>
                    <a:pt x="1505775" y="216027"/>
                  </a:lnTo>
                  <a:lnTo>
                    <a:pt x="1500070" y="166495"/>
                  </a:lnTo>
                  <a:lnTo>
                    <a:pt x="1483819" y="121025"/>
                  </a:lnTo>
                  <a:lnTo>
                    <a:pt x="1458319" y="80915"/>
                  </a:lnTo>
                  <a:lnTo>
                    <a:pt x="1424865" y="47460"/>
                  </a:lnTo>
                  <a:lnTo>
                    <a:pt x="1384755" y="21958"/>
                  </a:lnTo>
                  <a:lnTo>
                    <a:pt x="1339284" y="5705"/>
                  </a:lnTo>
                  <a:lnTo>
                    <a:pt x="1289748" y="0"/>
                  </a:lnTo>
                  <a:close/>
                </a:path>
              </a:pathLst>
            </a:custGeom>
            <a:solidFill>
              <a:srgbClr val="FFFFFF"/>
            </a:solidFill>
          </p:spPr>
          <p:txBody>
            <a:bodyPr wrap="square" lIns="0" tIns="0" rIns="0" bIns="0" rtlCol="0"/>
            <a:lstStyle/>
            <a:p/>
          </p:txBody>
        </p:sp>
        <p:sp>
          <p:nvSpPr>
            <p:cNvPr id="106" name="object 106" descr=""/>
            <p:cNvSpPr/>
            <p:nvPr/>
          </p:nvSpPr>
          <p:spPr>
            <a:xfrm>
              <a:off x="623779" y="3435846"/>
              <a:ext cx="1506220" cy="1296670"/>
            </a:xfrm>
            <a:custGeom>
              <a:avLst/>
              <a:gdLst/>
              <a:ahLst/>
              <a:cxnLst/>
              <a:rect l="l" t="t" r="r" b="b"/>
              <a:pathLst>
                <a:path w="1506220" h="1296670">
                  <a:moveTo>
                    <a:pt x="0" y="216027"/>
                  </a:moveTo>
                  <a:lnTo>
                    <a:pt x="5705" y="166495"/>
                  </a:lnTo>
                  <a:lnTo>
                    <a:pt x="21958" y="121025"/>
                  </a:lnTo>
                  <a:lnTo>
                    <a:pt x="47460" y="80915"/>
                  </a:lnTo>
                  <a:lnTo>
                    <a:pt x="80915" y="47460"/>
                  </a:lnTo>
                  <a:lnTo>
                    <a:pt x="121025" y="21958"/>
                  </a:lnTo>
                  <a:lnTo>
                    <a:pt x="166495" y="5705"/>
                  </a:lnTo>
                  <a:lnTo>
                    <a:pt x="216027" y="0"/>
                  </a:lnTo>
                  <a:lnTo>
                    <a:pt x="1289748" y="0"/>
                  </a:lnTo>
                  <a:lnTo>
                    <a:pt x="1339284" y="5705"/>
                  </a:lnTo>
                  <a:lnTo>
                    <a:pt x="1384755" y="21958"/>
                  </a:lnTo>
                  <a:lnTo>
                    <a:pt x="1424865" y="47460"/>
                  </a:lnTo>
                  <a:lnTo>
                    <a:pt x="1458319" y="80915"/>
                  </a:lnTo>
                  <a:lnTo>
                    <a:pt x="1483819" y="121025"/>
                  </a:lnTo>
                  <a:lnTo>
                    <a:pt x="1500070" y="166495"/>
                  </a:lnTo>
                  <a:lnTo>
                    <a:pt x="1505775" y="216027"/>
                  </a:lnTo>
                  <a:lnTo>
                    <a:pt x="1505775" y="1080109"/>
                  </a:lnTo>
                  <a:lnTo>
                    <a:pt x="1500070" y="1129645"/>
                  </a:lnTo>
                  <a:lnTo>
                    <a:pt x="1483819" y="1175118"/>
                  </a:lnTo>
                  <a:lnTo>
                    <a:pt x="1458319" y="1215231"/>
                  </a:lnTo>
                  <a:lnTo>
                    <a:pt x="1424865" y="1248688"/>
                  </a:lnTo>
                  <a:lnTo>
                    <a:pt x="1384755" y="1274190"/>
                  </a:lnTo>
                  <a:lnTo>
                    <a:pt x="1339284" y="1290443"/>
                  </a:lnTo>
                  <a:lnTo>
                    <a:pt x="1289748" y="1296149"/>
                  </a:lnTo>
                  <a:lnTo>
                    <a:pt x="216027" y="1296149"/>
                  </a:lnTo>
                  <a:lnTo>
                    <a:pt x="166495" y="1290443"/>
                  </a:lnTo>
                  <a:lnTo>
                    <a:pt x="121025" y="1274190"/>
                  </a:lnTo>
                  <a:lnTo>
                    <a:pt x="80915" y="1248688"/>
                  </a:lnTo>
                  <a:lnTo>
                    <a:pt x="47460" y="1215231"/>
                  </a:lnTo>
                  <a:lnTo>
                    <a:pt x="21958" y="1175118"/>
                  </a:lnTo>
                  <a:lnTo>
                    <a:pt x="5705" y="1129645"/>
                  </a:lnTo>
                  <a:lnTo>
                    <a:pt x="0" y="1080109"/>
                  </a:lnTo>
                  <a:lnTo>
                    <a:pt x="0" y="216027"/>
                  </a:lnTo>
                  <a:close/>
                </a:path>
              </a:pathLst>
            </a:custGeom>
            <a:ln w="12699">
              <a:solidFill>
                <a:srgbClr val="0070C0"/>
              </a:solidFill>
            </a:ln>
          </p:spPr>
          <p:txBody>
            <a:bodyPr wrap="square" lIns="0" tIns="0" rIns="0" bIns="0" rtlCol="0"/>
            <a:lstStyle/>
            <a:p/>
          </p:txBody>
        </p:sp>
      </p:grpSp>
      <p:sp>
        <p:nvSpPr>
          <p:cNvPr id="107" name="object 107" descr=""/>
          <p:cNvSpPr txBox="1"/>
          <p:nvPr/>
        </p:nvSpPr>
        <p:spPr>
          <a:xfrm>
            <a:off x="674352" y="3929068"/>
            <a:ext cx="1263650" cy="756920"/>
          </a:xfrm>
          <a:prstGeom prst="rect">
            <a:avLst/>
          </a:prstGeom>
        </p:spPr>
        <p:txBody>
          <a:bodyPr wrap="square" lIns="0" tIns="12700" rIns="0" bIns="0" rtlCol="0" vert="horz">
            <a:spAutoFit/>
          </a:bodyPr>
          <a:lstStyle/>
          <a:p>
            <a:pPr marL="184150" marR="5080" indent="-171450">
              <a:lnSpc>
                <a:spcPct val="100000"/>
              </a:lnSpc>
              <a:spcBef>
                <a:spcPts val="100"/>
              </a:spcBef>
              <a:buFont typeface="Arial MT"/>
              <a:buChar char="•"/>
              <a:tabLst>
                <a:tab pos="184150" algn="l"/>
              </a:tabLst>
            </a:pPr>
            <a:r>
              <a:rPr dirty="0" sz="1200">
                <a:latin typeface="SimSun"/>
                <a:cs typeface="SimSun"/>
              </a:rPr>
              <a:t>UE</a:t>
            </a:r>
            <a:r>
              <a:rPr dirty="0" sz="1200" spc="-10">
                <a:latin typeface="SimSun"/>
                <a:cs typeface="SimSun"/>
              </a:rPr>
              <a:t>能力中支持的</a:t>
            </a:r>
            <a:r>
              <a:rPr dirty="0" sz="1200" spc="-15">
                <a:latin typeface="SimSun"/>
                <a:cs typeface="SimSun"/>
              </a:rPr>
              <a:t>最大带宽</a:t>
            </a:r>
            <a:endParaRPr sz="1200">
              <a:latin typeface="SimSun"/>
              <a:cs typeface="SimSun"/>
            </a:endParaRPr>
          </a:p>
          <a:p>
            <a:pPr marL="184150" marR="5080" indent="-171450">
              <a:lnSpc>
                <a:spcPct val="100000"/>
              </a:lnSpc>
              <a:buFont typeface="Arial MT"/>
              <a:buChar char="•"/>
              <a:tabLst>
                <a:tab pos="184150" algn="l"/>
              </a:tabLst>
            </a:pPr>
            <a:r>
              <a:rPr dirty="0" sz="1200">
                <a:latin typeface="SimSun"/>
                <a:cs typeface="SimSun"/>
              </a:rPr>
              <a:t>系统配置给UE</a:t>
            </a:r>
            <a:r>
              <a:rPr dirty="0" sz="1200" spc="-50">
                <a:latin typeface="SimSun"/>
                <a:cs typeface="SimSun"/>
              </a:rPr>
              <a:t>的</a:t>
            </a:r>
            <a:r>
              <a:rPr dirty="0" sz="1200">
                <a:latin typeface="SimSun"/>
                <a:cs typeface="SimSun"/>
              </a:rPr>
              <a:t>最大</a:t>
            </a:r>
            <a:r>
              <a:rPr dirty="0" sz="1200" spc="-25">
                <a:latin typeface="SimSun"/>
                <a:cs typeface="SimSun"/>
              </a:rPr>
              <a:t>BWP</a:t>
            </a:r>
            <a:endParaRPr sz="1200">
              <a:latin typeface="SimSun"/>
              <a:cs typeface="SimSun"/>
            </a:endParaRPr>
          </a:p>
        </p:txBody>
      </p:sp>
      <p:grpSp>
        <p:nvGrpSpPr>
          <p:cNvPr id="108" name="object 108" descr=""/>
          <p:cNvGrpSpPr/>
          <p:nvPr/>
        </p:nvGrpSpPr>
        <p:grpSpPr>
          <a:xfrm>
            <a:off x="594359" y="3268217"/>
            <a:ext cx="8008620" cy="483234"/>
            <a:chOff x="594359" y="3268217"/>
            <a:chExt cx="8008620" cy="483234"/>
          </a:xfrm>
        </p:grpSpPr>
        <p:pic>
          <p:nvPicPr>
            <p:cNvPr id="109" name="object 109" descr=""/>
            <p:cNvPicPr/>
            <p:nvPr/>
          </p:nvPicPr>
          <p:blipFill>
            <a:blip r:embed="rId32" cstate="print"/>
            <a:stretch>
              <a:fillRect/>
            </a:stretch>
          </p:blipFill>
          <p:spPr>
            <a:xfrm>
              <a:off x="594359" y="3332987"/>
              <a:ext cx="1620011" cy="403859"/>
            </a:xfrm>
            <a:prstGeom prst="rect">
              <a:avLst/>
            </a:prstGeom>
          </p:spPr>
        </p:pic>
        <p:pic>
          <p:nvPicPr>
            <p:cNvPr id="110" name="object 110" descr=""/>
            <p:cNvPicPr/>
            <p:nvPr/>
          </p:nvPicPr>
          <p:blipFill>
            <a:blip r:embed="rId33" cstate="print"/>
            <a:stretch>
              <a:fillRect/>
            </a:stretch>
          </p:blipFill>
          <p:spPr>
            <a:xfrm>
              <a:off x="599693" y="3314699"/>
              <a:ext cx="1609343" cy="378713"/>
            </a:xfrm>
            <a:prstGeom prst="rect">
              <a:avLst/>
            </a:prstGeom>
          </p:spPr>
        </p:pic>
        <p:sp>
          <p:nvSpPr>
            <p:cNvPr id="111" name="object 111" descr=""/>
            <p:cNvSpPr/>
            <p:nvPr/>
          </p:nvSpPr>
          <p:spPr>
            <a:xfrm>
              <a:off x="625773" y="3363837"/>
              <a:ext cx="1504315" cy="288290"/>
            </a:xfrm>
            <a:custGeom>
              <a:avLst/>
              <a:gdLst/>
              <a:ahLst/>
              <a:cxnLst/>
              <a:rect l="l" t="t" r="r" b="b"/>
              <a:pathLst>
                <a:path w="1504314" h="288289">
                  <a:moveTo>
                    <a:pt x="1455775" y="0"/>
                  </a:moveTo>
                  <a:lnTo>
                    <a:pt x="48006" y="0"/>
                  </a:lnTo>
                  <a:lnTo>
                    <a:pt x="29317" y="3771"/>
                  </a:lnTo>
                  <a:lnTo>
                    <a:pt x="14058" y="14058"/>
                  </a:lnTo>
                  <a:lnTo>
                    <a:pt x="3771" y="29317"/>
                  </a:lnTo>
                  <a:lnTo>
                    <a:pt x="0" y="48006"/>
                  </a:lnTo>
                  <a:lnTo>
                    <a:pt x="0" y="240029"/>
                  </a:lnTo>
                  <a:lnTo>
                    <a:pt x="3771" y="258712"/>
                  </a:lnTo>
                  <a:lnTo>
                    <a:pt x="14058" y="273972"/>
                  </a:lnTo>
                  <a:lnTo>
                    <a:pt x="29317" y="284262"/>
                  </a:lnTo>
                  <a:lnTo>
                    <a:pt x="48006" y="288036"/>
                  </a:lnTo>
                  <a:lnTo>
                    <a:pt x="1455775" y="288036"/>
                  </a:lnTo>
                  <a:lnTo>
                    <a:pt x="1474463" y="284262"/>
                  </a:lnTo>
                  <a:lnTo>
                    <a:pt x="1489722" y="273972"/>
                  </a:lnTo>
                  <a:lnTo>
                    <a:pt x="1500009" y="258712"/>
                  </a:lnTo>
                  <a:lnTo>
                    <a:pt x="1503781" y="240029"/>
                  </a:lnTo>
                  <a:lnTo>
                    <a:pt x="1503781" y="48006"/>
                  </a:lnTo>
                  <a:lnTo>
                    <a:pt x="1500009" y="29317"/>
                  </a:lnTo>
                  <a:lnTo>
                    <a:pt x="1489722" y="14058"/>
                  </a:lnTo>
                  <a:lnTo>
                    <a:pt x="1474463" y="3771"/>
                  </a:lnTo>
                  <a:lnTo>
                    <a:pt x="1455775" y="0"/>
                  </a:lnTo>
                  <a:close/>
                </a:path>
              </a:pathLst>
            </a:custGeom>
            <a:solidFill>
              <a:srgbClr val="FFFFFF"/>
            </a:solidFill>
          </p:spPr>
          <p:txBody>
            <a:bodyPr wrap="square" lIns="0" tIns="0" rIns="0" bIns="0" rtlCol="0"/>
            <a:lstStyle/>
            <a:p/>
          </p:txBody>
        </p:sp>
        <p:sp>
          <p:nvSpPr>
            <p:cNvPr id="112" name="object 112" descr=""/>
            <p:cNvSpPr/>
            <p:nvPr/>
          </p:nvSpPr>
          <p:spPr>
            <a:xfrm>
              <a:off x="625773" y="3363837"/>
              <a:ext cx="1504315" cy="288290"/>
            </a:xfrm>
            <a:custGeom>
              <a:avLst/>
              <a:gdLst/>
              <a:ahLst/>
              <a:cxnLst/>
              <a:rect l="l" t="t" r="r" b="b"/>
              <a:pathLst>
                <a:path w="1504314" h="288289">
                  <a:moveTo>
                    <a:pt x="0" y="48006"/>
                  </a:moveTo>
                  <a:lnTo>
                    <a:pt x="3771" y="29317"/>
                  </a:lnTo>
                  <a:lnTo>
                    <a:pt x="14058" y="14058"/>
                  </a:lnTo>
                  <a:lnTo>
                    <a:pt x="29317" y="3771"/>
                  </a:lnTo>
                  <a:lnTo>
                    <a:pt x="48006" y="0"/>
                  </a:lnTo>
                  <a:lnTo>
                    <a:pt x="1455775" y="0"/>
                  </a:lnTo>
                  <a:lnTo>
                    <a:pt x="1474463" y="3771"/>
                  </a:lnTo>
                  <a:lnTo>
                    <a:pt x="1489722" y="14058"/>
                  </a:lnTo>
                  <a:lnTo>
                    <a:pt x="1500009" y="29317"/>
                  </a:lnTo>
                  <a:lnTo>
                    <a:pt x="1503781" y="48006"/>
                  </a:lnTo>
                  <a:lnTo>
                    <a:pt x="1503781" y="240029"/>
                  </a:lnTo>
                  <a:lnTo>
                    <a:pt x="1500009" y="258712"/>
                  </a:lnTo>
                  <a:lnTo>
                    <a:pt x="1489722" y="273972"/>
                  </a:lnTo>
                  <a:lnTo>
                    <a:pt x="1474463" y="284262"/>
                  </a:lnTo>
                  <a:lnTo>
                    <a:pt x="1455775" y="288036"/>
                  </a:lnTo>
                  <a:lnTo>
                    <a:pt x="48006" y="288036"/>
                  </a:lnTo>
                  <a:lnTo>
                    <a:pt x="29317" y="284262"/>
                  </a:lnTo>
                  <a:lnTo>
                    <a:pt x="14058" y="273972"/>
                  </a:lnTo>
                  <a:lnTo>
                    <a:pt x="3771" y="258712"/>
                  </a:lnTo>
                  <a:lnTo>
                    <a:pt x="0" y="240029"/>
                  </a:lnTo>
                  <a:lnTo>
                    <a:pt x="0" y="48006"/>
                  </a:lnTo>
                  <a:close/>
                </a:path>
              </a:pathLst>
            </a:custGeom>
            <a:ln w="12700">
              <a:solidFill>
                <a:srgbClr val="0070C0"/>
              </a:solidFill>
            </a:ln>
          </p:spPr>
          <p:txBody>
            <a:bodyPr wrap="square" lIns="0" tIns="0" rIns="0" bIns="0" rtlCol="0"/>
            <a:lstStyle/>
            <a:p/>
          </p:txBody>
        </p:sp>
        <p:pic>
          <p:nvPicPr>
            <p:cNvPr id="113" name="object 113" descr=""/>
            <p:cNvPicPr/>
            <p:nvPr/>
          </p:nvPicPr>
          <p:blipFill>
            <a:blip r:embed="rId34" cstate="print"/>
            <a:stretch>
              <a:fillRect/>
            </a:stretch>
          </p:blipFill>
          <p:spPr>
            <a:xfrm>
              <a:off x="2724149" y="3332987"/>
              <a:ext cx="1620011" cy="403859"/>
            </a:xfrm>
            <a:prstGeom prst="rect">
              <a:avLst/>
            </a:prstGeom>
          </p:spPr>
        </p:pic>
        <p:pic>
          <p:nvPicPr>
            <p:cNvPr id="114" name="object 114" descr=""/>
            <p:cNvPicPr/>
            <p:nvPr/>
          </p:nvPicPr>
          <p:blipFill>
            <a:blip r:embed="rId33" cstate="print"/>
            <a:stretch>
              <a:fillRect/>
            </a:stretch>
          </p:blipFill>
          <p:spPr>
            <a:xfrm>
              <a:off x="2729483" y="3314699"/>
              <a:ext cx="1609343" cy="378713"/>
            </a:xfrm>
            <a:prstGeom prst="rect">
              <a:avLst/>
            </a:prstGeom>
          </p:spPr>
        </p:pic>
        <p:sp>
          <p:nvSpPr>
            <p:cNvPr id="115" name="object 115" descr=""/>
            <p:cNvSpPr/>
            <p:nvPr/>
          </p:nvSpPr>
          <p:spPr>
            <a:xfrm>
              <a:off x="2755329" y="3363837"/>
              <a:ext cx="1504315" cy="288290"/>
            </a:xfrm>
            <a:custGeom>
              <a:avLst/>
              <a:gdLst/>
              <a:ahLst/>
              <a:cxnLst/>
              <a:rect l="l" t="t" r="r" b="b"/>
              <a:pathLst>
                <a:path w="1504314" h="288289">
                  <a:moveTo>
                    <a:pt x="1455775" y="0"/>
                  </a:moveTo>
                  <a:lnTo>
                    <a:pt x="48006" y="0"/>
                  </a:lnTo>
                  <a:lnTo>
                    <a:pt x="29317" y="3771"/>
                  </a:lnTo>
                  <a:lnTo>
                    <a:pt x="14058" y="14058"/>
                  </a:lnTo>
                  <a:lnTo>
                    <a:pt x="3771" y="29317"/>
                  </a:lnTo>
                  <a:lnTo>
                    <a:pt x="0" y="48006"/>
                  </a:lnTo>
                  <a:lnTo>
                    <a:pt x="0" y="240029"/>
                  </a:lnTo>
                  <a:lnTo>
                    <a:pt x="3771" y="258712"/>
                  </a:lnTo>
                  <a:lnTo>
                    <a:pt x="14058" y="273972"/>
                  </a:lnTo>
                  <a:lnTo>
                    <a:pt x="29317" y="284262"/>
                  </a:lnTo>
                  <a:lnTo>
                    <a:pt x="48006" y="288036"/>
                  </a:lnTo>
                  <a:lnTo>
                    <a:pt x="1455775" y="288036"/>
                  </a:lnTo>
                  <a:lnTo>
                    <a:pt x="1474463" y="284262"/>
                  </a:lnTo>
                  <a:lnTo>
                    <a:pt x="1489722" y="273972"/>
                  </a:lnTo>
                  <a:lnTo>
                    <a:pt x="1500009" y="258712"/>
                  </a:lnTo>
                  <a:lnTo>
                    <a:pt x="1503781" y="240029"/>
                  </a:lnTo>
                  <a:lnTo>
                    <a:pt x="1503781" y="48006"/>
                  </a:lnTo>
                  <a:lnTo>
                    <a:pt x="1500009" y="29317"/>
                  </a:lnTo>
                  <a:lnTo>
                    <a:pt x="1489722" y="14058"/>
                  </a:lnTo>
                  <a:lnTo>
                    <a:pt x="1474463" y="3771"/>
                  </a:lnTo>
                  <a:lnTo>
                    <a:pt x="1455775" y="0"/>
                  </a:lnTo>
                  <a:close/>
                </a:path>
              </a:pathLst>
            </a:custGeom>
            <a:solidFill>
              <a:srgbClr val="FFFFFF"/>
            </a:solidFill>
          </p:spPr>
          <p:txBody>
            <a:bodyPr wrap="square" lIns="0" tIns="0" rIns="0" bIns="0" rtlCol="0"/>
            <a:lstStyle/>
            <a:p/>
          </p:txBody>
        </p:sp>
        <p:sp>
          <p:nvSpPr>
            <p:cNvPr id="116" name="object 116" descr=""/>
            <p:cNvSpPr/>
            <p:nvPr/>
          </p:nvSpPr>
          <p:spPr>
            <a:xfrm>
              <a:off x="2755329" y="3363837"/>
              <a:ext cx="1504315" cy="288290"/>
            </a:xfrm>
            <a:custGeom>
              <a:avLst/>
              <a:gdLst/>
              <a:ahLst/>
              <a:cxnLst/>
              <a:rect l="l" t="t" r="r" b="b"/>
              <a:pathLst>
                <a:path w="1504314" h="288289">
                  <a:moveTo>
                    <a:pt x="0" y="48006"/>
                  </a:moveTo>
                  <a:lnTo>
                    <a:pt x="3771" y="29317"/>
                  </a:lnTo>
                  <a:lnTo>
                    <a:pt x="14058" y="14058"/>
                  </a:lnTo>
                  <a:lnTo>
                    <a:pt x="29317" y="3771"/>
                  </a:lnTo>
                  <a:lnTo>
                    <a:pt x="48006" y="0"/>
                  </a:lnTo>
                  <a:lnTo>
                    <a:pt x="1455775" y="0"/>
                  </a:lnTo>
                  <a:lnTo>
                    <a:pt x="1474463" y="3771"/>
                  </a:lnTo>
                  <a:lnTo>
                    <a:pt x="1489722" y="14058"/>
                  </a:lnTo>
                  <a:lnTo>
                    <a:pt x="1500009" y="29317"/>
                  </a:lnTo>
                  <a:lnTo>
                    <a:pt x="1503781" y="48006"/>
                  </a:lnTo>
                  <a:lnTo>
                    <a:pt x="1503781" y="240029"/>
                  </a:lnTo>
                  <a:lnTo>
                    <a:pt x="1500009" y="258712"/>
                  </a:lnTo>
                  <a:lnTo>
                    <a:pt x="1489722" y="273972"/>
                  </a:lnTo>
                  <a:lnTo>
                    <a:pt x="1474463" y="284262"/>
                  </a:lnTo>
                  <a:lnTo>
                    <a:pt x="1455775" y="288036"/>
                  </a:lnTo>
                  <a:lnTo>
                    <a:pt x="48006" y="288036"/>
                  </a:lnTo>
                  <a:lnTo>
                    <a:pt x="29317" y="284262"/>
                  </a:lnTo>
                  <a:lnTo>
                    <a:pt x="14058" y="273972"/>
                  </a:lnTo>
                  <a:lnTo>
                    <a:pt x="3771" y="258712"/>
                  </a:lnTo>
                  <a:lnTo>
                    <a:pt x="0" y="240029"/>
                  </a:lnTo>
                  <a:lnTo>
                    <a:pt x="0" y="48006"/>
                  </a:lnTo>
                  <a:close/>
                </a:path>
              </a:pathLst>
            </a:custGeom>
            <a:ln w="12700">
              <a:solidFill>
                <a:srgbClr val="0070C0"/>
              </a:solidFill>
            </a:ln>
          </p:spPr>
          <p:txBody>
            <a:bodyPr wrap="square" lIns="0" tIns="0" rIns="0" bIns="0" rtlCol="0"/>
            <a:lstStyle/>
            <a:p/>
          </p:txBody>
        </p:sp>
        <p:pic>
          <p:nvPicPr>
            <p:cNvPr id="117" name="object 117" descr=""/>
            <p:cNvPicPr/>
            <p:nvPr/>
          </p:nvPicPr>
          <p:blipFill>
            <a:blip r:embed="rId35" cstate="print"/>
            <a:stretch>
              <a:fillRect/>
            </a:stretch>
          </p:blipFill>
          <p:spPr>
            <a:xfrm>
              <a:off x="4853939" y="3332987"/>
              <a:ext cx="1620010" cy="403859"/>
            </a:xfrm>
            <a:prstGeom prst="rect">
              <a:avLst/>
            </a:prstGeom>
          </p:spPr>
        </p:pic>
        <p:pic>
          <p:nvPicPr>
            <p:cNvPr id="118" name="object 118" descr=""/>
            <p:cNvPicPr/>
            <p:nvPr/>
          </p:nvPicPr>
          <p:blipFill>
            <a:blip r:embed="rId36" cstate="print"/>
            <a:stretch>
              <a:fillRect/>
            </a:stretch>
          </p:blipFill>
          <p:spPr>
            <a:xfrm>
              <a:off x="4858512" y="3314699"/>
              <a:ext cx="1598663" cy="378713"/>
            </a:xfrm>
            <a:prstGeom prst="rect">
              <a:avLst/>
            </a:prstGeom>
          </p:spPr>
        </p:pic>
        <p:sp>
          <p:nvSpPr>
            <p:cNvPr id="119" name="object 119" descr=""/>
            <p:cNvSpPr/>
            <p:nvPr/>
          </p:nvSpPr>
          <p:spPr>
            <a:xfrm>
              <a:off x="4884887" y="3363837"/>
              <a:ext cx="1504315" cy="288290"/>
            </a:xfrm>
            <a:custGeom>
              <a:avLst/>
              <a:gdLst/>
              <a:ahLst/>
              <a:cxnLst/>
              <a:rect l="l" t="t" r="r" b="b"/>
              <a:pathLst>
                <a:path w="1504314" h="288289">
                  <a:moveTo>
                    <a:pt x="1455775" y="0"/>
                  </a:moveTo>
                  <a:lnTo>
                    <a:pt x="48006" y="0"/>
                  </a:lnTo>
                  <a:lnTo>
                    <a:pt x="29317" y="3771"/>
                  </a:lnTo>
                  <a:lnTo>
                    <a:pt x="14058" y="14058"/>
                  </a:lnTo>
                  <a:lnTo>
                    <a:pt x="3771" y="29317"/>
                  </a:lnTo>
                  <a:lnTo>
                    <a:pt x="0" y="48006"/>
                  </a:lnTo>
                  <a:lnTo>
                    <a:pt x="0" y="240029"/>
                  </a:lnTo>
                  <a:lnTo>
                    <a:pt x="3771" y="258712"/>
                  </a:lnTo>
                  <a:lnTo>
                    <a:pt x="14058" y="273972"/>
                  </a:lnTo>
                  <a:lnTo>
                    <a:pt x="29317" y="284262"/>
                  </a:lnTo>
                  <a:lnTo>
                    <a:pt x="48006" y="288036"/>
                  </a:lnTo>
                  <a:lnTo>
                    <a:pt x="1455775" y="288036"/>
                  </a:lnTo>
                  <a:lnTo>
                    <a:pt x="1474463" y="284262"/>
                  </a:lnTo>
                  <a:lnTo>
                    <a:pt x="1489722" y="273972"/>
                  </a:lnTo>
                  <a:lnTo>
                    <a:pt x="1500009" y="258712"/>
                  </a:lnTo>
                  <a:lnTo>
                    <a:pt x="1503781" y="240029"/>
                  </a:lnTo>
                  <a:lnTo>
                    <a:pt x="1503781" y="48006"/>
                  </a:lnTo>
                  <a:lnTo>
                    <a:pt x="1500009" y="29317"/>
                  </a:lnTo>
                  <a:lnTo>
                    <a:pt x="1489722" y="14058"/>
                  </a:lnTo>
                  <a:lnTo>
                    <a:pt x="1474463" y="3771"/>
                  </a:lnTo>
                  <a:lnTo>
                    <a:pt x="1455775" y="0"/>
                  </a:lnTo>
                  <a:close/>
                </a:path>
              </a:pathLst>
            </a:custGeom>
            <a:solidFill>
              <a:srgbClr val="FFFFFF"/>
            </a:solidFill>
          </p:spPr>
          <p:txBody>
            <a:bodyPr wrap="square" lIns="0" tIns="0" rIns="0" bIns="0" rtlCol="0"/>
            <a:lstStyle/>
            <a:p/>
          </p:txBody>
        </p:sp>
        <p:sp>
          <p:nvSpPr>
            <p:cNvPr id="120" name="object 120" descr=""/>
            <p:cNvSpPr/>
            <p:nvPr/>
          </p:nvSpPr>
          <p:spPr>
            <a:xfrm>
              <a:off x="4884887" y="3363837"/>
              <a:ext cx="1504315" cy="288290"/>
            </a:xfrm>
            <a:custGeom>
              <a:avLst/>
              <a:gdLst/>
              <a:ahLst/>
              <a:cxnLst/>
              <a:rect l="l" t="t" r="r" b="b"/>
              <a:pathLst>
                <a:path w="1504314" h="288289">
                  <a:moveTo>
                    <a:pt x="0" y="48006"/>
                  </a:moveTo>
                  <a:lnTo>
                    <a:pt x="3771" y="29317"/>
                  </a:lnTo>
                  <a:lnTo>
                    <a:pt x="14058" y="14058"/>
                  </a:lnTo>
                  <a:lnTo>
                    <a:pt x="29317" y="3771"/>
                  </a:lnTo>
                  <a:lnTo>
                    <a:pt x="48006" y="0"/>
                  </a:lnTo>
                  <a:lnTo>
                    <a:pt x="1455775" y="0"/>
                  </a:lnTo>
                  <a:lnTo>
                    <a:pt x="1474463" y="3771"/>
                  </a:lnTo>
                  <a:lnTo>
                    <a:pt x="1489722" y="14058"/>
                  </a:lnTo>
                  <a:lnTo>
                    <a:pt x="1500009" y="29317"/>
                  </a:lnTo>
                  <a:lnTo>
                    <a:pt x="1503781" y="48006"/>
                  </a:lnTo>
                  <a:lnTo>
                    <a:pt x="1503781" y="240029"/>
                  </a:lnTo>
                  <a:lnTo>
                    <a:pt x="1500009" y="258712"/>
                  </a:lnTo>
                  <a:lnTo>
                    <a:pt x="1489722" y="273972"/>
                  </a:lnTo>
                  <a:lnTo>
                    <a:pt x="1474463" y="284262"/>
                  </a:lnTo>
                  <a:lnTo>
                    <a:pt x="1455775" y="288036"/>
                  </a:lnTo>
                  <a:lnTo>
                    <a:pt x="48006" y="288036"/>
                  </a:lnTo>
                  <a:lnTo>
                    <a:pt x="29317" y="284262"/>
                  </a:lnTo>
                  <a:lnTo>
                    <a:pt x="14058" y="273972"/>
                  </a:lnTo>
                  <a:lnTo>
                    <a:pt x="3771" y="258712"/>
                  </a:lnTo>
                  <a:lnTo>
                    <a:pt x="0" y="240029"/>
                  </a:lnTo>
                  <a:lnTo>
                    <a:pt x="0" y="48006"/>
                  </a:lnTo>
                  <a:close/>
                </a:path>
              </a:pathLst>
            </a:custGeom>
            <a:ln w="12700">
              <a:solidFill>
                <a:srgbClr val="0070C0"/>
              </a:solidFill>
            </a:ln>
          </p:spPr>
          <p:txBody>
            <a:bodyPr wrap="square" lIns="0" tIns="0" rIns="0" bIns="0" rtlCol="0"/>
            <a:lstStyle/>
            <a:p/>
          </p:txBody>
        </p:sp>
        <p:pic>
          <p:nvPicPr>
            <p:cNvPr id="121" name="object 121" descr=""/>
            <p:cNvPicPr/>
            <p:nvPr/>
          </p:nvPicPr>
          <p:blipFill>
            <a:blip r:embed="rId37" cstate="print"/>
            <a:stretch>
              <a:fillRect/>
            </a:stretch>
          </p:blipFill>
          <p:spPr>
            <a:xfrm>
              <a:off x="6982968" y="3332987"/>
              <a:ext cx="1620010" cy="403859"/>
            </a:xfrm>
            <a:prstGeom prst="rect">
              <a:avLst/>
            </a:prstGeom>
          </p:spPr>
        </p:pic>
        <p:pic>
          <p:nvPicPr>
            <p:cNvPr id="122" name="object 122" descr=""/>
            <p:cNvPicPr/>
            <p:nvPr/>
          </p:nvPicPr>
          <p:blipFill>
            <a:blip r:embed="rId38" cstate="print"/>
            <a:stretch>
              <a:fillRect/>
            </a:stretch>
          </p:blipFill>
          <p:spPr>
            <a:xfrm>
              <a:off x="6988301" y="3314699"/>
              <a:ext cx="1431796" cy="378713"/>
            </a:xfrm>
            <a:prstGeom prst="rect">
              <a:avLst/>
            </a:prstGeom>
          </p:spPr>
        </p:pic>
        <p:sp>
          <p:nvSpPr>
            <p:cNvPr id="123" name="object 123" descr=""/>
            <p:cNvSpPr/>
            <p:nvPr/>
          </p:nvSpPr>
          <p:spPr>
            <a:xfrm>
              <a:off x="7014443" y="3363837"/>
              <a:ext cx="1504315" cy="288290"/>
            </a:xfrm>
            <a:custGeom>
              <a:avLst/>
              <a:gdLst/>
              <a:ahLst/>
              <a:cxnLst/>
              <a:rect l="l" t="t" r="r" b="b"/>
              <a:pathLst>
                <a:path w="1504315" h="288289">
                  <a:moveTo>
                    <a:pt x="1455775" y="0"/>
                  </a:moveTo>
                  <a:lnTo>
                    <a:pt x="48006" y="0"/>
                  </a:lnTo>
                  <a:lnTo>
                    <a:pt x="29317" y="3771"/>
                  </a:lnTo>
                  <a:lnTo>
                    <a:pt x="14058" y="14058"/>
                  </a:lnTo>
                  <a:lnTo>
                    <a:pt x="3771" y="29317"/>
                  </a:lnTo>
                  <a:lnTo>
                    <a:pt x="0" y="48006"/>
                  </a:lnTo>
                  <a:lnTo>
                    <a:pt x="0" y="240029"/>
                  </a:lnTo>
                  <a:lnTo>
                    <a:pt x="3771" y="258712"/>
                  </a:lnTo>
                  <a:lnTo>
                    <a:pt x="14058" y="273972"/>
                  </a:lnTo>
                  <a:lnTo>
                    <a:pt x="29317" y="284262"/>
                  </a:lnTo>
                  <a:lnTo>
                    <a:pt x="48006" y="288036"/>
                  </a:lnTo>
                  <a:lnTo>
                    <a:pt x="1455775" y="288036"/>
                  </a:lnTo>
                  <a:lnTo>
                    <a:pt x="1474463" y="284262"/>
                  </a:lnTo>
                  <a:lnTo>
                    <a:pt x="1489722" y="273972"/>
                  </a:lnTo>
                  <a:lnTo>
                    <a:pt x="1500009" y="258712"/>
                  </a:lnTo>
                  <a:lnTo>
                    <a:pt x="1503781" y="240029"/>
                  </a:lnTo>
                  <a:lnTo>
                    <a:pt x="1503781" y="48006"/>
                  </a:lnTo>
                  <a:lnTo>
                    <a:pt x="1500009" y="29317"/>
                  </a:lnTo>
                  <a:lnTo>
                    <a:pt x="1489722" y="14058"/>
                  </a:lnTo>
                  <a:lnTo>
                    <a:pt x="1474463" y="3771"/>
                  </a:lnTo>
                  <a:lnTo>
                    <a:pt x="1455775" y="0"/>
                  </a:lnTo>
                  <a:close/>
                </a:path>
              </a:pathLst>
            </a:custGeom>
            <a:solidFill>
              <a:srgbClr val="FFFFFF"/>
            </a:solidFill>
          </p:spPr>
          <p:txBody>
            <a:bodyPr wrap="square" lIns="0" tIns="0" rIns="0" bIns="0" rtlCol="0"/>
            <a:lstStyle/>
            <a:p/>
          </p:txBody>
        </p:sp>
        <p:sp>
          <p:nvSpPr>
            <p:cNvPr id="124" name="object 124" descr=""/>
            <p:cNvSpPr/>
            <p:nvPr/>
          </p:nvSpPr>
          <p:spPr>
            <a:xfrm>
              <a:off x="7014443" y="3363837"/>
              <a:ext cx="1504315" cy="288290"/>
            </a:xfrm>
            <a:custGeom>
              <a:avLst/>
              <a:gdLst/>
              <a:ahLst/>
              <a:cxnLst/>
              <a:rect l="l" t="t" r="r" b="b"/>
              <a:pathLst>
                <a:path w="1504315" h="288289">
                  <a:moveTo>
                    <a:pt x="0" y="48006"/>
                  </a:moveTo>
                  <a:lnTo>
                    <a:pt x="3771" y="29317"/>
                  </a:lnTo>
                  <a:lnTo>
                    <a:pt x="14058" y="14058"/>
                  </a:lnTo>
                  <a:lnTo>
                    <a:pt x="29317" y="3771"/>
                  </a:lnTo>
                  <a:lnTo>
                    <a:pt x="48006" y="0"/>
                  </a:lnTo>
                  <a:lnTo>
                    <a:pt x="1455775" y="0"/>
                  </a:lnTo>
                  <a:lnTo>
                    <a:pt x="1474463" y="3771"/>
                  </a:lnTo>
                  <a:lnTo>
                    <a:pt x="1489722" y="14058"/>
                  </a:lnTo>
                  <a:lnTo>
                    <a:pt x="1500009" y="29317"/>
                  </a:lnTo>
                  <a:lnTo>
                    <a:pt x="1503781" y="48006"/>
                  </a:lnTo>
                  <a:lnTo>
                    <a:pt x="1503781" y="240029"/>
                  </a:lnTo>
                  <a:lnTo>
                    <a:pt x="1500009" y="258712"/>
                  </a:lnTo>
                  <a:lnTo>
                    <a:pt x="1489722" y="273972"/>
                  </a:lnTo>
                  <a:lnTo>
                    <a:pt x="1474463" y="284262"/>
                  </a:lnTo>
                  <a:lnTo>
                    <a:pt x="1455775" y="288036"/>
                  </a:lnTo>
                  <a:lnTo>
                    <a:pt x="48006" y="288036"/>
                  </a:lnTo>
                  <a:lnTo>
                    <a:pt x="29317" y="284262"/>
                  </a:lnTo>
                  <a:lnTo>
                    <a:pt x="14058" y="273972"/>
                  </a:lnTo>
                  <a:lnTo>
                    <a:pt x="3771" y="258712"/>
                  </a:lnTo>
                  <a:lnTo>
                    <a:pt x="0" y="240029"/>
                  </a:lnTo>
                  <a:lnTo>
                    <a:pt x="0" y="48006"/>
                  </a:lnTo>
                  <a:close/>
                </a:path>
              </a:pathLst>
            </a:custGeom>
            <a:ln w="12700">
              <a:solidFill>
                <a:srgbClr val="0070C0"/>
              </a:solidFill>
            </a:ln>
          </p:spPr>
          <p:txBody>
            <a:bodyPr wrap="square" lIns="0" tIns="0" rIns="0" bIns="0" rtlCol="0"/>
            <a:lstStyle/>
            <a:p/>
          </p:txBody>
        </p:sp>
        <p:pic>
          <p:nvPicPr>
            <p:cNvPr id="125" name="object 125"/>
            <p:cNvPicPr/>
            <p:nvPr/>
          </p:nvPicPr>
          <p:blipFill>
            <a:blip r:embed="rId39" cstate="print"/>
            <a:stretch>
              <a:fillRect/>
            </a:stretch>
          </p:blipFill>
          <p:spPr>
            <a:xfrm>
              <a:off x="2219706" y="3268217"/>
              <a:ext cx="472439" cy="483107"/>
            </a:xfrm>
            <a:prstGeom prst="rect">
              <a:avLst/>
            </a:prstGeom>
          </p:spPr>
        </p:pic>
        <p:sp>
          <p:nvSpPr>
            <p:cNvPr id="126" name="object 126" descr=""/>
            <p:cNvSpPr/>
            <p:nvPr/>
          </p:nvSpPr>
          <p:spPr>
            <a:xfrm>
              <a:off x="2257628" y="3305200"/>
              <a:ext cx="343535" cy="354330"/>
            </a:xfrm>
            <a:custGeom>
              <a:avLst/>
              <a:gdLst/>
              <a:ahLst/>
              <a:cxnLst/>
              <a:rect l="l" t="t" r="r" b="b"/>
              <a:pathLst>
                <a:path w="343535" h="354329">
                  <a:moveTo>
                    <a:pt x="343204" y="167640"/>
                  </a:moveTo>
                  <a:lnTo>
                    <a:pt x="181470" y="167640"/>
                  </a:lnTo>
                  <a:lnTo>
                    <a:pt x="181470" y="0"/>
                  </a:lnTo>
                  <a:lnTo>
                    <a:pt x="161734" y="0"/>
                  </a:lnTo>
                  <a:lnTo>
                    <a:pt x="161734" y="167640"/>
                  </a:lnTo>
                  <a:lnTo>
                    <a:pt x="0" y="167640"/>
                  </a:lnTo>
                  <a:lnTo>
                    <a:pt x="0" y="187960"/>
                  </a:lnTo>
                  <a:lnTo>
                    <a:pt x="161734" y="187960"/>
                  </a:lnTo>
                  <a:lnTo>
                    <a:pt x="161734" y="354330"/>
                  </a:lnTo>
                  <a:lnTo>
                    <a:pt x="181470" y="354330"/>
                  </a:lnTo>
                  <a:lnTo>
                    <a:pt x="181470" y="187960"/>
                  </a:lnTo>
                  <a:lnTo>
                    <a:pt x="343204" y="187960"/>
                  </a:lnTo>
                  <a:lnTo>
                    <a:pt x="343204" y="167640"/>
                  </a:lnTo>
                  <a:close/>
                </a:path>
              </a:pathLst>
            </a:custGeom>
            <a:solidFill>
              <a:srgbClr val="F2F2F2"/>
            </a:solidFill>
          </p:spPr>
          <p:txBody>
            <a:bodyPr wrap="square" lIns="0" tIns="0" rIns="0" bIns="0" rtlCol="0"/>
            <a:lstStyle/>
            <a:p/>
          </p:txBody>
        </p:sp>
        <p:sp>
          <p:nvSpPr>
            <p:cNvPr id="127" name="object 127" descr=""/>
            <p:cNvSpPr/>
            <p:nvPr/>
          </p:nvSpPr>
          <p:spPr>
            <a:xfrm>
              <a:off x="2257638" y="3305465"/>
              <a:ext cx="343535" cy="354965"/>
            </a:xfrm>
            <a:custGeom>
              <a:avLst/>
              <a:gdLst/>
              <a:ahLst/>
              <a:cxnLst/>
              <a:rect l="l" t="t" r="r" b="b"/>
              <a:pathLst>
                <a:path w="343535" h="354964">
                  <a:moveTo>
                    <a:pt x="0" y="167373"/>
                  </a:moveTo>
                  <a:lnTo>
                    <a:pt x="161734" y="167373"/>
                  </a:lnTo>
                  <a:lnTo>
                    <a:pt x="161734" y="0"/>
                  </a:lnTo>
                  <a:lnTo>
                    <a:pt x="181470" y="0"/>
                  </a:lnTo>
                  <a:lnTo>
                    <a:pt x="181470" y="167373"/>
                  </a:lnTo>
                  <a:lnTo>
                    <a:pt x="343204" y="167373"/>
                  </a:lnTo>
                  <a:lnTo>
                    <a:pt x="343204" y="187096"/>
                  </a:lnTo>
                  <a:lnTo>
                    <a:pt x="181470" y="187096"/>
                  </a:lnTo>
                  <a:lnTo>
                    <a:pt x="181470" y="354482"/>
                  </a:lnTo>
                  <a:lnTo>
                    <a:pt x="161734" y="354482"/>
                  </a:lnTo>
                  <a:lnTo>
                    <a:pt x="161734" y="187096"/>
                  </a:lnTo>
                  <a:lnTo>
                    <a:pt x="0" y="187096"/>
                  </a:lnTo>
                  <a:lnTo>
                    <a:pt x="0" y="167373"/>
                  </a:lnTo>
                  <a:close/>
                </a:path>
              </a:pathLst>
            </a:custGeom>
            <a:ln w="25400">
              <a:solidFill>
                <a:srgbClr val="F2F2F2"/>
              </a:solidFill>
            </a:ln>
          </p:spPr>
          <p:txBody>
            <a:bodyPr wrap="square" lIns="0" tIns="0" rIns="0" bIns="0" rtlCol="0"/>
            <a:lstStyle/>
            <a:p/>
          </p:txBody>
        </p:sp>
        <p:pic>
          <p:nvPicPr>
            <p:cNvPr id="128" name="object 128"/>
            <p:cNvPicPr/>
            <p:nvPr/>
          </p:nvPicPr>
          <p:blipFill>
            <a:blip r:embed="rId40" cstate="print"/>
            <a:stretch>
              <a:fillRect/>
            </a:stretch>
          </p:blipFill>
          <p:spPr>
            <a:xfrm>
              <a:off x="4345686" y="3268217"/>
              <a:ext cx="471677" cy="483107"/>
            </a:xfrm>
            <a:prstGeom prst="rect">
              <a:avLst/>
            </a:prstGeom>
          </p:spPr>
        </p:pic>
        <p:sp>
          <p:nvSpPr>
            <p:cNvPr id="129" name="object 129" descr=""/>
            <p:cNvSpPr/>
            <p:nvPr/>
          </p:nvSpPr>
          <p:spPr>
            <a:xfrm>
              <a:off x="4382909" y="3305200"/>
              <a:ext cx="343535" cy="354330"/>
            </a:xfrm>
            <a:custGeom>
              <a:avLst/>
              <a:gdLst/>
              <a:ahLst/>
              <a:cxnLst/>
              <a:rect l="l" t="t" r="r" b="b"/>
              <a:pathLst>
                <a:path w="343535" h="354329">
                  <a:moveTo>
                    <a:pt x="343204" y="167640"/>
                  </a:moveTo>
                  <a:lnTo>
                    <a:pt x="181470" y="167640"/>
                  </a:lnTo>
                  <a:lnTo>
                    <a:pt x="181470" y="0"/>
                  </a:lnTo>
                  <a:lnTo>
                    <a:pt x="161734" y="0"/>
                  </a:lnTo>
                  <a:lnTo>
                    <a:pt x="161734" y="167640"/>
                  </a:lnTo>
                  <a:lnTo>
                    <a:pt x="0" y="167640"/>
                  </a:lnTo>
                  <a:lnTo>
                    <a:pt x="0" y="187960"/>
                  </a:lnTo>
                  <a:lnTo>
                    <a:pt x="161734" y="187960"/>
                  </a:lnTo>
                  <a:lnTo>
                    <a:pt x="161734" y="354330"/>
                  </a:lnTo>
                  <a:lnTo>
                    <a:pt x="181470" y="354330"/>
                  </a:lnTo>
                  <a:lnTo>
                    <a:pt x="181470" y="187960"/>
                  </a:lnTo>
                  <a:lnTo>
                    <a:pt x="343204" y="187960"/>
                  </a:lnTo>
                  <a:lnTo>
                    <a:pt x="343204" y="167640"/>
                  </a:lnTo>
                  <a:close/>
                </a:path>
              </a:pathLst>
            </a:custGeom>
            <a:solidFill>
              <a:srgbClr val="F2F2F2"/>
            </a:solidFill>
          </p:spPr>
          <p:txBody>
            <a:bodyPr wrap="square" lIns="0" tIns="0" rIns="0" bIns="0" rtlCol="0"/>
            <a:lstStyle/>
            <a:p/>
          </p:txBody>
        </p:sp>
        <p:sp>
          <p:nvSpPr>
            <p:cNvPr id="130" name="object 130" descr=""/>
            <p:cNvSpPr/>
            <p:nvPr/>
          </p:nvSpPr>
          <p:spPr>
            <a:xfrm>
              <a:off x="4382915" y="3305465"/>
              <a:ext cx="343535" cy="354965"/>
            </a:xfrm>
            <a:custGeom>
              <a:avLst/>
              <a:gdLst/>
              <a:ahLst/>
              <a:cxnLst/>
              <a:rect l="l" t="t" r="r" b="b"/>
              <a:pathLst>
                <a:path w="343535" h="354964">
                  <a:moveTo>
                    <a:pt x="0" y="167373"/>
                  </a:moveTo>
                  <a:lnTo>
                    <a:pt x="161734" y="167373"/>
                  </a:lnTo>
                  <a:lnTo>
                    <a:pt x="161734" y="0"/>
                  </a:lnTo>
                  <a:lnTo>
                    <a:pt x="181470" y="0"/>
                  </a:lnTo>
                  <a:lnTo>
                    <a:pt x="181470" y="167373"/>
                  </a:lnTo>
                  <a:lnTo>
                    <a:pt x="343204" y="167373"/>
                  </a:lnTo>
                  <a:lnTo>
                    <a:pt x="343204" y="187096"/>
                  </a:lnTo>
                  <a:lnTo>
                    <a:pt x="181470" y="187096"/>
                  </a:lnTo>
                  <a:lnTo>
                    <a:pt x="181470" y="354482"/>
                  </a:lnTo>
                  <a:lnTo>
                    <a:pt x="161734" y="354482"/>
                  </a:lnTo>
                  <a:lnTo>
                    <a:pt x="161734" y="187096"/>
                  </a:lnTo>
                  <a:lnTo>
                    <a:pt x="0" y="187096"/>
                  </a:lnTo>
                  <a:lnTo>
                    <a:pt x="0" y="167373"/>
                  </a:lnTo>
                  <a:close/>
                </a:path>
              </a:pathLst>
            </a:custGeom>
            <a:ln w="25400">
              <a:solidFill>
                <a:srgbClr val="F2F2F2"/>
              </a:solidFill>
            </a:ln>
          </p:spPr>
          <p:txBody>
            <a:bodyPr wrap="square" lIns="0" tIns="0" rIns="0" bIns="0" rtlCol="0"/>
            <a:lstStyle/>
            <a:p/>
          </p:txBody>
        </p:sp>
        <p:pic>
          <p:nvPicPr>
            <p:cNvPr id="131" name="object 131"/>
            <p:cNvPicPr/>
            <p:nvPr/>
          </p:nvPicPr>
          <p:blipFill>
            <a:blip r:embed="rId40" cstate="print"/>
            <a:stretch>
              <a:fillRect/>
            </a:stretch>
          </p:blipFill>
          <p:spPr>
            <a:xfrm>
              <a:off x="6505956" y="3268217"/>
              <a:ext cx="471676" cy="483107"/>
            </a:xfrm>
            <a:prstGeom prst="rect">
              <a:avLst/>
            </a:prstGeom>
          </p:spPr>
        </p:pic>
        <p:sp>
          <p:nvSpPr>
            <p:cNvPr id="132" name="object 132" descr=""/>
            <p:cNvSpPr/>
            <p:nvPr/>
          </p:nvSpPr>
          <p:spPr>
            <a:xfrm>
              <a:off x="6543154" y="3305200"/>
              <a:ext cx="343535" cy="354330"/>
            </a:xfrm>
            <a:custGeom>
              <a:avLst/>
              <a:gdLst/>
              <a:ahLst/>
              <a:cxnLst/>
              <a:rect l="l" t="t" r="r" b="b"/>
              <a:pathLst>
                <a:path w="343534" h="354329">
                  <a:moveTo>
                    <a:pt x="343204" y="167640"/>
                  </a:moveTo>
                  <a:lnTo>
                    <a:pt x="181470" y="167640"/>
                  </a:lnTo>
                  <a:lnTo>
                    <a:pt x="181470" y="0"/>
                  </a:lnTo>
                  <a:lnTo>
                    <a:pt x="161734" y="0"/>
                  </a:lnTo>
                  <a:lnTo>
                    <a:pt x="161734" y="167640"/>
                  </a:lnTo>
                  <a:lnTo>
                    <a:pt x="0" y="167640"/>
                  </a:lnTo>
                  <a:lnTo>
                    <a:pt x="0" y="187960"/>
                  </a:lnTo>
                  <a:lnTo>
                    <a:pt x="161734" y="187960"/>
                  </a:lnTo>
                  <a:lnTo>
                    <a:pt x="161734" y="354330"/>
                  </a:lnTo>
                  <a:lnTo>
                    <a:pt x="181470" y="354330"/>
                  </a:lnTo>
                  <a:lnTo>
                    <a:pt x="181470" y="187960"/>
                  </a:lnTo>
                  <a:lnTo>
                    <a:pt x="343204" y="187960"/>
                  </a:lnTo>
                  <a:lnTo>
                    <a:pt x="343204" y="167640"/>
                  </a:lnTo>
                  <a:close/>
                </a:path>
              </a:pathLst>
            </a:custGeom>
            <a:solidFill>
              <a:srgbClr val="F2F2F2"/>
            </a:solidFill>
          </p:spPr>
          <p:txBody>
            <a:bodyPr wrap="square" lIns="0" tIns="0" rIns="0" bIns="0" rtlCol="0"/>
            <a:lstStyle/>
            <a:p/>
          </p:txBody>
        </p:sp>
        <p:sp>
          <p:nvSpPr>
            <p:cNvPr id="133" name="object 133" descr=""/>
            <p:cNvSpPr/>
            <p:nvPr/>
          </p:nvSpPr>
          <p:spPr>
            <a:xfrm>
              <a:off x="6543156" y="3305465"/>
              <a:ext cx="343535" cy="354965"/>
            </a:xfrm>
            <a:custGeom>
              <a:avLst/>
              <a:gdLst/>
              <a:ahLst/>
              <a:cxnLst/>
              <a:rect l="l" t="t" r="r" b="b"/>
              <a:pathLst>
                <a:path w="343534" h="354964">
                  <a:moveTo>
                    <a:pt x="0" y="167373"/>
                  </a:moveTo>
                  <a:lnTo>
                    <a:pt x="161734" y="167373"/>
                  </a:lnTo>
                  <a:lnTo>
                    <a:pt x="161734" y="0"/>
                  </a:lnTo>
                  <a:lnTo>
                    <a:pt x="181470" y="0"/>
                  </a:lnTo>
                  <a:lnTo>
                    <a:pt x="181470" y="167373"/>
                  </a:lnTo>
                  <a:lnTo>
                    <a:pt x="343204" y="167373"/>
                  </a:lnTo>
                  <a:lnTo>
                    <a:pt x="343204" y="187096"/>
                  </a:lnTo>
                  <a:lnTo>
                    <a:pt x="181470" y="187096"/>
                  </a:lnTo>
                  <a:lnTo>
                    <a:pt x="181470" y="354482"/>
                  </a:lnTo>
                  <a:lnTo>
                    <a:pt x="161734" y="354482"/>
                  </a:lnTo>
                  <a:lnTo>
                    <a:pt x="161734" y="187096"/>
                  </a:lnTo>
                  <a:lnTo>
                    <a:pt x="0" y="187096"/>
                  </a:lnTo>
                  <a:lnTo>
                    <a:pt x="0" y="167373"/>
                  </a:lnTo>
                  <a:close/>
                </a:path>
              </a:pathLst>
            </a:custGeom>
            <a:ln w="25400">
              <a:solidFill>
                <a:srgbClr val="F2F2F2"/>
              </a:solidFill>
            </a:ln>
          </p:spPr>
          <p:txBody>
            <a:bodyPr wrap="square" lIns="0" tIns="0" rIns="0" bIns="0" rtlCol="0"/>
            <a:lstStyle/>
            <a:p/>
          </p:txBody>
        </p:sp>
      </p:grpSp>
      <p:sp>
        <p:nvSpPr>
          <p:cNvPr id="134" name="object 134" descr=""/>
          <p:cNvSpPr txBox="1"/>
          <p:nvPr/>
        </p:nvSpPr>
        <p:spPr>
          <a:xfrm>
            <a:off x="42227" y="2680972"/>
            <a:ext cx="8654415" cy="942975"/>
          </a:xfrm>
          <a:prstGeom prst="rect">
            <a:avLst/>
          </a:prstGeom>
        </p:spPr>
        <p:txBody>
          <a:bodyPr wrap="square" lIns="0" tIns="76835" rIns="0" bIns="0" rtlCol="0" vert="horz">
            <a:spAutoFit/>
          </a:bodyPr>
          <a:lstStyle/>
          <a:p>
            <a:pPr marL="12700">
              <a:lnSpc>
                <a:spcPct val="100000"/>
              </a:lnSpc>
              <a:spcBef>
                <a:spcPts val="605"/>
              </a:spcBef>
            </a:pPr>
            <a:r>
              <a:rPr dirty="0" sz="1400" spc="-20">
                <a:latin typeface="SimSun"/>
                <a:cs typeface="SimSun"/>
              </a:rPr>
              <a:t>吞吐量=可用资源</a:t>
            </a:r>
            <a:r>
              <a:rPr dirty="0" sz="1400" spc="-10">
                <a:latin typeface="SimSun"/>
                <a:cs typeface="SimSun"/>
              </a:rPr>
              <a:t>*</a:t>
            </a:r>
            <a:r>
              <a:rPr dirty="0" sz="1400" spc="-20">
                <a:latin typeface="SimSun"/>
                <a:cs typeface="SimSun"/>
              </a:rPr>
              <a:t>码率</a:t>
            </a:r>
            <a:r>
              <a:rPr dirty="0" sz="1400" spc="-10">
                <a:latin typeface="SimSun"/>
                <a:cs typeface="SimSun"/>
              </a:rPr>
              <a:t>*</a:t>
            </a:r>
            <a:r>
              <a:rPr dirty="0" sz="1400" spc="-20">
                <a:latin typeface="SimSun"/>
                <a:cs typeface="SimSun"/>
              </a:rPr>
              <a:t>调制方式</a:t>
            </a:r>
            <a:r>
              <a:rPr dirty="0" sz="1400" spc="-10">
                <a:latin typeface="SimSun"/>
                <a:cs typeface="SimSun"/>
              </a:rPr>
              <a:t>*</a:t>
            </a:r>
            <a:r>
              <a:rPr dirty="0" sz="1400" spc="-20">
                <a:latin typeface="SimSun"/>
                <a:cs typeface="SimSun"/>
              </a:rPr>
              <a:t>流数</a:t>
            </a:r>
            <a:r>
              <a:rPr dirty="0" sz="1400" spc="-10">
                <a:latin typeface="SimSun"/>
                <a:cs typeface="SimSun"/>
              </a:rPr>
              <a:t>*a*</a:t>
            </a:r>
            <a:r>
              <a:rPr dirty="0" sz="1400" spc="-20">
                <a:latin typeface="SimSun"/>
                <a:cs typeface="SimSun"/>
              </a:rPr>
              <a:t>上下行占比/时间，</a:t>
            </a:r>
            <a:r>
              <a:rPr dirty="0" sz="1400" spc="-10">
                <a:latin typeface="Arial MT"/>
                <a:cs typeface="Arial MT"/>
              </a:rPr>
              <a:t>a</a:t>
            </a:r>
            <a:r>
              <a:rPr dirty="0" sz="1400" spc="-25">
                <a:latin typeface="SimSun"/>
                <a:cs typeface="SimSun"/>
              </a:rPr>
              <a:t>为多流干扰导致的码率下降系数，需要仿真确定</a:t>
            </a:r>
            <a:endParaRPr sz="1400">
              <a:latin typeface="SimSun"/>
              <a:cs typeface="SimSun"/>
            </a:endParaRPr>
          </a:p>
          <a:p>
            <a:pPr marL="84455">
              <a:lnSpc>
                <a:spcPct val="100000"/>
              </a:lnSpc>
              <a:spcBef>
                <a:spcPts val="585"/>
              </a:spcBef>
            </a:pPr>
            <a:r>
              <a:rPr dirty="0" sz="1600">
                <a:latin typeface="Arial MT"/>
                <a:cs typeface="Arial MT"/>
              </a:rPr>
              <a:t>UE</a:t>
            </a:r>
            <a:r>
              <a:rPr dirty="0" sz="1600" spc="-15">
                <a:latin typeface="SimSun"/>
                <a:cs typeface="SimSun"/>
              </a:rPr>
              <a:t>峰值速率影响因素：</a:t>
            </a:r>
            <a:endParaRPr sz="1600">
              <a:latin typeface="SimSun"/>
              <a:cs typeface="SimSun"/>
            </a:endParaRPr>
          </a:p>
          <a:p>
            <a:pPr marL="688975">
              <a:lnSpc>
                <a:spcPct val="100000"/>
              </a:lnSpc>
              <a:spcBef>
                <a:spcPts val="855"/>
              </a:spcBef>
              <a:tabLst>
                <a:tab pos="2818130" algn="l"/>
                <a:tab pos="4947920" algn="l"/>
                <a:tab pos="7077075" algn="l"/>
              </a:tabLst>
            </a:pPr>
            <a:r>
              <a:rPr dirty="0" sz="1400" spc="-20">
                <a:latin typeface="SimSun"/>
                <a:cs typeface="SimSun"/>
              </a:rPr>
              <a:t>支持的最大带</a:t>
            </a:r>
            <a:r>
              <a:rPr dirty="0" sz="1400" spc="-50">
                <a:latin typeface="SimSun"/>
                <a:cs typeface="SimSun"/>
              </a:rPr>
              <a:t>宽</a:t>
            </a:r>
            <a:r>
              <a:rPr dirty="0" sz="1400">
                <a:latin typeface="SimSun"/>
                <a:cs typeface="SimSun"/>
              </a:rPr>
              <a:t>	</a:t>
            </a:r>
            <a:r>
              <a:rPr dirty="0" sz="1400" spc="-20">
                <a:latin typeface="SimSun"/>
                <a:cs typeface="SimSun"/>
              </a:rPr>
              <a:t>支持的最大流</a:t>
            </a:r>
            <a:r>
              <a:rPr dirty="0" sz="1400" spc="-50">
                <a:latin typeface="SimSun"/>
                <a:cs typeface="SimSun"/>
              </a:rPr>
              <a:t>数</a:t>
            </a:r>
            <a:r>
              <a:rPr dirty="0" sz="1400">
                <a:latin typeface="SimSun"/>
                <a:cs typeface="SimSun"/>
              </a:rPr>
              <a:t>	</a:t>
            </a:r>
            <a:r>
              <a:rPr dirty="0" sz="1400" spc="-20">
                <a:latin typeface="SimSun"/>
                <a:cs typeface="SimSun"/>
              </a:rPr>
              <a:t>支持的最大</a:t>
            </a:r>
            <a:r>
              <a:rPr dirty="0" sz="1400" spc="-25">
                <a:latin typeface="Arial MT"/>
                <a:cs typeface="Arial MT"/>
              </a:rPr>
              <a:t>TBS</a:t>
            </a:r>
            <a:r>
              <a:rPr dirty="0" sz="1400">
                <a:latin typeface="Arial MT"/>
                <a:cs typeface="Arial MT"/>
              </a:rPr>
              <a:t>	</a:t>
            </a:r>
            <a:r>
              <a:rPr dirty="0" sz="1400" spc="-20">
                <a:latin typeface="SimSun"/>
                <a:cs typeface="SimSun"/>
              </a:rPr>
              <a:t>其他影响因</a:t>
            </a:r>
            <a:r>
              <a:rPr dirty="0" sz="1400" spc="-50">
                <a:latin typeface="SimSun"/>
                <a:cs typeface="SimSun"/>
              </a:rPr>
              <a:t>素</a:t>
            </a:r>
            <a:endParaRPr sz="1400">
              <a:latin typeface="SimSun"/>
              <a:cs typeface="SimSun"/>
            </a:endParaRPr>
          </a:p>
        </p:txBody>
      </p:sp>
      <p:sp>
        <p:nvSpPr>
          <p:cNvPr id="135" name="object 135" descr=""/>
          <p:cNvSpPr txBox="1"/>
          <p:nvPr/>
        </p:nvSpPr>
        <p:spPr>
          <a:xfrm>
            <a:off x="230958" y="4744550"/>
            <a:ext cx="446722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SimSun"/>
                <a:cs typeface="SimSun"/>
              </a:rPr>
              <a:t>峰速=可用资源</a:t>
            </a:r>
            <a:r>
              <a:rPr dirty="0" sz="1400" spc="-10">
                <a:latin typeface="SimSun"/>
                <a:cs typeface="SimSun"/>
              </a:rPr>
              <a:t>*</a:t>
            </a:r>
            <a:r>
              <a:rPr dirty="0" sz="1400" spc="-20">
                <a:latin typeface="SimSun"/>
                <a:cs typeface="SimSun"/>
              </a:rPr>
              <a:t>码率</a:t>
            </a:r>
            <a:r>
              <a:rPr dirty="0" sz="1400" spc="-10">
                <a:latin typeface="SimSun"/>
                <a:cs typeface="SimSun"/>
              </a:rPr>
              <a:t>*</a:t>
            </a:r>
            <a:r>
              <a:rPr dirty="0" sz="1400" spc="-20">
                <a:latin typeface="SimSun"/>
                <a:cs typeface="SimSun"/>
              </a:rPr>
              <a:t>调制方式</a:t>
            </a:r>
            <a:r>
              <a:rPr dirty="0" sz="1400" spc="-10">
                <a:latin typeface="SimSun"/>
                <a:cs typeface="SimSun"/>
              </a:rPr>
              <a:t>*</a:t>
            </a:r>
            <a:r>
              <a:rPr dirty="0" sz="1400" spc="-20">
                <a:latin typeface="SimSun"/>
                <a:cs typeface="SimSun"/>
              </a:rPr>
              <a:t>流数</a:t>
            </a:r>
            <a:r>
              <a:rPr dirty="0" sz="1400" spc="-10">
                <a:latin typeface="SimSun"/>
                <a:cs typeface="SimSun"/>
              </a:rPr>
              <a:t>*a*</a:t>
            </a:r>
            <a:r>
              <a:rPr dirty="0" sz="1400" spc="-25">
                <a:latin typeface="SimSun"/>
                <a:cs typeface="SimSun"/>
              </a:rPr>
              <a:t>上下行占比/时间</a:t>
            </a:r>
            <a:endParaRPr sz="1400">
              <a:latin typeface="SimSun"/>
              <a:cs typeface="SimSu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429000" y="971550"/>
            <a:ext cx="45720" cy="3759200"/>
          </a:xfrm>
          <a:custGeom>
            <a:avLst/>
            <a:gdLst/>
            <a:ahLst/>
            <a:cxnLst/>
            <a:rect l="l" t="t" r="r" b="b"/>
            <a:pathLst>
              <a:path w="45720" h="3759200">
                <a:moveTo>
                  <a:pt x="0" y="0"/>
                </a:moveTo>
                <a:lnTo>
                  <a:pt x="45720" y="3758806"/>
                </a:lnTo>
              </a:path>
            </a:pathLst>
          </a:custGeom>
          <a:ln w="34924">
            <a:solidFill>
              <a:srgbClr val="000000"/>
            </a:solidFill>
          </a:ln>
        </p:spPr>
        <p:txBody>
          <a:bodyPr wrap="square" lIns="0" tIns="0" rIns="0" bIns="0" rtlCol="0"/>
          <a:lstStyle/>
          <a:p/>
        </p:txBody>
      </p:sp>
      <p:grpSp>
        <p:nvGrpSpPr>
          <p:cNvPr id="3" name="object 3" descr=""/>
          <p:cNvGrpSpPr/>
          <p:nvPr/>
        </p:nvGrpSpPr>
        <p:grpSpPr>
          <a:xfrm>
            <a:off x="3727450" y="1614091"/>
            <a:ext cx="4660900" cy="498475"/>
            <a:chOff x="3727450" y="1614091"/>
            <a:chExt cx="4660900" cy="498475"/>
          </a:xfrm>
        </p:grpSpPr>
        <p:pic>
          <p:nvPicPr>
            <p:cNvPr id="4" name="object 4" descr=""/>
            <p:cNvPicPr/>
            <p:nvPr/>
          </p:nvPicPr>
          <p:blipFill>
            <a:blip r:embed="rId2" cstate="print"/>
            <a:stretch>
              <a:fillRect/>
            </a:stretch>
          </p:blipFill>
          <p:spPr>
            <a:xfrm>
              <a:off x="3733800" y="1620441"/>
              <a:ext cx="4648200" cy="485775"/>
            </a:xfrm>
            <a:prstGeom prst="rect">
              <a:avLst/>
            </a:prstGeom>
          </p:spPr>
        </p:pic>
        <p:sp>
          <p:nvSpPr>
            <p:cNvPr id="5" name="object 5" descr=""/>
            <p:cNvSpPr/>
            <p:nvPr/>
          </p:nvSpPr>
          <p:spPr>
            <a:xfrm>
              <a:off x="3733800" y="16204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727450" y="2261791"/>
            <a:ext cx="4660900" cy="498475"/>
            <a:chOff x="3727450" y="2261791"/>
            <a:chExt cx="4660900" cy="498475"/>
          </a:xfrm>
        </p:grpSpPr>
        <p:pic>
          <p:nvPicPr>
            <p:cNvPr id="7" name="object 7" descr=""/>
            <p:cNvPicPr/>
            <p:nvPr/>
          </p:nvPicPr>
          <p:blipFill>
            <a:blip r:embed="rId3" cstate="print"/>
            <a:stretch>
              <a:fillRect/>
            </a:stretch>
          </p:blipFill>
          <p:spPr>
            <a:xfrm>
              <a:off x="3733800" y="2268141"/>
              <a:ext cx="4648200" cy="485775"/>
            </a:xfrm>
            <a:prstGeom prst="rect">
              <a:avLst/>
            </a:prstGeom>
          </p:spPr>
        </p:pic>
        <p:sp>
          <p:nvSpPr>
            <p:cNvPr id="8" name="object 8" descr=""/>
            <p:cNvSpPr/>
            <p:nvPr/>
          </p:nvSpPr>
          <p:spPr>
            <a:xfrm>
              <a:off x="3733800" y="22681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727450" y="965200"/>
            <a:ext cx="4660900" cy="498475"/>
            <a:chOff x="3727450" y="965200"/>
            <a:chExt cx="4660900" cy="498475"/>
          </a:xfrm>
        </p:grpSpPr>
        <p:pic>
          <p:nvPicPr>
            <p:cNvPr id="10" name="object 10" descr=""/>
            <p:cNvPicPr/>
            <p:nvPr/>
          </p:nvPicPr>
          <p:blipFill>
            <a:blip r:embed="rId4" cstate="print"/>
            <a:stretch>
              <a:fillRect/>
            </a:stretch>
          </p:blipFill>
          <p:spPr>
            <a:xfrm>
              <a:off x="3733800" y="971550"/>
              <a:ext cx="4648200" cy="485775"/>
            </a:xfrm>
            <a:prstGeom prst="rect">
              <a:avLst/>
            </a:prstGeom>
          </p:spPr>
        </p:pic>
        <p:sp>
          <p:nvSpPr>
            <p:cNvPr id="11" name="object 11" descr=""/>
            <p:cNvSpPr/>
            <p:nvPr/>
          </p:nvSpPr>
          <p:spPr>
            <a:xfrm>
              <a:off x="3733800" y="971550"/>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174619" y="39229"/>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主</a:t>
            </a:r>
            <a:r>
              <a:rPr dirty="0" sz="4400"/>
              <a:t>	</a:t>
            </a:r>
            <a:r>
              <a:rPr dirty="0" sz="4400" spc="-50"/>
              <a:t>要</a:t>
            </a:r>
            <a:r>
              <a:rPr dirty="0" sz="4400"/>
              <a:t>	</a:t>
            </a:r>
            <a:r>
              <a:rPr dirty="0" sz="4400" spc="-50"/>
              <a:t>内</a:t>
            </a:r>
            <a:r>
              <a:rPr dirty="0" sz="4400"/>
              <a:t>	</a:t>
            </a:r>
            <a:r>
              <a:rPr dirty="0" sz="4400" spc="-50"/>
              <a:t>容</a:t>
            </a:r>
            <a:endParaRPr sz="4400"/>
          </a:p>
        </p:txBody>
      </p:sp>
      <p:grpSp>
        <p:nvGrpSpPr>
          <p:cNvPr id="13" name="object 13" descr=""/>
          <p:cNvGrpSpPr/>
          <p:nvPr/>
        </p:nvGrpSpPr>
        <p:grpSpPr>
          <a:xfrm>
            <a:off x="3727450" y="2909491"/>
            <a:ext cx="4660900" cy="498475"/>
            <a:chOff x="3727450" y="2909491"/>
            <a:chExt cx="4660900" cy="498475"/>
          </a:xfrm>
        </p:grpSpPr>
        <p:pic>
          <p:nvPicPr>
            <p:cNvPr id="14" name="object 14" descr=""/>
            <p:cNvPicPr/>
            <p:nvPr/>
          </p:nvPicPr>
          <p:blipFill>
            <a:blip r:embed="rId3" cstate="print"/>
            <a:stretch>
              <a:fillRect/>
            </a:stretch>
          </p:blipFill>
          <p:spPr>
            <a:xfrm>
              <a:off x="3733800" y="2915841"/>
              <a:ext cx="4648200" cy="485775"/>
            </a:xfrm>
            <a:prstGeom prst="rect">
              <a:avLst/>
            </a:prstGeom>
          </p:spPr>
        </p:pic>
        <p:sp>
          <p:nvSpPr>
            <p:cNvPr id="15" name="object 15" descr=""/>
            <p:cNvSpPr/>
            <p:nvPr/>
          </p:nvSpPr>
          <p:spPr>
            <a:xfrm>
              <a:off x="3733800" y="29158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6" name="object 16" descr=""/>
          <p:cNvGrpSpPr/>
          <p:nvPr/>
        </p:nvGrpSpPr>
        <p:grpSpPr>
          <a:xfrm>
            <a:off x="3727450" y="3557189"/>
            <a:ext cx="4660900" cy="498475"/>
            <a:chOff x="3727450" y="3557189"/>
            <a:chExt cx="4660900" cy="498475"/>
          </a:xfrm>
        </p:grpSpPr>
        <p:pic>
          <p:nvPicPr>
            <p:cNvPr id="17" name="object 17" descr=""/>
            <p:cNvPicPr/>
            <p:nvPr/>
          </p:nvPicPr>
          <p:blipFill>
            <a:blip r:embed="rId5" cstate="print"/>
            <a:stretch>
              <a:fillRect/>
            </a:stretch>
          </p:blipFill>
          <p:spPr>
            <a:xfrm>
              <a:off x="3733800" y="3563539"/>
              <a:ext cx="4648200" cy="485775"/>
            </a:xfrm>
            <a:prstGeom prst="rect">
              <a:avLst/>
            </a:prstGeom>
          </p:spPr>
        </p:pic>
        <p:sp>
          <p:nvSpPr>
            <p:cNvPr id="18" name="object 18" descr=""/>
            <p:cNvSpPr/>
            <p:nvPr/>
          </p:nvSpPr>
          <p:spPr>
            <a:xfrm>
              <a:off x="3733800" y="3563539"/>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4"/>
                  </a:lnTo>
                  <a:lnTo>
                    <a:pt x="80962" y="485774"/>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9" name="object 19" descr=""/>
          <p:cNvGrpSpPr/>
          <p:nvPr/>
        </p:nvGrpSpPr>
        <p:grpSpPr>
          <a:xfrm>
            <a:off x="3727450" y="4238228"/>
            <a:ext cx="4660900" cy="498475"/>
            <a:chOff x="3727450" y="4238228"/>
            <a:chExt cx="4660900" cy="498475"/>
          </a:xfrm>
        </p:grpSpPr>
        <p:pic>
          <p:nvPicPr>
            <p:cNvPr id="20" name="object 20" descr=""/>
            <p:cNvPicPr/>
            <p:nvPr/>
          </p:nvPicPr>
          <p:blipFill>
            <a:blip r:embed="rId6" cstate="print"/>
            <a:stretch>
              <a:fillRect/>
            </a:stretch>
          </p:blipFill>
          <p:spPr>
            <a:xfrm>
              <a:off x="3733800" y="4244578"/>
              <a:ext cx="4648200" cy="485775"/>
            </a:xfrm>
            <a:prstGeom prst="rect">
              <a:avLst/>
            </a:prstGeom>
          </p:spPr>
        </p:pic>
        <p:sp>
          <p:nvSpPr>
            <p:cNvPr id="21" name="object 21" descr=""/>
            <p:cNvSpPr/>
            <p:nvPr/>
          </p:nvSpPr>
          <p:spPr>
            <a:xfrm>
              <a:off x="3733800" y="4244578"/>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3836253" y="1007427"/>
            <a:ext cx="4072890" cy="3664585"/>
          </a:xfrm>
          <a:prstGeom prst="rect">
            <a:avLst/>
          </a:prstGeom>
        </p:spPr>
        <p:txBody>
          <a:bodyPr wrap="square" lIns="0" tIns="12700" rIns="0" bIns="0" rtlCol="0" vert="horz">
            <a:spAutoFit/>
          </a:bodyPr>
          <a:lstStyle/>
          <a:p>
            <a:pPr marL="12700">
              <a:lnSpc>
                <a:spcPct val="100000"/>
              </a:lnSpc>
              <a:spcBef>
                <a:spcPts val="100"/>
              </a:spcBef>
            </a:pPr>
            <a:r>
              <a:rPr dirty="0" sz="2400">
                <a:latin typeface="Microsoft YaHei"/>
                <a:cs typeface="Microsoft YaHei"/>
              </a:rPr>
              <a:t>一、</a:t>
            </a:r>
            <a:r>
              <a:rPr dirty="0" sz="2400" spc="-20">
                <a:latin typeface="Times New Roman"/>
                <a:cs typeface="Times New Roman"/>
              </a:rPr>
              <a:t>5G</a:t>
            </a:r>
            <a:r>
              <a:rPr dirty="0" sz="2400" spc="-5">
                <a:latin typeface="Microsoft YaHei"/>
                <a:cs typeface="Microsoft YaHei"/>
              </a:rPr>
              <a:t>系统无线网络规划概述</a:t>
            </a:r>
            <a:endParaRPr sz="2400">
              <a:latin typeface="Microsoft YaHei"/>
              <a:cs typeface="Microsoft YaHei"/>
            </a:endParaRPr>
          </a:p>
          <a:p>
            <a:pPr algn="just" marL="12700" marR="5080">
              <a:lnSpc>
                <a:spcPct val="177100"/>
              </a:lnSpc>
              <a:spcBef>
                <a:spcPts val="5"/>
              </a:spcBef>
            </a:pPr>
            <a:r>
              <a:rPr dirty="0" sz="2400">
                <a:latin typeface="Microsoft YaHei"/>
                <a:cs typeface="Microsoft YaHei"/>
              </a:rPr>
              <a:t>二、</a:t>
            </a:r>
            <a:r>
              <a:rPr dirty="0" sz="2400" spc="-20">
                <a:latin typeface="Times New Roman"/>
                <a:cs typeface="Times New Roman"/>
              </a:rPr>
              <a:t>5G</a:t>
            </a:r>
            <a:r>
              <a:rPr dirty="0" sz="2400" spc="-5">
                <a:latin typeface="Microsoft YaHei"/>
                <a:cs typeface="Microsoft YaHei"/>
              </a:rPr>
              <a:t>系统无线网络规划过程</a:t>
            </a:r>
            <a:r>
              <a:rPr dirty="0" sz="2400" b="1">
                <a:solidFill>
                  <a:srgbClr val="FF0000"/>
                </a:solidFill>
                <a:latin typeface="Microsoft YaHei"/>
                <a:cs typeface="Microsoft YaHei"/>
              </a:rPr>
              <a:t>三、</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无线网络宏站组网策略</a:t>
            </a:r>
            <a:r>
              <a:rPr dirty="0" sz="2400">
                <a:latin typeface="Microsoft YaHei"/>
                <a:cs typeface="Microsoft YaHei"/>
              </a:rPr>
              <a:t>四、</a:t>
            </a:r>
            <a:r>
              <a:rPr dirty="0" sz="2400" spc="-20">
                <a:latin typeface="Times New Roman"/>
                <a:cs typeface="Times New Roman"/>
              </a:rPr>
              <a:t>5G</a:t>
            </a:r>
            <a:r>
              <a:rPr dirty="0" sz="2400" spc="-5">
                <a:latin typeface="Microsoft YaHei"/>
                <a:cs typeface="Microsoft YaHei"/>
              </a:rPr>
              <a:t>无线网络微站组网策略</a:t>
            </a:r>
            <a:r>
              <a:rPr dirty="0" sz="2400">
                <a:latin typeface="Microsoft YaHei"/>
                <a:cs typeface="Microsoft YaHei"/>
              </a:rPr>
              <a:t>五、</a:t>
            </a:r>
            <a:r>
              <a:rPr dirty="0" sz="2400" spc="-20">
                <a:latin typeface="Times New Roman"/>
                <a:cs typeface="Times New Roman"/>
              </a:rPr>
              <a:t>5G</a:t>
            </a:r>
            <a:r>
              <a:rPr dirty="0" sz="2400" spc="-5">
                <a:latin typeface="Microsoft YaHei"/>
                <a:cs typeface="Microsoft YaHei"/>
              </a:rPr>
              <a:t>无线网络室分组网策略</a:t>
            </a:r>
            <a:endParaRPr sz="2400">
              <a:latin typeface="Microsoft YaHei"/>
              <a:cs typeface="Microsoft YaHei"/>
            </a:endParaRPr>
          </a:p>
          <a:p>
            <a:pPr marL="12700">
              <a:lnSpc>
                <a:spcPct val="100000"/>
              </a:lnSpc>
              <a:spcBef>
                <a:spcPts val="2485"/>
              </a:spcBef>
            </a:pPr>
            <a:r>
              <a:rPr dirty="0" sz="2400">
                <a:latin typeface="Microsoft YaHei"/>
                <a:cs typeface="Microsoft YaHei"/>
              </a:rPr>
              <a:t>六、</a:t>
            </a:r>
            <a:r>
              <a:rPr dirty="0" sz="2400" spc="-20">
                <a:latin typeface="Times New Roman"/>
                <a:cs typeface="Times New Roman"/>
              </a:rPr>
              <a:t>5G</a:t>
            </a:r>
            <a:r>
              <a:rPr dirty="0" sz="2400" spc="-5">
                <a:latin typeface="Microsoft YaHei"/>
                <a:cs typeface="Microsoft YaHei"/>
              </a:rPr>
              <a:t>无线网络现场测试分享</a:t>
            </a:r>
            <a:endParaRPr sz="2400">
              <a:latin typeface="Microsoft YaHei"/>
              <a:cs typeface="Microsoft YaHei"/>
            </a:endParaRPr>
          </a:p>
        </p:txBody>
      </p:sp>
      <p:pic>
        <p:nvPicPr>
          <p:cNvPr id="23" name="object 23"/>
          <p:cNvPicPr/>
          <p:nvPr/>
        </p:nvPicPr>
        <p:blipFill>
          <a:blip r:embed="rId7" cstate="print"/>
          <a:stretch>
            <a:fillRect/>
          </a:stretch>
        </p:blipFill>
        <p:spPr>
          <a:xfrm>
            <a:off x="179400" y="971550"/>
            <a:ext cx="3097199" cy="378621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2700" y="806450"/>
            <a:ext cx="9169400" cy="4140200"/>
            <a:chOff x="-12700" y="806450"/>
            <a:chExt cx="9169400" cy="4140200"/>
          </a:xfrm>
        </p:grpSpPr>
        <p:sp>
          <p:nvSpPr>
            <p:cNvPr id="3" name="object 3" descr=""/>
            <p:cNvSpPr/>
            <p:nvPr/>
          </p:nvSpPr>
          <p:spPr>
            <a:xfrm>
              <a:off x="0" y="819150"/>
              <a:ext cx="9144000" cy="4114800"/>
            </a:xfrm>
            <a:custGeom>
              <a:avLst/>
              <a:gdLst/>
              <a:ahLst/>
              <a:cxnLst/>
              <a:rect l="l" t="t" r="r" b="b"/>
              <a:pathLst>
                <a:path w="9144000" h="4114800">
                  <a:moveTo>
                    <a:pt x="9144000" y="0"/>
                  </a:moveTo>
                  <a:lnTo>
                    <a:pt x="0" y="0"/>
                  </a:lnTo>
                  <a:lnTo>
                    <a:pt x="0" y="4114800"/>
                  </a:lnTo>
                  <a:lnTo>
                    <a:pt x="9144000" y="4114800"/>
                  </a:lnTo>
                  <a:lnTo>
                    <a:pt x="9144000" y="0"/>
                  </a:lnTo>
                  <a:close/>
                </a:path>
              </a:pathLst>
            </a:custGeom>
            <a:solidFill>
              <a:srgbClr val="92D050"/>
            </a:solidFill>
          </p:spPr>
          <p:txBody>
            <a:bodyPr wrap="square" lIns="0" tIns="0" rIns="0" bIns="0" rtlCol="0"/>
            <a:lstStyle/>
            <a:p/>
          </p:txBody>
        </p:sp>
        <p:sp>
          <p:nvSpPr>
            <p:cNvPr id="4" name="object 4" descr=""/>
            <p:cNvSpPr/>
            <p:nvPr/>
          </p:nvSpPr>
          <p:spPr>
            <a:xfrm>
              <a:off x="0" y="819150"/>
              <a:ext cx="9144000" cy="4114800"/>
            </a:xfrm>
            <a:custGeom>
              <a:avLst/>
              <a:gdLst/>
              <a:ahLst/>
              <a:cxnLst/>
              <a:rect l="l" t="t" r="r" b="b"/>
              <a:pathLst>
                <a:path w="9144000" h="4114800">
                  <a:moveTo>
                    <a:pt x="0" y="0"/>
                  </a:moveTo>
                  <a:lnTo>
                    <a:pt x="9144000" y="0"/>
                  </a:lnTo>
                  <a:lnTo>
                    <a:pt x="9144000" y="4114800"/>
                  </a:lnTo>
                  <a:lnTo>
                    <a:pt x="0" y="4114800"/>
                  </a:lnTo>
                  <a:lnTo>
                    <a:pt x="0" y="0"/>
                  </a:lnTo>
                  <a:close/>
                </a:path>
              </a:pathLst>
            </a:custGeom>
            <a:ln w="25400">
              <a:solidFill>
                <a:srgbClr val="89A4A7"/>
              </a:solidFill>
            </a:ln>
          </p:spPr>
          <p:txBody>
            <a:bodyPr wrap="square" lIns="0" tIns="0" rIns="0" bIns="0" rtlCol="0"/>
            <a:lstStyle/>
            <a:p/>
          </p:txBody>
        </p:sp>
        <p:pic>
          <p:nvPicPr>
            <p:cNvPr id="5" name="object 5"/>
            <p:cNvPicPr/>
            <p:nvPr/>
          </p:nvPicPr>
          <p:blipFill>
            <a:blip r:embed="rId2" cstate="print"/>
            <a:stretch>
              <a:fillRect/>
            </a:stretch>
          </p:blipFill>
          <p:spPr>
            <a:xfrm>
              <a:off x="3004629" y="922164"/>
              <a:ext cx="5583258" cy="3934541"/>
            </a:xfrm>
            <a:prstGeom prst="rect">
              <a:avLst/>
            </a:prstGeom>
          </p:spPr>
        </p:pic>
      </p:grpSp>
      <p:sp>
        <p:nvSpPr>
          <p:cNvPr id="6" name="object 6"/>
          <p:cNvSpPr txBox="1">
            <a:spLocks noGrp="1"/>
          </p:cNvSpPr>
          <p:nvPr>
            <p:ph type="title"/>
          </p:nvPr>
        </p:nvSpPr>
        <p:spPr>
          <a:xfrm>
            <a:off x="1295527" y="152688"/>
            <a:ext cx="7239000" cy="452755"/>
          </a:xfrm>
          <a:prstGeom prst="rect"/>
        </p:spPr>
        <p:txBody>
          <a:bodyPr wrap="square" lIns="0" tIns="12700" rIns="0" bIns="0" rtlCol="0" vert="horz">
            <a:spAutoFit/>
          </a:bodyPr>
          <a:lstStyle/>
          <a:p>
            <a:pPr marL="12700">
              <a:lnSpc>
                <a:spcPct val="100000"/>
              </a:lnSpc>
              <a:spcBef>
                <a:spcPts val="100"/>
              </a:spcBef>
            </a:pPr>
            <a:r>
              <a:rPr dirty="0" sz="2800" spc="-10">
                <a:latin typeface="Times New Roman"/>
                <a:cs typeface="Times New Roman"/>
              </a:rPr>
              <a:t>5G</a:t>
            </a:r>
            <a:r>
              <a:rPr dirty="0" sz="2800" spc="-15"/>
              <a:t>建设总体策略：多频协同宏微结合内外兼顾</a:t>
            </a:r>
            <a:endParaRPr sz="2800">
              <a:latin typeface="Times New Roman"/>
              <a:cs typeface="Times New Roman"/>
            </a:endParaRPr>
          </a:p>
        </p:txBody>
      </p:sp>
      <p:sp>
        <p:nvSpPr>
          <p:cNvPr id="7" name="object 7" descr=""/>
          <p:cNvSpPr txBox="1"/>
          <p:nvPr/>
        </p:nvSpPr>
        <p:spPr>
          <a:xfrm>
            <a:off x="605523" y="896039"/>
            <a:ext cx="2037080" cy="3867150"/>
          </a:xfrm>
          <a:prstGeom prst="rect">
            <a:avLst/>
          </a:prstGeom>
        </p:spPr>
        <p:txBody>
          <a:bodyPr wrap="square" lIns="0" tIns="12700" rIns="0" bIns="0" rtlCol="0" vert="horz">
            <a:spAutoFit/>
          </a:bodyPr>
          <a:lstStyle/>
          <a:p>
            <a:pPr marL="12700" marR="5080" indent="365760">
              <a:lnSpc>
                <a:spcPct val="150000"/>
              </a:lnSpc>
              <a:spcBef>
                <a:spcPts val="100"/>
              </a:spcBef>
            </a:pPr>
            <a:r>
              <a:rPr dirty="0" sz="1400" spc="-15">
                <a:solidFill>
                  <a:srgbClr val="FFFFFF"/>
                </a:solidFill>
                <a:latin typeface="Microsoft YaHei"/>
                <a:cs typeface="Microsoft YaHei"/>
              </a:rPr>
              <a:t>5G组网采用宏站微站结合的方式，宏站作为广域覆盖的中坚力量，微站和室分是深度覆盖和容量吸收的重要手段，5G网络采用3.5G频段作为广覆盖频段，与现有2.6G</a:t>
            </a:r>
            <a:r>
              <a:rPr dirty="0" sz="1400" spc="-10">
                <a:solidFill>
                  <a:srgbClr val="FFFFFF"/>
                </a:solidFill>
                <a:latin typeface="Microsoft YaHei"/>
                <a:cs typeface="Microsoft YaHei"/>
              </a:rPr>
              <a:t>的 </a:t>
            </a:r>
            <a:r>
              <a:rPr dirty="0" sz="1400" spc="-15">
                <a:solidFill>
                  <a:srgbClr val="FFFFFF"/>
                </a:solidFill>
                <a:latin typeface="Microsoft YaHei"/>
                <a:cs typeface="Microsoft YaHei"/>
              </a:rPr>
              <a:t>4G网络基站覆盖能力相差不多，原有4G宏站作为 5G宏站覆盖的基础，在此基础上适当增加。微站及室分数量将几何式增加。</a:t>
            </a:r>
            <a:endParaRPr sz="1400">
              <a:latin typeface="Microsoft YaHei"/>
              <a:cs typeface="Microsoft YaHei"/>
            </a:endParaRPr>
          </a:p>
        </p:txBody>
      </p:sp>
    </p:spTree>
  </p:cSld>
  <p:clrMapOvr>
    <a:masterClrMapping/>
  </p:clrMapOvr>
  <p:transition spd="med">
    <p:fade thruBlk="0"/>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637474" y="1309547"/>
            <a:ext cx="7052945" cy="2026285"/>
            <a:chOff x="1637474" y="1309547"/>
            <a:chExt cx="7052945" cy="2026285"/>
          </a:xfrm>
        </p:grpSpPr>
        <p:sp>
          <p:nvSpPr>
            <p:cNvPr id="3" name="object 3" descr=""/>
            <p:cNvSpPr/>
            <p:nvPr/>
          </p:nvSpPr>
          <p:spPr>
            <a:xfrm>
              <a:off x="1650174" y="1322247"/>
              <a:ext cx="6960870" cy="2000885"/>
            </a:xfrm>
            <a:custGeom>
              <a:avLst/>
              <a:gdLst/>
              <a:ahLst/>
              <a:cxnLst/>
              <a:rect l="l" t="t" r="r" b="b"/>
              <a:pathLst>
                <a:path w="6960870" h="2000885">
                  <a:moveTo>
                    <a:pt x="0" y="1470545"/>
                  </a:moveTo>
                  <a:lnTo>
                    <a:pt x="6960717" y="1470545"/>
                  </a:lnTo>
                  <a:lnTo>
                    <a:pt x="6960717" y="2000872"/>
                  </a:lnTo>
                  <a:lnTo>
                    <a:pt x="0" y="2000872"/>
                  </a:lnTo>
                  <a:lnTo>
                    <a:pt x="0" y="1470545"/>
                  </a:lnTo>
                  <a:close/>
                </a:path>
                <a:path w="6960870" h="2000885">
                  <a:moveTo>
                    <a:pt x="16357" y="0"/>
                  </a:moveTo>
                  <a:lnTo>
                    <a:pt x="6960717" y="0"/>
                  </a:lnTo>
                  <a:lnTo>
                    <a:pt x="6960717" y="1429588"/>
                  </a:lnTo>
                  <a:lnTo>
                    <a:pt x="16357" y="1429588"/>
                  </a:lnTo>
                  <a:lnTo>
                    <a:pt x="16357" y="0"/>
                  </a:lnTo>
                  <a:close/>
                </a:path>
              </a:pathLst>
            </a:custGeom>
            <a:ln w="25400">
              <a:solidFill>
                <a:srgbClr val="FF0000"/>
              </a:solidFill>
              <a:prstDash val="sysDash"/>
            </a:ln>
          </p:spPr>
          <p:txBody>
            <a:bodyPr wrap="square" lIns="0" tIns="0" rIns="0" bIns="0" rtlCol="0"/>
            <a:lstStyle/>
            <a:p/>
          </p:txBody>
        </p:sp>
        <p:pic>
          <p:nvPicPr>
            <p:cNvPr id="4" name="object 4" descr=""/>
            <p:cNvPicPr/>
            <p:nvPr/>
          </p:nvPicPr>
          <p:blipFill>
            <a:blip r:embed="rId2" cstate="print"/>
            <a:stretch>
              <a:fillRect/>
            </a:stretch>
          </p:blipFill>
          <p:spPr>
            <a:xfrm>
              <a:off x="6050279" y="1368552"/>
              <a:ext cx="2639568" cy="441960"/>
            </a:xfrm>
            <a:prstGeom prst="rect">
              <a:avLst/>
            </a:prstGeom>
          </p:spPr>
        </p:pic>
        <p:pic>
          <p:nvPicPr>
            <p:cNvPr id="5" name="object 5" descr=""/>
            <p:cNvPicPr/>
            <p:nvPr/>
          </p:nvPicPr>
          <p:blipFill>
            <a:blip r:embed="rId3" cstate="print"/>
            <a:stretch>
              <a:fillRect/>
            </a:stretch>
          </p:blipFill>
          <p:spPr>
            <a:xfrm>
              <a:off x="4154423" y="2865132"/>
              <a:ext cx="2036064" cy="441947"/>
            </a:xfrm>
            <a:prstGeom prst="rect">
              <a:avLst/>
            </a:prstGeom>
          </p:spPr>
        </p:pic>
      </p:grpSp>
      <p:sp>
        <p:nvSpPr>
          <p:cNvPr id="6" name="object 6" descr=""/>
          <p:cNvSpPr txBox="1"/>
          <p:nvPr/>
        </p:nvSpPr>
        <p:spPr>
          <a:xfrm>
            <a:off x="179514" y="843559"/>
            <a:ext cx="8725535" cy="346710"/>
          </a:xfrm>
          <a:prstGeom prst="rect">
            <a:avLst/>
          </a:prstGeom>
          <a:solidFill>
            <a:srgbClr val="E7F3F4"/>
          </a:solidFill>
        </p:spPr>
        <p:txBody>
          <a:bodyPr wrap="square" lIns="0" tIns="87630" rIns="0" bIns="0" rtlCol="0" vert="horz">
            <a:spAutoFit/>
          </a:bodyPr>
          <a:lstStyle/>
          <a:p>
            <a:pPr marL="67945">
              <a:lnSpc>
                <a:spcPct val="100000"/>
              </a:lnSpc>
              <a:spcBef>
                <a:spcPts val="690"/>
              </a:spcBef>
            </a:pPr>
            <a:r>
              <a:rPr dirty="0" sz="1200" spc="-10">
                <a:solidFill>
                  <a:srgbClr val="3E3E3E"/>
                </a:solidFill>
                <a:latin typeface="Microsoft YaHei"/>
                <a:cs typeface="Microsoft YaHei"/>
              </a:rPr>
              <a:t>5G</a:t>
            </a:r>
            <a:r>
              <a:rPr dirty="0" sz="1200" spc="-5">
                <a:solidFill>
                  <a:srgbClr val="3E3E3E"/>
                </a:solidFill>
                <a:latin typeface="Microsoft YaHei"/>
                <a:cs typeface="Microsoft YaHei"/>
              </a:rPr>
              <a:t>新型的网格布局及巨大建设需求给网络建设带来的新要求及挑战，怎样密集部署微站并有效控制成本，提高效益成为关键点。</a:t>
            </a:r>
            <a:endParaRPr sz="1200">
              <a:latin typeface="Microsoft YaHei"/>
              <a:cs typeface="Microsoft YaHei"/>
            </a:endParaRPr>
          </a:p>
        </p:txBody>
      </p:sp>
      <p:sp>
        <p:nvSpPr>
          <p:cNvPr id="7" name="object 7" descr=""/>
          <p:cNvSpPr txBox="1"/>
          <p:nvPr/>
        </p:nvSpPr>
        <p:spPr>
          <a:xfrm>
            <a:off x="4482908" y="2938386"/>
            <a:ext cx="1393825" cy="269875"/>
          </a:xfrm>
          <a:prstGeom prst="rect">
            <a:avLst/>
          </a:prstGeom>
        </p:spPr>
        <p:txBody>
          <a:bodyPr wrap="square" lIns="0" tIns="12700" rIns="0" bIns="0" rtlCol="0" vert="horz">
            <a:spAutoFit/>
          </a:bodyPr>
          <a:lstStyle/>
          <a:p>
            <a:pPr>
              <a:lnSpc>
                <a:spcPct val="100000"/>
              </a:lnSpc>
              <a:spcBef>
                <a:spcPts val="100"/>
              </a:spcBef>
            </a:pPr>
            <a:r>
              <a:rPr dirty="0" sz="1600">
                <a:solidFill>
                  <a:srgbClr val="FFFFFF"/>
                </a:solidFill>
                <a:latin typeface="Microsoft YaHei"/>
                <a:cs typeface="Microsoft YaHei"/>
              </a:rPr>
              <a:t>微站分布式</a:t>
            </a:r>
            <a:r>
              <a:rPr dirty="0" sz="1600" spc="-20">
                <a:solidFill>
                  <a:srgbClr val="FFFFFF"/>
                </a:solidFill>
                <a:latin typeface="Tahoma"/>
                <a:cs typeface="Tahoma"/>
              </a:rPr>
              <a:t>pico</a:t>
            </a:r>
            <a:endParaRPr sz="1600">
              <a:latin typeface="Tahoma"/>
              <a:cs typeface="Tahoma"/>
            </a:endParaRPr>
          </a:p>
        </p:txBody>
      </p:sp>
      <p:grpSp>
        <p:nvGrpSpPr>
          <p:cNvPr id="8" name="object 8" descr=""/>
          <p:cNvGrpSpPr/>
          <p:nvPr/>
        </p:nvGrpSpPr>
        <p:grpSpPr>
          <a:xfrm>
            <a:off x="6114288" y="1789176"/>
            <a:ext cx="2484120" cy="917575"/>
            <a:chOff x="6114288" y="1789176"/>
            <a:chExt cx="2484120" cy="917575"/>
          </a:xfrm>
        </p:grpSpPr>
        <p:pic>
          <p:nvPicPr>
            <p:cNvPr id="9" name="object 9" descr=""/>
            <p:cNvPicPr/>
            <p:nvPr/>
          </p:nvPicPr>
          <p:blipFill>
            <a:blip r:embed="rId4" cstate="print"/>
            <a:stretch>
              <a:fillRect/>
            </a:stretch>
          </p:blipFill>
          <p:spPr>
            <a:xfrm>
              <a:off x="6114288" y="1789176"/>
              <a:ext cx="2484120" cy="445008"/>
            </a:xfrm>
            <a:prstGeom prst="rect">
              <a:avLst/>
            </a:prstGeom>
          </p:spPr>
        </p:pic>
        <p:pic>
          <p:nvPicPr>
            <p:cNvPr id="10" name="object 10" descr=""/>
            <p:cNvPicPr/>
            <p:nvPr/>
          </p:nvPicPr>
          <p:blipFill>
            <a:blip r:embed="rId4" cstate="print"/>
            <a:stretch>
              <a:fillRect/>
            </a:stretch>
          </p:blipFill>
          <p:spPr>
            <a:xfrm>
              <a:off x="6114288" y="2261616"/>
              <a:ext cx="2484120" cy="445008"/>
            </a:xfrm>
            <a:prstGeom prst="rect">
              <a:avLst/>
            </a:prstGeom>
          </p:spPr>
        </p:pic>
      </p:grpSp>
      <p:sp>
        <p:nvSpPr>
          <p:cNvPr id="11" name="object 11" descr=""/>
          <p:cNvSpPr txBox="1"/>
          <p:nvPr/>
        </p:nvSpPr>
        <p:spPr>
          <a:xfrm>
            <a:off x="6220426" y="1440558"/>
            <a:ext cx="2251075" cy="1164590"/>
          </a:xfrm>
          <a:prstGeom prst="rect">
            <a:avLst/>
          </a:prstGeom>
        </p:spPr>
        <p:txBody>
          <a:bodyPr wrap="square" lIns="0" tIns="12700" rIns="0" bIns="0" rtlCol="0" vert="horz">
            <a:spAutoFit/>
          </a:bodyPr>
          <a:lstStyle/>
          <a:p>
            <a:pPr>
              <a:lnSpc>
                <a:spcPct val="100000"/>
              </a:lnSpc>
              <a:spcBef>
                <a:spcPts val="100"/>
              </a:spcBef>
            </a:pPr>
            <a:r>
              <a:rPr dirty="0" sz="1600" spc="-5">
                <a:solidFill>
                  <a:srgbClr val="FFFFFF"/>
                </a:solidFill>
                <a:latin typeface="Microsoft YaHei"/>
                <a:cs typeface="Microsoft YaHei"/>
              </a:rPr>
              <a:t>站距缩小、微站比例增加</a:t>
            </a:r>
            <a:endParaRPr sz="1600">
              <a:latin typeface="Microsoft YaHei"/>
              <a:cs typeface="Microsoft YaHei"/>
            </a:endParaRPr>
          </a:p>
          <a:p>
            <a:pPr marL="111125" marR="96520">
              <a:lnSpc>
                <a:spcPts val="3720"/>
              </a:lnSpc>
            </a:pPr>
            <a:r>
              <a:rPr dirty="0" sz="1600" spc="-5">
                <a:solidFill>
                  <a:srgbClr val="FFFFFF"/>
                </a:solidFill>
                <a:latin typeface="Microsoft YaHei"/>
                <a:cs typeface="Microsoft YaHei"/>
              </a:rPr>
              <a:t>需求激增、需储备资源节点云机房、配套升级</a:t>
            </a:r>
            <a:endParaRPr sz="1600">
              <a:latin typeface="Microsoft YaHei"/>
              <a:cs typeface="Microsoft YaHei"/>
            </a:endParaRPr>
          </a:p>
        </p:txBody>
      </p:sp>
      <p:grpSp>
        <p:nvGrpSpPr>
          <p:cNvPr id="12" name="object 12" descr=""/>
          <p:cNvGrpSpPr/>
          <p:nvPr/>
        </p:nvGrpSpPr>
        <p:grpSpPr>
          <a:xfrm>
            <a:off x="1354106" y="1341120"/>
            <a:ext cx="1160780" cy="1978660"/>
            <a:chOff x="1354106" y="1341120"/>
            <a:chExt cx="1160780" cy="1978660"/>
          </a:xfrm>
        </p:grpSpPr>
        <p:sp>
          <p:nvSpPr>
            <p:cNvPr id="13" name="object 13" descr=""/>
            <p:cNvSpPr/>
            <p:nvPr/>
          </p:nvSpPr>
          <p:spPr>
            <a:xfrm>
              <a:off x="1366806" y="1497516"/>
              <a:ext cx="267970" cy="1573530"/>
            </a:xfrm>
            <a:custGeom>
              <a:avLst/>
              <a:gdLst/>
              <a:ahLst/>
              <a:cxnLst/>
              <a:rect l="l" t="t" r="r" b="b"/>
              <a:pathLst>
                <a:path w="267969" h="1573530">
                  <a:moveTo>
                    <a:pt x="267462" y="1573263"/>
                  </a:moveTo>
                  <a:lnTo>
                    <a:pt x="215405" y="1571511"/>
                  </a:lnTo>
                  <a:lnTo>
                    <a:pt x="172897" y="1566733"/>
                  </a:lnTo>
                  <a:lnTo>
                    <a:pt x="144239" y="1559649"/>
                  </a:lnTo>
                  <a:lnTo>
                    <a:pt x="133731" y="1550974"/>
                  </a:lnTo>
                  <a:lnTo>
                    <a:pt x="133731" y="808926"/>
                  </a:lnTo>
                  <a:lnTo>
                    <a:pt x="123220" y="800246"/>
                  </a:lnTo>
                  <a:lnTo>
                    <a:pt x="94559" y="793162"/>
                  </a:lnTo>
                  <a:lnTo>
                    <a:pt x="52051" y="788388"/>
                  </a:lnTo>
                  <a:lnTo>
                    <a:pt x="0" y="786638"/>
                  </a:lnTo>
                  <a:lnTo>
                    <a:pt x="52051" y="784885"/>
                  </a:lnTo>
                  <a:lnTo>
                    <a:pt x="94559" y="780108"/>
                  </a:lnTo>
                  <a:lnTo>
                    <a:pt x="123220" y="773023"/>
                  </a:lnTo>
                  <a:lnTo>
                    <a:pt x="133731" y="764349"/>
                  </a:lnTo>
                  <a:lnTo>
                    <a:pt x="133731" y="22288"/>
                  </a:lnTo>
                  <a:lnTo>
                    <a:pt x="144239" y="13614"/>
                  </a:lnTo>
                  <a:lnTo>
                    <a:pt x="172897" y="6529"/>
                  </a:lnTo>
                  <a:lnTo>
                    <a:pt x="215405" y="1752"/>
                  </a:lnTo>
                  <a:lnTo>
                    <a:pt x="267462" y="0"/>
                  </a:lnTo>
                </a:path>
              </a:pathLst>
            </a:custGeom>
            <a:ln w="25400">
              <a:solidFill>
                <a:srgbClr val="2D2D8A"/>
              </a:solidFill>
            </a:ln>
          </p:spPr>
          <p:txBody>
            <a:bodyPr wrap="square" lIns="0" tIns="0" rIns="0" bIns="0" rtlCol="0"/>
            <a:lstStyle/>
            <a:p/>
          </p:txBody>
        </p:sp>
        <p:pic>
          <p:nvPicPr>
            <p:cNvPr id="14" name="object 14" descr=""/>
            <p:cNvPicPr/>
            <p:nvPr/>
          </p:nvPicPr>
          <p:blipFill>
            <a:blip r:embed="rId5" cstate="print"/>
            <a:stretch>
              <a:fillRect/>
            </a:stretch>
          </p:blipFill>
          <p:spPr>
            <a:xfrm>
              <a:off x="1703831" y="1341120"/>
              <a:ext cx="810768" cy="1325880"/>
            </a:xfrm>
            <a:prstGeom prst="rect">
              <a:avLst/>
            </a:prstGeom>
          </p:spPr>
        </p:pic>
        <p:pic>
          <p:nvPicPr>
            <p:cNvPr id="15" name="object 15" descr=""/>
            <p:cNvPicPr/>
            <p:nvPr/>
          </p:nvPicPr>
          <p:blipFill>
            <a:blip r:embed="rId6" cstate="print"/>
            <a:stretch>
              <a:fillRect/>
            </a:stretch>
          </p:blipFill>
          <p:spPr>
            <a:xfrm>
              <a:off x="1722120" y="2743200"/>
              <a:ext cx="734555" cy="576072"/>
            </a:xfrm>
            <a:prstGeom prst="rect">
              <a:avLst/>
            </a:prstGeom>
          </p:spPr>
        </p:pic>
      </p:grpSp>
      <p:sp>
        <p:nvSpPr>
          <p:cNvPr id="16" name="object 16" descr=""/>
          <p:cNvSpPr txBox="1"/>
          <p:nvPr/>
        </p:nvSpPr>
        <p:spPr>
          <a:xfrm>
            <a:off x="1894530" y="2804788"/>
            <a:ext cx="368300" cy="452755"/>
          </a:xfrm>
          <a:prstGeom prst="rect">
            <a:avLst/>
          </a:prstGeom>
        </p:spPr>
        <p:txBody>
          <a:bodyPr wrap="square" lIns="0" tIns="12065" rIns="0" bIns="0" rtlCol="0" vert="horz">
            <a:spAutoFit/>
          </a:bodyPr>
          <a:lstStyle/>
          <a:p>
            <a:pPr marR="5080">
              <a:lnSpc>
                <a:spcPct val="100000"/>
              </a:lnSpc>
              <a:spcBef>
                <a:spcPts val="95"/>
              </a:spcBef>
            </a:pPr>
            <a:r>
              <a:rPr dirty="0" sz="1400" spc="-35">
                <a:solidFill>
                  <a:srgbClr val="FFFFFF"/>
                </a:solidFill>
                <a:latin typeface="Microsoft YaHei"/>
                <a:cs typeface="Microsoft YaHei"/>
              </a:rPr>
              <a:t>室内覆盖</a:t>
            </a:r>
            <a:endParaRPr sz="1400">
              <a:latin typeface="Microsoft YaHei"/>
              <a:cs typeface="Microsoft YaHei"/>
            </a:endParaRPr>
          </a:p>
        </p:txBody>
      </p:sp>
      <p:pic>
        <p:nvPicPr>
          <p:cNvPr id="17" name="object 17" descr=""/>
          <p:cNvPicPr/>
          <p:nvPr/>
        </p:nvPicPr>
        <p:blipFill>
          <a:blip r:embed="rId7" cstate="print"/>
          <a:stretch>
            <a:fillRect/>
          </a:stretch>
        </p:blipFill>
        <p:spPr>
          <a:xfrm>
            <a:off x="6096000" y="2865132"/>
            <a:ext cx="2484120" cy="441947"/>
          </a:xfrm>
          <a:prstGeom prst="rect">
            <a:avLst/>
          </a:prstGeom>
        </p:spPr>
      </p:pic>
      <p:sp>
        <p:nvSpPr>
          <p:cNvPr id="18" name="object 18" descr=""/>
          <p:cNvSpPr txBox="1"/>
          <p:nvPr/>
        </p:nvSpPr>
        <p:spPr>
          <a:xfrm>
            <a:off x="6728680" y="2938386"/>
            <a:ext cx="1233805" cy="269875"/>
          </a:xfrm>
          <a:prstGeom prst="rect">
            <a:avLst/>
          </a:prstGeom>
        </p:spPr>
        <p:txBody>
          <a:bodyPr wrap="square" lIns="0" tIns="12700" rIns="0" bIns="0" rtlCol="0" vert="horz">
            <a:spAutoFit/>
          </a:bodyPr>
          <a:lstStyle/>
          <a:p>
            <a:pPr>
              <a:lnSpc>
                <a:spcPct val="100000"/>
              </a:lnSpc>
              <a:spcBef>
                <a:spcPts val="100"/>
              </a:spcBef>
            </a:pPr>
            <a:r>
              <a:rPr dirty="0" sz="1600" spc="-10">
                <a:solidFill>
                  <a:srgbClr val="FFFFFF"/>
                </a:solidFill>
                <a:latin typeface="Microsoft YaHei"/>
                <a:cs typeface="Microsoft YaHei"/>
              </a:rPr>
              <a:t>微站室外对打</a:t>
            </a:r>
            <a:endParaRPr sz="1600">
              <a:latin typeface="Microsoft YaHei"/>
              <a:cs typeface="Microsoft YaHei"/>
            </a:endParaRPr>
          </a:p>
        </p:txBody>
      </p:sp>
      <p:pic>
        <p:nvPicPr>
          <p:cNvPr id="19" name="object 19" descr=""/>
          <p:cNvPicPr/>
          <p:nvPr/>
        </p:nvPicPr>
        <p:blipFill>
          <a:blip r:embed="rId8" cstate="print"/>
          <a:stretch>
            <a:fillRect/>
          </a:stretch>
        </p:blipFill>
        <p:spPr>
          <a:xfrm>
            <a:off x="0" y="1947672"/>
            <a:ext cx="1609344" cy="789431"/>
          </a:xfrm>
          <a:prstGeom prst="rect">
            <a:avLst/>
          </a:prstGeom>
        </p:spPr>
      </p:pic>
      <p:sp>
        <p:nvSpPr>
          <p:cNvPr id="20" name="object 20" descr=""/>
          <p:cNvSpPr txBox="1"/>
          <p:nvPr/>
        </p:nvSpPr>
        <p:spPr>
          <a:xfrm>
            <a:off x="144208" y="2057143"/>
            <a:ext cx="1246505" cy="513715"/>
          </a:xfrm>
          <a:prstGeom prst="rect">
            <a:avLst/>
          </a:prstGeom>
        </p:spPr>
        <p:txBody>
          <a:bodyPr wrap="square" lIns="0" tIns="12700" rIns="0" bIns="0" rtlCol="0" vert="horz">
            <a:spAutoFit/>
          </a:bodyPr>
          <a:lstStyle/>
          <a:p>
            <a:pPr marL="12700" marR="5080" indent="182245">
              <a:lnSpc>
                <a:spcPct val="100000"/>
              </a:lnSpc>
              <a:spcBef>
                <a:spcPts val="100"/>
              </a:spcBef>
            </a:pPr>
            <a:r>
              <a:rPr dirty="0" sz="1600" spc="-10">
                <a:solidFill>
                  <a:srgbClr val="FFFFFF"/>
                </a:solidFill>
                <a:latin typeface="Tahoma"/>
                <a:cs typeface="Tahoma"/>
              </a:rPr>
              <a:t>5G</a:t>
            </a:r>
            <a:r>
              <a:rPr dirty="0" sz="1600" spc="-20">
                <a:solidFill>
                  <a:srgbClr val="FFFFFF"/>
                </a:solidFill>
                <a:latin typeface="Microsoft YaHei"/>
                <a:cs typeface="Microsoft YaHei"/>
              </a:rPr>
              <a:t>新空口</a:t>
            </a:r>
            <a:r>
              <a:rPr dirty="0" sz="1600" spc="-10">
                <a:solidFill>
                  <a:srgbClr val="FFFFFF"/>
                </a:solidFill>
                <a:latin typeface="Microsoft YaHei"/>
                <a:cs typeface="Microsoft YaHei"/>
              </a:rPr>
              <a:t>新型网络布局</a:t>
            </a:r>
            <a:endParaRPr sz="1600">
              <a:latin typeface="Microsoft YaHei"/>
              <a:cs typeface="Microsoft YaHei"/>
            </a:endParaRPr>
          </a:p>
        </p:txBody>
      </p:sp>
      <p:pic>
        <p:nvPicPr>
          <p:cNvPr id="21" name="object 21" descr=""/>
          <p:cNvPicPr/>
          <p:nvPr/>
        </p:nvPicPr>
        <p:blipFill>
          <a:blip r:embed="rId9" cstate="print"/>
          <a:stretch>
            <a:fillRect/>
          </a:stretch>
        </p:blipFill>
        <p:spPr>
          <a:xfrm>
            <a:off x="2295144" y="1341120"/>
            <a:ext cx="1609344" cy="1325880"/>
          </a:xfrm>
          <a:prstGeom prst="rect">
            <a:avLst/>
          </a:prstGeom>
        </p:spPr>
      </p:pic>
      <p:sp>
        <p:nvSpPr>
          <p:cNvPr id="22" name="object 22" descr=""/>
          <p:cNvSpPr txBox="1"/>
          <p:nvPr/>
        </p:nvSpPr>
        <p:spPr>
          <a:xfrm>
            <a:off x="1849997" y="1538249"/>
            <a:ext cx="1882775" cy="883285"/>
          </a:xfrm>
          <a:prstGeom prst="rect">
            <a:avLst/>
          </a:prstGeom>
        </p:spPr>
        <p:txBody>
          <a:bodyPr wrap="square" lIns="0" tIns="12065" rIns="0" bIns="0" rtlCol="0" vert="horz">
            <a:spAutoFit/>
          </a:bodyPr>
          <a:lstStyle/>
          <a:p>
            <a:pPr algn="ctr" marL="30480">
              <a:lnSpc>
                <a:spcPts val="1580"/>
              </a:lnSpc>
              <a:spcBef>
                <a:spcPts val="95"/>
              </a:spcBef>
            </a:pPr>
            <a:r>
              <a:rPr dirty="0" sz="1400" spc="-30">
                <a:solidFill>
                  <a:srgbClr val="FFFFFF"/>
                </a:solidFill>
                <a:latin typeface="Microsoft YaHei"/>
                <a:cs typeface="Microsoft YaHei"/>
              </a:rPr>
              <a:t>高频组网</a:t>
            </a:r>
            <a:endParaRPr sz="1400">
              <a:latin typeface="Microsoft YaHei"/>
              <a:cs typeface="Microsoft YaHei"/>
            </a:endParaRPr>
          </a:p>
          <a:p>
            <a:pPr algn="ctr" marR="5080">
              <a:lnSpc>
                <a:spcPts val="1700"/>
              </a:lnSpc>
              <a:tabLst>
                <a:tab pos="575945" algn="l"/>
              </a:tabLst>
            </a:pPr>
            <a:r>
              <a:rPr dirty="0" baseline="1736" sz="2400">
                <a:solidFill>
                  <a:srgbClr val="FFFFFF"/>
                </a:solidFill>
                <a:latin typeface="Microsoft YaHei"/>
                <a:cs typeface="Microsoft YaHei"/>
              </a:rPr>
              <a:t>室</a:t>
            </a:r>
            <a:r>
              <a:rPr dirty="0" baseline="1736" sz="2400" spc="-75">
                <a:solidFill>
                  <a:srgbClr val="FFFFFF"/>
                </a:solidFill>
                <a:latin typeface="Microsoft YaHei"/>
                <a:cs typeface="Microsoft YaHei"/>
              </a:rPr>
              <a:t>外</a:t>
            </a:r>
            <a:r>
              <a:rPr dirty="0" baseline="1736" sz="2400">
                <a:solidFill>
                  <a:srgbClr val="FFFFFF"/>
                </a:solidFill>
                <a:latin typeface="Microsoft YaHei"/>
                <a:cs typeface="Microsoft YaHei"/>
              </a:rPr>
              <a:t>	</a:t>
            </a:r>
            <a:r>
              <a:rPr dirty="0" sz="1400" spc="-20">
                <a:solidFill>
                  <a:srgbClr val="FFFFFF"/>
                </a:solidFill>
                <a:latin typeface="Microsoft YaHei"/>
                <a:cs typeface="Microsoft YaHei"/>
              </a:rPr>
              <a:t>大规模天线阵</a:t>
            </a:r>
            <a:r>
              <a:rPr dirty="0" sz="1400" spc="-50">
                <a:solidFill>
                  <a:srgbClr val="FFFFFF"/>
                </a:solidFill>
                <a:latin typeface="Microsoft YaHei"/>
                <a:cs typeface="Microsoft YaHei"/>
              </a:rPr>
              <a:t>列</a:t>
            </a:r>
            <a:endParaRPr sz="1400">
              <a:latin typeface="Microsoft YaHei"/>
              <a:cs typeface="Microsoft YaHei"/>
            </a:endParaRPr>
          </a:p>
          <a:p>
            <a:pPr algn="ctr" marR="360045">
              <a:lnSpc>
                <a:spcPts val="1800"/>
              </a:lnSpc>
              <a:tabLst>
                <a:tab pos="575945" algn="l"/>
              </a:tabLst>
            </a:pPr>
            <a:r>
              <a:rPr dirty="0" baseline="-6944" sz="2400">
                <a:solidFill>
                  <a:srgbClr val="FFFFFF"/>
                </a:solidFill>
                <a:latin typeface="Microsoft YaHei"/>
                <a:cs typeface="Microsoft YaHei"/>
              </a:rPr>
              <a:t>覆</a:t>
            </a:r>
            <a:r>
              <a:rPr dirty="0" baseline="-6944" sz="2400" spc="-75">
                <a:solidFill>
                  <a:srgbClr val="FFFFFF"/>
                </a:solidFill>
                <a:latin typeface="Microsoft YaHei"/>
                <a:cs typeface="Microsoft YaHei"/>
              </a:rPr>
              <a:t>盖</a:t>
            </a:r>
            <a:r>
              <a:rPr dirty="0" baseline="-6944" sz="2400">
                <a:solidFill>
                  <a:srgbClr val="FFFFFF"/>
                </a:solidFill>
                <a:latin typeface="Microsoft YaHei"/>
                <a:cs typeface="Microsoft YaHei"/>
              </a:rPr>
              <a:t>	</a:t>
            </a:r>
            <a:r>
              <a:rPr dirty="0" sz="1400" spc="-20">
                <a:solidFill>
                  <a:srgbClr val="FFFFFF"/>
                </a:solidFill>
                <a:latin typeface="Microsoft YaHei"/>
                <a:cs typeface="Microsoft YaHei"/>
              </a:rPr>
              <a:t>超密集组</a:t>
            </a:r>
            <a:r>
              <a:rPr dirty="0" sz="1400" spc="-50">
                <a:solidFill>
                  <a:srgbClr val="FFFFFF"/>
                </a:solidFill>
                <a:latin typeface="Microsoft YaHei"/>
                <a:cs typeface="Microsoft YaHei"/>
              </a:rPr>
              <a:t>网</a:t>
            </a:r>
            <a:endParaRPr sz="1400">
              <a:latin typeface="Microsoft YaHei"/>
              <a:cs typeface="Microsoft YaHei"/>
            </a:endParaRPr>
          </a:p>
          <a:p>
            <a:pPr algn="ctr" marR="47625">
              <a:lnSpc>
                <a:spcPts val="1680"/>
              </a:lnSpc>
            </a:pPr>
            <a:r>
              <a:rPr dirty="0" sz="1400">
                <a:solidFill>
                  <a:srgbClr val="FFFFFF"/>
                </a:solidFill>
                <a:latin typeface="Tahoma"/>
                <a:cs typeface="Tahoma"/>
              </a:rPr>
              <a:t>DU</a:t>
            </a:r>
            <a:r>
              <a:rPr dirty="0" sz="1400" spc="-20">
                <a:solidFill>
                  <a:srgbClr val="FFFFFF"/>
                </a:solidFill>
                <a:latin typeface="Tahoma"/>
                <a:cs typeface="Tahoma"/>
              </a:rPr>
              <a:t> pool</a:t>
            </a:r>
            <a:endParaRPr sz="1400">
              <a:latin typeface="Tahoma"/>
              <a:cs typeface="Tahoma"/>
            </a:endParaRPr>
          </a:p>
        </p:txBody>
      </p:sp>
      <p:grpSp>
        <p:nvGrpSpPr>
          <p:cNvPr id="23" name="object 23" descr=""/>
          <p:cNvGrpSpPr/>
          <p:nvPr/>
        </p:nvGrpSpPr>
        <p:grpSpPr>
          <a:xfrm>
            <a:off x="3637787" y="1363230"/>
            <a:ext cx="2749550" cy="1952625"/>
            <a:chOff x="3637787" y="1363230"/>
            <a:chExt cx="2749550" cy="1952625"/>
          </a:xfrm>
        </p:grpSpPr>
        <p:pic>
          <p:nvPicPr>
            <p:cNvPr id="24" name="object 24"/>
            <p:cNvPicPr/>
            <p:nvPr/>
          </p:nvPicPr>
          <p:blipFill>
            <a:blip r:embed="rId10" cstate="print"/>
            <a:stretch>
              <a:fillRect/>
            </a:stretch>
          </p:blipFill>
          <p:spPr>
            <a:xfrm>
              <a:off x="3692652" y="1363230"/>
              <a:ext cx="733805" cy="446519"/>
            </a:xfrm>
            <a:prstGeom prst="rect">
              <a:avLst/>
            </a:prstGeom>
          </p:spPr>
        </p:pic>
        <p:sp>
          <p:nvSpPr>
            <p:cNvPr id="25" name="object 25" descr=""/>
            <p:cNvSpPr/>
            <p:nvPr/>
          </p:nvSpPr>
          <p:spPr>
            <a:xfrm>
              <a:off x="3733581" y="1563800"/>
              <a:ext cx="318770" cy="0"/>
            </a:xfrm>
            <a:custGeom>
              <a:avLst/>
              <a:gdLst/>
              <a:ahLst/>
              <a:cxnLst/>
              <a:rect l="l" t="t" r="r" b="b"/>
              <a:pathLst>
                <a:path w="318770" h="0">
                  <a:moveTo>
                    <a:pt x="0" y="0"/>
                  </a:moveTo>
                  <a:lnTo>
                    <a:pt x="318706" y="0"/>
                  </a:lnTo>
                </a:path>
              </a:pathLst>
            </a:custGeom>
            <a:ln w="60325">
              <a:solidFill>
                <a:srgbClr val="2D2D8A"/>
              </a:solidFill>
            </a:ln>
          </p:spPr>
          <p:txBody>
            <a:bodyPr wrap="square" lIns="0" tIns="0" rIns="0" bIns="0" rtlCol="0"/>
            <a:lstStyle/>
            <a:p/>
          </p:txBody>
        </p:sp>
        <p:sp>
          <p:nvSpPr>
            <p:cNvPr id="26" name="object 26" descr=""/>
            <p:cNvSpPr/>
            <p:nvPr/>
          </p:nvSpPr>
          <p:spPr>
            <a:xfrm>
              <a:off x="4022114" y="1473305"/>
              <a:ext cx="181610" cy="180975"/>
            </a:xfrm>
            <a:custGeom>
              <a:avLst/>
              <a:gdLst/>
              <a:ahLst/>
              <a:cxnLst/>
              <a:rect l="l" t="t" r="r" b="b"/>
              <a:pathLst>
                <a:path w="181610" h="180975">
                  <a:moveTo>
                    <a:pt x="12" y="0"/>
                  </a:moveTo>
                  <a:lnTo>
                    <a:pt x="0" y="180975"/>
                  </a:lnTo>
                  <a:lnTo>
                    <a:pt x="180987" y="90500"/>
                  </a:lnTo>
                  <a:lnTo>
                    <a:pt x="12" y="0"/>
                  </a:lnTo>
                  <a:close/>
                </a:path>
              </a:pathLst>
            </a:custGeom>
            <a:solidFill>
              <a:srgbClr val="2D2D8A"/>
            </a:solidFill>
          </p:spPr>
          <p:txBody>
            <a:bodyPr wrap="square" lIns="0" tIns="0" rIns="0" bIns="0" rtlCol="0"/>
            <a:lstStyle/>
            <a:p/>
          </p:txBody>
        </p:sp>
        <p:pic>
          <p:nvPicPr>
            <p:cNvPr id="27" name="object 27"/>
            <p:cNvPicPr/>
            <p:nvPr/>
          </p:nvPicPr>
          <p:blipFill>
            <a:blip r:embed="rId11" cstate="print"/>
            <a:stretch>
              <a:fillRect/>
            </a:stretch>
          </p:blipFill>
          <p:spPr>
            <a:xfrm>
              <a:off x="3637787" y="2868929"/>
              <a:ext cx="799337" cy="446531"/>
            </a:xfrm>
            <a:prstGeom prst="rect">
              <a:avLst/>
            </a:prstGeom>
          </p:spPr>
        </p:pic>
        <p:sp>
          <p:nvSpPr>
            <p:cNvPr id="28" name="object 28" descr=""/>
            <p:cNvSpPr/>
            <p:nvPr/>
          </p:nvSpPr>
          <p:spPr>
            <a:xfrm>
              <a:off x="3679235" y="3069739"/>
              <a:ext cx="383540" cy="1270"/>
            </a:xfrm>
            <a:custGeom>
              <a:avLst/>
              <a:gdLst/>
              <a:ahLst/>
              <a:cxnLst/>
              <a:rect l="l" t="t" r="r" b="b"/>
              <a:pathLst>
                <a:path w="383539" h="1269">
                  <a:moveTo>
                    <a:pt x="0" y="1041"/>
                  </a:moveTo>
                  <a:lnTo>
                    <a:pt x="383489" y="0"/>
                  </a:lnTo>
                </a:path>
              </a:pathLst>
            </a:custGeom>
            <a:ln w="60325">
              <a:solidFill>
                <a:srgbClr val="2D2D8A"/>
              </a:solidFill>
            </a:ln>
          </p:spPr>
          <p:txBody>
            <a:bodyPr wrap="square" lIns="0" tIns="0" rIns="0" bIns="0" rtlCol="0"/>
            <a:lstStyle/>
            <a:p/>
          </p:txBody>
        </p:sp>
        <p:sp>
          <p:nvSpPr>
            <p:cNvPr id="29" name="object 29" descr=""/>
            <p:cNvSpPr/>
            <p:nvPr/>
          </p:nvSpPr>
          <p:spPr>
            <a:xfrm>
              <a:off x="4032317" y="2979323"/>
              <a:ext cx="181610" cy="180975"/>
            </a:xfrm>
            <a:custGeom>
              <a:avLst/>
              <a:gdLst/>
              <a:ahLst/>
              <a:cxnLst/>
              <a:rect l="l" t="t" r="r" b="b"/>
              <a:pathLst>
                <a:path w="181610" h="180975">
                  <a:moveTo>
                    <a:pt x="0" y="0"/>
                  </a:moveTo>
                  <a:lnTo>
                    <a:pt x="482" y="180975"/>
                  </a:lnTo>
                  <a:lnTo>
                    <a:pt x="181216" y="90004"/>
                  </a:lnTo>
                  <a:lnTo>
                    <a:pt x="0" y="0"/>
                  </a:lnTo>
                  <a:close/>
                </a:path>
              </a:pathLst>
            </a:custGeom>
            <a:solidFill>
              <a:srgbClr val="2D2D8A"/>
            </a:solidFill>
          </p:spPr>
          <p:txBody>
            <a:bodyPr wrap="square" lIns="0" tIns="0" rIns="0" bIns="0" rtlCol="0"/>
            <a:lstStyle/>
            <a:p/>
          </p:txBody>
        </p:sp>
        <p:pic>
          <p:nvPicPr>
            <p:cNvPr id="30" name="object 30"/>
            <p:cNvPicPr/>
            <p:nvPr/>
          </p:nvPicPr>
          <p:blipFill>
            <a:blip r:embed="rId12" cstate="print"/>
            <a:stretch>
              <a:fillRect/>
            </a:stretch>
          </p:blipFill>
          <p:spPr>
            <a:xfrm>
              <a:off x="5513070" y="1363230"/>
              <a:ext cx="874013" cy="446519"/>
            </a:xfrm>
            <a:prstGeom prst="rect">
              <a:avLst/>
            </a:prstGeom>
          </p:spPr>
        </p:pic>
        <p:sp>
          <p:nvSpPr>
            <p:cNvPr id="31" name="object 31" descr=""/>
            <p:cNvSpPr/>
            <p:nvPr/>
          </p:nvSpPr>
          <p:spPr>
            <a:xfrm>
              <a:off x="5554127" y="1563800"/>
              <a:ext cx="459105" cy="0"/>
            </a:xfrm>
            <a:custGeom>
              <a:avLst/>
              <a:gdLst/>
              <a:ahLst/>
              <a:cxnLst/>
              <a:rect l="l" t="t" r="r" b="b"/>
              <a:pathLst>
                <a:path w="459104" h="0">
                  <a:moveTo>
                    <a:pt x="0" y="0"/>
                  </a:moveTo>
                  <a:lnTo>
                    <a:pt x="458838" y="0"/>
                  </a:lnTo>
                </a:path>
              </a:pathLst>
            </a:custGeom>
            <a:ln w="60325">
              <a:solidFill>
                <a:srgbClr val="2D2D8A"/>
              </a:solidFill>
            </a:ln>
          </p:spPr>
          <p:txBody>
            <a:bodyPr wrap="square" lIns="0" tIns="0" rIns="0" bIns="0" rtlCol="0"/>
            <a:lstStyle/>
            <a:p/>
          </p:txBody>
        </p:sp>
        <p:sp>
          <p:nvSpPr>
            <p:cNvPr id="32" name="object 32" descr=""/>
            <p:cNvSpPr/>
            <p:nvPr/>
          </p:nvSpPr>
          <p:spPr>
            <a:xfrm>
              <a:off x="5982796" y="1473305"/>
              <a:ext cx="181610" cy="180975"/>
            </a:xfrm>
            <a:custGeom>
              <a:avLst/>
              <a:gdLst/>
              <a:ahLst/>
              <a:cxnLst/>
              <a:rect l="l" t="t" r="r" b="b"/>
              <a:pathLst>
                <a:path w="181610" h="180975">
                  <a:moveTo>
                    <a:pt x="12" y="0"/>
                  </a:moveTo>
                  <a:lnTo>
                    <a:pt x="0" y="180975"/>
                  </a:lnTo>
                  <a:lnTo>
                    <a:pt x="180987" y="90500"/>
                  </a:lnTo>
                  <a:lnTo>
                    <a:pt x="12" y="0"/>
                  </a:lnTo>
                  <a:close/>
                </a:path>
              </a:pathLst>
            </a:custGeom>
            <a:solidFill>
              <a:srgbClr val="2D2D8A"/>
            </a:solidFill>
          </p:spPr>
          <p:txBody>
            <a:bodyPr wrap="square" lIns="0" tIns="0" rIns="0" bIns="0" rtlCol="0"/>
            <a:lstStyle/>
            <a:p/>
          </p:txBody>
        </p:sp>
        <p:pic>
          <p:nvPicPr>
            <p:cNvPr id="33" name="object 33"/>
            <p:cNvPicPr/>
            <p:nvPr/>
          </p:nvPicPr>
          <p:blipFill>
            <a:blip r:embed="rId12" cstate="print"/>
            <a:stretch>
              <a:fillRect/>
            </a:stretch>
          </p:blipFill>
          <p:spPr>
            <a:xfrm>
              <a:off x="5513070" y="1772424"/>
              <a:ext cx="874013" cy="446519"/>
            </a:xfrm>
            <a:prstGeom prst="rect">
              <a:avLst/>
            </a:prstGeom>
          </p:spPr>
        </p:pic>
        <p:sp>
          <p:nvSpPr>
            <p:cNvPr id="34" name="object 34" descr=""/>
            <p:cNvSpPr/>
            <p:nvPr/>
          </p:nvSpPr>
          <p:spPr>
            <a:xfrm>
              <a:off x="5554127" y="1973002"/>
              <a:ext cx="459105" cy="0"/>
            </a:xfrm>
            <a:custGeom>
              <a:avLst/>
              <a:gdLst/>
              <a:ahLst/>
              <a:cxnLst/>
              <a:rect l="l" t="t" r="r" b="b"/>
              <a:pathLst>
                <a:path w="459104" h="0">
                  <a:moveTo>
                    <a:pt x="0" y="0"/>
                  </a:moveTo>
                  <a:lnTo>
                    <a:pt x="458838" y="0"/>
                  </a:lnTo>
                </a:path>
              </a:pathLst>
            </a:custGeom>
            <a:ln w="60325">
              <a:solidFill>
                <a:srgbClr val="2D2D8A"/>
              </a:solidFill>
            </a:ln>
          </p:spPr>
          <p:txBody>
            <a:bodyPr wrap="square" lIns="0" tIns="0" rIns="0" bIns="0" rtlCol="0"/>
            <a:lstStyle/>
            <a:p/>
          </p:txBody>
        </p:sp>
        <p:sp>
          <p:nvSpPr>
            <p:cNvPr id="35" name="object 35" descr=""/>
            <p:cNvSpPr/>
            <p:nvPr/>
          </p:nvSpPr>
          <p:spPr>
            <a:xfrm>
              <a:off x="5982796" y="1882505"/>
              <a:ext cx="181610" cy="180975"/>
            </a:xfrm>
            <a:custGeom>
              <a:avLst/>
              <a:gdLst/>
              <a:ahLst/>
              <a:cxnLst/>
              <a:rect l="l" t="t" r="r" b="b"/>
              <a:pathLst>
                <a:path w="181610" h="180975">
                  <a:moveTo>
                    <a:pt x="12" y="0"/>
                  </a:moveTo>
                  <a:lnTo>
                    <a:pt x="0" y="180975"/>
                  </a:lnTo>
                  <a:lnTo>
                    <a:pt x="180987" y="90500"/>
                  </a:lnTo>
                  <a:lnTo>
                    <a:pt x="12" y="0"/>
                  </a:lnTo>
                  <a:close/>
                </a:path>
              </a:pathLst>
            </a:custGeom>
            <a:solidFill>
              <a:srgbClr val="2D2D8A"/>
            </a:solidFill>
          </p:spPr>
          <p:txBody>
            <a:bodyPr wrap="square" lIns="0" tIns="0" rIns="0" bIns="0" rtlCol="0"/>
            <a:lstStyle/>
            <a:p/>
          </p:txBody>
        </p:sp>
        <p:pic>
          <p:nvPicPr>
            <p:cNvPr id="36" name="object 36"/>
            <p:cNvPicPr/>
            <p:nvPr/>
          </p:nvPicPr>
          <p:blipFill>
            <a:blip r:embed="rId13" cstate="print"/>
            <a:stretch>
              <a:fillRect/>
            </a:stretch>
          </p:blipFill>
          <p:spPr>
            <a:xfrm>
              <a:off x="5513069" y="2273807"/>
              <a:ext cx="874013" cy="446531"/>
            </a:xfrm>
            <a:prstGeom prst="rect">
              <a:avLst/>
            </a:prstGeom>
          </p:spPr>
        </p:pic>
        <p:sp>
          <p:nvSpPr>
            <p:cNvPr id="37" name="object 37" descr=""/>
            <p:cNvSpPr/>
            <p:nvPr/>
          </p:nvSpPr>
          <p:spPr>
            <a:xfrm>
              <a:off x="5554127" y="2473753"/>
              <a:ext cx="459105" cy="0"/>
            </a:xfrm>
            <a:custGeom>
              <a:avLst/>
              <a:gdLst/>
              <a:ahLst/>
              <a:cxnLst/>
              <a:rect l="l" t="t" r="r" b="b"/>
              <a:pathLst>
                <a:path w="459104" h="0">
                  <a:moveTo>
                    <a:pt x="0" y="0"/>
                  </a:moveTo>
                  <a:lnTo>
                    <a:pt x="458838" y="0"/>
                  </a:lnTo>
                </a:path>
              </a:pathLst>
            </a:custGeom>
            <a:ln w="60325">
              <a:solidFill>
                <a:srgbClr val="2D2D8A"/>
              </a:solidFill>
            </a:ln>
          </p:spPr>
          <p:txBody>
            <a:bodyPr wrap="square" lIns="0" tIns="0" rIns="0" bIns="0" rtlCol="0"/>
            <a:lstStyle/>
            <a:p/>
          </p:txBody>
        </p:sp>
        <p:sp>
          <p:nvSpPr>
            <p:cNvPr id="38" name="object 38" descr=""/>
            <p:cNvSpPr/>
            <p:nvPr/>
          </p:nvSpPr>
          <p:spPr>
            <a:xfrm>
              <a:off x="5982796" y="2383256"/>
              <a:ext cx="181610" cy="180975"/>
            </a:xfrm>
            <a:custGeom>
              <a:avLst/>
              <a:gdLst/>
              <a:ahLst/>
              <a:cxnLst/>
              <a:rect l="l" t="t" r="r" b="b"/>
              <a:pathLst>
                <a:path w="181610" h="180975">
                  <a:moveTo>
                    <a:pt x="12" y="0"/>
                  </a:moveTo>
                  <a:lnTo>
                    <a:pt x="0" y="180975"/>
                  </a:lnTo>
                  <a:lnTo>
                    <a:pt x="180987" y="90500"/>
                  </a:lnTo>
                  <a:lnTo>
                    <a:pt x="12" y="0"/>
                  </a:lnTo>
                  <a:close/>
                </a:path>
              </a:pathLst>
            </a:custGeom>
            <a:solidFill>
              <a:srgbClr val="2D2D8A"/>
            </a:solidFill>
          </p:spPr>
          <p:txBody>
            <a:bodyPr wrap="square" lIns="0" tIns="0" rIns="0" bIns="0" rtlCol="0"/>
            <a:lstStyle/>
            <a:p/>
          </p:txBody>
        </p:sp>
        <p:pic>
          <p:nvPicPr>
            <p:cNvPr id="39" name="object 39" descr=""/>
            <p:cNvPicPr/>
            <p:nvPr/>
          </p:nvPicPr>
          <p:blipFill>
            <a:blip r:embed="rId14" cstate="print"/>
            <a:stretch>
              <a:fillRect/>
            </a:stretch>
          </p:blipFill>
          <p:spPr>
            <a:xfrm>
              <a:off x="4154423" y="1389888"/>
              <a:ext cx="1466075" cy="402335"/>
            </a:xfrm>
            <a:prstGeom prst="rect">
              <a:avLst/>
            </a:prstGeom>
          </p:spPr>
        </p:pic>
      </p:grpSp>
      <p:sp>
        <p:nvSpPr>
          <p:cNvPr id="40" name="object 40" descr=""/>
          <p:cNvSpPr txBox="1"/>
          <p:nvPr/>
        </p:nvSpPr>
        <p:spPr>
          <a:xfrm>
            <a:off x="4346452" y="1455296"/>
            <a:ext cx="1078230" cy="238760"/>
          </a:xfrm>
          <a:prstGeom prst="rect">
            <a:avLst/>
          </a:prstGeom>
        </p:spPr>
        <p:txBody>
          <a:bodyPr wrap="square" lIns="0" tIns="12065" rIns="0" bIns="0" rtlCol="0" vert="horz">
            <a:spAutoFit/>
          </a:bodyPr>
          <a:lstStyle/>
          <a:p>
            <a:pPr>
              <a:lnSpc>
                <a:spcPct val="100000"/>
              </a:lnSpc>
              <a:spcBef>
                <a:spcPts val="95"/>
              </a:spcBef>
            </a:pPr>
            <a:r>
              <a:rPr dirty="0" sz="1400" spc="-25">
                <a:solidFill>
                  <a:srgbClr val="FFFFFF"/>
                </a:solidFill>
                <a:latin typeface="Microsoft YaHei"/>
                <a:cs typeface="Microsoft YaHei"/>
              </a:rPr>
              <a:t>室外站址布局</a:t>
            </a:r>
            <a:endParaRPr sz="1400">
              <a:latin typeface="Microsoft YaHei"/>
              <a:cs typeface="Microsoft YaHei"/>
            </a:endParaRPr>
          </a:p>
        </p:txBody>
      </p:sp>
      <p:grpSp>
        <p:nvGrpSpPr>
          <p:cNvPr id="41" name="object 41" descr=""/>
          <p:cNvGrpSpPr/>
          <p:nvPr/>
        </p:nvGrpSpPr>
        <p:grpSpPr>
          <a:xfrm>
            <a:off x="4154423" y="1816608"/>
            <a:ext cx="1445260" cy="908685"/>
            <a:chOff x="4154423" y="1816608"/>
            <a:chExt cx="1445260" cy="908685"/>
          </a:xfrm>
        </p:grpSpPr>
        <p:pic>
          <p:nvPicPr>
            <p:cNvPr id="42" name="object 42" descr=""/>
            <p:cNvPicPr/>
            <p:nvPr/>
          </p:nvPicPr>
          <p:blipFill>
            <a:blip r:embed="rId15" cstate="print"/>
            <a:stretch>
              <a:fillRect/>
            </a:stretch>
          </p:blipFill>
          <p:spPr>
            <a:xfrm>
              <a:off x="4154423" y="1816608"/>
              <a:ext cx="1444752" cy="441960"/>
            </a:xfrm>
            <a:prstGeom prst="rect">
              <a:avLst/>
            </a:prstGeom>
          </p:spPr>
        </p:pic>
        <p:pic>
          <p:nvPicPr>
            <p:cNvPr id="43" name="object 43" descr=""/>
            <p:cNvPicPr/>
            <p:nvPr/>
          </p:nvPicPr>
          <p:blipFill>
            <a:blip r:embed="rId16" cstate="print"/>
            <a:stretch>
              <a:fillRect/>
            </a:stretch>
          </p:blipFill>
          <p:spPr>
            <a:xfrm>
              <a:off x="4154423" y="2282952"/>
              <a:ext cx="1444752" cy="441960"/>
            </a:xfrm>
            <a:prstGeom prst="rect">
              <a:avLst/>
            </a:prstGeom>
          </p:spPr>
        </p:pic>
      </p:grpSp>
      <p:sp>
        <p:nvSpPr>
          <p:cNvPr id="44" name="object 44" descr=""/>
          <p:cNvSpPr txBox="1"/>
          <p:nvPr/>
        </p:nvSpPr>
        <p:spPr>
          <a:xfrm>
            <a:off x="4675637" y="1889146"/>
            <a:ext cx="419734" cy="736600"/>
          </a:xfrm>
          <a:prstGeom prst="rect">
            <a:avLst/>
          </a:prstGeom>
        </p:spPr>
        <p:txBody>
          <a:bodyPr wrap="square" lIns="0" tIns="12700" rIns="0" bIns="0" rtlCol="0" vert="horz">
            <a:spAutoFit/>
          </a:bodyPr>
          <a:lstStyle/>
          <a:p>
            <a:pPr>
              <a:lnSpc>
                <a:spcPct val="100000"/>
              </a:lnSpc>
              <a:spcBef>
                <a:spcPts val="100"/>
              </a:spcBef>
            </a:pPr>
            <a:r>
              <a:rPr dirty="0" sz="1600" spc="-25">
                <a:solidFill>
                  <a:srgbClr val="FFFFFF"/>
                </a:solidFill>
                <a:latin typeface="Microsoft YaHei"/>
                <a:cs typeface="Microsoft YaHei"/>
              </a:rPr>
              <a:t>塔桅</a:t>
            </a:r>
            <a:endParaRPr sz="1600">
              <a:latin typeface="Microsoft YaHei"/>
              <a:cs typeface="Microsoft YaHei"/>
            </a:endParaRPr>
          </a:p>
          <a:p>
            <a:pPr>
              <a:lnSpc>
                <a:spcPct val="100000"/>
              </a:lnSpc>
              <a:spcBef>
                <a:spcPts val="1755"/>
              </a:spcBef>
            </a:pPr>
            <a:r>
              <a:rPr dirty="0" sz="1600" spc="-25">
                <a:solidFill>
                  <a:srgbClr val="FFFFFF"/>
                </a:solidFill>
                <a:latin typeface="Microsoft YaHei"/>
                <a:cs typeface="Microsoft YaHei"/>
              </a:rPr>
              <a:t>机房</a:t>
            </a:r>
            <a:endParaRPr sz="1600">
              <a:latin typeface="Microsoft YaHei"/>
              <a:cs typeface="Microsoft YaHei"/>
            </a:endParaRPr>
          </a:p>
        </p:txBody>
      </p:sp>
      <p:grpSp>
        <p:nvGrpSpPr>
          <p:cNvPr id="45" name="object 45" descr=""/>
          <p:cNvGrpSpPr/>
          <p:nvPr/>
        </p:nvGrpSpPr>
        <p:grpSpPr>
          <a:xfrm>
            <a:off x="2286000" y="1772424"/>
            <a:ext cx="2140585" cy="1519555"/>
            <a:chOff x="2286000" y="1772424"/>
            <a:chExt cx="2140585" cy="1519555"/>
          </a:xfrm>
        </p:grpSpPr>
        <p:pic>
          <p:nvPicPr>
            <p:cNvPr id="46" name="object 46"/>
            <p:cNvPicPr/>
            <p:nvPr/>
          </p:nvPicPr>
          <p:blipFill>
            <a:blip r:embed="rId10" cstate="print"/>
            <a:stretch>
              <a:fillRect/>
            </a:stretch>
          </p:blipFill>
          <p:spPr>
            <a:xfrm>
              <a:off x="3692652" y="1772424"/>
              <a:ext cx="733805" cy="446519"/>
            </a:xfrm>
            <a:prstGeom prst="rect">
              <a:avLst/>
            </a:prstGeom>
          </p:spPr>
        </p:pic>
        <p:sp>
          <p:nvSpPr>
            <p:cNvPr id="47" name="object 47" descr=""/>
            <p:cNvSpPr/>
            <p:nvPr/>
          </p:nvSpPr>
          <p:spPr>
            <a:xfrm>
              <a:off x="3733581" y="1973002"/>
              <a:ext cx="318770" cy="0"/>
            </a:xfrm>
            <a:custGeom>
              <a:avLst/>
              <a:gdLst/>
              <a:ahLst/>
              <a:cxnLst/>
              <a:rect l="l" t="t" r="r" b="b"/>
              <a:pathLst>
                <a:path w="318770" h="0">
                  <a:moveTo>
                    <a:pt x="0" y="0"/>
                  </a:moveTo>
                  <a:lnTo>
                    <a:pt x="318706" y="0"/>
                  </a:lnTo>
                </a:path>
              </a:pathLst>
            </a:custGeom>
            <a:ln w="60325">
              <a:solidFill>
                <a:srgbClr val="2D2D8A"/>
              </a:solidFill>
            </a:ln>
          </p:spPr>
          <p:txBody>
            <a:bodyPr wrap="square" lIns="0" tIns="0" rIns="0" bIns="0" rtlCol="0"/>
            <a:lstStyle/>
            <a:p/>
          </p:txBody>
        </p:sp>
        <p:sp>
          <p:nvSpPr>
            <p:cNvPr id="48" name="object 48" descr=""/>
            <p:cNvSpPr/>
            <p:nvPr/>
          </p:nvSpPr>
          <p:spPr>
            <a:xfrm>
              <a:off x="4022114" y="1882505"/>
              <a:ext cx="181610" cy="180975"/>
            </a:xfrm>
            <a:custGeom>
              <a:avLst/>
              <a:gdLst/>
              <a:ahLst/>
              <a:cxnLst/>
              <a:rect l="l" t="t" r="r" b="b"/>
              <a:pathLst>
                <a:path w="181610" h="180975">
                  <a:moveTo>
                    <a:pt x="12" y="0"/>
                  </a:moveTo>
                  <a:lnTo>
                    <a:pt x="0" y="180975"/>
                  </a:lnTo>
                  <a:lnTo>
                    <a:pt x="180987" y="90500"/>
                  </a:lnTo>
                  <a:lnTo>
                    <a:pt x="12" y="0"/>
                  </a:lnTo>
                  <a:close/>
                </a:path>
              </a:pathLst>
            </a:custGeom>
            <a:solidFill>
              <a:srgbClr val="2D2D8A"/>
            </a:solidFill>
          </p:spPr>
          <p:txBody>
            <a:bodyPr wrap="square" lIns="0" tIns="0" rIns="0" bIns="0" rtlCol="0"/>
            <a:lstStyle/>
            <a:p/>
          </p:txBody>
        </p:sp>
        <p:pic>
          <p:nvPicPr>
            <p:cNvPr id="49" name="object 49"/>
            <p:cNvPicPr/>
            <p:nvPr/>
          </p:nvPicPr>
          <p:blipFill>
            <a:blip r:embed="rId17" cstate="print"/>
            <a:stretch>
              <a:fillRect/>
            </a:stretch>
          </p:blipFill>
          <p:spPr>
            <a:xfrm>
              <a:off x="3692651" y="2273807"/>
              <a:ext cx="733805" cy="446531"/>
            </a:xfrm>
            <a:prstGeom prst="rect">
              <a:avLst/>
            </a:prstGeom>
          </p:spPr>
        </p:pic>
        <p:sp>
          <p:nvSpPr>
            <p:cNvPr id="50" name="object 50" descr=""/>
            <p:cNvSpPr/>
            <p:nvPr/>
          </p:nvSpPr>
          <p:spPr>
            <a:xfrm>
              <a:off x="3733581" y="2473753"/>
              <a:ext cx="318770" cy="0"/>
            </a:xfrm>
            <a:custGeom>
              <a:avLst/>
              <a:gdLst/>
              <a:ahLst/>
              <a:cxnLst/>
              <a:rect l="l" t="t" r="r" b="b"/>
              <a:pathLst>
                <a:path w="318770" h="0">
                  <a:moveTo>
                    <a:pt x="0" y="0"/>
                  </a:moveTo>
                  <a:lnTo>
                    <a:pt x="318706" y="0"/>
                  </a:lnTo>
                </a:path>
              </a:pathLst>
            </a:custGeom>
            <a:ln w="60325">
              <a:solidFill>
                <a:srgbClr val="2D2D8A"/>
              </a:solidFill>
            </a:ln>
          </p:spPr>
          <p:txBody>
            <a:bodyPr wrap="square" lIns="0" tIns="0" rIns="0" bIns="0" rtlCol="0"/>
            <a:lstStyle/>
            <a:p/>
          </p:txBody>
        </p:sp>
        <p:sp>
          <p:nvSpPr>
            <p:cNvPr id="51" name="object 51" descr=""/>
            <p:cNvSpPr/>
            <p:nvPr/>
          </p:nvSpPr>
          <p:spPr>
            <a:xfrm>
              <a:off x="4022114" y="2383256"/>
              <a:ext cx="181610" cy="180975"/>
            </a:xfrm>
            <a:custGeom>
              <a:avLst/>
              <a:gdLst/>
              <a:ahLst/>
              <a:cxnLst/>
              <a:rect l="l" t="t" r="r" b="b"/>
              <a:pathLst>
                <a:path w="181610" h="180975">
                  <a:moveTo>
                    <a:pt x="12" y="0"/>
                  </a:moveTo>
                  <a:lnTo>
                    <a:pt x="0" y="180975"/>
                  </a:lnTo>
                  <a:lnTo>
                    <a:pt x="180987" y="90500"/>
                  </a:lnTo>
                  <a:lnTo>
                    <a:pt x="12" y="0"/>
                  </a:lnTo>
                  <a:close/>
                </a:path>
              </a:pathLst>
            </a:custGeom>
            <a:solidFill>
              <a:srgbClr val="2D2D8A"/>
            </a:solidFill>
          </p:spPr>
          <p:txBody>
            <a:bodyPr wrap="square" lIns="0" tIns="0" rIns="0" bIns="0" rtlCol="0"/>
            <a:lstStyle/>
            <a:p/>
          </p:txBody>
        </p:sp>
        <p:pic>
          <p:nvPicPr>
            <p:cNvPr id="52" name="object 52" descr=""/>
            <p:cNvPicPr/>
            <p:nvPr/>
          </p:nvPicPr>
          <p:blipFill>
            <a:blip r:embed="rId18" cstate="print"/>
            <a:stretch>
              <a:fillRect/>
            </a:stretch>
          </p:blipFill>
          <p:spPr>
            <a:xfrm>
              <a:off x="2286000" y="2828544"/>
              <a:ext cx="1481328" cy="463295"/>
            </a:xfrm>
            <a:prstGeom prst="rect">
              <a:avLst/>
            </a:prstGeom>
          </p:spPr>
        </p:pic>
      </p:grpSp>
      <p:sp>
        <p:nvSpPr>
          <p:cNvPr id="53" name="object 53" descr=""/>
          <p:cNvSpPr txBox="1"/>
          <p:nvPr/>
        </p:nvSpPr>
        <p:spPr>
          <a:xfrm>
            <a:off x="2440926" y="2927593"/>
            <a:ext cx="723265" cy="238760"/>
          </a:xfrm>
          <a:prstGeom prst="rect">
            <a:avLst/>
          </a:prstGeom>
        </p:spPr>
        <p:txBody>
          <a:bodyPr wrap="square" lIns="0" tIns="12065" rIns="0" bIns="0" rtlCol="0" vert="horz">
            <a:spAutoFit/>
          </a:bodyPr>
          <a:lstStyle/>
          <a:p>
            <a:pPr>
              <a:lnSpc>
                <a:spcPct val="100000"/>
              </a:lnSpc>
              <a:spcBef>
                <a:spcPts val="95"/>
              </a:spcBef>
            </a:pPr>
            <a:r>
              <a:rPr dirty="0" sz="1400" spc="-30">
                <a:solidFill>
                  <a:srgbClr val="FFFFFF"/>
                </a:solidFill>
                <a:latin typeface="Microsoft YaHei"/>
                <a:cs typeface="Microsoft YaHei"/>
              </a:rPr>
              <a:t>高频组网</a:t>
            </a:r>
            <a:endParaRPr sz="1400">
              <a:latin typeface="Microsoft YaHei"/>
              <a:cs typeface="Microsoft YaHei"/>
            </a:endParaRPr>
          </a:p>
        </p:txBody>
      </p:sp>
      <p:grpSp>
        <p:nvGrpSpPr>
          <p:cNvPr id="54" name="object 54" descr=""/>
          <p:cNvGrpSpPr/>
          <p:nvPr/>
        </p:nvGrpSpPr>
        <p:grpSpPr>
          <a:xfrm>
            <a:off x="0" y="3332327"/>
            <a:ext cx="8385809" cy="1475105"/>
            <a:chOff x="0" y="3332327"/>
            <a:chExt cx="8385809" cy="1475105"/>
          </a:xfrm>
        </p:grpSpPr>
        <p:pic>
          <p:nvPicPr>
            <p:cNvPr id="55" name="object 55"/>
            <p:cNvPicPr/>
            <p:nvPr/>
          </p:nvPicPr>
          <p:blipFill>
            <a:blip r:embed="rId19" cstate="print"/>
            <a:stretch>
              <a:fillRect/>
            </a:stretch>
          </p:blipFill>
          <p:spPr>
            <a:xfrm>
              <a:off x="0" y="3332327"/>
              <a:ext cx="2764116" cy="1474691"/>
            </a:xfrm>
            <a:prstGeom prst="rect">
              <a:avLst/>
            </a:prstGeom>
          </p:spPr>
        </p:pic>
        <p:pic>
          <p:nvPicPr>
            <p:cNvPr id="56" name="object 56"/>
            <p:cNvPicPr/>
            <p:nvPr/>
          </p:nvPicPr>
          <p:blipFill>
            <a:blip r:embed="rId20" cstate="print"/>
            <a:stretch>
              <a:fillRect/>
            </a:stretch>
          </p:blipFill>
          <p:spPr>
            <a:xfrm>
              <a:off x="2784263" y="3407048"/>
              <a:ext cx="5601521" cy="1323765"/>
            </a:xfrm>
            <a:prstGeom prst="rect">
              <a:avLst/>
            </a:prstGeom>
          </p:spPr>
        </p:pic>
      </p:grpSp>
      <p:sp>
        <p:nvSpPr>
          <p:cNvPr id="57" name="object 57"/>
          <p:cNvSpPr txBox="1">
            <a:spLocks noGrp="1"/>
          </p:cNvSpPr>
          <p:nvPr>
            <p:ph type="title"/>
          </p:nvPr>
        </p:nvSpPr>
        <p:spPr>
          <a:xfrm>
            <a:off x="2801113" y="151130"/>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50"/>
              <a:t>无线网络建设分析</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2595407" y="1296092"/>
            <a:ext cx="4269105" cy="429895"/>
            <a:chOff x="2595407" y="1296092"/>
            <a:chExt cx="4269105" cy="429895"/>
          </a:xfrm>
        </p:grpSpPr>
        <p:sp>
          <p:nvSpPr>
            <p:cNvPr id="3" name="object 3" descr=""/>
            <p:cNvSpPr/>
            <p:nvPr/>
          </p:nvSpPr>
          <p:spPr>
            <a:xfrm>
              <a:off x="4754093" y="1498030"/>
              <a:ext cx="2104390" cy="0"/>
            </a:xfrm>
            <a:custGeom>
              <a:avLst/>
              <a:gdLst/>
              <a:ahLst/>
              <a:cxnLst/>
              <a:rect l="l" t="t" r="r" b="b"/>
              <a:pathLst>
                <a:path w="2104390" h="0">
                  <a:moveTo>
                    <a:pt x="0" y="0"/>
                  </a:moveTo>
                  <a:lnTo>
                    <a:pt x="2103906" y="0"/>
                  </a:lnTo>
                </a:path>
              </a:pathLst>
            </a:custGeom>
            <a:ln w="11455">
              <a:solidFill>
                <a:srgbClr val="B6DCDF"/>
              </a:solidFill>
            </a:ln>
          </p:spPr>
          <p:txBody>
            <a:bodyPr wrap="square" lIns="0" tIns="0" rIns="0" bIns="0" rtlCol="0"/>
            <a:lstStyle/>
            <a:p/>
          </p:txBody>
        </p:sp>
        <p:sp>
          <p:nvSpPr>
            <p:cNvPr id="4" name="object 4" descr=""/>
            <p:cNvSpPr/>
            <p:nvPr/>
          </p:nvSpPr>
          <p:spPr>
            <a:xfrm>
              <a:off x="2595407" y="1434161"/>
              <a:ext cx="2349500" cy="291465"/>
            </a:xfrm>
            <a:custGeom>
              <a:avLst/>
              <a:gdLst/>
              <a:ahLst/>
              <a:cxnLst/>
              <a:rect l="l" t="t" r="r" b="b"/>
              <a:pathLst>
                <a:path w="2349500" h="291464">
                  <a:moveTo>
                    <a:pt x="1977796" y="0"/>
                  </a:moveTo>
                  <a:lnTo>
                    <a:pt x="0" y="0"/>
                  </a:lnTo>
                  <a:lnTo>
                    <a:pt x="371322" y="291401"/>
                  </a:lnTo>
                  <a:lnTo>
                    <a:pt x="2349106" y="291401"/>
                  </a:lnTo>
                  <a:lnTo>
                    <a:pt x="1977796" y="0"/>
                  </a:lnTo>
                  <a:close/>
                </a:path>
              </a:pathLst>
            </a:custGeom>
            <a:solidFill>
              <a:srgbClr val="8AC6CD">
                <a:alpha val="63136"/>
              </a:srgbClr>
            </a:solidFill>
          </p:spPr>
          <p:txBody>
            <a:bodyPr wrap="square" lIns="0" tIns="0" rIns="0" bIns="0" rtlCol="0"/>
            <a:lstStyle/>
            <a:p/>
          </p:txBody>
        </p:sp>
        <p:sp>
          <p:nvSpPr>
            <p:cNvPr id="5" name="object 5" descr=""/>
            <p:cNvSpPr/>
            <p:nvPr/>
          </p:nvSpPr>
          <p:spPr>
            <a:xfrm>
              <a:off x="2925555" y="1444094"/>
              <a:ext cx="1809114" cy="264160"/>
            </a:xfrm>
            <a:custGeom>
              <a:avLst/>
              <a:gdLst/>
              <a:ahLst/>
              <a:cxnLst/>
              <a:rect l="l" t="t" r="r" b="b"/>
              <a:pathLst>
                <a:path w="1809114" h="264160">
                  <a:moveTo>
                    <a:pt x="904544" y="0"/>
                  </a:moveTo>
                  <a:lnTo>
                    <a:pt x="826497" y="484"/>
                  </a:lnTo>
                  <a:lnTo>
                    <a:pt x="750293" y="1911"/>
                  </a:lnTo>
                  <a:lnTo>
                    <a:pt x="676204" y="4240"/>
                  </a:lnTo>
                  <a:lnTo>
                    <a:pt x="604501" y="7433"/>
                  </a:lnTo>
                  <a:lnTo>
                    <a:pt x="535457" y="11449"/>
                  </a:lnTo>
                  <a:lnTo>
                    <a:pt x="469343" y="16249"/>
                  </a:lnTo>
                  <a:lnTo>
                    <a:pt x="406430" y="21793"/>
                  </a:lnTo>
                  <a:lnTo>
                    <a:pt x="346989" y="28042"/>
                  </a:lnTo>
                  <a:lnTo>
                    <a:pt x="291293" y="34956"/>
                  </a:lnTo>
                  <a:lnTo>
                    <a:pt x="239613" y="42496"/>
                  </a:lnTo>
                  <a:lnTo>
                    <a:pt x="192220" y="50621"/>
                  </a:lnTo>
                  <a:lnTo>
                    <a:pt x="149386" y="59293"/>
                  </a:lnTo>
                  <a:lnTo>
                    <a:pt x="111382" y="68472"/>
                  </a:lnTo>
                  <a:lnTo>
                    <a:pt x="50951" y="88190"/>
                  </a:lnTo>
                  <a:lnTo>
                    <a:pt x="13099" y="109460"/>
                  </a:lnTo>
                  <a:lnTo>
                    <a:pt x="0" y="131965"/>
                  </a:lnTo>
                  <a:lnTo>
                    <a:pt x="3320" y="143352"/>
                  </a:lnTo>
                  <a:lnTo>
                    <a:pt x="50951" y="175740"/>
                  </a:lnTo>
                  <a:lnTo>
                    <a:pt x="111382" y="195459"/>
                  </a:lnTo>
                  <a:lnTo>
                    <a:pt x="149386" y="204637"/>
                  </a:lnTo>
                  <a:lnTo>
                    <a:pt x="192220" y="213309"/>
                  </a:lnTo>
                  <a:lnTo>
                    <a:pt x="239613" y="221435"/>
                  </a:lnTo>
                  <a:lnTo>
                    <a:pt x="291293" y="228974"/>
                  </a:lnTo>
                  <a:lnTo>
                    <a:pt x="346989" y="235888"/>
                  </a:lnTo>
                  <a:lnTo>
                    <a:pt x="406430" y="242137"/>
                  </a:lnTo>
                  <a:lnTo>
                    <a:pt x="469343" y="247682"/>
                  </a:lnTo>
                  <a:lnTo>
                    <a:pt x="535457" y="252482"/>
                  </a:lnTo>
                  <a:lnTo>
                    <a:pt x="604501" y="256498"/>
                  </a:lnTo>
                  <a:lnTo>
                    <a:pt x="676204" y="259690"/>
                  </a:lnTo>
                  <a:lnTo>
                    <a:pt x="750293" y="262020"/>
                  </a:lnTo>
                  <a:lnTo>
                    <a:pt x="826497" y="263447"/>
                  </a:lnTo>
                  <a:lnTo>
                    <a:pt x="904544" y="263931"/>
                  </a:lnTo>
                  <a:lnTo>
                    <a:pt x="982592" y="263447"/>
                  </a:lnTo>
                  <a:lnTo>
                    <a:pt x="1058796" y="262020"/>
                  </a:lnTo>
                  <a:lnTo>
                    <a:pt x="1132885" y="259690"/>
                  </a:lnTo>
                  <a:lnTo>
                    <a:pt x="1204587" y="256498"/>
                  </a:lnTo>
                  <a:lnTo>
                    <a:pt x="1273631" y="252482"/>
                  </a:lnTo>
                  <a:lnTo>
                    <a:pt x="1339746" y="247682"/>
                  </a:lnTo>
                  <a:lnTo>
                    <a:pt x="1402659" y="242137"/>
                  </a:lnTo>
                  <a:lnTo>
                    <a:pt x="1462099" y="235888"/>
                  </a:lnTo>
                  <a:lnTo>
                    <a:pt x="1517795" y="228974"/>
                  </a:lnTo>
                  <a:lnTo>
                    <a:pt x="1569476" y="221435"/>
                  </a:lnTo>
                  <a:lnTo>
                    <a:pt x="1616869" y="213309"/>
                  </a:lnTo>
                  <a:lnTo>
                    <a:pt x="1659703" y="204637"/>
                  </a:lnTo>
                  <a:lnTo>
                    <a:pt x="1697707" y="195459"/>
                  </a:lnTo>
                  <a:lnTo>
                    <a:pt x="1758138" y="175740"/>
                  </a:lnTo>
                  <a:lnTo>
                    <a:pt x="1795989" y="154470"/>
                  </a:lnTo>
                  <a:lnTo>
                    <a:pt x="1809089" y="131965"/>
                  </a:lnTo>
                  <a:lnTo>
                    <a:pt x="1805769" y="120578"/>
                  </a:lnTo>
                  <a:lnTo>
                    <a:pt x="1758138" y="88190"/>
                  </a:lnTo>
                  <a:lnTo>
                    <a:pt x="1697707" y="68472"/>
                  </a:lnTo>
                  <a:lnTo>
                    <a:pt x="1659703" y="59293"/>
                  </a:lnTo>
                  <a:lnTo>
                    <a:pt x="1616869" y="50621"/>
                  </a:lnTo>
                  <a:lnTo>
                    <a:pt x="1569476" y="42496"/>
                  </a:lnTo>
                  <a:lnTo>
                    <a:pt x="1517795" y="34956"/>
                  </a:lnTo>
                  <a:lnTo>
                    <a:pt x="1462099" y="28042"/>
                  </a:lnTo>
                  <a:lnTo>
                    <a:pt x="1402659" y="21793"/>
                  </a:lnTo>
                  <a:lnTo>
                    <a:pt x="1339746" y="16249"/>
                  </a:lnTo>
                  <a:lnTo>
                    <a:pt x="1273631" y="11449"/>
                  </a:lnTo>
                  <a:lnTo>
                    <a:pt x="1204587" y="7433"/>
                  </a:lnTo>
                  <a:lnTo>
                    <a:pt x="1132885" y="4240"/>
                  </a:lnTo>
                  <a:lnTo>
                    <a:pt x="1058796" y="1911"/>
                  </a:lnTo>
                  <a:lnTo>
                    <a:pt x="982592" y="484"/>
                  </a:lnTo>
                  <a:lnTo>
                    <a:pt x="904544" y="0"/>
                  </a:lnTo>
                  <a:close/>
                </a:path>
              </a:pathLst>
            </a:custGeom>
            <a:solidFill>
              <a:srgbClr val="F0F8F9">
                <a:alpha val="63920"/>
              </a:srgbClr>
            </a:solidFill>
          </p:spPr>
          <p:txBody>
            <a:bodyPr wrap="square" lIns="0" tIns="0" rIns="0" bIns="0" rtlCol="0"/>
            <a:lstStyle/>
            <a:p/>
          </p:txBody>
        </p:sp>
        <p:pic>
          <p:nvPicPr>
            <p:cNvPr id="6" name="object 6" descr=""/>
            <p:cNvPicPr/>
            <p:nvPr/>
          </p:nvPicPr>
          <p:blipFill>
            <a:blip r:embed="rId2" cstate="print"/>
            <a:stretch>
              <a:fillRect/>
            </a:stretch>
          </p:blipFill>
          <p:spPr>
            <a:xfrm>
              <a:off x="3053502" y="1296092"/>
              <a:ext cx="118642" cy="276143"/>
            </a:xfrm>
            <a:prstGeom prst="rect">
              <a:avLst/>
            </a:prstGeom>
          </p:spPr>
        </p:pic>
        <p:pic>
          <p:nvPicPr>
            <p:cNvPr id="7" name="object 7"/>
            <p:cNvPicPr/>
            <p:nvPr/>
          </p:nvPicPr>
          <p:blipFill>
            <a:blip r:embed="rId3" cstate="print"/>
            <a:stretch>
              <a:fillRect/>
            </a:stretch>
          </p:blipFill>
          <p:spPr>
            <a:xfrm>
              <a:off x="3510707" y="1445618"/>
              <a:ext cx="138142" cy="100479"/>
            </a:xfrm>
            <a:prstGeom prst="rect">
              <a:avLst/>
            </a:prstGeom>
          </p:spPr>
        </p:pic>
        <p:pic>
          <p:nvPicPr>
            <p:cNvPr id="8" name="object 8"/>
            <p:cNvPicPr/>
            <p:nvPr/>
          </p:nvPicPr>
          <p:blipFill>
            <a:blip r:embed="rId4" cstate="print"/>
            <a:stretch>
              <a:fillRect/>
            </a:stretch>
          </p:blipFill>
          <p:spPr>
            <a:xfrm>
              <a:off x="3600805" y="1483233"/>
              <a:ext cx="144145" cy="104860"/>
            </a:xfrm>
            <a:prstGeom prst="rect">
              <a:avLst/>
            </a:prstGeom>
          </p:spPr>
        </p:pic>
        <p:pic>
          <p:nvPicPr>
            <p:cNvPr id="9" name="object 9"/>
            <p:cNvPicPr/>
            <p:nvPr/>
          </p:nvPicPr>
          <p:blipFill>
            <a:blip r:embed="rId5" cstate="print"/>
            <a:stretch>
              <a:fillRect/>
            </a:stretch>
          </p:blipFill>
          <p:spPr>
            <a:xfrm>
              <a:off x="3450644" y="1488481"/>
              <a:ext cx="180183" cy="131098"/>
            </a:xfrm>
            <a:prstGeom prst="rect">
              <a:avLst/>
            </a:prstGeom>
          </p:spPr>
        </p:pic>
        <p:pic>
          <p:nvPicPr>
            <p:cNvPr id="10" name="object 10"/>
            <p:cNvPicPr/>
            <p:nvPr/>
          </p:nvPicPr>
          <p:blipFill>
            <a:blip r:embed="rId3" cstate="print"/>
            <a:stretch>
              <a:fillRect/>
            </a:stretch>
          </p:blipFill>
          <p:spPr>
            <a:xfrm>
              <a:off x="3877208" y="1486014"/>
              <a:ext cx="138141" cy="100482"/>
            </a:xfrm>
            <a:prstGeom prst="rect">
              <a:avLst/>
            </a:prstGeom>
          </p:spPr>
        </p:pic>
        <p:pic>
          <p:nvPicPr>
            <p:cNvPr id="11" name="object 11"/>
            <p:cNvPicPr/>
            <p:nvPr/>
          </p:nvPicPr>
          <p:blipFill>
            <a:blip r:embed="rId4" cstate="print"/>
            <a:stretch>
              <a:fillRect/>
            </a:stretch>
          </p:blipFill>
          <p:spPr>
            <a:xfrm>
              <a:off x="3967302" y="1523631"/>
              <a:ext cx="144145" cy="104858"/>
            </a:xfrm>
            <a:prstGeom prst="rect">
              <a:avLst/>
            </a:prstGeom>
          </p:spPr>
        </p:pic>
        <p:pic>
          <p:nvPicPr>
            <p:cNvPr id="12" name="object 12"/>
            <p:cNvPicPr/>
            <p:nvPr/>
          </p:nvPicPr>
          <p:blipFill>
            <a:blip r:embed="rId5" cstate="print"/>
            <a:stretch>
              <a:fillRect/>
            </a:stretch>
          </p:blipFill>
          <p:spPr>
            <a:xfrm>
              <a:off x="3817142" y="1528878"/>
              <a:ext cx="180182" cy="131100"/>
            </a:xfrm>
            <a:prstGeom prst="rect">
              <a:avLst/>
            </a:prstGeom>
          </p:spPr>
        </p:pic>
        <p:pic>
          <p:nvPicPr>
            <p:cNvPr id="13" name="object 13"/>
            <p:cNvPicPr/>
            <p:nvPr/>
          </p:nvPicPr>
          <p:blipFill>
            <a:blip r:embed="rId3" cstate="print"/>
            <a:stretch>
              <a:fillRect/>
            </a:stretch>
          </p:blipFill>
          <p:spPr>
            <a:xfrm>
              <a:off x="4372228" y="1463446"/>
              <a:ext cx="138144" cy="100482"/>
            </a:xfrm>
            <a:prstGeom prst="rect">
              <a:avLst/>
            </a:prstGeom>
          </p:spPr>
        </p:pic>
        <p:pic>
          <p:nvPicPr>
            <p:cNvPr id="14" name="object 14"/>
            <p:cNvPicPr/>
            <p:nvPr/>
          </p:nvPicPr>
          <p:blipFill>
            <a:blip r:embed="rId4" cstate="print"/>
            <a:stretch>
              <a:fillRect/>
            </a:stretch>
          </p:blipFill>
          <p:spPr>
            <a:xfrm>
              <a:off x="4462322" y="1501063"/>
              <a:ext cx="144145" cy="104855"/>
            </a:xfrm>
            <a:prstGeom prst="rect">
              <a:avLst/>
            </a:prstGeom>
          </p:spPr>
        </p:pic>
        <p:pic>
          <p:nvPicPr>
            <p:cNvPr id="15" name="object 15"/>
            <p:cNvPicPr/>
            <p:nvPr/>
          </p:nvPicPr>
          <p:blipFill>
            <a:blip r:embed="rId5" cstate="print"/>
            <a:stretch>
              <a:fillRect/>
            </a:stretch>
          </p:blipFill>
          <p:spPr>
            <a:xfrm>
              <a:off x="4312170" y="1506308"/>
              <a:ext cx="180183" cy="131100"/>
            </a:xfrm>
            <a:prstGeom prst="rect">
              <a:avLst/>
            </a:prstGeom>
          </p:spPr>
        </p:pic>
      </p:grpSp>
      <p:sp>
        <p:nvSpPr>
          <p:cNvPr id="16" name="object 16"/>
          <p:cNvSpPr txBox="1">
            <a:spLocks noGrp="1"/>
          </p:cNvSpPr>
          <p:nvPr>
            <p:ph type="title"/>
          </p:nvPr>
        </p:nvSpPr>
        <p:spPr>
          <a:xfrm>
            <a:off x="2456529" y="121541"/>
            <a:ext cx="4610735" cy="513080"/>
          </a:xfrm>
          <a:prstGeom prst="rect"/>
        </p:spPr>
        <p:txBody>
          <a:bodyPr wrap="square" lIns="0" tIns="12065" rIns="0" bIns="0" rtlCol="0" vert="horz">
            <a:spAutoFit/>
          </a:bodyPr>
          <a:lstStyle/>
          <a:p>
            <a:pPr marL="12700">
              <a:lnSpc>
                <a:spcPct val="100000"/>
              </a:lnSpc>
              <a:spcBef>
                <a:spcPts val="95"/>
              </a:spcBef>
            </a:pPr>
            <a:r>
              <a:rPr dirty="0" spc="-40"/>
              <a:t>中国移动</a:t>
            </a:r>
            <a:r>
              <a:rPr dirty="0" spc="-30">
                <a:latin typeface="Times New Roman"/>
                <a:cs typeface="Times New Roman"/>
              </a:rPr>
              <a:t>5G</a:t>
            </a:r>
            <a:r>
              <a:rPr dirty="0" spc="-45"/>
              <a:t>分层组网策略</a:t>
            </a:r>
          </a:p>
        </p:txBody>
      </p:sp>
      <p:sp>
        <p:nvSpPr>
          <p:cNvPr id="17" name="object 17" descr=""/>
          <p:cNvSpPr/>
          <p:nvPr/>
        </p:nvSpPr>
        <p:spPr>
          <a:xfrm>
            <a:off x="1073911" y="1351673"/>
            <a:ext cx="1431290" cy="495300"/>
          </a:xfrm>
          <a:custGeom>
            <a:avLst/>
            <a:gdLst/>
            <a:ahLst/>
            <a:cxnLst/>
            <a:rect l="l" t="t" r="r" b="b"/>
            <a:pathLst>
              <a:path w="1431289" h="495300">
                <a:moveTo>
                  <a:pt x="1431061" y="0"/>
                </a:moveTo>
                <a:lnTo>
                  <a:pt x="0" y="0"/>
                </a:lnTo>
                <a:lnTo>
                  <a:pt x="0" y="495058"/>
                </a:lnTo>
                <a:lnTo>
                  <a:pt x="1431061" y="495058"/>
                </a:lnTo>
                <a:lnTo>
                  <a:pt x="1431061" y="0"/>
                </a:lnTo>
                <a:close/>
              </a:path>
            </a:pathLst>
          </a:custGeom>
          <a:solidFill>
            <a:srgbClr val="FFC000"/>
          </a:solidFill>
        </p:spPr>
        <p:txBody>
          <a:bodyPr wrap="square" lIns="0" tIns="0" rIns="0" bIns="0" rtlCol="0"/>
          <a:lstStyle/>
          <a:p/>
        </p:txBody>
      </p:sp>
      <p:sp>
        <p:nvSpPr>
          <p:cNvPr id="18" name="object 18" descr=""/>
          <p:cNvSpPr txBox="1"/>
          <p:nvPr/>
        </p:nvSpPr>
        <p:spPr>
          <a:xfrm>
            <a:off x="1395810" y="1453920"/>
            <a:ext cx="787400" cy="254000"/>
          </a:xfrm>
          <a:prstGeom prst="rect">
            <a:avLst/>
          </a:prstGeom>
        </p:spPr>
        <p:txBody>
          <a:bodyPr wrap="square" lIns="0" tIns="12700" rIns="0" bIns="0" rtlCol="0" vert="horz">
            <a:spAutoFit/>
          </a:bodyPr>
          <a:lstStyle/>
          <a:p>
            <a:pPr marL="12700">
              <a:lnSpc>
                <a:spcPct val="100000"/>
              </a:lnSpc>
              <a:spcBef>
                <a:spcPts val="100"/>
              </a:spcBef>
            </a:pPr>
            <a:r>
              <a:rPr dirty="0" sz="1500" spc="-15" b="1">
                <a:solidFill>
                  <a:srgbClr val="FFFFFF"/>
                </a:solidFill>
                <a:latin typeface="Microsoft YaHei"/>
                <a:cs typeface="Microsoft YaHei"/>
              </a:rPr>
              <a:t>广域覆盖</a:t>
            </a:r>
            <a:endParaRPr sz="1500">
              <a:latin typeface="Microsoft YaHei"/>
              <a:cs typeface="Microsoft YaHei"/>
            </a:endParaRPr>
          </a:p>
        </p:txBody>
      </p:sp>
      <p:sp>
        <p:nvSpPr>
          <p:cNvPr id="19" name="object 19" descr=""/>
          <p:cNvSpPr txBox="1"/>
          <p:nvPr/>
        </p:nvSpPr>
        <p:spPr>
          <a:xfrm>
            <a:off x="1073911" y="2193302"/>
            <a:ext cx="1431290" cy="495300"/>
          </a:xfrm>
          <a:prstGeom prst="rect">
            <a:avLst/>
          </a:prstGeom>
          <a:solidFill>
            <a:srgbClr val="222268"/>
          </a:solidFill>
        </p:spPr>
        <p:txBody>
          <a:bodyPr wrap="square" lIns="0" tIns="114935" rIns="0" bIns="0" rtlCol="0" vert="horz">
            <a:spAutoFit/>
          </a:bodyPr>
          <a:lstStyle/>
          <a:p>
            <a:pPr marL="334010">
              <a:lnSpc>
                <a:spcPct val="100000"/>
              </a:lnSpc>
              <a:spcBef>
                <a:spcPts val="905"/>
              </a:spcBef>
            </a:pPr>
            <a:r>
              <a:rPr dirty="0" sz="1500" spc="-15" b="1">
                <a:solidFill>
                  <a:srgbClr val="FFFFFF"/>
                </a:solidFill>
                <a:latin typeface="Microsoft YaHei"/>
                <a:cs typeface="Microsoft YaHei"/>
              </a:rPr>
              <a:t>深度覆盖</a:t>
            </a:r>
            <a:endParaRPr sz="1500">
              <a:latin typeface="Microsoft YaHei"/>
              <a:cs typeface="Microsoft YaHei"/>
            </a:endParaRPr>
          </a:p>
        </p:txBody>
      </p:sp>
      <p:sp>
        <p:nvSpPr>
          <p:cNvPr id="20" name="object 20" descr=""/>
          <p:cNvSpPr txBox="1"/>
          <p:nvPr/>
        </p:nvSpPr>
        <p:spPr>
          <a:xfrm>
            <a:off x="1073911" y="2996463"/>
            <a:ext cx="1431290" cy="495300"/>
          </a:xfrm>
          <a:prstGeom prst="rect">
            <a:avLst/>
          </a:prstGeom>
          <a:solidFill>
            <a:srgbClr val="00B050"/>
          </a:solidFill>
        </p:spPr>
        <p:txBody>
          <a:bodyPr wrap="square" lIns="0" tIns="114935" rIns="0" bIns="0" rtlCol="0" vert="horz">
            <a:spAutoFit/>
          </a:bodyPr>
          <a:lstStyle/>
          <a:p>
            <a:pPr marL="143510">
              <a:lnSpc>
                <a:spcPct val="100000"/>
              </a:lnSpc>
              <a:spcBef>
                <a:spcPts val="905"/>
              </a:spcBef>
            </a:pPr>
            <a:r>
              <a:rPr dirty="0" sz="1500" spc="-10" b="1">
                <a:solidFill>
                  <a:srgbClr val="FFFFFF"/>
                </a:solidFill>
                <a:latin typeface="Microsoft YaHei"/>
                <a:cs typeface="Microsoft YaHei"/>
              </a:rPr>
              <a:t>高业务容量层</a:t>
            </a:r>
            <a:endParaRPr sz="1500">
              <a:latin typeface="Microsoft YaHei"/>
              <a:cs typeface="Microsoft YaHei"/>
            </a:endParaRPr>
          </a:p>
        </p:txBody>
      </p:sp>
      <p:sp>
        <p:nvSpPr>
          <p:cNvPr id="21" name="object 21" descr=""/>
          <p:cNvSpPr txBox="1"/>
          <p:nvPr/>
        </p:nvSpPr>
        <p:spPr>
          <a:xfrm>
            <a:off x="1073911" y="3799611"/>
            <a:ext cx="1431290" cy="495300"/>
          </a:xfrm>
          <a:prstGeom prst="rect">
            <a:avLst/>
          </a:prstGeom>
          <a:solidFill>
            <a:srgbClr val="333399"/>
          </a:solidFill>
        </p:spPr>
        <p:txBody>
          <a:bodyPr wrap="square" lIns="0" tIns="114935" rIns="0" bIns="0" rtlCol="0" vert="horz">
            <a:spAutoFit/>
          </a:bodyPr>
          <a:lstStyle/>
          <a:p>
            <a:pPr marL="143510">
              <a:lnSpc>
                <a:spcPct val="100000"/>
              </a:lnSpc>
              <a:spcBef>
                <a:spcPts val="905"/>
              </a:spcBef>
            </a:pPr>
            <a:r>
              <a:rPr dirty="0" sz="1500" spc="-10" b="1">
                <a:solidFill>
                  <a:srgbClr val="FFFFFF"/>
                </a:solidFill>
                <a:latin typeface="Microsoft YaHei"/>
                <a:cs typeface="Microsoft YaHei"/>
              </a:rPr>
              <a:t>精准室内覆盖</a:t>
            </a:r>
            <a:endParaRPr sz="1500">
              <a:latin typeface="Microsoft YaHei"/>
              <a:cs typeface="Microsoft YaHei"/>
            </a:endParaRPr>
          </a:p>
        </p:txBody>
      </p:sp>
      <p:sp>
        <p:nvSpPr>
          <p:cNvPr id="22" name="object 22" descr=""/>
          <p:cNvSpPr txBox="1"/>
          <p:nvPr/>
        </p:nvSpPr>
        <p:spPr>
          <a:xfrm>
            <a:off x="128866" y="1229131"/>
            <a:ext cx="544195" cy="3170555"/>
          </a:xfrm>
          <a:prstGeom prst="rect">
            <a:avLst/>
          </a:prstGeom>
          <a:solidFill>
            <a:srgbClr val="CC6600"/>
          </a:solidFill>
        </p:spPr>
        <p:txBody>
          <a:bodyPr wrap="square" lIns="0" tIns="0" rIns="0" bIns="0" rtlCol="0" vert="horz">
            <a:spAutoFit/>
          </a:bodyPr>
          <a:lstStyle/>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marL="67945" marR="60960">
              <a:lnSpc>
                <a:spcPct val="150000"/>
              </a:lnSpc>
            </a:pPr>
            <a:r>
              <a:rPr dirty="0" sz="1600" spc="-25" b="1">
                <a:solidFill>
                  <a:srgbClr val="FFFFFF"/>
                </a:solidFill>
                <a:latin typeface="Microsoft YaHei"/>
                <a:cs typeface="Microsoft YaHei"/>
              </a:rPr>
              <a:t>立体覆盖</a:t>
            </a:r>
            <a:endParaRPr sz="1600">
              <a:latin typeface="Microsoft YaHei"/>
              <a:cs typeface="Microsoft YaHei"/>
            </a:endParaRPr>
          </a:p>
        </p:txBody>
      </p:sp>
      <p:sp>
        <p:nvSpPr>
          <p:cNvPr id="23" name="object 23" descr=""/>
          <p:cNvSpPr/>
          <p:nvPr/>
        </p:nvSpPr>
        <p:spPr>
          <a:xfrm>
            <a:off x="672754" y="1599203"/>
            <a:ext cx="401320" cy="2448560"/>
          </a:xfrm>
          <a:custGeom>
            <a:avLst/>
            <a:gdLst/>
            <a:ahLst/>
            <a:cxnLst/>
            <a:rect l="l" t="t" r="r" b="b"/>
            <a:pathLst>
              <a:path w="401319" h="2448560">
                <a:moveTo>
                  <a:pt x="0" y="1214932"/>
                </a:moveTo>
                <a:lnTo>
                  <a:pt x="200583" y="1214932"/>
                </a:lnTo>
                <a:lnTo>
                  <a:pt x="200583" y="0"/>
                </a:lnTo>
                <a:lnTo>
                  <a:pt x="401154" y="0"/>
                </a:lnTo>
              </a:path>
              <a:path w="401319" h="2448560">
                <a:moveTo>
                  <a:pt x="0" y="1214932"/>
                </a:moveTo>
                <a:lnTo>
                  <a:pt x="200583" y="1214932"/>
                </a:lnTo>
                <a:lnTo>
                  <a:pt x="200583" y="1644777"/>
                </a:lnTo>
                <a:lnTo>
                  <a:pt x="401154" y="1644777"/>
                </a:lnTo>
              </a:path>
              <a:path w="401319" h="2448560">
                <a:moveTo>
                  <a:pt x="0" y="1214932"/>
                </a:moveTo>
                <a:lnTo>
                  <a:pt x="200583" y="1214932"/>
                </a:lnTo>
                <a:lnTo>
                  <a:pt x="200583" y="2447937"/>
                </a:lnTo>
                <a:lnTo>
                  <a:pt x="401154" y="2447937"/>
                </a:lnTo>
              </a:path>
              <a:path w="401319" h="2448560">
                <a:moveTo>
                  <a:pt x="0" y="1214932"/>
                </a:moveTo>
                <a:lnTo>
                  <a:pt x="200583" y="1214932"/>
                </a:lnTo>
                <a:lnTo>
                  <a:pt x="200583" y="841629"/>
                </a:lnTo>
                <a:lnTo>
                  <a:pt x="401154" y="841629"/>
                </a:lnTo>
              </a:path>
            </a:pathLst>
          </a:custGeom>
          <a:ln w="9525">
            <a:solidFill>
              <a:srgbClr val="B6DCDF"/>
            </a:solidFill>
          </a:ln>
        </p:spPr>
        <p:txBody>
          <a:bodyPr wrap="square" lIns="0" tIns="0" rIns="0" bIns="0" rtlCol="0"/>
          <a:lstStyle/>
          <a:p/>
        </p:txBody>
      </p:sp>
      <p:grpSp>
        <p:nvGrpSpPr>
          <p:cNvPr id="24" name="object 24" descr=""/>
          <p:cNvGrpSpPr/>
          <p:nvPr/>
        </p:nvGrpSpPr>
        <p:grpSpPr>
          <a:xfrm>
            <a:off x="2571384" y="2688356"/>
            <a:ext cx="2349500" cy="701675"/>
            <a:chOff x="2571384" y="2688356"/>
            <a:chExt cx="2349500" cy="701675"/>
          </a:xfrm>
        </p:grpSpPr>
        <p:sp>
          <p:nvSpPr>
            <p:cNvPr id="25" name="object 25" descr=""/>
            <p:cNvSpPr/>
            <p:nvPr/>
          </p:nvSpPr>
          <p:spPr>
            <a:xfrm>
              <a:off x="2571384" y="3098288"/>
              <a:ext cx="2349500" cy="291465"/>
            </a:xfrm>
            <a:custGeom>
              <a:avLst/>
              <a:gdLst/>
              <a:ahLst/>
              <a:cxnLst/>
              <a:rect l="l" t="t" r="r" b="b"/>
              <a:pathLst>
                <a:path w="2349500" h="291464">
                  <a:moveTo>
                    <a:pt x="1977796" y="0"/>
                  </a:moveTo>
                  <a:lnTo>
                    <a:pt x="0" y="0"/>
                  </a:lnTo>
                  <a:lnTo>
                    <a:pt x="371322" y="291401"/>
                  </a:lnTo>
                  <a:lnTo>
                    <a:pt x="2349106" y="291401"/>
                  </a:lnTo>
                  <a:lnTo>
                    <a:pt x="1977796" y="0"/>
                  </a:lnTo>
                  <a:close/>
                </a:path>
              </a:pathLst>
            </a:custGeom>
            <a:solidFill>
              <a:srgbClr val="C0C0C0">
                <a:alpha val="63136"/>
              </a:srgbClr>
            </a:solidFill>
          </p:spPr>
          <p:txBody>
            <a:bodyPr wrap="square" lIns="0" tIns="0" rIns="0" bIns="0" rtlCol="0"/>
            <a:lstStyle/>
            <a:p/>
          </p:txBody>
        </p:sp>
        <p:pic>
          <p:nvPicPr>
            <p:cNvPr id="26" name="object 26" descr=""/>
            <p:cNvPicPr/>
            <p:nvPr/>
          </p:nvPicPr>
          <p:blipFill>
            <a:blip r:embed="rId6" cstate="print"/>
            <a:stretch>
              <a:fillRect/>
            </a:stretch>
          </p:blipFill>
          <p:spPr>
            <a:xfrm>
              <a:off x="2883560" y="2688356"/>
              <a:ext cx="741121" cy="627190"/>
            </a:xfrm>
            <a:prstGeom prst="rect">
              <a:avLst/>
            </a:prstGeom>
          </p:spPr>
        </p:pic>
      </p:grpSp>
      <p:grpSp>
        <p:nvGrpSpPr>
          <p:cNvPr id="27" name="object 27" descr=""/>
          <p:cNvGrpSpPr/>
          <p:nvPr/>
        </p:nvGrpSpPr>
        <p:grpSpPr>
          <a:xfrm>
            <a:off x="2582768" y="2071890"/>
            <a:ext cx="2349500" cy="467359"/>
            <a:chOff x="2582768" y="2071890"/>
            <a:chExt cx="2349500" cy="467359"/>
          </a:xfrm>
        </p:grpSpPr>
        <p:sp>
          <p:nvSpPr>
            <p:cNvPr id="28" name="object 28" descr=""/>
            <p:cNvSpPr/>
            <p:nvPr/>
          </p:nvSpPr>
          <p:spPr>
            <a:xfrm>
              <a:off x="2582768" y="2247620"/>
              <a:ext cx="2349500" cy="291465"/>
            </a:xfrm>
            <a:custGeom>
              <a:avLst/>
              <a:gdLst/>
              <a:ahLst/>
              <a:cxnLst/>
              <a:rect l="l" t="t" r="r" b="b"/>
              <a:pathLst>
                <a:path w="2349500" h="291464">
                  <a:moveTo>
                    <a:pt x="1977796" y="0"/>
                  </a:moveTo>
                  <a:lnTo>
                    <a:pt x="0" y="0"/>
                  </a:lnTo>
                  <a:lnTo>
                    <a:pt x="371322" y="291401"/>
                  </a:lnTo>
                  <a:lnTo>
                    <a:pt x="2349106" y="291401"/>
                  </a:lnTo>
                  <a:lnTo>
                    <a:pt x="1977796" y="0"/>
                  </a:lnTo>
                  <a:close/>
                </a:path>
              </a:pathLst>
            </a:custGeom>
            <a:solidFill>
              <a:srgbClr val="222268">
                <a:alpha val="63136"/>
              </a:srgbClr>
            </a:solidFill>
          </p:spPr>
          <p:txBody>
            <a:bodyPr wrap="square" lIns="0" tIns="0" rIns="0" bIns="0" rtlCol="0"/>
            <a:lstStyle/>
            <a:p/>
          </p:txBody>
        </p:sp>
        <p:pic>
          <p:nvPicPr>
            <p:cNvPr id="29" name="object 29" descr=""/>
            <p:cNvPicPr/>
            <p:nvPr/>
          </p:nvPicPr>
          <p:blipFill>
            <a:blip r:embed="rId7" cstate="print"/>
            <a:stretch>
              <a:fillRect/>
            </a:stretch>
          </p:blipFill>
          <p:spPr>
            <a:xfrm>
              <a:off x="3703320" y="2209800"/>
              <a:ext cx="56972" cy="201168"/>
            </a:xfrm>
            <a:prstGeom prst="rect">
              <a:avLst/>
            </a:prstGeom>
          </p:spPr>
        </p:pic>
        <p:pic>
          <p:nvPicPr>
            <p:cNvPr id="30" name="object 30" descr=""/>
            <p:cNvPicPr/>
            <p:nvPr/>
          </p:nvPicPr>
          <p:blipFill>
            <a:blip r:embed="rId8" cstate="print"/>
            <a:stretch>
              <a:fillRect/>
            </a:stretch>
          </p:blipFill>
          <p:spPr>
            <a:xfrm>
              <a:off x="3731513" y="2266886"/>
              <a:ext cx="280835" cy="131203"/>
            </a:xfrm>
            <a:prstGeom prst="rect">
              <a:avLst/>
            </a:prstGeom>
          </p:spPr>
        </p:pic>
        <p:pic>
          <p:nvPicPr>
            <p:cNvPr id="31" name="object 31"/>
            <p:cNvPicPr/>
            <p:nvPr/>
          </p:nvPicPr>
          <p:blipFill>
            <a:blip r:embed="rId9" cstate="print"/>
            <a:stretch>
              <a:fillRect/>
            </a:stretch>
          </p:blipFill>
          <p:spPr>
            <a:xfrm>
              <a:off x="3807790" y="2204824"/>
              <a:ext cx="362407" cy="258658"/>
            </a:xfrm>
            <a:prstGeom prst="rect">
              <a:avLst/>
            </a:prstGeom>
          </p:spPr>
        </p:pic>
        <p:pic>
          <p:nvPicPr>
            <p:cNvPr id="32" name="object 32"/>
            <p:cNvPicPr/>
            <p:nvPr/>
          </p:nvPicPr>
          <p:blipFill>
            <a:blip r:embed="rId10" cstate="print"/>
            <a:stretch>
              <a:fillRect/>
            </a:stretch>
          </p:blipFill>
          <p:spPr>
            <a:xfrm>
              <a:off x="3043110" y="2075348"/>
              <a:ext cx="190334" cy="325497"/>
            </a:xfrm>
            <a:prstGeom prst="rect">
              <a:avLst/>
            </a:prstGeom>
          </p:spPr>
        </p:pic>
        <p:pic>
          <p:nvPicPr>
            <p:cNvPr id="33" name="object 33"/>
            <p:cNvPicPr/>
            <p:nvPr/>
          </p:nvPicPr>
          <p:blipFill>
            <a:blip r:embed="rId11" cstate="print"/>
            <a:stretch>
              <a:fillRect/>
            </a:stretch>
          </p:blipFill>
          <p:spPr>
            <a:xfrm>
              <a:off x="3407181" y="2078800"/>
              <a:ext cx="167596" cy="325500"/>
            </a:xfrm>
            <a:prstGeom prst="rect">
              <a:avLst/>
            </a:prstGeom>
          </p:spPr>
        </p:pic>
        <p:pic>
          <p:nvPicPr>
            <p:cNvPr id="34" name="object 34"/>
            <p:cNvPicPr/>
            <p:nvPr/>
          </p:nvPicPr>
          <p:blipFill>
            <a:blip r:embed="rId12" cstate="print"/>
            <a:stretch>
              <a:fillRect/>
            </a:stretch>
          </p:blipFill>
          <p:spPr>
            <a:xfrm>
              <a:off x="3104387" y="2079497"/>
              <a:ext cx="120395" cy="97535"/>
            </a:xfrm>
            <a:prstGeom prst="rect">
              <a:avLst/>
            </a:prstGeom>
          </p:spPr>
        </p:pic>
        <p:pic>
          <p:nvPicPr>
            <p:cNvPr id="35" name="object 35" descr=""/>
            <p:cNvPicPr/>
            <p:nvPr/>
          </p:nvPicPr>
          <p:blipFill>
            <a:blip r:embed="rId13" cstate="print"/>
            <a:stretch>
              <a:fillRect/>
            </a:stretch>
          </p:blipFill>
          <p:spPr>
            <a:xfrm>
              <a:off x="3145485" y="2100554"/>
              <a:ext cx="38379" cy="15570"/>
            </a:xfrm>
            <a:prstGeom prst="rect">
              <a:avLst/>
            </a:prstGeom>
          </p:spPr>
        </p:pic>
        <p:pic>
          <p:nvPicPr>
            <p:cNvPr id="36" name="object 36"/>
            <p:cNvPicPr/>
            <p:nvPr/>
          </p:nvPicPr>
          <p:blipFill>
            <a:blip r:embed="rId14" cstate="print"/>
            <a:stretch>
              <a:fillRect/>
            </a:stretch>
          </p:blipFill>
          <p:spPr>
            <a:xfrm>
              <a:off x="3417569" y="2203703"/>
              <a:ext cx="105155" cy="100583"/>
            </a:xfrm>
            <a:prstGeom prst="rect">
              <a:avLst/>
            </a:prstGeom>
          </p:spPr>
        </p:pic>
        <p:pic>
          <p:nvPicPr>
            <p:cNvPr id="37" name="object 37" descr=""/>
            <p:cNvPicPr/>
            <p:nvPr/>
          </p:nvPicPr>
          <p:blipFill>
            <a:blip r:embed="rId15" cstate="print"/>
            <a:stretch>
              <a:fillRect/>
            </a:stretch>
          </p:blipFill>
          <p:spPr>
            <a:xfrm>
              <a:off x="3458400" y="2224532"/>
              <a:ext cx="22999" cy="18846"/>
            </a:xfrm>
            <a:prstGeom prst="rect">
              <a:avLst/>
            </a:prstGeom>
          </p:spPr>
        </p:pic>
        <p:pic>
          <p:nvPicPr>
            <p:cNvPr id="38" name="object 38"/>
            <p:cNvPicPr/>
            <p:nvPr/>
          </p:nvPicPr>
          <p:blipFill>
            <a:blip r:embed="rId16" cstate="print"/>
            <a:stretch>
              <a:fillRect/>
            </a:stretch>
          </p:blipFill>
          <p:spPr>
            <a:xfrm>
              <a:off x="3416045" y="2071890"/>
              <a:ext cx="107441" cy="101333"/>
            </a:xfrm>
            <a:prstGeom prst="rect">
              <a:avLst/>
            </a:prstGeom>
          </p:spPr>
        </p:pic>
        <p:pic>
          <p:nvPicPr>
            <p:cNvPr id="39" name="object 39" descr=""/>
            <p:cNvPicPr/>
            <p:nvPr/>
          </p:nvPicPr>
          <p:blipFill>
            <a:blip r:embed="rId15" cstate="print"/>
            <a:stretch>
              <a:fillRect/>
            </a:stretch>
          </p:blipFill>
          <p:spPr>
            <a:xfrm>
              <a:off x="3457143" y="2092896"/>
              <a:ext cx="25387" cy="18846"/>
            </a:xfrm>
            <a:prstGeom prst="rect">
              <a:avLst/>
            </a:prstGeom>
          </p:spPr>
        </p:pic>
        <p:pic>
          <p:nvPicPr>
            <p:cNvPr id="40" name="object 40"/>
            <p:cNvPicPr/>
            <p:nvPr/>
          </p:nvPicPr>
          <p:blipFill>
            <a:blip r:embed="rId17" cstate="print"/>
            <a:stretch>
              <a:fillRect/>
            </a:stretch>
          </p:blipFill>
          <p:spPr>
            <a:xfrm>
              <a:off x="3115817" y="2193035"/>
              <a:ext cx="116585" cy="97535"/>
            </a:xfrm>
            <a:prstGeom prst="rect">
              <a:avLst/>
            </a:prstGeom>
          </p:spPr>
        </p:pic>
        <p:pic>
          <p:nvPicPr>
            <p:cNvPr id="41" name="object 41" descr=""/>
            <p:cNvPicPr/>
            <p:nvPr/>
          </p:nvPicPr>
          <p:blipFill>
            <a:blip r:embed="rId18" cstate="print"/>
            <a:stretch>
              <a:fillRect/>
            </a:stretch>
          </p:blipFill>
          <p:spPr>
            <a:xfrm>
              <a:off x="3157118" y="2214041"/>
              <a:ext cx="34175" cy="15544"/>
            </a:xfrm>
            <a:prstGeom prst="rect">
              <a:avLst/>
            </a:prstGeom>
          </p:spPr>
        </p:pic>
        <p:pic>
          <p:nvPicPr>
            <p:cNvPr id="42" name="object 42" descr=""/>
            <p:cNvPicPr/>
            <p:nvPr/>
          </p:nvPicPr>
          <p:blipFill>
            <a:blip r:embed="rId19" cstate="print"/>
            <a:stretch>
              <a:fillRect/>
            </a:stretch>
          </p:blipFill>
          <p:spPr>
            <a:xfrm>
              <a:off x="3129927" y="2093569"/>
              <a:ext cx="345643" cy="273723"/>
            </a:xfrm>
            <a:prstGeom prst="rect">
              <a:avLst/>
            </a:prstGeom>
          </p:spPr>
        </p:pic>
      </p:grpSp>
      <p:grpSp>
        <p:nvGrpSpPr>
          <p:cNvPr id="43" name="object 43" descr=""/>
          <p:cNvGrpSpPr/>
          <p:nvPr/>
        </p:nvGrpSpPr>
        <p:grpSpPr>
          <a:xfrm>
            <a:off x="2584085" y="3556877"/>
            <a:ext cx="2349500" cy="636270"/>
            <a:chOff x="2584085" y="3556877"/>
            <a:chExt cx="2349500" cy="636270"/>
          </a:xfrm>
        </p:grpSpPr>
        <p:sp>
          <p:nvSpPr>
            <p:cNvPr id="44" name="object 44" descr=""/>
            <p:cNvSpPr/>
            <p:nvPr/>
          </p:nvSpPr>
          <p:spPr>
            <a:xfrm>
              <a:off x="2584085" y="3901439"/>
              <a:ext cx="2349500" cy="291465"/>
            </a:xfrm>
            <a:custGeom>
              <a:avLst/>
              <a:gdLst/>
              <a:ahLst/>
              <a:cxnLst/>
              <a:rect l="l" t="t" r="r" b="b"/>
              <a:pathLst>
                <a:path w="2349500" h="291464">
                  <a:moveTo>
                    <a:pt x="1977796" y="0"/>
                  </a:moveTo>
                  <a:lnTo>
                    <a:pt x="0" y="0"/>
                  </a:lnTo>
                  <a:lnTo>
                    <a:pt x="371322" y="291401"/>
                  </a:lnTo>
                  <a:lnTo>
                    <a:pt x="2349106" y="291401"/>
                  </a:lnTo>
                  <a:lnTo>
                    <a:pt x="1977796" y="0"/>
                  </a:lnTo>
                  <a:close/>
                </a:path>
              </a:pathLst>
            </a:custGeom>
            <a:solidFill>
              <a:srgbClr val="333399">
                <a:alpha val="63136"/>
              </a:srgbClr>
            </a:solidFill>
          </p:spPr>
          <p:txBody>
            <a:bodyPr wrap="square" lIns="0" tIns="0" rIns="0" bIns="0" rtlCol="0"/>
            <a:lstStyle/>
            <a:p/>
          </p:txBody>
        </p:sp>
        <p:pic>
          <p:nvPicPr>
            <p:cNvPr id="45" name="object 45" descr=""/>
            <p:cNvPicPr/>
            <p:nvPr/>
          </p:nvPicPr>
          <p:blipFill>
            <a:blip r:embed="rId20" cstate="print"/>
            <a:stretch>
              <a:fillRect/>
            </a:stretch>
          </p:blipFill>
          <p:spPr>
            <a:xfrm>
              <a:off x="3045942" y="3814644"/>
              <a:ext cx="80625" cy="264952"/>
            </a:xfrm>
            <a:prstGeom prst="rect">
              <a:avLst/>
            </a:prstGeom>
          </p:spPr>
        </p:pic>
        <p:sp>
          <p:nvSpPr>
            <p:cNvPr id="46" name="object 46" descr=""/>
            <p:cNvSpPr/>
            <p:nvPr/>
          </p:nvSpPr>
          <p:spPr>
            <a:xfrm>
              <a:off x="3104762" y="3815217"/>
              <a:ext cx="20955" cy="263525"/>
            </a:xfrm>
            <a:custGeom>
              <a:avLst/>
              <a:gdLst/>
              <a:ahLst/>
              <a:cxnLst/>
              <a:rect l="l" t="t" r="r" b="b"/>
              <a:pathLst>
                <a:path w="20955" h="263525">
                  <a:moveTo>
                    <a:pt x="20485" y="0"/>
                  </a:moveTo>
                  <a:lnTo>
                    <a:pt x="0" y="23825"/>
                  </a:lnTo>
                  <a:lnTo>
                    <a:pt x="0" y="263461"/>
                  </a:lnTo>
                  <a:lnTo>
                    <a:pt x="20485" y="239674"/>
                  </a:lnTo>
                  <a:lnTo>
                    <a:pt x="20485" y="0"/>
                  </a:lnTo>
                  <a:close/>
                </a:path>
              </a:pathLst>
            </a:custGeom>
            <a:ln w="4762">
              <a:solidFill>
                <a:srgbClr val="879C82"/>
              </a:solidFill>
            </a:ln>
          </p:spPr>
          <p:txBody>
            <a:bodyPr wrap="square" lIns="0" tIns="0" rIns="0" bIns="0" rtlCol="0"/>
            <a:lstStyle/>
            <a:p/>
          </p:txBody>
        </p:sp>
        <p:sp>
          <p:nvSpPr>
            <p:cNvPr id="47" name="object 47" descr=""/>
            <p:cNvSpPr/>
            <p:nvPr/>
          </p:nvSpPr>
          <p:spPr>
            <a:xfrm>
              <a:off x="3051886" y="3888777"/>
              <a:ext cx="18415" cy="24765"/>
            </a:xfrm>
            <a:custGeom>
              <a:avLst/>
              <a:gdLst/>
              <a:ahLst/>
              <a:cxnLst/>
              <a:rect l="l" t="t" r="r" b="b"/>
              <a:pathLst>
                <a:path w="18414" h="24764">
                  <a:moveTo>
                    <a:pt x="17843" y="0"/>
                  </a:moveTo>
                  <a:lnTo>
                    <a:pt x="0" y="0"/>
                  </a:lnTo>
                  <a:lnTo>
                    <a:pt x="0" y="24523"/>
                  </a:lnTo>
                  <a:lnTo>
                    <a:pt x="17843" y="24523"/>
                  </a:lnTo>
                  <a:lnTo>
                    <a:pt x="17843" y="0"/>
                  </a:lnTo>
                  <a:close/>
                </a:path>
              </a:pathLst>
            </a:custGeom>
            <a:solidFill>
              <a:srgbClr val="E0E6E2"/>
            </a:solidFill>
          </p:spPr>
          <p:txBody>
            <a:bodyPr wrap="square" lIns="0" tIns="0" rIns="0" bIns="0" rtlCol="0"/>
            <a:lstStyle/>
            <a:p/>
          </p:txBody>
        </p:sp>
        <p:sp>
          <p:nvSpPr>
            <p:cNvPr id="48" name="object 48" descr=""/>
            <p:cNvSpPr/>
            <p:nvPr/>
          </p:nvSpPr>
          <p:spPr>
            <a:xfrm>
              <a:off x="3051225" y="3888206"/>
              <a:ext cx="19050" cy="26034"/>
            </a:xfrm>
            <a:custGeom>
              <a:avLst/>
              <a:gdLst/>
              <a:ahLst/>
              <a:cxnLst/>
              <a:rect l="l" t="t" r="r" b="b"/>
              <a:pathLst>
                <a:path w="19050" h="26035">
                  <a:moveTo>
                    <a:pt x="18503" y="0"/>
                  </a:moveTo>
                  <a:lnTo>
                    <a:pt x="0" y="0"/>
                  </a:lnTo>
                  <a:lnTo>
                    <a:pt x="0" y="25666"/>
                  </a:lnTo>
                  <a:lnTo>
                    <a:pt x="18503" y="25666"/>
                  </a:lnTo>
                  <a:lnTo>
                    <a:pt x="18503" y="24942"/>
                  </a:lnTo>
                  <a:lnTo>
                    <a:pt x="825" y="24942"/>
                  </a:lnTo>
                  <a:lnTo>
                    <a:pt x="825" y="647"/>
                  </a:lnTo>
                  <a:lnTo>
                    <a:pt x="18503" y="647"/>
                  </a:lnTo>
                  <a:lnTo>
                    <a:pt x="18503" y="0"/>
                  </a:lnTo>
                  <a:close/>
                </a:path>
                <a:path w="19050" h="26035">
                  <a:moveTo>
                    <a:pt x="18503" y="647"/>
                  </a:moveTo>
                  <a:lnTo>
                    <a:pt x="17691" y="647"/>
                  </a:lnTo>
                  <a:lnTo>
                    <a:pt x="17691" y="24942"/>
                  </a:lnTo>
                  <a:lnTo>
                    <a:pt x="18503" y="24942"/>
                  </a:lnTo>
                  <a:lnTo>
                    <a:pt x="18503" y="647"/>
                  </a:lnTo>
                  <a:close/>
                </a:path>
              </a:pathLst>
            </a:custGeom>
            <a:solidFill>
              <a:srgbClr val="879C82"/>
            </a:solidFill>
          </p:spPr>
          <p:txBody>
            <a:bodyPr wrap="square" lIns="0" tIns="0" rIns="0" bIns="0" rtlCol="0"/>
            <a:lstStyle/>
            <a:p/>
          </p:txBody>
        </p:sp>
        <p:sp>
          <p:nvSpPr>
            <p:cNvPr id="49" name="object 49" descr=""/>
            <p:cNvSpPr/>
            <p:nvPr/>
          </p:nvSpPr>
          <p:spPr>
            <a:xfrm>
              <a:off x="3078987" y="3888777"/>
              <a:ext cx="18415" cy="24765"/>
            </a:xfrm>
            <a:custGeom>
              <a:avLst/>
              <a:gdLst/>
              <a:ahLst/>
              <a:cxnLst/>
              <a:rect l="l" t="t" r="r" b="b"/>
              <a:pathLst>
                <a:path w="18414" h="24764">
                  <a:moveTo>
                    <a:pt x="17843" y="0"/>
                  </a:moveTo>
                  <a:lnTo>
                    <a:pt x="0" y="0"/>
                  </a:lnTo>
                  <a:lnTo>
                    <a:pt x="0" y="24523"/>
                  </a:lnTo>
                  <a:lnTo>
                    <a:pt x="17843" y="24523"/>
                  </a:lnTo>
                  <a:lnTo>
                    <a:pt x="17843" y="0"/>
                  </a:lnTo>
                  <a:close/>
                </a:path>
              </a:pathLst>
            </a:custGeom>
            <a:solidFill>
              <a:srgbClr val="E0E6E2"/>
            </a:solidFill>
          </p:spPr>
          <p:txBody>
            <a:bodyPr wrap="square" lIns="0" tIns="0" rIns="0" bIns="0" rtlCol="0"/>
            <a:lstStyle/>
            <a:p/>
          </p:txBody>
        </p:sp>
        <p:sp>
          <p:nvSpPr>
            <p:cNvPr id="50" name="object 50" descr=""/>
            <p:cNvSpPr/>
            <p:nvPr/>
          </p:nvSpPr>
          <p:spPr>
            <a:xfrm>
              <a:off x="3078327" y="3888206"/>
              <a:ext cx="19050" cy="26034"/>
            </a:xfrm>
            <a:custGeom>
              <a:avLst/>
              <a:gdLst/>
              <a:ahLst/>
              <a:cxnLst/>
              <a:rect l="l" t="t" r="r" b="b"/>
              <a:pathLst>
                <a:path w="19050" h="26035">
                  <a:moveTo>
                    <a:pt x="18503" y="0"/>
                  </a:moveTo>
                  <a:lnTo>
                    <a:pt x="0" y="0"/>
                  </a:lnTo>
                  <a:lnTo>
                    <a:pt x="0" y="25666"/>
                  </a:lnTo>
                  <a:lnTo>
                    <a:pt x="18503" y="25666"/>
                  </a:lnTo>
                  <a:lnTo>
                    <a:pt x="18503" y="24942"/>
                  </a:lnTo>
                  <a:lnTo>
                    <a:pt x="812" y="24942"/>
                  </a:lnTo>
                  <a:lnTo>
                    <a:pt x="812" y="647"/>
                  </a:lnTo>
                  <a:lnTo>
                    <a:pt x="18503" y="647"/>
                  </a:lnTo>
                  <a:lnTo>
                    <a:pt x="18503" y="0"/>
                  </a:lnTo>
                  <a:close/>
                </a:path>
                <a:path w="19050" h="26035">
                  <a:moveTo>
                    <a:pt x="18503" y="647"/>
                  </a:moveTo>
                  <a:lnTo>
                    <a:pt x="17678" y="647"/>
                  </a:lnTo>
                  <a:lnTo>
                    <a:pt x="17678" y="24942"/>
                  </a:lnTo>
                  <a:lnTo>
                    <a:pt x="18503" y="24942"/>
                  </a:lnTo>
                  <a:lnTo>
                    <a:pt x="18503" y="647"/>
                  </a:lnTo>
                  <a:close/>
                </a:path>
              </a:pathLst>
            </a:custGeom>
            <a:solidFill>
              <a:srgbClr val="879C82"/>
            </a:solidFill>
          </p:spPr>
          <p:txBody>
            <a:bodyPr wrap="square" lIns="0" tIns="0" rIns="0" bIns="0" rtlCol="0"/>
            <a:lstStyle/>
            <a:p/>
          </p:txBody>
        </p:sp>
        <p:sp>
          <p:nvSpPr>
            <p:cNvPr id="51" name="object 51" descr=""/>
            <p:cNvSpPr/>
            <p:nvPr/>
          </p:nvSpPr>
          <p:spPr>
            <a:xfrm>
              <a:off x="3051886" y="3930980"/>
              <a:ext cx="18415" cy="24765"/>
            </a:xfrm>
            <a:custGeom>
              <a:avLst/>
              <a:gdLst/>
              <a:ahLst/>
              <a:cxnLst/>
              <a:rect l="l" t="t" r="r" b="b"/>
              <a:pathLst>
                <a:path w="18414" h="24764">
                  <a:moveTo>
                    <a:pt x="17843" y="0"/>
                  </a:moveTo>
                  <a:lnTo>
                    <a:pt x="0" y="0"/>
                  </a:lnTo>
                  <a:lnTo>
                    <a:pt x="0" y="24523"/>
                  </a:lnTo>
                  <a:lnTo>
                    <a:pt x="17843" y="24523"/>
                  </a:lnTo>
                  <a:lnTo>
                    <a:pt x="17843" y="0"/>
                  </a:lnTo>
                  <a:close/>
                </a:path>
              </a:pathLst>
            </a:custGeom>
            <a:solidFill>
              <a:srgbClr val="E0E6E2"/>
            </a:solidFill>
          </p:spPr>
          <p:txBody>
            <a:bodyPr wrap="square" lIns="0" tIns="0" rIns="0" bIns="0" rtlCol="0"/>
            <a:lstStyle/>
            <a:p/>
          </p:txBody>
        </p:sp>
        <p:sp>
          <p:nvSpPr>
            <p:cNvPr id="52" name="object 52" descr=""/>
            <p:cNvSpPr/>
            <p:nvPr/>
          </p:nvSpPr>
          <p:spPr>
            <a:xfrm>
              <a:off x="3051225" y="3930408"/>
              <a:ext cx="19050" cy="25400"/>
            </a:xfrm>
            <a:custGeom>
              <a:avLst/>
              <a:gdLst/>
              <a:ahLst/>
              <a:cxnLst/>
              <a:rect l="l" t="t" r="r" b="b"/>
              <a:pathLst>
                <a:path w="19050" h="25400">
                  <a:moveTo>
                    <a:pt x="18503" y="0"/>
                  </a:moveTo>
                  <a:lnTo>
                    <a:pt x="0" y="0"/>
                  </a:lnTo>
                  <a:lnTo>
                    <a:pt x="0" y="25095"/>
                  </a:lnTo>
                  <a:lnTo>
                    <a:pt x="18503" y="25095"/>
                  </a:lnTo>
                  <a:lnTo>
                    <a:pt x="18503" y="24460"/>
                  </a:lnTo>
                  <a:lnTo>
                    <a:pt x="825" y="24460"/>
                  </a:lnTo>
                  <a:lnTo>
                    <a:pt x="825" y="673"/>
                  </a:lnTo>
                  <a:lnTo>
                    <a:pt x="18503" y="673"/>
                  </a:lnTo>
                  <a:lnTo>
                    <a:pt x="18503" y="0"/>
                  </a:lnTo>
                  <a:close/>
                </a:path>
                <a:path w="19050" h="25400">
                  <a:moveTo>
                    <a:pt x="18503" y="673"/>
                  </a:moveTo>
                  <a:lnTo>
                    <a:pt x="17691" y="673"/>
                  </a:lnTo>
                  <a:lnTo>
                    <a:pt x="17691" y="24460"/>
                  </a:lnTo>
                  <a:lnTo>
                    <a:pt x="18503" y="24460"/>
                  </a:lnTo>
                  <a:lnTo>
                    <a:pt x="18503" y="673"/>
                  </a:lnTo>
                  <a:close/>
                </a:path>
              </a:pathLst>
            </a:custGeom>
            <a:solidFill>
              <a:srgbClr val="879C82"/>
            </a:solidFill>
          </p:spPr>
          <p:txBody>
            <a:bodyPr wrap="square" lIns="0" tIns="0" rIns="0" bIns="0" rtlCol="0"/>
            <a:lstStyle/>
            <a:p/>
          </p:txBody>
        </p:sp>
        <p:sp>
          <p:nvSpPr>
            <p:cNvPr id="53" name="object 53" descr=""/>
            <p:cNvSpPr/>
            <p:nvPr/>
          </p:nvSpPr>
          <p:spPr>
            <a:xfrm>
              <a:off x="3078987" y="3930980"/>
              <a:ext cx="18415" cy="24765"/>
            </a:xfrm>
            <a:custGeom>
              <a:avLst/>
              <a:gdLst/>
              <a:ahLst/>
              <a:cxnLst/>
              <a:rect l="l" t="t" r="r" b="b"/>
              <a:pathLst>
                <a:path w="18414" h="24764">
                  <a:moveTo>
                    <a:pt x="17843" y="0"/>
                  </a:moveTo>
                  <a:lnTo>
                    <a:pt x="0" y="0"/>
                  </a:lnTo>
                  <a:lnTo>
                    <a:pt x="0" y="24523"/>
                  </a:lnTo>
                  <a:lnTo>
                    <a:pt x="17843" y="24523"/>
                  </a:lnTo>
                  <a:lnTo>
                    <a:pt x="17843" y="0"/>
                  </a:lnTo>
                  <a:close/>
                </a:path>
              </a:pathLst>
            </a:custGeom>
            <a:solidFill>
              <a:srgbClr val="E0E6E2"/>
            </a:solidFill>
          </p:spPr>
          <p:txBody>
            <a:bodyPr wrap="square" lIns="0" tIns="0" rIns="0" bIns="0" rtlCol="0"/>
            <a:lstStyle/>
            <a:p/>
          </p:txBody>
        </p:sp>
        <p:sp>
          <p:nvSpPr>
            <p:cNvPr id="54" name="object 54" descr=""/>
            <p:cNvSpPr/>
            <p:nvPr/>
          </p:nvSpPr>
          <p:spPr>
            <a:xfrm>
              <a:off x="3078327" y="3930408"/>
              <a:ext cx="19050" cy="25400"/>
            </a:xfrm>
            <a:custGeom>
              <a:avLst/>
              <a:gdLst/>
              <a:ahLst/>
              <a:cxnLst/>
              <a:rect l="l" t="t" r="r" b="b"/>
              <a:pathLst>
                <a:path w="19050" h="25400">
                  <a:moveTo>
                    <a:pt x="18503" y="0"/>
                  </a:moveTo>
                  <a:lnTo>
                    <a:pt x="0" y="0"/>
                  </a:lnTo>
                  <a:lnTo>
                    <a:pt x="0" y="25095"/>
                  </a:lnTo>
                  <a:lnTo>
                    <a:pt x="18503" y="25095"/>
                  </a:lnTo>
                  <a:lnTo>
                    <a:pt x="18503" y="24460"/>
                  </a:lnTo>
                  <a:lnTo>
                    <a:pt x="812" y="24460"/>
                  </a:lnTo>
                  <a:lnTo>
                    <a:pt x="812" y="673"/>
                  </a:lnTo>
                  <a:lnTo>
                    <a:pt x="18503" y="673"/>
                  </a:lnTo>
                  <a:lnTo>
                    <a:pt x="18503" y="0"/>
                  </a:lnTo>
                  <a:close/>
                </a:path>
                <a:path w="19050" h="25400">
                  <a:moveTo>
                    <a:pt x="18503" y="673"/>
                  </a:moveTo>
                  <a:lnTo>
                    <a:pt x="17678" y="673"/>
                  </a:lnTo>
                  <a:lnTo>
                    <a:pt x="17678" y="24460"/>
                  </a:lnTo>
                  <a:lnTo>
                    <a:pt x="18503" y="24460"/>
                  </a:lnTo>
                  <a:lnTo>
                    <a:pt x="18503" y="673"/>
                  </a:lnTo>
                  <a:close/>
                </a:path>
              </a:pathLst>
            </a:custGeom>
            <a:solidFill>
              <a:srgbClr val="879C82"/>
            </a:solidFill>
          </p:spPr>
          <p:txBody>
            <a:bodyPr wrap="square" lIns="0" tIns="0" rIns="0" bIns="0" rtlCol="0"/>
            <a:lstStyle/>
            <a:p/>
          </p:txBody>
        </p:sp>
        <p:sp>
          <p:nvSpPr>
            <p:cNvPr id="55" name="object 55" descr=""/>
            <p:cNvSpPr/>
            <p:nvPr/>
          </p:nvSpPr>
          <p:spPr>
            <a:xfrm>
              <a:off x="3051886" y="3973182"/>
              <a:ext cx="18415" cy="24765"/>
            </a:xfrm>
            <a:custGeom>
              <a:avLst/>
              <a:gdLst/>
              <a:ahLst/>
              <a:cxnLst/>
              <a:rect l="l" t="t" r="r" b="b"/>
              <a:pathLst>
                <a:path w="18414" h="24764">
                  <a:moveTo>
                    <a:pt x="17843" y="0"/>
                  </a:moveTo>
                  <a:lnTo>
                    <a:pt x="0" y="0"/>
                  </a:lnTo>
                  <a:lnTo>
                    <a:pt x="0" y="24523"/>
                  </a:lnTo>
                  <a:lnTo>
                    <a:pt x="17843" y="24523"/>
                  </a:lnTo>
                  <a:lnTo>
                    <a:pt x="17843" y="0"/>
                  </a:lnTo>
                  <a:close/>
                </a:path>
              </a:pathLst>
            </a:custGeom>
            <a:solidFill>
              <a:srgbClr val="E0E6E2"/>
            </a:solidFill>
          </p:spPr>
          <p:txBody>
            <a:bodyPr wrap="square" lIns="0" tIns="0" rIns="0" bIns="0" rtlCol="0"/>
            <a:lstStyle/>
            <a:p/>
          </p:txBody>
        </p:sp>
        <p:sp>
          <p:nvSpPr>
            <p:cNvPr id="56" name="object 56" descr=""/>
            <p:cNvSpPr/>
            <p:nvPr/>
          </p:nvSpPr>
          <p:spPr>
            <a:xfrm>
              <a:off x="3051225" y="3972610"/>
              <a:ext cx="19050" cy="25400"/>
            </a:xfrm>
            <a:custGeom>
              <a:avLst/>
              <a:gdLst/>
              <a:ahLst/>
              <a:cxnLst/>
              <a:rect l="l" t="t" r="r" b="b"/>
              <a:pathLst>
                <a:path w="19050" h="25400">
                  <a:moveTo>
                    <a:pt x="18503" y="0"/>
                  </a:moveTo>
                  <a:lnTo>
                    <a:pt x="0" y="0"/>
                  </a:lnTo>
                  <a:lnTo>
                    <a:pt x="0" y="25095"/>
                  </a:lnTo>
                  <a:lnTo>
                    <a:pt x="18503" y="25095"/>
                  </a:lnTo>
                  <a:lnTo>
                    <a:pt x="18503" y="24422"/>
                  </a:lnTo>
                  <a:lnTo>
                    <a:pt x="825" y="24422"/>
                  </a:lnTo>
                  <a:lnTo>
                    <a:pt x="825" y="673"/>
                  </a:lnTo>
                  <a:lnTo>
                    <a:pt x="18503" y="673"/>
                  </a:lnTo>
                  <a:lnTo>
                    <a:pt x="18503" y="0"/>
                  </a:lnTo>
                  <a:close/>
                </a:path>
                <a:path w="19050" h="25400">
                  <a:moveTo>
                    <a:pt x="18503" y="673"/>
                  </a:moveTo>
                  <a:lnTo>
                    <a:pt x="17691" y="673"/>
                  </a:lnTo>
                  <a:lnTo>
                    <a:pt x="17691" y="24422"/>
                  </a:lnTo>
                  <a:lnTo>
                    <a:pt x="18503" y="24422"/>
                  </a:lnTo>
                  <a:lnTo>
                    <a:pt x="18503" y="673"/>
                  </a:lnTo>
                  <a:close/>
                </a:path>
              </a:pathLst>
            </a:custGeom>
            <a:solidFill>
              <a:srgbClr val="879C82"/>
            </a:solidFill>
          </p:spPr>
          <p:txBody>
            <a:bodyPr wrap="square" lIns="0" tIns="0" rIns="0" bIns="0" rtlCol="0"/>
            <a:lstStyle/>
            <a:p/>
          </p:txBody>
        </p:sp>
        <p:sp>
          <p:nvSpPr>
            <p:cNvPr id="57" name="object 57" descr=""/>
            <p:cNvSpPr/>
            <p:nvPr/>
          </p:nvSpPr>
          <p:spPr>
            <a:xfrm>
              <a:off x="3078987" y="3973182"/>
              <a:ext cx="18415" cy="24765"/>
            </a:xfrm>
            <a:custGeom>
              <a:avLst/>
              <a:gdLst/>
              <a:ahLst/>
              <a:cxnLst/>
              <a:rect l="l" t="t" r="r" b="b"/>
              <a:pathLst>
                <a:path w="18414" h="24764">
                  <a:moveTo>
                    <a:pt x="17843" y="0"/>
                  </a:moveTo>
                  <a:lnTo>
                    <a:pt x="0" y="0"/>
                  </a:lnTo>
                  <a:lnTo>
                    <a:pt x="0" y="24523"/>
                  </a:lnTo>
                  <a:lnTo>
                    <a:pt x="17843" y="24523"/>
                  </a:lnTo>
                  <a:lnTo>
                    <a:pt x="17843" y="0"/>
                  </a:lnTo>
                  <a:close/>
                </a:path>
              </a:pathLst>
            </a:custGeom>
            <a:solidFill>
              <a:srgbClr val="E0E6E2"/>
            </a:solidFill>
          </p:spPr>
          <p:txBody>
            <a:bodyPr wrap="square" lIns="0" tIns="0" rIns="0" bIns="0" rtlCol="0"/>
            <a:lstStyle/>
            <a:p/>
          </p:txBody>
        </p:sp>
        <p:sp>
          <p:nvSpPr>
            <p:cNvPr id="58" name="object 58" descr=""/>
            <p:cNvSpPr/>
            <p:nvPr/>
          </p:nvSpPr>
          <p:spPr>
            <a:xfrm>
              <a:off x="3078327" y="3972610"/>
              <a:ext cx="19050" cy="25400"/>
            </a:xfrm>
            <a:custGeom>
              <a:avLst/>
              <a:gdLst/>
              <a:ahLst/>
              <a:cxnLst/>
              <a:rect l="l" t="t" r="r" b="b"/>
              <a:pathLst>
                <a:path w="19050" h="25400">
                  <a:moveTo>
                    <a:pt x="18503" y="0"/>
                  </a:moveTo>
                  <a:lnTo>
                    <a:pt x="0" y="0"/>
                  </a:lnTo>
                  <a:lnTo>
                    <a:pt x="0" y="25095"/>
                  </a:lnTo>
                  <a:lnTo>
                    <a:pt x="18503" y="25095"/>
                  </a:lnTo>
                  <a:lnTo>
                    <a:pt x="18503" y="24422"/>
                  </a:lnTo>
                  <a:lnTo>
                    <a:pt x="812" y="24422"/>
                  </a:lnTo>
                  <a:lnTo>
                    <a:pt x="812" y="673"/>
                  </a:lnTo>
                  <a:lnTo>
                    <a:pt x="18503" y="673"/>
                  </a:lnTo>
                  <a:lnTo>
                    <a:pt x="18503" y="0"/>
                  </a:lnTo>
                  <a:close/>
                </a:path>
                <a:path w="19050" h="25400">
                  <a:moveTo>
                    <a:pt x="18503" y="673"/>
                  </a:moveTo>
                  <a:lnTo>
                    <a:pt x="17678" y="673"/>
                  </a:lnTo>
                  <a:lnTo>
                    <a:pt x="17678" y="24422"/>
                  </a:lnTo>
                  <a:lnTo>
                    <a:pt x="18503" y="24422"/>
                  </a:lnTo>
                  <a:lnTo>
                    <a:pt x="18503" y="673"/>
                  </a:lnTo>
                  <a:close/>
                </a:path>
              </a:pathLst>
            </a:custGeom>
            <a:solidFill>
              <a:srgbClr val="879C82"/>
            </a:solidFill>
          </p:spPr>
          <p:txBody>
            <a:bodyPr wrap="square" lIns="0" tIns="0" rIns="0" bIns="0" rtlCol="0"/>
            <a:lstStyle/>
            <a:p/>
          </p:txBody>
        </p:sp>
        <p:sp>
          <p:nvSpPr>
            <p:cNvPr id="59" name="object 59" descr=""/>
            <p:cNvSpPr/>
            <p:nvPr/>
          </p:nvSpPr>
          <p:spPr>
            <a:xfrm>
              <a:off x="3104756" y="3606495"/>
              <a:ext cx="113664" cy="472440"/>
            </a:xfrm>
            <a:custGeom>
              <a:avLst/>
              <a:gdLst/>
              <a:ahLst/>
              <a:cxnLst/>
              <a:rect l="l" t="t" r="r" b="b"/>
              <a:pathLst>
                <a:path w="113664" h="472439">
                  <a:moveTo>
                    <a:pt x="113664" y="0"/>
                  </a:moveTo>
                  <a:lnTo>
                    <a:pt x="0" y="0"/>
                  </a:lnTo>
                  <a:lnTo>
                    <a:pt x="0" y="472186"/>
                  </a:lnTo>
                  <a:lnTo>
                    <a:pt x="113664" y="472186"/>
                  </a:lnTo>
                  <a:lnTo>
                    <a:pt x="113664" y="0"/>
                  </a:lnTo>
                  <a:close/>
                </a:path>
              </a:pathLst>
            </a:custGeom>
            <a:solidFill>
              <a:srgbClr val="BFCCC0"/>
            </a:solidFill>
          </p:spPr>
          <p:txBody>
            <a:bodyPr wrap="square" lIns="0" tIns="0" rIns="0" bIns="0" rtlCol="0"/>
            <a:lstStyle/>
            <a:p/>
          </p:txBody>
        </p:sp>
        <p:sp>
          <p:nvSpPr>
            <p:cNvPr id="60" name="object 60" descr=""/>
            <p:cNvSpPr/>
            <p:nvPr/>
          </p:nvSpPr>
          <p:spPr>
            <a:xfrm>
              <a:off x="3104096" y="3605999"/>
              <a:ext cx="115570" cy="473709"/>
            </a:xfrm>
            <a:custGeom>
              <a:avLst/>
              <a:gdLst/>
              <a:ahLst/>
              <a:cxnLst/>
              <a:rect l="l" t="t" r="r" b="b"/>
              <a:pathLst>
                <a:path w="115569" h="473710">
                  <a:moveTo>
                    <a:pt x="114985" y="1282"/>
                  </a:moveTo>
                  <a:lnTo>
                    <a:pt x="113436" y="1282"/>
                  </a:lnTo>
                  <a:lnTo>
                    <a:pt x="113436" y="471919"/>
                  </a:lnTo>
                  <a:lnTo>
                    <a:pt x="114985" y="471919"/>
                  </a:lnTo>
                  <a:lnTo>
                    <a:pt x="114985" y="1282"/>
                  </a:lnTo>
                  <a:close/>
                </a:path>
                <a:path w="115569" h="473710">
                  <a:moveTo>
                    <a:pt x="114985" y="0"/>
                  </a:moveTo>
                  <a:lnTo>
                    <a:pt x="304" y="0"/>
                  </a:lnTo>
                  <a:lnTo>
                    <a:pt x="304" y="1270"/>
                  </a:lnTo>
                  <a:lnTo>
                    <a:pt x="152" y="1270"/>
                  </a:lnTo>
                  <a:lnTo>
                    <a:pt x="152" y="472440"/>
                  </a:lnTo>
                  <a:lnTo>
                    <a:pt x="0" y="472440"/>
                  </a:lnTo>
                  <a:lnTo>
                    <a:pt x="0" y="473710"/>
                  </a:lnTo>
                  <a:lnTo>
                    <a:pt x="114985" y="473710"/>
                  </a:lnTo>
                  <a:lnTo>
                    <a:pt x="114985" y="472440"/>
                  </a:lnTo>
                  <a:lnTo>
                    <a:pt x="1549" y="472440"/>
                  </a:lnTo>
                  <a:lnTo>
                    <a:pt x="1549" y="1270"/>
                  </a:lnTo>
                  <a:lnTo>
                    <a:pt x="114985" y="1270"/>
                  </a:lnTo>
                  <a:lnTo>
                    <a:pt x="114985" y="0"/>
                  </a:lnTo>
                  <a:close/>
                </a:path>
              </a:pathLst>
            </a:custGeom>
            <a:solidFill>
              <a:srgbClr val="879C82"/>
            </a:solidFill>
          </p:spPr>
          <p:txBody>
            <a:bodyPr wrap="square" lIns="0" tIns="0" rIns="0" bIns="0" rtlCol="0"/>
            <a:lstStyle/>
            <a:p/>
          </p:txBody>
        </p:sp>
        <p:sp>
          <p:nvSpPr>
            <p:cNvPr id="61" name="object 61" descr=""/>
            <p:cNvSpPr/>
            <p:nvPr/>
          </p:nvSpPr>
          <p:spPr>
            <a:xfrm>
              <a:off x="3104761" y="3557448"/>
              <a:ext cx="156845" cy="49530"/>
            </a:xfrm>
            <a:custGeom>
              <a:avLst/>
              <a:gdLst/>
              <a:ahLst/>
              <a:cxnLst/>
              <a:rect l="l" t="t" r="r" b="b"/>
              <a:pathLst>
                <a:path w="156845" h="49529">
                  <a:moveTo>
                    <a:pt x="156629" y="0"/>
                  </a:moveTo>
                  <a:lnTo>
                    <a:pt x="43116" y="0"/>
                  </a:lnTo>
                  <a:lnTo>
                    <a:pt x="0" y="49047"/>
                  </a:lnTo>
                  <a:lnTo>
                    <a:pt x="113550" y="49047"/>
                  </a:lnTo>
                  <a:lnTo>
                    <a:pt x="156629" y="0"/>
                  </a:lnTo>
                  <a:close/>
                </a:path>
              </a:pathLst>
            </a:custGeom>
            <a:solidFill>
              <a:srgbClr val="E0E6E2"/>
            </a:solidFill>
          </p:spPr>
          <p:txBody>
            <a:bodyPr wrap="square" lIns="0" tIns="0" rIns="0" bIns="0" rtlCol="0"/>
            <a:lstStyle/>
            <a:p/>
          </p:txBody>
        </p:sp>
        <p:sp>
          <p:nvSpPr>
            <p:cNvPr id="62" name="object 62" descr=""/>
            <p:cNvSpPr/>
            <p:nvPr/>
          </p:nvSpPr>
          <p:spPr>
            <a:xfrm>
              <a:off x="3104102" y="3556888"/>
              <a:ext cx="158115" cy="50800"/>
            </a:xfrm>
            <a:custGeom>
              <a:avLst/>
              <a:gdLst/>
              <a:ahLst/>
              <a:cxnLst/>
              <a:rect l="l" t="t" r="r" b="b"/>
              <a:pathLst>
                <a:path w="158114" h="50800">
                  <a:moveTo>
                    <a:pt x="157949" y="0"/>
                  </a:moveTo>
                  <a:lnTo>
                    <a:pt x="43167" y="0"/>
                  </a:lnTo>
                  <a:lnTo>
                    <a:pt x="0" y="48806"/>
                  </a:lnTo>
                  <a:lnTo>
                    <a:pt x="0" y="50177"/>
                  </a:lnTo>
                  <a:lnTo>
                    <a:pt x="114350" y="50177"/>
                  </a:lnTo>
                  <a:lnTo>
                    <a:pt x="114655" y="49771"/>
                  </a:lnTo>
                  <a:lnTo>
                    <a:pt x="115512" y="48806"/>
                  </a:lnTo>
                  <a:lnTo>
                    <a:pt x="1924" y="48806"/>
                  </a:lnTo>
                  <a:lnTo>
                    <a:pt x="43942" y="1333"/>
                  </a:lnTo>
                  <a:lnTo>
                    <a:pt x="157674" y="1333"/>
                  </a:lnTo>
                  <a:lnTo>
                    <a:pt x="157911" y="1066"/>
                  </a:lnTo>
                  <a:lnTo>
                    <a:pt x="157949" y="0"/>
                  </a:lnTo>
                  <a:close/>
                </a:path>
                <a:path w="158114" h="50800">
                  <a:moveTo>
                    <a:pt x="157674" y="1333"/>
                  </a:moveTo>
                  <a:lnTo>
                    <a:pt x="155613" y="1333"/>
                  </a:lnTo>
                  <a:lnTo>
                    <a:pt x="113634" y="48806"/>
                  </a:lnTo>
                  <a:lnTo>
                    <a:pt x="115512" y="48806"/>
                  </a:lnTo>
                  <a:lnTo>
                    <a:pt x="157674" y="1333"/>
                  </a:lnTo>
                  <a:close/>
                </a:path>
              </a:pathLst>
            </a:custGeom>
            <a:solidFill>
              <a:srgbClr val="879C82"/>
            </a:solidFill>
          </p:spPr>
          <p:txBody>
            <a:bodyPr wrap="square" lIns="0" tIns="0" rIns="0" bIns="0" rtlCol="0"/>
            <a:lstStyle/>
            <a:p/>
          </p:txBody>
        </p:sp>
        <p:sp>
          <p:nvSpPr>
            <p:cNvPr id="63" name="object 63" descr=""/>
            <p:cNvSpPr/>
            <p:nvPr/>
          </p:nvSpPr>
          <p:spPr>
            <a:xfrm>
              <a:off x="3218439" y="3557452"/>
              <a:ext cx="43180" cy="521334"/>
            </a:xfrm>
            <a:custGeom>
              <a:avLst/>
              <a:gdLst/>
              <a:ahLst/>
              <a:cxnLst/>
              <a:rect l="l" t="t" r="r" b="b"/>
              <a:pathLst>
                <a:path w="43179" h="521335">
                  <a:moveTo>
                    <a:pt x="42951" y="0"/>
                  </a:moveTo>
                  <a:lnTo>
                    <a:pt x="0" y="49034"/>
                  </a:lnTo>
                  <a:lnTo>
                    <a:pt x="0" y="521233"/>
                  </a:lnTo>
                  <a:lnTo>
                    <a:pt x="42799" y="476719"/>
                  </a:lnTo>
                  <a:lnTo>
                    <a:pt x="42951" y="0"/>
                  </a:lnTo>
                  <a:close/>
                </a:path>
              </a:pathLst>
            </a:custGeom>
            <a:solidFill>
              <a:srgbClr val="A5B8A6"/>
            </a:solidFill>
          </p:spPr>
          <p:txBody>
            <a:bodyPr wrap="square" lIns="0" tIns="0" rIns="0" bIns="0" rtlCol="0"/>
            <a:lstStyle/>
            <a:p/>
          </p:txBody>
        </p:sp>
        <p:sp>
          <p:nvSpPr>
            <p:cNvPr id="64" name="object 64" descr=""/>
            <p:cNvSpPr/>
            <p:nvPr/>
          </p:nvSpPr>
          <p:spPr>
            <a:xfrm>
              <a:off x="3217773" y="3556877"/>
              <a:ext cx="44450" cy="521970"/>
            </a:xfrm>
            <a:custGeom>
              <a:avLst/>
              <a:gdLst/>
              <a:ahLst/>
              <a:cxnLst/>
              <a:rect l="l" t="t" r="r" b="b"/>
              <a:pathLst>
                <a:path w="44450" h="521970">
                  <a:moveTo>
                    <a:pt x="42887" y="0"/>
                  </a:moveTo>
                  <a:lnTo>
                    <a:pt x="152" y="48983"/>
                  </a:lnTo>
                  <a:lnTo>
                    <a:pt x="0" y="49390"/>
                  </a:lnTo>
                  <a:lnTo>
                    <a:pt x="0" y="521373"/>
                  </a:lnTo>
                  <a:lnTo>
                    <a:pt x="1346" y="521804"/>
                  </a:lnTo>
                  <a:lnTo>
                    <a:pt x="3497" y="519557"/>
                  </a:lnTo>
                  <a:lnTo>
                    <a:pt x="1536" y="519557"/>
                  </a:lnTo>
                  <a:lnTo>
                    <a:pt x="1536" y="49593"/>
                  </a:lnTo>
                  <a:lnTo>
                    <a:pt x="42735" y="2387"/>
                  </a:lnTo>
                  <a:lnTo>
                    <a:pt x="44271" y="2387"/>
                  </a:lnTo>
                  <a:lnTo>
                    <a:pt x="44272" y="368"/>
                  </a:lnTo>
                  <a:lnTo>
                    <a:pt x="42887" y="0"/>
                  </a:lnTo>
                  <a:close/>
                </a:path>
                <a:path w="44450" h="521970">
                  <a:moveTo>
                    <a:pt x="44271" y="2387"/>
                  </a:moveTo>
                  <a:lnTo>
                    <a:pt x="42735" y="2387"/>
                  </a:lnTo>
                  <a:lnTo>
                    <a:pt x="42583" y="476656"/>
                  </a:lnTo>
                  <a:lnTo>
                    <a:pt x="1536" y="519557"/>
                  </a:lnTo>
                  <a:lnTo>
                    <a:pt x="3497" y="519557"/>
                  </a:lnTo>
                  <a:lnTo>
                    <a:pt x="43929" y="477316"/>
                  </a:lnTo>
                  <a:lnTo>
                    <a:pt x="44119" y="476885"/>
                  </a:lnTo>
                  <a:lnTo>
                    <a:pt x="44256" y="49593"/>
                  </a:lnTo>
                  <a:lnTo>
                    <a:pt x="44271" y="2387"/>
                  </a:lnTo>
                  <a:close/>
                </a:path>
              </a:pathLst>
            </a:custGeom>
            <a:solidFill>
              <a:srgbClr val="879C82"/>
            </a:solidFill>
          </p:spPr>
          <p:txBody>
            <a:bodyPr wrap="square" lIns="0" tIns="0" rIns="0" bIns="0" rtlCol="0"/>
            <a:lstStyle/>
            <a:p/>
          </p:txBody>
        </p:sp>
        <p:pic>
          <p:nvPicPr>
            <p:cNvPr id="65" name="object 65" descr=""/>
            <p:cNvPicPr/>
            <p:nvPr/>
          </p:nvPicPr>
          <p:blipFill>
            <a:blip r:embed="rId21" cstate="print"/>
            <a:stretch>
              <a:fillRect/>
            </a:stretch>
          </p:blipFill>
          <p:spPr>
            <a:xfrm>
              <a:off x="3112033" y="3641280"/>
              <a:ext cx="99783" cy="315366"/>
            </a:xfrm>
            <a:prstGeom prst="rect">
              <a:avLst/>
            </a:prstGeom>
          </p:spPr>
        </p:pic>
        <p:sp>
          <p:nvSpPr>
            <p:cNvPr id="66" name="object 66" descr=""/>
            <p:cNvSpPr/>
            <p:nvPr/>
          </p:nvSpPr>
          <p:spPr>
            <a:xfrm>
              <a:off x="3218433" y="3676637"/>
              <a:ext cx="73025" cy="403225"/>
            </a:xfrm>
            <a:custGeom>
              <a:avLst/>
              <a:gdLst/>
              <a:ahLst/>
              <a:cxnLst/>
              <a:rect l="l" t="t" r="r" b="b"/>
              <a:pathLst>
                <a:path w="73025" h="403225">
                  <a:moveTo>
                    <a:pt x="72694" y="0"/>
                  </a:moveTo>
                  <a:lnTo>
                    <a:pt x="0" y="0"/>
                  </a:lnTo>
                  <a:lnTo>
                    <a:pt x="0" y="402615"/>
                  </a:lnTo>
                  <a:lnTo>
                    <a:pt x="72694" y="402615"/>
                  </a:lnTo>
                  <a:lnTo>
                    <a:pt x="72694" y="0"/>
                  </a:lnTo>
                  <a:close/>
                </a:path>
              </a:pathLst>
            </a:custGeom>
            <a:solidFill>
              <a:srgbClr val="BFCCC0"/>
            </a:solidFill>
          </p:spPr>
          <p:txBody>
            <a:bodyPr wrap="square" lIns="0" tIns="0" rIns="0" bIns="0" rtlCol="0"/>
            <a:lstStyle/>
            <a:p/>
          </p:txBody>
        </p:sp>
        <p:sp>
          <p:nvSpPr>
            <p:cNvPr id="67" name="object 67" descr=""/>
            <p:cNvSpPr/>
            <p:nvPr/>
          </p:nvSpPr>
          <p:spPr>
            <a:xfrm>
              <a:off x="3217761" y="3676573"/>
              <a:ext cx="74930" cy="403860"/>
            </a:xfrm>
            <a:custGeom>
              <a:avLst/>
              <a:gdLst/>
              <a:ahLst/>
              <a:cxnLst/>
              <a:rect l="l" t="t" r="r" b="b"/>
              <a:pathLst>
                <a:path w="74929" h="403860">
                  <a:moveTo>
                    <a:pt x="74676" y="0"/>
                  </a:moveTo>
                  <a:lnTo>
                    <a:pt x="73113" y="0"/>
                  </a:lnTo>
                  <a:lnTo>
                    <a:pt x="73113" y="1270"/>
                  </a:lnTo>
                  <a:lnTo>
                    <a:pt x="73113" y="401320"/>
                  </a:lnTo>
                  <a:lnTo>
                    <a:pt x="1549" y="401320"/>
                  </a:lnTo>
                  <a:lnTo>
                    <a:pt x="1549" y="1270"/>
                  </a:lnTo>
                  <a:lnTo>
                    <a:pt x="73113" y="1270"/>
                  </a:lnTo>
                  <a:lnTo>
                    <a:pt x="73113" y="0"/>
                  </a:lnTo>
                  <a:lnTo>
                    <a:pt x="0" y="0"/>
                  </a:lnTo>
                  <a:lnTo>
                    <a:pt x="0" y="1270"/>
                  </a:lnTo>
                  <a:lnTo>
                    <a:pt x="0" y="401320"/>
                  </a:lnTo>
                  <a:lnTo>
                    <a:pt x="0" y="403860"/>
                  </a:lnTo>
                  <a:lnTo>
                    <a:pt x="74676" y="403860"/>
                  </a:lnTo>
                  <a:lnTo>
                    <a:pt x="74676" y="401904"/>
                  </a:lnTo>
                  <a:lnTo>
                    <a:pt x="74676" y="401320"/>
                  </a:lnTo>
                  <a:lnTo>
                    <a:pt x="74676" y="1270"/>
                  </a:lnTo>
                  <a:lnTo>
                    <a:pt x="74676" y="838"/>
                  </a:lnTo>
                  <a:lnTo>
                    <a:pt x="74676" y="0"/>
                  </a:lnTo>
                  <a:close/>
                </a:path>
              </a:pathLst>
            </a:custGeom>
            <a:solidFill>
              <a:srgbClr val="879C82"/>
            </a:solidFill>
          </p:spPr>
          <p:txBody>
            <a:bodyPr wrap="square" lIns="0" tIns="0" rIns="0" bIns="0" rtlCol="0"/>
            <a:lstStyle/>
            <a:p/>
          </p:txBody>
        </p:sp>
        <p:sp>
          <p:nvSpPr>
            <p:cNvPr id="68" name="object 68" descr=""/>
            <p:cNvSpPr/>
            <p:nvPr/>
          </p:nvSpPr>
          <p:spPr>
            <a:xfrm>
              <a:off x="3218432" y="3636723"/>
              <a:ext cx="99695" cy="40005"/>
            </a:xfrm>
            <a:custGeom>
              <a:avLst/>
              <a:gdLst/>
              <a:ahLst/>
              <a:cxnLst/>
              <a:rect l="l" t="t" r="r" b="b"/>
              <a:pathLst>
                <a:path w="99695" h="40004">
                  <a:moveTo>
                    <a:pt x="99136" y="0"/>
                  </a:moveTo>
                  <a:lnTo>
                    <a:pt x="25806" y="0"/>
                  </a:lnTo>
                  <a:lnTo>
                    <a:pt x="0" y="39916"/>
                  </a:lnTo>
                  <a:lnTo>
                    <a:pt x="73126" y="39916"/>
                  </a:lnTo>
                  <a:lnTo>
                    <a:pt x="99136" y="0"/>
                  </a:lnTo>
                  <a:close/>
                </a:path>
              </a:pathLst>
            </a:custGeom>
            <a:solidFill>
              <a:srgbClr val="E0E6E2"/>
            </a:solidFill>
          </p:spPr>
          <p:txBody>
            <a:bodyPr wrap="square" lIns="0" tIns="0" rIns="0" bIns="0" rtlCol="0"/>
            <a:lstStyle/>
            <a:p/>
          </p:txBody>
        </p:sp>
        <p:sp>
          <p:nvSpPr>
            <p:cNvPr id="69" name="object 69" descr=""/>
            <p:cNvSpPr/>
            <p:nvPr/>
          </p:nvSpPr>
          <p:spPr>
            <a:xfrm>
              <a:off x="3217773" y="3635575"/>
              <a:ext cx="100965" cy="41910"/>
            </a:xfrm>
            <a:custGeom>
              <a:avLst/>
              <a:gdLst/>
              <a:ahLst/>
              <a:cxnLst/>
              <a:rect l="l" t="t" r="r" b="b"/>
              <a:pathLst>
                <a:path w="100964" h="41910">
                  <a:moveTo>
                    <a:pt x="100457" y="0"/>
                  </a:moveTo>
                  <a:lnTo>
                    <a:pt x="26047" y="0"/>
                  </a:lnTo>
                  <a:lnTo>
                    <a:pt x="25844" y="380"/>
                  </a:lnTo>
                  <a:lnTo>
                    <a:pt x="0" y="40627"/>
                  </a:lnTo>
                  <a:lnTo>
                    <a:pt x="0" y="41630"/>
                  </a:lnTo>
                  <a:lnTo>
                    <a:pt x="74180" y="41630"/>
                  </a:lnTo>
                  <a:lnTo>
                    <a:pt x="75051" y="40284"/>
                  </a:lnTo>
                  <a:lnTo>
                    <a:pt x="2133" y="40284"/>
                  </a:lnTo>
                  <a:lnTo>
                    <a:pt x="26974" y="1358"/>
                  </a:lnTo>
                  <a:lnTo>
                    <a:pt x="100218" y="1358"/>
                  </a:lnTo>
                  <a:lnTo>
                    <a:pt x="100457" y="990"/>
                  </a:lnTo>
                  <a:lnTo>
                    <a:pt x="100457" y="0"/>
                  </a:lnTo>
                  <a:close/>
                </a:path>
                <a:path w="100964" h="41910">
                  <a:moveTo>
                    <a:pt x="100218" y="1358"/>
                  </a:moveTo>
                  <a:lnTo>
                    <a:pt x="98361" y="1358"/>
                  </a:lnTo>
                  <a:lnTo>
                    <a:pt x="73317" y="40284"/>
                  </a:lnTo>
                  <a:lnTo>
                    <a:pt x="75051" y="40284"/>
                  </a:lnTo>
                  <a:lnTo>
                    <a:pt x="100218" y="1358"/>
                  </a:lnTo>
                  <a:close/>
                </a:path>
              </a:pathLst>
            </a:custGeom>
            <a:solidFill>
              <a:srgbClr val="879C82"/>
            </a:solidFill>
          </p:spPr>
          <p:txBody>
            <a:bodyPr wrap="square" lIns="0" tIns="0" rIns="0" bIns="0" rtlCol="0"/>
            <a:lstStyle/>
            <a:p/>
          </p:txBody>
        </p:sp>
        <p:sp>
          <p:nvSpPr>
            <p:cNvPr id="70" name="object 70" descr=""/>
            <p:cNvSpPr/>
            <p:nvPr/>
          </p:nvSpPr>
          <p:spPr>
            <a:xfrm>
              <a:off x="3291122" y="3636721"/>
              <a:ext cx="26670" cy="442595"/>
            </a:xfrm>
            <a:custGeom>
              <a:avLst/>
              <a:gdLst/>
              <a:ahLst/>
              <a:cxnLst/>
              <a:rect l="l" t="t" r="r" b="b"/>
              <a:pathLst>
                <a:path w="26670" h="442595">
                  <a:moveTo>
                    <a:pt x="26441" y="0"/>
                  </a:moveTo>
                  <a:lnTo>
                    <a:pt x="0" y="39954"/>
                  </a:lnTo>
                  <a:lnTo>
                    <a:pt x="0" y="442531"/>
                  </a:lnTo>
                  <a:lnTo>
                    <a:pt x="26441" y="402539"/>
                  </a:lnTo>
                  <a:lnTo>
                    <a:pt x="26441" y="0"/>
                  </a:lnTo>
                  <a:close/>
                </a:path>
              </a:pathLst>
            </a:custGeom>
            <a:solidFill>
              <a:srgbClr val="A5B8A6"/>
            </a:solidFill>
          </p:spPr>
          <p:txBody>
            <a:bodyPr wrap="square" lIns="0" tIns="0" rIns="0" bIns="0" rtlCol="0"/>
            <a:lstStyle/>
            <a:p/>
          </p:txBody>
        </p:sp>
        <p:sp>
          <p:nvSpPr>
            <p:cNvPr id="71" name="object 71" descr=""/>
            <p:cNvSpPr/>
            <p:nvPr/>
          </p:nvSpPr>
          <p:spPr>
            <a:xfrm>
              <a:off x="3290469" y="3636154"/>
              <a:ext cx="27940" cy="443865"/>
            </a:xfrm>
            <a:custGeom>
              <a:avLst/>
              <a:gdLst/>
              <a:ahLst/>
              <a:cxnLst/>
              <a:rect l="l" t="t" r="r" b="b"/>
              <a:pathLst>
                <a:path w="27939" h="443864">
                  <a:moveTo>
                    <a:pt x="26263" y="0"/>
                  </a:moveTo>
                  <a:lnTo>
                    <a:pt x="76" y="39992"/>
                  </a:lnTo>
                  <a:lnTo>
                    <a:pt x="0" y="443331"/>
                  </a:lnTo>
                  <a:lnTo>
                    <a:pt x="1409" y="443674"/>
                  </a:lnTo>
                  <a:lnTo>
                    <a:pt x="3307" y="440778"/>
                  </a:lnTo>
                  <a:lnTo>
                    <a:pt x="1562" y="440778"/>
                  </a:lnTo>
                  <a:lnTo>
                    <a:pt x="1562" y="40538"/>
                  </a:lnTo>
                  <a:lnTo>
                    <a:pt x="26187" y="2882"/>
                  </a:lnTo>
                  <a:lnTo>
                    <a:pt x="27761" y="2882"/>
                  </a:lnTo>
                  <a:lnTo>
                    <a:pt x="27762" y="330"/>
                  </a:lnTo>
                  <a:lnTo>
                    <a:pt x="26263" y="0"/>
                  </a:lnTo>
                  <a:close/>
                </a:path>
                <a:path w="27939" h="443864">
                  <a:moveTo>
                    <a:pt x="27761" y="2882"/>
                  </a:moveTo>
                  <a:lnTo>
                    <a:pt x="26187" y="2882"/>
                  </a:lnTo>
                  <a:lnTo>
                    <a:pt x="26187" y="403136"/>
                  </a:lnTo>
                  <a:lnTo>
                    <a:pt x="1562" y="440778"/>
                  </a:lnTo>
                  <a:lnTo>
                    <a:pt x="3307" y="440778"/>
                  </a:lnTo>
                  <a:lnTo>
                    <a:pt x="27635" y="403669"/>
                  </a:lnTo>
                  <a:lnTo>
                    <a:pt x="27761" y="2882"/>
                  </a:lnTo>
                  <a:close/>
                </a:path>
              </a:pathLst>
            </a:custGeom>
            <a:solidFill>
              <a:srgbClr val="879C82"/>
            </a:solidFill>
          </p:spPr>
          <p:txBody>
            <a:bodyPr wrap="square" lIns="0" tIns="0" rIns="0" bIns="0" rtlCol="0"/>
            <a:lstStyle/>
            <a:p/>
          </p:txBody>
        </p:sp>
        <p:sp>
          <p:nvSpPr>
            <p:cNvPr id="72" name="object 72" descr=""/>
            <p:cNvSpPr/>
            <p:nvPr/>
          </p:nvSpPr>
          <p:spPr>
            <a:xfrm>
              <a:off x="3227019" y="3709149"/>
              <a:ext cx="18415" cy="24765"/>
            </a:xfrm>
            <a:custGeom>
              <a:avLst/>
              <a:gdLst/>
              <a:ahLst/>
              <a:cxnLst/>
              <a:rect l="l" t="t" r="r" b="b"/>
              <a:pathLst>
                <a:path w="18414" h="24764">
                  <a:moveTo>
                    <a:pt x="17843" y="0"/>
                  </a:moveTo>
                  <a:lnTo>
                    <a:pt x="0" y="0"/>
                  </a:lnTo>
                  <a:lnTo>
                    <a:pt x="0" y="24523"/>
                  </a:lnTo>
                  <a:lnTo>
                    <a:pt x="17843" y="24523"/>
                  </a:lnTo>
                  <a:lnTo>
                    <a:pt x="17843" y="0"/>
                  </a:lnTo>
                  <a:close/>
                </a:path>
              </a:pathLst>
            </a:custGeom>
            <a:solidFill>
              <a:srgbClr val="E0E6E2"/>
            </a:solidFill>
          </p:spPr>
          <p:txBody>
            <a:bodyPr wrap="square" lIns="0" tIns="0" rIns="0" bIns="0" rtlCol="0"/>
            <a:lstStyle/>
            <a:p/>
          </p:txBody>
        </p:sp>
        <p:sp>
          <p:nvSpPr>
            <p:cNvPr id="73" name="object 73" descr=""/>
            <p:cNvSpPr/>
            <p:nvPr/>
          </p:nvSpPr>
          <p:spPr>
            <a:xfrm>
              <a:off x="3227019" y="3709149"/>
              <a:ext cx="19050" cy="25400"/>
            </a:xfrm>
            <a:custGeom>
              <a:avLst/>
              <a:gdLst/>
              <a:ahLst/>
              <a:cxnLst/>
              <a:rect l="l" t="t" r="r" b="b"/>
              <a:pathLst>
                <a:path w="19050" h="25400">
                  <a:moveTo>
                    <a:pt x="18503" y="0"/>
                  </a:moveTo>
                  <a:lnTo>
                    <a:pt x="0" y="0"/>
                  </a:lnTo>
                  <a:lnTo>
                    <a:pt x="0" y="25095"/>
                  </a:lnTo>
                  <a:lnTo>
                    <a:pt x="18503" y="25095"/>
                  </a:lnTo>
                  <a:lnTo>
                    <a:pt x="18503" y="24422"/>
                  </a:lnTo>
                  <a:lnTo>
                    <a:pt x="825" y="24422"/>
                  </a:lnTo>
                  <a:lnTo>
                    <a:pt x="825" y="698"/>
                  </a:lnTo>
                  <a:lnTo>
                    <a:pt x="18503" y="698"/>
                  </a:lnTo>
                  <a:lnTo>
                    <a:pt x="18503" y="0"/>
                  </a:lnTo>
                  <a:close/>
                </a:path>
                <a:path w="19050" h="25400">
                  <a:moveTo>
                    <a:pt x="18503" y="698"/>
                  </a:moveTo>
                  <a:lnTo>
                    <a:pt x="17691" y="698"/>
                  </a:lnTo>
                  <a:lnTo>
                    <a:pt x="17691" y="24422"/>
                  </a:lnTo>
                  <a:lnTo>
                    <a:pt x="18503" y="24422"/>
                  </a:lnTo>
                  <a:lnTo>
                    <a:pt x="18503" y="698"/>
                  </a:lnTo>
                  <a:close/>
                </a:path>
              </a:pathLst>
            </a:custGeom>
            <a:solidFill>
              <a:srgbClr val="879C82"/>
            </a:solidFill>
          </p:spPr>
          <p:txBody>
            <a:bodyPr wrap="square" lIns="0" tIns="0" rIns="0" bIns="0" rtlCol="0"/>
            <a:lstStyle/>
            <a:p/>
          </p:txBody>
        </p:sp>
        <p:sp>
          <p:nvSpPr>
            <p:cNvPr id="74" name="object 74" descr=""/>
            <p:cNvSpPr/>
            <p:nvPr/>
          </p:nvSpPr>
          <p:spPr>
            <a:xfrm>
              <a:off x="3254120" y="3709149"/>
              <a:ext cx="18415" cy="24765"/>
            </a:xfrm>
            <a:custGeom>
              <a:avLst/>
              <a:gdLst/>
              <a:ahLst/>
              <a:cxnLst/>
              <a:rect l="l" t="t" r="r" b="b"/>
              <a:pathLst>
                <a:path w="18414" h="24764">
                  <a:moveTo>
                    <a:pt x="17843" y="0"/>
                  </a:moveTo>
                  <a:lnTo>
                    <a:pt x="0" y="0"/>
                  </a:lnTo>
                  <a:lnTo>
                    <a:pt x="0" y="24523"/>
                  </a:lnTo>
                  <a:lnTo>
                    <a:pt x="17843" y="24523"/>
                  </a:lnTo>
                  <a:lnTo>
                    <a:pt x="17843" y="0"/>
                  </a:lnTo>
                  <a:close/>
                </a:path>
              </a:pathLst>
            </a:custGeom>
            <a:solidFill>
              <a:srgbClr val="E0E6E2"/>
            </a:solidFill>
          </p:spPr>
          <p:txBody>
            <a:bodyPr wrap="square" lIns="0" tIns="0" rIns="0" bIns="0" rtlCol="0"/>
            <a:lstStyle/>
            <a:p/>
          </p:txBody>
        </p:sp>
        <p:sp>
          <p:nvSpPr>
            <p:cNvPr id="75" name="object 75" descr=""/>
            <p:cNvSpPr/>
            <p:nvPr/>
          </p:nvSpPr>
          <p:spPr>
            <a:xfrm>
              <a:off x="3254120" y="3709149"/>
              <a:ext cx="19050" cy="25400"/>
            </a:xfrm>
            <a:custGeom>
              <a:avLst/>
              <a:gdLst/>
              <a:ahLst/>
              <a:cxnLst/>
              <a:rect l="l" t="t" r="r" b="b"/>
              <a:pathLst>
                <a:path w="19050" h="25400">
                  <a:moveTo>
                    <a:pt x="18503" y="0"/>
                  </a:moveTo>
                  <a:lnTo>
                    <a:pt x="0" y="0"/>
                  </a:lnTo>
                  <a:lnTo>
                    <a:pt x="0" y="25095"/>
                  </a:lnTo>
                  <a:lnTo>
                    <a:pt x="18503" y="25095"/>
                  </a:lnTo>
                  <a:lnTo>
                    <a:pt x="18503" y="24422"/>
                  </a:lnTo>
                  <a:lnTo>
                    <a:pt x="774" y="24422"/>
                  </a:lnTo>
                  <a:lnTo>
                    <a:pt x="774" y="698"/>
                  </a:lnTo>
                  <a:lnTo>
                    <a:pt x="18503" y="698"/>
                  </a:lnTo>
                  <a:lnTo>
                    <a:pt x="18503" y="0"/>
                  </a:lnTo>
                  <a:close/>
                </a:path>
                <a:path w="19050" h="25400">
                  <a:moveTo>
                    <a:pt x="18503" y="698"/>
                  </a:moveTo>
                  <a:lnTo>
                    <a:pt x="17716" y="698"/>
                  </a:lnTo>
                  <a:lnTo>
                    <a:pt x="17716" y="24422"/>
                  </a:lnTo>
                  <a:lnTo>
                    <a:pt x="18503" y="24422"/>
                  </a:lnTo>
                  <a:lnTo>
                    <a:pt x="18503" y="698"/>
                  </a:lnTo>
                  <a:close/>
                </a:path>
              </a:pathLst>
            </a:custGeom>
            <a:solidFill>
              <a:srgbClr val="879C82"/>
            </a:solidFill>
          </p:spPr>
          <p:txBody>
            <a:bodyPr wrap="square" lIns="0" tIns="0" rIns="0" bIns="0" rtlCol="0"/>
            <a:lstStyle/>
            <a:p/>
          </p:txBody>
        </p:sp>
        <p:sp>
          <p:nvSpPr>
            <p:cNvPr id="76" name="object 76" descr=""/>
            <p:cNvSpPr/>
            <p:nvPr/>
          </p:nvSpPr>
          <p:spPr>
            <a:xfrm>
              <a:off x="3227019" y="3751351"/>
              <a:ext cx="18415" cy="24765"/>
            </a:xfrm>
            <a:custGeom>
              <a:avLst/>
              <a:gdLst/>
              <a:ahLst/>
              <a:cxnLst/>
              <a:rect l="l" t="t" r="r" b="b"/>
              <a:pathLst>
                <a:path w="18414" h="24764">
                  <a:moveTo>
                    <a:pt x="17843" y="0"/>
                  </a:moveTo>
                  <a:lnTo>
                    <a:pt x="0" y="0"/>
                  </a:lnTo>
                  <a:lnTo>
                    <a:pt x="0" y="24523"/>
                  </a:lnTo>
                  <a:lnTo>
                    <a:pt x="17843" y="24523"/>
                  </a:lnTo>
                  <a:lnTo>
                    <a:pt x="17843" y="0"/>
                  </a:lnTo>
                  <a:close/>
                </a:path>
              </a:pathLst>
            </a:custGeom>
            <a:solidFill>
              <a:srgbClr val="E0E6E2"/>
            </a:solidFill>
          </p:spPr>
          <p:txBody>
            <a:bodyPr wrap="square" lIns="0" tIns="0" rIns="0" bIns="0" rtlCol="0"/>
            <a:lstStyle/>
            <a:p/>
          </p:txBody>
        </p:sp>
        <p:sp>
          <p:nvSpPr>
            <p:cNvPr id="77" name="object 77" descr=""/>
            <p:cNvSpPr/>
            <p:nvPr/>
          </p:nvSpPr>
          <p:spPr>
            <a:xfrm>
              <a:off x="3227019" y="3751351"/>
              <a:ext cx="19050" cy="25400"/>
            </a:xfrm>
            <a:custGeom>
              <a:avLst/>
              <a:gdLst/>
              <a:ahLst/>
              <a:cxnLst/>
              <a:rect l="l" t="t" r="r" b="b"/>
              <a:pathLst>
                <a:path w="19050" h="25400">
                  <a:moveTo>
                    <a:pt x="18503" y="0"/>
                  </a:moveTo>
                  <a:lnTo>
                    <a:pt x="0" y="0"/>
                  </a:lnTo>
                  <a:lnTo>
                    <a:pt x="0" y="25095"/>
                  </a:lnTo>
                  <a:lnTo>
                    <a:pt x="18503" y="25095"/>
                  </a:lnTo>
                  <a:lnTo>
                    <a:pt x="18503" y="24384"/>
                  </a:lnTo>
                  <a:lnTo>
                    <a:pt x="825" y="24384"/>
                  </a:lnTo>
                  <a:lnTo>
                    <a:pt x="825" y="698"/>
                  </a:lnTo>
                  <a:lnTo>
                    <a:pt x="18503" y="698"/>
                  </a:lnTo>
                  <a:lnTo>
                    <a:pt x="18503" y="0"/>
                  </a:lnTo>
                  <a:close/>
                </a:path>
                <a:path w="19050" h="25400">
                  <a:moveTo>
                    <a:pt x="18503" y="698"/>
                  </a:moveTo>
                  <a:lnTo>
                    <a:pt x="17691" y="698"/>
                  </a:lnTo>
                  <a:lnTo>
                    <a:pt x="17691" y="24384"/>
                  </a:lnTo>
                  <a:lnTo>
                    <a:pt x="18503" y="24384"/>
                  </a:lnTo>
                  <a:lnTo>
                    <a:pt x="18503" y="698"/>
                  </a:lnTo>
                  <a:close/>
                </a:path>
              </a:pathLst>
            </a:custGeom>
            <a:solidFill>
              <a:srgbClr val="879C82"/>
            </a:solidFill>
          </p:spPr>
          <p:txBody>
            <a:bodyPr wrap="square" lIns="0" tIns="0" rIns="0" bIns="0" rtlCol="0"/>
            <a:lstStyle/>
            <a:p/>
          </p:txBody>
        </p:sp>
        <p:sp>
          <p:nvSpPr>
            <p:cNvPr id="78" name="object 78" descr=""/>
            <p:cNvSpPr/>
            <p:nvPr/>
          </p:nvSpPr>
          <p:spPr>
            <a:xfrm>
              <a:off x="3254120" y="3751351"/>
              <a:ext cx="18415" cy="24765"/>
            </a:xfrm>
            <a:custGeom>
              <a:avLst/>
              <a:gdLst/>
              <a:ahLst/>
              <a:cxnLst/>
              <a:rect l="l" t="t" r="r" b="b"/>
              <a:pathLst>
                <a:path w="18414" h="24764">
                  <a:moveTo>
                    <a:pt x="17843" y="0"/>
                  </a:moveTo>
                  <a:lnTo>
                    <a:pt x="0" y="0"/>
                  </a:lnTo>
                  <a:lnTo>
                    <a:pt x="0" y="24523"/>
                  </a:lnTo>
                  <a:lnTo>
                    <a:pt x="17843" y="24523"/>
                  </a:lnTo>
                  <a:lnTo>
                    <a:pt x="17843" y="0"/>
                  </a:lnTo>
                  <a:close/>
                </a:path>
              </a:pathLst>
            </a:custGeom>
            <a:solidFill>
              <a:srgbClr val="E0E6E2"/>
            </a:solidFill>
          </p:spPr>
          <p:txBody>
            <a:bodyPr wrap="square" lIns="0" tIns="0" rIns="0" bIns="0" rtlCol="0"/>
            <a:lstStyle/>
            <a:p/>
          </p:txBody>
        </p:sp>
        <p:sp>
          <p:nvSpPr>
            <p:cNvPr id="79" name="object 79" descr=""/>
            <p:cNvSpPr/>
            <p:nvPr/>
          </p:nvSpPr>
          <p:spPr>
            <a:xfrm>
              <a:off x="3254120" y="3751351"/>
              <a:ext cx="19050" cy="25400"/>
            </a:xfrm>
            <a:custGeom>
              <a:avLst/>
              <a:gdLst/>
              <a:ahLst/>
              <a:cxnLst/>
              <a:rect l="l" t="t" r="r" b="b"/>
              <a:pathLst>
                <a:path w="19050" h="25400">
                  <a:moveTo>
                    <a:pt x="18503" y="0"/>
                  </a:moveTo>
                  <a:lnTo>
                    <a:pt x="0" y="0"/>
                  </a:lnTo>
                  <a:lnTo>
                    <a:pt x="0" y="25095"/>
                  </a:lnTo>
                  <a:lnTo>
                    <a:pt x="18503" y="25095"/>
                  </a:lnTo>
                  <a:lnTo>
                    <a:pt x="18503" y="24384"/>
                  </a:lnTo>
                  <a:lnTo>
                    <a:pt x="774" y="24384"/>
                  </a:lnTo>
                  <a:lnTo>
                    <a:pt x="774" y="698"/>
                  </a:lnTo>
                  <a:lnTo>
                    <a:pt x="18503" y="698"/>
                  </a:lnTo>
                  <a:lnTo>
                    <a:pt x="18503" y="0"/>
                  </a:lnTo>
                  <a:close/>
                </a:path>
                <a:path w="19050" h="25400">
                  <a:moveTo>
                    <a:pt x="18503" y="698"/>
                  </a:moveTo>
                  <a:lnTo>
                    <a:pt x="17716" y="698"/>
                  </a:lnTo>
                  <a:lnTo>
                    <a:pt x="17716" y="24384"/>
                  </a:lnTo>
                  <a:lnTo>
                    <a:pt x="18503" y="24384"/>
                  </a:lnTo>
                  <a:lnTo>
                    <a:pt x="18503" y="698"/>
                  </a:lnTo>
                  <a:close/>
                </a:path>
              </a:pathLst>
            </a:custGeom>
            <a:solidFill>
              <a:srgbClr val="879C82"/>
            </a:solidFill>
          </p:spPr>
          <p:txBody>
            <a:bodyPr wrap="square" lIns="0" tIns="0" rIns="0" bIns="0" rtlCol="0"/>
            <a:lstStyle/>
            <a:p/>
          </p:txBody>
        </p:sp>
        <p:sp>
          <p:nvSpPr>
            <p:cNvPr id="80" name="object 80" descr=""/>
            <p:cNvSpPr/>
            <p:nvPr/>
          </p:nvSpPr>
          <p:spPr>
            <a:xfrm>
              <a:off x="3227019" y="3793540"/>
              <a:ext cx="18415" cy="24765"/>
            </a:xfrm>
            <a:custGeom>
              <a:avLst/>
              <a:gdLst/>
              <a:ahLst/>
              <a:cxnLst/>
              <a:rect l="l" t="t" r="r" b="b"/>
              <a:pathLst>
                <a:path w="18414" h="24764">
                  <a:moveTo>
                    <a:pt x="17843" y="0"/>
                  </a:moveTo>
                  <a:lnTo>
                    <a:pt x="0" y="0"/>
                  </a:lnTo>
                  <a:lnTo>
                    <a:pt x="0" y="24523"/>
                  </a:lnTo>
                  <a:lnTo>
                    <a:pt x="17843" y="24523"/>
                  </a:lnTo>
                  <a:lnTo>
                    <a:pt x="17843" y="0"/>
                  </a:lnTo>
                  <a:close/>
                </a:path>
              </a:pathLst>
            </a:custGeom>
            <a:solidFill>
              <a:srgbClr val="E0E6E2"/>
            </a:solidFill>
          </p:spPr>
          <p:txBody>
            <a:bodyPr wrap="square" lIns="0" tIns="0" rIns="0" bIns="0" rtlCol="0"/>
            <a:lstStyle/>
            <a:p/>
          </p:txBody>
        </p:sp>
        <p:sp>
          <p:nvSpPr>
            <p:cNvPr id="81" name="object 81" descr=""/>
            <p:cNvSpPr/>
            <p:nvPr/>
          </p:nvSpPr>
          <p:spPr>
            <a:xfrm>
              <a:off x="3227019" y="3792981"/>
              <a:ext cx="19050" cy="26034"/>
            </a:xfrm>
            <a:custGeom>
              <a:avLst/>
              <a:gdLst/>
              <a:ahLst/>
              <a:cxnLst/>
              <a:rect l="l" t="t" r="r" b="b"/>
              <a:pathLst>
                <a:path w="19050" h="26035">
                  <a:moveTo>
                    <a:pt x="18503" y="0"/>
                  </a:moveTo>
                  <a:lnTo>
                    <a:pt x="0" y="0"/>
                  </a:lnTo>
                  <a:lnTo>
                    <a:pt x="0" y="25666"/>
                  </a:lnTo>
                  <a:lnTo>
                    <a:pt x="18503" y="25666"/>
                  </a:lnTo>
                  <a:lnTo>
                    <a:pt x="18503" y="24942"/>
                  </a:lnTo>
                  <a:lnTo>
                    <a:pt x="825" y="24942"/>
                  </a:lnTo>
                  <a:lnTo>
                    <a:pt x="825" y="685"/>
                  </a:lnTo>
                  <a:lnTo>
                    <a:pt x="18503" y="685"/>
                  </a:lnTo>
                  <a:lnTo>
                    <a:pt x="18503" y="0"/>
                  </a:lnTo>
                  <a:close/>
                </a:path>
                <a:path w="19050" h="26035">
                  <a:moveTo>
                    <a:pt x="18503" y="685"/>
                  </a:moveTo>
                  <a:lnTo>
                    <a:pt x="17691" y="685"/>
                  </a:lnTo>
                  <a:lnTo>
                    <a:pt x="17691" y="24942"/>
                  </a:lnTo>
                  <a:lnTo>
                    <a:pt x="18503" y="24942"/>
                  </a:lnTo>
                  <a:lnTo>
                    <a:pt x="18503" y="685"/>
                  </a:lnTo>
                  <a:close/>
                </a:path>
              </a:pathLst>
            </a:custGeom>
            <a:solidFill>
              <a:srgbClr val="879C82"/>
            </a:solidFill>
          </p:spPr>
          <p:txBody>
            <a:bodyPr wrap="square" lIns="0" tIns="0" rIns="0" bIns="0" rtlCol="0"/>
            <a:lstStyle/>
            <a:p/>
          </p:txBody>
        </p:sp>
        <p:sp>
          <p:nvSpPr>
            <p:cNvPr id="82" name="object 82" descr=""/>
            <p:cNvSpPr/>
            <p:nvPr/>
          </p:nvSpPr>
          <p:spPr>
            <a:xfrm>
              <a:off x="3254120" y="3793540"/>
              <a:ext cx="18415" cy="24765"/>
            </a:xfrm>
            <a:custGeom>
              <a:avLst/>
              <a:gdLst/>
              <a:ahLst/>
              <a:cxnLst/>
              <a:rect l="l" t="t" r="r" b="b"/>
              <a:pathLst>
                <a:path w="18414" h="24764">
                  <a:moveTo>
                    <a:pt x="17843" y="0"/>
                  </a:moveTo>
                  <a:lnTo>
                    <a:pt x="0" y="0"/>
                  </a:lnTo>
                  <a:lnTo>
                    <a:pt x="0" y="24523"/>
                  </a:lnTo>
                  <a:lnTo>
                    <a:pt x="17843" y="24523"/>
                  </a:lnTo>
                  <a:lnTo>
                    <a:pt x="17843" y="0"/>
                  </a:lnTo>
                  <a:close/>
                </a:path>
              </a:pathLst>
            </a:custGeom>
            <a:solidFill>
              <a:srgbClr val="E0E6E2"/>
            </a:solidFill>
          </p:spPr>
          <p:txBody>
            <a:bodyPr wrap="square" lIns="0" tIns="0" rIns="0" bIns="0" rtlCol="0"/>
            <a:lstStyle/>
            <a:p/>
          </p:txBody>
        </p:sp>
        <p:sp>
          <p:nvSpPr>
            <p:cNvPr id="83" name="object 83" descr=""/>
            <p:cNvSpPr/>
            <p:nvPr/>
          </p:nvSpPr>
          <p:spPr>
            <a:xfrm>
              <a:off x="3254120" y="3792981"/>
              <a:ext cx="19050" cy="26034"/>
            </a:xfrm>
            <a:custGeom>
              <a:avLst/>
              <a:gdLst/>
              <a:ahLst/>
              <a:cxnLst/>
              <a:rect l="l" t="t" r="r" b="b"/>
              <a:pathLst>
                <a:path w="19050" h="26035">
                  <a:moveTo>
                    <a:pt x="18503" y="0"/>
                  </a:moveTo>
                  <a:lnTo>
                    <a:pt x="0" y="0"/>
                  </a:lnTo>
                  <a:lnTo>
                    <a:pt x="0" y="25666"/>
                  </a:lnTo>
                  <a:lnTo>
                    <a:pt x="18503" y="25666"/>
                  </a:lnTo>
                  <a:lnTo>
                    <a:pt x="18503" y="24942"/>
                  </a:lnTo>
                  <a:lnTo>
                    <a:pt x="774" y="24942"/>
                  </a:lnTo>
                  <a:lnTo>
                    <a:pt x="774" y="685"/>
                  </a:lnTo>
                  <a:lnTo>
                    <a:pt x="18503" y="685"/>
                  </a:lnTo>
                  <a:lnTo>
                    <a:pt x="18503" y="0"/>
                  </a:lnTo>
                  <a:close/>
                </a:path>
                <a:path w="19050" h="26035">
                  <a:moveTo>
                    <a:pt x="18503" y="685"/>
                  </a:moveTo>
                  <a:lnTo>
                    <a:pt x="17716" y="685"/>
                  </a:lnTo>
                  <a:lnTo>
                    <a:pt x="17716" y="24942"/>
                  </a:lnTo>
                  <a:lnTo>
                    <a:pt x="18503" y="24942"/>
                  </a:lnTo>
                  <a:lnTo>
                    <a:pt x="18503" y="685"/>
                  </a:lnTo>
                  <a:close/>
                </a:path>
              </a:pathLst>
            </a:custGeom>
            <a:solidFill>
              <a:srgbClr val="879C82"/>
            </a:solidFill>
          </p:spPr>
          <p:txBody>
            <a:bodyPr wrap="square" lIns="0" tIns="0" rIns="0" bIns="0" rtlCol="0"/>
            <a:lstStyle/>
            <a:p/>
          </p:txBody>
        </p:sp>
        <p:sp>
          <p:nvSpPr>
            <p:cNvPr id="84" name="object 84" descr=""/>
            <p:cNvSpPr/>
            <p:nvPr/>
          </p:nvSpPr>
          <p:spPr>
            <a:xfrm>
              <a:off x="3187369" y="3826624"/>
              <a:ext cx="142875" cy="280035"/>
            </a:xfrm>
            <a:custGeom>
              <a:avLst/>
              <a:gdLst/>
              <a:ahLst/>
              <a:cxnLst/>
              <a:rect l="l" t="t" r="r" b="b"/>
              <a:pathLst>
                <a:path w="142875" h="280035">
                  <a:moveTo>
                    <a:pt x="142748" y="0"/>
                  </a:moveTo>
                  <a:lnTo>
                    <a:pt x="0" y="0"/>
                  </a:lnTo>
                  <a:lnTo>
                    <a:pt x="0" y="279438"/>
                  </a:lnTo>
                  <a:lnTo>
                    <a:pt x="142748" y="279438"/>
                  </a:lnTo>
                  <a:lnTo>
                    <a:pt x="142748" y="0"/>
                  </a:lnTo>
                  <a:close/>
                </a:path>
              </a:pathLst>
            </a:custGeom>
            <a:solidFill>
              <a:srgbClr val="4D7299"/>
            </a:solidFill>
          </p:spPr>
          <p:txBody>
            <a:bodyPr wrap="square" lIns="0" tIns="0" rIns="0" bIns="0" rtlCol="0"/>
            <a:lstStyle/>
            <a:p/>
          </p:txBody>
        </p:sp>
        <p:sp>
          <p:nvSpPr>
            <p:cNvPr id="85" name="object 85" descr=""/>
            <p:cNvSpPr/>
            <p:nvPr/>
          </p:nvSpPr>
          <p:spPr>
            <a:xfrm>
              <a:off x="3186709" y="3826509"/>
              <a:ext cx="144145" cy="280670"/>
            </a:xfrm>
            <a:custGeom>
              <a:avLst/>
              <a:gdLst/>
              <a:ahLst/>
              <a:cxnLst/>
              <a:rect l="l" t="t" r="r" b="b"/>
              <a:pathLst>
                <a:path w="144145" h="280670">
                  <a:moveTo>
                    <a:pt x="144068" y="215"/>
                  </a:moveTo>
                  <a:lnTo>
                    <a:pt x="143294" y="215"/>
                  </a:lnTo>
                  <a:lnTo>
                    <a:pt x="143294" y="279400"/>
                  </a:lnTo>
                  <a:lnTo>
                    <a:pt x="774" y="279400"/>
                  </a:lnTo>
                  <a:lnTo>
                    <a:pt x="774" y="0"/>
                  </a:lnTo>
                  <a:lnTo>
                    <a:pt x="0" y="0"/>
                  </a:lnTo>
                  <a:lnTo>
                    <a:pt x="0" y="279400"/>
                  </a:lnTo>
                  <a:lnTo>
                    <a:pt x="0" y="280670"/>
                  </a:lnTo>
                  <a:lnTo>
                    <a:pt x="144068" y="280670"/>
                  </a:lnTo>
                  <a:lnTo>
                    <a:pt x="144068" y="279412"/>
                  </a:lnTo>
                  <a:lnTo>
                    <a:pt x="144068" y="215"/>
                  </a:lnTo>
                  <a:close/>
                </a:path>
              </a:pathLst>
            </a:custGeom>
            <a:solidFill>
              <a:srgbClr val="9BD3F0"/>
            </a:solidFill>
          </p:spPr>
          <p:txBody>
            <a:bodyPr wrap="square" lIns="0" tIns="0" rIns="0" bIns="0" rtlCol="0"/>
            <a:lstStyle/>
            <a:p/>
          </p:txBody>
        </p:sp>
        <p:sp>
          <p:nvSpPr>
            <p:cNvPr id="86" name="object 86" descr=""/>
            <p:cNvSpPr/>
            <p:nvPr/>
          </p:nvSpPr>
          <p:spPr>
            <a:xfrm>
              <a:off x="3187371" y="3798681"/>
              <a:ext cx="193675" cy="27940"/>
            </a:xfrm>
            <a:custGeom>
              <a:avLst/>
              <a:gdLst/>
              <a:ahLst/>
              <a:cxnLst/>
              <a:rect l="l" t="t" r="r" b="b"/>
              <a:pathLst>
                <a:path w="193675" h="27939">
                  <a:moveTo>
                    <a:pt x="193636" y="0"/>
                  </a:moveTo>
                  <a:lnTo>
                    <a:pt x="50406" y="25"/>
                  </a:lnTo>
                  <a:lnTo>
                    <a:pt x="0" y="27940"/>
                  </a:lnTo>
                  <a:lnTo>
                    <a:pt x="142836" y="27940"/>
                  </a:lnTo>
                  <a:lnTo>
                    <a:pt x="193636" y="0"/>
                  </a:lnTo>
                  <a:close/>
                </a:path>
              </a:pathLst>
            </a:custGeom>
            <a:solidFill>
              <a:srgbClr val="7FA6C8"/>
            </a:solidFill>
          </p:spPr>
          <p:txBody>
            <a:bodyPr wrap="square" lIns="0" tIns="0" rIns="0" bIns="0" rtlCol="0"/>
            <a:lstStyle/>
            <a:p/>
          </p:txBody>
        </p:sp>
        <p:sp>
          <p:nvSpPr>
            <p:cNvPr id="87" name="object 87" descr=""/>
            <p:cNvSpPr/>
            <p:nvPr/>
          </p:nvSpPr>
          <p:spPr>
            <a:xfrm>
              <a:off x="3187376" y="3798174"/>
              <a:ext cx="194945" cy="28575"/>
            </a:xfrm>
            <a:custGeom>
              <a:avLst/>
              <a:gdLst/>
              <a:ahLst/>
              <a:cxnLst/>
              <a:rect l="l" t="t" r="r" b="b"/>
              <a:pathLst>
                <a:path w="194945" h="28575">
                  <a:moveTo>
                    <a:pt x="194114" y="0"/>
                  </a:moveTo>
                  <a:lnTo>
                    <a:pt x="50482" y="0"/>
                  </a:lnTo>
                  <a:lnTo>
                    <a:pt x="0" y="27813"/>
                  </a:lnTo>
                  <a:lnTo>
                    <a:pt x="266" y="28448"/>
                  </a:lnTo>
                  <a:lnTo>
                    <a:pt x="143266" y="28448"/>
                  </a:lnTo>
                  <a:lnTo>
                    <a:pt x="144429" y="27813"/>
                  </a:lnTo>
                  <a:lnTo>
                    <a:pt x="1480" y="27813"/>
                  </a:lnTo>
                  <a:lnTo>
                    <a:pt x="50838" y="635"/>
                  </a:lnTo>
                  <a:lnTo>
                    <a:pt x="194317" y="635"/>
                  </a:lnTo>
                  <a:lnTo>
                    <a:pt x="194114" y="0"/>
                  </a:lnTo>
                  <a:close/>
                </a:path>
                <a:path w="194945" h="28575">
                  <a:moveTo>
                    <a:pt x="194181" y="635"/>
                  </a:moveTo>
                  <a:lnTo>
                    <a:pt x="192735" y="635"/>
                  </a:lnTo>
                  <a:lnTo>
                    <a:pt x="142995" y="27813"/>
                  </a:lnTo>
                  <a:lnTo>
                    <a:pt x="144429" y="27813"/>
                  </a:lnTo>
                  <a:lnTo>
                    <a:pt x="194181" y="635"/>
                  </a:lnTo>
                  <a:close/>
                </a:path>
              </a:pathLst>
            </a:custGeom>
            <a:solidFill>
              <a:srgbClr val="9BD3F0"/>
            </a:solidFill>
          </p:spPr>
          <p:txBody>
            <a:bodyPr wrap="square" lIns="0" tIns="0" rIns="0" bIns="0" rtlCol="0"/>
            <a:lstStyle/>
            <a:p/>
          </p:txBody>
        </p:sp>
        <p:sp>
          <p:nvSpPr>
            <p:cNvPr id="88" name="object 88" descr=""/>
            <p:cNvSpPr/>
            <p:nvPr/>
          </p:nvSpPr>
          <p:spPr>
            <a:xfrm>
              <a:off x="3330120" y="3798679"/>
              <a:ext cx="51435" cy="307975"/>
            </a:xfrm>
            <a:custGeom>
              <a:avLst/>
              <a:gdLst/>
              <a:ahLst/>
              <a:cxnLst/>
              <a:rect l="l" t="t" r="r" b="b"/>
              <a:pathLst>
                <a:path w="51435" h="307975">
                  <a:moveTo>
                    <a:pt x="50888" y="0"/>
                  </a:moveTo>
                  <a:lnTo>
                    <a:pt x="0" y="27736"/>
                  </a:lnTo>
                  <a:lnTo>
                    <a:pt x="0" y="307378"/>
                  </a:lnTo>
                  <a:lnTo>
                    <a:pt x="50850" y="279603"/>
                  </a:lnTo>
                  <a:lnTo>
                    <a:pt x="50888" y="0"/>
                  </a:lnTo>
                  <a:close/>
                </a:path>
              </a:pathLst>
            </a:custGeom>
            <a:solidFill>
              <a:srgbClr val="004264"/>
            </a:solidFill>
          </p:spPr>
          <p:txBody>
            <a:bodyPr wrap="square" lIns="0" tIns="0" rIns="0" bIns="0" rtlCol="0"/>
            <a:lstStyle/>
            <a:p/>
          </p:txBody>
        </p:sp>
        <p:sp>
          <p:nvSpPr>
            <p:cNvPr id="89" name="object 89" descr=""/>
            <p:cNvSpPr/>
            <p:nvPr/>
          </p:nvSpPr>
          <p:spPr>
            <a:xfrm>
              <a:off x="3330120" y="3798103"/>
              <a:ext cx="52069" cy="308610"/>
            </a:xfrm>
            <a:custGeom>
              <a:avLst/>
              <a:gdLst/>
              <a:ahLst/>
              <a:cxnLst/>
              <a:rect l="l" t="t" r="r" b="b"/>
              <a:pathLst>
                <a:path w="52070" h="308610">
                  <a:moveTo>
                    <a:pt x="51549" y="0"/>
                  </a:moveTo>
                  <a:lnTo>
                    <a:pt x="50965" y="342"/>
                  </a:lnTo>
                  <a:lnTo>
                    <a:pt x="0" y="28206"/>
                  </a:lnTo>
                  <a:lnTo>
                    <a:pt x="0" y="308521"/>
                  </a:lnTo>
                  <a:lnTo>
                    <a:pt x="2277" y="307276"/>
                  </a:lnTo>
                  <a:lnTo>
                    <a:pt x="774" y="307276"/>
                  </a:lnTo>
                  <a:lnTo>
                    <a:pt x="774" y="28574"/>
                  </a:lnTo>
                  <a:lnTo>
                    <a:pt x="50774" y="1244"/>
                  </a:lnTo>
                  <a:lnTo>
                    <a:pt x="51549" y="1244"/>
                  </a:lnTo>
                  <a:lnTo>
                    <a:pt x="51549" y="0"/>
                  </a:lnTo>
                  <a:close/>
                </a:path>
                <a:path w="52070" h="308610">
                  <a:moveTo>
                    <a:pt x="51549" y="1244"/>
                  </a:moveTo>
                  <a:lnTo>
                    <a:pt x="50774" y="1244"/>
                  </a:lnTo>
                  <a:lnTo>
                    <a:pt x="50698" y="279984"/>
                  </a:lnTo>
                  <a:lnTo>
                    <a:pt x="774" y="307276"/>
                  </a:lnTo>
                  <a:lnTo>
                    <a:pt x="2277" y="307276"/>
                  </a:lnTo>
                  <a:lnTo>
                    <a:pt x="51358" y="280454"/>
                  </a:lnTo>
                  <a:lnTo>
                    <a:pt x="51511" y="280454"/>
                  </a:lnTo>
                  <a:lnTo>
                    <a:pt x="51549" y="1244"/>
                  </a:lnTo>
                  <a:close/>
                </a:path>
              </a:pathLst>
            </a:custGeom>
            <a:solidFill>
              <a:srgbClr val="9BD3F0"/>
            </a:solidFill>
          </p:spPr>
          <p:txBody>
            <a:bodyPr wrap="square" lIns="0" tIns="0" rIns="0" bIns="0" rtlCol="0"/>
            <a:lstStyle/>
            <a:p/>
          </p:txBody>
        </p:sp>
        <p:sp>
          <p:nvSpPr>
            <p:cNvPr id="90" name="object 90" descr=""/>
            <p:cNvSpPr/>
            <p:nvPr/>
          </p:nvSpPr>
          <p:spPr>
            <a:xfrm>
              <a:off x="3197288" y="3869397"/>
              <a:ext cx="19050" cy="25400"/>
            </a:xfrm>
            <a:custGeom>
              <a:avLst/>
              <a:gdLst/>
              <a:ahLst/>
              <a:cxnLst/>
              <a:rect l="l" t="t" r="r" b="b"/>
              <a:pathLst>
                <a:path w="19050" h="25400">
                  <a:moveTo>
                    <a:pt x="18503" y="0"/>
                  </a:moveTo>
                  <a:lnTo>
                    <a:pt x="17843" y="0"/>
                  </a:lnTo>
                  <a:lnTo>
                    <a:pt x="0" y="0"/>
                  </a:lnTo>
                  <a:lnTo>
                    <a:pt x="0" y="24523"/>
                  </a:lnTo>
                  <a:lnTo>
                    <a:pt x="0" y="25095"/>
                  </a:lnTo>
                  <a:lnTo>
                    <a:pt x="18503" y="25095"/>
                  </a:lnTo>
                  <a:lnTo>
                    <a:pt x="18503" y="24422"/>
                  </a:lnTo>
                  <a:lnTo>
                    <a:pt x="18503" y="673"/>
                  </a:lnTo>
                  <a:lnTo>
                    <a:pt x="18503" y="0"/>
                  </a:lnTo>
                  <a:close/>
                </a:path>
              </a:pathLst>
            </a:custGeom>
            <a:solidFill>
              <a:srgbClr val="7FA6C8"/>
            </a:solidFill>
          </p:spPr>
          <p:txBody>
            <a:bodyPr wrap="square" lIns="0" tIns="0" rIns="0" bIns="0" rtlCol="0"/>
            <a:lstStyle/>
            <a:p/>
          </p:txBody>
        </p:sp>
        <p:sp>
          <p:nvSpPr>
            <p:cNvPr id="91" name="object 91" descr=""/>
            <p:cNvSpPr/>
            <p:nvPr/>
          </p:nvSpPr>
          <p:spPr>
            <a:xfrm>
              <a:off x="3197288" y="3869397"/>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558"/>
                  </a:moveTo>
                  <a:lnTo>
                    <a:pt x="17183" y="558"/>
                  </a:lnTo>
                  <a:lnTo>
                    <a:pt x="17183" y="24510"/>
                  </a:lnTo>
                  <a:lnTo>
                    <a:pt x="660" y="24510"/>
                  </a:lnTo>
                  <a:lnTo>
                    <a:pt x="660" y="558"/>
                  </a:lnTo>
                  <a:close/>
                </a:path>
              </a:pathLst>
            </a:custGeom>
            <a:ln w="3175">
              <a:solidFill>
                <a:srgbClr val="9BD3F0"/>
              </a:solidFill>
            </a:ln>
          </p:spPr>
          <p:txBody>
            <a:bodyPr wrap="square" lIns="0" tIns="0" rIns="0" bIns="0" rtlCol="0"/>
            <a:lstStyle/>
            <a:p/>
          </p:txBody>
        </p:sp>
        <p:sp>
          <p:nvSpPr>
            <p:cNvPr id="92" name="object 92" descr=""/>
            <p:cNvSpPr/>
            <p:nvPr/>
          </p:nvSpPr>
          <p:spPr>
            <a:xfrm>
              <a:off x="3223056" y="3869397"/>
              <a:ext cx="19050" cy="25400"/>
            </a:xfrm>
            <a:custGeom>
              <a:avLst/>
              <a:gdLst/>
              <a:ahLst/>
              <a:cxnLst/>
              <a:rect l="l" t="t" r="r" b="b"/>
              <a:pathLst>
                <a:path w="19050" h="25400">
                  <a:moveTo>
                    <a:pt x="18503" y="0"/>
                  </a:moveTo>
                  <a:lnTo>
                    <a:pt x="660" y="0"/>
                  </a:lnTo>
                  <a:lnTo>
                    <a:pt x="0" y="0"/>
                  </a:lnTo>
                  <a:lnTo>
                    <a:pt x="0" y="25095"/>
                  </a:lnTo>
                  <a:lnTo>
                    <a:pt x="18503" y="25095"/>
                  </a:lnTo>
                  <a:lnTo>
                    <a:pt x="18503" y="24523"/>
                  </a:lnTo>
                  <a:lnTo>
                    <a:pt x="18503" y="673"/>
                  </a:lnTo>
                  <a:lnTo>
                    <a:pt x="18503" y="0"/>
                  </a:lnTo>
                  <a:close/>
                </a:path>
              </a:pathLst>
            </a:custGeom>
            <a:solidFill>
              <a:srgbClr val="7FA6C8"/>
            </a:solidFill>
          </p:spPr>
          <p:txBody>
            <a:bodyPr wrap="square" lIns="0" tIns="0" rIns="0" bIns="0" rtlCol="0"/>
            <a:lstStyle/>
            <a:p/>
          </p:txBody>
        </p:sp>
        <p:sp>
          <p:nvSpPr>
            <p:cNvPr id="93" name="object 93" descr=""/>
            <p:cNvSpPr/>
            <p:nvPr/>
          </p:nvSpPr>
          <p:spPr>
            <a:xfrm>
              <a:off x="3223056" y="3869397"/>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558"/>
                  </a:moveTo>
                  <a:lnTo>
                    <a:pt x="17843" y="558"/>
                  </a:lnTo>
                  <a:lnTo>
                    <a:pt x="17843" y="24510"/>
                  </a:lnTo>
                  <a:lnTo>
                    <a:pt x="660" y="24510"/>
                  </a:lnTo>
                  <a:lnTo>
                    <a:pt x="660" y="558"/>
                  </a:lnTo>
                  <a:close/>
                </a:path>
              </a:pathLst>
            </a:custGeom>
            <a:ln w="3175">
              <a:solidFill>
                <a:srgbClr val="9BD3F0"/>
              </a:solidFill>
            </a:ln>
          </p:spPr>
          <p:txBody>
            <a:bodyPr wrap="square" lIns="0" tIns="0" rIns="0" bIns="0" rtlCol="0"/>
            <a:lstStyle/>
            <a:p/>
          </p:txBody>
        </p:sp>
        <p:sp>
          <p:nvSpPr>
            <p:cNvPr id="94" name="object 94" descr=""/>
            <p:cNvSpPr/>
            <p:nvPr/>
          </p:nvSpPr>
          <p:spPr>
            <a:xfrm>
              <a:off x="3249498" y="3869397"/>
              <a:ext cx="19050" cy="25400"/>
            </a:xfrm>
            <a:custGeom>
              <a:avLst/>
              <a:gdLst/>
              <a:ahLst/>
              <a:cxnLst/>
              <a:rect l="l" t="t" r="r" b="b"/>
              <a:pathLst>
                <a:path w="19050" h="25400">
                  <a:moveTo>
                    <a:pt x="18503" y="0"/>
                  </a:moveTo>
                  <a:lnTo>
                    <a:pt x="17843" y="0"/>
                  </a:lnTo>
                  <a:lnTo>
                    <a:pt x="0" y="0"/>
                  </a:lnTo>
                  <a:lnTo>
                    <a:pt x="0" y="24523"/>
                  </a:lnTo>
                  <a:lnTo>
                    <a:pt x="0" y="25095"/>
                  </a:lnTo>
                  <a:lnTo>
                    <a:pt x="18503" y="25095"/>
                  </a:lnTo>
                  <a:lnTo>
                    <a:pt x="18503" y="24422"/>
                  </a:lnTo>
                  <a:lnTo>
                    <a:pt x="18503" y="673"/>
                  </a:lnTo>
                  <a:lnTo>
                    <a:pt x="18503" y="0"/>
                  </a:lnTo>
                  <a:close/>
                </a:path>
              </a:pathLst>
            </a:custGeom>
            <a:solidFill>
              <a:srgbClr val="7FA6C8"/>
            </a:solidFill>
          </p:spPr>
          <p:txBody>
            <a:bodyPr wrap="square" lIns="0" tIns="0" rIns="0" bIns="0" rtlCol="0"/>
            <a:lstStyle/>
            <a:p/>
          </p:txBody>
        </p:sp>
        <p:sp>
          <p:nvSpPr>
            <p:cNvPr id="95" name="object 95" descr=""/>
            <p:cNvSpPr/>
            <p:nvPr/>
          </p:nvSpPr>
          <p:spPr>
            <a:xfrm>
              <a:off x="3249498" y="3869397"/>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558"/>
                  </a:moveTo>
                  <a:lnTo>
                    <a:pt x="17183" y="558"/>
                  </a:lnTo>
                  <a:lnTo>
                    <a:pt x="17183" y="24510"/>
                  </a:lnTo>
                  <a:lnTo>
                    <a:pt x="660" y="24510"/>
                  </a:lnTo>
                  <a:lnTo>
                    <a:pt x="660" y="558"/>
                  </a:lnTo>
                  <a:close/>
                </a:path>
              </a:pathLst>
            </a:custGeom>
            <a:ln w="3175">
              <a:solidFill>
                <a:srgbClr val="9BD3F0"/>
              </a:solidFill>
            </a:ln>
          </p:spPr>
          <p:txBody>
            <a:bodyPr wrap="square" lIns="0" tIns="0" rIns="0" bIns="0" rtlCol="0"/>
            <a:lstStyle/>
            <a:p/>
          </p:txBody>
        </p:sp>
        <p:sp>
          <p:nvSpPr>
            <p:cNvPr id="96" name="object 96" descr=""/>
            <p:cNvSpPr/>
            <p:nvPr/>
          </p:nvSpPr>
          <p:spPr>
            <a:xfrm>
              <a:off x="3275253" y="3869397"/>
              <a:ext cx="19050" cy="25400"/>
            </a:xfrm>
            <a:custGeom>
              <a:avLst/>
              <a:gdLst/>
              <a:ahLst/>
              <a:cxnLst/>
              <a:rect l="l" t="t" r="r" b="b"/>
              <a:pathLst>
                <a:path w="19050" h="25400">
                  <a:moveTo>
                    <a:pt x="18503" y="0"/>
                  </a:moveTo>
                  <a:lnTo>
                    <a:pt x="673" y="0"/>
                  </a:lnTo>
                  <a:lnTo>
                    <a:pt x="0" y="0"/>
                  </a:lnTo>
                  <a:lnTo>
                    <a:pt x="0" y="25095"/>
                  </a:lnTo>
                  <a:lnTo>
                    <a:pt x="18503" y="25095"/>
                  </a:lnTo>
                  <a:lnTo>
                    <a:pt x="18503" y="24523"/>
                  </a:lnTo>
                  <a:lnTo>
                    <a:pt x="18503" y="673"/>
                  </a:lnTo>
                  <a:lnTo>
                    <a:pt x="18503" y="0"/>
                  </a:lnTo>
                  <a:close/>
                </a:path>
              </a:pathLst>
            </a:custGeom>
            <a:solidFill>
              <a:srgbClr val="7FA6C8"/>
            </a:solidFill>
          </p:spPr>
          <p:txBody>
            <a:bodyPr wrap="square" lIns="0" tIns="0" rIns="0" bIns="0" rtlCol="0"/>
            <a:lstStyle/>
            <a:p/>
          </p:txBody>
        </p:sp>
        <p:sp>
          <p:nvSpPr>
            <p:cNvPr id="97" name="object 97" descr=""/>
            <p:cNvSpPr/>
            <p:nvPr/>
          </p:nvSpPr>
          <p:spPr>
            <a:xfrm>
              <a:off x="3275266" y="3869397"/>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558"/>
                  </a:moveTo>
                  <a:lnTo>
                    <a:pt x="17843" y="558"/>
                  </a:lnTo>
                  <a:lnTo>
                    <a:pt x="17843" y="24510"/>
                  </a:lnTo>
                  <a:lnTo>
                    <a:pt x="660" y="24510"/>
                  </a:lnTo>
                  <a:lnTo>
                    <a:pt x="660" y="558"/>
                  </a:lnTo>
                  <a:close/>
                </a:path>
              </a:pathLst>
            </a:custGeom>
            <a:ln w="3175">
              <a:solidFill>
                <a:srgbClr val="9BD3F0"/>
              </a:solidFill>
            </a:ln>
          </p:spPr>
          <p:txBody>
            <a:bodyPr wrap="square" lIns="0" tIns="0" rIns="0" bIns="0" rtlCol="0"/>
            <a:lstStyle/>
            <a:p/>
          </p:txBody>
        </p:sp>
        <p:sp>
          <p:nvSpPr>
            <p:cNvPr id="98" name="object 98" descr=""/>
            <p:cNvSpPr/>
            <p:nvPr/>
          </p:nvSpPr>
          <p:spPr>
            <a:xfrm>
              <a:off x="3303676" y="3869397"/>
              <a:ext cx="18415" cy="25400"/>
            </a:xfrm>
            <a:custGeom>
              <a:avLst/>
              <a:gdLst/>
              <a:ahLst/>
              <a:cxnLst/>
              <a:rect l="l" t="t" r="r" b="b"/>
              <a:pathLst>
                <a:path w="18414" h="25400">
                  <a:moveTo>
                    <a:pt x="17843" y="0"/>
                  </a:moveTo>
                  <a:lnTo>
                    <a:pt x="0" y="0"/>
                  </a:lnTo>
                  <a:lnTo>
                    <a:pt x="0" y="24523"/>
                  </a:lnTo>
                  <a:lnTo>
                    <a:pt x="0" y="25095"/>
                  </a:lnTo>
                  <a:lnTo>
                    <a:pt x="17843" y="25095"/>
                  </a:lnTo>
                  <a:lnTo>
                    <a:pt x="17843" y="24523"/>
                  </a:lnTo>
                  <a:lnTo>
                    <a:pt x="17843" y="673"/>
                  </a:lnTo>
                  <a:lnTo>
                    <a:pt x="17843" y="0"/>
                  </a:lnTo>
                  <a:close/>
                </a:path>
              </a:pathLst>
            </a:custGeom>
            <a:solidFill>
              <a:srgbClr val="7FA6C8"/>
            </a:solidFill>
          </p:spPr>
          <p:txBody>
            <a:bodyPr wrap="square" lIns="0" tIns="0" rIns="0" bIns="0" rtlCol="0"/>
            <a:lstStyle/>
            <a:p/>
          </p:txBody>
        </p:sp>
        <p:sp>
          <p:nvSpPr>
            <p:cNvPr id="99" name="object 99" descr=""/>
            <p:cNvSpPr/>
            <p:nvPr/>
          </p:nvSpPr>
          <p:spPr>
            <a:xfrm>
              <a:off x="3303689" y="3869397"/>
              <a:ext cx="18415" cy="25400"/>
            </a:xfrm>
            <a:custGeom>
              <a:avLst/>
              <a:gdLst/>
              <a:ahLst/>
              <a:cxnLst/>
              <a:rect l="l" t="t" r="r" b="b"/>
              <a:pathLst>
                <a:path w="18414" h="25400">
                  <a:moveTo>
                    <a:pt x="0" y="0"/>
                  </a:moveTo>
                  <a:lnTo>
                    <a:pt x="17843" y="0"/>
                  </a:lnTo>
                  <a:lnTo>
                    <a:pt x="17843" y="25095"/>
                  </a:lnTo>
                  <a:lnTo>
                    <a:pt x="0" y="25095"/>
                  </a:lnTo>
                  <a:lnTo>
                    <a:pt x="0" y="0"/>
                  </a:lnTo>
                  <a:close/>
                </a:path>
                <a:path w="18414" h="25400">
                  <a:moveTo>
                    <a:pt x="660" y="558"/>
                  </a:moveTo>
                  <a:lnTo>
                    <a:pt x="17183" y="558"/>
                  </a:lnTo>
                  <a:lnTo>
                    <a:pt x="17183" y="24510"/>
                  </a:lnTo>
                  <a:lnTo>
                    <a:pt x="660" y="24510"/>
                  </a:lnTo>
                  <a:lnTo>
                    <a:pt x="660" y="558"/>
                  </a:lnTo>
                  <a:close/>
                </a:path>
              </a:pathLst>
            </a:custGeom>
            <a:ln w="3175">
              <a:solidFill>
                <a:srgbClr val="9BD3F0"/>
              </a:solidFill>
            </a:ln>
          </p:spPr>
          <p:txBody>
            <a:bodyPr wrap="square" lIns="0" tIns="0" rIns="0" bIns="0" rtlCol="0"/>
            <a:lstStyle/>
            <a:p/>
          </p:txBody>
        </p:sp>
        <p:sp>
          <p:nvSpPr>
            <p:cNvPr id="100" name="object 100" descr=""/>
            <p:cNvSpPr/>
            <p:nvPr/>
          </p:nvSpPr>
          <p:spPr>
            <a:xfrm>
              <a:off x="3197288" y="3911015"/>
              <a:ext cx="19050" cy="26034"/>
            </a:xfrm>
            <a:custGeom>
              <a:avLst/>
              <a:gdLst/>
              <a:ahLst/>
              <a:cxnLst/>
              <a:rect l="l" t="t" r="r" b="b"/>
              <a:pathLst>
                <a:path w="19050" h="26035">
                  <a:moveTo>
                    <a:pt x="18503" y="0"/>
                  </a:moveTo>
                  <a:lnTo>
                    <a:pt x="0" y="0"/>
                  </a:lnTo>
                  <a:lnTo>
                    <a:pt x="0" y="571"/>
                  </a:lnTo>
                  <a:lnTo>
                    <a:pt x="0" y="25095"/>
                  </a:lnTo>
                  <a:lnTo>
                    <a:pt x="0" y="25666"/>
                  </a:lnTo>
                  <a:lnTo>
                    <a:pt x="18503" y="25666"/>
                  </a:lnTo>
                  <a:lnTo>
                    <a:pt x="18503" y="24955"/>
                  </a:lnTo>
                  <a:lnTo>
                    <a:pt x="18503" y="736"/>
                  </a:lnTo>
                  <a:lnTo>
                    <a:pt x="18503" y="0"/>
                  </a:lnTo>
                  <a:close/>
                </a:path>
              </a:pathLst>
            </a:custGeom>
            <a:solidFill>
              <a:srgbClr val="7FA6C8"/>
            </a:solidFill>
          </p:spPr>
          <p:txBody>
            <a:bodyPr wrap="square" lIns="0" tIns="0" rIns="0" bIns="0" rtlCol="0"/>
            <a:lstStyle/>
            <a:p/>
          </p:txBody>
        </p:sp>
        <p:sp>
          <p:nvSpPr>
            <p:cNvPr id="101" name="object 101" descr=""/>
            <p:cNvSpPr/>
            <p:nvPr/>
          </p:nvSpPr>
          <p:spPr>
            <a:xfrm>
              <a:off x="3197288" y="3911015"/>
              <a:ext cx="19050" cy="26034"/>
            </a:xfrm>
            <a:custGeom>
              <a:avLst/>
              <a:gdLst/>
              <a:ahLst/>
              <a:cxnLst/>
              <a:rect l="l" t="t" r="r" b="b"/>
              <a:pathLst>
                <a:path w="19050" h="26035">
                  <a:moveTo>
                    <a:pt x="0" y="0"/>
                  </a:moveTo>
                  <a:lnTo>
                    <a:pt x="18503" y="0"/>
                  </a:lnTo>
                  <a:lnTo>
                    <a:pt x="18503" y="25666"/>
                  </a:lnTo>
                  <a:lnTo>
                    <a:pt x="0" y="25666"/>
                  </a:lnTo>
                  <a:lnTo>
                    <a:pt x="0" y="0"/>
                  </a:lnTo>
                  <a:close/>
                </a:path>
                <a:path w="19050" h="26035">
                  <a:moveTo>
                    <a:pt x="660" y="1142"/>
                  </a:moveTo>
                  <a:lnTo>
                    <a:pt x="17183" y="1142"/>
                  </a:lnTo>
                  <a:lnTo>
                    <a:pt x="17183" y="24523"/>
                  </a:lnTo>
                  <a:lnTo>
                    <a:pt x="660" y="24523"/>
                  </a:lnTo>
                  <a:lnTo>
                    <a:pt x="660" y="1142"/>
                  </a:lnTo>
                  <a:close/>
                </a:path>
              </a:pathLst>
            </a:custGeom>
            <a:ln w="3175">
              <a:solidFill>
                <a:srgbClr val="9BD3F0"/>
              </a:solidFill>
            </a:ln>
          </p:spPr>
          <p:txBody>
            <a:bodyPr wrap="square" lIns="0" tIns="0" rIns="0" bIns="0" rtlCol="0"/>
            <a:lstStyle/>
            <a:p/>
          </p:txBody>
        </p:sp>
        <p:sp>
          <p:nvSpPr>
            <p:cNvPr id="102" name="object 102" descr=""/>
            <p:cNvSpPr/>
            <p:nvPr/>
          </p:nvSpPr>
          <p:spPr>
            <a:xfrm>
              <a:off x="3223056" y="3911015"/>
              <a:ext cx="19050" cy="26034"/>
            </a:xfrm>
            <a:custGeom>
              <a:avLst/>
              <a:gdLst/>
              <a:ahLst/>
              <a:cxnLst/>
              <a:rect l="l" t="t" r="r" b="b"/>
              <a:pathLst>
                <a:path w="19050" h="26035">
                  <a:moveTo>
                    <a:pt x="18503" y="0"/>
                  </a:moveTo>
                  <a:lnTo>
                    <a:pt x="0" y="0"/>
                  </a:lnTo>
                  <a:lnTo>
                    <a:pt x="0" y="25666"/>
                  </a:lnTo>
                  <a:lnTo>
                    <a:pt x="18503" y="25666"/>
                  </a:lnTo>
                  <a:lnTo>
                    <a:pt x="18503" y="25095"/>
                  </a:lnTo>
                  <a:lnTo>
                    <a:pt x="18503" y="24955"/>
                  </a:lnTo>
                  <a:lnTo>
                    <a:pt x="18503" y="736"/>
                  </a:lnTo>
                  <a:lnTo>
                    <a:pt x="18503" y="571"/>
                  </a:lnTo>
                  <a:lnTo>
                    <a:pt x="18503" y="0"/>
                  </a:lnTo>
                  <a:close/>
                </a:path>
              </a:pathLst>
            </a:custGeom>
            <a:solidFill>
              <a:srgbClr val="7FA6C8"/>
            </a:solidFill>
          </p:spPr>
          <p:txBody>
            <a:bodyPr wrap="square" lIns="0" tIns="0" rIns="0" bIns="0" rtlCol="0"/>
            <a:lstStyle/>
            <a:p/>
          </p:txBody>
        </p:sp>
        <p:sp>
          <p:nvSpPr>
            <p:cNvPr id="103" name="object 103" descr=""/>
            <p:cNvSpPr/>
            <p:nvPr/>
          </p:nvSpPr>
          <p:spPr>
            <a:xfrm>
              <a:off x="3223056" y="3911015"/>
              <a:ext cx="19050" cy="26034"/>
            </a:xfrm>
            <a:custGeom>
              <a:avLst/>
              <a:gdLst/>
              <a:ahLst/>
              <a:cxnLst/>
              <a:rect l="l" t="t" r="r" b="b"/>
              <a:pathLst>
                <a:path w="19050" h="26035">
                  <a:moveTo>
                    <a:pt x="0" y="0"/>
                  </a:moveTo>
                  <a:lnTo>
                    <a:pt x="18503" y="0"/>
                  </a:lnTo>
                  <a:lnTo>
                    <a:pt x="18503" y="25666"/>
                  </a:lnTo>
                  <a:lnTo>
                    <a:pt x="0" y="25666"/>
                  </a:lnTo>
                  <a:lnTo>
                    <a:pt x="0" y="0"/>
                  </a:lnTo>
                  <a:close/>
                </a:path>
                <a:path w="19050" h="26035">
                  <a:moveTo>
                    <a:pt x="660" y="1142"/>
                  </a:moveTo>
                  <a:lnTo>
                    <a:pt x="17843" y="1142"/>
                  </a:lnTo>
                  <a:lnTo>
                    <a:pt x="17843" y="24523"/>
                  </a:lnTo>
                  <a:lnTo>
                    <a:pt x="660" y="24523"/>
                  </a:lnTo>
                  <a:lnTo>
                    <a:pt x="660" y="1142"/>
                  </a:lnTo>
                  <a:close/>
                </a:path>
              </a:pathLst>
            </a:custGeom>
            <a:ln w="3175">
              <a:solidFill>
                <a:srgbClr val="9BD3F0"/>
              </a:solidFill>
            </a:ln>
          </p:spPr>
          <p:txBody>
            <a:bodyPr wrap="square" lIns="0" tIns="0" rIns="0" bIns="0" rtlCol="0"/>
            <a:lstStyle/>
            <a:p/>
          </p:txBody>
        </p:sp>
        <p:sp>
          <p:nvSpPr>
            <p:cNvPr id="104" name="object 104" descr=""/>
            <p:cNvSpPr/>
            <p:nvPr/>
          </p:nvSpPr>
          <p:spPr>
            <a:xfrm>
              <a:off x="3249498" y="3911015"/>
              <a:ext cx="19050" cy="26034"/>
            </a:xfrm>
            <a:custGeom>
              <a:avLst/>
              <a:gdLst/>
              <a:ahLst/>
              <a:cxnLst/>
              <a:rect l="l" t="t" r="r" b="b"/>
              <a:pathLst>
                <a:path w="19050" h="26035">
                  <a:moveTo>
                    <a:pt x="18503" y="0"/>
                  </a:moveTo>
                  <a:lnTo>
                    <a:pt x="0" y="0"/>
                  </a:lnTo>
                  <a:lnTo>
                    <a:pt x="0" y="571"/>
                  </a:lnTo>
                  <a:lnTo>
                    <a:pt x="0" y="25095"/>
                  </a:lnTo>
                  <a:lnTo>
                    <a:pt x="0" y="25666"/>
                  </a:lnTo>
                  <a:lnTo>
                    <a:pt x="18503" y="25666"/>
                  </a:lnTo>
                  <a:lnTo>
                    <a:pt x="18503" y="24955"/>
                  </a:lnTo>
                  <a:lnTo>
                    <a:pt x="18503" y="736"/>
                  </a:lnTo>
                  <a:lnTo>
                    <a:pt x="18503" y="0"/>
                  </a:lnTo>
                  <a:close/>
                </a:path>
              </a:pathLst>
            </a:custGeom>
            <a:solidFill>
              <a:srgbClr val="7FA6C8"/>
            </a:solidFill>
          </p:spPr>
          <p:txBody>
            <a:bodyPr wrap="square" lIns="0" tIns="0" rIns="0" bIns="0" rtlCol="0"/>
            <a:lstStyle/>
            <a:p/>
          </p:txBody>
        </p:sp>
        <p:sp>
          <p:nvSpPr>
            <p:cNvPr id="105" name="object 105" descr=""/>
            <p:cNvSpPr/>
            <p:nvPr/>
          </p:nvSpPr>
          <p:spPr>
            <a:xfrm>
              <a:off x="3249498" y="3911015"/>
              <a:ext cx="19050" cy="26034"/>
            </a:xfrm>
            <a:custGeom>
              <a:avLst/>
              <a:gdLst/>
              <a:ahLst/>
              <a:cxnLst/>
              <a:rect l="l" t="t" r="r" b="b"/>
              <a:pathLst>
                <a:path w="19050" h="26035">
                  <a:moveTo>
                    <a:pt x="0" y="0"/>
                  </a:moveTo>
                  <a:lnTo>
                    <a:pt x="18503" y="0"/>
                  </a:lnTo>
                  <a:lnTo>
                    <a:pt x="18503" y="25666"/>
                  </a:lnTo>
                  <a:lnTo>
                    <a:pt x="0" y="25666"/>
                  </a:lnTo>
                  <a:lnTo>
                    <a:pt x="0" y="0"/>
                  </a:lnTo>
                  <a:close/>
                </a:path>
                <a:path w="19050" h="26035">
                  <a:moveTo>
                    <a:pt x="660" y="1142"/>
                  </a:moveTo>
                  <a:lnTo>
                    <a:pt x="17183" y="1142"/>
                  </a:lnTo>
                  <a:lnTo>
                    <a:pt x="17183" y="24523"/>
                  </a:lnTo>
                  <a:lnTo>
                    <a:pt x="660" y="24523"/>
                  </a:lnTo>
                  <a:lnTo>
                    <a:pt x="660" y="1142"/>
                  </a:lnTo>
                  <a:close/>
                </a:path>
              </a:pathLst>
            </a:custGeom>
            <a:ln w="3175">
              <a:solidFill>
                <a:srgbClr val="9BD3F0"/>
              </a:solidFill>
            </a:ln>
          </p:spPr>
          <p:txBody>
            <a:bodyPr wrap="square" lIns="0" tIns="0" rIns="0" bIns="0" rtlCol="0"/>
            <a:lstStyle/>
            <a:p/>
          </p:txBody>
        </p:sp>
        <p:sp>
          <p:nvSpPr>
            <p:cNvPr id="106" name="object 106" descr=""/>
            <p:cNvSpPr/>
            <p:nvPr/>
          </p:nvSpPr>
          <p:spPr>
            <a:xfrm>
              <a:off x="3275253" y="3911015"/>
              <a:ext cx="19050" cy="26034"/>
            </a:xfrm>
            <a:custGeom>
              <a:avLst/>
              <a:gdLst/>
              <a:ahLst/>
              <a:cxnLst/>
              <a:rect l="l" t="t" r="r" b="b"/>
              <a:pathLst>
                <a:path w="19050" h="26035">
                  <a:moveTo>
                    <a:pt x="18503" y="0"/>
                  </a:moveTo>
                  <a:lnTo>
                    <a:pt x="0" y="0"/>
                  </a:lnTo>
                  <a:lnTo>
                    <a:pt x="0" y="25666"/>
                  </a:lnTo>
                  <a:lnTo>
                    <a:pt x="18503" y="25666"/>
                  </a:lnTo>
                  <a:lnTo>
                    <a:pt x="18503" y="25095"/>
                  </a:lnTo>
                  <a:lnTo>
                    <a:pt x="18503" y="24955"/>
                  </a:lnTo>
                  <a:lnTo>
                    <a:pt x="18503" y="736"/>
                  </a:lnTo>
                  <a:lnTo>
                    <a:pt x="18503" y="571"/>
                  </a:lnTo>
                  <a:lnTo>
                    <a:pt x="18503" y="0"/>
                  </a:lnTo>
                  <a:close/>
                </a:path>
              </a:pathLst>
            </a:custGeom>
            <a:solidFill>
              <a:srgbClr val="7FA6C8"/>
            </a:solidFill>
          </p:spPr>
          <p:txBody>
            <a:bodyPr wrap="square" lIns="0" tIns="0" rIns="0" bIns="0" rtlCol="0"/>
            <a:lstStyle/>
            <a:p/>
          </p:txBody>
        </p:sp>
        <p:sp>
          <p:nvSpPr>
            <p:cNvPr id="107" name="object 107" descr=""/>
            <p:cNvSpPr/>
            <p:nvPr/>
          </p:nvSpPr>
          <p:spPr>
            <a:xfrm>
              <a:off x="3275266" y="3911015"/>
              <a:ext cx="19050" cy="26034"/>
            </a:xfrm>
            <a:custGeom>
              <a:avLst/>
              <a:gdLst/>
              <a:ahLst/>
              <a:cxnLst/>
              <a:rect l="l" t="t" r="r" b="b"/>
              <a:pathLst>
                <a:path w="19050" h="26035">
                  <a:moveTo>
                    <a:pt x="0" y="0"/>
                  </a:moveTo>
                  <a:lnTo>
                    <a:pt x="18503" y="0"/>
                  </a:lnTo>
                  <a:lnTo>
                    <a:pt x="18503" y="25666"/>
                  </a:lnTo>
                  <a:lnTo>
                    <a:pt x="0" y="25666"/>
                  </a:lnTo>
                  <a:lnTo>
                    <a:pt x="0" y="0"/>
                  </a:lnTo>
                  <a:close/>
                </a:path>
                <a:path w="19050" h="26035">
                  <a:moveTo>
                    <a:pt x="660" y="1142"/>
                  </a:moveTo>
                  <a:lnTo>
                    <a:pt x="17843" y="1142"/>
                  </a:lnTo>
                  <a:lnTo>
                    <a:pt x="17843" y="24523"/>
                  </a:lnTo>
                  <a:lnTo>
                    <a:pt x="660" y="24523"/>
                  </a:lnTo>
                  <a:lnTo>
                    <a:pt x="660" y="1142"/>
                  </a:lnTo>
                  <a:close/>
                </a:path>
              </a:pathLst>
            </a:custGeom>
            <a:ln w="3175">
              <a:solidFill>
                <a:srgbClr val="9BD3F0"/>
              </a:solidFill>
            </a:ln>
          </p:spPr>
          <p:txBody>
            <a:bodyPr wrap="square" lIns="0" tIns="0" rIns="0" bIns="0" rtlCol="0"/>
            <a:lstStyle/>
            <a:p/>
          </p:txBody>
        </p:sp>
        <p:sp>
          <p:nvSpPr>
            <p:cNvPr id="108" name="object 108" descr=""/>
            <p:cNvSpPr/>
            <p:nvPr/>
          </p:nvSpPr>
          <p:spPr>
            <a:xfrm>
              <a:off x="3303676" y="3911015"/>
              <a:ext cx="18415" cy="26034"/>
            </a:xfrm>
            <a:custGeom>
              <a:avLst/>
              <a:gdLst/>
              <a:ahLst/>
              <a:cxnLst/>
              <a:rect l="l" t="t" r="r" b="b"/>
              <a:pathLst>
                <a:path w="18414" h="26035">
                  <a:moveTo>
                    <a:pt x="17843" y="0"/>
                  </a:moveTo>
                  <a:lnTo>
                    <a:pt x="0" y="0"/>
                  </a:lnTo>
                  <a:lnTo>
                    <a:pt x="0" y="571"/>
                  </a:lnTo>
                  <a:lnTo>
                    <a:pt x="0" y="25095"/>
                  </a:lnTo>
                  <a:lnTo>
                    <a:pt x="0" y="25666"/>
                  </a:lnTo>
                  <a:lnTo>
                    <a:pt x="17843" y="25666"/>
                  </a:lnTo>
                  <a:lnTo>
                    <a:pt x="17843" y="25095"/>
                  </a:lnTo>
                  <a:lnTo>
                    <a:pt x="17843" y="24955"/>
                  </a:lnTo>
                  <a:lnTo>
                    <a:pt x="17843" y="736"/>
                  </a:lnTo>
                  <a:lnTo>
                    <a:pt x="17843" y="571"/>
                  </a:lnTo>
                  <a:lnTo>
                    <a:pt x="17843" y="0"/>
                  </a:lnTo>
                  <a:close/>
                </a:path>
              </a:pathLst>
            </a:custGeom>
            <a:solidFill>
              <a:srgbClr val="7FA6C8"/>
            </a:solidFill>
          </p:spPr>
          <p:txBody>
            <a:bodyPr wrap="square" lIns="0" tIns="0" rIns="0" bIns="0" rtlCol="0"/>
            <a:lstStyle/>
            <a:p/>
          </p:txBody>
        </p:sp>
        <p:sp>
          <p:nvSpPr>
            <p:cNvPr id="109" name="object 109" descr=""/>
            <p:cNvSpPr/>
            <p:nvPr/>
          </p:nvSpPr>
          <p:spPr>
            <a:xfrm>
              <a:off x="3303689" y="3911015"/>
              <a:ext cx="18415" cy="26034"/>
            </a:xfrm>
            <a:custGeom>
              <a:avLst/>
              <a:gdLst/>
              <a:ahLst/>
              <a:cxnLst/>
              <a:rect l="l" t="t" r="r" b="b"/>
              <a:pathLst>
                <a:path w="18414" h="26035">
                  <a:moveTo>
                    <a:pt x="0" y="0"/>
                  </a:moveTo>
                  <a:lnTo>
                    <a:pt x="17843" y="0"/>
                  </a:lnTo>
                  <a:lnTo>
                    <a:pt x="17843" y="25666"/>
                  </a:lnTo>
                  <a:lnTo>
                    <a:pt x="0" y="25666"/>
                  </a:lnTo>
                  <a:lnTo>
                    <a:pt x="0" y="0"/>
                  </a:lnTo>
                  <a:close/>
                </a:path>
                <a:path w="18414" h="26035">
                  <a:moveTo>
                    <a:pt x="660" y="1142"/>
                  </a:moveTo>
                  <a:lnTo>
                    <a:pt x="17183" y="1142"/>
                  </a:lnTo>
                  <a:lnTo>
                    <a:pt x="17183" y="24523"/>
                  </a:lnTo>
                  <a:lnTo>
                    <a:pt x="660" y="24523"/>
                  </a:lnTo>
                  <a:lnTo>
                    <a:pt x="660" y="1142"/>
                  </a:lnTo>
                  <a:close/>
                </a:path>
              </a:pathLst>
            </a:custGeom>
            <a:ln w="3175">
              <a:solidFill>
                <a:srgbClr val="9BD3F0"/>
              </a:solidFill>
            </a:ln>
          </p:spPr>
          <p:txBody>
            <a:bodyPr wrap="square" lIns="0" tIns="0" rIns="0" bIns="0" rtlCol="0"/>
            <a:lstStyle/>
            <a:p/>
          </p:txBody>
        </p:sp>
        <p:sp>
          <p:nvSpPr>
            <p:cNvPr id="110" name="object 110" descr=""/>
            <p:cNvSpPr/>
            <p:nvPr/>
          </p:nvSpPr>
          <p:spPr>
            <a:xfrm>
              <a:off x="3197288" y="3953217"/>
              <a:ext cx="19050" cy="25400"/>
            </a:xfrm>
            <a:custGeom>
              <a:avLst/>
              <a:gdLst/>
              <a:ahLst/>
              <a:cxnLst/>
              <a:rect l="l" t="t" r="r" b="b"/>
              <a:pathLst>
                <a:path w="19050" h="25400">
                  <a:moveTo>
                    <a:pt x="18503" y="0"/>
                  </a:moveTo>
                  <a:lnTo>
                    <a:pt x="0" y="0"/>
                  </a:lnTo>
                  <a:lnTo>
                    <a:pt x="0" y="571"/>
                  </a:lnTo>
                  <a:lnTo>
                    <a:pt x="0" y="25095"/>
                  </a:lnTo>
                  <a:lnTo>
                    <a:pt x="17843" y="25095"/>
                  </a:lnTo>
                  <a:lnTo>
                    <a:pt x="18503" y="25095"/>
                  </a:lnTo>
                  <a:lnTo>
                    <a:pt x="18503" y="24396"/>
                  </a:lnTo>
                  <a:lnTo>
                    <a:pt x="18503" y="673"/>
                  </a:lnTo>
                  <a:lnTo>
                    <a:pt x="18503" y="0"/>
                  </a:lnTo>
                  <a:close/>
                </a:path>
              </a:pathLst>
            </a:custGeom>
            <a:solidFill>
              <a:srgbClr val="7FA6C8"/>
            </a:solidFill>
          </p:spPr>
          <p:txBody>
            <a:bodyPr wrap="square" lIns="0" tIns="0" rIns="0" bIns="0" rtlCol="0"/>
            <a:lstStyle/>
            <a:p/>
          </p:txBody>
        </p:sp>
        <p:sp>
          <p:nvSpPr>
            <p:cNvPr id="111" name="object 111" descr=""/>
            <p:cNvSpPr/>
            <p:nvPr/>
          </p:nvSpPr>
          <p:spPr>
            <a:xfrm>
              <a:off x="3197288" y="3953217"/>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571"/>
                  </a:moveTo>
                  <a:lnTo>
                    <a:pt x="17183" y="571"/>
                  </a:lnTo>
                  <a:lnTo>
                    <a:pt x="17183" y="24523"/>
                  </a:lnTo>
                  <a:lnTo>
                    <a:pt x="660" y="24523"/>
                  </a:lnTo>
                  <a:lnTo>
                    <a:pt x="660" y="571"/>
                  </a:lnTo>
                  <a:close/>
                </a:path>
              </a:pathLst>
            </a:custGeom>
            <a:ln w="3175">
              <a:solidFill>
                <a:srgbClr val="9BD3F0"/>
              </a:solidFill>
            </a:ln>
          </p:spPr>
          <p:txBody>
            <a:bodyPr wrap="square" lIns="0" tIns="0" rIns="0" bIns="0" rtlCol="0"/>
            <a:lstStyle/>
            <a:p/>
          </p:txBody>
        </p:sp>
        <p:sp>
          <p:nvSpPr>
            <p:cNvPr id="112" name="object 112" descr=""/>
            <p:cNvSpPr/>
            <p:nvPr/>
          </p:nvSpPr>
          <p:spPr>
            <a:xfrm>
              <a:off x="3223056" y="3953217"/>
              <a:ext cx="19050" cy="25400"/>
            </a:xfrm>
            <a:custGeom>
              <a:avLst/>
              <a:gdLst/>
              <a:ahLst/>
              <a:cxnLst/>
              <a:rect l="l" t="t" r="r" b="b"/>
              <a:pathLst>
                <a:path w="19050" h="25400">
                  <a:moveTo>
                    <a:pt x="18503" y="0"/>
                  </a:moveTo>
                  <a:lnTo>
                    <a:pt x="0" y="0"/>
                  </a:lnTo>
                  <a:lnTo>
                    <a:pt x="0" y="25095"/>
                  </a:lnTo>
                  <a:lnTo>
                    <a:pt x="660" y="25095"/>
                  </a:lnTo>
                  <a:lnTo>
                    <a:pt x="18503" y="25095"/>
                  </a:lnTo>
                  <a:lnTo>
                    <a:pt x="18503" y="24396"/>
                  </a:lnTo>
                  <a:lnTo>
                    <a:pt x="18503" y="673"/>
                  </a:lnTo>
                  <a:lnTo>
                    <a:pt x="18503" y="0"/>
                  </a:lnTo>
                  <a:close/>
                </a:path>
              </a:pathLst>
            </a:custGeom>
            <a:solidFill>
              <a:srgbClr val="7FA6C8"/>
            </a:solidFill>
          </p:spPr>
          <p:txBody>
            <a:bodyPr wrap="square" lIns="0" tIns="0" rIns="0" bIns="0" rtlCol="0"/>
            <a:lstStyle/>
            <a:p/>
          </p:txBody>
        </p:sp>
        <p:sp>
          <p:nvSpPr>
            <p:cNvPr id="113" name="object 113" descr=""/>
            <p:cNvSpPr/>
            <p:nvPr/>
          </p:nvSpPr>
          <p:spPr>
            <a:xfrm>
              <a:off x="3223056" y="3953217"/>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571"/>
                  </a:moveTo>
                  <a:lnTo>
                    <a:pt x="17843" y="571"/>
                  </a:lnTo>
                  <a:lnTo>
                    <a:pt x="17843" y="24523"/>
                  </a:lnTo>
                  <a:lnTo>
                    <a:pt x="660" y="24523"/>
                  </a:lnTo>
                  <a:lnTo>
                    <a:pt x="660" y="571"/>
                  </a:lnTo>
                  <a:close/>
                </a:path>
              </a:pathLst>
            </a:custGeom>
            <a:ln w="3175">
              <a:solidFill>
                <a:srgbClr val="9BD3F0"/>
              </a:solidFill>
            </a:ln>
          </p:spPr>
          <p:txBody>
            <a:bodyPr wrap="square" lIns="0" tIns="0" rIns="0" bIns="0" rtlCol="0"/>
            <a:lstStyle/>
            <a:p/>
          </p:txBody>
        </p:sp>
        <p:sp>
          <p:nvSpPr>
            <p:cNvPr id="114" name="object 114" descr=""/>
            <p:cNvSpPr/>
            <p:nvPr/>
          </p:nvSpPr>
          <p:spPr>
            <a:xfrm>
              <a:off x="3249498" y="3953217"/>
              <a:ext cx="19050" cy="25400"/>
            </a:xfrm>
            <a:custGeom>
              <a:avLst/>
              <a:gdLst/>
              <a:ahLst/>
              <a:cxnLst/>
              <a:rect l="l" t="t" r="r" b="b"/>
              <a:pathLst>
                <a:path w="19050" h="25400">
                  <a:moveTo>
                    <a:pt x="18503" y="0"/>
                  </a:moveTo>
                  <a:lnTo>
                    <a:pt x="0" y="0"/>
                  </a:lnTo>
                  <a:lnTo>
                    <a:pt x="0" y="571"/>
                  </a:lnTo>
                  <a:lnTo>
                    <a:pt x="0" y="25095"/>
                  </a:lnTo>
                  <a:lnTo>
                    <a:pt x="17843" y="25095"/>
                  </a:lnTo>
                  <a:lnTo>
                    <a:pt x="18503" y="25095"/>
                  </a:lnTo>
                  <a:lnTo>
                    <a:pt x="18503" y="24396"/>
                  </a:lnTo>
                  <a:lnTo>
                    <a:pt x="18503" y="673"/>
                  </a:lnTo>
                  <a:lnTo>
                    <a:pt x="18503" y="0"/>
                  </a:lnTo>
                  <a:close/>
                </a:path>
              </a:pathLst>
            </a:custGeom>
            <a:solidFill>
              <a:srgbClr val="7FA6C8"/>
            </a:solidFill>
          </p:spPr>
          <p:txBody>
            <a:bodyPr wrap="square" lIns="0" tIns="0" rIns="0" bIns="0" rtlCol="0"/>
            <a:lstStyle/>
            <a:p/>
          </p:txBody>
        </p:sp>
        <p:sp>
          <p:nvSpPr>
            <p:cNvPr id="115" name="object 115" descr=""/>
            <p:cNvSpPr/>
            <p:nvPr/>
          </p:nvSpPr>
          <p:spPr>
            <a:xfrm>
              <a:off x="3249498" y="3953217"/>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571"/>
                  </a:moveTo>
                  <a:lnTo>
                    <a:pt x="17183" y="571"/>
                  </a:lnTo>
                  <a:lnTo>
                    <a:pt x="17183" y="24523"/>
                  </a:lnTo>
                  <a:lnTo>
                    <a:pt x="660" y="24523"/>
                  </a:lnTo>
                  <a:lnTo>
                    <a:pt x="660" y="571"/>
                  </a:lnTo>
                  <a:close/>
                </a:path>
              </a:pathLst>
            </a:custGeom>
            <a:ln w="3175">
              <a:solidFill>
                <a:srgbClr val="9BD3F0"/>
              </a:solidFill>
            </a:ln>
          </p:spPr>
          <p:txBody>
            <a:bodyPr wrap="square" lIns="0" tIns="0" rIns="0" bIns="0" rtlCol="0"/>
            <a:lstStyle/>
            <a:p/>
          </p:txBody>
        </p:sp>
        <p:sp>
          <p:nvSpPr>
            <p:cNvPr id="116" name="object 116" descr=""/>
            <p:cNvSpPr/>
            <p:nvPr/>
          </p:nvSpPr>
          <p:spPr>
            <a:xfrm>
              <a:off x="3275253" y="3953217"/>
              <a:ext cx="19050" cy="25400"/>
            </a:xfrm>
            <a:custGeom>
              <a:avLst/>
              <a:gdLst/>
              <a:ahLst/>
              <a:cxnLst/>
              <a:rect l="l" t="t" r="r" b="b"/>
              <a:pathLst>
                <a:path w="19050" h="25400">
                  <a:moveTo>
                    <a:pt x="18503" y="0"/>
                  </a:moveTo>
                  <a:lnTo>
                    <a:pt x="0" y="0"/>
                  </a:lnTo>
                  <a:lnTo>
                    <a:pt x="0" y="25095"/>
                  </a:lnTo>
                  <a:lnTo>
                    <a:pt x="673" y="25095"/>
                  </a:lnTo>
                  <a:lnTo>
                    <a:pt x="18503" y="25095"/>
                  </a:lnTo>
                  <a:lnTo>
                    <a:pt x="18503" y="24396"/>
                  </a:lnTo>
                  <a:lnTo>
                    <a:pt x="18503" y="673"/>
                  </a:lnTo>
                  <a:lnTo>
                    <a:pt x="18503" y="0"/>
                  </a:lnTo>
                  <a:close/>
                </a:path>
              </a:pathLst>
            </a:custGeom>
            <a:solidFill>
              <a:srgbClr val="7FA6C8"/>
            </a:solidFill>
          </p:spPr>
          <p:txBody>
            <a:bodyPr wrap="square" lIns="0" tIns="0" rIns="0" bIns="0" rtlCol="0"/>
            <a:lstStyle/>
            <a:p/>
          </p:txBody>
        </p:sp>
        <p:sp>
          <p:nvSpPr>
            <p:cNvPr id="117" name="object 117" descr=""/>
            <p:cNvSpPr/>
            <p:nvPr/>
          </p:nvSpPr>
          <p:spPr>
            <a:xfrm>
              <a:off x="3275266" y="3953217"/>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571"/>
                  </a:moveTo>
                  <a:lnTo>
                    <a:pt x="17843" y="571"/>
                  </a:lnTo>
                  <a:lnTo>
                    <a:pt x="17843" y="24523"/>
                  </a:lnTo>
                  <a:lnTo>
                    <a:pt x="660" y="24523"/>
                  </a:lnTo>
                  <a:lnTo>
                    <a:pt x="660" y="571"/>
                  </a:lnTo>
                  <a:close/>
                </a:path>
              </a:pathLst>
            </a:custGeom>
            <a:ln w="3175">
              <a:solidFill>
                <a:srgbClr val="9BD3F0"/>
              </a:solidFill>
            </a:ln>
          </p:spPr>
          <p:txBody>
            <a:bodyPr wrap="square" lIns="0" tIns="0" rIns="0" bIns="0" rtlCol="0"/>
            <a:lstStyle/>
            <a:p/>
          </p:txBody>
        </p:sp>
        <p:sp>
          <p:nvSpPr>
            <p:cNvPr id="118" name="object 118" descr=""/>
            <p:cNvSpPr/>
            <p:nvPr/>
          </p:nvSpPr>
          <p:spPr>
            <a:xfrm>
              <a:off x="3303676" y="3953217"/>
              <a:ext cx="18415" cy="25400"/>
            </a:xfrm>
            <a:custGeom>
              <a:avLst/>
              <a:gdLst/>
              <a:ahLst/>
              <a:cxnLst/>
              <a:rect l="l" t="t" r="r" b="b"/>
              <a:pathLst>
                <a:path w="18414" h="25400">
                  <a:moveTo>
                    <a:pt x="17843" y="0"/>
                  </a:moveTo>
                  <a:lnTo>
                    <a:pt x="0" y="0"/>
                  </a:lnTo>
                  <a:lnTo>
                    <a:pt x="0" y="571"/>
                  </a:lnTo>
                  <a:lnTo>
                    <a:pt x="0" y="25095"/>
                  </a:lnTo>
                  <a:lnTo>
                    <a:pt x="17843" y="25095"/>
                  </a:lnTo>
                  <a:lnTo>
                    <a:pt x="17843" y="24396"/>
                  </a:lnTo>
                  <a:lnTo>
                    <a:pt x="17843" y="673"/>
                  </a:lnTo>
                  <a:lnTo>
                    <a:pt x="17843" y="0"/>
                  </a:lnTo>
                  <a:close/>
                </a:path>
              </a:pathLst>
            </a:custGeom>
            <a:solidFill>
              <a:srgbClr val="7FA6C8"/>
            </a:solidFill>
          </p:spPr>
          <p:txBody>
            <a:bodyPr wrap="square" lIns="0" tIns="0" rIns="0" bIns="0" rtlCol="0"/>
            <a:lstStyle/>
            <a:p/>
          </p:txBody>
        </p:sp>
        <p:sp>
          <p:nvSpPr>
            <p:cNvPr id="119" name="object 119" descr=""/>
            <p:cNvSpPr/>
            <p:nvPr/>
          </p:nvSpPr>
          <p:spPr>
            <a:xfrm>
              <a:off x="3303689" y="3953217"/>
              <a:ext cx="18415" cy="25400"/>
            </a:xfrm>
            <a:custGeom>
              <a:avLst/>
              <a:gdLst/>
              <a:ahLst/>
              <a:cxnLst/>
              <a:rect l="l" t="t" r="r" b="b"/>
              <a:pathLst>
                <a:path w="18414" h="25400">
                  <a:moveTo>
                    <a:pt x="0" y="0"/>
                  </a:moveTo>
                  <a:lnTo>
                    <a:pt x="17843" y="0"/>
                  </a:lnTo>
                  <a:lnTo>
                    <a:pt x="17843" y="25095"/>
                  </a:lnTo>
                  <a:lnTo>
                    <a:pt x="0" y="25095"/>
                  </a:lnTo>
                  <a:lnTo>
                    <a:pt x="0" y="0"/>
                  </a:lnTo>
                  <a:close/>
                </a:path>
                <a:path w="18414" h="25400">
                  <a:moveTo>
                    <a:pt x="660" y="571"/>
                  </a:moveTo>
                  <a:lnTo>
                    <a:pt x="17183" y="571"/>
                  </a:lnTo>
                  <a:lnTo>
                    <a:pt x="17183" y="24523"/>
                  </a:lnTo>
                  <a:lnTo>
                    <a:pt x="660" y="24523"/>
                  </a:lnTo>
                  <a:lnTo>
                    <a:pt x="660" y="571"/>
                  </a:lnTo>
                  <a:close/>
                </a:path>
              </a:pathLst>
            </a:custGeom>
            <a:ln w="3175">
              <a:solidFill>
                <a:srgbClr val="9BD3F0"/>
              </a:solidFill>
            </a:ln>
          </p:spPr>
          <p:txBody>
            <a:bodyPr wrap="square" lIns="0" tIns="0" rIns="0" bIns="0" rtlCol="0"/>
            <a:lstStyle/>
            <a:p/>
          </p:txBody>
        </p:sp>
        <p:sp>
          <p:nvSpPr>
            <p:cNvPr id="120" name="object 120" descr=""/>
            <p:cNvSpPr/>
            <p:nvPr/>
          </p:nvSpPr>
          <p:spPr>
            <a:xfrm>
              <a:off x="3197288" y="3995419"/>
              <a:ext cx="19050" cy="25400"/>
            </a:xfrm>
            <a:custGeom>
              <a:avLst/>
              <a:gdLst/>
              <a:ahLst/>
              <a:cxnLst/>
              <a:rect l="l" t="t" r="r" b="b"/>
              <a:pathLst>
                <a:path w="19050" h="25400">
                  <a:moveTo>
                    <a:pt x="18503" y="0"/>
                  </a:moveTo>
                  <a:lnTo>
                    <a:pt x="17843" y="0"/>
                  </a:lnTo>
                  <a:lnTo>
                    <a:pt x="0" y="0"/>
                  </a:lnTo>
                  <a:lnTo>
                    <a:pt x="0" y="24523"/>
                  </a:lnTo>
                  <a:lnTo>
                    <a:pt x="0" y="25095"/>
                  </a:lnTo>
                  <a:lnTo>
                    <a:pt x="18503" y="25095"/>
                  </a:lnTo>
                  <a:lnTo>
                    <a:pt x="18503" y="24422"/>
                  </a:lnTo>
                  <a:lnTo>
                    <a:pt x="18503" y="673"/>
                  </a:lnTo>
                  <a:lnTo>
                    <a:pt x="18503" y="0"/>
                  </a:lnTo>
                  <a:close/>
                </a:path>
              </a:pathLst>
            </a:custGeom>
            <a:solidFill>
              <a:srgbClr val="7FA6C8"/>
            </a:solidFill>
          </p:spPr>
          <p:txBody>
            <a:bodyPr wrap="square" lIns="0" tIns="0" rIns="0" bIns="0" rtlCol="0"/>
            <a:lstStyle/>
            <a:p/>
          </p:txBody>
        </p:sp>
        <p:sp>
          <p:nvSpPr>
            <p:cNvPr id="121" name="object 121" descr=""/>
            <p:cNvSpPr/>
            <p:nvPr/>
          </p:nvSpPr>
          <p:spPr>
            <a:xfrm>
              <a:off x="3197288" y="3995419"/>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571"/>
                  </a:moveTo>
                  <a:lnTo>
                    <a:pt x="17183" y="571"/>
                  </a:lnTo>
                  <a:lnTo>
                    <a:pt x="17183" y="24523"/>
                  </a:lnTo>
                  <a:lnTo>
                    <a:pt x="660" y="24523"/>
                  </a:lnTo>
                  <a:lnTo>
                    <a:pt x="660" y="571"/>
                  </a:lnTo>
                  <a:close/>
                </a:path>
              </a:pathLst>
            </a:custGeom>
            <a:ln w="3175">
              <a:solidFill>
                <a:srgbClr val="9BD3F0"/>
              </a:solidFill>
            </a:ln>
          </p:spPr>
          <p:txBody>
            <a:bodyPr wrap="square" lIns="0" tIns="0" rIns="0" bIns="0" rtlCol="0"/>
            <a:lstStyle/>
            <a:p/>
          </p:txBody>
        </p:sp>
        <p:sp>
          <p:nvSpPr>
            <p:cNvPr id="122" name="object 122" descr=""/>
            <p:cNvSpPr/>
            <p:nvPr/>
          </p:nvSpPr>
          <p:spPr>
            <a:xfrm>
              <a:off x="3223056" y="3995419"/>
              <a:ext cx="19050" cy="25400"/>
            </a:xfrm>
            <a:custGeom>
              <a:avLst/>
              <a:gdLst/>
              <a:ahLst/>
              <a:cxnLst/>
              <a:rect l="l" t="t" r="r" b="b"/>
              <a:pathLst>
                <a:path w="19050" h="25400">
                  <a:moveTo>
                    <a:pt x="18503" y="0"/>
                  </a:moveTo>
                  <a:lnTo>
                    <a:pt x="660" y="0"/>
                  </a:lnTo>
                  <a:lnTo>
                    <a:pt x="0" y="0"/>
                  </a:lnTo>
                  <a:lnTo>
                    <a:pt x="0" y="25095"/>
                  </a:lnTo>
                  <a:lnTo>
                    <a:pt x="18503" y="25095"/>
                  </a:lnTo>
                  <a:lnTo>
                    <a:pt x="18503" y="24523"/>
                  </a:lnTo>
                  <a:lnTo>
                    <a:pt x="18503" y="673"/>
                  </a:lnTo>
                  <a:lnTo>
                    <a:pt x="18503" y="0"/>
                  </a:lnTo>
                  <a:close/>
                </a:path>
              </a:pathLst>
            </a:custGeom>
            <a:solidFill>
              <a:srgbClr val="7FA6C8"/>
            </a:solidFill>
          </p:spPr>
          <p:txBody>
            <a:bodyPr wrap="square" lIns="0" tIns="0" rIns="0" bIns="0" rtlCol="0"/>
            <a:lstStyle/>
            <a:p/>
          </p:txBody>
        </p:sp>
        <p:sp>
          <p:nvSpPr>
            <p:cNvPr id="123" name="object 123" descr=""/>
            <p:cNvSpPr/>
            <p:nvPr/>
          </p:nvSpPr>
          <p:spPr>
            <a:xfrm>
              <a:off x="3223056" y="3995419"/>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571"/>
                  </a:moveTo>
                  <a:lnTo>
                    <a:pt x="17843" y="571"/>
                  </a:lnTo>
                  <a:lnTo>
                    <a:pt x="17843" y="24523"/>
                  </a:lnTo>
                  <a:lnTo>
                    <a:pt x="660" y="24523"/>
                  </a:lnTo>
                  <a:lnTo>
                    <a:pt x="660" y="571"/>
                  </a:lnTo>
                  <a:close/>
                </a:path>
              </a:pathLst>
            </a:custGeom>
            <a:ln w="3175">
              <a:solidFill>
                <a:srgbClr val="9BD3F0"/>
              </a:solidFill>
            </a:ln>
          </p:spPr>
          <p:txBody>
            <a:bodyPr wrap="square" lIns="0" tIns="0" rIns="0" bIns="0" rtlCol="0"/>
            <a:lstStyle/>
            <a:p/>
          </p:txBody>
        </p:sp>
        <p:sp>
          <p:nvSpPr>
            <p:cNvPr id="124" name="object 124" descr=""/>
            <p:cNvSpPr/>
            <p:nvPr/>
          </p:nvSpPr>
          <p:spPr>
            <a:xfrm>
              <a:off x="3249498" y="3995419"/>
              <a:ext cx="19050" cy="25400"/>
            </a:xfrm>
            <a:custGeom>
              <a:avLst/>
              <a:gdLst/>
              <a:ahLst/>
              <a:cxnLst/>
              <a:rect l="l" t="t" r="r" b="b"/>
              <a:pathLst>
                <a:path w="19050" h="25400">
                  <a:moveTo>
                    <a:pt x="18503" y="0"/>
                  </a:moveTo>
                  <a:lnTo>
                    <a:pt x="17843" y="0"/>
                  </a:lnTo>
                  <a:lnTo>
                    <a:pt x="0" y="0"/>
                  </a:lnTo>
                  <a:lnTo>
                    <a:pt x="0" y="24523"/>
                  </a:lnTo>
                  <a:lnTo>
                    <a:pt x="0" y="25095"/>
                  </a:lnTo>
                  <a:lnTo>
                    <a:pt x="18503" y="25095"/>
                  </a:lnTo>
                  <a:lnTo>
                    <a:pt x="18503" y="24422"/>
                  </a:lnTo>
                  <a:lnTo>
                    <a:pt x="18503" y="673"/>
                  </a:lnTo>
                  <a:lnTo>
                    <a:pt x="18503" y="0"/>
                  </a:lnTo>
                  <a:close/>
                </a:path>
              </a:pathLst>
            </a:custGeom>
            <a:solidFill>
              <a:srgbClr val="7FA6C8"/>
            </a:solidFill>
          </p:spPr>
          <p:txBody>
            <a:bodyPr wrap="square" lIns="0" tIns="0" rIns="0" bIns="0" rtlCol="0"/>
            <a:lstStyle/>
            <a:p/>
          </p:txBody>
        </p:sp>
        <p:sp>
          <p:nvSpPr>
            <p:cNvPr id="125" name="object 125" descr=""/>
            <p:cNvSpPr/>
            <p:nvPr/>
          </p:nvSpPr>
          <p:spPr>
            <a:xfrm>
              <a:off x="3249498" y="3995419"/>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571"/>
                  </a:moveTo>
                  <a:lnTo>
                    <a:pt x="17183" y="571"/>
                  </a:lnTo>
                  <a:lnTo>
                    <a:pt x="17183" y="24523"/>
                  </a:lnTo>
                  <a:lnTo>
                    <a:pt x="660" y="24523"/>
                  </a:lnTo>
                  <a:lnTo>
                    <a:pt x="660" y="571"/>
                  </a:lnTo>
                  <a:close/>
                </a:path>
              </a:pathLst>
            </a:custGeom>
            <a:ln w="3175">
              <a:solidFill>
                <a:srgbClr val="9BD3F0"/>
              </a:solidFill>
            </a:ln>
          </p:spPr>
          <p:txBody>
            <a:bodyPr wrap="square" lIns="0" tIns="0" rIns="0" bIns="0" rtlCol="0"/>
            <a:lstStyle/>
            <a:p/>
          </p:txBody>
        </p:sp>
        <p:sp>
          <p:nvSpPr>
            <p:cNvPr id="126" name="object 126" descr=""/>
            <p:cNvSpPr/>
            <p:nvPr/>
          </p:nvSpPr>
          <p:spPr>
            <a:xfrm>
              <a:off x="3275253" y="3995419"/>
              <a:ext cx="19050" cy="25400"/>
            </a:xfrm>
            <a:custGeom>
              <a:avLst/>
              <a:gdLst/>
              <a:ahLst/>
              <a:cxnLst/>
              <a:rect l="l" t="t" r="r" b="b"/>
              <a:pathLst>
                <a:path w="19050" h="25400">
                  <a:moveTo>
                    <a:pt x="18503" y="0"/>
                  </a:moveTo>
                  <a:lnTo>
                    <a:pt x="673" y="0"/>
                  </a:lnTo>
                  <a:lnTo>
                    <a:pt x="0" y="0"/>
                  </a:lnTo>
                  <a:lnTo>
                    <a:pt x="0" y="25095"/>
                  </a:lnTo>
                  <a:lnTo>
                    <a:pt x="18503" y="25095"/>
                  </a:lnTo>
                  <a:lnTo>
                    <a:pt x="18503" y="24523"/>
                  </a:lnTo>
                  <a:lnTo>
                    <a:pt x="18503" y="673"/>
                  </a:lnTo>
                  <a:lnTo>
                    <a:pt x="18503" y="0"/>
                  </a:lnTo>
                  <a:close/>
                </a:path>
              </a:pathLst>
            </a:custGeom>
            <a:solidFill>
              <a:srgbClr val="7FA6C8"/>
            </a:solidFill>
          </p:spPr>
          <p:txBody>
            <a:bodyPr wrap="square" lIns="0" tIns="0" rIns="0" bIns="0" rtlCol="0"/>
            <a:lstStyle/>
            <a:p/>
          </p:txBody>
        </p:sp>
        <p:sp>
          <p:nvSpPr>
            <p:cNvPr id="127" name="object 127" descr=""/>
            <p:cNvSpPr/>
            <p:nvPr/>
          </p:nvSpPr>
          <p:spPr>
            <a:xfrm>
              <a:off x="3275266" y="3995419"/>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571"/>
                  </a:moveTo>
                  <a:lnTo>
                    <a:pt x="17843" y="571"/>
                  </a:lnTo>
                  <a:lnTo>
                    <a:pt x="17843" y="24523"/>
                  </a:lnTo>
                  <a:lnTo>
                    <a:pt x="660" y="24523"/>
                  </a:lnTo>
                  <a:lnTo>
                    <a:pt x="660" y="571"/>
                  </a:lnTo>
                  <a:close/>
                </a:path>
              </a:pathLst>
            </a:custGeom>
            <a:ln w="3175">
              <a:solidFill>
                <a:srgbClr val="9BD3F0"/>
              </a:solidFill>
            </a:ln>
          </p:spPr>
          <p:txBody>
            <a:bodyPr wrap="square" lIns="0" tIns="0" rIns="0" bIns="0" rtlCol="0"/>
            <a:lstStyle/>
            <a:p/>
          </p:txBody>
        </p:sp>
        <p:sp>
          <p:nvSpPr>
            <p:cNvPr id="128" name="object 128" descr=""/>
            <p:cNvSpPr/>
            <p:nvPr/>
          </p:nvSpPr>
          <p:spPr>
            <a:xfrm>
              <a:off x="3303676" y="3995419"/>
              <a:ext cx="18415" cy="25400"/>
            </a:xfrm>
            <a:custGeom>
              <a:avLst/>
              <a:gdLst/>
              <a:ahLst/>
              <a:cxnLst/>
              <a:rect l="l" t="t" r="r" b="b"/>
              <a:pathLst>
                <a:path w="18414" h="25400">
                  <a:moveTo>
                    <a:pt x="17843" y="0"/>
                  </a:moveTo>
                  <a:lnTo>
                    <a:pt x="0" y="0"/>
                  </a:lnTo>
                  <a:lnTo>
                    <a:pt x="0" y="24523"/>
                  </a:lnTo>
                  <a:lnTo>
                    <a:pt x="0" y="25095"/>
                  </a:lnTo>
                  <a:lnTo>
                    <a:pt x="17843" y="25095"/>
                  </a:lnTo>
                  <a:lnTo>
                    <a:pt x="17843" y="24523"/>
                  </a:lnTo>
                  <a:lnTo>
                    <a:pt x="17843" y="673"/>
                  </a:lnTo>
                  <a:lnTo>
                    <a:pt x="17843" y="0"/>
                  </a:lnTo>
                  <a:close/>
                </a:path>
              </a:pathLst>
            </a:custGeom>
            <a:solidFill>
              <a:srgbClr val="7FA6C8"/>
            </a:solidFill>
          </p:spPr>
          <p:txBody>
            <a:bodyPr wrap="square" lIns="0" tIns="0" rIns="0" bIns="0" rtlCol="0"/>
            <a:lstStyle/>
            <a:p/>
          </p:txBody>
        </p:sp>
        <p:sp>
          <p:nvSpPr>
            <p:cNvPr id="129" name="object 129" descr=""/>
            <p:cNvSpPr/>
            <p:nvPr/>
          </p:nvSpPr>
          <p:spPr>
            <a:xfrm>
              <a:off x="3303689" y="3995419"/>
              <a:ext cx="18415" cy="25400"/>
            </a:xfrm>
            <a:custGeom>
              <a:avLst/>
              <a:gdLst/>
              <a:ahLst/>
              <a:cxnLst/>
              <a:rect l="l" t="t" r="r" b="b"/>
              <a:pathLst>
                <a:path w="18414" h="25400">
                  <a:moveTo>
                    <a:pt x="0" y="0"/>
                  </a:moveTo>
                  <a:lnTo>
                    <a:pt x="17843" y="0"/>
                  </a:lnTo>
                  <a:lnTo>
                    <a:pt x="17843" y="25095"/>
                  </a:lnTo>
                  <a:lnTo>
                    <a:pt x="0" y="25095"/>
                  </a:lnTo>
                  <a:lnTo>
                    <a:pt x="0" y="0"/>
                  </a:lnTo>
                  <a:close/>
                </a:path>
                <a:path w="18414" h="25400">
                  <a:moveTo>
                    <a:pt x="660" y="571"/>
                  </a:moveTo>
                  <a:lnTo>
                    <a:pt x="17183" y="571"/>
                  </a:lnTo>
                  <a:lnTo>
                    <a:pt x="17183" y="24523"/>
                  </a:lnTo>
                  <a:lnTo>
                    <a:pt x="660" y="24523"/>
                  </a:lnTo>
                  <a:lnTo>
                    <a:pt x="660" y="571"/>
                  </a:lnTo>
                  <a:close/>
                </a:path>
              </a:pathLst>
            </a:custGeom>
            <a:ln w="3175">
              <a:solidFill>
                <a:srgbClr val="9BD3F0"/>
              </a:solidFill>
            </a:ln>
          </p:spPr>
          <p:txBody>
            <a:bodyPr wrap="square" lIns="0" tIns="0" rIns="0" bIns="0" rtlCol="0"/>
            <a:lstStyle/>
            <a:p/>
          </p:txBody>
        </p:sp>
        <p:sp>
          <p:nvSpPr>
            <p:cNvPr id="130" name="object 130" descr=""/>
            <p:cNvSpPr/>
            <p:nvPr/>
          </p:nvSpPr>
          <p:spPr>
            <a:xfrm>
              <a:off x="3197288" y="4037050"/>
              <a:ext cx="19050" cy="25400"/>
            </a:xfrm>
            <a:custGeom>
              <a:avLst/>
              <a:gdLst/>
              <a:ahLst/>
              <a:cxnLst/>
              <a:rect l="l" t="t" r="r" b="b"/>
              <a:pathLst>
                <a:path w="19050" h="25400">
                  <a:moveTo>
                    <a:pt x="18503" y="0"/>
                  </a:moveTo>
                  <a:lnTo>
                    <a:pt x="0" y="0"/>
                  </a:lnTo>
                  <a:lnTo>
                    <a:pt x="0" y="571"/>
                  </a:lnTo>
                  <a:lnTo>
                    <a:pt x="0" y="25095"/>
                  </a:lnTo>
                  <a:lnTo>
                    <a:pt x="17843" y="25095"/>
                  </a:lnTo>
                  <a:lnTo>
                    <a:pt x="18503" y="25095"/>
                  </a:lnTo>
                  <a:lnTo>
                    <a:pt x="18503" y="24396"/>
                  </a:lnTo>
                  <a:lnTo>
                    <a:pt x="18503" y="685"/>
                  </a:lnTo>
                  <a:lnTo>
                    <a:pt x="18503" y="0"/>
                  </a:lnTo>
                  <a:close/>
                </a:path>
              </a:pathLst>
            </a:custGeom>
            <a:solidFill>
              <a:srgbClr val="7FA6C8"/>
            </a:solidFill>
          </p:spPr>
          <p:txBody>
            <a:bodyPr wrap="square" lIns="0" tIns="0" rIns="0" bIns="0" rtlCol="0"/>
            <a:lstStyle/>
            <a:p/>
          </p:txBody>
        </p:sp>
        <p:sp>
          <p:nvSpPr>
            <p:cNvPr id="131" name="object 131" descr=""/>
            <p:cNvSpPr/>
            <p:nvPr/>
          </p:nvSpPr>
          <p:spPr>
            <a:xfrm>
              <a:off x="3197288" y="4037050"/>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1143"/>
                  </a:moveTo>
                  <a:lnTo>
                    <a:pt x="17183" y="1143"/>
                  </a:lnTo>
                  <a:lnTo>
                    <a:pt x="17183" y="24523"/>
                  </a:lnTo>
                  <a:lnTo>
                    <a:pt x="660" y="24523"/>
                  </a:lnTo>
                  <a:lnTo>
                    <a:pt x="660" y="1143"/>
                  </a:lnTo>
                  <a:close/>
                </a:path>
              </a:pathLst>
            </a:custGeom>
            <a:ln w="3175">
              <a:solidFill>
                <a:srgbClr val="9BD3F0"/>
              </a:solidFill>
            </a:ln>
          </p:spPr>
          <p:txBody>
            <a:bodyPr wrap="square" lIns="0" tIns="0" rIns="0" bIns="0" rtlCol="0"/>
            <a:lstStyle/>
            <a:p/>
          </p:txBody>
        </p:sp>
        <p:sp>
          <p:nvSpPr>
            <p:cNvPr id="132" name="object 132" descr=""/>
            <p:cNvSpPr/>
            <p:nvPr/>
          </p:nvSpPr>
          <p:spPr>
            <a:xfrm>
              <a:off x="3223056" y="4037050"/>
              <a:ext cx="19050" cy="25400"/>
            </a:xfrm>
            <a:custGeom>
              <a:avLst/>
              <a:gdLst/>
              <a:ahLst/>
              <a:cxnLst/>
              <a:rect l="l" t="t" r="r" b="b"/>
              <a:pathLst>
                <a:path w="19050" h="25400">
                  <a:moveTo>
                    <a:pt x="18503" y="0"/>
                  </a:moveTo>
                  <a:lnTo>
                    <a:pt x="0" y="0"/>
                  </a:lnTo>
                  <a:lnTo>
                    <a:pt x="0" y="25095"/>
                  </a:lnTo>
                  <a:lnTo>
                    <a:pt x="660" y="25095"/>
                  </a:lnTo>
                  <a:lnTo>
                    <a:pt x="18503" y="25095"/>
                  </a:lnTo>
                  <a:lnTo>
                    <a:pt x="18503" y="24396"/>
                  </a:lnTo>
                  <a:lnTo>
                    <a:pt x="18503" y="685"/>
                  </a:lnTo>
                  <a:lnTo>
                    <a:pt x="18503" y="0"/>
                  </a:lnTo>
                  <a:close/>
                </a:path>
              </a:pathLst>
            </a:custGeom>
            <a:solidFill>
              <a:srgbClr val="7FA6C8"/>
            </a:solidFill>
          </p:spPr>
          <p:txBody>
            <a:bodyPr wrap="square" lIns="0" tIns="0" rIns="0" bIns="0" rtlCol="0"/>
            <a:lstStyle/>
            <a:p/>
          </p:txBody>
        </p:sp>
        <p:sp>
          <p:nvSpPr>
            <p:cNvPr id="133" name="object 133" descr=""/>
            <p:cNvSpPr/>
            <p:nvPr/>
          </p:nvSpPr>
          <p:spPr>
            <a:xfrm>
              <a:off x="3223056" y="4037050"/>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1143"/>
                  </a:moveTo>
                  <a:lnTo>
                    <a:pt x="17843" y="1143"/>
                  </a:lnTo>
                  <a:lnTo>
                    <a:pt x="17843" y="24523"/>
                  </a:lnTo>
                  <a:lnTo>
                    <a:pt x="660" y="24523"/>
                  </a:lnTo>
                  <a:lnTo>
                    <a:pt x="660" y="1143"/>
                  </a:lnTo>
                  <a:close/>
                </a:path>
              </a:pathLst>
            </a:custGeom>
            <a:ln w="3175">
              <a:solidFill>
                <a:srgbClr val="9BD3F0"/>
              </a:solidFill>
            </a:ln>
          </p:spPr>
          <p:txBody>
            <a:bodyPr wrap="square" lIns="0" tIns="0" rIns="0" bIns="0" rtlCol="0"/>
            <a:lstStyle/>
            <a:p/>
          </p:txBody>
        </p:sp>
        <p:sp>
          <p:nvSpPr>
            <p:cNvPr id="134" name="object 134" descr=""/>
            <p:cNvSpPr/>
            <p:nvPr/>
          </p:nvSpPr>
          <p:spPr>
            <a:xfrm>
              <a:off x="3249498" y="4037050"/>
              <a:ext cx="19050" cy="25400"/>
            </a:xfrm>
            <a:custGeom>
              <a:avLst/>
              <a:gdLst/>
              <a:ahLst/>
              <a:cxnLst/>
              <a:rect l="l" t="t" r="r" b="b"/>
              <a:pathLst>
                <a:path w="19050" h="25400">
                  <a:moveTo>
                    <a:pt x="18503" y="0"/>
                  </a:moveTo>
                  <a:lnTo>
                    <a:pt x="0" y="0"/>
                  </a:lnTo>
                  <a:lnTo>
                    <a:pt x="0" y="571"/>
                  </a:lnTo>
                  <a:lnTo>
                    <a:pt x="0" y="25095"/>
                  </a:lnTo>
                  <a:lnTo>
                    <a:pt x="17843" y="25095"/>
                  </a:lnTo>
                  <a:lnTo>
                    <a:pt x="18503" y="25095"/>
                  </a:lnTo>
                  <a:lnTo>
                    <a:pt x="18503" y="24396"/>
                  </a:lnTo>
                  <a:lnTo>
                    <a:pt x="18503" y="685"/>
                  </a:lnTo>
                  <a:lnTo>
                    <a:pt x="18503" y="0"/>
                  </a:lnTo>
                  <a:close/>
                </a:path>
              </a:pathLst>
            </a:custGeom>
            <a:solidFill>
              <a:srgbClr val="7FA6C8"/>
            </a:solidFill>
          </p:spPr>
          <p:txBody>
            <a:bodyPr wrap="square" lIns="0" tIns="0" rIns="0" bIns="0" rtlCol="0"/>
            <a:lstStyle/>
            <a:p/>
          </p:txBody>
        </p:sp>
        <p:sp>
          <p:nvSpPr>
            <p:cNvPr id="135" name="object 135" descr=""/>
            <p:cNvSpPr/>
            <p:nvPr/>
          </p:nvSpPr>
          <p:spPr>
            <a:xfrm>
              <a:off x="3249498" y="4037050"/>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1143"/>
                  </a:moveTo>
                  <a:lnTo>
                    <a:pt x="17183" y="1143"/>
                  </a:lnTo>
                  <a:lnTo>
                    <a:pt x="17183" y="24523"/>
                  </a:lnTo>
                  <a:lnTo>
                    <a:pt x="660" y="24523"/>
                  </a:lnTo>
                  <a:lnTo>
                    <a:pt x="660" y="1143"/>
                  </a:lnTo>
                  <a:close/>
                </a:path>
              </a:pathLst>
            </a:custGeom>
            <a:ln w="3175">
              <a:solidFill>
                <a:srgbClr val="9BD3F0"/>
              </a:solidFill>
            </a:ln>
          </p:spPr>
          <p:txBody>
            <a:bodyPr wrap="square" lIns="0" tIns="0" rIns="0" bIns="0" rtlCol="0"/>
            <a:lstStyle/>
            <a:p/>
          </p:txBody>
        </p:sp>
        <p:sp>
          <p:nvSpPr>
            <p:cNvPr id="136" name="object 136" descr=""/>
            <p:cNvSpPr/>
            <p:nvPr/>
          </p:nvSpPr>
          <p:spPr>
            <a:xfrm>
              <a:off x="3275253" y="4037050"/>
              <a:ext cx="19050" cy="25400"/>
            </a:xfrm>
            <a:custGeom>
              <a:avLst/>
              <a:gdLst/>
              <a:ahLst/>
              <a:cxnLst/>
              <a:rect l="l" t="t" r="r" b="b"/>
              <a:pathLst>
                <a:path w="19050" h="25400">
                  <a:moveTo>
                    <a:pt x="18503" y="0"/>
                  </a:moveTo>
                  <a:lnTo>
                    <a:pt x="0" y="0"/>
                  </a:lnTo>
                  <a:lnTo>
                    <a:pt x="0" y="25095"/>
                  </a:lnTo>
                  <a:lnTo>
                    <a:pt x="673" y="25095"/>
                  </a:lnTo>
                  <a:lnTo>
                    <a:pt x="18503" y="25095"/>
                  </a:lnTo>
                  <a:lnTo>
                    <a:pt x="18503" y="24396"/>
                  </a:lnTo>
                  <a:lnTo>
                    <a:pt x="18503" y="685"/>
                  </a:lnTo>
                  <a:lnTo>
                    <a:pt x="18503" y="0"/>
                  </a:lnTo>
                  <a:close/>
                </a:path>
              </a:pathLst>
            </a:custGeom>
            <a:solidFill>
              <a:srgbClr val="7FA6C8"/>
            </a:solidFill>
          </p:spPr>
          <p:txBody>
            <a:bodyPr wrap="square" lIns="0" tIns="0" rIns="0" bIns="0" rtlCol="0"/>
            <a:lstStyle/>
            <a:p/>
          </p:txBody>
        </p:sp>
        <p:sp>
          <p:nvSpPr>
            <p:cNvPr id="137" name="object 137" descr=""/>
            <p:cNvSpPr/>
            <p:nvPr/>
          </p:nvSpPr>
          <p:spPr>
            <a:xfrm>
              <a:off x="3275266" y="4037050"/>
              <a:ext cx="19050" cy="25400"/>
            </a:xfrm>
            <a:custGeom>
              <a:avLst/>
              <a:gdLst/>
              <a:ahLst/>
              <a:cxnLst/>
              <a:rect l="l" t="t" r="r" b="b"/>
              <a:pathLst>
                <a:path w="19050" h="25400">
                  <a:moveTo>
                    <a:pt x="0" y="0"/>
                  </a:moveTo>
                  <a:lnTo>
                    <a:pt x="18503" y="0"/>
                  </a:lnTo>
                  <a:lnTo>
                    <a:pt x="18503" y="25095"/>
                  </a:lnTo>
                  <a:lnTo>
                    <a:pt x="0" y="25095"/>
                  </a:lnTo>
                  <a:lnTo>
                    <a:pt x="0" y="0"/>
                  </a:lnTo>
                  <a:close/>
                </a:path>
                <a:path w="19050" h="25400">
                  <a:moveTo>
                    <a:pt x="660" y="1143"/>
                  </a:moveTo>
                  <a:lnTo>
                    <a:pt x="17843" y="1143"/>
                  </a:lnTo>
                  <a:lnTo>
                    <a:pt x="17843" y="24523"/>
                  </a:lnTo>
                  <a:lnTo>
                    <a:pt x="660" y="24523"/>
                  </a:lnTo>
                  <a:lnTo>
                    <a:pt x="660" y="1143"/>
                  </a:lnTo>
                  <a:close/>
                </a:path>
              </a:pathLst>
            </a:custGeom>
            <a:ln w="3175">
              <a:solidFill>
                <a:srgbClr val="9BD3F0"/>
              </a:solidFill>
            </a:ln>
          </p:spPr>
          <p:txBody>
            <a:bodyPr wrap="square" lIns="0" tIns="0" rIns="0" bIns="0" rtlCol="0"/>
            <a:lstStyle/>
            <a:p/>
          </p:txBody>
        </p:sp>
        <p:sp>
          <p:nvSpPr>
            <p:cNvPr id="138" name="object 138" descr=""/>
            <p:cNvSpPr/>
            <p:nvPr/>
          </p:nvSpPr>
          <p:spPr>
            <a:xfrm>
              <a:off x="3303676" y="4037050"/>
              <a:ext cx="18415" cy="25400"/>
            </a:xfrm>
            <a:custGeom>
              <a:avLst/>
              <a:gdLst/>
              <a:ahLst/>
              <a:cxnLst/>
              <a:rect l="l" t="t" r="r" b="b"/>
              <a:pathLst>
                <a:path w="18414" h="25400">
                  <a:moveTo>
                    <a:pt x="17843" y="0"/>
                  </a:moveTo>
                  <a:lnTo>
                    <a:pt x="0" y="0"/>
                  </a:lnTo>
                  <a:lnTo>
                    <a:pt x="0" y="571"/>
                  </a:lnTo>
                  <a:lnTo>
                    <a:pt x="0" y="25095"/>
                  </a:lnTo>
                  <a:lnTo>
                    <a:pt x="17843" y="25095"/>
                  </a:lnTo>
                  <a:lnTo>
                    <a:pt x="17843" y="24396"/>
                  </a:lnTo>
                  <a:lnTo>
                    <a:pt x="17843" y="685"/>
                  </a:lnTo>
                  <a:lnTo>
                    <a:pt x="17843" y="0"/>
                  </a:lnTo>
                  <a:close/>
                </a:path>
              </a:pathLst>
            </a:custGeom>
            <a:solidFill>
              <a:srgbClr val="7FA6C8"/>
            </a:solidFill>
          </p:spPr>
          <p:txBody>
            <a:bodyPr wrap="square" lIns="0" tIns="0" rIns="0" bIns="0" rtlCol="0"/>
            <a:lstStyle/>
            <a:p/>
          </p:txBody>
        </p:sp>
        <p:sp>
          <p:nvSpPr>
            <p:cNvPr id="139" name="object 139" descr=""/>
            <p:cNvSpPr/>
            <p:nvPr/>
          </p:nvSpPr>
          <p:spPr>
            <a:xfrm>
              <a:off x="3303689" y="4037050"/>
              <a:ext cx="18415" cy="25400"/>
            </a:xfrm>
            <a:custGeom>
              <a:avLst/>
              <a:gdLst/>
              <a:ahLst/>
              <a:cxnLst/>
              <a:rect l="l" t="t" r="r" b="b"/>
              <a:pathLst>
                <a:path w="18414" h="25400">
                  <a:moveTo>
                    <a:pt x="0" y="0"/>
                  </a:moveTo>
                  <a:lnTo>
                    <a:pt x="17843" y="0"/>
                  </a:lnTo>
                  <a:lnTo>
                    <a:pt x="17843" y="25095"/>
                  </a:lnTo>
                  <a:lnTo>
                    <a:pt x="0" y="25095"/>
                  </a:lnTo>
                  <a:lnTo>
                    <a:pt x="0" y="0"/>
                  </a:lnTo>
                  <a:close/>
                </a:path>
                <a:path w="18414" h="25400">
                  <a:moveTo>
                    <a:pt x="660" y="1143"/>
                  </a:moveTo>
                  <a:lnTo>
                    <a:pt x="17183" y="1143"/>
                  </a:lnTo>
                  <a:lnTo>
                    <a:pt x="17183" y="24523"/>
                  </a:lnTo>
                  <a:lnTo>
                    <a:pt x="660" y="24523"/>
                  </a:lnTo>
                  <a:lnTo>
                    <a:pt x="660" y="1143"/>
                  </a:lnTo>
                  <a:close/>
                </a:path>
              </a:pathLst>
            </a:custGeom>
            <a:ln w="3175">
              <a:solidFill>
                <a:srgbClr val="9BD3F0"/>
              </a:solidFill>
            </a:ln>
          </p:spPr>
          <p:txBody>
            <a:bodyPr wrap="square" lIns="0" tIns="0" rIns="0" bIns="0" rtlCol="0"/>
            <a:lstStyle/>
            <a:p/>
          </p:txBody>
        </p:sp>
        <p:sp>
          <p:nvSpPr>
            <p:cNvPr id="140" name="object 140" descr=""/>
            <p:cNvSpPr/>
            <p:nvPr/>
          </p:nvSpPr>
          <p:spPr>
            <a:xfrm>
              <a:off x="3146729" y="3628720"/>
              <a:ext cx="138430" cy="207010"/>
            </a:xfrm>
            <a:custGeom>
              <a:avLst/>
              <a:gdLst/>
              <a:ahLst/>
              <a:cxnLst/>
              <a:rect l="l" t="t" r="r" b="b"/>
              <a:pathLst>
                <a:path w="138429" h="207010">
                  <a:moveTo>
                    <a:pt x="138112" y="0"/>
                  </a:moveTo>
                  <a:lnTo>
                    <a:pt x="0" y="0"/>
                  </a:lnTo>
                  <a:lnTo>
                    <a:pt x="0" y="206489"/>
                  </a:lnTo>
                  <a:lnTo>
                    <a:pt x="138112" y="206489"/>
                  </a:lnTo>
                  <a:lnTo>
                    <a:pt x="138112" y="0"/>
                  </a:lnTo>
                  <a:close/>
                </a:path>
              </a:pathLst>
            </a:custGeom>
            <a:solidFill>
              <a:srgbClr val="92D050">
                <a:alpha val="50195"/>
              </a:srgbClr>
            </a:solidFill>
          </p:spPr>
          <p:txBody>
            <a:bodyPr wrap="square" lIns="0" tIns="0" rIns="0" bIns="0" rtlCol="0"/>
            <a:lstStyle/>
            <a:p/>
          </p:txBody>
        </p:sp>
        <p:pic>
          <p:nvPicPr>
            <p:cNvPr id="141" name="object 141"/>
            <p:cNvPicPr/>
            <p:nvPr/>
          </p:nvPicPr>
          <p:blipFill>
            <a:blip r:embed="rId22" cstate="print"/>
            <a:stretch>
              <a:fillRect/>
            </a:stretch>
          </p:blipFill>
          <p:spPr>
            <a:xfrm>
              <a:off x="3105061" y="3629284"/>
              <a:ext cx="92885" cy="212807"/>
            </a:xfrm>
            <a:prstGeom prst="rect">
              <a:avLst/>
            </a:prstGeom>
          </p:spPr>
        </p:pic>
        <p:sp>
          <p:nvSpPr>
            <p:cNvPr id="142" name="object 142" descr=""/>
            <p:cNvSpPr/>
            <p:nvPr/>
          </p:nvSpPr>
          <p:spPr>
            <a:xfrm>
              <a:off x="3084779" y="3858767"/>
              <a:ext cx="138430" cy="205104"/>
            </a:xfrm>
            <a:custGeom>
              <a:avLst/>
              <a:gdLst/>
              <a:ahLst/>
              <a:cxnLst/>
              <a:rect l="l" t="t" r="r" b="b"/>
              <a:pathLst>
                <a:path w="138430" h="205104">
                  <a:moveTo>
                    <a:pt x="138112" y="0"/>
                  </a:moveTo>
                  <a:lnTo>
                    <a:pt x="0" y="0"/>
                  </a:lnTo>
                  <a:lnTo>
                    <a:pt x="0" y="205016"/>
                  </a:lnTo>
                  <a:lnTo>
                    <a:pt x="138112" y="205016"/>
                  </a:lnTo>
                  <a:lnTo>
                    <a:pt x="138112" y="0"/>
                  </a:lnTo>
                  <a:close/>
                </a:path>
              </a:pathLst>
            </a:custGeom>
            <a:solidFill>
              <a:srgbClr val="92D050">
                <a:alpha val="50195"/>
              </a:srgbClr>
            </a:solidFill>
          </p:spPr>
          <p:txBody>
            <a:bodyPr wrap="square" lIns="0" tIns="0" rIns="0" bIns="0" rtlCol="0"/>
            <a:lstStyle/>
            <a:p/>
          </p:txBody>
        </p:sp>
        <p:pic>
          <p:nvPicPr>
            <p:cNvPr id="143" name="object 143"/>
            <p:cNvPicPr/>
            <p:nvPr/>
          </p:nvPicPr>
          <p:blipFill>
            <a:blip r:embed="rId22" cstate="print"/>
            <a:stretch>
              <a:fillRect/>
            </a:stretch>
          </p:blipFill>
          <p:spPr>
            <a:xfrm>
              <a:off x="3043110" y="3858356"/>
              <a:ext cx="92885" cy="211282"/>
            </a:xfrm>
            <a:prstGeom prst="rect">
              <a:avLst/>
            </a:prstGeom>
          </p:spPr>
        </p:pic>
        <p:sp>
          <p:nvSpPr>
            <p:cNvPr id="144" name="object 144" descr=""/>
            <p:cNvSpPr/>
            <p:nvPr/>
          </p:nvSpPr>
          <p:spPr>
            <a:xfrm>
              <a:off x="3178014" y="3657884"/>
              <a:ext cx="22860" cy="36195"/>
            </a:xfrm>
            <a:custGeom>
              <a:avLst/>
              <a:gdLst/>
              <a:ahLst/>
              <a:cxnLst/>
              <a:rect l="l" t="t" r="r" b="b"/>
              <a:pathLst>
                <a:path w="22860" h="36195">
                  <a:moveTo>
                    <a:pt x="0" y="0"/>
                  </a:moveTo>
                  <a:lnTo>
                    <a:pt x="8880" y="2822"/>
                  </a:lnTo>
                  <a:lnTo>
                    <a:pt x="16135" y="10518"/>
                  </a:lnTo>
                  <a:lnTo>
                    <a:pt x="21027" y="21934"/>
                  </a:lnTo>
                  <a:lnTo>
                    <a:pt x="22821" y="35915"/>
                  </a:lnTo>
                </a:path>
              </a:pathLst>
            </a:custGeom>
            <a:ln w="9525">
              <a:solidFill>
                <a:srgbClr val="B6DCDF"/>
              </a:solidFill>
            </a:ln>
          </p:spPr>
          <p:txBody>
            <a:bodyPr wrap="square" lIns="0" tIns="0" rIns="0" bIns="0" rtlCol="0"/>
            <a:lstStyle/>
            <a:p/>
          </p:txBody>
        </p:sp>
        <p:sp>
          <p:nvSpPr>
            <p:cNvPr id="145" name="object 145" descr=""/>
            <p:cNvSpPr/>
            <p:nvPr/>
          </p:nvSpPr>
          <p:spPr>
            <a:xfrm>
              <a:off x="3190218" y="3630612"/>
              <a:ext cx="35560" cy="57150"/>
            </a:xfrm>
            <a:custGeom>
              <a:avLst/>
              <a:gdLst/>
              <a:ahLst/>
              <a:cxnLst/>
              <a:rect l="l" t="t" r="r" b="b"/>
              <a:pathLst>
                <a:path w="35560" h="57150">
                  <a:moveTo>
                    <a:pt x="0" y="0"/>
                  </a:moveTo>
                  <a:lnTo>
                    <a:pt x="13630" y="4458"/>
                  </a:lnTo>
                  <a:lnTo>
                    <a:pt x="24760" y="16614"/>
                  </a:lnTo>
                  <a:lnTo>
                    <a:pt x="32262" y="34643"/>
                  </a:lnTo>
                  <a:lnTo>
                    <a:pt x="35013" y="56718"/>
                  </a:lnTo>
                </a:path>
              </a:pathLst>
            </a:custGeom>
            <a:ln w="9525">
              <a:solidFill>
                <a:srgbClr val="B6DCDF"/>
              </a:solidFill>
            </a:ln>
          </p:spPr>
          <p:txBody>
            <a:bodyPr wrap="square" lIns="0" tIns="0" rIns="0" bIns="0" rtlCol="0"/>
            <a:lstStyle/>
            <a:p/>
          </p:txBody>
        </p:sp>
        <p:sp>
          <p:nvSpPr>
            <p:cNvPr id="146" name="object 146" descr=""/>
            <p:cNvSpPr/>
            <p:nvPr/>
          </p:nvSpPr>
          <p:spPr>
            <a:xfrm>
              <a:off x="3217651" y="3618749"/>
              <a:ext cx="36830" cy="65405"/>
            </a:xfrm>
            <a:custGeom>
              <a:avLst/>
              <a:gdLst/>
              <a:ahLst/>
              <a:cxnLst/>
              <a:rect l="l" t="t" r="r" b="b"/>
              <a:pathLst>
                <a:path w="36829" h="65404">
                  <a:moveTo>
                    <a:pt x="0" y="0"/>
                  </a:moveTo>
                  <a:lnTo>
                    <a:pt x="14196" y="4812"/>
                  </a:lnTo>
                  <a:lnTo>
                    <a:pt x="25790" y="17938"/>
                  </a:lnTo>
                  <a:lnTo>
                    <a:pt x="33607" y="37408"/>
                  </a:lnTo>
                  <a:lnTo>
                    <a:pt x="36474" y="61252"/>
                  </a:lnTo>
                  <a:lnTo>
                    <a:pt x="36474" y="62636"/>
                  </a:lnTo>
                  <a:lnTo>
                    <a:pt x="36449" y="64008"/>
                  </a:lnTo>
                  <a:lnTo>
                    <a:pt x="36385" y="65392"/>
                  </a:lnTo>
                </a:path>
              </a:pathLst>
            </a:custGeom>
            <a:ln w="9525">
              <a:solidFill>
                <a:srgbClr val="B6DCDF"/>
              </a:solidFill>
            </a:ln>
          </p:spPr>
          <p:txBody>
            <a:bodyPr wrap="square" lIns="0" tIns="0" rIns="0" bIns="0" rtlCol="0"/>
            <a:lstStyle/>
            <a:p/>
          </p:txBody>
        </p:sp>
        <p:sp>
          <p:nvSpPr>
            <p:cNvPr id="147" name="object 147" descr=""/>
            <p:cNvSpPr/>
            <p:nvPr/>
          </p:nvSpPr>
          <p:spPr>
            <a:xfrm>
              <a:off x="3125819" y="3902591"/>
              <a:ext cx="15240" cy="38735"/>
            </a:xfrm>
            <a:custGeom>
              <a:avLst/>
              <a:gdLst/>
              <a:ahLst/>
              <a:cxnLst/>
              <a:rect l="l" t="t" r="r" b="b"/>
              <a:pathLst>
                <a:path w="15239" h="38735">
                  <a:moveTo>
                    <a:pt x="0" y="0"/>
                  </a:moveTo>
                  <a:lnTo>
                    <a:pt x="8390" y="6077"/>
                  </a:lnTo>
                  <a:lnTo>
                    <a:pt x="13485" y="15281"/>
                  </a:lnTo>
                  <a:lnTo>
                    <a:pt x="14892" y="26385"/>
                  </a:lnTo>
                  <a:lnTo>
                    <a:pt x="12217" y="38163"/>
                  </a:lnTo>
                </a:path>
              </a:pathLst>
            </a:custGeom>
            <a:ln w="9525">
              <a:solidFill>
                <a:srgbClr val="B6DCDF"/>
              </a:solidFill>
            </a:ln>
          </p:spPr>
          <p:txBody>
            <a:bodyPr wrap="square" lIns="0" tIns="0" rIns="0" bIns="0" rtlCol="0"/>
            <a:lstStyle/>
            <a:p/>
          </p:txBody>
        </p:sp>
        <p:sp>
          <p:nvSpPr>
            <p:cNvPr id="148" name="object 148" descr=""/>
            <p:cNvSpPr/>
            <p:nvPr/>
          </p:nvSpPr>
          <p:spPr>
            <a:xfrm>
              <a:off x="3149056" y="3882702"/>
              <a:ext cx="22860" cy="60325"/>
            </a:xfrm>
            <a:custGeom>
              <a:avLst/>
              <a:gdLst/>
              <a:ahLst/>
              <a:cxnLst/>
              <a:rect l="l" t="t" r="r" b="b"/>
              <a:pathLst>
                <a:path w="22860" h="60325">
                  <a:moveTo>
                    <a:pt x="0" y="0"/>
                  </a:moveTo>
                  <a:lnTo>
                    <a:pt x="12839" y="9430"/>
                  </a:lnTo>
                  <a:lnTo>
                    <a:pt x="20547" y="23828"/>
                  </a:lnTo>
                  <a:lnTo>
                    <a:pt x="22536" y="41269"/>
                  </a:lnTo>
                  <a:lnTo>
                    <a:pt x="18224" y="59829"/>
                  </a:lnTo>
                </a:path>
              </a:pathLst>
            </a:custGeom>
            <a:ln w="9525">
              <a:solidFill>
                <a:srgbClr val="B6DCDF"/>
              </a:solidFill>
            </a:ln>
          </p:spPr>
          <p:txBody>
            <a:bodyPr wrap="square" lIns="0" tIns="0" rIns="0" bIns="0" rtlCol="0"/>
            <a:lstStyle/>
            <a:p/>
          </p:txBody>
        </p:sp>
        <p:sp>
          <p:nvSpPr>
            <p:cNvPr id="149" name="object 149" descr=""/>
            <p:cNvSpPr/>
            <p:nvPr/>
          </p:nvSpPr>
          <p:spPr>
            <a:xfrm>
              <a:off x="3179132" y="3882328"/>
              <a:ext cx="23495" cy="64135"/>
            </a:xfrm>
            <a:custGeom>
              <a:avLst/>
              <a:gdLst/>
              <a:ahLst/>
              <a:cxnLst/>
              <a:rect l="l" t="t" r="r" b="b"/>
              <a:pathLst>
                <a:path w="23494" h="64135">
                  <a:moveTo>
                    <a:pt x="0" y="0"/>
                  </a:moveTo>
                  <a:lnTo>
                    <a:pt x="13315" y="9953"/>
                  </a:lnTo>
                  <a:lnTo>
                    <a:pt x="21191" y="25314"/>
                  </a:lnTo>
                  <a:lnTo>
                    <a:pt x="23040" y="44023"/>
                  </a:lnTo>
                  <a:lnTo>
                    <a:pt x="18275" y="64020"/>
                  </a:lnTo>
                </a:path>
              </a:pathLst>
            </a:custGeom>
            <a:ln w="9525">
              <a:solidFill>
                <a:srgbClr val="B6DCDF"/>
              </a:solidFill>
            </a:ln>
          </p:spPr>
          <p:txBody>
            <a:bodyPr wrap="square" lIns="0" tIns="0" rIns="0" bIns="0" rtlCol="0"/>
            <a:lstStyle/>
            <a:p/>
          </p:txBody>
        </p:sp>
        <p:pic>
          <p:nvPicPr>
            <p:cNvPr id="150" name="object 150" descr=""/>
            <p:cNvPicPr/>
            <p:nvPr/>
          </p:nvPicPr>
          <p:blipFill>
            <a:blip r:embed="rId23" cstate="print"/>
            <a:stretch>
              <a:fillRect/>
            </a:stretch>
          </p:blipFill>
          <p:spPr>
            <a:xfrm>
              <a:off x="3741346" y="3641506"/>
              <a:ext cx="248349" cy="417968"/>
            </a:xfrm>
            <a:prstGeom prst="rect">
              <a:avLst/>
            </a:prstGeom>
          </p:spPr>
        </p:pic>
        <p:sp>
          <p:nvSpPr>
            <p:cNvPr id="151" name="object 151" descr=""/>
            <p:cNvSpPr/>
            <p:nvPr/>
          </p:nvSpPr>
          <p:spPr>
            <a:xfrm>
              <a:off x="3973423" y="3705707"/>
              <a:ext cx="31750" cy="34290"/>
            </a:xfrm>
            <a:custGeom>
              <a:avLst/>
              <a:gdLst/>
              <a:ahLst/>
              <a:cxnLst/>
              <a:rect l="l" t="t" r="r" b="b"/>
              <a:pathLst>
                <a:path w="31750" h="34289">
                  <a:moveTo>
                    <a:pt x="31546" y="0"/>
                  </a:moveTo>
                  <a:lnTo>
                    <a:pt x="0" y="0"/>
                  </a:lnTo>
                  <a:lnTo>
                    <a:pt x="0" y="34137"/>
                  </a:lnTo>
                  <a:lnTo>
                    <a:pt x="31546" y="34137"/>
                  </a:lnTo>
                  <a:lnTo>
                    <a:pt x="31546" y="0"/>
                  </a:lnTo>
                  <a:close/>
                </a:path>
              </a:pathLst>
            </a:custGeom>
            <a:solidFill>
              <a:srgbClr val="CECECE"/>
            </a:solidFill>
          </p:spPr>
          <p:txBody>
            <a:bodyPr wrap="square" lIns="0" tIns="0" rIns="0" bIns="0" rtlCol="0"/>
            <a:lstStyle/>
            <a:p/>
          </p:txBody>
        </p:sp>
        <p:sp>
          <p:nvSpPr>
            <p:cNvPr id="152" name="object 152" descr=""/>
            <p:cNvSpPr/>
            <p:nvPr/>
          </p:nvSpPr>
          <p:spPr>
            <a:xfrm>
              <a:off x="3974026" y="3706163"/>
              <a:ext cx="29845" cy="32384"/>
            </a:xfrm>
            <a:custGeom>
              <a:avLst/>
              <a:gdLst/>
              <a:ahLst/>
              <a:cxnLst/>
              <a:rect l="l" t="t" r="r" b="b"/>
              <a:pathLst>
                <a:path w="29845" h="32385">
                  <a:moveTo>
                    <a:pt x="27990" y="0"/>
                  </a:moveTo>
                  <a:lnTo>
                    <a:pt x="660" y="29095"/>
                  </a:lnTo>
                  <a:lnTo>
                    <a:pt x="101" y="29667"/>
                  </a:lnTo>
                  <a:lnTo>
                    <a:pt x="0" y="30746"/>
                  </a:lnTo>
                  <a:lnTo>
                    <a:pt x="939" y="32270"/>
                  </a:lnTo>
                  <a:lnTo>
                    <a:pt x="1765" y="32334"/>
                  </a:lnTo>
                  <a:lnTo>
                    <a:pt x="29095" y="3238"/>
                  </a:lnTo>
                  <a:lnTo>
                    <a:pt x="29705" y="2667"/>
                  </a:lnTo>
                  <a:lnTo>
                    <a:pt x="29756" y="1587"/>
                  </a:lnTo>
                  <a:lnTo>
                    <a:pt x="29311" y="787"/>
                  </a:lnTo>
                  <a:lnTo>
                    <a:pt x="28816" y="76"/>
                  </a:lnTo>
                  <a:lnTo>
                    <a:pt x="27990" y="0"/>
                  </a:lnTo>
                  <a:close/>
                </a:path>
              </a:pathLst>
            </a:custGeom>
            <a:solidFill>
              <a:srgbClr val="FFFFFF"/>
            </a:solidFill>
          </p:spPr>
          <p:txBody>
            <a:bodyPr wrap="square" lIns="0" tIns="0" rIns="0" bIns="0" rtlCol="0"/>
            <a:lstStyle/>
            <a:p/>
          </p:txBody>
        </p:sp>
        <p:sp>
          <p:nvSpPr>
            <p:cNvPr id="153" name="object 153" descr=""/>
            <p:cNvSpPr/>
            <p:nvPr/>
          </p:nvSpPr>
          <p:spPr>
            <a:xfrm>
              <a:off x="3974026" y="3706163"/>
              <a:ext cx="29845" cy="32384"/>
            </a:xfrm>
            <a:custGeom>
              <a:avLst/>
              <a:gdLst/>
              <a:ahLst/>
              <a:cxnLst/>
              <a:rect l="l" t="t" r="r" b="b"/>
              <a:pathLst>
                <a:path w="29845" h="32385">
                  <a:moveTo>
                    <a:pt x="660" y="29095"/>
                  </a:moveTo>
                  <a:lnTo>
                    <a:pt x="27432" y="571"/>
                  </a:lnTo>
                  <a:lnTo>
                    <a:pt x="27990" y="0"/>
                  </a:lnTo>
                  <a:lnTo>
                    <a:pt x="28816" y="76"/>
                  </a:lnTo>
                  <a:lnTo>
                    <a:pt x="29311" y="787"/>
                  </a:lnTo>
                  <a:lnTo>
                    <a:pt x="29756" y="1587"/>
                  </a:lnTo>
                  <a:lnTo>
                    <a:pt x="29705" y="2667"/>
                  </a:lnTo>
                  <a:lnTo>
                    <a:pt x="29095" y="3238"/>
                  </a:lnTo>
                  <a:lnTo>
                    <a:pt x="2324" y="31762"/>
                  </a:lnTo>
                  <a:lnTo>
                    <a:pt x="1765" y="32334"/>
                  </a:lnTo>
                  <a:lnTo>
                    <a:pt x="939" y="32270"/>
                  </a:lnTo>
                  <a:lnTo>
                    <a:pt x="495" y="31546"/>
                  </a:lnTo>
                  <a:lnTo>
                    <a:pt x="0" y="30746"/>
                  </a:lnTo>
                  <a:lnTo>
                    <a:pt x="101" y="29667"/>
                  </a:lnTo>
                  <a:lnTo>
                    <a:pt x="660" y="29095"/>
                  </a:lnTo>
                  <a:close/>
                </a:path>
              </a:pathLst>
            </a:custGeom>
            <a:ln w="3175">
              <a:solidFill>
                <a:srgbClr val="000000"/>
              </a:solidFill>
            </a:ln>
          </p:spPr>
          <p:txBody>
            <a:bodyPr wrap="square" lIns="0" tIns="0" rIns="0" bIns="0" rtlCol="0"/>
            <a:lstStyle/>
            <a:p/>
          </p:txBody>
        </p:sp>
        <p:sp>
          <p:nvSpPr>
            <p:cNvPr id="154" name="object 154" descr=""/>
            <p:cNvSpPr/>
            <p:nvPr/>
          </p:nvSpPr>
          <p:spPr>
            <a:xfrm>
              <a:off x="3973423" y="3705707"/>
              <a:ext cx="31750" cy="34290"/>
            </a:xfrm>
            <a:custGeom>
              <a:avLst/>
              <a:gdLst/>
              <a:ahLst/>
              <a:cxnLst/>
              <a:rect l="l" t="t" r="r" b="b"/>
              <a:pathLst>
                <a:path w="31750" h="34289">
                  <a:moveTo>
                    <a:pt x="31546" y="0"/>
                  </a:moveTo>
                  <a:lnTo>
                    <a:pt x="0" y="0"/>
                  </a:lnTo>
                  <a:lnTo>
                    <a:pt x="0" y="34137"/>
                  </a:lnTo>
                  <a:lnTo>
                    <a:pt x="31546" y="34137"/>
                  </a:lnTo>
                  <a:lnTo>
                    <a:pt x="31546" y="0"/>
                  </a:lnTo>
                  <a:close/>
                </a:path>
              </a:pathLst>
            </a:custGeom>
            <a:solidFill>
              <a:srgbClr val="CECECE"/>
            </a:solidFill>
          </p:spPr>
          <p:txBody>
            <a:bodyPr wrap="square" lIns="0" tIns="0" rIns="0" bIns="0" rtlCol="0"/>
            <a:lstStyle/>
            <a:p/>
          </p:txBody>
        </p:sp>
        <p:sp>
          <p:nvSpPr>
            <p:cNvPr id="155" name="object 155" descr=""/>
            <p:cNvSpPr/>
            <p:nvPr/>
          </p:nvSpPr>
          <p:spPr>
            <a:xfrm>
              <a:off x="3974023" y="3705717"/>
              <a:ext cx="27305" cy="29209"/>
            </a:xfrm>
            <a:custGeom>
              <a:avLst/>
              <a:gdLst/>
              <a:ahLst/>
              <a:cxnLst/>
              <a:rect l="l" t="t" r="r" b="b"/>
              <a:pathLst>
                <a:path w="27304" h="29210">
                  <a:moveTo>
                    <a:pt x="0" y="28740"/>
                  </a:moveTo>
                  <a:lnTo>
                    <a:pt x="26784" y="0"/>
                  </a:lnTo>
                </a:path>
              </a:pathLst>
            </a:custGeom>
            <a:ln w="7937">
              <a:solidFill>
                <a:srgbClr val="FFFFFF"/>
              </a:solidFill>
            </a:ln>
          </p:spPr>
          <p:txBody>
            <a:bodyPr wrap="square" lIns="0" tIns="0" rIns="0" bIns="0" rtlCol="0"/>
            <a:lstStyle/>
            <a:p/>
          </p:txBody>
        </p:sp>
        <p:sp>
          <p:nvSpPr>
            <p:cNvPr id="156" name="object 156" descr=""/>
            <p:cNvSpPr/>
            <p:nvPr/>
          </p:nvSpPr>
          <p:spPr>
            <a:xfrm>
              <a:off x="3973423" y="3737597"/>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57" name="object 157" descr=""/>
            <p:cNvSpPr/>
            <p:nvPr/>
          </p:nvSpPr>
          <p:spPr>
            <a:xfrm>
              <a:off x="3974026" y="3737597"/>
              <a:ext cx="29845" cy="32384"/>
            </a:xfrm>
            <a:custGeom>
              <a:avLst/>
              <a:gdLst/>
              <a:ahLst/>
              <a:cxnLst/>
              <a:rect l="l" t="t" r="r" b="b"/>
              <a:pathLst>
                <a:path w="29845" h="32385">
                  <a:moveTo>
                    <a:pt x="27990" y="0"/>
                  </a:moveTo>
                  <a:lnTo>
                    <a:pt x="27432" y="647"/>
                  </a:lnTo>
                  <a:lnTo>
                    <a:pt x="660" y="29108"/>
                  </a:lnTo>
                  <a:lnTo>
                    <a:pt x="101" y="29679"/>
                  </a:lnTo>
                  <a:lnTo>
                    <a:pt x="0" y="30759"/>
                  </a:lnTo>
                  <a:lnTo>
                    <a:pt x="495" y="31483"/>
                  </a:lnTo>
                  <a:lnTo>
                    <a:pt x="939" y="32270"/>
                  </a:lnTo>
                  <a:lnTo>
                    <a:pt x="1765" y="32346"/>
                  </a:lnTo>
                  <a:lnTo>
                    <a:pt x="29095" y="3314"/>
                  </a:lnTo>
                  <a:lnTo>
                    <a:pt x="29705" y="2730"/>
                  </a:lnTo>
                  <a:lnTo>
                    <a:pt x="29756" y="1587"/>
                  </a:lnTo>
                  <a:lnTo>
                    <a:pt x="28816" y="152"/>
                  </a:lnTo>
                  <a:lnTo>
                    <a:pt x="27990" y="0"/>
                  </a:lnTo>
                  <a:close/>
                </a:path>
              </a:pathLst>
            </a:custGeom>
            <a:solidFill>
              <a:srgbClr val="FFFFFF"/>
            </a:solidFill>
          </p:spPr>
          <p:txBody>
            <a:bodyPr wrap="square" lIns="0" tIns="0" rIns="0" bIns="0" rtlCol="0"/>
            <a:lstStyle/>
            <a:p/>
          </p:txBody>
        </p:sp>
        <p:sp>
          <p:nvSpPr>
            <p:cNvPr id="158" name="object 158" descr=""/>
            <p:cNvSpPr/>
            <p:nvPr/>
          </p:nvSpPr>
          <p:spPr>
            <a:xfrm>
              <a:off x="3974026" y="3737597"/>
              <a:ext cx="29845" cy="32384"/>
            </a:xfrm>
            <a:custGeom>
              <a:avLst/>
              <a:gdLst/>
              <a:ahLst/>
              <a:cxnLst/>
              <a:rect l="l" t="t" r="r" b="b"/>
              <a:pathLst>
                <a:path w="29845" h="32385">
                  <a:moveTo>
                    <a:pt x="660" y="29108"/>
                  </a:moveTo>
                  <a:lnTo>
                    <a:pt x="27432" y="647"/>
                  </a:lnTo>
                  <a:lnTo>
                    <a:pt x="27990" y="0"/>
                  </a:lnTo>
                  <a:lnTo>
                    <a:pt x="28816" y="152"/>
                  </a:lnTo>
                  <a:lnTo>
                    <a:pt x="29311" y="863"/>
                  </a:lnTo>
                  <a:lnTo>
                    <a:pt x="29756" y="1587"/>
                  </a:lnTo>
                  <a:lnTo>
                    <a:pt x="29705" y="2730"/>
                  </a:lnTo>
                  <a:lnTo>
                    <a:pt x="29095" y="3314"/>
                  </a:lnTo>
                  <a:lnTo>
                    <a:pt x="2324" y="31762"/>
                  </a:lnTo>
                  <a:lnTo>
                    <a:pt x="1765" y="32346"/>
                  </a:lnTo>
                  <a:lnTo>
                    <a:pt x="939" y="32270"/>
                  </a:lnTo>
                  <a:lnTo>
                    <a:pt x="495" y="31483"/>
                  </a:lnTo>
                  <a:lnTo>
                    <a:pt x="0" y="30759"/>
                  </a:lnTo>
                  <a:lnTo>
                    <a:pt x="101" y="29679"/>
                  </a:lnTo>
                  <a:lnTo>
                    <a:pt x="660" y="29108"/>
                  </a:lnTo>
                  <a:close/>
                </a:path>
              </a:pathLst>
            </a:custGeom>
            <a:ln w="3175">
              <a:solidFill>
                <a:srgbClr val="000000"/>
              </a:solidFill>
            </a:ln>
          </p:spPr>
          <p:txBody>
            <a:bodyPr wrap="square" lIns="0" tIns="0" rIns="0" bIns="0" rtlCol="0"/>
            <a:lstStyle/>
            <a:p/>
          </p:txBody>
        </p:sp>
        <p:sp>
          <p:nvSpPr>
            <p:cNvPr id="159" name="object 159" descr=""/>
            <p:cNvSpPr/>
            <p:nvPr/>
          </p:nvSpPr>
          <p:spPr>
            <a:xfrm>
              <a:off x="3973423" y="3737597"/>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60" name="object 160" descr=""/>
            <p:cNvSpPr/>
            <p:nvPr/>
          </p:nvSpPr>
          <p:spPr>
            <a:xfrm>
              <a:off x="3974023" y="3737601"/>
              <a:ext cx="27305" cy="28575"/>
            </a:xfrm>
            <a:custGeom>
              <a:avLst/>
              <a:gdLst/>
              <a:ahLst/>
              <a:cxnLst/>
              <a:rect l="l" t="t" r="r" b="b"/>
              <a:pathLst>
                <a:path w="27304" h="28575">
                  <a:moveTo>
                    <a:pt x="0" y="28295"/>
                  </a:moveTo>
                  <a:lnTo>
                    <a:pt x="26784" y="0"/>
                  </a:lnTo>
                </a:path>
              </a:pathLst>
            </a:custGeom>
            <a:ln w="7937">
              <a:solidFill>
                <a:srgbClr val="FFFFFF"/>
              </a:solidFill>
            </a:ln>
          </p:spPr>
          <p:txBody>
            <a:bodyPr wrap="square" lIns="0" tIns="0" rIns="0" bIns="0" rtlCol="0"/>
            <a:lstStyle/>
            <a:p/>
          </p:txBody>
        </p:sp>
        <p:sp>
          <p:nvSpPr>
            <p:cNvPr id="161" name="object 161" descr=""/>
            <p:cNvSpPr/>
            <p:nvPr/>
          </p:nvSpPr>
          <p:spPr>
            <a:xfrm>
              <a:off x="3973423" y="3768597"/>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62" name="object 162" descr=""/>
            <p:cNvSpPr/>
            <p:nvPr/>
          </p:nvSpPr>
          <p:spPr>
            <a:xfrm>
              <a:off x="3974026" y="3769490"/>
              <a:ext cx="29845" cy="32384"/>
            </a:xfrm>
            <a:custGeom>
              <a:avLst/>
              <a:gdLst/>
              <a:ahLst/>
              <a:cxnLst/>
              <a:rect l="l" t="t" r="r" b="b"/>
              <a:pathLst>
                <a:path w="29845" h="32385">
                  <a:moveTo>
                    <a:pt x="27990" y="0"/>
                  </a:moveTo>
                  <a:lnTo>
                    <a:pt x="27432" y="647"/>
                  </a:lnTo>
                  <a:lnTo>
                    <a:pt x="660" y="29032"/>
                  </a:lnTo>
                  <a:lnTo>
                    <a:pt x="101" y="29679"/>
                  </a:lnTo>
                  <a:lnTo>
                    <a:pt x="0" y="30759"/>
                  </a:lnTo>
                  <a:lnTo>
                    <a:pt x="939" y="32194"/>
                  </a:lnTo>
                  <a:lnTo>
                    <a:pt x="1765" y="32334"/>
                  </a:lnTo>
                  <a:lnTo>
                    <a:pt x="29705" y="2654"/>
                  </a:lnTo>
                  <a:lnTo>
                    <a:pt x="29756" y="1574"/>
                  </a:lnTo>
                  <a:lnTo>
                    <a:pt x="28816" y="139"/>
                  </a:lnTo>
                  <a:lnTo>
                    <a:pt x="27990" y="0"/>
                  </a:lnTo>
                  <a:close/>
                </a:path>
              </a:pathLst>
            </a:custGeom>
            <a:solidFill>
              <a:srgbClr val="FFFFFF"/>
            </a:solidFill>
          </p:spPr>
          <p:txBody>
            <a:bodyPr wrap="square" lIns="0" tIns="0" rIns="0" bIns="0" rtlCol="0"/>
            <a:lstStyle/>
            <a:p/>
          </p:txBody>
        </p:sp>
        <p:sp>
          <p:nvSpPr>
            <p:cNvPr id="163" name="object 163" descr=""/>
            <p:cNvSpPr/>
            <p:nvPr/>
          </p:nvSpPr>
          <p:spPr>
            <a:xfrm>
              <a:off x="3974026" y="3769490"/>
              <a:ext cx="29845" cy="32384"/>
            </a:xfrm>
            <a:custGeom>
              <a:avLst/>
              <a:gdLst/>
              <a:ahLst/>
              <a:cxnLst/>
              <a:rect l="l" t="t" r="r" b="b"/>
              <a:pathLst>
                <a:path w="29845" h="32385">
                  <a:moveTo>
                    <a:pt x="660" y="29032"/>
                  </a:moveTo>
                  <a:lnTo>
                    <a:pt x="27432" y="647"/>
                  </a:lnTo>
                  <a:lnTo>
                    <a:pt x="27990" y="0"/>
                  </a:lnTo>
                  <a:lnTo>
                    <a:pt x="28816" y="139"/>
                  </a:lnTo>
                  <a:lnTo>
                    <a:pt x="29311" y="863"/>
                  </a:lnTo>
                  <a:lnTo>
                    <a:pt x="29756" y="1574"/>
                  </a:lnTo>
                  <a:lnTo>
                    <a:pt x="29705" y="2654"/>
                  </a:lnTo>
                  <a:lnTo>
                    <a:pt x="29095" y="3302"/>
                  </a:lnTo>
                  <a:lnTo>
                    <a:pt x="2324" y="31762"/>
                  </a:lnTo>
                  <a:lnTo>
                    <a:pt x="1765" y="32334"/>
                  </a:lnTo>
                  <a:lnTo>
                    <a:pt x="939" y="32194"/>
                  </a:lnTo>
                  <a:lnTo>
                    <a:pt x="495" y="31470"/>
                  </a:lnTo>
                  <a:lnTo>
                    <a:pt x="0" y="30759"/>
                  </a:lnTo>
                  <a:lnTo>
                    <a:pt x="101" y="29679"/>
                  </a:lnTo>
                  <a:lnTo>
                    <a:pt x="660" y="29032"/>
                  </a:lnTo>
                  <a:close/>
                </a:path>
              </a:pathLst>
            </a:custGeom>
            <a:ln w="3175">
              <a:solidFill>
                <a:srgbClr val="000000"/>
              </a:solidFill>
            </a:ln>
          </p:spPr>
          <p:txBody>
            <a:bodyPr wrap="square" lIns="0" tIns="0" rIns="0" bIns="0" rtlCol="0"/>
            <a:lstStyle/>
            <a:p/>
          </p:txBody>
        </p:sp>
        <p:sp>
          <p:nvSpPr>
            <p:cNvPr id="164" name="object 164" descr=""/>
            <p:cNvSpPr/>
            <p:nvPr/>
          </p:nvSpPr>
          <p:spPr>
            <a:xfrm>
              <a:off x="3973423" y="3768597"/>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65" name="object 165" descr=""/>
            <p:cNvSpPr/>
            <p:nvPr/>
          </p:nvSpPr>
          <p:spPr>
            <a:xfrm>
              <a:off x="3974023" y="3769041"/>
              <a:ext cx="27305" cy="28575"/>
            </a:xfrm>
            <a:custGeom>
              <a:avLst/>
              <a:gdLst/>
              <a:ahLst/>
              <a:cxnLst/>
              <a:rect l="l" t="t" r="r" b="b"/>
              <a:pathLst>
                <a:path w="27304" h="28575">
                  <a:moveTo>
                    <a:pt x="0" y="28295"/>
                  </a:moveTo>
                  <a:lnTo>
                    <a:pt x="26784" y="0"/>
                  </a:lnTo>
                </a:path>
              </a:pathLst>
            </a:custGeom>
            <a:ln w="7937">
              <a:solidFill>
                <a:srgbClr val="FFFFFF"/>
              </a:solidFill>
            </a:ln>
          </p:spPr>
          <p:txBody>
            <a:bodyPr wrap="square" lIns="0" tIns="0" rIns="0" bIns="0" rtlCol="0"/>
            <a:lstStyle/>
            <a:p/>
          </p:txBody>
        </p:sp>
        <p:sp>
          <p:nvSpPr>
            <p:cNvPr id="166" name="object 166" descr=""/>
            <p:cNvSpPr/>
            <p:nvPr/>
          </p:nvSpPr>
          <p:spPr>
            <a:xfrm>
              <a:off x="3973423" y="3800932"/>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67" name="object 167" descr=""/>
            <p:cNvSpPr/>
            <p:nvPr/>
          </p:nvSpPr>
          <p:spPr>
            <a:xfrm>
              <a:off x="3974026" y="3800929"/>
              <a:ext cx="29845" cy="32384"/>
            </a:xfrm>
            <a:custGeom>
              <a:avLst/>
              <a:gdLst/>
              <a:ahLst/>
              <a:cxnLst/>
              <a:rect l="l" t="t" r="r" b="b"/>
              <a:pathLst>
                <a:path w="29845" h="32385">
                  <a:moveTo>
                    <a:pt x="27990" y="0"/>
                  </a:moveTo>
                  <a:lnTo>
                    <a:pt x="660" y="29032"/>
                  </a:lnTo>
                  <a:lnTo>
                    <a:pt x="101" y="29679"/>
                  </a:lnTo>
                  <a:lnTo>
                    <a:pt x="0" y="30759"/>
                  </a:lnTo>
                  <a:lnTo>
                    <a:pt x="939" y="32194"/>
                  </a:lnTo>
                  <a:lnTo>
                    <a:pt x="1765" y="32334"/>
                  </a:lnTo>
                  <a:lnTo>
                    <a:pt x="2324" y="31686"/>
                  </a:lnTo>
                  <a:lnTo>
                    <a:pt x="29705" y="2654"/>
                  </a:lnTo>
                  <a:lnTo>
                    <a:pt x="29756" y="1574"/>
                  </a:lnTo>
                  <a:lnTo>
                    <a:pt x="28816" y="139"/>
                  </a:lnTo>
                  <a:lnTo>
                    <a:pt x="27990" y="0"/>
                  </a:lnTo>
                  <a:close/>
                </a:path>
              </a:pathLst>
            </a:custGeom>
            <a:solidFill>
              <a:srgbClr val="FFFFFF"/>
            </a:solidFill>
          </p:spPr>
          <p:txBody>
            <a:bodyPr wrap="square" lIns="0" tIns="0" rIns="0" bIns="0" rtlCol="0"/>
            <a:lstStyle/>
            <a:p/>
          </p:txBody>
        </p:sp>
        <p:sp>
          <p:nvSpPr>
            <p:cNvPr id="168" name="object 168" descr=""/>
            <p:cNvSpPr/>
            <p:nvPr/>
          </p:nvSpPr>
          <p:spPr>
            <a:xfrm>
              <a:off x="3974026" y="3800929"/>
              <a:ext cx="29845" cy="32384"/>
            </a:xfrm>
            <a:custGeom>
              <a:avLst/>
              <a:gdLst/>
              <a:ahLst/>
              <a:cxnLst/>
              <a:rect l="l" t="t" r="r" b="b"/>
              <a:pathLst>
                <a:path w="29845" h="32385">
                  <a:moveTo>
                    <a:pt x="660" y="29032"/>
                  </a:moveTo>
                  <a:lnTo>
                    <a:pt x="27432" y="571"/>
                  </a:lnTo>
                  <a:lnTo>
                    <a:pt x="27990" y="0"/>
                  </a:lnTo>
                  <a:lnTo>
                    <a:pt x="28816" y="139"/>
                  </a:lnTo>
                  <a:lnTo>
                    <a:pt x="29311" y="863"/>
                  </a:lnTo>
                  <a:lnTo>
                    <a:pt x="29756" y="1574"/>
                  </a:lnTo>
                  <a:lnTo>
                    <a:pt x="29705" y="2654"/>
                  </a:lnTo>
                  <a:lnTo>
                    <a:pt x="29095" y="3302"/>
                  </a:lnTo>
                  <a:lnTo>
                    <a:pt x="2324" y="31686"/>
                  </a:lnTo>
                  <a:lnTo>
                    <a:pt x="1765" y="32334"/>
                  </a:lnTo>
                  <a:lnTo>
                    <a:pt x="939" y="32194"/>
                  </a:lnTo>
                  <a:lnTo>
                    <a:pt x="495" y="31470"/>
                  </a:lnTo>
                  <a:lnTo>
                    <a:pt x="0" y="30759"/>
                  </a:lnTo>
                  <a:lnTo>
                    <a:pt x="101" y="29679"/>
                  </a:lnTo>
                  <a:lnTo>
                    <a:pt x="660" y="29032"/>
                  </a:lnTo>
                  <a:close/>
                </a:path>
              </a:pathLst>
            </a:custGeom>
            <a:ln w="3175">
              <a:solidFill>
                <a:srgbClr val="000000"/>
              </a:solidFill>
            </a:ln>
          </p:spPr>
          <p:txBody>
            <a:bodyPr wrap="square" lIns="0" tIns="0" rIns="0" bIns="0" rtlCol="0"/>
            <a:lstStyle/>
            <a:p/>
          </p:txBody>
        </p:sp>
        <p:sp>
          <p:nvSpPr>
            <p:cNvPr id="169" name="object 169" descr=""/>
            <p:cNvSpPr/>
            <p:nvPr/>
          </p:nvSpPr>
          <p:spPr>
            <a:xfrm>
              <a:off x="3973423" y="3800932"/>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70" name="object 170" descr=""/>
            <p:cNvSpPr/>
            <p:nvPr/>
          </p:nvSpPr>
          <p:spPr>
            <a:xfrm>
              <a:off x="3974023" y="3800486"/>
              <a:ext cx="27305" cy="29209"/>
            </a:xfrm>
            <a:custGeom>
              <a:avLst/>
              <a:gdLst/>
              <a:ahLst/>
              <a:cxnLst/>
              <a:rect l="l" t="t" r="r" b="b"/>
              <a:pathLst>
                <a:path w="27304" h="29210">
                  <a:moveTo>
                    <a:pt x="0" y="28740"/>
                  </a:moveTo>
                  <a:lnTo>
                    <a:pt x="26784" y="0"/>
                  </a:lnTo>
                </a:path>
              </a:pathLst>
            </a:custGeom>
            <a:ln w="7937">
              <a:solidFill>
                <a:srgbClr val="FFFFFF"/>
              </a:solidFill>
            </a:ln>
          </p:spPr>
          <p:txBody>
            <a:bodyPr wrap="square" lIns="0" tIns="0" rIns="0" bIns="0" rtlCol="0"/>
            <a:lstStyle/>
            <a:p/>
          </p:txBody>
        </p:sp>
        <p:sp>
          <p:nvSpPr>
            <p:cNvPr id="171" name="object 171" descr=""/>
            <p:cNvSpPr/>
            <p:nvPr/>
          </p:nvSpPr>
          <p:spPr>
            <a:xfrm>
              <a:off x="3973423" y="3831920"/>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72" name="object 172" descr=""/>
            <p:cNvSpPr/>
            <p:nvPr/>
          </p:nvSpPr>
          <p:spPr>
            <a:xfrm>
              <a:off x="3974026" y="3832368"/>
              <a:ext cx="29845" cy="32384"/>
            </a:xfrm>
            <a:custGeom>
              <a:avLst/>
              <a:gdLst/>
              <a:ahLst/>
              <a:cxnLst/>
              <a:rect l="l" t="t" r="r" b="b"/>
              <a:pathLst>
                <a:path w="29845" h="32385">
                  <a:moveTo>
                    <a:pt x="27990" y="0"/>
                  </a:moveTo>
                  <a:lnTo>
                    <a:pt x="660" y="29032"/>
                  </a:lnTo>
                  <a:lnTo>
                    <a:pt x="101" y="29603"/>
                  </a:lnTo>
                  <a:lnTo>
                    <a:pt x="0" y="30759"/>
                  </a:lnTo>
                  <a:lnTo>
                    <a:pt x="939" y="32194"/>
                  </a:lnTo>
                  <a:lnTo>
                    <a:pt x="1765" y="32334"/>
                  </a:lnTo>
                  <a:lnTo>
                    <a:pt x="2324" y="31686"/>
                  </a:lnTo>
                  <a:lnTo>
                    <a:pt x="29095" y="3238"/>
                  </a:lnTo>
                  <a:lnTo>
                    <a:pt x="29705" y="2654"/>
                  </a:lnTo>
                  <a:lnTo>
                    <a:pt x="29756" y="1587"/>
                  </a:lnTo>
                  <a:lnTo>
                    <a:pt x="28816" y="76"/>
                  </a:lnTo>
                  <a:lnTo>
                    <a:pt x="27990" y="0"/>
                  </a:lnTo>
                  <a:close/>
                </a:path>
              </a:pathLst>
            </a:custGeom>
            <a:solidFill>
              <a:srgbClr val="FFFFFF"/>
            </a:solidFill>
          </p:spPr>
          <p:txBody>
            <a:bodyPr wrap="square" lIns="0" tIns="0" rIns="0" bIns="0" rtlCol="0"/>
            <a:lstStyle/>
            <a:p/>
          </p:txBody>
        </p:sp>
        <p:sp>
          <p:nvSpPr>
            <p:cNvPr id="173" name="object 173" descr=""/>
            <p:cNvSpPr/>
            <p:nvPr/>
          </p:nvSpPr>
          <p:spPr>
            <a:xfrm>
              <a:off x="3974026" y="3832368"/>
              <a:ext cx="29845" cy="32384"/>
            </a:xfrm>
            <a:custGeom>
              <a:avLst/>
              <a:gdLst/>
              <a:ahLst/>
              <a:cxnLst/>
              <a:rect l="l" t="t" r="r" b="b"/>
              <a:pathLst>
                <a:path w="29845" h="32385">
                  <a:moveTo>
                    <a:pt x="660" y="29032"/>
                  </a:moveTo>
                  <a:lnTo>
                    <a:pt x="27432" y="571"/>
                  </a:lnTo>
                  <a:lnTo>
                    <a:pt x="27990" y="0"/>
                  </a:lnTo>
                  <a:lnTo>
                    <a:pt x="28816" y="76"/>
                  </a:lnTo>
                  <a:lnTo>
                    <a:pt x="29311" y="863"/>
                  </a:lnTo>
                  <a:lnTo>
                    <a:pt x="29756" y="1587"/>
                  </a:lnTo>
                  <a:lnTo>
                    <a:pt x="29705" y="2654"/>
                  </a:lnTo>
                  <a:lnTo>
                    <a:pt x="29095" y="3238"/>
                  </a:lnTo>
                  <a:lnTo>
                    <a:pt x="2324" y="31686"/>
                  </a:lnTo>
                  <a:lnTo>
                    <a:pt x="1765" y="32334"/>
                  </a:lnTo>
                  <a:lnTo>
                    <a:pt x="939" y="32194"/>
                  </a:lnTo>
                  <a:lnTo>
                    <a:pt x="495" y="31470"/>
                  </a:lnTo>
                  <a:lnTo>
                    <a:pt x="0" y="30759"/>
                  </a:lnTo>
                  <a:lnTo>
                    <a:pt x="101" y="29603"/>
                  </a:lnTo>
                  <a:lnTo>
                    <a:pt x="660" y="29032"/>
                  </a:lnTo>
                  <a:close/>
                </a:path>
              </a:pathLst>
            </a:custGeom>
            <a:ln w="3175">
              <a:solidFill>
                <a:srgbClr val="000000"/>
              </a:solidFill>
            </a:ln>
          </p:spPr>
          <p:txBody>
            <a:bodyPr wrap="square" lIns="0" tIns="0" rIns="0" bIns="0" rtlCol="0"/>
            <a:lstStyle/>
            <a:p/>
          </p:txBody>
        </p:sp>
        <p:sp>
          <p:nvSpPr>
            <p:cNvPr id="174" name="object 174" descr=""/>
            <p:cNvSpPr/>
            <p:nvPr/>
          </p:nvSpPr>
          <p:spPr>
            <a:xfrm>
              <a:off x="3973423" y="3831920"/>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75" name="object 175" descr=""/>
            <p:cNvSpPr/>
            <p:nvPr/>
          </p:nvSpPr>
          <p:spPr>
            <a:xfrm>
              <a:off x="3974023" y="3832369"/>
              <a:ext cx="27305" cy="28575"/>
            </a:xfrm>
            <a:custGeom>
              <a:avLst/>
              <a:gdLst/>
              <a:ahLst/>
              <a:cxnLst/>
              <a:rect l="l" t="t" r="r" b="b"/>
              <a:pathLst>
                <a:path w="27304" h="28575">
                  <a:moveTo>
                    <a:pt x="0" y="28295"/>
                  </a:moveTo>
                  <a:lnTo>
                    <a:pt x="26784" y="0"/>
                  </a:lnTo>
                </a:path>
              </a:pathLst>
            </a:custGeom>
            <a:ln w="7937">
              <a:solidFill>
                <a:srgbClr val="FFFFFF"/>
              </a:solidFill>
            </a:ln>
          </p:spPr>
          <p:txBody>
            <a:bodyPr wrap="square" lIns="0" tIns="0" rIns="0" bIns="0" rtlCol="0"/>
            <a:lstStyle/>
            <a:p/>
          </p:txBody>
        </p:sp>
        <p:sp>
          <p:nvSpPr>
            <p:cNvPr id="176" name="object 176" descr=""/>
            <p:cNvSpPr/>
            <p:nvPr/>
          </p:nvSpPr>
          <p:spPr>
            <a:xfrm>
              <a:off x="3973423" y="3860660"/>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77" name="object 177" descr=""/>
            <p:cNvSpPr/>
            <p:nvPr/>
          </p:nvSpPr>
          <p:spPr>
            <a:xfrm>
              <a:off x="3974026" y="3861114"/>
              <a:ext cx="29845" cy="32384"/>
            </a:xfrm>
            <a:custGeom>
              <a:avLst/>
              <a:gdLst/>
              <a:ahLst/>
              <a:cxnLst/>
              <a:rect l="l" t="t" r="r" b="b"/>
              <a:pathLst>
                <a:path w="29845" h="32385">
                  <a:moveTo>
                    <a:pt x="27990" y="0"/>
                  </a:moveTo>
                  <a:lnTo>
                    <a:pt x="660" y="29095"/>
                  </a:lnTo>
                  <a:lnTo>
                    <a:pt x="101" y="29667"/>
                  </a:lnTo>
                  <a:lnTo>
                    <a:pt x="0" y="30746"/>
                  </a:lnTo>
                  <a:lnTo>
                    <a:pt x="939" y="32270"/>
                  </a:lnTo>
                  <a:lnTo>
                    <a:pt x="1765" y="32334"/>
                  </a:lnTo>
                  <a:lnTo>
                    <a:pt x="29095" y="3238"/>
                  </a:lnTo>
                  <a:lnTo>
                    <a:pt x="29705" y="2666"/>
                  </a:lnTo>
                  <a:lnTo>
                    <a:pt x="29756" y="1587"/>
                  </a:lnTo>
                  <a:lnTo>
                    <a:pt x="29311" y="787"/>
                  </a:lnTo>
                  <a:lnTo>
                    <a:pt x="28816" y="76"/>
                  </a:lnTo>
                  <a:lnTo>
                    <a:pt x="27990" y="0"/>
                  </a:lnTo>
                  <a:close/>
                </a:path>
              </a:pathLst>
            </a:custGeom>
            <a:solidFill>
              <a:srgbClr val="FFFFFF"/>
            </a:solidFill>
          </p:spPr>
          <p:txBody>
            <a:bodyPr wrap="square" lIns="0" tIns="0" rIns="0" bIns="0" rtlCol="0"/>
            <a:lstStyle/>
            <a:p/>
          </p:txBody>
        </p:sp>
        <p:sp>
          <p:nvSpPr>
            <p:cNvPr id="178" name="object 178" descr=""/>
            <p:cNvSpPr/>
            <p:nvPr/>
          </p:nvSpPr>
          <p:spPr>
            <a:xfrm>
              <a:off x="3974026" y="3861114"/>
              <a:ext cx="29845" cy="32384"/>
            </a:xfrm>
            <a:custGeom>
              <a:avLst/>
              <a:gdLst/>
              <a:ahLst/>
              <a:cxnLst/>
              <a:rect l="l" t="t" r="r" b="b"/>
              <a:pathLst>
                <a:path w="29845" h="32385">
                  <a:moveTo>
                    <a:pt x="660" y="29095"/>
                  </a:moveTo>
                  <a:lnTo>
                    <a:pt x="27432" y="571"/>
                  </a:lnTo>
                  <a:lnTo>
                    <a:pt x="27990" y="0"/>
                  </a:lnTo>
                  <a:lnTo>
                    <a:pt x="28816" y="76"/>
                  </a:lnTo>
                  <a:lnTo>
                    <a:pt x="29311" y="787"/>
                  </a:lnTo>
                  <a:lnTo>
                    <a:pt x="29756" y="1587"/>
                  </a:lnTo>
                  <a:lnTo>
                    <a:pt x="29705" y="2666"/>
                  </a:lnTo>
                  <a:lnTo>
                    <a:pt x="29095" y="3238"/>
                  </a:lnTo>
                  <a:lnTo>
                    <a:pt x="2324" y="31762"/>
                  </a:lnTo>
                  <a:lnTo>
                    <a:pt x="1765" y="32334"/>
                  </a:lnTo>
                  <a:lnTo>
                    <a:pt x="939" y="32270"/>
                  </a:lnTo>
                  <a:lnTo>
                    <a:pt x="495" y="31546"/>
                  </a:lnTo>
                  <a:lnTo>
                    <a:pt x="0" y="30746"/>
                  </a:lnTo>
                  <a:lnTo>
                    <a:pt x="101" y="29667"/>
                  </a:lnTo>
                  <a:lnTo>
                    <a:pt x="660" y="29095"/>
                  </a:lnTo>
                  <a:close/>
                </a:path>
              </a:pathLst>
            </a:custGeom>
            <a:ln w="3175">
              <a:solidFill>
                <a:srgbClr val="000000"/>
              </a:solidFill>
            </a:ln>
          </p:spPr>
          <p:txBody>
            <a:bodyPr wrap="square" lIns="0" tIns="0" rIns="0" bIns="0" rtlCol="0"/>
            <a:lstStyle/>
            <a:p/>
          </p:txBody>
        </p:sp>
        <p:sp>
          <p:nvSpPr>
            <p:cNvPr id="179" name="object 179" descr=""/>
            <p:cNvSpPr/>
            <p:nvPr/>
          </p:nvSpPr>
          <p:spPr>
            <a:xfrm>
              <a:off x="3973423" y="3860660"/>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80" name="object 180" descr=""/>
            <p:cNvSpPr/>
            <p:nvPr/>
          </p:nvSpPr>
          <p:spPr>
            <a:xfrm>
              <a:off x="3974023" y="3860665"/>
              <a:ext cx="27305" cy="28575"/>
            </a:xfrm>
            <a:custGeom>
              <a:avLst/>
              <a:gdLst/>
              <a:ahLst/>
              <a:cxnLst/>
              <a:rect l="l" t="t" r="r" b="b"/>
              <a:pathLst>
                <a:path w="27304" h="28575">
                  <a:moveTo>
                    <a:pt x="0" y="28295"/>
                  </a:moveTo>
                  <a:lnTo>
                    <a:pt x="26784" y="0"/>
                  </a:lnTo>
                </a:path>
              </a:pathLst>
            </a:custGeom>
            <a:ln w="7937">
              <a:solidFill>
                <a:srgbClr val="FFFFFF"/>
              </a:solidFill>
            </a:ln>
          </p:spPr>
          <p:txBody>
            <a:bodyPr wrap="square" lIns="0" tIns="0" rIns="0" bIns="0" rtlCol="0"/>
            <a:lstStyle/>
            <a:p/>
          </p:txBody>
        </p:sp>
        <p:sp>
          <p:nvSpPr>
            <p:cNvPr id="181" name="object 181" descr=""/>
            <p:cNvSpPr/>
            <p:nvPr/>
          </p:nvSpPr>
          <p:spPr>
            <a:xfrm>
              <a:off x="3973423" y="3891660"/>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82" name="object 182" descr=""/>
            <p:cNvSpPr/>
            <p:nvPr/>
          </p:nvSpPr>
          <p:spPr>
            <a:xfrm>
              <a:off x="3974026" y="3892549"/>
              <a:ext cx="29845" cy="32384"/>
            </a:xfrm>
            <a:custGeom>
              <a:avLst/>
              <a:gdLst/>
              <a:ahLst/>
              <a:cxnLst/>
              <a:rect l="l" t="t" r="r" b="b"/>
              <a:pathLst>
                <a:path w="29845" h="32385">
                  <a:moveTo>
                    <a:pt x="27990" y="0"/>
                  </a:moveTo>
                  <a:lnTo>
                    <a:pt x="27432" y="647"/>
                  </a:lnTo>
                  <a:lnTo>
                    <a:pt x="660" y="29108"/>
                  </a:lnTo>
                  <a:lnTo>
                    <a:pt x="101" y="29679"/>
                  </a:lnTo>
                  <a:lnTo>
                    <a:pt x="0" y="30759"/>
                  </a:lnTo>
                  <a:lnTo>
                    <a:pt x="495" y="31483"/>
                  </a:lnTo>
                  <a:lnTo>
                    <a:pt x="939" y="32270"/>
                  </a:lnTo>
                  <a:lnTo>
                    <a:pt x="1765" y="32346"/>
                  </a:lnTo>
                  <a:lnTo>
                    <a:pt x="29095" y="3314"/>
                  </a:lnTo>
                  <a:lnTo>
                    <a:pt x="29705" y="2730"/>
                  </a:lnTo>
                  <a:lnTo>
                    <a:pt x="29756" y="1587"/>
                  </a:lnTo>
                  <a:lnTo>
                    <a:pt x="28816" y="152"/>
                  </a:lnTo>
                  <a:lnTo>
                    <a:pt x="27990" y="0"/>
                  </a:lnTo>
                  <a:close/>
                </a:path>
              </a:pathLst>
            </a:custGeom>
            <a:solidFill>
              <a:srgbClr val="FFFFFF"/>
            </a:solidFill>
          </p:spPr>
          <p:txBody>
            <a:bodyPr wrap="square" lIns="0" tIns="0" rIns="0" bIns="0" rtlCol="0"/>
            <a:lstStyle/>
            <a:p/>
          </p:txBody>
        </p:sp>
        <p:sp>
          <p:nvSpPr>
            <p:cNvPr id="183" name="object 183" descr=""/>
            <p:cNvSpPr/>
            <p:nvPr/>
          </p:nvSpPr>
          <p:spPr>
            <a:xfrm>
              <a:off x="3974026" y="3892549"/>
              <a:ext cx="29845" cy="32384"/>
            </a:xfrm>
            <a:custGeom>
              <a:avLst/>
              <a:gdLst/>
              <a:ahLst/>
              <a:cxnLst/>
              <a:rect l="l" t="t" r="r" b="b"/>
              <a:pathLst>
                <a:path w="29845" h="32385">
                  <a:moveTo>
                    <a:pt x="660" y="29108"/>
                  </a:moveTo>
                  <a:lnTo>
                    <a:pt x="27432" y="647"/>
                  </a:lnTo>
                  <a:lnTo>
                    <a:pt x="27990" y="0"/>
                  </a:lnTo>
                  <a:lnTo>
                    <a:pt x="28816" y="152"/>
                  </a:lnTo>
                  <a:lnTo>
                    <a:pt x="29311" y="863"/>
                  </a:lnTo>
                  <a:lnTo>
                    <a:pt x="29756" y="1587"/>
                  </a:lnTo>
                  <a:lnTo>
                    <a:pt x="29705" y="2730"/>
                  </a:lnTo>
                  <a:lnTo>
                    <a:pt x="29095" y="3314"/>
                  </a:lnTo>
                  <a:lnTo>
                    <a:pt x="2324" y="31762"/>
                  </a:lnTo>
                  <a:lnTo>
                    <a:pt x="1765" y="32346"/>
                  </a:lnTo>
                  <a:lnTo>
                    <a:pt x="939" y="32270"/>
                  </a:lnTo>
                  <a:lnTo>
                    <a:pt x="495" y="31483"/>
                  </a:lnTo>
                  <a:lnTo>
                    <a:pt x="0" y="30759"/>
                  </a:lnTo>
                  <a:lnTo>
                    <a:pt x="101" y="29679"/>
                  </a:lnTo>
                  <a:lnTo>
                    <a:pt x="660" y="29108"/>
                  </a:lnTo>
                  <a:close/>
                </a:path>
              </a:pathLst>
            </a:custGeom>
            <a:ln w="3175">
              <a:solidFill>
                <a:srgbClr val="000000"/>
              </a:solidFill>
            </a:ln>
          </p:spPr>
          <p:txBody>
            <a:bodyPr wrap="square" lIns="0" tIns="0" rIns="0" bIns="0" rtlCol="0"/>
            <a:lstStyle/>
            <a:p/>
          </p:txBody>
        </p:sp>
        <p:sp>
          <p:nvSpPr>
            <p:cNvPr id="184" name="object 184" descr=""/>
            <p:cNvSpPr/>
            <p:nvPr/>
          </p:nvSpPr>
          <p:spPr>
            <a:xfrm>
              <a:off x="3973423" y="3891660"/>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85" name="object 185" descr=""/>
            <p:cNvSpPr/>
            <p:nvPr/>
          </p:nvSpPr>
          <p:spPr>
            <a:xfrm>
              <a:off x="3974023" y="3892109"/>
              <a:ext cx="27305" cy="29209"/>
            </a:xfrm>
            <a:custGeom>
              <a:avLst/>
              <a:gdLst/>
              <a:ahLst/>
              <a:cxnLst/>
              <a:rect l="l" t="t" r="r" b="b"/>
              <a:pathLst>
                <a:path w="27304" h="29210">
                  <a:moveTo>
                    <a:pt x="0" y="28740"/>
                  </a:moveTo>
                  <a:lnTo>
                    <a:pt x="26784" y="0"/>
                  </a:lnTo>
                </a:path>
              </a:pathLst>
            </a:custGeom>
            <a:ln w="7937">
              <a:solidFill>
                <a:srgbClr val="FFFFFF"/>
              </a:solidFill>
            </a:ln>
          </p:spPr>
          <p:txBody>
            <a:bodyPr wrap="square" lIns="0" tIns="0" rIns="0" bIns="0" rtlCol="0"/>
            <a:lstStyle/>
            <a:p/>
          </p:txBody>
        </p:sp>
        <p:sp>
          <p:nvSpPr>
            <p:cNvPr id="186" name="object 186" descr=""/>
            <p:cNvSpPr/>
            <p:nvPr/>
          </p:nvSpPr>
          <p:spPr>
            <a:xfrm>
              <a:off x="3973423" y="3923995"/>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87" name="object 187" descr=""/>
            <p:cNvSpPr/>
            <p:nvPr/>
          </p:nvSpPr>
          <p:spPr>
            <a:xfrm>
              <a:off x="3974026" y="3923992"/>
              <a:ext cx="29845" cy="32384"/>
            </a:xfrm>
            <a:custGeom>
              <a:avLst/>
              <a:gdLst/>
              <a:ahLst/>
              <a:cxnLst/>
              <a:rect l="l" t="t" r="r" b="b"/>
              <a:pathLst>
                <a:path w="29845" h="32385">
                  <a:moveTo>
                    <a:pt x="27990" y="0"/>
                  </a:moveTo>
                  <a:lnTo>
                    <a:pt x="27432" y="647"/>
                  </a:lnTo>
                  <a:lnTo>
                    <a:pt x="660" y="29032"/>
                  </a:lnTo>
                  <a:lnTo>
                    <a:pt x="101" y="29679"/>
                  </a:lnTo>
                  <a:lnTo>
                    <a:pt x="0" y="30759"/>
                  </a:lnTo>
                  <a:lnTo>
                    <a:pt x="939" y="32194"/>
                  </a:lnTo>
                  <a:lnTo>
                    <a:pt x="1765" y="32334"/>
                  </a:lnTo>
                  <a:lnTo>
                    <a:pt x="29705" y="2654"/>
                  </a:lnTo>
                  <a:lnTo>
                    <a:pt x="29756" y="1574"/>
                  </a:lnTo>
                  <a:lnTo>
                    <a:pt x="28816" y="139"/>
                  </a:lnTo>
                  <a:lnTo>
                    <a:pt x="27990" y="0"/>
                  </a:lnTo>
                  <a:close/>
                </a:path>
              </a:pathLst>
            </a:custGeom>
            <a:solidFill>
              <a:srgbClr val="FFFFFF"/>
            </a:solidFill>
          </p:spPr>
          <p:txBody>
            <a:bodyPr wrap="square" lIns="0" tIns="0" rIns="0" bIns="0" rtlCol="0"/>
            <a:lstStyle/>
            <a:p/>
          </p:txBody>
        </p:sp>
        <p:sp>
          <p:nvSpPr>
            <p:cNvPr id="188" name="object 188" descr=""/>
            <p:cNvSpPr/>
            <p:nvPr/>
          </p:nvSpPr>
          <p:spPr>
            <a:xfrm>
              <a:off x="3974026" y="3923992"/>
              <a:ext cx="29845" cy="32384"/>
            </a:xfrm>
            <a:custGeom>
              <a:avLst/>
              <a:gdLst/>
              <a:ahLst/>
              <a:cxnLst/>
              <a:rect l="l" t="t" r="r" b="b"/>
              <a:pathLst>
                <a:path w="29845" h="32385">
                  <a:moveTo>
                    <a:pt x="660" y="29032"/>
                  </a:moveTo>
                  <a:lnTo>
                    <a:pt x="27432" y="647"/>
                  </a:lnTo>
                  <a:lnTo>
                    <a:pt x="27990" y="0"/>
                  </a:lnTo>
                  <a:lnTo>
                    <a:pt x="28816" y="139"/>
                  </a:lnTo>
                  <a:lnTo>
                    <a:pt x="29311" y="863"/>
                  </a:lnTo>
                  <a:lnTo>
                    <a:pt x="29756" y="1574"/>
                  </a:lnTo>
                  <a:lnTo>
                    <a:pt x="29705" y="2654"/>
                  </a:lnTo>
                  <a:lnTo>
                    <a:pt x="29095" y="3302"/>
                  </a:lnTo>
                  <a:lnTo>
                    <a:pt x="2324" y="31762"/>
                  </a:lnTo>
                  <a:lnTo>
                    <a:pt x="1765" y="32334"/>
                  </a:lnTo>
                  <a:lnTo>
                    <a:pt x="939" y="32194"/>
                  </a:lnTo>
                  <a:lnTo>
                    <a:pt x="495" y="31470"/>
                  </a:lnTo>
                  <a:lnTo>
                    <a:pt x="0" y="30759"/>
                  </a:lnTo>
                  <a:lnTo>
                    <a:pt x="101" y="29679"/>
                  </a:lnTo>
                  <a:lnTo>
                    <a:pt x="660" y="29032"/>
                  </a:lnTo>
                  <a:close/>
                </a:path>
              </a:pathLst>
            </a:custGeom>
            <a:ln w="3175">
              <a:solidFill>
                <a:srgbClr val="000000"/>
              </a:solidFill>
            </a:ln>
          </p:spPr>
          <p:txBody>
            <a:bodyPr wrap="square" lIns="0" tIns="0" rIns="0" bIns="0" rtlCol="0"/>
            <a:lstStyle/>
            <a:p/>
          </p:txBody>
        </p:sp>
        <p:sp>
          <p:nvSpPr>
            <p:cNvPr id="189" name="object 189" descr=""/>
            <p:cNvSpPr/>
            <p:nvPr/>
          </p:nvSpPr>
          <p:spPr>
            <a:xfrm>
              <a:off x="3973423" y="3923995"/>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90" name="object 190" descr=""/>
            <p:cNvSpPr/>
            <p:nvPr/>
          </p:nvSpPr>
          <p:spPr>
            <a:xfrm>
              <a:off x="3974023" y="3923993"/>
              <a:ext cx="27305" cy="28575"/>
            </a:xfrm>
            <a:custGeom>
              <a:avLst/>
              <a:gdLst/>
              <a:ahLst/>
              <a:cxnLst/>
              <a:rect l="l" t="t" r="r" b="b"/>
              <a:pathLst>
                <a:path w="27304" h="28575">
                  <a:moveTo>
                    <a:pt x="0" y="28295"/>
                  </a:moveTo>
                  <a:lnTo>
                    <a:pt x="26784" y="0"/>
                  </a:lnTo>
                </a:path>
              </a:pathLst>
            </a:custGeom>
            <a:ln w="7937">
              <a:solidFill>
                <a:srgbClr val="FFFFFF"/>
              </a:solidFill>
            </a:ln>
          </p:spPr>
          <p:txBody>
            <a:bodyPr wrap="square" lIns="0" tIns="0" rIns="0" bIns="0" rtlCol="0"/>
            <a:lstStyle/>
            <a:p/>
          </p:txBody>
        </p:sp>
        <p:sp>
          <p:nvSpPr>
            <p:cNvPr id="191" name="object 191" descr=""/>
            <p:cNvSpPr/>
            <p:nvPr/>
          </p:nvSpPr>
          <p:spPr>
            <a:xfrm>
              <a:off x="3973423" y="3954983"/>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92" name="object 192" descr=""/>
            <p:cNvSpPr/>
            <p:nvPr/>
          </p:nvSpPr>
          <p:spPr>
            <a:xfrm>
              <a:off x="3974026" y="3955882"/>
              <a:ext cx="29845" cy="32384"/>
            </a:xfrm>
            <a:custGeom>
              <a:avLst/>
              <a:gdLst/>
              <a:ahLst/>
              <a:cxnLst/>
              <a:rect l="l" t="t" r="r" b="b"/>
              <a:pathLst>
                <a:path w="29845" h="32385">
                  <a:moveTo>
                    <a:pt x="27990" y="0"/>
                  </a:moveTo>
                  <a:lnTo>
                    <a:pt x="660" y="29032"/>
                  </a:lnTo>
                  <a:lnTo>
                    <a:pt x="101" y="29679"/>
                  </a:lnTo>
                  <a:lnTo>
                    <a:pt x="0" y="30759"/>
                  </a:lnTo>
                  <a:lnTo>
                    <a:pt x="939" y="32194"/>
                  </a:lnTo>
                  <a:lnTo>
                    <a:pt x="1765" y="32334"/>
                  </a:lnTo>
                  <a:lnTo>
                    <a:pt x="2324" y="31686"/>
                  </a:lnTo>
                  <a:lnTo>
                    <a:pt x="29705" y="2654"/>
                  </a:lnTo>
                  <a:lnTo>
                    <a:pt x="29756" y="1587"/>
                  </a:lnTo>
                  <a:lnTo>
                    <a:pt x="28816" y="139"/>
                  </a:lnTo>
                  <a:lnTo>
                    <a:pt x="27990" y="0"/>
                  </a:lnTo>
                  <a:close/>
                </a:path>
              </a:pathLst>
            </a:custGeom>
            <a:solidFill>
              <a:srgbClr val="FFFFFF"/>
            </a:solidFill>
          </p:spPr>
          <p:txBody>
            <a:bodyPr wrap="square" lIns="0" tIns="0" rIns="0" bIns="0" rtlCol="0"/>
            <a:lstStyle/>
            <a:p/>
          </p:txBody>
        </p:sp>
        <p:sp>
          <p:nvSpPr>
            <p:cNvPr id="193" name="object 193" descr=""/>
            <p:cNvSpPr/>
            <p:nvPr/>
          </p:nvSpPr>
          <p:spPr>
            <a:xfrm>
              <a:off x="3974026" y="3955882"/>
              <a:ext cx="29845" cy="32384"/>
            </a:xfrm>
            <a:custGeom>
              <a:avLst/>
              <a:gdLst/>
              <a:ahLst/>
              <a:cxnLst/>
              <a:rect l="l" t="t" r="r" b="b"/>
              <a:pathLst>
                <a:path w="29845" h="32385">
                  <a:moveTo>
                    <a:pt x="660" y="29032"/>
                  </a:moveTo>
                  <a:lnTo>
                    <a:pt x="27432" y="571"/>
                  </a:lnTo>
                  <a:lnTo>
                    <a:pt x="27990" y="0"/>
                  </a:lnTo>
                  <a:lnTo>
                    <a:pt x="28816" y="139"/>
                  </a:lnTo>
                  <a:lnTo>
                    <a:pt x="29311" y="863"/>
                  </a:lnTo>
                  <a:lnTo>
                    <a:pt x="29756" y="1587"/>
                  </a:lnTo>
                  <a:lnTo>
                    <a:pt x="29705" y="2654"/>
                  </a:lnTo>
                  <a:lnTo>
                    <a:pt x="29095" y="3301"/>
                  </a:lnTo>
                  <a:lnTo>
                    <a:pt x="2324" y="31686"/>
                  </a:lnTo>
                  <a:lnTo>
                    <a:pt x="1765" y="32334"/>
                  </a:lnTo>
                  <a:lnTo>
                    <a:pt x="939" y="32194"/>
                  </a:lnTo>
                  <a:lnTo>
                    <a:pt x="495" y="31470"/>
                  </a:lnTo>
                  <a:lnTo>
                    <a:pt x="0" y="30759"/>
                  </a:lnTo>
                  <a:lnTo>
                    <a:pt x="101" y="29679"/>
                  </a:lnTo>
                  <a:lnTo>
                    <a:pt x="660" y="29032"/>
                  </a:lnTo>
                  <a:close/>
                </a:path>
              </a:pathLst>
            </a:custGeom>
            <a:ln w="3175">
              <a:solidFill>
                <a:srgbClr val="000000"/>
              </a:solidFill>
            </a:ln>
          </p:spPr>
          <p:txBody>
            <a:bodyPr wrap="square" lIns="0" tIns="0" rIns="0" bIns="0" rtlCol="0"/>
            <a:lstStyle/>
            <a:p/>
          </p:txBody>
        </p:sp>
        <p:sp>
          <p:nvSpPr>
            <p:cNvPr id="194" name="object 194" descr=""/>
            <p:cNvSpPr/>
            <p:nvPr/>
          </p:nvSpPr>
          <p:spPr>
            <a:xfrm>
              <a:off x="3973423" y="3954983"/>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195" name="object 195" descr=""/>
            <p:cNvSpPr/>
            <p:nvPr/>
          </p:nvSpPr>
          <p:spPr>
            <a:xfrm>
              <a:off x="3974023" y="3955432"/>
              <a:ext cx="27305" cy="28575"/>
            </a:xfrm>
            <a:custGeom>
              <a:avLst/>
              <a:gdLst/>
              <a:ahLst/>
              <a:cxnLst/>
              <a:rect l="l" t="t" r="r" b="b"/>
              <a:pathLst>
                <a:path w="27304" h="28575">
                  <a:moveTo>
                    <a:pt x="0" y="28295"/>
                  </a:moveTo>
                  <a:lnTo>
                    <a:pt x="26784" y="0"/>
                  </a:lnTo>
                </a:path>
              </a:pathLst>
            </a:custGeom>
            <a:ln w="7937">
              <a:solidFill>
                <a:srgbClr val="FFFFFF"/>
              </a:solidFill>
            </a:ln>
          </p:spPr>
          <p:txBody>
            <a:bodyPr wrap="square" lIns="0" tIns="0" rIns="0" bIns="0" rtlCol="0"/>
            <a:lstStyle/>
            <a:p/>
          </p:txBody>
        </p:sp>
        <p:sp>
          <p:nvSpPr>
            <p:cNvPr id="196" name="object 196" descr=""/>
            <p:cNvSpPr/>
            <p:nvPr/>
          </p:nvSpPr>
          <p:spPr>
            <a:xfrm>
              <a:off x="3973423" y="3987317"/>
              <a:ext cx="31750" cy="34290"/>
            </a:xfrm>
            <a:custGeom>
              <a:avLst/>
              <a:gdLst/>
              <a:ahLst/>
              <a:cxnLst/>
              <a:rect l="l" t="t" r="r" b="b"/>
              <a:pathLst>
                <a:path w="31750" h="34289">
                  <a:moveTo>
                    <a:pt x="31546" y="0"/>
                  </a:moveTo>
                  <a:lnTo>
                    <a:pt x="0" y="0"/>
                  </a:lnTo>
                  <a:lnTo>
                    <a:pt x="0" y="34137"/>
                  </a:lnTo>
                  <a:lnTo>
                    <a:pt x="31546" y="34137"/>
                  </a:lnTo>
                  <a:lnTo>
                    <a:pt x="31546" y="0"/>
                  </a:lnTo>
                  <a:close/>
                </a:path>
              </a:pathLst>
            </a:custGeom>
            <a:solidFill>
              <a:srgbClr val="CECECE"/>
            </a:solidFill>
          </p:spPr>
          <p:txBody>
            <a:bodyPr wrap="square" lIns="0" tIns="0" rIns="0" bIns="0" rtlCol="0"/>
            <a:lstStyle/>
            <a:p/>
          </p:txBody>
        </p:sp>
        <p:sp>
          <p:nvSpPr>
            <p:cNvPr id="197" name="object 197" descr=""/>
            <p:cNvSpPr/>
            <p:nvPr/>
          </p:nvSpPr>
          <p:spPr>
            <a:xfrm>
              <a:off x="3974026" y="3987321"/>
              <a:ext cx="29845" cy="32384"/>
            </a:xfrm>
            <a:custGeom>
              <a:avLst/>
              <a:gdLst/>
              <a:ahLst/>
              <a:cxnLst/>
              <a:rect l="l" t="t" r="r" b="b"/>
              <a:pathLst>
                <a:path w="29845" h="32385">
                  <a:moveTo>
                    <a:pt x="27990" y="0"/>
                  </a:moveTo>
                  <a:lnTo>
                    <a:pt x="660" y="29032"/>
                  </a:lnTo>
                  <a:lnTo>
                    <a:pt x="101" y="29603"/>
                  </a:lnTo>
                  <a:lnTo>
                    <a:pt x="0" y="30759"/>
                  </a:lnTo>
                  <a:lnTo>
                    <a:pt x="939" y="32194"/>
                  </a:lnTo>
                  <a:lnTo>
                    <a:pt x="1765" y="32334"/>
                  </a:lnTo>
                  <a:lnTo>
                    <a:pt x="2324" y="31686"/>
                  </a:lnTo>
                  <a:lnTo>
                    <a:pt x="29095" y="3238"/>
                  </a:lnTo>
                  <a:lnTo>
                    <a:pt x="29705" y="2654"/>
                  </a:lnTo>
                  <a:lnTo>
                    <a:pt x="29756" y="1574"/>
                  </a:lnTo>
                  <a:lnTo>
                    <a:pt x="28816" y="76"/>
                  </a:lnTo>
                  <a:lnTo>
                    <a:pt x="27990" y="0"/>
                  </a:lnTo>
                  <a:close/>
                </a:path>
              </a:pathLst>
            </a:custGeom>
            <a:solidFill>
              <a:srgbClr val="FFFFFF"/>
            </a:solidFill>
          </p:spPr>
          <p:txBody>
            <a:bodyPr wrap="square" lIns="0" tIns="0" rIns="0" bIns="0" rtlCol="0"/>
            <a:lstStyle/>
            <a:p/>
          </p:txBody>
        </p:sp>
        <p:sp>
          <p:nvSpPr>
            <p:cNvPr id="198" name="object 198" descr=""/>
            <p:cNvSpPr/>
            <p:nvPr/>
          </p:nvSpPr>
          <p:spPr>
            <a:xfrm>
              <a:off x="3974026" y="3987321"/>
              <a:ext cx="29845" cy="32384"/>
            </a:xfrm>
            <a:custGeom>
              <a:avLst/>
              <a:gdLst/>
              <a:ahLst/>
              <a:cxnLst/>
              <a:rect l="l" t="t" r="r" b="b"/>
              <a:pathLst>
                <a:path w="29845" h="32385">
                  <a:moveTo>
                    <a:pt x="660" y="29032"/>
                  </a:moveTo>
                  <a:lnTo>
                    <a:pt x="27432" y="571"/>
                  </a:lnTo>
                  <a:lnTo>
                    <a:pt x="27990" y="0"/>
                  </a:lnTo>
                  <a:lnTo>
                    <a:pt x="28816" y="76"/>
                  </a:lnTo>
                  <a:lnTo>
                    <a:pt x="29311" y="863"/>
                  </a:lnTo>
                  <a:lnTo>
                    <a:pt x="29756" y="1574"/>
                  </a:lnTo>
                  <a:lnTo>
                    <a:pt x="29705" y="2654"/>
                  </a:lnTo>
                  <a:lnTo>
                    <a:pt x="29095" y="3238"/>
                  </a:lnTo>
                  <a:lnTo>
                    <a:pt x="2324" y="31686"/>
                  </a:lnTo>
                  <a:lnTo>
                    <a:pt x="1765" y="32334"/>
                  </a:lnTo>
                  <a:lnTo>
                    <a:pt x="939" y="32194"/>
                  </a:lnTo>
                  <a:lnTo>
                    <a:pt x="495" y="31470"/>
                  </a:lnTo>
                  <a:lnTo>
                    <a:pt x="0" y="30759"/>
                  </a:lnTo>
                  <a:lnTo>
                    <a:pt x="101" y="29603"/>
                  </a:lnTo>
                  <a:lnTo>
                    <a:pt x="660" y="29032"/>
                  </a:lnTo>
                  <a:close/>
                </a:path>
              </a:pathLst>
            </a:custGeom>
            <a:ln w="3175">
              <a:solidFill>
                <a:srgbClr val="000000"/>
              </a:solidFill>
            </a:ln>
          </p:spPr>
          <p:txBody>
            <a:bodyPr wrap="square" lIns="0" tIns="0" rIns="0" bIns="0" rtlCol="0"/>
            <a:lstStyle/>
            <a:p/>
          </p:txBody>
        </p:sp>
        <p:sp>
          <p:nvSpPr>
            <p:cNvPr id="199" name="object 199" descr=""/>
            <p:cNvSpPr/>
            <p:nvPr/>
          </p:nvSpPr>
          <p:spPr>
            <a:xfrm>
              <a:off x="3973423" y="3987317"/>
              <a:ext cx="31750" cy="34290"/>
            </a:xfrm>
            <a:custGeom>
              <a:avLst/>
              <a:gdLst/>
              <a:ahLst/>
              <a:cxnLst/>
              <a:rect l="l" t="t" r="r" b="b"/>
              <a:pathLst>
                <a:path w="31750" h="34289">
                  <a:moveTo>
                    <a:pt x="31546" y="0"/>
                  </a:moveTo>
                  <a:lnTo>
                    <a:pt x="0" y="0"/>
                  </a:lnTo>
                  <a:lnTo>
                    <a:pt x="0" y="34137"/>
                  </a:lnTo>
                  <a:lnTo>
                    <a:pt x="31546" y="34137"/>
                  </a:lnTo>
                  <a:lnTo>
                    <a:pt x="31546" y="0"/>
                  </a:lnTo>
                  <a:close/>
                </a:path>
              </a:pathLst>
            </a:custGeom>
            <a:solidFill>
              <a:srgbClr val="CECECE"/>
            </a:solidFill>
          </p:spPr>
          <p:txBody>
            <a:bodyPr wrap="square" lIns="0" tIns="0" rIns="0" bIns="0" rtlCol="0"/>
            <a:lstStyle/>
            <a:p/>
          </p:txBody>
        </p:sp>
        <p:sp>
          <p:nvSpPr>
            <p:cNvPr id="200" name="object 200" descr=""/>
            <p:cNvSpPr/>
            <p:nvPr/>
          </p:nvSpPr>
          <p:spPr>
            <a:xfrm>
              <a:off x="3974023" y="3986877"/>
              <a:ext cx="27305" cy="29209"/>
            </a:xfrm>
            <a:custGeom>
              <a:avLst/>
              <a:gdLst/>
              <a:ahLst/>
              <a:cxnLst/>
              <a:rect l="l" t="t" r="r" b="b"/>
              <a:pathLst>
                <a:path w="27304" h="29210">
                  <a:moveTo>
                    <a:pt x="0" y="28740"/>
                  </a:moveTo>
                  <a:lnTo>
                    <a:pt x="26784" y="0"/>
                  </a:lnTo>
                </a:path>
              </a:pathLst>
            </a:custGeom>
            <a:ln w="7937">
              <a:solidFill>
                <a:srgbClr val="FFFFFF"/>
              </a:solidFill>
            </a:ln>
          </p:spPr>
          <p:txBody>
            <a:bodyPr wrap="square" lIns="0" tIns="0" rIns="0" bIns="0" rtlCol="0"/>
            <a:lstStyle/>
            <a:p/>
          </p:txBody>
        </p:sp>
        <p:sp>
          <p:nvSpPr>
            <p:cNvPr id="201" name="object 201" descr=""/>
            <p:cNvSpPr/>
            <p:nvPr/>
          </p:nvSpPr>
          <p:spPr>
            <a:xfrm>
              <a:off x="3987114" y="3703472"/>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02" name="object 202" descr=""/>
            <p:cNvSpPr/>
            <p:nvPr/>
          </p:nvSpPr>
          <p:spPr>
            <a:xfrm>
              <a:off x="3987713" y="3703915"/>
              <a:ext cx="34925" cy="1270"/>
            </a:xfrm>
            <a:custGeom>
              <a:avLst/>
              <a:gdLst/>
              <a:ahLst/>
              <a:cxnLst/>
              <a:rect l="l" t="t" r="r" b="b"/>
              <a:pathLst>
                <a:path w="34925" h="1270">
                  <a:moveTo>
                    <a:pt x="34366" y="0"/>
                  </a:moveTo>
                  <a:lnTo>
                    <a:pt x="444" y="0"/>
                  </a:lnTo>
                  <a:lnTo>
                    <a:pt x="228" y="0"/>
                  </a:lnTo>
                  <a:lnTo>
                    <a:pt x="0" y="228"/>
                  </a:lnTo>
                  <a:lnTo>
                    <a:pt x="0" y="723"/>
                  </a:lnTo>
                  <a:lnTo>
                    <a:pt x="228" y="901"/>
                  </a:lnTo>
                  <a:lnTo>
                    <a:pt x="34366" y="901"/>
                  </a:lnTo>
                  <a:lnTo>
                    <a:pt x="34531" y="723"/>
                  </a:lnTo>
                  <a:lnTo>
                    <a:pt x="34531" y="228"/>
                  </a:lnTo>
                  <a:lnTo>
                    <a:pt x="34366" y="0"/>
                  </a:lnTo>
                  <a:close/>
                </a:path>
              </a:pathLst>
            </a:custGeom>
            <a:solidFill>
              <a:srgbClr val="FFFFFF"/>
            </a:solidFill>
          </p:spPr>
          <p:txBody>
            <a:bodyPr wrap="square" lIns="0" tIns="0" rIns="0" bIns="0" rtlCol="0"/>
            <a:lstStyle/>
            <a:p/>
          </p:txBody>
        </p:sp>
        <p:sp>
          <p:nvSpPr>
            <p:cNvPr id="203" name="object 203" descr=""/>
            <p:cNvSpPr/>
            <p:nvPr/>
          </p:nvSpPr>
          <p:spPr>
            <a:xfrm>
              <a:off x="3987713" y="3703915"/>
              <a:ext cx="34925" cy="1270"/>
            </a:xfrm>
            <a:custGeom>
              <a:avLst/>
              <a:gdLst/>
              <a:ahLst/>
              <a:cxnLst/>
              <a:rect l="l" t="t" r="r" b="b"/>
              <a:pathLst>
                <a:path w="34925" h="1270">
                  <a:moveTo>
                    <a:pt x="444" y="0"/>
                  </a:moveTo>
                  <a:lnTo>
                    <a:pt x="34086" y="0"/>
                  </a:lnTo>
                  <a:lnTo>
                    <a:pt x="34366" y="0"/>
                  </a:lnTo>
                  <a:lnTo>
                    <a:pt x="34531" y="228"/>
                  </a:lnTo>
                  <a:lnTo>
                    <a:pt x="34531" y="444"/>
                  </a:lnTo>
                  <a:lnTo>
                    <a:pt x="34531" y="723"/>
                  </a:lnTo>
                  <a:lnTo>
                    <a:pt x="34366" y="901"/>
                  </a:lnTo>
                  <a:lnTo>
                    <a:pt x="34086" y="901"/>
                  </a:lnTo>
                  <a:lnTo>
                    <a:pt x="444" y="901"/>
                  </a:lnTo>
                  <a:lnTo>
                    <a:pt x="228" y="901"/>
                  </a:lnTo>
                  <a:lnTo>
                    <a:pt x="0" y="723"/>
                  </a:lnTo>
                  <a:lnTo>
                    <a:pt x="0" y="444"/>
                  </a:lnTo>
                  <a:lnTo>
                    <a:pt x="0" y="228"/>
                  </a:lnTo>
                  <a:lnTo>
                    <a:pt x="228" y="0"/>
                  </a:lnTo>
                  <a:lnTo>
                    <a:pt x="444" y="0"/>
                  </a:lnTo>
                  <a:close/>
                </a:path>
              </a:pathLst>
            </a:custGeom>
            <a:ln w="3175">
              <a:solidFill>
                <a:srgbClr val="000000"/>
              </a:solidFill>
            </a:ln>
          </p:spPr>
          <p:txBody>
            <a:bodyPr wrap="square" lIns="0" tIns="0" rIns="0" bIns="0" rtlCol="0"/>
            <a:lstStyle/>
            <a:p/>
          </p:txBody>
        </p:sp>
        <p:sp>
          <p:nvSpPr>
            <p:cNvPr id="204" name="object 204" descr=""/>
            <p:cNvSpPr/>
            <p:nvPr/>
          </p:nvSpPr>
          <p:spPr>
            <a:xfrm>
              <a:off x="3987114" y="3703472"/>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05" name="object 205" descr=""/>
            <p:cNvSpPr/>
            <p:nvPr/>
          </p:nvSpPr>
          <p:spPr>
            <a:xfrm>
              <a:off x="3985929" y="3703467"/>
              <a:ext cx="34290" cy="0"/>
            </a:xfrm>
            <a:custGeom>
              <a:avLst/>
              <a:gdLst/>
              <a:ahLst/>
              <a:cxnLst/>
              <a:rect l="l" t="t" r="r" b="b"/>
              <a:pathLst>
                <a:path w="34289" h="0">
                  <a:moveTo>
                    <a:pt x="0" y="0"/>
                  </a:moveTo>
                  <a:lnTo>
                    <a:pt x="33934" y="0"/>
                  </a:lnTo>
                </a:path>
              </a:pathLst>
            </a:custGeom>
            <a:ln w="3175">
              <a:solidFill>
                <a:srgbClr val="3E3E3E"/>
              </a:solidFill>
            </a:ln>
          </p:spPr>
          <p:txBody>
            <a:bodyPr wrap="square" lIns="0" tIns="0" rIns="0" bIns="0" rtlCol="0"/>
            <a:lstStyle/>
            <a:p/>
          </p:txBody>
        </p:sp>
        <p:sp>
          <p:nvSpPr>
            <p:cNvPr id="206" name="object 206" descr=""/>
            <p:cNvSpPr/>
            <p:nvPr/>
          </p:nvSpPr>
          <p:spPr>
            <a:xfrm>
              <a:off x="3987114" y="3738943"/>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07" name="object 207" descr=""/>
            <p:cNvSpPr/>
            <p:nvPr/>
          </p:nvSpPr>
          <p:spPr>
            <a:xfrm>
              <a:off x="3987713" y="3739398"/>
              <a:ext cx="34925" cy="1905"/>
            </a:xfrm>
            <a:custGeom>
              <a:avLst/>
              <a:gdLst/>
              <a:ahLst/>
              <a:cxnLst/>
              <a:rect l="l" t="t" r="r" b="b"/>
              <a:pathLst>
                <a:path w="34925" h="1904">
                  <a:moveTo>
                    <a:pt x="34366" y="0"/>
                  </a:moveTo>
                  <a:lnTo>
                    <a:pt x="444" y="0"/>
                  </a:lnTo>
                  <a:lnTo>
                    <a:pt x="228" y="0"/>
                  </a:lnTo>
                  <a:lnTo>
                    <a:pt x="0" y="342"/>
                  </a:lnTo>
                  <a:lnTo>
                    <a:pt x="0" y="1092"/>
                  </a:lnTo>
                  <a:lnTo>
                    <a:pt x="228" y="1346"/>
                  </a:lnTo>
                  <a:lnTo>
                    <a:pt x="34366" y="1346"/>
                  </a:lnTo>
                  <a:lnTo>
                    <a:pt x="34531" y="1092"/>
                  </a:lnTo>
                  <a:lnTo>
                    <a:pt x="34531" y="342"/>
                  </a:lnTo>
                  <a:lnTo>
                    <a:pt x="34366" y="0"/>
                  </a:lnTo>
                  <a:close/>
                </a:path>
              </a:pathLst>
            </a:custGeom>
            <a:solidFill>
              <a:srgbClr val="FFFFFF"/>
            </a:solidFill>
          </p:spPr>
          <p:txBody>
            <a:bodyPr wrap="square" lIns="0" tIns="0" rIns="0" bIns="0" rtlCol="0"/>
            <a:lstStyle/>
            <a:p/>
          </p:txBody>
        </p:sp>
        <p:sp>
          <p:nvSpPr>
            <p:cNvPr id="208" name="object 208" descr=""/>
            <p:cNvSpPr/>
            <p:nvPr/>
          </p:nvSpPr>
          <p:spPr>
            <a:xfrm>
              <a:off x="3987713" y="3739398"/>
              <a:ext cx="34925" cy="1905"/>
            </a:xfrm>
            <a:custGeom>
              <a:avLst/>
              <a:gdLst/>
              <a:ahLst/>
              <a:cxnLst/>
              <a:rect l="l" t="t" r="r" b="b"/>
              <a:pathLst>
                <a:path w="34925" h="1904">
                  <a:moveTo>
                    <a:pt x="444" y="0"/>
                  </a:moveTo>
                  <a:lnTo>
                    <a:pt x="34086" y="0"/>
                  </a:lnTo>
                  <a:lnTo>
                    <a:pt x="34366" y="0"/>
                  </a:lnTo>
                  <a:lnTo>
                    <a:pt x="34531" y="342"/>
                  </a:lnTo>
                  <a:lnTo>
                    <a:pt x="34531" y="673"/>
                  </a:lnTo>
                  <a:lnTo>
                    <a:pt x="34531" y="1092"/>
                  </a:lnTo>
                  <a:lnTo>
                    <a:pt x="34366" y="1346"/>
                  </a:lnTo>
                  <a:lnTo>
                    <a:pt x="34086" y="1346"/>
                  </a:lnTo>
                  <a:lnTo>
                    <a:pt x="444" y="1346"/>
                  </a:lnTo>
                  <a:lnTo>
                    <a:pt x="228" y="1346"/>
                  </a:lnTo>
                  <a:lnTo>
                    <a:pt x="0" y="1092"/>
                  </a:lnTo>
                  <a:lnTo>
                    <a:pt x="0" y="673"/>
                  </a:lnTo>
                  <a:lnTo>
                    <a:pt x="0" y="342"/>
                  </a:lnTo>
                  <a:lnTo>
                    <a:pt x="228" y="0"/>
                  </a:lnTo>
                  <a:lnTo>
                    <a:pt x="444" y="0"/>
                  </a:lnTo>
                  <a:close/>
                </a:path>
              </a:pathLst>
            </a:custGeom>
            <a:ln w="3175">
              <a:solidFill>
                <a:srgbClr val="000000"/>
              </a:solidFill>
            </a:ln>
          </p:spPr>
          <p:txBody>
            <a:bodyPr wrap="square" lIns="0" tIns="0" rIns="0" bIns="0" rtlCol="0"/>
            <a:lstStyle/>
            <a:p/>
          </p:txBody>
        </p:sp>
        <p:sp>
          <p:nvSpPr>
            <p:cNvPr id="209" name="object 209" descr=""/>
            <p:cNvSpPr/>
            <p:nvPr/>
          </p:nvSpPr>
          <p:spPr>
            <a:xfrm>
              <a:off x="3987114" y="3738943"/>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10" name="object 210" descr=""/>
            <p:cNvSpPr/>
            <p:nvPr/>
          </p:nvSpPr>
          <p:spPr>
            <a:xfrm>
              <a:off x="3985929" y="3737601"/>
              <a:ext cx="34290" cy="0"/>
            </a:xfrm>
            <a:custGeom>
              <a:avLst/>
              <a:gdLst/>
              <a:ahLst/>
              <a:cxnLst/>
              <a:rect l="l" t="t" r="r" b="b"/>
              <a:pathLst>
                <a:path w="34289" h="0">
                  <a:moveTo>
                    <a:pt x="0" y="0"/>
                  </a:moveTo>
                  <a:lnTo>
                    <a:pt x="33934" y="0"/>
                  </a:lnTo>
                </a:path>
              </a:pathLst>
            </a:custGeom>
            <a:ln w="3175">
              <a:solidFill>
                <a:srgbClr val="3E3E3E"/>
              </a:solidFill>
            </a:ln>
          </p:spPr>
          <p:txBody>
            <a:bodyPr wrap="square" lIns="0" tIns="0" rIns="0" bIns="0" rtlCol="0"/>
            <a:lstStyle/>
            <a:p/>
          </p:txBody>
        </p:sp>
        <p:sp>
          <p:nvSpPr>
            <p:cNvPr id="211" name="object 211" descr=""/>
            <p:cNvSpPr/>
            <p:nvPr/>
          </p:nvSpPr>
          <p:spPr>
            <a:xfrm>
              <a:off x="3987114" y="3768597"/>
              <a:ext cx="36195" cy="3175"/>
            </a:xfrm>
            <a:custGeom>
              <a:avLst/>
              <a:gdLst/>
              <a:ahLst/>
              <a:cxnLst/>
              <a:rect l="l" t="t" r="r" b="b"/>
              <a:pathLst>
                <a:path w="36195" h="3175">
                  <a:moveTo>
                    <a:pt x="35712" y="0"/>
                  </a:moveTo>
                  <a:lnTo>
                    <a:pt x="0" y="0"/>
                  </a:lnTo>
                  <a:lnTo>
                    <a:pt x="0" y="2692"/>
                  </a:lnTo>
                  <a:lnTo>
                    <a:pt x="35712" y="2692"/>
                  </a:lnTo>
                  <a:lnTo>
                    <a:pt x="35712" y="0"/>
                  </a:lnTo>
                  <a:close/>
                </a:path>
              </a:pathLst>
            </a:custGeom>
            <a:solidFill>
              <a:srgbClr val="CECECE"/>
            </a:solidFill>
          </p:spPr>
          <p:txBody>
            <a:bodyPr wrap="square" lIns="0" tIns="0" rIns="0" bIns="0" rtlCol="0"/>
            <a:lstStyle/>
            <a:p/>
          </p:txBody>
        </p:sp>
        <p:sp>
          <p:nvSpPr>
            <p:cNvPr id="212" name="object 212" descr=""/>
            <p:cNvSpPr/>
            <p:nvPr/>
          </p:nvSpPr>
          <p:spPr>
            <a:xfrm>
              <a:off x="3987713" y="3769489"/>
              <a:ext cx="34925" cy="1270"/>
            </a:xfrm>
            <a:custGeom>
              <a:avLst/>
              <a:gdLst/>
              <a:ahLst/>
              <a:cxnLst/>
              <a:rect l="l" t="t" r="r" b="b"/>
              <a:pathLst>
                <a:path w="34925" h="1270">
                  <a:moveTo>
                    <a:pt x="34366" y="0"/>
                  </a:moveTo>
                  <a:lnTo>
                    <a:pt x="444" y="0"/>
                  </a:lnTo>
                  <a:lnTo>
                    <a:pt x="228" y="0"/>
                  </a:lnTo>
                  <a:lnTo>
                    <a:pt x="0" y="228"/>
                  </a:lnTo>
                  <a:lnTo>
                    <a:pt x="0" y="723"/>
                  </a:lnTo>
                  <a:lnTo>
                    <a:pt x="228" y="901"/>
                  </a:lnTo>
                  <a:lnTo>
                    <a:pt x="34366" y="901"/>
                  </a:lnTo>
                  <a:lnTo>
                    <a:pt x="34531" y="723"/>
                  </a:lnTo>
                  <a:lnTo>
                    <a:pt x="34531" y="228"/>
                  </a:lnTo>
                  <a:lnTo>
                    <a:pt x="34366" y="0"/>
                  </a:lnTo>
                  <a:close/>
                </a:path>
              </a:pathLst>
            </a:custGeom>
            <a:solidFill>
              <a:srgbClr val="FFFFFF"/>
            </a:solidFill>
          </p:spPr>
          <p:txBody>
            <a:bodyPr wrap="square" lIns="0" tIns="0" rIns="0" bIns="0" rtlCol="0"/>
            <a:lstStyle/>
            <a:p/>
          </p:txBody>
        </p:sp>
        <p:sp>
          <p:nvSpPr>
            <p:cNvPr id="213" name="object 213" descr=""/>
            <p:cNvSpPr/>
            <p:nvPr/>
          </p:nvSpPr>
          <p:spPr>
            <a:xfrm>
              <a:off x="3987713" y="3769489"/>
              <a:ext cx="34925" cy="1270"/>
            </a:xfrm>
            <a:custGeom>
              <a:avLst/>
              <a:gdLst/>
              <a:ahLst/>
              <a:cxnLst/>
              <a:rect l="l" t="t" r="r" b="b"/>
              <a:pathLst>
                <a:path w="34925" h="1270">
                  <a:moveTo>
                    <a:pt x="444" y="0"/>
                  </a:moveTo>
                  <a:lnTo>
                    <a:pt x="34086" y="0"/>
                  </a:lnTo>
                  <a:lnTo>
                    <a:pt x="34366" y="0"/>
                  </a:lnTo>
                  <a:lnTo>
                    <a:pt x="34531" y="228"/>
                  </a:lnTo>
                  <a:lnTo>
                    <a:pt x="34531" y="444"/>
                  </a:lnTo>
                  <a:lnTo>
                    <a:pt x="34531" y="723"/>
                  </a:lnTo>
                  <a:lnTo>
                    <a:pt x="34366" y="901"/>
                  </a:lnTo>
                  <a:lnTo>
                    <a:pt x="34086" y="901"/>
                  </a:lnTo>
                  <a:lnTo>
                    <a:pt x="444" y="901"/>
                  </a:lnTo>
                  <a:lnTo>
                    <a:pt x="228" y="901"/>
                  </a:lnTo>
                  <a:lnTo>
                    <a:pt x="0" y="723"/>
                  </a:lnTo>
                  <a:lnTo>
                    <a:pt x="0" y="444"/>
                  </a:lnTo>
                  <a:lnTo>
                    <a:pt x="0" y="228"/>
                  </a:lnTo>
                  <a:lnTo>
                    <a:pt x="228" y="0"/>
                  </a:lnTo>
                  <a:lnTo>
                    <a:pt x="444" y="0"/>
                  </a:lnTo>
                  <a:close/>
                </a:path>
              </a:pathLst>
            </a:custGeom>
            <a:ln w="3175">
              <a:solidFill>
                <a:srgbClr val="000000"/>
              </a:solidFill>
            </a:ln>
          </p:spPr>
          <p:txBody>
            <a:bodyPr wrap="square" lIns="0" tIns="0" rIns="0" bIns="0" rtlCol="0"/>
            <a:lstStyle/>
            <a:p/>
          </p:txBody>
        </p:sp>
        <p:sp>
          <p:nvSpPr>
            <p:cNvPr id="214" name="object 214" descr=""/>
            <p:cNvSpPr/>
            <p:nvPr/>
          </p:nvSpPr>
          <p:spPr>
            <a:xfrm>
              <a:off x="3987114" y="3768597"/>
              <a:ext cx="36195" cy="3175"/>
            </a:xfrm>
            <a:custGeom>
              <a:avLst/>
              <a:gdLst/>
              <a:ahLst/>
              <a:cxnLst/>
              <a:rect l="l" t="t" r="r" b="b"/>
              <a:pathLst>
                <a:path w="36195" h="3175">
                  <a:moveTo>
                    <a:pt x="35712" y="0"/>
                  </a:moveTo>
                  <a:lnTo>
                    <a:pt x="0" y="0"/>
                  </a:lnTo>
                  <a:lnTo>
                    <a:pt x="0" y="2692"/>
                  </a:lnTo>
                  <a:lnTo>
                    <a:pt x="35712" y="2692"/>
                  </a:lnTo>
                  <a:lnTo>
                    <a:pt x="35712" y="0"/>
                  </a:lnTo>
                  <a:close/>
                </a:path>
              </a:pathLst>
            </a:custGeom>
            <a:solidFill>
              <a:srgbClr val="CECECE"/>
            </a:solidFill>
          </p:spPr>
          <p:txBody>
            <a:bodyPr wrap="square" lIns="0" tIns="0" rIns="0" bIns="0" rtlCol="0"/>
            <a:lstStyle/>
            <a:p/>
          </p:txBody>
        </p:sp>
        <p:sp>
          <p:nvSpPr>
            <p:cNvPr id="215" name="object 215" descr=""/>
            <p:cNvSpPr/>
            <p:nvPr/>
          </p:nvSpPr>
          <p:spPr>
            <a:xfrm>
              <a:off x="3985929" y="3767693"/>
              <a:ext cx="34290" cy="0"/>
            </a:xfrm>
            <a:custGeom>
              <a:avLst/>
              <a:gdLst/>
              <a:ahLst/>
              <a:cxnLst/>
              <a:rect l="l" t="t" r="r" b="b"/>
              <a:pathLst>
                <a:path w="34289" h="0">
                  <a:moveTo>
                    <a:pt x="0" y="0"/>
                  </a:moveTo>
                  <a:lnTo>
                    <a:pt x="33934" y="0"/>
                  </a:lnTo>
                </a:path>
              </a:pathLst>
            </a:custGeom>
            <a:ln w="3175">
              <a:solidFill>
                <a:srgbClr val="3E3E3E"/>
              </a:solidFill>
            </a:ln>
          </p:spPr>
          <p:txBody>
            <a:bodyPr wrap="square" lIns="0" tIns="0" rIns="0" bIns="0" rtlCol="0"/>
            <a:lstStyle/>
            <a:p/>
          </p:txBody>
        </p:sp>
        <p:sp>
          <p:nvSpPr>
            <p:cNvPr id="216" name="object 216" descr=""/>
            <p:cNvSpPr/>
            <p:nvPr/>
          </p:nvSpPr>
          <p:spPr>
            <a:xfrm>
              <a:off x="3987114" y="3803179"/>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17" name="object 217" descr=""/>
            <p:cNvSpPr/>
            <p:nvPr/>
          </p:nvSpPr>
          <p:spPr>
            <a:xfrm>
              <a:off x="3987713" y="3803624"/>
              <a:ext cx="34925" cy="1905"/>
            </a:xfrm>
            <a:custGeom>
              <a:avLst/>
              <a:gdLst/>
              <a:ahLst/>
              <a:cxnLst/>
              <a:rect l="l" t="t" r="r" b="b"/>
              <a:pathLst>
                <a:path w="34925" h="1904">
                  <a:moveTo>
                    <a:pt x="34366" y="0"/>
                  </a:moveTo>
                  <a:lnTo>
                    <a:pt x="444" y="0"/>
                  </a:lnTo>
                  <a:lnTo>
                    <a:pt x="228" y="0"/>
                  </a:lnTo>
                  <a:lnTo>
                    <a:pt x="0" y="342"/>
                  </a:lnTo>
                  <a:lnTo>
                    <a:pt x="0" y="1092"/>
                  </a:lnTo>
                  <a:lnTo>
                    <a:pt x="228" y="1346"/>
                  </a:lnTo>
                  <a:lnTo>
                    <a:pt x="34366" y="1346"/>
                  </a:lnTo>
                  <a:lnTo>
                    <a:pt x="34531" y="1092"/>
                  </a:lnTo>
                  <a:lnTo>
                    <a:pt x="34531" y="342"/>
                  </a:lnTo>
                  <a:lnTo>
                    <a:pt x="34366" y="0"/>
                  </a:lnTo>
                  <a:close/>
                </a:path>
              </a:pathLst>
            </a:custGeom>
            <a:solidFill>
              <a:srgbClr val="FFFFFF"/>
            </a:solidFill>
          </p:spPr>
          <p:txBody>
            <a:bodyPr wrap="square" lIns="0" tIns="0" rIns="0" bIns="0" rtlCol="0"/>
            <a:lstStyle/>
            <a:p/>
          </p:txBody>
        </p:sp>
        <p:sp>
          <p:nvSpPr>
            <p:cNvPr id="218" name="object 218" descr=""/>
            <p:cNvSpPr/>
            <p:nvPr/>
          </p:nvSpPr>
          <p:spPr>
            <a:xfrm>
              <a:off x="3987713" y="3803624"/>
              <a:ext cx="34925" cy="1905"/>
            </a:xfrm>
            <a:custGeom>
              <a:avLst/>
              <a:gdLst/>
              <a:ahLst/>
              <a:cxnLst/>
              <a:rect l="l" t="t" r="r" b="b"/>
              <a:pathLst>
                <a:path w="34925" h="1904">
                  <a:moveTo>
                    <a:pt x="444" y="0"/>
                  </a:moveTo>
                  <a:lnTo>
                    <a:pt x="34086" y="0"/>
                  </a:lnTo>
                  <a:lnTo>
                    <a:pt x="34366" y="0"/>
                  </a:lnTo>
                  <a:lnTo>
                    <a:pt x="34531" y="342"/>
                  </a:lnTo>
                  <a:lnTo>
                    <a:pt x="34531" y="673"/>
                  </a:lnTo>
                  <a:lnTo>
                    <a:pt x="34531" y="1092"/>
                  </a:lnTo>
                  <a:lnTo>
                    <a:pt x="34366" y="1346"/>
                  </a:lnTo>
                  <a:lnTo>
                    <a:pt x="34086" y="1346"/>
                  </a:lnTo>
                  <a:lnTo>
                    <a:pt x="444" y="1346"/>
                  </a:lnTo>
                  <a:lnTo>
                    <a:pt x="228" y="1346"/>
                  </a:lnTo>
                  <a:lnTo>
                    <a:pt x="0" y="1092"/>
                  </a:lnTo>
                  <a:lnTo>
                    <a:pt x="0" y="673"/>
                  </a:lnTo>
                  <a:lnTo>
                    <a:pt x="0" y="342"/>
                  </a:lnTo>
                  <a:lnTo>
                    <a:pt x="228" y="0"/>
                  </a:lnTo>
                  <a:lnTo>
                    <a:pt x="444" y="0"/>
                  </a:lnTo>
                  <a:close/>
                </a:path>
              </a:pathLst>
            </a:custGeom>
            <a:ln w="3175">
              <a:solidFill>
                <a:srgbClr val="000000"/>
              </a:solidFill>
            </a:ln>
          </p:spPr>
          <p:txBody>
            <a:bodyPr wrap="square" lIns="0" tIns="0" rIns="0" bIns="0" rtlCol="0"/>
            <a:lstStyle/>
            <a:p/>
          </p:txBody>
        </p:sp>
        <p:sp>
          <p:nvSpPr>
            <p:cNvPr id="219" name="object 219" descr=""/>
            <p:cNvSpPr/>
            <p:nvPr/>
          </p:nvSpPr>
          <p:spPr>
            <a:xfrm>
              <a:off x="3987114" y="3803179"/>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20" name="object 220" descr=""/>
            <p:cNvSpPr/>
            <p:nvPr/>
          </p:nvSpPr>
          <p:spPr>
            <a:xfrm>
              <a:off x="3985929" y="3802277"/>
              <a:ext cx="34290" cy="0"/>
            </a:xfrm>
            <a:custGeom>
              <a:avLst/>
              <a:gdLst/>
              <a:ahLst/>
              <a:cxnLst/>
              <a:rect l="l" t="t" r="r" b="b"/>
              <a:pathLst>
                <a:path w="34289" h="0">
                  <a:moveTo>
                    <a:pt x="0" y="0"/>
                  </a:moveTo>
                  <a:lnTo>
                    <a:pt x="33934" y="0"/>
                  </a:lnTo>
                </a:path>
              </a:pathLst>
            </a:custGeom>
            <a:ln w="3175">
              <a:solidFill>
                <a:srgbClr val="3E3E3E"/>
              </a:solidFill>
            </a:ln>
          </p:spPr>
          <p:txBody>
            <a:bodyPr wrap="square" lIns="0" tIns="0" rIns="0" bIns="0" rtlCol="0"/>
            <a:lstStyle/>
            <a:p/>
          </p:txBody>
        </p:sp>
        <p:sp>
          <p:nvSpPr>
            <p:cNvPr id="221" name="object 221" descr=""/>
            <p:cNvSpPr/>
            <p:nvPr/>
          </p:nvSpPr>
          <p:spPr>
            <a:xfrm>
              <a:off x="3987114" y="3834168"/>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22" name="object 222" descr=""/>
            <p:cNvSpPr/>
            <p:nvPr/>
          </p:nvSpPr>
          <p:spPr>
            <a:xfrm>
              <a:off x="3987713" y="3835063"/>
              <a:ext cx="34925" cy="1270"/>
            </a:xfrm>
            <a:custGeom>
              <a:avLst/>
              <a:gdLst/>
              <a:ahLst/>
              <a:cxnLst/>
              <a:rect l="l" t="t" r="r" b="b"/>
              <a:pathLst>
                <a:path w="34925" h="1270">
                  <a:moveTo>
                    <a:pt x="34366" y="0"/>
                  </a:moveTo>
                  <a:lnTo>
                    <a:pt x="444" y="0"/>
                  </a:lnTo>
                  <a:lnTo>
                    <a:pt x="228" y="0"/>
                  </a:lnTo>
                  <a:lnTo>
                    <a:pt x="0" y="228"/>
                  </a:lnTo>
                  <a:lnTo>
                    <a:pt x="0" y="723"/>
                  </a:lnTo>
                  <a:lnTo>
                    <a:pt x="228" y="901"/>
                  </a:lnTo>
                  <a:lnTo>
                    <a:pt x="34366" y="901"/>
                  </a:lnTo>
                  <a:lnTo>
                    <a:pt x="34531" y="723"/>
                  </a:lnTo>
                  <a:lnTo>
                    <a:pt x="34531" y="228"/>
                  </a:lnTo>
                  <a:lnTo>
                    <a:pt x="34366" y="0"/>
                  </a:lnTo>
                  <a:close/>
                </a:path>
              </a:pathLst>
            </a:custGeom>
            <a:solidFill>
              <a:srgbClr val="FFFFFF"/>
            </a:solidFill>
          </p:spPr>
          <p:txBody>
            <a:bodyPr wrap="square" lIns="0" tIns="0" rIns="0" bIns="0" rtlCol="0"/>
            <a:lstStyle/>
            <a:p/>
          </p:txBody>
        </p:sp>
        <p:sp>
          <p:nvSpPr>
            <p:cNvPr id="223" name="object 223" descr=""/>
            <p:cNvSpPr/>
            <p:nvPr/>
          </p:nvSpPr>
          <p:spPr>
            <a:xfrm>
              <a:off x="3987713" y="3835063"/>
              <a:ext cx="34925" cy="1270"/>
            </a:xfrm>
            <a:custGeom>
              <a:avLst/>
              <a:gdLst/>
              <a:ahLst/>
              <a:cxnLst/>
              <a:rect l="l" t="t" r="r" b="b"/>
              <a:pathLst>
                <a:path w="34925" h="1270">
                  <a:moveTo>
                    <a:pt x="444" y="0"/>
                  </a:moveTo>
                  <a:lnTo>
                    <a:pt x="34086" y="0"/>
                  </a:lnTo>
                  <a:lnTo>
                    <a:pt x="34366" y="0"/>
                  </a:lnTo>
                  <a:lnTo>
                    <a:pt x="34531" y="228"/>
                  </a:lnTo>
                  <a:lnTo>
                    <a:pt x="34531" y="444"/>
                  </a:lnTo>
                  <a:lnTo>
                    <a:pt x="34531" y="723"/>
                  </a:lnTo>
                  <a:lnTo>
                    <a:pt x="34366" y="901"/>
                  </a:lnTo>
                  <a:lnTo>
                    <a:pt x="34086" y="901"/>
                  </a:lnTo>
                  <a:lnTo>
                    <a:pt x="444" y="901"/>
                  </a:lnTo>
                  <a:lnTo>
                    <a:pt x="228" y="901"/>
                  </a:lnTo>
                  <a:lnTo>
                    <a:pt x="0" y="723"/>
                  </a:lnTo>
                  <a:lnTo>
                    <a:pt x="0" y="444"/>
                  </a:lnTo>
                  <a:lnTo>
                    <a:pt x="0" y="228"/>
                  </a:lnTo>
                  <a:lnTo>
                    <a:pt x="228" y="0"/>
                  </a:lnTo>
                  <a:lnTo>
                    <a:pt x="444" y="0"/>
                  </a:lnTo>
                  <a:close/>
                </a:path>
              </a:pathLst>
            </a:custGeom>
            <a:ln w="3175">
              <a:solidFill>
                <a:srgbClr val="000000"/>
              </a:solidFill>
            </a:ln>
          </p:spPr>
          <p:txBody>
            <a:bodyPr wrap="square" lIns="0" tIns="0" rIns="0" bIns="0" rtlCol="0"/>
            <a:lstStyle/>
            <a:p/>
          </p:txBody>
        </p:sp>
        <p:sp>
          <p:nvSpPr>
            <p:cNvPr id="224" name="object 224" descr=""/>
            <p:cNvSpPr/>
            <p:nvPr/>
          </p:nvSpPr>
          <p:spPr>
            <a:xfrm>
              <a:off x="3987114" y="3834168"/>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25" name="object 225" descr=""/>
            <p:cNvSpPr/>
            <p:nvPr/>
          </p:nvSpPr>
          <p:spPr>
            <a:xfrm>
              <a:off x="3985929" y="3833267"/>
              <a:ext cx="34290" cy="0"/>
            </a:xfrm>
            <a:custGeom>
              <a:avLst/>
              <a:gdLst/>
              <a:ahLst/>
              <a:cxnLst/>
              <a:rect l="l" t="t" r="r" b="b"/>
              <a:pathLst>
                <a:path w="34289" h="0">
                  <a:moveTo>
                    <a:pt x="0" y="0"/>
                  </a:moveTo>
                  <a:lnTo>
                    <a:pt x="33934" y="0"/>
                  </a:lnTo>
                </a:path>
              </a:pathLst>
            </a:custGeom>
            <a:ln w="3175">
              <a:solidFill>
                <a:srgbClr val="3E3E3E"/>
              </a:solidFill>
            </a:ln>
          </p:spPr>
          <p:txBody>
            <a:bodyPr wrap="square" lIns="0" tIns="0" rIns="0" bIns="0" rtlCol="0"/>
            <a:lstStyle/>
            <a:p/>
          </p:txBody>
        </p:sp>
        <p:sp>
          <p:nvSpPr>
            <p:cNvPr id="226" name="object 226" descr=""/>
            <p:cNvSpPr/>
            <p:nvPr/>
          </p:nvSpPr>
          <p:spPr>
            <a:xfrm>
              <a:off x="3987114" y="3868750"/>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27" name="object 227" descr=""/>
            <p:cNvSpPr/>
            <p:nvPr/>
          </p:nvSpPr>
          <p:spPr>
            <a:xfrm>
              <a:off x="3987713" y="3869198"/>
              <a:ext cx="34925" cy="1905"/>
            </a:xfrm>
            <a:custGeom>
              <a:avLst/>
              <a:gdLst/>
              <a:ahLst/>
              <a:cxnLst/>
              <a:rect l="l" t="t" r="r" b="b"/>
              <a:pathLst>
                <a:path w="34925" h="1904">
                  <a:moveTo>
                    <a:pt x="34366" y="0"/>
                  </a:moveTo>
                  <a:lnTo>
                    <a:pt x="444" y="0"/>
                  </a:lnTo>
                  <a:lnTo>
                    <a:pt x="228" y="0"/>
                  </a:lnTo>
                  <a:lnTo>
                    <a:pt x="0" y="342"/>
                  </a:lnTo>
                  <a:lnTo>
                    <a:pt x="0" y="1092"/>
                  </a:lnTo>
                  <a:lnTo>
                    <a:pt x="228" y="1346"/>
                  </a:lnTo>
                  <a:lnTo>
                    <a:pt x="34366" y="1346"/>
                  </a:lnTo>
                  <a:lnTo>
                    <a:pt x="34531" y="1092"/>
                  </a:lnTo>
                  <a:lnTo>
                    <a:pt x="34531" y="342"/>
                  </a:lnTo>
                  <a:lnTo>
                    <a:pt x="34366" y="0"/>
                  </a:lnTo>
                  <a:close/>
                </a:path>
              </a:pathLst>
            </a:custGeom>
            <a:solidFill>
              <a:srgbClr val="FFFFFF"/>
            </a:solidFill>
          </p:spPr>
          <p:txBody>
            <a:bodyPr wrap="square" lIns="0" tIns="0" rIns="0" bIns="0" rtlCol="0"/>
            <a:lstStyle/>
            <a:p/>
          </p:txBody>
        </p:sp>
        <p:sp>
          <p:nvSpPr>
            <p:cNvPr id="228" name="object 228" descr=""/>
            <p:cNvSpPr/>
            <p:nvPr/>
          </p:nvSpPr>
          <p:spPr>
            <a:xfrm>
              <a:off x="3987713" y="3869198"/>
              <a:ext cx="34925" cy="1905"/>
            </a:xfrm>
            <a:custGeom>
              <a:avLst/>
              <a:gdLst/>
              <a:ahLst/>
              <a:cxnLst/>
              <a:rect l="l" t="t" r="r" b="b"/>
              <a:pathLst>
                <a:path w="34925" h="1904">
                  <a:moveTo>
                    <a:pt x="444" y="0"/>
                  </a:moveTo>
                  <a:lnTo>
                    <a:pt x="34086" y="0"/>
                  </a:lnTo>
                  <a:lnTo>
                    <a:pt x="34366" y="0"/>
                  </a:lnTo>
                  <a:lnTo>
                    <a:pt x="34531" y="342"/>
                  </a:lnTo>
                  <a:lnTo>
                    <a:pt x="34531" y="673"/>
                  </a:lnTo>
                  <a:lnTo>
                    <a:pt x="34531" y="1092"/>
                  </a:lnTo>
                  <a:lnTo>
                    <a:pt x="34366" y="1346"/>
                  </a:lnTo>
                  <a:lnTo>
                    <a:pt x="34086" y="1346"/>
                  </a:lnTo>
                  <a:lnTo>
                    <a:pt x="444" y="1346"/>
                  </a:lnTo>
                  <a:lnTo>
                    <a:pt x="228" y="1346"/>
                  </a:lnTo>
                  <a:lnTo>
                    <a:pt x="0" y="1092"/>
                  </a:lnTo>
                  <a:lnTo>
                    <a:pt x="0" y="673"/>
                  </a:lnTo>
                  <a:lnTo>
                    <a:pt x="0" y="342"/>
                  </a:lnTo>
                  <a:lnTo>
                    <a:pt x="228" y="0"/>
                  </a:lnTo>
                  <a:lnTo>
                    <a:pt x="444" y="0"/>
                  </a:lnTo>
                  <a:close/>
                </a:path>
              </a:pathLst>
            </a:custGeom>
            <a:ln w="3175">
              <a:solidFill>
                <a:srgbClr val="000000"/>
              </a:solidFill>
            </a:ln>
          </p:spPr>
          <p:txBody>
            <a:bodyPr wrap="square" lIns="0" tIns="0" rIns="0" bIns="0" rtlCol="0"/>
            <a:lstStyle/>
            <a:p/>
          </p:txBody>
        </p:sp>
        <p:sp>
          <p:nvSpPr>
            <p:cNvPr id="229" name="object 229" descr=""/>
            <p:cNvSpPr/>
            <p:nvPr/>
          </p:nvSpPr>
          <p:spPr>
            <a:xfrm>
              <a:off x="3987114" y="3868750"/>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30" name="object 230" descr=""/>
            <p:cNvSpPr/>
            <p:nvPr/>
          </p:nvSpPr>
          <p:spPr>
            <a:xfrm>
              <a:off x="3985929" y="3867401"/>
              <a:ext cx="34290" cy="0"/>
            </a:xfrm>
            <a:custGeom>
              <a:avLst/>
              <a:gdLst/>
              <a:ahLst/>
              <a:cxnLst/>
              <a:rect l="l" t="t" r="r" b="b"/>
              <a:pathLst>
                <a:path w="34289" h="0">
                  <a:moveTo>
                    <a:pt x="0" y="0"/>
                  </a:moveTo>
                  <a:lnTo>
                    <a:pt x="33934" y="0"/>
                  </a:lnTo>
                </a:path>
              </a:pathLst>
            </a:custGeom>
            <a:ln w="3175">
              <a:solidFill>
                <a:srgbClr val="3E3E3E"/>
              </a:solidFill>
            </a:ln>
          </p:spPr>
          <p:txBody>
            <a:bodyPr wrap="square" lIns="0" tIns="0" rIns="0" bIns="0" rtlCol="0"/>
            <a:lstStyle/>
            <a:p/>
          </p:txBody>
        </p:sp>
        <p:sp>
          <p:nvSpPr>
            <p:cNvPr id="231" name="object 231" descr=""/>
            <p:cNvSpPr/>
            <p:nvPr/>
          </p:nvSpPr>
          <p:spPr>
            <a:xfrm>
              <a:off x="3987114" y="3899738"/>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32" name="object 232" descr=""/>
            <p:cNvSpPr/>
            <p:nvPr/>
          </p:nvSpPr>
          <p:spPr>
            <a:xfrm>
              <a:off x="3987713" y="3900188"/>
              <a:ext cx="34925" cy="1905"/>
            </a:xfrm>
            <a:custGeom>
              <a:avLst/>
              <a:gdLst/>
              <a:ahLst/>
              <a:cxnLst/>
              <a:rect l="l" t="t" r="r" b="b"/>
              <a:pathLst>
                <a:path w="34925" h="1904">
                  <a:moveTo>
                    <a:pt x="34366" y="0"/>
                  </a:moveTo>
                  <a:lnTo>
                    <a:pt x="444" y="0"/>
                  </a:lnTo>
                  <a:lnTo>
                    <a:pt x="228" y="0"/>
                  </a:lnTo>
                  <a:lnTo>
                    <a:pt x="0" y="342"/>
                  </a:lnTo>
                  <a:lnTo>
                    <a:pt x="0" y="1092"/>
                  </a:lnTo>
                  <a:lnTo>
                    <a:pt x="228" y="1346"/>
                  </a:lnTo>
                  <a:lnTo>
                    <a:pt x="34366" y="1346"/>
                  </a:lnTo>
                  <a:lnTo>
                    <a:pt x="34531" y="1092"/>
                  </a:lnTo>
                  <a:lnTo>
                    <a:pt x="34531" y="342"/>
                  </a:lnTo>
                  <a:lnTo>
                    <a:pt x="34366" y="0"/>
                  </a:lnTo>
                  <a:close/>
                </a:path>
              </a:pathLst>
            </a:custGeom>
            <a:solidFill>
              <a:srgbClr val="FFFFFF"/>
            </a:solidFill>
          </p:spPr>
          <p:txBody>
            <a:bodyPr wrap="square" lIns="0" tIns="0" rIns="0" bIns="0" rtlCol="0"/>
            <a:lstStyle/>
            <a:p/>
          </p:txBody>
        </p:sp>
        <p:sp>
          <p:nvSpPr>
            <p:cNvPr id="233" name="object 233" descr=""/>
            <p:cNvSpPr/>
            <p:nvPr/>
          </p:nvSpPr>
          <p:spPr>
            <a:xfrm>
              <a:off x="3987713" y="3900188"/>
              <a:ext cx="34925" cy="1905"/>
            </a:xfrm>
            <a:custGeom>
              <a:avLst/>
              <a:gdLst/>
              <a:ahLst/>
              <a:cxnLst/>
              <a:rect l="l" t="t" r="r" b="b"/>
              <a:pathLst>
                <a:path w="34925" h="1904">
                  <a:moveTo>
                    <a:pt x="444" y="0"/>
                  </a:moveTo>
                  <a:lnTo>
                    <a:pt x="34086" y="0"/>
                  </a:lnTo>
                  <a:lnTo>
                    <a:pt x="34366" y="0"/>
                  </a:lnTo>
                  <a:lnTo>
                    <a:pt x="34531" y="342"/>
                  </a:lnTo>
                  <a:lnTo>
                    <a:pt x="34531" y="673"/>
                  </a:lnTo>
                  <a:lnTo>
                    <a:pt x="34531" y="1092"/>
                  </a:lnTo>
                  <a:lnTo>
                    <a:pt x="34366" y="1346"/>
                  </a:lnTo>
                  <a:lnTo>
                    <a:pt x="34086" y="1346"/>
                  </a:lnTo>
                  <a:lnTo>
                    <a:pt x="444" y="1346"/>
                  </a:lnTo>
                  <a:lnTo>
                    <a:pt x="228" y="1346"/>
                  </a:lnTo>
                  <a:lnTo>
                    <a:pt x="0" y="1092"/>
                  </a:lnTo>
                  <a:lnTo>
                    <a:pt x="0" y="673"/>
                  </a:lnTo>
                  <a:lnTo>
                    <a:pt x="0" y="342"/>
                  </a:lnTo>
                  <a:lnTo>
                    <a:pt x="228" y="0"/>
                  </a:lnTo>
                  <a:lnTo>
                    <a:pt x="444" y="0"/>
                  </a:lnTo>
                  <a:close/>
                </a:path>
              </a:pathLst>
            </a:custGeom>
            <a:ln w="3175">
              <a:solidFill>
                <a:srgbClr val="000000"/>
              </a:solidFill>
            </a:ln>
          </p:spPr>
          <p:txBody>
            <a:bodyPr wrap="square" lIns="0" tIns="0" rIns="0" bIns="0" rtlCol="0"/>
            <a:lstStyle/>
            <a:p/>
          </p:txBody>
        </p:sp>
        <p:sp>
          <p:nvSpPr>
            <p:cNvPr id="234" name="object 234" descr=""/>
            <p:cNvSpPr/>
            <p:nvPr/>
          </p:nvSpPr>
          <p:spPr>
            <a:xfrm>
              <a:off x="3987114" y="3899738"/>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35" name="object 235" descr=""/>
            <p:cNvSpPr/>
            <p:nvPr/>
          </p:nvSpPr>
          <p:spPr>
            <a:xfrm>
              <a:off x="3985929" y="3898841"/>
              <a:ext cx="34290" cy="0"/>
            </a:xfrm>
            <a:custGeom>
              <a:avLst/>
              <a:gdLst/>
              <a:ahLst/>
              <a:cxnLst/>
              <a:rect l="l" t="t" r="r" b="b"/>
              <a:pathLst>
                <a:path w="34289" h="0">
                  <a:moveTo>
                    <a:pt x="0" y="0"/>
                  </a:moveTo>
                  <a:lnTo>
                    <a:pt x="33934" y="0"/>
                  </a:lnTo>
                </a:path>
              </a:pathLst>
            </a:custGeom>
            <a:ln w="3175">
              <a:solidFill>
                <a:srgbClr val="3E3E3E"/>
              </a:solidFill>
            </a:ln>
          </p:spPr>
          <p:txBody>
            <a:bodyPr wrap="square" lIns="0" tIns="0" rIns="0" bIns="0" rtlCol="0"/>
            <a:lstStyle/>
            <a:p/>
          </p:txBody>
        </p:sp>
        <p:sp>
          <p:nvSpPr>
            <p:cNvPr id="236" name="object 236" descr=""/>
            <p:cNvSpPr/>
            <p:nvPr/>
          </p:nvSpPr>
          <p:spPr>
            <a:xfrm>
              <a:off x="3987114" y="3924896"/>
              <a:ext cx="36195" cy="3175"/>
            </a:xfrm>
            <a:custGeom>
              <a:avLst/>
              <a:gdLst/>
              <a:ahLst/>
              <a:cxnLst/>
              <a:rect l="l" t="t" r="r" b="b"/>
              <a:pathLst>
                <a:path w="36195" h="3175">
                  <a:moveTo>
                    <a:pt x="35712" y="0"/>
                  </a:moveTo>
                  <a:lnTo>
                    <a:pt x="0" y="0"/>
                  </a:lnTo>
                  <a:lnTo>
                    <a:pt x="0" y="2692"/>
                  </a:lnTo>
                  <a:lnTo>
                    <a:pt x="35712" y="2692"/>
                  </a:lnTo>
                  <a:lnTo>
                    <a:pt x="35712" y="0"/>
                  </a:lnTo>
                  <a:close/>
                </a:path>
              </a:pathLst>
            </a:custGeom>
            <a:solidFill>
              <a:srgbClr val="CECECE"/>
            </a:solidFill>
          </p:spPr>
          <p:txBody>
            <a:bodyPr wrap="square" lIns="0" tIns="0" rIns="0" bIns="0" rtlCol="0"/>
            <a:lstStyle/>
            <a:p/>
          </p:txBody>
        </p:sp>
        <p:sp>
          <p:nvSpPr>
            <p:cNvPr id="237" name="object 237" descr=""/>
            <p:cNvSpPr/>
            <p:nvPr/>
          </p:nvSpPr>
          <p:spPr>
            <a:xfrm>
              <a:off x="3987713" y="3925789"/>
              <a:ext cx="34925" cy="1270"/>
            </a:xfrm>
            <a:custGeom>
              <a:avLst/>
              <a:gdLst/>
              <a:ahLst/>
              <a:cxnLst/>
              <a:rect l="l" t="t" r="r" b="b"/>
              <a:pathLst>
                <a:path w="34925" h="1270">
                  <a:moveTo>
                    <a:pt x="34366" y="0"/>
                  </a:moveTo>
                  <a:lnTo>
                    <a:pt x="444" y="0"/>
                  </a:lnTo>
                  <a:lnTo>
                    <a:pt x="228" y="0"/>
                  </a:lnTo>
                  <a:lnTo>
                    <a:pt x="0" y="228"/>
                  </a:lnTo>
                  <a:lnTo>
                    <a:pt x="0" y="723"/>
                  </a:lnTo>
                  <a:lnTo>
                    <a:pt x="228" y="901"/>
                  </a:lnTo>
                  <a:lnTo>
                    <a:pt x="34366" y="901"/>
                  </a:lnTo>
                  <a:lnTo>
                    <a:pt x="34531" y="723"/>
                  </a:lnTo>
                  <a:lnTo>
                    <a:pt x="34531" y="228"/>
                  </a:lnTo>
                  <a:lnTo>
                    <a:pt x="34366" y="0"/>
                  </a:lnTo>
                  <a:close/>
                </a:path>
              </a:pathLst>
            </a:custGeom>
            <a:solidFill>
              <a:srgbClr val="FFFFFF"/>
            </a:solidFill>
          </p:spPr>
          <p:txBody>
            <a:bodyPr wrap="square" lIns="0" tIns="0" rIns="0" bIns="0" rtlCol="0"/>
            <a:lstStyle/>
            <a:p/>
          </p:txBody>
        </p:sp>
        <p:sp>
          <p:nvSpPr>
            <p:cNvPr id="238" name="object 238" descr=""/>
            <p:cNvSpPr/>
            <p:nvPr/>
          </p:nvSpPr>
          <p:spPr>
            <a:xfrm>
              <a:off x="3987713" y="3925789"/>
              <a:ext cx="34925" cy="1270"/>
            </a:xfrm>
            <a:custGeom>
              <a:avLst/>
              <a:gdLst/>
              <a:ahLst/>
              <a:cxnLst/>
              <a:rect l="l" t="t" r="r" b="b"/>
              <a:pathLst>
                <a:path w="34925" h="1270">
                  <a:moveTo>
                    <a:pt x="444" y="0"/>
                  </a:moveTo>
                  <a:lnTo>
                    <a:pt x="34086" y="0"/>
                  </a:lnTo>
                  <a:lnTo>
                    <a:pt x="34366" y="0"/>
                  </a:lnTo>
                  <a:lnTo>
                    <a:pt x="34531" y="228"/>
                  </a:lnTo>
                  <a:lnTo>
                    <a:pt x="34531" y="444"/>
                  </a:lnTo>
                  <a:lnTo>
                    <a:pt x="34531" y="723"/>
                  </a:lnTo>
                  <a:lnTo>
                    <a:pt x="34366" y="901"/>
                  </a:lnTo>
                  <a:lnTo>
                    <a:pt x="34086" y="901"/>
                  </a:lnTo>
                  <a:lnTo>
                    <a:pt x="444" y="901"/>
                  </a:lnTo>
                  <a:lnTo>
                    <a:pt x="228" y="901"/>
                  </a:lnTo>
                  <a:lnTo>
                    <a:pt x="0" y="723"/>
                  </a:lnTo>
                  <a:lnTo>
                    <a:pt x="0" y="444"/>
                  </a:lnTo>
                  <a:lnTo>
                    <a:pt x="0" y="228"/>
                  </a:lnTo>
                  <a:lnTo>
                    <a:pt x="228" y="0"/>
                  </a:lnTo>
                  <a:lnTo>
                    <a:pt x="444" y="0"/>
                  </a:lnTo>
                  <a:close/>
                </a:path>
              </a:pathLst>
            </a:custGeom>
            <a:ln w="3175">
              <a:solidFill>
                <a:srgbClr val="000000"/>
              </a:solidFill>
            </a:ln>
          </p:spPr>
          <p:txBody>
            <a:bodyPr wrap="square" lIns="0" tIns="0" rIns="0" bIns="0" rtlCol="0"/>
            <a:lstStyle/>
            <a:p/>
          </p:txBody>
        </p:sp>
        <p:sp>
          <p:nvSpPr>
            <p:cNvPr id="239" name="object 239" descr=""/>
            <p:cNvSpPr/>
            <p:nvPr/>
          </p:nvSpPr>
          <p:spPr>
            <a:xfrm>
              <a:off x="3987114" y="3924896"/>
              <a:ext cx="36195" cy="3175"/>
            </a:xfrm>
            <a:custGeom>
              <a:avLst/>
              <a:gdLst/>
              <a:ahLst/>
              <a:cxnLst/>
              <a:rect l="l" t="t" r="r" b="b"/>
              <a:pathLst>
                <a:path w="36195" h="3175">
                  <a:moveTo>
                    <a:pt x="35712" y="0"/>
                  </a:moveTo>
                  <a:lnTo>
                    <a:pt x="0" y="0"/>
                  </a:lnTo>
                  <a:lnTo>
                    <a:pt x="0" y="2692"/>
                  </a:lnTo>
                  <a:lnTo>
                    <a:pt x="35712" y="2692"/>
                  </a:lnTo>
                  <a:lnTo>
                    <a:pt x="35712" y="0"/>
                  </a:lnTo>
                  <a:close/>
                </a:path>
              </a:pathLst>
            </a:custGeom>
            <a:solidFill>
              <a:srgbClr val="CECECE"/>
            </a:solidFill>
          </p:spPr>
          <p:txBody>
            <a:bodyPr wrap="square" lIns="0" tIns="0" rIns="0" bIns="0" rtlCol="0"/>
            <a:lstStyle/>
            <a:p/>
          </p:txBody>
        </p:sp>
        <p:sp>
          <p:nvSpPr>
            <p:cNvPr id="240" name="object 240" descr=""/>
            <p:cNvSpPr/>
            <p:nvPr/>
          </p:nvSpPr>
          <p:spPr>
            <a:xfrm>
              <a:off x="3985929" y="3923992"/>
              <a:ext cx="34290" cy="0"/>
            </a:xfrm>
            <a:custGeom>
              <a:avLst/>
              <a:gdLst/>
              <a:ahLst/>
              <a:cxnLst/>
              <a:rect l="l" t="t" r="r" b="b"/>
              <a:pathLst>
                <a:path w="34289" h="0">
                  <a:moveTo>
                    <a:pt x="0" y="0"/>
                  </a:moveTo>
                  <a:lnTo>
                    <a:pt x="33934" y="0"/>
                  </a:lnTo>
                </a:path>
              </a:pathLst>
            </a:custGeom>
            <a:ln w="3175">
              <a:solidFill>
                <a:srgbClr val="3E3E3E"/>
              </a:solidFill>
            </a:ln>
          </p:spPr>
          <p:txBody>
            <a:bodyPr wrap="square" lIns="0" tIns="0" rIns="0" bIns="0" rtlCol="0"/>
            <a:lstStyle/>
            <a:p/>
          </p:txBody>
        </p:sp>
        <p:sp>
          <p:nvSpPr>
            <p:cNvPr id="241" name="object 241" descr=""/>
            <p:cNvSpPr/>
            <p:nvPr/>
          </p:nvSpPr>
          <p:spPr>
            <a:xfrm>
              <a:off x="3975214" y="4016959"/>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242" name="object 242" descr=""/>
            <p:cNvSpPr/>
            <p:nvPr/>
          </p:nvSpPr>
          <p:spPr>
            <a:xfrm>
              <a:off x="3976405" y="4017863"/>
              <a:ext cx="29845" cy="32384"/>
            </a:xfrm>
            <a:custGeom>
              <a:avLst/>
              <a:gdLst/>
              <a:ahLst/>
              <a:cxnLst/>
              <a:rect l="l" t="t" r="r" b="b"/>
              <a:pathLst>
                <a:path w="29845" h="32385">
                  <a:moveTo>
                    <a:pt x="27990" y="0"/>
                  </a:moveTo>
                  <a:lnTo>
                    <a:pt x="27432" y="647"/>
                  </a:lnTo>
                  <a:lnTo>
                    <a:pt x="609" y="29032"/>
                  </a:lnTo>
                  <a:lnTo>
                    <a:pt x="50" y="29679"/>
                  </a:lnTo>
                  <a:lnTo>
                    <a:pt x="0" y="30759"/>
                  </a:lnTo>
                  <a:lnTo>
                    <a:pt x="889" y="32194"/>
                  </a:lnTo>
                  <a:lnTo>
                    <a:pt x="1778" y="32334"/>
                  </a:lnTo>
                  <a:lnTo>
                    <a:pt x="29159" y="3301"/>
                  </a:lnTo>
                  <a:lnTo>
                    <a:pt x="29705" y="2654"/>
                  </a:lnTo>
                  <a:lnTo>
                    <a:pt x="29768" y="1587"/>
                  </a:lnTo>
                  <a:lnTo>
                    <a:pt x="28879" y="139"/>
                  </a:lnTo>
                  <a:lnTo>
                    <a:pt x="27990" y="0"/>
                  </a:lnTo>
                  <a:close/>
                </a:path>
              </a:pathLst>
            </a:custGeom>
            <a:solidFill>
              <a:srgbClr val="FFFFFF"/>
            </a:solidFill>
          </p:spPr>
          <p:txBody>
            <a:bodyPr wrap="square" lIns="0" tIns="0" rIns="0" bIns="0" rtlCol="0"/>
            <a:lstStyle/>
            <a:p/>
          </p:txBody>
        </p:sp>
        <p:sp>
          <p:nvSpPr>
            <p:cNvPr id="243" name="object 243" descr=""/>
            <p:cNvSpPr/>
            <p:nvPr/>
          </p:nvSpPr>
          <p:spPr>
            <a:xfrm>
              <a:off x="3976405" y="4017863"/>
              <a:ext cx="29845" cy="32384"/>
            </a:xfrm>
            <a:custGeom>
              <a:avLst/>
              <a:gdLst/>
              <a:ahLst/>
              <a:cxnLst/>
              <a:rect l="l" t="t" r="r" b="b"/>
              <a:pathLst>
                <a:path w="29845" h="32385">
                  <a:moveTo>
                    <a:pt x="609" y="29032"/>
                  </a:moveTo>
                  <a:lnTo>
                    <a:pt x="27432" y="647"/>
                  </a:lnTo>
                  <a:lnTo>
                    <a:pt x="27990" y="0"/>
                  </a:lnTo>
                  <a:lnTo>
                    <a:pt x="28879" y="139"/>
                  </a:lnTo>
                  <a:lnTo>
                    <a:pt x="29324" y="863"/>
                  </a:lnTo>
                  <a:lnTo>
                    <a:pt x="29768" y="1587"/>
                  </a:lnTo>
                  <a:lnTo>
                    <a:pt x="29705" y="2654"/>
                  </a:lnTo>
                  <a:lnTo>
                    <a:pt x="29159" y="3301"/>
                  </a:lnTo>
                  <a:lnTo>
                    <a:pt x="2324" y="31762"/>
                  </a:lnTo>
                  <a:lnTo>
                    <a:pt x="1778" y="32334"/>
                  </a:lnTo>
                  <a:lnTo>
                    <a:pt x="889" y="32194"/>
                  </a:lnTo>
                  <a:lnTo>
                    <a:pt x="444" y="31470"/>
                  </a:lnTo>
                  <a:lnTo>
                    <a:pt x="0" y="30759"/>
                  </a:lnTo>
                  <a:lnTo>
                    <a:pt x="50" y="29679"/>
                  </a:lnTo>
                  <a:lnTo>
                    <a:pt x="609" y="29032"/>
                  </a:lnTo>
                  <a:close/>
                </a:path>
              </a:pathLst>
            </a:custGeom>
            <a:ln w="3175">
              <a:solidFill>
                <a:srgbClr val="000000"/>
              </a:solidFill>
            </a:ln>
          </p:spPr>
          <p:txBody>
            <a:bodyPr wrap="square" lIns="0" tIns="0" rIns="0" bIns="0" rtlCol="0"/>
            <a:lstStyle/>
            <a:p/>
          </p:txBody>
        </p:sp>
        <p:sp>
          <p:nvSpPr>
            <p:cNvPr id="244" name="object 244" descr=""/>
            <p:cNvSpPr/>
            <p:nvPr/>
          </p:nvSpPr>
          <p:spPr>
            <a:xfrm>
              <a:off x="3975214" y="4016959"/>
              <a:ext cx="31750" cy="34925"/>
            </a:xfrm>
            <a:custGeom>
              <a:avLst/>
              <a:gdLst/>
              <a:ahLst/>
              <a:cxnLst/>
              <a:rect l="l" t="t" r="r" b="b"/>
              <a:pathLst>
                <a:path w="31750" h="34925">
                  <a:moveTo>
                    <a:pt x="31546" y="0"/>
                  </a:moveTo>
                  <a:lnTo>
                    <a:pt x="0" y="0"/>
                  </a:lnTo>
                  <a:lnTo>
                    <a:pt x="0" y="34582"/>
                  </a:lnTo>
                  <a:lnTo>
                    <a:pt x="31546" y="34582"/>
                  </a:lnTo>
                  <a:lnTo>
                    <a:pt x="31546" y="0"/>
                  </a:lnTo>
                  <a:close/>
                </a:path>
              </a:pathLst>
            </a:custGeom>
            <a:solidFill>
              <a:srgbClr val="CECECE"/>
            </a:solidFill>
          </p:spPr>
          <p:txBody>
            <a:bodyPr wrap="square" lIns="0" tIns="0" rIns="0" bIns="0" rtlCol="0"/>
            <a:lstStyle/>
            <a:p/>
          </p:txBody>
        </p:sp>
        <p:sp>
          <p:nvSpPr>
            <p:cNvPr id="245" name="object 245" descr=""/>
            <p:cNvSpPr/>
            <p:nvPr/>
          </p:nvSpPr>
          <p:spPr>
            <a:xfrm>
              <a:off x="3975808" y="4017413"/>
              <a:ext cx="27940" cy="28575"/>
            </a:xfrm>
            <a:custGeom>
              <a:avLst/>
              <a:gdLst/>
              <a:ahLst/>
              <a:cxnLst/>
              <a:rect l="l" t="t" r="r" b="b"/>
              <a:pathLst>
                <a:path w="27939" h="28575">
                  <a:moveTo>
                    <a:pt x="0" y="28295"/>
                  </a:moveTo>
                  <a:lnTo>
                    <a:pt x="27381" y="0"/>
                  </a:lnTo>
                </a:path>
              </a:pathLst>
            </a:custGeom>
            <a:ln w="7937">
              <a:solidFill>
                <a:srgbClr val="FFFFFF"/>
              </a:solidFill>
            </a:ln>
          </p:spPr>
          <p:txBody>
            <a:bodyPr wrap="square" lIns="0" tIns="0" rIns="0" bIns="0" rtlCol="0"/>
            <a:lstStyle/>
            <a:p/>
          </p:txBody>
        </p:sp>
        <p:sp>
          <p:nvSpPr>
            <p:cNvPr id="246" name="object 246" descr=""/>
            <p:cNvSpPr/>
            <p:nvPr/>
          </p:nvSpPr>
          <p:spPr>
            <a:xfrm>
              <a:off x="3987114" y="3953636"/>
              <a:ext cx="36195" cy="3175"/>
            </a:xfrm>
            <a:custGeom>
              <a:avLst/>
              <a:gdLst/>
              <a:ahLst/>
              <a:cxnLst/>
              <a:rect l="l" t="t" r="r" b="b"/>
              <a:pathLst>
                <a:path w="36195" h="3175">
                  <a:moveTo>
                    <a:pt x="35712" y="0"/>
                  </a:moveTo>
                  <a:lnTo>
                    <a:pt x="0" y="0"/>
                  </a:lnTo>
                  <a:lnTo>
                    <a:pt x="0" y="2692"/>
                  </a:lnTo>
                  <a:lnTo>
                    <a:pt x="35712" y="2692"/>
                  </a:lnTo>
                  <a:lnTo>
                    <a:pt x="35712" y="0"/>
                  </a:lnTo>
                  <a:close/>
                </a:path>
              </a:pathLst>
            </a:custGeom>
            <a:solidFill>
              <a:srgbClr val="CECECE"/>
            </a:solidFill>
          </p:spPr>
          <p:txBody>
            <a:bodyPr wrap="square" lIns="0" tIns="0" rIns="0" bIns="0" rtlCol="0"/>
            <a:lstStyle/>
            <a:p/>
          </p:txBody>
        </p:sp>
        <p:sp>
          <p:nvSpPr>
            <p:cNvPr id="247" name="object 247" descr=""/>
            <p:cNvSpPr/>
            <p:nvPr/>
          </p:nvSpPr>
          <p:spPr>
            <a:xfrm>
              <a:off x="3987713" y="3954534"/>
              <a:ext cx="34925" cy="1270"/>
            </a:xfrm>
            <a:custGeom>
              <a:avLst/>
              <a:gdLst/>
              <a:ahLst/>
              <a:cxnLst/>
              <a:rect l="l" t="t" r="r" b="b"/>
              <a:pathLst>
                <a:path w="34925" h="1270">
                  <a:moveTo>
                    <a:pt x="34366" y="0"/>
                  </a:moveTo>
                  <a:lnTo>
                    <a:pt x="444" y="0"/>
                  </a:lnTo>
                  <a:lnTo>
                    <a:pt x="228" y="0"/>
                  </a:lnTo>
                  <a:lnTo>
                    <a:pt x="0" y="228"/>
                  </a:lnTo>
                  <a:lnTo>
                    <a:pt x="0" y="723"/>
                  </a:lnTo>
                  <a:lnTo>
                    <a:pt x="228" y="901"/>
                  </a:lnTo>
                  <a:lnTo>
                    <a:pt x="34366" y="901"/>
                  </a:lnTo>
                  <a:lnTo>
                    <a:pt x="34531" y="723"/>
                  </a:lnTo>
                  <a:lnTo>
                    <a:pt x="34531" y="228"/>
                  </a:lnTo>
                  <a:lnTo>
                    <a:pt x="34366" y="0"/>
                  </a:lnTo>
                  <a:close/>
                </a:path>
              </a:pathLst>
            </a:custGeom>
            <a:solidFill>
              <a:srgbClr val="FFFFFF"/>
            </a:solidFill>
          </p:spPr>
          <p:txBody>
            <a:bodyPr wrap="square" lIns="0" tIns="0" rIns="0" bIns="0" rtlCol="0"/>
            <a:lstStyle/>
            <a:p/>
          </p:txBody>
        </p:sp>
        <p:sp>
          <p:nvSpPr>
            <p:cNvPr id="248" name="object 248" descr=""/>
            <p:cNvSpPr/>
            <p:nvPr/>
          </p:nvSpPr>
          <p:spPr>
            <a:xfrm>
              <a:off x="3987713" y="3954534"/>
              <a:ext cx="34925" cy="1270"/>
            </a:xfrm>
            <a:custGeom>
              <a:avLst/>
              <a:gdLst/>
              <a:ahLst/>
              <a:cxnLst/>
              <a:rect l="l" t="t" r="r" b="b"/>
              <a:pathLst>
                <a:path w="34925" h="1270">
                  <a:moveTo>
                    <a:pt x="444" y="0"/>
                  </a:moveTo>
                  <a:lnTo>
                    <a:pt x="34086" y="0"/>
                  </a:lnTo>
                  <a:lnTo>
                    <a:pt x="34366" y="0"/>
                  </a:lnTo>
                  <a:lnTo>
                    <a:pt x="34531" y="228"/>
                  </a:lnTo>
                  <a:lnTo>
                    <a:pt x="34531" y="444"/>
                  </a:lnTo>
                  <a:lnTo>
                    <a:pt x="34531" y="723"/>
                  </a:lnTo>
                  <a:lnTo>
                    <a:pt x="34366" y="901"/>
                  </a:lnTo>
                  <a:lnTo>
                    <a:pt x="34086" y="901"/>
                  </a:lnTo>
                  <a:lnTo>
                    <a:pt x="444" y="901"/>
                  </a:lnTo>
                  <a:lnTo>
                    <a:pt x="228" y="901"/>
                  </a:lnTo>
                  <a:lnTo>
                    <a:pt x="0" y="723"/>
                  </a:lnTo>
                  <a:lnTo>
                    <a:pt x="0" y="444"/>
                  </a:lnTo>
                  <a:lnTo>
                    <a:pt x="0" y="228"/>
                  </a:lnTo>
                  <a:lnTo>
                    <a:pt x="228" y="0"/>
                  </a:lnTo>
                  <a:lnTo>
                    <a:pt x="444" y="0"/>
                  </a:lnTo>
                  <a:close/>
                </a:path>
              </a:pathLst>
            </a:custGeom>
            <a:ln w="3175">
              <a:solidFill>
                <a:srgbClr val="000000"/>
              </a:solidFill>
            </a:ln>
          </p:spPr>
          <p:txBody>
            <a:bodyPr wrap="square" lIns="0" tIns="0" rIns="0" bIns="0" rtlCol="0"/>
            <a:lstStyle/>
            <a:p/>
          </p:txBody>
        </p:sp>
        <p:sp>
          <p:nvSpPr>
            <p:cNvPr id="249" name="object 249" descr=""/>
            <p:cNvSpPr/>
            <p:nvPr/>
          </p:nvSpPr>
          <p:spPr>
            <a:xfrm>
              <a:off x="3987114" y="3953636"/>
              <a:ext cx="36195" cy="3175"/>
            </a:xfrm>
            <a:custGeom>
              <a:avLst/>
              <a:gdLst/>
              <a:ahLst/>
              <a:cxnLst/>
              <a:rect l="l" t="t" r="r" b="b"/>
              <a:pathLst>
                <a:path w="36195" h="3175">
                  <a:moveTo>
                    <a:pt x="35712" y="0"/>
                  </a:moveTo>
                  <a:lnTo>
                    <a:pt x="0" y="0"/>
                  </a:lnTo>
                  <a:lnTo>
                    <a:pt x="0" y="2692"/>
                  </a:lnTo>
                  <a:lnTo>
                    <a:pt x="35712" y="2692"/>
                  </a:lnTo>
                  <a:lnTo>
                    <a:pt x="35712" y="0"/>
                  </a:lnTo>
                  <a:close/>
                </a:path>
              </a:pathLst>
            </a:custGeom>
            <a:solidFill>
              <a:srgbClr val="CECECE"/>
            </a:solidFill>
          </p:spPr>
          <p:txBody>
            <a:bodyPr wrap="square" lIns="0" tIns="0" rIns="0" bIns="0" rtlCol="0"/>
            <a:lstStyle/>
            <a:p/>
          </p:txBody>
        </p:sp>
        <p:sp>
          <p:nvSpPr>
            <p:cNvPr id="250" name="object 250" descr=""/>
            <p:cNvSpPr/>
            <p:nvPr/>
          </p:nvSpPr>
          <p:spPr>
            <a:xfrm>
              <a:off x="3985929" y="3952737"/>
              <a:ext cx="34290" cy="0"/>
            </a:xfrm>
            <a:custGeom>
              <a:avLst/>
              <a:gdLst/>
              <a:ahLst/>
              <a:cxnLst/>
              <a:rect l="l" t="t" r="r" b="b"/>
              <a:pathLst>
                <a:path w="34289" h="0">
                  <a:moveTo>
                    <a:pt x="0" y="0"/>
                  </a:moveTo>
                  <a:lnTo>
                    <a:pt x="33934" y="0"/>
                  </a:lnTo>
                </a:path>
              </a:pathLst>
            </a:custGeom>
            <a:ln w="3175">
              <a:solidFill>
                <a:srgbClr val="3E3E3E"/>
              </a:solidFill>
            </a:ln>
          </p:spPr>
          <p:txBody>
            <a:bodyPr wrap="square" lIns="0" tIns="0" rIns="0" bIns="0" rtlCol="0"/>
            <a:lstStyle/>
            <a:p/>
          </p:txBody>
        </p:sp>
        <p:sp>
          <p:nvSpPr>
            <p:cNvPr id="251" name="object 251" descr=""/>
            <p:cNvSpPr/>
            <p:nvPr/>
          </p:nvSpPr>
          <p:spPr>
            <a:xfrm>
              <a:off x="3987114" y="3988219"/>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52" name="object 252" descr=""/>
            <p:cNvSpPr/>
            <p:nvPr/>
          </p:nvSpPr>
          <p:spPr>
            <a:xfrm>
              <a:off x="3987713" y="3988668"/>
              <a:ext cx="34925" cy="1905"/>
            </a:xfrm>
            <a:custGeom>
              <a:avLst/>
              <a:gdLst/>
              <a:ahLst/>
              <a:cxnLst/>
              <a:rect l="l" t="t" r="r" b="b"/>
              <a:pathLst>
                <a:path w="34925" h="1904">
                  <a:moveTo>
                    <a:pt x="34366" y="0"/>
                  </a:moveTo>
                  <a:lnTo>
                    <a:pt x="444" y="0"/>
                  </a:lnTo>
                  <a:lnTo>
                    <a:pt x="228" y="0"/>
                  </a:lnTo>
                  <a:lnTo>
                    <a:pt x="0" y="342"/>
                  </a:lnTo>
                  <a:lnTo>
                    <a:pt x="0" y="1092"/>
                  </a:lnTo>
                  <a:lnTo>
                    <a:pt x="228" y="1346"/>
                  </a:lnTo>
                  <a:lnTo>
                    <a:pt x="34366" y="1346"/>
                  </a:lnTo>
                  <a:lnTo>
                    <a:pt x="34531" y="1092"/>
                  </a:lnTo>
                  <a:lnTo>
                    <a:pt x="34531" y="342"/>
                  </a:lnTo>
                  <a:lnTo>
                    <a:pt x="34366" y="0"/>
                  </a:lnTo>
                  <a:close/>
                </a:path>
              </a:pathLst>
            </a:custGeom>
            <a:solidFill>
              <a:srgbClr val="FFFFFF"/>
            </a:solidFill>
          </p:spPr>
          <p:txBody>
            <a:bodyPr wrap="square" lIns="0" tIns="0" rIns="0" bIns="0" rtlCol="0"/>
            <a:lstStyle/>
            <a:p/>
          </p:txBody>
        </p:sp>
        <p:sp>
          <p:nvSpPr>
            <p:cNvPr id="253" name="object 253" descr=""/>
            <p:cNvSpPr/>
            <p:nvPr/>
          </p:nvSpPr>
          <p:spPr>
            <a:xfrm>
              <a:off x="3987713" y="3988668"/>
              <a:ext cx="34925" cy="1905"/>
            </a:xfrm>
            <a:custGeom>
              <a:avLst/>
              <a:gdLst/>
              <a:ahLst/>
              <a:cxnLst/>
              <a:rect l="l" t="t" r="r" b="b"/>
              <a:pathLst>
                <a:path w="34925" h="1904">
                  <a:moveTo>
                    <a:pt x="444" y="0"/>
                  </a:moveTo>
                  <a:lnTo>
                    <a:pt x="34086" y="0"/>
                  </a:lnTo>
                  <a:lnTo>
                    <a:pt x="34366" y="0"/>
                  </a:lnTo>
                  <a:lnTo>
                    <a:pt x="34531" y="342"/>
                  </a:lnTo>
                  <a:lnTo>
                    <a:pt x="34531" y="673"/>
                  </a:lnTo>
                  <a:lnTo>
                    <a:pt x="34531" y="1092"/>
                  </a:lnTo>
                  <a:lnTo>
                    <a:pt x="34366" y="1346"/>
                  </a:lnTo>
                  <a:lnTo>
                    <a:pt x="34086" y="1346"/>
                  </a:lnTo>
                  <a:lnTo>
                    <a:pt x="444" y="1346"/>
                  </a:lnTo>
                  <a:lnTo>
                    <a:pt x="228" y="1346"/>
                  </a:lnTo>
                  <a:lnTo>
                    <a:pt x="0" y="1092"/>
                  </a:lnTo>
                  <a:lnTo>
                    <a:pt x="0" y="673"/>
                  </a:lnTo>
                  <a:lnTo>
                    <a:pt x="0" y="342"/>
                  </a:lnTo>
                  <a:lnTo>
                    <a:pt x="228" y="0"/>
                  </a:lnTo>
                  <a:lnTo>
                    <a:pt x="444" y="0"/>
                  </a:lnTo>
                  <a:close/>
                </a:path>
              </a:pathLst>
            </a:custGeom>
            <a:ln w="3175">
              <a:solidFill>
                <a:srgbClr val="000000"/>
              </a:solidFill>
            </a:ln>
          </p:spPr>
          <p:txBody>
            <a:bodyPr wrap="square" lIns="0" tIns="0" rIns="0" bIns="0" rtlCol="0"/>
            <a:lstStyle/>
            <a:p/>
          </p:txBody>
        </p:sp>
        <p:sp>
          <p:nvSpPr>
            <p:cNvPr id="254" name="object 254" descr=""/>
            <p:cNvSpPr/>
            <p:nvPr/>
          </p:nvSpPr>
          <p:spPr>
            <a:xfrm>
              <a:off x="3987114" y="3988219"/>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55" name="object 255" descr=""/>
            <p:cNvSpPr/>
            <p:nvPr/>
          </p:nvSpPr>
          <p:spPr>
            <a:xfrm>
              <a:off x="3985929" y="3987321"/>
              <a:ext cx="34290" cy="0"/>
            </a:xfrm>
            <a:custGeom>
              <a:avLst/>
              <a:gdLst/>
              <a:ahLst/>
              <a:cxnLst/>
              <a:rect l="l" t="t" r="r" b="b"/>
              <a:pathLst>
                <a:path w="34289" h="0">
                  <a:moveTo>
                    <a:pt x="0" y="0"/>
                  </a:moveTo>
                  <a:lnTo>
                    <a:pt x="33934" y="0"/>
                  </a:lnTo>
                </a:path>
              </a:pathLst>
            </a:custGeom>
            <a:ln w="3175">
              <a:solidFill>
                <a:srgbClr val="3E3E3E"/>
              </a:solidFill>
            </a:ln>
          </p:spPr>
          <p:txBody>
            <a:bodyPr wrap="square" lIns="0" tIns="0" rIns="0" bIns="0" rtlCol="0"/>
            <a:lstStyle/>
            <a:p/>
          </p:txBody>
        </p:sp>
        <p:sp>
          <p:nvSpPr>
            <p:cNvPr id="256" name="object 256" descr=""/>
            <p:cNvSpPr/>
            <p:nvPr/>
          </p:nvSpPr>
          <p:spPr>
            <a:xfrm>
              <a:off x="3987114" y="4018318"/>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57" name="object 257" descr=""/>
            <p:cNvSpPr/>
            <p:nvPr/>
          </p:nvSpPr>
          <p:spPr>
            <a:xfrm>
              <a:off x="3987713" y="4018761"/>
              <a:ext cx="34925" cy="1905"/>
            </a:xfrm>
            <a:custGeom>
              <a:avLst/>
              <a:gdLst/>
              <a:ahLst/>
              <a:cxnLst/>
              <a:rect l="l" t="t" r="r" b="b"/>
              <a:pathLst>
                <a:path w="34925" h="1904">
                  <a:moveTo>
                    <a:pt x="34366" y="0"/>
                  </a:moveTo>
                  <a:lnTo>
                    <a:pt x="444" y="0"/>
                  </a:lnTo>
                  <a:lnTo>
                    <a:pt x="228" y="0"/>
                  </a:lnTo>
                  <a:lnTo>
                    <a:pt x="0" y="342"/>
                  </a:lnTo>
                  <a:lnTo>
                    <a:pt x="0" y="1092"/>
                  </a:lnTo>
                  <a:lnTo>
                    <a:pt x="228" y="1346"/>
                  </a:lnTo>
                  <a:lnTo>
                    <a:pt x="34366" y="1346"/>
                  </a:lnTo>
                  <a:lnTo>
                    <a:pt x="34531" y="1092"/>
                  </a:lnTo>
                  <a:lnTo>
                    <a:pt x="34531" y="342"/>
                  </a:lnTo>
                  <a:lnTo>
                    <a:pt x="34366" y="0"/>
                  </a:lnTo>
                  <a:close/>
                </a:path>
              </a:pathLst>
            </a:custGeom>
            <a:solidFill>
              <a:srgbClr val="FFFFFF"/>
            </a:solidFill>
          </p:spPr>
          <p:txBody>
            <a:bodyPr wrap="square" lIns="0" tIns="0" rIns="0" bIns="0" rtlCol="0"/>
            <a:lstStyle/>
            <a:p/>
          </p:txBody>
        </p:sp>
        <p:sp>
          <p:nvSpPr>
            <p:cNvPr id="258" name="object 258" descr=""/>
            <p:cNvSpPr/>
            <p:nvPr/>
          </p:nvSpPr>
          <p:spPr>
            <a:xfrm>
              <a:off x="3987713" y="4018761"/>
              <a:ext cx="34925" cy="1905"/>
            </a:xfrm>
            <a:custGeom>
              <a:avLst/>
              <a:gdLst/>
              <a:ahLst/>
              <a:cxnLst/>
              <a:rect l="l" t="t" r="r" b="b"/>
              <a:pathLst>
                <a:path w="34925" h="1904">
                  <a:moveTo>
                    <a:pt x="444" y="0"/>
                  </a:moveTo>
                  <a:lnTo>
                    <a:pt x="34086" y="0"/>
                  </a:lnTo>
                  <a:lnTo>
                    <a:pt x="34366" y="0"/>
                  </a:lnTo>
                  <a:lnTo>
                    <a:pt x="34531" y="342"/>
                  </a:lnTo>
                  <a:lnTo>
                    <a:pt x="34531" y="673"/>
                  </a:lnTo>
                  <a:lnTo>
                    <a:pt x="34531" y="1092"/>
                  </a:lnTo>
                  <a:lnTo>
                    <a:pt x="34366" y="1346"/>
                  </a:lnTo>
                  <a:lnTo>
                    <a:pt x="34086" y="1346"/>
                  </a:lnTo>
                  <a:lnTo>
                    <a:pt x="444" y="1346"/>
                  </a:lnTo>
                  <a:lnTo>
                    <a:pt x="228" y="1346"/>
                  </a:lnTo>
                  <a:lnTo>
                    <a:pt x="0" y="1092"/>
                  </a:lnTo>
                  <a:lnTo>
                    <a:pt x="0" y="673"/>
                  </a:lnTo>
                  <a:lnTo>
                    <a:pt x="0" y="342"/>
                  </a:lnTo>
                  <a:lnTo>
                    <a:pt x="228" y="0"/>
                  </a:lnTo>
                  <a:lnTo>
                    <a:pt x="444" y="0"/>
                  </a:lnTo>
                  <a:close/>
                </a:path>
              </a:pathLst>
            </a:custGeom>
            <a:ln w="3175">
              <a:solidFill>
                <a:srgbClr val="000000"/>
              </a:solidFill>
            </a:ln>
          </p:spPr>
          <p:txBody>
            <a:bodyPr wrap="square" lIns="0" tIns="0" rIns="0" bIns="0" rtlCol="0"/>
            <a:lstStyle/>
            <a:p/>
          </p:txBody>
        </p:sp>
        <p:sp>
          <p:nvSpPr>
            <p:cNvPr id="259" name="object 259" descr=""/>
            <p:cNvSpPr/>
            <p:nvPr/>
          </p:nvSpPr>
          <p:spPr>
            <a:xfrm>
              <a:off x="3987114" y="4018318"/>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60" name="object 260" descr=""/>
            <p:cNvSpPr/>
            <p:nvPr/>
          </p:nvSpPr>
          <p:spPr>
            <a:xfrm>
              <a:off x="3985929" y="4018311"/>
              <a:ext cx="34290" cy="0"/>
            </a:xfrm>
            <a:custGeom>
              <a:avLst/>
              <a:gdLst/>
              <a:ahLst/>
              <a:cxnLst/>
              <a:rect l="l" t="t" r="r" b="b"/>
              <a:pathLst>
                <a:path w="34289" h="0">
                  <a:moveTo>
                    <a:pt x="0" y="0"/>
                  </a:moveTo>
                  <a:lnTo>
                    <a:pt x="33934" y="0"/>
                  </a:lnTo>
                </a:path>
              </a:pathLst>
            </a:custGeom>
            <a:ln w="3175">
              <a:solidFill>
                <a:srgbClr val="3E3E3E"/>
              </a:solidFill>
            </a:ln>
          </p:spPr>
          <p:txBody>
            <a:bodyPr wrap="square" lIns="0" tIns="0" rIns="0" bIns="0" rtlCol="0"/>
            <a:lstStyle/>
            <a:p/>
          </p:txBody>
        </p:sp>
        <p:sp>
          <p:nvSpPr>
            <p:cNvPr id="261" name="object 261" descr=""/>
            <p:cNvSpPr/>
            <p:nvPr/>
          </p:nvSpPr>
          <p:spPr>
            <a:xfrm>
              <a:off x="3987114" y="4053789"/>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62" name="object 262" descr=""/>
            <p:cNvSpPr/>
            <p:nvPr/>
          </p:nvSpPr>
          <p:spPr>
            <a:xfrm>
              <a:off x="3987713" y="4054243"/>
              <a:ext cx="34925" cy="1905"/>
            </a:xfrm>
            <a:custGeom>
              <a:avLst/>
              <a:gdLst/>
              <a:ahLst/>
              <a:cxnLst/>
              <a:rect l="l" t="t" r="r" b="b"/>
              <a:pathLst>
                <a:path w="34925" h="1904">
                  <a:moveTo>
                    <a:pt x="34366" y="0"/>
                  </a:moveTo>
                  <a:lnTo>
                    <a:pt x="444" y="0"/>
                  </a:lnTo>
                  <a:lnTo>
                    <a:pt x="228" y="0"/>
                  </a:lnTo>
                  <a:lnTo>
                    <a:pt x="0" y="342"/>
                  </a:lnTo>
                  <a:lnTo>
                    <a:pt x="0" y="1092"/>
                  </a:lnTo>
                  <a:lnTo>
                    <a:pt x="228" y="1346"/>
                  </a:lnTo>
                  <a:lnTo>
                    <a:pt x="34366" y="1346"/>
                  </a:lnTo>
                  <a:lnTo>
                    <a:pt x="34531" y="1092"/>
                  </a:lnTo>
                  <a:lnTo>
                    <a:pt x="34531" y="342"/>
                  </a:lnTo>
                  <a:lnTo>
                    <a:pt x="34366" y="0"/>
                  </a:lnTo>
                  <a:close/>
                </a:path>
              </a:pathLst>
            </a:custGeom>
            <a:solidFill>
              <a:srgbClr val="FFFFFF"/>
            </a:solidFill>
          </p:spPr>
          <p:txBody>
            <a:bodyPr wrap="square" lIns="0" tIns="0" rIns="0" bIns="0" rtlCol="0"/>
            <a:lstStyle/>
            <a:p/>
          </p:txBody>
        </p:sp>
        <p:sp>
          <p:nvSpPr>
            <p:cNvPr id="263" name="object 263" descr=""/>
            <p:cNvSpPr/>
            <p:nvPr/>
          </p:nvSpPr>
          <p:spPr>
            <a:xfrm>
              <a:off x="3987713" y="4054243"/>
              <a:ext cx="34925" cy="1905"/>
            </a:xfrm>
            <a:custGeom>
              <a:avLst/>
              <a:gdLst/>
              <a:ahLst/>
              <a:cxnLst/>
              <a:rect l="l" t="t" r="r" b="b"/>
              <a:pathLst>
                <a:path w="34925" h="1904">
                  <a:moveTo>
                    <a:pt x="444" y="0"/>
                  </a:moveTo>
                  <a:lnTo>
                    <a:pt x="34086" y="0"/>
                  </a:lnTo>
                  <a:lnTo>
                    <a:pt x="34366" y="0"/>
                  </a:lnTo>
                  <a:lnTo>
                    <a:pt x="34531" y="342"/>
                  </a:lnTo>
                  <a:lnTo>
                    <a:pt x="34531" y="673"/>
                  </a:lnTo>
                  <a:lnTo>
                    <a:pt x="34531" y="1092"/>
                  </a:lnTo>
                  <a:lnTo>
                    <a:pt x="34366" y="1346"/>
                  </a:lnTo>
                  <a:lnTo>
                    <a:pt x="34086" y="1346"/>
                  </a:lnTo>
                  <a:lnTo>
                    <a:pt x="444" y="1346"/>
                  </a:lnTo>
                  <a:lnTo>
                    <a:pt x="228" y="1346"/>
                  </a:lnTo>
                  <a:lnTo>
                    <a:pt x="0" y="1092"/>
                  </a:lnTo>
                  <a:lnTo>
                    <a:pt x="0" y="673"/>
                  </a:lnTo>
                  <a:lnTo>
                    <a:pt x="0" y="342"/>
                  </a:lnTo>
                  <a:lnTo>
                    <a:pt x="228" y="0"/>
                  </a:lnTo>
                  <a:lnTo>
                    <a:pt x="444" y="0"/>
                  </a:lnTo>
                  <a:close/>
                </a:path>
              </a:pathLst>
            </a:custGeom>
            <a:ln w="3175">
              <a:solidFill>
                <a:srgbClr val="000000"/>
              </a:solidFill>
            </a:ln>
          </p:spPr>
          <p:txBody>
            <a:bodyPr wrap="square" lIns="0" tIns="0" rIns="0" bIns="0" rtlCol="0"/>
            <a:lstStyle/>
            <a:p/>
          </p:txBody>
        </p:sp>
        <p:sp>
          <p:nvSpPr>
            <p:cNvPr id="264" name="object 264" descr=""/>
            <p:cNvSpPr/>
            <p:nvPr/>
          </p:nvSpPr>
          <p:spPr>
            <a:xfrm>
              <a:off x="3987114" y="4053789"/>
              <a:ext cx="36195" cy="2540"/>
            </a:xfrm>
            <a:custGeom>
              <a:avLst/>
              <a:gdLst/>
              <a:ahLst/>
              <a:cxnLst/>
              <a:rect l="l" t="t" r="r" b="b"/>
              <a:pathLst>
                <a:path w="36195" h="2539">
                  <a:moveTo>
                    <a:pt x="35712" y="0"/>
                  </a:moveTo>
                  <a:lnTo>
                    <a:pt x="0" y="0"/>
                  </a:lnTo>
                  <a:lnTo>
                    <a:pt x="0" y="2247"/>
                  </a:lnTo>
                  <a:lnTo>
                    <a:pt x="35712" y="2247"/>
                  </a:lnTo>
                  <a:lnTo>
                    <a:pt x="35712" y="0"/>
                  </a:lnTo>
                  <a:close/>
                </a:path>
              </a:pathLst>
            </a:custGeom>
            <a:solidFill>
              <a:srgbClr val="CECECE"/>
            </a:solidFill>
          </p:spPr>
          <p:txBody>
            <a:bodyPr wrap="square" lIns="0" tIns="0" rIns="0" bIns="0" rtlCol="0"/>
            <a:lstStyle/>
            <a:p/>
          </p:txBody>
        </p:sp>
        <p:sp>
          <p:nvSpPr>
            <p:cNvPr id="265" name="object 265" descr=""/>
            <p:cNvSpPr/>
            <p:nvPr/>
          </p:nvSpPr>
          <p:spPr>
            <a:xfrm>
              <a:off x="3985929" y="4052445"/>
              <a:ext cx="34290" cy="0"/>
            </a:xfrm>
            <a:custGeom>
              <a:avLst/>
              <a:gdLst/>
              <a:ahLst/>
              <a:cxnLst/>
              <a:rect l="l" t="t" r="r" b="b"/>
              <a:pathLst>
                <a:path w="34289" h="0">
                  <a:moveTo>
                    <a:pt x="0" y="0"/>
                  </a:moveTo>
                  <a:lnTo>
                    <a:pt x="33934" y="0"/>
                  </a:lnTo>
                </a:path>
              </a:pathLst>
            </a:custGeom>
            <a:ln w="3175">
              <a:solidFill>
                <a:srgbClr val="3E3E3E"/>
              </a:solidFill>
            </a:ln>
          </p:spPr>
          <p:txBody>
            <a:bodyPr wrap="square" lIns="0" tIns="0" rIns="0" bIns="0" rtlCol="0"/>
            <a:lstStyle/>
            <a:p/>
          </p:txBody>
        </p:sp>
        <p:sp>
          <p:nvSpPr>
            <p:cNvPr id="266" name="object 266" descr=""/>
            <p:cNvSpPr/>
            <p:nvPr/>
          </p:nvSpPr>
          <p:spPr>
            <a:xfrm>
              <a:off x="4021048" y="3703472"/>
              <a:ext cx="1905" cy="167640"/>
            </a:xfrm>
            <a:custGeom>
              <a:avLst/>
              <a:gdLst/>
              <a:ahLst/>
              <a:cxnLst/>
              <a:rect l="l" t="t" r="r" b="b"/>
              <a:pathLst>
                <a:path w="1904" h="167639">
                  <a:moveTo>
                    <a:pt x="1790" y="0"/>
                  </a:moveTo>
                  <a:lnTo>
                    <a:pt x="0" y="0"/>
                  </a:lnTo>
                  <a:lnTo>
                    <a:pt x="0" y="167525"/>
                  </a:lnTo>
                  <a:lnTo>
                    <a:pt x="1790" y="167525"/>
                  </a:lnTo>
                  <a:lnTo>
                    <a:pt x="1790" y="0"/>
                  </a:lnTo>
                  <a:close/>
                </a:path>
              </a:pathLst>
            </a:custGeom>
            <a:solidFill>
              <a:srgbClr val="CECECE"/>
            </a:solidFill>
          </p:spPr>
          <p:txBody>
            <a:bodyPr wrap="square" lIns="0" tIns="0" rIns="0" bIns="0" rtlCol="0"/>
            <a:lstStyle/>
            <a:p/>
          </p:txBody>
        </p:sp>
        <p:sp>
          <p:nvSpPr>
            <p:cNvPr id="267" name="object 267" descr=""/>
            <p:cNvSpPr/>
            <p:nvPr/>
          </p:nvSpPr>
          <p:spPr>
            <a:xfrm>
              <a:off x="4021642" y="3703919"/>
              <a:ext cx="635" cy="167005"/>
            </a:xfrm>
            <a:custGeom>
              <a:avLst/>
              <a:gdLst/>
              <a:ahLst/>
              <a:cxnLst/>
              <a:rect l="l" t="t" r="r" b="b"/>
              <a:pathLst>
                <a:path w="635" h="167004">
                  <a:moveTo>
                    <a:pt x="596" y="571"/>
                  </a:moveTo>
                  <a:lnTo>
                    <a:pt x="596" y="166052"/>
                  </a:lnTo>
                  <a:lnTo>
                    <a:pt x="596" y="166408"/>
                  </a:lnTo>
                  <a:lnTo>
                    <a:pt x="482" y="166624"/>
                  </a:lnTo>
                  <a:lnTo>
                    <a:pt x="304" y="166624"/>
                  </a:lnTo>
                  <a:lnTo>
                    <a:pt x="152" y="166624"/>
                  </a:lnTo>
                  <a:lnTo>
                    <a:pt x="0" y="166408"/>
                  </a:lnTo>
                  <a:lnTo>
                    <a:pt x="0" y="166052"/>
                  </a:lnTo>
                  <a:lnTo>
                    <a:pt x="0" y="571"/>
                  </a:lnTo>
                  <a:lnTo>
                    <a:pt x="0" y="279"/>
                  </a:lnTo>
                  <a:lnTo>
                    <a:pt x="152" y="0"/>
                  </a:lnTo>
                  <a:lnTo>
                    <a:pt x="304" y="0"/>
                  </a:lnTo>
                  <a:lnTo>
                    <a:pt x="482" y="0"/>
                  </a:lnTo>
                  <a:lnTo>
                    <a:pt x="596" y="279"/>
                  </a:lnTo>
                  <a:lnTo>
                    <a:pt x="596" y="571"/>
                  </a:lnTo>
                  <a:close/>
                </a:path>
              </a:pathLst>
            </a:custGeom>
            <a:ln w="3175">
              <a:solidFill>
                <a:srgbClr val="000000"/>
              </a:solidFill>
            </a:ln>
          </p:spPr>
          <p:txBody>
            <a:bodyPr wrap="square" lIns="0" tIns="0" rIns="0" bIns="0" rtlCol="0"/>
            <a:lstStyle/>
            <a:p/>
          </p:txBody>
        </p:sp>
        <p:sp>
          <p:nvSpPr>
            <p:cNvPr id="268" name="object 268" descr=""/>
            <p:cNvSpPr/>
            <p:nvPr/>
          </p:nvSpPr>
          <p:spPr>
            <a:xfrm>
              <a:off x="4021048" y="3703472"/>
              <a:ext cx="1905" cy="167640"/>
            </a:xfrm>
            <a:custGeom>
              <a:avLst/>
              <a:gdLst/>
              <a:ahLst/>
              <a:cxnLst/>
              <a:rect l="l" t="t" r="r" b="b"/>
              <a:pathLst>
                <a:path w="1904" h="167639">
                  <a:moveTo>
                    <a:pt x="1790" y="0"/>
                  </a:moveTo>
                  <a:lnTo>
                    <a:pt x="0" y="0"/>
                  </a:lnTo>
                  <a:lnTo>
                    <a:pt x="0" y="167525"/>
                  </a:lnTo>
                  <a:lnTo>
                    <a:pt x="1790" y="167525"/>
                  </a:lnTo>
                  <a:lnTo>
                    <a:pt x="1790" y="0"/>
                  </a:lnTo>
                  <a:close/>
                </a:path>
              </a:pathLst>
            </a:custGeom>
            <a:solidFill>
              <a:srgbClr val="CECECE"/>
            </a:solidFill>
          </p:spPr>
          <p:txBody>
            <a:bodyPr wrap="square" lIns="0" tIns="0" rIns="0" bIns="0" rtlCol="0"/>
            <a:lstStyle/>
            <a:p/>
          </p:txBody>
        </p:sp>
        <p:sp>
          <p:nvSpPr>
            <p:cNvPr id="269" name="object 269" descr=""/>
            <p:cNvSpPr/>
            <p:nvPr/>
          </p:nvSpPr>
          <p:spPr>
            <a:xfrm>
              <a:off x="4019858" y="3703467"/>
              <a:ext cx="0" cy="164465"/>
            </a:xfrm>
            <a:custGeom>
              <a:avLst/>
              <a:gdLst/>
              <a:ahLst/>
              <a:cxnLst/>
              <a:rect l="l" t="t" r="r" b="b"/>
              <a:pathLst>
                <a:path w="0" h="164464">
                  <a:moveTo>
                    <a:pt x="0" y="0"/>
                  </a:moveTo>
                  <a:lnTo>
                    <a:pt x="0" y="163931"/>
                  </a:lnTo>
                </a:path>
              </a:pathLst>
            </a:custGeom>
            <a:ln w="3175">
              <a:solidFill>
                <a:srgbClr val="3E3E3E"/>
              </a:solidFill>
            </a:ln>
          </p:spPr>
          <p:txBody>
            <a:bodyPr wrap="square" lIns="0" tIns="0" rIns="0" bIns="0" rtlCol="0"/>
            <a:lstStyle/>
            <a:p/>
          </p:txBody>
        </p:sp>
        <p:sp>
          <p:nvSpPr>
            <p:cNvPr id="270" name="object 270" descr=""/>
            <p:cNvSpPr/>
            <p:nvPr/>
          </p:nvSpPr>
          <p:spPr>
            <a:xfrm>
              <a:off x="4021048" y="3868750"/>
              <a:ext cx="15875" cy="2540"/>
            </a:xfrm>
            <a:custGeom>
              <a:avLst/>
              <a:gdLst/>
              <a:ahLst/>
              <a:cxnLst/>
              <a:rect l="l" t="t" r="r" b="b"/>
              <a:pathLst>
                <a:path w="15875" h="2539">
                  <a:moveTo>
                    <a:pt x="15481" y="0"/>
                  </a:moveTo>
                  <a:lnTo>
                    <a:pt x="0" y="0"/>
                  </a:lnTo>
                  <a:lnTo>
                    <a:pt x="0" y="2247"/>
                  </a:lnTo>
                  <a:lnTo>
                    <a:pt x="15481" y="2247"/>
                  </a:lnTo>
                  <a:lnTo>
                    <a:pt x="15481" y="0"/>
                  </a:lnTo>
                  <a:close/>
                </a:path>
              </a:pathLst>
            </a:custGeom>
            <a:solidFill>
              <a:srgbClr val="CECECE"/>
            </a:solidFill>
          </p:spPr>
          <p:txBody>
            <a:bodyPr wrap="square" lIns="0" tIns="0" rIns="0" bIns="0" rtlCol="0"/>
            <a:lstStyle/>
            <a:p/>
          </p:txBody>
        </p:sp>
        <p:sp>
          <p:nvSpPr>
            <p:cNvPr id="271" name="object 271" descr=""/>
            <p:cNvSpPr/>
            <p:nvPr/>
          </p:nvSpPr>
          <p:spPr>
            <a:xfrm>
              <a:off x="4021646" y="3869198"/>
              <a:ext cx="14604" cy="1905"/>
            </a:xfrm>
            <a:custGeom>
              <a:avLst/>
              <a:gdLst/>
              <a:ahLst/>
              <a:cxnLst/>
              <a:rect l="l" t="t" r="r" b="b"/>
              <a:pathLst>
                <a:path w="14604" h="1904">
                  <a:moveTo>
                    <a:pt x="444" y="0"/>
                  </a:moveTo>
                  <a:lnTo>
                    <a:pt x="13843" y="0"/>
                  </a:lnTo>
                  <a:lnTo>
                    <a:pt x="14122" y="0"/>
                  </a:lnTo>
                  <a:lnTo>
                    <a:pt x="14287" y="342"/>
                  </a:lnTo>
                  <a:lnTo>
                    <a:pt x="14287" y="673"/>
                  </a:lnTo>
                  <a:lnTo>
                    <a:pt x="14287" y="1092"/>
                  </a:lnTo>
                  <a:lnTo>
                    <a:pt x="14122" y="1346"/>
                  </a:lnTo>
                  <a:lnTo>
                    <a:pt x="13843" y="1346"/>
                  </a:lnTo>
                  <a:lnTo>
                    <a:pt x="444" y="1346"/>
                  </a:lnTo>
                  <a:lnTo>
                    <a:pt x="215" y="1346"/>
                  </a:lnTo>
                  <a:lnTo>
                    <a:pt x="0" y="1092"/>
                  </a:lnTo>
                  <a:lnTo>
                    <a:pt x="0" y="673"/>
                  </a:lnTo>
                  <a:lnTo>
                    <a:pt x="0" y="342"/>
                  </a:lnTo>
                  <a:lnTo>
                    <a:pt x="215" y="0"/>
                  </a:lnTo>
                  <a:lnTo>
                    <a:pt x="444" y="0"/>
                  </a:lnTo>
                  <a:close/>
                </a:path>
              </a:pathLst>
            </a:custGeom>
            <a:ln w="3175">
              <a:solidFill>
                <a:srgbClr val="000000"/>
              </a:solidFill>
            </a:ln>
          </p:spPr>
          <p:txBody>
            <a:bodyPr wrap="square" lIns="0" tIns="0" rIns="0" bIns="0" rtlCol="0"/>
            <a:lstStyle/>
            <a:p/>
          </p:txBody>
        </p:sp>
        <p:sp>
          <p:nvSpPr>
            <p:cNvPr id="272" name="object 272" descr=""/>
            <p:cNvSpPr/>
            <p:nvPr/>
          </p:nvSpPr>
          <p:spPr>
            <a:xfrm>
              <a:off x="4021048" y="3868750"/>
              <a:ext cx="15875" cy="2540"/>
            </a:xfrm>
            <a:custGeom>
              <a:avLst/>
              <a:gdLst/>
              <a:ahLst/>
              <a:cxnLst/>
              <a:rect l="l" t="t" r="r" b="b"/>
              <a:pathLst>
                <a:path w="15875" h="2539">
                  <a:moveTo>
                    <a:pt x="15481" y="0"/>
                  </a:moveTo>
                  <a:lnTo>
                    <a:pt x="0" y="0"/>
                  </a:lnTo>
                  <a:lnTo>
                    <a:pt x="0" y="2247"/>
                  </a:lnTo>
                  <a:lnTo>
                    <a:pt x="15481" y="2247"/>
                  </a:lnTo>
                  <a:lnTo>
                    <a:pt x="15481" y="0"/>
                  </a:lnTo>
                  <a:close/>
                </a:path>
              </a:pathLst>
            </a:custGeom>
            <a:solidFill>
              <a:srgbClr val="CECECE"/>
            </a:solidFill>
          </p:spPr>
          <p:txBody>
            <a:bodyPr wrap="square" lIns="0" tIns="0" rIns="0" bIns="0" rtlCol="0"/>
            <a:lstStyle/>
            <a:p/>
          </p:txBody>
        </p:sp>
        <p:sp>
          <p:nvSpPr>
            <p:cNvPr id="273" name="object 273" descr=""/>
            <p:cNvSpPr/>
            <p:nvPr/>
          </p:nvSpPr>
          <p:spPr>
            <a:xfrm>
              <a:off x="4019858" y="3867401"/>
              <a:ext cx="13970" cy="0"/>
            </a:xfrm>
            <a:custGeom>
              <a:avLst/>
              <a:gdLst/>
              <a:ahLst/>
              <a:cxnLst/>
              <a:rect l="l" t="t" r="r" b="b"/>
              <a:pathLst>
                <a:path w="13970" h="0">
                  <a:moveTo>
                    <a:pt x="0" y="0"/>
                  </a:moveTo>
                  <a:lnTo>
                    <a:pt x="13690" y="0"/>
                  </a:lnTo>
                </a:path>
              </a:pathLst>
            </a:custGeom>
            <a:ln w="3175">
              <a:solidFill>
                <a:srgbClr val="3E3E3E"/>
              </a:solidFill>
            </a:ln>
          </p:spPr>
          <p:txBody>
            <a:bodyPr wrap="square" lIns="0" tIns="0" rIns="0" bIns="0" rtlCol="0"/>
            <a:lstStyle/>
            <a:p/>
          </p:txBody>
        </p:sp>
        <p:sp>
          <p:nvSpPr>
            <p:cNvPr id="274" name="object 274" descr=""/>
            <p:cNvSpPr/>
            <p:nvPr/>
          </p:nvSpPr>
          <p:spPr>
            <a:xfrm>
              <a:off x="4021048" y="3899738"/>
              <a:ext cx="17780" cy="156845"/>
            </a:xfrm>
            <a:custGeom>
              <a:avLst/>
              <a:gdLst/>
              <a:ahLst/>
              <a:cxnLst/>
              <a:rect l="l" t="t" r="r" b="b"/>
              <a:pathLst>
                <a:path w="17779" h="156845">
                  <a:moveTo>
                    <a:pt x="17259" y="0"/>
                  </a:moveTo>
                  <a:lnTo>
                    <a:pt x="0" y="0"/>
                  </a:lnTo>
                  <a:lnTo>
                    <a:pt x="0" y="156298"/>
                  </a:lnTo>
                  <a:lnTo>
                    <a:pt x="17259" y="156298"/>
                  </a:lnTo>
                  <a:lnTo>
                    <a:pt x="17259" y="0"/>
                  </a:lnTo>
                  <a:close/>
                </a:path>
              </a:pathLst>
            </a:custGeom>
            <a:solidFill>
              <a:srgbClr val="CECECE"/>
            </a:solidFill>
          </p:spPr>
          <p:txBody>
            <a:bodyPr wrap="square" lIns="0" tIns="0" rIns="0" bIns="0" rtlCol="0"/>
            <a:lstStyle/>
            <a:p/>
          </p:txBody>
        </p:sp>
        <p:sp>
          <p:nvSpPr>
            <p:cNvPr id="275" name="object 275" descr=""/>
            <p:cNvSpPr/>
            <p:nvPr/>
          </p:nvSpPr>
          <p:spPr>
            <a:xfrm>
              <a:off x="4021645" y="3900766"/>
              <a:ext cx="16510" cy="154940"/>
            </a:xfrm>
            <a:custGeom>
              <a:avLst/>
              <a:gdLst/>
              <a:ahLst/>
              <a:cxnLst/>
              <a:rect l="l" t="t" r="r" b="b"/>
              <a:pathLst>
                <a:path w="16510" h="154939">
                  <a:moveTo>
                    <a:pt x="16065" y="153670"/>
                  </a:moveTo>
                  <a:lnTo>
                    <a:pt x="15900" y="153670"/>
                  </a:lnTo>
                  <a:lnTo>
                    <a:pt x="889" y="153670"/>
                  </a:lnTo>
                  <a:lnTo>
                    <a:pt x="889" y="0"/>
                  </a:lnTo>
                  <a:lnTo>
                    <a:pt x="0" y="0"/>
                  </a:lnTo>
                  <a:lnTo>
                    <a:pt x="0" y="153670"/>
                  </a:lnTo>
                  <a:lnTo>
                    <a:pt x="0" y="154940"/>
                  </a:lnTo>
                  <a:lnTo>
                    <a:pt x="16065" y="154940"/>
                  </a:lnTo>
                  <a:lnTo>
                    <a:pt x="16065" y="154254"/>
                  </a:lnTo>
                  <a:lnTo>
                    <a:pt x="16065" y="153962"/>
                  </a:lnTo>
                  <a:lnTo>
                    <a:pt x="16065" y="153670"/>
                  </a:lnTo>
                  <a:close/>
                </a:path>
              </a:pathLst>
            </a:custGeom>
            <a:solidFill>
              <a:srgbClr val="FFFFFF"/>
            </a:solidFill>
          </p:spPr>
          <p:txBody>
            <a:bodyPr wrap="square" lIns="0" tIns="0" rIns="0" bIns="0" rtlCol="0"/>
            <a:lstStyle/>
            <a:p/>
          </p:txBody>
        </p:sp>
        <p:sp>
          <p:nvSpPr>
            <p:cNvPr id="276" name="object 276" descr=""/>
            <p:cNvSpPr/>
            <p:nvPr/>
          </p:nvSpPr>
          <p:spPr>
            <a:xfrm>
              <a:off x="4021649" y="3900192"/>
              <a:ext cx="16510" cy="155575"/>
            </a:xfrm>
            <a:custGeom>
              <a:avLst/>
              <a:gdLst/>
              <a:ahLst/>
              <a:cxnLst/>
              <a:rect l="l" t="t" r="r" b="b"/>
              <a:pathLst>
                <a:path w="16510" h="155575">
                  <a:moveTo>
                    <a:pt x="888" y="571"/>
                  </a:moveTo>
                  <a:lnTo>
                    <a:pt x="888" y="154825"/>
                  </a:lnTo>
                  <a:lnTo>
                    <a:pt x="444" y="154241"/>
                  </a:lnTo>
                  <a:lnTo>
                    <a:pt x="15620" y="154241"/>
                  </a:lnTo>
                  <a:lnTo>
                    <a:pt x="15900" y="154241"/>
                  </a:lnTo>
                  <a:lnTo>
                    <a:pt x="16065" y="154533"/>
                  </a:lnTo>
                  <a:lnTo>
                    <a:pt x="16065" y="154825"/>
                  </a:lnTo>
                  <a:lnTo>
                    <a:pt x="16065" y="155181"/>
                  </a:lnTo>
                  <a:lnTo>
                    <a:pt x="15900" y="155397"/>
                  </a:lnTo>
                  <a:lnTo>
                    <a:pt x="15620" y="155397"/>
                  </a:lnTo>
                  <a:lnTo>
                    <a:pt x="444" y="155397"/>
                  </a:lnTo>
                  <a:lnTo>
                    <a:pt x="215" y="155397"/>
                  </a:lnTo>
                  <a:lnTo>
                    <a:pt x="0" y="155181"/>
                  </a:lnTo>
                  <a:lnTo>
                    <a:pt x="0" y="154825"/>
                  </a:lnTo>
                  <a:lnTo>
                    <a:pt x="0" y="571"/>
                  </a:lnTo>
                  <a:lnTo>
                    <a:pt x="0" y="279"/>
                  </a:lnTo>
                  <a:lnTo>
                    <a:pt x="215" y="0"/>
                  </a:lnTo>
                  <a:lnTo>
                    <a:pt x="444" y="0"/>
                  </a:lnTo>
                  <a:lnTo>
                    <a:pt x="723" y="0"/>
                  </a:lnTo>
                  <a:lnTo>
                    <a:pt x="888" y="279"/>
                  </a:lnTo>
                  <a:lnTo>
                    <a:pt x="888" y="571"/>
                  </a:lnTo>
                  <a:close/>
                </a:path>
              </a:pathLst>
            </a:custGeom>
            <a:ln w="3175">
              <a:solidFill>
                <a:srgbClr val="000000"/>
              </a:solidFill>
            </a:ln>
          </p:spPr>
          <p:txBody>
            <a:bodyPr wrap="square" lIns="0" tIns="0" rIns="0" bIns="0" rtlCol="0"/>
            <a:lstStyle/>
            <a:p/>
          </p:txBody>
        </p:sp>
        <p:sp>
          <p:nvSpPr>
            <p:cNvPr id="277" name="object 277" descr=""/>
            <p:cNvSpPr/>
            <p:nvPr/>
          </p:nvSpPr>
          <p:spPr>
            <a:xfrm>
              <a:off x="4021048" y="3899738"/>
              <a:ext cx="17780" cy="156845"/>
            </a:xfrm>
            <a:custGeom>
              <a:avLst/>
              <a:gdLst/>
              <a:ahLst/>
              <a:cxnLst/>
              <a:rect l="l" t="t" r="r" b="b"/>
              <a:pathLst>
                <a:path w="17779" h="156845">
                  <a:moveTo>
                    <a:pt x="17259" y="0"/>
                  </a:moveTo>
                  <a:lnTo>
                    <a:pt x="0" y="0"/>
                  </a:lnTo>
                  <a:lnTo>
                    <a:pt x="0" y="156298"/>
                  </a:lnTo>
                  <a:lnTo>
                    <a:pt x="17259" y="156298"/>
                  </a:lnTo>
                  <a:lnTo>
                    <a:pt x="17259" y="0"/>
                  </a:lnTo>
                  <a:close/>
                </a:path>
              </a:pathLst>
            </a:custGeom>
            <a:solidFill>
              <a:srgbClr val="CECECE"/>
            </a:solidFill>
          </p:spPr>
          <p:txBody>
            <a:bodyPr wrap="square" lIns="0" tIns="0" rIns="0" bIns="0" rtlCol="0"/>
            <a:lstStyle/>
            <a:p/>
          </p:txBody>
        </p:sp>
        <p:sp>
          <p:nvSpPr>
            <p:cNvPr id="278" name="object 278" descr=""/>
            <p:cNvSpPr/>
            <p:nvPr/>
          </p:nvSpPr>
          <p:spPr>
            <a:xfrm>
              <a:off x="4019858" y="3898841"/>
              <a:ext cx="15875" cy="153670"/>
            </a:xfrm>
            <a:custGeom>
              <a:avLst/>
              <a:gdLst/>
              <a:ahLst/>
              <a:cxnLst/>
              <a:rect l="l" t="t" r="r" b="b"/>
              <a:pathLst>
                <a:path w="15875" h="153670">
                  <a:moveTo>
                    <a:pt x="0" y="0"/>
                  </a:moveTo>
                  <a:lnTo>
                    <a:pt x="0" y="153606"/>
                  </a:lnTo>
                  <a:lnTo>
                    <a:pt x="15481" y="153606"/>
                  </a:lnTo>
                </a:path>
              </a:pathLst>
            </a:custGeom>
            <a:ln w="3175">
              <a:solidFill>
                <a:srgbClr val="3E3E3E"/>
              </a:solidFill>
            </a:ln>
          </p:spPr>
          <p:txBody>
            <a:bodyPr wrap="square" lIns="0" tIns="0" rIns="0" bIns="0" rtlCol="0"/>
            <a:lstStyle/>
            <a:p/>
          </p:txBody>
        </p:sp>
        <p:pic>
          <p:nvPicPr>
            <p:cNvPr id="279" name="object 279"/>
            <p:cNvPicPr/>
            <p:nvPr/>
          </p:nvPicPr>
          <p:blipFill>
            <a:blip r:embed="rId24" cstate="print"/>
            <a:stretch>
              <a:fillRect/>
            </a:stretch>
          </p:blipFill>
          <p:spPr>
            <a:xfrm>
              <a:off x="4028812" y="3852582"/>
              <a:ext cx="33308" cy="33425"/>
            </a:xfrm>
            <a:prstGeom prst="rect">
              <a:avLst/>
            </a:prstGeom>
          </p:spPr>
        </p:pic>
        <p:pic>
          <p:nvPicPr>
            <p:cNvPr id="280" name="object 280"/>
            <p:cNvPicPr/>
            <p:nvPr/>
          </p:nvPicPr>
          <p:blipFill>
            <a:blip r:embed="rId24" cstate="print"/>
            <a:stretch>
              <a:fillRect/>
            </a:stretch>
          </p:blipFill>
          <p:spPr>
            <a:xfrm>
              <a:off x="4032351" y="4039882"/>
              <a:ext cx="32753" cy="32495"/>
            </a:xfrm>
            <a:prstGeom prst="rect">
              <a:avLst/>
            </a:prstGeom>
          </p:spPr>
        </p:pic>
        <p:pic>
          <p:nvPicPr>
            <p:cNvPr id="281" name="object 281" descr=""/>
            <p:cNvPicPr/>
            <p:nvPr/>
          </p:nvPicPr>
          <p:blipFill>
            <a:blip r:embed="rId25" cstate="print"/>
            <a:stretch>
              <a:fillRect/>
            </a:stretch>
          </p:blipFill>
          <p:spPr>
            <a:xfrm>
              <a:off x="4056761" y="4043463"/>
              <a:ext cx="95813" cy="34810"/>
            </a:xfrm>
            <a:prstGeom prst="rect">
              <a:avLst/>
            </a:prstGeom>
          </p:spPr>
        </p:pic>
      </p:grpSp>
      <p:sp>
        <p:nvSpPr>
          <p:cNvPr id="282" name="object 282" descr=""/>
          <p:cNvSpPr txBox="1"/>
          <p:nvPr/>
        </p:nvSpPr>
        <p:spPr>
          <a:xfrm>
            <a:off x="2954237" y="2949933"/>
            <a:ext cx="167640" cy="208279"/>
          </a:xfrm>
          <a:prstGeom prst="rect">
            <a:avLst/>
          </a:prstGeom>
        </p:spPr>
        <p:txBody>
          <a:bodyPr wrap="square" lIns="0" tIns="12700" rIns="0" bIns="0" rtlCol="0" vert="horz">
            <a:spAutoFit/>
          </a:bodyPr>
          <a:lstStyle/>
          <a:p>
            <a:pPr algn="just" marL="12700" marR="5080">
              <a:lnSpc>
                <a:spcPct val="100000"/>
              </a:lnSpc>
              <a:spcBef>
                <a:spcPts val="100"/>
              </a:spcBef>
            </a:pPr>
            <a:r>
              <a:rPr dirty="0" sz="300" spc="-25">
                <a:solidFill>
                  <a:srgbClr val="FFFFFF"/>
                </a:solidFill>
                <a:latin typeface="Microsoft YaHei"/>
                <a:cs typeface="Microsoft YaHei"/>
              </a:rPr>
              <a:t>xxxxxxxx</a:t>
            </a:r>
            <a:r>
              <a:rPr dirty="0" sz="300" spc="500">
                <a:solidFill>
                  <a:srgbClr val="FFFFFF"/>
                </a:solidFill>
                <a:latin typeface="Microsoft YaHei"/>
                <a:cs typeface="Microsoft YaHei"/>
              </a:rPr>
              <a:t> </a:t>
            </a:r>
            <a:r>
              <a:rPr dirty="0" sz="300" spc="-25">
                <a:solidFill>
                  <a:srgbClr val="FFFFFF"/>
                </a:solidFill>
                <a:latin typeface="Microsoft YaHei"/>
                <a:cs typeface="Microsoft YaHei"/>
              </a:rPr>
              <a:t>xxxxxxxx</a:t>
            </a:r>
            <a:r>
              <a:rPr dirty="0" sz="300" spc="500">
                <a:solidFill>
                  <a:srgbClr val="FFFFFF"/>
                </a:solidFill>
                <a:latin typeface="Microsoft YaHei"/>
                <a:cs typeface="Microsoft YaHei"/>
              </a:rPr>
              <a:t> </a:t>
            </a:r>
            <a:r>
              <a:rPr dirty="0" sz="300" spc="-25">
                <a:solidFill>
                  <a:srgbClr val="FFFFFF"/>
                </a:solidFill>
                <a:latin typeface="Microsoft YaHei"/>
                <a:cs typeface="Microsoft YaHei"/>
              </a:rPr>
              <a:t>xxxxxxxx</a:t>
            </a:r>
            <a:r>
              <a:rPr dirty="0" sz="300" spc="500">
                <a:solidFill>
                  <a:srgbClr val="FFFFFF"/>
                </a:solidFill>
                <a:latin typeface="Microsoft YaHei"/>
                <a:cs typeface="Microsoft YaHei"/>
              </a:rPr>
              <a:t> </a:t>
            </a:r>
            <a:r>
              <a:rPr dirty="0" sz="300" spc="-25">
                <a:solidFill>
                  <a:srgbClr val="FFFFFF"/>
                </a:solidFill>
                <a:latin typeface="Microsoft YaHei"/>
                <a:cs typeface="Microsoft YaHei"/>
              </a:rPr>
              <a:t>xxxxxxxx</a:t>
            </a:r>
            <a:endParaRPr sz="300">
              <a:latin typeface="Microsoft YaHei"/>
              <a:cs typeface="Microsoft YaHei"/>
            </a:endParaRPr>
          </a:p>
        </p:txBody>
      </p:sp>
      <p:grpSp>
        <p:nvGrpSpPr>
          <p:cNvPr id="283" name="object 283" descr=""/>
          <p:cNvGrpSpPr/>
          <p:nvPr/>
        </p:nvGrpSpPr>
        <p:grpSpPr>
          <a:xfrm>
            <a:off x="3730752" y="2933412"/>
            <a:ext cx="3644900" cy="461645"/>
            <a:chOff x="3730752" y="2933412"/>
            <a:chExt cx="3644900" cy="461645"/>
          </a:xfrm>
        </p:grpSpPr>
        <p:sp>
          <p:nvSpPr>
            <p:cNvPr id="284" name="object 284" descr=""/>
            <p:cNvSpPr/>
            <p:nvPr/>
          </p:nvSpPr>
          <p:spPr>
            <a:xfrm>
              <a:off x="3868917" y="3216786"/>
              <a:ext cx="553720" cy="105410"/>
            </a:xfrm>
            <a:custGeom>
              <a:avLst/>
              <a:gdLst/>
              <a:ahLst/>
              <a:cxnLst/>
              <a:rect l="l" t="t" r="r" b="b"/>
              <a:pathLst>
                <a:path w="553720" h="105410">
                  <a:moveTo>
                    <a:pt x="27813" y="0"/>
                  </a:moveTo>
                  <a:lnTo>
                    <a:pt x="0" y="55295"/>
                  </a:lnTo>
                  <a:lnTo>
                    <a:pt x="525576" y="105016"/>
                  </a:lnTo>
                  <a:lnTo>
                    <a:pt x="553389" y="49720"/>
                  </a:lnTo>
                  <a:lnTo>
                    <a:pt x="27813" y="0"/>
                  </a:lnTo>
                  <a:close/>
                </a:path>
              </a:pathLst>
            </a:custGeom>
            <a:solidFill>
              <a:srgbClr val="979797"/>
            </a:solidFill>
          </p:spPr>
          <p:txBody>
            <a:bodyPr wrap="square" lIns="0" tIns="0" rIns="0" bIns="0" rtlCol="0"/>
            <a:lstStyle/>
            <a:p/>
          </p:txBody>
        </p:sp>
        <p:pic>
          <p:nvPicPr>
            <p:cNvPr id="285" name="object 285" descr=""/>
            <p:cNvPicPr/>
            <p:nvPr/>
          </p:nvPicPr>
          <p:blipFill>
            <a:blip r:embed="rId26" cstate="print"/>
            <a:stretch>
              <a:fillRect/>
            </a:stretch>
          </p:blipFill>
          <p:spPr>
            <a:xfrm>
              <a:off x="3730752" y="3069336"/>
              <a:ext cx="55691" cy="201168"/>
            </a:xfrm>
            <a:prstGeom prst="rect">
              <a:avLst/>
            </a:prstGeom>
          </p:spPr>
        </p:pic>
        <p:pic>
          <p:nvPicPr>
            <p:cNvPr id="286" name="object 286" descr=""/>
            <p:cNvPicPr/>
            <p:nvPr/>
          </p:nvPicPr>
          <p:blipFill>
            <a:blip r:embed="rId27" cstate="print"/>
            <a:stretch>
              <a:fillRect/>
            </a:stretch>
          </p:blipFill>
          <p:spPr>
            <a:xfrm>
              <a:off x="3757663" y="3126943"/>
              <a:ext cx="280835" cy="131203"/>
            </a:xfrm>
            <a:prstGeom prst="rect">
              <a:avLst/>
            </a:prstGeom>
          </p:spPr>
        </p:pic>
        <p:sp>
          <p:nvSpPr>
            <p:cNvPr id="287" name="object 287" descr=""/>
            <p:cNvSpPr/>
            <p:nvPr/>
          </p:nvSpPr>
          <p:spPr>
            <a:xfrm>
              <a:off x="4070363" y="3030027"/>
              <a:ext cx="77470" cy="19050"/>
            </a:xfrm>
            <a:custGeom>
              <a:avLst/>
              <a:gdLst/>
              <a:ahLst/>
              <a:cxnLst/>
              <a:rect l="l" t="t" r="r" b="b"/>
              <a:pathLst>
                <a:path w="77470" h="19050">
                  <a:moveTo>
                    <a:pt x="77000" y="0"/>
                  </a:moveTo>
                  <a:lnTo>
                    <a:pt x="0" y="5092"/>
                  </a:lnTo>
                  <a:lnTo>
                    <a:pt x="0" y="18478"/>
                  </a:lnTo>
                  <a:lnTo>
                    <a:pt x="77000" y="13233"/>
                  </a:lnTo>
                  <a:lnTo>
                    <a:pt x="77000" y="0"/>
                  </a:lnTo>
                  <a:close/>
                </a:path>
              </a:pathLst>
            </a:custGeom>
            <a:solidFill>
              <a:srgbClr val="CACACA"/>
            </a:solidFill>
          </p:spPr>
          <p:txBody>
            <a:bodyPr wrap="square" lIns="0" tIns="0" rIns="0" bIns="0" rtlCol="0"/>
            <a:lstStyle/>
            <a:p/>
          </p:txBody>
        </p:sp>
        <p:sp>
          <p:nvSpPr>
            <p:cNvPr id="288" name="object 288" descr=""/>
            <p:cNvSpPr/>
            <p:nvPr/>
          </p:nvSpPr>
          <p:spPr>
            <a:xfrm>
              <a:off x="4147353" y="3030025"/>
              <a:ext cx="28575" cy="20955"/>
            </a:xfrm>
            <a:custGeom>
              <a:avLst/>
              <a:gdLst/>
              <a:ahLst/>
              <a:cxnLst/>
              <a:rect l="l" t="t" r="r" b="b"/>
              <a:pathLst>
                <a:path w="28575" h="20955">
                  <a:moveTo>
                    <a:pt x="0" y="0"/>
                  </a:moveTo>
                  <a:lnTo>
                    <a:pt x="0" y="13347"/>
                  </a:lnTo>
                  <a:lnTo>
                    <a:pt x="28003" y="20955"/>
                  </a:lnTo>
                  <a:lnTo>
                    <a:pt x="28003" y="7594"/>
                  </a:lnTo>
                  <a:lnTo>
                    <a:pt x="0" y="0"/>
                  </a:lnTo>
                  <a:close/>
                </a:path>
              </a:pathLst>
            </a:custGeom>
            <a:solidFill>
              <a:srgbClr val="F5EDE6"/>
            </a:solidFill>
          </p:spPr>
          <p:txBody>
            <a:bodyPr wrap="square" lIns="0" tIns="0" rIns="0" bIns="0" rtlCol="0"/>
            <a:lstStyle/>
            <a:p/>
          </p:txBody>
        </p:sp>
        <p:sp>
          <p:nvSpPr>
            <p:cNvPr id="289" name="object 289" descr=""/>
            <p:cNvSpPr/>
            <p:nvPr/>
          </p:nvSpPr>
          <p:spPr>
            <a:xfrm>
              <a:off x="4147353" y="3030025"/>
              <a:ext cx="28575" cy="20955"/>
            </a:xfrm>
            <a:custGeom>
              <a:avLst/>
              <a:gdLst/>
              <a:ahLst/>
              <a:cxnLst/>
              <a:rect l="l" t="t" r="r" b="b"/>
              <a:pathLst>
                <a:path w="28575" h="20955">
                  <a:moveTo>
                    <a:pt x="28003" y="7594"/>
                  </a:moveTo>
                  <a:lnTo>
                    <a:pt x="0" y="0"/>
                  </a:lnTo>
                  <a:lnTo>
                    <a:pt x="0" y="13347"/>
                  </a:lnTo>
                  <a:lnTo>
                    <a:pt x="28003" y="20955"/>
                  </a:lnTo>
                  <a:lnTo>
                    <a:pt x="28003" y="7594"/>
                  </a:lnTo>
                  <a:close/>
                </a:path>
              </a:pathLst>
            </a:custGeom>
            <a:ln w="3175">
              <a:solidFill>
                <a:srgbClr val="B5ADA6"/>
              </a:solidFill>
            </a:ln>
          </p:spPr>
          <p:txBody>
            <a:bodyPr wrap="square" lIns="0" tIns="0" rIns="0" bIns="0" rtlCol="0"/>
            <a:lstStyle/>
            <a:p/>
          </p:txBody>
        </p:sp>
        <p:sp>
          <p:nvSpPr>
            <p:cNvPr id="290" name="object 290" descr=""/>
            <p:cNvSpPr/>
            <p:nvPr/>
          </p:nvSpPr>
          <p:spPr>
            <a:xfrm>
              <a:off x="4069697" y="3033715"/>
              <a:ext cx="105410" cy="15875"/>
            </a:xfrm>
            <a:custGeom>
              <a:avLst/>
              <a:gdLst/>
              <a:ahLst/>
              <a:cxnLst/>
              <a:rect l="l" t="t" r="r" b="b"/>
              <a:pathLst>
                <a:path w="105410" h="15875">
                  <a:moveTo>
                    <a:pt x="75920" y="0"/>
                  </a:moveTo>
                  <a:lnTo>
                    <a:pt x="0" y="5918"/>
                  </a:lnTo>
                  <a:lnTo>
                    <a:pt x="2603" y="9499"/>
                  </a:lnTo>
                  <a:lnTo>
                    <a:pt x="6032" y="8013"/>
                  </a:lnTo>
                  <a:lnTo>
                    <a:pt x="24777" y="15405"/>
                  </a:lnTo>
                  <a:lnTo>
                    <a:pt x="104990" y="7010"/>
                  </a:lnTo>
                  <a:lnTo>
                    <a:pt x="75920" y="0"/>
                  </a:lnTo>
                  <a:close/>
                </a:path>
              </a:pathLst>
            </a:custGeom>
            <a:solidFill>
              <a:srgbClr val="9A9A9A"/>
            </a:solidFill>
          </p:spPr>
          <p:txBody>
            <a:bodyPr wrap="square" lIns="0" tIns="0" rIns="0" bIns="0" rtlCol="0"/>
            <a:lstStyle/>
            <a:p/>
          </p:txBody>
        </p:sp>
        <p:sp>
          <p:nvSpPr>
            <p:cNvPr id="291" name="object 291" descr=""/>
            <p:cNvSpPr/>
            <p:nvPr/>
          </p:nvSpPr>
          <p:spPr>
            <a:xfrm>
              <a:off x="4075361" y="3039266"/>
              <a:ext cx="20320" cy="205104"/>
            </a:xfrm>
            <a:custGeom>
              <a:avLst/>
              <a:gdLst/>
              <a:ahLst/>
              <a:cxnLst/>
              <a:rect l="l" t="t" r="r" b="b"/>
              <a:pathLst>
                <a:path w="20320" h="205105">
                  <a:moveTo>
                    <a:pt x="736" y="0"/>
                  </a:moveTo>
                  <a:lnTo>
                    <a:pt x="0" y="179730"/>
                  </a:lnTo>
                  <a:lnTo>
                    <a:pt x="19900" y="204609"/>
                  </a:lnTo>
                  <a:lnTo>
                    <a:pt x="20002" y="5702"/>
                  </a:lnTo>
                  <a:lnTo>
                    <a:pt x="18668" y="5156"/>
                  </a:lnTo>
                  <a:lnTo>
                    <a:pt x="736" y="0"/>
                  </a:lnTo>
                  <a:close/>
                </a:path>
              </a:pathLst>
            </a:custGeom>
            <a:solidFill>
              <a:srgbClr val="F5EDE6"/>
            </a:solidFill>
          </p:spPr>
          <p:txBody>
            <a:bodyPr wrap="square" lIns="0" tIns="0" rIns="0" bIns="0" rtlCol="0"/>
            <a:lstStyle/>
            <a:p/>
          </p:txBody>
        </p:sp>
        <p:sp>
          <p:nvSpPr>
            <p:cNvPr id="292" name="object 292" descr=""/>
            <p:cNvSpPr/>
            <p:nvPr/>
          </p:nvSpPr>
          <p:spPr>
            <a:xfrm>
              <a:off x="4075361" y="3039266"/>
              <a:ext cx="20320" cy="205104"/>
            </a:xfrm>
            <a:custGeom>
              <a:avLst/>
              <a:gdLst/>
              <a:ahLst/>
              <a:cxnLst/>
              <a:rect l="l" t="t" r="r" b="b"/>
              <a:pathLst>
                <a:path w="20320" h="205105">
                  <a:moveTo>
                    <a:pt x="736" y="0"/>
                  </a:moveTo>
                  <a:lnTo>
                    <a:pt x="1866" y="228"/>
                  </a:lnTo>
                  <a:lnTo>
                    <a:pt x="2971" y="622"/>
                  </a:lnTo>
                  <a:lnTo>
                    <a:pt x="4076" y="927"/>
                  </a:lnTo>
                  <a:lnTo>
                    <a:pt x="5283" y="1384"/>
                  </a:lnTo>
                  <a:lnTo>
                    <a:pt x="6375" y="1612"/>
                  </a:lnTo>
                  <a:lnTo>
                    <a:pt x="7543" y="1930"/>
                  </a:lnTo>
                  <a:lnTo>
                    <a:pt x="8750" y="2311"/>
                  </a:lnTo>
                  <a:lnTo>
                    <a:pt x="9956" y="2692"/>
                  </a:lnTo>
                  <a:lnTo>
                    <a:pt x="11150" y="3009"/>
                  </a:lnTo>
                  <a:lnTo>
                    <a:pt x="12357" y="3314"/>
                  </a:lnTo>
                  <a:lnTo>
                    <a:pt x="13588" y="3619"/>
                  </a:lnTo>
                  <a:lnTo>
                    <a:pt x="14858" y="4089"/>
                  </a:lnTo>
                  <a:lnTo>
                    <a:pt x="16090" y="4394"/>
                  </a:lnTo>
                  <a:lnTo>
                    <a:pt x="17398" y="4851"/>
                  </a:lnTo>
                  <a:lnTo>
                    <a:pt x="18668" y="5156"/>
                  </a:lnTo>
                  <a:lnTo>
                    <a:pt x="20002" y="5702"/>
                  </a:lnTo>
                  <a:lnTo>
                    <a:pt x="19964" y="17716"/>
                  </a:lnTo>
                  <a:lnTo>
                    <a:pt x="19964" y="29895"/>
                  </a:lnTo>
                  <a:lnTo>
                    <a:pt x="19964" y="103530"/>
                  </a:lnTo>
                  <a:lnTo>
                    <a:pt x="19938" y="115938"/>
                  </a:lnTo>
                  <a:lnTo>
                    <a:pt x="19938" y="128498"/>
                  </a:lnTo>
                  <a:lnTo>
                    <a:pt x="19938" y="141058"/>
                  </a:lnTo>
                  <a:lnTo>
                    <a:pt x="19938" y="153758"/>
                  </a:lnTo>
                  <a:lnTo>
                    <a:pt x="19900" y="166319"/>
                  </a:lnTo>
                  <a:lnTo>
                    <a:pt x="19900" y="178955"/>
                  </a:lnTo>
                  <a:lnTo>
                    <a:pt x="19900" y="191820"/>
                  </a:lnTo>
                  <a:lnTo>
                    <a:pt x="19900" y="204609"/>
                  </a:lnTo>
                  <a:lnTo>
                    <a:pt x="18529" y="202755"/>
                  </a:lnTo>
                  <a:lnTo>
                    <a:pt x="17195" y="201142"/>
                  </a:lnTo>
                  <a:lnTo>
                    <a:pt x="15862" y="199440"/>
                  </a:lnTo>
                  <a:lnTo>
                    <a:pt x="14592" y="197827"/>
                  </a:lnTo>
                  <a:lnTo>
                    <a:pt x="13258" y="196215"/>
                  </a:lnTo>
                  <a:lnTo>
                    <a:pt x="11988" y="194589"/>
                  </a:lnTo>
                  <a:lnTo>
                    <a:pt x="10680" y="192976"/>
                  </a:lnTo>
                  <a:lnTo>
                    <a:pt x="9486" y="191439"/>
                  </a:lnTo>
                  <a:lnTo>
                    <a:pt x="8242" y="189890"/>
                  </a:lnTo>
                  <a:lnTo>
                    <a:pt x="7048" y="188429"/>
                  </a:lnTo>
                  <a:lnTo>
                    <a:pt x="5841" y="186893"/>
                  </a:lnTo>
                  <a:lnTo>
                    <a:pt x="4673" y="185508"/>
                  </a:lnTo>
                  <a:lnTo>
                    <a:pt x="3441" y="183959"/>
                  </a:lnTo>
                  <a:lnTo>
                    <a:pt x="2311" y="182575"/>
                  </a:lnTo>
                  <a:lnTo>
                    <a:pt x="1142" y="181114"/>
                  </a:lnTo>
                  <a:lnTo>
                    <a:pt x="0" y="179730"/>
                  </a:lnTo>
                  <a:lnTo>
                    <a:pt x="38" y="168249"/>
                  </a:lnTo>
                  <a:lnTo>
                    <a:pt x="139" y="156768"/>
                  </a:lnTo>
                  <a:lnTo>
                    <a:pt x="165" y="145211"/>
                  </a:lnTo>
                  <a:lnTo>
                    <a:pt x="241" y="133883"/>
                  </a:lnTo>
                  <a:lnTo>
                    <a:pt x="266" y="122339"/>
                  </a:lnTo>
                  <a:lnTo>
                    <a:pt x="304" y="111086"/>
                  </a:lnTo>
                  <a:lnTo>
                    <a:pt x="330" y="99758"/>
                  </a:lnTo>
                  <a:lnTo>
                    <a:pt x="431" y="88595"/>
                  </a:lnTo>
                  <a:lnTo>
                    <a:pt x="431" y="77343"/>
                  </a:lnTo>
                  <a:lnTo>
                    <a:pt x="507" y="66179"/>
                  </a:lnTo>
                  <a:lnTo>
                    <a:pt x="507" y="55003"/>
                  </a:lnTo>
                  <a:lnTo>
                    <a:pt x="571" y="43992"/>
                  </a:lnTo>
                  <a:lnTo>
                    <a:pt x="596" y="32893"/>
                  </a:lnTo>
                  <a:lnTo>
                    <a:pt x="634" y="21882"/>
                  </a:lnTo>
                  <a:lnTo>
                    <a:pt x="673" y="10934"/>
                  </a:lnTo>
                  <a:lnTo>
                    <a:pt x="736" y="0"/>
                  </a:lnTo>
                  <a:close/>
                </a:path>
              </a:pathLst>
            </a:custGeom>
            <a:ln w="3175">
              <a:solidFill>
                <a:srgbClr val="B5ADA6"/>
              </a:solidFill>
            </a:ln>
          </p:spPr>
          <p:txBody>
            <a:bodyPr wrap="square" lIns="0" tIns="0" rIns="0" bIns="0" rtlCol="0"/>
            <a:lstStyle/>
            <a:p/>
          </p:txBody>
        </p:sp>
        <p:sp>
          <p:nvSpPr>
            <p:cNvPr id="293" name="object 293" descr=""/>
            <p:cNvSpPr/>
            <p:nvPr/>
          </p:nvSpPr>
          <p:spPr>
            <a:xfrm>
              <a:off x="4082821" y="3054451"/>
              <a:ext cx="5080" cy="125730"/>
            </a:xfrm>
            <a:custGeom>
              <a:avLst/>
              <a:gdLst/>
              <a:ahLst/>
              <a:cxnLst/>
              <a:rect l="l" t="t" r="r" b="b"/>
              <a:pathLst>
                <a:path w="5079" h="125730">
                  <a:moveTo>
                    <a:pt x="4521" y="1270"/>
                  </a:moveTo>
                  <a:lnTo>
                    <a:pt x="1244" y="1270"/>
                  </a:lnTo>
                  <a:lnTo>
                    <a:pt x="1244" y="0"/>
                  </a:lnTo>
                  <a:lnTo>
                    <a:pt x="190" y="0"/>
                  </a:lnTo>
                  <a:lnTo>
                    <a:pt x="190" y="1270"/>
                  </a:lnTo>
                  <a:lnTo>
                    <a:pt x="152" y="7620"/>
                  </a:lnTo>
                  <a:lnTo>
                    <a:pt x="0" y="7620"/>
                  </a:lnTo>
                  <a:lnTo>
                    <a:pt x="0" y="121920"/>
                  </a:lnTo>
                  <a:lnTo>
                    <a:pt x="2159" y="121920"/>
                  </a:lnTo>
                  <a:lnTo>
                    <a:pt x="2159" y="125730"/>
                  </a:lnTo>
                  <a:lnTo>
                    <a:pt x="4330" y="125730"/>
                  </a:lnTo>
                  <a:lnTo>
                    <a:pt x="4330" y="121920"/>
                  </a:lnTo>
                  <a:lnTo>
                    <a:pt x="4419" y="7620"/>
                  </a:lnTo>
                  <a:lnTo>
                    <a:pt x="4521" y="1270"/>
                  </a:lnTo>
                  <a:close/>
                </a:path>
              </a:pathLst>
            </a:custGeom>
            <a:solidFill>
              <a:srgbClr val="544C45"/>
            </a:solidFill>
          </p:spPr>
          <p:txBody>
            <a:bodyPr wrap="square" lIns="0" tIns="0" rIns="0" bIns="0" rtlCol="0"/>
            <a:lstStyle/>
            <a:p/>
          </p:txBody>
        </p:sp>
        <p:sp>
          <p:nvSpPr>
            <p:cNvPr id="294" name="object 294" descr=""/>
            <p:cNvSpPr/>
            <p:nvPr/>
          </p:nvSpPr>
          <p:spPr>
            <a:xfrm>
              <a:off x="4084688" y="3053444"/>
              <a:ext cx="1270" cy="127000"/>
            </a:xfrm>
            <a:custGeom>
              <a:avLst/>
              <a:gdLst/>
              <a:ahLst/>
              <a:cxnLst/>
              <a:rect l="l" t="t" r="r" b="b"/>
              <a:pathLst>
                <a:path w="1270" h="127000">
                  <a:moveTo>
                    <a:pt x="393" y="0"/>
                  </a:moveTo>
                  <a:lnTo>
                    <a:pt x="0" y="126492"/>
                  </a:lnTo>
                  <a:lnTo>
                    <a:pt x="622" y="126949"/>
                  </a:lnTo>
                  <a:lnTo>
                    <a:pt x="1016" y="228"/>
                  </a:lnTo>
                  <a:lnTo>
                    <a:pt x="393" y="0"/>
                  </a:lnTo>
                  <a:close/>
                </a:path>
              </a:pathLst>
            </a:custGeom>
            <a:solidFill>
              <a:srgbClr val="F5EDE6"/>
            </a:solidFill>
          </p:spPr>
          <p:txBody>
            <a:bodyPr wrap="square" lIns="0" tIns="0" rIns="0" bIns="0" rtlCol="0"/>
            <a:lstStyle/>
            <a:p/>
          </p:txBody>
        </p:sp>
        <p:sp>
          <p:nvSpPr>
            <p:cNvPr id="295" name="object 295" descr=""/>
            <p:cNvSpPr/>
            <p:nvPr/>
          </p:nvSpPr>
          <p:spPr>
            <a:xfrm>
              <a:off x="4085197" y="3062686"/>
              <a:ext cx="0" cy="109220"/>
            </a:xfrm>
            <a:custGeom>
              <a:avLst/>
              <a:gdLst/>
              <a:ahLst/>
              <a:cxnLst/>
              <a:rect l="l" t="t" r="r" b="b"/>
              <a:pathLst>
                <a:path w="0" h="109219">
                  <a:moveTo>
                    <a:pt x="0" y="0"/>
                  </a:moveTo>
                  <a:lnTo>
                    <a:pt x="0" y="109084"/>
                  </a:lnTo>
                </a:path>
              </a:pathLst>
            </a:custGeom>
            <a:ln w="6342">
              <a:solidFill>
                <a:srgbClr val="F5EDE6"/>
              </a:solidFill>
              <a:prstDash val="sysDash"/>
            </a:ln>
          </p:spPr>
          <p:txBody>
            <a:bodyPr wrap="square" lIns="0" tIns="0" rIns="0" bIns="0" rtlCol="0"/>
            <a:lstStyle/>
            <a:p/>
          </p:txBody>
        </p:sp>
        <p:sp>
          <p:nvSpPr>
            <p:cNvPr id="296" name="object 296" descr=""/>
            <p:cNvSpPr/>
            <p:nvPr/>
          </p:nvSpPr>
          <p:spPr>
            <a:xfrm>
              <a:off x="4081694" y="3180402"/>
              <a:ext cx="6985" cy="30480"/>
            </a:xfrm>
            <a:custGeom>
              <a:avLst/>
              <a:gdLst/>
              <a:ahLst/>
              <a:cxnLst/>
              <a:rect l="l" t="t" r="r" b="b"/>
              <a:pathLst>
                <a:path w="6985" h="30480">
                  <a:moveTo>
                    <a:pt x="63" y="0"/>
                  </a:moveTo>
                  <a:lnTo>
                    <a:pt x="38" y="2806"/>
                  </a:lnTo>
                  <a:lnTo>
                    <a:pt x="0" y="22301"/>
                  </a:lnTo>
                  <a:lnTo>
                    <a:pt x="419" y="22771"/>
                  </a:lnTo>
                  <a:lnTo>
                    <a:pt x="444" y="4749"/>
                  </a:lnTo>
                  <a:lnTo>
                    <a:pt x="520" y="2260"/>
                  </a:lnTo>
                  <a:lnTo>
                    <a:pt x="1549" y="3276"/>
                  </a:lnTo>
                  <a:lnTo>
                    <a:pt x="1904" y="3746"/>
                  </a:lnTo>
                  <a:lnTo>
                    <a:pt x="2222" y="3975"/>
                  </a:lnTo>
                  <a:lnTo>
                    <a:pt x="2578" y="4445"/>
                  </a:lnTo>
                  <a:lnTo>
                    <a:pt x="2933" y="4749"/>
                  </a:lnTo>
                  <a:lnTo>
                    <a:pt x="3289" y="5295"/>
                  </a:lnTo>
                  <a:lnTo>
                    <a:pt x="4698" y="6870"/>
                  </a:lnTo>
                  <a:lnTo>
                    <a:pt x="5054" y="7175"/>
                  </a:lnTo>
                  <a:lnTo>
                    <a:pt x="5410" y="7645"/>
                  </a:lnTo>
                  <a:lnTo>
                    <a:pt x="5765" y="7950"/>
                  </a:lnTo>
                  <a:lnTo>
                    <a:pt x="6184" y="8420"/>
                  </a:lnTo>
                  <a:lnTo>
                    <a:pt x="6184" y="29641"/>
                  </a:lnTo>
                  <a:lnTo>
                    <a:pt x="6603" y="30187"/>
                  </a:lnTo>
                  <a:lnTo>
                    <a:pt x="6629" y="9906"/>
                  </a:lnTo>
                  <a:lnTo>
                    <a:pt x="6667" y="7099"/>
                  </a:lnTo>
                  <a:lnTo>
                    <a:pt x="5829" y="6070"/>
                  </a:lnTo>
                  <a:lnTo>
                    <a:pt x="4965" y="5219"/>
                  </a:lnTo>
                  <a:lnTo>
                    <a:pt x="4152" y="4216"/>
                  </a:lnTo>
                  <a:lnTo>
                    <a:pt x="3708" y="3810"/>
                  </a:lnTo>
                  <a:lnTo>
                    <a:pt x="2895" y="2870"/>
                  </a:lnTo>
                  <a:lnTo>
                    <a:pt x="2451" y="2489"/>
                  </a:lnTo>
                  <a:lnTo>
                    <a:pt x="1676" y="1625"/>
                  </a:lnTo>
                  <a:lnTo>
                    <a:pt x="1257" y="1244"/>
                  </a:lnTo>
                  <a:lnTo>
                    <a:pt x="876" y="774"/>
                  </a:lnTo>
                  <a:lnTo>
                    <a:pt x="63" y="0"/>
                  </a:lnTo>
                  <a:close/>
                </a:path>
              </a:pathLst>
            </a:custGeom>
            <a:solidFill>
              <a:srgbClr val="B5ADA6"/>
            </a:solidFill>
          </p:spPr>
          <p:txBody>
            <a:bodyPr wrap="square" lIns="0" tIns="0" rIns="0" bIns="0" rtlCol="0"/>
            <a:lstStyle/>
            <a:p/>
          </p:txBody>
        </p:sp>
        <p:sp>
          <p:nvSpPr>
            <p:cNvPr id="297" name="object 297" descr=""/>
            <p:cNvSpPr/>
            <p:nvPr/>
          </p:nvSpPr>
          <p:spPr>
            <a:xfrm>
              <a:off x="4082361" y="3184709"/>
              <a:ext cx="5080" cy="24765"/>
            </a:xfrm>
            <a:custGeom>
              <a:avLst/>
              <a:gdLst/>
              <a:ahLst/>
              <a:cxnLst/>
              <a:rect l="l" t="t" r="r" b="b"/>
              <a:pathLst>
                <a:path w="5079" h="24764">
                  <a:moveTo>
                    <a:pt x="38" y="0"/>
                  </a:moveTo>
                  <a:lnTo>
                    <a:pt x="0" y="2260"/>
                  </a:lnTo>
                  <a:lnTo>
                    <a:pt x="0" y="18961"/>
                  </a:lnTo>
                  <a:lnTo>
                    <a:pt x="3073" y="22390"/>
                  </a:lnTo>
                  <a:lnTo>
                    <a:pt x="3682" y="23164"/>
                  </a:lnTo>
                  <a:lnTo>
                    <a:pt x="5003" y="24650"/>
                  </a:lnTo>
                  <a:lnTo>
                    <a:pt x="5003" y="5156"/>
                  </a:lnTo>
                  <a:lnTo>
                    <a:pt x="3111" y="3035"/>
                  </a:lnTo>
                  <a:lnTo>
                    <a:pt x="2501" y="2501"/>
                  </a:lnTo>
                  <a:lnTo>
                    <a:pt x="1282" y="1181"/>
                  </a:lnTo>
                  <a:lnTo>
                    <a:pt x="38" y="0"/>
                  </a:lnTo>
                  <a:close/>
                </a:path>
              </a:pathLst>
            </a:custGeom>
            <a:solidFill>
              <a:srgbClr val="756E66"/>
            </a:solidFill>
          </p:spPr>
          <p:txBody>
            <a:bodyPr wrap="square" lIns="0" tIns="0" rIns="0" bIns="0" rtlCol="0"/>
            <a:lstStyle/>
            <a:p/>
          </p:txBody>
        </p:sp>
        <p:sp>
          <p:nvSpPr>
            <p:cNvPr id="298" name="object 298" descr=""/>
            <p:cNvSpPr/>
            <p:nvPr/>
          </p:nvSpPr>
          <p:spPr>
            <a:xfrm>
              <a:off x="4083024" y="3208738"/>
              <a:ext cx="3810" cy="24130"/>
            </a:xfrm>
            <a:custGeom>
              <a:avLst/>
              <a:gdLst/>
              <a:ahLst/>
              <a:cxnLst/>
              <a:rect l="l" t="t" r="r" b="b"/>
              <a:pathLst>
                <a:path w="3810" h="24130">
                  <a:moveTo>
                    <a:pt x="38" y="0"/>
                  </a:moveTo>
                  <a:lnTo>
                    <a:pt x="0" y="2336"/>
                  </a:lnTo>
                  <a:lnTo>
                    <a:pt x="0" y="19138"/>
                  </a:lnTo>
                  <a:lnTo>
                    <a:pt x="165" y="19303"/>
                  </a:lnTo>
                  <a:lnTo>
                    <a:pt x="266" y="19608"/>
                  </a:lnTo>
                  <a:lnTo>
                    <a:pt x="279" y="4216"/>
                  </a:lnTo>
                  <a:lnTo>
                    <a:pt x="317" y="2031"/>
                  </a:lnTo>
                  <a:lnTo>
                    <a:pt x="2628" y="4749"/>
                  </a:lnTo>
                  <a:lnTo>
                    <a:pt x="3492" y="5841"/>
                  </a:lnTo>
                  <a:lnTo>
                    <a:pt x="3454" y="23736"/>
                  </a:lnTo>
                  <a:lnTo>
                    <a:pt x="3505" y="23888"/>
                  </a:lnTo>
                  <a:lnTo>
                    <a:pt x="3670" y="24041"/>
                  </a:lnTo>
                  <a:lnTo>
                    <a:pt x="3670" y="4597"/>
                  </a:lnTo>
                  <a:lnTo>
                    <a:pt x="1879" y="2273"/>
                  </a:lnTo>
                  <a:lnTo>
                    <a:pt x="1358" y="1714"/>
                  </a:lnTo>
                  <a:lnTo>
                    <a:pt x="38" y="0"/>
                  </a:lnTo>
                  <a:close/>
                </a:path>
              </a:pathLst>
            </a:custGeom>
            <a:solidFill>
              <a:srgbClr val="B5ADA6"/>
            </a:solidFill>
          </p:spPr>
          <p:txBody>
            <a:bodyPr wrap="square" lIns="0" tIns="0" rIns="0" bIns="0" rtlCol="0"/>
            <a:lstStyle/>
            <a:p/>
          </p:txBody>
        </p:sp>
        <p:sp>
          <p:nvSpPr>
            <p:cNvPr id="299" name="object 299" descr=""/>
            <p:cNvSpPr/>
            <p:nvPr/>
          </p:nvSpPr>
          <p:spPr>
            <a:xfrm>
              <a:off x="4083367" y="3212449"/>
              <a:ext cx="3175" cy="20320"/>
            </a:xfrm>
            <a:custGeom>
              <a:avLst/>
              <a:gdLst/>
              <a:ahLst/>
              <a:cxnLst/>
              <a:rect l="l" t="t" r="r" b="b"/>
              <a:pathLst>
                <a:path w="3175" h="20319">
                  <a:moveTo>
                    <a:pt x="38" y="0"/>
                  </a:moveTo>
                  <a:lnTo>
                    <a:pt x="0" y="1917"/>
                  </a:lnTo>
                  <a:lnTo>
                    <a:pt x="0" y="16090"/>
                  </a:lnTo>
                  <a:lnTo>
                    <a:pt x="723" y="16865"/>
                  </a:lnTo>
                  <a:lnTo>
                    <a:pt x="1841" y="18249"/>
                  </a:lnTo>
                  <a:lnTo>
                    <a:pt x="2197" y="18643"/>
                  </a:lnTo>
                  <a:lnTo>
                    <a:pt x="2997" y="19710"/>
                  </a:lnTo>
                  <a:lnTo>
                    <a:pt x="2997" y="3302"/>
                  </a:lnTo>
                  <a:lnTo>
                    <a:pt x="2590" y="2768"/>
                  </a:lnTo>
                  <a:lnTo>
                    <a:pt x="2235" y="2451"/>
                  </a:lnTo>
                  <a:lnTo>
                    <a:pt x="1879" y="1917"/>
                  </a:lnTo>
                  <a:lnTo>
                    <a:pt x="1511" y="1612"/>
                  </a:lnTo>
                  <a:lnTo>
                    <a:pt x="749" y="762"/>
                  </a:lnTo>
                  <a:lnTo>
                    <a:pt x="393" y="304"/>
                  </a:lnTo>
                  <a:lnTo>
                    <a:pt x="38" y="0"/>
                  </a:lnTo>
                  <a:close/>
                </a:path>
              </a:pathLst>
            </a:custGeom>
            <a:solidFill>
              <a:srgbClr val="756E66"/>
            </a:solidFill>
          </p:spPr>
          <p:txBody>
            <a:bodyPr wrap="square" lIns="0" tIns="0" rIns="0" bIns="0" rtlCol="0"/>
            <a:lstStyle/>
            <a:p/>
          </p:txBody>
        </p:sp>
        <p:sp>
          <p:nvSpPr>
            <p:cNvPr id="300" name="object 300" descr=""/>
            <p:cNvSpPr/>
            <p:nvPr/>
          </p:nvSpPr>
          <p:spPr>
            <a:xfrm>
              <a:off x="4072360" y="3038036"/>
              <a:ext cx="4445" cy="182245"/>
            </a:xfrm>
            <a:custGeom>
              <a:avLst/>
              <a:gdLst/>
              <a:ahLst/>
              <a:cxnLst/>
              <a:rect l="l" t="t" r="r" b="b"/>
              <a:pathLst>
                <a:path w="4445" h="182244">
                  <a:moveTo>
                    <a:pt x="0" y="0"/>
                  </a:moveTo>
                  <a:lnTo>
                    <a:pt x="0" y="181800"/>
                  </a:lnTo>
                  <a:lnTo>
                    <a:pt x="4000" y="181800"/>
                  </a:lnTo>
                  <a:lnTo>
                    <a:pt x="4000" y="1231"/>
                  </a:lnTo>
                  <a:lnTo>
                    <a:pt x="0" y="0"/>
                  </a:lnTo>
                  <a:close/>
                </a:path>
              </a:pathLst>
            </a:custGeom>
            <a:solidFill>
              <a:srgbClr val="8C7D6B"/>
            </a:solidFill>
          </p:spPr>
          <p:txBody>
            <a:bodyPr wrap="square" lIns="0" tIns="0" rIns="0" bIns="0" rtlCol="0"/>
            <a:lstStyle/>
            <a:p/>
          </p:txBody>
        </p:sp>
        <p:sp>
          <p:nvSpPr>
            <p:cNvPr id="301" name="object 301" descr=""/>
            <p:cNvSpPr/>
            <p:nvPr/>
          </p:nvSpPr>
          <p:spPr>
            <a:xfrm>
              <a:off x="4069702" y="3038043"/>
              <a:ext cx="3175" cy="181610"/>
            </a:xfrm>
            <a:custGeom>
              <a:avLst/>
              <a:gdLst/>
              <a:ahLst/>
              <a:cxnLst/>
              <a:rect l="l" t="t" r="r" b="b"/>
              <a:pathLst>
                <a:path w="3175" h="181610">
                  <a:moveTo>
                    <a:pt x="2654" y="0"/>
                  </a:moveTo>
                  <a:lnTo>
                    <a:pt x="0" y="0"/>
                  </a:lnTo>
                  <a:lnTo>
                    <a:pt x="0" y="180340"/>
                  </a:lnTo>
                  <a:lnTo>
                    <a:pt x="1155" y="180340"/>
                  </a:lnTo>
                  <a:lnTo>
                    <a:pt x="1155" y="181610"/>
                  </a:lnTo>
                  <a:lnTo>
                    <a:pt x="2654" y="181610"/>
                  </a:lnTo>
                  <a:lnTo>
                    <a:pt x="2654" y="180340"/>
                  </a:lnTo>
                  <a:lnTo>
                    <a:pt x="2654" y="0"/>
                  </a:lnTo>
                  <a:close/>
                </a:path>
              </a:pathLst>
            </a:custGeom>
            <a:solidFill>
              <a:srgbClr val="BFB09E"/>
            </a:solidFill>
          </p:spPr>
          <p:txBody>
            <a:bodyPr wrap="square" lIns="0" tIns="0" rIns="0" bIns="0" rtlCol="0"/>
            <a:lstStyle/>
            <a:p/>
          </p:txBody>
        </p:sp>
        <p:sp>
          <p:nvSpPr>
            <p:cNvPr id="302" name="object 302" descr=""/>
            <p:cNvSpPr/>
            <p:nvPr/>
          </p:nvSpPr>
          <p:spPr>
            <a:xfrm>
              <a:off x="4094695" y="3038649"/>
              <a:ext cx="81280" cy="205740"/>
            </a:xfrm>
            <a:custGeom>
              <a:avLst/>
              <a:gdLst/>
              <a:ahLst/>
              <a:cxnLst/>
              <a:rect l="l" t="t" r="r" b="b"/>
              <a:pathLst>
                <a:path w="81279" h="205739">
                  <a:moveTo>
                    <a:pt x="81000" y="0"/>
                  </a:moveTo>
                  <a:lnTo>
                    <a:pt x="0" y="6159"/>
                  </a:lnTo>
                  <a:lnTo>
                    <a:pt x="0" y="205219"/>
                  </a:lnTo>
                  <a:lnTo>
                    <a:pt x="80124" y="178663"/>
                  </a:lnTo>
                  <a:lnTo>
                    <a:pt x="81000" y="0"/>
                  </a:lnTo>
                  <a:close/>
                </a:path>
              </a:pathLst>
            </a:custGeom>
            <a:solidFill>
              <a:srgbClr val="C0C0C0"/>
            </a:solidFill>
          </p:spPr>
          <p:txBody>
            <a:bodyPr wrap="square" lIns="0" tIns="0" rIns="0" bIns="0" rtlCol="0"/>
            <a:lstStyle/>
            <a:p/>
          </p:txBody>
        </p:sp>
        <p:sp>
          <p:nvSpPr>
            <p:cNvPr id="303" name="object 303" descr=""/>
            <p:cNvSpPr/>
            <p:nvPr/>
          </p:nvSpPr>
          <p:spPr>
            <a:xfrm>
              <a:off x="4129364" y="3040499"/>
              <a:ext cx="15875" cy="191770"/>
            </a:xfrm>
            <a:custGeom>
              <a:avLst/>
              <a:gdLst/>
              <a:ahLst/>
              <a:cxnLst/>
              <a:rect l="l" t="t" r="r" b="b"/>
              <a:pathLst>
                <a:path w="15875" h="191769">
                  <a:moveTo>
                    <a:pt x="15328" y="0"/>
                  </a:moveTo>
                  <a:lnTo>
                    <a:pt x="7924" y="622"/>
                  </a:lnTo>
                  <a:lnTo>
                    <a:pt x="419" y="1155"/>
                  </a:lnTo>
                  <a:lnTo>
                    <a:pt x="0" y="191668"/>
                  </a:lnTo>
                  <a:lnTo>
                    <a:pt x="14770" y="186804"/>
                  </a:lnTo>
                  <a:lnTo>
                    <a:pt x="15328" y="0"/>
                  </a:lnTo>
                  <a:close/>
                </a:path>
              </a:pathLst>
            </a:custGeom>
            <a:solidFill>
              <a:srgbClr val="CACACA"/>
            </a:solidFill>
          </p:spPr>
          <p:txBody>
            <a:bodyPr wrap="square" lIns="0" tIns="0" rIns="0" bIns="0" rtlCol="0"/>
            <a:lstStyle/>
            <a:p/>
          </p:txBody>
        </p:sp>
        <p:sp>
          <p:nvSpPr>
            <p:cNvPr id="304" name="object 304" descr=""/>
            <p:cNvSpPr/>
            <p:nvPr/>
          </p:nvSpPr>
          <p:spPr>
            <a:xfrm>
              <a:off x="4133685" y="3050362"/>
              <a:ext cx="6350" cy="147320"/>
            </a:xfrm>
            <a:custGeom>
              <a:avLst/>
              <a:gdLst/>
              <a:ahLst/>
              <a:cxnLst/>
              <a:rect l="l" t="t" r="r" b="b"/>
              <a:pathLst>
                <a:path w="6350" h="147319">
                  <a:moveTo>
                    <a:pt x="6108" y="0"/>
                  </a:moveTo>
                  <a:lnTo>
                    <a:pt x="165" y="0"/>
                  </a:lnTo>
                  <a:lnTo>
                    <a:pt x="165" y="146050"/>
                  </a:lnTo>
                  <a:lnTo>
                    <a:pt x="0" y="146050"/>
                  </a:lnTo>
                  <a:lnTo>
                    <a:pt x="0" y="147320"/>
                  </a:lnTo>
                  <a:lnTo>
                    <a:pt x="2120" y="147320"/>
                  </a:lnTo>
                  <a:lnTo>
                    <a:pt x="2120" y="146050"/>
                  </a:lnTo>
                  <a:lnTo>
                    <a:pt x="6108" y="146050"/>
                  </a:lnTo>
                  <a:lnTo>
                    <a:pt x="6108" y="0"/>
                  </a:lnTo>
                  <a:close/>
                </a:path>
              </a:pathLst>
            </a:custGeom>
            <a:solidFill>
              <a:srgbClr val="242424"/>
            </a:solidFill>
          </p:spPr>
          <p:txBody>
            <a:bodyPr wrap="square" lIns="0" tIns="0" rIns="0" bIns="0" rtlCol="0"/>
            <a:lstStyle/>
            <a:p/>
          </p:txBody>
        </p:sp>
        <p:sp>
          <p:nvSpPr>
            <p:cNvPr id="305" name="object 305" descr=""/>
            <p:cNvSpPr/>
            <p:nvPr/>
          </p:nvSpPr>
          <p:spPr>
            <a:xfrm>
              <a:off x="4136356" y="3048506"/>
              <a:ext cx="1270" cy="154940"/>
            </a:xfrm>
            <a:custGeom>
              <a:avLst/>
              <a:gdLst/>
              <a:ahLst/>
              <a:cxnLst/>
              <a:rect l="l" t="t" r="r" b="b"/>
              <a:pathLst>
                <a:path w="1270" h="154939">
                  <a:moveTo>
                    <a:pt x="1003" y="0"/>
                  </a:moveTo>
                  <a:lnTo>
                    <a:pt x="685" y="0"/>
                  </a:lnTo>
                  <a:lnTo>
                    <a:pt x="355" y="0"/>
                  </a:lnTo>
                  <a:lnTo>
                    <a:pt x="0" y="154698"/>
                  </a:lnTo>
                  <a:lnTo>
                    <a:pt x="584" y="154381"/>
                  </a:lnTo>
                  <a:lnTo>
                    <a:pt x="1003" y="0"/>
                  </a:lnTo>
                  <a:close/>
                </a:path>
              </a:pathLst>
            </a:custGeom>
            <a:solidFill>
              <a:srgbClr val="CACACA"/>
            </a:solidFill>
          </p:spPr>
          <p:txBody>
            <a:bodyPr wrap="square" lIns="0" tIns="0" rIns="0" bIns="0" rtlCol="0"/>
            <a:lstStyle/>
            <a:p/>
          </p:txBody>
        </p:sp>
        <p:sp>
          <p:nvSpPr>
            <p:cNvPr id="306" name="object 306" descr=""/>
            <p:cNvSpPr/>
            <p:nvPr/>
          </p:nvSpPr>
          <p:spPr>
            <a:xfrm>
              <a:off x="4136693" y="3058988"/>
              <a:ext cx="0" cy="128905"/>
            </a:xfrm>
            <a:custGeom>
              <a:avLst/>
              <a:gdLst/>
              <a:ahLst/>
              <a:cxnLst/>
              <a:rect l="l" t="t" r="r" b="b"/>
              <a:pathLst>
                <a:path w="0" h="128905">
                  <a:moveTo>
                    <a:pt x="0" y="0"/>
                  </a:moveTo>
                  <a:lnTo>
                    <a:pt x="0" y="128807"/>
                  </a:lnTo>
                </a:path>
              </a:pathLst>
            </a:custGeom>
            <a:ln w="8000">
              <a:solidFill>
                <a:srgbClr val="CACACA"/>
              </a:solidFill>
              <a:prstDash val="sysDot"/>
            </a:ln>
          </p:spPr>
          <p:txBody>
            <a:bodyPr wrap="square" lIns="0" tIns="0" rIns="0" bIns="0" rtlCol="0"/>
            <a:lstStyle/>
            <a:p/>
          </p:txBody>
        </p:sp>
        <p:sp>
          <p:nvSpPr>
            <p:cNvPr id="307" name="object 307" descr=""/>
            <p:cNvSpPr/>
            <p:nvPr/>
          </p:nvSpPr>
          <p:spPr>
            <a:xfrm>
              <a:off x="4100690" y="3052914"/>
              <a:ext cx="7620" cy="153670"/>
            </a:xfrm>
            <a:custGeom>
              <a:avLst/>
              <a:gdLst/>
              <a:ahLst/>
              <a:cxnLst/>
              <a:rect l="l" t="t" r="r" b="b"/>
              <a:pathLst>
                <a:path w="7620" h="153669">
                  <a:moveTo>
                    <a:pt x="7277" y="0"/>
                  </a:moveTo>
                  <a:lnTo>
                    <a:pt x="38" y="0"/>
                  </a:lnTo>
                  <a:lnTo>
                    <a:pt x="38" y="152400"/>
                  </a:lnTo>
                  <a:lnTo>
                    <a:pt x="0" y="153670"/>
                  </a:lnTo>
                  <a:lnTo>
                    <a:pt x="3416" y="153670"/>
                  </a:lnTo>
                  <a:lnTo>
                    <a:pt x="3416" y="152400"/>
                  </a:lnTo>
                  <a:lnTo>
                    <a:pt x="7277" y="152400"/>
                  </a:lnTo>
                  <a:lnTo>
                    <a:pt x="7277" y="0"/>
                  </a:lnTo>
                  <a:close/>
                </a:path>
              </a:pathLst>
            </a:custGeom>
            <a:solidFill>
              <a:srgbClr val="595958"/>
            </a:solidFill>
          </p:spPr>
          <p:txBody>
            <a:bodyPr wrap="square" lIns="0" tIns="0" rIns="0" bIns="0" rtlCol="0"/>
            <a:lstStyle/>
            <a:p/>
          </p:txBody>
        </p:sp>
        <p:sp>
          <p:nvSpPr>
            <p:cNvPr id="308" name="object 308" descr=""/>
            <p:cNvSpPr/>
            <p:nvPr/>
          </p:nvSpPr>
          <p:spPr>
            <a:xfrm>
              <a:off x="4100690" y="3053448"/>
              <a:ext cx="6350" cy="153670"/>
            </a:xfrm>
            <a:custGeom>
              <a:avLst/>
              <a:gdLst/>
              <a:ahLst/>
              <a:cxnLst/>
              <a:rect l="l" t="t" r="r" b="b"/>
              <a:pathLst>
                <a:path w="6350" h="153669">
                  <a:moveTo>
                    <a:pt x="5994" y="0"/>
                  </a:moveTo>
                  <a:lnTo>
                    <a:pt x="419" y="0"/>
                  </a:lnTo>
                  <a:lnTo>
                    <a:pt x="419" y="1270"/>
                  </a:lnTo>
                  <a:lnTo>
                    <a:pt x="12" y="1270"/>
                  </a:lnTo>
                  <a:lnTo>
                    <a:pt x="12" y="152400"/>
                  </a:lnTo>
                  <a:lnTo>
                    <a:pt x="0" y="153670"/>
                  </a:lnTo>
                  <a:lnTo>
                    <a:pt x="3733" y="153670"/>
                  </a:lnTo>
                  <a:lnTo>
                    <a:pt x="3733" y="152400"/>
                  </a:lnTo>
                  <a:lnTo>
                    <a:pt x="5930" y="152400"/>
                  </a:lnTo>
                  <a:lnTo>
                    <a:pt x="5930" y="1270"/>
                  </a:lnTo>
                  <a:lnTo>
                    <a:pt x="5994" y="0"/>
                  </a:lnTo>
                  <a:close/>
                </a:path>
              </a:pathLst>
            </a:custGeom>
            <a:solidFill>
              <a:srgbClr val="242424"/>
            </a:solidFill>
          </p:spPr>
          <p:txBody>
            <a:bodyPr wrap="square" lIns="0" tIns="0" rIns="0" bIns="0" rtlCol="0"/>
            <a:lstStyle/>
            <a:p/>
          </p:txBody>
        </p:sp>
        <p:sp>
          <p:nvSpPr>
            <p:cNvPr id="309" name="object 309" descr=""/>
            <p:cNvSpPr/>
            <p:nvPr/>
          </p:nvSpPr>
          <p:spPr>
            <a:xfrm>
              <a:off x="4100690" y="3062681"/>
              <a:ext cx="7620" cy="154940"/>
            </a:xfrm>
            <a:custGeom>
              <a:avLst/>
              <a:gdLst/>
              <a:ahLst/>
              <a:cxnLst/>
              <a:rect l="l" t="t" r="r" b="b"/>
              <a:pathLst>
                <a:path w="7620" h="154939">
                  <a:moveTo>
                    <a:pt x="6985" y="141757"/>
                  </a:moveTo>
                  <a:lnTo>
                    <a:pt x="6121" y="141909"/>
                  </a:lnTo>
                  <a:lnTo>
                    <a:pt x="5219" y="142138"/>
                  </a:lnTo>
                  <a:lnTo>
                    <a:pt x="4356" y="142443"/>
                  </a:lnTo>
                  <a:lnTo>
                    <a:pt x="3517" y="142684"/>
                  </a:lnTo>
                  <a:lnTo>
                    <a:pt x="2616" y="142913"/>
                  </a:lnTo>
                  <a:lnTo>
                    <a:pt x="1727" y="143230"/>
                  </a:lnTo>
                  <a:lnTo>
                    <a:pt x="863" y="143459"/>
                  </a:lnTo>
                  <a:lnTo>
                    <a:pt x="0" y="143764"/>
                  </a:lnTo>
                  <a:lnTo>
                    <a:pt x="0" y="154698"/>
                  </a:lnTo>
                  <a:lnTo>
                    <a:pt x="1727" y="154089"/>
                  </a:lnTo>
                  <a:lnTo>
                    <a:pt x="3517" y="153631"/>
                  </a:lnTo>
                  <a:lnTo>
                    <a:pt x="4356" y="153238"/>
                  </a:lnTo>
                  <a:lnTo>
                    <a:pt x="6121" y="152781"/>
                  </a:lnTo>
                  <a:lnTo>
                    <a:pt x="6985" y="152476"/>
                  </a:lnTo>
                  <a:lnTo>
                    <a:pt x="6985" y="141757"/>
                  </a:lnTo>
                  <a:close/>
                </a:path>
                <a:path w="7620" h="154939">
                  <a:moveTo>
                    <a:pt x="6985" y="120802"/>
                  </a:moveTo>
                  <a:lnTo>
                    <a:pt x="6121" y="120954"/>
                  </a:lnTo>
                  <a:lnTo>
                    <a:pt x="5257" y="121259"/>
                  </a:lnTo>
                  <a:lnTo>
                    <a:pt x="3517" y="121729"/>
                  </a:lnTo>
                  <a:lnTo>
                    <a:pt x="2616" y="122034"/>
                  </a:lnTo>
                  <a:lnTo>
                    <a:pt x="0" y="122732"/>
                  </a:lnTo>
                  <a:lnTo>
                    <a:pt x="0" y="133743"/>
                  </a:lnTo>
                  <a:lnTo>
                    <a:pt x="1727" y="133273"/>
                  </a:lnTo>
                  <a:lnTo>
                    <a:pt x="2616" y="132969"/>
                  </a:lnTo>
                  <a:lnTo>
                    <a:pt x="3517" y="132740"/>
                  </a:lnTo>
                  <a:lnTo>
                    <a:pt x="4356" y="132499"/>
                  </a:lnTo>
                  <a:lnTo>
                    <a:pt x="5219" y="132194"/>
                  </a:lnTo>
                  <a:lnTo>
                    <a:pt x="6985" y="131876"/>
                  </a:lnTo>
                  <a:lnTo>
                    <a:pt x="6985" y="120802"/>
                  </a:lnTo>
                  <a:close/>
                </a:path>
                <a:path w="7620" h="154939">
                  <a:moveTo>
                    <a:pt x="6997" y="101079"/>
                  </a:moveTo>
                  <a:lnTo>
                    <a:pt x="6134" y="101231"/>
                  </a:lnTo>
                  <a:lnTo>
                    <a:pt x="5232" y="101460"/>
                  </a:lnTo>
                  <a:lnTo>
                    <a:pt x="4330" y="101612"/>
                  </a:lnTo>
                  <a:lnTo>
                    <a:pt x="3492" y="101841"/>
                  </a:lnTo>
                  <a:lnTo>
                    <a:pt x="1752" y="102146"/>
                  </a:lnTo>
                  <a:lnTo>
                    <a:pt x="863" y="102438"/>
                  </a:lnTo>
                  <a:lnTo>
                    <a:pt x="0" y="102666"/>
                  </a:lnTo>
                  <a:lnTo>
                    <a:pt x="0" y="113411"/>
                  </a:lnTo>
                  <a:lnTo>
                    <a:pt x="2603" y="112725"/>
                  </a:lnTo>
                  <a:lnTo>
                    <a:pt x="3492" y="112585"/>
                  </a:lnTo>
                  <a:lnTo>
                    <a:pt x="4330" y="112268"/>
                  </a:lnTo>
                  <a:lnTo>
                    <a:pt x="6134" y="111823"/>
                  </a:lnTo>
                  <a:lnTo>
                    <a:pt x="6997" y="111671"/>
                  </a:lnTo>
                  <a:lnTo>
                    <a:pt x="6997" y="101079"/>
                  </a:lnTo>
                  <a:close/>
                </a:path>
                <a:path w="7620" h="154939">
                  <a:moveTo>
                    <a:pt x="6997" y="80746"/>
                  </a:moveTo>
                  <a:lnTo>
                    <a:pt x="6134" y="80899"/>
                  </a:lnTo>
                  <a:lnTo>
                    <a:pt x="5232" y="81064"/>
                  </a:lnTo>
                  <a:lnTo>
                    <a:pt x="4330" y="81203"/>
                  </a:lnTo>
                  <a:lnTo>
                    <a:pt x="3492" y="81521"/>
                  </a:lnTo>
                  <a:lnTo>
                    <a:pt x="2603" y="81661"/>
                  </a:lnTo>
                  <a:lnTo>
                    <a:pt x="863" y="81978"/>
                  </a:lnTo>
                  <a:lnTo>
                    <a:pt x="0" y="82283"/>
                  </a:lnTo>
                  <a:lnTo>
                    <a:pt x="0" y="93078"/>
                  </a:lnTo>
                  <a:lnTo>
                    <a:pt x="863" y="92849"/>
                  </a:lnTo>
                  <a:lnTo>
                    <a:pt x="2603" y="92532"/>
                  </a:lnTo>
                  <a:lnTo>
                    <a:pt x="4330" y="92075"/>
                  </a:lnTo>
                  <a:lnTo>
                    <a:pt x="6134" y="91770"/>
                  </a:lnTo>
                  <a:lnTo>
                    <a:pt x="6997" y="91541"/>
                  </a:lnTo>
                  <a:lnTo>
                    <a:pt x="6997" y="80746"/>
                  </a:lnTo>
                  <a:close/>
                </a:path>
                <a:path w="7620" h="154939">
                  <a:moveTo>
                    <a:pt x="6997" y="61023"/>
                  </a:moveTo>
                  <a:lnTo>
                    <a:pt x="6134" y="61099"/>
                  </a:lnTo>
                  <a:lnTo>
                    <a:pt x="5232" y="61252"/>
                  </a:lnTo>
                  <a:lnTo>
                    <a:pt x="4330" y="61315"/>
                  </a:lnTo>
                  <a:lnTo>
                    <a:pt x="2603" y="61607"/>
                  </a:lnTo>
                  <a:lnTo>
                    <a:pt x="1752" y="61849"/>
                  </a:lnTo>
                  <a:lnTo>
                    <a:pt x="863" y="61988"/>
                  </a:lnTo>
                  <a:lnTo>
                    <a:pt x="0" y="62204"/>
                  </a:lnTo>
                  <a:lnTo>
                    <a:pt x="0" y="72732"/>
                  </a:lnTo>
                  <a:lnTo>
                    <a:pt x="1752" y="72288"/>
                  </a:lnTo>
                  <a:lnTo>
                    <a:pt x="2603" y="72136"/>
                  </a:lnTo>
                  <a:lnTo>
                    <a:pt x="3492" y="72059"/>
                  </a:lnTo>
                  <a:lnTo>
                    <a:pt x="4330" y="71843"/>
                  </a:lnTo>
                  <a:lnTo>
                    <a:pt x="5232" y="71780"/>
                  </a:lnTo>
                  <a:lnTo>
                    <a:pt x="6134" y="71551"/>
                  </a:lnTo>
                  <a:lnTo>
                    <a:pt x="6997" y="71475"/>
                  </a:lnTo>
                  <a:lnTo>
                    <a:pt x="6997" y="61023"/>
                  </a:lnTo>
                  <a:close/>
                </a:path>
                <a:path w="7620" h="154939">
                  <a:moveTo>
                    <a:pt x="7327" y="40690"/>
                  </a:moveTo>
                  <a:lnTo>
                    <a:pt x="6362" y="40767"/>
                  </a:lnTo>
                  <a:lnTo>
                    <a:pt x="3644" y="41236"/>
                  </a:lnTo>
                  <a:lnTo>
                    <a:pt x="2717" y="41313"/>
                  </a:lnTo>
                  <a:lnTo>
                    <a:pt x="927" y="41630"/>
                  </a:lnTo>
                  <a:lnTo>
                    <a:pt x="0" y="41846"/>
                  </a:lnTo>
                  <a:lnTo>
                    <a:pt x="0" y="53009"/>
                  </a:lnTo>
                  <a:lnTo>
                    <a:pt x="889" y="52781"/>
                  </a:lnTo>
                  <a:lnTo>
                    <a:pt x="2717" y="52476"/>
                  </a:lnTo>
                  <a:lnTo>
                    <a:pt x="3644" y="52387"/>
                  </a:lnTo>
                  <a:lnTo>
                    <a:pt x="4546" y="52082"/>
                  </a:lnTo>
                  <a:lnTo>
                    <a:pt x="5435" y="52006"/>
                  </a:lnTo>
                  <a:lnTo>
                    <a:pt x="6362" y="51841"/>
                  </a:lnTo>
                  <a:lnTo>
                    <a:pt x="7327" y="51765"/>
                  </a:lnTo>
                  <a:lnTo>
                    <a:pt x="7327" y="40690"/>
                  </a:lnTo>
                  <a:close/>
                </a:path>
                <a:path w="7620" h="154939">
                  <a:moveTo>
                    <a:pt x="7327" y="20358"/>
                  </a:moveTo>
                  <a:lnTo>
                    <a:pt x="6362" y="20421"/>
                  </a:lnTo>
                  <a:lnTo>
                    <a:pt x="5435" y="20574"/>
                  </a:lnTo>
                  <a:lnTo>
                    <a:pt x="4584" y="20650"/>
                  </a:lnTo>
                  <a:lnTo>
                    <a:pt x="3670" y="20802"/>
                  </a:lnTo>
                  <a:lnTo>
                    <a:pt x="2755" y="20866"/>
                  </a:lnTo>
                  <a:lnTo>
                    <a:pt x="1854" y="21031"/>
                  </a:lnTo>
                  <a:lnTo>
                    <a:pt x="25" y="21323"/>
                  </a:lnTo>
                  <a:lnTo>
                    <a:pt x="0" y="22656"/>
                  </a:lnTo>
                  <a:lnTo>
                    <a:pt x="0" y="32054"/>
                  </a:lnTo>
                  <a:lnTo>
                    <a:pt x="2717" y="31610"/>
                  </a:lnTo>
                  <a:lnTo>
                    <a:pt x="3644" y="31546"/>
                  </a:lnTo>
                  <a:lnTo>
                    <a:pt x="4546" y="31381"/>
                  </a:lnTo>
                  <a:lnTo>
                    <a:pt x="5435" y="31318"/>
                  </a:lnTo>
                  <a:lnTo>
                    <a:pt x="7327" y="31013"/>
                  </a:lnTo>
                  <a:lnTo>
                    <a:pt x="7327" y="20358"/>
                  </a:lnTo>
                  <a:close/>
                </a:path>
                <a:path w="7620" h="154939">
                  <a:moveTo>
                    <a:pt x="7340" y="0"/>
                  </a:moveTo>
                  <a:lnTo>
                    <a:pt x="6400" y="0"/>
                  </a:lnTo>
                  <a:lnTo>
                    <a:pt x="5461" y="165"/>
                  </a:lnTo>
                  <a:lnTo>
                    <a:pt x="4559" y="165"/>
                  </a:lnTo>
                  <a:lnTo>
                    <a:pt x="2730" y="457"/>
                  </a:lnTo>
                  <a:lnTo>
                    <a:pt x="901" y="609"/>
                  </a:lnTo>
                  <a:lnTo>
                    <a:pt x="0" y="762"/>
                  </a:lnTo>
                  <a:lnTo>
                    <a:pt x="0" y="11722"/>
                  </a:lnTo>
                  <a:lnTo>
                    <a:pt x="901" y="11569"/>
                  </a:lnTo>
                  <a:lnTo>
                    <a:pt x="1828" y="11480"/>
                  </a:lnTo>
                  <a:lnTo>
                    <a:pt x="2730" y="11341"/>
                  </a:lnTo>
                  <a:lnTo>
                    <a:pt x="3670" y="11341"/>
                  </a:lnTo>
                  <a:lnTo>
                    <a:pt x="4559" y="11112"/>
                  </a:lnTo>
                  <a:lnTo>
                    <a:pt x="5422" y="11023"/>
                  </a:lnTo>
                  <a:lnTo>
                    <a:pt x="6362" y="10883"/>
                  </a:lnTo>
                  <a:lnTo>
                    <a:pt x="7340" y="10883"/>
                  </a:lnTo>
                  <a:lnTo>
                    <a:pt x="7340" y="0"/>
                  </a:lnTo>
                  <a:close/>
                </a:path>
              </a:pathLst>
            </a:custGeom>
            <a:solidFill>
              <a:srgbClr val="998A78"/>
            </a:solidFill>
          </p:spPr>
          <p:txBody>
            <a:bodyPr wrap="square" lIns="0" tIns="0" rIns="0" bIns="0" rtlCol="0"/>
            <a:lstStyle/>
            <a:p/>
          </p:txBody>
        </p:sp>
        <p:sp>
          <p:nvSpPr>
            <p:cNvPr id="310" name="object 310" descr=""/>
            <p:cNvSpPr/>
            <p:nvPr/>
          </p:nvSpPr>
          <p:spPr>
            <a:xfrm>
              <a:off x="4164685" y="3047276"/>
              <a:ext cx="6350" cy="142240"/>
            </a:xfrm>
            <a:custGeom>
              <a:avLst/>
              <a:gdLst/>
              <a:ahLst/>
              <a:cxnLst/>
              <a:rect l="l" t="t" r="r" b="b"/>
              <a:pathLst>
                <a:path w="6350" h="142239">
                  <a:moveTo>
                    <a:pt x="6070" y="0"/>
                  </a:moveTo>
                  <a:lnTo>
                    <a:pt x="292" y="0"/>
                  </a:lnTo>
                  <a:lnTo>
                    <a:pt x="292" y="139700"/>
                  </a:lnTo>
                  <a:lnTo>
                    <a:pt x="0" y="139700"/>
                  </a:lnTo>
                  <a:lnTo>
                    <a:pt x="0" y="142240"/>
                  </a:lnTo>
                  <a:lnTo>
                    <a:pt x="2552" y="142240"/>
                  </a:lnTo>
                  <a:lnTo>
                    <a:pt x="2552" y="139700"/>
                  </a:lnTo>
                  <a:lnTo>
                    <a:pt x="6070" y="139700"/>
                  </a:lnTo>
                  <a:lnTo>
                    <a:pt x="6070" y="0"/>
                  </a:lnTo>
                  <a:close/>
                </a:path>
              </a:pathLst>
            </a:custGeom>
            <a:solidFill>
              <a:srgbClr val="595958"/>
            </a:solidFill>
          </p:spPr>
          <p:txBody>
            <a:bodyPr wrap="square" lIns="0" tIns="0" rIns="0" bIns="0" rtlCol="0"/>
            <a:lstStyle/>
            <a:p/>
          </p:txBody>
        </p:sp>
        <p:sp>
          <p:nvSpPr>
            <p:cNvPr id="311" name="object 311" descr=""/>
            <p:cNvSpPr/>
            <p:nvPr/>
          </p:nvSpPr>
          <p:spPr>
            <a:xfrm>
              <a:off x="4164685" y="3047898"/>
              <a:ext cx="5715" cy="142240"/>
            </a:xfrm>
            <a:custGeom>
              <a:avLst/>
              <a:gdLst/>
              <a:ahLst/>
              <a:cxnLst/>
              <a:rect l="l" t="t" r="r" b="b"/>
              <a:pathLst>
                <a:path w="5714" h="142239">
                  <a:moveTo>
                    <a:pt x="5334" y="0"/>
                  </a:moveTo>
                  <a:lnTo>
                    <a:pt x="317" y="0"/>
                  </a:lnTo>
                  <a:lnTo>
                    <a:pt x="317" y="140970"/>
                  </a:lnTo>
                  <a:lnTo>
                    <a:pt x="0" y="140970"/>
                  </a:lnTo>
                  <a:lnTo>
                    <a:pt x="0" y="142240"/>
                  </a:lnTo>
                  <a:lnTo>
                    <a:pt x="584" y="142240"/>
                  </a:lnTo>
                  <a:lnTo>
                    <a:pt x="584" y="140970"/>
                  </a:lnTo>
                  <a:lnTo>
                    <a:pt x="5334" y="140970"/>
                  </a:lnTo>
                  <a:lnTo>
                    <a:pt x="5334" y="0"/>
                  </a:lnTo>
                  <a:close/>
                </a:path>
              </a:pathLst>
            </a:custGeom>
            <a:solidFill>
              <a:srgbClr val="242424"/>
            </a:solidFill>
          </p:spPr>
          <p:txBody>
            <a:bodyPr wrap="square" lIns="0" tIns="0" rIns="0" bIns="0" rtlCol="0"/>
            <a:lstStyle/>
            <a:p/>
          </p:txBody>
        </p:sp>
        <p:sp>
          <p:nvSpPr>
            <p:cNvPr id="312" name="object 312" descr=""/>
            <p:cNvSpPr/>
            <p:nvPr/>
          </p:nvSpPr>
          <p:spPr>
            <a:xfrm>
              <a:off x="4167692" y="3056519"/>
              <a:ext cx="0" cy="142240"/>
            </a:xfrm>
            <a:custGeom>
              <a:avLst/>
              <a:gdLst/>
              <a:ahLst/>
              <a:cxnLst/>
              <a:rect l="l" t="t" r="r" b="b"/>
              <a:pathLst>
                <a:path w="0" h="142239">
                  <a:moveTo>
                    <a:pt x="0" y="0"/>
                  </a:moveTo>
                  <a:lnTo>
                    <a:pt x="0" y="141748"/>
                  </a:lnTo>
                </a:path>
              </a:pathLst>
            </a:custGeom>
            <a:ln w="6668">
              <a:solidFill>
                <a:srgbClr val="998A78"/>
              </a:solidFill>
              <a:prstDash val="sysDot"/>
            </a:ln>
          </p:spPr>
          <p:txBody>
            <a:bodyPr wrap="square" lIns="0" tIns="0" rIns="0" bIns="0" rtlCol="0"/>
            <a:lstStyle/>
            <a:p/>
          </p:txBody>
        </p:sp>
        <p:sp>
          <p:nvSpPr>
            <p:cNvPr id="313" name="object 313" descr=""/>
            <p:cNvSpPr/>
            <p:nvPr/>
          </p:nvSpPr>
          <p:spPr>
            <a:xfrm>
              <a:off x="4111694" y="3051594"/>
              <a:ext cx="17145" cy="164465"/>
            </a:xfrm>
            <a:custGeom>
              <a:avLst/>
              <a:gdLst/>
              <a:ahLst/>
              <a:cxnLst/>
              <a:rect l="l" t="t" r="r" b="b"/>
              <a:pathLst>
                <a:path w="17145" h="164464">
                  <a:moveTo>
                    <a:pt x="17005" y="0"/>
                  </a:moveTo>
                  <a:lnTo>
                    <a:pt x="165" y="1536"/>
                  </a:lnTo>
                  <a:lnTo>
                    <a:pt x="0" y="163931"/>
                  </a:lnTo>
                  <a:lnTo>
                    <a:pt x="16675" y="159004"/>
                  </a:lnTo>
                  <a:lnTo>
                    <a:pt x="17005" y="0"/>
                  </a:lnTo>
                  <a:close/>
                </a:path>
              </a:pathLst>
            </a:custGeom>
            <a:solidFill>
              <a:srgbClr val="A7A8A7"/>
            </a:solidFill>
          </p:spPr>
          <p:txBody>
            <a:bodyPr wrap="square" lIns="0" tIns="0" rIns="0" bIns="0" rtlCol="0"/>
            <a:lstStyle/>
            <a:p/>
          </p:txBody>
        </p:sp>
        <p:sp>
          <p:nvSpPr>
            <p:cNvPr id="314" name="object 314" descr=""/>
            <p:cNvSpPr/>
            <p:nvPr/>
          </p:nvSpPr>
          <p:spPr>
            <a:xfrm>
              <a:off x="4112690" y="3050980"/>
              <a:ext cx="15875" cy="154940"/>
            </a:xfrm>
            <a:custGeom>
              <a:avLst/>
              <a:gdLst/>
              <a:ahLst/>
              <a:cxnLst/>
              <a:rect l="l" t="t" r="r" b="b"/>
              <a:pathLst>
                <a:path w="15875" h="154939">
                  <a:moveTo>
                    <a:pt x="15671" y="0"/>
                  </a:moveTo>
                  <a:lnTo>
                    <a:pt x="203" y="1460"/>
                  </a:lnTo>
                  <a:lnTo>
                    <a:pt x="0" y="154686"/>
                  </a:lnTo>
                  <a:lnTo>
                    <a:pt x="15367" y="150139"/>
                  </a:lnTo>
                  <a:lnTo>
                    <a:pt x="15671" y="0"/>
                  </a:lnTo>
                  <a:close/>
                </a:path>
              </a:pathLst>
            </a:custGeom>
            <a:solidFill>
              <a:srgbClr val="3B3030"/>
            </a:solidFill>
          </p:spPr>
          <p:txBody>
            <a:bodyPr wrap="square" lIns="0" tIns="0" rIns="0" bIns="0" rtlCol="0"/>
            <a:lstStyle/>
            <a:p/>
          </p:txBody>
        </p:sp>
        <p:sp>
          <p:nvSpPr>
            <p:cNvPr id="315" name="object 315" descr=""/>
            <p:cNvSpPr/>
            <p:nvPr/>
          </p:nvSpPr>
          <p:spPr>
            <a:xfrm>
              <a:off x="4112691" y="3052207"/>
              <a:ext cx="13335" cy="152400"/>
            </a:xfrm>
            <a:custGeom>
              <a:avLst/>
              <a:gdLst/>
              <a:ahLst/>
              <a:cxnLst/>
              <a:rect l="l" t="t" r="r" b="b"/>
              <a:pathLst>
                <a:path w="13335" h="152400">
                  <a:moveTo>
                    <a:pt x="13004" y="0"/>
                  </a:moveTo>
                  <a:lnTo>
                    <a:pt x="6604" y="622"/>
                  </a:lnTo>
                  <a:lnTo>
                    <a:pt x="203" y="1155"/>
                  </a:lnTo>
                  <a:lnTo>
                    <a:pt x="0" y="152222"/>
                  </a:lnTo>
                  <a:lnTo>
                    <a:pt x="12700" y="148526"/>
                  </a:lnTo>
                  <a:lnTo>
                    <a:pt x="13004" y="0"/>
                  </a:lnTo>
                  <a:close/>
                </a:path>
              </a:pathLst>
            </a:custGeom>
            <a:solidFill>
              <a:srgbClr val="241919"/>
            </a:solidFill>
          </p:spPr>
          <p:txBody>
            <a:bodyPr wrap="square" lIns="0" tIns="0" rIns="0" bIns="0" rtlCol="0"/>
            <a:lstStyle/>
            <a:p/>
          </p:txBody>
        </p:sp>
        <p:sp>
          <p:nvSpPr>
            <p:cNvPr id="316" name="object 316" descr=""/>
            <p:cNvSpPr/>
            <p:nvPr/>
          </p:nvSpPr>
          <p:spPr>
            <a:xfrm>
              <a:off x="4112691" y="3052292"/>
              <a:ext cx="11430" cy="152400"/>
            </a:xfrm>
            <a:custGeom>
              <a:avLst/>
              <a:gdLst/>
              <a:ahLst/>
              <a:cxnLst/>
              <a:rect l="l" t="t" r="r" b="b"/>
              <a:pathLst>
                <a:path w="11429" h="152400">
                  <a:moveTo>
                    <a:pt x="11328" y="0"/>
                  </a:moveTo>
                  <a:lnTo>
                    <a:pt x="3162" y="0"/>
                  </a:lnTo>
                  <a:lnTo>
                    <a:pt x="3162" y="1270"/>
                  </a:lnTo>
                  <a:lnTo>
                    <a:pt x="101" y="1270"/>
                  </a:lnTo>
                  <a:lnTo>
                    <a:pt x="101" y="148590"/>
                  </a:lnTo>
                  <a:lnTo>
                    <a:pt x="0" y="152400"/>
                  </a:lnTo>
                  <a:lnTo>
                    <a:pt x="5613" y="152400"/>
                  </a:lnTo>
                  <a:lnTo>
                    <a:pt x="5613" y="148590"/>
                  </a:lnTo>
                  <a:lnTo>
                    <a:pt x="11188" y="148590"/>
                  </a:lnTo>
                  <a:lnTo>
                    <a:pt x="11188" y="1270"/>
                  </a:lnTo>
                  <a:lnTo>
                    <a:pt x="11328" y="1270"/>
                  </a:lnTo>
                  <a:lnTo>
                    <a:pt x="11328" y="0"/>
                  </a:lnTo>
                  <a:close/>
                </a:path>
              </a:pathLst>
            </a:custGeom>
            <a:solidFill>
              <a:srgbClr val="0A0000"/>
            </a:solidFill>
          </p:spPr>
          <p:txBody>
            <a:bodyPr wrap="square" lIns="0" tIns="0" rIns="0" bIns="0" rtlCol="0"/>
            <a:lstStyle/>
            <a:p/>
          </p:txBody>
        </p:sp>
        <p:sp>
          <p:nvSpPr>
            <p:cNvPr id="317" name="object 317" descr=""/>
            <p:cNvSpPr/>
            <p:nvPr/>
          </p:nvSpPr>
          <p:spPr>
            <a:xfrm>
              <a:off x="4112360" y="3062674"/>
              <a:ext cx="16510" cy="8890"/>
            </a:xfrm>
            <a:custGeom>
              <a:avLst/>
              <a:gdLst/>
              <a:ahLst/>
              <a:cxnLst/>
              <a:rect l="l" t="t" r="r" b="b"/>
              <a:pathLst>
                <a:path w="16510" h="8889">
                  <a:moveTo>
                    <a:pt x="16001" y="0"/>
                  </a:moveTo>
                  <a:lnTo>
                    <a:pt x="13995" y="165"/>
                  </a:lnTo>
                  <a:lnTo>
                    <a:pt x="11988" y="317"/>
                  </a:lnTo>
                  <a:lnTo>
                    <a:pt x="8026" y="787"/>
                  </a:lnTo>
                  <a:lnTo>
                    <a:pt x="4013" y="1092"/>
                  </a:lnTo>
                  <a:lnTo>
                    <a:pt x="0" y="1549"/>
                  </a:lnTo>
                  <a:lnTo>
                    <a:pt x="0" y="8636"/>
                  </a:lnTo>
                  <a:lnTo>
                    <a:pt x="1968" y="8407"/>
                  </a:lnTo>
                  <a:lnTo>
                    <a:pt x="3987" y="8102"/>
                  </a:lnTo>
                  <a:lnTo>
                    <a:pt x="5994" y="7874"/>
                  </a:lnTo>
                  <a:lnTo>
                    <a:pt x="7988" y="7708"/>
                  </a:lnTo>
                  <a:lnTo>
                    <a:pt x="9931" y="7404"/>
                  </a:lnTo>
                  <a:lnTo>
                    <a:pt x="11950" y="7175"/>
                  </a:lnTo>
                  <a:lnTo>
                    <a:pt x="15925" y="6858"/>
                  </a:lnTo>
                  <a:lnTo>
                    <a:pt x="15925" y="4165"/>
                  </a:lnTo>
                  <a:lnTo>
                    <a:pt x="15963" y="3314"/>
                  </a:lnTo>
                  <a:lnTo>
                    <a:pt x="15963" y="787"/>
                  </a:lnTo>
                  <a:lnTo>
                    <a:pt x="16001" y="0"/>
                  </a:lnTo>
                  <a:close/>
                </a:path>
              </a:pathLst>
            </a:custGeom>
            <a:solidFill>
              <a:srgbClr val="7A614F"/>
            </a:solidFill>
          </p:spPr>
          <p:txBody>
            <a:bodyPr wrap="square" lIns="0" tIns="0" rIns="0" bIns="0" rtlCol="0"/>
            <a:lstStyle/>
            <a:p/>
          </p:txBody>
        </p:sp>
        <p:sp>
          <p:nvSpPr>
            <p:cNvPr id="318" name="object 318" descr=""/>
            <p:cNvSpPr/>
            <p:nvPr/>
          </p:nvSpPr>
          <p:spPr>
            <a:xfrm>
              <a:off x="4112360" y="3066379"/>
              <a:ext cx="16510" cy="3175"/>
            </a:xfrm>
            <a:custGeom>
              <a:avLst/>
              <a:gdLst/>
              <a:ahLst/>
              <a:cxnLst/>
              <a:rect l="l" t="t" r="r" b="b"/>
              <a:pathLst>
                <a:path w="16510" h="3175">
                  <a:moveTo>
                    <a:pt x="16001" y="0"/>
                  </a:moveTo>
                  <a:lnTo>
                    <a:pt x="13995" y="152"/>
                  </a:lnTo>
                  <a:lnTo>
                    <a:pt x="9969" y="431"/>
                  </a:lnTo>
                  <a:lnTo>
                    <a:pt x="8026" y="723"/>
                  </a:lnTo>
                  <a:lnTo>
                    <a:pt x="3987" y="1143"/>
                  </a:lnTo>
                  <a:lnTo>
                    <a:pt x="1968" y="1435"/>
                  </a:lnTo>
                  <a:lnTo>
                    <a:pt x="0" y="1651"/>
                  </a:lnTo>
                  <a:lnTo>
                    <a:pt x="0" y="3086"/>
                  </a:lnTo>
                  <a:lnTo>
                    <a:pt x="1968" y="2870"/>
                  </a:lnTo>
                  <a:lnTo>
                    <a:pt x="3987" y="2590"/>
                  </a:lnTo>
                  <a:lnTo>
                    <a:pt x="5994" y="2374"/>
                  </a:lnTo>
                  <a:lnTo>
                    <a:pt x="7988" y="2222"/>
                  </a:lnTo>
                  <a:lnTo>
                    <a:pt x="9931" y="1930"/>
                  </a:lnTo>
                  <a:lnTo>
                    <a:pt x="11950" y="1714"/>
                  </a:lnTo>
                  <a:lnTo>
                    <a:pt x="15925" y="1435"/>
                  </a:lnTo>
                  <a:lnTo>
                    <a:pt x="16001" y="0"/>
                  </a:lnTo>
                  <a:close/>
                </a:path>
              </a:pathLst>
            </a:custGeom>
            <a:solidFill>
              <a:srgbClr val="C0C0C0"/>
            </a:solidFill>
          </p:spPr>
          <p:txBody>
            <a:bodyPr wrap="square" lIns="0" tIns="0" rIns="0" bIns="0" rtlCol="0"/>
            <a:lstStyle/>
            <a:p/>
          </p:txBody>
        </p:sp>
        <p:sp>
          <p:nvSpPr>
            <p:cNvPr id="319" name="object 319" descr=""/>
            <p:cNvSpPr/>
            <p:nvPr/>
          </p:nvSpPr>
          <p:spPr>
            <a:xfrm>
              <a:off x="4112361" y="3067613"/>
              <a:ext cx="16510" cy="2540"/>
            </a:xfrm>
            <a:custGeom>
              <a:avLst/>
              <a:gdLst/>
              <a:ahLst/>
              <a:cxnLst/>
              <a:rect l="l" t="t" r="r" b="b"/>
              <a:pathLst>
                <a:path w="16510" h="2539">
                  <a:moveTo>
                    <a:pt x="15989" y="0"/>
                  </a:moveTo>
                  <a:lnTo>
                    <a:pt x="13982" y="152"/>
                  </a:lnTo>
                  <a:lnTo>
                    <a:pt x="11988" y="304"/>
                  </a:lnTo>
                  <a:lnTo>
                    <a:pt x="9982" y="533"/>
                  </a:lnTo>
                  <a:lnTo>
                    <a:pt x="8026" y="825"/>
                  </a:lnTo>
                  <a:lnTo>
                    <a:pt x="6019" y="977"/>
                  </a:lnTo>
                  <a:lnTo>
                    <a:pt x="4000" y="1193"/>
                  </a:lnTo>
                  <a:lnTo>
                    <a:pt x="1981" y="1498"/>
                  </a:lnTo>
                  <a:lnTo>
                    <a:pt x="0" y="1714"/>
                  </a:lnTo>
                  <a:lnTo>
                    <a:pt x="0" y="2476"/>
                  </a:lnTo>
                  <a:lnTo>
                    <a:pt x="1981" y="2247"/>
                  </a:lnTo>
                  <a:lnTo>
                    <a:pt x="4000" y="1943"/>
                  </a:lnTo>
                  <a:lnTo>
                    <a:pt x="6019" y="1714"/>
                  </a:lnTo>
                  <a:lnTo>
                    <a:pt x="8026" y="1574"/>
                  </a:lnTo>
                  <a:lnTo>
                    <a:pt x="9982" y="1270"/>
                  </a:lnTo>
                  <a:lnTo>
                    <a:pt x="11988" y="1041"/>
                  </a:lnTo>
                  <a:lnTo>
                    <a:pt x="15989" y="749"/>
                  </a:lnTo>
                  <a:lnTo>
                    <a:pt x="15989" y="0"/>
                  </a:lnTo>
                  <a:close/>
                </a:path>
              </a:pathLst>
            </a:custGeom>
            <a:solidFill>
              <a:srgbClr val="484948"/>
            </a:solidFill>
          </p:spPr>
          <p:txBody>
            <a:bodyPr wrap="square" lIns="0" tIns="0" rIns="0" bIns="0" rtlCol="0"/>
            <a:lstStyle/>
            <a:p/>
          </p:txBody>
        </p:sp>
        <p:sp>
          <p:nvSpPr>
            <p:cNvPr id="320" name="object 320" descr=""/>
            <p:cNvSpPr/>
            <p:nvPr/>
          </p:nvSpPr>
          <p:spPr>
            <a:xfrm>
              <a:off x="4112360" y="3082406"/>
              <a:ext cx="16510" cy="9525"/>
            </a:xfrm>
            <a:custGeom>
              <a:avLst/>
              <a:gdLst/>
              <a:ahLst/>
              <a:cxnLst/>
              <a:rect l="l" t="t" r="r" b="b"/>
              <a:pathLst>
                <a:path w="16510" h="9525">
                  <a:moveTo>
                    <a:pt x="16001" y="0"/>
                  </a:moveTo>
                  <a:lnTo>
                    <a:pt x="13995" y="241"/>
                  </a:lnTo>
                  <a:lnTo>
                    <a:pt x="12014" y="546"/>
                  </a:lnTo>
                  <a:lnTo>
                    <a:pt x="6057" y="1257"/>
                  </a:lnTo>
                  <a:lnTo>
                    <a:pt x="4051" y="1574"/>
                  </a:lnTo>
                  <a:lnTo>
                    <a:pt x="63" y="2057"/>
                  </a:lnTo>
                  <a:lnTo>
                    <a:pt x="0" y="2997"/>
                  </a:lnTo>
                  <a:lnTo>
                    <a:pt x="0" y="9245"/>
                  </a:lnTo>
                  <a:lnTo>
                    <a:pt x="4013" y="8610"/>
                  </a:lnTo>
                  <a:lnTo>
                    <a:pt x="8064" y="8140"/>
                  </a:lnTo>
                  <a:lnTo>
                    <a:pt x="10007" y="7734"/>
                  </a:lnTo>
                  <a:lnTo>
                    <a:pt x="13995" y="7264"/>
                  </a:lnTo>
                  <a:lnTo>
                    <a:pt x="16001" y="6946"/>
                  </a:lnTo>
                  <a:lnTo>
                    <a:pt x="16001" y="0"/>
                  </a:lnTo>
                  <a:close/>
                </a:path>
              </a:pathLst>
            </a:custGeom>
            <a:solidFill>
              <a:srgbClr val="7A614F"/>
            </a:solidFill>
          </p:spPr>
          <p:txBody>
            <a:bodyPr wrap="square" lIns="0" tIns="0" rIns="0" bIns="0" rtlCol="0"/>
            <a:lstStyle/>
            <a:p/>
          </p:txBody>
        </p:sp>
        <p:sp>
          <p:nvSpPr>
            <p:cNvPr id="321" name="object 321" descr=""/>
            <p:cNvSpPr/>
            <p:nvPr/>
          </p:nvSpPr>
          <p:spPr>
            <a:xfrm>
              <a:off x="4112360" y="3086094"/>
              <a:ext cx="16510" cy="3810"/>
            </a:xfrm>
            <a:custGeom>
              <a:avLst/>
              <a:gdLst/>
              <a:ahLst/>
              <a:cxnLst/>
              <a:rect l="l" t="t" r="r" b="b"/>
              <a:pathLst>
                <a:path w="16510" h="3810">
                  <a:moveTo>
                    <a:pt x="16001" y="0"/>
                  </a:moveTo>
                  <a:lnTo>
                    <a:pt x="13995" y="165"/>
                  </a:lnTo>
                  <a:lnTo>
                    <a:pt x="12014" y="419"/>
                  </a:lnTo>
                  <a:lnTo>
                    <a:pt x="10007" y="736"/>
                  </a:lnTo>
                  <a:lnTo>
                    <a:pt x="6032" y="1219"/>
                  </a:lnTo>
                  <a:lnTo>
                    <a:pt x="4013" y="1536"/>
                  </a:lnTo>
                  <a:lnTo>
                    <a:pt x="2006" y="1778"/>
                  </a:lnTo>
                  <a:lnTo>
                    <a:pt x="0" y="2095"/>
                  </a:lnTo>
                  <a:lnTo>
                    <a:pt x="0" y="3708"/>
                  </a:lnTo>
                  <a:lnTo>
                    <a:pt x="2006" y="3390"/>
                  </a:lnTo>
                  <a:lnTo>
                    <a:pt x="4013" y="3149"/>
                  </a:lnTo>
                  <a:lnTo>
                    <a:pt x="6032" y="2832"/>
                  </a:lnTo>
                  <a:lnTo>
                    <a:pt x="8064" y="2578"/>
                  </a:lnTo>
                  <a:lnTo>
                    <a:pt x="10007" y="2171"/>
                  </a:lnTo>
                  <a:lnTo>
                    <a:pt x="16001" y="1460"/>
                  </a:lnTo>
                  <a:lnTo>
                    <a:pt x="16001" y="0"/>
                  </a:lnTo>
                  <a:close/>
                </a:path>
              </a:pathLst>
            </a:custGeom>
            <a:solidFill>
              <a:srgbClr val="C0C0C0"/>
            </a:solidFill>
          </p:spPr>
          <p:txBody>
            <a:bodyPr wrap="square" lIns="0" tIns="0" rIns="0" bIns="0" rtlCol="0"/>
            <a:lstStyle/>
            <a:p/>
          </p:txBody>
        </p:sp>
        <p:sp>
          <p:nvSpPr>
            <p:cNvPr id="322" name="object 322" descr=""/>
            <p:cNvSpPr/>
            <p:nvPr/>
          </p:nvSpPr>
          <p:spPr>
            <a:xfrm>
              <a:off x="4112360" y="3087331"/>
              <a:ext cx="16510" cy="3175"/>
            </a:xfrm>
            <a:custGeom>
              <a:avLst/>
              <a:gdLst/>
              <a:ahLst/>
              <a:cxnLst/>
              <a:rect l="l" t="t" r="r" b="b"/>
              <a:pathLst>
                <a:path w="16510" h="3175">
                  <a:moveTo>
                    <a:pt x="16001" y="0"/>
                  </a:moveTo>
                  <a:lnTo>
                    <a:pt x="13995" y="254"/>
                  </a:lnTo>
                  <a:lnTo>
                    <a:pt x="10007" y="736"/>
                  </a:lnTo>
                  <a:lnTo>
                    <a:pt x="8064" y="1143"/>
                  </a:lnTo>
                  <a:lnTo>
                    <a:pt x="6032" y="1384"/>
                  </a:lnTo>
                  <a:lnTo>
                    <a:pt x="4013" y="1701"/>
                  </a:lnTo>
                  <a:lnTo>
                    <a:pt x="2006" y="1943"/>
                  </a:lnTo>
                  <a:lnTo>
                    <a:pt x="0" y="2273"/>
                  </a:lnTo>
                  <a:lnTo>
                    <a:pt x="0" y="3086"/>
                  </a:lnTo>
                  <a:lnTo>
                    <a:pt x="2006" y="2755"/>
                  </a:lnTo>
                  <a:lnTo>
                    <a:pt x="4013" y="2514"/>
                  </a:lnTo>
                  <a:lnTo>
                    <a:pt x="6032" y="2197"/>
                  </a:lnTo>
                  <a:lnTo>
                    <a:pt x="8064" y="1943"/>
                  </a:lnTo>
                  <a:lnTo>
                    <a:pt x="10007" y="1549"/>
                  </a:lnTo>
                  <a:lnTo>
                    <a:pt x="13995" y="1054"/>
                  </a:lnTo>
                  <a:lnTo>
                    <a:pt x="16001" y="736"/>
                  </a:lnTo>
                  <a:lnTo>
                    <a:pt x="16001" y="0"/>
                  </a:lnTo>
                  <a:close/>
                </a:path>
              </a:pathLst>
            </a:custGeom>
            <a:solidFill>
              <a:srgbClr val="484948"/>
            </a:solidFill>
          </p:spPr>
          <p:txBody>
            <a:bodyPr wrap="square" lIns="0" tIns="0" rIns="0" bIns="0" rtlCol="0"/>
            <a:lstStyle/>
            <a:p/>
          </p:txBody>
        </p:sp>
        <p:sp>
          <p:nvSpPr>
            <p:cNvPr id="323" name="object 323" descr=""/>
            <p:cNvSpPr/>
            <p:nvPr/>
          </p:nvSpPr>
          <p:spPr>
            <a:xfrm>
              <a:off x="4112365" y="3102124"/>
              <a:ext cx="15875" cy="9525"/>
            </a:xfrm>
            <a:custGeom>
              <a:avLst/>
              <a:gdLst/>
              <a:ahLst/>
              <a:cxnLst/>
              <a:rect l="l" t="t" r="r" b="b"/>
              <a:pathLst>
                <a:path w="15875" h="9525">
                  <a:moveTo>
                    <a:pt x="15659" y="0"/>
                  </a:moveTo>
                  <a:lnTo>
                    <a:pt x="13715" y="228"/>
                  </a:lnTo>
                  <a:lnTo>
                    <a:pt x="1968" y="2006"/>
                  </a:lnTo>
                  <a:lnTo>
                    <a:pt x="0" y="2387"/>
                  </a:lnTo>
                  <a:lnTo>
                    <a:pt x="0" y="9245"/>
                  </a:lnTo>
                  <a:lnTo>
                    <a:pt x="1968" y="8801"/>
                  </a:lnTo>
                  <a:lnTo>
                    <a:pt x="3936" y="8572"/>
                  </a:lnTo>
                  <a:lnTo>
                    <a:pt x="5918" y="8128"/>
                  </a:lnTo>
                  <a:lnTo>
                    <a:pt x="7899" y="7912"/>
                  </a:lnTo>
                  <a:lnTo>
                    <a:pt x="9804" y="7454"/>
                  </a:lnTo>
                  <a:lnTo>
                    <a:pt x="11772" y="7239"/>
                  </a:lnTo>
                  <a:lnTo>
                    <a:pt x="13715" y="6858"/>
                  </a:lnTo>
                  <a:lnTo>
                    <a:pt x="15659" y="6565"/>
                  </a:lnTo>
                  <a:lnTo>
                    <a:pt x="15659" y="0"/>
                  </a:lnTo>
                  <a:close/>
                </a:path>
              </a:pathLst>
            </a:custGeom>
            <a:solidFill>
              <a:srgbClr val="7A614F"/>
            </a:solidFill>
          </p:spPr>
          <p:txBody>
            <a:bodyPr wrap="square" lIns="0" tIns="0" rIns="0" bIns="0" rtlCol="0"/>
            <a:lstStyle/>
            <a:p/>
          </p:txBody>
        </p:sp>
        <p:sp>
          <p:nvSpPr>
            <p:cNvPr id="324" name="object 324" descr=""/>
            <p:cNvSpPr/>
            <p:nvPr/>
          </p:nvSpPr>
          <p:spPr>
            <a:xfrm>
              <a:off x="4112365" y="3105832"/>
              <a:ext cx="15875" cy="4445"/>
            </a:xfrm>
            <a:custGeom>
              <a:avLst/>
              <a:gdLst/>
              <a:ahLst/>
              <a:cxnLst/>
              <a:rect l="l" t="t" r="r" b="b"/>
              <a:pathLst>
                <a:path w="15875" h="4444">
                  <a:moveTo>
                    <a:pt x="15659" y="0"/>
                  </a:moveTo>
                  <a:lnTo>
                    <a:pt x="13715" y="304"/>
                  </a:lnTo>
                  <a:lnTo>
                    <a:pt x="11772" y="609"/>
                  </a:lnTo>
                  <a:lnTo>
                    <a:pt x="9804" y="990"/>
                  </a:lnTo>
                  <a:lnTo>
                    <a:pt x="7899" y="1295"/>
                  </a:lnTo>
                  <a:lnTo>
                    <a:pt x="5918" y="1536"/>
                  </a:lnTo>
                  <a:lnTo>
                    <a:pt x="3936" y="1917"/>
                  </a:lnTo>
                  <a:lnTo>
                    <a:pt x="1968" y="2222"/>
                  </a:lnTo>
                  <a:lnTo>
                    <a:pt x="0" y="2616"/>
                  </a:lnTo>
                  <a:lnTo>
                    <a:pt x="0" y="4305"/>
                  </a:lnTo>
                  <a:lnTo>
                    <a:pt x="1968" y="3848"/>
                  </a:lnTo>
                  <a:lnTo>
                    <a:pt x="3936" y="3543"/>
                  </a:lnTo>
                  <a:lnTo>
                    <a:pt x="5918" y="3149"/>
                  </a:lnTo>
                  <a:lnTo>
                    <a:pt x="7899" y="2921"/>
                  </a:lnTo>
                  <a:lnTo>
                    <a:pt x="11772" y="2146"/>
                  </a:lnTo>
                  <a:lnTo>
                    <a:pt x="15659" y="1536"/>
                  </a:lnTo>
                  <a:lnTo>
                    <a:pt x="15659" y="0"/>
                  </a:lnTo>
                  <a:close/>
                </a:path>
              </a:pathLst>
            </a:custGeom>
            <a:solidFill>
              <a:srgbClr val="C0C0C0"/>
            </a:solidFill>
          </p:spPr>
          <p:txBody>
            <a:bodyPr wrap="square" lIns="0" tIns="0" rIns="0" bIns="0" rtlCol="0"/>
            <a:lstStyle/>
            <a:p/>
          </p:txBody>
        </p:sp>
        <p:sp>
          <p:nvSpPr>
            <p:cNvPr id="325" name="object 325" descr=""/>
            <p:cNvSpPr/>
            <p:nvPr/>
          </p:nvSpPr>
          <p:spPr>
            <a:xfrm>
              <a:off x="4112365" y="3107663"/>
              <a:ext cx="15875" cy="3175"/>
            </a:xfrm>
            <a:custGeom>
              <a:avLst/>
              <a:gdLst/>
              <a:ahLst/>
              <a:cxnLst/>
              <a:rect l="l" t="t" r="r" b="b"/>
              <a:pathLst>
                <a:path w="15875" h="3175">
                  <a:moveTo>
                    <a:pt x="15659" y="0"/>
                  </a:moveTo>
                  <a:lnTo>
                    <a:pt x="13715" y="279"/>
                  </a:lnTo>
                  <a:lnTo>
                    <a:pt x="11772" y="546"/>
                  </a:lnTo>
                  <a:lnTo>
                    <a:pt x="7899" y="1219"/>
                  </a:lnTo>
                  <a:lnTo>
                    <a:pt x="5918" y="1422"/>
                  </a:lnTo>
                  <a:lnTo>
                    <a:pt x="3936" y="1752"/>
                  </a:lnTo>
                  <a:lnTo>
                    <a:pt x="1968" y="2019"/>
                  </a:lnTo>
                  <a:lnTo>
                    <a:pt x="0" y="2412"/>
                  </a:lnTo>
                  <a:lnTo>
                    <a:pt x="0" y="3086"/>
                  </a:lnTo>
                  <a:lnTo>
                    <a:pt x="1968" y="2692"/>
                  </a:lnTo>
                  <a:lnTo>
                    <a:pt x="3936" y="2412"/>
                  </a:lnTo>
                  <a:lnTo>
                    <a:pt x="5918" y="2082"/>
                  </a:lnTo>
                  <a:lnTo>
                    <a:pt x="7899" y="1892"/>
                  </a:lnTo>
                  <a:lnTo>
                    <a:pt x="9804" y="1473"/>
                  </a:lnTo>
                  <a:lnTo>
                    <a:pt x="15659" y="673"/>
                  </a:lnTo>
                  <a:lnTo>
                    <a:pt x="15659" y="0"/>
                  </a:lnTo>
                  <a:close/>
                </a:path>
              </a:pathLst>
            </a:custGeom>
            <a:solidFill>
              <a:srgbClr val="484948"/>
            </a:solidFill>
          </p:spPr>
          <p:txBody>
            <a:bodyPr wrap="square" lIns="0" tIns="0" rIns="0" bIns="0" rtlCol="0"/>
            <a:lstStyle/>
            <a:p/>
          </p:txBody>
        </p:sp>
        <p:sp>
          <p:nvSpPr>
            <p:cNvPr id="326" name="object 326" descr=""/>
            <p:cNvSpPr/>
            <p:nvPr/>
          </p:nvSpPr>
          <p:spPr>
            <a:xfrm>
              <a:off x="4112365" y="3121853"/>
              <a:ext cx="15875" cy="10160"/>
            </a:xfrm>
            <a:custGeom>
              <a:avLst/>
              <a:gdLst/>
              <a:ahLst/>
              <a:cxnLst/>
              <a:rect l="l" t="t" r="r" b="b"/>
              <a:pathLst>
                <a:path w="15875" h="10160">
                  <a:moveTo>
                    <a:pt x="15659" y="0"/>
                  </a:moveTo>
                  <a:lnTo>
                    <a:pt x="13715" y="228"/>
                  </a:lnTo>
                  <a:lnTo>
                    <a:pt x="11772" y="546"/>
                  </a:lnTo>
                  <a:lnTo>
                    <a:pt x="9804" y="939"/>
                  </a:lnTo>
                  <a:lnTo>
                    <a:pt x="7899" y="1244"/>
                  </a:lnTo>
                  <a:lnTo>
                    <a:pt x="0" y="2806"/>
                  </a:lnTo>
                  <a:lnTo>
                    <a:pt x="0" y="9855"/>
                  </a:lnTo>
                  <a:lnTo>
                    <a:pt x="1930" y="9385"/>
                  </a:lnTo>
                  <a:lnTo>
                    <a:pt x="3911" y="9080"/>
                  </a:lnTo>
                  <a:lnTo>
                    <a:pt x="5892" y="8686"/>
                  </a:lnTo>
                  <a:lnTo>
                    <a:pt x="7823" y="8369"/>
                  </a:lnTo>
                  <a:lnTo>
                    <a:pt x="11747" y="7594"/>
                  </a:lnTo>
                  <a:lnTo>
                    <a:pt x="13677" y="7264"/>
                  </a:lnTo>
                  <a:lnTo>
                    <a:pt x="15595" y="6883"/>
                  </a:lnTo>
                  <a:lnTo>
                    <a:pt x="15595" y="1562"/>
                  </a:lnTo>
                  <a:lnTo>
                    <a:pt x="15659" y="0"/>
                  </a:lnTo>
                  <a:close/>
                </a:path>
              </a:pathLst>
            </a:custGeom>
            <a:solidFill>
              <a:srgbClr val="7A614F"/>
            </a:solidFill>
          </p:spPr>
          <p:txBody>
            <a:bodyPr wrap="square" lIns="0" tIns="0" rIns="0" bIns="0" rtlCol="0"/>
            <a:lstStyle/>
            <a:p/>
          </p:txBody>
        </p:sp>
        <p:sp>
          <p:nvSpPr>
            <p:cNvPr id="327" name="object 327" descr=""/>
            <p:cNvSpPr/>
            <p:nvPr/>
          </p:nvSpPr>
          <p:spPr>
            <a:xfrm>
              <a:off x="4112361" y="3125542"/>
              <a:ext cx="15875" cy="4445"/>
            </a:xfrm>
            <a:custGeom>
              <a:avLst/>
              <a:gdLst/>
              <a:ahLst/>
              <a:cxnLst/>
              <a:rect l="l" t="t" r="r" b="b"/>
              <a:pathLst>
                <a:path w="15875" h="4444">
                  <a:moveTo>
                    <a:pt x="15659" y="0"/>
                  </a:moveTo>
                  <a:lnTo>
                    <a:pt x="13754" y="368"/>
                  </a:lnTo>
                  <a:lnTo>
                    <a:pt x="11798" y="660"/>
                  </a:lnTo>
                  <a:lnTo>
                    <a:pt x="3937" y="2133"/>
                  </a:lnTo>
                  <a:lnTo>
                    <a:pt x="1943" y="2412"/>
                  </a:lnTo>
                  <a:lnTo>
                    <a:pt x="0" y="2857"/>
                  </a:lnTo>
                  <a:lnTo>
                    <a:pt x="0" y="4317"/>
                  </a:lnTo>
                  <a:lnTo>
                    <a:pt x="1943" y="3873"/>
                  </a:lnTo>
                  <a:lnTo>
                    <a:pt x="3937" y="3594"/>
                  </a:lnTo>
                  <a:lnTo>
                    <a:pt x="5918" y="3149"/>
                  </a:lnTo>
                  <a:lnTo>
                    <a:pt x="7861" y="2933"/>
                  </a:lnTo>
                  <a:lnTo>
                    <a:pt x="11798" y="2197"/>
                  </a:lnTo>
                  <a:lnTo>
                    <a:pt x="13754" y="1917"/>
                  </a:lnTo>
                  <a:lnTo>
                    <a:pt x="15659" y="1549"/>
                  </a:lnTo>
                  <a:lnTo>
                    <a:pt x="15659" y="0"/>
                  </a:lnTo>
                  <a:close/>
                </a:path>
              </a:pathLst>
            </a:custGeom>
            <a:solidFill>
              <a:srgbClr val="C0C0C0"/>
            </a:solidFill>
          </p:spPr>
          <p:txBody>
            <a:bodyPr wrap="square" lIns="0" tIns="0" rIns="0" bIns="0" rtlCol="0"/>
            <a:lstStyle/>
            <a:p/>
          </p:txBody>
        </p:sp>
        <p:sp>
          <p:nvSpPr>
            <p:cNvPr id="328" name="object 328" descr=""/>
            <p:cNvSpPr/>
            <p:nvPr/>
          </p:nvSpPr>
          <p:spPr>
            <a:xfrm>
              <a:off x="4112361" y="3127391"/>
              <a:ext cx="15875" cy="3810"/>
            </a:xfrm>
            <a:custGeom>
              <a:avLst/>
              <a:gdLst/>
              <a:ahLst/>
              <a:cxnLst/>
              <a:rect l="l" t="t" r="r" b="b"/>
              <a:pathLst>
                <a:path w="15875" h="3810">
                  <a:moveTo>
                    <a:pt x="15659" y="0"/>
                  </a:moveTo>
                  <a:lnTo>
                    <a:pt x="13754" y="393"/>
                  </a:lnTo>
                  <a:lnTo>
                    <a:pt x="11798" y="698"/>
                  </a:lnTo>
                  <a:lnTo>
                    <a:pt x="7861" y="1473"/>
                  </a:lnTo>
                  <a:lnTo>
                    <a:pt x="5918" y="1701"/>
                  </a:lnTo>
                  <a:lnTo>
                    <a:pt x="3937" y="2159"/>
                  </a:lnTo>
                  <a:lnTo>
                    <a:pt x="1943" y="2476"/>
                  </a:lnTo>
                  <a:lnTo>
                    <a:pt x="0" y="2933"/>
                  </a:lnTo>
                  <a:lnTo>
                    <a:pt x="0" y="3695"/>
                  </a:lnTo>
                  <a:lnTo>
                    <a:pt x="1943" y="3238"/>
                  </a:lnTo>
                  <a:lnTo>
                    <a:pt x="3937" y="2933"/>
                  </a:lnTo>
                  <a:lnTo>
                    <a:pt x="5918" y="2476"/>
                  </a:lnTo>
                  <a:lnTo>
                    <a:pt x="7861" y="2159"/>
                  </a:lnTo>
                  <a:lnTo>
                    <a:pt x="9804" y="1701"/>
                  </a:lnTo>
                  <a:lnTo>
                    <a:pt x="15659" y="774"/>
                  </a:lnTo>
                  <a:lnTo>
                    <a:pt x="15659" y="0"/>
                  </a:lnTo>
                  <a:close/>
                </a:path>
              </a:pathLst>
            </a:custGeom>
            <a:solidFill>
              <a:srgbClr val="484948"/>
            </a:solidFill>
          </p:spPr>
          <p:txBody>
            <a:bodyPr wrap="square" lIns="0" tIns="0" rIns="0" bIns="0" rtlCol="0"/>
            <a:lstStyle/>
            <a:p/>
          </p:txBody>
        </p:sp>
        <p:sp>
          <p:nvSpPr>
            <p:cNvPr id="329" name="object 329" descr=""/>
            <p:cNvSpPr/>
            <p:nvPr/>
          </p:nvSpPr>
          <p:spPr>
            <a:xfrm>
              <a:off x="4112361" y="3141563"/>
              <a:ext cx="15875" cy="10795"/>
            </a:xfrm>
            <a:custGeom>
              <a:avLst/>
              <a:gdLst/>
              <a:ahLst/>
              <a:cxnLst/>
              <a:rect l="l" t="t" r="r" b="b"/>
              <a:pathLst>
                <a:path w="15875" h="10794">
                  <a:moveTo>
                    <a:pt x="15659" y="0"/>
                  </a:moveTo>
                  <a:lnTo>
                    <a:pt x="13754" y="406"/>
                  </a:lnTo>
                  <a:lnTo>
                    <a:pt x="9842" y="1193"/>
                  </a:lnTo>
                  <a:lnTo>
                    <a:pt x="5956" y="2159"/>
                  </a:lnTo>
                  <a:lnTo>
                    <a:pt x="3975" y="2540"/>
                  </a:lnTo>
                  <a:lnTo>
                    <a:pt x="1968" y="3022"/>
                  </a:lnTo>
                  <a:lnTo>
                    <a:pt x="0" y="3581"/>
                  </a:lnTo>
                  <a:lnTo>
                    <a:pt x="0" y="10490"/>
                  </a:lnTo>
                  <a:lnTo>
                    <a:pt x="1968" y="10007"/>
                  </a:lnTo>
                  <a:lnTo>
                    <a:pt x="3949" y="9613"/>
                  </a:lnTo>
                  <a:lnTo>
                    <a:pt x="5918" y="9144"/>
                  </a:lnTo>
                  <a:lnTo>
                    <a:pt x="7861" y="8813"/>
                  </a:lnTo>
                  <a:lnTo>
                    <a:pt x="9804" y="8255"/>
                  </a:lnTo>
                  <a:lnTo>
                    <a:pt x="11747" y="7937"/>
                  </a:lnTo>
                  <a:lnTo>
                    <a:pt x="13665" y="7391"/>
                  </a:lnTo>
                  <a:lnTo>
                    <a:pt x="15633" y="7073"/>
                  </a:lnTo>
                  <a:lnTo>
                    <a:pt x="15633" y="876"/>
                  </a:lnTo>
                  <a:lnTo>
                    <a:pt x="15659" y="0"/>
                  </a:lnTo>
                  <a:close/>
                </a:path>
              </a:pathLst>
            </a:custGeom>
            <a:solidFill>
              <a:srgbClr val="7A614F"/>
            </a:solidFill>
          </p:spPr>
          <p:txBody>
            <a:bodyPr wrap="square" lIns="0" tIns="0" rIns="0" bIns="0" rtlCol="0"/>
            <a:lstStyle/>
            <a:p/>
          </p:txBody>
        </p:sp>
        <p:sp>
          <p:nvSpPr>
            <p:cNvPr id="330" name="object 330" descr=""/>
            <p:cNvSpPr/>
            <p:nvPr/>
          </p:nvSpPr>
          <p:spPr>
            <a:xfrm>
              <a:off x="4112369" y="3145278"/>
              <a:ext cx="15875" cy="5080"/>
            </a:xfrm>
            <a:custGeom>
              <a:avLst/>
              <a:gdLst/>
              <a:ahLst/>
              <a:cxnLst/>
              <a:rect l="l" t="t" r="r" b="b"/>
              <a:pathLst>
                <a:path w="15875" h="5080">
                  <a:moveTo>
                    <a:pt x="15659" y="0"/>
                  </a:moveTo>
                  <a:lnTo>
                    <a:pt x="13677" y="292"/>
                  </a:lnTo>
                  <a:lnTo>
                    <a:pt x="11772" y="825"/>
                  </a:lnTo>
                  <a:lnTo>
                    <a:pt x="9804" y="1130"/>
                  </a:lnTo>
                  <a:lnTo>
                    <a:pt x="7861" y="1663"/>
                  </a:lnTo>
                  <a:lnTo>
                    <a:pt x="5918" y="2108"/>
                  </a:lnTo>
                  <a:lnTo>
                    <a:pt x="3936" y="2501"/>
                  </a:lnTo>
                  <a:lnTo>
                    <a:pt x="0" y="3403"/>
                  </a:lnTo>
                  <a:lnTo>
                    <a:pt x="0" y="4927"/>
                  </a:lnTo>
                  <a:lnTo>
                    <a:pt x="1955" y="4470"/>
                  </a:lnTo>
                  <a:lnTo>
                    <a:pt x="3936" y="3936"/>
                  </a:lnTo>
                  <a:lnTo>
                    <a:pt x="5918" y="3479"/>
                  </a:lnTo>
                  <a:lnTo>
                    <a:pt x="7861" y="3174"/>
                  </a:lnTo>
                  <a:lnTo>
                    <a:pt x="9804" y="2641"/>
                  </a:lnTo>
                  <a:lnTo>
                    <a:pt x="11772" y="2336"/>
                  </a:lnTo>
                  <a:lnTo>
                    <a:pt x="13677" y="1816"/>
                  </a:lnTo>
                  <a:lnTo>
                    <a:pt x="15659" y="1498"/>
                  </a:lnTo>
                  <a:lnTo>
                    <a:pt x="15659" y="0"/>
                  </a:lnTo>
                  <a:close/>
                </a:path>
              </a:pathLst>
            </a:custGeom>
            <a:solidFill>
              <a:srgbClr val="C0C0C0"/>
            </a:solidFill>
          </p:spPr>
          <p:txBody>
            <a:bodyPr wrap="square" lIns="0" tIns="0" rIns="0" bIns="0" rtlCol="0"/>
            <a:lstStyle/>
            <a:p/>
          </p:txBody>
        </p:sp>
        <p:sp>
          <p:nvSpPr>
            <p:cNvPr id="331" name="object 331" descr=""/>
            <p:cNvSpPr/>
            <p:nvPr/>
          </p:nvSpPr>
          <p:spPr>
            <a:xfrm>
              <a:off x="4112369" y="3147119"/>
              <a:ext cx="15875" cy="3810"/>
            </a:xfrm>
            <a:custGeom>
              <a:avLst/>
              <a:gdLst/>
              <a:ahLst/>
              <a:cxnLst/>
              <a:rect l="l" t="t" r="r" b="b"/>
              <a:pathLst>
                <a:path w="15875" h="3810">
                  <a:moveTo>
                    <a:pt x="15659" y="0"/>
                  </a:moveTo>
                  <a:lnTo>
                    <a:pt x="13677" y="279"/>
                  </a:lnTo>
                  <a:lnTo>
                    <a:pt x="11772" y="761"/>
                  </a:lnTo>
                  <a:lnTo>
                    <a:pt x="9804" y="1041"/>
                  </a:lnTo>
                  <a:lnTo>
                    <a:pt x="7861" y="1536"/>
                  </a:lnTo>
                  <a:lnTo>
                    <a:pt x="5918" y="1816"/>
                  </a:lnTo>
                  <a:lnTo>
                    <a:pt x="3936" y="2235"/>
                  </a:lnTo>
                  <a:lnTo>
                    <a:pt x="1955" y="2717"/>
                  </a:lnTo>
                  <a:lnTo>
                    <a:pt x="0" y="3136"/>
                  </a:lnTo>
                  <a:lnTo>
                    <a:pt x="0" y="3695"/>
                  </a:lnTo>
                  <a:lnTo>
                    <a:pt x="1955" y="3200"/>
                  </a:lnTo>
                  <a:lnTo>
                    <a:pt x="3936" y="2933"/>
                  </a:lnTo>
                  <a:lnTo>
                    <a:pt x="5918" y="2438"/>
                  </a:lnTo>
                  <a:lnTo>
                    <a:pt x="7861" y="2158"/>
                  </a:lnTo>
                  <a:lnTo>
                    <a:pt x="9804" y="1739"/>
                  </a:lnTo>
                  <a:lnTo>
                    <a:pt x="11747" y="1384"/>
                  </a:lnTo>
                  <a:lnTo>
                    <a:pt x="13652" y="977"/>
                  </a:lnTo>
                  <a:lnTo>
                    <a:pt x="15620" y="685"/>
                  </a:lnTo>
                  <a:lnTo>
                    <a:pt x="15620" y="279"/>
                  </a:lnTo>
                  <a:lnTo>
                    <a:pt x="15659" y="0"/>
                  </a:lnTo>
                  <a:close/>
                </a:path>
              </a:pathLst>
            </a:custGeom>
            <a:solidFill>
              <a:srgbClr val="484948"/>
            </a:solidFill>
          </p:spPr>
          <p:txBody>
            <a:bodyPr wrap="square" lIns="0" tIns="0" rIns="0" bIns="0" rtlCol="0"/>
            <a:lstStyle/>
            <a:p/>
          </p:txBody>
        </p:sp>
        <p:sp>
          <p:nvSpPr>
            <p:cNvPr id="332" name="object 332" descr=""/>
            <p:cNvSpPr/>
            <p:nvPr/>
          </p:nvSpPr>
          <p:spPr>
            <a:xfrm>
              <a:off x="4112369" y="3161286"/>
              <a:ext cx="15875" cy="10795"/>
            </a:xfrm>
            <a:custGeom>
              <a:avLst/>
              <a:gdLst/>
              <a:ahLst/>
              <a:cxnLst/>
              <a:rect l="l" t="t" r="r" b="b"/>
              <a:pathLst>
                <a:path w="15875" h="10794">
                  <a:moveTo>
                    <a:pt x="15659" y="0"/>
                  </a:moveTo>
                  <a:lnTo>
                    <a:pt x="13677" y="457"/>
                  </a:lnTo>
                  <a:lnTo>
                    <a:pt x="11772" y="838"/>
                  </a:lnTo>
                  <a:lnTo>
                    <a:pt x="3949" y="2667"/>
                  </a:lnTo>
                  <a:lnTo>
                    <a:pt x="0" y="3721"/>
                  </a:lnTo>
                  <a:lnTo>
                    <a:pt x="0" y="10477"/>
                  </a:lnTo>
                  <a:lnTo>
                    <a:pt x="1968" y="10020"/>
                  </a:lnTo>
                  <a:lnTo>
                    <a:pt x="5930" y="8966"/>
                  </a:lnTo>
                  <a:lnTo>
                    <a:pt x="7873" y="8509"/>
                  </a:lnTo>
                  <a:lnTo>
                    <a:pt x="9817" y="7975"/>
                  </a:lnTo>
                  <a:lnTo>
                    <a:pt x="11772" y="7594"/>
                  </a:lnTo>
                  <a:lnTo>
                    <a:pt x="13677" y="7150"/>
                  </a:lnTo>
                  <a:lnTo>
                    <a:pt x="15659" y="6769"/>
                  </a:lnTo>
                  <a:lnTo>
                    <a:pt x="15659" y="0"/>
                  </a:lnTo>
                  <a:close/>
                </a:path>
              </a:pathLst>
            </a:custGeom>
            <a:solidFill>
              <a:srgbClr val="7A614F"/>
            </a:solidFill>
          </p:spPr>
          <p:txBody>
            <a:bodyPr wrap="square" lIns="0" tIns="0" rIns="0" bIns="0" rtlCol="0"/>
            <a:lstStyle/>
            <a:p/>
          </p:txBody>
        </p:sp>
        <p:sp>
          <p:nvSpPr>
            <p:cNvPr id="333" name="object 333" descr=""/>
            <p:cNvSpPr/>
            <p:nvPr/>
          </p:nvSpPr>
          <p:spPr>
            <a:xfrm>
              <a:off x="4112369" y="3164983"/>
              <a:ext cx="15875" cy="5715"/>
            </a:xfrm>
            <a:custGeom>
              <a:avLst/>
              <a:gdLst/>
              <a:ahLst/>
              <a:cxnLst/>
              <a:rect l="l" t="t" r="r" b="b"/>
              <a:pathLst>
                <a:path w="15875" h="5714">
                  <a:moveTo>
                    <a:pt x="15659" y="0"/>
                  </a:moveTo>
                  <a:lnTo>
                    <a:pt x="13677" y="406"/>
                  </a:lnTo>
                  <a:lnTo>
                    <a:pt x="11772" y="965"/>
                  </a:lnTo>
                  <a:lnTo>
                    <a:pt x="9817" y="1371"/>
                  </a:lnTo>
                  <a:lnTo>
                    <a:pt x="7873" y="1943"/>
                  </a:lnTo>
                  <a:lnTo>
                    <a:pt x="0" y="3873"/>
                  </a:lnTo>
                  <a:lnTo>
                    <a:pt x="0" y="5549"/>
                  </a:lnTo>
                  <a:lnTo>
                    <a:pt x="1968" y="5067"/>
                  </a:lnTo>
                  <a:lnTo>
                    <a:pt x="3949" y="4508"/>
                  </a:lnTo>
                  <a:lnTo>
                    <a:pt x="7873" y="3543"/>
                  </a:lnTo>
                  <a:lnTo>
                    <a:pt x="9817" y="2971"/>
                  </a:lnTo>
                  <a:lnTo>
                    <a:pt x="11772" y="2578"/>
                  </a:lnTo>
                  <a:lnTo>
                    <a:pt x="13677" y="2019"/>
                  </a:lnTo>
                  <a:lnTo>
                    <a:pt x="15659" y="1612"/>
                  </a:lnTo>
                  <a:lnTo>
                    <a:pt x="15659" y="0"/>
                  </a:lnTo>
                  <a:close/>
                </a:path>
              </a:pathLst>
            </a:custGeom>
            <a:solidFill>
              <a:srgbClr val="C0C0C0"/>
            </a:solidFill>
          </p:spPr>
          <p:txBody>
            <a:bodyPr wrap="square" lIns="0" tIns="0" rIns="0" bIns="0" rtlCol="0"/>
            <a:lstStyle/>
            <a:p/>
          </p:txBody>
        </p:sp>
        <p:sp>
          <p:nvSpPr>
            <p:cNvPr id="334" name="object 334" descr=""/>
            <p:cNvSpPr/>
            <p:nvPr/>
          </p:nvSpPr>
          <p:spPr>
            <a:xfrm>
              <a:off x="4112369" y="3166839"/>
              <a:ext cx="15875" cy="4445"/>
            </a:xfrm>
            <a:custGeom>
              <a:avLst/>
              <a:gdLst/>
              <a:ahLst/>
              <a:cxnLst/>
              <a:rect l="l" t="t" r="r" b="b"/>
              <a:pathLst>
                <a:path w="15875" h="4444">
                  <a:moveTo>
                    <a:pt x="15659" y="0"/>
                  </a:moveTo>
                  <a:lnTo>
                    <a:pt x="13677" y="368"/>
                  </a:lnTo>
                  <a:lnTo>
                    <a:pt x="11772" y="876"/>
                  </a:lnTo>
                  <a:lnTo>
                    <a:pt x="9817" y="1231"/>
                  </a:lnTo>
                  <a:lnTo>
                    <a:pt x="7873" y="1752"/>
                  </a:lnTo>
                  <a:lnTo>
                    <a:pt x="3949" y="2628"/>
                  </a:lnTo>
                  <a:lnTo>
                    <a:pt x="1968" y="3149"/>
                  </a:lnTo>
                  <a:lnTo>
                    <a:pt x="0" y="3581"/>
                  </a:lnTo>
                  <a:lnTo>
                    <a:pt x="0" y="4317"/>
                  </a:lnTo>
                  <a:lnTo>
                    <a:pt x="1968" y="3873"/>
                  </a:lnTo>
                  <a:lnTo>
                    <a:pt x="5930" y="2844"/>
                  </a:lnTo>
                  <a:lnTo>
                    <a:pt x="7873" y="2412"/>
                  </a:lnTo>
                  <a:lnTo>
                    <a:pt x="9817" y="1904"/>
                  </a:lnTo>
                  <a:lnTo>
                    <a:pt x="11772" y="1536"/>
                  </a:lnTo>
                  <a:lnTo>
                    <a:pt x="13677" y="1104"/>
                  </a:lnTo>
                  <a:lnTo>
                    <a:pt x="15659" y="736"/>
                  </a:lnTo>
                  <a:lnTo>
                    <a:pt x="15659" y="0"/>
                  </a:lnTo>
                  <a:close/>
                </a:path>
              </a:pathLst>
            </a:custGeom>
            <a:solidFill>
              <a:srgbClr val="484948"/>
            </a:solidFill>
          </p:spPr>
          <p:txBody>
            <a:bodyPr wrap="square" lIns="0" tIns="0" rIns="0" bIns="0" rtlCol="0"/>
            <a:lstStyle/>
            <a:p/>
          </p:txBody>
        </p:sp>
        <p:sp>
          <p:nvSpPr>
            <p:cNvPr id="335" name="object 335" descr=""/>
            <p:cNvSpPr/>
            <p:nvPr/>
          </p:nvSpPr>
          <p:spPr>
            <a:xfrm>
              <a:off x="4112366" y="3181018"/>
              <a:ext cx="15875" cy="11430"/>
            </a:xfrm>
            <a:custGeom>
              <a:avLst/>
              <a:gdLst/>
              <a:ahLst/>
              <a:cxnLst/>
              <a:rect l="l" t="t" r="r" b="b"/>
              <a:pathLst>
                <a:path w="15875" h="11430">
                  <a:moveTo>
                    <a:pt x="15659" y="0"/>
                  </a:moveTo>
                  <a:lnTo>
                    <a:pt x="13703" y="533"/>
                  </a:lnTo>
                  <a:lnTo>
                    <a:pt x="11785" y="1066"/>
                  </a:lnTo>
                  <a:lnTo>
                    <a:pt x="9829" y="1536"/>
                  </a:lnTo>
                  <a:lnTo>
                    <a:pt x="5880" y="2616"/>
                  </a:lnTo>
                  <a:lnTo>
                    <a:pt x="3924" y="3073"/>
                  </a:lnTo>
                  <a:lnTo>
                    <a:pt x="1955" y="3619"/>
                  </a:lnTo>
                  <a:lnTo>
                    <a:pt x="0" y="4241"/>
                  </a:lnTo>
                  <a:lnTo>
                    <a:pt x="0" y="11087"/>
                  </a:lnTo>
                  <a:lnTo>
                    <a:pt x="5880" y="9474"/>
                  </a:lnTo>
                  <a:lnTo>
                    <a:pt x="7874" y="9004"/>
                  </a:lnTo>
                  <a:lnTo>
                    <a:pt x="9829" y="8382"/>
                  </a:lnTo>
                  <a:lnTo>
                    <a:pt x="11785" y="7848"/>
                  </a:lnTo>
                  <a:lnTo>
                    <a:pt x="13703" y="7391"/>
                  </a:lnTo>
                  <a:lnTo>
                    <a:pt x="15659" y="6858"/>
                  </a:lnTo>
                  <a:lnTo>
                    <a:pt x="15659" y="0"/>
                  </a:lnTo>
                  <a:close/>
                </a:path>
              </a:pathLst>
            </a:custGeom>
            <a:solidFill>
              <a:srgbClr val="7A614F"/>
            </a:solidFill>
          </p:spPr>
          <p:txBody>
            <a:bodyPr wrap="square" lIns="0" tIns="0" rIns="0" bIns="0" rtlCol="0"/>
            <a:lstStyle/>
            <a:p/>
          </p:txBody>
        </p:sp>
        <p:sp>
          <p:nvSpPr>
            <p:cNvPr id="336" name="object 336" descr=""/>
            <p:cNvSpPr/>
            <p:nvPr/>
          </p:nvSpPr>
          <p:spPr>
            <a:xfrm>
              <a:off x="4112366" y="3184711"/>
              <a:ext cx="15875" cy="5715"/>
            </a:xfrm>
            <a:custGeom>
              <a:avLst/>
              <a:gdLst/>
              <a:ahLst/>
              <a:cxnLst/>
              <a:rect l="l" t="t" r="r" b="b"/>
              <a:pathLst>
                <a:path w="15875" h="5714">
                  <a:moveTo>
                    <a:pt x="15659" y="0"/>
                  </a:moveTo>
                  <a:lnTo>
                    <a:pt x="13703" y="520"/>
                  </a:lnTo>
                  <a:lnTo>
                    <a:pt x="11785" y="1041"/>
                  </a:lnTo>
                  <a:lnTo>
                    <a:pt x="9829" y="1498"/>
                  </a:lnTo>
                  <a:lnTo>
                    <a:pt x="5880" y="2539"/>
                  </a:lnTo>
                  <a:lnTo>
                    <a:pt x="3924" y="2997"/>
                  </a:lnTo>
                  <a:lnTo>
                    <a:pt x="1955" y="3530"/>
                  </a:lnTo>
                  <a:lnTo>
                    <a:pt x="0" y="4127"/>
                  </a:lnTo>
                  <a:lnTo>
                    <a:pt x="0" y="5549"/>
                  </a:lnTo>
                  <a:lnTo>
                    <a:pt x="5880" y="3975"/>
                  </a:lnTo>
                  <a:lnTo>
                    <a:pt x="7874" y="3530"/>
                  </a:lnTo>
                  <a:lnTo>
                    <a:pt x="9829" y="2920"/>
                  </a:lnTo>
                  <a:lnTo>
                    <a:pt x="11785" y="2400"/>
                  </a:lnTo>
                  <a:lnTo>
                    <a:pt x="13703" y="1955"/>
                  </a:lnTo>
                  <a:lnTo>
                    <a:pt x="15659" y="1422"/>
                  </a:lnTo>
                  <a:lnTo>
                    <a:pt x="15659" y="0"/>
                  </a:lnTo>
                  <a:close/>
                </a:path>
              </a:pathLst>
            </a:custGeom>
            <a:solidFill>
              <a:srgbClr val="C0C0C0"/>
            </a:solidFill>
          </p:spPr>
          <p:txBody>
            <a:bodyPr wrap="square" lIns="0" tIns="0" rIns="0" bIns="0" rtlCol="0"/>
            <a:lstStyle/>
            <a:p/>
          </p:txBody>
        </p:sp>
        <p:sp>
          <p:nvSpPr>
            <p:cNvPr id="337" name="object 337" descr=""/>
            <p:cNvSpPr/>
            <p:nvPr/>
          </p:nvSpPr>
          <p:spPr>
            <a:xfrm>
              <a:off x="4112366" y="3185944"/>
              <a:ext cx="15875" cy="5080"/>
            </a:xfrm>
            <a:custGeom>
              <a:avLst/>
              <a:gdLst/>
              <a:ahLst/>
              <a:cxnLst/>
              <a:rect l="l" t="t" r="r" b="b"/>
              <a:pathLst>
                <a:path w="15875" h="5080">
                  <a:moveTo>
                    <a:pt x="15659" y="0"/>
                  </a:moveTo>
                  <a:lnTo>
                    <a:pt x="13703" y="533"/>
                  </a:lnTo>
                  <a:lnTo>
                    <a:pt x="11785" y="977"/>
                  </a:lnTo>
                  <a:lnTo>
                    <a:pt x="9829" y="1511"/>
                  </a:lnTo>
                  <a:lnTo>
                    <a:pt x="7874" y="2120"/>
                  </a:lnTo>
                  <a:lnTo>
                    <a:pt x="5880" y="2578"/>
                  </a:lnTo>
                  <a:lnTo>
                    <a:pt x="0" y="4165"/>
                  </a:lnTo>
                  <a:lnTo>
                    <a:pt x="0" y="4927"/>
                  </a:lnTo>
                  <a:lnTo>
                    <a:pt x="5880" y="3340"/>
                  </a:lnTo>
                  <a:lnTo>
                    <a:pt x="7874" y="2882"/>
                  </a:lnTo>
                  <a:lnTo>
                    <a:pt x="9829" y="2273"/>
                  </a:lnTo>
                  <a:lnTo>
                    <a:pt x="11785" y="1739"/>
                  </a:lnTo>
                  <a:lnTo>
                    <a:pt x="13703" y="1282"/>
                  </a:lnTo>
                  <a:lnTo>
                    <a:pt x="15659" y="762"/>
                  </a:lnTo>
                  <a:lnTo>
                    <a:pt x="15659" y="0"/>
                  </a:lnTo>
                  <a:close/>
                </a:path>
              </a:pathLst>
            </a:custGeom>
            <a:solidFill>
              <a:srgbClr val="484948"/>
            </a:solidFill>
          </p:spPr>
          <p:txBody>
            <a:bodyPr wrap="square" lIns="0" tIns="0" rIns="0" bIns="0" rtlCol="0"/>
            <a:lstStyle/>
            <a:p/>
          </p:txBody>
        </p:sp>
        <p:sp>
          <p:nvSpPr>
            <p:cNvPr id="338" name="object 338" descr=""/>
            <p:cNvSpPr/>
            <p:nvPr/>
          </p:nvSpPr>
          <p:spPr>
            <a:xfrm>
              <a:off x="4112365" y="3200736"/>
              <a:ext cx="15875" cy="11430"/>
            </a:xfrm>
            <a:custGeom>
              <a:avLst/>
              <a:gdLst/>
              <a:ahLst/>
              <a:cxnLst/>
              <a:rect l="l" t="t" r="r" b="b"/>
              <a:pathLst>
                <a:path w="15875" h="11430">
                  <a:moveTo>
                    <a:pt x="15659" y="0"/>
                  </a:moveTo>
                  <a:lnTo>
                    <a:pt x="13715" y="520"/>
                  </a:lnTo>
                  <a:lnTo>
                    <a:pt x="9804" y="1562"/>
                  </a:lnTo>
                  <a:lnTo>
                    <a:pt x="7861" y="2158"/>
                  </a:lnTo>
                  <a:lnTo>
                    <a:pt x="3936" y="3200"/>
                  </a:lnTo>
                  <a:lnTo>
                    <a:pt x="1943" y="3784"/>
                  </a:lnTo>
                  <a:lnTo>
                    <a:pt x="0" y="4394"/>
                  </a:lnTo>
                  <a:lnTo>
                    <a:pt x="0" y="11099"/>
                  </a:lnTo>
                  <a:lnTo>
                    <a:pt x="1943" y="10413"/>
                  </a:lnTo>
                  <a:lnTo>
                    <a:pt x="7861" y="8635"/>
                  </a:lnTo>
                  <a:lnTo>
                    <a:pt x="9778" y="8115"/>
                  </a:lnTo>
                  <a:lnTo>
                    <a:pt x="13652" y="6921"/>
                  </a:lnTo>
                  <a:lnTo>
                    <a:pt x="15620" y="6476"/>
                  </a:lnTo>
                  <a:lnTo>
                    <a:pt x="15620" y="736"/>
                  </a:lnTo>
                  <a:lnTo>
                    <a:pt x="15659" y="0"/>
                  </a:lnTo>
                  <a:close/>
                </a:path>
              </a:pathLst>
            </a:custGeom>
            <a:solidFill>
              <a:srgbClr val="7A614F"/>
            </a:solidFill>
          </p:spPr>
          <p:txBody>
            <a:bodyPr wrap="square" lIns="0" tIns="0" rIns="0" bIns="0" rtlCol="0"/>
            <a:lstStyle/>
            <a:p/>
          </p:txBody>
        </p:sp>
        <p:sp>
          <p:nvSpPr>
            <p:cNvPr id="339" name="object 339" descr=""/>
            <p:cNvSpPr/>
            <p:nvPr/>
          </p:nvSpPr>
          <p:spPr>
            <a:xfrm>
              <a:off x="4112370" y="3204438"/>
              <a:ext cx="15875" cy="6350"/>
            </a:xfrm>
            <a:custGeom>
              <a:avLst/>
              <a:gdLst/>
              <a:ahLst/>
              <a:cxnLst/>
              <a:rect l="l" t="t" r="r" b="b"/>
              <a:pathLst>
                <a:path w="15875" h="6350">
                  <a:moveTo>
                    <a:pt x="15659" y="0"/>
                  </a:moveTo>
                  <a:lnTo>
                    <a:pt x="13665" y="533"/>
                  </a:lnTo>
                  <a:lnTo>
                    <a:pt x="11747" y="990"/>
                  </a:lnTo>
                  <a:lnTo>
                    <a:pt x="7874" y="2222"/>
                  </a:lnTo>
                  <a:lnTo>
                    <a:pt x="5880" y="2692"/>
                  </a:lnTo>
                  <a:lnTo>
                    <a:pt x="3924" y="3378"/>
                  </a:lnTo>
                  <a:lnTo>
                    <a:pt x="1955" y="3924"/>
                  </a:lnTo>
                  <a:lnTo>
                    <a:pt x="0" y="4610"/>
                  </a:lnTo>
                  <a:lnTo>
                    <a:pt x="0" y="6159"/>
                  </a:lnTo>
                  <a:lnTo>
                    <a:pt x="1955" y="5461"/>
                  </a:lnTo>
                  <a:lnTo>
                    <a:pt x="3924" y="4838"/>
                  </a:lnTo>
                  <a:lnTo>
                    <a:pt x="5880" y="4152"/>
                  </a:lnTo>
                  <a:lnTo>
                    <a:pt x="7874" y="3683"/>
                  </a:lnTo>
                  <a:lnTo>
                    <a:pt x="13665" y="1854"/>
                  </a:lnTo>
                  <a:lnTo>
                    <a:pt x="15659" y="1384"/>
                  </a:lnTo>
                  <a:lnTo>
                    <a:pt x="15659" y="0"/>
                  </a:lnTo>
                  <a:close/>
                </a:path>
              </a:pathLst>
            </a:custGeom>
            <a:solidFill>
              <a:srgbClr val="C0C0C0"/>
            </a:solidFill>
          </p:spPr>
          <p:txBody>
            <a:bodyPr wrap="square" lIns="0" tIns="0" rIns="0" bIns="0" rtlCol="0"/>
            <a:lstStyle/>
            <a:p/>
          </p:txBody>
        </p:sp>
        <p:sp>
          <p:nvSpPr>
            <p:cNvPr id="340" name="object 340" descr=""/>
            <p:cNvSpPr/>
            <p:nvPr/>
          </p:nvSpPr>
          <p:spPr>
            <a:xfrm>
              <a:off x="4112370" y="3205669"/>
              <a:ext cx="15875" cy="5715"/>
            </a:xfrm>
            <a:custGeom>
              <a:avLst/>
              <a:gdLst/>
              <a:ahLst/>
              <a:cxnLst/>
              <a:rect l="l" t="t" r="r" b="b"/>
              <a:pathLst>
                <a:path w="15875" h="5714">
                  <a:moveTo>
                    <a:pt x="15659" y="0"/>
                  </a:moveTo>
                  <a:lnTo>
                    <a:pt x="13665" y="457"/>
                  </a:lnTo>
                  <a:lnTo>
                    <a:pt x="7874" y="2311"/>
                  </a:lnTo>
                  <a:lnTo>
                    <a:pt x="5880" y="2768"/>
                  </a:lnTo>
                  <a:lnTo>
                    <a:pt x="3924" y="3467"/>
                  </a:lnTo>
                  <a:lnTo>
                    <a:pt x="1955" y="4076"/>
                  </a:lnTo>
                  <a:lnTo>
                    <a:pt x="0" y="4762"/>
                  </a:lnTo>
                  <a:lnTo>
                    <a:pt x="0" y="5537"/>
                  </a:lnTo>
                  <a:lnTo>
                    <a:pt x="1955" y="4851"/>
                  </a:lnTo>
                  <a:lnTo>
                    <a:pt x="7874" y="2997"/>
                  </a:lnTo>
                  <a:lnTo>
                    <a:pt x="9791" y="2463"/>
                  </a:lnTo>
                  <a:lnTo>
                    <a:pt x="13665" y="1219"/>
                  </a:lnTo>
                  <a:lnTo>
                    <a:pt x="15659" y="762"/>
                  </a:lnTo>
                  <a:lnTo>
                    <a:pt x="15659" y="0"/>
                  </a:lnTo>
                  <a:close/>
                </a:path>
              </a:pathLst>
            </a:custGeom>
            <a:solidFill>
              <a:srgbClr val="484948"/>
            </a:solidFill>
          </p:spPr>
          <p:txBody>
            <a:bodyPr wrap="square" lIns="0" tIns="0" rIns="0" bIns="0" rtlCol="0"/>
            <a:lstStyle/>
            <a:p/>
          </p:txBody>
        </p:sp>
        <p:sp>
          <p:nvSpPr>
            <p:cNvPr id="341" name="object 341" descr=""/>
            <p:cNvSpPr/>
            <p:nvPr/>
          </p:nvSpPr>
          <p:spPr>
            <a:xfrm>
              <a:off x="4145027" y="3048514"/>
              <a:ext cx="16510" cy="157480"/>
            </a:xfrm>
            <a:custGeom>
              <a:avLst/>
              <a:gdLst/>
              <a:ahLst/>
              <a:cxnLst/>
              <a:rect l="l" t="t" r="r" b="b"/>
              <a:pathLst>
                <a:path w="16510" h="157480">
                  <a:moveTo>
                    <a:pt x="16001" y="0"/>
                  </a:moveTo>
                  <a:lnTo>
                    <a:pt x="431" y="1308"/>
                  </a:lnTo>
                  <a:lnTo>
                    <a:pt x="0" y="157149"/>
                  </a:lnTo>
                  <a:lnTo>
                    <a:pt x="15366" y="152450"/>
                  </a:lnTo>
                  <a:lnTo>
                    <a:pt x="16001" y="0"/>
                  </a:lnTo>
                  <a:close/>
                </a:path>
              </a:pathLst>
            </a:custGeom>
            <a:solidFill>
              <a:srgbClr val="A7A8A7"/>
            </a:solidFill>
          </p:spPr>
          <p:txBody>
            <a:bodyPr wrap="square" lIns="0" tIns="0" rIns="0" bIns="0" rtlCol="0"/>
            <a:lstStyle/>
            <a:p/>
          </p:txBody>
        </p:sp>
        <p:sp>
          <p:nvSpPr>
            <p:cNvPr id="342" name="object 342" descr=""/>
            <p:cNvSpPr/>
            <p:nvPr/>
          </p:nvSpPr>
          <p:spPr>
            <a:xfrm>
              <a:off x="4146021" y="3048513"/>
              <a:ext cx="15240" cy="147955"/>
            </a:xfrm>
            <a:custGeom>
              <a:avLst/>
              <a:gdLst/>
              <a:ahLst/>
              <a:cxnLst/>
              <a:rect l="l" t="t" r="r" b="b"/>
              <a:pathLst>
                <a:path w="15239" h="147955">
                  <a:moveTo>
                    <a:pt x="14668" y="0"/>
                  </a:moveTo>
                  <a:lnTo>
                    <a:pt x="469" y="1308"/>
                  </a:lnTo>
                  <a:lnTo>
                    <a:pt x="0" y="147904"/>
                  </a:lnTo>
                  <a:lnTo>
                    <a:pt x="14033" y="143751"/>
                  </a:lnTo>
                  <a:lnTo>
                    <a:pt x="14668" y="0"/>
                  </a:lnTo>
                  <a:close/>
                </a:path>
              </a:pathLst>
            </a:custGeom>
            <a:solidFill>
              <a:srgbClr val="3B3030"/>
            </a:solidFill>
          </p:spPr>
          <p:txBody>
            <a:bodyPr wrap="square" lIns="0" tIns="0" rIns="0" bIns="0" rtlCol="0"/>
            <a:lstStyle/>
            <a:p/>
          </p:txBody>
        </p:sp>
        <p:sp>
          <p:nvSpPr>
            <p:cNvPr id="343" name="object 343" descr=""/>
            <p:cNvSpPr/>
            <p:nvPr/>
          </p:nvSpPr>
          <p:spPr>
            <a:xfrm>
              <a:off x="4146029" y="3049206"/>
              <a:ext cx="12700" cy="144780"/>
            </a:xfrm>
            <a:custGeom>
              <a:avLst/>
              <a:gdLst/>
              <a:ahLst/>
              <a:cxnLst/>
              <a:rect l="l" t="t" r="r" b="b"/>
              <a:pathLst>
                <a:path w="12700" h="144780">
                  <a:moveTo>
                    <a:pt x="12319" y="0"/>
                  </a:moveTo>
                  <a:lnTo>
                    <a:pt x="3708" y="0"/>
                  </a:lnTo>
                  <a:lnTo>
                    <a:pt x="3708" y="1270"/>
                  </a:lnTo>
                  <a:lnTo>
                    <a:pt x="228" y="1270"/>
                  </a:lnTo>
                  <a:lnTo>
                    <a:pt x="228" y="142240"/>
                  </a:lnTo>
                  <a:lnTo>
                    <a:pt x="0" y="142240"/>
                  </a:lnTo>
                  <a:lnTo>
                    <a:pt x="0" y="144780"/>
                  </a:lnTo>
                  <a:lnTo>
                    <a:pt x="6604" y="144780"/>
                  </a:lnTo>
                  <a:lnTo>
                    <a:pt x="6604" y="142240"/>
                  </a:lnTo>
                  <a:lnTo>
                    <a:pt x="12039" y="142240"/>
                  </a:lnTo>
                  <a:lnTo>
                    <a:pt x="12039" y="1270"/>
                  </a:lnTo>
                  <a:lnTo>
                    <a:pt x="12319" y="1270"/>
                  </a:lnTo>
                  <a:lnTo>
                    <a:pt x="12319" y="0"/>
                  </a:lnTo>
                  <a:close/>
                </a:path>
              </a:pathLst>
            </a:custGeom>
            <a:solidFill>
              <a:srgbClr val="241919"/>
            </a:solidFill>
          </p:spPr>
          <p:txBody>
            <a:bodyPr wrap="square" lIns="0" tIns="0" rIns="0" bIns="0" rtlCol="0"/>
            <a:lstStyle/>
            <a:p/>
          </p:txBody>
        </p:sp>
        <p:sp>
          <p:nvSpPr>
            <p:cNvPr id="344" name="object 344" descr=""/>
            <p:cNvSpPr/>
            <p:nvPr/>
          </p:nvSpPr>
          <p:spPr>
            <a:xfrm>
              <a:off x="4146029" y="3049206"/>
              <a:ext cx="10795" cy="144780"/>
            </a:xfrm>
            <a:custGeom>
              <a:avLst/>
              <a:gdLst/>
              <a:ahLst/>
              <a:cxnLst/>
              <a:rect l="l" t="t" r="r" b="b"/>
              <a:pathLst>
                <a:path w="10795" h="144780">
                  <a:moveTo>
                    <a:pt x="10655" y="0"/>
                  </a:moveTo>
                  <a:lnTo>
                    <a:pt x="2705" y="0"/>
                  </a:lnTo>
                  <a:lnTo>
                    <a:pt x="2705" y="1270"/>
                  </a:lnTo>
                  <a:lnTo>
                    <a:pt x="228" y="1270"/>
                  </a:lnTo>
                  <a:lnTo>
                    <a:pt x="228" y="142240"/>
                  </a:lnTo>
                  <a:lnTo>
                    <a:pt x="0" y="142240"/>
                  </a:lnTo>
                  <a:lnTo>
                    <a:pt x="0" y="144780"/>
                  </a:lnTo>
                  <a:lnTo>
                    <a:pt x="6223" y="144780"/>
                  </a:lnTo>
                  <a:lnTo>
                    <a:pt x="6223" y="142240"/>
                  </a:lnTo>
                  <a:lnTo>
                    <a:pt x="10375" y="142240"/>
                  </a:lnTo>
                  <a:lnTo>
                    <a:pt x="10375" y="1270"/>
                  </a:lnTo>
                  <a:lnTo>
                    <a:pt x="10655" y="1270"/>
                  </a:lnTo>
                  <a:lnTo>
                    <a:pt x="10655" y="0"/>
                  </a:lnTo>
                  <a:close/>
                </a:path>
              </a:pathLst>
            </a:custGeom>
            <a:solidFill>
              <a:srgbClr val="0A0000"/>
            </a:solidFill>
          </p:spPr>
          <p:txBody>
            <a:bodyPr wrap="square" lIns="0" tIns="0" rIns="0" bIns="0" rtlCol="0"/>
            <a:lstStyle/>
            <a:p/>
          </p:txBody>
        </p:sp>
        <p:sp>
          <p:nvSpPr>
            <p:cNvPr id="345" name="object 345" descr=""/>
            <p:cNvSpPr/>
            <p:nvPr/>
          </p:nvSpPr>
          <p:spPr>
            <a:xfrm>
              <a:off x="4146028" y="3058983"/>
              <a:ext cx="15240" cy="8890"/>
            </a:xfrm>
            <a:custGeom>
              <a:avLst/>
              <a:gdLst/>
              <a:ahLst/>
              <a:cxnLst/>
              <a:rect l="l" t="t" r="r" b="b"/>
              <a:pathLst>
                <a:path w="15239" h="8889">
                  <a:moveTo>
                    <a:pt x="14668" y="0"/>
                  </a:moveTo>
                  <a:lnTo>
                    <a:pt x="12788" y="165"/>
                  </a:lnTo>
                  <a:lnTo>
                    <a:pt x="9182" y="482"/>
                  </a:lnTo>
                  <a:lnTo>
                    <a:pt x="7378" y="812"/>
                  </a:lnTo>
                  <a:lnTo>
                    <a:pt x="1879" y="1295"/>
                  </a:lnTo>
                  <a:lnTo>
                    <a:pt x="38" y="1612"/>
                  </a:lnTo>
                  <a:lnTo>
                    <a:pt x="0" y="2425"/>
                  </a:lnTo>
                  <a:lnTo>
                    <a:pt x="0" y="8636"/>
                  </a:lnTo>
                  <a:lnTo>
                    <a:pt x="1841" y="8394"/>
                  </a:lnTo>
                  <a:lnTo>
                    <a:pt x="3670" y="8229"/>
                  </a:lnTo>
                  <a:lnTo>
                    <a:pt x="5511" y="7899"/>
                  </a:lnTo>
                  <a:lnTo>
                    <a:pt x="7378" y="7747"/>
                  </a:lnTo>
                  <a:lnTo>
                    <a:pt x="12750" y="7023"/>
                  </a:lnTo>
                  <a:lnTo>
                    <a:pt x="14630" y="6858"/>
                  </a:lnTo>
                  <a:lnTo>
                    <a:pt x="14630" y="812"/>
                  </a:lnTo>
                  <a:lnTo>
                    <a:pt x="14668" y="0"/>
                  </a:lnTo>
                  <a:close/>
                </a:path>
              </a:pathLst>
            </a:custGeom>
            <a:solidFill>
              <a:srgbClr val="7A614F"/>
            </a:solidFill>
          </p:spPr>
          <p:txBody>
            <a:bodyPr wrap="square" lIns="0" tIns="0" rIns="0" bIns="0" rtlCol="0"/>
            <a:lstStyle/>
            <a:p/>
          </p:txBody>
        </p:sp>
        <p:sp>
          <p:nvSpPr>
            <p:cNvPr id="346" name="object 346" descr=""/>
            <p:cNvSpPr/>
            <p:nvPr/>
          </p:nvSpPr>
          <p:spPr>
            <a:xfrm>
              <a:off x="4146028" y="3062678"/>
              <a:ext cx="15240" cy="3175"/>
            </a:xfrm>
            <a:custGeom>
              <a:avLst/>
              <a:gdLst/>
              <a:ahLst/>
              <a:cxnLst/>
              <a:rect l="l" t="t" r="r" b="b"/>
              <a:pathLst>
                <a:path w="15239" h="3175">
                  <a:moveTo>
                    <a:pt x="14668" y="0"/>
                  </a:moveTo>
                  <a:lnTo>
                    <a:pt x="12788" y="241"/>
                  </a:lnTo>
                  <a:lnTo>
                    <a:pt x="9169" y="546"/>
                  </a:lnTo>
                  <a:lnTo>
                    <a:pt x="5499" y="1003"/>
                  </a:lnTo>
                  <a:lnTo>
                    <a:pt x="1841" y="1320"/>
                  </a:lnTo>
                  <a:lnTo>
                    <a:pt x="0" y="1549"/>
                  </a:lnTo>
                  <a:lnTo>
                    <a:pt x="0" y="3086"/>
                  </a:lnTo>
                  <a:lnTo>
                    <a:pt x="5499" y="2387"/>
                  </a:lnTo>
                  <a:lnTo>
                    <a:pt x="7378" y="2247"/>
                  </a:lnTo>
                  <a:lnTo>
                    <a:pt x="9169" y="2019"/>
                  </a:lnTo>
                  <a:lnTo>
                    <a:pt x="11010" y="1854"/>
                  </a:lnTo>
                  <a:lnTo>
                    <a:pt x="12788" y="1625"/>
                  </a:lnTo>
                  <a:lnTo>
                    <a:pt x="14668" y="1460"/>
                  </a:lnTo>
                  <a:lnTo>
                    <a:pt x="14668" y="0"/>
                  </a:lnTo>
                  <a:close/>
                </a:path>
              </a:pathLst>
            </a:custGeom>
            <a:solidFill>
              <a:srgbClr val="C0C0C0"/>
            </a:solidFill>
          </p:spPr>
          <p:txBody>
            <a:bodyPr wrap="square" lIns="0" tIns="0" rIns="0" bIns="0" rtlCol="0"/>
            <a:lstStyle/>
            <a:p/>
          </p:txBody>
        </p:sp>
        <p:sp>
          <p:nvSpPr>
            <p:cNvPr id="347" name="object 347" descr=""/>
            <p:cNvSpPr/>
            <p:nvPr/>
          </p:nvSpPr>
          <p:spPr>
            <a:xfrm>
              <a:off x="4146028" y="3064530"/>
              <a:ext cx="15240" cy="1905"/>
            </a:xfrm>
            <a:custGeom>
              <a:avLst/>
              <a:gdLst/>
              <a:ahLst/>
              <a:cxnLst/>
              <a:rect l="l" t="t" r="r" b="b"/>
              <a:pathLst>
                <a:path w="15239" h="1905">
                  <a:moveTo>
                    <a:pt x="14668" y="0"/>
                  </a:moveTo>
                  <a:lnTo>
                    <a:pt x="12788" y="126"/>
                  </a:lnTo>
                  <a:lnTo>
                    <a:pt x="11023" y="304"/>
                  </a:lnTo>
                  <a:lnTo>
                    <a:pt x="9182" y="431"/>
                  </a:lnTo>
                  <a:lnTo>
                    <a:pt x="7391" y="622"/>
                  </a:lnTo>
                  <a:lnTo>
                    <a:pt x="5524" y="749"/>
                  </a:lnTo>
                  <a:lnTo>
                    <a:pt x="38" y="1295"/>
                  </a:lnTo>
                  <a:lnTo>
                    <a:pt x="0" y="1549"/>
                  </a:lnTo>
                  <a:lnTo>
                    <a:pt x="0" y="1854"/>
                  </a:lnTo>
                  <a:lnTo>
                    <a:pt x="1841" y="1663"/>
                  </a:lnTo>
                  <a:lnTo>
                    <a:pt x="3683" y="1549"/>
                  </a:lnTo>
                  <a:lnTo>
                    <a:pt x="5524" y="1358"/>
                  </a:lnTo>
                  <a:lnTo>
                    <a:pt x="7391" y="1231"/>
                  </a:lnTo>
                  <a:lnTo>
                    <a:pt x="9182" y="1054"/>
                  </a:lnTo>
                  <a:lnTo>
                    <a:pt x="11023" y="927"/>
                  </a:lnTo>
                  <a:lnTo>
                    <a:pt x="12788" y="749"/>
                  </a:lnTo>
                  <a:lnTo>
                    <a:pt x="14668" y="622"/>
                  </a:lnTo>
                  <a:lnTo>
                    <a:pt x="14668" y="0"/>
                  </a:lnTo>
                  <a:close/>
                </a:path>
              </a:pathLst>
            </a:custGeom>
            <a:solidFill>
              <a:srgbClr val="484948"/>
            </a:solidFill>
          </p:spPr>
          <p:txBody>
            <a:bodyPr wrap="square" lIns="0" tIns="0" rIns="0" bIns="0" rtlCol="0"/>
            <a:lstStyle/>
            <a:p/>
          </p:txBody>
        </p:sp>
        <p:sp>
          <p:nvSpPr>
            <p:cNvPr id="348" name="object 348" descr=""/>
            <p:cNvSpPr/>
            <p:nvPr/>
          </p:nvSpPr>
          <p:spPr>
            <a:xfrm>
              <a:off x="4146024" y="3078082"/>
              <a:ext cx="15240" cy="8890"/>
            </a:xfrm>
            <a:custGeom>
              <a:avLst/>
              <a:gdLst/>
              <a:ahLst/>
              <a:cxnLst/>
              <a:rect l="l" t="t" r="r" b="b"/>
              <a:pathLst>
                <a:path w="15239" h="8889">
                  <a:moveTo>
                    <a:pt x="14668" y="0"/>
                  </a:moveTo>
                  <a:lnTo>
                    <a:pt x="12826" y="165"/>
                  </a:lnTo>
                  <a:lnTo>
                    <a:pt x="11048" y="393"/>
                  </a:lnTo>
                  <a:lnTo>
                    <a:pt x="9194" y="711"/>
                  </a:lnTo>
                  <a:lnTo>
                    <a:pt x="7391" y="939"/>
                  </a:lnTo>
                  <a:lnTo>
                    <a:pt x="5537" y="1104"/>
                  </a:lnTo>
                  <a:lnTo>
                    <a:pt x="3733" y="1333"/>
                  </a:lnTo>
                  <a:lnTo>
                    <a:pt x="1917" y="1638"/>
                  </a:lnTo>
                  <a:lnTo>
                    <a:pt x="76" y="1879"/>
                  </a:lnTo>
                  <a:lnTo>
                    <a:pt x="38" y="2654"/>
                  </a:lnTo>
                  <a:lnTo>
                    <a:pt x="38" y="5219"/>
                  </a:lnTo>
                  <a:lnTo>
                    <a:pt x="0" y="5994"/>
                  </a:lnTo>
                  <a:lnTo>
                    <a:pt x="0" y="8636"/>
                  </a:lnTo>
                  <a:lnTo>
                    <a:pt x="1803" y="8331"/>
                  </a:lnTo>
                  <a:lnTo>
                    <a:pt x="3695" y="8102"/>
                  </a:lnTo>
                  <a:lnTo>
                    <a:pt x="5537" y="7772"/>
                  </a:lnTo>
                  <a:lnTo>
                    <a:pt x="9194" y="7315"/>
                  </a:lnTo>
                  <a:lnTo>
                    <a:pt x="11048" y="6997"/>
                  </a:lnTo>
                  <a:lnTo>
                    <a:pt x="14668" y="6540"/>
                  </a:lnTo>
                  <a:lnTo>
                    <a:pt x="14668" y="0"/>
                  </a:lnTo>
                  <a:close/>
                </a:path>
              </a:pathLst>
            </a:custGeom>
            <a:solidFill>
              <a:srgbClr val="7A614F"/>
            </a:solidFill>
          </p:spPr>
          <p:txBody>
            <a:bodyPr wrap="square" lIns="0" tIns="0" rIns="0" bIns="0" rtlCol="0"/>
            <a:lstStyle/>
            <a:p/>
          </p:txBody>
        </p:sp>
        <p:sp>
          <p:nvSpPr>
            <p:cNvPr id="349" name="object 349" descr=""/>
            <p:cNvSpPr/>
            <p:nvPr/>
          </p:nvSpPr>
          <p:spPr>
            <a:xfrm>
              <a:off x="4146024" y="3081788"/>
              <a:ext cx="15240" cy="3175"/>
            </a:xfrm>
            <a:custGeom>
              <a:avLst/>
              <a:gdLst/>
              <a:ahLst/>
              <a:cxnLst/>
              <a:rect l="l" t="t" r="r" b="b"/>
              <a:pathLst>
                <a:path w="15239" h="3175">
                  <a:moveTo>
                    <a:pt x="14668" y="0"/>
                  </a:moveTo>
                  <a:lnTo>
                    <a:pt x="12826" y="139"/>
                  </a:lnTo>
                  <a:lnTo>
                    <a:pt x="7391" y="787"/>
                  </a:lnTo>
                  <a:lnTo>
                    <a:pt x="5537" y="1079"/>
                  </a:lnTo>
                  <a:lnTo>
                    <a:pt x="1803" y="1511"/>
                  </a:lnTo>
                  <a:lnTo>
                    <a:pt x="0" y="1866"/>
                  </a:lnTo>
                  <a:lnTo>
                    <a:pt x="0" y="3073"/>
                  </a:lnTo>
                  <a:lnTo>
                    <a:pt x="3695" y="2654"/>
                  </a:lnTo>
                  <a:lnTo>
                    <a:pt x="5537" y="2374"/>
                  </a:lnTo>
                  <a:lnTo>
                    <a:pt x="7391" y="2222"/>
                  </a:lnTo>
                  <a:lnTo>
                    <a:pt x="11048" y="1803"/>
                  </a:lnTo>
                  <a:lnTo>
                    <a:pt x="12826" y="1511"/>
                  </a:lnTo>
                  <a:lnTo>
                    <a:pt x="14668" y="1358"/>
                  </a:lnTo>
                  <a:lnTo>
                    <a:pt x="14668" y="0"/>
                  </a:lnTo>
                  <a:close/>
                </a:path>
              </a:pathLst>
            </a:custGeom>
            <a:solidFill>
              <a:srgbClr val="C0C0C0"/>
            </a:solidFill>
          </p:spPr>
          <p:txBody>
            <a:bodyPr wrap="square" lIns="0" tIns="0" rIns="0" bIns="0" rtlCol="0"/>
            <a:lstStyle/>
            <a:p/>
          </p:txBody>
        </p:sp>
        <p:sp>
          <p:nvSpPr>
            <p:cNvPr id="350" name="object 350" descr=""/>
            <p:cNvSpPr/>
            <p:nvPr/>
          </p:nvSpPr>
          <p:spPr>
            <a:xfrm>
              <a:off x="4146024" y="3083030"/>
              <a:ext cx="15240" cy="3175"/>
            </a:xfrm>
            <a:custGeom>
              <a:avLst/>
              <a:gdLst/>
              <a:ahLst/>
              <a:cxnLst/>
              <a:rect l="l" t="t" r="r" b="b"/>
              <a:pathLst>
                <a:path w="15239" h="3175">
                  <a:moveTo>
                    <a:pt x="14668" y="0"/>
                  </a:moveTo>
                  <a:lnTo>
                    <a:pt x="12826" y="177"/>
                  </a:lnTo>
                  <a:lnTo>
                    <a:pt x="11048" y="533"/>
                  </a:lnTo>
                  <a:lnTo>
                    <a:pt x="7391" y="1079"/>
                  </a:lnTo>
                  <a:lnTo>
                    <a:pt x="5537" y="1270"/>
                  </a:lnTo>
                  <a:lnTo>
                    <a:pt x="3695" y="1612"/>
                  </a:lnTo>
                  <a:lnTo>
                    <a:pt x="0" y="2171"/>
                  </a:lnTo>
                  <a:lnTo>
                    <a:pt x="0" y="3073"/>
                  </a:lnTo>
                  <a:lnTo>
                    <a:pt x="3695" y="2527"/>
                  </a:lnTo>
                  <a:lnTo>
                    <a:pt x="5537" y="2171"/>
                  </a:lnTo>
                  <a:lnTo>
                    <a:pt x="9194" y="1612"/>
                  </a:lnTo>
                  <a:lnTo>
                    <a:pt x="11048" y="1270"/>
                  </a:lnTo>
                  <a:lnTo>
                    <a:pt x="14668" y="711"/>
                  </a:lnTo>
                  <a:lnTo>
                    <a:pt x="14668" y="0"/>
                  </a:lnTo>
                  <a:close/>
                </a:path>
              </a:pathLst>
            </a:custGeom>
            <a:solidFill>
              <a:srgbClr val="484948"/>
            </a:solidFill>
          </p:spPr>
          <p:txBody>
            <a:bodyPr wrap="square" lIns="0" tIns="0" rIns="0" bIns="0" rtlCol="0"/>
            <a:lstStyle/>
            <a:p/>
          </p:txBody>
        </p:sp>
        <p:sp>
          <p:nvSpPr>
            <p:cNvPr id="351" name="object 351" descr=""/>
            <p:cNvSpPr/>
            <p:nvPr/>
          </p:nvSpPr>
          <p:spPr>
            <a:xfrm>
              <a:off x="4146031" y="3097194"/>
              <a:ext cx="14604" cy="8890"/>
            </a:xfrm>
            <a:custGeom>
              <a:avLst/>
              <a:gdLst/>
              <a:ahLst/>
              <a:cxnLst/>
              <a:rect l="l" t="t" r="r" b="b"/>
              <a:pathLst>
                <a:path w="14604" h="8889">
                  <a:moveTo>
                    <a:pt x="14325" y="0"/>
                  </a:moveTo>
                  <a:lnTo>
                    <a:pt x="12522" y="152"/>
                  </a:lnTo>
                  <a:lnTo>
                    <a:pt x="8940" y="596"/>
                  </a:lnTo>
                  <a:lnTo>
                    <a:pt x="7200" y="901"/>
                  </a:lnTo>
                  <a:lnTo>
                    <a:pt x="5397" y="1130"/>
                  </a:lnTo>
                  <a:lnTo>
                    <a:pt x="25" y="2032"/>
                  </a:lnTo>
                  <a:lnTo>
                    <a:pt x="0" y="8636"/>
                  </a:lnTo>
                  <a:lnTo>
                    <a:pt x="1765" y="8255"/>
                  </a:lnTo>
                  <a:lnTo>
                    <a:pt x="3606" y="8026"/>
                  </a:lnTo>
                  <a:lnTo>
                    <a:pt x="5384" y="7645"/>
                  </a:lnTo>
                  <a:lnTo>
                    <a:pt x="7175" y="7429"/>
                  </a:lnTo>
                  <a:lnTo>
                    <a:pt x="8940" y="7124"/>
                  </a:lnTo>
                  <a:lnTo>
                    <a:pt x="10744" y="6756"/>
                  </a:lnTo>
                  <a:lnTo>
                    <a:pt x="12522" y="6451"/>
                  </a:lnTo>
                  <a:lnTo>
                    <a:pt x="14325" y="6235"/>
                  </a:lnTo>
                  <a:lnTo>
                    <a:pt x="14325" y="0"/>
                  </a:lnTo>
                  <a:close/>
                </a:path>
              </a:pathLst>
            </a:custGeom>
            <a:solidFill>
              <a:srgbClr val="7A614F"/>
            </a:solidFill>
          </p:spPr>
          <p:txBody>
            <a:bodyPr wrap="square" lIns="0" tIns="0" rIns="0" bIns="0" rtlCol="0"/>
            <a:lstStyle/>
            <a:p/>
          </p:txBody>
        </p:sp>
        <p:sp>
          <p:nvSpPr>
            <p:cNvPr id="352" name="object 352" descr=""/>
            <p:cNvSpPr/>
            <p:nvPr/>
          </p:nvSpPr>
          <p:spPr>
            <a:xfrm>
              <a:off x="4146031" y="3100890"/>
              <a:ext cx="14604" cy="3810"/>
            </a:xfrm>
            <a:custGeom>
              <a:avLst/>
              <a:gdLst/>
              <a:ahLst/>
              <a:cxnLst/>
              <a:rect l="l" t="t" r="r" b="b"/>
              <a:pathLst>
                <a:path w="14604" h="3810">
                  <a:moveTo>
                    <a:pt x="14325" y="0"/>
                  </a:moveTo>
                  <a:lnTo>
                    <a:pt x="12522" y="228"/>
                  </a:lnTo>
                  <a:lnTo>
                    <a:pt x="10782" y="520"/>
                  </a:lnTo>
                  <a:lnTo>
                    <a:pt x="8940" y="736"/>
                  </a:lnTo>
                  <a:lnTo>
                    <a:pt x="3632" y="1638"/>
                  </a:lnTo>
                  <a:lnTo>
                    <a:pt x="1803" y="1854"/>
                  </a:lnTo>
                  <a:lnTo>
                    <a:pt x="25" y="2235"/>
                  </a:lnTo>
                  <a:lnTo>
                    <a:pt x="0" y="3708"/>
                  </a:lnTo>
                  <a:lnTo>
                    <a:pt x="1765" y="3340"/>
                  </a:lnTo>
                  <a:lnTo>
                    <a:pt x="12522" y="1549"/>
                  </a:lnTo>
                  <a:lnTo>
                    <a:pt x="14325" y="1333"/>
                  </a:lnTo>
                  <a:lnTo>
                    <a:pt x="14325" y="0"/>
                  </a:lnTo>
                  <a:close/>
                </a:path>
              </a:pathLst>
            </a:custGeom>
            <a:solidFill>
              <a:srgbClr val="C0C0C0"/>
            </a:solidFill>
          </p:spPr>
          <p:txBody>
            <a:bodyPr wrap="square" lIns="0" tIns="0" rIns="0" bIns="0" rtlCol="0"/>
            <a:lstStyle/>
            <a:p/>
          </p:txBody>
        </p:sp>
        <p:sp>
          <p:nvSpPr>
            <p:cNvPr id="353" name="object 353" descr=""/>
            <p:cNvSpPr/>
            <p:nvPr/>
          </p:nvSpPr>
          <p:spPr>
            <a:xfrm>
              <a:off x="4146031" y="3102124"/>
              <a:ext cx="14604" cy="3175"/>
            </a:xfrm>
            <a:custGeom>
              <a:avLst/>
              <a:gdLst/>
              <a:ahLst/>
              <a:cxnLst/>
              <a:rect l="l" t="t" r="r" b="b"/>
              <a:pathLst>
                <a:path w="14604" h="3175">
                  <a:moveTo>
                    <a:pt x="14325" y="0"/>
                  </a:moveTo>
                  <a:lnTo>
                    <a:pt x="12522" y="228"/>
                  </a:lnTo>
                  <a:lnTo>
                    <a:pt x="1765" y="2032"/>
                  </a:lnTo>
                  <a:lnTo>
                    <a:pt x="0" y="2413"/>
                  </a:lnTo>
                  <a:lnTo>
                    <a:pt x="0" y="3086"/>
                  </a:lnTo>
                  <a:lnTo>
                    <a:pt x="1765" y="2705"/>
                  </a:lnTo>
                  <a:lnTo>
                    <a:pt x="3606" y="2476"/>
                  </a:lnTo>
                  <a:lnTo>
                    <a:pt x="10744" y="1282"/>
                  </a:lnTo>
                  <a:lnTo>
                    <a:pt x="14325" y="838"/>
                  </a:lnTo>
                  <a:lnTo>
                    <a:pt x="14325" y="0"/>
                  </a:lnTo>
                  <a:close/>
                </a:path>
              </a:pathLst>
            </a:custGeom>
            <a:solidFill>
              <a:srgbClr val="484948"/>
            </a:solidFill>
          </p:spPr>
          <p:txBody>
            <a:bodyPr wrap="square" lIns="0" tIns="0" rIns="0" bIns="0" rtlCol="0"/>
            <a:lstStyle/>
            <a:p/>
          </p:txBody>
        </p:sp>
        <p:sp>
          <p:nvSpPr>
            <p:cNvPr id="354" name="object 354" descr=""/>
            <p:cNvSpPr/>
            <p:nvPr/>
          </p:nvSpPr>
          <p:spPr>
            <a:xfrm>
              <a:off x="4145693" y="3116298"/>
              <a:ext cx="15240" cy="9525"/>
            </a:xfrm>
            <a:custGeom>
              <a:avLst/>
              <a:gdLst/>
              <a:ahLst/>
              <a:cxnLst/>
              <a:rect l="l" t="t" r="r" b="b"/>
              <a:pathLst>
                <a:path w="15239" h="9525">
                  <a:moveTo>
                    <a:pt x="14668" y="0"/>
                  </a:moveTo>
                  <a:lnTo>
                    <a:pt x="12814" y="228"/>
                  </a:lnTo>
                  <a:lnTo>
                    <a:pt x="11036" y="622"/>
                  </a:lnTo>
                  <a:lnTo>
                    <a:pt x="9156" y="927"/>
                  </a:lnTo>
                  <a:lnTo>
                    <a:pt x="7378" y="1308"/>
                  </a:lnTo>
                  <a:lnTo>
                    <a:pt x="5537" y="1536"/>
                  </a:lnTo>
                  <a:lnTo>
                    <a:pt x="3657" y="1905"/>
                  </a:lnTo>
                  <a:lnTo>
                    <a:pt x="0" y="2527"/>
                  </a:lnTo>
                  <a:lnTo>
                    <a:pt x="0" y="9245"/>
                  </a:lnTo>
                  <a:lnTo>
                    <a:pt x="1803" y="8788"/>
                  </a:lnTo>
                  <a:lnTo>
                    <a:pt x="3657" y="8483"/>
                  </a:lnTo>
                  <a:lnTo>
                    <a:pt x="5499" y="8102"/>
                  </a:lnTo>
                  <a:lnTo>
                    <a:pt x="7353" y="7874"/>
                  </a:lnTo>
                  <a:lnTo>
                    <a:pt x="10972" y="7112"/>
                  </a:lnTo>
                  <a:lnTo>
                    <a:pt x="14630" y="6489"/>
                  </a:lnTo>
                  <a:lnTo>
                    <a:pt x="14630" y="762"/>
                  </a:lnTo>
                  <a:lnTo>
                    <a:pt x="14668" y="0"/>
                  </a:lnTo>
                  <a:close/>
                </a:path>
              </a:pathLst>
            </a:custGeom>
            <a:solidFill>
              <a:srgbClr val="7A614F"/>
            </a:solidFill>
          </p:spPr>
          <p:txBody>
            <a:bodyPr wrap="square" lIns="0" tIns="0" rIns="0" bIns="0" rtlCol="0"/>
            <a:lstStyle/>
            <a:p/>
          </p:txBody>
        </p:sp>
        <p:sp>
          <p:nvSpPr>
            <p:cNvPr id="355" name="object 355" descr=""/>
            <p:cNvSpPr/>
            <p:nvPr/>
          </p:nvSpPr>
          <p:spPr>
            <a:xfrm>
              <a:off x="4145690" y="3119382"/>
              <a:ext cx="15240" cy="4445"/>
            </a:xfrm>
            <a:custGeom>
              <a:avLst/>
              <a:gdLst/>
              <a:ahLst/>
              <a:cxnLst/>
              <a:rect l="l" t="t" r="r" b="b"/>
              <a:pathLst>
                <a:path w="15239" h="4444">
                  <a:moveTo>
                    <a:pt x="14668" y="0"/>
                  </a:moveTo>
                  <a:lnTo>
                    <a:pt x="12852" y="241"/>
                  </a:lnTo>
                  <a:lnTo>
                    <a:pt x="10998" y="647"/>
                  </a:lnTo>
                  <a:lnTo>
                    <a:pt x="5511" y="1600"/>
                  </a:lnTo>
                  <a:lnTo>
                    <a:pt x="3670" y="2006"/>
                  </a:lnTo>
                  <a:lnTo>
                    <a:pt x="1828" y="2324"/>
                  </a:lnTo>
                  <a:lnTo>
                    <a:pt x="0" y="2717"/>
                  </a:lnTo>
                  <a:lnTo>
                    <a:pt x="0" y="4305"/>
                  </a:lnTo>
                  <a:lnTo>
                    <a:pt x="1828" y="3835"/>
                  </a:lnTo>
                  <a:lnTo>
                    <a:pt x="5511" y="3200"/>
                  </a:lnTo>
                  <a:lnTo>
                    <a:pt x="9144" y="2400"/>
                  </a:lnTo>
                  <a:lnTo>
                    <a:pt x="10998" y="2082"/>
                  </a:lnTo>
                  <a:lnTo>
                    <a:pt x="12814" y="1676"/>
                  </a:lnTo>
                  <a:lnTo>
                    <a:pt x="14668" y="1358"/>
                  </a:lnTo>
                  <a:lnTo>
                    <a:pt x="14668" y="0"/>
                  </a:lnTo>
                  <a:close/>
                </a:path>
              </a:pathLst>
            </a:custGeom>
            <a:solidFill>
              <a:srgbClr val="C0C0C0"/>
            </a:solidFill>
          </p:spPr>
          <p:txBody>
            <a:bodyPr wrap="square" lIns="0" tIns="0" rIns="0" bIns="0" rtlCol="0"/>
            <a:lstStyle/>
            <a:p/>
          </p:txBody>
        </p:sp>
        <p:sp>
          <p:nvSpPr>
            <p:cNvPr id="356" name="object 356" descr=""/>
            <p:cNvSpPr/>
            <p:nvPr/>
          </p:nvSpPr>
          <p:spPr>
            <a:xfrm>
              <a:off x="4145693" y="3121232"/>
              <a:ext cx="15240" cy="3175"/>
            </a:xfrm>
            <a:custGeom>
              <a:avLst/>
              <a:gdLst/>
              <a:ahLst/>
              <a:cxnLst/>
              <a:rect l="l" t="t" r="r" b="b"/>
              <a:pathLst>
                <a:path w="15239" h="3175">
                  <a:moveTo>
                    <a:pt x="14668" y="0"/>
                  </a:moveTo>
                  <a:lnTo>
                    <a:pt x="12814" y="266"/>
                  </a:lnTo>
                  <a:lnTo>
                    <a:pt x="10998" y="596"/>
                  </a:lnTo>
                  <a:lnTo>
                    <a:pt x="9144" y="876"/>
                  </a:lnTo>
                  <a:lnTo>
                    <a:pt x="5511" y="1549"/>
                  </a:lnTo>
                  <a:lnTo>
                    <a:pt x="1816" y="2070"/>
                  </a:lnTo>
                  <a:lnTo>
                    <a:pt x="0" y="2489"/>
                  </a:lnTo>
                  <a:lnTo>
                    <a:pt x="0" y="3073"/>
                  </a:lnTo>
                  <a:lnTo>
                    <a:pt x="1816" y="2679"/>
                  </a:lnTo>
                  <a:lnTo>
                    <a:pt x="3670" y="2412"/>
                  </a:lnTo>
                  <a:lnTo>
                    <a:pt x="5511" y="2070"/>
                  </a:lnTo>
                  <a:lnTo>
                    <a:pt x="7366" y="1879"/>
                  </a:lnTo>
                  <a:lnTo>
                    <a:pt x="10998" y="1206"/>
                  </a:lnTo>
                  <a:lnTo>
                    <a:pt x="14668" y="673"/>
                  </a:lnTo>
                  <a:lnTo>
                    <a:pt x="14668" y="0"/>
                  </a:lnTo>
                  <a:close/>
                </a:path>
              </a:pathLst>
            </a:custGeom>
            <a:solidFill>
              <a:srgbClr val="484948"/>
            </a:solidFill>
          </p:spPr>
          <p:txBody>
            <a:bodyPr wrap="square" lIns="0" tIns="0" rIns="0" bIns="0" rtlCol="0"/>
            <a:lstStyle/>
            <a:p/>
          </p:txBody>
        </p:sp>
        <p:sp>
          <p:nvSpPr>
            <p:cNvPr id="357" name="object 357" descr=""/>
            <p:cNvSpPr/>
            <p:nvPr/>
          </p:nvSpPr>
          <p:spPr>
            <a:xfrm>
              <a:off x="4145693" y="3134790"/>
              <a:ext cx="15240" cy="10160"/>
            </a:xfrm>
            <a:custGeom>
              <a:avLst/>
              <a:gdLst/>
              <a:ahLst/>
              <a:cxnLst/>
              <a:rect l="l" t="t" r="r" b="b"/>
              <a:pathLst>
                <a:path w="15239" h="10160">
                  <a:moveTo>
                    <a:pt x="14668" y="0"/>
                  </a:moveTo>
                  <a:lnTo>
                    <a:pt x="12814" y="241"/>
                  </a:lnTo>
                  <a:lnTo>
                    <a:pt x="10985" y="711"/>
                  </a:lnTo>
                  <a:lnTo>
                    <a:pt x="9169" y="1028"/>
                  </a:lnTo>
                  <a:lnTo>
                    <a:pt x="7378" y="1498"/>
                  </a:lnTo>
                  <a:lnTo>
                    <a:pt x="5499" y="1816"/>
                  </a:lnTo>
                  <a:lnTo>
                    <a:pt x="3670" y="2286"/>
                  </a:lnTo>
                  <a:lnTo>
                    <a:pt x="1854" y="2603"/>
                  </a:lnTo>
                  <a:lnTo>
                    <a:pt x="38" y="3073"/>
                  </a:lnTo>
                  <a:lnTo>
                    <a:pt x="0" y="3860"/>
                  </a:lnTo>
                  <a:lnTo>
                    <a:pt x="0" y="9867"/>
                  </a:lnTo>
                  <a:lnTo>
                    <a:pt x="1816" y="9309"/>
                  </a:lnTo>
                  <a:lnTo>
                    <a:pt x="3632" y="8915"/>
                  </a:lnTo>
                  <a:lnTo>
                    <a:pt x="5461" y="8432"/>
                  </a:lnTo>
                  <a:lnTo>
                    <a:pt x="7353" y="8128"/>
                  </a:lnTo>
                  <a:lnTo>
                    <a:pt x="9131" y="7645"/>
                  </a:lnTo>
                  <a:lnTo>
                    <a:pt x="10985" y="7340"/>
                  </a:lnTo>
                  <a:lnTo>
                    <a:pt x="12776" y="6858"/>
                  </a:lnTo>
                  <a:lnTo>
                    <a:pt x="14668" y="6553"/>
                  </a:lnTo>
                  <a:lnTo>
                    <a:pt x="14668" y="0"/>
                  </a:lnTo>
                  <a:close/>
                </a:path>
              </a:pathLst>
            </a:custGeom>
            <a:solidFill>
              <a:srgbClr val="7A614F"/>
            </a:solidFill>
          </p:spPr>
          <p:txBody>
            <a:bodyPr wrap="square" lIns="0" tIns="0" rIns="0" bIns="0" rtlCol="0"/>
            <a:lstStyle/>
            <a:p/>
          </p:txBody>
        </p:sp>
        <p:sp>
          <p:nvSpPr>
            <p:cNvPr id="358" name="object 358" descr=""/>
            <p:cNvSpPr/>
            <p:nvPr/>
          </p:nvSpPr>
          <p:spPr>
            <a:xfrm>
              <a:off x="4145697" y="3138481"/>
              <a:ext cx="15240" cy="4445"/>
            </a:xfrm>
            <a:custGeom>
              <a:avLst/>
              <a:gdLst/>
              <a:ahLst/>
              <a:cxnLst/>
              <a:rect l="l" t="t" r="r" b="b"/>
              <a:pathLst>
                <a:path w="15239" h="4444">
                  <a:moveTo>
                    <a:pt x="14655" y="0"/>
                  </a:moveTo>
                  <a:lnTo>
                    <a:pt x="12776" y="368"/>
                  </a:lnTo>
                  <a:lnTo>
                    <a:pt x="7353" y="1447"/>
                  </a:lnTo>
                  <a:lnTo>
                    <a:pt x="1816" y="2527"/>
                  </a:lnTo>
                  <a:lnTo>
                    <a:pt x="0" y="2946"/>
                  </a:lnTo>
                  <a:lnTo>
                    <a:pt x="0" y="4317"/>
                  </a:lnTo>
                  <a:lnTo>
                    <a:pt x="14655" y="1447"/>
                  </a:lnTo>
                  <a:lnTo>
                    <a:pt x="14655" y="0"/>
                  </a:lnTo>
                  <a:close/>
                </a:path>
              </a:pathLst>
            </a:custGeom>
            <a:solidFill>
              <a:srgbClr val="C0C0C0"/>
            </a:solidFill>
          </p:spPr>
          <p:txBody>
            <a:bodyPr wrap="square" lIns="0" tIns="0" rIns="0" bIns="0" rtlCol="0"/>
            <a:lstStyle/>
            <a:p/>
          </p:txBody>
        </p:sp>
        <p:sp>
          <p:nvSpPr>
            <p:cNvPr id="359" name="object 359" descr=""/>
            <p:cNvSpPr/>
            <p:nvPr/>
          </p:nvSpPr>
          <p:spPr>
            <a:xfrm>
              <a:off x="4145697" y="3139720"/>
              <a:ext cx="15240" cy="4445"/>
            </a:xfrm>
            <a:custGeom>
              <a:avLst/>
              <a:gdLst/>
              <a:ahLst/>
              <a:cxnLst/>
              <a:rect l="l" t="t" r="r" b="b"/>
              <a:pathLst>
                <a:path w="15239" h="4444">
                  <a:moveTo>
                    <a:pt x="14655" y="0"/>
                  </a:moveTo>
                  <a:lnTo>
                    <a:pt x="12776" y="431"/>
                  </a:lnTo>
                  <a:lnTo>
                    <a:pt x="9131" y="1282"/>
                  </a:lnTo>
                  <a:lnTo>
                    <a:pt x="7353" y="1727"/>
                  </a:lnTo>
                  <a:lnTo>
                    <a:pt x="1816" y="3009"/>
                  </a:lnTo>
                  <a:lnTo>
                    <a:pt x="0" y="3454"/>
                  </a:lnTo>
                  <a:lnTo>
                    <a:pt x="0" y="4317"/>
                  </a:lnTo>
                  <a:lnTo>
                    <a:pt x="1816" y="3886"/>
                  </a:lnTo>
                  <a:lnTo>
                    <a:pt x="5460" y="2844"/>
                  </a:lnTo>
                  <a:lnTo>
                    <a:pt x="7353" y="2501"/>
                  </a:lnTo>
                  <a:lnTo>
                    <a:pt x="9131" y="1892"/>
                  </a:lnTo>
                  <a:lnTo>
                    <a:pt x="10985" y="1549"/>
                  </a:lnTo>
                  <a:lnTo>
                    <a:pt x="12776" y="1041"/>
                  </a:lnTo>
                  <a:lnTo>
                    <a:pt x="14655" y="698"/>
                  </a:lnTo>
                  <a:lnTo>
                    <a:pt x="14655" y="0"/>
                  </a:lnTo>
                  <a:close/>
                </a:path>
              </a:pathLst>
            </a:custGeom>
            <a:solidFill>
              <a:srgbClr val="484948"/>
            </a:solidFill>
          </p:spPr>
          <p:txBody>
            <a:bodyPr wrap="square" lIns="0" tIns="0" rIns="0" bIns="0" rtlCol="0"/>
            <a:lstStyle/>
            <a:p/>
          </p:txBody>
        </p:sp>
        <p:sp>
          <p:nvSpPr>
            <p:cNvPr id="360" name="object 360" descr=""/>
            <p:cNvSpPr/>
            <p:nvPr/>
          </p:nvSpPr>
          <p:spPr>
            <a:xfrm>
              <a:off x="4145697" y="3153887"/>
              <a:ext cx="15240" cy="10160"/>
            </a:xfrm>
            <a:custGeom>
              <a:avLst/>
              <a:gdLst/>
              <a:ahLst/>
              <a:cxnLst/>
              <a:rect l="l" t="t" r="r" b="b"/>
              <a:pathLst>
                <a:path w="15239" h="10160">
                  <a:moveTo>
                    <a:pt x="14655" y="0"/>
                  </a:moveTo>
                  <a:lnTo>
                    <a:pt x="12776" y="381"/>
                  </a:lnTo>
                  <a:lnTo>
                    <a:pt x="11010" y="762"/>
                  </a:lnTo>
                  <a:lnTo>
                    <a:pt x="9156" y="1130"/>
                  </a:lnTo>
                  <a:lnTo>
                    <a:pt x="7378" y="1587"/>
                  </a:lnTo>
                  <a:lnTo>
                    <a:pt x="3695" y="2349"/>
                  </a:lnTo>
                  <a:lnTo>
                    <a:pt x="1841" y="2794"/>
                  </a:lnTo>
                  <a:lnTo>
                    <a:pt x="0" y="3314"/>
                  </a:lnTo>
                  <a:lnTo>
                    <a:pt x="0" y="9867"/>
                  </a:lnTo>
                  <a:lnTo>
                    <a:pt x="1841" y="9347"/>
                  </a:lnTo>
                  <a:lnTo>
                    <a:pt x="3657" y="8966"/>
                  </a:lnTo>
                  <a:lnTo>
                    <a:pt x="5460" y="8432"/>
                  </a:lnTo>
                  <a:lnTo>
                    <a:pt x="7353" y="8064"/>
                  </a:lnTo>
                  <a:lnTo>
                    <a:pt x="9156" y="7531"/>
                  </a:lnTo>
                  <a:lnTo>
                    <a:pt x="10972" y="7239"/>
                  </a:lnTo>
                  <a:lnTo>
                    <a:pt x="12750" y="6781"/>
                  </a:lnTo>
                  <a:lnTo>
                    <a:pt x="14554" y="6489"/>
                  </a:lnTo>
                  <a:lnTo>
                    <a:pt x="14554" y="3924"/>
                  </a:lnTo>
                  <a:lnTo>
                    <a:pt x="14630" y="3251"/>
                  </a:lnTo>
                  <a:lnTo>
                    <a:pt x="14630" y="762"/>
                  </a:lnTo>
                  <a:lnTo>
                    <a:pt x="14655" y="0"/>
                  </a:lnTo>
                  <a:close/>
                </a:path>
              </a:pathLst>
            </a:custGeom>
            <a:solidFill>
              <a:srgbClr val="7A614F"/>
            </a:solidFill>
          </p:spPr>
          <p:txBody>
            <a:bodyPr wrap="square" lIns="0" tIns="0" rIns="0" bIns="0" rtlCol="0"/>
            <a:lstStyle/>
            <a:p/>
          </p:txBody>
        </p:sp>
        <p:sp>
          <p:nvSpPr>
            <p:cNvPr id="361" name="object 361" descr=""/>
            <p:cNvSpPr/>
            <p:nvPr/>
          </p:nvSpPr>
          <p:spPr>
            <a:xfrm>
              <a:off x="4145697" y="3156977"/>
              <a:ext cx="15240" cy="5715"/>
            </a:xfrm>
            <a:custGeom>
              <a:avLst/>
              <a:gdLst/>
              <a:ahLst/>
              <a:cxnLst/>
              <a:rect l="l" t="t" r="r" b="b"/>
              <a:pathLst>
                <a:path w="15239" h="5714">
                  <a:moveTo>
                    <a:pt x="14655" y="0"/>
                  </a:moveTo>
                  <a:lnTo>
                    <a:pt x="12776" y="342"/>
                  </a:lnTo>
                  <a:lnTo>
                    <a:pt x="11010" y="939"/>
                  </a:lnTo>
                  <a:lnTo>
                    <a:pt x="9156" y="1282"/>
                  </a:lnTo>
                  <a:lnTo>
                    <a:pt x="7378" y="1879"/>
                  </a:lnTo>
                  <a:lnTo>
                    <a:pt x="5499" y="2387"/>
                  </a:lnTo>
                  <a:lnTo>
                    <a:pt x="3695" y="2806"/>
                  </a:lnTo>
                  <a:lnTo>
                    <a:pt x="0" y="3835"/>
                  </a:lnTo>
                  <a:lnTo>
                    <a:pt x="0" y="5549"/>
                  </a:lnTo>
                  <a:lnTo>
                    <a:pt x="1841" y="5029"/>
                  </a:lnTo>
                  <a:lnTo>
                    <a:pt x="3657" y="4432"/>
                  </a:lnTo>
                  <a:lnTo>
                    <a:pt x="5460" y="3924"/>
                  </a:lnTo>
                  <a:lnTo>
                    <a:pt x="7353" y="3492"/>
                  </a:lnTo>
                  <a:lnTo>
                    <a:pt x="9156" y="2908"/>
                  </a:lnTo>
                  <a:lnTo>
                    <a:pt x="10972" y="2463"/>
                  </a:lnTo>
                  <a:lnTo>
                    <a:pt x="12750" y="1968"/>
                  </a:lnTo>
                  <a:lnTo>
                    <a:pt x="14554" y="1625"/>
                  </a:lnTo>
                  <a:lnTo>
                    <a:pt x="14630" y="761"/>
                  </a:lnTo>
                  <a:lnTo>
                    <a:pt x="14655" y="0"/>
                  </a:lnTo>
                  <a:close/>
                </a:path>
              </a:pathLst>
            </a:custGeom>
            <a:solidFill>
              <a:srgbClr val="C0C0C0"/>
            </a:solidFill>
          </p:spPr>
          <p:txBody>
            <a:bodyPr wrap="square" lIns="0" tIns="0" rIns="0" bIns="0" rtlCol="0"/>
            <a:lstStyle/>
            <a:p/>
          </p:txBody>
        </p:sp>
        <p:sp>
          <p:nvSpPr>
            <p:cNvPr id="362" name="object 362" descr=""/>
            <p:cNvSpPr/>
            <p:nvPr/>
          </p:nvSpPr>
          <p:spPr>
            <a:xfrm>
              <a:off x="4145691" y="3158832"/>
              <a:ext cx="15240" cy="4445"/>
            </a:xfrm>
            <a:custGeom>
              <a:avLst/>
              <a:gdLst/>
              <a:ahLst/>
              <a:cxnLst/>
              <a:rect l="l" t="t" r="r" b="b"/>
              <a:pathLst>
                <a:path w="15239" h="4444">
                  <a:moveTo>
                    <a:pt x="14668" y="0"/>
                  </a:moveTo>
                  <a:lnTo>
                    <a:pt x="12839" y="304"/>
                  </a:lnTo>
                  <a:lnTo>
                    <a:pt x="11061" y="774"/>
                  </a:lnTo>
                  <a:lnTo>
                    <a:pt x="9232" y="1168"/>
                  </a:lnTo>
                  <a:lnTo>
                    <a:pt x="7404" y="1727"/>
                  </a:lnTo>
                  <a:lnTo>
                    <a:pt x="5511" y="2108"/>
                  </a:lnTo>
                  <a:lnTo>
                    <a:pt x="3683" y="2578"/>
                  </a:lnTo>
                  <a:lnTo>
                    <a:pt x="1854" y="3124"/>
                  </a:lnTo>
                  <a:lnTo>
                    <a:pt x="0" y="3594"/>
                  </a:lnTo>
                  <a:lnTo>
                    <a:pt x="0" y="4305"/>
                  </a:lnTo>
                  <a:lnTo>
                    <a:pt x="1854" y="3759"/>
                  </a:lnTo>
                  <a:lnTo>
                    <a:pt x="3683" y="3365"/>
                  </a:lnTo>
                  <a:lnTo>
                    <a:pt x="5511" y="2895"/>
                  </a:lnTo>
                  <a:lnTo>
                    <a:pt x="7404" y="2501"/>
                  </a:lnTo>
                  <a:lnTo>
                    <a:pt x="9232" y="1955"/>
                  </a:lnTo>
                  <a:lnTo>
                    <a:pt x="11061" y="1638"/>
                  </a:lnTo>
                  <a:lnTo>
                    <a:pt x="12839" y="1092"/>
                  </a:lnTo>
                  <a:lnTo>
                    <a:pt x="14668" y="774"/>
                  </a:lnTo>
                  <a:lnTo>
                    <a:pt x="14668" y="0"/>
                  </a:lnTo>
                  <a:close/>
                </a:path>
              </a:pathLst>
            </a:custGeom>
            <a:solidFill>
              <a:srgbClr val="484948"/>
            </a:solidFill>
          </p:spPr>
          <p:txBody>
            <a:bodyPr wrap="square" lIns="0" tIns="0" rIns="0" bIns="0" rtlCol="0"/>
            <a:lstStyle/>
            <a:p/>
          </p:txBody>
        </p:sp>
        <p:sp>
          <p:nvSpPr>
            <p:cNvPr id="363" name="object 363" descr=""/>
            <p:cNvSpPr/>
            <p:nvPr/>
          </p:nvSpPr>
          <p:spPr>
            <a:xfrm>
              <a:off x="4145693" y="3172383"/>
              <a:ext cx="15240" cy="10795"/>
            </a:xfrm>
            <a:custGeom>
              <a:avLst/>
              <a:gdLst/>
              <a:ahLst/>
              <a:cxnLst/>
              <a:rect l="l" t="t" r="r" b="b"/>
              <a:pathLst>
                <a:path w="15239" h="10794">
                  <a:moveTo>
                    <a:pt x="14668" y="0"/>
                  </a:moveTo>
                  <a:lnTo>
                    <a:pt x="12814" y="469"/>
                  </a:lnTo>
                  <a:lnTo>
                    <a:pt x="11023" y="863"/>
                  </a:lnTo>
                  <a:lnTo>
                    <a:pt x="9169" y="1397"/>
                  </a:lnTo>
                  <a:lnTo>
                    <a:pt x="5499" y="2336"/>
                  </a:lnTo>
                  <a:lnTo>
                    <a:pt x="3670" y="2717"/>
                  </a:lnTo>
                  <a:lnTo>
                    <a:pt x="0" y="3810"/>
                  </a:lnTo>
                  <a:lnTo>
                    <a:pt x="0" y="10477"/>
                  </a:lnTo>
                  <a:lnTo>
                    <a:pt x="1854" y="9931"/>
                  </a:lnTo>
                  <a:lnTo>
                    <a:pt x="3670" y="9461"/>
                  </a:lnTo>
                  <a:lnTo>
                    <a:pt x="5499" y="8928"/>
                  </a:lnTo>
                  <a:lnTo>
                    <a:pt x="7353" y="8534"/>
                  </a:lnTo>
                  <a:lnTo>
                    <a:pt x="9169" y="7988"/>
                  </a:lnTo>
                  <a:lnTo>
                    <a:pt x="14630" y="6591"/>
                  </a:lnTo>
                  <a:lnTo>
                    <a:pt x="14630" y="774"/>
                  </a:lnTo>
                  <a:lnTo>
                    <a:pt x="14668" y="0"/>
                  </a:lnTo>
                  <a:close/>
                </a:path>
              </a:pathLst>
            </a:custGeom>
            <a:solidFill>
              <a:srgbClr val="7A614F"/>
            </a:solidFill>
          </p:spPr>
          <p:txBody>
            <a:bodyPr wrap="square" lIns="0" tIns="0" rIns="0" bIns="0" rtlCol="0"/>
            <a:lstStyle/>
            <a:p/>
          </p:txBody>
        </p:sp>
        <p:sp>
          <p:nvSpPr>
            <p:cNvPr id="364" name="object 364" descr=""/>
            <p:cNvSpPr/>
            <p:nvPr/>
          </p:nvSpPr>
          <p:spPr>
            <a:xfrm>
              <a:off x="4145697" y="3176070"/>
              <a:ext cx="14604" cy="5715"/>
            </a:xfrm>
            <a:custGeom>
              <a:avLst/>
              <a:gdLst/>
              <a:ahLst/>
              <a:cxnLst/>
              <a:rect l="l" t="t" r="r" b="b"/>
              <a:pathLst>
                <a:path w="14604" h="5714">
                  <a:moveTo>
                    <a:pt x="14325" y="0"/>
                  </a:moveTo>
                  <a:lnTo>
                    <a:pt x="12547" y="406"/>
                  </a:lnTo>
                  <a:lnTo>
                    <a:pt x="10769" y="965"/>
                  </a:lnTo>
                  <a:lnTo>
                    <a:pt x="8978" y="1435"/>
                  </a:lnTo>
                  <a:lnTo>
                    <a:pt x="7200" y="1993"/>
                  </a:lnTo>
                  <a:lnTo>
                    <a:pt x="3594" y="2946"/>
                  </a:lnTo>
                  <a:lnTo>
                    <a:pt x="1816" y="3492"/>
                  </a:lnTo>
                  <a:lnTo>
                    <a:pt x="0" y="3975"/>
                  </a:lnTo>
                  <a:lnTo>
                    <a:pt x="0" y="5562"/>
                  </a:lnTo>
                  <a:lnTo>
                    <a:pt x="5384" y="3886"/>
                  </a:lnTo>
                  <a:lnTo>
                    <a:pt x="7200" y="3429"/>
                  </a:lnTo>
                  <a:lnTo>
                    <a:pt x="8978" y="2857"/>
                  </a:lnTo>
                  <a:lnTo>
                    <a:pt x="10769" y="2463"/>
                  </a:lnTo>
                  <a:lnTo>
                    <a:pt x="12547" y="1917"/>
                  </a:lnTo>
                  <a:lnTo>
                    <a:pt x="14325" y="1435"/>
                  </a:lnTo>
                  <a:lnTo>
                    <a:pt x="14325" y="0"/>
                  </a:lnTo>
                  <a:close/>
                </a:path>
              </a:pathLst>
            </a:custGeom>
            <a:solidFill>
              <a:srgbClr val="C0C0C0"/>
            </a:solidFill>
          </p:spPr>
          <p:txBody>
            <a:bodyPr wrap="square" lIns="0" tIns="0" rIns="0" bIns="0" rtlCol="0"/>
            <a:lstStyle/>
            <a:p/>
          </p:txBody>
        </p:sp>
        <p:sp>
          <p:nvSpPr>
            <p:cNvPr id="365" name="object 365" descr=""/>
            <p:cNvSpPr/>
            <p:nvPr/>
          </p:nvSpPr>
          <p:spPr>
            <a:xfrm>
              <a:off x="4145697" y="3177307"/>
              <a:ext cx="14604" cy="5080"/>
            </a:xfrm>
            <a:custGeom>
              <a:avLst/>
              <a:gdLst/>
              <a:ahLst/>
              <a:cxnLst/>
              <a:rect l="l" t="t" r="r" b="b"/>
              <a:pathLst>
                <a:path w="14604" h="5080">
                  <a:moveTo>
                    <a:pt x="14325" y="0"/>
                  </a:moveTo>
                  <a:lnTo>
                    <a:pt x="12547" y="495"/>
                  </a:lnTo>
                  <a:lnTo>
                    <a:pt x="10769" y="1079"/>
                  </a:lnTo>
                  <a:lnTo>
                    <a:pt x="8978" y="1485"/>
                  </a:lnTo>
                  <a:lnTo>
                    <a:pt x="7200" y="2057"/>
                  </a:lnTo>
                  <a:lnTo>
                    <a:pt x="5384" y="2552"/>
                  </a:lnTo>
                  <a:lnTo>
                    <a:pt x="0" y="4279"/>
                  </a:lnTo>
                  <a:lnTo>
                    <a:pt x="0" y="4940"/>
                  </a:lnTo>
                  <a:lnTo>
                    <a:pt x="1816" y="4356"/>
                  </a:lnTo>
                  <a:lnTo>
                    <a:pt x="3594" y="3860"/>
                  </a:lnTo>
                  <a:lnTo>
                    <a:pt x="5384" y="3289"/>
                  </a:lnTo>
                  <a:lnTo>
                    <a:pt x="7200" y="2882"/>
                  </a:lnTo>
                  <a:lnTo>
                    <a:pt x="8978" y="2311"/>
                  </a:lnTo>
                  <a:lnTo>
                    <a:pt x="14325" y="825"/>
                  </a:lnTo>
                  <a:lnTo>
                    <a:pt x="14325" y="0"/>
                  </a:lnTo>
                  <a:close/>
                </a:path>
              </a:pathLst>
            </a:custGeom>
            <a:solidFill>
              <a:srgbClr val="484948"/>
            </a:solidFill>
          </p:spPr>
          <p:txBody>
            <a:bodyPr wrap="square" lIns="0" tIns="0" rIns="0" bIns="0" rtlCol="0"/>
            <a:lstStyle/>
            <a:p/>
          </p:txBody>
        </p:sp>
        <p:sp>
          <p:nvSpPr>
            <p:cNvPr id="366" name="object 366" descr=""/>
            <p:cNvSpPr/>
            <p:nvPr/>
          </p:nvSpPr>
          <p:spPr>
            <a:xfrm>
              <a:off x="4145697" y="3191484"/>
              <a:ext cx="14604" cy="10795"/>
            </a:xfrm>
            <a:custGeom>
              <a:avLst/>
              <a:gdLst/>
              <a:ahLst/>
              <a:cxnLst/>
              <a:rect l="l" t="t" r="r" b="b"/>
              <a:pathLst>
                <a:path w="14604" h="10794">
                  <a:moveTo>
                    <a:pt x="14325" y="0"/>
                  </a:moveTo>
                  <a:lnTo>
                    <a:pt x="12547" y="457"/>
                  </a:lnTo>
                  <a:lnTo>
                    <a:pt x="10794" y="977"/>
                  </a:lnTo>
                  <a:lnTo>
                    <a:pt x="8978" y="1435"/>
                  </a:lnTo>
                  <a:lnTo>
                    <a:pt x="5384" y="2489"/>
                  </a:lnTo>
                  <a:lnTo>
                    <a:pt x="3594" y="2946"/>
                  </a:lnTo>
                  <a:lnTo>
                    <a:pt x="1777" y="3479"/>
                  </a:lnTo>
                  <a:lnTo>
                    <a:pt x="0" y="4076"/>
                  </a:lnTo>
                  <a:lnTo>
                    <a:pt x="0" y="10477"/>
                  </a:lnTo>
                  <a:lnTo>
                    <a:pt x="1777" y="9880"/>
                  </a:lnTo>
                  <a:lnTo>
                    <a:pt x="3594" y="9423"/>
                  </a:lnTo>
                  <a:lnTo>
                    <a:pt x="5384" y="8826"/>
                  </a:lnTo>
                  <a:lnTo>
                    <a:pt x="7200" y="8293"/>
                  </a:lnTo>
                  <a:lnTo>
                    <a:pt x="8953" y="7835"/>
                  </a:lnTo>
                  <a:lnTo>
                    <a:pt x="12547" y="6794"/>
                  </a:lnTo>
                  <a:lnTo>
                    <a:pt x="14325" y="6337"/>
                  </a:lnTo>
                  <a:lnTo>
                    <a:pt x="14325" y="0"/>
                  </a:lnTo>
                  <a:close/>
                </a:path>
              </a:pathLst>
            </a:custGeom>
            <a:solidFill>
              <a:srgbClr val="7A614F"/>
            </a:solidFill>
          </p:spPr>
          <p:txBody>
            <a:bodyPr wrap="square" lIns="0" tIns="0" rIns="0" bIns="0" rtlCol="0"/>
            <a:lstStyle/>
            <a:p/>
          </p:txBody>
        </p:sp>
        <p:sp>
          <p:nvSpPr>
            <p:cNvPr id="367" name="object 367" descr=""/>
            <p:cNvSpPr/>
            <p:nvPr/>
          </p:nvSpPr>
          <p:spPr>
            <a:xfrm>
              <a:off x="4145697" y="3195187"/>
              <a:ext cx="14604" cy="5715"/>
            </a:xfrm>
            <a:custGeom>
              <a:avLst/>
              <a:gdLst/>
              <a:ahLst/>
              <a:cxnLst/>
              <a:rect l="l" t="t" r="r" b="b"/>
              <a:pathLst>
                <a:path w="14604" h="5714">
                  <a:moveTo>
                    <a:pt x="14325" y="0"/>
                  </a:moveTo>
                  <a:lnTo>
                    <a:pt x="12547" y="457"/>
                  </a:lnTo>
                  <a:lnTo>
                    <a:pt x="10769" y="914"/>
                  </a:lnTo>
                  <a:lnTo>
                    <a:pt x="8953" y="1435"/>
                  </a:lnTo>
                  <a:lnTo>
                    <a:pt x="7200" y="1981"/>
                  </a:lnTo>
                  <a:lnTo>
                    <a:pt x="5384" y="2438"/>
                  </a:lnTo>
                  <a:lnTo>
                    <a:pt x="3594" y="2959"/>
                  </a:lnTo>
                  <a:lnTo>
                    <a:pt x="1777" y="3568"/>
                  </a:lnTo>
                  <a:lnTo>
                    <a:pt x="0" y="4102"/>
                  </a:lnTo>
                  <a:lnTo>
                    <a:pt x="0" y="5537"/>
                  </a:lnTo>
                  <a:lnTo>
                    <a:pt x="1777" y="4940"/>
                  </a:lnTo>
                  <a:lnTo>
                    <a:pt x="3594" y="4483"/>
                  </a:lnTo>
                  <a:lnTo>
                    <a:pt x="5384" y="3949"/>
                  </a:lnTo>
                  <a:lnTo>
                    <a:pt x="7200" y="3492"/>
                  </a:lnTo>
                  <a:lnTo>
                    <a:pt x="8953" y="2895"/>
                  </a:lnTo>
                  <a:lnTo>
                    <a:pt x="10769" y="2349"/>
                  </a:lnTo>
                  <a:lnTo>
                    <a:pt x="12547" y="1892"/>
                  </a:lnTo>
                  <a:lnTo>
                    <a:pt x="14325" y="1371"/>
                  </a:lnTo>
                  <a:lnTo>
                    <a:pt x="14325" y="0"/>
                  </a:lnTo>
                  <a:close/>
                </a:path>
              </a:pathLst>
            </a:custGeom>
            <a:solidFill>
              <a:srgbClr val="C0C0C0"/>
            </a:solidFill>
          </p:spPr>
          <p:txBody>
            <a:bodyPr wrap="square" lIns="0" tIns="0" rIns="0" bIns="0" rtlCol="0"/>
            <a:lstStyle/>
            <a:p/>
          </p:txBody>
        </p:sp>
        <p:sp>
          <p:nvSpPr>
            <p:cNvPr id="368" name="object 368" descr=""/>
            <p:cNvSpPr/>
            <p:nvPr/>
          </p:nvSpPr>
          <p:spPr>
            <a:xfrm>
              <a:off x="4145697" y="3196427"/>
              <a:ext cx="14604" cy="5080"/>
            </a:xfrm>
            <a:custGeom>
              <a:avLst/>
              <a:gdLst/>
              <a:ahLst/>
              <a:cxnLst/>
              <a:rect l="l" t="t" r="r" b="b"/>
              <a:pathLst>
                <a:path w="14604" h="5080">
                  <a:moveTo>
                    <a:pt x="14325" y="0"/>
                  </a:moveTo>
                  <a:lnTo>
                    <a:pt x="12547" y="520"/>
                  </a:lnTo>
                  <a:lnTo>
                    <a:pt x="10769" y="977"/>
                  </a:lnTo>
                  <a:lnTo>
                    <a:pt x="8953" y="1511"/>
                  </a:lnTo>
                  <a:lnTo>
                    <a:pt x="7200" y="2120"/>
                  </a:lnTo>
                  <a:lnTo>
                    <a:pt x="5384" y="2565"/>
                  </a:lnTo>
                  <a:lnTo>
                    <a:pt x="3594" y="3098"/>
                  </a:lnTo>
                  <a:lnTo>
                    <a:pt x="1777" y="3555"/>
                  </a:lnTo>
                  <a:lnTo>
                    <a:pt x="0" y="4165"/>
                  </a:lnTo>
                  <a:lnTo>
                    <a:pt x="0" y="4914"/>
                  </a:lnTo>
                  <a:lnTo>
                    <a:pt x="1777" y="4317"/>
                  </a:lnTo>
                  <a:lnTo>
                    <a:pt x="3594" y="3784"/>
                  </a:lnTo>
                  <a:lnTo>
                    <a:pt x="5384" y="3174"/>
                  </a:lnTo>
                  <a:lnTo>
                    <a:pt x="7200" y="2641"/>
                  </a:lnTo>
                  <a:lnTo>
                    <a:pt x="8953" y="2184"/>
                  </a:lnTo>
                  <a:lnTo>
                    <a:pt x="12547" y="1130"/>
                  </a:lnTo>
                  <a:lnTo>
                    <a:pt x="14325" y="749"/>
                  </a:lnTo>
                  <a:lnTo>
                    <a:pt x="14325" y="0"/>
                  </a:lnTo>
                  <a:close/>
                </a:path>
              </a:pathLst>
            </a:custGeom>
            <a:solidFill>
              <a:srgbClr val="484948"/>
            </a:solidFill>
          </p:spPr>
          <p:txBody>
            <a:bodyPr wrap="square" lIns="0" tIns="0" rIns="0" bIns="0" rtlCol="0"/>
            <a:lstStyle/>
            <a:p/>
          </p:txBody>
        </p:sp>
        <p:sp>
          <p:nvSpPr>
            <p:cNvPr id="369" name="object 369" descr=""/>
            <p:cNvSpPr/>
            <p:nvPr/>
          </p:nvSpPr>
          <p:spPr>
            <a:xfrm>
              <a:off x="4134025" y="3208121"/>
              <a:ext cx="5080" cy="20955"/>
            </a:xfrm>
            <a:custGeom>
              <a:avLst/>
              <a:gdLst/>
              <a:ahLst/>
              <a:cxnLst/>
              <a:rect l="l" t="t" r="r" b="b"/>
              <a:pathLst>
                <a:path w="5079" h="20955">
                  <a:moveTo>
                    <a:pt x="5003" y="0"/>
                  </a:moveTo>
                  <a:lnTo>
                    <a:pt x="4343" y="165"/>
                  </a:lnTo>
                  <a:lnTo>
                    <a:pt x="3086" y="469"/>
                  </a:lnTo>
                  <a:lnTo>
                    <a:pt x="2514" y="787"/>
                  </a:lnTo>
                  <a:lnTo>
                    <a:pt x="1295" y="1092"/>
                  </a:lnTo>
                  <a:lnTo>
                    <a:pt x="101" y="1625"/>
                  </a:lnTo>
                  <a:lnTo>
                    <a:pt x="0" y="6248"/>
                  </a:lnTo>
                  <a:lnTo>
                    <a:pt x="0" y="20345"/>
                  </a:lnTo>
                  <a:lnTo>
                    <a:pt x="330" y="20193"/>
                  </a:lnTo>
                  <a:lnTo>
                    <a:pt x="330" y="13639"/>
                  </a:lnTo>
                  <a:lnTo>
                    <a:pt x="406" y="11557"/>
                  </a:lnTo>
                  <a:lnTo>
                    <a:pt x="431" y="3009"/>
                  </a:lnTo>
                  <a:lnTo>
                    <a:pt x="927" y="2781"/>
                  </a:lnTo>
                  <a:lnTo>
                    <a:pt x="3022" y="2171"/>
                  </a:lnTo>
                  <a:lnTo>
                    <a:pt x="3581" y="1930"/>
                  </a:lnTo>
                  <a:lnTo>
                    <a:pt x="4063" y="1778"/>
                  </a:lnTo>
                  <a:lnTo>
                    <a:pt x="4635" y="1701"/>
                  </a:lnTo>
                  <a:lnTo>
                    <a:pt x="4635" y="18872"/>
                  </a:lnTo>
                  <a:lnTo>
                    <a:pt x="4762" y="18732"/>
                  </a:lnTo>
                  <a:lnTo>
                    <a:pt x="4965" y="18643"/>
                  </a:lnTo>
                  <a:lnTo>
                    <a:pt x="4965" y="2311"/>
                  </a:lnTo>
                  <a:lnTo>
                    <a:pt x="5003" y="0"/>
                  </a:lnTo>
                  <a:close/>
                </a:path>
              </a:pathLst>
            </a:custGeom>
            <a:solidFill>
              <a:srgbClr val="8B8B8B"/>
            </a:solidFill>
          </p:spPr>
          <p:txBody>
            <a:bodyPr wrap="square" lIns="0" tIns="0" rIns="0" bIns="0" rtlCol="0"/>
            <a:lstStyle/>
            <a:p/>
          </p:txBody>
        </p:sp>
        <p:sp>
          <p:nvSpPr>
            <p:cNvPr id="370" name="object 370" descr=""/>
            <p:cNvSpPr/>
            <p:nvPr/>
          </p:nvSpPr>
          <p:spPr>
            <a:xfrm>
              <a:off x="4134685" y="3211216"/>
              <a:ext cx="3810" cy="17780"/>
            </a:xfrm>
            <a:custGeom>
              <a:avLst/>
              <a:gdLst/>
              <a:ahLst/>
              <a:cxnLst/>
              <a:rect l="l" t="t" r="r" b="b"/>
              <a:pathLst>
                <a:path w="3810" h="17780">
                  <a:moveTo>
                    <a:pt x="3670" y="0"/>
                  </a:moveTo>
                  <a:lnTo>
                    <a:pt x="3225" y="76"/>
                  </a:lnTo>
                  <a:lnTo>
                    <a:pt x="2730" y="228"/>
                  </a:lnTo>
                  <a:lnTo>
                    <a:pt x="2286" y="304"/>
                  </a:lnTo>
                  <a:lnTo>
                    <a:pt x="901" y="774"/>
                  </a:lnTo>
                  <a:lnTo>
                    <a:pt x="457" y="850"/>
                  </a:lnTo>
                  <a:lnTo>
                    <a:pt x="0" y="1016"/>
                  </a:lnTo>
                  <a:lnTo>
                    <a:pt x="0" y="17259"/>
                  </a:lnTo>
                  <a:lnTo>
                    <a:pt x="431" y="17018"/>
                  </a:lnTo>
                  <a:lnTo>
                    <a:pt x="876" y="16929"/>
                  </a:lnTo>
                  <a:lnTo>
                    <a:pt x="1320" y="16700"/>
                  </a:lnTo>
                  <a:lnTo>
                    <a:pt x="1803" y="16624"/>
                  </a:lnTo>
                  <a:lnTo>
                    <a:pt x="2260" y="16383"/>
                  </a:lnTo>
                  <a:lnTo>
                    <a:pt x="2705" y="16306"/>
                  </a:lnTo>
                  <a:lnTo>
                    <a:pt x="3187" y="16154"/>
                  </a:lnTo>
                  <a:lnTo>
                    <a:pt x="3632" y="16078"/>
                  </a:lnTo>
                  <a:lnTo>
                    <a:pt x="3632" y="1879"/>
                  </a:lnTo>
                  <a:lnTo>
                    <a:pt x="3670" y="0"/>
                  </a:lnTo>
                  <a:close/>
                </a:path>
              </a:pathLst>
            </a:custGeom>
            <a:solidFill>
              <a:srgbClr val="484948"/>
            </a:solidFill>
          </p:spPr>
          <p:txBody>
            <a:bodyPr wrap="square" lIns="0" tIns="0" rIns="0" bIns="0" rtlCol="0"/>
            <a:lstStyle/>
            <a:p/>
          </p:txBody>
        </p:sp>
        <p:sp>
          <p:nvSpPr>
            <p:cNvPr id="371" name="object 371" descr=""/>
            <p:cNvSpPr/>
            <p:nvPr/>
          </p:nvSpPr>
          <p:spPr>
            <a:xfrm>
              <a:off x="4094693" y="3198881"/>
              <a:ext cx="80010" cy="45085"/>
            </a:xfrm>
            <a:custGeom>
              <a:avLst/>
              <a:gdLst/>
              <a:ahLst/>
              <a:cxnLst/>
              <a:rect l="l" t="t" r="r" b="b"/>
              <a:pathLst>
                <a:path w="80010" h="45085">
                  <a:moveTo>
                    <a:pt x="34620" y="14947"/>
                  </a:moveTo>
                  <a:lnTo>
                    <a:pt x="203" y="27736"/>
                  </a:lnTo>
                  <a:lnTo>
                    <a:pt x="0" y="44996"/>
                  </a:lnTo>
                  <a:lnTo>
                    <a:pt x="34620" y="32892"/>
                  </a:lnTo>
                  <a:lnTo>
                    <a:pt x="34620" y="14947"/>
                  </a:lnTo>
                  <a:close/>
                </a:path>
                <a:path w="80010" h="45085">
                  <a:moveTo>
                    <a:pt x="79997" y="0"/>
                  </a:moveTo>
                  <a:lnTo>
                    <a:pt x="50673" y="9639"/>
                  </a:lnTo>
                  <a:lnTo>
                    <a:pt x="50673" y="27508"/>
                  </a:lnTo>
                  <a:lnTo>
                    <a:pt x="79997" y="17792"/>
                  </a:lnTo>
                  <a:lnTo>
                    <a:pt x="79997" y="0"/>
                  </a:lnTo>
                  <a:close/>
                </a:path>
              </a:pathLst>
            </a:custGeom>
            <a:solidFill>
              <a:srgbClr val="707170"/>
            </a:solidFill>
          </p:spPr>
          <p:txBody>
            <a:bodyPr wrap="square" lIns="0" tIns="0" rIns="0" bIns="0" rtlCol="0"/>
            <a:lstStyle/>
            <a:p/>
          </p:txBody>
        </p:sp>
        <p:sp>
          <p:nvSpPr>
            <p:cNvPr id="372" name="object 372" descr=""/>
            <p:cNvSpPr/>
            <p:nvPr/>
          </p:nvSpPr>
          <p:spPr>
            <a:xfrm>
              <a:off x="4094361" y="3201350"/>
              <a:ext cx="85725" cy="29845"/>
            </a:xfrm>
            <a:custGeom>
              <a:avLst/>
              <a:gdLst/>
              <a:ahLst/>
              <a:cxnLst/>
              <a:rect l="l" t="t" r="r" b="b"/>
              <a:pathLst>
                <a:path w="85725" h="29844">
                  <a:moveTo>
                    <a:pt x="85331" y="0"/>
                  </a:moveTo>
                  <a:lnTo>
                    <a:pt x="0" y="19227"/>
                  </a:lnTo>
                  <a:lnTo>
                    <a:pt x="1333" y="29578"/>
                  </a:lnTo>
                  <a:lnTo>
                    <a:pt x="85331" y="3111"/>
                  </a:lnTo>
                  <a:lnTo>
                    <a:pt x="85331" y="0"/>
                  </a:lnTo>
                  <a:close/>
                </a:path>
              </a:pathLst>
            </a:custGeom>
            <a:solidFill>
              <a:srgbClr val="DFDFDF"/>
            </a:solidFill>
          </p:spPr>
          <p:txBody>
            <a:bodyPr wrap="square" lIns="0" tIns="0" rIns="0" bIns="0" rtlCol="0"/>
            <a:lstStyle/>
            <a:p/>
          </p:txBody>
        </p:sp>
        <p:sp>
          <p:nvSpPr>
            <p:cNvPr id="373" name="object 373" descr=""/>
            <p:cNvSpPr/>
            <p:nvPr/>
          </p:nvSpPr>
          <p:spPr>
            <a:xfrm>
              <a:off x="4072027" y="3201353"/>
              <a:ext cx="24130" cy="29845"/>
            </a:xfrm>
            <a:custGeom>
              <a:avLst/>
              <a:gdLst/>
              <a:ahLst/>
              <a:cxnLst/>
              <a:rect l="l" t="t" r="r" b="b"/>
              <a:pathLst>
                <a:path w="24129" h="29844">
                  <a:moveTo>
                    <a:pt x="0" y="0"/>
                  </a:moveTo>
                  <a:lnTo>
                    <a:pt x="203" y="4102"/>
                  </a:lnTo>
                  <a:lnTo>
                    <a:pt x="23799" y="29578"/>
                  </a:lnTo>
                  <a:lnTo>
                    <a:pt x="24003" y="20904"/>
                  </a:lnTo>
                  <a:lnTo>
                    <a:pt x="0" y="0"/>
                  </a:lnTo>
                  <a:close/>
                </a:path>
              </a:pathLst>
            </a:custGeom>
            <a:solidFill>
              <a:srgbClr val="FFFFFF"/>
            </a:solidFill>
          </p:spPr>
          <p:txBody>
            <a:bodyPr wrap="square" lIns="0" tIns="0" rIns="0" bIns="0" rtlCol="0"/>
            <a:lstStyle/>
            <a:p/>
          </p:txBody>
        </p:sp>
        <p:sp>
          <p:nvSpPr>
            <p:cNvPr id="374" name="object 374" descr=""/>
            <p:cNvSpPr/>
            <p:nvPr/>
          </p:nvSpPr>
          <p:spPr>
            <a:xfrm>
              <a:off x="4072027" y="3201353"/>
              <a:ext cx="24130" cy="29845"/>
            </a:xfrm>
            <a:custGeom>
              <a:avLst/>
              <a:gdLst/>
              <a:ahLst/>
              <a:cxnLst/>
              <a:rect l="l" t="t" r="r" b="b"/>
              <a:pathLst>
                <a:path w="24129" h="29844">
                  <a:moveTo>
                    <a:pt x="23799" y="29578"/>
                  </a:moveTo>
                  <a:lnTo>
                    <a:pt x="24003" y="20904"/>
                  </a:lnTo>
                  <a:lnTo>
                    <a:pt x="0" y="0"/>
                  </a:lnTo>
                  <a:lnTo>
                    <a:pt x="203" y="4102"/>
                  </a:lnTo>
                  <a:lnTo>
                    <a:pt x="23799" y="29578"/>
                  </a:lnTo>
                  <a:close/>
                </a:path>
              </a:pathLst>
            </a:custGeom>
            <a:ln w="3175">
              <a:solidFill>
                <a:srgbClr val="C2BAB3"/>
              </a:solidFill>
            </a:ln>
          </p:spPr>
          <p:txBody>
            <a:bodyPr wrap="square" lIns="0" tIns="0" rIns="0" bIns="0" rtlCol="0"/>
            <a:lstStyle/>
            <a:p/>
          </p:txBody>
        </p:sp>
        <p:sp>
          <p:nvSpPr>
            <p:cNvPr id="375" name="object 375" descr=""/>
            <p:cNvSpPr/>
            <p:nvPr/>
          </p:nvSpPr>
          <p:spPr>
            <a:xfrm>
              <a:off x="4072362" y="3197032"/>
              <a:ext cx="107950" cy="29845"/>
            </a:xfrm>
            <a:custGeom>
              <a:avLst/>
              <a:gdLst/>
              <a:ahLst/>
              <a:cxnLst/>
              <a:rect l="l" t="t" r="r" b="b"/>
              <a:pathLst>
                <a:path w="107950" h="29844">
                  <a:moveTo>
                    <a:pt x="102311" y="0"/>
                  </a:moveTo>
                  <a:lnTo>
                    <a:pt x="22072" y="20891"/>
                  </a:lnTo>
                  <a:lnTo>
                    <a:pt x="5486" y="3886"/>
                  </a:lnTo>
                  <a:lnTo>
                    <a:pt x="0" y="4279"/>
                  </a:lnTo>
                  <a:lnTo>
                    <a:pt x="23202" y="29591"/>
                  </a:lnTo>
                  <a:lnTo>
                    <a:pt x="107327" y="4737"/>
                  </a:lnTo>
                  <a:lnTo>
                    <a:pt x="102311" y="0"/>
                  </a:lnTo>
                  <a:close/>
                </a:path>
              </a:pathLst>
            </a:custGeom>
            <a:solidFill>
              <a:srgbClr val="A0A0A0"/>
            </a:solidFill>
          </p:spPr>
          <p:txBody>
            <a:bodyPr wrap="square" lIns="0" tIns="0" rIns="0" bIns="0" rtlCol="0"/>
            <a:lstStyle/>
            <a:p/>
          </p:txBody>
        </p:sp>
        <p:sp>
          <p:nvSpPr>
            <p:cNvPr id="376" name="object 376" descr=""/>
            <p:cNvSpPr/>
            <p:nvPr/>
          </p:nvSpPr>
          <p:spPr>
            <a:xfrm>
              <a:off x="4072362" y="3197032"/>
              <a:ext cx="107950" cy="29845"/>
            </a:xfrm>
            <a:custGeom>
              <a:avLst/>
              <a:gdLst/>
              <a:ahLst/>
              <a:cxnLst/>
              <a:rect l="l" t="t" r="r" b="b"/>
              <a:pathLst>
                <a:path w="107950" h="29844">
                  <a:moveTo>
                    <a:pt x="5486" y="3886"/>
                  </a:moveTo>
                  <a:lnTo>
                    <a:pt x="0" y="4279"/>
                  </a:lnTo>
                  <a:lnTo>
                    <a:pt x="23202" y="29591"/>
                  </a:lnTo>
                  <a:lnTo>
                    <a:pt x="107327" y="4737"/>
                  </a:lnTo>
                  <a:lnTo>
                    <a:pt x="102311" y="0"/>
                  </a:lnTo>
                  <a:lnTo>
                    <a:pt x="22072" y="20891"/>
                  </a:lnTo>
                  <a:lnTo>
                    <a:pt x="5486" y="3886"/>
                  </a:lnTo>
                  <a:close/>
                </a:path>
              </a:pathLst>
            </a:custGeom>
            <a:ln w="3175">
              <a:solidFill>
                <a:srgbClr val="B5ADA6"/>
              </a:solidFill>
            </a:ln>
          </p:spPr>
          <p:txBody>
            <a:bodyPr wrap="square" lIns="0" tIns="0" rIns="0" bIns="0" rtlCol="0"/>
            <a:lstStyle/>
            <a:p/>
          </p:txBody>
        </p:sp>
        <p:sp>
          <p:nvSpPr>
            <p:cNvPr id="377" name="object 377" descr=""/>
            <p:cNvSpPr/>
            <p:nvPr/>
          </p:nvSpPr>
          <p:spPr>
            <a:xfrm>
              <a:off x="4320211" y="3037636"/>
              <a:ext cx="80645" cy="19050"/>
            </a:xfrm>
            <a:custGeom>
              <a:avLst/>
              <a:gdLst/>
              <a:ahLst/>
              <a:cxnLst/>
              <a:rect l="l" t="t" r="r" b="b"/>
              <a:pathLst>
                <a:path w="80645" h="19050">
                  <a:moveTo>
                    <a:pt x="0" y="0"/>
                  </a:moveTo>
                  <a:lnTo>
                    <a:pt x="0" y="13627"/>
                  </a:lnTo>
                  <a:lnTo>
                    <a:pt x="80200" y="19037"/>
                  </a:lnTo>
                  <a:lnTo>
                    <a:pt x="80200" y="5245"/>
                  </a:lnTo>
                  <a:lnTo>
                    <a:pt x="0" y="0"/>
                  </a:lnTo>
                  <a:close/>
                </a:path>
              </a:pathLst>
            </a:custGeom>
            <a:solidFill>
              <a:srgbClr val="CACACA"/>
            </a:solidFill>
          </p:spPr>
          <p:txBody>
            <a:bodyPr wrap="square" lIns="0" tIns="0" rIns="0" bIns="0" rtlCol="0"/>
            <a:lstStyle/>
            <a:p/>
          </p:txBody>
        </p:sp>
        <p:sp>
          <p:nvSpPr>
            <p:cNvPr id="378" name="object 378" descr=""/>
            <p:cNvSpPr/>
            <p:nvPr/>
          </p:nvSpPr>
          <p:spPr>
            <a:xfrm>
              <a:off x="4291048" y="3037634"/>
              <a:ext cx="29209" cy="21590"/>
            </a:xfrm>
            <a:custGeom>
              <a:avLst/>
              <a:gdLst/>
              <a:ahLst/>
              <a:cxnLst/>
              <a:rect l="l" t="t" r="r" b="b"/>
              <a:pathLst>
                <a:path w="29210" h="21589">
                  <a:moveTo>
                    <a:pt x="29159" y="0"/>
                  </a:moveTo>
                  <a:lnTo>
                    <a:pt x="0" y="7823"/>
                  </a:lnTo>
                  <a:lnTo>
                    <a:pt x="0" y="21577"/>
                  </a:lnTo>
                  <a:lnTo>
                    <a:pt x="29159" y="13754"/>
                  </a:lnTo>
                  <a:lnTo>
                    <a:pt x="29159" y="0"/>
                  </a:lnTo>
                  <a:close/>
                </a:path>
              </a:pathLst>
            </a:custGeom>
            <a:solidFill>
              <a:srgbClr val="F5EDE6"/>
            </a:solidFill>
          </p:spPr>
          <p:txBody>
            <a:bodyPr wrap="square" lIns="0" tIns="0" rIns="0" bIns="0" rtlCol="0"/>
            <a:lstStyle/>
            <a:p/>
          </p:txBody>
        </p:sp>
        <p:sp>
          <p:nvSpPr>
            <p:cNvPr id="379" name="object 379" descr=""/>
            <p:cNvSpPr/>
            <p:nvPr/>
          </p:nvSpPr>
          <p:spPr>
            <a:xfrm>
              <a:off x="4291048" y="3037634"/>
              <a:ext cx="29209" cy="21590"/>
            </a:xfrm>
            <a:custGeom>
              <a:avLst/>
              <a:gdLst/>
              <a:ahLst/>
              <a:cxnLst/>
              <a:rect l="l" t="t" r="r" b="b"/>
              <a:pathLst>
                <a:path w="29210" h="21589">
                  <a:moveTo>
                    <a:pt x="0" y="7823"/>
                  </a:moveTo>
                  <a:lnTo>
                    <a:pt x="29159" y="0"/>
                  </a:lnTo>
                  <a:lnTo>
                    <a:pt x="29159" y="13754"/>
                  </a:lnTo>
                  <a:lnTo>
                    <a:pt x="0" y="21577"/>
                  </a:lnTo>
                  <a:lnTo>
                    <a:pt x="0" y="7823"/>
                  </a:lnTo>
                  <a:close/>
                </a:path>
              </a:pathLst>
            </a:custGeom>
            <a:ln w="3175">
              <a:solidFill>
                <a:srgbClr val="B5ADA6"/>
              </a:solidFill>
            </a:ln>
          </p:spPr>
          <p:txBody>
            <a:bodyPr wrap="square" lIns="0" tIns="0" rIns="0" bIns="0" rtlCol="0"/>
            <a:lstStyle/>
            <a:p/>
          </p:txBody>
        </p:sp>
        <p:sp>
          <p:nvSpPr>
            <p:cNvPr id="380" name="object 380" descr=""/>
            <p:cNvSpPr/>
            <p:nvPr/>
          </p:nvSpPr>
          <p:spPr>
            <a:xfrm>
              <a:off x="4291746" y="3041446"/>
              <a:ext cx="109855" cy="15875"/>
            </a:xfrm>
            <a:custGeom>
              <a:avLst/>
              <a:gdLst/>
              <a:ahLst/>
              <a:cxnLst/>
              <a:rect l="l" t="t" r="r" b="b"/>
              <a:pathLst>
                <a:path w="109854" h="15875">
                  <a:moveTo>
                    <a:pt x="30276" y="0"/>
                  </a:moveTo>
                  <a:lnTo>
                    <a:pt x="0" y="7200"/>
                  </a:lnTo>
                  <a:lnTo>
                    <a:pt x="83553" y="15862"/>
                  </a:lnTo>
                  <a:lnTo>
                    <a:pt x="103073" y="8242"/>
                  </a:lnTo>
                  <a:lnTo>
                    <a:pt x="106654" y="9766"/>
                  </a:lnTo>
                  <a:lnTo>
                    <a:pt x="109359" y="6083"/>
                  </a:lnTo>
                  <a:lnTo>
                    <a:pt x="30276" y="0"/>
                  </a:lnTo>
                  <a:close/>
                </a:path>
              </a:pathLst>
            </a:custGeom>
            <a:solidFill>
              <a:srgbClr val="9A9A9A"/>
            </a:solidFill>
          </p:spPr>
          <p:txBody>
            <a:bodyPr wrap="square" lIns="0" tIns="0" rIns="0" bIns="0" rtlCol="0"/>
            <a:lstStyle/>
            <a:p/>
          </p:txBody>
        </p:sp>
        <p:sp>
          <p:nvSpPr>
            <p:cNvPr id="381" name="object 381" descr=""/>
            <p:cNvSpPr/>
            <p:nvPr/>
          </p:nvSpPr>
          <p:spPr>
            <a:xfrm>
              <a:off x="4374372" y="3047151"/>
              <a:ext cx="20955" cy="210820"/>
            </a:xfrm>
            <a:custGeom>
              <a:avLst/>
              <a:gdLst/>
              <a:ahLst/>
              <a:cxnLst/>
              <a:rect l="l" t="t" r="r" b="b"/>
              <a:pathLst>
                <a:path w="20954" h="210820">
                  <a:moveTo>
                    <a:pt x="20065" y="0"/>
                  </a:moveTo>
                  <a:lnTo>
                    <a:pt x="1396" y="5308"/>
                  </a:lnTo>
                  <a:lnTo>
                    <a:pt x="0" y="5867"/>
                  </a:lnTo>
                  <a:lnTo>
                    <a:pt x="101" y="210680"/>
                  </a:lnTo>
                  <a:lnTo>
                    <a:pt x="20827" y="185064"/>
                  </a:lnTo>
                  <a:lnTo>
                    <a:pt x="20065" y="0"/>
                  </a:lnTo>
                  <a:close/>
                </a:path>
              </a:pathLst>
            </a:custGeom>
            <a:solidFill>
              <a:srgbClr val="F5EDE6"/>
            </a:solidFill>
          </p:spPr>
          <p:txBody>
            <a:bodyPr wrap="square" lIns="0" tIns="0" rIns="0" bIns="0" rtlCol="0"/>
            <a:lstStyle/>
            <a:p/>
          </p:txBody>
        </p:sp>
        <p:sp>
          <p:nvSpPr>
            <p:cNvPr id="382" name="object 382" descr=""/>
            <p:cNvSpPr/>
            <p:nvPr/>
          </p:nvSpPr>
          <p:spPr>
            <a:xfrm>
              <a:off x="4374372" y="3047151"/>
              <a:ext cx="20955" cy="210820"/>
            </a:xfrm>
            <a:custGeom>
              <a:avLst/>
              <a:gdLst/>
              <a:ahLst/>
              <a:cxnLst/>
              <a:rect l="l" t="t" r="r" b="b"/>
              <a:pathLst>
                <a:path w="20954" h="210820">
                  <a:moveTo>
                    <a:pt x="20065" y="0"/>
                  </a:moveTo>
                  <a:lnTo>
                    <a:pt x="18884" y="241"/>
                  </a:lnTo>
                  <a:lnTo>
                    <a:pt x="17741" y="635"/>
                  </a:lnTo>
                  <a:lnTo>
                    <a:pt x="16586" y="952"/>
                  </a:lnTo>
                  <a:lnTo>
                    <a:pt x="15341" y="1422"/>
                  </a:lnTo>
                  <a:lnTo>
                    <a:pt x="14185" y="1663"/>
                  </a:lnTo>
                  <a:lnTo>
                    <a:pt x="12966" y="1981"/>
                  </a:lnTo>
                  <a:lnTo>
                    <a:pt x="11722" y="2374"/>
                  </a:lnTo>
                  <a:lnTo>
                    <a:pt x="10464" y="2781"/>
                  </a:lnTo>
                  <a:lnTo>
                    <a:pt x="9220" y="3098"/>
                  </a:lnTo>
                  <a:lnTo>
                    <a:pt x="7962" y="3416"/>
                  </a:lnTo>
                  <a:lnTo>
                    <a:pt x="6680" y="3733"/>
                  </a:lnTo>
                  <a:lnTo>
                    <a:pt x="5359" y="4203"/>
                  </a:lnTo>
                  <a:lnTo>
                    <a:pt x="4063" y="4521"/>
                  </a:lnTo>
                  <a:lnTo>
                    <a:pt x="2717" y="4991"/>
                  </a:lnTo>
                  <a:lnTo>
                    <a:pt x="1396" y="5308"/>
                  </a:lnTo>
                  <a:lnTo>
                    <a:pt x="0" y="5867"/>
                  </a:lnTo>
                  <a:lnTo>
                    <a:pt x="38" y="18249"/>
                  </a:lnTo>
                  <a:lnTo>
                    <a:pt x="38" y="30772"/>
                  </a:lnTo>
                  <a:lnTo>
                    <a:pt x="38" y="106603"/>
                  </a:lnTo>
                  <a:lnTo>
                    <a:pt x="63" y="119380"/>
                  </a:lnTo>
                  <a:lnTo>
                    <a:pt x="63" y="132308"/>
                  </a:lnTo>
                  <a:lnTo>
                    <a:pt x="63" y="145237"/>
                  </a:lnTo>
                  <a:lnTo>
                    <a:pt x="63" y="158330"/>
                  </a:lnTo>
                  <a:lnTo>
                    <a:pt x="101" y="171259"/>
                  </a:lnTo>
                  <a:lnTo>
                    <a:pt x="101" y="184264"/>
                  </a:lnTo>
                  <a:lnTo>
                    <a:pt x="101" y="197510"/>
                  </a:lnTo>
                  <a:lnTo>
                    <a:pt x="101" y="210680"/>
                  </a:lnTo>
                  <a:lnTo>
                    <a:pt x="1523" y="208775"/>
                  </a:lnTo>
                  <a:lnTo>
                    <a:pt x="2920" y="207111"/>
                  </a:lnTo>
                  <a:lnTo>
                    <a:pt x="4317" y="205371"/>
                  </a:lnTo>
                  <a:lnTo>
                    <a:pt x="5638" y="203695"/>
                  </a:lnTo>
                  <a:lnTo>
                    <a:pt x="7023" y="202031"/>
                  </a:lnTo>
                  <a:lnTo>
                    <a:pt x="8343" y="200367"/>
                  </a:lnTo>
                  <a:lnTo>
                    <a:pt x="9702" y="198704"/>
                  </a:lnTo>
                  <a:lnTo>
                    <a:pt x="10960" y="197116"/>
                  </a:lnTo>
                  <a:lnTo>
                    <a:pt x="12242" y="195529"/>
                  </a:lnTo>
                  <a:lnTo>
                    <a:pt x="13487" y="194017"/>
                  </a:lnTo>
                  <a:lnTo>
                    <a:pt x="14744" y="192443"/>
                  </a:lnTo>
                  <a:lnTo>
                    <a:pt x="15963" y="191008"/>
                  </a:lnTo>
                  <a:lnTo>
                    <a:pt x="17246" y="189420"/>
                  </a:lnTo>
                  <a:lnTo>
                    <a:pt x="18427" y="187998"/>
                  </a:lnTo>
                  <a:lnTo>
                    <a:pt x="19646" y="186486"/>
                  </a:lnTo>
                  <a:lnTo>
                    <a:pt x="20827" y="185064"/>
                  </a:lnTo>
                  <a:lnTo>
                    <a:pt x="20789" y="173240"/>
                  </a:lnTo>
                  <a:lnTo>
                    <a:pt x="20688" y="161417"/>
                  </a:lnTo>
                  <a:lnTo>
                    <a:pt x="20662" y="149517"/>
                  </a:lnTo>
                  <a:lnTo>
                    <a:pt x="20586" y="137858"/>
                  </a:lnTo>
                  <a:lnTo>
                    <a:pt x="20548" y="125958"/>
                  </a:lnTo>
                  <a:lnTo>
                    <a:pt x="20523" y="114388"/>
                  </a:lnTo>
                  <a:lnTo>
                    <a:pt x="20485" y="102717"/>
                  </a:lnTo>
                  <a:lnTo>
                    <a:pt x="20383" y="91224"/>
                  </a:lnTo>
                  <a:lnTo>
                    <a:pt x="20383" y="79641"/>
                  </a:lnTo>
                  <a:lnTo>
                    <a:pt x="20307" y="68135"/>
                  </a:lnTo>
                  <a:lnTo>
                    <a:pt x="20307" y="56642"/>
                  </a:lnTo>
                  <a:lnTo>
                    <a:pt x="20243" y="45288"/>
                  </a:lnTo>
                  <a:lnTo>
                    <a:pt x="20205" y="33870"/>
                  </a:lnTo>
                  <a:lnTo>
                    <a:pt x="20167" y="22529"/>
                  </a:lnTo>
                  <a:lnTo>
                    <a:pt x="20129" y="11264"/>
                  </a:lnTo>
                  <a:lnTo>
                    <a:pt x="20065" y="0"/>
                  </a:lnTo>
                  <a:close/>
                </a:path>
              </a:pathLst>
            </a:custGeom>
            <a:ln w="3175">
              <a:solidFill>
                <a:srgbClr val="B5ADA6"/>
              </a:solidFill>
            </a:ln>
          </p:spPr>
          <p:txBody>
            <a:bodyPr wrap="square" lIns="0" tIns="0" rIns="0" bIns="0" rtlCol="0"/>
            <a:lstStyle/>
            <a:p/>
          </p:txBody>
        </p:sp>
        <p:sp>
          <p:nvSpPr>
            <p:cNvPr id="383" name="object 383" descr=""/>
            <p:cNvSpPr/>
            <p:nvPr/>
          </p:nvSpPr>
          <p:spPr>
            <a:xfrm>
              <a:off x="4382795" y="3063176"/>
              <a:ext cx="5080" cy="129539"/>
            </a:xfrm>
            <a:custGeom>
              <a:avLst/>
              <a:gdLst/>
              <a:ahLst/>
              <a:cxnLst/>
              <a:rect l="l" t="t" r="r" b="b"/>
              <a:pathLst>
                <a:path w="5079" h="129539">
                  <a:moveTo>
                    <a:pt x="4597" y="1270"/>
                  </a:moveTo>
                  <a:lnTo>
                    <a:pt x="4432" y="1270"/>
                  </a:lnTo>
                  <a:lnTo>
                    <a:pt x="4432" y="0"/>
                  </a:lnTo>
                  <a:lnTo>
                    <a:pt x="2222" y="0"/>
                  </a:lnTo>
                  <a:lnTo>
                    <a:pt x="2222" y="1270"/>
                  </a:lnTo>
                  <a:lnTo>
                    <a:pt x="0" y="1270"/>
                  </a:lnTo>
                  <a:lnTo>
                    <a:pt x="0" y="124460"/>
                  </a:lnTo>
                  <a:lnTo>
                    <a:pt x="101" y="129540"/>
                  </a:lnTo>
                  <a:lnTo>
                    <a:pt x="2476" y="129540"/>
                  </a:lnTo>
                  <a:lnTo>
                    <a:pt x="2476" y="124460"/>
                  </a:lnTo>
                  <a:lnTo>
                    <a:pt x="4597" y="124460"/>
                  </a:lnTo>
                  <a:lnTo>
                    <a:pt x="4597" y="1270"/>
                  </a:lnTo>
                  <a:close/>
                </a:path>
              </a:pathLst>
            </a:custGeom>
            <a:solidFill>
              <a:srgbClr val="544C45"/>
            </a:solidFill>
          </p:spPr>
          <p:txBody>
            <a:bodyPr wrap="square" lIns="0" tIns="0" rIns="0" bIns="0" rtlCol="0"/>
            <a:lstStyle/>
            <a:p/>
          </p:txBody>
        </p:sp>
        <p:sp>
          <p:nvSpPr>
            <p:cNvPr id="384" name="object 384" descr=""/>
            <p:cNvSpPr/>
            <p:nvPr/>
          </p:nvSpPr>
          <p:spPr>
            <a:xfrm>
              <a:off x="4384447" y="3061742"/>
              <a:ext cx="1270" cy="130810"/>
            </a:xfrm>
            <a:custGeom>
              <a:avLst/>
              <a:gdLst/>
              <a:ahLst/>
              <a:cxnLst/>
              <a:rect l="l" t="t" r="r" b="b"/>
              <a:pathLst>
                <a:path w="1270" h="130810">
                  <a:moveTo>
                    <a:pt x="634" y="0"/>
                  </a:moveTo>
                  <a:lnTo>
                    <a:pt x="317" y="0"/>
                  </a:lnTo>
                  <a:lnTo>
                    <a:pt x="0" y="241"/>
                  </a:lnTo>
                  <a:lnTo>
                    <a:pt x="393" y="130721"/>
                  </a:lnTo>
                  <a:lnTo>
                    <a:pt x="1041" y="130251"/>
                  </a:lnTo>
                  <a:lnTo>
                    <a:pt x="634" y="0"/>
                  </a:lnTo>
                  <a:close/>
                </a:path>
              </a:pathLst>
            </a:custGeom>
            <a:solidFill>
              <a:srgbClr val="F5EDE6"/>
            </a:solidFill>
          </p:spPr>
          <p:txBody>
            <a:bodyPr wrap="square" lIns="0" tIns="0" rIns="0" bIns="0" rtlCol="0"/>
            <a:lstStyle/>
            <a:p/>
          </p:txBody>
        </p:sp>
        <p:sp>
          <p:nvSpPr>
            <p:cNvPr id="385" name="object 385" descr=""/>
            <p:cNvSpPr/>
            <p:nvPr/>
          </p:nvSpPr>
          <p:spPr>
            <a:xfrm>
              <a:off x="4384966" y="3071267"/>
              <a:ext cx="0" cy="112395"/>
            </a:xfrm>
            <a:custGeom>
              <a:avLst/>
              <a:gdLst/>
              <a:ahLst/>
              <a:cxnLst/>
              <a:rect l="l" t="t" r="r" b="b"/>
              <a:pathLst>
                <a:path w="0" h="112394">
                  <a:moveTo>
                    <a:pt x="0" y="0"/>
                  </a:moveTo>
                  <a:lnTo>
                    <a:pt x="0" y="112316"/>
                  </a:lnTo>
                </a:path>
              </a:pathLst>
            </a:custGeom>
            <a:ln w="6602">
              <a:solidFill>
                <a:srgbClr val="F5EDE6"/>
              </a:solidFill>
              <a:prstDash val="sysDot"/>
            </a:ln>
          </p:spPr>
          <p:txBody>
            <a:bodyPr wrap="square" lIns="0" tIns="0" rIns="0" bIns="0" rtlCol="0"/>
            <a:lstStyle/>
            <a:p/>
          </p:txBody>
        </p:sp>
        <p:sp>
          <p:nvSpPr>
            <p:cNvPr id="386" name="object 386" descr=""/>
            <p:cNvSpPr/>
            <p:nvPr/>
          </p:nvSpPr>
          <p:spPr>
            <a:xfrm>
              <a:off x="4381672" y="3192473"/>
              <a:ext cx="6985" cy="31115"/>
            </a:xfrm>
            <a:custGeom>
              <a:avLst/>
              <a:gdLst/>
              <a:ahLst/>
              <a:cxnLst/>
              <a:rect l="l" t="t" r="r" b="b"/>
              <a:pathLst>
                <a:path w="6985" h="31114">
                  <a:moveTo>
                    <a:pt x="6858" y="0"/>
                  </a:moveTo>
                  <a:lnTo>
                    <a:pt x="6464" y="393"/>
                  </a:lnTo>
                  <a:lnTo>
                    <a:pt x="6032" y="800"/>
                  </a:lnTo>
                  <a:lnTo>
                    <a:pt x="5626" y="1282"/>
                  </a:lnTo>
                  <a:lnTo>
                    <a:pt x="4787" y="2082"/>
                  </a:lnTo>
                  <a:lnTo>
                    <a:pt x="4381" y="2565"/>
                  </a:lnTo>
                  <a:lnTo>
                    <a:pt x="3911" y="2959"/>
                  </a:lnTo>
                  <a:lnTo>
                    <a:pt x="3086" y="3937"/>
                  </a:lnTo>
                  <a:lnTo>
                    <a:pt x="2616" y="4343"/>
                  </a:lnTo>
                  <a:lnTo>
                    <a:pt x="1765" y="5372"/>
                  </a:lnTo>
                  <a:lnTo>
                    <a:pt x="431" y="6743"/>
                  </a:lnTo>
                  <a:lnTo>
                    <a:pt x="0" y="7315"/>
                  </a:lnTo>
                  <a:lnTo>
                    <a:pt x="63" y="31089"/>
                  </a:lnTo>
                  <a:lnTo>
                    <a:pt x="495" y="30530"/>
                  </a:lnTo>
                  <a:lnTo>
                    <a:pt x="495" y="8686"/>
                  </a:lnTo>
                  <a:lnTo>
                    <a:pt x="927" y="8191"/>
                  </a:lnTo>
                  <a:lnTo>
                    <a:pt x="1295" y="7874"/>
                  </a:lnTo>
                  <a:lnTo>
                    <a:pt x="1663" y="7391"/>
                  </a:lnTo>
                  <a:lnTo>
                    <a:pt x="2044" y="7073"/>
                  </a:lnTo>
                  <a:lnTo>
                    <a:pt x="2438" y="6591"/>
                  </a:lnTo>
                  <a:lnTo>
                    <a:pt x="2768" y="6273"/>
                  </a:lnTo>
                  <a:lnTo>
                    <a:pt x="3175" y="5778"/>
                  </a:lnTo>
                  <a:lnTo>
                    <a:pt x="3517" y="5461"/>
                  </a:lnTo>
                  <a:lnTo>
                    <a:pt x="3886" y="4902"/>
                  </a:lnTo>
                  <a:lnTo>
                    <a:pt x="4241" y="4572"/>
                  </a:lnTo>
                  <a:lnTo>
                    <a:pt x="4622" y="4102"/>
                  </a:lnTo>
                  <a:lnTo>
                    <a:pt x="4953" y="3860"/>
                  </a:lnTo>
                  <a:lnTo>
                    <a:pt x="5321" y="3378"/>
                  </a:lnTo>
                  <a:lnTo>
                    <a:pt x="5702" y="3048"/>
                  </a:lnTo>
                  <a:lnTo>
                    <a:pt x="6400" y="2324"/>
                  </a:lnTo>
                  <a:lnTo>
                    <a:pt x="6464" y="4902"/>
                  </a:lnTo>
                  <a:lnTo>
                    <a:pt x="6502" y="23456"/>
                  </a:lnTo>
                  <a:lnTo>
                    <a:pt x="6934" y="22974"/>
                  </a:lnTo>
                  <a:lnTo>
                    <a:pt x="6858" y="0"/>
                  </a:lnTo>
                  <a:close/>
                </a:path>
              </a:pathLst>
            </a:custGeom>
            <a:solidFill>
              <a:srgbClr val="B5ADA6"/>
            </a:solidFill>
          </p:spPr>
          <p:txBody>
            <a:bodyPr wrap="square" lIns="0" tIns="0" rIns="0" bIns="0" rtlCol="0"/>
            <a:lstStyle/>
            <a:p/>
          </p:txBody>
        </p:sp>
        <p:sp>
          <p:nvSpPr>
            <p:cNvPr id="387" name="object 387" descr=""/>
            <p:cNvSpPr/>
            <p:nvPr/>
          </p:nvSpPr>
          <p:spPr>
            <a:xfrm>
              <a:off x="4382711" y="3196915"/>
              <a:ext cx="5715" cy="25400"/>
            </a:xfrm>
            <a:custGeom>
              <a:avLst/>
              <a:gdLst/>
              <a:ahLst/>
              <a:cxnLst/>
              <a:rect l="l" t="t" r="r" b="b"/>
              <a:pathLst>
                <a:path w="5714" h="25400">
                  <a:moveTo>
                    <a:pt x="5156" y="0"/>
                  </a:moveTo>
                  <a:lnTo>
                    <a:pt x="4533" y="558"/>
                  </a:lnTo>
                  <a:lnTo>
                    <a:pt x="3860" y="1193"/>
                  </a:lnTo>
                  <a:lnTo>
                    <a:pt x="2603" y="2565"/>
                  </a:lnTo>
                  <a:lnTo>
                    <a:pt x="1955" y="3124"/>
                  </a:lnTo>
                  <a:lnTo>
                    <a:pt x="0" y="5308"/>
                  </a:lnTo>
                  <a:lnTo>
                    <a:pt x="0" y="25387"/>
                  </a:lnTo>
                  <a:lnTo>
                    <a:pt x="1371" y="23850"/>
                  </a:lnTo>
                  <a:lnTo>
                    <a:pt x="1993" y="23050"/>
                  </a:lnTo>
                  <a:lnTo>
                    <a:pt x="5194" y="19519"/>
                  </a:lnTo>
                  <a:lnTo>
                    <a:pt x="5194" y="2336"/>
                  </a:lnTo>
                  <a:lnTo>
                    <a:pt x="5156" y="0"/>
                  </a:lnTo>
                  <a:close/>
                </a:path>
              </a:pathLst>
            </a:custGeom>
            <a:solidFill>
              <a:srgbClr val="756E66"/>
            </a:solidFill>
          </p:spPr>
          <p:txBody>
            <a:bodyPr wrap="square" lIns="0" tIns="0" rIns="0" bIns="0" rtlCol="0"/>
            <a:lstStyle/>
            <a:p/>
          </p:txBody>
        </p:sp>
        <p:sp>
          <p:nvSpPr>
            <p:cNvPr id="388" name="object 388" descr=""/>
            <p:cNvSpPr/>
            <p:nvPr/>
          </p:nvSpPr>
          <p:spPr>
            <a:xfrm>
              <a:off x="4383405" y="3221661"/>
              <a:ext cx="4445" cy="24765"/>
            </a:xfrm>
            <a:custGeom>
              <a:avLst/>
              <a:gdLst/>
              <a:ahLst/>
              <a:cxnLst/>
              <a:rect l="l" t="t" r="r" b="b"/>
              <a:pathLst>
                <a:path w="4445" h="24764">
                  <a:moveTo>
                    <a:pt x="3784" y="0"/>
                  </a:moveTo>
                  <a:lnTo>
                    <a:pt x="3314" y="558"/>
                  </a:lnTo>
                  <a:lnTo>
                    <a:pt x="2400" y="1752"/>
                  </a:lnTo>
                  <a:lnTo>
                    <a:pt x="1879" y="2324"/>
                  </a:lnTo>
                  <a:lnTo>
                    <a:pt x="0" y="4737"/>
                  </a:lnTo>
                  <a:lnTo>
                    <a:pt x="0" y="24739"/>
                  </a:lnTo>
                  <a:lnTo>
                    <a:pt x="165" y="24587"/>
                  </a:lnTo>
                  <a:lnTo>
                    <a:pt x="228" y="24422"/>
                  </a:lnTo>
                  <a:lnTo>
                    <a:pt x="228" y="8166"/>
                  </a:lnTo>
                  <a:lnTo>
                    <a:pt x="190" y="6007"/>
                  </a:lnTo>
                  <a:lnTo>
                    <a:pt x="3479" y="2082"/>
                  </a:lnTo>
                  <a:lnTo>
                    <a:pt x="3556" y="20180"/>
                  </a:lnTo>
                  <a:lnTo>
                    <a:pt x="3644" y="19862"/>
                  </a:lnTo>
                  <a:lnTo>
                    <a:pt x="3822" y="19710"/>
                  </a:lnTo>
                  <a:lnTo>
                    <a:pt x="3822" y="2400"/>
                  </a:lnTo>
                  <a:lnTo>
                    <a:pt x="3784" y="0"/>
                  </a:lnTo>
                  <a:close/>
                </a:path>
              </a:pathLst>
            </a:custGeom>
            <a:solidFill>
              <a:srgbClr val="B5ADA6"/>
            </a:solidFill>
          </p:spPr>
          <p:txBody>
            <a:bodyPr wrap="square" lIns="0" tIns="0" rIns="0" bIns="0" rtlCol="0"/>
            <a:lstStyle/>
            <a:p/>
          </p:txBody>
        </p:sp>
        <p:sp>
          <p:nvSpPr>
            <p:cNvPr id="389" name="object 389" descr=""/>
            <p:cNvSpPr/>
            <p:nvPr/>
          </p:nvSpPr>
          <p:spPr>
            <a:xfrm>
              <a:off x="4383751" y="3225468"/>
              <a:ext cx="3175" cy="20320"/>
            </a:xfrm>
            <a:custGeom>
              <a:avLst/>
              <a:gdLst/>
              <a:ahLst/>
              <a:cxnLst/>
              <a:rect l="l" t="t" r="r" b="b"/>
              <a:pathLst>
                <a:path w="3175" h="20319">
                  <a:moveTo>
                    <a:pt x="3086" y="0"/>
                  </a:moveTo>
                  <a:lnTo>
                    <a:pt x="2705" y="317"/>
                  </a:lnTo>
                  <a:lnTo>
                    <a:pt x="2324" y="800"/>
                  </a:lnTo>
                  <a:lnTo>
                    <a:pt x="1536" y="1663"/>
                  </a:lnTo>
                  <a:lnTo>
                    <a:pt x="1155" y="1981"/>
                  </a:lnTo>
                  <a:lnTo>
                    <a:pt x="787" y="2540"/>
                  </a:lnTo>
                  <a:lnTo>
                    <a:pt x="406" y="2857"/>
                  </a:lnTo>
                  <a:lnTo>
                    <a:pt x="0" y="3416"/>
                  </a:lnTo>
                  <a:lnTo>
                    <a:pt x="0" y="20307"/>
                  </a:lnTo>
                  <a:lnTo>
                    <a:pt x="825" y="19202"/>
                  </a:lnTo>
                  <a:lnTo>
                    <a:pt x="2362" y="17373"/>
                  </a:lnTo>
                  <a:lnTo>
                    <a:pt x="3111" y="16586"/>
                  </a:lnTo>
                  <a:lnTo>
                    <a:pt x="3111" y="1981"/>
                  </a:lnTo>
                  <a:lnTo>
                    <a:pt x="3086" y="0"/>
                  </a:lnTo>
                  <a:close/>
                </a:path>
              </a:pathLst>
            </a:custGeom>
            <a:solidFill>
              <a:srgbClr val="756E66"/>
            </a:solidFill>
          </p:spPr>
          <p:txBody>
            <a:bodyPr wrap="square" lIns="0" tIns="0" rIns="0" bIns="0" rtlCol="0"/>
            <a:lstStyle/>
            <a:p/>
          </p:txBody>
        </p:sp>
        <p:sp>
          <p:nvSpPr>
            <p:cNvPr id="390" name="object 390" descr=""/>
            <p:cNvSpPr/>
            <p:nvPr/>
          </p:nvSpPr>
          <p:spPr>
            <a:xfrm>
              <a:off x="4394162" y="3045879"/>
              <a:ext cx="4445" cy="186690"/>
            </a:xfrm>
            <a:custGeom>
              <a:avLst/>
              <a:gdLst/>
              <a:ahLst/>
              <a:cxnLst/>
              <a:rect l="l" t="t" r="r" b="b"/>
              <a:pathLst>
                <a:path w="4445" h="186689">
                  <a:moveTo>
                    <a:pt x="4165" y="0"/>
                  </a:moveTo>
                  <a:lnTo>
                    <a:pt x="1993" y="0"/>
                  </a:lnTo>
                  <a:lnTo>
                    <a:pt x="1993" y="1270"/>
                  </a:lnTo>
                  <a:lnTo>
                    <a:pt x="0" y="1270"/>
                  </a:lnTo>
                  <a:lnTo>
                    <a:pt x="0" y="186690"/>
                  </a:lnTo>
                  <a:lnTo>
                    <a:pt x="4165" y="186690"/>
                  </a:lnTo>
                  <a:lnTo>
                    <a:pt x="4165" y="1270"/>
                  </a:lnTo>
                  <a:lnTo>
                    <a:pt x="4165" y="0"/>
                  </a:lnTo>
                  <a:close/>
                </a:path>
              </a:pathLst>
            </a:custGeom>
            <a:solidFill>
              <a:srgbClr val="8C7D6B"/>
            </a:solidFill>
          </p:spPr>
          <p:txBody>
            <a:bodyPr wrap="square" lIns="0" tIns="0" rIns="0" bIns="0" rtlCol="0"/>
            <a:lstStyle/>
            <a:p/>
          </p:txBody>
        </p:sp>
        <p:sp>
          <p:nvSpPr>
            <p:cNvPr id="391" name="object 391" descr=""/>
            <p:cNvSpPr/>
            <p:nvPr/>
          </p:nvSpPr>
          <p:spPr>
            <a:xfrm>
              <a:off x="4398315" y="3045879"/>
              <a:ext cx="3175" cy="186690"/>
            </a:xfrm>
            <a:custGeom>
              <a:avLst/>
              <a:gdLst/>
              <a:ahLst/>
              <a:cxnLst/>
              <a:rect l="l" t="t" r="r" b="b"/>
              <a:pathLst>
                <a:path w="3175" h="186689">
                  <a:moveTo>
                    <a:pt x="2781" y="0"/>
                  </a:moveTo>
                  <a:lnTo>
                    <a:pt x="0" y="0"/>
                  </a:lnTo>
                  <a:lnTo>
                    <a:pt x="0" y="185420"/>
                  </a:lnTo>
                  <a:lnTo>
                    <a:pt x="0" y="186690"/>
                  </a:lnTo>
                  <a:lnTo>
                    <a:pt x="2133" y="186690"/>
                  </a:lnTo>
                  <a:lnTo>
                    <a:pt x="2133" y="185420"/>
                  </a:lnTo>
                  <a:lnTo>
                    <a:pt x="2781" y="185420"/>
                  </a:lnTo>
                  <a:lnTo>
                    <a:pt x="2781" y="0"/>
                  </a:lnTo>
                  <a:close/>
                </a:path>
              </a:pathLst>
            </a:custGeom>
            <a:solidFill>
              <a:srgbClr val="BFB09E"/>
            </a:solidFill>
          </p:spPr>
          <p:txBody>
            <a:bodyPr wrap="square" lIns="0" tIns="0" rIns="0" bIns="0" rtlCol="0"/>
            <a:lstStyle/>
            <a:p/>
          </p:txBody>
        </p:sp>
        <p:sp>
          <p:nvSpPr>
            <p:cNvPr id="392" name="object 392" descr=""/>
            <p:cNvSpPr/>
            <p:nvPr/>
          </p:nvSpPr>
          <p:spPr>
            <a:xfrm>
              <a:off x="4290701" y="3046520"/>
              <a:ext cx="84455" cy="211454"/>
            </a:xfrm>
            <a:custGeom>
              <a:avLst/>
              <a:gdLst/>
              <a:ahLst/>
              <a:cxnLst/>
              <a:rect l="l" t="t" r="r" b="b"/>
              <a:pathLst>
                <a:path w="84454" h="211454">
                  <a:moveTo>
                    <a:pt x="0" y="0"/>
                  </a:moveTo>
                  <a:lnTo>
                    <a:pt x="901" y="183972"/>
                  </a:lnTo>
                  <a:lnTo>
                    <a:pt x="84366" y="211315"/>
                  </a:lnTo>
                  <a:lnTo>
                    <a:pt x="84366" y="6337"/>
                  </a:lnTo>
                  <a:lnTo>
                    <a:pt x="4851" y="228"/>
                  </a:lnTo>
                  <a:lnTo>
                    <a:pt x="0" y="0"/>
                  </a:lnTo>
                  <a:close/>
                </a:path>
              </a:pathLst>
            </a:custGeom>
            <a:solidFill>
              <a:srgbClr val="C0C0C0"/>
            </a:solidFill>
          </p:spPr>
          <p:txBody>
            <a:bodyPr wrap="square" lIns="0" tIns="0" rIns="0" bIns="0" rtlCol="0"/>
            <a:lstStyle/>
            <a:p/>
          </p:txBody>
        </p:sp>
        <p:sp>
          <p:nvSpPr>
            <p:cNvPr id="393" name="object 393" descr=""/>
            <p:cNvSpPr/>
            <p:nvPr/>
          </p:nvSpPr>
          <p:spPr>
            <a:xfrm>
              <a:off x="4322986" y="3048417"/>
              <a:ext cx="16510" cy="197485"/>
            </a:xfrm>
            <a:custGeom>
              <a:avLst/>
              <a:gdLst/>
              <a:ahLst/>
              <a:cxnLst/>
              <a:rect l="l" t="t" r="r" b="b"/>
              <a:pathLst>
                <a:path w="16510" h="197485">
                  <a:moveTo>
                    <a:pt x="0" y="0"/>
                  </a:moveTo>
                  <a:lnTo>
                    <a:pt x="584" y="192354"/>
                  </a:lnTo>
                  <a:lnTo>
                    <a:pt x="15976" y="197357"/>
                  </a:lnTo>
                  <a:lnTo>
                    <a:pt x="15532" y="1193"/>
                  </a:lnTo>
                  <a:lnTo>
                    <a:pt x="7721" y="634"/>
                  </a:lnTo>
                  <a:lnTo>
                    <a:pt x="0" y="0"/>
                  </a:lnTo>
                  <a:close/>
                </a:path>
              </a:pathLst>
            </a:custGeom>
            <a:solidFill>
              <a:srgbClr val="CACACA"/>
            </a:solidFill>
          </p:spPr>
          <p:txBody>
            <a:bodyPr wrap="square" lIns="0" tIns="0" rIns="0" bIns="0" rtlCol="0"/>
            <a:lstStyle/>
            <a:p/>
          </p:txBody>
        </p:sp>
        <p:sp>
          <p:nvSpPr>
            <p:cNvPr id="394" name="object 394" descr=""/>
            <p:cNvSpPr/>
            <p:nvPr/>
          </p:nvSpPr>
          <p:spPr>
            <a:xfrm>
              <a:off x="4327855" y="3058576"/>
              <a:ext cx="6985" cy="151765"/>
            </a:xfrm>
            <a:custGeom>
              <a:avLst/>
              <a:gdLst/>
              <a:ahLst/>
              <a:cxnLst/>
              <a:rect l="l" t="t" r="r" b="b"/>
              <a:pathLst>
                <a:path w="6985" h="151764">
                  <a:moveTo>
                    <a:pt x="0" y="0"/>
                  </a:moveTo>
                  <a:lnTo>
                    <a:pt x="457" y="149910"/>
                  </a:lnTo>
                  <a:lnTo>
                    <a:pt x="6591" y="151663"/>
                  </a:lnTo>
                  <a:lnTo>
                    <a:pt x="6273" y="469"/>
                  </a:lnTo>
                  <a:lnTo>
                    <a:pt x="0" y="0"/>
                  </a:lnTo>
                  <a:close/>
                </a:path>
              </a:pathLst>
            </a:custGeom>
            <a:solidFill>
              <a:srgbClr val="242424"/>
            </a:solidFill>
          </p:spPr>
          <p:txBody>
            <a:bodyPr wrap="square" lIns="0" tIns="0" rIns="0" bIns="0" rtlCol="0"/>
            <a:lstStyle/>
            <a:p/>
          </p:txBody>
        </p:sp>
        <p:sp>
          <p:nvSpPr>
            <p:cNvPr id="395" name="object 395" descr=""/>
            <p:cNvSpPr/>
            <p:nvPr/>
          </p:nvSpPr>
          <p:spPr>
            <a:xfrm>
              <a:off x="4330633" y="3056667"/>
              <a:ext cx="1270" cy="159385"/>
            </a:xfrm>
            <a:custGeom>
              <a:avLst/>
              <a:gdLst/>
              <a:ahLst/>
              <a:cxnLst/>
              <a:rect l="l" t="t" r="r" b="b"/>
              <a:pathLst>
                <a:path w="1270" h="159385">
                  <a:moveTo>
                    <a:pt x="660" y="0"/>
                  </a:moveTo>
                  <a:lnTo>
                    <a:pt x="330" y="0"/>
                  </a:lnTo>
                  <a:lnTo>
                    <a:pt x="0" y="0"/>
                  </a:lnTo>
                  <a:lnTo>
                    <a:pt x="431" y="158965"/>
                  </a:lnTo>
                  <a:lnTo>
                    <a:pt x="1041" y="159283"/>
                  </a:lnTo>
                  <a:lnTo>
                    <a:pt x="660" y="0"/>
                  </a:lnTo>
                  <a:close/>
                </a:path>
              </a:pathLst>
            </a:custGeom>
            <a:solidFill>
              <a:srgbClr val="CACACA"/>
            </a:solidFill>
          </p:spPr>
          <p:txBody>
            <a:bodyPr wrap="square" lIns="0" tIns="0" rIns="0" bIns="0" rtlCol="0"/>
            <a:lstStyle/>
            <a:p/>
          </p:txBody>
        </p:sp>
        <p:sp>
          <p:nvSpPr>
            <p:cNvPr id="396" name="object 396" descr=""/>
            <p:cNvSpPr/>
            <p:nvPr/>
          </p:nvSpPr>
          <p:spPr>
            <a:xfrm>
              <a:off x="4331321" y="3067457"/>
              <a:ext cx="0" cy="132715"/>
            </a:xfrm>
            <a:custGeom>
              <a:avLst/>
              <a:gdLst/>
              <a:ahLst/>
              <a:cxnLst/>
              <a:rect l="l" t="t" r="r" b="b"/>
              <a:pathLst>
                <a:path w="0" h="132714">
                  <a:moveTo>
                    <a:pt x="0" y="0"/>
                  </a:moveTo>
                  <a:lnTo>
                    <a:pt x="0" y="132628"/>
                  </a:lnTo>
                </a:path>
              </a:pathLst>
            </a:custGeom>
            <a:ln w="8335">
              <a:solidFill>
                <a:srgbClr val="CACACA"/>
              </a:solidFill>
              <a:prstDash val="sysDot"/>
            </a:ln>
          </p:spPr>
          <p:txBody>
            <a:bodyPr wrap="square" lIns="0" tIns="0" rIns="0" bIns="0" rtlCol="0"/>
            <a:lstStyle/>
            <a:p/>
          </p:txBody>
        </p:sp>
        <p:sp>
          <p:nvSpPr>
            <p:cNvPr id="397" name="object 397" descr=""/>
            <p:cNvSpPr/>
            <p:nvPr/>
          </p:nvSpPr>
          <p:spPr>
            <a:xfrm>
              <a:off x="4361180" y="3060788"/>
              <a:ext cx="8255" cy="158750"/>
            </a:xfrm>
            <a:custGeom>
              <a:avLst/>
              <a:gdLst/>
              <a:ahLst/>
              <a:cxnLst/>
              <a:rect l="l" t="t" r="r" b="b"/>
              <a:pathLst>
                <a:path w="8254" h="158750">
                  <a:moveTo>
                    <a:pt x="7645" y="157480"/>
                  </a:moveTo>
                  <a:lnTo>
                    <a:pt x="7607" y="10160"/>
                  </a:lnTo>
                  <a:lnTo>
                    <a:pt x="7569" y="1270"/>
                  </a:lnTo>
                  <a:lnTo>
                    <a:pt x="3238" y="1270"/>
                  </a:lnTo>
                  <a:lnTo>
                    <a:pt x="3238" y="0"/>
                  </a:lnTo>
                  <a:lnTo>
                    <a:pt x="0" y="0"/>
                  </a:lnTo>
                  <a:lnTo>
                    <a:pt x="0" y="1270"/>
                  </a:lnTo>
                  <a:lnTo>
                    <a:pt x="12" y="10160"/>
                  </a:lnTo>
                  <a:lnTo>
                    <a:pt x="88" y="157480"/>
                  </a:lnTo>
                  <a:lnTo>
                    <a:pt x="4508" y="157480"/>
                  </a:lnTo>
                  <a:lnTo>
                    <a:pt x="4508" y="158750"/>
                  </a:lnTo>
                  <a:lnTo>
                    <a:pt x="7645" y="158750"/>
                  </a:lnTo>
                  <a:lnTo>
                    <a:pt x="7645" y="157480"/>
                  </a:lnTo>
                  <a:close/>
                </a:path>
              </a:pathLst>
            </a:custGeom>
            <a:solidFill>
              <a:srgbClr val="595958"/>
            </a:solidFill>
          </p:spPr>
          <p:txBody>
            <a:bodyPr wrap="square" lIns="0" tIns="0" rIns="0" bIns="0" rtlCol="0"/>
            <a:lstStyle/>
            <a:p/>
          </p:txBody>
        </p:sp>
        <p:sp>
          <p:nvSpPr>
            <p:cNvPr id="398" name="object 398" descr=""/>
            <p:cNvSpPr/>
            <p:nvPr/>
          </p:nvSpPr>
          <p:spPr>
            <a:xfrm>
              <a:off x="4362568" y="3061742"/>
              <a:ext cx="6350" cy="158750"/>
            </a:xfrm>
            <a:custGeom>
              <a:avLst/>
              <a:gdLst/>
              <a:ahLst/>
              <a:cxnLst/>
              <a:rect l="l" t="t" r="r" b="b"/>
              <a:pathLst>
                <a:path w="6350" h="158750">
                  <a:moveTo>
                    <a:pt x="0" y="0"/>
                  </a:moveTo>
                  <a:lnTo>
                    <a:pt x="139" y="156984"/>
                  </a:lnTo>
                  <a:lnTo>
                    <a:pt x="6248" y="158648"/>
                  </a:lnTo>
                  <a:lnTo>
                    <a:pt x="6223" y="723"/>
                  </a:lnTo>
                  <a:lnTo>
                    <a:pt x="0" y="0"/>
                  </a:lnTo>
                  <a:close/>
                </a:path>
              </a:pathLst>
            </a:custGeom>
            <a:solidFill>
              <a:srgbClr val="242424"/>
            </a:solidFill>
          </p:spPr>
          <p:txBody>
            <a:bodyPr wrap="square" lIns="0" tIns="0" rIns="0" bIns="0" rtlCol="0"/>
            <a:lstStyle/>
            <a:p/>
          </p:txBody>
        </p:sp>
        <p:sp>
          <p:nvSpPr>
            <p:cNvPr id="399" name="object 399" descr=""/>
            <p:cNvSpPr/>
            <p:nvPr/>
          </p:nvSpPr>
          <p:spPr>
            <a:xfrm>
              <a:off x="4365001" y="3071263"/>
              <a:ext cx="0" cy="159385"/>
            </a:xfrm>
            <a:custGeom>
              <a:avLst/>
              <a:gdLst/>
              <a:ahLst/>
              <a:cxnLst/>
              <a:rect l="l" t="t" r="r" b="b"/>
              <a:pathLst>
                <a:path w="0" h="159385">
                  <a:moveTo>
                    <a:pt x="0" y="0"/>
                  </a:moveTo>
                  <a:lnTo>
                    <a:pt x="0" y="159273"/>
                  </a:lnTo>
                </a:path>
              </a:pathLst>
            </a:custGeom>
            <a:ln w="7632">
              <a:solidFill>
                <a:srgbClr val="998A78"/>
              </a:solidFill>
              <a:prstDash val="sysDot"/>
            </a:ln>
          </p:spPr>
          <p:txBody>
            <a:bodyPr wrap="square" lIns="0" tIns="0" rIns="0" bIns="0" rtlCol="0"/>
            <a:lstStyle/>
            <a:p/>
          </p:txBody>
        </p:sp>
        <p:sp>
          <p:nvSpPr>
            <p:cNvPr id="400" name="object 400" descr=""/>
            <p:cNvSpPr/>
            <p:nvPr/>
          </p:nvSpPr>
          <p:spPr>
            <a:xfrm>
              <a:off x="4295565" y="3055399"/>
              <a:ext cx="6985" cy="146050"/>
            </a:xfrm>
            <a:custGeom>
              <a:avLst/>
              <a:gdLst/>
              <a:ahLst/>
              <a:cxnLst/>
              <a:rect l="l" t="t" r="r" b="b"/>
              <a:pathLst>
                <a:path w="6985" h="146050">
                  <a:moveTo>
                    <a:pt x="0" y="0"/>
                  </a:moveTo>
                  <a:lnTo>
                    <a:pt x="558" y="144132"/>
                  </a:lnTo>
                  <a:lnTo>
                    <a:pt x="6591" y="145961"/>
                  </a:lnTo>
                  <a:lnTo>
                    <a:pt x="5994" y="558"/>
                  </a:lnTo>
                  <a:lnTo>
                    <a:pt x="0" y="0"/>
                  </a:lnTo>
                  <a:close/>
                </a:path>
              </a:pathLst>
            </a:custGeom>
            <a:solidFill>
              <a:srgbClr val="595958"/>
            </a:solidFill>
          </p:spPr>
          <p:txBody>
            <a:bodyPr wrap="square" lIns="0" tIns="0" rIns="0" bIns="0" rtlCol="0"/>
            <a:lstStyle/>
            <a:p/>
          </p:txBody>
        </p:sp>
        <p:sp>
          <p:nvSpPr>
            <p:cNvPr id="401" name="object 401" descr=""/>
            <p:cNvSpPr/>
            <p:nvPr/>
          </p:nvSpPr>
          <p:spPr>
            <a:xfrm>
              <a:off x="4296587" y="3056039"/>
              <a:ext cx="5715" cy="146050"/>
            </a:xfrm>
            <a:custGeom>
              <a:avLst/>
              <a:gdLst/>
              <a:ahLst/>
              <a:cxnLst/>
              <a:rect l="l" t="t" r="r" b="b"/>
              <a:pathLst>
                <a:path w="5714" h="146050">
                  <a:moveTo>
                    <a:pt x="5562" y="144780"/>
                  </a:moveTo>
                  <a:lnTo>
                    <a:pt x="5232" y="144780"/>
                  </a:lnTo>
                  <a:lnTo>
                    <a:pt x="5232" y="0"/>
                  </a:lnTo>
                  <a:lnTo>
                    <a:pt x="0" y="0"/>
                  </a:lnTo>
                  <a:lnTo>
                    <a:pt x="0" y="144780"/>
                  </a:lnTo>
                  <a:lnTo>
                    <a:pt x="3492" y="144780"/>
                  </a:lnTo>
                  <a:lnTo>
                    <a:pt x="3492" y="146050"/>
                  </a:lnTo>
                  <a:lnTo>
                    <a:pt x="5562" y="146050"/>
                  </a:lnTo>
                  <a:lnTo>
                    <a:pt x="5562" y="144780"/>
                  </a:lnTo>
                  <a:close/>
                </a:path>
              </a:pathLst>
            </a:custGeom>
            <a:solidFill>
              <a:srgbClr val="242424"/>
            </a:solidFill>
          </p:spPr>
          <p:txBody>
            <a:bodyPr wrap="square" lIns="0" tIns="0" rIns="0" bIns="0" rtlCol="0"/>
            <a:lstStyle/>
            <a:p/>
          </p:txBody>
        </p:sp>
        <p:sp>
          <p:nvSpPr>
            <p:cNvPr id="402" name="object 402" descr=""/>
            <p:cNvSpPr/>
            <p:nvPr/>
          </p:nvSpPr>
          <p:spPr>
            <a:xfrm>
              <a:off x="4299033" y="3064920"/>
              <a:ext cx="0" cy="146050"/>
            </a:xfrm>
            <a:custGeom>
              <a:avLst/>
              <a:gdLst/>
              <a:ahLst/>
              <a:cxnLst/>
              <a:rect l="l" t="t" r="r" b="b"/>
              <a:pathLst>
                <a:path w="0" h="146050">
                  <a:moveTo>
                    <a:pt x="0" y="0"/>
                  </a:moveTo>
                  <a:lnTo>
                    <a:pt x="0" y="145956"/>
                  </a:lnTo>
                </a:path>
              </a:pathLst>
            </a:custGeom>
            <a:ln w="6943">
              <a:solidFill>
                <a:srgbClr val="998A78"/>
              </a:solidFill>
              <a:prstDash val="sysDot"/>
            </a:ln>
          </p:spPr>
          <p:txBody>
            <a:bodyPr wrap="square" lIns="0" tIns="0" rIns="0" bIns="0" rtlCol="0"/>
            <a:lstStyle/>
            <a:p/>
          </p:txBody>
        </p:sp>
        <p:sp>
          <p:nvSpPr>
            <p:cNvPr id="403" name="object 403" descr=""/>
            <p:cNvSpPr/>
            <p:nvPr/>
          </p:nvSpPr>
          <p:spPr>
            <a:xfrm>
              <a:off x="4339649" y="3059840"/>
              <a:ext cx="17780" cy="168910"/>
            </a:xfrm>
            <a:custGeom>
              <a:avLst/>
              <a:gdLst/>
              <a:ahLst/>
              <a:cxnLst/>
              <a:rect l="l" t="t" r="r" b="b"/>
              <a:pathLst>
                <a:path w="17779" h="168910">
                  <a:moveTo>
                    <a:pt x="0" y="0"/>
                  </a:moveTo>
                  <a:lnTo>
                    <a:pt x="342" y="163728"/>
                  </a:lnTo>
                  <a:lnTo>
                    <a:pt x="17703" y="168808"/>
                  </a:lnTo>
                  <a:lnTo>
                    <a:pt x="17538" y="1587"/>
                  </a:lnTo>
                  <a:lnTo>
                    <a:pt x="0" y="0"/>
                  </a:lnTo>
                  <a:close/>
                </a:path>
              </a:pathLst>
            </a:custGeom>
            <a:solidFill>
              <a:srgbClr val="A7A8A7"/>
            </a:solidFill>
          </p:spPr>
          <p:txBody>
            <a:bodyPr wrap="square" lIns="0" tIns="0" rIns="0" bIns="0" rtlCol="0"/>
            <a:lstStyle/>
            <a:p/>
          </p:txBody>
        </p:sp>
        <p:sp>
          <p:nvSpPr>
            <p:cNvPr id="404" name="object 404" descr=""/>
            <p:cNvSpPr/>
            <p:nvPr/>
          </p:nvSpPr>
          <p:spPr>
            <a:xfrm>
              <a:off x="4339995" y="3059205"/>
              <a:ext cx="16510" cy="159385"/>
            </a:xfrm>
            <a:custGeom>
              <a:avLst/>
              <a:gdLst/>
              <a:ahLst/>
              <a:cxnLst/>
              <a:rect l="l" t="t" r="r" b="b"/>
              <a:pathLst>
                <a:path w="16510" h="159385">
                  <a:moveTo>
                    <a:pt x="0" y="0"/>
                  </a:moveTo>
                  <a:lnTo>
                    <a:pt x="317" y="154597"/>
                  </a:lnTo>
                  <a:lnTo>
                    <a:pt x="16319" y="159283"/>
                  </a:lnTo>
                  <a:lnTo>
                    <a:pt x="16116" y="1511"/>
                  </a:lnTo>
                  <a:lnTo>
                    <a:pt x="0" y="0"/>
                  </a:lnTo>
                  <a:close/>
                </a:path>
              </a:pathLst>
            </a:custGeom>
            <a:solidFill>
              <a:srgbClr val="3B3030"/>
            </a:solidFill>
          </p:spPr>
          <p:txBody>
            <a:bodyPr wrap="square" lIns="0" tIns="0" rIns="0" bIns="0" rtlCol="0"/>
            <a:lstStyle/>
            <a:p/>
          </p:txBody>
        </p:sp>
        <p:sp>
          <p:nvSpPr>
            <p:cNvPr id="405" name="object 405" descr=""/>
            <p:cNvSpPr/>
            <p:nvPr/>
          </p:nvSpPr>
          <p:spPr>
            <a:xfrm>
              <a:off x="4342775" y="3060473"/>
              <a:ext cx="13970" cy="156845"/>
            </a:xfrm>
            <a:custGeom>
              <a:avLst/>
              <a:gdLst/>
              <a:ahLst/>
              <a:cxnLst/>
              <a:rect l="l" t="t" r="r" b="b"/>
              <a:pathLst>
                <a:path w="13970" h="156844">
                  <a:moveTo>
                    <a:pt x="0" y="0"/>
                  </a:moveTo>
                  <a:lnTo>
                    <a:pt x="317" y="152946"/>
                  </a:lnTo>
                  <a:lnTo>
                    <a:pt x="13538" y="156743"/>
                  </a:lnTo>
                  <a:lnTo>
                    <a:pt x="13335" y="1193"/>
                  </a:lnTo>
                  <a:lnTo>
                    <a:pt x="6667" y="634"/>
                  </a:lnTo>
                  <a:lnTo>
                    <a:pt x="0" y="0"/>
                  </a:lnTo>
                  <a:close/>
                </a:path>
              </a:pathLst>
            </a:custGeom>
            <a:solidFill>
              <a:srgbClr val="241919"/>
            </a:solidFill>
          </p:spPr>
          <p:txBody>
            <a:bodyPr wrap="square" lIns="0" tIns="0" rIns="0" bIns="0" rtlCol="0"/>
            <a:lstStyle/>
            <a:p/>
          </p:txBody>
        </p:sp>
        <p:sp>
          <p:nvSpPr>
            <p:cNvPr id="406" name="object 406" descr=""/>
            <p:cNvSpPr/>
            <p:nvPr/>
          </p:nvSpPr>
          <p:spPr>
            <a:xfrm>
              <a:off x="4344505" y="3059937"/>
              <a:ext cx="12065" cy="157480"/>
            </a:xfrm>
            <a:custGeom>
              <a:avLst/>
              <a:gdLst/>
              <a:ahLst/>
              <a:cxnLst/>
              <a:rect l="l" t="t" r="r" b="b"/>
              <a:pathLst>
                <a:path w="12064" h="157480">
                  <a:moveTo>
                    <a:pt x="11798" y="153670"/>
                  </a:moveTo>
                  <a:lnTo>
                    <a:pt x="11709" y="10160"/>
                  </a:lnTo>
                  <a:lnTo>
                    <a:pt x="11607" y="1270"/>
                  </a:lnTo>
                  <a:lnTo>
                    <a:pt x="990" y="1270"/>
                  </a:lnTo>
                  <a:lnTo>
                    <a:pt x="990" y="0"/>
                  </a:lnTo>
                  <a:lnTo>
                    <a:pt x="0" y="0"/>
                  </a:lnTo>
                  <a:lnTo>
                    <a:pt x="0" y="1270"/>
                  </a:lnTo>
                  <a:lnTo>
                    <a:pt x="25" y="10160"/>
                  </a:lnTo>
                  <a:lnTo>
                    <a:pt x="165" y="10160"/>
                  </a:lnTo>
                  <a:lnTo>
                    <a:pt x="165" y="153670"/>
                  </a:lnTo>
                  <a:lnTo>
                    <a:pt x="5842" y="153670"/>
                  </a:lnTo>
                  <a:lnTo>
                    <a:pt x="5842" y="157480"/>
                  </a:lnTo>
                  <a:lnTo>
                    <a:pt x="11798" y="157480"/>
                  </a:lnTo>
                  <a:lnTo>
                    <a:pt x="11798" y="153670"/>
                  </a:lnTo>
                  <a:close/>
                </a:path>
              </a:pathLst>
            </a:custGeom>
            <a:solidFill>
              <a:srgbClr val="0A0000"/>
            </a:solidFill>
          </p:spPr>
          <p:txBody>
            <a:bodyPr wrap="square" lIns="0" tIns="0" rIns="0" bIns="0" rtlCol="0"/>
            <a:lstStyle/>
            <a:p/>
          </p:txBody>
        </p:sp>
        <p:sp>
          <p:nvSpPr>
            <p:cNvPr id="407" name="object 407" descr=""/>
            <p:cNvSpPr/>
            <p:nvPr/>
          </p:nvSpPr>
          <p:spPr>
            <a:xfrm>
              <a:off x="4340001" y="3071263"/>
              <a:ext cx="17145" cy="8890"/>
            </a:xfrm>
            <a:custGeom>
              <a:avLst/>
              <a:gdLst/>
              <a:ahLst/>
              <a:cxnLst/>
              <a:rect l="l" t="t" r="r" b="b"/>
              <a:pathLst>
                <a:path w="17145" h="8889">
                  <a:moveTo>
                    <a:pt x="0" y="0"/>
                  </a:moveTo>
                  <a:lnTo>
                    <a:pt x="38" y="800"/>
                  </a:lnTo>
                  <a:lnTo>
                    <a:pt x="38" y="3416"/>
                  </a:lnTo>
                  <a:lnTo>
                    <a:pt x="76" y="4292"/>
                  </a:lnTo>
                  <a:lnTo>
                    <a:pt x="76" y="7061"/>
                  </a:lnTo>
                  <a:lnTo>
                    <a:pt x="4216" y="7378"/>
                  </a:lnTo>
                  <a:lnTo>
                    <a:pt x="6311" y="7607"/>
                  </a:lnTo>
                  <a:lnTo>
                    <a:pt x="8331" y="7937"/>
                  </a:lnTo>
                  <a:lnTo>
                    <a:pt x="10426" y="8089"/>
                  </a:lnTo>
                  <a:lnTo>
                    <a:pt x="12522" y="8331"/>
                  </a:lnTo>
                  <a:lnTo>
                    <a:pt x="14604" y="8648"/>
                  </a:lnTo>
                  <a:lnTo>
                    <a:pt x="16675" y="8877"/>
                  </a:lnTo>
                  <a:lnTo>
                    <a:pt x="16675" y="1587"/>
                  </a:lnTo>
                  <a:lnTo>
                    <a:pt x="12484" y="1104"/>
                  </a:lnTo>
                  <a:lnTo>
                    <a:pt x="8305" y="800"/>
                  </a:lnTo>
                  <a:lnTo>
                    <a:pt x="4190" y="317"/>
                  </a:lnTo>
                  <a:lnTo>
                    <a:pt x="0" y="0"/>
                  </a:lnTo>
                  <a:close/>
                </a:path>
              </a:pathLst>
            </a:custGeom>
            <a:solidFill>
              <a:srgbClr val="7A614F"/>
            </a:solidFill>
          </p:spPr>
          <p:txBody>
            <a:bodyPr wrap="square" lIns="0" tIns="0" rIns="0" bIns="0" rtlCol="0"/>
            <a:lstStyle/>
            <a:p/>
          </p:txBody>
        </p:sp>
        <p:sp>
          <p:nvSpPr>
            <p:cNvPr id="408" name="object 408" descr=""/>
            <p:cNvSpPr/>
            <p:nvPr/>
          </p:nvSpPr>
          <p:spPr>
            <a:xfrm>
              <a:off x="4340001" y="3075063"/>
              <a:ext cx="17145" cy="3810"/>
            </a:xfrm>
            <a:custGeom>
              <a:avLst/>
              <a:gdLst/>
              <a:ahLst/>
              <a:cxnLst/>
              <a:rect l="l" t="t" r="r" b="b"/>
              <a:pathLst>
                <a:path w="17145" h="3810">
                  <a:moveTo>
                    <a:pt x="0" y="0"/>
                  </a:moveTo>
                  <a:lnTo>
                    <a:pt x="38" y="749"/>
                  </a:lnTo>
                  <a:lnTo>
                    <a:pt x="76" y="1485"/>
                  </a:lnTo>
                  <a:lnTo>
                    <a:pt x="4216" y="1777"/>
                  </a:lnTo>
                  <a:lnTo>
                    <a:pt x="6311" y="2006"/>
                  </a:lnTo>
                  <a:lnTo>
                    <a:pt x="8331" y="2285"/>
                  </a:lnTo>
                  <a:lnTo>
                    <a:pt x="10426" y="2438"/>
                  </a:lnTo>
                  <a:lnTo>
                    <a:pt x="12522" y="2666"/>
                  </a:lnTo>
                  <a:lnTo>
                    <a:pt x="14604" y="2971"/>
                  </a:lnTo>
                  <a:lnTo>
                    <a:pt x="16675" y="3187"/>
                  </a:lnTo>
                  <a:lnTo>
                    <a:pt x="16675" y="1714"/>
                  </a:lnTo>
                  <a:lnTo>
                    <a:pt x="14604" y="1485"/>
                  </a:lnTo>
                  <a:lnTo>
                    <a:pt x="12522" y="1193"/>
                  </a:lnTo>
                  <a:lnTo>
                    <a:pt x="8305" y="749"/>
                  </a:lnTo>
                  <a:lnTo>
                    <a:pt x="6273" y="457"/>
                  </a:lnTo>
                  <a:lnTo>
                    <a:pt x="0" y="0"/>
                  </a:lnTo>
                  <a:close/>
                </a:path>
              </a:pathLst>
            </a:custGeom>
            <a:solidFill>
              <a:srgbClr val="C0C0C0"/>
            </a:solidFill>
          </p:spPr>
          <p:txBody>
            <a:bodyPr wrap="square" lIns="0" tIns="0" rIns="0" bIns="0" rtlCol="0"/>
            <a:lstStyle/>
            <a:p/>
          </p:txBody>
        </p:sp>
        <p:sp>
          <p:nvSpPr>
            <p:cNvPr id="409" name="object 409" descr=""/>
            <p:cNvSpPr/>
            <p:nvPr/>
          </p:nvSpPr>
          <p:spPr>
            <a:xfrm>
              <a:off x="4340005" y="3076342"/>
              <a:ext cx="17145" cy="2540"/>
            </a:xfrm>
            <a:custGeom>
              <a:avLst/>
              <a:gdLst/>
              <a:ahLst/>
              <a:cxnLst/>
              <a:rect l="l" t="t" r="r" b="b"/>
              <a:pathLst>
                <a:path w="17145" h="2539">
                  <a:moveTo>
                    <a:pt x="0" y="0"/>
                  </a:moveTo>
                  <a:lnTo>
                    <a:pt x="0" y="304"/>
                  </a:lnTo>
                  <a:lnTo>
                    <a:pt x="0" y="774"/>
                  </a:lnTo>
                  <a:lnTo>
                    <a:pt x="4165" y="1079"/>
                  </a:lnTo>
                  <a:lnTo>
                    <a:pt x="6261" y="1308"/>
                  </a:lnTo>
                  <a:lnTo>
                    <a:pt x="8293" y="1625"/>
                  </a:lnTo>
                  <a:lnTo>
                    <a:pt x="10388" y="1765"/>
                  </a:lnTo>
                  <a:lnTo>
                    <a:pt x="12496" y="1993"/>
                  </a:lnTo>
                  <a:lnTo>
                    <a:pt x="14592" y="2311"/>
                  </a:lnTo>
                  <a:lnTo>
                    <a:pt x="16662" y="2540"/>
                  </a:lnTo>
                  <a:lnTo>
                    <a:pt x="16662" y="1765"/>
                  </a:lnTo>
                  <a:lnTo>
                    <a:pt x="14592" y="1536"/>
                  </a:lnTo>
                  <a:lnTo>
                    <a:pt x="12496" y="1231"/>
                  </a:lnTo>
                  <a:lnTo>
                    <a:pt x="10388" y="1003"/>
                  </a:lnTo>
                  <a:lnTo>
                    <a:pt x="8293" y="838"/>
                  </a:lnTo>
                  <a:lnTo>
                    <a:pt x="6261" y="533"/>
                  </a:lnTo>
                  <a:lnTo>
                    <a:pt x="4165" y="304"/>
                  </a:lnTo>
                  <a:lnTo>
                    <a:pt x="0" y="0"/>
                  </a:lnTo>
                  <a:close/>
                </a:path>
              </a:pathLst>
            </a:custGeom>
            <a:solidFill>
              <a:srgbClr val="484948"/>
            </a:solidFill>
          </p:spPr>
          <p:txBody>
            <a:bodyPr wrap="square" lIns="0" tIns="0" rIns="0" bIns="0" rtlCol="0"/>
            <a:lstStyle/>
            <a:p/>
          </p:txBody>
        </p:sp>
        <p:sp>
          <p:nvSpPr>
            <p:cNvPr id="410" name="object 410" descr=""/>
            <p:cNvSpPr/>
            <p:nvPr/>
          </p:nvSpPr>
          <p:spPr>
            <a:xfrm>
              <a:off x="4340005" y="3091573"/>
              <a:ext cx="17145" cy="9525"/>
            </a:xfrm>
            <a:custGeom>
              <a:avLst/>
              <a:gdLst/>
              <a:ahLst/>
              <a:cxnLst/>
              <a:rect l="l" t="t" r="r" b="b"/>
              <a:pathLst>
                <a:path w="17145" h="9525">
                  <a:moveTo>
                    <a:pt x="0" y="0"/>
                  </a:moveTo>
                  <a:lnTo>
                    <a:pt x="0" y="812"/>
                  </a:lnTo>
                  <a:lnTo>
                    <a:pt x="0" y="7150"/>
                  </a:lnTo>
                  <a:lnTo>
                    <a:pt x="2095" y="7492"/>
                  </a:lnTo>
                  <a:lnTo>
                    <a:pt x="6235" y="7962"/>
                  </a:lnTo>
                  <a:lnTo>
                    <a:pt x="8267" y="8381"/>
                  </a:lnTo>
                  <a:lnTo>
                    <a:pt x="12484" y="8877"/>
                  </a:lnTo>
                  <a:lnTo>
                    <a:pt x="16662" y="9524"/>
                  </a:lnTo>
                  <a:lnTo>
                    <a:pt x="16662" y="3086"/>
                  </a:lnTo>
                  <a:lnTo>
                    <a:pt x="16598" y="2120"/>
                  </a:lnTo>
                  <a:lnTo>
                    <a:pt x="12446" y="1625"/>
                  </a:lnTo>
                  <a:lnTo>
                    <a:pt x="10350" y="1308"/>
                  </a:lnTo>
                  <a:lnTo>
                    <a:pt x="4152" y="571"/>
                  </a:lnTo>
                  <a:lnTo>
                    <a:pt x="2095" y="241"/>
                  </a:lnTo>
                  <a:lnTo>
                    <a:pt x="0" y="0"/>
                  </a:lnTo>
                  <a:close/>
                </a:path>
              </a:pathLst>
            </a:custGeom>
            <a:solidFill>
              <a:srgbClr val="7A614F"/>
            </a:solidFill>
          </p:spPr>
          <p:txBody>
            <a:bodyPr wrap="square" lIns="0" tIns="0" rIns="0" bIns="0" rtlCol="0"/>
            <a:lstStyle/>
            <a:p/>
          </p:txBody>
        </p:sp>
        <p:sp>
          <p:nvSpPr>
            <p:cNvPr id="411" name="object 411" descr=""/>
            <p:cNvSpPr/>
            <p:nvPr/>
          </p:nvSpPr>
          <p:spPr>
            <a:xfrm>
              <a:off x="4340005" y="3095383"/>
              <a:ext cx="17145" cy="3810"/>
            </a:xfrm>
            <a:custGeom>
              <a:avLst/>
              <a:gdLst/>
              <a:ahLst/>
              <a:cxnLst/>
              <a:rect l="l" t="t" r="r" b="b"/>
              <a:pathLst>
                <a:path w="17145" h="3810">
                  <a:moveTo>
                    <a:pt x="0" y="0"/>
                  </a:moveTo>
                  <a:lnTo>
                    <a:pt x="0" y="660"/>
                  </a:lnTo>
                  <a:lnTo>
                    <a:pt x="0" y="1485"/>
                  </a:lnTo>
                  <a:lnTo>
                    <a:pt x="6235" y="2222"/>
                  </a:lnTo>
                  <a:lnTo>
                    <a:pt x="8267" y="2654"/>
                  </a:lnTo>
                  <a:lnTo>
                    <a:pt x="10388" y="2895"/>
                  </a:lnTo>
                  <a:lnTo>
                    <a:pt x="12484" y="3225"/>
                  </a:lnTo>
                  <a:lnTo>
                    <a:pt x="14579" y="3467"/>
                  </a:lnTo>
                  <a:lnTo>
                    <a:pt x="16662" y="3809"/>
                  </a:lnTo>
                  <a:lnTo>
                    <a:pt x="16662" y="2146"/>
                  </a:lnTo>
                  <a:lnTo>
                    <a:pt x="14579" y="1816"/>
                  </a:lnTo>
                  <a:lnTo>
                    <a:pt x="12484" y="1562"/>
                  </a:lnTo>
                  <a:lnTo>
                    <a:pt x="10388" y="1244"/>
                  </a:lnTo>
                  <a:lnTo>
                    <a:pt x="6235" y="736"/>
                  </a:lnTo>
                  <a:lnTo>
                    <a:pt x="4152" y="406"/>
                  </a:lnTo>
                  <a:lnTo>
                    <a:pt x="2095" y="152"/>
                  </a:lnTo>
                  <a:lnTo>
                    <a:pt x="0" y="0"/>
                  </a:lnTo>
                  <a:close/>
                </a:path>
              </a:pathLst>
            </a:custGeom>
            <a:solidFill>
              <a:srgbClr val="C0C0C0"/>
            </a:solidFill>
          </p:spPr>
          <p:txBody>
            <a:bodyPr wrap="square" lIns="0" tIns="0" rIns="0" bIns="0" rtlCol="0"/>
            <a:lstStyle/>
            <a:p/>
          </p:txBody>
        </p:sp>
        <p:sp>
          <p:nvSpPr>
            <p:cNvPr id="412" name="object 412" descr=""/>
            <p:cNvSpPr/>
            <p:nvPr/>
          </p:nvSpPr>
          <p:spPr>
            <a:xfrm>
              <a:off x="4340005" y="3096651"/>
              <a:ext cx="17145" cy="3175"/>
            </a:xfrm>
            <a:custGeom>
              <a:avLst/>
              <a:gdLst/>
              <a:ahLst/>
              <a:cxnLst/>
              <a:rect l="l" t="t" r="r" b="b"/>
              <a:pathLst>
                <a:path w="17145" h="3175">
                  <a:moveTo>
                    <a:pt x="0" y="0"/>
                  </a:moveTo>
                  <a:lnTo>
                    <a:pt x="0" y="330"/>
                  </a:lnTo>
                  <a:lnTo>
                    <a:pt x="0" y="749"/>
                  </a:lnTo>
                  <a:lnTo>
                    <a:pt x="2095" y="1079"/>
                  </a:lnTo>
                  <a:lnTo>
                    <a:pt x="6235" y="1587"/>
                  </a:lnTo>
                  <a:lnTo>
                    <a:pt x="8267" y="1993"/>
                  </a:lnTo>
                  <a:lnTo>
                    <a:pt x="10388" y="2247"/>
                  </a:lnTo>
                  <a:lnTo>
                    <a:pt x="12484" y="2578"/>
                  </a:lnTo>
                  <a:lnTo>
                    <a:pt x="14579" y="2832"/>
                  </a:lnTo>
                  <a:lnTo>
                    <a:pt x="16662" y="3175"/>
                  </a:lnTo>
                  <a:lnTo>
                    <a:pt x="16662" y="2336"/>
                  </a:lnTo>
                  <a:lnTo>
                    <a:pt x="14579" y="1993"/>
                  </a:lnTo>
                  <a:lnTo>
                    <a:pt x="12484" y="1752"/>
                  </a:lnTo>
                  <a:lnTo>
                    <a:pt x="10388" y="1409"/>
                  </a:lnTo>
                  <a:lnTo>
                    <a:pt x="8267" y="1168"/>
                  </a:lnTo>
                  <a:lnTo>
                    <a:pt x="6235" y="749"/>
                  </a:lnTo>
                  <a:lnTo>
                    <a:pt x="0" y="0"/>
                  </a:lnTo>
                  <a:close/>
                </a:path>
              </a:pathLst>
            </a:custGeom>
            <a:solidFill>
              <a:srgbClr val="484948"/>
            </a:solidFill>
          </p:spPr>
          <p:txBody>
            <a:bodyPr wrap="square" lIns="0" tIns="0" rIns="0" bIns="0" rtlCol="0"/>
            <a:lstStyle/>
            <a:p/>
          </p:txBody>
        </p:sp>
        <p:sp>
          <p:nvSpPr>
            <p:cNvPr id="413" name="object 413" descr=""/>
            <p:cNvSpPr/>
            <p:nvPr/>
          </p:nvSpPr>
          <p:spPr>
            <a:xfrm>
              <a:off x="4340348" y="3111869"/>
              <a:ext cx="16510" cy="9525"/>
            </a:xfrm>
            <a:custGeom>
              <a:avLst/>
              <a:gdLst/>
              <a:ahLst/>
              <a:cxnLst/>
              <a:rect l="l" t="t" r="r" b="b"/>
              <a:pathLst>
                <a:path w="16510" h="9525">
                  <a:moveTo>
                    <a:pt x="0" y="0"/>
                  </a:moveTo>
                  <a:lnTo>
                    <a:pt x="0" y="850"/>
                  </a:lnTo>
                  <a:lnTo>
                    <a:pt x="0" y="6756"/>
                  </a:lnTo>
                  <a:lnTo>
                    <a:pt x="2019" y="7073"/>
                  </a:lnTo>
                  <a:lnTo>
                    <a:pt x="4051" y="7454"/>
                  </a:lnTo>
                  <a:lnTo>
                    <a:pt x="6108" y="7683"/>
                  </a:lnTo>
                  <a:lnTo>
                    <a:pt x="8089" y="8140"/>
                  </a:lnTo>
                  <a:lnTo>
                    <a:pt x="10147" y="8369"/>
                  </a:lnTo>
                  <a:lnTo>
                    <a:pt x="12204" y="8839"/>
                  </a:lnTo>
                  <a:lnTo>
                    <a:pt x="14262" y="9067"/>
                  </a:lnTo>
                  <a:lnTo>
                    <a:pt x="16319" y="9525"/>
                  </a:lnTo>
                  <a:lnTo>
                    <a:pt x="16319" y="2463"/>
                  </a:lnTo>
                  <a:lnTo>
                    <a:pt x="14262" y="2082"/>
                  </a:lnTo>
                  <a:lnTo>
                    <a:pt x="2019" y="241"/>
                  </a:lnTo>
                  <a:lnTo>
                    <a:pt x="0" y="0"/>
                  </a:lnTo>
                  <a:close/>
                </a:path>
              </a:pathLst>
            </a:custGeom>
            <a:solidFill>
              <a:srgbClr val="7A614F"/>
            </a:solidFill>
          </p:spPr>
          <p:txBody>
            <a:bodyPr wrap="square" lIns="0" tIns="0" rIns="0" bIns="0" rtlCol="0"/>
            <a:lstStyle/>
            <a:p/>
          </p:txBody>
        </p:sp>
        <p:sp>
          <p:nvSpPr>
            <p:cNvPr id="414" name="object 414" descr=""/>
            <p:cNvSpPr/>
            <p:nvPr/>
          </p:nvSpPr>
          <p:spPr>
            <a:xfrm>
              <a:off x="4340348" y="3115693"/>
              <a:ext cx="16510" cy="4445"/>
            </a:xfrm>
            <a:custGeom>
              <a:avLst/>
              <a:gdLst/>
              <a:ahLst/>
              <a:cxnLst/>
              <a:rect l="l" t="t" r="r" b="b"/>
              <a:pathLst>
                <a:path w="16510" h="4444">
                  <a:moveTo>
                    <a:pt x="0" y="0"/>
                  </a:moveTo>
                  <a:lnTo>
                    <a:pt x="0" y="787"/>
                  </a:lnTo>
                  <a:lnTo>
                    <a:pt x="0" y="1574"/>
                  </a:lnTo>
                  <a:lnTo>
                    <a:pt x="4051" y="2222"/>
                  </a:lnTo>
                  <a:lnTo>
                    <a:pt x="8089" y="3009"/>
                  </a:lnTo>
                  <a:lnTo>
                    <a:pt x="10147" y="3238"/>
                  </a:lnTo>
                  <a:lnTo>
                    <a:pt x="12204" y="3644"/>
                  </a:lnTo>
                  <a:lnTo>
                    <a:pt x="14262" y="3962"/>
                  </a:lnTo>
                  <a:lnTo>
                    <a:pt x="16319" y="4432"/>
                  </a:lnTo>
                  <a:lnTo>
                    <a:pt x="16319" y="2692"/>
                  </a:lnTo>
                  <a:lnTo>
                    <a:pt x="14262" y="2298"/>
                  </a:lnTo>
                  <a:lnTo>
                    <a:pt x="12204" y="1981"/>
                  </a:lnTo>
                  <a:lnTo>
                    <a:pt x="10147" y="1574"/>
                  </a:lnTo>
                  <a:lnTo>
                    <a:pt x="8089" y="1346"/>
                  </a:lnTo>
                  <a:lnTo>
                    <a:pt x="6108" y="1028"/>
                  </a:lnTo>
                  <a:lnTo>
                    <a:pt x="4051" y="622"/>
                  </a:lnTo>
                  <a:lnTo>
                    <a:pt x="0" y="0"/>
                  </a:lnTo>
                  <a:close/>
                </a:path>
              </a:pathLst>
            </a:custGeom>
            <a:solidFill>
              <a:srgbClr val="C0C0C0"/>
            </a:solidFill>
          </p:spPr>
          <p:txBody>
            <a:bodyPr wrap="square" lIns="0" tIns="0" rIns="0" bIns="0" rtlCol="0"/>
            <a:lstStyle/>
            <a:p/>
          </p:txBody>
        </p:sp>
        <p:sp>
          <p:nvSpPr>
            <p:cNvPr id="415" name="object 415" descr=""/>
            <p:cNvSpPr/>
            <p:nvPr/>
          </p:nvSpPr>
          <p:spPr>
            <a:xfrm>
              <a:off x="4340348" y="3117589"/>
              <a:ext cx="16510" cy="3175"/>
            </a:xfrm>
            <a:custGeom>
              <a:avLst/>
              <a:gdLst/>
              <a:ahLst/>
              <a:cxnLst/>
              <a:rect l="l" t="t" r="r" b="b"/>
              <a:pathLst>
                <a:path w="16510" h="3175">
                  <a:moveTo>
                    <a:pt x="0" y="0"/>
                  </a:moveTo>
                  <a:lnTo>
                    <a:pt x="0" y="342"/>
                  </a:lnTo>
                  <a:lnTo>
                    <a:pt x="0" y="685"/>
                  </a:lnTo>
                  <a:lnTo>
                    <a:pt x="6108" y="1523"/>
                  </a:lnTo>
                  <a:lnTo>
                    <a:pt x="8089" y="1930"/>
                  </a:lnTo>
                  <a:lnTo>
                    <a:pt x="10147" y="2133"/>
                  </a:lnTo>
                  <a:lnTo>
                    <a:pt x="12204" y="2476"/>
                  </a:lnTo>
                  <a:lnTo>
                    <a:pt x="14262" y="2755"/>
                  </a:lnTo>
                  <a:lnTo>
                    <a:pt x="16319" y="3174"/>
                  </a:lnTo>
                  <a:lnTo>
                    <a:pt x="16319" y="2476"/>
                  </a:lnTo>
                  <a:lnTo>
                    <a:pt x="14262" y="2070"/>
                  </a:lnTo>
                  <a:lnTo>
                    <a:pt x="12204" y="1790"/>
                  </a:lnTo>
                  <a:lnTo>
                    <a:pt x="10147" y="1447"/>
                  </a:lnTo>
                  <a:lnTo>
                    <a:pt x="8089" y="1244"/>
                  </a:lnTo>
                  <a:lnTo>
                    <a:pt x="4051" y="546"/>
                  </a:lnTo>
                  <a:lnTo>
                    <a:pt x="0" y="0"/>
                  </a:lnTo>
                  <a:close/>
                </a:path>
              </a:pathLst>
            </a:custGeom>
            <a:solidFill>
              <a:srgbClr val="484948"/>
            </a:solidFill>
          </p:spPr>
          <p:txBody>
            <a:bodyPr wrap="square" lIns="0" tIns="0" rIns="0" bIns="0" rtlCol="0"/>
            <a:lstStyle/>
            <a:p/>
          </p:txBody>
        </p:sp>
        <p:sp>
          <p:nvSpPr>
            <p:cNvPr id="416" name="object 416" descr=""/>
            <p:cNvSpPr/>
            <p:nvPr/>
          </p:nvSpPr>
          <p:spPr>
            <a:xfrm>
              <a:off x="4340344" y="3132184"/>
              <a:ext cx="16510" cy="10160"/>
            </a:xfrm>
            <a:custGeom>
              <a:avLst/>
              <a:gdLst/>
              <a:ahLst/>
              <a:cxnLst/>
              <a:rect l="l" t="t" r="r" b="b"/>
              <a:pathLst>
                <a:path w="16510" h="10160">
                  <a:moveTo>
                    <a:pt x="0" y="0"/>
                  </a:moveTo>
                  <a:lnTo>
                    <a:pt x="38" y="812"/>
                  </a:lnTo>
                  <a:lnTo>
                    <a:pt x="76" y="1612"/>
                  </a:lnTo>
                  <a:lnTo>
                    <a:pt x="76" y="7086"/>
                  </a:lnTo>
                  <a:lnTo>
                    <a:pt x="2057" y="7492"/>
                  </a:lnTo>
                  <a:lnTo>
                    <a:pt x="4089" y="7823"/>
                  </a:lnTo>
                  <a:lnTo>
                    <a:pt x="8166" y="8623"/>
                  </a:lnTo>
                  <a:lnTo>
                    <a:pt x="10185" y="8953"/>
                  </a:lnTo>
                  <a:lnTo>
                    <a:pt x="12242" y="9347"/>
                  </a:lnTo>
                  <a:lnTo>
                    <a:pt x="14300" y="9664"/>
                  </a:lnTo>
                  <a:lnTo>
                    <a:pt x="16332" y="10147"/>
                  </a:lnTo>
                  <a:lnTo>
                    <a:pt x="16332" y="2908"/>
                  </a:lnTo>
                  <a:lnTo>
                    <a:pt x="8089" y="1295"/>
                  </a:lnTo>
                  <a:lnTo>
                    <a:pt x="6108" y="977"/>
                  </a:lnTo>
                  <a:lnTo>
                    <a:pt x="4051" y="558"/>
                  </a:lnTo>
                  <a:lnTo>
                    <a:pt x="2031" y="241"/>
                  </a:lnTo>
                  <a:lnTo>
                    <a:pt x="0" y="0"/>
                  </a:lnTo>
                  <a:close/>
                </a:path>
              </a:pathLst>
            </a:custGeom>
            <a:solidFill>
              <a:srgbClr val="7A614F"/>
            </a:solidFill>
          </p:spPr>
          <p:txBody>
            <a:bodyPr wrap="square" lIns="0" tIns="0" rIns="0" bIns="0" rtlCol="0"/>
            <a:lstStyle/>
            <a:p/>
          </p:txBody>
        </p:sp>
        <p:sp>
          <p:nvSpPr>
            <p:cNvPr id="417" name="object 417" descr=""/>
            <p:cNvSpPr/>
            <p:nvPr/>
          </p:nvSpPr>
          <p:spPr>
            <a:xfrm>
              <a:off x="4340348" y="3135997"/>
              <a:ext cx="16510" cy="4445"/>
            </a:xfrm>
            <a:custGeom>
              <a:avLst/>
              <a:gdLst/>
              <a:ahLst/>
              <a:cxnLst/>
              <a:rect l="l" t="t" r="r" b="b"/>
              <a:pathLst>
                <a:path w="16510" h="4444">
                  <a:moveTo>
                    <a:pt x="0" y="0"/>
                  </a:moveTo>
                  <a:lnTo>
                    <a:pt x="0" y="749"/>
                  </a:lnTo>
                  <a:lnTo>
                    <a:pt x="0" y="1574"/>
                  </a:lnTo>
                  <a:lnTo>
                    <a:pt x="2006" y="1943"/>
                  </a:lnTo>
                  <a:lnTo>
                    <a:pt x="4025" y="2260"/>
                  </a:lnTo>
                  <a:lnTo>
                    <a:pt x="8128" y="3009"/>
                  </a:lnTo>
                  <a:lnTo>
                    <a:pt x="10160" y="3225"/>
                  </a:lnTo>
                  <a:lnTo>
                    <a:pt x="12217" y="3682"/>
                  </a:lnTo>
                  <a:lnTo>
                    <a:pt x="14287" y="3987"/>
                  </a:lnTo>
                  <a:lnTo>
                    <a:pt x="16319" y="4444"/>
                  </a:lnTo>
                  <a:lnTo>
                    <a:pt x="16319" y="2933"/>
                  </a:lnTo>
                  <a:lnTo>
                    <a:pt x="14287" y="2476"/>
                  </a:lnTo>
                  <a:lnTo>
                    <a:pt x="12217" y="2184"/>
                  </a:lnTo>
                  <a:lnTo>
                    <a:pt x="4025" y="673"/>
                  </a:lnTo>
                  <a:lnTo>
                    <a:pt x="2006" y="368"/>
                  </a:lnTo>
                  <a:lnTo>
                    <a:pt x="0" y="0"/>
                  </a:lnTo>
                  <a:close/>
                </a:path>
              </a:pathLst>
            </a:custGeom>
            <a:solidFill>
              <a:srgbClr val="C0C0C0"/>
            </a:solidFill>
          </p:spPr>
          <p:txBody>
            <a:bodyPr wrap="square" lIns="0" tIns="0" rIns="0" bIns="0" rtlCol="0"/>
            <a:lstStyle/>
            <a:p/>
          </p:txBody>
        </p:sp>
        <p:sp>
          <p:nvSpPr>
            <p:cNvPr id="418" name="object 418" descr=""/>
            <p:cNvSpPr/>
            <p:nvPr/>
          </p:nvSpPr>
          <p:spPr>
            <a:xfrm>
              <a:off x="4340348" y="3137895"/>
              <a:ext cx="16510" cy="3810"/>
            </a:xfrm>
            <a:custGeom>
              <a:avLst/>
              <a:gdLst/>
              <a:ahLst/>
              <a:cxnLst/>
              <a:rect l="l" t="t" r="r" b="b"/>
              <a:pathLst>
                <a:path w="16510" h="3810">
                  <a:moveTo>
                    <a:pt x="0" y="0"/>
                  </a:moveTo>
                  <a:lnTo>
                    <a:pt x="0" y="393"/>
                  </a:lnTo>
                  <a:lnTo>
                    <a:pt x="0" y="800"/>
                  </a:lnTo>
                  <a:lnTo>
                    <a:pt x="6096" y="1739"/>
                  </a:lnTo>
                  <a:lnTo>
                    <a:pt x="8128" y="2222"/>
                  </a:lnTo>
                  <a:lnTo>
                    <a:pt x="10160" y="2540"/>
                  </a:lnTo>
                  <a:lnTo>
                    <a:pt x="12217" y="3009"/>
                  </a:lnTo>
                  <a:lnTo>
                    <a:pt x="14287" y="3327"/>
                  </a:lnTo>
                  <a:lnTo>
                    <a:pt x="16319" y="3810"/>
                  </a:lnTo>
                  <a:lnTo>
                    <a:pt x="16319" y="3009"/>
                  </a:lnTo>
                  <a:lnTo>
                    <a:pt x="14287" y="2540"/>
                  </a:lnTo>
                  <a:lnTo>
                    <a:pt x="12217" y="2222"/>
                  </a:lnTo>
                  <a:lnTo>
                    <a:pt x="10160" y="1739"/>
                  </a:lnTo>
                  <a:lnTo>
                    <a:pt x="8128" y="1511"/>
                  </a:lnTo>
                  <a:lnTo>
                    <a:pt x="4025" y="711"/>
                  </a:lnTo>
                  <a:lnTo>
                    <a:pt x="2006" y="393"/>
                  </a:lnTo>
                  <a:lnTo>
                    <a:pt x="0" y="0"/>
                  </a:lnTo>
                  <a:close/>
                </a:path>
              </a:pathLst>
            </a:custGeom>
            <a:solidFill>
              <a:srgbClr val="484948"/>
            </a:solidFill>
          </p:spPr>
          <p:txBody>
            <a:bodyPr wrap="square" lIns="0" tIns="0" rIns="0" bIns="0" rtlCol="0"/>
            <a:lstStyle/>
            <a:p/>
          </p:txBody>
        </p:sp>
        <p:sp>
          <p:nvSpPr>
            <p:cNvPr id="419" name="object 419" descr=""/>
            <p:cNvSpPr/>
            <p:nvPr/>
          </p:nvSpPr>
          <p:spPr>
            <a:xfrm>
              <a:off x="4340344" y="3152499"/>
              <a:ext cx="16510" cy="10795"/>
            </a:xfrm>
            <a:custGeom>
              <a:avLst/>
              <a:gdLst/>
              <a:ahLst/>
              <a:cxnLst/>
              <a:rect l="l" t="t" r="r" b="b"/>
              <a:pathLst>
                <a:path w="16510" h="10794">
                  <a:moveTo>
                    <a:pt x="0" y="0"/>
                  </a:moveTo>
                  <a:lnTo>
                    <a:pt x="38" y="888"/>
                  </a:lnTo>
                  <a:lnTo>
                    <a:pt x="38" y="7264"/>
                  </a:lnTo>
                  <a:lnTo>
                    <a:pt x="2095" y="7594"/>
                  </a:lnTo>
                  <a:lnTo>
                    <a:pt x="4089" y="8166"/>
                  </a:lnTo>
                  <a:lnTo>
                    <a:pt x="6108" y="8483"/>
                  </a:lnTo>
                  <a:lnTo>
                    <a:pt x="8127" y="9067"/>
                  </a:lnTo>
                  <a:lnTo>
                    <a:pt x="10147" y="9397"/>
                  </a:lnTo>
                  <a:lnTo>
                    <a:pt x="12204" y="9880"/>
                  </a:lnTo>
                  <a:lnTo>
                    <a:pt x="14262" y="10299"/>
                  </a:lnTo>
                  <a:lnTo>
                    <a:pt x="16332" y="10782"/>
                  </a:lnTo>
                  <a:lnTo>
                    <a:pt x="16332" y="3670"/>
                  </a:lnTo>
                  <a:lnTo>
                    <a:pt x="14262" y="3098"/>
                  </a:lnTo>
                  <a:lnTo>
                    <a:pt x="12179" y="2603"/>
                  </a:lnTo>
                  <a:lnTo>
                    <a:pt x="10121" y="2209"/>
                  </a:lnTo>
                  <a:lnTo>
                    <a:pt x="6070" y="1219"/>
                  </a:lnTo>
                  <a:lnTo>
                    <a:pt x="0" y="0"/>
                  </a:lnTo>
                  <a:close/>
                </a:path>
              </a:pathLst>
            </a:custGeom>
            <a:solidFill>
              <a:srgbClr val="7A614F"/>
            </a:solidFill>
          </p:spPr>
          <p:txBody>
            <a:bodyPr wrap="square" lIns="0" tIns="0" rIns="0" bIns="0" rtlCol="0"/>
            <a:lstStyle/>
            <a:p/>
          </p:txBody>
        </p:sp>
        <p:sp>
          <p:nvSpPr>
            <p:cNvPr id="420" name="object 420" descr=""/>
            <p:cNvSpPr/>
            <p:nvPr/>
          </p:nvSpPr>
          <p:spPr>
            <a:xfrm>
              <a:off x="4340348" y="3156305"/>
              <a:ext cx="16510" cy="5080"/>
            </a:xfrm>
            <a:custGeom>
              <a:avLst/>
              <a:gdLst/>
              <a:ahLst/>
              <a:cxnLst/>
              <a:rect l="l" t="t" r="r" b="b"/>
              <a:pathLst>
                <a:path w="16510" h="5080">
                  <a:moveTo>
                    <a:pt x="0" y="0"/>
                  </a:moveTo>
                  <a:lnTo>
                    <a:pt x="0" y="774"/>
                  </a:lnTo>
                  <a:lnTo>
                    <a:pt x="0" y="1549"/>
                  </a:lnTo>
                  <a:lnTo>
                    <a:pt x="2057" y="1866"/>
                  </a:lnTo>
                  <a:lnTo>
                    <a:pt x="4051" y="2425"/>
                  </a:lnTo>
                  <a:lnTo>
                    <a:pt x="6108" y="2730"/>
                  </a:lnTo>
                  <a:lnTo>
                    <a:pt x="8128" y="3276"/>
                  </a:lnTo>
                  <a:lnTo>
                    <a:pt x="10147" y="3581"/>
                  </a:lnTo>
                  <a:lnTo>
                    <a:pt x="12204" y="4051"/>
                  </a:lnTo>
                  <a:lnTo>
                    <a:pt x="14262" y="4610"/>
                  </a:lnTo>
                  <a:lnTo>
                    <a:pt x="16319" y="5067"/>
                  </a:lnTo>
                  <a:lnTo>
                    <a:pt x="16319" y="3505"/>
                  </a:lnTo>
                  <a:lnTo>
                    <a:pt x="12204" y="2565"/>
                  </a:lnTo>
                  <a:lnTo>
                    <a:pt x="10147" y="2184"/>
                  </a:lnTo>
                  <a:lnTo>
                    <a:pt x="8128" y="1714"/>
                  </a:lnTo>
                  <a:lnTo>
                    <a:pt x="6108" y="1168"/>
                  </a:lnTo>
                  <a:lnTo>
                    <a:pt x="4051" y="850"/>
                  </a:lnTo>
                  <a:lnTo>
                    <a:pt x="2057" y="304"/>
                  </a:lnTo>
                  <a:lnTo>
                    <a:pt x="0" y="0"/>
                  </a:lnTo>
                  <a:close/>
                </a:path>
              </a:pathLst>
            </a:custGeom>
            <a:solidFill>
              <a:srgbClr val="C0C0C0"/>
            </a:solidFill>
          </p:spPr>
          <p:txBody>
            <a:bodyPr wrap="square" lIns="0" tIns="0" rIns="0" bIns="0" rtlCol="0"/>
            <a:lstStyle/>
            <a:p/>
          </p:txBody>
        </p:sp>
        <p:sp>
          <p:nvSpPr>
            <p:cNvPr id="421" name="object 421" descr=""/>
            <p:cNvSpPr/>
            <p:nvPr/>
          </p:nvSpPr>
          <p:spPr>
            <a:xfrm>
              <a:off x="4340344" y="3158206"/>
              <a:ext cx="16510" cy="3810"/>
            </a:xfrm>
            <a:custGeom>
              <a:avLst/>
              <a:gdLst/>
              <a:ahLst/>
              <a:cxnLst/>
              <a:rect l="l" t="t" r="r" b="b"/>
              <a:pathLst>
                <a:path w="16510" h="3810">
                  <a:moveTo>
                    <a:pt x="0" y="0"/>
                  </a:moveTo>
                  <a:lnTo>
                    <a:pt x="38" y="279"/>
                  </a:lnTo>
                  <a:lnTo>
                    <a:pt x="38" y="711"/>
                  </a:lnTo>
                  <a:lnTo>
                    <a:pt x="2095" y="1003"/>
                  </a:lnTo>
                  <a:lnTo>
                    <a:pt x="4089" y="1435"/>
                  </a:lnTo>
                  <a:lnTo>
                    <a:pt x="6108" y="1790"/>
                  </a:lnTo>
                  <a:lnTo>
                    <a:pt x="8127" y="2222"/>
                  </a:lnTo>
                  <a:lnTo>
                    <a:pt x="10147" y="2514"/>
                  </a:lnTo>
                  <a:lnTo>
                    <a:pt x="12204" y="3009"/>
                  </a:lnTo>
                  <a:lnTo>
                    <a:pt x="14262" y="3301"/>
                  </a:lnTo>
                  <a:lnTo>
                    <a:pt x="16332" y="3797"/>
                  </a:lnTo>
                  <a:lnTo>
                    <a:pt x="16332" y="3225"/>
                  </a:lnTo>
                  <a:lnTo>
                    <a:pt x="14262" y="2793"/>
                  </a:lnTo>
                  <a:lnTo>
                    <a:pt x="12204" y="2285"/>
                  </a:lnTo>
                  <a:lnTo>
                    <a:pt x="10147" y="1866"/>
                  </a:lnTo>
                  <a:lnTo>
                    <a:pt x="8127" y="1587"/>
                  </a:lnTo>
                  <a:lnTo>
                    <a:pt x="6108" y="1079"/>
                  </a:lnTo>
                  <a:lnTo>
                    <a:pt x="4051" y="787"/>
                  </a:lnTo>
                  <a:lnTo>
                    <a:pt x="2057" y="279"/>
                  </a:lnTo>
                  <a:lnTo>
                    <a:pt x="0" y="0"/>
                  </a:lnTo>
                  <a:close/>
                </a:path>
              </a:pathLst>
            </a:custGeom>
            <a:solidFill>
              <a:srgbClr val="484948"/>
            </a:solidFill>
          </p:spPr>
          <p:txBody>
            <a:bodyPr wrap="square" lIns="0" tIns="0" rIns="0" bIns="0" rtlCol="0"/>
            <a:lstStyle/>
            <a:p/>
          </p:txBody>
        </p:sp>
        <p:sp>
          <p:nvSpPr>
            <p:cNvPr id="422" name="object 422" descr=""/>
            <p:cNvSpPr/>
            <p:nvPr/>
          </p:nvSpPr>
          <p:spPr>
            <a:xfrm>
              <a:off x="4340348" y="3172797"/>
              <a:ext cx="16510" cy="10795"/>
            </a:xfrm>
            <a:custGeom>
              <a:avLst/>
              <a:gdLst/>
              <a:ahLst/>
              <a:cxnLst/>
              <a:rect l="l" t="t" r="r" b="b"/>
              <a:pathLst>
                <a:path w="16510" h="10794">
                  <a:moveTo>
                    <a:pt x="0" y="0"/>
                  </a:moveTo>
                  <a:lnTo>
                    <a:pt x="0" y="787"/>
                  </a:lnTo>
                  <a:lnTo>
                    <a:pt x="0" y="6959"/>
                  </a:lnTo>
                  <a:lnTo>
                    <a:pt x="2057" y="7353"/>
                  </a:lnTo>
                  <a:lnTo>
                    <a:pt x="4051" y="7810"/>
                  </a:lnTo>
                  <a:lnTo>
                    <a:pt x="6083" y="8204"/>
                  </a:lnTo>
                  <a:lnTo>
                    <a:pt x="8102" y="8750"/>
                  </a:lnTo>
                  <a:lnTo>
                    <a:pt x="10134" y="9220"/>
                  </a:lnTo>
                  <a:lnTo>
                    <a:pt x="14249" y="10325"/>
                  </a:lnTo>
                  <a:lnTo>
                    <a:pt x="16319" y="10795"/>
                  </a:lnTo>
                  <a:lnTo>
                    <a:pt x="16319" y="3822"/>
                  </a:lnTo>
                  <a:lnTo>
                    <a:pt x="12192" y="2743"/>
                  </a:lnTo>
                  <a:lnTo>
                    <a:pt x="4051" y="850"/>
                  </a:lnTo>
                  <a:lnTo>
                    <a:pt x="2057" y="469"/>
                  </a:lnTo>
                  <a:lnTo>
                    <a:pt x="0" y="0"/>
                  </a:lnTo>
                  <a:close/>
                </a:path>
              </a:pathLst>
            </a:custGeom>
            <a:solidFill>
              <a:srgbClr val="7A614F"/>
            </a:solidFill>
          </p:spPr>
          <p:txBody>
            <a:bodyPr wrap="square" lIns="0" tIns="0" rIns="0" bIns="0" rtlCol="0"/>
            <a:lstStyle/>
            <a:p/>
          </p:txBody>
        </p:sp>
        <p:sp>
          <p:nvSpPr>
            <p:cNvPr id="423" name="object 423" descr=""/>
            <p:cNvSpPr/>
            <p:nvPr/>
          </p:nvSpPr>
          <p:spPr>
            <a:xfrm>
              <a:off x="4340348" y="3176598"/>
              <a:ext cx="16510" cy="5715"/>
            </a:xfrm>
            <a:custGeom>
              <a:avLst/>
              <a:gdLst/>
              <a:ahLst/>
              <a:cxnLst/>
              <a:rect l="l" t="t" r="r" b="b"/>
              <a:pathLst>
                <a:path w="16510" h="5714">
                  <a:moveTo>
                    <a:pt x="0" y="0"/>
                  </a:moveTo>
                  <a:lnTo>
                    <a:pt x="0" y="838"/>
                  </a:lnTo>
                  <a:lnTo>
                    <a:pt x="0" y="1663"/>
                  </a:lnTo>
                  <a:lnTo>
                    <a:pt x="2057" y="2070"/>
                  </a:lnTo>
                  <a:lnTo>
                    <a:pt x="4051" y="2654"/>
                  </a:lnTo>
                  <a:lnTo>
                    <a:pt x="6083" y="3073"/>
                  </a:lnTo>
                  <a:lnTo>
                    <a:pt x="8102" y="3644"/>
                  </a:lnTo>
                  <a:lnTo>
                    <a:pt x="12192" y="4648"/>
                  </a:lnTo>
                  <a:lnTo>
                    <a:pt x="14249" y="5232"/>
                  </a:lnTo>
                  <a:lnTo>
                    <a:pt x="16319" y="5715"/>
                  </a:lnTo>
                  <a:lnTo>
                    <a:pt x="16319" y="3975"/>
                  </a:lnTo>
                  <a:lnTo>
                    <a:pt x="10134" y="2501"/>
                  </a:lnTo>
                  <a:lnTo>
                    <a:pt x="8102" y="1993"/>
                  </a:lnTo>
                  <a:lnTo>
                    <a:pt x="6083" y="1409"/>
                  </a:lnTo>
                  <a:lnTo>
                    <a:pt x="4051" y="1003"/>
                  </a:lnTo>
                  <a:lnTo>
                    <a:pt x="2057" y="419"/>
                  </a:lnTo>
                  <a:lnTo>
                    <a:pt x="0" y="0"/>
                  </a:lnTo>
                  <a:close/>
                </a:path>
              </a:pathLst>
            </a:custGeom>
            <a:solidFill>
              <a:srgbClr val="C0C0C0"/>
            </a:solidFill>
          </p:spPr>
          <p:txBody>
            <a:bodyPr wrap="square" lIns="0" tIns="0" rIns="0" bIns="0" rtlCol="0"/>
            <a:lstStyle/>
            <a:p/>
          </p:txBody>
        </p:sp>
        <p:sp>
          <p:nvSpPr>
            <p:cNvPr id="424" name="object 424" descr=""/>
            <p:cNvSpPr/>
            <p:nvPr/>
          </p:nvSpPr>
          <p:spPr>
            <a:xfrm>
              <a:off x="4340348" y="3178516"/>
              <a:ext cx="16510" cy="4445"/>
            </a:xfrm>
            <a:custGeom>
              <a:avLst/>
              <a:gdLst/>
              <a:ahLst/>
              <a:cxnLst/>
              <a:rect l="l" t="t" r="r" b="b"/>
              <a:pathLst>
                <a:path w="16510" h="4444">
                  <a:moveTo>
                    <a:pt x="0" y="0"/>
                  </a:moveTo>
                  <a:lnTo>
                    <a:pt x="0" y="292"/>
                  </a:lnTo>
                  <a:lnTo>
                    <a:pt x="0" y="749"/>
                  </a:lnTo>
                  <a:lnTo>
                    <a:pt x="2057" y="1130"/>
                  </a:lnTo>
                  <a:lnTo>
                    <a:pt x="4051" y="1574"/>
                  </a:lnTo>
                  <a:lnTo>
                    <a:pt x="6083" y="1943"/>
                  </a:lnTo>
                  <a:lnTo>
                    <a:pt x="8102" y="2476"/>
                  </a:lnTo>
                  <a:lnTo>
                    <a:pt x="10134" y="2933"/>
                  </a:lnTo>
                  <a:lnTo>
                    <a:pt x="14249" y="3987"/>
                  </a:lnTo>
                  <a:lnTo>
                    <a:pt x="16319" y="4432"/>
                  </a:lnTo>
                  <a:lnTo>
                    <a:pt x="16319" y="3682"/>
                  </a:lnTo>
                  <a:lnTo>
                    <a:pt x="14249" y="3225"/>
                  </a:lnTo>
                  <a:lnTo>
                    <a:pt x="12192" y="2705"/>
                  </a:lnTo>
                  <a:lnTo>
                    <a:pt x="8102" y="1803"/>
                  </a:lnTo>
                  <a:lnTo>
                    <a:pt x="6083" y="1269"/>
                  </a:lnTo>
                  <a:lnTo>
                    <a:pt x="4051" y="901"/>
                  </a:lnTo>
                  <a:lnTo>
                    <a:pt x="2057" y="368"/>
                  </a:lnTo>
                  <a:lnTo>
                    <a:pt x="0" y="0"/>
                  </a:lnTo>
                  <a:close/>
                </a:path>
              </a:pathLst>
            </a:custGeom>
            <a:solidFill>
              <a:srgbClr val="484948"/>
            </a:solidFill>
          </p:spPr>
          <p:txBody>
            <a:bodyPr wrap="square" lIns="0" tIns="0" rIns="0" bIns="0" rtlCol="0"/>
            <a:lstStyle/>
            <a:p/>
          </p:txBody>
        </p:sp>
        <p:sp>
          <p:nvSpPr>
            <p:cNvPr id="425" name="object 425" descr=""/>
            <p:cNvSpPr/>
            <p:nvPr/>
          </p:nvSpPr>
          <p:spPr>
            <a:xfrm>
              <a:off x="4340348" y="3193108"/>
              <a:ext cx="16510" cy="11430"/>
            </a:xfrm>
            <a:custGeom>
              <a:avLst/>
              <a:gdLst/>
              <a:ahLst/>
              <a:cxnLst/>
              <a:rect l="l" t="t" r="r" b="b"/>
              <a:pathLst>
                <a:path w="16510" h="11430">
                  <a:moveTo>
                    <a:pt x="0" y="0"/>
                  </a:moveTo>
                  <a:lnTo>
                    <a:pt x="0" y="787"/>
                  </a:lnTo>
                  <a:lnTo>
                    <a:pt x="0" y="7048"/>
                  </a:lnTo>
                  <a:lnTo>
                    <a:pt x="2032" y="7607"/>
                  </a:lnTo>
                  <a:lnTo>
                    <a:pt x="4038" y="8089"/>
                  </a:lnTo>
                  <a:lnTo>
                    <a:pt x="6070" y="8636"/>
                  </a:lnTo>
                  <a:lnTo>
                    <a:pt x="8102" y="9283"/>
                  </a:lnTo>
                  <a:lnTo>
                    <a:pt x="10172" y="9753"/>
                  </a:lnTo>
                  <a:lnTo>
                    <a:pt x="16319" y="11417"/>
                  </a:lnTo>
                  <a:lnTo>
                    <a:pt x="16319" y="4368"/>
                  </a:lnTo>
                  <a:lnTo>
                    <a:pt x="14287" y="3721"/>
                  </a:lnTo>
                  <a:lnTo>
                    <a:pt x="12217" y="3162"/>
                  </a:lnTo>
                  <a:lnTo>
                    <a:pt x="10172" y="2692"/>
                  </a:lnTo>
                  <a:lnTo>
                    <a:pt x="6070" y="1587"/>
                  </a:lnTo>
                  <a:lnTo>
                    <a:pt x="4038" y="1104"/>
                  </a:lnTo>
                  <a:lnTo>
                    <a:pt x="0" y="0"/>
                  </a:lnTo>
                  <a:close/>
                </a:path>
              </a:pathLst>
            </a:custGeom>
            <a:solidFill>
              <a:srgbClr val="7A614F"/>
            </a:solidFill>
          </p:spPr>
          <p:txBody>
            <a:bodyPr wrap="square" lIns="0" tIns="0" rIns="0" bIns="0" rtlCol="0"/>
            <a:lstStyle/>
            <a:p/>
          </p:txBody>
        </p:sp>
        <p:sp>
          <p:nvSpPr>
            <p:cNvPr id="426" name="object 426" descr=""/>
            <p:cNvSpPr/>
            <p:nvPr/>
          </p:nvSpPr>
          <p:spPr>
            <a:xfrm>
              <a:off x="4340348" y="3196912"/>
              <a:ext cx="16510" cy="5715"/>
            </a:xfrm>
            <a:custGeom>
              <a:avLst/>
              <a:gdLst/>
              <a:ahLst/>
              <a:cxnLst/>
              <a:rect l="l" t="t" r="r" b="b"/>
              <a:pathLst>
                <a:path w="16510" h="5714">
                  <a:moveTo>
                    <a:pt x="0" y="0"/>
                  </a:moveTo>
                  <a:lnTo>
                    <a:pt x="0" y="698"/>
                  </a:lnTo>
                  <a:lnTo>
                    <a:pt x="0" y="1460"/>
                  </a:lnTo>
                  <a:lnTo>
                    <a:pt x="2032" y="2006"/>
                  </a:lnTo>
                  <a:lnTo>
                    <a:pt x="4038" y="2463"/>
                  </a:lnTo>
                  <a:lnTo>
                    <a:pt x="6070" y="3009"/>
                  </a:lnTo>
                  <a:lnTo>
                    <a:pt x="8102" y="3619"/>
                  </a:lnTo>
                  <a:lnTo>
                    <a:pt x="10172" y="4089"/>
                  </a:lnTo>
                  <a:lnTo>
                    <a:pt x="16319" y="5715"/>
                  </a:lnTo>
                  <a:lnTo>
                    <a:pt x="16319" y="4241"/>
                  </a:lnTo>
                  <a:lnTo>
                    <a:pt x="14287" y="3619"/>
                  </a:lnTo>
                  <a:lnTo>
                    <a:pt x="12217" y="3086"/>
                  </a:lnTo>
                  <a:lnTo>
                    <a:pt x="10172" y="2628"/>
                  </a:lnTo>
                  <a:lnTo>
                    <a:pt x="6070" y="1549"/>
                  </a:lnTo>
                  <a:lnTo>
                    <a:pt x="4038" y="1079"/>
                  </a:lnTo>
                  <a:lnTo>
                    <a:pt x="0" y="0"/>
                  </a:lnTo>
                  <a:close/>
                </a:path>
              </a:pathLst>
            </a:custGeom>
            <a:solidFill>
              <a:srgbClr val="C0C0C0"/>
            </a:solidFill>
          </p:spPr>
          <p:txBody>
            <a:bodyPr wrap="square" lIns="0" tIns="0" rIns="0" bIns="0" rtlCol="0"/>
            <a:lstStyle/>
            <a:p/>
          </p:txBody>
        </p:sp>
        <p:sp>
          <p:nvSpPr>
            <p:cNvPr id="427" name="object 427" descr=""/>
            <p:cNvSpPr/>
            <p:nvPr/>
          </p:nvSpPr>
          <p:spPr>
            <a:xfrm>
              <a:off x="4340348" y="3198177"/>
              <a:ext cx="16510" cy="5080"/>
            </a:xfrm>
            <a:custGeom>
              <a:avLst/>
              <a:gdLst/>
              <a:ahLst/>
              <a:cxnLst/>
              <a:rect l="l" t="t" r="r" b="b"/>
              <a:pathLst>
                <a:path w="16510" h="5080">
                  <a:moveTo>
                    <a:pt x="0" y="0"/>
                  </a:moveTo>
                  <a:lnTo>
                    <a:pt x="0" y="393"/>
                  </a:lnTo>
                  <a:lnTo>
                    <a:pt x="0" y="787"/>
                  </a:lnTo>
                  <a:lnTo>
                    <a:pt x="2032" y="1333"/>
                  </a:lnTo>
                  <a:lnTo>
                    <a:pt x="4038" y="1803"/>
                  </a:lnTo>
                  <a:lnTo>
                    <a:pt x="6070" y="2349"/>
                  </a:lnTo>
                  <a:lnTo>
                    <a:pt x="8102" y="2971"/>
                  </a:lnTo>
                  <a:lnTo>
                    <a:pt x="10172" y="3441"/>
                  </a:lnTo>
                  <a:lnTo>
                    <a:pt x="16319" y="5080"/>
                  </a:lnTo>
                  <a:lnTo>
                    <a:pt x="16319" y="4305"/>
                  </a:lnTo>
                  <a:lnTo>
                    <a:pt x="10172" y="2654"/>
                  </a:lnTo>
                  <a:lnTo>
                    <a:pt x="8102" y="2184"/>
                  </a:lnTo>
                  <a:lnTo>
                    <a:pt x="6070" y="1574"/>
                  </a:lnTo>
                  <a:lnTo>
                    <a:pt x="4038" y="1016"/>
                  </a:lnTo>
                  <a:lnTo>
                    <a:pt x="2032" y="558"/>
                  </a:lnTo>
                  <a:lnTo>
                    <a:pt x="0" y="0"/>
                  </a:lnTo>
                  <a:close/>
                </a:path>
              </a:pathLst>
            </a:custGeom>
            <a:solidFill>
              <a:srgbClr val="484948"/>
            </a:solidFill>
          </p:spPr>
          <p:txBody>
            <a:bodyPr wrap="square" lIns="0" tIns="0" rIns="0" bIns="0" rtlCol="0"/>
            <a:lstStyle/>
            <a:p/>
          </p:txBody>
        </p:sp>
        <p:sp>
          <p:nvSpPr>
            <p:cNvPr id="428" name="object 428" descr=""/>
            <p:cNvSpPr/>
            <p:nvPr/>
          </p:nvSpPr>
          <p:spPr>
            <a:xfrm>
              <a:off x="4340344" y="3213411"/>
              <a:ext cx="16510" cy="11430"/>
            </a:xfrm>
            <a:custGeom>
              <a:avLst/>
              <a:gdLst/>
              <a:ahLst/>
              <a:cxnLst/>
              <a:rect l="l" t="t" r="r" b="b"/>
              <a:pathLst>
                <a:path w="16510" h="11430">
                  <a:moveTo>
                    <a:pt x="0" y="0"/>
                  </a:moveTo>
                  <a:lnTo>
                    <a:pt x="38" y="762"/>
                  </a:lnTo>
                  <a:lnTo>
                    <a:pt x="38" y="6667"/>
                  </a:lnTo>
                  <a:lnTo>
                    <a:pt x="2108" y="7124"/>
                  </a:lnTo>
                  <a:lnTo>
                    <a:pt x="6134" y="8356"/>
                  </a:lnTo>
                  <a:lnTo>
                    <a:pt x="8127" y="8890"/>
                  </a:lnTo>
                  <a:lnTo>
                    <a:pt x="14287" y="10731"/>
                  </a:lnTo>
                  <a:lnTo>
                    <a:pt x="16332" y="11430"/>
                  </a:lnTo>
                  <a:lnTo>
                    <a:pt x="16332" y="4521"/>
                  </a:lnTo>
                  <a:lnTo>
                    <a:pt x="12217" y="3302"/>
                  </a:lnTo>
                  <a:lnTo>
                    <a:pt x="8127" y="2222"/>
                  </a:lnTo>
                  <a:lnTo>
                    <a:pt x="6095" y="1612"/>
                  </a:lnTo>
                  <a:lnTo>
                    <a:pt x="0" y="0"/>
                  </a:lnTo>
                  <a:close/>
                </a:path>
              </a:pathLst>
            </a:custGeom>
            <a:solidFill>
              <a:srgbClr val="7A614F"/>
            </a:solidFill>
          </p:spPr>
          <p:txBody>
            <a:bodyPr wrap="square" lIns="0" tIns="0" rIns="0" bIns="0" rtlCol="0"/>
            <a:lstStyle/>
            <a:p/>
          </p:txBody>
        </p:sp>
        <p:sp>
          <p:nvSpPr>
            <p:cNvPr id="429" name="object 429" descr=""/>
            <p:cNvSpPr/>
            <p:nvPr/>
          </p:nvSpPr>
          <p:spPr>
            <a:xfrm>
              <a:off x="4340348" y="3217222"/>
              <a:ext cx="16510" cy="6350"/>
            </a:xfrm>
            <a:custGeom>
              <a:avLst/>
              <a:gdLst/>
              <a:ahLst/>
              <a:cxnLst/>
              <a:rect l="l" t="t" r="r" b="b"/>
              <a:pathLst>
                <a:path w="16510" h="6350">
                  <a:moveTo>
                    <a:pt x="0" y="0"/>
                  </a:moveTo>
                  <a:lnTo>
                    <a:pt x="0" y="711"/>
                  </a:lnTo>
                  <a:lnTo>
                    <a:pt x="0" y="1422"/>
                  </a:lnTo>
                  <a:lnTo>
                    <a:pt x="2070" y="1905"/>
                  </a:lnTo>
                  <a:lnTo>
                    <a:pt x="6108" y="3162"/>
                  </a:lnTo>
                  <a:lnTo>
                    <a:pt x="8102" y="3810"/>
                  </a:lnTo>
                  <a:lnTo>
                    <a:pt x="10172" y="4279"/>
                  </a:lnTo>
                  <a:lnTo>
                    <a:pt x="12217" y="4991"/>
                  </a:lnTo>
                  <a:lnTo>
                    <a:pt x="14287" y="5626"/>
                  </a:lnTo>
                  <a:lnTo>
                    <a:pt x="16319" y="6350"/>
                  </a:lnTo>
                  <a:lnTo>
                    <a:pt x="16319" y="4762"/>
                  </a:lnTo>
                  <a:lnTo>
                    <a:pt x="14287" y="4051"/>
                  </a:lnTo>
                  <a:lnTo>
                    <a:pt x="12217" y="3492"/>
                  </a:lnTo>
                  <a:lnTo>
                    <a:pt x="10172" y="2768"/>
                  </a:lnTo>
                  <a:lnTo>
                    <a:pt x="8102" y="2298"/>
                  </a:lnTo>
                  <a:lnTo>
                    <a:pt x="4064" y="1028"/>
                  </a:lnTo>
                  <a:lnTo>
                    <a:pt x="2070" y="546"/>
                  </a:lnTo>
                  <a:lnTo>
                    <a:pt x="0" y="0"/>
                  </a:lnTo>
                  <a:close/>
                </a:path>
              </a:pathLst>
            </a:custGeom>
            <a:solidFill>
              <a:srgbClr val="C0C0C0"/>
            </a:solidFill>
          </p:spPr>
          <p:txBody>
            <a:bodyPr wrap="square" lIns="0" tIns="0" rIns="0" bIns="0" rtlCol="0"/>
            <a:lstStyle/>
            <a:p/>
          </p:txBody>
        </p:sp>
        <p:sp>
          <p:nvSpPr>
            <p:cNvPr id="430" name="object 430" descr=""/>
            <p:cNvSpPr/>
            <p:nvPr/>
          </p:nvSpPr>
          <p:spPr>
            <a:xfrm>
              <a:off x="4340348" y="3218488"/>
              <a:ext cx="16510" cy="5715"/>
            </a:xfrm>
            <a:custGeom>
              <a:avLst/>
              <a:gdLst/>
              <a:ahLst/>
              <a:cxnLst/>
              <a:rect l="l" t="t" r="r" b="b"/>
              <a:pathLst>
                <a:path w="16510" h="5714">
                  <a:moveTo>
                    <a:pt x="0" y="0"/>
                  </a:moveTo>
                  <a:lnTo>
                    <a:pt x="0" y="393"/>
                  </a:lnTo>
                  <a:lnTo>
                    <a:pt x="0" y="800"/>
                  </a:lnTo>
                  <a:lnTo>
                    <a:pt x="2070" y="1270"/>
                  </a:lnTo>
                  <a:lnTo>
                    <a:pt x="6108" y="2540"/>
                  </a:lnTo>
                  <a:lnTo>
                    <a:pt x="8102" y="3086"/>
                  </a:lnTo>
                  <a:lnTo>
                    <a:pt x="14287" y="5003"/>
                  </a:lnTo>
                  <a:lnTo>
                    <a:pt x="16319" y="5715"/>
                  </a:lnTo>
                  <a:lnTo>
                    <a:pt x="16319" y="4914"/>
                  </a:lnTo>
                  <a:lnTo>
                    <a:pt x="14287" y="4203"/>
                  </a:lnTo>
                  <a:lnTo>
                    <a:pt x="12217" y="3568"/>
                  </a:lnTo>
                  <a:lnTo>
                    <a:pt x="10172" y="2857"/>
                  </a:lnTo>
                  <a:lnTo>
                    <a:pt x="8102" y="2387"/>
                  </a:lnTo>
                  <a:lnTo>
                    <a:pt x="6108" y="1739"/>
                  </a:lnTo>
                  <a:lnTo>
                    <a:pt x="4064" y="1117"/>
                  </a:lnTo>
                  <a:lnTo>
                    <a:pt x="2070" y="469"/>
                  </a:lnTo>
                  <a:lnTo>
                    <a:pt x="0" y="0"/>
                  </a:lnTo>
                  <a:close/>
                </a:path>
              </a:pathLst>
            </a:custGeom>
            <a:solidFill>
              <a:srgbClr val="484948"/>
            </a:solidFill>
          </p:spPr>
          <p:txBody>
            <a:bodyPr wrap="square" lIns="0" tIns="0" rIns="0" bIns="0" rtlCol="0"/>
            <a:lstStyle/>
            <a:p/>
          </p:txBody>
        </p:sp>
        <p:sp>
          <p:nvSpPr>
            <p:cNvPr id="431" name="object 431" descr=""/>
            <p:cNvSpPr/>
            <p:nvPr/>
          </p:nvSpPr>
          <p:spPr>
            <a:xfrm>
              <a:off x="4305973" y="3056674"/>
              <a:ext cx="17145" cy="161925"/>
            </a:xfrm>
            <a:custGeom>
              <a:avLst/>
              <a:gdLst/>
              <a:ahLst/>
              <a:cxnLst/>
              <a:rect l="l" t="t" r="r" b="b"/>
              <a:pathLst>
                <a:path w="17145" h="161925">
                  <a:moveTo>
                    <a:pt x="0" y="0"/>
                  </a:moveTo>
                  <a:lnTo>
                    <a:pt x="660" y="156971"/>
                  </a:lnTo>
                  <a:lnTo>
                    <a:pt x="16662" y="161810"/>
                  </a:lnTo>
                  <a:lnTo>
                    <a:pt x="16217" y="1346"/>
                  </a:lnTo>
                  <a:lnTo>
                    <a:pt x="0" y="0"/>
                  </a:lnTo>
                  <a:close/>
                </a:path>
              </a:pathLst>
            </a:custGeom>
            <a:solidFill>
              <a:srgbClr val="A7A8A7"/>
            </a:solidFill>
          </p:spPr>
          <p:txBody>
            <a:bodyPr wrap="square" lIns="0" tIns="0" rIns="0" bIns="0" rtlCol="0"/>
            <a:lstStyle/>
            <a:p/>
          </p:txBody>
        </p:sp>
        <p:sp>
          <p:nvSpPr>
            <p:cNvPr id="432" name="object 432" descr=""/>
            <p:cNvSpPr/>
            <p:nvPr/>
          </p:nvSpPr>
          <p:spPr>
            <a:xfrm>
              <a:off x="4306321" y="3056672"/>
              <a:ext cx="15875" cy="152400"/>
            </a:xfrm>
            <a:custGeom>
              <a:avLst/>
              <a:gdLst/>
              <a:ahLst/>
              <a:cxnLst/>
              <a:rect l="l" t="t" r="r" b="b"/>
              <a:pathLst>
                <a:path w="15875" h="152400">
                  <a:moveTo>
                    <a:pt x="0" y="0"/>
                  </a:moveTo>
                  <a:lnTo>
                    <a:pt x="660" y="148018"/>
                  </a:lnTo>
                  <a:lnTo>
                    <a:pt x="15278" y="152298"/>
                  </a:lnTo>
                  <a:lnTo>
                    <a:pt x="14795" y="1346"/>
                  </a:lnTo>
                  <a:lnTo>
                    <a:pt x="0" y="0"/>
                  </a:lnTo>
                  <a:close/>
                </a:path>
              </a:pathLst>
            </a:custGeom>
            <a:solidFill>
              <a:srgbClr val="3B3030"/>
            </a:solidFill>
          </p:spPr>
          <p:txBody>
            <a:bodyPr wrap="square" lIns="0" tIns="0" rIns="0" bIns="0" rtlCol="0"/>
            <a:lstStyle/>
            <a:p/>
          </p:txBody>
        </p:sp>
        <p:sp>
          <p:nvSpPr>
            <p:cNvPr id="433" name="object 433" descr=""/>
            <p:cNvSpPr/>
            <p:nvPr/>
          </p:nvSpPr>
          <p:spPr>
            <a:xfrm>
              <a:off x="4308741" y="3057067"/>
              <a:ext cx="13335" cy="149860"/>
            </a:xfrm>
            <a:custGeom>
              <a:avLst/>
              <a:gdLst/>
              <a:ahLst/>
              <a:cxnLst/>
              <a:rect l="l" t="t" r="r" b="b"/>
              <a:pathLst>
                <a:path w="13335" h="149860">
                  <a:moveTo>
                    <a:pt x="12852" y="147320"/>
                  </a:moveTo>
                  <a:lnTo>
                    <a:pt x="12839" y="146050"/>
                  </a:lnTo>
                  <a:lnTo>
                    <a:pt x="12598" y="146050"/>
                  </a:lnTo>
                  <a:lnTo>
                    <a:pt x="12598" y="1270"/>
                  </a:lnTo>
                  <a:lnTo>
                    <a:pt x="4737" y="1270"/>
                  </a:lnTo>
                  <a:lnTo>
                    <a:pt x="4737" y="0"/>
                  </a:lnTo>
                  <a:lnTo>
                    <a:pt x="0" y="0"/>
                  </a:lnTo>
                  <a:lnTo>
                    <a:pt x="0" y="1270"/>
                  </a:lnTo>
                  <a:lnTo>
                    <a:pt x="304" y="1270"/>
                  </a:lnTo>
                  <a:lnTo>
                    <a:pt x="304" y="146050"/>
                  </a:lnTo>
                  <a:lnTo>
                    <a:pt x="965" y="146050"/>
                  </a:lnTo>
                  <a:lnTo>
                    <a:pt x="965" y="147320"/>
                  </a:lnTo>
                  <a:lnTo>
                    <a:pt x="8166" y="147320"/>
                  </a:lnTo>
                  <a:lnTo>
                    <a:pt x="8166" y="149860"/>
                  </a:lnTo>
                  <a:lnTo>
                    <a:pt x="12852" y="149860"/>
                  </a:lnTo>
                  <a:lnTo>
                    <a:pt x="12852" y="147320"/>
                  </a:lnTo>
                  <a:close/>
                </a:path>
              </a:pathLst>
            </a:custGeom>
            <a:solidFill>
              <a:srgbClr val="241919"/>
            </a:solidFill>
          </p:spPr>
          <p:txBody>
            <a:bodyPr wrap="square" lIns="0" tIns="0" rIns="0" bIns="0" rtlCol="0"/>
            <a:lstStyle/>
            <a:p/>
          </p:txBody>
        </p:sp>
        <p:sp>
          <p:nvSpPr>
            <p:cNvPr id="434" name="object 434" descr=""/>
            <p:cNvSpPr/>
            <p:nvPr/>
          </p:nvSpPr>
          <p:spPr>
            <a:xfrm>
              <a:off x="4310545" y="3057690"/>
              <a:ext cx="11430" cy="149860"/>
            </a:xfrm>
            <a:custGeom>
              <a:avLst/>
              <a:gdLst/>
              <a:ahLst/>
              <a:cxnLst/>
              <a:rect l="l" t="t" r="r" b="b"/>
              <a:pathLst>
                <a:path w="11429" h="149860">
                  <a:moveTo>
                    <a:pt x="11049" y="146050"/>
                  </a:moveTo>
                  <a:lnTo>
                    <a:pt x="10820" y="146050"/>
                  </a:lnTo>
                  <a:lnTo>
                    <a:pt x="10820" y="8890"/>
                  </a:lnTo>
                  <a:lnTo>
                    <a:pt x="10579" y="8890"/>
                  </a:lnTo>
                  <a:lnTo>
                    <a:pt x="10579" y="0"/>
                  </a:lnTo>
                  <a:lnTo>
                    <a:pt x="0" y="0"/>
                  </a:lnTo>
                  <a:lnTo>
                    <a:pt x="0" y="8890"/>
                  </a:lnTo>
                  <a:lnTo>
                    <a:pt x="279" y="8890"/>
                  </a:lnTo>
                  <a:lnTo>
                    <a:pt x="279" y="146050"/>
                  </a:lnTo>
                  <a:lnTo>
                    <a:pt x="6197" y="146050"/>
                  </a:lnTo>
                  <a:lnTo>
                    <a:pt x="6197" y="149860"/>
                  </a:lnTo>
                  <a:lnTo>
                    <a:pt x="11049" y="149860"/>
                  </a:lnTo>
                  <a:lnTo>
                    <a:pt x="11049" y="146050"/>
                  </a:lnTo>
                  <a:close/>
                </a:path>
              </a:pathLst>
            </a:custGeom>
            <a:solidFill>
              <a:srgbClr val="0A0000"/>
            </a:solidFill>
          </p:spPr>
          <p:txBody>
            <a:bodyPr wrap="square" lIns="0" tIns="0" rIns="0" bIns="0" rtlCol="0"/>
            <a:lstStyle/>
            <a:p/>
          </p:txBody>
        </p:sp>
        <p:sp>
          <p:nvSpPr>
            <p:cNvPr id="435" name="object 435" descr=""/>
            <p:cNvSpPr/>
            <p:nvPr/>
          </p:nvSpPr>
          <p:spPr>
            <a:xfrm>
              <a:off x="4306317" y="3067453"/>
              <a:ext cx="15875" cy="8890"/>
            </a:xfrm>
            <a:custGeom>
              <a:avLst/>
              <a:gdLst/>
              <a:ahLst/>
              <a:cxnLst/>
              <a:rect l="l" t="t" r="r" b="b"/>
              <a:pathLst>
                <a:path w="15875" h="8889">
                  <a:moveTo>
                    <a:pt x="0" y="0"/>
                  </a:moveTo>
                  <a:lnTo>
                    <a:pt x="38" y="838"/>
                  </a:lnTo>
                  <a:lnTo>
                    <a:pt x="38" y="7061"/>
                  </a:lnTo>
                  <a:lnTo>
                    <a:pt x="1993" y="7226"/>
                  </a:lnTo>
                  <a:lnTo>
                    <a:pt x="7594" y="7975"/>
                  </a:lnTo>
                  <a:lnTo>
                    <a:pt x="9537" y="8140"/>
                  </a:lnTo>
                  <a:lnTo>
                    <a:pt x="11455" y="8470"/>
                  </a:lnTo>
                  <a:lnTo>
                    <a:pt x="13360" y="8648"/>
                  </a:lnTo>
                  <a:lnTo>
                    <a:pt x="15290" y="8890"/>
                  </a:lnTo>
                  <a:lnTo>
                    <a:pt x="15290" y="2501"/>
                  </a:lnTo>
                  <a:lnTo>
                    <a:pt x="15252" y="1663"/>
                  </a:lnTo>
                  <a:lnTo>
                    <a:pt x="13334" y="1333"/>
                  </a:lnTo>
                  <a:lnTo>
                    <a:pt x="7594" y="838"/>
                  </a:lnTo>
                  <a:lnTo>
                    <a:pt x="5714" y="508"/>
                  </a:lnTo>
                  <a:lnTo>
                    <a:pt x="0" y="0"/>
                  </a:lnTo>
                  <a:close/>
                </a:path>
              </a:pathLst>
            </a:custGeom>
            <a:solidFill>
              <a:srgbClr val="7A614F"/>
            </a:solidFill>
          </p:spPr>
          <p:txBody>
            <a:bodyPr wrap="square" lIns="0" tIns="0" rIns="0" bIns="0" rtlCol="0"/>
            <a:lstStyle/>
            <a:p/>
          </p:txBody>
        </p:sp>
        <p:sp>
          <p:nvSpPr>
            <p:cNvPr id="436" name="object 436" descr=""/>
            <p:cNvSpPr/>
            <p:nvPr/>
          </p:nvSpPr>
          <p:spPr>
            <a:xfrm>
              <a:off x="4306321" y="3071260"/>
              <a:ext cx="15875" cy="3810"/>
            </a:xfrm>
            <a:custGeom>
              <a:avLst/>
              <a:gdLst/>
              <a:ahLst/>
              <a:cxnLst/>
              <a:rect l="l" t="t" r="r" b="b"/>
              <a:pathLst>
                <a:path w="15875" h="3810">
                  <a:moveTo>
                    <a:pt x="0" y="0"/>
                  </a:moveTo>
                  <a:lnTo>
                    <a:pt x="0" y="723"/>
                  </a:lnTo>
                  <a:lnTo>
                    <a:pt x="0" y="1511"/>
                  </a:lnTo>
                  <a:lnTo>
                    <a:pt x="1968" y="1676"/>
                  </a:lnTo>
                  <a:lnTo>
                    <a:pt x="3822" y="1917"/>
                  </a:lnTo>
                  <a:lnTo>
                    <a:pt x="5740" y="2070"/>
                  </a:lnTo>
                  <a:lnTo>
                    <a:pt x="7594" y="2298"/>
                  </a:lnTo>
                  <a:lnTo>
                    <a:pt x="9537" y="2463"/>
                  </a:lnTo>
                  <a:lnTo>
                    <a:pt x="15278" y="3187"/>
                  </a:lnTo>
                  <a:lnTo>
                    <a:pt x="15278" y="1587"/>
                  </a:lnTo>
                  <a:lnTo>
                    <a:pt x="13360" y="1358"/>
                  </a:lnTo>
                  <a:lnTo>
                    <a:pt x="9537" y="1028"/>
                  </a:lnTo>
                  <a:lnTo>
                    <a:pt x="5740" y="558"/>
                  </a:lnTo>
                  <a:lnTo>
                    <a:pt x="1968" y="241"/>
                  </a:lnTo>
                  <a:lnTo>
                    <a:pt x="0" y="0"/>
                  </a:lnTo>
                  <a:close/>
                </a:path>
              </a:pathLst>
            </a:custGeom>
            <a:solidFill>
              <a:srgbClr val="C0C0C0"/>
            </a:solidFill>
          </p:spPr>
          <p:txBody>
            <a:bodyPr wrap="square" lIns="0" tIns="0" rIns="0" bIns="0" rtlCol="0"/>
            <a:lstStyle/>
            <a:p/>
          </p:txBody>
        </p:sp>
        <p:sp>
          <p:nvSpPr>
            <p:cNvPr id="437" name="object 437" descr=""/>
            <p:cNvSpPr/>
            <p:nvPr/>
          </p:nvSpPr>
          <p:spPr>
            <a:xfrm>
              <a:off x="4306321" y="3073175"/>
              <a:ext cx="15875" cy="1905"/>
            </a:xfrm>
            <a:custGeom>
              <a:avLst/>
              <a:gdLst/>
              <a:ahLst/>
              <a:cxnLst/>
              <a:rect l="l" t="t" r="r" b="b"/>
              <a:pathLst>
                <a:path w="15875" h="1905">
                  <a:moveTo>
                    <a:pt x="0" y="0"/>
                  </a:moveTo>
                  <a:lnTo>
                    <a:pt x="0" y="317"/>
                  </a:lnTo>
                  <a:lnTo>
                    <a:pt x="0" y="622"/>
                  </a:lnTo>
                  <a:lnTo>
                    <a:pt x="1955" y="749"/>
                  </a:lnTo>
                  <a:lnTo>
                    <a:pt x="3810" y="939"/>
                  </a:lnTo>
                  <a:lnTo>
                    <a:pt x="5727" y="1066"/>
                  </a:lnTo>
                  <a:lnTo>
                    <a:pt x="7569" y="1270"/>
                  </a:lnTo>
                  <a:lnTo>
                    <a:pt x="9525" y="1397"/>
                  </a:lnTo>
                  <a:lnTo>
                    <a:pt x="11442" y="1587"/>
                  </a:lnTo>
                  <a:lnTo>
                    <a:pt x="13360" y="1714"/>
                  </a:lnTo>
                  <a:lnTo>
                    <a:pt x="15278" y="1892"/>
                  </a:lnTo>
                  <a:lnTo>
                    <a:pt x="15252" y="1320"/>
                  </a:lnTo>
                  <a:lnTo>
                    <a:pt x="9525" y="749"/>
                  </a:lnTo>
                  <a:lnTo>
                    <a:pt x="7569" y="622"/>
                  </a:lnTo>
                  <a:lnTo>
                    <a:pt x="5727" y="444"/>
                  </a:lnTo>
                  <a:lnTo>
                    <a:pt x="3810" y="317"/>
                  </a:lnTo>
                  <a:lnTo>
                    <a:pt x="1955" y="127"/>
                  </a:lnTo>
                  <a:lnTo>
                    <a:pt x="0" y="0"/>
                  </a:lnTo>
                  <a:close/>
                </a:path>
              </a:pathLst>
            </a:custGeom>
            <a:solidFill>
              <a:srgbClr val="484948"/>
            </a:solidFill>
          </p:spPr>
          <p:txBody>
            <a:bodyPr wrap="square" lIns="0" tIns="0" rIns="0" bIns="0" rtlCol="0"/>
            <a:lstStyle/>
            <a:p/>
          </p:txBody>
        </p:sp>
        <p:sp>
          <p:nvSpPr>
            <p:cNvPr id="438" name="object 438" descr=""/>
            <p:cNvSpPr/>
            <p:nvPr/>
          </p:nvSpPr>
          <p:spPr>
            <a:xfrm>
              <a:off x="4306321" y="3087128"/>
              <a:ext cx="15875" cy="8890"/>
            </a:xfrm>
            <a:custGeom>
              <a:avLst/>
              <a:gdLst/>
              <a:ahLst/>
              <a:cxnLst/>
              <a:rect l="l" t="t" r="r" b="b"/>
              <a:pathLst>
                <a:path w="15875" h="8889">
                  <a:moveTo>
                    <a:pt x="0" y="0"/>
                  </a:moveTo>
                  <a:lnTo>
                    <a:pt x="0" y="800"/>
                  </a:lnTo>
                  <a:lnTo>
                    <a:pt x="0" y="6718"/>
                  </a:lnTo>
                  <a:lnTo>
                    <a:pt x="3784" y="7200"/>
                  </a:lnTo>
                  <a:lnTo>
                    <a:pt x="5702" y="7518"/>
                  </a:lnTo>
                  <a:lnTo>
                    <a:pt x="9512" y="8000"/>
                  </a:lnTo>
                  <a:lnTo>
                    <a:pt x="11430" y="8318"/>
                  </a:lnTo>
                  <a:lnTo>
                    <a:pt x="13398" y="8559"/>
                  </a:lnTo>
                  <a:lnTo>
                    <a:pt x="15278" y="8877"/>
                  </a:lnTo>
                  <a:lnTo>
                    <a:pt x="15278" y="6159"/>
                  </a:lnTo>
                  <a:lnTo>
                    <a:pt x="15252" y="2717"/>
                  </a:lnTo>
                  <a:lnTo>
                    <a:pt x="15214" y="1917"/>
                  </a:lnTo>
                  <a:lnTo>
                    <a:pt x="13284" y="1676"/>
                  </a:lnTo>
                  <a:lnTo>
                    <a:pt x="11391" y="1358"/>
                  </a:lnTo>
                  <a:lnTo>
                    <a:pt x="9512" y="1117"/>
                  </a:lnTo>
                  <a:lnTo>
                    <a:pt x="7594" y="965"/>
                  </a:lnTo>
                  <a:lnTo>
                    <a:pt x="5702" y="723"/>
                  </a:lnTo>
                  <a:lnTo>
                    <a:pt x="3784" y="406"/>
                  </a:lnTo>
                  <a:lnTo>
                    <a:pt x="1930" y="165"/>
                  </a:lnTo>
                  <a:lnTo>
                    <a:pt x="0" y="0"/>
                  </a:lnTo>
                  <a:close/>
                </a:path>
              </a:pathLst>
            </a:custGeom>
            <a:solidFill>
              <a:srgbClr val="7A614F"/>
            </a:solidFill>
          </p:spPr>
          <p:txBody>
            <a:bodyPr wrap="square" lIns="0" tIns="0" rIns="0" bIns="0" rtlCol="0"/>
            <a:lstStyle/>
            <a:p/>
          </p:txBody>
        </p:sp>
        <p:sp>
          <p:nvSpPr>
            <p:cNvPr id="439" name="object 439" descr=""/>
            <p:cNvSpPr/>
            <p:nvPr/>
          </p:nvSpPr>
          <p:spPr>
            <a:xfrm>
              <a:off x="4306321" y="3090937"/>
              <a:ext cx="15875" cy="3175"/>
            </a:xfrm>
            <a:custGeom>
              <a:avLst/>
              <a:gdLst/>
              <a:ahLst/>
              <a:cxnLst/>
              <a:rect l="l" t="t" r="r" b="b"/>
              <a:pathLst>
                <a:path w="15875" h="3175">
                  <a:moveTo>
                    <a:pt x="0" y="0"/>
                  </a:moveTo>
                  <a:lnTo>
                    <a:pt x="0" y="660"/>
                  </a:lnTo>
                  <a:lnTo>
                    <a:pt x="0" y="1409"/>
                  </a:lnTo>
                  <a:lnTo>
                    <a:pt x="1930" y="1549"/>
                  </a:lnTo>
                  <a:lnTo>
                    <a:pt x="3784" y="1854"/>
                  </a:lnTo>
                  <a:lnTo>
                    <a:pt x="7594" y="2285"/>
                  </a:lnTo>
                  <a:lnTo>
                    <a:pt x="9512" y="2438"/>
                  </a:lnTo>
                  <a:lnTo>
                    <a:pt x="11430" y="2730"/>
                  </a:lnTo>
                  <a:lnTo>
                    <a:pt x="15278" y="3174"/>
                  </a:lnTo>
                  <a:lnTo>
                    <a:pt x="15278" y="1917"/>
                  </a:lnTo>
                  <a:lnTo>
                    <a:pt x="13398" y="1549"/>
                  </a:lnTo>
                  <a:lnTo>
                    <a:pt x="9512" y="1104"/>
                  </a:lnTo>
                  <a:lnTo>
                    <a:pt x="7594" y="812"/>
                  </a:lnTo>
                  <a:lnTo>
                    <a:pt x="1930" y="152"/>
                  </a:lnTo>
                  <a:lnTo>
                    <a:pt x="0" y="0"/>
                  </a:lnTo>
                  <a:close/>
                </a:path>
              </a:pathLst>
            </a:custGeom>
            <a:solidFill>
              <a:srgbClr val="C0C0C0"/>
            </a:solidFill>
          </p:spPr>
          <p:txBody>
            <a:bodyPr wrap="square" lIns="0" tIns="0" rIns="0" bIns="0" rtlCol="0"/>
            <a:lstStyle/>
            <a:p/>
          </p:txBody>
        </p:sp>
        <p:sp>
          <p:nvSpPr>
            <p:cNvPr id="440" name="object 440" descr=""/>
            <p:cNvSpPr/>
            <p:nvPr/>
          </p:nvSpPr>
          <p:spPr>
            <a:xfrm>
              <a:off x="4306321" y="3092199"/>
              <a:ext cx="15875" cy="3175"/>
            </a:xfrm>
            <a:custGeom>
              <a:avLst/>
              <a:gdLst/>
              <a:ahLst/>
              <a:cxnLst/>
              <a:rect l="l" t="t" r="r" b="b"/>
              <a:pathLst>
                <a:path w="15875" h="3175">
                  <a:moveTo>
                    <a:pt x="0" y="0"/>
                  </a:moveTo>
                  <a:lnTo>
                    <a:pt x="0" y="381"/>
                  </a:lnTo>
                  <a:lnTo>
                    <a:pt x="0" y="762"/>
                  </a:lnTo>
                  <a:lnTo>
                    <a:pt x="1930" y="1028"/>
                  </a:lnTo>
                  <a:lnTo>
                    <a:pt x="3784" y="1320"/>
                  </a:lnTo>
                  <a:lnTo>
                    <a:pt x="5702" y="1689"/>
                  </a:lnTo>
                  <a:lnTo>
                    <a:pt x="9512" y="2247"/>
                  </a:lnTo>
                  <a:lnTo>
                    <a:pt x="11430" y="2616"/>
                  </a:lnTo>
                  <a:lnTo>
                    <a:pt x="15278" y="3175"/>
                  </a:lnTo>
                  <a:lnTo>
                    <a:pt x="15278" y="2247"/>
                  </a:lnTo>
                  <a:lnTo>
                    <a:pt x="11430" y="1689"/>
                  </a:lnTo>
                  <a:lnTo>
                    <a:pt x="9512" y="1320"/>
                  </a:lnTo>
                  <a:lnTo>
                    <a:pt x="7594" y="1130"/>
                  </a:lnTo>
                  <a:lnTo>
                    <a:pt x="3784" y="558"/>
                  </a:lnTo>
                  <a:lnTo>
                    <a:pt x="1930" y="203"/>
                  </a:lnTo>
                  <a:lnTo>
                    <a:pt x="0" y="0"/>
                  </a:lnTo>
                  <a:close/>
                </a:path>
              </a:pathLst>
            </a:custGeom>
            <a:solidFill>
              <a:srgbClr val="484948"/>
            </a:solidFill>
          </p:spPr>
          <p:txBody>
            <a:bodyPr wrap="square" lIns="0" tIns="0" rIns="0" bIns="0" rtlCol="0"/>
            <a:lstStyle/>
            <a:p/>
          </p:txBody>
        </p:sp>
        <p:sp>
          <p:nvSpPr>
            <p:cNvPr id="441" name="object 441" descr=""/>
            <p:cNvSpPr/>
            <p:nvPr/>
          </p:nvSpPr>
          <p:spPr>
            <a:xfrm>
              <a:off x="4306675" y="3106798"/>
              <a:ext cx="15240" cy="8890"/>
            </a:xfrm>
            <a:custGeom>
              <a:avLst/>
              <a:gdLst/>
              <a:ahLst/>
              <a:cxnLst/>
              <a:rect l="l" t="t" r="r" b="b"/>
              <a:pathLst>
                <a:path w="15239" h="8889">
                  <a:moveTo>
                    <a:pt x="0" y="0"/>
                  </a:moveTo>
                  <a:lnTo>
                    <a:pt x="0" y="698"/>
                  </a:lnTo>
                  <a:lnTo>
                    <a:pt x="0" y="6413"/>
                  </a:lnTo>
                  <a:lnTo>
                    <a:pt x="1879" y="6642"/>
                  </a:lnTo>
                  <a:lnTo>
                    <a:pt x="3721" y="6946"/>
                  </a:lnTo>
                  <a:lnTo>
                    <a:pt x="5600" y="7340"/>
                  </a:lnTo>
                  <a:lnTo>
                    <a:pt x="7442" y="7645"/>
                  </a:lnTo>
                  <a:lnTo>
                    <a:pt x="9321" y="7886"/>
                  </a:lnTo>
                  <a:lnTo>
                    <a:pt x="11163" y="8267"/>
                  </a:lnTo>
                  <a:lnTo>
                    <a:pt x="13081" y="8509"/>
                  </a:lnTo>
                  <a:lnTo>
                    <a:pt x="14922" y="8877"/>
                  </a:lnTo>
                  <a:lnTo>
                    <a:pt x="14922" y="2857"/>
                  </a:lnTo>
                  <a:lnTo>
                    <a:pt x="14897" y="2095"/>
                  </a:lnTo>
                  <a:lnTo>
                    <a:pt x="9296" y="1168"/>
                  </a:lnTo>
                  <a:lnTo>
                    <a:pt x="7404" y="927"/>
                  </a:lnTo>
                  <a:lnTo>
                    <a:pt x="5600" y="622"/>
                  </a:lnTo>
                  <a:lnTo>
                    <a:pt x="1879" y="165"/>
                  </a:lnTo>
                  <a:lnTo>
                    <a:pt x="0" y="0"/>
                  </a:lnTo>
                  <a:close/>
                </a:path>
              </a:pathLst>
            </a:custGeom>
            <a:solidFill>
              <a:srgbClr val="7A614F"/>
            </a:solidFill>
          </p:spPr>
          <p:txBody>
            <a:bodyPr wrap="square" lIns="0" tIns="0" rIns="0" bIns="0" rtlCol="0"/>
            <a:lstStyle/>
            <a:p/>
          </p:txBody>
        </p:sp>
        <p:sp>
          <p:nvSpPr>
            <p:cNvPr id="442" name="object 442" descr=""/>
            <p:cNvSpPr/>
            <p:nvPr/>
          </p:nvSpPr>
          <p:spPr>
            <a:xfrm>
              <a:off x="4306675" y="3110605"/>
              <a:ext cx="15240" cy="3810"/>
            </a:xfrm>
            <a:custGeom>
              <a:avLst/>
              <a:gdLst/>
              <a:ahLst/>
              <a:cxnLst/>
              <a:rect l="l" t="t" r="r" b="b"/>
              <a:pathLst>
                <a:path w="15239" h="3810">
                  <a:moveTo>
                    <a:pt x="0" y="0"/>
                  </a:moveTo>
                  <a:lnTo>
                    <a:pt x="0" y="685"/>
                  </a:lnTo>
                  <a:lnTo>
                    <a:pt x="0" y="1371"/>
                  </a:lnTo>
                  <a:lnTo>
                    <a:pt x="1879" y="1600"/>
                  </a:lnTo>
                  <a:lnTo>
                    <a:pt x="13081" y="3429"/>
                  </a:lnTo>
                  <a:lnTo>
                    <a:pt x="14922" y="3810"/>
                  </a:lnTo>
                  <a:lnTo>
                    <a:pt x="14897" y="2286"/>
                  </a:lnTo>
                  <a:lnTo>
                    <a:pt x="13042" y="1905"/>
                  </a:lnTo>
                  <a:lnTo>
                    <a:pt x="11137" y="1676"/>
                  </a:lnTo>
                  <a:lnTo>
                    <a:pt x="7404" y="1079"/>
                  </a:lnTo>
                  <a:lnTo>
                    <a:pt x="5600" y="762"/>
                  </a:lnTo>
                  <a:lnTo>
                    <a:pt x="3695" y="533"/>
                  </a:lnTo>
                  <a:lnTo>
                    <a:pt x="1879" y="228"/>
                  </a:lnTo>
                  <a:lnTo>
                    <a:pt x="0" y="0"/>
                  </a:lnTo>
                  <a:close/>
                </a:path>
              </a:pathLst>
            </a:custGeom>
            <a:solidFill>
              <a:srgbClr val="C0C0C0"/>
            </a:solidFill>
          </p:spPr>
          <p:txBody>
            <a:bodyPr wrap="square" lIns="0" tIns="0" rIns="0" bIns="0" rtlCol="0"/>
            <a:lstStyle/>
            <a:p/>
          </p:txBody>
        </p:sp>
        <p:sp>
          <p:nvSpPr>
            <p:cNvPr id="443" name="object 443" descr=""/>
            <p:cNvSpPr/>
            <p:nvPr/>
          </p:nvSpPr>
          <p:spPr>
            <a:xfrm>
              <a:off x="4306675" y="3111869"/>
              <a:ext cx="15240" cy="3810"/>
            </a:xfrm>
            <a:custGeom>
              <a:avLst/>
              <a:gdLst/>
              <a:ahLst/>
              <a:cxnLst/>
              <a:rect l="l" t="t" r="r" b="b"/>
              <a:pathLst>
                <a:path w="15239" h="3810">
                  <a:moveTo>
                    <a:pt x="0" y="0"/>
                  </a:moveTo>
                  <a:lnTo>
                    <a:pt x="0" y="393"/>
                  </a:lnTo>
                  <a:lnTo>
                    <a:pt x="0" y="863"/>
                  </a:lnTo>
                  <a:lnTo>
                    <a:pt x="3721" y="1333"/>
                  </a:lnTo>
                  <a:lnTo>
                    <a:pt x="11163" y="2565"/>
                  </a:lnTo>
                  <a:lnTo>
                    <a:pt x="13081" y="2794"/>
                  </a:lnTo>
                  <a:lnTo>
                    <a:pt x="14922" y="3187"/>
                  </a:lnTo>
                  <a:lnTo>
                    <a:pt x="14922" y="2489"/>
                  </a:lnTo>
                  <a:lnTo>
                    <a:pt x="13081" y="2095"/>
                  </a:lnTo>
                  <a:lnTo>
                    <a:pt x="1879" y="241"/>
                  </a:lnTo>
                  <a:lnTo>
                    <a:pt x="0" y="0"/>
                  </a:lnTo>
                  <a:close/>
                </a:path>
              </a:pathLst>
            </a:custGeom>
            <a:solidFill>
              <a:srgbClr val="484948"/>
            </a:solidFill>
          </p:spPr>
          <p:txBody>
            <a:bodyPr wrap="square" lIns="0" tIns="0" rIns="0" bIns="0" rtlCol="0"/>
            <a:lstStyle/>
            <a:p/>
          </p:txBody>
        </p:sp>
        <p:sp>
          <p:nvSpPr>
            <p:cNvPr id="444" name="object 444" descr=""/>
            <p:cNvSpPr/>
            <p:nvPr/>
          </p:nvSpPr>
          <p:spPr>
            <a:xfrm>
              <a:off x="4306671" y="3126472"/>
              <a:ext cx="15875" cy="9525"/>
            </a:xfrm>
            <a:custGeom>
              <a:avLst/>
              <a:gdLst/>
              <a:ahLst/>
              <a:cxnLst/>
              <a:rect l="l" t="t" r="r" b="b"/>
              <a:pathLst>
                <a:path w="15875" h="9525">
                  <a:moveTo>
                    <a:pt x="0" y="0"/>
                  </a:moveTo>
                  <a:lnTo>
                    <a:pt x="38" y="787"/>
                  </a:lnTo>
                  <a:lnTo>
                    <a:pt x="38" y="6680"/>
                  </a:lnTo>
                  <a:lnTo>
                    <a:pt x="3848" y="7315"/>
                  </a:lnTo>
                  <a:lnTo>
                    <a:pt x="7619" y="8102"/>
                  </a:lnTo>
                  <a:lnTo>
                    <a:pt x="9550" y="8343"/>
                  </a:lnTo>
                  <a:lnTo>
                    <a:pt x="11468" y="8737"/>
                  </a:lnTo>
                  <a:lnTo>
                    <a:pt x="13385" y="9055"/>
                  </a:lnTo>
                  <a:lnTo>
                    <a:pt x="15278" y="9525"/>
                  </a:lnTo>
                  <a:lnTo>
                    <a:pt x="15278" y="2590"/>
                  </a:lnTo>
                  <a:lnTo>
                    <a:pt x="11468" y="1968"/>
                  </a:lnTo>
                  <a:lnTo>
                    <a:pt x="9512" y="1574"/>
                  </a:lnTo>
                  <a:lnTo>
                    <a:pt x="7581" y="1333"/>
                  </a:lnTo>
                  <a:lnTo>
                    <a:pt x="5727" y="952"/>
                  </a:lnTo>
                  <a:lnTo>
                    <a:pt x="3771" y="622"/>
                  </a:lnTo>
                  <a:lnTo>
                    <a:pt x="1917" y="241"/>
                  </a:lnTo>
                  <a:lnTo>
                    <a:pt x="0" y="0"/>
                  </a:lnTo>
                  <a:close/>
                </a:path>
              </a:pathLst>
            </a:custGeom>
            <a:solidFill>
              <a:srgbClr val="7A614F"/>
            </a:solidFill>
          </p:spPr>
          <p:txBody>
            <a:bodyPr wrap="square" lIns="0" tIns="0" rIns="0" bIns="0" rtlCol="0"/>
            <a:lstStyle/>
            <a:p/>
          </p:txBody>
        </p:sp>
        <p:sp>
          <p:nvSpPr>
            <p:cNvPr id="445" name="object 445" descr=""/>
            <p:cNvSpPr/>
            <p:nvPr/>
          </p:nvSpPr>
          <p:spPr>
            <a:xfrm>
              <a:off x="4306675" y="3129642"/>
              <a:ext cx="15875" cy="5080"/>
            </a:xfrm>
            <a:custGeom>
              <a:avLst/>
              <a:gdLst/>
              <a:ahLst/>
              <a:cxnLst/>
              <a:rect l="l" t="t" r="r" b="b"/>
              <a:pathLst>
                <a:path w="15875" h="5080">
                  <a:moveTo>
                    <a:pt x="0" y="0"/>
                  </a:moveTo>
                  <a:lnTo>
                    <a:pt x="0" y="749"/>
                  </a:lnTo>
                  <a:lnTo>
                    <a:pt x="0" y="1396"/>
                  </a:lnTo>
                  <a:lnTo>
                    <a:pt x="1917" y="1727"/>
                  </a:lnTo>
                  <a:lnTo>
                    <a:pt x="3822" y="2146"/>
                  </a:lnTo>
                  <a:lnTo>
                    <a:pt x="5740" y="2476"/>
                  </a:lnTo>
                  <a:lnTo>
                    <a:pt x="9525" y="3301"/>
                  </a:lnTo>
                  <a:lnTo>
                    <a:pt x="13385" y="3949"/>
                  </a:lnTo>
                  <a:lnTo>
                    <a:pt x="15265" y="4457"/>
                  </a:lnTo>
                  <a:lnTo>
                    <a:pt x="15265" y="2806"/>
                  </a:lnTo>
                  <a:lnTo>
                    <a:pt x="13385" y="2400"/>
                  </a:lnTo>
                  <a:lnTo>
                    <a:pt x="11455" y="2070"/>
                  </a:lnTo>
                  <a:lnTo>
                    <a:pt x="9525" y="1650"/>
                  </a:lnTo>
                  <a:lnTo>
                    <a:pt x="3822" y="660"/>
                  </a:lnTo>
                  <a:lnTo>
                    <a:pt x="1879" y="241"/>
                  </a:lnTo>
                  <a:lnTo>
                    <a:pt x="0" y="0"/>
                  </a:lnTo>
                  <a:close/>
                </a:path>
              </a:pathLst>
            </a:custGeom>
            <a:solidFill>
              <a:srgbClr val="C0C0C0"/>
            </a:solidFill>
          </p:spPr>
          <p:txBody>
            <a:bodyPr wrap="square" lIns="0" tIns="0" rIns="0" bIns="0" rtlCol="0"/>
            <a:lstStyle/>
            <a:p/>
          </p:txBody>
        </p:sp>
        <p:sp>
          <p:nvSpPr>
            <p:cNvPr id="446" name="object 446" descr=""/>
            <p:cNvSpPr/>
            <p:nvPr/>
          </p:nvSpPr>
          <p:spPr>
            <a:xfrm>
              <a:off x="4306675" y="3131544"/>
              <a:ext cx="15875" cy="3175"/>
            </a:xfrm>
            <a:custGeom>
              <a:avLst/>
              <a:gdLst/>
              <a:ahLst/>
              <a:cxnLst/>
              <a:rect l="l" t="t" r="r" b="b"/>
              <a:pathLst>
                <a:path w="15875" h="3175">
                  <a:moveTo>
                    <a:pt x="0" y="0"/>
                  </a:moveTo>
                  <a:lnTo>
                    <a:pt x="0" y="355"/>
                  </a:lnTo>
                  <a:lnTo>
                    <a:pt x="0" y="698"/>
                  </a:lnTo>
                  <a:lnTo>
                    <a:pt x="3822" y="1244"/>
                  </a:lnTo>
                  <a:lnTo>
                    <a:pt x="7607" y="1930"/>
                  </a:lnTo>
                  <a:lnTo>
                    <a:pt x="9525" y="2146"/>
                  </a:lnTo>
                  <a:lnTo>
                    <a:pt x="11455" y="2489"/>
                  </a:lnTo>
                  <a:lnTo>
                    <a:pt x="13385" y="2768"/>
                  </a:lnTo>
                  <a:lnTo>
                    <a:pt x="15265" y="3174"/>
                  </a:lnTo>
                  <a:lnTo>
                    <a:pt x="15265" y="2565"/>
                  </a:lnTo>
                  <a:lnTo>
                    <a:pt x="13385" y="2146"/>
                  </a:lnTo>
                  <a:lnTo>
                    <a:pt x="9525" y="1587"/>
                  </a:lnTo>
                  <a:lnTo>
                    <a:pt x="5740" y="901"/>
                  </a:lnTo>
                  <a:lnTo>
                    <a:pt x="3822" y="634"/>
                  </a:lnTo>
                  <a:lnTo>
                    <a:pt x="1917" y="292"/>
                  </a:lnTo>
                  <a:lnTo>
                    <a:pt x="0" y="0"/>
                  </a:lnTo>
                  <a:close/>
                </a:path>
              </a:pathLst>
            </a:custGeom>
            <a:solidFill>
              <a:srgbClr val="484948"/>
            </a:solidFill>
          </p:spPr>
          <p:txBody>
            <a:bodyPr wrap="square" lIns="0" tIns="0" rIns="0" bIns="0" rtlCol="0"/>
            <a:lstStyle/>
            <a:p/>
          </p:txBody>
        </p:sp>
        <p:sp>
          <p:nvSpPr>
            <p:cNvPr id="447" name="object 447" descr=""/>
            <p:cNvSpPr/>
            <p:nvPr/>
          </p:nvSpPr>
          <p:spPr>
            <a:xfrm>
              <a:off x="4306675" y="3145511"/>
              <a:ext cx="15875" cy="10160"/>
            </a:xfrm>
            <a:custGeom>
              <a:avLst/>
              <a:gdLst/>
              <a:ahLst/>
              <a:cxnLst/>
              <a:rect l="l" t="t" r="r" b="b"/>
              <a:pathLst>
                <a:path w="15875" h="10160">
                  <a:moveTo>
                    <a:pt x="0" y="0"/>
                  </a:moveTo>
                  <a:lnTo>
                    <a:pt x="0" y="812"/>
                  </a:lnTo>
                  <a:lnTo>
                    <a:pt x="0" y="6743"/>
                  </a:lnTo>
                  <a:lnTo>
                    <a:pt x="1968" y="7061"/>
                  </a:lnTo>
                  <a:lnTo>
                    <a:pt x="3835" y="7556"/>
                  </a:lnTo>
                  <a:lnTo>
                    <a:pt x="5765" y="7873"/>
                  </a:lnTo>
                  <a:lnTo>
                    <a:pt x="7607" y="8369"/>
                  </a:lnTo>
                  <a:lnTo>
                    <a:pt x="9575" y="8686"/>
                  </a:lnTo>
                  <a:lnTo>
                    <a:pt x="11480" y="9182"/>
                  </a:lnTo>
                  <a:lnTo>
                    <a:pt x="13373" y="9575"/>
                  </a:lnTo>
                  <a:lnTo>
                    <a:pt x="15265" y="10147"/>
                  </a:lnTo>
                  <a:lnTo>
                    <a:pt x="15265" y="3975"/>
                  </a:lnTo>
                  <a:lnTo>
                    <a:pt x="15240" y="3162"/>
                  </a:lnTo>
                  <a:lnTo>
                    <a:pt x="13335" y="2679"/>
                  </a:lnTo>
                  <a:lnTo>
                    <a:pt x="11442" y="2362"/>
                  </a:lnTo>
                  <a:lnTo>
                    <a:pt x="9537" y="1866"/>
                  </a:lnTo>
                  <a:lnTo>
                    <a:pt x="7581" y="1549"/>
                  </a:lnTo>
                  <a:lnTo>
                    <a:pt x="5715" y="1054"/>
                  </a:lnTo>
                  <a:lnTo>
                    <a:pt x="3835" y="736"/>
                  </a:lnTo>
                  <a:lnTo>
                    <a:pt x="1930" y="241"/>
                  </a:lnTo>
                  <a:lnTo>
                    <a:pt x="0" y="0"/>
                  </a:lnTo>
                  <a:close/>
                </a:path>
              </a:pathLst>
            </a:custGeom>
            <a:solidFill>
              <a:srgbClr val="7A614F"/>
            </a:solidFill>
          </p:spPr>
          <p:txBody>
            <a:bodyPr wrap="square" lIns="0" tIns="0" rIns="0" bIns="0" rtlCol="0"/>
            <a:lstStyle/>
            <a:p/>
          </p:txBody>
        </p:sp>
        <p:sp>
          <p:nvSpPr>
            <p:cNvPr id="448" name="object 448" descr=""/>
            <p:cNvSpPr/>
            <p:nvPr/>
          </p:nvSpPr>
          <p:spPr>
            <a:xfrm>
              <a:off x="4306675" y="3149313"/>
              <a:ext cx="15875" cy="5080"/>
            </a:xfrm>
            <a:custGeom>
              <a:avLst/>
              <a:gdLst/>
              <a:ahLst/>
              <a:cxnLst/>
              <a:rect l="l" t="t" r="r" b="b"/>
              <a:pathLst>
                <a:path w="15875" h="5080">
                  <a:moveTo>
                    <a:pt x="0" y="0"/>
                  </a:moveTo>
                  <a:lnTo>
                    <a:pt x="0" y="749"/>
                  </a:lnTo>
                  <a:lnTo>
                    <a:pt x="0" y="1498"/>
                  </a:lnTo>
                  <a:lnTo>
                    <a:pt x="1968" y="1854"/>
                  </a:lnTo>
                  <a:lnTo>
                    <a:pt x="7607" y="2971"/>
                  </a:lnTo>
                  <a:lnTo>
                    <a:pt x="9575" y="3327"/>
                  </a:lnTo>
                  <a:lnTo>
                    <a:pt x="15265" y="4457"/>
                  </a:lnTo>
                  <a:lnTo>
                    <a:pt x="15265" y="3047"/>
                  </a:lnTo>
                  <a:lnTo>
                    <a:pt x="13373" y="2603"/>
                  </a:lnTo>
                  <a:lnTo>
                    <a:pt x="9575" y="1854"/>
                  </a:lnTo>
                  <a:lnTo>
                    <a:pt x="7607" y="1498"/>
                  </a:lnTo>
                  <a:lnTo>
                    <a:pt x="1968" y="368"/>
                  </a:lnTo>
                  <a:lnTo>
                    <a:pt x="0" y="0"/>
                  </a:lnTo>
                  <a:close/>
                </a:path>
              </a:pathLst>
            </a:custGeom>
            <a:solidFill>
              <a:srgbClr val="C0C0C0"/>
            </a:solidFill>
          </p:spPr>
          <p:txBody>
            <a:bodyPr wrap="square" lIns="0" tIns="0" rIns="0" bIns="0" rtlCol="0"/>
            <a:lstStyle/>
            <a:p/>
          </p:txBody>
        </p:sp>
        <p:sp>
          <p:nvSpPr>
            <p:cNvPr id="449" name="object 449" descr=""/>
            <p:cNvSpPr/>
            <p:nvPr/>
          </p:nvSpPr>
          <p:spPr>
            <a:xfrm>
              <a:off x="4306675" y="3150586"/>
              <a:ext cx="15875" cy="4445"/>
            </a:xfrm>
            <a:custGeom>
              <a:avLst/>
              <a:gdLst/>
              <a:ahLst/>
              <a:cxnLst/>
              <a:rect l="l" t="t" r="r" b="b"/>
              <a:pathLst>
                <a:path w="15875" h="4444">
                  <a:moveTo>
                    <a:pt x="0" y="0"/>
                  </a:moveTo>
                  <a:lnTo>
                    <a:pt x="0" y="355"/>
                  </a:lnTo>
                  <a:lnTo>
                    <a:pt x="0" y="711"/>
                  </a:lnTo>
                  <a:lnTo>
                    <a:pt x="1968" y="1066"/>
                  </a:lnTo>
                  <a:lnTo>
                    <a:pt x="3835" y="1600"/>
                  </a:lnTo>
                  <a:lnTo>
                    <a:pt x="5765" y="1955"/>
                  </a:lnTo>
                  <a:lnTo>
                    <a:pt x="7607" y="2578"/>
                  </a:lnTo>
                  <a:lnTo>
                    <a:pt x="9575" y="2933"/>
                  </a:lnTo>
                  <a:lnTo>
                    <a:pt x="13373" y="4000"/>
                  </a:lnTo>
                  <a:lnTo>
                    <a:pt x="15265" y="4444"/>
                  </a:lnTo>
                  <a:lnTo>
                    <a:pt x="15265" y="3555"/>
                  </a:lnTo>
                  <a:lnTo>
                    <a:pt x="9575" y="2222"/>
                  </a:lnTo>
                  <a:lnTo>
                    <a:pt x="7607" y="1790"/>
                  </a:lnTo>
                  <a:lnTo>
                    <a:pt x="5765" y="1333"/>
                  </a:lnTo>
                  <a:lnTo>
                    <a:pt x="0" y="0"/>
                  </a:lnTo>
                  <a:close/>
                </a:path>
              </a:pathLst>
            </a:custGeom>
            <a:solidFill>
              <a:srgbClr val="484948"/>
            </a:solidFill>
          </p:spPr>
          <p:txBody>
            <a:bodyPr wrap="square" lIns="0" tIns="0" rIns="0" bIns="0" rtlCol="0"/>
            <a:lstStyle/>
            <a:p/>
          </p:txBody>
        </p:sp>
        <p:sp>
          <p:nvSpPr>
            <p:cNvPr id="450" name="object 450" descr=""/>
            <p:cNvSpPr/>
            <p:nvPr/>
          </p:nvSpPr>
          <p:spPr>
            <a:xfrm>
              <a:off x="4306671" y="3165186"/>
              <a:ext cx="15875" cy="10160"/>
            </a:xfrm>
            <a:custGeom>
              <a:avLst/>
              <a:gdLst/>
              <a:ahLst/>
              <a:cxnLst/>
              <a:rect l="l" t="t" r="r" b="b"/>
              <a:pathLst>
                <a:path w="15875" h="10160">
                  <a:moveTo>
                    <a:pt x="0" y="0"/>
                  </a:moveTo>
                  <a:lnTo>
                    <a:pt x="38" y="774"/>
                  </a:lnTo>
                  <a:lnTo>
                    <a:pt x="38" y="3340"/>
                  </a:lnTo>
                  <a:lnTo>
                    <a:pt x="101" y="4038"/>
                  </a:lnTo>
                  <a:lnTo>
                    <a:pt x="101" y="6667"/>
                  </a:lnTo>
                  <a:lnTo>
                    <a:pt x="1993" y="6972"/>
                  </a:lnTo>
                  <a:lnTo>
                    <a:pt x="3848" y="7442"/>
                  </a:lnTo>
                  <a:lnTo>
                    <a:pt x="5727" y="7747"/>
                  </a:lnTo>
                  <a:lnTo>
                    <a:pt x="7619" y="8293"/>
                  </a:lnTo>
                  <a:lnTo>
                    <a:pt x="9575" y="8674"/>
                  </a:lnTo>
                  <a:lnTo>
                    <a:pt x="11468" y="9220"/>
                  </a:lnTo>
                  <a:lnTo>
                    <a:pt x="13347" y="9613"/>
                  </a:lnTo>
                  <a:lnTo>
                    <a:pt x="15278" y="10147"/>
                  </a:lnTo>
                  <a:lnTo>
                    <a:pt x="15278" y="3403"/>
                  </a:lnTo>
                  <a:lnTo>
                    <a:pt x="13347" y="2870"/>
                  </a:lnTo>
                  <a:lnTo>
                    <a:pt x="11429" y="2400"/>
                  </a:lnTo>
                  <a:lnTo>
                    <a:pt x="7581" y="1625"/>
                  </a:lnTo>
                  <a:lnTo>
                    <a:pt x="5727" y="1168"/>
                  </a:lnTo>
                  <a:lnTo>
                    <a:pt x="1955" y="381"/>
                  </a:lnTo>
                  <a:lnTo>
                    <a:pt x="0" y="0"/>
                  </a:lnTo>
                  <a:close/>
                </a:path>
              </a:pathLst>
            </a:custGeom>
            <a:solidFill>
              <a:srgbClr val="7A614F"/>
            </a:solidFill>
          </p:spPr>
          <p:txBody>
            <a:bodyPr wrap="square" lIns="0" tIns="0" rIns="0" bIns="0" rtlCol="0"/>
            <a:lstStyle/>
            <a:p/>
          </p:txBody>
        </p:sp>
        <p:pic>
          <p:nvPicPr>
            <p:cNvPr id="451" name="object 451" descr=""/>
            <p:cNvPicPr/>
            <p:nvPr/>
          </p:nvPicPr>
          <p:blipFill>
            <a:blip r:embed="rId28" cstate="print"/>
            <a:stretch>
              <a:fillRect/>
            </a:stretch>
          </p:blipFill>
          <p:spPr>
            <a:xfrm>
              <a:off x="4088891" y="3019043"/>
              <a:ext cx="102107" cy="102107"/>
            </a:xfrm>
            <a:prstGeom prst="rect">
              <a:avLst/>
            </a:prstGeom>
          </p:spPr>
        </p:pic>
        <p:sp>
          <p:nvSpPr>
            <p:cNvPr id="452" name="object 452" descr=""/>
            <p:cNvSpPr/>
            <p:nvPr/>
          </p:nvSpPr>
          <p:spPr>
            <a:xfrm>
              <a:off x="4306671" y="3168363"/>
              <a:ext cx="15875" cy="5715"/>
            </a:xfrm>
            <a:custGeom>
              <a:avLst/>
              <a:gdLst/>
              <a:ahLst/>
              <a:cxnLst/>
              <a:rect l="l" t="t" r="r" b="b"/>
              <a:pathLst>
                <a:path w="15875" h="5714">
                  <a:moveTo>
                    <a:pt x="0" y="0"/>
                  </a:moveTo>
                  <a:lnTo>
                    <a:pt x="38" y="787"/>
                  </a:lnTo>
                  <a:lnTo>
                    <a:pt x="101" y="1663"/>
                  </a:lnTo>
                  <a:lnTo>
                    <a:pt x="1993" y="2006"/>
                  </a:lnTo>
                  <a:lnTo>
                    <a:pt x="3848" y="2552"/>
                  </a:lnTo>
                  <a:lnTo>
                    <a:pt x="5727" y="2984"/>
                  </a:lnTo>
                  <a:lnTo>
                    <a:pt x="7619" y="3594"/>
                  </a:lnTo>
                  <a:lnTo>
                    <a:pt x="9575" y="4038"/>
                  </a:lnTo>
                  <a:lnTo>
                    <a:pt x="11468" y="4559"/>
                  </a:lnTo>
                  <a:lnTo>
                    <a:pt x="13347" y="5181"/>
                  </a:lnTo>
                  <a:lnTo>
                    <a:pt x="15278" y="5702"/>
                  </a:lnTo>
                  <a:lnTo>
                    <a:pt x="15278" y="3949"/>
                  </a:lnTo>
                  <a:lnTo>
                    <a:pt x="11429" y="2895"/>
                  </a:lnTo>
                  <a:lnTo>
                    <a:pt x="9550" y="2451"/>
                  </a:lnTo>
                  <a:lnTo>
                    <a:pt x="7581" y="1930"/>
                  </a:lnTo>
                  <a:lnTo>
                    <a:pt x="5727" y="1308"/>
                  </a:lnTo>
                  <a:lnTo>
                    <a:pt x="3809" y="965"/>
                  </a:lnTo>
                  <a:lnTo>
                    <a:pt x="1955" y="342"/>
                  </a:lnTo>
                  <a:lnTo>
                    <a:pt x="0" y="0"/>
                  </a:lnTo>
                  <a:close/>
                </a:path>
              </a:pathLst>
            </a:custGeom>
            <a:solidFill>
              <a:srgbClr val="C0C0C0"/>
            </a:solidFill>
          </p:spPr>
          <p:txBody>
            <a:bodyPr wrap="square" lIns="0" tIns="0" rIns="0" bIns="0" rtlCol="0"/>
            <a:lstStyle/>
            <a:p/>
          </p:txBody>
        </p:sp>
        <p:sp>
          <p:nvSpPr>
            <p:cNvPr id="453" name="object 453" descr=""/>
            <p:cNvSpPr/>
            <p:nvPr/>
          </p:nvSpPr>
          <p:spPr>
            <a:xfrm>
              <a:off x="4306675" y="3170261"/>
              <a:ext cx="15875" cy="4445"/>
            </a:xfrm>
            <a:custGeom>
              <a:avLst/>
              <a:gdLst/>
              <a:ahLst/>
              <a:cxnLst/>
              <a:rect l="l" t="t" r="r" b="b"/>
              <a:pathLst>
                <a:path w="15875" h="4444">
                  <a:moveTo>
                    <a:pt x="0" y="0"/>
                  </a:moveTo>
                  <a:lnTo>
                    <a:pt x="0" y="317"/>
                  </a:lnTo>
                  <a:lnTo>
                    <a:pt x="0" y="812"/>
                  </a:lnTo>
                  <a:lnTo>
                    <a:pt x="1892" y="1130"/>
                  </a:lnTo>
                  <a:lnTo>
                    <a:pt x="3759" y="1701"/>
                  </a:lnTo>
                  <a:lnTo>
                    <a:pt x="5664" y="2019"/>
                  </a:lnTo>
                  <a:lnTo>
                    <a:pt x="7569" y="2578"/>
                  </a:lnTo>
                  <a:lnTo>
                    <a:pt x="9537" y="2997"/>
                  </a:lnTo>
                  <a:lnTo>
                    <a:pt x="11442" y="3467"/>
                  </a:lnTo>
                  <a:lnTo>
                    <a:pt x="13335" y="3873"/>
                  </a:lnTo>
                  <a:lnTo>
                    <a:pt x="15265" y="4445"/>
                  </a:lnTo>
                  <a:lnTo>
                    <a:pt x="15265" y="3708"/>
                  </a:lnTo>
                  <a:lnTo>
                    <a:pt x="13335" y="3225"/>
                  </a:lnTo>
                  <a:lnTo>
                    <a:pt x="11442" y="2654"/>
                  </a:lnTo>
                  <a:lnTo>
                    <a:pt x="9537" y="2184"/>
                  </a:lnTo>
                  <a:lnTo>
                    <a:pt x="7569" y="1778"/>
                  </a:lnTo>
                  <a:lnTo>
                    <a:pt x="5664" y="1206"/>
                  </a:lnTo>
                  <a:lnTo>
                    <a:pt x="3759" y="812"/>
                  </a:lnTo>
                  <a:lnTo>
                    <a:pt x="1892" y="317"/>
                  </a:lnTo>
                  <a:lnTo>
                    <a:pt x="0" y="0"/>
                  </a:lnTo>
                  <a:close/>
                </a:path>
              </a:pathLst>
            </a:custGeom>
            <a:solidFill>
              <a:srgbClr val="484948"/>
            </a:solidFill>
          </p:spPr>
          <p:txBody>
            <a:bodyPr wrap="square" lIns="0" tIns="0" rIns="0" bIns="0" rtlCol="0"/>
            <a:lstStyle/>
            <a:p/>
          </p:txBody>
        </p:sp>
        <p:sp>
          <p:nvSpPr>
            <p:cNvPr id="454" name="object 454" descr=""/>
            <p:cNvSpPr/>
            <p:nvPr/>
          </p:nvSpPr>
          <p:spPr>
            <a:xfrm>
              <a:off x="4306671" y="3184227"/>
              <a:ext cx="15875" cy="10795"/>
            </a:xfrm>
            <a:custGeom>
              <a:avLst/>
              <a:gdLst/>
              <a:ahLst/>
              <a:cxnLst/>
              <a:rect l="l" t="t" r="r" b="b"/>
              <a:pathLst>
                <a:path w="15875" h="10794">
                  <a:moveTo>
                    <a:pt x="0" y="0"/>
                  </a:moveTo>
                  <a:lnTo>
                    <a:pt x="38" y="787"/>
                  </a:lnTo>
                  <a:lnTo>
                    <a:pt x="38" y="6794"/>
                  </a:lnTo>
                  <a:lnTo>
                    <a:pt x="5714" y="8229"/>
                  </a:lnTo>
                  <a:lnTo>
                    <a:pt x="7619" y="8788"/>
                  </a:lnTo>
                  <a:lnTo>
                    <a:pt x="9550" y="9194"/>
                  </a:lnTo>
                  <a:lnTo>
                    <a:pt x="11442" y="9740"/>
                  </a:lnTo>
                  <a:lnTo>
                    <a:pt x="13347" y="10223"/>
                  </a:lnTo>
                  <a:lnTo>
                    <a:pt x="15278" y="10782"/>
                  </a:lnTo>
                  <a:lnTo>
                    <a:pt x="15278" y="3911"/>
                  </a:lnTo>
                  <a:lnTo>
                    <a:pt x="11442" y="2794"/>
                  </a:lnTo>
                  <a:lnTo>
                    <a:pt x="9550" y="2387"/>
                  </a:lnTo>
                  <a:lnTo>
                    <a:pt x="5714" y="1422"/>
                  </a:lnTo>
                  <a:lnTo>
                    <a:pt x="3784" y="863"/>
                  </a:lnTo>
                  <a:lnTo>
                    <a:pt x="1930" y="469"/>
                  </a:lnTo>
                  <a:lnTo>
                    <a:pt x="0" y="0"/>
                  </a:lnTo>
                  <a:close/>
                </a:path>
              </a:pathLst>
            </a:custGeom>
            <a:solidFill>
              <a:srgbClr val="7A614F"/>
            </a:solidFill>
          </p:spPr>
          <p:txBody>
            <a:bodyPr wrap="square" lIns="0" tIns="0" rIns="0" bIns="0" rtlCol="0"/>
            <a:lstStyle/>
            <a:p/>
          </p:txBody>
        </p:sp>
        <p:sp>
          <p:nvSpPr>
            <p:cNvPr id="455" name="object 455" descr=""/>
            <p:cNvSpPr/>
            <p:nvPr/>
          </p:nvSpPr>
          <p:spPr>
            <a:xfrm>
              <a:off x="4307018" y="3188027"/>
              <a:ext cx="15240" cy="5715"/>
            </a:xfrm>
            <a:custGeom>
              <a:avLst/>
              <a:gdLst/>
              <a:ahLst/>
              <a:cxnLst/>
              <a:rect l="l" t="t" r="r" b="b"/>
              <a:pathLst>
                <a:path w="15239" h="5714">
                  <a:moveTo>
                    <a:pt x="0" y="0"/>
                  </a:moveTo>
                  <a:lnTo>
                    <a:pt x="0" y="736"/>
                  </a:lnTo>
                  <a:lnTo>
                    <a:pt x="0" y="1473"/>
                  </a:lnTo>
                  <a:lnTo>
                    <a:pt x="1866" y="1955"/>
                  </a:lnTo>
                  <a:lnTo>
                    <a:pt x="3708" y="2527"/>
                  </a:lnTo>
                  <a:lnTo>
                    <a:pt x="5575" y="2946"/>
                  </a:lnTo>
                  <a:lnTo>
                    <a:pt x="7429" y="3517"/>
                  </a:lnTo>
                  <a:lnTo>
                    <a:pt x="9321" y="4000"/>
                  </a:lnTo>
                  <a:lnTo>
                    <a:pt x="14922" y="5702"/>
                  </a:lnTo>
                  <a:lnTo>
                    <a:pt x="14922" y="4089"/>
                  </a:lnTo>
                  <a:lnTo>
                    <a:pt x="13042" y="3594"/>
                  </a:lnTo>
                  <a:lnTo>
                    <a:pt x="11176" y="3022"/>
                  </a:lnTo>
                  <a:lnTo>
                    <a:pt x="7429" y="2044"/>
                  </a:lnTo>
                  <a:lnTo>
                    <a:pt x="5575" y="1473"/>
                  </a:lnTo>
                  <a:lnTo>
                    <a:pt x="3708" y="977"/>
                  </a:lnTo>
                  <a:lnTo>
                    <a:pt x="1866" y="406"/>
                  </a:lnTo>
                  <a:lnTo>
                    <a:pt x="0" y="0"/>
                  </a:lnTo>
                  <a:close/>
                </a:path>
              </a:pathLst>
            </a:custGeom>
            <a:solidFill>
              <a:srgbClr val="C0C0C0"/>
            </a:solidFill>
          </p:spPr>
          <p:txBody>
            <a:bodyPr wrap="square" lIns="0" tIns="0" rIns="0" bIns="0" rtlCol="0"/>
            <a:lstStyle/>
            <a:p/>
          </p:txBody>
        </p:sp>
        <p:sp>
          <p:nvSpPr>
            <p:cNvPr id="456" name="object 456" descr=""/>
            <p:cNvSpPr/>
            <p:nvPr/>
          </p:nvSpPr>
          <p:spPr>
            <a:xfrm>
              <a:off x="4307018" y="3189305"/>
              <a:ext cx="15240" cy="5080"/>
            </a:xfrm>
            <a:custGeom>
              <a:avLst/>
              <a:gdLst/>
              <a:ahLst/>
              <a:cxnLst/>
              <a:rect l="l" t="t" r="r" b="b"/>
              <a:pathLst>
                <a:path w="15239" h="5080">
                  <a:moveTo>
                    <a:pt x="0" y="0"/>
                  </a:moveTo>
                  <a:lnTo>
                    <a:pt x="0" y="419"/>
                  </a:lnTo>
                  <a:lnTo>
                    <a:pt x="0" y="838"/>
                  </a:lnTo>
                  <a:lnTo>
                    <a:pt x="5575" y="2362"/>
                  </a:lnTo>
                  <a:lnTo>
                    <a:pt x="7429" y="2959"/>
                  </a:lnTo>
                  <a:lnTo>
                    <a:pt x="9321" y="3378"/>
                  </a:lnTo>
                  <a:lnTo>
                    <a:pt x="11176" y="3975"/>
                  </a:lnTo>
                  <a:lnTo>
                    <a:pt x="13042" y="4483"/>
                  </a:lnTo>
                  <a:lnTo>
                    <a:pt x="14922" y="5067"/>
                  </a:lnTo>
                  <a:lnTo>
                    <a:pt x="14922" y="4394"/>
                  </a:lnTo>
                  <a:lnTo>
                    <a:pt x="9321" y="2616"/>
                  </a:lnTo>
                  <a:lnTo>
                    <a:pt x="7429" y="2108"/>
                  </a:lnTo>
                  <a:lnTo>
                    <a:pt x="5575" y="1511"/>
                  </a:lnTo>
                  <a:lnTo>
                    <a:pt x="3708" y="1092"/>
                  </a:lnTo>
                  <a:lnTo>
                    <a:pt x="1866" y="495"/>
                  </a:lnTo>
                  <a:lnTo>
                    <a:pt x="0" y="0"/>
                  </a:lnTo>
                  <a:close/>
                </a:path>
              </a:pathLst>
            </a:custGeom>
            <a:solidFill>
              <a:srgbClr val="484948"/>
            </a:solidFill>
          </p:spPr>
          <p:txBody>
            <a:bodyPr wrap="square" lIns="0" tIns="0" rIns="0" bIns="0" rtlCol="0"/>
            <a:lstStyle/>
            <a:p/>
          </p:txBody>
        </p:sp>
        <p:sp>
          <p:nvSpPr>
            <p:cNvPr id="457" name="object 457" descr=""/>
            <p:cNvSpPr/>
            <p:nvPr/>
          </p:nvSpPr>
          <p:spPr>
            <a:xfrm>
              <a:off x="4307018" y="3203900"/>
              <a:ext cx="15240" cy="10795"/>
            </a:xfrm>
            <a:custGeom>
              <a:avLst/>
              <a:gdLst/>
              <a:ahLst/>
              <a:cxnLst/>
              <a:rect l="l" t="t" r="r" b="b"/>
              <a:pathLst>
                <a:path w="15239" h="10794">
                  <a:moveTo>
                    <a:pt x="0" y="0"/>
                  </a:moveTo>
                  <a:lnTo>
                    <a:pt x="0" y="774"/>
                  </a:lnTo>
                  <a:lnTo>
                    <a:pt x="0" y="6515"/>
                  </a:lnTo>
                  <a:lnTo>
                    <a:pt x="1866" y="6985"/>
                  </a:lnTo>
                  <a:lnTo>
                    <a:pt x="5613" y="8064"/>
                  </a:lnTo>
                  <a:lnTo>
                    <a:pt x="7429" y="8534"/>
                  </a:lnTo>
                  <a:lnTo>
                    <a:pt x="9321" y="9067"/>
                  </a:lnTo>
                  <a:lnTo>
                    <a:pt x="11176" y="9690"/>
                  </a:lnTo>
                  <a:lnTo>
                    <a:pt x="13081" y="10160"/>
                  </a:lnTo>
                  <a:lnTo>
                    <a:pt x="14922" y="10782"/>
                  </a:lnTo>
                  <a:lnTo>
                    <a:pt x="14922" y="4178"/>
                  </a:lnTo>
                  <a:lnTo>
                    <a:pt x="13081" y="3568"/>
                  </a:lnTo>
                  <a:lnTo>
                    <a:pt x="11176" y="3009"/>
                  </a:lnTo>
                  <a:lnTo>
                    <a:pt x="9321" y="2552"/>
                  </a:lnTo>
                  <a:lnTo>
                    <a:pt x="5575" y="1473"/>
                  </a:lnTo>
                  <a:lnTo>
                    <a:pt x="3682" y="1003"/>
                  </a:lnTo>
                  <a:lnTo>
                    <a:pt x="1866" y="457"/>
                  </a:lnTo>
                  <a:lnTo>
                    <a:pt x="0" y="0"/>
                  </a:lnTo>
                  <a:close/>
                </a:path>
              </a:pathLst>
            </a:custGeom>
            <a:solidFill>
              <a:srgbClr val="7A614F"/>
            </a:solidFill>
          </p:spPr>
          <p:txBody>
            <a:bodyPr wrap="square" lIns="0" tIns="0" rIns="0" bIns="0" rtlCol="0"/>
            <a:lstStyle/>
            <a:p/>
          </p:txBody>
        </p:sp>
        <p:sp>
          <p:nvSpPr>
            <p:cNvPr id="458" name="object 458" descr=""/>
            <p:cNvSpPr/>
            <p:nvPr/>
          </p:nvSpPr>
          <p:spPr>
            <a:xfrm>
              <a:off x="4307018" y="3207702"/>
              <a:ext cx="15240" cy="5715"/>
            </a:xfrm>
            <a:custGeom>
              <a:avLst/>
              <a:gdLst/>
              <a:ahLst/>
              <a:cxnLst/>
              <a:rect l="l" t="t" r="r" b="b"/>
              <a:pathLst>
                <a:path w="15239" h="5714">
                  <a:moveTo>
                    <a:pt x="0" y="0"/>
                  </a:moveTo>
                  <a:lnTo>
                    <a:pt x="0" y="698"/>
                  </a:lnTo>
                  <a:lnTo>
                    <a:pt x="0" y="1409"/>
                  </a:lnTo>
                  <a:lnTo>
                    <a:pt x="1866" y="1955"/>
                  </a:lnTo>
                  <a:lnTo>
                    <a:pt x="3708" y="2425"/>
                  </a:lnTo>
                  <a:lnTo>
                    <a:pt x="5613" y="2971"/>
                  </a:lnTo>
                  <a:lnTo>
                    <a:pt x="7429" y="3606"/>
                  </a:lnTo>
                  <a:lnTo>
                    <a:pt x="9321" y="4076"/>
                  </a:lnTo>
                  <a:lnTo>
                    <a:pt x="11176" y="4622"/>
                  </a:lnTo>
                  <a:lnTo>
                    <a:pt x="13081" y="5092"/>
                  </a:lnTo>
                  <a:lnTo>
                    <a:pt x="14922" y="5702"/>
                  </a:lnTo>
                  <a:lnTo>
                    <a:pt x="14922" y="4216"/>
                  </a:lnTo>
                  <a:lnTo>
                    <a:pt x="13081" y="3670"/>
                  </a:lnTo>
                  <a:lnTo>
                    <a:pt x="11176" y="3048"/>
                  </a:lnTo>
                  <a:lnTo>
                    <a:pt x="9321" y="2501"/>
                  </a:lnTo>
                  <a:lnTo>
                    <a:pt x="7429" y="2032"/>
                  </a:lnTo>
                  <a:lnTo>
                    <a:pt x="3708" y="939"/>
                  </a:lnTo>
                  <a:lnTo>
                    <a:pt x="0" y="0"/>
                  </a:lnTo>
                  <a:close/>
                </a:path>
              </a:pathLst>
            </a:custGeom>
            <a:solidFill>
              <a:srgbClr val="C0C0C0"/>
            </a:solidFill>
          </p:spPr>
          <p:txBody>
            <a:bodyPr wrap="square" lIns="0" tIns="0" rIns="0" bIns="0" rtlCol="0"/>
            <a:lstStyle/>
            <a:p/>
          </p:txBody>
        </p:sp>
        <p:sp>
          <p:nvSpPr>
            <p:cNvPr id="459" name="object 459" descr=""/>
            <p:cNvSpPr/>
            <p:nvPr/>
          </p:nvSpPr>
          <p:spPr>
            <a:xfrm>
              <a:off x="4307018" y="3208976"/>
              <a:ext cx="15240" cy="5080"/>
            </a:xfrm>
            <a:custGeom>
              <a:avLst/>
              <a:gdLst/>
              <a:ahLst/>
              <a:cxnLst/>
              <a:rect l="l" t="t" r="r" b="b"/>
              <a:pathLst>
                <a:path w="15239" h="5080">
                  <a:moveTo>
                    <a:pt x="0" y="0"/>
                  </a:moveTo>
                  <a:lnTo>
                    <a:pt x="0" y="304"/>
                  </a:lnTo>
                  <a:lnTo>
                    <a:pt x="0" y="774"/>
                  </a:lnTo>
                  <a:lnTo>
                    <a:pt x="1866" y="1168"/>
                  </a:lnTo>
                  <a:lnTo>
                    <a:pt x="5613" y="2260"/>
                  </a:lnTo>
                  <a:lnTo>
                    <a:pt x="7429" y="2730"/>
                  </a:lnTo>
                  <a:lnTo>
                    <a:pt x="9321" y="3276"/>
                  </a:lnTo>
                  <a:lnTo>
                    <a:pt x="11176" y="3898"/>
                  </a:lnTo>
                  <a:lnTo>
                    <a:pt x="13081" y="4445"/>
                  </a:lnTo>
                  <a:lnTo>
                    <a:pt x="14922" y="5067"/>
                  </a:lnTo>
                  <a:lnTo>
                    <a:pt x="14922" y="4292"/>
                  </a:lnTo>
                  <a:lnTo>
                    <a:pt x="13081" y="3670"/>
                  </a:lnTo>
                  <a:lnTo>
                    <a:pt x="11176" y="3200"/>
                  </a:lnTo>
                  <a:lnTo>
                    <a:pt x="9321" y="2641"/>
                  </a:lnTo>
                  <a:lnTo>
                    <a:pt x="7429" y="2184"/>
                  </a:lnTo>
                  <a:lnTo>
                    <a:pt x="5613" y="1549"/>
                  </a:lnTo>
                  <a:lnTo>
                    <a:pt x="3708" y="1016"/>
                  </a:lnTo>
                  <a:lnTo>
                    <a:pt x="1866" y="546"/>
                  </a:lnTo>
                  <a:lnTo>
                    <a:pt x="0" y="0"/>
                  </a:lnTo>
                  <a:close/>
                </a:path>
              </a:pathLst>
            </a:custGeom>
            <a:solidFill>
              <a:srgbClr val="484948"/>
            </a:solidFill>
          </p:spPr>
          <p:txBody>
            <a:bodyPr wrap="square" lIns="0" tIns="0" rIns="0" bIns="0" rtlCol="0"/>
            <a:lstStyle/>
            <a:p/>
          </p:txBody>
        </p:sp>
        <p:sp>
          <p:nvSpPr>
            <p:cNvPr id="460" name="object 460" descr=""/>
            <p:cNvSpPr/>
            <p:nvPr/>
          </p:nvSpPr>
          <p:spPr>
            <a:xfrm>
              <a:off x="4328891" y="3221033"/>
              <a:ext cx="5715" cy="20955"/>
            </a:xfrm>
            <a:custGeom>
              <a:avLst/>
              <a:gdLst/>
              <a:ahLst/>
              <a:cxnLst/>
              <a:rect l="l" t="t" r="r" b="b"/>
              <a:pathLst>
                <a:path w="5714" h="20955">
                  <a:moveTo>
                    <a:pt x="0" y="0"/>
                  </a:moveTo>
                  <a:lnTo>
                    <a:pt x="38" y="2374"/>
                  </a:lnTo>
                  <a:lnTo>
                    <a:pt x="38" y="19189"/>
                  </a:lnTo>
                  <a:lnTo>
                    <a:pt x="241" y="19265"/>
                  </a:lnTo>
                  <a:lnTo>
                    <a:pt x="380" y="19431"/>
                  </a:lnTo>
                  <a:lnTo>
                    <a:pt x="380" y="1739"/>
                  </a:lnTo>
                  <a:lnTo>
                    <a:pt x="965" y="1816"/>
                  </a:lnTo>
                  <a:lnTo>
                    <a:pt x="2590" y="2374"/>
                  </a:lnTo>
                  <a:lnTo>
                    <a:pt x="4241" y="2844"/>
                  </a:lnTo>
                  <a:lnTo>
                    <a:pt x="4762" y="3086"/>
                  </a:lnTo>
                  <a:lnTo>
                    <a:pt x="4787" y="11899"/>
                  </a:lnTo>
                  <a:lnTo>
                    <a:pt x="4864" y="14033"/>
                  </a:lnTo>
                  <a:lnTo>
                    <a:pt x="4864" y="20777"/>
                  </a:lnTo>
                  <a:lnTo>
                    <a:pt x="5206" y="20942"/>
                  </a:lnTo>
                  <a:lnTo>
                    <a:pt x="5206" y="6426"/>
                  </a:lnTo>
                  <a:lnTo>
                    <a:pt x="5130" y="4038"/>
                  </a:lnTo>
                  <a:lnTo>
                    <a:pt x="5105" y="1651"/>
                  </a:lnTo>
                  <a:lnTo>
                    <a:pt x="4521" y="1422"/>
                  </a:lnTo>
                  <a:lnTo>
                    <a:pt x="3873" y="1104"/>
                  </a:lnTo>
                  <a:lnTo>
                    <a:pt x="2590" y="787"/>
                  </a:lnTo>
                  <a:lnTo>
                    <a:pt x="2006" y="469"/>
                  </a:lnTo>
                  <a:lnTo>
                    <a:pt x="0" y="0"/>
                  </a:lnTo>
                  <a:close/>
                </a:path>
              </a:pathLst>
            </a:custGeom>
            <a:solidFill>
              <a:srgbClr val="8B8B8B"/>
            </a:solidFill>
          </p:spPr>
          <p:txBody>
            <a:bodyPr wrap="square" lIns="0" tIns="0" rIns="0" bIns="0" rtlCol="0"/>
            <a:lstStyle/>
            <a:p/>
          </p:txBody>
        </p:sp>
        <p:sp>
          <p:nvSpPr>
            <p:cNvPr id="461" name="object 461" descr=""/>
            <p:cNvSpPr/>
            <p:nvPr/>
          </p:nvSpPr>
          <p:spPr>
            <a:xfrm>
              <a:off x="4329576" y="3224197"/>
              <a:ext cx="4445" cy="17780"/>
            </a:xfrm>
            <a:custGeom>
              <a:avLst/>
              <a:gdLst/>
              <a:ahLst/>
              <a:cxnLst/>
              <a:rect l="l" t="t" r="r" b="b"/>
              <a:pathLst>
                <a:path w="4445" h="17780">
                  <a:moveTo>
                    <a:pt x="0" y="0"/>
                  </a:moveTo>
                  <a:lnTo>
                    <a:pt x="50" y="1943"/>
                  </a:lnTo>
                  <a:lnTo>
                    <a:pt x="50" y="16560"/>
                  </a:lnTo>
                  <a:lnTo>
                    <a:pt x="520" y="16636"/>
                  </a:lnTo>
                  <a:lnTo>
                    <a:pt x="1028" y="16802"/>
                  </a:lnTo>
                  <a:lnTo>
                    <a:pt x="1485" y="16878"/>
                  </a:lnTo>
                  <a:lnTo>
                    <a:pt x="1955" y="17119"/>
                  </a:lnTo>
                  <a:lnTo>
                    <a:pt x="2463" y="17208"/>
                  </a:lnTo>
                  <a:lnTo>
                    <a:pt x="2933" y="17437"/>
                  </a:lnTo>
                  <a:lnTo>
                    <a:pt x="3403" y="17538"/>
                  </a:lnTo>
                  <a:lnTo>
                    <a:pt x="3835" y="17779"/>
                  </a:lnTo>
                  <a:lnTo>
                    <a:pt x="3835" y="1054"/>
                  </a:lnTo>
                  <a:lnTo>
                    <a:pt x="3365" y="888"/>
                  </a:lnTo>
                  <a:lnTo>
                    <a:pt x="2895" y="812"/>
                  </a:lnTo>
                  <a:lnTo>
                    <a:pt x="1447" y="330"/>
                  </a:lnTo>
                  <a:lnTo>
                    <a:pt x="990" y="241"/>
                  </a:lnTo>
                  <a:lnTo>
                    <a:pt x="469" y="76"/>
                  </a:lnTo>
                  <a:lnTo>
                    <a:pt x="0" y="0"/>
                  </a:lnTo>
                  <a:close/>
                </a:path>
              </a:pathLst>
            </a:custGeom>
            <a:solidFill>
              <a:srgbClr val="484948"/>
            </a:solidFill>
          </p:spPr>
          <p:txBody>
            <a:bodyPr wrap="square" lIns="0" tIns="0" rIns="0" bIns="0" rtlCol="0"/>
            <a:lstStyle/>
            <a:p/>
          </p:txBody>
        </p:sp>
        <p:sp>
          <p:nvSpPr>
            <p:cNvPr id="462" name="object 462" descr=""/>
            <p:cNvSpPr/>
            <p:nvPr/>
          </p:nvSpPr>
          <p:spPr>
            <a:xfrm>
              <a:off x="4291749" y="3211502"/>
              <a:ext cx="83820" cy="46355"/>
            </a:xfrm>
            <a:custGeom>
              <a:avLst/>
              <a:gdLst/>
              <a:ahLst/>
              <a:cxnLst/>
              <a:rect l="l" t="t" r="r" b="b"/>
              <a:pathLst>
                <a:path w="83820" h="46354">
                  <a:moveTo>
                    <a:pt x="47269" y="15392"/>
                  </a:moveTo>
                  <a:lnTo>
                    <a:pt x="47269" y="33870"/>
                  </a:lnTo>
                  <a:lnTo>
                    <a:pt x="83311" y="46329"/>
                  </a:lnTo>
                  <a:lnTo>
                    <a:pt x="83169" y="33870"/>
                  </a:lnTo>
                  <a:lnTo>
                    <a:pt x="83108" y="28562"/>
                  </a:lnTo>
                  <a:lnTo>
                    <a:pt x="47269" y="15392"/>
                  </a:lnTo>
                  <a:close/>
                </a:path>
                <a:path w="83820" h="46354">
                  <a:moveTo>
                    <a:pt x="0" y="0"/>
                  </a:moveTo>
                  <a:lnTo>
                    <a:pt x="0" y="18326"/>
                  </a:lnTo>
                  <a:lnTo>
                    <a:pt x="30543" y="28320"/>
                  </a:lnTo>
                  <a:lnTo>
                    <a:pt x="30543" y="9918"/>
                  </a:lnTo>
                  <a:lnTo>
                    <a:pt x="0" y="0"/>
                  </a:lnTo>
                  <a:close/>
                </a:path>
              </a:pathLst>
            </a:custGeom>
            <a:solidFill>
              <a:srgbClr val="707170"/>
            </a:solidFill>
          </p:spPr>
          <p:txBody>
            <a:bodyPr wrap="square" lIns="0" tIns="0" rIns="0" bIns="0" rtlCol="0"/>
            <a:lstStyle/>
            <a:p/>
          </p:txBody>
        </p:sp>
        <p:sp>
          <p:nvSpPr>
            <p:cNvPr id="463" name="object 463" descr=""/>
            <p:cNvSpPr/>
            <p:nvPr/>
          </p:nvSpPr>
          <p:spPr>
            <a:xfrm>
              <a:off x="4286539" y="3214046"/>
              <a:ext cx="88900" cy="30480"/>
            </a:xfrm>
            <a:custGeom>
              <a:avLst/>
              <a:gdLst/>
              <a:ahLst/>
              <a:cxnLst/>
              <a:rect l="l" t="t" r="r" b="b"/>
              <a:pathLst>
                <a:path w="88900" h="30480">
                  <a:moveTo>
                    <a:pt x="0" y="0"/>
                  </a:moveTo>
                  <a:lnTo>
                    <a:pt x="0" y="3200"/>
                  </a:lnTo>
                  <a:lnTo>
                    <a:pt x="87490" y="30454"/>
                  </a:lnTo>
                  <a:lnTo>
                    <a:pt x="88874" y="19799"/>
                  </a:lnTo>
                  <a:lnTo>
                    <a:pt x="0" y="0"/>
                  </a:lnTo>
                  <a:close/>
                </a:path>
              </a:pathLst>
            </a:custGeom>
            <a:solidFill>
              <a:srgbClr val="DFDFDF"/>
            </a:solidFill>
          </p:spPr>
          <p:txBody>
            <a:bodyPr wrap="square" lIns="0" tIns="0" rIns="0" bIns="0" rtlCol="0"/>
            <a:lstStyle/>
            <a:p/>
          </p:txBody>
        </p:sp>
        <p:sp>
          <p:nvSpPr>
            <p:cNvPr id="464" name="object 464" descr=""/>
            <p:cNvSpPr/>
            <p:nvPr/>
          </p:nvSpPr>
          <p:spPr>
            <a:xfrm>
              <a:off x="4373671" y="3214052"/>
              <a:ext cx="25400" cy="30480"/>
            </a:xfrm>
            <a:custGeom>
              <a:avLst/>
              <a:gdLst/>
              <a:ahLst/>
              <a:cxnLst/>
              <a:rect l="l" t="t" r="r" b="b"/>
              <a:pathLst>
                <a:path w="25400" h="30480">
                  <a:moveTo>
                    <a:pt x="25006" y="0"/>
                  </a:moveTo>
                  <a:lnTo>
                    <a:pt x="0" y="21526"/>
                  </a:lnTo>
                  <a:lnTo>
                    <a:pt x="215" y="30454"/>
                  </a:lnTo>
                  <a:lnTo>
                    <a:pt x="24790" y="4216"/>
                  </a:lnTo>
                  <a:lnTo>
                    <a:pt x="25006" y="0"/>
                  </a:lnTo>
                  <a:close/>
                </a:path>
              </a:pathLst>
            </a:custGeom>
            <a:solidFill>
              <a:srgbClr val="FFFFFF"/>
            </a:solidFill>
          </p:spPr>
          <p:txBody>
            <a:bodyPr wrap="square" lIns="0" tIns="0" rIns="0" bIns="0" rtlCol="0"/>
            <a:lstStyle/>
            <a:p/>
          </p:txBody>
        </p:sp>
        <p:sp>
          <p:nvSpPr>
            <p:cNvPr id="465" name="object 465" descr=""/>
            <p:cNvSpPr/>
            <p:nvPr/>
          </p:nvSpPr>
          <p:spPr>
            <a:xfrm>
              <a:off x="4373671" y="3214052"/>
              <a:ext cx="25400" cy="30480"/>
            </a:xfrm>
            <a:custGeom>
              <a:avLst/>
              <a:gdLst/>
              <a:ahLst/>
              <a:cxnLst/>
              <a:rect l="l" t="t" r="r" b="b"/>
              <a:pathLst>
                <a:path w="25400" h="30480">
                  <a:moveTo>
                    <a:pt x="215" y="30454"/>
                  </a:moveTo>
                  <a:lnTo>
                    <a:pt x="0" y="21526"/>
                  </a:lnTo>
                  <a:lnTo>
                    <a:pt x="25006" y="0"/>
                  </a:lnTo>
                  <a:lnTo>
                    <a:pt x="24790" y="4216"/>
                  </a:lnTo>
                  <a:lnTo>
                    <a:pt x="215" y="30454"/>
                  </a:lnTo>
                  <a:close/>
                </a:path>
              </a:pathLst>
            </a:custGeom>
            <a:ln w="3175">
              <a:solidFill>
                <a:srgbClr val="C2BAB3"/>
              </a:solidFill>
            </a:ln>
          </p:spPr>
          <p:txBody>
            <a:bodyPr wrap="square" lIns="0" tIns="0" rIns="0" bIns="0" rtlCol="0"/>
            <a:lstStyle/>
            <a:p/>
          </p:txBody>
        </p:sp>
        <p:sp>
          <p:nvSpPr>
            <p:cNvPr id="466" name="object 466" descr=""/>
            <p:cNvSpPr/>
            <p:nvPr/>
          </p:nvSpPr>
          <p:spPr>
            <a:xfrm>
              <a:off x="4286531" y="3209602"/>
              <a:ext cx="112395" cy="30480"/>
            </a:xfrm>
            <a:custGeom>
              <a:avLst/>
              <a:gdLst/>
              <a:ahLst/>
              <a:cxnLst/>
              <a:rect l="l" t="t" r="r" b="b"/>
              <a:pathLst>
                <a:path w="112395" h="30480">
                  <a:moveTo>
                    <a:pt x="5232" y="0"/>
                  </a:moveTo>
                  <a:lnTo>
                    <a:pt x="0" y="4876"/>
                  </a:lnTo>
                  <a:lnTo>
                    <a:pt x="87630" y="30467"/>
                  </a:lnTo>
                  <a:lnTo>
                    <a:pt x="111798" y="4394"/>
                  </a:lnTo>
                  <a:lnTo>
                    <a:pt x="106083" y="4000"/>
                  </a:lnTo>
                  <a:lnTo>
                    <a:pt x="88798" y="21513"/>
                  </a:lnTo>
                  <a:lnTo>
                    <a:pt x="5232" y="0"/>
                  </a:lnTo>
                  <a:close/>
                </a:path>
              </a:pathLst>
            </a:custGeom>
            <a:solidFill>
              <a:srgbClr val="A0A0A0"/>
            </a:solidFill>
          </p:spPr>
          <p:txBody>
            <a:bodyPr wrap="square" lIns="0" tIns="0" rIns="0" bIns="0" rtlCol="0"/>
            <a:lstStyle/>
            <a:p/>
          </p:txBody>
        </p:sp>
        <p:pic>
          <p:nvPicPr>
            <p:cNvPr id="467" name="object 467" descr=""/>
            <p:cNvPicPr/>
            <p:nvPr/>
          </p:nvPicPr>
          <p:blipFill>
            <a:blip r:embed="rId29" cstate="print"/>
            <a:stretch>
              <a:fillRect/>
            </a:stretch>
          </p:blipFill>
          <p:spPr>
            <a:xfrm>
              <a:off x="4272533" y="3016757"/>
              <a:ext cx="102541" cy="99059"/>
            </a:xfrm>
            <a:prstGeom prst="rect">
              <a:avLst/>
            </a:prstGeom>
          </p:spPr>
        </p:pic>
        <p:sp>
          <p:nvSpPr>
            <p:cNvPr id="468" name="object 468" descr=""/>
            <p:cNvSpPr/>
            <p:nvPr/>
          </p:nvSpPr>
          <p:spPr>
            <a:xfrm>
              <a:off x="4286531" y="3209602"/>
              <a:ext cx="112395" cy="30480"/>
            </a:xfrm>
            <a:custGeom>
              <a:avLst/>
              <a:gdLst/>
              <a:ahLst/>
              <a:cxnLst/>
              <a:rect l="l" t="t" r="r" b="b"/>
              <a:pathLst>
                <a:path w="112395" h="30480">
                  <a:moveTo>
                    <a:pt x="106083" y="4000"/>
                  </a:moveTo>
                  <a:lnTo>
                    <a:pt x="111798" y="4394"/>
                  </a:lnTo>
                  <a:lnTo>
                    <a:pt x="87630" y="30467"/>
                  </a:lnTo>
                  <a:lnTo>
                    <a:pt x="0" y="4876"/>
                  </a:lnTo>
                  <a:lnTo>
                    <a:pt x="5232" y="0"/>
                  </a:lnTo>
                  <a:lnTo>
                    <a:pt x="88798" y="21513"/>
                  </a:lnTo>
                  <a:lnTo>
                    <a:pt x="106083" y="4000"/>
                  </a:lnTo>
                  <a:close/>
                </a:path>
              </a:pathLst>
            </a:custGeom>
            <a:ln w="3175">
              <a:solidFill>
                <a:srgbClr val="B5ADA6"/>
              </a:solidFill>
            </a:ln>
          </p:spPr>
          <p:txBody>
            <a:bodyPr wrap="square" lIns="0" tIns="0" rIns="0" bIns="0" rtlCol="0"/>
            <a:lstStyle/>
            <a:p/>
          </p:txBody>
        </p:sp>
        <p:pic>
          <p:nvPicPr>
            <p:cNvPr id="469" name="object 469" descr=""/>
            <p:cNvPicPr/>
            <p:nvPr/>
          </p:nvPicPr>
          <p:blipFill>
            <a:blip r:embed="rId30" cstate="print"/>
            <a:stretch>
              <a:fillRect/>
            </a:stretch>
          </p:blipFill>
          <p:spPr>
            <a:xfrm>
              <a:off x="4313732" y="3037903"/>
              <a:ext cx="17145" cy="17132"/>
            </a:xfrm>
            <a:prstGeom prst="rect">
              <a:avLst/>
            </a:prstGeom>
          </p:spPr>
        </p:pic>
        <p:pic>
          <p:nvPicPr>
            <p:cNvPr id="470" name="object 470" descr=""/>
            <p:cNvPicPr/>
            <p:nvPr/>
          </p:nvPicPr>
          <p:blipFill>
            <a:blip r:embed="rId31" cstate="print"/>
            <a:stretch>
              <a:fillRect/>
            </a:stretch>
          </p:blipFill>
          <p:spPr>
            <a:xfrm>
              <a:off x="4130154" y="3039999"/>
              <a:ext cx="20853" cy="19723"/>
            </a:xfrm>
            <a:prstGeom prst="rect">
              <a:avLst/>
            </a:prstGeom>
          </p:spPr>
        </p:pic>
        <p:pic>
          <p:nvPicPr>
            <p:cNvPr id="471" name="object 471"/>
            <p:cNvPicPr/>
            <p:nvPr/>
          </p:nvPicPr>
          <p:blipFill>
            <a:blip r:embed="rId32" cstate="print"/>
            <a:stretch>
              <a:fillRect/>
            </a:stretch>
          </p:blipFill>
          <p:spPr>
            <a:xfrm>
              <a:off x="4100697" y="2993745"/>
              <a:ext cx="176916" cy="195813"/>
            </a:xfrm>
            <a:prstGeom prst="rect">
              <a:avLst/>
            </a:prstGeom>
          </p:spPr>
        </p:pic>
        <p:pic>
          <p:nvPicPr>
            <p:cNvPr id="472" name="object 472"/>
            <p:cNvPicPr/>
            <p:nvPr/>
          </p:nvPicPr>
          <p:blipFill>
            <a:blip r:embed="rId33" cstate="print"/>
            <a:stretch>
              <a:fillRect/>
            </a:stretch>
          </p:blipFill>
          <p:spPr>
            <a:xfrm>
              <a:off x="4212553" y="3004186"/>
              <a:ext cx="154885" cy="163087"/>
            </a:xfrm>
            <a:prstGeom prst="rect">
              <a:avLst/>
            </a:prstGeom>
          </p:spPr>
        </p:pic>
        <p:pic>
          <p:nvPicPr>
            <p:cNvPr id="473" name="object 473" descr=""/>
            <p:cNvPicPr/>
            <p:nvPr/>
          </p:nvPicPr>
          <p:blipFill>
            <a:blip r:embed="rId34" cstate="print"/>
            <a:stretch>
              <a:fillRect/>
            </a:stretch>
          </p:blipFill>
          <p:spPr>
            <a:xfrm>
              <a:off x="3777795" y="2933412"/>
              <a:ext cx="891539" cy="327967"/>
            </a:xfrm>
            <a:prstGeom prst="rect">
              <a:avLst/>
            </a:prstGeom>
          </p:spPr>
        </p:pic>
        <p:sp>
          <p:nvSpPr>
            <p:cNvPr id="474" name="object 474" descr=""/>
            <p:cNvSpPr/>
            <p:nvPr/>
          </p:nvSpPr>
          <p:spPr>
            <a:xfrm>
              <a:off x="4913588" y="3381795"/>
              <a:ext cx="2457450" cy="8255"/>
            </a:xfrm>
            <a:custGeom>
              <a:avLst/>
              <a:gdLst/>
              <a:ahLst/>
              <a:cxnLst/>
              <a:rect l="l" t="t" r="r" b="b"/>
              <a:pathLst>
                <a:path w="2457450" h="8254">
                  <a:moveTo>
                    <a:pt x="0" y="0"/>
                  </a:moveTo>
                  <a:lnTo>
                    <a:pt x="2457005" y="7886"/>
                  </a:lnTo>
                </a:path>
              </a:pathLst>
            </a:custGeom>
            <a:ln w="9525">
              <a:solidFill>
                <a:srgbClr val="B6DCDF"/>
              </a:solidFill>
            </a:ln>
          </p:spPr>
          <p:txBody>
            <a:bodyPr wrap="square" lIns="0" tIns="0" rIns="0" bIns="0" rtlCol="0"/>
            <a:lstStyle/>
            <a:p/>
          </p:txBody>
        </p:sp>
      </p:grpSp>
      <p:sp>
        <p:nvSpPr>
          <p:cNvPr id="475" name="object 475" descr=""/>
          <p:cNvSpPr txBox="1"/>
          <p:nvPr/>
        </p:nvSpPr>
        <p:spPr>
          <a:xfrm>
            <a:off x="4016089" y="3868449"/>
            <a:ext cx="104775" cy="71120"/>
          </a:xfrm>
          <a:prstGeom prst="rect">
            <a:avLst/>
          </a:prstGeom>
        </p:spPr>
        <p:txBody>
          <a:bodyPr wrap="square" lIns="0" tIns="12700" rIns="0" bIns="0" rtlCol="0" vert="horz">
            <a:spAutoFit/>
          </a:bodyPr>
          <a:lstStyle/>
          <a:p>
            <a:pPr marL="12700">
              <a:lnSpc>
                <a:spcPct val="100000"/>
              </a:lnSpc>
              <a:spcBef>
                <a:spcPts val="100"/>
              </a:spcBef>
            </a:pPr>
            <a:r>
              <a:rPr dirty="0" sz="300" spc="-25">
                <a:latin typeface="Microsoft YaHei"/>
                <a:cs typeface="Microsoft YaHei"/>
              </a:rPr>
              <a:t>RRU</a:t>
            </a:r>
            <a:endParaRPr sz="300">
              <a:latin typeface="Microsoft YaHei"/>
              <a:cs typeface="Microsoft YaHei"/>
            </a:endParaRPr>
          </a:p>
        </p:txBody>
      </p:sp>
      <p:sp>
        <p:nvSpPr>
          <p:cNvPr id="476" name="object 476" descr=""/>
          <p:cNvSpPr txBox="1"/>
          <p:nvPr/>
        </p:nvSpPr>
        <p:spPr>
          <a:xfrm>
            <a:off x="4019060" y="4055748"/>
            <a:ext cx="165735" cy="71120"/>
          </a:xfrm>
          <a:prstGeom prst="rect">
            <a:avLst/>
          </a:prstGeom>
        </p:spPr>
        <p:txBody>
          <a:bodyPr wrap="square" lIns="0" tIns="12700" rIns="0" bIns="0" rtlCol="0" vert="horz">
            <a:spAutoFit/>
          </a:bodyPr>
          <a:lstStyle/>
          <a:p>
            <a:pPr marL="12700">
              <a:lnSpc>
                <a:spcPct val="100000"/>
              </a:lnSpc>
              <a:spcBef>
                <a:spcPts val="100"/>
              </a:spcBef>
            </a:pPr>
            <a:r>
              <a:rPr dirty="0" sz="300" spc="-20">
                <a:latin typeface="Microsoft YaHei"/>
                <a:cs typeface="Microsoft YaHei"/>
              </a:rPr>
              <a:t>RRUBBU</a:t>
            </a:r>
            <a:endParaRPr sz="300">
              <a:latin typeface="Microsoft YaHei"/>
              <a:cs typeface="Microsoft YaHei"/>
            </a:endParaRPr>
          </a:p>
        </p:txBody>
      </p:sp>
      <p:grpSp>
        <p:nvGrpSpPr>
          <p:cNvPr id="477" name="object 477" descr=""/>
          <p:cNvGrpSpPr/>
          <p:nvPr/>
        </p:nvGrpSpPr>
        <p:grpSpPr>
          <a:xfrm>
            <a:off x="4060342" y="3863882"/>
            <a:ext cx="28575" cy="191770"/>
            <a:chOff x="4060342" y="3863882"/>
            <a:chExt cx="28575" cy="191770"/>
          </a:xfrm>
        </p:grpSpPr>
        <p:sp>
          <p:nvSpPr>
            <p:cNvPr id="478" name="object 478" descr=""/>
            <p:cNvSpPr/>
            <p:nvPr/>
          </p:nvSpPr>
          <p:spPr>
            <a:xfrm>
              <a:off x="4074629" y="4050195"/>
              <a:ext cx="14604" cy="5080"/>
            </a:xfrm>
            <a:custGeom>
              <a:avLst/>
              <a:gdLst/>
              <a:ahLst/>
              <a:cxnLst/>
              <a:rect l="l" t="t" r="r" b="b"/>
              <a:pathLst>
                <a:path w="14604" h="5079">
                  <a:moveTo>
                    <a:pt x="14287" y="0"/>
                  </a:moveTo>
                  <a:lnTo>
                    <a:pt x="0" y="0"/>
                  </a:lnTo>
                  <a:lnTo>
                    <a:pt x="0" y="4952"/>
                  </a:lnTo>
                  <a:lnTo>
                    <a:pt x="14287" y="4952"/>
                  </a:lnTo>
                  <a:lnTo>
                    <a:pt x="14287" y="0"/>
                  </a:lnTo>
                  <a:close/>
                </a:path>
              </a:pathLst>
            </a:custGeom>
            <a:solidFill>
              <a:srgbClr val="CECECE"/>
            </a:solidFill>
          </p:spPr>
          <p:txBody>
            <a:bodyPr wrap="square" lIns="0" tIns="0" rIns="0" bIns="0" rtlCol="0"/>
            <a:lstStyle/>
            <a:p/>
          </p:txBody>
        </p:sp>
        <p:sp>
          <p:nvSpPr>
            <p:cNvPr id="479" name="object 479" descr=""/>
            <p:cNvSpPr/>
            <p:nvPr/>
          </p:nvSpPr>
          <p:spPr>
            <a:xfrm>
              <a:off x="4075225" y="4050649"/>
              <a:ext cx="13335" cy="3810"/>
            </a:xfrm>
            <a:custGeom>
              <a:avLst/>
              <a:gdLst/>
              <a:ahLst/>
              <a:cxnLst/>
              <a:rect l="l" t="t" r="r" b="b"/>
              <a:pathLst>
                <a:path w="13335" h="3810">
                  <a:moveTo>
                    <a:pt x="12484" y="0"/>
                  </a:moveTo>
                  <a:lnTo>
                    <a:pt x="1320" y="0"/>
                  </a:lnTo>
                  <a:lnTo>
                    <a:pt x="596" y="0"/>
                  </a:lnTo>
                  <a:lnTo>
                    <a:pt x="0" y="825"/>
                  </a:lnTo>
                  <a:lnTo>
                    <a:pt x="0" y="2844"/>
                  </a:lnTo>
                  <a:lnTo>
                    <a:pt x="596" y="3594"/>
                  </a:lnTo>
                  <a:lnTo>
                    <a:pt x="12484" y="3594"/>
                  </a:lnTo>
                  <a:lnTo>
                    <a:pt x="13093" y="2844"/>
                  </a:lnTo>
                  <a:lnTo>
                    <a:pt x="13093" y="825"/>
                  </a:lnTo>
                  <a:lnTo>
                    <a:pt x="12484" y="0"/>
                  </a:lnTo>
                  <a:close/>
                </a:path>
              </a:pathLst>
            </a:custGeom>
            <a:solidFill>
              <a:srgbClr val="FFFFFF"/>
            </a:solidFill>
          </p:spPr>
          <p:txBody>
            <a:bodyPr wrap="square" lIns="0" tIns="0" rIns="0" bIns="0" rtlCol="0"/>
            <a:lstStyle/>
            <a:p/>
          </p:txBody>
        </p:sp>
        <p:sp>
          <p:nvSpPr>
            <p:cNvPr id="480" name="object 480" descr=""/>
            <p:cNvSpPr/>
            <p:nvPr/>
          </p:nvSpPr>
          <p:spPr>
            <a:xfrm>
              <a:off x="4075225" y="4050649"/>
              <a:ext cx="13335" cy="3810"/>
            </a:xfrm>
            <a:custGeom>
              <a:avLst/>
              <a:gdLst/>
              <a:ahLst/>
              <a:cxnLst/>
              <a:rect l="l" t="t" r="r" b="b"/>
              <a:pathLst>
                <a:path w="13335" h="3810">
                  <a:moveTo>
                    <a:pt x="1320" y="0"/>
                  </a:moveTo>
                  <a:lnTo>
                    <a:pt x="11760" y="0"/>
                  </a:lnTo>
                  <a:lnTo>
                    <a:pt x="12484" y="0"/>
                  </a:lnTo>
                  <a:lnTo>
                    <a:pt x="13093" y="825"/>
                  </a:lnTo>
                  <a:lnTo>
                    <a:pt x="13093" y="1790"/>
                  </a:lnTo>
                  <a:lnTo>
                    <a:pt x="13093" y="2844"/>
                  </a:lnTo>
                  <a:lnTo>
                    <a:pt x="12484" y="3594"/>
                  </a:lnTo>
                  <a:lnTo>
                    <a:pt x="11760" y="3594"/>
                  </a:lnTo>
                  <a:lnTo>
                    <a:pt x="1320" y="3594"/>
                  </a:lnTo>
                  <a:lnTo>
                    <a:pt x="596" y="3594"/>
                  </a:lnTo>
                  <a:lnTo>
                    <a:pt x="0" y="2844"/>
                  </a:lnTo>
                  <a:lnTo>
                    <a:pt x="0" y="1790"/>
                  </a:lnTo>
                  <a:lnTo>
                    <a:pt x="0" y="825"/>
                  </a:lnTo>
                  <a:lnTo>
                    <a:pt x="596" y="0"/>
                  </a:lnTo>
                  <a:lnTo>
                    <a:pt x="1320" y="0"/>
                  </a:lnTo>
                  <a:close/>
                </a:path>
              </a:pathLst>
            </a:custGeom>
            <a:ln w="3175">
              <a:solidFill>
                <a:srgbClr val="000000"/>
              </a:solidFill>
            </a:ln>
          </p:spPr>
          <p:txBody>
            <a:bodyPr wrap="square" lIns="0" tIns="0" rIns="0" bIns="0" rtlCol="0"/>
            <a:lstStyle/>
            <a:p/>
          </p:txBody>
        </p:sp>
        <p:sp>
          <p:nvSpPr>
            <p:cNvPr id="481" name="object 481" descr=""/>
            <p:cNvSpPr/>
            <p:nvPr/>
          </p:nvSpPr>
          <p:spPr>
            <a:xfrm>
              <a:off x="4074629" y="4050195"/>
              <a:ext cx="14604" cy="5080"/>
            </a:xfrm>
            <a:custGeom>
              <a:avLst/>
              <a:gdLst/>
              <a:ahLst/>
              <a:cxnLst/>
              <a:rect l="l" t="t" r="r" b="b"/>
              <a:pathLst>
                <a:path w="14604" h="5079">
                  <a:moveTo>
                    <a:pt x="14287" y="0"/>
                  </a:moveTo>
                  <a:lnTo>
                    <a:pt x="0" y="0"/>
                  </a:lnTo>
                  <a:lnTo>
                    <a:pt x="0" y="4940"/>
                  </a:lnTo>
                  <a:lnTo>
                    <a:pt x="14287" y="4940"/>
                  </a:lnTo>
                  <a:lnTo>
                    <a:pt x="14287" y="0"/>
                  </a:lnTo>
                  <a:close/>
                </a:path>
              </a:pathLst>
            </a:custGeom>
            <a:solidFill>
              <a:srgbClr val="CECECE"/>
            </a:solidFill>
          </p:spPr>
          <p:txBody>
            <a:bodyPr wrap="square" lIns="0" tIns="0" rIns="0" bIns="0" rtlCol="0"/>
            <a:lstStyle/>
            <a:p/>
          </p:txBody>
        </p:sp>
        <p:sp>
          <p:nvSpPr>
            <p:cNvPr id="482" name="object 482" descr=""/>
            <p:cNvSpPr/>
            <p:nvPr/>
          </p:nvSpPr>
          <p:spPr>
            <a:xfrm>
              <a:off x="4074624" y="4050201"/>
              <a:ext cx="10795" cy="0"/>
            </a:xfrm>
            <a:custGeom>
              <a:avLst/>
              <a:gdLst/>
              <a:ahLst/>
              <a:cxnLst/>
              <a:rect l="l" t="t" r="r" b="b"/>
              <a:pathLst>
                <a:path w="10795" h="0">
                  <a:moveTo>
                    <a:pt x="0" y="0"/>
                  </a:moveTo>
                  <a:lnTo>
                    <a:pt x="10718" y="0"/>
                  </a:lnTo>
                </a:path>
              </a:pathLst>
            </a:custGeom>
            <a:ln w="7937">
              <a:solidFill>
                <a:srgbClr val="0033CC"/>
              </a:solidFill>
            </a:ln>
          </p:spPr>
          <p:txBody>
            <a:bodyPr wrap="square" lIns="0" tIns="0" rIns="0" bIns="0" rtlCol="0"/>
            <a:lstStyle/>
            <a:p/>
          </p:txBody>
        </p:sp>
        <p:sp>
          <p:nvSpPr>
            <p:cNvPr id="483" name="object 483" descr=""/>
            <p:cNvSpPr/>
            <p:nvPr/>
          </p:nvSpPr>
          <p:spPr>
            <a:xfrm>
              <a:off x="4060342" y="3867848"/>
              <a:ext cx="18415" cy="5080"/>
            </a:xfrm>
            <a:custGeom>
              <a:avLst/>
              <a:gdLst/>
              <a:ahLst/>
              <a:cxnLst/>
              <a:rect l="l" t="t" r="r" b="b"/>
              <a:pathLst>
                <a:path w="18414" h="5079">
                  <a:moveTo>
                    <a:pt x="17856" y="0"/>
                  </a:moveTo>
                  <a:lnTo>
                    <a:pt x="0" y="0"/>
                  </a:lnTo>
                  <a:lnTo>
                    <a:pt x="0" y="4495"/>
                  </a:lnTo>
                  <a:lnTo>
                    <a:pt x="17856" y="4495"/>
                  </a:lnTo>
                  <a:lnTo>
                    <a:pt x="17856" y="0"/>
                  </a:lnTo>
                  <a:close/>
                </a:path>
              </a:pathLst>
            </a:custGeom>
            <a:solidFill>
              <a:srgbClr val="CECECE"/>
            </a:solidFill>
          </p:spPr>
          <p:txBody>
            <a:bodyPr wrap="square" lIns="0" tIns="0" rIns="0" bIns="0" rtlCol="0"/>
            <a:lstStyle/>
            <a:p/>
          </p:txBody>
        </p:sp>
        <p:sp>
          <p:nvSpPr>
            <p:cNvPr id="484" name="object 484" descr=""/>
            <p:cNvSpPr/>
            <p:nvPr/>
          </p:nvSpPr>
          <p:spPr>
            <a:xfrm>
              <a:off x="4061528" y="3868299"/>
              <a:ext cx="16510" cy="3810"/>
            </a:xfrm>
            <a:custGeom>
              <a:avLst/>
              <a:gdLst/>
              <a:ahLst/>
              <a:cxnLst/>
              <a:rect l="l" t="t" r="r" b="b"/>
              <a:pathLst>
                <a:path w="16510" h="3810">
                  <a:moveTo>
                    <a:pt x="15468" y="0"/>
                  </a:moveTo>
                  <a:lnTo>
                    <a:pt x="1308" y="0"/>
                  </a:lnTo>
                  <a:lnTo>
                    <a:pt x="596" y="0"/>
                  </a:lnTo>
                  <a:lnTo>
                    <a:pt x="0" y="749"/>
                  </a:lnTo>
                  <a:lnTo>
                    <a:pt x="0" y="2768"/>
                  </a:lnTo>
                  <a:lnTo>
                    <a:pt x="596" y="3594"/>
                  </a:lnTo>
                  <a:lnTo>
                    <a:pt x="15468" y="3594"/>
                  </a:lnTo>
                  <a:lnTo>
                    <a:pt x="16078" y="2768"/>
                  </a:lnTo>
                  <a:lnTo>
                    <a:pt x="16078" y="749"/>
                  </a:lnTo>
                  <a:lnTo>
                    <a:pt x="15468" y="0"/>
                  </a:lnTo>
                  <a:close/>
                </a:path>
              </a:pathLst>
            </a:custGeom>
            <a:solidFill>
              <a:srgbClr val="FFFFFF"/>
            </a:solidFill>
          </p:spPr>
          <p:txBody>
            <a:bodyPr wrap="square" lIns="0" tIns="0" rIns="0" bIns="0" rtlCol="0"/>
            <a:lstStyle/>
            <a:p/>
          </p:txBody>
        </p:sp>
        <p:sp>
          <p:nvSpPr>
            <p:cNvPr id="485" name="object 485" descr=""/>
            <p:cNvSpPr/>
            <p:nvPr/>
          </p:nvSpPr>
          <p:spPr>
            <a:xfrm>
              <a:off x="4061528" y="3868299"/>
              <a:ext cx="16510" cy="3810"/>
            </a:xfrm>
            <a:custGeom>
              <a:avLst/>
              <a:gdLst/>
              <a:ahLst/>
              <a:cxnLst/>
              <a:rect l="l" t="t" r="r" b="b"/>
              <a:pathLst>
                <a:path w="16510" h="3810">
                  <a:moveTo>
                    <a:pt x="1308" y="0"/>
                  </a:moveTo>
                  <a:lnTo>
                    <a:pt x="14770" y="0"/>
                  </a:lnTo>
                  <a:lnTo>
                    <a:pt x="15468" y="0"/>
                  </a:lnTo>
                  <a:lnTo>
                    <a:pt x="16078" y="749"/>
                  </a:lnTo>
                  <a:lnTo>
                    <a:pt x="16078" y="1790"/>
                  </a:lnTo>
                  <a:lnTo>
                    <a:pt x="16078" y="2768"/>
                  </a:lnTo>
                  <a:lnTo>
                    <a:pt x="15468" y="3594"/>
                  </a:lnTo>
                  <a:lnTo>
                    <a:pt x="14770" y="3594"/>
                  </a:lnTo>
                  <a:lnTo>
                    <a:pt x="1308" y="3594"/>
                  </a:lnTo>
                  <a:lnTo>
                    <a:pt x="596" y="3594"/>
                  </a:lnTo>
                  <a:lnTo>
                    <a:pt x="0" y="2768"/>
                  </a:lnTo>
                  <a:lnTo>
                    <a:pt x="0" y="1790"/>
                  </a:lnTo>
                  <a:lnTo>
                    <a:pt x="0" y="749"/>
                  </a:lnTo>
                  <a:lnTo>
                    <a:pt x="596" y="0"/>
                  </a:lnTo>
                  <a:lnTo>
                    <a:pt x="1308" y="0"/>
                  </a:lnTo>
                  <a:close/>
                </a:path>
              </a:pathLst>
            </a:custGeom>
            <a:ln w="3175">
              <a:solidFill>
                <a:srgbClr val="000000"/>
              </a:solidFill>
            </a:ln>
          </p:spPr>
          <p:txBody>
            <a:bodyPr wrap="square" lIns="0" tIns="0" rIns="0" bIns="0" rtlCol="0"/>
            <a:lstStyle/>
            <a:p/>
          </p:txBody>
        </p:sp>
        <p:sp>
          <p:nvSpPr>
            <p:cNvPr id="486" name="object 486" descr=""/>
            <p:cNvSpPr/>
            <p:nvPr/>
          </p:nvSpPr>
          <p:spPr>
            <a:xfrm>
              <a:off x="4060342" y="3867848"/>
              <a:ext cx="18415" cy="5080"/>
            </a:xfrm>
            <a:custGeom>
              <a:avLst/>
              <a:gdLst/>
              <a:ahLst/>
              <a:cxnLst/>
              <a:rect l="l" t="t" r="r" b="b"/>
              <a:pathLst>
                <a:path w="18414" h="5079">
                  <a:moveTo>
                    <a:pt x="17856" y="0"/>
                  </a:moveTo>
                  <a:lnTo>
                    <a:pt x="0" y="0"/>
                  </a:lnTo>
                  <a:lnTo>
                    <a:pt x="0" y="4495"/>
                  </a:lnTo>
                  <a:lnTo>
                    <a:pt x="17856" y="4495"/>
                  </a:lnTo>
                  <a:lnTo>
                    <a:pt x="17856" y="0"/>
                  </a:lnTo>
                  <a:close/>
                </a:path>
              </a:pathLst>
            </a:custGeom>
            <a:solidFill>
              <a:srgbClr val="CECECE"/>
            </a:solidFill>
          </p:spPr>
          <p:txBody>
            <a:bodyPr wrap="square" lIns="0" tIns="0" rIns="0" bIns="0" rtlCol="0"/>
            <a:lstStyle/>
            <a:p/>
          </p:txBody>
        </p:sp>
        <p:sp>
          <p:nvSpPr>
            <p:cNvPr id="487" name="object 487" descr=""/>
            <p:cNvSpPr/>
            <p:nvPr/>
          </p:nvSpPr>
          <p:spPr>
            <a:xfrm>
              <a:off x="4060934" y="3867851"/>
              <a:ext cx="13970" cy="0"/>
            </a:xfrm>
            <a:custGeom>
              <a:avLst/>
              <a:gdLst/>
              <a:ahLst/>
              <a:cxnLst/>
              <a:rect l="l" t="t" r="r" b="b"/>
              <a:pathLst>
                <a:path w="13970" h="0">
                  <a:moveTo>
                    <a:pt x="0" y="0"/>
                  </a:moveTo>
                  <a:lnTo>
                    <a:pt x="13690" y="0"/>
                  </a:lnTo>
                </a:path>
              </a:pathLst>
            </a:custGeom>
            <a:ln w="7937">
              <a:solidFill>
                <a:srgbClr val="0033CC"/>
              </a:solidFill>
            </a:ln>
          </p:spPr>
          <p:txBody>
            <a:bodyPr wrap="square" lIns="0" tIns="0" rIns="0" bIns="0" rtlCol="0"/>
            <a:lstStyle/>
            <a:p/>
          </p:txBody>
        </p:sp>
        <p:sp>
          <p:nvSpPr>
            <p:cNvPr id="488" name="object 488" descr=""/>
            <p:cNvSpPr/>
            <p:nvPr/>
          </p:nvSpPr>
          <p:spPr>
            <a:xfrm>
              <a:off x="4074629" y="3867848"/>
              <a:ext cx="3810" cy="187325"/>
            </a:xfrm>
            <a:custGeom>
              <a:avLst/>
              <a:gdLst/>
              <a:ahLst/>
              <a:cxnLst/>
              <a:rect l="l" t="t" r="r" b="b"/>
              <a:pathLst>
                <a:path w="3810" h="187325">
                  <a:moveTo>
                    <a:pt x="3568" y="0"/>
                  </a:moveTo>
                  <a:lnTo>
                    <a:pt x="0" y="0"/>
                  </a:lnTo>
                  <a:lnTo>
                    <a:pt x="0" y="187286"/>
                  </a:lnTo>
                  <a:lnTo>
                    <a:pt x="3568" y="187286"/>
                  </a:lnTo>
                  <a:lnTo>
                    <a:pt x="3568" y="0"/>
                  </a:lnTo>
                  <a:close/>
                </a:path>
              </a:pathLst>
            </a:custGeom>
            <a:solidFill>
              <a:srgbClr val="CECECE"/>
            </a:solidFill>
          </p:spPr>
          <p:txBody>
            <a:bodyPr wrap="square" lIns="0" tIns="0" rIns="0" bIns="0" rtlCol="0"/>
            <a:lstStyle/>
            <a:p/>
          </p:txBody>
        </p:sp>
        <p:sp>
          <p:nvSpPr>
            <p:cNvPr id="489" name="object 489" descr=""/>
            <p:cNvSpPr/>
            <p:nvPr/>
          </p:nvSpPr>
          <p:spPr>
            <a:xfrm>
              <a:off x="4075227" y="3870032"/>
              <a:ext cx="2540" cy="184150"/>
            </a:xfrm>
            <a:custGeom>
              <a:avLst/>
              <a:gdLst/>
              <a:ahLst/>
              <a:cxnLst/>
              <a:rect l="l" t="t" r="r" b="b"/>
              <a:pathLst>
                <a:path w="2539" h="184150">
                  <a:moveTo>
                    <a:pt x="2374" y="0"/>
                  </a:moveTo>
                  <a:lnTo>
                    <a:pt x="0" y="0"/>
                  </a:lnTo>
                  <a:lnTo>
                    <a:pt x="0" y="182880"/>
                  </a:lnTo>
                  <a:lnTo>
                    <a:pt x="0" y="184150"/>
                  </a:lnTo>
                  <a:lnTo>
                    <a:pt x="2374" y="184150"/>
                  </a:lnTo>
                  <a:lnTo>
                    <a:pt x="2374" y="182880"/>
                  </a:lnTo>
                  <a:lnTo>
                    <a:pt x="2374" y="0"/>
                  </a:lnTo>
                  <a:close/>
                </a:path>
              </a:pathLst>
            </a:custGeom>
            <a:solidFill>
              <a:srgbClr val="FFFFFF"/>
            </a:solidFill>
          </p:spPr>
          <p:txBody>
            <a:bodyPr wrap="square" lIns="0" tIns="0" rIns="0" bIns="0" rtlCol="0"/>
            <a:lstStyle/>
            <a:p/>
          </p:txBody>
        </p:sp>
        <p:sp>
          <p:nvSpPr>
            <p:cNvPr id="490" name="object 490" descr=""/>
            <p:cNvSpPr/>
            <p:nvPr/>
          </p:nvSpPr>
          <p:spPr>
            <a:xfrm>
              <a:off x="4075226" y="3868298"/>
              <a:ext cx="2540" cy="186055"/>
            </a:xfrm>
            <a:custGeom>
              <a:avLst/>
              <a:gdLst/>
              <a:ahLst/>
              <a:cxnLst/>
              <a:rect l="l" t="t" r="r" b="b"/>
              <a:pathLst>
                <a:path w="2539" h="186054">
                  <a:moveTo>
                    <a:pt x="2374" y="1727"/>
                  </a:moveTo>
                  <a:lnTo>
                    <a:pt x="2374" y="184226"/>
                  </a:lnTo>
                  <a:lnTo>
                    <a:pt x="2374" y="185229"/>
                  </a:lnTo>
                  <a:lnTo>
                    <a:pt x="1828" y="185940"/>
                  </a:lnTo>
                  <a:lnTo>
                    <a:pt x="1181" y="185940"/>
                  </a:lnTo>
                  <a:lnTo>
                    <a:pt x="533" y="185940"/>
                  </a:lnTo>
                  <a:lnTo>
                    <a:pt x="0" y="185229"/>
                  </a:lnTo>
                  <a:lnTo>
                    <a:pt x="0" y="184226"/>
                  </a:lnTo>
                  <a:lnTo>
                    <a:pt x="0" y="1727"/>
                  </a:lnTo>
                  <a:lnTo>
                    <a:pt x="0" y="723"/>
                  </a:lnTo>
                  <a:lnTo>
                    <a:pt x="533" y="0"/>
                  </a:lnTo>
                  <a:lnTo>
                    <a:pt x="1181" y="0"/>
                  </a:lnTo>
                  <a:lnTo>
                    <a:pt x="1828" y="0"/>
                  </a:lnTo>
                  <a:lnTo>
                    <a:pt x="2374" y="723"/>
                  </a:lnTo>
                  <a:lnTo>
                    <a:pt x="2374" y="1727"/>
                  </a:lnTo>
                  <a:close/>
                </a:path>
              </a:pathLst>
            </a:custGeom>
            <a:ln w="3175">
              <a:solidFill>
                <a:srgbClr val="000000"/>
              </a:solidFill>
            </a:ln>
          </p:spPr>
          <p:txBody>
            <a:bodyPr wrap="square" lIns="0" tIns="0" rIns="0" bIns="0" rtlCol="0"/>
            <a:lstStyle/>
            <a:p/>
          </p:txBody>
        </p:sp>
        <p:sp>
          <p:nvSpPr>
            <p:cNvPr id="491" name="object 491" descr=""/>
            <p:cNvSpPr/>
            <p:nvPr/>
          </p:nvSpPr>
          <p:spPr>
            <a:xfrm>
              <a:off x="4074629" y="3867848"/>
              <a:ext cx="3810" cy="187325"/>
            </a:xfrm>
            <a:custGeom>
              <a:avLst/>
              <a:gdLst/>
              <a:ahLst/>
              <a:cxnLst/>
              <a:rect l="l" t="t" r="r" b="b"/>
              <a:pathLst>
                <a:path w="3810" h="187325">
                  <a:moveTo>
                    <a:pt x="3568" y="0"/>
                  </a:moveTo>
                  <a:lnTo>
                    <a:pt x="0" y="0"/>
                  </a:lnTo>
                  <a:lnTo>
                    <a:pt x="0" y="187286"/>
                  </a:lnTo>
                  <a:lnTo>
                    <a:pt x="3568" y="187286"/>
                  </a:lnTo>
                  <a:lnTo>
                    <a:pt x="3568" y="0"/>
                  </a:lnTo>
                  <a:close/>
                </a:path>
              </a:pathLst>
            </a:custGeom>
            <a:solidFill>
              <a:srgbClr val="CECECE"/>
            </a:solidFill>
          </p:spPr>
          <p:txBody>
            <a:bodyPr wrap="square" lIns="0" tIns="0" rIns="0" bIns="0" rtlCol="0"/>
            <a:lstStyle/>
            <a:p/>
          </p:txBody>
        </p:sp>
        <p:sp>
          <p:nvSpPr>
            <p:cNvPr id="492" name="object 492" descr=""/>
            <p:cNvSpPr/>
            <p:nvPr/>
          </p:nvSpPr>
          <p:spPr>
            <a:xfrm>
              <a:off x="4074624" y="3867851"/>
              <a:ext cx="0" cy="182880"/>
            </a:xfrm>
            <a:custGeom>
              <a:avLst/>
              <a:gdLst/>
              <a:ahLst/>
              <a:cxnLst/>
              <a:rect l="l" t="t" r="r" b="b"/>
              <a:pathLst>
                <a:path w="0" h="182879">
                  <a:moveTo>
                    <a:pt x="0" y="0"/>
                  </a:moveTo>
                  <a:lnTo>
                    <a:pt x="0" y="182346"/>
                  </a:lnTo>
                </a:path>
              </a:pathLst>
            </a:custGeom>
            <a:ln w="7937">
              <a:solidFill>
                <a:srgbClr val="0033CC"/>
              </a:solidFill>
            </a:ln>
          </p:spPr>
          <p:txBody>
            <a:bodyPr wrap="square" lIns="0" tIns="0" rIns="0" bIns="0" rtlCol="0"/>
            <a:lstStyle/>
            <a:p/>
          </p:txBody>
        </p:sp>
      </p:grpSp>
      <p:sp>
        <p:nvSpPr>
          <p:cNvPr id="493" name="object 493" descr=""/>
          <p:cNvSpPr txBox="1"/>
          <p:nvPr/>
        </p:nvSpPr>
        <p:spPr>
          <a:xfrm>
            <a:off x="2554800" y="4230165"/>
            <a:ext cx="1978025" cy="162560"/>
          </a:xfrm>
          <a:prstGeom prst="rect">
            <a:avLst/>
          </a:prstGeom>
        </p:spPr>
        <p:txBody>
          <a:bodyPr wrap="square" lIns="0" tIns="12700" rIns="0" bIns="0" rtlCol="0" vert="horz">
            <a:spAutoFit/>
          </a:bodyPr>
          <a:lstStyle/>
          <a:p>
            <a:pPr marL="12700">
              <a:lnSpc>
                <a:spcPct val="100000"/>
              </a:lnSpc>
              <a:spcBef>
                <a:spcPts val="100"/>
              </a:spcBef>
            </a:pPr>
            <a:r>
              <a:rPr dirty="0" sz="900" b="1">
                <a:solidFill>
                  <a:srgbClr val="C00000"/>
                </a:solidFill>
                <a:latin typeface="Microsoft YaHei"/>
                <a:cs typeface="Microsoft YaHei"/>
              </a:rPr>
              <a:t>传统室分/Pico/Nano</a:t>
            </a:r>
            <a:r>
              <a:rPr dirty="0" sz="900" spc="-20" b="1">
                <a:solidFill>
                  <a:srgbClr val="C00000"/>
                </a:solidFill>
                <a:latin typeface="Microsoft YaHei"/>
                <a:cs typeface="Microsoft YaHei"/>
              </a:rPr>
              <a:t> ，解决室内覆盖</a:t>
            </a:r>
            <a:endParaRPr sz="900">
              <a:latin typeface="Microsoft YaHei"/>
              <a:cs typeface="Microsoft YaHei"/>
            </a:endParaRPr>
          </a:p>
        </p:txBody>
      </p:sp>
      <p:sp>
        <p:nvSpPr>
          <p:cNvPr id="494" name="object 494" descr=""/>
          <p:cNvSpPr txBox="1"/>
          <p:nvPr/>
        </p:nvSpPr>
        <p:spPr>
          <a:xfrm>
            <a:off x="2634467" y="3378058"/>
            <a:ext cx="1788160" cy="162560"/>
          </a:xfrm>
          <a:prstGeom prst="rect">
            <a:avLst/>
          </a:prstGeom>
        </p:spPr>
        <p:txBody>
          <a:bodyPr wrap="square" lIns="0" tIns="12700" rIns="0" bIns="0" rtlCol="0" vert="horz">
            <a:spAutoFit/>
          </a:bodyPr>
          <a:lstStyle/>
          <a:p>
            <a:pPr marL="12700">
              <a:lnSpc>
                <a:spcPct val="100000"/>
              </a:lnSpc>
              <a:spcBef>
                <a:spcPts val="100"/>
              </a:spcBef>
            </a:pPr>
            <a:r>
              <a:rPr dirty="0" sz="900" spc="-5" b="1">
                <a:solidFill>
                  <a:srgbClr val="C00000"/>
                </a:solidFill>
                <a:latin typeface="Microsoft YaHei"/>
                <a:cs typeface="Microsoft YaHei"/>
              </a:rPr>
              <a:t>多层网//微站/杆站，解决容量问题</a:t>
            </a:r>
            <a:endParaRPr sz="900">
              <a:latin typeface="Microsoft YaHei"/>
              <a:cs typeface="Microsoft YaHei"/>
            </a:endParaRPr>
          </a:p>
        </p:txBody>
      </p:sp>
      <p:sp>
        <p:nvSpPr>
          <p:cNvPr id="495" name="object 495" descr=""/>
          <p:cNvSpPr txBox="1"/>
          <p:nvPr/>
        </p:nvSpPr>
        <p:spPr>
          <a:xfrm>
            <a:off x="4766588" y="4230165"/>
            <a:ext cx="1906905" cy="162560"/>
          </a:xfrm>
          <a:prstGeom prst="rect">
            <a:avLst/>
          </a:prstGeom>
        </p:spPr>
        <p:txBody>
          <a:bodyPr wrap="square" lIns="0" tIns="12700" rIns="0" bIns="0" rtlCol="0" vert="horz">
            <a:spAutoFit/>
          </a:bodyPr>
          <a:lstStyle/>
          <a:p>
            <a:pPr marL="12700">
              <a:lnSpc>
                <a:spcPct val="100000"/>
              </a:lnSpc>
              <a:spcBef>
                <a:spcPts val="100"/>
              </a:spcBef>
              <a:tabLst>
                <a:tab pos="1893570" algn="l"/>
              </a:tabLst>
            </a:pPr>
            <a:r>
              <a:rPr dirty="0" u="sng" sz="900">
                <a:solidFill>
                  <a:srgbClr val="C00000"/>
                </a:solidFill>
                <a:uFill>
                  <a:solidFill>
                    <a:srgbClr val="B6DCDF"/>
                  </a:solidFill>
                </a:uFill>
                <a:latin typeface="Times New Roman"/>
                <a:cs typeface="Times New Roman"/>
              </a:rPr>
              <a:t>	</a:t>
            </a:r>
            <a:endParaRPr sz="900">
              <a:latin typeface="Times New Roman"/>
              <a:cs typeface="Times New Roman"/>
            </a:endParaRPr>
          </a:p>
        </p:txBody>
      </p:sp>
      <p:sp>
        <p:nvSpPr>
          <p:cNvPr id="496" name="object 496" descr=""/>
          <p:cNvSpPr txBox="1"/>
          <p:nvPr/>
        </p:nvSpPr>
        <p:spPr>
          <a:xfrm>
            <a:off x="2608864" y="2526295"/>
            <a:ext cx="1598295" cy="162560"/>
          </a:xfrm>
          <a:prstGeom prst="rect">
            <a:avLst/>
          </a:prstGeom>
        </p:spPr>
        <p:txBody>
          <a:bodyPr wrap="square" lIns="0" tIns="12700" rIns="0" bIns="0" rtlCol="0" vert="horz">
            <a:spAutoFit/>
          </a:bodyPr>
          <a:lstStyle/>
          <a:p>
            <a:pPr marL="12700">
              <a:lnSpc>
                <a:spcPct val="100000"/>
              </a:lnSpc>
              <a:spcBef>
                <a:spcPts val="100"/>
              </a:spcBef>
            </a:pPr>
            <a:r>
              <a:rPr dirty="0" sz="900" spc="-5" b="1">
                <a:solidFill>
                  <a:srgbClr val="C00000"/>
                </a:solidFill>
                <a:latin typeface="Microsoft YaHei"/>
                <a:cs typeface="Microsoft YaHei"/>
              </a:rPr>
              <a:t>微站/杆站，解决覆盖不足问题.</a:t>
            </a:r>
            <a:endParaRPr sz="900">
              <a:latin typeface="Microsoft YaHei"/>
              <a:cs typeface="Microsoft YaHei"/>
            </a:endParaRPr>
          </a:p>
        </p:txBody>
      </p:sp>
      <p:sp>
        <p:nvSpPr>
          <p:cNvPr id="497" name="object 497" descr=""/>
          <p:cNvSpPr txBox="1"/>
          <p:nvPr/>
        </p:nvSpPr>
        <p:spPr>
          <a:xfrm>
            <a:off x="2635839" y="1727338"/>
            <a:ext cx="1511300" cy="162560"/>
          </a:xfrm>
          <a:prstGeom prst="rect">
            <a:avLst/>
          </a:prstGeom>
        </p:spPr>
        <p:txBody>
          <a:bodyPr wrap="square" lIns="0" tIns="12700" rIns="0" bIns="0" rtlCol="0" vert="horz">
            <a:spAutoFit/>
          </a:bodyPr>
          <a:lstStyle/>
          <a:p>
            <a:pPr marL="12700">
              <a:lnSpc>
                <a:spcPct val="100000"/>
              </a:lnSpc>
              <a:spcBef>
                <a:spcPts val="100"/>
              </a:spcBef>
            </a:pPr>
            <a:r>
              <a:rPr dirty="0" sz="900" spc="-5" b="1">
                <a:solidFill>
                  <a:srgbClr val="C00000"/>
                </a:solidFill>
                <a:latin typeface="Microsoft YaHei"/>
                <a:cs typeface="Microsoft YaHei"/>
              </a:rPr>
              <a:t>宏站，基础网，解决广域覆盖</a:t>
            </a:r>
            <a:endParaRPr sz="900">
              <a:latin typeface="Microsoft YaHei"/>
              <a:cs typeface="Microsoft YaHei"/>
            </a:endParaRPr>
          </a:p>
        </p:txBody>
      </p:sp>
      <p:pic>
        <p:nvPicPr>
          <p:cNvPr id="498" name="object 498"/>
          <p:cNvPicPr/>
          <p:nvPr/>
        </p:nvPicPr>
        <p:blipFill>
          <a:blip r:embed="rId35" cstate="print"/>
          <a:stretch>
            <a:fillRect/>
          </a:stretch>
        </p:blipFill>
        <p:spPr>
          <a:xfrm>
            <a:off x="5113583" y="3579863"/>
            <a:ext cx="358617" cy="312978"/>
          </a:xfrm>
          <a:prstGeom prst="rect">
            <a:avLst/>
          </a:prstGeom>
        </p:spPr>
      </p:pic>
      <p:pic>
        <p:nvPicPr>
          <p:cNvPr id="499" name="object 499"/>
          <p:cNvPicPr/>
          <p:nvPr/>
        </p:nvPicPr>
        <p:blipFill>
          <a:blip r:embed="rId36" cstate="print"/>
          <a:stretch>
            <a:fillRect/>
          </a:stretch>
        </p:blipFill>
        <p:spPr>
          <a:xfrm>
            <a:off x="4941167" y="1847447"/>
            <a:ext cx="301519" cy="361349"/>
          </a:xfrm>
          <a:prstGeom prst="rect">
            <a:avLst/>
          </a:prstGeom>
        </p:spPr>
      </p:pic>
      <p:pic>
        <p:nvPicPr>
          <p:cNvPr id="500" name="object 500"/>
          <p:cNvPicPr/>
          <p:nvPr/>
        </p:nvPicPr>
        <p:blipFill>
          <a:blip r:embed="rId37" cstate="print"/>
          <a:stretch>
            <a:fillRect/>
          </a:stretch>
        </p:blipFill>
        <p:spPr>
          <a:xfrm>
            <a:off x="5696829" y="1601368"/>
            <a:ext cx="161477" cy="650097"/>
          </a:xfrm>
          <a:prstGeom prst="rect">
            <a:avLst/>
          </a:prstGeom>
        </p:spPr>
      </p:pic>
      <p:pic>
        <p:nvPicPr>
          <p:cNvPr id="501" name="object 501"/>
          <p:cNvPicPr/>
          <p:nvPr/>
        </p:nvPicPr>
        <p:blipFill>
          <a:blip r:embed="rId36" cstate="print"/>
          <a:stretch>
            <a:fillRect/>
          </a:stretch>
        </p:blipFill>
        <p:spPr>
          <a:xfrm>
            <a:off x="5923999" y="2839555"/>
            <a:ext cx="301515" cy="361349"/>
          </a:xfrm>
          <a:prstGeom prst="rect">
            <a:avLst/>
          </a:prstGeom>
        </p:spPr>
      </p:pic>
      <p:pic>
        <p:nvPicPr>
          <p:cNvPr id="502" name="object 502"/>
          <p:cNvPicPr/>
          <p:nvPr/>
        </p:nvPicPr>
        <p:blipFill>
          <a:blip r:embed="rId37" cstate="print"/>
          <a:stretch>
            <a:fillRect/>
          </a:stretch>
        </p:blipFill>
        <p:spPr>
          <a:xfrm>
            <a:off x="6414935" y="2529852"/>
            <a:ext cx="161480" cy="650097"/>
          </a:xfrm>
          <a:prstGeom prst="rect">
            <a:avLst/>
          </a:prstGeom>
        </p:spPr>
      </p:pic>
      <p:sp>
        <p:nvSpPr>
          <p:cNvPr id="503" name="object 503" descr=""/>
          <p:cNvSpPr txBox="1"/>
          <p:nvPr/>
        </p:nvSpPr>
        <p:spPr>
          <a:xfrm>
            <a:off x="4992886" y="2256645"/>
            <a:ext cx="233679" cy="147320"/>
          </a:xfrm>
          <a:prstGeom prst="rect">
            <a:avLst/>
          </a:prstGeom>
        </p:spPr>
        <p:txBody>
          <a:bodyPr wrap="square" lIns="0" tIns="12065" rIns="0" bIns="0" rtlCol="0" vert="horz">
            <a:spAutoFit/>
          </a:bodyPr>
          <a:lstStyle/>
          <a:p>
            <a:pPr marL="12700">
              <a:lnSpc>
                <a:spcPct val="100000"/>
              </a:lnSpc>
              <a:spcBef>
                <a:spcPts val="95"/>
              </a:spcBef>
            </a:pPr>
            <a:r>
              <a:rPr dirty="0" sz="800" spc="-25" b="1">
                <a:latin typeface="Arial"/>
                <a:cs typeface="Arial"/>
              </a:rPr>
              <a:t>PAD</a:t>
            </a:r>
            <a:endParaRPr sz="800">
              <a:latin typeface="Arial"/>
              <a:cs typeface="Arial"/>
            </a:endParaRPr>
          </a:p>
        </p:txBody>
      </p:sp>
      <p:sp>
        <p:nvSpPr>
          <p:cNvPr id="504" name="object 504" descr=""/>
          <p:cNvSpPr txBox="1"/>
          <p:nvPr/>
        </p:nvSpPr>
        <p:spPr>
          <a:xfrm>
            <a:off x="5682039" y="2250159"/>
            <a:ext cx="329565" cy="147320"/>
          </a:xfrm>
          <a:prstGeom prst="rect">
            <a:avLst/>
          </a:prstGeom>
        </p:spPr>
        <p:txBody>
          <a:bodyPr wrap="square" lIns="0" tIns="12065" rIns="0" bIns="0" rtlCol="0" vert="horz">
            <a:spAutoFit/>
          </a:bodyPr>
          <a:lstStyle/>
          <a:p>
            <a:pPr marL="12700">
              <a:lnSpc>
                <a:spcPct val="100000"/>
              </a:lnSpc>
              <a:spcBef>
                <a:spcPts val="95"/>
              </a:spcBef>
            </a:pPr>
            <a:r>
              <a:rPr dirty="0" sz="800" spc="-25" b="1">
                <a:latin typeface="Microsoft YaHei"/>
                <a:cs typeface="Microsoft YaHei"/>
              </a:rPr>
              <a:t>灯杆站</a:t>
            </a:r>
            <a:endParaRPr sz="800">
              <a:latin typeface="Microsoft YaHei"/>
              <a:cs typeface="Microsoft YaHei"/>
            </a:endParaRPr>
          </a:p>
        </p:txBody>
      </p:sp>
      <p:pic>
        <p:nvPicPr>
          <p:cNvPr id="505" name="object 505"/>
          <p:cNvPicPr/>
          <p:nvPr/>
        </p:nvPicPr>
        <p:blipFill>
          <a:blip r:embed="rId38" cstate="print"/>
          <a:stretch>
            <a:fillRect/>
          </a:stretch>
        </p:blipFill>
        <p:spPr>
          <a:xfrm>
            <a:off x="6002187" y="3579863"/>
            <a:ext cx="446666" cy="317893"/>
          </a:xfrm>
          <a:prstGeom prst="rect">
            <a:avLst/>
          </a:prstGeom>
        </p:spPr>
      </p:pic>
      <p:sp>
        <p:nvSpPr>
          <p:cNvPr id="506" name="object 506" descr=""/>
          <p:cNvSpPr txBox="1"/>
          <p:nvPr/>
        </p:nvSpPr>
        <p:spPr>
          <a:xfrm>
            <a:off x="4971618" y="3930612"/>
            <a:ext cx="608965" cy="369570"/>
          </a:xfrm>
          <a:prstGeom prst="rect">
            <a:avLst/>
          </a:prstGeom>
          <a:solidFill>
            <a:srgbClr val="FFFF00"/>
          </a:solidFill>
        </p:spPr>
        <p:txBody>
          <a:bodyPr wrap="square" lIns="0" tIns="13335" rIns="0" bIns="0" rtlCol="0" vert="horz">
            <a:spAutoFit/>
          </a:bodyPr>
          <a:lstStyle/>
          <a:p>
            <a:pPr marL="217170" marR="50165" indent="-159385">
              <a:lnSpc>
                <a:spcPct val="110000"/>
              </a:lnSpc>
              <a:spcBef>
                <a:spcPts val="105"/>
              </a:spcBef>
            </a:pPr>
            <a:r>
              <a:rPr dirty="0" sz="900" spc="-10" b="1">
                <a:latin typeface="Microsoft YaHei"/>
                <a:cs typeface="Microsoft YaHei"/>
              </a:rPr>
              <a:t>picoRRU </a:t>
            </a:r>
            <a:r>
              <a:rPr dirty="0" sz="900" spc="-25" b="1">
                <a:latin typeface="Microsoft YaHei"/>
                <a:cs typeface="Microsoft YaHei"/>
              </a:rPr>
              <a:t>2.6</a:t>
            </a:r>
            <a:endParaRPr sz="900">
              <a:latin typeface="Microsoft YaHei"/>
              <a:cs typeface="Microsoft YaHei"/>
            </a:endParaRPr>
          </a:p>
        </p:txBody>
      </p:sp>
      <p:grpSp>
        <p:nvGrpSpPr>
          <p:cNvPr id="507" name="object 507" descr=""/>
          <p:cNvGrpSpPr/>
          <p:nvPr/>
        </p:nvGrpSpPr>
        <p:grpSpPr>
          <a:xfrm>
            <a:off x="4330700" y="806450"/>
            <a:ext cx="583565" cy="539115"/>
            <a:chOff x="4330700" y="806450"/>
            <a:chExt cx="583565" cy="539115"/>
          </a:xfrm>
        </p:grpSpPr>
        <p:sp>
          <p:nvSpPr>
            <p:cNvPr id="508" name="object 508" descr=""/>
            <p:cNvSpPr/>
            <p:nvPr/>
          </p:nvSpPr>
          <p:spPr>
            <a:xfrm>
              <a:off x="4343400" y="819150"/>
              <a:ext cx="558165" cy="513715"/>
            </a:xfrm>
            <a:custGeom>
              <a:avLst/>
              <a:gdLst/>
              <a:ahLst/>
              <a:cxnLst/>
              <a:rect l="l" t="t" r="r" b="b"/>
              <a:pathLst>
                <a:path w="558164" h="513715">
                  <a:moveTo>
                    <a:pt x="557809" y="0"/>
                  </a:moveTo>
                  <a:lnTo>
                    <a:pt x="0" y="0"/>
                  </a:lnTo>
                  <a:lnTo>
                    <a:pt x="0" y="513130"/>
                  </a:lnTo>
                  <a:lnTo>
                    <a:pt x="557809" y="513130"/>
                  </a:lnTo>
                  <a:lnTo>
                    <a:pt x="557809" y="0"/>
                  </a:lnTo>
                  <a:close/>
                </a:path>
              </a:pathLst>
            </a:custGeom>
            <a:solidFill>
              <a:srgbClr val="FFFF00"/>
            </a:solidFill>
          </p:spPr>
          <p:txBody>
            <a:bodyPr wrap="square" lIns="0" tIns="0" rIns="0" bIns="0" rtlCol="0"/>
            <a:lstStyle/>
            <a:p/>
          </p:txBody>
        </p:sp>
        <p:sp>
          <p:nvSpPr>
            <p:cNvPr id="509" name="object 509" descr=""/>
            <p:cNvSpPr/>
            <p:nvPr/>
          </p:nvSpPr>
          <p:spPr>
            <a:xfrm>
              <a:off x="4343400" y="819150"/>
              <a:ext cx="558165" cy="513715"/>
            </a:xfrm>
            <a:custGeom>
              <a:avLst/>
              <a:gdLst/>
              <a:ahLst/>
              <a:cxnLst/>
              <a:rect l="l" t="t" r="r" b="b"/>
              <a:pathLst>
                <a:path w="558164" h="513715">
                  <a:moveTo>
                    <a:pt x="0" y="0"/>
                  </a:moveTo>
                  <a:lnTo>
                    <a:pt x="557809" y="0"/>
                  </a:lnTo>
                  <a:lnTo>
                    <a:pt x="557809" y="513130"/>
                  </a:lnTo>
                  <a:lnTo>
                    <a:pt x="0" y="513130"/>
                  </a:lnTo>
                  <a:lnTo>
                    <a:pt x="0" y="0"/>
                  </a:lnTo>
                  <a:close/>
                </a:path>
              </a:pathLst>
            </a:custGeom>
            <a:ln w="25400">
              <a:solidFill>
                <a:srgbClr val="E4F3F4"/>
              </a:solidFill>
            </a:ln>
          </p:spPr>
          <p:txBody>
            <a:bodyPr wrap="square" lIns="0" tIns="0" rIns="0" bIns="0" rtlCol="0"/>
            <a:lstStyle/>
            <a:p/>
          </p:txBody>
        </p:sp>
      </p:grpSp>
      <p:sp>
        <p:nvSpPr>
          <p:cNvPr id="510" name="object 510" descr=""/>
          <p:cNvSpPr txBox="1"/>
          <p:nvPr/>
        </p:nvSpPr>
        <p:spPr>
          <a:xfrm>
            <a:off x="4453553" y="830606"/>
            <a:ext cx="337185" cy="483234"/>
          </a:xfrm>
          <a:prstGeom prst="rect">
            <a:avLst/>
          </a:prstGeom>
        </p:spPr>
        <p:txBody>
          <a:bodyPr wrap="square" lIns="0" tIns="12700" rIns="0" bIns="0" rtlCol="0" vert="horz">
            <a:spAutoFit/>
          </a:bodyPr>
          <a:lstStyle/>
          <a:p>
            <a:pPr algn="just" marL="29845" marR="5080" indent="-17780">
              <a:lnSpc>
                <a:spcPct val="100000"/>
              </a:lnSpc>
              <a:spcBef>
                <a:spcPts val="100"/>
              </a:spcBef>
            </a:pPr>
            <a:r>
              <a:rPr dirty="0" sz="1000" spc="-20" b="1">
                <a:latin typeface="Arial"/>
                <a:cs typeface="Arial"/>
              </a:rPr>
              <a:t>64TR </a:t>
            </a:r>
            <a:r>
              <a:rPr dirty="0" sz="1000" spc="-25" b="1">
                <a:latin typeface="Arial"/>
                <a:cs typeface="Arial"/>
              </a:rPr>
              <a:t>AAU 2.6</a:t>
            </a:r>
            <a:endParaRPr sz="1000">
              <a:latin typeface="Arial"/>
              <a:cs typeface="Arial"/>
            </a:endParaRPr>
          </a:p>
        </p:txBody>
      </p:sp>
      <p:grpSp>
        <p:nvGrpSpPr>
          <p:cNvPr id="511" name="object 511" descr=""/>
          <p:cNvGrpSpPr/>
          <p:nvPr/>
        </p:nvGrpSpPr>
        <p:grpSpPr>
          <a:xfrm>
            <a:off x="4940300" y="806450"/>
            <a:ext cx="584835" cy="539115"/>
            <a:chOff x="4940300" y="806450"/>
            <a:chExt cx="584835" cy="539115"/>
          </a:xfrm>
        </p:grpSpPr>
        <p:sp>
          <p:nvSpPr>
            <p:cNvPr id="512" name="object 512" descr=""/>
            <p:cNvSpPr/>
            <p:nvPr/>
          </p:nvSpPr>
          <p:spPr>
            <a:xfrm>
              <a:off x="4953000" y="819150"/>
              <a:ext cx="559435" cy="513715"/>
            </a:xfrm>
            <a:custGeom>
              <a:avLst/>
              <a:gdLst/>
              <a:ahLst/>
              <a:cxnLst/>
              <a:rect l="l" t="t" r="r" b="b"/>
              <a:pathLst>
                <a:path w="559435" h="513715">
                  <a:moveTo>
                    <a:pt x="559295" y="0"/>
                  </a:moveTo>
                  <a:lnTo>
                    <a:pt x="0" y="0"/>
                  </a:lnTo>
                  <a:lnTo>
                    <a:pt x="0" y="513130"/>
                  </a:lnTo>
                  <a:lnTo>
                    <a:pt x="559295" y="513130"/>
                  </a:lnTo>
                  <a:lnTo>
                    <a:pt x="559295" y="0"/>
                  </a:lnTo>
                  <a:close/>
                </a:path>
              </a:pathLst>
            </a:custGeom>
            <a:solidFill>
              <a:srgbClr val="CC6600"/>
            </a:solidFill>
          </p:spPr>
          <p:txBody>
            <a:bodyPr wrap="square" lIns="0" tIns="0" rIns="0" bIns="0" rtlCol="0"/>
            <a:lstStyle/>
            <a:p/>
          </p:txBody>
        </p:sp>
        <p:sp>
          <p:nvSpPr>
            <p:cNvPr id="513" name="object 513" descr=""/>
            <p:cNvSpPr/>
            <p:nvPr/>
          </p:nvSpPr>
          <p:spPr>
            <a:xfrm>
              <a:off x="4953000" y="819150"/>
              <a:ext cx="559435" cy="513715"/>
            </a:xfrm>
            <a:custGeom>
              <a:avLst/>
              <a:gdLst/>
              <a:ahLst/>
              <a:cxnLst/>
              <a:rect l="l" t="t" r="r" b="b"/>
              <a:pathLst>
                <a:path w="559435" h="513715">
                  <a:moveTo>
                    <a:pt x="0" y="0"/>
                  </a:moveTo>
                  <a:lnTo>
                    <a:pt x="559295" y="0"/>
                  </a:lnTo>
                  <a:lnTo>
                    <a:pt x="559295" y="513130"/>
                  </a:lnTo>
                  <a:lnTo>
                    <a:pt x="0" y="513130"/>
                  </a:lnTo>
                  <a:lnTo>
                    <a:pt x="0" y="0"/>
                  </a:lnTo>
                  <a:close/>
                </a:path>
              </a:pathLst>
            </a:custGeom>
            <a:ln w="25400">
              <a:solidFill>
                <a:srgbClr val="E4F3F4"/>
              </a:solidFill>
            </a:ln>
          </p:spPr>
          <p:txBody>
            <a:bodyPr wrap="square" lIns="0" tIns="0" rIns="0" bIns="0" rtlCol="0"/>
            <a:lstStyle/>
            <a:p/>
          </p:txBody>
        </p:sp>
      </p:grpSp>
      <p:sp>
        <p:nvSpPr>
          <p:cNvPr id="514" name="object 514" descr=""/>
          <p:cNvSpPr txBox="1"/>
          <p:nvPr/>
        </p:nvSpPr>
        <p:spPr>
          <a:xfrm>
            <a:off x="5063706" y="830606"/>
            <a:ext cx="337185" cy="483234"/>
          </a:xfrm>
          <a:prstGeom prst="rect">
            <a:avLst/>
          </a:prstGeom>
        </p:spPr>
        <p:txBody>
          <a:bodyPr wrap="square" lIns="0" tIns="12700" rIns="0" bIns="0" rtlCol="0" vert="horz">
            <a:spAutoFit/>
          </a:bodyPr>
          <a:lstStyle/>
          <a:p>
            <a:pPr algn="just" marL="29845" marR="5080" indent="-17780">
              <a:lnSpc>
                <a:spcPct val="100000"/>
              </a:lnSpc>
              <a:spcBef>
                <a:spcPts val="100"/>
              </a:spcBef>
            </a:pPr>
            <a:r>
              <a:rPr dirty="0" sz="1000" spc="-20" b="1">
                <a:latin typeface="Arial"/>
                <a:cs typeface="Arial"/>
              </a:rPr>
              <a:t>16TR </a:t>
            </a:r>
            <a:r>
              <a:rPr dirty="0" sz="1000" spc="-25" b="1">
                <a:latin typeface="Arial"/>
                <a:cs typeface="Arial"/>
              </a:rPr>
              <a:t>AAU 2.6</a:t>
            </a:r>
            <a:endParaRPr sz="1000">
              <a:latin typeface="Arial"/>
              <a:cs typeface="Arial"/>
            </a:endParaRPr>
          </a:p>
        </p:txBody>
      </p:sp>
      <p:pic>
        <p:nvPicPr>
          <p:cNvPr id="515" name="object 515"/>
          <p:cNvPicPr/>
          <p:nvPr/>
        </p:nvPicPr>
        <p:blipFill>
          <a:blip r:embed="rId39" cstate="print"/>
          <a:stretch>
            <a:fillRect/>
          </a:stretch>
        </p:blipFill>
        <p:spPr>
          <a:xfrm>
            <a:off x="6877267" y="2849390"/>
            <a:ext cx="217088" cy="275521"/>
          </a:xfrm>
          <a:prstGeom prst="rect">
            <a:avLst/>
          </a:prstGeom>
        </p:spPr>
      </p:pic>
      <p:grpSp>
        <p:nvGrpSpPr>
          <p:cNvPr id="516" name="object 516" descr=""/>
          <p:cNvGrpSpPr/>
          <p:nvPr/>
        </p:nvGrpSpPr>
        <p:grpSpPr>
          <a:xfrm>
            <a:off x="5562600" y="732744"/>
            <a:ext cx="1328420" cy="1493520"/>
            <a:chOff x="5562600" y="732744"/>
            <a:chExt cx="1328420" cy="1493520"/>
          </a:xfrm>
        </p:grpSpPr>
        <p:sp>
          <p:nvSpPr>
            <p:cNvPr id="517" name="object 517" descr=""/>
            <p:cNvSpPr/>
            <p:nvPr/>
          </p:nvSpPr>
          <p:spPr>
            <a:xfrm>
              <a:off x="5562600" y="819149"/>
              <a:ext cx="457200" cy="508000"/>
            </a:xfrm>
            <a:custGeom>
              <a:avLst/>
              <a:gdLst/>
              <a:ahLst/>
              <a:cxnLst/>
              <a:rect l="l" t="t" r="r" b="b"/>
              <a:pathLst>
                <a:path w="457200" h="508000">
                  <a:moveTo>
                    <a:pt x="457200" y="0"/>
                  </a:moveTo>
                  <a:lnTo>
                    <a:pt x="0" y="0"/>
                  </a:lnTo>
                  <a:lnTo>
                    <a:pt x="0" y="507834"/>
                  </a:lnTo>
                  <a:lnTo>
                    <a:pt x="457200" y="507834"/>
                  </a:lnTo>
                  <a:lnTo>
                    <a:pt x="457200" y="0"/>
                  </a:lnTo>
                  <a:close/>
                </a:path>
              </a:pathLst>
            </a:custGeom>
            <a:solidFill>
              <a:srgbClr val="0070C0"/>
            </a:solidFill>
          </p:spPr>
          <p:txBody>
            <a:bodyPr wrap="square" lIns="0" tIns="0" rIns="0" bIns="0" rtlCol="0"/>
            <a:lstStyle/>
            <a:p/>
          </p:txBody>
        </p:sp>
        <p:sp>
          <p:nvSpPr>
            <p:cNvPr id="518" name="object 518" descr=""/>
            <p:cNvSpPr/>
            <p:nvPr/>
          </p:nvSpPr>
          <p:spPr>
            <a:xfrm>
              <a:off x="6656947" y="747031"/>
              <a:ext cx="129539" cy="529590"/>
            </a:xfrm>
            <a:custGeom>
              <a:avLst/>
              <a:gdLst/>
              <a:ahLst/>
              <a:cxnLst/>
              <a:rect l="l" t="t" r="r" b="b"/>
              <a:pathLst>
                <a:path w="129540" h="529590">
                  <a:moveTo>
                    <a:pt x="129044" y="529589"/>
                  </a:moveTo>
                  <a:lnTo>
                    <a:pt x="103930" y="528745"/>
                  </a:lnTo>
                  <a:lnTo>
                    <a:pt x="83423" y="526440"/>
                  </a:lnTo>
                  <a:lnTo>
                    <a:pt x="69597" y="523021"/>
                  </a:lnTo>
                  <a:lnTo>
                    <a:pt x="64528" y="518833"/>
                  </a:lnTo>
                  <a:lnTo>
                    <a:pt x="64528" y="275551"/>
                  </a:lnTo>
                  <a:lnTo>
                    <a:pt x="59457" y="271363"/>
                  </a:lnTo>
                  <a:lnTo>
                    <a:pt x="45627" y="267944"/>
                  </a:lnTo>
                  <a:lnTo>
                    <a:pt x="25116" y="265639"/>
                  </a:lnTo>
                  <a:lnTo>
                    <a:pt x="0" y="264794"/>
                  </a:lnTo>
                  <a:lnTo>
                    <a:pt x="25116" y="263950"/>
                  </a:lnTo>
                  <a:lnTo>
                    <a:pt x="45627" y="261645"/>
                  </a:lnTo>
                  <a:lnTo>
                    <a:pt x="59457" y="258226"/>
                  </a:lnTo>
                  <a:lnTo>
                    <a:pt x="64528" y="254038"/>
                  </a:lnTo>
                  <a:lnTo>
                    <a:pt x="64528" y="10756"/>
                  </a:lnTo>
                  <a:lnTo>
                    <a:pt x="69597" y="6568"/>
                  </a:lnTo>
                  <a:lnTo>
                    <a:pt x="83423" y="3149"/>
                  </a:lnTo>
                  <a:lnTo>
                    <a:pt x="103930" y="844"/>
                  </a:lnTo>
                  <a:lnTo>
                    <a:pt x="129044" y="0"/>
                  </a:lnTo>
                </a:path>
              </a:pathLst>
            </a:custGeom>
            <a:ln w="28575">
              <a:solidFill>
                <a:srgbClr val="333399"/>
              </a:solidFill>
            </a:ln>
          </p:spPr>
          <p:txBody>
            <a:bodyPr wrap="square" lIns="0" tIns="0" rIns="0" bIns="0" rtlCol="0"/>
            <a:lstStyle/>
            <a:p/>
          </p:txBody>
        </p:sp>
        <p:sp>
          <p:nvSpPr>
            <p:cNvPr id="519" name="object 519" descr=""/>
            <p:cNvSpPr/>
            <p:nvPr/>
          </p:nvSpPr>
          <p:spPr>
            <a:xfrm>
              <a:off x="6747211" y="1682120"/>
              <a:ext cx="129539" cy="529590"/>
            </a:xfrm>
            <a:custGeom>
              <a:avLst/>
              <a:gdLst/>
              <a:ahLst/>
              <a:cxnLst/>
              <a:rect l="l" t="t" r="r" b="b"/>
              <a:pathLst>
                <a:path w="129540" h="529589">
                  <a:moveTo>
                    <a:pt x="129044" y="529589"/>
                  </a:moveTo>
                  <a:lnTo>
                    <a:pt x="103928" y="528745"/>
                  </a:lnTo>
                  <a:lnTo>
                    <a:pt x="83416" y="526440"/>
                  </a:lnTo>
                  <a:lnTo>
                    <a:pt x="69587" y="523021"/>
                  </a:lnTo>
                  <a:lnTo>
                    <a:pt x="64515" y="518833"/>
                  </a:lnTo>
                  <a:lnTo>
                    <a:pt x="64515" y="275551"/>
                  </a:lnTo>
                  <a:lnTo>
                    <a:pt x="59446" y="271363"/>
                  </a:lnTo>
                  <a:lnTo>
                    <a:pt x="45621" y="267944"/>
                  </a:lnTo>
                  <a:lnTo>
                    <a:pt x="25114" y="265639"/>
                  </a:lnTo>
                  <a:lnTo>
                    <a:pt x="0" y="264794"/>
                  </a:lnTo>
                  <a:lnTo>
                    <a:pt x="25114" y="263950"/>
                  </a:lnTo>
                  <a:lnTo>
                    <a:pt x="45621" y="261645"/>
                  </a:lnTo>
                  <a:lnTo>
                    <a:pt x="59446" y="258226"/>
                  </a:lnTo>
                  <a:lnTo>
                    <a:pt x="64515" y="254038"/>
                  </a:lnTo>
                  <a:lnTo>
                    <a:pt x="64515" y="10756"/>
                  </a:lnTo>
                  <a:lnTo>
                    <a:pt x="69587" y="6568"/>
                  </a:lnTo>
                  <a:lnTo>
                    <a:pt x="83416" y="3149"/>
                  </a:lnTo>
                  <a:lnTo>
                    <a:pt x="103928" y="844"/>
                  </a:lnTo>
                  <a:lnTo>
                    <a:pt x="129044" y="0"/>
                  </a:lnTo>
                </a:path>
              </a:pathLst>
            </a:custGeom>
            <a:ln w="28575">
              <a:solidFill>
                <a:srgbClr val="333399"/>
              </a:solidFill>
            </a:ln>
          </p:spPr>
          <p:txBody>
            <a:bodyPr wrap="square" lIns="0" tIns="0" rIns="0" bIns="0" rtlCol="0"/>
            <a:lstStyle/>
            <a:p/>
          </p:txBody>
        </p:sp>
        <p:sp>
          <p:nvSpPr>
            <p:cNvPr id="520" name="object 520" descr=""/>
            <p:cNvSpPr/>
            <p:nvPr/>
          </p:nvSpPr>
          <p:spPr>
            <a:xfrm>
              <a:off x="6096000" y="819149"/>
              <a:ext cx="462280" cy="508000"/>
            </a:xfrm>
            <a:custGeom>
              <a:avLst/>
              <a:gdLst/>
              <a:ahLst/>
              <a:cxnLst/>
              <a:rect l="l" t="t" r="r" b="b"/>
              <a:pathLst>
                <a:path w="462279" h="508000">
                  <a:moveTo>
                    <a:pt x="461835" y="0"/>
                  </a:moveTo>
                  <a:lnTo>
                    <a:pt x="0" y="0"/>
                  </a:lnTo>
                  <a:lnTo>
                    <a:pt x="0" y="507834"/>
                  </a:lnTo>
                  <a:lnTo>
                    <a:pt x="461835" y="507834"/>
                  </a:lnTo>
                  <a:lnTo>
                    <a:pt x="461835" y="0"/>
                  </a:lnTo>
                  <a:close/>
                </a:path>
              </a:pathLst>
            </a:custGeom>
            <a:solidFill>
              <a:srgbClr val="00B050"/>
            </a:solidFill>
          </p:spPr>
          <p:txBody>
            <a:bodyPr wrap="square" lIns="0" tIns="0" rIns="0" bIns="0" rtlCol="0"/>
            <a:lstStyle/>
            <a:p/>
          </p:txBody>
        </p:sp>
      </p:grpSp>
      <p:sp>
        <p:nvSpPr>
          <p:cNvPr id="521" name="object 521" descr=""/>
          <p:cNvSpPr txBox="1"/>
          <p:nvPr/>
        </p:nvSpPr>
        <p:spPr>
          <a:xfrm>
            <a:off x="4953000" y="2497861"/>
            <a:ext cx="697865" cy="670560"/>
          </a:xfrm>
          <a:prstGeom prst="rect">
            <a:avLst/>
          </a:prstGeom>
          <a:solidFill>
            <a:srgbClr val="FFC000"/>
          </a:solidFill>
          <a:ln w="25400">
            <a:solidFill>
              <a:srgbClr val="E4F3F4"/>
            </a:solidFill>
          </a:ln>
        </p:spPr>
        <p:txBody>
          <a:bodyPr wrap="square" lIns="0" tIns="55880" rIns="0" bIns="0" rtlCol="0" vert="horz">
            <a:spAutoFit/>
          </a:bodyPr>
          <a:lstStyle/>
          <a:p>
            <a:pPr algn="just" marL="182880" marR="155575" indent="-20955">
              <a:lnSpc>
                <a:spcPct val="100000"/>
              </a:lnSpc>
              <a:spcBef>
                <a:spcPts val="440"/>
              </a:spcBef>
            </a:pPr>
            <a:r>
              <a:rPr dirty="0" sz="1200" spc="-20" b="1">
                <a:latin typeface="Arial"/>
                <a:cs typeface="Arial"/>
              </a:rPr>
              <a:t>64TR </a:t>
            </a:r>
            <a:r>
              <a:rPr dirty="0" sz="1200" spc="-25" b="1">
                <a:latin typeface="Arial"/>
                <a:cs typeface="Arial"/>
              </a:rPr>
              <a:t>AAU </a:t>
            </a:r>
            <a:r>
              <a:rPr dirty="0" sz="1200" spc="-20" b="1">
                <a:latin typeface="Arial"/>
                <a:cs typeface="Arial"/>
              </a:rPr>
              <a:t>4.9G</a:t>
            </a:r>
            <a:endParaRPr sz="1200">
              <a:latin typeface="Arial"/>
              <a:cs typeface="Arial"/>
            </a:endParaRPr>
          </a:p>
        </p:txBody>
      </p:sp>
      <p:sp>
        <p:nvSpPr>
          <p:cNvPr id="522" name="object 522" descr=""/>
          <p:cNvSpPr txBox="1"/>
          <p:nvPr/>
        </p:nvSpPr>
        <p:spPr>
          <a:xfrm>
            <a:off x="6858000" y="675030"/>
            <a:ext cx="2122805" cy="261620"/>
          </a:xfrm>
          <a:prstGeom prst="rect">
            <a:avLst/>
          </a:prstGeom>
          <a:solidFill>
            <a:srgbClr val="FFFF00"/>
          </a:solidFill>
        </p:spPr>
        <p:txBody>
          <a:bodyPr wrap="square" lIns="0" tIns="40005" rIns="0" bIns="0" rtlCol="0" vert="horz">
            <a:spAutoFit/>
          </a:bodyPr>
          <a:lstStyle/>
          <a:p>
            <a:pPr marL="91440">
              <a:lnSpc>
                <a:spcPct val="100000"/>
              </a:lnSpc>
              <a:spcBef>
                <a:spcPts val="315"/>
              </a:spcBef>
            </a:pPr>
            <a:r>
              <a:rPr dirty="0" sz="1100" b="1">
                <a:latin typeface="Microsoft YaHei"/>
                <a:cs typeface="Microsoft YaHei"/>
              </a:rPr>
              <a:t>2.6G 64TR</a:t>
            </a:r>
            <a:r>
              <a:rPr dirty="0" sz="1100" spc="20" b="1">
                <a:latin typeface="Microsoft YaHei"/>
                <a:cs typeface="Microsoft YaHei"/>
              </a:rPr>
              <a:t> </a:t>
            </a:r>
            <a:r>
              <a:rPr dirty="0" sz="1100" spc="-10" b="1">
                <a:latin typeface="Microsoft YaHei"/>
                <a:cs typeface="Microsoft YaHei"/>
              </a:rPr>
              <a:t>160M，4/5G</a:t>
            </a:r>
            <a:r>
              <a:rPr dirty="0" sz="1100" spc="-35" b="1">
                <a:latin typeface="Microsoft YaHei"/>
                <a:cs typeface="Microsoft YaHei"/>
              </a:rPr>
              <a:t>双模</a:t>
            </a:r>
            <a:endParaRPr sz="1100">
              <a:latin typeface="Microsoft YaHei"/>
              <a:cs typeface="Microsoft YaHei"/>
            </a:endParaRPr>
          </a:p>
        </p:txBody>
      </p:sp>
      <p:sp>
        <p:nvSpPr>
          <p:cNvPr id="523" name="object 523" descr=""/>
          <p:cNvSpPr txBox="1"/>
          <p:nvPr/>
        </p:nvSpPr>
        <p:spPr>
          <a:xfrm>
            <a:off x="6936740" y="1016003"/>
            <a:ext cx="1132205" cy="193040"/>
          </a:xfrm>
          <a:prstGeom prst="rect">
            <a:avLst/>
          </a:prstGeom>
        </p:spPr>
        <p:txBody>
          <a:bodyPr wrap="square" lIns="0" tIns="12065" rIns="0" bIns="0" rtlCol="0" vert="horz">
            <a:spAutoFit/>
          </a:bodyPr>
          <a:lstStyle/>
          <a:p>
            <a:pPr marL="12700">
              <a:lnSpc>
                <a:spcPct val="100000"/>
              </a:lnSpc>
              <a:spcBef>
                <a:spcPts val="95"/>
              </a:spcBef>
            </a:pPr>
            <a:r>
              <a:rPr dirty="0" sz="1100" b="1">
                <a:latin typeface="Microsoft YaHei"/>
                <a:cs typeface="Microsoft YaHei"/>
              </a:rPr>
              <a:t>8/16</a:t>
            </a:r>
            <a:r>
              <a:rPr dirty="0" sz="1100" spc="-5" b="1">
                <a:latin typeface="Microsoft YaHei"/>
                <a:cs typeface="Microsoft YaHei"/>
              </a:rPr>
              <a:t> </a:t>
            </a:r>
            <a:r>
              <a:rPr dirty="0" sz="1100" spc="-10" b="1">
                <a:latin typeface="Microsoft YaHei"/>
                <a:cs typeface="Microsoft YaHei"/>
              </a:rPr>
              <a:t>TR</a:t>
            </a:r>
            <a:r>
              <a:rPr dirty="0" sz="1100" spc="-30" b="1">
                <a:latin typeface="Microsoft YaHei"/>
                <a:cs typeface="Microsoft YaHei"/>
              </a:rPr>
              <a:t>：低成本</a:t>
            </a:r>
            <a:endParaRPr sz="1100">
              <a:latin typeface="Microsoft YaHei"/>
              <a:cs typeface="Microsoft YaHei"/>
            </a:endParaRPr>
          </a:p>
        </p:txBody>
      </p:sp>
      <p:sp>
        <p:nvSpPr>
          <p:cNvPr id="524" name="object 524" descr=""/>
          <p:cNvSpPr txBox="1"/>
          <p:nvPr/>
        </p:nvSpPr>
        <p:spPr>
          <a:xfrm>
            <a:off x="7022451" y="1695749"/>
            <a:ext cx="1041400" cy="193040"/>
          </a:xfrm>
          <a:prstGeom prst="rect">
            <a:avLst/>
          </a:prstGeom>
        </p:spPr>
        <p:txBody>
          <a:bodyPr wrap="square" lIns="0" tIns="12065" rIns="0" bIns="0" rtlCol="0" vert="horz">
            <a:spAutoFit/>
          </a:bodyPr>
          <a:lstStyle/>
          <a:p>
            <a:pPr marL="12700">
              <a:lnSpc>
                <a:spcPct val="100000"/>
              </a:lnSpc>
              <a:spcBef>
                <a:spcPts val="95"/>
              </a:spcBef>
            </a:pPr>
            <a:r>
              <a:rPr dirty="0" sz="1100" spc="-25" b="1">
                <a:latin typeface="Microsoft YaHei"/>
                <a:cs typeface="Microsoft YaHei"/>
              </a:rPr>
              <a:t>灯杆站:多模多频</a:t>
            </a:r>
            <a:endParaRPr sz="1100">
              <a:latin typeface="Microsoft YaHei"/>
              <a:cs typeface="Microsoft YaHei"/>
            </a:endParaRPr>
          </a:p>
        </p:txBody>
      </p:sp>
      <p:sp>
        <p:nvSpPr>
          <p:cNvPr id="525" name="object 525" descr=""/>
          <p:cNvSpPr txBox="1"/>
          <p:nvPr/>
        </p:nvSpPr>
        <p:spPr>
          <a:xfrm>
            <a:off x="6943585" y="1957590"/>
            <a:ext cx="495934" cy="261620"/>
          </a:xfrm>
          <a:prstGeom prst="rect">
            <a:avLst/>
          </a:prstGeom>
          <a:solidFill>
            <a:srgbClr val="F0F8F9"/>
          </a:solidFill>
        </p:spPr>
        <p:txBody>
          <a:bodyPr wrap="square" lIns="0" tIns="40005" rIns="0" bIns="0" rtlCol="0" vert="horz">
            <a:spAutoFit/>
          </a:bodyPr>
          <a:lstStyle/>
          <a:p>
            <a:pPr marL="90805">
              <a:lnSpc>
                <a:spcPct val="100000"/>
              </a:lnSpc>
              <a:spcBef>
                <a:spcPts val="315"/>
              </a:spcBef>
            </a:pPr>
            <a:r>
              <a:rPr dirty="0" sz="1100" spc="-25" b="1">
                <a:latin typeface="Microsoft YaHei"/>
                <a:cs typeface="Microsoft YaHei"/>
              </a:rPr>
              <a:t>PAD</a:t>
            </a:r>
            <a:endParaRPr sz="1100">
              <a:latin typeface="Microsoft YaHei"/>
              <a:cs typeface="Microsoft YaHei"/>
            </a:endParaRPr>
          </a:p>
        </p:txBody>
      </p:sp>
      <p:sp>
        <p:nvSpPr>
          <p:cNvPr id="526" name="object 526" descr=""/>
          <p:cNvSpPr txBox="1"/>
          <p:nvPr/>
        </p:nvSpPr>
        <p:spPr>
          <a:xfrm>
            <a:off x="5641340" y="847597"/>
            <a:ext cx="881380" cy="436880"/>
          </a:xfrm>
          <a:prstGeom prst="rect">
            <a:avLst/>
          </a:prstGeom>
        </p:spPr>
        <p:txBody>
          <a:bodyPr wrap="square" lIns="0" tIns="12700" rIns="0" bIns="0" rtlCol="0" vert="horz">
            <a:spAutoFit/>
          </a:bodyPr>
          <a:lstStyle/>
          <a:p>
            <a:pPr marL="12700">
              <a:lnSpc>
                <a:spcPct val="100000"/>
              </a:lnSpc>
              <a:spcBef>
                <a:spcPts val="100"/>
              </a:spcBef>
              <a:tabLst>
                <a:tab pos="490220" algn="l"/>
              </a:tabLst>
            </a:pPr>
            <a:r>
              <a:rPr dirty="0" sz="900" spc="-25" b="1">
                <a:latin typeface="Microsoft YaHei"/>
                <a:cs typeface="Microsoft YaHei"/>
              </a:rPr>
              <a:t>8TR</a:t>
            </a:r>
            <a:r>
              <a:rPr dirty="0" sz="900" b="1">
                <a:latin typeface="Microsoft YaHei"/>
                <a:cs typeface="Microsoft YaHei"/>
              </a:rPr>
              <a:t>	</a:t>
            </a:r>
            <a:r>
              <a:rPr dirty="0" sz="900" spc="-25" b="1">
                <a:latin typeface="Microsoft YaHei"/>
                <a:cs typeface="Microsoft YaHei"/>
              </a:rPr>
              <a:t>FDD</a:t>
            </a:r>
            <a:endParaRPr sz="900">
              <a:latin typeface="Microsoft YaHei"/>
              <a:cs typeface="Microsoft YaHei"/>
            </a:endParaRPr>
          </a:p>
          <a:p>
            <a:pPr marL="12700">
              <a:lnSpc>
                <a:spcPct val="100000"/>
              </a:lnSpc>
              <a:tabLst>
                <a:tab pos="490220" algn="l"/>
              </a:tabLst>
            </a:pPr>
            <a:r>
              <a:rPr dirty="0" sz="900" spc="-25" b="1">
                <a:latin typeface="Microsoft YaHei"/>
                <a:cs typeface="Microsoft YaHei"/>
              </a:rPr>
              <a:t>RRU</a:t>
            </a:r>
            <a:r>
              <a:rPr dirty="0" sz="900" b="1">
                <a:latin typeface="Microsoft YaHei"/>
                <a:cs typeface="Microsoft YaHei"/>
              </a:rPr>
              <a:t>	</a:t>
            </a:r>
            <a:r>
              <a:rPr dirty="0" sz="900" spc="-10" b="1">
                <a:latin typeface="Microsoft YaHei"/>
                <a:cs typeface="Microsoft YaHei"/>
              </a:rPr>
              <a:t>uRLLC</a:t>
            </a:r>
            <a:endParaRPr sz="900">
              <a:latin typeface="Microsoft YaHei"/>
              <a:cs typeface="Microsoft YaHei"/>
            </a:endParaRPr>
          </a:p>
          <a:p>
            <a:pPr marL="12700">
              <a:lnSpc>
                <a:spcPct val="100000"/>
              </a:lnSpc>
              <a:tabLst>
                <a:tab pos="490220" algn="l"/>
              </a:tabLst>
            </a:pPr>
            <a:r>
              <a:rPr dirty="0" sz="900" spc="-25" b="1">
                <a:latin typeface="Microsoft YaHei"/>
                <a:cs typeface="Microsoft YaHei"/>
              </a:rPr>
              <a:t>2.6</a:t>
            </a:r>
            <a:r>
              <a:rPr dirty="0" sz="900" b="1">
                <a:latin typeface="Microsoft YaHei"/>
                <a:cs typeface="Microsoft YaHei"/>
              </a:rPr>
              <a:t>	</a:t>
            </a:r>
            <a:r>
              <a:rPr dirty="0" sz="900" spc="-20" b="1">
                <a:latin typeface="Microsoft YaHei"/>
                <a:cs typeface="Microsoft YaHei"/>
              </a:rPr>
              <a:t>mMTC</a:t>
            </a:r>
            <a:endParaRPr sz="900">
              <a:latin typeface="Microsoft YaHei"/>
              <a:cs typeface="Microsoft YaHei"/>
            </a:endParaRPr>
          </a:p>
        </p:txBody>
      </p:sp>
      <p:sp>
        <p:nvSpPr>
          <p:cNvPr id="527" name="object 527" descr=""/>
          <p:cNvSpPr/>
          <p:nvPr/>
        </p:nvSpPr>
        <p:spPr>
          <a:xfrm>
            <a:off x="7411704" y="2564832"/>
            <a:ext cx="129539" cy="529590"/>
          </a:xfrm>
          <a:custGeom>
            <a:avLst/>
            <a:gdLst/>
            <a:ahLst/>
            <a:cxnLst/>
            <a:rect l="l" t="t" r="r" b="b"/>
            <a:pathLst>
              <a:path w="129540" h="529589">
                <a:moveTo>
                  <a:pt x="129044" y="529589"/>
                </a:moveTo>
                <a:lnTo>
                  <a:pt x="103930" y="528745"/>
                </a:lnTo>
                <a:lnTo>
                  <a:pt x="83423" y="526440"/>
                </a:lnTo>
                <a:lnTo>
                  <a:pt x="69597" y="523021"/>
                </a:lnTo>
                <a:lnTo>
                  <a:pt x="64528" y="518833"/>
                </a:lnTo>
                <a:lnTo>
                  <a:pt x="64528" y="275551"/>
                </a:lnTo>
                <a:lnTo>
                  <a:pt x="59457" y="271363"/>
                </a:lnTo>
                <a:lnTo>
                  <a:pt x="45627" y="267944"/>
                </a:lnTo>
                <a:lnTo>
                  <a:pt x="25116" y="265639"/>
                </a:lnTo>
                <a:lnTo>
                  <a:pt x="0" y="264794"/>
                </a:lnTo>
                <a:lnTo>
                  <a:pt x="25116" y="263950"/>
                </a:lnTo>
                <a:lnTo>
                  <a:pt x="45627" y="261645"/>
                </a:lnTo>
                <a:lnTo>
                  <a:pt x="59457" y="258226"/>
                </a:lnTo>
                <a:lnTo>
                  <a:pt x="64528" y="254038"/>
                </a:lnTo>
                <a:lnTo>
                  <a:pt x="64528" y="10756"/>
                </a:lnTo>
                <a:lnTo>
                  <a:pt x="69597" y="6568"/>
                </a:lnTo>
                <a:lnTo>
                  <a:pt x="83423" y="3149"/>
                </a:lnTo>
                <a:lnTo>
                  <a:pt x="103930" y="844"/>
                </a:lnTo>
                <a:lnTo>
                  <a:pt x="129044" y="0"/>
                </a:lnTo>
              </a:path>
            </a:pathLst>
          </a:custGeom>
          <a:ln w="28575">
            <a:solidFill>
              <a:srgbClr val="333399"/>
            </a:solidFill>
          </a:ln>
        </p:spPr>
        <p:txBody>
          <a:bodyPr wrap="square" lIns="0" tIns="0" rIns="0" bIns="0" rtlCol="0"/>
          <a:lstStyle/>
          <a:p/>
        </p:txBody>
      </p:sp>
      <p:sp>
        <p:nvSpPr>
          <p:cNvPr id="528" name="object 528" descr=""/>
          <p:cNvSpPr txBox="1"/>
          <p:nvPr/>
        </p:nvSpPr>
        <p:spPr>
          <a:xfrm>
            <a:off x="7612760" y="2499741"/>
            <a:ext cx="1403985" cy="261620"/>
          </a:xfrm>
          <a:prstGeom prst="rect">
            <a:avLst/>
          </a:prstGeom>
          <a:solidFill>
            <a:srgbClr val="F0F8F9"/>
          </a:solidFill>
        </p:spPr>
        <p:txBody>
          <a:bodyPr wrap="square" lIns="0" tIns="40005" rIns="0" bIns="0" rtlCol="0" vert="horz">
            <a:spAutoFit/>
          </a:bodyPr>
          <a:lstStyle/>
          <a:p>
            <a:pPr marL="93345">
              <a:lnSpc>
                <a:spcPct val="100000"/>
              </a:lnSpc>
              <a:spcBef>
                <a:spcPts val="315"/>
              </a:spcBef>
            </a:pPr>
            <a:r>
              <a:rPr dirty="0" sz="1100" b="1">
                <a:latin typeface="Microsoft YaHei"/>
                <a:cs typeface="Microsoft YaHei"/>
              </a:rPr>
              <a:t>64TR</a:t>
            </a:r>
            <a:r>
              <a:rPr dirty="0" sz="1100" spc="-25" b="1">
                <a:latin typeface="Microsoft YaHei"/>
                <a:cs typeface="Microsoft YaHei"/>
              </a:rPr>
              <a:t> </a:t>
            </a:r>
            <a:r>
              <a:rPr dirty="0" sz="1100" b="1">
                <a:latin typeface="Microsoft YaHei"/>
                <a:cs typeface="Microsoft YaHei"/>
              </a:rPr>
              <a:t>4.9G</a:t>
            </a:r>
            <a:r>
              <a:rPr dirty="0" sz="1100" spc="-20" b="1">
                <a:latin typeface="Microsoft YaHei"/>
                <a:cs typeface="Microsoft YaHei"/>
              </a:rPr>
              <a:t> 100M</a:t>
            </a:r>
            <a:endParaRPr sz="1100">
              <a:latin typeface="Microsoft YaHei"/>
              <a:cs typeface="Microsoft YaHei"/>
            </a:endParaRPr>
          </a:p>
        </p:txBody>
      </p:sp>
      <p:sp>
        <p:nvSpPr>
          <p:cNvPr id="529" name="object 529" descr=""/>
          <p:cNvSpPr txBox="1"/>
          <p:nvPr/>
        </p:nvSpPr>
        <p:spPr>
          <a:xfrm>
            <a:off x="7612760" y="2761348"/>
            <a:ext cx="1297940" cy="321310"/>
          </a:xfrm>
          <a:prstGeom prst="rect">
            <a:avLst/>
          </a:prstGeom>
          <a:solidFill>
            <a:srgbClr val="F0F8F9"/>
          </a:solidFill>
        </p:spPr>
        <p:txBody>
          <a:bodyPr wrap="square" lIns="0" tIns="71755" rIns="0" bIns="0" rtlCol="0" vert="horz">
            <a:spAutoFit/>
          </a:bodyPr>
          <a:lstStyle/>
          <a:p>
            <a:pPr marL="34290">
              <a:lnSpc>
                <a:spcPct val="100000"/>
              </a:lnSpc>
              <a:spcBef>
                <a:spcPts val="565"/>
              </a:spcBef>
            </a:pPr>
            <a:r>
              <a:rPr dirty="0" sz="1100" spc="-30" b="1">
                <a:latin typeface="Microsoft YaHei"/>
                <a:cs typeface="Microsoft YaHei"/>
              </a:rPr>
              <a:t>杆/微站：多模多频</a:t>
            </a:r>
            <a:endParaRPr sz="1100">
              <a:latin typeface="Microsoft YaHei"/>
              <a:cs typeface="Microsoft YaHei"/>
            </a:endParaRPr>
          </a:p>
        </p:txBody>
      </p:sp>
      <p:sp>
        <p:nvSpPr>
          <p:cNvPr id="530" name="object 530" descr=""/>
          <p:cNvSpPr txBox="1"/>
          <p:nvPr/>
        </p:nvSpPr>
        <p:spPr>
          <a:xfrm>
            <a:off x="6858000" y="1276350"/>
            <a:ext cx="1052195" cy="261620"/>
          </a:xfrm>
          <a:prstGeom prst="rect">
            <a:avLst/>
          </a:prstGeom>
          <a:solidFill>
            <a:srgbClr val="F0F8F9"/>
          </a:solidFill>
        </p:spPr>
        <p:txBody>
          <a:bodyPr wrap="square" lIns="0" tIns="40005" rIns="0" bIns="0" rtlCol="0" vert="horz">
            <a:spAutoFit/>
          </a:bodyPr>
          <a:lstStyle/>
          <a:p>
            <a:pPr marL="91440">
              <a:lnSpc>
                <a:spcPct val="100000"/>
              </a:lnSpc>
              <a:spcBef>
                <a:spcPts val="315"/>
              </a:spcBef>
            </a:pPr>
            <a:r>
              <a:rPr dirty="0" sz="1100" spc="-10" b="1">
                <a:latin typeface="Microsoft YaHei"/>
                <a:cs typeface="Microsoft YaHei"/>
              </a:rPr>
              <a:t>FDD</a:t>
            </a:r>
            <a:r>
              <a:rPr dirty="0" sz="1100" spc="-30" b="1">
                <a:latin typeface="Microsoft YaHei"/>
                <a:cs typeface="Microsoft YaHei"/>
              </a:rPr>
              <a:t>频段重耕</a:t>
            </a:r>
            <a:endParaRPr sz="1100">
              <a:latin typeface="Microsoft YaHei"/>
              <a:cs typeface="Microsoft YaHei"/>
            </a:endParaRPr>
          </a:p>
        </p:txBody>
      </p:sp>
      <p:sp>
        <p:nvSpPr>
          <p:cNvPr id="531" name="object 531" descr=""/>
          <p:cNvSpPr txBox="1"/>
          <p:nvPr/>
        </p:nvSpPr>
        <p:spPr>
          <a:xfrm>
            <a:off x="7897190" y="1304036"/>
            <a:ext cx="372110" cy="193040"/>
          </a:xfrm>
          <a:prstGeom prst="rect">
            <a:avLst/>
          </a:prstGeom>
        </p:spPr>
        <p:txBody>
          <a:bodyPr wrap="square" lIns="0" tIns="12065" rIns="0" bIns="0" rtlCol="0" vert="horz">
            <a:spAutoFit/>
          </a:bodyPr>
          <a:lstStyle/>
          <a:p>
            <a:pPr marL="12700">
              <a:lnSpc>
                <a:spcPct val="100000"/>
              </a:lnSpc>
              <a:spcBef>
                <a:spcPts val="95"/>
              </a:spcBef>
              <a:tabLst>
                <a:tab pos="358775" algn="l"/>
              </a:tabLst>
            </a:pPr>
            <a:r>
              <a:rPr dirty="0" u="sng" sz="1100">
                <a:uFill>
                  <a:solidFill>
                    <a:srgbClr val="B6DCDF"/>
                  </a:solidFill>
                </a:uFill>
                <a:latin typeface="Times New Roman"/>
                <a:cs typeface="Times New Roman"/>
              </a:rPr>
              <a:t>	</a:t>
            </a:r>
            <a:endParaRPr sz="1100">
              <a:latin typeface="Times New Roman"/>
              <a:cs typeface="Times New Roman"/>
            </a:endParaRPr>
          </a:p>
        </p:txBody>
      </p:sp>
      <p:sp>
        <p:nvSpPr>
          <p:cNvPr id="532" name="object 532" descr=""/>
          <p:cNvSpPr/>
          <p:nvPr/>
        </p:nvSpPr>
        <p:spPr>
          <a:xfrm>
            <a:off x="6660231" y="3821356"/>
            <a:ext cx="129539" cy="529590"/>
          </a:xfrm>
          <a:custGeom>
            <a:avLst/>
            <a:gdLst/>
            <a:ahLst/>
            <a:cxnLst/>
            <a:rect l="l" t="t" r="r" b="b"/>
            <a:pathLst>
              <a:path w="129540" h="529589">
                <a:moveTo>
                  <a:pt x="129044" y="529589"/>
                </a:moveTo>
                <a:lnTo>
                  <a:pt x="103928" y="528745"/>
                </a:lnTo>
                <a:lnTo>
                  <a:pt x="83416" y="526440"/>
                </a:lnTo>
                <a:lnTo>
                  <a:pt x="69587" y="523021"/>
                </a:lnTo>
                <a:lnTo>
                  <a:pt x="64515" y="518833"/>
                </a:lnTo>
                <a:lnTo>
                  <a:pt x="64515" y="275551"/>
                </a:lnTo>
                <a:lnTo>
                  <a:pt x="59446" y="271363"/>
                </a:lnTo>
                <a:lnTo>
                  <a:pt x="45621" y="267944"/>
                </a:lnTo>
                <a:lnTo>
                  <a:pt x="25114" y="265639"/>
                </a:lnTo>
                <a:lnTo>
                  <a:pt x="0" y="264794"/>
                </a:lnTo>
                <a:lnTo>
                  <a:pt x="25114" y="263950"/>
                </a:lnTo>
                <a:lnTo>
                  <a:pt x="45621" y="261645"/>
                </a:lnTo>
                <a:lnTo>
                  <a:pt x="59446" y="258226"/>
                </a:lnTo>
                <a:lnTo>
                  <a:pt x="64515" y="254038"/>
                </a:lnTo>
                <a:lnTo>
                  <a:pt x="64515" y="10756"/>
                </a:lnTo>
                <a:lnTo>
                  <a:pt x="69587" y="6568"/>
                </a:lnTo>
                <a:lnTo>
                  <a:pt x="83416" y="3149"/>
                </a:lnTo>
                <a:lnTo>
                  <a:pt x="103928" y="844"/>
                </a:lnTo>
                <a:lnTo>
                  <a:pt x="129044" y="0"/>
                </a:lnTo>
              </a:path>
            </a:pathLst>
          </a:custGeom>
          <a:ln w="28575">
            <a:solidFill>
              <a:srgbClr val="333399"/>
            </a:solidFill>
          </a:ln>
        </p:spPr>
        <p:txBody>
          <a:bodyPr wrap="square" lIns="0" tIns="0" rIns="0" bIns="0" rtlCol="0"/>
          <a:lstStyle/>
          <a:p/>
        </p:txBody>
      </p:sp>
      <p:sp>
        <p:nvSpPr>
          <p:cNvPr id="533" name="object 533" descr=""/>
          <p:cNvSpPr txBox="1"/>
          <p:nvPr/>
        </p:nvSpPr>
        <p:spPr>
          <a:xfrm>
            <a:off x="6863613" y="3795890"/>
            <a:ext cx="1262380" cy="261620"/>
          </a:xfrm>
          <a:prstGeom prst="rect">
            <a:avLst/>
          </a:prstGeom>
          <a:solidFill>
            <a:srgbClr val="FFFF00"/>
          </a:solidFill>
        </p:spPr>
        <p:txBody>
          <a:bodyPr wrap="square" lIns="0" tIns="40005" rIns="0" bIns="0" rtlCol="0" vert="horz">
            <a:spAutoFit/>
          </a:bodyPr>
          <a:lstStyle/>
          <a:p>
            <a:pPr marL="90805">
              <a:lnSpc>
                <a:spcPct val="100000"/>
              </a:lnSpc>
              <a:spcBef>
                <a:spcPts val="315"/>
              </a:spcBef>
            </a:pPr>
            <a:r>
              <a:rPr dirty="0" sz="1100" b="1">
                <a:latin typeface="Microsoft YaHei"/>
                <a:cs typeface="Microsoft YaHei"/>
              </a:rPr>
              <a:t>pico：2.6G</a:t>
            </a:r>
            <a:r>
              <a:rPr dirty="0" sz="1100" spc="-55" b="1">
                <a:latin typeface="Microsoft YaHei"/>
                <a:cs typeface="Microsoft YaHei"/>
              </a:rPr>
              <a:t> </a:t>
            </a:r>
            <a:r>
              <a:rPr dirty="0" sz="1100" spc="-25" b="1">
                <a:latin typeface="Microsoft YaHei"/>
                <a:cs typeface="Microsoft YaHei"/>
              </a:rPr>
              <a:t>4TR</a:t>
            </a:r>
            <a:endParaRPr sz="1100">
              <a:latin typeface="Microsoft YaHei"/>
              <a:cs typeface="Microsoft YaHei"/>
            </a:endParaRPr>
          </a:p>
        </p:txBody>
      </p:sp>
      <p:sp>
        <p:nvSpPr>
          <p:cNvPr id="534" name="object 534" descr=""/>
          <p:cNvSpPr txBox="1"/>
          <p:nvPr/>
        </p:nvSpPr>
        <p:spPr>
          <a:xfrm>
            <a:off x="6899555" y="4160070"/>
            <a:ext cx="1569085" cy="193040"/>
          </a:xfrm>
          <a:prstGeom prst="rect">
            <a:avLst/>
          </a:prstGeom>
        </p:spPr>
        <p:txBody>
          <a:bodyPr wrap="square" lIns="0" tIns="12065" rIns="0" bIns="0" rtlCol="0" vert="horz">
            <a:spAutoFit/>
          </a:bodyPr>
          <a:lstStyle/>
          <a:p>
            <a:pPr marL="12700">
              <a:lnSpc>
                <a:spcPct val="100000"/>
              </a:lnSpc>
              <a:spcBef>
                <a:spcPts val="95"/>
              </a:spcBef>
            </a:pPr>
            <a:r>
              <a:rPr dirty="0" sz="1100" b="1">
                <a:latin typeface="Microsoft YaHei"/>
                <a:cs typeface="Microsoft YaHei"/>
              </a:rPr>
              <a:t>Pico</a:t>
            </a:r>
            <a:r>
              <a:rPr dirty="0" sz="1100" spc="-20" b="1">
                <a:latin typeface="Microsoft YaHei"/>
                <a:cs typeface="Microsoft YaHei"/>
              </a:rPr>
              <a:t>: </a:t>
            </a:r>
            <a:r>
              <a:rPr dirty="0" sz="1100" b="1">
                <a:latin typeface="Microsoft YaHei"/>
                <a:cs typeface="Microsoft YaHei"/>
              </a:rPr>
              <a:t>2.6+2.3+1.8</a:t>
            </a:r>
            <a:r>
              <a:rPr dirty="0" sz="1100" spc="-40" b="1">
                <a:latin typeface="Microsoft YaHei"/>
                <a:cs typeface="Microsoft YaHei"/>
              </a:rPr>
              <a:t> 多模</a:t>
            </a:r>
            <a:endParaRPr sz="1100">
              <a:latin typeface="Microsoft YaHei"/>
              <a:cs typeface="Microsoft YaHei"/>
            </a:endParaRPr>
          </a:p>
        </p:txBody>
      </p:sp>
      <p:grpSp>
        <p:nvGrpSpPr>
          <p:cNvPr id="535" name="object 535" descr=""/>
          <p:cNvGrpSpPr/>
          <p:nvPr/>
        </p:nvGrpSpPr>
        <p:grpSpPr>
          <a:xfrm>
            <a:off x="1259636" y="4462970"/>
            <a:ext cx="3309620" cy="261620"/>
            <a:chOff x="1259636" y="4462970"/>
            <a:chExt cx="3309620" cy="261620"/>
          </a:xfrm>
        </p:grpSpPr>
        <p:sp>
          <p:nvSpPr>
            <p:cNvPr id="536" name="object 536" descr=""/>
            <p:cNvSpPr/>
            <p:nvPr/>
          </p:nvSpPr>
          <p:spPr>
            <a:xfrm>
              <a:off x="1259636" y="4462970"/>
              <a:ext cx="1021715" cy="261620"/>
            </a:xfrm>
            <a:custGeom>
              <a:avLst/>
              <a:gdLst/>
              <a:ahLst/>
              <a:cxnLst/>
              <a:rect l="l" t="t" r="r" b="b"/>
              <a:pathLst>
                <a:path w="1021714" h="261620">
                  <a:moveTo>
                    <a:pt x="1021435" y="0"/>
                  </a:moveTo>
                  <a:lnTo>
                    <a:pt x="0" y="0"/>
                  </a:lnTo>
                  <a:lnTo>
                    <a:pt x="0" y="261607"/>
                  </a:lnTo>
                  <a:lnTo>
                    <a:pt x="1021435" y="261607"/>
                  </a:lnTo>
                  <a:lnTo>
                    <a:pt x="1021435" y="0"/>
                  </a:lnTo>
                  <a:close/>
                </a:path>
              </a:pathLst>
            </a:custGeom>
            <a:solidFill>
              <a:srgbClr val="FFFF00"/>
            </a:solidFill>
          </p:spPr>
          <p:txBody>
            <a:bodyPr wrap="square" lIns="0" tIns="0" rIns="0" bIns="0" rtlCol="0"/>
            <a:lstStyle/>
            <a:p/>
          </p:txBody>
        </p:sp>
        <p:sp>
          <p:nvSpPr>
            <p:cNvPr id="537" name="object 537" descr=""/>
            <p:cNvSpPr/>
            <p:nvPr/>
          </p:nvSpPr>
          <p:spPr>
            <a:xfrm>
              <a:off x="3680637" y="4462970"/>
              <a:ext cx="889000" cy="261620"/>
            </a:xfrm>
            <a:custGeom>
              <a:avLst/>
              <a:gdLst/>
              <a:ahLst/>
              <a:cxnLst/>
              <a:rect l="l" t="t" r="r" b="b"/>
              <a:pathLst>
                <a:path w="889000" h="261620">
                  <a:moveTo>
                    <a:pt x="888390" y="0"/>
                  </a:moveTo>
                  <a:lnTo>
                    <a:pt x="0" y="0"/>
                  </a:lnTo>
                  <a:lnTo>
                    <a:pt x="0" y="261607"/>
                  </a:lnTo>
                  <a:lnTo>
                    <a:pt x="888390" y="261607"/>
                  </a:lnTo>
                  <a:lnTo>
                    <a:pt x="888390" y="0"/>
                  </a:lnTo>
                  <a:close/>
                </a:path>
              </a:pathLst>
            </a:custGeom>
            <a:solidFill>
              <a:srgbClr val="F0F8F9"/>
            </a:solidFill>
          </p:spPr>
          <p:txBody>
            <a:bodyPr wrap="square" lIns="0" tIns="0" rIns="0" bIns="0" rtlCol="0"/>
            <a:lstStyle/>
            <a:p/>
          </p:txBody>
        </p:sp>
      </p:grpSp>
      <p:sp>
        <p:nvSpPr>
          <p:cNvPr id="538" name="object 538" descr=""/>
          <p:cNvSpPr txBox="1"/>
          <p:nvPr/>
        </p:nvSpPr>
        <p:spPr>
          <a:xfrm>
            <a:off x="1338371" y="4493833"/>
            <a:ext cx="3143250" cy="193040"/>
          </a:xfrm>
          <a:prstGeom prst="rect">
            <a:avLst/>
          </a:prstGeom>
        </p:spPr>
        <p:txBody>
          <a:bodyPr wrap="square" lIns="0" tIns="12065" rIns="0" bIns="0" rtlCol="0" vert="horz">
            <a:spAutoFit/>
          </a:bodyPr>
          <a:lstStyle/>
          <a:p>
            <a:pPr marL="12700">
              <a:lnSpc>
                <a:spcPct val="100000"/>
              </a:lnSpc>
              <a:spcBef>
                <a:spcPts val="95"/>
              </a:spcBef>
              <a:tabLst>
                <a:tab pos="1291590" algn="l"/>
                <a:tab pos="2433320" algn="l"/>
              </a:tabLst>
            </a:pPr>
            <a:r>
              <a:rPr dirty="0" baseline="2525" sz="1650" spc="-30" b="1">
                <a:latin typeface="Microsoft YaHei"/>
                <a:cs typeface="Microsoft YaHei"/>
              </a:rPr>
              <a:t>初期</a:t>
            </a:r>
            <a:r>
              <a:rPr dirty="0" baseline="2525" sz="1650" spc="-15" b="1">
                <a:latin typeface="Microsoft YaHei"/>
                <a:cs typeface="Microsoft YaHei"/>
              </a:rPr>
              <a:t>：19/20</a:t>
            </a:r>
            <a:r>
              <a:rPr dirty="0" baseline="2525" sz="1650" b="1">
                <a:latin typeface="Microsoft YaHei"/>
                <a:cs typeface="Microsoft YaHei"/>
              </a:rPr>
              <a:t>	</a:t>
            </a:r>
            <a:r>
              <a:rPr dirty="0" sz="1100" spc="-20" b="1">
                <a:latin typeface="Microsoft YaHei"/>
                <a:cs typeface="Microsoft YaHei"/>
              </a:rPr>
              <a:t>中期</a:t>
            </a:r>
            <a:r>
              <a:rPr dirty="0" sz="1100" spc="-10" b="1">
                <a:latin typeface="Microsoft YaHei"/>
                <a:cs typeface="Microsoft YaHei"/>
              </a:rPr>
              <a:t>：21/22</a:t>
            </a:r>
            <a:r>
              <a:rPr dirty="0" sz="1100" b="1">
                <a:latin typeface="Microsoft YaHei"/>
                <a:cs typeface="Microsoft YaHei"/>
              </a:rPr>
              <a:t>	</a:t>
            </a:r>
            <a:r>
              <a:rPr dirty="0" baseline="2525" sz="1650" spc="-30" b="1">
                <a:latin typeface="Microsoft YaHei"/>
                <a:cs typeface="Microsoft YaHei"/>
              </a:rPr>
              <a:t>远期：22~</a:t>
            </a:r>
            <a:endParaRPr baseline="2525" sz="1650">
              <a:latin typeface="Microsoft YaHei"/>
              <a:cs typeface="Microsoft YaHei"/>
            </a:endParaRPr>
          </a:p>
        </p:txBody>
      </p:sp>
      <p:sp>
        <p:nvSpPr>
          <p:cNvPr id="539" name="object 539" descr=""/>
          <p:cNvSpPr txBox="1"/>
          <p:nvPr/>
        </p:nvSpPr>
        <p:spPr>
          <a:xfrm>
            <a:off x="7612760" y="3082112"/>
            <a:ext cx="1297940" cy="261620"/>
          </a:xfrm>
          <a:prstGeom prst="rect">
            <a:avLst/>
          </a:prstGeom>
          <a:solidFill>
            <a:srgbClr val="F0F8F9"/>
          </a:solidFill>
        </p:spPr>
        <p:txBody>
          <a:bodyPr wrap="square" lIns="0" tIns="40005" rIns="0" bIns="0" rtlCol="0" vert="horz">
            <a:spAutoFit/>
          </a:bodyPr>
          <a:lstStyle/>
          <a:p>
            <a:pPr marL="35560">
              <a:lnSpc>
                <a:spcPct val="100000"/>
              </a:lnSpc>
              <a:spcBef>
                <a:spcPts val="315"/>
              </a:spcBef>
            </a:pPr>
            <a:r>
              <a:rPr dirty="0" sz="1100" spc="-35" b="1">
                <a:latin typeface="Microsoft YaHei"/>
                <a:cs typeface="Microsoft YaHei"/>
              </a:rPr>
              <a:t>毫米波</a:t>
            </a:r>
            <a:endParaRPr sz="1100">
              <a:latin typeface="Microsoft YaHei"/>
              <a:cs typeface="Microsoft YaHei"/>
            </a:endParaRPr>
          </a:p>
        </p:txBody>
      </p:sp>
      <p:sp>
        <p:nvSpPr>
          <p:cNvPr id="540" name="object 540" descr=""/>
          <p:cNvSpPr/>
          <p:nvPr/>
        </p:nvSpPr>
        <p:spPr>
          <a:xfrm>
            <a:off x="251523" y="4749482"/>
            <a:ext cx="8641080" cy="307975"/>
          </a:xfrm>
          <a:custGeom>
            <a:avLst/>
            <a:gdLst/>
            <a:ahLst/>
            <a:cxnLst/>
            <a:rect l="l" t="t" r="r" b="b"/>
            <a:pathLst>
              <a:path w="8641080" h="307975">
                <a:moveTo>
                  <a:pt x="8640965" y="0"/>
                </a:moveTo>
                <a:lnTo>
                  <a:pt x="0" y="0"/>
                </a:lnTo>
                <a:lnTo>
                  <a:pt x="0" y="307771"/>
                </a:lnTo>
                <a:lnTo>
                  <a:pt x="8640965" y="307771"/>
                </a:lnTo>
                <a:lnTo>
                  <a:pt x="8640965" y="0"/>
                </a:lnTo>
                <a:close/>
              </a:path>
            </a:pathLst>
          </a:custGeom>
          <a:solidFill>
            <a:srgbClr val="0070C0"/>
          </a:solidFill>
        </p:spPr>
        <p:txBody>
          <a:bodyPr wrap="square" lIns="0" tIns="0" rIns="0" bIns="0" rtlCol="0"/>
          <a:lstStyle/>
          <a:p/>
        </p:txBody>
      </p:sp>
      <p:sp>
        <p:nvSpPr>
          <p:cNvPr id="541" name="object 541" descr=""/>
          <p:cNvSpPr txBox="1"/>
          <p:nvPr/>
        </p:nvSpPr>
        <p:spPr>
          <a:xfrm>
            <a:off x="1982851" y="4776403"/>
            <a:ext cx="5178425" cy="238760"/>
          </a:xfrm>
          <a:prstGeom prst="rect">
            <a:avLst/>
          </a:prstGeom>
        </p:spPr>
        <p:txBody>
          <a:bodyPr wrap="square" lIns="0" tIns="12065" rIns="0" bIns="0" rtlCol="0" vert="horz">
            <a:spAutoFit/>
          </a:bodyPr>
          <a:lstStyle/>
          <a:p>
            <a:pPr marL="12700">
              <a:lnSpc>
                <a:spcPct val="100000"/>
              </a:lnSpc>
              <a:spcBef>
                <a:spcPts val="95"/>
              </a:spcBef>
            </a:pPr>
            <a:r>
              <a:rPr dirty="0" sz="1400" spc="-25" b="1">
                <a:solidFill>
                  <a:srgbClr val="FFFFFF"/>
                </a:solidFill>
                <a:latin typeface="Microsoft YaHei"/>
                <a:cs typeface="Microsoft YaHei"/>
              </a:rPr>
              <a:t>宏、微、皮多站型，多频段、多模，满足多运营商覆盖和容量需求</a:t>
            </a:r>
            <a:endParaRPr sz="1400">
              <a:latin typeface="Microsoft YaHei"/>
              <a:cs typeface="Microsoft YaHei"/>
            </a:endParaRPr>
          </a:p>
        </p:txBody>
      </p:sp>
      <p:grpSp>
        <p:nvGrpSpPr>
          <p:cNvPr id="542" name="object 542" descr=""/>
          <p:cNvGrpSpPr/>
          <p:nvPr/>
        </p:nvGrpSpPr>
        <p:grpSpPr>
          <a:xfrm>
            <a:off x="4846533" y="2422972"/>
            <a:ext cx="2466975" cy="17780"/>
            <a:chOff x="4846533" y="2422972"/>
            <a:chExt cx="2466975" cy="17780"/>
          </a:xfrm>
        </p:grpSpPr>
        <p:sp>
          <p:nvSpPr>
            <p:cNvPr id="543" name="object 543" descr=""/>
            <p:cNvSpPr/>
            <p:nvPr/>
          </p:nvSpPr>
          <p:spPr>
            <a:xfrm>
              <a:off x="4851295" y="2427735"/>
              <a:ext cx="2457450" cy="8255"/>
            </a:xfrm>
            <a:custGeom>
              <a:avLst/>
              <a:gdLst/>
              <a:ahLst/>
              <a:cxnLst/>
              <a:rect l="l" t="t" r="r" b="b"/>
              <a:pathLst>
                <a:path w="2457450" h="8255">
                  <a:moveTo>
                    <a:pt x="0" y="0"/>
                  </a:moveTo>
                  <a:lnTo>
                    <a:pt x="2457005" y="7886"/>
                  </a:lnTo>
                </a:path>
              </a:pathLst>
            </a:custGeom>
            <a:ln w="9525">
              <a:solidFill>
                <a:srgbClr val="B6DCDF"/>
              </a:solidFill>
            </a:ln>
          </p:spPr>
          <p:txBody>
            <a:bodyPr wrap="square" lIns="0" tIns="0" rIns="0" bIns="0" rtlCol="0"/>
            <a:lstStyle/>
            <a:p/>
          </p:txBody>
        </p:sp>
        <p:sp>
          <p:nvSpPr>
            <p:cNvPr id="544" name="object 544" descr=""/>
            <p:cNvSpPr/>
            <p:nvPr/>
          </p:nvSpPr>
          <p:spPr>
            <a:xfrm>
              <a:off x="7292098" y="2427734"/>
              <a:ext cx="16510" cy="0"/>
            </a:xfrm>
            <a:custGeom>
              <a:avLst/>
              <a:gdLst/>
              <a:ahLst/>
              <a:cxnLst/>
              <a:rect l="l" t="t" r="r" b="b"/>
              <a:pathLst>
                <a:path w="16509" h="0">
                  <a:moveTo>
                    <a:pt x="16205" y="0"/>
                  </a:moveTo>
                  <a:lnTo>
                    <a:pt x="0" y="0"/>
                  </a:lnTo>
                </a:path>
              </a:pathLst>
            </a:custGeom>
            <a:ln w="9525">
              <a:solidFill>
                <a:srgbClr val="B6DCDF"/>
              </a:solidFill>
            </a:ln>
          </p:spPr>
          <p:txBody>
            <a:bodyPr wrap="square" lIns="0" tIns="0" rIns="0" bIns="0" rtlCol="0"/>
            <a:lstStyle/>
            <a:p/>
          </p:txBody>
        </p:sp>
      </p:grpSp>
      <p:sp>
        <p:nvSpPr>
          <p:cNvPr id="545" name="object 545" descr=""/>
          <p:cNvSpPr txBox="1"/>
          <p:nvPr/>
        </p:nvSpPr>
        <p:spPr>
          <a:xfrm>
            <a:off x="5776671" y="3910990"/>
            <a:ext cx="812165" cy="369570"/>
          </a:xfrm>
          <a:prstGeom prst="rect">
            <a:avLst/>
          </a:prstGeom>
          <a:solidFill>
            <a:srgbClr val="FFFF00"/>
          </a:solidFill>
        </p:spPr>
        <p:txBody>
          <a:bodyPr wrap="square" lIns="0" tIns="13335" rIns="0" bIns="0" rtlCol="0" vert="horz">
            <a:spAutoFit/>
          </a:bodyPr>
          <a:lstStyle/>
          <a:p>
            <a:pPr marL="89535" marR="81915" indent="20955">
              <a:lnSpc>
                <a:spcPct val="110000"/>
              </a:lnSpc>
              <a:spcBef>
                <a:spcPts val="105"/>
              </a:spcBef>
            </a:pPr>
            <a:r>
              <a:rPr dirty="0" sz="900" b="1">
                <a:latin typeface="Microsoft YaHei"/>
                <a:cs typeface="Microsoft YaHei"/>
              </a:rPr>
              <a:t>双通道</a:t>
            </a:r>
            <a:r>
              <a:rPr dirty="0" sz="900" spc="-25" b="1">
                <a:latin typeface="Microsoft YaHei"/>
                <a:cs typeface="Microsoft YaHei"/>
              </a:rPr>
              <a:t>DAS </a:t>
            </a:r>
            <a:r>
              <a:rPr dirty="0" sz="900" spc="-10" b="1">
                <a:latin typeface="Microsoft YaHei"/>
                <a:cs typeface="Microsoft YaHei"/>
              </a:rPr>
              <a:t>2.6</a:t>
            </a:r>
            <a:r>
              <a:rPr dirty="0" sz="900" spc="-20" b="1">
                <a:latin typeface="Microsoft YaHei"/>
                <a:cs typeface="Microsoft YaHei"/>
              </a:rPr>
              <a:t>，大功率</a:t>
            </a:r>
            <a:endParaRPr sz="900">
              <a:latin typeface="Microsoft YaHei"/>
              <a:cs typeface="Microsoft YaHei"/>
            </a:endParaRPr>
          </a:p>
        </p:txBody>
      </p:sp>
      <p:sp>
        <p:nvSpPr>
          <p:cNvPr id="546" name="object 546" descr=""/>
          <p:cNvSpPr/>
          <p:nvPr/>
        </p:nvSpPr>
        <p:spPr>
          <a:xfrm>
            <a:off x="6833272" y="4416145"/>
            <a:ext cx="2188845" cy="261620"/>
          </a:xfrm>
          <a:custGeom>
            <a:avLst/>
            <a:gdLst/>
            <a:ahLst/>
            <a:cxnLst/>
            <a:rect l="l" t="t" r="r" b="b"/>
            <a:pathLst>
              <a:path w="2188845" h="261620">
                <a:moveTo>
                  <a:pt x="2188425" y="0"/>
                </a:moveTo>
                <a:lnTo>
                  <a:pt x="0" y="0"/>
                </a:lnTo>
                <a:lnTo>
                  <a:pt x="0" y="261607"/>
                </a:lnTo>
                <a:lnTo>
                  <a:pt x="2188425" y="261607"/>
                </a:lnTo>
                <a:lnTo>
                  <a:pt x="2188425" y="0"/>
                </a:lnTo>
                <a:close/>
              </a:path>
            </a:pathLst>
          </a:custGeom>
          <a:solidFill>
            <a:srgbClr val="FFFF00"/>
          </a:solidFill>
        </p:spPr>
        <p:txBody>
          <a:bodyPr wrap="square" lIns="0" tIns="0" rIns="0" bIns="0" rtlCol="0"/>
          <a:lstStyle/>
          <a:p/>
        </p:txBody>
      </p:sp>
      <p:sp>
        <p:nvSpPr>
          <p:cNvPr id="547" name="object 547" descr=""/>
          <p:cNvSpPr txBox="1"/>
          <p:nvPr/>
        </p:nvSpPr>
        <p:spPr>
          <a:xfrm>
            <a:off x="6833272" y="4443835"/>
            <a:ext cx="2188845" cy="193040"/>
          </a:xfrm>
          <a:prstGeom prst="rect">
            <a:avLst/>
          </a:prstGeom>
        </p:spPr>
        <p:txBody>
          <a:bodyPr wrap="square" lIns="0" tIns="12065" rIns="0" bIns="0" rtlCol="0" vert="horz">
            <a:spAutoFit/>
          </a:bodyPr>
          <a:lstStyle/>
          <a:p>
            <a:pPr marL="90805">
              <a:lnSpc>
                <a:spcPct val="100000"/>
              </a:lnSpc>
              <a:spcBef>
                <a:spcPts val="95"/>
              </a:spcBef>
            </a:pPr>
            <a:r>
              <a:rPr dirty="0" sz="1100" b="1">
                <a:latin typeface="Microsoft YaHei"/>
                <a:cs typeface="Microsoft YaHei"/>
              </a:rPr>
              <a:t>DAS：2.6G</a:t>
            </a:r>
            <a:r>
              <a:rPr dirty="0" sz="1100" spc="-35" b="1">
                <a:latin typeface="Microsoft YaHei"/>
                <a:cs typeface="Microsoft YaHei"/>
              </a:rPr>
              <a:t> </a:t>
            </a:r>
            <a:r>
              <a:rPr dirty="0" sz="1100" b="1">
                <a:latin typeface="Microsoft YaHei"/>
                <a:cs typeface="Microsoft YaHei"/>
              </a:rPr>
              <a:t>2TR</a:t>
            </a:r>
            <a:r>
              <a:rPr dirty="0" sz="1100" spc="-30" b="1">
                <a:latin typeface="Microsoft YaHei"/>
                <a:cs typeface="Microsoft YaHei"/>
              </a:rPr>
              <a:t> </a:t>
            </a:r>
            <a:r>
              <a:rPr dirty="0" sz="1100" spc="-10" b="1">
                <a:latin typeface="Microsoft YaHei"/>
                <a:cs typeface="Microsoft YaHei"/>
              </a:rPr>
              <a:t>160M/200W</a:t>
            </a:r>
            <a:endParaRPr sz="1100">
              <a:latin typeface="Microsoft YaHei"/>
              <a:cs typeface="Microsoft YaHe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257678" y="2776721"/>
            <a:ext cx="2460625" cy="1603375"/>
            <a:chOff x="6257678" y="2776721"/>
            <a:chExt cx="2460625" cy="1603375"/>
          </a:xfrm>
        </p:grpSpPr>
        <p:pic>
          <p:nvPicPr>
            <p:cNvPr id="3" name="object 3"/>
            <p:cNvPicPr/>
            <p:nvPr/>
          </p:nvPicPr>
          <p:blipFill>
            <a:blip r:embed="rId2" cstate="print"/>
            <a:stretch>
              <a:fillRect/>
            </a:stretch>
          </p:blipFill>
          <p:spPr>
            <a:xfrm>
              <a:off x="6257678" y="2776721"/>
              <a:ext cx="2460330" cy="1603067"/>
            </a:xfrm>
            <a:prstGeom prst="rect">
              <a:avLst/>
            </a:prstGeom>
          </p:spPr>
        </p:pic>
        <p:sp>
          <p:nvSpPr>
            <p:cNvPr id="4" name="object 4" descr=""/>
            <p:cNvSpPr/>
            <p:nvPr/>
          </p:nvSpPr>
          <p:spPr>
            <a:xfrm>
              <a:off x="7262507" y="3286446"/>
              <a:ext cx="585470" cy="182880"/>
            </a:xfrm>
            <a:custGeom>
              <a:avLst/>
              <a:gdLst/>
              <a:ahLst/>
              <a:cxnLst/>
              <a:rect l="l" t="t" r="r" b="b"/>
              <a:pathLst>
                <a:path w="585470" h="182879">
                  <a:moveTo>
                    <a:pt x="564946" y="0"/>
                  </a:moveTo>
                  <a:lnTo>
                    <a:pt x="555713" y="380"/>
                  </a:lnTo>
                  <a:lnTo>
                    <a:pt x="549338" y="787"/>
                  </a:lnTo>
                  <a:lnTo>
                    <a:pt x="234899" y="45859"/>
                  </a:lnTo>
                  <a:lnTo>
                    <a:pt x="369569" y="52069"/>
                  </a:lnTo>
                  <a:lnTo>
                    <a:pt x="347433" y="66547"/>
                  </a:lnTo>
                  <a:lnTo>
                    <a:pt x="310754" y="87243"/>
                  </a:lnTo>
                  <a:lnTo>
                    <a:pt x="269374" y="107369"/>
                  </a:lnTo>
                  <a:lnTo>
                    <a:pt x="223522" y="126440"/>
                  </a:lnTo>
                  <a:lnTo>
                    <a:pt x="173429" y="143973"/>
                  </a:lnTo>
                  <a:lnTo>
                    <a:pt x="119324" y="159483"/>
                  </a:lnTo>
                  <a:lnTo>
                    <a:pt x="61437" y="172487"/>
                  </a:lnTo>
                  <a:lnTo>
                    <a:pt x="0" y="182498"/>
                  </a:lnTo>
                  <a:lnTo>
                    <a:pt x="18237" y="181315"/>
                  </a:lnTo>
                  <a:lnTo>
                    <a:pt x="91539" y="174413"/>
                  </a:lnTo>
                  <a:lnTo>
                    <a:pt x="142386" y="168200"/>
                  </a:lnTo>
                  <a:lnTo>
                    <a:pt x="199887" y="159819"/>
                  </a:lnTo>
                  <a:lnTo>
                    <a:pt x="261931" y="149021"/>
                  </a:lnTo>
                  <a:lnTo>
                    <a:pt x="326410" y="135561"/>
                  </a:lnTo>
                  <a:lnTo>
                    <a:pt x="391217" y="119193"/>
                  </a:lnTo>
                  <a:lnTo>
                    <a:pt x="454240" y="99669"/>
                  </a:lnTo>
                  <a:lnTo>
                    <a:pt x="465315" y="95580"/>
                  </a:lnTo>
                  <a:lnTo>
                    <a:pt x="479259" y="155282"/>
                  </a:lnTo>
                  <a:lnTo>
                    <a:pt x="505840" y="119379"/>
                  </a:lnTo>
                  <a:lnTo>
                    <a:pt x="506031" y="119684"/>
                  </a:lnTo>
                  <a:lnTo>
                    <a:pt x="572820" y="29679"/>
                  </a:lnTo>
                  <a:lnTo>
                    <a:pt x="585469" y="10960"/>
                  </a:lnTo>
                  <a:lnTo>
                    <a:pt x="583628" y="6248"/>
                  </a:lnTo>
                  <a:lnTo>
                    <a:pt x="572211" y="1079"/>
                  </a:lnTo>
                  <a:lnTo>
                    <a:pt x="564946" y="0"/>
                  </a:lnTo>
                  <a:close/>
                </a:path>
              </a:pathLst>
            </a:custGeom>
            <a:solidFill>
              <a:srgbClr val="92D050"/>
            </a:solidFill>
          </p:spPr>
          <p:txBody>
            <a:bodyPr wrap="square" lIns="0" tIns="0" rIns="0" bIns="0" rtlCol="0"/>
            <a:lstStyle/>
            <a:p/>
          </p:txBody>
        </p:sp>
      </p:grpSp>
      <p:sp>
        <p:nvSpPr>
          <p:cNvPr id="5" name="object 5"/>
          <p:cNvSpPr txBox="1">
            <a:spLocks noGrp="1"/>
          </p:cNvSpPr>
          <p:nvPr>
            <p:ph type="title"/>
          </p:nvPr>
        </p:nvSpPr>
        <p:spPr>
          <a:xfrm>
            <a:off x="1405255" y="126954"/>
            <a:ext cx="6791959" cy="513080"/>
          </a:xfrm>
          <a:prstGeom prst="rect"/>
        </p:spPr>
        <p:txBody>
          <a:bodyPr wrap="square" lIns="0" tIns="12065" rIns="0" bIns="0" rtlCol="0" vert="horz">
            <a:spAutoFit/>
          </a:bodyPr>
          <a:lstStyle/>
          <a:p>
            <a:pPr marL="12700">
              <a:lnSpc>
                <a:spcPct val="100000"/>
              </a:lnSpc>
              <a:spcBef>
                <a:spcPts val="95"/>
              </a:spcBef>
            </a:pPr>
            <a:r>
              <a:rPr dirty="0" spc="-40"/>
              <a:t>城区采用</a:t>
            </a:r>
            <a:r>
              <a:rPr dirty="0">
                <a:latin typeface="Times New Roman"/>
                <a:cs typeface="Times New Roman"/>
              </a:rPr>
              <a:t>64TR </a:t>
            </a:r>
            <a:r>
              <a:rPr dirty="0" spc="-45"/>
              <a:t>天线阵，提升网络性能</a:t>
            </a:r>
          </a:p>
        </p:txBody>
      </p:sp>
      <p:grpSp>
        <p:nvGrpSpPr>
          <p:cNvPr id="6" name="object 6" descr=""/>
          <p:cNvGrpSpPr/>
          <p:nvPr/>
        </p:nvGrpSpPr>
        <p:grpSpPr>
          <a:xfrm>
            <a:off x="228600" y="819151"/>
            <a:ext cx="2423795" cy="1616075"/>
            <a:chOff x="228600" y="819151"/>
            <a:chExt cx="2423795" cy="1616075"/>
          </a:xfrm>
        </p:grpSpPr>
        <p:sp>
          <p:nvSpPr>
            <p:cNvPr id="7" name="object 7" descr=""/>
            <p:cNvSpPr/>
            <p:nvPr/>
          </p:nvSpPr>
          <p:spPr>
            <a:xfrm>
              <a:off x="2096109" y="1484706"/>
              <a:ext cx="97155" cy="567690"/>
            </a:xfrm>
            <a:custGeom>
              <a:avLst/>
              <a:gdLst/>
              <a:ahLst/>
              <a:cxnLst/>
              <a:rect l="l" t="t" r="r" b="b"/>
              <a:pathLst>
                <a:path w="97155" h="567689">
                  <a:moveTo>
                    <a:pt x="96558" y="0"/>
                  </a:moveTo>
                  <a:lnTo>
                    <a:pt x="0" y="0"/>
                  </a:lnTo>
                  <a:lnTo>
                    <a:pt x="0" y="567194"/>
                  </a:lnTo>
                  <a:lnTo>
                    <a:pt x="96558" y="567194"/>
                  </a:lnTo>
                  <a:lnTo>
                    <a:pt x="96558" y="0"/>
                  </a:lnTo>
                  <a:close/>
                </a:path>
              </a:pathLst>
            </a:custGeom>
            <a:solidFill>
              <a:srgbClr val="BFCCC0"/>
            </a:solidFill>
          </p:spPr>
          <p:txBody>
            <a:bodyPr wrap="square" lIns="0" tIns="0" rIns="0" bIns="0" rtlCol="0"/>
            <a:lstStyle/>
            <a:p/>
          </p:txBody>
        </p:sp>
        <p:sp>
          <p:nvSpPr>
            <p:cNvPr id="8" name="object 8" descr=""/>
            <p:cNvSpPr/>
            <p:nvPr/>
          </p:nvSpPr>
          <p:spPr>
            <a:xfrm>
              <a:off x="2095004" y="1483994"/>
              <a:ext cx="99060" cy="568960"/>
            </a:xfrm>
            <a:custGeom>
              <a:avLst/>
              <a:gdLst/>
              <a:ahLst/>
              <a:cxnLst/>
              <a:rect l="l" t="t" r="r" b="b"/>
              <a:pathLst>
                <a:path w="99060" h="568960">
                  <a:moveTo>
                    <a:pt x="98742" y="0"/>
                  </a:moveTo>
                  <a:lnTo>
                    <a:pt x="0" y="0"/>
                  </a:lnTo>
                  <a:lnTo>
                    <a:pt x="0" y="2540"/>
                  </a:lnTo>
                  <a:lnTo>
                    <a:pt x="0" y="566420"/>
                  </a:lnTo>
                  <a:lnTo>
                    <a:pt x="0" y="568960"/>
                  </a:lnTo>
                  <a:lnTo>
                    <a:pt x="98742" y="568960"/>
                  </a:lnTo>
                  <a:lnTo>
                    <a:pt x="98742" y="566420"/>
                  </a:lnTo>
                  <a:lnTo>
                    <a:pt x="2590" y="566420"/>
                  </a:lnTo>
                  <a:lnTo>
                    <a:pt x="2590" y="2540"/>
                  </a:lnTo>
                  <a:lnTo>
                    <a:pt x="96164" y="2540"/>
                  </a:lnTo>
                  <a:lnTo>
                    <a:pt x="96164" y="566089"/>
                  </a:lnTo>
                  <a:lnTo>
                    <a:pt x="98742" y="566089"/>
                  </a:lnTo>
                  <a:lnTo>
                    <a:pt x="98742" y="2540"/>
                  </a:lnTo>
                  <a:lnTo>
                    <a:pt x="98742" y="0"/>
                  </a:lnTo>
                  <a:close/>
                </a:path>
              </a:pathLst>
            </a:custGeom>
            <a:solidFill>
              <a:srgbClr val="879C82"/>
            </a:solidFill>
          </p:spPr>
          <p:txBody>
            <a:bodyPr wrap="square" lIns="0" tIns="0" rIns="0" bIns="0" rtlCol="0"/>
            <a:lstStyle/>
            <a:p/>
          </p:txBody>
        </p:sp>
        <p:sp>
          <p:nvSpPr>
            <p:cNvPr id="9" name="object 9" descr=""/>
            <p:cNvSpPr/>
            <p:nvPr/>
          </p:nvSpPr>
          <p:spPr>
            <a:xfrm>
              <a:off x="2096105" y="1429470"/>
              <a:ext cx="130810" cy="55244"/>
            </a:xfrm>
            <a:custGeom>
              <a:avLst/>
              <a:gdLst/>
              <a:ahLst/>
              <a:cxnLst/>
              <a:rect l="l" t="t" r="r" b="b"/>
              <a:pathLst>
                <a:path w="130810" h="55244">
                  <a:moveTo>
                    <a:pt x="130568" y="0"/>
                  </a:moveTo>
                  <a:lnTo>
                    <a:pt x="33997" y="0"/>
                  </a:lnTo>
                  <a:lnTo>
                    <a:pt x="0" y="55232"/>
                  </a:lnTo>
                  <a:lnTo>
                    <a:pt x="96304" y="55232"/>
                  </a:lnTo>
                  <a:lnTo>
                    <a:pt x="130568" y="0"/>
                  </a:lnTo>
                  <a:close/>
                </a:path>
              </a:pathLst>
            </a:custGeom>
            <a:solidFill>
              <a:srgbClr val="E0E6E2"/>
            </a:solidFill>
          </p:spPr>
          <p:txBody>
            <a:bodyPr wrap="square" lIns="0" tIns="0" rIns="0" bIns="0" rtlCol="0"/>
            <a:lstStyle/>
            <a:p/>
          </p:txBody>
        </p:sp>
        <p:sp>
          <p:nvSpPr>
            <p:cNvPr id="10" name="object 10" descr=""/>
            <p:cNvSpPr/>
            <p:nvPr/>
          </p:nvSpPr>
          <p:spPr>
            <a:xfrm>
              <a:off x="2095003" y="1428112"/>
              <a:ext cx="133985" cy="59690"/>
            </a:xfrm>
            <a:custGeom>
              <a:avLst/>
              <a:gdLst/>
              <a:ahLst/>
              <a:cxnLst/>
              <a:rect l="l" t="t" r="r" b="b"/>
              <a:pathLst>
                <a:path w="133985" h="59690">
                  <a:moveTo>
                    <a:pt x="133858" y="0"/>
                  </a:moveTo>
                  <a:lnTo>
                    <a:pt x="34505" y="0"/>
                  </a:lnTo>
                  <a:lnTo>
                    <a:pt x="0" y="56832"/>
                  </a:lnTo>
                  <a:lnTo>
                    <a:pt x="203" y="59283"/>
                  </a:lnTo>
                  <a:lnTo>
                    <a:pt x="97815" y="59283"/>
                  </a:lnTo>
                  <a:lnTo>
                    <a:pt x="99691" y="56197"/>
                  </a:lnTo>
                  <a:lnTo>
                    <a:pt x="3810" y="56197"/>
                  </a:lnTo>
                  <a:lnTo>
                    <a:pt x="35725" y="3175"/>
                  </a:lnTo>
                  <a:lnTo>
                    <a:pt x="131927" y="3175"/>
                  </a:lnTo>
                  <a:lnTo>
                    <a:pt x="133858" y="0"/>
                  </a:lnTo>
                  <a:close/>
                </a:path>
                <a:path w="133985" h="59690">
                  <a:moveTo>
                    <a:pt x="131927" y="3175"/>
                  </a:moveTo>
                  <a:lnTo>
                    <a:pt x="128701" y="3175"/>
                  </a:lnTo>
                  <a:lnTo>
                    <a:pt x="96532" y="56197"/>
                  </a:lnTo>
                  <a:lnTo>
                    <a:pt x="99691" y="56197"/>
                  </a:lnTo>
                  <a:lnTo>
                    <a:pt x="131927" y="3175"/>
                  </a:lnTo>
                  <a:close/>
                </a:path>
              </a:pathLst>
            </a:custGeom>
            <a:solidFill>
              <a:srgbClr val="879C82"/>
            </a:solidFill>
          </p:spPr>
          <p:txBody>
            <a:bodyPr wrap="square" lIns="0" tIns="0" rIns="0" bIns="0" rtlCol="0"/>
            <a:lstStyle/>
            <a:p/>
          </p:txBody>
        </p:sp>
        <p:sp>
          <p:nvSpPr>
            <p:cNvPr id="11" name="object 11" descr=""/>
            <p:cNvSpPr/>
            <p:nvPr/>
          </p:nvSpPr>
          <p:spPr>
            <a:xfrm>
              <a:off x="2192662" y="1429463"/>
              <a:ext cx="34290" cy="622935"/>
            </a:xfrm>
            <a:custGeom>
              <a:avLst/>
              <a:gdLst/>
              <a:ahLst/>
              <a:cxnLst/>
              <a:rect l="l" t="t" r="r" b="b"/>
              <a:pathLst>
                <a:path w="34289" h="622935">
                  <a:moveTo>
                    <a:pt x="34010" y="0"/>
                  </a:moveTo>
                  <a:lnTo>
                    <a:pt x="0" y="56273"/>
                  </a:lnTo>
                  <a:lnTo>
                    <a:pt x="0" y="622439"/>
                  </a:lnTo>
                  <a:lnTo>
                    <a:pt x="34010" y="566242"/>
                  </a:lnTo>
                  <a:lnTo>
                    <a:pt x="34010" y="0"/>
                  </a:lnTo>
                  <a:close/>
                </a:path>
              </a:pathLst>
            </a:custGeom>
            <a:ln w="4762">
              <a:solidFill>
                <a:srgbClr val="879C82"/>
              </a:solidFill>
            </a:ln>
          </p:spPr>
          <p:txBody>
            <a:bodyPr wrap="square" lIns="0" tIns="0" rIns="0" bIns="0" rtlCol="0"/>
            <a:lstStyle/>
            <a:p/>
          </p:txBody>
        </p:sp>
        <p:sp>
          <p:nvSpPr>
            <p:cNvPr id="12" name="object 12" descr=""/>
            <p:cNvSpPr/>
            <p:nvPr/>
          </p:nvSpPr>
          <p:spPr>
            <a:xfrm>
              <a:off x="2104885" y="160326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E0E6E2"/>
            </a:solidFill>
          </p:spPr>
          <p:txBody>
            <a:bodyPr wrap="square" lIns="0" tIns="0" rIns="0" bIns="0" rtlCol="0"/>
            <a:lstStyle/>
            <a:p/>
          </p:txBody>
        </p:sp>
        <p:sp>
          <p:nvSpPr>
            <p:cNvPr id="13" name="object 13" descr=""/>
            <p:cNvSpPr/>
            <p:nvPr/>
          </p:nvSpPr>
          <p:spPr>
            <a:xfrm>
              <a:off x="2103793" y="1601914"/>
              <a:ext cx="31115" cy="60960"/>
            </a:xfrm>
            <a:custGeom>
              <a:avLst/>
              <a:gdLst/>
              <a:ahLst/>
              <a:cxnLst/>
              <a:rect l="l" t="t" r="r" b="b"/>
              <a:pathLst>
                <a:path w="31114" h="60960">
                  <a:moveTo>
                    <a:pt x="30721" y="0"/>
                  </a:moveTo>
                  <a:lnTo>
                    <a:pt x="0" y="0"/>
                  </a:lnTo>
                  <a:lnTo>
                    <a:pt x="0" y="60629"/>
                  </a:lnTo>
                  <a:lnTo>
                    <a:pt x="30721" y="60629"/>
                  </a:lnTo>
                  <a:lnTo>
                    <a:pt x="30721" y="58927"/>
                  </a:lnTo>
                  <a:lnTo>
                    <a:pt x="1346" y="58927"/>
                  </a:lnTo>
                  <a:lnTo>
                    <a:pt x="1346" y="1536"/>
                  </a:lnTo>
                  <a:lnTo>
                    <a:pt x="30721" y="1536"/>
                  </a:lnTo>
                  <a:lnTo>
                    <a:pt x="30721" y="0"/>
                  </a:lnTo>
                  <a:close/>
                </a:path>
                <a:path w="31114" h="60960">
                  <a:moveTo>
                    <a:pt x="30721" y="1536"/>
                  </a:moveTo>
                  <a:lnTo>
                    <a:pt x="29349" y="1536"/>
                  </a:lnTo>
                  <a:lnTo>
                    <a:pt x="29349" y="58927"/>
                  </a:lnTo>
                  <a:lnTo>
                    <a:pt x="30721" y="58927"/>
                  </a:lnTo>
                  <a:lnTo>
                    <a:pt x="30721" y="1536"/>
                  </a:lnTo>
                  <a:close/>
                </a:path>
              </a:pathLst>
            </a:custGeom>
            <a:solidFill>
              <a:srgbClr val="879C82"/>
            </a:solidFill>
          </p:spPr>
          <p:txBody>
            <a:bodyPr wrap="square" lIns="0" tIns="0" rIns="0" bIns="0" rtlCol="0"/>
            <a:lstStyle/>
            <a:p/>
          </p:txBody>
        </p:sp>
        <p:sp>
          <p:nvSpPr>
            <p:cNvPr id="14" name="object 14" descr=""/>
            <p:cNvSpPr/>
            <p:nvPr/>
          </p:nvSpPr>
          <p:spPr>
            <a:xfrm>
              <a:off x="2149868" y="160326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E0E6E2"/>
            </a:solidFill>
          </p:spPr>
          <p:txBody>
            <a:bodyPr wrap="square" lIns="0" tIns="0" rIns="0" bIns="0" rtlCol="0"/>
            <a:lstStyle/>
            <a:p/>
          </p:txBody>
        </p:sp>
        <p:sp>
          <p:nvSpPr>
            <p:cNvPr id="15" name="object 15" descr=""/>
            <p:cNvSpPr/>
            <p:nvPr/>
          </p:nvSpPr>
          <p:spPr>
            <a:xfrm>
              <a:off x="2148776" y="1601914"/>
              <a:ext cx="31115" cy="60960"/>
            </a:xfrm>
            <a:custGeom>
              <a:avLst/>
              <a:gdLst/>
              <a:ahLst/>
              <a:cxnLst/>
              <a:rect l="l" t="t" r="r" b="b"/>
              <a:pathLst>
                <a:path w="31114" h="60960">
                  <a:moveTo>
                    <a:pt x="30721" y="0"/>
                  </a:moveTo>
                  <a:lnTo>
                    <a:pt x="0" y="0"/>
                  </a:lnTo>
                  <a:lnTo>
                    <a:pt x="0" y="60629"/>
                  </a:lnTo>
                  <a:lnTo>
                    <a:pt x="30721" y="60629"/>
                  </a:lnTo>
                  <a:lnTo>
                    <a:pt x="30721" y="58927"/>
                  </a:lnTo>
                  <a:lnTo>
                    <a:pt x="1358" y="58927"/>
                  </a:lnTo>
                  <a:lnTo>
                    <a:pt x="1358" y="1536"/>
                  </a:lnTo>
                  <a:lnTo>
                    <a:pt x="30721" y="1536"/>
                  </a:lnTo>
                  <a:lnTo>
                    <a:pt x="30721" y="0"/>
                  </a:lnTo>
                  <a:close/>
                </a:path>
                <a:path w="31114" h="60960">
                  <a:moveTo>
                    <a:pt x="30721" y="1536"/>
                  </a:moveTo>
                  <a:lnTo>
                    <a:pt x="29362" y="1536"/>
                  </a:lnTo>
                  <a:lnTo>
                    <a:pt x="29362" y="58927"/>
                  </a:lnTo>
                  <a:lnTo>
                    <a:pt x="30721" y="58927"/>
                  </a:lnTo>
                  <a:lnTo>
                    <a:pt x="30721" y="1536"/>
                  </a:lnTo>
                  <a:close/>
                </a:path>
              </a:pathLst>
            </a:custGeom>
            <a:solidFill>
              <a:srgbClr val="879C82"/>
            </a:solidFill>
          </p:spPr>
          <p:txBody>
            <a:bodyPr wrap="square" lIns="0" tIns="0" rIns="0" bIns="0" rtlCol="0"/>
            <a:lstStyle/>
            <a:p/>
          </p:txBody>
        </p:sp>
        <p:sp>
          <p:nvSpPr>
            <p:cNvPr id="16" name="object 16" descr=""/>
            <p:cNvSpPr/>
            <p:nvPr/>
          </p:nvSpPr>
          <p:spPr>
            <a:xfrm>
              <a:off x="2104885" y="1702955"/>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E0E6E2"/>
            </a:solidFill>
          </p:spPr>
          <p:txBody>
            <a:bodyPr wrap="square" lIns="0" tIns="0" rIns="0" bIns="0" rtlCol="0"/>
            <a:lstStyle/>
            <a:p/>
          </p:txBody>
        </p:sp>
        <p:sp>
          <p:nvSpPr>
            <p:cNvPr id="17" name="object 17" descr=""/>
            <p:cNvSpPr/>
            <p:nvPr/>
          </p:nvSpPr>
          <p:spPr>
            <a:xfrm>
              <a:off x="2103793" y="1701609"/>
              <a:ext cx="31115" cy="59690"/>
            </a:xfrm>
            <a:custGeom>
              <a:avLst/>
              <a:gdLst/>
              <a:ahLst/>
              <a:cxnLst/>
              <a:rect l="l" t="t" r="r" b="b"/>
              <a:pathLst>
                <a:path w="31114" h="59689">
                  <a:moveTo>
                    <a:pt x="30721" y="0"/>
                  </a:moveTo>
                  <a:lnTo>
                    <a:pt x="0" y="0"/>
                  </a:lnTo>
                  <a:lnTo>
                    <a:pt x="0" y="59283"/>
                  </a:lnTo>
                  <a:lnTo>
                    <a:pt x="30721" y="59283"/>
                  </a:lnTo>
                  <a:lnTo>
                    <a:pt x="30721" y="57785"/>
                  </a:lnTo>
                  <a:lnTo>
                    <a:pt x="1346" y="57785"/>
                  </a:lnTo>
                  <a:lnTo>
                    <a:pt x="1346" y="1587"/>
                  </a:lnTo>
                  <a:lnTo>
                    <a:pt x="30721" y="1587"/>
                  </a:lnTo>
                  <a:lnTo>
                    <a:pt x="30721" y="0"/>
                  </a:lnTo>
                  <a:close/>
                </a:path>
                <a:path w="31114" h="59689">
                  <a:moveTo>
                    <a:pt x="30721" y="1587"/>
                  </a:moveTo>
                  <a:lnTo>
                    <a:pt x="29349" y="1587"/>
                  </a:lnTo>
                  <a:lnTo>
                    <a:pt x="29349" y="57785"/>
                  </a:lnTo>
                  <a:lnTo>
                    <a:pt x="30721" y="57785"/>
                  </a:lnTo>
                  <a:lnTo>
                    <a:pt x="30721" y="1587"/>
                  </a:lnTo>
                  <a:close/>
                </a:path>
              </a:pathLst>
            </a:custGeom>
            <a:solidFill>
              <a:srgbClr val="879C82"/>
            </a:solidFill>
          </p:spPr>
          <p:txBody>
            <a:bodyPr wrap="square" lIns="0" tIns="0" rIns="0" bIns="0" rtlCol="0"/>
            <a:lstStyle/>
            <a:p/>
          </p:txBody>
        </p:sp>
        <p:sp>
          <p:nvSpPr>
            <p:cNvPr id="18" name="object 18" descr=""/>
            <p:cNvSpPr/>
            <p:nvPr/>
          </p:nvSpPr>
          <p:spPr>
            <a:xfrm>
              <a:off x="2149868" y="1702955"/>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E0E6E2"/>
            </a:solidFill>
          </p:spPr>
          <p:txBody>
            <a:bodyPr wrap="square" lIns="0" tIns="0" rIns="0" bIns="0" rtlCol="0"/>
            <a:lstStyle/>
            <a:p/>
          </p:txBody>
        </p:sp>
        <p:sp>
          <p:nvSpPr>
            <p:cNvPr id="19" name="object 19" descr=""/>
            <p:cNvSpPr/>
            <p:nvPr/>
          </p:nvSpPr>
          <p:spPr>
            <a:xfrm>
              <a:off x="2148776" y="1701609"/>
              <a:ext cx="31115" cy="59690"/>
            </a:xfrm>
            <a:custGeom>
              <a:avLst/>
              <a:gdLst/>
              <a:ahLst/>
              <a:cxnLst/>
              <a:rect l="l" t="t" r="r" b="b"/>
              <a:pathLst>
                <a:path w="31114" h="59689">
                  <a:moveTo>
                    <a:pt x="30721" y="0"/>
                  </a:moveTo>
                  <a:lnTo>
                    <a:pt x="0" y="0"/>
                  </a:lnTo>
                  <a:lnTo>
                    <a:pt x="0" y="59283"/>
                  </a:lnTo>
                  <a:lnTo>
                    <a:pt x="30721" y="59283"/>
                  </a:lnTo>
                  <a:lnTo>
                    <a:pt x="30721" y="57785"/>
                  </a:lnTo>
                  <a:lnTo>
                    <a:pt x="1358" y="57785"/>
                  </a:lnTo>
                  <a:lnTo>
                    <a:pt x="1358" y="1587"/>
                  </a:lnTo>
                  <a:lnTo>
                    <a:pt x="30721" y="1587"/>
                  </a:lnTo>
                  <a:lnTo>
                    <a:pt x="30721" y="0"/>
                  </a:lnTo>
                  <a:close/>
                </a:path>
                <a:path w="31114" h="59689">
                  <a:moveTo>
                    <a:pt x="30721" y="1587"/>
                  </a:moveTo>
                  <a:lnTo>
                    <a:pt x="29362" y="1587"/>
                  </a:lnTo>
                  <a:lnTo>
                    <a:pt x="29362" y="57785"/>
                  </a:lnTo>
                  <a:lnTo>
                    <a:pt x="30721" y="57785"/>
                  </a:lnTo>
                  <a:lnTo>
                    <a:pt x="30721" y="1587"/>
                  </a:lnTo>
                  <a:close/>
                </a:path>
              </a:pathLst>
            </a:custGeom>
            <a:solidFill>
              <a:srgbClr val="879C82"/>
            </a:solidFill>
          </p:spPr>
          <p:txBody>
            <a:bodyPr wrap="square" lIns="0" tIns="0" rIns="0" bIns="0" rtlCol="0"/>
            <a:lstStyle/>
            <a:p/>
          </p:txBody>
        </p:sp>
        <p:sp>
          <p:nvSpPr>
            <p:cNvPr id="20" name="object 20" descr=""/>
            <p:cNvSpPr/>
            <p:nvPr/>
          </p:nvSpPr>
          <p:spPr>
            <a:xfrm>
              <a:off x="2104885" y="1802663"/>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E0E6E2"/>
            </a:solidFill>
          </p:spPr>
          <p:txBody>
            <a:bodyPr wrap="square" lIns="0" tIns="0" rIns="0" bIns="0" rtlCol="0"/>
            <a:lstStyle/>
            <a:p/>
          </p:txBody>
        </p:sp>
        <p:sp>
          <p:nvSpPr>
            <p:cNvPr id="21" name="object 21" descr=""/>
            <p:cNvSpPr/>
            <p:nvPr/>
          </p:nvSpPr>
          <p:spPr>
            <a:xfrm>
              <a:off x="2103793" y="1801317"/>
              <a:ext cx="31115" cy="59690"/>
            </a:xfrm>
            <a:custGeom>
              <a:avLst/>
              <a:gdLst/>
              <a:ahLst/>
              <a:cxnLst/>
              <a:rect l="l" t="t" r="r" b="b"/>
              <a:pathLst>
                <a:path w="31114" h="59689">
                  <a:moveTo>
                    <a:pt x="30721" y="0"/>
                  </a:moveTo>
                  <a:lnTo>
                    <a:pt x="0" y="0"/>
                  </a:lnTo>
                  <a:lnTo>
                    <a:pt x="0" y="59283"/>
                  </a:lnTo>
                  <a:lnTo>
                    <a:pt x="30721" y="59283"/>
                  </a:lnTo>
                  <a:lnTo>
                    <a:pt x="30721" y="57696"/>
                  </a:lnTo>
                  <a:lnTo>
                    <a:pt x="1346" y="57696"/>
                  </a:lnTo>
                  <a:lnTo>
                    <a:pt x="1346" y="1574"/>
                  </a:lnTo>
                  <a:lnTo>
                    <a:pt x="30721" y="1574"/>
                  </a:lnTo>
                  <a:lnTo>
                    <a:pt x="30721" y="0"/>
                  </a:lnTo>
                  <a:close/>
                </a:path>
                <a:path w="31114" h="59689">
                  <a:moveTo>
                    <a:pt x="30721" y="1574"/>
                  </a:moveTo>
                  <a:lnTo>
                    <a:pt x="29349" y="1574"/>
                  </a:lnTo>
                  <a:lnTo>
                    <a:pt x="29349" y="57696"/>
                  </a:lnTo>
                  <a:lnTo>
                    <a:pt x="30721" y="57696"/>
                  </a:lnTo>
                  <a:lnTo>
                    <a:pt x="30721" y="1574"/>
                  </a:lnTo>
                  <a:close/>
                </a:path>
              </a:pathLst>
            </a:custGeom>
            <a:solidFill>
              <a:srgbClr val="879C82"/>
            </a:solidFill>
          </p:spPr>
          <p:txBody>
            <a:bodyPr wrap="square" lIns="0" tIns="0" rIns="0" bIns="0" rtlCol="0"/>
            <a:lstStyle/>
            <a:p/>
          </p:txBody>
        </p:sp>
        <p:sp>
          <p:nvSpPr>
            <p:cNvPr id="22" name="object 22" descr=""/>
            <p:cNvSpPr/>
            <p:nvPr/>
          </p:nvSpPr>
          <p:spPr>
            <a:xfrm>
              <a:off x="2149868" y="1802663"/>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E0E6E2"/>
            </a:solidFill>
          </p:spPr>
          <p:txBody>
            <a:bodyPr wrap="square" lIns="0" tIns="0" rIns="0" bIns="0" rtlCol="0"/>
            <a:lstStyle/>
            <a:p/>
          </p:txBody>
        </p:sp>
        <p:sp>
          <p:nvSpPr>
            <p:cNvPr id="23" name="object 23" descr=""/>
            <p:cNvSpPr/>
            <p:nvPr/>
          </p:nvSpPr>
          <p:spPr>
            <a:xfrm>
              <a:off x="2148776" y="1801317"/>
              <a:ext cx="31115" cy="59690"/>
            </a:xfrm>
            <a:custGeom>
              <a:avLst/>
              <a:gdLst/>
              <a:ahLst/>
              <a:cxnLst/>
              <a:rect l="l" t="t" r="r" b="b"/>
              <a:pathLst>
                <a:path w="31114" h="59689">
                  <a:moveTo>
                    <a:pt x="30721" y="0"/>
                  </a:moveTo>
                  <a:lnTo>
                    <a:pt x="0" y="0"/>
                  </a:lnTo>
                  <a:lnTo>
                    <a:pt x="0" y="59283"/>
                  </a:lnTo>
                  <a:lnTo>
                    <a:pt x="30721" y="59283"/>
                  </a:lnTo>
                  <a:lnTo>
                    <a:pt x="30721" y="57696"/>
                  </a:lnTo>
                  <a:lnTo>
                    <a:pt x="1358" y="57696"/>
                  </a:lnTo>
                  <a:lnTo>
                    <a:pt x="1358" y="1574"/>
                  </a:lnTo>
                  <a:lnTo>
                    <a:pt x="30721" y="1574"/>
                  </a:lnTo>
                  <a:lnTo>
                    <a:pt x="30721" y="0"/>
                  </a:lnTo>
                  <a:close/>
                </a:path>
                <a:path w="31114" h="59689">
                  <a:moveTo>
                    <a:pt x="30721" y="1574"/>
                  </a:moveTo>
                  <a:lnTo>
                    <a:pt x="29362" y="1574"/>
                  </a:lnTo>
                  <a:lnTo>
                    <a:pt x="29362" y="57696"/>
                  </a:lnTo>
                  <a:lnTo>
                    <a:pt x="30721" y="57696"/>
                  </a:lnTo>
                  <a:lnTo>
                    <a:pt x="30721" y="1574"/>
                  </a:lnTo>
                  <a:close/>
                </a:path>
              </a:pathLst>
            </a:custGeom>
            <a:solidFill>
              <a:srgbClr val="879C82"/>
            </a:solidFill>
          </p:spPr>
          <p:txBody>
            <a:bodyPr wrap="square" lIns="0" tIns="0" rIns="0" bIns="0" rtlCol="0"/>
            <a:lstStyle/>
            <a:p/>
          </p:txBody>
        </p:sp>
        <p:sp>
          <p:nvSpPr>
            <p:cNvPr id="24" name="object 24" descr=""/>
            <p:cNvSpPr/>
            <p:nvPr/>
          </p:nvSpPr>
          <p:spPr>
            <a:xfrm>
              <a:off x="2192654" y="936358"/>
              <a:ext cx="189230" cy="1115695"/>
            </a:xfrm>
            <a:custGeom>
              <a:avLst/>
              <a:gdLst/>
              <a:ahLst/>
              <a:cxnLst/>
              <a:rect l="l" t="t" r="r" b="b"/>
              <a:pathLst>
                <a:path w="189230" h="1115695">
                  <a:moveTo>
                    <a:pt x="188721" y="0"/>
                  </a:moveTo>
                  <a:lnTo>
                    <a:pt x="0" y="0"/>
                  </a:lnTo>
                  <a:lnTo>
                    <a:pt x="0" y="1115542"/>
                  </a:lnTo>
                  <a:lnTo>
                    <a:pt x="188721" y="1115542"/>
                  </a:lnTo>
                  <a:lnTo>
                    <a:pt x="188721" y="0"/>
                  </a:lnTo>
                  <a:close/>
                </a:path>
              </a:pathLst>
            </a:custGeom>
            <a:solidFill>
              <a:srgbClr val="BFCCC0"/>
            </a:solidFill>
          </p:spPr>
          <p:txBody>
            <a:bodyPr wrap="square" lIns="0" tIns="0" rIns="0" bIns="0" rtlCol="0"/>
            <a:lstStyle/>
            <a:p/>
          </p:txBody>
        </p:sp>
        <p:sp>
          <p:nvSpPr>
            <p:cNvPr id="25" name="object 25" descr=""/>
            <p:cNvSpPr/>
            <p:nvPr/>
          </p:nvSpPr>
          <p:spPr>
            <a:xfrm>
              <a:off x="2191550" y="935176"/>
              <a:ext cx="191135" cy="1117600"/>
            </a:xfrm>
            <a:custGeom>
              <a:avLst/>
              <a:gdLst/>
              <a:ahLst/>
              <a:cxnLst/>
              <a:rect l="l" t="t" r="r" b="b"/>
              <a:pathLst>
                <a:path w="191135" h="1117600">
                  <a:moveTo>
                    <a:pt x="190919" y="3009"/>
                  </a:moveTo>
                  <a:lnTo>
                    <a:pt x="188328" y="3009"/>
                  </a:lnTo>
                  <a:lnTo>
                    <a:pt x="188328" y="1114907"/>
                  </a:lnTo>
                  <a:lnTo>
                    <a:pt x="190919" y="1114907"/>
                  </a:lnTo>
                  <a:lnTo>
                    <a:pt x="190919" y="3009"/>
                  </a:lnTo>
                  <a:close/>
                </a:path>
                <a:path w="191135" h="1117600">
                  <a:moveTo>
                    <a:pt x="190919" y="0"/>
                  </a:moveTo>
                  <a:lnTo>
                    <a:pt x="520" y="0"/>
                  </a:lnTo>
                  <a:lnTo>
                    <a:pt x="520" y="2540"/>
                  </a:lnTo>
                  <a:lnTo>
                    <a:pt x="266" y="2540"/>
                  </a:lnTo>
                  <a:lnTo>
                    <a:pt x="266" y="1115060"/>
                  </a:lnTo>
                  <a:lnTo>
                    <a:pt x="0" y="1115060"/>
                  </a:lnTo>
                  <a:lnTo>
                    <a:pt x="0" y="1117600"/>
                  </a:lnTo>
                  <a:lnTo>
                    <a:pt x="190919" y="1117600"/>
                  </a:lnTo>
                  <a:lnTo>
                    <a:pt x="190919" y="1115060"/>
                  </a:lnTo>
                  <a:lnTo>
                    <a:pt x="2578" y="1115060"/>
                  </a:lnTo>
                  <a:lnTo>
                    <a:pt x="2578" y="2540"/>
                  </a:lnTo>
                  <a:lnTo>
                    <a:pt x="190919" y="2540"/>
                  </a:lnTo>
                  <a:lnTo>
                    <a:pt x="190919" y="0"/>
                  </a:lnTo>
                  <a:close/>
                </a:path>
              </a:pathLst>
            </a:custGeom>
            <a:solidFill>
              <a:srgbClr val="879C82"/>
            </a:solidFill>
          </p:spPr>
          <p:txBody>
            <a:bodyPr wrap="square" lIns="0" tIns="0" rIns="0" bIns="0" rtlCol="0"/>
            <a:lstStyle/>
            <a:p/>
          </p:txBody>
        </p:sp>
        <p:sp>
          <p:nvSpPr>
            <p:cNvPr id="26" name="object 26" descr=""/>
            <p:cNvSpPr/>
            <p:nvPr/>
          </p:nvSpPr>
          <p:spPr>
            <a:xfrm>
              <a:off x="2192659" y="820499"/>
              <a:ext cx="260350" cy="116205"/>
            </a:xfrm>
            <a:custGeom>
              <a:avLst/>
              <a:gdLst/>
              <a:ahLst/>
              <a:cxnLst/>
              <a:rect l="l" t="t" r="r" b="b"/>
              <a:pathLst>
                <a:path w="260350" h="116205">
                  <a:moveTo>
                    <a:pt x="260032" y="0"/>
                  </a:moveTo>
                  <a:lnTo>
                    <a:pt x="71577" y="0"/>
                  </a:lnTo>
                  <a:lnTo>
                    <a:pt x="0" y="115862"/>
                  </a:lnTo>
                  <a:lnTo>
                    <a:pt x="188518" y="115862"/>
                  </a:lnTo>
                  <a:lnTo>
                    <a:pt x="260032" y="0"/>
                  </a:lnTo>
                  <a:close/>
                </a:path>
              </a:pathLst>
            </a:custGeom>
            <a:solidFill>
              <a:srgbClr val="E0E6E2"/>
            </a:solidFill>
          </p:spPr>
          <p:txBody>
            <a:bodyPr wrap="square" lIns="0" tIns="0" rIns="0" bIns="0" rtlCol="0"/>
            <a:lstStyle/>
            <a:p/>
          </p:txBody>
        </p:sp>
        <p:sp>
          <p:nvSpPr>
            <p:cNvPr id="27" name="object 27" descr=""/>
            <p:cNvSpPr/>
            <p:nvPr/>
          </p:nvSpPr>
          <p:spPr>
            <a:xfrm>
              <a:off x="2191566" y="819155"/>
              <a:ext cx="262255" cy="118745"/>
            </a:xfrm>
            <a:custGeom>
              <a:avLst/>
              <a:gdLst/>
              <a:ahLst/>
              <a:cxnLst/>
              <a:rect l="l" t="t" r="r" b="b"/>
              <a:pathLst>
                <a:path w="262255" h="118744">
                  <a:moveTo>
                    <a:pt x="262229" y="0"/>
                  </a:moveTo>
                  <a:lnTo>
                    <a:pt x="71666" y="0"/>
                  </a:lnTo>
                  <a:lnTo>
                    <a:pt x="94" y="115163"/>
                  </a:lnTo>
                  <a:lnTo>
                    <a:pt x="0" y="118554"/>
                  </a:lnTo>
                  <a:lnTo>
                    <a:pt x="189966" y="118313"/>
                  </a:lnTo>
                  <a:lnTo>
                    <a:pt x="190360" y="117614"/>
                  </a:lnTo>
                  <a:lnTo>
                    <a:pt x="191794" y="115315"/>
                  </a:lnTo>
                  <a:lnTo>
                    <a:pt x="191889" y="115163"/>
                  </a:lnTo>
                  <a:lnTo>
                    <a:pt x="3289" y="115163"/>
                  </a:lnTo>
                  <a:lnTo>
                    <a:pt x="72961" y="3149"/>
                  </a:lnTo>
                  <a:lnTo>
                    <a:pt x="261769" y="3149"/>
                  </a:lnTo>
                  <a:lnTo>
                    <a:pt x="262166" y="2514"/>
                  </a:lnTo>
                  <a:lnTo>
                    <a:pt x="262229" y="0"/>
                  </a:lnTo>
                  <a:close/>
                </a:path>
                <a:path w="262255" h="118744">
                  <a:moveTo>
                    <a:pt x="261769" y="3149"/>
                  </a:moveTo>
                  <a:lnTo>
                    <a:pt x="258356" y="3149"/>
                  </a:lnTo>
                  <a:lnTo>
                    <a:pt x="188747" y="115163"/>
                  </a:lnTo>
                  <a:lnTo>
                    <a:pt x="191889" y="115163"/>
                  </a:lnTo>
                  <a:lnTo>
                    <a:pt x="261769" y="3149"/>
                  </a:lnTo>
                  <a:close/>
                </a:path>
              </a:pathLst>
            </a:custGeom>
            <a:solidFill>
              <a:srgbClr val="879C82"/>
            </a:solidFill>
          </p:spPr>
          <p:txBody>
            <a:bodyPr wrap="square" lIns="0" tIns="0" rIns="0" bIns="0" rtlCol="0"/>
            <a:lstStyle/>
            <a:p/>
          </p:txBody>
        </p:sp>
        <p:sp>
          <p:nvSpPr>
            <p:cNvPr id="28" name="object 28" descr=""/>
            <p:cNvSpPr/>
            <p:nvPr/>
          </p:nvSpPr>
          <p:spPr>
            <a:xfrm>
              <a:off x="2381371" y="820497"/>
              <a:ext cx="71755" cy="1231900"/>
            </a:xfrm>
            <a:custGeom>
              <a:avLst/>
              <a:gdLst/>
              <a:ahLst/>
              <a:cxnLst/>
              <a:rect l="l" t="t" r="r" b="b"/>
              <a:pathLst>
                <a:path w="71755" h="1231900">
                  <a:moveTo>
                    <a:pt x="71323" y="0"/>
                  </a:moveTo>
                  <a:lnTo>
                    <a:pt x="0" y="115849"/>
                  </a:lnTo>
                  <a:lnTo>
                    <a:pt x="0" y="1231404"/>
                  </a:lnTo>
                  <a:lnTo>
                    <a:pt x="71069" y="1126261"/>
                  </a:lnTo>
                  <a:lnTo>
                    <a:pt x="71323" y="0"/>
                  </a:lnTo>
                  <a:close/>
                </a:path>
              </a:pathLst>
            </a:custGeom>
            <a:solidFill>
              <a:srgbClr val="A5B8A6"/>
            </a:solidFill>
          </p:spPr>
          <p:txBody>
            <a:bodyPr wrap="square" lIns="0" tIns="0" rIns="0" bIns="0" rtlCol="0"/>
            <a:lstStyle/>
            <a:p/>
          </p:txBody>
        </p:sp>
        <p:sp>
          <p:nvSpPr>
            <p:cNvPr id="29" name="object 29" descr=""/>
            <p:cNvSpPr/>
            <p:nvPr/>
          </p:nvSpPr>
          <p:spPr>
            <a:xfrm>
              <a:off x="2380278" y="819151"/>
              <a:ext cx="73660" cy="1233170"/>
            </a:xfrm>
            <a:custGeom>
              <a:avLst/>
              <a:gdLst/>
              <a:ahLst/>
              <a:cxnLst/>
              <a:rect l="l" t="t" r="r" b="b"/>
              <a:pathLst>
                <a:path w="73660" h="1233170">
                  <a:moveTo>
                    <a:pt x="71208" y="0"/>
                  </a:moveTo>
                  <a:lnTo>
                    <a:pt x="253" y="115709"/>
                  </a:lnTo>
                  <a:lnTo>
                    <a:pt x="0" y="116662"/>
                  </a:lnTo>
                  <a:lnTo>
                    <a:pt x="0" y="1231722"/>
                  </a:lnTo>
                  <a:lnTo>
                    <a:pt x="2235" y="1232750"/>
                  </a:lnTo>
                  <a:lnTo>
                    <a:pt x="5806" y="1227442"/>
                  </a:lnTo>
                  <a:lnTo>
                    <a:pt x="2565" y="1227442"/>
                  </a:lnTo>
                  <a:lnTo>
                    <a:pt x="2565" y="117144"/>
                  </a:lnTo>
                  <a:lnTo>
                    <a:pt x="70954" y="5626"/>
                  </a:lnTo>
                  <a:lnTo>
                    <a:pt x="73519" y="5626"/>
                  </a:lnTo>
                  <a:lnTo>
                    <a:pt x="73520" y="876"/>
                  </a:lnTo>
                  <a:lnTo>
                    <a:pt x="71208" y="0"/>
                  </a:lnTo>
                  <a:close/>
                </a:path>
                <a:path w="73660" h="1233170">
                  <a:moveTo>
                    <a:pt x="73519" y="5626"/>
                  </a:moveTo>
                  <a:lnTo>
                    <a:pt x="70954" y="5626"/>
                  </a:lnTo>
                  <a:lnTo>
                    <a:pt x="70700" y="1126070"/>
                  </a:lnTo>
                  <a:lnTo>
                    <a:pt x="2565" y="1227442"/>
                  </a:lnTo>
                  <a:lnTo>
                    <a:pt x="5806" y="1227442"/>
                  </a:lnTo>
                  <a:lnTo>
                    <a:pt x="72936" y="1127658"/>
                  </a:lnTo>
                  <a:lnTo>
                    <a:pt x="73253" y="1126629"/>
                  </a:lnTo>
                  <a:lnTo>
                    <a:pt x="73492" y="117144"/>
                  </a:lnTo>
                  <a:lnTo>
                    <a:pt x="73519" y="5626"/>
                  </a:lnTo>
                  <a:close/>
                </a:path>
              </a:pathLst>
            </a:custGeom>
            <a:solidFill>
              <a:srgbClr val="879C82"/>
            </a:solidFill>
          </p:spPr>
          <p:txBody>
            <a:bodyPr wrap="square" lIns="0" tIns="0" rIns="0" bIns="0" rtlCol="0"/>
            <a:lstStyle/>
            <a:p/>
          </p:txBody>
        </p:sp>
        <p:sp>
          <p:nvSpPr>
            <p:cNvPr id="30" name="object 30" descr=""/>
            <p:cNvSpPr/>
            <p:nvPr/>
          </p:nvSpPr>
          <p:spPr>
            <a:xfrm>
              <a:off x="2205824" y="1018539"/>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31" name="object 31" descr=""/>
            <p:cNvSpPr/>
            <p:nvPr/>
          </p:nvSpPr>
          <p:spPr>
            <a:xfrm>
              <a:off x="2204732" y="1018539"/>
              <a:ext cx="31115" cy="59690"/>
            </a:xfrm>
            <a:custGeom>
              <a:avLst/>
              <a:gdLst/>
              <a:ahLst/>
              <a:cxnLst/>
              <a:rect l="l" t="t" r="r" b="b"/>
              <a:pathLst>
                <a:path w="31114" h="59690">
                  <a:moveTo>
                    <a:pt x="30721" y="0"/>
                  </a:moveTo>
                  <a:lnTo>
                    <a:pt x="0" y="0"/>
                  </a:lnTo>
                  <a:lnTo>
                    <a:pt x="0" y="59283"/>
                  </a:lnTo>
                  <a:lnTo>
                    <a:pt x="30721" y="59283"/>
                  </a:lnTo>
                  <a:lnTo>
                    <a:pt x="30721" y="57708"/>
                  </a:lnTo>
                  <a:lnTo>
                    <a:pt x="1295" y="57708"/>
                  </a:lnTo>
                  <a:lnTo>
                    <a:pt x="1295" y="1587"/>
                  </a:lnTo>
                  <a:lnTo>
                    <a:pt x="30721" y="1587"/>
                  </a:lnTo>
                  <a:lnTo>
                    <a:pt x="30721" y="0"/>
                  </a:lnTo>
                  <a:close/>
                </a:path>
                <a:path w="31114" h="59690">
                  <a:moveTo>
                    <a:pt x="30721" y="1587"/>
                  </a:moveTo>
                  <a:lnTo>
                    <a:pt x="29413" y="1587"/>
                  </a:lnTo>
                  <a:lnTo>
                    <a:pt x="29413" y="57708"/>
                  </a:lnTo>
                  <a:lnTo>
                    <a:pt x="30721" y="57708"/>
                  </a:lnTo>
                  <a:lnTo>
                    <a:pt x="30721" y="1587"/>
                  </a:lnTo>
                  <a:close/>
                </a:path>
              </a:pathLst>
            </a:custGeom>
            <a:solidFill>
              <a:srgbClr val="879C82"/>
            </a:solidFill>
          </p:spPr>
          <p:txBody>
            <a:bodyPr wrap="square" lIns="0" tIns="0" rIns="0" bIns="0" rtlCol="0"/>
            <a:lstStyle/>
            <a:p/>
          </p:txBody>
        </p:sp>
        <p:sp>
          <p:nvSpPr>
            <p:cNvPr id="32" name="object 32" descr=""/>
            <p:cNvSpPr/>
            <p:nvPr/>
          </p:nvSpPr>
          <p:spPr>
            <a:xfrm>
              <a:off x="2250808" y="1018539"/>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33" name="object 33" descr=""/>
            <p:cNvSpPr/>
            <p:nvPr/>
          </p:nvSpPr>
          <p:spPr>
            <a:xfrm>
              <a:off x="2249716" y="1018539"/>
              <a:ext cx="31115" cy="59690"/>
            </a:xfrm>
            <a:custGeom>
              <a:avLst/>
              <a:gdLst/>
              <a:ahLst/>
              <a:cxnLst/>
              <a:rect l="l" t="t" r="r" b="b"/>
              <a:pathLst>
                <a:path w="31114" h="59690">
                  <a:moveTo>
                    <a:pt x="30721" y="0"/>
                  </a:moveTo>
                  <a:lnTo>
                    <a:pt x="0" y="0"/>
                  </a:lnTo>
                  <a:lnTo>
                    <a:pt x="0" y="59283"/>
                  </a:lnTo>
                  <a:lnTo>
                    <a:pt x="30721" y="59283"/>
                  </a:lnTo>
                  <a:lnTo>
                    <a:pt x="30721" y="57708"/>
                  </a:lnTo>
                  <a:lnTo>
                    <a:pt x="1295" y="57708"/>
                  </a:lnTo>
                  <a:lnTo>
                    <a:pt x="1295" y="1587"/>
                  </a:lnTo>
                  <a:lnTo>
                    <a:pt x="30721" y="1587"/>
                  </a:lnTo>
                  <a:lnTo>
                    <a:pt x="30721" y="0"/>
                  </a:lnTo>
                  <a:close/>
                </a:path>
                <a:path w="31114" h="59690">
                  <a:moveTo>
                    <a:pt x="30721" y="1587"/>
                  </a:moveTo>
                  <a:lnTo>
                    <a:pt x="29425" y="1587"/>
                  </a:lnTo>
                  <a:lnTo>
                    <a:pt x="29425" y="57708"/>
                  </a:lnTo>
                  <a:lnTo>
                    <a:pt x="30721" y="57708"/>
                  </a:lnTo>
                  <a:lnTo>
                    <a:pt x="30721" y="1587"/>
                  </a:lnTo>
                  <a:close/>
                </a:path>
              </a:pathLst>
            </a:custGeom>
            <a:solidFill>
              <a:srgbClr val="879C82"/>
            </a:solidFill>
          </p:spPr>
          <p:txBody>
            <a:bodyPr wrap="square" lIns="0" tIns="0" rIns="0" bIns="0" rtlCol="0"/>
            <a:lstStyle/>
            <a:p/>
          </p:txBody>
        </p:sp>
        <p:sp>
          <p:nvSpPr>
            <p:cNvPr id="34" name="object 34" descr=""/>
            <p:cNvSpPr/>
            <p:nvPr/>
          </p:nvSpPr>
          <p:spPr>
            <a:xfrm>
              <a:off x="2295791" y="1018539"/>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35" name="object 35" descr=""/>
            <p:cNvSpPr/>
            <p:nvPr/>
          </p:nvSpPr>
          <p:spPr>
            <a:xfrm>
              <a:off x="2294699" y="1018539"/>
              <a:ext cx="31115" cy="59690"/>
            </a:xfrm>
            <a:custGeom>
              <a:avLst/>
              <a:gdLst/>
              <a:ahLst/>
              <a:cxnLst/>
              <a:rect l="l" t="t" r="r" b="b"/>
              <a:pathLst>
                <a:path w="31114" h="59690">
                  <a:moveTo>
                    <a:pt x="30721" y="0"/>
                  </a:moveTo>
                  <a:lnTo>
                    <a:pt x="0" y="0"/>
                  </a:lnTo>
                  <a:lnTo>
                    <a:pt x="0" y="59283"/>
                  </a:lnTo>
                  <a:lnTo>
                    <a:pt x="30721" y="59283"/>
                  </a:lnTo>
                  <a:lnTo>
                    <a:pt x="30721" y="57708"/>
                  </a:lnTo>
                  <a:lnTo>
                    <a:pt x="1295" y="57708"/>
                  </a:lnTo>
                  <a:lnTo>
                    <a:pt x="1295" y="1587"/>
                  </a:lnTo>
                  <a:lnTo>
                    <a:pt x="30721" y="1587"/>
                  </a:lnTo>
                  <a:lnTo>
                    <a:pt x="30721" y="0"/>
                  </a:lnTo>
                  <a:close/>
                </a:path>
                <a:path w="31114" h="59690">
                  <a:moveTo>
                    <a:pt x="30721" y="1587"/>
                  </a:moveTo>
                  <a:lnTo>
                    <a:pt x="29425" y="1587"/>
                  </a:lnTo>
                  <a:lnTo>
                    <a:pt x="29425" y="57708"/>
                  </a:lnTo>
                  <a:lnTo>
                    <a:pt x="30721" y="57708"/>
                  </a:lnTo>
                  <a:lnTo>
                    <a:pt x="30721" y="1587"/>
                  </a:lnTo>
                  <a:close/>
                </a:path>
              </a:pathLst>
            </a:custGeom>
            <a:solidFill>
              <a:srgbClr val="879C82"/>
            </a:solidFill>
          </p:spPr>
          <p:txBody>
            <a:bodyPr wrap="square" lIns="0" tIns="0" rIns="0" bIns="0" rtlCol="0"/>
            <a:lstStyle/>
            <a:p/>
          </p:txBody>
        </p:sp>
        <p:sp>
          <p:nvSpPr>
            <p:cNvPr id="36" name="object 36" descr=""/>
            <p:cNvSpPr/>
            <p:nvPr/>
          </p:nvSpPr>
          <p:spPr>
            <a:xfrm>
              <a:off x="2340775" y="1018539"/>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37" name="object 37" descr=""/>
            <p:cNvSpPr/>
            <p:nvPr/>
          </p:nvSpPr>
          <p:spPr>
            <a:xfrm>
              <a:off x="2339682" y="1018539"/>
              <a:ext cx="31115" cy="59690"/>
            </a:xfrm>
            <a:custGeom>
              <a:avLst/>
              <a:gdLst/>
              <a:ahLst/>
              <a:cxnLst/>
              <a:rect l="l" t="t" r="r" b="b"/>
              <a:pathLst>
                <a:path w="31114" h="59690">
                  <a:moveTo>
                    <a:pt x="30721" y="0"/>
                  </a:moveTo>
                  <a:lnTo>
                    <a:pt x="0" y="0"/>
                  </a:lnTo>
                  <a:lnTo>
                    <a:pt x="0" y="59283"/>
                  </a:lnTo>
                  <a:lnTo>
                    <a:pt x="30721" y="59283"/>
                  </a:lnTo>
                  <a:lnTo>
                    <a:pt x="30721" y="57708"/>
                  </a:lnTo>
                  <a:lnTo>
                    <a:pt x="1358" y="57708"/>
                  </a:lnTo>
                  <a:lnTo>
                    <a:pt x="1358" y="1587"/>
                  </a:lnTo>
                  <a:lnTo>
                    <a:pt x="30721" y="1587"/>
                  </a:lnTo>
                  <a:lnTo>
                    <a:pt x="30721" y="0"/>
                  </a:lnTo>
                  <a:close/>
                </a:path>
                <a:path w="31114" h="59690">
                  <a:moveTo>
                    <a:pt x="30721" y="1587"/>
                  </a:moveTo>
                  <a:lnTo>
                    <a:pt x="29362" y="1587"/>
                  </a:lnTo>
                  <a:lnTo>
                    <a:pt x="29362" y="57708"/>
                  </a:lnTo>
                  <a:lnTo>
                    <a:pt x="30721" y="57708"/>
                  </a:lnTo>
                  <a:lnTo>
                    <a:pt x="30721" y="1587"/>
                  </a:lnTo>
                  <a:close/>
                </a:path>
              </a:pathLst>
            </a:custGeom>
            <a:solidFill>
              <a:srgbClr val="879C82"/>
            </a:solidFill>
          </p:spPr>
          <p:txBody>
            <a:bodyPr wrap="square" lIns="0" tIns="0" rIns="0" bIns="0" rtlCol="0"/>
            <a:lstStyle/>
            <a:p/>
          </p:txBody>
        </p:sp>
        <p:sp>
          <p:nvSpPr>
            <p:cNvPr id="38" name="object 38" descr=""/>
            <p:cNvSpPr/>
            <p:nvPr/>
          </p:nvSpPr>
          <p:spPr>
            <a:xfrm>
              <a:off x="2205824" y="1116901"/>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39" name="object 39" descr=""/>
            <p:cNvSpPr/>
            <p:nvPr/>
          </p:nvSpPr>
          <p:spPr>
            <a:xfrm>
              <a:off x="2204732" y="1115555"/>
              <a:ext cx="31115" cy="60960"/>
            </a:xfrm>
            <a:custGeom>
              <a:avLst/>
              <a:gdLst/>
              <a:ahLst/>
              <a:cxnLst/>
              <a:rect l="l" t="t" r="r" b="b"/>
              <a:pathLst>
                <a:path w="31114" h="60959">
                  <a:moveTo>
                    <a:pt x="30721" y="0"/>
                  </a:moveTo>
                  <a:lnTo>
                    <a:pt x="0" y="0"/>
                  </a:lnTo>
                  <a:lnTo>
                    <a:pt x="0" y="60629"/>
                  </a:lnTo>
                  <a:lnTo>
                    <a:pt x="30721" y="60629"/>
                  </a:lnTo>
                  <a:lnTo>
                    <a:pt x="30721" y="58927"/>
                  </a:lnTo>
                  <a:lnTo>
                    <a:pt x="1295" y="58927"/>
                  </a:lnTo>
                  <a:lnTo>
                    <a:pt x="1295" y="1612"/>
                  </a:lnTo>
                  <a:lnTo>
                    <a:pt x="30721" y="1612"/>
                  </a:lnTo>
                  <a:lnTo>
                    <a:pt x="30721" y="0"/>
                  </a:lnTo>
                  <a:close/>
                </a:path>
                <a:path w="31114" h="60959">
                  <a:moveTo>
                    <a:pt x="30721" y="1612"/>
                  </a:moveTo>
                  <a:lnTo>
                    <a:pt x="29413" y="1612"/>
                  </a:lnTo>
                  <a:lnTo>
                    <a:pt x="29413" y="58927"/>
                  </a:lnTo>
                  <a:lnTo>
                    <a:pt x="30721" y="58927"/>
                  </a:lnTo>
                  <a:lnTo>
                    <a:pt x="30721" y="1612"/>
                  </a:lnTo>
                  <a:close/>
                </a:path>
              </a:pathLst>
            </a:custGeom>
            <a:solidFill>
              <a:srgbClr val="879C82"/>
            </a:solidFill>
          </p:spPr>
          <p:txBody>
            <a:bodyPr wrap="square" lIns="0" tIns="0" rIns="0" bIns="0" rtlCol="0"/>
            <a:lstStyle/>
            <a:p/>
          </p:txBody>
        </p:sp>
        <p:sp>
          <p:nvSpPr>
            <p:cNvPr id="40" name="object 40" descr=""/>
            <p:cNvSpPr/>
            <p:nvPr/>
          </p:nvSpPr>
          <p:spPr>
            <a:xfrm>
              <a:off x="2250808" y="1116901"/>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41" name="object 41" descr=""/>
            <p:cNvSpPr/>
            <p:nvPr/>
          </p:nvSpPr>
          <p:spPr>
            <a:xfrm>
              <a:off x="2249716" y="1115555"/>
              <a:ext cx="31115" cy="60960"/>
            </a:xfrm>
            <a:custGeom>
              <a:avLst/>
              <a:gdLst/>
              <a:ahLst/>
              <a:cxnLst/>
              <a:rect l="l" t="t" r="r" b="b"/>
              <a:pathLst>
                <a:path w="31114" h="60959">
                  <a:moveTo>
                    <a:pt x="30721" y="0"/>
                  </a:moveTo>
                  <a:lnTo>
                    <a:pt x="0" y="0"/>
                  </a:lnTo>
                  <a:lnTo>
                    <a:pt x="0" y="60629"/>
                  </a:lnTo>
                  <a:lnTo>
                    <a:pt x="30721" y="60629"/>
                  </a:lnTo>
                  <a:lnTo>
                    <a:pt x="30721" y="58927"/>
                  </a:lnTo>
                  <a:lnTo>
                    <a:pt x="1295" y="58927"/>
                  </a:lnTo>
                  <a:lnTo>
                    <a:pt x="1295" y="1612"/>
                  </a:lnTo>
                  <a:lnTo>
                    <a:pt x="30721" y="1612"/>
                  </a:lnTo>
                  <a:lnTo>
                    <a:pt x="30721" y="0"/>
                  </a:lnTo>
                  <a:close/>
                </a:path>
                <a:path w="31114" h="60959">
                  <a:moveTo>
                    <a:pt x="30721" y="1612"/>
                  </a:moveTo>
                  <a:lnTo>
                    <a:pt x="29425" y="1612"/>
                  </a:lnTo>
                  <a:lnTo>
                    <a:pt x="29425" y="58927"/>
                  </a:lnTo>
                  <a:lnTo>
                    <a:pt x="30721" y="58927"/>
                  </a:lnTo>
                  <a:lnTo>
                    <a:pt x="30721" y="1612"/>
                  </a:lnTo>
                  <a:close/>
                </a:path>
              </a:pathLst>
            </a:custGeom>
            <a:solidFill>
              <a:srgbClr val="879C82"/>
            </a:solidFill>
          </p:spPr>
          <p:txBody>
            <a:bodyPr wrap="square" lIns="0" tIns="0" rIns="0" bIns="0" rtlCol="0"/>
            <a:lstStyle/>
            <a:p/>
          </p:txBody>
        </p:sp>
        <p:sp>
          <p:nvSpPr>
            <p:cNvPr id="42" name="object 42" descr=""/>
            <p:cNvSpPr/>
            <p:nvPr/>
          </p:nvSpPr>
          <p:spPr>
            <a:xfrm>
              <a:off x="2295791" y="1116901"/>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43" name="object 43" descr=""/>
            <p:cNvSpPr/>
            <p:nvPr/>
          </p:nvSpPr>
          <p:spPr>
            <a:xfrm>
              <a:off x="2294699" y="1115555"/>
              <a:ext cx="31115" cy="60960"/>
            </a:xfrm>
            <a:custGeom>
              <a:avLst/>
              <a:gdLst/>
              <a:ahLst/>
              <a:cxnLst/>
              <a:rect l="l" t="t" r="r" b="b"/>
              <a:pathLst>
                <a:path w="31114" h="60959">
                  <a:moveTo>
                    <a:pt x="30721" y="0"/>
                  </a:moveTo>
                  <a:lnTo>
                    <a:pt x="0" y="0"/>
                  </a:lnTo>
                  <a:lnTo>
                    <a:pt x="0" y="60629"/>
                  </a:lnTo>
                  <a:lnTo>
                    <a:pt x="30721" y="60629"/>
                  </a:lnTo>
                  <a:lnTo>
                    <a:pt x="30721" y="58927"/>
                  </a:lnTo>
                  <a:lnTo>
                    <a:pt x="1295" y="58927"/>
                  </a:lnTo>
                  <a:lnTo>
                    <a:pt x="1295" y="1612"/>
                  </a:lnTo>
                  <a:lnTo>
                    <a:pt x="30721" y="1612"/>
                  </a:lnTo>
                  <a:lnTo>
                    <a:pt x="30721" y="0"/>
                  </a:lnTo>
                  <a:close/>
                </a:path>
                <a:path w="31114" h="60959">
                  <a:moveTo>
                    <a:pt x="30721" y="1612"/>
                  </a:moveTo>
                  <a:lnTo>
                    <a:pt x="29425" y="1612"/>
                  </a:lnTo>
                  <a:lnTo>
                    <a:pt x="29425" y="58927"/>
                  </a:lnTo>
                  <a:lnTo>
                    <a:pt x="30721" y="58927"/>
                  </a:lnTo>
                  <a:lnTo>
                    <a:pt x="30721" y="1612"/>
                  </a:lnTo>
                  <a:close/>
                </a:path>
              </a:pathLst>
            </a:custGeom>
            <a:solidFill>
              <a:srgbClr val="879C82"/>
            </a:solidFill>
          </p:spPr>
          <p:txBody>
            <a:bodyPr wrap="square" lIns="0" tIns="0" rIns="0" bIns="0" rtlCol="0"/>
            <a:lstStyle/>
            <a:p/>
          </p:txBody>
        </p:sp>
        <p:sp>
          <p:nvSpPr>
            <p:cNvPr id="44" name="object 44" descr=""/>
            <p:cNvSpPr/>
            <p:nvPr/>
          </p:nvSpPr>
          <p:spPr>
            <a:xfrm>
              <a:off x="2340775" y="1116901"/>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45" name="object 45" descr=""/>
            <p:cNvSpPr/>
            <p:nvPr/>
          </p:nvSpPr>
          <p:spPr>
            <a:xfrm>
              <a:off x="2339682" y="1115555"/>
              <a:ext cx="31115" cy="60960"/>
            </a:xfrm>
            <a:custGeom>
              <a:avLst/>
              <a:gdLst/>
              <a:ahLst/>
              <a:cxnLst/>
              <a:rect l="l" t="t" r="r" b="b"/>
              <a:pathLst>
                <a:path w="31114" h="60959">
                  <a:moveTo>
                    <a:pt x="30721" y="0"/>
                  </a:moveTo>
                  <a:lnTo>
                    <a:pt x="0" y="0"/>
                  </a:lnTo>
                  <a:lnTo>
                    <a:pt x="0" y="60629"/>
                  </a:lnTo>
                  <a:lnTo>
                    <a:pt x="30721" y="60629"/>
                  </a:lnTo>
                  <a:lnTo>
                    <a:pt x="30721" y="58927"/>
                  </a:lnTo>
                  <a:lnTo>
                    <a:pt x="1358" y="58927"/>
                  </a:lnTo>
                  <a:lnTo>
                    <a:pt x="1358" y="1612"/>
                  </a:lnTo>
                  <a:lnTo>
                    <a:pt x="30721" y="1612"/>
                  </a:lnTo>
                  <a:lnTo>
                    <a:pt x="30721" y="0"/>
                  </a:lnTo>
                  <a:close/>
                </a:path>
                <a:path w="31114" h="60959">
                  <a:moveTo>
                    <a:pt x="30721" y="1612"/>
                  </a:moveTo>
                  <a:lnTo>
                    <a:pt x="29362" y="1612"/>
                  </a:lnTo>
                  <a:lnTo>
                    <a:pt x="29362" y="58927"/>
                  </a:lnTo>
                  <a:lnTo>
                    <a:pt x="30721" y="58927"/>
                  </a:lnTo>
                  <a:lnTo>
                    <a:pt x="30721" y="1612"/>
                  </a:lnTo>
                  <a:close/>
                </a:path>
              </a:pathLst>
            </a:custGeom>
            <a:solidFill>
              <a:srgbClr val="879C82"/>
            </a:solidFill>
          </p:spPr>
          <p:txBody>
            <a:bodyPr wrap="square" lIns="0" tIns="0" rIns="0" bIns="0" rtlCol="0"/>
            <a:lstStyle/>
            <a:p/>
          </p:txBody>
        </p:sp>
        <p:sp>
          <p:nvSpPr>
            <p:cNvPr id="46" name="object 46" descr=""/>
            <p:cNvSpPr/>
            <p:nvPr/>
          </p:nvSpPr>
          <p:spPr>
            <a:xfrm>
              <a:off x="2205824" y="121525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47" name="object 47" descr=""/>
            <p:cNvSpPr/>
            <p:nvPr/>
          </p:nvSpPr>
          <p:spPr>
            <a:xfrm>
              <a:off x="2204732" y="1213904"/>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650"/>
                  </a:lnTo>
                  <a:lnTo>
                    <a:pt x="30721" y="1650"/>
                  </a:lnTo>
                  <a:lnTo>
                    <a:pt x="30721" y="0"/>
                  </a:lnTo>
                  <a:close/>
                </a:path>
                <a:path w="31114" h="59690">
                  <a:moveTo>
                    <a:pt x="30721" y="1650"/>
                  </a:moveTo>
                  <a:lnTo>
                    <a:pt x="29413" y="1650"/>
                  </a:lnTo>
                  <a:lnTo>
                    <a:pt x="29413" y="57696"/>
                  </a:lnTo>
                  <a:lnTo>
                    <a:pt x="30721" y="57696"/>
                  </a:lnTo>
                  <a:lnTo>
                    <a:pt x="30721" y="1650"/>
                  </a:lnTo>
                  <a:close/>
                </a:path>
              </a:pathLst>
            </a:custGeom>
            <a:solidFill>
              <a:srgbClr val="879C82"/>
            </a:solidFill>
          </p:spPr>
          <p:txBody>
            <a:bodyPr wrap="square" lIns="0" tIns="0" rIns="0" bIns="0" rtlCol="0"/>
            <a:lstStyle/>
            <a:p/>
          </p:txBody>
        </p:sp>
        <p:sp>
          <p:nvSpPr>
            <p:cNvPr id="48" name="object 48" descr=""/>
            <p:cNvSpPr/>
            <p:nvPr/>
          </p:nvSpPr>
          <p:spPr>
            <a:xfrm>
              <a:off x="2250808" y="121525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49" name="object 49" descr=""/>
            <p:cNvSpPr/>
            <p:nvPr/>
          </p:nvSpPr>
          <p:spPr>
            <a:xfrm>
              <a:off x="2249716" y="1213904"/>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650"/>
                  </a:lnTo>
                  <a:lnTo>
                    <a:pt x="30721" y="1650"/>
                  </a:lnTo>
                  <a:lnTo>
                    <a:pt x="30721" y="0"/>
                  </a:lnTo>
                  <a:close/>
                </a:path>
                <a:path w="31114" h="59690">
                  <a:moveTo>
                    <a:pt x="30721" y="1650"/>
                  </a:moveTo>
                  <a:lnTo>
                    <a:pt x="29425" y="1650"/>
                  </a:lnTo>
                  <a:lnTo>
                    <a:pt x="29425" y="57696"/>
                  </a:lnTo>
                  <a:lnTo>
                    <a:pt x="30721" y="57696"/>
                  </a:lnTo>
                  <a:lnTo>
                    <a:pt x="30721" y="1650"/>
                  </a:lnTo>
                  <a:close/>
                </a:path>
              </a:pathLst>
            </a:custGeom>
            <a:solidFill>
              <a:srgbClr val="879C82"/>
            </a:solidFill>
          </p:spPr>
          <p:txBody>
            <a:bodyPr wrap="square" lIns="0" tIns="0" rIns="0" bIns="0" rtlCol="0"/>
            <a:lstStyle/>
            <a:p/>
          </p:txBody>
        </p:sp>
        <p:sp>
          <p:nvSpPr>
            <p:cNvPr id="50" name="object 50" descr=""/>
            <p:cNvSpPr/>
            <p:nvPr/>
          </p:nvSpPr>
          <p:spPr>
            <a:xfrm>
              <a:off x="2295791" y="121525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51" name="object 51" descr=""/>
            <p:cNvSpPr/>
            <p:nvPr/>
          </p:nvSpPr>
          <p:spPr>
            <a:xfrm>
              <a:off x="2294699" y="1213904"/>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650"/>
                  </a:lnTo>
                  <a:lnTo>
                    <a:pt x="30721" y="1650"/>
                  </a:lnTo>
                  <a:lnTo>
                    <a:pt x="30721" y="0"/>
                  </a:lnTo>
                  <a:close/>
                </a:path>
                <a:path w="31114" h="59690">
                  <a:moveTo>
                    <a:pt x="30721" y="1650"/>
                  </a:moveTo>
                  <a:lnTo>
                    <a:pt x="29425" y="1650"/>
                  </a:lnTo>
                  <a:lnTo>
                    <a:pt x="29425" y="57696"/>
                  </a:lnTo>
                  <a:lnTo>
                    <a:pt x="30721" y="57696"/>
                  </a:lnTo>
                  <a:lnTo>
                    <a:pt x="30721" y="1650"/>
                  </a:lnTo>
                  <a:close/>
                </a:path>
              </a:pathLst>
            </a:custGeom>
            <a:solidFill>
              <a:srgbClr val="879C82"/>
            </a:solidFill>
          </p:spPr>
          <p:txBody>
            <a:bodyPr wrap="square" lIns="0" tIns="0" rIns="0" bIns="0" rtlCol="0"/>
            <a:lstStyle/>
            <a:p/>
          </p:txBody>
        </p:sp>
        <p:sp>
          <p:nvSpPr>
            <p:cNvPr id="52" name="object 52" descr=""/>
            <p:cNvSpPr/>
            <p:nvPr/>
          </p:nvSpPr>
          <p:spPr>
            <a:xfrm>
              <a:off x="2340775" y="121525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53" name="object 53" descr=""/>
            <p:cNvSpPr/>
            <p:nvPr/>
          </p:nvSpPr>
          <p:spPr>
            <a:xfrm>
              <a:off x="2339682" y="1213904"/>
              <a:ext cx="31115" cy="59690"/>
            </a:xfrm>
            <a:custGeom>
              <a:avLst/>
              <a:gdLst/>
              <a:ahLst/>
              <a:cxnLst/>
              <a:rect l="l" t="t" r="r" b="b"/>
              <a:pathLst>
                <a:path w="31114" h="59690">
                  <a:moveTo>
                    <a:pt x="30721" y="0"/>
                  </a:moveTo>
                  <a:lnTo>
                    <a:pt x="0" y="0"/>
                  </a:lnTo>
                  <a:lnTo>
                    <a:pt x="0" y="59283"/>
                  </a:lnTo>
                  <a:lnTo>
                    <a:pt x="30721" y="59283"/>
                  </a:lnTo>
                  <a:lnTo>
                    <a:pt x="30721" y="57696"/>
                  </a:lnTo>
                  <a:lnTo>
                    <a:pt x="1358" y="57696"/>
                  </a:lnTo>
                  <a:lnTo>
                    <a:pt x="1358" y="1650"/>
                  </a:lnTo>
                  <a:lnTo>
                    <a:pt x="30721" y="1650"/>
                  </a:lnTo>
                  <a:lnTo>
                    <a:pt x="30721" y="0"/>
                  </a:lnTo>
                  <a:close/>
                </a:path>
                <a:path w="31114" h="59690">
                  <a:moveTo>
                    <a:pt x="30721" y="1650"/>
                  </a:moveTo>
                  <a:lnTo>
                    <a:pt x="29362" y="1650"/>
                  </a:lnTo>
                  <a:lnTo>
                    <a:pt x="29362" y="57696"/>
                  </a:lnTo>
                  <a:lnTo>
                    <a:pt x="30721" y="57696"/>
                  </a:lnTo>
                  <a:lnTo>
                    <a:pt x="30721" y="1650"/>
                  </a:lnTo>
                  <a:close/>
                </a:path>
              </a:pathLst>
            </a:custGeom>
            <a:solidFill>
              <a:srgbClr val="879C82"/>
            </a:solidFill>
          </p:spPr>
          <p:txBody>
            <a:bodyPr wrap="square" lIns="0" tIns="0" rIns="0" bIns="0" rtlCol="0"/>
            <a:lstStyle/>
            <a:p/>
          </p:txBody>
        </p:sp>
        <p:sp>
          <p:nvSpPr>
            <p:cNvPr id="54" name="object 54" descr=""/>
            <p:cNvSpPr/>
            <p:nvPr/>
          </p:nvSpPr>
          <p:spPr>
            <a:xfrm>
              <a:off x="2205824" y="1313599"/>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55" name="object 55" descr=""/>
            <p:cNvSpPr/>
            <p:nvPr/>
          </p:nvSpPr>
          <p:spPr>
            <a:xfrm>
              <a:off x="2204732" y="1312252"/>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650"/>
                  </a:lnTo>
                  <a:lnTo>
                    <a:pt x="30721" y="1650"/>
                  </a:lnTo>
                  <a:lnTo>
                    <a:pt x="30721" y="0"/>
                  </a:lnTo>
                  <a:close/>
                </a:path>
                <a:path w="31114" h="59690">
                  <a:moveTo>
                    <a:pt x="30721" y="1650"/>
                  </a:moveTo>
                  <a:lnTo>
                    <a:pt x="29413" y="1650"/>
                  </a:lnTo>
                  <a:lnTo>
                    <a:pt x="29413" y="57696"/>
                  </a:lnTo>
                  <a:lnTo>
                    <a:pt x="30721" y="57696"/>
                  </a:lnTo>
                  <a:lnTo>
                    <a:pt x="30721" y="1650"/>
                  </a:lnTo>
                  <a:close/>
                </a:path>
              </a:pathLst>
            </a:custGeom>
            <a:solidFill>
              <a:srgbClr val="879C82"/>
            </a:solidFill>
          </p:spPr>
          <p:txBody>
            <a:bodyPr wrap="square" lIns="0" tIns="0" rIns="0" bIns="0" rtlCol="0"/>
            <a:lstStyle/>
            <a:p/>
          </p:txBody>
        </p:sp>
        <p:sp>
          <p:nvSpPr>
            <p:cNvPr id="56" name="object 56" descr=""/>
            <p:cNvSpPr/>
            <p:nvPr/>
          </p:nvSpPr>
          <p:spPr>
            <a:xfrm>
              <a:off x="2250808" y="1313599"/>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57" name="object 57" descr=""/>
            <p:cNvSpPr/>
            <p:nvPr/>
          </p:nvSpPr>
          <p:spPr>
            <a:xfrm>
              <a:off x="2249716" y="1312252"/>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650"/>
                  </a:lnTo>
                  <a:lnTo>
                    <a:pt x="30721" y="1650"/>
                  </a:lnTo>
                  <a:lnTo>
                    <a:pt x="30721" y="0"/>
                  </a:lnTo>
                  <a:close/>
                </a:path>
                <a:path w="31114" h="59690">
                  <a:moveTo>
                    <a:pt x="30721" y="1650"/>
                  </a:moveTo>
                  <a:lnTo>
                    <a:pt x="29425" y="1650"/>
                  </a:lnTo>
                  <a:lnTo>
                    <a:pt x="29425" y="57696"/>
                  </a:lnTo>
                  <a:lnTo>
                    <a:pt x="30721" y="57696"/>
                  </a:lnTo>
                  <a:lnTo>
                    <a:pt x="30721" y="1650"/>
                  </a:lnTo>
                  <a:close/>
                </a:path>
              </a:pathLst>
            </a:custGeom>
            <a:solidFill>
              <a:srgbClr val="879C82"/>
            </a:solidFill>
          </p:spPr>
          <p:txBody>
            <a:bodyPr wrap="square" lIns="0" tIns="0" rIns="0" bIns="0" rtlCol="0"/>
            <a:lstStyle/>
            <a:p/>
          </p:txBody>
        </p:sp>
        <p:sp>
          <p:nvSpPr>
            <p:cNvPr id="58" name="object 58" descr=""/>
            <p:cNvSpPr/>
            <p:nvPr/>
          </p:nvSpPr>
          <p:spPr>
            <a:xfrm>
              <a:off x="2295791" y="1313599"/>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59" name="object 59" descr=""/>
            <p:cNvSpPr/>
            <p:nvPr/>
          </p:nvSpPr>
          <p:spPr>
            <a:xfrm>
              <a:off x="2294699" y="1312252"/>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650"/>
                  </a:lnTo>
                  <a:lnTo>
                    <a:pt x="30721" y="1650"/>
                  </a:lnTo>
                  <a:lnTo>
                    <a:pt x="30721" y="0"/>
                  </a:lnTo>
                  <a:close/>
                </a:path>
                <a:path w="31114" h="59690">
                  <a:moveTo>
                    <a:pt x="30721" y="1650"/>
                  </a:moveTo>
                  <a:lnTo>
                    <a:pt x="29425" y="1650"/>
                  </a:lnTo>
                  <a:lnTo>
                    <a:pt x="29425" y="57696"/>
                  </a:lnTo>
                  <a:lnTo>
                    <a:pt x="30721" y="57696"/>
                  </a:lnTo>
                  <a:lnTo>
                    <a:pt x="30721" y="1650"/>
                  </a:lnTo>
                  <a:close/>
                </a:path>
              </a:pathLst>
            </a:custGeom>
            <a:solidFill>
              <a:srgbClr val="879C82"/>
            </a:solidFill>
          </p:spPr>
          <p:txBody>
            <a:bodyPr wrap="square" lIns="0" tIns="0" rIns="0" bIns="0" rtlCol="0"/>
            <a:lstStyle/>
            <a:p/>
          </p:txBody>
        </p:sp>
        <p:sp>
          <p:nvSpPr>
            <p:cNvPr id="60" name="object 60" descr=""/>
            <p:cNvSpPr/>
            <p:nvPr/>
          </p:nvSpPr>
          <p:spPr>
            <a:xfrm>
              <a:off x="2340775" y="1313599"/>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61" name="object 61" descr=""/>
            <p:cNvSpPr/>
            <p:nvPr/>
          </p:nvSpPr>
          <p:spPr>
            <a:xfrm>
              <a:off x="2339682" y="1312252"/>
              <a:ext cx="31115" cy="59690"/>
            </a:xfrm>
            <a:custGeom>
              <a:avLst/>
              <a:gdLst/>
              <a:ahLst/>
              <a:cxnLst/>
              <a:rect l="l" t="t" r="r" b="b"/>
              <a:pathLst>
                <a:path w="31114" h="59690">
                  <a:moveTo>
                    <a:pt x="30721" y="0"/>
                  </a:moveTo>
                  <a:lnTo>
                    <a:pt x="0" y="0"/>
                  </a:lnTo>
                  <a:lnTo>
                    <a:pt x="0" y="59283"/>
                  </a:lnTo>
                  <a:lnTo>
                    <a:pt x="30721" y="59283"/>
                  </a:lnTo>
                  <a:lnTo>
                    <a:pt x="30721" y="57696"/>
                  </a:lnTo>
                  <a:lnTo>
                    <a:pt x="1358" y="57696"/>
                  </a:lnTo>
                  <a:lnTo>
                    <a:pt x="1358" y="1650"/>
                  </a:lnTo>
                  <a:lnTo>
                    <a:pt x="30721" y="1650"/>
                  </a:lnTo>
                  <a:lnTo>
                    <a:pt x="30721" y="0"/>
                  </a:lnTo>
                  <a:close/>
                </a:path>
                <a:path w="31114" h="59690">
                  <a:moveTo>
                    <a:pt x="30721" y="1650"/>
                  </a:moveTo>
                  <a:lnTo>
                    <a:pt x="29362" y="1650"/>
                  </a:lnTo>
                  <a:lnTo>
                    <a:pt x="29362" y="57696"/>
                  </a:lnTo>
                  <a:lnTo>
                    <a:pt x="30721" y="57696"/>
                  </a:lnTo>
                  <a:lnTo>
                    <a:pt x="30721" y="1650"/>
                  </a:lnTo>
                  <a:close/>
                </a:path>
              </a:pathLst>
            </a:custGeom>
            <a:solidFill>
              <a:srgbClr val="879C82"/>
            </a:solidFill>
          </p:spPr>
          <p:txBody>
            <a:bodyPr wrap="square" lIns="0" tIns="0" rIns="0" bIns="0" rtlCol="0"/>
            <a:lstStyle/>
            <a:p/>
          </p:txBody>
        </p:sp>
        <p:sp>
          <p:nvSpPr>
            <p:cNvPr id="62" name="object 62" descr=""/>
            <p:cNvSpPr/>
            <p:nvPr/>
          </p:nvSpPr>
          <p:spPr>
            <a:xfrm>
              <a:off x="2205824" y="1410601"/>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63" name="object 63" descr=""/>
            <p:cNvSpPr/>
            <p:nvPr/>
          </p:nvSpPr>
          <p:spPr>
            <a:xfrm>
              <a:off x="2204732" y="1410601"/>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498"/>
                  </a:lnTo>
                  <a:lnTo>
                    <a:pt x="30721" y="1498"/>
                  </a:lnTo>
                  <a:lnTo>
                    <a:pt x="30721" y="0"/>
                  </a:lnTo>
                  <a:close/>
                </a:path>
                <a:path w="31114" h="59690">
                  <a:moveTo>
                    <a:pt x="30721" y="1498"/>
                  </a:moveTo>
                  <a:lnTo>
                    <a:pt x="29413" y="1498"/>
                  </a:lnTo>
                  <a:lnTo>
                    <a:pt x="29413" y="57696"/>
                  </a:lnTo>
                  <a:lnTo>
                    <a:pt x="30721" y="57696"/>
                  </a:lnTo>
                  <a:lnTo>
                    <a:pt x="30721" y="1498"/>
                  </a:lnTo>
                  <a:close/>
                </a:path>
              </a:pathLst>
            </a:custGeom>
            <a:solidFill>
              <a:srgbClr val="879C82"/>
            </a:solidFill>
          </p:spPr>
          <p:txBody>
            <a:bodyPr wrap="square" lIns="0" tIns="0" rIns="0" bIns="0" rtlCol="0"/>
            <a:lstStyle/>
            <a:p/>
          </p:txBody>
        </p:sp>
        <p:sp>
          <p:nvSpPr>
            <p:cNvPr id="64" name="object 64" descr=""/>
            <p:cNvSpPr/>
            <p:nvPr/>
          </p:nvSpPr>
          <p:spPr>
            <a:xfrm>
              <a:off x="2250808" y="1410601"/>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65" name="object 65" descr=""/>
            <p:cNvSpPr/>
            <p:nvPr/>
          </p:nvSpPr>
          <p:spPr>
            <a:xfrm>
              <a:off x="2249716" y="1410601"/>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498"/>
                  </a:lnTo>
                  <a:lnTo>
                    <a:pt x="30721" y="1498"/>
                  </a:lnTo>
                  <a:lnTo>
                    <a:pt x="30721" y="0"/>
                  </a:lnTo>
                  <a:close/>
                </a:path>
                <a:path w="31114" h="59690">
                  <a:moveTo>
                    <a:pt x="30721" y="1498"/>
                  </a:moveTo>
                  <a:lnTo>
                    <a:pt x="29425" y="1498"/>
                  </a:lnTo>
                  <a:lnTo>
                    <a:pt x="29425" y="57696"/>
                  </a:lnTo>
                  <a:lnTo>
                    <a:pt x="30721" y="57696"/>
                  </a:lnTo>
                  <a:lnTo>
                    <a:pt x="30721" y="1498"/>
                  </a:lnTo>
                  <a:close/>
                </a:path>
              </a:pathLst>
            </a:custGeom>
            <a:solidFill>
              <a:srgbClr val="879C82"/>
            </a:solidFill>
          </p:spPr>
          <p:txBody>
            <a:bodyPr wrap="square" lIns="0" tIns="0" rIns="0" bIns="0" rtlCol="0"/>
            <a:lstStyle/>
            <a:p/>
          </p:txBody>
        </p:sp>
        <p:sp>
          <p:nvSpPr>
            <p:cNvPr id="66" name="object 66" descr=""/>
            <p:cNvSpPr/>
            <p:nvPr/>
          </p:nvSpPr>
          <p:spPr>
            <a:xfrm>
              <a:off x="2295791" y="1410601"/>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67" name="object 67" descr=""/>
            <p:cNvSpPr/>
            <p:nvPr/>
          </p:nvSpPr>
          <p:spPr>
            <a:xfrm>
              <a:off x="2294699" y="1410601"/>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498"/>
                  </a:lnTo>
                  <a:lnTo>
                    <a:pt x="30721" y="1498"/>
                  </a:lnTo>
                  <a:lnTo>
                    <a:pt x="30721" y="0"/>
                  </a:lnTo>
                  <a:close/>
                </a:path>
                <a:path w="31114" h="59690">
                  <a:moveTo>
                    <a:pt x="30721" y="1498"/>
                  </a:moveTo>
                  <a:lnTo>
                    <a:pt x="29425" y="1498"/>
                  </a:lnTo>
                  <a:lnTo>
                    <a:pt x="29425" y="57696"/>
                  </a:lnTo>
                  <a:lnTo>
                    <a:pt x="30721" y="57696"/>
                  </a:lnTo>
                  <a:lnTo>
                    <a:pt x="30721" y="1498"/>
                  </a:lnTo>
                  <a:close/>
                </a:path>
              </a:pathLst>
            </a:custGeom>
            <a:solidFill>
              <a:srgbClr val="879C82"/>
            </a:solidFill>
          </p:spPr>
          <p:txBody>
            <a:bodyPr wrap="square" lIns="0" tIns="0" rIns="0" bIns="0" rtlCol="0"/>
            <a:lstStyle/>
            <a:p/>
          </p:txBody>
        </p:sp>
        <p:sp>
          <p:nvSpPr>
            <p:cNvPr id="68" name="object 68" descr=""/>
            <p:cNvSpPr/>
            <p:nvPr/>
          </p:nvSpPr>
          <p:spPr>
            <a:xfrm>
              <a:off x="2340775" y="1410601"/>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69" name="object 69" descr=""/>
            <p:cNvSpPr/>
            <p:nvPr/>
          </p:nvSpPr>
          <p:spPr>
            <a:xfrm>
              <a:off x="2339682" y="1410601"/>
              <a:ext cx="31115" cy="59690"/>
            </a:xfrm>
            <a:custGeom>
              <a:avLst/>
              <a:gdLst/>
              <a:ahLst/>
              <a:cxnLst/>
              <a:rect l="l" t="t" r="r" b="b"/>
              <a:pathLst>
                <a:path w="31114" h="59690">
                  <a:moveTo>
                    <a:pt x="30721" y="0"/>
                  </a:moveTo>
                  <a:lnTo>
                    <a:pt x="0" y="0"/>
                  </a:lnTo>
                  <a:lnTo>
                    <a:pt x="0" y="59283"/>
                  </a:lnTo>
                  <a:lnTo>
                    <a:pt x="30721" y="59283"/>
                  </a:lnTo>
                  <a:lnTo>
                    <a:pt x="30721" y="57696"/>
                  </a:lnTo>
                  <a:lnTo>
                    <a:pt x="1358" y="57696"/>
                  </a:lnTo>
                  <a:lnTo>
                    <a:pt x="1358" y="1498"/>
                  </a:lnTo>
                  <a:lnTo>
                    <a:pt x="30721" y="1498"/>
                  </a:lnTo>
                  <a:lnTo>
                    <a:pt x="30721" y="0"/>
                  </a:lnTo>
                  <a:close/>
                </a:path>
                <a:path w="31114" h="59690">
                  <a:moveTo>
                    <a:pt x="30721" y="1498"/>
                  </a:moveTo>
                  <a:lnTo>
                    <a:pt x="29362" y="1498"/>
                  </a:lnTo>
                  <a:lnTo>
                    <a:pt x="29362" y="57696"/>
                  </a:lnTo>
                  <a:lnTo>
                    <a:pt x="30721" y="57696"/>
                  </a:lnTo>
                  <a:lnTo>
                    <a:pt x="30721" y="1498"/>
                  </a:lnTo>
                  <a:close/>
                </a:path>
              </a:pathLst>
            </a:custGeom>
            <a:solidFill>
              <a:srgbClr val="879C82"/>
            </a:solidFill>
          </p:spPr>
          <p:txBody>
            <a:bodyPr wrap="square" lIns="0" tIns="0" rIns="0" bIns="0" rtlCol="0"/>
            <a:lstStyle/>
            <a:p/>
          </p:txBody>
        </p:sp>
        <p:sp>
          <p:nvSpPr>
            <p:cNvPr id="70" name="object 70" descr=""/>
            <p:cNvSpPr/>
            <p:nvPr/>
          </p:nvSpPr>
          <p:spPr>
            <a:xfrm>
              <a:off x="2205824" y="150895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71" name="object 71" descr=""/>
            <p:cNvSpPr/>
            <p:nvPr/>
          </p:nvSpPr>
          <p:spPr>
            <a:xfrm>
              <a:off x="2204732" y="1508950"/>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574"/>
                  </a:lnTo>
                  <a:lnTo>
                    <a:pt x="30721" y="1574"/>
                  </a:lnTo>
                  <a:lnTo>
                    <a:pt x="30721" y="0"/>
                  </a:lnTo>
                  <a:close/>
                </a:path>
                <a:path w="31114" h="59690">
                  <a:moveTo>
                    <a:pt x="30721" y="1574"/>
                  </a:moveTo>
                  <a:lnTo>
                    <a:pt x="29413" y="1574"/>
                  </a:lnTo>
                  <a:lnTo>
                    <a:pt x="29413" y="57696"/>
                  </a:lnTo>
                  <a:lnTo>
                    <a:pt x="30721" y="57696"/>
                  </a:lnTo>
                  <a:lnTo>
                    <a:pt x="30721" y="1574"/>
                  </a:lnTo>
                  <a:close/>
                </a:path>
              </a:pathLst>
            </a:custGeom>
            <a:solidFill>
              <a:srgbClr val="879C82"/>
            </a:solidFill>
          </p:spPr>
          <p:txBody>
            <a:bodyPr wrap="square" lIns="0" tIns="0" rIns="0" bIns="0" rtlCol="0"/>
            <a:lstStyle/>
            <a:p/>
          </p:txBody>
        </p:sp>
        <p:sp>
          <p:nvSpPr>
            <p:cNvPr id="72" name="object 72" descr=""/>
            <p:cNvSpPr/>
            <p:nvPr/>
          </p:nvSpPr>
          <p:spPr>
            <a:xfrm>
              <a:off x="2250808" y="150895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73" name="object 73" descr=""/>
            <p:cNvSpPr/>
            <p:nvPr/>
          </p:nvSpPr>
          <p:spPr>
            <a:xfrm>
              <a:off x="2249716" y="1508950"/>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574"/>
                  </a:lnTo>
                  <a:lnTo>
                    <a:pt x="30721" y="1574"/>
                  </a:lnTo>
                  <a:lnTo>
                    <a:pt x="30721" y="0"/>
                  </a:lnTo>
                  <a:close/>
                </a:path>
                <a:path w="31114" h="59690">
                  <a:moveTo>
                    <a:pt x="30721" y="1574"/>
                  </a:moveTo>
                  <a:lnTo>
                    <a:pt x="29425" y="1574"/>
                  </a:lnTo>
                  <a:lnTo>
                    <a:pt x="29425" y="57696"/>
                  </a:lnTo>
                  <a:lnTo>
                    <a:pt x="30721" y="57696"/>
                  </a:lnTo>
                  <a:lnTo>
                    <a:pt x="30721" y="1574"/>
                  </a:lnTo>
                  <a:close/>
                </a:path>
              </a:pathLst>
            </a:custGeom>
            <a:solidFill>
              <a:srgbClr val="879C82"/>
            </a:solidFill>
          </p:spPr>
          <p:txBody>
            <a:bodyPr wrap="square" lIns="0" tIns="0" rIns="0" bIns="0" rtlCol="0"/>
            <a:lstStyle/>
            <a:p/>
          </p:txBody>
        </p:sp>
        <p:sp>
          <p:nvSpPr>
            <p:cNvPr id="74" name="object 74" descr=""/>
            <p:cNvSpPr/>
            <p:nvPr/>
          </p:nvSpPr>
          <p:spPr>
            <a:xfrm>
              <a:off x="2295791" y="150895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75" name="object 75" descr=""/>
            <p:cNvSpPr/>
            <p:nvPr/>
          </p:nvSpPr>
          <p:spPr>
            <a:xfrm>
              <a:off x="2294699" y="1508950"/>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574"/>
                  </a:lnTo>
                  <a:lnTo>
                    <a:pt x="30721" y="1574"/>
                  </a:lnTo>
                  <a:lnTo>
                    <a:pt x="30721" y="0"/>
                  </a:lnTo>
                  <a:close/>
                </a:path>
                <a:path w="31114" h="59690">
                  <a:moveTo>
                    <a:pt x="30721" y="1574"/>
                  </a:moveTo>
                  <a:lnTo>
                    <a:pt x="29425" y="1574"/>
                  </a:lnTo>
                  <a:lnTo>
                    <a:pt x="29425" y="57696"/>
                  </a:lnTo>
                  <a:lnTo>
                    <a:pt x="30721" y="57696"/>
                  </a:lnTo>
                  <a:lnTo>
                    <a:pt x="30721" y="1574"/>
                  </a:lnTo>
                  <a:close/>
                </a:path>
              </a:pathLst>
            </a:custGeom>
            <a:solidFill>
              <a:srgbClr val="879C82"/>
            </a:solidFill>
          </p:spPr>
          <p:txBody>
            <a:bodyPr wrap="square" lIns="0" tIns="0" rIns="0" bIns="0" rtlCol="0"/>
            <a:lstStyle/>
            <a:p/>
          </p:txBody>
        </p:sp>
        <p:sp>
          <p:nvSpPr>
            <p:cNvPr id="76" name="object 76" descr=""/>
            <p:cNvSpPr/>
            <p:nvPr/>
          </p:nvSpPr>
          <p:spPr>
            <a:xfrm>
              <a:off x="2340775" y="150895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77" name="object 77" descr=""/>
            <p:cNvSpPr/>
            <p:nvPr/>
          </p:nvSpPr>
          <p:spPr>
            <a:xfrm>
              <a:off x="2339682" y="1508950"/>
              <a:ext cx="31115" cy="59690"/>
            </a:xfrm>
            <a:custGeom>
              <a:avLst/>
              <a:gdLst/>
              <a:ahLst/>
              <a:cxnLst/>
              <a:rect l="l" t="t" r="r" b="b"/>
              <a:pathLst>
                <a:path w="31114" h="59690">
                  <a:moveTo>
                    <a:pt x="30721" y="0"/>
                  </a:moveTo>
                  <a:lnTo>
                    <a:pt x="0" y="0"/>
                  </a:lnTo>
                  <a:lnTo>
                    <a:pt x="0" y="59283"/>
                  </a:lnTo>
                  <a:lnTo>
                    <a:pt x="30721" y="59283"/>
                  </a:lnTo>
                  <a:lnTo>
                    <a:pt x="30721" y="57696"/>
                  </a:lnTo>
                  <a:lnTo>
                    <a:pt x="1358" y="57696"/>
                  </a:lnTo>
                  <a:lnTo>
                    <a:pt x="1358" y="1574"/>
                  </a:lnTo>
                  <a:lnTo>
                    <a:pt x="30721" y="1574"/>
                  </a:lnTo>
                  <a:lnTo>
                    <a:pt x="30721" y="0"/>
                  </a:lnTo>
                  <a:close/>
                </a:path>
                <a:path w="31114" h="59690">
                  <a:moveTo>
                    <a:pt x="30721" y="1574"/>
                  </a:moveTo>
                  <a:lnTo>
                    <a:pt x="29362" y="1574"/>
                  </a:lnTo>
                  <a:lnTo>
                    <a:pt x="29362" y="57696"/>
                  </a:lnTo>
                  <a:lnTo>
                    <a:pt x="30721" y="57696"/>
                  </a:lnTo>
                  <a:lnTo>
                    <a:pt x="30721" y="1574"/>
                  </a:lnTo>
                  <a:close/>
                </a:path>
              </a:pathLst>
            </a:custGeom>
            <a:solidFill>
              <a:srgbClr val="879C82"/>
            </a:solidFill>
          </p:spPr>
          <p:txBody>
            <a:bodyPr wrap="square" lIns="0" tIns="0" rIns="0" bIns="0" rtlCol="0"/>
            <a:lstStyle/>
            <a:p/>
          </p:txBody>
        </p:sp>
        <p:sp>
          <p:nvSpPr>
            <p:cNvPr id="78" name="object 78" descr=""/>
            <p:cNvSpPr/>
            <p:nvPr/>
          </p:nvSpPr>
          <p:spPr>
            <a:xfrm>
              <a:off x="2205824" y="1607299"/>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79" name="object 79" descr=""/>
            <p:cNvSpPr/>
            <p:nvPr/>
          </p:nvSpPr>
          <p:spPr>
            <a:xfrm>
              <a:off x="2204732" y="1605953"/>
              <a:ext cx="31115" cy="59690"/>
            </a:xfrm>
            <a:custGeom>
              <a:avLst/>
              <a:gdLst/>
              <a:ahLst/>
              <a:cxnLst/>
              <a:rect l="l" t="t" r="r" b="b"/>
              <a:pathLst>
                <a:path w="31114" h="59689">
                  <a:moveTo>
                    <a:pt x="30721" y="0"/>
                  </a:moveTo>
                  <a:lnTo>
                    <a:pt x="0" y="0"/>
                  </a:lnTo>
                  <a:lnTo>
                    <a:pt x="0" y="59283"/>
                  </a:lnTo>
                  <a:lnTo>
                    <a:pt x="30721" y="59283"/>
                  </a:lnTo>
                  <a:lnTo>
                    <a:pt x="30721" y="57619"/>
                  </a:lnTo>
                  <a:lnTo>
                    <a:pt x="1295" y="57619"/>
                  </a:lnTo>
                  <a:lnTo>
                    <a:pt x="1295" y="1663"/>
                  </a:lnTo>
                  <a:lnTo>
                    <a:pt x="30721" y="1663"/>
                  </a:lnTo>
                  <a:lnTo>
                    <a:pt x="30721" y="0"/>
                  </a:lnTo>
                  <a:close/>
                </a:path>
                <a:path w="31114" h="59689">
                  <a:moveTo>
                    <a:pt x="30721" y="1663"/>
                  </a:moveTo>
                  <a:lnTo>
                    <a:pt x="29413" y="1663"/>
                  </a:lnTo>
                  <a:lnTo>
                    <a:pt x="29413" y="57619"/>
                  </a:lnTo>
                  <a:lnTo>
                    <a:pt x="30721" y="57619"/>
                  </a:lnTo>
                  <a:lnTo>
                    <a:pt x="30721" y="1663"/>
                  </a:lnTo>
                  <a:close/>
                </a:path>
              </a:pathLst>
            </a:custGeom>
            <a:solidFill>
              <a:srgbClr val="879C82"/>
            </a:solidFill>
          </p:spPr>
          <p:txBody>
            <a:bodyPr wrap="square" lIns="0" tIns="0" rIns="0" bIns="0" rtlCol="0"/>
            <a:lstStyle/>
            <a:p/>
          </p:txBody>
        </p:sp>
        <p:sp>
          <p:nvSpPr>
            <p:cNvPr id="80" name="object 80" descr=""/>
            <p:cNvSpPr/>
            <p:nvPr/>
          </p:nvSpPr>
          <p:spPr>
            <a:xfrm>
              <a:off x="2250808" y="1607299"/>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81" name="object 81" descr=""/>
            <p:cNvSpPr/>
            <p:nvPr/>
          </p:nvSpPr>
          <p:spPr>
            <a:xfrm>
              <a:off x="2249716" y="1605953"/>
              <a:ext cx="31115" cy="59690"/>
            </a:xfrm>
            <a:custGeom>
              <a:avLst/>
              <a:gdLst/>
              <a:ahLst/>
              <a:cxnLst/>
              <a:rect l="l" t="t" r="r" b="b"/>
              <a:pathLst>
                <a:path w="31114" h="59689">
                  <a:moveTo>
                    <a:pt x="30721" y="0"/>
                  </a:moveTo>
                  <a:lnTo>
                    <a:pt x="0" y="0"/>
                  </a:lnTo>
                  <a:lnTo>
                    <a:pt x="0" y="59283"/>
                  </a:lnTo>
                  <a:lnTo>
                    <a:pt x="30721" y="59283"/>
                  </a:lnTo>
                  <a:lnTo>
                    <a:pt x="30721" y="57619"/>
                  </a:lnTo>
                  <a:lnTo>
                    <a:pt x="1295" y="57619"/>
                  </a:lnTo>
                  <a:lnTo>
                    <a:pt x="1295" y="1663"/>
                  </a:lnTo>
                  <a:lnTo>
                    <a:pt x="30721" y="1663"/>
                  </a:lnTo>
                  <a:lnTo>
                    <a:pt x="30721" y="0"/>
                  </a:lnTo>
                  <a:close/>
                </a:path>
                <a:path w="31114" h="59689">
                  <a:moveTo>
                    <a:pt x="30721" y="1663"/>
                  </a:moveTo>
                  <a:lnTo>
                    <a:pt x="29425" y="1663"/>
                  </a:lnTo>
                  <a:lnTo>
                    <a:pt x="29425" y="57619"/>
                  </a:lnTo>
                  <a:lnTo>
                    <a:pt x="30721" y="57619"/>
                  </a:lnTo>
                  <a:lnTo>
                    <a:pt x="30721" y="1663"/>
                  </a:lnTo>
                  <a:close/>
                </a:path>
              </a:pathLst>
            </a:custGeom>
            <a:solidFill>
              <a:srgbClr val="879C82"/>
            </a:solidFill>
          </p:spPr>
          <p:txBody>
            <a:bodyPr wrap="square" lIns="0" tIns="0" rIns="0" bIns="0" rtlCol="0"/>
            <a:lstStyle/>
            <a:p/>
          </p:txBody>
        </p:sp>
        <p:sp>
          <p:nvSpPr>
            <p:cNvPr id="82" name="object 82" descr=""/>
            <p:cNvSpPr/>
            <p:nvPr/>
          </p:nvSpPr>
          <p:spPr>
            <a:xfrm>
              <a:off x="2295791" y="1607299"/>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83" name="object 83" descr=""/>
            <p:cNvSpPr/>
            <p:nvPr/>
          </p:nvSpPr>
          <p:spPr>
            <a:xfrm>
              <a:off x="2294699" y="1605953"/>
              <a:ext cx="31115" cy="59690"/>
            </a:xfrm>
            <a:custGeom>
              <a:avLst/>
              <a:gdLst/>
              <a:ahLst/>
              <a:cxnLst/>
              <a:rect l="l" t="t" r="r" b="b"/>
              <a:pathLst>
                <a:path w="31114" h="59689">
                  <a:moveTo>
                    <a:pt x="30721" y="0"/>
                  </a:moveTo>
                  <a:lnTo>
                    <a:pt x="0" y="0"/>
                  </a:lnTo>
                  <a:lnTo>
                    <a:pt x="0" y="59283"/>
                  </a:lnTo>
                  <a:lnTo>
                    <a:pt x="30721" y="59283"/>
                  </a:lnTo>
                  <a:lnTo>
                    <a:pt x="30721" y="57619"/>
                  </a:lnTo>
                  <a:lnTo>
                    <a:pt x="1295" y="57619"/>
                  </a:lnTo>
                  <a:lnTo>
                    <a:pt x="1295" y="1663"/>
                  </a:lnTo>
                  <a:lnTo>
                    <a:pt x="30721" y="1663"/>
                  </a:lnTo>
                  <a:lnTo>
                    <a:pt x="30721" y="0"/>
                  </a:lnTo>
                  <a:close/>
                </a:path>
                <a:path w="31114" h="59689">
                  <a:moveTo>
                    <a:pt x="30721" y="1663"/>
                  </a:moveTo>
                  <a:lnTo>
                    <a:pt x="29425" y="1663"/>
                  </a:lnTo>
                  <a:lnTo>
                    <a:pt x="29425" y="57619"/>
                  </a:lnTo>
                  <a:lnTo>
                    <a:pt x="30721" y="57619"/>
                  </a:lnTo>
                  <a:lnTo>
                    <a:pt x="30721" y="1663"/>
                  </a:lnTo>
                  <a:close/>
                </a:path>
              </a:pathLst>
            </a:custGeom>
            <a:solidFill>
              <a:srgbClr val="879C82"/>
            </a:solidFill>
          </p:spPr>
          <p:txBody>
            <a:bodyPr wrap="square" lIns="0" tIns="0" rIns="0" bIns="0" rtlCol="0"/>
            <a:lstStyle/>
            <a:p/>
          </p:txBody>
        </p:sp>
        <p:sp>
          <p:nvSpPr>
            <p:cNvPr id="84" name="object 84" descr=""/>
            <p:cNvSpPr/>
            <p:nvPr/>
          </p:nvSpPr>
          <p:spPr>
            <a:xfrm>
              <a:off x="2340775" y="1607299"/>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85" name="object 85" descr=""/>
            <p:cNvSpPr/>
            <p:nvPr/>
          </p:nvSpPr>
          <p:spPr>
            <a:xfrm>
              <a:off x="2339682" y="1605953"/>
              <a:ext cx="31115" cy="59690"/>
            </a:xfrm>
            <a:custGeom>
              <a:avLst/>
              <a:gdLst/>
              <a:ahLst/>
              <a:cxnLst/>
              <a:rect l="l" t="t" r="r" b="b"/>
              <a:pathLst>
                <a:path w="31114" h="59689">
                  <a:moveTo>
                    <a:pt x="30721" y="0"/>
                  </a:moveTo>
                  <a:lnTo>
                    <a:pt x="0" y="0"/>
                  </a:lnTo>
                  <a:lnTo>
                    <a:pt x="0" y="59283"/>
                  </a:lnTo>
                  <a:lnTo>
                    <a:pt x="30721" y="59283"/>
                  </a:lnTo>
                  <a:lnTo>
                    <a:pt x="30721" y="57619"/>
                  </a:lnTo>
                  <a:lnTo>
                    <a:pt x="1358" y="57619"/>
                  </a:lnTo>
                  <a:lnTo>
                    <a:pt x="1358" y="1663"/>
                  </a:lnTo>
                  <a:lnTo>
                    <a:pt x="30721" y="1663"/>
                  </a:lnTo>
                  <a:lnTo>
                    <a:pt x="30721" y="0"/>
                  </a:lnTo>
                  <a:close/>
                </a:path>
                <a:path w="31114" h="59689">
                  <a:moveTo>
                    <a:pt x="30721" y="1663"/>
                  </a:moveTo>
                  <a:lnTo>
                    <a:pt x="29362" y="1663"/>
                  </a:lnTo>
                  <a:lnTo>
                    <a:pt x="29362" y="57619"/>
                  </a:lnTo>
                  <a:lnTo>
                    <a:pt x="30721" y="57619"/>
                  </a:lnTo>
                  <a:lnTo>
                    <a:pt x="30721" y="1663"/>
                  </a:lnTo>
                  <a:close/>
                </a:path>
              </a:pathLst>
            </a:custGeom>
            <a:solidFill>
              <a:srgbClr val="879C82"/>
            </a:solidFill>
          </p:spPr>
          <p:txBody>
            <a:bodyPr wrap="square" lIns="0" tIns="0" rIns="0" bIns="0" rtlCol="0"/>
            <a:lstStyle/>
            <a:p/>
          </p:txBody>
        </p:sp>
        <p:sp>
          <p:nvSpPr>
            <p:cNvPr id="86" name="object 86" descr=""/>
            <p:cNvSpPr/>
            <p:nvPr/>
          </p:nvSpPr>
          <p:spPr>
            <a:xfrm>
              <a:off x="2205824" y="170566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87" name="object 87" descr=""/>
            <p:cNvSpPr/>
            <p:nvPr/>
          </p:nvSpPr>
          <p:spPr>
            <a:xfrm>
              <a:off x="2204732" y="1704301"/>
              <a:ext cx="31115" cy="59690"/>
            </a:xfrm>
            <a:custGeom>
              <a:avLst/>
              <a:gdLst/>
              <a:ahLst/>
              <a:cxnLst/>
              <a:rect l="l" t="t" r="r" b="b"/>
              <a:pathLst>
                <a:path w="31114" h="59689">
                  <a:moveTo>
                    <a:pt x="30721" y="0"/>
                  </a:moveTo>
                  <a:lnTo>
                    <a:pt x="0" y="0"/>
                  </a:lnTo>
                  <a:lnTo>
                    <a:pt x="0" y="59283"/>
                  </a:lnTo>
                  <a:lnTo>
                    <a:pt x="30721" y="59283"/>
                  </a:lnTo>
                  <a:lnTo>
                    <a:pt x="30721" y="57708"/>
                  </a:lnTo>
                  <a:lnTo>
                    <a:pt x="1295" y="57708"/>
                  </a:lnTo>
                  <a:lnTo>
                    <a:pt x="1295" y="1587"/>
                  </a:lnTo>
                  <a:lnTo>
                    <a:pt x="30721" y="1587"/>
                  </a:lnTo>
                  <a:lnTo>
                    <a:pt x="30721" y="0"/>
                  </a:lnTo>
                  <a:close/>
                </a:path>
                <a:path w="31114" h="59689">
                  <a:moveTo>
                    <a:pt x="30721" y="1587"/>
                  </a:moveTo>
                  <a:lnTo>
                    <a:pt x="29413" y="1587"/>
                  </a:lnTo>
                  <a:lnTo>
                    <a:pt x="29413" y="57708"/>
                  </a:lnTo>
                  <a:lnTo>
                    <a:pt x="30721" y="57708"/>
                  </a:lnTo>
                  <a:lnTo>
                    <a:pt x="30721" y="1587"/>
                  </a:lnTo>
                  <a:close/>
                </a:path>
              </a:pathLst>
            </a:custGeom>
            <a:solidFill>
              <a:srgbClr val="879C82"/>
            </a:solidFill>
          </p:spPr>
          <p:txBody>
            <a:bodyPr wrap="square" lIns="0" tIns="0" rIns="0" bIns="0" rtlCol="0"/>
            <a:lstStyle/>
            <a:p/>
          </p:txBody>
        </p:sp>
        <p:sp>
          <p:nvSpPr>
            <p:cNvPr id="88" name="object 88" descr=""/>
            <p:cNvSpPr/>
            <p:nvPr/>
          </p:nvSpPr>
          <p:spPr>
            <a:xfrm>
              <a:off x="2250808" y="170566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89" name="object 89" descr=""/>
            <p:cNvSpPr/>
            <p:nvPr/>
          </p:nvSpPr>
          <p:spPr>
            <a:xfrm>
              <a:off x="2249716" y="1704301"/>
              <a:ext cx="31115" cy="59690"/>
            </a:xfrm>
            <a:custGeom>
              <a:avLst/>
              <a:gdLst/>
              <a:ahLst/>
              <a:cxnLst/>
              <a:rect l="l" t="t" r="r" b="b"/>
              <a:pathLst>
                <a:path w="31114" h="59689">
                  <a:moveTo>
                    <a:pt x="30721" y="0"/>
                  </a:moveTo>
                  <a:lnTo>
                    <a:pt x="0" y="0"/>
                  </a:lnTo>
                  <a:lnTo>
                    <a:pt x="0" y="59283"/>
                  </a:lnTo>
                  <a:lnTo>
                    <a:pt x="30721" y="59283"/>
                  </a:lnTo>
                  <a:lnTo>
                    <a:pt x="30721" y="57708"/>
                  </a:lnTo>
                  <a:lnTo>
                    <a:pt x="1295" y="57708"/>
                  </a:lnTo>
                  <a:lnTo>
                    <a:pt x="1295" y="1587"/>
                  </a:lnTo>
                  <a:lnTo>
                    <a:pt x="30721" y="1587"/>
                  </a:lnTo>
                  <a:lnTo>
                    <a:pt x="30721" y="0"/>
                  </a:lnTo>
                  <a:close/>
                </a:path>
                <a:path w="31114" h="59689">
                  <a:moveTo>
                    <a:pt x="30721" y="1587"/>
                  </a:moveTo>
                  <a:lnTo>
                    <a:pt x="29425" y="1587"/>
                  </a:lnTo>
                  <a:lnTo>
                    <a:pt x="29425" y="57708"/>
                  </a:lnTo>
                  <a:lnTo>
                    <a:pt x="30721" y="57708"/>
                  </a:lnTo>
                  <a:lnTo>
                    <a:pt x="30721" y="1587"/>
                  </a:lnTo>
                  <a:close/>
                </a:path>
              </a:pathLst>
            </a:custGeom>
            <a:solidFill>
              <a:srgbClr val="879C82"/>
            </a:solidFill>
          </p:spPr>
          <p:txBody>
            <a:bodyPr wrap="square" lIns="0" tIns="0" rIns="0" bIns="0" rtlCol="0"/>
            <a:lstStyle/>
            <a:p/>
          </p:txBody>
        </p:sp>
        <p:sp>
          <p:nvSpPr>
            <p:cNvPr id="90" name="object 90" descr=""/>
            <p:cNvSpPr/>
            <p:nvPr/>
          </p:nvSpPr>
          <p:spPr>
            <a:xfrm>
              <a:off x="2295791" y="170566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91" name="object 91" descr=""/>
            <p:cNvSpPr/>
            <p:nvPr/>
          </p:nvSpPr>
          <p:spPr>
            <a:xfrm>
              <a:off x="2294699" y="1704301"/>
              <a:ext cx="31115" cy="59690"/>
            </a:xfrm>
            <a:custGeom>
              <a:avLst/>
              <a:gdLst/>
              <a:ahLst/>
              <a:cxnLst/>
              <a:rect l="l" t="t" r="r" b="b"/>
              <a:pathLst>
                <a:path w="31114" h="59689">
                  <a:moveTo>
                    <a:pt x="30721" y="0"/>
                  </a:moveTo>
                  <a:lnTo>
                    <a:pt x="0" y="0"/>
                  </a:lnTo>
                  <a:lnTo>
                    <a:pt x="0" y="59283"/>
                  </a:lnTo>
                  <a:lnTo>
                    <a:pt x="30721" y="59283"/>
                  </a:lnTo>
                  <a:lnTo>
                    <a:pt x="30721" y="57708"/>
                  </a:lnTo>
                  <a:lnTo>
                    <a:pt x="1295" y="57708"/>
                  </a:lnTo>
                  <a:lnTo>
                    <a:pt x="1295" y="1587"/>
                  </a:lnTo>
                  <a:lnTo>
                    <a:pt x="30721" y="1587"/>
                  </a:lnTo>
                  <a:lnTo>
                    <a:pt x="30721" y="0"/>
                  </a:lnTo>
                  <a:close/>
                </a:path>
                <a:path w="31114" h="59689">
                  <a:moveTo>
                    <a:pt x="30721" y="1587"/>
                  </a:moveTo>
                  <a:lnTo>
                    <a:pt x="29425" y="1587"/>
                  </a:lnTo>
                  <a:lnTo>
                    <a:pt x="29425" y="57708"/>
                  </a:lnTo>
                  <a:lnTo>
                    <a:pt x="30721" y="57708"/>
                  </a:lnTo>
                  <a:lnTo>
                    <a:pt x="30721" y="1587"/>
                  </a:lnTo>
                  <a:close/>
                </a:path>
              </a:pathLst>
            </a:custGeom>
            <a:solidFill>
              <a:srgbClr val="879C82"/>
            </a:solidFill>
          </p:spPr>
          <p:txBody>
            <a:bodyPr wrap="square" lIns="0" tIns="0" rIns="0" bIns="0" rtlCol="0"/>
            <a:lstStyle/>
            <a:p/>
          </p:txBody>
        </p:sp>
        <p:sp>
          <p:nvSpPr>
            <p:cNvPr id="92" name="object 92" descr=""/>
            <p:cNvSpPr/>
            <p:nvPr/>
          </p:nvSpPr>
          <p:spPr>
            <a:xfrm>
              <a:off x="2340775" y="1705660"/>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FFFFFF"/>
            </a:solidFill>
          </p:spPr>
          <p:txBody>
            <a:bodyPr wrap="square" lIns="0" tIns="0" rIns="0" bIns="0" rtlCol="0"/>
            <a:lstStyle/>
            <a:p/>
          </p:txBody>
        </p:sp>
        <p:sp>
          <p:nvSpPr>
            <p:cNvPr id="93" name="object 93" descr=""/>
            <p:cNvSpPr/>
            <p:nvPr/>
          </p:nvSpPr>
          <p:spPr>
            <a:xfrm>
              <a:off x="2339682" y="1704301"/>
              <a:ext cx="31115" cy="59690"/>
            </a:xfrm>
            <a:custGeom>
              <a:avLst/>
              <a:gdLst/>
              <a:ahLst/>
              <a:cxnLst/>
              <a:rect l="l" t="t" r="r" b="b"/>
              <a:pathLst>
                <a:path w="31114" h="59689">
                  <a:moveTo>
                    <a:pt x="30721" y="0"/>
                  </a:moveTo>
                  <a:lnTo>
                    <a:pt x="0" y="0"/>
                  </a:lnTo>
                  <a:lnTo>
                    <a:pt x="0" y="59283"/>
                  </a:lnTo>
                  <a:lnTo>
                    <a:pt x="30721" y="59283"/>
                  </a:lnTo>
                  <a:lnTo>
                    <a:pt x="30721" y="57708"/>
                  </a:lnTo>
                  <a:lnTo>
                    <a:pt x="1358" y="57708"/>
                  </a:lnTo>
                  <a:lnTo>
                    <a:pt x="1358" y="1587"/>
                  </a:lnTo>
                  <a:lnTo>
                    <a:pt x="30721" y="1587"/>
                  </a:lnTo>
                  <a:lnTo>
                    <a:pt x="30721" y="0"/>
                  </a:lnTo>
                  <a:close/>
                </a:path>
                <a:path w="31114" h="59689">
                  <a:moveTo>
                    <a:pt x="30721" y="1587"/>
                  </a:moveTo>
                  <a:lnTo>
                    <a:pt x="29362" y="1587"/>
                  </a:lnTo>
                  <a:lnTo>
                    <a:pt x="29362" y="57708"/>
                  </a:lnTo>
                  <a:lnTo>
                    <a:pt x="30721" y="57708"/>
                  </a:lnTo>
                  <a:lnTo>
                    <a:pt x="30721" y="1587"/>
                  </a:lnTo>
                  <a:close/>
                </a:path>
              </a:pathLst>
            </a:custGeom>
            <a:solidFill>
              <a:srgbClr val="879C82"/>
            </a:solidFill>
          </p:spPr>
          <p:txBody>
            <a:bodyPr wrap="square" lIns="0" tIns="0" rIns="0" bIns="0" rtlCol="0"/>
            <a:lstStyle/>
            <a:p/>
          </p:txBody>
        </p:sp>
        <p:sp>
          <p:nvSpPr>
            <p:cNvPr id="94" name="object 94" descr=""/>
            <p:cNvSpPr/>
            <p:nvPr/>
          </p:nvSpPr>
          <p:spPr>
            <a:xfrm>
              <a:off x="2381376" y="1102080"/>
              <a:ext cx="121285" cy="951230"/>
            </a:xfrm>
            <a:custGeom>
              <a:avLst/>
              <a:gdLst/>
              <a:ahLst/>
              <a:cxnLst/>
              <a:rect l="l" t="t" r="r" b="b"/>
              <a:pathLst>
                <a:path w="121285" h="951230">
                  <a:moveTo>
                    <a:pt x="120688" y="0"/>
                  </a:moveTo>
                  <a:lnTo>
                    <a:pt x="0" y="0"/>
                  </a:lnTo>
                  <a:lnTo>
                    <a:pt x="0" y="951179"/>
                  </a:lnTo>
                  <a:lnTo>
                    <a:pt x="120688" y="951179"/>
                  </a:lnTo>
                  <a:lnTo>
                    <a:pt x="120688" y="0"/>
                  </a:lnTo>
                  <a:close/>
                </a:path>
              </a:pathLst>
            </a:custGeom>
            <a:solidFill>
              <a:srgbClr val="BFCCC0"/>
            </a:solidFill>
          </p:spPr>
          <p:txBody>
            <a:bodyPr wrap="square" lIns="0" tIns="0" rIns="0" bIns="0" rtlCol="0"/>
            <a:lstStyle/>
            <a:p/>
          </p:txBody>
        </p:sp>
        <p:sp>
          <p:nvSpPr>
            <p:cNvPr id="95" name="object 95" descr=""/>
            <p:cNvSpPr/>
            <p:nvPr/>
          </p:nvSpPr>
          <p:spPr>
            <a:xfrm>
              <a:off x="2380272" y="1100657"/>
              <a:ext cx="124460" cy="953769"/>
            </a:xfrm>
            <a:custGeom>
              <a:avLst/>
              <a:gdLst/>
              <a:ahLst/>
              <a:cxnLst/>
              <a:rect l="l" t="t" r="r" b="b"/>
              <a:pathLst>
                <a:path w="124460" h="953769">
                  <a:moveTo>
                    <a:pt x="123977" y="0"/>
                  </a:moveTo>
                  <a:lnTo>
                    <a:pt x="65951" y="0"/>
                  </a:lnTo>
                  <a:lnTo>
                    <a:pt x="65951" y="1270"/>
                  </a:lnTo>
                  <a:lnTo>
                    <a:pt x="0" y="1270"/>
                  </a:lnTo>
                  <a:lnTo>
                    <a:pt x="0" y="3810"/>
                  </a:lnTo>
                  <a:lnTo>
                    <a:pt x="0" y="951230"/>
                  </a:lnTo>
                  <a:lnTo>
                    <a:pt x="0" y="953770"/>
                  </a:lnTo>
                  <a:lnTo>
                    <a:pt x="123977" y="953770"/>
                  </a:lnTo>
                  <a:lnTo>
                    <a:pt x="123977" y="951230"/>
                  </a:lnTo>
                  <a:lnTo>
                    <a:pt x="2578" y="951230"/>
                  </a:lnTo>
                  <a:lnTo>
                    <a:pt x="2578" y="3810"/>
                  </a:lnTo>
                  <a:lnTo>
                    <a:pt x="121399" y="3810"/>
                  </a:lnTo>
                  <a:lnTo>
                    <a:pt x="121399" y="950785"/>
                  </a:lnTo>
                  <a:lnTo>
                    <a:pt x="123977" y="950785"/>
                  </a:lnTo>
                  <a:lnTo>
                    <a:pt x="123977" y="3810"/>
                  </a:lnTo>
                  <a:lnTo>
                    <a:pt x="123977" y="3251"/>
                  </a:lnTo>
                  <a:lnTo>
                    <a:pt x="123977" y="1270"/>
                  </a:lnTo>
                  <a:lnTo>
                    <a:pt x="123977" y="0"/>
                  </a:lnTo>
                  <a:close/>
                </a:path>
              </a:pathLst>
            </a:custGeom>
            <a:solidFill>
              <a:srgbClr val="879C82"/>
            </a:solidFill>
          </p:spPr>
          <p:txBody>
            <a:bodyPr wrap="square" lIns="0" tIns="0" rIns="0" bIns="0" rtlCol="0"/>
            <a:lstStyle/>
            <a:p/>
          </p:txBody>
        </p:sp>
        <p:pic>
          <p:nvPicPr>
            <p:cNvPr id="96" name="object 96" descr=""/>
            <p:cNvPicPr/>
            <p:nvPr/>
          </p:nvPicPr>
          <p:blipFill>
            <a:blip r:embed="rId3" cstate="print"/>
            <a:stretch>
              <a:fillRect/>
            </a:stretch>
          </p:blipFill>
          <p:spPr>
            <a:xfrm>
              <a:off x="2380280" y="1005070"/>
              <a:ext cx="166776" cy="98348"/>
            </a:xfrm>
            <a:prstGeom prst="rect">
              <a:avLst/>
            </a:prstGeom>
          </p:spPr>
        </p:pic>
        <p:sp>
          <p:nvSpPr>
            <p:cNvPr id="97" name="object 97" descr=""/>
            <p:cNvSpPr/>
            <p:nvPr/>
          </p:nvSpPr>
          <p:spPr>
            <a:xfrm>
              <a:off x="2502066" y="1007767"/>
              <a:ext cx="44450" cy="1045844"/>
            </a:xfrm>
            <a:custGeom>
              <a:avLst/>
              <a:gdLst/>
              <a:ahLst/>
              <a:cxnLst/>
              <a:rect l="l" t="t" r="r" b="b"/>
              <a:pathLst>
                <a:path w="44450" h="1045844">
                  <a:moveTo>
                    <a:pt x="43891" y="0"/>
                  </a:moveTo>
                  <a:lnTo>
                    <a:pt x="0" y="94399"/>
                  </a:lnTo>
                  <a:lnTo>
                    <a:pt x="0" y="1045489"/>
                  </a:lnTo>
                  <a:lnTo>
                    <a:pt x="43891" y="951001"/>
                  </a:lnTo>
                  <a:lnTo>
                    <a:pt x="43891" y="0"/>
                  </a:lnTo>
                  <a:close/>
                </a:path>
              </a:pathLst>
            </a:custGeom>
            <a:solidFill>
              <a:srgbClr val="A5B8A6"/>
            </a:solidFill>
          </p:spPr>
          <p:txBody>
            <a:bodyPr wrap="square" lIns="0" tIns="0" rIns="0" bIns="0" rtlCol="0"/>
            <a:lstStyle/>
            <a:p/>
          </p:txBody>
        </p:sp>
        <p:sp>
          <p:nvSpPr>
            <p:cNvPr id="98" name="object 98" descr=""/>
            <p:cNvSpPr/>
            <p:nvPr/>
          </p:nvSpPr>
          <p:spPr>
            <a:xfrm>
              <a:off x="2500965" y="1006419"/>
              <a:ext cx="46355" cy="1048385"/>
            </a:xfrm>
            <a:custGeom>
              <a:avLst/>
              <a:gdLst/>
              <a:ahLst/>
              <a:cxnLst/>
              <a:rect l="l" t="t" r="r" b="b"/>
              <a:pathLst>
                <a:path w="46355" h="1048385">
                  <a:moveTo>
                    <a:pt x="43611" y="0"/>
                  </a:moveTo>
                  <a:lnTo>
                    <a:pt x="139" y="94500"/>
                  </a:lnTo>
                  <a:lnTo>
                    <a:pt x="0" y="95300"/>
                  </a:lnTo>
                  <a:lnTo>
                    <a:pt x="0" y="1047381"/>
                  </a:lnTo>
                  <a:lnTo>
                    <a:pt x="2349" y="1048181"/>
                  </a:lnTo>
                  <a:lnTo>
                    <a:pt x="5492" y="1041361"/>
                  </a:lnTo>
                  <a:lnTo>
                    <a:pt x="2603" y="1041361"/>
                  </a:lnTo>
                  <a:lnTo>
                    <a:pt x="2603" y="95770"/>
                  </a:lnTo>
                  <a:lnTo>
                    <a:pt x="43484" y="6819"/>
                  </a:lnTo>
                  <a:lnTo>
                    <a:pt x="46088" y="6819"/>
                  </a:lnTo>
                  <a:lnTo>
                    <a:pt x="46088" y="800"/>
                  </a:lnTo>
                  <a:lnTo>
                    <a:pt x="43611" y="0"/>
                  </a:lnTo>
                  <a:close/>
                </a:path>
                <a:path w="46355" h="1048385">
                  <a:moveTo>
                    <a:pt x="46088" y="6819"/>
                  </a:moveTo>
                  <a:lnTo>
                    <a:pt x="43484" y="6819"/>
                  </a:lnTo>
                  <a:lnTo>
                    <a:pt x="43484" y="952411"/>
                  </a:lnTo>
                  <a:lnTo>
                    <a:pt x="2603" y="1041361"/>
                  </a:lnTo>
                  <a:lnTo>
                    <a:pt x="5492" y="1041361"/>
                  </a:lnTo>
                  <a:lnTo>
                    <a:pt x="45897" y="953681"/>
                  </a:lnTo>
                  <a:lnTo>
                    <a:pt x="46088" y="952804"/>
                  </a:lnTo>
                  <a:lnTo>
                    <a:pt x="46088" y="6819"/>
                  </a:lnTo>
                  <a:close/>
                </a:path>
              </a:pathLst>
            </a:custGeom>
            <a:solidFill>
              <a:srgbClr val="879C82"/>
            </a:solidFill>
          </p:spPr>
          <p:txBody>
            <a:bodyPr wrap="square" lIns="0" tIns="0" rIns="0" bIns="0" rtlCol="0"/>
            <a:lstStyle/>
            <a:p/>
          </p:txBody>
        </p:sp>
        <p:sp>
          <p:nvSpPr>
            <p:cNvPr id="99" name="object 99" descr=""/>
            <p:cNvSpPr/>
            <p:nvPr/>
          </p:nvSpPr>
          <p:spPr>
            <a:xfrm>
              <a:off x="2395639" y="1178877"/>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E0E6E2"/>
            </a:solidFill>
          </p:spPr>
          <p:txBody>
            <a:bodyPr wrap="square" lIns="0" tIns="0" rIns="0" bIns="0" rtlCol="0"/>
            <a:lstStyle/>
            <a:p/>
          </p:txBody>
        </p:sp>
        <p:sp>
          <p:nvSpPr>
            <p:cNvPr id="100" name="object 100" descr=""/>
            <p:cNvSpPr/>
            <p:nvPr/>
          </p:nvSpPr>
          <p:spPr>
            <a:xfrm>
              <a:off x="2395639" y="1178877"/>
              <a:ext cx="31115" cy="59690"/>
            </a:xfrm>
            <a:custGeom>
              <a:avLst/>
              <a:gdLst/>
              <a:ahLst/>
              <a:cxnLst/>
              <a:rect l="l" t="t" r="r" b="b"/>
              <a:pathLst>
                <a:path w="31114" h="59690">
                  <a:moveTo>
                    <a:pt x="30721" y="0"/>
                  </a:moveTo>
                  <a:lnTo>
                    <a:pt x="0" y="0"/>
                  </a:lnTo>
                  <a:lnTo>
                    <a:pt x="0" y="59283"/>
                  </a:lnTo>
                  <a:lnTo>
                    <a:pt x="30721" y="59283"/>
                  </a:lnTo>
                  <a:lnTo>
                    <a:pt x="30721" y="57696"/>
                  </a:lnTo>
                  <a:lnTo>
                    <a:pt x="1358" y="57696"/>
                  </a:lnTo>
                  <a:lnTo>
                    <a:pt x="1358" y="1650"/>
                  </a:lnTo>
                  <a:lnTo>
                    <a:pt x="30721" y="1650"/>
                  </a:lnTo>
                  <a:lnTo>
                    <a:pt x="30721" y="0"/>
                  </a:lnTo>
                  <a:close/>
                </a:path>
                <a:path w="31114" h="59690">
                  <a:moveTo>
                    <a:pt x="30721" y="1650"/>
                  </a:moveTo>
                  <a:lnTo>
                    <a:pt x="29362" y="1650"/>
                  </a:lnTo>
                  <a:lnTo>
                    <a:pt x="29362" y="57696"/>
                  </a:lnTo>
                  <a:lnTo>
                    <a:pt x="30721" y="57696"/>
                  </a:lnTo>
                  <a:lnTo>
                    <a:pt x="30721" y="1650"/>
                  </a:lnTo>
                  <a:close/>
                </a:path>
              </a:pathLst>
            </a:custGeom>
            <a:solidFill>
              <a:srgbClr val="879C82"/>
            </a:solidFill>
          </p:spPr>
          <p:txBody>
            <a:bodyPr wrap="square" lIns="0" tIns="0" rIns="0" bIns="0" rtlCol="0"/>
            <a:lstStyle/>
            <a:p/>
          </p:txBody>
        </p:sp>
        <p:sp>
          <p:nvSpPr>
            <p:cNvPr id="101" name="object 101" descr=""/>
            <p:cNvSpPr/>
            <p:nvPr/>
          </p:nvSpPr>
          <p:spPr>
            <a:xfrm>
              <a:off x="2440622" y="1178877"/>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E0E6E2"/>
            </a:solidFill>
          </p:spPr>
          <p:txBody>
            <a:bodyPr wrap="square" lIns="0" tIns="0" rIns="0" bIns="0" rtlCol="0"/>
            <a:lstStyle/>
            <a:p/>
          </p:txBody>
        </p:sp>
        <p:sp>
          <p:nvSpPr>
            <p:cNvPr id="102" name="object 102" descr=""/>
            <p:cNvSpPr/>
            <p:nvPr/>
          </p:nvSpPr>
          <p:spPr>
            <a:xfrm>
              <a:off x="2440622" y="1178877"/>
              <a:ext cx="31115" cy="59690"/>
            </a:xfrm>
            <a:custGeom>
              <a:avLst/>
              <a:gdLst/>
              <a:ahLst/>
              <a:cxnLst/>
              <a:rect l="l" t="t" r="r" b="b"/>
              <a:pathLst>
                <a:path w="31114" h="59690">
                  <a:moveTo>
                    <a:pt x="30721" y="0"/>
                  </a:moveTo>
                  <a:lnTo>
                    <a:pt x="0" y="0"/>
                  </a:lnTo>
                  <a:lnTo>
                    <a:pt x="0" y="59283"/>
                  </a:lnTo>
                  <a:lnTo>
                    <a:pt x="30721" y="59283"/>
                  </a:lnTo>
                  <a:lnTo>
                    <a:pt x="30721" y="57696"/>
                  </a:lnTo>
                  <a:lnTo>
                    <a:pt x="1295" y="57696"/>
                  </a:lnTo>
                  <a:lnTo>
                    <a:pt x="1295" y="1650"/>
                  </a:lnTo>
                  <a:lnTo>
                    <a:pt x="30721" y="1650"/>
                  </a:lnTo>
                  <a:lnTo>
                    <a:pt x="30721" y="0"/>
                  </a:lnTo>
                  <a:close/>
                </a:path>
                <a:path w="31114" h="59690">
                  <a:moveTo>
                    <a:pt x="30721" y="1650"/>
                  </a:moveTo>
                  <a:lnTo>
                    <a:pt x="29425" y="1650"/>
                  </a:lnTo>
                  <a:lnTo>
                    <a:pt x="29425" y="57696"/>
                  </a:lnTo>
                  <a:lnTo>
                    <a:pt x="30721" y="57696"/>
                  </a:lnTo>
                  <a:lnTo>
                    <a:pt x="30721" y="1650"/>
                  </a:lnTo>
                  <a:close/>
                </a:path>
              </a:pathLst>
            </a:custGeom>
            <a:solidFill>
              <a:srgbClr val="879C82"/>
            </a:solidFill>
          </p:spPr>
          <p:txBody>
            <a:bodyPr wrap="square" lIns="0" tIns="0" rIns="0" bIns="0" rtlCol="0"/>
            <a:lstStyle/>
            <a:p/>
          </p:txBody>
        </p:sp>
        <p:sp>
          <p:nvSpPr>
            <p:cNvPr id="103" name="object 103" descr=""/>
            <p:cNvSpPr/>
            <p:nvPr/>
          </p:nvSpPr>
          <p:spPr>
            <a:xfrm>
              <a:off x="2395639" y="1278572"/>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E0E6E2"/>
            </a:solidFill>
          </p:spPr>
          <p:txBody>
            <a:bodyPr wrap="square" lIns="0" tIns="0" rIns="0" bIns="0" rtlCol="0"/>
            <a:lstStyle/>
            <a:p/>
          </p:txBody>
        </p:sp>
        <p:sp>
          <p:nvSpPr>
            <p:cNvPr id="104" name="object 104" descr=""/>
            <p:cNvSpPr/>
            <p:nvPr/>
          </p:nvSpPr>
          <p:spPr>
            <a:xfrm>
              <a:off x="2395639" y="1278572"/>
              <a:ext cx="31115" cy="59690"/>
            </a:xfrm>
            <a:custGeom>
              <a:avLst/>
              <a:gdLst/>
              <a:ahLst/>
              <a:cxnLst/>
              <a:rect l="l" t="t" r="r" b="b"/>
              <a:pathLst>
                <a:path w="31114" h="59690">
                  <a:moveTo>
                    <a:pt x="30721" y="0"/>
                  </a:moveTo>
                  <a:lnTo>
                    <a:pt x="0" y="0"/>
                  </a:lnTo>
                  <a:lnTo>
                    <a:pt x="0" y="59283"/>
                  </a:lnTo>
                  <a:lnTo>
                    <a:pt x="30721" y="59283"/>
                  </a:lnTo>
                  <a:lnTo>
                    <a:pt x="30721" y="57619"/>
                  </a:lnTo>
                  <a:lnTo>
                    <a:pt x="1358" y="57619"/>
                  </a:lnTo>
                  <a:lnTo>
                    <a:pt x="1358" y="1650"/>
                  </a:lnTo>
                  <a:lnTo>
                    <a:pt x="30721" y="1650"/>
                  </a:lnTo>
                  <a:lnTo>
                    <a:pt x="30721" y="0"/>
                  </a:lnTo>
                  <a:close/>
                </a:path>
                <a:path w="31114" h="59690">
                  <a:moveTo>
                    <a:pt x="30721" y="1650"/>
                  </a:moveTo>
                  <a:lnTo>
                    <a:pt x="29362" y="1650"/>
                  </a:lnTo>
                  <a:lnTo>
                    <a:pt x="29362" y="57619"/>
                  </a:lnTo>
                  <a:lnTo>
                    <a:pt x="30721" y="57619"/>
                  </a:lnTo>
                  <a:lnTo>
                    <a:pt x="30721" y="1650"/>
                  </a:lnTo>
                  <a:close/>
                </a:path>
              </a:pathLst>
            </a:custGeom>
            <a:solidFill>
              <a:srgbClr val="879C82"/>
            </a:solidFill>
          </p:spPr>
          <p:txBody>
            <a:bodyPr wrap="square" lIns="0" tIns="0" rIns="0" bIns="0" rtlCol="0"/>
            <a:lstStyle/>
            <a:p/>
          </p:txBody>
        </p:sp>
        <p:sp>
          <p:nvSpPr>
            <p:cNvPr id="105" name="object 105" descr=""/>
            <p:cNvSpPr/>
            <p:nvPr/>
          </p:nvSpPr>
          <p:spPr>
            <a:xfrm>
              <a:off x="2440622" y="1278572"/>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E0E6E2"/>
            </a:solidFill>
          </p:spPr>
          <p:txBody>
            <a:bodyPr wrap="square" lIns="0" tIns="0" rIns="0" bIns="0" rtlCol="0"/>
            <a:lstStyle/>
            <a:p/>
          </p:txBody>
        </p:sp>
        <p:sp>
          <p:nvSpPr>
            <p:cNvPr id="106" name="object 106" descr=""/>
            <p:cNvSpPr/>
            <p:nvPr/>
          </p:nvSpPr>
          <p:spPr>
            <a:xfrm>
              <a:off x="2440622" y="1278572"/>
              <a:ext cx="31115" cy="59690"/>
            </a:xfrm>
            <a:custGeom>
              <a:avLst/>
              <a:gdLst/>
              <a:ahLst/>
              <a:cxnLst/>
              <a:rect l="l" t="t" r="r" b="b"/>
              <a:pathLst>
                <a:path w="31114" h="59690">
                  <a:moveTo>
                    <a:pt x="30721" y="0"/>
                  </a:moveTo>
                  <a:lnTo>
                    <a:pt x="0" y="0"/>
                  </a:lnTo>
                  <a:lnTo>
                    <a:pt x="0" y="59283"/>
                  </a:lnTo>
                  <a:lnTo>
                    <a:pt x="30721" y="59283"/>
                  </a:lnTo>
                  <a:lnTo>
                    <a:pt x="30721" y="57619"/>
                  </a:lnTo>
                  <a:lnTo>
                    <a:pt x="1295" y="57619"/>
                  </a:lnTo>
                  <a:lnTo>
                    <a:pt x="1295" y="1650"/>
                  </a:lnTo>
                  <a:lnTo>
                    <a:pt x="30721" y="1650"/>
                  </a:lnTo>
                  <a:lnTo>
                    <a:pt x="30721" y="0"/>
                  </a:lnTo>
                  <a:close/>
                </a:path>
                <a:path w="31114" h="59690">
                  <a:moveTo>
                    <a:pt x="30721" y="1650"/>
                  </a:moveTo>
                  <a:lnTo>
                    <a:pt x="29425" y="1650"/>
                  </a:lnTo>
                  <a:lnTo>
                    <a:pt x="29425" y="57619"/>
                  </a:lnTo>
                  <a:lnTo>
                    <a:pt x="30721" y="57619"/>
                  </a:lnTo>
                  <a:lnTo>
                    <a:pt x="30721" y="1650"/>
                  </a:lnTo>
                  <a:close/>
                </a:path>
              </a:pathLst>
            </a:custGeom>
            <a:solidFill>
              <a:srgbClr val="879C82"/>
            </a:solidFill>
          </p:spPr>
          <p:txBody>
            <a:bodyPr wrap="square" lIns="0" tIns="0" rIns="0" bIns="0" rtlCol="0"/>
            <a:lstStyle/>
            <a:p/>
          </p:txBody>
        </p:sp>
        <p:sp>
          <p:nvSpPr>
            <p:cNvPr id="107" name="object 107" descr=""/>
            <p:cNvSpPr/>
            <p:nvPr/>
          </p:nvSpPr>
          <p:spPr>
            <a:xfrm>
              <a:off x="2395639" y="1378267"/>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E0E6E2"/>
            </a:solidFill>
          </p:spPr>
          <p:txBody>
            <a:bodyPr wrap="square" lIns="0" tIns="0" rIns="0" bIns="0" rtlCol="0"/>
            <a:lstStyle/>
            <a:p/>
          </p:txBody>
        </p:sp>
        <p:sp>
          <p:nvSpPr>
            <p:cNvPr id="108" name="object 108" descr=""/>
            <p:cNvSpPr/>
            <p:nvPr/>
          </p:nvSpPr>
          <p:spPr>
            <a:xfrm>
              <a:off x="2395639" y="1376921"/>
              <a:ext cx="31115" cy="60960"/>
            </a:xfrm>
            <a:custGeom>
              <a:avLst/>
              <a:gdLst/>
              <a:ahLst/>
              <a:cxnLst/>
              <a:rect l="l" t="t" r="r" b="b"/>
              <a:pathLst>
                <a:path w="31114" h="60959">
                  <a:moveTo>
                    <a:pt x="30721" y="0"/>
                  </a:moveTo>
                  <a:lnTo>
                    <a:pt x="0" y="0"/>
                  </a:lnTo>
                  <a:lnTo>
                    <a:pt x="0" y="60629"/>
                  </a:lnTo>
                  <a:lnTo>
                    <a:pt x="30721" y="60629"/>
                  </a:lnTo>
                  <a:lnTo>
                    <a:pt x="30721" y="58928"/>
                  </a:lnTo>
                  <a:lnTo>
                    <a:pt x="1358" y="58928"/>
                  </a:lnTo>
                  <a:lnTo>
                    <a:pt x="1358" y="1612"/>
                  </a:lnTo>
                  <a:lnTo>
                    <a:pt x="30721" y="1612"/>
                  </a:lnTo>
                  <a:lnTo>
                    <a:pt x="30721" y="0"/>
                  </a:lnTo>
                  <a:close/>
                </a:path>
                <a:path w="31114" h="60959">
                  <a:moveTo>
                    <a:pt x="30721" y="1612"/>
                  </a:moveTo>
                  <a:lnTo>
                    <a:pt x="29362" y="1612"/>
                  </a:lnTo>
                  <a:lnTo>
                    <a:pt x="29362" y="58928"/>
                  </a:lnTo>
                  <a:lnTo>
                    <a:pt x="30721" y="58928"/>
                  </a:lnTo>
                  <a:lnTo>
                    <a:pt x="30721" y="1612"/>
                  </a:lnTo>
                  <a:close/>
                </a:path>
              </a:pathLst>
            </a:custGeom>
            <a:solidFill>
              <a:srgbClr val="879C82"/>
            </a:solidFill>
          </p:spPr>
          <p:txBody>
            <a:bodyPr wrap="square" lIns="0" tIns="0" rIns="0" bIns="0" rtlCol="0"/>
            <a:lstStyle/>
            <a:p/>
          </p:txBody>
        </p:sp>
        <p:sp>
          <p:nvSpPr>
            <p:cNvPr id="109" name="object 109" descr=""/>
            <p:cNvSpPr/>
            <p:nvPr/>
          </p:nvSpPr>
          <p:spPr>
            <a:xfrm>
              <a:off x="2440622" y="1378267"/>
              <a:ext cx="29845" cy="58419"/>
            </a:xfrm>
            <a:custGeom>
              <a:avLst/>
              <a:gdLst/>
              <a:ahLst/>
              <a:cxnLst/>
              <a:rect l="l" t="t" r="r" b="b"/>
              <a:pathLst>
                <a:path w="29844" h="58419">
                  <a:moveTo>
                    <a:pt x="29629" y="0"/>
                  </a:moveTo>
                  <a:lnTo>
                    <a:pt x="0" y="0"/>
                  </a:lnTo>
                  <a:lnTo>
                    <a:pt x="0" y="57937"/>
                  </a:lnTo>
                  <a:lnTo>
                    <a:pt x="29629" y="57937"/>
                  </a:lnTo>
                  <a:lnTo>
                    <a:pt x="29629" y="0"/>
                  </a:lnTo>
                  <a:close/>
                </a:path>
              </a:pathLst>
            </a:custGeom>
            <a:solidFill>
              <a:srgbClr val="E0E6E2"/>
            </a:solidFill>
          </p:spPr>
          <p:txBody>
            <a:bodyPr wrap="square" lIns="0" tIns="0" rIns="0" bIns="0" rtlCol="0"/>
            <a:lstStyle/>
            <a:p/>
          </p:txBody>
        </p:sp>
        <p:sp>
          <p:nvSpPr>
            <p:cNvPr id="110" name="object 110" descr=""/>
            <p:cNvSpPr/>
            <p:nvPr/>
          </p:nvSpPr>
          <p:spPr>
            <a:xfrm>
              <a:off x="2440622" y="1376921"/>
              <a:ext cx="31115" cy="60960"/>
            </a:xfrm>
            <a:custGeom>
              <a:avLst/>
              <a:gdLst/>
              <a:ahLst/>
              <a:cxnLst/>
              <a:rect l="l" t="t" r="r" b="b"/>
              <a:pathLst>
                <a:path w="31114" h="60959">
                  <a:moveTo>
                    <a:pt x="30721" y="0"/>
                  </a:moveTo>
                  <a:lnTo>
                    <a:pt x="0" y="0"/>
                  </a:lnTo>
                  <a:lnTo>
                    <a:pt x="0" y="60629"/>
                  </a:lnTo>
                  <a:lnTo>
                    <a:pt x="30721" y="60629"/>
                  </a:lnTo>
                  <a:lnTo>
                    <a:pt x="30721" y="58928"/>
                  </a:lnTo>
                  <a:lnTo>
                    <a:pt x="1295" y="58928"/>
                  </a:lnTo>
                  <a:lnTo>
                    <a:pt x="1295" y="1612"/>
                  </a:lnTo>
                  <a:lnTo>
                    <a:pt x="30721" y="1612"/>
                  </a:lnTo>
                  <a:lnTo>
                    <a:pt x="30721" y="0"/>
                  </a:lnTo>
                  <a:close/>
                </a:path>
                <a:path w="31114" h="60959">
                  <a:moveTo>
                    <a:pt x="30721" y="1612"/>
                  </a:moveTo>
                  <a:lnTo>
                    <a:pt x="29425" y="1612"/>
                  </a:lnTo>
                  <a:lnTo>
                    <a:pt x="29425" y="58928"/>
                  </a:lnTo>
                  <a:lnTo>
                    <a:pt x="30721" y="58928"/>
                  </a:lnTo>
                  <a:lnTo>
                    <a:pt x="30721" y="1612"/>
                  </a:lnTo>
                  <a:close/>
                </a:path>
              </a:pathLst>
            </a:custGeom>
            <a:solidFill>
              <a:srgbClr val="879C82"/>
            </a:solidFill>
          </p:spPr>
          <p:txBody>
            <a:bodyPr wrap="square" lIns="0" tIns="0" rIns="0" bIns="0" rtlCol="0"/>
            <a:lstStyle/>
            <a:p/>
          </p:txBody>
        </p:sp>
        <p:sp>
          <p:nvSpPr>
            <p:cNvPr id="111" name="object 111" descr=""/>
            <p:cNvSpPr/>
            <p:nvPr/>
          </p:nvSpPr>
          <p:spPr>
            <a:xfrm>
              <a:off x="2329814" y="1456410"/>
              <a:ext cx="237490" cy="660400"/>
            </a:xfrm>
            <a:custGeom>
              <a:avLst/>
              <a:gdLst/>
              <a:ahLst/>
              <a:cxnLst/>
              <a:rect l="l" t="t" r="r" b="b"/>
              <a:pathLst>
                <a:path w="237489" h="660400">
                  <a:moveTo>
                    <a:pt x="236994" y="0"/>
                  </a:moveTo>
                  <a:lnTo>
                    <a:pt x="0" y="0"/>
                  </a:lnTo>
                  <a:lnTo>
                    <a:pt x="0" y="660158"/>
                  </a:lnTo>
                  <a:lnTo>
                    <a:pt x="236994" y="660158"/>
                  </a:lnTo>
                  <a:lnTo>
                    <a:pt x="236994" y="0"/>
                  </a:lnTo>
                  <a:close/>
                </a:path>
              </a:pathLst>
            </a:custGeom>
            <a:solidFill>
              <a:srgbClr val="4D7299"/>
            </a:solidFill>
          </p:spPr>
          <p:txBody>
            <a:bodyPr wrap="square" lIns="0" tIns="0" rIns="0" bIns="0" rtlCol="0"/>
            <a:lstStyle/>
            <a:p/>
          </p:txBody>
        </p:sp>
        <p:sp>
          <p:nvSpPr>
            <p:cNvPr id="112" name="object 112" descr=""/>
            <p:cNvSpPr/>
            <p:nvPr/>
          </p:nvSpPr>
          <p:spPr>
            <a:xfrm>
              <a:off x="2328710" y="1455419"/>
              <a:ext cx="239395" cy="662940"/>
            </a:xfrm>
            <a:custGeom>
              <a:avLst/>
              <a:gdLst/>
              <a:ahLst/>
              <a:cxnLst/>
              <a:rect l="l" t="t" r="r" b="b"/>
              <a:pathLst>
                <a:path w="239394" h="662939">
                  <a:moveTo>
                    <a:pt x="239191" y="0"/>
                  </a:moveTo>
                  <a:lnTo>
                    <a:pt x="237896" y="0"/>
                  </a:lnTo>
                  <a:lnTo>
                    <a:pt x="237896" y="1270"/>
                  </a:lnTo>
                  <a:lnTo>
                    <a:pt x="237896" y="660400"/>
                  </a:lnTo>
                  <a:lnTo>
                    <a:pt x="1295" y="660400"/>
                  </a:lnTo>
                  <a:lnTo>
                    <a:pt x="1295" y="1270"/>
                  </a:lnTo>
                  <a:lnTo>
                    <a:pt x="237896" y="1270"/>
                  </a:lnTo>
                  <a:lnTo>
                    <a:pt x="237896" y="0"/>
                  </a:lnTo>
                  <a:lnTo>
                    <a:pt x="0" y="0"/>
                  </a:lnTo>
                  <a:lnTo>
                    <a:pt x="0" y="1270"/>
                  </a:lnTo>
                  <a:lnTo>
                    <a:pt x="0" y="660400"/>
                  </a:lnTo>
                  <a:lnTo>
                    <a:pt x="0" y="662940"/>
                  </a:lnTo>
                  <a:lnTo>
                    <a:pt x="239191" y="662940"/>
                  </a:lnTo>
                  <a:lnTo>
                    <a:pt x="239191" y="660831"/>
                  </a:lnTo>
                  <a:lnTo>
                    <a:pt x="239191" y="660400"/>
                  </a:lnTo>
                  <a:lnTo>
                    <a:pt x="239191" y="1270"/>
                  </a:lnTo>
                  <a:lnTo>
                    <a:pt x="239191" y="0"/>
                  </a:lnTo>
                  <a:close/>
                </a:path>
              </a:pathLst>
            </a:custGeom>
            <a:solidFill>
              <a:srgbClr val="9BD3F0"/>
            </a:solidFill>
          </p:spPr>
          <p:txBody>
            <a:bodyPr wrap="square" lIns="0" tIns="0" rIns="0" bIns="0" rtlCol="0"/>
            <a:lstStyle/>
            <a:p/>
          </p:txBody>
        </p:sp>
        <p:sp>
          <p:nvSpPr>
            <p:cNvPr id="113" name="object 113" descr=""/>
            <p:cNvSpPr/>
            <p:nvPr/>
          </p:nvSpPr>
          <p:spPr>
            <a:xfrm>
              <a:off x="2329808" y="1390394"/>
              <a:ext cx="321945" cy="66040"/>
            </a:xfrm>
            <a:custGeom>
              <a:avLst/>
              <a:gdLst/>
              <a:ahLst/>
              <a:cxnLst/>
              <a:rect l="l" t="t" r="r" b="b"/>
              <a:pathLst>
                <a:path w="321944" h="66040">
                  <a:moveTo>
                    <a:pt x="321475" y="0"/>
                  </a:moveTo>
                  <a:lnTo>
                    <a:pt x="83693" y="76"/>
                  </a:lnTo>
                  <a:lnTo>
                    <a:pt x="0" y="66014"/>
                  </a:lnTo>
                  <a:lnTo>
                    <a:pt x="237147" y="66014"/>
                  </a:lnTo>
                  <a:lnTo>
                    <a:pt x="321475" y="0"/>
                  </a:lnTo>
                  <a:close/>
                </a:path>
              </a:pathLst>
            </a:custGeom>
            <a:solidFill>
              <a:srgbClr val="7FA6C8"/>
            </a:solidFill>
          </p:spPr>
          <p:txBody>
            <a:bodyPr wrap="square" lIns="0" tIns="0" rIns="0" bIns="0" rtlCol="0"/>
            <a:lstStyle/>
            <a:p/>
          </p:txBody>
        </p:sp>
        <p:sp>
          <p:nvSpPr>
            <p:cNvPr id="114" name="object 114" descr=""/>
            <p:cNvSpPr/>
            <p:nvPr/>
          </p:nvSpPr>
          <p:spPr>
            <a:xfrm>
              <a:off x="2329812" y="1389048"/>
              <a:ext cx="322580" cy="67945"/>
            </a:xfrm>
            <a:custGeom>
              <a:avLst/>
              <a:gdLst/>
              <a:ahLst/>
              <a:cxnLst/>
              <a:rect l="l" t="t" r="r" b="b"/>
              <a:pathLst>
                <a:path w="322580" h="67944">
                  <a:moveTo>
                    <a:pt x="322249" y="0"/>
                  </a:moveTo>
                  <a:lnTo>
                    <a:pt x="84201" y="0"/>
                  </a:lnTo>
                  <a:lnTo>
                    <a:pt x="83820" y="152"/>
                  </a:lnTo>
                  <a:lnTo>
                    <a:pt x="0" y="65849"/>
                  </a:lnTo>
                  <a:lnTo>
                    <a:pt x="399" y="67208"/>
                  </a:lnTo>
                  <a:lnTo>
                    <a:pt x="444" y="67360"/>
                  </a:lnTo>
                  <a:lnTo>
                    <a:pt x="237718" y="67360"/>
                  </a:lnTo>
                  <a:lnTo>
                    <a:pt x="238036" y="67208"/>
                  </a:lnTo>
                  <a:lnTo>
                    <a:pt x="239784" y="65849"/>
                  </a:lnTo>
                  <a:lnTo>
                    <a:pt x="2480" y="65849"/>
                  </a:lnTo>
                  <a:lnTo>
                    <a:pt x="84404" y="1663"/>
                  </a:lnTo>
                  <a:lnTo>
                    <a:pt x="322371" y="1663"/>
                  </a:lnTo>
                  <a:lnTo>
                    <a:pt x="322567" y="1511"/>
                  </a:lnTo>
                  <a:lnTo>
                    <a:pt x="322281" y="152"/>
                  </a:lnTo>
                  <a:lnTo>
                    <a:pt x="322249" y="0"/>
                  </a:lnTo>
                  <a:close/>
                </a:path>
                <a:path w="322580" h="67944">
                  <a:moveTo>
                    <a:pt x="322371" y="1663"/>
                  </a:moveTo>
                  <a:lnTo>
                    <a:pt x="319989" y="1663"/>
                  </a:lnTo>
                  <a:lnTo>
                    <a:pt x="237430" y="65849"/>
                  </a:lnTo>
                  <a:lnTo>
                    <a:pt x="239784" y="65849"/>
                  </a:lnTo>
                  <a:lnTo>
                    <a:pt x="322371" y="1663"/>
                  </a:lnTo>
                  <a:close/>
                </a:path>
              </a:pathLst>
            </a:custGeom>
            <a:solidFill>
              <a:srgbClr val="9BD3F0"/>
            </a:solidFill>
          </p:spPr>
          <p:txBody>
            <a:bodyPr wrap="square" lIns="0" tIns="0" rIns="0" bIns="0" rtlCol="0"/>
            <a:lstStyle/>
            <a:p/>
          </p:txBody>
        </p:sp>
        <p:sp>
          <p:nvSpPr>
            <p:cNvPr id="115" name="object 115" descr=""/>
            <p:cNvSpPr/>
            <p:nvPr/>
          </p:nvSpPr>
          <p:spPr>
            <a:xfrm>
              <a:off x="2566807" y="1390393"/>
              <a:ext cx="85090" cy="726440"/>
            </a:xfrm>
            <a:custGeom>
              <a:avLst/>
              <a:gdLst/>
              <a:ahLst/>
              <a:cxnLst/>
              <a:rect l="l" t="t" r="r" b="b"/>
              <a:pathLst>
                <a:path w="85089" h="726439">
                  <a:moveTo>
                    <a:pt x="84480" y="0"/>
                  </a:moveTo>
                  <a:lnTo>
                    <a:pt x="0" y="65544"/>
                  </a:lnTo>
                  <a:lnTo>
                    <a:pt x="0" y="726173"/>
                  </a:lnTo>
                  <a:lnTo>
                    <a:pt x="84416" y="660565"/>
                  </a:lnTo>
                  <a:lnTo>
                    <a:pt x="84480" y="0"/>
                  </a:lnTo>
                  <a:close/>
                </a:path>
              </a:pathLst>
            </a:custGeom>
            <a:solidFill>
              <a:srgbClr val="004264"/>
            </a:solidFill>
          </p:spPr>
          <p:txBody>
            <a:bodyPr wrap="square" lIns="0" tIns="0" rIns="0" bIns="0" rtlCol="0"/>
            <a:lstStyle/>
            <a:p/>
          </p:txBody>
        </p:sp>
        <p:sp>
          <p:nvSpPr>
            <p:cNvPr id="116" name="object 116" descr=""/>
            <p:cNvSpPr/>
            <p:nvPr/>
          </p:nvSpPr>
          <p:spPr>
            <a:xfrm>
              <a:off x="2566807" y="1389043"/>
              <a:ext cx="85725" cy="728980"/>
            </a:xfrm>
            <a:custGeom>
              <a:avLst/>
              <a:gdLst/>
              <a:ahLst/>
              <a:cxnLst/>
              <a:rect l="l" t="t" r="r" b="b"/>
              <a:pathLst>
                <a:path w="85725" h="728980">
                  <a:moveTo>
                    <a:pt x="85572" y="0"/>
                  </a:moveTo>
                  <a:lnTo>
                    <a:pt x="84607" y="800"/>
                  </a:lnTo>
                  <a:lnTo>
                    <a:pt x="0" y="66636"/>
                  </a:lnTo>
                  <a:lnTo>
                    <a:pt x="0" y="728878"/>
                  </a:lnTo>
                  <a:lnTo>
                    <a:pt x="3771" y="725944"/>
                  </a:lnTo>
                  <a:lnTo>
                    <a:pt x="1282" y="725944"/>
                  </a:lnTo>
                  <a:lnTo>
                    <a:pt x="1282" y="67500"/>
                  </a:lnTo>
                  <a:lnTo>
                    <a:pt x="84289" y="2933"/>
                  </a:lnTo>
                  <a:lnTo>
                    <a:pt x="85572" y="2933"/>
                  </a:lnTo>
                  <a:lnTo>
                    <a:pt x="85572" y="0"/>
                  </a:lnTo>
                  <a:close/>
                </a:path>
                <a:path w="85725" h="728980">
                  <a:moveTo>
                    <a:pt x="85572" y="2933"/>
                  </a:moveTo>
                  <a:lnTo>
                    <a:pt x="84289" y="2933"/>
                  </a:lnTo>
                  <a:lnTo>
                    <a:pt x="84162" y="661454"/>
                  </a:lnTo>
                  <a:lnTo>
                    <a:pt x="1282" y="725944"/>
                  </a:lnTo>
                  <a:lnTo>
                    <a:pt x="3771" y="725944"/>
                  </a:lnTo>
                  <a:lnTo>
                    <a:pt x="85255" y="662558"/>
                  </a:lnTo>
                  <a:lnTo>
                    <a:pt x="85509" y="662330"/>
                  </a:lnTo>
                  <a:lnTo>
                    <a:pt x="85572" y="2933"/>
                  </a:lnTo>
                  <a:close/>
                </a:path>
              </a:pathLst>
            </a:custGeom>
            <a:solidFill>
              <a:srgbClr val="9BD3F0"/>
            </a:solidFill>
          </p:spPr>
          <p:txBody>
            <a:bodyPr wrap="square" lIns="0" tIns="0" rIns="0" bIns="0" rtlCol="0"/>
            <a:lstStyle/>
            <a:p/>
          </p:txBody>
        </p:sp>
        <p:sp>
          <p:nvSpPr>
            <p:cNvPr id="117" name="object 117" descr=""/>
            <p:cNvSpPr/>
            <p:nvPr/>
          </p:nvSpPr>
          <p:spPr>
            <a:xfrm>
              <a:off x="2346261" y="1557451"/>
              <a:ext cx="31115" cy="59690"/>
            </a:xfrm>
            <a:custGeom>
              <a:avLst/>
              <a:gdLst/>
              <a:ahLst/>
              <a:cxnLst/>
              <a:rect l="l" t="t" r="r" b="b"/>
              <a:pathLst>
                <a:path w="31114" h="59690">
                  <a:moveTo>
                    <a:pt x="30721" y="0"/>
                  </a:moveTo>
                  <a:lnTo>
                    <a:pt x="29629" y="0"/>
                  </a:lnTo>
                  <a:lnTo>
                    <a:pt x="0" y="0"/>
                  </a:lnTo>
                  <a:lnTo>
                    <a:pt x="0" y="57937"/>
                  </a:lnTo>
                  <a:lnTo>
                    <a:pt x="0" y="59283"/>
                  </a:lnTo>
                  <a:lnTo>
                    <a:pt x="30721" y="59283"/>
                  </a:lnTo>
                  <a:lnTo>
                    <a:pt x="30721" y="57696"/>
                  </a:lnTo>
                  <a:lnTo>
                    <a:pt x="30721" y="1587"/>
                  </a:lnTo>
                  <a:lnTo>
                    <a:pt x="30721" y="0"/>
                  </a:lnTo>
                  <a:close/>
                </a:path>
              </a:pathLst>
            </a:custGeom>
            <a:solidFill>
              <a:srgbClr val="7FA6C8"/>
            </a:solidFill>
          </p:spPr>
          <p:txBody>
            <a:bodyPr wrap="square" lIns="0" tIns="0" rIns="0" bIns="0" rtlCol="0"/>
            <a:lstStyle/>
            <a:p/>
          </p:txBody>
        </p:sp>
        <p:sp>
          <p:nvSpPr>
            <p:cNvPr id="118" name="object 118" descr=""/>
            <p:cNvSpPr/>
            <p:nvPr/>
          </p:nvSpPr>
          <p:spPr>
            <a:xfrm>
              <a:off x="2346261" y="1557451"/>
              <a:ext cx="31115" cy="59690"/>
            </a:xfrm>
            <a:custGeom>
              <a:avLst/>
              <a:gdLst/>
              <a:ahLst/>
              <a:cxnLst/>
              <a:rect l="l" t="t" r="r" b="b"/>
              <a:pathLst>
                <a:path w="31114" h="59690">
                  <a:moveTo>
                    <a:pt x="0" y="0"/>
                  </a:moveTo>
                  <a:lnTo>
                    <a:pt x="30721" y="0"/>
                  </a:lnTo>
                  <a:lnTo>
                    <a:pt x="30721" y="59283"/>
                  </a:lnTo>
                  <a:lnTo>
                    <a:pt x="0" y="59283"/>
                  </a:lnTo>
                  <a:lnTo>
                    <a:pt x="0" y="0"/>
                  </a:lnTo>
                  <a:close/>
                </a:path>
                <a:path w="31114" h="59690">
                  <a:moveTo>
                    <a:pt x="1104" y="1346"/>
                  </a:moveTo>
                  <a:lnTo>
                    <a:pt x="28536" y="1346"/>
                  </a:lnTo>
                  <a:lnTo>
                    <a:pt x="28536" y="57937"/>
                  </a:lnTo>
                  <a:lnTo>
                    <a:pt x="1104" y="57937"/>
                  </a:lnTo>
                  <a:lnTo>
                    <a:pt x="1104" y="1346"/>
                  </a:lnTo>
                  <a:close/>
                </a:path>
              </a:pathLst>
            </a:custGeom>
            <a:ln w="3175">
              <a:solidFill>
                <a:srgbClr val="9BD3F0"/>
              </a:solidFill>
            </a:ln>
          </p:spPr>
          <p:txBody>
            <a:bodyPr wrap="square" lIns="0" tIns="0" rIns="0" bIns="0" rtlCol="0"/>
            <a:lstStyle/>
            <a:p/>
          </p:txBody>
        </p:sp>
        <p:sp>
          <p:nvSpPr>
            <p:cNvPr id="119" name="object 119" descr=""/>
            <p:cNvSpPr/>
            <p:nvPr/>
          </p:nvSpPr>
          <p:spPr>
            <a:xfrm>
              <a:off x="2389060" y="1557451"/>
              <a:ext cx="31115" cy="59690"/>
            </a:xfrm>
            <a:custGeom>
              <a:avLst/>
              <a:gdLst/>
              <a:ahLst/>
              <a:cxnLst/>
              <a:rect l="l" t="t" r="r" b="b"/>
              <a:pathLst>
                <a:path w="31114" h="59690">
                  <a:moveTo>
                    <a:pt x="30721" y="0"/>
                  </a:moveTo>
                  <a:lnTo>
                    <a:pt x="1092" y="0"/>
                  </a:lnTo>
                  <a:lnTo>
                    <a:pt x="0" y="0"/>
                  </a:lnTo>
                  <a:lnTo>
                    <a:pt x="0" y="59283"/>
                  </a:lnTo>
                  <a:lnTo>
                    <a:pt x="30721" y="59283"/>
                  </a:lnTo>
                  <a:lnTo>
                    <a:pt x="30721" y="57937"/>
                  </a:lnTo>
                  <a:lnTo>
                    <a:pt x="30721" y="57696"/>
                  </a:lnTo>
                  <a:lnTo>
                    <a:pt x="30721" y="1587"/>
                  </a:lnTo>
                  <a:lnTo>
                    <a:pt x="30721" y="0"/>
                  </a:lnTo>
                  <a:close/>
                </a:path>
              </a:pathLst>
            </a:custGeom>
            <a:solidFill>
              <a:srgbClr val="7FA6C8"/>
            </a:solidFill>
          </p:spPr>
          <p:txBody>
            <a:bodyPr wrap="square" lIns="0" tIns="0" rIns="0" bIns="0" rtlCol="0"/>
            <a:lstStyle/>
            <a:p/>
          </p:txBody>
        </p:sp>
        <p:sp>
          <p:nvSpPr>
            <p:cNvPr id="120" name="object 120" descr=""/>
            <p:cNvSpPr/>
            <p:nvPr/>
          </p:nvSpPr>
          <p:spPr>
            <a:xfrm>
              <a:off x="2389060" y="1557451"/>
              <a:ext cx="31115" cy="59690"/>
            </a:xfrm>
            <a:custGeom>
              <a:avLst/>
              <a:gdLst/>
              <a:ahLst/>
              <a:cxnLst/>
              <a:rect l="l" t="t" r="r" b="b"/>
              <a:pathLst>
                <a:path w="31114" h="59690">
                  <a:moveTo>
                    <a:pt x="0" y="0"/>
                  </a:moveTo>
                  <a:lnTo>
                    <a:pt x="30721" y="0"/>
                  </a:lnTo>
                  <a:lnTo>
                    <a:pt x="30721" y="59283"/>
                  </a:lnTo>
                  <a:lnTo>
                    <a:pt x="0" y="59283"/>
                  </a:lnTo>
                  <a:lnTo>
                    <a:pt x="0" y="0"/>
                  </a:lnTo>
                  <a:close/>
                </a:path>
                <a:path w="31114" h="59690">
                  <a:moveTo>
                    <a:pt x="1092" y="1346"/>
                  </a:moveTo>
                  <a:lnTo>
                    <a:pt x="29616" y="1346"/>
                  </a:lnTo>
                  <a:lnTo>
                    <a:pt x="29616" y="57937"/>
                  </a:lnTo>
                  <a:lnTo>
                    <a:pt x="1092" y="57937"/>
                  </a:lnTo>
                  <a:lnTo>
                    <a:pt x="1092" y="1346"/>
                  </a:lnTo>
                  <a:close/>
                </a:path>
              </a:pathLst>
            </a:custGeom>
            <a:ln w="3175">
              <a:solidFill>
                <a:srgbClr val="9BD3F0"/>
              </a:solidFill>
            </a:ln>
          </p:spPr>
          <p:txBody>
            <a:bodyPr wrap="square" lIns="0" tIns="0" rIns="0" bIns="0" rtlCol="0"/>
            <a:lstStyle/>
            <a:p/>
          </p:txBody>
        </p:sp>
        <p:sp>
          <p:nvSpPr>
            <p:cNvPr id="121" name="object 121" descr=""/>
            <p:cNvSpPr/>
            <p:nvPr/>
          </p:nvSpPr>
          <p:spPr>
            <a:xfrm>
              <a:off x="2432951" y="1557451"/>
              <a:ext cx="31115" cy="59690"/>
            </a:xfrm>
            <a:custGeom>
              <a:avLst/>
              <a:gdLst/>
              <a:ahLst/>
              <a:cxnLst/>
              <a:rect l="l" t="t" r="r" b="b"/>
              <a:pathLst>
                <a:path w="31114" h="59690">
                  <a:moveTo>
                    <a:pt x="30721" y="0"/>
                  </a:moveTo>
                  <a:lnTo>
                    <a:pt x="29629" y="0"/>
                  </a:lnTo>
                  <a:lnTo>
                    <a:pt x="0" y="0"/>
                  </a:lnTo>
                  <a:lnTo>
                    <a:pt x="0" y="57937"/>
                  </a:lnTo>
                  <a:lnTo>
                    <a:pt x="0" y="59283"/>
                  </a:lnTo>
                  <a:lnTo>
                    <a:pt x="30721" y="59283"/>
                  </a:lnTo>
                  <a:lnTo>
                    <a:pt x="30721" y="57696"/>
                  </a:lnTo>
                  <a:lnTo>
                    <a:pt x="30721" y="1587"/>
                  </a:lnTo>
                  <a:lnTo>
                    <a:pt x="30721" y="0"/>
                  </a:lnTo>
                  <a:close/>
                </a:path>
              </a:pathLst>
            </a:custGeom>
            <a:solidFill>
              <a:srgbClr val="7FA6C8"/>
            </a:solidFill>
          </p:spPr>
          <p:txBody>
            <a:bodyPr wrap="square" lIns="0" tIns="0" rIns="0" bIns="0" rtlCol="0"/>
            <a:lstStyle/>
            <a:p/>
          </p:txBody>
        </p:sp>
        <p:sp>
          <p:nvSpPr>
            <p:cNvPr id="122" name="object 122" descr=""/>
            <p:cNvSpPr/>
            <p:nvPr/>
          </p:nvSpPr>
          <p:spPr>
            <a:xfrm>
              <a:off x="2432951" y="1557451"/>
              <a:ext cx="31115" cy="59690"/>
            </a:xfrm>
            <a:custGeom>
              <a:avLst/>
              <a:gdLst/>
              <a:ahLst/>
              <a:cxnLst/>
              <a:rect l="l" t="t" r="r" b="b"/>
              <a:pathLst>
                <a:path w="31114" h="59690">
                  <a:moveTo>
                    <a:pt x="0" y="0"/>
                  </a:moveTo>
                  <a:lnTo>
                    <a:pt x="30721" y="0"/>
                  </a:lnTo>
                  <a:lnTo>
                    <a:pt x="30721" y="59283"/>
                  </a:lnTo>
                  <a:lnTo>
                    <a:pt x="0" y="59283"/>
                  </a:lnTo>
                  <a:lnTo>
                    <a:pt x="0" y="0"/>
                  </a:lnTo>
                  <a:close/>
                </a:path>
                <a:path w="31114" h="59690">
                  <a:moveTo>
                    <a:pt x="1092" y="1346"/>
                  </a:moveTo>
                  <a:lnTo>
                    <a:pt x="28524" y="1346"/>
                  </a:lnTo>
                  <a:lnTo>
                    <a:pt x="28524" y="57937"/>
                  </a:lnTo>
                  <a:lnTo>
                    <a:pt x="1092" y="57937"/>
                  </a:lnTo>
                  <a:lnTo>
                    <a:pt x="1092" y="1346"/>
                  </a:lnTo>
                  <a:close/>
                </a:path>
              </a:pathLst>
            </a:custGeom>
            <a:ln w="3175">
              <a:solidFill>
                <a:srgbClr val="9BD3F0"/>
              </a:solidFill>
            </a:ln>
          </p:spPr>
          <p:txBody>
            <a:bodyPr wrap="square" lIns="0" tIns="0" rIns="0" bIns="0" rtlCol="0"/>
            <a:lstStyle/>
            <a:p/>
          </p:txBody>
        </p:sp>
        <p:sp>
          <p:nvSpPr>
            <p:cNvPr id="123" name="object 123" descr=""/>
            <p:cNvSpPr/>
            <p:nvPr/>
          </p:nvSpPr>
          <p:spPr>
            <a:xfrm>
              <a:off x="2475738" y="1557451"/>
              <a:ext cx="31115" cy="59690"/>
            </a:xfrm>
            <a:custGeom>
              <a:avLst/>
              <a:gdLst/>
              <a:ahLst/>
              <a:cxnLst/>
              <a:rect l="l" t="t" r="r" b="b"/>
              <a:pathLst>
                <a:path w="31114" h="59690">
                  <a:moveTo>
                    <a:pt x="30721" y="0"/>
                  </a:moveTo>
                  <a:lnTo>
                    <a:pt x="1092" y="0"/>
                  </a:lnTo>
                  <a:lnTo>
                    <a:pt x="0" y="0"/>
                  </a:lnTo>
                  <a:lnTo>
                    <a:pt x="0" y="59283"/>
                  </a:lnTo>
                  <a:lnTo>
                    <a:pt x="30721" y="59283"/>
                  </a:lnTo>
                  <a:lnTo>
                    <a:pt x="30721" y="57937"/>
                  </a:lnTo>
                  <a:lnTo>
                    <a:pt x="30721" y="57696"/>
                  </a:lnTo>
                  <a:lnTo>
                    <a:pt x="30721" y="1587"/>
                  </a:lnTo>
                  <a:lnTo>
                    <a:pt x="30721" y="0"/>
                  </a:lnTo>
                  <a:close/>
                </a:path>
              </a:pathLst>
            </a:custGeom>
            <a:solidFill>
              <a:srgbClr val="7FA6C8"/>
            </a:solidFill>
          </p:spPr>
          <p:txBody>
            <a:bodyPr wrap="square" lIns="0" tIns="0" rIns="0" bIns="0" rtlCol="0"/>
            <a:lstStyle/>
            <a:p/>
          </p:txBody>
        </p:sp>
        <p:sp>
          <p:nvSpPr>
            <p:cNvPr id="124" name="object 124" descr=""/>
            <p:cNvSpPr/>
            <p:nvPr/>
          </p:nvSpPr>
          <p:spPr>
            <a:xfrm>
              <a:off x="2475738" y="1557451"/>
              <a:ext cx="31115" cy="59690"/>
            </a:xfrm>
            <a:custGeom>
              <a:avLst/>
              <a:gdLst/>
              <a:ahLst/>
              <a:cxnLst/>
              <a:rect l="l" t="t" r="r" b="b"/>
              <a:pathLst>
                <a:path w="31114" h="59690">
                  <a:moveTo>
                    <a:pt x="0" y="0"/>
                  </a:moveTo>
                  <a:lnTo>
                    <a:pt x="30721" y="0"/>
                  </a:lnTo>
                  <a:lnTo>
                    <a:pt x="30721" y="59283"/>
                  </a:lnTo>
                  <a:lnTo>
                    <a:pt x="0" y="59283"/>
                  </a:lnTo>
                  <a:lnTo>
                    <a:pt x="0" y="0"/>
                  </a:lnTo>
                  <a:close/>
                </a:path>
                <a:path w="31114" h="59690">
                  <a:moveTo>
                    <a:pt x="1092" y="1346"/>
                  </a:moveTo>
                  <a:lnTo>
                    <a:pt x="29616" y="1346"/>
                  </a:lnTo>
                  <a:lnTo>
                    <a:pt x="29616" y="57937"/>
                  </a:lnTo>
                  <a:lnTo>
                    <a:pt x="1092" y="57937"/>
                  </a:lnTo>
                  <a:lnTo>
                    <a:pt x="1092" y="1346"/>
                  </a:lnTo>
                  <a:close/>
                </a:path>
              </a:pathLst>
            </a:custGeom>
            <a:ln w="3175">
              <a:solidFill>
                <a:srgbClr val="9BD3F0"/>
              </a:solidFill>
            </a:ln>
          </p:spPr>
          <p:txBody>
            <a:bodyPr wrap="square" lIns="0" tIns="0" rIns="0" bIns="0" rtlCol="0"/>
            <a:lstStyle/>
            <a:p/>
          </p:txBody>
        </p:sp>
        <p:sp>
          <p:nvSpPr>
            <p:cNvPr id="125" name="object 125" descr=""/>
            <p:cNvSpPr/>
            <p:nvPr/>
          </p:nvSpPr>
          <p:spPr>
            <a:xfrm>
              <a:off x="2522918" y="1557451"/>
              <a:ext cx="29845" cy="59690"/>
            </a:xfrm>
            <a:custGeom>
              <a:avLst/>
              <a:gdLst/>
              <a:ahLst/>
              <a:cxnLst/>
              <a:rect l="l" t="t" r="r" b="b"/>
              <a:pathLst>
                <a:path w="29844" h="59690">
                  <a:moveTo>
                    <a:pt x="29629" y="0"/>
                  </a:moveTo>
                  <a:lnTo>
                    <a:pt x="0" y="0"/>
                  </a:lnTo>
                  <a:lnTo>
                    <a:pt x="0" y="57937"/>
                  </a:lnTo>
                  <a:lnTo>
                    <a:pt x="0" y="59283"/>
                  </a:lnTo>
                  <a:lnTo>
                    <a:pt x="29629" y="59283"/>
                  </a:lnTo>
                  <a:lnTo>
                    <a:pt x="29629" y="57937"/>
                  </a:lnTo>
                  <a:lnTo>
                    <a:pt x="29629" y="57696"/>
                  </a:lnTo>
                  <a:lnTo>
                    <a:pt x="29629" y="1587"/>
                  </a:lnTo>
                  <a:lnTo>
                    <a:pt x="29629" y="0"/>
                  </a:lnTo>
                  <a:close/>
                </a:path>
              </a:pathLst>
            </a:custGeom>
            <a:solidFill>
              <a:srgbClr val="7FA6C8"/>
            </a:solidFill>
          </p:spPr>
          <p:txBody>
            <a:bodyPr wrap="square" lIns="0" tIns="0" rIns="0" bIns="0" rtlCol="0"/>
            <a:lstStyle/>
            <a:p/>
          </p:txBody>
        </p:sp>
        <p:sp>
          <p:nvSpPr>
            <p:cNvPr id="126" name="object 126" descr=""/>
            <p:cNvSpPr/>
            <p:nvPr/>
          </p:nvSpPr>
          <p:spPr>
            <a:xfrm>
              <a:off x="2522918" y="1557451"/>
              <a:ext cx="29845" cy="59690"/>
            </a:xfrm>
            <a:custGeom>
              <a:avLst/>
              <a:gdLst/>
              <a:ahLst/>
              <a:cxnLst/>
              <a:rect l="l" t="t" r="r" b="b"/>
              <a:pathLst>
                <a:path w="29844" h="59690">
                  <a:moveTo>
                    <a:pt x="0" y="0"/>
                  </a:moveTo>
                  <a:lnTo>
                    <a:pt x="29629" y="0"/>
                  </a:lnTo>
                  <a:lnTo>
                    <a:pt x="29629" y="59283"/>
                  </a:lnTo>
                  <a:lnTo>
                    <a:pt x="0" y="59283"/>
                  </a:lnTo>
                  <a:lnTo>
                    <a:pt x="0" y="0"/>
                  </a:lnTo>
                  <a:close/>
                </a:path>
                <a:path w="29844" h="59690">
                  <a:moveTo>
                    <a:pt x="1092" y="1346"/>
                  </a:moveTo>
                  <a:lnTo>
                    <a:pt x="28524" y="1346"/>
                  </a:lnTo>
                  <a:lnTo>
                    <a:pt x="28524" y="57937"/>
                  </a:lnTo>
                  <a:lnTo>
                    <a:pt x="1092" y="57937"/>
                  </a:lnTo>
                  <a:lnTo>
                    <a:pt x="1092" y="1346"/>
                  </a:lnTo>
                  <a:close/>
                </a:path>
              </a:pathLst>
            </a:custGeom>
            <a:ln w="3175">
              <a:solidFill>
                <a:srgbClr val="9BD3F0"/>
              </a:solidFill>
            </a:ln>
          </p:spPr>
          <p:txBody>
            <a:bodyPr wrap="square" lIns="0" tIns="0" rIns="0" bIns="0" rtlCol="0"/>
            <a:lstStyle/>
            <a:p/>
          </p:txBody>
        </p:sp>
        <p:pic>
          <p:nvPicPr>
            <p:cNvPr id="127" name="object 127" descr=""/>
            <p:cNvPicPr/>
            <p:nvPr/>
          </p:nvPicPr>
          <p:blipFill>
            <a:blip r:embed="rId4" cstate="print"/>
            <a:stretch>
              <a:fillRect/>
            </a:stretch>
          </p:blipFill>
          <p:spPr>
            <a:xfrm>
              <a:off x="2344673" y="1654213"/>
              <a:ext cx="209461" cy="63804"/>
            </a:xfrm>
            <a:prstGeom prst="rect">
              <a:avLst/>
            </a:prstGeom>
          </p:spPr>
        </p:pic>
        <p:sp>
          <p:nvSpPr>
            <p:cNvPr id="128" name="object 128" descr=""/>
            <p:cNvSpPr/>
            <p:nvPr/>
          </p:nvSpPr>
          <p:spPr>
            <a:xfrm>
              <a:off x="2346261" y="1755508"/>
              <a:ext cx="31115" cy="59690"/>
            </a:xfrm>
            <a:custGeom>
              <a:avLst/>
              <a:gdLst/>
              <a:ahLst/>
              <a:cxnLst/>
              <a:rect l="l" t="t" r="r" b="b"/>
              <a:pathLst>
                <a:path w="31114" h="59689">
                  <a:moveTo>
                    <a:pt x="30721" y="0"/>
                  </a:moveTo>
                  <a:lnTo>
                    <a:pt x="0" y="0"/>
                  </a:lnTo>
                  <a:lnTo>
                    <a:pt x="0" y="1346"/>
                  </a:lnTo>
                  <a:lnTo>
                    <a:pt x="0" y="59283"/>
                  </a:lnTo>
                  <a:lnTo>
                    <a:pt x="29629" y="59283"/>
                  </a:lnTo>
                  <a:lnTo>
                    <a:pt x="30721" y="59283"/>
                  </a:lnTo>
                  <a:lnTo>
                    <a:pt x="30721" y="57619"/>
                  </a:lnTo>
                  <a:lnTo>
                    <a:pt x="30721" y="1574"/>
                  </a:lnTo>
                  <a:lnTo>
                    <a:pt x="30721" y="0"/>
                  </a:lnTo>
                  <a:close/>
                </a:path>
              </a:pathLst>
            </a:custGeom>
            <a:solidFill>
              <a:srgbClr val="7FA6C8"/>
            </a:solidFill>
          </p:spPr>
          <p:txBody>
            <a:bodyPr wrap="square" lIns="0" tIns="0" rIns="0" bIns="0" rtlCol="0"/>
            <a:lstStyle/>
            <a:p/>
          </p:txBody>
        </p:sp>
        <p:sp>
          <p:nvSpPr>
            <p:cNvPr id="129" name="object 129" descr=""/>
            <p:cNvSpPr/>
            <p:nvPr/>
          </p:nvSpPr>
          <p:spPr>
            <a:xfrm>
              <a:off x="2346261" y="1755508"/>
              <a:ext cx="31115" cy="59690"/>
            </a:xfrm>
            <a:custGeom>
              <a:avLst/>
              <a:gdLst/>
              <a:ahLst/>
              <a:cxnLst/>
              <a:rect l="l" t="t" r="r" b="b"/>
              <a:pathLst>
                <a:path w="31114" h="59689">
                  <a:moveTo>
                    <a:pt x="0" y="0"/>
                  </a:moveTo>
                  <a:lnTo>
                    <a:pt x="30721" y="0"/>
                  </a:lnTo>
                  <a:lnTo>
                    <a:pt x="30721" y="59283"/>
                  </a:lnTo>
                  <a:lnTo>
                    <a:pt x="0" y="59283"/>
                  </a:lnTo>
                  <a:lnTo>
                    <a:pt x="0" y="0"/>
                  </a:lnTo>
                  <a:close/>
                </a:path>
                <a:path w="31114" h="59689">
                  <a:moveTo>
                    <a:pt x="1104" y="1346"/>
                  </a:moveTo>
                  <a:lnTo>
                    <a:pt x="28536" y="1346"/>
                  </a:lnTo>
                  <a:lnTo>
                    <a:pt x="28536" y="57937"/>
                  </a:lnTo>
                  <a:lnTo>
                    <a:pt x="1104" y="57937"/>
                  </a:lnTo>
                  <a:lnTo>
                    <a:pt x="1104" y="1346"/>
                  </a:lnTo>
                  <a:close/>
                </a:path>
              </a:pathLst>
            </a:custGeom>
            <a:ln w="3175">
              <a:solidFill>
                <a:srgbClr val="9BD3F0"/>
              </a:solidFill>
            </a:ln>
          </p:spPr>
          <p:txBody>
            <a:bodyPr wrap="square" lIns="0" tIns="0" rIns="0" bIns="0" rtlCol="0"/>
            <a:lstStyle/>
            <a:p/>
          </p:txBody>
        </p:sp>
        <p:sp>
          <p:nvSpPr>
            <p:cNvPr id="130" name="object 130" descr=""/>
            <p:cNvSpPr/>
            <p:nvPr/>
          </p:nvSpPr>
          <p:spPr>
            <a:xfrm>
              <a:off x="2389060" y="1755508"/>
              <a:ext cx="31115" cy="59690"/>
            </a:xfrm>
            <a:custGeom>
              <a:avLst/>
              <a:gdLst/>
              <a:ahLst/>
              <a:cxnLst/>
              <a:rect l="l" t="t" r="r" b="b"/>
              <a:pathLst>
                <a:path w="31114" h="59689">
                  <a:moveTo>
                    <a:pt x="30721" y="0"/>
                  </a:moveTo>
                  <a:lnTo>
                    <a:pt x="0" y="0"/>
                  </a:lnTo>
                  <a:lnTo>
                    <a:pt x="0" y="59283"/>
                  </a:lnTo>
                  <a:lnTo>
                    <a:pt x="1092" y="59283"/>
                  </a:lnTo>
                  <a:lnTo>
                    <a:pt x="30721" y="59283"/>
                  </a:lnTo>
                  <a:lnTo>
                    <a:pt x="30721" y="57619"/>
                  </a:lnTo>
                  <a:lnTo>
                    <a:pt x="30721" y="1574"/>
                  </a:lnTo>
                  <a:lnTo>
                    <a:pt x="30721" y="1346"/>
                  </a:lnTo>
                  <a:lnTo>
                    <a:pt x="30721" y="0"/>
                  </a:lnTo>
                  <a:close/>
                </a:path>
              </a:pathLst>
            </a:custGeom>
            <a:solidFill>
              <a:srgbClr val="7FA6C8"/>
            </a:solidFill>
          </p:spPr>
          <p:txBody>
            <a:bodyPr wrap="square" lIns="0" tIns="0" rIns="0" bIns="0" rtlCol="0"/>
            <a:lstStyle/>
            <a:p/>
          </p:txBody>
        </p:sp>
        <p:sp>
          <p:nvSpPr>
            <p:cNvPr id="131" name="object 131" descr=""/>
            <p:cNvSpPr/>
            <p:nvPr/>
          </p:nvSpPr>
          <p:spPr>
            <a:xfrm>
              <a:off x="2389060" y="1755508"/>
              <a:ext cx="31115" cy="59690"/>
            </a:xfrm>
            <a:custGeom>
              <a:avLst/>
              <a:gdLst/>
              <a:ahLst/>
              <a:cxnLst/>
              <a:rect l="l" t="t" r="r" b="b"/>
              <a:pathLst>
                <a:path w="31114" h="59689">
                  <a:moveTo>
                    <a:pt x="0" y="0"/>
                  </a:moveTo>
                  <a:lnTo>
                    <a:pt x="30721" y="0"/>
                  </a:lnTo>
                  <a:lnTo>
                    <a:pt x="30721" y="59283"/>
                  </a:lnTo>
                  <a:lnTo>
                    <a:pt x="0" y="59283"/>
                  </a:lnTo>
                  <a:lnTo>
                    <a:pt x="0" y="0"/>
                  </a:lnTo>
                  <a:close/>
                </a:path>
                <a:path w="31114" h="59689">
                  <a:moveTo>
                    <a:pt x="1092" y="1346"/>
                  </a:moveTo>
                  <a:lnTo>
                    <a:pt x="29616" y="1346"/>
                  </a:lnTo>
                  <a:lnTo>
                    <a:pt x="29616" y="57937"/>
                  </a:lnTo>
                  <a:lnTo>
                    <a:pt x="1092" y="57937"/>
                  </a:lnTo>
                  <a:lnTo>
                    <a:pt x="1092" y="1346"/>
                  </a:lnTo>
                  <a:close/>
                </a:path>
              </a:pathLst>
            </a:custGeom>
            <a:ln w="3175">
              <a:solidFill>
                <a:srgbClr val="9BD3F0"/>
              </a:solidFill>
            </a:ln>
          </p:spPr>
          <p:txBody>
            <a:bodyPr wrap="square" lIns="0" tIns="0" rIns="0" bIns="0" rtlCol="0"/>
            <a:lstStyle/>
            <a:p/>
          </p:txBody>
        </p:sp>
        <p:sp>
          <p:nvSpPr>
            <p:cNvPr id="132" name="object 132" descr=""/>
            <p:cNvSpPr/>
            <p:nvPr/>
          </p:nvSpPr>
          <p:spPr>
            <a:xfrm>
              <a:off x="2432951" y="1755508"/>
              <a:ext cx="31115" cy="59690"/>
            </a:xfrm>
            <a:custGeom>
              <a:avLst/>
              <a:gdLst/>
              <a:ahLst/>
              <a:cxnLst/>
              <a:rect l="l" t="t" r="r" b="b"/>
              <a:pathLst>
                <a:path w="31114" h="59689">
                  <a:moveTo>
                    <a:pt x="30721" y="0"/>
                  </a:moveTo>
                  <a:lnTo>
                    <a:pt x="0" y="0"/>
                  </a:lnTo>
                  <a:lnTo>
                    <a:pt x="0" y="1346"/>
                  </a:lnTo>
                  <a:lnTo>
                    <a:pt x="0" y="59283"/>
                  </a:lnTo>
                  <a:lnTo>
                    <a:pt x="29629" y="59283"/>
                  </a:lnTo>
                  <a:lnTo>
                    <a:pt x="30721" y="59283"/>
                  </a:lnTo>
                  <a:lnTo>
                    <a:pt x="30721" y="57619"/>
                  </a:lnTo>
                  <a:lnTo>
                    <a:pt x="30721" y="1574"/>
                  </a:lnTo>
                  <a:lnTo>
                    <a:pt x="30721" y="0"/>
                  </a:lnTo>
                  <a:close/>
                </a:path>
              </a:pathLst>
            </a:custGeom>
            <a:solidFill>
              <a:srgbClr val="7FA6C8"/>
            </a:solidFill>
          </p:spPr>
          <p:txBody>
            <a:bodyPr wrap="square" lIns="0" tIns="0" rIns="0" bIns="0" rtlCol="0"/>
            <a:lstStyle/>
            <a:p/>
          </p:txBody>
        </p:sp>
        <p:sp>
          <p:nvSpPr>
            <p:cNvPr id="133" name="object 133" descr=""/>
            <p:cNvSpPr/>
            <p:nvPr/>
          </p:nvSpPr>
          <p:spPr>
            <a:xfrm>
              <a:off x="2432951" y="1755508"/>
              <a:ext cx="31115" cy="59690"/>
            </a:xfrm>
            <a:custGeom>
              <a:avLst/>
              <a:gdLst/>
              <a:ahLst/>
              <a:cxnLst/>
              <a:rect l="l" t="t" r="r" b="b"/>
              <a:pathLst>
                <a:path w="31114" h="59689">
                  <a:moveTo>
                    <a:pt x="0" y="0"/>
                  </a:moveTo>
                  <a:lnTo>
                    <a:pt x="30721" y="0"/>
                  </a:lnTo>
                  <a:lnTo>
                    <a:pt x="30721" y="59283"/>
                  </a:lnTo>
                  <a:lnTo>
                    <a:pt x="0" y="59283"/>
                  </a:lnTo>
                  <a:lnTo>
                    <a:pt x="0" y="0"/>
                  </a:lnTo>
                  <a:close/>
                </a:path>
                <a:path w="31114" h="59689">
                  <a:moveTo>
                    <a:pt x="1092" y="1346"/>
                  </a:moveTo>
                  <a:lnTo>
                    <a:pt x="28524" y="1346"/>
                  </a:lnTo>
                  <a:lnTo>
                    <a:pt x="28524" y="57937"/>
                  </a:lnTo>
                  <a:lnTo>
                    <a:pt x="1092" y="57937"/>
                  </a:lnTo>
                  <a:lnTo>
                    <a:pt x="1092" y="1346"/>
                  </a:lnTo>
                  <a:close/>
                </a:path>
              </a:pathLst>
            </a:custGeom>
            <a:ln w="3175">
              <a:solidFill>
                <a:srgbClr val="9BD3F0"/>
              </a:solidFill>
            </a:ln>
          </p:spPr>
          <p:txBody>
            <a:bodyPr wrap="square" lIns="0" tIns="0" rIns="0" bIns="0" rtlCol="0"/>
            <a:lstStyle/>
            <a:p/>
          </p:txBody>
        </p:sp>
        <p:sp>
          <p:nvSpPr>
            <p:cNvPr id="134" name="object 134" descr=""/>
            <p:cNvSpPr/>
            <p:nvPr/>
          </p:nvSpPr>
          <p:spPr>
            <a:xfrm>
              <a:off x="2475738" y="1755508"/>
              <a:ext cx="31115" cy="59690"/>
            </a:xfrm>
            <a:custGeom>
              <a:avLst/>
              <a:gdLst/>
              <a:ahLst/>
              <a:cxnLst/>
              <a:rect l="l" t="t" r="r" b="b"/>
              <a:pathLst>
                <a:path w="31114" h="59689">
                  <a:moveTo>
                    <a:pt x="30721" y="0"/>
                  </a:moveTo>
                  <a:lnTo>
                    <a:pt x="0" y="0"/>
                  </a:lnTo>
                  <a:lnTo>
                    <a:pt x="0" y="59283"/>
                  </a:lnTo>
                  <a:lnTo>
                    <a:pt x="1092" y="59283"/>
                  </a:lnTo>
                  <a:lnTo>
                    <a:pt x="30721" y="59283"/>
                  </a:lnTo>
                  <a:lnTo>
                    <a:pt x="30721" y="57619"/>
                  </a:lnTo>
                  <a:lnTo>
                    <a:pt x="30721" y="1574"/>
                  </a:lnTo>
                  <a:lnTo>
                    <a:pt x="30721" y="1346"/>
                  </a:lnTo>
                  <a:lnTo>
                    <a:pt x="30721" y="0"/>
                  </a:lnTo>
                  <a:close/>
                </a:path>
              </a:pathLst>
            </a:custGeom>
            <a:solidFill>
              <a:srgbClr val="7FA6C8"/>
            </a:solidFill>
          </p:spPr>
          <p:txBody>
            <a:bodyPr wrap="square" lIns="0" tIns="0" rIns="0" bIns="0" rtlCol="0"/>
            <a:lstStyle/>
            <a:p/>
          </p:txBody>
        </p:sp>
        <p:sp>
          <p:nvSpPr>
            <p:cNvPr id="135" name="object 135" descr=""/>
            <p:cNvSpPr/>
            <p:nvPr/>
          </p:nvSpPr>
          <p:spPr>
            <a:xfrm>
              <a:off x="2475738" y="1755508"/>
              <a:ext cx="31115" cy="59690"/>
            </a:xfrm>
            <a:custGeom>
              <a:avLst/>
              <a:gdLst/>
              <a:ahLst/>
              <a:cxnLst/>
              <a:rect l="l" t="t" r="r" b="b"/>
              <a:pathLst>
                <a:path w="31114" h="59689">
                  <a:moveTo>
                    <a:pt x="0" y="0"/>
                  </a:moveTo>
                  <a:lnTo>
                    <a:pt x="30721" y="0"/>
                  </a:lnTo>
                  <a:lnTo>
                    <a:pt x="30721" y="59283"/>
                  </a:lnTo>
                  <a:lnTo>
                    <a:pt x="0" y="59283"/>
                  </a:lnTo>
                  <a:lnTo>
                    <a:pt x="0" y="0"/>
                  </a:lnTo>
                  <a:close/>
                </a:path>
                <a:path w="31114" h="59689">
                  <a:moveTo>
                    <a:pt x="1092" y="1346"/>
                  </a:moveTo>
                  <a:lnTo>
                    <a:pt x="29616" y="1346"/>
                  </a:lnTo>
                  <a:lnTo>
                    <a:pt x="29616" y="57937"/>
                  </a:lnTo>
                  <a:lnTo>
                    <a:pt x="1092" y="57937"/>
                  </a:lnTo>
                  <a:lnTo>
                    <a:pt x="1092" y="1346"/>
                  </a:lnTo>
                  <a:close/>
                </a:path>
              </a:pathLst>
            </a:custGeom>
            <a:ln w="3175">
              <a:solidFill>
                <a:srgbClr val="9BD3F0"/>
              </a:solidFill>
            </a:ln>
          </p:spPr>
          <p:txBody>
            <a:bodyPr wrap="square" lIns="0" tIns="0" rIns="0" bIns="0" rtlCol="0"/>
            <a:lstStyle/>
            <a:p/>
          </p:txBody>
        </p:sp>
        <p:sp>
          <p:nvSpPr>
            <p:cNvPr id="136" name="object 136" descr=""/>
            <p:cNvSpPr/>
            <p:nvPr/>
          </p:nvSpPr>
          <p:spPr>
            <a:xfrm>
              <a:off x="2522918" y="1755508"/>
              <a:ext cx="29845" cy="59690"/>
            </a:xfrm>
            <a:custGeom>
              <a:avLst/>
              <a:gdLst/>
              <a:ahLst/>
              <a:cxnLst/>
              <a:rect l="l" t="t" r="r" b="b"/>
              <a:pathLst>
                <a:path w="29844" h="59689">
                  <a:moveTo>
                    <a:pt x="29629" y="0"/>
                  </a:moveTo>
                  <a:lnTo>
                    <a:pt x="0" y="0"/>
                  </a:lnTo>
                  <a:lnTo>
                    <a:pt x="0" y="1346"/>
                  </a:lnTo>
                  <a:lnTo>
                    <a:pt x="0" y="59283"/>
                  </a:lnTo>
                  <a:lnTo>
                    <a:pt x="29629" y="59283"/>
                  </a:lnTo>
                  <a:lnTo>
                    <a:pt x="29629" y="57619"/>
                  </a:lnTo>
                  <a:lnTo>
                    <a:pt x="29629" y="1574"/>
                  </a:lnTo>
                  <a:lnTo>
                    <a:pt x="29629" y="1346"/>
                  </a:lnTo>
                  <a:lnTo>
                    <a:pt x="29629" y="0"/>
                  </a:lnTo>
                  <a:close/>
                </a:path>
              </a:pathLst>
            </a:custGeom>
            <a:solidFill>
              <a:srgbClr val="7FA6C8"/>
            </a:solidFill>
          </p:spPr>
          <p:txBody>
            <a:bodyPr wrap="square" lIns="0" tIns="0" rIns="0" bIns="0" rtlCol="0"/>
            <a:lstStyle/>
            <a:p/>
          </p:txBody>
        </p:sp>
        <p:sp>
          <p:nvSpPr>
            <p:cNvPr id="137" name="object 137" descr=""/>
            <p:cNvSpPr/>
            <p:nvPr/>
          </p:nvSpPr>
          <p:spPr>
            <a:xfrm>
              <a:off x="2522918" y="1755508"/>
              <a:ext cx="29845" cy="59690"/>
            </a:xfrm>
            <a:custGeom>
              <a:avLst/>
              <a:gdLst/>
              <a:ahLst/>
              <a:cxnLst/>
              <a:rect l="l" t="t" r="r" b="b"/>
              <a:pathLst>
                <a:path w="29844" h="59689">
                  <a:moveTo>
                    <a:pt x="0" y="0"/>
                  </a:moveTo>
                  <a:lnTo>
                    <a:pt x="29629" y="0"/>
                  </a:lnTo>
                  <a:lnTo>
                    <a:pt x="29629" y="59283"/>
                  </a:lnTo>
                  <a:lnTo>
                    <a:pt x="0" y="59283"/>
                  </a:lnTo>
                  <a:lnTo>
                    <a:pt x="0" y="0"/>
                  </a:lnTo>
                  <a:close/>
                </a:path>
                <a:path w="29844" h="59689">
                  <a:moveTo>
                    <a:pt x="1092" y="1346"/>
                  </a:moveTo>
                  <a:lnTo>
                    <a:pt x="28524" y="1346"/>
                  </a:lnTo>
                  <a:lnTo>
                    <a:pt x="28524" y="57937"/>
                  </a:lnTo>
                  <a:lnTo>
                    <a:pt x="1092" y="57937"/>
                  </a:lnTo>
                  <a:lnTo>
                    <a:pt x="1092" y="1346"/>
                  </a:lnTo>
                  <a:close/>
                </a:path>
              </a:pathLst>
            </a:custGeom>
            <a:ln w="3175">
              <a:solidFill>
                <a:srgbClr val="9BD3F0"/>
              </a:solidFill>
            </a:ln>
          </p:spPr>
          <p:txBody>
            <a:bodyPr wrap="square" lIns="0" tIns="0" rIns="0" bIns="0" rtlCol="0"/>
            <a:lstStyle/>
            <a:p/>
          </p:txBody>
        </p:sp>
        <p:sp>
          <p:nvSpPr>
            <p:cNvPr id="138" name="object 138" descr=""/>
            <p:cNvSpPr/>
            <p:nvPr/>
          </p:nvSpPr>
          <p:spPr>
            <a:xfrm>
              <a:off x="2346261" y="1855203"/>
              <a:ext cx="31115" cy="59690"/>
            </a:xfrm>
            <a:custGeom>
              <a:avLst/>
              <a:gdLst/>
              <a:ahLst/>
              <a:cxnLst/>
              <a:rect l="l" t="t" r="r" b="b"/>
              <a:pathLst>
                <a:path w="31114" h="59689">
                  <a:moveTo>
                    <a:pt x="30721" y="0"/>
                  </a:moveTo>
                  <a:lnTo>
                    <a:pt x="29629" y="0"/>
                  </a:lnTo>
                  <a:lnTo>
                    <a:pt x="0" y="0"/>
                  </a:lnTo>
                  <a:lnTo>
                    <a:pt x="0" y="57950"/>
                  </a:lnTo>
                  <a:lnTo>
                    <a:pt x="0" y="59283"/>
                  </a:lnTo>
                  <a:lnTo>
                    <a:pt x="30721" y="59283"/>
                  </a:lnTo>
                  <a:lnTo>
                    <a:pt x="30721" y="57696"/>
                  </a:lnTo>
                  <a:lnTo>
                    <a:pt x="30721" y="1587"/>
                  </a:lnTo>
                  <a:lnTo>
                    <a:pt x="30721" y="0"/>
                  </a:lnTo>
                  <a:close/>
                </a:path>
              </a:pathLst>
            </a:custGeom>
            <a:solidFill>
              <a:srgbClr val="7FA6C8"/>
            </a:solidFill>
          </p:spPr>
          <p:txBody>
            <a:bodyPr wrap="square" lIns="0" tIns="0" rIns="0" bIns="0" rtlCol="0"/>
            <a:lstStyle/>
            <a:p/>
          </p:txBody>
        </p:sp>
        <p:sp>
          <p:nvSpPr>
            <p:cNvPr id="139" name="object 139" descr=""/>
            <p:cNvSpPr/>
            <p:nvPr/>
          </p:nvSpPr>
          <p:spPr>
            <a:xfrm>
              <a:off x="2346261" y="1855203"/>
              <a:ext cx="31115" cy="59690"/>
            </a:xfrm>
            <a:custGeom>
              <a:avLst/>
              <a:gdLst/>
              <a:ahLst/>
              <a:cxnLst/>
              <a:rect l="l" t="t" r="r" b="b"/>
              <a:pathLst>
                <a:path w="31114" h="59689">
                  <a:moveTo>
                    <a:pt x="0" y="0"/>
                  </a:moveTo>
                  <a:lnTo>
                    <a:pt x="30721" y="0"/>
                  </a:lnTo>
                  <a:lnTo>
                    <a:pt x="30721" y="59283"/>
                  </a:lnTo>
                  <a:lnTo>
                    <a:pt x="0" y="59283"/>
                  </a:lnTo>
                  <a:lnTo>
                    <a:pt x="0" y="0"/>
                  </a:lnTo>
                  <a:close/>
                </a:path>
                <a:path w="31114" h="59689">
                  <a:moveTo>
                    <a:pt x="1104" y="1346"/>
                  </a:moveTo>
                  <a:lnTo>
                    <a:pt x="28536" y="1346"/>
                  </a:lnTo>
                  <a:lnTo>
                    <a:pt x="28536" y="57937"/>
                  </a:lnTo>
                  <a:lnTo>
                    <a:pt x="1104" y="57937"/>
                  </a:lnTo>
                  <a:lnTo>
                    <a:pt x="1104" y="1346"/>
                  </a:lnTo>
                  <a:close/>
                </a:path>
              </a:pathLst>
            </a:custGeom>
            <a:ln w="3175">
              <a:solidFill>
                <a:srgbClr val="9BD3F0"/>
              </a:solidFill>
            </a:ln>
          </p:spPr>
          <p:txBody>
            <a:bodyPr wrap="square" lIns="0" tIns="0" rIns="0" bIns="0" rtlCol="0"/>
            <a:lstStyle/>
            <a:p/>
          </p:txBody>
        </p:sp>
        <p:sp>
          <p:nvSpPr>
            <p:cNvPr id="140" name="object 140" descr=""/>
            <p:cNvSpPr/>
            <p:nvPr/>
          </p:nvSpPr>
          <p:spPr>
            <a:xfrm>
              <a:off x="2389060" y="1855203"/>
              <a:ext cx="31115" cy="59690"/>
            </a:xfrm>
            <a:custGeom>
              <a:avLst/>
              <a:gdLst/>
              <a:ahLst/>
              <a:cxnLst/>
              <a:rect l="l" t="t" r="r" b="b"/>
              <a:pathLst>
                <a:path w="31114" h="59689">
                  <a:moveTo>
                    <a:pt x="30721" y="0"/>
                  </a:moveTo>
                  <a:lnTo>
                    <a:pt x="1092" y="0"/>
                  </a:lnTo>
                  <a:lnTo>
                    <a:pt x="0" y="0"/>
                  </a:lnTo>
                  <a:lnTo>
                    <a:pt x="0" y="59283"/>
                  </a:lnTo>
                  <a:lnTo>
                    <a:pt x="30721" y="59283"/>
                  </a:lnTo>
                  <a:lnTo>
                    <a:pt x="30721" y="57950"/>
                  </a:lnTo>
                  <a:lnTo>
                    <a:pt x="30721" y="57696"/>
                  </a:lnTo>
                  <a:lnTo>
                    <a:pt x="30721" y="1587"/>
                  </a:lnTo>
                  <a:lnTo>
                    <a:pt x="30721" y="0"/>
                  </a:lnTo>
                  <a:close/>
                </a:path>
              </a:pathLst>
            </a:custGeom>
            <a:solidFill>
              <a:srgbClr val="7FA6C8"/>
            </a:solidFill>
          </p:spPr>
          <p:txBody>
            <a:bodyPr wrap="square" lIns="0" tIns="0" rIns="0" bIns="0" rtlCol="0"/>
            <a:lstStyle/>
            <a:p/>
          </p:txBody>
        </p:sp>
        <p:sp>
          <p:nvSpPr>
            <p:cNvPr id="141" name="object 141" descr=""/>
            <p:cNvSpPr/>
            <p:nvPr/>
          </p:nvSpPr>
          <p:spPr>
            <a:xfrm>
              <a:off x="2389060" y="1855203"/>
              <a:ext cx="31115" cy="59690"/>
            </a:xfrm>
            <a:custGeom>
              <a:avLst/>
              <a:gdLst/>
              <a:ahLst/>
              <a:cxnLst/>
              <a:rect l="l" t="t" r="r" b="b"/>
              <a:pathLst>
                <a:path w="31114" h="59689">
                  <a:moveTo>
                    <a:pt x="0" y="0"/>
                  </a:moveTo>
                  <a:lnTo>
                    <a:pt x="30721" y="0"/>
                  </a:lnTo>
                  <a:lnTo>
                    <a:pt x="30721" y="59283"/>
                  </a:lnTo>
                  <a:lnTo>
                    <a:pt x="0" y="59283"/>
                  </a:lnTo>
                  <a:lnTo>
                    <a:pt x="0" y="0"/>
                  </a:lnTo>
                  <a:close/>
                </a:path>
                <a:path w="31114" h="59689">
                  <a:moveTo>
                    <a:pt x="1092" y="1346"/>
                  </a:moveTo>
                  <a:lnTo>
                    <a:pt x="29616" y="1346"/>
                  </a:lnTo>
                  <a:lnTo>
                    <a:pt x="29616" y="57937"/>
                  </a:lnTo>
                  <a:lnTo>
                    <a:pt x="1092" y="57937"/>
                  </a:lnTo>
                  <a:lnTo>
                    <a:pt x="1092" y="1346"/>
                  </a:lnTo>
                  <a:close/>
                </a:path>
              </a:pathLst>
            </a:custGeom>
            <a:ln w="3175">
              <a:solidFill>
                <a:srgbClr val="9BD3F0"/>
              </a:solidFill>
            </a:ln>
          </p:spPr>
          <p:txBody>
            <a:bodyPr wrap="square" lIns="0" tIns="0" rIns="0" bIns="0" rtlCol="0"/>
            <a:lstStyle/>
            <a:p/>
          </p:txBody>
        </p:sp>
        <p:sp>
          <p:nvSpPr>
            <p:cNvPr id="142" name="object 142" descr=""/>
            <p:cNvSpPr/>
            <p:nvPr/>
          </p:nvSpPr>
          <p:spPr>
            <a:xfrm>
              <a:off x="2432951" y="1855203"/>
              <a:ext cx="31115" cy="59690"/>
            </a:xfrm>
            <a:custGeom>
              <a:avLst/>
              <a:gdLst/>
              <a:ahLst/>
              <a:cxnLst/>
              <a:rect l="l" t="t" r="r" b="b"/>
              <a:pathLst>
                <a:path w="31114" h="59689">
                  <a:moveTo>
                    <a:pt x="30721" y="0"/>
                  </a:moveTo>
                  <a:lnTo>
                    <a:pt x="29629" y="0"/>
                  </a:lnTo>
                  <a:lnTo>
                    <a:pt x="0" y="0"/>
                  </a:lnTo>
                  <a:lnTo>
                    <a:pt x="0" y="57950"/>
                  </a:lnTo>
                  <a:lnTo>
                    <a:pt x="0" y="59283"/>
                  </a:lnTo>
                  <a:lnTo>
                    <a:pt x="30721" y="59283"/>
                  </a:lnTo>
                  <a:lnTo>
                    <a:pt x="30721" y="57696"/>
                  </a:lnTo>
                  <a:lnTo>
                    <a:pt x="30721" y="1587"/>
                  </a:lnTo>
                  <a:lnTo>
                    <a:pt x="30721" y="0"/>
                  </a:lnTo>
                  <a:close/>
                </a:path>
              </a:pathLst>
            </a:custGeom>
            <a:solidFill>
              <a:srgbClr val="7FA6C8"/>
            </a:solidFill>
          </p:spPr>
          <p:txBody>
            <a:bodyPr wrap="square" lIns="0" tIns="0" rIns="0" bIns="0" rtlCol="0"/>
            <a:lstStyle/>
            <a:p/>
          </p:txBody>
        </p:sp>
        <p:sp>
          <p:nvSpPr>
            <p:cNvPr id="143" name="object 143" descr=""/>
            <p:cNvSpPr/>
            <p:nvPr/>
          </p:nvSpPr>
          <p:spPr>
            <a:xfrm>
              <a:off x="2432951" y="1855203"/>
              <a:ext cx="31115" cy="59690"/>
            </a:xfrm>
            <a:custGeom>
              <a:avLst/>
              <a:gdLst/>
              <a:ahLst/>
              <a:cxnLst/>
              <a:rect l="l" t="t" r="r" b="b"/>
              <a:pathLst>
                <a:path w="31114" h="59689">
                  <a:moveTo>
                    <a:pt x="0" y="0"/>
                  </a:moveTo>
                  <a:lnTo>
                    <a:pt x="30721" y="0"/>
                  </a:lnTo>
                  <a:lnTo>
                    <a:pt x="30721" y="59283"/>
                  </a:lnTo>
                  <a:lnTo>
                    <a:pt x="0" y="59283"/>
                  </a:lnTo>
                  <a:lnTo>
                    <a:pt x="0" y="0"/>
                  </a:lnTo>
                  <a:close/>
                </a:path>
                <a:path w="31114" h="59689">
                  <a:moveTo>
                    <a:pt x="1092" y="1346"/>
                  </a:moveTo>
                  <a:lnTo>
                    <a:pt x="28524" y="1346"/>
                  </a:lnTo>
                  <a:lnTo>
                    <a:pt x="28524" y="57937"/>
                  </a:lnTo>
                  <a:lnTo>
                    <a:pt x="1092" y="57937"/>
                  </a:lnTo>
                  <a:lnTo>
                    <a:pt x="1092" y="1346"/>
                  </a:lnTo>
                  <a:close/>
                </a:path>
              </a:pathLst>
            </a:custGeom>
            <a:ln w="3175">
              <a:solidFill>
                <a:srgbClr val="9BD3F0"/>
              </a:solidFill>
            </a:ln>
          </p:spPr>
          <p:txBody>
            <a:bodyPr wrap="square" lIns="0" tIns="0" rIns="0" bIns="0" rtlCol="0"/>
            <a:lstStyle/>
            <a:p/>
          </p:txBody>
        </p:sp>
        <p:sp>
          <p:nvSpPr>
            <p:cNvPr id="144" name="object 144" descr=""/>
            <p:cNvSpPr/>
            <p:nvPr/>
          </p:nvSpPr>
          <p:spPr>
            <a:xfrm>
              <a:off x="2475738" y="1855203"/>
              <a:ext cx="31115" cy="59690"/>
            </a:xfrm>
            <a:custGeom>
              <a:avLst/>
              <a:gdLst/>
              <a:ahLst/>
              <a:cxnLst/>
              <a:rect l="l" t="t" r="r" b="b"/>
              <a:pathLst>
                <a:path w="31114" h="59689">
                  <a:moveTo>
                    <a:pt x="30721" y="0"/>
                  </a:moveTo>
                  <a:lnTo>
                    <a:pt x="1092" y="0"/>
                  </a:lnTo>
                  <a:lnTo>
                    <a:pt x="0" y="0"/>
                  </a:lnTo>
                  <a:lnTo>
                    <a:pt x="0" y="59283"/>
                  </a:lnTo>
                  <a:lnTo>
                    <a:pt x="30721" y="59283"/>
                  </a:lnTo>
                  <a:lnTo>
                    <a:pt x="30721" y="57950"/>
                  </a:lnTo>
                  <a:lnTo>
                    <a:pt x="30721" y="57696"/>
                  </a:lnTo>
                  <a:lnTo>
                    <a:pt x="30721" y="1587"/>
                  </a:lnTo>
                  <a:lnTo>
                    <a:pt x="30721" y="0"/>
                  </a:lnTo>
                  <a:close/>
                </a:path>
              </a:pathLst>
            </a:custGeom>
            <a:solidFill>
              <a:srgbClr val="7FA6C8"/>
            </a:solidFill>
          </p:spPr>
          <p:txBody>
            <a:bodyPr wrap="square" lIns="0" tIns="0" rIns="0" bIns="0" rtlCol="0"/>
            <a:lstStyle/>
            <a:p/>
          </p:txBody>
        </p:sp>
        <p:sp>
          <p:nvSpPr>
            <p:cNvPr id="145" name="object 145" descr=""/>
            <p:cNvSpPr/>
            <p:nvPr/>
          </p:nvSpPr>
          <p:spPr>
            <a:xfrm>
              <a:off x="2475738" y="1855203"/>
              <a:ext cx="31115" cy="59690"/>
            </a:xfrm>
            <a:custGeom>
              <a:avLst/>
              <a:gdLst/>
              <a:ahLst/>
              <a:cxnLst/>
              <a:rect l="l" t="t" r="r" b="b"/>
              <a:pathLst>
                <a:path w="31114" h="59689">
                  <a:moveTo>
                    <a:pt x="0" y="0"/>
                  </a:moveTo>
                  <a:lnTo>
                    <a:pt x="30721" y="0"/>
                  </a:lnTo>
                  <a:lnTo>
                    <a:pt x="30721" y="59283"/>
                  </a:lnTo>
                  <a:lnTo>
                    <a:pt x="0" y="59283"/>
                  </a:lnTo>
                  <a:lnTo>
                    <a:pt x="0" y="0"/>
                  </a:lnTo>
                  <a:close/>
                </a:path>
                <a:path w="31114" h="59689">
                  <a:moveTo>
                    <a:pt x="1092" y="1346"/>
                  </a:moveTo>
                  <a:lnTo>
                    <a:pt x="29616" y="1346"/>
                  </a:lnTo>
                  <a:lnTo>
                    <a:pt x="29616" y="57937"/>
                  </a:lnTo>
                  <a:lnTo>
                    <a:pt x="1092" y="57937"/>
                  </a:lnTo>
                  <a:lnTo>
                    <a:pt x="1092" y="1346"/>
                  </a:lnTo>
                  <a:close/>
                </a:path>
              </a:pathLst>
            </a:custGeom>
            <a:ln w="3175">
              <a:solidFill>
                <a:srgbClr val="9BD3F0"/>
              </a:solidFill>
            </a:ln>
          </p:spPr>
          <p:txBody>
            <a:bodyPr wrap="square" lIns="0" tIns="0" rIns="0" bIns="0" rtlCol="0"/>
            <a:lstStyle/>
            <a:p/>
          </p:txBody>
        </p:sp>
        <p:sp>
          <p:nvSpPr>
            <p:cNvPr id="146" name="object 146" descr=""/>
            <p:cNvSpPr/>
            <p:nvPr/>
          </p:nvSpPr>
          <p:spPr>
            <a:xfrm>
              <a:off x="2522918" y="1855203"/>
              <a:ext cx="29845" cy="59690"/>
            </a:xfrm>
            <a:custGeom>
              <a:avLst/>
              <a:gdLst/>
              <a:ahLst/>
              <a:cxnLst/>
              <a:rect l="l" t="t" r="r" b="b"/>
              <a:pathLst>
                <a:path w="29844" h="59689">
                  <a:moveTo>
                    <a:pt x="29629" y="0"/>
                  </a:moveTo>
                  <a:lnTo>
                    <a:pt x="0" y="0"/>
                  </a:lnTo>
                  <a:lnTo>
                    <a:pt x="0" y="57950"/>
                  </a:lnTo>
                  <a:lnTo>
                    <a:pt x="0" y="59283"/>
                  </a:lnTo>
                  <a:lnTo>
                    <a:pt x="29629" y="59283"/>
                  </a:lnTo>
                  <a:lnTo>
                    <a:pt x="29629" y="57950"/>
                  </a:lnTo>
                  <a:lnTo>
                    <a:pt x="29629" y="57696"/>
                  </a:lnTo>
                  <a:lnTo>
                    <a:pt x="29629" y="1587"/>
                  </a:lnTo>
                  <a:lnTo>
                    <a:pt x="29629" y="0"/>
                  </a:lnTo>
                  <a:close/>
                </a:path>
              </a:pathLst>
            </a:custGeom>
            <a:solidFill>
              <a:srgbClr val="7FA6C8"/>
            </a:solidFill>
          </p:spPr>
          <p:txBody>
            <a:bodyPr wrap="square" lIns="0" tIns="0" rIns="0" bIns="0" rtlCol="0"/>
            <a:lstStyle/>
            <a:p/>
          </p:txBody>
        </p:sp>
        <p:sp>
          <p:nvSpPr>
            <p:cNvPr id="147" name="object 147" descr=""/>
            <p:cNvSpPr/>
            <p:nvPr/>
          </p:nvSpPr>
          <p:spPr>
            <a:xfrm>
              <a:off x="2522918" y="1855203"/>
              <a:ext cx="29845" cy="59690"/>
            </a:xfrm>
            <a:custGeom>
              <a:avLst/>
              <a:gdLst/>
              <a:ahLst/>
              <a:cxnLst/>
              <a:rect l="l" t="t" r="r" b="b"/>
              <a:pathLst>
                <a:path w="29844" h="59689">
                  <a:moveTo>
                    <a:pt x="0" y="0"/>
                  </a:moveTo>
                  <a:lnTo>
                    <a:pt x="29629" y="0"/>
                  </a:lnTo>
                  <a:lnTo>
                    <a:pt x="29629" y="59283"/>
                  </a:lnTo>
                  <a:lnTo>
                    <a:pt x="0" y="59283"/>
                  </a:lnTo>
                  <a:lnTo>
                    <a:pt x="0" y="0"/>
                  </a:lnTo>
                  <a:close/>
                </a:path>
                <a:path w="29844" h="59689">
                  <a:moveTo>
                    <a:pt x="1092" y="1346"/>
                  </a:moveTo>
                  <a:lnTo>
                    <a:pt x="28524" y="1346"/>
                  </a:lnTo>
                  <a:lnTo>
                    <a:pt x="28524" y="57937"/>
                  </a:lnTo>
                  <a:lnTo>
                    <a:pt x="1092" y="57937"/>
                  </a:lnTo>
                  <a:lnTo>
                    <a:pt x="1092" y="1346"/>
                  </a:lnTo>
                  <a:close/>
                </a:path>
              </a:pathLst>
            </a:custGeom>
            <a:ln w="3175">
              <a:solidFill>
                <a:srgbClr val="9BD3F0"/>
              </a:solidFill>
            </a:ln>
          </p:spPr>
          <p:txBody>
            <a:bodyPr wrap="square" lIns="0" tIns="0" rIns="0" bIns="0" rtlCol="0"/>
            <a:lstStyle/>
            <a:p/>
          </p:txBody>
        </p:sp>
        <p:sp>
          <p:nvSpPr>
            <p:cNvPr id="148" name="object 148" descr=""/>
            <p:cNvSpPr/>
            <p:nvPr/>
          </p:nvSpPr>
          <p:spPr>
            <a:xfrm>
              <a:off x="2346261" y="1953551"/>
              <a:ext cx="31115" cy="59690"/>
            </a:xfrm>
            <a:custGeom>
              <a:avLst/>
              <a:gdLst/>
              <a:ahLst/>
              <a:cxnLst/>
              <a:rect l="l" t="t" r="r" b="b"/>
              <a:pathLst>
                <a:path w="31114" h="59689">
                  <a:moveTo>
                    <a:pt x="30721" y="0"/>
                  </a:moveTo>
                  <a:lnTo>
                    <a:pt x="0" y="0"/>
                  </a:lnTo>
                  <a:lnTo>
                    <a:pt x="0" y="1346"/>
                  </a:lnTo>
                  <a:lnTo>
                    <a:pt x="0" y="59283"/>
                  </a:lnTo>
                  <a:lnTo>
                    <a:pt x="29629" y="59283"/>
                  </a:lnTo>
                  <a:lnTo>
                    <a:pt x="30721" y="59283"/>
                  </a:lnTo>
                  <a:lnTo>
                    <a:pt x="30721" y="57619"/>
                  </a:lnTo>
                  <a:lnTo>
                    <a:pt x="30721" y="1574"/>
                  </a:lnTo>
                  <a:lnTo>
                    <a:pt x="30721" y="0"/>
                  </a:lnTo>
                  <a:close/>
                </a:path>
              </a:pathLst>
            </a:custGeom>
            <a:solidFill>
              <a:srgbClr val="7FA6C8"/>
            </a:solidFill>
          </p:spPr>
          <p:txBody>
            <a:bodyPr wrap="square" lIns="0" tIns="0" rIns="0" bIns="0" rtlCol="0"/>
            <a:lstStyle/>
            <a:p/>
          </p:txBody>
        </p:sp>
        <p:sp>
          <p:nvSpPr>
            <p:cNvPr id="149" name="object 149" descr=""/>
            <p:cNvSpPr/>
            <p:nvPr/>
          </p:nvSpPr>
          <p:spPr>
            <a:xfrm>
              <a:off x="2346261" y="1953552"/>
              <a:ext cx="31115" cy="59690"/>
            </a:xfrm>
            <a:custGeom>
              <a:avLst/>
              <a:gdLst/>
              <a:ahLst/>
              <a:cxnLst/>
              <a:rect l="l" t="t" r="r" b="b"/>
              <a:pathLst>
                <a:path w="31114" h="59689">
                  <a:moveTo>
                    <a:pt x="0" y="0"/>
                  </a:moveTo>
                  <a:lnTo>
                    <a:pt x="30721" y="0"/>
                  </a:lnTo>
                  <a:lnTo>
                    <a:pt x="30721" y="59283"/>
                  </a:lnTo>
                  <a:lnTo>
                    <a:pt x="0" y="59283"/>
                  </a:lnTo>
                  <a:lnTo>
                    <a:pt x="0" y="0"/>
                  </a:lnTo>
                  <a:close/>
                </a:path>
                <a:path w="31114" h="59689">
                  <a:moveTo>
                    <a:pt x="1104" y="2692"/>
                  </a:moveTo>
                  <a:lnTo>
                    <a:pt x="28536" y="2692"/>
                  </a:lnTo>
                  <a:lnTo>
                    <a:pt x="28536" y="57924"/>
                  </a:lnTo>
                  <a:lnTo>
                    <a:pt x="1104" y="57924"/>
                  </a:lnTo>
                  <a:lnTo>
                    <a:pt x="1104" y="2692"/>
                  </a:lnTo>
                  <a:close/>
                </a:path>
              </a:pathLst>
            </a:custGeom>
            <a:ln w="3175">
              <a:solidFill>
                <a:srgbClr val="9BD3F0"/>
              </a:solidFill>
            </a:ln>
          </p:spPr>
          <p:txBody>
            <a:bodyPr wrap="square" lIns="0" tIns="0" rIns="0" bIns="0" rtlCol="0"/>
            <a:lstStyle/>
            <a:p/>
          </p:txBody>
        </p:sp>
        <p:sp>
          <p:nvSpPr>
            <p:cNvPr id="150" name="object 150" descr=""/>
            <p:cNvSpPr/>
            <p:nvPr/>
          </p:nvSpPr>
          <p:spPr>
            <a:xfrm>
              <a:off x="2389060" y="1953551"/>
              <a:ext cx="31115" cy="59690"/>
            </a:xfrm>
            <a:custGeom>
              <a:avLst/>
              <a:gdLst/>
              <a:ahLst/>
              <a:cxnLst/>
              <a:rect l="l" t="t" r="r" b="b"/>
              <a:pathLst>
                <a:path w="31114" h="59689">
                  <a:moveTo>
                    <a:pt x="30721" y="0"/>
                  </a:moveTo>
                  <a:lnTo>
                    <a:pt x="0" y="0"/>
                  </a:lnTo>
                  <a:lnTo>
                    <a:pt x="0" y="59283"/>
                  </a:lnTo>
                  <a:lnTo>
                    <a:pt x="1092" y="59283"/>
                  </a:lnTo>
                  <a:lnTo>
                    <a:pt x="30721" y="59283"/>
                  </a:lnTo>
                  <a:lnTo>
                    <a:pt x="30721" y="57619"/>
                  </a:lnTo>
                  <a:lnTo>
                    <a:pt x="30721" y="1574"/>
                  </a:lnTo>
                  <a:lnTo>
                    <a:pt x="30721" y="1346"/>
                  </a:lnTo>
                  <a:lnTo>
                    <a:pt x="30721" y="0"/>
                  </a:lnTo>
                  <a:close/>
                </a:path>
              </a:pathLst>
            </a:custGeom>
            <a:solidFill>
              <a:srgbClr val="7FA6C8"/>
            </a:solidFill>
          </p:spPr>
          <p:txBody>
            <a:bodyPr wrap="square" lIns="0" tIns="0" rIns="0" bIns="0" rtlCol="0"/>
            <a:lstStyle/>
            <a:p/>
          </p:txBody>
        </p:sp>
        <p:sp>
          <p:nvSpPr>
            <p:cNvPr id="151" name="object 151" descr=""/>
            <p:cNvSpPr/>
            <p:nvPr/>
          </p:nvSpPr>
          <p:spPr>
            <a:xfrm>
              <a:off x="2389060" y="1953552"/>
              <a:ext cx="31115" cy="59690"/>
            </a:xfrm>
            <a:custGeom>
              <a:avLst/>
              <a:gdLst/>
              <a:ahLst/>
              <a:cxnLst/>
              <a:rect l="l" t="t" r="r" b="b"/>
              <a:pathLst>
                <a:path w="31114" h="59689">
                  <a:moveTo>
                    <a:pt x="0" y="0"/>
                  </a:moveTo>
                  <a:lnTo>
                    <a:pt x="30721" y="0"/>
                  </a:lnTo>
                  <a:lnTo>
                    <a:pt x="30721" y="59283"/>
                  </a:lnTo>
                  <a:lnTo>
                    <a:pt x="0" y="59283"/>
                  </a:lnTo>
                  <a:lnTo>
                    <a:pt x="0" y="0"/>
                  </a:lnTo>
                  <a:close/>
                </a:path>
                <a:path w="31114" h="59689">
                  <a:moveTo>
                    <a:pt x="1092" y="2692"/>
                  </a:moveTo>
                  <a:lnTo>
                    <a:pt x="29616" y="2692"/>
                  </a:lnTo>
                  <a:lnTo>
                    <a:pt x="29616" y="57924"/>
                  </a:lnTo>
                  <a:lnTo>
                    <a:pt x="1092" y="57924"/>
                  </a:lnTo>
                  <a:lnTo>
                    <a:pt x="1092" y="2692"/>
                  </a:lnTo>
                  <a:close/>
                </a:path>
              </a:pathLst>
            </a:custGeom>
            <a:ln w="3175">
              <a:solidFill>
                <a:srgbClr val="9BD3F0"/>
              </a:solidFill>
            </a:ln>
          </p:spPr>
          <p:txBody>
            <a:bodyPr wrap="square" lIns="0" tIns="0" rIns="0" bIns="0" rtlCol="0"/>
            <a:lstStyle/>
            <a:p/>
          </p:txBody>
        </p:sp>
        <p:sp>
          <p:nvSpPr>
            <p:cNvPr id="152" name="object 152" descr=""/>
            <p:cNvSpPr/>
            <p:nvPr/>
          </p:nvSpPr>
          <p:spPr>
            <a:xfrm>
              <a:off x="2432951" y="1953551"/>
              <a:ext cx="31115" cy="59690"/>
            </a:xfrm>
            <a:custGeom>
              <a:avLst/>
              <a:gdLst/>
              <a:ahLst/>
              <a:cxnLst/>
              <a:rect l="l" t="t" r="r" b="b"/>
              <a:pathLst>
                <a:path w="31114" h="59689">
                  <a:moveTo>
                    <a:pt x="30721" y="0"/>
                  </a:moveTo>
                  <a:lnTo>
                    <a:pt x="0" y="0"/>
                  </a:lnTo>
                  <a:lnTo>
                    <a:pt x="0" y="1346"/>
                  </a:lnTo>
                  <a:lnTo>
                    <a:pt x="0" y="59283"/>
                  </a:lnTo>
                  <a:lnTo>
                    <a:pt x="29629" y="59283"/>
                  </a:lnTo>
                  <a:lnTo>
                    <a:pt x="30721" y="59283"/>
                  </a:lnTo>
                  <a:lnTo>
                    <a:pt x="30721" y="57619"/>
                  </a:lnTo>
                  <a:lnTo>
                    <a:pt x="30721" y="1574"/>
                  </a:lnTo>
                  <a:lnTo>
                    <a:pt x="30721" y="0"/>
                  </a:lnTo>
                  <a:close/>
                </a:path>
              </a:pathLst>
            </a:custGeom>
            <a:solidFill>
              <a:srgbClr val="7FA6C8"/>
            </a:solidFill>
          </p:spPr>
          <p:txBody>
            <a:bodyPr wrap="square" lIns="0" tIns="0" rIns="0" bIns="0" rtlCol="0"/>
            <a:lstStyle/>
            <a:p/>
          </p:txBody>
        </p:sp>
        <p:sp>
          <p:nvSpPr>
            <p:cNvPr id="153" name="object 153" descr=""/>
            <p:cNvSpPr/>
            <p:nvPr/>
          </p:nvSpPr>
          <p:spPr>
            <a:xfrm>
              <a:off x="2432951" y="1953552"/>
              <a:ext cx="31115" cy="59690"/>
            </a:xfrm>
            <a:custGeom>
              <a:avLst/>
              <a:gdLst/>
              <a:ahLst/>
              <a:cxnLst/>
              <a:rect l="l" t="t" r="r" b="b"/>
              <a:pathLst>
                <a:path w="31114" h="59689">
                  <a:moveTo>
                    <a:pt x="0" y="0"/>
                  </a:moveTo>
                  <a:lnTo>
                    <a:pt x="30721" y="0"/>
                  </a:lnTo>
                  <a:lnTo>
                    <a:pt x="30721" y="59283"/>
                  </a:lnTo>
                  <a:lnTo>
                    <a:pt x="0" y="59283"/>
                  </a:lnTo>
                  <a:lnTo>
                    <a:pt x="0" y="0"/>
                  </a:lnTo>
                  <a:close/>
                </a:path>
                <a:path w="31114" h="59689">
                  <a:moveTo>
                    <a:pt x="1092" y="2692"/>
                  </a:moveTo>
                  <a:lnTo>
                    <a:pt x="28524" y="2692"/>
                  </a:lnTo>
                  <a:lnTo>
                    <a:pt x="28524" y="57924"/>
                  </a:lnTo>
                  <a:lnTo>
                    <a:pt x="1092" y="57924"/>
                  </a:lnTo>
                  <a:lnTo>
                    <a:pt x="1092" y="2692"/>
                  </a:lnTo>
                  <a:close/>
                </a:path>
              </a:pathLst>
            </a:custGeom>
            <a:ln w="3175">
              <a:solidFill>
                <a:srgbClr val="9BD3F0"/>
              </a:solidFill>
            </a:ln>
          </p:spPr>
          <p:txBody>
            <a:bodyPr wrap="square" lIns="0" tIns="0" rIns="0" bIns="0" rtlCol="0"/>
            <a:lstStyle/>
            <a:p/>
          </p:txBody>
        </p:sp>
        <p:sp>
          <p:nvSpPr>
            <p:cNvPr id="154" name="object 154" descr=""/>
            <p:cNvSpPr/>
            <p:nvPr/>
          </p:nvSpPr>
          <p:spPr>
            <a:xfrm>
              <a:off x="2475738" y="1953551"/>
              <a:ext cx="31115" cy="59690"/>
            </a:xfrm>
            <a:custGeom>
              <a:avLst/>
              <a:gdLst/>
              <a:ahLst/>
              <a:cxnLst/>
              <a:rect l="l" t="t" r="r" b="b"/>
              <a:pathLst>
                <a:path w="31114" h="59689">
                  <a:moveTo>
                    <a:pt x="30721" y="0"/>
                  </a:moveTo>
                  <a:lnTo>
                    <a:pt x="0" y="0"/>
                  </a:lnTo>
                  <a:lnTo>
                    <a:pt x="0" y="59283"/>
                  </a:lnTo>
                  <a:lnTo>
                    <a:pt x="1092" y="59283"/>
                  </a:lnTo>
                  <a:lnTo>
                    <a:pt x="30721" y="59283"/>
                  </a:lnTo>
                  <a:lnTo>
                    <a:pt x="30721" y="57619"/>
                  </a:lnTo>
                  <a:lnTo>
                    <a:pt x="30721" y="1574"/>
                  </a:lnTo>
                  <a:lnTo>
                    <a:pt x="30721" y="1346"/>
                  </a:lnTo>
                  <a:lnTo>
                    <a:pt x="30721" y="0"/>
                  </a:lnTo>
                  <a:close/>
                </a:path>
              </a:pathLst>
            </a:custGeom>
            <a:solidFill>
              <a:srgbClr val="7FA6C8"/>
            </a:solidFill>
          </p:spPr>
          <p:txBody>
            <a:bodyPr wrap="square" lIns="0" tIns="0" rIns="0" bIns="0" rtlCol="0"/>
            <a:lstStyle/>
            <a:p/>
          </p:txBody>
        </p:sp>
        <p:sp>
          <p:nvSpPr>
            <p:cNvPr id="155" name="object 155" descr=""/>
            <p:cNvSpPr/>
            <p:nvPr/>
          </p:nvSpPr>
          <p:spPr>
            <a:xfrm>
              <a:off x="2475738" y="1953552"/>
              <a:ext cx="31115" cy="59690"/>
            </a:xfrm>
            <a:custGeom>
              <a:avLst/>
              <a:gdLst/>
              <a:ahLst/>
              <a:cxnLst/>
              <a:rect l="l" t="t" r="r" b="b"/>
              <a:pathLst>
                <a:path w="31114" h="59689">
                  <a:moveTo>
                    <a:pt x="0" y="0"/>
                  </a:moveTo>
                  <a:lnTo>
                    <a:pt x="30721" y="0"/>
                  </a:lnTo>
                  <a:lnTo>
                    <a:pt x="30721" y="59283"/>
                  </a:lnTo>
                  <a:lnTo>
                    <a:pt x="0" y="59283"/>
                  </a:lnTo>
                  <a:lnTo>
                    <a:pt x="0" y="0"/>
                  </a:lnTo>
                  <a:close/>
                </a:path>
                <a:path w="31114" h="59689">
                  <a:moveTo>
                    <a:pt x="1092" y="2692"/>
                  </a:moveTo>
                  <a:lnTo>
                    <a:pt x="29616" y="2692"/>
                  </a:lnTo>
                  <a:lnTo>
                    <a:pt x="29616" y="57924"/>
                  </a:lnTo>
                  <a:lnTo>
                    <a:pt x="1092" y="57924"/>
                  </a:lnTo>
                  <a:lnTo>
                    <a:pt x="1092" y="2692"/>
                  </a:lnTo>
                  <a:close/>
                </a:path>
              </a:pathLst>
            </a:custGeom>
            <a:ln w="3175">
              <a:solidFill>
                <a:srgbClr val="9BD3F0"/>
              </a:solidFill>
            </a:ln>
          </p:spPr>
          <p:txBody>
            <a:bodyPr wrap="square" lIns="0" tIns="0" rIns="0" bIns="0" rtlCol="0"/>
            <a:lstStyle/>
            <a:p/>
          </p:txBody>
        </p:sp>
        <p:sp>
          <p:nvSpPr>
            <p:cNvPr id="156" name="object 156" descr=""/>
            <p:cNvSpPr/>
            <p:nvPr/>
          </p:nvSpPr>
          <p:spPr>
            <a:xfrm>
              <a:off x="2522918" y="1953551"/>
              <a:ext cx="29845" cy="59690"/>
            </a:xfrm>
            <a:custGeom>
              <a:avLst/>
              <a:gdLst/>
              <a:ahLst/>
              <a:cxnLst/>
              <a:rect l="l" t="t" r="r" b="b"/>
              <a:pathLst>
                <a:path w="29844" h="59689">
                  <a:moveTo>
                    <a:pt x="29629" y="0"/>
                  </a:moveTo>
                  <a:lnTo>
                    <a:pt x="0" y="0"/>
                  </a:lnTo>
                  <a:lnTo>
                    <a:pt x="0" y="1346"/>
                  </a:lnTo>
                  <a:lnTo>
                    <a:pt x="0" y="59283"/>
                  </a:lnTo>
                  <a:lnTo>
                    <a:pt x="29629" y="59283"/>
                  </a:lnTo>
                  <a:lnTo>
                    <a:pt x="29629" y="57619"/>
                  </a:lnTo>
                  <a:lnTo>
                    <a:pt x="29629" y="1574"/>
                  </a:lnTo>
                  <a:lnTo>
                    <a:pt x="29629" y="1346"/>
                  </a:lnTo>
                  <a:lnTo>
                    <a:pt x="29629" y="0"/>
                  </a:lnTo>
                  <a:close/>
                </a:path>
              </a:pathLst>
            </a:custGeom>
            <a:solidFill>
              <a:srgbClr val="7FA6C8"/>
            </a:solidFill>
          </p:spPr>
          <p:txBody>
            <a:bodyPr wrap="square" lIns="0" tIns="0" rIns="0" bIns="0" rtlCol="0"/>
            <a:lstStyle/>
            <a:p/>
          </p:txBody>
        </p:sp>
        <p:sp>
          <p:nvSpPr>
            <p:cNvPr id="157" name="object 157" descr=""/>
            <p:cNvSpPr/>
            <p:nvPr/>
          </p:nvSpPr>
          <p:spPr>
            <a:xfrm>
              <a:off x="2522918" y="1953552"/>
              <a:ext cx="29845" cy="59690"/>
            </a:xfrm>
            <a:custGeom>
              <a:avLst/>
              <a:gdLst/>
              <a:ahLst/>
              <a:cxnLst/>
              <a:rect l="l" t="t" r="r" b="b"/>
              <a:pathLst>
                <a:path w="29844" h="59689">
                  <a:moveTo>
                    <a:pt x="0" y="0"/>
                  </a:moveTo>
                  <a:lnTo>
                    <a:pt x="29629" y="0"/>
                  </a:lnTo>
                  <a:lnTo>
                    <a:pt x="29629" y="59283"/>
                  </a:lnTo>
                  <a:lnTo>
                    <a:pt x="0" y="59283"/>
                  </a:lnTo>
                  <a:lnTo>
                    <a:pt x="0" y="0"/>
                  </a:lnTo>
                  <a:close/>
                </a:path>
                <a:path w="29844" h="59689">
                  <a:moveTo>
                    <a:pt x="1092" y="2692"/>
                  </a:moveTo>
                  <a:lnTo>
                    <a:pt x="28524" y="2692"/>
                  </a:lnTo>
                  <a:lnTo>
                    <a:pt x="28524" y="57924"/>
                  </a:lnTo>
                  <a:lnTo>
                    <a:pt x="1092" y="57924"/>
                  </a:lnTo>
                  <a:lnTo>
                    <a:pt x="1092" y="2692"/>
                  </a:lnTo>
                  <a:close/>
                </a:path>
              </a:pathLst>
            </a:custGeom>
            <a:ln w="3175">
              <a:solidFill>
                <a:srgbClr val="9BD3F0"/>
              </a:solidFill>
            </a:ln>
          </p:spPr>
          <p:txBody>
            <a:bodyPr wrap="square" lIns="0" tIns="0" rIns="0" bIns="0" rtlCol="0"/>
            <a:lstStyle/>
            <a:p/>
          </p:txBody>
        </p:sp>
        <p:sp>
          <p:nvSpPr>
            <p:cNvPr id="158" name="object 158" descr=""/>
            <p:cNvSpPr/>
            <p:nvPr/>
          </p:nvSpPr>
          <p:spPr>
            <a:xfrm>
              <a:off x="2262339" y="988860"/>
              <a:ext cx="229870" cy="488315"/>
            </a:xfrm>
            <a:custGeom>
              <a:avLst/>
              <a:gdLst/>
              <a:ahLst/>
              <a:cxnLst/>
              <a:rect l="l" t="t" r="r" b="b"/>
              <a:pathLst>
                <a:path w="229869" h="488315">
                  <a:moveTo>
                    <a:pt x="229298" y="0"/>
                  </a:moveTo>
                  <a:lnTo>
                    <a:pt x="0" y="0"/>
                  </a:lnTo>
                  <a:lnTo>
                    <a:pt x="0" y="487845"/>
                  </a:lnTo>
                  <a:lnTo>
                    <a:pt x="229298" y="487845"/>
                  </a:lnTo>
                  <a:lnTo>
                    <a:pt x="229298" y="0"/>
                  </a:lnTo>
                  <a:close/>
                </a:path>
              </a:pathLst>
            </a:custGeom>
            <a:solidFill>
              <a:srgbClr val="92D050">
                <a:alpha val="50195"/>
              </a:srgbClr>
            </a:solidFill>
          </p:spPr>
          <p:txBody>
            <a:bodyPr wrap="square" lIns="0" tIns="0" rIns="0" bIns="0" rtlCol="0"/>
            <a:lstStyle/>
            <a:p/>
          </p:txBody>
        </p:sp>
        <p:pic>
          <p:nvPicPr>
            <p:cNvPr id="159" name="object 159"/>
            <p:cNvPicPr/>
            <p:nvPr/>
          </p:nvPicPr>
          <p:blipFill>
            <a:blip r:embed="rId5" cstate="print"/>
            <a:stretch>
              <a:fillRect/>
            </a:stretch>
          </p:blipFill>
          <p:spPr>
            <a:xfrm>
              <a:off x="2193146" y="990200"/>
              <a:ext cx="154216" cy="502771"/>
            </a:xfrm>
            <a:prstGeom prst="rect">
              <a:avLst/>
            </a:prstGeom>
          </p:spPr>
        </p:pic>
        <p:sp>
          <p:nvSpPr>
            <p:cNvPr id="160" name="object 160" descr=""/>
            <p:cNvSpPr/>
            <p:nvPr/>
          </p:nvSpPr>
          <p:spPr>
            <a:xfrm>
              <a:off x="2159495" y="1532356"/>
              <a:ext cx="229870" cy="484505"/>
            </a:xfrm>
            <a:custGeom>
              <a:avLst/>
              <a:gdLst/>
              <a:ahLst/>
              <a:cxnLst/>
              <a:rect l="l" t="t" r="r" b="b"/>
              <a:pathLst>
                <a:path w="229869" h="484505">
                  <a:moveTo>
                    <a:pt x="229298" y="0"/>
                  </a:moveTo>
                  <a:lnTo>
                    <a:pt x="0" y="0"/>
                  </a:lnTo>
                  <a:lnTo>
                    <a:pt x="0" y="484352"/>
                  </a:lnTo>
                  <a:lnTo>
                    <a:pt x="229298" y="484352"/>
                  </a:lnTo>
                  <a:lnTo>
                    <a:pt x="229298" y="0"/>
                  </a:lnTo>
                  <a:close/>
                </a:path>
              </a:pathLst>
            </a:custGeom>
            <a:solidFill>
              <a:srgbClr val="92D050">
                <a:alpha val="50195"/>
              </a:srgbClr>
            </a:solidFill>
          </p:spPr>
          <p:txBody>
            <a:bodyPr wrap="square" lIns="0" tIns="0" rIns="0" bIns="0" rtlCol="0"/>
            <a:lstStyle/>
            <a:p/>
          </p:txBody>
        </p:sp>
        <p:pic>
          <p:nvPicPr>
            <p:cNvPr id="161" name="object 161"/>
            <p:cNvPicPr/>
            <p:nvPr/>
          </p:nvPicPr>
          <p:blipFill>
            <a:blip r:embed="rId5" cstate="print"/>
            <a:stretch>
              <a:fillRect/>
            </a:stretch>
          </p:blipFill>
          <p:spPr>
            <a:xfrm>
              <a:off x="2090297" y="1531391"/>
              <a:ext cx="154211" cy="499160"/>
            </a:xfrm>
            <a:prstGeom prst="rect">
              <a:avLst/>
            </a:prstGeom>
          </p:spPr>
        </p:pic>
        <p:pic>
          <p:nvPicPr>
            <p:cNvPr id="162" name="object 162"/>
            <p:cNvPicPr/>
            <p:nvPr/>
          </p:nvPicPr>
          <p:blipFill>
            <a:blip r:embed="rId6" cstate="print"/>
            <a:stretch>
              <a:fillRect/>
            </a:stretch>
          </p:blipFill>
          <p:spPr>
            <a:xfrm>
              <a:off x="850506" y="1125794"/>
              <a:ext cx="783233" cy="961018"/>
            </a:xfrm>
            <a:prstGeom prst="rect">
              <a:avLst/>
            </a:prstGeom>
          </p:spPr>
        </p:pic>
        <p:pic>
          <p:nvPicPr>
            <p:cNvPr id="163" name="object 163"/>
            <p:cNvPicPr/>
            <p:nvPr/>
          </p:nvPicPr>
          <p:blipFill>
            <a:blip r:embed="rId7" cstate="print"/>
            <a:stretch>
              <a:fillRect/>
            </a:stretch>
          </p:blipFill>
          <p:spPr>
            <a:xfrm>
              <a:off x="1254251" y="1482090"/>
              <a:ext cx="906779" cy="499871"/>
            </a:xfrm>
            <a:prstGeom prst="rect">
              <a:avLst/>
            </a:prstGeom>
          </p:spPr>
        </p:pic>
        <p:pic>
          <p:nvPicPr>
            <p:cNvPr id="164" name="object 164" descr=""/>
            <p:cNvPicPr/>
            <p:nvPr/>
          </p:nvPicPr>
          <p:blipFill>
            <a:blip r:embed="rId8" cstate="print"/>
            <a:stretch>
              <a:fillRect/>
            </a:stretch>
          </p:blipFill>
          <p:spPr>
            <a:xfrm>
              <a:off x="1301234" y="1504695"/>
              <a:ext cx="812963" cy="408150"/>
            </a:xfrm>
            <a:prstGeom prst="rect">
              <a:avLst/>
            </a:prstGeom>
          </p:spPr>
        </p:pic>
        <p:sp>
          <p:nvSpPr>
            <p:cNvPr id="165" name="object 165" descr=""/>
            <p:cNvSpPr/>
            <p:nvPr/>
          </p:nvSpPr>
          <p:spPr>
            <a:xfrm>
              <a:off x="1301229" y="1504755"/>
              <a:ext cx="813435" cy="408305"/>
            </a:xfrm>
            <a:custGeom>
              <a:avLst/>
              <a:gdLst/>
              <a:ahLst/>
              <a:cxnLst/>
              <a:rect l="l" t="t" r="r" b="b"/>
              <a:pathLst>
                <a:path w="813435" h="408305">
                  <a:moveTo>
                    <a:pt x="1261" y="20623"/>
                  </a:moveTo>
                  <a:lnTo>
                    <a:pt x="13130" y="8518"/>
                  </a:lnTo>
                  <a:lnTo>
                    <a:pt x="34713" y="1708"/>
                  </a:lnTo>
                  <a:lnTo>
                    <a:pt x="65093" y="0"/>
                  </a:lnTo>
                  <a:lnTo>
                    <a:pt x="103351" y="3199"/>
                  </a:lnTo>
                  <a:lnTo>
                    <a:pt x="148571" y="11112"/>
                  </a:lnTo>
                  <a:lnTo>
                    <a:pt x="199835" y="23546"/>
                  </a:lnTo>
                  <a:lnTo>
                    <a:pt x="256224" y="40307"/>
                  </a:lnTo>
                  <a:lnTo>
                    <a:pt x="316821" y="61202"/>
                  </a:lnTo>
                  <a:lnTo>
                    <a:pt x="380708" y="86036"/>
                  </a:lnTo>
                  <a:lnTo>
                    <a:pt x="446967" y="114616"/>
                  </a:lnTo>
                  <a:lnTo>
                    <a:pt x="512167" y="145540"/>
                  </a:lnTo>
                  <a:lnTo>
                    <a:pt x="572985" y="177154"/>
                  </a:lnTo>
                  <a:lnTo>
                    <a:pt x="628672" y="208895"/>
                  </a:lnTo>
                  <a:lnTo>
                    <a:pt x="678476" y="240203"/>
                  </a:lnTo>
                  <a:lnTo>
                    <a:pt x="721646" y="270515"/>
                  </a:lnTo>
                  <a:lnTo>
                    <a:pt x="757432" y="299269"/>
                  </a:lnTo>
                  <a:lnTo>
                    <a:pt x="785082" y="325904"/>
                  </a:lnTo>
                  <a:lnTo>
                    <a:pt x="812973" y="370569"/>
                  </a:lnTo>
                  <a:lnTo>
                    <a:pt x="811711" y="387475"/>
                  </a:lnTo>
                  <a:lnTo>
                    <a:pt x="799839" y="399580"/>
                  </a:lnTo>
                  <a:lnTo>
                    <a:pt x="778255" y="406390"/>
                  </a:lnTo>
                  <a:lnTo>
                    <a:pt x="709615" y="404899"/>
                  </a:lnTo>
                  <a:lnTo>
                    <a:pt x="664396" y="396984"/>
                  </a:lnTo>
                  <a:lnTo>
                    <a:pt x="613134" y="384549"/>
                  </a:lnTo>
                  <a:lnTo>
                    <a:pt x="556746" y="367787"/>
                  </a:lnTo>
                  <a:lnTo>
                    <a:pt x="496150" y="346890"/>
                  </a:lnTo>
                  <a:lnTo>
                    <a:pt x="432264" y="322053"/>
                  </a:lnTo>
                  <a:lnTo>
                    <a:pt x="366005" y="293470"/>
                  </a:lnTo>
                  <a:lnTo>
                    <a:pt x="300805" y="262549"/>
                  </a:lnTo>
                  <a:lnTo>
                    <a:pt x="239987" y="230938"/>
                  </a:lnTo>
                  <a:lnTo>
                    <a:pt x="184300" y="199198"/>
                  </a:lnTo>
                  <a:lnTo>
                    <a:pt x="134496" y="167893"/>
                  </a:lnTo>
                  <a:lnTo>
                    <a:pt x="91326" y="137582"/>
                  </a:lnTo>
                  <a:lnTo>
                    <a:pt x="55540" y="108829"/>
                  </a:lnTo>
                  <a:lnTo>
                    <a:pt x="27890" y="82194"/>
                  </a:lnTo>
                  <a:lnTo>
                    <a:pt x="0" y="37530"/>
                  </a:lnTo>
                  <a:lnTo>
                    <a:pt x="1261" y="20623"/>
                  </a:lnTo>
                  <a:close/>
                </a:path>
              </a:pathLst>
            </a:custGeom>
            <a:ln w="9525">
              <a:solidFill>
                <a:srgbClr val="F9F9F9"/>
              </a:solidFill>
            </a:ln>
          </p:spPr>
          <p:txBody>
            <a:bodyPr wrap="square" lIns="0" tIns="0" rIns="0" bIns="0" rtlCol="0"/>
            <a:lstStyle/>
            <a:p/>
          </p:txBody>
        </p:sp>
        <p:pic>
          <p:nvPicPr>
            <p:cNvPr id="166" name="object 166"/>
            <p:cNvPicPr/>
            <p:nvPr/>
          </p:nvPicPr>
          <p:blipFill>
            <a:blip r:embed="rId9" cstate="print"/>
            <a:stretch>
              <a:fillRect/>
            </a:stretch>
          </p:blipFill>
          <p:spPr>
            <a:xfrm>
              <a:off x="1236725" y="1262633"/>
              <a:ext cx="971549" cy="328421"/>
            </a:xfrm>
            <a:prstGeom prst="rect">
              <a:avLst/>
            </a:prstGeom>
          </p:spPr>
        </p:pic>
        <p:pic>
          <p:nvPicPr>
            <p:cNvPr id="167" name="object 167" descr=""/>
            <p:cNvPicPr/>
            <p:nvPr/>
          </p:nvPicPr>
          <p:blipFill>
            <a:blip r:embed="rId10" cstate="print"/>
            <a:stretch>
              <a:fillRect/>
            </a:stretch>
          </p:blipFill>
          <p:spPr>
            <a:xfrm>
              <a:off x="1282966" y="1285417"/>
              <a:ext cx="879221" cy="236671"/>
            </a:xfrm>
            <a:prstGeom prst="rect">
              <a:avLst/>
            </a:prstGeom>
          </p:spPr>
        </p:pic>
        <p:sp>
          <p:nvSpPr>
            <p:cNvPr id="168" name="object 168" descr=""/>
            <p:cNvSpPr/>
            <p:nvPr/>
          </p:nvSpPr>
          <p:spPr>
            <a:xfrm>
              <a:off x="1282964" y="1285443"/>
              <a:ext cx="879475" cy="236854"/>
            </a:xfrm>
            <a:custGeom>
              <a:avLst/>
              <a:gdLst/>
              <a:ahLst/>
              <a:cxnLst/>
              <a:rect l="l" t="t" r="r" b="b"/>
              <a:pathLst>
                <a:path w="879475" h="236855">
                  <a:moveTo>
                    <a:pt x="0" y="186096"/>
                  </a:moveTo>
                  <a:lnTo>
                    <a:pt x="17686" y="151977"/>
                  </a:lnTo>
                  <a:lnTo>
                    <a:pt x="75988" y="115725"/>
                  </a:lnTo>
                  <a:lnTo>
                    <a:pt x="118184" y="97647"/>
                  </a:lnTo>
                  <a:lnTo>
                    <a:pt x="167912" y="80054"/>
                  </a:lnTo>
                  <a:lnTo>
                    <a:pt x="224296" y="63285"/>
                  </a:lnTo>
                  <a:lnTo>
                    <a:pt x="286464" y="47679"/>
                  </a:lnTo>
                  <a:lnTo>
                    <a:pt x="353539" y="33576"/>
                  </a:lnTo>
                  <a:lnTo>
                    <a:pt x="424649" y="21314"/>
                  </a:lnTo>
                  <a:lnTo>
                    <a:pt x="496155" y="11588"/>
                  </a:lnTo>
                  <a:lnTo>
                    <a:pt x="564367" y="4834"/>
                  </a:lnTo>
                  <a:lnTo>
                    <a:pt x="628351" y="991"/>
                  </a:lnTo>
                  <a:lnTo>
                    <a:pt x="687170" y="0"/>
                  </a:lnTo>
                  <a:lnTo>
                    <a:pt x="739889" y="1799"/>
                  </a:lnTo>
                  <a:lnTo>
                    <a:pt x="785571" y="6329"/>
                  </a:lnTo>
                  <a:lnTo>
                    <a:pt x="823282" y="13529"/>
                  </a:lnTo>
                  <a:lnTo>
                    <a:pt x="871042" y="35700"/>
                  </a:lnTo>
                  <a:lnTo>
                    <a:pt x="879221" y="50549"/>
                  </a:lnTo>
                  <a:lnTo>
                    <a:pt x="875891" y="67173"/>
                  </a:lnTo>
                  <a:lnTo>
                    <a:pt x="861534" y="84669"/>
                  </a:lnTo>
                  <a:lnTo>
                    <a:pt x="803232" y="120921"/>
                  </a:lnTo>
                  <a:lnTo>
                    <a:pt x="761036" y="138999"/>
                  </a:lnTo>
                  <a:lnTo>
                    <a:pt x="711308" y="156591"/>
                  </a:lnTo>
                  <a:lnTo>
                    <a:pt x="654924" y="173360"/>
                  </a:lnTo>
                  <a:lnTo>
                    <a:pt x="592756" y="188966"/>
                  </a:lnTo>
                  <a:lnTo>
                    <a:pt x="525681" y="203070"/>
                  </a:lnTo>
                  <a:lnTo>
                    <a:pt x="454571" y="215332"/>
                  </a:lnTo>
                  <a:lnTo>
                    <a:pt x="383065" y="225058"/>
                  </a:lnTo>
                  <a:lnTo>
                    <a:pt x="314853" y="231812"/>
                  </a:lnTo>
                  <a:lnTo>
                    <a:pt x="250869" y="235655"/>
                  </a:lnTo>
                  <a:lnTo>
                    <a:pt x="192050" y="236646"/>
                  </a:lnTo>
                  <a:lnTo>
                    <a:pt x="139331" y="234847"/>
                  </a:lnTo>
                  <a:lnTo>
                    <a:pt x="93649" y="230317"/>
                  </a:lnTo>
                  <a:lnTo>
                    <a:pt x="55938" y="223117"/>
                  </a:lnTo>
                  <a:lnTo>
                    <a:pt x="8178" y="200946"/>
                  </a:lnTo>
                  <a:lnTo>
                    <a:pt x="0" y="186096"/>
                  </a:lnTo>
                  <a:close/>
                </a:path>
              </a:pathLst>
            </a:custGeom>
            <a:ln w="9525">
              <a:solidFill>
                <a:srgbClr val="F9F9F9"/>
              </a:solidFill>
            </a:ln>
          </p:spPr>
          <p:txBody>
            <a:bodyPr wrap="square" lIns="0" tIns="0" rIns="0" bIns="0" rtlCol="0"/>
            <a:lstStyle/>
            <a:p/>
          </p:txBody>
        </p:sp>
        <p:pic>
          <p:nvPicPr>
            <p:cNvPr id="169" name="object 169"/>
            <p:cNvPicPr/>
            <p:nvPr/>
          </p:nvPicPr>
          <p:blipFill>
            <a:blip r:embed="rId11" cstate="print"/>
            <a:stretch>
              <a:fillRect/>
            </a:stretch>
          </p:blipFill>
          <p:spPr>
            <a:xfrm>
              <a:off x="228600" y="2112999"/>
              <a:ext cx="500305" cy="316900"/>
            </a:xfrm>
            <a:prstGeom prst="rect">
              <a:avLst/>
            </a:prstGeom>
          </p:spPr>
        </p:pic>
        <p:pic>
          <p:nvPicPr>
            <p:cNvPr id="170" name="object 170"/>
            <p:cNvPicPr/>
            <p:nvPr/>
          </p:nvPicPr>
          <p:blipFill>
            <a:blip r:embed="rId11" cstate="print"/>
            <a:stretch>
              <a:fillRect/>
            </a:stretch>
          </p:blipFill>
          <p:spPr>
            <a:xfrm>
              <a:off x="988885" y="2117919"/>
              <a:ext cx="500299" cy="316899"/>
            </a:xfrm>
            <a:prstGeom prst="rect">
              <a:avLst/>
            </a:prstGeom>
          </p:spPr>
        </p:pic>
        <p:pic>
          <p:nvPicPr>
            <p:cNvPr id="171" name="object 171"/>
            <p:cNvPicPr/>
            <p:nvPr/>
          </p:nvPicPr>
          <p:blipFill>
            <a:blip r:embed="rId12" cstate="print"/>
            <a:stretch>
              <a:fillRect/>
            </a:stretch>
          </p:blipFill>
          <p:spPr>
            <a:xfrm>
              <a:off x="430529" y="1421891"/>
              <a:ext cx="614171" cy="676655"/>
            </a:xfrm>
            <a:prstGeom prst="rect">
              <a:avLst/>
            </a:prstGeom>
          </p:spPr>
        </p:pic>
        <p:pic>
          <p:nvPicPr>
            <p:cNvPr id="172" name="object 172" descr=""/>
            <p:cNvPicPr/>
            <p:nvPr/>
          </p:nvPicPr>
          <p:blipFill>
            <a:blip r:embed="rId13" cstate="print"/>
            <a:stretch>
              <a:fillRect/>
            </a:stretch>
          </p:blipFill>
          <p:spPr>
            <a:xfrm>
              <a:off x="477614" y="1444650"/>
              <a:ext cx="520296" cy="584679"/>
            </a:xfrm>
            <a:prstGeom prst="rect">
              <a:avLst/>
            </a:prstGeom>
          </p:spPr>
        </p:pic>
        <p:sp>
          <p:nvSpPr>
            <p:cNvPr id="173" name="object 173" descr=""/>
            <p:cNvSpPr/>
            <p:nvPr/>
          </p:nvSpPr>
          <p:spPr>
            <a:xfrm>
              <a:off x="477608" y="1444771"/>
              <a:ext cx="520700" cy="584835"/>
            </a:xfrm>
            <a:custGeom>
              <a:avLst/>
              <a:gdLst/>
              <a:ahLst/>
              <a:cxnLst/>
              <a:rect l="l" t="t" r="r" b="b"/>
              <a:pathLst>
                <a:path w="520700" h="584835">
                  <a:moveTo>
                    <a:pt x="8326" y="578262"/>
                  </a:moveTo>
                  <a:lnTo>
                    <a:pt x="0" y="562751"/>
                  </a:lnTo>
                  <a:lnTo>
                    <a:pt x="43" y="539204"/>
                  </a:lnTo>
                  <a:lnTo>
                    <a:pt x="7938" y="508601"/>
                  </a:lnTo>
                  <a:lnTo>
                    <a:pt x="23170" y="471921"/>
                  </a:lnTo>
                  <a:lnTo>
                    <a:pt x="45220" y="430143"/>
                  </a:lnTo>
                  <a:lnTo>
                    <a:pt x="73572" y="384246"/>
                  </a:lnTo>
                  <a:lnTo>
                    <a:pt x="107708" y="335208"/>
                  </a:lnTo>
                  <a:lnTo>
                    <a:pt x="147113" y="284009"/>
                  </a:lnTo>
                  <a:lnTo>
                    <a:pt x="191269" y="231628"/>
                  </a:lnTo>
                  <a:lnTo>
                    <a:pt x="237644" y="181198"/>
                  </a:lnTo>
                  <a:lnTo>
                    <a:pt x="283448" y="135632"/>
                  </a:lnTo>
                  <a:lnTo>
                    <a:pt x="327774" y="95566"/>
                  </a:lnTo>
                  <a:lnTo>
                    <a:pt x="369717" y="61636"/>
                  </a:lnTo>
                  <a:lnTo>
                    <a:pt x="408371" y="34478"/>
                  </a:lnTo>
                  <a:lnTo>
                    <a:pt x="442830" y="14728"/>
                  </a:lnTo>
                  <a:lnTo>
                    <a:pt x="495541" y="0"/>
                  </a:lnTo>
                  <a:lnTo>
                    <a:pt x="511982" y="6292"/>
                  </a:lnTo>
                  <a:lnTo>
                    <a:pt x="520305" y="21804"/>
                  </a:lnTo>
                  <a:lnTo>
                    <a:pt x="520260" y="45351"/>
                  </a:lnTo>
                  <a:lnTo>
                    <a:pt x="497133" y="112634"/>
                  </a:lnTo>
                  <a:lnTo>
                    <a:pt x="475084" y="154414"/>
                  </a:lnTo>
                  <a:lnTo>
                    <a:pt x="446733" y="200313"/>
                  </a:lnTo>
                  <a:lnTo>
                    <a:pt x="412598" y="249352"/>
                  </a:lnTo>
                  <a:lnTo>
                    <a:pt x="373194" y="300554"/>
                  </a:lnTo>
                  <a:lnTo>
                    <a:pt x="329039" y="352939"/>
                  </a:lnTo>
                  <a:lnTo>
                    <a:pt x="282663" y="403366"/>
                  </a:lnTo>
                  <a:lnTo>
                    <a:pt x="236860" y="448930"/>
                  </a:lnTo>
                  <a:lnTo>
                    <a:pt x="192534" y="488995"/>
                  </a:lnTo>
                  <a:lnTo>
                    <a:pt x="150591" y="522925"/>
                  </a:lnTo>
                  <a:lnTo>
                    <a:pt x="111937" y="550083"/>
                  </a:lnTo>
                  <a:lnTo>
                    <a:pt x="77478" y="569832"/>
                  </a:lnTo>
                  <a:lnTo>
                    <a:pt x="24766" y="584558"/>
                  </a:lnTo>
                  <a:lnTo>
                    <a:pt x="8326" y="578262"/>
                  </a:lnTo>
                  <a:close/>
                </a:path>
              </a:pathLst>
            </a:custGeom>
            <a:ln w="9525">
              <a:solidFill>
                <a:srgbClr val="F9F9F9"/>
              </a:solidFill>
            </a:ln>
          </p:spPr>
          <p:txBody>
            <a:bodyPr wrap="square" lIns="0" tIns="0" rIns="0" bIns="0" rtlCol="0"/>
            <a:lstStyle/>
            <a:p/>
          </p:txBody>
        </p:sp>
        <p:pic>
          <p:nvPicPr>
            <p:cNvPr id="174" name="object 174"/>
            <p:cNvPicPr/>
            <p:nvPr/>
          </p:nvPicPr>
          <p:blipFill>
            <a:blip r:embed="rId14" cstate="print"/>
            <a:stretch>
              <a:fillRect/>
            </a:stretch>
          </p:blipFill>
          <p:spPr>
            <a:xfrm>
              <a:off x="988314" y="1455419"/>
              <a:ext cx="243839" cy="672083"/>
            </a:xfrm>
            <a:prstGeom prst="rect">
              <a:avLst/>
            </a:prstGeom>
          </p:spPr>
        </p:pic>
        <p:pic>
          <p:nvPicPr>
            <p:cNvPr id="175" name="object 175" descr=""/>
            <p:cNvPicPr/>
            <p:nvPr/>
          </p:nvPicPr>
          <p:blipFill>
            <a:blip r:embed="rId15" cstate="print"/>
            <a:stretch>
              <a:fillRect/>
            </a:stretch>
          </p:blipFill>
          <p:spPr>
            <a:xfrm>
              <a:off x="1034576" y="1478216"/>
              <a:ext cx="151781" cy="579970"/>
            </a:xfrm>
            <a:prstGeom prst="rect">
              <a:avLst/>
            </a:prstGeom>
          </p:spPr>
        </p:pic>
        <p:sp>
          <p:nvSpPr>
            <p:cNvPr id="176" name="object 176" descr=""/>
            <p:cNvSpPr/>
            <p:nvPr/>
          </p:nvSpPr>
          <p:spPr>
            <a:xfrm>
              <a:off x="1034583" y="1478224"/>
              <a:ext cx="152400" cy="580390"/>
            </a:xfrm>
            <a:custGeom>
              <a:avLst/>
              <a:gdLst/>
              <a:ahLst/>
              <a:cxnLst/>
              <a:rect l="l" t="t" r="r" b="b"/>
              <a:pathLst>
                <a:path w="152400" h="580389">
                  <a:moveTo>
                    <a:pt x="46602" y="0"/>
                  </a:moveTo>
                  <a:lnTo>
                    <a:pt x="80423" y="26359"/>
                  </a:lnTo>
                  <a:lnTo>
                    <a:pt x="112300" y="103086"/>
                  </a:lnTo>
                  <a:lnTo>
                    <a:pt x="126018" y="156094"/>
                  </a:lnTo>
                  <a:lnTo>
                    <a:pt x="137460" y="216599"/>
                  </a:lnTo>
                  <a:lnTo>
                    <a:pt x="146030" y="282905"/>
                  </a:lnTo>
                  <a:lnTo>
                    <a:pt x="150890" y="349580"/>
                  </a:lnTo>
                  <a:lnTo>
                    <a:pt x="151776" y="411149"/>
                  </a:lnTo>
                  <a:lnTo>
                    <a:pt x="148933" y="465828"/>
                  </a:lnTo>
                  <a:lnTo>
                    <a:pt x="142607" y="511833"/>
                  </a:lnTo>
                  <a:lnTo>
                    <a:pt x="133041" y="547380"/>
                  </a:lnTo>
                  <a:lnTo>
                    <a:pt x="120482" y="570687"/>
                  </a:lnTo>
                  <a:lnTo>
                    <a:pt x="105174" y="579970"/>
                  </a:lnTo>
                  <a:lnTo>
                    <a:pt x="88314" y="573936"/>
                  </a:lnTo>
                  <a:lnTo>
                    <a:pt x="71345" y="553611"/>
                  </a:lnTo>
                  <a:lnTo>
                    <a:pt x="39466" y="476883"/>
                  </a:lnTo>
                  <a:lnTo>
                    <a:pt x="25750" y="423876"/>
                  </a:lnTo>
                  <a:lnTo>
                    <a:pt x="14311" y="363371"/>
                  </a:lnTo>
                  <a:lnTo>
                    <a:pt x="5746" y="297065"/>
                  </a:lnTo>
                  <a:lnTo>
                    <a:pt x="886" y="230390"/>
                  </a:lnTo>
                  <a:lnTo>
                    <a:pt x="0" y="168821"/>
                  </a:lnTo>
                  <a:lnTo>
                    <a:pt x="2842" y="114142"/>
                  </a:lnTo>
                  <a:lnTo>
                    <a:pt x="9169" y="68137"/>
                  </a:lnTo>
                  <a:lnTo>
                    <a:pt x="31294" y="9282"/>
                  </a:lnTo>
                  <a:lnTo>
                    <a:pt x="46602" y="0"/>
                  </a:lnTo>
                  <a:close/>
                </a:path>
              </a:pathLst>
            </a:custGeom>
            <a:ln w="9525">
              <a:solidFill>
                <a:srgbClr val="F9F9F9"/>
              </a:solidFill>
            </a:ln>
          </p:spPr>
          <p:txBody>
            <a:bodyPr wrap="square" lIns="0" tIns="0" rIns="0" bIns="0" rtlCol="0"/>
            <a:lstStyle/>
            <a:p/>
          </p:txBody>
        </p:sp>
      </p:grpSp>
      <p:grpSp>
        <p:nvGrpSpPr>
          <p:cNvPr id="177" name="object 177"/>
          <p:cNvGrpSpPr/>
          <p:nvPr/>
        </p:nvGrpSpPr>
        <p:grpSpPr>
          <a:xfrm>
            <a:off x="3258629" y="2730784"/>
            <a:ext cx="2702560" cy="1726564"/>
            <a:chOff x="3258629" y="2730784"/>
            <a:chExt cx="2702560" cy="1726564"/>
          </a:xfrm>
        </p:grpSpPr>
        <p:pic>
          <p:nvPicPr>
            <p:cNvPr id="178" name="object 178"/>
            <p:cNvPicPr/>
            <p:nvPr/>
          </p:nvPicPr>
          <p:blipFill>
            <a:blip r:embed="rId16" cstate="print"/>
            <a:stretch>
              <a:fillRect/>
            </a:stretch>
          </p:blipFill>
          <p:spPr>
            <a:xfrm>
              <a:off x="3258629" y="2730784"/>
              <a:ext cx="2702560" cy="1726321"/>
            </a:xfrm>
            <a:prstGeom prst="rect">
              <a:avLst/>
            </a:prstGeom>
          </p:spPr>
        </p:pic>
        <p:sp>
          <p:nvSpPr>
            <p:cNvPr id="179" name="object 179" descr=""/>
            <p:cNvSpPr/>
            <p:nvPr/>
          </p:nvSpPr>
          <p:spPr>
            <a:xfrm>
              <a:off x="3962050" y="3785788"/>
              <a:ext cx="361315" cy="169545"/>
            </a:xfrm>
            <a:custGeom>
              <a:avLst/>
              <a:gdLst/>
              <a:ahLst/>
              <a:cxnLst/>
              <a:rect l="l" t="t" r="r" b="b"/>
              <a:pathLst>
                <a:path w="361314" h="169545">
                  <a:moveTo>
                    <a:pt x="348551" y="0"/>
                  </a:moveTo>
                  <a:lnTo>
                    <a:pt x="342849" y="342"/>
                  </a:lnTo>
                  <a:lnTo>
                    <a:pt x="338912" y="723"/>
                  </a:lnTo>
                  <a:lnTo>
                    <a:pt x="144919" y="42570"/>
                  </a:lnTo>
                  <a:lnTo>
                    <a:pt x="228003" y="48323"/>
                  </a:lnTo>
                  <a:lnTo>
                    <a:pt x="214350" y="61772"/>
                  </a:lnTo>
                  <a:lnTo>
                    <a:pt x="181846" y="88541"/>
                  </a:lnTo>
                  <a:lnTo>
                    <a:pt x="143769" y="113924"/>
                  </a:lnTo>
                  <a:lnTo>
                    <a:pt x="100509" y="136687"/>
                  </a:lnTo>
                  <a:lnTo>
                    <a:pt x="52456" y="155596"/>
                  </a:lnTo>
                  <a:lnTo>
                    <a:pt x="0" y="169418"/>
                  </a:lnTo>
                  <a:lnTo>
                    <a:pt x="19957" y="167284"/>
                  </a:lnTo>
                  <a:lnTo>
                    <a:pt x="105144" y="152512"/>
                  </a:lnTo>
                  <a:lnTo>
                    <a:pt x="161593" y="138329"/>
                  </a:lnTo>
                  <a:lnTo>
                    <a:pt x="221425" y="118584"/>
                  </a:lnTo>
                  <a:lnTo>
                    <a:pt x="280250" y="92506"/>
                  </a:lnTo>
                  <a:lnTo>
                    <a:pt x="287070" y="88722"/>
                  </a:lnTo>
                  <a:lnTo>
                    <a:pt x="295681" y="144145"/>
                  </a:lnTo>
                  <a:lnTo>
                    <a:pt x="312077" y="110820"/>
                  </a:lnTo>
                  <a:lnTo>
                    <a:pt x="312204" y="111099"/>
                  </a:lnTo>
                  <a:lnTo>
                    <a:pt x="353402" y="27546"/>
                  </a:lnTo>
                  <a:lnTo>
                    <a:pt x="361200" y="10160"/>
                  </a:lnTo>
                  <a:lnTo>
                    <a:pt x="360070" y="5791"/>
                  </a:lnTo>
                  <a:lnTo>
                    <a:pt x="353021" y="990"/>
                  </a:lnTo>
                  <a:lnTo>
                    <a:pt x="348551" y="0"/>
                  </a:lnTo>
                  <a:close/>
                </a:path>
              </a:pathLst>
            </a:custGeom>
            <a:solidFill>
              <a:srgbClr val="92D050"/>
            </a:solidFill>
          </p:spPr>
          <p:txBody>
            <a:bodyPr wrap="square" lIns="0" tIns="0" rIns="0" bIns="0" rtlCol="0"/>
            <a:lstStyle/>
            <a:p/>
          </p:txBody>
        </p:sp>
      </p:grpSp>
      <p:sp>
        <p:nvSpPr>
          <p:cNvPr id="180" name="object 180" descr=""/>
          <p:cNvSpPr txBox="1"/>
          <p:nvPr/>
        </p:nvSpPr>
        <p:spPr>
          <a:xfrm>
            <a:off x="3906780" y="3648497"/>
            <a:ext cx="324485" cy="147320"/>
          </a:xfrm>
          <a:prstGeom prst="rect">
            <a:avLst/>
          </a:prstGeom>
        </p:spPr>
        <p:txBody>
          <a:bodyPr wrap="square" lIns="0" tIns="12065" rIns="0" bIns="0" rtlCol="0" vert="horz">
            <a:spAutoFit/>
          </a:bodyPr>
          <a:lstStyle/>
          <a:p>
            <a:pPr marL="12700">
              <a:lnSpc>
                <a:spcPct val="100000"/>
              </a:lnSpc>
              <a:spcBef>
                <a:spcPts val="95"/>
              </a:spcBef>
            </a:pPr>
            <a:r>
              <a:rPr dirty="0" sz="800" spc="-10">
                <a:latin typeface="Arial MT"/>
                <a:cs typeface="Arial MT"/>
              </a:rPr>
              <a:t>2.57</a:t>
            </a:r>
            <a:r>
              <a:rPr dirty="0" sz="800" spc="-50">
                <a:latin typeface="SimSun"/>
                <a:cs typeface="SimSun"/>
              </a:rPr>
              <a:t>倍</a:t>
            </a:r>
            <a:endParaRPr sz="800">
              <a:latin typeface="SimSun"/>
              <a:cs typeface="SimSun"/>
            </a:endParaRPr>
          </a:p>
        </p:txBody>
      </p:sp>
      <p:sp>
        <p:nvSpPr>
          <p:cNvPr id="181" name="object 181" descr=""/>
          <p:cNvSpPr/>
          <p:nvPr/>
        </p:nvSpPr>
        <p:spPr>
          <a:xfrm>
            <a:off x="5032386" y="3219620"/>
            <a:ext cx="441959" cy="548640"/>
          </a:xfrm>
          <a:custGeom>
            <a:avLst/>
            <a:gdLst/>
            <a:ahLst/>
            <a:cxnLst/>
            <a:rect l="l" t="t" r="r" b="b"/>
            <a:pathLst>
              <a:path w="441960" h="548639">
                <a:moveTo>
                  <a:pt x="427736" y="0"/>
                </a:moveTo>
                <a:lnTo>
                  <a:pt x="177838" y="137769"/>
                </a:lnTo>
                <a:lnTo>
                  <a:pt x="279806" y="156413"/>
                </a:lnTo>
                <a:lnTo>
                  <a:pt x="263042" y="199910"/>
                </a:lnTo>
                <a:lnTo>
                  <a:pt x="241755" y="248360"/>
                </a:lnTo>
                <a:lnTo>
                  <a:pt x="218292" y="295971"/>
                </a:lnTo>
                <a:lnTo>
                  <a:pt x="192735" y="342058"/>
                </a:lnTo>
                <a:lnTo>
                  <a:pt x="165165" y="385937"/>
                </a:lnTo>
                <a:lnTo>
                  <a:pt x="135666" y="426923"/>
                </a:lnTo>
                <a:lnTo>
                  <a:pt x="104317" y="464332"/>
                </a:lnTo>
                <a:lnTo>
                  <a:pt x="71202" y="497478"/>
                </a:lnTo>
                <a:lnTo>
                  <a:pt x="36402" y="525678"/>
                </a:lnTo>
                <a:lnTo>
                  <a:pt x="0" y="548246"/>
                </a:lnTo>
                <a:lnTo>
                  <a:pt x="13806" y="544693"/>
                </a:lnTo>
                <a:lnTo>
                  <a:pt x="69303" y="523955"/>
                </a:lnTo>
                <a:lnTo>
                  <a:pt x="107800" y="505290"/>
                </a:lnTo>
                <a:lnTo>
                  <a:pt x="151335" y="480107"/>
                </a:lnTo>
                <a:lnTo>
                  <a:pt x="198310" y="447666"/>
                </a:lnTo>
                <a:lnTo>
                  <a:pt x="247130" y="407226"/>
                </a:lnTo>
                <a:lnTo>
                  <a:pt x="296197" y="358047"/>
                </a:lnTo>
                <a:lnTo>
                  <a:pt x="343916" y="299389"/>
                </a:lnTo>
                <a:lnTo>
                  <a:pt x="352285" y="287108"/>
                </a:lnTo>
                <a:lnTo>
                  <a:pt x="362851" y="466470"/>
                </a:lnTo>
                <a:lnTo>
                  <a:pt x="382981" y="358635"/>
                </a:lnTo>
                <a:lnTo>
                  <a:pt x="383120" y="359562"/>
                </a:lnTo>
                <a:lnTo>
                  <a:pt x="433692" y="89153"/>
                </a:lnTo>
                <a:lnTo>
                  <a:pt x="440194" y="50939"/>
                </a:lnTo>
                <a:lnTo>
                  <a:pt x="441679" y="38180"/>
                </a:lnTo>
                <a:lnTo>
                  <a:pt x="441593" y="27058"/>
                </a:lnTo>
                <a:lnTo>
                  <a:pt x="440042" y="17758"/>
                </a:lnTo>
                <a:lnTo>
                  <a:pt x="437134" y="10464"/>
                </a:lnTo>
                <a:lnTo>
                  <a:pt x="433222" y="3225"/>
                </a:lnTo>
                <a:lnTo>
                  <a:pt x="427736" y="0"/>
                </a:lnTo>
                <a:close/>
              </a:path>
            </a:pathLst>
          </a:custGeom>
          <a:solidFill>
            <a:srgbClr val="92D050"/>
          </a:solidFill>
        </p:spPr>
        <p:txBody>
          <a:bodyPr wrap="square" lIns="0" tIns="0" rIns="0" bIns="0" rtlCol="0"/>
          <a:lstStyle/>
          <a:p/>
        </p:txBody>
      </p:sp>
      <p:sp>
        <p:nvSpPr>
          <p:cNvPr id="182" name="object 182" descr=""/>
          <p:cNvSpPr txBox="1"/>
          <p:nvPr/>
        </p:nvSpPr>
        <p:spPr>
          <a:xfrm>
            <a:off x="4842884" y="3393199"/>
            <a:ext cx="324485" cy="147320"/>
          </a:xfrm>
          <a:prstGeom prst="rect">
            <a:avLst/>
          </a:prstGeom>
        </p:spPr>
        <p:txBody>
          <a:bodyPr wrap="square" lIns="0" tIns="12065" rIns="0" bIns="0" rtlCol="0" vert="horz">
            <a:spAutoFit/>
          </a:bodyPr>
          <a:lstStyle/>
          <a:p>
            <a:pPr marL="12700">
              <a:lnSpc>
                <a:spcPct val="100000"/>
              </a:lnSpc>
              <a:spcBef>
                <a:spcPts val="95"/>
              </a:spcBef>
            </a:pPr>
            <a:r>
              <a:rPr dirty="0" sz="800" spc="-10">
                <a:latin typeface="Arial MT"/>
                <a:cs typeface="Arial MT"/>
              </a:rPr>
              <a:t>3.12</a:t>
            </a:r>
            <a:r>
              <a:rPr dirty="0" sz="800" spc="-50">
                <a:latin typeface="SimSun"/>
                <a:cs typeface="SimSun"/>
              </a:rPr>
              <a:t>倍</a:t>
            </a:r>
            <a:endParaRPr sz="800">
              <a:latin typeface="SimSun"/>
              <a:cs typeface="SimSun"/>
            </a:endParaRPr>
          </a:p>
        </p:txBody>
      </p:sp>
      <p:sp>
        <p:nvSpPr>
          <p:cNvPr id="183" name="object 183" descr=""/>
          <p:cNvSpPr txBox="1"/>
          <p:nvPr/>
        </p:nvSpPr>
        <p:spPr>
          <a:xfrm>
            <a:off x="7355281" y="3209766"/>
            <a:ext cx="228600" cy="147320"/>
          </a:xfrm>
          <a:prstGeom prst="rect">
            <a:avLst/>
          </a:prstGeom>
        </p:spPr>
        <p:txBody>
          <a:bodyPr wrap="square" lIns="0" tIns="12065" rIns="0" bIns="0" rtlCol="0" vert="horz">
            <a:spAutoFit/>
          </a:bodyPr>
          <a:lstStyle/>
          <a:p>
            <a:pPr marL="12700">
              <a:lnSpc>
                <a:spcPct val="100000"/>
              </a:lnSpc>
              <a:spcBef>
                <a:spcPts val="95"/>
              </a:spcBef>
            </a:pPr>
            <a:r>
              <a:rPr dirty="0" sz="800" spc="-25">
                <a:latin typeface="Arial MT"/>
                <a:cs typeface="Arial MT"/>
              </a:rPr>
              <a:t>23%</a:t>
            </a:r>
            <a:endParaRPr sz="800">
              <a:latin typeface="Arial MT"/>
              <a:cs typeface="Arial MT"/>
            </a:endParaRPr>
          </a:p>
        </p:txBody>
      </p:sp>
      <p:sp>
        <p:nvSpPr>
          <p:cNvPr id="184" name="object 184" descr=""/>
          <p:cNvSpPr txBox="1"/>
          <p:nvPr/>
        </p:nvSpPr>
        <p:spPr>
          <a:xfrm>
            <a:off x="3431540" y="737869"/>
            <a:ext cx="3474720" cy="1412240"/>
          </a:xfrm>
          <a:prstGeom prst="rect">
            <a:avLst/>
          </a:prstGeom>
        </p:spPr>
        <p:txBody>
          <a:bodyPr wrap="square" lIns="0" tIns="104139" rIns="0" bIns="0" rtlCol="0" vert="horz">
            <a:spAutoFit/>
          </a:bodyPr>
          <a:lstStyle/>
          <a:p>
            <a:pPr marL="88900">
              <a:lnSpc>
                <a:spcPct val="100000"/>
              </a:lnSpc>
              <a:spcBef>
                <a:spcPts val="819"/>
              </a:spcBef>
            </a:pPr>
            <a:r>
              <a:rPr dirty="0" sz="1200" spc="-5">
                <a:solidFill>
                  <a:srgbClr val="0000FF"/>
                </a:solidFill>
                <a:latin typeface="SimSun"/>
                <a:cs typeface="SimSun"/>
              </a:rPr>
              <a:t>通道增加，业务信道流数更多，吞吐量倍增：</a:t>
            </a:r>
            <a:endParaRPr sz="1200">
              <a:latin typeface="SimSun"/>
              <a:cs typeface="SimSun"/>
            </a:endParaRPr>
          </a:p>
          <a:p>
            <a:pPr marL="260985" indent="-172085">
              <a:lnSpc>
                <a:spcPct val="100000"/>
              </a:lnSpc>
              <a:spcBef>
                <a:spcPts val="720"/>
              </a:spcBef>
              <a:buFont typeface="Arial MT"/>
              <a:buChar char="•"/>
              <a:tabLst>
                <a:tab pos="260985" algn="l"/>
              </a:tabLst>
            </a:pPr>
            <a:r>
              <a:rPr dirty="0" sz="1200">
                <a:solidFill>
                  <a:srgbClr val="C00000"/>
                </a:solidFill>
                <a:latin typeface="SimSun"/>
                <a:cs typeface="SimSun"/>
              </a:rPr>
              <a:t>64TR</a:t>
            </a:r>
            <a:r>
              <a:rPr dirty="0" sz="1200" spc="-5">
                <a:solidFill>
                  <a:srgbClr val="C00000"/>
                </a:solidFill>
                <a:latin typeface="SimSun"/>
                <a:cs typeface="SimSun"/>
              </a:rPr>
              <a:t> </a:t>
            </a:r>
            <a:r>
              <a:rPr dirty="0" sz="1200">
                <a:latin typeface="SimSun"/>
                <a:cs typeface="SimSun"/>
              </a:rPr>
              <a:t>: 可实现</a:t>
            </a:r>
            <a:r>
              <a:rPr dirty="0" sz="1200">
                <a:solidFill>
                  <a:srgbClr val="FF0000"/>
                </a:solidFill>
                <a:latin typeface="SimSun"/>
                <a:cs typeface="SimSun"/>
              </a:rPr>
              <a:t>16～24</a:t>
            </a:r>
            <a:r>
              <a:rPr dirty="0" sz="1200" spc="-50">
                <a:latin typeface="SimSun"/>
                <a:cs typeface="SimSun"/>
              </a:rPr>
              <a:t>流</a:t>
            </a:r>
            <a:endParaRPr sz="1200">
              <a:latin typeface="SimSun"/>
              <a:cs typeface="SimSun"/>
            </a:endParaRPr>
          </a:p>
          <a:p>
            <a:pPr marL="12700" marR="1470025" indent="248285">
              <a:lnSpc>
                <a:spcPts val="2280"/>
              </a:lnSpc>
              <a:spcBef>
                <a:spcPts val="95"/>
              </a:spcBef>
              <a:buFont typeface="Arial MT"/>
              <a:buChar char="•"/>
              <a:tabLst>
                <a:tab pos="260985" algn="l"/>
                <a:tab pos="944880" algn="l"/>
              </a:tabLst>
            </a:pPr>
            <a:r>
              <a:rPr dirty="0" sz="1200" spc="-20">
                <a:solidFill>
                  <a:srgbClr val="C00000"/>
                </a:solidFill>
                <a:latin typeface="SimSun"/>
                <a:cs typeface="SimSun"/>
              </a:rPr>
              <a:t>8TR</a:t>
            </a:r>
            <a:r>
              <a:rPr dirty="0" sz="1200" spc="-20">
                <a:latin typeface="SimSun"/>
                <a:cs typeface="SimSun"/>
              </a:rPr>
              <a:t>:</a:t>
            </a:r>
            <a:r>
              <a:rPr dirty="0" sz="1200">
                <a:latin typeface="SimSun"/>
                <a:cs typeface="SimSun"/>
              </a:rPr>
              <a:t>	可实现</a:t>
            </a:r>
            <a:r>
              <a:rPr dirty="0" sz="1200">
                <a:solidFill>
                  <a:srgbClr val="FF0000"/>
                </a:solidFill>
                <a:latin typeface="SimSun"/>
                <a:cs typeface="SimSun"/>
              </a:rPr>
              <a:t>2～4</a:t>
            </a:r>
            <a:r>
              <a:rPr dirty="0" sz="1200" spc="-50">
                <a:latin typeface="SimSun"/>
                <a:cs typeface="SimSun"/>
              </a:rPr>
              <a:t>流</a:t>
            </a:r>
            <a:r>
              <a:rPr dirty="0" sz="1200" spc="-5">
                <a:solidFill>
                  <a:srgbClr val="0000FF"/>
                </a:solidFill>
                <a:latin typeface="SimSun"/>
                <a:cs typeface="SimSun"/>
              </a:rPr>
              <a:t>控制信道采用波束扫描技术：</a:t>
            </a:r>
            <a:endParaRPr sz="1200">
              <a:latin typeface="SimSun"/>
              <a:cs typeface="SimSun"/>
            </a:endParaRPr>
          </a:p>
          <a:p>
            <a:pPr marL="184785" indent="-172085">
              <a:lnSpc>
                <a:spcPct val="100000"/>
              </a:lnSpc>
              <a:spcBef>
                <a:spcPts val="505"/>
              </a:spcBef>
              <a:buFont typeface="Arial MT"/>
              <a:buChar char="•"/>
              <a:tabLst>
                <a:tab pos="184785" algn="l"/>
              </a:tabLst>
            </a:pPr>
            <a:r>
              <a:rPr dirty="0" sz="1200">
                <a:latin typeface="SimSun"/>
                <a:cs typeface="SimSun"/>
              </a:rPr>
              <a:t>2.6G Hz频率，最多可有</a:t>
            </a:r>
            <a:r>
              <a:rPr dirty="0" sz="1200">
                <a:solidFill>
                  <a:srgbClr val="FF0000"/>
                </a:solidFill>
                <a:latin typeface="SimSun"/>
                <a:cs typeface="SimSun"/>
              </a:rPr>
              <a:t>4个</a:t>
            </a:r>
            <a:r>
              <a:rPr dirty="0" sz="1200">
                <a:latin typeface="SimSun"/>
                <a:cs typeface="SimSun"/>
              </a:rPr>
              <a:t>广播波束，相比LTE</a:t>
            </a:r>
            <a:r>
              <a:rPr dirty="0" sz="1200" spc="-50">
                <a:latin typeface="SimSun"/>
                <a:cs typeface="SimSun"/>
              </a:rPr>
              <a:t>的</a:t>
            </a:r>
            <a:endParaRPr sz="1200">
              <a:latin typeface="SimSun"/>
              <a:cs typeface="SimSun"/>
            </a:endParaRPr>
          </a:p>
        </p:txBody>
      </p:sp>
      <p:grpSp>
        <p:nvGrpSpPr>
          <p:cNvPr id="185" name="object 185" descr=""/>
          <p:cNvGrpSpPr/>
          <p:nvPr/>
        </p:nvGrpSpPr>
        <p:grpSpPr>
          <a:xfrm>
            <a:off x="677924" y="2569224"/>
            <a:ext cx="1896745" cy="2079625"/>
            <a:chOff x="677924" y="2569224"/>
            <a:chExt cx="1896745" cy="2079625"/>
          </a:xfrm>
        </p:grpSpPr>
        <p:pic>
          <p:nvPicPr>
            <p:cNvPr id="186" name="object 186"/>
            <p:cNvPicPr/>
            <p:nvPr/>
          </p:nvPicPr>
          <p:blipFill>
            <a:blip r:embed="rId17" cstate="print"/>
            <a:stretch>
              <a:fillRect/>
            </a:stretch>
          </p:blipFill>
          <p:spPr>
            <a:xfrm>
              <a:off x="677924" y="2569224"/>
              <a:ext cx="1497437" cy="2079144"/>
            </a:xfrm>
            <a:prstGeom prst="rect">
              <a:avLst/>
            </a:prstGeom>
          </p:spPr>
        </p:pic>
        <p:sp>
          <p:nvSpPr>
            <p:cNvPr id="187" name="object 187" descr=""/>
            <p:cNvSpPr/>
            <p:nvPr/>
          </p:nvSpPr>
          <p:spPr>
            <a:xfrm>
              <a:off x="2205798" y="2635374"/>
              <a:ext cx="359410" cy="432434"/>
            </a:xfrm>
            <a:custGeom>
              <a:avLst/>
              <a:gdLst/>
              <a:ahLst/>
              <a:cxnLst/>
              <a:rect l="l" t="t" r="r" b="b"/>
              <a:pathLst>
                <a:path w="359410" h="432435">
                  <a:moveTo>
                    <a:pt x="0" y="0"/>
                  </a:moveTo>
                  <a:lnTo>
                    <a:pt x="69870" y="2351"/>
                  </a:lnTo>
                  <a:lnTo>
                    <a:pt x="126926" y="8763"/>
                  </a:lnTo>
                  <a:lnTo>
                    <a:pt x="165395" y="18270"/>
                  </a:lnTo>
                  <a:lnTo>
                    <a:pt x="179501" y="29908"/>
                  </a:lnTo>
                  <a:lnTo>
                    <a:pt x="179501" y="186105"/>
                  </a:lnTo>
                  <a:lnTo>
                    <a:pt x="193607" y="197751"/>
                  </a:lnTo>
                  <a:lnTo>
                    <a:pt x="232075" y="207262"/>
                  </a:lnTo>
                  <a:lnTo>
                    <a:pt x="289128" y="213675"/>
                  </a:lnTo>
                  <a:lnTo>
                    <a:pt x="358990" y="216027"/>
                  </a:lnTo>
                  <a:lnTo>
                    <a:pt x="289128" y="218376"/>
                  </a:lnTo>
                  <a:lnTo>
                    <a:pt x="232075" y="224785"/>
                  </a:lnTo>
                  <a:lnTo>
                    <a:pt x="193607" y="234291"/>
                  </a:lnTo>
                  <a:lnTo>
                    <a:pt x="179501" y="245935"/>
                  </a:lnTo>
                  <a:lnTo>
                    <a:pt x="179501" y="402132"/>
                  </a:lnTo>
                  <a:lnTo>
                    <a:pt x="165395" y="413778"/>
                  </a:lnTo>
                  <a:lnTo>
                    <a:pt x="126926" y="423289"/>
                  </a:lnTo>
                  <a:lnTo>
                    <a:pt x="69870" y="429702"/>
                  </a:lnTo>
                  <a:lnTo>
                    <a:pt x="0" y="432054"/>
                  </a:lnTo>
                </a:path>
              </a:pathLst>
            </a:custGeom>
            <a:ln w="19050">
              <a:solidFill>
                <a:srgbClr val="B6DCDF"/>
              </a:solidFill>
            </a:ln>
          </p:spPr>
          <p:txBody>
            <a:bodyPr wrap="square" lIns="0" tIns="0" rIns="0" bIns="0" rtlCol="0"/>
            <a:lstStyle/>
            <a:p/>
          </p:txBody>
        </p:sp>
      </p:grpSp>
      <p:sp>
        <p:nvSpPr>
          <p:cNvPr id="188" name="object 188" descr=""/>
          <p:cNvSpPr txBox="1"/>
          <p:nvPr/>
        </p:nvSpPr>
        <p:spPr>
          <a:xfrm>
            <a:off x="2644576" y="2450083"/>
            <a:ext cx="535305" cy="786765"/>
          </a:xfrm>
          <a:prstGeom prst="rect">
            <a:avLst/>
          </a:prstGeom>
        </p:spPr>
        <p:txBody>
          <a:bodyPr wrap="square" lIns="0" tIns="13335" rIns="0" bIns="0" rtlCol="0" vert="horz">
            <a:spAutoFit/>
          </a:bodyPr>
          <a:lstStyle/>
          <a:p>
            <a:pPr marL="12700" marR="5080">
              <a:lnSpc>
                <a:spcPct val="99800"/>
              </a:lnSpc>
              <a:spcBef>
                <a:spcPts val="105"/>
              </a:spcBef>
            </a:pPr>
            <a:r>
              <a:rPr dirty="0" sz="1000">
                <a:latin typeface="SimSun"/>
                <a:cs typeface="SimSun"/>
              </a:rPr>
              <a:t>垂直面</a:t>
            </a:r>
            <a:r>
              <a:rPr dirty="0" sz="1000" spc="-50" b="1">
                <a:solidFill>
                  <a:srgbClr val="C00000"/>
                </a:solidFill>
                <a:latin typeface="Arial"/>
                <a:cs typeface="Arial"/>
              </a:rPr>
              <a:t>3</a:t>
            </a:r>
            <a:r>
              <a:rPr dirty="0" sz="1000">
                <a:solidFill>
                  <a:srgbClr val="C00000"/>
                </a:solidFill>
                <a:latin typeface="SimSun"/>
                <a:cs typeface="SimSun"/>
              </a:rPr>
              <a:t>个</a:t>
            </a:r>
            <a:r>
              <a:rPr dirty="0" sz="1000" spc="-20">
                <a:latin typeface="SimSun"/>
                <a:cs typeface="SimSun"/>
              </a:rPr>
              <a:t>阵子为</a:t>
            </a:r>
            <a:r>
              <a:rPr dirty="0" sz="1000" spc="-15">
                <a:latin typeface="SimSun"/>
                <a:cs typeface="SimSun"/>
              </a:rPr>
              <a:t>一天线单元，组成</a:t>
            </a:r>
            <a:r>
              <a:rPr dirty="0" sz="1000" spc="-50">
                <a:latin typeface="SimSun"/>
                <a:cs typeface="SimSun"/>
              </a:rPr>
              <a:t> </a:t>
            </a:r>
            <a:r>
              <a:rPr dirty="0" sz="1000" spc="-25" b="1">
                <a:solidFill>
                  <a:srgbClr val="C00000"/>
                </a:solidFill>
                <a:latin typeface="Arial"/>
                <a:cs typeface="Arial"/>
              </a:rPr>
              <a:t>1TR</a:t>
            </a:r>
            <a:endParaRPr sz="1000">
              <a:latin typeface="Arial"/>
              <a:cs typeface="Arial"/>
            </a:endParaRPr>
          </a:p>
        </p:txBody>
      </p:sp>
      <p:sp>
        <p:nvSpPr>
          <p:cNvPr id="189" name="object 189" descr=""/>
          <p:cNvSpPr/>
          <p:nvPr/>
        </p:nvSpPr>
        <p:spPr>
          <a:xfrm>
            <a:off x="405598" y="2563367"/>
            <a:ext cx="252095" cy="2108835"/>
          </a:xfrm>
          <a:custGeom>
            <a:avLst/>
            <a:gdLst/>
            <a:ahLst/>
            <a:cxnLst/>
            <a:rect l="l" t="t" r="r" b="b"/>
            <a:pathLst>
              <a:path w="252095" h="2108835">
                <a:moveTo>
                  <a:pt x="251942" y="2108428"/>
                </a:moveTo>
                <a:lnTo>
                  <a:pt x="202909" y="2106778"/>
                </a:lnTo>
                <a:lnTo>
                  <a:pt x="162867" y="2102280"/>
                </a:lnTo>
                <a:lnTo>
                  <a:pt x="135870" y="2095607"/>
                </a:lnTo>
                <a:lnTo>
                  <a:pt x="125971" y="2087435"/>
                </a:lnTo>
                <a:lnTo>
                  <a:pt x="125971" y="1075207"/>
                </a:lnTo>
                <a:lnTo>
                  <a:pt x="116071" y="1067035"/>
                </a:lnTo>
                <a:lnTo>
                  <a:pt x="89074" y="1060362"/>
                </a:lnTo>
                <a:lnTo>
                  <a:pt x="49033" y="1055863"/>
                </a:lnTo>
                <a:lnTo>
                  <a:pt x="0" y="1054214"/>
                </a:lnTo>
                <a:lnTo>
                  <a:pt x="49033" y="1052564"/>
                </a:lnTo>
                <a:lnTo>
                  <a:pt x="89074" y="1048065"/>
                </a:lnTo>
                <a:lnTo>
                  <a:pt x="116071" y="1041393"/>
                </a:lnTo>
                <a:lnTo>
                  <a:pt x="125971" y="1033221"/>
                </a:lnTo>
                <a:lnTo>
                  <a:pt x="125971" y="20993"/>
                </a:lnTo>
                <a:lnTo>
                  <a:pt x="135870" y="12821"/>
                </a:lnTo>
                <a:lnTo>
                  <a:pt x="162867" y="6148"/>
                </a:lnTo>
                <a:lnTo>
                  <a:pt x="202909" y="1649"/>
                </a:lnTo>
                <a:lnTo>
                  <a:pt x="251942" y="0"/>
                </a:lnTo>
              </a:path>
            </a:pathLst>
          </a:custGeom>
          <a:ln w="9525">
            <a:solidFill>
              <a:srgbClr val="B6DCDF"/>
            </a:solidFill>
          </a:ln>
        </p:spPr>
        <p:txBody>
          <a:bodyPr wrap="square" lIns="0" tIns="0" rIns="0" bIns="0" rtlCol="0"/>
          <a:lstStyle/>
          <a:p/>
        </p:txBody>
      </p:sp>
      <p:sp>
        <p:nvSpPr>
          <p:cNvPr id="190" name="object 190" descr=""/>
          <p:cNvSpPr txBox="1"/>
          <p:nvPr/>
        </p:nvSpPr>
        <p:spPr>
          <a:xfrm>
            <a:off x="78739" y="3316502"/>
            <a:ext cx="372745" cy="634365"/>
          </a:xfrm>
          <a:prstGeom prst="rect">
            <a:avLst/>
          </a:prstGeom>
        </p:spPr>
        <p:txBody>
          <a:bodyPr wrap="square" lIns="0" tIns="13335" rIns="0" bIns="0" rtlCol="0" vert="horz">
            <a:spAutoFit/>
          </a:bodyPr>
          <a:lstStyle/>
          <a:p>
            <a:pPr marL="12700" marR="5080">
              <a:lnSpc>
                <a:spcPct val="99700"/>
              </a:lnSpc>
              <a:spcBef>
                <a:spcPts val="105"/>
              </a:spcBef>
            </a:pPr>
            <a:r>
              <a:rPr dirty="0" sz="1000" spc="-25">
                <a:latin typeface="SimSun"/>
                <a:cs typeface="SimSun"/>
              </a:rPr>
              <a:t>天线总增益：</a:t>
            </a:r>
            <a:r>
              <a:rPr dirty="0" sz="1000" spc="-50">
                <a:latin typeface="SimSun"/>
                <a:cs typeface="SimSun"/>
              </a:rPr>
              <a:t> </a:t>
            </a:r>
            <a:r>
              <a:rPr dirty="0" sz="1000" spc="-10" b="1">
                <a:solidFill>
                  <a:srgbClr val="C00000"/>
                </a:solidFill>
                <a:latin typeface="Arial"/>
                <a:cs typeface="Arial"/>
              </a:rPr>
              <a:t>25dBi</a:t>
            </a:r>
            <a:endParaRPr sz="1000">
              <a:latin typeface="Arial"/>
              <a:cs typeface="Arial"/>
            </a:endParaRPr>
          </a:p>
        </p:txBody>
      </p:sp>
      <p:sp>
        <p:nvSpPr>
          <p:cNvPr id="191" name="object 191" descr=""/>
          <p:cNvSpPr/>
          <p:nvPr/>
        </p:nvSpPr>
        <p:spPr>
          <a:xfrm>
            <a:off x="2409344" y="2563365"/>
            <a:ext cx="245745" cy="2088514"/>
          </a:xfrm>
          <a:custGeom>
            <a:avLst/>
            <a:gdLst/>
            <a:ahLst/>
            <a:cxnLst/>
            <a:rect l="l" t="t" r="r" b="b"/>
            <a:pathLst>
              <a:path w="245744" h="2088514">
                <a:moveTo>
                  <a:pt x="0" y="0"/>
                </a:moveTo>
                <a:lnTo>
                  <a:pt x="47762" y="1607"/>
                </a:lnTo>
                <a:lnTo>
                  <a:pt x="86766" y="5989"/>
                </a:lnTo>
                <a:lnTo>
                  <a:pt x="113064" y="12489"/>
                </a:lnTo>
                <a:lnTo>
                  <a:pt x="122707" y="20447"/>
                </a:lnTo>
                <a:lnTo>
                  <a:pt x="122707" y="1023670"/>
                </a:lnTo>
                <a:lnTo>
                  <a:pt x="132350" y="1031628"/>
                </a:lnTo>
                <a:lnTo>
                  <a:pt x="158649" y="1038128"/>
                </a:lnTo>
                <a:lnTo>
                  <a:pt x="197657" y="1042510"/>
                </a:lnTo>
                <a:lnTo>
                  <a:pt x="245427" y="1044117"/>
                </a:lnTo>
                <a:lnTo>
                  <a:pt x="197657" y="1045724"/>
                </a:lnTo>
                <a:lnTo>
                  <a:pt x="158649" y="1050107"/>
                </a:lnTo>
                <a:lnTo>
                  <a:pt x="132350" y="1056606"/>
                </a:lnTo>
                <a:lnTo>
                  <a:pt x="122707" y="1064564"/>
                </a:lnTo>
                <a:lnTo>
                  <a:pt x="122707" y="2067775"/>
                </a:lnTo>
                <a:lnTo>
                  <a:pt x="113064" y="2075741"/>
                </a:lnTo>
                <a:lnTo>
                  <a:pt x="86766" y="2082244"/>
                </a:lnTo>
                <a:lnTo>
                  <a:pt x="47762" y="2086628"/>
                </a:lnTo>
                <a:lnTo>
                  <a:pt x="0" y="2088235"/>
                </a:lnTo>
              </a:path>
            </a:pathLst>
          </a:custGeom>
          <a:ln w="9525">
            <a:solidFill>
              <a:srgbClr val="B6DCDF"/>
            </a:solidFill>
          </a:ln>
        </p:spPr>
        <p:txBody>
          <a:bodyPr wrap="square" lIns="0" tIns="0" rIns="0" bIns="0" rtlCol="0"/>
          <a:lstStyle/>
          <a:p/>
        </p:txBody>
      </p:sp>
      <p:sp>
        <p:nvSpPr>
          <p:cNvPr id="192" name="object 192" descr=""/>
          <p:cNvSpPr txBox="1"/>
          <p:nvPr/>
        </p:nvSpPr>
        <p:spPr>
          <a:xfrm>
            <a:off x="2690135" y="3322598"/>
            <a:ext cx="591820" cy="782320"/>
          </a:xfrm>
          <a:prstGeom prst="rect">
            <a:avLst/>
          </a:prstGeom>
        </p:spPr>
        <p:txBody>
          <a:bodyPr wrap="square" lIns="0" tIns="14605" rIns="0" bIns="0" rtlCol="0" vert="horz">
            <a:spAutoFit/>
          </a:bodyPr>
          <a:lstStyle/>
          <a:p>
            <a:pPr marL="12700" marR="5080">
              <a:lnSpc>
                <a:spcPct val="99000"/>
              </a:lnSpc>
              <a:spcBef>
                <a:spcPts val="115"/>
              </a:spcBef>
            </a:pPr>
            <a:r>
              <a:rPr dirty="0" sz="1000" spc="-20">
                <a:latin typeface="SimSun"/>
                <a:cs typeface="SimSun"/>
              </a:rPr>
              <a:t>垂直面</a:t>
            </a:r>
            <a:r>
              <a:rPr dirty="0" sz="1000" spc="-50">
                <a:latin typeface="SimSun"/>
                <a:cs typeface="SimSun"/>
              </a:rPr>
              <a:t> </a:t>
            </a:r>
            <a:r>
              <a:rPr dirty="0" sz="1000" spc="-10">
                <a:latin typeface="Arial MT"/>
                <a:cs typeface="Arial MT"/>
              </a:rPr>
              <a:t>4TR</a:t>
            </a:r>
            <a:r>
              <a:rPr dirty="0" sz="1000" spc="-30">
                <a:latin typeface="SimSun"/>
                <a:cs typeface="SimSun"/>
              </a:rPr>
              <a:t>，可</a:t>
            </a:r>
            <a:r>
              <a:rPr dirty="0" sz="1000" spc="-15">
                <a:latin typeface="SimSun"/>
                <a:cs typeface="SimSun"/>
              </a:rPr>
              <a:t>实现垂直</a:t>
            </a:r>
            <a:r>
              <a:rPr dirty="0" sz="1000">
                <a:latin typeface="SimSun"/>
                <a:cs typeface="SimSun"/>
              </a:rPr>
              <a:t>面</a:t>
            </a:r>
            <a:r>
              <a:rPr dirty="0" sz="1000" spc="-10" b="1">
                <a:solidFill>
                  <a:srgbClr val="C00000"/>
                </a:solidFill>
                <a:latin typeface="Arial"/>
                <a:cs typeface="Arial"/>
              </a:rPr>
              <a:t>2-</a:t>
            </a:r>
            <a:r>
              <a:rPr dirty="0" sz="1000" b="1">
                <a:solidFill>
                  <a:srgbClr val="C00000"/>
                </a:solidFill>
                <a:latin typeface="Arial"/>
                <a:cs typeface="Arial"/>
              </a:rPr>
              <a:t>4</a:t>
            </a:r>
            <a:r>
              <a:rPr dirty="0" sz="1000" spc="-25">
                <a:latin typeface="SimSun"/>
                <a:cs typeface="SimSun"/>
              </a:rPr>
              <a:t>波束赋形</a:t>
            </a:r>
            <a:endParaRPr sz="1000">
              <a:latin typeface="SimSun"/>
              <a:cs typeface="SimSun"/>
            </a:endParaRPr>
          </a:p>
        </p:txBody>
      </p:sp>
      <p:sp>
        <p:nvSpPr>
          <p:cNvPr id="193" name="object 193" descr=""/>
          <p:cNvSpPr txBox="1"/>
          <p:nvPr/>
        </p:nvSpPr>
        <p:spPr>
          <a:xfrm>
            <a:off x="3431540" y="2216150"/>
            <a:ext cx="338074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SimSun"/>
                <a:cs typeface="SimSun"/>
              </a:rPr>
              <a:t>广播宽波束，理论上可提升</a:t>
            </a:r>
            <a:r>
              <a:rPr dirty="0" sz="1200">
                <a:solidFill>
                  <a:srgbClr val="FF0000"/>
                </a:solidFill>
                <a:latin typeface="SimSun"/>
                <a:cs typeface="SimSun"/>
              </a:rPr>
              <a:t>6dB</a:t>
            </a:r>
            <a:r>
              <a:rPr dirty="0" sz="1200">
                <a:latin typeface="SimSun"/>
                <a:cs typeface="SimSun"/>
              </a:rPr>
              <a:t>增益，提升覆盖</a:t>
            </a:r>
            <a:r>
              <a:rPr dirty="0" sz="1200" spc="-25">
                <a:solidFill>
                  <a:srgbClr val="FF0000"/>
                </a:solidFill>
                <a:latin typeface="SimSun"/>
                <a:cs typeface="SimSun"/>
              </a:rPr>
              <a:t>40%</a:t>
            </a:r>
            <a:endParaRPr sz="1200">
              <a:latin typeface="SimSun"/>
              <a:cs typeface="SimSun"/>
            </a:endParaRPr>
          </a:p>
        </p:txBody>
      </p:sp>
      <p:sp>
        <p:nvSpPr>
          <p:cNvPr id="194" name="object 194" descr=""/>
          <p:cNvSpPr txBox="1"/>
          <p:nvPr/>
        </p:nvSpPr>
        <p:spPr>
          <a:xfrm>
            <a:off x="3507740" y="2505710"/>
            <a:ext cx="1323340" cy="208279"/>
          </a:xfrm>
          <a:prstGeom prst="rect">
            <a:avLst/>
          </a:prstGeom>
        </p:spPr>
        <p:txBody>
          <a:bodyPr wrap="square" lIns="0" tIns="12700" rIns="0" bIns="0" rtlCol="0" vert="horz">
            <a:spAutoFit/>
          </a:bodyPr>
          <a:lstStyle/>
          <a:p>
            <a:pPr marL="12700">
              <a:lnSpc>
                <a:spcPct val="100000"/>
              </a:lnSpc>
              <a:spcBef>
                <a:spcPts val="100"/>
              </a:spcBef>
            </a:pPr>
            <a:r>
              <a:rPr dirty="0" sz="1200">
                <a:solidFill>
                  <a:srgbClr val="0000FF"/>
                </a:solidFill>
                <a:latin typeface="SimSun"/>
                <a:cs typeface="SimSun"/>
              </a:rPr>
              <a:t>64TR与8TR</a:t>
            </a:r>
            <a:r>
              <a:rPr dirty="0" sz="1200" spc="-15">
                <a:solidFill>
                  <a:srgbClr val="0000FF"/>
                </a:solidFill>
                <a:latin typeface="SimSun"/>
                <a:cs typeface="SimSun"/>
              </a:rPr>
              <a:t>性能对比</a:t>
            </a:r>
            <a:endParaRPr sz="1200">
              <a:latin typeface="SimSun"/>
              <a:cs typeface="SimSun"/>
            </a:endParaRPr>
          </a:p>
        </p:txBody>
      </p:sp>
      <p:sp>
        <p:nvSpPr>
          <p:cNvPr id="195" name="object 195" descr=""/>
          <p:cNvSpPr txBox="1"/>
          <p:nvPr/>
        </p:nvSpPr>
        <p:spPr>
          <a:xfrm>
            <a:off x="3785128" y="4555588"/>
            <a:ext cx="1779905" cy="208279"/>
          </a:xfrm>
          <a:prstGeom prst="rect">
            <a:avLst/>
          </a:prstGeom>
        </p:spPr>
        <p:txBody>
          <a:bodyPr wrap="square" lIns="0" tIns="12700" rIns="0" bIns="0" rtlCol="0" vert="horz">
            <a:spAutoFit/>
          </a:bodyPr>
          <a:lstStyle/>
          <a:p>
            <a:pPr marL="12700">
              <a:lnSpc>
                <a:spcPct val="100000"/>
              </a:lnSpc>
              <a:spcBef>
                <a:spcPts val="100"/>
              </a:spcBef>
            </a:pPr>
            <a:r>
              <a:rPr dirty="0" sz="1200">
                <a:solidFill>
                  <a:srgbClr val="C00000"/>
                </a:solidFill>
                <a:latin typeface="SimSun"/>
                <a:cs typeface="SimSun"/>
              </a:rPr>
              <a:t>上下行吞吐量提升 2～3</a:t>
            </a:r>
            <a:r>
              <a:rPr dirty="0" sz="1200" spc="-50">
                <a:solidFill>
                  <a:srgbClr val="C00000"/>
                </a:solidFill>
                <a:latin typeface="SimSun"/>
                <a:cs typeface="SimSun"/>
              </a:rPr>
              <a:t>倍</a:t>
            </a:r>
            <a:endParaRPr sz="1200">
              <a:latin typeface="SimSun"/>
              <a:cs typeface="SimSun"/>
            </a:endParaRPr>
          </a:p>
        </p:txBody>
      </p:sp>
      <p:sp>
        <p:nvSpPr>
          <p:cNvPr id="196" name="object 196" descr=""/>
          <p:cNvSpPr txBox="1"/>
          <p:nvPr/>
        </p:nvSpPr>
        <p:spPr>
          <a:xfrm>
            <a:off x="7025489" y="4532243"/>
            <a:ext cx="866140" cy="208279"/>
          </a:xfrm>
          <a:prstGeom prst="rect">
            <a:avLst/>
          </a:prstGeom>
        </p:spPr>
        <p:txBody>
          <a:bodyPr wrap="square" lIns="0" tIns="12700" rIns="0" bIns="0" rtlCol="0" vert="horz">
            <a:spAutoFit/>
          </a:bodyPr>
          <a:lstStyle/>
          <a:p>
            <a:pPr marL="12700">
              <a:lnSpc>
                <a:spcPct val="100000"/>
              </a:lnSpc>
              <a:spcBef>
                <a:spcPts val="100"/>
              </a:spcBef>
            </a:pPr>
            <a:r>
              <a:rPr dirty="0" sz="1200">
                <a:solidFill>
                  <a:srgbClr val="C00000"/>
                </a:solidFill>
                <a:latin typeface="SimSun"/>
                <a:cs typeface="SimSun"/>
              </a:rPr>
              <a:t>覆盖提升</a:t>
            </a:r>
            <a:r>
              <a:rPr dirty="0" sz="1200" spc="-25">
                <a:solidFill>
                  <a:srgbClr val="C00000"/>
                </a:solidFill>
                <a:latin typeface="SimSun"/>
                <a:cs typeface="SimSun"/>
              </a:rPr>
              <a:t>23%</a:t>
            </a:r>
            <a:endParaRPr sz="1200">
              <a:latin typeface="SimSun"/>
              <a:cs typeface="SimSun"/>
            </a:endParaRPr>
          </a:p>
        </p:txBody>
      </p:sp>
      <p:grpSp>
        <p:nvGrpSpPr>
          <p:cNvPr id="197" name="object 197" descr=""/>
          <p:cNvGrpSpPr/>
          <p:nvPr/>
        </p:nvGrpSpPr>
        <p:grpSpPr>
          <a:xfrm>
            <a:off x="7041933" y="814393"/>
            <a:ext cx="2112010" cy="1743075"/>
            <a:chOff x="7041933" y="814393"/>
            <a:chExt cx="2112010" cy="1743075"/>
          </a:xfrm>
        </p:grpSpPr>
        <p:pic>
          <p:nvPicPr>
            <p:cNvPr id="198" name="object 198"/>
            <p:cNvPicPr/>
            <p:nvPr/>
          </p:nvPicPr>
          <p:blipFill>
            <a:blip r:embed="rId18" cstate="print"/>
            <a:stretch>
              <a:fillRect/>
            </a:stretch>
          </p:blipFill>
          <p:spPr>
            <a:xfrm>
              <a:off x="7041933" y="985393"/>
              <a:ext cx="946378" cy="1333765"/>
            </a:xfrm>
            <a:prstGeom prst="rect">
              <a:avLst/>
            </a:prstGeom>
          </p:spPr>
        </p:pic>
        <p:sp>
          <p:nvSpPr>
            <p:cNvPr id="199" name="object 199" descr=""/>
            <p:cNvSpPr/>
            <p:nvPr/>
          </p:nvSpPr>
          <p:spPr>
            <a:xfrm>
              <a:off x="7262659" y="857935"/>
              <a:ext cx="473709" cy="418465"/>
            </a:xfrm>
            <a:custGeom>
              <a:avLst/>
              <a:gdLst/>
              <a:ahLst/>
              <a:cxnLst/>
              <a:rect l="l" t="t" r="r" b="b"/>
              <a:pathLst>
                <a:path w="473709" h="418465">
                  <a:moveTo>
                    <a:pt x="473697" y="0"/>
                  </a:moveTo>
                  <a:lnTo>
                    <a:pt x="0" y="0"/>
                  </a:lnTo>
                  <a:lnTo>
                    <a:pt x="0" y="418045"/>
                  </a:lnTo>
                  <a:lnTo>
                    <a:pt x="473697" y="418045"/>
                  </a:lnTo>
                  <a:lnTo>
                    <a:pt x="473697" y="0"/>
                  </a:lnTo>
                  <a:close/>
                </a:path>
              </a:pathLst>
            </a:custGeom>
            <a:solidFill>
              <a:srgbClr val="FFFFFF"/>
            </a:solidFill>
          </p:spPr>
          <p:txBody>
            <a:bodyPr wrap="square" lIns="0" tIns="0" rIns="0" bIns="0" rtlCol="0"/>
            <a:lstStyle/>
            <a:p/>
          </p:txBody>
        </p:sp>
        <p:sp>
          <p:nvSpPr>
            <p:cNvPr id="200" name="object 200" descr=""/>
            <p:cNvSpPr/>
            <p:nvPr/>
          </p:nvSpPr>
          <p:spPr>
            <a:xfrm>
              <a:off x="7262657" y="819153"/>
              <a:ext cx="473709" cy="39370"/>
            </a:xfrm>
            <a:custGeom>
              <a:avLst/>
              <a:gdLst/>
              <a:ahLst/>
              <a:cxnLst/>
              <a:rect l="l" t="t" r="r" b="b"/>
              <a:pathLst>
                <a:path w="473709" h="39369">
                  <a:moveTo>
                    <a:pt x="0" y="38785"/>
                  </a:moveTo>
                  <a:lnTo>
                    <a:pt x="473697" y="38785"/>
                  </a:lnTo>
                  <a:lnTo>
                    <a:pt x="473697" y="0"/>
                  </a:lnTo>
                  <a:lnTo>
                    <a:pt x="0" y="0"/>
                  </a:lnTo>
                  <a:lnTo>
                    <a:pt x="0" y="38785"/>
                  </a:lnTo>
                  <a:close/>
                </a:path>
              </a:pathLst>
            </a:custGeom>
            <a:solidFill>
              <a:srgbClr val="CECECE"/>
            </a:solidFill>
          </p:spPr>
          <p:txBody>
            <a:bodyPr wrap="square" lIns="0" tIns="0" rIns="0" bIns="0" rtlCol="0"/>
            <a:lstStyle/>
            <a:p/>
          </p:txBody>
        </p:sp>
        <p:sp>
          <p:nvSpPr>
            <p:cNvPr id="201" name="object 201" descr=""/>
            <p:cNvSpPr/>
            <p:nvPr/>
          </p:nvSpPr>
          <p:spPr>
            <a:xfrm>
              <a:off x="7223871" y="819156"/>
              <a:ext cx="39370" cy="457200"/>
            </a:xfrm>
            <a:custGeom>
              <a:avLst/>
              <a:gdLst/>
              <a:ahLst/>
              <a:cxnLst/>
              <a:rect l="l" t="t" r="r" b="b"/>
              <a:pathLst>
                <a:path w="39370" h="457200">
                  <a:moveTo>
                    <a:pt x="0" y="0"/>
                  </a:moveTo>
                  <a:lnTo>
                    <a:pt x="0" y="418045"/>
                  </a:lnTo>
                  <a:lnTo>
                    <a:pt x="38785" y="456831"/>
                  </a:lnTo>
                  <a:lnTo>
                    <a:pt x="38785" y="38785"/>
                  </a:lnTo>
                  <a:lnTo>
                    <a:pt x="0" y="0"/>
                  </a:lnTo>
                  <a:close/>
                </a:path>
              </a:pathLst>
            </a:custGeom>
            <a:solidFill>
              <a:srgbClr val="FFFFFF"/>
            </a:solidFill>
          </p:spPr>
          <p:txBody>
            <a:bodyPr wrap="square" lIns="0" tIns="0" rIns="0" bIns="0" rtlCol="0"/>
            <a:lstStyle/>
            <a:p/>
          </p:txBody>
        </p:sp>
        <p:sp>
          <p:nvSpPr>
            <p:cNvPr id="202" name="object 202" descr=""/>
            <p:cNvSpPr/>
            <p:nvPr/>
          </p:nvSpPr>
          <p:spPr>
            <a:xfrm>
              <a:off x="7223871" y="819156"/>
              <a:ext cx="513080" cy="457200"/>
            </a:xfrm>
            <a:custGeom>
              <a:avLst/>
              <a:gdLst/>
              <a:ahLst/>
              <a:cxnLst/>
              <a:rect l="l" t="t" r="r" b="b"/>
              <a:pathLst>
                <a:path w="513079" h="457200">
                  <a:moveTo>
                    <a:pt x="38785" y="456831"/>
                  </a:moveTo>
                  <a:lnTo>
                    <a:pt x="0" y="418045"/>
                  </a:lnTo>
                  <a:lnTo>
                    <a:pt x="0" y="0"/>
                  </a:lnTo>
                  <a:lnTo>
                    <a:pt x="473697" y="0"/>
                  </a:lnTo>
                  <a:lnTo>
                    <a:pt x="512483" y="38785"/>
                  </a:lnTo>
                  <a:lnTo>
                    <a:pt x="512483" y="456831"/>
                  </a:lnTo>
                  <a:lnTo>
                    <a:pt x="38785" y="456831"/>
                  </a:lnTo>
                  <a:close/>
                </a:path>
                <a:path w="513079" h="457200">
                  <a:moveTo>
                    <a:pt x="38785" y="456831"/>
                  </a:moveTo>
                  <a:lnTo>
                    <a:pt x="38785" y="38785"/>
                  </a:lnTo>
                  <a:lnTo>
                    <a:pt x="0" y="0"/>
                  </a:lnTo>
                </a:path>
                <a:path w="513079" h="457200">
                  <a:moveTo>
                    <a:pt x="38785" y="38785"/>
                  </a:moveTo>
                  <a:lnTo>
                    <a:pt x="512483" y="38785"/>
                  </a:lnTo>
                </a:path>
              </a:pathLst>
            </a:custGeom>
            <a:ln w="9525">
              <a:solidFill>
                <a:srgbClr val="89A4A7"/>
              </a:solidFill>
            </a:ln>
          </p:spPr>
          <p:txBody>
            <a:bodyPr wrap="square" lIns="0" tIns="0" rIns="0" bIns="0" rtlCol="0"/>
            <a:lstStyle/>
            <a:p/>
          </p:txBody>
        </p:sp>
        <p:sp>
          <p:nvSpPr>
            <p:cNvPr id="203" name="object 203" descr=""/>
            <p:cNvSpPr/>
            <p:nvPr/>
          </p:nvSpPr>
          <p:spPr>
            <a:xfrm>
              <a:off x="7287906" y="907981"/>
              <a:ext cx="464820" cy="2540"/>
            </a:xfrm>
            <a:custGeom>
              <a:avLst/>
              <a:gdLst/>
              <a:ahLst/>
              <a:cxnLst/>
              <a:rect l="l" t="t" r="r" b="b"/>
              <a:pathLst>
                <a:path w="464820" h="2540">
                  <a:moveTo>
                    <a:pt x="0" y="0"/>
                  </a:moveTo>
                  <a:lnTo>
                    <a:pt x="464464" y="2273"/>
                  </a:lnTo>
                </a:path>
              </a:pathLst>
            </a:custGeom>
            <a:ln w="28575">
              <a:solidFill>
                <a:srgbClr val="000000"/>
              </a:solidFill>
              <a:prstDash val="sysDot"/>
            </a:ln>
          </p:spPr>
          <p:txBody>
            <a:bodyPr wrap="square" lIns="0" tIns="0" rIns="0" bIns="0" rtlCol="0"/>
            <a:lstStyle/>
            <a:p/>
          </p:txBody>
        </p:sp>
        <p:sp>
          <p:nvSpPr>
            <p:cNvPr id="204" name="object 204" descr=""/>
            <p:cNvSpPr/>
            <p:nvPr/>
          </p:nvSpPr>
          <p:spPr>
            <a:xfrm>
              <a:off x="7287906" y="984120"/>
              <a:ext cx="464820" cy="2540"/>
            </a:xfrm>
            <a:custGeom>
              <a:avLst/>
              <a:gdLst/>
              <a:ahLst/>
              <a:cxnLst/>
              <a:rect l="l" t="t" r="r" b="b"/>
              <a:pathLst>
                <a:path w="464820" h="2540">
                  <a:moveTo>
                    <a:pt x="0" y="0"/>
                  </a:moveTo>
                  <a:lnTo>
                    <a:pt x="464464" y="2273"/>
                  </a:lnTo>
                </a:path>
              </a:pathLst>
            </a:custGeom>
            <a:ln w="28575">
              <a:solidFill>
                <a:srgbClr val="000000"/>
              </a:solidFill>
              <a:prstDash val="sysDot"/>
            </a:ln>
          </p:spPr>
          <p:txBody>
            <a:bodyPr wrap="square" lIns="0" tIns="0" rIns="0" bIns="0" rtlCol="0"/>
            <a:lstStyle/>
            <a:p/>
          </p:txBody>
        </p:sp>
        <p:sp>
          <p:nvSpPr>
            <p:cNvPr id="205" name="object 205" descr=""/>
            <p:cNvSpPr/>
            <p:nvPr/>
          </p:nvSpPr>
          <p:spPr>
            <a:xfrm>
              <a:off x="7287906" y="1136398"/>
              <a:ext cx="464820" cy="2540"/>
            </a:xfrm>
            <a:custGeom>
              <a:avLst/>
              <a:gdLst/>
              <a:ahLst/>
              <a:cxnLst/>
              <a:rect l="l" t="t" r="r" b="b"/>
              <a:pathLst>
                <a:path w="464820" h="2540">
                  <a:moveTo>
                    <a:pt x="0" y="0"/>
                  </a:moveTo>
                  <a:lnTo>
                    <a:pt x="464464" y="2273"/>
                  </a:lnTo>
                </a:path>
              </a:pathLst>
            </a:custGeom>
            <a:ln w="28575">
              <a:solidFill>
                <a:srgbClr val="000000"/>
              </a:solidFill>
              <a:prstDash val="sysDot"/>
            </a:ln>
          </p:spPr>
          <p:txBody>
            <a:bodyPr wrap="square" lIns="0" tIns="0" rIns="0" bIns="0" rtlCol="0"/>
            <a:lstStyle/>
            <a:p/>
          </p:txBody>
        </p:sp>
        <p:sp>
          <p:nvSpPr>
            <p:cNvPr id="206" name="object 206" descr=""/>
            <p:cNvSpPr/>
            <p:nvPr/>
          </p:nvSpPr>
          <p:spPr>
            <a:xfrm>
              <a:off x="7287906" y="1060259"/>
              <a:ext cx="464820" cy="2540"/>
            </a:xfrm>
            <a:custGeom>
              <a:avLst/>
              <a:gdLst/>
              <a:ahLst/>
              <a:cxnLst/>
              <a:rect l="l" t="t" r="r" b="b"/>
              <a:pathLst>
                <a:path w="464820" h="2540">
                  <a:moveTo>
                    <a:pt x="0" y="0"/>
                  </a:moveTo>
                  <a:lnTo>
                    <a:pt x="464464" y="2273"/>
                  </a:lnTo>
                </a:path>
              </a:pathLst>
            </a:custGeom>
            <a:ln w="28575">
              <a:solidFill>
                <a:srgbClr val="000000"/>
              </a:solidFill>
              <a:prstDash val="sysDot"/>
            </a:ln>
          </p:spPr>
          <p:txBody>
            <a:bodyPr wrap="square" lIns="0" tIns="0" rIns="0" bIns="0" rtlCol="0"/>
            <a:lstStyle/>
            <a:p/>
          </p:txBody>
        </p:sp>
        <p:sp>
          <p:nvSpPr>
            <p:cNvPr id="207" name="object 207" descr=""/>
            <p:cNvSpPr/>
            <p:nvPr/>
          </p:nvSpPr>
          <p:spPr>
            <a:xfrm>
              <a:off x="7287906" y="1212537"/>
              <a:ext cx="464820" cy="2540"/>
            </a:xfrm>
            <a:custGeom>
              <a:avLst/>
              <a:gdLst/>
              <a:ahLst/>
              <a:cxnLst/>
              <a:rect l="l" t="t" r="r" b="b"/>
              <a:pathLst>
                <a:path w="464820" h="2540">
                  <a:moveTo>
                    <a:pt x="0" y="0"/>
                  </a:moveTo>
                  <a:lnTo>
                    <a:pt x="464464" y="2273"/>
                  </a:lnTo>
                </a:path>
              </a:pathLst>
            </a:custGeom>
            <a:ln w="28575">
              <a:solidFill>
                <a:srgbClr val="000000"/>
              </a:solidFill>
              <a:prstDash val="sysDot"/>
            </a:ln>
          </p:spPr>
          <p:txBody>
            <a:bodyPr wrap="square" lIns="0" tIns="0" rIns="0" bIns="0" rtlCol="0"/>
            <a:lstStyle/>
            <a:p/>
          </p:txBody>
        </p:sp>
        <p:sp>
          <p:nvSpPr>
            <p:cNvPr id="208" name="object 208" descr=""/>
            <p:cNvSpPr/>
            <p:nvPr/>
          </p:nvSpPr>
          <p:spPr>
            <a:xfrm>
              <a:off x="7418697" y="1021699"/>
              <a:ext cx="1413510" cy="720090"/>
            </a:xfrm>
            <a:custGeom>
              <a:avLst/>
              <a:gdLst/>
              <a:ahLst/>
              <a:cxnLst/>
              <a:rect l="l" t="t" r="r" b="b"/>
              <a:pathLst>
                <a:path w="1413509" h="720089">
                  <a:moveTo>
                    <a:pt x="65239" y="0"/>
                  </a:moveTo>
                  <a:lnTo>
                    <a:pt x="0" y="115100"/>
                  </a:lnTo>
                  <a:lnTo>
                    <a:pt x="147286" y="196352"/>
                  </a:lnTo>
                  <a:lnTo>
                    <a:pt x="292235" y="275561"/>
                  </a:lnTo>
                  <a:lnTo>
                    <a:pt x="386319" y="326176"/>
                  </a:lnTo>
                  <a:lnTo>
                    <a:pt x="477488" y="374300"/>
                  </a:lnTo>
                  <a:lnTo>
                    <a:pt x="521745" y="397230"/>
                  </a:lnTo>
                  <a:lnTo>
                    <a:pt x="564992" y="419299"/>
                  </a:lnTo>
                  <a:lnTo>
                    <a:pt x="607135" y="440429"/>
                  </a:lnTo>
                  <a:lnTo>
                    <a:pt x="648080" y="460540"/>
                  </a:lnTo>
                  <a:lnTo>
                    <a:pt x="703944" y="487285"/>
                  </a:lnTo>
                  <a:lnTo>
                    <a:pt x="758535" y="512690"/>
                  </a:lnTo>
                  <a:lnTo>
                    <a:pt x="811679" y="536723"/>
                  </a:lnTo>
                  <a:lnTo>
                    <a:pt x="863201" y="559354"/>
                  </a:lnTo>
                  <a:lnTo>
                    <a:pt x="912926" y="580553"/>
                  </a:lnTo>
                  <a:lnTo>
                    <a:pt x="960679" y="600288"/>
                  </a:lnTo>
                  <a:lnTo>
                    <a:pt x="1006285" y="618529"/>
                  </a:lnTo>
                  <a:lnTo>
                    <a:pt x="1049569" y="635246"/>
                  </a:lnTo>
                  <a:lnTo>
                    <a:pt x="1090356" y="650406"/>
                  </a:lnTo>
                  <a:lnTo>
                    <a:pt x="1128471" y="663981"/>
                  </a:lnTo>
                  <a:lnTo>
                    <a:pt x="1198289" y="687084"/>
                  </a:lnTo>
                  <a:lnTo>
                    <a:pt x="1260029" y="704726"/>
                  </a:lnTo>
                  <a:lnTo>
                    <a:pt x="1312442" y="716008"/>
                  </a:lnTo>
                  <a:lnTo>
                    <a:pt x="1354282" y="720032"/>
                  </a:lnTo>
                  <a:lnTo>
                    <a:pt x="1384299" y="715899"/>
                  </a:lnTo>
                  <a:lnTo>
                    <a:pt x="1406887" y="696784"/>
                  </a:lnTo>
                  <a:lnTo>
                    <a:pt x="1413254" y="664024"/>
                  </a:lnTo>
                  <a:lnTo>
                    <a:pt x="1400150" y="622574"/>
                  </a:lnTo>
                  <a:lnTo>
                    <a:pt x="1364322" y="577392"/>
                  </a:lnTo>
                  <a:lnTo>
                    <a:pt x="1317324" y="535696"/>
                  </a:lnTo>
                  <a:lnTo>
                    <a:pt x="1257150" y="490413"/>
                  </a:lnTo>
                  <a:lnTo>
                    <a:pt x="1219778" y="466005"/>
                  </a:lnTo>
                  <a:lnTo>
                    <a:pt x="1176300" y="440195"/>
                  </a:lnTo>
                  <a:lnTo>
                    <a:pt x="1125779" y="412814"/>
                  </a:lnTo>
                  <a:lnTo>
                    <a:pt x="1067277" y="383694"/>
                  </a:lnTo>
                  <a:lnTo>
                    <a:pt x="999858" y="352666"/>
                  </a:lnTo>
                  <a:lnTo>
                    <a:pt x="930755" y="322899"/>
                  </a:lnTo>
                  <a:lnTo>
                    <a:pt x="893266" y="307353"/>
                  </a:lnTo>
                  <a:lnTo>
                    <a:pt x="853960" y="291396"/>
                  </a:lnTo>
                  <a:lnTo>
                    <a:pt x="812945" y="275054"/>
                  </a:lnTo>
                  <a:lnTo>
                    <a:pt x="726215" y="241307"/>
                  </a:lnTo>
                  <a:lnTo>
                    <a:pt x="633929" y="206307"/>
                  </a:lnTo>
                  <a:lnTo>
                    <a:pt x="536942" y="170244"/>
                  </a:lnTo>
                  <a:lnTo>
                    <a:pt x="384516" y="114583"/>
                  </a:lnTo>
                  <a:lnTo>
                    <a:pt x="65239" y="0"/>
                  </a:lnTo>
                  <a:close/>
                </a:path>
              </a:pathLst>
            </a:custGeom>
            <a:solidFill>
              <a:srgbClr val="19194D">
                <a:alpha val="50195"/>
              </a:srgbClr>
            </a:solidFill>
          </p:spPr>
          <p:txBody>
            <a:bodyPr wrap="square" lIns="0" tIns="0" rIns="0" bIns="0" rtlCol="0"/>
            <a:lstStyle/>
            <a:p/>
          </p:txBody>
        </p:sp>
        <p:sp>
          <p:nvSpPr>
            <p:cNvPr id="209" name="object 209" descr=""/>
            <p:cNvSpPr/>
            <p:nvPr/>
          </p:nvSpPr>
          <p:spPr>
            <a:xfrm>
              <a:off x="7418697" y="1021699"/>
              <a:ext cx="1413510" cy="720090"/>
            </a:xfrm>
            <a:custGeom>
              <a:avLst/>
              <a:gdLst/>
              <a:ahLst/>
              <a:cxnLst/>
              <a:rect l="l" t="t" r="r" b="b"/>
              <a:pathLst>
                <a:path w="1413509" h="720089">
                  <a:moveTo>
                    <a:pt x="65239" y="0"/>
                  </a:moveTo>
                  <a:lnTo>
                    <a:pt x="119076" y="19238"/>
                  </a:lnTo>
                  <a:lnTo>
                    <a:pt x="172805" y="38452"/>
                  </a:lnTo>
                  <a:lnTo>
                    <a:pt x="226321" y="57617"/>
                  </a:lnTo>
                  <a:lnTo>
                    <a:pt x="279516" y="76710"/>
                  </a:lnTo>
                  <a:lnTo>
                    <a:pt x="332283" y="95707"/>
                  </a:lnTo>
                  <a:lnTo>
                    <a:pt x="384516" y="114583"/>
                  </a:lnTo>
                  <a:lnTo>
                    <a:pt x="436108" y="133314"/>
                  </a:lnTo>
                  <a:lnTo>
                    <a:pt x="486953" y="151875"/>
                  </a:lnTo>
                  <a:lnTo>
                    <a:pt x="536942" y="170244"/>
                  </a:lnTo>
                  <a:lnTo>
                    <a:pt x="585970" y="188396"/>
                  </a:lnTo>
                  <a:lnTo>
                    <a:pt x="633929" y="206307"/>
                  </a:lnTo>
                  <a:lnTo>
                    <a:pt x="680713" y="223952"/>
                  </a:lnTo>
                  <a:lnTo>
                    <a:pt x="726215" y="241307"/>
                  </a:lnTo>
                  <a:lnTo>
                    <a:pt x="770328" y="258349"/>
                  </a:lnTo>
                  <a:lnTo>
                    <a:pt x="812945" y="275054"/>
                  </a:lnTo>
                  <a:lnTo>
                    <a:pt x="853960" y="291396"/>
                  </a:lnTo>
                  <a:lnTo>
                    <a:pt x="893266" y="307353"/>
                  </a:lnTo>
                  <a:lnTo>
                    <a:pt x="930755" y="322899"/>
                  </a:lnTo>
                  <a:lnTo>
                    <a:pt x="966321" y="338012"/>
                  </a:lnTo>
                  <a:lnTo>
                    <a:pt x="1067277" y="383694"/>
                  </a:lnTo>
                  <a:lnTo>
                    <a:pt x="1125779" y="412814"/>
                  </a:lnTo>
                  <a:lnTo>
                    <a:pt x="1176300" y="440195"/>
                  </a:lnTo>
                  <a:lnTo>
                    <a:pt x="1219778" y="466005"/>
                  </a:lnTo>
                  <a:lnTo>
                    <a:pt x="1257150" y="490413"/>
                  </a:lnTo>
                  <a:lnTo>
                    <a:pt x="1289353" y="513587"/>
                  </a:lnTo>
                  <a:lnTo>
                    <a:pt x="1342002" y="556908"/>
                  </a:lnTo>
                  <a:lnTo>
                    <a:pt x="1400150" y="622574"/>
                  </a:lnTo>
                  <a:lnTo>
                    <a:pt x="1413254" y="664024"/>
                  </a:lnTo>
                  <a:lnTo>
                    <a:pt x="1406887" y="696784"/>
                  </a:lnTo>
                  <a:lnTo>
                    <a:pt x="1384299" y="715899"/>
                  </a:lnTo>
                  <a:lnTo>
                    <a:pt x="1354282" y="720032"/>
                  </a:lnTo>
                  <a:lnTo>
                    <a:pt x="1312442" y="716008"/>
                  </a:lnTo>
                  <a:lnTo>
                    <a:pt x="1260029" y="704726"/>
                  </a:lnTo>
                  <a:lnTo>
                    <a:pt x="1198289" y="687084"/>
                  </a:lnTo>
                  <a:lnTo>
                    <a:pt x="1128471" y="663981"/>
                  </a:lnTo>
                  <a:lnTo>
                    <a:pt x="1090356" y="650406"/>
                  </a:lnTo>
                  <a:lnTo>
                    <a:pt x="1049569" y="635246"/>
                  </a:lnTo>
                  <a:lnTo>
                    <a:pt x="1006285" y="618529"/>
                  </a:lnTo>
                  <a:lnTo>
                    <a:pt x="960679" y="600288"/>
                  </a:lnTo>
                  <a:lnTo>
                    <a:pt x="912926" y="580553"/>
                  </a:lnTo>
                  <a:lnTo>
                    <a:pt x="863201" y="559354"/>
                  </a:lnTo>
                  <a:lnTo>
                    <a:pt x="811679" y="536723"/>
                  </a:lnTo>
                  <a:lnTo>
                    <a:pt x="758535" y="512690"/>
                  </a:lnTo>
                  <a:lnTo>
                    <a:pt x="703944" y="487285"/>
                  </a:lnTo>
                  <a:lnTo>
                    <a:pt x="648080" y="460540"/>
                  </a:lnTo>
                  <a:lnTo>
                    <a:pt x="607135" y="440429"/>
                  </a:lnTo>
                  <a:lnTo>
                    <a:pt x="564992" y="419299"/>
                  </a:lnTo>
                  <a:lnTo>
                    <a:pt x="521745" y="397230"/>
                  </a:lnTo>
                  <a:lnTo>
                    <a:pt x="477488" y="374300"/>
                  </a:lnTo>
                  <a:lnTo>
                    <a:pt x="432315" y="350589"/>
                  </a:lnTo>
                  <a:lnTo>
                    <a:pt x="386319" y="326176"/>
                  </a:lnTo>
                  <a:lnTo>
                    <a:pt x="339594" y="301140"/>
                  </a:lnTo>
                  <a:lnTo>
                    <a:pt x="292235" y="275561"/>
                  </a:lnTo>
                  <a:lnTo>
                    <a:pt x="244334" y="249517"/>
                  </a:lnTo>
                  <a:lnTo>
                    <a:pt x="195987" y="223087"/>
                  </a:lnTo>
                  <a:lnTo>
                    <a:pt x="147286" y="196352"/>
                  </a:lnTo>
                  <a:lnTo>
                    <a:pt x="98325" y="169389"/>
                  </a:lnTo>
                  <a:lnTo>
                    <a:pt x="49198" y="142279"/>
                  </a:lnTo>
                  <a:lnTo>
                    <a:pt x="0" y="115100"/>
                  </a:lnTo>
                </a:path>
              </a:pathLst>
            </a:custGeom>
            <a:ln w="9525">
              <a:solidFill>
                <a:srgbClr val="000000"/>
              </a:solidFill>
            </a:ln>
          </p:spPr>
          <p:txBody>
            <a:bodyPr wrap="square" lIns="0" tIns="0" rIns="0" bIns="0" rtlCol="0"/>
            <a:lstStyle/>
            <a:p/>
          </p:txBody>
        </p:sp>
        <p:sp>
          <p:nvSpPr>
            <p:cNvPr id="210" name="object 210" descr=""/>
            <p:cNvSpPr/>
            <p:nvPr/>
          </p:nvSpPr>
          <p:spPr>
            <a:xfrm>
              <a:off x="7432156" y="1062410"/>
              <a:ext cx="1122680" cy="903605"/>
            </a:xfrm>
            <a:custGeom>
              <a:avLst/>
              <a:gdLst/>
              <a:ahLst/>
              <a:cxnLst/>
              <a:rect l="l" t="t" r="r" b="b"/>
              <a:pathLst>
                <a:path w="1122679" h="903605">
                  <a:moveTo>
                    <a:pt x="87960" y="0"/>
                  </a:moveTo>
                  <a:lnTo>
                    <a:pt x="0" y="95110"/>
                  </a:lnTo>
                  <a:lnTo>
                    <a:pt x="158704" y="241083"/>
                  </a:lnTo>
                  <a:lnTo>
                    <a:pt x="236585" y="311903"/>
                  </a:lnTo>
                  <a:lnTo>
                    <a:pt x="312640" y="380075"/>
                  </a:lnTo>
                  <a:lnTo>
                    <a:pt x="349784" y="412886"/>
                  </a:lnTo>
                  <a:lnTo>
                    <a:pt x="386234" y="444696"/>
                  </a:lnTo>
                  <a:lnTo>
                    <a:pt x="421911" y="475393"/>
                  </a:lnTo>
                  <a:lnTo>
                    <a:pt x="456734" y="504863"/>
                  </a:lnTo>
                  <a:lnTo>
                    <a:pt x="490626" y="532993"/>
                  </a:lnTo>
                  <a:lnTo>
                    <a:pt x="538437" y="571713"/>
                  </a:lnTo>
                  <a:lnTo>
                    <a:pt x="585249" y="608603"/>
                  </a:lnTo>
                  <a:lnTo>
                    <a:pt x="630857" y="643582"/>
                  </a:lnTo>
                  <a:lnTo>
                    <a:pt x="675059" y="676566"/>
                  </a:lnTo>
                  <a:lnTo>
                    <a:pt x="717651" y="707473"/>
                  </a:lnTo>
                  <a:lnTo>
                    <a:pt x="758428" y="736221"/>
                  </a:lnTo>
                  <a:lnTo>
                    <a:pt x="797188" y="762728"/>
                  </a:lnTo>
                  <a:lnTo>
                    <a:pt x="833727" y="786909"/>
                  </a:lnTo>
                  <a:lnTo>
                    <a:pt x="867841" y="808685"/>
                  </a:lnTo>
                  <a:lnTo>
                    <a:pt x="924327" y="842758"/>
                  </a:lnTo>
                  <a:lnTo>
                    <a:pt x="974994" y="870299"/>
                  </a:lnTo>
                  <a:lnTo>
                    <a:pt x="1018957" y="890246"/>
                  </a:lnTo>
                  <a:lnTo>
                    <a:pt x="1083233" y="903122"/>
                  </a:lnTo>
                  <a:lnTo>
                    <a:pt x="1108354" y="889443"/>
                  </a:lnTo>
                  <a:lnTo>
                    <a:pt x="1122481" y="860169"/>
                  </a:lnTo>
                  <a:lnTo>
                    <a:pt x="1121433" y="819310"/>
                  </a:lnTo>
                  <a:lnTo>
                    <a:pt x="1101026" y="770877"/>
                  </a:lnTo>
                  <a:lnTo>
                    <a:pt x="1065181" y="717411"/>
                  </a:lnTo>
                  <a:lnTo>
                    <a:pt x="1014590" y="656307"/>
                  </a:lnTo>
                  <a:lnTo>
                    <a:pt x="980934" y="621731"/>
                  </a:lnTo>
                  <a:lnTo>
                    <a:pt x="940195" y="583853"/>
                  </a:lnTo>
                  <a:lnTo>
                    <a:pt x="891242" y="542211"/>
                  </a:lnTo>
                  <a:lnTo>
                    <a:pt x="832942" y="496341"/>
                  </a:lnTo>
                  <a:lnTo>
                    <a:pt x="772386" y="451564"/>
                  </a:lnTo>
                  <a:lnTo>
                    <a:pt x="739106" y="427774"/>
                  </a:lnTo>
                  <a:lnTo>
                    <a:pt x="703987" y="403126"/>
                  </a:lnTo>
                  <a:lnTo>
                    <a:pt x="667154" y="377678"/>
                  </a:lnTo>
                  <a:lnTo>
                    <a:pt x="628727" y="351486"/>
                  </a:lnTo>
                  <a:lnTo>
                    <a:pt x="547584" y="297100"/>
                  </a:lnTo>
                  <a:lnTo>
                    <a:pt x="461540" y="240426"/>
                  </a:lnTo>
                  <a:lnTo>
                    <a:pt x="325429" y="152126"/>
                  </a:lnTo>
                  <a:lnTo>
                    <a:pt x="87960" y="0"/>
                  </a:lnTo>
                  <a:close/>
                </a:path>
              </a:pathLst>
            </a:custGeom>
            <a:solidFill>
              <a:srgbClr val="7575D1">
                <a:alpha val="50195"/>
              </a:srgbClr>
            </a:solidFill>
          </p:spPr>
          <p:txBody>
            <a:bodyPr wrap="square" lIns="0" tIns="0" rIns="0" bIns="0" rtlCol="0"/>
            <a:lstStyle/>
            <a:p/>
          </p:txBody>
        </p:sp>
        <p:sp>
          <p:nvSpPr>
            <p:cNvPr id="211" name="object 211" descr=""/>
            <p:cNvSpPr/>
            <p:nvPr/>
          </p:nvSpPr>
          <p:spPr>
            <a:xfrm>
              <a:off x="7432156" y="1062410"/>
              <a:ext cx="1122680" cy="903605"/>
            </a:xfrm>
            <a:custGeom>
              <a:avLst/>
              <a:gdLst/>
              <a:ahLst/>
              <a:cxnLst/>
              <a:rect l="l" t="t" r="r" b="b"/>
              <a:pathLst>
                <a:path w="1122679" h="903605">
                  <a:moveTo>
                    <a:pt x="87960" y="0"/>
                  </a:moveTo>
                  <a:lnTo>
                    <a:pt x="135943" y="30654"/>
                  </a:lnTo>
                  <a:lnTo>
                    <a:pt x="183805" y="61251"/>
                  </a:lnTo>
                  <a:lnTo>
                    <a:pt x="231421" y="91734"/>
                  </a:lnTo>
                  <a:lnTo>
                    <a:pt x="278670" y="122044"/>
                  </a:lnTo>
                  <a:lnTo>
                    <a:pt x="325429" y="152126"/>
                  </a:lnTo>
                  <a:lnTo>
                    <a:pt x="371575" y="181922"/>
                  </a:lnTo>
                  <a:lnTo>
                    <a:pt x="416986" y="211374"/>
                  </a:lnTo>
                  <a:lnTo>
                    <a:pt x="461540" y="240426"/>
                  </a:lnTo>
                  <a:lnTo>
                    <a:pt x="505113" y="269020"/>
                  </a:lnTo>
                  <a:lnTo>
                    <a:pt x="547584" y="297100"/>
                  </a:lnTo>
                  <a:lnTo>
                    <a:pt x="588829" y="324607"/>
                  </a:lnTo>
                  <a:lnTo>
                    <a:pt x="628727" y="351486"/>
                  </a:lnTo>
                  <a:lnTo>
                    <a:pt x="667154" y="377678"/>
                  </a:lnTo>
                  <a:lnTo>
                    <a:pt x="703987" y="403126"/>
                  </a:lnTo>
                  <a:lnTo>
                    <a:pt x="739106" y="427774"/>
                  </a:lnTo>
                  <a:lnTo>
                    <a:pt x="772386" y="451564"/>
                  </a:lnTo>
                  <a:lnTo>
                    <a:pt x="803705" y="474438"/>
                  </a:lnTo>
                  <a:lnTo>
                    <a:pt x="891242" y="542211"/>
                  </a:lnTo>
                  <a:lnTo>
                    <a:pt x="940195" y="583853"/>
                  </a:lnTo>
                  <a:lnTo>
                    <a:pt x="980934" y="621731"/>
                  </a:lnTo>
                  <a:lnTo>
                    <a:pt x="1014590" y="656307"/>
                  </a:lnTo>
                  <a:lnTo>
                    <a:pt x="1042295" y="688046"/>
                  </a:lnTo>
                  <a:lnTo>
                    <a:pt x="1084381" y="744867"/>
                  </a:lnTo>
                  <a:lnTo>
                    <a:pt x="1121433" y="819310"/>
                  </a:lnTo>
                  <a:lnTo>
                    <a:pt x="1122481" y="860169"/>
                  </a:lnTo>
                  <a:lnTo>
                    <a:pt x="1108354" y="889443"/>
                  </a:lnTo>
                  <a:lnTo>
                    <a:pt x="1083233" y="903122"/>
                  </a:lnTo>
                  <a:lnTo>
                    <a:pt x="1055332" y="901540"/>
                  </a:lnTo>
                  <a:lnTo>
                    <a:pt x="974994" y="870299"/>
                  </a:lnTo>
                  <a:lnTo>
                    <a:pt x="924327" y="842758"/>
                  </a:lnTo>
                  <a:lnTo>
                    <a:pt x="867841" y="808685"/>
                  </a:lnTo>
                  <a:lnTo>
                    <a:pt x="833727" y="786909"/>
                  </a:lnTo>
                  <a:lnTo>
                    <a:pt x="797188" y="762728"/>
                  </a:lnTo>
                  <a:lnTo>
                    <a:pt x="758428" y="736221"/>
                  </a:lnTo>
                  <a:lnTo>
                    <a:pt x="717651" y="707473"/>
                  </a:lnTo>
                  <a:lnTo>
                    <a:pt x="675059" y="676566"/>
                  </a:lnTo>
                  <a:lnTo>
                    <a:pt x="630857" y="643582"/>
                  </a:lnTo>
                  <a:lnTo>
                    <a:pt x="585249" y="608603"/>
                  </a:lnTo>
                  <a:lnTo>
                    <a:pt x="538437" y="571713"/>
                  </a:lnTo>
                  <a:lnTo>
                    <a:pt x="490626" y="532993"/>
                  </a:lnTo>
                  <a:lnTo>
                    <a:pt x="456734" y="504863"/>
                  </a:lnTo>
                  <a:lnTo>
                    <a:pt x="421911" y="475393"/>
                  </a:lnTo>
                  <a:lnTo>
                    <a:pt x="386234" y="444696"/>
                  </a:lnTo>
                  <a:lnTo>
                    <a:pt x="349784" y="412886"/>
                  </a:lnTo>
                  <a:lnTo>
                    <a:pt x="312640" y="380075"/>
                  </a:lnTo>
                  <a:lnTo>
                    <a:pt x="274881" y="346377"/>
                  </a:lnTo>
                  <a:lnTo>
                    <a:pt x="236585" y="311903"/>
                  </a:lnTo>
                  <a:lnTo>
                    <a:pt x="197833" y="276767"/>
                  </a:lnTo>
                  <a:lnTo>
                    <a:pt x="158704" y="241083"/>
                  </a:lnTo>
                  <a:lnTo>
                    <a:pt x="119277" y="204961"/>
                  </a:lnTo>
                  <a:lnTo>
                    <a:pt x="79631" y="168517"/>
                  </a:lnTo>
                  <a:lnTo>
                    <a:pt x="39845" y="131862"/>
                  </a:lnTo>
                  <a:lnTo>
                    <a:pt x="0" y="95110"/>
                  </a:lnTo>
                </a:path>
              </a:pathLst>
            </a:custGeom>
            <a:ln w="9525">
              <a:solidFill>
                <a:srgbClr val="000000"/>
              </a:solidFill>
            </a:ln>
          </p:spPr>
          <p:txBody>
            <a:bodyPr wrap="square" lIns="0" tIns="0" rIns="0" bIns="0" rtlCol="0"/>
            <a:lstStyle/>
            <a:p/>
          </p:txBody>
        </p:sp>
        <p:sp>
          <p:nvSpPr>
            <p:cNvPr id="212" name="object 212" descr=""/>
            <p:cNvSpPr/>
            <p:nvPr/>
          </p:nvSpPr>
          <p:spPr>
            <a:xfrm>
              <a:off x="7278124" y="1086483"/>
              <a:ext cx="970280" cy="1043305"/>
            </a:xfrm>
            <a:custGeom>
              <a:avLst/>
              <a:gdLst/>
              <a:ahLst/>
              <a:cxnLst/>
              <a:rect l="l" t="t" r="r" b="b"/>
              <a:pathLst>
                <a:path w="970279" h="1043305">
                  <a:moveTo>
                    <a:pt x="123469" y="0"/>
                  </a:moveTo>
                  <a:lnTo>
                    <a:pt x="0" y="94678"/>
                  </a:lnTo>
                  <a:lnTo>
                    <a:pt x="62033" y="179328"/>
                  </a:lnTo>
                  <a:lnTo>
                    <a:pt x="154339" y="304223"/>
                  </a:lnTo>
                  <a:lnTo>
                    <a:pt x="214804" y="384618"/>
                  </a:lnTo>
                  <a:lnTo>
                    <a:pt x="244567" y="423574"/>
                  </a:lnTo>
                  <a:lnTo>
                    <a:pt x="273951" y="461533"/>
                  </a:lnTo>
                  <a:lnTo>
                    <a:pt x="302908" y="498369"/>
                  </a:lnTo>
                  <a:lnTo>
                    <a:pt x="331386" y="533953"/>
                  </a:lnTo>
                  <a:lnTo>
                    <a:pt x="359339" y="568160"/>
                  </a:lnTo>
                  <a:lnTo>
                    <a:pt x="386714" y="600862"/>
                  </a:lnTo>
                  <a:lnTo>
                    <a:pt x="425630" y="645973"/>
                  </a:lnTo>
                  <a:lnTo>
                    <a:pt x="464050" y="689051"/>
                  </a:lnTo>
                  <a:lnTo>
                    <a:pt x="501783" y="729993"/>
                  </a:lnTo>
                  <a:lnTo>
                    <a:pt x="538638" y="768693"/>
                  </a:lnTo>
                  <a:lnTo>
                    <a:pt x="574424" y="805049"/>
                  </a:lnTo>
                  <a:lnTo>
                    <a:pt x="608949" y="838956"/>
                  </a:lnTo>
                  <a:lnTo>
                    <a:pt x="642022" y="870309"/>
                  </a:lnTo>
                  <a:lnTo>
                    <a:pt x="673452" y="899006"/>
                  </a:lnTo>
                  <a:lnTo>
                    <a:pt x="703046" y="924941"/>
                  </a:lnTo>
                  <a:lnTo>
                    <a:pt x="752663" y="965766"/>
                  </a:lnTo>
                  <a:lnTo>
                    <a:pt x="798112" y="999157"/>
                  </a:lnTo>
                  <a:lnTo>
                    <a:pt x="838781" y="1023912"/>
                  </a:lnTo>
                  <a:lnTo>
                    <a:pt x="874057" y="1038830"/>
                  </a:lnTo>
                  <a:lnTo>
                    <a:pt x="903325" y="1042708"/>
                  </a:lnTo>
                  <a:lnTo>
                    <a:pt x="934377" y="1030080"/>
                  </a:lnTo>
                  <a:lnTo>
                    <a:pt x="958572" y="999924"/>
                  </a:lnTo>
                  <a:lnTo>
                    <a:pt x="970196" y="956200"/>
                  </a:lnTo>
                  <a:lnTo>
                    <a:pt x="963536" y="902868"/>
                  </a:lnTo>
                  <a:lnTo>
                    <a:pt x="938010" y="833740"/>
                  </a:lnTo>
                  <a:lnTo>
                    <a:pt x="918909" y="794721"/>
                  </a:lnTo>
                  <a:lnTo>
                    <a:pt x="893467" y="751571"/>
                  </a:lnTo>
                  <a:lnTo>
                    <a:pt x="860097" y="703416"/>
                  </a:lnTo>
                  <a:lnTo>
                    <a:pt x="817214" y="649385"/>
                  </a:lnTo>
                  <a:lnTo>
                    <a:pt x="763231" y="588606"/>
                  </a:lnTo>
                  <a:lnTo>
                    <a:pt x="709398" y="532792"/>
                  </a:lnTo>
                  <a:lnTo>
                    <a:pt x="679400" y="502954"/>
                  </a:lnTo>
                  <a:lnTo>
                    <a:pt x="647527" y="471940"/>
                  </a:lnTo>
                  <a:lnTo>
                    <a:pt x="613913" y="439835"/>
                  </a:lnTo>
                  <a:lnTo>
                    <a:pt x="578691" y="406722"/>
                  </a:lnTo>
                  <a:lnTo>
                    <a:pt x="541996" y="372685"/>
                  </a:lnTo>
                  <a:lnTo>
                    <a:pt x="503962" y="337809"/>
                  </a:lnTo>
                  <a:lnTo>
                    <a:pt x="464721" y="302177"/>
                  </a:lnTo>
                  <a:lnTo>
                    <a:pt x="383160" y="228983"/>
                  </a:lnTo>
                  <a:lnTo>
                    <a:pt x="298383" y="153774"/>
                  </a:lnTo>
                  <a:lnTo>
                    <a:pt x="123469" y="0"/>
                  </a:lnTo>
                  <a:close/>
                </a:path>
              </a:pathLst>
            </a:custGeom>
            <a:solidFill>
              <a:srgbClr val="A7F0FF">
                <a:alpha val="50195"/>
              </a:srgbClr>
            </a:solidFill>
          </p:spPr>
          <p:txBody>
            <a:bodyPr wrap="square" lIns="0" tIns="0" rIns="0" bIns="0" rtlCol="0"/>
            <a:lstStyle/>
            <a:p/>
          </p:txBody>
        </p:sp>
        <p:sp>
          <p:nvSpPr>
            <p:cNvPr id="213" name="object 213" descr=""/>
            <p:cNvSpPr/>
            <p:nvPr/>
          </p:nvSpPr>
          <p:spPr>
            <a:xfrm>
              <a:off x="7278124" y="1086483"/>
              <a:ext cx="970280" cy="1043305"/>
            </a:xfrm>
            <a:custGeom>
              <a:avLst/>
              <a:gdLst/>
              <a:ahLst/>
              <a:cxnLst/>
              <a:rect l="l" t="t" r="r" b="b"/>
              <a:pathLst>
                <a:path w="970279" h="1043305">
                  <a:moveTo>
                    <a:pt x="123469" y="0"/>
                  </a:moveTo>
                  <a:lnTo>
                    <a:pt x="167533" y="38653"/>
                  </a:lnTo>
                  <a:lnTo>
                    <a:pt x="211462" y="77222"/>
                  </a:lnTo>
                  <a:lnTo>
                    <a:pt x="255124" y="115624"/>
                  </a:lnTo>
                  <a:lnTo>
                    <a:pt x="298383" y="153774"/>
                  </a:lnTo>
                  <a:lnTo>
                    <a:pt x="341106" y="191588"/>
                  </a:lnTo>
                  <a:lnTo>
                    <a:pt x="383160" y="228983"/>
                  </a:lnTo>
                  <a:lnTo>
                    <a:pt x="424410" y="265874"/>
                  </a:lnTo>
                  <a:lnTo>
                    <a:pt x="464721" y="302177"/>
                  </a:lnTo>
                  <a:lnTo>
                    <a:pt x="503962" y="337809"/>
                  </a:lnTo>
                  <a:lnTo>
                    <a:pt x="541996" y="372685"/>
                  </a:lnTo>
                  <a:lnTo>
                    <a:pt x="578691" y="406722"/>
                  </a:lnTo>
                  <a:lnTo>
                    <a:pt x="613913" y="439835"/>
                  </a:lnTo>
                  <a:lnTo>
                    <a:pt x="647527" y="471940"/>
                  </a:lnTo>
                  <a:lnTo>
                    <a:pt x="679400" y="502954"/>
                  </a:lnTo>
                  <a:lnTo>
                    <a:pt x="709398" y="532792"/>
                  </a:lnTo>
                  <a:lnTo>
                    <a:pt x="737386" y="561371"/>
                  </a:lnTo>
                  <a:lnTo>
                    <a:pt x="817214" y="649385"/>
                  </a:lnTo>
                  <a:lnTo>
                    <a:pt x="860097" y="703416"/>
                  </a:lnTo>
                  <a:lnTo>
                    <a:pt x="893467" y="751571"/>
                  </a:lnTo>
                  <a:lnTo>
                    <a:pt x="918909" y="794721"/>
                  </a:lnTo>
                  <a:lnTo>
                    <a:pt x="938010" y="833740"/>
                  </a:lnTo>
                  <a:lnTo>
                    <a:pt x="952357" y="869498"/>
                  </a:lnTo>
                  <a:lnTo>
                    <a:pt x="970196" y="956200"/>
                  </a:lnTo>
                  <a:lnTo>
                    <a:pt x="958572" y="999924"/>
                  </a:lnTo>
                  <a:lnTo>
                    <a:pt x="934377" y="1030080"/>
                  </a:lnTo>
                  <a:lnTo>
                    <a:pt x="903325" y="1042708"/>
                  </a:lnTo>
                  <a:lnTo>
                    <a:pt x="874057" y="1038830"/>
                  </a:lnTo>
                  <a:lnTo>
                    <a:pt x="838781" y="1023912"/>
                  </a:lnTo>
                  <a:lnTo>
                    <a:pt x="798112" y="999157"/>
                  </a:lnTo>
                  <a:lnTo>
                    <a:pt x="752663" y="965766"/>
                  </a:lnTo>
                  <a:lnTo>
                    <a:pt x="703046" y="924941"/>
                  </a:lnTo>
                  <a:lnTo>
                    <a:pt x="673452" y="899006"/>
                  </a:lnTo>
                  <a:lnTo>
                    <a:pt x="642022" y="870309"/>
                  </a:lnTo>
                  <a:lnTo>
                    <a:pt x="608949" y="838956"/>
                  </a:lnTo>
                  <a:lnTo>
                    <a:pt x="574424" y="805049"/>
                  </a:lnTo>
                  <a:lnTo>
                    <a:pt x="538638" y="768693"/>
                  </a:lnTo>
                  <a:lnTo>
                    <a:pt x="501783" y="729993"/>
                  </a:lnTo>
                  <a:lnTo>
                    <a:pt x="464050" y="689051"/>
                  </a:lnTo>
                  <a:lnTo>
                    <a:pt x="425630" y="645973"/>
                  </a:lnTo>
                  <a:lnTo>
                    <a:pt x="386714" y="600862"/>
                  </a:lnTo>
                  <a:lnTo>
                    <a:pt x="359339" y="568160"/>
                  </a:lnTo>
                  <a:lnTo>
                    <a:pt x="331386" y="533953"/>
                  </a:lnTo>
                  <a:lnTo>
                    <a:pt x="302908" y="498369"/>
                  </a:lnTo>
                  <a:lnTo>
                    <a:pt x="273951" y="461533"/>
                  </a:lnTo>
                  <a:lnTo>
                    <a:pt x="244567" y="423574"/>
                  </a:lnTo>
                  <a:lnTo>
                    <a:pt x="214804" y="384618"/>
                  </a:lnTo>
                  <a:lnTo>
                    <a:pt x="184712" y="344792"/>
                  </a:lnTo>
                  <a:lnTo>
                    <a:pt x="154339" y="304223"/>
                  </a:lnTo>
                  <a:lnTo>
                    <a:pt x="123735" y="263038"/>
                  </a:lnTo>
                  <a:lnTo>
                    <a:pt x="92950" y="221364"/>
                  </a:lnTo>
                  <a:lnTo>
                    <a:pt x="62033" y="179328"/>
                  </a:lnTo>
                  <a:lnTo>
                    <a:pt x="31033" y="137057"/>
                  </a:lnTo>
                  <a:lnTo>
                    <a:pt x="0" y="94678"/>
                  </a:lnTo>
                </a:path>
              </a:pathLst>
            </a:custGeom>
            <a:ln w="9525">
              <a:solidFill>
                <a:srgbClr val="000000"/>
              </a:solidFill>
            </a:ln>
          </p:spPr>
          <p:txBody>
            <a:bodyPr wrap="square" lIns="0" tIns="0" rIns="0" bIns="0" rtlCol="0"/>
            <a:lstStyle/>
            <a:p/>
          </p:txBody>
        </p:sp>
        <p:sp>
          <p:nvSpPr>
            <p:cNvPr id="214" name="object 214" descr=""/>
            <p:cNvSpPr/>
            <p:nvPr/>
          </p:nvSpPr>
          <p:spPr>
            <a:xfrm>
              <a:off x="7249731" y="1189153"/>
              <a:ext cx="661035" cy="1066800"/>
            </a:xfrm>
            <a:custGeom>
              <a:avLst/>
              <a:gdLst/>
              <a:ahLst/>
              <a:cxnLst/>
              <a:rect l="l" t="t" r="r" b="b"/>
              <a:pathLst>
                <a:path w="661034" h="1066800">
                  <a:moveTo>
                    <a:pt x="136105" y="0"/>
                  </a:moveTo>
                  <a:lnTo>
                    <a:pt x="0" y="58470"/>
                  </a:lnTo>
                  <a:lnTo>
                    <a:pt x="60341" y="210938"/>
                  </a:lnTo>
                  <a:lnTo>
                    <a:pt x="100377" y="310058"/>
                  </a:lnTo>
                  <a:lnTo>
                    <a:pt x="120280" y="358262"/>
                  </a:lnTo>
                  <a:lnTo>
                    <a:pt x="140081" y="405298"/>
                  </a:lnTo>
                  <a:lnTo>
                    <a:pt x="159761" y="450964"/>
                  </a:lnTo>
                  <a:lnTo>
                    <a:pt x="179300" y="495063"/>
                  </a:lnTo>
                  <a:lnTo>
                    <a:pt x="198680" y="537395"/>
                  </a:lnTo>
                  <a:lnTo>
                    <a:pt x="217881" y="577761"/>
                  </a:lnTo>
                  <a:lnTo>
                    <a:pt x="244259" y="630684"/>
                  </a:lnTo>
                  <a:lnTo>
                    <a:pt x="270717" y="681212"/>
                  </a:lnTo>
                  <a:lnTo>
                    <a:pt x="297046" y="729162"/>
                  </a:lnTo>
                  <a:lnTo>
                    <a:pt x="323038" y="774350"/>
                  </a:lnTo>
                  <a:lnTo>
                    <a:pt x="348486" y="816593"/>
                  </a:lnTo>
                  <a:lnTo>
                    <a:pt x="373180" y="855706"/>
                  </a:lnTo>
                  <a:lnTo>
                    <a:pt x="396915" y="891506"/>
                  </a:lnTo>
                  <a:lnTo>
                    <a:pt x="419480" y="923810"/>
                  </a:lnTo>
                  <a:lnTo>
                    <a:pt x="461979" y="979615"/>
                  </a:lnTo>
                  <a:lnTo>
                    <a:pt x="501513" y="1023508"/>
                  </a:lnTo>
                  <a:lnTo>
                    <a:pt x="537613" y="1053205"/>
                  </a:lnTo>
                  <a:lnTo>
                    <a:pt x="569810" y="1066419"/>
                  </a:lnTo>
                  <a:lnTo>
                    <a:pt x="601140" y="1061495"/>
                  </a:lnTo>
                  <a:lnTo>
                    <a:pt x="630824" y="1039882"/>
                  </a:lnTo>
                  <a:lnTo>
                    <a:pt x="652674" y="1003914"/>
                  </a:lnTo>
                  <a:lnTo>
                    <a:pt x="660501" y="955929"/>
                  </a:lnTo>
                  <a:lnTo>
                    <a:pt x="659069" y="924521"/>
                  </a:lnTo>
                  <a:lnTo>
                    <a:pt x="648269" y="852486"/>
                  </a:lnTo>
                  <a:lnTo>
                    <a:pt x="636491" y="809706"/>
                  </a:lnTo>
                  <a:lnTo>
                    <a:pt x="618853" y="760980"/>
                  </a:lnTo>
                  <a:lnTo>
                    <a:pt x="594149" y="705233"/>
                  </a:lnTo>
                  <a:lnTo>
                    <a:pt x="561174" y="641388"/>
                  </a:lnTo>
                  <a:lnTo>
                    <a:pt x="522018" y="573516"/>
                  </a:lnTo>
                  <a:lnTo>
                    <a:pt x="499552" y="536671"/>
                  </a:lnTo>
                  <a:lnTo>
                    <a:pt x="475353" y="498081"/>
                  </a:lnTo>
                  <a:lnTo>
                    <a:pt x="449566" y="457892"/>
                  </a:lnTo>
                  <a:lnTo>
                    <a:pt x="422335" y="416248"/>
                  </a:lnTo>
                  <a:lnTo>
                    <a:pt x="393804" y="373295"/>
                  </a:lnTo>
                  <a:lnTo>
                    <a:pt x="364118" y="329179"/>
                  </a:lnTo>
                  <a:lnTo>
                    <a:pt x="333421" y="284045"/>
                  </a:lnTo>
                  <a:lnTo>
                    <a:pt x="269574" y="191303"/>
                  </a:lnTo>
                  <a:lnTo>
                    <a:pt x="136105" y="0"/>
                  </a:lnTo>
                  <a:close/>
                </a:path>
              </a:pathLst>
            </a:custGeom>
            <a:solidFill>
              <a:srgbClr val="FF0000">
                <a:alpha val="50195"/>
              </a:srgbClr>
            </a:solidFill>
          </p:spPr>
          <p:txBody>
            <a:bodyPr wrap="square" lIns="0" tIns="0" rIns="0" bIns="0" rtlCol="0"/>
            <a:lstStyle/>
            <a:p/>
          </p:txBody>
        </p:sp>
        <p:sp>
          <p:nvSpPr>
            <p:cNvPr id="215" name="object 215" descr=""/>
            <p:cNvSpPr/>
            <p:nvPr/>
          </p:nvSpPr>
          <p:spPr>
            <a:xfrm>
              <a:off x="7249731" y="1189153"/>
              <a:ext cx="661035" cy="1066800"/>
            </a:xfrm>
            <a:custGeom>
              <a:avLst/>
              <a:gdLst/>
              <a:ahLst/>
              <a:cxnLst/>
              <a:rect l="l" t="t" r="r" b="b"/>
              <a:pathLst>
                <a:path w="661034" h="1066800">
                  <a:moveTo>
                    <a:pt x="136105" y="0"/>
                  </a:moveTo>
                  <a:lnTo>
                    <a:pt x="169833" y="48189"/>
                  </a:lnTo>
                  <a:lnTo>
                    <a:pt x="203417" y="96234"/>
                  </a:lnTo>
                  <a:lnTo>
                    <a:pt x="236712" y="143987"/>
                  </a:lnTo>
                  <a:lnTo>
                    <a:pt x="269574" y="191303"/>
                  </a:lnTo>
                  <a:lnTo>
                    <a:pt x="301858" y="238037"/>
                  </a:lnTo>
                  <a:lnTo>
                    <a:pt x="333421" y="284045"/>
                  </a:lnTo>
                  <a:lnTo>
                    <a:pt x="364118" y="329179"/>
                  </a:lnTo>
                  <a:lnTo>
                    <a:pt x="393804" y="373295"/>
                  </a:lnTo>
                  <a:lnTo>
                    <a:pt x="422335" y="416248"/>
                  </a:lnTo>
                  <a:lnTo>
                    <a:pt x="449566" y="457892"/>
                  </a:lnTo>
                  <a:lnTo>
                    <a:pt x="475353" y="498081"/>
                  </a:lnTo>
                  <a:lnTo>
                    <a:pt x="499552" y="536671"/>
                  </a:lnTo>
                  <a:lnTo>
                    <a:pt x="522018" y="573516"/>
                  </a:lnTo>
                  <a:lnTo>
                    <a:pt x="542607" y="608470"/>
                  </a:lnTo>
                  <a:lnTo>
                    <a:pt x="594149" y="705233"/>
                  </a:lnTo>
                  <a:lnTo>
                    <a:pt x="618853" y="760980"/>
                  </a:lnTo>
                  <a:lnTo>
                    <a:pt x="636491" y="809706"/>
                  </a:lnTo>
                  <a:lnTo>
                    <a:pt x="648269" y="852486"/>
                  </a:lnTo>
                  <a:lnTo>
                    <a:pt x="655393" y="890399"/>
                  </a:lnTo>
                  <a:lnTo>
                    <a:pt x="660501" y="955929"/>
                  </a:lnTo>
                  <a:lnTo>
                    <a:pt x="652674" y="1003914"/>
                  </a:lnTo>
                  <a:lnTo>
                    <a:pt x="630824" y="1039882"/>
                  </a:lnTo>
                  <a:lnTo>
                    <a:pt x="601140" y="1061495"/>
                  </a:lnTo>
                  <a:lnTo>
                    <a:pt x="569810" y="1066419"/>
                  </a:lnTo>
                  <a:lnTo>
                    <a:pt x="537613" y="1053205"/>
                  </a:lnTo>
                  <a:lnTo>
                    <a:pt x="501513" y="1023508"/>
                  </a:lnTo>
                  <a:lnTo>
                    <a:pt x="461979" y="979615"/>
                  </a:lnTo>
                  <a:lnTo>
                    <a:pt x="419480" y="923810"/>
                  </a:lnTo>
                  <a:lnTo>
                    <a:pt x="396915" y="891506"/>
                  </a:lnTo>
                  <a:lnTo>
                    <a:pt x="373180" y="855706"/>
                  </a:lnTo>
                  <a:lnTo>
                    <a:pt x="348486" y="816593"/>
                  </a:lnTo>
                  <a:lnTo>
                    <a:pt x="323038" y="774350"/>
                  </a:lnTo>
                  <a:lnTo>
                    <a:pt x="297046" y="729162"/>
                  </a:lnTo>
                  <a:lnTo>
                    <a:pt x="270717" y="681212"/>
                  </a:lnTo>
                  <a:lnTo>
                    <a:pt x="244259" y="630684"/>
                  </a:lnTo>
                  <a:lnTo>
                    <a:pt x="217881" y="577761"/>
                  </a:lnTo>
                  <a:lnTo>
                    <a:pt x="198680" y="537395"/>
                  </a:lnTo>
                  <a:lnTo>
                    <a:pt x="179300" y="495063"/>
                  </a:lnTo>
                  <a:lnTo>
                    <a:pt x="159761" y="450964"/>
                  </a:lnTo>
                  <a:lnTo>
                    <a:pt x="140081" y="405298"/>
                  </a:lnTo>
                  <a:lnTo>
                    <a:pt x="120280" y="358262"/>
                  </a:lnTo>
                  <a:lnTo>
                    <a:pt x="100377" y="310058"/>
                  </a:lnTo>
                  <a:lnTo>
                    <a:pt x="80391" y="260883"/>
                  </a:lnTo>
                  <a:lnTo>
                    <a:pt x="60341" y="210938"/>
                  </a:lnTo>
                  <a:lnTo>
                    <a:pt x="40247" y="160421"/>
                  </a:lnTo>
                  <a:lnTo>
                    <a:pt x="20126" y="109532"/>
                  </a:lnTo>
                  <a:lnTo>
                    <a:pt x="0" y="58470"/>
                  </a:lnTo>
                </a:path>
              </a:pathLst>
            </a:custGeom>
            <a:ln w="9525">
              <a:solidFill>
                <a:srgbClr val="000000"/>
              </a:solidFill>
            </a:ln>
          </p:spPr>
          <p:txBody>
            <a:bodyPr wrap="square" lIns="0" tIns="0" rIns="0" bIns="0" rtlCol="0"/>
            <a:lstStyle/>
            <a:p/>
          </p:txBody>
        </p:sp>
        <p:sp>
          <p:nvSpPr>
            <p:cNvPr id="216" name="object 216" descr=""/>
            <p:cNvSpPr/>
            <p:nvPr/>
          </p:nvSpPr>
          <p:spPr>
            <a:xfrm>
              <a:off x="7341445" y="1029220"/>
              <a:ext cx="1143000" cy="873760"/>
            </a:xfrm>
            <a:custGeom>
              <a:avLst/>
              <a:gdLst/>
              <a:ahLst/>
              <a:cxnLst/>
              <a:rect l="l" t="t" r="r" b="b"/>
              <a:pathLst>
                <a:path w="1143000" h="873760">
                  <a:moveTo>
                    <a:pt x="514388" y="0"/>
                  </a:moveTo>
                  <a:lnTo>
                    <a:pt x="0" y="225234"/>
                  </a:lnTo>
                  <a:lnTo>
                    <a:pt x="3231" y="282175"/>
                  </a:lnTo>
                  <a:lnTo>
                    <a:pt x="6957" y="338560"/>
                  </a:lnTo>
                  <a:lnTo>
                    <a:pt x="11656" y="393795"/>
                  </a:lnTo>
                  <a:lnTo>
                    <a:pt x="17806" y="447289"/>
                  </a:lnTo>
                  <a:lnTo>
                    <a:pt x="25886" y="498447"/>
                  </a:lnTo>
                  <a:lnTo>
                    <a:pt x="36374" y="546676"/>
                  </a:lnTo>
                  <a:lnTo>
                    <a:pt x="49747" y="591384"/>
                  </a:lnTo>
                  <a:lnTo>
                    <a:pt x="66484" y="631977"/>
                  </a:lnTo>
                  <a:lnTo>
                    <a:pt x="94329" y="680343"/>
                  </a:lnTo>
                  <a:lnTo>
                    <a:pt x="127625" y="723223"/>
                  </a:lnTo>
                  <a:lnTo>
                    <a:pt x="165306" y="760623"/>
                  </a:lnTo>
                  <a:lnTo>
                    <a:pt x="206308" y="792551"/>
                  </a:lnTo>
                  <a:lnTo>
                    <a:pt x="249567" y="819013"/>
                  </a:lnTo>
                  <a:lnTo>
                    <a:pt x="294017" y="840016"/>
                  </a:lnTo>
                  <a:lnTo>
                    <a:pt x="339609" y="856117"/>
                  </a:lnTo>
                  <a:lnTo>
                    <a:pt x="387269" y="867409"/>
                  </a:lnTo>
                  <a:lnTo>
                    <a:pt x="437383" y="873198"/>
                  </a:lnTo>
                  <a:lnTo>
                    <a:pt x="490334" y="872791"/>
                  </a:lnTo>
                  <a:lnTo>
                    <a:pt x="546506" y="865496"/>
                  </a:lnTo>
                  <a:lnTo>
                    <a:pt x="606285" y="850620"/>
                  </a:lnTo>
                  <a:lnTo>
                    <a:pt x="646126" y="837071"/>
                  </a:lnTo>
                  <a:lnTo>
                    <a:pt x="690616" y="819530"/>
                  </a:lnTo>
                  <a:lnTo>
                    <a:pt x="738285" y="798625"/>
                  </a:lnTo>
                  <a:lnTo>
                    <a:pt x="787661" y="774987"/>
                  </a:lnTo>
                  <a:lnTo>
                    <a:pt x="837272" y="749244"/>
                  </a:lnTo>
                  <a:lnTo>
                    <a:pt x="885648" y="722026"/>
                  </a:lnTo>
                  <a:lnTo>
                    <a:pt x="931316" y="693963"/>
                  </a:lnTo>
                  <a:lnTo>
                    <a:pt x="972805" y="665684"/>
                  </a:lnTo>
                  <a:lnTo>
                    <a:pt x="1008644" y="637819"/>
                  </a:lnTo>
                  <a:lnTo>
                    <a:pt x="1037361" y="610997"/>
                  </a:lnTo>
                  <a:lnTo>
                    <a:pt x="1071495" y="573281"/>
                  </a:lnTo>
                  <a:lnTo>
                    <a:pt x="1101699" y="534670"/>
                  </a:lnTo>
                  <a:lnTo>
                    <a:pt x="1125383" y="495163"/>
                  </a:lnTo>
                  <a:lnTo>
                    <a:pt x="1139959" y="454759"/>
                  </a:lnTo>
                  <a:lnTo>
                    <a:pt x="1142837" y="413459"/>
                  </a:lnTo>
                  <a:lnTo>
                    <a:pt x="1131429" y="371262"/>
                  </a:lnTo>
                  <a:lnTo>
                    <a:pt x="1103147" y="328168"/>
                  </a:lnTo>
                  <a:lnTo>
                    <a:pt x="1051703" y="280488"/>
                  </a:lnTo>
                  <a:lnTo>
                    <a:pt x="1018421" y="256106"/>
                  </a:lnTo>
                  <a:lnTo>
                    <a:pt x="980692" y="231405"/>
                  </a:lnTo>
                  <a:lnTo>
                    <a:pt x="938961" y="206416"/>
                  </a:lnTo>
                  <a:lnTo>
                    <a:pt x="893672" y="181173"/>
                  </a:lnTo>
                  <a:lnTo>
                    <a:pt x="845270" y="155706"/>
                  </a:lnTo>
                  <a:lnTo>
                    <a:pt x="794199" y="130047"/>
                  </a:lnTo>
                  <a:lnTo>
                    <a:pt x="740905" y="104229"/>
                  </a:lnTo>
                  <a:lnTo>
                    <a:pt x="685832" y="78283"/>
                  </a:lnTo>
                  <a:lnTo>
                    <a:pt x="629425" y="52242"/>
                  </a:lnTo>
                  <a:lnTo>
                    <a:pt x="514388" y="0"/>
                  </a:lnTo>
                  <a:close/>
                </a:path>
              </a:pathLst>
            </a:custGeom>
            <a:solidFill>
              <a:srgbClr val="FFFF00">
                <a:alpha val="50195"/>
              </a:srgbClr>
            </a:solidFill>
          </p:spPr>
          <p:txBody>
            <a:bodyPr wrap="square" lIns="0" tIns="0" rIns="0" bIns="0" rtlCol="0"/>
            <a:lstStyle/>
            <a:p/>
          </p:txBody>
        </p:sp>
        <p:sp>
          <p:nvSpPr>
            <p:cNvPr id="217" name="object 217" descr=""/>
            <p:cNvSpPr/>
            <p:nvPr/>
          </p:nvSpPr>
          <p:spPr>
            <a:xfrm>
              <a:off x="7341445" y="1029220"/>
              <a:ext cx="1143000" cy="873760"/>
            </a:xfrm>
            <a:custGeom>
              <a:avLst/>
              <a:gdLst/>
              <a:ahLst/>
              <a:cxnLst/>
              <a:rect l="l" t="t" r="r" b="b"/>
              <a:pathLst>
                <a:path w="1143000" h="873760">
                  <a:moveTo>
                    <a:pt x="514388" y="0"/>
                  </a:moveTo>
                  <a:lnTo>
                    <a:pt x="572129" y="26137"/>
                  </a:lnTo>
                  <a:lnTo>
                    <a:pt x="629425" y="52242"/>
                  </a:lnTo>
                  <a:lnTo>
                    <a:pt x="685832" y="78283"/>
                  </a:lnTo>
                  <a:lnTo>
                    <a:pt x="740905" y="104229"/>
                  </a:lnTo>
                  <a:lnTo>
                    <a:pt x="794199" y="130047"/>
                  </a:lnTo>
                  <a:lnTo>
                    <a:pt x="845270" y="155706"/>
                  </a:lnTo>
                  <a:lnTo>
                    <a:pt x="893672" y="181173"/>
                  </a:lnTo>
                  <a:lnTo>
                    <a:pt x="938961" y="206416"/>
                  </a:lnTo>
                  <a:lnTo>
                    <a:pt x="980692" y="231405"/>
                  </a:lnTo>
                  <a:lnTo>
                    <a:pt x="1018421" y="256106"/>
                  </a:lnTo>
                  <a:lnTo>
                    <a:pt x="1051703" y="280488"/>
                  </a:lnTo>
                  <a:lnTo>
                    <a:pt x="1103147" y="328168"/>
                  </a:lnTo>
                  <a:lnTo>
                    <a:pt x="1131429" y="371262"/>
                  </a:lnTo>
                  <a:lnTo>
                    <a:pt x="1142837" y="413459"/>
                  </a:lnTo>
                  <a:lnTo>
                    <a:pt x="1139959" y="454759"/>
                  </a:lnTo>
                  <a:lnTo>
                    <a:pt x="1125383" y="495163"/>
                  </a:lnTo>
                  <a:lnTo>
                    <a:pt x="1101699" y="534670"/>
                  </a:lnTo>
                  <a:lnTo>
                    <a:pt x="1071495" y="573281"/>
                  </a:lnTo>
                  <a:lnTo>
                    <a:pt x="1037361" y="610997"/>
                  </a:lnTo>
                  <a:lnTo>
                    <a:pt x="1008644" y="637819"/>
                  </a:lnTo>
                  <a:lnTo>
                    <a:pt x="972805" y="665684"/>
                  </a:lnTo>
                  <a:lnTo>
                    <a:pt x="931316" y="693963"/>
                  </a:lnTo>
                  <a:lnTo>
                    <a:pt x="885648" y="722026"/>
                  </a:lnTo>
                  <a:lnTo>
                    <a:pt x="837272" y="749244"/>
                  </a:lnTo>
                  <a:lnTo>
                    <a:pt x="787661" y="774987"/>
                  </a:lnTo>
                  <a:lnTo>
                    <a:pt x="738285" y="798625"/>
                  </a:lnTo>
                  <a:lnTo>
                    <a:pt x="690616" y="819530"/>
                  </a:lnTo>
                  <a:lnTo>
                    <a:pt x="646126" y="837071"/>
                  </a:lnTo>
                  <a:lnTo>
                    <a:pt x="606285" y="850620"/>
                  </a:lnTo>
                  <a:lnTo>
                    <a:pt x="546506" y="865496"/>
                  </a:lnTo>
                  <a:lnTo>
                    <a:pt x="490334" y="872791"/>
                  </a:lnTo>
                  <a:lnTo>
                    <a:pt x="437383" y="873198"/>
                  </a:lnTo>
                  <a:lnTo>
                    <a:pt x="387269" y="867409"/>
                  </a:lnTo>
                  <a:lnTo>
                    <a:pt x="339609" y="856117"/>
                  </a:lnTo>
                  <a:lnTo>
                    <a:pt x="294017" y="840016"/>
                  </a:lnTo>
                  <a:lnTo>
                    <a:pt x="249567" y="819013"/>
                  </a:lnTo>
                  <a:lnTo>
                    <a:pt x="206308" y="792551"/>
                  </a:lnTo>
                  <a:lnTo>
                    <a:pt x="165306" y="760623"/>
                  </a:lnTo>
                  <a:lnTo>
                    <a:pt x="127625" y="723223"/>
                  </a:lnTo>
                  <a:lnTo>
                    <a:pt x="94329" y="680343"/>
                  </a:lnTo>
                  <a:lnTo>
                    <a:pt x="66484" y="631977"/>
                  </a:lnTo>
                  <a:lnTo>
                    <a:pt x="49747" y="591384"/>
                  </a:lnTo>
                  <a:lnTo>
                    <a:pt x="36374" y="546676"/>
                  </a:lnTo>
                  <a:lnTo>
                    <a:pt x="25886" y="498447"/>
                  </a:lnTo>
                  <a:lnTo>
                    <a:pt x="17806" y="447289"/>
                  </a:lnTo>
                  <a:lnTo>
                    <a:pt x="11656" y="393795"/>
                  </a:lnTo>
                  <a:lnTo>
                    <a:pt x="6957" y="338560"/>
                  </a:lnTo>
                  <a:lnTo>
                    <a:pt x="3231" y="282175"/>
                  </a:lnTo>
                  <a:lnTo>
                    <a:pt x="0" y="225234"/>
                  </a:lnTo>
                </a:path>
              </a:pathLst>
            </a:custGeom>
            <a:ln w="9525">
              <a:solidFill>
                <a:srgbClr val="000000"/>
              </a:solidFill>
            </a:ln>
          </p:spPr>
          <p:txBody>
            <a:bodyPr wrap="square" lIns="0" tIns="0" rIns="0" bIns="0" rtlCol="0"/>
            <a:lstStyle/>
            <a:p/>
          </p:txBody>
        </p:sp>
        <p:sp>
          <p:nvSpPr>
            <p:cNvPr id="218" name="object 218" descr=""/>
            <p:cNvSpPr/>
            <p:nvPr/>
          </p:nvSpPr>
          <p:spPr>
            <a:xfrm>
              <a:off x="7443495" y="1276598"/>
              <a:ext cx="1548130" cy="930275"/>
            </a:xfrm>
            <a:custGeom>
              <a:avLst/>
              <a:gdLst/>
              <a:ahLst/>
              <a:cxnLst/>
              <a:rect l="l" t="t" r="r" b="b"/>
              <a:pathLst>
                <a:path w="1548129" h="930275">
                  <a:moveTo>
                    <a:pt x="1548104" y="0"/>
                  </a:moveTo>
                  <a:lnTo>
                    <a:pt x="0" y="930249"/>
                  </a:lnTo>
                </a:path>
              </a:pathLst>
            </a:custGeom>
            <a:ln w="19050">
              <a:solidFill>
                <a:srgbClr val="0000FF"/>
              </a:solidFill>
            </a:ln>
          </p:spPr>
          <p:txBody>
            <a:bodyPr wrap="square" lIns="0" tIns="0" rIns="0" bIns="0" rtlCol="0"/>
            <a:lstStyle/>
            <a:p/>
          </p:txBody>
        </p:sp>
        <p:sp>
          <p:nvSpPr>
            <p:cNvPr id="219" name="object 219" descr=""/>
            <p:cNvSpPr/>
            <p:nvPr/>
          </p:nvSpPr>
          <p:spPr>
            <a:xfrm>
              <a:off x="7595895" y="1617098"/>
              <a:ext cx="1548130" cy="930275"/>
            </a:xfrm>
            <a:custGeom>
              <a:avLst/>
              <a:gdLst/>
              <a:ahLst/>
              <a:cxnLst/>
              <a:rect l="l" t="t" r="r" b="b"/>
              <a:pathLst>
                <a:path w="1548129" h="930275">
                  <a:moveTo>
                    <a:pt x="1548104" y="0"/>
                  </a:moveTo>
                  <a:lnTo>
                    <a:pt x="0" y="930249"/>
                  </a:lnTo>
                </a:path>
              </a:pathLst>
            </a:custGeom>
            <a:ln w="19050">
              <a:solidFill>
                <a:srgbClr val="0000FF"/>
              </a:solidFill>
            </a:ln>
          </p:spPr>
          <p:txBody>
            <a:bodyPr wrap="square" lIns="0" tIns="0" rIns="0" bIns="0" rtlCol="0"/>
            <a:lstStyle/>
            <a:p/>
          </p:txBody>
        </p:sp>
        <p:sp>
          <p:nvSpPr>
            <p:cNvPr id="220" name="object 220" descr=""/>
            <p:cNvSpPr/>
            <p:nvPr/>
          </p:nvSpPr>
          <p:spPr>
            <a:xfrm>
              <a:off x="7526128" y="2202615"/>
              <a:ext cx="199390" cy="277495"/>
            </a:xfrm>
            <a:custGeom>
              <a:avLst/>
              <a:gdLst/>
              <a:ahLst/>
              <a:cxnLst/>
              <a:rect l="l" t="t" r="r" b="b"/>
              <a:pathLst>
                <a:path w="199390" h="277494">
                  <a:moveTo>
                    <a:pt x="0" y="0"/>
                  </a:moveTo>
                  <a:lnTo>
                    <a:pt x="199224" y="277152"/>
                  </a:lnTo>
                </a:path>
              </a:pathLst>
            </a:custGeom>
            <a:ln w="19050">
              <a:solidFill>
                <a:srgbClr val="FFC000"/>
              </a:solidFill>
            </a:ln>
          </p:spPr>
          <p:txBody>
            <a:bodyPr wrap="square" lIns="0" tIns="0" rIns="0" bIns="0" rtlCol="0"/>
            <a:lstStyle/>
            <a:p/>
          </p:txBody>
        </p:sp>
        <p:sp>
          <p:nvSpPr>
            <p:cNvPr id="221" name="object 221" descr=""/>
            <p:cNvSpPr/>
            <p:nvPr/>
          </p:nvSpPr>
          <p:spPr>
            <a:xfrm>
              <a:off x="7644783" y="2391947"/>
              <a:ext cx="80645" cy="88265"/>
            </a:xfrm>
            <a:custGeom>
              <a:avLst/>
              <a:gdLst/>
              <a:ahLst/>
              <a:cxnLst/>
              <a:rect l="l" t="t" r="r" b="b"/>
              <a:pathLst>
                <a:path w="80645" h="88264">
                  <a:moveTo>
                    <a:pt x="72186" y="0"/>
                  </a:moveTo>
                  <a:lnTo>
                    <a:pt x="80568" y="87820"/>
                  </a:lnTo>
                  <a:lnTo>
                    <a:pt x="0" y="51879"/>
                  </a:lnTo>
                </a:path>
              </a:pathLst>
            </a:custGeom>
            <a:ln w="19050">
              <a:solidFill>
                <a:srgbClr val="FFC000"/>
              </a:solidFill>
            </a:ln>
          </p:spPr>
          <p:txBody>
            <a:bodyPr wrap="square" lIns="0" tIns="0" rIns="0" bIns="0" rtlCol="0"/>
            <a:lstStyle/>
            <a:p/>
          </p:txBody>
        </p:sp>
        <p:sp>
          <p:nvSpPr>
            <p:cNvPr id="222" name="object 222" descr=""/>
            <p:cNvSpPr/>
            <p:nvPr/>
          </p:nvSpPr>
          <p:spPr>
            <a:xfrm>
              <a:off x="7526135" y="2202611"/>
              <a:ext cx="80645" cy="88265"/>
            </a:xfrm>
            <a:custGeom>
              <a:avLst/>
              <a:gdLst/>
              <a:ahLst/>
              <a:cxnLst/>
              <a:rect l="l" t="t" r="r" b="b"/>
              <a:pathLst>
                <a:path w="80645" h="88264">
                  <a:moveTo>
                    <a:pt x="8381" y="87820"/>
                  </a:moveTo>
                  <a:lnTo>
                    <a:pt x="0" y="0"/>
                  </a:lnTo>
                  <a:lnTo>
                    <a:pt x="80568" y="35928"/>
                  </a:lnTo>
                </a:path>
              </a:pathLst>
            </a:custGeom>
            <a:ln w="19050">
              <a:solidFill>
                <a:srgbClr val="FFC000"/>
              </a:solidFill>
            </a:ln>
          </p:spPr>
          <p:txBody>
            <a:bodyPr wrap="square" lIns="0" tIns="0" rIns="0" bIns="0" rtlCol="0"/>
            <a:lstStyle/>
            <a:p/>
          </p:txBody>
        </p:sp>
      </p:grpSp>
      <p:sp>
        <p:nvSpPr>
          <p:cNvPr id="223" name="object 223" descr=""/>
          <p:cNvSpPr txBox="1"/>
          <p:nvPr/>
        </p:nvSpPr>
        <p:spPr>
          <a:xfrm>
            <a:off x="7198131" y="2268013"/>
            <a:ext cx="361315" cy="238760"/>
          </a:xfrm>
          <a:prstGeom prst="rect">
            <a:avLst/>
          </a:prstGeom>
        </p:spPr>
        <p:txBody>
          <a:bodyPr wrap="square" lIns="0" tIns="12065" rIns="0" bIns="0" rtlCol="0" vert="horz">
            <a:spAutoFit/>
          </a:bodyPr>
          <a:lstStyle/>
          <a:p>
            <a:pPr marL="12700">
              <a:lnSpc>
                <a:spcPct val="100000"/>
              </a:lnSpc>
              <a:spcBef>
                <a:spcPts val="95"/>
              </a:spcBef>
            </a:pPr>
            <a:r>
              <a:rPr dirty="0" sz="1400" spc="-25" b="1">
                <a:solidFill>
                  <a:srgbClr val="FFC000"/>
                </a:solidFill>
                <a:latin typeface="Arial"/>
                <a:cs typeface="Arial"/>
              </a:rPr>
              <a:t>6dB</a:t>
            </a:r>
            <a:endParaRPr sz="1400">
              <a:latin typeface="Arial"/>
              <a:cs typeface="Arial"/>
            </a:endParaRPr>
          </a:p>
        </p:txBody>
      </p:sp>
      <p:sp>
        <p:nvSpPr>
          <p:cNvPr id="224" name="object 224" descr=""/>
          <p:cNvSpPr txBox="1"/>
          <p:nvPr/>
        </p:nvSpPr>
        <p:spPr>
          <a:xfrm>
            <a:off x="251523" y="4799647"/>
            <a:ext cx="8641080" cy="292735"/>
          </a:xfrm>
          <a:prstGeom prst="rect">
            <a:avLst/>
          </a:prstGeom>
          <a:solidFill>
            <a:srgbClr val="0070C0"/>
          </a:solidFill>
        </p:spPr>
        <p:txBody>
          <a:bodyPr wrap="square" lIns="0" tIns="42545" rIns="0" bIns="0" rtlCol="0" vert="horz">
            <a:spAutoFit/>
          </a:bodyPr>
          <a:lstStyle/>
          <a:p>
            <a:pPr marL="958850">
              <a:lnSpc>
                <a:spcPct val="100000"/>
              </a:lnSpc>
              <a:spcBef>
                <a:spcPts val="335"/>
              </a:spcBef>
            </a:pPr>
            <a:r>
              <a:rPr dirty="0" sz="1300" spc="-10" b="1">
                <a:solidFill>
                  <a:srgbClr val="FFFFFF"/>
                </a:solidFill>
                <a:latin typeface="Arial"/>
                <a:cs typeface="Arial"/>
              </a:rPr>
              <a:t>5G</a:t>
            </a:r>
            <a:r>
              <a:rPr dirty="0" sz="1300">
                <a:solidFill>
                  <a:srgbClr val="FFFFFF"/>
                </a:solidFill>
                <a:latin typeface="SimSun"/>
                <a:cs typeface="SimSun"/>
              </a:rPr>
              <a:t>采用</a:t>
            </a:r>
            <a:r>
              <a:rPr dirty="0" sz="1300" b="1">
                <a:solidFill>
                  <a:srgbClr val="FFFFFF"/>
                </a:solidFill>
                <a:latin typeface="Arial"/>
                <a:cs typeface="Arial"/>
              </a:rPr>
              <a:t>6TR</a:t>
            </a:r>
            <a:r>
              <a:rPr dirty="0" sz="1300" spc="-30" b="1">
                <a:solidFill>
                  <a:srgbClr val="FFFFFF"/>
                </a:solidFill>
                <a:latin typeface="Arial"/>
                <a:cs typeface="Arial"/>
              </a:rPr>
              <a:t> </a:t>
            </a:r>
            <a:r>
              <a:rPr dirty="0" sz="1300" b="1">
                <a:solidFill>
                  <a:srgbClr val="FFFFFF"/>
                </a:solidFill>
                <a:latin typeface="Arial"/>
                <a:cs typeface="Arial"/>
              </a:rPr>
              <a:t>Massive</a:t>
            </a:r>
            <a:r>
              <a:rPr dirty="0" sz="1300" spc="-35" b="1">
                <a:solidFill>
                  <a:srgbClr val="FFFFFF"/>
                </a:solidFill>
                <a:latin typeface="Arial"/>
                <a:cs typeface="Arial"/>
              </a:rPr>
              <a:t> </a:t>
            </a:r>
            <a:r>
              <a:rPr dirty="0" sz="1300" spc="-10" b="1">
                <a:solidFill>
                  <a:srgbClr val="FFFFFF"/>
                </a:solidFill>
                <a:latin typeface="Arial"/>
                <a:cs typeface="Arial"/>
              </a:rPr>
              <a:t>MIMO</a:t>
            </a:r>
            <a:r>
              <a:rPr dirty="0" sz="1300" spc="-10">
                <a:solidFill>
                  <a:srgbClr val="FFFFFF"/>
                </a:solidFill>
                <a:latin typeface="SimSun"/>
                <a:cs typeface="SimSun"/>
              </a:rPr>
              <a:t>天线阵列覆盖城区，从平面覆盖走向</a:t>
            </a:r>
            <a:r>
              <a:rPr dirty="0" sz="1300" spc="-10" b="1">
                <a:solidFill>
                  <a:srgbClr val="FFFFFF"/>
                </a:solidFill>
                <a:latin typeface="Arial"/>
                <a:cs typeface="Arial"/>
              </a:rPr>
              <a:t>3D</a:t>
            </a:r>
            <a:r>
              <a:rPr dirty="0" sz="1300" spc="-15">
                <a:solidFill>
                  <a:srgbClr val="FFFFFF"/>
                </a:solidFill>
                <a:latin typeface="SimSun"/>
                <a:cs typeface="SimSun"/>
              </a:rPr>
              <a:t>覆盖，全面提升系统性能</a:t>
            </a:r>
            <a:endParaRPr sz="1300">
              <a:latin typeface="SimSun"/>
              <a:cs typeface="SimSu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15140" y="937983"/>
            <a:ext cx="3840747" cy="1236943"/>
          </a:xfrm>
          <a:prstGeom prst="rect">
            <a:avLst/>
          </a:prstGeom>
        </p:spPr>
      </p:pic>
      <p:sp>
        <p:nvSpPr>
          <p:cNvPr id="3" name="object 3"/>
          <p:cNvSpPr txBox="1">
            <a:spLocks noGrp="1"/>
          </p:cNvSpPr>
          <p:nvPr>
            <p:ph type="title"/>
          </p:nvPr>
        </p:nvSpPr>
        <p:spPr>
          <a:xfrm>
            <a:off x="1129442" y="137830"/>
            <a:ext cx="7571105" cy="513080"/>
          </a:xfrm>
          <a:prstGeom prst="rect"/>
        </p:spPr>
        <p:txBody>
          <a:bodyPr wrap="square" lIns="0" tIns="12065" rIns="0" bIns="0" rtlCol="0" vert="horz">
            <a:spAutoFit/>
          </a:bodyPr>
          <a:lstStyle/>
          <a:p>
            <a:pPr marL="12700">
              <a:lnSpc>
                <a:spcPct val="100000"/>
              </a:lnSpc>
              <a:spcBef>
                <a:spcPts val="95"/>
              </a:spcBef>
            </a:pPr>
            <a:r>
              <a:rPr dirty="0" spc="-40"/>
              <a:t>郊区农村采用</a:t>
            </a:r>
            <a:r>
              <a:rPr dirty="0" spc="-25">
                <a:latin typeface="Times New Roman"/>
                <a:cs typeface="Times New Roman"/>
              </a:rPr>
              <a:t>16TR/8TR</a:t>
            </a:r>
            <a:r>
              <a:rPr dirty="0" spc="-45"/>
              <a:t>，兼顾性能和成本</a:t>
            </a:r>
          </a:p>
        </p:txBody>
      </p:sp>
      <p:sp>
        <p:nvSpPr>
          <p:cNvPr id="4" name="object 4" descr=""/>
          <p:cNvSpPr txBox="1"/>
          <p:nvPr/>
        </p:nvSpPr>
        <p:spPr>
          <a:xfrm>
            <a:off x="179514" y="4799647"/>
            <a:ext cx="8641080" cy="292735"/>
          </a:xfrm>
          <a:prstGeom prst="rect">
            <a:avLst/>
          </a:prstGeom>
          <a:solidFill>
            <a:srgbClr val="0070C0"/>
          </a:solidFill>
        </p:spPr>
        <p:txBody>
          <a:bodyPr wrap="square" lIns="0" tIns="42545" rIns="0" bIns="0" rtlCol="0" vert="horz">
            <a:spAutoFit/>
          </a:bodyPr>
          <a:lstStyle/>
          <a:p>
            <a:pPr marL="624840">
              <a:lnSpc>
                <a:spcPct val="100000"/>
              </a:lnSpc>
              <a:spcBef>
                <a:spcPts val="335"/>
              </a:spcBef>
            </a:pPr>
            <a:r>
              <a:rPr dirty="0" sz="1300" spc="-10">
                <a:solidFill>
                  <a:srgbClr val="FFFFFF"/>
                </a:solidFill>
                <a:latin typeface="SimSun"/>
                <a:cs typeface="SimSun"/>
              </a:rPr>
              <a:t>基于性价比的考虑，</a:t>
            </a:r>
            <a:r>
              <a:rPr dirty="0" sz="1300" spc="-10" b="1">
                <a:solidFill>
                  <a:srgbClr val="FFFFFF"/>
                </a:solidFill>
                <a:latin typeface="Arial"/>
                <a:cs typeface="Arial"/>
              </a:rPr>
              <a:t>8/16TR</a:t>
            </a:r>
            <a:r>
              <a:rPr dirty="0" sz="1300">
                <a:solidFill>
                  <a:srgbClr val="FFFFFF"/>
                </a:solidFill>
                <a:latin typeface="SimSun"/>
                <a:cs typeface="SimSun"/>
              </a:rPr>
              <a:t>产品与</a:t>
            </a:r>
            <a:r>
              <a:rPr dirty="0" sz="1300" spc="-20" b="1">
                <a:solidFill>
                  <a:srgbClr val="FFFFFF"/>
                </a:solidFill>
                <a:latin typeface="Arial"/>
                <a:cs typeface="Arial"/>
              </a:rPr>
              <a:t>64TR</a:t>
            </a:r>
            <a:r>
              <a:rPr dirty="0" sz="1300" spc="-15">
                <a:solidFill>
                  <a:srgbClr val="FFFFFF"/>
                </a:solidFill>
                <a:latin typeface="SimSun"/>
                <a:cs typeface="SimSun"/>
              </a:rPr>
              <a:t>形成高低搭配，适用于郊区、农村等容量需求相对不高的场景</a:t>
            </a:r>
            <a:endParaRPr sz="1300">
              <a:latin typeface="SimSun"/>
              <a:cs typeface="SimSun"/>
            </a:endParaRPr>
          </a:p>
        </p:txBody>
      </p:sp>
      <p:sp>
        <p:nvSpPr>
          <p:cNvPr id="5" name="object 5" descr=""/>
          <p:cNvSpPr txBox="1"/>
          <p:nvPr/>
        </p:nvSpPr>
        <p:spPr>
          <a:xfrm>
            <a:off x="5488940" y="762254"/>
            <a:ext cx="1271905" cy="238760"/>
          </a:xfrm>
          <a:prstGeom prst="rect">
            <a:avLst/>
          </a:prstGeom>
        </p:spPr>
        <p:txBody>
          <a:bodyPr wrap="square" lIns="0" tIns="12065" rIns="0" bIns="0" rtlCol="0" vert="horz">
            <a:spAutoFit/>
          </a:bodyPr>
          <a:lstStyle/>
          <a:p>
            <a:pPr marL="12700">
              <a:lnSpc>
                <a:spcPct val="100000"/>
              </a:lnSpc>
              <a:spcBef>
                <a:spcPts val="95"/>
              </a:spcBef>
            </a:pPr>
            <a:r>
              <a:rPr dirty="0" sz="1400" spc="-20">
                <a:solidFill>
                  <a:srgbClr val="C00000"/>
                </a:solidFill>
                <a:latin typeface="SimSun"/>
                <a:cs typeface="SimSun"/>
              </a:rPr>
              <a:t>覆盖性能对比：</a:t>
            </a:r>
            <a:endParaRPr sz="1400">
              <a:latin typeface="SimSun"/>
              <a:cs typeface="SimSun"/>
            </a:endParaRPr>
          </a:p>
        </p:txBody>
      </p:sp>
      <p:sp>
        <p:nvSpPr>
          <p:cNvPr id="6" name="object 6" descr=""/>
          <p:cNvSpPr txBox="1"/>
          <p:nvPr/>
        </p:nvSpPr>
        <p:spPr>
          <a:xfrm>
            <a:off x="78739" y="762254"/>
            <a:ext cx="916940" cy="238760"/>
          </a:xfrm>
          <a:prstGeom prst="rect">
            <a:avLst/>
          </a:prstGeom>
        </p:spPr>
        <p:txBody>
          <a:bodyPr wrap="square" lIns="0" tIns="12065" rIns="0" bIns="0" rtlCol="0" vert="horz">
            <a:spAutoFit/>
          </a:bodyPr>
          <a:lstStyle/>
          <a:p>
            <a:pPr marL="12700">
              <a:lnSpc>
                <a:spcPct val="100000"/>
              </a:lnSpc>
              <a:spcBef>
                <a:spcPts val="95"/>
              </a:spcBef>
            </a:pPr>
            <a:r>
              <a:rPr dirty="0" sz="1400" spc="-20">
                <a:solidFill>
                  <a:srgbClr val="C00000"/>
                </a:solidFill>
                <a:latin typeface="SimSun"/>
                <a:cs typeface="SimSun"/>
              </a:rPr>
              <a:t>成本对比：</a:t>
            </a:r>
            <a:endParaRPr sz="1400">
              <a:latin typeface="SimSun"/>
              <a:cs typeface="SimSun"/>
            </a:endParaRPr>
          </a:p>
        </p:txBody>
      </p:sp>
      <p:sp>
        <p:nvSpPr>
          <p:cNvPr id="7" name="object 7" descr=""/>
          <p:cNvSpPr txBox="1"/>
          <p:nvPr/>
        </p:nvSpPr>
        <p:spPr>
          <a:xfrm>
            <a:off x="330259" y="2427326"/>
            <a:ext cx="4050665" cy="711200"/>
          </a:xfrm>
          <a:prstGeom prst="rect">
            <a:avLst/>
          </a:prstGeom>
        </p:spPr>
        <p:txBody>
          <a:bodyPr wrap="square" lIns="0" tIns="12700" rIns="0" bIns="0" rtlCol="0" vert="horz">
            <a:spAutoFit/>
          </a:bodyPr>
          <a:lstStyle/>
          <a:p>
            <a:pPr marL="12700" marR="5080">
              <a:lnSpc>
                <a:spcPct val="100000"/>
              </a:lnSpc>
              <a:spcBef>
                <a:spcPts val="100"/>
              </a:spcBef>
            </a:pPr>
            <a:r>
              <a:rPr dirty="0" sz="1200" spc="-10">
                <a:latin typeface="Microsoft YaHei"/>
                <a:cs typeface="Microsoft YaHei"/>
              </a:rPr>
              <a:t>64TR</a:t>
            </a:r>
            <a:r>
              <a:rPr dirty="0" sz="1200" spc="-5">
                <a:latin typeface="SimSun"/>
                <a:cs typeface="SimSun"/>
              </a:rPr>
              <a:t>设备成本高；体积重量大，会增加工程安装成本，全网</a:t>
            </a:r>
            <a:r>
              <a:rPr dirty="0" sz="1200">
                <a:latin typeface="SimSun"/>
                <a:cs typeface="SimSun"/>
              </a:rPr>
              <a:t>采用</a:t>
            </a:r>
            <a:r>
              <a:rPr dirty="0" sz="1200" spc="-10" b="1">
                <a:solidFill>
                  <a:srgbClr val="FF0000"/>
                </a:solidFill>
                <a:latin typeface="Microsoft YaHei"/>
                <a:cs typeface="Microsoft YaHei"/>
              </a:rPr>
              <a:t>64TR</a:t>
            </a:r>
            <a:r>
              <a:rPr dirty="0" sz="1200" spc="-10">
                <a:latin typeface="SimSun"/>
                <a:cs typeface="SimSun"/>
              </a:rPr>
              <a:t>，</a:t>
            </a:r>
            <a:r>
              <a:rPr dirty="0" sz="1200" spc="-10">
                <a:solidFill>
                  <a:srgbClr val="FF0000"/>
                </a:solidFill>
                <a:latin typeface="SimSun"/>
                <a:cs typeface="SimSun"/>
              </a:rPr>
              <a:t>建网成本高</a:t>
            </a:r>
            <a:endParaRPr sz="1200">
              <a:latin typeface="SimSun"/>
              <a:cs typeface="SimSun"/>
            </a:endParaRPr>
          </a:p>
          <a:p>
            <a:pPr marL="25400">
              <a:lnSpc>
                <a:spcPct val="100000"/>
              </a:lnSpc>
              <a:spcBef>
                <a:spcPts val="835"/>
              </a:spcBef>
            </a:pPr>
            <a:r>
              <a:rPr dirty="0" sz="1400" spc="-20">
                <a:solidFill>
                  <a:srgbClr val="C00000"/>
                </a:solidFill>
                <a:latin typeface="SimSun"/>
                <a:cs typeface="SimSun"/>
              </a:rPr>
              <a:t>赋形能力：</a:t>
            </a:r>
            <a:endParaRPr sz="1400">
              <a:latin typeface="SimSun"/>
              <a:cs typeface="SimSun"/>
            </a:endParaRPr>
          </a:p>
        </p:txBody>
      </p:sp>
      <p:pic>
        <p:nvPicPr>
          <p:cNvPr id="8" name="object 8"/>
          <p:cNvPicPr/>
          <p:nvPr/>
        </p:nvPicPr>
        <p:blipFill>
          <a:blip r:embed="rId3" cstate="print"/>
          <a:stretch>
            <a:fillRect/>
          </a:stretch>
        </p:blipFill>
        <p:spPr>
          <a:xfrm>
            <a:off x="5263235" y="2573566"/>
            <a:ext cx="3629244" cy="1200002"/>
          </a:xfrm>
          <a:prstGeom prst="rect">
            <a:avLst/>
          </a:prstGeom>
        </p:spPr>
      </p:pic>
      <p:sp>
        <p:nvSpPr>
          <p:cNvPr id="9" name="object 9" descr=""/>
          <p:cNvSpPr txBox="1"/>
          <p:nvPr/>
        </p:nvSpPr>
        <p:spPr>
          <a:xfrm>
            <a:off x="4722747" y="1094427"/>
            <a:ext cx="203200" cy="665480"/>
          </a:xfrm>
          <a:prstGeom prst="rect">
            <a:avLst/>
          </a:prstGeom>
        </p:spPr>
        <p:txBody>
          <a:bodyPr wrap="square" lIns="0" tIns="12700" rIns="0" bIns="0" rtlCol="0" vert="horz">
            <a:spAutoFit/>
          </a:bodyPr>
          <a:lstStyle/>
          <a:p>
            <a:pPr marL="12700" marR="5080">
              <a:lnSpc>
                <a:spcPct val="150000"/>
              </a:lnSpc>
              <a:spcBef>
                <a:spcPts val="100"/>
              </a:spcBef>
            </a:pPr>
            <a:r>
              <a:rPr dirty="0" sz="1400" spc="-50">
                <a:solidFill>
                  <a:srgbClr val="0000FF"/>
                </a:solidFill>
                <a:latin typeface="SimSun"/>
                <a:cs typeface="SimSun"/>
              </a:rPr>
              <a:t>上行</a:t>
            </a:r>
            <a:endParaRPr sz="1400">
              <a:latin typeface="SimSun"/>
              <a:cs typeface="SimSun"/>
            </a:endParaRPr>
          </a:p>
        </p:txBody>
      </p:sp>
      <p:sp>
        <p:nvSpPr>
          <p:cNvPr id="10" name="object 10" descr=""/>
          <p:cNvSpPr txBox="1"/>
          <p:nvPr/>
        </p:nvSpPr>
        <p:spPr>
          <a:xfrm>
            <a:off x="4794756" y="2678602"/>
            <a:ext cx="203200" cy="665480"/>
          </a:xfrm>
          <a:prstGeom prst="rect">
            <a:avLst/>
          </a:prstGeom>
        </p:spPr>
        <p:txBody>
          <a:bodyPr wrap="square" lIns="0" tIns="12700" rIns="0" bIns="0" rtlCol="0" vert="horz">
            <a:spAutoFit/>
          </a:bodyPr>
          <a:lstStyle/>
          <a:p>
            <a:pPr marL="12700" marR="5080">
              <a:lnSpc>
                <a:spcPct val="150000"/>
              </a:lnSpc>
              <a:spcBef>
                <a:spcPts val="100"/>
              </a:spcBef>
            </a:pPr>
            <a:r>
              <a:rPr dirty="0" sz="1400" spc="-50">
                <a:solidFill>
                  <a:srgbClr val="0000FF"/>
                </a:solidFill>
                <a:latin typeface="SimSun"/>
                <a:cs typeface="SimSun"/>
              </a:rPr>
              <a:t>下行</a:t>
            </a:r>
            <a:endParaRPr sz="1400">
              <a:latin typeface="SimSun"/>
              <a:cs typeface="SimSun"/>
            </a:endParaRPr>
          </a:p>
        </p:txBody>
      </p:sp>
      <p:sp>
        <p:nvSpPr>
          <p:cNvPr id="11" name="object 11" descr=""/>
          <p:cNvSpPr txBox="1"/>
          <p:nvPr/>
        </p:nvSpPr>
        <p:spPr>
          <a:xfrm>
            <a:off x="4866763" y="3895521"/>
            <a:ext cx="4006850" cy="756920"/>
          </a:xfrm>
          <a:prstGeom prst="rect">
            <a:avLst/>
          </a:prstGeom>
        </p:spPr>
        <p:txBody>
          <a:bodyPr wrap="square" lIns="0" tIns="12700" rIns="0" bIns="0" rtlCol="0" vert="horz">
            <a:spAutoFit/>
          </a:bodyPr>
          <a:lstStyle/>
          <a:p>
            <a:pPr marL="183515" indent="-170815">
              <a:lnSpc>
                <a:spcPct val="100000"/>
              </a:lnSpc>
              <a:spcBef>
                <a:spcPts val="100"/>
              </a:spcBef>
              <a:buFont typeface="Wingdings"/>
              <a:buChar char=""/>
              <a:tabLst>
                <a:tab pos="183515" algn="l"/>
              </a:tabLst>
            </a:pPr>
            <a:r>
              <a:rPr dirty="0" sz="1200" spc="-5">
                <a:latin typeface="SimSun"/>
                <a:cs typeface="SimSun"/>
              </a:rPr>
              <a:t>相同边缘速率下，</a:t>
            </a:r>
            <a:r>
              <a:rPr dirty="0" sz="1200" spc="-10">
                <a:latin typeface="Microsoft YaHei"/>
                <a:cs typeface="Microsoft YaHei"/>
              </a:rPr>
              <a:t>64TR</a:t>
            </a:r>
            <a:r>
              <a:rPr dirty="0" sz="1200">
                <a:latin typeface="SimSun"/>
                <a:cs typeface="SimSun"/>
              </a:rPr>
              <a:t>相比</a:t>
            </a:r>
            <a:r>
              <a:rPr dirty="0" sz="1200" spc="-10">
                <a:latin typeface="Microsoft YaHei"/>
                <a:cs typeface="Microsoft YaHei"/>
              </a:rPr>
              <a:t>16TR</a:t>
            </a:r>
            <a:r>
              <a:rPr dirty="0" sz="1200" spc="-5">
                <a:latin typeface="SimSun"/>
                <a:cs typeface="SimSun"/>
              </a:rPr>
              <a:t>，覆盖提升</a:t>
            </a:r>
            <a:r>
              <a:rPr dirty="0" sz="1200" spc="-10" b="1">
                <a:solidFill>
                  <a:srgbClr val="FF0000"/>
                </a:solidFill>
                <a:latin typeface="Microsoft YaHei"/>
                <a:cs typeface="Microsoft YaHei"/>
              </a:rPr>
              <a:t>13%</a:t>
            </a:r>
            <a:r>
              <a:rPr dirty="0" sz="1200" spc="-20">
                <a:latin typeface="SimSun"/>
                <a:cs typeface="SimSun"/>
              </a:rPr>
              <a:t>左右；</a:t>
            </a:r>
            <a:endParaRPr sz="1200">
              <a:latin typeface="SimSun"/>
              <a:cs typeface="SimSun"/>
            </a:endParaRPr>
          </a:p>
          <a:p>
            <a:pPr marL="184150">
              <a:lnSpc>
                <a:spcPct val="100000"/>
              </a:lnSpc>
            </a:pPr>
            <a:r>
              <a:rPr dirty="0" sz="1200" spc="-10">
                <a:latin typeface="Microsoft YaHei"/>
                <a:cs typeface="Microsoft YaHei"/>
              </a:rPr>
              <a:t>64TR</a:t>
            </a:r>
            <a:r>
              <a:rPr dirty="0" sz="1200">
                <a:latin typeface="SimSun"/>
                <a:cs typeface="SimSun"/>
              </a:rPr>
              <a:t>相比</a:t>
            </a:r>
            <a:r>
              <a:rPr dirty="0" sz="1200" spc="-10">
                <a:latin typeface="Microsoft YaHei"/>
                <a:cs typeface="Microsoft YaHei"/>
              </a:rPr>
              <a:t>8TR</a:t>
            </a:r>
            <a:r>
              <a:rPr dirty="0" sz="1200" spc="-5">
                <a:latin typeface="SimSun"/>
                <a:cs typeface="SimSun"/>
              </a:rPr>
              <a:t>，覆盖提升</a:t>
            </a:r>
            <a:r>
              <a:rPr dirty="0" sz="1200" spc="-10" b="1">
                <a:solidFill>
                  <a:srgbClr val="FF0000"/>
                </a:solidFill>
                <a:latin typeface="Microsoft YaHei"/>
                <a:cs typeface="Microsoft YaHei"/>
              </a:rPr>
              <a:t>23%</a:t>
            </a:r>
            <a:r>
              <a:rPr dirty="0" sz="1200" spc="-25">
                <a:latin typeface="SimSun"/>
                <a:cs typeface="SimSun"/>
              </a:rPr>
              <a:t>左右</a:t>
            </a:r>
            <a:endParaRPr sz="1200">
              <a:latin typeface="SimSun"/>
              <a:cs typeface="SimSun"/>
            </a:endParaRPr>
          </a:p>
          <a:p>
            <a:pPr marL="184150" marR="5080" indent="-171450">
              <a:lnSpc>
                <a:spcPts val="1370"/>
              </a:lnSpc>
              <a:spcBef>
                <a:spcPts val="170"/>
              </a:spcBef>
              <a:buFont typeface="Wingdings"/>
              <a:buChar char=""/>
              <a:tabLst>
                <a:tab pos="184150" algn="l"/>
              </a:tabLst>
            </a:pPr>
            <a:r>
              <a:rPr dirty="0" sz="1200" spc="-5">
                <a:latin typeface="SimSun"/>
                <a:cs typeface="SimSun"/>
              </a:rPr>
              <a:t>在郊区农村，对容量及边缘速率要求不高，可降低边缘速</a:t>
            </a:r>
            <a:r>
              <a:rPr dirty="0" sz="1200">
                <a:latin typeface="SimSun"/>
                <a:cs typeface="SimSun"/>
              </a:rPr>
              <a:t>率要求，此时</a:t>
            </a:r>
            <a:r>
              <a:rPr dirty="0" sz="1200" spc="-10">
                <a:latin typeface="Microsoft YaHei"/>
                <a:cs typeface="Microsoft YaHei"/>
              </a:rPr>
              <a:t>16TR/8TR</a:t>
            </a:r>
            <a:r>
              <a:rPr dirty="0" sz="1200" spc="-10">
                <a:latin typeface="SimSun"/>
                <a:cs typeface="SimSun"/>
              </a:rPr>
              <a:t>可满足覆盖要求</a:t>
            </a:r>
            <a:endParaRPr sz="1200">
              <a:latin typeface="SimSun"/>
              <a:cs typeface="SimSun"/>
            </a:endParaRPr>
          </a:p>
        </p:txBody>
      </p:sp>
      <p:pic>
        <p:nvPicPr>
          <p:cNvPr id="12" name="object 12"/>
          <p:cNvPicPr/>
          <p:nvPr/>
        </p:nvPicPr>
        <p:blipFill>
          <a:blip r:embed="rId4" cstate="print"/>
          <a:stretch>
            <a:fillRect/>
          </a:stretch>
        </p:blipFill>
        <p:spPr>
          <a:xfrm>
            <a:off x="5116194" y="2259375"/>
            <a:ext cx="3833238" cy="175713"/>
          </a:xfrm>
          <a:prstGeom prst="rect">
            <a:avLst/>
          </a:prstGeom>
        </p:spPr>
      </p:pic>
      <p:grpSp>
        <p:nvGrpSpPr>
          <p:cNvPr id="13" name="object 13" descr=""/>
          <p:cNvGrpSpPr/>
          <p:nvPr/>
        </p:nvGrpSpPr>
        <p:grpSpPr>
          <a:xfrm>
            <a:off x="2401328" y="3262208"/>
            <a:ext cx="1666875" cy="975360"/>
            <a:chOff x="2401328" y="3262208"/>
            <a:chExt cx="1666875" cy="975360"/>
          </a:xfrm>
        </p:grpSpPr>
        <p:sp>
          <p:nvSpPr>
            <p:cNvPr id="14" name="object 14" descr=""/>
            <p:cNvSpPr/>
            <p:nvPr/>
          </p:nvSpPr>
          <p:spPr>
            <a:xfrm>
              <a:off x="3553421" y="3761828"/>
              <a:ext cx="89535" cy="426084"/>
            </a:xfrm>
            <a:custGeom>
              <a:avLst/>
              <a:gdLst/>
              <a:ahLst/>
              <a:cxnLst/>
              <a:rect l="l" t="t" r="r" b="b"/>
              <a:pathLst>
                <a:path w="89535" h="426085">
                  <a:moveTo>
                    <a:pt x="89306" y="0"/>
                  </a:moveTo>
                  <a:lnTo>
                    <a:pt x="0" y="0"/>
                  </a:lnTo>
                  <a:lnTo>
                    <a:pt x="0" y="425792"/>
                  </a:lnTo>
                  <a:lnTo>
                    <a:pt x="89306" y="425792"/>
                  </a:lnTo>
                  <a:lnTo>
                    <a:pt x="89306" y="0"/>
                  </a:lnTo>
                  <a:close/>
                </a:path>
              </a:pathLst>
            </a:custGeom>
            <a:solidFill>
              <a:srgbClr val="BFCCC0"/>
            </a:solidFill>
          </p:spPr>
          <p:txBody>
            <a:bodyPr wrap="square" lIns="0" tIns="0" rIns="0" bIns="0" rtlCol="0"/>
            <a:lstStyle/>
            <a:p/>
          </p:txBody>
        </p:sp>
        <p:sp>
          <p:nvSpPr>
            <p:cNvPr id="15" name="object 15" descr=""/>
            <p:cNvSpPr/>
            <p:nvPr/>
          </p:nvSpPr>
          <p:spPr>
            <a:xfrm>
              <a:off x="3552406" y="3761308"/>
              <a:ext cx="91440" cy="426720"/>
            </a:xfrm>
            <a:custGeom>
              <a:avLst/>
              <a:gdLst/>
              <a:ahLst/>
              <a:cxnLst/>
              <a:rect l="l" t="t" r="r" b="b"/>
              <a:pathLst>
                <a:path w="91439" h="426720">
                  <a:moveTo>
                    <a:pt x="91338" y="1854"/>
                  </a:moveTo>
                  <a:lnTo>
                    <a:pt x="88938" y="1854"/>
                  </a:lnTo>
                  <a:lnTo>
                    <a:pt x="88938" y="424954"/>
                  </a:lnTo>
                  <a:lnTo>
                    <a:pt x="91338" y="424954"/>
                  </a:lnTo>
                  <a:lnTo>
                    <a:pt x="91338" y="1854"/>
                  </a:lnTo>
                  <a:close/>
                </a:path>
                <a:path w="91439" h="426720">
                  <a:moveTo>
                    <a:pt x="91338" y="0"/>
                  </a:moveTo>
                  <a:lnTo>
                    <a:pt x="0" y="0"/>
                  </a:lnTo>
                  <a:lnTo>
                    <a:pt x="0" y="1270"/>
                  </a:lnTo>
                  <a:lnTo>
                    <a:pt x="0" y="425450"/>
                  </a:lnTo>
                  <a:lnTo>
                    <a:pt x="0" y="426720"/>
                  </a:lnTo>
                  <a:lnTo>
                    <a:pt x="91338" y="426720"/>
                  </a:lnTo>
                  <a:lnTo>
                    <a:pt x="91338" y="425450"/>
                  </a:lnTo>
                  <a:lnTo>
                    <a:pt x="2387" y="425450"/>
                  </a:lnTo>
                  <a:lnTo>
                    <a:pt x="2387" y="1270"/>
                  </a:lnTo>
                  <a:lnTo>
                    <a:pt x="91338" y="1270"/>
                  </a:lnTo>
                  <a:lnTo>
                    <a:pt x="91338" y="0"/>
                  </a:lnTo>
                  <a:close/>
                </a:path>
              </a:pathLst>
            </a:custGeom>
            <a:solidFill>
              <a:srgbClr val="879C82"/>
            </a:solidFill>
          </p:spPr>
          <p:txBody>
            <a:bodyPr wrap="square" lIns="0" tIns="0" rIns="0" bIns="0" rtlCol="0"/>
            <a:lstStyle/>
            <a:p/>
          </p:txBody>
        </p:sp>
        <p:sp>
          <p:nvSpPr>
            <p:cNvPr id="16" name="object 16" descr=""/>
            <p:cNvSpPr/>
            <p:nvPr/>
          </p:nvSpPr>
          <p:spPr>
            <a:xfrm>
              <a:off x="3553424" y="3720365"/>
              <a:ext cx="121285" cy="41910"/>
            </a:xfrm>
            <a:custGeom>
              <a:avLst/>
              <a:gdLst/>
              <a:ahLst/>
              <a:cxnLst/>
              <a:rect l="l" t="t" r="r" b="b"/>
              <a:pathLst>
                <a:path w="121285" h="41910">
                  <a:moveTo>
                    <a:pt x="120764" y="0"/>
                  </a:moveTo>
                  <a:lnTo>
                    <a:pt x="31445" y="0"/>
                  </a:lnTo>
                  <a:lnTo>
                    <a:pt x="0" y="41465"/>
                  </a:lnTo>
                  <a:lnTo>
                    <a:pt x="89077" y="41465"/>
                  </a:lnTo>
                  <a:lnTo>
                    <a:pt x="120764" y="0"/>
                  </a:lnTo>
                  <a:close/>
                </a:path>
              </a:pathLst>
            </a:custGeom>
            <a:solidFill>
              <a:srgbClr val="E0E6E2"/>
            </a:solidFill>
          </p:spPr>
          <p:txBody>
            <a:bodyPr wrap="square" lIns="0" tIns="0" rIns="0" bIns="0" rtlCol="0"/>
            <a:lstStyle/>
            <a:p/>
          </p:txBody>
        </p:sp>
        <p:sp>
          <p:nvSpPr>
            <p:cNvPr id="17" name="object 17" descr=""/>
            <p:cNvSpPr/>
            <p:nvPr/>
          </p:nvSpPr>
          <p:spPr>
            <a:xfrm>
              <a:off x="3552410" y="3719358"/>
              <a:ext cx="123825" cy="45085"/>
            </a:xfrm>
            <a:custGeom>
              <a:avLst/>
              <a:gdLst/>
              <a:ahLst/>
              <a:cxnLst/>
              <a:rect l="l" t="t" r="r" b="b"/>
              <a:pathLst>
                <a:path w="123825" h="45085">
                  <a:moveTo>
                    <a:pt x="123812" y="0"/>
                  </a:moveTo>
                  <a:lnTo>
                    <a:pt x="31902" y="0"/>
                  </a:lnTo>
                  <a:lnTo>
                    <a:pt x="0" y="42646"/>
                  </a:lnTo>
                  <a:lnTo>
                    <a:pt x="177" y="44488"/>
                  </a:lnTo>
                  <a:lnTo>
                    <a:pt x="90474" y="44488"/>
                  </a:lnTo>
                  <a:lnTo>
                    <a:pt x="92205" y="42176"/>
                  </a:lnTo>
                  <a:lnTo>
                    <a:pt x="3517" y="42176"/>
                  </a:lnTo>
                  <a:lnTo>
                    <a:pt x="33032" y="2374"/>
                  </a:lnTo>
                  <a:lnTo>
                    <a:pt x="121999" y="2374"/>
                  </a:lnTo>
                  <a:lnTo>
                    <a:pt x="123812" y="0"/>
                  </a:lnTo>
                  <a:close/>
                </a:path>
                <a:path w="123825" h="45085">
                  <a:moveTo>
                    <a:pt x="121999" y="2374"/>
                  </a:moveTo>
                  <a:lnTo>
                    <a:pt x="119037" y="2374"/>
                  </a:lnTo>
                  <a:lnTo>
                    <a:pt x="89280" y="42176"/>
                  </a:lnTo>
                  <a:lnTo>
                    <a:pt x="92205" y="42176"/>
                  </a:lnTo>
                  <a:lnTo>
                    <a:pt x="121999" y="2374"/>
                  </a:lnTo>
                  <a:close/>
                </a:path>
              </a:pathLst>
            </a:custGeom>
            <a:solidFill>
              <a:srgbClr val="879C82"/>
            </a:solidFill>
          </p:spPr>
          <p:txBody>
            <a:bodyPr wrap="square" lIns="0" tIns="0" rIns="0" bIns="0" rtlCol="0"/>
            <a:lstStyle/>
            <a:p/>
          </p:txBody>
        </p:sp>
        <p:sp>
          <p:nvSpPr>
            <p:cNvPr id="18" name="object 18" descr=""/>
            <p:cNvSpPr/>
            <p:nvPr/>
          </p:nvSpPr>
          <p:spPr>
            <a:xfrm>
              <a:off x="3642732" y="3720364"/>
              <a:ext cx="31750" cy="467359"/>
            </a:xfrm>
            <a:custGeom>
              <a:avLst/>
              <a:gdLst/>
              <a:ahLst/>
              <a:cxnLst/>
              <a:rect l="l" t="t" r="r" b="b"/>
              <a:pathLst>
                <a:path w="31750" h="467360">
                  <a:moveTo>
                    <a:pt x="31457" y="0"/>
                  </a:moveTo>
                  <a:lnTo>
                    <a:pt x="0" y="42240"/>
                  </a:lnTo>
                  <a:lnTo>
                    <a:pt x="0" y="467258"/>
                  </a:lnTo>
                  <a:lnTo>
                    <a:pt x="31457" y="425069"/>
                  </a:lnTo>
                  <a:lnTo>
                    <a:pt x="31457" y="0"/>
                  </a:lnTo>
                  <a:close/>
                </a:path>
              </a:pathLst>
            </a:custGeom>
            <a:ln w="4762">
              <a:solidFill>
                <a:srgbClr val="879C82"/>
              </a:solidFill>
            </a:ln>
          </p:spPr>
          <p:txBody>
            <a:bodyPr wrap="square" lIns="0" tIns="0" rIns="0" bIns="0" rtlCol="0"/>
            <a:lstStyle/>
            <a:p/>
          </p:txBody>
        </p:sp>
        <p:sp>
          <p:nvSpPr>
            <p:cNvPr id="19" name="object 19" descr=""/>
            <p:cNvSpPr/>
            <p:nvPr/>
          </p:nvSpPr>
          <p:spPr>
            <a:xfrm>
              <a:off x="3561537" y="385083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0" name="object 20" descr=""/>
            <p:cNvSpPr/>
            <p:nvPr/>
          </p:nvSpPr>
          <p:spPr>
            <a:xfrm>
              <a:off x="3560533" y="3849814"/>
              <a:ext cx="28575" cy="45720"/>
            </a:xfrm>
            <a:custGeom>
              <a:avLst/>
              <a:gdLst/>
              <a:ahLst/>
              <a:cxnLst/>
              <a:rect l="l" t="t" r="r" b="b"/>
              <a:pathLst>
                <a:path w="28575" h="45720">
                  <a:moveTo>
                    <a:pt x="28409" y="0"/>
                  </a:moveTo>
                  <a:lnTo>
                    <a:pt x="0" y="0"/>
                  </a:lnTo>
                  <a:lnTo>
                    <a:pt x="0" y="45516"/>
                  </a:lnTo>
                  <a:lnTo>
                    <a:pt x="28409" y="45516"/>
                  </a:lnTo>
                  <a:lnTo>
                    <a:pt x="28409" y="44246"/>
                  </a:lnTo>
                  <a:lnTo>
                    <a:pt x="1257" y="44246"/>
                  </a:lnTo>
                  <a:lnTo>
                    <a:pt x="1257" y="1168"/>
                  </a:lnTo>
                  <a:lnTo>
                    <a:pt x="28409" y="1168"/>
                  </a:lnTo>
                  <a:lnTo>
                    <a:pt x="28409" y="0"/>
                  </a:lnTo>
                  <a:close/>
                </a:path>
                <a:path w="28575" h="45720">
                  <a:moveTo>
                    <a:pt x="28409" y="1168"/>
                  </a:moveTo>
                  <a:lnTo>
                    <a:pt x="27165" y="1168"/>
                  </a:lnTo>
                  <a:lnTo>
                    <a:pt x="27165" y="44246"/>
                  </a:lnTo>
                  <a:lnTo>
                    <a:pt x="28409" y="44246"/>
                  </a:lnTo>
                  <a:lnTo>
                    <a:pt x="28409" y="1168"/>
                  </a:lnTo>
                  <a:close/>
                </a:path>
              </a:pathLst>
            </a:custGeom>
            <a:solidFill>
              <a:srgbClr val="879C82"/>
            </a:solidFill>
          </p:spPr>
          <p:txBody>
            <a:bodyPr wrap="square" lIns="0" tIns="0" rIns="0" bIns="0" rtlCol="0"/>
            <a:lstStyle/>
            <a:p/>
          </p:txBody>
        </p:sp>
        <p:sp>
          <p:nvSpPr>
            <p:cNvPr id="21" name="object 21" descr=""/>
            <p:cNvSpPr/>
            <p:nvPr/>
          </p:nvSpPr>
          <p:spPr>
            <a:xfrm>
              <a:off x="3603155" y="385083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2" name="object 22" descr=""/>
            <p:cNvSpPr/>
            <p:nvPr/>
          </p:nvSpPr>
          <p:spPr>
            <a:xfrm>
              <a:off x="3602139" y="3849814"/>
              <a:ext cx="28575" cy="45720"/>
            </a:xfrm>
            <a:custGeom>
              <a:avLst/>
              <a:gdLst/>
              <a:ahLst/>
              <a:cxnLst/>
              <a:rect l="l" t="t" r="r" b="b"/>
              <a:pathLst>
                <a:path w="28575" h="45720">
                  <a:moveTo>
                    <a:pt x="28409" y="0"/>
                  </a:moveTo>
                  <a:lnTo>
                    <a:pt x="0" y="0"/>
                  </a:lnTo>
                  <a:lnTo>
                    <a:pt x="0" y="45516"/>
                  </a:lnTo>
                  <a:lnTo>
                    <a:pt x="28409" y="45516"/>
                  </a:lnTo>
                  <a:lnTo>
                    <a:pt x="28409" y="44246"/>
                  </a:lnTo>
                  <a:lnTo>
                    <a:pt x="1257" y="44246"/>
                  </a:lnTo>
                  <a:lnTo>
                    <a:pt x="1257" y="1168"/>
                  </a:lnTo>
                  <a:lnTo>
                    <a:pt x="28409" y="1168"/>
                  </a:lnTo>
                  <a:lnTo>
                    <a:pt x="28409" y="0"/>
                  </a:lnTo>
                  <a:close/>
                </a:path>
                <a:path w="28575" h="45720">
                  <a:moveTo>
                    <a:pt x="28409" y="1168"/>
                  </a:moveTo>
                  <a:lnTo>
                    <a:pt x="27165" y="1168"/>
                  </a:lnTo>
                  <a:lnTo>
                    <a:pt x="27165" y="44246"/>
                  </a:lnTo>
                  <a:lnTo>
                    <a:pt x="28409" y="44246"/>
                  </a:lnTo>
                  <a:lnTo>
                    <a:pt x="28409" y="1168"/>
                  </a:lnTo>
                  <a:close/>
                </a:path>
              </a:pathLst>
            </a:custGeom>
            <a:solidFill>
              <a:srgbClr val="879C82"/>
            </a:solidFill>
          </p:spPr>
          <p:txBody>
            <a:bodyPr wrap="square" lIns="0" tIns="0" rIns="0" bIns="0" rtlCol="0"/>
            <a:lstStyle/>
            <a:p/>
          </p:txBody>
        </p:sp>
        <p:sp>
          <p:nvSpPr>
            <p:cNvPr id="23" name="object 23" descr=""/>
            <p:cNvSpPr/>
            <p:nvPr/>
          </p:nvSpPr>
          <p:spPr>
            <a:xfrm>
              <a:off x="3561537" y="392567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4" name="object 24" descr=""/>
            <p:cNvSpPr/>
            <p:nvPr/>
          </p:nvSpPr>
          <p:spPr>
            <a:xfrm>
              <a:off x="3560533" y="3924668"/>
              <a:ext cx="28575" cy="45085"/>
            </a:xfrm>
            <a:custGeom>
              <a:avLst/>
              <a:gdLst/>
              <a:ahLst/>
              <a:cxnLst/>
              <a:rect l="l" t="t" r="r" b="b"/>
              <a:pathLst>
                <a:path w="28575" h="45085">
                  <a:moveTo>
                    <a:pt x="28409" y="0"/>
                  </a:moveTo>
                  <a:lnTo>
                    <a:pt x="0" y="0"/>
                  </a:lnTo>
                  <a:lnTo>
                    <a:pt x="0" y="44500"/>
                  </a:lnTo>
                  <a:lnTo>
                    <a:pt x="28409" y="44500"/>
                  </a:lnTo>
                  <a:lnTo>
                    <a:pt x="28409" y="43370"/>
                  </a:lnTo>
                  <a:lnTo>
                    <a:pt x="1257" y="43370"/>
                  </a:lnTo>
                  <a:lnTo>
                    <a:pt x="1257" y="1181"/>
                  </a:lnTo>
                  <a:lnTo>
                    <a:pt x="28409" y="1181"/>
                  </a:lnTo>
                  <a:lnTo>
                    <a:pt x="28409" y="0"/>
                  </a:lnTo>
                  <a:close/>
                </a:path>
                <a:path w="28575" h="45085">
                  <a:moveTo>
                    <a:pt x="28409" y="1181"/>
                  </a:moveTo>
                  <a:lnTo>
                    <a:pt x="27165" y="1181"/>
                  </a:lnTo>
                  <a:lnTo>
                    <a:pt x="27165" y="43370"/>
                  </a:lnTo>
                  <a:lnTo>
                    <a:pt x="28409" y="43370"/>
                  </a:lnTo>
                  <a:lnTo>
                    <a:pt x="28409" y="1181"/>
                  </a:lnTo>
                  <a:close/>
                </a:path>
              </a:pathLst>
            </a:custGeom>
            <a:solidFill>
              <a:srgbClr val="879C82"/>
            </a:solidFill>
          </p:spPr>
          <p:txBody>
            <a:bodyPr wrap="square" lIns="0" tIns="0" rIns="0" bIns="0" rtlCol="0"/>
            <a:lstStyle/>
            <a:p/>
          </p:txBody>
        </p:sp>
        <p:sp>
          <p:nvSpPr>
            <p:cNvPr id="25" name="object 25" descr=""/>
            <p:cNvSpPr/>
            <p:nvPr/>
          </p:nvSpPr>
          <p:spPr>
            <a:xfrm>
              <a:off x="3603155" y="392567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6" name="object 26" descr=""/>
            <p:cNvSpPr/>
            <p:nvPr/>
          </p:nvSpPr>
          <p:spPr>
            <a:xfrm>
              <a:off x="3602139" y="3924668"/>
              <a:ext cx="28575" cy="45085"/>
            </a:xfrm>
            <a:custGeom>
              <a:avLst/>
              <a:gdLst/>
              <a:ahLst/>
              <a:cxnLst/>
              <a:rect l="l" t="t" r="r" b="b"/>
              <a:pathLst>
                <a:path w="28575" h="45085">
                  <a:moveTo>
                    <a:pt x="28409" y="0"/>
                  </a:moveTo>
                  <a:lnTo>
                    <a:pt x="0" y="0"/>
                  </a:lnTo>
                  <a:lnTo>
                    <a:pt x="0" y="44500"/>
                  </a:lnTo>
                  <a:lnTo>
                    <a:pt x="28409" y="44500"/>
                  </a:lnTo>
                  <a:lnTo>
                    <a:pt x="28409" y="43370"/>
                  </a:lnTo>
                  <a:lnTo>
                    <a:pt x="1257" y="43370"/>
                  </a:lnTo>
                  <a:lnTo>
                    <a:pt x="1257" y="1181"/>
                  </a:lnTo>
                  <a:lnTo>
                    <a:pt x="28409" y="1181"/>
                  </a:lnTo>
                  <a:lnTo>
                    <a:pt x="28409" y="0"/>
                  </a:lnTo>
                  <a:close/>
                </a:path>
                <a:path w="28575" h="45085">
                  <a:moveTo>
                    <a:pt x="28409" y="1181"/>
                  </a:moveTo>
                  <a:lnTo>
                    <a:pt x="27165" y="1181"/>
                  </a:lnTo>
                  <a:lnTo>
                    <a:pt x="27165" y="43370"/>
                  </a:lnTo>
                  <a:lnTo>
                    <a:pt x="28409" y="43370"/>
                  </a:lnTo>
                  <a:lnTo>
                    <a:pt x="28409" y="1181"/>
                  </a:lnTo>
                  <a:close/>
                </a:path>
              </a:pathLst>
            </a:custGeom>
            <a:solidFill>
              <a:srgbClr val="879C82"/>
            </a:solidFill>
          </p:spPr>
          <p:txBody>
            <a:bodyPr wrap="square" lIns="0" tIns="0" rIns="0" bIns="0" rtlCol="0"/>
            <a:lstStyle/>
            <a:p/>
          </p:txBody>
        </p:sp>
        <p:sp>
          <p:nvSpPr>
            <p:cNvPr id="27" name="object 27" descr=""/>
            <p:cNvSpPr/>
            <p:nvPr/>
          </p:nvSpPr>
          <p:spPr>
            <a:xfrm>
              <a:off x="3561537" y="400051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8" name="object 28" descr=""/>
            <p:cNvSpPr/>
            <p:nvPr/>
          </p:nvSpPr>
          <p:spPr>
            <a:xfrm>
              <a:off x="3560533" y="3999509"/>
              <a:ext cx="28575" cy="45085"/>
            </a:xfrm>
            <a:custGeom>
              <a:avLst/>
              <a:gdLst/>
              <a:ahLst/>
              <a:cxnLst/>
              <a:rect l="l" t="t" r="r" b="b"/>
              <a:pathLst>
                <a:path w="28575" h="45085">
                  <a:moveTo>
                    <a:pt x="28409" y="0"/>
                  </a:moveTo>
                  <a:lnTo>
                    <a:pt x="0" y="0"/>
                  </a:lnTo>
                  <a:lnTo>
                    <a:pt x="0" y="44500"/>
                  </a:lnTo>
                  <a:lnTo>
                    <a:pt x="28409" y="44500"/>
                  </a:lnTo>
                  <a:lnTo>
                    <a:pt x="28409" y="43306"/>
                  </a:lnTo>
                  <a:lnTo>
                    <a:pt x="1257" y="43306"/>
                  </a:lnTo>
                  <a:lnTo>
                    <a:pt x="1257" y="1181"/>
                  </a:lnTo>
                  <a:lnTo>
                    <a:pt x="28409" y="1181"/>
                  </a:lnTo>
                  <a:lnTo>
                    <a:pt x="28409" y="0"/>
                  </a:lnTo>
                  <a:close/>
                </a:path>
                <a:path w="28575" h="45085">
                  <a:moveTo>
                    <a:pt x="28409" y="1181"/>
                  </a:moveTo>
                  <a:lnTo>
                    <a:pt x="27165" y="1181"/>
                  </a:lnTo>
                  <a:lnTo>
                    <a:pt x="27165" y="43306"/>
                  </a:lnTo>
                  <a:lnTo>
                    <a:pt x="28409" y="43306"/>
                  </a:lnTo>
                  <a:lnTo>
                    <a:pt x="28409" y="1181"/>
                  </a:lnTo>
                  <a:close/>
                </a:path>
              </a:pathLst>
            </a:custGeom>
            <a:solidFill>
              <a:srgbClr val="879C82"/>
            </a:solidFill>
          </p:spPr>
          <p:txBody>
            <a:bodyPr wrap="square" lIns="0" tIns="0" rIns="0" bIns="0" rtlCol="0"/>
            <a:lstStyle/>
            <a:p/>
          </p:txBody>
        </p:sp>
        <p:sp>
          <p:nvSpPr>
            <p:cNvPr id="29" name="object 29" descr=""/>
            <p:cNvSpPr/>
            <p:nvPr/>
          </p:nvSpPr>
          <p:spPr>
            <a:xfrm>
              <a:off x="3603155" y="400051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30" name="object 30" descr=""/>
            <p:cNvSpPr/>
            <p:nvPr/>
          </p:nvSpPr>
          <p:spPr>
            <a:xfrm>
              <a:off x="3602139" y="3999509"/>
              <a:ext cx="28575" cy="45085"/>
            </a:xfrm>
            <a:custGeom>
              <a:avLst/>
              <a:gdLst/>
              <a:ahLst/>
              <a:cxnLst/>
              <a:rect l="l" t="t" r="r" b="b"/>
              <a:pathLst>
                <a:path w="28575" h="45085">
                  <a:moveTo>
                    <a:pt x="28409" y="0"/>
                  </a:moveTo>
                  <a:lnTo>
                    <a:pt x="0" y="0"/>
                  </a:lnTo>
                  <a:lnTo>
                    <a:pt x="0" y="44500"/>
                  </a:lnTo>
                  <a:lnTo>
                    <a:pt x="28409" y="44500"/>
                  </a:lnTo>
                  <a:lnTo>
                    <a:pt x="28409" y="43306"/>
                  </a:lnTo>
                  <a:lnTo>
                    <a:pt x="1257" y="43306"/>
                  </a:lnTo>
                  <a:lnTo>
                    <a:pt x="1257" y="1181"/>
                  </a:lnTo>
                  <a:lnTo>
                    <a:pt x="28409" y="1181"/>
                  </a:lnTo>
                  <a:lnTo>
                    <a:pt x="28409" y="0"/>
                  </a:lnTo>
                  <a:close/>
                </a:path>
                <a:path w="28575" h="45085">
                  <a:moveTo>
                    <a:pt x="28409" y="1181"/>
                  </a:moveTo>
                  <a:lnTo>
                    <a:pt x="27165" y="1181"/>
                  </a:lnTo>
                  <a:lnTo>
                    <a:pt x="27165" y="43306"/>
                  </a:lnTo>
                  <a:lnTo>
                    <a:pt x="28409" y="43306"/>
                  </a:lnTo>
                  <a:lnTo>
                    <a:pt x="28409" y="1181"/>
                  </a:lnTo>
                  <a:close/>
                </a:path>
              </a:pathLst>
            </a:custGeom>
            <a:solidFill>
              <a:srgbClr val="879C82"/>
            </a:solidFill>
          </p:spPr>
          <p:txBody>
            <a:bodyPr wrap="square" lIns="0" tIns="0" rIns="0" bIns="0" rtlCol="0"/>
            <a:lstStyle/>
            <a:p/>
          </p:txBody>
        </p:sp>
        <p:sp>
          <p:nvSpPr>
            <p:cNvPr id="31" name="object 31" descr=""/>
            <p:cNvSpPr/>
            <p:nvPr/>
          </p:nvSpPr>
          <p:spPr>
            <a:xfrm>
              <a:off x="3642728" y="3350196"/>
              <a:ext cx="174625" cy="837565"/>
            </a:xfrm>
            <a:custGeom>
              <a:avLst/>
              <a:gdLst/>
              <a:ahLst/>
              <a:cxnLst/>
              <a:rect l="l" t="t" r="r" b="b"/>
              <a:pathLst>
                <a:path w="174625" h="837564">
                  <a:moveTo>
                    <a:pt x="174548" y="0"/>
                  </a:moveTo>
                  <a:lnTo>
                    <a:pt x="0" y="0"/>
                  </a:lnTo>
                  <a:lnTo>
                    <a:pt x="0" y="837412"/>
                  </a:lnTo>
                  <a:lnTo>
                    <a:pt x="174548" y="837412"/>
                  </a:lnTo>
                  <a:lnTo>
                    <a:pt x="174548" y="0"/>
                  </a:lnTo>
                  <a:close/>
                </a:path>
              </a:pathLst>
            </a:custGeom>
            <a:solidFill>
              <a:srgbClr val="BFCCC0"/>
            </a:solidFill>
          </p:spPr>
          <p:txBody>
            <a:bodyPr wrap="square" lIns="0" tIns="0" rIns="0" bIns="0" rtlCol="0"/>
            <a:lstStyle/>
            <a:p/>
          </p:txBody>
        </p:sp>
        <p:sp>
          <p:nvSpPr>
            <p:cNvPr id="32" name="object 32" descr=""/>
            <p:cNvSpPr/>
            <p:nvPr/>
          </p:nvSpPr>
          <p:spPr>
            <a:xfrm>
              <a:off x="3641699" y="3349319"/>
              <a:ext cx="177165" cy="839469"/>
            </a:xfrm>
            <a:custGeom>
              <a:avLst/>
              <a:gdLst/>
              <a:ahLst/>
              <a:cxnLst/>
              <a:rect l="l" t="t" r="r" b="b"/>
              <a:pathLst>
                <a:path w="177164" h="839470">
                  <a:moveTo>
                    <a:pt x="176580" y="0"/>
                  </a:moveTo>
                  <a:lnTo>
                    <a:pt x="174193" y="0"/>
                  </a:lnTo>
                  <a:lnTo>
                    <a:pt x="174193" y="2540"/>
                  </a:lnTo>
                  <a:lnTo>
                    <a:pt x="174193" y="836930"/>
                  </a:lnTo>
                  <a:lnTo>
                    <a:pt x="2387" y="836930"/>
                  </a:lnTo>
                  <a:lnTo>
                    <a:pt x="2387" y="2540"/>
                  </a:lnTo>
                  <a:lnTo>
                    <a:pt x="174193" y="2540"/>
                  </a:lnTo>
                  <a:lnTo>
                    <a:pt x="174193" y="0"/>
                  </a:lnTo>
                  <a:lnTo>
                    <a:pt x="482" y="0"/>
                  </a:lnTo>
                  <a:lnTo>
                    <a:pt x="482" y="2540"/>
                  </a:lnTo>
                  <a:lnTo>
                    <a:pt x="241" y="2540"/>
                  </a:lnTo>
                  <a:lnTo>
                    <a:pt x="241" y="836930"/>
                  </a:lnTo>
                  <a:lnTo>
                    <a:pt x="0" y="836930"/>
                  </a:lnTo>
                  <a:lnTo>
                    <a:pt x="0" y="839470"/>
                  </a:lnTo>
                  <a:lnTo>
                    <a:pt x="176580" y="839470"/>
                  </a:lnTo>
                  <a:lnTo>
                    <a:pt x="176580" y="836942"/>
                  </a:lnTo>
                  <a:lnTo>
                    <a:pt x="176580" y="2540"/>
                  </a:lnTo>
                  <a:lnTo>
                    <a:pt x="176580" y="2260"/>
                  </a:lnTo>
                  <a:lnTo>
                    <a:pt x="176580" y="0"/>
                  </a:lnTo>
                  <a:close/>
                </a:path>
              </a:pathLst>
            </a:custGeom>
            <a:solidFill>
              <a:srgbClr val="879C82"/>
            </a:solidFill>
          </p:spPr>
          <p:txBody>
            <a:bodyPr wrap="square" lIns="0" tIns="0" rIns="0" bIns="0" rtlCol="0"/>
            <a:lstStyle/>
            <a:p/>
          </p:txBody>
        </p:sp>
        <p:pic>
          <p:nvPicPr>
            <p:cNvPr id="33" name="object 33" descr=""/>
            <p:cNvPicPr/>
            <p:nvPr/>
          </p:nvPicPr>
          <p:blipFill>
            <a:blip r:embed="rId5" cstate="print"/>
            <a:stretch>
              <a:fillRect/>
            </a:stretch>
          </p:blipFill>
          <p:spPr>
            <a:xfrm>
              <a:off x="3641712" y="3262218"/>
              <a:ext cx="242544" cy="89001"/>
            </a:xfrm>
            <a:prstGeom prst="rect">
              <a:avLst/>
            </a:prstGeom>
          </p:spPr>
        </p:pic>
        <p:sp>
          <p:nvSpPr>
            <p:cNvPr id="34" name="object 34" descr=""/>
            <p:cNvSpPr/>
            <p:nvPr/>
          </p:nvSpPr>
          <p:spPr>
            <a:xfrm>
              <a:off x="3817280" y="3263224"/>
              <a:ext cx="66040" cy="924560"/>
            </a:xfrm>
            <a:custGeom>
              <a:avLst/>
              <a:gdLst/>
              <a:ahLst/>
              <a:cxnLst/>
              <a:rect l="l" t="t" r="r" b="b"/>
              <a:pathLst>
                <a:path w="66039" h="924560">
                  <a:moveTo>
                    <a:pt x="65963" y="0"/>
                  </a:moveTo>
                  <a:lnTo>
                    <a:pt x="0" y="86969"/>
                  </a:lnTo>
                  <a:lnTo>
                    <a:pt x="0" y="924394"/>
                  </a:lnTo>
                  <a:lnTo>
                    <a:pt x="65722" y="845464"/>
                  </a:lnTo>
                  <a:lnTo>
                    <a:pt x="65963" y="0"/>
                  </a:lnTo>
                  <a:close/>
                </a:path>
              </a:pathLst>
            </a:custGeom>
            <a:solidFill>
              <a:srgbClr val="A5B8A6"/>
            </a:solidFill>
          </p:spPr>
          <p:txBody>
            <a:bodyPr wrap="square" lIns="0" tIns="0" rIns="0" bIns="0" rtlCol="0"/>
            <a:lstStyle/>
            <a:p/>
          </p:txBody>
        </p:sp>
        <p:sp>
          <p:nvSpPr>
            <p:cNvPr id="35" name="object 35" descr=""/>
            <p:cNvSpPr/>
            <p:nvPr/>
          </p:nvSpPr>
          <p:spPr>
            <a:xfrm>
              <a:off x="3816272" y="3262208"/>
              <a:ext cx="68580" cy="925830"/>
            </a:xfrm>
            <a:custGeom>
              <a:avLst/>
              <a:gdLst/>
              <a:ahLst/>
              <a:cxnLst/>
              <a:rect l="l" t="t" r="r" b="b"/>
              <a:pathLst>
                <a:path w="68579" h="925829">
                  <a:moveTo>
                    <a:pt x="65862" y="0"/>
                  </a:moveTo>
                  <a:lnTo>
                    <a:pt x="228" y="86867"/>
                  </a:lnTo>
                  <a:lnTo>
                    <a:pt x="0" y="87579"/>
                  </a:lnTo>
                  <a:lnTo>
                    <a:pt x="0" y="924636"/>
                  </a:lnTo>
                  <a:lnTo>
                    <a:pt x="2070" y="925410"/>
                  </a:lnTo>
                  <a:lnTo>
                    <a:pt x="5374" y="921423"/>
                  </a:lnTo>
                  <a:lnTo>
                    <a:pt x="2362" y="921423"/>
                  </a:lnTo>
                  <a:lnTo>
                    <a:pt x="2362" y="87934"/>
                  </a:lnTo>
                  <a:lnTo>
                    <a:pt x="65620" y="4229"/>
                  </a:lnTo>
                  <a:lnTo>
                    <a:pt x="67982" y="4229"/>
                  </a:lnTo>
                  <a:lnTo>
                    <a:pt x="67983" y="660"/>
                  </a:lnTo>
                  <a:lnTo>
                    <a:pt x="65862" y="0"/>
                  </a:lnTo>
                  <a:close/>
                </a:path>
                <a:path w="68579" h="925829">
                  <a:moveTo>
                    <a:pt x="67982" y="4229"/>
                  </a:moveTo>
                  <a:lnTo>
                    <a:pt x="65620" y="4229"/>
                  </a:lnTo>
                  <a:lnTo>
                    <a:pt x="65379" y="845324"/>
                  </a:lnTo>
                  <a:lnTo>
                    <a:pt x="2362" y="921423"/>
                  </a:lnTo>
                  <a:lnTo>
                    <a:pt x="5374" y="921423"/>
                  </a:lnTo>
                  <a:lnTo>
                    <a:pt x="67449" y="846518"/>
                  </a:lnTo>
                  <a:lnTo>
                    <a:pt x="67754" y="845743"/>
                  </a:lnTo>
                  <a:lnTo>
                    <a:pt x="67959" y="87934"/>
                  </a:lnTo>
                  <a:lnTo>
                    <a:pt x="67982" y="4229"/>
                  </a:lnTo>
                  <a:close/>
                </a:path>
              </a:pathLst>
            </a:custGeom>
            <a:solidFill>
              <a:srgbClr val="879C82"/>
            </a:solidFill>
          </p:spPr>
          <p:txBody>
            <a:bodyPr wrap="square" lIns="0" tIns="0" rIns="0" bIns="0" rtlCol="0"/>
            <a:lstStyle/>
            <a:p/>
          </p:txBody>
        </p:sp>
        <p:sp>
          <p:nvSpPr>
            <p:cNvPr id="36" name="object 36" descr=""/>
            <p:cNvSpPr/>
            <p:nvPr/>
          </p:nvSpPr>
          <p:spPr>
            <a:xfrm>
              <a:off x="3654907" y="3411892"/>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37" name="object 37" descr=""/>
            <p:cNvSpPr/>
            <p:nvPr/>
          </p:nvSpPr>
          <p:spPr>
            <a:xfrm>
              <a:off x="3653891" y="341189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93"/>
                  </a:lnTo>
                  <a:lnTo>
                    <a:pt x="28409" y="1193"/>
                  </a:lnTo>
                  <a:lnTo>
                    <a:pt x="28409" y="0"/>
                  </a:lnTo>
                  <a:close/>
                </a:path>
                <a:path w="28575" h="45085">
                  <a:moveTo>
                    <a:pt x="28409" y="1193"/>
                  </a:moveTo>
                  <a:lnTo>
                    <a:pt x="27216" y="1193"/>
                  </a:lnTo>
                  <a:lnTo>
                    <a:pt x="27216" y="43319"/>
                  </a:lnTo>
                  <a:lnTo>
                    <a:pt x="28409" y="43319"/>
                  </a:lnTo>
                  <a:lnTo>
                    <a:pt x="28409" y="1193"/>
                  </a:lnTo>
                  <a:close/>
                </a:path>
              </a:pathLst>
            </a:custGeom>
            <a:solidFill>
              <a:srgbClr val="879C82"/>
            </a:solidFill>
          </p:spPr>
          <p:txBody>
            <a:bodyPr wrap="square" lIns="0" tIns="0" rIns="0" bIns="0" rtlCol="0"/>
            <a:lstStyle/>
            <a:p/>
          </p:txBody>
        </p:sp>
        <p:sp>
          <p:nvSpPr>
            <p:cNvPr id="38" name="object 38" descr=""/>
            <p:cNvSpPr/>
            <p:nvPr/>
          </p:nvSpPr>
          <p:spPr>
            <a:xfrm>
              <a:off x="3696512" y="341189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39" name="object 39" descr=""/>
            <p:cNvSpPr/>
            <p:nvPr/>
          </p:nvSpPr>
          <p:spPr>
            <a:xfrm>
              <a:off x="3695496" y="341189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93"/>
                  </a:lnTo>
                  <a:lnTo>
                    <a:pt x="28409" y="1193"/>
                  </a:lnTo>
                  <a:lnTo>
                    <a:pt x="28409" y="0"/>
                  </a:lnTo>
                  <a:close/>
                </a:path>
                <a:path w="28575" h="45085">
                  <a:moveTo>
                    <a:pt x="28409" y="1193"/>
                  </a:moveTo>
                  <a:lnTo>
                    <a:pt x="27228" y="1193"/>
                  </a:lnTo>
                  <a:lnTo>
                    <a:pt x="27228" y="43319"/>
                  </a:lnTo>
                  <a:lnTo>
                    <a:pt x="28409" y="43319"/>
                  </a:lnTo>
                  <a:lnTo>
                    <a:pt x="28409" y="1193"/>
                  </a:lnTo>
                  <a:close/>
                </a:path>
              </a:pathLst>
            </a:custGeom>
            <a:solidFill>
              <a:srgbClr val="879C82"/>
            </a:solidFill>
          </p:spPr>
          <p:txBody>
            <a:bodyPr wrap="square" lIns="0" tIns="0" rIns="0" bIns="0" rtlCol="0"/>
            <a:lstStyle/>
            <a:p/>
          </p:txBody>
        </p:sp>
        <p:sp>
          <p:nvSpPr>
            <p:cNvPr id="40" name="object 40" descr=""/>
            <p:cNvSpPr/>
            <p:nvPr/>
          </p:nvSpPr>
          <p:spPr>
            <a:xfrm>
              <a:off x="3738117" y="341189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41" name="object 41" descr=""/>
            <p:cNvSpPr/>
            <p:nvPr/>
          </p:nvSpPr>
          <p:spPr>
            <a:xfrm>
              <a:off x="3737114" y="3411892"/>
              <a:ext cx="28575" cy="45085"/>
            </a:xfrm>
            <a:custGeom>
              <a:avLst/>
              <a:gdLst/>
              <a:ahLst/>
              <a:cxnLst/>
              <a:rect l="l" t="t" r="r" b="b"/>
              <a:pathLst>
                <a:path w="28575" h="45085">
                  <a:moveTo>
                    <a:pt x="28409" y="0"/>
                  </a:moveTo>
                  <a:lnTo>
                    <a:pt x="0" y="0"/>
                  </a:lnTo>
                  <a:lnTo>
                    <a:pt x="0" y="44500"/>
                  </a:lnTo>
                  <a:lnTo>
                    <a:pt x="28409" y="44500"/>
                  </a:lnTo>
                  <a:lnTo>
                    <a:pt x="28409" y="43319"/>
                  </a:lnTo>
                  <a:lnTo>
                    <a:pt x="1193" y="43319"/>
                  </a:lnTo>
                  <a:lnTo>
                    <a:pt x="1193" y="1193"/>
                  </a:lnTo>
                  <a:lnTo>
                    <a:pt x="28409" y="1193"/>
                  </a:lnTo>
                  <a:lnTo>
                    <a:pt x="28409" y="0"/>
                  </a:lnTo>
                  <a:close/>
                </a:path>
                <a:path w="28575" h="45085">
                  <a:moveTo>
                    <a:pt x="28409" y="1193"/>
                  </a:moveTo>
                  <a:lnTo>
                    <a:pt x="27216" y="1193"/>
                  </a:lnTo>
                  <a:lnTo>
                    <a:pt x="27216" y="43319"/>
                  </a:lnTo>
                  <a:lnTo>
                    <a:pt x="28409" y="43319"/>
                  </a:lnTo>
                  <a:lnTo>
                    <a:pt x="28409" y="1193"/>
                  </a:lnTo>
                  <a:close/>
                </a:path>
              </a:pathLst>
            </a:custGeom>
            <a:solidFill>
              <a:srgbClr val="879C82"/>
            </a:solidFill>
          </p:spPr>
          <p:txBody>
            <a:bodyPr wrap="square" lIns="0" tIns="0" rIns="0" bIns="0" rtlCol="0"/>
            <a:lstStyle/>
            <a:p/>
          </p:txBody>
        </p:sp>
        <p:sp>
          <p:nvSpPr>
            <p:cNvPr id="42" name="object 42" descr=""/>
            <p:cNvSpPr/>
            <p:nvPr/>
          </p:nvSpPr>
          <p:spPr>
            <a:xfrm>
              <a:off x="3779735" y="341189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43" name="object 43" descr=""/>
            <p:cNvSpPr/>
            <p:nvPr/>
          </p:nvSpPr>
          <p:spPr>
            <a:xfrm>
              <a:off x="3778719" y="3411892"/>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193"/>
                  </a:lnTo>
                  <a:lnTo>
                    <a:pt x="28409" y="1193"/>
                  </a:lnTo>
                  <a:lnTo>
                    <a:pt x="28409" y="0"/>
                  </a:lnTo>
                  <a:close/>
                </a:path>
                <a:path w="28575" h="45085">
                  <a:moveTo>
                    <a:pt x="28409" y="1193"/>
                  </a:moveTo>
                  <a:lnTo>
                    <a:pt x="27165" y="1193"/>
                  </a:lnTo>
                  <a:lnTo>
                    <a:pt x="27165" y="43319"/>
                  </a:lnTo>
                  <a:lnTo>
                    <a:pt x="28409" y="43319"/>
                  </a:lnTo>
                  <a:lnTo>
                    <a:pt x="28409" y="1193"/>
                  </a:lnTo>
                  <a:close/>
                </a:path>
              </a:pathLst>
            </a:custGeom>
            <a:solidFill>
              <a:srgbClr val="879C82"/>
            </a:solidFill>
          </p:spPr>
          <p:txBody>
            <a:bodyPr wrap="square" lIns="0" tIns="0" rIns="0" bIns="0" rtlCol="0"/>
            <a:lstStyle/>
            <a:p/>
          </p:txBody>
        </p:sp>
        <p:sp>
          <p:nvSpPr>
            <p:cNvPr id="44" name="object 44" descr=""/>
            <p:cNvSpPr/>
            <p:nvPr/>
          </p:nvSpPr>
          <p:spPr>
            <a:xfrm>
              <a:off x="3654907" y="3485730"/>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45" name="object 45" descr=""/>
            <p:cNvSpPr/>
            <p:nvPr/>
          </p:nvSpPr>
          <p:spPr>
            <a:xfrm>
              <a:off x="3653891" y="3484714"/>
              <a:ext cx="28575" cy="45720"/>
            </a:xfrm>
            <a:custGeom>
              <a:avLst/>
              <a:gdLst/>
              <a:ahLst/>
              <a:cxnLst/>
              <a:rect l="l" t="t" r="r" b="b"/>
              <a:pathLst>
                <a:path w="28575" h="45720">
                  <a:moveTo>
                    <a:pt x="28409" y="0"/>
                  </a:moveTo>
                  <a:lnTo>
                    <a:pt x="0" y="0"/>
                  </a:lnTo>
                  <a:lnTo>
                    <a:pt x="0" y="45516"/>
                  </a:lnTo>
                  <a:lnTo>
                    <a:pt x="28409" y="45516"/>
                  </a:lnTo>
                  <a:lnTo>
                    <a:pt x="28409" y="44234"/>
                  </a:lnTo>
                  <a:lnTo>
                    <a:pt x="1206" y="44234"/>
                  </a:lnTo>
                  <a:lnTo>
                    <a:pt x="1206" y="1206"/>
                  </a:lnTo>
                  <a:lnTo>
                    <a:pt x="28409" y="1206"/>
                  </a:lnTo>
                  <a:lnTo>
                    <a:pt x="28409" y="0"/>
                  </a:lnTo>
                  <a:close/>
                </a:path>
                <a:path w="28575" h="45720">
                  <a:moveTo>
                    <a:pt x="28409" y="1206"/>
                  </a:moveTo>
                  <a:lnTo>
                    <a:pt x="27216" y="1206"/>
                  </a:lnTo>
                  <a:lnTo>
                    <a:pt x="27216" y="44234"/>
                  </a:lnTo>
                  <a:lnTo>
                    <a:pt x="28409" y="44234"/>
                  </a:lnTo>
                  <a:lnTo>
                    <a:pt x="28409" y="1206"/>
                  </a:lnTo>
                  <a:close/>
                </a:path>
              </a:pathLst>
            </a:custGeom>
            <a:solidFill>
              <a:srgbClr val="879C82"/>
            </a:solidFill>
          </p:spPr>
          <p:txBody>
            <a:bodyPr wrap="square" lIns="0" tIns="0" rIns="0" bIns="0" rtlCol="0"/>
            <a:lstStyle/>
            <a:p/>
          </p:txBody>
        </p:sp>
        <p:sp>
          <p:nvSpPr>
            <p:cNvPr id="46" name="object 46" descr=""/>
            <p:cNvSpPr/>
            <p:nvPr/>
          </p:nvSpPr>
          <p:spPr>
            <a:xfrm>
              <a:off x="3696512" y="348573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47" name="object 47" descr=""/>
            <p:cNvSpPr/>
            <p:nvPr/>
          </p:nvSpPr>
          <p:spPr>
            <a:xfrm>
              <a:off x="3695496" y="3484714"/>
              <a:ext cx="28575" cy="45720"/>
            </a:xfrm>
            <a:custGeom>
              <a:avLst/>
              <a:gdLst/>
              <a:ahLst/>
              <a:cxnLst/>
              <a:rect l="l" t="t" r="r" b="b"/>
              <a:pathLst>
                <a:path w="28575" h="45720">
                  <a:moveTo>
                    <a:pt x="28409" y="0"/>
                  </a:moveTo>
                  <a:lnTo>
                    <a:pt x="0" y="0"/>
                  </a:lnTo>
                  <a:lnTo>
                    <a:pt x="0" y="45516"/>
                  </a:lnTo>
                  <a:lnTo>
                    <a:pt x="28409" y="45516"/>
                  </a:lnTo>
                  <a:lnTo>
                    <a:pt x="28409" y="44234"/>
                  </a:lnTo>
                  <a:lnTo>
                    <a:pt x="1206" y="44234"/>
                  </a:lnTo>
                  <a:lnTo>
                    <a:pt x="1206" y="1206"/>
                  </a:lnTo>
                  <a:lnTo>
                    <a:pt x="28409" y="1206"/>
                  </a:lnTo>
                  <a:lnTo>
                    <a:pt x="28409" y="0"/>
                  </a:lnTo>
                  <a:close/>
                </a:path>
                <a:path w="28575" h="45720">
                  <a:moveTo>
                    <a:pt x="28409" y="1206"/>
                  </a:moveTo>
                  <a:lnTo>
                    <a:pt x="27228" y="1206"/>
                  </a:lnTo>
                  <a:lnTo>
                    <a:pt x="27228" y="44234"/>
                  </a:lnTo>
                  <a:lnTo>
                    <a:pt x="28409" y="44234"/>
                  </a:lnTo>
                  <a:lnTo>
                    <a:pt x="28409" y="1206"/>
                  </a:lnTo>
                  <a:close/>
                </a:path>
              </a:pathLst>
            </a:custGeom>
            <a:solidFill>
              <a:srgbClr val="879C82"/>
            </a:solidFill>
          </p:spPr>
          <p:txBody>
            <a:bodyPr wrap="square" lIns="0" tIns="0" rIns="0" bIns="0" rtlCol="0"/>
            <a:lstStyle/>
            <a:p/>
          </p:txBody>
        </p:sp>
        <p:sp>
          <p:nvSpPr>
            <p:cNvPr id="48" name="object 48" descr=""/>
            <p:cNvSpPr/>
            <p:nvPr/>
          </p:nvSpPr>
          <p:spPr>
            <a:xfrm>
              <a:off x="3738117" y="348573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49" name="object 49" descr=""/>
            <p:cNvSpPr/>
            <p:nvPr/>
          </p:nvSpPr>
          <p:spPr>
            <a:xfrm>
              <a:off x="3737114" y="3484714"/>
              <a:ext cx="28575" cy="45720"/>
            </a:xfrm>
            <a:custGeom>
              <a:avLst/>
              <a:gdLst/>
              <a:ahLst/>
              <a:cxnLst/>
              <a:rect l="l" t="t" r="r" b="b"/>
              <a:pathLst>
                <a:path w="28575" h="45720">
                  <a:moveTo>
                    <a:pt x="28409" y="0"/>
                  </a:moveTo>
                  <a:lnTo>
                    <a:pt x="0" y="0"/>
                  </a:lnTo>
                  <a:lnTo>
                    <a:pt x="0" y="45516"/>
                  </a:lnTo>
                  <a:lnTo>
                    <a:pt x="28409" y="45516"/>
                  </a:lnTo>
                  <a:lnTo>
                    <a:pt x="28409" y="44234"/>
                  </a:lnTo>
                  <a:lnTo>
                    <a:pt x="1193" y="44234"/>
                  </a:lnTo>
                  <a:lnTo>
                    <a:pt x="1193" y="1206"/>
                  </a:lnTo>
                  <a:lnTo>
                    <a:pt x="28409" y="1206"/>
                  </a:lnTo>
                  <a:lnTo>
                    <a:pt x="28409" y="0"/>
                  </a:lnTo>
                  <a:close/>
                </a:path>
                <a:path w="28575" h="45720">
                  <a:moveTo>
                    <a:pt x="28409" y="1206"/>
                  </a:moveTo>
                  <a:lnTo>
                    <a:pt x="27216" y="1206"/>
                  </a:lnTo>
                  <a:lnTo>
                    <a:pt x="27216" y="44234"/>
                  </a:lnTo>
                  <a:lnTo>
                    <a:pt x="28409" y="44234"/>
                  </a:lnTo>
                  <a:lnTo>
                    <a:pt x="28409" y="1206"/>
                  </a:lnTo>
                  <a:close/>
                </a:path>
              </a:pathLst>
            </a:custGeom>
            <a:solidFill>
              <a:srgbClr val="879C82"/>
            </a:solidFill>
          </p:spPr>
          <p:txBody>
            <a:bodyPr wrap="square" lIns="0" tIns="0" rIns="0" bIns="0" rtlCol="0"/>
            <a:lstStyle/>
            <a:p/>
          </p:txBody>
        </p:sp>
        <p:sp>
          <p:nvSpPr>
            <p:cNvPr id="50" name="object 50" descr=""/>
            <p:cNvSpPr/>
            <p:nvPr/>
          </p:nvSpPr>
          <p:spPr>
            <a:xfrm>
              <a:off x="3779735" y="348573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51" name="object 51" descr=""/>
            <p:cNvSpPr/>
            <p:nvPr/>
          </p:nvSpPr>
          <p:spPr>
            <a:xfrm>
              <a:off x="3778719" y="3484714"/>
              <a:ext cx="28575" cy="45720"/>
            </a:xfrm>
            <a:custGeom>
              <a:avLst/>
              <a:gdLst/>
              <a:ahLst/>
              <a:cxnLst/>
              <a:rect l="l" t="t" r="r" b="b"/>
              <a:pathLst>
                <a:path w="28575" h="45720">
                  <a:moveTo>
                    <a:pt x="28409" y="0"/>
                  </a:moveTo>
                  <a:lnTo>
                    <a:pt x="0" y="0"/>
                  </a:lnTo>
                  <a:lnTo>
                    <a:pt x="0" y="45516"/>
                  </a:lnTo>
                  <a:lnTo>
                    <a:pt x="28409" y="45516"/>
                  </a:lnTo>
                  <a:lnTo>
                    <a:pt x="28409" y="44234"/>
                  </a:lnTo>
                  <a:lnTo>
                    <a:pt x="1257" y="44234"/>
                  </a:lnTo>
                  <a:lnTo>
                    <a:pt x="1257" y="1206"/>
                  </a:lnTo>
                  <a:lnTo>
                    <a:pt x="28409" y="1206"/>
                  </a:lnTo>
                  <a:lnTo>
                    <a:pt x="28409" y="0"/>
                  </a:lnTo>
                  <a:close/>
                </a:path>
                <a:path w="28575" h="45720">
                  <a:moveTo>
                    <a:pt x="28409" y="1206"/>
                  </a:moveTo>
                  <a:lnTo>
                    <a:pt x="27165" y="1206"/>
                  </a:lnTo>
                  <a:lnTo>
                    <a:pt x="27165" y="44234"/>
                  </a:lnTo>
                  <a:lnTo>
                    <a:pt x="28409" y="44234"/>
                  </a:lnTo>
                  <a:lnTo>
                    <a:pt x="28409" y="1206"/>
                  </a:lnTo>
                  <a:close/>
                </a:path>
              </a:pathLst>
            </a:custGeom>
            <a:solidFill>
              <a:srgbClr val="879C82"/>
            </a:solidFill>
          </p:spPr>
          <p:txBody>
            <a:bodyPr wrap="square" lIns="0" tIns="0" rIns="0" bIns="0" rtlCol="0"/>
            <a:lstStyle/>
            <a:p/>
          </p:txBody>
        </p:sp>
        <p:sp>
          <p:nvSpPr>
            <p:cNvPr id="52" name="object 52" descr=""/>
            <p:cNvSpPr/>
            <p:nvPr/>
          </p:nvSpPr>
          <p:spPr>
            <a:xfrm>
              <a:off x="3654907" y="3559555"/>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53" name="object 53" descr=""/>
            <p:cNvSpPr/>
            <p:nvPr/>
          </p:nvSpPr>
          <p:spPr>
            <a:xfrm>
              <a:off x="3653891" y="3558539"/>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257"/>
                  </a:lnTo>
                  <a:lnTo>
                    <a:pt x="28409" y="1257"/>
                  </a:lnTo>
                  <a:lnTo>
                    <a:pt x="28409" y="0"/>
                  </a:lnTo>
                  <a:close/>
                </a:path>
                <a:path w="28575" h="45085">
                  <a:moveTo>
                    <a:pt x="28409" y="1257"/>
                  </a:moveTo>
                  <a:lnTo>
                    <a:pt x="27216" y="1257"/>
                  </a:lnTo>
                  <a:lnTo>
                    <a:pt x="27216" y="43319"/>
                  </a:lnTo>
                  <a:lnTo>
                    <a:pt x="28409" y="43319"/>
                  </a:lnTo>
                  <a:lnTo>
                    <a:pt x="28409" y="1257"/>
                  </a:lnTo>
                  <a:close/>
                </a:path>
              </a:pathLst>
            </a:custGeom>
            <a:solidFill>
              <a:srgbClr val="879C82"/>
            </a:solidFill>
          </p:spPr>
          <p:txBody>
            <a:bodyPr wrap="square" lIns="0" tIns="0" rIns="0" bIns="0" rtlCol="0"/>
            <a:lstStyle/>
            <a:p/>
          </p:txBody>
        </p:sp>
        <p:sp>
          <p:nvSpPr>
            <p:cNvPr id="54" name="object 54" descr=""/>
            <p:cNvSpPr/>
            <p:nvPr/>
          </p:nvSpPr>
          <p:spPr>
            <a:xfrm>
              <a:off x="3696512" y="355955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55" name="object 55" descr=""/>
            <p:cNvSpPr/>
            <p:nvPr/>
          </p:nvSpPr>
          <p:spPr>
            <a:xfrm>
              <a:off x="3695496" y="3558539"/>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257"/>
                  </a:lnTo>
                  <a:lnTo>
                    <a:pt x="28409" y="1257"/>
                  </a:lnTo>
                  <a:lnTo>
                    <a:pt x="28409" y="0"/>
                  </a:lnTo>
                  <a:close/>
                </a:path>
                <a:path w="28575" h="45085">
                  <a:moveTo>
                    <a:pt x="28409" y="1257"/>
                  </a:moveTo>
                  <a:lnTo>
                    <a:pt x="27228" y="1257"/>
                  </a:lnTo>
                  <a:lnTo>
                    <a:pt x="27228" y="43319"/>
                  </a:lnTo>
                  <a:lnTo>
                    <a:pt x="28409" y="43319"/>
                  </a:lnTo>
                  <a:lnTo>
                    <a:pt x="28409" y="1257"/>
                  </a:lnTo>
                  <a:close/>
                </a:path>
              </a:pathLst>
            </a:custGeom>
            <a:solidFill>
              <a:srgbClr val="879C82"/>
            </a:solidFill>
          </p:spPr>
          <p:txBody>
            <a:bodyPr wrap="square" lIns="0" tIns="0" rIns="0" bIns="0" rtlCol="0"/>
            <a:lstStyle/>
            <a:p/>
          </p:txBody>
        </p:sp>
        <p:sp>
          <p:nvSpPr>
            <p:cNvPr id="56" name="object 56" descr=""/>
            <p:cNvSpPr/>
            <p:nvPr/>
          </p:nvSpPr>
          <p:spPr>
            <a:xfrm>
              <a:off x="3738117" y="355955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57" name="object 57" descr=""/>
            <p:cNvSpPr/>
            <p:nvPr/>
          </p:nvSpPr>
          <p:spPr>
            <a:xfrm>
              <a:off x="3737114" y="3558539"/>
              <a:ext cx="28575" cy="45085"/>
            </a:xfrm>
            <a:custGeom>
              <a:avLst/>
              <a:gdLst/>
              <a:ahLst/>
              <a:cxnLst/>
              <a:rect l="l" t="t" r="r" b="b"/>
              <a:pathLst>
                <a:path w="28575" h="45085">
                  <a:moveTo>
                    <a:pt x="28409" y="0"/>
                  </a:moveTo>
                  <a:lnTo>
                    <a:pt x="0" y="0"/>
                  </a:lnTo>
                  <a:lnTo>
                    <a:pt x="0" y="44500"/>
                  </a:lnTo>
                  <a:lnTo>
                    <a:pt x="28409" y="44500"/>
                  </a:lnTo>
                  <a:lnTo>
                    <a:pt x="28409" y="43319"/>
                  </a:lnTo>
                  <a:lnTo>
                    <a:pt x="1193" y="43319"/>
                  </a:lnTo>
                  <a:lnTo>
                    <a:pt x="1193" y="1257"/>
                  </a:lnTo>
                  <a:lnTo>
                    <a:pt x="28409" y="1257"/>
                  </a:lnTo>
                  <a:lnTo>
                    <a:pt x="28409" y="0"/>
                  </a:lnTo>
                  <a:close/>
                </a:path>
                <a:path w="28575" h="45085">
                  <a:moveTo>
                    <a:pt x="28409" y="1257"/>
                  </a:moveTo>
                  <a:lnTo>
                    <a:pt x="27216" y="1257"/>
                  </a:lnTo>
                  <a:lnTo>
                    <a:pt x="27216" y="43319"/>
                  </a:lnTo>
                  <a:lnTo>
                    <a:pt x="28409" y="43319"/>
                  </a:lnTo>
                  <a:lnTo>
                    <a:pt x="28409" y="1257"/>
                  </a:lnTo>
                  <a:close/>
                </a:path>
              </a:pathLst>
            </a:custGeom>
            <a:solidFill>
              <a:srgbClr val="879C82"/>
            </a:solidFill>
          </p:spPr>
          <p:txBody>
            <a:bodyPr wrap="square" lIns="0" tIns="0" rIns="0" bIns="0" rtlCol="0"/>
            <a:lstStyle/>
            <a:p/>
          </p:txBody>
        </p:sp>
        <p:sp>
          <p:nvSpPr>
            <p:cNvPr id="58" name="object 58" descr=""/>
            <p:cNvSpPr/>
            <p:nvPr/>
          </p:nvSpPr>
          <p:spPr>
            <a:xfrm>
              <a:off x="3779735" y="355955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59" name="object 59" descr=""/>
            <p:cNvSpPr/>
            <p:nvPr/>
          </p:nvSpPr>
          <p:spPr>
            <a:xfrm>
              <a:off x="3778719" y="3558539"/>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257"/>
                  </a:lnTo>
                  <a:lnTo>
                    <a:pt x="28409" y="1257"/>
                  </a:lnTo>
                  <a:lnTo>
                    <a:pt x="28409" y="0"/>
                  </a:lnTo>
                  <a:close/>
                </a:path>
                <a:path w="28575" h="45085">
                  <a:moveTo>
                    <a:pt x="28409" y="1257"/>
                  </a:moveTo>
                  <a:lnTo>
                    <a:pt x="27165" y="1257"/>
                  </a:lnTo>
                  <a:lnTo>
                    <a:pt x="27165" y="43319"/>
                  </a:lnTo>
                  <a:lnTo>
                    <a:pt x="28409" y="43319"/>
                  </a:lnTo>
                  <a:lnTo>
                    <a:pt x="28409" y="1257"/>
                  </a:lnTo>
                  <a:close/>
                </a:path>
              </a:pathLst>
            </a:custGeom>
            <a:solidFill>
              <a:srgbClr val="879C82"/>
            </a:solidFill>
          </p:spPr>
          <p:txBody>
            <a:bodyPr wrap="square" lIns="0" tIns="0" rIns="0" bIns="0" rtlCol="0"/>
            <a:lstStyle/>
            <a:p/>
          </p:txBody>
        </p:sp>
        <p:sp>
          <p:nvSpPr>
            <p:cNvPr id="60" name="object 60" descr=""/>
            <p:cNvSpPr/>
            <p:nvPr/>
          </p:nvSpPr>
          <p:spPr>
            <a:xfrm>
              <a:off x="3654907" y="3633380"/>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61" name="object 61" descr=""/>
            <p:cNvSpPr/>
            <p:nvPr/>
          </p:nvSpPr>
          <p:spPr>
            <a:xfrm>
              <a:off x="3653891" y="3632377"/>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244"/>
                  </a:lnTo>
                  <a:lnTo>
                    <a:pt x="28409" y="1244"/>
                  </a:lnTo>
                  <a:lnTo>
                    <a:pt x="28409" y="0"/>
                  </a:lnTo>
                  <a:close/>
                </a:path>
                <a:path w="28575" h="45085">
                  <a:moveTo>
                    <a:pt x="28409" y="1244"/>
                  </a:moveTo>
                  <a:lnTo>
                    <a:pt x="27216" y="1244"/>
                  </a:lnTo>
                  <a:lnTo>
                    <a:pt x="27216" y="43306"/>
                  </a:lnTo>
                  <a:lnTo>
                    <a:pt x="28409" y="43306"/>
                  </a:lnTo>
                  <a:lnTo>
                    <a:pt x="28409" y="1244"/>
                  </a:lnTo>
                  <a:close/>
                </a:path>
              </a:pathLst>
            </a:custGeom>
            <a:solidFill>
              <a:srgbClr val="879C82"/>
            </a:solidFill>
          </p:spPr>
          <p:txBody>
            <a:bodyPr wrap="square" lIns="0" tIns="0" rIns="0" bIns="0" rtlCol="0"/>
            <a:lstStyle/>
            <a:p/>
          </p:txBody>
        </p:sp>
        <p:sp>
          <p:nvSpPr>
            <p:cNvPr id="62" name="object 62" descr=""/>
            <p:cNvSpPr/>
            <p:nvPr/>
          </p:nvSpPr>
          <p:spPr>
            <a:xfrm>
              <a:off x="3696512" y="363338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63" name="object 63" descr=""/>
            <p:cNvSpPr/>
            <p:nvPr/>
          </p:nvSpPr>
          <p:spPr>
            <a:xfrm>
              <a:off x="3695496" y="3632377"/>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244"/>
                  </a:lnTo>
                  <a:lnTo>
                    <a:pt x="28409" y="1244"/>
                  </a:lnTo>
                  <a:lnTo>
                    <a:pt x="28409" y="0"/>
                  </a:lnTo>
                  <a:close/>
                </a:path>
                <a:path w="28575" h="45085">
                  <a:moveTo>
                    <a:pt x="28409" y="1244"/>
                  </a:moveTo>
                  <a:lnTo>
                    <a:pt x="27228" y="1244"/>
                  </a:lnTo>
                  <a:lnTo>
                    <a:pt x="27228" y="43306"/>
                  </a:lnTo>
                  <a:lnTo>
                    <a:pt x="28409" y="43306"/>
                  </a:lnTo>
                  <a:lnTo>
                    <a:pt x="28409" y="1244"/>
                  </a:lnTo>
                  <a:close/>
                </a:path>
              </a:pathLst>
            </a:custGeom>
            <a:solidFill>
              <a:srgbClr val="879C82"/>
            </a:solidFill>
          </p:spPr>
          <p:txBody>
            <a:bodyPr wrap="square" lIns="0" tIns="0" rIns="0" bIns="0" rtlCol="0"/>
            <a:lstStyle/>
            <a:p/>
          </p:txBody>
        </p:sp>
        <p:sp>
          <p:nvSpPr>
            <p:cNvPr id="64" name="object 64" descr=""/>
            <p:cNvSpPr/>
            <p:nvPr/>
          </p:nvSpPr>
          <p:spPr>
            <a:xfrm>
              <a:off x="3738117" y="363338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65" name="object 65" descr=""/>
            <p:cNvSpPr/>
            <p:nvPr/>
          </p:nvSpPr>
          <p:spPr>
            <a:xfrm>
              <a:off x="3737114" y="3632377"/>
              <a:ext cx="28575" cy="45085"/>
            </a:xfrm>
            <a:custGeom>
              <a:avLst/>
              <a:gdLst/>
              <a:ahLst/>
              <a:cxnLst/>
              <a:rect l="l" t="t" r="r" b="b"/>
              <a:pathLst>
                <a:path w="28575" h="45085">
                  <a:moveTo>
                    <a:pt x="28409" y="0"/>
                  </a:moveTo>
                  <a:lnTo>
                    <a:pt x="0" y="0"/>
                  </a:lnTo>
                  <a:lnTo>
                    <a:pt x="0" y="44500"/>
                  </a:lnTo>
                  <a:lnTo>
                    <a:pt x="28409" y="44500"/>
                  </a:lnTo>
                  <a:lnTo>
                    <a:pt x="28409" y="43306"/>
                  </a:lnTo>
                  <a:lnTo>
                    <a:pt x="1193" y="43306"/>
                  </a:lnTo>
                  <a:lnTo>
                    <a:pt x="1193" y="1244"/>
                  </a:lnTo>
                  <a:lnTo>
                    <a:pt x="28409" y="1244"/>
                  </a:lnTo>
                  <a:lnTo>
                    <a:pt x="28409" y="0"/>
                  </a:lnTo>
                  <a:close/>
                </a:path>
                <a:path w="28575" h="45085">
                  <a:moveTo>
                    <a:pt x="28409" y="1244"/>
                  </a:moveTo>
                  <a:lnTo>
                    <a:pt x="27216" y="1244"/>
                  </a:lnTo>
                  <a:lnTo>
                    <a:pt x="27216" y="43306"/>
                  </a:lnTo>
                  <a:lnTo>
                    <a:pt x="28409" y="43306"/>
                  </a:lnTo>
                  <a:lnTo>
                    <a:pt x="28409" y="1244"/>
                  </a:lnTo>
                  <a:close/>
                </a:path>
              </a:pathLst>
            </a:custGeom>
            <a:solidFill>
              <a:srgbClr val="879C82"/>
            </a:solidFill>
          </p:spPr>
          <p:txBody>
            <a:bodyPr wrap="square" lIns="0" tIns="0" rIns="0" bIns="0" rtlCol="0"/>
            <a:lstStyle/>
            <a:p/>
          </p:txBody>
        </p:sp>
        <p:sp>
          <p:nvSpPr>
            <p:cNvPr id="66" name="object 66" descr=""/>
            <p:cNvSpPr/>
            <p:nvPr/>
          </p:nvSpPr>
          <p:spPr>
            <a:xfrm>
              <a:off x="3779735" y="363338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67" name="object 67" descr=""/>
            <p:cNvSpPr/>
            <p:nvPr/>
          </p:nvSpPr>
          <p:spPr>
            <a:xfrm>
              <a:off x="3778719" y="3632377"/>
              <a:ext cx="28575" cy="45085"/>
            </a:xfrm>
            <a:custGeom>
              <a:avLst/>
              <a:gdLst/>
              <a:ahLst/>
              <a:cxnLst/>
              <a:rect l="l" t="t" r="r" b="b"/>
              <a:pathLst>
                <a:path w="28575" h="45085">
                  <a:moveTo>
                    <a:pt x="28409" y="0"/>
                  </a:moveTo>
                  <a:lnTo>
                    <a:pt x="0" y="0"/>
                  </a:lnTo>
                  <a:lnTo>
                    <a:pt x="0" y="44500"/>
                  </a:lnTo>
                  <a:lnTo>
                    <a:pt x="28409" y="44500"/>
                  </a:lnTo>
                  <a:lnTo>
                    <a:pt x="28409" y="43306"/>
                  </a:lnTo>
                  <a:lnTo>
                    <a:pt x="1257" y="43306"/>
                  </a:lnTo>
                  <a:lnTo>
                    <a:pt x="1257" y="1244"/>
                  </a:lnTo>
                  <a:lnTo>
                    <a:pt x="28409" y="1244"/>
                  </a:lnTo>
                  <a:lnTo>
                    <a:pt x="28409" y="0"/>
                  </a:lnTo>
                  <a:close/>
                </a:path>
                <a:path w="28575" h="45085">
                  <a:moveTo>
                    <a:pt x="28409" y="1244"/>
                  </a:moveTo>
                  <a:lnTo>
                    <a:pt x="27165" y="1244"/>
                  </a:lnTo>
                  <a:lnTo>
                    <a:pt x="27165" y="43306"/>
                  </a:lnTo>
                  <a:lnTo>
                    <a:pt x="28409" y="43306"/>
                  </a:lnTo>
                  <a:lnTo>
                    <a:pt x="28409" y="1244"/>
                  </a:lnTo>
                  <a:close/>
                </a:path>
              </a:pathLst>
            </a:custGeom>
            <a:solidFill>
              <a:srgbClr val="879C82"/>
            </a:solidFill>
          </p:spPr>
          <p:txBody>
            <a:bodyPr wrap="square" lIns="0" tIns="0" rIns="0" bIns="0" rtlCol="0"/>
            <a:lstStyle/>
            <a:p/>
          </p:txBody>
        </p:sp>
        <p:sp>
          <p:nvSpPr>
            <p:cNvPr id="68" name="object 68" descr=""/>
            <p:cNvSpPr/>
            <p:nvPr/>
          </p:nvSpPr>
          <p:spPr>
            <a:xfrm>
              <a:off x="3654907" y="3706202"/>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69" name="object 69" descr=""/>
            <p:cNvSpPr/>
            <p:nvPr/>
          </p:nvSpPr>
          <p:spPr>
            <a:xfrm>
              <a:off x="3653891" y="370620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30"/>
                  </a:lnTo>
                  <a:lnTo>
                    <a:pt x="28409" y="1130"/>
                  </a:lnTo>
                  <a:lnTo>
                    <a:pt x="28409" y="0"/>
                  </a:lnTo>
                  <a:close/>
                </a:path>
                <a:path w="28575" h="45085">
                  <a:moveTo>
                    <a:pt x="28409" y="1130"/>
                  </a:moveTo>
                  <a:lnTo>
                    <a:pt x="27216" y="1130"/>
                  </a:lnTo>
                  <a:lnTo>
                    <a:pt x="27216" y="43319"/>
                  </a:lnTo>
                  <a:lnTo>
                    <a:pt x="28409" y="43319"/>
                  </a:lnTo>
                  <a:lnTo>
                    <a:pt x="28409" y="1130"/>
                  </a:lnTo>
                  <a:close/>
                </a:path>
              </a:pathLst>
            </a:custGeom>
            <a:solidFill>
              <a:srgbClr val="879C82"/>
            </a:solidFill>
          </p:spPr>
          <p:txBody>
            <a:bodyPr wrap="square" lIns="0" tIns="0" rIns="0" bIns="0" rtlCol="0"/>
            <a:lstStyle/>
            <a:p/>
          </p:txBody>
        </p:sp>
        <p:sp>
          <p:nvSpPr>
            <p:cNvPr id="70" name="object 70" descr=""/>
            <p:cNvSpPr/>
            <p:nvPr/>
          </p:nvSpPr>
          <p:spPr>
            <a:xfrm>
              <a:off x="3696512" y="370620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71" name="object 71" descr=""/>
            <p:cNvSpPr/>
            <p:nvPr/>
          </p:nvSpPr>
          <p:spPr>
            <a:xfrm>
              <a:off x="3695496" y="370620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30"/>
                  </a:lnTo>
                  <a:lnTo>
                    <a:pt x="28409" y="1130"/>
                  </a:lnTo>
                  <a:lnTo>
                    <a:pt x="28409" y="0"/>
                  </a:lnTo>
                  <a:close/>
                </a:path>
                <a:path w="28575" h="45085">
                  <a:moveTo>
                    <a:pt x="28409" y="1130"/>
                  </a:moveTo>
                  <a:lnTo>
                    <a:pt x="27228" y="1130"/>
                  </a:lnTo>
                  <a:lnTo>
                    <a:pt x="27228" y="43319"/>
                  </a:lnTo>
                  <a:lnTo>
                    <a:pt x="28409" y="43319"/>
                  </a:lnTo>
                  <a:lnTo>
                    <a:pt x="28409" y="1130"/>
                  </a:lnTo>
                  <a:close/>
                </a:path>
              </a:pathLst>
            </a:custGeom>
            <a:solidFill>
              <a:srgbClr val="879C82"/>
            </a:solidFill>
          </p:spPr>
          <p:txBody>
            <a:bodyPr wrap="square" lIns="0" tIns="0" rIns="0" bIns="0" rtlCol="0"/>
            <a:lstStyle/>
            <a:p/>
          </p:txBody>
        </p:sp>
        <p:sp>
          <p:nvSpPr>
            <p:cNvPr id="72" name="object 72" descr=""/>
            <p:cNvSpPr/>
            <p:nvPr/>
          </p:nvSpPr>
          <p:spPr>
            <a:xfrm>
              <a:off x="3738117" y="370620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73" name="object 73" descr=""/>
            <p:cNvSpPr/>
            <p:nvPr/>
          </p:nvSpPr>
          <p:spPr>
            <a:xfrm>
              <a:off x="3737114" y="3706202"/>
              <a:ext cx="28575" cy="45085"/>
            </a:xfrm>
            <a:custGeom>
              <a:avLst/>
              <a:gdLst/>
              <a:ahLst/>
              <a:cxnLst/>
              <a:rect l="l" t="t" r="r" b="b"/>
              <a:pathLst>
                <a:path w="28575" h="45085">
                  <a:moveTo>
                    <a:pt x="28409" y="0"/>
                  </a:moveTo>
                  <a:lnTo>
                    <a:pt x="0" y="0"/>
                  </a:lnTo>
                  <a:lnTo>
                    <a:pt x="0" y="44500"/>
                  </a:lnTo>
                  <a:lnTo>
                    <a:pt x="28409" y="44500"/>
                  </a:lnTo>
                  <a:lnTo>
                    <a:pt x="28409" y="43319"/>
                  </a:lnTo>
                  <a:lnTo>
                    <a:pt x="1193" y="43319"/>
                  </a:lnTo>
                  <a:lnTo>
                    <a:pt x="1193" y="1130"/>
                  </a:lnTo>
                  <a:lnTo>
                    <a:pt x="28409" y="1130"/>
                  </a:lnTo>
                  <a:lnTo>
                    <a:pt x="28409" y="0"/>
                  </a:lnTo>
                  <a:close/>
                </a:path>
                <a:path w="28575" h="45085">
                  <a:moveTo>
                    <a:pt x="28409" y="1130"/>
                  </a:moveTo>
                  <a:lnTo>
                    <a:pt x="27216" y="1130"/>
                  </a:lnTo>
                  <a:lnTo>
                    <a:pt x="27216" y="43319"/>
                  </a:lnTo>
                  <a:lnTo>
                    <a:pt x="28409" y="43319"/>
                  </a:lnTo>
                  <a:lnTo>
                    <a:pt x="28409" y="1130"/>
                  </a:lnTo>
                  <a:close/>
                </a:path>
              </a:pathLst>
            </a:custGeom>
            <a:solidFill>
              <a:srgbClr val="879C82"/>
            </a:solidFill>
          </p:spPr>
          <p:txBody>
            <a:bodyPr wrap="square" lIns="0" tIns="0" rIns="0" bIns="0" rtlCol="0"/>
            <a:lstStyle/>
            <a:p/>
          </p:txBody>
        </p:sp>
        <p:sp>
          <p:nvSpPr>
            <p:cNvPr id="74" name="object 74" descr=""/>
            <p:cNvSpPr/>
            <p:nvPr/>
          </p:nvSpPr>
          <p:spPr>
            <a:xfrm>
              <a:off x="3779735" y="370620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75" name="object 75" descr=""/>
            <p:cNvSpPr/>
            <p:nvPr/>
          </p:nvSpPr>
          <p:spPr>
            <a:xfrm>
              <a:off x="3778719" y="3706202"/>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130"/>
                  </a:lnTo>
                  <a:lnTo>
                    <a:pt x="28409" y="1130"/>
                  </a:lnTo>
                  <a:lnTo>
                    <a:pt x="28409" y="0"/>
                  </a:lnTo>
                  <a:close/>
                </a:path>
                <a:path w="28575" h="45085">
                  <a:moveTo>
                    <a:pt x="28409" y="1130"/>
                  </a:moveTo>
                  <a:lnTo>
                    <a:pt x="27165" y="1130"/>
                  </a:lnTo>
                  <a:lnTo>
                    <a:pt x="27165" y="43319"/>
                  </a:lnTo>
                  <a:lnTo>
                    <a:pt x="28409" y="43319"/>
                  </a:lnTo>
                  <a:lnTo>
                    <a:pt x="28409" y="1130"/>
                  </a:lnTo>
                  <a:close/>
                </a:path>
              </a:pathLst>
            </a:custGeom>
            <a:solidFill>
              <a:srgbClr val="879C82"/>
            </a:solidFill>
          </p:spPr>
          <p:txBody>
            <a:bodyPr wrap="square" lIns="0" tIns="0" rIns="0" bIns="0" rtlCol="0"/>
            <a:lstStyle/>
            <a:p/>
          </p:txBody>
        </p:sp>
        <p:sp>
          <p:nvSpPr>
            <p:cNvPr id="76" name="object 76" descr=""/>
            <p:cNvSpPr/>
            <p:nvPr/>
          </p:nvSpPr>
          <p:spPr>
            <a:xfrm>
              <a:off x="3654907" y="3780040"/>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77" name="object 77" descr=""/>
            <p:cNvSpPr/>
            <p:nvPr/>
          </p:nvSpPr>
          <p:spPr>
            <a:xfrm>
              <a:off x="3653891" y="3780040"/>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181"/>
                  </a:lnTo>
                  <a:lnTo>
                    <a:pt x="28409" y="1181"/>
                  </a:lnTo>
                  <a:lnTo>
                    <a:pt x="28409" y="0"/>
                  </a:lnTo>
                  <a:close/>
                </a:path>
                <a:path w="28575" h="45085">
                  <a:moveTo>
                    <a:pt x="28409" y="1181"/>
                  </a:moveTo>
                  <a:lnTo>
                    <a:pt x="27216" y="1181"/>
                  </a:lnTo>
                  <a:lnTo>
                    <a:pt x="27216" y="43306"/>
                  </a:lnTo>
                  <a:lnTo>
                    <a:pt x="28409" y="43306"/>
                  </a:lnTo>
                  <a:lnTo>
                    <a:pt x="28409" y="1181"/>
                  </a:lnTo>
                  <a:close/>
                </a:path>
              </a:pathLst>
            </a:custGeom>
            <a:solidFill>
              <a:srgbClr val="879C82"/>
            </a:solidFill>
          </p:spPr>
          <p:txBody>
            <a:bodyPr wrap="square" lIns="0" tIns="0" rIns="0" bIns="0" rtlCol="0"/>
            <a:lstStyle/>
            <a:p/>
          </p:txBody>
        </p:sp>
        <p:sp>
          <p:nvSpPr>
            <p:cNvPr id="78" name="object 78" descr=""/>
            <p:cNvSpPr/>
            <p:nvPr/>
          </p:nvSpPr>
          <p:spPr>
            <a:xfrm>
              <a:off x="3696512" y="378004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79" name="object 79" descr=""/>
            <p:cNvSpPr/>
            <p:nvPr/>
          </p:nvSpPr>
          <p:spPr>
            <a:xfrm>
              <a:off x="3695496" y="3780040"/>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181"/>
                  </a:lnTo>
                  <a:lnTo>
                    <a:pt x="28409" y="1181"/>
                  </a:lnTo>
                  <a:lnTo>
                    <a:pt x="28409" y="0"/>
                  </a:lnTo>
                  <a:close/>
                </a:path>
                <a:path w="28575" h="45085">
                  <a:moveTo>
                    <a:pt x="28409" y="1181"/>
                  </a:moveTo>
                  <a:lnTo>
                    <a:pt x="27228" y="1181"/>
                  </a:lnTo>
                  <a:lnTo>
                    <a:pt x="27228" y="43306"/>
                  </a:lnTo>
                  <a:lnTo>
                    <a:pt x="28409" y="43306"/>
                  </a:lnTo>
                  <a:lnTo>
                    <a:pt x="28409" y="1181"/>
                  </a:lnTo>
                  <a:close/>
                </a:path>
              </a:pathLst>
            </a:custGeom>
            <a:solidFill>
              <a:srgbClr val="879C82"/>
            </a:solidFill>
          </p:spPr>
          <p:txBody>
            <a:bodyPr wrap="square" lIns="0" tIns="0" rIns="0" bIns="0" rtlCol="0"/>
            <a:lstStyle/>
            <a:p/>
          </p:txBody>
        </p:sp>
        <p:sp>
          <p:nvSpPr>
            <p:cNvPr id="80" name="object 80" descr=""/>
            <p:cNvSpPr/>
            <p:nvPr/>
          </p:nvSpPr>
          <p:spPr>
            <a:xfrm>
              <a:off x="3738117" y="378004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81" name="object 81" descr=""/>
            <p:cNvSpPr/>
            <p:nvPr/>
          </p:nvSpPr>
          <p:spPr>
            <a:xfrm>
              <a:off x="3737114" y="3780040"/>
              <a:ext cx="28575" cy="45085"/>
            </a:xfrm>
            <a:custGeom>
              <a:avLst/>
              <a:gdLst/>
              <a:ahLst/>
              <a:cxnLst/>
              <a:rect l="l" t="t" r="r" b="b"/>
              <a:pathLst>
                <a:path w="28575" h="45085">
                  <a:moveTo>
                    <a:pt x="28409" y="0"/>
                  </a:moveTo>
                  <a:lnTo>
                    <a:pt x="0" y="0"/>
                  </a:lnTo>
                  <a:lnTo>
                    <a:pt x="0" y="44500"/>
                  </a:lnTo>
                  <a:lnTo>
                    <a:pt x="28409" y="44500"/>
                  </a:lnTo>
                  <a:lnTo>
                    <a:pt x="28409" y="43306"/>
                  </a:lnTo>
                  <a:lnTo>
                    <a:pt x="1193" y="43306"/>
                  </a:lnTo>
                  <a:lnTo>
                    <a:pt x="1193" y="1181"/>
                  </a:lnTo>
                  <a:lnTo>
                    <a:pt x="28409" y="1181"/>
                  </a:lnTo>
                  <a:lnTo>
                    <a:pt x="28409" y="0"/>
                  </a:lnTo>
                  <a:close/>
                </a:path>
                <a:path w="28575" h="45085">
                  <a:moveTo>
                    <a:pt x="28409" y="1181"/>
                  </a:moveTo>
                  <a:lnTo>
                    <a:pt x="27216" y="1181"/>
                  </a:lnTo>
                  <a:lnTo>
                    <a:pt x="27216" y="43306"/>
                  </a:lnTo>
                  <a:lnTo>
                    <a:pt x="28409" y="43306"/>
                  </a:lnTo>
                  <a:lnTo>
                    <a:pt x="28409" y="1181"/>
                  </a:lnTo>
                  <a:close/>
                </a:path>
              </a:pathLst>
            </a:custGeom>
            <a:solidFill>
              <a:srgbClr val="879C82"/>
            </a:solidFill>
          </p:spPr>
          <p:txBody>
            <a:bodyPr wrap="square" lIns="0" tIns="0" rIns="0" bIns="0" rtlCol="0"/>
            <a:lstStyle/>
            <a:p/>
          </p:txBody>
        </p:sp>
        <p:sp>
          <p:nvSpPr>
            <p:cNvPr id="82" name="object 82" descr=""/>
            <p:cNvSpPr/>
            <p:nvPr/>
          </p:nvSpPr>
          <p:spPr>
            <a:xfrm>
              <a:off x="3779735" y="378004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83" name="object 83" descr=""/>
            <p:cNvSpPr/>
            <p:nvPr/>
          </p:nvSpPr>
          <p:spPr>
            <a:xfrm>
              <a:off x="3778719" y="3780040"/>
              <a:ext cx="28575" cy="45085"/>
            </a:xfrm>
            <a:custGeom>
              <a:avLst/>
              <a:gdLst/>
              <a:ahLst/>
              <a:cxnLst/>
              <a:rect l="l" t="t" r="r" b="b"/>
              <a:pathLst>
                <a:path w="28575" h="45085">
                  <a:moveTo>
                    <a:pt x="28409" y="0"/>
                  </a:moveTo>
                  <a:lnTo>
                    <a:pt x="0" y="0"/>
                  </a:lnTo>
                  <a:lnTo>
                    <a:pt x="0" y="44500"/>
                  </a:lnTo>
                  <a:lnTo>
                    <a:pt x="28409" y="44500"/>
                  </a:lnTo>
                  <a:lnTo>
                    <a:pt x="28409" y="43306"/>
                  </a:lnTo>
                  <a:lnTo>
                    <a:pt x="1257" y="43306"/>
                  </a:lnTo>
                  <a:lnTo>
                    <a:pt x="1257" y="1181"/>
                  </a:lnTo>
                  <a:lnTo>
                    <a:pt x="28409" y="1181"/>
                  </a:lnTo>
                  <a:lnTo>
                    <a:pt x="28409" y="0"/>
                  </a:lnTo>
                  <a:close/>
                </a:path>
                <a:path w="28575" h="45085">
                  <a:moveTo>
                    <a:pt x="28409" y="1181"/>
                  </a:moveTo>
                  <a:lnTo>
                    <a:pt x="27165" y="1181"/>
                  </a:lnTo>
                  <a:lnTo>
                    <a:pt x="27165" y="43306"/>
                  </a:lnTo>
                  <a:lnTo>
                    <a:pt x="28409" y="43306"/>
                  </a:lnTo>
                  <a:lnTo>
                    <a:pt x="28409" y="1181"/>
                  </a:lnTo>
                  <a:close/>
                </a:path>
              </a:pathLst>
            </a:custGeom>
            <a:solidFill>
              <a:srgbClr val="879C82"/>
            </a:solidFill>
          </p:spPr>
          <p:txBody>
            <a:bodyPr wrap="square" lIns="0" tIns="0" rIns="0" bIns="0" rtlCol="0"/>
            <a:lstStyle/>
            <a:p/>
          </p:txBody>
        </p:sp>
        <p:sp>
          <p:nvSpPr>
            <p:cNvPr id="84" name="object 84" descr=""/>
            <p:cNvSpPr/>
            <p:nvPr/>
          </p:nvSpPr>
          <p:spPr>
            <a:xfrm>
              <a:off x="3654907" y="3853865"/>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85" name="object 85" descr=""/>
            <p:cNvSpPr/>
            <p:nvPr/>
          </p:nvSpPr>
          <p:spPr>
            <a:xfrm>
              <a:off x="3653891" y="3852849"/>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16" y="1244"/>
                  </a:lnTo>
                  <a:lnTo>
                    <a:pt x="27216" y="43256"/>
                  </a:lnTo>
                  <a:lnTo>
                    <a:pt x="28409" y="43256"/>
                  </a:lnTo>
                  <a:lnTo>
                    <a:pt x="28409" y="1244"/>
                  </a:lnTo>
                  <a:close/>
                </a:path>
              </a:pathLst>
            </a:custGeom>
            <a:solidFill>
              <a:srgbClr val="879C82"/>
            </a:solidFill>
          </p:spPr>
          <p:txBody>
            <a:bodyPr wrap="square" lIns="0" tIns="0" rIns="0" bIns="0" rtlCol="0"/>
            <a:lstStyle/>
            <a:p/>
          </p:txBody>
        </p:sp>
        <p:sp>
          <p:nvSpPr>
            <p:cNvPr id="86" name="object 86" descr=""/>
            <p:cNvSpPr/>
            <p:nvPr/>
          </p:nvSpPr>
          <p:spPr>
            <a:xfrm>
              <a:off x="3696512" y="385386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87" name="object 87" descr=""/>
            <p:cNvSpPr/>
            <p:nvPr/>
          </p:nvSpPr>
          <p:spPr>
            <a:xfrm>
              <a:off x="3695496" y="3852849"/>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28" y="1244"/>
                  </a:lnTo>
                  <a:lnTo>
                    <a:pt x="27228" y="43256"/>
                  </a:lnTo>
                  <a:lnTo>
                    <a:pt x="28409" y="43256"/>
                  </a:lnTo>
                  <a:lnTo>
                    <a:pt x="28409" y="1244"/>
                  </a:lnTo>
                  <a:close/>
                </a:path>
              </a:pathLst>
            </a:custGeom>
            <a:solidFill>
              <a:srgbClr val="879C82"/>
            </a:solidFill>
          </p:spPr>
          <p:txBody>
            <a:bodyPr wrap="square" lIns="0" tIns="0" rIns="0" bIns="0" rtlCol="0"/>
            <a:lstStyle/>
            <a:p/>
          </p:txBody>
        </p:sp>
        <p:sp>
          <p:nvSpPr>
            <p:cNvPr id="88" name="object 88" descr=""/>
            <p:cNvSpPr/>
            <p:nvPr/>
          </p:nvSpPr>
          <p:spPr>
            <a:xfrm>
              <a:off x="3738117" y="385386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89" name="object 89" descr=""/>
            <p:cNvSpPr/>
            <p:nvPr/>
          </p:nvSpPr>
          <p:spPr>
            <a:xfrm>
              <a:off x="3737114" y="3852849"/>
              <a:ext cx="28575" cy="45085"/>
            </a:xfrm>
            <a:custGeom>
              <a:avLst/>
              <a:gdLst/>
              <a:ahLst/>
              <a:cxnLst/>
              <a:rect l="l" t="t" r="r" b="b"/>
              <a:pathLst>
                <a:path w="28575" h="45085">
                  <a:moveTo>
                    <a:pt x="28409" y="0"/>
                  </a:moveTo>
                  <a:lnTo>
                    <a:pt x="0" y="0"/>
                  </a:lnTo>
                  <a:lnTo>
                    <a:pt x="0" y="44500"/>
                  </a:lnTo>
                  <a:lnTo>
                    <a:pt x="28409" y="44500"/>
                  </a:lnTo>
                  <a:lnTo>
                    <a:pt x="28409" y="43256"/>
                  </a:lnTo>
                  <a:lnTo>
                    <a:pt x="1193" y="43256"/>
                  </a:lnTo>
                  <a:lnTo>
                    <a:pt x="1193" y="1244"/>
                  </a:lnTo>
                  <a:lnTo>
                    <a:pt x="28409" y="1244"/>
                  </a:lnTo>
                  <a:lnTo>
                    <a:pt x="28409" y="0"/>
                  </a:lnTo>
                  <a:close/>
                </a:path>
                <a:path w="28575" h="45085">
                  <a:moveTo>
                    <a:pt x="28409" y="1244"/>
                  </a:moveTo>
                  <a:lnTo>
                    <a:pt x="27216" y="1244"/>
                  </a:lnTo>
                  <a:lnTo>
                    <a:pt x="27216" y="43256"/>
                  </a:lnTo>
                  <a:lnTo>
                    <a:pt x="28409" y="43256"/>
                  </a:lnTo>
                  <a:lnTo>
                    <a:pt x="28409" y="1244"/>
                  </a:lnTo>
                  <a:close/>
                </a:path>
              </a:pathLst>
            </a:custGeom>
            <a:solidFill>
              <a:srgbClr val="879C82"/>
            </a:solidFill>
          </p:spPr>
          <p:txBody>
            <a:bodyPr wrap="square" lIns="0" tIns="0" rIns="0" bIns="0" rtlCol="0"/>
            <a:lstStyle/>
            <a:p/>
          </p:txBody>
        </p:sp>
        <p:sp>
          <p:nvSpPr>
            <p:cNvPr id="90" name="object 90" descr=""/>
            <p:cNvSpPr/>
            <p:nvPr/>
          </p:nvSpPr>
          <p:spPr>
            <a:xfrm>
              <a:off x="3779735" y="385386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91" name="object 91" descr=""/>
            <p:cNvSpPr/>
            <p:nvPr/>
          </p:nvSpPr>
          <p:spPr>
            <a:xfrm>
              <a:off x="3778719" y="3852849"/>
              <a:ext cx="28575" cy="45085"/>
            </a:xfrm>
            <a:custGeom>
              <a:avLst/>
              <a:gdLst/>
              <a:ahLst/>
              <a:cxnLst/>
              <a:rect l="l" t="t" r="r" b="b"/>
              <a:pathLst>
                <a:path w="28575" h="45085">
                  <a:moveTo>
                    <a:pt x="28409" y="0"/>
                  </a:moveTo>
                  <a:lnTo>
                    <a:pt x="0" y="0"/>
                  </a:lnTo>
                  <a:lnTo>
                    <a:pt x="0" y="44500"/>
                  </a:lnTo>
                  <a:lnTo>
                    <a:pt x="28409" y="44500"/>
                  </a:lnTo>
                  <a:lnTo>
                    <a:pt x="28409" y="43256"/>
                  </a:lnTo>
                  <a:lnTo>
                    <a:pt x="1257" y="43256"/>
                  </a:lnTo>
                  <a:lnTo>
                    <a:pt x="1257" y="1244"/>
                  </a:lnTo>
                  <a:lnTo>
                    <a:pt x="28409" y="1244"/>
                  </a:lnTo>
                  <a:lnTo>
                    <a:pt x="28409" y="0"/>
                  </a:lnTo>
                  <a:close/>
                </a:path>
                <a:path w="28575" h="45085">
                  <a:moveTo>
                    <a:pt x="28409" y="1244"/>
                  </a:moveTo>
                  <a:lnTo>
                    <a:pt x="27165" y="1244"/>
                  </a:lnTo>
                  <a:lnTo>
                    <a:pt x="27165" y="43256"/>
                  </a:lnTo>
                  <a:lnTo>
                    <a:pt x="28409" y="43256"/>
                  </a:lnTo>
                  <a:lnTo>
                    <a:pt x="28409" y="1244"/>
                  </a:lnTo>
                  <a:close/>
                </a:path>
              </a:pathLst>
            </a:custGeom>
            <a:solidFill>
              <a:srgbClr val="879C82"/>
            </a:solidFill>
          </p:spPr>
          <p:txBody>
            <a:bodyPr wrap="square" lIns="0" tIns="0" rIns="0" bIns="0" rtlCol="0"/>
            <a:lstStyle/>
            <a:p/>
          </p:txBody>
        </p:sp>
        <p:sp>
          <p:nvSpPr>
            <p:cNvPr id="92" name="object 92" descr=""/>
            <p:cNvSpPr/>
            <p:nvPr/>
          </p:nvSpPr>
          <p:spPr>
            <a:xfrm>
              <a:off x="3654907" y="3927690"/>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93" name="object 93" descr=""/>
            <p:cNvSpPr/>
            <p:nvPr/>
          </p:nvSpPr>
          <p:spPr>
            <a:xfrm>
              <a:off x="3653891" y="3926687"/>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81"/>
                  </a:lnTo>
                  <a:lnTo>
                    <a:pt x="28409" y="1181"/>
                  </a:lnTo>
                  <a:lnTo>
                    <a:pt x="28409" y="0"/>
                  </a:lnTo>
                  <a:close/>
                </a:path>
                <a:path w="28575" h="45085">
                  <a:moveTo>
                    <a:pt x="28409" y="1181"/>
                  </a:moveTo>
                  <a:lnTo>
                    <a:pt x="27216" y="1181"/>
                  </a:lnTo>
                  <a:lnTo>
                    <a:pt x="27216" y="43307"/>
                  </a:lnTo>
                  <a:lnTo>
                    <a:pt x="28409" y="43307"/>
                  </a:lnTo>
                  <a:lnTo>
                    <a:pt x="28409" y="1181"/>
                  </a:lnTo>
                  <a:close/>
                </a:path>
              </a:pathLst>
            </a:custGeom>
            <a:solidFill>
              <a:srgbClr val="879C82"/>
            </a:solidFill>
          </p:spPr>
          <p:txBody>
            <a:bodyPr wrap="square" lIns="0" tIns="0" rIns="0" bIns="0" rtlCol="0"/>
            <a:lstStyle/>
            <a:p/>
          </p:txBody>
        </p:sp>
        <p:sp>
          <p:nvSpPr>
            <p:cNvPr id="94" name="object 94" descr=""/>
            <p:cNvSpPr/>
            <p:nvPr/>
          </p:nvSpPr>
          <p:spPr>
            <a:xfrm>
              <a:off x="3696512" y="392769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95" name="object 95" descr=""/>
            <p:cNvSpPr/>
            <p:nvPr/>
          </p:nvSpPr>
          <p:spPr>
            <a:xfrm>
              <a:off x="3695496" y="3926687"/>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81"/>
                  </a:lnTo>
                  <a:lnTo>
                    <a:pt x="28409" y="1181"/>
                  </a:lnTo>
                  <a:lnTo>
                    <a:pt x="28409" y="0"/>
                  </a:lnTo>
                  <a:close/>
                </a:path>
                <a:path w="28575" h="45085">
                  <a:moveTo>
                    <a:pt x="28409" y="1181"/>
                  </a:moveTo>
                  <a:lnTo>
                    <a:pt x="27228" y="1181"/>
                  </a:lnTo>
                  <a:lnTo>
                    <a:pt x="27228" y="43307"/>
                  </a:lnTo>
                  <a:lnTo>
                    <a:pt x="28409" y="43307"/>
                  </a:lnTo>
                  <a:lnTo>
                    <a:pt x="28409" y="1181"/>
                  </a:lnTo>
                  <a:close/>
                </a:path>
              </a:pathLst>
            </a:custGeom>
            <a:solidFill>
              <a:srgbClr val="879C82"/>
            </a:solidFill>
          </p:spPr>
          <p:txBody>
            <a:bodyPr wrap="square" lIns="0" tIns="0" rIns="0" bIns="0" rtlCol="0"/>
            <a:lstStyle/>
            <a:p/>
          </p:txBody>
        </p:sp>
        <p:sp>
          <p:nvSpPr>
            <p:cNvPr id="96" name="object 96" descr=""/>
            <p:cNvSpPr/>
            <p:nvPr/>
          </p:nvSpPr>
          <p:spPr>
            <a:xfrm>
              <a:off x="3738117" y="392769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97" name="object 97" descr=""/>
            <p:cNvSpPr/>
            <p:nvPr/>
          </p:nvSpPr>
          <p:spPr>
            <a:xfrm>
              <a:off x="3737114" y="3926687"/>
              <a:ext cx="28575" cy="45085"/>
            </a:xfrm>
            <a:custGeom>
              <a:avLst/>
              <a:gdLst/>
              <a:ahLst/>
              <a:cxnLst/>
              <a:rect l="l" t="t" r="r" b="b"/>
              <a:pathLst>
                <a:path w="28575" h="45085">
                  <a:moveTo>
                    <a:pt x="28409" y="0"/>
                  </a:moveTo>
                  <a:lnTo>
                    <a:pt x="0" y="0"/>
                  </a:lnTo>
                  <a:lnTo>
                    <a:pt x="0" y="44500"/>
                  </a:lnTo>
                  <a:lnTo>
                    <a:pt x="28409" y="44500"/>
                  </a:lnTo>
                  <a:lnTo>
                    <a:pt x="28409" y="43307"/>
                  </a:lnTo>
                  <a:lnTo>
                    <a:pt x="1193" y="43307"/>
                  </a:lnTo>
                  <a:lnTo>
                    <a:pt x="1193" y="1181"/>
                  </a:lnTo>
                  <a:lnTo>
                    <a:pt x="28409" y="1181"/>
                  </a:lnTo>
                  <a:lnTo>
                    <a:pt x="28409" y="0"/>
                  </a:lnTo>
                  <a:close/>
                </a:path>
                <a:path w="28575" h="45085">
                  <a:moveTo>
                    <a:pt x="28409" y="1181"/>
                  </a:moveTo>
                  <a:lnTo>
                    <a:pt x="27216" y="1181"/>
                  </a:lnTo>
                  <a:lnTo>
                    <a:pt x="27216" y="43307"/>
                  </a:lnTo>
                  <a:lnTo>
                    <a:pt x="28409" y="43307"/>
                  </a:lnTo>
                  <a:lnTo>
                    <a:pt x="28409" y="1181"/>
                  </a:lnTo>
                  <a:close/>
                </a:path>
              </a:pathLst>
            </a:custGeom>
            <a:solidFill>
              <a:srgbClr val="879C82"/>
            </a:solidFill>
          </p:spPr>
          <p:txBody>
            <a:bodyPr wrap="square" lIns="0" tIns="0" rIns="0" bIns="0" rtlCol="0"/>
            <a:lstStyle/>
            <a:p/>
          </p:txBody>
        </p:sp>
        <p:sp>
          <p:nvSpPr>
            <p:cNvPr id="98" name="object 98" descr=""/>
            <p:cNvSpPr/>
            <p:nvPr/>
          </p:nvSpPr>
          <p:spPr>
            <a:xfrm>
              <a:off x="3779735" y="392769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99" name="object 99" descr=""/>
            <p:cNvSpPr/>
            <p:nvPr/>
          </p:nvSpPr>
          <p:spPr>
            <a:xfrm>
              <a:off x="3778719" y="3926687"/>
              <a:ext cx="28575" cy="45085"/>
            </a:xfrm>
            <a:custGeom>
              <a:avLst/>
              <a:gdLst/>
              <a:ahLst/>
              <a:cxnLst/>
              <a:rect l="l" t="t" r="r" b="b"/>
              <a:pathLst>
                <a:path w="28575" h="45085">
                  <a:moveTo>
                    <a:pt x="28409" y="0"/>
                  </a:moveTo>
                  <a:lnTo>
                    <a:pt x="0" y="0"/>
                  </a:lnTo>
                  <a:lnTo>
                    <a:pt x="0" y="44500"/>
                  </a:lnTo>
                  <a:lnTo>
                    <a:pt x="28409" y="44500"/>
                  </a:lnTo>
                  <a:lnTo>
                    <a:pt x="28409" y="43307"/>
                  </a:lnTo>
                  <a:lnTo>
                    <a:pt x="1257" y="43307"/>
                  </a:lnTo>
                  <a:lnTo>
                    <a:pt x="1257" y="1181"/>
                  </a:lnTo>
                  <a:lnTo>
                    <a:pt x="28409" y="1181"/>
                  </a:lnTo>
                  <a:lnTo>
                    <a:pt x="28409" y="0"/>
                  </a:lnTo>
                  <a:close/>
                </a:path>
                <a:path w="28575" h="45085">
                  <a:moveTo>
                    <a:pt x="28409" y="1181"/>
                  </a:moveTo>
                  <a:lnTo>
                    <a:pt x="27165" y="1181"/>
                  </a:lnTo>
                  <a:lnTo>
                    <a:pt x="27165" y="43307"/>
                  </a:lnTo>
                  <a:lnTo>
                    <a:pt x="28409" y="43307"/>
                  </a:lnTo>
                  <a:lnTo>
                    <a:pt x="28409" y="1181"/>
                  </a:lnTo>
                  <a:close/>
                </a:path>
              </a:pathLst>
            </a:custGeom>
            <a:solidFill>
              <a:srgbClr val="879C82"/>
            </a:solidFill>
          </p:spPr>
          <p:txBody>
            <a:bodyPr wrap="square" lIns="0" tIns="0" rIns="0" bIns="0" rtlCol="0"/>
            <a:lstStyle/>
            <a:p/>
          </p:txBody>
        </p:sp>
        <p:sp>
          <p:nvSpPr>
            <p:cNvPr id="100" name="object 100" descr=""/>
            <p:cNvSpPr/>
            <p:nvPr/>
          </p:nvSpPr>
          <p:spPr>
            <a:xfrm>
              <a:off x="3817276" y="3474605"/>
              <a:ext cx="111760" cy="714375"/>
            </a:xfrm>
            <a:custGeom>
              <a:avLst/>
              <a:gdLst/>
              <a:ahLst/>
              <a:cxnLst/>
              <a:rect l="l" t="t" r="r" b="b"/>
              <a:pathLst>
                <a:path w="111760" h="714375">
                  <a:moveTo>
                    <a:pt x="111633" y="0"/>
                  </a:moveTo>
                  <a:lnTo>
                    <a:pt x="0" y="0"/>
                  </a:lnTo>
                  <a:lnTo>
                    <a:pt x="0" y="714032"/>
                  </a:lnTo>
                  <a:lnTo>
                    <a:pt x="111633" y="714032"/>
                  </a:lnTo>
                  <a:lnTo>
                    <a:pt x="111633" y="0"/>
                  </a:lnTo>
                  <a:close/>
                </a:path>
              </a:pathLst>
            </a:custGeom>
            <a:solidFill>
              <a:srgbClr val="BFCCC0"/>
            </a:solidFill>
          </p:spPr>
          <p:txBody>
            <a:bodyPr wrap="square" lIns="0" tIns="0" rIns="0" bIns="0" rtlCol="0"/>
            <a:lstStyle/>
            <a:p/>
          </p:txBody>
        </p:sp>
        <p:sp>
          <p:nvSpPr>
            <p:cNvPr id="101" name="object 101" descr=""/>
            <p:cNvSpPr/>
            <p:nvPr/>
          </p:nvSpPr>
          <p:spPr>
            <a:xfrm>
              <a:off x="3816261" y="3473221"/>
              <a:ext cx="114935" cy="716280"/>
            </a:xfrm>
            <a:custGeom>
              <a:avLst/>
              <a:gdLst/>
              <a:ahLst/>
              <a:cxnLst/>
              <a:rect l="l" t="t" r="r" b="b"/>
              <a:pathLst>
                <a:path w="114935" h="716279">
                  <a:moveTo>
                    <a:pt x="114681" y="0"/>
                  </a:moveTo>
                  <a:lnTo>
                    <a:pt x="81915" y="0"/>
                  </a:lnTo>
                  <a:lnTo>
                    <a:pt x="81915" y="1270"/>
                  </a:lnTo>
                  <a:lnTo>
                    <a:pt x="0" y="1270"/>
                  </a:lnTo>
                  <a:lnTo>
                    <a:pt x="0" y="2540"/>
                  </a:lnTo>
                  <a:lnTo>
                    <a:pt x="0" y="713740"/>
                  </a:lnTo>
                  <a:lnTo>
                    <a:pt x="0" y="716280"/>
                  </a:lnTo>
                  <a:lnTo>
                    <a:pt x="114681" y="716280"/>
                  </a:lnTo>
                  <a:lnTo>
                    <a:pt x="114681" y="714057"/>
                  </a:lnTo>
                  <a:lnTo>
                    <a:pt x="114681" y="713740"/>
                  </a:lnTo>
                  <a:lnTo>
                    <a:pt x="114681" y="2755"/>
                  </a:lnTo>
                  <a:lnTo>
                    <a:pt x="112293" y="2755"/>
                  </a:lnTo>
                  <a:lnTo>
                    <a:pt x="112293" y="713740"/>
                  </a:lnTo>
                  <a:lnTo>
                    <a:pt x="2387" y="713740"/>
                  </a:lnTo>
                  <a:lnTo>
                    <a:pt x="2387" y="2540"/>
                  </a:lnTo>
                  <a:lnTo>
                    <a:pt x="114681" y="2540"/>
                  </a:lnTo>
                  <a:lnTo>
                    <a:pt x="114681" y="1270"/>
                  </a:lnTo>
                  <a:lnTo>
                    <a:pt x="114681" y="0"/>
                  </a:lnTo>
                  <a:close/>
                </a:path>
              </a:pathLst>
            </a:custGeom>
            <a:solidFill>
              <a:srgbClr val="879C82"/>
            </a:solidFill>
          </p:spPr>
          <p:txBody>
            <a:bodyPr wrap="square" lIns="0" tIns="0" rIns="0" bIns="0" rtlCol="0"/>
            <a:lstStyle/>
            <a:p/>
          </p:txBody>
        </p:sp>
        <p:pic>
          <p:nvPicPr>
            <p:cNvPr id="102" name="object 102" descr=""/>
            <p:cNvPicPr/>
            <p:nvPr/>
          </p:nvPicPr>
          <p:blipFill>
            <a:blip r:embed="rId6" cstate="print"/>
            <a:stretch>
              <a:fillRect/>
            </a:stretch>
          </p:blipFill>
          <p:spPr>
            <a:xfrm>
              <a:off x="3816267" y="3401777"/>
              <a:ext cx="154254" cy="73837"/>
            </a:xfrm>
            <a:prstGeom prst="rect">
              <a:avLst/>
            </a:prstGeom>
          </p:spPr>
        </p:pic>
        <p:sp>
          <p:nvSpPr>
            <p:cNvPr id="103" name="object 103" descr=""/>
            <p:cNvSpPr/>
            <p:nvPr/>
          </p:nvSpPr>
          <p:spPr>
            <a:xfrm>
              <a:off x="3928915" y="3403804"/>
              <a:ext cx="40640" cy="784860"/>
            </a:xfrm>
            <a:custGeom>
              <a:avLst/>
              <a:gdLst/>
              <a:ahLst/>
              <a:cxnLst/>
              <a:rect l="l" t="t" r="r" b="b"/>
              <a:pathLst>
                <a:path w="40639" h="784860">
                  <a:moveTo>
                    <a:pt x="40589" y="0"/>
                  </a:moveTo>
                  <a:lnTo>
                    <a:pt x="0" y="70866"/>
                  </a:lnTo>
                  <a:lnTo>
                    <a:pt x="0" y="784821"/>
                  </a:lnTo>
                  <a:lnTo>
                    <a:pt x="40589" y="713892"/>
                  </a:lnTo>
                  <a:lnTo>
                    <a:pt x="40589" y="0"/>
                  </a:lnTo>
                  <a:close/>
                </a:path>
              </a:pathLst>
            </a:custGeom>
            <a:solidFill>
              <a:srgbClr val="A5B8A6"/>
            </a:solidFill>
          </p:spPr>
          <p:txBody>
            <a:bodyPr wrap="square" lIns="0" tIns="0" rIns="0" bIns="0" rtlCol="0"/>
            <a:lstStyle/>
            <a:p/>
          </p:txBody>
        </p:sp>
        <p:sp>
          <p:nvSpPr>
            <p:cNvPr id="104" name="object 104" descr=""/>
            <p:cNvSpPr/>
            <p:nvPr/>
          </p:nvSpPr>
          <p:spPr>
            <a:xfrm>
              <a:off x="3927891" y="3402793"/>
              <a:ext cx="43180" cy="787400"/>
            </a:xfrm>
            <a:custGeom>
              <a:avLst/>
              <a:gdLst/>
              <a:ahLst/>
              <a:cxnLst/>
              <a:rect l="l" t="t" r="r" b="b"/>
              <a:pathLst>
                <a:path w="43179" h="787400">
                  <a:moveTo>
                    <a:pt x="40335" y="0"/>
                  </a:moveTo>
                  <a:lnTo>
                    <a:pt x="126" y="70942"/>
                  </a:lnTo>
                  <a:lnTo>
                    <a:pt x="0" y="786256"/>
                  </a:lnTo>
                  <a:lnTo>
                    <a:pt x="2171" y="786853"/>
                  </a:lnTo>
                  <a:lnTo>
                    <a:pt x="5077" y="781735"/>
                  </a:lnTo>
                  <a:lnTo>
                    <a:pt x="2412" y="781735"/>
                  </a:lnTo>
                  <a:lnTo>
                    <a:pt x="2412" y="71894"/>
                  </a:lnTo>
                  <a:lnTo>
                    <a:pt x="40220" y="5118"/>
                  </a:lnTo>
                  <a:lnTo>
                    <a:pt x="42633" y="5118"/>
                  </a:lnTo>
                  <a:lnTo>
                    <a:pt x="42633" y="596"/>
                  </a:lnTo>
                  <a:lnTo>
                    <a:pt x="40335" y="0"/>
                  </a:lnTo>
                  <a:close/>
                </a:path>
                <a:path w="43179" h="787400">
                  <a:moveTo>
                    <a:pt x="42633" y="5118"/>
                  </a:moveTo>
                  <a:lnTo>
                    <a:pt x="40220" y="5118"/>
                  </a:lnTo>
                  <a:lnTo>
                    <a:pt x="40220" y="714959"/>
                  </a:lnTo>
                  <a:lnTo>
                    <a:pt x="2412" y="781735"/>
                  </a:lnTo>
                  <a:lnTo>
                    <a:pt x="5077" y="781735"/>
                  </a:lnTo>
                  <a:lnTo>
                    <a:pt x="42443" y="715911"/>
                  </a:lnTo>
                  <a:lnTo>
                    <a:pt x="42633" y="715251"/>
                  </a:lnTo>
                  <a:lnTo>
                    <a:pt x="42633" y="5118"/>
                  </a:lnTo>
                  <a:close/>
                </a:path>
              </a:pathLst>
            </a:custGeom>
            <a:solidFill>
              <a:srgbClr val="879C82"/>
            </a:solidFill>
          </p:spPr>
          <p:txBody>
            <a:bodyPr wrap="square" lIns="0" tIns="0" rIns="0" bIns="0" rtlCol="0"/>
            <a:lstStyle/>
            <a:p/>
          </p:txBody>
        </p:sp>
        <p:sp>
          <p:nvSpPr>
            <p:cNvPr id="105" name="object 105" descr=""/>
            <p:cNvSpPr/>
            <p:nvPr/>
          </p:nvSpPr>
          <p:spPr>
            <a:xfrm>
              <a:off x="3830472" y="3532250"/>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E0E6E2"/>
            </a:solidFill>
          </p:spPr>
          <p:txBody>
            <a:bodyPr wrap="square" lIns="0" tIns="0" rIns="0" bIns="0" rtlCol="0"/>
            <a:lstStyle/>
            <a:p/>
          </p:txBody>
        </p:sp>
        <p:sp>
          <p:nvSpPr>
            <p:cNvPr id="106" name="object 106" descr=""/>
            <p:cNvSpPr/>
            <p:nvPr/>
          </p:nvSpPr>
          <p:spPr>
            <a:xfrm>
              <a:off x="3830472" y="3532250"/>
              <a:ext cx="28575" cy="45085"/>
            </a:xfrm>
            <a:custGeom>
              <a:avLst/>
              <a:gdLst/>
              <a:ahLst/>
              <a:cxnLst/>
              <a:rect l="l" t="t" r="r" b="b"/>
              <a:pathLst>
                <a:path w="28575" h="45085">
                  <a:moveTo>
                    <a:pt x="28409" y="0"/>
                  </a:moveTo>
                  <a:lnTo>
                    <a:pt x="0" y="0"/>
                  </a:lnTo>
                  <a:lnTo>
                    <a:pt x="0" y="44500"/>
                  </a:lnTo>
                  <a:lnTo>
                    <a:pt x="28409" y="44500"/>
                  </a:lnTo>
                  <a:lnTo>
                    <a:pt x="28409" y="43307"/>
                  </a:lnTo>
                  <a:lnTo>
                    <a:pt x="1257" y="43307"/>
                  </a:lnTo>
                  <a:lnTo>
                    <a:pt x="1257" y="1244"/>
                  </a:lnTo>
                  <a:lnTo>
                    <a:pt x="28409" y="1244"/>
                  </a:lnTo>
                  <a:lnTo>
                    <a:pt x="28409" y="0"/>
                  </a:lnTo>
                  <a:close/>
                </a:path>
                <a:path w="28575" h="45085">
                  <a:moveTo>
                    <a:pt x="28409" y="1244"/>
                  </a:moveTo>
                  <a:lnTo>
                    <a:pt x="27165" y="1244"/>
                  </a:lnTo>
                  <a:lnTo>
                    <a:pt x="27165" y="43307"/>
                  </a:lnTo>
                  <a:lnTo>
                    <a:pt x="28409" y="43307"/>
                  </a:lnTo>
                  <a:lnTo>
                    <a:pt x="28409" y="1244"/>
                  </a:lnTo>
                  <a:close/>
                </a:path>
              </a:pathLst>
            </a:custGeom>
            <a:solidFill>
              <a:srgbClr val="879C82"/>
            </a:solidFill>
          </p:spPr>
          <p:txBody>
            <a:bodyPr wrap="square" lIns="0" tIns="0" rIns="0" bIns="0" rtlCol="0"/>
            <a:lstStyle/>
            <a:p/>
          </p:txBody>
        </p:sp>
        <p:sp>
          <p:nvSpPr>
            <p:cNvPr id="107" name="object 107" descr=""/>
            <p:cNvSpPr/>
            <p:nvPr/>
          </p:nvSpPr>
          <p:spPr>
            <a:xfrm>
              <a:off x="3872077" y="3532250"/>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E0E6E2"/>
            </a:solidFill>
          </p:spPr>
          <p:txBody>
            <a:bodyPr wrap="square" lIns="0" tIns="0" rIns="0" bIns="0" rtlCol="0"/>
            <a:lstStyle/>
            <a:p/>
          </p:txBody>
        </p:sp>
        <p:sp>
          <p:nvSpPr>
            <p:cNvPr id="108" name="object 108" descr=""/>
            <p:cNvSpPr/>
            <p:nvPr/>
          </p:nvSpPr>
          <p:spPr>
            <a:xfrm>
              <a:off x="3872077" y="3532250"/>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244"/>
                  </a:lnTo>
                  <a:lnTo>
                    <a:pt x="28409" y="1244"/>
                  </a:lnTo>
                  <a:lnTo>
                    <a:pt x="28409" y="0"/>
                  </a:lnTo>
                  <a:close/>
                </a:path>
                <a:path w="28575" h="45085">
                  <a:moveTo>
                    <a:pt x="28409" y="1244"/>
                  </a:moveTo>
                  <a:lnTo>
                    <a:pt x="27228" y="1244"/>
                  </a:lnTo>
                  <a:lnTo>
                    <a:pt x="27228" y="43307"/>
                  </a:lnTo>
                  <a:lnTo>
                    <a:pt x="28409" y="43307"/>
                  </a:lnTo>
                  <a:lnTo>
                    <a:pt x="28409" y="1244"/>
                  </a:lnTo>
                  <a:close/>
                </a:path>
              </a:pathLst>
            </a:custGeom>
            <a:solidFill>
              <a:srgbClr val="879C82"/>
            </a:solidFill>
          </p:spPr>
          <p:txBody>
            <a:bodyPr wrap="square" lIns="0" tIns="0" rIns="0" bIns="0" rtlCol="0"/>
            <a:lstStyle/>
            <a:p/>
          </p:txBody>
        </p:sp>
        <p:sp>
          <p:nvSpPr>
            <p:cNvPr id="109" name="object 109" descr=""/>
            <p:cNvSpPr/>
            <p:nvPr/>
          </p:nvSpPr>
          <p:spPr>
            <a:xfrm>
              <a:off x="3830472" y="3607091"/>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E0E6E2"/>
            </a:solidFill>
          </p:spPr>
          <p:txBody>
            <a:bodyPr wrap="square" lIns="0" tIns="0" rIns="0" bIns="0" rtlCol="0"/>
            <a:lstStyle/>
            <a:p/>
          </p:txBody>
        </p:sp>
        <p:sp>
          <p:nvSpPr>
            <p:cNvPr id="110" name="object 110" descr=""/>
            <p:cNvSpPr/>
            <p:nvPr/>
          </p:nvSpPr>
          <p:spPr>
            <a:xfrm>
              <a:off x="3830472" y="3607091"/>
              <a:ext cx="28575" cy="45085"/>
            </a:xfrm>
            <a:custGeom>
              <a:avLst/>
              <a:gdLst/>
              <a:ahLst/>
              <a:cxnLst/>
              <a:rect l="l" t="t" r="r" b="b"/>
              <a:pathLst>
                <a:path w="28575" h="45085">
                  <a:moveTo>
                    <a:pt x="28409" y="0"/>
                  </a:moveTo>
                  <a:lnTo>
                    <a:pt x="0" y="0"/>
                  </a:lnTo>
                  <a:lnTo>
                    <a:pt x="0" y="44500"/>
                  </a:lnTo>
                  <a:lnTo>
                    <a:pt x="28409" y="44500"/>
                  </a:lnTo>
                  <a:lnTo>
                    <a:pt x="28409" y="43256"/>
                  </a:lnTo>
                  <a:lnTo>
                    <a:pt x="1257" y="43256"/>
                  </a:lnTo>
                  <a:lnTo>
                    <a:pt x="1257" y="1244"/>
                  </a:lnTo>
                  <a:lnTo>
                    <a:pt x="28409" y="1244"/>
                  </a:lnTo>
                  <a:lnTo>
                    <a:pt x="28409" y="0"/>
                  </a:lnTo>
                  <a:close/>
                </a:path>
                <a:path w="28575" h="45085">
                  <a:moveTo>
                    <a:pt x="28409" y="1244"/>
                  </a:moveTo>
                  <a:lnTo>
                    <a:pt x="27165" y="1244"/>
                  </a:lnTo>
                  <a:lnTo>
                    <a:pt x="27165" y="43256"/>
                  </a:lnTo>
                  <a:lnTo>
                    <a:pt x="28409" y="43256"/>
                  </a:lnTo>
                  <a:lnTo>
                    <a:pt x="28409" y="1244"/>
                  </a:lnTo>
                  <a:close/>
                </a:path>
              </a:pathLst>
            </a:custGeom>
            <a:solidFill>
              <a:srgbClr val="879C82"/>
            </a:solidFill>
          </p:spPr>
          <p:txBody>
            <a:bodyPr wrap="square" lIns="0" tIns="0" rIns="0" bIns="0" rtlCol="0"/>
            <a:lstStyle/>
            <a:p/>
          </p:txBody>
        </p:sp>
        <p:sp>
          <p:nvSpPr>
            <p:cNvPr id="111" name="object 111" descr=""/>
            <p:cNvSpPr/>
            <p:nvPr/>
          </p:nvSpPr>
          <p:spPr>
            <a:xfrm>
              <a:off x="3872077" y="3607091"/>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E0E6E2"/>
            </a:solidFill>
          </p:spPr>
          <p:txBody>
            <a:bodyPr wrap="square" lIns="0" tIns="0" rIns="0" bIns="0" rtlCol="0"/>
            <a:lstStyle/>
            <a:p/>
          </p:txBody>
        </p:sp>
        <p:sp>
          <p:nvSpPr>
            <p:cNvPr id="112" name="object 112" descr=""/>
            <p:cNvSpPr/>
            <p:nvPr/>
          </p:nvSpPr>
          <p:spPr>
            <a:xfrm>
              <a:off x="3872077" y="3607091"/>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28" y="1244"/>
                  </a:lnTo>
                  <a:lnTo>
                    <a:pt x="27228" y="43256"/>
                  </a:lnTo>
                  <a:lnTo>
                    <a:pt x="28409" y="43256"/>
                  </a:lnTo>
                  <a:lnTo>
                    <a:pt x="28409" y="1244"/>
                  </a:lnTo>
                  <a:close/>
                </a:path>
              </a:pathLst>
            </a:custGeom>
            <a:solidFill>
              <a:srgbClr val="879C82"/>
            </a:solidFill>
          </p:spPr>
          <p:txBody>
            <a:bodyPr wrap="square" lIns="0" tIns="0" rIns="0" bIns="0" rtlCol="0"/>
            <a:lstStyle/>
            <a:p/>
          </p:txBody>
        </p:sp>
        <p:sp>
          <p:nvSpPr>
            <p:cNvPr id="113" name="object 113" descr=""/>
            <p:cNvSpPr/>
            <p:nvPr/>
          </p:nvSpPr>
          <p:spPr>
            <a:xfrm>
              <a:off x="3830472" y="3681933"/>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E0E6E2"/>
            </a:solidFill>
          </p:spPr>
          <p:txBody>
            <a:bodyPr wrap="square" lIns="0" tIns="0" rIns="0" bIns="0" rtlCol="0"/>
            <a:lstStyle/>
            <a:p/>
          </p:txBody>
        </p:sp>
        <p:sp>
          <p:nvSpPr>
            <p:cNvPr id="114" name="object 114" descr=""/>
            <p:cNvSpPr/>
            <p:nvPr/>
          </p:nvSpPr>
          <p:spPr>
            <a:xfrm>
              <a:off x="3830472" y="3680917"/>
              <a:ext cx="28575" cy="45720"/>
            </a:xfrm>
            <a:custGeom>
              <a:avLst/>
              <a:gdLst/>
              <a:ahLst/>
              <a:cxnLst/>
              <a:rect l="l" t="t" r="r" b="b"/>
              <a:pathLst>
                <a:path w="28575" h="45720">
                  <a:moveTo>
                    <a:pt x="28409" y="0"/>
                  </a:moveTo>
                  <a:lnTo>
                    <a:pt x="0" y="0"/>
                  </a:lnTo>
                  <a:lnTo>
                    <a:pt x="0" y="45516"/>
                  </a:lnTo>
                  <a:lnTo>
                    <a:pt x="28409" y="45516"/>
                  </a:lnTo>
                  <a:lnTo>
                    <a:pt x="28409" y="44246"/>
                  </a:lnTo>
                  <a:lnTo>
                    <a:pt x="1257" y="44246"/>
                  </a:lnTo>
                  <a:lnTo>
                    <a:pt x="1257" y="1219"/>
                  </a:lnTo>
                  <a:lnTo>
                    <a:pt x="28409" y="1219"/>
                  </a:lnTo>
                  <a:lnTo>
                    <a:pt x="28409" y="0"/>
                  </a:lnTo>
                  <a:close/>
                </a:path>
                <a:path w="28575" h="45720">
                  <a:moveTo>
                    <a:pt x="28409" y="1219"/>
                  </a:moveTo>
                  <a:lnTo>
                    <a:pt x="27165" y="1219"/>
                  </a:lnTo>
                  <a:lnTo>
                    <a:pt x="27165" y="44246"/>
                  </a:lnTo>
                  <a:lnTo>
                    <a:pt x="28409" y="44246"/>
                  </a:lnTo>
                  <a:lnTo>
                    <a:pt x="28409" y="1219"/>
                  </a:lnTo>
                  <a:close/>
                </a:path>
              </a:pathLst>
            </a:custGeom>
            <a:solidFill>
              <a:srgbClr val="879C82"/>
            </a:solidFill>
          </p:spPr>
          <p:txBody>
            <a:bodyPr wrap="square" lIns="0" tIns="0" rIns="0" bIns="0" rtlCol="0"/>
            <a:lstStyle/>
            <a:p/>
          </p:txBody>
        </p:sp>
        <p:sp>
          <p:nvSpPr>
            <p:cNvPr id="115" name="object 115" descr=""/>
            <p:cNvSpPr/>
            <p:nvPr/>
          </p:nvSpPr>
          <p:spPr>
            <a:xfrm>
              <a:off x="3872077" y="3681933"/>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E0E6E2"/>
            </a:solidFill>
          </p:spPr>
          <p:txBody>
            <a:bodyPr wrap="square" lIns="0" tIns="0" rIns="0" bIns="0" rtlCol="0"/>
            <a:lstStyle/>
            <a:p/>
          </p:txBody>
        </p:sp>
        <p:sp>
          <p:nvSpPr>
            <p:cNvPr id="116" name="object 116" descr=""/>
            <p:cNvSpPr/>
            <p:nvPr/>
          </p:nvSpPr>
          <p:spPr>
            <a:xfrm>
              <a:off x="3872077" y="3680917"/>
              <a:ext cx="28575" cy="45720"/>
            </a:xfrm>
            <a:custGeom>
              <a:avLst/>
              <a:gdLst/>
              <a:ahLst/>
              <a:cxnLst/>
              <a:rect l="l" t="t" r="r" b="b"/>
              <a:pathLst>
                <a:path w="28575" h="45720">
                  <a:moveTo>
                    <a:pt x="28409" y="0"/>
                  </a:moveTo>
                  <a:lnTo>
                    <a:pt x="0" y="0"/>
                  </a:lnTo>
                  <a:lnTo>
                    <a:pt x="0" y="45516"/>
                  </a:lnTo>
                  <a:lnTo>
                    <a:pt x="28409" y="45516"/>
                  </a:lnTo>
                  <a:lnTo>
                    <a:pt x="28409" y="44246"/>
                  </a:lnTo>
                  <a:lnTo>
                    <a:pt x="1206" y="44246"/>
                  </a:lnTo>
                  <a:lnTo>
                    <a:pt x="1206" y="1219"/>
                  </a:lnTo>
                  <a:lnTo>
                    <a:pt x="28409" y="1219"/>
                  </a:lnTo>
                  <a:lnTo>
                    <a:pt x="28409" y="0"/>
                  </a:lnTo>
                  <a:close/>
                </a:path>
                <a:path w="28575" h="45720">
                  <a:moveTo>
                    <a:pt x="28409" y="1219"/>
                  </a:moveTo>
                  <a:lnTo>
                    <a:pt x="27228" y="1219"/>
                  </a:lnTo>
                  <a:lnTo>
                    <a:pt x="27228" y="44246"/>
                  </a:lnTo>
                  <a:lnTo>
                    <a:pt x="28409" y="44246"/>
                  </a:lnTo>
                  <a:lnTo>
                    <a:pt x="28409" y="1219"/>
                  </a:lnTo>
                  <a:close/>
                </a:path>
              </a:pathLst>
            </a:custGeom>
            <a:solidFill>
              <a:srgbClr val="879C82"/>
            </a:solidFill>
          </p:spPr>
          <p:txBody>
            <a:bodyPr wrap="square" lIns="0" tIns="0" rIns="0" bIns="0" rtlCol="0"/>
            <a:lstStyle/>
            <a:p/>
          </p:txBody>
        </p:sp>
        <p:sp>
          <p:nvSpPr>
            <p:cNvPr id="117" name="object 117" descr=""/>
            <p:cNvSpPr/>
            <p:nvPr/>
          </p:nvSpPr>
          <p:spPr>
            <a:xfrm>
              <a:off x="3769588" y="3740594"/>
              <a:ext cx="219710" cy="495934"/>
            </a:xfrm>
            <a:custGeom>
              <a:avLst/>
              <a:gdLst/>
              <a:ahLst/>
              <a:cxnLst/>
              <a:rect l="l" t="t" r="r" b="b"/>
              <a:pathLst>
                <a:path w="219710" h="495935">
                  <a:moveTo>
                    <a:pt x="219201" y="0"/>
                  </a:moveTo>
                  <a:lnTo>
                    <a:pt x="0" y="0"/>
                  </a:lnTo>
                  <a:lnTo>
                    <a:pt x="0" y="495566"/>
                  </a:lnTo>
                  <a:lnTo>
                    <a:pt x="219201" y="495566"/>
                  </a:lnTo>
                  <a:lnTo>
                    <a:pt x="219201" y="0"/>
                  </a:lnTo>
                  <a:close/>
                </a:path>
              </a:pathLst>
            </a:custGeom>
            <a:solidFill>
              <a:srgbClr val="4D7299"/>
            </a:solidFill>
          </p:spPr>
          <p:txBody>
            <a:bodyPr wrap="square" lIns="0" tIns="0" rIns="0" bIns="0" rtlCol="0"/>
            <a:lstStyle/>
            <a:p/>
          </p:txBody>
        </p:sp>
        <p:sp>
          <p:nvSpPr>
            <p:cNvPr id="118" name="object 118" descr=""/>
            <p:cNvSpPr/>
            <p:nvPr/>
          </p:nvSpPr>
          <p:spPr>
            <a:xfrm>
              <a:off x="3768572" y="3740149"/>
              <a:ext cx="221615" cy="496570"/>
            </a:xfrm>
            <a:custGeom>
              <a:avLst/>
              <a:gdLst/>
              <a:ahLst/>
              <a:cxnLst/>
              <a:rect l="l" t="t" r="r" b="b"/>
              <a:pathLst>
                <a:path w="221614" h="496570">
                  <a:moveTo>
                    <a:pt x="221234" y="622"/>
                  </a:moveTo>
                  <a:lnTo>
                    <a:pt x="220027" y="622"/>
                  </a:lnTo>
                  <a:lnTo>
                    <a:pt x="220027" y="495300"/>
                  </a:lnTo>
                  <a:lnTo>
                    <a:pt x="1193" y="495300"/>
                  </a:lnTo>
                  <a:lnTo>
                    <a:pt x="1193" y="0"/>
                  </a:lnTo>
                  <a:lnTo>
                    <a:pt x="0" y="0"/>
                  </a:lnTo>
                  <a:lnTo>
                    <a:pt x="0" y="495300"/>
                  </a:lnTo>
                  <a:lnTo>
                    <a:pt x="0" y="496570"/>
                  </a:lnTo>
                  <a:lnTo>
                    <a:pt x="221234" y="496570"/>
                  </a:lnTo>
                  <a:lnTo>
                    <a:pt x="221234" y="495769"/>
                  </a:lnTo>
                  <a:lnTo>
                    <a:pt x="221234" y="495300"/>
                  </a:lnTo>
                  <a:lnTo>
                    <a:pt x="221234" y="622"/>
                  </a:lnTo>
                  <a:close/>
                </a:path>
              </a:pathLst>
            </a:custGeom>
            <a:solidFill>
              <a:srgbClr val="9BD3F0"/>
            </a:solidFill>
          </p:spPr>
          <p:txBody>
            <a:bodyPr wrap="square" lIns="0" tIns="0" rIns="0" bIns="0" rtlCol="0"/>
            <a:lstStyle/>
            <a:p/>
          </p:txBody>
        </p:sp>
        <p:sp>
          <p:nvSpPr>
            <p:cNvPr id="119" name="object 119" descr=""/>
            <p:cNvSpPr/>
            <p:nvPr/>
          </p:nvSpPr>
          <p:spPr>
            <a:xfrm>
              <a:off x="3769583" y="3691036"/>
              <a:ext cx="297815" cy="50165"/>
            </a:xfrm>
            <a:custGeom>
              <a:avLst/>
              <a:gdLst/>
              <a:ahLst/>
              <a:cxnLst/>
              <a:rect l="l" t="t" r="r" b="b"/>
              <a:pathLst>
                <a:path w="297814" h="50164">
                  <a:moveTo>
                    <a:pt x="297345" y="0"/>
                  </a:moveTo>
                  <a:lnTo>
                    <a:pt x="77406" y="63"/>
                  </a:lnTo>
                  <a:lnTo>
                    <a:pt x="0" y="49555"/>
                  </a:lnTo>
                  <a:lnTo>
                    <a:pt x="219341" y="49555"/>
                  </a:lnTo>
                  <a:lnTo>
                    <a:pt x="297345" y="0"/>
                  </a:lnTo>
                  <a:close/>
                </a:path>
              </a:pathLst>
            </a:custGeom>
            <a:solidFill>
              <a:srgbClr val="7FA6C8"/>
            </a:solidFill>
          </p:spPr>
          <p:txBody>
            <a:bodyPr wrap="square" lIns="0" tIns="0" rIns="0" bIns="0" rtlCol="0"/>
            <a:lstStyle/>
            <a:p/>
          </p:txBody>
        </p:sp>
        <p:sp>
          <p:nvSpPr>
            <p:cNvPr id="120" name="object 120" descr=""/>
            <p:cNvSpPr/>
            <p:nvPr/>
          </p:nvSpPr>
          <p:spPr>
            <a:xfrm>
              <a:off x="3769583" y="3690137"/>
              <a:ext cx="298450" cy="50800"/>
            </a:xfrm>
            <a:custGeom>
              <a:avLst/>
              <a:gdLst/>
              <a:ahLst/>
              <a:cxnLst/>
              <a:rect l="l" t="t" r="r" b="b"/>
              <a:pathLst>
                <a:path w="298450" h="50800">
                  <a:moveTo>
                    <a:pt x="298087" y="0"/>
                  </a:moveTo>
                  <a:lnTo>
                    <a:pt x="77533" y="0"/>
                  </a:lnTo>
                  <a:lnTo>
                    <a:pt x="0" y="49326"/>
                  </a:lnTo>
                  <a:lnTo>
                    <a:pt x="419" y="50457"/>
                  </a:lnTo>
                  <a:lnTo>
                    <a:pt x="219998" y="50457"/>
                  </a:lnTo>
                  <a:lnTo>
                    <a:pt x="221790" y="49326"/>
                  </a:lnTo>
                  <a:lnTo>
                    <a:pt x="2287" y="49326"/>
                  </a:lnTo>
                  <a:lnTo>
                    <a:pt x="78066" y="1142"/>
                  </a:lnTo>
                  <a:lnTo>
                    <a:pt x="298395" y="1142"/>
                  </a:lnTo>
                  <a:lnTo>
                    <a:pt x="298087" y="0"/>
                  </a:lnTo>
                  <a:close/>
                </a:path>
                <a:path w="298450" h="50800">
                  <a:moveTo>
                    <a:pt x="298159" y="1142"/>
                  </a:moveTo>
                  <a:lnTo>
                    <a:pt x="295973" y="1142"/>
                  </a:lnTo>
                  <a:lnTo>
                    <a:pt x="219596" y="49326"/>
                  </a:lnTo>
                  <a:lnTo>
                    <a:pt x="221790" y="49326"/>
                  </a:lnTo>
                  <a:lnTo>
                    <a:pt x="298159" y="1142"/>
                  </a:lnTo>
                  <a:close/>
                </a:path>
              </a:pathLst>
            </a:custGeom>
            <a:solidFill>
              <a:srgbClr val="9BD3F0"/>
            </a:solidFill>
          </p:spPr>
          <p:txBody>
            <a:bodyPr wrap="square" lIns="0" tIns="0" rIns="0" bIns="0" rtlCol="0"/>
            <a:lstStyle/>
            <a:p/>
          </p:txBody>
        </p:sp>
        <p:sp>
          <p:nvSpPr>
            <p:cNvPr id="121" name="object 121" descr=""/>
            <p:cNvSpPr/>
            <p:nvPr/>
          </p:nvSpPr>
          <p:spPr>
            <a:xfrm>
              <a:off x="3988785" y="3691035"/>
              <a:ext cx="78740" cy="545465"/>
            </a:xfrm>
            <a:custGeom>
              <a:avLst/>
              <a:gdLst/>
              <a:ahLst/>
              <a:cxnLst/>
              <a:rect l="l" t="t" r="r" b="b"/>
              <a:pathLst>
                <a:path w="78739" h="545464">
                  <a:moveTo>
                    <a:pt x="78143" y="0"/>
                  </a:moveTo>
                  <a:lnTo>
                    <a:pt x="0" y="49199"/>
                  </a:lnTo>
                  <a:lnTo>
                    <a:pt x="0" y="545134"/>
                  </a:lnTo>
                  <a:lnTo>
                    <a:pt x="78079" y="495871"/>
                  </a:lnTo>
                  <a:lnTo>
                    <a:pt x="78143" y="0"/>
                  </a:lnTo>
                  <a:close/>
                </a:path>
              </a:pathLst>
            </a:custGeom>
            <a:solidFill>
              <a:srgbClr val="004264"/>
            </a:solidFill>
          </p:spPr>
          <p:txBody>
            <a:bodyPr wrap="square" lIns="0" tIns="0" rIns="0" bIns="0" rtlCol="0"/>
            <a:lstStyle/>
            <a:p/>
          </p:txBody>
        </p:sp>
        <p:sp>
          <p:nvSpPr>
            <p:cNvPr id="122" name="object 122" descr=""/>
            <p:cNvSpPr/>
            <p:nvPr/>
          </p:nvSpPr>
          <p:spPr>
            <a:xfrm>
              <a:off x="3988788" y="3690026"/>
              <a:ext cx="79375" cy="547370"/>
            </a:xfrm>
            <a:custGeom>
              <a:avLst/>
              <a:gdLst/>
              <a:ahLst/>
              <a:cxnLst/>
              <a:rect l="l" t="t" r="r" b="b"/>
              <a:pathLst>
                <a:path w="79375" h="547370">
                  <a:moveTo>
                    <a:pt x="79159" y="0"/>
                  </a:moveTo>
                  <a:lnTo>
                    <a:pt x="78257" y="596"/>
                  </a:lnTo>
                  <a:lnTo>
                    <a:pt x="0" y="50012"/>
                  </a:lnTo>
                  <a:lnTo>
                    <a:pt x="0" y="547154"/>
                  </a:lnTo>
                  <a:lnTo>
                    <a:pt x="3500" y="544944"/>
                  </a:lnTo>
                  <a:lnTo>
                    <a:pt x="1193" y="544944"/>
                  </a:lnTo>
                  <a:lnTo>
                    <a:pt x="1193" y="50673"/>
                  </a:lnTo>
                  <a:lnTo>
                    <a:pt x="77965" y="2197"/>
                  </a:lnTo>
                  <a:lnTo>
                    <a:pt x="79158" y="2197"/>
                  </a:lnTo>
                  <a:lnTo>
                    <a:pt x="79159" y="0"/>
                  </a:lnTo>
                  <a:close/>
                </a:path>
                <a:path w="79375" h="547370">
                  <a:moveTo>
                    <a:pt x="79158" y="2197"/>
                  </a:moveTo>
                  <a:lnTo>
                    <a:pt x="77965" y="2197"/>
                  </a:lnTo>
                  <a:lnTo>
                    <a:pt x="77851" y="496531"/>
                  </a:lnTo>
                  <a:lnTo>
                    <a:pt x="1193" y="544944"/>
                  </a:lnTo>
                  <a:lnTo>
                    <a:pt x="3500" y="544944"/>
                  </a:lnTo>
                  <a:lnTo>
                    <a:pt x="78854" y="497370"/>
                  </a:lnTo>
                  <a:lnTo>
                    <a:pt x="79095" y="497192"/>
                  </a:lnTo>
                  <a:lnTo>
                    <a:pt x="79158" y="2197"/>
                  </a:lnTo>
                  <a:close/>
                </a:path>
              </a:pathLst>
            </a:custGeom>
            <a:solidFill>
              <a:srgbClr val="9BD3F0"/>
            </a:solidFill>
          </p:spPr>
          <p:txBody>
            <a:bodyPr wrap="square" lIns="0" tIns="0" rIns="0" bIns="0" rtlCol="0"/>
            <a:lstStyle/>
            <a:p/>
          </p:txBody>
        </p:sp>
        <p:sp>
          <p:nvSpPr>
            <p:cNvPr id="123" name="object 123" descr=""/>
            <p:cNvSpPr/>
            <p:nvPr/>
          </p:nvSpPr>
          <p:spPr>
            <a:xfrm>
              <a:off x="3784803" y="3816438"/>
              <a:ext cx="28575" cy="45085"/>
            </a:xfrm>
            <a:custGeom>
              <a:avLst/>
              <a:gdLst/>
              <a:ahLst/>
              <a:cxnLst/>
              <a:rect l="l" t="t" r="r" b="b"/>
              <a:pathLst>
                <a:path w="28575" h="45085">
                  <a:moveTo>
                    <a:pt x="28409" y="0"/>
                  </a:moveTo>
                  <a:lnTo>
                    <a:pt x="27393" y="0"/>
                  </a:lnTo>
                  <a:lnTo>
                    <a:pt x="0" y="0"/>
                  </a:lnTo>
                  <a:lnTo>
                    <a:pt x="0" y="43497"/>
                  </a:lnTo>
                  <a:lnTo>
                    <a:pt x="0" y="44513"/>
                  </a:lnTo>
                  <a:lnTo>
                    <a:pt x="28409" y="44513"/>
                  </a:lnTo>
                  <a:lnTo>
                    <a:pt x="28409" y="43319"/>
                  </a:lnTo>
                  <a:lnTo>
                    <a:pt x="28409" y="1193"/>
                  </a:lnTo>
                  <a:lnTo>
                    <a:pt x="28409" y="0"/>
                  </a:lnTo>
                  <a:close/>
                </a:path>
              </a:pathLst>
            </a:custGeom>
            <a:solidFill>
              <a:srgbClr val="7FA6C8"/>
            </a:solidFill>
          </p:spPr>
          <p:txBody>
            <a:bodyPr wrap="square" lIns="0" tIns="0" rIns="0" bIns="0" rtlCol="0"/>
            <a:lstStyle/>
            <a:p/>
          </p:txBody>
        </p:sp>
        <p:sp>
          <p:nvSpPr>
            <p:cNvPr id="124" name="object 124" descr=""/>
            <p:cNvSpPr/>
            <p:nvPr/>
          </p:nvSpPr>
          <p:spPr>
            <a:xfrm>
              <a:off x="3784803" y="381643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6390" y="1015"/>
                  </a:lnTo>
                  <a:lnTo>
                    <a:pt x="26390" y="43497"/>
                  </a:lnTo>
                  <a:lnTo>
                    <a:pt x="1015" y="43497"/>
                  </a:lnTo>
                  <a:lnTo>
                    <a:pt x="1015" y="1015"/>
                  </a:lnTo>
                  <a:close/>
                </a:path>
              </a:pathLst>
            </a:custGeom>
            <a:ln w="3175">
              <a:solidFill>
                <a:srgbClr val="9BD3F0"/>
              </a:solidFill>
            </a:ln>
          </p:spPr>
          <p:txBody>
            <a:bodyPr wrap="square" lIns="0" tIns="0" rIns="0" bIns="0" rtlCol="0"/>
            <a:lstStyle/>
            <a:p/>
          </p:txBody>
        </p:sp>
        <p:sp>
          <p:nvSpPr>
            <p:cNvPr id="125" name="object 125" descr=""/>
            <p:cNvSpPr/>
            <p:nvPr/>
          </p:nvSpPr>
          <p:spPr>
            <a:xfrm>
              <a:off x="3824389" y="3816438"/>
              <a:ext cx="28575" cy="45085"/>
            </a:xfrm>
            <a:custGeom>
              <a:avLst/>
              <a:gdLst/>
              <a:ahLst/>
              <a:cxnLst/>
              <a:rect l="l" t="t" r="r" b="b"/>
              <a:pathLst>
                <a:path w="28575" h="45085">
                  <a:moveTo>
                    <a:pt x="28409" y="0"/>
                  </a:moveTo>
                  <a:lnTo>
                    <a:pt x="1016" y="0"/>
                  </a:lnTo>
                  <a:lnTo>
                    <a:pt x="0" y="0"/>
                  </a:lnTo>
                  <a:lnTo>
                    <a:pt x="0" y="44513"/>
                  </a:lnTo>
                  <a:lnTo>
                    <a:pt x="28409" y="44513"/>
                  </a:lnTo>
                  <a:lnTo>
                    <a:pt x="28409" y="43497"/>
                  </a:lnTo>
                  <a:lnTo>
                    <a:pt x="28409" y="43319"/>
                  </a:lnTo>
                  <a:lnTo>
                    <a:pt x="28409" y="1193"/>
                  </a:lnTo>
                  <a:lnTo>
                    <a:pt x="28409" y="0"/>
                  </a:lnTo>
                  <a:close/>
                </a:path>
              </a:pathLst>
            </a:custGeom>
            <a:solidFill>
              <a:srgbClr val="7FA6C8"/>
            </a:solidFill>
          </p:spPr>
          <p:txBody>
            <a:bodyPr wrap="square" lIns="0" tIns="0" rIns="0" bIns="0" rtlCol="0"/>
            <a:lstStyle/>
            <a:p/>
          </p:txBody>
        </p:sp>
        <p:sp>
          <p:nvSpPr>
            <p:cNvPr id="126" name="object 126" descr=""/>
            <p:cNvSpPr/>
            <p:nvPr/>
          </p:nvSpPr>
          <p:spPr>
            <a:xfrm>
              <a:off x="3824389" y="381643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7406" y="1015"/>
                  </a:lnTo>
                  <a:lnTo>
                    <a:pt x="27406" y="43497"/>
                  </a:lnTo>
                  <a:lnTo>
                    <a:pt x="1016" y="43497"/>
                  </a:lnTo>
                  <a:lnTo>
                    <a:pt x="1016" y="1015"/>
                  </a:lnTo>
                  <a:close/>
                </a:path>
              </a:pathLst>
            </a:custGeom>
            <a:ln w="3175">
              <a:solidFill>
                <a:srgbClr val="9BD3F0"/>
              </a:solidFill>
            </a:ln>
          </p:spPr>
          <p:txBody>
            <a:bodyPr wrap="square" lIns="0" tIns="0" rIns="0" bIns="0" rtlCol="0"/>
            <a:lstStyle/>
            <a:p/>
          </p:txBody>
        </p:sp>
        <p:sp>
          <p:nvSpPr>
            <p:cNvPr id="127" name="object 127" descr=""/>
            <p:cNvSpPr/>
            <p:nvPr/>
          </p:nvSpPr>
          <p:spPr>
            <a:xfrm>
              <a:off x="3864978" y="3816438"/>
              <a:ext cx="28575" cy="45085"/>
            </a:xfrm>
            <a:custGeom>
              <a:avLst/>
              <a:gdLst/>
              <a:ahLst/>
              <a:cxnLst/>
              <a:rect l="l" t="t" r="r" b="b"/>
              <a:pathLst>
                <a:path w="28575" h="45085">
                  <a:moveTo>
                    <a:pt x="28409" y="0"/>
                  </a:moveTo>
                  <a:lnTo>
                    <a:pt x="27393" y="0"/>
                  </a:lnTo>
                  <a:lnTo>
                    <a:pt x="0" y="0"/>
                  </a:lnTo>
                  <a:lnTo>
                    <a:pt x="0" y="43497"/>
                  </a:lnTo>
                  <a:lnTo>
                    <a:pt x="0" y="44513"/>
                  </a:lnTo>
                  <a:lnTo>
                    <a:pt x="28409" y="44513"/>
                  </a:lnTo>
                  <a:lnTo>
                    <a:pt x="28409" y="43319"/>
                  </a:lnTo>
                  <a:lnTo>
                    <a:pt x="28409" y="1193"/>
                  </a:lnTo>
                  <a:lnTo>
                    <a:pt x="28409" y="0"/>
                  </a:lnTo>
                  <a:close/>
                </a:path>
              </a:pathLst>
            </a:custGeom>
            <a:solidFill>
              <a:srgbClr val="7FA6C8"/>
            </a:solidFill>
          </p:spPr>
          <p:txBody>
            <a:bodyPr wrap="square" lIns="0" tIns="0" rIns="0" bIns="0" rtlCol="0"/>
            <a:lstStyle/>
            <a:p/>
          </p:txBody>
        </p:sp>
        <p:sp>
          <p:nvSpPr>
            <p:cNvPr id="128" name="object 128" descr=""/>
            <p:cNvSpPr/>
            <p:nvPr/>
          </p:nvSpPr>
          <p:spPr>
            <a:xfrm>
              <a:off x="3864978" y="381643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6390" y="1015"/>
                  </a:lnTo>
                  <a:lnTo>
                    <a:pt x="26390" y="43497"/>
                  </a:lnTo>
                  <a:lnTo>
                    <a:pt x="1015" y="43497"/>
                  </a:lnTo>
                  <a:lnTo>
                    <a:pt x="1015" y="1015"/>
                  </a:lnTo>
                  <a:close/>
                </a:path>
              </a:pathLst>
            </a:custGeom>
            <a:ln w="3175">
              <a:solidFill>
                <a:srgbClr val="9BD3F0"/>
              </a:solidFill>
            </a:ln>
          </p:spPr>
          <p:txBody>
            <a:bodyPr wrap="square" lIns="0" tIns="0" rIns="0" bIns="0" rtlCol="0"/>
            <a:lstStyle/>
            <a:p/>
          </p:txBody>
        </p:sp>
        <p:sp>
          <p:nvSpPr>
            <p:cNvPr id="129" name="object 129" descr=""/>
            <p:cNvSpPr/>
            <p:nvPr/>
          </p:nvSpPr>
          <p:spPr>
            <a:xfrm>
              <a:off x="3904551" y="3816438"/>
              <a:ext cx="28575" cy="45085"/>
            </a:xfrm>
            <a:custGeom>
              <a:avLst/>
              <a:gdLst/>
              <a:ahLst/>
              <a:cxnLst/>
              <a:rect l="l" t="t" r="r" b="b"/>
              <a:pathLst>
                <a:path w="28575" h="45085">
                  <a:moveTo>
                    <a:pt x="28422" y="0"/>
                  </a:moveTo>
                  <a:lnTo>
                    <a:pt x="1016" y="0"/>
                  </a:lnTo>
                  <a:lnTo>
                    <a:pt x="0" y="0"/>
                  </a:lnTo>
                  <a:lnTo>
                    <a:pt x="0" y="44513"/>
                  </a:lnTo>
                  <a:lnTo>
                    <a:pt x="28409" y="44513"/>
                  </a:lnTo>
                  <a:lnTo>
                    <a:pt x="28409" y="43497"/>
                  </a:lnTo>
                  <a:lnTo>
                    <a:pt x="28422" y="0"/>
                  </a:lnTo>
                  <a:close/>
                </a:path>
              </a:pathLst>
            </a:custGeom>
            <a:solidFill>
              <a:srgbClr val="7FA6C8"/>
            </a:solidFill>
          </p:spPr>
          <p:txBody>
            <a:bodyPr wrap="square" lIns="0" tIns="0" rIns="0" bIns="0" rtlCol="0"/>
            <a:lstStyle/>
            <a:p/>
          </p:txBody>
        </p:sp>
        <p:sp>
          <p:nvSpPr>
            <p:cNvPr id="130" name="object 130" descr=""/>
            <p:cNvSpPr/>
            <p:nvPr/>
          </p:nvSpPr>
          <p:spPr>
            <a:xfrm>
              <a:off x="3904551" y="381643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7406" y="1015"/>
                  </a:lnTo>
                  <a:lnTo>
                    <a:pt x="27406" y="43497"/>
                  </a:lnTo>
                  <a:lnTo>
                    <a:pt x="1015" y="43497"/>
                  </a:lnTo>
                  <a:lnTo>
                    <a:pt x="1015" y="1015"/>
                  </a:lnTo>
                  <a:close/>
                </a:path>
              </a:pathLst>
            </a:custGeom>
            <a:ln w="3175">
              <a:solidFill>
                <a:srgbClr val="9BD3F0"/>
              </a:solidFill>
            </a:ln>
          </p:spPr>
          <p:txBody>
            <a:bodyPr wrap="square" lIns="0" tIns="0" rIns="0" bIns="0" rtlCol="0"/>
            <a:lstStyle/>
            <a:p/>
          </p:txBody>
        </p:sp>
        <p:sp>
          <p:nvSpPr>
            <p:cNvPr id="131" name="object 131" descr=""/>
            <p:cNvSpPr/>
            <p:nvPr/>
          </p:nvSpPr>
          <p:spPr>
            <a:xfrm>
              <a:off x="3948188" y="3816438"/>
              <a:ext cx="27940" cy="45085"/>
            </a:xfrm>
            <a:custGeom>
              <a:avLst/>
              <a:gdLst/>
              <a:ahLst/>
              <a:cxnLst/>
              <a:rect l="l" t="t" r="r" b="b"/>
              <a:pathLst>
                <a:path w="27939" h="45085">
                  <a:moveTo>
                    <a:pt x="27406" y="0"/>
                  </a:moveTo>
                  <a:lnTo>
                    <a:pt x="0" y="0"/>
                  </a:lnTo>
                  <a:lnTo>
                    <a:pt x="0" y="43497"/>
                  </a:lnTo>
                  <a:lnTo>
                    <a:pt x="0" y="44513"/>
                  </a:lnTo>
                  <a:lnTo>
                    <a:pt x="27406" y="44513"/>
                  </a:lnTo>
                  <a:lnTo>
                    <a:pt x="27406" y="43497"/>
                  </a:lnTo>
                  <a:lnTo>
                    <a:pt x="27406" y="43319"/>
                  </a:lnTo>
                  <a:lnTo>
                    <a:pt x="27406" y="1193"/>
                  </a:lnTo>
                  <a:lnTo>
                    <a:pt x="27406" y="0"/>
                  </a:lnTo>
                  <a:close/>
                </a:path>
              </a:pathLst>
            </a:custGeom>
            <a:solidFill>
              <a:srgbClr val="7FA6C8"/>
            </a:solidFill>
          </p:spPr>
          <p:txBody>
            <a:bodyPr wrap="square" lIns="0" tIns="0" rIns="0" bIns="0" rtlCol="0"/>
            <a:lstStyle/>
            <a:p/>
          </p:txBody>
        </p:sp>
        <p:sp>
          <p:nvSpPr>
            <p:cNvPr id="132" name="object 132" descr=""/>
            <p:cNvSpPr/>
            <p:nvPr/>
          </p:nvSpPr>
          <p:spPr>
            <a:xfrm>
              <a:off x="3948188" y="3816438"/>
              <a:ext cx="27940" cy="45085"/>
            </a:xfrm>
            <a:custGeom>
              <a:avLst/>
              <a:gdLst/>
              <a:ahLst/>
              <a:cxnLst/>
              <a:rect l="l" t="t" r="r" b="b"/>
              <a:pathLst>
                <a:path w="27939" h="45085">
                  <a:moveTo>
                    <a:pt x="0" y="0"/>
                  </a:moveTo>
                  <a:lnTo>
                    <a:pt x="27406" y="0"/>
                  </a:lnTo>
                  <a:lnTo>
                    <a:pt x="27406" y="44500"/>
                  </a:lnTo>
                  <a:lnTo>
                    <a:pt x="0" y="44500"/>
                  </a:lnTo>
                  <a:lnTo>
                    <a:pt x="0" y="0"/>
                  </a:lnTo>
                  <a:close/>
                </a:path>
                <a:path w="27939" h="45085">
                  <a:moveTo>
                    <a:pt x="1016" y="1015"/>
                  </a:moveTo>
                  <a:lnTo>
                    <a:pt x="26390" y="1015"/>
                  </a:lnTo>
                  <a:lnTo>
                    <a:pt x="26390" y="43497"/>
                  </a:lnTo>
                  <a:lnTo>
                    <a:pt x="1016" y="43497"/>
                  </a:lnTo>
                  <a:lnTo>
                    <a:pt x="1016" y="1015"/>
                  </a:lnTo>
                  <a:close/>
                </a:path>
              </a:pathLst>
            </a:custGeom>
            <a:ln w="3175">
              <a:solidFill>
                <a:srgbClr val="9BD3F0"/>
              </a:solidFill>
            </a:ln>
          </p:spPr>
          <p:txBody>
            <a:bodyPr wrap="square" lIns="0" tIns="0" rIns="0" bIns="0" rtlCol="0"/>
            <a:lstStyle/>
            <a:p/>
          </p:txBody>
        </p:sp>
        <p:sp>
          <p:nvSpPr>
            <p:cNvPr id="133" name="object 133" descr=""/>
            <p:cNvSpPr/>
            <p:nvPr/>
          </p:nvSpPr>
          <p:spPr>
            <a:xfrm>
              <a:off x="3784803" y="3890276"/>
              <a:ext cx="28575" cy="45720"/>
            </a:xfrm>
            <a:custGeom>
              <a:avLst/>
              <a:gdLst/>
              <a:ahLst/>
              <a:cxnLst/>
              <a:rect l="l" t="t" r="r" b="b"/>
              <a:pathLst>
                <a:path w="28575" h="45720">
                  <a:moveTo>
                    <a:pt x="28409" y="0"/>
                  </a:moveTo>
                  <a:lnTo>
                    <a:pt x="0" y="0"/>
                  </a:lnTo>
                  <a:lnTo>
                    <a:pt x="0" y="1016"/>
                  </a:lnTo>
                  <a:lnTo>
                    <a:pt x="0" y="44500"/>
                  </a:lnTo>
                  <a:lnTo>
                    <a:pt x="0" y="45516"/>
                  </a:lnTo>
                  <a:lnTo>
                    <a:pt x="28409" y="45516"/>
                  </a:lnTo>
                  <a:lnTo>
                    <a:pt x="28409" y="44234"/>
                  </a:lnTo>
                  <a:lnTo>
                    <a:pt x="28409" y="1270"/>
                  </a:lnTo>
                  <a:lnTo>
                    <a:pt x="28409" y="0"/>
                  </a:lnTo>
                  <a:close/>
                </a:path>
              </a:pathLst>
            </a:custGeom>
            <a:solidFill>
              <a:srgbClr val="7FA6C8"/>
            </a:solidFill>
          </p:spPr>
          <p:txBody>
            <a:bodyPr wrap="square" lIns="0" tIns="0" rIns="0" bIns="0" rtlCol="0"/>
            <a:lstStyle/>
            <a:p/>
          </p:txBody>
        </p:sp>
        <p:sp>
          <p:nvSpPr>
            <p:cNvPr id="134" name="object 134" descr=""/>
            <p:cNvSpPr/>
            <p:nvPr/>
          </p:nvSpPr>
          <p:spPr>
            <a:xfrm>
              <a:off x="3784803" y="3890276"/>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5" y="2019"/>
                  </a:moveTo>
                  <a:lnTo>
                    <a:pt x="26390" y="2019"/>
                  </a:lnTo>
                  <a:lnTo>
                    <a:pt x="26390" y="43484"/>
                  </a:lnTo>
                  <a:lnTo>
                    <a:pt x="1015" y="43484"/>
                  </a:lnTo>
                  <a:lnTo>
                    <a:pt x="1015" y="2019"/>
                  </a:lnTo>
                  <a:close/>
                </a:path>
              </a:pathLst>
            </a:custGeom>
            <a:ln w="3175">
              <a:solidFill>
                <a:srgbClr val="9BD3F0"/>
              </a:solidFill>
            </a:ln>
          </p:spPr>
          <p:txBody>
            <a:bodyPr wrap="square" lIns="0" tIns="0" rIns="0" bIns="0" rtlCol="0"/>
            <a:lstStyle/>
            <a:p/>
          </p:txBody>
        </p:sp>
        <p:sp>
          <p:nvSpPr>
            <p:cNvPr id="135" name="object 135" descr=""/>
            <p:cNvSpPr/>
            <p:nvPr/>
          </p:nvSpPr>
          <p:spPr>
            <a:xfrm>
              <a:off x="3824389" y="3890276"/>
              <a:ext cx="28575" cy="45720"/>
            </a:xfrm>
            <a:custGeom>
              <a:avLst/>
              <a:gdLst/>
              <a:ahLst/>
              <a:cxnLst/>
              <a:rect l="l" t="t" r="r" b="b"/>
              <a:pathLst>
                <a:path w="28575" h="45720">
                  <a:moveTo>
                    <a:pt x="28409" y="0"/>
                  </a:moveTo>
                  <a:lnTo>
                    <a:pt x="0" y="0"/>
                  </a:lnTo>
                  <a:lnTo>
                    <a:pt x="0" y="45516"/>
                  </a:lnTo>
                  <a:lnTo>
                    <a:pt x="28409" y="45516"/>
                  </a:lnTo>
                  <a:lnTo>
                    <a:pt x="28409" y="44500"/>
                  </a:lnTo>
                  <a:lnTo>
                    <a:pt x="28409" y="44234"/>
                  </a:lnTo>
                  <a:lnTo>
                    <a:pt x="28409" y="1270"/>
                  </a:lnTo>
                  <a:lnTo>
                    <a:pt x="28409" y="1016"/>
                  </a:lnTo>
                  <a:lnTo>
                    <a:pt x="28409" y="0"/>
                  </a:lnTo>
                  <a:close/>
                </a:path>
              </a:pathLst>
            </a:custGeom>
            <a:solidFill>
              <a:srgbClr val="7FA6C8"/>
            </a:solidFill>
          </p:spPr>
          <p:txBody>
            <a:bodyPr wrap="square" lIns="0" tIns="0" rIns="0" bIns="0" rtlCol="0"/>
            <a:lstStyle/>
            <a:p/>
          </p:txBody>
        </p:sp>
        <p:sp>
          <p:nvSpPr>
            <p:cNvPr id="136" name="object 136" descr=""/>
            <p:cNvSpPr/>
            <p:nvPr/>
          </p:nvSpPr>
          <p:spPr>
            <a:xfrm>
              <a:off x="3824389" y="3890276"/>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6" y="2019"/>
                  </a:moveTo>
                  <a:lnTo>
                    <a:pt x="27406" y="2019"/>
                  </a:lnTo>
                  <a:lnTo>
                    <a:pt x="27406" y="43484"/>
                  </a:lnTo>
                  <a:lnTo>
                    <a:pt x="1016" y="43484"/>
                  </a:lnTo>
                  <a:lnTo>
                    <a:pt x="1016" y="2019"/>
                  </a:lnTo>
                  <a:close/>
                </a:path>
              </a:pathLst>
            </a:custGeom>
            <a:ln w="3175">
              <a:solidFill>
                <a:srgbClr val="9BD3F0"/>
              </a:solidFill>
            </a:ln>
          </p:spPr>
          <p:txBody>
            <a:bodyPr wrap="square" lIns="0" tIns="0" rIns="0" bIns="0" rtlCol="0"/>
            <a:lstStyle/>
            <a:p/>
          </p:txBody>
        </p:sp>
        <p:sp>
          <p:nvSpPr>
            <p:cNvPr id="137" name="object 137" descr=""/>
            <p:cNvSpPr/>
            <p:nvPr/>
          </p:nvSpPr>
          <p:spPr>
            <a:xfrm>
              <a:off x="3864978" y="3890276"/>
              <a:ext cx="28575" cy="45720"/>
            </a:xfrm>
            <a:custGeom>
              <a:avLst/>
              <a:gdLst/>
              <a:ahLst/>
              <a:cxnLst/>
              <a:rect l="l" t="t" r="r" b="b"/>
              <a:pathLst>
                <a:path w="28575" h="45720">
                  <a:moveTo>
                    <a:pt x="28409" y="0"/>
                  </a:moveTo>
                  <a:lnTo>
                    <a:pt x="0" y="0"/>
                  </a:lnTo>
                  <a:lnTo>
                    <a:pt x="0" y="1016"/>
                  </a:lnTo>
                  <a:lnTo>
                    <a:pt x="0" y="44500"/>
                  </a:lnTo>
                  <a:lnTo>
                    <a:pt x="0" y="45516"/>
                  </a:lnTo>
                  <a:lnTo>
                    <a:pt x="28409" y="45516"/>
                  </a:lnTo>
                  <a:lnTo>
                    <a:pt x="28409" y="44234"/>
                  </a:lnTo>
                  <a:lnTo>
                    <a:pt x="28409" y="1270"/>
                  </a:lnTo>
                  <a:lnTo>
                    <a:pt x="28409" y="0"/>
                  </a:lnTo>
                  <a:close/>
                </a:path>
              </a:pathLst>
            </a:custGeom>
            <a:solidFill>
              <a:srgbClr val="7FA6C8"/>
            </a:solidFill>
          </p:spPr>
          <p:txBody>
            <a:bodyPr wrap="square" lIns="0" tIns="0" rIns="0" bIns="0" rtlCol="0"/>
            <a:lstStyle/>
            <a:p/>
          </p:txBody>
        </p:sp>
        <p:sp>
          <p:nvSpPr>
            <p:cNvPr id="138" name="object 138" descr=""/>
            <p:cNvSpPr/>
            <p:nvPr/>
          </p:nvSpPr>
          <p:spPr>
            <a:xfrm>
              <a:off x="3864978" y="3890276"/>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5" y="2019"/>
                  </a:moveTo>
                  <a:lnTo>
                    <a:pt x="26390" y="2019"/>
                  </a:lnTo>
                  <a:lnTo>
                    <a:pt x="26390" y="43484"/>
                  </a:lnTo>
                  <a:lnTo>
                    <a:pt x="1015" y="43484"/>
                  </a:lnTo>
                  <a:lnTo>
                    <a:pt x="1015" y="2019"/>
                  </a:lnTo>
                  <a:close/>
                </a:path>
              </a:pathLst>
            </a:custGeom>
            <a:ln w="3175">
              <a:solidFill>
                <a:srgbClr val="9BD3F0"/>
              </a:solidFill>
            </a:ln>
          </p:spPr>
          <p:txBody>
            <a:bodyPr wrap="square" lIns="0" tIns="0" rIns="0" bIns="0" rtlCol="0"/>
            <a:lstStyle/>
            <a:p/>
          </p:txBody>
        </p:sp>
        <p:sp>
          <p:nvSpPr>
            <p:cNvPr id="139" name="object 139" descr=""/>
            <p:cNvSpPr/>
            <p:nvPr/>
          </p:nvSpPr>
          <p:spPr>
            <a:xfrm>
              <a:off x="3904551" y="3890276"/>
              <a:ext cx="28575" cy="45720"/>
            </a:xfrm>
            <a:custGeom>
              <a:avLst/>
              <a:gdLst/>
              <a:ahLst/>
              <a:cxnLst/>
              <a:rect l="l" t="t" r="r" b="b"/>
              <a:pathLst>
                <a:path w="28575" h="45720">
                  <a:moveTo>
                    <a:pt x="28422" y="1016"/>
                  </a:moveTo>
                  <a:lnTo>
                    <a:pt x="28409" y="0"/>
                  </a:lnTo>
                  <a:lnTo>
                    <a:pt x="0" y="0"/>
                  </a:lnTo>
                  <a:lnTo>
                    <a:pt x="0" y="45516"/>
                  </a:lnTo>
                  <a:lnTo>
                    <a:pt x="28409" y="45516"/>
                  </a:lnTo>
                  <a:lnTo>
                    <a:pt x="28409" y="44500"/>
                  </a:lnTo>
                  <a:lnTo>
                    <a:pt x="28422" y="1016"/>
                  </a:lnTo>
                  <a:close/>
                </a:path>
              </a:pathLst>
            </a:custGeom>
            <a:solidFill>
              <a:srgbClr val="7FA6C8"/>
            </a:solidFill>
          </p:spPr>
          <p:txBody>
            <a:bodyPr wrap="square" lIns="0" tIns="0" rIns="0" bIns="0" rtlCol="0"/>
            <a:lstStyle/>
            <a:p/>
          </p:txBody>
        </p:sp>
        <p:sp>
          <p:nvSpPr>
            <p:cNvPr id="140" name="object 140" descr=""/>
            <p:cNvSpPr/>
            <p:nvPr/>
          </p:nvSpPr>
          <p:spPr>
            <a:xfrm>
              <a:off x="3904551" y="3890276"/>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5" y="2019"/>
                  </a:moveTo>
                  <a:lnTo>
                    <a:pt x="27406" y="2019"/>
                  </a:lnTo>
                  <a:lnTo>
                    <a:pt x="27406" y="43484"/>
                  </a:lnTo>
                  <a:lnTo>
                    <a:pt x="1015" y="43484"/>
                  </a:lnTo>
                  <a:lnTo>
                    <a:pt x="1015" y="2019"/>
                  </a:lnTo>
                  <a:close/>
                </a:path>
              </a:pathLst>
            </a:custGeom>
            <a:ln w="3175">
              <a:solidFill>
                <a:srgbClr val="9BD3F0"/>
              </a:solidFill>
            </a:ln>
          </p:spPr>
          <p:txBody>
            <a:bodyPr wrap="square" lIns="0" tIns="0" rIns="0" bIns="0" rtlCol="0"/>
            <a:lstStyle/>
            <a:p/>
          </p:txBody>
        </p:sp>
        <p:sp>
          <p:nvSpPr>
            <p:cNvPr id="141" name="object 141" descr=""/>
            <p:cNvSpPr/>
            <p:nvPr/>
          </p:nvSpPr>
          <p:spPr>
            <a:xfrm>
              <a:off x="3948188" y="3890276"/>
              <a:ext cx="27940" cy="45720"/>
            </a:xfrm>
            <a:custGeom>
              <a:avLst/>
              <a:gdLst/>
              <a:ahLst/>
              <a:cxnLst/>
              <a:rect l="l" t="t" r="r" b="b"/>
              <a:pathLst>
                <a:path w="27939" h="45720">
                  <a:moveTo>
                    <a:pt x="27406" y="0"/>
                  </a:moveTo>
                  <a:lnTo>
                    <a:pt x="0" y="0"/>
                  </a:lnTo>
                  <a:lnTo>
                    <a:pt x="0" y="1016"/>
                  </a:lnTo>
                  <a:lnTo>
                    <a:pt x="0" y="44500"/>
                  </a:lnTo>
                  <a:lnTo>
                    <a:pt x="0" y="45516"/>
                  </a:lnTo>
                  <a:lnTo>
                    <a:pt x="27406" y="45516"/>
                  </a:lnTo>
                  <a:lnTo>
                    <a:pt x="27406" y="44500"/>
                  </a:lnTo>
                  <a:lnTo>
                    <a:pt x="27406" y="44234"/>
                  </a:lnTo>
                  <a:lnTo>
                    <a:pt x="27406" y="1270"/>
                  </a:lnTo>
                  <a:lnTo>
                    <a:pt x="27406" y="1016"/>
                  </a:lnTo>
                  <a:lnTo>
                    <a:pt x="27406" y="0"/>
                  </a:lnTo>
                  <a:close/>
                </a:path>
              </a:pathLst>
            </a:custGeom>
            <a:solidFill>
              <a:srgbClr val="7FA6C8"/>
            </a:solidFill>
          </p:spPr>
          <p:txBody>
            <a:bodyPr wrap="square" lIns="0" tIns="0" rIns="0" bIns="0" rtlCol="0"/>
            <a:lstStyle/>
            <a:p/>
          </p:txBody>
        </p:sp>
        <p:sp>
          <p:nvSpPr>
            <p:cNvPr id="142" name="object 142" descr=""/>
            <p:cNvSpPr/>
            <p:nvPr/>
          </p:nvSpPr>
          <p:spPr>
            <a:xfrm>
              <a:off x="3948188" y="3890276"/>
              <a:ext cx="27940" cy="45720"/>
            </a:xfrm>
            <a:custGeom>
              <a:avLst/>
              <a:gdLst/>
              <a:ahLst/>
              <a:cxnLst/>
              <a:rect l="l" t="t" r="r" b="b"/>
              <a:pathLst>
                <a:path w="27939" h="45720">
                  <a:moveTo>
                    <a:pt x="0" y="0"/>
                  </a:moveTo>
                  <a:lnTo>
                    <a:pt x="27406" y="0"/>
                  </a:lnTo>
                  <a:lnTo>
                    <a:pt x="27406" y="45516"/>
                  </a:lnTo>
                  <a:lnTo>
                    <a:pt x="0" y="45516"/>
                  </a:lnTo>
                  <a:lnTo>
                    <a:pt x="0" y="0"/>
                  </a:lnTo>
                  <a:close/>
                </a:path>
                <a:path w="27939" h="45720">
                  <a:moveTo>
                    <a:pt x="1016" y="2019"/>
                  </a:moveTo>
                  <a:lnTo>
                    <a:pt x="26390" y="2019"/>
                  </a:lnTo>
                  <a:lnTo>
                    <a:pt x="26390" y="43484"/>
                  </a:lnTo>
                  <a:lnTo>
                    <a:pt x="1016" y="43484"/>
                  </a:lnTo>
                  <a:lnTo>
                    <a:pt x="1016" y="2019"/>
                  </a:lnTo>
                  <a:close/>
                </a:path>
              </a:pathLst>
            </a:custGeom>
            <a:ln w="3175">
              <a:solidFill>
                <a:srgbClr val="9BD3F0"/>
              </a:solidFill>
            </a:ln>
          </p:spPr>
          <p:txBody>
            <a:bodyPr wrap="square" lIns="0" tIns="0" rIns="0" bIns="0" rtlCol="0"/>
            <a:lstStyle/>
            <a:p/>
          </p:txBody>
        </p:sp>
        <p:sp>
          <p:nvSpPr>
            <p:cNvPr id="143" name="object 143" descr=""/>
            <p:cNvSpPr/>
            <p:nvPr/>
          </p:nvSpPr>
          <p:spPr>
            <a:xfrm>
              <a:off x="3784803" y="3965117"/>
              <a:ext cx="28575" cy="45085"/>
            </a:xfrm>
            <a:custGeom>
              <a:avLst/>
              <a:gdLst/>
              <a:ahLst/>
              <a:cxnLst/>
              <a:rect l="l" t="t" r="r" b="b"/>
              <a:pathLst>
                <a:path w="28575" h="45085">
                  <a:moveTo>
                    <a:pt x="28409" y="0"/>
                  </a:moveTo>
                  <a:lnTo>
                    <a:pt x="0" y="0"/>
                  </a:lnTo>
                  <a:lnTo>
                    <a:pt x="0" y="1016"/>
                  </a:lnTo>
                  <a:lnTo>
                    <a:pt x="0" y="44500"/>
                  </a:lnTo>
                  <a:lnTo>
                    <a:pt x="27393" y="44500"/>
                  </a:lnTo>
                  <a:lnTo>
                    <a:pt x="28409" y="44500"/>
                  </a:lnTo>
                  <a:lnTo>
                    <a:pt x="28409" y="43256"/>
                  </a:lnTo>
                  <a:lnTo>
                    <a:pt x="28409" y="1193"/>
                  </a:lnTo>
                  <a:lnTo>
                    <a:pt x="28409" y="0"/>
                  </a:lnTo>
                  <a:close/>
                </a:path>
              </a:pathLst>
            </a:custGeom>
            <a:solidFill>
              <a:srgbClr val="7FA6C8"/>
            </a:solidFill>
          </p:spPr>
          <p:txBody>
            <a:bodyPr wrap="square" lIns="0" tIns="0" rIns="0" bIns="0" rtlCol="0"/>
            <a:lstStyle/>
            <a:p/>
          </p:txBody>
        </p:sp>
        <p:sp>
          <p:nvSpPr>
            <p:cNvPr id="144" name="object 144" descr=""/>
            <p:cNvSpPr/>
            <p:nvPr/>
          </p:nvSpPr>
          <p:spPr>
            <a:xfrm>
              <a:off x="3784803" y="396511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6390" y="1015"/>
                  </a:lnTo>
                  <a:lnTo>
                    <a:pt x="26390" y="43497"/>
                  </a:lnTo>
                  <a:lnTo>
                    <a:pt x="1015" y="43497"/>
                  </a:lnTo>
                  <a:lnTo>
                    <a:pt x="1015" y="1015"/>
                  </a:lnTo>
                  <a:close/>
                </a:path>
              </a:pathLst>
            </a:custGeom>
            <a:ln w="3175">
              <a:solidFill>
                <a:srgbClr val="9BD3F0"/>
              </a:solidFill>
            </a:ln>
          </p:spPr>
          <p:txBody>
            <a:bodyPr wrap="square" lIns="0" tIns="0" rIns="0" bIns="0" rtlCol="0"/>
            <a:lstStyle/>
            <a:p/>
          </p:txBody>
        </p:sp>
        <p:sp>
          <p:nvSpPr>
            <p:cNvPr id="145" name="object 145" descr=""/>
            <p:cNvSpPr/>
            <p:nvPr/>
          </p:nvSpPr>
          <p:spPr>
            <a:xfrm>
              <a:off x="3824389" y="3965117"/>
              <a:ext cx="28575" cy="45085"/>
            </a:xfrm>
            <a:custGeom>
              <a:avLst/>
              <a:gdLst/>
              <a:ahLst/>
              <a:cxnLst/>
              <a:rect l="l" t="t" r="r" b="b"/>
              <a:pathLst>
                <a:path w="28575" h="45085">
                  <a:moveTo>
                    <a:pt x="28409" y="0"/>
                  </a:moveTo>
                  <a:lnTo>
                    <a:pt x="0" y="0"/>
                  </a:lnTo>
                  <a:lnTo>
                    <a:pt x="0" y="44500"/>
                  </a:lnTo>
                  <a:lnTo>
                    <a:pt x="1016" y="44500"/>
                  </a:lnTo>
                  <a:lnTo>
                    <a:pt x="28409" y="44500"/>
                  </a:lnTo>
                  <a:lnTo>
                    <a:pt x="28409" y="43256"/>
                  </a:lnTo>
                  <a:lnTo>
                    <a:pt x="28409" y="1193"/>
                  </a:lnTo>
                  <a:lnTo>
                    <a:pt x="28409" y="1016"/>
                  </a:lnTo>
                  <a:lnTo>
                    <a:pt x="28409" y="0"/>
                  </a:lnTo>
                  <a:close/>
                </a:path>
              </a:pathLst>
            </a:custGeom>
            <a:solidFill>
              <a:srgbClr val="7FA6C8"/>
            </a:solidFill>
          </p:spPr>
          <p:txBody>
            <a:bodyPr wrap="square" lIns="0" tIns="0" rIns="0" bIns="0" rtlCol="0"/>
            <a:lstStyle/>
            <a:p/>
          </p:txBody>
        </p:sp>
        <p:sp>
          <p:nvSpPr>
            <p:cNvPr id="146" name="object 146" descr=""/>
            <p:cNvSpPr/>
            <p:nvPr/>
          </p:nvSpPr>
          <p:spPr>
            <a:xfrm>
              <a:off x="3824389" y="396511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7406" y="1015"/>
                  </a:lnTo>
                  <a:lnTo>
                    <a:pt x="27406" y="43497"/>
                  </a:lnTo>
                  <a:lnTo>
                    <a:pt x="1016" y="43497"/>
                  </a:lnTo>
                  <a:lnTo>
                    <a:pt x="1016" y="1015"/>
                  </a:lnTo>
                  <a:close/>
                </a:path>
              </a:pathLst>
            </a:custGeom>
            <a:ln w="3175">
              <a:solidFill>
                <a:srgbClr val="9BD3F0"/>
              </a:solidFill>
            </a:ln>
          </p:spPr>
          <p:txBody>
            <a:bodyPr wrap="square" lIns="0" tIns="0" rIns="0" bIns="0" rtlCol="0"/>
            <a:lstStyle/>
            <a:p/>
          </p:txBody>
        </p:sp>
        <p:sp>
          <p:nvSpPr>
            <p:cNvPr id="147" name="object 147" descr=""/>
            <p:cNvSpPr/>
            <p:nvPr/>
          </p:nvSpPr>
          <p:spPr>
            <a:xfrm>
              <a:off x="3864978" y="3965117"/>
              <a:ext cx="28575" cy="45085"/>
            </a:xfrm>
            <a:custGeom>
              <a:avLst/>
              <a:gdLst/>
              <a:ahLst/>
              <a:cxnLst/>
              <a:rect l="l" t="t" r="r" b="b"/>
              <a:pathLst>
                <a:path w="28575" h="45085">
                  <a:moveTo>
                    <a:pt x="28409" y="0"/>
                  </a:moveTo>
                  <a:lnTo>
                    <a:pt x="0" y="0"/>
                  </a:lnTo>
                  <a:lnTo>
                    <a:pt x="0" y="1016"/>
                  </a:lnTo>
                  <a:lnTo>
                    <a:pt x="0" y="44500"/>
                  </a:lnTo>
                  <a:lnTo>
                    <a:pt x="27393" y="44500"/>
                  </a:lnTo>
                  <a:lnTo>
                    <a:pt x="28409" y="44500"/>
                  </a:lnTo>
                  <a:lnTo>
                    <a:pt x="28409" y="43256"/>
                  </a:lnTo>
                  <a:lnTo>
                    <a:pt x="28409" y="1193"/>
                  </a:lnTo>
                  <a:lnTo>
                    <a:pt x="28409" y="0"/>
                  </a:lnTo>
                  <a:close/>
                </a:path>
              </a:pathLst>
            </a:custGeom>
            <a:solidFill>
              <a:srgbClr val="7FA6C8"/>
            </a:solidFill>
          </p:spPr>
          <p:txBody>
            <a:bodyPr wrap="square" lIns="0" tIns="0" rIns="0" bIns="0" rtlCol="0"/>
            <a:lstStyle/>
            <a:p/>
          </p:txBody>
        </p:sp>
        <p:sp>
          <p:nvSpPr>
            <p:cNvPr id="148" name="object 148" descr=""/>
            <p:cNvSpPr/>
            <p:nvPr/>
          </p:nvSpPr>
          <p:spPr>
            <a:xfrm>
              <a:off x="3864978" y="396511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6390" y="1015"/>
                  </a:lnTo>
                  <a:lnTo>
                    <a:pt x="26390" y="43497"/>
                  </a:lnTo>
                  <a:lnTo>
                    <a:pt x="1015" y="43497"/>
                  </a:lnTo>
                  <a:lnTo>
                    <a:pt x="1015" y="1015"/>
                  </a:lnTo>
                  <a:close/>
                </a:path>
              </a:pathLst>
            </a:custGeom>
            <a:ln w="3175">
              <a:solidFill>
                <a:srgbClr val="9BD3F0"/>
              </a:solidFill>
            </a:ln>
          </p:spPr>
          <p:txBody>
            <a:bodyPr wrap="square" lIns="0" tIns="0" rIns="0" bIns="0" rtlCol="0"/>
            <a:lstStyle/>
            <a:p/>
          </p:txBody>
        </p:sp>
        <p:sp>
          <p:nvSpPr>
            <p:cNvPr id="149" name="object 149" descr=""/>
            <p:cNvSpPr/>
            <p:nvPr/>
          </p:nvSpPr>
          <p:spPr>
            <a:xfrm>
              <a:off x="3904551" y="3965117"/>
              <a:ext cx="28575" cy="45085"/>
            </a:xfrm>
            <a:custGeom>
              <a:avLst/>
              <a:gdLst/>
              <a:ahLst/>
              <a:cxnLst/>
              <a:rect l="l" t="t" r="r" b="b"/>
              <a:pathLst>
                <a:path w="28575" h="45085">
                  <a:moveTo>
                    <a:pt x="28422" y="1016"/>
                  </a:moveTo>
                  <a:lnTo>
                    <a:pt x="28409" y="0"/>
                  </a:lnTo>
                  <a:lnTo>
                    <a:pt x="0" y="0"/>
                  </a:lnTo>
                  <a:lnTo>
                    <a:pt x="0" y="44500"/>
                  </a:lnTo>
                  <a:lnTo>
                    <a:pt x="1016" y="44500"/>
                  </a:lnTo>
                  <a:lnTo>
                    <a:pt x="28409" y="44500"/>
                  </a:lnTo>
                  <a:lnTo>
                    <a:pt x="28422" y="1016"/>
                  </a:lnTo>
                  <a:close/>
                </a:path>
              </a:pathLst>
            </a:custGeom>
            <a:solidFill>
              <a:srgbClr val="7FA6C8"/>
            </a:solidFill>
          </p:spPr>
          <p:txBody>
            <a:bodyPr wrap="square" lIns="0" tIns="0" rIns="0" bIns="0" rtlCol="0"/>
            <a:lstStyle/>
            <a:p/>
          </p:txBody>
        </p:sp>
        <p:sp>
          <p:nvSpPr>
            <p:cNvPr id="150" name="object 150" descr=""/>
            <p:cNvSpPr/>
            <p:nvPr/>
          </p:nvSpPr>
          <p:spPr>
            <a:xfrm>
              <a:off x="3904551" y="396511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7406" y="1015"/>
                  </a:lnTo>
                  <a:lnTo>
                    <a:pt x="27406" y="43497"/>
                  </a:lnTo>
                  <a:lnTo>
                    <a:pt x="1015" y="43497"/>
                  </a:lnTo>
                  <a:lnTo>
                    <a:pt x="1015" y="1015"/>
                  </a:lnTo>
                  <a:close/>
                </a:path>
              </a:pathLst>
            </a:custGeom>
            <a:ln w="3175">
              <a:solidFill>
                <a:srgbClr val="9BD3F0"/>
              </a:solidFill>
            </a:ln>
          </p:spPr>
          <p:txBody>
            <a:bodyPr wrap="square" lIns="0" tIns="0" rIns="0" bIns="0" rtlCol="0"/>
            <a:lstStyle/>
            <a:p/>
          </p:txBody>
        </p:sp>
        <p:sp>
          <p:nvSpPr>
            <p:cNvPr id="151" name="object 151" descr=""/>
            <p:cNvSpPr/>
            <p:nvPr/>
          </p:nvSpPr>
          <p:spPr>
            <a:xfrm>
              <a:off x="3948188" y="3965117"/>
              <a:ext cx="27940" cy="45085"/>
            </a:xfrm>
            <a:custGeom>
              <a:avLst/>
              <a:gdLst/>
              <a:ahLst/>
              <a:cxnLst/>
              <a:rect l="l" t="t" r="r" b="b"/>
              <a:pathLst>
                <a:path w="27939" h="45085">
                  <a:moveTo>
                    <a:pt x="27406" y="0"/>
                  </a:moveTo>
                  <a:lnTo>
                    <a:pt x="0" y="0"/>
                  </a:lnTo>
                  <a:lnTo>
                    <a:pt x="0" y="1016"/>
                  </a:lnTo>
                  <a:lnTo>
                    <a:pt x="0" y="44500"/>
                  </a:lnTo>
                  <a:lnTo>
                    <a:pt x="27406" y="44500"/>
                  </a:lnTo>
                  <a:lnTo>
                    <a:pt x="27406" y="43256"/>
                  </a:lnTo>
                  <a:lnTo>
                    <a:pt x="27406" y="1193"/>
                  </a:lnTo>
                  <a:lnTo>
                    <a:pt x="27406" y="1016"/>
                  </a:lnTo>
                  <a:lnTo>
                    <a:pt x="27406" y="0"/>
                  </a:lnTo>
                  <a:close/>
                </a:path>
              </a:pathLst>
            </a:custGeom>
            <a:solidFill>
              <a:srgbClr val="7FA6C8"/>
            </a:solidFill>
          </p:spPr>
          <p:txBody>
            <a:bodyPr wrap="square" lIns="0" tIns="0" rIns="0" bIns="0" rtlCol="0"/>
            <a:lstStyle/>
            <a:p/>
          </p:txBody>
        </p:sp>
        <p:sp>
          <p:nvSpPr>
            <p:cNvPr id="152" name="object 152" descr=""/>
            <p:cNvSpPr/>
            <p:nvPr/>
          </p:nvSpPr>
          <p:spPr>
            <a:xfrm>
              <a:off x="3948188" y="3965117"/>
              <a:ext cx="27940" cy="45085"/>
            </a:xfrm>
            <a:custGeom>
              <a:avLst/>
              <a:gdLst/>
              <a:ahLst/>
              <a:cxnLst/>
              <a:rect l="l" t="t" r="r" b="b"/>
              <a:pathLst>
                <a:path w="27939" h="45085">
                  <a:moveTo>
                    <a:pt x="0" y="0"/>
                  </a:moveTo>
                  <a:lnTo>
                    <a:pt x="27406" y="0"/>
                  </a:lnTo>
                  <a:lnTo>
                    <a:pt x="27406" y="44500"/>
                  </a:lnTo>
                  <a:lnTo>
                    <a:pt x="0" y="44500"/>
                  </a:lnTo>
                  <a:lnTo>
                    <a:pt x="0" y="0"/>
                  </a:lnTo>
                  <a:close/>
                </a:path>
                <a:path w="27939" h="45085">
                  <a:moveTo>
                    <a:pt x="1016" y="1015"/>
                  </a:moveTo>
                  <a:lnTo>
                    <a:pt x="26390" y="1015"/>
                  </a:lnTo>
                  <a:lnTo>
                    <a:pt x="26390" y="43497"/>
                  </a:lnTo>
                  <a:lnTo>
                    <a:pt x="1016" y="43497"/>
                  </a:lnTo>
                  <a:lnTo>
                    <a:pt x="1016" y="1015"/>
                  </a:lnTo>
                  <a:close/>
                </a:path>
              </a:pathLst>
            </a:custGeom>
            <a:ln w="3175">
              <a:solidFill>
                <a:srgbClr val="9BD3F0"/>
              </a:solidFill>
            </a:ln>
          </p:spPr>
          <p:txBody>
            <a:bodyPr wrap="square" lIns="0" tIns="0" rIns="0" bIns="0" rtlCol="0"/>
            <a:lstStyle/>
            <a:p/>
          </p:txBody>
        </p:sp>
        <p:sp>
          <p:nvSpPr>
            <p:cNvPr id="153" name="object 153" descr=""/>
            <p:cNvSpPr/>
            <p:nvPr/>
          </p:nvSpPr>
          <p:spPr>
            <a:xfrm>
              <a:off x="3784803" y="4039958"/>
              <a:ext cx="28575" cy="45085"/>
            </a:xfrm>
            <a:custGeom>
              <a:avLst/>
              <a:gdLst/>
              <a:ahLst/>
              <a:cxnLst/>
              <a:rect l="l" t="t" r="r" b="b"/>
              <a:pathLst>
                <a:path w="28575" h="45085">
                  <a:moveTo>
                    <a:pt x="28409" y="0"/>
                  </a:moveTo>
                  <a:lnTo>
                    <a:pt x="27393" y="0"/>
                  </a:lnTo>
                  <a:lnTo>
                    <a:pt x="0" y="0"/>
                  </a:lnTo>
                  <a:lnTo>
                    <a:pt x="0" y="43484"/>
                  </a:lnTo>
                  <a:lnTo>
                    <a:pt x="0" y="44500"/>
                  </a:lnTo>
                  <a:lnTo>
                    <a:pt x="28409" y="44500"/>
                  </a:lnTo>
                  <a:lnTo>
                    <a:pt x="28409" y="43307"/>
                  </a:lnTo>
                  <a:lnTo>
                    <a:pt x="28409" y="1181"/>
                  </a:lnTo>
                  <a:lnTo>
                    <a:pt x="28409" y="0"/>
                  </a:lnTo>
                  <a:close/>
                </a:path>
              </a:pathLst>
            </a:custGeom>
            <a:solidFill>
              <a:srgbClr val="7FA6C8"/>
            </a:solidFill>
          </p:spPr>
          <p:txBody>
            <a:bodyPr wrap="square" lIns="0" tIns="0" rIns="0" bIns="0" rtlCol="0"/>
            <a:lstStyle/>
            <a:p/>
          </p:txBody>
        </p:sp>
        <p:sp>
          <p:nvSpPr>
            <p:cNvPr id="154" name="object 154" descr=""/>
            <p:cNvSpPr/>
            <p:nvPr/>
          </p:nvSpPr>
          <p:spPr>
            <a:xfrm>
              <a:off x="3784803" y="403995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6"/>
                  </a:moveTo>
                  <a:lnTo>
                    <a:pt x="26390" y="1016"/>
                  </a:lnTo>
                  <a:lnTo>
                    <a:pt x="26390" y="43497"/>
                  </a:lnTo>
                  <a:lnTo>
                    <a:pt x="1015" y="43497"/>
                  </a:lnTo>
                  <a:lnTo>
                    <a:pt x="1015" y="1016"/>
                  </a:lnTo>
                  <a:close/>
                </a:path>
              </a:pathLst>
            </a:custGeom>
            <a:ln w="3175">
              <a:solidFill>
                <a:srgbClr val="9BD3F0"/>
              </a:solidFill>
            </a:ln>
          </p:spPr>
          <p:txBody>
            <a:bodyPr wrap="square" lIns="0" tIns="0" rIns="0" bIns="0" rtlCol="0"/>
            <a:lstStyle/>
            <a:p/>
          </p:txBody>
        </p:sp>
        <p:sp>
          <p:nvSpPr>
            <p:cNvPr id="155" name="object 155" descr=""/>
            <p:cNvSpPr/>
            <p:nvPr/>
          </p:nvSpPr>
          <p:spPr>
            <a:xfrm>
              <a:off x="3824389" y="4039958"/>
              <a:ext cx="28575" cy="45085"/>
            </a:xfrm>
            <a:custGeom>
              <a:avLst/>
              <a:gdLst/>
              <a:ahLst/>
              <a:cxnLst/>
              <a:rect l="l" t="t" r="r" b="b"/>
              <a:pathLst>
                <a:path w="28575" h="45085">
                  <a:moveTo>
                    <a:pt x="28409" y="0"/>
                  </a:moveTo>
                  <a:lnTo>
                    <a:pt x="1016" y="0"/>
                  </a:lnTo>
                  <a:lnTo>
                    <a:pt x="0" y="0"/>
                  </a:lnTo>
                  <a:lnTo>
                    <a:pt x="0" y="44500"/>
                  </a:lnTo>
                  <a:lnTo>
                    <a:pt x="28409" y="44500"/>
                  </a:lnTo>
                  <a:lnTo>
                    <a:pt x="28409" y="43484"/>
                  </a:lnTo>
                  <a:lnTo>
                    <a:pt x="28409" y="43307"/>
                  </a:lnTo>
                  <a:lnTo>
                    <a:pt x="28409" y="1181"/>
                  </a:lnTo>
                  <a:lnTo>
                    <a:pt x="28409" y="0"/>
                  </a:lnTo>
                  <a:close/>
                </a:path>
              </a:pathLst>
            </a:custGeom>
            <a:solidFill>
              <a:srgbClr val="7FA6C8"/>
            </a:solidFill>
          </p:spPr>
          <p:txBody>
            <a:bodyPr wrap="square" lIns="0" tIns="0" rIns="0" bIns="0" rtlCol="0"/>
            <a:lstStyle/>
            <a:p/>
          </p:txBody>
        </p:sp>
        <p:sp>
          <p:nvSpPr>
            <p:cNvPr id="156" name="object 156" descr=""/>
            <p:cNvSpPr/>
            <p:nvPr/>
          </p:nvSpPr>
          <p:spPr>
            <a:xfrm>
              <a:off x="3824389" y="403995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6"/>
                  </a:moveTo>
                  <a:lnTo>
                    <a:pt x="27406" y="1016"/>
                  </a:lnTo>
                  <a:lnTo>
                    <a:pt x="27406" y="43497"/>
                  </a:lnTo>
                  <a:lnTo>
                    <a:pt x="1016" y="43497"/>
                  </a:lnTo>
                  <a:lnTo>
                    <a:pt x="1016" y="1016"/>
                  </a:lnTo>
                  <a:close/>
                </a:path>
              </a:pathLst>
            </a:custGeom>
            <a:ln w="3175">
              <a:solidFill>
                <a:srgbClr val="9BD3F0"/>
              </a:solidFill>
            </a:ln>
          </p:spPr>
          <p:txBody>
            <a:bodyPr wrap="square" lIns="0" tIns="0" rIns="0" bIns="0" rtlCol="0"/>
            <a:lstStyle/>
            <a:p/>
          </p:txBody>
        </p:sp>
        <p:sp>
          <p:nvSpPr>
            <p:cNvPr id="157" name="object 157" descr=""/>
            <p:cNvSpPr/>
            <p:nvPr/>
          </p:nvSpPr>
          <p:spPr>
            <a:xfrm>
              <a:off x="3864978" y="4039958"/>
              <a:ext cx="28575" cy="45085"/>
            </a:xfrm>
            <a:custGeom>
              <a:avLst/>
              <a:gdLst/>
              <a:ahLst/>
              <a:cxnLst/>
              <a:rect l="l" t="t" r="r" b="b"/>
              <a:pathLst>
                <a:path w="28575" h="45085">
                  <a:moveTo>
                    <a:pt x="28409" y="0"/>
                  </a:moveTo>
                  <a:lnTo>
                    <a:pt x="27393" y="0"/>
                  </a:lnTo>
                  <a:lnTo>
                    <a:pt x="0" y="0"/>
                  </a:lnTo>
                  <a:lnTo>
                    <a:pt x="0" y="43484"/>
                  </a:lnTo>
                  <a:lnTo>
                    <a:pt x="0" y="44500"/>
                  </a:lnTo>
                  <a:lnTo>
                    <a:pt x="28409" y="44500"/>
                  </a:lnTo>
                  <a:lnTo>
                    <a:pt x="28409" y="43307"/>
                  </a:lnTo>
                  <a:lnTo>
                    <a:pt x="28409" y="1181"/>
                  </a:lnTo>
                  <a:lnTo>
                    <a:pt x="28409" y="0"/>
                  </a:lnTo>
                  <a:close/>
                </a:path>
              </a:pathLst>
            </a:custGeom>
            <a:solidFill>
              <a:srgbClr val="7FA6C8"/>
            </a:solidFill>
          </p:spPr>
          <p:txBody>
            <a:bodyPr wrap="square" lIns="0" tIns="0" rIns="0" bIns="0" rtlCol="0"/>
            <a:lstStyle/>
            <a:p/>
          </p:txBody>
        </p:sp>
        <p:sp>
          <p:nvSpPr>
            <p:cNvPr id="158" name="object 158" descr=""/>
            <p:cNvSpPr/>
            <p:nvPr/>
          </p:nvSpPr>
          <p:spPr>
            <a:xfrm>
              <a:off x="3864978" y="403995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6"/>
                  </a:moveTo>
                  <a:lnTo>
                    <a:pt x="26390" y="1016"/>
                  </a:lnTo>
                  <a:lnTo>
                    <a:pt x="26390" y="43497"/>
                  </a:lnTo>
                  <a:lnTo>
                    <a:pt x="1015" y="43497"/>
                  </a:lnTo>
                  <a:lnTo>
                    <a:pt x="1015" y="1016"/>
                  </a:lnTo>
                  <a:close/>
                </a:path>
              </a:pathLst>
            </a:custGeom>
            <a:ln w="3175">
              <a:solidFill>
                <a:srgbClr val="9BD3F0"/>
              </a:solidFill>
            </a:ln>
          </p:spPr>
          <p:txBody>
            <a:bodyPr wrap="square" lIns="0" tIns="0" rIns="0" bIns="0" rtlCol="0"/>
            <a:lstStyle/>
            <a:p/>
          </p:txBody>
        </p:sp>
        <p:sp>
          <p:nvSpPr>
            <p:cNvPr id="159" name="object 159" descr=""/>
            <p:cNvSpPr/>
            <p:nvPr/>
          </p:nvSpPr>
          <p:spPr>
            <a:xfrm>
              <a:off x="3904551" y="4039958"/>
              <a:ext cx="28575" cy="45085"/>
            </a:xfrm>
            <a:custGeom>
              <a:avLst/>
              <a:gdLst/>
              <a:ahLst/>
              <a:cxnLst/>
              <a:rect l="l" t="t" r="r" b="b"/>
              <a:pathLst>
                <a:path w="28575" h="45085">
                  <a:moveTo>
                    <a:pt x="28422" y="0"/>
                  </a:moveTo>
                  <a:lnTo>
                    <a:pt x="1016" y="0"/>
                  </a:lnTo>
                  <a:lnTo>
                    <a:pt x="0" y="0"/>
                  </a:lnTo>
                  <a:lnTo>
                    <a:pt x="0" y="44500"/>
                  </a:lnTo>
                  <a:lnTo>
                    <a:pt x="28409" y="44500"/>
                  </a:lnTo>
                  <a:lnTo>
                    <a:pt x="28409" y="43484"/>
                  </a:lnTo>
                  <a:lnTo>
                    <a:pt x="28422" y="0"/>
                  </a:lnTo>
                  <a:close/>
                </a:path>
              </a:pathLst>
            </a:custGeom>
            <a:solidFill>
              <a:srgbClr val="7FA6C8"/>
            </a:solidFill>
          </p:spPr>
          <p:txBody>
            <a:bodyPr wrap="square" lIns="0" tIns="0" rIns="0" bIns="0" rtlCol="0"/>
            <a:lstStyle/>
            <a:p/>
          </p:txBody>
        </p:sp>
        <p:sp>
          <p:nvSpPr>
            <p:cNvPr id="160" name="object 160" descr=""/>
            <p:cNvSpPr/>
            <p:nvPr/>
          </p:nvSpPr>
          <p:spPr>
            <a:xfrm>
              <a:off x="3904551" y="403995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6"/>
                  </a:moveTo>
                  <a:lnTo>
                    <a:pt x="27406" y="1016"/>
                  </a:lnTo>
                  <a:lnTo>
                    <a:pt x="27406" y="43497"/>
                  </a:lnTo>
                  <a:lnTo>
                    <a:pt x="1015" y="43497"/>
                  </a:lnTo>
                  <a:lnTo>
                    <a:pt x="1015" y="1016"/>
                  </a:lnTo>
                  <a:close/>
                </a:path>
              </a:pathLst>
            </a:custGeom>
            <a:ln w="3175">
              <a:solidFill>
                <a:srgbClr val="9BD3F0"/>
              </a:solidFill>
            </a:ln>
          </p:spPr>
          <p:txBody>
            <a:bodyPr wrap="square" lIns="0" tIns="0" rIns="0" bIns="0" rtlCol="0"/>
            <a:lstStyle/>
            <a:p/>
          </p:txBody>
        </p:sp>
        <p:sp>
          <p:nvSpPr>
            <p:cNvPr id="161" name="object 161" descr=""/>
            <p:cNvSpPr/>
            <p:nvPr/>
          </p:nvSpPr>
          <p:spPr>
            <a:xfrm>
              <a:off x="3948188" y="4039958"/>
              <a:ext cx="27940" cy="45085"/>
            </a:xfrm>
            <a:custGeom>
              <a:avLst/>
              <a:gdLst/>
              <a:ahLst/>
              <a:cxnLst/>
              <a:rect l="l" t="t" r="r" b="b"/>
              <a:pathLst>
                <a:path w="27939" h="45085">
                  <a:moveTo>
                    <a:pt x="27406" y="0"/>
                  </a:moveTo>
                  <a:lnTo>
                    <a:pt x="0" y="0"/>
                  </a:lnTo>
                  <a:lnTo>
                    <a:pt x="0" y="43484"/>
                  </a:lnTo>
                  <a:lnTo>
                    <a:pt x="0" y="44500"/>
                  </a:lnTo>
                  <a:lnTo>
                    <a:pt x="27406" y="44500"/>
                  </a:lnTo>
                  <a:lnTo>
                    <a:pt x="27406" y="43484"/>
                  </a:lnTo>
                  <a:lnTo>
                    <a:pt x="27406" y="43307"/>
                  </a:lnTo>
                  <a:lnTo>
                    <a:pt x="27406" y="1181"/>
                  </a:lnTo>
                  <a:lnTo>
                    <a:pt x="27406" y="0"/>
                  </a:lnTo>
                  <a:close/>
                </a:path>
              </a:pathLst>
            </a:custGeom>
            <a:solidFill>
              <a:srgbClr val="7FA6C8"/>
            </a:solidFill>
          </p:spPr>
          <p:txBody>
            <a:bodyPr wrap="square" lIns="0" tIns="0" rIns="0" bIns="0" rtlCol="0"/>
            <a:lstStyle/>
            <a:p/>
          </p:txBody>
        </p:sp>
        <p:sp>
          <p:nvSpPr>
            <p:cNvPr id="162" name="object 162" descr=""/>
            <p:cNvSpPr/>
            <p:nvPr/>
          </p:nvSpPr>
          <p:spPr>
            <a:xfrm>
              <a:off x="3948188" y="4039958"/>
              <a:ext cx="27940" cy="45085"/>
            </a:xfrm>
            <a:custGeom>
              <a:avLst/>
              <a:gdLst/>
              <a:ahLst/>
              <a:cxnLst/>
              <a:rect l="l" t="t" r="r" b="b"/>
              <a:pathLst>
                <a:path w="27939" h="45085">
                  <a:moveTo>
                    <a:pt x="0" y="0"/>
                  </a:moveTo>
                  <a:lnTo>
                    <a:pt x="27406" y="0"/>
                  </a:lnTo>
                  <a:lnTo>
                    <a:pt x="27406" y="44500"/>
                  </a:lnTo>
                  <a:lnTo>
                    <a:pt x="0" y="44500"/>
                  </a:lnTo>
                  <a:lnTo>
                    <a:pt x="0" y="0"/>
                  </a:lnTo>
                  <a:close/>
                </a:path>
                <a:path w="27939" h="45085">
                  <a:moveTo>
                    <a:pt x="1016" y="1016"/>
                  </a:moveTo>
                  <a:lnTo>
                    <a:pt x="26390" y="1016"/>
                  </a:lnTo>
                  <a:lnTo>
                    <a:pt x="26390" y="43497"/>
                  </a:lnTo>
                  <a:lnTo>
                    <a:pt x="1016" y="43497"/>
                  </a:lnTo>
                  <a:lnTo>
                    <a:pt x="1016" y="1016"/>
                  </a:lnTo>
                  <a:close/>
                </a:path>
              </a:pathLst>
            </a:custGeom>
            <a:ln w="3175">
              <a:solidFill>
                <a:srgbClr val="9BD3F0"/>
              </a:solidFill>
            </a:ln>
          </p:spPr>
          <p:txBody>
            <a:bodyPr wrap="square" lIns="0" tIns="0" rIns="0" bIns="0" rtlCol="0"/>
            <a:lstStyle/>
            <a:p/>
          </p:txBody>
        </p:sp>
        <p:sp>
          <p:nvSpPr>
            <p:cNvPr id="163" name="object 163" descr=""/>
            <p:cNvSpPr/>
            <p:nvPr/>
          </p:nvSpPr>
          <p:spPr>
            <a:xfrm>
              <a:off x="3784803" y="4113783"/>
              <a:ext cx="28575" cy="45085"/>
            </a:xfrm>
            <a:custGeom>
              <a:avLst/>
              <a:gdLst/>
              <a:ahLst/>
              <a:cxnLst/>
              <a:rect l="l" t="t" r="r" b="b"/>
              <a:pathLst>
                <a:path w="28575" h="45085">
                  <a:moveTo>
                    <a:pt x="28409" y="0"/>
                  </a:moveTo>
                  <a:lnTo>
                    <a:pt x="0" y="0"/>
                  </a:lnTo>
                  <a:lnTo>
                    <a:pt x="0" y="1016"/>
                  </a:lnTo>
                  <a:lnTo>
                    <a:pt x="0" y="44500"/>
                  </a:lnTo>
                  <a:lnTo>
                    <a:pt x="27393" y="44500"/>
                  </a:lnTo>
                  <a:lnTo>
                    <a:pt x="28409" y="44500"/>
                  </a:lnTo>
                  <a:lnTo>
                    <a:pt x="28409" y="43256"/>
                  </a:lnTo>
                  <a:lnTo>
                    <a:pt x="28409" y="1193"/>
                  </a:lnTo>
                  <a:lnTo>
                    <a:pt x="28409" y="0"/>
                  </a:lnTo>
                  <a:close/>
                </a:path>
              </a:pathLst>
            </a:custGeom>
            <a:solidFill>
              <a:srgbClr val="7FA6C8"/>
            </a:solidFill>
          </p:spPr>
          <p:txBody>
            <a:bodyPr wrap="square" lIns="0" tIns="0" rIns="0" bIns="0" rtlCol="0"/>
            <a:lstStyle/>
            <a:p/>
          </p:txBody>
        </p:sp>
        <p:sp>
          <p:nvSpPr>
            <p:cNvPr id="164" name="object 164" descr=""/>
            <p:cNvSpPr/>
            <p:nvPr/>
          </p:nvSpPr>
          <p:spPr>
            <a:xfrm>
              <a:off x="3784803" y="4113783"/>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2031"/>
                  </a:moveTo>
                  <a:lnTo>
                    <a:pt x="26390" y="2031"/>
                  </a:lnTo>
                  <a:lnTo>
                    <a:pt x="26390" y="43497"/>
                  </a:lnTo>
                  <a:lnTo>
                    <a:pt x="1015" y="43497"/>
                  </a:lnTo>
                  <a:lnTo>
                    <a:pt x="1015" y="2031"/>
                  </a:lnTo>
                  <a:close/>
                </a:path>
              </a:pathLst>
            </a:custGeom>
            <a:ln w="3175">
              <a:solidFill>
                <a:srgbClr val="9BD3F0"/>
              </a:solidFill>
            </a:ln>
          </p:spPr>
          <p:txBody>
            <a:bodyPr wrap="square" lIns="0" tIns="0" rIns="0" bIns="0" rtlCol="0"/>
            <a:lstStyle/>
            <a:p/>
          </p:txBody>
        </p:sp>
        <p:sp>
          <p:nvSpPr>
            <p:cNvPr id="165" name="object 165" descr=""/>
            <p:cNvSpPr/>
            <p:nvPr/>
          </p:nvSpPr>
          <p:spPr>
            <a:xfrm>
              <a:off x="3824389" y="4113783"/>
              <a:ext cx="28575" cy="45085"/>
            </a:xfrm>
            <a:custGeom>
              <a:avLst/>
              <a:gdLst/>
              <a:ahLst/>
              <a:cxnLst/>
              <a:rect l="l" t="t" r="r" b="b"/>
              <a:pathLst>
                <a:path w="28575" h="45085">
                  <a:moveTo>
                    <a:pt x="28409" y="0"/>
                  </a:moveTo>
                  <a:lnTo>
                    <a:pt x="0" y="0"/>
                  </a:lnTo>
                  <a:lnTo>
                    <a:pt x="0" y="44500"/>
                  </a:lnTo>
                  <a:lnTo>
                    <a:pt x="1016" y="44500"/>
                  </a:lnTo>
                  <a:lnTo>
                    <a:pt x="28409" y="44500"/>
                  </a:lnTo>
                  <a:lnTo>
                    <a:pt x="28409" y="43256"/>
                  </a:lnTo>
                  <a:lnTo>
                    <a:pt x="28409" y="1193"/>
                  </a:lnTo>
                  <a:lnTo>
                    <a:pt x="28409" y="1016"/>
                  </a:lnTo>
                  <a:lnTo>
                    <a:pt x="28409" y="0"/>
                  </a:lnTo>
                  <a:close/>
                </a:path>
              </a:pathLst>
            </a:custGeom>
            <a:solidFill>
              <a:srgbClr val="7FA6C8"/>
            </a:solidFill>
          </p:spPr>
          <p:txBody>
            <a:bodyPr wrap="square" lIns="0" tIns="0" rIns="0" bIns="0" rtlCol="0"/>
            <a:lstStyle/>
            <a:p/>
          </p:txBody>
        </p:sp>
        <p:sp>
          <p:nvSpPr>
            <p:cNvPr id="166" name="object 166" descr=""/>
            <p:cNvSpPr/>
            <p:nvPr/>
          </p:nvSpPr>
          <p:spPr>
            <a:xfrm>
              <a:off x="3824389" y="4113783"/>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2031"/>
                  </a:moveTo>
                  <a:lnTo>
                    <a:pt x="27406" y="2031"/>
                  </a:lnTo>
                  <a:lnTo>
                    <a:pt x="27406" y="43497"/>
                  </a:lnTo>
                  <a:lnTo>
                    <a:pt x="1016" y="43497"/>
                  </a:lnTo>
                  <a:lnTo>
                    <a:pt x="1016" y="2031"/>
                  </a:lnTo>
                  <a:close/>
                </a:path>
              </a:pathLst>
            </a:custGeom>
            <a:ln w="3175">
              <a:solidFill>
                <a:srgbClr val="9BD3F0"/>
              </a:solidFill>
            </a:ln>
          </p:spPr>
          <p:txBody>
            <a:bodyPr wrap="square" lIns="0" tIns="0" rIns="0" bIns="0" rtlCol="0"/>
            <a:lstStyle/>
            <a:p/>
          </p:txBody>
        </p:sp>
        <p:sp>
          <p:nvSpPr>
            <p:cNvPr id="167" name="object 167" descr=""/>
            <p:cNvSpPr/>
            <p:nvPr/>
          </p:nvSpPr>
          <p:spPr>
            <a:xfrm>
              <a:off x="3864978" y="4113783"/>
              <a:ext cx="28575" cy="45085"/>
            </a:xfrm>
            <a:custGeom>
              <a:avLst/>
              <a:gdLst/>
              <a:ahLst/>
              <a:cxnLst/>
              <a:rect l="l" t="t" r="r" b="b"/>
              <a:pathLst>
                <a:path w="28575" h="45085">
                  <a:moveTo>
                    <a:pt x="28409" y="0"/>
                  </a:moveTo>
                  <a:lnTo>
                    <a:pt x="0" y="0"/>
                  </a:lnTo>
                  <a:lnTo>
                    <a:pt x="0" y="1016"/>
                  </a:lnTo>
                  <a:lnTo>
                    <a:pt x="0" y="44500"/>
                  </a:lnTo>
                  <a:lnTo>
                    <a:pt x="27393" y="44500"/>
                  </a:lnTo>
                  <a:lnTo>
                    <a:pt x="28409" y="44500"/>
                  </a:lnTo>
                  <a:lnTo>
                    <a:pt x="28409" y="43256"/>
                  </a:lnTo>
                  <a:lnTo>
                    <a:pt x="28409" y="1193"/>
                  </a:lnTo>
                  <a:lnTo>
                    <a:pt x="28409" y="0"/>
                  </a:lnTo>
                  <a:close/>
                </a:path>
              </a:pathLst>
            </a:custGeom>
            <a:solidFill>
              <a:srgbClr val="7FA6C8"/>
            </a:solidFill>
          </p:spPr>
          <p:txBody>
            <a:bodyPr wrap="square" lIns="0" tIns="0" rIns="0" bIns="0" rtlCol="0"/>
            <a:lstStyle/>
            <a:p/>
          </p:txBody>
        </p:sp>
        <p:sp>
          <p:nvSpPr>
            <p:cNvPr id="168" name="object 168" descr=""/>
            <p:cNvSpPr/>
            <p:nvPr/>
          </p:nvSpPr>
          <p:spPr>
            <a:xfrm>
              <a:off x="3864978" y="4113783"/>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2031"/>
                  </a:moveTo>
                  <a:lnTo>
                    <a:pt x="26390" y="2031"/>
                  </a:lnTo>
                  <a:lnTo>
                    <a:pt x="26390" y="43497"/>
                  </a:lnTo>
                  <a:lnTo>
                    <a:pt x="1015" y="43497"/>
                  </a:lnTo>
                  <a:lnTo>
                    <a:pt x="1015" y="2031"/>
                  </a:lnTo>
                  <a:close/>
                </a:path>
              </a:pathLst>
            </a:custGeom>
            <a:ln w="3175">
              <a:solidFill>
                <a:srgbClr val="9BD3F0"/>
              </a:solidFill>
            </a:ln>
          </p:spPr>
          <p:txBody>
            <a:bodyPr wrap="square" lIns="0" tIns="0" rIns="0" bIns="0" rtlCol="0"/>
            <a:lstStyle/>
            <a:p/>
          </p:txBody>
        </p:sp>
        <p:sp>
          <p:nvSpPr>
            <p:cNvPr id="169" name="object 169" descr=""/>
            <p:cNvSpPr/>
            <p:nvPr/>
          </p:nvSpPr>
          <p:spPr>
            <a:xfrm>
              <a:off x="3904551" y="4113783"/>
              <a:ext cx="28575" cy="45085"/>
            </a:xfrm>
            <a:custGeom>
              <a:avLst/>
              <a:gdLst/>
              <a:ahLst/>
              <a:cxnLst/>
              <a:rect l="l" t="t" r="r" b="b"/>
              <a:pathLst>
                <a:path w="28575" h="45085">
                  <a:moveTo>
                    <a:pt x="28422" y="1016"/>
                  </a:moveTo>
                  <a:lnTo>
                    <a:pt x="28409" y="0"/>
                  </a:lnTo>
                  <a:lnTo>
                    <a:pt x="0" y="0"/>
                  </a:lnTo>
                  <a:lnTo>
                    <a:pt x="0" y="44500"/>
                  </a:lnTo>
                  <a:lnTo>
                    <a:pt x="1016" y="44500"/>
                  </a:lnTo>
                  <a:lnTo>
                    <a:pt x="28409" y="44500"/>
                  </a:lnTo>
                  <a:lnTo>
                    <a:pt x="28422" y="1016"/>
                  </a:lnTo>
                  <a:close/>
                </a:path>
              </a:pathLst>
            </a:custGeom>
            <a:solidFill>
              <a:srgbClr val="7FA6C8"/>
            </a:solidFill>
          </p:spPr>
          <p:txBody>
            <a:bodyPr wrap="square" lIns="0" tIns="0" rIns="0" bIns="0" rtlCol="0"/>
            <a:lstStyle/>
            <a:p/>
          </p:txBody>
        </p:sp>
        <p:sp>
          <p:nvSpPr>
            <p:cNvPr id="170" name="object 170" descr=""/>
            <p:cNvSpPr/>
            <p:nvPr/>
          </p:nvSpPr>
          <p:spPr>
            <a:xfrm>
              <a:off x="3904551" y="4113783"/>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2031"/>
                  </a:moveTo>
                  <a:lnTo>
                    <a:pt x="27406" y="2031"/>
                  </a:lnTo>
                  <a:lnTo>
                    <a:pt x="27406" y="43497"/>
                  </a:lnTo>
                  <a:lnTo>
                    <a:pt x="1015" y="43497"/>
                  </a:lnTo>
                  <a:lnTo>
                    <a:pt x="1015" y="2031"/>
                  </a:lnTo>
                  <a:close/>
                </a:path>
              </a:pathLst>
            </a:custGeom>
            <a:ln w="3175">
              <a:solidFill>
                <a:srgbClr val="9BD3F0"/>
              </a:solidFill>
            </a:ln>
          </p:spPr>
          <p:txBody>
            <a:bodyPr wrap="square" lIns="0" tIns="0" rIns="0" bIns="0" rtlCol="0"/>
            <a:lstStyle/>
            <a:p/>
          </p:txBody>
        </p:sp>
        <p:sp>
          <p:nvSpPr>
            <p:cNvPr id="171" name="object 171" descr=""/>
            <p:cNvSpPr/>
            <p:nvPr/>
          </p:nvSpPr>
          <p:spPr>
            <a:xfrm>
              <a:off x="3948188" y="4113783"/>
              <a:ext cx="27940" cy="45085"/>
            </a:xfrm>
            <a:custGeom>
              <a:avLst/>
              <a:gdLst/>
              <a:ahLst/>
              <a:cxnLst/>
              <a:rect l="l" t="t" r="r" b="b"/>
              <a:pathLst>
                <a:path w="27939" h="45085">
                  <a:moveTo>
                    <a:pt x="27406" y="0"/>
                  </a:moveTo>
                  <a:lnTo>
                    <a:pt x="0" y="0"/>
                  </a:lnTo>
                  <a:lnTo>
                    <a:pt x="0" y="1016"/>
                  </a:lnTo>
                  <a:lnTo>
                    <a:pt x="0" y="44500"/>
                  </a:lnTo>
                  <a:lnTo>
                    <a:pt x="27406" y="44500"/>
                  </a:lnTo>
                  <a:lnTo>
                    <a:pt x="27406" y="43256"/>
                  </a:lnTo>
                  <a:lnTo>
                    <a:pt x="27406" y="1193"/>
                  </a:lnTo>
                  <a:lnTo>
                    <a:pt x="27406" y="1016"/>
                  </a:lnTo>
                  <a:lnTo>
                    <a:pt x="27406" y="0"/>
                  </a:lnTo>
                  <a:close/>
                </a:path>
              </a:pathLst>
            </a:custGeom>
            <a:solidFill>
              <a:srgbClr val="7FA6C8"/>
            </a:solidFill>
          </p:spPr>
          <p:txBody>
            <a:bodyPr wrap="square" lIns="0" tIns="0" rIns="0" bIns="0" rtlCol="0"/>
            <a:lstStyle/>
            <a:p/>
          </p:txBody>
        </p:sp>
        <p:sp>
          <p:nvSpPr>
            <p:cNvPr id="172" name="object 172" descr=""/>
            <p:cNvSpPr/>
            <p:nvPr/>
          </p:nvSpPr>
          <p:spPr>
            <a:xfrm>
              <a:off x="3948188" y="4113783"/>
              <a:ext cx="27940" cy="45085"/>
            </a:xfrm>
            <a:custGeom>
              <a:avLst/>
              <a:gdLst/>
              <a:ahLst/>
              <a:cxnLst/>
              <a:rect l="l" t="t" r="r" b="b"/>
              <a:pathLst>
                <a:path w="27939" h="45085">
                  <a:moveTo>
                    <a:pt x="0" y="0"/>
                  </a:moveTo>
                  <a:lnTo>
                    <a:pt x="27406" y="0"/>
                  </a:lnTo>
                  <a:lnTo>
                    <a:pt x="27406" y="44500"/>
                  </a:lnTo>
                  <a:lnTo>
                    <a:pt x="0" y="44500"/>
                  </a:lnTo>
                  <a:lnTo>
                    <a:pt x="0" y="0"/>
                  </a:lnTo>
                  <a:close/>
                </a:path>
                <a:path w="27939" h="45085">
                  <a:moveTo>
                    <a:pt x="1016" y="2031"/>
                  </a:moveTo>
                  <a:lnTo>
                    <a:pt x="26390" y="2031"/>
                  </a:lnTo>
                  <a:lnTo>
                    <a:pt x="26390" y="43497"/>
                  </a:lnTo>
                  <a:lnTo>
                    <a:pt x="1016" y="43497"/>
                  </a:lnTo>
                  <a:lnTo>
                    <a:pt x="1016" y="2031"/>
                  </a:lnTo>
                  <a:close/>
                </a:path>
              </a:pathLst>
            </a:custGeom>
            <a:ln w="3175">
              <a:solidFill>
                <a:srgbClr val="9BD3F0"/>
              </a:solidFill>
            </a:ln>
          </p:spPr>
          <p:txBody>
            <a:bodyPr wrap="square" lIns="0" tIns="0" rIns="0" bIns="0" rtlCol="0"/>
            <a:lstStyle/>
            <a:p/>
          </p:txBody>
        </p:sp>
        <p:sp>
          <p:nvSpPr>
            <p:cNvPr id="173" name="object 173" descr=""/>
            <p:cNvSpPr/>
            <p:nvPr/>
          </p:nvSpPr>
          <p:spPr>
            <a:xfrm>
              <a:off x="3707180" y="3389604"/>
              <a:ext cx="212090" cy="366395"/>
            </a:xfrm>
            <a:custGeom>
              <a:avLst/>
              <a:gdLst/>
              <a:ahLst/>
              <a:cxnLst/>
              <a:rect l="l" t="t" r="r" b="b"/>
              <a:pathLst>
                <a:path w="212089" h="366395">
                  <a:moveTo>
                    <a:pt x="212089" y="0"/>
                  </a:moveTo>
                  <a:lnTo>
                    <a:pt x="0" y="0"/>
                  </a:lnTo>
                  <a:lnTo>
                    <a:pt x="0" y="366217"/>
                  </a:lnTo>
                  <a:lnTo>
                    <a:pt x="212089" y="366217"/>
                  </a:lnTo>
                  <a:lnTo>
                    <a:pt x="212089" y="0"/>
                  </a:lnTo>
                  <a:close/>
                </a:path>
              </a:pathLst>
            </a:custGeom>
            <a:solidFill>
              <a:srgbClr val="92D050">
                <a:alpha val="50195"/>
              </a:srgbClr>
            </a:solidFill>
          </p:spPr>
          <p:txBody>
            <a:bodyPr wrap="square" lIns="0" tIns="0" rIns="0" bIns="0" rtlCol="0"/>
            <a:lstStyle/>
            <a:p/>
          </p:txBody>
        </p:sp>
        <p:pic>
          <p:nvPicPr>
            <p:cNvPr id="174" name="object 174"/>
            <p:cNvPicPr/>
            <p:nvPr/>
          </p:nvPicPr>
          <p:blipFill>
            <a:blip r:embed="rId7" cstate="print"/>
            <a:stretch>
              <a:fillRect/>
            </a:stretch>
          </p:blipFill>
          <p:spPr>
            <a:xfrm>
              <a:off x="3643185" y="3390620"/>
              <a:ext cx="142633" cy="377418"/>
            </a:xfrm>
            <a:prstGeom prst="rect">
              <a:avLst/>
            </a:prstGeom>
          </p:spPr>
        </p:pic>
        <p:sp>
          <p:nvSpPr>
            <p:cNvPr id="175" name="object 175" descr=""/>
            <p:cNvSpPr/>
            <p:nvPr/>
          </p:nvSpPr>
          <p:spPr>
            <a:xfrm>
              <a:off x="3612057" y="3797604"/>
              <a:ext cx="212090" cy="363855"/>
            </a:xfrm>
            <a:custGeom>
              <a:avLst/>
              <a:gdLst/>
              <a:ahLst/>
              <a:cxnLst/>
              <a:rect l="l" t="t" r="r" b="b"/>
              <a:pathLst>
                <a:path w="212089" h="363854">
                  <a:moveTo>
                    <a:pt x="212089" y="0"/>
                  </a:moveTo>
                  <a:lnTo>
                    <a:pt x="0" y="0"/>
                  </a:lnTo>
                  <a:lnTo>
                    <a:pt x="0" y="363588"/>
                  </a:lnTo>
                  <a:lnTo>
                    <a:pt x="212089" y="363588"/>
                  </a:lnTo>
                  <a:lnTo>
                    <a:pt x="212089" y="0"/>
                  </a:lnTo>
                  <a:close/>
                </a:path>
              </a:pathLst>
            </a:custGeom>
            <a:solidFill>
              <a:srgbClr val="92D050">
                <a:alpha val="50195"/>
              </a:srgbClr>
            </a:solidFill>
          </p:spPr>
          <p:txBody>
            <a:bodyPr wrap="square" lIns="0" tIns="0" rIns="0" bIns="0" rtlCol="0"/>
            <a:lstStyle/>
            <a:p/>
          </p:txBody>
        </p:sp>
        <p:pic>
          <p:nvPicPr>
            <p:cNvPr id="176" name="object 176"/>
            <p:cNvPicPr/>
            <p:nvPr/>
          </p:nvPicPr>
          <p:blipFill>
            <a:blip r:embed="rId7" cstate="print"/>
            <a:stretch>
              <a:fillRect/>
            </a:stretch>
          </p:blipFill>
          <p:spPr>
            <a:xfrm>
              <a:off x="3548052" y="3796873"/>
              <a:ext cx="142630" cy="374718"/>
            </a:xfrm>
            <a:prstGeom prst="rect">
              <a:avLst/>
            </a:prstGeom>
          </p:spPr>
        </p:pic>
        <p:pic>
          <p:nvPicPr>
            <p:cNvPr id="177" name="object 177"/>
            <p:cNvPicPr/>
            <p:nvPr/>
          </p:nvPicPr>
          <p:blipFill>
            <a:blip r:embed="rId8" cstate="print"/>
            <a:stretch>
              <a:fillRect/>
            </a:stretch>
          </p:blipFill>
          <p:spPr>
            <a:xfrm>
              <a:off x="2401328" y="3492405"/>
              <a:ext cx="724439" cy="721416"/>
            </a:xfrm>
            <a:prstGeom prst="rect">
              <a:avLst/>
            </a:prstGeom>
          </p:spPr>
        </p:pic>
        <p:pic>
          <p:nvPicPr>
            <p:cNvPr id="178" name="object 178"/>
            <p:cNvPicPr/>
            <p:nvPr/>
          </p:nvPicPr>
          <p:blipFill>
            <a:blip r:embed="rId9" cstate="print"/>
            <a:stretch>
              <a:fillRect/>
            </a:stretch>
          </p:blipFill>
          <p:spPr>
            <a:xfrm>
              <a:off x="2772155" y="3724655"/>
              <a:ext cx="844295" cy="456437"/>
            </a:xfrm>
            <a:prstGeom prst="rect">
              <a:avLst/>
            </a:prstGeom>
          </p:spPr>
        </p:pic>
        <p:pic>
          <p:nvPicPr>
            <p:cNvPr id="179" name="object 179" descr=""/>
            <p:cNvPicPr/>
            <p:nvPr/>
          </p:nvPicPr>
          <p:blipFill>
            <a:blip r:embed="rId10" cstate="print"/>
            <a:stretch>
              <a:fillRect/>
            </a:stretch>
          </p:blipFill>
          <p:spPr>
            <a:xfrm>
              <a:off x="2819387" y="3747554"/>
              <a:ext cx="749604" cy="364971"/>
            </a:xfrm>
            <a:prstGeom prst="rect">
              <a:avLst/>
            </a:prstGeom>
          </p:spPr>
        </p:pic>
        <p:sp>
          <p:nvSpPr>
            <p:cNvPr id="180" name="object 180" descr=""/>
            <p:cNvSpPr/>
            <p:nvPr/>
          </p:nvSpPr>
          <p:spPr>
            <a:xfrm>
              <a:off x="2819384" y="3747596"/>
              <a:ext cx="749935" cy="365125"/>
            </a:xfrm>
            <a:custGeom>
              <a:avLst/>
              <a:gdLst/>
              <a:ahLst/>
              <a:cxnLst/>
              <a:rect l="l" t="t" r="r" b="b"/>
              <a:pathLst>
                <a:path w="749935" h="365125">
                  <a:moveTo>
                    <a:pt x="0" y="12808"/>
                  </a:moveTo>
                  <a:lnTo>
                    <a:pt x="11499" y="3475"/>
                  </a:lnTo>
                  <a:lnTo>
                    <a:pt x="34049" y="0"/>
                  </a:lnTo>
                  <a:lnTo>
                    <a:pt x="66507" y="2091"/>
                  </a:lnTo>
                  <a:lnTo>
                    <a:pt x="107726" y="9459"/>
                  </a:lnTo>
                  <a:lnTo>
                    <a:pt x="156563" y="21816"/>
                  </a:lnTo>
                  <a:lnTo>
                    <a:pt x="211872" y="38871"/>
                  </a:lnTo>
                  <a:lnTo>
                    <a:pt x="272510" y="60336"/>
                  </a:lnTo>
                  <a:lnTo>
                    <a:pt x="337332" y="85920"/>
                  </a:lnTo>
                  <a:lnTo>
                    <a:pt x="405193" y="115335"/>
                  </a:lnTo>
                  <a:lnTo>
                    <a:pt x="472075" y="146913"/>
                  </a:lnTo>
                  <a:lnTo>
                    <a:pt x="534073" y="178734"/>
                  </a:lnTo>
                  <a:lnTo>
                    <a:pt x="590215" y="210129"/>
                  </a:lnTo>
                  <a:lnTo>
                    <a:pt x="639527" y="240429"/>
                  </a:lnTo>
                  <a:lnTo>
                    <a:pt x="681038" y="268967"/>
                  </a:lnTo>
                  <a:lnTo>
                    <a:pt x="713774" y="295073"/>
                  </a:lnTo>
                  <a:lnTo>
                    <a:pt x="749030" y="337315"/>
                  </a:lnTo>
                  <a:lnTo>
                    <a:pt x="749604" y="352114"/>
                  </a:lnTo>
                  <a:lnTo>
                    <a:pt x="738105" y="361450"/>
                  </a:lnTo>
                  <a:lnTo>
                    <a:pt x="715556" y="364927"/>
                  </a:lnTo>
                  <a:lnTo>
                    <a:pt x="641882" y="355469"/>
                  </a:lnTo>
                  <a:lnTo>
                    <a:pt x="593046" y="343112"/>
                  </a:lnTo>
                  <a:lnTo>
                    <a:pt x="537737" y="326057"/>
                  </a:lnTo>
                  <a:lnTo>
                    <a:pt x="477099" y="304593"/>
                  </a:lnTo>
                  <a:lnTo>
                    <a:pt x="412275" y="279011"/>
                  </a:lnTo>
                  <a:lnTo>
                    <a:pt x="344411" y="249599"/>
                  </a:lnTo>
                  <a:lnTo>
                    <a:pt x="277530" y="218021"/>
                  </a:lnTo>
                  <a:lnTo>
                    <a:pt x="215532" y="186199"/>
                  </a:lnTo>
                  <a:lnTo>
                    <a:pt x="159392" y="154802"/>
                  </a:lnTo>
                  <a:lnTo>
                    <a:pt x="110081" y="124500"/>
                  </a:lnTo>
                  <a:lnTo>
                    <a:pt x="68571" y="95960"/>
                  </a:lnTo>
                  <a:lnTo>
                    <a:pt x="35836" y="69852"/>
                  </a:lnTo>
                  <a:lnTo>
                    <a:pt x="577" y="27607"/>
                  </a:lnTo>
                  <a:lnTo>
                    <a:pt x="0" y="12808"/>
                  </a:lnTo>
                  <a:close/>
                </a:path>
              </a:pathLst>
            </a:custGeom>
            <a:ln w="9525">
              <a:solidFill>
                <a:srgbClr val="F9F9F9"/>
              </a:solidFill>
            </a:ln>
          </p:spPr>
          <p:txBody>
            <a:bodyPr wrap="square" lIns="0" tIns="0" rIns="0" bIns="0" rtlCol="0"/>
            <a:lstStyle/>
            <a:p/>
          </p:txBody>
        </p:sp>
        <p:pic>
          <p:nvPicPr>
            <p:cNvPr id="181" name="object 181"/>
            <p:cNvPicPr/>
            <p:nvPr/>
          </p:nvPicPr>
          <p:blipFill>
            <a:blip r:embed="rId11" cstate="print"/>
            <a:stretch>
              <a:fillRect/>
            </a:stretch>
          </p:blipFill>
          <p:spPr>
            <a:xfrm>
              <a:off x="2756915" y="3643121"/>
              <a:ext cx="902207" cy="294893"/>
            </a:xfrm>
            <a:prstGeom prst="rect">
              <a:avLst/>
            </a:prstGeom>
          </p:spPr>
        </p:pic>
        <p:pic>
          <p:nvPicPr>
            <p:cNvPr id="182" name="object 182" descr=""/>
            <p:cNvPicPr/>
            <p:nvPr/>
          </p:nvPicPr>
          <p:blipFill>
            <a:blip r:embed="rId12" cstate="print"/>
            <a:stretch>
              <a:fillRect/>
            </a:stretch>
          </p:blipFill>
          <p:spPr>
            <a:xfrm>
              <a:off x="2802686" y="3666019"/>
              <a:ext cx="810501" cy="202678"/>
            </a:xfrm>
            <a:prstGeom prst="rect">
              <a:avLst/>
            </a:prstGeom>
          </p:spPr>
        </p:pic>
        <p:sp>
          <p:nvSpPr>
            <p:cNvPr id="183" name="object 183" descr=""/>
            <p:cNvSpPr/>
            <p:nvPr/>
          </p:nvSpPr>
          <p:spPr>
            <a:xfrm>
              <a:off x="2802679" y="3666290"/>
              <a:ext cx="810895" cy="202565"/>
            </a:xfrm>
            <a:custGeom>
              <a:avLst/>
              <a:gdLst/>
              <a:ahLst/>
              <a:cxnLst/>
              <a:rect l="l" t="t" r="r" b="b"/>
              <a:pathLst>
                <a:path w="810895" h="202564">
                  <a:moveTo>
                    <a:pt x="0" y="30283"/>
                  </a:moveTo>
                  <a:lnTo>
                    <a:pt x="61738" y="3334"/>
                  </a:lnTo>
                  <a:lnTo>
                    <a:pt x="103494" y="200"/>
                  </a:lnTo>
                  <a:lnTo>
                    <a:pt x="153869" y="0"/>
                  </a:lnTo>
                  <a:lnTo>
                    <a:pt x="211683" y="2736"/>
                  </a:lnTo>
                  <a:lnTo>
                    <a:pt x="275756" y="8415"/>
                  </a:lnTo>
                  <a:lnTo>
                    <a:pt x="344908" y="17041"/>
                  </a:lnTo>
                  <a:lnTo>
                    <a:pt x="417956" y="28619"/>
                  </a:lnTo>
                  <a:lnTo>
                    <a:pt x="490596" y="42536"/>
                  </a:lnTo>
                  <a:lnTo>
                    <a:pt x="558567" y="57906"/>
                  </a:lnTo>
                  <a:lnTo>
                    <a:pt x="620760" y="74323"/>
                  </a:lnTo>
                  <a:lnTo>
                    <a:pt x="676068" y="91382"/>
                  </a:lnTo>
                  <a:lnTo>
                    <a:pt x="723381" y="108677"/>
                  </a:lnTo>
                  <a:lnTo>
                    <a:pt x="761591" y="125803"/>
                  </a:lnTo>
                  <a:lnTo>
                    <a:pt x="806266" y="157929"/>
                  </a:lnTo>
                  <a:lnTo>
                    <a:pt x="810514" y="172117"/>
                  </a:lnTo>
                  <a:lnTo>
                    <a:pt x="801699" y="184023"/>
                  </a:lnTo>
                  <a:lnTo>
                    <a:pt x="780724" y="193011"/>
                  </a:lnTo>
                  <a:lnTo>
                    <a:pt x="748769" y="199074"/>
                  </a:lnTo>
                  <a:lnTo>
                    <a:pt x="707014" y="202210"/>
                  </a:lnTo>
                  <a:lnTo>
                    <a:pt x="656640" y="202411"/>
                  </a:lnTo>
                  <a:lnTo>
                    <a:pt x="598827" y="199676"/>
                  </a:lnTo>
                  <a:lnTo>
                    <a:pt x="534755" y="193997"/>
                  </a:lnTo>
                  <a:lnTo>
                    <a:pt x="465605" y="185371"/>
                  </a:lnTo>
                  <a:lnTo>
                    <a:pt x="392557" y="173793"/>
                  </a:lnTo>
                  <a:lnTo>
                    <a:pt x="319914" y="159873"/>
                  </a:lnTo>
                  <a:lnTo>
                    <a:pt x="251941" y="144501"/>
                  </a:lnTo>
                  <a:lnTo>
                    <a:pt x="189747" y="128083"/>
                  </a:lnTo>
                  <a:lnTo>
                    <a:pt x="134440" y="111024"/>
                  </a:lnTo>
                  <a:lnTo>
                    <a:pt x="87127" y="93729"/>
                  </a:lnTo>
                  <a:lnTo>
                    <a:pt x="48919" y="76602"/>
                  </a:lnTo>
                  <a:lnTo>
                    <a:pt x="4247" y="44474"/>
                  </a:lnTo>
                  <a:lnTo>
                    <a:pt x="0" y="30283"/>
                  </a:lnTo>
                  <a:close/>
                </a:path>
              </a:pathLst>
            </a:custGeom>
            <a:ln w="9525">
              <a:solidFill>
                <a:srgbClr val="F9F9F9"/>
              </a:solidFill>
            </a:ln>
          </p:spPr>
          <p:txBody>
            <a:bodyPr wrap="square" lIns="0" tIns="0" rIns="0" bIns="0" rtlCol="0"/>
            <a:lstStyle/>
            <a:p/>
          </p:txBody>
        </p:sp>
      </p:grpSp>
      <p:sp>
        <p:nvSpPr>
          <p:cNvPr id="184" name="object 184" descr=""/>
          <p:cNvSpPr txBox="1"/>
          <p:nvPr/>
        </p:nvSpPr>
        <p:spPr>
          <a:xfrm>
            <a:off x="2480064" y="3343676"/>
            <a:ext cx="386080" cy="147320"/>
          </a:xfrm>
          <a:prstGeom prst="rect">
            <a:avLst/>
          </a:prstGeom>
        </p:spPr>
        <p:txBody>
          <a:bodyPr wrap="square" lIns="0" tIns="12065" rIns="0" bIns="0" rtlCol="0" vert="horz">
            <a:spAutoFit/>
          </a:bodyPr>
          <a:lstStyle/>
          <a:p>
            <a:pPr marL="12700">
              <a:lnSpc>
                <a:spcPct val="100000"/>
              </a:lnSpc>
              <a:spcBef>
                <a:spcPts val="95"/>
              </a:spcBef>
            </a:pPr>
            <a:r>
              <a:rPr dirty="0" sz="800" spc="-10">
                <a:latin typeface="Arial MT"/>
                <a:cs typeface="Arial MT"/>
              </a:rPr>
              <a:t>64T64R</a:t>
            </a:r>
            <a:endParaRPr sz="800">
              <a:latin typeface="Arial MT"/>
              <a:cs typeface="Arial MT"/>
            </a:endParaRPr>
          </a:p>
        </p:txBody>
      </p:sp>
      <p:grpSp>
        <p:nvGrpSpPr>
          <p:cNvPr id="185" name="object 185" descr=""/>
          <p:cNvGrpSpPr/>
          <p:nvPr/>
        </p:nvGrpSpPr>
        <p:grpSpPr>
          <a:xfrm>
            <a:off x="391998" y="3262208"/>
            <a:ext cx="1666875" cy="975360"/>
            <a:chOff x="391998" y="3262208"/>
            <a:chExt cx="1666875" cy="975360"/>
          </a:xfrm>
        </p:grpSpPr>
        <p:sp>
          <p:nvSpPr>
            <p:cNvPr id="186" name="object 186" descr=""/>
            <p:cNvSpPr/>
            <p:nvPr/>
          </p:nvSpPr>
          <p:spPr>
            <a:xfrm>
              <a:off x="1544091" y="3761828"/>
              <a:ext cx="89535" cy="426084"/>
            </a:xfrm>
            <a:custGeom>
              <a:avLst/>
              <a:gdLst/>
              <a:ahLst/>
              <a:cxnLst/>
              <a:rect l="l" t="t" r="r" b="b"/>
              <a:pathLst>
                <a:path w="89535" h="426085">
                  <a:moveTo>
                    <a:pt x="89306" y="0"/>
                  </a:moveTo>
                  <a:lnTo>
                    <a:pt x="0" y="0"/>
                  </a:lnTo>
                  <a:lnTo>
                    <a:pt x="0" y="425792"/>
                  </a:lnTo>
                  <a:lnTo>
                    <a:pt x="89306" y="425792"/>
                  </a:lnTo>
                  <a:lnTo>
                    <a:pt x="89306" y="0"/>
                  </a:lnTo>
                  <a:close/>
                </a:path>
              </a:pathLst>
            </a:custGeom>
            <a:solidFill>
              <a:srgbClr val="BFCCC0"/>
            </a:solidFill>
          </p:spPr>
          <p:txBody>
            <a:bodyPr wrap="square" lIns="0" tIns="0" rIns="0" bIns="0" rtlCol="0"/>
            <a:lstStyle/>
            <a:p/>
          </p:txBody>
        </p:sp>
        <p:sp>
          <p:nvSpPr>
            <p:cNvPr id="187" name="object 187" descr=""/>
            <p:cNvSpPr/>
            <p:nvPr/>
          </p:nvSpPr>
          <p:spPr>
            <a:xfrm>
              <a:off x="1543075" y="3761308"/>
              <a:ext cx="91440" cy="426720"/>
            </a:xfrm>
            <a:custGeom>
              <a:avLst/>
              <a:gdLst/>
              <a:ahLst/>
              <a:cxnLst/>
              <a:rect l="l" t="t" r="r" b="b"/>
              <a:pathLst>
                <a:path w="91439" h="426720">
                  <a:moveTo>
                    <a:pt x="91338" y="1854"/>
                  </a:moveTo>
                  <a:lnTo>
                    <a:pt x="88938" y="1854"/>
                  </a:lnTo>
                  <a:lnTo>
                    <a:pt x="88938" y="424954"/>
                  </a:lnTo>
                  <a:lnTo>
                    <a:pt x="91338" y="424954"/>
                  </a:lnTo>
                  <a:lnTo>
                    <a:pt x="91338" y="1854"/>
                  </a:lnTo>
                  <a:close/>
                </a:path>
                <a:path w="91439" h="426720">
                  <a:moveTo>
                    <a:pt x="91338" y="0"/>
                  </a:moveTo>
                  <a:lnTo>
                    <a:pt x="0" y="0"/>
                  </a:lnTo>
                  <a:lnTo>
                    <a:pt x="0" y="1270"/>
                  </a:lnTo>
                  <a:lnTo>
                    <a:pt x="0" y="425450"/>
                  </a:lnTo>
                  <a:lnTo>
                    <a:pt x="0" y="426720"/>
                  </a:lnTo>
                  <a:lnTo>
                    <a:pt x="91338" y="426720"/>
                  </a:lnTo>
                  <a:lnTo>
                    <a:pt x="91338" y="425450"/>
                  </a:lnTo>
                  <a:lnTo>
                    <a:pt x="2387" y="425450"/>
                  </a:lnTo>
                  <a:lnTo>
                    <a:pt x="2387" y="1270"/>
                  </a:lnTo>
                  <a:lnTo>
                    <a:pt x="91338" y="1270"/>
                  </a:lnTo>
                  <a:lnTo>
                    <a:pt x="91338" y="0"/>
                  </a:lnTo>
                  <a:close/>
                </a:path>
              </a:pathLst>
            </a:custGeom>
            <a:solidFill>
              <a:srgbClr val="879C82"/>
            </a:solidFill>
          </p:spPr>
          <p:txBody>
            <a:bodyPr wrap="square" lIns="0" tIns="0" rIns="0" bIns="0" rtlCol="0"/>
            <a:lstStyle/>
            <a:p/>
          </p:txBody>
        </p:sp>
        <p:sp>
          <p:nvSpPr>
            <p:cNvPr id="188" name="object 188" descr=""/>
            <p:cNvSpPr/>
            <p:nvPr/>
          </p:nvSpPr>
          <p:spPr>
            <a:xfrm>
              <a:off x="1544091" y="3720365"/>
              <a:ext cx="121285" cy="41910"/>
            </a:xfrm>
            <a:custGeom>
              <a:avLst/>
              <a:gdLst/>
              <a:ahLst/>
              <a:cxnLst/>
              <a:rect l="l" t="t" r="r" b="b"/>
              <a:pathLst>
                <a:path w="121285" h="41910">
                  <a:moveTo>
                    <a:pt x="120764" y="0"/>
                  </a:moveTo>
                  <a:lnTo>
                    <a:pt x="31445" y="0"/>
                  </a:lnTo>
                  <a:lnTo>
                    <a:pt x="0" y="41465"/>
                  </a:lnTo>
                  <a:lnTo>
                    <a:pt x="89077" y="41465"/>
                  </a:lnTo>
                  <a:lnTo>
                    <a:pt x="120764" y="0"/>
                  </a:lnTo>
                  <a:close/>
                </a:path>
              </a:pathLst>
            </a:custGeom>
            <a:solidFill>
              <a:srgbClr val="E0E6E2"/>
            </a:solidFill>
          </p:spPr>
          <p:txBody>
            <a:bodyPr wrap="square" lIns="0" tIns="0" rIns="0" bIns="0" rtlCol="0"/>
            <a:lstStyle/>
            <a:p/>
          </p:txBody>
        </p:sp>
        <p:sp>
          <p:nvSpPr>
            <p:cNvPr id="189" name="object 189" descr=""/>
            <p:cNvSpPr/>
            <p:nvPr/>
          </p:nvSpPr>
          <p:spPr>
            <a:xfrm>
              <a:off x="1543077" y="3719358"/>
              <a:ext cx="123825" cy="45085"/>
            </a:xfrm>
            <a:custGeom>
              <a:avLst/>
              <a:gdLst/>
              <a:ahLst/>
              <a:cxnLst/>
              <a:rect l="l" t="t" r="r" b="b"/>
              <a:pathLst>
                <a:path w="123825" h="45085">
                  <a:moveTo>
                    <a:pt x="123812" y="0"/>
                  </a:moveTo>
                  <a:lnTo>
                    <a:pt x="31902" y="0"/>
                  </a:lnTo>
                  <a:lnTo>
                    <a:pt x="0" y="42646"/>
                  </a:lnTo>
                  <a:lnTo>
                    <a:pt x="177" y="44488"/>
                  </a:lnTo>
                  <a:lnTo>
                    <a:pt x="90474" y="44488"/>
                  </a:lnTo>
                  <a:lnTo>
                    <a:pt x="92205" y="42176"/>
                  </a:lnTo>
                  <a:lnTo>
                    <a:pt x="3517" y="42176"/>
                  </a:lnTo>
                  <a:lnTo>
                    <a:pt x="33032" y="2374"/>
                  </a:lnTo>
                  <a:lnTo>
                    <a:pt x="121999" y="2374"/>
                  </a:lnTo>
                  <a:lnTo>
                    <a:pt x="123812" y="0"/>
                  </a:lnTo>
                  <a:close/>
                </a:path>
                <a:path w="123825" h="45085">
                  <a:moveTo>
                    <a:pt x="121999" y="2374"/>
                  </a:moveTo>
                  <a:lnTo>
                    <a:pt x="119037" y="2374"/>
                  </a:lnTo>
                  <a:lnTo>
                    <a:pt x="89281" y="42176"/>
                  </a:lnTo>
                  <a:lnTo>
                    <a:pt x="92205" y="42176"/>
                  </a:lnTo>
                  <a:lnTo>
                    <a:pt x="121999" y="2374"/>
                  </a:lnTo>
                  <a:close/>
                </a:path>
              </a:pathLst>
            </a:custGeom>
            <a:solidFill>
              <a:srgbClr val="879C82"/>
            </a:solidFill>
          </p:spPr>
          <p:txBody>
            <a:bodyPr wrap="square" lIns="0" tIns="0" rIns="0" bIns="0" rtlCol="0"/>
            <a:lstStyle/>
            <a:p/>
          </p:txBody>
        </p:sp>
        <p:sp>
          <p:nvSpPr>
            <p:cNvPr id="190" name="object 190" descr=""/>
            <p:cNvSpPr/>
            <p:nvPr/>
          </p:nvSpPr>
          <p:spPr>
            <a:xfrm>
              <a:off x="1633399" y="3720364"/>
              <a:ext cx="31750" cy="467359"/>
            </a:xfrm>
            <a:custGeom>
              <a:avLst/>
              <a:gdLst/>
              <a:ahLst/>
              <a:cxnLst/>
              <a:rect l="l" t="t" r="r" b="b"/>
              <a:pathLst>
                <a:path w="31750" h="467360">
                  <a:moveTo>
                    <a:pt x="31457" y="0"/>
                  </a:moveTo>
                  <a:lnTo>
                    <a:pt x="0" y="42240"/>
                  </a:lnTo>
                  <a:lnTo>
                    <a:pt x="0" y="467258"/>
                  </a:lnTo>
                  <a:lnTo>
                    <a:pt x="31457" y="425069"/>
                  </a:lnTo>
                  <a:lnTo>
                    <a:pt x="31457" y="0"/>
                  </a:lnTo>
                  <a:close/>
                </a:path>
              </a:pathLst>
            </a:custGeom>
            <a:ln w="4762">
              <a:solidFill>
                <a:srgbClr val="879C82"/>
              </a:solidFill>
            </a:ln>
          </p:spPr>
          <p:txBody>
            <a:bodyPr wrap="square" lIns="0" tIns="0" rIns="0" bIns="0" rtlCol="0"/>
            <a:lstStyle/>
            <a:p/>
          </p:txBody>
        </p:sp>
        <p:sp>
          <p:nvSpPr>
            <p:cNvPr id="191" name="object 191" descr=""/>
            <p:cNvSpPr/>
            <p:nvPr/>
          </p:nvSpPr>
          <p:spPr>
            <a:xfrm>
              <a:off x="1552206" y="3850830"/>
              <a:ext cx="27940" cy="43815"/>
            </a:xfrm>
            <a:custGeom>
              <a:avLst/>
              <a:gdLst/>
              <a:ahLst/>
              <a:cxnLst/>
              <a:rect l="l" t="t" r="r" b="b"/>
              <a:pathLst>
                <a:path w="27940"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92" name="object 192" descr=""/>
            <p:cNvSpPr/>
            <p:nvPr/>
          </p:nvSpPr>
          <p:spPr>
            <a:xfrm>
              <a:off x="1551190" y="3849814"/>
              <a:ext cx="28575" cy="45720"/>
            </a:xfrm>
            <a:custGeom>
              <a:avLst/>
              <a:gdLst/>
              <a:ahLst/>
              <a:cxnLst/>
              <a:rect l="l" t="t" r="r" b="b"/>
              <a:pathLst>
                <a:path w="28575" h="45720">
                  <a:moveTo>
                    <a:pt x="28409" y="0"/>
                  </a:moveTo>
                  <a:lnTo>
                    <a:pt x="0" y="0"/>
                  </a:lnTo>
                  <a:lnTo>
                    <a:pt x="0" y="45516"/>
                  </a:lnTo>
                  <a:lnTo>
                    <a:pt x="28409" y="45516"/>
                  </a:lnTo>
                  <a:lnTo>
                    <a:pt x="28409" y="44246"/>
                  </a:lnTo>
                  <a:lnTo>
                    <a:pt x="1257" y="44246"/>
                  </a:lnTo>
                  <a:lnTo>
                    <a:pt x="1257" y="1168"/>
                  </a:lnTo>
                  <a:lnTo>
                    <a:pt x="28409" y="1168"/>
                  </a:lnTo>
                  <a:lnTo>
                    <a:pt x="28409" y="0"/>
                  </a:lnTo>
                  <a:close/>
                </a:path>
                <a:path w="28575" h="45720">
                  <a:moveTo>
                    <a:pt x="28409" y="1168"/>
                  </a:moveTo>
                  <a:lnTo>
                    <a:pt x="27165" y="1168"/>
                  </a:lnTo>
                  <a:lnTo>
                    <a:pt x="27165" y="44246"/>
                  </a:lnTo>
                  <a:lnTo>
                    <a:pt x="28409" y="44246"/>
                  </a:lnTo>
                  <a:lnTo>
                    <a:pt x="28409" y="1168"/>
                  </a:lnTo>
                  <a:close/>
                </a:path>
              </a:pathLst>
            </a:custGeom>
            <a:solidFill>
              <a:srgbClr val="879C82"/>
            </a:solidFill>
          </p:spPr>
          <p:txBody>
            <a:bodyPr wrap="square" lIns="0" tIns="0" rIns="0" bIns="0" rtlCol="0"/>
            <a:lstStyle/>
            <a:p/>
          </p:txBody>
        </p:sp>
        <p:sp>
          <p:nvSpPr>
            <p:cNvPr id="193" name="object 193" descr=""/>
            <p:cNvSpPr/>
            <p:nvPr/>
          </p:nvSpPr>
          <p:spPr>
            <a:xfrm>
              <a:off x="1593824" y="3850830"/>
              <a:ext cx="27940" cy="43815"/>
            </a:xfrm>
            <a:custGeom>
              <a:avLst/>
              <a:gdLst/>
              <a:ahLst/>
              <a:cxnLst/>
              <a:rect l="l" t="t" r="r" b="b"/>
              <a:pathLst>
                <a:path w="27940"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94" name="object 194" descr=""/>
            <p:cNvSpPr/>
            <p:nvPr/>
          </p:nvSpPr>
          <p:spPr>
            <a:xfrm>
              <a:off x="1592808" y="3849814"/>
              <a:ext cx="28575" cy="45720"/>
            </a:xfrm>
            <a:custGeom>
              <a:avLst/>
              <a:gdLst/>
              <a:ahLst/>
              <a:cxnLst/>
              <a:rect l="l" t="t" r="r" b="b"/>
              <a:pathLst>
                <a:path w="28575" h="45720">
                  <a:moveTo>
                    <a:pt x="28409" y="0"/>
                  </a:moveTo>
                  <a:lnTo>
                    <a:pt x="0" y="0"/>
                  </a:lnTo>
                  <a:lnTo>
                    <a:pt x="0" y="45516"/>
                  </a:lnTo>
                  <a:lnTo>
                    <a:pt x="28409" y="45516"/>
                  </a:lnTo>
                  <a:lnTo>
                    <a:pt x="28409" y="44246"/>
                  </a:lnTo>
                  <a:lnTo>
                    <a:pt x="1257" y="44246"/>
                  </a:lnTo>
                  <a:lnTo>
                    <a:pt x="1257" y="1168"/>
                  </a:lnTo>
                  <a:lnTo>
                    <a:pt x="28409" y="1168"/>
                  </a:lnTo>
                  <a:lnTo>
                    <a:pt x="28409" y="0"/>
                  </a:lnTo>
                  <a:close/>
                </a:path>
                <a:path w="28575" h="45720">
                  <a:moveTo>
                    <a:pt x="28409" y="1168"/>
                  </a:moveTo>
                  <a:lnTo>
                    <a:pt x="27165" y="1168"/>
                  </a:lnTo>
                  <a:lnTo>
                    <a:pt x="27165" y="44246"/>
                  </a:lnTo>
                  <a:lnTo>
                    <a:pt x="28409" y="44246"/>
                  </a:lnTo>
                  <a:lnTo>
                    <a:pt x="28409" y="1168"/>
                  </a:lnTo>
                  <a:close/>
                </a:path>
              </a:pathLst>
            </a:custGeom>
            <a:solidFill>
              <a:srgbClr val="879C82"/>
            </a:solidFill>
          </p:spPr>
          <p:txBody>
            <a:bodyPr wrap="square" lIns="0" tIns="0" rIns="0" bIns="0" rtlCol="0"/>
            <a:lstStyle/>
            <a:p/>
          </p:txBody>
        </p:sp>
        <p:sp>
          <p:nvSpPr>
            <p:cNvPr id="195" name="object 195" descr=""/>
            <p:cNvSpPr/>
            <p:nvPr/>
          </p:nvSpPr>
          <p:spPr>
            <a:xfrm>
              <a:off x="1552206" y="3925671"/>
              <a:ext cx="27940" cy="43815"/>
            </a:xfrm>
            <a:custGeom>
              <a:avLst/>
              <a:gdLst/>
              <a:ahLst/>
              <a:cxnLst/>
              <a:rect l="l" t="t" r="r" b="b"/>
              <a:pathLst>
                <a:path w="27940"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96" name="object 196" descr=""/>
            <p:cNvSpPr/>
            <p:nvPr/>
          </p:nvSpPr>
          <p:spPr>
            <a:xfrm>
              <a:off x="1551190" y="3924668"/>
              <a:ext cx="28575" cy="45085"/>
            </a:xfrm>
            <a:custGeom>
              <a:avLst/>
              <a:gdLst/>
              <a:ahLst/>
              <a:cxnLst/>
              <a:rect l="l" t="t" r="r" b="b"/>
              <a:pathLst>
                <a:path w="28575" h="45085">
                  <a:moveTo>
                    <a:pt x="28409" y="0"/>
                  </a:moveTo>
                  <a:lnTo>
                    <a:pt x="0" y="0"/>
                  </a:lnTo>
                  <a:lnTo>
                    <a:pt x="0" y="44500"/>
                  </a:lnTo>
                  <a:lnTo>
                    <a:pt x="28409" y="44500"/>
                  </a:lnTo>
                  <a:lnTo>
                    <a:pt x="28409" y="43370"/>
                  </a:lnTo>
                  <a:lnTo>
                    <a:pt x="1257" y="43370"/>
                  </a:lnTo>
                  <a:lnTo>
                    <a:pt x="1257" y="1181"/>
                  </a:lnTo>
                  <a:lnTo>
                    <a:pt x="28409" y="1181"/>
                  </a:lnTo>
                  <a:lnTo>
                    <a:pt x="28409" y="0"/>
                  </a:lnTo>
                  <a:close/>
                </a:path>
                <a:path w="28575" h="45085">
                  <a:moveTo>
                    <a:pt x="28409" y="1181"/>
                  </a:moveTo>
                  <a:lnTo>
                    <a:pt x="27165" y="1181"/>
                  </a:lnTo>
                  <a:lnTo>
                    <a:pt x="27165" y="43370"/>
                  </a:lnTo>
                  <a:lnTo>
                    <a:pt x="28409" y="43370"/>
                  </a:lnTo>
                  <a:lnTo>
                    <a:pt x="28409" y="1181"/>
                  </a:lnTo>
                  <a:close/>
                </a:path>
              </a:pathLst>
            </a:custGeom>
            <a:solidFill>
              <a:srgbClr val="879C82"/>
            </a:solidFill>
          </p:spPr>
          <p:txBody>
            <a:bodyPr wrap="square" lIns="0" tIns="0" rIns="0" bIns="0" rtlCol="0"/>
            <a:lstStyle/>
            <a:p/>
          </p:txBody>
        </p:sp>
        <p:sp>
          <p:nvSpPr>
            <p:cNvPr id="197" name="object 197" descr=""/>
            <p:cNvSpPr/>
            <p:nvPr/>
          </p:nvSpPr>
          <p:spPr>
            <a:xfrm>
              <a:off x="1593824" y="3925671"/>
              <a:ext cx="27940" cy="43815"/>
            </a:xfrm>
            <a:custGeom>
              <a:avLst/>
              <a:gdLst/>
              <a:ahLst/>
              <a:cxnLst/>
              <a:rect l="l" t="t" r="r" b="b"/>
              <a:pathLst>
                <a:path w="27940"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98" name="object 198" descr=""/>
            <p:cNvSpPr/>
            <p:nvPr/>
          </p:nvSpPr>
          <p:spPr>
            <a:xfrm>
              <a:off x="1592808" y="3924668"/>
              <a:ext cx="28575" cy="45085"/>
            </a:xfrm>
            <a:custGeom>
              <a:avLst/>
              <a:gdLst/>
              <a:ahLst/>
              <a:cxnLst/>
              <a:rect l="l" t="t" r="r" b="b"/>
              <a:pathLst>
                <a:path w="28575" h="45085">
                  <a:moveTo>
                    <a:pt x="28409" y="0"/>
                  </a:moveTo>
                  <a:lnTo>
                    <a:pt x="0" y="0"/>
                  </a:lnTo>
                  <a:lnTo>
                    <a:pt x="0" y="44500"/>
                  </a:lnTo>
                  <a:lnTo>
                    <a:pt x="28409" y="44500"/>
                  </a:lnTo>
                  <a:lnTo>
                    <a:pt x="28409" y="43370"/>
                  </a:lnTo>
                  <a:lnTo>
                    <a:pt x="1257" y="43370"/>
                  </a:lnTo>
                  <a:lnTo>
                    <a:pt x="1257" y="1181"/>
                  </a:lnTo>
                  <a:lnTo>
                    <a:pt x="28409" y="1181"/>
                  </a:lnTo>
                  <a:lnTo>
                    <a:pt x="28409" y="0"/>
                  </a:lnTo>
                  <a:close/>
                </a:path>
                <a:path w="28575" h="45085">
                  <a:moveTo>
                    <a:pt x="28409" y="1181"/>
                  </a:moveTo>
                  <a:lnTo>
                    <a:pt x="27165" y="1181"/>
                  </a:lnTo>
                  <a:lnTo>
                    <a:pt x="27165" y="43370"/>
                  </a:lnTo>
                  <a:lnTo>
                    <a:pt x="28409" y="43370"/>
                  </a:lnTo>
                  <a:lnTo>
                    <a:pt x="28409" y="1181"/>
                  </a:lnTo>
                  <a:close/>
                </a:path>
              </a:pathLst>
            </a:custGeom>
            <a:solidFill>
              <a:srgbClr val="879C82"/>
            </a:solidFill>
          </p:spPr>
          <p:txBody>
            <a:bodyPr wrap="square" lIns="0" tIns="0" rIns="0" bIns="0" rtlCol="0"/>
            <a:lstStyle/>
            <a:p/>
          </p:txBody>
        </p:sp>
        <p:sp>
          <p:nvSpPr>
            <p:cNvPr id="199" name="object 199" descr=""/>
            <p:cNvSpPr/>
            <p:nvPr/>
          </p:nvSpPr>
          <p:spPr>
            <a:xfrm>
              <a:off x="1552206" y="4000512"/>
              <a:ext cx="27940" cy="43815"/>
            </a:xfrm>
            <a:custGeom>
              <a:avLst/>
              <a:gdLst/>
              <a:ahLst/>
              <a:cxnLst/>
              <a:rect l="l" t="t" r="r" b="b"/>
              <a:pathLst>
                <a:path w="27940"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00" name="object 200" descr=""/>
            <p:cNvSpPr/>
            <p:nvPr/>
          </p:nvSpPr>
          <p:spPr>
            <a:xfrm>
              <a:off x="1551190" y="3999509"/>
              <a:ext cx="28575" cy="45085"/>
            </a:xfrm>
            <a:custGeom>
              <a:avLst/>
              <a:gdLst/>
              <a:ahLst/>
              <a:cxnLst/>
              <a:rect l="l" t="t" r="r" b="b"/>
              <a:pathLst>
                <a:path w="28575" h="45085">
                  <a:moveTo>
                    <a:pt x="28409" y="0"/>
                  </a:moveTo>
                  <a:lnTo>
                    <a:pt x="0" y="0"/>
                  </a:lnTo>
                  <a:lnTo>
                    <a:pt x="0" y="44500"/>
                  </a:lnTo>
                  <a:lnTo>
                    <a:pt x="28409" y="44500"/>
                  </a:lnTo>
                  <a:lnTo>
                    <a:pt x="28409" y="43306"/>
                  </a:lnTo>
                  <a:lnTo>
                    <a:pt x="1257" y="43306"/>
                  </a:lnTo>
                  <a:lnTo>
                    <a:pt x="1257" y="1181"/>
                  </a:lnTo>
                  <a:lnTo>
                    <a:pt x="28409" y="1181"/>
                  </a:lnTo>
                  <a:lnTo>
                    <a:pt x="28409" y="0"/>
                  </a:lnTo>
                  <a:close/>
                </a:path>
                <a:path w="28575" h="45085">
                  <a:moveTo>
                    <a:pt x="28409" y="1181"/>
                  </a:moveTo>
                  <a:lnTo>
                    <a:pt x="27165" y="1181"/>
                  </a:lnTo>
                  <a:lnTo>
                    <a:pt x="27165" y="43306"/>
                  </a:lnTo>
                  <a:lnTo>
                    <a:pt x="28409" y="43306"/>
                  </a:lnTo>
                  <a:lnTo>
                    <a:pt x="28409" y="1181"/>
                  </a:lnTo>
                  <a:close/>
                </a:path>
              </a:pathLst>
            </a:custGeom>
            <a:solidFill>
              <a:srgbClr val="879C82"/>
            </a:solidFill>
          </p:spPr>
          <p:txBody>
            <a:bodyPr wrap="square" lIns="0" tIns="0" rIns="0" bIns="0" rtlCol="0"/>
            <a:lstStyle/>
            <a:p/>
          </p:txBody>
        </p:sp>
        <p:sp>
          <p:nvSpPr>
            <p:cNvPr id="201" name="object 201" descr=""/>
            <p:cNvSpPr/>
            <p:nvPr/>
          </p:nvSpPr>
          <p:spPr>
            <a:xfrm>
              <a:off x="1593824" y="4000512"/>
              <a:ext cx="27940" cy="43815"/>
            </a:xfrm>
            <a:custGeom>
              <a:avLst/>
              <a:gdLst/>
              <a:ahLst/>
              <a:cxnLst/>
              <a:rect l="l" t="t" r="r" b="b"/>
              <a:pathLst>
                <a:path w="27940"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02" name="object 202" descr=""/>
            <p:cNvSpPr/>
            <p:nvPr/>
          </p:nvSpPr>
          <p:spPr>
            <a:xfrm>
              <a:off x="1592808" y="3999509"/>
              <a:ext cx="28575" cy="45085"/>
            </a:xfrm>
            <a:custGeom>
              <a:avLst/>
              <a:gdLst/>
              <a:ahLst/>
              <a:cxnLst/>
              <a:rect l="l" t="t" r="r" b="b"/>
              <a:pathLst>
                <a:path w="28575" h="45085">
                  <a:moveTo>
                    <a:pt x="28409" y="0"/>
                  </a:moveTo>
                  <a:lnTo>
                    <a:pt x="0" y="0"/>
                  </a:lnTo>
                  <a:lnTo>
                    <a:pt x="0" y="44500"/>
                  </a:lnTo>
                  <a:lnTo>
                    <a:pt x="28409" y="44500"/>
                  </a:lnTo>
                  <a:lnTo>
                    <a:pt x="28409" y="43306"/>
                  </a:lnTo>
                  <a:lnTo>
                    <a:pt x="1257" y="43306"/>
                  </a:lnTo>
                  <a:lnTo>
                    <a:pt x="1257" y="1181"/>
                  </a:lnTo>
                  <a:lnTo>
                    <a:pt x="28409" y="1181"/>
                  </a:lnTo>
                  <a:lnTo>
                    <a:pt x="28409" y="0"/>
                  </a:lnTo>
                  <a:close/>
                </a:path>
                <a:path w="28575" h="45085">
                  <a:moveTo>
                    <a:pt x="28409" y="1181"/>
                  </a:moveTo>
                  <a:lnTo>
                    <a:pt x="27165" y="1181"/>
                  </a:lnTo>
                  <a:lnTo>
                    <a:pt x="27165" y="43306"/>
                  </a:lnTo>
                  <a:lnTo>
                    <a:pt x="28409" y="43306"/>
                  </a:lnTo>
                  <a:lnTo>
                    <a:pt x="28409" y="1181"/>
                  </a:lnTo>
                  <a:close/>
                </a:path>
              </a:pathLst>
            </a:custGeom>
            <a:solidFill>
              <a:srgbClr val="879C82"/>
            </a:solidFill>
          </p:spPr>
          <p:txBody>
            <a:bodyPr wrap="square" lIns="0" tIns="0" rIns="0" bIns="0" rtlCol="0"/>
            <a:lstStyle/>
            <a:p/>
          </p:txBody>
        </p:sp>
        <p:sp>
          <p:nvSpPr>
            <p:cNvPr id="203" name="object 203" descr=""/>
            <p:cNvSpPr/>
            <p:nvPr/>
          </p:nvSpPr>
          <p:spPr>
            <a:xfrm>
              <a:off x="1633397" y="3350196"/>
              <a:ext cx="174625" cy="837565"/>
            </a:xfrm>
            <a:custGeom>
              <a:avLst/>
              <a:gdLst/>
              <a:ahLst/>
              <a:cxnLst/>
              <a:rect l="l" t="t" r="r" b="b"/>
              <a:pathLst>
                <a:path w="174625" h="837564">
                  <a:moveTo>
                    <a:pt x="174548" y="0"/>
                  </a:moveTo>
                  <a:lnTo>
                    <a:pt x="0" y="0"/>
                  </a:lnTo>
                  <a:lnTo>
                    <a:pt x="0" y="837412"/>
                  </a:lnTo>
                  <a:lnTo>
                    <a:pt x="174548" y="837412"/>
                  </a:lnTo>
                  <a:lnTo>
                    <a:pt x="174548" y="0"/>
                  </a:lnTo>
                  <a:close/>
                </a:path>
              </a:pathLst>
            </a:custGeom>
            <a:solidFill>
              <a:srgbClr val="BFCCC0"/>
            </a:solidFill>
          </p:spPr>
          <p:txBody>
            <a:bodyPr wrap="square" lIns="0" tIns="0" rIns="0" bIns="0" rtlCol="0"/>
            <a:lstStyle/>
            <a:p/>
          </p:txBody>
        </p:sp>
        <p:sp>
          <p:nvSpPr>
            <p:cNvPr id="204" name="object 204" descr=""/>
            <p:cNvSpPr/>
            <p:nvPr/>
          </p:nvSpPr>
          <p:spPr>
            <a:xfrm>
              <a:off x="1632369" y="3349319"/>
              <a:ext cx="177165" cy="839469"/>
            </a:xfrm>
            <a:custGeom>
              <a:avLst/>
              <a:gdLst/>
              <a:ahLst/>
              <a:cxnLst/>
              <a:rect l="l" t="t" r="r" b="b"/>
              <a:pathLst>
                <a:path w="177164" h="839470">
                  <a:moveTo>
                    <a:pt x="176580" y="0"/>
                  </a:moveTo>
                  <a:lnTo>
                    <a:pt x="174193" y="0"/>
                  </a:lnTo>
                  <a:lnTo>
                    <a:pt x="174193" y="2540"/>
                  </a:lnTo>
                  <a:lnTo>
                    <a:pt x="174193" y="836930"/>
                  </a:lnTo>
                  <a:lnTo>
                    <a:pt x="2387" y="836930"/>
                  </a:lnTo>
                  <a:lnTo>
                    <a:pt x="2387" y="2540"/>
                  </a:lnTo>
                  <a:lnTo>
                    <a:pt x="174193" y="2540"/>
                  </a:lnTo>
                  <a:lnTo>
                    <a:pt x="174193" y="0"/>
                  </a:lnTo>
                  <a:lnTo>
                    <a:pt x="482" y="0"/>
                  </a:lnTo>
                  <a:lnTo>
                    <a:pt x="482" y="2540"/>
                  </a:lnTo>
                  <a:lnTo>
                    <a:pt x="241" y="2540"/>
                  </a:lnTo>
                  <a:lnTo>
                    <a:pt x="241" y="836930"/>
                  </a:lnTo>
                  <a:lnTo>
                    <a:pt x="0" y="836930"/>
                  </a:lnTo>
                  <a:lnTo>
                    <a:pt x="0" y="839470"/>
                  </a:lnTo>
                  <a:lnTo>
                    <a:pt x="176580" y="839470"/>
                  </a:lnTo>
                  <a:lnTo>
                    <a:pt x="176580" y="836942"/>
                  </a:lnTo>
                  <a:lnTo>
                    <a:pt x="176580" y="2540"/>
                  </a:lnTo>
                  <a:lnTo>
                    <a:pt x="176580" y="2260"/>
                  </a:lnTo>
                  <a:lnTo>
                    <a:pt x="176580" y="0"/>
                  </a:lnTo>
                  <a:close/>
                </a:path>
              </a:pathLst>
            </a:custGeom>
            <a:solidFill>
              <a:srgbClr val="879C82"/>
            </a:solidFill>
          </p:spPr>
          <p:txBody>
            <a:bodyPr wrap="square" lIns="0" tIns="0" rIns="0" bIns="0" rtlCol="0"/>
            <a:lstStyle/>
            <a:p/>
          </p:txBody>
        </p:sp>
        <p:pic>
          <p:nvPicPr>
            <p:cNvPr id="205" name="object 205" descr=""/>
            <p:cNvPicPr/>
            <p:nvPr/>
          </p:nvPicPr>
          <p:blipFill>
            <a:blip r:embed="rId13" cstate="print"/>
            <a:stretch>
              <a:fillRect/>
            </a:stretch>
          </p:blipFill>
          <p:spPr>
            <a:xfrm>
              <a:off x="1632380" y="3262218"/>
              <a:ext cx="242544" cy="89001"/>
            </a:xfrm>
            <a:prstGeom prst="rect">
              <a:avLst/>
            </a:prstGeom>
          </p:spPr>
        </p:pic>
        <p:sp>
          <p:nvSpPr>
            <p:cNvPr id="206" name="object 206" descr=""/>
            <p:cNvSpPr/>
            <p:nvPr/>
          </p:nvSpPr>
          <p:spPr>
            <a:xfrm>
              <a:off x="1807947" y="3263224"/>
              <a:ext cx="66040" cy="924560"/>
            </a:xfrm>
            <a:custGeom>
              <a:avLst/>
              <a:gdLst/>
              <a:ahLst/>
              <a:cxnLst/>
              <a:rect l="l" t="t" r="r" b="b"/>
              <a:pathLst>
                <a:path w="66039" h="924560">
                  <a:moveTo>
                    <a:pt x="65963" y="0"/>
                  </a:moveTo>
                  <a:lnTo>
                    <a:pt x="0" y="86969"/>
                  </a:lnTo>
                  <a:lnTo>
                    <a:pt x="0" y="924394"/>
                  </a:lnTo>
                  <a:lnTo>
                    <a:pt x="65722" y="845464"/>
                  </a:lnTo>
                  <a:lnTo>
                    <a:pt x="65963" y="0"/>
                  </a:lnTo>
                  <a:close/>
                </a:path>
              </a:pathLst>
            </a:custGeom>
            <a:solidFill>
              <a:srgbClr val="A5B8A6"/>
            </a:solidFill>
          </p:spPr>
          <p:txBody>
            <a:bodyPr wrap="square" lIns="0" tIns="0" rIns="0" bIns="0" rtlCol="0"/>
            <a:lstStyle/>
            <a:p/>
          </p:txBody>
        </p:sp>
        <p:sp>
          <p:nvSpPr>
            <p:cNvPr id="207" name="object 207" descr=""/>
            <p:cNvSpPr/>
            <p:nvPr/>
          </p:nvSpPr>
          <p:spPr>
            <a:xfrm>
              <a:off x="1806939" y="3262208"/>
              <a:ext cx="68580" cy="925830"/>
            </a:xfrm>
            <a:custGeom>
              <a:avLst/>
              <a:gdLst/>
              <a:ahLst/>
              <a:cxnLst/>
              <a:rect l="l" t="t" r="r" b="b"/>
              <a:pathLst>
                <a:path w="68580" h="925829">
                  <a:moveTo>
                    <a:pt x="65862" y="0"/>
                  </a:moveTo>
                  <a:lnTo>
                    <a:pt x="228" y="86867"/>
                  </a:lnTo>
                  <a:lnTo>
                    <a:pt x="0" y="87579"/>
                  </a:lnTo>
                  <a:lnTo>
                    <a:pt x="0" y="924636"/>
                  </a:lnTo>
                  <a:lnTo>
                    <a:pt x="2070" y="925410"/>
                  </a:lnTo>
                  <a:lnTo>
                    <a:pt x="5374" y="921423"/>
                  </a:lnTo>
                  <a:lnTo>
                    <a:pt x="2362" y="921423"/>
                  </a:lnTo>
                  <a:lnTo>
                    <a:pt x="2362" y="87934"/>
                  </a:lnTo>
                  <a:lnTo>
                    <a:pt x="65620" y="4229"/>
                  </a:lnTo>
                  <a:lnTo>
                    <a:pt x="67982" y="4229"/>
                  </a:lnTo>
                  <a:lnTo>
                    <a:pt x="67983" y="660"/>
                  </a:lnTo>
                  <a:lnTo>
                    <a:pt x="65862" y="0"/>
                  </a:lnTo>
                  <a:close/>
                </a:path>
                <a:path w="68580" h="925829">
                  <a:moveTo>
                    <a:pt x="67982" y="4229"/>
                  </a:moveTo>
                  <a:lnTo>
                    <a:pt x="65620" y="4229"/>
                  </a:lnTo>
                  <a:lnTo>
                    <a:pt x="65379" y="845324"/>
                  </a:lnTo>
                  <a:lnTo>
                    <a:pt x="2362" y="921423"/>
                  </a:lnTo>
                  <a:lnTo>
                    <a:pt x="5374" y="921423"/>
                  </a:lnTo>
                  <a:lnTo>
                    <a:pt x="67449" y="846518"/>
                  </a:lnTo>
                  <a:lnTo>
                    <a:pt x="67754" y="845743"/>
                  </a:lnTo>
                  <a:lnTo>
                    <a:pt x="67959" y="87934"/>
                  </a:lnTo>
                  <a:lnTo>
                    <a:pt x="67982" y="4229"/>
                  </a:lnTo>
                  <a:close/>
                </a:path>
              </a:pathLst>
            </a:custGeom>
            <a:solidFill>
              <a:srgbClr val="879C82"/>
            </a:solidFill>
          </p:spPr>
          <p:txBody>
            <a:bodyPr wrap="square" lIns="0" tIns="0" rIns="0" bIns="0" rtlCol="0"/>
            <a:lstStyle/>
            <a:p/>
          </p:txBody>
        </p:sp>
        <p:sp>
          <p:nvSpPr>
            <p:cNvPr id="208" name="object 208" descr=""/>
            <p:cNvSpPr/>
            <p:nvPr/>
          </p:nvSpPr>
          <p:spPr>
            <a:xfrm>
              <a:off x="1645577" y="341189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09" name="object 209" descr=""/>
            <p:cNvSpPr/>
            <p:nvPr/>
          </p:nvSpPr>
          <p:spPr>
            <a:xfrm>
              <a:off x="1644561" y="341189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93"/>
                  </a:lnTo>
                  <a:lnTo>
                    <a:pt x="28409" y="1193"/>
                  </a:lnTo>
                  <a:lnTo>
                    <a:pt x="28409" y="0"/>
                  </a:lnTo>
                  <a:close/>
                </a:path>
                <a:path w="28575" h="45085">
                  <a:moveTo>
                    <a:pt x="28409" y="1193"/>
                  </a:moveTo>
                  <a:lnTo>
                    <a:pt x="27216" y="1193"/>
                  </a:lnTo>
                  <a:lnTo>
                    <a:pt x="27216" y="43319"/>
                  </a:lnTo>
                  <a:lnTo>
                    <a:pt x="28409" y="43319"/>
                  </a:lnTo>
                  <a:lnTo>
                    <a:pt x="28409" y="1193"/>
                  </a:lnTo>
                  <a:close/>
                </a:path>
              </a:pathLst>
            </a:custGeom>
            <a:solidFill>
              <a:srgbClr val="879C82"/>
            </a:solidFill>
          </p:spPr>
          <p:txBody>
            <a:bodyPr wrap="square" lIns="0" tIns="0" rIns="0" bIns="0" rtlCol="0"/>
            <a:lstStyle/>
            <a:p/>
          </p:txBody>
        </p:sp>
        <p:sp>
          <p:nvSpPr>
            <p:cNvPr id="210" name="object 210" descr=""/>
            <p:cNvSpPr/>
            <p:nvPr/>
          </p:nvSpPr>
          <p:spPr>
            <a:xfrm>
              <a:off x="1687182" y="341189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11" name="object 211" descr=""/>
            <p:cNvSpPr/>
            <p:nvPr/>
          </p:nvSpPr>
          <p:spPr>
            <a:xfrm>
              <a:off x="1686166" y="341189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93"/>
                  </a:lnTo>
                  <a:lnTo>
                    <a:pt x="28409" y="1193"/>
                  </a:lnTo>
                  <a:lnTo>
                    <a:pt x="28409" y="0"/>
                  </a:lnTo>
                  <a:close/>
                </a:path>
                <a:path w="28575" h="45085">
                  <a:moveTo>
                    <a:pt x="28409" y="1193"/>
                  </a:moveTo>
                  <a:lnTo>
                    <a:pt x="27228" y="1193"/>
                  </a:lnTo>
                  <a:lnTo>
                    <a:pt x="27228" y="43319"/>
                  </a:lnTo>
                  <a:lnTo>
                    <a:pt x="28409" y="43319"/>
                  </a:lnTo>
                  <a:lnTo>
                    <a:pt x="28409" y="1193"/>
                  </a:lnTo>
                  <a:close/>
                </a:path>
              </a:pathLst>
            </a:custGeom>
            <a:solidFill>
              <a:srgbClr val="879C82"/>
            </a:solidFill>
          </p:spPr>
          <p:txBody>
            <a:bodyPr wrap="square" lIns="0" tIns="0" rIns="0" bIns="0" rtlCol="0"/>
            <a:lstStyle/>
            <a:p/>
          </p:txBody>
        </p:sp>
        <p:sp>
          <p:nvSpPr>
            <p:cNvPr id="212" name="object 212" descr=""/>
            <p:cNvSpPr/>
            <p:nvPr/>
          </p:nvSpPr>
          <p:spPr>
            <a:xfrm>
              <a:off x="1728787" y="341189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13" name="object 213" descr=""/>
            <p:cNvSpPr/>
            <p:nvPr/>
          </p:nvSpPr>
          <p:spPr>
            <a:xfrm>
              <a:off x="1727771" y="341189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93"/>
                  </a:lnTo>
                  <a:lnTo>
                    <a:pt x="28409" y="1193"/>
                  </a:lnTo>
                  <a:lnTo>
                    <a:pt x="28409" y="0"/>
                  </a:lnTo>
                  <a:close/>
                </a:path>
                <a:path w="28575" h="45085">
                  <a:moveTo>
                    <a:pt x="28409" y="1193"/>
                  </a:moveTo>
                  <a:lnTo>
                    <a:pt x="27228" y="1193"/>
                  </a:lnTo>
                  <a:lnTo>
                    <a:pt x="27228" y="43319"/>
                  </a:lnTo>
                  <a:lnTo>
                    <a:pt x="28409" y="43319"/>
                  </a:lnTo>
                  <a:lnTo>
                    <a:pt x="28409" y="1193"/>
                  </a:lnTo>
                  <a:close/>
                </a:path>
              </a:pathLst>
            </a:custGeom>
            <a:solidFill>
              <a:srgbClr val="879C82"/>
            </a:solidFill>
          </p:spPr>
          <p:txBody>
            <a:bodyPr wrap="square" lIns="0" tIns="0" rIns="0" bIns="0" rtlCol="0"/>
            <a:lstStyle/>
            <a:p/>
          </p:txBody>
        </p:sp>
        <p:sp>
          <p:nvSpPr>
            <p:cNvPr id="214" name="object 214" descr=""/>
            <p:cNvSpPr/>
            <p:nvPr/>
          </p:nvSpPr>
          <p:spPr>
            <a:xfrm>
              <a:off x="1770405" y="341189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15" name="object 215" descr=""/>
            <p:cNvSpPr/>
            <p:nvPr/>
          </p:nvSpPr>
          <p:spPr>
            <a:xfrm>
              <a:off x="1769389" y="3411892"/>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193"/>
                  </a:lnTo>
                  <a:lnTo>
                    <a:pt x="28409" y="1193"/>
                  </a:lnTo>
                  <a:lnTo>
                    <a:pt x="28409" y="0"/>
                  </a:lnTo>
                  <a:close/>
                </a:path>
                <a:path w="28575" h="45085">
                  <a:moveTo>
                    <a:pt x="28409" y="1193"/>
                  </a:moveTo>
                  <a:lnTo>
                    <a:pt x="27165" y="1193"/>
                  </a:lnTo>
                  <a:lnTo>
                    <a:pt x="27165" y="43319"/>
                  </a:lnTo>
                  <a:lnTo>
                    <a:pt x="28409" y="43319"/>
                  </a:lnTo>
                  <a:lnTo>
                    <a:pt x="28409" y="1193"/>
                  </a:lnTo>
                  <a:close/>
                </a:path>
              </a:pathLst>
            </a:custGeom>
            <a:solidFill>
              <a:srgbClr val="879C82"/>
            </a:solidFill>
          </p:spPr>
          <p:txBody>
            <a:bodyPr wrap="square" lIns="0" tIns="0" rIns="0" bIns="0" rtlCol="0"/>
            <a:lstStyle/>
            <a:p/>
          </p:txBody>
        </p:sp>
        <p:sp>
          <p:nvSpPr>
            <p:cNvPr id="216" name="object 216" descr=""/>
            <p:cNvSpPr/>
            <p:nvPr/>
          </p:nvSpPr>
          <p:spPr>
            <a:xfrm>
              <a:off x="1645577" y="348573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17" name="object 217" descr=""/>
            <p:cNvSpPr/>
            <p:nvPr/>
          </p:nvSpPr>
          <p:spPr>
            <a:xfrm>
              <a:off x="1644561" y="3484714"/>
              <a:ext cx="28575" cy="45720"/>
            </a:xfrm>
            <a:custGeom>
              <a:avLst/>
              <a:gdLst/>
              <a:ahLst/>
              <a:cxnLst/>
              <a:rect l="l" t="t" r="r" b="b"/>
              <a:pathLst>
                <a:path w="28575" h="45720">
                  <a:moveTo>
                    <a:pt x="28409" y="0"/>
                  </a:moveTo>
                  <a:lnTo>
                    <a:pt x="0" y="0"/>
                  </a:lnTo>
                  <a:lnTo>
                    <a:pt x="0" y="45516"/>
                  </a:lnTo>
                  <a:lnTo>
                    <a:pt x="28409" y="45516"/>
                  </a:lnTo>
                  <a:lnTo>
                    <a:pt x="28409" y="44234"/>
                  </a:lnTo>
                  <a:lnTo>
                    <a:pt x="1206" y="44234"/>
                  </a:lnTo>
                  <a:lnTo>
                    <a:pt x="1206" y="1206"/>
                  </a:lnTo>
                  <a:lnTo>
                    <a:pt x="28409" y="1206"/>
                  </a:lnTo>
                  <a:lnTo>
                    <a:pt x="28409" y="0"/>
                  </a:lnTo>
                  <a:close/>
                </a:path>
                <a:path w="28575" h="45720">
                  <a:moveTo>
                    <a:pt x="28409" y="1206"/>
                  </a:moveTo>
                  <a:lnTo>
                    <a:pt x="27216" y="1206"/>
                  </a:lnTo>
                  <a:lnTo>
                    <a:pt x="27216" y="44234"/>
                  </a:lnTo>
                  <a:lnTo>
                    <a:pt x="28409" y="44234"/>
                  </a:lnTo>
                  <a:lnTo>
                    <a:pt x="28409" y="1206"/>
                  </a:lnTo>
                  <a:close/>
                </a:path>
              </a:pathLst>
            </a:custGeom>
            <a:solidFill>
              <a:srgbClr val="879C82"/>
            </a:solidFill>
          </p:spPr>
          <p:txBody>
            <a:bodyPr wrap="square" lIns="0" tIns="0" rIns="0" bIns="0" rtlCol="0"/>
            <a:lstStyle/>
            <a:p/>
          </p:txBody>
        </p:sp>
        <p:sp>
          <p:nvSpPr>
            <p:cNvPr id="218" name="object 218" descr=""/>
            <p:cNvSpPr/>
            <p:nvPr/>
          </p:nvSpPr>
          <p:spPr>
            <a:xfrm>
              <a:off x="1687182" y="348573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19" name="object 219" descr=""/>
            <p:cNvSpPr/>
            <p:nvPr/>
          </p:nvSpPr>
          <p:spPr>
            <a:xfrm>
              <a:off x="1686166" y="3484714"/>
              <a:ext cx="28575" cy="45720"/>
            </a:xfrm>
            <a:custGeom>
              <a:avLst/>
              <a:gdLst/>
              <a:ahLst/>
              <a:cxnLst/>
              <a:rect l="l" t="t" r="r" b="b"/>
              <a:pathLst>
                <a:path w="28575" h="45720">
                  <a:moveTo>
                    <a:pt x="28409" y="0"/>
                  </a:moveTo>
                  <a:lnTo>
                    <a:pt x="0" y="0"/>
                  </a:lnTo>
                  <a:lnTo>
                    <a:pt x="0" y="45516"/>
                  </a:lnTo>
                  <a:lnTo>
                    <a:pt x="28409" y="45516"/>
                  </a:lnTo>
                  <a:lnTo>
                    <a:pt x="28409" y="44234"/>
                  </a:lnTo>
                  <a:lnTo>
                    <a:pt x="1206" y="44234"/>
                  </a:lnTo>
                  <a:lnTo>
                    <a:pt x="1206" y="1206"/>
                  </a:lnTo>
                  <a:lnTo>
                    <a:pt x="28409" y="1206"/>
                  </a:lnTo>
                  <a:lnTo>
                    <a:pt x="28409" y="0"/>
                  </a:lnTo>
                  <a:close/>
                </a:path>
                <a:path w="28575" h="45720">
                  <a:moveTo>
                    <a:pt x="28409" y="1206"/>
                  </a:moveTo>
                  <a:lnTo>
                    <a:pt x="27228" y="1206"/>
                  </a:lnTo>
                  <a:lnTo>
                    <a:pt x="27228" y="44234"/>
                  </a:lnTo>
                  <a:lnTo>
                    <a:pt x="28409" y="44234"/>
                  </a:lnTo>
                  <a:lnTo>
                    <a:pt x="28409" y="1206"/>
                  </a:lnTo>
                  <a:close/>
                </a:path>
              </a:pathLst>
            </a:custGeom>
            <a:solidFill>
              <a:srgbClr val="879C82"/>
            </a:solidFill>
          </p:spPr>
          <p:txBody>
            <a:bodyPr wrap="square" lIns="0" tIns="0" rIns="0" bIns="0" rtlCol="0"/>
            <a:lstStyle/>
            <a:p/>
          </p:txBody>
        </p:sp>
        <p:sp>
          <p:nvSpPr>
            <p:cNvPr id="220" name="object 220" descr=""/>
            <p:cNvSpPr/>
            <p:nvPr/>
          </p:nvSpPr>
          <p:spPr>
            <a:xfrm>
              <a:off x="1728787" y="348573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21" name="object 221" descr=""/>
            <p:cNvSpPr/>
            <p:nvPr/>
          </p:nvSpPr>
          <p:spPr>
            <a:xfrm>
              <a:off x="1727771" y="3484714"/>
              <a:ext cx="28575" cy="45720"/>
            </a:xfrm>
            <a:custGeom>
              <a:avLst/>
              <a:gdLst/>
              <a:ahLst/>
              <a:cxnLst/>
              <a:rect l="l" t="t" r="r" b="b"/>
              <a:pathLst>
                <a:path w="28575" h="45720">
                  <a:moveTo>
                    <a:pt x="28409" y="0"/>
                  </a:moveTo>
                  <a:lnTo>
                    <a:pt x="0" y="0"/>
                  </a:lnTo>
                  <a:lnTo>
                    <a:pt x="0" y="45516"/>
                  </a:lnTo>
                  <a:lnTo>
                    <a:pt x="28409" y="45516"/>
                  </a:lnTo>
                  <a:lnTo>
                    <a:pt x="28409" y="44234"/>
                  </a:lnTo>
                  <a:lnTo>
                    <a:pt x="1206" y="44234"/>
                  </a:lnTo>
                  <a:lnTo>
                    <a:pt x="1206" y="1206"/>
                  </a:lnTo>
                  <a:lnTo>
                    <a:pt x="28409" y="1206"/>
                  </a:lnTo>
                  <a:lnTo>
                    <a:pt x="28409" y="0"/>
                  </a:lnTo>
                  <a:close/>
                </a:path>
                <a:path w="28575" h="45720">
                  <a:moveTo>
                    <a:pt x="28409" y="1206"/>
                  </a:moveTo>
                  <a:lnTo>
                    <a:pt x="27228" y="1206"/>
                  </a:lnTo>
                  <a:lnTo>
                    <a:pt x="27228" y="44234"/>
                  </a:lnTo>
                  <a:lnTo>
                    <a:pt x="28409" y="44234"/>
                  </a:lnTo>
                  <a:lnTo>
                    <a:pt x="28409" y="1206"/>
                  </a:lnTo>
                  <a:close/>
                </a:path>
              </a:pathLst>
            </a:custGeom>
            <a:solidFill>
              <a:srgbClr val="879C82"/>
            </a:solidFill>
          </p:spPr>
          <p:txBody>
            <a:bodyPr wrap="square" lIns="0" tIns="0" rIns="0" bIns="0" rtlCol="0"/>
            <a:lstStyle/>
            <a:p/>
          </p:txBody>
        </p:sp>
        <p:sp>
          <p:nvSpPr>
            <p:cNvPr id="222" name="object 222" descr=""/>
            <p:cNvSpPr/>
            <p:nvPr/>
          </p:nvSpPr>
          <p:spPr>
            <a:xfrm>
              <a:off x="1770405" y="348573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23" name="object 223" descr=""/>
            <p:cNvSpPr/>
            <p:nvPr/>
          </p:nvSpPr>
          <p:spPr>
            <a:xfrm>
              <a:off x="1769389" y="3484714"/>
              <a:ext cx="28575" cy="45720"/>
            </a:xfrm>
            <a:custGeom>
              <a:avLst/>
              <a:gdLst/>
              <a:ahLst/>
              <a:cxnLst/>
              <a:rect l="l" t="t" r="r" b="b"/>
              <a:pathLst>
                <a:path w="28575" h="45720">
                  <a:moveTo>
                    <a:pt x="28409" y="0"/>
                  </a:moveTo>
                  <a:lnTo>
                    <a:pt x="0" y="0"/>
                  </a:lnTo>
                  <a:lnTo>
                    <a:pt x="0" y="45516"/>
                  </a:lnTo>
                  <a:lnTo>
                    <a:pt x="28409" y="45516"/>
                  </a:lnTo>
                  <a:lnTo>
                    <a:pt x="28409" y="44234"/>
                  </a:lnTo>
                  <a:lnTo>
                    <a:pt x="1257" y="44234"/>
                  </a:lnTo>
                  <a:lnTo>
                    <a:pt x="1257" y="1206"/>
                  </a:lnTo>
                  <a:lnTo>
                    <a:pt x="28409" y="1206"/>
                  </a:lnTo>
                  <a:lnTo>
                    <a:pt x="28409" y="0"/>
                  </a:lnTo>
                  <a:close/>
                </a:path>
                <a:path w="28575" h="45720">
                  <a:moveTo>
                    <a:pt x="28409" y="1206"/>
                  </a:moveTo>
                  <a:lnTo>
                    <a:pt x="27165" y="1206"/>
                  </a:lnTo>
                  <a:lnTo>
                    <a:pt x="27165" y="44234"/>
                  </a:lnTo>
                  <a:lnTo>
                    <a:pt x="28409" y="44234"/>
                  </a:lnTo>
                  <a:lnTo>
                    <a:pt x="28409" y="1206"/>
                  </a:lnTo>
                  <a:close/>
                </a:path>
              </a:pathLst>
            </a:custGeom>
            <a:solidFill>
              <a:srgbClr val="879C82"/>
            </a:solidFill>
          </p:spPr>
          <p:txBody>
            <a:bodyPr wrap="square" lIns="0" tIns="0" rIns="0" bIns="0" rtlCol="0"/>
            <a:lstStyle/>
            <a:p/>
          </p:txBody>
        </p:sp>
        <p:sp>
          <p:nvSpPr>
            <p:cNvPr id="224" name="object 224" descr=""/>
            <p:cNvSpPr/>
            <p:nvPr/>
          </p:nvSpPr>
          <p:spPr>
            <a:xfrm>
              <a:off x="1645577" y="355955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25" name="object 225" descr=""/>
            <p:cNvSpPr/>
            <p:nvPr/>
          </p:nvSpPr>
          <p:spPr>
            <a:xfrm>
              <a:off x="1644561" y="3558539"/>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257"/>
                  </a:lnTo>
                  <a:lnTo>
                    <a:pt x="28409" y="1257"/>
                  </a:lnTo>
                  <a:lnTo>
                    <a:pt x="28409" y="0"/>
                  </a:lnTo>
                  <a:close/>
                </a:path>
                <a:path w="28575" h="45085">
                  <a:moveTo>
                    <a:pt x="28409" y="1257"/>
                  </a:moveTo>
                  <a:lnTo>
                    <a:pt x="27216" y="1257"/>
                  </a:lnTo>
                  <a:lnTo>
                    <a:pt x="27216" y="43319"/>
                  </a:lnTo>
                  <a:lnTo>
                    <a:pt x="28409" y="43319"/>
                  </a:lnTo>
                  <a:lnTo>
                    <a:pt x="28409" y="1257"/>
                  </a:lnTo>
                  <a:close/>
                </a:path>
              </a:pathLst>
            </a:custGeom>
            <a:solidFill>
              <a:srgbClr val="879C82"/>
            </a:solidFill>
          </p:spPr>
          <p:txBody>
            <a:bodyPr wrap="square" lIns="0" tIns="0" rIns="0" bIns="0" rtlCol="0"/>
            <a:lstStyle/>
            <a:p/>
          </p:txBody>
        </p:sp>
        <p:sp>
          <p:nvSpPr>
            <p:cNvPr id="226" name="object 226" descr=""/>
            <p:cNvSpPr/>
            <p:nvPr/>
          </p:nvSpPr>
          <p:spPr>
            <a:xfrm>
              <a:off x="1687182" y="355955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27" name="object 227" descr=""/>
            <p:cNvSpPr/>
            <p:nvPr/>
          </p:nvSpPr>
          <p:spPr>
            <a:xfrm>
              <a:off x="1686166" y="3558539"/>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257"/>
                  </a:lnTo>
                  <a:lnTo>
                    <a:pt x="28409" y="1257"/>
                  </a:lnTo>
                  <a:lnTo>
                    <a:pt x="28409" y="0"/>
                  </a:lnTo>
                  <a:close/>
                </a:path>
                <a:path w="28575" h="45085">
                  <a:moveTo>
                    <a:pt x="28409" y="1257"/>
                  </a:moveTo>
                  <a:lnTo>
                    <a:pt x="27228" y="1257"/>
                  </a:lnTo>
                  <a:lnTo>
                    <a:pt x="27228" y="43319"/>
                  </a:lnTo>
                  <a:lnTo>
                    <a:pt x="28409" y="43319"/>
                  </a:lnTo>
                  <a:lnTo>
                    <a:pt x="28409" y="1257"/>
                  </a:lnTo>
                  <a:close/>
                </a:path>
              </a:pathLst>
            </a:custGeom>
            <a:solidFill>
              <a:srgbClr val="879C82"/>
            </a:solidFill>
          </p:spPr>
          <p:txBody>
            <a:bodyPr wrap="square" lIns="0" tIns="0" rIns="0" bIns="0" rtlCol="0"/>
            <a:lstStyle/>
            <a:p/>
          </p:txBody>
        </p:sp>
        <p:sp>
          <p:nvSpPr>
            <p:cNvPr id="228" name="object 228" descr=""/>
            <p:cNvSpPr/>
            <p:nvPr/>
          </p:nvSpPr>
          <p:spPr>
            <a:xfrm>
              <a:off x="1728787" y="355955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29" name="object 229" descr=""/>
            <p:cNvSpPr/>
            <p:nvPr/>
          </p:nvSpPr>
          <p:spPr>
            <a:xfrm>
              <a:off x="1727771" y="3558539"/>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257"/>
                  </a:lnTo>
                  <a:lnTo>
                    <a:pt x="28409" y="1257"/>
                  </a:lnTo>
                  <a:lnTo>
                    <a:pt x="28409" y="0"/>
                  </a:lnTo>
                  <a:close/>
                </a:path>
                <a:path w="28575" h="45085">
                  <a:moveTo>
                    <a:pt x="28409" y="1257"/>
                  </a:moveTo>
                  <a:lnTo>
                    <a:pt x="27228" y="1257"/>
                  </a:lnTo>
                  <a:lnTo>
                    <a:pt x="27228" y="43319"/>
                  </a:lnTo>
                  <a:lnTo>
                    <a:pt x="28409" y="43319"/>
                  </a:lnTo>
                  <a:lnTo>
                    <a:pt x="28409" y="1257"/>
                  </a:lnTo>
                  <a:close/>
                </a:path>
              </a:pathLst>
            </a:custGeom>
            <a:solidFill>
              <a:srgbClr val="879C82"/>
            </a:solidFill>
          </p:spPr>
          <p:txBody>
            <a:bodyPr wrap="square" lIns="0" tIns="0" rIns="0" bIns="0" rtlCol="0"/>
            <a:lstStyle/>
            <a:p/>
          </p:txBody>
        </p:sp>
        <p:sp>
          <p:nvSpPr>
            <p:cNvPr id="230" name="object 230" descr=""/>
            <p:cNvSpPr/>
            <p:nvPr/>
          </p:nvSpPr>
          <p:spPr>
            <a:xfrm>
              <a:off x="1770405" y="355955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31" name="object 231" descr=""/>
            <p:cNvSpPr/>
            <p:nvPr/>
          </p:nvSpPr>
          <p:spPr>
            <a:xfrm>
              <a:off x="1769389" y="3558539"/>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257"/>
                  </a:lnTo>
                  <a:lnTo>
                    <a:pt x="28409" y="1257"/>
                  </a:lnTo>
                  <a:lnTo>
                    <a:pt x="28409" y="0"/>
                  </a:lnTo>
                  <a:close/>
                </a:path>
                <a:path w="28575" h="45085">
                  <a:moveTo>
                    <a:pt x="28409" y="1257"/>
                  </a:moveTo>
                  <a:lnTo>
                    <a:pt x="27165" y="1257"/>
                  </a:lnTo>
                  <a:lnTo>
                    <a:pt x="27165" y="43319"/>
                  </a:lnTo>
                  <a:lnTo>
                    <a:pt x="28409" y="43319"/>
                  </a:lnTo>
                  <a:lnTo>
                    <a:pt x="28409" y="1257"/>
                  </a:lnTo>
                  <a:close/>
                </a:path>
              </a:pathLst>
            </a:custGeom>
            <a:solidFill>
              <a:srgbClr val="879C82"/>
            </a:solidFill>
          </p:spPr>
          <p:txBody>
            <a:bodyPr wrap="square" lIns="0" tIns="0" rIns="0" bIns="0" rtlCol="0"/>
            <a:lstStyle/>
            <a:p/>
          </p:txBody>
        </p:sp>
        <p:sp>
          <p:nvSpPr>
            <p:cNvPr id="232" name="object 232" descr=""/>
            <p:cNvSpPr/>
            <p:nvPr/>
          </p:nvSpPr>
          <p:spPr>
            <a:xfrm>
              <a:off x="1645577" y="363338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33" name="object 233" descr=""/>
            <p:cNvSpPr/>
            <p:nvPr/>
          </p:nvSpPr>
          <p:spPr>
            <a:xfrm>
              <a:off x="1644561" y="3632377"/>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244"/>
                  </a:lnTo>
                  <a:lnTo>
                    <a:pt x="28409" y="1244"/>
                  </a:lnTo>
                  <a:lnTo>
                    <a:pt x="28409" y="0"/>
                  </a:lnTo>
                  <a:close/>
                </a:path>
                <a:path w="28575" h="45085">
                  <a:moveTo>
                    <a:pt x="28409" y="1244"/>
                  </a:moveTo>
                  <a:lnTo>
                    <a:pt x="27216" y="1244"/>
                  </a:lnTo>
                  <a:lnTo>
                    <a:pt x="27216" y="43306"/>
                  </a:lnTo>
                  <a:lnTo>
                    <a:pt x="28409" y="43306"/>
                  </a:lnTo>
                  <a:lnTo>
                    <a:pt x="28409" y="1244"/>
                  </a:lnTo>
                  <a:close/>
                </a:path>
              </a:pathLst>
            </a:custGeom>
            <a:solidFill>
              <a:srgbClr val="879C82"/>
            </a:solidFill>
          </p:spPr>
          <p:txBody>
            <a:bodyPr wrap="square" lIns="0" tIns="0" rIns="0" bIns="0" rtlCol="0"/>
            <a:lstStyle/>
            <a:p/>
          </p:txBody>
        </p:sp>
        <p:sp>
          <p:nvSpPr>
            <p:cNvPr id="234" name="object 234" descr=""/>
            <p:cNvSpPr/>
            <p:nvPr/>
          </p:nvSpPr>
          <p:spPr>
            <a:xfrm>
              <a:off x="1687182" y="363338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35" name="object 235" descr=""/>
            <p:cNvSpPr/>
            <p:nvPr/>
          </p:nvSpPr>
          <p:spPr>
            <a:xfrm>
              <a:off x="1686166" y="3632377"/>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244"/>
                  </a:lnTo>
                  <a:lnTo>
                    <a:pt x="28409" y="1244"/>
                  </a:lnTo>
                  <a:lnTo>
                    <a:pt x="28409" y="0"/>
                  </a:lnTo>
                  <a:close/>
                </a:path>
                <a:path w="28575" h="45085">
                  <a:moveTo>
                    <a:pt x="28409" y="1244"/>
                  </a:moveTo>
                  <a:lnTo>
                    <a:pt x="27228" y="1244"/>
                  </a:lnTo>
                  <a:lnTo>
                    <a:pt x="27228" y="43306"/>
                  </a:lnTo>
                  <a:lnTo>
                    <a:pt x="28409" y="43306"/>
                  </a:lnTo>
                  <a:lnTo>
                    <a:pt x="28409" y="1244"/>
                  </a:lnTo>
                  <a:close/>
                </a:path>
              </a:pathLst>
            </a:custGeom>
            <a:solidFill>
              <a:srgbClr val="879C82"/>
            </a:solidFill>
          </p:spPr>
          <p:txBody>
            <a:bodyPr wrap="square" lIns="0" tIns="0" rIns="0" bIns="0" rtlCol="0"/>
            <a:lstStyle/>
            <a:p/>
          </p:txBody>
        </p:sp>
        <p:sp>
          <p:nvSpPr>
            <p:cNvPr id="236" name="object 236" descr=""/>
            <p:cNvSpPr/>
            <p:nvPr/>
          </p:nvSpPr>
          <p:spPr>
            <a:xfrm>
              <a:off x="1728787" y="363338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37" name="object 237" descr=""/>
            <p:cNvSpPr/>
            <p:nvPr/>
          </p:nvSpPr>
          <p:spPr>
            <a:xfrm>
              <a:off x="1727771" y="3632377"/>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244"/>
                  </a:lnTo>
                  <a:lnTo>
                    <a:pt x="28409" y="1244"/>
                  </a:lnTo>
                  <a:lnTo>
                    <a:pt x="28409" y="0"/>
                  </a:lnTo>
                  <a:close/>
                </a:path>
                <a:path w="28575" h="45085">
                  <a:moveTo>
                    <a:pt x="28409" y="1244"/>
                  </a:moveTo>
                  <a:lnTo>
                    <a:pt x="27228" y="1244"/>
                  </a:lnTo>
                  <a:lnTo>
                    <a:pt x="27228" y="43306"/>
                  </a:lnTo>
                  <a:lnTo>
                    <a:pt x="28409" y="43306"/>
                  </a:lnTo>
                  <a:lnTo>
                    <a:pt x="28409" y="1244"/>
                  </a:lnTo>
                  <a:close/>
                </a:path>
              </a:pathLst>
            </a:custGeom>
            <a:solidFill>
              <a:srgbClr val="879C82"/>
            </a:solidFill>
          </p:spPr>
          <p:txBody>
            <a:bodyPr wrap="square" lIns="0" tIns="0" rIns="0" bIns="0" rtlCol="0"/>
            <a:lstStyle/>
            <a:p/>
          </p:txBody>
        </p:sp>
        <p:sp>
          <p:nvSpPr>
            <p:cNvPr id="238" name="object 238" descr=""/>
            <p:cNvSpPr/>
            <p:nvPr/>
          </p:nvSpPr>
          <p:spPr>
            <a:xfrm>
              <a:off x="1770405" y="363338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39" name="object 239" descr=""/>
            <p:cNvSpPr/>
            <p:nvPr/>
          </p:nvSpPr>
          <p:spPr>
            <a:xfrm>
              <a:off x="1769389" y="3632377"/>
              <a:ext cx="28575" cy="45085"/>
            </a:xfrm>
            <a:custGeom>
              <a:avLst/>
              <a:gdLst/>
              <a:ahLst/>
              <a:cxnLst/>
              <a:rect l="l" t="t" r="r" b="b"/>
              <a:pathLst>
                <a:path w="28575" h="45085">
                  <a:moveTo>
                    <a:pt x="28409" y="0"/>
                  </a:moveTo>
                  <a:lnTo>
                    <a:pt x="0" y="0"/>
                  </a:lnTo>
                  <a:lnTo>
                    <a:pt x="0" y="44500"/>
                  </a:lnTo>
                  <a:lnTo>
                    <a:pt x="28409" y="44500"/>
                  </a:lnTo>
                  <a:lnTo>
                    <a:pt x="28409" y="43306"/>
                  </a:lnTo>
                  <a:lnTo>
                    <a:pt x="1257" y="43306"/>
                  </a:lnTo>
                  <a:lnTo>
                    <a:pt x="1257" y="1244"/>
                  </a:lnTo>
                  <a:lnTo>
                    <a:pt x="28409" y="1244"/>
                  </a:lnTo>
                  <a:lnTo>
                    <a:pt x="28409" y="0"/>
                  </a:lnTo>
                  <a:close/>
                </a:path>
                <a:path w="28575" h="45085">
                  <a:moveTo>
                    <a:pt x="28409" y="1244"/>
                  </a:moveTo>
                  <a:lnTo>
                    <a:pt x="27165" y="1244"/>
                  </a:lnTo>
                  <a:lnTo>
                    <a:pt x="27165" y="43306"/>
                  </a:lnTo>
                  <a:lnTo>
                    <a:pt x="28409" y="43306"/>
                  </a:lnTo>
                  <a:lnTo>
                    <a:pt x="28409" y="1244"/>
                  </a:lnTo>
                  <a:close/>
                </a:path>
              </a:pathLst>
            </a:custGeom>
            <a:solidFill>
              <a:srgbClr val="879C82"/>
            </a:solidFill>
          </p:spPr>
          <p:txBody>
            <a:bodyPr wrap="square" lIns="0" tIns="0" rIns="0" bIns="0" rtlCol="0"/>
            <a:lstStyle/>
            <a:p/>
          </p:txBody>
        </p:sp>
        <p:sp>
          <p:nvSpPr>
            <p:cNvPr id="240" name="object 240" descr=""/>
            <p:cNvSpPr/>
            <p:nvPr/>
          </p:nvSpPr>
          <p:spPr>
            <a:xfrm>
              <a:off x="1645577" y="370620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41" name="object 241" descr=""/>
            <p:cNvSpPr/>
            <p:nvPr/>
          </p:nvSpPr>
          <p:spPr>
            <a:xfrm>
              <a:off x="1644561" y="370620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30"/>
                  </a:lnTo>
                  <a:lnTo>
                    <a:pt x="28409" y="1130"/>
                  </a:lnTo>
                  <a:lnTo>
                    <a:pt x="28409" y="0"/>
                  </a:lnTo>
                  <a:close/>
                </a:path>
                <a:path w="28575" h="45085">
                  <a:moveTo>
                    <a:pt x="28409" y="1130"/>
                  </a:moveTo>
                  <a:lnTo>
                    <a:pt x="27216" y="1130"/>
                  </a:lnTo>
                  <a:lnTo>
                    <a:pt x="27216" y="43319"/>
                  </a:lnTo>
                  <a:lnTo>
                    <a:pt x="28409" y="43319"/>
                  </a:lnTo>
                  <a:lnTo>
                    <a:pt x="28409" y="1130"/>
                  </a:lnTo>
                  <a:close/>
                </a:path>
              </a:pathLst>
            </a:custGeom>
            <a:solidFill>
              <a:srgbClr val="879C82"/>
            </a:solidFill>
          </p:spPr>
          <p:txBody>
            <a:bodyPr wrap="square" lIns="0" tIns="0" rIns="0" bIns="0" rtlCol="0"/>
            <a:lstStyle/>
            <a:p/>
          </p:txBody>
        </p:sp>
        <p:sp>
          <p:nvSpPr>
            <p:cNvPr id="242" name="object 242" descr=""/>
            <p:cNvSpPr/>
            <p:nvPr/>
          </p:nvSpPr>
          <p:spPr>
            <a:xfrm>
              <a:off x="1687182" y="370620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43" name="object 243" descr=""/>
            <p:cNvSpPr/>
            <p:nvPr/>
          </p:nvSpPr>
          <p:spPr>
            <a:xfrm>
              <a:off x="1686166" y="370620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30"/>
                  </a:lnTo>
                  <a:lnTo>
                    <a:pt x="28409" y="1130"/>
                  </a:lnTo>
                  <a:lnTo>
                    <a:pt x="28409" y="0"/>
                  </a:lnTo>
                  <a:close/>
                </a:path>
                <a:path w="28575" h="45085">
                  <a:moveTo>
                    <a:pt x="28409" y="1130"/>
                  </a:moveTo>
                  <a:lnTo>
                    <a:pt x="27228" y="1130"/>
                  </a:lnTo>
                  <a:lnTo>
                    <a:pt x="27228" y="43319"/>
                  </a:lnTo>
                  <a:lnTo>
                    <a:pt x="28409" y="43319"/>
                  </a:lnTo>
                  <a:lnTo>
                    <a:pt x="28409" y="1130"/>
                  </a:lnTo>
                  <a:close/>
                </a:path>
              </a:pathLst>
            </a:custGeom>
            <a:solidFill>
              <a:srgbClr val="879C82"/>
            </a:solidFill>
          </p:spPr>
          <p:txBody>
            <a:bodyPr wrap="square" lIns="0" tIns="0" rIns="0" bIns="0" rtlCol="0"/>
            <a:lstStyle/>
            <a:p/>
          </p:txBody>
        </p:sp>
        <p:sp>
          <p:nvSpPr>
            <p:cNvPr id="244" name="object 244" descr=""/>
            <p:cNvSpPr/>
            <p:nvPr/>
          </p:nvSpPr>
          <p:spPr>
            <a:xfrm>
              <a:off x="1728787" y="370620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45" name="object 245" descr=""/>
            <p:cNvSpPr/>
            <p:nvPr/>
          </p:nvSpPr>
          <p:spPr>
            <a:xfrm>
              <a:off x="1727771" y="370620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30"/>
                  </a:lnTo>
                  <a:lnTo>
                    <a:pt x="28409" y="1130"/>
                  </a:lnTo>
                  <a:lnTo>
                    <a:pt x="28409" y="0"/>
                  </a:lnTo>
                  <a:close/>
                </a:path>
                <a:path w="28575" h="45085">
                  <a:moveTo>
                    <a:pt x="28409" y="1130"/>
                  </a:moveTo>
                  <a:lnTo>
                    <a:pt x="27228" y="1130"/>
                  </a:lnTo>
                  <a:lnTo>
                    <a:pt x="27228" y="43319"/>
                  </a:lnTo>
                  <a:lnTo>
                    <a:pt x="28409" y="43319"/>
                  </a:lnTo>
                  <a:lnTo>
                    <a:pt x="28409" y="1130"/>
                  </a:lnTo>
                  <a:close/>
                </a:path>
              </a:pathLst>
            </a:custGeom>
            <a:solidFill>
              <a:srgbClr val="879C82"/>
            </a:solidFill>
          </p:spPr>
          <p:txBody>
            <a:bodyPr wrap="square" lIns="0" tIns="0" rIns="0" bIns="0" rtlCol="0"/>
            <a:lstStyle/>
            <a:p/>
          </p:txBody>
        </p:sp>
        <p:sp>
          <p:nvSpPr>
            <p:cNvPr id="246" name="object 246" descr=""/>
            <p:cNvSpPr/>
            <p:nvPr/>
          </p:nvSpPr>
          <p:spPr>
            <a:xfrm>
              <a:off x="1770405" y="370620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47" name="object 247" descr=""/>
            <p:cNvSpPr/>
            <p:nvPr/>
          </p:nvSpPr>
          <p:spPr>
            <a:xfrm>
              <a:off x="1769389" y="3706202"/>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130"/>
                  </a:lnTo>
                  <a:lnTo>
                    <a:pt x="28409" y="1130"/>
                  </a:lnTo>
                  <a:lnTo>
                    <a:pt x="28409" y="0"/>
                  </a:lnTo>
                  <a:close/>
                </a:path>
                <a:path w="28575" h="45085">
                  <a:moveTo>
                    <a:pt x="28409" y="1130"/>
                  </a:moveTo>
                  <a:lnTo>
                    <a:pt x="27165" y="1130"/>
                  </a:lnTo>
                  <a:lnTo>
                    <a:pt x="27165" y="43319"/>
                  </a:lnTo>
                  <a:lnTo>
                    <a:pt x="28409" y="43319"/>
                  </a:lnTo>
                  <a:lnTo>
                    <a:pt x="28409" y="1130"/>
                  </a:lnTo>
                  <a:close/>
                </a:path>
              </a:pathLst>
            </a:custGeom>
            <a:solidFill>
              <a:srgbClr val="879C82"/>
            </a:solidFill>
          </p:spPr>
          <p:txBody>
            <a:bodyPr wrap="square" lIns="0" tIns="0" rIns="0" bIns="0" rtlCol="0"/>
            <a:lstStyle/>
            <a:p/>
          </p:txBody>
        </p:sp>
        <p:sp>
          <p:nvSpPr>
            <p:cNvPr id="248" name="object 248" descr=""/>
            <p:cNvSpPr/>
            <p:nvPr/>
          </p:nvSpPr>
          <p:spPr>
            <a:xfrm>
              <a:off x="1645577" y="378004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49" name="object 249" descr=""/>
            <p:cNvSpPr/>
            <p:nvPr/>
          </p:nvSpPr>
          <p:spPr>
            <a:xfrm>
              <a:off x="1644561" y="3780040"/>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181"/>
                  </a:lnTo>
                  <a:lnTo>
                    <a:pt x="28409" y="1181"/>
                  </a:lnTo>
                  <a:lnTo>
                    <a:pt x="28409" y="0"/>
                  </a:lnTo>
                  <a:close/>
                </a:path>
                <a:path w="28575" h="45085">
                  <a:moveTo>
                    <a:pt x="28409" y="1181"/>
                  </a:moveTo>
                  <a:lnTo>
                    <a:pt x="27216" y="1181"/>
                  </a:lnTo>
                  <a:lnTo>
                    <a:pt x="27216" y="43306"/>
                  </a:lnTo>
                  <a:lnTo>
                    <a:pt x="28409" y="43306"/>
                  </a:lnTo>
                  <a:lnTo>
                    <a:pt x="28409" y="1181"/>
                  </a:lnTo>
                  <a:close/>
                </a:path>
              </a:pathLst>
            </a:custGeom>
            <a:solidFill>
              <a:srgbClr val="879C82"/>
            </a:solidFill>
          </p:spPr>
          <p:txBody>
            <a:bodyPr wrap="square" lIns="0" tIns="0" rIns="0" bIns="0" rtlCol="0"/>
            <a:lstStyle/>
            <a:p/>
          </p:txBody>
        </p:sp>
        <p:sp>
          <p:nvSpPr>
            <p:cNvPr id="250" name="object 250" descr=""/>
            <p:cNvSpPr/>
            <p:nvPr/>
          </p:nvSpPr>
          <p:spPr>
            <a:xfrm>
              <a:off x="1687182" y="378004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51" name="object 251" descr=""/>
            <p:cNvSpPr/>
            <p:nvPr/>
          </p:nvSpPr>
          <p:spPr>
            <a:xfrm>
              <a:off x="1686166" y="3780040"/>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181"/>
                  </a:lnTo>
                  <a:lnTo>
                    <a:pt x="28409" y="1181"/>
                  </a:lnTo>
                  <a:lnTo>
                    <a:pt x="28409" y="0"/>
                  </a:lnTo>
                  <a:close/>
                </a:path>
                <a:path w="28575" h="45085">
                  <a:moveTo>
                    <a:pt x="28409" y="1181"/>
                  </a:moveTo>
                  <a:lnTo>
                    <a:pt x="27228" y="1181"/>
                  </a:lnTo>
                  <a:lnTo>
                    <a:pt x="27228" y="43306"/>
                  </a:lnTo>
                  <a:lnTo>
                    <a:pt x="28409" y="43306"/>
                  </a:lnTo>
                  <a:lnTo>
                    <a:pt x="28409" y="1181"/>
                  </a:lnTo>
                  <a:close/>
                </a:path>
              </a:pathLst>
            </a:custGeom>
            <a:solidFill>
              <a:srgbClr val="879C82"/>
            </a:solidFill>
          </p:spPr>
          <p:txBody>
            <a:bodyPr wrap="square" lIns="0" tIns="0" rIns="0" bIns="0" rtlCol="0"/>
            <a:lstStyle/>
            <a:p/>
          </p:txBody>
        </p:sp>
        <p:sp>
          <p:nvSpPr>
            <p:cNvPr id="252" name="object 252" descr=""/>
            <p:cNvSpPr/>
            <p:nvPr/>
          </p:nvSpPr>
          <p:spPr>
            <a:xfrm>
              <a:off x="1728787" y="378004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53" name="object 253" descr=""/>
            <p:cNvSpPr/>
            <p:nvPr/>
          </p:nvSpPr>
          <p:spPr>
            <a:xfrm>
              <a:off x="1727771" y="3780040"/>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181"/>
                  </a:lnTo>
                  <a:lnTo>
                    <a:pt x="28409" y="1181"/>
                  </a:lnTo>
                  <a:lnTo>
                    <a:pt x="28409" y="0"/>
                  </a:lnTo>
                  <a:close/>
                </a:path>
                <a:path w="28575" h="45085">
                  <a:moveTo>
                    <a:pt x="28409" y="1181"/>
                  </a:moveTo>
                  <a:lnTo>
                    <a:pt x="27228" y="1181"/>
                  </a:lnTo>
                  <a:lnTo>
                    <a:pt x="27228" y="43306"/>
                  </a:lnTo>
                  <a:lnTo>
                    <a:pt x="28409" y="43306"/>
                  </a:lnTo>
                  <a:lnTo>
                    <a:pt x="28409" y="1181"/>
                  </a:lnTo>
                  <a:close/>
                </a:path>
              </a:pathLst>
            </a:custGeom>
            <a:solidFill>
              <a:srgbClr val="879C82"/>
            </a:solidFill>
          </p:spPr>
          <p:txBody>
            <a:bodyPr wrap="square" lIns="0" tIns="0" rIns="0" bIns="0" rtlCol="0"/>
            <a:lstStyle/>
            <a:p/>
          </p:txBody>
        </p:sp>
        <p:sp>
          <p:nvSpPr>
            <p:cNvPr id="254" name="object 254" descr=""/>
            <p:cNvSpPr/>
            <p:nvPr/>
          </p:nvSpPr>
          <p:spPr>
            <a:xfrm>
              <a:off x="1770405" y="378004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55" name="object 255" descr=""/>
            <p:cNvSpPr/>
            <p:nvPr/>
          </p:nvSpPr>
          <p:spPr>
            <a:xfrm>
              <a:off x="1769389" y="3780040"/>
              <a:ext cx="28575" cy="45085"/>
            </a:xfrm>
            <a:custGeom>
              <a:avLst/>
              <a:gdLst/>
              <a:ahLst/>
              <a:cxnLst/>
              <a:rect l="l" t="t" r="r" b="b"/>
              <a:pathLst>
                <a:path w="28575" h="45085">
                  <a:moveTo>
                    <a:pt x="28409" y="0"/>
                  </a:moveTo>
                  <a:lnTo>
                    <a:pt x="0" y="0"/>
                  </a:lnTo>
                  <a:lnTo>
                    <a:pt x="0" y="44500"/>
                  </a:lnTo>
                  <a:lnTo>
                    <a:pt x="28409" y="44500"/>
                  </a:lnTo>
                  <a:lnTo>
                    <a:pt x="28409" y="43306"/>
                  </a:lnTo>
                  <a:lnTo>
                    <a:pt x="1257" y="43306"/>
                  </a:lnTo>
                  <a:lnTo>
                    <a:pt x="1257" y="1181"/>
                  </a:lnTo>
                  <a:lnTo>
                    <a:pt x="28409" y="1181"/>
                  </a:lnTo>
                  <a:lnTo>
                    <a:pt x="28409" y="0"/>
                  </a:lnTo>
                  <a:close/>
                </a:path>
                <a:path w="28575" h="45085">
                  <a:moveTo>
                    <a:pt x="28409" y="1181"/>
                  </a:moveTo>
                  <a:lnTo>
                    <a:pt x="27165" y="1181"/>
                  </a:lnTo>
                  <a:lnTo>
                    <a:pt x="27165" y="43306"/>
                  </a:lnTo>
                  <a:lnTo>
                    <a:pt x="28409" y="43306"/>
                  </a:lnTo>
                  <a:lnTo>
                    <a:pt x="28409" y="1181"/>
                  </a:lnTo>
                  <a:close/>
                </a:path>
              </a:pathLst>
            </a:custGeom>
            <a:solidFill>
              <a:srgbClr val="879C82"/>
            </a:solidFill>
          </p:spPr>
          <p:txBody>
            <a:bodyPr wrap="square" lIns="0" tIns="0" rIns="0" bIns="0" rtlCol="0"/>
            <a:lstStyle/>
            <a:p/>
          </p:txBody>
        </p:sp>
        <p:sp>
          <p:nvSpPr>
            <p:cNvPr id="256" name="object 256" descr=""/>
            <p:cNvSpPr/>
            <p:nvPr/>
          </p:nvSpPr>
          <p:spPr>
            <a:xfrm>
              <a:off x="1645577" y="385386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57" name="object 257" descr=""/>
            <p:cNvSpPr/>
            <p:nvPr/>
          </p:nvSpPr>
          <p:spPr>
            <a:xfrm>
              <a:off x="1644561" y="3852849"/>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16" y="1244"/>
                  </a:lnTo>
                  <a:lnTo>
                    <a:pt x="27216" y="43256"/>
                  </a:lnTo>
                  <a:lnTo>
                    <a:pt x="28409" y="43256"/>
                  </a:lnTo>
                  <a:lnTo>
                    <a:pt x="28409" y="1244"/>
                  </a:lnTo>
                  <a:close/>
                </a:path>
              </a:pathLst>
            </a:custGeom>
            <a:solidFill>
              <a:srgbClr val="879C82"/>
            </a:solidFill>
          </p:spPr>
          <p:txBody>
            <a:bodyPr wrap="square" lIns="0" tIns="0" rIns="0" bIns="0" rtlCol="0"/>
            <a:lstStyle/>
            <a:p/>
          </p:txBody>
        </p:sp>
        <p:sp>
          <p:nvSpPr>
            <p:cNvPr id="258" name="object 258" descr=""/>
            <p:cNvSpPr/>
            <p:nvPr/>
          </p:nvSpPr>
          <p:spPr>
            <a:xfrm>
              <a:off x="1687182" y="385386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59" name="object 259" descr=""/>
            <p:cNvSpPr/>
            <p:nvPr/>
          </p:nvSpPr>
          <p:spPr>
            <a:xfrm>
              <a:off x="1686166" y="3852849"/>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28" y="1244"/>
                  </a:lnTo>
                  <a:lnTo>
                    <a:pt x="27228" y="43256"/>
                  </a:lnTo>
                  <a:lnTo>
                    <a:pt x="28409" y="43256"/>
                  </a:lnTo>
                  <a:lnTo>
                    <a:pt x="28409" y="1244"/>
                  </a:lnTo>
                  <a:close/>
                </a:path>
              </a:pathLst>
            </a:custGeom>
            <a:solidFill>
              <a:srgbClr val="879C82"/>
            </a:solidFill>
          </p:spPr>
          <p:txBody>
            <a:bodyPr wrap="square" lIns="0" tIns="0" rIns="0" bIns="0" rtlCol="0"/>
            <a:lstStyle/>
            <a:p/>
          </p:txBody>
        </p:sp>
        <p:sp>
          <p:nvSpPr>
            <p:cNvPr id="260" name="object 260" descr=""/>
            <p:cNvSpPr/>
            <p:nvPr/>
          </p:nvSpPr>
          <p:spPr>
            <a:xfrm>
              <a:off x="1728787" y="385386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61" name="object 261" descr=""/>
            <p:cNvSpPr/>
            <p:nvPr/>
          </p:nvSpPr>
          <p:spPr>
            <a:xfrm>
              <a:off x="1727771" y="3852849"/>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28" y="1244"/>
                  </a:lnTo>
                  <a:lnTo>
                    <a:pt x="27228" y="43256"/>
                  </a:lnTo>
                  <a:lnTo>
                    <a:pt x="28409" y="43256"/>
                  </a:lnTo>
                  <a:lnTo>
                    <a:pt x="28409" y="1244"/>
                  </a:lnTo>
                  <a:close/>
                </a:path>
              </a:pathLst>
            </a:custGeom>
            <a:solidFill>
              <a:srgbClr val="879C82"/>
            </a:solidFill>
          </p:spPr>
          <p:txBody>
            <a:bodyPr wrap="square" lIns="0" tIns="0" rIns="0" bIns="0" rtlCol="0"/>
            <a:lstStyle/>
            <a:p/>
          </p:txBody>
        </p:sp>
        <p:sp>
          <p:nvSpPr>
            <p:cNvPr id="262" name="object 262" descr=""/>
            <p:cNvSpPr/>
            <p:nvPr/>
          </p:nvSpPr>
          <p:spPr>
            <a:xfrm>
              <a:off x="1770405" y="385386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63" name="object 263" descr=""/>
            <p:cNvSpPr/>
            <p:nvPr/>
          </p:nvSpPr>
          <p:spPr>
            <a:xfrm>
              <a:off x="1769389" y="3852849"/>
              <a:ext cx="28575" cy="45085"/>
            </a:xfrm>
            <a:custGeom>
              <a:avLst/>
              <a:gdLst/>
              <a:ahLst/>
              <a:cxnLst/>
              <a:rect l="l" t="t" r="r" b="b"/>
              <a:pathLst>
                <a:path w="28575" h="45085">
                  <a:moveTo>
                    <a:pt x="28409" y="0"/>
                  </a:moveTo>
                  <a:lnTo>
                    <a:pt x="0" y="0"/>
                  </a:lnTo>
                  <a:lnTo>
                    <a:pt x="0" y="44500"/>
                  </a:lnTo>
                  <a:lnTo>
                    <a:pt x="28409" y="44500"/>
                  </a:lnTo>
                  <a:lnTo>
                    <a:pt x="28409" y="43256"/>
                  </a:lnTo>
                  <a:lnTo>
                    <a:pt x="1257" y="43256"/>
                  </a:lnTo>
                  <a:lnTo>
                    <a:pt x="1257" y="1244"/>
                  </a:lnTo>
                  <a:lnTo>
                    <a:pt x="28409" y="1244"/>
                  </a:lnTo>
                  <a:lnTo>
                    <a:pt x="28409" y="0"/>
                  </a:lnTo>
                  <a:close/>
                </a:path>
                <a:path w="28575" h="45085">
                  <a:moveTo>
                    <a:pt x="28409" y="1244"/>
                  </a:moveTo>
                  <a:lnTo>
                    <a:pt x="27165" y="1244"/>
                  </a:lnTo>
                  <a:lnTo>
                    <a:pt x="27165" y="43256"/>
                  </a:lnTo>
                  <a:lnTo>
                    <a:pt x="28409" y="43256"/>
                  </a:lnTo>
                  <a:lnTo>
                    <a:pt x="28409" y="1244"/>
                  </a:lnTo>
                  <a:close/>
                </a:path>
              </a:pathLst>
            </a:custGeom>
            <a:solidFill>
              <a:srgbClr val="879C82"/>
            </a:solidFill>
          </p:spPr>
          <p:txBody>
            <a:bodyPr wrap="square" lIns="0" tIns="0" rIns="0" bIns="0" rtlCol="0"/>
            <a:lstStyle/>
            <a:p/>
          </p:txBody>
        </p:sp>
        <p:sp>
          <p:nvSpPr>
            <p:cNvPr id="264" name="object 264" descr=""/>
            <p:cNvSpPr/>
            <p:nvPr/>
          </p:nvSpPr>
          <p:spPr>
            <a:xfrm>
              <a:off x="1645577" y="392769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65" name="object 265" descr=""/>
            <p:cNvSpPr/>
            <p:nvPr/>
          </p:nvSpPr>
          <p:spPr>
            <a:xfrm>
              <a:off x="1644561" y="3926687"/>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81"/>
                  </a:lnTo>
                  <a:lnTo>
                    <a:pt x="28409" y="1181"/>
                  </a:lnTo>
                  <a:lnTo>
                    <a:pt x="28409" y="0"/>
                  </a:lnTo>
                  <a:close/>
                </a:path>
                <a:path w="28575" h="45085">
                  <a:moveTo>
                    <a:pt x="28409" y="1181"/>
                  </a:moveTo>
                  <a:lnTo>
                    <a:pt x="27216" y="1181"/>
                  </a:lnTo>
                  <a:lnTo>
                    <a:pt x="27216" y="43307"/>
                  </a:lnTo>
                  <a:lnTo>
                    <a:pt x="28409" y="43307"/>
                  </a:lnTo>
                  <a:lnTo>
                    <a:pt x="28409" y="1181"/>
                  </a:lnTo>
                  <a:close/>
                </a:path>
              </a:pathLst>
            </a:custGeom>
            <a:solidFill>
              <a:srgbClr val="879C82"/>
            </a:solidFill>
          </p:spPr>
          <p:txBody>
            <a:bodyPr wrap="square" lIns="0" tIns="0" rIns="0" bIns="0" rtlCol="0"/>
            <a:lstStyle/>
            <a:p/>
          </p:txBody>
        </p:sp>
        <p:sp>
          <p:nvSpPr>
            <p:cNvPr id="266" name="object 266" descr=""/>
            <p:cNvSpPr/>
            <p:nvPr/>
          </p:nvSpPr>
          <p:spPr>
            <a:xfrm>
              <a:off x="1687182" y="392769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67" name="object 267" descr=""/>
            <p:cNvSpPr/>
            <p:nvPr/>
          </p:nvSpPr>
          <p:spPr>
            <a:xfrm>
              <a:off x="1686166" y="3926687"/>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81"/>
                  </a:lnTo>
                  <a:lnTo>
                    <a:pt x="28409" y="1181"/>
                  </a:lnTo>
                  <a:lnTo>
                    <a:pt x="28409" y="0"/>
                  </a:lnTo>
                  <a:close/>
                </a:path>
                <a:path w="28575" h="45085">
                  <a:moveTo>
                    <a:pt x="28409" y="1181"/>
                  </a:moveTo>
                  <a:lnTo>
                    <a:pt x="27228" y="1181"/>
                  </a:lnTo>
                  <a:lnTo>
                    <a:pt x="27228" y="43307"/>
                  </a:lnTo>
                  <a:lnTo>
                    <a:pt x="28409" y="43307"/>
                  </a:lnTo>
                  <a:lnTo>
                    <a:pt x="28409" y="1181"/>
                  </a:lnTo>
                  <a:close/>
                </a:path>
              </a:pathLst>
            </a:custGeom>
            <a:solidFill>
              <a:srgbClr val="879C82"/>
            </a:solidFill>
          </p:spPr>
          <p:txBody>
            <a:bodyPr wrap="square" lIns="0" tIns="0" rIns="0" bIns="0" rtlCol="0"/>
            <a:lstStyle/>
            <a:p/>
          </p:txBody>
        </p:sp>
        <p:sp>
          <p:nvSpPr>
            <p:cNvPr id="268" name="object 268" descr=""/>
            <p:cNvSpPr/>
            <p:nvPr/>
          </p:nvSpPr>
          <p:spPr>
            <a:xfrm>
              <a:off x="1728787" y="392769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69" name="object 269" descr=""/>
            <p:cNvSpPr/>
            <p:nvPr/>
          </p:nvSpPr>
          <p:spPr>
            <a:xfrm>
              <a:off x="1727771" y="3926687"/>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81"/>
                  </a:lnTo>
                  <a:lnTo>
                    <a:pt x="28409" y="1181"/>
                  </a:lnTo>
                  <a:lnTo>
                    <a:pt x="28409" y="0"/>
                  </a:lnTo>
                  <a:close/>
                </a:path>
                <a:path w="28575" h="45085">
                  <a:moveTo>
                    <a:pt x="28409" y="1181"/>
                  </a:moveTo>
                  <a:lnTo>
                    <a:pt x="27228" y="1181"/>
                  </a:lnTo>
                  <a:lnTo>
                    <a:pt x="27228" y="43307"/>
                  </a:lnTo>
                  <a:lnTo>
                    <a:pt x="28409" y="43307"/>
                  </a:lnTo>
                  <a:lnTo>
                    <a:pt x="28409" y="1181"/>
                  </a:lnTo>
                  <a:close/>
                </a:path>
              </a:pathLst>
            </a:custGeom>
            <a:solidFill>
              <a:srgbClr val="879C82"/>
            </a:solidFill>
          </p:spPr>
          <p:txBody>
            <a:bodyPr wrap="square" lIns="0" tIns="0" rIns="0" bIns="0" rtlCol="0"/>
            <a:lstStyle/>
            <a:p/>
          </p:txBody>
        </p:sp>
        <p:sp>
          <p:nvSpPr>
            <p:cNvPr id="270" name="object 270" descr=""/>
            <p:cNvSpPr/>
            <p:nvPr/>
          </p:nvSpPr>
          <p:spPr>
            <a:xfrm>
              <a:off x="1770405" y="392769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71" name="object 271" descr=""/>
            <p:cNvSpPr/>
            <p:nvPr/>
          </p:nvSpPr>
          <p:spPr>
            <a:xfrm>
              <a:off x="1769389" y="3926687"/>
              <a:ext cx="28575" cy="45085"/>
            </a:xfrm>
            <a:custGeom>
              <a:avLst/>
              <a:gdLst/>
              <a:ahLst/>
              <a:cxnLst/>
              <a:rect l="l" t="t" r="r" b="b"/>
              <a:pathLst>
                <a:path w="28575" h="45085">
                  <a:moveTo>
                    <a:pt x="28409" y="0"/>
                  </a:moveTo>
                  <a:lnTo>
                    <a:pt x="0" y="0"/>
                  </a:lnTo>
                  <a:lnTo>
                    <a:pt x="0" y="44500"/>
                  </a:lnTo>
                  <a:lnTo>
                    <a:pt x="28409" y="44500"/>
                  </a:lnTo>
                  <a:lnTo>
                    <a:pt x="28409" y="43307"/>
                  </a:lnTo>
                  <a:lnTo>
                    <a:pt x="1257" y="43307"/>
                  </a:lnTo>
                  <a:lnTo>
                    <a:pt x="1257" y="1181"/>
                  </a:lnTo>
                  <a:lnTo>
                    <a:pt x="28409" y="1181"/>
                  </a:lnTo>
                  <a:lnTo>
                    <a:pt x="28409" y="0"/>
                  </a:lnTo>
                  <a:close/>
                </a:path>
                <a:path w="28575" h="45085">
                  <a:moveTo>
                    <a:pt x="28409" y="1181"/>
                  </a:moveTo>
                  <a:lnTo>
                    <a:pt x="27165" y="1181"/>
                  </a:lnTo>
                  <a:lnTo>
                    <a:pt x="27165" y="43307"/>
                  </a:lnTo>
                  <a:lnTo>
                    <a:pt x="28409" y="43307"/>
                  </a:lnTo>
                  <a:lnTo>
                    <a:pt x="28409" y="1181"/>
                  </a:lnTo>
                  <a:close/>
                </a:path>
              </a:pathLst>
            </a:custGeom>
            <a:solidFill>
              <a:srgbClr val="879C82"/>
            </a:solidFill>
          </p:spPr>
          <p:txBody>
            <a:bodyPr wrap="square" lIns="0" tIns="0" rIns="0" bIns="0" rtlCol="0"/>
            <a:lstStyle/>
            <a:p/>
          </p:txBody>
        </p:sp>
        <p:sp>
          <p:nvSpPr>
            <p:cNvPr id="272" name="object 272" descr=""/>
            <p:cNvSpPr/>
            <p:nvPr/>
          </p:nvSpPr>
          <p:spPr>
            <a:xfrm>
              <a:off x="1807946" y="3474605"/>
              <a:ext cx="111760" cy="714375"/>
            </a:xfrm>
            <a:custGeom>
              <a:avLst/>
              <a:gdLst/>
              <a:ahLst/>
              <a:cxnLst/>
              <a:rect l="l" t="t" r="r" b="b"/>
              <a:pathLst>
                <a:path w="111760" h="714375">
                  <a:moveTo>
                    <a:pt x="111632" y="0"/>
                  </a:moveTo>
                  <a:lnTo>
                    <a:pt x="0" y="0"/>
                  </a:lnTo>
                  <a:lnTo>
                    <a:pt x="0" y="714032"/>
                  </a:lnTo>
                  <a:lnTo>
                    <a:pt x="111632" y="714032"/>
                  </a:lnTo>
                  <a:lnTo>
                    <a:pt x="111632" y="0"/>
                  </a:lnTo>
                  <a:close/>
                </a:path>
              </a:pathLst>
            </a:custGeom>
            <a:solidFill>
              <a:srgbClr val="BFCCC0"/>
            </a:solidFill>
          </p:spPr>
          <p:txBody>
            <a:bodyPr wrap="square" lIns="0" tIns="0" rIns="0" bIns="0" rtlCol="0"/>
            <a:lstStyle/>
            <a:p/>
          </p:txBody>
        </p:sp>
        <p:sp>
          <p:nvSpPr>
            <p:cNvPr id="273" name="object 273" descr=""/>
            <p:cNvSpPr/>
            <p:nvPr/>
          </p:nvSpPr>
          <p:spPr>
            <a:xfrm>
              <a:off x="1806930" y="3473221"/>
              <a:ext cx="114935" cy="716280"/>
            </a:xfrm>
            <a:custGeom>
              <a:avLst/>
              <a:gdLst/>
              <a:ahLst/>
              <a:cxnLst/>
              <a:rect l="l" t="t" r="r" b="b"/>
              <a:pathLst>
                <a:path w="114935" h="716279">
                  <a:moveTo>
                    <a:pt x="114681" y="0"/>
                  </a:moveTo>
                  <a:lnTo>
                    <a:pt x="81915" y="0"/>
                  </a:lnTo>
                  <a:lnTo>
                    <a:pt x="81915" y="1270"/>
                  </a:lnTo>
                  <a:lnTo>
                    <a:pt x="0" y="1270"/>
                  </a:lnTo>
                  <a:lnTo>
                    <a:pt x="0" y="2540"/>
                  </a:lnTo>
                  <a:lnTo>
                    <a:pt x="0" y="713740"/>
                  </a:lnTo>
                  <a:lnTo>
                    <a:pt x="0" y="716280"/>
                  </a:lnTo>
                  <a:lnTo>
                    <a:pt x="114681" y="716280"/>
                  </a:lnTo>
                  <a:lnTo>
                    <a:pt x="114681" y="714057"/>
                  </a:lnTo>
                  <a:lnTo>
                    <a:pt x="114681" y="713740"/>
                  </a:lnTo>
                  <a:lnTo>
                    <a:pt x="114681" y="2755"/>
                  </a:lnTo>
                  <a:lnTo>
                    <a:pt x="112293" y="2755"/>
                  </a:lnTo>
                  <a:lnTo>
                    <a:pt x="112293" y="713740"/>
                  </a:lnTo>
                  <a:lnTo>
                    <a:pt x="2387" y="713740"/>
                  </a:lnTo>
                  <a:lnTo>
                    <a:pt x="2387" y="2540"/>
                  </a:lnTo>
                  <a:lnTo>
                    <a:pt x="114681" y="2540"/>
                  </a:lnTo>
                  <a:lnTo>
                    <a:pt x="114681" y="1270"/>
                  </a:lnTo>
                  <a:lnTo>
                    <a:pt x="114681" y="0"/>
                  </a:lnTo>
                  <a:close/>
                </a:path>
              </a:pathLst>
            </a:custGeom>
            <a:solidFill>
              <a:srgbClr val="879C82"/>
            </a:solidFill>
          </p:spPr>
          <p:txBody>
            <a:bodyPr wrap="square" lIns="0" tIns="0" rIns="0" bIns="0" rtlCol="0"/>
            <a:lstStyle/>
            <a:p/>
          </p:txBody>
        </p:sp>
        <p:pic>
          <p:nvPicPr>
            <p:cNvPr id="274" name="object 274" descr=""/>
            <p:cNvPicPr/>
            <p:nvPr/>
          </p:nvPicPr>
          <p:blipFill>
            <a:blip r:embed="rId14" cstate="print"/>
            <a:stretch>
              <a:fillRect/>
            </a:stretch>
          </p:blipFill>
          <p:spPr>
            <a:xfrm>
              <a:off x="1806934" y="3401777"/>
              <a:ext cx="154254" cy="73837"/>
            </a:xfrm>
            <a:prstGeom prst="rect">
              <a:avLst/>
            </a:prstGeom>
          </p:spPr>
        </p:pic>
        <p:sp>
          <p:nvSpPr>
            <p:cNvPr id="275" name="object 275" descr=""/>
            <p:cNvSpPr/>
            <p:nvPr/>
          </p:nvSpPr>
          <p:spPr>
            <a:xfrm>
              <a:off x="1919583" y="3403804"/>
              <a:ext cx="40640" cy="784860"/>
            </a:xfrm>
            <a:custGeom>
              <a:avLst/>
              <a:gdLst/>
              <a:ahLst/>
              <a:cxnLst/>
              <a:rect l="l" t="t" r="r" b="b"/>
              <a:pathLst>
                <a:path w="40639" h="784860">
                  <a:moveTo>
                    <a:pt x="40589" y="0"/>
                  </a:moveTo>
                  <a:lnTo>
                    <a:pt x="0" y="70866"/>
                  </a:lnTo>
                  <a:lnTo>
                    <a:pt x="0" y="784821"/>
                  </a:lnTo>
                  <a:lnTo>
                    <a:pt x="40589" y="713892"/>
                  </a:lnTo>
                  <a:lnTo>
                    <a:pt x="40589" y="0"/>
                  </a:lnTo>
                  <a:close/>
                </a:path>
              </a:pathLst>
            </a:custGeom>
            <a:solidFill>
              <a:srgbClr val="A5B8A6"/>
            </a:solidFill>
          </p:spPr>
          <p:txBody>
            <a:bodyPr wrap="square" lIns="0" tIns="0" rIns="0" bIns="0" rtlCol="0"/>
            <a:lstStyle/>
            <a:p/>
          </p:txBody>
        </p:sp>
        <p:sp>
          <p:nvSpPr>
            <p:cNvPr id="276" name="object 276" descr=""/>
            <p:cNvSpPr/>
            <p:nvPr/>
          </p:nvSpPr>
          <p:spPr>
            <a:xfrm>
              <a:off x="1918558" y="3402793"/>
              <a:ext cx="43180" cy="787400"/>
            </a:xfrm>
            <a:custGeom>
              <a:avLst/>
              <a:gdLst/>
              <a:ahLst/>
              <a:cxnLst/>
              <a:rect l="l" t="t" r="r" b="b"/>
              <a:pathLst>
                <a:path w="43180" h="787400">
                  <a:moveTo>
                    <a:pt x="40335" y="0"/>
                  </a:moveTo>
                  <a:lnTo>
                    <a:pt x="127" y="70942"/>
                  </a:lnTo>
                  <a:lnTo>
                    <a:pt x="0" y="786256"/>
                  </a:lnTo>
                  <a:lnTo>
                    <a:pt x="2171" y="786853"/>
                  </a:lnTo>
                  <a:lnTo>
                    <a:pt x="5077" y="781735"/>
                  </a:lnTo>
                  <a:lnTo>
                    <a:pt x="2413" y="781735"/>
                  </a:lnTo>
                  <a:lnTo>
                    <a:pt x="2413" y="71894"/>
                  </a:lnTo>
                  <a:lnTo>
                    <a:pt x="40220" y="5118"/>
                  </a:lnTo>
                  <a:lnTo>
                    <a:pt x="42633" y="5118"/>
                  </a:lnTo>
                  <a:lnTo>
                    <a:pt x="42633" y="596"/>
                  </a:lnTo>
                  <a:lnTo>
                    <a:pt x="40335" y="0"/>
                  </a:lnTo>
                  <a:close/>
                </a:path>
                <a:path w="43180" h="787400">
                  <a:moveTo>
                    <a:pt x="42633" y="5118"/>
                  </a:moveTo>
                  <a:lnTo>
                    <a:pt x="40220" y="5118"/>
                  </a:lnTo>
                  <a:lnTo>
                    <a:pt x="40220" y="714959"/>
                  </a:lnTo>
                  <a:lnTo>
                    <a:pt x="2413" y="781735"/>
                  </a:lnTo>
                  <a:lnTo>
                    <a:pt x="5077" y="781735"/>
                  </a:lnTo>
                  <a:lnTo>
                    <a:pt x="42443" y="715911"/>
                  </a:lnTo>
                  <a:lnTo>
                    <a:pt x="42633" y="715251"/>
                  </a:lnTo>
                  <a:lnTo>
                    <a:pt x="42633" y="5118"/>
                  </a:lnTo>
                  <a:close/>
                </a:path>
              </a:pathLst>
            </a:custGeom>
            <a:solidFill>
              <a:srgbClr val="879C82"/>
            </a:solidFill>
          </p:spPr>
          <p:txBody>
            <a:bodyPr wrap="square" lIns="0" tIns="0" rIns="0" bIns="0" rtlCol="0"/>
            <a:lstStyle/>
            <a:p/>
          </p:txBody>
        </p:sp>
        <p:sp>
          <p:nvSpPr>
            <p:cNvPr id="277" name="object 277" descr=""/>
            <p:cNvSpPr/>
            <p:nvPr/>
          </p:nvSpPr>
          <p:spPr>
            <a:xfrm>
              <a:off x="1821141" y="353225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78" name="object 278" descr=""/>
            <p:cNvSpPr/>
            <p:nvPr/>
          </p:nvSpPr>
          <p:spPr>
            <a:xfrm>
              <a:off x="1821141" y="3532250"/>
              <a:ext cx="28575" cy="45085"/>
            </a:xfrm>
            <a:custGeom>
              <a:avLst/>
              <a:gdLst/>
              <a:ahLst/>
              <a:cxnLst/>
              <a:rect l="l" t="t" r="r" b="b"/>
              <a:pathLst>
                <a:path w="28575" h="45085">
                  <a:moveTo>
                    <a:pt x="28409" y="0"/>
                  </a:moveTo>
                  <a:lnTo>
                    <a:pt x="0" y="0"/>
                  </a:lnTo>
                  <a:lnTo>
                    <a:pt x="0" y="44500"/>
                  </a:lnTo>
                  <a:lnTo>
                    <a:pt x="28409" y="44500"/>
                  </a:lnTo>
                  <a:lnTo>
                    <a:pt x="28409" y="43307"/>
                  </a:lnTo>
                  <a:lnTo>
                    <a:pt x="1257" y="43307"/>
                  </a:lnTo>
                  <a:lnTo>
                    <a:pt x="1257" y="1244"/>
                  </a:lnTo>
                  <a:lnTo>
                    <a:pt x="28409" y="1244"/>
                  </a:lnTo>
                  <a:lnTo>
                    <a:pt x="28409" y="0"/>
                  </a:lnTo>
                  <a:close/>
                </a:path>
                <a:path w="28575" h="45085">
                  <a:moveTo>
                    <a:pt x="28409" y="1244"/>
                  </a:moveTo>
                  <a:lnTo>
                    <a:pt x="27165" y="1244"/>
                  </a:lnTo>
                  <a:lnTo>
                    <a:pt x="27165" y="43307"/>
                  </a:lnTo>
                  <a:lnTo>
                    <a:pt x="28409" y="43307"/>
                  </a:lnTo>
                  <a:lnTo>
                    <a:pt x="28409" y="1244"/>
                  </a:lnTo>
                  <a:close/>
                </a:path>
              </a:pathLst>
            </a:custGeom>
            <a:solidFill>
              <a:srgbClr val="879C82"/>
            </a:solidFill>
          </p:spPr>
          <p:txBody>
            <a:bodyPr wrap="square" lIns="0" tIns="0" rIns="0" bIns="0" rtlCol="0"/>
            <a:lstStyle/>
            <a:p/>
          </p:txBody>
        </p:sp>
        <p:sp>
          <p:nvSpPr>
            <p:cNvPr id="279" name="object 279" descr=""/>
            <p:cNvSpPr/>
            <p:nvPr/>
          </p:nvSpPr>
          <p:spPr>
            <a:xfrm>
              <a:off x="1862747" y="353225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80" name="object 280" descr=""/>
            <p:cNvSpPr/>
            <p:nvPr/>
          </p:nvSpPr>
          <p:spPr>
            <a:xfrm>
              <a:off x="1862747" y="3532250"/>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244"/>
                  </a:lnTo>
                  <a:lnTo>
                    <a:pt x="28409" y="1244"/>
                  </a:lnTo>
                  <a:lnTo>
                    <a:pt x="28409" y="0"/>
                  </a:lnTo>
                  <a:close/>
                </a:path>
                <a:path w="28575" h="45085">
                  <a:moveTo>
                    <a:pt x="28409" y="1244"/>
                  </a:moveTo>
                  <a:lnTo>
                    <a:pt x="27228" y="1244"/>
                  </a:lnTo>
                  <a:lnTo>
                    <a:pt x="27228" y="43307"/>
                  </a:lnTo>
                  <a:lnTo>
                    <a:pt x="28409" y="43307"/>
                  </a:lnTo>
                  <a:lnTo>
                    <a:pt x="28409" y="1244"/>
                  </a:lnTo>
                  <a:close/>
                </a:path>
              </a:pathLst>
            </a:custGeom>
            <a:solidFill>
              <a:srgbClr val="879C82"/>
            </a:solidFill>
          </p:spPr>
          <p:txBody>
            <a:bodyPr wrap="square" lIns="0" tIns="0" rIns="0" bIns="0" rtlCol="0"/>
            <a:lstStyle/>
            <a:p/>
          </p:txBody>
        </p:sp>
        <p:sp>
          <p:nvSpPr>
            <p:cNvPr id="281" name="object 281" descr=""/>
            <p:cNvSpPr/>
            <p:nvPr/>
          </p:nvSpPr>
          <p:spPr>
            <a:xfrm>
              <a:off x="1821141" y="360709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82" name="object 282" descr=""/>
            <p:cNvSpPr/>
            <p:nvPr/>
          </p:nvSpPr>
          <p:spPr>
            <a:xfrm>
              <a:off x="1821141" y="3607091"/>
              <a:ext cx="28575" cy="45085"/>
            </a:xfrm>
            <a:custGeom>
              <a:avLst/>
              <a:gdLst/>
              <a:ahLst/>
              <a:cxnLst/>
              <a:rect l="l" t="t" r="r" b="b"/>
              <a:pathLst>
                <a:path w="28575" h="45085">
                  <a:moveTo>
                    <a:pt x="28409" y="0"/>
                  </a:moveTo>
                  <a:lnTo>
                    <a:pt x="0" y="0"/>
                  </a:lnTo>
                  <a:lnTo>
                    <a:pt x="0" y="44500"/>
                  </a:lnTo>
                  <a:lnTo>
                    <a:pt x="28409" y="44500"/>
                  </a:lnTo>
                  <a:lnTo>
                    <a:pt x="28409" y="43256"/>
                  </a:lnTo>
                  <a:lnTo>
                    <a:pt x="1257" y="43256"/>
                  </a:lnTo>
                  <a:lnTo>
                    <a:pt x="1257" y="1244"/>
                  </a:lnTo>
                  <a:lnTo>
                    <a:pt x="28409" y="1244"/>
                  </a:lnTo>
                  <a:lnTo>
                    <a:pt x="28409" y="0"/>
                  </a:lnTo>
                  <a:close/>
                </a:path>
                <a:path w="28575" h="45085">
                  <a:moveTo>
                    <a:pt x="28409" y="1244"/>
                  </a:moveTo>
                  <a:lnTo>
                    <a:pt x="27165" y="1244"/>
                  </a:lnTo>
                  <a:lnTo>
                    <a:pt x="27165" y="43256"/>
                  </a:lnTo>
                  <a:lnTo>
                    <a:pt x="28409" y="43256"/>
                  </a:lnTo>
                  <a:lnTo>
                    <a:pt x="28409" y="1244"/>
                  </a:lnTo>
                  <a:close/>
                </a:path>
              </a:pathLst>
            </a:custGeom>
            <a:solidFill>
              <a:srgbClr val="879C82"/>
            </a:solidFill>
          </p:spPr>
          <p:txBody>
            <a:bodyPr wrap="square" lIns="0" tIns="0" rIns="0" bIns="0" rtlCol="0"/>
            <a:lstStyle/>
            <a:p/>
          </p:txBody>
        </p:sp>
        <p:sp>
          <p:nvSpPr>
            <p:cNvPr id="283" name="object 283" descr=""/>
            <p:cNvSpPr/>
            <p:nvPr/>
          </p:nvSpPr>
          <p:spPr>
            <a:xfrm>
              <a:off x="1862747" y="360709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84" name="object 284" descr=""/>
            <p:cNvSpPr/>
            <p:nvPr/>
          </p:nvSpPr>
          <p:spPr>
            <a:xfrm>
              <a:off x="1862747" y="3607091"/>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28" y="1244"/>
                  </a:lnTo>
                  <a:lnTo>
                    <a:pt x="27228" y="43256"/>
                  </a:lnTo>
                  <a:lnTo>
                    <a:pt x="28409" y="43256"/>
                  </a:lnTo>
                  <a:lnTo>
                    <a:pt x="28409" y="1244"/>
                  </a:lnTo>
                  <a:close/>
                </a:path>
              </a:pathLst>
            </a:custGeom>
            <a:solidFill>
              <a:srgbClr val="879C82"/>
            </a:solidFill>
          </p:spPr>
          <p:txBody>
            <a:bodyPr wrap="square" lIns="0" tIns="0" rIns="0" bIns="0" rtlCol="0"/>
            <a:lstStyle/>
            <a:p/>
          </p:txBody>
        </p:sp>
        <p:sp>
          <p:nvSpPr>
            <p:cNvPr id="285" name="object 285" descr=""/>
            <p:cNvSpPr/>
            <p:nvPr/>
          </p:nvSpPr>
          <p:spPr>
            <a:xfrm>
              <a:off x="1821141" y="3681933"/>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86" name="object 286" descr=""/>
            <p:cNvSpPr/>
            <p:nvPr/>
          </p:nvSpPr>
          <p:spPr>
            <a:xfrm>
              <a:off x="1821141" y="3680917"/>
              <a:ext cx="28575" cy="45720"/>
            </a:xfrm>
            <a:custGeom>
              <a:avLst/>
              <a:gdLst/>
              <a:ahLst/>
              <a:cxnLst/>
              <a:rect l="l" t="t" r="r" b="b"/>
              <a:pathLst>
                <a:path w="28575" h="45720">
                  <a:moveTo>
                    <a:pt x="28409" y="0"/>
                  </a:moveTo>
                  <a:lnTo>
                    <a:pt x="0" y="0"/>
                  </a:lnTo>
                  <a:lnTo>
                    <a:pt x="0" y="45516"/>
                  </a:lnTo>
                  <a:lnTo>
                    <a:pt x="28409" y="45516"/>
                  </a:lnTo>
                  <a:lnTo>
                    <a:pt x="28409" y="44246"/>
                  </a:lnTo>
                  <a:lnTo>
                    <a:pt x="1257" y="44246"/>
                  </a:lnTo>
                  <a:lnTo>
                    <a:pt x="1257" y="1219"/>
                  </a:lnTo>
                  <a:lnTo>
                    <a:pt x="28409" y="1219"/>
                  </a:lnTo>
                  <a:lnTo>
                    <a:pt x="28409" y="0"/>
                  </a:lnTo>
                  <a:close/>
                </a:path>
                <a:path w="28575" h="45720">
                  <a:moveTo>
                    <a:pt x="28409" y="1219"/>
                  </a:moveTo>
                  <a:lnTo>
                    <a:pt x="27165" y="1219"/>
                  </a:lnTo>
                  <a:lnTo>
                    <a:pt x="27165" y="44246"/>
                  </a:lnTo>
                  <a:lnTo>
                    <a:pt x="28409" y="44246"/>
                  </a:lnTo>
                  <a:lnTo>
                    <a:pt x="28409" y="1219"/>
                  </a:lnTo>
                  <a:close/>
                </a:path>
              </a:pathLst>
            </a:custGeom>
            <a:solidFill>
              <a:srgbClr val="879C82"/>
            </a:solidFill>
          </p:spPr>
          <p:txBody>
            <a:bodyPr wrap="square" lIns="0" tIns="0" rIns="0" bIns="0" rtlCol="0"/>
            <a:lstStyle/>
            <a:p/>
          </p:txBody>
        </p:sp>
        <p:sp>
          <p:nvSpPr>
            <p:cNvPr id="287" name="object 287" descr=""/>
            <p:cNvSpPr/>
            <p:nvPr/>
          </p:nvSpPr>
          <p:spPr>
            <a:xfrm>
              <a:off x="1862747" y="3681933"/>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88" name="object 288" descr=""/>
            <p:cNvSpPr/>
            <p:nvPr/>
          </p:nvSpPr>
          <p:spPr>
            <a:xfrm>
              <a:off x="1862747" y="3680917"/>
              <a:ext cx="28575" cy="45720"/>
            </a:xfrm>
            <a:custGeom>
              <a:avLst/>
              <a:gdLst/>
              <a:ahLst/>
              <a:cxnLst/>
              <a:rect l="l" t="t" r="r" b="b"/>
              <a:pathLst>
                <a:path w="28575" h="45720">
                  <a:moveTo>
                    <a:pt x="28409" y="0"/>
                  </a:moveTo>
                  <a:lnTo>
                    <a:pt x="0" y="0"/>
                  </a:lnTo>
                  <a:lnTo>
                    <a:pt x="0" y="45516"/>
                  </a:lnTo>
                  <a:lnTo>
                    <a:pt x="28409" y="45516"/>
                  </a:lnTo>
                  <a:lnTo>
                    <a:pt x="28409" y="44246"/>
                  </a:lnTo>
                  <a:lnTo>
                    <a:pt x="1206" y="44246"/>
                  </a:lnTo>
                  <a:lnTo>
                    <a:pt x="1206" y="1219"/>
                  </a:lnTo>
                  <a:lnTo>
                    <a:pt x="28409" y="1219"/>
                  </a:lnTo>
                  <a:lnTo>
                    <a:pt x="28409" y="0"/>
                  </a:lnTo>
                  <a:close/>
                </a:path>
                <a:path w="28575" h="45720">
                  <a:moveTo>
                    <a:pt x="28409" y="1219"/>
                  </a:moveTo>
                  <a:lnTo>
                    <a:pt x="27228" y="1219"/>
                  </a:lnTo>
                  <a:lnTo>
                    <a:pt x="27228" y="44246"/>
                  </a:lnTo>
                  <a:lnTo>
                    <a:pt x="28409" y="44246"/>
                  </a:lnTo>
                  <a:lnTo>
                    <a:pt x="28409" y="1219"/>
                  </a:lnTo>
                  <a:close/>
                </a:path>
              </a:pathLst>
            </a:custGeom>
            <a:solidFill>
              <a:srgbClr val="879C82"/>
            </a:solidFill>
          </p:spPr>
          <p:txBody>
            <a:bodyPr wrap="square" lIns="0" tIns="0" rIns="0" bIns="0" rtlCol="0"/>
            <a:lstStyle/>
            <a:p/>
          </p:txBody>
        </p:sp>
        <p:sp>
          <p:nvSpPr>
            <p:cNvPr id="289" name="object 289" descr=""/>
            <p:cNvSpPr/>
            <p:nvPr/>
          </p:nvSpPr>
          <p:spPr>
            <a:xfrm>
              <a:off x="1760245" y="3740594"/>
              <a:ext cx="219710" cy="495934"/>
            </a:xfrm>
            <a:custGeom>
              <a:avLst/>
              <a:gdLst/>
              <a:ahLst/>
              <a:cxnLst/>
              <a:rect l="l" t="t" r="r" b="b"/>
              <a:pathLst>
                <a:path w="219710" h="495935">
                  <a:moveTo>
                    <a:pt x="219201" y="0"/>
                  </a:moveTo>
                  <a:lnTo>
                    <a:pt x="0" y="0"/>
                  </a:lnTo>
                  <a:lnTo>
                    <a:pt x="0" y="495566"/>
                  </a:lnTo>
                  <a:lnTo>
                    <a:pt x="219201" y="495566"/>
                  </a:lnTo>
                  <a:lnTo>
                    <a:pt x="219201" y="0"/>
                  </a:lnTo>
                  <a:close/>
                </a:path>
              </a:pathLst>
            </a:custGeom>
            <a:solidFill>
              <a:srgbClr val="4D7299"/>
            </a:solidFill>
          </p:spPr>
          <p:txBody>
            <a:bodyPr wrap="square" lIns="0" tIns="0" rIns="0" bIns="0" rtlCol="0"/>
            <a:lstStyle/>
            <a:p/>
          </p:txBody>
        </p:sp>
        <p:sp>
          <p:nvSpPr>
            <p:cNvPr id="290" name="object 290" descr=""/>
            <p:cNvSpPr/>
            <p:nvPr/>
          </p:nvSpPr>
          <p:spPr>
            <a:xfrm>
              <a:off x="1759242" y="3740149"/>
              <a:ext cx="221615" cy="496570"/>
            </a:xfrm>
            <a:custGeom>
              <a:avLst/>
              <a:gdLst/>
              <a:ahLst/>
              <a:cxnLst/>
              <a:rect l="l" t="t" r="r" b="b"/>
              <a:pathLst>
                <a:path w="221614" h="496570">
                  <a:moveTo>
                    <a:pt x="221221" y="622"/>
                  </a:moveTo>
                  <a:lnTo>
                    <a:pt x="220040" y="622"/>
                  </a:lnTo>
                  <a:lnTo>
                    <a:pt x="220040" y="495300"/>
                  </a:lnTo>
                  <a:lnTo>
                    <a:pt x="1193" y="495300"/>
                  </a:lnTo>
                  <a:lnTo>
                    <a:pt x="1193" y="0"/>
                  </a:lnTo>
                  <a:lnTo>
                    <a:pt x="0" y="0"/>
                  </a:lnTo>
                  <a:lnTo>
                    <a:pt x="0" y="495300"/>
                  </a:lnTo>
                  <a:lnTo>
                    <a:pt x="0" y="496570"/>
                  </a:lnTo>
                  <a:lnTo>
                    <a:pt x="221221" y="496570"/>
                  </a:lnTo>
                  <a:lnTo>
                    <a:pt x="221221" y="495769"/>
                  </a:lnTo>
                  <a:lnTo>
                    <a:pt x="221221" y="495300"/>
                  </a:lnTo>
                  <a:lnTo>
                    <a:pt x="221221" y="622"/>
                  </a:lnTo>
                  <a:close/>
                </a:path>
              </a:pathLst>
            </a:custGeom>
            <a:solidFill>
              <a:srgbClr val="9BD3F0"/>
            </a:solidFill>
          </p:spPr>
          <p:txBody>
            <a:bodyPr wrap="square" lIns="0" tIns="0" rIns="0" bIns="0" rtlCol="0"/>
            <a:lstStyle/>
            <a:p/>
          </p:txBody>
        </p:sp>
        <p:sp>
          <p:nvSpPr>
            <p:cNvPr id="291" name="object 291" descr=""/>
            <p:cNvSpPr/>
            <p:nvPr/>
          </p:nvSpPr>
          <p:spPr>
            <a:xfrm>
              <a:off x="1760250" y="3691036"/>
              <a:ext cx="297815" cy="50165"/>
            </a:xfrm>
            <a:custGeom>
              <a:avLst/>
              <a:gdLst/>
              <a:ahLst/>
              <a:cxnLst/>
              <a:rect l="l" t="t" r="r" b="b"/>
              <a:pathLst>
                <a:path w="297814" h="50164">
                  <a:moveTo>
                    <a:pt x="297345" y="0"/>
                  </a:moveTo>
                  <a:lnTo>
                    <a:pt x="77406" y="63"/>
                  </a:lnTo>
                  <a:lnTo>
                    <a:pt x="0" y="49555"/>
                  </a:lnTo>
                  <a:lnTo>
                    <a:pt x="219341" y="49555"/>
                  </a:lnTo>
                  <a:lnTo>
                    <a:pt x="297345" y="0"/>
                  </a:lnTo>
                  <a:close/>
                </a:path>
              </a:pathLst>
            </a:custGeom>
            <a:solidFill>
              <a:srgbClr val="7FA6C8"/>
            </a:solidFill>
          </p:spPr>
          <p:txBody>
            <a:bodyPr wrap="square" lIns="0" tIns="0" rIns="0" bIns="0" rtlCol="0"/>
            <a:lstStyle/>
            <a:p/>
          </p:txBody>
        </p:sp>
        <p:sp>
          <p:nvSpPr>
            <p:cNvPr id="292" name="object 292" descr=""/>
            <p:cNvSpPr/>
            <p:nvPr/>
          </p:nvSpPr>
          <p:spPr>
            <a:xfrm>
              <a:off x="1760250" y="3690137"/>
              <a:ext cx="298450" cy="50800"/>
            </a:xfrm>
            <a:custGeom>
              <a:avLst/>
              <a:gdLst/>
              <a:ahLst/>
              <a:cxnLst/>
              <a:rect l="l" t="t" r="r" b="b"/>
              <a:pathLst>
                <a:path w="298450" h="50800">
                  <a:moveTo>
                    <a:pt x="298087" y="0"/>
                  </a:moveTo>
                  <a:lnTo>
                    <a:pt x="77533" y="0"/>
                  </a:lnTo>
                  <a:lnTo>
                    <a:pt x="0" y="49326"/>
                  </a:lnTo>
                  <a:lnTo>
                    <a:pt x="419" y="50457"/>
                  </a:lnTo>
                  <a:lnTo>
                    <a:pt x="219998" y="50457"/>
                  </a:lnTo>
                  <a:lnTo>
                    <a:pt x="221790" y="49326"/>
                  </a:lnTo>
                  <a:lnTo>
                    <a:pt x="2287" y="49326"/>
                  </a:lnTo>
                  <a:lnTo>
                    <a:pt x="78066" y="1142"/>
                  </a:lnTo>
                  <a:lnTo>
                    <a:pt x="298395" y="1142"/>
                  </a:lnTo>
                  <a:lnTo>
                    <a:pt x="298087" y="0"/>
                  </a:lnTo>
                  <a:close/>
                </a:path>
                <a:path w="298450" h="50800">
                  <a:moveTo>
                    <a:pt x="298159" y="1142"/>
                  </a:moveTo>
                  <a:lnTo>
                    <a:pt x="295973" y="1142"/>
                  </a:lnTo>
                  <a:lnTo>
                    <a:pt x="219596" y="49326"/>
                  </a:lnTo>
                  <a:lnTo>
                    <a:pt x="221790" y="49326"/>
                  </a:lnTo>
                  <a:lnTo>
                    <a:pt x="298159" y="1142"/>
                  </a:lnTo>
                  <a:close/>
                </a:path>
              </a:pathLst>
            </a:custGeom>
            <a:solidFill>
              <a:srgbClr val="9BD3F0"/>
            </a:solidFill>
          </p:spPr>
          <p:txBody>
            <a:bodyPr wrap="square" lIns="0" tIns="0" rIns="0" bIns="0" rtlCol="0"/>
            <a:lstStyle/>
            <a:p/>
          </p:txBody>
        </p:sp>
        <p:sp>
          <p:nvSpPr>
            <p:cNvPr id="293" name="object 293" descr=""/>
            <p:cNvSpPr/>
            <p:nvPr/>
          </p:nvSpPr>
          <p:spPr>
            <a:xfrm>
              <a:off x="1979452" y="3691035"/>
              <a:ext cx="78740" cy="545465"/>
            </a:xfrm>
            <a:custGeom>
              <a:avLst/>
              <a:gdLst/>
              <a:ahLst/>
              <a:cxnLst/>
              <a:rect l="l" t="t" r="r" b="b"/>
              <a:pathLst>
                <a:path w="78739" h="545464">
                  <a:moveTo>
                    <a:pt x="78143" y="0"/>
                  </a:moveTo>
                  <a:lnTo>
                    <a:pt x="0" y="49199"/>
                  </a:lnTo>
                  <a:lnTo>
                    <a:pt x="0" y="545134"/>
                  </a:lnTo>
                  <a:lnTo>
                    <a:pt x="78079" y="495871"/>
                  </a:lnTo>
                  <a:lnTo>
                    <a:pt x="78143" y="0"/>
                  </a:lnTo>
                  <a:close/>
                </a:path>
              </a:pathLst>
            </a:custGeom>
            <a:solidFill>
              <a:srgbClr val="004264"/>
            </a:solidFill>
          </p:spPr>
          <p:txBody>
            <a:bodyPr wrap="square" lIns="0" tIns="0" rIns="0" bIns="0" rtlCol="0"/>
            <a:lstStyle/>
            <a:p/>
          </p:txBody>
        </p:sp>
        <p:sp>
          <p:nvSpPr>
            <p:cNvPr id="294" name="object 294" descr=""/>
            <p:cNvSpPr/>
            <p:nvPr/>
          </p:nvSpPr>
          <p:spPr>
            <a:xfrm>
              <a:off x="1979454" y="3690026"/>
              <a:ext cx="79375" cy="547370"/>
            </a:xfrm>
            <a:custGeom>
              <a:avLst/>
              <a:gdLst/>
              <a:ahLst/>
              <a:cxnLst/>
              <a:rect l="l" t="t" r="r" b="b"/>
              <a:pathLst>
                <a:path w="79375" h="547370">
                  <a:moveTo>
                    <a:pt x="79159" y="0"/>
                  </a:moveTo>
                  <a:lnTo>
                    <a:pt x="78257" y="596"/>
                  </a:lnTo>
                  <a:lnTo>
                    <a:pt x="0" y="50012"/>
                  </a:lnTo>
                  <a:lnTo>
                    <a:pt x="0" y="547154"/>
                  </a:lnTo>
                  <a:lnTo>
                    <a:pt x="3500" y="544944"/>
                  </a:lnTo>
                  <a:lnTo>
                    <a:pt x="1193" y="544944"/>
                  </a:lnTo>
                  <a:lnTo>
                    <a:pt x="1193" y="50673"/>
                  </a:lnTo>
                  <a:lnTo>
                    <a:pt x="77965" y="2197"/>
                  </a:lnTo>
                  <a:lnTo>
                    <a:pt x="79158" y="2197"/>
                  </a:lnTo>
                  <a:lnTo>
                    <a:pt x="79159" y="0"/>
                  </a:lnTo>
                  <a:close/>
                </a:path>
                <a:path w="79375" h="547370">
                  <a:moveTo>
                    <a:pt x="79158" y="2197"/>
                  </a:moveTo>
                  <a:lnTo>
                    <a:pt x="77965" y="2197"/>
                  </a:lnTo>
                  <a:lnTo>
                    <a:pt x="77851" y="496531"/>
                  </a:lnTo>
                  <a:lnTo>
                    <a:pt x="1193" y="544944"/>
                  </a:lnTo>
                  <a:lnTo>
                    <a:pt x="3500" y="544944"/>
                  </a:lnTo>
                  <a:lnTo>
                    <a:pt x="78854" y="497370"/>
                  </a:lnTo>
                  <a:lnTo>
                    <a:pt x="79095" y="497192"/>
                  </a:lnTo>
                  <a:lnTo>
                    <a:pt x="79158" y="2197"/>
                  </a:lnTo>
                  <a:close/>
                </a:path>
              </a:pathLst>
            </a:custGeom>
            <a:solidFill>
              <a:srgbClr val="9BD3F0"/>
            </a:solidFill>
          </p:spPr>
          <p:txBody>
            <a:bodyPr wrap="square" lIns="0" tIns="0" rIns="0" bIns="0" rtlCol="0"/>
            <a:lstStyle/>
            <a:p/>
          </p:txBody>
        </p:sp>
        <p:sp>
          <p:nvSpPr>
            <p:cNvPr id="295" name="object 295" descr=""/>
            <p:cNvSpPr/>
            <p:nvPr/>
          </p:nvSpPr>
          <p:spPr>
            <a:xfrm>
              <a:off x="1775472" y="3816438"/>
              <a:ext cx="28575" cy="45085"/>
            </a:xfrm>
            <a:custGeom>
              <a:avLst/>
              <a:gdLst/>
              <a:ahLst/>
              <a:cxnLst/>
              <a:rect l="l" t="t" r="r" b="b"/>
              <a:pathLst>
                <a:path w="28575" h="45085">
                  <a:moveTo>
                    <a:pt x="28397" y="0"/>
                  </a:moveTo>
                  <a:lnTo>
                    <a:pt x="27393" y="0"/>
                  </a:lnTo>
                  <a:lnTo>
                    <a:pt x="0" y="0"/>
                  </a:lnTo>
                  <a:lnTo>
                    <a:pt x="0" y="43497"/>
                  </a:lnTo>
                  <a:lnTo>
                    <a:pt x="0" y="44513"/>
                  </a:lnTo>
                  <a:lnTo>
                    <a:pt x="28397" y="44513"/>
                  </a:lnTo>
                  <a:lnTo>
                    <a:pt x="28397" y="43319"/>
                  </a:lnTo>
                  <a:lnTo>
                    <a:pt x="28397" y="1193"/>
                  </a:lnTo>
                  <a:lnTo>
                    <a:pt x="28397" y="0"/>
                  </a:lnTo>
                  <a:close/>
                </a:path>
              </a:pathLst>
            </a:custGeom>
            <a:solidFill>
              <a:srgbClr val="7FA6C8"/>
            </a:solidFill>
          </p:spPr>
          <p:txBody>
            <a:bodyPr wrap="square" lIns="0" tIns="0" rIns="0" bIns="0" rtlCol="0"/>
            <a:lstStyle/>
            <a:p/>
          </p:txBody>
        </p:sp>
        <p:sp>
          <p:nvSpPr>
            <p:cNvPr id="296" name="object 296" descr=""/>
            <p:cNvSpPr/>
            <p:nvPr/>
          </p:nvSpPr>
          <p:spPr>
            <a:xfrm>
              <a:off x="1775472" y="381643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6390" y="1015"/>
                  </a:lnTo>
                  <a:lnTo>
                    <a:pt x="26390" y="43497"/>
                  </a:lnTo>
                  <a:lnTo>
                    <a:pt x="1016" y="43497"/>
                  </a:lnTo>
                  <a:lnTo>
                    <a:pt x="1016" y="1015"/>
                  </a:lnTo>
                  <a:close/>
                </a:path>
              </a:pathLst>
            </a:custGeom>
            <a:ln w="3175">
              <a:solidFill>
                <a:srgbClr val="9BD3F0"/>
              </a:solidFill>
            </a:ln>
          </p:spPr>
          <p:txBody>
            <a:bodyPr wrap="square" lIns="0" tIns="0" rIns="0" bIns="0" rtlCol="0"/>
            <a:lstStyle/>
            <a:p/>
          </p:txBody>
        </p:sp>
        <p:sp>
          <p:nvSpPr>
            <p:cNvPr id="297" name="object 297" descr=""/>
            <p:cNvSpPr/>
            <p:nvPr/>
          </p:nvSpPr>
          <p:spPr>
            <a:xfrm>
              <a:off x="1815046" y="3816438"/>
              <a:ext cx="28575" cy="45085"/>
            </a:xfrm>
            <a:custGeom>
              <a:avLst/>
              <a:gdLst/>
              <a:ahLst/>
              <a:cxnLst/>
              <a:rect l="l" t="t" r="r" b="b"/>
              <a:pathLst>
                <a:path w="28575" h="45085">
                  <a:moveTo>
                    <a:pt x="28409" y="0"/>
                  </a:moveTo>
                  <a:lnTo>
                    <a:pt x="1016" y="0"/>
                  </a:lnTo>
                  <a:lnTo>
                    <a:pt x="0" y="0"/>
                  </a:lnTo>
                  <a:lnTo>
                    <a:pt x="0" y="44513"/>
                  </a:lnTo>
                  <a:lnTo>
                    <a:pt x="28409" y="44513"/>
                  </a:lnTo>
                  <a:lnTo>
                    <a:pt x="28409" y="43497"/>
                  </a:lnTo>
                  <a:lnTo>
                    <a:pt x="28409" y="43319"/>
                  </a:lnTo>
                  <a:lnTo>
                    <a:pt x="28409" y="1193"/>
                  </a:lnTo>
                  <a:lnTo>
                    <a:pt x="28409" y="0"/>
                  </a:lnTo>
                  <a:close/>
                </a:path>
              </a:pathLst>
            </a:custGeom>
            <a:solidFill>
              <a:srgbClr val="7FA6C8"/>
            </a:solidFill>
          </p:spPr>
          <p:txBody>
            <a:bodyPr wrap="square" lIns="0" tIns="0" rIns="0" bIns="0" rtlCol="0"/>
            <a:lstStyle/>
            <a:p/>
          </p:txBody>
        </p:sp>
        <p:sp>
          <p:nvSpPr>
            <p:cNvPr id="298" name="object 298" descr=""/>
            <p:cNvSpPr/>
            <p:nvPr/>
          </p:nvSpPr>
          <p:spPr>
            <a:xfrm>
              <a:off x="1815045" y="381643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7406" y="1015"/>
                  </a:lnTo>
                  <a:lnTo>
                    <a:pt x="27406" y="43497"/>
                  </a:lnTo>
                  <a:lnTo>
                    <a:pt x="1016" y="43497"/>
                  </a:lnTo>
                  <a:lnTo>
                    <a:pt x="1016" y="1015"/>
                  </a:lnTo>
                  <a:close/>
                </a:path>
              </a:pathLst>
            </a:custGeom>
            <a:ln w="3175">
              <a:solidFill>
                <a:srgbClr val="9BD3F0"/>
              </a:solidFill>
            </a:ln>
          </p:spPr>
          <p:txBody>
            <a:bodyPr wrap="square" lIns="0" tIns="0" rIns="0" bIns="0" rtlCol="0"/>
            <a:lstStyle/>
            <a:p/>
          </p:txBody>
        </p:sp>
        <p:sp>
          <p:nvSpPr>
            <p:cNvPr id="299" name="object 299" descr=""/>
            <p:cNvSpPr/>
            <p:nvPr/>
          </p:nvSpPr>
          <p:spPr>
            <a:xfrm>
              <a:off x="1855647" y="3816438"/>
              <a:ext cx="28575" cy="45085"/>
            </a:xfrm>
            <a:custGeom>
              <a:avLst/>
              <a:gdLst/>
              <a:ahLst/>
              <a:cxnLst/>
              <a:rect l="l" t="t" r="r" b="b"/>
              <a:pathLst>
                <a:path w="28575" h="45085">
                  <a:moveTo>
                    <a:pt x="28409" y="0"/>
                  </a:moveTo>
                  <a:lnTo>
                    <a:pt x="27393" y="0"/>
                  </a:lnTo>
                  <a:lnTo>
                    <a:pt x="0" y="0"/>
                  </a:lnTo>
                  <a:lnTo>
                    <a:pt x="0" y="43497"/>
                  </a:lnTo>
                  <a:lnTo>
                    <a:pt x="0" y="44513"/>
                  </a:lnTo>
                  <a:lnTo>
                    <a:pt x="28409" y="44513"/>
                  </a:lnTo>
                  <a:lnTo>
                    <a:pt x="28409" y="43319"/>
                  </a:lnTo>
                  <a:lnTo>
                    <a:pt x="28409" y="1193"/>
                  </a:lnTo>
                  <a:lnTo>
                    <a:pt x="28409" y="0"/>
                  </a:lnTo>
                  <a:close/>
                </a:path>
              </a:pathLst>
            </a:custGeom>
            <a:solidFill>
              <a:srgbClr val="7FA6C8"/>
            </a:solidFill>
          </p:spPr>
          <p:txBody>
            <a:bodyPr wrap="square" lIns="0" tIns="0" rIns="0" bIns="0" rtlCol="0"/>
            <a:lstStyle/>
            <a:p/>
          </p:txBody>
        </p:sp>
        <p:sp>
          <p:nvSpPr>
            <p:cNvPr id="300" name="object 300" descr=""/>
            <p:cNvSpPr/>
            <p:nvPr/>
          </p:nvSpPr>
          <p:spPr>
            <a:xfrm>
              <a:off x="1855647" y="381643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6390" y="1015"/>
                  </a:lnTo>
                  <a:lnTo>
                    <a:pt x="26390" y="43497"/>
                  </a:lnTo>
                  <a:lnTo>
                    <a:pt x="1015" y="43497"/>
                  </a:lnTo>
                  <a:lnTo>
                    <a:pt x="1015" y="1015"/>
                  </a:lnTo>
                  <a:close/>
                </a:path>
              </a:pathLst>
            </a:custGeom>
            <a:ln w="3175">
              <a:solidFill>
                <a:srgbClr val="9BD3F0"/>
              </a:solidFill>
            </a:ln>
          </p:spPr>
          <p:txBody>
            <a:bodyPr wrap="square" lIns="0" tIns="0" rIns="0" bIns="0" rtlCol="0"/>
            <a:lstStyle/>
            <a:p/>
          </p:txBody>
        </p:sp>
        <p:sp>
          <p:nvSpPr>
            <p:cNvPr id="301" name="object 301" descr=""/>
            <p:cNvSpPr/>
            <p:nvPr/>
          </p:nvSpPr>
          <p:spPr>
            <a:xfrm>
              <a:off x="1895221" y="3816438"/>
              <a:ext cx="28575" cy="45085"/>
            </a:xfrm>
            <a:custGeom>
              <a:avLst/>
              <a:gdLst/>
              <a:ahLst/>
              <a:cxnLst/>
              <a:rect l="l" t="t" r="r" b="b"/>
              <a:pathLst>
                <a:path w="28575" h="45085">
                  <a:moveTo>
                    <a:pt x="28409" y="0"/>
                  </a:moveTo>
                  <a:lnTo>
                    <a:pt x="1016" y="0"/>
                  </a:lnTo>
                  <a:lnTo>
                    <a:pt x="0" y="0"/>
                  </a:lnTo>
                  <a:lnTo>
                    <a:pt x="0" y="44513"/>
                  </a:lnTo>
                  <a:lnTo>
                    <a:pt x="28397" y="44513"/>
                  </a:lnTo>
                  <a:lnTo>
                    <a:pt x="28397" y="43497"/>
                  </a:lnTo>
                  <a:lnTo>
                    <a:pt x="28409" y="0"/>
                  </a:lnTo>
                  <a:close/>
                </a:path>
              </a:pathLst>
            </a:custGeom>
            <a:solidFill>
              <a:srgbClr val="7FA6C8"/>
            </a:solidFill>
          </p:spPr>
          <p:txBody>
            <a:bodyPr wrap="square" lIns="0" tIns="0" rIns="0" bIns="0" rtlCol="0"/>
            <a:lstStyle/>
            <a:p/>
          </p:txBody>
        </p:sp>
        <p:sp>
          <p:nvSpPr>
            <p:cNvPr id="302" name="object 302" descr=""/>
            <p:cNvSpPr/>
            <p:nvPr/>
          </p:nvSpPr>
          <p:spPr>
            <a:xfrm>
              <a:off x="1895220" y="381643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7406" y="1015"/>
                  </a:lnTo>
                  <a:lnTo>
                    <a:pt x="27406" y="43497"/>
                  </a:lnTo>
                  <a:lnTo>
                    <a:pt x="1016" y="43497"/>
                  </a:lnTo>
                  <a:lnTo>
                    <a:pt x="1016" y="1015"/>
                  </a:lnTo>
                  <a:close/>
                </a:path>
              </a:pathLst>
            </a:custGeom>
            <a:ln w="3175">
              <a:solidFill>
                <a:srgbClr val="9BD3F0"/>
              </a:solidFill>
            </a:ln>
          </p:spPr>
          <p:txBody>
            <a:bodyPr wrap="square" lIns="0" tIns="0" rIns="0" bIns="0" rtlCol="0"/>
            <a:lstStyle/>
            <a:p/>
          </p:txBody>
        </p:sp>
        <p:sp>
          <p:nvSpPr>
            <p:cNvPr id="303" name="object 303" descr=""/>
            <p:cNvSpPr/>
            <p:nvPr/>
          </p:nvSpPr>
          <p:spPr>
            <a:xfrm>
              <a:off x="1938858" y="3816438"/>
              <a:ext cx="27940" cy="45085"/>
            </a:xfrm>
            <a:custGeom>
              <a:avLst/>
              <a:gdLst/>
              <a:ahLst/>
              <a:cxnLst/>
              <a:rect l="l" t="t" r="r" b="b"/>
              <a:pathLst>
                <a:path w="27939" h="45085">
                  <a:moveTo>
                    <a:pt x="27393" y="0"/>
                  </a:moveTo>
                  <a:lnTo>
                    <a:pt x="0" y="0"/>
                  </a:lnTo>
                  <a:lnTo>
                    <a:pt x="0" y="43497"/>
                  </a:lnTo>
                  <a:lnTo>
                    <a:pt x="0" y="44513"/>
                  </a:lnTo>
                  <a:lnTo>
                    <a:pt x="27393" y="44513"/>
                  </a:lnTo>
                  <a:lnTo>
                    <a:pt x="27393" y="43497"/>
                  </a:lnTo>
                  <a:lnTo>
                    <a:pt x="27393" y="43319"/>
                  </a:lnTo>
                  <a:lnTo>
                    <a:pt x="27393" y="1193"/>
                  </a:lnTo>
                  <a:lnTo>
                    <a:pt x="27393" y="0"/>
                  </a:lnTo>
                  <a:close/>
                </a:path>
              </a:pathLst>
            </a:custGeom>
            <a:solidFill>
              <a:srgbClr val="7FA6C8"/>
            </a:solidFill>
          </p:spPr>
          <p:txBody>
            <a:bodyPr wrap="square" lIns="0" tIns="0" rIns="0" bIns="0" rtlCol="0"/>
            <a:lstStyle/>
            <a:p/>
          </p:txBody>
        </p:sp>
        <p:sp>
          <p:nvSpPr>
            <p:cNvPr id="304" name="object 304" descr=""/>
            <p:cNvSpPr/>
            <p:nvPr/>
          </p:nvSpPr>
          <p:spPr>
            <a:xfrm>
              <a:off x="1938858" y="3816438"/>
              <a:ext cx="27940" cy="45085"/>
            </a:xfrm>
            <a:custGeom>
              <a:avLst/>
              <a:gdLst/>
              <a:ahLst/>
              <a:cxnLst/>
              <a:rect l="l" t="t" r="r" b="b"/>
              <a:pathLst>
                <a:path w="27939" h="45085">
                  <a:moveTo>
                    <a:pt x="0" y="0"/>
                  </a:moveTo>
                  <a:lnTo>
                    <a:pt x="27393" y="0"/>
                  </a:lnTo>
                  <a:lnTo>
                    <a:pt x="27393" y="44500"/>
                  </a:lnTo>
                  <a:lnTo>
                    <a:pt x="0" y="44500"/>
                  </a:lnTo>
                  <a:lnTo>
                    <a:pt x="0" y="0"/>
                  </a:lnTo>
                  <a:close/>
                </a:path>
                <a:path w="27939" h="45085">
                  <a:moveTo>
                    <a:pt x="1016" y="1015"/>
                  </a:moveTo>
                  <a:lnTo>
                    <a:pt x="26390" y="1015"/>
                  </a:lnTo>
                  <a:lnTo>
                    <a:pt x="26390" y="43497"/>
                  </a:lnTo>
                  <a:lnTo>
                    <a:pt x="1016" y="43497"/>
                  </a:lnTo>
                  <a:lnTo>
                    <a:pt x="1016" y="1015"/>
                  </a:lnTo>
                  <a:close/>
                </a:path>
              </a:pathLst>
            </a:custGeom>
            <a:ln w="3175">
              <a:solidFill>
                <a:srgbClr val="9BD3F0"/>
              </a:solidFill>
            </a:ln>
          </p:spPr>
          <p:txBody>
            <a:bodyPr wrap="square" lIns="0" tIns="0" rIns="0" bIns="0" rtlCol="0"/>
            <a:lstStyle/>
            <a:p/>
          </p:txBody>
        </p:sp>
        <p:sp>
          <p:nvSpPr>
            <p:cNvPr id="305" name="object 305" descr=""/>
            <p:cNvSpPr/>
            <p:nvPr/>
          </p:nvSpPr>
          <p:spPr>
            <a:xfrm>
              <a:off x="1775472" y="3890276"/>
              <a:ext cx="28575" cy="45720"/>
            </a:xfrm>
            <a:custGeom>
              <a:avLst/>
              <a:gdLst/>
              <a:ahLst/>
              <a:cxnLst/>
              <a:rect l="l" t="t" r="r" b="b"/>
              <a:pathLst>
                <a:path w="28575" h="45720">
                  <a:moveTo>
                    <a:pt x="28397" y="0"/>
                  </a:moveTo>
                  <a:lnTo>
                    <a:pt x="0" y="0"/>
                  </a:lnTo>
                  <a:lnTo>
                    <a:pt x="0" y="1016"/>
                  </a:lnTo>
                  <a:lnTo>
                    <a:pt x="0" y="44500"/>
                  </a:lnTo>
                  <a:lnTo>
                    <a:pt x="0" y="45516"/>
                  </a:lnTo>
                  <a:lnTo>
                    <a:pt x="28397" y="45516"/>
                  </a:lnTo>
                  <a:lnTo>
                    <a:pt x="28397" y="44234"/>
                  </a:lnTo>
                  <a:lnTo>
                    <a:pt x="28397" y="1270"/>
                  </a:lnTo>
                  <a:lnTo>
                    <a:pt x="28397" y="0"/>
                  </a:lnTo>
                  <a:close/>
                </a:path>
              </a:pathLst>
            </a:custGeom>
            <a:solidFill>
              <a:srgbClr val="7FA6C8"/>
            </a:solidFill>
          </p:spPr>
          <p:txBody>
            <a:bodyPr wrap="square" lIns="0" tIns="0" rIns="0" bIns="0" rtlCol="0"/>
            <a:lstStyle/>
            <a:p/>
          </p:txBody>
        </p:sp>
        <p:sp>
          <p:nvSpPr>
            <p:cNvPr id="306" name="object 306" descr=""/>
            <p:cNvSpPr/>
            <p:nvPr/>
          </p:nvSpPr>
          <p:spPr>
            <a:xfrm>
              <a:off x="1775472" y="3890276"/>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6" y="2019"/>
                  </a:moveTo>
                  <a:lnTo>
                    <a:pt x="26390" y="2019"/>
                  </a:lnTo>
                  <a:lnTo>
                    <a:pt x="26390" y="43484"/>
                  </a:lnTo>
                  <a:lnTo>
                    <a:pt x="1016" y="43484"/>
                  </a:lnTo>
                  <a:lnTo>
                    <a:pt x="1016" y="2019"/>
                  </a:lnTo>
                  <a:close/>
                </a:path>
              </a:pathLst>
            </a:custGeom>
            <a:ln w="3175">
              <a:solidFill>
                <a:srgbClr val="9BD3F0"/>
              </a:solidFill>
            </a:ln>
          </p:spPr>
          <p:txBody>
            <a:bodyPr wrap="square" lIns="0" tIns="0" rIns="0" bIns="0" rtlCol="0"/>
            <a:lstStyle/>
            <a:p/>
          </p:txBody>
        </p:sp>
        <p:sp>
          <p:nvSpPr>
            <p:cNvPr id="307" name="object 307" descr=""/>
            <p:cNvSpPr/>
            <p:nvPr/>
          </p:nvSpPr>
          <p:spPr>
            <a:xfrm>
              <a:off x="1815046" y="3890276"/>
              <a:ext cx="28575" cy="45720"/>
            </a:xfrm>
            <a:custGeom>
              <a:avLst/>
              <a:gdLst/>
              <a:ahLst/>
              <a:cxnLst/>
              <a:rect l="l" t="t" r="r" b="b"/>
              <a:pathLst>
                <a:path w="28575" h="45720">
                  <a:moveTo>
                    <a:pt x="28409" y="0"/>
                  </a:moveTo>
                  <a:lnTo>
                    <a:pt x="0" y="0"/>
                  </a:lnTo>
                  <a:lnTo>
                    <a:pt x="0" y="45516"/>
                  </a:lnTo>
                  <a:lnTo>
                    <a:pt x="28409" y="45516"/>
                  </a:lnTo>
                  <a:lnTo>
                    <a:pt x="28409" y="44500"/>
                  </a:lnTo>
                  <a:lnTo>
                    <a:pt x="28409" y="44234"/>
                  </a:lnTo>
                  <a:lnTo>
                    <a:pt x="28409" y="1270"/>
                  </a:lnTo>
                  <a:lnTo>
                    <a:pt x="28409" y="1016"/>
                  </a:lnTo>
                  <a:lnTo>
                    <a:pt x="28409" y="0"/>
                  </a:lnTo>
                  <a:close/>
                </a:path>
              </a:pathLst>
            </a:custGeom>
            <a:solidFill>
              <a:srgbClr val="7FA6C8"/>
            </a:solidFill>
          </p:spPr>
          <p:txBody>
            <a:bodyPr wrap="square" lIns="0" tIns="0" rIns="0" bIns="0" rtlCol="0"/>
            <a:lstStyle/>
            <a:p/>
          </p:txBody>
        </p:sp>
        <p:sp>
          <p:nvSpPr>
            <p:cNvPr id="308" name="object 308" descr=""/>
            <p:cNvSpPr/>
            <p:nvPr/>
          </p:nvSpPr>
          <p:spPr>
            <a:xfrm>
              <a:off x="1815045" y="3890276"/>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6" y="2019"/>
                  </a:moveTo>
                  <a:lnTo>
                    <a:pt x="27406" y="2019"/>
                  </a:lnTo>
                  <a:lnTo>
                    <a:pt x="27406" y="43484"/>
                  </a:lnTo>
                  <a:lnTo>
                    <a:pt x="1016" y="43484"/>
                  </a:lnTo>
                  <a:lnTo>
                    <a:pt x="1016" y="2019"/>
                  </a:lnTo>
                  <a:close/>
                </a:path>
              </a:pathLst>
            </a:custGeom>
            <a:ln w="3175">
              <a:solidFill>
                <a:srgbClr val="9BD3F0"/>
              </a:solidFill>
            </a:ln>
          </p:spPr>
          <p:txBody>
            <a:bodyPr wrap="square" lIns="0" tIns="0" rIns="0" bIns="0" rtlCol="0"/>
            <a:lstStyle/>
            <a:p/>
          </p:txBody>
        </p:sp>
        <p:sp>
          <p:nvSpPr>
            <p:cNvPr id="309" name="object 309" descr=""/>
            <p:cNvSpPr/>
            <p:nvPr/>
          </p:nvSpPr>
          <p:spPr>
            <a:xfrm>
              <a:off x="1855647" y="3890276"/>
              <a:ext cx="28575" cy="45720"/>
            </a:xfrm>
            <a:custGeom>
              <a:avLst/>
              <a:gdLst/>
              <a:ahLst/>
              <a:cxnLst/>
              <a:rect l="l" t="t" r="r" b="b"/>
              <a:pathLst>
                <a:path w="28575" h="45720">
                  <a:moveTo>
                    <a:pt x="28409" y="0"/>
                  </a:moveTo>
                  <a:lnTo>
                    <a:pt x="0" y="0"/>
                  </a:lnTo>
                  <a:lnTo>
                    <a:pt x="0" y="1016"/>
                  </a:lnTo>
                  <a:lnTo>
                    <a:pt x="0" y="44500"/>
                  </a:lnTo>
                  <a:lnTo>
                    <a:pt x="0" y="45516"/>
                  </a:lnTo>
                  <a:lnTo>
                    <a:pt x="28409" y="45516"/>
                  </a:lnTo>
                  <a:lnTo>
                    <a:pt x="28409" y="44234"/>
                  </a:lnTo>
                  <a:lnTo>
                    <a:pt x="28409" y="1270"/>
                  </a:lnTo>
                  <a:lnTo>
                    <a:pt x="28409" y="0"/>
                  </a:lnTo>
                  <a:close/>
                </a:path>
              </a:pathLst>
            </a:custGeom>
            <a:solidFill>
              <a:srgbClr val="7FA6C8"/>
            </a:solidFill>
          </p:spPr>
          <p:txBody>
            <a:bodyPr wrap="square" lIns="0" tIns="0" rIns="0" bIns="0" rtlCol="0"/>
            <a:lstStyle/>
            <a:p/>
          </p:txBody>
        </p:sp>
        <p:sp>
          <p:nvSpPr>
            <p:cNvPr id="310" name="object 310" descr=""/>
            <p:cNvSpPr/>
            <p:nvPr/>
          </p:nvSpPr>
          <p:spPr>
            <a:xfrm>
              <a:off x="1855647" y="3890276"/>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5" y="2019"/>
                  </a:moveTo>
                  <a:lnTo>
                    <a:pt x="26390" y="2019"/>
                  </a:lnTo>
                  <a:lnTo>
                    <a:pt x="26390" y="43484"/>
                  </a:lnTo>
                  <a:lnTo>
                    <a:pt x="1015" y="43484"/>
                  </a:lnTo>
                  <a:lnTo>
                    <a:pt x="1015" y="2019"/>
                  </a:lnTo>
                  <a:close/>
                </a:path>
              </a:pathLst>
            </a:custGeom>
            <a:ln w="3175">
              <a:solidFill>
                <a:srgbClr val="9BD3F0"/>
              </a:solidFill>
            </a:ln>
          </p:spPr>
          <p:txBody>
            <a:bodyPr wrap="square" lIns="0" tIns="0" rIns="0" bIns="0" rtlCol="0"/>
            <a:lstStyle/>
            <a:p/>
          </p:txBody>
        </p:sp>
        <p:sp>
          <p:nvSpPr>
            <p:cNvPr id="311" name="object 311" descr=""/>
            <p:cNvSpPr/>
            <p:nvPr/>
          </p:nvSpPr>
          <p:spPr>
            <a:xfrm>
              <a:off x="1895221" y="3890276"/>
              <a:ext cx="28575" cy="45720"/>
            </a:xfrm>
            <a:custGeom>
              <a:avLst/>
              <a:gdLst/>
              <a:ahLst/>
              <a:cxnLst/>
              <a:rect l="l" t="t" r="r" b="b"/>
              <a:pathLst>
                <a:path w="28575" h="45720">
                  <a:moveTo>
                    <a:pt x="28409" y="1016"/>
                  </a:moveTo>
                  <a:lnTo>
                    <a:pt x="28397" y="0"/>
                  </a:lnTo>
                  <a:lnTo>
                    <a:pt x="0" y="0"/>
                  </a:lnTo>
                  <a:lnTo>
                    <a:pt x="0" y="45516"/>
                  </a:lnTo>
                  <a:lnTo>
                    <a:pt x="28397" y="45516"/>
                  </a:lnTo>
                  <a:lnTo>
                    <a:pt x="28397" y="44500"/>
                  </a:lnTo>
                  <a:lnTo>
                    <a:pt x="28409" y="1016"/>
                  </a:lnTo>
                  <a:close/>
                </a:path>
              </a:pathLst>
            </a:custGeom>
            <a:solidFill>
              <a:srgbClr val="7FA6C8"/>
            </a:solidFill>
          </p:spPr>
          <p:txBody>
            <a:bodyPr wrap="square" lIns="0" tIns="0" rIns="0" bIns="0" rtlCol="0"/>
            <a:lstStyle/>
            <a:p/>
          </p:txBody>
        </p:sp>
        <p:sp>
          <p:nvSpPr>
            <p:cNvPr id="312" name="object 312" descr=""/>
            <p:cNvSpPr/>
            <p:nvPr/>
          </p:nvSpPr>
          <p:spPr>
            <a:xfrm>
              <a:off x="1895220" y="3890276"/>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6" y="2019"/>
                  </a:moveTo>
                  <a:lnTo>
                    <a:pt x="27406" y="2019"/>
                  </a:lnTo>
                  <a:lnTo>
                    <a:pt x="27406" y="43484"/>
                  </a:lnTo>
                  <a:lnTo>
                    <a:pt x="1016" y="43484"/>
                  </a:lnTo>
                  <a:lnTo>
                    <a:pt x="1016" y="2019"/>
                  </a:lnTo>
                  <a:close/>
                </a:path>
              </a:pathLst>
            </a:custGeom>
            <a:ln w="3175">
              <a:solidFill>
                <a:srgbClr val="9BD3F0"/>
              </a:solidFill>
            </a:ln>
          </p:spPr>
          <p:txBody>
            <a:bodyPr wrap="square" lIns="0" tIns="0" rIns="0" bIns="0" rtlCol="0"/>
            <a:lstStyle/>
            <a:p/>
          </p:txBody>
        </p:sp>
        <p:sp>
          <p:nvSpPr>
            <p:cNvPr id="313" name="object 313" descr=""/>
            <p:cNvSpPr/>
            <p:nvPr/>
          </p:nvSpPr>
          <p:spPr>
            <a:xfrm>
              <a:off x="1938858" y="3890276"/>
              <a:ext cx="27940" cy="45720"/>
            </a:xfrm>
            <a:custGeom>
              <a:avLst/>
              <a:gdLst/>
              <a:ahLst/>
              <a:cxnLst/>
              <a:rect l="l" t="t" r="r" b="b"/>
              <a:pathLst>
                <a:path w="27939" h="45720">
                  <a:moveTo>
                    <a:pt x="27393" y="0"/>
                  </a:moveTo>
                  <a:lnTo>
                    <a:pt x="0" y="0"/>
                  </a:lnTo>
                  <a:lnTo>
                    <a:pt x="0" y="1016"/>
                  </a:lnTo>
                  <a:lnTo>
                    <a:pt x="0" y="44500"/>
                  </a:lnTo>
                  <a:lnTo>
                    <a:pt x="0" y="45516"/>
                  </a:lnTo>
                  <a:lnTo>
                    <a:pt x="27393" y="45516"/>
                  </a:lnTo>
                  <a:lnTo>
                    <a:pt x="27393" y="44500"/>
                  </a:lnTo>
                  <a:lnTo>
                    <a:pt x="27393" y="44234"/>
                  </a:lnTo>
                  <a:lnTo>
                    <a:pt x="27393" y="1270"/>
                  </a:lnTo>
                  <a:lnTo>
                    <a:pt x="27393" y="1016"/>
                  </a:lnTo>
                  <a:lnTo>
                    <a:pt x="27393" y="0"/>
                  </a:lnTo>
                  <a:close/>
                </a:path>
              </a:pathLst>
            </a:custGeom>
            <a:solidFill>
              <a:srgbClr val="7FA6C8"/>
            </a:solidFill>
          </p:spPr>
          <p:txBody>
            <a:bodyPr wrap="square" lIns="0" tIns="0" rIns="0" bIns="0" rtlCol="0"/>
            <a:lstStyle/>
            <a:p/>
          </p:txBody>
        </p:sp>
        <p:sp>
          <p:nvSpPr>
            <p:cNvPr id="314" name="object 314" descr=""/>
            <p:cNvSpPr/>
            <p:nvPr/>
          </p:nvSpPr>
          <p:spPr>
            <a:xfrm>
              <a:off x="1938858" y="3890276"/>
              <a:ext cx="27940" cy="45720"/>
            </a:xfrm>
            <a:custGeom>
              <a:avLst/>
              <a:gdLst/>
              <a:ahLst/>
              <a:cxnLst/>
              <a:rect l="l" t="t" r="r" b="b"/>
              <a:pathLst>
                <a:path w="27939" h="45720">
                  <a:moveTo>
                    <a:pt x="0" y="0"/>
                  </a:moveTo>
                  <a:lnTo>
                    <a:pt x="27393" y="0"/>
                  </a:lnTo>
                  <a:lnTo>
                    <a:pt x="27393" y="45516"/>
                  </a:lnTo>
                  <a:lnTo>
                    <a:pt x="0" y="45516"/>
                  </a:lnTo>
                  <a:lnTo>
                    <a:pt x="0" y="0"/>
                  </a:lnTo>
                  <a:close/>
                </a:path>
                <a:path w="27939" h="45720">
                  <a:moveTo>
                    <a:pt x="1016" y="2019"/>
                  </a:moveTo>
                  <a:lnTo>
                    <a:pt x="26390" y="2019"/>
                  </a:lnTo>
                  <a:lnTo>
                    <a:pt x="26390" y="43484"/>
                  </a:lnTo>
                  <a:lnTo>
                    <a:pt x="1016" y="43484"/>
                  </a:lnTo>
                  <a:lnTo>
                    <a:pt x="1016" y="2019"/>
                  </a:lnTo>
                  <a:close/>
                </a:path>
              </a:pathLst>
            </a:custGeom>
            <a:ln w="3175">
              <a:solidFill>
                <a:srgbClr val="9BD3F0"/>
              </a:solidFill>
            </a:ln>
          </p:spPr>
          <p:txBody>
            <a:bodyPr wrap="square" lIns="0" tIns="0" rIns="0" bIns="0" rtlCol="0"/>
            <a:lstStyle/>
            <a:p/>
          </p:txBody>
        </p:sp>
        <p:sp>
          <p:nvSpPr>
            <p:cNvPr id="315" name="object 315" descr=""/>
            <p:cNvSpPr/>
            <p:nvPr/>
          </p:nvSpPr>
          <p:spPr>
            <a:xfrm>
              <a:off x="1775472" y="3965117"/>
              <a:ext cx="28575" cy="45085"/>
            </a:xfrm>
            <a:custGeom>
              <a:avLst/>
              <a:gdLst/>
              <a:ahLst/>
              <a:cxnLst/>
              <a:rect l="l" t="t" r="r" b="b"/>
              <a:pathLst>
                <a:path w="28575" h="45085">
                  <a:moveTo>
                    <a:pt x="28397" y="0"/>
                  </a:moveTo>
                  <a:lnTo>
                    <a:pt x="0" y="0"/>
                  </a:lnTo>
                  <a:lnTo>
                    <a:pt x="0" y="1016"/>
                  </a:lnTo>
                  <a:lnTo>
                    <a:pt x="0" y="44500"/>
                  </a:lnTo>
                  <a:lnTo>
                    <a:pt x="27393" y="44500"/>
                  </a:lnTo>
                  <a:lnTo>
                    <a:pt x="28397" y="44500"/>
                  </a:lnTo>
                  <a:lnTo>
                    <a:pt x="28397" y="43256"/>
                  </a:lnTo>
                  <a:lnTo>
                    <a:pt x="28397" y="1193"/>
                  </a:lnTo>
                  <a:lnTo>
                    <a:pt x="28397" y="0"/>
                  </a:lnTo>
                  <a:close/>
                </a:path>
              </a:pathLst>
            </a:custGeom>
            <a:solidFill>
              <a:srgbClr val="7FA6C8"/>
            </a:solidFill>
          </p:spPr>
          <p:txBody>
            <a:bodyPr wrap="square" lIns="0" tIns="0" rIns="0" bIns="0" rtlCol="0"/>
            <a:lstStyle/>
            <a:p/>
          </p:txBody>
        </p:sp>
        <p:sp>
          <p:nvSpPr>
            <p:cNvPr id="316" name="object 316" descr=""/>
            <p:cNvSpPr/>
            <p:nvPr/>
          </p:nvSpPr>
          <p:spPr>
            <a:xfrm>
              <a:off x="1775472" y="396511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6390" y="1015"/>
                  </a:lnTo>
                  <a:lnTo>
                    <a:pt x="26390" y="43497"/>
                  </a:lnTo>
                  <a:lnTo>
                    <a:pt x="1016" y="43497"/>
                  </a:lnTo>
                  <a:lnTo>
                    <a:pt x="1016" y="1015"/>
                  </a:lnTo>
                  <a:close/>
                </a:path>
              </a:pathLst>
            </a:custGeom>
            <a:ln w="3175">
              <a:solidFill>
                <a:srgbClr val="9BD3F0"/>
              </a:solidFill>
            </a:ln>
          </p:spPr>
          <p:txBody>
            <a:bodyPr wrap="square" lIns="0" tIns="0" rIns="0" bIns="0" rtlCol="0"/>
            <a:lstStyle/>
            <a:p/>
          </p:txBody>
        </p:sp>
        <p:sp>
          <p:nvSpPr>
            <p:cNvPr id="317" name="object 317" descr=""/>
            <p:cNvSpPr/>
            <p:nvPr/>
          </p:nvSpPr>
          <p:spPr>
            <a:xfrm>
              <a:off x="1815046" y="3965117"/>
              <a:ext cx="28575" cy="45085"/>
            </a:xfrm>
            <a:custGeom>
              <a:avLst/>
              <a:gdLst/>
              <a:ahLst/>
              <a:cxnLst/>
              <a:rect l="l" t="t" r="r" b="b"/>
              <a:pathLst>
                <a:path w="28575" h="45085">
                  <a:moveTo>
                    <a:pt x="28409" y="0"/>
                  </a:moveTo>
                  <a:lnTo>
                    <a:pt x="0" y="0"/>
                  </a:lnTo>
                  <a:lnTo>
                    <a:pt x="0" y="44500"/>
                  </a:lnTo>
                  <a:lnTo>
                    <a:pt x="1016" y="44500"/>
                  </a:lnTo>
                  <a:lnTo>
                    <a:pt x="28409" y="44500"/>
                  </a:lnTo>
                  <a:lnTo>
                    <a:pt x="28409" y="43256"/>
                  </a:lnTo>
                  <a:lnTo>
                    <a:pt x="28409" y="1193"/>
                  </a:lnTo>
                  <a:lnTo>
                    <a:pt x="28409" y="1016"/>
                  </a:lnTo>
                  <a:lnTo>
                    <a:pt x="28409" y="0"/>
                  </a:lnTo>
                  <a:close/>
                </a:path>
              </a:pathLst>
            </a:custGeom>
            <a:solidFill>
              <a:srgbClr val="7FA6C8"/>
            </a:solidFill>
          </p:spPr>
          <p:txBody>
            <a:bodyPr wrap="square" lIns="0" tIns="0" rIns="0" bIns="0" rtlCol="0"/>
            <a:lstStyle/>
            <a:p/>
          </p:txBody>
        </p:sp>
        <p:sp>
          <p:nvSpPr>
            <p:cNvPr id="318" name="object 318" descr=""/>
            <p:cNvSpPr/>
            <p:nvPr/>
          </p:nvSpPr>
          <p:spPr>
            <a:xfrm>
              <a:off x="1815045" y="396511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7406" y="1015"/>
                  </a:lnTo>
                  <a:lnTo>
                    <a:pt x="27406" y="43497"/>
                  </a:lnTo>
                  <a:lnTo>
                    <a:pt x="1016" y="43497"/>
                  </a:lnTo>
                  <a:lnTo>
                    <a:pt x="1016" y="1015"/>
                  </a:lnTo>
                  <a:close/>
                </a:path>
              </a:pathLst>
            </a:custGeom>
            <a:ln w="3175">
              <a:solidFill>
                <a:srgbClr val="9BD3F0"/>
              </a:solidFill>
            </a:ln>
          </p:spPr>
          <p:txBody>
            <a:bodyPr wrap="square" lIns="0" tIns="0" rIns="0" bIns="0" rtlCol="0"/>
            <a:lstStyle/>
            <a:p/>
          </p:txBody>
        </p:sp>
        <p:sp>
          <p:nvSpPr>
            <p:cNvPr id="319" name="object 319" descr=""/>
            <p:cNvSpPr/>
            <p:nvPr/>
          </p:nvSpPr>
          <p:spPr>
            <a:xfrm>
              <a:off x="1855647" y="3965117"/>
              <a:ext cx="28575" cy="45085"/>
            </a:xfrm>
            <a:custGeom>
              <a:avLst/>
              <a:gdLst/>
              <a:ahLst/>
              <a:cxnLst/>
              <a:rect l="l" t="t" r="r" b="b"/>
              <a:pathLst>
                <a:path w="28575" h="45085">
                  <a:moveTo>
                    <a:pt x="28409" y="0"/>
                  </a:moveTo>
                  <a:lnTo>
                    <a:pt x="0" y="0"/>
                  </a:lnTo>
                  <a:lnTo>
                    <a:pt x="0" y="1016"/>
                  </a:lnTo>
                  <a:lnTo>
                    <a:pt x="0" y="44500"/>
                  </a:lnTo>
                  <a:lnTo>
                    <a:pt x="27393" y="44500"/>
                  </a:lnTo>
                  <a:lnTo>
                    <a:pt x="28409" y="44500"/>
                  </a:lnTo>
                  <a:lnTo>
                    <a:pt x="28409" y="43256"/>
                  </a:lnTo>
                  <a:lnTo>
                    <a:pt x="28409" y="1193"/>
                  </a:lnTo>
                  <a:lnTo>
                    <a:pt x="28409" y="0"/>
                  </a:lnTo>
                  <a:close/>
                </a:path>
              </a:pathLst>
            </a:custGeom>
            <a:solidFill>
              <a:srgbClr val="7FA6C8"/>
            </a:solidFill>
          </p:spPr>
          <p:txBody>
            <a:bodyPr wrap="square" lIns="0" tIns="0" rIns="0" bIns="0" rtlCol="0"/>
            <a:lstStyle/>
            <a:p/>
          </p:txBody>
        </p:sp>
        <p:sp>
          <p:nvSpPr>
            <p:cNvPr id="320" name="object 320" descr=""/>
            <p:cNvSpPr/>
            <p:nvPr/>
          </p:nvSpPr>
          <p:spPr>
            <a:xfrm>
              <a:off x="1855647" y="396511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6390" y="1015"/>
                  </a:lnTo>
                  <a:lnTo>
                    <a:pt x="26390" y="43497"/>
                  </a:lnTo>
                  <a:lnTo>
                    <a:pt x="1015" y="43497"/>
                  </a:lnTo>
                  <a:lnTo>
                    <a:pt x="1015" y="1015"/>
                  </a:lnTo>
                  <a:close/>
                </a:path>
              </a:pathLst>
            </a:custGeom>
            <a:ln w="3175">
              <a:solidFill>
                <a:srgbClr val="9BD3F0"/>
              </a:solidFill>
            </a:ln>
          </p:spPr>
          <p:txBody>
            <a:bodyPr wrap="square" lIns="0" tIns="0" rIns="0" bIns="0" rtlCol="0"/>
            <a:lstStyle/>
            <a:p/>
          </p:txBody>
        </p:sp>
        <p:sp>
          <p:nvSpPr>
            <p:cNvPr id="321" name="object 321" descr=""/>
            <p:cNvSpPr/>
            <p:nvPr/>
          </p:nvSpPr>
          <p:spPr>
            <a:xfrm>
              <a:off x="1895221" y="3965117"/>
              <a:ext cx="28575" cy="45085"/>
            </a:xfrm>
            <a:custGeom>
              <a:avLst/>
              <a:gdLst/>
              <a:ahLst/>
              <a:cxnLst/>
              <a:rect l="l" t="t" r="r" b="b"/>
              <a:pathLst>
                <a:path w="28575" h="45085">
                  <a:moveTo>
                    <a:pt x="28409" y="1016"/>
                  </a:moveTo>
                  <a:lnTo>
                    <a:pt x="28397" y="0"/>
                  </a:lnTo>
                  <a:lnTo>
                    <a:pt x="0" y="0"/>
                  </a:lnTo>
                  <a:lnTo>
                    <a:pt x="0" y="44500"/>
                  </a:lnTo>
                  <a:lnTo>
                    <a:pt x="1016" y="44500"/>
                  </a:lnTo>
                  <a:lnTo>
                    <a:pt x="28397" y="44500"/>
                  </a:lnTo>
                  <a:lnTo>
                    <a:pt x="28409" y="1016"/>
                  </a:lnTo>
                  <a:close/>
                </a:path>
              </a:pathLst>
            </a:custGeom>
            <a:solidFill>
              <a:srgbClr val="7FA6C8"/>
            </a:solidFill>
          </p:spPr>
          <p:txBody>
            <a:bodyPr wrap="square" lIns="0" tIns="0" rIns="0" bIns="0" rtlCol="0"/>
            <a:lstStyle/>
            <a:p/>
          </p:txBody>
        </p:sp>
        <p:sp>
          <p:nvSpPr>
            <p:cNvPr id="322" name="object 322" descr=""/>
            <p:cNvSpPr/>
            <p:nvPr/>
          </p:nvSpPr>
          <p:spPr>
            <a:xfrm>
              <a:off x="1895220" y="396511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7406" y="1015"/>
                  </a:lnTo>
                  <a:lnTo>
                    <a:pt x="27406" y="43497"/>
                  </a:lnTo>
                  <a:lnTo>
                    <a:pt x="1016" y="43497"/>
                  </a:lnTo>
                  <a:lnTo>
                    <a:pt x="1016" y="1015"/>
                  </a:lnTo>
                  <a:close/>
                </a:path>
              </a:pathLst>
            </a:custGeom>
            <a:ln w="3175">
              <a:solidFill>
                <a:srgbClr val="9BD3F0"/>
              </a:solidFill>
            </a:ln>
          </p:spPr>
          <p:txBody>
            <a:bodyPr wrap="square" lIns="0" tIns="0" rIns="0" bIns="0" rtlCol="0"/>
            <a:lstStyle/>
            <a:p/>
          </p:txBody>
        </p:sp>
        <p:sp>
          <p:nvSpPr>
            <p:cNvPr id="323" name="object 323" descr=""/>
            <p:cNvSpPr/>
            <p:nvPr/>
          </p:nvSpPr>
          <p:spPr>
            <a:xfrm>
              <a:off x="1938858" y="3965117"/>
              <a:ext cx="27940" cy="45085"/>
            </a:xfrm>
            <a:custGeom>
              <a:avLst/>
              <a:gdLst/>
              <a:ahLst/>
              <a:cxnLst/>
              <a:rect l="l" t="t" r="r" b="b"/>
              <a:pathLst>
                <a:path w="27939" h="45085">
                  <a:moveTo>
                    <a:pt x="27393" y="0"/>
                  </a:moveTo>
                  <a:lnTo>
                    <a:pt x="0" y="0"/>
                  </a:lnTo>
                  <a:lnTo>
                    <a:pt x="0" y="1016"/>
                  </a:lnTo>
                  <a:lnTo>
                    <a:pt x="0" y="44500"/>
                  </a:lnTo>
                  <a:lnTo>
                    <a:pt x="27393" y="44500"/>
                  </a:lnTo>
                  <a:lnTo>
                    <a:pt x="27393" y="43256"/>
                  </a:lnTo>
                  <a:lnTo>
                    <a:pt x="27393" y="1193"/>
                  </a:lnTo>
                  <a:lnTo>
                    <a:pt x="27393" y="1016"/>
                  </a:lnTo>
                  <a:lnTo>
                    <a:pt x="27393" y="0"/>
                  </a:lnTo>
                  <a:close/>
                </a:path>
              </a:pathLst>
            </a:custGeom>
            <a:solidFill>
              <a:srgbClr val="7FA6C8"/>
            </a:solidFill>
          </p:spPr>
          <p:txBody>
            <a:bodyPr wrap="square" lIns="0" tIns="0" rIns="0" bIns="0" rtlCol="0"/>
            <a:lstStyle/>
            <a:p/>
          </p:txBody>
        </p:sp>
        <p:sp>
          <p:nvSpPr>
            <p:cNvPr id="324" name="object 324" descr=""/>
            <p:cNvSpPr/>
            <p:nvPr/>
          </p:nvSpPr>
          <p:spPr>
            <a:xfrm>
              <a:off x="1938858" y="3965117"/>
              <a:ext cx="27940" cy="45085"/>
            </a:xfrm>
            <a:custGeom>
              <a:avLst/>
              <a:gdLst/>
              <a:ahLst/>
              <a:cxnLst/>
              <a:rect l="l" t="t" r="r" b="b"/>
              <a:pathLst>
                <a:path w="27939" h="45085">
                  <a:moveTo>
                    <a:pt x="0" y="0"/>
                  </a:moveTo>
                  <a:lnTo>
                    <a:pt x="27393" y="0"/>
                  </a:lnTo>
                  <a:lnTo>
                    <a:pt x="27393" y="44500"/>
                  </a:lnTo>
                  <a:lnTo>
                    <a:pt x="0" y="44500"/>
                  </a:lnTo>
                  <a:lnTo>
                    <a:pt x="0" y="0"/>
                  </a:lnTo>
                  <a:close/>
                </a:path>
                <a:path w="27939" h="45085">
                  <a:moveTo>
                    <a:pt x="1016" y="1015"/>
                  </a:moveTo>
                  <a:lnTo>
                    <a:pt x="26390" y="1015"/>
                  </a:lnTo>
                  <a:lnTo>
                    <a:pt x="26390" y="43497"/>
                  </a:lnTo>
                  <a:lnTo>
                    <a:pt x="1016" y="43497"/>
                  </a:lnTo>
                  <a:lnTo>
                    <a:pt x="1016" y="1015"/>
                  </a:lnTo>
                  <a:close/>
                </a:path>
              </a:pathLst>
            </a:custGeom>
            <a:ln w="3175">
              <a:solidFill>
                <a:srgbClr val="9BD3F0"/>
              </a:solidFill>
            </a:ln>
          </p:spPr>
          <p:txBody>
            <a:bodyPr wrap="square" lIns="0" tIns="0" rIns="0" bIns="0" rtlCol="0"/>
            <a:lstStyle/>
            <a:p/>
          </p:txBody>
        </p:sp>
        <p:sp>
          <p:nvSpPr>
            <p:cNvPr id="325" name="object 325" descr=""/>
            <p:cNvSpPr/>
            <p:nvPr/>
          </p:nvSpPr>
          <p:spPr>
            <a:xfrm>
              <a:off x="1775472" y="4039958"/>
              <a:ext cx="28575" cy="45085"/>
            </a:xfrm>
            <a:custGeom>
              <a:avLst/>
              <a:gdLst/>
              <a:ahLst/>
              <a:cxnLst/>
              <a:rect l="l" t="t" r="r" b="b"/>
              <a:pathLst>
                <a:path w="28575" h="45085">
                  <a:moveTo>
                    <a:pt x="28397" y="0"/>
                  </a:moveTo>
                  <a:lnTo>
                    <a:pt x="27393" y="0"/>
                  </a:lnTo>
                  <a:lnTo>
                    <a:pt x="0" y="0"/>
                  </a:lnTo>
                  <a:lnTo>
                    <a:pt x="0" y="43484"/>
                  </a:lnTo>
                  <a:lnTo>
                    <a:pt x="0" y="44500"/>
                  </a:lnTo>
                  <a:lnTo>
                    <a:pt x="28397" y="44500"/>
                  </a:lnTo>
                  <a:lnTo>
                    <a:pt x="28397" y="43307"/>
                  </a:lnTo>
                  <a:lnTo>
                    <a:pt x="28397" y="1181"/>
                  </a:lnTo>
                  <a:lnTo>
                    <a:pt x="28397" y="0"/>
                  </a:lnTo>
                  <a:close/>
                </a:path>
              </a:pathLst>
            </a:custGeom>
            <a:solidFill>
              <a:srgbClr val="7FA6C8"/>
            </a:solidFill>
          </p:spPr>
          <p:txBody>
            <a:bodyPr wrap="square" lIns="0" tIns="0" rIns="0" bIns="0" rtlCol="0"/>
            <a:lstStyle/>
            <a:p/>
          </p:txBody>
        </p:sp>
        <p:sp>
          <p:nvSpPr>
            <p:cNvPr id="326" name="object 326" descr=""/>
            <p:cNvSpPr/>
            <p:nvPr/>
          </p:nvSpPr>
          <p:spPr>
            <a:xfrm>
              <a:off x="1775472" y="403995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6"/>
                  </a:moveTo>
                  <a:lnTo>
                    <a:pt x="26390" y="1016"/>
                  </a:lnTo>
                  <a:lnTo>
                    <a:pt x="26390" y="43497"/>
                  </a:lnTo>
                  <a:lnTo>
                    <a:pt x="1016" y="43497"/>
                  </a:lnTo>
                  <a:lnTo>
                    <a:pt x="1016" y="1016"/>
                  </a:lnTo>
                  <a:close/>
                </a:path>
              </a:pathLst>
            </a:custGeom>
            <a:ln w="3175">
              <a:solidFill>
                <a:srgbClr val="9BD3F0"/>
              </a:solidFill>
            </a:ln>
          </p:spPr>
          <p:txBody>
            <a:bodyPr wrap="square" lIns="0" tIns="0" rIns="0" bIns="0" rtlCol="0"/>
            <a:lstStyle/>
            <a:p/>
          </p:txBody>
        </p:sp>
        <p:sp>
          <p:nvSpPr>
            <p:cNvPr id="327" name="object 327" descr=""/>
            <p:cNvSpPr/>
            <p:nvPr/>
          </p:nvSpPr>
          <p:spPr>
            <a:xfrm>
              <a:off x="1815046" y="4039958"/>
              <a:ext cx="28575" cy="45085"/>
            </a:xfrm>
            <a:custGeom>
              <a:avLst/>
              <a:gdLst/>
              <a:ahLst/>
              <a:cxnLst/>
              <a:rect l="l" t="t" r="r" b="b"/>
              <a:pathLst>
                <a:path w="28575" h="45085">
                  <a:moveTo>
                    <a:pt x="28409" y="0"/>
                  </a:moveTo>
                  <a:lnTo>
                    <a:pt x="1016" y="0"/>
                  </a:lnTo>
                  <a:lnTo>
                    <a:pt x="0" y="0"/>
                  </a:lnTo>
                  <a:lnTo>
                    <a:pt x="0" y="44500"/>
                  </a:lnTo>
                  <a:lnTo>
                    <a:pt x="28409" y="44500"/>
                  </a:lnTo>
                  <a:lnTo>
                    <a:pt x="28409" y="43484"/>
                  </a:lnTo>
                  <a:lnTo>
                    <a:pt x="28409" y="43307"/>
                  </a:lnTo>
                  <a:lnTo>
                    <a:pt x="28409" y="1181"/>
                  </a:lnTo>
                  <a:lnTo>
                    <a:pt x="28409" y="0"/>
                  </a:lnTo>
                  <a:close/>
                </a:path>
              </a:pathLst>
            </a:custGeom>
            <a:solidFill>
              <a:srgbClr val="7FA6C8"/>
            </a:solidFill>
          </p:spPr>
          <p:txBody>
            <a:bodyPr wrap="square" lIns="0" tIns="0" rIns="0" bIns="0" rtlCol="0"/>
            <a:lstStyle/>
            <a:p/>
          </p:txBody>
        </p:sp>
        <p:sp>
          <p:nvSpPr>
            <p:cNvPr id="328" name="object 328" descr=""/>
            <p:cNvSpPr/>
            <p:nvPr/>
          </p:nvSpPr>
          <p:spPr>
            <a:xfrm>
              <a:off x="1815045" y="403995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6"/>
                  </a:moveTo>
                  <a:lnTo>
                    <a:pt x="27406" y="1016"/>
                  </a:lnTo>
                  <a:lnTo>
                    <a:pt x="27406" y="43497"/>
                  </a:lnTo>
                  <a:lnTo>
                    <a:pt x="1016" y="43497"/>
                  </a:lnTo>
                  <a:lnTo>
                    <a:pt x="1016" y="1016"/>
                  </a:lnTo>
                  <a:close/>
                </a:path>
              </a:pathLst>
            </a:custGeom>
            <a:ln w="3175">
              <a:solidFill>
                <a:srgbClr val="9BD3F0"/>
              </a:solidFill>
            </a:ln>
          </p:spPr>
          <p:txBody>
            <a:bodyPr wrap="square" lIns="0" tIns="0" rIns="0" bIns="0" rtlCol="0"/>
            <a:lstStyle/>
            <a:p/>
          </p:txBody>
        </p:sp>
        <p:sp>
          <p:nvSpPr>
            <p:cNvPr id="329" name="object 329" descr=""/>
            <p:cNvSpPr/>
            <p:nvPr/>
          </p:nvSpPr>
          <p:spPr>
            <a:xfrm>
              <a:off x="1855647" y="4039958"/>
              <a:ext cx="28575" cy="45085"/>
            </a:xfrm>
            <a:custGeom>
              <a:avLst/>
              <a:gdLst/>
              <a:ahLst/>
              <a:cxnLst/>
              <a:rect l="l" t="t" r="r" b="b"/>
              <a:pathLst>
                <a:path w="28575" h="45085">
                  <a:moveTo>
                    <a:pt x="28409" y="0"/>
                  </a:moveTo>
                  <a:lnTo>
                    <a:pt x="27393" y="0"/>
                  </a:lnTo>
                  <a:lnTo>
                    <a:pt x="0" y="0"/>
                  </a:lnTo>
                  <a:lnTo>
                    <a:pt x="0" y="43484"/>
                  </a:lnTo>
                  <a:lnTo>
                    <a:pt x="0" y="44500"/>
                  </a:lnTo>
                  <a:lnTo>
                    <a:pt x="28409" y="44500"/>
                  </a:lnTo>
                  <a:lnTo>
                    <a:pt x="28409" y="43307"/>
                  </a:lnTo>
                  <a:lnTo>
                    <a:pt x="28409" y="1181"/>
                  </a:lnTo>
                  <a:lnTo>
                    <a:pt x="28409" y="0"/>
                  </a:lnTo>
                  <a:close/>
                </a:path>
              </a:pathLst>
            </a:custGeom>
            <a:solidFill>
              <a:srgbClr val="7FA6C8"/>
            </a:solidFill>
          </p:spPr>
          <p:txBody>
            <a:bodyPr wrap="square" lIns="0" tIns="0" rIns="0" bIns="0" rtlCol="0"/>
            <a:lstStyle/>
            <a:p/>
          </p:txBody>
        </p:sp>
        <p:sp>
          <p:nvSpPr>
            <p:cNvPr id="330" name="object 330" descr=""/>
            <p:cNvSpPr/>
            <p:nvPr/>
          </p:nvSpPr>
          <p:spPr>
            <a:xfrm>
              <a:off x="1855647" y="403995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6"/>
                  </a:moveTo>
                  <a:lnTo>
                    <a:pt x="26390" y="1016"/>
                  </a:lnTo>
                  <a:lnTo>
                    <a:pt x="26390" y="43497"/>
                  </a:lnTo>
                  <a:lnTo>
                    <a:pt x="1015" y="43497"/>
                  </a:lnTo>
                  <a:lnTo>
                    <a:pt x="1015" y="1016"/>
                  </a:lnTo>
                  <a:close/>
                </a:path>
              </a:pathLst>
            </a:custGeom>
            <a:ln w="3175">
              <a:solidFill>
                <a:srgbClr val="9BD3F0"/>
              </a:solidFill>
            </a:ln>
          </p:spPr>
          <p:txBody>
            <a:bodyPr wrap="square" lIns="0" tIns="0" rIns="0" bIns="0" rtlCol="0"/>
            <a:lstStyle/>
            <a:p/>
          </p:txBody>
        </p:sp>
        <p:sp>
          <p:nvSpPr>
            <p:cNvPr id="331" name="object 331" descr=""/>
            <p:cNvSpPr/>
            <p:nvPr/>
          </p:nvSpPr>
          <p:spPr>
            <a:xfrm>
              <a:off x="1895221" y="4039958"/>
              <a:ext cx="28575" cy="45085"/>
            </a:xfrm>
            <a:custGeom>
              <a:avLst/>
              <a:gdLst/>
              <a:ahLst/>
              <a:cxnLst/>
              <a:rect l="l" t="t" r="r" b="b"/>
              <a:pathLst>
                <a:path w="28575" h="45085">
                  <a:moveTo>
                    <a:pt x="28409" y="0"/>
                  </a:moveTo>
                  <a:lnTo>
                    <a:pt x="1016" y="0"/>
                  </a:lnTo>
                  <a:lnTo>
                    <a:pt x="0" y="0"/>
                  </a:lnTo>
                  <a:lnTo>
                    <a:pt x="0" y="44500"/>
                  </a:lnTo>
                  <a:lnTo>
                    <a:pt x="28397" y="44500"/>
                  </a:lnTo>
                  <a:lnTo>
                    <a:pt x="28397" y="43484"/>
                  </a:lnTo>
                  <a:lnTo>
                    <a:pt x="28409" y="0"/>
                  </a:lnTo>
                  <a:close/>
                </a:path>
              </a:pathLst>
            </a:custGeom>
            <a:solidFill>
              <a:srgbClr val="7FA6C8"/>
            </a:solidFill>
          </p:spPr>
          <p:txBody>
            <a:bodyPr wrap="square" lIns="0" tIns="0" rIns="0" bIns="0" rtlCol="0"/>
            <a:lstStyle/>
            <a:p/>
          </p:txBody>
        </p:sp>
        <p:sp>
          <p:nvSpPr>
            <p:cNvPr id="332" name="object 332" descr=""/>
            <p:cNvSpPr/>
            <p:nvPr/>
          </p:nvSpPr>
          <p:spPr>
            <a:xfrm>
              <a:off x="1895220" y="4039958"/>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6"/>
                  </a:moveTo>
                  <a:lnTo>
                    <a:pt x="27406" y="1016"/>
                  </a:lnTo>
                  <a:lnTo>
                    <a:pt x="27406" y="43497"/>
                  </a:lnTo>
                  <a:lnTo>
                    <a:pt x="1016" y="43497"/>
                  </a:lnTo>
                  <a:lnTo>
                    <a:pt x="1016" y="1016"/>
                  </a:lnTo>
                  <a:close/>
                </a:path>
              </a:pathLst>
            </a:custGeom>
            <a:ln w="3175">
              <a:solidFill>
                <a:srgbClr val="9BD3F0"/>
              </a:solidFill>
            </a:ln>
          </p:spPr>
          <p:txBody>
            <a:bodyPr wrap="square" lIns="0" tIns="0" rIns="0" bIns="0" rtlCol="0"/>
            <a:lstStyle/>
            <a:p/>
          </p:txBody>
        </p:sp>
        <p:sp>
          <p:nvSpPr>
            <p:cNvPr id="333" name="object 333" descr=""/>
            <p:cNvSpPr/>
            <p:nvPr/>
          </p:nvSpPr>
          <p:spPr>
            <a:xfrm>
              <a:off x="1938858" y="4039958"/>
              <a:ext cx="27940" cy="45085"/>
            </a:xfrm>
            <a:custGeom>
              <a:avLst/>
              <a:gdLst/>
              <a:ahLst/>
              <a:cxnLst/>
              <a:rect l="l" t="t" r="r" b="b"/>
              <a:pathLst>
                <a:path w="27939" h="45085">
                  <a:moveTo>
                    <a:pt x="27393" y="0"/>
                  </a:moveTo>
                  <a:lnTo>
                    <a:pt x="0" y="0"/>
                  </a:lnTo>
                  <a:lnTo>
                    <a:pt x="0" y="43484"/>
                  </a:lnTo>
                  <a:lnTo>
                    <a:pt x="0" y="44500"/>
                  </a:lnTo>
                  <a:lnTo>
                    <a:pt x="27393" y="44500"/>
                  </a:lnTo>
                  <a:lnTo>
                    <a:pt x="27393" y="43484"/>
                  </a:lnTo>
                  <a:lnTo>
                    <a:pt x="27393" y="43307"/>
                  </a:lnTo>
                  <a:lnTo>
                    <a:pt x="27393" y="1181"/>
                  </a:lnTo>
                  <a:lnTo>
                    <a:pt x="27393" y="0"/>
                  </a:lnTo>
                  <a:close/>
                </a:path>
              </a:pathLst>
            </a:custGeom>
            <a:solidFill>
              <a:srgbClr val="7FA6C8"/>
            </a:solidFill>
          </p:spPr>
          <p:txBody>
            <a:bodyPr wrap="square" lIns="0" tIns="0" rIns="0" bIns="0" rtlCol="0"/>
            <a:lstStyle/>
            <a:p/>
          </p:txBody>
        </p:sp>
        <p:sp>
          <p:nvSpPr>
            <p:cNvPr id="334" name="object 334" descr=""/>
            <p:cNvSpPr/>
            <p:nvPr/>
          </p:nvSpPr>
          <p:spPr>
            <a:xfrm>
              <a:off x="1938858" y="4039958"/>
              <a:ext cx="27940" cy="45085"/>
            </a:xfrm>
            <a:custGeom>
              <a:avLst/>
              <a:gdLst/>
              <a:ahLst/>
              <a:cxnLst/>
              <a:rect l="l" t="t" r="r" b="b"/>
              <a:pathLst>
                <a:path w="27939" h="45085">
                  <a:moveTo>
                    <a:pt x="0" y="0"/>
                  </a:moveTo>
                  <a:lnTo>
                    <a:pt x="27393" y="0"/>
                  </a:lnTo>
                  <a:lnTo>
                    <a:pt x="27393" y="44500"/>
                  </a:lnTo>
                  <a:lnTo>
                    <a:pt x="0" y="44500"/>
                  </a:lnTo>
                  <a:lnTo>
                    <a:pt x="0" y="0"/>
                  </a:lnTo>
                  <a:close/>
                </a:path>
                <a:path w="27939" h="45085">
                  <a:moveTo>
                    <a:pt x="1016" y="1016"/>
                  </a:moveTo>
                  <a:lnTo>
                    <a:pt x="26390" y="1016"/>
                  </a:lnTo>
                  <a:lnTo>
                    <a:pt x="26390" y="43497"/>
                  </a:lnTo>
                  <a:lnTo>
                    <a:pt x="1016" y="43497"/>
                  </a:lnTo>
                  <a:lnTo>
                    <a:pt x="1016" y="1016"/>
                  </a:lnTo>
                  <a:close/>
                </a:path>
              </a:pathLst>
            </a:custGeom>
            <a:ln w="3175">
              <a:solidFill>
                <a:srgbClr val="9BD3F0"/>
              </a:solidFill>
            </a:ln>
          </p:spPr>
          <p:txBody>
            <a:bodyPr wrap="square" lIns="0" tIns="0" rIns="0" bIns="0" rtlCol="0"/>
            <a:lstStyle/>
            <a:p/>
          </p:txBody>
        </p:sp>
        <p:sp>
          <p:nvSpPr>
            <p:cNvPr id="335" name="object 335" descr=""/>
            <p:cNvSpPr/>
            <p:nvPr/>
          </p:nvSpPr>
          <p:spPr>
            <a:xfrm>
              <a:off x="1775472" y="4113783"/>
              <a:ext cx="28575" cy="45085"/>
            </a:xfrm>
            <a:custGeom>
              <a:avLst/>
              <a:gdLst/>
              <a:ahLst/>
              <a:cxnLst/>
              <a:rect l="l" t="t" r="r" b="b"/>
              <a:pathLst>
                <a:path w="28575" h="45085">
                  <a:moveTo>
                    <a:pt x="28397" y="0"/>
                  </a:moveTo>
                  <a:lnTo>
                    <a:pt x="0" y="0"/>
                  </a:lnTo>
                  <a:lnTo>
                    <a:pt x="0" y="1016"/>
                  </a:lnTo>
                  <a:lnTo>
                    <a:pt x="0" y="44500"/>
                  </a:lnTo>
                  <a:lnTo>
                    <a:pt x="27393" y="44500"/>
                  </a:lnTo>
                  <a:lnTo>
                    <a:pt x="28397" y="44500"/>
                  </a:lnTo>
                  <a:lnTo>
                    <a:pt x="28397" y="43256"/>
                  </a:lnTo>
                  <a:lnTo>
                    <a:pt x="28397" y="1193"/>
                  </a:lnTo>
                  <a:lnTo>
                    <a:pt x="28397" y="0"/>
                  </a:lnTo>
                  <a:close/>
                </a:path>
              </a:pathLst>
            </a:custGeom>
            <a:solidFill>
              <a:srgbClr val="7FA6C8"/>
            </a:solidFill>
          </p:spPr>
          <p:txBody>
            <a:bodyPr wrap="square" lIns="0" tIns="0" rIns="0" bIns="0" rtlCol="0"/>
            <a:lstStyle/>
            <a:p/>
          </p:txBody>
        </p:sp>
        <p:sp>
          <p:nvSpPr>
            <p:cNvPr id="336" name="object 336" descr=""/>
            <p:cNvSpPr/>
            <p:nvPr/>
          </p:nvSpPr>
          <p:spPr>
            <a:xfrm>
              <a:off x="1775472" y="4113783"/>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2031"/>
                  </a:moveTo>
                  <a:lnTo>
                    <a:pt x="26390" y="2031"/>
                  </a:lnTo>
                  <a:lnTo>
                    <a:pt x="26390" y="43497"/>
                  </a:lnTo>
                  <a:lnTo>
                    <a:pt x="1016" y="43497"/>
                  </a:lnTo>
                  <a:lnTo>
                    <a:pt x="1016" y="2031"/>
                  </a:lnTo>
                  <a:close/>
                </a:path>
              </a:pathLst>
            </a:custGeom>
            <a:ln w="3175">
              <a:solidFill>
                <a:srgbClr val="9BD3F0"/>
              </a:solidFill>
            </a:ln>
          </p:spPr>
          <p:txBody>
            <a:bodyPr wrap="square" lIns="0" tIns="0" rIns="0" bIns="0" rtlCol="0"/>
            <a:lstStyle/>
            <a:p/>
          </p:txBody>
        </p:sp>
        <p:sp>
          <p:nvSpPr>
            <p:cNvPr id="337" name="object 337" descr=""/>
            <p:cNvSpPr/>
            <p:nvPr/>
          </p:nvSpPr>
          <p:spPr>
            <a:xfrm>
              <a:off x="1815046" y="4113783"/>
              <a:ext cx="28575" cy="45085"/>
            </a:xfrm>
            <a:custGeom>
              <a:avLst/>
              <a:gdLst/>
              <a:ahLst/>
              <a:cxnLst/>
              <a:rect l="l" t="t" r="r" b="b"/>
              <a:pathLst>
                <a:path w="28575" h="45085">
                  <a:moveTo>
                    <a:pt x="28409" y="0"/>
                  </a:moveTo>
                  <a:lnTo>
                    <a:pt x="0" y="0"/>
                  </a:lnTo>
                  <a:lnTo>
                    <a:pt x="0" y="44500"/>
                  </a:lnTo>
                  <a:lnTo>
                    <a:pt x="1016" y="44500"/>
                  </a:lnTo>
                  <a:lnTo>
                    <a:pt x="28409" y="44500"/>
                  </a:lnTo>
                  <a:lnTo>
                    <a:pt x="28409" y="43256"/>
                  </a:lnTo>
                  <a:lnTo>
                    <a:pt x="28409" y="1193"/>
                  </a:lnTo>
                  <a:lnTo>
                    <a:pt x="28409" y="1016"/>
                  </a:lnTo>
                  <a:lnTo>
                    <a:pt x="28409" y="0"/>
                  </a:lnTo>
                  <a:close/>
                </a:path>
              </a:pathLst>
            </a:custGeom>
            <a:solidFill>
              <a:srgbClr val="7FA6C8"/>
            </a:solidFill>
          </p:spPr>
          <p:txBody>
            <a:bodyPr wrap="square" lIns="0" tIns="0" rIns="0" bIns="0" rtlCol="0"/>
            <a:lstStyle/>
            <a:p/>
          </p:txBody>
        </p:sp>
        <p:sp>
          <p:nvSpPr>
            <p:cNvPr id="338" name="object 338" descr=""/>
            <p:cNvSpPr/>
            <p:nvPr/>
          </p:nvSpPr>
          <p:spPr>
            <a:xfrm>
              <a:off x="1815045" y="4113783"/>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2031"/>
                  </a:moveTo>
                  <a:lnTo>
                    <a:pt x="27406" y="2031"/>
                  </a:lnTo>
                  <a:lnTo>
                    <a:pt x="27406" y="43497"/>
                  </a:lnTo>
                  <a:lnTo>
                    <a:pt x="1016" y="43497"/>
                  </a:lnTo>
                  <a:lnTo>
                    <a:pt x="1016" y="2031"/>
                  </a:lnTo>
                  <a:close/>
                </a:path>
              </a:pathLst>
            </a:custGeom>
            <a:ln w="3175">
              <a:solidFill>
                <a:srgbClr val="9BD3F0"/>
              </a:solidFill>
            </a:ln>
          </p:spPr>
          <p:txBody>
            <a:bodyPr wrap="square" lIns="0" tIns="0" rIns="0" bIns="0" rtlCol="0"/>
            <a:lstStyle/>
            <a:p/>
          </p:txBody>
        </p:sp>
        <p:sp>
          <p:nvSpPr>
            <p:cNvPr id="339" name="object 339" descr=""/>
            <p:cNvSpPr/>
            <p:nvPr/>
          </p:nvSpPr>
          <p:spPr>
            <a:xfrm>
              <a:off x="1855647" y="4113783"/>
              <a:ext cx="28575" cy="45085"/>
            </a:xfrm>
            <a:custGeom>
              <a:avLst/>
              <a:gdLst/>
              <a:ahLst/>
              <a:cxnLst/>
              <a:rect l="l" t="t" r="r" b="b"/>
              <a:pathLst>
                <a:path w="28575" h="45085">
                  <a:moveTo>
                    <a:pt x="28409" y="0"/>
                  </a:moveTo>
                  <a:lnTo>
                    <a:pt x="0" y="0"/>
                  </a:lnTo>
                  <a:lnTo>
                    <a:pt x="0" y="1016"/>
                  </a:lnTo>
                  <a:lnTo>
                    <a:pt x="0" y="44500"/>
                  </a:lnTo>
                  <a:lnTo>
                    <a:pt x="27393" y="44500"/>
                  </a:lnTo>
                  <a:lnTo>
                    <a:pt x="28409" y="44500"/>
                  </a:lnTo>
                  <a:lnTo>
                    <a:pt x="28409" y="43256"/>
                  </a:lnTo>
                  <a:lnTo>
                    <a:pt x="28409" y="1193"/>
                  </a:lnTo>
                  <a:lnTo>
                    <a:pt x="28409" y="0"/>
                  </a:lnTo>
                  <a:close/>
                </a:path>
              </a:pathLst>
            </a:custGeom>
            <a:solidFill>
              <a:srgbClr val="7FA6C8"/>
            </a:solidFill>
          </p:spPr>
          <p:txBody>
            <a:bodyPr wrap="square" lIns="0" tIns="0" rIns="0" bIns="0" rtlCol="0"/>
            <a:lstStyle/>
            <a:p/>
          </p:txBody>
        </p:sp>
        <p:sp>
          <p:nvSpPr>
            <p:cNvPr id="340" name="object 340" descr=""/>
            <p:cNvSpPr/>
            <p:nvPr/>
          </p:nvSpPr>
          <p:spPr>
            <a:xfrm>
              <a:off x="1855647" y="4113783"/>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2031"/>
                  </a:moveTo>
                  <a:lnTo>
                    <a:pt x="26390" y="2031"/>
                  </a:lnTo>
                  <a:lnTo>
                    <a:pt x="26390" y="43497"/>
                  </a:lnTo>
                  <a:lnTo>
                    <a:pt x="1015" y="43497"/>
                  </a:lnTo>
                  <a:lnTo>
                    <a:pt x="1015" y="2031"/>
                  </a:lnTo>
                  <a:close/>
                </a:path>
              </a:pathLst>
            </a:custGeom>
            <a:ln w="3175">
              <a:solidFill>
                <a:srgbClr val="9BD3F0"/>
              </a:solidFill>
            </a:ln>
          </p:spPr>
          <p:txBody>
            <a:bodyPr wrap="square" lIns="0" tIns="0" rIns="0" bIns="0" rtlCol="0"/>
            <a:lstStyle/>
            <a:p/>
          </p:txBody>
        </p:sp>
        <p:sp>
          <p:nvSpPr>
            <p:cNvPr id="341" name="object 341" descr=""/>
            <p:cNvSpPr/>
            <p:nvPr/>
          </p:nvSpPr>
          <p:spPr>
            <a:xfrm>
              <a:off x="1895221" y="4113783"/>
              <a:ext cx="28575" cy="45085"/>
            </a:xfrm>
            <a:custGeom>
              <a:avLst/>
              <a:gdLst/>
              <a:ahLst/>
              <a:cxnLst/>
              <a:rect l="l" t="t" r="r" b="b"/>
              <a:pathLst>
                <a:path w="28575" h="45085">
                  <a:moveTo>
                    <a:pt x="28409" y="1016"/>
                  </a:moveTo>
                  <a:lnTo>
                    <a:pt x="28397" y="0"/>
                  </a:lnTo>
                  <a:lnTo>
                    <a:pt x="0" y="0"/>
                  </a:lnTo>
                  <a:lnTo>
                    <a:pt x="0" y="44500"/>
                  </a:lnTo>
                  <a:lnTo>
                    <a:pt x="1016" y="44500"/>
                  </a:lnTo>
                  <a:lnTo>
                    <a:pt x="28397" y="44500"/>
                  </a:lnTo>
                  <a:lnTo>
                    <a:pt x="28409" y="1016"/>
                  </a:lnTo>
                  <a:close/>
                </a:path>
              </a:pathLst>
            </a:custGeom>
            <a:solidFill>
              <a:srgbClr val="7FA6C8"/>
            </a:solidFill>
          </p:spPr>
          <p:txBody>
            <a:bodyPr wrap="square" lIns="0" tIns="0" rIns="0" bIns="0" rtlCol="0"/>
            <a:lstStyle/>
            <a:p/>
          </p:txBody>
        </p:sp>
        <p:sp>
          <p:nvSpPr>
            <p:cNvPr id="342" name="object 342" descr=""/>
            <p:cNvSpPr/>
            <p:nvPr/>
          </p:nvSpPr>
          <p:spPr>
            <a:xfrm>
              <a:off x="1895220" y="4113783"/>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2031"/>
                  </a:moveTo>
                  <a:lnTo>
                    <a:pt x="27406" y="2031"/>
                  </a:lnTo>
                  <a:lnTo>
                    <a:pt x="27406" y="43497"/>
                  </a:lnTo>
                  <a:lnTo>
                    <a:pt x="1016" y="43497"/>
                  </a:lnTo>
                  <a:lnTo>
                    <a:pt x="1016" y="2031"/>
                  </a:lnTo>
                  <a:close/>
                </a:path>
              </a:pathLst>
            </a:custGeom>
            <a:ln w="3175">
              <a:solidFill>
                <a:srgbClr val="9BD3F0"/>
              </a:solidFill>
            </a:ln>
          </p:spPr>
          <p:txBody>
            <a:bodyPr wrap="square" lIns="0" tIns="0" rIns="0" bIns="0" rtlCol="0"/>
            <a:lstStyle/>
            <a:p/>
          </p:txBody>
        </p:sp>
        <p:sp>
          <p:nvSpPr>
            <p:cNvPr id="343" name="object 343" descr=""/>
            <p:cNvSpPr/>
            <p:nvPr/>
          </p:nvSpPr>
          <p:spPr>
            <a:xfrm>
              <a:off x="1938858" y="4113783"/>
              <a:ext cx="27940" cy="45085"/>
            </a:xfrm>
            <a:custGeom>
              <a:avLst/>
              <a:gdLst/>
              <a:ahLst/>
              <a:cxnLst/>
              <a:rect l="l" t="t" r="r" b="b"/>
              <a:pathLst>
                <a:path w="27939" h="45085">
                  <a:moveTo>
                    <a:pt x="27393" y="0"/>
                  </a:moveTo>
                  <a:lnTo>
                    <a:pt x="0" y="0"/>
                  </a:lnTo>
                  <a:lnTo>
                    <a:pt x="0" y="1016"/>
                  </a:lnTo>
                  <a:lnTo>
                    <a:pt x="0" y="44500"/>
                  </a:lnTo>
                  <a:lnTo>
                    <a:pt x="27393" y="44500"/>
                  </a:lnTo>
                  <a:lnTo>
                    <a:pt x="27393" y="43256"/>
                  </a:lnTo>
                  <a:lnTo>
                    <a:pt x="27393" y="1193"/>
                  </a:lnTo>
                  <a:lnTo>
                    <a:pt x="27393" y="1016"/>
                  </a:lnTo>
                  <a:lnTo>
                    <a:pt x="27393" y="0"/>
                  </a:lnTo>
                  <a:close/>
                </a:path>
              </a:pathLst>
            </a:custGeom>
            <a:solidFill>
              <a:srgbClr val="7FA6C8"/>
            </a:solidFill>
          </p:spPr>
          <p:txBody>
            <a:bodyPr wrap="square" lIns="0" tIns="0" rIns="0" bIns="0" rtlCol="0"/>
            <a:lstStyle/>
            <a:p/>
          </p:txBody>
        </p:sp>
        <p:sp>
          <p:nvSpPr>
            <p:cNvPr id="344" name="object 344" descr=""/>
            <p:cNvSpPr/>
            <p:nvPr/>
          </p:nvSpPr>
          <p:spPr>
            <a:xfrm>
              <a:off x="1938858" y="4113783"/>
              <a:ext cx="27940" cy="45085"/>
            </a:xfrm>
            <a:custGeom>
              <a:avLst/>
              <a:gdLst/>
              <a:ahLst/>
              <a:cxnLst/>
              <a:rect l="l" t="t" r="r" b="b"/>
              <a:pathLst>
                <a:path w="27939" h="45085">
                  <a:moveTo>
                    <a:pt x="0" y="0"/>
                  </a:moveTo>
                  <a:lnTo>
                    <a:pt x="27393" y="0"/>
                  </a:lnTo>
                  <a:lnTo>
                    <a:pt x="27393" y="44500"/>
                  </a:lnTo>
                  <a:lnTo>
                    <a:pt x="0" y="44500"/>
                  </a:lnTo>
                  <a:lnTo>
                    <a:pt x="0" y="0"/>
                  </a:lnTo>
                  <a:close/>
                </a:path>
                <a:path w="27939" h="45085">
                  <a:moveTo>
                    <a:pt x="1016" y="2031"/>
                  </a:moveTo>
                  <a:lnTo>
                    <a:pt x="26390" y="2031"/>
                  </a:lnTo>
                  <a:lnTo>
                    <a:pt x="26390" y="43497"/>
                  </a:lnTo>
                  <a:lnTo>
                    <a:pt x="1016" y="43497"/>
                  </a:lnTo>
                  <a:lnTo>
                    <a:pt x="1016" y="2031"/>
                  </a:lnTo>
                  <a:close/>
                </a:path>
              </a:pathLst>
            </a:custGeom>
            <a:ln w="3175">
              <a:solidFill>
                <a:srgbClr val="9BD3F0"/>
              </a:solidFill>
            </a:ln>
          </p:spPr>
          <p:txBody>
            <a:bodyPr wrap="square" lIns="0" tIns="0" rIns="0" bIns="0" rtlCol="0"/>
            <a:lstStyle/>
            <a:p/>
          </p:txBody>
        </p:sp>
        <p:sp>
          <p:nvSpPr>
            <p:cNvPr id="345" name="object 345" descr=""/>
            <p:cNvSpPr/>
            <p:nvPr/>
          </p:nvSpPr>
          <p:spPr>
            <a:xfrm>
              <a:off x="1697850" y="3389604"/>
              <a:ext cx="212090" cy="366395"/>
            </a:xfrm>
            <a:custGeom>
              <a:avLst/>
              <a:gdLst/>
              <a:ahLst/>
              <a:cxnLst/>
              <a:rect l="l" t="t" r="r" b="b"/>
              <a:pathLst>
                <a:path w="212089" h="366395">
                  <a:moveTo>
                    <a:pt x="212089" y="0"/>
                  </a:moveTo>
                  <a:lnTo>
                    <a:pt x="0" y="0"/>
                  </a:lnTo>
                  <a:lnTo>
                    <a:pt x="0" y="366217"/>
                  </a:lnTo>
                  <a:lnTo>
                    <a:pt x="212089" y="366217"/>
                  </a:lnTo>
                  <a:lnTo>
                    <a:pt x="212089" y="0"/>
                  </a:lnTo>
                  <a:close/>
                </a:path>
              </a:pathLst>
            </a:custGeom>
            <a:solidFill>
              <a:srgbClr val="92D050">
                <a:alpha val="50195"/>
              </a:srgbClr>
            </a:solidFill>
          </p:spPr>
          <p:txBody>
            <a:bodyPr wrap="square" lIns="0" tIns="0" rIns="0" bIns="0" rtlCol="0"/>
            <a:lstStyle/>
            <a:p/>
          </p:txBody>
        </p:sp>
        <p:pic>
          <p:nvPicPr>
            <p:cNvPr id="346" name="object 346"/>
            <p:cNvPicPr/>
            <p:nvPr/>
          </p:nvPicPr>
          <p:blipFill>
            <a:blip r:embed="rId7" cstate="print"/>
            <a:stretch>
              <a:fillRect/>
            </a:stretch>
          </p:blipFill>
          <p:spPr>
            <a:xfrm>
              <a:off x="1633854" y="3390620"/>
              <a:ext cx="142632" cy="377418"/>
            </a:xfrm>
            <a:prstGeom prst="rect">
              <a:avLst/>
            </a:prstGeom>
          </p:spPr>
        </p:pic>
        <p:sp>
          <p:nvSpPr>
            <p:cNvPr id="347" name="object 347" descr=""/>
            <p:cNvSpPr/>
            <p:nvPr/>
          </p:nvSpPr>
          <p:spPr>
            <a:xfrm>
              <a:off x="1602727" y="3797604"/>
              <a:ext cx="212090" cy="363855"/>
            </a:xfrm>
            <a:custGeom>
              <a:avLst/>
              <a:gdLst/>
              <a:ahLst/>
              <a:cxnLst/>
              <a:rect l="l" t="t" r="r" b="b"/>
              <a:pathLst>
                <a:path w="212089" h="363854">
                  <a:moveTo>
                    <a:pt x="212090" y="0"/>
                  </a:moveTo>
                  <a:lnTo>
                    <a:pt x="0" y="0"/>
                  </a:lnTo>
                  <a:lnTo>
                    <a:pt x="0" y="363588"/>
                  </a:lnTo>
                  <a:lnTo>
                    <a:pt x="212090" y="363588"/>
                  </a:lnTo>
                  <a:lnTo>
                    <a:pt x="212090" y="0"/>
                  </a:lnTo>
                  <a:close/>
                </a:path>
              </a:pathLst>
            </a:custGeom>
            <a:solidFill>
              <a:srgbClr val="92D050">
                <a:alpha val="50195"/>
              </a:srgbClr>
            </a:solidFill>
          </p:spPr>
          <p:txBody>
            <a:bodyPr wrap="square" lIns="0" tIns="0" rIns="0" bIns="0" rtlCol="0"/>
            <a:lstStyle/>
            <a:p/>
          </p:txBody>
        </p:sp>
        <p:pic>
          <p:nvPicPr>
            <p:cNvPr id="348" name="object 348"/>
            <p:cNvPicPr/>
            <p:nvPr/>
          </p:nvPicPr>
          <p:blipFill>
            <a:blip r:embed="rId7" cstate="print"/>
            <a:stretch>
              <a:fillRect/>
            </a:stretch>
          </p:blipFill>
          <p:spPr>
            <a:xfrm>
              <a:off x="1538720" y="3796873"/>
              <a:ext cx="142639" cy="374718"/>
            </a:xfrm>
            <a:prstGeom prst="rect">
              <a:avLst/>
            </a:prstGeom>
          </p:spPr>
        </p:pic>
        <p:pic>
          <p:nvPicPr>
            <p:cNvPr id="349" name="object 349"/>
            <p:cNvPicPr/>
            <p:nvPr/>
          </p:nvPicPr>
          <p:blipFill>
            <a:blip r:embed="rId8" cstate="print"/>
            <a:stretch>
              <a:fillRect/>
            </a:stretch>
          </p:blipFill>
          <p:spPr>
            <a:xfrm>
              <a:off x="391998" y="3492405"/>
              <a:ext cx="724436" cy="721416"/>
            </a:xfrm>
            <a:prstGeom prst="rect">
              <a:avLst/>
            </a:prstGeom>
          </p:spPr>
        </p:pic>
        <p:pic>
          <p:nvPicPr>
            <p:cNvPr id="350" name="object 350"/>
            <p:cNvPicPr/>
            <p:nvPr/>
          </p:nvPicPr>
          <p:blipFill>
            <a:blip r:embed="rId15" cstate="print"/>
            <a:stretch>
              <a:fillRect/>
            </a:stretch>
          </p:blipFill>
          <p:spPr>
            <a:xfrm>
              <a:off x="762761" y="3724655"/>
              <a:ext cx="844295" cy="456437"/>
            </a:xfrm>
            <a:prstGeom prst="rect">
              <a:avLst/>
            </a:prstGeom>
          </p:spPr>
        </p:pic>
        <p:pic>
          <p:nvPicPr>
            <p:cNvPr id="351" name="object 351" descr=""/>
            <p:cNvPicPr/>
            <p:nvPr/>
          </p:nvPicPr>
          <p:blipFill>
            <a:blip r:embed="rId16" cstate="print"/>
            <a:stretch>
              <a:fillRect/>
            </a:stretch>
          </p:blipFill>
          <p:spPr>
            <a:xfrm>
              <a:off x="810056" y="3747554"/>
              <a:ext cx="749604" cy="364971"/>
            </a:xfrm>
            <a:prstGeom prst="rect">
              <a:avLst/>
            </a:prstGeom>
          </p:spPr>
        </p:pic>
        <p:sp>
          <p:nvSpPr>
            <p:cNvPr id="352" name="object 352" descr=""/>
            <p:cNvSpPr/>
            <p:nvPr/>
          </p:nvSpPr>
          <p:spPr>
            <a:xfrm>
              <a:off x="810051" y="3747596"/>
              <a:ext cx="749935" cy="365125"/>
            </a:xfrm>
            <a:custGeom>
              <a:avLst/>
              <a:gdLst/>
              <a:ahLst/>
              <a:cxnLst/>
              <a:rect l="l" t="t" r="r" b="b"/>
              <a:pathLst>
                <a:path w="749935" h="365125">
                  <a:moveTo>
                    <a:pt x="0" y="12808"/>
                  </a:moveTo>
                  <a:lnTo>
                    <a:pt x="11499" y="3475"/>
                  </a:lnTo>
                  <a:lnTo>
                    <a:pt x="34049" y="0"/>
                  </a:lnTo>
                  <a:lnTo>
                    <a:pt x="66507" y="2091"/>
                  </a:lnTo>
                  <a:lnTo>
                    <a:pt x="107726" y="9459"/>
                  </a:lnTo>
                  <a:lnTo>
                    <a:pt x="156563" y="21816"/>
                  </a:lnTo>
                  <a:lnTo>
                    <a:pt x="211872" y="38871"/>
                  </a:lnTo>
                  <a:lnTo>
                    <a:pt x="272510" y="60336"/>
                  </a:lnTo>
                  <a:lnTo>
                    <a:pt x="337332" y="85920"/>
                  </a:lnTo>
                  <a:lnTo>
                    <a:pt x="405193" y="115335"/>
                  </a:lnTo>
                  <a:lnTo>
                    <a:pt x="472075" y="146913"/>
                  </a:lnTo>
                  <a:lnTo>
                    <a:pt x="534073" y="178734"/>
                  </a:lnTo>
                  <a:lnTo>
                    <a:pt x="590215" y="210129"/>
                  </a:lnTo>
                  <a:lnTo>
                    <a:pt x="639527" y="240429"/>
                  </a:lnTo>
                  <a:lnTo>
                    <a:pt x="681038" y="268967"/>
                  </a:lnTo>
                  <a:lnTo>
                    <a:pt x="713774" y="295073"/>
                  </a:lnTo>
                  <a:lnTo>
                    <a:pt x="749030" y="337315"/>
                  </a:lnTo>
                  <a:lnTo>
                    <a:pt x="749604" y="352114"/>
                  </a:lnTo>
                  <a:lnTo>
                    <a:pt x="738105" y="361450"/>
                  </a:lnTo>
                  <a:lnTo>
                    <a:pt x="715556" y="364927"/>
                  </a:lnTo>
                  <a:lnTo>
                    <a:pt x="641882" y="355469"/>
                  </a:lnTo>
                  <a:lnTo>
                    <a:pt x="593046" y="343112"/>
                  </a:lnTo>
                  <a:lnTo>
                    <a:pt x="537737" y="326057"/>
                  </a:lnTo>
                  <a:lnTo>
                    <a:pt x="477099" y="304593"/>
                  </a:lnTo>
                  <a:lnTo>
                    <a:pt x="412275" y="279011"/>
                  </a:lnTo>
                  <a:lnTo>
                    <a:pt x="344411" y="249599"/>
                  </a:lnTo>
                  <a:lnTo>
                    <a:pt x="277530" y="218021"/>
                  </a:lnTo>
                  <a:lnTo>
                    <a:pt x="215532" y="186199"/>
                  </a:lnTo>
                  <a:lnTo>
                    <a:pt x="159392" y="154802"/>
                  </a:lnTo>
                  <a:lnTo>
                    <a:pt x="110081" y="124500"/>
                  </a:lnTo>
                  <a:lnTo>
                    <a:pt x="68571" y="95960"/>
                  </a:lnTo>
                  <a:lnTo>
                    <a:pt x="35836" y="69852"/>
                  </a:lnTo>
                  <a:lnTo>
                    <a:pt x="577" y="27607"/>
                  </a:lnTo>
                  <a:lnTo>
                    <a:pt x="0" y="12808"/>
                  </a:lnTo>
                  <a:close/>
                </a:path>
              </a:pathLst>
            </a:custGeom>
            <a:ln w="9525">
              <a:solidFill>
                <a:srgbClr val="F9F9F9"/>
              </a:solidFill>
            </a:ln>
          </p:spPr>
          <p:txBody>
            <a:bodyPr wrap="square" lIns="0" tIns="0" rIns="0" bIns="0" rtlCol="0"/>
            <a:lstStyle/>
            <a:p/>
          </p:txBody>
        </p:sp>
      </p:grpSp>
      <p:sp>
        <p:nvSpPr>
          <p:cNvPr id="353" name="object 353" descr=""/>
          <p:cNvSpPr txBox="1"/>
          <p:nvPr/>
        </p:nvSpPr>
        <p:spPr>
          <a:xfrm>
            <a:off x="470731" y="3344504"/>
            <a:ext cx="386080" cy="147320"/>
          </a:xfrm>
          <a:prstGeom prst="rect">
            <a:avLst/>
          </a:prstGeom>
        </p:spPr>
        <p:txBody>
          <a:bodyPr wrap="square" lIns="0" tIns="12065" rIns="0" bIns="0" rtlCol="0" vert="horz">
            <a:spAutoFit/>
          </a:bodyPr>
          <a:lstStyle/>
          <a:p>
            <a:pPr marL="12700">
              <a:lnSpc>
                <a:spcPct val="100000"/>
              </a:lnSpc>
              <a:spcBef>
                <a:spcPts val="95"/>
              </a:spcBef>
            </a:pPr>
            <a:r>
              <a:rPr dirty="0" sz="800" spc="-10">
                <a:latin typeface="Arial MT"/>
                <a:cs typeface="Arial MT"/>
              </a:rPr>
              <a:t>16T16R</a:t>
            </a:r>
            <a:endParaRPr sz="800">
              <a:latin typeface="Arial MT"/>
              <a:cs typeface="Arial MT"/>
            </a:endParaRPr>
          </a:p>
        </p:txBody>
      </p:sp>
      <p:sp>
        <p:nvSpPr>
          <p:cNvPr id="354" name="object 354" descr=""/>
          <p:cNvSpPr txBox="1"/>
          <p:nvPr/>
        </p:nvSpPr>
        <p:spPr>
          <a:xfrm>
            <a:off x="470731" y="4299535"/>
            <a:ext cx="3868420" cy="391160"/>
          </a:xfrm>
          <a:prstGeom prst="rect">
            <a:avLst/>
          </a:prstGeom>
        </p:spPr>
        <p:txBody>
          <a:bodyPr wrap="square" lIns="0" tIns="12700" rIns="0" bIns="0" rtlCol="0" vert="horz">
            <a:spAutoFit/>
          </a:bodyPr>
          <a:lstStyle/>
          <a:p>
            <a:pPr marL="12700" marR="5080">
              <a:lnSpc>
                <a:spcPct val="100000"/>
              </a:lnSpc>
              <a:spcBef>
                <a:spcPts val="100"/>
              </a:spcBef>
            </a:pPr>
            <a:r>
              <a:rPr dirty="0" sz="1200" spc="-10">
                <a:latin typeface="Microsoft YaHei"/>
                <a:cs typeface="Microsoft YaHei"/>
              </a:rPr>
              <a:t>64T64R</a:t>
            </a:r>
            <a:r>
              <a:rPr dirty="0" sz="1200">
                <a:latin typeface="SimSun"/>
                <a:cs typeface="SimSun"/>
              </a:rPr>
              <a:t>相对</a:t>
            </a:r>
            <a:r>
              <a:rPr dirty="0" sz="1200" spc="-10">
                <a:latin typeface="Microsoft YaHei"/>
                <a:cs typeface="Microsoft YaHei"/>
              </a:rPr>
              <a:t>16TR/8TR</a:t>
            </a:r>
            <a:r>
              <a:rPr dirty="0" sz="1200">
                <a:latin typeface="SimSun"/>
                <a:cs typeface="SimSun"/>
              </a:rPr>
              <a:t>增加了</a:t>
            </a:r>
            <a:r>
              <a:rPr dirty="0" sz="1200">
                <a:solidFill>
                  <a:srgbClr val="FF0000"/>
                </a:solidFill>
                <a:latin typeface="SimSun"/>
                <a:cs typeface="SimSun"/>
              </a:rPr>
              <a:t>垂直方向赋形</a:t>
            </a:r>
            <a:r>
              <a:rPr dirty="0" sz="1200">
                <a:latin typeface="SimSun"/>
                <a:cs typeface="SimSun"/>
              </a:rPr>
              <a:t>，对于</a:t>
            </a:r>
            <a:r>
              <a:rPr dirty="0" sz="1200" spc="-20">
                <a:solidFill>
                  <a:srgbClr val="FF0000"/>
                </a:solidFill>
                <a:latin typeface="SimSun"/>
                <a:cs typeface="SimSun"/>
              </a:rPr>
              <a:t>高楼覆</a:t>
            </a:r>
            <a:r>
              <a:rPr dirty="0" sz="1200">
                <a:solidFill>
                  <a:srgbClr val="FF0000"/>
                </a:solidFill>
                <a:latin typeface="SimSun"/>
                <a:cs typeface="SimSun"/>
              </a:rPr>
              <a:t>盖</a:t>
            </a:r>
            <a:r>
              <a:rPr dirty="0" sz="1200" spc="-5">
                <a:latin typeface="SimSun"/>
                <a:cs typeface="SimSun"/>
              </a:rPr>
              <a:t>更有优势，但对于郊区农村，水平覆盖基本满足要求</a:t>
            </a:r>
            <a:endParaRPr sz="1200">
              <a:latin typeface="SimSun"/>
              <a:cs typeface="SimSun"/>
            </a:endParaRPr>
          </a:p>
        </p:txBody>
      </p:sp>
      <p:pic>
        <p:nvPicPr>
          <p:cNvPr id="355" name="object 355"/>
          <p:cNvPicPr/>
          <p:nvPr/>
        </p:nvPicPr>
        <p:blipFill>
          <a:blip r:embed="rId17" cstate="print"/>
          <a:stretch>
            <a:fillRect/>
          </a:stretch>
        </p:blipFill>
        <p:spPr>
          <a:xfrm>
            <a:off x="371729" y="971029"/>
            <a:ext cx="3768222" cy="142708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70747" y="1054112"/>
            <a:ext cx="3960495" cy="2012950"/>
          </a:xfrm>
          <a:custGeom>
            <a:avLst/>
            <a:gdLst/>
            <a:ahLst/>
            <a:cxnLst/>
            <a:rect l="l" t="t" r="r" b="b"/>
            <a:pathLst>
              <a:path w="3960495" h="2012950">
                <a:moveTo>
                  <a:pt x="0" y="335394"/>
                </a:moveTo>
                <a:lnTo>
                  <a:pt x="3636" y="285833"/>
                </a:lnTo>
                <a:lnTo>
                  <a:pt x="14200" y="238529"/>
                </a:lnTo>
                <a:lnTo>
                  <a:pt x="31172" y="194002"/>
                </a:lnTo>
                <a:lnTo>
                  <a:pt x="54035" y="152770"/>
                </a:lnTo>
                <a:lnTo>
                  <a:pt x="82267" y="115352"/>
                </a:lnTo>
                <a:lnTo>
                  <a:pt x="115352" y="82267"/>
                </a:lnTo>
                <a:lnTo>
                  <a:pt x="152770" y="54035"/>
                </a:lnTo>
                <a:lnTo>
                  <a:pt x="194002" y="31172"/>
                </a:lnTo>
                <a:lnTo>
                  <a:pt x="238529" y="14200"/>
                </a:lnTo>
                <a:lnTo>
                  <a:pt x="285833" y="3636"/>
                </a:lnTo>
                <a:lnTo>
                  <a:pt x="335394" y="0"/>
                </a:lnTo>
                <a:lnTo>
                  <a:pt x="3625049" y="0"/>
                </a:lnTo>
                <a:lnTo>
                  <a:pt x="3674611" y="3636"/>
                </a:lnTo>
                <a:lnTo>
                  <a:pt x="3721914" y="14200"/>
                </a:lnTo>
                <a:lnTo>
                  <a:pt x="3766442" y="31172"/>
                </a:lnTo>
                <a:lnTo>
                  <a:pt x="3807673" y="54035"/>
                </a:lnTo>
                <a:lnTo>
                  <a:pt x="3845091" y="82267"/>
                </a:lnTo>
                <a:lnTo>
                  <a:pt x="3878176" y="115352"/>
                </a:lnTo>
                <a:lnTo>
                  <a:pt x="3906409" y="152770"/>
                </a:lnTo>
                <a:lnTo>
                  <a:pt x="3929271" y="194002"/>
                </a:lnTo>
                <a:lnTo>
                  <a:pt x="3946243" y="238529"/>
                </a:lnTo>
                <a:lnTo>
                  <a:pt x="3956807" y="285833"/>
                </a:lnTo>
                <a:lnTo>
                  <a:pt x="3960444" y="335394"/>
                </a:lnTo>
                <a:lnTo>
                  <a:pt x="3960444" y="1676933"/>
                </a:lnTo>
                <a:lnTo>
                  <a:pt x="3956807" y="1726494"/>
                </a:lnTo>
                <a:lnTo>
                  <a:pt x="3946243" y="1773798"/>
                </a:lnTo>
                <a:lnTo>
                  <a:pt x="3929271" y="1818325"/>
                </a:lnTo>
                <a:lnTo>
                  <a:pt x="3906409" y="1859557"/>
                </a:lnTo>
                <a:lnTo>
                  <a:pt x="3878176" y="1896975"/>
                </a:lnTo>
                <a:lnTo>
                  <a:pt x="3845091" y="1930059"/>
                </a:lnTo>
                <a:lnTo>
                  <a:pt x="3807673" y="1958292"/>
                </a:lnTo>
                <a:lnTo>
                  <a:pt x="3766442" y="1981154"/>
                </a:lnTo>
                <a:lnTo>
                  <a:pt x="3721914" y="1998127"/>
                </a:lnTo>
                <a:lnTo>
                  <a:pt x="3674611" y="2008691"/>
                </a:lnTo>
                <a:lnTo>
                  <a:pt x="3625049" y="2012327"/>
                </a:lnTo>
                <a:lnTo>
                  <a:pt x="335394" y="2012327"/>
                </a:lnTo>
                <a:lnTo>
                  <a:pt x="285833" y="2008691"/>
                </a:lnTo>
                <a:lnTo>
                  <a:pt x="238529" y="1998127"/>
                </a:lnTo>
                <a:lnTo>
                  <a:pt x="194002" y="1981154"/>
                </a:lnTo>
                <a:lnTo>
                  <a:pt x="152770" y="1958292"/>
                </a:lnTo>
                <a:lnTo>
                  <a:pt x="115352" y="1930059"/>
                </a:lnTo>
                <a:lnTo>
                  <a:pt x="82267" y="1896975"/>
                </a:lnTo>
                <a:lnTo>
                  <a:pt x="54035" y="1859557"/>
                </a:lnTo>
                <a:lnTo>
                  <a:pt x="31172" y="1818325"/>
                </a:lnTo>
                <a:lnTo>
                  <a:pt x="14200" y="1773798"/>
                </a:lnTo>
                <a:lnTo>
                  <a:pt x="3636" y="1726494"/>
                </a:lnTo>
                <a:lnTo>
                  <a:pt x="0" y="1676933"/>
                </a:lnTo>
                <a:lnTo>
                  <a:pt x="0" y="335394"/>
                </a:lnTo>
                <a:close/>
              </a:path>
            </a:pathLst>
          </a:custGeom>
          <a:ln w="25400">
            <a:solidFill>
              <a:srgbClr val="333399"/>
            </a:solidFill>
            <a:prstDash val="sysDash"/>
          </a:ln>
        </p:spPr>
        <p:txBody>
          <a:bodyPr wrap="square" lIns="0" tIns="0" rIns="0" bIns="0" rtlCol="0"/>
          <a:lstStyle/>
          <a:p/>
        </p:txBody>
      </p:sp>
      <p:sp>
        <p:nvSpPr>
          <p:cNvPr id="3" name="object 3" descr=""/>
          <p:cNvSpPr/>
          <p:nvPr/>
        </p:nvSpPr>
        <p:spPr>
          <a:xfrm>
            <a:off x="5050962" y="1081651"/>
            <a:ext cx="3960495" cy="2012950"/>
          </a:xfrm>
          <a:custGeom>
            <a:avLst/>
            <a:gdLst/>
            <a:ahLst/>
            <a:cxnLst/>
            <a:rect l="l" t="t" r="r" b="b"/>
            <a:pathLst>
              <a:path w="3960495" h="2012950">
                <a:moveTo>
                  <a:pt x="0" y="335394"/>
                </a:moveTo>
                <a:lnTo>
                  <a:pt x="3636" y="285833"/>
                </a:lnTo>
                <a:lnTo>
                  <a:pt x="14200" y="238529"/>
                </a:lnTo>
                <a:lnTo>
                  <a:pt x="31172" y="194002"/>
                </a:lnTo>
                <a:lnTo>
                  <a:pt x="54035" y="152770"/>
                </a:lnTo>
                <a:lnTo>
                  <a:pt x="82267" y="115352"/>
                </a:lnTo>
                <a:lnTo>
                  <a:pt x="115352" y="82267"/>
                </a:lnTo>
                <a:lnTo>
                  <a:pt x="152770" y="54035"/>
                </a:lnTo>
                <a:lnTo>
                  <a:pt x="194002" y="31172"/>
                </a:lnTo>
                <a:lnTo>
                  <a:pt x="238529" y="14200"/>
                </a:lnTo>
                <a:lnTo>
                  <a:pt x="285833" y="3636"/>
                </a:lnTo>
                <a:lnTo>
                  <a:pt x="335394" y="0"/>
                </a:lnTo>
                <a:lnTo>
                  <a:pt x="3625049" y="0"/>
                </a:lnTo>
                <a:lnTo>
                  <a:pt x="3674611" y="3636"/>
                </a:lnTo>
                <a:lnTo>
                  <a:pt x="3721914" y="14200"/>
                </a:lnTo>
                <a:lnTo>
                  <a:pt x="3766442" y="31172"/>
                </a:lnTo>
                <a:lnTo>
                  <a:pt x="3807673" y="54035"/>
                </a:lnTo>
                <a:lnTo>
                  <a:pt x="3845091" y="82267"/>
                </a:lnTo>
                <a:lnTo>
                  <a:pt x="3878176" y="115352"/>
                </a:lnTo>
                <a:lnTo>
                  <a:pt x="3906409" y="152770"/>
                </a:lnTo>
                <a:lnTo>
                  <a:pt x="3929271" y="194002"/>
                </a:lnTo>
                <a:lnTo>
                  <a:pt x="3946243" y="238529"/>
                </a:lnTo>
                <a:lnTo>
                  <a:pt x="3956807" y="285833"/>
                </a:lnTo>
                <a:lnTo>
                  <a:pt x="3960444" y="335394"/>
                </a:lnTo>
                <a:lnTo>
                  <a:pt x="3960444" y="1676933"/>
                </a:lnTo>
                <a:lnTo>
                  <a:pt x="3956807" y="1726494"/>
                </a:lnTo>
                <a:lnTo>
                  <a:pt x="3946243" y="1773798"/>
                </a:lnTo>
                <a:lnTo>
                  <a:pt x="3929271" y="1818325"/>
                </a:lnTo>
                <a:lnTo>
                  <a:pt x="3906409" y="1859557"/>
                </a:lnTo>
                <a:lnTo>
                  <a:pt x="3878176" y="1896975"/>
                </a:lnTo>
                <a:lnTo>
                  <a:pt x="3845091" y="1930059"/>
                </a:lnTo>
                <a:lnTo>
                  <a:pt x="3807673" y="1958292"/>
                </a:lnTo>
                <a:lnTo>
                  <a:pt x="3766442" y="1981154"/>
                </a:lnTo>
                <a:lnTo>
                  <a:pt x="3721914" y="1998127"/>
                </a:lnTo>
                <a:lnTo>
                  <a:pt x="3674611" y="2008691"/>
                </a:lnTo>
                <a:lnTo>
                  <a:pt x="3625049" y="2012327"/>
                </a:lnTo>
                <a:lnTo>
                  <a:pt x="335394" y="2012327"/>
                </a:lnTo>
                <a:lnTo>
                  <a:pt x="285833" y="2008691"/>
                </a:lnTo>
                <a:lnTo>
                  <a:pt x="238529" y="1998127"/>
                </a:lnTo>
                <a:lnTo>
                  <a:pt x="194002" y="1981154"/>
                </a:lnTo>
                <a:lnTo>
                  <a:pt x="152770" y="1958292"/>
                </a:lnTo>
                <a:lnTo>
                  <a:pt x="115352" y="1930059"/>
                </a:lnTo>
                <a:lnTo>
                  <a:pt x="82267" y="1896975"/>
                </a:lnTo>
                <a:lnTo>
                  <a:pt x="54035" y="1859557"/>
                </a:lnTo>
                <a:lnTo>
                  <a:pt x="31172" y="1818325"/>
                </a:lnTo>
                <a:lnTo>
                  <a:pt x="14200" y="1773798"/>
                </a:lnTo>
                <a:lnTo>
                  <a:pt x="3636" y="1726494"/>
                </a:lnTo>
                <a:lnTo>
                  <a:pt x="0" y="1676933"/>
                </a:lnTo>
                <a:lnTo>
                  <a:pt x="0" y="335394"/>
                </a:lnTo>
                <a:close/>
              </a:path>
            </a:pathLst>
          </a:custGeom>
          <a:ln w="25400">
            <a:solidFill>
              <a:srgbClr val="333399"/>
            </a:solidFill>
            <a:prstDash val="sysDash"/>
          </a:ln>
        </p:spPr>
        <p:txBody>
          <a:bodyPr wrap="square" lIns="0" tIns="0" rIns="0" bIns="0" rtlCol="0"/>
          <a:lstStyle/>
          <a:p/>
        </p:txBody>
      </p:sp>
      <p:sp>
        <p:nvSpPr>
          <p:cNvPr id="4" name="object 4"/>
          <p:cNvSpPr txBox="1">
            <a:spLocks noGrp="1"/>
          </p:cNvSpPr>
          <p:nvPr>
            <p:ph type="title"/>
          </p:nvPr>
        </p:nvSpPr>
        <p:spPr>
          <a:xfrm>
            <a:off x="2386088" y="123352"/>
            <a:ext cx="46107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室外宏站部署方式分析</a:t>
            </a:r>
          </a:p>
        </p:txBody>
      </p:sp>
      <p:sp>
        <p:nvSpPr>
          <p:cNvPr id="5" name="object 5" descr=""/>
          <p:cNvSpPr/>
          <p:nvPr/>
        </p:nvSpPr>
        <p:spPr>
          <a:xfrm>
            <a:off x="1858073" y="1314907"/>
            <a:ext cx="457200" cy="436245"/>
          </a:xfrm>
          <a:custGeom>
            <a:avLst/>
            <a:gdLst/>
            <a:ahLst/>
            <a:cxnLst/>
            <a:rect l="l" t="t" r="r" b="b"/>
            <a:pathLst>
              <a:path w="457200" h="436244">
                <a:moveTo>
                  <a:pt x="456882" y="0"/>
                </a:moveTo>
                <a:lnTo>
                  <a:pt x="0" y="0"/>
                </a:lnTo>
                <a:lnTo>
                  <a:pt x="0" y="436245"/>
                </a:lnTo>
                <a:lnTo>
                  <a:pt x="456882" y="436245"/>
                </a:lnTo>
                <a:lnTo>
                  <a:pt x="456882" y="0"/>
                </a:lnTo>
                <a:close/>
              </a:path>
            </a:pathLst>
          </a:custGeom>
          <a:solidFill>
            <a:srgbClr val="66CCFF"/>
          </a:solidFill>
        </p:spPr>
        <p:txBody>
          <a:bodyPr wrap="square" lIns="0" tIns="0" rIns="0" bIns="0" rtlCol="0"/>
          <a:lstStyle/>
          <a:p/>
        </p:txBody>
      </p:sp>
      <p:sp>
        <p:nvSpPr>
          <p:cNvPr id="6" name="object 6" descr=""/>
          <p:cNvSpPr txBox="1"/>
          <p:nvPr/>
        </p:nvSpPr>
        <p:spPr>
          <a:xfrm>
            <a:off x="1956344" y="1448695"/>
            <a:ext cx="260985" cy="162560"/>
          </a:xfrm>
          <a:prstGeom prst="rect">
            <a:avLst/>
          </a:prstGeom>
        </p:spPr>
        <p:txBody>
          <a:bodyPr wrap="square" lIns="0" tIns="12700" rIns="0" bIns="0" rtlCol="0" vert="horz">
            <a:spAutoFit/>
          </a:bodyPr>
          <a:lstStyle/>
          <a:p>
            <a:pPr marL="12700">
              <a:lnSpc>
                <a:spcPct val="100000"/>
              </a:lnSpc>
              <a:spcBef>
                <a:spcPts val="100"/>
              </a:spcBef>
            </a:pPr>
            <a:r>
              <a:rPr dirty="0" sz="900" spc="-25">
                <a:latin typeface="Arial MT"/>
                <a:cs typeface="Arial MT"/>
              </a:rPr>
              <a:t>AAU</a:t>
            </a:r>
            <a:endParaRPr sz="900">
              <a:latin typeface="Arial MT"/>
              <a:cs typeface="Arial MT"/>
            </a:endParaRPr>
          </a:p>
        </p:txBody>
      </p:sp>
      <p:sp>
        <p:nvSpPr>
          <p:cNvPr id="7" name="object 7" descr=""/>
          <p:cNvSpPr txBox="1"/>
          <p:nvPr/>
        </p:nvSpPr>
        <p:spPr>
          <a:xfrm>
            <a:off x="1254899" y="1314907"/>
            <a:ext cx="250190" cy="436245"/>
          </a:xfrm>
          <a:prstGeom prst="rect">
            <a:avLst/>
          </a:prstGeom>
          <a:solidFill>
            <a:srgbClr val="92D050"/>
          </a:solidFill>
        </p:spPr>
        <p:txBody>
          <a:bodyPr wrap="square" lIns="0" tIns="76200" rIns="0" bIns="0" rtlCol="0" vert="horz">
            <a:spAutoFit/>
          </a:bodyPr>
          <a:lstStyle/>
          <a:p>
            <a:pPr marL="67945" marR="60960">
              <a:lnSpc>
                <a:spcPct val="100000"/>
              </a:lnSpc>
              <a:spcBef>
                <a:spcPts val="600"/>
              </a:spcBef>
            </a:pPr>
            <a:r>
              <a:rPr dirty="0" sz="900" spc="-50">
                <a:latin typeface="Microsoft YaHei"/>
                <a:cs typeface="Microsoft YaHei"/>
              </a:rPr>
              <a:t>天面</a:t>
            </a:r>
            <a:endParaRPr sz="900">
              <a:latin typeface="Microsoft YaHei"/>
              <a:cs typeface="Microsoft YaHei"/>
            </a:endParaRPr>
          </a:p>
        </p:txBody>
      </p:sp>
      <p:sp>
        <p:nvSpPr>
          <p:cNvPr id="8" name="object 8" descr=""/>
          <p:cNvSpPr txBox="1"/>
          <p:nvPr/>
        </p:nvSpPr>
        <p:spPr>
          <a:xfrm>
            <a:off x="870534" y="2444940"/>
            <a:ext cx="635000" cy="277495"/>
          </a:xfrm>
          <a:prstGeom prst="rect">
            <a:avLst/>
          </a:prstGeom>
          <a:solidFill>
            <a:srgbClr val="88827C"/>
          </a:solidFill>
        </p:spPr>
        <p:txBody>
          <a:bodyPr wrap="square" lIns="0" tIns="92710" rIns="0" bIns="0" rtlCol="0" vert="horz">
            <a:spAutoFit/>
          </a:bodyPr>
          <a:lstStyle/>
          <a:p>
            <a:pPr marL="101600">
              <a:lnSpc>
                <a:spcPct val="100000"/>
              </a:lnSpc>
              <a:spcBef>
                <a:spcPts val="730"/>
              </a:spcBef>
            </a:pPr>
            <a:r>
              <a:rPr dirty="0" sz="900" b="1">
                <a:solidFill>
                  <a:srgbClr val="FFFFFF"/>
                </a:solidFill>
                <a:latin typeface="Arial"/>
                <a:cs typeface="Arial"/>
              </a:rPr>
              <a:t>4G</a:t>
            </a:r>
            <a:r>
              <a:rPr dirty="0" sz="900" spc="-10" b="1">
                <a:solidFill>
                  <a:srgbClr val="FFFFFF"/>
                </a:solidFill>
                <a:latin typeface="Arial"/>
                <a:cs typeface="Arial"/>
              </a:rPr>
              <a:t> </a:t>
            </a:r>
            <a:r>
              <a:rPr dirty="0" sz="900" spc="-25" b="1">
                <a:solidFill>
                  <a:srgbClr val="FFFFFF"/>
                </a:solidFill>
                <a:latin typeface="Arial"/>
                <a:cs typeface="Arial"/>
              </a:rPr>
              <a:t>BBU</a:t>
            </a:r>
            <a:endParaRPr sz="900">
              <a:latin typeface="Arial"/>
              <a:cs typeface="Arial"/>
            </a:endParaRPr>
          </a:p>
        </p:txBody>
      </p:sp>
      <p:sp>
        <p:nvSpPr>
          <p:cNvPr id="9" name="object 9" descr=""/>
          <p:cNvSpPr txBox="1"/>
          <p:nvPr/>
        </p:nvSpPr>
        <p:spPr>
          <a:xfrm>
            <a:off x="1771180" y="2447315"/>
            <a:ext cx="703580" cy="277495"/>
          </a:xfrm>
          <a:prstGeom prst="rect">
            <a:avLst/>
          </a:prstGeom>
          <a:solidFill>
            <a:srgbClr val="31859C"/>
          </a:solidFill>
        </p:spPr>
        <p:txBody>
          <a:bodyPr wrap="square" lIns="0" tIns="92710" rIns="0" bIns="0" rtlCol="0" vert="horz">
            <a:spAutoFit/>
          </a:bodyPr>
          <a:lstStyle/>
          <a:p>
            <a:pPr marL="135890">
              <a:lnSpc>
                <a:spcPct val="100000"/>
              </a:lnSpc>
              <a:spcBef>
                <a:spcPts val="730"/>
              </a:spcBef>
            </a:pPr>
            <a:r>
              <a:rPr dirty="0" sz="900" b="1">
                <a:solidFill>
                  <a:srgbClr val="FFFFFF"/>
                </a:solidFill>
                <a:latin typeface="Arial"/>
                <a:cs typeface="Arial"/>
              </a:rPr>
              <a:t>5G</a:t>
            </a:r>
            <a:r>
              <a:rPr dirty="0" sz="900" spc="-10" b="1">
                <a:solidFill>
                  <a:srgbClr val="FFFFFF"/>
                </a:solidFill>
                <a:latin typeface="Arial"/>
                <a:cs typeface="Arial"/>
              </a:rPr>
              <a:t> </a:t>
            </a:r>
            <a:r>
              <a:rPr dirty="0" sz="900" spc="-25" b="1">
                <a:solidFill>
                  <a:srgbClr val="FFFFFF"/>
                </a:solidFill>
                <a:latin typeface="Arial"/>
                <a:cs typeface="Arial"/>
              </a:rPr>
              <a:t>BBU</a:t>
            </a:r>
            <a:endParaRPr sz="900">
              <a:latin typeface="Arial"/>
              <a:cs typeface="Arial"/>
            </a:endParaRPr>
          </a:p>
        </p:txBody>
      </p:sp>
      <p:sp>
        <p:nvSpPr>
          <p:cNvPr id="10" name="object 10" descr=""/>
          <p:cNvSpPr/>
          <p:nvPr/>
        </p:nvSpPr>
        <p:spPr>
          <a:xfrm>
            <a:off x="1095476" y="1886788"/>
            <a:ext cx="226695" cy="387985"/>
          </a:xfrm>
          <a:custGeom>
            <a:avLst/>
            <a:gdLst/>
            <a:ahLst/>
            <a:cxnLst/>
            <a:rect l="l" t="t" r="r" b="b"/>
            <a:pathLst>
              <a:path w="226694" h="387985">
                <a:moveTo>
                  <a:pt x="226288" y="0"/>
                </a:moveTo>
                <a:lnTo>
                  <a:pt x="0" y="0"/>
                </a:lnTo>
                <a:lnTo>
                  <a:pt x="0" y="387756"/>
                </a:lnTo>
                <a:lnTo>
                  <a:pt x="226288" y="387756"/>
                </a:lnTo>
                <a:lnTo>
                  <a:pt x="226288" y="0"/>
                </a:lnTo>
                <a:close/>
              </a:path>
            </a:pathLst>
          </a:custGeom>
          <a:solidFill>
            <a:srgbClr val="92D050"/>
          </a:solidFill>
        </p:spPr>
        <p:txBody>
          <a:bodyPr wrap="square" lIns="0" tIns="0" rIns="0" bIns="0" rtlCol="0"/>
          <a:lstStyle/>
          <a:p/>
        </p:txBody>
      </p:sp>
      <p:sp>
        <p:nvSpPr>
          <p:cNvPr id="11" name="object 11" descr=""/>
          <p:cNvSpPr txBox="1"/>
          <p:nvPr/>
        </p:nvSpPr>
        <p:spPr>
          <a:xfrm>
            <a:off x="1095476" y="1886788"/>
            <a:ext cx="226695" cy="133350"/>
          </a:xfrm>
          <a:prstGeom prst="rect">
            <a:avLst/>
          </a:prstGeom>
          <a:solidFill>
            <a:srgbClr val="92D050"/>
          </a:solidFill>
        </p:spPr>
        <p:txBody>
          <a:bodyPr wrap="square" lIns="0" tIns="0" rIns="0" bIns="0" rtlCol="0" vert="horz">
            <a:spAutoFit/>
          </a:bodyPr>
          <a:lstStyle/>
          <a:p>
            <a:pPr marL="71755">
              <a:lnSpc>
                <a:spcPts val="965"/>
              </a:lnSpc>
            </a:pPr>
            <a:r>
              <a:rPr dirty="0" sz="900" spc="-50">
                <a:latin typeface="Arial MT"/>
                <a:cs typeface="Arial MT"/>
              </a:rPr>
              <a:t>R</a:t>
            </a:r>
            <a:endParaRPr sz="900">
              <a:latin typeface="Arial MT"/>
              <a:cs typeface="Arial MT"/>
            </a:endParaRPr>
          </a:p>
        </p:txBody>
      </p:sp>
      <p:sp>
        <p:nvSpPr>
          <p:cNvPr id="12" name="object 12" descr=""/>
          <p:cNvSpPr txBox="1"/>
          <p:nvPr/>
        </p:nvSpPr>
        <p:spPr>
          <a:xfrm>
            <a:off x="1095476" y="2019860"/>
            <a:ext cx="226695" cy="137160"/>
          </a:xfrm>
          <a:prstGeom prst="rect">
            <a:avLst/>
          </a:prstGeom>
          <a:solidFill>
            <a:srgbClr val="92D050"/>
          </a:solidFill>
        </p:spPr>
        <p:txBody>
          <a:bodyPr wrap="square" lIns="0" tIns="0" rIns="0" bIns="0" rtlCol="0" vert="horz">
            <a:spAutoFit/>
          </a:bodyPr>
          <a:lstStyle/>
          <a:p>
            <a:pPr marL="71755">
              <a:lnSpc>
                <a:spcPts val="994"/>
              </a:lnSpc>
            </a:pPr>
            <a:r>
              <a:rPr dirty="0" sz="900" spc="-50">
                <a:latin typeface="Arial MT"/>
                <a:cs typeface="Arial MT"/>
              </a:rPr>
              <a:t>R</a:t>
            </a:r>
            <a:endParaRPr sz="900">
              <a:latin typeface="Arial MT"/>
              <a:cs typeface="Arial MT"/>
            </a:endParaRPr>
          </a:p>
        </p:txBody>
      </p:sp>
      <p:sp>
        <p:nvSpPr>
          <p:cNvPr id="13" name="object 13" descr=""/>
          <p:cNvSpPr txBox="1"/>
          <p:nvPr/>
        </p:nvSpPr>
        <p:spPr>
          <a:xfrm>
            <a:off x="1095476" y="2157020"/>
            <a:ext cx="226695" cy="118110"/>
          </a:xfrm>
          <a:prstGeom prst="rect">
            <a:avLst/>
          </a:prstGeom>
          <a:solidFill>
            <a:srgbClr val="92D050"/>
          </a:solidFill>
        </p:spPr>
        <p:txBody>
          <a:bodyPr wrap="square" lIns="0" tIns="0" rIns="0" bIns="0" rtlCol="0" vert="horz">
            <a:spAutoFit/>
          </a:bodyPr>
          <a:lstStyle/>
          <a:p>
            <a:pPr marL="71755">
              <a:lnSpc>
                <a:spcPts val="925"/>
              </a:lnSpc>
            </a:pPr>
            <a:r>
              <a:rPr dirty="0" sz="900" spc="-50">
                <a:latin typeface="Arial MT"/>
                <a:cs typeface="Arial MT"/>
              </a:rPr>
              <a:t>U</a:t>
            </a:r>
            <a:endParaRPr sz="900">
              <a:latin typeface="Arial MT"/>
              <a:cs typeface="Arial MT"/>
            </a:endParaRPr>
          </a:p>
        </p:txBody>
      </p:sp>
      <p:sp>
        <p:nvSpPr>
          <p:cNvPr id="14" name="object 14" descr=""/>
          <p:cNvSpPr/>
          <p:nvPr/>
        </p:nvSpPr>
        <p:spPr>
          <a:xfrm>
            <a:off x="2086519" y="1751143"/>
            <a:ext cx="36830" cy="696595"/>
          </a:xfrm>
          <a:custGeom>
            <a:avLst/>
            <a:gdLst/>
            <a:ahLst/>
            <a:cxnLst/>
            <a:rect l="l" t="t" r="r" b="b"/>
            <a:pathLst>
              <a:path w="36830" h="696594">
                <a:moveTo>
                  <a:pt x="0" y="0"/>
                </a:moveTo>
                <a:lnTo>
                  <a:pt x="530" y="74081"/>
                </a:lnTo>
                <a:lnTo>
                  <a:pt x="2014" y="145118"/>
                </a:lnTo>
                <a:lnTo>
                  <a:pt x="4294" y="210066"/>
                </a:lnTo>
                <a:lnTo>
                  <a:pt x="7210" y="265881"/>
                </a:lnTo>
                <a:lnTo>
                  <a:pt x="10604" y="309518"/>
                </a:lnTo>
                <a:lnTo>
                  <a:pt x="18186" y="348081"/>
                </a:lnTo>
                <a:lnTo>
                  <a:pt x="22052" y="358229"/>
                </a:lnTo>
                <a:lnTo>
                  <a:pt x="29151" y="430281"/>
                </a:lnTo>
                <a:lnTo>
                  <a:pt x="32066" y="486096"/>
                </a:lnTo>
                <a:lnTo>
                  <a:pt x="34345" y="551044"/>
                </a:lnTo>
                <a:lnTo>
                  <a:pt x="35829" y="622081"/>
                </a:lnTo>
                <a:lnTo>
                  <a:pt x="36360" y="696163"/>
                </a:lnTo>
              </a:path>
            </a:pathLst>
          </a:custGeom>
          <a:ln w="9525">
            <a:solidFill>
              <a:srgbClr val="B6DCDF"/>
            </a:solidFill>
          </a:ln>
        </p:spPr>
        <p:txBody>
          <a:bodyPr wrap="square" lIns="0" tIns="0" rIns="0" bIns="0" rtlCol="0"/>
          <a:lstStyle/>
          <a:p/>
        </p:txBody>
      </p:sp>
      <p:grpSp>
        <p:nvGrpSpPr>
          <p:cNvPr id="15" name="object 15" descr=""/>
          <p:cNvGrpSpPr/>
          <p:nvPr/>
        </p:nvGrpSpPr>
        <p:grpSpPr>
          <a:xfrm>
            <a:off x="1183053" y="1746382"/>
            <a:ext cx="201930" cy="703580"/>
            <a:chOff x="1183053" y="1746382"/>
            <a:chExt cx="201930" cy="703580"/>
          </a:xfrm>
        </p:grpSpPr>
        <p:pic>
          <p:nvPicPr>
            <p:cNvPr id="16" name="object 16" descr=""/>
            <p:cNvPicPr/>
            <p:nvPr/>
          </p:nvPicPr>
          <p:blipFill>
            <a:blip r:embed="rId2" cstate="print"/>
            <a:stretch>
              <a:fillRect/>
            </a:stretch>
          </p:blipFill>
          <p:spPr>
            <a:xfrm>
              <a:off x="1203849" y="1746382"/>
              <a:ext cx="180911" cy="145161"/>
            </a:xfrm>
            <a:prstGeom prst="rect">
              <a:avLst/>
            </a:prstGeom>
          </p:spPr>
        </p:pic>
        <p:sp>
          <p:nvSpPr>
            <p:cNvPr id="17" name="object 17" descr=""/>
            <p:cNvSpPr/>
            <p:nvPr/>
          </p:nvSpPr>
          <p:spPr>
            <a:xfrm>
              <a:off x="1187815" y="2274543"/>
              <a:ext cx="20955" cy="170815"/>
            </a:xfrm>
            <a:custGeom>
              <a:avLst/>
              <a:gdLst/>
              <a:ahLst/>
              <a:cxnLst/>
              <a:rect l="l" t="t" r="r" b="b"/>
              <a:pathLst>
                <a:path w="20955" h="170814">
                  <a:moveTo>
                    <a:pt x="0" y="170395"/>
                  </a:moveTo>
                  <a:lnTo>
                    <a:pt x="892" y="139112"/>
                  </a:lnTo>
                  <a:lnTo>
                    <a:pt x="3248" y="111820"/>
                  </a:lnTo>
                  <a:lnTo>
                    <a:pt x="6579" y="92514"/>
                  </a:lnTo>
                  <a:lnTo>
                    <a:pt x="10401" y="85191"/>
                  </a:lnTo>
                  <a:lnTo>
                    <a:pt x="14217" y="77870"/>
                  </a:lnTo>
                  <a:lnTo>
                    <a:pt x="17549" y="58569"/>
                  </a:lnTo>
                  <a:lnTo>
                    <a:pt x="19907" y="31281"/>
                  </a:lnTo>
                  <a:lnTo>
                    <a:pt x="20802" y="0"/>
                  </a:lnTo>
                </a:path>
              </a:pathLst>
            </a:custGeom>
            <a:ln w="9525">
              <a:solidFill>
                <a:srgbClr val="B6DCDF"/>
              </a:solidFill>
            </a:ln>
          </p:spPr>
          <p:txBody>
            <a:bodyPr wrap="square" lIns="0" tIns="0" rIns="0" bIns="0" rtlCol="0"/>
            <a:lstStyle/>
            <a:p/>
          </p:txBody>
        </p:sp>
      </p:grpSp>
      <p:sp>
        <p:nvSpPr>
          <p:cNvPr id="18" name="object 18" descr=""/>
          <p:cNvSpPr txBox="1"/>
          <p:nvPr/>
        </p:nvSpPr>
        <p:spPr>
          <a:xfrm>
            <a:off x="946810" y="2779458"/>
            <a:ext cx="1383030" cy="261620"/>
          </a:xfrm>
          <a:prstGeom prst="rect">
            <a:avLst/>
          </a:prstGeom>
          <a:solidFill>
            <a:srgbClr val="88827C"/>
          </a:solidFill>
        </p:spPr>
        <p:txBody>
          <a:bodyPr wrap="square" lIns="0" tIns="79375" rIns="0" bIns="0" rtlCol="0" vert="horz">
            <a:spAutoFit/>
          </a:bodyPr>
          <a:lstStyle/>
          <a:p>
            <a:pPr marL="81280">
              <a:lnSpc>
                <a:spcPct val="100000"/>
              </a:lnSpc>
              <a:spcBef>
                <a:spcPts val="625"/>
              </a:spcBef>
            </a:pPr>
            <a:r>
              <a:rPr dirty="0" sz="1000" b="1">
                <a:solidFill>
                  <a:srgbClr val="FFFFFF"/>
                </a:solidFill>
                <a:latin typeface="Microsoft YaHei"/>
                <a:cs typeface="Microsoft YaHei"/>
              </a:rPr>
              <a:t>或采用</a:t>
            </a:r>
            <a:r>
              <a:rPr dirty="0" sz="1000" b="1">
                <a:solidFill>
                  <a:srgbClr val="FFFFFF"/>
                </a:solidFill>
                <a:latin typeface="Arial"/>
                <a:cs typeface="Arial"/>
              </a:rPr>
              <a:t>4/5G</a:t>
            </a:r>
            <a:r>
              <a:rPr dirty="0" sz="1000" spc="-40" b="1">
                <a:solidFill>
                  <a:srgbClr val="FFFFFF"/>
                </a:solidFill>
                <a:latin typeface="Arial"/>
                <a:cs typeface="Arial"/>
              </a:rPr>
              <a:t> </a:t>
            </a:r>
            <a:r>
              <a:rPr dirty="0" sz="1000" b="1">
                <a:solidFill>
                  <a:srgbClr val="FFFFFF"/>
                </a:solidFill>
                <a:latin typeface="Microsoft YaHei"/>
                <a:cs typeface="Microsoft YaHei"/>
              </a:rPr>
              <a:t>双模</a:t>
            </a:r>
            <a:r>
              <a:rPr dirty="0" sz="1000" spc="-25" b="1">
                <a:solidFill>
                  <a:srgbClr val="FFFFFF"/>
                </a:solidFill>
                <a:latin typeface="Arial"/>
                <a:cs typeface="Arial"/>
              </a:rPr>
              <a:t>BBU</a:t>
            </a:r>
            <a:endParaRPr sz="1000">
              <a:latin typeface="Arial"/>
              <a:cs typeface="Arial"/>
            </a:endParaRPr>
          </a:p>
        </p:txBody>
      </p:sp>
      <p:sp>
        <p:nvSpPr>
          <p:cNvPr id="19" name="object 19" descr=""/>
          <p:cNvSpPr txBox="1"/>
          <p:nvPr/>
        </p:nvSpPr>
        <p:spPr>
          <a:xfrm>
            <a:off x="720777" y="1685416"/>
            <a:ext cx="177800" cy="162560"/>
          </a:xfrm>
          <a:prstGeom prst="rect">
            <a:avLst/>
          </a:prstGeom>
        </p:spPr>
        <p:txBody>
          <a:bodyPr wrap="square" lIns="0" tIns="12700" rIns="0" bIns="0" rtlCol="0" vert="horz">
            <a:spAutoFit/>
          </a:bodyPr>
          <a:lstStyle/>
          <a:p>
            <a:pPr marL="12700">
              <a:lnSpc>
                <a:spcPct val="100000"/>
              </a:lnSpc>
              <a:spcBef>
                <a:spcPts val="100"/>
              </a:spcBef>
            </a:pPr>
            <a:r>
              <a:rPr dirty="0" sz="900" spc="-25">
                <a:latin typeface="Arial MT"/>
                <a:cs typeface="Arial MT"/>
              </a:rPr>
              <a:t>4G</a:t>
            </a:r>
            <a:endParaRPr sz="900">
              <a:latin typeface="Arial MT"/>
              <a:cs typeface="Arial MT"/>
            </a:endParaRPr>
          </a:p>
        </p:txBody>
      </p:sp>
      <p:sp>
        <p:nvSpPr>
          <p:cNvPr id="20" name="object 20" descr=""/>
          <p:cNvSpPr txBox="1"/>
          <p:nvPr/>
        </p:nvSpPr>
        <p:spPr>
          <a:xfrm>
            <a:off x="720777" y="1822576"/>
            <a:ext cx="242570" cy="162560"/>
          </a:xfrm>
          <a:prstGeom prst="rect">
            <a:avLst/>
          </a:prstGeom>
        </p:spPr>
        <p:txBody>
          <a:bodyPr wrap="square" lIns="0" tIns="12700" rIns="0" bIns="0" rtlCol="0" vert="horz">
            <a:spAutoFit/>
          </a:bodyPr>
          <a:lstStyle/>
          <a:p>
            <a:pPr marL="12700">
              <a:lnSpc>
                <a:spcPct val="100000"/>
              </a:lnSpc>
              <a:spcBef>
                <a:spcPts val="100"/>
              </a:spcBef>
            </a:pPr>
            <a:r>
              <a:rPr dirty="0" sz="900" spc="-25">
                <a:latin typeface="Arial MT"/>
                <a:cs typeface="Arial MT"/>
              </a:rPr>
              <a:t>8TR</a:t>
            </a:r>
            <a:endParaRPr sz="900">
              <a:latin typeface="Arial MT"/>
              <a:cs typeface="Arial MT"/>
            </a:endParaRPr>
          </a:p>
        </p:txBody>
      </p:sp>
      <p:sp>
        <p:nvSpPr>
          <p:cNvPr id="21" name="object 21" descr=""/>
          <p:cNvSpPr txBox="1"/>
          <p:nvPr/>
        </p:nvSpPr>
        <p:spPr>
          <a:xfrm>
            <a:off x="2070660" y="1684731"/>
            <a:ext cx="806450" cy="162560"/>
          </a:xfrm>
          <a:prstGeom prst="rect">
            <a:avLst/>
          </a:prstGeom>
        </p:spPr>
        <p:txBody>
          <a:bodyPr wrap="square" lIns="0" tIns="12700" rIns="0" bIns="0" rtlCol="0" vert="horz">
            <a:spAutoFit/>
          </a:bodyPr>
          <a:lstStyle/>
          <a:p>
            <a:pPr marL="12700">
              <a:lnSpc>
                <a:spcPct val="100000"/>
              </a:lnSpc>
              <a:spcBef>
                <a:spcPts val="100"/>
              </a:spcBef>
            </a:pPr>
            <a:r>
              <a:rPr dirty="0" sz="900" spc="-10">
                <a:latin typeface="Arial MT"/>
                <a:cs typeface="Arial MT"/>
              </a:rPr>
              <a:t>64/16TR</a:t>
            </a:r>
            <a:r>
              <a:rPr dirty="0" sz="900" spc="-20">
                <a:latin typeface="Microsoft YaHei"/>
                <a:cs typeface="Microsoft YaHei"/>
              </a:rPr>
              <a:t>，支持</a:t>
            </a:r>
            <a:endParaRPr sz="900">
              <a:latin typeface="Microsoft YaHei"/>
              <a:cs typeface="Microsoft YaHei"/>
            </a:endParaRPr>
          </a:p>
        </p:txBody>
      </p:sp>
      <p:sp>
        <p:nvSpPr>
          <p:cNvPr id="22" name="object 22" descr=""/>
          <p:cNvSpPr txBox="1"/>
          <p:nvPr/>
        </p:nvSpPr>
        <p:spPr>
          <a:xfrm>
            <a:off x="2070660" y="1821891"/>
            <a:ext cx="996315" cy="299720"/>
          </a:xfrm>
          <a:prstGeom prst="rect">
            <a:avLst/>
          </a:prstGeom>
        </p:spPr>
        <p:txBody>
          <a:bodyPr wrap="square" lIns="0" tIns="12700" rIns="0" bIns="0" rtlCol="0" vert="horz">
            <a:spAutoFit/>
          </a:bodyPr>
          <a:lstStyle/>
          <a:p>
            <a:pPr marL="12700" marR="5080">
              <a:lnSpc>
                <a:spcPct val="100000"/>
              </a:lnSpc>
              <a:spcBef>
                <a:spcPts val="100"/>
              </a:spcBef>
            </a:pPr>
            <a:r>
              <a:rPr dirty="0" sz="900" spc="-10">
                <a:latin typeface="Arial MT"/>
                <a:cs typeface="Arial MT"/>
              </a:rPr>
              <a:t>160M</a:t>
            </a:r>
            <a:r>
              <a:rPr dirty="0" sz="900" spc="-10">
                <a:latin typeface="Microsoft YaHei"/>
                <a:cs typeface="Microsoft YaHei"/>
              </a:rPr>
              <a:t>带宽，前期配</a:t>
            </a:r>
            <a:r>
              <a:rPr dirty="0" sz="900">
                <a:latin typeface="Microsoft YaHei"/>
                <a:cs typeface="Microsoft YaHei"/>
              </a:rPr>
              <a:t>置</a:t>
            </a:r>
            <a:r>
              <a:rPr dirty="0" sz="900" spc="-10">
                <a:latin typeface="Arial MT"/>
                <a:cs typeface="Arial MT"/>
              </a:rPr>
              <a:t>5G</a:t>
            </a:r>
            <a:r>
              <a:rPr dirty="0" sz="900" spc="-25">
                <a:latin typeface="Microsoft YaHei"/>
                <a:cs typeface="Microsoft YaHei"/>
              </a:rPr>
              <a:t>载波</a:t>
            </a:r>
            <a:endParaRPr sz="900">
              <a:latin typeface="Microsoft YaHei"/>
              <a:cs typeface="Microsoft YaHei"/>
            </a:endParaRPr>
          </a:p>
        </p:txBody>
      </p:sp>
      <p:sp>
        <p:nvSpPr>
          <p:cNvPr id="23" name="object 23" descr=""/>
          <p:cNvSpPr txBox="1"/>
          <p:nvPr/>
        </p:nvSpPr>
        <p:spPr>
          <a:xfrm>
            <a:off x="3107054" y="1330617"/>
            <a:ext cx="432434" cy="432434"/>
          </a:xfrm>
          <a:prstGeom prst="rect">
            <a:avLst/>
          </a:prstGeom>
          <a:solidFill>
            <a:srgbClr val="66CCFF"/>
          </a:solidFill>
        </p:spPr>
        <p:txBody>
          <a:bodyPr wrap="square" lIns="0" tIns="12700" rIns="0" bIns="0" rtlCol="0" vert="horz">
            <a:spAutoFit/>
          </a:bodyPr>
          <a:lstStyle/>
          <a:p>
            <a:pPr>
              <a:lnSpc>
                <a:spcPct val="100000"/>
              </a:lnSpc>
              <a:spcBef>
                <a:spcPts val="100"/>
              </a:spcBef>
            </a:pPr>
            <a:endParaRPr sz="900">
              <a:latin typeface="Times New Roman"/>
              <a:cs typeface="Times New Roman"/>
            </a:endParaRPr>
          </a:p>
          <a:p>
            <a:pPr marL="97790">
              <a:lnSpc>
                <a:spcPct val="100000"/>
              </a:lnSpc>
            </a:pPr>
            <a:r>
              <a:rPr dirty="0" sz="900" spc="-25">
                <a:latin typeface="Arial MT"/>
                <a:cs typeface="Arial MT"/>
              </a:rPr>
              <a:t>AAU</a:t>
            </a:r>
            <a:endParaRPr sz="900">
              <a:latin typeface="Arial MT"/>
              <a:cs typeface="Arial MT"/>
            </a:endParaRPr>
          </a:p>
        </p:txBody>
      </p:sp>
      <p:sp>
        <p:nvSpPr>
          <p:cNvPr id="24" name="object 24" descr=""/>
          <p:cNvSpPr txBox="1"/>
          <p:nvPr/>
        </p:nvSpPr>
        <p:spPr>
          <a:xfrm>
            <a:off x="3128556" y="2763443"/>
            <a:ext cx="915035" cy="261620"/>
          </a:xfrm>
          <a:prstGeom prst="rect">
            <a:avLst/>
          </a:prstGeom>
          <a:solidFill>
            <a:srgbClr val="31859C"/>
          </a:solidFill>
        </p:spPr>
        <p:txBody>
          <a:bodyPr wrap="square" lIns="0" tIns="79375" rIns="0" bIns="0" rtlCol="0" vert="horz">
            <a:spAutoFit/>
          </a:bodyPr>
          <a:lstStyle/>
          <a:p>
            <a:pPr marL="20320">
              <a:lnSpc>
                <a:spcPct val="100000"/>
              </a:lnSpc>
              <a:spcBef>
                <a:spcPts val="625"/>
              </a:spcBef>
            </a:pPr>
            <a:r>
              <a:rPr dirty="0" sz="1000" b="1">
                <a:solidFill>
                  <a:srgbClr val="FFFFFF"/>
                </a:solidFill>
                <a:latin typeface="Arial"/>
                <a:cs typeface="Arial"/>
              </a:rPr>
              <a:t>4/5G</a:t>
            </a:r>
            <a:r>
              <a:rPr dirty="0" sz="1000" spc="-35" b="1">
                <a:solidFill>
                  <a:srgbClr val="FFFFFF"/>
                </a:solidFill>
                <a:latin typeface="Arial"/>
                <a:cs typeface="Arial"/>
              </a:rPr>
              <a:t> </a:t>
            </a:r>
            <a:r>
              <a:rPr dirty="0" sz="1000" spc="-10" b="1">
                <a:solidFill>
                  <a:srgbClr val="FFFFFF"/>
                </a:solidFill>
                <a:latin typeface="Microsoft YaHei"/>
                <a:cs typeface="Microsoft YaHei"/>
              </a:rPr>
              <a:t>双模 </a:t>
            </a:r>
            <a:r>
              <a:rPr dirty="0" sz="1000" spc="-25" b="1">
                <a:solidFill>
                  <a:srgbClr val="FFFFFF"/>
                </a:solidFill>
                <a:latin typeface="Arial"/>
                <a:cs typeface="Arial"/>
              </a:rPr>
              <a:t>BBU</a:t>
            </a:r>
            <a:endParaRPr sz="1000">
              <a:latin typeface="Arial"/>
              <a:cs typeface="Arial"/>
            </a:endParaRPr>
          </a:p>
        </p:txBody>
      </p:sp>
      <p:sp>
        <p:nvSpPr>
          <p:cNvPr id="25" name="object 25" descr=""/>
          <p:cNvSpPr/>
          <p:nvPr/>
        </p:nvSpPr>
        <p:spPr>
          <a:xfrm>
            <a:off x="3323075" y="1762664"/>
            <a:ext cx="262890" cy="1001394"/>
          </a:xfrm>
          <a:custGeom>
            <a:avLst/>
            <a:gdLst/>
            <a:ahLst/>
            <a:cxnLst/>
            <a:rect l="l" t="t" r="r" b="b"/>
            <a:pathLst>
              <a:path w="262889" h="1001394">
                <a:moveTo>
                  <a:pt x="0" y="0"/>
                </a:moveTo>
                <a:lnTo>
                  <a:pt x="1579" y="68045"/>
                </a:lnTo>
                <a:lnTo>
                  <a:pt x="6120" y="134964"/>
                </a:lnTo>
                <a:lnTo>
                  <a:pt x="13326" y="199627"/>
                </a:lnTo>
                <a:lnTo>
                  <a:pt x="22902" y="260908"/>
                </a:lnTo>
                <a:lnTo>
                  <a:pt x="34551" y="317677"/>
                </a:lnTo>
                <a:lnTo>
                  <a:pt x="47977" y="368807"/>
                </a:lnTo>
                <a:lnTo>
                  <a:pt x="62883" y="413170"/>
                </a:lnTo>
                <a:lnTo>
                  <a:pt x="78974" y="449638"/>
                </a:lnTo>
                <a:lnTo>
                  <a:pt x="113526" y="494377"/>
                </a:lnTo>
                <a:lnTo>
                  <a:pt x="149261" y="506407"/>
                </a:lnTo>
                <a:lnTo>
                  <a:pt x="166833" y="523701"/>
                </a:lnTo>
                <a:lnTo>
                  <a:pt x="199900" y="587611"/>
                </a:lnTo>
                <a:lnTo>
                  <a:pt x="214805" y="631972"/>
                </a:lnTo>
                <a:lnTo>
                  <a:pt x="228229" y="683100"/>
                </a:lnTo>
                <a:lnTo>
                  <a:pt x="239876" y="739868"/>
                </a:lnTo>
                <a:lnTo>
                  <a:pt x="249451" y="801147"/>
                </a:lnTo>
                <a:lnTo>
                  <a:pt x="256656" y="865809"/>
                </a:lnTo>
                <a:lnTo>
                  <a:pt x="261196" y="932727"/>
                </a:lnTo>
                <a:lnTo>
                  <a:pt x="262775" y="1000772"/>
                </a:lnTo>
              </a:path>
            </a:pathLst>
          </a:custGeom>
          <a:ln w="9525">
            <a:solidFill>
              <a:srgbClr val="B6DCDF"/>
            </a:solidFill>
          </a:ln>
        </p:spPr>
        <p:txBody>
          <a:bodyPr wrap="square" lIns="0" tIns="0" rIns="0" bIns="0" rtlCol="0"/>
          <a:lstStyle/>
          <a:p/>
        </p:txBody>
      </p:sp>
      <p:sp>
        <p:nvSpPr>
          <p:cNvPr id="26" name="object 26" descr=""/>
          <p:cNvSpPr txBox="1"/>
          <p:nvPr/>
        </p:nvSpPr>
        <p:spPr>
          <a:xfrm>
            <a:off x="3555917" y="1687202"/>
            <a:ext cx="559435" cy="436245"/>
          </a:xfrm>
          <a:prstGeom prst="rect">
            <a:avLst/>
          </a:prstGeom>
        </p:spPr>
        <p:txBody>
          <a:bodyPr wrap="square" lIns="0" tIns="12700" rIns="0" bIns="0" rtlCol="0" vert="horz">
            <a:spAutoFit/>
          </a:bodyPr>
          <a:lstStyle/>
          <a:p>
            <a:pPr algn="ctr">
              <a:lnSpc>
                <a:spcPct val="100000"/>
              </a:lnSpc>
              <a:spcBef>
                <a:spcPts val="100"/>
              </a:spcBef>
            </a:pPr>
            <a:r>
              <a:rPr dirty="0" sz="900" spc="-20">
                <a:latin typeface="Arial MT"/>
                <a:cs typeface="Arial MT"/>
              </a:rPr>
              <a:t>4&amp;5G</a:t>
            </a:r>
            <a:endParaRPr sz="900">
              <a:latin typeface="Arial MT"/>
              <a:cs typeface="Arial MT"/>
            </a:endParaRPr>
          </a:p>
          <a:p>
            <a:pPr algn="ctr">
              <a:lnSpc>
                <a:spcPts val="1075"/>
              </a:lnSpc>
            </a:pPr>
            <a:r>
              <a:rPr dirty="0" sz="900" spc="-10">
                <a:latin typeface="Arial MT"/>
                <a:cs typeface="Arial MT"/>
              </a:rPr>
              <a:t>64/16TR,1</a:t>
            </a:r>
            <a:endParaRPr sz="900">
              <a:latin typeface="Arial MT"/>
              <a:cs typeface="Arial MT"/>
            </a:endParaRPr>
          </a:p>
          <a:p>
            <a:pPr algn="ctr">
              <a:lnSpc>
                <a:spcPts val="1075"/>
              </a:lnSpc>
            </a:pPr>
            <a:r>
              <a:rPr dirty="0" sz="900" spc="-10">
                <a:latin typeface="Arial MT"/>
                <a:cs typeface="Arial MT"/>
              </a:rPr>
              <a:t>60M</a:t>
            </a:r>
            <a:r>
              <a:rPr dirty="0" sz="900" spc="-25">
                <a:latin typeface="Microsoft YaHei"/>
                <a:cs typeface="Microsoft YaHei"/>
              </a:rPr>
              <a:t>带宽</a:t>
            </a:r>
            <a:endParaRPr sz="900">
              <a:latin typeface="Microsoft YaHei"/>
              <a:cs typeface="Microsoft YaHei"/>
            </a:endParaRPr>
          </a:p>
        </p:txBody>
      </p:sp>
      <p:graphicFrame>
        <p:nvGraphicFramePr>
          <p:cNvPr id="27" name="object 27" descr=""/>
          <p:cNvGraphicFramePr>
            <a:graphicFrameLocks noGrp="1"/>
          </p:cNvGraphicFramePr>
          <p:nvPr/>
        </p:nvGraphicFramePr>
        <p:xfrm>
          <a:off x="409661" y="3822204"/>
          <a:ext cx="2000250" cy="190500"/>
        </p:xfrm>
        <a:graphic>
          <a:graphicData uri="http://schemas.openxmlformats.org/drawingml/2006/table">
            <a:tbl>
              <a:tblPr firstRow="1" bandRow="1">
                <a:tableStyleId>{2D5ABB26-0587-4C30-8999-92F81FD0307C}</a:tableStyleId>
              </a:tblPr>
              <a:tblGrid>
                <a:gridCol w="1561465"/>
                <a:gridCol w="349884"/>
              </a:tblGrid>
              <a:tr h="190500">
                <a:tc>
                  <a:txBody>
                    <a:bodyPr/>
                    <a:lstStyle/>
                    <a:p>
                      <a:pPr algn="ctr">
                        <a:lnSpc>
                          <a:spcPct val="100000"/>
                        </a:lnSpc>
                        <a:spcBef>
                          <a:spcPts val="235"/>
                        </a:spcBef>
                      </a:pPr>
                      <a:r>
                        <a:rPr dirty="0" sz="800" spc="-10" b="1">
                          <a:solidFill>
                            <a:srgbClr val="FFFFFF"/>
                          </a:solidFill>
                          <a:latin typeface="Microsoft YaHei"/>
                          <a:cs typeface="Microsoft YaHei"/>
                        </a:rPr>
                        <a:t>5G/100M</a:t>
                      </a:r>
                      <a:endParaRPr sz="800">
                        <a:latin typeface="Microsoft YaHei"/>
                        <a:cs typeface="Microsoft YaHei"/>
                      </a:endParaRPr>
                    </a:p>
                  </a:txBody>
                  <a:tcPr marL="0" marR="0" marB="0" marT="2984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D2D8A"/>
                    </a:solidFill>
                  </a:tcPr>
                </a:tc>
                <a:tc>
                  <a:txBody>
                    <a:bodyPr/>
                    <a:lstStyle/>
                    <a:p>
                      <a:pPr marL="104139">
                        <a:lnSpc>
                          <a:spcPct val="100000"/>
                        </a:lnSpc>
                        <a:spcBef>
                          <a:spcPts val="235"/>
                        </a:spcBef>
                      </a:pPr>
                      <a:r>
                        <a:rPr dirty="0" sz="800" spc="-25" b="1">
                          <a:solidFill>
                            <a:srgbClr val="FFFFFF"/>
                          </a:solidFill>
                          <a:latin typeface="Microsoft YaHei"/>
                          <a:cs typeface="Microsoft YaHei"/>
                        </a:rPr>
                        <a:t>4G</a:t>
                      </a:r>
                      <a:endParaRPr sz="800">
                        <a:latin typeface="Microsoft YaHei"/>
                        <a:cs typeface="Microsoft YaHei"/>
                      </a:endParaRPr>
                    </a:p>
                  </a:txBody>
                  <a:tcPr marL="0" marR="0" marB="0" marT="2984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r>
            </a:tbl>
          </a:graphicData>
        </a:graphic>
      </p:graphicFrame>
      <p:graphicFrame>
        <p:nvGraphicFramePr>
          <p:cNvPr id="28" name="object 28" descr=""/>
          <p:cNvGraphicFramePr>
            <a:graphicFrameLocks noGrp="1"/>
          </p:cNvGraphicFramePr>
          <p:nvPr/>
        </p:nvGraphicFramePr>
        <p:xfrm>
          <a:off x="2517040" y="3822204"/>
          <a:ext cx="1962785" cy="190500"/>
        </p:xfrm>
        <a:graphic>
          <a:graphicData uri="http://schemas.openxmlformats.org/drawingml/2006/table">
            <a:tbl>
              <a:tblPr firstRow="1" bandRow="1">
                <a:tableStyleId>{2D5ABB26-0587-4C30-8999-92F81FD0307C}</a:tableStyleId>
              </a:tblPr>
              <a:tblGrid>
                <a:gridCol w="1214120"/>
                <a:gridCol w="329565"/>
                <a:gridCol w="329565"/>
              </a:tblGrid>
              <a:tr h="190500">
                <a:tc>
                  <a:txBody>
                    <a:bodyPr/>
                    <a:lstStyle/>
                    <a:p>
                      <a:pPr marL="398145">
                        <a:lnSpc>
                          <a:spcPct val="100000"/>
                        </a:lnSpc>
                        <a:spcBef>
                          <a:spcPts val="235"/>
                        </a:spcBef>
                      </a:pPr>
                      <a:r>
                        <a:rPr dirty="0" sz="800" spc="-10" b="1">
                          <a:solidFill>
                            <a:srgbClr val="FFFFFF"/>
                          </a:solidFill>
                          <a:latin typeface="Microsoft YaHei"/>
                          <a:cs typeface="Microsoft YaHei"/>
                        </a:rPr>
                        <a:t>5G/80M</a:t>
                      </a:r>
                      <a:endParaRPr sz="800">
                        <a:latin typeface="Microsoft YaHei"/>
                        <a:cs typeface="Microsoft YaHei"/>
                      </a:endParaRPr>
                    </a:p>
                  </a:txBody>
                  <a:tcPr marL="0" marR="0" marB="0" marT="2984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D2D8A"/>
                    </a:solidFill>
                  </a:tcPr>
                </a:tc>
                <a:tc>
                  <a:txBody>
                    <a:bodyPr/>
                    <a:lstStyle/>
                    <a:p>
                      <a:pPr marL="94615">
                        <a:lnSpc>
                          <a:spcPct val="100000"/>
                        </a:lnSpc>
                        <a:spcBef>
                          <a:spcPts val="235"/>
                        </a:spcBef>
                      </a:pPr>
                      <a:r>
                        <a:rPr dirty="0" sz="800" spc="-25" b="1">
                          <a:solidFill>
                            <a:srgbClr val="FFFFFF"/>
                          </a:solidFill>
                          <a:latin typeface="Microsoft YaHei"/>
                          <a:cs typeface="Microsoft YaHei"/>
                        </a:rPr>
                        <a:t>4G</a:t>
                      </a:r>
                      <a:endParaRPr sz="800">
                        <a:latin typeface="Microsoft YaHei"/>
                        <a:cs typeface="Microsoft YaHei"/>
                      </a:endParaRPr>
                    </a:p>
                  </a:txBody>
                  <a:tcPr marL="0" marR="0" marB="0" marT="2984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marL="94615">
                        <a:lnSpc>
                          <a:spcPct val="100000"/>
                        </a:lnSpc>
                        <a:spcBef>
                          <a:spcPts val="235"/>
                        </a:spcBef>
                      </a:pPr>
                      <a:r>
                        <a:rPr dirty="0" sz="800" spc="-25" b="1">
                          <a:solidFill>
                            <a:srgbClr val="FFFFFF"/>
                          </a:solidFill>
                          <a:latin typeface="Microsoft YaHei"/>
                          <a:cs typeface="Microsoft YaHei"/>
                        </a:rPr>
                        <a:t>4G</a:t>
                      </a:r>
                      <a:endParaRPr sz="800">
                        <a:latin typeface="Microsoft YaHei"/>
                        <a:cs typeface="Microsoft YaHei"/>
                      </a:endParaRPr>
                    </a:p>
                  </a:txBody>
                  <a:tcPr marL="0" marR="0" marB="0" marT="2984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r>
            </a:tbl>
          </a:graphicData>
        </a:graphic>
      </p:graphicFrame>
      <p:sp>
        <p:nvSpPr>
          <p:cNvPr id="29" name="object 29" descr=""/>
          <p:cNvSpPr txBox="1"/>
          <p:nvPr/>
        </p:nvSpPr>
        <p:spPr>
          <a:xfrm>
            <a:off x="331930" y="3317721"/>
            <a:ext cx="4129404" cy="539115"/>
          </a:xfrm>
          <a:prstGeom prst="rect">
            <a:avLst/>
          </a:prstGeom>
        </p:spPr>
        <p:txBody>
          <a:bodyPr wrap="square" lIns="0" tIns="12700" rIns="0" bIns="0" rtlCol="0" vert="horz">
            <a:spAutoFit/>
          </a:bodyPr>
          <a:lstStyle/>
          <a:p>
            <a:pPr marL="183515" marR="118745" indent="-171450">
              <a:lnSpc>
                <a:spcPct val="100000"/>
              </a:lnSpc>
              <a:spcBef>
                <a:spcPts val="100"/>
              </a:spcBef>
              <a:buFont typeface="Wingdings"/>
              <a:buChar char=""/>
              <a:tabLst>
                <a:tab pos="183515" algn="l"/>
              </a:tabLst>
            </a:pPr>
            <a:r>
              <a:rPr dirty="0" sz="1200">
                <a:latin typeface="Microsoft YaHei"/>
                <a:cs typeface="Microsoft YaHei"/>
              </a:rPr>
              <a:t>方式一：已有</a:t>
            </a:r>
            <a:r>
              <a:rPr dirty="0" sz="1200" spc="-10">
                <a:latin typeface="Arial MT"/>
                <a:cs typeface="Arial MT"/>
              </a:rPr>
              <a:t>D</a:t>
            </a:r>
            <a:r>
              <a:rPr dirty="0" sz="1200">
                <a:latin typeface="Microsoft YaHei"/>
                <a:cs typeface="Microsoft YaHei"/>
              </a:rPr>
              <a:t>频段</a:t>
            </a:r>
            <a:r>
              <a:rPr dirty="0" sz="1200" spc="-10">
                <a:latin typeface="Arial MT"/>
                <a:cs typeface="Arial MT"/>
              </a:rPr>
              <a:t>4G</a:t>
            </a:r>
            <a:r>
              <a:rPr dirty="0" sz="1200" spc="-10">
                <a:latin typeface="Microsoft YaHei"/>
                <a:cs typeface="Microsoft YaHei"/>
              </a:rPr>
              <a:t>，并且天面资源不紧张的情况下可</a:t>
            </a:r>
            <a:r>
              <a:rPr dirty="0" sz="1200">
                <a:latin typeface="Microsoft YaHei"/>
                <a:cs typeface="Microsoft YaHei"/>
              </a:rPr>
              <a:t>采用，对现网</a:t>
            </a:r>
            <a:r>
              <a:rPr dirty="0" sz="1200" spc="-10">
                <a:latin typeface="Arial MT"/>
                <a:cs typeface="Arial MT"/>
              </a:rPr>
              <a:t>4G</a:t>
            </a:r>
            <a:r>
              <a:rPr dirty="0" sz="1200" spc="-5">
                <a:latin typeface="Microsoft YaHei"/>
                <a:cs typeface="Microsoft YaHei"/>
              </a:rPr>
              <a:t>无影响，频率分配方案建议如下：</a:t>
            </a:r>
            <a:endParaRPr sz="1200">
              <a:latin typeface="Microsoft YaHei"/>
              <a:cs typeface="Microsoft YaHei"/>
            </a:endParaRPr>
          </a:p>
          <a:p>
            <a:pPr marL="97155">
              <a:lnSpc>
                <a:spcPct val="100000"/>
              </a:lnSpc>
              <a:spcBef>
                <a:spcPts val="200"/>
              </a:spcBef>
              <a:tabLst>
                <a:tab pos="1391285" algn="l"/>
                <a:tab pos="1751330" algn="l"/>
                <a:tab pos="2146300" algn="l"/>
                <a:tab pos="3242945" algn="l"/>
                <a:tab pos="3890645" algn="l"/>
              </a:tabLst>
            </a:pPr>
            <a:r>
              <a:rPr dirty="0" sz="800" spc="-20" b="1">
                <a:solidFill>
                  <a:srgbClr val="FF0000"/>
                </a:solidFill>
                <a:latin typeface="Arial"/>
                <a:cs typeface="Arial"/>
              </a:rPr>
              <a:t>2515</a:t>
            </a:r>
            <a:r>
              <a:rPr dirty="0" sz="800" b="1">
                <a:solidFill>
                  <a:srgbClr val="FF0000"/>
                </a:solidFill>
                <a:latin typeface="Arial"/>
                <a:cs typeface="Arial"/>
              </a:rPr>
              <a:t>	</a:t>
            </a:r>
            <a:r>
              <a:rPr dirty="0" sz="800" spc="-20" b="1">
                <a:solidFill>
                  <a:srgbClr val="FF0000"/>
                </a:solidFill>
                <a:latin typeface="Arial"/>
                <a:cs typeface="Arial"/>
              </a:rPr>
              <a:t>2615</a:t>
            </a:r>
            <a:r>
              <a:rPr dirty="0" sz="800" b="1">
                <a:solidFill>
                  <a:srgbClr val="FF0000"/>
                </a:solidFill>
                <a:latin typeface="Arial"/>
                <a:cs typeface="Arial"/>
              </a:rPr>
              <a:t>	</a:t>
            </a:r>
            <a:r>
              <a:rPr dirty="0" sz="800" spc="-20" b="1">
                <a:solidFill>
                  <a:srgbClr val="FF0000"/>
                </a:solidFill>
                <a:latin typeface="Arial"/>
                <a:cs typeface="Arial"/>
              </a:rPr>
              <a:t>2635</a:t>
            </a:r>
            <a:r>
              <a:rPr dirty="0" sz="800" b="1">
                <a:solidFill>
                  <a:srgbClr val="FF0000"/>
                </a:solidFill>
                <a:latin typeface="Arial"/>
                <a:cs typeface="Arial"/>
              </a:rPr>
              <a:t>	</a:t>
            </a:r>
            <a:r>
              <a:rPr dirty="0" sz="800" spc="-20" b="1">
                <a:solidFill>
                  <a:srgbClr val="FF0000"/>
                </a:solidFill>
                <a:latin typeface="Arial"/>
                <a:cs typeface="Arial"/>
              </a:rPr>
              <a:t>2515</a:t>
            </a:r>
            <a:r>
              <a:rPr dirty="0" sz="800" b="1">
                <a:solidFill>
                  <a:srgbClr val="FF0000"/>
                </a:solidFill>
                <a:latin typeface="Arial"/>
                <a:cs typeface="Arial"/>
              </a:rPr>
              <a:t>	</a:t>
            </a:r>
            <a:r>
              <a:rPr dirty="0" sz="800" spc="-20" b="1">
                <a:solidFill>
                  <a:srgbClr val="FF0000"/>
                </a:solidFill>
                <a:latin typeface="Arial"/>
                <a:cs typeface="Arial"/>
              </a:rPr>
              <a:t>2595</a:t>
            </a:r>
            <a:r>
              <a:rPr dirty="0" sz="800" b="1">
                <a:solidFill>
                  <a:srgbClr val="FF0000"/>
                </a:solidFill>
                <a:latin typeface="Arial"/>
                <a:cs typeface="Arial"/>
              </a:rPr>
              <a:t>	</a:t>
            </a:r>
            <a:r>
              <a:rPr dirty="0" sz="800" spc="-20" b="1">
                <a:solidFill>
                  <a:srgbClr val="FF0000"/>
                </a:solidFill>
                <a:latin typeface="Arial"/>
                <a:cs typeface="Arial"/>
              </a:rPr>
              <a:t>2635</a:t>
            </a:r>
            <a:endParaRPr sz="800">
              <a:latin typeface="Arial"/>
              <a:cs typeface="Arial"/>
            </a:endParaRPr>
          </a:p>
        </p:txBody>
      </p:sp>
      <p:graphicFrame>
        <p:nvGraphicFramePr>
          <p:cNvPr id="30" name="object 30" descr=""/>
          <p:cNvGraphicFramePr>
            <a:graphicFrameLocks noGrp="1"/>
          </p:cNvGraphicFramePr>
          <p:nvPr/>
        </p:nvGraphicFramePr>
        <p:xfrm>
          <a:off x="403645" y="4722988"/>
          <a:ext cx="1993900" cy="190500"/>
        </p:xfrm>
        <a:graphic>
          <a:graphicData uri="http://schemas.openxmlformats.org/drawingml/2006/table">
            <a:tbl>
              <a:tblPr firstRow="1" bandRow="1">
                <a:tableStyleId>{2D5ABB26-0587-4C30-8999-92F81FD0307C}</a:tableStyleId>
              </a:tblPr>
              <a:tblGrid>
                <a:gridCol w="1234440"/>
                <a:gridCol w="670560"/>
              </a:tblGrid>
              <a:tr h="190500">
                <a:tc>
                  <a:txBody>
                    <a:bodyPr/>
                    <a:lstStyle/>
                    <a:p>
                      <a:pPr marL="376555">
                        <a:lnSpc>
                          <a:spcPct val="100000"/>
                        </a:lnSpc>
                        <a:spcBef>
                          <a:spcPts val="235"/>
                        </a:spcBef>
                      </a:pPr>
                      <a:r>
                        <a:rPr dirty="0" sz="800" spc="-10" b="1">
                          <a:solidFill>
                            <a:srgbClr val="FFFFFF"/>
                          </a:solidFill>
                          <a:latin typeface="Microsoft YaHei"/>
                          <a:cs typeface="Microsoft YaHei"/>
                        </a:rPr>
                        <a:t>5G/100M</a:t>
                      </a:r>
                      <a:endParaRPr sz="800">
                        <a:latin typeface="Microsoft YaHei"/>
                        <a:cs typeface="Microsoft YaHei"/>
                      </a:endParaRPr>
                    </a:p>
                  </a:txBody>
                  <a:tcPr marL="0" marR="0" marB="0" marT="2984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D2D8A"/>
                    </a:solidFill>
                  </a:tcPr>
                </a:tc>
                <a:tc>
                  <a:txBody>
                    <a:bodyPr/>
                    <a:lstStyle/>
                    <a:p>
                      <a:pPr marL="126364">
                        <a:lnSpc>
                          <a:spcPct val="100000"/>
                        </a:lnSpc>
                        <a:spcBef>
                          <a:spcPts val="235"/>
                        </a:spcBef>
                      </a:pPr>
                      <a:r>
                        <a:rPr dirty="0" sz="800" spc="-10" b="1">
                          <a:solidFill>
                            <a:srgbClr val="FFFFFF"/>
                          </a:solidFill>
                          <a:latin typeface="Microsoft YaHei"/>
                          <a:cs typeface="Microsoft YaHei"/>
                        </a:rPr>
                        <a:t>4G/60M</a:t>
                      </a:r>
                      <a:endParaRPr sz="800">
                        <a:latin typeface="Microsoft YaHei"/>
                        <a:cs typeface="Microsoft YaHei"/>
                      </a:endParaRPr>
                    </a:p>
                  </a:txBody>
                  <a:tcPr marL="0" marR="0" marB="0" marT="2984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r>
            </a:tbl>
          </a:graphicData>
        </a:graphic>
      </p:graphicFrame>
      <p:sp>
        <p:nvSpPr>
          <p:cNvPr id="31" name="object 31" descr=""/>
          <p:cNvSpPr txBox="1"/>
          <p:nvPr/>
        </p:nvSpPr>
        <p:spPr>
          <a:xfrm>
            <a:off x="6418554" y="1314907"/>
            <a:ext cx="169545" cy="436245"/>
          </a:xfrm>
          <a:prstGeom prst="rect">
            <a:avLst/>
          </a:prstGeom>
          <a:solidFill>
            <a:srgbClr val="66CCFF"/>
          </a:solidFill>
        </p:spPr>
        <p:txBody>
          <a:bodyPr wrap="square" lIns="0" tIns="76200" rIns="0" bIns="0" rtlCol="0" vert="horz">
            <a:spAutoFit/>
          </a:bodyPr>
          <a:lstStyle/>
          <a:p>
            <a:pPr marL="27305" marR="19685">
              <a:lnSpc>
                <a:spcPct val="100000"/>
              </a:lnSpc>
              <a:spcBef>
                <a:spcPts val="600"/>
              </a:spcBef>
            </a:pPr>
            <a:r>
              <a:rPr dirty="0" sz="900" spc="-50">
                <a:latin typeface="Microsoft YaHei"/>
                <a:cs typeface="Microsoft YaHei"/>
              </a:rPr>
              <a:t>天面</a:t>
            </a:r>
            <a:endParaRPr sz="900">
              <a:latin typeface="Microsoft YaHei"/>
              <a:cs typeface="Microsoft YaHei"/>
            </a:endParaRPr>
          </a:p>
        </p:txBody>
      </p:sp>
      <p:sp>
        <p:nvSpPr>
          <p:cNvPr id="32" name="object 32" descr=""/>
          <p:cNvSpPr txBox="1"/>
          <p:nvPr/>
        </p:nvSpPr>
        <p:spPr>
          <a:xfrm>
            <a:off x="5933605" y="1314907"/>
            <a:ext cx="158115" cy="436245"/>
          </a:xfrm>
          <a:prstGeom prst="rect">
            <a:avLst/>
          </a:prstGeom>
          <a:solidFill>
            <a:srgbClr val="92D050"/>
          </a:solidFill>
        </p:spPr>
        <p:txBody>
          <a:bodyPr wrap="square" lIns="0" tIns="76200" rIns="0" bIns="0" rtlCol="0" vert="horz">
            <a:spAutoFit/>
          </a:bodyPr>
          <a:lstStyle/>
          <a:p>
            <a:pPr marL="21590" marR="13970">
              <a:lnSpc>
                <a:spcPct val="100000"/>
              </a:lnSpc>
              <a:spcBef>
                <a:spcPts val="600"/>
              </a:spcBef>
            </a:pPr>
            <a:r>
              <a:rPr dirty="0" sz="900" spc="-50">
                <a:latin typeface="Microsoft YaHei"/>
                <a:cs typeface="Microsoft YaHei"/>
              </a:rPr>
              <a:t>天面</a:t>
            </a:r>
            <a:endParaRPr sz="900">
              <a:latin typeface="Microsoft YaHei"/>
              <a:cs typeface="Microsoft YaHei"/>
            </a:endParaRPr>
          </a:p>
        </p:txBody>
      </p:sp>
      <p:sp>
        <p:nvSpPr>
          <p:cNvPr id="33" name="object 33" descr=""/>
          <p:cNvSpPr txBox="1"/>
          <p:nvPr/>
        </p:nvSpPr>
        <p:spPr>
          <a:xfrm>
            <a:off x="5456783" y="2444940"/>
            <a:ext cx="635000" cy="277495"/>
          </a:xfrm>
          <a:prstGeom prst="rect">
            <a:avLst/>
          </a:prstGeom>
          <a:solidFill>
            <a:srgbClr val="88827C"/>
          </a:solidFill>
        </p:spPr>
        <p:txBody>
          <a:bodyPr wrap="square" lIns="0" tIns="92710" rIns="0" bIns="0" rtlCol="0" vert="horz">
            <a:spAutoFit/>
          </a:bodyPr>
          <a:lstStyle/>
          <a:p>
            <a:pPr marL="101600">
              <a:lnSpc>
                <a:spcPct val="100000"/>
              </a:lnSpc>
              <a:spcBef>
                <a:spcPts val="730"/>
              </a:spcBef>
            </a:pPr>
            <a:r>
              <a:rPr dirty="0" sz="900" b="1">
                <a:solidFill>
                  <a:srgbClr val="FFFFFF"/>
                </a:solidFill>
                <a:latin typeface="Arial"/>
                <a:cs typeface="Arial"/>
              </a:rPr>
              <a:t>4G</a:t>
            </a:r>
            <a:r>
              <a:rPr dirty="0" sz="900" spc="-10" b="1">
                <a:solidFill>
                  <a:srgbClr val="FFFFFF"/>
                </a:solidFill>
                <a:latin typeface="Arial"/>
                <a:cs typeface="Arial"/>
              </a:rPr>
              <a:t> </a:t>
            </a:r>
            <a:r>
              <a:rPr dirty="0" sz="900" spc="-25" b="1">
                <a:solidFill>
                  <a:srgbClr val="FFFFFF"/>
                </a:solidFill>
                <a:latin typeface="Arial"/>
                <a:cs typeface="Arial"/>
              </a:rPr>
              <a:t>BBU</a:t>
            </a:r>
            <a:endParaRPr sz="900">
              <a:latin typeface="Arial"/>
              <a:cs typeface="Arial"/>
            </a:endParaRPr>
          </a:p>
        </p:txBody>
      </p:sp>
      <p:sp>
        <p:nvSpPr>
          <p:cNvPr id="34" name="object 34" descr=""/>
          <p:cNvSpPr txBox="1"/>
          <p:nvPr/>
        </p:nvSpPr>
        <p:spPr>
          <a:xfrm>
            <a:off x="6357429" y="2447315"/>
            <a:ext cx="703580" cy="277495"/>
          </a:xfrm>
          <a:prstGeom prst="rect">
            <a:avLst/>
          </a:prstGeom>
          <a:solidFill>
            <a:srgbClr val="31859C"/>
          </a:solidFill>
        </p:spPr>
        <p:txBody>
          <a:bodyPr wrap="square" lIns="0" tIns="92710" rIns="0" bIns="0" rtlCol="0" vert="horz">
            <a:spAutoFit/>
          </a:bodyPr>
          <a:lstStyle/>
          <a:p>
            <a:pPr marL="135890">
              <a:lnSpc>
                <a:spcPct val="100000"/>
              </a:lnSpc>
              <a:spcBef>
                <a:spcPts val="730"/>
              </a:spcBef>
            </a:pPr>
            <a:r>
              <a:rPr dirty="0" sz="900" b="1">
                <a:solidFill>
                  <a:srgbClr val="FFFFFF"/>
                </a:solidFill>
                <a:latin typeface="Arial"/>
                <a:cs typeface="Arial"/>
              </a:rPr>
              <a:t>5G</a:t>
            </a:r>
            <a:r>
              <a:rPr dirty="0" sz="900" spc="-10" b="1">
                <a:solidFill>
                  <a:srgbClr val="FFFFFF"/>
                </a:solidFill>
                <a:latin typeface="Arial"/>
                <a:cs typeface="Arial"/>
              </a:rPr>
              <a:t> </a:t>
            </a:r>
            <a:r>
              <a:rPr dirty="0" sz="900" spc="-25" b="1">
                <a:solidFill>
                  <a:srgbClr val="FFFFFF"/>
                </a:solidFill>
                <a:latin typeface="Arial"/>
                <a:cs typeface="Arial"/>
              </a:rPr>
              <a:t>BBU</a:t>
            </a:r>
            <a:endParaRPr sz="900">
              <a:latin typeface="Arial"/>
              <a:cs typeface="Arial"/>
            </a:endParaRPr>
          </a:p>
        </p:txBody>
      </p:sp>
      <p:sp>
        <p:nvSpPr>
          <p:cNvPr id="35" name="object 35" descr=""/>
          <p:cNvSpPr/>
          <p:nvPr/>
        </p:nvSpPr>
        <p:spPr>
          <a:xfrm>
            <a:off x="5681713" y="1886788"/>
            <a:ext cx="226695" cy="387985"/>
          </a:xfrm>
          <a:custGeom>
            <a:avLst/>
            <a:gdLst/>
            <a:ahLst/>
            <a:cxnLst/>
            <a:rect l="l" t="t" r="r" b="b"/>
            <a:pathLst>
              <a:path w="226695" h="387985">
                <a:moveTo>
                  <a:pt x="226288" y="0"/>
                </a:moveTo>
                <a:lnTo>
                  <a:pt x="0" y="0"/>
                </a:lnTo>
                <a:lnTo>
                  <a:pt x="0" y="387756"/>
                </a:lnTo>
                <a:lnTo>
                  <a:pt x="226288" y="387756"/>
                </a:lnTo>
                <a:lnTo>
                  <a:pt x="226288" y="0"/>
                </a:lnTo>
                <a:close/>
              </a:path>
            </a:pathLst>
          </a:custGeom>
          <a:solidFill>
            <a:srgbClr val="92D050"/>
          </a:solidFill>
        </p:spPr>
        <p:txBody>
          <a:bodyPr wrap="square" lIns="0" tIns="0" rIns="0" bIns="0" rtlCol="0"/>
          <a:lstStyle/>
          <a:p/>
        </p:txBody>
      </p:sp>
      <p:sp>
        <p:nvSpPr>
          <p:cNvPr id="36" name="object 36" descr=""/>
          <p:cNvSpPr txBox="1"/>
          <p:nvPr/>
        </p:nvSpPr>
        <p:spPr>
          <a:xfrm>
            <a:off x="5681713" y="1886788"/>
            <a:ext cx="226695" cy="133350"/>
          </a:xfrm>
          <a:prstGeom prst="rect">
            <a:avLst/>
          </a:prstGeom>
          <a:solidFill>
            <a:srgbClr val="92D050"/>
          </a:solidFill>
        </p:spPr>
        <p:txBody>
          <a:bodyPr wrap="square" lIns="0" tIns="0" rIns="0" bIns="0" rtlCol="0" vert="horz">
            <a:spAutoFit/>
          </a:bodyPr>
          <a:lstStyle/>
          <a:p>
            <a:pPr marL="71755">
              <a:lnSpc>
                <a:spcPts val="965"/>
              </a:lnSpc>
            </a:pPr>
            <a:r>
              <a:rPr dirty="0" sz="900" spc="-50">
                <a:latin typeface="Arial MT"/>
                <a:cs typeface="Arial MT"/>
              </a:rPr>
              <a:t>R</a:t>
            </a:r>
            <a:endParaRPr sz="900">
              <a:latin typeface="Arial MT"/>
              <a:cs typeface="Arial MT"/>
            </a:endParaRPr>
          </a:p>
        </p:txBody>
      </p:sp>
      <p:sp>
        <p:nvSpPr>
          <p:cNvPr id="37" name="object 37" descr=""/>
          <p:cNvSpPr txBox="1"/>
          <p:nvPr/>
        </p:nvSpPr>
        <p:spPr>
          <a:xfrm>
            <a:off x="5681713" y="2019860"/>
            <a:ext cx="226695" cy="137160"/>
          </a:xfrm>
          <a:prstGeom prst="rect">
            <a:avLst/>
          </a:prstGeom>
          <a:solidFill>
            <a:srgbClr val="92D050"/>
          </a:solidFill>
        </p:spPr>
        <p:txBody>
          <a:bodyPr wrap="square" lIns="0" tIns="0" rIns="0" bIns="0" rtlCol="0" vert="horz">
            <a:spAutoFit/>
          </a:bodyPr>
          <a:lstStyle/>
          <a:p>
            <a:pPr marL="71755">
              <a:lnSpc>
                <a:spcPts val="994"/>
              </a:lnSpc>
            </a:pPr>
            <a:r>
              <a:rPr dirty="0" sz="900" spc="-50">
                <a:latin typeface="Arial MT"/>
                <a:cs typeface="Arial MT"/>
              </a:rPr>
              <a:t>R</a:t>
            </a:r>
            <a:endParaRPr sz="900">
              <a:latin typeface="Arial MT"/>
              <a:cs typeface="Arial MT"/>
            </a:endParaRPr>
          </a:p>
        </p:txBody>
      </p:sp>
      <p:sp>
        <p:nvSpPr>
          <p:cNvPr id="38" name="object 38" descr=""/>
          <p:cNvSpPr txBox="1"/>
          <p:nvPr/>
        </p:nvSpPr>
        <p:spPr>
          <a:xfrm>
            <a:off x="5681713" y="2157020"/>
            <a:ext cx="226695" cy="118110"/>
          </a:xfrm>
          <a:prstGeom prst="rect">
            <a:avLst/>
          </a:prstGeom>
          <a:solidFill>
            <a:srgbClr val="92D050"/>
          </a:solidFill>
        </p:spPr>
        <p:txBody>
          <a:bodyPr wrap="square" lIns="0" tIns="0" rIns="0" bIns="0" rtlCol="0" vert="horz">
            <a:spAutoFit/>
          </a:bodyPr>
          <a:lstStyle/>
          <a:p>
            <a:pPr marL="71755">
              <a:lnSpc>
                <a:spcPts val="925"/>
              </a:lnSpc>
            </a:pPr>
            <a:r>
              <a:rPr dirty="0" sz="900" spc="-50">
                <a:latin typeface="Arial MT"/>
                <a:cs typeface="Arial MT"/>
              </a:rPr>
              <a:t>U</a:t>
            </a:r>
            <a:endParaRPr sz="900">
              <a:latin typeface="Arial MT"/>
              <a:cs typeface="Arial MT"/>
            </a:endParaRPr>
          </a:p>
        </p:txBody>
      </p:sp>
      <p:grpSp>
        <p:nvGrpSpPr>
          <p:cNvPr id="39" name="object 39" descr=""/>
          <p:cNvGrpSpPr/>
          <p:nvPr/>
        </p:nvGrpSpPr>
        <p:grpSpPr>
          <a:xfrm>
            <a:off x="5769293" y="1746380"/>
            <a:ext cx="932180" cy="703580"/>
            <a:chOff x="5769293" y="1746380"/>
            <a:chExt cx="932180" cy="703580"/>
          </a:xfrm>
        </p:grpSpPr>
        <p:pic>
          <p:nvPicPr>
            <p:cNvPr id="40" name="object 40" descr=""/>
            <p:cNvPicPr/>
            <p:nvPr/>
          </p:nvPicPr>
          <p:blipFill>
            <a:blip r:embed="rId3" cstate="print"/>
            <a:stretch>
              <a:fillRect/>
            </a:stretch>
          </p:blipFill>
          <p:spPr>
            <a:xfrm>
              <a:off x="5790093" y="1746382"/>
              <a:ext cx="227139" cy="145161"/>
            </a:xfrm>
            <a:prstGeom prst="rect">
              <a:avLst/>
            </a:prstGeom>
          </p:spPr>
        </p:pic>
        <p:pic>
          <p:nvPicPr>
            <p:cNvPr id="41" name="object 41" descr=""/>
            <p:cNvPicPr/>
            <p:nvPr/>
          </p:nvPicPr>
          <p:blipFill>
            <a:blip r:embed="rId4" cstate="print"/>
            <a:stretch>
              <a:fillRect/>
            </a:stretch>
          </p:blipFill>
          <p:spPr>
            <a:xfrm>
              <a:off x="6498372" y="1746380"/>
              <a:ext cx="94106" cy="200139"/>
            </a:xfrm>
            <a:prstGeom prst="rect">
              <a:avLst/>
            </a:prstGeom>
          </p:spPr>
        </p:pic>
        <p:sp>
          <p:nvSpPr>
            <p:cNvPr id="42" name="object 42" descr=""/>
            <p:cNvSpPr/>
            <p:nvPr/>
          </p:nvSpPr>
          <p:spPr>
            <a:xfrm>
              <a:off x="5774056" y="2274543"/>
              <a:ext cx="20955" cy="170815"/>
            </a:xfrm>
            <a:custGeom>
              <a:avLst/>
              <a:gdLst/>
              <a:ahLst/>
              <a:cxnLst/>
              <a:rect l="l" t="t" r="r" b="b"/>
              <a:pathLst>
                <a:path w="20954" h="170814">
                  <a:moveTo>
                    <a:pt x="0" y="170395"/>
                  </a:moveTo>
                  <a:lnTo>
                    <a:pt x="892" y="139112"/>
                  </a:lnTo>
                  <a:lnTo>
                    <a:pt x="3248" y="111820"/>
                  </a:lnTo>
                  <a:lnTo>
                    <a:pt x="6579" y="92514"/>
                  </a:lnTo>
                  <a:lnTo>
                    <a:pt x="10401" y="85191"/>
                  </a:lnTo>
                  <a:lnTo>
                    <a:pt x="14217" y="77870"/>
                  </a:lnTo>
                  <a:lnTo>
                    <a:pt x="17549" y="58569"/>
                  </a:lnTo>
                  <a:lnTo>
                    <a:pt x="19907" y="31281"/>
                  </a:lnTo>
                  <a:lnTo>
                    <a:pt x="20802" y="0"/>
                  </a:lnTo>
                </a:path>
              </a:pathLst>
            </a:custGeom>
            <a:ln w="9525">
              <a:solidFill>
                <a:srgbClr val="B6DCDF"/>
              </a:solidFill>
            </a:ln>
          </p:spPr>
          <p:txBody>
            <a:bodyPr wrap="square" lIns="0" tIns="0" rIns="0" bIns="0" rtlCol="0"/>
            <a:lstStyle/>
            <a:p/>
          </p:txBody>
        </p:sp>
        <p:sp>
          <p:nvSpPr>
            <p:cNvPr id="43" name="object 43" descr=""/>
            <p:cNvSpPr/>
            <p:nvPr/>
          </p:nvSpPr>
          <p:spPr>
            <a:xfrm>
              <a:off x="6474574" y="1941753"/>
              <a:ext cx="226695" cy="387985"/>
            </a:xfrm>
            <a:custGeom>
              <a:avLst/>
              <a:gdLst/>
              <a:ahLst/>
              <a:cxnLst/>
              <a:rect l="l" t="t" r="r" b="b"/>
              <a:pathLst>
                <a:path w="226695" h="387985">
                  <a:moveTo>
                    <a:pt x="226288" y="0"/>
                  </a:moveTo>
                  <a:lnTo>
                    <a:pt x="0" y="0"/>
                  </a:lnTo>
                  <a:lnTo>
                    <a:pt x="0" y="387756"/>
                  </a:lnTo>
                  <a:lnTo>
                    <a:pt x="226288" y="387756"/>
                  </a:lnTo>
                  <a:lnTo>
                    <a:pt x="226288" y="0"/>
                  </a:lnTo>
                  <a:close/>
                </a:path>
              </a:pathLst>
            </a:custGeom>
            <a:solidFill>
              <a:srgbClr val="66CCFF"/>
            </a:solidFill>
          </p:spPr>
          <p:txBody>
            <a:bodyPr wrap="square" lIns="0" tIns="0" rIns="0" bIns="0" rtlCol="0"/>
            <a:lstStyle/>
            <a:p/>
          </p:txBody>
        </p:sp>
      </p:grpSp>
      <p:sp>
        <p:nvSpPr>
          <p:cNvPr id="44" name="object 44" descr=""/>
          <p:cNvSpPr txBox="1"/>
          <p:nvPr/>
        </p:nvSpPr>
        <p:spPr>
          <a:xfrm>
            <a:off x="5533047" y="2779458"/>
            <a:ext cx="1383030" cy="261620"/>
          </a:xfrm>
          <a:prstGeom prst="rect">
            <a:avLst/>
          </a:prstGeom>
          <a:solidFill>
            <a:srgbClr val="88827C"/>
          </a:solidFill>
        </p:spPr>
        <p:txBody>
          <a:bodyPr wrap="square" lIns="0" tIns="79375" rIns="0" bIns="0" rtlCol="0" vert="horz">
            <a:spAutoFit/>
          </a:bodyPr>
          <a:lstStyle/>
          <a:p>
            <a:pPr marL="81280">
              <a:lnSpc>
                <a:spcPct val="100000"/>
              </a:lnSpc>
              <a:spcBef>
                <a:spcPts val="625"/>
              </a:spcBef>
            </a:pPr>
            <a:r>
              <a:rPr dirty="0" sz="1000" b="1">
                <a:solidFill>
                  <a:srgbClr val="FFFFFF"/>
                </a:solidFill>
                <a:latin typeface="Microsoft YaHei"/>
                <a:cs typeface="Microsoft YaHei"/>
              </a:rPr>
              <a:t>或采用</a:t>
            </a:r>
            <a:r>
              <a:rPr dirty="0" sz="1000" b="1">
                <a:solidFill>
                  <a:srgbClr val="FFFFFF"/>
                </a:solidFill>
                <a:latin typeface="Arial"/>
                <a:cs typeface="Arial"/>
              </a:rPr>
              <a:t>4/5G</a:t>
            </a:r>
            <a:r>
              <a:rPr dirty="0" sz="1000" spc="-40" b="1">
                <a:solidFill>
                  <a:srgbClr val="FFFFFF"/>
                </a:solidFill>
                <a:latin typeface="Arial"/>
                <a:cs typeface="Arial"/>
              </a:rPr>
              <a:t> </a:t>
            </a:r>
            <a:r>
              <a:rPr dirty="0" sz="1000" b="1">
                <a:solidFill>
                  <a:srgbClr val="FFFFFF"/>
                </a:solidFill>
                <a:latin typeface="Microsoft YaHei"/>
                <a:cs typeface="Microsoft YaHei"/>
              </a:rPr>
              <a:t>双模</a:t>
            </a:r>
            <a:r>
              <a:rPr dirty="0" sz="1000" spc="-25" b="1">
                <a:solidFill>
                  <a:srgbClr val="FFFFFF"/>
                </a:solidFill>
                <a:latin typeface="Arial"/>
                <a:cs typeface="Arial"/>
              </a:rPr>
              <a:t>BBU</a:t>
            </a:r>
            <a:endParaRPr sz="1000">
              <a:latin typeface="Arial"/>
              <a:cs typeface="Arial"/>
            </a:endParaRPr>
          </a:p>
        </p:txBody>
      </p:sp>
      <p:sp>
        <p:nvSpPr>
          <p:cNvPr id="45" name="object 45" descr=""/>
          <p:cNvSpPr txBox="1"/>
          <p:nvPr/>
        </p:nvSpPr>
        <p:spPr>
          <a:xfrm>
            <a:off x="5307017" y="1685416"/>
            <a:ext cx="242570" cy="299720"/>
          </a:xfrm>
          <a:prstGeom prst="rect">
            <a:avLst/>
          </a:prstGeom>
        </p:spPr>
        <p:txBody>
          <a:bodyPr wrap="square" lIns="0" tIns="12700" rIns="0" bIns="0" rtlCol="0" vert="horz">
            <a:spAutoFit/>
          </a:bodyPr>
          <a:lstStyle/>
          <a:p>
            <a:pPr marL="12700">
              <a:lnSpc>
                <a:spcPct val="100000"/>
              </a:lnSpc>
              <a:spcBef>
                <a:spcPts val="100"/>
              </a:spcBef>
            </a:pPr>
            <a:r>
              <a:rPr dirty="0" sz="900" spc="-25">
                <a:latin typeface="Arial MT"/>
                <a:cs typeface="Arial MT"/>
              </a:rPr>
              <a:t>4G</a:t>
            </a:r>
            <a:endParaRPr sz="900">
              <a:latin typeface="Arial MT"/>
              <a:cs typeface="Arial MT"/>
            </a:endParaRPr>
          </a:p>
          <a:p>
            <a:pPr marL="12700">
              <a:lnSpc>
                <a:spcPct val="100000"/>
              </a:lnSpc>
            </a:pPr>
            <a:r>
              <a:rPr dirty="0" sz="900" spc="-25">
                <a:latin typeface="Arial MT"/>
                <a:cs typeface="Arial MT"/>
              </a:rPr>
              <a:t>8TR</a:t>
            </a:r>
            <a:endParaRPr sz="900">
              <a:latin typeface="Arial MT"/>
              <a:cs typeface="Arial MT"/>
            </a:endParaRPr>
          </a:p>
        </p:txBody>
      </p:sp>
      <p:sp>
        <p:nvSpPr>
          <p:cNvPr id="46" name="object 46" descr=""/>
          <p:cNvSpPr txBox="1"/>
          <p:nvPr/>
        </p:nvSpPr>
        <p:spPr>
          <a:xfrm>
            <a:off x="6767542" y="1399438"/>
            <a:ext cx="653415" cy="711200"/>
          </a:xfrm>
          <a:prstGeom prst="rect">
            <a:avLst/>
          </a:prstGeom>
        </p:spPr>
        <p:txBody>
          <a:bodyPr wrap="square" lIns="0" tIns="12700" rIns="0" bIns="0" rtlCol="0" vert="horz">
            <a:spAutoFit/>
          </a:bodyPr>
          <a:lstStyle/>
          <a:p>
            <a:pPr marL="12700">
              <a:lnSpc>
                <a:spcPct val="100000"/>
              </a:lnSpc>
              <a:spcBef>
                <a:spcPts val="100"/>
              </a:spcBef>
            </a:pPr>
            <a:r>
              <a:rPr dirty="0" sz="900" spc="-10">
                <a:latin typeface="Arial MT"/>
                <a:cs typeface="Arial MT"/>
              </a:rPr>
              <a:t>8TR</a:t>
            </a:r>
            <a:r>
              <a:rPr dirty="0" sz="900" spc="-20">
                <a:latin typeface="Microsoft YaHei"/>
                <a:cs typeface="Microsoft YaHei"/>
              </a:rPr>
              <a:t>，支持</a:t>
            </a:r>
            <a:endParaRPr sz="900">
              <a:latin typeface="Microsoft YaHei"/>
              <a:cs typeface="Microsoft YaHei"/>
            </a:endParaRPr>
          </a:p>
          <a:p>
            <a:pPr marL="12700">
              <a:lnSpc>
                <a:spcPct val="100000"/>
              </a:lnSpc>
            </a:pPr>
            <a:r>
              <a:rPr dirty="0" sz="900" spc="-10">
                <a:latin typeface="Arial MT"/>
                <a:cs typeface="Arial MT"/>
              </a:rPr>
              <a:t>160M</a:t>
            </a:r>
            <a:r>
              <a:rPr dirty="0" sz="900" spc="-20">
                <a:latin typeface="Microsoft YaHei"/>
                <a:cs typeface="Microsoft YaHei"/>
              </a:rPr>
              <a:t>带宽，</a:t>
            </a:r>
            <a:endParaRPr sz="900">
              <a:latin typeface="Microsoft YaHei"/>
              <a:cs typeface="Microsoft YaHei"/>
            </a:endParaRPr>
          </a:p>
          <a:p>
            <a:pPr algn="just" marL="12700" marR="22860">
              <a:lnSpc>
                <a:spcPct val="100000"/>
              </a:lnSpc>
            </a:pPr>
            <a:r>
              <a:rPr dirty="0" sz="900" spc="-10">
                <a:latin typeface="Arial MT"/>
                <a:cs typeface="Arial MT"/>
              </a:rPr>
              <a:t>4/5G</a:t>
            </a:r>
            <a:r>
              <a:rPr dirty="0" sz="900" spc="-20">
                <a:latin typeface="Microsoft YaHei"/>
                <a:cs typeface="Microsoft YaHei"/>
              </a:rPr>
              <a:t>双模前</a:t>
            </a:r>
            <a:r>
              <a:rPr dirty="0" sz="900">
                <a:latin typeface="Microsoft YaHei"/>
                <a:cs typeface="Microsoft YaHei"/>
              </a:rPr>
              <a:t>期配置</a:t>
            </a:r>
            <a:r>
              <a:rPr dirty="0" sz="900" spc="-10">
                <a:latin typeface="Arial MT"/>
                <a:cs typeface="Arial MT"/>
              </a:rPr>
              <a:t>5G</a:t>
            </a:r>
            <a:r>
              <a:rPr dirty="0" sz="900" spc="-50">
                <a:latin typeface="Microsoft YaHei"/>
                <a:cs typeface="Microsoft YaHei"/>
              </a:rPr>
              <a:t>载波</a:t>
            </a:r>
            <a:endParaRPr sz="900">
              <a:latin typeface="Microsoft YaHei"/>
              <a:cs typeface="Microsoft YaHei"/>
            </a:endParaRPr>
          </a:p>
        </p:txBody>
      </p:sp>
      <p:sp>
        <p:nvSpPr>
          <p:cNvPr id="47" name="object 47" descr=""/>
          <p:cNvSpPr txBox="1"/>
          <p:nvPr/>
        </p:nvSpPr>
        <p:spPr>
          <a:xfrm>
            <a:off x="6474574" y="1941753"/>
            <a:ext cx="226695" cy="133350"/>
          </a:xfrm>
          <a:prstGeom prst="rect">
            <a:avLst/>
          </a:prstGeom>
          <a:solidFill>
            <a:srgbClr val="66CCFF"/>
          </a:solidFill>
        </p:spPr>
        <p:txBody>
          <a:bodyPr wrap="square" lIns="0" tIns="0" rIns="0" bIns="0" rtlCol="0" vert="horz">
            <a:spAutoFit/>
          </a:bodyPr>
          <a:lstStyle/>
          <a:p>
            <a:pPr marL="71755">
              <a:lnSpc>
                <a:spcPts val="965"/>
              </a:lnSpc>
            </a:pPr>
            <a:r>
              <a:rPr dirty="0" sz="900" spc="-50">
                <a:latin typeface="Arial MT"/>
                <a:cs typeface="Arial MT"/>
              </a:rPr>
              <a:t>R</a:t>
            </a:r>
            <a:endParaRPr sz="900">
              <a:latin typeface="Arial MT"/>
              <a:cs typeface="Arial MT"/>
            </a:endParaRPr>
          </a:p>
        </p:txBody>
      </p:sp>
      <p:sp>
        <p:nvSpPr>
          <p:cNvPr id="48" name="object 48" descr=""/>
          <p:cNvSpPr txBox="1"/>
          <p:nvPr/>
        </p:nvSpPr>
        <p:spPr>
          <a:xfrm>
            <a:off x="6474574" y="2074828"/>
            <a:ext cx="226695" cy="137160"/>
          </a:xfrm>
          <a:prstGeom prst="rect">
            <a:avLst/>
          </a:prstGeom>
          <a:solidFill>
            <a:srgbClr val="66CCFF"/>
          </a:solidFill>
        </p:spPr>
        <p:txBody>
          <a:bodyPr wrap="square" lIns="0" tIns="0" rIns="0" bIns="0" rtlCol="0" vert="horz">
            <a:spAutoFit/>
          </a:bodyPr>
          <a:lstStyle/>
          <a:p>
            <a:pPr marL="71755">
              <a:lnSpc>
                <a:spcPts val="994"/>
              </a:lnSpc>
            </a:pPr>
            <a:r>
              <a:rPr dirty="0" sz="900" spc="-50">
                <a:latin typeface="Arial MT"/>
                <a:cs typeface="Arial MT"/>
              </a:rPr>
              <a:t>R</a:t>
            </a:r>
            <a:endParaRPr sz="900">
              <a:latin typeface="Arial MT"/>
              <a:cs typeface="Arial MT"/>
            </a:endParaRPr>
          </a:p>
        </p:txBody>
      </p:sp>
      <p:sp>
        <p:nvSpPr>
          <p:cNvPr id="49" name="object 49" descr=""/>
          <p:cNvSpPr txBox="1"/>
          <p:nvPr/>
        </p:nvSpPr>
        <p:spPr>
          <a:xfrm>
            <a:off x="6474574" y="2211988"/>
            <a:ext cx="226695" cy="118110"/>
          </a:xfrm>
          <a:prstGeom prst="rect">
            <a:avLst/>
          </a:prstGeom>
          <a:solidFill>
            <a:srgbClr val="66CCFF"/>
          </a:solidFill>
        </p:spPr>
        <p:txBody>
          <a:bodyPr wrap="square" lIns="0" tIns="0" rIns="0" bIns="0" rtlCol="0" vert="horz">
            <a:spAutoFit/>
          </a:bodyPr>
          <a:lstStyle/>
          <a:p>
            <a:pPr marL="71755">
              <a:lnSpc>
                <a:spcPts val="925"/>
              </a:lnSpc>
            </a:pPr>
            <a:r>
              <a:rPr dirty="0" sz="900" spc="-50">
                <a:latin typeface="Arial MT"/>
                <a:cs typeface="Arial MT"/>
              </a:rPr>
              <a:t>U</a:t>
            </a:r>
            <a:endParaRPr sz="900">
              <a:latin typeface="Arial MT"/>
              <a:cs typeface="Arial MT"/>
            </a:endParaRPr>
          </a:p>
        </p:txBody>
      </p:sp>
      <p:sp>
        <p:nvSpPr>
          <p:cNvPr id="50" name="object 50" descr=""/>
          <p:cNvSpPr txBox="1"/>
          <p:nvPr/>
        </p:nvSpPr>
        <p:spPr>
          <a:xfrm>
            <a:off x="8021484" y="1473453"/>
            <a:ext cx="226695" cy="436245"/>
          </a:xfrm>
          <a:prstGeom prst="rect">
            <a:avLst/>
          </a:prstGeom>
          <a:solidFill>
            <a:srgbClr val="66CCFF"/>
          </a:solidFill>
        </p:spPr>
        <p:txBody>
          <a:bodyPr wrap="square" lIns="0" tIns="92075" rIns="0" bIns="0" rtlCol="0" vert="horz">
            <a:spAutoFit/>
          </a:bodyPr>
          <a:lstStyle/>
          <a:p>
            <a:pPr marL="62230" marR="54610">
              <a:lnSpc>
                <a:spcPct val="100000"/>
              </a:lnSpc>
              <a:spcBef>
                <a:spcPts val="725"/>
              </a:spcBef>
            </a:pPr>
            <a:r>
              <a:rPr dirty="0" sz="800" spc="-50">
                <a:latin typeface="Microsoft YaHei"/>
                <a:cs typeface="Microsoft YaHei"/>
              </a:rPr>
              <a:t>天面</a:t>
            </a:r>
            <a:endParaRPr sz="800">
              <a:latin typeface="Microsoft YaHei"/>
              <a:cs typeface="Microsoft YaHei"/>
            </a:endParaRPr>
          </a:p>
        </p:txBody>
      </p:sp>
      <p:sp>
        <p:nvSpPr>
          <p:cNvPr id="51" name="object 51" descr=""/>
          <p:cNvSpPr txBox="1"/>
          <p:nvPr/>
        </p:nvSpPr>
        <p:spPr>
          <a:xfrm>
            <a:off x="7787576" y="2735605"/>
            <a:ext cx="1016635" cy="307975"/>
          </a:xfrm>
          <a:prstGeom prst="rect">
            <a:avLst/>
          </a:prstGeom>
          <a:solidFill>
            <a:srgbClr val="31859C"/>
          </a:solidFill>
        </p:spPr>
        <p:txBody>
          <a:bodyPr wrap="square" lIns="0" tIns="102870" rIns="0" bIns="0" rtlCol="0" vert="horz">
            <a:spAutoFit/>
          </a:bodyPr>
          <a:lstStyle/>
          <a:p>
            <a:pPr marL="71755">
              <a:lnSpc>
                <a:spcPct val="100000"/>
              </a:lnSpc>
              <a:spcBef>
                <a:spcPts val="810"/>
              </a:spcBef>
            </a:pPr>
            <a:r>
              <a:rPr dirty="0" sz="1000" b="1">
                <a:solidFill>
                  <a:srgbClr val="FFFFFF"/>
                </a:solidFill>
                <a:latin typeface="Arial"/>
                <a:cs typeface="Arial"/>
              </a:rPr>
              <a:t>4/5G</a:t>
            </a:r>
            <a:r>
              <a:rPr dirty="0" sz="1000" spc="-35" b="1">
                <a:solidFill>
                  <a:srgbClr val="FFFFFF"/>
                </a:solidFill>
                <a:latin typeface="Arial"/>
                <a:cs typeface="Arial"/>
              </a:rPr>
              <a:t> </a:t>
            </a:r>
            <a:r>
              <a:rPr dirty="0" sz="1000" spc="-10" b="1">
                <a:solidFill>
                  <a:srgbClr val="FFFFFF"/>
                </a:solidFill>
                <a:latin typeface="Microsoft YaHei"/>
                <a:cs typeface="Microsoft YaHei"/>
              </a:rPr>
              <a:t>双模 </a:t>
            </a:r>
            <a:r>
              <a:rPr dirty="0" sz="1000" spc="-25" b="1">
                <a:solidFill>
                  <a:srgbClr val="FFFFFF"/>
                </a:solidFill>
                <a:latin typeface="Arial"/>
                <a:cs typeface="Arial"/>
              </a:rPr>
              <a:t>BBU</a:t>
            </a:r>
            <a:endParaRPr sz="1000">
              <a:latin typeface="Arial"/>
              <a:cs typeface="Arial"/>
            </a:endParaRPr>
          </a:p>
        </p:txBody>
      </p:sp>
      <p:sp>
        <p:nvSpPr>
          <p:cNvPr id="52" name="object 52" descr=""/>
          <p:cNvSpPr/>
          <p:nvPr/>
        </p:nvSpPr>
        <p:spPr>
          <a:xfrm>
            <a:off x="8134632" y="1909697"/>
            <a:ext cx="161290" cy="826135"/>
          </a:xfrm>
          <a:custGeom>
            <a:avLst/>
            <a:gdLst/>
            <a:ahLst/>
            <a:cxnLst/>
            <a:rect l="l" t="t" r="r" b="b"/>
            <a:pathLst>
              <a:path w="161290" h="826135">
                <a:moveTo>
                  <a:pt x="0" y="0"/>
                </a:moveTo>
                <a:lnTo>
                  <a:pt x="1437" y="68542"/>
                </a:lnTo>
                <a:lnTo>
                  <a:pt x="5529" y="135385"/>
                </a:lnTo>
                <a:lnTo>
                  <a:pt x="11943" y="198829"/>
                </a:lnTo>
                <a:lnTo>
                  <a:pt x="20347" y="257175"/>
                </a:lnTo>
                <a:lnTo>
                  <a:pt x="30409" y="308723"/>
                </a:lnTo>
                <a:lnTo>
                  <a:pt x="41798" y="351774"/>
                </a:lnTo>
                <a:lnTo>
                  <a:pt x="67229" y="405589"/>
                </a:lnTo>
                <a:lnTo>
                  <a:pt x="93988" y="420317"/>
                </a:lnTo>
                <a:lnTo>
                  <a:pt x="107037" y="441276"/>
                </a:lnTo>
                <a:lnTo>
                  <a:pt x="130814" y="517182"/>
                </a:lnTo>
                <a:lnTo>
                  <a:pt x="140878" y="568731"/>
                </a:lnTo>
                <a:lnTo>
                  <a:pt x="149282" y="627077"/>
                </a:lnTo>
                <a:lnTo>
                  <a:pt x="155697" y="690521"/>
                </a:lnTo>
                <a:lnTo>
                  <a:pt x="159788" y="757364"/>
                </a:lnTo>
                <a:lnTo>
                  <a:pt x="161226" y="825906"/>
                </a:lnTo>
              </a:path>
            </a:pathLst>
          </a:custGeom>
          <a:ln w="9525">
            <a:solidFill>
              <a:srgbClr val="B6DCDF"/>
            </a:solidFill>
          </a:ln>
        </p:spPr>
        <p:txBody>
          <a:bodyPr wrap="square" lIns="0" tIns="0" rIns="0" bIns="0" rtlCol="0"/>
          <a:lstStyle/>
          <a:p/>
        </p:txBody>
      </p:sp>
      <p:sp>
        <p:nvSpPr>
          <p:cNvPr id="53" name="object 53" descr=""/>
          <p:cNvSpPr txBox="1"/>
          <p:nvPr/>
        </p:nvSpPr>
        <p:spPr>
          <a:xfrm>
            <a:off x="8404811" y="1694138"/>
            <a:ext cx="574040" cy="398780"/>
          </a:xfrm>
          <a:prstGeom prst="rect">
            <a:avLst/>
          </a:prstGeom>
        </p:spPr>
        <p:txBody>
          <a:bodyPr wrap="square" lIns="0" tIns="12700" rIns="0" bIns="0" rtlCol="0" vert="horz">
            <a:spAutoFit/>
          </a:bodyPr>
          <a:lstStyle/>
          <a:p>
            <a:pPr marL="20955">
              <a:lnSpc>
                <a:spcPct val="100000"/>
              </a:lnSpc>
              <a:spcBef>
                <a:spcPts val="100"/>
              </a:spcBef>
            </a:pPr>
            <a:r>
              <a:rPr dirty="0" sz="900">
                <a:latin typeface="Arial MT"/>
                <a:cs typeface="Arial MT"/>
              </a:rPr>
              <a:t>4&amp;5G</a:t>
            </a:r>
            <a:r>
              <a:rPr dirty="0" sz="900" spc="-20">
                <a:latin typeface="Arial MT"/>
                <a:cs typeface="Arial MT"/>
              </a:rPr>
              <a:t> </a:t>
            </a:r>
            <a:r>
              <a:rPr dirty="0" sz="900" spc="-25">
                <a:latin typeface="Arial MT"/>
                <a:cs typeface="Arial MT"/>
              </a:rPr>
              <a:t>8TR</a:t>
            </a:r>
            <a:endParaRPr sz="900">
              <a:latin typeface="Arial MT"/>
              <a:cs typeface="Arial MT"/>
            </a:endParaRPr>
          </a:p>
          <a:p>
            <a:pPr marL="12700">
              <a:lnSpc>
                <a:spcPct val="100000"/>
              </a:lnSpc>
              <a:spcBef>
                <a:spcPts val="775"/>
              </a:spcBef>
            </a:pPr>
            <a:r>
              <a:rPr dirty="0" sz="900" spc="-10">
                <a:latin typeface="Arial MT"/>
                <a:cs typeface="Arial MT"/>
              </a:rPr>
              <a:t>160M</a:t>
            </a:r>
            <a:r>
              <a:rPr dirty="0" sz="900" spc="-25">
                <a:latin typeface="Microsoft YaHei"/>
                <a:cs typeface="Microsoft YaHei"/>
              </a:rPr>
              <a:t>带宽</a:t>
            </a:r>
            <a:endParaRPr sz="900">
              <a:latin typeface="Microsoft YaHei"/>
              <a:cs typeface="Microsoft YaHei"/>
            </a:endParaRPr>
          </a:p>
        </p:txBody>
      </p:sp>
      <p:sp>
        <p:nvSpPr>
          <p:cNvPr id="54" name="object 54" descr=""/>
          <p:cNvSpPr/>
          <p:nvPr/>
        </p:nvSpPr>
        <p:spPr>
          <a:xfrm>
            <a:off x="8147608" y="2122703"/>
            <a:ext cx="226695" cy="387985"/>
          </a:xfrm>
          <a:custGeom>
            <a:avLst/>
            <a:gdLst/>
            <a:ahLst/>
            <a:cxnLst/>
            <a:rect l="l" t="t" r="r" b="b"/>
            <a:pathLst>
              <a:path w="226695" h="387985">
                <a:moveTo>
                  <a:pt x="226288" y="0"/>
                </a:moveTo>
                <a:lnTo>
                  <a:pt x="0" y="0"/>
                </a:lnTo>
                <a:lnTo>
                  <a:pt x="0" y="387756"/>
                </a:lnTo>
                <a:lnTo>
                  <a:pt x="226288" y="387756"/>
                </a:lnTo>
                <a:lnTo>
                  <a:pt x="226288" y="0"/>
                </a:lnTo>
                <a:close/>
              </a:path>
            </a:pathLst>
          </a:custGeom>
          <a:solidFill>
            <a:srgbClr val="66CCFF"/>
          </a:solidFill>
        </p:spPr>
        <p:txBody>
          <a:bodyPr wrap="square" lIns="0" tIns="0" rIns="0" bIns="0" rtlCol="0"/>
          <a:lstStyle/>
          <a:p/>
        </p:txBody>
      </p:sp>
      <p:sp>
        <p:nvSpPr>
          <p:cNvPr id="55" name="object 55" descr=""/>
          <p:cNvSpPr txBox="1"/>
          <p:nvPr/>
        </p:nvSpPr>
        <p:spPr>
          <a:xfrm>
            <a:off x="8147608" y="2122703"/>
            <a:ext cx="226695" cy="140335"/>
          </a:xfrm>
          <a:prstGeom prst="rect">
            <a:avLst/>
          </a:prstGeom>
          <a:solidFill>
            <a:srgbClr val="66CCFF"/>
          </a:solidFill>
        </p:spPr>
        <p:txBody>
          <a:bodyPr wrap="square" lIns="0" tIns="8255" rIns="0" bIns="0" rtlCol="0" vert="horz">
            <a:spAutoFit/>
          </a:bodyPr>
          <a:lstStyle/>
          <a:p>
            <a:pPr algn="ctr">
              <a:lnSpc>
                <a:spcPct val="100000"/>
              </a:lnSpc>
              <a:spcBef>
                <a:spcPts val="65"/>
              </a:spcBef>
            </a:pPr>
            <a:r>
              <a:rPr dirty="0" sz="800" spc="-50">
                <a:latin typeface="Arial MT"/>
                <a:cs typeface="Arial MT"/>
              </a:rPr>
              <a:t>R</a:t>
            </a:r>
            <a:endParaRPr sz="800">
              <a:latin typeface="Arial MT"/>
              <a:cs typeface="Arial MT"/>
            </a:endParaRPr>
          </a:p>
        </p:txBody>
      </p:sp>
      <p:sp>
        <p:nvSpPr>
          <p:cNvPr id="56" name="object 56" descr=""/>
          <p:cNvSpPr txBox="1"/>
          <p:nvPr/>
        </p:nvSpPr>
        <p:spPr>
          <a:xfrm>
            <a:off x="8147608" y="2262936"/>
            <a:ext cx="226695" cy="121920"/>
          </a:xfrm>
          <a:prstGeom prst="rect">
            <a:avLst/>
          </a:prstGeom>
          <a:solidFill>
            <a:srgbClr val="66CCFF"/>
          </a:solidFill>
        </p:spPr>
        <p:txBody>
          <a:bodyPr wrap="square" lIns="0" tIns="0" rIns="0" bIns="0" rtlCol="0" vert="horz">
            <a:spAutoFit/>
          </a:bodyPr>
          <a:lstStyle/>
          <a:p>
            <a:pPr algn="ctr">
              <a:lnSpc>
                <a:spcPts val="880"/>
              </a:lnSpc>
            </a:pPr>
            <a:r>
              <a:rPr dirty="0" sz="800" spc="-50">
                <a:latin typeface="Arial MT"/>
                <a:cs typeface="Arial MT"/>
              </a:rPr>
              <a:t>R</a:t>
            </a:r>
            <a:endParaRPr sz="800">
              <a:latin typeface="Arial MT"/>
              <a:cs typeface="Arial MT"/>
            </a:endParaRPr>
          </a:p>
        </p:txBody>
      </p:sp>
      <p:sp>
        <p:nvSpPr>
          <p:cNvPr id="57" name="object 57" descr=""/>
          <p:cNvSpPr txBox="1"/>
          <p:nvPr/>
        </p:nvSpPr>
        <p:spPr>
          <a:xfrm>
            <a:off x="8147608" y="2384855"/>
            <a:ext cx="226695" cy="125730"/>
          </a:xfrm>
          <a:prstGeom prst="rect">
            <a:avLst/>
          </a:prstGeom>
          <a:solidFill>
            <a:srgbClr val="66CCFF"/>
          </a:solidFill>
        </p:spPr>
        <p:txBody>
          <a:bodyPr wrap="square" lIns="0" tIns="0" rIns="0" bIns="0" rtlCol="0" vert="horz">
            <a:spAutoFit/>
          </a:bodyPr>
          <a:lstStyle/>
          <a:p>
            <a:pPr algn="ctr">
              <a:lnSpc>
                <a:spcPts val="880"/>
              </a:lnSpc>
            </a:pPr>
            <a:r>
              <a:rPr dirty="0" sz="800" spc="-50">
                <a:latin typeface="Arial MT"/>
                <a:cs typeface="Arial MT"/>
              </a:rPr>
              <a:t>U</a:t>
            </a:r>
            <a:endParaRPr sz="800">
              <a:latin typeface="Arial MT"/>
              <a:cs typeface="Arial MT"/>
            </a:endParaRPr>
          </a:p>
        </p:txBody>
      </p:sp>
      <p:sp>
        <p:nvSpPr>
          <p:cNvPr id="58" name="object 58" descr=""/>
          <p:cNvSpPr txBox="1"/>
          <p:nvPr/>
        </p:nvSpPr>
        <p:spPr>
          <a:xfrm>
            <a:off x="3388050" y="1074167"/>
            <a:ext cx="482600" cy="208279"/>
          </a:xfrm>
          <a:prstGeom prst="rect">
            <a:avLst/>
          </a:prstGeom>
        </p:spPr>
        <p:txBody>
          <a:bodyPr wrap="square" lIns="0" tIns="12700" rIns="0" bIns="0" rtlCol="0" vert="horz">
            <a:spAutoFit/>
          </a:bodyPr>
          <a:lstStyle/>
          <a:p>
            <a:pPr marL="12700">
              <a:lnSpc>
                <a:spcPct val="100000"/>
              </a:lnSpc>
              <a:spcBef>
                <a:spcPts val="100"/>
              </a:spcBef>
            </a:pPr>
            <a:r>
              <a:rPr dirty="0" sz="1200" spc="-20">
                <a:latin typeface="Microsoft YaHei"/>
                <a:cs typeface="Microsoft YaHei"/>
              </a:rPr>
              <a:t>方式二</a:t>
            </a:r>
            <a:endParaRPr sz="1200">
              <a:latin typeface="Microsoft YaHei"/>
              <a:cs typeface="Microsoft YaHei"/>
            </a:endParaRPr>
          </a:p>
        </p:txBody>
      </p:sp>
      <p:pic>
        <p:nvPicPr>
          <p:cNvPr id="59" name="object 59" descr=""/>
          <p:cNvPicPr/>
          <p:nvPr/>
        </p:nvPicPr>
        <p:blipFill>
          <a:blip r:embed="rId5" cstate="print"/>
          <a:stretch>
            <a:fillRect/>
          </a:stretch>
        </p:blipFill>
        <p:spPr>
          <a:xfrm>
            <a:off x="6582956" y="2324741"/>
            <a:ext cx="130924" cy="127330"/>
          </a:xfrm>
          <a:prstGeom prst="rect">
            <a:avLst/>
          </a:prstGeom>
        </p:spPr>
      </p:pic>
      <p:sp>
        <p:nvSpPr>
          <p:cNvPr id="60" name="object 60" descr=""/>
          <p:cNvSpPr txBox="1"/>
          <p:nvPr/>
        </p:nvSpPr>
        <p:spPr>
          <a:xfrm>
            <a:off x="7775779" y="1074167"/>
            <a:ext cx="482600" cy="208279"/>
          </a:xfrm>
          <a:prstGeom prst="rect">
            <a:avLst/>
          </a:prstGeom>
        </p:spPr>
        <p:txBody>
          <a:bodyPr wrap="square" lIns="0" tIns="12700" rIns="0" bIns="0" rtlCol="0" vert="horz">
            <a:spAutoFit/>
          </a:bodyPr>
          <a:lstStyle/>
          <a:p>
            <a:pPr marL="12700">
              <a:lnSpc>
                <a:spcPct val="100000"/>
              </a:lnSpc>
              <a:spcBef>
                <a:spcPts val="100"/>
              </a:spcBef>
            </a:pPr>
            <a:r>
              <a:rPr dirty="0" sz="1200" spc="-20">
                <a:latin typeface="Microsoft YaHei"/>
                <a:cs typeface="Microsoft YaHei"/>
              </a:rPr>
              <a:t>方式二</a:t>
            </a:r>
            <a:endParaRPr sz="1200">
              <a:latin typeface="Microsoft YaHei"/>
              <a:cs typeface="Microsoft YaHei"/>
            </a:endParaRPr>
          </a:p>
        </p:txBody>
      </p:sp>
      <p:sp>
        <p:nvSpPr>
          <p:cNvPr id="61" name="object 61" descr=""/>
          <p:cNvSpPr txBox="1"/>
          <p:nvPr/>
        </p:nvSpPr>
        <p:spPr>
          <a:xfrm>
            <a:off x="1457599" y="663581"/>
            <a:ext cx="1722120" cy="619125"/>
          </a:xfrm>
          <a:prstGeom prst="rect">
            <a:avLst/>
          </a:prstGeom>
        </p:spPr>
        <p:txBody>
          <a:bodyPr wrap="square" lIns="0" tIns="118745" rIns="0" bIns="0" rtlCol="0" vert="horz">
            <a:spAutoFit/>
          </a:bodyPr>
          <a:lstStyle/>
          <a:p>
            <a:pPr marL="81280">
              <a:lnSpc>
                <a:spcPct val="100000"/>
              </a:lnSpc>
              <a:spcBef>
                <a:spcPts val="935"/>
              </a:spcBef>
            </a:pPr>
            <a:r>
              <a:rPr dirty="0" sz="1400" spc="-10" b="1">
                <a:latin typeface="Arial"/>
                <a:cs typeface="Arial"/>
              </a:rPr>
              <a:t>64TR/16TR</a:t>
            </a:r>
            <a:r>
              <a:rPr dirty="0" sz="1400" spc="-30" b="1">
                <a:latin typeface="Microsoft YaHei"/>
                <a:cs typeface="Microsoft YaHei"/>
              </a:rPr>
              <a:t>部署方式</a:t>
            </a:r>
            <a:endParaRPr sz="1400">
              <a:latin typeface="Microsoft YaHei"/>
              <a:cs typeface="Microsoft YaHei"/>
            </a:endParaRPr>
          </a:p>
          <a:p>
            <a:pPr marL="12700">
              <a:lnSpc>
                <a:spcPct val="100000"/>
              </a:lnSpc>
              <a:spcBef>
                <a:spcPts val="715"/>
              </a:spcBef>
            </a:pPr>
            <a:r>
              <a:rPr dirty="0" sz="1200" spc="-20">
                <a:latin typeface="Microsoft YaHei"/>
                <a:cs typeface="Microsoft YaHei"/>
              </a:rPr>
              <a:t>方式一</a:t>
            </a:r>
            <a:endParaRPr sz="1200">
              <a:latin typeface="Microsoft YaHei"/>
              <a:cs typeface="Microsoft YaHei"/>
            </a:endParaRPr>
          </a:p>
        </p:txBody>
      </p:sp>
      <p:sp>
        <p:nvSpPr>
          <p:cNvPr id="62" name="object 62" descr=""/>
          <p:cNvSpPr txBox="1"/>
          <p:nvPr/>
        </p:nvSpPr>
        <p:spPr>
          <a:xfrm>
            <a:off x="6095569" y="663581"/>
            <a:ext cx="1455420" cy="619125"/>
          </a:xfrm>
          <a:prstGeom prst="rect">
            <a:avLst/>
          </a:prstGeom>
        </p:spPr>
        <p:txBody>
          <a:bodyPr wrap="square" lIns="0" tIns="118745" rIns="0" bIns="0" rtlCol="0" vert="horz">
            <a:spAutoFit/>
          </a:bodyPr>
          <a:lstStyle/>
          <a:p>
            <a:pPr marL="396240">
              <a:lnSpc>
                <a:spcPct val="100000"/>
              </a:lnSpc>
              <a:spcBef>
                <a:spcPts val="935"/>
              </a:spcBef>
            </a:pPr>
            <a:r>
              <a:rPr dirty="0" sz="1400" spc="-10" b="1">
                <a:latin typeface="Arial"/>
                <a:cs typeface="Arial"/>
              </a:rPr>
              <a:t>8TR</a:t>
            </a:r>
            <a:r>
              <a:rPr dirty="0" sz="1400" spc="-30" b="1">
                <a:latin typeface="Microsoft YaHei"/>
                <a:cs typeface="Microsoft YaHei"/>
              </a:rPr>
              <a:t>部署方式</a:t>
            </a:r>
            <a:endParaRPr sz="1400">
              <a:latin typeface="Microsoft YaHei"/>
              <a:cs typeface="Microsoft YaHei"/>
            </a:endParaRPr>
          </a:p>
          <a:p>
            <a:pPr marL="12700">
              <a:lnSpc>
                <a:spcPct val="100000"/>
              </a:lnSpc>
              <a:spcBef>
                <a:spcPts val="715"/>
              </a:spcBef>
            </a:pPr>
            <a:r>
              <a:rPr dirty="0" sz="1200" spc="-20">
                <a:latin typeface="Microsoft YaHei"/>
                <a:cs typeface="Microsoft YaHei"/>
              </a:rPr>
              <a:t>方式一</a:t>
            </a:r>
            <a:endParaRPr sz="1200">
              <a:latin typeface="Microsoft YaHei"/>
              <a:cs typeface="Microsoft YaHei"/>
            </a:endParaRPr>
          </a:p>
        </p:txBody>
      </p:sp>
      <p:grpSp>
        <p:nvGrpSpPr>
          <p:cNvPr id="63" name="object 63" descr=""/>
          <p:cNvGrpSpPr/>
          <p:nvPr/>
        </p:nvGrpSpPr>
        <p:grpSpPr>
          <a:xfrm>
            <a:off x="2448280" y="4759012"/>
            <a:ext cx="376555" cy="101600"/>
            <a:chOff x="2448280" y="4759012"/>
            <a:chExt cx="376555" cy="101600"/>
          </a:xfrm>
        </p:grpSpPr>
        <p:sp>
          <p:nvSpPr>
            <p:cNvPr id="64" name="object 64" descr=""/>
            <p:cNvSpPr/>
            <p:nvPr/>
          </p:nvSpPr>
          <p:spPr>
            <a:xfrm>
              <a:off x="2448280" y="4809816"/>
              <a:ext cx="370205" cy="0"/>
            </a:xfrm>
            <a:custGeom>
              <a:avLst/>
              <a:gdLst/>
              <a:ahLst/>
              <a:cxnLst/>
              <a:rect l="l" t="t" r="r" b="b"/>
              <a:pathLst>
                <a:path w="370205" h="0">
                  <a:moveTo>
                    <a:pt x="0" y="0"/>
                  </a:moveTo>
                  <a:lnTo>
                    <a:pt x="369887" y="0"/>
                  </a:lnTo>
                </a:path>
              </a:pathLst>
            </a:custGeom>
            <a:ln w="12700">
              <a:solidFill>
                <a:srgbClr val="B6DCDF"/>
              </a:solidFill>
            </a:ln>
          </p:spPr>
          <p:txBody>
            <a:bodyPr wrap="square" lIns="0" tIns="0" rIns="0" bIns="0" rtlCol="0"/>
            <a:lstStyle/>
            <a:p/>
          </p:txBody>
        </p:sp>
        <p:sp>
          <p:nvSpPr>
            <p:cNvPr id="65" name="object 65" descr=""/>
            <p:cNvSpPr/>
            <p:nvPr/>
          </p:nvSpPr>
          <p:spPr>
            <a:xfrm>
              <a:off x="2741970" y="4765362"/>
              <a:ext cx="76200" cy="88900"/>
            </a:xfrm>
            <a:custGeom>
              <a:avLst/>
              <a:gdLst/>
              <a:ahLst/>
              <a:cxnLst/>
              <a:rect l="l" t="t" r="r" b="b"/>
              <a:pathLst>
                <a:path w="76200" h="88900">
                  <a:moveTo>
                    <a:pt x="0" y="0"/>
                  </a:moveTo>
                  <a:lnTo>
                    <a:pt x="76200" y="44450"/>
                  </a:lnTo>
                  <a:lnTo>
                    <a:pt x="0" y="88900"/>
                  </a:lnTo>
                </a:path>
              </a:pathLst>
            </a:custGeom>
            <a:ln w="12700">
              <a:solidFill>
                <a:srgbClr val="B6DCDF"/>
              </a:solidFill>
            </a:ln>
          </p:spPr>
          <p:txBody>
            <a:bodyPr wrap="square" lIns="0" tIns="0" rIns="0" bIns="0" rtlCol="0"/>
            <a:lstStyle/>
            <a:p/>
          </p:txBody>
        </p:sp>
      </p:grpSp>
      <p:sp>
        <p:nvSpPr>
          <p:cNvPr id="66" name="object 66" descr=""/>
          <p:cNvSpPr txBox="1"/>
          <p:nvPr/>
        </p:nvSpPr>
        <p:spPr>
          <a:xfrm>
            <a:off x="331930" y="4195762"/>
            <a:ext cx="4166870" cy="732155"/>
          </a:xfrm>
          <a:prstGeom prst="rect">
            <a:avLst/>
          </a:prstGeom>
        </p:spPr>
        <p:txBody>
          <a:bodyPr wrap="square" lIns="0" tIns="12700" rIns="0" bIns="0" rtlCol="0" vert="horz">
            <a:spAutoFit/>
          </a:bodyPr>
          <a:lstStyle/>
          <a:p>
            <a:pPr marL="183515" marR="5080" indent="-171450">
              <a:lnSpc>
                <a:spcPct val="100000"/>
              </a:lnSpc>
              <a:spcBef>
                <a:spcPts val="100"/>
              </a:spcBef>
              <a:buFont typeface="Wingdings"/>
              <a:buChar char=""/>
              <a:tabLst>
                <a:tab pos="183515" algn="l"/>
              </a:tabLst>
            </a:pPr>
            <a:r>
              <a:rPr dirty="0" sz="1200">
                <a:latin typeface="Microsoft YaHei"/>
                <a:cs typeface="Microsoft YaHei"/>
              </a:rPr>
              <a:t>方式二：无</a:t>
            </a:r>
            <a:r>
              <a:rPr dirty="0" sz="1200" spc="-10">
                <a:latin typeface="Arial MT"/>
                <a:cs typeface="Arial MT"/>
              </a:rPr>
              <a:t>D</a:t>
            </a:r>
            <a:r>
              <a:rPr dirty="0" sz="1200">
                <a:latin typeface="Microsoft YaHei"/>
                <a:cs typeface="Microsoft YaHei"/>
              </a:rPr>
              <a:t>频段</a:t>
            </a:r>
            <a:r>
              <a:rPr dirty="0" sz="1200" spc="-10">
                <a:latin typeface="Arial MT"/>
                <a:cs typeface="Arial MT"/>
              </a:rPr>
              <a:t>4G</a:t>
            </a:r>
            <a:r>
              <a:rPr dirty="0" sz="1200" spc="-10">
                <a:latin typeface="Microsoft YaHei"/>
                <a:cs typeface="Microsoft YaHei"/>
              </a:rPr>
              <a:t>，或天面资源紧张，或未来演进方式，</a:t>
            </a:r>
            <a:r>
              <a:rPr dirty="0" sz="1200">
                <a:latin typeface="Microsoft YaHei"/>
                <a:cs typeface="Microsoft YaHei"/>
              </a:rPr>
              <a:t>利用双模设备同时支持</a:t>
            </a:r>
            <a:r>
              <a:rPr dirty="0" sz="1200" spc="-10">
                <a:latin typeface="Arial MT"/>
                <a:cs typeface="Arial MT"/>
              </a:rPr>
              <a:t>4G</a:t>
            </a:r>
            <a:r>
              <a:rPr dirty="0" sz="1200">
                <a:latin typeface="Microsoft YaHei"/>
                <a:cs typeface="Microsoft YaHei"/>
              </a:rPr>
              <a:t>、</a:t>
            </a:r>
            <a:r>
              <a:rPr dirty="0" sz="1200" spc="-10">
                <a:latin typeface="Arial MT"/>
                <a:cs typeface="Arial MT"/>
              </a:rPr>
              <a:t>5G,</a:t>
            </a:r>
            <a:r>
              <a:rPr dirty="0" sz="1200" spc="-10">
                <a:latin typeface="Microsoft YaHei"/>
                <a:cs typeface="Microsoft YaHei"/>
              </a:rPr>
              <a:t>频率配置方案如下：</a:t>
            </a:r>
            <a:endParaRPr sz="1200">
              <a:latin typeface="Microsoft YaHei"/>
              <a:cs typeface="Microsoft YaHei"/>
            </a:endParaRPr>
          </a:p>
          <a:p>
            <a:pPr marL="81280">
              <a:lnSpc>
                <a:spcPct val="100000"/>
              </a:lnSpc>
              <a:spcBef>
                <a:spcPts val="295"/>
              </a:spcBef>
              <a:tabLst>
                <a:tab pos="1209675" algn="l"/>
                <a:tab pos="1874520" algn="l"/>
              </a:tabLst>
            </a:pPr>
            <a:r>
              <a:rPr dirty="0" sz="800" spc="-20" b="1">
                <a:solidFill>
                  <a:srgbClr val="FF0000"/>
                </a:solidFill>
                <a:latin typeface="Arial"/>
                <a:cs typeface="Arial"/>
              </a:rPr>
              <a:t>2515</a:t>
            </a:r>
            <a:r>
              <a:rPr dirty="0" sz="800" b="1">
                <a:solidFill>
                  <a:srgbClr val="FF0000"/>
                </a:solidFill>
                <a:latin typeface="Arial"/>
                <a:cs typeface="Arial"/>
              </a:rPr>
              <a:t>	</a:t>
            </a:r>
            <a:r>
              <a:rPr dirty="0" sz="800" spc="-20" b="1">
                <a:solidFill>
                  <a:srgbClr val="FF0000"/>
                </a:solidFill>
                <a:latin typeface="Arial"/>
                <a:cs typeface="Arial"/>
              </a:rPr>
              <a:t>2615</a:t>
            </a:r>
            <a:r>
              <a:rPr dirty="0" sz="800" b="1">
                <a:solidFill>
                  <a:srgbClr val="FF0000"/>
                </a:solidFill>
                <a:latin typeface="Arial"/>
                <a:cs typeface="Arial"/>
              </a:rPr>
              <a:t>	</a:t>
            </a:r>
            <a:r>
              <a:rPr dirty="0" sz="800" spc="-20" b="1">
                <a:solidFill>
                  <a:srgbClr val="FF0000"/>
                </a:solidFill>
                <a:latin typeface="Arial"/>
                <a:cs typeface="Arial"/>
              </a:rPr>
              <a:t>2675</a:t>
            </a:r>
            <a:endParaRPr sz="800">
              <a:latin typeface="Arial"/>
              <a:cs typeface="Arial"/>
            </a:endParaRPr>
          </a:p>
          <a:p>
            <a:pPr marL="2578100">
              <a:lnSpc>
                <a:spcPct val="100000"/>
              </a:lnSpc>
              <a:spcBef>
                <a:spcPts val="105"/>
              </a:spcBef>
            </a:pPr>
            <a:r>
              <a:rPr dirty="0" sz="1100" spc="-10">
                <a:latin typeface="Arial MT"/>
                <a:cs typeface="Arial MT"/>
              </a:rPr>
              <a:t>4G</a:t>
            </a:r>
            <a:r>
              <a:rPr dirty="0" sz="1100" spc="-25">
                <a:latin typeface="Microsoft YaHei"/>
                <a:cs typeface="Microsoft YaHei"/>
              </a:rPr>
              <a:t>带宽按需开启</a:t>
            </a:r>
            <a:endParaRPr sz="1100">
              <a:latin typeface="Microsoft YaHei"/>
              <a:cs typeface="Microsoft YaHei"/>
            </a:endParaRPr>
          </a:p>
        </p:txBody>
      </p:sp>
      <p:sp>
        <p:nvSpPr>
          <p:cNvPr id="67" name="object 67" descr=""/>
          <p:cNvSpPr txBox="1"/>
          <p:nvPr/>
        </p:nvSpPr>
        <p:spPr>
          <a:xfrm>
            <a:off x="4843319" y="3381750"/>
            <a:ext cx="4159250" cy="391160"/>
          </a:xfrm>
          <a:prstGeom prst="rect">
            <a:avLst/>
          </a:prstGeom>
        </p:spPr>
        <p:txBody>
          <a:bodyPr wrap="square" lIns="0" tIns="12700" rIns="0" bIns="0" rtlCol="0" vert="horz">
            <a:spAutoFit/>
          </a:bodyPr>
          <a:lstStyle/>
          <a:p>
            <a:pPr marL="184150" marR="5080" indent="-171450">
              <a:lnSpc>
                <a:spcPct val="100000"/>
              </a:lnSpc>
              <a:spcBef>
                <a:spcPts val="100"/>
              </a:spcBef>
              <a:buFont typeface="Wingdings"/>
              <a:buChar char=""/>
              <a:tabLst>
                <a:tab pos="184150" algn="l"/>
              </a:tabLst>
            </a:pPr>
            <a:r>
              <a:rPr dirty="0" sz="1200" b="1">
                <a:solidFill>
                  <a:srgbClr val="C00000"/>
                </a:solidFill>
                <a:latin typeface="Microsoft YaHei"/>
                <a:cs typeface="Microsoft YaHei"/>
              </a:rPr>
              <a:t>现网</a:t>
            </a:r>
            <a:r>
              <a:rPr dirty="0" sz="1200" spc="-10" b="1">
                <a:solidFill>
                  <a:srgbClr val="C00000"/>
                </a:solidFill>
                <a:latin typeface="Arial"/>
                <a:cs typeface="Arial"/>
              </a:rPr>
              <a:t>8</a:t>
            </a:r>
            <a:r>
              <a:rPr dirty="0" sz="1200" b="1">
                <a:solidFill>
                  <a:srgbClr val="C00000"/>
                </a:solidFill>
                <a:latin typeface="Microsoft YaHei"/>
                <a:cs typeface="Microsoft YaHei"/>
              </a:rPr>
              <a:t>通道</a:t>
            </a:r>
            <a:r>
              <a:rPr dirty="0" sz="1200" spc="-10" b="1">
                <a:solidFill>
                  <a:srgbClr val="C00000"/>
                </a:solidFill>
                <a:latin typeface="Arial"/>
                <a:cs typeface="Arial"/>
              </a:rPr>
              <a:t>D</a:t>
            </a:r>
            <a:r>
              <a:rPr dirty="0" sz="1200" b="1">
                <a:solidFill>
                  <a:srgbClr val="C00000"/>
                </a:solidFill>
                <a:latin typeface="Microsoft YaHei"/>
                <a:cs typeface="Microsoft YaHei"/>
              </a:rPr>
              <a:t>频段天线未必适用于</a:t>
            </a:r>
            <a:r>
              <a:rPr dirty="0" sz="1200" spc="-10" b="1">
                <a:solidFill>
                  <a:srgbClr val="C00000"/>
                </a:solidFill>
                <a:latin typeface="Arial"/>
                <a:cs typeface="Arial"/>
              </a:rPr>
              <a:t>2555-2635</a:t>
            </a:r>
            <a:r>
              <a:rPr dirty="0" sz="1200" spc="-5" b="1">
                <a:solidFill>
                  <a:srgbClr val="C00000"/>
                </a:solidFill>
                <a:latin typeface="Microsoft YaHei"/>
                <a:cs typeface="Microsoft YaHei"/>
              </a:rPr>
              <a:t>以外频段，</a:t>
            </a:r>
            <a:r>
              <a:rPr dirty="0" sz="1200" spc="-20" b="1">
                <a:solidFill>
                  <a:srgbClr val="C00000"/>
                </a:solidFill>
                <a:latin typeface="Arial"/>
                <a:cs typeface="Arial"/>
              </a:rPr>
              <a:t>8TR</a:t>
            </a:r>
            <a:r>
              <a:rPr dirty="0" sz="1200" spc="-5" b="1">
                <a:solidFill>
                  <a:srgbClr val="C00000"/>
                </a:solidFill>
                <a:latin typeface="Microsoft YaHei"/>
                <a:cs typeface="Microsoft YaHei"/>
              </a:rPr>
              <a:t>设备现网部分天线不能复用，建网前需对现网天面摸底调研</a:t>
            </a:r>
            <a:endParaRPr sz="1200">
              <a:latin typeface="Microsoft YaHei"/>
              <a:cs typeface="Microsoft YaHei"/>
            </a:endParaRPr>
          </a:p>
        </p:txBody>
      </p:sp>
      <p:graphicFrame>
        <p:nvGraphicFramePr>
          <p:cNvPr id="68" name="object 68" descr=""/>
          <p:cNvGraphicFramePr>
            <a:graphicFrameLocks noGrp="1"/>
          </p:cNvGraphicFramePr>
          <p:nvPr/>
        </p:nvGraphicFramePr>
        <p:xfrm>
          <a:off x="4862717" y="3860800"/>
          <a:ext cx="4184650" cy="1028700"/>
        </p:xfrm>
        <a:graphic>
          <a:graphicData uri="http://schemas.openxmlformats.org/drawingml/2006/table">
            <a:tbl>
              <a:tblPr firstRow="1" bandRow="1">
                <a:tableStyleId>{2D5ABB26-0587-4C30-8999-92F81FD0307C}</a:tableStyleId>
              </a:tblPr>
              <a:tblGrid>
                <a:gridCol w="584200"/>
                <a:gridCol w="878205"/>
                <a:gridCol w="878205"/>
                <a:gridCol w="878205"/>
                <a:gridCol w="878205"/>
              </a:tblGrid>
              <a:tr h="171450">
                <a:tc rowSpan="2">
                  <a:txBody>
                    <a:bodyPr/>
                    <a:lstStyle/>
                    <a:p>
                      <a:pPr marL="36195">
                        <a:lnSpc>
                          <a:spcPct val="100000"/>
                        </a:lnSpc>
                        <a:spcBef>
                          <a:spcPts val="780"/>
                        </a:spcBef>
                      </a:pPr>
                      <a:r>
                        <a:rPr dirty="0" sz="1000" spc="-15">
                          <a:solidFill>
                            <a:srgbClr val="FFFFFF"/>
                          </a:solidFill>
                          <a:latin typeface="SimSun"/>
                          <a:cs typeface="SimSun"/>
                        </a:rPr>
                        <a:t>天线类型</a:t>
                      </a:r>
                      <a:endParaRPr sz="1000">
                        <a:latin typeface="SimSun"/>
                        <a:cs typeface="SimSun"/>
                      </a:endParaRPr>
                    </a:p>
                  </a:txBody>
                  <a:tcPr marL="0" marR="0" marB="0" marT="99060">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0070C0"/>
                    </a:solidFill>
                  </a:tcPr>
                </a:tc>
                <a:tc gridSpan="2">
                  <a:txBody>
                    <a:bodyPr/>
                    <a:lstStyle/>
                    <a:p>
                      <a:pPr algn="ctr">
                        <a:lnSpc>
                          <a:spcPts val="1145"/>
                        </a:lnSpc>
                        <a:spcBef>
                          <a:spcPts val="105"/>
                        </a:spcBef>
                      </a:pPr>
                      <a:r>
                        <a:rPr dirty="0" sz="1000" spc="-15">
                          <a:solidFill>
                            <a:srgbClr val="FFFFFF"/>
                          </a:solidFill>
                          <a:latin typeface="SimSun"/>
                          <a:cs typeface="SimSun"/>
                        </a:rPr>
                        <a:t>电路参数</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hMerge="1">
                  <a:txBody>
                    <a:bodyPr/>
                    <a:lstStyle/>
                    <a:p>
                      <a:pPr/>
                    </a:p>
                  </a:txBody>
                  <a:tcPr marL="0" marR="0" marB="0" marT="0"/>
                </a:tc>
                <a:tc gridSpan="2">
                  <a:txBody>
                    <a:bodyPr/>
                    <a:lstStyle/>
                    <a:p>
                      <a:pPr algn="ctr">
                        <a:lnSpc>
                          <a:spcPts val="1145"/>
                        </a:lnSpc>
                        <a:spcBef>
                          <a:spcPts val="105"/>
                        </a:spcBef>
                      </a:pPr>
                      <a:r>
                        <a:rPr dirty="0" sz="1000" spc="-15">
                          <a:solidFill>
                            <a:srgbClr val="FFFFFF"/>
                          </a:solidFill>
                          <a:latin typeface="SimSun"/>
                          <a:cs typeface="SimSun"/>
                        </a:rPr>
                        <a:t>辐射参数</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hMerge="1">
                  <a:txBody>
                    <a:bodyPr/>
                    <a:lstStyle/>
                    <a:p>
                      <a:pPr/>
                    </a:p>
                  </a:txBody>
                  <a:tcPr marL="0" marR="0" marB="0" marT="0"/>
                </a:tc>
              </a:tr>
              <a:tr h="171450">
                <a:tc vMerge="1">
                  <a:txBody>
                    <a:bodyPr/>
                    <a:lstStyle/>
                    <a:p>
                      <a:pPr/>
                    </a:p>
                  </a:txBody>
                  <a:tcPr marL="0" marR="0" marB="0" marT="99060">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0070C0"/>
                    </a:solidFill>
                  </a:tcPr>
                </a:tc>
                <a:tc>
                  <a:txBody>
                    <a:bodyPr/>
                    <a:lstStyle/>
                    <a:p>
                      <a:pPr algn="ctr">
                        <a:lnSpc>
                          <a:spcPts val="1190"/>
                        </a:lnSpc>
                        <a:spcBef>
                          <a:spcPts val="55"/>
                        </a:spcBef>
                      </a:pPr>
                      <a:r>
                        <a:rPr dirty="0" sz="1000" spc="-10">
                          <a:latin typeface="Arial MT"/>
                          <a:cs typeface="Arial MT"/>
                        </a:rPr>
                        <a:t>2515~2575M</a:t>
                      </a:r>
                      <a:endParaRPr sz="1000">
                        <a:latin typeface="Arial MT"/>
                        <a:cs typeface="Arial MT"/>
                      </a:endParaRPr>
                    </a:p>
                  </a:txBody>
                  <a:tcPr marL="0" marR="0" marB="0" marT="6985">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ts val="1190"/>
                        </a:lnSpc>
                        <a:spcBef>
                          <a:spcPts val="55"/>
                        </a:spcBef>
                      </a:pPr>
                      <a:r>
                        <a:rPr dirty="0" sz="1000" spc="-10">
                          <a:latin typeface="Arial MT"/>
                          <a:cs typeface="Arial MT"/>
                        </a:rPr>
                        <a:t>2635~2680M</a:t>
                      </a:r>
                      <a:endParaRPr sz="1000">
                        <a:latin typeface="Arial MT"/>
                        <a:cs typeface="Arial MT"/>
                      </a:endParaRPr>
                    </a:p>
                  </a:txBody>
                  <a:tcPr marL="0" marR="0" marB="0" marT="698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ts val="1190"/>
                        </a:lnSpc>
                        <a:spcBef>
                          <a:spcPts val="55"/>
                        </a:spcBef>
                      </a:pPr>
                      <a:r>
                        <a:rPr dirty="0" sz="1000" spc="-10">
                          <a:latin typeface="Arial MT"/>
                          <a:cs typeface="Arial MT"/>
                        </a:rPr>
                        <a:t>2515~2575M</a:t>
                      </a:r>
                      <a:endParaRPr sz="1000">
                        <a:latin typeface="Arial MT"/>
                        <a:cs typeface="Arial MT"/>
                      </a:endParaRPr>
                    </a:p>
                  </a:txBody>
                  <a:tcPr marL="0" marR="0" marB="0" marT="698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ts val="1190"/>
                        </a:lnSpc>
                        <a:spcBef>
                          <a:spcPts val="55"/>
                        </a:spcBef>
                      </a:pPr>
                      <a:r>
                        <a:rPr dirty="0" sz="1000" spc="-10">
                          <a:latin typeface="Arial MT"/>
                          <a:cs typeface="Arial MT"/>
                        </a:rPr>
                        <a:t>2635~2680M</a:t>
                      </a:r>
                      <a:endParaRPr sz="1000">
                        <a:latin typeface="Arial MT"/>
                        <a:cs typeface="Arial MT"/>
                      </a:endParaRPr>
                    </a:p>
                  </a:txBody>
                  <a:tcPr marL="0" marR="0" marB="0" marT="698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r>
              <a:tr h="171450">
                <a:tc>
                  <a:txBody>
                    <a:bodyPr/>
                    <a:lstStyle/>
                    <a:p>
                      <a:pPr algn="ctr">
                        <a:lnSpc>
                          <a:spcPts val="1190"/>
                        </a:lnSpc>
                        <a:spcBef>
                          <a:spcPts val="60"/>
                        </a:spcBef>
                      </a:pPr>
                      <a:r>
                        <a:rPr dirty="0" sz="1000">
                          <a:solidFill>
                            <a:srgbClr val="FFFFFF"/>
                          </a:solidFill>
                          <a:latin typeface="SimSun"/>
                          <a:cs typeface="SimSun"/>
                        </a:rPr>
                        <a:t>常规</a:t>
                      </a:r>
                      <a:r>
                        <a:rPr dirty="0" sz="1000" spc="-25" b="1">
                          <a:solidFill>
                            <a:srgbClr val="FFFFFF"/>
                          </a:solidFill>
                          <a:latin typeface="Arial"/>
                          <a:cs typeface="Arial"/>
                        </a:rPr>
                        <a:t>FAD</a:t>
                      </a:r>
                      <a:endParaRPr sz="1000">
                        <a:latin typeface="Arial"/>
                        <a:cs typeface="Arial"/>
                      </a:endParaRPr>
                    </a:p>
                  </a:txBody>
                  <a:tcPr marL="0" marR="0" marB="0" marT="762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70C0"/>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145"/>
                        </a:lnSpc>
                        <a:spcBef>
                          <a:spcPts val="105"/>
                        </a:spcBef>
                      </a:pPr>
                      <a:r>
                        <a:rPr dirty="0" sz="1000" spc="-25">
                          <a:latin typeface="SimSun"/>
                          <a:cs typeface="SimSun"/>
                        </a:rPr>
                        <a:t>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145"/>
                        </a:lnSpc>
                        <a:spcBef>
                          <a:spcPts val="105"/>
                        </a:spcBef>
                      </a:pPr>
                      <a:r>
                        <a:rPr dirty="0" sz="1000" spc="-25">
                          <a:latin typeface="SimSun"/>
                          <a:cs typeface="SimSun"/>
                        </a:rPr>
                        <a:t>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71450">
                <a:tc>
                  <a:txBody>
                    <a:bodyPr/>
                    <a:lstStyle/>
                    <a:p>
                      <a:pPr algn="ctr">
                        <a:lnSpc>
                          <a:spcPts val="1145"/>
                        </a:lnSpc>
                        <a:spcBef>
                          <a:spcPts val="105"/>
                        </a:spcBef>
                      </a:pPr>
                      <a:r>
                        <a:rPr dirty="0" sz="1000" spc="-15">
                          <a:solidFill>
                            <a:srgbClr val="FFFFFF"/>
                          </a:solidFill>
                          <a:latin typeface="SimSun"/>
                          <a:cs typeface="SimSun"/>
                        </a:rPr>
                        <a:t>独立电调</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70C0"/>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r h="171450">
                <a:tc>
                  <a:txBody>
                    <a:bodyPr/>
                    <a:lstStyle/>
                    <a:p>
                      <a:pPr algn="ctr">
                        <a:lnSpc>
                          <a:spcPts val="1190"/>
                        </a:lnSpc>
                        <a:spcBef>
                          <a:spcPts val="55"/>
                        </a:spcBef>
                      </a:pPr>
                      <a:r>
                        <a:rPr dirty="0" sz="1000" spc="-20" b="1">
                          <a:solidFill>
                            <a:srgbClr val="FFFFFF"/>
                          </a:solidFill>
                          <a:latin typeface="Arial"/>
                          <a:cs typeface="Arial"/>
                        </a:rPr>
                        <a:t>2288</a:t>
                      </a:r>
                      <a:endParaRPr sz="1000">
                        <a:latin typeface="Arial"/>
                        <a:cs typeface="Arial"/>
                      </a:endParaRPr>
                    </a:p>
                  </a:txBody>
                  <a:tcPr marL="0" marR="0" marB="0" marT="698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70C0"/>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71450">
                <a:tc>
                  <a:txBody>
                    <a:bodyPr/>
                    <a:lstStyle/>
                    <a:p>
                      <a:pPr algn="ctr">
                        <a:lnSpc>
                          <a:spcPts val="1190"/>
                        </a:lnSpc>
                        <a:spcBef>
                          <a:spcPts val="55"/>
                        </a:spcBef>
                      </a:pPr>
                      <a:r>
                        <a:rPr dirty="0" sz="1000" spc="-20" b="1">
                          <a:solidFill>
                            <a:srgbClr val="FFFFFF"/>
                          </a:solidFill>
                          <a:latin typeface="Arial"/>
                          <a:cs typeface="Arial"/>
                        </a:rPr>
                        <a:t>4488</a:t>
                      </a:r>
                      <a:endParaRPr sz="1000">
                        <a:latin typeface="Arial"/>
                        <a:cs typeface="Arial"/>
                      </a:endParaRPr>
                    </a:p>
                  </a:txBody>
                  <a:tcPr marL="0" marR="0" marB="0" marT="698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70C0"/>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ts val="1145"/>
                        </a:lnSpc>
                        <a:spcBef>
                          <a:spcPts val="105"/>
                        </a:spcBef>
                      </a:pPr>
                      <a:r>
                        <a:rPr dirty="0" sz="1000" spc="-20">
                          <a:latin typeface="SimSun"/>
                          <a:cs typeface="SimSun"/>
                        </a:rPr>
                        <a:t>不支持</a:t>
                      </a:r>
                      <a:endParaRPr sz="1000">
                        <a:latin typeface="SimSun"/>
                        <a:cs typeface="SimSun"/>
                      </a:endParaRPr>
                    </a:p>
                  </a:txBody>
                  <a:tcPr marL="0" marR="0" marB="0" marT="133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9199" y="92039"/>
            <a:ext cx="6642734" cy="513080"/>
          </a:xfrm>
          <a:prstGeom prst="rect"/>
        </p:spPr>
        <p:txBody>
          <a:bodyPr wrap="square" lIns="0" tIns="12065" rIns="0" bIns="0" rtlCol="0" vert="horz">
            <a:spAutoFit/>
          </a:bodyPr>
          <a:lstStyle/>
          <a:p>
            <a:pPr marL="12700">
              <a:lnSpc>
                <a:spcPct val="100000"/>
              </a:lnSpc>
              <a:spcBef>
                <a:spcPts val="95"/>
              </a:spcBef>
            </a:pPr>
            <a:r>
              <a:rPr dirty="0" spc="-40"/>
              <a:t>中国联通</a:t>
            </a:r>
            <a:r>
              <a:rPr dirty="0" spc="-30">
                <a:latin typeface="Times New Roman"/>
                <a:cs typeface="Times New Roman"/>
              </a:rPr>
              <a:t>5G</a:t>
            </a:r>
            <a:r>
              <a:rPr dirty="0" spc="-45"/>
              <a:t>多场景灵活组网解决方案</a:t>
            </a:r>
          </a:p>
        </p:txBody>
      </p:sp>
      <p:pic>
        <p:nvPicPr>
          <p:cNvPr id="3" name="object 3" descr=""/>
          <p:cNvPicPr/>
          <p:nvPr/>
        </p:nvPicPr>
        <p:blipFill>
          <a:blip r:embed="rId2" cstate="print"/>
          <a:stretch>
            <a:fillRect/>
          </a:stretch>
        </p:blipFill>
        <p:spPr>
          <a:xfrm>
            <a:off x="191262" y="2952000"/>
            <a:ext cx="5508497" cy="1431784"/>
          </a:xfrm>
          <a:prstGeom prst="rect">
            <a:avLst/>
          </a:prstGeom>
        </p:spPr>
      </p:pic>
      <p:sp>
        <p:nvSpPr>
          <p:cNvPr id="4" name="object 4" descr=""/>
          <p:cNvSpPr txBox="1"/>
          <p:nvPr/>
        </p:nvSpPr>
        <p:spPr>
          <a:xfrm>
            <a:off x="5058054" y="3524516"/>
            <a:ext cx="517525" cy="289560"/>
          </a:xfrm>
          <a:prstGeom prst="rect">
            <a:avLst/>
          </a:prstGeom>
          <a:solidFill>
            <a:srgbClr val="99CCFF"/>
          </a:solidFill>
        </p:spPr>
        <p:txBody>
          <a:bodyPr wrap="square" lIns="0" tIns="45720" rIns="0" bIns="0" rtlCol="0" vert="horz">
            <a:spAutoFit/>
          </a:bodyPr>
          <a:lstStyle/>
          <a:p>
            <a:pPr marL="103505">
              <a:lnSpc>
                <a:spcPct val="100000"/>
              </a:lnSpc>
              <a:spcBef>
                <a:spcPts val="360"/>
              </a:spcBef>
            </a:pPr>
            <a:r>
              <a:rPr dirty="0" sz="1200" spc="-25" b="1">
                <a:latin typeface="Microsoft YaHei"/>
                <a:cs typeface="Microsoft YaHei"/>
              </a:rPr>
              <a:t>农村</a:t>
            </a:r>
            <a:endParaRPr sz="1200">
              <a:latin typeface="Microsoft YaHei"/>
              <a:cs typeface="Microsoft YaHei"/>
            </a:endParaRPr>
          </a:p>
        </p:txBody>
      </p:sp>
      <p:grpSp>
        <p:nvGrpSpPr>
          <p:cNvPr id="5" name="object 5" descr=""/>
          <p:cNvGrpSpPr/>
          <p:nvPr/>
        </p:nvGrpSpPr>
        <p:grpSpPr>
          <a:xfrm>
            <a:off x="189190" y="2131261"/>
            <a:ext cx="4795520" cy="1964689"/>
            <a:chOff x="189190" y="2131261"/>
            <a:chExt cx="4795520" cy="1964689"/>
          </a:xfrm>
        </p:grpSpPr>
        <p:sp>
          <p:nvSpPr>
            <p:cNvPr id="6" name="object 6" descr=""/>
            <p:cNvSpPr/>
            <p:nvPr/>
          </p:nvSpPr>
          <p:spPr>
            <a:xfrm>
              <a:off x="189179" y="2131263"/>
              <a:ext cx="4795520" cy="1951989"/>
            </a:xfrm>
            <a:custGeom>
              <a:avLst/>
              <a:gdLst/>
              <a:ahLst/>
              <a:cxnLst/>
              <a:rect l="l" t="t" r="r" b="b"/>
              <a:pathLst>
                <a:path w="4795520" h="1951989">
                  <a:moveTo>
                    <a:pt x="2949067" y="1883473"/>
                  </a:moveTo>
                  <a:lnTo>
                    <a:pt x="2939707" y="1852079"/>
                  </a:lnTo>
                  <a:lnTo>
                    <a:pt x="2910141" y="1824913"/>
                  </a:lnTo>
                  <a:lnTo>
                    <a:pt x="2864866" y="1804835"/>
                  </a:lnTo>
                  <a:lnTo>
                    <a:pt x="2808414" y="1794687"/>
                  </a:lnTo>
                  <a:lnTo>
                    <a:pt x="2751099" y="1796910"/>
                  </a:lnTo>
                  <a:lnTo>
                    <a:pt x="2703487" y="1810524"/>
                  </a:lnTo>
                  <a:lnTo>
                    <a:pt x="2670429" y="1833333"/>
                  </a:lnTo>
                  <a:lnTo>
                    <a:pt x="2656814" y="1863128"/>
                  </a:lnTo>
                  <a:lnTo>
                    <a:pt x="2666174" y="1894522"/>
                  </a:lnTo>
                  <a:lnTo>
                    <a:pt x="2695752" y="1921687"/>
                  </a:lnTo>
                  <a:lnTo>
                    <a:pt x="2741015" y="1941766"/>
                  </a:lnTo>
                  <a:lnTo>
                    <a:pt x="2797467" y="1951901"/>
                  </a:lnTo>
                  <a:lnTo>
                    <a:pt x="2854782" y="1949691"/>
                  </a:lnTo>
                  <a:lnTo>
                    <a:pt x="2902394" y="1936076"/>
                  </a:lnTo>
                  <a:lnTo>
                    <a:pt x="2935452" y="1913280"/>
                  </a:lnTo>
                  <a:lnTo>
                    <a:pt x="2949067" y="1883473"/>
                  </a:lnTo>
                  <a:close/>
                </a:path>
                <a:path w="4795520" h="1951989">
                  <a:moveTo>
                    <a:pt x="4795075" y="623760"/>
                  </a:moveTo>
                  <a:lnTo>
                    <a:pt x="4785639" y="568007"/>
                  </a:lnTo>
                  <a:lnTo>
                    <a:pt x="4769091" y="531596"/>
                  </a:lnTo>
                  <a:lnTo>
                    <a:pt x="4744618" y="495846"/>
                  </a:lnTo>
                  <a:lnTo>
                    <a:pt x="4712462" y="460832"/>
                  </a:lnTo>
                  <a:lnTo>
                    <a:pt x="4672850" y="426605"/>
                  </a:lnTo>
                  <a:lnTo>
                    <a:pt x="4626038" y="393255"/>
                  </a:lnTo>
                  <a:lnTo>
                    <a:pt x="4572241" y="360807"/>
                  </a:lnTo>
                  <a:lnTo>
                    <a:pt x="4511726" y="329349"/>
                  </a:lnTo>
                  <a:lnTo>
                    <a:pt x="4444695" y="298919"/>
                  </a:lnTo>
                  <a:lnTo>
                    <a:pt x="4408817" y="284124"/>
                  </a:lnTo>
                  <a:lnTo>
                    <a:pt x="4371416" y="269608"/>
                  </a:lnTo>
                  <a:lnTo>
                    <a:pt x="4332490" y="255384"/>
                  </a:lnTo>
                  <a:lnTo>
                    <a:pt x="4292104" y="241452"/>
                  </a:lnTo>
                  <a:lnTo>
                    <a:pt x="4250258" y="227838"/>
                  </a:lnTo>
                  <a:lnTo>
                    <a:pt x="4207002" y="214541"/>
                  </a:lnTo>
                  <a:lnTo>
                    <a:pt x="4162361" y="201549"/>
                  </a:lnTo>
                  <a:lnTo>
                    <a:pt x="4116362" y="188899"/>
                  </a:lnTo>
                  <a:lnTo>
                    <a:pt x="4069029" y="176593"/>
                  </a:lnTo>
                  <a:lnTo>
                    <a:pt x="4020401" y="164617"/>
                  </a:lnTo>
                  <a:lnTo>
                    <a:pt x="3970502" y="153009"/>
                  </a:lnTo>
                  <a:lnTo>
                    <a:pt x="3919372" y="141744"/>
                  </a:lnTo>
                  <a:lnTo>
                    <a:pt x="3867023" y="130860"/>
                  </a:lnTo>
                  <a:lnTo>
                    <a:pt x="3813492" y="120357"/>
                  </a:lnTo>
                  <a:lnTo>
                    <a:pt x="3758819" y="110236"/>
                  </a:lnTo>
                  <a:lnTo>
                    <a:pt x="3703028" y="100495"/>
                  </a:lnTo>
                  <a:lnTo>
                    <a:pt x="3646144" y="91160"/>
                  </a:lnTo>
                  <a:lnTo>
                    <a:pt x="3588194" y="82232"/>
                  </a:lnTo>
                  <a:lnTo>
                    <a:pt x="3529215" y="73723"/>
                  </a:lnTo>
                  <a:lnTo>
                    <a:pt x="3469233" y="65633"/>
                  </a:lnTo>
                  <a:lnTo>
                    <a:pt x="3408286" y="57975"/>
                  </a:lnTo>
                  <a:lnTo>
                    <a:pt x="3346386" y="50761"/>
                  </a:lnTo>
                  <a:lnTo>
                    <a:pt x="3283585" y="43980"/>
                  </a:lnTo>
                  <a:lnTo>
                    <a:pt x="3219894" y="37668"/>
                  </a:lnTo>
                  <a:lnTo>
                    <a:pt x="3155353" y="31800"/>
                  </a:lnTo>
                  <a:lnTo>
                    <a:pt x="3089986" y="26416"/>
                  </a:lnTo>
                  <a:lnTo>
                    <a:pt x="3023819" y="21501"/>
                  </a:lnTo>
                  <a:lnTo>
                    <a:pt x="2956903" y="17068"/>
                  </a:lnTo>
                  <a:lnTo>
                    <a:pt x="2889237" y="13131"/>
                  </a:lnTo>
                  <a:lnTo>
                    <a:pt x="2820873" y="9702"/>
                  </a:lnTo>
                  <a:lnTo>
                    <a:pt x="2751836" y="6769"/>
                  </a:lnTo>
                  <a:lnTo>
                    <a:pt x="2682151" y="4356"/>
                  </a:lnTo>
                  <a:lnTo>
                    <a:pt x="2611856" y="2463"/>
                  </a:lnTo>
                  <a:lnTo>
                    <a:pt x="2540965" y="1104"/>
                  </a:lnTo>
                  <a:lnTo>
                    <a:pt x="2469515" y="279"/>
                  </a:lnTo>
                  <a:lnTo>
                    <a:pt x="2397544" y="0"/>
                  </a:lnTo>
                  <a:lnTo>
                    <a:pt x="2325573" y="279"/>
                  </a:lnTo>
                  <a:lnTo>
                    <a:pt x="2254135" y="1104"/>
                  </a:lnTo>
                  <a:lnTo>
                    <a:pt x="2183244" y="2463"/>
                  </a:lnTo>
                  <a:lnTo>
                    <a:pt x="2112937" y="4356"/>
                  </a:lnTo>
                  <a:lnTo>
                    <a:pt x="2043252" y="6769"/>
                  </a:lnTo>
                  <a:lnTo>
                    <a:pt x="1974215" y="9702"/>
                  </a:lnTo>
                  <a:lnTo>
                    <a:pt x="1905850" y="13131"/>
                  </a:lnTo>
                  <a:lnTo>
                    <a:pt x="1838198" y="17068"/>
                  </a:lnTo>
                  <a:lnTo>
                    <a:pt x="1771269" y="21501"/>
                  </a:lnTo>
                  <a:lnTo>
                    <a:pt x="1705102" y="26416"/>
                  </a:lnTo>
                  <a:lnTo>
                    <a:pt x="1639735" y="31800"/>
                  </a:lnTo>
                  <a:lnTo>
                    <a:pt x="1575193" y="37668"/>
                  </a:lnTo>
                  <a:lnTo>
                    <a:pt x="1511503" y="43980"/>
                  </a:lnTo>
                  <a:lnTo>
                    <a:pt x="1448701" y="50761"/>
                  </a:lnTo>
                  <a:lnTo>
                    <a:pt x="1386801" y="57975"/>
                  </a:lnTo>
                  <a:lnTo>
                    <a:pt x="1325854" y="65633"/>
                  </a:lnTo>
                  <a:lnTo>
                    <a:pt x="1265872" y="73723"/>
                  </a:lnTo>
                  <a:lnTo>
                    <a:pt x="1206893" y="82232"/>
                  </a:lnTo>
                  <a:lnTo>
                    <a:pt x="1148943" y="91160"/>
                  </a:lnTo>
                  <a:lnTo>
                    <a:pt x="1092060" y="100495"/>
                  </a:lnTo>
                  <a:lnTo>
                    <a:pt x="1036269" y="110236"/>
                  </a:lnTo>
                  <a:lnTo>
                    <a:pt x="981595" y="120357"/>
                  </a:lnTo>
                  <a:lnTo>
                    <a:pt x="928065" y="130860"/>
                  </a:lnTo>
                  <a:lnTo>
                    <a:pt x="875715" y="141744"/>
                  </a:lnTo>
                  <a:lnTo>
                    <a:pt x="824585" y="153009"/>
                  </a:lnTo>
                  <a:lnTo>
                    <a:pt x="774687" y="164617"/>
                  </a:lnTo>
                  <a:lnTo>
                    <a:pt x="726059" y="176593"/>
                  </a:lnTo>
                  <a:lnTo>
                    <a:pt x="678726" y="188899"/>
                  </a:lnTo>
                  <a:lnTo>
                    <a:pt x="632726" y="201549"/>
                  </a:lnTo>
                  <a:lnTo>
                    <a:pt x="588086" y="214541"/>
                  </a:lnTo>
                  <a:lnTo>
                    <a:pt x="544830" y="227838"/>
                  </a:lnTo>
                  <a:lnTo>
                    <a:pt x="502983" y="241452"/>
                  </a:lnTo>
                  <a:lnTo>
                    <a:pt x="462597" y="255384"/>
                  </a:lnTo>
                  <a:lnTo>
                    <a:pt x="423672" y="269608"/>
                  </a:lnTo>
                  <a:lnTo>
                    <a:pt x="386270" y="284124"/>
                  </a:lnTo>
                  <a:lnTo>
                    <a:pt x="350393" y="298919"/>
                  </a:lnTo>
                  <a:lnTo>
                    <a:pt x="283362" y="329349"/>
                  </a:lnTo>
                  <a:lnTo>
                    <a:pt x="222834" y="360807"/>
                  </a:lnTo>
                  <a:lnTo>
                    <a:pt x="169049" y="393255"/>
                  </a:lnTo>
                  <a:lnTo>
                    <a:pt x="122237" y="426605"/>
                  </a:lnTo>
                  <a:lnTo>
                    <a:pt x="82626" y="460832"/>
                  </a:lnTo>
                  <a:lnTo>
                    <a:pt x="50469" y="495846"/>
                  </a:lnTo>
                  <a:lnTo>
                    <a:pt x="25996" y="531596"/>
                  </a:lnTo>
                  <a:lnTo>
                    <a:pt x="9448" y="568007"/>
                  </a:lnTo>
                  <a:lnTo>
                    <a:pt x="0" y="623760"/>
                  </a:lnTo>
                  <a:lnTo>
                    <a:pt x="1066" y="642493"/>
                  </a:lnTo>
                  <a:lnTo>
                    <a:pt x="16725" y="697814"/>
                  </a:lnTo>
                  <a:lnTo>
                    <a:pt x="37261" y="733907"/>
                  </a:lnTo>
                  <a:lnTo>
                    <a:pt x="65608" y="769289"/>
                  </a:lnTo>
                  <a:lnTo>
                    <a:pt x="101511" y="803922"/>
                  </a:lnTo>
                  <a:lnTo>
                    <a:pt x="144754" y="837717"/>
                  </a:lnTo>
                  <a:lnTo>
                    <a:pt x="195084" y="870623"/>
                  </a:lnTo>
                  <a:lnTo>
                    <a:pt x="252272" y="902589"/>
                  </a:lnTo>
                  <a:lnTo>
                    <a:pt x="316077" y="933538"/>
                  </a:lnTo>
                  <a:lnTo>
                    <a:pt x="386270" y="963409"/>
                  </a:lnTo>
                  <a:lnTo>
                    <a:pt x="423672" y="977925"/>
                  </a:lnTo>
                  <a:lnTo>
                    <a:pt x="462597" y="992149"/>
                  </a:lnTo>
                  <a:lnTo>
                    <a:pt x="502983" y="1006081"/>
                  </a:lnTo>
                  <a:lnTo>
                    <a:pt x="544830" y="1019695"/>
                  </a:lnTo>
                  <a:lnTo>
                    <a:pt x="588086" y="1033005"/>
                  </a:lnTo>
                  <a:lnTo>
                    <a:pt x="632726" y="1045984"/>
                  </a:lnTo>
                  <a:lnTo>
                    <a:pt x="678726" y="1058633"/>
                  </a:lnTo>
                  <a:lnTo>
                    <a:pt x="726059" y="1070952"/>
                  </a:lnTo>
                  <a:lnTo>
                    <a:pt x="774687" y="1082916"/>
                  </a:lnTo>
                  <a:lnTo>
                    <a:pt x="824585" y="1094524"/>
                  </a:lnTo>
                  <a:lnTo>
                    <a:pt x="875715" y="1105789"/>
                  </a:lnTo>
                  <a:lnTo>
                    <a:pt x="928065" y="1116672"/>
                  </a:lnTo>
                  <a:lnTo>
                    <a:pt x="981595" y="1127175"/>
                  </a:lnTo>
                  <a:lnTo>
                    <a:pt x="1036269" y="1137297"/>
                  </a:lnTo>
                  <a:lnTo>
                    <a:pt x="1092060" y="1147038"/>
                  </a:lnTo>
                  <a:lnTo>
                    <a:pt x="1148943" y="1156373"/>
                  </a:lnTo>
                  <a:lnTo>
                    <a:pt x="1206893" y="1165301"/>
                  </a:lnTo>
                  <a:lnTo>
                    <a:pt x="1265872" y="1173810"/>
                  </a:lnTo>
                  <a:lnTo>
                    <a:pt x="1325854" y="1181900"/>
                  </a:lnTo>
                  <a:lnTo>
                    <a:pt x="1386801" y="1189558"/>
                  </a:lnTo>
                  <a:lnTo>
                    <a:pt x="1448701" y="1196771"/>
                  </a:lnTo>
                  <a:lnTo>
                    <a:pt x="1511503" y="1203553"/>
                  </a:lnTo>
                  <a:lnTo>
                    <a:pt x="1575193" y="1209865"/>
                  </a:lnTo>
                  <a:lnTo>
                    <a:pt x="1639735" y="1215732"/>
                  </a:lnTo>
                  <a:lnTo>
                    <a:pt x="1705102" y="1221117"/>
                  </a:lnTo>
                  <a:lnTo>
                    <a:pt x="1771269" y="1226032"/>
                  </a:lnTo>
                  <a:lnTo>
                    <a:pt x="1838198" y="1230464"/>
                  </a:lnTo>
                  <a:lnTo>
                    <a:pt x="1905850" y="1234401"/>
                  </a:lnTo>
                  <a:lnTo>
                    <a:pt x="1974215" y="1237830"/>
                  </a:lnTo>
                  <a:lnTo>
                    <a:pt x="2043252" y="1240764"/>
                  </a:lnTo>
                  <a:lnTo>
                    <a:pt x="2112937" y="1243177"/>
                  </a:lnTo>
                  <a:lnTo>
                    <a:pt x="2183244" y="1245069"/>
                  </a:lnTo>
                  <a:lnTo>
                    <a:pt x="2254135" y="1246428"/>
                  </a:lnTo>
                  <a:lnTo>
                    <a:pt x="2325573" y="1247254"/>
                  </a:lnTo>
                  <a:lnTo>
                    <a:pt x="2397544" y="1247521"/>
                  </a:lnTo>
                  <a:lnTo>
                    <a:pt x="2469515" y="1247254"/>
                  </a:lnTo>
                  <a:lnTo>
                    <a:pt x="2540965" y="1246428"/>
                  </a:lnTo>
                  <a:lnTo>
                    <a:pt x="2611856" y="1245069"/>
                  </a:lnTo>
                  <a:lnTo>
                    <a:pt x="2682151" y="1243177"/>
                  </a:lnTo>
                  <a:lnTo>
                    <a:pt x="2751836" y="1240764"/>
                  </a:lnTo>
                  <a:lnTo>
                    <a:pt x="2820873" y="1237830"/>
                  </a:lnTo>
                  <a:lnTo>
                    <a:pt x="2889237" y="1234401"/>
                  </a:lnTo>
                  <a:lnTo>
                    <a:pt x="2956903" y="1230464"/>
                  </a:lnTo>
                  <a:lnTo>
                    <a:pt x="3023819" y="1226032"/>
                  </a:lnTo>
                  <a:lnTo>
                    <a:pt x="3089986" y="1221117"/>
                  </a:lnTo>
                  <a:lnTo>
                    <a:pt x="3155353" y="1215732"/>
                  </a:lnTo>
                  <a:lnTo>
                    <a:pt x="3219894" y="1209865"/>
                  </a:lnTo>
                  <a:lnTo>
                    <a:pt x="3283585" y="1203553"/>
                  </a:lnTo>
                  <a:lnTo>
                    <a:pt x="3346386" y="1196771"/>
                  </a:lnTo>
                  <a:lnTo>
                    <a:pt x="3408286" y="1189558"/>
                  </a:lnTo>
                  <a:lnTo>
                    <a:pt x="3469233" y="1181900"/>
                  </a:lnTo>
                  <a:lnTo>
                    <a:pt x="3529215" y="1173810"/>
                  </a:lnTo>
                  <a:lnTo>
                    <a:pt x="3588194" y="1165301"/>
                  </a:lnTo>
                  <a:lnTo>
                    <a:pt x="3646144" y="1156373"/>
                  </a:lnTo>
                  <a:lnTo>
                    <a:pt x="3703028" y="1147038"/>
                  </a:lnTo>
                  <a:lnTo>
                    <a:pt x="3758819" y="1137297"/>
                  </a:lnTo>
                  <a:lnTo>
                    <a:pt x="3813492" y="1127175"/>
                  </a:lnTo>
                  <a:lnTo>
                    <a:pt x="3867023" y="1116672"/>
                  </a:lnTo>
                  <a:lnTo>
                    <a:pt x="3919372" y="1105789"/>
                  </a:lnTo>
                  <a:lnTo>
                    <a:pt x="3970502" y="1094524"/>
                  </a:lnTo>
                  <a:lnTo>
                    <a:pt x="4020401" y="1082916"/>
                  </a:lnTo>
                  <a:lnTo>
                    <a:pt x="4069029" y="1070952"/>
                  </a:lnTo>
                  <a:lnTo>
                    <a:pt x="4116362" y="1058633"/>
                  </a:lnTo>
                  <a:lnTo>
                    <a:pt x="4162361" y="1045984"/>
                  </a:lnTo>
                  <a:lnTo>
                    <a:pt x="4207002" y="1033005"/>
                  </a:lnTo>
                  <a:lnTo>
                    <a:pt x="4250258" y="1019695"/>
                  </a:lnTo>
                  <a:lnTo>
                    <a:pt x="4292104" y="1006081"/>
                  </a:lnTo>
                  <a:lnTo>
                    <a:pt x="4332490" y="992149"/>
                  </a:lnTo>
                  <a:lnTo>
                    <a:pt x="4371416" y="977925"/>
                  </a:lnTo>
                  <a:lnTo>
                    <a:pt x="4408817" y="963409"/>
                  </a:lnTo>
                  <a:lnTo>
                    <a:pt x="4444695" y="948613"/>
                  </a:lnTo>
                  <a:lnTo>
                    <a:pt x="4511726" y="918197"/>
                  </a:lnTo>
                  <a:lnTo>
                    <a:pt x="4572241" y="886726"/>
                  </a:lnTo>
                  <a:lnTo>
                    <a:pt x="4626038" y="854290"/>
                  </a:lnTo>
                  <a:lnTo>
                    <a:pt x="4672850" y="820928"/>
                  </a:lnTo>
                  <a:lnTo>
                    <a:pt x="4712462" y="786701"/>
                  </a:lnTo>
                  <a:lnTo>
                    <a:pt x="4744618" y="751687"/>
                  </a:lnTo>
                  <a:lnTo>
                    <a:pt x="4769091" y="715937"/>
                  </a:lnTo>
                  <a:lnTo>
                    <a:pt x="4785639" y="679526"/>
                  </a:lnTo>
                  <a:lnTo>
                    <a:pt x="4795075" y="623760"/>
                  </a:lnTo>
                  <a:close/>
                </a:path>
              </a:pathLst>
            </a:custGeom>
            <a:solidFill>
              <a:srgbClr val="DDFEFF"/>
            </a:solidFill>
          </p:spPr>
          <p:txBody>
            <a:bodyPr wrap="square" lIns="0" tIns="0" rIns="0" bIns="0" rtlCol="0"/>
            <a:lstStyle/>
            <a:p/>
          </p:txBody>
        </p:sp>
        <p:sp>
          <p:nvSpPr>
            <p:cNvPr id="7" name="object 7" descr=""/>
            <p:cNvSpPr/>
            <p:nvPr/>
          </p:nvSpPr>
          <p:spPr>
            <a:xfrm>
              <a:off x="2846000" y="3925951"/>
              <a:ext cx="292735" cy="157480"/>
            </a:xfrm>
            <a:custGeom>
              <a:avLst/>
              <a:gdLst/>
              <a:ahLst/>
              <a:cxnLst/>
              <a:rect l="l" t="t" r="r" b="b"/>
              <a:pathLst>
                <a:path w="292735" h="157479">
                  <a:moveTo>
                    <a:pt x="0" y="68440"/>
                  </a:moveTo>
                  <a:lnTo>
                    <a:pt x="13613" y="38644"/>
                  </a:lnTo>
                  <a:lnTo>
                    <a:pt x="46667" y="15836"/>
                  </a:lnTo>
                  <a:lnTo>
                    <a:pt x="94288" y="2221"/>
                  </a:lnTo>
                  <a:lnTo>
                    <a:pt x="151599" y="0"/>
                  </a:lnTo>
                  <a:lnTo>
                    <a:pt x="208045" y="10134"/>
                  </a:lnTo>
                  <a:lnTo>
                    <a:pt x="253320" y="30214"/>
                  </a:lnTo>
                  <a:lnTo>
                    <a:pt x="282898" y="57383"/>
                  </a:lnTo>
                  <a:lnTo>
                    <a:pt x="292252" y="88785"/>
                  </a:lnTo>
                  <a:lnTo>
                    <a:pt x="278639" y="118581"/>
                  </a:lnTo>
                  <a:lnTo>
                    <a:pt x="245584" y="141387"/>
                  </a:lnTo>
                  <a:lnTo>
                    <a:pt x="197963" y="154999"/>
                  </a:lnTo>
                  <a:lnTo>
                    <a:pt x="140652" y="157213"/>
                  </a:lnTo>
                  <a:lnTo>
                    <a:pt x="84206" y="147078"/>
                  </a:lnTo>
                  <a:lnTo>
                    <a:pt x="38931" y="127000"/>
                  </a:lnTo>
                  <a:lnTo>
                    <a:pt x="9353" y="99834"/>
                  </a:lnTo>
                  <a:lnTo>
                    <a:pt x="0" y="68440"/>
                  </a:lnTo>
                  <a:close/>
                </a:path>
              </a:pathLst>
            </a:custGeom>
            <a:ln w="9525">
              <a:solidFill>
                <a:srgbClr val="89A4A7"/>
              </a:solidFill>
            </a:ln>
          </p:spPr>
          <p:txBody>
            <a:bodyPr wrap="square" lIns="0" tIns="0" rIns="0" bIns="0" rtlCol="0"/>
            <a:lstStyle/>
            <a:p/>
          </p:txBody>
        </p:sp>
        <p:sp>
          <p:nvSpPr>
            <p:cNvPr id="8" name="object 8" descr=""/>
            <p:cNvSpPr/>
            <p:nvPr/>
          </p:nvSpPr>
          <p:spPr>
            <a:xfrm>
              <a:off x="2963532" y="3913987"/>
              <a:ext cx="77470" cy="23495"/>
            </a:xfrm>
            <a:custGeom>
              <a:avLst/>
              <a:gdLst/>
              <a:ahLst/>
              <a:cxnLst/>
              <a:rect l="l" t="t" r="r" b="b"/>
              <a:pathLst>
                <a:path w="77469" h="23495">
                  <a:moveTo>
                    <a:pt x="76009" y="0"/>
                  </a:moveTo>
                  <a:lnTo>
                    <a:pt x="39484" y="21526"/>
                  </a:lnTo>
                  <a:lnTo>
                    <a:pt x="1104" y="673"/>
                  </a:lnTo>
                  <a:lnTo>
                    <a:pt x="0" y="1689"/>
                  </a:lnTo>
                  <a:lnTo>
                    <a:pt x="39484" y="23202"/>
                  </a:lnTo>
                  <a:lnTo>
                    <a:pt x="77114" y="1689"/>
                  </a:lnTo>
                  <a:lnTo>
                    <a:pt x="76009" y="0"/>
                  </a:lnTo>
                  <a:close/>
                </a:path>
              </a:pathLst>
            </a:custGeom>
            <a:solidFill>
              <a:srgbClr val="DDFEFF"/>
            </a:solidFill>
          </p:spPr>
          <p:txBody>
            <a:bodyPr wrap="square" lIns="0" tIns="0" rIns="0" bIns="0" rtlCol="0"/>
            <a:lstStyle/>
            <a:p/>
          </p:txBody>
        </p:sp>
        <p:sp>
          <p:nvSpPr>
            <p:cNvPr id="9" name="object 9" descr=""/>
            <p:cNvSpPr/>
            <p:nvPr/>
          </p:nvSpPr>
          <p:spPr>
            <a:xfrm>
              <a:off x="2963532" y="3913987"/>
              <a:ext cx="77470" cy="23495"/>
            </a:xfrm>
            <a:custGeom>
              <a:avLst/>
              <a:gdLst/>
              <a:ahLst/>
              <a:cxnLst/>
              <a:rect l="l" t="t" r="r" b="b"/>
              <a:pathLst>
                <a:path w="77469" h="23495">
                  <a:moveTo>
                    <a:pt x="39484" y="23202"/>
                  </a:moveTo>
                  <a:lnTo>
                    <a:pt x="0" y="1689"/>
                  </a:lnTo>
                  <a:lnTo>
                    <a:pt x="1104" y="673"/>
                  </a:lnTo>
                  <a:lnTo>
                    <a:pt x="39484" y="21526"/>
                  </a:lnTo>
                  <a:lnTo>
                    <a:pt x="76009" y="0"/>
                  </a:lnTo>
                  <a:lnTo>
                    <a:pt x="77114" y="1689"/>
                  </a:lnTo>
                  <a:lnTo>
                    <a:pt x="39484" y="23202"/>
                  </a:lnTo>
                  <a:close/>
                </a:path>
              </a:pathLst>
            </a:custGeom>
            <a:ln w="6350">
              <a:solidFill>
                <a:srgbClr val="262673"/>
              </a:solidFill>
            </a:ln>
          </p:spPr>
          <p:txBody>
            <a:bodyPr wrap="square" lIns="0" tIns="0" rIns="0" bIns="0" rtlCol="0"/>
            <a:lstStyle/>
            <a:p/>
          </p:txBody>
        </p:sp>
        <p:sp>
          <p:nvSpPr>
            <p:cNvPr id="10" name="object 10" descr=""/>
            <p:cNvSpPr/>
            <p:nvPr/>
          </p:nvSpPr>
          <p:spPr>
            <a:xfrm>
              <a:off x="2988255" y="3781507"/>
              <a:ext cx="30480" cy="27940"/>
            </a:xfrm>
            <a:custGeom>
              <a:avLst/>
              <a:gdLst/>
              <a:ahLst/>
              <a:cxnLst/>
              <a:rect l="l" t="t" r="r" b="b"/>
              <a:pathLst>
                <a:path w="30480" h="27939">
                  <a:moveTo>
                    <a:pt x="23482" y="0"/>
                  </a:moveTo>
                  <a:lnTo>
                    <a:pt x="6769" y="0"/>
                  </a:lnTo>
                  <a:lnTo>
                    <a:pt x="0" y="6248"/>
                  </a:lnTo>
                  <a:lnTo>
                    <a:pt x="0" y="13957"/>
                  </a:lnTo>
                  <a:lnTo>
                    <a:pt x="0" y="21666"/>
                  </a:lnTo>
                  <a:lnTo>
                    <a:pt x="6769" y="27914"/>
                  </a:lnTo>
                  <a:lnTo>
                    <a:pt x="23482" y="27914"/>
                  </a:lnTo>
                  <a:lnTo>
                    <a:pt x="30264" y="21666"/>
                  </a:lnTo>
                  <a:lnTo>
                    <a:pt x="30264" y="6248"/>
                  </a:lnTo>
                  <a:lnTo>
                    <a:pt x="23482" y="0"/>
                  </a:lnTo>
                  <a:close/>
                </a:path>
              </a:pathLst>
            </a:custGeom>
            <a:solidFill>
              <a:srgbClr val="DDFEFF"/>
            </a:solidFill>
          </p:spPr>
          <p:txBody>
            <a:bodyPr wrap="square" lIns="0" tIns="0" rIns="0" bIns="0" rtlCol="0"/>
            <a:lstStyle/>
            <a:p/>
          </p:txBody>
        </p:sp>
        <p:sp>
          <p:nvSpPr>
            <p:cNvPr id="11" name="object 11" descr=""/>
            <p:cNvSpPr/>
            <p:nvPr/>
          </p:nvSpPr>
          <p:spPr>
            <a:xfrm>
              <a:off x="2988255" y="3781507"/>
              <a:ext cx="30480" cy="27940"/>
            </a:xfrm>
            <a:custGeom>
              <a:avLst/>
              <a:gdLst/>
              <a:ahLst/>
              <a:cxnLst/>
              <a:rect l="l" t="t" r="r" b="b"/>
              <a:pathLst>
                <a:path w="30480" h="27939">
                  <a:moveTo>
                    <a:pt x="0" y="13957"/>
                  </a:moveTo>
                  <a:lnTo>
                    <a:pt x="0" y="6248"/>
                  </a:lnTo>
                  <a:lnTo>
                    <a:pt x="6769" y="0"/>
                  </a:lnTo>
                  <a:lnTo>
                    <a:pt x="15125" y="0"/>
                  </a:lnTo>
                  <a:lnTo>
                    <a:pt x="23482" y="0"/>
                  </a:lnTo>
                  <a:lnTo>
                    <a:pt x="30264" y="6248"/>
                  </a:lnTo>
                  <a:lnTo>
                    <a:pt x="30264" y="13957"/>
                  </a:lnTo>
                  <a:lnTo>
                    <a:pt x="30264" y="21666"/>
                  </a:lnTo>
                  <a:lnTo>
                    <a:pt x="23482" y="27914"/>
                  </a:lnTo>
                  <a:lnTo>
                    <a:pt x="15125" y="27914"/>
                  </a:lnTo>
                  <a:lnTo>
                    <a:pt x="6769" y="27914"/>
                  </a:lnTo>
                  <a:lnTo>
                    <a:pt x="0" y="21666"/>
                  </a:lnTo>
                  <a:lnTo>
                    <a:pt x="0" y="13957"/>
                  </a:lnTo>
                  <a:close/>
                </a:path>
              </a:pathLst>
            </a:custGeom>
            <a:ln w="6350">
              <a:solidFill>
                <a:srgbClr val="262673"/>
              </a:solidFill>
            </a:ln>
          </p:spPr>
          <p:txBody>
            <a:bodyPr wrap="square" lIns="0" tIns="0" rIns="0" bIns="0" rtlCol="0"/>
            <a:lstStyle/>
            <a:p/>
          </p:txBody>
        </p:sp>
        <p:sp>
          <p:nvSpPr>
            <p:cNvPr id="12" name="object 12" descr=""/>
            <p:cNvSpPr/>
            <p:nvPr/>
          </p:nvSpPr>
          <p:spPr>
            <a:xfrm>
              <a:off x="2941764" y="3981914"/>
              <a:ext cx="119380" cy="22225"/>
            </a:xfrm>
            <a:custGeom>
              <a:avLst/>
              <a:gdLst/>
              <a:ahLst/>
              <a:cxnLst/>
              <a:rect l="l" t="t" r="r" b="b"/>
              <a:pathLst>
                <a:path w="119380" h="22225">
                  <a:moveTo>
                    <a:pt x="118071" y="0"/>
                  </a:moveTo>
                  <a:lnTo>
                    <a:pt x="61252" y="19837"/>
                  </a:lnTo>
                  <a:lnTo>
                    <a:pt x="1104" y="2349"/>
                  </a:lnTo>
                  <a:lnTo>
                    <a:pt x="0" y="3022"/>
                  </a:lnTo>
                  <a:lnTo>
                    <a:pt x="61252" y="22186"/>
                  </a:lnTo>
                  <a:lnTo>
                    <a:pt x="118808" y="1676"/>
                  </a:lnTo>
                  <a:lnTo>
                    <a:pt x="118071" y="0"/>
                  </a:lnTo>
                  <a:close/>
                </a:path>
              </a:pathLst>
            </a:custGeom>
            <a:solidFill>
              <a:srgbClr val="DDFEFF"/>
            </a:solidFill>
          </p:spPr>
          <p:txBody>
            <a:bodyPr wrap="square" lIns="0" tIns="0" rIns="0" bIns="0" rtlCol="0"/>
            <a:lstStyle/>
            <a:p/>
          </p:txBody>
        </p:sp>
        <p:sp>
          <p:nvSpPr>
            <p:cNvPr id="13" name="object 13" descr=""/>
            <p:cNvSpPr/>
            <p:nvPr/>
          </p:nvSpPr>
          <p:spPr>
            <a:xfrm>
              <a:off x="2941764" y="3981914"/>
              <a:ext cx="119380" cy="22225"/>
            </a:xfrm>
            <a:custGeom>
              <a:avLst/>
              <a:gdLst/>
              <a:ahLst/>
              <a:cxnLst/>
              <a:rect l="l" t="t" r="r" b="b"/>
              <a:pathLst>
                <a:path w="119380" h="22225">
                  <a:moveTo>
                    <a:pt x="61252" y="22186"/>
                  </a:moveTo>
                  <a:lnTo>
                    <a:pt x="0" y="3022"/>
                  </a:lnTo>
                  <a:lnTo>
                    <a:pt x="1104" y="2349"/>
                  </a:lnTo>
                  <a:lnTo>
                    <a:pt x="61252" y="19837"/>
                  </a:lnTo>
                  <a:lnTo>
                    <a:pt x="118071" y="0"/>
                  </a:lnTo>
                  <a:lnTo>
                    <a:pt x="118808" y="1676"/>
                  </a:lnTo>
                  <a:lnTo>
                    <a:pt x="61252" y="22186"/>
                  </a:lnTo>
                  <a:close/>
                </a:path>
              </a:pathLst>
            </a:custGeom>
            <a:ln w="6350">
              <a:solidFill>
                <a:srgbClr val="262673"/>
              </a:solidFill>
            </a:ln>
          </p:spPr>
          <p:txBody>
            <a:bodyPr wrap="square" lIns="0" tIns="0" rIns="0" bIns="0" rtlCol="0"/>
            <a:lstStyle/>
            <a:p/>
          </p:txBody>
        </p:sp>
        <p:sp>
          <p:nvSpPr>
            <p:cNvPr id="14" name="object 14" descr=""/>
            <p:cNvSpPr/>
            <p:nvPr/>
          </p:nvSpPr>
          <p:spPr>
            <a:xfrm>
              <a:off x="2952468" y="3949962"/>
              <a:ext cx="99060" cy="17780"/>
            </a:xfrm>
            <a:custGeom>
              <a:avLst/>
              <a:gdLst/>
              <a:ahLst/>
              <a:cxnLst/>
              <a:rect l="l" t="t" r="r" b="b"/>
              <a:pathLst>
                <a:path w="99060" h="17779">
                  <a:moveTo>
                    <a:pt x="98513" y="0"/>
                  </a:moveTo>
                  <a:lnTo>
                    <a:pt x="49441" y="15811"/>
                  </a:lnTo>
                  <a:lnTo>
                    <a:pt x="736" y="0"/>
                  </a:lnTo>
                  <a:lnTo>
                    <a:pt x="0" y="1689"/>
                  </a:lnTo>
                  <a:lnTo>
                    <a:pt x="49441" y="17487"/>
                  </a:lnTo>
                  <a:lnTo>
                    <a:pt x="98513" y="1689"/>
                  </a:lnTo>
                  <a:lnTo>
                    <a:pt x="98513" y="0"/>
                  </a:lnTo>
                  <a:close/>
                </a:path>
              </a:pathLst>
            </a:custGeom>
            <a:solidFill>
              <a:srgbClr val="DDFEFF"/>
            </a:solidFill>
          </p:spPr>
          <p:txBody>
            <a:bodyPr wrap="square" lIns="0" tIns="0" rIns="0" bIns="0" rtlCol="0"/>
            <a:lstStyle/>
            <a:p/>
          </p:txBody>
        </p:sp>
        <p:sp>
          <p:nvSpPr>
            <p:cNvPr id="15" name="object 15" descr=""/>
            <p:cNvSpPr/>
            <p:nvPr/>
          </p:nvSpPr>
          <p:spPr>
            <a:xfrm>
              <a:off x="2952468" y="3949962"/>
              <a:ext cx="99060" cy="17780"/>
            </a:xfrm>
            <a:custGeom>
              <a:avLst/>
              <a:gdLst/>
              <a:ahLst/>
              <a:cxnLst/>
              <a:rect l="l" t="t" r="r" b="b"/>
              <a:pathLst>
                <a:path w="99060" h="17779">
                  <a:moveTo>
                    <a:pt x="49441" y="17487"/>
                  </a:moveTo>
                  <a:lnTo>
                    <a:pt x="0" y="1689"/>
                  </a:lnTo>
                  <a:lnTo>
                    <a:pt x="736" y="0"/>
                  </a:lnTo>
                  <a:lnTo>
                    <a:pt x="49441" y="15811"/>
                  </a:lnTo>
                  <a:lnTo>
                    <a:pt x="98513" y="0"/>
                  </a:lnTo>
                  <a:lnTo>
                    <a:pt x="98513" y="1689"/>
                  </a:lnTo>
                  <a:lnTo>
                    <a:pt x="49441" y="17487"/>
                  </a:lnTo>
                  <a:close/>
                </a:path>
              </a:pathLst>
            </a:custGeom>
            <a:ln w="6349">
              <a:solidFill>
                <a:srgbClr val="262673"/>
              </a:solidFill>
            </a:ln>
          </p:spPr>
          <p:txBody>
            <a:bodyPr wrap="square" lIns="0" tIns="0" rIns="0" bIns="0" rtlCol="0"/>
            <a:lstStyle/>
            <a:p/>
          </p:txBody>
        </p:sp>
        <p:sp>
          <p:nvSpPr>
            <p:cNvPr id="16" name="object 16" descr=""/>
            <p:cNvSpPr/>
            <p:nvPr/>
          </p:nvSpPr>
          <p:spPr>
            <a:xfrm>
              <a:off x="2976079" y="3879025"/>
              <a:ext cx="53975" cy="22225"/>
            </a:xfrm>
            <a:custGeom>
              <a:avLst/>
              <a:gdLst/>
              <a:ahLst/>
              <a:cxnLst/>
              <a:rect l="l" t="t" r="r" b="b"/>
              <a:pathLst>
                <a:path w="53975" h="22225">
                  <a:moveTo>
                    <a:pt x="53136" y="0"/>
                  </a:moveTo>
                  <a:lnTo>
                    <a:pt x="26936" y="20510"/>
                  </a:lnTo>
                  <a:lnTo>
                    <a:pt x="736" y="0"/>
                  </a:lnTo>
                  <a:lnTo>
                    <a:pt x="0" y="1346"/>
                  </a:lnTo>
                  <a:lnTo>
                    <a:pt x="26936" y="22186"/>
                  </a:lnTo>
                  <a:lnTo>
                    <a:pt x="53873" y="1346"/>
                  </a:lnTo>
                  <a:lnTo>
                    <a:pt x="53136" y="0"/>
                  </a:lnTo>
                  <a:close/>
                </a:path>
              </a:pathLst>
            </a:custGeom>
            <a:solidFill>
              <a:srgbClr val="DDFEFF"/>
            </a:solidFill>
          </p:spPr>
          <p:txBody>
            <a:bodyPr wrap="square" lIns="0" tIns="0" rIns="0" bIns="0" rtlCol="0"/>
            <a:lstStyle/>
            <a:p/>
          </p:txBody>
        </p:sp>
        <p:sp>
          <p:nvSpPr>
            <p:cNvPr id="17" name="object 17" descr=""/>
            <p:cNvSpPr/>
            <p:nvPr/>
          </p:nvSpPr>
          <p:spPr>
            <a:xfrm>
              <a:off x="2976079" y="3879025"/>
              <a:ext cx="53975" cy="22225"/>
            </a:xfrm>
            <a:custGeom>
              <a:avLst/>
              <a:gdLst/>
              <a:ahLst/>
              <a:cxnLst/>
              <a:rect l="l" t="t" r="r" b="b"/>
              <a:pathLst>
                <a:path w="53975" h="22225">
                  <a:moveTo>
                    <a:pt x="26936" y="22186"/>
                  </a:moveTo>
                  <a:lnTo>
                    <a:pt x="0" y="1346"/>
                  </a:lnTo>
                  <a:lnTo>
                    <a:pt x="736" y="0"/>
                  </a:lnTo>
                  <a:lnTo>
                    <a:pt x="26936" y="20510"/>
                  </a:lnTo>
                  <a:lnTo>
                    <a:pt x="53136" y="0"/>
                  </a:lnTo>
                  <a:lnTo>
                    <a:pt x="53873" y="1346"/>
                  </a:lnTo>
                  <a:lnTo>
                    <a:pt x="26936" y="22186"/>
                  </a:lnTo>
                  <a:close/>
                </a:path>
              </a:pathLst>
            </a:custGeom>
            <a:ln w="6350">
              <a:solidFill>
                <a:srgbClr val="262673"/>
              </a:solidFill>
            </a:ln>
          </p:spPr>
          <p:txBody>
            <a:bodyPr wrap="square" lIns="0" tIns="0" rIns="0" bIns="0" rtlCol="0"/>
            <a:lstStyle/>
            <a:p/>
          </p:txBody>
        </p:sp>
        <p:sp>
          <p:nvSpPr>
            <p:cNvPr id="18" name="object 18" descr=""/>
            <p:cNvSpPr/>
            <p:nvPr/>
          </p:nvSpPr>
          <p:spPr>
            <a:xfrm>
              <a:off x="2983828" y="3848420"/>
              <a:ext cx="38100" cy="17145"/>
            </a:xfrm>
            <a:custGeom>
              <a:avLst/>
              <a:gdLst/>
              <a:ahLst/>
              <a:cxnLst/>
              <a:rect l="l" t="t" r="r" b="b"/>
              <a:pathLst>
                <a:path w="38100" h="17145">
                  <a:moveTo>
                    <a:pt x="36525" y="0"/>
                  </a:moveTo>
                  <a:lnTo>
                    <a:pt x="19926" y="14465"/>
                  </a:lnTo>
                  <a:lnTo>
                    <a:pt x="736" y="2362"/>
                  </a:lnTo>
                  <a:lnTo>
                    <a:pt x="0" y="4038"/>
                  </a:lnTo>
                  <a:lnTo>
                    <a:pt x="19926" y="16814"/>
                  </a:lnTo>
                  <a:lnTo>
                    <a:pt x="37642" y="1016"/>
                  </a:lnTo>
                  <a:lnTo>
                    <a:pt x="36525" y="0"/>
                  </a:lnTo>
                  <a:close/>
                </a:path>
              </a:pathLst>
            </a:custGeom>
            <a:solidFill>
              <a:srgbClr val="DDFEFF"/>
            </a:solidFill>
          </p:spPr>
          <p:txBody>
            <a:bodyPr wrap="square" lIns="0" tIns="0" rIns="0" bIns="0" rtlCol="0"/>
            <a:lstStyle/>
            <a:p/>
          </p:txBody>
        </p:sp>
        <p:sp>
          <p:nvSpPr>
            <p:cNvPr id="19" name="object 19" descr=""/>
            <p:cNvSpPr/>
            <p:nvPr/>
          </p:nvSpPr>
          <p:spPr>
            <a:xfrm>
              <a:off x="2983828" y="3848420"/>
              <a:ext cx="38100" cy="17145"/>
            </a:xfrm>
            <a:custGeom>
              <a:avLst/>
              <a:gdLst/>
              <a:ahLst/>
              <a:cxnLst/>
              <a:rect l="l" t="t" r="r" b="b"/>
              <a:pathLst>
                <a:path w="38100" h="17145">
                  <a:moveTo>
                    <a:pt x="19926" y="16814"/>
                  </a:moveTo>
                  <a:lnTo>
                    <a:pt x="0" y="4038"/>
                  </a:lnTo>
                  <a:lnTo>
                    <a:pt x="736" y="2362"/>
                  </a:lnTo>
                  <a:lnTo>
                    <a:pt x="19926" y="14465"/>
                  </a:lnTo>
                  <a:lnTo>
                    <a:pt x="36525" y="0"/>
                  </a:lnTo>
                  <a:lnTo>
                    <a:pt x="37642" y="1016"/>
                  </a:lnTo>
                  <a:lnTo>
                    <a:pt x="19926" y="16814"/>
                  </a:lnTo>
                  <a:close/>
                </a:path>
              </a:pathLst>
            </a:custGeom>
            <a:ln w="6350">
              <a:solidFill>
                <a:srgbClr val="262673"/>
              </a:solidFill>
            </a:ln>
          </p:spPr>
          <p:txBody>
            <a:bodyPr wrap="square" lIns="0" tIns="0" rIns="0" bIns="0" rtlCol="0"/>
            <a:lstStyle/>
            <a:p/>
          </p:txBody>
        </p:sp>
        <p:sp>
          <p:nvSpPr>
            <p:cNvPr id="20" name="object 20" descr=""/>
            <p:cNvSpPr/>
            <p:nvPr/>
          </p:nvSpPr>
          <p:spPr>
            <a:xfrm>
              <a:off x="2964642" y="3899528"/>
              <a:ext cx="39370" cy="17145"/>
            </a:xfrm>
            <a:custGeom>
              <a:avLst/>
              <a:gdLst/>
              <a:ahLst/>
              <a:cxnLst/>
              <a:rect l="l" t="t" r="r" b="b"/>
              <a:pathLst>
                <a:path w="39369" h="17145">
                  <a:moveTo>
                    <a:pt x="38366" y="0"/>
                  </a:moveTo>
                  <a:lnTo>
                    <a:pt x="0" y="16141"/>
                  </a:lnTo>
                  <a:lnTo>
                    <a:pt x="736" y="16814"/>
                  </a:lnTo>
                  <a:lnTo>
                    <a:pt x="39115" y="1689"/>
                  </a:lnTo>
                  <a:lnTo>
                    <a:pt x="38366" y="0"/>
                  </a:lnTo>
                  <a:close/>
                </a:path>
              </a:pathLst>
            </a:custGeom>
            <a:solidFill>
              <a:srgbClr val="DDFEFF"/>
            </a:solidFill>
          </p:spPr>
          <p:txBody>
            <a:bodyPr wrap="square" lIns="0" tIns="0" rIns="0" bIns="0" rtlCol="0"/>
            <a:lstStyle/>
            <a:p/>
          </p:txBody>
        </p:sp>
        <p:sp>
          <p:nvSpPr>
            <p:cNvPr id="21" name="object 21" descr=""/>
            <p:cNvSpPr/>
            <p:nvPr/>
          </p:nvSpPr>
          <p:spPr>
            <a:xfrm>
              <a:off x="2964642" y="3899528"/>
              <a:ext cx="39370" cy="17145"/>
            </a:xfrm>
            <a:custGeom>
              <a:avLst/>
              <a:gdLst/>
              <a:ahLst/>
              <a:cxnLst/>
              <a:rect l="l" t="t" r="r" b="b"/>
              <a:pathLst>
                <a:path w="39369" h="17145">
                  <a:moveTo>
                    <a:pt x="736" y="16814"/>
                  </a:moveTo>
                  <a:lnTo>
                    <a:pt x="0" y="16141"/>
                  </a:lnTo>
                  <a:lnTo>
                    <a:pt x="38366" y="0"/>
                  </a:lnTo>
                  <a:lnTo>
                    <a:pt x="39115" y="1689"/>
                  </a:lnTo>
                  <a:lnTo>
                    <a:pt x="736" y="16814"/>
                  </a:lnTo>
                  <a:close/>
                </a:path>
              </a:pathLst>
            </a:custGeom>
            <a:ln w="6350">
              <a:solidFill>
                <a:srgbClr val="262673"/>
              </a:solidFill>
            </a:ln>
          </p:spPr>
          <p:txBody>
            <a:bodyPr wrap="square" lIns="0" tIns="0" rIns="0" bIns="0" rtlCol="0"/>
            <a:lstStyle/>
            <a:p/>
          </p:txBody>
        </p:sp>
        <p:sp>
          <p:nvSpPr>
            <p:cNvPr id="22" name="object 22" descr=""/>
            <p:cNvSpPr/>
            <p:nvPr/>
          </p:nvSpPr>
          <p:spPr>
            <a:xfrm>
              <a:off x="2942873" y="3965098"/>
              <a:ext cx="60325" cy="20320"/>
            </a:xfrm>
            <a:custGeom>
              <a:avLst/>
              <a:gdLst/>
              <a:ahLst/>
              <a:cxnLst/>
              <a:rect l="l" t="t" r="r" b="b"/>
              <a:pathLst>
                <a:path w="60325" h="20320">
                  <a:moveTo>
                    <a:pt x="59029" y="0"/>
                  </a:moveTo>
                  <a:lnTo>
                    <a:pt x="0" y="18491"/>
                  </a:lnTo>
                  <a:lnTo>
                    <a:pt x="736" y="19837"/>
                  </a:lnTo>
                  <a:lnTo>
                    <a:pt x="60147" y="1676"/>
                  </a:lnTo>
                  <a:lnTo>
                    <a:pt x="59029" y="0"/>
                  </a:lnTo>
                  <a:close/>
                </a:path>
              </a:pathLst>
            </a:custGeom>
            <a:solidFill>
              <a:srgbClr val="DDFEFF"/>
            </a:solidFill>
          </p:spPr>
          <p:txBody>
            <a:bodyPr wrap="square" lIns="0" tIns="0" rIns="0" bIns="0" rtlCol="0"/>
            <a:lstStyle/>
            <a:p/>
          </p:txBody>
        </p:sp>
        <p:sp>
          <p:nvSpPr>
            <p:cNvPr id="23" name="object 23" descr=""/>
            <p:cNvSpPr/>
            <p:nvPr/>
          </p:nvSpPr>
          <p:spPr>
            <a:xfrm>
              <a:off x="2942873" y="3965098"/>
              <a:ext cx="60325" cy="20320"/>
            </a:xfrm>
            <a:custGeom>
              <a:avLst/>
              <a:gdLst/>
              <a:ahLst/>
              <a:cxnLst/>
              <a:rect l="l" t="t" r="r" b="b"/>
              <a:pathLst>
                <a:path w="60325" h="20320">
                  <a:moveTo>
                    <a:pt x="736" y="19837"/>
                  </a:moveTo>
                  <a:lnTo>
                    <a:pt x="0" y="18491"/>
                  </a:lnTo>
                  <a:lnTo>
                    <a:pt x="59029" y="0"/>
                  </a:lnTo>
                  <a:lnTo>
                    <a:pt x="60147" y="1676"/>
                  </a:lnTo>
                  <a:lnTo>
                    <a:pt x="736" y="19837"/>
                  </a:lnTo>
                  <a:close/>
                </a:path>
              </a:pathLst>
            </a:custGeom>
            <a:ln w="6349">
              <a:solidFill>
                <a:srgbClr val="262673"/>
              </a:solidFill>
            </a:ln>
          </p:spPr>
          <p:txBody>
            <a:bodyPr wrap="square" lIns="0" tIns="0" rIns="0" bIns="0" rtlCol="0"/>
            <a:lstStyle/>
            <a:p/>
          </p:txBody>
        </p:sp>
        <p:sp>
          <p:nvSpPr>
            <p:cNvPr id="24" name="object 24" descr=""/>
            <p:cNvSpPr/>
            <p:nvPr/>
          </p:nvSpPr>
          <p:spPr>
            <a:xfrm>
              <a:off x="3001914" y="3899528"/>
              <a:ext cx="38100" cy="17145"/>
            </a:xfrm>
            <a:custGeom>
              <a:avLst/>
              <a:gdLst/>
              <a:ahLst/>
              <a:cxnLst/>
              <a:rect l="l" t="t" r="r" b="b"/>
              <a:pathLst>
                <a:path w="38100" h="17145">
                  <a:moveTo>
                    <a:pt x="1104" y="0"/>
                  </a:moveTo>
                  <a:lnTo>
                    <a:pt x="0" y="1689"/>
                  </a:lnTo>
                  <a:lnTo>
                    <a:pt x="36893" y="16814"/>
                  </a:lnTo>
                  <a:lnTo>
                    <a:pt x="37630" y="15138"/>
                  </a:lnTo>
                  <a:lnTo>
                    <a:pt x="1104" y="0"/>
                  </a:lnTo>
                  <a:close/>
                </a:path>
              </a:pathLst>
            </a:custGeom>
            <a:solidFill>
              <a:srgbClr val="DDFEFF"/>
            </a:solidFill>
          </p:spPr>
          <p:txBody>
            <a:bodyPr wrap="square" lIns="0" tIns="0" rIns="0" bIns="0" rtlCol="0"/>
            <a:lstStyle/>
            <a:p/>
          </p:txBody>
        </p:sp>
        <p:sp>
          <p:nvSpPr>
            <p:cNvPr id="25" name="object 25" descr=""/>
            <p:cNvSpPr/>
            <p:nvPr/>
          </p:nvSpPr>
          <p:spPr>
            <a:xfrm>
              <a:off x="3001914" y="3899528"/>
              <a:ext cx="38100" cy="17145"/>
            </a:xfrm>
            <a:custGeom>
              <a:avLst/>
              <a:gdLst/>
              <a:ahLst/>
              <a:cxnLst/>
              <a:rect l="l" t="t" r="r" b="b"/>
              <a:pathLst>
                <a:path w="38100" h="17145">
                  <a:moveTo>
                    <a:pt x="36893" y="16814"/>
                  </a:moveTo>
                  <a:lnTo>
                    <a:pt x="0" y="1689"/>
                  </a:lnTo>
                  <a:lnTo>
                    <a:pt x="1104" y="0"/>
                  </a:lnTo>
                  <a:lnTo>
                    <a:pt x="37630" y="15138"/>
                  </a:lnTo>
                  <a:lnTo>
                    <a:pt x="36893" y="16814"/>
                  </a:lnTo>
                  <a:close/>
                </a:path>
              </a:pathLst>
            </a:custGeom>
            <a:ln w="6350">
              <a:solidFill>
                <a:srgbClr val="262673"/>
              </a:solidFill>
            </a:ln>
          </p:spPr>
          <p:txBody>
            <a:bodyPr wrap="square" lIns="0" tIns="0" rIns="0" bIns="0" rtlCol="0"/>
            <a:lstStyle/>
            <a:p/>
          </p:txBody>
        </p:sp>
        <p:sp>
          <p:nvSpPr>
            <p:cNvPr id="26" name="object 26" descr=""/>
            <p:cNvSpPr/>
            <p:nvPr/>
          </p:nvSpPr>
          <p:spPr>
            <a:xfrm>
              <a:off x="3003755" y="3965093"/>
              <a:ext cx="56515" cy="17780"/>
            </a:xfrm>
            <a:custGeom>
              <a:avLst/>
              <a:gdLst/>
              <a:ahLst/>
              <a:cxnLst/>
              <a:rect l="l" t="t" r="r" b="b"/>
              <a:pathLst>
                <a:path w="56514" h="17779">
                  <a:moveTo>
                    <a:pt x="0" y="0"/>
                  </a:moveTo>
                  <a:lnTo>
                    <a:pt x="0" y="1689"/>
                  </a:lnTo>
                  <a:lnTo>
                    <a:pt x="56083" y="17487"/>
                  </a:lnTo>
                  <a:lnTo>
                    <a:pt x="56083" y="16141"/>
                  </a:lnTo>
                  <a:lnTo>
                    <a:pt x="0" y="0"/>
                  </a:lnTo>
                  <a:close/>
                </a:path>
              </a:pathLst>
            </a:custGeom>
            <a:solidFill>
              <a:srgbClr val="DDFEFF"/>
            </a:solidFill>
          </p:spPr>
          <p:txBody>
            <a:bodyPr wrap="square" lIns="0" tIns="0" rIns="0" bIns="0" rtlCol="0"/>
            <a:lstStyle/>
            <a:p/>
          </p:txBody>
        </p:sp>
        <p:sp>
          <p:nvSpPr>
            <p:cNvPr id="27" name="object 27" descr=""/>
            <p:cNvSpPr/>
            <p:nvPr/>
          </p:nvSpPr>
          <p:spPr>
            <a:xfrm>
              <a:off x="3003755" y="3965093"/>
              <a:ext cx="56515" cy="17780"/>
            </a:xfrm>
            <a:custGeom>
              <a:avLst/>
              <a:gdLst/>
              <a:ahLst/>
              <a:cxnLst/>
              <a:rect l="l" t="t" r="r" b="b"/>
              <a:pathLst>
                <a:path w="56514" h="17779">
                  <a:moveTo>
                    <a:pt x="56083" y="17487"/>
                  </a:moveTo>
                  <a:lnTo>
                    <a:pt x="0" y="1689"/>
                  </a:lnTo>
                  <a:lnTo>
                    <a:pt x="0" y="0"/>
                  </a:lnTo>
                  <a:lnTo>
                    <a:pt x="56083" y="16141"/>
                  </a:lnTo>
                  <a:lnTo>
                    <a:pt x="56083" y="17487"/>
                  </a:lnTo>
                  <a:close/>
                </a:path>
              </a:pathLst>
            </a:custGeom>
            <a:ln w="6350">
              <a:solidFill>
                <a:srgbClr val="262673"/>
              </a:solidFill>
            </a:ln>
          </p:spPr>
          <p:txBody>
            <a:bodyPr wrap="square" lIns="0" tIns="0" rIns="0" bIns="0" rtlCol="0"/>
            <a:lstStyle/>
            <a:p/>
          </p:txBody>
        </p:sp>
        <p:sp>
          <p:nvSpPr>
            <p:cNvPr id="28" name="object 28" descr=""/>
            <p:cNvSpPr/>
            <p:nvPr/>
          </p:nvSpPr>
          <p:spPr>
            <a:xfrm>
              <a:off x="2953941" y="3934839"/>
              <a:ext cx="97155" cy="15875"/>
            </a:xfrm>
            <a:custGeom>
              <a:avLst/>
              <a:gdLst/>
              <a:ahLst/>
              <a:cxnLst/>
              <a:rect l="l" t="t" r="r" b="b"/>
              <a:pathLst>
                <a:path w="97155" h="15875">
                  <a:moveTo>
                    <a:pt x="49809" y="0"/>
                  </a:moveTo>
                  <a:lnTo>
                    <a:pt x="0" y="14452"/>
                  </a:lnTo>
                  <a:lnTo>
                    <a:pt x="0" y="15798"/>
                  </a:lnTo>
                  <a:lnTo>
                    <a:pt x="49809" y="1676"/>
                  </a:lnTo>
                  <a:lnTo>
                    <a:pt x="96304" y="15798"/>
                  </a:lnTo>
                  <a:lnTo>
                    <a:pt x="97040" y="14452"/>
                  </a:lnTo>
                  <a:lnTo>
                    <a:pt x="49809" y="0"/>
                  </a:lnTo>
                  <a:close/>
                </a:path>
              </a:pathLst>
            </a:custGeom>
            <a:solidFill>
              <a:srgbClr val="DDFEFF"/>
            </a:solidFill>
          </p:spPr>
          <p:txBody>
            <a:bodyPr wrap="square" lIns="0" tIns="0" rIns="0" bIns="0" rtlCol="0"/>
            <a:lstStyle/>
            <a:p/>
          </p:txBody>
        </p:sp>
        <p:sp>
          <p:nvSpPr>
            <p:cNvPr id="29" name="object 29" descr=""/>
            <p:cNvSpPr/>
            <p:nvPr/>
          </p:nvSpPr>
          <p:spPr>
            <a:xfrm>
              <a:off x="2953941" y="3934839"/>
              <a:ext cx="97155" cy="15875"/>
            </a:xfrm>
            <a:custGeom>
              <a:avLst/>
              <a:gdLst/>
              <a:ahLst/>
              <a:cxnLst/>
              <a:rect l="l" t="t" r="r" b="b"/>
              <a:pathLst>
                <a:path w="97155" h="15875">
                  <a:moveTo>
                    <a:pt x="0" y="15798"/>
                  </a:moveTo>
                  <a:lnTo>
                    <a:pt x="0" y="14452"/>
                  </a:lnTo>
                  <a:lnTo>
                    <a:pt x="49809" y="0"/>
                  </a:lnTo>
                  <a:lnTo>
                    <a:pt x="97040" y="14452"/>
                  </a:lnTo>
                  <a:lnTo>
                    <a:pt x="96304" y="15798"/>
                  </a:lnTo>
                  <a:lnTo>
                    <a:pt x="49809" y="1676"/>
                  </a:lnTo>
                  <a:lnTo>
                    <a:pt x="0" y="15798"/>
                  </a:lnTo>
                  <a:close/>
                </a:path>
              </a:pathLst>
            </a:custGeom>
            <a:ln w="6350">
              <a:solidFill>
                <a:srgbClr val="262673"/>
              </a:solidFill>
            </a:ln>
          </p:spPr>
          <p:txBody>
            <a:bodyPr wrap="square" lIns="0" tIns="0" rIns="0" bIns="0" rtlCol="0"/>
            <a:lstStyle/>
            <a:p/>
          </p:txBody>
        </p:sp>
        <p:sp>
          <p:nvSpPr>
            <p:cNvPr id="30" name="object 30" descr=""/>
            <p:cNvSpPr/>
            <p:nvPr/>
          </p:nvSpPr>
          <p:spPr>
            <a:xfrm>
              <a:off x="2976077" y="3862877"/>
              <a:ext cx="53975" cy="17145"/>
            </a:xfrm>
            <a:custGeom>
              <a:avLst/>
              <a:gdLst/>
              <a:ahLst/>
              <a:cxnLst/>
              <a:rect l="l" t="t" r="r" b="b"/>
              <a:pathLst>
                <a:path w="53975" h="17145">
                  <a:moveTo>
                    <a:pt x="27673" y="0"/>
                  </a:moveTo>
                  <a:lnTo>
                    <a:pt x="0" y="16141"/>
                  </a:lnTo>
                  <a:lnTo>
                    <a:pt x="736" y="16814"/>
                  </a:lnTo>
                  <a:lnTo>
                    <a:pt x="27673" y="2362"/>
                  </a:lnTo>
                  <a:lnTo>
                    <a:pt x="53136" y="16814"/>
                  </a:lnTo>
                  <a:lnTo>
                    <a:pt x="53873" y="16141"/>
                  </a:lnTo>
                  <a:lnTo>
                    <a:pt x="27673" y="0"/>
                  </a:lnTo>
                  <a:close/>
                </a:path>
              </a:pathLst>
            </a:custGeom>
            <a:solidFill>
              <a:srgbClr val="DDFEFF"/>
            </a:solidFill>
          </p:spPr>
          <p:txBody>
            <a:bodyPr wrap="square" lIns="0" tIns="0" rIns="0" bIns="0" rtlCol="0"/>
            <a:lstStyle/>
            <a:p/>
          </p:txBody>
        </p:sp>
        <p:sp>
          <p:nvSpPr>
            <p:cNvPr id="31" name="object 31" descr=""/>
            <p:cNvSpPr/>
            <p:nvPr/>
          </p:nvSpPr>
          <p:spPr>
            <a:xfrm>
              <a:off x="2976077" y="3862877"/>
              <a:ext cx="53975" cy="17145"/>
            </a:xfrm>
            <a:custGeom>
              <a:avLst/>
              <a:gdLst/>
              <a:ahLst/>
              <a:cxnLst/>
              <a:rect l="l" t="t" r="r" b="b"/>
              <a:pathLst>
                <a:path w="53975" h="17145">
                  <a:moveTo>
                    <a:pt x="53136" y="16814"/>
                  </a:moveTo>
                  <a:lnTo>
                    <a:pt x="27673" y="2362"/>
                  </a:lnTo>
                  <a:lnTo>
                    <a:pt x="736" y="16814"/>
                  </a:lnTo>
                  <a:lnTo>
                    <a:pt x="0" y="16141"/>
                  </a:lnTo>
                  <a:lnTo>
                    <a:pt x="27673" y="0"/>
                  </a:lnTo>
                  <a:lnTo>
                    <a:pt x="53873" y="16141"/>
                  </a:lnTo>
                  <a:lnTo>
                    <a:pt x="53136" y="16814"/>
                  </a:lnTo>
                  <a:close/>
                </a:path>
              </a:pathLst>
            </a:custGeom>
            <a:ln w="6350">
              <a:solidFill>
                <a:srgbClr val="262673"/>
              </a:solidFill>
            </a:ln>
          </p:spPr>
          <p:txBody>
            <a:bodyPr wrap="square" lIns="0" tIns="0" rIns="0" bIns="0" rtlCol="0"/>
            <a:lstStyle/>
            <a:p/>
          </p:txBody>
        </p:sp>
        <p:sp>
          <p:nvSpPr>
            <p:cNvPr id="32" name="object 32" descr=""/>
            <p:cNvSpPr/>
            <p:nvPr/>
          </p:nvSpPr>
          <p:spPr>
            <a:xfrm>
              <a:off x="2998588" y="3804710"/>
              <a:ext cx="7620" cy="222250"/>
            </a:xfrm>
            <a:custGeom>
              <a:avLst/>
              <a:gdLst/>
              <a:ahLst/>
              <a:cxnLst/>
              <a:rect l="l" t="t" r="r" b="b"/>
              <a:pathLst>
                <a:path w="7619" h="222250">
                  <a:moveTo>
                    <a:pt x="6273" y="0"/>
                  </a:moveTo>
                  <a:lnTo>
                    <a:pt x="4432" y="0"/>
                  </a:lnTo>
                  <a:lnTo>
                    <a:pt x="0" y="221919"/>
                  </a:lnTo>
                  <a:lnTo>
                    <a:pt x="7010" y="221919"/>
                  </a:lnTo>
                  <a:lnTo>
                    <a:pt x="6273" y="0"/>
                  </a:lnTo>
                  <a:close/>
                </a:path>
              </a:pathLst>
            </a:custGeom>
            <a:solidFill>
              <a:srgbClr val="DDFEFF"/>
            </a:solidFill>
          </p:spPr>
          <p:txBody>
            <a:bodyPr wrap="square" lIns="0" tIns="0" rIns="0" bIns="0" rtlCol="0"/>
            <a:lstStyle/>
            <a:p/>
          </p:txBody>
        </p:sp>
        <p:sp>
          <p:nvSpPr>
            <p:cNvPr id="33" name="object 33" descr=""/>
            <p:cNvSpPr/>
            <p:nvPr/>
          </p:nvSpPr>
          <p:spPr>
            <a:xfrm>
              <a:off x="2998588" y="3804710"/>
              <a:ext cx="7620" cy="222250"/>
            </a:xfrm>
            <a:custGeom>
              <a:avLst/>
              <a:gdLst/>
              <a:ahLst/>
              <a:cxnLst/>
              <a:rect l="l" t="t" r="r" b="b"/>
              <a:pathLst>
                <a:path w="7619" h="222250">
                  <a:moveTo>
                    <a:pt x="7010" y="221919"/>
                  </a:moveTo>
                  <a:lnTo>
                    <a:pt x="0" y="221919"/>
                  </a:lnTo>
                  <a:lnTo>
                    <a:pt x="4432" y="0"/>
                  </a:lnTo>
                  <a:lnTo>
                    <a:pt x="6273" y="0"/>
                  </a:lnTo>
                  <a:lnTo>
                    <a:pt x="7010" y="221919"/>
                  </a:lnTo>
                  <a:close/>
                </a:path>
              </a:pathLst>
            </a:custGeom>
            <a:ln w="6350">
              <a:solidFill>
                <a:srgbClr val="262673"/>
              </a:solidFill>
            </a:ln>
          </p:spPr>
          <p:txBody>
            <a:bodyPr wrap="square" lIns="0" tIns="0" rIns="0" bIns="0" rtlCol="0"/>
            <a:lstStyle/>
            <a:p/>
          </p:txBody>
        </p:sp>
        <p:sp>
          <p:nvSpPr>
            <p:cNvPr id="34" name="object 34" descr=""/>
            <p:cNvSpPr/>
            <p:nvPr/>
          </p:nvSpPr>
          <p:spPr>
            <a:xfrm>
              <a:off x="2928847" y="3803698"/>
              <a:ext cx="71755" cy="212090"/>
            </a:xfrm>
            <a:custGeom>
              <a:avLst/>
              <a:gdLst/>
              <a:ahLst/>
              <a:cxnLst/>
              <a:rect l="l" t="t" r="r" b="b"/>
              <a:pathLst>
                <a:path w="71755" h="212089">
                  <a:moveTo>
                    <a:pt x="69735" y="0"/>
                  </a:moveTo>
                  <a:lnTo>
                    <a:pt x="0" y="209486"/>
                  </a:lnTo>
                  <a:lnTo>
                    <a:pt x="5168" y="211835"/>
                  </a:lnTo>
                  <a:lnTo>
                    <a:pt x="71589" y="1015"/>
                  </a:lnTo>
                  <a:lnTo>
                    <a:pt x="69735" y="0"/>
                  </a:lnTo>
                  <a:close/>
                </a:path>
              </a:pathLst>
            </a:custGeom>
            <a:solidFill>
              <a:srgbClr val="DDFEFF"/>
            </a:solidFill>
          </p:spPr>
          <p:txBody>
            <a:bodyPr wrap="square" lIns="0" tIns="0" rIns="0" bIns="0" rtlCol="0"/>
            <a:lstStyle/>
            <a:p/>
          </p:txBody>
        </p:sp>
        <p:sp>
          <p:nvSpPr>
            <p:cNvPr id="35" name="object 35" descr=""/>
            <p:cNvSpPr/>
            <p:nvPr/>
          </p:nvSpPr>
          <p:spPr>
            <a:xfrm>
              <a:off x="2928847" y="3803698"/>
              <a:ext cx="71755" cy="212090"/>
            </a:xfrm>
            <a:custGeom>
              <a:avLst/>
              <a:gdLst/>
              <a:ahLst/>
              <a:cxnLst/>
              <a:rect l="l" t="t" r="r" b="b"/>
              <a:pathLst>
                <a:path w="71755" h="212089">
                  <a:moveTo>
                    <a:pt x="5168" y="211835"/>
                  </a:moveTo>
                  <a:lnTo>
                    <a:pt x="0" y="209486"/>
                  </a:lnTo>
                  <a:lnTo>
                    <a:pt x="69735" y="0"/>
                  </a:lnTo>
                  <a:lnTo>
                    <a:pt x="71589" y="1015"/>
                  </a:lnTo>
                  <a:lnTo>
                    <a:pt x="5168" y="211835"/>
                  </a:lnTo>
                  <a:close/>
                </a:path>
              </a:pathLst>
            </a:custGeom>
            <a:ln w="6350">
              <a:solidFill>
                <a:srgbClr val="262673"/>
              </a:solidFill>
            </a:ln>
          </p:spPr>
          <p:txBody>
            <a:bodyPr wrap="square" lIns="0" tIns="0" rIns="0" bIns="0" rtlCol="0"/>
            <a:lstStyle/>
            <a:p/>
          </p:txBody>
        </p:sp>
        <p:sp>
          <p:nvSpPr>
            <p:cNvPr id="36" name="object 36" descr=""/>
            <p:cNvSpPr/>
            <p:nvPr/>
          </p:nvSpPr>
          <p:spPr>
            <a:xfrm>
              <a:off x="3006338" y="3804711"/>
              <a:ext cx="68580" cy="212725"/>
            </a:xfrm>
            <a:custGeom>
              <a:avLst/>
              <a:gdLst/>
              <a:ahLst/>
              <a:cxnLst/>
              <a:rect l="l" t="t" r="r" b="b"/>
              <a:pathLst>
                <a:path w="68580" h="212725">
                  <a:moveTo>
                    <a:pt x="1841" y="0"/>
                  </a:moveTo>
                  <a:lnTo>
                    <a:pt x="0" y="0"/>
                  </a:lnTo>
                  <a:lnTo>
                    <a:pt x="63093" y="212166"/>
                  </a:lnTo>
                  <a:lnTo>
                    <a:pt x="68262" y="209143"/>
                  </a:lnTo>
                  <a:lnTo>
                    <a:pt x="1841" y="0"/>
                  </a:lnTo>
                  <a:close/>
                </a:path>
              </a:pathLst>
            </a:custGeom>
            <a:solidFill>
              <a:srgbClr val="DDFEFF"/>
            </a:solidFill>
          </p:spPr>
          <p:txBody>
            <a:bodyPr wrap="square" lIns="0" tIns="0" rIns="0" bIns="0" rtlCol="0"/>
            <a:lstStyle/>
            <a:p/>
          </p:txBody>
        </p:sp>
        <p:sp>
          <p:nvSpPr>
            <p:cNvPr id="37" name="object 37" descr=""/>
            <p:cNvSpPr/>
            <p:nvPr/>
          </p:nvSpPr>
          <p:spPr>
            <a:xfrm>
              <a:off x="3006338" y="3804711"/>
              <a:ext cx="68580" cy="212725"/>
            </a:xfrm>
            <a:custGeom>
              <a:avLst/>
              <a:gdLst/>
              <a:ahLst/>
              <a:cxnLst/>
              <a:rect l="l" t="t" r="r" b="b"/>
              <a:pathLst>
                <a:path w="68580" h="212725">
                  <a:moveTo>
                    <a:pt x="63093" y="212166"/>
                  </a:moveTo>
                  <a:lnTo>
                    <a:pt x="0" y="0"/>
                  </a:lnTo>
                  <a:lnTo>
                    <a:pt x="1841" y="0"/>
                  </a:lnTo>
                  <a:lnTo>
                    <a:pt x="68262" y="209143"/>
                  </a:lnTo>
                  <a:lnTo>
                    <a:pt x="63093" y="212166"/>
                  </a:lnTo>
                  <a:close/>
                </a:path>
              </a:pathLst>
            </a:custGeom>
            <a:ln w="6350">
              <a:solidFill>
                <a:srgbClr val="262673"/>
              </a:solidFill>
            </a:ln>
          </p:spPr>
          <p:txBody>
            <a:bodyPr wrap="square" lIns="0" tIns="0" rIns="0" bIns="0" rtlCol="0"/>
            <a:lstStyle/>
            <a:p/>
          </p:txBody>
        </p:sp>
        <p:sp>
          <p:nvSpPr>
            <p:cNvPr id="38" name="object 38" descr=""/>
            <p:cNvSpPr/>
            <p:nvPr/>
          </p:nvSpPr>
          <p:spPr>
            <a:xfrm>
              <a:off x="2932174" y="3808409"/>
              <a:ext cx="67310" cy="208279"/>
            </a:xfrm>
            <a:custGeom>
              <a:avLst/>
              <a:gdLst/>
              <a:ahLst/>
              <a:cxnLst/>
              <a:rect l="l" t="t" r="r" b="b"/>
              <a:pathLst>
                <a:path w="67310" h="208279">
                  <a:moveTo>
                    <a:pt x="67157" y="0"/>
                  </a:moveTo>
                  <a:lnTo>
                    <a:pt x="0" y="205447"/>
                  </a:lnTo>
                  <a:lnTo>
                    <a:pt x="1841" y="207124"/>
                  </a:lnTo>
                  <a:lnTo>
                    <a:pt x="4419" y="207797"/>
                  </a:lnTo>
                  <a:lnTo>
                    <a:pt x="67157" y="0"/>
                  </a:lnTo>
                  <a:close/>
                </a:path>
              </a:pathLst>
            </a:custGeom>
            <a:solidFill>
              <a:srgbClr val="DDFEFF"/>
            </a:solidFill>
          </p:spPr>
          <p:txBody>
            <a:bodyPr wrap="square" lIns="0" tIns="0" rIns="0" bIns="0" rtlCol="0"/>
            <a:lstStyle/>
            <a:p/>
          </p:txBody>
        </p:sp>
        <p:sp>
          <p:nvSpPr>
            <p:cNvPr id="39" name="object 39" descr=""/>
            <p:cNvSpPr/>
            <p:nvPr/>
          </p:nvSpPr>
          <p:spPr>
            <a:xfrm>
              <a:off x="2932174" y="3808409"/>
              <a:ext cx="67310" cy="208279"/>
            </a:xfrm>
            <a:custGeom>
              <a:avLst/>
              <a:gdLst/>
              <a:ahLst/>
              <a:cxnLst/>
              <a:rect l="l" t="t" r="r" b="b"/>
              <a:pathLst>
                <a:path w="67310" h="208279">
                  <a:moveTo>
                    <a:pt x="1841" y="207124"/>
                  </a:moveTo>
                  <a:lnTo>
                    <a:pt x="4419" y="207797"/>
                  </a:lnTo>
                  <a:lnTo>
                    <a:pt x="67157" y="0"/>
                  </a:lnTo>
                  <a:lnTo>
                    <a:pt x="0" y="205447"/>
                  </a:lnTo>
                  <a:lnTo>
                    <a:pt x="1841" y="207124"/>
                  </a:lnTo>
                  <a:close/>
                </a:path>
              </a:pathLst>
            </a:custGeom>
            <a:ln w="6350">
              <a:solidFill>
                <a:srgbClr val="262673"/>
              </a:solidFill>
            </a:ln>
          </p:spPr>
          <p:txBody>
            <a:bodyPr wrap="square" lIns="0" tIns="0" rIns="0" bIns="0" rtlCol="0"/>
            <a:lstStyle/>
            <a:p/>
          </p:txBody>
        </p:sp>
        <p:sp>
          <p:nvSpPr>
            <p:cNvPr id="40" name="object 40" descr=""/>
            <p:cNvSpPr/>
            <p:nvPr/>
          </p:nvSpPr>
          <p:spPr>
            <a:xfrm>
              <a:off x="2932174" y="3808409"/>
              <a:ext cx="67310" cy="208279"/>
            </a:xfrm>
            <a:custGeom>
              <a:avLst/>
              <a:gdLst/>
              <a:ahLst/>
              <a:cxnLst/>
              <a:rect l="l" t="t" r="r" b="b"/>
              <a:pathLst>
                <a:path w="67310" h="208279">
                  <a:moveTo>
                    <a:pt x="67157" y="0"/>
                  </a:moveTo>
                  <a:lnTo>
                    <a:pt x="0" y="205447"/>
                  </a:lnTo>
                  <a:lnTo>
                    <a:pt x="1841" y="207124"/>
                  </a:lnTo>
                  <a:lnTo>
                    <a:pt x="4419" y="207797"/>
                  </a:lnTo>
                  <a:lnTo>
                    <a:pt x="67157" y="0"/>
                  </a:lnTo>
                  <a:close/>
                </a:path>
              </a:pathLst>
            </a:custGeom>
            <a:solidFill>
              <a:srgbClr val="DDFEFF"/>
            </a:solidFill>
          </p:spPr>
          <p:txBody>
            <a:bodyPr wrap="square" lIns="0" tIns="0" rIns="0" bIns="0" rtlCol="0"/>
            <a:lstStyle/>
            <a:p/>
          </p:txBody>
        </p:sp>
        <p:sp>
          <p:nvSpPr>
            <p:cNvPr id="41" name="object 41" descr=""/>
            <p:cNvSpPr/>
            <p:nvPr/>
          </p:nvSpPr>
          <p:spPr>
            <a:xfrm>
              <a:off x="2932174" y="3808409"/>
              <a:ext cx="67310" cy="208279"/>
            </a:xfrm>
            <a:custGeom>
              <a:avLst/>
              <a:gdLst/>
              <a:ahLst/>
              <a:cxnLst/>
              <a:rect l="l" t="t" r="r" b="b"/>
              <a:pathLst>
                <a:path w="67310" h="208279">
                  <a:moveTo>
                    <a:pt x="1841" y="207124"/>
                  </a:moveTo>
                  <a:lnTo>
                    <a:pt x="4419" y="207797"/>
                  </a:lnTo>
                  <a:lnTo>
                    <a:pt x="67157" y="0"/>
                  </a:lnTo>
                  <a:lnTo>
                    <a:pt x="0" y="205447"/>
                  </a:lnTo>
                </a:path>
              </a:pathLst>
            </a:custGeom>
            <a:ln w="6350">
              <a:solidFill>
                <a:srgbClr val="262673"/>
              </a:solidFill>
            </a:ln>
          </p:spPr>
          <p:txBody>
            <a:bodyPr wrap="square" lIns="0" tIns="0" rIns="0" bIns="0" rtlCol="0"/>
            <a:lstStyle/>
            <a:p/>
          </p:txBody>
        </p:sp>
        <p:sp>
          <p:nvSpPr>
            <p:cNvPr id="42" name="object 42" descr=""/>
            <p:cNvSpPr/>
            <p:nvPr/>
          </p:nvSpPr>
          <p:spPr>
            <a:xfrm>
              <a:off x="3007443" y="3808408"/>
              <a:ext cx="63500" cy="210185"/>
            </a:xfrm>
            <a:custGeom>
              <a:avLst/>
              <a:gdLst/>
              <a:ahLst/>
              <a:cxnLst/>
              <a:rect l="l" t="t" r="r" b="b"/>
              <a:pathLst>
                <a:path w="63500" h="210185">
                  <a:moveTo>
                    <a:pt x="0" y="0"/>
                  </a:moveTo>
                  <a:lnTo>
                    <a:pt x="60147" y="210146"/>
                  </a:lnTo>
                  <a:lnTo>
                    <a:pt x="61988" y="208470"/>
                  </a:lnTo>
                  <a:lnTo>
                    <a:pt x="63461" y="206121"/>
                  </a:lnTo>
                  <a:lnTo>
                    <a:pt x="61988" y="195021"/>
                  </a:lnTo>
                  <a:lnTo>
                    <a:pt x="0" y="0"/>
                  </a:lnTo>
                  <a:close/>
                </a:path>
              </a:pathLst>
            </a:custGeom>
            <a:solidFill>
              <a:srgbClr val="DDFEFF"/>
            </a:solidFill>
          </p:spPr>
          <p:txBody>
            <a:bodyPr wrap="square" lIns="0" tIns="0" rIns="0" bIns="0" rtlCol="0"/>
            <a:lstStyle/>
            <a:p/>
          </p:txBody>
        </p:sp>
        <p:sp>
          <p:nvSpPr>
            <p:cNvPr id="43" name="object 43" descr=""/>
            <p:cNvSpPr/>
            <p:nvPr/>
          </p:nvSpPr>
          <p:spPr>
            <a:xfrm>
              <a:off x="3007443" y="3808408"/>
              <a:ext cx="63500" cy="210185"/>
            </a:xfrm>
            <a:custGeom>
              <a:avLst/>
              <a:gdLst/>
              <a:ahLst/>
              <a:cxnLst/>
              <a:rect l="l" t="t" r="r" b="b"/>
              <a:pathLst>
                <a:path w="63500" h="210185">
                  <a:moveTo>
                    <a:pt x="61988" y="208470"/>
                  </a:moveTo>
                  <a:lnTo>
                    <a:pt x="60147" y="210146"/>
                  </a:lnTo>
                  <a:lnTo>
                    <a:pt x="0" y="0"/>
                  </a:lnTo>
                  <a:lnTo>
                    <a:pt x="61988" y="195021"/>
                  </a:lnTo>
                  <a:lnTo>
                    <a:pt x="63461" y="206121"/>
                  </a:lnTo>
                  <a:lnTo>
                    <a:pt x="61988" y="208470"/>
                  </a:lnTo>
                  <a:close/>
                </a:path>
              </a:pathLst>
            </a:custGeom>
            <a:ln w="6350">
              <a:solidFill>
                <a:srgbClr val="262673"/>
              </a:solidFill>
            </a:ln>
          </p:spPr>
          <p:txBody>
            <a:bodyPr wrap="square" lIns="0" tIns="0" rIns="0" bIns="0" rtlCol="0"/>
            <a:lstStyle/>
            <a:p/>
          </p:txBody>
        </p:sp>
        <p:pic>
          <p:nvPicPr>
            <p:cNvPr id="44" name="object 44" descr=""/>
            <p:cNvPicPr/>
            <p:nvPr/>
          </p:nvPicPr>
          <p:blipFill>
            <a:blip r:embed="rId3" cstate="print"/>
            <a:stretch>
              <a:fillRect/>
            </a:stretch>
          </p:blipFill>
          <p:spPr>
            <a:xfrm>
              <a:off x="4030216" y="3674311"/>
              <a:ext cx="378383" cy="182311"/>
            </a:xfrm>
            <a:prstGeom prst="rect">
              <a:avLst/>
            </a:prstGeom>
          </p:spPr>
        </p:pic>
        <p:sp>
          <p:nvSpPr>
            <p:cNvPr id="45" name="object 45" descr=""/>
            <p:cNvSpPr/>
            <p:nvPr/>
          </p:nvSpPr>
          <p:spPr>
            <a:xfrm>
              <a:off x="4018902" y="3859022"/>
              <a:ext cx="401320" cy="12700"/>
            </a:xfrm>
            <a:custGeom>
              <a:avLst/>
              <a:gdLst/>
              <a:ahLst/>
              <a:cxnLst/>
              <a:rect l="l" t="t" r="r" b="b"/>
              <a:pathLst>
                <a:path w="401320" h="12700">
                  <a:moveTo>
                    <a:pt x="401002" y="0"/>
                  </a:moveTo>
                  <a:lnTo>
                    <a:pt x="0" y="0"/>
                  </a:lnTo>
                  <a:lnTo>
                    <a:pt x="0" y="12268"/>
                  </a:lnTo>
                  <a:lnTo>
                    <a:pt x="401002" y="12268"/>
                  </a:lnTo>
                  <a:lnTo>
                    <a:pt x="401002" y="0"/>
                  </a:lnTo>
                  <a:close/>
                </a:path>
              </a:pathLst>
            </a:custGeom>
            <a:solidFill>
              <a:srgbClr val="DDFEFF"/>
            </a:solidFill>
          </p:spPr>
          <p:txBody>
            <a:bodyPr wrap="square" lIns="0" tIns="0" rIns="0" bIns="0" rtlCol="0"/>
            <a:lstStyle/>
            <a:p/>
          </p:txBody>
        </p:sp>
        <p:sp>
          <p:nvSpPr>
            <p:cNvPr id="46" name="object 46" descr=""/>
            <p:cNvSpPr/>
            <p:nvPr/>
          </p:nvSpPr>
          <p:spPr>
            <a:xfrm>
              <a:off x="4018902" y="3859022"/>
              <a:ext cx="401320" cy="12700"/>
            </a:xfrm>
            <a:custGeom>
              <a:avLst/>
              <a:gdLst/>
              <a:ahLst/>
              <a:cxnLst/>
              <a:rect l="l" t="t" r="r" b="b"/>
              <a:pathLst>
                <a:path w="401320" h="12700">
                  <a:moveTo>
                    <a:pt x="0" y="0"/>
                  </a:moveTo>
                  <a:lnTo>
                    <a:pt x="401002" y="0"/>
                  </a:lnTo>
                  <a:lnTo>
                    <a:pt x="401002" y="12268"/>
                  </a:lnTo>
                  <a:lnTo>
                    <a:pt x="0" y="12268"/>
                  </a:lnTo>
                  <a:lnTo>
                    <a:pt x="0" y="0"/>
                  </a:lnTo>
                  <a:close/>
                </a:path>
              </a:pathLst>
            </a:custGeom>
            <a:ln w="9525">
              <a:solidFill>
                <a:srgbClr val="000000"/>
              </a:solidFill>
            </a:ln>
          </p:spPr>
          <p:txBody>
            <a:bodyPr wrap="square" lIns="0" tIns="0" rIns="0" bIns="0" rtlCol="0"/>
            <a:lstStyle/>
            <a:p/>
          </p:txBody>
        </p:sp>
        <p:pic>
          <p:nvPicPr>
            <p:cNvPr id="47" name="object 47" descr=""/>
            <p:cNvPicPr/>
            <p:nvPr/>
          </p:nvPicPr>
          <p:blipFill>
            <a:blip r:embed="rId4" cstate="print"/>
            <a:stretch>
              <a:fillRect/>
            </a:stretch>
          </p:blipFill>
          <p:spPr>
            <a:xfrm>
              <a:off x="4290317" y="3894199"/>
              <a:ext cx="378383" cy="182311"/>
            </a:xfrm>
            <a:prstGeom prst="rect">
              <a:avLst/>
            </a:prstGeom>
          </p:spPr>
        </p:pic>
        <p:sp>
          <p:nvSpPr>
            <p:cNvPr id="48" name="object 48" descr=""/>
            <p:cNvSpPr/>
            <p:nvPr/>
          </p:nvSpPr>
          <p:spPr>
            <a:xfrm>
              <a:off x="4278998" y="4078909"/>
              <a:ext cx="401320" cy="12700"/>
            </a:xfrm>
            <a:custGeom>
              <a:avLst/>
              <a:gdLst/>
              <a:ahLst/>
              <a:cxnLst/>
              <a:rect l="l" t="t" r="r" b="b"/>
              <a:pathLst>
                <a:path w="401320" h="12700">
                  <a:moveTo>
                    <a:pt x="401002" y="0"/>
                  </a:moveTo>
                  <a:lnTo>
                    <a:pt x="0" y="0"/>
                  </a:lnTo>
                  <a:lnTo>
                    <a:pt x="0" y="12268"/>
                  </a:lnTo>
                  <a:lnTo>
                    <a:pt x="401002" y="12268"/>
                  </a:lnTo>
                  <a:lnTo>
                    <a:pt x="401002" y="0"/>
                  </a:lnTo>
                  <a:close/>
                </a:path>
              </a:pathLst>
            </a:custGeom>
            <a:solidFill>
              <a:srgbClr val="DDFEFF"/>
            </a:solidFill>
          </p:spPr>
          <p:txBody>
            <a:bodyPr wrap="square" lIns="0" tIns="0" rIns="0" bIns="0" rtlCol="0"/>
            <a:lstStyle/>
            <a:p/>
          </p:txBody>
        </p:sp>
        <p:sp>
          <p:nvSpPr>
            <p:cNvPr id="49" name="object 49" descr=""/>
            <p:cNvSpPr/>
            <p:nvPr/>
          </p:nvSpPr>
          <p:spPr>
            <a:xfrm>
              <a:off x="4278998" y="4078909"/>
              <a:ext cx="401320" cy="12700"/>
            </a:xfrm>
            <a:custGeom>
              <a:avLst/>
              <a:gdLst/>
              <a:ahLst/>
              <a:cxnLst/>
              <a:rect l="l" t="t" r="r" b="b"/>
              <a:pathLst>
                <a:path w="401320" h="12700">
                  <a:moveTo>
                    <a:pt x="0" y="0"/>
                  </a:moveTo>
                  <a:lnTo>
                    <a:pt x="401002" y="0"/>
                  </a:lnTo>
                  <a:lnTo>
                    <a:pt x="401002" y="12268"/>
                  </a:lnTo>
                  <a:lnTo>
                    <a:pt x="0" y="12268"/>
                  </a:lnTo>
                  <a:lnTo>
                    <a:pt x="0" y="0"/>
                  </a:lnTo>
                  <a:close/>
                </a:path>
              </a:pathLst>
            </a:custGeom>
            <a:ln w="9525">
              <a:solidFill>
                <a:srgbClr val="000000"/>
              </a:solidFill>
            </a:ln>
          </p:spPr>
          <p:txBody>
            <a:bodyPr wrap="square" lIns="0" tIns="0" rIns="0" bIns="0" rtlCol="0"/>
            <a:lstStyle/>
            <a:p/>
          </p:txBody>
        </p:sp>
        <p:sp>
          <p:nvSpPr>
            <p:cNvPr id="50" name="object 50" descr=""/>
            <p:cNvSpPr/>
            <p:nvPr/>
          </p:nvSpPr>
          <p:spPr>
            <a:xfrm>
              <a:off x="2498966" y="3494214"/>
              <a:ext cx="761365" cy="386080"/>
            </a:xfrm>
            <a:custGeom>
              <a:avLst/>
              <a:gdLst/>
              <a:ahLst/>
              <a:cxnLst/>
              <a:rect l="l" t="t" r="r" b="b"/>
              <a:pathLst>
                <a:path w="761364" h="386079">
                  <a:moveTo>
                    <a:pt x="760971" y="0"/>
                  </a:moveTo>
                  <a:lnTo>
                    <a:pt x="0" y="0"/>
                  </a:lnTo>
                  <a:lnTo>
                    <a:pt x="0" y="385825"/>
                  </a:lnTo>
                  <a:lnTo>
                    <a:pt x="760971" y="385825"/>
                  </a:lnTo>
                  <a:lnTo>
                    <a:pt x="760971" y="0"/>
                  </a:lnTo>
                  <a:close/>
                </a:path>
              </a:pathLst>
            </a:custGeom>
            <a:solidFill>
              <a:srgbClr val="99CCFF"/>
            </a:solidFill>
          </p:spPr>
          <p:txBody>
            <a:bodyPr wrap="square" lIns="0" tIns="0" rIns="0" bIns="0" rtlCol="0"/>
            <a:lstStyle/>
            <a:p/>
          </p:txBody>
        </p:sp>
      </p:grpSp>
      <p:sp>
        <p:nvSpPr>
          <p:cNvPr id="51" name="object 51" descr=""/>
          <p:cNvSpPr txBox="1"/>
          <p:nvPr/>
        </p:nvSpPr>
        <p:spPr>
          <a:xfrm>
            <a:off x="395541" y="4659985"/>
            <a:ext cx="8137525" cy="323215"/>
          </a:xfrm>
          <a:prstGeom prst="rect">
            <a:avLst/>
          </a:prstGeom>
          <a:solidFill>
            <a:srgbClr val="BBE0E3"/>
          </a:solidFill>
        </p:spPr>
        <p:txBody>
          <a:bodyPr wrap="square" lIns="0" tIns="38735" rIns="0" bIns="0" rtlCol="0" vert="horz">
            <a:spAutoFit/>
          </a:bodyPr>
          <a:lstStyle/>
          <a:p>
            <a:pPr algn="ctr">
              <a:lnSpc>
                <a:spcPct val="100000"/>
              </a:lnSpc>
              <a:spcBef>
                <a:spcPts val="305"/>
              </a:spcBef>
            </a:pPr>
            <a:r>
              <a:rPr dirty="0" sz="1500" spc="-5" b="1">
                <a:solidFill>
                  <a:srgbClr val="FFFFFF"/>
                </a:solidFill>
                <a:latin typeface="Microsoft YaHei"/>
                <a:cs typeface="Microsoft YaHei"/>
              </a:rPr>
              <a:t>宏、微、皮型，多频段、多模，差异性建设，满足多场景业务和覆盖需求</a:t>
            </a:r>
            <a:endParaRPr sz="1500">
              <a:latin typeface="Microsoft YaHei"/>
              <a:cs typeface="Microsoft YaHei"/>
            </a:endParaRPr>
          </a:p>
        </p:txBody>
      </p:sp>
      <p:grpSp>
        <p:nvGrpSpPr>
          <p:cNvPr id="52" name="object 52" descr=""/>
          <p:cNvGrpSpPr/>
          <p:nvPr/>
        </p:nvGrpSpPr>
        <p:grpSpPr>
          <a:xfrm>
            <a:off x="5771950" y="3064122"/>
            <a:ext cx="3192780" cy="622935"/>
            <a:chOff x="5771950" y="3064122"/>
            <a:chExt cx="3192780" cy="622935"/>
          </a:xfrm>
        </p:grpSpPr>
        <p:sp>
          <p:nvSpPr>
            <p:cNvPr id="53" name="object 53" descr=""/>
            <p:cNvSpPr/>
            <p:nvPr/>
          </p:nvSpPr>
          <p:spPr>
            <a:xfrm>
              <a:off x="5778300" y="3070472"/>
              <a:ext cx="3180080" cy="610235"/>
            </a:xfrm>
            <a:custGeom>
              <a:avLst/>
              <a:gdLst/>
              <a:ahLst/>
              <a:cxnLst/>
              <a:rect l="l" t="t" r="r" b="b"/>
              <a:pathLst>
                <a:path w="3180079" h="610235">
                  <a:moveTo>
                    <a:pt x="3145358" y="0"/>
                  </a:moveTo>
                  <a:lnTo>
                    <a:pt x="34150" y="0"/>
                  </a:lnTo>
                  <a:lnTo>
                    <a:pt x="20857" y="2683"/>
                  </a:lnTo>
                  <a:lnTo>
                    <a:pt x="10002" y="10002"/>
                  </a:lnTo>
                  <a:lnTo>
                    <a:pt x="2683" y="20857"/>
                  </a:lnTo>
                  <a:lnTo>
                    <a:pt x="0" y="34150"/>
                  </a:lnTo>
                  <a:lnTo>
                    <a:pt x="0" y="576059"/>
                  </a:lnTo>
                  <a:lnTo>
                    <a:pt x="2683" y="589351"/>
                  </a:lnTo>
                  <a:lnTo>
                    <a:pt x="10002" y="600206"/>
                  </a:lnTo>
                  <a:lnTo>
                    <a:pt x="20857" y="607525"/>
                  </a:lnTo>
                  <a:lnTo>
                    <a:pt x="34150" y="610209"/>
                  </a:lnTo>
                  <a:lnTo>
                    <a:pt x="3145358" y="610209"/>
                  </a:lnTo>
                  <a:lnTo>
                    <a:pt x="3158657" y="607525"/>
                  </a:lnTo>
                  <a:lnTo>
                    <a:pt x="3169516" y="600206"/>
                  </a:lnTo>
                  <a:lnTo>
                    <a:pt x="3176837" y="589351"/>
                  </a:lnTo>
                  <a:lnTo>
                    <a:pt x="3179521" y="576059"/>
                  </a:lnTo>
                  <a:lnTo>
                    <a:pt x="3179521" y="34150"/>
                  </a:lnTo>
                  <a:lnTo>
                    <a:pt x="3176837" y="20857"/>
                  </a:lnTo>
                  <a:lnTo>
                    <a:pt x="3169516" y="10002"/>
                  </a:lnTo>
                  <a:lnTo>
                    <a:pt x="3158657" y="2683"/>
                  </a:lnTo>
                  <a:lnTo>
                    <a:pt x="3145358" y="0"/>
                  </a:lnTo>
                  <a:close/>
                </a:path>
              </a:pathLst>
            </a:custGeom>
            <a:solidFill>
              <a:srgbClr val="A7A8A7">
                <a:alpha val="10194"/>
              </a:srgbClr>
            </a:solidFill>
          </p:spPr>
          <p:txBody>
            <a:bodyPr wrap="square" lIns="0" tIns="0" rIns="0" bIns="0" rtlCol="0"/>
            <a:lstStyle/>
            <a:p/>
          </p:txBody>
        </p:sp>
        <p:sp>
          <p:nvSpPr>
            <p:cNvPr id="54" name="object 54" descr=""/>
            <p:cNvSpPr/>
            <p:nvPr/>
          </p:nvSpPr>
          <p:spPr>
            <a:xfrm>
              <a:off x="5778300" y="3070472"/>
              <a:ext cx="3180080" cy="610235"/>
            </a:xfrm>
            <a:custGeom>
              <a:avLst/>
              <a:gdLst/>
              <a:ahLst/>
              <a:cxnLst/>
              <a:rect l="l" t="t" r="r" b="b"/>
              <a:pathLst>
                <a:path w="3180079" h="610235">
                  <a:moveTo>
                    <a:pt x="0" y="34150"/>
                  </a:moveTo>
                  <a:lnTo>
                    <a:pt x="2683" y="20857"/>
                  </a:lnTo>
                  <a:lnTo>
                    <a:pt x="10002" y="10002"/>
                  </a:lnTo>
                  <a:lnTo>
                    <a:pt x="20857" y="2683"/>
                  </a:lnTo>
                  <a:lnTo>
                    <a:pt x="34150" y="0"/>
                  </a:lnTo>
                  <a:lnTo>
                    <a:pt x="3145358" y="0"/>
                  </a:lnTo>
                  <a:lnTo>
                    <a:pt x="3158657" y="2683"/>
                  </a:lnTo>
                  <a:lnTo>
                    <a:pt x="3169516" y="10002"/>
                  </a:lnTo>
                  <a:lnTo>
                    <a:pt x="3176837" y="20857"/>
                  </a:lnTo>
                  <a:lnTo>
                    <a:pt x="3179521" y="34150"/>
                  </a:lnTo>
                  <a:lnTo>
                    <a:pt x="3179521" y="576059"/>
                  </a:lnTo>
                  <a:lnTo>
                    <a:pt x="3176837" y="589351"/>
                  </a:lnTo>
                  <a:lnTo>
                    <a:pt x="3169516" y="600206"/>
                  </a:lnTo>
                  <a:lnTo>
                    <a:pt x="3158657" y="607525"/>
                  </a:lnTo>
                  <a:lnTo>
                    <a:pt x="3145358" y="610209"/>
                  </a:lnTo>
                  <a:lnTo>
                    <a:pt x="34150" y="610209"/>
                  </a:lnTo>
                  <a:lnTo>
                    <a:pt x="20857" y="607525"/>
                  </a:lnTo>
                  <a:lnTo>
                    <a:pt x="10002" y="600206"/>
                  </a:lnTo>
                  <a:lnTo>
                    <a:pt x="2683" y="589351"/>
                  </a:lnTo>
                  <a:lnTo>
                    <a:pt x="0" y="576059"/>
                  </a:lnTo>
                  <a:lnTo>
                    <a:pt x="0" y="34150"/>
                  </a:lnTo>
                  <a:close/>
                </a:path>
              </a:pathLst>
            </a:custGeom>
            <a:ln w="12700">
              <a:solidFill>
                <a:srgbClr val="000000"/>
              </a:solidFill>
              <a:prstDash val="lgDash"/>
            </a:ln>
          </p:spPr>
          <p:txBody>
            <a:bodyPr wrap="square" lIns="0" tIns="0" rIns="0" bIns="0" rtlCol="0"/>
            <a:lstStyle/>
            <a:p/>
          </p:txBody>
        </p:sp>
      </p:grpSp>
      <p:grpSp>
        <p:nvGrpSpPr>
          <p:cNvPr id="55" name="object 55" descr=""/>
          <p:cNvGrpSpPr/>
          <p:nvPr/>
        </p:nvGrpSpPr>
        <p:grpSpPr>
          <a:xfrm>
            <a:off x="5771950" y="999220"/>
            <a:ext cx="3192780" cy="608330"/>
            <a:chOff x="5771950" y="999220"/>
            <a:chExt cx="3192780" cy="608330"/>
          </a:xfrm>
        </p:grpSpPr>
        <p:sp>
          <p:nvSpPr>
            <p:cNvPr id="56" name="object 56" descr=""/>
            <p:cNvSpPr/>
            <p:nvPr/>
          </p:nvSpPr>
          <p:spPr>
            <a:xfrm>
              <a:off x="5778300" y="1005570"/>
              <a:ext cx="3180080" cy="595630"/>
            </a:xfrm>
            <a:custGeom>
              <a:avLst/>
              <a:gdLst/>
              <a:ahLst/>
              <a:cxnLst/>
              <a:rect l="l" t="t" r="r" b="b"/>
              <a:pathLst>
                <a:path w="3180079" h="595630">
                  <a:moveTo>
                    <a:pt x="3146196" y="0"/>
                  </a:moveTo>
                  <a:lnTo>
                    <a:pt x="33324" y="0"/>
                  </a:lnTo>
                  <a:lnTo>
                    <a:pt x="20354" y="2619"/>
                  </a:lnTo>
                  <a:lnTo>
                    <a:pt x="9761" y="9761"/>
                  </a:lnTo>
                  <a:lnTo>
                    <a:pt x="2619" y="20354"/>
                  </a:lnTo>
                  <a:lnTo>
                    <a:pt x="0" y="33324"/>
                  </a:lnTo>
                  <a:lnTo>
                    <a:pt x="0" y="561987"/>
                  </a:lnTo>
                  <a:lnTo>
                    <a:pt x="2619" y="574958"/>
                  </a:lnTo>
                  <a:lnTo>
                    <a:pt x="9761" y="585550"/>
                  </a:lnTo>
                  <a:lnTo>
                    <a:pt x="20354" y="592693"/>
                  </a:lnTo>
                  <a:lnTo>
                    <a:pt x="33324" y="595312"/>
                  </a:lnTo>
                  <a:lnTo>
                    <a:pt x="3146196" y="595312"/>
                  </a:lnTo>
                  <a:lnTo>
                    <a:pt x="3159166" y="592693"/>
                  </a:lnTo>
                  <a:lnTo>
                    <a:pt x="3169759" y="585550"/>
                  </a:lnTo>
                  <a:lnTo>
                    <a:pt x="3176902" y="574958"/>
                  </a:lnTo>
                  <a:lnTo>
                    <a:pt x="3179521" y="561987"/>
                  </a:lnTo>
                  <a:lnTo>
                    <a:pt x="3179521" y="33324"/>
                  </a:lnTo>
                  <a:lnTo>
                    <a:pt x="3176902" y="20354"/>
                  </a:lnTo>
                  <a:lnTo>
                    <a:pt x="3169759" y="9761"/>
                  </a:lnTo>
                  <a:lnTo>
                    <a:pt x="3159166" y="2619"/>
                  </a:lnTo>
                  <a:lnTo>
                    <a:pt x="3146196" y="0"/>
                  </a:lnTo>
                  <a:close/>
                </a:path>
              </a:pathLst>
            </a:custGeom>
            <a:solidFill>
              <a:srgbClr val="A7A8A7">
                <a:alpha val="10194"/>
              </a:srgbClr>
            </a:solidFill>
          </p:spPr>
          <p:txBody>
            <a:bodyPr wrap="square" lIns="0" tIns="0" rIns="0" bIns="0" rtlCol="0"/>
            <a:lstStyle/>
            <a:p/>
          </p:txBody>
        </p:sp>
        <p:sp>
          <p:nvSpPr>
            <p:cNvPr id="57" name="object 57" descr=""/>
            <p:cNvSpPr/>
            <p:nvPr/>
          </p:nvSpPr>
          <p:spPr>
            <a:xfrm>
              <a:off x="5778300" y="1005570"/>
              <a:ext cx="3180080" cy="595630"/>
            </a:xfrm>
            <a:custGeom>
              <a:avLst/>
              <a:gdLst/>
              <a:ahLst/>
              <a:cxnLst/>
              <a:rect l="l" t="t" r="r" b="b"/>
              <a:pathLst>
                <a:path w="3180079" h="595630">
                  <a:moveTo>
                    <a:pt x="0" y="33324"/>
                  </a:moveTo>
                  <a:lnTo>
                    <a:pt x="2619" y="20354"/>
                  </a:lnTo>
                  <a:lnTo>
                    <a:pt x="9761" y="9761"/>
                  </a:lnTo>
                  <a:lnTo>
                    <a:pt x="20354" y="2619"/>
                  </a:lnTo>
                  <a:lnTo>
                    <a:pt x="33324" y="0"/>
                  </a:lnTo>
                  <a:lnTo>
                    <a:pt x="3146196" y="0"/>
                  </a:lnTo>
                  <a:lnTo>
                    <a:pt x="3159166" y="2619"/>
                  </a:lnTo>
                  <a:lnTo>
                    <a:pt x="3169759" y="9761"/>
                  </a:lnTo>
                  <a:lnTo>
                    <a:pt x="3176902" y="20354"/>
                  </a:lnTo>
                  <a:lnTo>
                    <a:pt x="3179521" y="33324"/>
                  </a:lnTo>
                  <a:lnTo>
                    <a:pt x="3179521" y="561987"/>
                  </a:lnTo>
                  <a:lnTo>
                    <a:pt x="3176902" y="574958"/>
                  </a:lnTo>
                  <a:lnTo>
                    <a:pt x="3169759" y="585550"/>
                  </a:lnTo>
                  <a:lnTo>
                    <a:pt x="3159166" y="592693"/>
                  </a:lnTo>
                  <a:lnTo>
                    <a:pt x="3146196" y="595312"/>
                  </a:lnTo>
                  <a:lnTo>
                    <a:pt x="33324" y="595312"/>
                  </a:lnTo>
                  <a:lnTo>
                    <a:pt x="20354" y="592693"/>
                  </a:lnTo>
                  <a:lnTo>
                    <a:pt x="9761" y="585550"/>
                  </a:lnTo>
                  <a:lnTo>
                    <a:pt x="2619" y="574958"/>
                  </a:lnTo>
                  <a:lnTo>
                    <a:pt x="0" y="561987"/>
                  </a:lnTo>
                  <a:lnTo>
                    <a:pt x="0" y="33324"/>
                  </a:lnTo>
                  <a:close/>
                </a:path>
              </a:pathLst>
            </a:custGeom>
            <a:ln w="12700">
              <a:solidFill>
                <a:srgbClr val="000000"/>
              </a:solidFill>
              <a:prstDash val="lgDash"/>
            </a:ln>
          </p:spPr>
          <p:txBody>
            <a:bodyPr wrap="square" lIns="0" tIns="0" rIns="0" bIns="0" rtlCol="0"/>
            <a:lstStyle/>
            <a:p/>
          </p:txBody>
        </p:sp>
      </p:grpSp>
      <p:grpSp>
        <p:nvGrpSpPr>
          <p:cNvPr id="58" name="object 58" descr=""/>
          <p:cNvGrpSpPr/>
          <p:nvPr/>
        </p:nvGrpSpPr>
        <p:grpSpPr>
          <a:xfrm>
            <a:off x="5788080" y="1694976"/>
            <a:ext cx="3192780" cy="492759"/>
            <a:chOff x="5788080" y="1694976"/>
            <a:chExt cx="3192780" cy="492759"/>
          </a:xfrm>
        </p:grpSpPr>
        <p:sp>
          <p:nvSpPr>
            <p:cNvPr id="59" name="object 59" descr=""/>
            <p:cNvSpPr/>
            <p:nvPr/>
          </p:nvSpPr>
          <p:spPr>
            <a:xfrm>
              <a:off x="5794430" y="1701326"/>
              <a:ext cx="3180080" cy="480059"/>
            </a:xfrm>
            <a:custGeom>
              <a:avLst/>
              <a:gdLst/>
              <a:ahLst/>
              <a:cxnLst/>
              <a:rect l="l" t="t" r="r" b="b"/>
              <a:pathLst>
                <a:path w="3180079" h="480060">
                  <a:moveTo>
                    <a:pt x="3152686" y="0"/>
                  </a:moveTo>
                  <a:lnTo>
                    <a:pt x="26835" y="0"/>
                  </a:lnTo>
                  <a:lnTo>
                    <a:pt x="16389" y="2108"/>
                  </a:lnTo>
                  <a:lnTo>
                    <a:pt x="7859" y="7859"/>
                  </a:lnTo>
                  <a:lnTo>
                    <a:pt x="2108" y="16389"/>
                  </a:lnTo>
                  <a:lnTo>
                    <a:pt x="0" y="26835"/>
                  </a:lnTo>
                  <a:lnTo>
                    <a:pt x="0" y="452653"/>
                  </a:lnTo>
                  <a:lnTo>
                    <a:pt x="2108" y="463100"/>
                  </a:lnTo>
                  <a:lnTo>
                    <a:pt x="7859" y="471635"/>
                  </a:lnTo>
                  <a:lnTo>
                    <a:pt x="16389" y="477390"/>
                  </a:lnTo>
                  <a:lnTo>
                    <a:pt x="26835" y="479501"/>
                  </a:lnTo>
                  <a:lnTo>
                    <a:pt x="3152686" y="479501"/>
                  </a:lnTo>
                  <a:lnTo>
                    <a:pt x="3163131" y="477390"/>
                  </a:lnTo>
                  <a:lnTo>
                    <a:pt x="3171661" y="471635"/>
                  </a:lnTo>
                  <a:lnTo>
                    <a:pt x="3177412" y="463100"/>
                  </a:lnTo>
                  <a:lnTo>
                    <a:pt x="3179521" y="452653"/>
                  </a:lnTo>
                  <a:lnTo>
                    <a:pt x="3179521" y="26835"/>
                  </a:lnTo>
                  <a:lnTo>
                    <a:pt x="3177412" y="16389"/>
                  </a:lnTo>
                  <a:lnTo>
                    <a:pt x="3171661" y="7859"/>
                  </a:lnTo>
                  <a:lnTo>
                    <a:pt x="3163131" y="2108"/>
                  </a:lnTo>
                  <a:lnTo>
                    <a:pt x="3152686" y="0"/>
                  </a:lnTo>
                  <a:close/>
                </a:path>
              </a:pathLst>
            </a:custGeom>
            <a:solidFill>
              <a:srgbClr val="A7A8A7">
                <a:alpha val="10194"/>
              </a:srgbClr>
            </a:solidFill>
          </p:spPr>
          <p:txBody>
            <a:bodyPr wrap="square" lIns="0" tIns="0" rIns="0" bIns="0" rtlCol="0"/>
            <a:lstStyle/>
            <a:p/>
          </p:txBody>
        </p:sp>
        <p:sp>
          <p:nvSpPr>
            <p:cNvPr id="60" name="object 60" descr=""/>
            <p:cNvSpPr/>
            <p:nvPr/>
          </p:nvSpPr>
          <p:spPr>
            <a:xfrm>
              <a:off x="5794430" y="1701326"/>
              <a:ext cx="3180080" cy="480059"/>
            </a:xfrm>
            <a:custGeom>
              <a:avLst/>
              <a:gdLst/>
              <a:ahLst/>
              <a:cxnLst/>
              <a:rect l="l" t="t" r="r" b="b"/>
              <a:pathLst>
                <a:path w="3180079" h="480060">
                  <a:moveTo>
                    <a:pt x="0" y="26835"/>
                  </a:moveTo>
                  <a:lnTo>
                    <a:pt x="2108" y="16389"/>
                  </a:lnTo>
                  <a:lnTo>
                    <a:pt x="7859" y="7859"/>
                  </a:lnTo>
                  <a:lnTo>
                    <a:pt x="16389" y="2108"/>
                  </a:lnTo>
                  <a:lnTo>
                    <a:pt x="26835" y="0"/>
                  </a:lnTo>
                  <a:lnTo>
                    <a:pt x="3152686" y="0"/>
                  </a:lnTo>
                  <a:lnTo>
                    <a:pt x="3163131" y="2108"/>
                  </a:lnTo>
                  <a:lnTo>
                    <a:pt x="3171661" y="7859"/>
                  </a:lnTo>
                  <a:lnTo>
                    <a:pt x="3177412" y="16389"/>
                  </a:lnTo>
                  <a:lnTo>
                    <a:pt x="3179521" y="26835"/>
                  </a:lnTo>
                  <a:lnTo>
                    <a:pt x="3179521" y="452653"/>
                  </a:lnTo>
                  <a:lnTo>
                    <a:pt x="3177412" y="463100"/>
                  </a:lnTo>
                  <a:lnTo>
                    <a:pt x="3171661" y="471635"/>
                  </a:lnTo>
                  <a:lnTo>
                    <a:pt x="3163131" y="477390"/>
                  </a:lnTo>
                  <a:lnTo>
                    <a:pt x="3152686" y="479501"/>
                  </a:lnTo>
                  <a:lnTo>
                    <a:pt x="26835" y="479501"/>
                  </a:lnTo>
                  <a:lnTo>
                    <a:pt x="16389" y="477390"/>
                  </a:lnTo>
                  <a:lnTo>
                    <a:pt x="7859" y="471635"/>
                  </a:lnTo>
                  <a:lnTo>
                    <a:pt x="2108" y="463100"/>
                  </a:lnTo>
                  <a:lnTo>
                    <a:pt x="0" y="452653"/>
                  </a:lnTo>
                  <a:lnTo>
                    <a:pt x="0" y="26835"/>
                  </a:lnTo>
                  <a:close/>
                </a:path>
              </a:pathLst>
            </a:custGeom>
            <a:ln w="12700">
              <a:solidFill>
                <a:srgbClr val="000000"/>
              </a:solidFill>
              <a:prstDash val="lgDash"/>
            </a:ln>
          </p:spPr>
          <p:txBody>
            <a:bodyPr wrap="square" lIns="0" tIns="0" rIns="0" bIns="0" rtlCol="0"/>
            <a:lstStyle/>
            <a:p/>
          </p:txBody>
        </p:sp>
      </p:grpSp>
      <p:grpSp>
        <p:nvGrpSpPr>
          <p:cNvPr id="61" name="object 61" descr=""/>
          <p:cNvGrpSpPr/>
          <p:nvPr/>
        </p:nvGrpSpPr>
        <p:grpSpPr>
          <a:xfrm>
            <a:off x="5771950" y="2294674"/>
            <a:ext cx="3192780" cy="694055"/>
            <a:chOff x="5771950" y="2294674"/>
            <a:chExt cx="3192780" cy="694055"/>
          </a:xfrm>
        </p:grpSpPr>
        <p:sp>
          <p:nvSpPr>
            <p:cNvPr id="62" name="object 62" descr=""/>
            <p:cNvSpPr/>
            <p:nvPr/>
          </p:nvSpPr>
          <p:spPr>
            <a:xfrm>
              <a:off x="5778300" y="2301024"/>
              <a:ext cx="3180080" cy="681355"/>
            </a:xfrm>
            <a:custGeom>
              <a:avLst/>
              <a:gdLst/>
              <a:ahLst/>
              <a:cxnLst/>
              <a:rect l="l" t="t" r="r" b="b"/>
              <a:pathLst>
                <a:path w="3180079" h="681355">
                  <a:moveTo>
                    <a:pt x="3141395" y="0"/>
                  </a:moveTo>
                  <a:lnTo>
                    <a:pt x="38125" y="0"/>
                  </a:lnTo>
                  <a:lnTo>
                    <a:pt x="23285" y="2996"/>
                  </a:lnTo>
                  <a:lnTo>
                    <a:pt x="11166" y="11166"/>
                  </a:lnTo>
                  <a:lnTo>
                    <a:pt x="2996" y="23285"/>
                  </a:lnTo>
                  <a:lnTo>
                    <a:pt x="0" y="38125"/>
                  </a:lnTo>
                  <a:lnTo>
                    <a:pt x="0" y="643089"/>
                  </a:lnTo>
                  <a:lnTo>
                    <a:pt x="2996" y="657930"/>
                  </a:lnTo>
                  <a:lnTo>
                    <a:pt x="11166" y="670048"/>
                  </a:lnTo>
                  <a:lnTo>
                    <a:pt x="23285" y="678219"/>
                  </a:lnTo>
                  <a:lnTo>
                    <a:pt x="38125" y="681215"/>
                  </a:lnTo>
                  <a:lnTo>
                    <a:pt x="3141395" y="681215"/>
                  </a:lnTo>
                  <a:lnTo>
                    <a:pt x="3156236" y="678219"/>
                  </a:lnTo>
                  <a:lnTo>
                    <a:pt x="3168354" y="670048"/>
                  </a:lnTo>
                  <a:lnTo>
                    <a:pt x="3176525" y="657930"/>
                  </a:lnTo>
                  <a:lnTo>
                    <a:pt x="3179521" y="643089"/>
                  </a:lnTo>
                  <a:lnTo>
                    <a:pt x="3179521" y="38125"/>
                  </a:lnTo>
                  <a:lnTo>
                    <a:pt x="3176525" y="23285"/>
                  </a:lnTo>
                  <a:lnTo>
                    <a:pt x="3168354" y="11166"/>
                  </a:lnTo>
                  <a:lnTo>
                    <a:pt x="3156236" y="2996"/>
                  </a:lnTo>
                  <a:lnTo>
                    <a:pt x="3141395" y="0"/>
                  </a:lnTo>
                  <a:close/>
                </a:path>
              </a:pathLst>
            </a:custGeom>
            <a:solidFill>
              <a:srgbClr val="A7A8A7">
                <a:alpha val="10194"/>
              </a:srgbClr>
            </a:solidFill>
          </p:spPr>
          <p:txBody>
            <a:bodyPr wrap="square" lIns="0" tIns="0" rIns="0" bIns="0" rtlCol="0"/>
            <a:lstStyle/>
            <a:p/>
          </p:txBody>
        </p:sp>
        <p:sp>
          <p:nvSpPr>
            <p:cNvPr id="63" name="object 63" descr=""/>
            <p:cNvSpPr/>
            <p:nvPr/>
          </p:nvSpPr>
          <p:spPr>
            <a:xfrm>
              <a:off x="5778300" y="2301024"/>
              <a:ext cx="3180080" cy="681355"/>
            </a:xfrm>
            <a:custGeom>
              <a:avLst/>
              <a:gdLst/>
              <a:ahLst/>
              <a:cxnLst/>
              <a:rect l="l" t="t" r="r" b="b"/>
              <a:pathLst>
                <a:path w="3180079" h="681355">
                  <a:moveTo>
                    <a:pt x="0" y="38125"/>
                  </a:moveTo>
                  <a:lnTo>
                    <a:pt x="2996" y="23285"/>
                  </a:lnTo>
                  <a:lnTo>
                    <a:pt x="11166" y="11166"/>
                  </a:lnTo>
                  <a:lnTo>
                    <a:pt x="23285" y="2996"/>
                  </a:lnTo>
                  <a:lnTo>
                    <a:pt x="38125" y="0"/>
                  </a:lnTo>
                  <a:lnTo>
                    <a:pt x="3141395" y="0"/>
                  </a:lnTo>
                  <a:lnTo>
                    <a:pt x="3156236" y="2996"/>
                  </a:lnTo>
                  <a:lnTo>
                    <a:pt x="3168354" y="11166"/>
                  </a:lnTo>
                  <a:lnTo>
                    <a:pt x="3176525" y="23285"/>
                  </a:lnTo>
                  <a:lnTo>
                    <a:pt x="3179521" y="38125"/>
                  </a:lnTo>
                  <a:lnTo>
                    <a:pt x="3179521" y="643089"/>
                  </a:lnTo>
                  <a:lnTo>
                    <a:pt x="3176525" y="657930"/>
                  </a:lnTo>
                  <a:lnTo>
                    <a:pt x="3168354" y="670048"/>
                  </a:lnTo>
                  <a:lnTo>
                    <a:pt x="3156236" y="678219"/>
                  </a:lnTo>
                  <a:lnTo>
                    <a:pt x="3141395" y="681215"/>
                  </a:lnTo>
                  <a:lnTo>
                    <a:pt x="38125" y="681215"/>
                  </a:lnTo>
                  <a:lnTo>
                    <a:pt x="23285" y="678219"/>
                  </a:lnTo>
                  <a:lnTo>
                    <a:pt x="11166" y="670048"/>
                  </a:lnTo>
                  <a:lnTo>
                    <a:pt x="2996" y="657930"/>
                  </a:lnTo>
                  <a:lnTo>
                    <a:pt x="0" y="643089"/>
                  </a:lnTo>
                  <a:lnTo>
                    <a:pt x="0" y="38125"/>
                  </a:lnTo>
                  <a:close/>
                </a:path>
              </a:pathLst>
            </a:custGeom>
            <a:ln w="12700">
              <a:solidFill>
                <a:srgbClr val="000000"/>
              </a:solidFill>
              <a:prstDash val="lgDash"/>
            </a:ln>
          </p:spPr>
          <p:txBody>
            <a:bodyPr wrap="square" lIns="0" tIns="0" rIns="0" bIns="0" rtlCol="0"/>
            <a:lstStyle/>
            <a:p/>
          </p:txBody>
        </p:sp>
      </p:grpSp>
      <p:sp>
        <p:nvSpPr>
          <p:cNvPr id="64" name="object 64" descr=""/>
          <p:cNvSpPr txBox="1"/>
          <p:nvPr/>
        </p:nvSpPr>
        <p:spPr>
          <a:xfrm>
            <a:off x="5808023" y="984871"/>
            <a:ext cx="3109595" cy="601980"/>
          </a:xfrm>
          <a:prstGeom prst="rect">
            <a:avLst/>
          </a:prstGeom>
        </p:spPr>
        <p:txBody>
          <a:bodyPr wrap="square" lIns="0" tIns="67310" rIns="0" bIns="0" rtlCol="0" vert="horz">
            <a:spAutoFit/>
          </a:bodyPr>
          <a:lstStyle/>
          <a:p>
            <a:pPr marL="12700">
              <a:lnSpc>
                <a:spcPct val="100000"/>
              </a:lnSpc>
              <a:spcBef>
                <a:spcPts val="530"/>
              </a:spcBef>
              <a:tabLst>
                <a:tab pos="1059815" algn="l"/>
              </a:tabLst>
            </a:pPr>
            <a:r>
              <a:rPr dirty="0" sz="900" b="1">
                <a:latin typeface="Microsoft YaHei"/>
                <a:cs typeface="Microsoft YaHei"/>
              </a:rPr>
              <a:t>密集城区覆盖场</a:t>
            </a:r>
            <a:r>
              <a:rPr dirty="0" sz="900" spc="-50" b="1">
                <a:latin typeface="Microsoft YaHei"/>
                <a:cs typeface="Microsoft YaHei"/>
              </a:rPr>
              <a:t>景</a:t>
            </a:r>
            <a:r>
              <a:rPr dirty="0" sz="900" b="1">
                <a:latin typeface="Microsoft YaHei"/>
                <a:cs typeface="Microsoft YaHei"/>
              </a:rPr>
              <a:t>	</a:t>
            </a:r>
            <a:r>
              <a:rPr dirty="0" sz="900">
                <a:latin typeface="Microsoft YaHei"/>
                <a:cs typeface="Microsoft YaHei"/>
              </a:rPr>
              <a:t>-</a:t>
            </a:r>
            <a:r>
              <a:rPr dirty="0" sz="900" spc="-15">
                <a:latin typeface="Microsoft YaHei"/>
                <a:cs typeface="Microsoft YaHei"/>
              </a:rPr>
              <a:t> </a:t>
            </a:r>
            <a:r>
              <a:rPr dirty="0" sz="900">
                <a:latin typeface="Microsoft YaHei"/>
                <a:cs typeface="Microsoft YaHei"/>
              </a:rPr>
              <a:t>100M</a:t>
            </a:r>
            <a:r>
              <a:rPr dirty="0" sz="900" spc="-20">
                <a:latin typeface="Microsoft YaHei"/>
                <a:cs typeface="Microsoft YaHei"/>
              </a:rPr>
              <a:t> </a:t>
            </a:r>
            <a:r>
              <a:rPr dirty="0" sz="900">
                <a:latin typeface="Microsoft YaHei"/>
                <a:cs typeface="Microsoft YaHei"/>
              </a:rPr>
              <a:t>64TR</a:t>
            </a:r>
            <a:r>
              <a:rPr dirty="0" sz="900" spc="-10">
                <a:latin typeface="Microsoft YaHei"/>
                <a:cs typeface="Microsoft YaHei"/>
              </a:rPr>
              <a:t> </a:t>
            </a:r>
            <a:r>
              <a:rPr dirty="0" sz="900" spc="-25">
                <a:latin typeface="Microsoft YaHei"/>
                <a:cs typeface="Microsoft YaHei"/>
              </a:rPr>
              <a:t>AAU</a:t>
            </a:r>
            <a:endParaRPr sz="900">
              <a:latin typeface="Microsoft YaHei"/>
              <a:cs typeface="Microsoft YaHei"/>
            </a:endParaRPr>
          </a:p>
          <a:p>
            <a:pPr marL="182245" marR="5080" indent="-170180">
              <a:lnSpc>
                <a:spcPct val="140000"/>
              </a:lnSpc>
              <a:buFont typeface="Wingdings"/>
              <a:buChar char=""/>
              <a:tabLst>
                <a:tab pos="182245" algn="l"/>
              </a:tabLst>
            </a:pPr>
            <a:r>
              <a:rPr dirty="0" sz="900">
                <a:latin typeface="Microsoft YaHei"/>
                <a:cs typeface="Microsoft YaHei"/>
              </a:rPr>
              <a:t>提供良好的覆盖效果和Massive</a:t>
            </a:r>
            <a:r>
              <a:rPr dirty="0" sz="900" spc="-70">
                <a:latin typeface="Microsoft YaHei"/>
                <a:cs typeface="Microsoft YaHei"/>
              </a:rPr>
              <a:t> </a:t>
            </a:r>
            <a:r>
              <a:rPr dirty="0" sz="900" spc="-10">
                <a:latin typeface="Microsoft YaHei"/>
                <a:cs typeface="Microsoft YaHei"/>
              </a:rPr>
              <a:t>MIMO</a:t>
            </a:r>
            <a:r>
              <a:rPr dirty="0" sz="900">
                <a:latin typeface="Microsoft YaHei"/>
                <a:cs typeface="Microsoft YaHei"/>
              </a:rPr>
              <a:t>性能，解决</a:t>
            </a:r>
            <a:r>
              <a:rPr dirty="0" sz="900" spc="-10">
                <a:latin typeface="Microsoft YaHei"/>
                <a:cs typeface="Microsoft YaHei"/>
              </a:rPr>
              <a:t>5G</a:t>
            </a:r>
            <a:r>
              <a:rPr dirty="0" sz="900" spc="-25">
                <a:latin typeface="Microsoft YaHei"/>
                <a:cs typeface="Microsoft YaHei"/>
              </a:rPr>
              <a:t>覆盖</a:t>
            </a:r>
            <a:r>
              <a:rPr dirty="0" sz="900" spc="-5">
                <a:latin typeface="Microsoft YaHei"/>
                <a:cs typeface="Microsoft YaHei"/>
              </a:rPr>
              <a:t>和容量需求，针对高楼场景增强覆盖</a:t>
            </a:r>
            <a:endParaRPr sz="900">
              <a:latin typeface="Microsoft YaHei"/>
              <a:cs typeface="Microsoft YaHei"/>
            </a:endParaRPr>
          </a:p>
        </p:txBody>
      </p:sp>
      <p:sp>
        <p:nvSpPr>
          <p:cNvPr id="65" name="object 65" descr=""/>
          <p:cNvSpPr txBox="1"/>
          <p:nvPr/>
        </p:nvSpPr>
        <p:spPr>
          <a:xfrm>
            <a:off x="5808023" y="1749539"/>
            <a:ext cx="3091180" cy="409575"/>
          </a:xfrm>
          <a:prstGeom prst="rect">
            <a:avLst/>
          </a:prstGeom>
        </p:spPr>
        <p:txBody>
          <a:bodyPr wrap="square" lIns="0" tIns="67310" rIns="0" bIns="0" rtlCol="0" vert="horz">
            <a:spAutoFit/>
          </a:bodyPr>
          <a:lstStyle/>
          <a:p>
            <a:pPr marL="12700">
              <a:lnSpc>
                <a:spcPct val="100000"/>
              </a:lnSpc>
              <a:spcBef>
                <a:spcPts val="530"/>
              </a:spcBef>
            </a:pPr>
            <a:r>
              <a:rPr dirty="0" sz="900" spc="50" b="1">
                <a:latin typeface="Microsoft YaHei"/>
                <a:cs typeface="Microsoft YaHei"/>
              </a:rPr>
              <a:t>郊区、农村覆盖场景 </a:t>
            </a:r>
            <a:r>
              <a:rPr dirty="0" sz="900" spc="-5">
                <a:latin typeface="Microsoft YaHei"/>
                <a:cs typeface="Microsoft YaHei"/>
              </a:rPr>
              <a:t>- </a:t>
            </a:r>
            <a:r>
              <a:rPr dirty="0" sz="900">
                <a:latin typeface="Microsoft YaHei"/>
                <a:cs typeface="Microsoft YaHei"/>
              </a:rPr>
              <a:t>100M</a:t>
            </a:r>
            <a:r>
              <a:rPr dirty="0" sz="900" spc="-20">
                <a:latin typeface="Microsoft YaHei"/>
                <a:cs typeface="Microsoft YaHei"/>
              </a:rPr>
              <a:t> </a:t>
            </a:r>
            <a:r>
              <a:rPr dirty="0" sz="900">
                <a:latin typeface="Microsoft YaHei"/>
                <a:cs typeface="Microsoft YaHei"/>
              </a:rPr>
              <a:t>16TR</a:t>
            </a:r>
            <a:r>
              <a:rPr dirty="0" sz="900" spc="-15">
                <a:latin typeface="Microsoft YaHei"/>
                <a:cs typeface="Microsoft YaHei"/>
              </a:rPr>
              <a:t> </a:t>
            </a:r>
            <a:r>
              <a:rPr dirty="0" sz="900" spc="-25">
                <a:latin typeface="Microsoft YaHei"/>
                <a:cs typeface="Microsoft YaHei"/>
              </a:rPr>
              <a:t>AAU</a:t>
            </a:r>
            <a:endParaRPr sz="900">
              <a:latin typeface="Microsoft YaHei"/>
              <a:cs typeface="Microsoft YaHei"/>
            </a:endParaRPr>
          </a:p>
          <a:p>
            <a:pPr marL="182245" indent="-169545">
              <a:lnSpc>
                <a:spcPct val="100000"/>
              </a:lnSpc>
              <a:spcBef>
                <a:spcPts val="434"/>
              </a:spcBef>
              <a:buFont typeface="Wingdings"/>
              <a:buChar char=""/>
              <a:tabLst>
                <a:tab pos="182245" algn="l"/>
              </a:tabLst>
            </a:pPr>
            <a:r>
              <a:rPr dirty="0" sz="900">
                <a:latin typeface="Microsoft YaHei"/>
                <a:cs typeface="Microsoft YaHei"/>
              </a:rPr>
              <a:t>兼顾网络性能和建网成本，解决</a:t>
            </a:r>
            <a:r>
              <a:rPr dirty="0" sz="900" spc="-10">
                <a:latin typeface="Microsoft YaHei"/>
                <a:cs typeface="Microsoft YaHei"/>
              </a:rPr>
              <a:t>5G</a:t>
            </a:r>
            <a:r>
              <a:rPr dirty="0" sz="900" spc="-5">
                <a:latin typeface="Microsoft YaHei"/>
                <a:cs typeface="Microsoft YaHei"/>
              </a:rPr>
              <a:t>低成本广覆盖建网需求</a:t>
            </a:r>
            <a:endParaRPr sz="900">
              <a:latin typeface="Microsoft YaHei"/>
              <a:cs typeface="Microsoft YaHei"/>
            </a:endParaRPr>
          </a:p>
        </p:txBody>
      </p:sp>
      <p:sp>
        <p:nvSpPr>
          <p:cNvPr id="66" name="object 66" descr=""/>
          <p:cNvSpPr txBox="1"/>
          <p:nvPr/>
        </p:nvSpPr>
        <p:spPr>
          <a:xfrm>
            <a:off x="5821739" y="2384475"/>
            <a:ext cx="2441575" cy="162560"/>
          </a:xfrm>
          <a:prstGeom prst="rect">
            <a:avLst/>
          </a:prstGeom>
        </p:spPr>
        <p:txBody>
          <a:bodyPr wrap="square" lIns="0" tIns="12700" rIns="0" bIns="0" rtlCol="0" vert="horz">
            <a:spAutoFit/>
          </a:bodyPr>
          <a:lstStyle/>
          <a:p>
            <a:pPr marL="12700">
              <a:lnSpc>
                <a:spcPct val="100000"/>
              </a:lnSpc>
              <a:spcBef>
                <a:spcPts val="100"/>
              </a:spcBef>
              <a:tabLst>
                <a:tab pos="1059815" algn="l"/>
              </a:tabLst>
            </a:pPr>
            <a:r>
              <a:rPr dirty="0" sz="900" b="1">
                <a:latin typeface="Microsoft YaHei"/>
                <a:cs typeface="Microsoft YaHei"/>
              </a:rPr>
              <a:t>室外补热补盲场</a:t>
            </a:r>
            <a:r>
              <a:rPr dirty="0" sz="900" spc="-50" b="1">
                <a:latin typeface="Microsoft YaHei"/>
                <a:cs typeface="Microsoft YaHei"/>
              </a:rPr>
              <a:t>景</a:t>
            </a:r>
            <a:r>
              <a:rPr dirty="0" sz="900" b="1">
                <a:latin typeface="Microsoft YaHei"/>
                <a:cs typeface="Microsoft YaHei"/>
              </a:rPr>
              <a:t>	</a:t>
            </a:r>
            <a:r>
              <a:rPr dirty="0" sz="900">
                <a:latin typeface="Microsoft YaHei"/>
                <a:cs typeface="Microsoft YaHei"/>
              </a:rPr>
              <a:t>-</a:t>
            </a:r>
            <a:r>
              <a:rPr dirty="0" sz="900" spc="-20">
                <a:latin typeface="Microsoft YaHei"/>
                <a:cs typeface="Microsoft YaHei"/>
              </a:rPr>
              <a:t> </a:t>
            </a:r>
            <a:r>
              <a:rPr dirty="0" sz="900">
                <a:latin typeface="Microsoft YaHei"/>
                <a:cs typeface="Microsoft YaHei"/>
              </a:rPr>
              <a:t>杆站</a:t>
            </a:r>
            <a:r>
              <a:rPr dirty="0" sz="900" spc="-10">
                <a:latin typeface="Microsoft YaHei"/>
                <a:cs typeface="Microsoft YaHei"/>
              </a:rPr>
              <a:t>/</a:t>
            </a:r>
            <a:r>
              <a:rPr dirty="0" sz="900">
                <a:latin typeface="Microsoft YaHei"/>
                <a:cs typeface="Microsoft YaHei"/>
              </a:rPr>
              <a:t>微站</a:t>
            </a:r>
            <a:r>
              <a:rPr dirty="0" sz="900" spc="-5">
                <a:latin typeface="Microsoft YaHei"/>
                <a:cs typeface="Microsoft YaHei"/>
              </a:rPr>
              <a:t> </a:t>
            </a:r>
            <a:r>
              <a:rPr dirty="0" sz="900">
                <a:latin typeface="Microsoft YaHei"/>
                <a:cs typeface="Microsoft YaHei"/>
              </a:rPr>
              <a:t>4TR</a:t>
            </a:r>
            <a:r>
              <a:rPr dirty="0" sz="900" spc="-20">
                <a:latin typeface="Microsoft YaHei"/>
                <a:cs typeface="Microsoft YaHei"/>
              </a:rPr>
              <a:t> </a:t>
            </a:r>
            <a:r>
              <a:rPr dirty="0" sz="900">
                <a:latin typeface="Microsoft YaHei"/>
                <a:cs typeface="Microsoft YaHei"/>
              </a:rPr>
              <a:t>PAD</a:t>
            </a:r>
            <a:r>
              <a:rPr dirty="0" sz="900" spc="-5">
                <a:latin typeface="Microsoft YaHei"/>
                <a:cs typeface="Microsoft YaHei"/>
              </a:rPr>
              <a:t> </a:t>
            </a:r>
            <a:r>
              <a:rPr dirty="0" sz="900" spc="-25">
                <a:latin typeface="Microsoft YaHei"/>
                <a:cs typeface="Microsoft YaHei"/>
              </a:rPr>
              <a:t>RRU</a:t>
            </a:r>
            <a:endParaRPr sz="900">
              <a:latin typeface="Microsoft YaHei"/>
              <a:cs typeface="Microsoft YaHei"/>
            </a:endParaRPr>
          </a:p>
        </p:txBody>
      </p:sp>
      <p:sp>
        <p:nvSpPr>
          <p:cNvPr id="67" name="object 67" descr=""/>
          <p:cNvSpPr txBox="1"/>
          <p:nvPr/>
        </p:nvSpPr>
        <p:spPr>
          <a:xfrm>
            <a:off x="5821853" y="2576499"/>
            <a:ext cx="3174365" cy="162560"/>
          </a:xfrm>
          <a:prstGeom prst="rect">
            <a:avLst/>
          </a:prstGeom>
        </p:spPr>
        <p:txBody>
          <a:bodyPr wrap="square" lIns="0" tIns="12700" rIns="0" bIns="0" rtlCol="0" vert="horz">
            <a:spAutoFit/>
          </a:bodyPr>
          <a:lstStyle/>
          <a:p>
            <a:pPr marL="182245" indent="-169545">
              <a:lnSpc>
                <a:spcPct val="100000"/>
              </a:lnSpc>
              <a:spcBef>
                <a:spcPts val="100"/>
              </a:spcBef>
              <a:buFont typeface="Wingdings"/>
              <a:buChar char=""/>
              <a:tabLst>
                <a:tab pos="182245" algn="l"/>
              </a:tabLst>
            </a:pPr>
            <a:r>
              <a:rPr dirty="0" sz="900" spc="-5">
                <a:latin typeface="Microsoft YaHei"/>
                <a:cs typeface="Microsoft YaHei"/>
              </a:rPr>
              <a:t>利用杆站/微站资源，快速部署</a:t>
            </a:r>
            <a:r>
              <a:rPr dirty="0" sz="900">
                <a:latin typeface="Microsoft YaHei"/>
                <a:cs typeface="Microsoft YaHei"/>
              </a:rPr>
              <a:t>5G</a:t>
            </a:r>
            <a:r>
              <a:rPr dirty="0" sz="900" spc="-10">
                <a:latin typeface="Microsoft YaHei"/>
                <a:cs typeface="Microsoft YaHei"/>
              </a:rPr>
              <a:t> ，用于步行街、居民区、</a:t>
            </a:r>
            <a:endParaRPr sz="900">
              <a:latin typeface="Microsoft YaHei"/>
              <a:cs typeface="Microsoft YaHei"/>
            </a:endParaRPr>
          </a:p>
        </p:txBody>
      </p:sp>
      <p:sp>
        <p:nvSpPr>
          <p:cNvPr id="68" name="object 68" descr=""/>
          <p:cNvSpPr txBox="1"/>
          <p:nvPr/>
        </p:nvSpPr>
        <p:spPr>
          <a:xfrm>
            <a:off x="5991817" y="2768523"/>
            <a:ext cx="1511300" cy="162560"/>
          </a:xfrm>
          <a:prstGeom prst="rect">
            <a:avLst/>
          </a:prstGeom>
        </p:spPr>
        <p:txBody>
          <a:bodyPr wrap="square" lIns="0" tIns="12700" rIns="0" bIns="0" rtlCol="0" vert="horz">
            <a:spAutoFit/>
          </a:bodyPr>
          <a:lstStyle/>
          <a:p>
            <a:pPr marL="12700">
              <a:lnSpc>
                <a:spcPct val="100000"/>
              </a:lnSpc>
              <a:spcBef>
                <a:spcPts val="100"/>
              </a:spcBef>
            </a:pPr>
            <a:r>
              <a:rPr dirty="0" sz="900" spc="-5">
                <a:latin typeface="Microsoft YaHei"/>
                <a:cs typeface="Microsoft YaHei"/>
              </a:rPr>
              <a:t>公园等区域的同异频补盲补热</a:t>
            </a:r>
            <a:endParaRPr sz="900">
              <a:latin typeface="Microsoft YaHei"/>
              <a:cs typeface="Microsoft YaHei"/>
            </a:endParaRPr>
          </a:p>
        </p:txBody>
      </p:sp>
      <p:sp>
        <p:nvSpPr>
          <p:cNvPr id="69" name="object 69" descr=""/>
          <p:cNvSpPr txBox="1"/>
          <p:nvPr/>
        </p:nvSpPr>
        <p:spPr>
          <a:xfrm>
            <a:off x="5821853" y="3076676"/>
            <a:ext cx="3065145" cy="601980"/>
          </a:xfrm>
          <a:prstGeom prst="rect">
            <a:avLst/>
          </a:prstGeom>
        </p:spPr>
        <p:txBody>
          <a:bodyPr wrap="square" lIns="0" tIns="67310" rIns="0" bIns="0" rtlCol="0" vert="horz">
            <a:spAutoFit/>
          </a:bodyPr>
          <a:lstStyle/>
          <a:p>
            <a:pPr marL="12700">
              <a:lnSpc>
                <a:spcPct val="100000"/>
              </a:lnSpc>
              <a:spcBef>
                <a:spcPts val="530"/>
              </a:spcBef>
            </a:pPr>
            <a:r>
              <a:rPr dirty="0" sz="900" spc="70" b="1">
                <a:latin typeface="Microsoft YaHei"/>
                <a:cs typeface="Microsoft YaHei"/>
              </a:rPr>
              <a:t>室内覆盖场景 </a:t>
            </a:r>
            <a:r>
              <a:rPr dirty="0" sz="900" spc="-5">
                <a:latin typeface="Microsoft YaHei"/>
                <a:cs typeface="Microsoft YaHei"/>
              </a:rPr>
              <a:t>- </a:t>
            </a:r>
            <a:r>
              <a:rPr dirty="0" sz="900">
                <a:latin typeface="Microsoft YaHei"/>
                <a:cs typeface="Microsoft YaHei"/>
              </a:rPr>
              <a:t>4TR</a:t>
            </a:r>
            <a:r>
              <a:rPr dirty="0" sz="900" spc="-15">
                <a:latin typeface="Microsoft YaHei"/>
                <a:cs typeface="Microsoft YaHei"/>
              </a:rPr>
              <a:t> </a:t>
            </a:r>
            <a:r>
              <a:rPr dirty="0" sz="900" spc="-20">
                <a:latin typeface="Microsoft YaHei"/>
                <a:cs typeface="Microsoft YaHei"/>
              </a:rPr>
              <a:t>Pico</a:t>
            </a:r>
            <a:endParaRPr sz="900">
              <a:latin typeface="Microsoft YaHei"/>
              <a:cs typeface="Microsoft YaHei"/>
            </a:endParaRPr>
          </a:p>
          <a:p>
            <a:pPr marL="182245" marR="5080" indent="-170180">
              <a:lnSpc>
                <a:spcPct val="140000"/>
              </a:lnSpc>
              <a:buFont typeface="Wingdings"/>
              <a:buChar char=""/>
              <a:tabLst>
                <a:tab pos="182245" algn="l"/>
              </a:tabLst>
            </a:pPr>
            <a:r>
              <a:rPr dirty="0" sz="900">
                <a:latin typeface="Microsoft YaHei"/>
                <a:cs typeface="Microsoft YaHei"/>
              </a:rPr>
              <a:t>4TR</a:t>
            </a:r>
            <a:r>
              <a:rPr dirty="0" sz="900" spc="-70">
                <a:latin typeface="Microsoft YaHei"/>
                <a:cs typeface="Microsoft YaHei"/>
              </a:rPr>
              <a:t> </a:t>
            </a:r>
            <a:r>
              <a:rPr dirty="0" sz="900" spc="-10">
                <a:latin typeface="Microsoft YaHei"/>
                <a:cs typeface="Microsoft YaHei"/>
              </a:rPr>
              <a:t>Pico，新型有源室分，确保高容量、高价值区域良好的用户体验</a:t>
            </a:r>
            <a:endParaRPr sz="900">
              <a:latin typeface="Microsoft YaHei"/>
              <a:cs typeface="Microsoft YaHei"/>
            </a:endParaRPr>
          </a:p>
        </p:txBody>
      </p:sp>
      <p:sp>
        <p:nvSpPr>
          <p:cNvPr id="70" name="object 70" descr=""/>
          <p:cNvSpPr txBox="1"/>
          <p:nvPr/>
        </p:nvSpPr>
        <p:spPr>
          <a:xfrm>
            <a:off x="2498966" y="3546830"/>
            <a:ext cx="761365" cy="269240"/>
          </a:xfrm>
          <a:prstGeom prst="rect">
            <a:avLst/>
          </a:prstGeom>
        </p:spPr>
        <p:txBody>
          <a:bodyPr wrap="square" lIns="0" tIns="12065" rIns="0" bIns="0" rtlCol="0" vert="horz">
            <a:spAutoFit/>
          </a:bodyPr>
          <a:lstStyle/>
          <a:p>
            <a:pPr marL="137795" marR="356235">
              <a:lnSpc>
                <a:spcPct val="100000"/>
              </a:lnSpc>
              <a:spcBef>
                <a:spcPts val="95"/>
              </a:spcBef>
            </a:pPr>
            <a:r>
              <a:rPr dirty="0" sz="800" spc="-20" b="1">
                <a:solidFill>
                  <a:srgbClr val="262673"/>
                </a:solidFill>
                <a:latin typeface="Microsoft YaHei"/>
                <a:cs typeface="Microsoft YaHei"/>
              </a:rPr>
              <a:t>16TR </a:t>
            </a:r>
            <a:r>
              <a:rPr dirty="0" sz="800" spc="-25" b="1">
                <a:solidFill>
                  <a:srgbClr val="262673"/>
                </a:solidFill>
                <a:latin typeface="Microsoft YaHei"/>
                <a:cs typeface="Microsoft YaHei"/>
              </a:rPr>
              <a:t>AAU</a:t>
            </a:r>
            <a:endParaRPr sz="800">
              <a:latin typeface="Microsoft YaHei"/>
              <a:cs typeface="Microsoft YaHei"/>
            </a:endParaRPr>
          </a:p>
        </p:txBody>
      </p:sp>
      <p:grpSp>
        <p:nvGrpSpPr>
          <p:cNvPr id="71" name="object 71" descr=""/>
          <p:cNvGrpSpPr/>
          <p:nvPr/>
        </p:nvGrpSpPr>
        <p:grpSpPr>
          <a:xfrm>
            <a:off x="178593" y="1059578"/>
            <a:ext cx="4273550" cy="3031490"/>
            <a:chOff x="178593" y="1059578"/>
            <a:chExt cx="4273550" cy="3031490"/>
          </a:xfrm>
        </p:grpSpPr>
        <p:pic>
          <p:nvPicPr>
            <p:cNvPr id="72" name="object 72" descr=""/>
            <p:cNvPicPr/>
            <p:nvPr/>
          </p:nvPicPr>
          <p:blipFill>
            <a:blip r:embed="rId5" cstate="print"/>
            <a:stretch>
              <a:fillRect/>
            </a:stretch>
          </p:blipFill>
          <p:spPr>
            <a:xfrm>
              <a:off x="3201149" y="3478440"/>
              <a:ext cx="728395" cy="275834"/>
            </a:xfrm>
            <a:prstGeom prst="rect">
              <a:avLst/>
            </a:prstGeom>
          </p:spPr>
        </p:pic>
        <p:pic>
          <p:nvPicPr>
            <p:cNvPr id="73" name="object 73" descr=""/>
            <p:cNvPicPr/>
            <p:nvPr/>
          </p:nvPicPr>
          <p:blipFill>
            <a:blip r:embed="rId6" cstate="print"/>
            <a:stretch>
              <a:fillRect/>
            </a:stretch>
          </p:blipFill>
          <p:spPr>
            <a:xfrm>
              <a:off x="3280930" y="3795471"/>
              <a:ext cx="559142" cy="61353"/>
            </a:xfrm>
            <a:prstGeom prst="rect">
              <a:avLst/>
            </a:prstGeom>
          </p:spPr>
        </p:pic>
        <p:pic>
          <p:nvPicPr>
            <p:cNvPr id="74" name="object 74" descr=""/>
            <p:cNvPicPr/>
            <p:nvPr/>
          </p:nvPicPr>
          <p:blipFill>
            <a:blip r:embed="rId7" cstate="print"/>
            <a:stretch>
              <a:fillRect/>
            </a:stretch>
          </p:blipFill>
          <p:spPr>
            <a:xfrm>
              <a:off x="3341687" y="3930167"/>
              <a:ext cx="536765" cy="160644"/>
            </a:xfrm>
            <a:prstGeom prst="rect">
              <a:avLst/>
            </a:prstGeom>
          </p:spPr>
        </p:pic>
        <p:pic>
          <p:nvPicPr>
            <p:cNvPr id="75" name="object 75" descr=""/>
            <p:cNvPicPr/>
            <p:nvPr/>
          </p:nvPicPr>
          <p:blipFill>
            <a:blip r:embed="rId8" cstate="print"/>
            <a:stretch>
              <a:fillRect/>
            </a:stretch>
          </p:blipFill>
          <p:spPr>
            <a:xfrm>
              <a:off x="4057110" y="3323073"/>
              <a:ext cx="378383" cy="182317"/>
            </a:xfrm>
            <a:prstGeom prst="rect">
              <a:avLst/>
            </a:prstGeom>
          </p:spPr>
        </p:pic>
        <p:sp>
          <p:nvSpPr>
            <p:cNvPr id="76" name="object 76" descr=""/>
            <p:cNvSpPr/>
            <p:nvPr/>
          </p:nvSpPr>
          <p:spPr>
            <a:xfrm>
              <a:off x="4045800" y="3507778"/>
              <a:ext cx="401320" cy="12700"/>
            </a:xfrm>
            <a:custGeom>
              <a:avLst/>
              <a:gdLst/>
              <a:ahLst/>
              <a:cxnLst/>
              <a:rect l="l" t="t" r="r" b="b"/>
              <a:pathLst>
                <a:path w="401320" h="12700">
                  <a:moveTo>
                    <a:pt x="401002" y="0"/>
                  </a:moveTo>
                  <a:lnTo>
                    <a:pt x="0" y="0"/>
                  </a:lnTo>
                  <a:lnTo>
                    <a:pt x="0" y="12268"/>
                  </a:lnTo>
                  <a:lnTo>
                    <a:pt x="401002" y="12268"/>
                  </a:lnTo>
                  <a:lnTo>
                    <a:pt x="401002" y="0"/>
                  </a:lnTo>
                  <a:close/>
                </a:path>
              </a:pathLst>
            </a:custGeom>
            <a:solidFill>
              <a:srgbClr val="DDFEFF"/>
            </a:solidFill>
          </p:spPr>
          <p:txBody>
            <a:bodyPr wrap="square" lIns="0" tIns="0" rIns="0" bIns="0" rtlCol="0"/>
            <a:lstStyle/>
            <a:p/>
          </p:txBody>
        </p:sp>
        <p:sp>
          <p:nvSpPr>
            <p:cNvPr id="77" name="object 77" descr=""/>
            <p:cNvSpPr/>
            <p:nvPr/>
          </p:nvSpPr>
          <p:spPr>
            <a:xfrm>
              <a:off x="4045800" y="3507778"/>
              <a:ext cx="401320" cy="12700"/>
            </a:xfrm>
            <a:custGeom>
              <a:avLst/>
              <a:gdLst/>
              <a:ahLst/>
              <a:cxnLst/>
              <a:rect l="l" t="t" r="r" b="b"/>
              <a:pathLst>
                <a:path w="401320" h="12700">
                  <a:moveTo>
                    <a:pt x="0" y="0"/>
                  </a:moveTo>
                  <a:lnTo>
                    <a:pt x="401002" y="0"/>
                  </a:lnTo>
                  <a:lnTo>
                    <a:pt x="401002" y="12268"/>
                  </a:lnTo>
                  <a:lnTo>
                    <a:pt x="0" y="12268"/>
                  </a:lnTo>
                  <a:lnTo>
                    <a:pt x="0" y="0"/>
                  </a:lnTo>
                  <a:close/>
                </a:path>
              </a:pathLst>
            </a:custGeom>
            <a:ln w="9525">
              <a:solidFill>
                <a:srgbClr val="000000"/>
              </a:solidFill>
            </a:ln>
          </p:spPr>
          <p:txBody>
            <a:bodyPr wrap="square" lIns="0" tIns="0" rIns="0" bIns="0" rtlCol="0"/>
            <a:lstStyle/>
            <a:p/>
          </p:txBody>
        </p:sp>
        <p:sp>
          <p:nvSpPr>
            <p:cNvPr id="78" name="object 78" descr=""/>
            <p:cNvSpPr/>
            <p:nvPr/>
          </p:nvSpPr>
          <p:spPr>
            <a:xfrm>
              <a:off x="178593" y="1059578"/>
              <a:ext cx="3964304" cy="1270000"/>
            </a:xfrm>
            <a:custGeom>
              <a:avLst/>
              <a:gdLst/>
              <a:ahLst/>
              <a:cxnLst/>
              <a:rect l="l" t="t" r="r" b="b"/>
              <a:pathLst>
                <a:path w="3964304" h="1270000">
                  <a:moveTo>
                    <a:pt x="1982139" y="0"/>
                  </a:moveTo>
                  <a:lnTo>
                    <a:pt x="1912553" y="384"/>
                  </a:lnTo>
                  <a:lnTo>
                    <a:pt x="1843568" y="1527"/>
                  </a:lnTo>
                  <a:lnTo>
                    <a:pt x="1775226" y="3418"/>
                  </a:lnTo>
                  <a:lnTo>
                    <a:pt x="1707564" y="6043"/>
                  </a:lnTo>
                  <a:lnTo>
                    <a:pt x="1640622" y="9390"/>
                  </a:lnTo>
                  <a:lnTo>
                    <a:pt x="1574440" y="13446"/>
                  </a:lnTo>
                  <a:lnTo>
                    <a:pt x="1509057" y="18199"/>
                  </a:lnTo>
                  <a:lnTo>
                    <a:pt x="1444512" y="23636"/>
                  </a:lnTo>
                  <a:lnTo>
                    <a:pt x="1380844" y="29744"/>
                  </a:lnTo>
                  <a:lnTo>
                    <a:pt x="1318093" y="36511"/>
                  </a:lnTo>
                  <a:lnTo>
                    <a:pt x="1256298" y="43925"/>
                  </a:lnTo>
                  <a:lnTo>
                    <a:pt x="1195498" y="51972"/>
                  </a:lnTo>
                  <a:lnTo>
                    <a:pt x="1135733" y="60640"/>
                  </a:lnTo>
                  <a:lnTo>
                    <a:pt x="1077042" y="69917"/>
                  </a:lnTo>
                  <a:lnTo>
                    <a:pt x="1019464" y="79789"/>
                  </a:lnTo>
                  <a:lnTo>
                    <a:pt x="963039" y="90245"/>
                  </a:lnTo>
                  <a:lnTo>
                    <a:pt x="907806" y="101272"/>
                  </a:lnTo>
                  <a:lnTo>
                    <a:pt x="853804" y="112857"/>
                  </a:lnTo>
                  <a:lnTo>
                    <a:pt x="801072" y="124987"/>
                  </a:lnTo>
                  <a:lnTo>
                    <a:pt x="749650" y="137650"/>
                  </a:lnTo>
                  <a:lnTo>
                    <a:pt x="699578" y="150834"/>
                  </a:lnTo>
                  <a:lnTo>
                    <a:pt x="650893" y="164525"/>
                  </a:lnTo>
                  <a:lnTo>
                    <a:pt x="603637" y="178711"/>
                  </a:lnTo>
                  <a:lnTo>
                    <a:pt x="557847" y="193380"/>
                  </a:lnTo>
                  <a:lnTo>
                    <a:pt x="513564" y="208519"/>
                  </a:lnTo>
                  <a:lnTo>
                    <a:pt x="470827" y="224116"/>
                  </a:lnTo>
                  <a:lnTo>
                    <a:pt x="429674" y="240157"/>
                  </a:lnTo>
                  <a:lnTo>
                    <a:pt x="390146" y="256630"/>
                  </a:lnTo>
                  <a:lnTo>
                    <a:pt x="352281" y="273523"/>
                  </a:lnTo>
                  <a:lnTo>
                    <a:pt x="316119" y="290823"/>
                  </a:lnTo>
                  <a:lnTo>
                    <a:pt x="281700" y="308517"/>
                  </a:lnTo>
                  <a:lnTo>
                    <a:pt x="218244" y="345038"/>
                  </a:lnTo>
                  <a:lnTo>
                    <a:pt x="162229" y="382986"/>
                  </a:lnTo>
                  <a:lnTo>
                    <a:pt x="113969" y="422260"/>
                  </a:lnTo>
                  <a:lnTo>
                    <a:pt x="73779" y="462758"/>
                  </a:lnTo>
                  <a:lnTo>
                    <a:pt x="41972" y="504381"/>
                  </a:lnTo>
                  <a:lnTo>
                    <a:pt x="18864" y="547027"/>
                  </a:lnTo>
                  <a:lnTo>
                    <a:pt x="4768" y="590596"/>
                  </a:lnTo>
                  <a:lnTo>
                    <a:pt x="0" y="634987"/>
                  </a:lnTo>
                  <a:lnTo>
                    <a:pt x="1198" y="657279"/>
                  </a:lnTo>
                  <a:lnTo>
                    <a:pt x="10670" y="701273"/>
                  </a:lnTo>
                  <a:lnTo>
                    <a:pt x="29311" y="744395"/>
                  </a:lnTo>
                  <a:lnTo>
                    <a:pt x="56808" y="786543"/>
                  </a:lnTo>
                  <a:lnTo>
                    <a:pt x="92846" y="827616"/>
                  </a:lnTo>
                  <a:lnTo>
                    <a:pt x="137110" y="867515"/>
                  </a:lnTo>
                  <a:lnTo>
                    <a:pt x="189287" y="906139"/>
                  </a:lnTo>
                  <a:lnTo>
                    <a:pt x="249062" y="943386"/>
                  </a:lnTo>
                  <a:lnTo>
                    <a:pt x="316119" y="979157"/>
                  </a:lnTo>
                  <a:lnTo>
                    <a:pt x="352281" y="996456"/>
                  </a:lnTo>
                  <a:lnTo>
                    <a:pt x="390146" y="1013349"/>
                  </a:lnTo>
                  <a:lnTo>
                    <a:pt x="429674" y="1029822"/>
                  </a:lnTo>
                  <a:lnTo>
                    <a:pt x="470827" y="1045863"/>
                  </a:lnTo>
                  <a:lnTo>
                    <a:pt x="513564" y="1061459"/>
                  </a:lnTo>
                  <a:lnTo>
                    <a:pt x="557847" y="1076598"/>
                  </a:lnTo>
                  <a:lnTo>
                    <a:pt x="603637" y="1091267"/>
                  </a:lnTo>
                  <a:lnTo>
                    <a:pt x="650893" y="1105453"/>
                  </a:lnTo>
                  <a:lnTo>
                    <a:pt x="699578" y="1119144"/>
                  </a:lnTo>
                  <a:lnTo>
                    <a:pt x="749650" y="1132328"/>
                  </a:lnTo>
                  <a:lnTo>
                    <a:pt x="801072" y="1144990"/>
                  </a:lnTo>
                  <a:lnTo>
                    <a:pt x="853804" y="1157121"/>
                  </a:lnTo>
                  <a:lnTo>
                    <a:pt x="907806" y="1168705"/>
                  </a:lnTo>
                  <a:lnTo>
                    <a:pt x="963039" y="1179731"/>
                  </a:lnTo>
                  <a:lnTo>
                    <a:pt x="1019464" y="1190187"/>
                  </a:lnTo>
                  <a:lnTo>
                    <a:pt x="1077042" y="1200059"/>
                  </a:lnTo>
                  <a:lnTo>
                    <a:pt x="1135733" y="1209336"/>
                  </a:lnTo>
                  <a:lnTo>
                    <a:pt x="1195498" y="1218004"/>
                  </a:lnTo>
                  <a:lnTo>
                    <a:pt x="1256298" y="1226051"/>
                  </a:lnTo>
                  <a:lnTo>
                    <a:pt x="1318093" y="1233464"/>
                  </a:lnTo>
                  <a:lnTo>
                    <a:pt x="1380844" y="1240231"/>
                  </a:lnTo>
                  <a:lnTo>
                    <a:pt x="1444512" y="1246339"/>
                  </a:lnTo>
                  <a:lnTo>
                    <a:pt x="1509057" y="1251776"/>
                  </a:lnTo>
                  <a:lnTo>
                    <a:pt x="1574440" y="1256528"/>
                  </a:lnTo>
                  <a:lnTo>
                    <a:pt x="1640622" y="1260584"/>
                  </a:lnTo>
                  <a:lnTo>
                    <a:pt x="1707564" y="1263931"/>
                  </a:lnTo>
                  <a:lnTo>
                    <a:pt x="1775226" y="1266556"/>
                  </a:lnTo>
                  <a:lnTo>
                    <a:pt x="1843568" y="1268447"/>
                  </a:lnTo>
                  <a:lnTo>
                    <a:pt x="1912553" y="1269590"/>
                  </a:lnTo>
                  <a:lnTo>
                    <a:pt x="1982139" y="1269974"/>
                  </a:lnTo>
                  <a:lnTo>
                    <a:pt x="2051726" y="1269590"/>
                  </a:lnTo>
                  <a:lnTo>
                    <a:pt x="2120710" y="1268447"/>
                  </a:lnTo>
                  <a:lnTo>
                    <a:pt x="2189053" y="1266556"/>
                  </a:lnTo>
                  <a:lnTo>
                    <a:pt x="2256715" y="1263931"/>
                  </a:lnTo>
                  <a:lnTo>
                    <a:pt x="2323656" y="1260584"/>
                  </a:lnTo>
                  <a:lnTo>
                    <a:pt x="2389838" y="1256528"/>
                  </a:lnTo>
                  <a:lnTo>
                    <a:pt x="2455222" y="1251776"/>
                  </a:lnTo>
                  <a:lnTo>
                    <a:pt x="2519767" y="1246339"/>
                  </a:lnTo>
                  <a:lnTo>
                    <a:pt x="2583435" y="1240231"/>
                  </a:lnTo>
                  <a:lnTo>
                    <a:pt x="2646186" y="1233464"/>
                  </a:lnTo>
                  <a:lnTo>
                    <a:pt x="2707981" y="1226051"/>
                  </a:lnTo>
                  <a:lnTo>
                    <a:pt x="2768780" y="1218004"/>
                  </a:lnTo>
                  <a:lnTo>
                    <a:pt x="2828545" y="1209336"/>
                  </a:lnTo>
                  <a:lnTo>
                    <a:pt x="2887237" y="1200059"/>
                  </a:lnTo>
                  <a:lnTo>
                    <a:pt x="2944814" y="1190187"/>
                  </a:lnTo>
                  <a:lnTo>
                    <a:pt x="3001239" y="1179731"/>
                  </a:lnTo>
                  <a:lnTo>
                    <a:pt x="3056473" y="1168705"/>
                  </a:lnTo>
                  <a:lnTo>
                    <a:pt x="3110475" y="1157121"/>
                  </a:lnTo>
                  <a:lnTo>
                    <a:pt x="3163207" y="1144990"/>
                  </a:lnTo>
                  <a:lnTo>
                    <a:pt x="3214628" y="1132328"/>
                  </a:lnTo>
                  <a:lnTo>
                    <a:pt x="3264701" y="1119144"/>
                  </a:lnTo>
                  <a:lnTo>
                    <a:pt x="3313385" y="1105453"/>
                  </a:lnTo>
                  <a:lnTo>
                    <a:pt x="3360642" y="1091267"/>
                  </a:lnTo>
                  <a:lnTo>
                    <a:pt x="3406431" y="1076598"/>
                  </a:lnTo>
                  <a:lnTo>
                    <a:pt x="3450714" y="1061459"/>
                  </a:lnTo>
                  <a:lnTo>
                    <a:pt x="3493452" y="1045863"/>
                  </a:lnTo>
                  <a:lnTo>
                    <a:pt x="3534604" y="1029822"/>
                  </a:lnTo>
                  <a:lnTo>
                    <a:pt x="3574133" y="1013349"/>
                  </a:lnTo>
                  <a:lnTo>
                    <a:pt x="3611997" y="996456"/>
                  </a:lnTo>
                  <a:lnTo>
                    <a:pt x="3648159" y="979157"/>
                  </a:lnTo>
                  <a:lnTo>
                    <a:pt x="3682579" y="961462"/>
                  </a:lnTo>
                  <a:lnTo>
                    <a:pt x="3746034" y="924941"/>
                  </a:lnTo>
                  <a:lnTo>
                    <a:pt x="3802049" y="886993"/>
                  </a:lnTo>
                  <a:lnTo>
                    <a:pt x="3850309" y="847719"/>
                  </a:lnTo>
                  <a:lnTo>
                    <a:pt x="3890500" y="807220"/>
                  </a:lnTo>
                  <a:lnTo>
                    <a:pt x="3922307" y="765597"/>
                  </a:lnTo>
                  <a:lnTo>
                    <a:pt x="3945415" y="722949"/>
                  </a:lnTo>
                  <a:lnTo>
                    <a:pt x="3959511" y="679379"/>
                  </a:lnTo>
                  <a:lnTo>
                    <a:pt x="3964279" y="634987"/>
                  </a:lnTo>
                  <a:lnTo>
                    <a:pt x="3963080" y="612695"/>
                  </a:lnTo>
                  <a:lnTo>
                    <a:pt x="3953609" y="568702"/>
                  </a:lnTo>
                  <a:lnTo>
                    <a:pt x="3934968" y="525582"/>
                  </a:lnTo>
                  <a:lnTo>
                    <a:pt x="3907471" y="483435"/>
                  </a:lnTo>
                  <a:lnTo>
                    <a:pt x="3871433" y="442362"/>
                  </a:lnTo>
                  <a:lnTo>
                    <a:pt x="3827168" y="402463"/>
                  </a:lnTo>
                  <a:lnTo>
                    <a:pt x="3774991" y="363840"/>
                  </a:lnTo>
                  <a:lnTo>
                    <a:pt x="3715217" y="326593"/>
                  </a:lnTo>
                  <a:lnTo>
                    <a:pt x="3648159" y="290823"/>
                  </a:lnTo>
                  <a:lnTo>
                    <a:pt x="3611997" y="273523"/>
                  </a:lnTo>
                  <a:lnTo>
                    <a:pt x="3574133" y="256630"/>
                  </a:lnTo>
                  <a:lnTo>
                    <a:pt x="3534604" y="240157"/>
                  </a:lnTo>
                  <a:lnTo>
                    <a:pt x="3493452" y="224116"/>
                  </a:lnTo>
                  <a:lnTo>
                    <a:pt x="3450714" y="208519"/>
                  </a:lnTo>
                  <a:lnTo>
                    <a:pt x="3406431" y="193380"/>
                  </a:lnTo>
                  <a:lnTo>
                    <a:pt x="3360642" y="178711"/>
                  </a:lnTo>
                  <a:lnTo>
                    <a:pt x="3313385" y="164525"/>
                  </a:lnTo>
                  <a:lnTo>
                    <a:pt x="3264701" y="150834"/>
                  </a:lnTo>
                  <a:lnTo>
                    <a:pt x="3214628" y="137650"/>
                  </a:lnTo>
                  <a:lnTo>
                    <a:pt x="3163207" y="124987"/>
                  </a:lnTo>
                  <a:lnTo>
                    <a:pt x="3110475" y="112857"/>
                  </a:lnTo>
                  <a:lnTo>
                    <a:pt x="3056473" y="101272"/>
                  </a:lnTo>
                  <a:lnTo>
                    <a:pt x="3001239" y="90245"/>
                  </a:lnTo>
                  <a:lnTo>
                    <a:pt x="2944814" y="79789"/>
                  </a:lnTo>
                  <a:lnTo>
                    <a:pt x="2887237" y="69917"/>
                  </a:lnTo>
                  <a:lnTo>
                    <a:pt x="2828545" y="60640"/>
                  </a:lnTo>
                  <a:lnTo>
                    <a:pt x="2768780" y="51972"/>
                  </a:lnTo>
                  <a:lnTo>
                    <a:pt x="2707981" y="43925"/>
                  </a:lnTo>
                  <a:lnTo>
                    <a:pt x="2646186" y="36511"/>
                  </a:lnTo>
                  <a:lnTo>
                    <a:pt x="2583435" y="29744"/>
                  </a:lnTo>
                  <a:lnTo>
                    <a:pt x="2519767" y="23636"/>
                  </a:lnTo>
                  <a:lnTo>
                    <a:pt x="2455222" y="18199"/>
                  </a:lnTo>
                  <a:lnTo>
                    <a:pt x="2389838" y="13446"/>
                  </a:lnTo>
                  <a:lnTo>
                    <a:pt x="2323656" y="9390"/>
                  </a:lnTo>
                  <a:lnTo>
                    <a:pt x="2256715" y="6043"/>
                  </a:lnTo>
                  <a:lnTo>
                    <a:pt x="2189053" y="3418"/>
                  </a:lnTo>
                  <a:lnTo>
                    <a:pt x="2120710" y="1527"/>
                  </a:lnTo>
                  <a:lnTo>
                    <a:pt x="2051726" y="384"/>
                  </a:lnTo>
                  <a:lnTo>
                    <a:pt x="1982139" y="0"/>
                  </a:lnTo>
                  <a:close/>
                </a:path>
              </a:pathLst>
            </a:custGeom>
            <a:solidFill>
              <a:srgbClr val="CCCCFF"/>
            </a:solidFill>
          </p:spPr>
          <p:txBody>
            <a:bodyPr wrap="square" lIns="0" tIns="0" rIns="0" bIns="0" rtlCol="0"/>
            <a:lstStyle/>
            <a:p/>
          </p:txBody>
        </p:sp>
      </p:grpSp>
      <p:sp>
        <p:nvSpPr>
          <p:cNvPr id="79" name="object 79" descr=""/>
          <p:cNvSpPr txBox="1"/>
          <p:nvPr/>
        </p:nvSpPr>
        <p:spPr>
          <a:xfrm>
            <a:off x="3493694" y="1578777"/>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spc="-15" b="1">
                <a:latin typeface="Microsoft YaHei"/>
                <a:cs typeface="Microsoft YaHei"/>
              </a:rPr>
              <a:t>密集城区</a:t>
            </a:r>
            <a:endParaRPr sz="1200">
              <a:latin typeface="Microsoft YaHei"/>
              <a:cs typeface="Microsoft YaHei"/>
            </a:endParaRPr>
          </a:p>
        </p:txBody>
      </p:sp>
      <p:grpSp>
        <p:nvGrpSpPr>
          <p:cNvPr id="80" name="object 80" descr=""/>
          <p:cNvGrpSpPr/>
          <p:nvPr/>
        </p:nvGrpSpPr>
        <p:grpSpPr>
          <a:xfrm>
            <a:off x="545871" y="1138283"/>
            <a:ext cx="2904490" cy="1073150"/>
            <a:chOff x="545871" y="1138283"/>
            <a:chExt cx="2904490" cy="1073150"/>
          </a:xfrm>
        </p:grpSpPr>
        <p:sp>
          <p:nvSpPr>
            <p:cNvPr id="81" name="object 81" descr=""/>
            <p:cNvSpPr/>
            <p:nvPr/>
          </p:nvSpPr>
          <p:spPr>
            <a:xfrm>
              <a:off x="550633" y="1888820"/>
              <a:ext cx="477520" cy="14604"/>
            </a:xfrm>
            <a:custGeom>
              <a:avLst/>
              <a:gdLst/>
              <a:ahLst/>
              <a:cxnLst/>
              <a:rect l="l" t="t" r="r" b="b"/>
              <a:pathLst>
                <a:path w="477519" h="14605">
                  <a:moveTo>
                    <a:pt x="477138" y="0"/>
                  </a:moveTo>
                  <a:lnTo>
                    <a:pt x="0" y="0"/>
                  </a:lnTo>
                  <a:lnTo>
                    <a:pt x="0" y="14262"/>
                  </a:lnTo>
                  <a:lnTo>
                    <a:pt x="477138" y="14262"/>
                  </a:lnTo>
                  <a:lnTo>
                    <a:pt x="477138" y="0"/>
                  </a:lnTo>
                  <a:close/>
                </a:path>
              </a:pathLst>
            </a:custGeom>
            <a:solidFill>
              <a:srgbClr val="DDFEFF"/>
            </a:solidFill>
          </p:spPr>
          <p:txBody>
            <a:bodyPr wrap="square" lIns="0" tIns="0" rIns="0" bIns="0" rtlCol="0"/>
            <a:lstStyle/>
            <a:p/>
          </p:txBody>
        </p:sp>
        <p:sp>
          <p:nvSpPr>
            <p:cNvPr id="82" name="object 82" descr=""/>
            <p:cNvSpPr/>
            <p:nvPr/>
          </p:nvSpPr>
          <p:spPr>
            <a:xfrm>
              <a:off x="550633" y="1888820"/>
              <a:ext cx="477520" cy="14604"/>
            </a:xfrm>
            <a:custGeom>
              <a:avLst/>
              <a:gdLst/>
              <a:ahLst/>
              <a:cxnLst/>
              <a:rect l="l" t="t" r="r" b="b"/>
              <a:pathLst>
                <a:path w="477519" h="14605">
                  <a:moveTo>
                    <a:pt x="0" y="0"/>
                  </a:moveTo>
                  <a:lnTo>
                    <a:pt x="477138" y="0"/>
                  </a:lnTo>
                  <a:lnTo>
                    <a:pt x="477138" y="14262"/>
                  </a:lnTo>
                  <a:lnTo>
                    <a:pt x="0" y="14262"/>
                  </a:lnTo>
                  <a:lnTo>
                    <a:pt x="0" y="0"/>
                  </a:lnTo>
                  <a:close/>
                </a:path>
              </a:pathLst>
            </a:custGeom>
            <a:ln w="9525">
              <a:solidFill>
                <a:srgbClr val="000000"/>
              </a:solidFill>
            </a:ln>
          </p:spPr>
          <p:txBody>
            <a:bodyPr wrap="square" lIns="0" tIns="0" rIns="0" bIns="0" rtlCol="0"/>
            <a:lstStyle/>
            <a:p/>
          </p:txBody>
        </p:sp>
        <p:sp>
          <p:nvSpPr>
            <p:cNvPr id="83" name="object 83" descr=""/>
            <p:cNvSpPr/>
            <p:nvPr/>
          </p:nvSpPr>
          <p:spPr>
            <a:xfrm>
              <a:off x="577328" y="1521112"/>
              <a:ext cx="428625" cy="361950"/>
            </a:xfrm>
            <a:custGeom>
              <a:avLst/>
              <a:gdLst/>
              <a:ahLst/>
              <a:cxnLst/>
              <a:rect l="l" t="t" r="r" b="b"/>
              <a:pathLst>
                <a:path w="428625" h="361950">
                  <a:moveTo>
                    <a:pt x="86779" y="228600"/>
                  </a:moveTo>
                  <a:lnTo>
                    <a:pt x="0" y="228600"/>
                  </a:lnTo>
                  <a:lnTo>
                    <a:pt x="0" y="361950"/>
                  </a:lnTo>
                  <a:lnTo>
                    <a:pt x="428383" y="361950"/>
                  </a:lnTo>
                  <a:lnTo>
                    <a:pt x="428383" y="342900"/>
                  </a:lnTo>
                  <a:lnTo>
                    <a:pt x="86779" y="342900"/>
                  </a:lnTo>
                  <a:lnTo>
                    <a:pt x="86779" y="326390"/>
                  </a:lnTo>
                  <a:lnTo>
                    <a:pt x="11023" y="326390"/>
                  </a:lnTo>
                  <a:lnTo>
                    <a:pt x="11023" y="314960"/>
                  </a:lnTo>
                  <a:lnTo>
                    <a:pt x="86779" y="314960"/>
                  </a:lnTo>
                  <a:lnTo>
                    <a:pt x="86779" y="303530"/>
                  </a:lnTo>
                  <a:lnTo>
                    <a:pt x="11023" y="303530"/>
                  </a:lnTo>
                  <a:lnTo>
                    <a:pt x="11023" y="292100"/>
                  </a:lnTo>
                  <a:lnTo>
                    <a:pt x="86779" y="292100"/>
                  </a:lnTo>
                  <a:lnTo>
                    <a:pt x="86779" y="280670"/>
                  </a:lnTo>
                  <a:lnTo>
                    <a:pt x="11023" y="280670"/>
                  </a:lnTo>
                  <a:lnTo>
                    <a:pt x="11023" y="269240"/>
                  </a:lnTo>
                  <a:lnTo>
                    <a:pt x="86779" y="269240"/>
                  </a:lnTo>
                  <a:lnTo>
                    <a:pt x="86779" y="257810"/>
                  </a:lnTo>
                  <a:lnTo>
                    <a:pt x="11023" y="257810"/>
                  </a:lnTo>
                  <a:lnTo>
                    <a:pt x="11023" y="245110"/>
                  </a:lnTo>
                  <a:lnTo>
                    <a:pt x="86779" y="245110"/>
                  </a:lnTo>
                  <a:lnTo>
                    <a:pt x="86779" y="228600"/>
                  </a:lnTo>
                  <a:close/>
                </a:path>
                <a:path w="428625" h="361950">
                  <a:moveTo>
                    <a:pt x="203746" y="161290"/>
                  </a:moveTo>
                  <a:lnTo>
                    <a:pt x="97231" y="161290"/>
                  </a:lnTo>
                  <a:lnTo>
                    <a:pt x="97231" y="342900"/>
                  </a:lnTo>
                  <a:lnTo>
                    <a:pt x="203746" y="342900"/>
                  </a:lnTo>
                  <a:lnTo>
                    <a:pt x="203746" y="307340"/>
                  </a:lnTo>
                  <a:lnTo>
                    <a:pt x="112903" y="307340"/>
                  </a:lnTo>
                  <a:lnTo>
                    <a:pt x="112903" y="288290"/>
                  </a:lnTo>
                  <a:lnTo>
                    <a:pt x="203746" y="288290"/>
                  </a:lnTo>
                  <a:lnTo>
                    <a:pt x="203746" y="274320"/>
                  </a:lnTo>
                  <a:lnTo>
                    <a:pt x="112903" y="274320"/>
                  </a:lnTo>
                  <a:lnTo>
                    <a:pt x="112903" y="255270"/>
                  </a:lnTo>
                  <a:lnTo>
                    <a:pt x="203746" y="255270"/>
                  </a:lnTo>
                  <a:lnTo>
                    <a:pt x="203746" y="241300"/>
                  </a:lnTo>
                  <a:lnTo>
                    <a:pt x="112903" y="241300"/>
                  </a:lnTo>
                  <a:lnTo>
                    <a:pt x="112903" y="222250"/>
                  </a:lnTo>
                  <a:lnTo>
                    <a:pt x="203746" y="222250"/>
                  </a:lnTo>
                  <a:lnTo>
                    <a:pt x="203746" y="207010"/>
                  </a:lnTo>
                  <a:lnTo>
                    <a:pt x="112903" y="207010"/>
                  </a:lnTo>
                  <a:lnTo>
                    <a:pt x="112903" y="189230"/>
                  </a:lnTo>
                  <a:lnTo>
                    <a:pt x="203746" y="189230"/>
                  </a:lnTo>
                  <a:lnTo>
                    <a:pt x="203746" y="161290"/>
                  </a:lnTo>
                  <a:close/>
                </a:path>
                <a:path w="428625" h="361950">
                  <a:moveTo>
                    <a:pt x="295452" y="62230"/>
                  </a:moveTo>
                  <a:lnTo>
                    <a:pt x="238277" y="62230"/>
                  </a:lnTo>
                  <a:lnTo>
                    <a:pt x="238277" y="105410"/>
                  </a:lnTo>
                  <a:lnTo>
                    <a:pt x="212166" y="119380"/>
                  </a:lnTo>
                  <a:lnTo>
                    <a:pt x="212166" y="342900"/>
                  </a:lnTo>
                  <a:lnTo>
                    <a:pt x="322160" y="342900"/>
                  </a:lnTo>
                  <a:lnTo>
                    <a:pt x="322160" y="276860"/>
                  </a:lnTo>
                  <a:lnTo>
                    <a:pt x="229285" y="276860"/>
                  </a:lnTo>
                  <a:lnTo>
                    <a:pt x="229285" y="264160"/>
                  </a:lnTo>
                  <a:lnTo>
                    <a:pt x="322160" y="264160"/>
                  </a:lnTo>
                  <a:lnTo>
                    <a:pt x="322160" y="250190"/>
                  </a:lnTo>
                  <a:lnTo>
                    <a:pt x="229285" y="250190"/>
                  </a:lnTo>
                  <a:lnTo>
                    <a:pt x="229285" y="237490"/>
                  </a:lnTo>
                  <a:lnTo>
                    <a:pt x="322160" y="237490"/>
                  </a:lnTo>
                  <a:lnTo>
                    <a:pt x="322160" y="223520"/>
                  </a:lnTo>
                  <a:lnTo>
                    <a:pt x="229285" y="223520"/>
                  </a:lnTo>
                  <a:lnTo>
                    <a:pt x="229285" y="210820"/>
                  </a:lnTo>
                  <a:lnTo>
                    <a:pt x="322160" y="210820"/>
                  </a:lnTo>
                  <a:lnTo>
                    <a:pt x="322160" y="196850"/>
                  </a:lnTo>
                  <a:lnTo>
                    <a:pt x="229285" y="196850"/>
                  </a:lnTo>
                  <a:lnTo>
                    <a:pt x="229285" y="184150"/>
                  </a:lnTo>
                  <a:lnTo>
                    <a:pt x="322160" y="184150"/>
                  </a:lnTo>
                  <a:lnTo>
                    <a:pt x="322160" y="170180"/>
                  </a:lnTo>
                  <a:lnTo>
                    <a:pt x="229285" y="170180"/>
                  </a:lnTo>
                  <a:lnTo>
                    <a:pt x="229285" y="157480"/>
                  </a:lnTo>
                  <a:lnTo>
                    <a:pt x="322160" y="157480"/>
                  </a:lnTo>
                  <a:lnTo>
                    <a:pt x="322160" y="143510"/>
                  </a:lnTo>
                  <a:lnTo>
                    <a:pt x="229285" y="143510"/>
                  </a:lnTo>
                  <a:lnTo>
                    <a:pt x="229285" y="130810"/>
                  </a:lnTo>
                  <a:lnTo>
                    <a:pt x="322160" y="130810"/>
                  </a:lnTo>
                  <a:lnTo>
                    <a:pt x="322160" y="77470"/>
                  </a:lnTo>
                  <a:lnTo>
                    <a:pt x="295452" y="77470"/>
                  </a:lnTo>
                  <a:lnTo>
                    <a:pt x="295452" y="62230"/>
                  </a:lnTo>
                  <a:close/>
                </a:path>
                <a:path w="428625" h="361950">
                  <a:moveTo>
                    <a:pt x="428383" y="217170"/>
                  </a:moveTo>
                  <a:lnTo>
                    <a:pt x="331152" y="217170"/>
                  </a:lnTo>
                  <a:lnTo>
                    <a:pt x="331152" y="342900"/>
                  </a:lnTo>
                  <a:lnTo>
                    <a:pt x="428383" y="342900"/>
                  </a:lnTo>
                  <a:lnTo>
                    <a:pt x="428383" y="313690"/>
                  </a:lnTo>
                  <a:lnTo>
                    <a:pt x="345084" y="313690"/>
                  </a:lnTo>
                  <a:lnTo>
                    <a:pt x="345084" y="298450"/>
                  </a:lnTo>
                  <a:lnTo>
                    <a:pt x="428383" y="298450"/>
                  </a:lnTo>
                  <a:lnTo>
                    <a:pt x="428383" y="285750"/>
                  </a:lnTo>
                  <a:lnTo>
                    <a:pt x="345084" y="285750"/>
                  </a:lnTo>
                  <a:lnTo>
                    <a:pt x="345084" y="269240"/>
                  </a:lnTo>
                  <a:lnTo>
                    <a:pt x="428383" y="269240"/>
                  </a:lnTo>
                  <a:lnTo>
                    <a:pt x="428383" y="256540"/>
                  </a:lnTo>
                  <a:lnTo>
                    <a:pt x="345084" y="256540"/>
                  </a:lnTo>
                  <a:lnTo>
                    <a:pt x="345084" y="241300"/>
                  </a:lnTo>
                  <a:lnTo>
                    <a:pt x="428383" y="241300"/>
                  </a:lnTo>
                  <a:lnTo>
                    <a:pt x="428383" y="217170"/>
                  </a:lnTo>
                  <a:close/>
                </a:path>
                <a:path w="428625" h="361950">
                  <a:moveTo>
                    <a:pt x="50215" y="314960"/>
                  </a:moveTo>
                  <a:lnTo>
                    <a:pt x="37147" y="314960"/>
                  </a:lnTo>
                  <a:lnTo>
                    <a:pt x="37147" y="326390"/>
                  </a:lnTo>
                  <a:lnTo>
                    <a:pt x="50215" y="326390"/>
                  </a:lnTo>
                  <a:lnTo>
                    <a:pt x="50215" y="314960"/>
                  </a:lnTo>
                  <a:close/>
                </a:path>
                <a:path w="428625" h="361950">
                  <a:moveTo>
                    <a:pt x="86779" y="314960"/>
                  </a:moveTo>
                  <a:lnTo>
                    <a:pt x="76339" y="314960"/>
                  </a:lnTo>
                  <a:lnTo>
                    <a:pt x="76339" y="326390"/>
                  </a:lnTo>
                  <a:lnTo>
                    <a:pt x="86779" y="326390"/>
                  </a:lnTo>
                  <a:lnTo>
                    <a:pt x="86779" y="314960"/>
                  </a:lnTo>
                  <a:close/>
                </a:path>
                <a:path w="428625" h="361950">
                  <a:moveTo>
                    <a:pt x="371779" y="298450"/>
                  </a:moveTo>
                  <a:lnTo>
                    <a:pt x="358724" y="298450"/>
                  </a:lnTo>
                  <a:lnTo>
                    <a:pt x="358724" y="313690"/>
                  </a:lnTo>
                  <a:lnTo>
                    <a:pt x="371779" y="313690"/>
                  </a:lnTo>
                  <a:lnTo>
                    <a:pt x="371779" y="298450"/>
                  </a:lnTo>
                  <a:close/>
                </a:path>
                <a:path w="428625" h="361950">
                  <a:moveTo>
                    <a:pt x="399364" y="298450"/>
                  </a:moveTo>
                  <a:lnTo>
                    <a:pt x="386295" y="298450"/>
                  </a:lnTo>
                  <a:lnTo>
                    <a:pt x="386295" y="313690"/>
                  </a:lnTo>
                  <a:lnTo>
                    <a:pt x="399364" y="313690"/>
                  </a:lnTo>
                  <a:lnTo>
                    <a:pt x="399364" y="298450"/>
                  </a:lnTo>
                  <a:close/>
                </a:path>
                <a:path w="428625" h="361950">
                  <a:moveTo>
                    <a:pt x="428383" y="298450"/>
                  </a:moveTo>
                  <a:lnTo>
                    <a:pt x="413004" y="298450"/>
                  </a:lnTo>
                  <a:lnTo>
                    <a:pt x="413004" y="313690"/>
                  </a:lnTo>
                  <a:lnTo>
                    <a:pt x="428383" y="313690"/>
                  </a:lnTo>
                  <a:lnTo>
                    <a:pt x="428383" y="298450"/>
                  </a:lnTo>
                  <a:close/>
                </a:path>
                <a:path w="428625" h="361950">
                  <a:moveTo>
                    <a:pt x="141922" y="288290"/>
                  </a:moveTo>
                  <a:lnTo>
                    <a:pt x="129451" y="288290"/>
                  </a:lnTo>
                  <a:lnTo>
                    <a:pt x="129451" y="307340"/>
                  </a:lnTo>
                  <a:lnTo>
                    <a:pt x="141922" y="307340"/>
                  </a:lnTo>
                  <a:lnTo>
                    <a:pt x="141922" y="288290"/>
                  </a:lnTo>
                  <a:close/>
                </a:path>
                <a:path w="428625" h="361950">
                  <a:moveTo>
                    <a:pt x="170078" y="288290"/>
                  </a:moveTo>
                  <a:lnTo>
                    <a:pt x="158470" y="288290"/>
                  </a:lnTo>
                  <a:lnTo>
                    <a:pt x="158470" y="307340"/>
                  </a:lnTo>
                  <a:lnTo>
                    <a:pt x="170078" y="307340"/>
                  </a:lnTo>
                  <a:lnTo>
                    <a:pt x="170078" y="288290"/>
                  </a:lnTo>
                  <a:close/>
                </a:path>
                <a:path w="428625" h="361950">
                  <a:moveTo>
                    <a:pt x="203746" y="288290"/>
                  </a:moveTo>
                  <a:lnTo>
                    <a:pt x="186626" y="288290"/>
                  </a:lnTo>
                  <a:lnTo>
                    <a:pt x="186626" y="307340"/>
                  </a:lnTo>
                  <a:lnTo>
                    <a:pt x="203746" y="307340"/>
                  </a:lnTo>
                  <a:lnTo>
                    <a:pt x="203746" y="288290"/>
                  </a:lnTo>
                  <a:close/>
                </a:path>
                <a:path w="428625" h="361950">
                  <a:moveTo>
                    <a:pt x="50215" y="292100"/>
                  </a:moveTo>
                  <a:lnTo>
                    <a:pt x="37147" y="292100"/>
                  </a:lnTo>
                  <a:lnTo>
                    <a:pt x="37147" y="303530"/>
                  </a:lnTo>
                  <a:lnTo>
                    <a:pt x="50215" y="303530"/>
                  </a:lnTo>
                  <a:lnTo>
                    <a:pt x="50215" y="292100"/>
                  </a:lnTo>
                  <a:close/>
                </a:path>
                <a:path w="428625" h="361950">
                  <a:moveTo>
                    <a:pt x="86779" y="292100"/>
                  </a:moveTo>
                  <a:lnTo>
                    <a:pt x="76339" y="292100"/>
                  </a:lnTo>
                  <a:lnTo>
                    <a:pt x="76339" y="303530"/>
                  </a:lnTo>
                  <a:lnTo>
                    <a:pt x="86779" y="303530"/>
                  </a:lnTo>
                  <a:lnTo>
                    <a:pt x="86779" y="292100"/>
                  </a:lnTo>
                  <a:close/>
                </a:path>
                <a:path w="428625" h="361950">
                  <a:moveTo>
                    <a:pt x="371779" y="269240"/>
                  </a:moveTo>
                  <a:lnTo>
                    <a:pt x="358724" y="269240"/>
                  </a:lnTo>
                  <a:lnTo>
                    <a:pt x="358724" y="285750"/>
                  </a:lnTo>
                  <a:lnTo>
                    <a:pt x="371779" y="285750"/>
                  </a:lnTo>
                  <a:lnTo>
                    <a:pt x="371779" y="269240"/>
                  </a:lnTo>
                  <a:close/>
                </a:path>
                <a:path w="428625" h="361950">
                  <a:moveTo>
                    <a:pt x="399364" y="269240"/>
                  </a:moveTo>
                  <a:lnTo>
                    <a:pt x="386295" y="269240"/>
                  </a:lnTo>
                  <a:lnTo>
                    <a:pt x="386295" y="285750"/>
                  </a:lnTo>
                  <a:lnTo>
                    <a:pt x="399364" y="285750"/>
                  </a:lnTo>
                  <a:lnTo>
                    <a:pt x="399364" y="269240"/>
                  </a:lnTo>
                  <a:close/>
                </a:path>
                <a:path w="428625" h="361950">
                  <a:moveTo>
                    <a:pt x="428383" y="269240"/>
                  </a:moveTo>
                  <a:lnTo>
                    <a:pt x="413004" y="269240"/>
                  </a:lnTo>
                  <a:lnTo>
                    <a:pt x="413004" y="285750"/>
                  </a:lnTo>
                  <a:lnTo>
                    <a:pt x="428383" y="285750"/>
                  </a:lnTo>
                  <a:lnTo>
                    <a:pt x="428383" y="269240"/>
                  </a:lnTo>
                  <a:close/>
                </a:path>
                <a:path w="428625" h="361950">
                  <a:moveTo>
                    <a:pt x="50215" y="269240"/>
                  </a:moveTo>
                  <a:lnTo>
                    <a:pt x="37147" y="269240"/>
                  </a:lnTo>
                  <a:lnTo>
                    <a:pt x="37147" y="280670"/>
                  </a:lnTo>
                  <a:lnTo>
                    <a:pt x="50215" y="280670"/>
                  </a:lnTo>
                  <a:lnTo>
                    <a:pt x="50215" y="269240"/>
                  </a:lnTo>
                  <a:close/>
                </a:path>
                <a:path w="428625" h="361950">
                  <a:moveTo>
                    <a:pt x="86779" y="269240"/>
                  </a:moveTo>
                  <a:lnTo>
                    <a:pt x="76339" y="269240"/>
                  </a:lnTo>
                  <a:lnTo>
                    <a:pt x="76339" y="280670"/>
                  </a:lnTo>
                  <a:lnTo>
                    <a:pt x="86779" y="280670"/>
                  </a:lnTo>
                  <a:lnTo>
                    <a:pt x="86779" y="269240"/>
                  </a:lnTo>
                  <a:close/>
                </a:path>
                <a:path w="428625" h="361950">
                  <a:moveTo>
                    <a:pt x="257429" y="264160"/>
                  </a:moveTo>
                  <a:lnTo>
                    <a:pt x="249313" y="264160"/>
                  </a:lnTo>
                  <a:lnTo>
                    <a:pt x="249313" y="276860"/>
                  </a:lnTo>
                  <a:lnTo>
                    <a:pt x="257429" y="276860"/>
                  </a:lnTo>
                  <a:lnTo>
                    <a:pt x="257429" y="264160"/>
                  </a:lnTo>
                  <a:close/>
                </a:path>
                <a:path w="428625" h="361950">
                  <a:moveTo>
                    <a:pt x="285000" y="264160"/>
                  </a:moveTo>
                  <a:lnTo>
                    <a:pt x="277456" y="264160"/>
                  </a:lnTo>
                  <a:lnTo>
                    <a:pt x="277456" y="276860"/>
                  </a:lnTo>
                  <a:lnTo>
                    <a:pt x="285000" y="276860"/>
                  </a:lnTo>
                  <a:lnTo>
                    <a:pt x="285000" y="264160"/>
                  </a:lnTo>
                  <a:close/>
                </a:path>
                <a:path w="428625" h="361950">
                  <a:moveTo>
                    <a:pt x="322160" y="264160"/>
                  </a:moveTo>
                  <a:lnTo>
                    <a:pt x="305612" y="264160"/>
                  </a:lnTo>
                  <a:lnTo>
                    <a:pt x="305612" y="276860"/>
                  </a:lnTo>
                  <a:lnTo>
                    <a:pt x="322160" y="276860"/>
                  </a:lnTo>
                  <a:lnTo>
                    <a:pt x="322160" y="264160"/>
                  </a:lnTo>
                  <a:close/>
                </a:path>
                <a:path w="428625" h="361950">
                  <a:moveTo>
                    <a:pt x="141922" y="255270"/>
                  </a:moveTo>
                  <a:lnTo>
                    <a:pt x="129451" y="255270"/>
                  </a:lnTo>
                  <a:lnTo>
                    <a:pt x="129451" y="274320"/>
                  </a:lnTo>
                  <a:lnTo>
                    <a:pt x="141922" y="274320"/>
                  </a:lnTo>
                  <a:lnTo>
                    <a:pt x="141922" y="255270"/>
                  </a:lnTo>
                  <a:close/>
                </a:path>
                <a:path w="428625" h="361950">
                  <a:moveTo>
                    <a:pt x="170078" y="255270"/>
                  </a:moveTo>
                  <a:lnTo>
                    <a:pt x="158470" y="255270"/>
                  </a:lnTo>
                  <a:lnTo>
                    <a:pt x="158470" y="274320"/>
                  </a:lnTo>
                  <a:lnTo>
                    <a:pt x="170078" y="274320"/>
                  </a:lnTo>
                  <a:lnTo>
                    <a:pt x="170078" y="255270"/>
                  </a:lnTo>
                  <a:close/>
                </a:path>
                <a:path w="428625" h="361950">
                  <a:moveTo>
                    <a:pt x="203746" y="255270"/>
                  </a:moveTo>
                  <a:lnTo>
                    <a:pt x="186626" y="255270"/>
                  </a:lnTo>
                  <a:lnTo>
                    <a:pt x="186626" y="274320"/>
                  </a:lnTo>
                  <a:lnTo>
                    <a:pt x="203746" y="274320"/>
                  </a:lnTo>
                  <a:lnTo>
                    <a:pt x="203746" y="255270"/>
                  </a:lnTo>
                  <a:close/>
                </a:path>
                <a:path w="428625" h="361950">
                  <a:moveTo>
                    <a:pt x="50215" y="245110"/>
                  </a:moveTo>
                  <a:lnTo>
                    <a:pt x="37147" y="245110"/>
                  </a:lnTo>
                  <a:lnTo>
                    <a:pt x="37147" y="257810"/>
                  </a:lnTo>
                  <a:lnTo>
                    <a:pt x="50215" y="257810"/>
                  </a:lnTo>
                  <a:lnTo>
                    <a:pt x="50215" y="245110"/>
                  </a:lnTo>
                  <a:close/>
                </a:path>
                <a:path w="428625" h="361950">
                  <a:moveTo>
                    <a:pt x="86779" y="245110"/>
                  </a:moveTo>
                  <a:lnTo>
                    <a:pt x="76339" y="245110"/>
                  </a:lnTo>
                  <a:lnTo>
                    <a:pt x="76339" y="257810"/>
                  </a:lnTo>
                  <a:lnTo>
                    <a:pt x="86779" y="257810"/>
                  </a:lnTo>
                  <a:lnTo>
                    <a:pt x="86779" y="245110"/>
                  </a:lnTo>
                  <a:close/>
                </a:path>
                <a:path w="428625" h="361950">
                  <a:moveTo>
                    <a:pt x="371779" y="241300"/>
                  </a:moveTo>
                  <a:lnTo>
                    <a:pt x="358724" y="241300"/>
                  </a:lnTo>
                  <a:lnTo>
                    <a:pt x="358724" y="256540"/>
                  </a:lnTo>
                  <a:lnTo>
                    <a:pt x="371779" y="256540"/>
                  </a:lnTo>
                  <a:lnTo>
                    <a:pt x="371779" y="241300"/>
                  </a:lnTo>
                  <a:close/>
                </a:path>
                <a:path w="428625" h="361950">
                  <a:moveTo>
                    <a:pt x="399364" y="241300"/>
                  </a:moveTo>
                  <a:lnTo>
                    <a:pt x="386295" y="241300"/>
                  </a:lnTo>
                  <a:lnTo>
                    <a:pt x="386295" y="256540"/>
                  </a:lnTo>
                  <a:lnTo>
                    <a:pt x="399364" y="256540"/>
                  </a:lnTo>
                  <a:lnTo>
                    <a:pt x="399364" y="241300"/>
                  </a:lnTo>
                  <a:close/>
                </a:path>
                <a:path w="428625" h="361950">
                  <a:moveTo>
                    <a:pt x="428383" y="241300"/>
                  </a:moveTo>
                  <a:lnTo>
                    <a:pt x="413004" y="241300"/>
                  </a:lnTo>
                  <a:lnTo>
                    <a:pt x="413004" y="256540"/>
                  </a:lnTo>
                  <a:lnTo>
                    <a:pt x="428383" y="256540"/>
                  </a:lnTo>
                  <a:lnTo>
                    <a:pt x="428383" y="241300"/>
                  </a:lnTo>
                  <a:close/>
                </a:path>
                <a:path w="428625" h="361950">
                  <a:moveTo>
                    <a:pt x="257429" y="237490"/>
                  </a:moveTo>
                  <a:lnTo>
                    <a:pt x="249313" y="237490"/>
                  </a:lnTo>
                  <a:lnTo>
                    <a:pt x="249313" y="250190"/>
                  </a:lnTo>
                  <a:lnTo>
                    <a:pt x="257429" y="250190"/>
                  </a:lnTo>
                  <a:lnTo>
                    <a:pt x="257429" y="237490"/>
                  </a:lnTo>
                  <a:close/>
                </a:path>
                <a:path w="428625" h="361950">
                  <a:moveTo>
                    <a:pt x="285000" y="237490"/>
                  </a:moveTo>
                  <a:lnTo>
                    <a:pt x="277456" y="237490"/>
                  </a:lnTo>
                  <a:lnTo>
                    <a:pt x="277456" y="250190"/>
                  </a:lnTo>
                  <a:lnTo>
                    <a:pt x="285000" y="250190"/>
                  </a:lnTo>
                  <a:lnTo>
                    <a:pt x="285000" y="237490"/>
                  </a:lnTo>
                  <a:close/>
                </a:path>
                <a:path w="428625" h="361950">
                  <a:moveTo>
                    <a:pt x="322160" y="237490"/>
                  </a:moveTo>
                  <a:lnTo>
                    <a:pt x="305612" y="237490"/>
                  </a:lnTo>
                  <a:lnTo>
                    <a:pt x="305612" y="250190"/>
                  </a:lnTo>
                  <a:lnTo>
                    <a:pt x="322160" y="250190"/>
                  </a:lnTo>
                  <a:lnTo>
                    <a:pt x="322160" y="237490"/>
                  </a:lnTo>
                  <a:close/>
                </a:path>
                <a:path w="428625" h="361950">
                  <a:moveTo>
                    <a:pt x="141922" y="222250"/>
                  </a:moveTo>
                  <a:lnTo>
                    <a:pt x="129451" y="222250"/>
                  </a:lnTo>
                  <a:lnTo>
                    <a:pt x="129451" y="241300"/>
                  </a:lnTo>
                  <a:lnTo>
                    <a:pt x="141922" y="241300"/>
                  </a:lnTo>
                  <a:lnTo>
                    <a:pt x="141922" y="222250"/>
                  </a:lnTo>
                  <a:close/>
                </a:path>
                <a:path w="428625" h="361950">
                  <a:moveTo>
                    <a:pt x="170078" y="222250"/>
                  </a:moveTo>
                  <a:lnTo>
                    <a:pt x="158470" y="222250"/>
                  </a:lnTo>
                  <a:lnTo>
                    <a:pt x="158470" y="241300"/>
                  </a:lnTo>
                  <a:lnTo>
                    <a:pt x="170078" y="241300"/>
                  </a:lnTo>
                  <a:lnTo>
                    <a:pt x="170078" y="222250"/>
                  </a:lnTo>
                  <a:close/>
                </a:path>
                <a:path w="428625" h="361950">
                  <a:moveTo>
                    <a:pt x="203746" y="222250"/>
                  </a:moveTo>
                  <a:lnTo>
                    <a:pt x="186626" y="222250"/>
                  </a:lnTo>
                  <a:lnTo>
                    <a:pt x="186626" y="241300"/>
                  </a:lnTo>
                  <a:lnTo>
                    <a:pt x="203746" y="241300"/>
                  </a:lnTo>
                  <a:lnTo>
                    <a:pt x="203746" y="222250"/>
                  </a:lnTo>
                  <a:close/>
                </a:path>
                <a:path w="428625" h="361950">
                  <a:moveTo>
                    <a:pt x="257429" y="210820"/>
                  </a:moveTo>
                  <a:lnTo>
                    <a:pt x="249313" y="210820"/>
                  </a:lnTo>
                  <a:lnTo>
                    <a:pt x="249313" y="223520"/>
                  </a:lnTo>
                  <a:lnTo>
                    <a:pt x="257429" y="223520"/>
                  </a:lnTo>
                  <a:lnTo>
                    <a:pt x="257429" y="210820"/>
                  </a:lnTo>
                  <a:close/>
                </a:path>
                <a:path w="428625" h="361950">
                  <a:moveTo>
                    <a:pt x="285000" y="210820"/>
                  </a:moveTo>
                  <a:lnTo>
                    <a:pt x="277456" y="210820"/>
                  </a:lnTo>
                  <a:lnTo>
                    <a:pt x="277456" y="223520"/>
                  </a:lnTo>
                  <a:lnTo>
                    <a:pt x="285000" y="223520"/>
                  </a:lnTo>
                  <a:lnTo>
                    <a:pt x="285000" y="210820"/>
                  </a:lnTo>
                  <a:close/>
                </a:path>
                <a:path w="428625" h="361950">
                  <a:moveTo>
                    <a:pt x="322160" y="210820"/>
                  </a:moveTo>
                  <a:lnTo>
                    <a:pt x="305612" y="210820"/>
                  </a:lnTo>
                  <a:lnTo>
                    <a:pt x="305612" y="223520"/>
                  </a:lnTo>
                  <a:lnTo>
                    <a:pt x="322160" y="223520"/>
                  </a:lnTo>
                  <a:lnTo>
                    <a:pt x="322160" y="210820"/>
                  </a:lnTo>
                  <a:close/>
                </a:path>
                <a:path w="428625" h="361950">
                  <a:moveTo>
                    <a:pt x="408355" y="201930"/>
                  </a:moveTo>
                  <a:lnTo>
                    <a:pt x="363664" y="201930"/>
                  </a:lnTo>
                  <a:lnTo>
                    <a:pt x="363664" y="217170"/>
                  </a:lnTo>
                  <a:lnTo>
                    <a:pt x="408355" y="217170"/>
                  </a:lnTo>
                  <a:lnTo>
                    <a:pt x="408355" y="201930"/>
                  </a:lnTo>
                  <a:close/>
                </a:path>
                <a:path w="428625" h="361950">
                  <a:moveTo>
                    <a:pt x="141922" y="189230"/>
                  </a:moveTo>
                  <a:lnTo>
                    <a:pt x="129451" y="189230"/>
                  </a:lnTo>
                  <a:lnTo>
                    <a:pt x="129451" y="207010"/>
                  </a:lnTo>
                  <a:lnTo>
                    <a:pt x="141922" y="207010"/>
                  </a:lnTo>
                  <a:lnTo>
                    <a:pt x="141922" y="189230"/>
                  </a:lnTo>
                  <a:close/>
                </a:path>
                <a:path w="428625" h="361950">
                  <a:moveTo>
                    <a:pt x="170078" y="189230"/>
                  </a:moveTo>
                  <a:lnTo>
                    <a:pt x="158470" y="189230"/>
                  </a:lnTo>
                  <a:lnTo>
                    <a:pt x="158470" y="207010"/>
                  </a:lnTo>
                  <a:lnTo>
                    <a:pt x="170078" y="207010"/>
                  </a:lnTo>
                  <a:lnTo>
                    <a:pt x="170078" y="189230"/>
                  </a:lnTo>
                  <a:close/>
                </a:path>
                <a:path w="428625" h="361950">
                  <a:moveTo>
                    <a:pt x="203746" y="189230"/>
                  </a:moveTo>
                  <a:lnTo>
                    <a:pt x="186626" y="189230"/>
                  </a:lnTo>
                  <a:lnTo>
                    <a:pt x="186626" y="207010"/>
                  </a:lnTo>
                  <a:lnTo>
                    <a:pt x="203746" y="207010"/>
                  </a:lnTo>
                  <a:lnTo>
                    <a:pt x="203746" y="189230"/>
                  </a:lnTo>
                  <a:close/>
                </a:path>
                <a:path w="428625" h="361950">
                  <a:moveTo>
                    <a:pt x="257429" y="184150"/>
                  </a:moveTo>
                  <a:lnTo>
                    <a:pt x="249313" y="184150"/>
                  </a:lnTo>
                  <a:lnTo>
                    <a:pt x="249313" y="196850"/>
                  </a:lnTo>
                  <a:lnTo>
                    <a:pt x="257429" y="196850"/>
                  </a:lnTo>
                  <a:lnTo>
                    <a:pt x="257429" y="184150"/>
                  </a:lnTo>
                  <a:close/>
                </a:path>
                <a:path w="428625" h="361950">
                  <a:moveTo>
                    <a:pt x="285000" y="184150"/>
                  </a:moveTo>
                  <a:lnTo>
                    <a:pt x="277456" y="184150"/>
                  </a:lnTo>
                  <a:lnTo>
                    <a:pt x="277456" y="196850"/>
                  </a:lnTo>
                  <a:lnTo>
                    <a:pt x="285000" y="196850"/>
                  </a:lnTo>
                  <a:lnTo>
                    <a:pt x="285000" y="184150"/>
                  </a:lnTo>
                  <a:close/>
                </a:path>
                <a:path w="428625" h="361950">
                  <a:moveTo>
                    <a:pt x="322160" y="184150"/>
                  </a:moveTo>
                  <a:lnTo>
                    <a:pt x="305612" y="184150"/>
                  </a:lnTo>
                  <a:lnTo>
                    <a:pt x="305612" y="196850"/>
                  </a:lnTo>
                  <a:lnTo>
                    <a:pt x="322160" y="196850"/>
                  </a:lnTo>
                  <a:lnTo>
                    <a:pt x="322160" y="184150"/>
                  </a:lnTo>
                  <a:close/>
                </a:path>
                <a:path w="428625" h="361950">
                  <a:moveTo>
                    <a:pt x="257429" y="157480"/>
                  </a:moveTo>
                  <a:lnTo>
                    <a:pt x="249313" y="157480"/>
                  </a:lnTo>
                  <a:lnTo>
                    <a:pt x="249313" y="170180"/>
                  </a:lnTo>
                  <a:lnTo>
                    <a:pt x="257429" y="170180"/>
                  </a:lnTo>
                  <a:lnTo>
                    <a:pt x="257429" y="157480"/>
                  </a:lnTo>
                  <a:close/>
                </a:path>
                <a:path w="428625" h="361950">
                  <a:moveTo>
                    <a:pt x="285000" y="157480"/>
                  </a:moveTo>
                  <a:lnTo>
                    <a:pt x="277456" y="157480"/>
                  </a:lnTo>
                  <a:lnTo>
                    <a:pt x="277456" y="170180"/>
                  </a:lnTo>
                  <a:lnTo>
                    <a:pt x="285000" y="170180"/>
                  </a:lnTo>
                  <a:lnTo>
                    <a:pt x="285000" y="157480"/>
                  </a:lnTo>
                  <a:close/>
                </a:path>
                <a:path w="428625" h="361950">
                  <a:moveTo>
                    <a:pt x="322160" y="157480"/>
                  </a:moveTo>
                  <a:lnTo>
                    <a:pt x="305612" y="157480"/>
                  </a:lnTo>
                  <a:lnTo>
                    <a:pt x="305612" y="170180"/>
                  </a:lnTo>
                  <a:lnTo>
                    <a:pt x="322160" y="170180"/>
                  </a:lnTo>
                  <a:lnTo>
                    <a:pt x="322160" y="157480"/>
                  </a:lnTo>
                  <a:close/>
                </a:path>
                <a:path w="428625" h="361950">
                  <a:moveTo>
                    <a:pt x="163982" y="144780"/>
                  </a:moveTo>
                  <a:lnTo>
                    <a:pt x="111455" y="144780"/>
                  </a:lnTo>
                  <a:lnTo>
                    <a:pt x="111455" y="161290"/>
                  </a:lnTo>
                  <a:lnTo>
                    <a:pt x="163982" y="161290"/>
                  </a:lnTo>
                  <a:lnTo>
                    <a:pt x="163982" y="144780"/>
                  </a:lnTo>
                  <a:close/>
                </a:path>
                <a:path w="428625" h="361950">
                  <a:moveTo>
                    <a:pt x="257429" y="130810"/>
                  </a:moveTo>
                  <a:lnTo>
                    <a:pt x="249313" y="130810"/>
                  </a:lnTo>
                  <a:lnTo>
                    <a:pt x="249313" y="143510"/>
                  </a:lnTo>
                  <a:lnTo>
                    <a:pt x="257429" y="143510"/>
                  </a:lnTo>
                  <a:lnTo>
                    <a:pt x="257429" y="130810"/>
                  </a:lnTo>
                  <a:close/>
                </a:path>
                <a:path w="428625" h="361950">
                  <a:moveTo>
                    <a:pt x="285000" y="130810"/>
                  </a:moveTo>
                  <a:lnTo>
                    <a:pt x="277456" y="130810"/>
                  </a:lnTo>
                  <a:lnTo>
                    <a:pt x="277456" y="143510"/>
                  </a:lnTo>
                  <a:lnTo>
                    <a:pt x="285000" y="143510"/>
                  </a:lnTo>
                  <a:lnTo>
                    <a:pt x="285000" y="130810"/>
                  </a:lnTo>
                  <a:close/>
                </a:path>
                <a:path w="428625" h="361950">
                  <a:moveTo>
                    <a:pt x="322160" y="130810"/>
                  </a:moveTo>
                  <a:lnTo>
                    <a:pt x="305612" y="130810"/>
                  </a:lnTo>
                  <a:lnTo>
                    <a:pt x="305612" y="143510"/>
                  </a:lnTo>
                  <a:lnTo>
                    <a:pt x="322160" y="143510"/>
                  </a:lnTo>
                  <a:lnTo>
                    <a:pt x="322160" y="130810"/>
                  </a:lnTo>
                  <a:close/>
                </a:path>
                <a:path w="428625" h="361950">
                  <a:moveTo>
                    <a:pt x="322160" y="64770"/>
                  </a:moveTo>
                  <a:lnTo>
                    <a:pt x="295452" y="77470"/>
                  </a:lnTo>
                  <a:lnTo>
                    <a:pt x="322160" y="77470"/>
                  </a:lnTo>
                  <a:lnTo>
                    <a:pt x="322160" y="64770"/>
                  </a:lnTo>
                  <a:close/>
                </a:path>
                <a:path w="428625" h="361950">
                  <a:moveTo>
                    <a:pt x="280949" y="0"/>
                  </a:moveTo>
                  <a:lnTo>
                    <a:pt x="276885" y="0"/>
                  </a:lnTo>
                  <a:lnTo>
                    <a:pt x="276885" y="62230"/>
                  </a:lnTo>
                  <a:lnTo>
                    <a:pt x="280949" y="62230"/>
                  </a:lnTo>
                  <a:lnTo>
                    <a:pt x="280949" y="0"/>
                  </a:lnTo>
                  <a:close/>
                </a:path>
              </a:pathLst>
            </a:custGeom>
            <a:solidFill>
              <a:srgbClr val="DDFEFF"/>
            </a:solidFill>
          </p:spPr>
          <p:txBody>
            <a:bodyPr wrap="square" lIns="0" tIns="0" rIns="0" bIns="0" rtlCol="0"/>
            <a:lstStyle/>
            <a:p/>
          </p:txBody>
        </p:sp>
        <p:sp>
          <p:nvSpPr>
            <p:cNvPr id="84" name="object 84" descr=""/>
            <p:cNvSpPr/>
            <p:nvPr/>
          </p:nvSpPr>
          <p:spPr>
            <a:xfrm>
              <a:off x="577328" y="1519854"/>
              <a:ext cx="428625" cy="363220"/>
            </a:xfrm>
            <a:custGeom>
              <a:avLst/>
              <a:gdLst/>
              <a:ahLst/>
              <a:cxnLst/>
              <a:rect l="l" t="t" r="r" b="b"/>
              <a:pathLst>
                <a:path w="428625" h="363219">
                  <a:moveTo>
                    <a:pt x="408355" y="218274"/>
                  </a:moveTo>
                  <a:lnTo>
                    <a:pt x="408355" y="202755"/>
                  </a:lnTo>
                  <a:lnTo>
                    <a:pt x="363664" y="202755"/>
                  </a:lnTo>
                  <a:lnTo>
                    <a:pt x="363664" y="218274"/>
                  </a:lnTo>
                  <a:lnTo>
                    <a:pt x="331152" y="218274"/>
                  </a:lnTo>
                  <a:lnTo>
                    <a:pt x="331152" y="342938"/>
                  </a:lnTo>
                  <a:lnTo>
                    <a:pt x="322160" y="342938"/>
                  </a:lnTo>
                  <a:lnTo>
                    <a:pt x="322160" y="64833"/>
                  </a:lnTo>
                  <a:lnTo>
                    <a:pt x="295452" y="78600"/>
                  </a:lnTo>
                  <a:lnTo>
                    <a:pt x="295452" y="62572"/>
                  </a:lnTo>
                  <a:lnTo>
                    <a:pt x="280949" y="62572"/>
                  </a:lnTo>
                  <a:lnTo>
                    <a:pt x="280949" y="0"/>
                  </a:lnTo>
                  <a:lnTo>
                    <a:pt x="276885" y="0"/>
                  </a:lnTo>
                  <a:lnTo>
                    <a:pt x="276885" y="62572"/>
                  </a:lnTo>
                  <a:lnTo>
                    <a:pt x="238277" y="62572"/>
                  </a:lnTo>
                  <a:lnTo>
                    <a:pt x="238277" y="106375"/>
                  </a:lnTo>
                  <a:lnTo>
                    <a:pt x="212166" y="119646"/>
                  </a:lnTo>
                  <a:lnTo>
                    <a:pt x="212166" y="342938"/>
                  </a:lnTo>
                  <a:lnTo>
                    <a:pt x="203746" y="342938"/>
                  </a:lnTo>
                  <a:lnTo>
                    <a:pt x="203746" y="161696"/>
                  </a:lnTo>
                  <a:lnTo>
                    <a:pt x="163982" y="161696"/>
                  </a:lnTo>
                  <a:lnTo>
                    <a:pt x="163982" y="145186"/>
                  </a:lnTo>
                  <a:lnTo>
                    <a:pt x="111455" y="145186"/>
                  </a:lnTo>
                  <a:lnTo>
                    <a:pt x="111455" y="161696"/>
                  </a:lnTo>
                  <a:lnTo>
                    <a:pt x="97231" y="161696"/>
                  </a:lnTo>
                  <a:lnTo>
                    <a:pt x="97231" y="342938"/>
                  </a:lnTo>
                  <a:lnTo>
                    <a:pt x="86779" y="342938"/>
                  </a:lnTo>
                  <a:lnTo>
                    <a:pt x="86779" y="228790"/>
                  </a:lnTo>
                  <a:lnTo>
                    <a:pt x="0" y="228790"/>
                  </a:lnTo>
                  <a:lnTo>
                    <a:pt x="0" y="363207"/>
                  </a:lnTo>
                  <a:lnTo>
                    <a:pt x="428383" y="363207"/>
                  </a:lnTo>
                  <a:lnTo>
                    <a:pt x="428383" y="218274"/>
                  </a:lnTo>
                  <a:lnTo>
                    <a:pt x="408355" y="218274"/>
                  </a:lnTo>
                  <a:close/>
                </a:path>
                <a:path w="428625" h="363219">
                  <a:moveTo>
                    <a:pt x="37147" y="327418"/>
                  </a:moveTo>
                  <a:lnTo>
                    <a:pt x="11023" y="327418"/>
                  </a:lnTo>
                  <a:lnTo>
                    <a:pt x="11023" y="316153"/>
                  </a:lnTo>
                  <a:lnTo>
                    <a:pt x="37147" y="316153"/>
                  </a:lnTo>
                  <a:lnTo>
                    <a:pt x="37147" y="327418"/>
                  </a:lnTo>
                  <a:close/>
                </a:path>
                <a:path w="428625" h="363219">
                  <a:moveTo>
                    <a:pt x="37147" y="304380"/>
                  </a:moveTo>
                  <a:lnTo>
                    <a:pt x="11023" y="304380"/>
                  </a:lnTo>
                  <a:lnTo>
                    <a:pt x="11023" y="293116"/>
                  </a:lnTo>
                  <a:lnTo>
                    <a:pt x="37147" y="293116"/>
                  </a:lnTo>
                  <a:lnTo>
                    <a:pt x="37147" y="304380"/>
                  </a:lnTo>
                  <a:close/>
                </a:path>
                <a:path w="428625" h="363219">
                  <a:moveTo>
                    <a:pt x="37147" y="281101"/>
                  </a:moveTo>
                  <a:lnTo>
                    <a:pt x="11023" y="281101"/>
                  </a:lnTo>
                  <a:lnTo>
                    <a:pt x="11023" y="269341"/>
                  </a:lnTo>
                  <a:lnTo>
                    <a:pt x="37147" y="269341"/>
                  </a:lnTo>
                  <a:lnTo>
                    <a:pt x="37147" y="281101"/>
                  </a:lnTo>
                  <a:close/>
                </a:path>
                <a:path w="428625" h="363219">
                  <a:moveTo>
                    <a:pt x="37147" y="258076"/>
                  </a:moveTo>
                  <a:lnTo>
                    <a:pt x="11023" y="258076"/>
                  </a:lnTo>
                  <a:lnTo>
                    <a:pt x="11023" y="246062"/>
                  </a:lnTo>
                  <a:lnTo>
                    <a:pt x="37147" y="246062"/>
                  </a:lnTo>
                  <a:lnTo>
                    <a:pt x="37147" y="258076"/>
                  </a:lnTo>
                  <a:close/>
                </a:path>
                <a:path w="428625" h="363219">
                  <a:moveTo>
                    <a:pt x="76339" y="327418"/>
                  </a:moveTo>
                  <a:lnTo>
                    <a:pt x="50215" y="327418"/>
                  </a:lnTo>
                  <a:lnTo>
                    <a:pt x="50215" y="316153"/>
                  </a:lnTo>
                  <a:lnTo>
                    <a:pt x="76339" y="316153"/>
                  </a:lnTo>
                  <a:lnTo>
                    <a:pt x="76339" y="327418"/>
                  </a:lnTo>
                  <a:close/>
                </a:path>
                <a:path w="428625" h="363219">
                  <a:moveTo>
                    <a:pt x="76339" y="304380"/>
                  </a:moveTo>
                  <a:lnTo>
                    <a:pt x="50215" y="304380"/>
                  </a:lnTo>
                  <a:lnTo>
                    <a:pt x="50215" y="293116"/>
                  </a:lnTo>
                  <a:lnTo>
                    <a:pt x="76339" y="293116"/>
                  </a:lnTo>
                  <a:lnTo>
                    <a:pt x="76339" y="304380"/>
                  </a:lnTo>
                  <a:close/>
                </a:path>
                <a:path w="428625" h="363219">
                  <a:moveTo>
                    <a:pt x="76339" y="281101"/>
                  </a:moveTo>
                  <a:lnTo>
                    <a:pt x="50215" y="281101"/>
                  </a:lnTo>
                  <a:lnTo>
                    <a:pt x="50215" y="269341"/>
                  </a:lnTo>
                  <a:lnTo>
                    <a:pt x="76339" y="269341"/>
                  </a:lnTo>
                  <a:lnTo>
                    <a:pt x="76339" y="281101"/>
                  </a:lnTo>
                  <a:close/>
                </a:path>
                <a:path w="428625" h="363219">
                  <a:moveTo>
                    <a:pt x="76339" y="258076"/>
                  </a:moveTo>
                  <a:lnTo>
                    <a:pt x="50215" y="258076"/>
                  </a:lnTo>
                  <a:lnTo>
                    <a:pt x="50215" y="246062"/>
                  </a:lnTo>
                  <a:lnTo>
                    <a:pt x="76339" y="246062"/>
                  </a:lnTo>
                  <a:lnTo>
                    <a:pt x="76339" y="258076"/>
                  </a:lnTo>
                  <a:close/>
                </a:path>
                <a:path w="428625" h="363219">
                  <a:moveTo>
                    <a:pt x="129451" y="307886"/>
                  </a:moveTo>
                  <a:lnTo>
                    <a:pt x="112903" y="307886"/>
                  </a:lnTo>
                  <a:lnTo>
                    <a:pt x="112903" y="289356"/>
                  </a:lnTo>
                  <a:lnTo>
                    <a:pt x="129451" y="289356"/>
                  </a:lnTo>
                  <a:lnTo>
                    <a:pt x="129451" y="307886"/>
                  </a:lnTo>
                  <a:close/>
                </a:path>
                <a:path w="428625" h="363219">
                  <a:moveTo>
                    <a:pt x="129451" y="274599"/>
                  </a:moveTo>
                  <a:lnTo>
                    <a:pt x="112903" y="274599"/>
                  </a:lnTo>
                  <a:lnTo>
                    <a:pt x="112903" y="256070"/>
                  </a:lnTo>
                  <a:lnTo>
                    <a:pt x="129451" y="256070"/>
                  </a:lnTo>
                  <a:lnTo>
                    <a:pt x="129451" y="274599"/>
                  </a:lnTo>
                  <a:close/>
                </a:path>
                <a:path w="428625" h="363219">
                  <a:moveTo>
                    <a:pt x="129451" y="241300"/>
                  </a:moveTo>
                  <a:lnTo>
                    <a:pt x="112903" y="241300"/>
                  </a:lnTo>
                  <a:lnTo>
                    <a:pt x="112903" y="223024"/>
                  </a:lnTo>
                  <a:lnTo>
                    <a:pt x="129451" y="223024"/>
                  </a:lnTo>
                  <a:lnTo>
                    <a:pt x="129451" y="241300"/>
                  </a:lnTo>
                  <a:close/>
                </a:path>
                <a:path w="428625" h="363219">
                  <a:moveTo>
                    <a:pt x="129451" y="208013"/>
                  </a:moveTo>
                  <a:lnTo>
                    <a:pt x="112903" y="208013"/>
                  </a:lnTo>
                  <a:lnTo>
                    <a:pt x="112903" y="189738"/>
                  </a:lnTo>
                  <a:lnTo>
                    <a:pt x="129451" y="189738"/>
                  </a:lnTo>
                  <a:lnTo>
                    <a:pt x="129451" y="208013"/>
                  </a:lnTo>
                  <a:close/>
                </a:path>
                <a:path w="428625" h="363219">
                  <a:moveTo>
                    <a:pt x="158470" y="307886"/>
                  </a:moveTo>
                  <a:lnTo>
                    <a:pt x="141922" y="307886"/>
                  </a:lnTo>
                  <a:lnTo>
                    <a:pt x="141922" y="289356"/>
                  </a:lnTo>
                  <a:lnTo>
                    <a:pt x="158470" y="289356"/>
                  </a:lnTo>
                  <a:lnTo>
                    <a:pt x="158470" y="307886"/>
                  </a:lnTo>
                  <a:close/>
                </a:path>
                <a:path w="428625" h="363219">
                  <a:moveTo>
                    <a:pt x="158470" y="274599"/>
                  </a:moveTo>
                  <a:lnTo>
                    <a:pt x="141922" y="274599"/>
                  </a:lnTo>
                  <a:lnTo>
                    <a:pt x="141922" y="256070"/>
                  </a:lnTo>
                  <a:lnTo>
                    <a:pt x="158470" y="256070"/>
                  </a:lnTo>
                  <a:lnTo>
                    <a:pt x="158470" y="274599"/>
                  </a:lnTo>
                  <a:close/>
                </a:path>
                <a:path w="428625" h="363219">
                  <a:moveTo>
                    <a:pt x="158470" y="241300"/>
                  </a:moveTo>
                  <a:lnTo>
                    <a:pt x="141922" y="241300"/>
                  </a:lnTo>
                  <a:lnTo>
                    <a:pt x="141922" y="223024"/>
                  </a:lnTo>
                  <a:lnTo>
                    <a:pt x="158470" y="223024"/>
                  </a:lnTo>
                  <a:lnTo>
                    <a:pt x="158470" y="241300"/>
                  </a:lnTo>
                  <a:close/>
                </a:path>
                <a:path w="428625" h="363219">
                  <a:moveTo>
                    <a:pt x="158470" y="208013"/>
                  </a:moveTo>
                  <a:lnTo>
                    <a:pt x="141922" y="208013"/>
                  </a:lnTo>
                  <a:lnTo>
                    <a:pt x="141922" y="189738"/>
                  </a:lnTo>
                  <a:lnTo>
                    <a:pt x="158470" y="189738"/>
                  </a:lnTo>
                  <a:lnTo>
                    <a:pt x="158470" y="208013"/>
                  </a:lnTo>
                  <a:close/>
                </a:path>
                <a:path w="428625" h="363219">
                  <a:moveTo>
                    <a:pt x="186626" y="307886"/>
                  </a:moveTo>
                  <a:lnTo>
                    <a:pt x="170078" y="307886"/>
                  </a:lnTo>
                  <a:lnTo>
                    <a:pt x="170078" y="289356"/>
                  </a:lnTo>
                  <a:lnTo>
                    <a:pt x="186626" y="289356"/>
                  </a:lnTo>
                  <a:lnTo>
                    <a:pt x="186626" y="307886"/>
                  </a:lnTo>
                  <a:close/>
                </a:path>
                <a:path w="428625" h="363219">
                  <a:moveTo>
                    <a:pt x="186626" y="274599"/>
                  </a:moveTo>
                  <a:lnTo>
                    <a:pt x="170078" y="274599"/>
                  </a:lnTo>
                  <a:lnTo>
                    <a:pt x="170078" y="256070"/>
                  </a:lnTo>
                  <a:lnTo>
                    <a:pt x="186626" y="256070"/>
                  </a:lnTo>
                  <a:lnTo>
                    <a:pt x="186626" y="274599"/>
                  </a:lnTo>
                  <a:close/>
                </a:path>
                <a:path w="428625" h="363219">
                  <a:moveTo>
                    <a:pt x="186626" y="241300"/>
                  </a:moveTo>
                  <a:lnTo>
                    <a:pt x="170078" y="241300"/>
                  </a:lnTo>
                  <a:lnTo>
                    <a:pt x="170078" y="223024"/>
                  </a:lnTo>
                  <a:lnTo>
                    <a:pt x="186626" y="223024"/>
                  </a:lnTo>
                  <a:lnTo>
                    <a:pt x="186626" y="241300"/>
                  </a:lnTo>
                  <a:close/>
                </a:path>
                <a:path w="428625" h="363219">
                  <a:moveTo>
                    <a:pt x="186626" y="208013"/>
                  </a:moveTo>
                  <a:lnTo>
                    <a:pt x="170078" y="208013"/>
                  </a:lnTo>
                  <a:lnTo>
                    <a:pt x="170078" y="189738"/>
                  </a:lnTo>
                  <a:lnTo>
                    <a:pt x="186626" y="189738"/>
                  </a:lnTo>
                  <a:lnTo>
                    <a:pt x="186626" y="208013"/>
                  </a:lnTo>
                  <a:close/>
                </a:path>
                <a:path w="428625" h="363219">
                  <a:moveTo>
                    <a:pt x="249313" y="277596"/>
                  </a:moveTo>
                  <a:lnTo>
                    <a:pt x="229285" y="277596"/>
                  </a:lnTo>
                  <a:lnTo>
                    <a:pt x="229285" y="265074"/>
                  </a:lnTo>
                  <a:lnTo>
                    <a:pt x="249313" y="265074"/>
                  </a:lnTo>
                  <a:lnTo>
                    <a:pt x="249313" y="277596"/>
                  </a:lnTo>
                  <a:close/>
                </a:path>
                <a:path w="428625" h="363219">
                  <a:moveTo>
                    <a:pt x="249313" y="250812"/>
                  </a:moveTo>
                  <a:lnTo>
                    <a:pt x="229285" y="250812"/>
                  </a:lnTo>
                  <a:lnTo>
                    <a:pt x="229285" y="238290"/>
                  </a:lnTo>
                  <a:lnTo>
                    <a:pt x="249313" y="238290"/>
                  </a:lnTo>
                  <a:lnTo>
                    <a:pt x="249313" y="250812"/>
                  </a:lnTo>
                  <a:close/>
                </a:path>
                <a:path w="428625" h="363219">
                  <a:moveTo>
                    <a:pt x="249313" y="224028"/>
                  </a:moveTo>
                  <a:lnTo>
                    <a:pt x="229285" y="224028"/>
                  </a:lnTo>
                  <a:lnTo>
                    <a:pt x="229285" y="211505"/>
                  </a:lnTo>
                  <a:lnTo>
                    <a:pt x="249313" y="211505"/>
                  </a:lnTo>
                  <a:lnTo>
                    <a:pt x="249313" y="224028"/>
                  </a:lnTo>
                  <a:close/>
                </a:path>
                <a:path w="428625" h="363219">
                  <a:moveTo>
                    <a:pt x="249313" y="197243"/>
                  </a:moveTo>
                  <a:lnTo>
                    <a:pt x="229285" y="197243"/>
                  </a:lnTo>
                  <a:lnTo>
                    <a:pt x="229285" y="184975"/>
                  </a:lnTo>
                  <a:lnTo>
                    <a:pt x="249313" y="184975"/>
                  </a:lnTo>
                  <a:lnTo>
                    <a:pt x="249313" y="197243"/>
                  </a:lnTo>
                  <a:close/>
                </a:path>
                <a:path w="428625" h="363219">
                  <a:moveTo>
                    <a:pt x="249313" y="170713"/>
                  </a:moveTo>
                  <a:lnTo>
                    <a:pt x="229285" y="170713"/>
                  </a:lnTo>
                  <a:lnTo>
                    <a:pt x="229285" y="158191"/>
                  </a:lnTo>
                  <a:lnTo>
                    <a:pt x="249313" y="158191"/>
                  </a:lnTo>
                  <a:lnTo>
                    <a:pt x="249313" y="170713"/>
                  </a:lnTo>
                  <a:close/>
                </a:path>
                <a:path w="428625" h="363219">
                  <a:moveTo>
                    <a:pt x="249313" y="143929"/>
                  </a:moveTo>
                  <a:lnTo>
                    <a:pt x="229285" y="143929"/>
                  </a:lnTo>
                  <a:lnTo>
                    <a:pt x="229285" y="131406"/>
                  </a:lnTo>
                  <a:lnTo>
                    <a:pt x="249313" y="131406"/>
                  </a:lnTo>
                  <a:lnTo>
                    <a:pt x="249313" y="143929"/>
                  </a:lnTo>
                  <a:close/>
                </a:path>
                <a:path w="428625" h="363219">
                  <a:moveTo>
                    <a:pt x="277456" y="277596"/>
                  </a:moveTo>
                  <a:lnTo>
                    <a:pt x="257429" y="277596"/>
                  </a:lnTo>
                  <a:lnTo>
                    <a:pt x="257429" y="265074"/>
                  </a:lnTo>
                  <a:lnTo>
                    <a:pt x="277456" y="265074"/>
                  </a:lnTo>
                  <a:lnTo>
                    <a:pt x="277456" y="277596"/>
                  </a:lnTo>
                  <a:close/>
                </a:path>
                <a:path w="428625" h="363219">
                  <a:moveTo>
                    <a:pt x="277456" y="250812"/>
                  </a:moveTo>
                  <a:lnTo>
                    <a:pt x="257429" y="250812"/>
                  </a:lnTo>
                  <a:lnTo>
                    <a:pt x="257429" y="238290"/>
                  </a:lnTo>
                  <a:lnTo>
                    <a:pt x="277456" y="238290"/>
                  </a:lnTo>
                  <a:lnTo>
                    <a:pt x="277456" y="250812"/>
                  </a:lnTo>
                  <a:close/>
                </a:path>
                <a:path w="428625" h="363219">
                  <a:moveTo>
                    <a:pt x="277456" y="224028"/>
                  </a:moveTo>
                  <a:lnTo>
                    <a:pt x="257429" y="224028"/>
                  </a:lnTo>
                  <a:lnTo>
                    <a:pt x="257429" y="211505"/>
                  </a:lnTo>
                  <a:lnTo>
                    <a:pt x="277456" y="211505"/>
                  </a:lnTo>
                  <a:lnTo>
                    <a:pt x="277456" y="224028"/>
                  </a:lnTo>
                  <a:close/>
                </a:path>
                <a:path w="428625" h="363219">
                  <a:moveTo>
                    <a:pt x="277456" y="197243"/>
                  </a:moveTo>
                  <a:lnTo>
                    <a:pt x="257429" y="197243"/>
                  </a:lnTo>
                  <a:lnTo>
                    <a:pt x="257429" y="184975"/>
                  </a:lnTo>
                  <a:lnTo>
                    <a:pt x="277456" y="184975"/>
                  </a:lnTo>
                  <a:lnTo>
                    <a:pt x="277456" y="197243"/>
                  </a:lnTo>
                  <a:close/>
                </a:path>
                <a:path w="428625" h="363219">
                  <a:moveTo>
                    <a:pt x="277456" y="170713"/>
                  </a:moveTo>
                  <a:lnTo>
                    <a:pt x="257429" y="170713"/>
                  </a:lnTo>
                  <a:lnTo>
                    <a:pt x="257429" y="158191"/>
                  </a:lnTo>
                  <a:lnTo>
                    <a:pt x="277456" y="158191"/>
                  </a:lnTo>
                  <a:lnTo>
                    <a:pt x="277456" y="170713"/>
                  </a:lnTo>
                  <a:close/>
                </a:path>
                <a:path w="428625" h="363219">
                  <a:moveTo>
                    <a:pt x="277456" y="143929"/>
                  </a:moveTo>
                  <a:lnTo>
                    <a:pt x="257429" y="143929"/>
                  </a:lnTo>
                  <a:lnTo>
                    <a:pt x="257429" y="131406"/>
                  </a:lnTo>
                  <a:lnTo>
                    <a:pt x="277456" y="131406"/>
                  </a:lnTo>
                  <a:lnTo>
                    <a:pt x="277456" y="143929"/>
                  </a:lnTo>
                  <a:close/>
                </a:path>
                <a:path w="428625" h="363219">
                  <a:moveTo>
                    <a:pt x="305612" y="277596"/>
                  </a:moveTo>
                  <a:lnTo>
                    <a:pt x="285000" y="277596"/>
                  </a:lnTo>
                  <a:lnTo>
                    <a:pt x="285000" y="265074"/>
                  </a:lnTo>
                  <a:lnTo>
                    <a:pt x="305612" y="265074"/>
                  </a:lnTo>
                  <a:lnTo>
                    <a:pt x="305612" y="277596"/>
                  </a:lnTo>
                  <a:close/>
                </a:path>
                <a:path w="428625" h="363219">
                  <a:moveTo>
                    <a:pt x="305612" y="250812"/>
                  </a:moveTo>
                  <a:lnTo>
                    <a:pt x="285000" y="250812"/>
                  </a:lnTo>
                  <a:lnTo>
                    <a:pt x="285000" y="238290"/>
                  </a:lnTo>
                  <a:lnTo>
                    <a:pt x="305612" y="238290"/>
                  </a:lnTo>
                  <a:lnTo>
                    <a:pt x="305612" y="250812"/>
                  </a:lnTo>
                  <a:close/>
                </a:path>
                <a:path w="428625" h="363219">
                  <a:moveTo>
                    <a:pt x="305612" y="224028"/>
                  </a:moveTo>
                  <a:lnTo>
                    <a:pt x="285000" y="224028"/>
                  </a:lnTo>
                  <a:lnTo>
                    <a:pt x="285000" y="211505"/>
                  </a:lnTo>
                  <a:lnTo>
                    <a:pt x="305612" y="211505"/>
                  </a:lnTo>
                  <a:lnTo>
                    <a:pt x="305612" y="224028"/>
                  </a:lnTo>
                  <a:close/>
                </a:path>
                <a:path w="428625" h="363219">
                  <a:moveTo>
                    <a:pt x="305612" y="197243"/>
                  </a:moveTo>
                  <a:lnTo>
                    <a:pt x="285000" y="197243"/>
                  </a:lnTo>
                  <a:lnTo>
                    <a:pt x="285000" y="184975"/>
                  </a:lnTo>
                  <a:lnTo>
                    <a:pt x="305612" y="184975"/>
                  </a:lnTo>
                  <a:lnTo>
                    <a:pt x="305612" y="197243"/>
                  </a:lnTo>
                  <a:close/>
                </a:path>
                <a:path w="428625" h="363219">
                  <a:moveTo>
                    <a:pt x="305612" y="170713"/>
                  </a:moveTo>
                  <a:lnTo>
                    <a:pt x="285000" y="170713"/>
                  </a:lnTo>
                  <a:lnTo>
                    <a:pt x="285000" y="158191"/>
                  </a:lnTo>
                  <a:lnTo>
                    <a:pt x="305612" y="158191"/>
                  </a:lnTo>
                  <a:lnTo>
                    <a:pt x="305612" y="170713"/>
                  </a:lnTo>
                  <a:close/>
                </a:path>
                <a:path w="428625" h="363219">
                  <a:moveTo>
                    <a:pt x="305612" y="143929"/>
                  </a:moveTo>
                  <a:lnTo>
                    <a:pt x="285000" y="143929"/>
                  </a:lnTo>
                  <a:lnTo>
                    <a:pt x="285000" y="131406"/>
                  </a:lnTo>
                  <a:lnTo>
                    <a:pt x="305612" y="131406"/>
                  </a:lnTo>
                  <a:lnTo>
                    <a:pt x="305612" y="143929"/>
                  </a:lnTo>
                  <a:close/>
                </a:path>
              </a:pathLst>
            </a:custGeom>
            <a:ln w="9525">
              <a:solidFill>
                <a:srgbClr val="000000"/>
              </a:solidFill>
            </a:ln>
          </p:spPr>
          <p:txBody>
            <a:bodyPr wrap="square" lIns="0" tIns="0" rIns="0" bIns="0" rtlCol="0"/>
            <a:lstStyle/>
            <a:p/>
          </p:txBody>
        </p:sp>
        <p:pic>
          <p:nvPicPr>
            <p:cNvPr id="85" name="object 85" descr=""/>
            <p:cNvPicPr/>
            <p:nvPr/>
          </p:nvPicPr>
          <p:blipFill>
            <a:blip r:embed="rId9" cstate="print"/>
            <a:stretch>
              <a:fillRect/>
            </a:stretch>
          </p:blipFill>
          <p:spPr>
            <a:xfrm>
              <a:off x="905849" y="1585276"/>
              <a:ext cx="114686" cy="254237"/>
            </a:xfrm>
            <a:prstGeom prst="rect">
              <a:avLst/>
            </a:prstGeom>
          </p:spPr>
        </p:pic>
        <p:pic>
          <p:nvPicPr>
            <p:cNvPr id="86" name="object 86" descr=""/>
            <p:cNvPicPr/>
            <p:nvPr/>
          </p:nvPicPr>
          <p:blipFill>
            <a:blip r:embed="rId10" cstate="print"/>
            <a:stretch>
              <a:fillRect/>
            </a:stretch>
          </p:blipFill>
          <p:spPr>
            <a:xfrm>
              <a:off x="1832358" y="1139870"/>
              <a:ext cx="133451" cy="253911"/>
            </a:xfrm>
            <a:prstGeom prst="rect">
              <a:avLst/>
            </a:prstGeom>
          </p:spPr>
        </p:pic>
        <p:sp>
          <p:nvSpPr>
            <p:cNvPr id="87" name="object 87" descr=""/>
            <p:cNvSpPr/>
            <p:nvPr/>
          </p:nvSpPr>
          <p:spPr>
            <a:xfrm>
              <a:off x="1832358" y="1139870"/>
              <a:ext cx="133985" cy="254000"/>
            </a:xfrm>
            <a:custGeom>
              <a:avLst/>
              <a:gdLst/>
              <a:ahLst/>
              <a:cxnLst/>
              <a:rect l="l" t="t" r="r" b="b"/>
              <a:pathLst>
                <a:path w="133985" h="254000">
                  <a:moveTo>
                    <a:pt x="59626" y="104355"/>
                  </a:moveTo>
                  <a:lnTo>
                    <a:pt x="0" y="104355"/>
                  </a:lnTo>
                  <a:lnTo>
                    <a:pt x="0" y="253911"/>
                  </a:lnTo>
                  <a:lnTo>
                    <a:pt x="133451" y="253911"/>
                  </a:lnTo>
                  <a:lnTo>
                    <a:pt x="133451" y="0"/>
                  </a:lnTo>
                  <a:lnTo>
                    <a:pt x="59626" y="0"/>
                  </a:lnTo>
                  <a:lnTo>
                    <a:pt x="59626" y="104355"/>
                  </a:lnTo>
                  <a:close/>
                </a:path>
              </a:pathLst>
            </a:custGeom>
            <a:ln w="3175">
              <a:solidFill>
                <a:srgbClr val="000000"/>
              </a:solidFill>
            </a:ln>
          </p:spPr>
          <p:txBody>
            <a:bodyPr wrap="square" lIns="0" tIns="0" rIns="0" bIns="0" rtlCol="0"/>
            <a:lstStyle/>
            <a:p/>
          </p:txBody>
        </p:sp>
        <p:pic>
          <p:nvPicPr>
            <p:cNvPr id="88" name="object 88" descr=""/>
            <p:cNvPicPr/>
            <p:nvPr/>
          </p:nvPicPr>
          <p:blipFill>
            <a:blip r:embed="rId11" cstate="print"/>
            <a:stretch>
              <a:fillRect/>
            </a:stretch>
          </p:blipFill>
          <p:spPr>
            <a:xfrm>
              <a:off x="1832358" y="1139870"/>
              <a:ext cx="133451" cy="253911"/>
            </a:xfrm>
            <a:prstGeom prst="rect">
              <a:avLst/>
            </a:prstGeom>
          </p:spPr>
        </p:pic>
        <p:sp>
          <p:nvSpPr>
            <p:cNvPr id="89" name="object 89" descr=""/>
            <p:cNvSpPr/>
            <p:nvPr/>
          </p:nvSpPr>
          <p:spPr>
            <a:xfrm>
              <a:off x="1832358" y="1139870"/>
              <a:ext cx="133985" cy="254000"/>
            </a:xfrm>
            <a:custGeom>
              <a:avLst/>
              <a:gdLst/>
              <a:ahLst/>
              <a:cxnLst/>
              <a:rect l="l" t="t" r="r" b="b"/>
              <a:pathLst>
                <a:path w="133985" h="254000">
                  <a:moveTo>
                    <a:pt x="59626" y="104355"/>
                  </a:moveTo>
                  <a:lnTo>
                    <a:pt x="0" y="104355"/>
                  </a:lnTo>
                  <a:lnTo>
                    <a:pt x="0" y="253911"/>
                  </a:lnTo>
                  <a:lnTo>
                    <a:pt x="133451" y="253911"/>
                  </a:lnTo>
                  <a:lnTo>
                    <a:pt x="133451" y="0"/>
                  </a:lnTo>
                  <a:lnTo>
                    <a:pt x="59626" y="0"/>
                  </a:lnTo>
                  <a:lnTo>
                    <a:pt x="59626" y="104355"/>
                  </a:lnTo>
                </a:path>
                <a:path w="133985" h="254000">
                  <a:moveTo>
                    <a:pt x="103250" y="214490"/>
                  </a:moveTo>
                  <a:lnTo>
                    <a:pt x="123901" y="214490"/>
                  </a:lnTo>
                  <a:lnTo>
                    <a:pt x="123901" y="241680"/>
                  </a:lnTo>
                  <a:lnTo>
                    <a:pt x="103250" y="241680"/>
                  </a:lnTo>
                  <a:lnTo>
                    <a:pt x="103250" y="214490"/>
                  </a:lnTo>
                  <a:close/>
                </a:path>
                <a:path w="133985" h="254000">
                  <a:moveTo>
                    <a:pt x="103250" y="168262"/>
                  </a:moveTo>
                  <a:lnTo>
                    <a:pt x="123901" y="168262"/>
                  </a:lnTo>
                  <a:lnTo>
                    <a:pt x="123901" y="195452"/>
                  </a:lnTo>
                  <a:lnTo>
                    <a:pt x="103250" y="195452"/>
                  </a:lnTo>
                  <a:lnTo>
                    <a:pt x="103250" y="168262"/>
                  </a:lnTo>
                  <a:close/>
                </a:path>
                <a:path w="133985" h="254000">
                  <a:moveTo>
                    <a:pt x="103250" y="122707"/>
                  </a:moveTo>
                  <a:lnTo>
                    <a:pt x="123901" y="122707"/>
                  </a:lnTo>
                  <a:lnTo>
                    <a:pt x="123901" y="149898"/>
                  </a:lnTo>
                  <a:lnTo>
                    <a:pt x="103250" y="149898"/>
                  </a:lnTo>
                  <a:lnTo>
                    <a:pt x="103250" y="122707"/>
                  </a:lnTo>
                  <a:close/>
                </a:path>
                <a:path w="133985" h="254000">
                  <a:moveTo>
                    <a:pt x="103250" y="76822"/>
                  </a:moveTo>
                  <a:lnTo>
                    <a:pt x="123901" y="76822"/>
                  </a:lnTo>
                  <a:lnTo>
                    <a:pt x="123901" y="104012"/>
                  </a:lnTo>
                  <a:lnTo>
                    <a:pt x="103250" y="104012"/>
                  </a:lnTo>
                  <a:lnTo>
                    <a:pt x="103250" y="76822"/>
                  </a:lnTo>
                  <a:close/>
                </a:path>
                <a:path w="133985" h="254000">
                  <a:moveTo>
                    <a:pt x="103250" y="30594"/>
                  </a:moveTo>
                  <a:lnTo>
                    <a:pt x="123901" y="30594"/>
                  </a:lnTo>
                  <a:lnTo>
                    <a:pt x="123901" y="57784"/>
                  </a:lnTo>
                  <a:lnTo>
                    <a:pt x="103250" y="57784"/>
                  </a:lnTo>
                  <a:lnTo>
                    <a:pt x="103250" y="30594"/>
                  </a:lnTo>
                  <a:close/>
                </a:path>
                <a:path w="133985" h="254000">
                  <a:moveTo>
                    <a:pt x="70472" y="214490"/>
                  </a:moveTo>
                  <a:lnTo>
                    <a:pt x="91122" y="214490"/>
                  </a:lnTo>
                  <a:lnTo>
                    <a:pt x="91122" y="241680"/>
                  </a:lnTo>
                  <a:lnTo>
                    <a:pt x="70472" y="241680"/>
                  </a:lnTo>
                  <a:lnTo>
                    <a:pt x="70472" y="214490"/>
                  </a:lnTo>
                  <a:close/>
                </a:path>
                <a:path w="133985" h="254000">
                  <a:moveTo>
                    <a:pt x="70472" y="168262"/>
                  </a:moveTo>
                  <a:lnTo>
                    <a:pt x="91122" y="168262"/>
                  </a:lnTo>
                  <a:lnTo>
                    <a:pt x="91122" y="195452"/>
                  </a:lnTo>
                  <a:lnTo>
                    <a:pt x="70472" y="195452"/>
                  </a:lnTo>
                  <a:lnTo>
                    <a:pt x="70472" y="168262"/>
                  </a:lnTo>
                  <a:close/>
                </a:path>
                <a:path w="133985" h="254000">
                  <a:moveTo>
                    <a:pt x="70472" y="122707"/>
                  </a:moveTo>
                  <a:lnTo>
                    <a:pt x="91122" y="122707"/>
                  </a:lnTo>
                  <a:lnTo>
                    <a:pt x="91122" y="149898"/>
                  </a:lnTo>
                  <a:lnTo>
                    <a:pt x="70472" y="149898"/>
                  </a:lnTo>
                  <a:lnTo>
                    <a:pt x="70472" y="122707"/>
                  </a:lnTo>
                  <a:close/>
                </a:path>
                <a:path w="133985" h="254000">
                  <a:moveTo>
                    <a:pt x="70472" y="76822"/>
                  </a:moveTo>
                  <a:lnTo>
                    <a:pt x="91122" y="76822"/>
                  </a:lnTo>
                  <a:lnTo>
                    <a:pt x="91122" y="104012"/>
                  </a:lnTo>
                  <a:lnTo>
                    <a:pt x="70472" y="104012"/>
                  </a:lnTo>
                  <a:lnTo>
                    <a:pt x="70472" y="76822"/>
                  </a:lnTo>
                  <a:close/>
                </a:path>
                <a:path w="133985" h="254000">
                  <a:moveTo>
                    <a:pt x="70472" y="30594"/>
                  </a:moveTo>
                  <a:lnTo>
                    <a:pt x="91122" y="30594"/>
                  </a:lnTo>
                  <a:lnTo>
                    <a:pt x="91122" y="57784"/>
                  </a:lnTo>
                  <a:lnTo>
                    <a:pt x="70472" y="57784"/>
                  </a:lnTo>
                  <a:lnTo>
                    <a:pt x="70472" y="30594"/>
                  </a:lnTo>
                  <a:close/>
                </a:path>
                <a:path w="133985" h="254000">
                  <a:moveTo>
                    <a:pt x="17030" y="136309"/>
                  </a:moveTo>
                  <a:lnTo>
                    <a:pt x="4902" y="136309"/>
                  </a:lnTo>
                  <a:lnTo>
                    <a:pt x="4902" y="119989"/>
                  </a:lnTo>
                  <a:lnTo>
                    <a:pt x="17030" y="119989"/>
                  </a:lnTo>
                  <a:lnTo>
                    <a:pt x="17030" y="136309"/>
                  </a:lnTo>
                  <a:close/>
                </a:path>
                <a:path w="133985" h="254000">
                  <a:moveTo>
                    <a:pt x="17030" y="160439"/>
                  </a:moveTo>
                  <a:lnTo>
                    <a:pt x="4902" y="160439"/>
                  </a:lnTo>
                  <a:lnTo>
                    <a:pt x="4902" y="144462"/>
                  </a:lnTo>
                  <a:lnTo>
                    <a:pt x="17030" y="144462"/>
                  </a:lnTo>
                  <a:lnTo>
                    <a:pt x="17030" y="160439"/>
                  </a:lnTo>
                  <a:close/>
                </a:path>
                <a:path w="133985" h="254000">
                  <a:moveTo>
                    <a:pt x="17030" y="184911"/>
                  </a:moveTo>
                  <a:lnTo>
                    <a:pt x="4902" y="184911"/>
                  </a:lnTo>
                  <a:lnTo>
                    <a:pt x="4902" y="168935"/>
                  </a:lnTo>
                  <a:lnTo>
                    <a:pt x="17030" y="168935"/>
                  </a:lnTo>
                  <a:lnTo>
                    <a:pt x="17030" y="184911"/>
                  </a:lnTo>
                  <a:close/>
                </a:path>
                <a:path w="133985" h="254000">
                  <a:moveTo>
                    <a:pt x="17030" y="209384"/>
                  </a:moveTo>
                  <a:lnTo>
                    <a:pt x="4902" y="209384"/>
                  </a:lnTo>
                  <a:lnTo>
                    <a:pt x="4902" y="193408"/>
                  </a:lnTo>
                  <a:lnTo>
                    <a:pt x="17030" y="193408"/>
                  </a:lnTo>
                  <a:lnTo>
                    <a:pt x="17030" y="209384"/>
                  </a:lnTo>
                  <a:close/>
                </a:path>
                <a:path w="133985" h="254000">
                  <a:moveTo>
                    <a:pt x="35623" y="136309"/>
                  </a:moveTo>
                  <a:lnTo>
                    <a:pt x="23494" y="136309"/>
                  </a:lnTo>
                  <a:lnTo>
                    <a:pt x="23494" y="119989"/>
                  </a:lnTo>
                  <a:lnTo>
                    <a:pt x="35623" y="119989"/>
                  </a:lnTo>
                  <a:lnTo>
                    <a:pt x="35623" y="136309"/>
                  </a:lnTo>
                  <a:close/>
                </a:path>
                <a:path w="133985" h="254000">
                  <a:moveTo>
                    <a:pt x="35623" y="160439"/>
                  </a:moveTo>
                  <a:lnTo>
                    <a:pt x="23494" y="160439"/>
                  </a:lnTo>
                  <a:lnTo>
                    <a:pt x="23494" y="144462"/>
                  </a:lnTo>
                  <a:lnTo>
                    <a:pt x="35623" y="144462"/>
                  </a:lnTo>
                  <a:lnTo>
                    <a:pt x="35623" y="160439"/>
                  </a:lnTo>
                  <a:close/>
                </a:path>
                <a:path w="133985" h="254000">
                  <a:moveTo>
                    <a:pt x="35623" y="184911"/>
                  </a:moveTo>
                  <a:lnTo>
                    <a:pt x="23494" y="184911"/>
                  </a:lnTo>
                  <a:lnTo>
                    <a:pt x="23494" y="168935"/>
                  </a:lnTo>
                  <a:lnTo>
                    <a:pt x="35623" y="168935"/>
                  </a:lnTo>
                  <a:lnTo>
                    <a:pt x="35623" y="184911"/>
                  </a:lnTo>
                  <a:close/>
                </a:path>
                <a:path w="133985" h="254000">
                  <a:moveTo>
                    <a:pt x="35623" y="209384"/>
                  </a:moveTo>
                  <a:lnTo>
                    <a:pt x="23494" y="209384"/>
                  </a:lnTo>
                  <a:lnTo>
                    <a:pt x="23494" y="193408"/>
                  </a:lnTo>
                  <a:lnTo>
                    <a:pt x="35623" y="193408"/>
                  </a:lnTo>
                  <a:lnTo>
                    <a:pt x="35623" y="209384"/>
                  </a:lnTo>
                  <a:close/>
                </a:path>
                <a:path w="133985" h="254000">
                  <a:moveTo>
                    <a:pt x="54457" y="136309"/>
                  </a:moveTo>
                  <a:lnTo>
                    <a:pt x="41808" y="136309"/>
                  </a:lnTo>
                  <a:lnTo>
                    <a:pt x="41808" y="119989"/>
                  </a:lnTo>
                  <a:lnTo>
                    <a:pt x="54457" y="119989"/>
                  </a:lnTo>
                  <a:lnTo>
                    <a:pt x="54457" y="136309"/>
                  </a:lnTo>
                  <a:close/>
                </a:path>
                <a:path w="133985" h="254000">
                  <a:moveTo>
                    <a:pt x="54457" y="160439"/>
                  </a:moveTo>
                  <a:lnTo>
                    <a:pt x="41808" y="160439"/>
                  </a:lnTo>
                  <a:lnTo>
                    <a:pt x="41808" y="144462"/>
                  </a:lnTo>
                  <a:lnTo>
                    <a:pt x="54457" y="144462"/>
                  </a:lnTo>
                  <a:lnTo>
                    <a:pt x="54457" y="160439"/>
                  </a:lnTo>
                  <a:close/>
                </a:path>
                <a:path w="133985" h="254000">
                  <a:moveTo>
                    <a:pt x="54457" y="184911"/>
                  </a:moveTo>
                  <a:lnTo>
                    <a:pt x="41808" y="184911"/>
                  </a:lnTo>
                  <a:lnTo>
                    <a:pt x="41808" y="168935"/>
                  </a:lnTo>
                  <a:lnTo>
                    <a:pt x="54457" y="168935"/>
                  </a:lnTo>
                  <a:lnTo>
                    <a:pt x="54457" y="184911"/>
                  </a:lnTo>
                  <a:close/>
                </a:path>
                <a:path w="133985" h="254000">
                  <a:moveTo>
                    <a:pt x="54457" y="209384"/>
                  </a:moveTo>
                  <a:lnTo>
                    <a:pt x="41808" y="209384"/>
                  </a:lnTo>
                  <a:lnTo>
                    <a:pt x="41808" y="193408"/>
                  </a:lnTo>
                  <a:lnTo>
                    <a:pt x="54457" y="193408"/>
                  </a:lnTo>
                  <a:lnTo>
                    <a:pt x="54457" y="209384"/>
                  </a:lnTo>
                  <a:close/>
                </a:path>
              </a:pathLst>
            </a:custGeom>
            <a:ln w="3175">
              <a:solidFill>
                <a:srgbClr val="000000"/>
              </a:solidFill>
            </a:ln>
          </p:spPr>
          <p:txBody>
            <a:bodyPr wrap="square" lIns="0" tIns="0" rIns="0" bIns="0" rtlCol="0"/>
            <a:lstStyle/>
            <a:p/>
          </p:txBody>
        </p:sp>
        <p:sp>
          <p:nvSpPr>
            <p:cNvPr id="90" name="object 90" descr=""/>
            <p:cNvSpPr/>
            <p:nvPr/>
          </p:nvSpPr>
          <p:spPr>
            <a:xfrm>
              <a:off x="1786920" y="1183386"/>
              <a:ext cx="95250" cy="210820"/>
            </a:xfrm>
            <a:custGeom>
              <a:avLst/>
              <a:gdLst/>
              <a:ahLst/>
              <a:cxnLst/>
              <a:rect l="l" t="t" r="r" b="b"/>
              <a:pathLst>
                <a:path w="95250" h="210819">
                  <a:moveTo>
                    <a:pt x="95250" y="16992"/>
                  </a:moveTo>
                  <a:lnTo>
                    <a:pt x="0" y="16992"/>
                  </a:lnTo>
                  <a:lnTo>
                    <a:pt x="0" y="210400"/>
                  </a:lnTo>
                  <a:lnTo>
                    <a:pt x="34328" y="210400"/>
                  </a:lnTo>
                  <a:lnTo>
                    <a:pt x="34328" y="174371"/>
                  </a:lnTo>
                  <a:lnTo>
                    <a:pt x="7226" y="174371"/>
                  </a:lnTo>
                  <a:lnTo>
                    <a:pt x="7226" y="160769"/>
                  </a:lnTo>
                  <a:lnTo>
                    <a:pt x="34328" y="160769"/>
                  </a:lnTo>
                  <a:lnTo>
                    <a:pt x="34328" y="146494"/>
                  </a:lnTo>
                  <a:lnTo>
                    <a:pt x="7226" y="146494"/>
                  </a:lnTo>
                  <a:lnTo>
                    <a:pt x="7226" y="132562"/>
                  </a:lnTo>
                  <a:lnTo>
                    <a:pt x="34328" y="132562"/>
                  </a:lnTo>
                  <a:lnTo>
                    <a:pt x="34328" y="118618"/>
                  </a:lnTo>
                  <a:lnTo>
                    <a:pt x="7226" y="118618"/>
                  </a:lnTo>
                  <a:lnTo>
                    <a:pt x="7226" y="104686"/>
                  </a:lnTo>
                  <a:lnTo>
                    <a:pt x="34328" y="104686"/>
                  </a:lnTo>
                  <a:lnTo>
                    <a:pt x="34328" y="91084"/>
                  </a:lnTo>
                  <a:lnTo>
                    <a:pt x="7226" y="91084"/>
                  </a:lnTo>
                  <a:lnTo>
                    <a:pt x="7226" y="77152"/>
                  </a:lnTo>
                  <a:lnTo>
                    <a:pt x="34328" y="77152"/>
                  </a:lnTo>
                  <a:lnTo>
                    <a:pt x="34328" y="62547"/>
                  </a:lnTo>
                  <a:lnTo>
                    <a:pt x="7226" y="62547"/>
                  </a:lnTo>
                  <a:lnTo>
                    <a:pt x="7226" y="49288"/>
                  </a:lnTo>
                  <a:lnTo>
                    <a:pt x="34328" y="49288"/>
                  </a:lnTo>
                  <a:lnTo>
                    <a:pt x="34328" y="45885"/>
                  </a:lnTo>
                  <a:lnTo>
                    <a:pt x="95250" y="45885"/>
                  </a:lnTo>
                  <a:lnTo>
                    <a:pt x="95250" y="16992"/>
                  </a:lnTo>
                  <a:close/>
                </a:path>
                <a:path w="95250" h="210819">
                  <a:moveTo>
                    <a:pt x="34328" y="160769"/>
                  </a:moveTo>
                  <a:lnTo>
                    <a:pt x="27355" y="160769"/>
                  </a:lnTo>
                  <a:lnTo>
                    <a:pt x="27355" y="174371"/>
                  </a:lnTo>
                  <a:lnTo>
                    <a:pt x="34328" y="174371"/>
                  </a:lnTo>
                  <a:lnTo>
                    <a:pt x="34328" y="160769"/>
                  </a:lnTo>
                  <a:close/>
                </a:path>
                <a:path w="95250" h="210819">
                  <a:moveTo>
                    <a:pt x="34328" y="132562"/>
                  </a:moveTo>
                  <a:lnTo>
                    <a:pt x="27355" y="132562"/>
                  </a:lnTo>
                  <a:lnTo>
                    <a:pt x="27355" y="146494"/>
                  </a:lnTo>
                  <a:lnTo>
                    <a:pt x="34328" y="146494"/>
                  </a:lnTo>
                  <a:lnTo>
                    <a:pt x="34328" y="132562"/>
                  </a:lnTo>
                  <a:close/>
                </a:path>
                <a:path w="95250" h="210819">
                  <a:moveTo>
                    <a:pt x="34328" y="104686"/>
                  </a:moveTo>
                  <a:lnTo>
                    <a:pt x="27355" y="104686"/>
                  </a:lnTo>
                  <a:lnTo>
                    <a:pt x="27355" y="118618"/>
                  </a:lnTo>
                  <a:lnTo>
                    <a:pt x="34328" y="118618"/>
                  </a:lnTo>
                  <a:lnTo>
                    <a:pt x="34328" y="104686"/>
                  </a:lnTo>
                  <a:close/>
                </a:path>
                <a:path w="95250" h="210819">
                  <a:moveTo>
                    <a:pt x="34328" y="77152"/>
                  </a:moveTo>
                  <a:lnTo>
                    <a:pt x="27355" y="77152"/>
                  </a:lnTo>
                  <a:lnTo>
                    <a:pt x="27355" y="91084"/>
                  </a:lnTo>
                  <a:lnTo>
                    <a:pt x="34328" y="91084"/>
                  </a:lnTo>
                  <a:lnTo>
                    <a:pt x="34328" y="77152"/>
                  </a:lnTo>
                  <a:close/>
                </a:path>
                <a:path w="95250" h="210819">
                  <a:moveTo>
                    <a:pt x="34328" y="49288"/>
                  </a:moveTo>
                  <a:lnTo>
                    <a:pt x="27355" y="49288"/>
                  </a:lnTo>
                  <a:lnTo>
                    <a:pt x="27355" y="62547"/>
                  </a:lnTo>
                  <a:lnTo>
                    <a:pt x="34328" y="62547"/>
                  </a:lnTo>
                  <a:lnTo>
                    <a:pt x="34328" y="49288"/>
                  </a:lnTo>
                  <a:close/>
                </a:path>
                <a:path w="95250" h="210819">
                  <a:moveTo>
                    <a:pt x="46723" y="6121"/>
                  </a:moveTo>
                  <a:lnTo>
                    <a:pt x="17297" y="6121"/>
                  </a:lnTo>
                  <a:lnTo>
                    <a:pt x="17297" y="16992"/>
                  </a:lnTo>
                  <a:lnTo>
                    <a:pt x="46723" y="16992"/>
                  </a:lnTo>
                  <a:lnTo>
                    <a:pt x="46723" y="6121"/>
                  </a:lnTo>
                  <a:close/>
                </a:path>
                <a:path w="95250" h="210819">
                  <a:moveTo>
                    <a:pt x="84924" y="0"/>
                  </a:moveTo>
                  <a:lnTo>
                    <a:pt x="68922" y="0"/>
                  </a:lnTo>
                  <a:lnTo>
                    <a:pt x="68922" y="16992"/>
                  </a:lnTo>
                  <a:lnTo>
                    <a:pt x="84924" y="16992"/>
                  </a:lnTo>
                  <a:lnTo>
                    <a:pt x="84924" y="0"/>
                  </a:lnTo>
                  <a:close/>
                </a:path>
              </a:pathLst>
            </a:custGeom>
            <a:solidFill>
              <a:srgbClr val="DDFEFF"/>
            </a:solidFill>
          </p:spPr>
          <p:txBody>
            <a:bodyPr wrap="square" lIns="0" tIns="0" rIns="0" bIns="0" rtlCol="0"/>
            <a:lstStyle/>
            <a:p/>
          </p:txBody>
        </p:sp>
        <p:sp>
          <p:nvSpPr>
            <p:cNvPr id="91" name="object 91" descr=""/>
            <p:cNvSpPr/>
            <p:nvPr/>
          </p:nvSpPr>
          <p:spPr>
            <a:xfrm>
              <a:off x="1786920" y="1183386"/>
              <a:ext cx="95250" cy="210820"/>
            </a:xfrm>
            <a:custGeom>
              <a:avLst/>
              <a:gdLst/>
              <a:ahLst/>
              <a:cxnLst/>
              <a:rect l="l" t="t" r="r" b="b"/>
              <a:pathLst>
                <a:path w="95250" h="210819">
                  <a:moveTo>
                    <a:pt x="0" y="16992"/>
                  </a:moveTo>
                  <a:lnTo>
                    <a:pt x="0" y="210400"/>
                  </a:lnTo>
                  <a:lnTo>
                    <a:pt x="34328" y="210400"/>
                  </a:lnTo>
                  <a:lnTo>
                    <a:pt x="34328" y="45885"/>
                  </a:lnTo>
                  <a:lnTo>
                    <a:pt x="95250" y="45885"/>
                  </a:lnTo>
                  <a:lnTo>
                    <a:pt x="95250" y="16992"/>
                  </a:lnTo>
                  <a:lnTo>
                    <a:pt x="84924" y="16992"/>
                  </a:lnTo>
                  <a:lnTo>
                    <a:pt x="84924" y="0"/>
                  </a:lnTo>
                  <a:lnTo>
                    <a:pt x="68922" y="0"/>
                  </a:lnTo>
                  <a:lnTo>
                    <a:pt x="68922" y="16992"/>
                  </a:lnTo>
                  <a:lnTo>
                    <a:pt x="46723" y="16992"/>
                  </a:lnTo>
                  <a:lnTo>
                    <a:pt x="46723" y="6121"/>
                  </a:lnTo>
                  <a:lnTo>
                    <a:pt x="17297" y="6121"/>
                  </a:lnTo>
                  <a:lnTo>
                    <a:pt x="17297" y="16992"/>
                  </a:lnTo>
                  <a:lnTo>
                    <a:pt x="0" y="16992"/>
                  </a:lnTo>
                  <a:close/>
                </a:path>
                <a:path w="95250" h="210819">
                  <a:moveTo>
                    <a:pt x="7226" y="160769"/>
                  </a:moveTo>
                  <a:lnTo>
                    <a:pt x="27355" y="160769"/>
                  </a:lnTo>
                  <a:lnTo>
                    <a:pt x="27355" y="174371"/>
                  </a:lnTo>
                  <a:lnTo>
                    <a:pt x="7226" y="174371"/>
                  </a:lnTo>
                  <a:lnTo>
                    <a:pt x="7226" y="160769"/>
                  </a:lnTo>
                  <a:close/>
                </a:path>
                <a:path w="95250" h="210819">
                  <a:moveTo>
                    <a:pt x="7226" y="132562"/>
                  </a:moveTo>
                  <a:lnTo>
                    <a:pt x="27355" y="132562"/>
                  </a:lnTo>
                  <a:lnTo>
                    <a:pt x="27355" y="146494"/>
                  </a:lnTo>
                  <a:lnTo>
                    <a:pt x="7226" y="146494"/>
                  </a:lnTo>
                  <a:lnTo>
                    <a:pt x="7226" y="132562"/>
                  </a:lnTo>
                  <a:close/>
                </a:path>
                <a:path w="95250" h="210819">
                  <a:moveTo>
                    <a:pt x="7226" y="104686"/>
                  </a:moveTo>
                  <a:lnTo>
                    <a:pt x="27355" y="104686"/>
                  </a:lnTo>
                  <a:lnTo>
                    <a:pt x="27355" y="118618"/>
                  </a:lnTo>
                  <a:lnTo>
                    <a:pt x="7226" y="118618"/>
                  </a:lnTo>
                  <a:lnTo>
                    <a:pt x="7226" y="104686"/>
                  </a:lnTo>
                  <a:close/>
                </a:path>
                <a:path w="95250" h="210819">
                  <a:moveTo>
                    <a:pt x="7226" y="77152"/>
                  </a:moveTo>
                  <a:lnTo>
                    <a:pt x="27355" y="77152"/>
                  </a:lnTo>
                  <a:lnTo>
                    <a:pt x="27355" y="91084"/>
                  </a:lnTo>
                  <a:lnTo>
                    <a:pt x="7226" y="91084"/>
                  </a:lnTo>
                  <a:lnTo>
                    <a:pt x="7226" y="77152"/>
                  </a:lnTo>
                  <a:close/>
                </a:path>
                <a:path w="95250" h="210819">
                  <a:moveTo>
                    <a:pt x="7226" y="49288"/>
                  </a:moveTo>
                  <a:lnTo>
                    <a:pt x="27355" y="49288"/>
                  </a:lnTo>
                  <a:lnTo>
                    <a:pt x="27355" y="62547"/>
                  </a:lnTo>
                  <a:lnTo>
                    <a:pt x="7226" y="62547"/>
                  </a:lnTo>
                  <a:lnTo>
                    <a:pt x="7226" y="49288"/>
                  </a:lnTo>
                  <a:close/>
                </a:path>
              </a:pathLst>
            </a:custGeom>
            <a:ln w="3175">
              <a:solidFill>
                <a:srgbClr val="000000"/>
              </a:solidFill>
            </a:ln>
          </p:spPr>
          <p:txBody>
            <a:bodyPr wrap="square" lIns="0" tIns="0" rIns="0" bIns="0" rtlCol="0"/>
            <a:lstStyle/>
            <a:p/>
          </p:txBody>
        </p:sp>
        <p:sp>
          <p:nvSpPr>
            <p:cNvPr id="92" name="object 92" descr=""/>
            <p:cNvSpPr/>
            <p:nvPr/>
          </p:nvSpPr>
          <p:spPr>
            <a:xfrm>
              <a:off x="1763687" y="1399222"/>
              <a:ext cx="231140" cy="9525"/>
            </a:xfrm>
            <a:custGeom>
              <a:avLst/>
              <a:gdLst/>
              <a:ahLst/>
              <a:cxnLst/>
              <a:rect l="l" t="t" r="r" b="b"/>
              <a:pathLst>
                <a:path w="231139" h="9525">
                  <a:moveTo>
                    <a:pt x="230784" y="0"/>
                  </a:moveTo>
                  <a:lnTo>
                    <a:pt x="0" y="0"/>
                  </a:lnTo>
                  <a:lnTo>
                    <a:pt x="0" y="9512"/>
                  </a:lnTo>
                  <a:lnTo>
                    <a:pt x="230784" y="9512"/>
                  </a:lnTo>
                  <a:lnTo>
                    <a:pt x="230784" y="0"/>
                  </a:lnTo>
                  <a:close/>
                </a:path>
              </a:pathLst>
            </a:custGeom>
            <a:solidFill>
              <a:srgbClr val="DDFEFF"/>
            </a:solidFill>
          </p:spPr>
          <p:txBody>
            <a:bodyPr wrap="square" lIns="0" tIns="0" rIns="0" bIns="0" rtlCol="0"/>
            <a:lstStyle/>
            <a:p/>
          </p:txBody>
        </p:sp>
        <p:sp>
          <p:nvSpPr>
            <p:cNvPr id="93" name="object 93" descr=""/>
            <p:cNvSpPr/>
            <p:nvPr/>
          </p:nvSpPr>
          <p:spPr>
            <a:xfrm>
              <a:off x="1763687" y="1399222"/>
              <a:ext cx="231140" cy="9525"/>
            </a:xfrm>
            <a:custGeom>
              <a:avLst/>
              <a:gdLst/>
              <a:ahLst/>
              <a:cxnLst/>
              <a:rect l="l" t="t" r="r" b="b"/>
              <a:pathLst>
                <a:path w="231139" h="9525">
                  <a:moveTo>
                    <a:pt x="0" y="0"/>
                  </a:moveTo>
                  <a:lnTo>
                    <a:pt x="230784" y="0"/>
                  </a:lnTo>
                  <a:lnTo>
                    <a:pt x="230784" y="9512"/>
                  </a:lnTo>
                  <a:lnTo>
                    <a:pt x="0" y="9512"/>
                  </a:lnTo>
                  <a:lnTo>
                    <a:pt x="0" y="0"/>
                  </a:lnTo>
                  <a:close/>
                </a:path>
              </a:pathLst>
            </a:custGeom>
            <a:ln w="3175">
              <a:solidFill>
                <a:srgbClr val="000000"/>
              </a:solidFill>
            </a:ln>
          </p:spPr>
          <p:txBody>
            <a:bodyPr wrap="square" lIns="0" tIns="0" rIns="0" bIns="0" rtlCol="0"/>
            <a:lstStyle/>
            <a:p/>
          </p:txBody>
        </p:sp>
        <p:sp>
          <p:nvSpPr>
            <p:cNvPr id="94" name="object 94" descr=""/>
            <p:cNvSpPr/>
            <p:nvPr/>
          </p:nvSpPr>
          <p:spPr>
            <a:xfrm>
              <a:off x="1898967" y="1167066"/>
              <a:ext cx="59690" cy="139700"/>
            </a:xfrm>
            <a:custGeom>
              <a:avLst/>
              <a:gdLst/>
              <a:ahLst/>
              <a:cxnLst/>
              <a:rect l="l" t="t" r="r" b="b"/>
              <a:pathLst>
                <a:path w="59689" h="139700">
                  <a:moveTo>
                    <a:pt x="59626" y="0"/>
                  </a:moveTo>
                  <a:lnTo>
                    <a:pt x="0" y="0"/>
                  </a:lnTo>
                  <a:lnTo>
                    <a:pt x="0" y="139357"/>
                  </a:lnTo>
                  <a:lnTo>
                    <a:pt x="59626" y="139357"/>
                  </a:lnTo>
                  <a:lnTo>
                    <a:pt x="59626" y="122707"/>
                  </a:lnTo>
                  <a:lnTo>
                    <a:pt x="3860" y="122707"/>
                  </a:lnTo>
                  <a:lnTo>
                    <a:pt x="3860" y="95516"/>
                  </a:lnTo>
                  <a:lnTo>
                    <a:pt x="59626" y="95516"/>
                  </a:lnTo>
                  <a:lnTo>
                    <a:pt x="59626" y="76822"/>
                  </a:lnTo>
                  <a:lnTo>
                    <a:pt x="3860" y="76822"/>
                  </a:lnTo>
                  <a:lnTo>
                    <a:pt x="3860" y="49631"/>
                  </a:lnTo>
                  <a:lnTo>
                    <a:pt x="59626" y="49631"/>
                  </a:lnTo>
                  <a:lnTo>
                    <a:pt x="59626" y="30594"/>
                  </a:lnTo>
                  <a:lnTo>
                    <a:pt x="3860" y="30594"/>
                  </a:lnTo>
                  <a:lnTo>
                    <a:pt x="3860" y="3403"/>
                  </a:lnTo>
                  <a:lnTo>
                    <a:pt x="59626" y="3403"/>
                  </a:lnTo>
                  <a:lnTo>
                    <a:pt x="59626" y="0"/>
                  </a:lnTo>
                  <a:close/>
                </a:path>
                <a:path w="59689" h="139700">
                  <a:moveTo>
                    <a:pt x="36639" y="95516"/>
                  </a:moveTo>
                  <a:lnTo>
                    <a:pt x="24511" y="95516"/>
                  </a:lnTo>
                  <a:lnTo>
                    <a:pt x="24511" y="122707"/>
                  </a:lnTo>
                  <a:lnTo>
                    <a:pt x="36639" y="122707"/>
                  </a:lnTo>
                  <a:lnTo>
                    <a:pt x="36639" y="95516"/>
                  </a:lnTo>
                  <a:close/>
                </a:path>
                <a:path w="59689" h="139700">
                  <a:moveTo>
                    <a:pt x="59626" y="95516"/>
                  </a:moveTo>
                  <a:lnTo>
                    <a:pt x="57289" y="95516"/>
                  </a:lnTo>
                  <a:lnTo>
                    <a:pt x="57289" y="122707"/>
                  </a:lnTo>
                  <a:lnTo>
                    <a:pt x="59626" y="122707"/>
                  </a:lnTo>
                  <a:lnTo>
                    <a:pt x="59626" y="95516"/>
                  </a:lnTo>
                  <a:close/>
                </a:path>
                <a:path w="59689" h="139700">
                  <a:moveTo>
                    <a:pt x="36639" y="49631"/>
                  </a:moveTo>
                  <a:lnTo>
                    <a:pt x="24511" y="49631"/>
                  </a:lnTo>
                  <a:lnTo>
                    <a:pt x="24511" y="76822"/>
                  </a:lnTo>
                  <a:lnTo>
                    <a:pt x="36639" y="76822"/>
                  </a:lnTo>
                  <a:lnTo>
                    <a:pt x="36639" y="49631"/>
                  </a:lnTo>
                  <a:close/>
                </a:path>
                <a:path w="59689" h="139700">
                  <a:moveTo>
                    <a:pt x="59626" y="49631"/>
                  </a:moveTo>
                  <a:lnTo>
                    <a:pt x="57289" y="49631"/>
                  </a:lnTo>
                  <a:lnTo>
                    <a:pt x="57289" y="76822"/>
                  </a:lnTo>
                  <a:lnTo>
                    <a:pt x="59626" y="76822"/>
                  </a:lnTo>
                  <a:lnTo>
                    <a:pt x="59626" y="49631"/>
                  </a:lnTo>
                  <a:close/>
                </a:path>
                <a:path w="59689" h="139700">
                  <a:moveTo>
                    <a:pt x="36639" y="3403"/>
                  </a:moveTo>
                  <a:lnTo>
                    <a:pt x="24511" y="3403"/>
                  </a:lnTo>
                  <a:lnTo>
                    <a:pt x="24511" y="30594"/>
                  </a:lnTo>
                  <a:lnTo>
                    <a:pt x="36639" y="30594"/>
                  </a:lnTo>
                  <a:lnTo>
                    <a:pt x="36639" y="3403"/>
                  </a:lnTo>
                  <a:close/>
                </a:path>
                <a:path w="59689" h="139700">
                  <a:moveTo>
                    <a:pt x="59626" y="3403"/>
                  </a:moveTo>
                  <a:lnTo>
                    <a:pt x="57289" y="3403"/>
                  </a:lnTo>
                  <a:lnTo>
                    <a:pt x="57289" y="30594"/>
                  </a:lnTo>
                  <a:lnTo>
                    <a:pt x="59626" y="30594"/>
                  </a:lnTo>
                  <a:lnTo>
                    <a:pt x="59626" y="3403"/>
                  </a:lnTo>
                  <a:close/>
                </a:path>
              </a:pathLst>
            </a:custGeom>
            <a:solidFill>
              <a:srgbClr val="DDFEFF"/>
            </a:solidFill>
          </p:spPr>
          <p:txBody>
            <a:bodyPr wrap="square" lIns="0" tIns="0" rIns="0" bIns="0" rtlCol="0"/>
            <a:lstStyle/>
            <a:p/>
          </p:txBody>
        </p:sp>
        <p:sp>
          <p:nvSpPr>
            <p:cNvPr id="95" name="object 95" descr=""/>
            <p:cNvSpPr/>
            <p:nvPr/>
          </p:nvSpPr>
          <p:spPr>
            <a:xfrm>
              <a:off x="1898967" y="1167066"/>
              <a:ext cx="59690" cy="139700"/>
            </a:xfrm>
            <a:custGeom>
              <a:avLst/>
              <a:gdLst/>
              <a:ahLst/>
              <a:cxnLst/>
              <a:rect l="l" t="t" r="r" b="b"/>
              <a:pathLst>
                <a:path w="59689" h="139700">
                  <a:moveTo>
                    <a:pt x="3860" y="95516"/>
                  </a:moveTo>
                  <a:lnTo>
                    <a:pt x="24511" y="95516"/>
                  </a:lnTo>
                  <a:lnTo>
                    <a:pt x="24511" y="122707"/>
                  </a:lnTo>
                  <a:lnTo>
                    <a:pt x="3860" y="122707"/>
                  </a:lnTo>
                  <a:lnTo>
                    <a:pt x="3860" y="95516"/>
                  </a:lnTo>
                  <a:close/>
                </a:path>
                <a:path w="59689" h="139700">
                  <a:moveTo>
                    <a:pt x="36639" y="95516"/>
                  </a:moveTo>
                  <a:lnTo>
                    <a:pt x="57289" y="95516"/>
                  </a:lnTo>
                  <a:lnTo>
                    <a:pt x="57289" y="122707"/>
                  </a:lnTo>
                  <a:lnTo>
                    <a:pt x="36639" y="122707"/>
                  </a:lnTo>
                  <a:lnTo>
                    <a:pt x="36639" y="95516"/>
                  </a:lnTo>
                  <a:close/>
                </a:path>
                <a:path w="59689" h="139700">
                  <a:moveTo>
                    <a:pt x="3860" y="49631"/>
                  </a:moveTo>
                  <a:lnTo>
                    <a:pt x="24511" y="49631"/>
                  </a:lnTo>
                  <a:lnTo>
                    <a:pt x="24511" y="76822"/>
                  </a:lnTo>
                  <a:lnTo>
                    <a:pt x="3860" y="76822"/>
                  </a:lnTo>
                  <a:lnTo>
                    <a:pt x="3860" y="49631"/>
                  </a:lnTo>
                  <a:close/>
                </a:path>
                <a:path w="59689" h="139700">
                  <a:moveTo>
                    <a:pt x="36639" y="49631"/>
                  </a:moveTo>
                  <a:lnTo>
                    <a:pt x="57289" y="49631"/>
                  </a:lnTo>
                  <a:lnTo>
                    <a:pt x="57289" y="76822"/>
                  </a:lnTo>
                  <a:lnTo>
                    <a:pt x="36639" y="76822"/>
                  </a:lnTo>
                  <a:lnTo>
                    <a:pt x="36639" y="49631"/>
                  </a:lnTo>
                  <a:close/>
                </a:path>
                <a:path w="59689" h="139700">
                  <a:moveTo>
                    <a:pt x="3860" y="3403"/>
                  </a:moveTo>
                  <a:lnTo>
                    <a:pt x="24511" y="3403"/>
                  </a:lnTo>
                  <a:lnTo>
                    <a:pt x="24511" y="30594"/>
                  </a:lnTo>
                  <a:lnTo>
                    <a:pt x="3860" y="30594"/>
                  </a:lnTo>
                  <a:lnTo>
                    <a:pt x="3860" y="3403"/>
                  </a:lnTo>
                  <a:close/>
                </a:path>
                <a:path w="59689" h="139700">
                  <a:moveTo>
                    <a:pt x="36639" y="3403"/>
                  </a:moveTo>
                  <a:lnTo>
                    <a:pt x="57289" y="3403"/>
                  </a:lnTo>
                  <a:lnTo>
                    <a:pt x="57289" y="30594"/>
                  </a:lnTo>
                  <a:lnTo>
                    <a:pt x="36639" y="30594"/>
                  </a:lnTo>
                  <a:lnTo>
                    <a:pt x="36639" y="3403"/>
                  </a:lnTo>
                  <a:close/>
                </a:path>
                <a:path w="59689" h="139700">
                  <a:moveTo>
                    <a:pt x="59626" y="0"/>
                  </a:moveTo>
                  <a:lnTo>
                    <a:pt x="0" y="0"/>
                  </a:lnTo>
                  <a:lnTo>
                    <a:pt x="0" y="139357"/>
                  </a:lnTo>
                  <a:lnTo>
                    <a:pt x="59626" y="139357"/>
                  </a:lnTo>
                  <a:lnTo>
                    <a:pt x="59626" y="0"/>
                  </a:lnTo>
                  <a:close/>
                </a:path>
              </a:pathLst>
            </a:custGeom>
            <a:ln w="3175">
              <a:solidFill>
                <a:srgbClr val="000000"/>
              </a:solidFill>
            </a:ln>
          </p:spPr>
          <p:txBody>
            <a:bodyPr wrap="square" lIns="0" tIns="0" rIns="0" bIns="0" rtlCol="0"/>
            <a:lstStyle/>
            <a:p/>
          </p:txBody>
        </p:sp>
        <p:sp>
          <p:nvSpPr>
            <p:cNvPr id="96" name="object 96" descr=""/>
            <p:cNvSpPr/>
            <p:nvPr/>
          </p:nvSpPr>
          <p:spPr>
            <a:xfrm>
              <a:off x="1834426" y="1252728"/>
              <a:ext cx="59690" cy="139700"/>
            </a:xfrm>
            <a:custGeom>
              <a:avLst/>
              <a:gdLst/>
              <a:ahLst/>
              <a:cxnLst/>
              <a:rect l="l" t="t" r="r" b="b"/>
              <a:pathLst>
                <a:path w="59689" h="139700">
                  <a:moveTo>
                    <a:pt x="59626" y="0"/>
                  </a:moveTo>
                  <a:lnTo>
                    <a:pt x="0" y="0"/>
                  </a:lnTo>
                  <a:lnTo>
                    <a:pt x="0" y="139357"/>
                  </a:lnTo>
                  <a:lnTo>
                    <a:pt x="59626" y="139357"/>
                  </a:lnTo>
                  <a:lnTo>
                    <a:pt x="59626" y="96532"/>
                  </a:lnTo>
                  <a:lnTo>
                    <a:pt x="2832" y="96532"/>
                  </a:lnTo>
                  <a:lnTo>
                    <a:pt x="2832" y="80556"/>
                  </a:lnTo>
                  <a:lnTo>
                    <a:pt x="59626" y="80556"/>
                  </a:lnTo>
                  <a:lnTo>
                    <a:pt x="59626" y="72059"/>
                  </a:lnTo>
                  <a:lnTo>
                    <a:pt x="2832" y="72059"/>
                  </a:lnTo>
                  <a:lnTo>
                    <a:pt x="2832" y="56083"/>
                  </a:lnTo>
                  <a:lnTo>
                    <a:pt x="59626" y="56083"/>
                  </a:lnTo>
                  <a:lnTo>
                    <a:pt x="59626" y="47586"/>
                  </a:lnTo>
                  <a:lnTo>
                    <a:pt x="2832" y="47586"/>
                  </a:lnTo>
                  <a:lnTo>
                    <a:pt x="2832" y="31610"/>
                  </a:lnTo>
                  <a:lnTo>
                    <a:pt x="59626" y="31610"/>
                  </a:lnTo>
                  <a:lnTo>
                    <a:pt x="59626" y="23456"/>
                  </a:lnTo>
                  <a:lnTo>
                    <a:pt x="2832" y="23456"/>
                  </a:lnTo>
                  <a:lnTo>
                    <a:pt x="2832" y="7137"/>
                  </a:lnTo>
                  <a:lnTo>
                    <a:pt x="59626" y="7137"/>
                  </a:lnTo>
                  <a:lnTo>
                    <a:pt x="59626" y="0"/>
                  </a:lnTo>
                  <a:close/>
                </a:path>
                <a:path w="59689" h="139700">
                  <a:moveTo>
                    <a:pt x="21424" y="80556"/>
                  </a:moveTo>
                  <a:lnTo>
                    <a:pt x="14960" y="80556"/>
                  </a:lnTo>
                  <a:lnTo>
                    <a:pt x="14960" y="96532"/>
                  </a:lnTo>
                  <a:lnTo>
                    <a:pt x="21424" y="96532"/>
                  </a:lnTo>
                  <a:lnTo>
                    <a:pt x="21424" y="80556"/>
                  </a:lnTo>
                  <a:close/>
                </a:path>
                <a:path w="59689" h="139700">
                  <a:moveTo>
                    <a:pt x="39750" y="80556"/>
                  </a:moveTo>
                  <a:lnTo>
                    <a:pt x="33553" y="80556"/>
                  </a:lnTo>
                  <a:lnTo>
                    <a:pt x="33553" y="96532"/>
                  </a:lnTo>
                  <a:lnTo>
                    <a:pt x="39750" y="96532"/>
                  </a:lnTo>
                  <a:lnTo>
                    <a:pt x="39750" y="80556"/>
                  </a:lnTo>
                  <a:close/>
                </a:path>
                <a:path w="59689" h="139700">
                  <a:moveTo>
                    <a:pt x="59626" y="80556"/>
                  </a:moveTo>
                  <a:lnTo>
                    <a:pt x="52400" y="80556"/>
                  </a:lnTo>
                  <a:lnTo>
                    <a:pt x="52400" y="96532"/>
                  </a:lnTo>
                  <a:lnTo>
                    <a:pt x="59626" y="96532"/>
                  </a:lnTo>
                  <a:lnTo>
                    <a:pt x="59626" y="80556"/>
                  </a:lnTo>
                  <a:close/>
                </a:path>
                <a:path w="59689" h="139700">
                  <a:moveTo>
                    <a:pt x="21424" y="56083"/>
                  </a:moveTo>
                  <a:lnTo>
                    <a:pt x="14960" y="56083"/>
                  </a:lnTo>
                  <a:lnTo>
                    <a:pt x="14960" y="72059"/>
                  </a:lnTo>
                  <a:lnTo>
                    <a:pt x="21424" y="72059"/>
                  </a:lnTo>
                  <a:lnTo>
                    <a:pt x="21424" y="56083"/>
                  </a:lnTo>
                  <a:close/>
                </a:path>
                <a:path w="59689" h="139700">
                  <a:moveTo>
                    <a:pt x="39750" y="56083"/>
                  </a:moveTo>
                  <a:lnTo>
                    <a:pt x="33553" y="56083"/>
                  </a:lnTo>
                  <a:lnTo>
                    <a:pt x="33553" y="72059"/>
                  </a:lnTo>
                  <a:lnTo>
                    <a:pt x="39750" y="72059"/>
                  </a:lnTo>
                  <a:lnTo>
                    <a:pt x="39750" y="56083"/>
                  </a:lnTo>
                  <a:close/>
                </a:path>
                <a:path w="59689" h="139700">
                  <a:moveTo>
                    <a:pt x="59626" y="56083"/>
                  </a:moveTo>
                  <a:lnTo>
                    <a:pt x="52400" y="56083"/>
                  </a:lnTo>
                  <a:lnTo>
                    <a:pt x="52400" y="72059"/>
                  </a:lnTo>
                  <a:lnTo>
                    <a:pt x="59626" y="72059"/>
                  </a:lnTo>
                  <a:lnTo>
                    <a:pt x="59626" y="56083"/>
                  </a:lnTo>
                  <a:close/>
                </a:path>
                <a:path w="59689" h="139700">
                  <a:moveTo>
                    <a:pt x="21424" y="31610"/>
                  </a:moveTo>
                  <a:lnTo>
                    <a:pt x="14960" y="31610"/>
                  </a:lnTo>
                  <a:lnTo>
                    <a:pt x="14960" y="47586"/>
                  </a:lnTo>
                  <a:lnTo>
                    <a:pt x="21424" y="47586"/>
                  </a:lnTo>
                  <a:lnTo>
                    <a:pt x="21424" y="31610"/>
                  </a:lnTo>
                  <a:close/>
                </a:path>
                <a:path w="59689" h="139700">
                  <a:moveTo>
                    <a:pt x="39750" y="31610"/>
                  </a:moveTo>
                  <a:lnTo>
                    <a:pt x="33553" y="31610"/>
                  </a:lnTo>
                  <a:lnTo>
                    <a:pt x="33553" y="47586"/>
                  </a:lnTo>
                  <a:lnTo>
                    <a:pt x="39750" y="47586"/>
                  </a:lnTo>
                  <a:lnTo>
                    <a:pt x="39750" y="31610"/>
                  </a:lnTo>
                  <a:close/>
                </a:path>
                <a:path w="59689" h="139700">
                  <a:moveTo>
                    <a:pt x="59626" y="31610"/>
                  </a:moveTo>
                  <a:lnTo>
                    <a:pt x="52400" y="31610"/>
                  </a:lnTo>
                  <a:lnTo>
                    <a:pt x="52400" y="47586"/>
                  </a:lnTo>
                  <a:lnTo>
                    <a:pt x="59626" y="47586"/>
                  </a:lnTo>
                  <a:lnTo>
                    <a:pt x="59626" y="31610"/>
                  </a:lnTo>
                  <a:close/>
                </a:path>
                <a:path w="59689" h="139700">
                  <a:moveTo>
                    <a:pt x="21424" y="7137"/>
                  </a:moveTo>
                  <a:lnTo>
                    <a:pt x="14960" y="7137"/>
                  </a:lnTo>
                  <a:lnTo>
                    <a:pt x="14960" y="23456"/>
                  </a:lnTo>
                  <a:lnTo>
                    <a:pt x="21424" y="23456"/>
                  </a:lnTo>
                  <a:lnTo>
                    <a:pt x="21424" y="7137"/>
                  </a:lnTo>
                  <a:close/>
                </a:path>
                <a:path w="59689" h="139700">
                  <a:moveTo>
                    <a:pt x="39750" y="7137"/>
                  </a:moveTo>
                  <a:lnTo>
                    <a:pt x="33553" y="7137"/>
                  </a:lnTo>
                  <a:lnTo>
                    <a:pt x="33553" y="23456"/>
                  </a:lnTo>
                  <a:lnTo>
                    <a:pt x="39750" y="23456"/>
                  </a:lnTo>
                  <a:lnTo>
                    <a:pt x="39750" y="7137"/>
                  </a:lnTo>
                  <a:close/>
                </a:path>
                <a:path w="59689" h="139700">
                  <a:moveTo>
                    <a:pt x="59626" y="7137"/>
                  </a:moveTo>
                  <a:lnTo>
                    <a:pt x="52400" y="7137"/>
                  </a:lnTo>
                  <a:lnTo>
                    <a:pt x="52400" y="23456"/>
                  </a:lnTo>
                  <a:lnTo>
                    <a:pt x="59626" y="23456"/>
                  </a:lnTo>
                  <a:lnTo>
                    <a:pt x="59626" y="7137"/>
                  </a:lnTo>
                  <a:close/>
                </a:path>
              </a:pathLst>
            </a:custGeom>
            <a:solidFill>
              <a:srgbClr val="DDFEFF"/>
            </a:solidFill>
          </p:spPr>
          <p:txBody>
            <a:bodyPr wrap="square" lIns="0" tIns="0" rIns="0" bIns="0" rtlCol="0"/>
            <a:lstStyle/>
            <a:p/>
          </p:txBody>
        </p:sp>
        <p:sp>
          <p:nvSpPr>
            <p:cNvPr id="97" name="object 97" descr=""/>
            <p:cNvSpPr/>
            <p:nvPr/>
          </p:nvSpPr>
          <p:spPr>
            <a:xfrm>
              <a:off x="1834426" y="1252728"/>
              <a:ext cx="59690" cy="139700"/>
            </a:xfrm>
            <a:custGeom>
              <a:avLst/>
              <a:gdLst/>
              <a:ahLst/>
              <a:cxnLst/>
              <a:rect l="l" t="t" r="r" b="b"/>
              <a:pathLst>
                <a:path w="59689" h="139700">
                  <a:moveTo>
                    <a:pt x="2832" y="80556"/>
                  </a:moveTo>
                  <a:lnTo>
                    <a:pt x="14960" y="80556"/>
                  </a:lnTo>
                  <a:lnTo>
                    <a:pt x="14960" y="96532"/>
                  </a:lnTo>
                  <a:lnTo>
                    <a:pt x="2832" y="96532"/>
                  </a:lnTo>
                  <a:lnTo>
                    <a:pt x="2832" y="80556"/>
                  </a:lnTo>
                  <a:close/>
                </a:path>
                <a:path w="59689" h="139700">
                  <a:moveTo>
                    <a:pt x="21424" y="80556"/>
                  </a:moveTo>
                  <a:lnTo>
                    <a:pt x="33553" y="80556"/>
                  </a:lnTo>
                  <a:lnTo>
                    <a:pt x="33553" y="96532"/>
                  </a:lnTo>
                  <a:lnTo>
                    <a:pt x="21424" y="96532"/>
                  </a:lnTo>
                  <a:lnTo>
                    <a:pt x="21424" y="80556"/>
                  </a:lnTo>
                  <a:close/>
                </a:path>
                <a:path w="59689" h="139700">
                  <a:moveTo>
                    <a:pt x="39750" y="80556"/>
                  </a:moveTo>
                  <a:lnTo>
                    <a:pt x="52400" y="80556"/>
                  </a:lnTo>
                  <a:lnTo>
                    <a:pt x="52400" y="96532"/>
                  </a:lnTo>
                  <a:lnTo>
                    <a:pt x="39750" y="96532"/>
                  </a:lnTo>
                  <a:lnTo>
                    <a:pt x="39750" y="80556"/>
                  </a:lnTo>
                  <a:close/>
                </a:path>
                <a:path w="59689" h="139700">
                  <a:moveTo>
                    <a:pt x="2832" y="56083"/>
                  </a:moveTo>
                  <a:lnTo>
                    <a:pt x="14960" y="56083"/>
                  </a:lnTo>
                  <a:lnTo>
                    <a:pt x="14960" y="72059"/>
                  </a:lnTo>
                  <a:lnTo>
                    <a:pt x="2832" y="72059"/>
                  </a:lnTo>
                  <a:lnTo>
                    <a:pt x="2832" y="56083"/>
                  </a:lnTo>
                  <a:close/>
                </a:path>
                <a:path w="59689" h="139700">
                  <a:moveTo>
                    <a:pt x="21424" y="56083"/>
                  </a:moveTo>
                  <a:lnTo>
                    <a:pt x="33553" y="56083"/>
                  </a:lnTo>
                  <a:lnTo>
                    <a:pt x="33553" y="72059"/>
                  </a:lnTo>
                  <a:lnTo>
                    <a:pt x="21424" y="72059"/>
                  </a:lnTo>
                  <a:lnTo>
                    <a:pt x="21424" y="56083"/>
                  </a:lnTo>
                  <a:close/>
                </a:path>
                <a:path w="59689" h="139700">
                  <a:moveTo>
                    <a:pt x="39750" y="56083"/>
                  </a:moveTo>
                  <a:lnTo>
                    <a:pt x="52400" y="56083"/>
                  </a:lnTo>
                  <a:lnTo>
                    <a:pt x="52400" y="72059"/>
                  </a:lnTo>
                  <a:lnTo>
                    <a:pt x="39750" y="72059"/>
                  </a:lnTo>
                  <a:lnTo>
                    <a:pt x="39750" y="56083"/>
                  </a:lnTo>
                  <a:close/>
                </a:path>
                <a:path w="59689" h="139700">
                  <a:moveTo>
                    <a:pt x="2832" y="31610"/>
                  </a:moveTo>
                  <a:lnTo>
                    <a:pt x="14960" y="31610"/>
                  </a:lnTo>
                  <a:lnTo>
                    <a:pt x="14960" y="47586"/>
                  </a:lnTo>
                  <a:lnTo>
                    <a:pt x="2832" y="47586"/>
                  </a:lnTo>
                  <a:lnTo>
                    <a:pt x="2832" y="31610"/>
                  </a:lnTo>
                  <a:close/>
                </a:path>
                <a:path w="59689" h="139700">
                  <a:moveTo>
                    <a:pt x="21424" y="31610"/>
                  </a:moveTo>
                  <a:lnTo>
                    <a:pt x="33553" y="31610"/>
                  </a:lnTo>
                  <a:lnTo>
                    <a:pt x="33553" y="47586"/>
                  </a:lnTo>
                  <a:lnTo>
                    <a:pt x="21424" y="47586"/>
                  </a:lnTo>
                  <a:lnTo>
                    <a:pt x="21424" y="31610"/>
                  </a:lnTo>
                  <a:close/>
                </a:path>
                <a:path w="59689" h="139700">
                  <a:moveTo>
                    <a:pt x="39750" y="31610"/>
                  </a:moveTo>
                  <a:lnTo>
                    <a:pt x="52400" y="31610"/>
                  </a:lnTo>
                  <a:lnTo>
                    <a:pt x="52400" y="47586"/>
                  </a:lnTo>
                  <a:lnTo>
                    <a:pt x="39750" y="47586"/>
                  </a:lnTo>
                  <a:lnTo>
                    <a:pt x="39750" y="31610"/>
                  </a:lnTo>
                  <a:close/>
                </a:path>
                <a:path w="59689" h="139700">
                  <a:moveTo>
                    <a:pt x="2832" y="7137"/>
                  </a:moveTo>
                  <a:lnTo>
                    <a:pt x="14960" y="7137"/>
                  </a:lnTo>
                  <a:lnTo>
                    <a:pt x="14960" y="23456"/>
                  </a:lnTo>
                  <a:lnTo>
                    <a:pt x="2832" y="23456"/>
                  </a:lnTo>
                  <a:lnTo>
                    <a:pt x="2832" y="7137"/>
                  </a:lnTo>
                  <a:close/>
                </a:path>
                <a:path w="59689" h="139700">
                  <a:moveTo>
                    <a:pt x="21424" y="7137"/>
                  </a:moveTo>
                  <a:lnTo>
                    <a:pt x="33553" y="7137"/>
                  </a:lnTo>
                  <a:lnTo>
                    <a:pt x="33553" y="23456"/>
                  </a:lnTo>
                  <a:lnTo>
                    <a:pt x="21424" y="23456"/>
                  </a:lnTo>
                  <a:lnTo>
                    <a:pt x="21424" y="7137"/>
                  </a:lnTo>
                  <a:close/>
                </a:path>
                <a:path w="59689" h="139700">
                  <a:moveTo>
                    <a:pt x="39750" y="7137"/>
                  </a:moveTo>
                  <a:lnTo>
                    <a:pt x="52400" y="7137"/>
                  </a:lnTo>
                  <a:lnTo>
                    <a:pt x="52400" y="23456"/>
                  </a:lnTo>
                  <a:lnTo>
                    <a:pt x="39750" y="23456"/>
                  </a:lnTo>
                  <a:lnTo>
                    <a:pt x="39750" y="7137"/>
                  </a:lnTo>
                  <a:close/>
                </a:path>
                <a:path w="59689" h="139700">
                  <a:moveTo>
                    <a:pt x="59626" y="0"/>
                  </a:moveTo>
                  <a:lnTo>
                    <a:pt x="0" y="0"/>
                  </a:lnTo>
                  <a:lnTo>
                    <a:pt x="0" y="139357"/>
                  </a:lnTo>
                  <a:lnTo>
                    <a:pt x="59626" y="139357"/>
                  </a:lnTo>
                  <a:lnTo>
                    <a:pt x="59626" y="0"/>
                  </a:lnTo>
                  <a:close/>
                </a:path>
              </a:pathLst>
            </a:custGeom>
            <a:ln w="3175">
              <a:solidFill>
                <a:srgbClr val="000000"/>
              </a:solidFill>
            </a:ln>
          </p:spPr>
          <p:txBody>
            <a:bodyPr wrap="square" lIns="0" tIns="0" rIns="0" bIns="0" rtlCol="0"/>
            <a:lstStyle/>
            <a:p/>
          </p:txBody>
        </p:sp>
        <p:sp>
          <p:nvSpPr>
            <p:cNvPr id="98" name="object 98" descr=""/>
            <p:cNvSpPr/>
            <p:nvPr/>
          </p:nvSpPr>
          <p:spPr>
            <a:xfrm>
              <a:off x="1077810" y="1317180"/>
              <a:ext cx="650240" cy="802005"/>
            </a:xfrm>
            <a:custGeom>
              <a:avLst/>
              <a:gdLst/>
              <a:ahLst/>
              <a:cxnLst/>
              <a:rect l="l" t="t" r="r" b="b"/>
              <a:pathLst>
                <a:path w="650239" h="802005">
                  <a:moveTo>
                    <a:pt x="244957" y="801535"/>
                  </a:moveTo>
                  <a:lnTo>
                    <a:pt x="224663" y="742010"/>
                  </a:lnTo>
                  <a:lnTo>
                    <a:pt x="192024" y="684555"/>
                  </a:lnTo>
                  <a:lnTo>
                    <a:pt x="148539" y="616572"/>
                  </a:lnTo>
                  <a:lnTo>
                    <a:pt x="102006" y="550621"/>
                  </a:lnTo>
                  <a:lnTo>
                    <a:pt x="61137" y="498690"/>
                  </a:lnTo>
                  <a:lnTo>
                    <a:pt x="30251" y="465924"/>
                  </a:lnTo>
                  <a:lnTo>
                    <a:pt x="13690" y="457428"/>
                  </a:lnTo>
                  <a:lnTo>
                    <a:pt x="15303" y="475970"/>
                  </a:lnTo>
                  <a:lnTo>
                    <a:pt x="33972" y="516953"/>
                  </a:lnTo>
                  <a:lnTo>
                    <a:pt x="66611" y="574408"/>
                  </a:lnTo>
                  <a:lnTo>
                    <a:pt x="110109" y="642391"/>
                  </a:lnTo>
                  <a:lnTo>
                    <a:pt x="156629" y="708355"/>
                  </a:lnTo>
                  <a:lnTo>
                    <a:pt x="197497" y="760272"/>
                  </a:lnTo>
                  <a:lnTo>
                    <a:pt x="228384" y="793038"/>
                  </a:lnTo>
                  <a:lnTo>
                    <a:pt x="244957" y="801535"/>
                  </a:lnTo>
                  <a:close/>
                </a:path>
                <a:path w="650239" h="802005">
                  <a:moveTo>
                    <a:pt x="247865" y="439699"/>
                  </a:moveTo>
                  <a:lnTo>
                    <a:pt x="238671" y="432841"/>
                  </a:lnTo>
                  <a:lnTo>
                    <a:pt x="213588" y="427253"/>
                  </a:lnTo>
                  <a:lnTo>
                    <a:pt x="176390" y="423481"/>
                  </a:lnTo>
                  <a:lnTo>
                    <a:pt x="130822" y="422097"/>
                  </a:lnTo>
                  <a:lnTo>
                    <a:pt x="85267" y="423481"/>
                  </a:lnTo>
                  <a:lnTo>
                    <a:pt x="48069" y="427253"/>
                  </a:lnTo>
                  <a:lnTo>
                    <a:pt x="22987" y="432841"/>
                  </a:lnTo>
                  <a:lnTo>
                    <a:pt x="13779" y="439699"/>
                  </a:lnTo>
                  <a:lnTo>
                    <a:pt x="22987" y="446557"/>
                  </a:lnTo>
                  <a:lnTo>
                    <a:pt x="48069" y="452145"/>
                  </a:lnTo>
                  <a:lnTo>
                    <a:pt x="85267" y="455917"/>
                  </a:lnTo>
                  <a:lnTo>
                    <a:pt x="130822" y="457301"/>
                  </a:lnTo>
                  <a:lnTo>
                    <a:pt x="176390" y="455917"/>
                  </a:lnTo>
                  <a:lnTo>
                    <a:pt x="213588" y="452145"/>
                  </a:lnTo>
                  <a:lnTo>
                    <a:pt x="238671" y="446557"/>
                  </a:lnTo>
                  <a:lnTo>
                    <a:pt x="247865" y="439699"/>
                  </a:lnTo>
                  <a:close/>
                </a:path>
                <a:path w="650239" h="802005">
                  <a:moveTo>
                    <a:pt x="649795" y="0"/>
                  </a:moveTo>
                  <a:lnTo>
                    <a:pt x="587489" y="26149"/>
                  </a:lnTo>
                  <a:lnTo>
                    <a:pt x="546023" y="49504"/>
                  </a:lnTo>
                  <a:lnTo>
                    <a:pt x="496443" y="78879"/>
                  </a:lnTo>
                  <a:lnTo>
                    <a:pt x="440131" y="113474"/>
                  </a:lnTo>
                  <a:lnTo>
                    <a:pt x="378434" y="152527"/>
                  </a:lnTo>
                  <a:lnTo>
                    <a:pt x="312712" y="195224"/>
                  </a:lnTo>
                  <a:lnTo>
                    <a:pt x="247484" y="238683"/>
                  </a:lnTo>
                  <a:lnTo>
                    <a:pt x="187198" y="279882"/>
                  </a:lnTo>
                  <a:lnTo>
                    <a:pt x="133134" y="317893"/>
                  </a:lnTo>
                  <a:lnTo>
                    <a:pt x="86537" y="351790"/>
                  </a:lnTo>
                  <a:lnTo>
                    <a:pt x="48679" y="380631"/>
                  </a:lnTo>
                  <a:lnTo>
                    <a:pt x="4140" y="419417"/>
                  </a:lnTo>
                  <a:lnTo>
                    <a:pt x="0" y="427494"/>
                  </a:lnTo>
                  <a:lnTo>
                    <a:pt x="9055" y="426897"/>
                  </a:lnTo>
                  <a:lnTo>
                    <a:pt x="62306" y="401358"/>
                  </a:lnTo>
                  <a:lnTo>
                    <a:pt x="103784" y="378002"/>
                  </a:lnTo>
                  <a:lnTo>
                    <a:pt x="153352" y="348627"/>
                  </a:lnTo>
                  <a:lnTo>
                    <a:pt x="209664" y="314020"/>
                  </a:lnTo>
                  <a:lnTo>
                    <a:pt x="271360" y="274980"/>
                  </a:lnTo>
                  <a:lnTo>
                    <a:pt x="337083" y="232270"/>
                  </a:lnTo>
                  <a:lnTo>
                    <a:pt x="402310" y="188823"/>
                  </a:lnTo>
                  <a:lnTo>
                    <a:pt x="462597" y="147624"/>
                  </a:lnTo>
                  <a:lnTo>
                    <a:pt x="516661" y="109601"/>
                  </a:lnTo>
                  <a:lnTo>
                    <a:pt x="563257" y="75717"/>
                  </a:lnTo>
                  <a:lnTo>
                    <a:pt x="601116" y="46875"/>
                  </a:lnTo>
                  <a:lnTo>
                    <a:pt x="645655" y="8077"/>
                  </a:lnTo>
                  <a:lnTo>
                    <a:pt x="649795" y="0"/>
                  </a:lnTo>
                  <a:close/>
                </a:path>
              </a:pathLst>
            </a:custGeom>
            <a:solidFill>
              <a:srgbClr val="DDFEFF"/>
            </a:solidFill>
          </p:spPr>
          <p:txBody>
            <a:bodyPr wrap="square" lIns="0" tIns="0" rIns="0" bIns="0" rtlCol="0"/>
            <a:lstStyle/>
            <a:p/>
          </p:txBody>
        </p:sp>
        <p:pic>
          <p:nvPicPr>
            <p:cNvPr id="99" name="object 99" descr=""/>
            <p:cNvPicPr/>
            <p:nvPr/>
          </p:nvPicPr>
          <p:blipFill>
            <a:blip r:embed="rId12" cstate="print"/>
            <a:stretch>
              <a:fillRect/>
            </a:stretch>
          </p:blipFill>
          <p:spPr>
            <a:xfrm>
              <a:off x="1501552" y="2011399"/>
              <a:ext cx="203898" cy="199721"/>
            </a:xfrm>
            <a:prstGeom prst="rect">
              <a:avLst/>
            </a:prstGeom>
          </p:spPr>
        </p:pic>
        <p:pic>
          <p:nvPicPr>
            <p:cNvPr id="100" name="object 100" descr=""/>
            <p:cNvPicPr/>
            <p:nvPr/>
          </p:nvPicPr>
          <p:blipFill>
            <a:blip r:embed="rId13" cstate="print"/>
            <a:stretch>
              <a:fillRect/>
            </a:stretch>
          </p:blipFill>
          <p:spPr>
            <a:xfrm>
              <a:off x="1394772" y="1657987"/>
              <a:ext cx="115117" cy="251787"/>
            </a:xfrm>
            <a:prstGeom prst="rect">
              <a:avLst/>
            </a:prstGeom>
          </p:spPr>
        </p:pic>
        <p:pic>
          <p:nvPicPr>
            <p:cNvPr id="101" name="object 101" descr=""/>
            <p:cNvPicPr/>
            <p:nvPr/>
          </p:nvPicPr>
          <p:blipFill>
            <a:blip r:embed="rId14" cstate="print"/>
            <a:stretch>
              <a:fillRect/>
            </a:stretch>
          </p:blipFill>
          <p:spPr>
            <a:xfrm>
              <a:off x="1922534" y="1812491"/>
              <a:ext cx="101092" cy="190201"/>
            </a:xfrm>
            <a:prstGeom prst="rect">
              <a:avLst/>
            </a:prstGeom>
          </p:spPr>
        </p:pic>
        <p:sp>
          <p:nvSpPr>
            <p:cNvPr id="102" name="object 102" descr=""/>
            <p:cNvSpPr/>
            <p:nvPr/>
          </p:nvSpPr>
          <p:spPr>
            <a:xfrm>
              <a:off x="2217282" y="1331854"/>
              <a:ext cx="347980" cy="593090"/>
            </a:xfrm>
            <a:custGeom>
              <a:avLst/>
              <a:gdLst/>
              <a:ahLst/>
              <a:cxnLst/>
              <a:rect l="l" t="t" r="r" b="b"/>
              <a:pathLst>
                <a:path w="347980" h="593089">
                  <a:moveTo>
                    <a:pt x="271005" y="0"/>
                  </a:moveTo>
                  <a:lnTo>
                    <a:pt x="0" y="555650"/>
                  </a:lnTo>
                  <a:lnTo>
                    <a:pt x="76377" y="592899"/>
                  </a:lnTo>
                  <a:lnTo>
                    <a:pt x="347383" y="37249"/>
                  </a:lnTo>
                  <a:lnTo>
                    <a:pt x="271005" y="0"/>
                  </a:lnTo>
                  <a:close/>
                </a:path>
              </a:pathLst>
            </a:custGeom>
            <a:solidFill>
              <a:srgbClr val="DDFEFF"/>
            </a:solidFill>
          </p:spPr>
          <p:txBody>
            <a:bodyPr wrap="square" lIns="0" tIns="0" rIns="0" bIns="0" rtlCol="0"/>
            <a:lstStyle/>
            <a:p/>
          </p:txBody>
        </p:sp>
        <p:sp>
          <p:nvSpPr>
            <p:cNvPr id="103" name="object 103" descr=""/>
            <p:cNvSpPr/>
            <p:nvPr/>
          </p:nvSpPr>
          <p:spPr>
            <a:xfrm>
              <a:off x="2257220" y="1350142"/>
              <a:ext cx="267970" cy="556895"/>
            </a:xfrm>
            <a:custGeom>
              <a:avLst/>
              <a:gdLst/>
              <a:ahLst/>
              <a:cxnLst/>
              <a:rect l="l" t="t" r="r" b="b"/>
              <a:pathLst>
                <a:path w="267969" h="556894">
                  <a:moveTo>
                    <a:pt x="0" y="556323"/>
                  </a:moveTo>
                  <a:lnTo>
                    <a:pt x="267512" y="0"/>
                  </a:lnTo>
                </a:path>
              </a:pathLst>
            </a:custGeom>
            <a:ln w="9525">
              <a:solidFill>
                <a:srgbClr val="FFC000"/>
              </a:solidFill>
              <a:prstDash val="lgDash"/>
            </a:ln>
          </p:spPr>
          <p:txBody>
            <a:bodyPr wrap="square" lIns="0" tIns="0" rIns="0" bIns="0" rtlCol="0"/>
            <a:lstStyle/>
            <a:p/>
          </p:txBody>
        </p:sp>
        <p:sp>
          <p:nvSpPr>
            <p:cNvPr id="104" name="object 104" descr=""/>
            <p:cNvSpPr/>
            <p:nvPr/>
          </p:nvSpPr>
          <p:spPr>
            <a:xfrm>
              <a:off x="2362434" y="1515524"/>
              <a:ext cx="749935" cy="424815"/>
            </a:xfrm>
            <a:custGeom>
              <a:avLst/>
              <a:gdLst/>
              <a:ahLst/>
              <a:cxnLst/>
              <a:rect l="l" t="t" r="r" b="b"/>
              <a:pathLst>
                <a:path w="749935" h="424814">
                  <a:moveTo>
                    <a:pt x="38620" y="0"/>
                  </a:moveTo>
                  <a:lnTo>
                    <a:pt x="0" y="78651"/>
                  </a:lnTo>
                  <a:lnTo>
                    <a:pt x="713511" y="424611"/>
                  </a:lnTo>
                  <a:lnTo>
                    <a:pt x="749363" y="351535"/>
                  </a:lnTo>
                  <a:lnTo>
                    <a:pt x="38620" y="0"/>
                  </a:lnTo>
                  <a:close/>
                </a:path>
              </a:pathLst>
            </a:custGeom>
            <a:solidFill>
              <a:srgbClr val="DDFEFF"/>
            </a:solidFill>
          </p:spPr>
          <p:txBody>
            <a:bodyPr wrap="square" lIns="0" tIns="0" rIns="0" bIns="0" rtlCol="0"/>
            <a:lstStyle/>
            <a:p/>
          </p:txBody>
        </p:sp>
        <p:sp>
          <p:nvSpPr>
            <p:cNvPr id="105" name="object 105" descr=""/>
            <p:cNvSpPr/>
            <p:nvPr/>
          </p:nvSpPr>
          <p:spPr>
            <a:xfrm>
              <a:off x="2384950" y="1559820"/>
              <a:ext cx="713105" cy="332740"/>
            </a:xfrm>
            <a:custGeom>
              <a:avLst/>
              <a:gdLst/>
              <a:ahLst/>
              <a:cxnLst/>
              <a:rect l="l" t="t" r="r" b="b"/>
              <a:pathLst>
                <a:path w="713105" h="332739">
                  <a:moveTo>
                    <a:pt x="0" y="0"/>
                  </a:moveTo>
                  <a:lnTo>
                    <a:pt x="712520" y="332663"/>
                  </a:lnTo>
                </a:path>
              </a:pathLst>
            </a:custGeom>
            <a:ln w="9525">
              <a:solidFill>
                <a:srgbClr val="FFC000"/>
              </a:solidFill>
              <a:prstDash val="lgDash"/>
            </a:ln>
          </p:spPr>
          <p:txBody>
            <a:bodyPr wrap="square" lIns="0" tIns="0" rIns="0" bIns="0" rtlCol="0"/>
            <a:lstStyle/>
            <a:p/>
          </p:txBody>
        </p:sp>
        <p:sp>
          <p:nvSpPr>
            <p:cNvPr id="106" name="object 106" descr=""/>
            <p:cNvSpPr/>
            <p:nvPr/>
          </p:nvSpPr>
          <p:spPr>
            <a:xfrm>
              <a:off x="2063349" y="1792175"/>
              <a:ext cx="170815" cy="49530"/>
            </a:xfrm>
            <a:custGeom>
              <a:avLst/>
              <a:gdLst/>
              <a:ahLst/>
              <a:cxnLst/>
              <a:rect l="l" t="t" r="r" b="b"/>
              <a:pathLst>
                <a:path w="170814" h="49530">
                  <a:moveTo>
                    <a:pt x="162560" y="0"/>
                  </a:moveTo>
                  <a:lnTo>
                    <a:pt x="115427" y="3935"/>
                  </a:lnTo>
                  <a:lnTo>
                    <a:pt x="49047" y="20170"/>
                  </a:lnTo>
                  <a:lnTo>
                    <a:pt x="5420" y="38429"/>
                  </a:lnTo>
                  <a:lnTo>
                    <a:pt x="0" y="45311"/>
                  </a:lnTo>
                  <a:lnTo>
                    <a:pt x="7981" y="48916"/>
                  </a:lnTo>
                  <a:lnTo>
                    <a:pt x="55114" y="44981"/>
                  </a:lnTo>
                  <a:lnTo>
                    <a:pt x="121501" y="28743"/>
                  </a:lnTo>
                  <a:lnTo>
                    <a:pt x="165127" y="10480"/>
                  </a:lnTo>
                  <a:lnTo>
                    <a:pt x="170548" y="3604"/>
                  </a:lnTo>
                  <a:lnTo>
                    <a:pt x="162560" y="0"/>
                  </a:lnTo>
                  <a:close/>
                </a:path>
              </a:pathLst>
            </a:custGeom>
            <a:solidFill>
              <a:srgbClr val="DDFEFF"/>
            </a:solidFill>
          </p:spPr>
          <p:txBody>
            <a:bodyPr wrap="square" lIns="0" tIns="0" rIns="0" bIns="0" rtlCol="0"/>
            <a:lstStyle/>
            <a:p/>
          </p:txBody>
        </p:sp>
        <p:pic>
          <p:nvPicPr>
            <p:cNvPr id="107" name="object 107" descr=""/>
            <p:cNvPicPr/>
            <p:nvPr/>
          </p:nvPicPr>
          <p:blipFill>
            <a:blip r:embed="rId15" cstate="print"/>
            <a:stretch>
              <a:fillRect/>
            </a:stretch>
          </p:blipFill>
          <p:spPr>
            <a:xfrm>
              <a:off x="2049039" y="1884185"/>
              <a:ext cx="163398" cy="69241"/>
            </a:xfrm>
            <a:prstGeom prst="rect">
              <a:avLst/>
            </a:prstGeom>
          </p:spPr>
        </p:pic>
        <p:sp>
          <p:nvSpPr>
            <p:cNvPr id="108" name="object 108" descr=""/>
            <p:cNvSpPr/>
            <p:nvPr/>
          </p:nvSpPr>
          <p:spPr>
            <a:xfrm>
              <a:off x="3035360" y="1568236"/>
              <a:ext cx="402590" cy="247650"/>
            </a:xfrm>
            <a:custGeom>
              <a:avLst/>
              <a:gdLst/>
              <a:ahLst/>
              <a:cxnLst/>
              <a:rect l="l" t="t" r="r" b="b"/>
              <a:pathLst>
                <a:path w="402589" h="247650">
                  <a:moveTo>
                    <a:pt x="209613" y="0"/>
                  </a:moveTo>
                  <a:lnTo>
                    <a:pt x="155871" y="696"/>
                  </a:lnTo>
                  <a:lnTo>
                    <a:pt x="106986" y="9810"/>
                  </a:lnTo>
                  <a:lnTo>
                    <a:pt x="64958" y="26298"/>
                  </a:lnTo>
                  <a:lnTo>
                    <a:pt x="31786" y="49117"/>
                  </a:lnTo>
                  <a:lnTo>
                    <a:pt x="0" y="109575"/>
                  </a:lnTo>
                  <a:lnTo>
                    <a:pt x="4893" y="142926"/>
                  </a:lnTo>
                  <a:lnTo>
                    <a:pt x="52793" y="201050"/>
                  </a:lnTo>
                  <a:lnTo>
                    <a:pt x="92132" y="223202"/>
                  </a:lnTo>
                  <a:lnTo>
                    <a:pt x="139284" y="238998"/>
                  </a:lnTo>
                  <a:lnTo>
                    <a:pt x="192417" y="247129"/>
                  </a:lnTo>
                  <a:lnTo>
                    <a:pt x="246160" y="246437"/>
                  </a:lnTo>
                  <a:lnTo>
                    <a:pt x="295044" y="237324"/>
                  </a:lnTo>
                  <a:lnTo>
                    <a:pt x="337072" y="220835"/>
                  </a:lnTo>
                  <a:lnTo>
                    <a:pt x="370244" y="198014"/>
                  </a:lnTo>
                  <a:lnTo>
                    <a:pt x="402031" y="137553"/>
                  </a:lnTo>
                  <a:lnTo>
                    <a:pt x="397137" y="104207"/>
                  </a:lnTo>
                  <a:lnTo>
                    <a:pt x="349237" y="46083"/>
                  </a:lnTo>
                  <a:lnTo>
                    <a:pt x="309898" y="23930"/>
                  </a:lnTo>
                  <a:lnTo>
                    <a:pt x="262746" y="8131"/>
                  </a:lnTo>
                  <a:lnTo>
                    <a:pt x="209613" y="0"/>
                  </a:lnTo>
                  <a:close/>
                </a:path>
              </a:pathLst>
            </a:custGeom>
            <a:solidFill>
              <a:srgbClr val="DDFEFF"/>
            </a:solidFill>
          </p:spPr>
          <p:txBody>
            <a:bodyPr wrap="square" lIns="0" tIns="0" rIns="0" bIns="0" rtlCol="0"/>
            <a:lstStyle/>
            <a:p/>
          </p:txBody>
        </p:sp>
        <p:sp>
          <p:nvSpPr>
            <p:cNvPr id="109" name="object 109" descr=""/>
            <p:cNvSpPr/>
            <p:nvPr/>
          </p:nvSpPr>
          <p:spPr>
            <a:xfrm>
              <a:off x="3035360" y="1568236"/>
              <a:ext cx="402590" cy="247650"/>
            </a:xfrm>
            <a:custGeom>
              <a:avLst/>
              <a:gdLst/>
              <a:ahLst/>
              <a:cxnLst/>
              <a:rect l="l" t="t" r="r" b="b"/>
              <a:pathLst>
                <a:path w="402589" h="247650">
                  <a:moveTo>
                    <a:pt x="0" y="109575"/>
                  </a:moveTo>
                  <a:lnTo>
                    <a:pt x="31786" y="49117"/>
                  </a:lnTo>
                  <a:lnTo>
                    <a:pt x="64958" y="26298"/>
                  </a:lnTo>
                  <a:lnTo>
                    <a:pt x="106986" y="9810"/>
                  </a:lnTo>
                  <a:lnTo>
                    <a:pt x="155871" y="696"/>
                  </a:lnTo>
                  <a:lnTo>
                    <a:pt x="209613" y="0"/>
                  </a:lnTo>
                  <a:lnTo>
                    <a:pt x="262746" y="8131"/>
                  </a:lnTo>
                  <a:lnTo>
                    <a:pt x="309898" y="23930"/>
                  </a:lnTo>
                  <a:lnTo>
                    <a:pt x="349237" y="46083"/>
                  </a:lnTo>
                  <a:lnTo>
                    <a:pt x="378928" y="73279"/>
                  </a:lnTo>
                  <a:lnTo>
                    <a:pt x="402031" y="137553"/>
                  </a:lnTo>
                  <a:lnTo>
                    <a:pt x="392564" y="169905"/>
                  </a:lnTo>
                  <a:lnTo>
                    <a:pt x="337072" y="220835"/>
                  </a:lnTo>
                  <a:lnTo>
                    <a:pt x="295044" y="237324"/>
                  </a:lnTo>
                  <a:lnTo>
                    <a:pt x="246160" y="246437"/>
                  </a:lnTo>
                  <a:lnTo>
                    <a:pt x="192417" y="247129"/>
                  </a:lnTo>
                  <a:lnTo>
                    <a:pt x="139284" y="238998"/>
                  </a:lnTo>
                  <a:lnTo>
                    <a:pt x="92132" y="223202"/>
                  </a:lnTo>
                  <a:lnTo>
                    <a:pt x="52793" y="201050"/>
                  </a:lnTo>
                  <a:lnTo>
                    <a:pt x="23103" y="173855"/>
                  </a:lnTo>
                  <a:lnTo>
                    <a:pt x="4893" y="142926"/>
                  </a:lnTo>
                  <a:lnTo>
                    <a:pt x="0" y="109575"/>
                  </a:lnTo>
                  <a:close/>
                </a:path>
              </a:pathLst>
            </a:custGeom>
            <a:ln w="25399">
              <a:solidFill>
                <a:srgbClr val="000000"/>
              </a:solidFill>
            </a:ln>
          </p:spPr>
          <p:txBody>
            <a:bodyPr wrap="square" lIns="0" tIns="0" rIns="0" bIns="0" rtlCol="0"/>
            <a:lstStyle/>
            <a:p/>
          </p:txBody>
        </p:sp>
        <p:sp>
          <p:nvSpPr>
            <p:cNvPr id="110" name="object 110" descr=""/>
            <p:cNvSpPr/>
            <p:nvPr/>
          </p:nvSpPr>
          <p:spPr>
            <a:xfrm>
              <a:off x="3064208" y="1705827"/>
              <a:ext cx="363220" cy="93345"/>
            </a:xfrm>
            <a:custGeom>
              <a:avLst/>
              <a:gdLst/>
              <a:ahLst/>
              <a:cxnLst/>
              <a:rect l="l" t="t" r="r" b="b"/>
              <a:pathLst>
                <a:path w="363220" h="93344">
                  <a:moveTo>
                    <a:pt x="362877" y="0"/>
                  </a:moveTo>
                  <a:lnTo>
                    <a:pt x="311459" y="40551"/>
                  </a:lnTo>
                  <a:lnTo>
                    <a:pt x="259836" y="56149"/>
                  </a:lnTo>
                  <a:lnTo>
                    <a:pt x="250367" y="57010"/>
                  </a:lnTo>
                  <a:lnTo>
                    <a:pt x="229293" y="59634"/>
                  </a:lnTo>
                  <a:lnTo>
                    <a:pt x="208843" y="61507"/>
                  </a:lnTo>
                  <a:lnTo>
                    <a:pt x="189144" y="62630"/>
                  </a:lnTo>
                  <a:lnTo>
                    <a:pt x="169875" y="63004"/>
                  </a:lnTo>
                  <a:lnTo>
                    <a:pt x="139540" y="61942"/>
                  </a:lnTo>
                  <a:lnTo>
                    <a:pt x="70873" y="49508"/>
                  </a:lnTo>
                  <a:lnTo>
                    <a:pt x="22681" y="26285"/>
                  </a:lnTo>
                  <a:lnTo>
                    <a:pt x="0" y="4495"/>
                  </a:lnTo>
                  <a:lnTo>
                    <a:pt x="3646" y="17202"/>
                  </a:lnTo>
                  <a:lnTo>
                    <a:pt x="37350" y="61506"/>
                  </a:lnTo>
                  <a:lnTo>
                    <a:pt x="89271" y="82197"/>
                  </a:lnTo>
                  <a:lnTo>
                    <a:pt x="151193" y="92011"/>
                  </a:lnTo>
                  <a:lnTo>
                    <a:pt x="151193" y="69507"/>
                  </a:lnTo>
                  <a:lnTo>
                    <a:pt x="153416" y="67513"/>
                  </a:lnTo>
                  <a:lnTo>
                    <a:pt x="207670" y="67513"/>
                  </a:lnTo>
                  <a:lnTo>
                    <a:pt x="209892" y="69507"/>
                  </a:lnTo>
                  <a:lnTo>
                    <a:pt x="209892" y="93014"/>
                  </a:lnTo>
                  <a:lnTo>
                    <a:pt x="213448" y="92506"/>
                  </a:lnTo>
                  <a:lnTo>
                    <a:pt x="216560" y="92506"/>
                  </a:lnTo>
                  <a:lnTo>
                    <a:pt x="255146" y="85521"/>
                  </a:lnTo>
                  <a:lnTo>
                    <a:pt x="291661" y="73825"/>
                  </a:lnTo>
                  <a:lnTo>
                    <a:pt x="344639" y="41008"/>
                  </a:lnTo>
                  <a:lnTo>
                    <a:pt x="361090" y="10343"/>
                  </a:lnTo>
                  <a:lnTo>
                    <a:pt x="362877" y="0"/>
                  </a:lnTo>
                  <a:close/>
                </a:path>
              </a:pathLst>
            </a:custGeom>
            <a:solidFill>
              <a:srgbClr val="DDFEFF"/>
            </a:solidFill>
          </p:spPr>
          <p:txBody>
            <a:bodyPr wrap="square" lIns="0" tIns="0" rIns="0" bIns="0" rtlCol="0"/>
            <a:lstStyle/>
            <a:p/>
          </p:txBody>
        </p:sp>
        <p:sp>
          <p:nvSpPr>
            <p:cNvPr id="111" name="object 111" descr=""/>
            <p:cNvSpPr/>
            <p:nvPr/>
          </p:nvSpPr>
          <p:spPr>
            <a:xfrm>
              <a:off x="3064208" y="1705827"/>
              <a:ext cx="363220" cy="93345"/>
            </a:xfrm>
            <a:custGeom>
              <a:avLst/>
              <a:gdLst/>
              <a:ahLst/>
              <a:cxnLst/>
              <a:rect l="l" t="t" r="r" b="b"/>
              <a:pathLst>
                <a:path w="363220" h="93344">
                  <a:moveTo>
                    <a:pt x="344195" y="20002"/>
                  </a:moveTo>
                  <a:lnTo>
                    <a:pt x="311459" y="40551"/>
                  </a:lnTo>
                  <a:lnTo>
                    <a:pt x="281770" y="51631"/>
                  </a:lnTo>
                  <a:lnTo>
                    <a:pt x="259836" y="56149"/>
                  </a:lnTo>
                  <a:lnTo>
                    <a:pt x="250367" y="57010"/>
                  </a:lnTo>
                  <a:lnTo>
                    <a:pt x="229293" y="59634"/>
                  </a:lnTo>
                  <a:lnTo>
                    <a:pt x="208843" y="61507"/>
                  </a:lnTo>
                  <a:lnTo>
                    <a:pt x="189144" y="62630"/>
                  </a:lnTo>
                  <a:lnTo>
                    <a:pt x="170319" y="63004"/>
                  </a:lnTo>
                  <a:lnTo>
                    <a:pt x="169875" y="63004"/>
                  </a:lnTo>
                  <a:lnTo>
                    <a:pt x="105664" y="57881"/>
                  </a:lnTo>
                  <a:lnTo>
                    <a:pt x="37795" y="35509"/>
                  </a:lnTo>
                  <a:lnTo>
                    <a:pt x="5966" y="11595"/>
                  </a:lnTo>
                  <a:lnTo>
                    <a:pt x="3111" y="8000"/>
                  </a:lnTo>
                  <a:lnTo>
                    <a:pt x="1778" y="6502"/>
                  </a:lnTo>
                  <a:lnTo>
                    <a:pt x="889" y="5499"/>
                  </a:lnTo>
                  <a:lnTo>
                    <a:pt x="0" y="4495"/>
                  </a:lnTo>
                  <a:lnTo>
                    <a:pt x="3646" y="17202"/>
                  </a:lnTo>
                  <a:lnTo>
                    <a:pt x="37350" y="61506"/>
                  </a:lnTo>
                  <a:lnTo>
                    <a:pt x="89271" y="82197"/>
                  </a:lnTo>
                  <a:lnTo>
                    <a:pt x="151193" y="92011"/>
                  </a:lnTo>
                  <a:lnTo>
                    <a:pt x="151193" y="72504"/>
                  </a:lnTo>
                  <a:lnTo>
                    <a:pt x="151193" y="69507"/>
                  </a:lnTo>
                  <a:lnTo>
                    <a:pt x="153416" y="67513"/>
                  </a:lnTo>
                  <a:lnTo>
                    <a:pt x="155638" y="67513"/>
                  </a:lnTo>
                  <a:lnTo>
                    <a:pt x="205447" y="67513"/>
                  </a:lnTo>
                  <a:lnTo>
                    <a:pt x="207670" y="67513"/>
                  </a:lnTo>
                  <a:lnTo>
                    <a:pt x="209892" y="69507"/>
                  </a:lnTo>
                  <a:lnTo>
                    <a:pt x="209892" y="72504"/>
                  </a:lnTo>
                  <a:lnTo>
                    <a:pt x="209892" y="93014"/>
                  </a:lnTo>
                  <a:lnTo>
                    <a:pt x="213448" y="92506"/>
                  </a:lnTo>
                  <a:lnTo>
                    <a:pt x="216560" y="92506"/>
                  </a:lnTo>
                  <a:lnTo>
                    <a:pt x="219671" y="92011"/>
                  </a:lnTo>
                  <a:lnTo>
                    <a:pt x="291661" y="73825"/>
                  </a:lnTo>
                  <a:lnTo>
                    <a:pt x="344639" y="41008"/>
                  </a:lnTo>
                  <a:lnTo>
                    <a:pt x="362877" y="0"/>
                  </a:lnTo>
                  <a:lnTo>
                    <a:pt x="359958" y="5232"/>
                  </a:lnTo>
                  <a:lnTo>
                    <a:pt x="355869" y="10372"/>
                  </a:lnTo>
                  <a:lnTo>
                    <a:pt x="350614" y="15326"/>
                  </a:lnTo>
                  <a:lnTo>
                    <a:pt x="344195" y="20002"/>
                  </a:lnTo>
                  <a:close/>
                </a:path>
              </a:pathLst>
            </a:custGeom>
            <a:ln w="9525">
              <a:solidFill>
                <a:srgbClr val="000000"/>
              </a:solidFill>
            </a:ln>
          </p:spPr>
          <p:txBody>
            <a:bodyPr wrap="square" lIns="0" tIns="0" rIns="0" bIns="0" rtlCol="0"/>
            <a:lstStyle/>
            <a:p/>
          </p:txBody>
        </p:sp>
        <p:pic>
          <p:nvPicPr>
            <p:cNvPr id="112" name="object 112" descr=""/>
            <p:cNvPicPr/>
            <p:nvPr/>
          </p:nvPicPr>
          <p:blipFill>
            <a:blip r:embed="rId16" cstate="print"/>
            <a:stretch>
              <a:fillRect/>
            </a:stretch>
          </p:blipFill>
          <p:spPr>
            <a:xfrm>
              <a:off x="3089254" y="1621944"/>
              <a:ext cx="303024" cy="147986"/>
            </a:xfrm>
            <a:prstGeom prst="rect">
              <a:avLst/>
            </a:prstGeom>
          </p:spPr>
        </p:pic>
        <p:sp>
          <p:nvSpPr>
            <p:cNvPr id="113" name="object 113" descr=""/>
            <p:cNvSpPr/>
            <p:nvPr/>
          </p:nvSpPr>
          <p:spPr>
            <a:xfrm>
              <a:off x="3063829" y="1528658"/>
              <a:ext cx="363220" cy="214629"/>
            </a:xfrm>
            <a:custGeom>
              <a:avLst/>
              <a:gdLst/>
              <a:ahLst/>
              <a:cxnLst/>
              <a:rect l="l" t="t" r="r" b="b"/>
              <a:pathLst>
                <a:path w="363220" h="214630">
                  <a:moveTo>
                    <a:pt x="132968" y="213359"/>
                  </a:moveTo>
                  <a:lnTo>
                    <a:pt x="76047" y="213359"/>
                  </a:lnTo>
                  <a:lnTo>
                    <a:pt x="76936" y="214629"/>
                  </a:lnTo>
                  <a:lnTo>
                    <a:pt x="131635" y="214629"/>
                  </a:lnTo>
                  <a:lnTo>
                    <a:pt x="132968" y="213359"/>
                  </a:lnTo>
                  <a:close/>
                </a:path>
                <a:path w="363220" h="214630">
                  <a:moveTo>
                    <a:pt x="237032" y="76199"/>
                  </a:moveTo>
                  <a:lnTo>
                    <a:pt x="108508" y="76199"/>
                  </a:lnTo>
                  <a:lnTo>
                    <a:pt x="108064" y="77469"/>
                  </a:lnTo>
                  <a:lnTo>
                    <a:pt x="102730" y="77469"/>
                  </a:lnTo>
                  <a:lnTo>
                    <a:pt x="101841" y="78739"/>
                  </a:lnTo>
                  <a:lnTo>
                    <a:pt x="96050" y="78739"/>
                  </a:lnTo>
                  <a:lnTo>
                    <a:pt x="95161" y="80009"/>
                  </a:lnTo>
                  <a:lnTo>
                    <a:pt x="92049" y="80009"/>
                  </a:lnTo>
                  <a:lnTo>
                    <a:pt x="91160" y="81279"/>
                  </a:lnTo>
                  <a:lnTo>
                    <a:pt x="223240" y="81279"/>
                  </a:lnTo>
                  <a:lnTo>
                    <a:pt x="241071" y="85089"/>
                  </a:lnTo>
                  <a:lnTo>
                    <a:pt x="275716" y="120649"/>
                  </a:lnTo>
                  <a:lnTo>
                    <a:pt x="287718" y="153669"/>
                  </a:lnTo>
                  <a:lnTo>
                    <a:pt x="289051" y="156209"/>
                  </a:lnTo>
                  <a:lnTo>
                    <a:pt x="289496" y="158749"/>
                  </a:lnTo>
                  <a:lnTo>
                    <a:pt x="290385" y="161289"/>
                  </a:lnTo>
                  <a:lnTo>
                    <a:pt x="290385" y="163829"/>
                  </a:lnTo>
                  <a:lnTo>
                    <a:pt x="290829" y="163829"/>
                  </a:lnTo>
                  <a:lnTo>
                    <a:pt x="290829" y="165099"/>
                  </a:lnTo>
                  <a:lnTo>
                    <a:pt x="291731" y="172719"/>
                  </a:lnTo>
                  <a:lnTo>
                    <a:pt x="290829" y="180339"/>
                  </a:lnTo>
                  <a:lnTo>
                    <a:pt x="288162" y="185419"/>
                  </a:lnTo>
                  <a:lnTo>
                    <a:pt x="284606" y="194309"/>
                  </a:lnTo>
                  <a:lnTo>
                    <a:pt x="277050" y="199389"/>
                  </a:lnTo>
                  <a:lnTo>
                    <a:pt x="29349" y="199389"/>
                  </a:lnTo>
                  <a:lnTo>
                    <a:pt x="30238" y="200659"/>
                  </a:lnTo>
                  <a:lnTo>
                    <a:pt x="32016" y="200659"/>
                  </a:lnTo>
                  <a:lnTo>
                    <a:pt x="32461" y="201929"/>
                  </a:lnTo>
                  <a:lnTo>
                    <a:pt x="33350" y="201929"/>
                  </a:lnTo>
                  <a:lnTo>
                    <a:pt x="34683" y="203199"/>
                  </a:lnTo>
                  <a:lnTo>
                    <a:pt x="37795" y="203199"/>
                  </a:lnTo>
                  <a:lnTo>
                    <a:pt x="38239" y="204469"/>
                  </a:lnTo>
                  <a:lnTo>
                    <a:pt x="40462" y="204469"/>
                  </a:lnTo>
                  <a:lnTo>
                    <a:pt x="40906" y="205739"/>
                  </a:lnTo>
                  <a:lnTo>
                    <a:pt x="44030" y="205739"/>
                  </a:lnTo>
                  <a:lnTo>
                    <a:pt x="44919" y="207009"/>
                  </a:lnTo>
                  <a:lnTo>
                    <a:pt x="46697" y="207009"/>
                  </a:lnTo>
                  <a:lnTo>
                    <a:pt x="47586" y="208279"/>
                  </a:lnTo>
                  <a:lnTo>
                    <a:pt x="51587" y="208279"/>
                  </a:lnTo>
                  <a:lnTo>
                    <a:pt x="52031" y="209549"/>
                  </a:lnTo>
                  <a:lnTo>
                    <a:pt x="55143" y="209549"/>
                  </a:lnTo>
                  <a:lnTo>
                    <a:pt x="55587" y="210819"/>
                  </a:lnTo>
                  <a:lnTo>
                    <a:pt x="61810" y="210819"/>
                  </a:lnTo>
                  <a:lnTo>
                    <a:pt x="62255" y="212089"/>
                  </a:lnTo>
                  <a:lnTo>
                    <a:pt x="66255" y="212089"/>
                  </a:lnTo>
                  <a:lnTo>
                    <a:pt x="67144" y="213359"/>
                  </a:lnTo>
                  <a:lnTo>
                    <a:pt x="288162" y="213359"/>
                  </a:lnTo>
                  <a:lnTo>
                    <a:pt x="328628" y="201929"/>
                  </a:lnTo>
                  <a:lnTo>
                    <a:pt x="349097" y="189229"/>
                  </a:lnTo>
                  <a:lnTo>
                    <a:pt x="349986" y="189229"/>
                  </a:lnTo>
                  <a:lnTo>
                    <a:pt x="355765" y="184149"/>
                  </a:lnTo>
                  <a:lnTo>
                    <a:pt x="360210" y="177799"/>
                  </a:lnTo>
                  <a:lnTo>
                    <a:pt x="361988" y="171449"/>
                  </a:lnTo>
                  <a:lnTo>
                    <a:pt x="362877" y="167639"/>
                  </a:lnTo>
                  <a:lnTo>
                    <a:pt x="361988" y="165099"/>
                  </a:lnTo>
                  <a:lnTo>
                    <a:pt x="339814" y="133349"/>
                  </a:lnTo>
                  <a:lnTo>
                    <a:pt x="334860" y="128269"/>
                  </a:lnTo>
                  <a:lnTo>
                    <a:pt x="328879" y="121919"/>
                  </a:lnTo>
                  <a:lnTo>
                    <a:pt x="320686" y="113029"/>
                  </a:lnTo>
                  <a:lnTo>
                    <a:pt x="311909" y="102869"/>
                  </a:lnTo>
                  <a:lnTo>
                    <a:pt x="304177" y="96519"/>
                  </a:lnTo>
                  <a:lnTo>
                    <a:pt x="303733" y="96519"/>
                  </a:lnTo>
                  <a:lnTo>
                    <a:pt x="301955" y="95249"/>
                  </a:lnTo>
                  <a:lnTo>
                    <a:pt x="301955" y="92709"/>
                  </a:lnTo>
                  <a:lnTo>
                    <a:pt x="297065" y="92709"/>
                  </a:lnTo>
                  <a:lnTo>
                    <a:pt x="288244" y="87629"/>
                  </a:lnTo>
                  <a:lnTo>
                    <a:pt x="275883" y="82549"/>
                  </a:lnTo>
                  <a:lnTo>
                    <a:pt x="259105" y="78739"/>
                  </a:lnTo>
                  <a:lnTo>
                    <a:pt x="237032" y="76199"/>
                  </a:lnTo>
                  <a:close/>
                </a:path>
                <a:path w="363220" h="214630">
                  <a:moveTo>
                    <a:pt x="56921" y="40639"/>
                  </a:moveTo>
                  <a:lnTo>
                    <a:pt x="54698" y="41909"/>
                  </a:lnTo>
                  <a:lnTo>
                    <a:pt x="54698" y="95249"/>
                  </a:lnTo>
                  <a:lnTo>
                    <a:pt x="47343" y="101599"/>
                  </a:lnTo>
                  <a:lnTo>
                    <a:pt x="18320" y="134619"/>
                  </a:lnTo>
                  <a:lnTo>
                    <a:pt x="0" y="170179"/>
                  </a:lnTo>
                  <a:lnTo>
                    <a:pt x="0" y="175259"/>
                  </a:lnTo>
                  <a:lnTo>
                    <a:pt x="1777" y="177799"/>
                  </a:lnTo>
                  <a:lnTo>
                    <a:pt x="2222" y="177799"/>
                  </a:lnTo>
                  <a:lnTo>
                    <a:pt x="2222" y="179069"/>
                  </a:lnTo>
                  <a:lnTo>
                    <a:pt x="2666" y="179069"/>
                  </a:lnTo>
                  <a:lnTo>
                    <a:pt x="3555" y="180339"/>
                  </a:lnTo>
                  <a:lnTo>
                    <a:pt x="4000" y="180339"/>
                  </a:lnTo>
                  <a:lnTo>
                    <a:pt x="4000" y="181609"/>
                  </a:lnTo>
                  <a:lnTo>
                    <a:pt x="4889" y="181609"/>
                  </a:lnTo>
                  <a:lnTo>
                    <a:pt x="4889" y="182879"/>
                  </a:lnTo>
                  <a:lnTo>
                    <a:pt x="5778" y="182879"/>
                  </a:lnTo>
                  <a:lnTo>
                    <a:pt x="6222" y="184149"/>
                  </a:lnTo>
                  <a:lnTo>
                    <a:pt x="7556" y="184149"/>
                  </a:lnTo>
                  <a:lnTo>
                    <a:pt x="7556" y="185419"/>
                  </a:lnTo>
                  <a:lnTo>
                    <a:pt x="8000" y="185419"/>
                  </a:lnTo>
                  <a:lnTo>
                    <a:pt x="9334" y="186689"/>
                  </a:lnTo>
                  <a:lnTo>
                    <a:pt x="10223" y="186689"/>
                  </a:lnTo>
                  <a:lnTo>
                    <a:pt x="11112" y="187959"/>
                  </a:lnTo>
                  <a:lnTo>
                    <a:pt x="11556" y="187959"/>
                  </a:lnTo>
                  <a:lnTo>
                    <a:pt x="12890" y="189229"/>
                  </a:lnTo>
                  <a:lnTo>
                    <a:pt x="13334" y="189229"/>
                  </a:lnTo>
                  <a:lnTo>
                    <a:pt x="13334" y="190499"/>
                  </a:lnTo>
                  <a:lnTo>
                    <a:pt x="14668" y="190499"/>
                  </a:lnTo>
                  <a:lnTo>
                    <a:pt x="15112" y="191769"/>
                  </a:lnTo>
                  <a:lnTo>
                    <a:pt x="16459" y="191769"/>
                  </a:lnTo>
                  <a:lnTo>
                    <a:pt x="16903" y="193039"/>
                  </a:lnTo>
                  <a:lnTo>
                    <a:pt x="18237" y="193039"/>
                  </a:lnTo>
                  <a:lnTo>
                    <a:pt x="18681" y="194309"/>
                  </a:lnTo>
                  <a:lnTo>
                    <a:pt x="20015" y="194309"/>
                  </a:lnTo>
                  <a:lnTo>
                    <a:pt x="20459" y="195579"/>
                  </a:lnTo>
                  <a:lnTo>
                    <a:pt x="21793" y="195579"/>
                  </a:lnTo>
                  <a:lnTo>
                    <a:pt x="22237" y="196849"/>
                  </a:lnTo>
                  <a:lnTo>
                    <a:pt x="24460" y="196849"/>
                  </a:lnTo>
                  <a:lnTo>
                    <a:pt x="24904" y="198119"/>
                  </a:lnTo>
                  <a:lnTo>
                    <a:pt x="26238" y="198119"/>
                  </a:lnTo>
                  <a:lnTo>
                    <a:pt x="26682" y="199389"/>
                  </a:lnTo>
                  <a:lnTo>
                    <a:pt x="86271" y="199389"/>
                  </a:lnTo>
                  <a:lnTo>
                    <a:pt x="78714" y="194309"/>
                  </a:lnTo>
                  <a:lnTo>
                    <a:pt x="72047" y="181609"/>
                  </a:lnTo>
                  <a:lnTo>
                    <a:pt x="70700" y="175259"/>
                  </a:lnTo>
                  <a:lnTo>
                    <a:pt x="70478" y="172719"/>
                  </a:lnTo>
                  <a:lnTo>
                    <a:pt x="70367" y="171449"/>
                  </a:lnTo>
                  <a:lnTo>
                    <a:pt x="70256" y="163829"/>
                  </a:lnTo>
                  <a:lnTo>
                    <a:pt x="71158" y="156209"/>
                  </a:lnTo>
                  <a:lnTo>
                    <a:pt x="72491" y="152399"/>
                  </a:lnTo>
                  <a:lnTo>
                    <a:pt x="79603" y="125729"/>
                  </a:lnTo>
                  <a:lnTo>
                    <a:pt x="86342" y="109219"/>
                  </a:lnTo>
                  <a:lnTo>
                    <a:pt x="97836" y="95249"/>
                  </a:lnTo>
                  <a:lnTo>
                    <a:pt x="101876" y="92709"/>
                  </a:lnTo>
                  <a:lnTo>
                    <a:pt x="59588" y="92709"/>
                  </a:lnTo>
                  <a:lnTo>
                    <a:pt x="59588" y="67309"/>
                  </a:lnTo>
                  <a:lnTo>
                    <a:pt x="79159" y="57149"/>
                  </a:lnTo>
                  <a:lnTo>
                    <a:pt x="81826" y="55879"/>
                  </a:lnTo>
                  <a:lnTo>
                    <a:pt x="81826" y="54609"/>
                  </a:lnTo>
                  <a:lnTo>
                    <a:pt x="79159" y="53339"/>
                  </a:lnTo>
                  <a:lnTo>
                    <a:pt x="59588" y="41909"/>
                  </a:lnTo>
                  <a:lnTo>
                    <a:pt x="56921" y="40639"/>
                  </a:lnTo>
                  <a:close/>
                </a:path>
                <a:path w="363220" h="214630">
                  <a:moveTo>
                    <a:pt x="134746" y="81279"/>
                  </a:moveTo>
                  <a:lnTo>
                    <a:pt x="86715" y="81279"/>
                  </a:lnTo>
                  <a:lnTo>
                    <a:pt x="85826" y="82549"/>
                  </a:lnTo>
                  <a:lnTo>
                    <a:pt x="83159" y="82549"/>
                  </a:lnTo>
                  <a:lnTo>
                    <a:pt x="82270" y="83819"/>
                  </a:lnTo>
                  <a:lnTo>
                    <a:pt x="78714" y="83819"/>
                  </a:lnTo>
                  <a:lnTo>
                    <a:pt x="78270" y="85089"/>
                  </a:lnTo>
                  <a:lnTo>
                    <a:pt x="76047" y="85089"/>
                  </a:lnTo>
                  <a:lnTo>
                    <a:pt x="69367" y="87629"/>
                  </a:lnTo>
                  <a:lnTo>
                    <a:pt x="64033" y="90169"/>
                  </a:lnTo>
                  <a:lnTo>
                    <a:pt x="59588" y="92709"/>
                  </a:lnTo>
                  <a:lnTo>
                    <a:pt x="101876" y="92709"/>
                  </a:lnTo>
                  <a:lnTo>
                    <a:pt x="113998" y="85089"/>
                  </a:lnTo>
                  <a:lnTo>
                    <a:pt x="134746" y="81279"/>
                  </a:lnTo>
                  <a:close/>
                </a:path>
                <a:path w="363220" h="214630">
                  <a:moveTo>
                    <a:pt x="301955" y="43179"/>
                  </a:moveTo>
                  <a:lnTo>
                    <a:pt x="299288" y="43179"/>
                  </a:lnTo>
                  <a:lnTo>
                    <a:pt x="297065" y="44449"/>
                  </a:lnTo>
                  <a:lnTo>
                    <a:pt x="297065" y="92709"/>
                  </a:lnTo>
                  <a:lnTo>
                    <a:pt x="301955" y="92709"/>
                  </a:lnTo>
                  <a:lnTo>
                    <a:pt x="301955" y="68579"/>
                  </a:lnTo>
                  <a:lnTo>
                    <a:pt x="321525" y="59689"/>
                  </a:lnTo>
                  <a:lnTo>
                    <a:pt x="324192" y="58419"/>
                  </a:lnTo>
                  <a:lnTo>
                    <a:pt x="324192" y="55879"/>
                  </a:lnTo>
                  <a:lnTo>
                    <a:pt x="301955" y="43179"/>
                  </a:lnTo>
                  <a:close/>
                </a:path>
                <a:path w="363220" h="214630">
                  <a:moveTo>
                    <a:pt x="228574" y="74929"/>
                  </a:moveTo>
                  <a:lnTo>
                    <a:pt x="118732" y="74929"/>
                  </a:lnTo>
                  <a:lnTo>
                    <a:pt x="118732" y="76199"/>
                  </a:lnTo>
                  <a:lnTo>
                    <a:pt x="229019" y="76199"/>
                  </a:lnTo>
                  <a:lnTo>
                    <a:pt x="228574" y="74929"/>
                  </a:lnTo>
                  <a:close/>
                </a:path>
                <a:path w="363220" h="214630">
                  <a:moveTo>
                    <a:pt x="212572" y="73659"/>
                  </a:moveTo>
                  <a:lnTo>
                    <a:pt x="128968" y="73659"/>
                  </a:lnTo>
                  <a:lnTo>
                    <a:pt x="128523" y="74929"/>
                  </a:lnTo>
                  <a:lnTo>
                    <a:pt x="213017" y="74929"/>
                  </a:lnTo>
                  <a:lnTo>
                    <a:pt x="212572" y="73659"/>
                  </a:lnTo>
                  <a:close/>
                </a:path>
                <a:path w="363220" h="214630">
                  <a:moveTo>
                    <a:pt x="176542" y="0"/>
                  </a:moveTo>
                  <a:lnTo>
                    <a:pt x="173875" y="2539"/>
                  </a:lnTo>
                  <a:lnTo>
                    <a:pt x="173875" y="73659"/>
                  </a:lnTo>
                  <a:lnTo>
                    <a:pt x="180098" y="73659"/>
                  </a:lnTo>
                  <a:lnTo>
                    <a:pt x="180098" y="35559"/>
                  </a:lnTo>
                  <a:lnTo>
                    <a:pt x="206336" y="22859"/>
                  </a:lnTo>
                  <a:lnTo>
                    <a:pt x="209905" y="21589"/>
                  </a:lnTo>
                  <a:lnTo>
                    <a:pt x="209905" y="17779"/>
                  </a:lnTo>
                  <a:lnTo>
                    <a:pt x="206336" y="16509"/>
                  </a:lnTo>
                  <a:lnTo>
                    <a:pt x="180098" y="2539"/>
                  </a:lnTo>
                  <a:lnTo>
                    <a:pt x="176542" y="0"/>
                  </a:lnTo>
                  <a:close/>
                </a:path>
              </a:pathLst>
            </a:custGeom>
            <a:solidFill>
              <a:srgbClr val="DDFEFF"/>
            </a:solidFill>
          </p:spPr>
          <p:txBody>
            <a:bodyPr wrap="square" lIns="0" tIns="0" rIns="0" bIns="0" rtlCol="0"/>
            <a:lstStyle/>
            <a:p/>
          </p:txBody>
        </p:sp>
        <p:sp>
          <p:nvSpPr>
            <p:cNvPr id="114" name="object 114" descr=""/>
            <p:cNvSpPr/>
            <p:nvPr/>
          </p:nvSpPr>
          <p:spPr>
            <a:xfrm>
              <a:off x="3063829" y="1528226"/>
              <a:ext cx="363220" cy="215265"/>
            </a:xfrm>
            <a:custGeom>
              <a:avLst/>
              <a:gdLst/>
              <a:ahLst/>
              <a:cxnLst/>
              <a:rect l="l" t="t" r="r" b="b"/>
              <a:pathLst>
                <a:path w="363220" h="215264">
                  <a:moveTo>
                    <a:pt x="1777" y="177546"/>
                  </a:moveTo>
                  <a:lnTo>
                    <a:pt x="1777" y="178041"/>
                  </a:lnTo>
                  <a:lnTo>
                    <a:pt x="2222" y="178041"/>
                  </a:lnTo>
                  <a:lnTo>
                    <a:pt x="2222" y="178549"/>
                  </a:lnTo>
                  <a:lnTo>
                    <a:pt x="2666" y="178549"/>
                  </a:lnTo>
                  <a:lnTo>
                    <a:pt x="2666" y="179044"/>
                  </a:lnTo>
                  <a:lnTo>
                    <a:pt x="3555" y="180047"/>
                  </a:lnTo>
                  <a:lnTo>
                    <a:pt x="3555" y="180543"/>
                  </a:lnTo>
                  <a:lnTo>
                    <a:pt x="4000" y="180543"/>
                  </a:lnTo>
                  <a:lnTo>
                    <a:pt x="4000" y="181051"/>
                  </a:lnTo>
                  <a:lnTo>
                    <a:pt x="4444" y="181051"/>
                  </a:lnTo>
                  <a:lnTo>
                    <a:pt x="4444" y="181546"/>
                  </a:lnTo>
                  <a:lnTo>
                    <a:pt x="4889" y="181546"/>
                  </a:lnTo>
                  <a:lnTo>
                    <a:pt x="4889" y="182041"/>
                  </a:lnTo>
                  <a:lnTo>
                    <a:pt x="5333" y="182041"/>
                  </a:lnTo>
                  <a:lnTo>
                    <a:pt x="5333" y="182549"/>
                  </a:lnTo>
                  <a:lnTo>
                    <a:pt x="5778" y="182549"/>
                  </a:lnTo>
                  <a:lnTo>
                    <a:pt x="5778" y="183045"/>
                  </a:lnTo>
                  <a:lnTo>
                    <a:pt x="6222" y="183553"/>
                  </a:lnTo>
                  <a:lnTo>
                    <a:pt x="6667" y="183553"/>
                  </a:lnTo>
                  <a:lnTo>
                    <a:pt x="6667" y="184048"/>
                  </a:lnTo>
                  <a:lnTo>
                    <a:pt x="7111" y="184048"/>
                  </a:lnTo>
                  <a:lnTo>
                    <a:pt x="7111" y="184543"/>
                  </a:lnTo>
                  <a:lnTo>
                    <a:pt x="7556" y="184543"/>
                  </a:lnTo>
                  <a:lnTo>
                    <a:pt x="7556" y="185051"/>
                  </a:lnTo>
                  <a:lnTo>
                    <a:pt x="8000" y="185051"/>
                  </a:lnTo>
                  <a:lnTo>
                    <a:pt x="8445" y="185547"/>
                  </a:lnTo>
                  <a:lnTo>
                    <a:pt x="8889" y="186042"/>
                  </a:lnTo>
                  <a:lnTo>
                    <a:pt x="9334" y="186550"/>
                  </a:lnTo>
                  <a:lnTo>
                    <a:pt x="9778" y="186550"/>
                  </a:lnTo>
                  <a:lnTo>
                    <a:pt x="9778" y="187045"/>
                  </a:lnTo>
                  <a:lnTo>
                    <a:pt x="10223" y="187045"/>
                  </a:lnTo>
                  <a:lnTo>
                    <a:pt x="10667" y="187553"/>
                  </a:lnTo>
                  <a:lnTo>
                    <a:pt x="11112" y="188048"/>
                  </a:lnTo>
                  <a:lnTo>
                    <a:pt x="11556" y="188048"/>
                  </a:lnTo>
                  <a:lnTo>
                    <a:pt x="12445" y="189052"/>
                  </a:lnTo>
                  <a:lnTo>
                    <a:pt x="12890" y="189547"/>
                  </a:lnTo>
                  <a:lnTo>
                    <a:pt x="13334" y="189547"/>
                  </a:lnTo>
                  <a:lnTo>
                    <a:pt x="13334" y="190055"/>
                  </a:lnTo>
                  <a:lnTo>
                    <a:pt x="13779" y="190055"/>
                  </a:lnTo>
                  <a:lnTo>
                    <a:pt x="14223" y="190550"/>
                  </a:lnTo>
                  <a:lnTo>
                    <a:pt x="14668" y="190550"/>
                  </a:lnTo>
                  <a:lnTo>
                    <a:pt x="15112" y="191046"/>
                  </a:lnTo>
                  <a:lnTo>
                    <a:pt x="15570" y="191046"/>
                  </a:lnTo>
                  <a:lnTo>
                    <a:pt x="15570" y="191554"/>
                  </a:lnTo>
                  <a:lnTo>
                    <a:pt x="16001" y="192049"/>
                  </a:lnTo>
                  <a:lnTo>
                    <a:pt x="16459" y="192049"/>
                  </a:lnTo>
                  <a:lnTo>
                    <a:pt x="16903" y="192544"/>
                  </a:lnTo>
                  <a:lnTo>
                    <a:pt x="17348" y="192544"/>
                  </a:lnTo>
                  <a:lnTo>
                    <a:pt x="17792" y="193052"/>
                  </a:lnTo>
                  <a:lnTo>
                    <a:pt x="18237" y="193052"/>
                  </a:lnTo>
                  <a:lnTo>
                    <a:pt x="18681" y="193548"/>
                  </a:lnTo>
                  <a:lnTo>
                    <a:pt x="19126" y="193548"/>
                  </a:lnTo>
                  <a:lnTo>
                    <a:pt x="19570" y="194056"/>
                  </a:lnTo>
                  <a:lnTo>
                    <a:pt x="19570" y="194551"/>
                  </a:lnTo>
                  <a:lnTo>
                    <a:pt x="20015" y="194551"/>
                  </a:lnTo>
                  <a:lnTo>
                    <a:pt x="20459" y="195046"/>
                  </a:lnTo>
                  <a:lnTo>
                    <a:pt x="20904" y="195046"/>
                  </a:lnTo>
                  <a:lnTo>
                    <a:pt x="21348" y="195554"/>
                  </a:lnTo>
                  <a:lnTo>
                    <a:pt x="21793" y="195554"/>
                  </a:lnTo>
                  <a:lnTo>
                    <a:pt x="22237" y="196049"/>
                  </a:lnTo>
                  <a:lnTo>
                    <a:pt x="22682" y="196049"/>
                  </a:lnTo>
                  <a:lnTo>
                    <a:pt x="23126" y="196545"/>
                  </a:lnTo>
                  <a:lnTo>
                    <a:pt x="23571" y="196545"/>
                  </a:lnTo>
                  <a:lnTo>
                    <a:pt x="24460" y="197053"/>
                  </a:lnTo>
                  <a:lnTo>
                    <a:pt x="24904" y="197548"/>
                  </a:lnTo>
                  <a:lnTo>
                    <a:pt x="25349" y="197548"/>
                  </a:lnTo>
                  <a:lnTo>
                    <a:pt x="25793" y="198056"/>
                  </a:lnTo>
                  <a:lnTo>
                    <a:pt x="26238" y="198056"/>
                  </a:lnTo>
                  <a:lnTo>
                    <a:pt x="26682" y="198551"/>
                  </a:lnTo>
                  <a:lnTo>
                    <a:pt x="27127" y="198551"/>
                  </a:lnTo>
                  <a:lnTo>
                    <a:pt x="27571" y="199047"/>
                  </a:lnTo>
                  <a:lnTo>
                    <a:pt x="28016" y="199047"/>
                  </a:lnTo>
                  <a:lnTo>
                    <a:pt x="28905" y="199555"/>
                  </a:lnTo>
                  <a:lnTo>
                    <a:pt x="29349" y="199555"/>
                  </a:lnTo>
                  <a:lnTo>
                    <a:pt x="29794" y="200050"/>
                  </a:lnTo>
                  <a:lnTo>
                    <a:pt x="30238" y="200558"/>
                  </a:lnTo>
                  <a:lnTo>
                    <a:pt x="31127" y="200558"/>
                  </a:lnTo>
                  <a:lnTo>
                    <a:pt x="31572" y="201053"/>
                  </a:lnTo>
                  <a:lnTo>
                    <a:pt x="32016" y="201053"/>
                  </a:lnTo>
                  <a:lnTo>
                    <a:pt x="32461" y="201549"/>
                  </a:lnTo>
                  <a:lnTo>
                    <a:pt x="33350" y="202057"/>
                  </a:lnTo>
                  <a:lnTo>
                    <a:pt x="34683" y="202552"/>
                  </a:lnTo>
                  <a:lnTo>
                    <a:pt x="35572" y="203047"/>
                  </a:lnTo>
                  <a:lnTo>
                    <a:pt x="36017" y="203047"/>
                  </a:lnTo>
                  <a:lnTo>
                    <a:pt x="36461" y="203047"/>
                  </a:lnTo>
                  <a:lnTo>
                    <a:pt x="36906" y="203555"/>
                  </a:lnTo>
                  <a:lnTo>
                    <a:pt x="37795" y="203555"/>
                  </a:lnTo>
                  <a:lnTo>
                    <a:pt x="38239" y="204050"/>
                  </a:lnTo>
                  <a:lnTo>
                    <a:pt x="39128" y="204558"/>
                  </a:lnTo>
                  <a:lnTo>
                    <a:pt x="39573" y="204558"/>
                  </a:lnTo>
                  <a:lnTo>
                    <a:pt x="40462" y="204558"/>
                  </a:lnTo>
                  <a:lnTo>
                    <a:pt x="40906" y="205054"/>
                  </a:lnTo>
                  <a:lnTo>
                    <a:pt x="41351" y="205054"/>
                  </a:lnTo>
                  <a:lnTo>
                    <a:pt x="42240" y="205549"/>
                  </a:lnTo>
                  <a:lnTo>
                    <a:pt x="43129" y="205549"/>
                  </a:lnTo>
                  <a:lnTo>
                    <a:pt x="43586" y="206057"/>
                  </a:lnTo>
                  <a:lnTo>
                    <a:pt x="44030" y="206057"/>
                  </a:lnTo>
                  <a:lnTo>
                    <a:pt x="44919" y="206552"/>
                  </a:lnTo>
                  <a:lnTo>
                    <a:pt x="45364" y="206552"/>
                  </a:lnTo>
                  <a:lnTo>
                    <a:pt x="46253" y="207048"/>
                  </a:lnTo>
                  <a:lnTo>
                    <a:pt x="46697" y="207048"/>
                  </a:lnTo>
                  <a:lnTo>
                    <a:pt x="47586" y="207556"/>
                  </a:lnTo>
                  <a:lnTo>
                    <a:pt x="48031" y="207556"/>
                  </a:lnTo>
                  <a:lnTo>
                    <a:pt x="48475" y="207556"/>
                  </a:lnTo>
                  <a:lnTo>
                    <a:pt x="49364" y="208051"/>
                  </a:lnTo>
                  <a:lnTo>
                    <a:pt x="50253" y="208051"/>
                  </a:lnTo>
                  <a:lnTo>
                    <a:pt x="50698" y="208559"/>
                  </a:lnTo>
                  <a:lnTo>
                    <a:pt x="51587" y="208559"/>
                  </a:lnTo>
                  <a:lnTo>
                    <a:pt x="52031" y="209054"/>
                  </a:lnTo>
                  <a:lnTo>
                    <a:pt x="52920" y="209054"/>
                  </a:lnTo>
                  <a:lnTo>
                    <a:pt x="53365" y="209054"/>
                  </a:lnTo>
                  <a:lnTo>
                    <a:pt x="54254" y="209550"/>
                  </a:lnTo>
                  <a:lnTo>
                    <a:pt x="55143" y="209550"/>
                  </a:lnTo>
                  <a:lnTo>
                    <a:pt x="55587" y="210058"/>
                  </a:lnTo>
                  <a:lnTo>
                    <a:pt x="56476" y="210058"/>
                  </a:lnTo>
                  <a:lnTo>
                    <a:pt x="57365" y="210058"/>
                  </a:lnTo>
                  <a:lnTo>
                    <a:pt x="57810" y="210553"/>
                  </a:lnTo>
                  <a:lnTo>
                    <a:pt x="58699" y="210553"/>
                  </a:lnTo>
                  <a:lnTo>
                    <a:pt x="59588" y="210553"/>
                  </a:lnTo>
                  <a:lnTo>
                    <a:pt x="60032" y="211061"/>
                  </a:lnTo>
                  <a:lnTo>
                    <a:pt x="60921" y="211061"/>
                  </a:lnTo>
                  <a:lnTo>
                    <a:pt x="61810" y="211061"/>
                  </a:lnTo>
                  <a:lnTo>
                    <a:pt x="62255" y="211556"/>
                  </a:lnTo>
                  <a:lnTo>
                    <a:pt x="63144" y="211556"/>
                  </a:lnTo>
                  <a:lnTo>
                    <a:pt x="64033" y="211556"/>
                  </a:lnTo>
                  <a:lnTo>
                    <a:pt x="64922" y="212051"/>
                  </a:lnTo>
                  <a:lnTo>
                    <a:pt x="65366" y="212051"/>
                  </a:lnTo>
                  <a:lnTo>
                    <a:pt x="66255" y="212051"/>
                  </a:lnTo>
                  <a:lnTo>
                    <a:pt x="67144" y="212559"/>
                  </a:lnTo>
                  <a:lnTo>
                    <a:pt x="68033" y="212559"/>
                  </a:lnTo>
                  <a:lnTo>
                    <a:pt x="68922" y="212559"/>
                  </a:lnTo>
                  <a:lnTo>
                    <a:pt x="69367" y="212559"/>
                  </a:lnTo>
                  <a:lnTo>
                    <a:pt x="70256" y="213055"/>
                  </a:lnTo>
                  <a:lnTo>
                    <a:pt x="71158" y="213055"/>
                  </a:lnTo>
                  <a:lnTo>
                    <a:pt x="72047" y="213055"/>
                  </a:lnTo>
                  <a:lnTo>
                    <a:pt x="72936" y="213055"/>
                  </a:lnTo>
                  <a:lnTo>
                    <a:pt x="73825" y="213550"/>
                  </a:lnTo>
                  <a:lnTo>
                    <a:pt x="76047" y="213550"/>
                  </a:lnTo>
                  <a:lnTo>
                    <a:pt x="76936" y="214058"/>
                  </a:lnTo>
                  <a:lnTo>
                    <a:pt x="77825" y="214058"/>
                  </a:lnTo>
                  <a:lnTo>
                    <a:pt x="78714" y="214058"/>
                  </a:lnTo>
                  <a:lnTo>
                    <a:pt x="81381" y="214058"/>
                  </a:lnTo>
                  <a:lnTo>
                    <a:pt x="82270" y="214553"/>
                  </a:lnTo>
                  <a:lnTo>
                    <a:pt x="88493" y="214553"/>
                  </a:lnTo>
                  <a:lnTo>
                    <a:pt x="89382" y="215061"/>
                  </a:lnTo>
                  <a:lnTo>
                    <a:pt x="107175" y="215061"/>
                  </a:lnTo>
                  <a:lnTo>
                    <a:pt x="109397" y="214553"/>
                  </a:lnTo>
                  <a:lnTo>
                    <a:pt x="113398" y="214553"/>
                  </a:lnTo>
                  <a:lnTo>
                    <a:pt x="114731" y="214553"/>
                  </a:lnTo>
                  <a:lnTo>
                    <a:pt x="116065" y="214553"/>
                  </a:lnTo>
                  <a:lnTo>
                    <a:pt x="117398" y="214553"/>
                  </a:lnTo>
                  <a:lnTo>
                    <a:pt x="118732" y="214058"/>
                  </a:lnTo>
                  <a:lnTo>
                    <a:pt x="131635" y="214058"/>
                  </a:lnTo>
                  <a:lnTo>
                    <a:pt x="132968" y="213550"/>
                  </a:lnTo>
                  <a:lnTo>
                    <a:pt x="151637" y="213550"/>
                  </a:lnTo>
                  <a:lnTo>
                    <a:pt x="153415" y="213055"/>
                  </a:lnTo>
                  <a:lnTo>
                    <a:pt x="205892" y="213055"/>
                  </a:lnTo>
                  <a:lnTo>
                    <a:pt x="223167" y="213132"/>
                  </a:lnTo>
                  <a:lnTo>
                    <a:pt x="239360" y="213302"/>
                  </a:lnTo>
                  <a:lnTo>
                    <a:pt x="254051" y="213473"/>
                  </a:lnTo>
                  <a:lnTo>
                    <a:pt x="266826" y="213550"/>
                  </a:lnTo>
                  <a:lnTo>
                    <a:pt x="280606" y="213550"/>
                  </a:lnTo>
                  <a:lnTo>
                    <a:pt x="280606" y="213055"/>
                  </a:lnTo>
                  <a:lnTo>
                    <a:pt x="288162" y="213055"/>
                  </a:lnTo>
                  <a:lnTo>
                    <a:pt x="299097" y="211070"/>
                  </a:lnTo>
                  <a:lnTo>
                    <a:pt x="343306" y="194056"/>
                  </a:lnTo>
                  <a:lnTo>
                    <a:pt x="349097" y="189547"/>
                  </a:lnTo>
                  <a:lnTo>
                    <a:pt x="349542" y="189547"/>
                  </a:lnTo>
                  <a:lnTo>
                    <a:pt x="349986" y="189052"/>
                  </a:lnTo>
                  <a:lnTo>
                    <a:pt x="355765" y="184048"/>
                  </a:lnTo>
                  <a:lnTo>
                    <a:pt x="360210" y="178041"/>
                  </a:lnTo>
                  <a:lnTo>
                    <a:pt x="361988" y="171538"/>
                  </a:lnTo>
                  <a:lnTo>
                    <a:pt x="362877" y="168046"/>
                  </a:lnTo>
                  <a:lnTo>
                    <a:pt x="361988" y="164541"/>
                  </a:lnTo>
                  <a:lnTo>
                    <a:pt x="339814" y="133388"/>
                  </a:lnTo>
                  <a:lnTo>
                    <a:pt x="334860" y="128536"/>
                  </a:lnTo>
                  <a:lnTo>
                    <a:pt x="328879" y="121904"/>
                  </a:lnTo>
                  <a:lnTo>
                    <a:pt x="320686" y="112275"/>
                  </a:lnTo>
                  <a:lnTo>
                    <a:pt x="311909" y="102649"/>
                  </a:lnTo>
                  <a:lnTo>
                    <a:pt x="304177" y="96024"/>
                  </a:lnTo>
                  <a:lnTo>
                    <a:pt x="303733" y="96024"/>
                  </a:lnTo>
                  <a:lnTo>
                    <a:pt x="302844" y="95529"/>
                  </a:lnTo>
                  <a:lnTo>
                    <a:pt x="301955" y="95021"/>
                  </a:lnTo>
                  <a:lnTo>
                    <a:pt x="301955" y="69011"/>
                  </a:lnTo>
                  <a:lnTo>
                    <a:pt x="321525" y="59512"/>
                  </a:lnTo>
                  <a:lnTo>
                    <a:pt x="324192" y="58013"/>
                  </a:lnTo>
                  <a:lnTo>
                    <a:pt x="324192" y="56007"/>
                  </a:lnTo>
                  <a:lnTo>
                    <a:pt x="321525" y="54508"/>
                  </a:lnTo>
                  <a:lnTo>
                    <a:pt x="301955" y="43510"/>
                  </a:lnTo>
                  <a:lnTo>
                    <a:pt x="299288" y="42506"/>
                  </a:lnTo>
                  <a:lnTo>
                    <a:pt x="297065" y="44005"/>
                  </a:lnTo>
                  <a:lnTo>
                    <a:pt x="297065" y="47015"/>
                  </a:lnTo>
                  <a:lnTo>
                    <a:pt x="297065" y="92024"/>
                  </a:lnTo>
                  <a:lnTo>
                    <a:pt x="288244" y="87411"/>
                  </a:lnTo>
                  <a:lnTo>
                    <a:pt x="275883" y="82894"/>
                  </a:lnTo>
                  <a:lnTo>
                    <a:pt x="259105" y="78942"/>
                  </a:lnTo>
                  <a:lnTo>
                    <a:pt x="237032" y="76022"/>
                  </a:lnTo>
                  <a:lnTo>
                    <a:pt x="236143" y="76022"/>
                  </a:lnTo>
                  <a:lnTo>
                    <a:pt x="235242" y="76022"/>
                  </a:lnTo>
                  <a:lnTo>
                    <a:pt x="234797" y="75514"/>
                  </a:lnTo>
                  <a:lnTo>
                    <a:pt x="233908" y="75514"/>
                  </a:lnTo>
                  <a:lnTo>
                    <a:pt x="232575" y="75514"/>
                  </a:lnTo>
                  <a:lnTo>
                    <a:pt x="231686" y="75514"/>
                  </a:lnTo>
                  <a:lnTo>
                    <a:pt x="230352" y="75514"/>
                  </a:lnTo>
                  <a:lnTo>
                    <a:pt x="229463" y="75514"/>
                  </a:lnTo>
                  <a:lnTo>
                    <a:pt x="229019" y="75514"/>
                  </a:lnTo>
                  <a:lnTo>
                    <a:pt x="228574" y="75018"/>
                  </a:lnTo>
                  <a:lnTo>
                    <a:pt x="221907" y="75018"/>
                  </a:lnTo>
                  <a:lnTo>
                    <a:pt x="221462" y="74523"/>
                  </a:lnTo>
                  <a:lnTo>
                    <a:pt x="213017" y="74523"/>
                  </a:lnTo>
                  <a:lnTo>
                    <a:pt x="212572" y="74015"/>
                  </a:lnTo>
                  <a:lnTo>
                    <a:pt x="201447" y="74015"/>
                  </a:lnTo>
                  <a:lnTo>
                    <a:pt x="201002" y="73520"/>
                  </a:lnTo>
                  <a:lnTo>
                    <a:pt x="180098" y="73520"/>
                  </a:lnTo>
                  <a:lnTo>
                    <a:pt x="180098" y="35509"/>
                  </a:lnTo>
                  <a:lnTo>
                    <a:pt x="206336" y="22999"/>
                  </a:lnTo>
                  <a:lnTo>
                    <a:pt x="209905" y="21005"/>
                  </a:lnTo>
                  <a:lnTo>
                    <a:pt x="209905" y="17995"/>
                  </a:lnTo>
                  <a:lnTo>
                    <a:pt x="206336" y="16002"/>
                  </a:lnTo>
                  <a:lnTo>
                    <a:pt x="180098" y="1993"/>
                  </a:lnTo>
                  <a:lnTo>
                    <a:pt x="176542" y="0"/>
                  </a:lnTo>
                  <a:lnTo>
                    <a:pt x="173875" y="1993"/>
                  </a:lnTo>
                  <a:lnTo>
                    <a:pt x="173875" y="6502"/>
                  </a:lnTo>
                  <a:lnTo>
                    <a:pt x="173875" y="73520"/>
                  </a:lnTo>
                  <a:lnTo>
                    <a:pt x="136080" y="73520"/>
                  </a:lnTo>
                  <a:lnTo>
                    <a:pt x="135191" y="74015"/>
                  </a:lnTo>
                  <a:lnTo>
                    <a:pt x="128968" y="74015"/>
                  </a:lnTo>
                  <a:lnTo>
                    <a:pt x="128523" y="74523"/>
                  </a:lnTo>
                  <a:lnTo>
                    <a:pt x="127634" y="74523"/>
                  </a:lnTo>
                  <a:lnTo>
                    <a:pt x="125856" y="74523"/>
                  </a:lnTo>
                  <a:lnTo>
                    <a:pt x="125399" y="74523"/>
                  </a:lnTo>
                  <a:lnTo>
                    <a:pt x="123621" y="74523"/>
                  </a:lnTo>
                  <a:lnTo>
                    <a:pt x="123177" y="74523"/>
                  </a:lnTo>
                  <a:lnTo>
                    <a:pt x="123177" y="75018"/>
                  </a:lnTo>
                  <a:lnTo>
                    <a:pt x="120954" y="75018"/>
                  </a:lnTo>
                  <a:lnTo>
                    <a:pt x="120510" y="75018"/>
                  </a:lnTo>
                  <a:lnTo>
                    <a:pt x="118732" y="75018"/>
                  </a:lnTo>
                  <a:lnTo>
                    <a:pt x="118732" y="75514"/>
                  </a:lnTo>
                  <a:lnTo>
                    <a:pt x="115176" y="75514"/>
                  </a:lnTo>
                  <a:lnTo>
                    <a:pt x="114287" y="76022"/>
                  </a:lnTo>
                  <a:lnTo>
                    <a:pt x="113842" y="76022"/>
                  </a:lnTo>
                  <a:lnTo>
                    <a:pt x="113398" y="76022"/>
                  </a:lnTo>
                  <a:lnTo>
                    <a:pt x="112509" y="76022"/>
                  </a:lnTo>
                  <a:lnTo>
                    <a:pt x="111620" y="76022"/>
                  </a:lnTo>
                  <a:lnTo>
                    <a:pt x="111175" y="76517"/>
                  </a:lnTo>
                  <a:lnTo>
                    <a:pt x="110286" y="76517"/>
                  </a:lnTo>
                  <a:lnTo>
                    <a:pt x="108508" y="76517"/>
                  </a:lnTo>
                  <a:lnTo>
                    <a:pt x="108064" y="77012"/>
                  </a:lnTo>
                  <a:lnTo>
                    <a:pt x="105841" y="77012"/>
                  </a:lnTo>
                  <a:lnTo>
                    <a:pt x="105397" y="77520"/>
                  </a:lnTo>
                  <a:lnTo>
                    <a:pt x="103174" y="77520"/>
                  </a:lnTo>
                  <a:lnTo>
                    <a:pt x="102730" y="77520"/>
                  </a:lnTo>
                  <a:lnTo>
                    <a:pt x="101841" y="78016"/>
                  </a:lnTo>
                  <a:lnTo>
                    <a:pt x="101396" y="78016"/>
                  </a:lnTo>
                  <a:lnTo>
                    <a:pt x="100507" y="78016"/>
                  </a:lnTo>
                  <a:lnTo>
                    <a:pt x="100507" y="78524"/>
                  </a:lnTo>
                  <a:lnTo>
                    <a:pt x="100063" y="78524"/>
                  </a:lnTo>
                  <a:lnTo>
                    <a:pt x="99174" y="78524"/>
                  </a:lnTo>
                  <a:lnTo>
                    <a:pt x="98729" y="78524"/>
                  </a:lnTo>
                  <a:lnTo>
                    <a:pt x="97828" y="79019"/>
                  </a:lnTo>
                  <a:lnTo>
                    <a:pt x="97383" y="79019"/>
                  </a:lnTo>
                  <a:lnTo>
                    <a:pt x="96494" y="79019"/>
                  </a:lnTo>
                  <a:lnTo>
                    <a:pt x="96050" y="79019"/>
                  </a:lnTo>
                  <a:lnTo>
                    <a:pt x="95161" y="79514"/>
                  </a:lnTo>
                  <a:lnTo>
                    <a:pt x="94716" y="79514"/>
                  </a:lnTo>
                  <a:lnTo>
                    <a:pt x="93827" y="79514"/>
                  </a:lnTo>
                  <a:lnTo>
                    <a:pt x="92938" y="80022"/>
                  </a:lnTo>
                  <a:lnTo>
                    <a:pt x="92494" y="80022"/>
                  </a:lnTo>
                  <a:lnTo>
                    <a:pt x="92049" y="80022"/>
                  </a:lnTo>
                  <a:lnTo>
                    <a:pt x="91160" y="80518"/>
                  </a:lnTo>
                  <a:lnTo>
                    <a:pt x="90716" y="80518"/>
                  </a:lnTo>
                  <a:lnTo>
                    <a:pt x="89827" y="81026"/>
                  </a:lnTo>
                  <a:lnTo>
                    <a:pt x="88938" y="81026"/>
                  </a:lnTo>
                  <a:lnTo>
                    <a:pt x="88493" y="81026"/>
                  </a:lnTo>
                  <a:lnTo>
                    <a:pt x="87604" y="81521"/>
                  </a:lnTo>
                  <a:lnTo>
                    <a:pt x="87160" y="81521"/>
                  </a:lnTo>
                  <a:lnTo>
                    <a:pt x="86715" y="81521"/>
                  </a:lnTo>
                  <a:lnTo>
                    <a:pt x="85826" y="82016"/>
                  </a:lnTo>
                  <a:lnTo>
                    <a:pt x="85382" y="82016"/>
                  </a:lnTo>
                  <a:lnTo>
                    <a:pt x="84493" y="82524"/>
                  </a:lnTo>
                  <a:lnTo>
                    <a:pt x="83604" y="82524"/>
                  </a:lnTo>
                  <a:lnTo>
                    <a:pt x="83159" y="82524"/>
                  </a:lnTo>
                  <a:lnTo>
                    <a:pt x="82270" y="83019"/>
                  </a:lnTo>
                  <a:lnTo>
                    <a:pt x="81381" y="83019"/>
                  </a:lnTo>
                  <a:lnTo>
                    <a:pt x="81381" y="83515"/>
                  </a:lnTo>
                  <a:lnTo>
                    <a:pt x="80492" y="83515"/>
                  </a:lnTo>
                  <a:lnTo>
                    <a:pt x="80048" y="84023"/>
                  </a:lnTo>
                  <a:lnTo>
                    <a:pt x="79159" y="84023"/>
                  </a:lnTo>
                  <a:lnTo>
                    <a:pt x="78714" y="84023"/>
                  </a:lnTo>
                  <a:lnTo>
                    <a:pt x="78270" y="84518"/>
                  </a:lnTo>
                  <a:lnTo>
                    <a:pt x="77825" y="84518"/>
                  </a:lnTo>
                  <a:lnTo>
                    <a:pt x="76936" y="85026"/>
                  </a:lnTo>
                  <a:lnTo>
                    <a:pt x="76047" y="85026"/>
                  </a:lnTo>
                  <a:lnTo>
                    <a:pt x="69367" y="87515"/>
                  </a:lnTo>
                  <a:lnTo>
                    <a:pt x="64033" y="90017"/>
                  </a:lnTo>
                  <a:lnTo>
                    <a:pt x="59588" y="92519"/>
                  </a:lnTo>
                  <a:lnTo>
                    <a:pt x="59588" y="67017"/>
                  </a:lnTo>
                  <a:lnTo>
                    <a:pt x="79159" y="57518"/>
                  </a:lnTo>
                  <a:lnTo>
                    <a:pt x="81826" y="56007"/>
                  </a:lnTo>
                  <a:lnTo>
                    <a:pt x="81826" y="54013"/>
                  </a:lnTo>
                  <a:lnTo>
                    <a:pt x="79159" y="52514"/>
                  </a:lnTo>
                  <a:lnTo>
                    <a:pt x="59588" y="42011"/>
                  </a:lnTo>
                  <a:lnTo>
                    <a:pt x="56921" y="40513"/>
                  </a:lnTo>
                  <a:lnTo>
                    <a:pt x="54698" y="42011"/>
                  </a:lnTo>
                  <a:lnTo>
                    <a:pt x="54698" y="45504"/>
                  </a:lnTo>
                  <a:lnTo>
                    <a:pt x="54698" y="95021"/>
                  </a:lnTo>
                  <a:lnTo>
                    <a:pt x="47343" y="100806"/>
                  </a:lnTo>
                  <a:lnTo>
                    <a:pt x="41575" y="107151"/>
                  </a:lnTo>
                  <a:lnTo>
                    <a:pt x="35809" y="114432"/>
                  </a:lnTo>
                  <a:lnTo>
                    <a:pt x="28460" y="123024"/>
                  </a:lnTo>
                  <a:lnTo>
                    <a:pt x="18320" y="134875"/>
                  </a:lnTo>
                  <a:lnTo>
                    <a:pt x="9391" y="147285"/>
                  </a:lnTo>
                  <a:lnTo>
                    <a:pt x="2882" y="159318"/>
                  </a:lnTo>
                  <a:lnTo>
                    <a:pt x="0" y="170040"/>
                  </a:lnTo>
                  <a:lnTo>
                    <a:pt x="0" y="172542"/>
                  </a:lnTo>
                  <a:lnTo>
                    <a:pt x="0" y="174548"/>
                  </a:lnTo>
                  <a:lnTo>
                    <a:pt x="888" y="176542"/>
                  </a:lnTo>
                  <a:lnTo>
                    <a:pt x="1333" y="177050"/>
                  </a:lnTo>
                  <a:lnTo>
                    <a:pt x="1777" y="177546"/>
                  </a:lnTo>
                  <a:close/>
                </a:path>
              </a:pathLst>
            </a:custGeom>
            <a:ln w="9524">
              <a:solidFill>
                <a:srgbClr val="000000"/>
              </a:solidFill>
            </a:ln>
          </p:spPr>
          <p:txBody>
            <a:bodyPr wrap="square" lIns="0" tIns="0" rIns="0" bIns="0" rtlCol="0"/>
            <a:lstStyle/>
            <a:p/>
          </p:txBody>
        </p:sp>
        <p:pic>
          <p:nvPicPr>
            <p:cNvPr id="115" name="object 115" descr=""/>
            <p:cNvPicPr/>
            <p:nvPr/>
          </p:nvPicPr>
          <p:blipFill>
            <a:blip r:embed="rId17" cstate="print"/>
            <a:stretch>
              <a:fillRect/>
            </a:stretch>
          </p:blipFill>
          <p:spPr>
            <a:xfrm>
              <a:off x="3129323" y="1603982"/>
              <a:ext cx="231000" cy="128562"/>
            </a:xfrm>
            <a:prstGeom prst="rect">
              <a:avLst/>
            </a:prstGeom>
          </p:spPr>
        </p:pic>
        <p:sp>
          <p:nvSpPr>
            <p:cNvPr id="116" name="object 116" descr=""/>
            <p:cNvSpPr/>
            <p:nvPr/>
          </p:nvSpPr>
          <p:spPr>
            <a:xfrm>
              <a:off x="646125" y="1334731"/>
              <a:ext cx="664210" cy="192405"/>
            </a:xfrm>
            <a:custGeom>
              <a:avLst/>
              <a:gdLst/>
              <a:ahLst/>
              <a:cxnLst/>
              <a:rect l="l" t="t" r="r" b="b"/>
              <a:pathLst>
                <a:path w="664210" h="192405">
                  <a:moveTo>
                    <a:pt x="664171" y="0"/>
                  </a:moveTo>
                  <a:lnTo>
                    <a:pt x="0" y="0"/>
                  </a:lnTo>
                  <a:lnTo>
                    <a:pt x="0" y="192354"/>
                  </a:lnTo>
                  <a:lnTo>
                    <a:pt x="664171" y="192354"/>
                  </a:lnTo>
                  <a:lnTo>
                    <a:pt x="664171" y="0"/>
                  </a:lnTo>
                  <a:close/>
                </a:path>
              </a:pathLst>
            </a:custGeom>
            <a:solidFill>
              <a:srgbClr val="CCCCFF"/>
            </a:solidFill>
          </p:spPr>
          <p:txBody>
            <a:bodyPr wrap="square" lIns="0" tIns="0" rIns="0" bIns="0" rtlCol="0"/>
            <a:lstStyle/>
            <a:p/>
          </p:txBody>
        </p:sp>
      </p:grpSp>
      <p:sp>
        <p:nvSpPr>
          <p:cNvPr id="117" name="object 117" descr=""/>
          <p:cNvSpPr txBox="1"/>
          <p:nvPr/>
        </p:nvSpPr>
        <p:spPr>
          <a:xfrm>
            <a:off x="701953" y="1352504"/>
            <a:ext cx="544830" cy="147320"/>
          </a:xfrm>
          <a:prstGeom prst="rect">
            <a:avLst/>
          </a:prstGeom>
        </p:spPr>
        <p:txBody>
          <a:bodyPr wrap="square" lIns="0" tIns="12065" rIns="0" bIns="0" rtlCol="0" vert="horz">
            <a:spAutoFit/>
          </a:bodyPr>
          <a:lstStyle/>
          <a:p>
            <a:pPr marL="12700">
              <a:lnSpc>
                <a:spcPct val="100000"/>
              </a:lnSpc>
              <a:spcBef>
                <a:spcPts val="95"/>
              </a:spcBef>
            </a:pPr>
            <a:r>
              <a:rPr dirty="0" sz="800" b="1">
                <a:solidFill>
                  <a:srgbClr val="262673"/>
                </a:solidFill>
                <a:latin typeface="Microsoft YaHei"/>
                <a:cs typeface="Microsoft YaHei"/>
              </a:rPr>
              <a:t>64TR</a:t>
            </a:r>
            <a:r>
              <a:rPr dirty="0" sz="800" spc="-35" b="1">
                <a:solidFill>
                  <a:srgbClr val="262673"/>
                </a:solidFill>
                <a:latin typeface="Microsoft YaHei"/>
                <a:cs typeface="Microsoft YaHei"/>
              </a:rPr>
              <a:t> </a:t>
            </a:r>
            <a:r>
              <a:rPr dirty="0" sz="800" spc="-25" b="1">
                <a:solidFill>
                  <a:srgbClr val="262673"/>
                </a:solidFill>
                <a:latin typeface="Microsoft YaHei"/>
                <a:cs typeface="Microsoft YaHei"/>
              </a:rPr>
              <a:t>AAU</a:t>
            </a:r>
            <a:endParaRPr sz="800">
              <a:latin typeface="Microsoft YaHei"/>
              <a:cs typeface="Microsoft YaHei"/>
            </a:endParaRPr>
          </a:p>
        </p:txBody>
      </p:sp>
      <p:sp>
        <p:nvSpPr>
          <p:cNvPr id="118" name="object 118" descr=""/>
          <p:cNvSpPr/>
          <p:nvPr/>
        </p:nvSpPr>
        <p:spPr>
          <a:xfrm>
            <a:off x="1739963" y="1599641"/>
            <a:ext cx="455930" cy="196215"/>
          </a:xfrm>
          <a:custGeom>
            <a:avLst/>
            <a:gdLst/>
            <a:ahLst/>
            <a:cxnLst/>
            <a:rect l="l" t="t" r="r" b="b"/>
            <a:pathLst>
              <a:path w="455930" h="196214">
                <a:moveTo>
                  <a:pt x="455777" y="0"/>
                </a:moveTo>
                <a:lnTo>
                  <a:pt x="0" y="0"/>
                </a:lnTo>
                <a:lnTo>
                  <a:pt x="0" y="196202"/>
                </a:lnTo>
                <a:lnTo>
                  <a:pt x="455777" y="196202"/>
                </a:lnTo>
                <a:lnTo>
                  <a:pt x="455777" y="0"/>
                </a:lnTo>
                <a:close/>
              </a:path>
            </a:pathLst>
          </a:custGeom>
          <a:solidFill>
            <a:srgbClr val="CCCCFF"/>
          </a:solidFill>
        </p:spPr>
        <p:txBody>
          <a:bodyPr wrap="square" lIns="0" tIns="0" rIns="0" bIns="0" rtlCol="0"/>
          <a:lstStyle/>
          <a:p/>
        </p:txBody>
      </p:sp>
      <p:sp>
        <p:nvSpPr>
          <p:cNvPr id="119" name="object 119" descr=""/>
          <p:cNvSpPr txBox="1"/>
          <p:nvPr/>
        </p:nvSpPr>
        <p:spPr>
          <a:xfrm>
            <a:off x="1795781" y="1617416"/>
            <a:ext cx="329565" cy="147320"/>
          </a:xfrm>
          <a:prstGeom prst="rect">
            <a:avLst/>
          </a:prstGeom>
        </p:spPr>
        <p:txBody>
          <a:bodyPr wrap="square" lIns="0" tIns="12065" rIns="0" bIns="0" rtlCol="0" vert="horz">
            <a:spAutoFit/>
          </a:bodyPr>
          <a:lstStyle/>
          <a:p>
            <a:pPr marL="12700">
              <a:lnSpc>
                <a:spcPct val="100000"/>
              </a:lnSpc>
              <a:spcBef>
                <a:spcPts val="95"/>
              </a:spcBef>
            </a:pPr>
            <a:r>
              <a:rPr dirty="0" sz="800" spc="-25" b="1">
                <a:solidFill>
                  <a:srgbClr val="262673"/>
                </a:solidFill>
                <a:latin typeface="Microsoft YaHei"/>
                <a:cs typeface="Microsoft YaHei"/>
              </a:rPr>
              <a:t>灯杆站</a:t>
            </a:r>
            <a:endParaRPr sz="800">
              <a:latin typeface="Microsoft YaHei"/>
              <a:cs typeface="Microsoft YaHei"/>
            </a:endParaRPr>
          </a:p>
        </p:txBody>
      </p:sp>
      <p:sp>
        <p:nvSpPr>
          <p:cNvPr id="120" name="object 120" descr=""/>
          <p:cNvSpPr/>
          <p:nvPr/>
        </p:nvSpPr>
        <p:spPr>
          <a:xfrm>
            <a:off x="2739872" y="1329613"/>
            <a:ext cx="996315" cy="192405"/>
          </a:xfrm>
          <a:custGeom>
            <a:avLst/>
            <a:gdLst/>
            <a:ahLst/>
            <a:cxnLst/>
            <a:rect l="l" t="t" r="r" b="b"/>
            <a:pathLst>
              <a:path w="996314" h="192405">
                <a:moveTo>
                  <a:pt x="995984" y="0"/>
                </a:moveTo>
                <a:lnTo>
                  <a:pt x="0" y="0"/>
                </a:lnTo>
                <a:lnTo>
                  <a:pt x="0" y="192354"/>
                </a:lnTo>
                <a:lnTo>
                  <a:pt x="995984" y="192354"/>
                </a:lnTo>
                <a:lnTo>
                  <a:pt x="995984" y="0"/>
                </a:lnTo>
                <a:close/>
              </a:path>
            </a:pathLst>
          </a:custGeom>
          <a:solidFill>
            <a:srgbClr val="CCCCFF"/>
          </a:solidFill>
        </p:spPr>
        <p:txBody>
          <a:bodyPr wrap="square" lIns="0" tIns="0" rIns="0" bIns="0" rtlCol="0"/>
          <a:lstStyle/>
          <a:p/>
        </p:txBody>
      </p:sp>
      <p:sp>
        <p:nvSpPr>
          <p:cNvPr id="121" name="object 121" descr=""/>
          <p:cNvSpPr txBox="1"/>
          <p:nvPr/>
        </p:nvSpPr>
        <p:spPr>
          <a:xfrm>
            <a:off x="2795692" y="1347386"/>
            <a:ext cx="872490" cy="147320"/>
          </a:xfrm>
          <a:prstGeom prst="rect">
            <a:avLst/>
          </a:prstGeom>
        </p:spPr>
        <p:txBody>
          <a:bodyPr wrap="square" lIns="0" tIns="12065" rIns="0" bIns="0" rtlCol="0" vert="horz">
            <a:spAutoFit/>
          </a:bodyPr>
          <a:lstStyle/>
          <a:p>
            <a:pPr marL="12700">
              <a:lnSpc>
                <a:spcPct val="100000"/>
              </a:lnSpc>
              <a:spcBef>
                <a:spcPts val="95"/>
              </a:spcBef>
            </a:pPr>
            <a:r>
              <a:rPr dirty="0" sz="800" b="1">
                <a:solidFill>
                  <a:srgbClr val="262673"/>
                </a:solidFill>
                <a:latin typeface="Microsoft YaHei"/>
                <a:cs typeface="Microsoft YaHei"/>
              </a:rPr>
              <a:t>4TR</a:t>
            </a:r>
            <a:r>
              <a:rPr dirty="0" sz="800" spc="-15" b="1">
                <a:solidFill>
                  <a:srgbClr val="262673"/>
                </a:solidFill>
                <a:latin typeface="Microsoft YaHei"/>
                <a:cs typeface="Microsoft YaHei"/>
              </a:rPr>
              <a:t> </a:t>
            </a:r>
            <a:r>
              <a:rPr dirty="0" sz="800" spc="-10" b="1">
                <a:solidFill>
                  <a:srgbClr val="262673"/>
                </a:solidFill>
                <a:latin typeface="Microsoft YaHei"/>
                <a:cs typeface="Microsoft YaHei"/>
              </a:rPr>
              <a:t>Pico</a:t>
            </a:r>
            <a:r>
              <a:rPr dirty="0" sz="800" spc="-20" b="1">
                <a:solidFill>
                  <a:srgbClr val="262673"/>
                </a:solidFill>
                <a:latin typeface="Microsoft YaHei"/>
                <a:cs typeface="Microsoft YaHei"/>
              </a:rPr>
              <a:t>覆盖室内</a:t>
            </a:r>
            <a:endParaRPr sz="800">
              <a:latin typeface="Microsoft YaHei"/>
              <a:cs typeface="Microsoft YaHei"/>
            </a:endParaRPr>
          </a:p>
        </p:txBody>
      </p:sp>
      <p:grpSp>
        <p:nvGrpSpPr>
          <p:cNvPr id="122" name="object 122" descr=""/>
          <p:cNvGrpSpPr/>
          <p:nvPr/>
        </p:nvGrpSpPr>
        <p:grpSpPr>
          <a:xfrm>
            <a:off x="901321" y="1960035"/>
            <a:ext cx="3269615" cy="1372870"/>
            <a:chOff x="901321" y="1960035"/>
            <a:chExt cx="3269615" cy="1372870"/>
          </a:xfrm>
        </p:grpSpPr>
        <p:pic>
          <p:nvPicPr>
            <p:cNvPr id="123" name="object 123" descr=""/>
            <p:cNvPicPr/>
            <p:nvPr/>
          </p:nvPicPr>
          <p:blipFill>
            <a:blip r:embed="rId18" cstate="print"/>
            <a:stretch>
              <a:fillRect/>
            </a:stretch>
          </p:blipFill>
          <p:spPr>
            <a:xfrm>
              <a:off x="2114917" y="1960035"/>
              <a:ext cx="378383" cy="182314"/>
            </a:xfrm>
            <a:prstGeom prst="rect">
              <a:avLst/>
            </a:prstGeom>
          </p:spPr>
        </p:pic>
        <p:sp>
          <p:nvSpPr>
            <p:cNvPr id="124" name="object 124" descr=""/>
            <p:cNvSpPr/>
            <p:nvPr/>
          </p:nvSpPr>
          <p:spPr>
            <a:xfrm>
              <a:off x="2103602" y="2144737"/>
              <a:ext cx="401320" cy="12700"/>
            </a:xfrm>
            <a:custGeom>
              <a:avLst/>
              <a:gdLst/>
              <a:ahLst/>
              <a:cxnLst/>
              <a:rect l="l" t="t" r="r" b="b"/>
              <a:pathLst>
                <a:path w="401319" h="12700">
                  <a:moveTo>
                    <a:pt x="401002" y="0"/>
                  </a:moveTo>
                  <a:lnTo>
                    <a:pt x="0" y="0"/>
                  </a:lnTo>
                  <a:lnTo>
                    <a:pt x="0" y="12268"/>
                  </a:lnTo>
                  <a:lnTo>
                    <a:pt x="401002" y="12268"/>
                  </a:lnTo>
                  <a:lnTo>
                    <a:pt x="401002" y="0"/>
                  </a:lnTo>
                  <a:close/>
                </a:path>
              </a:pathLst>
            </a:custGeom>
            <a:solidFill>
              <a:srgbClr val="DDFEFF"/>
            </a:solidFill>
          </p:spPr>
          <p:txBody>
            <a:bodyPr wrap="square" lIns="0" tIns="0" rIns="0" bIns="0" rtlCol="0"/>
            <a:lstStyle/>
            <a:p/>
          </p:txBody>
        </p:sp>
        <p:sp>
          <p:nvSpPr>
            <p:cNvPr id="125" name="object 125" descr=""/>
            <p:cNvSpPr/>
            <p:nvPr/>
          </p:nvSpPr>
          <p:spPr>
            <a:xfrm>
              <a:off x="2103602" y="2144737"/>
              <a:ext cx="401320" cy="12700"/>
            </a:xfrm>
            <a:custGeom>
              <a:avLst/>
              <a:gdLst/>
              <a:ahLst/>
              <a:cxnLst/>
              <a:rect l="l" t="t" r="r" b="b"/>
              <a:pathLst>
                <a:path w="401319" h="12700">
                  <a:moveTo>
                    <a:pt x="0" y="0"/>
                  </a:moveTo>
                  <a:lnTo>
                    <a:pt x="401002" y="0"/>
                  </a:lnTo>
                  <a:lnTo>
                    <a:pt x="401002" y="12268"/>
                  </a:lnTo>
                  <a:lnTo>
                    <a:pt x="0" y="12268"/>
                  </a:lnTo>
                  <a:lnTo>
                    <a:pt x="0" y="0"/>
                  </a:lnTo>
                  <a:close/>
                </a:path>
              </a:pathLst>
            </a:custGeom>
            <a:ln w="9525">
              <a:solidFill>
                <a:srgbClr val="000000"/>
              </a:solidFill>
            </a:ln>
          </p:spPr>
          <p:txBody>
            <a:bodyPr wrap="square" lIns="0" tIns="0" rIns="0" bIns="0" rtlCol="0"/>
            <a:lstStyle/>
            <a:p/>
          </p:txBody>
        </p:sp>
        <p:pic>
          <p:nvPicPr>
            <p:cNvPr id="126" name="object 126" descr=""/>
            <p:cNvPicPr/>
            <p:nvPr/>
          </p:nvPicPr>
          <p:blipFill>
            <a:blip r:embed="rId19" cstate="print"/>
            <a:stretch>
              <a:fillRect/>
            </a:stretch>
          </p:blipFill>
          <p:spPr>
            <a:xfrm>
              <a:off x="2249751" y="2815927"/>
              <a:ext cx="783234" cy="516782"/>
            </a:xfrm>
            <a:prstGeom prst="rect">
              <a:avLst/>
            </a:prstGeom>
          </p:spPr>
        </p:pic>
        <p:pic>
          <p:nvPicPr>
            <p:cNvPr id="127" name="object 127" descr=""/>
            <p:cNvPicPr/>
            <p:nvPr/>
          </p:nvPicPr>
          <p:blipFill>
            <a:blip r:embed="rId20" cstate="print"/>
            <a:stretch>
              <a:fillRect/>
            </a:stretch>
          </p:blipFill>
          <p:spPr>
            <a:xfrm>
              <a:off x="901321" y="2654467"/>
              <a:ext cx="247660" cy="426351"/>
            </a:xfrm>
            <a:prstGeom prst="rect">
              <a:avLst/>
            </a:prstGeom>
          </p:spPr>
        </p:pic>
        <p:pic>
          <p:nvPicPr>
            <p:cNvPr id="128" name="object 128" descr=""/>
            <p:cNvPicPr/>
            <p:nvPr/>
          </p:nvPicPr>
          <p:blipFill>
            <a:blip r:embed="rId21" cstate="print"/>
            <a:stretch>
              <a:fillRect/>
            </a:stretch>
          </p:blipFill>
          <p:spPr>
            <a:xfrm>
              <a:off x="3449018" y="2582152"/>
              <a:ext cx="721448" cy="408550"/>
            </a:xfrm>
            <a:prstGeom prst="rect">
              <a:avLst/>
            </a:prstGeom>
          </p:spPr>
        </p:pic>
      </p:grpSp>
      <p:sp>
        <p:nvSpPr>
          <p:cNvPr id="129" name="object 129" descr=""/>
          <p:cNvSpPr txBox="1"/>
          <p:nvPr/>
        </p:nvSpPr>
        <p:spPr>
          <a:xfrm>
            <a:off x="4552133" y="2646480"/>
            <a:ext cx="330200" cy="208279"/>
          </a:xfrm>
          <a:prstGeom prst="rect">
            <a:avLst/>
          </a:prstGeom>
        </p:spPr>
        <p:txBody>
          <a:bodyPr wrap="square" lIns="0" tIns="12700" rIns="0" bIns="0" rtlCol="0" vert="horz">
            <a:spAutoFit/>
          </a:bodyPr>
          <a:lstStyle/>
          <a:p>
            <a:pPr marL="12700">
              <a:lnSpc>
                <a:spcPct val="100000"/>
              </a:lnSpc>
              <a:spcBef>
                <a:spcPts val="100"/>
              </a:spcBef>
            </a:pPr>
            <a:r>
              <a:rPr dirty="0" sz="1200" spc="-25" b="1">
                <a:latin typeface="Microsoft YaHei"/>
                <a:cs typeface="Microsoft YaHei"/>
              </a:rPr>
              <a:t>郊区</a:t>
            </a:r>
            <a:endParaRPr sz="1200">
              <a:latin typeface="Microsoft YaHei"/>
              <a:cs typeface="Microsoft YaHei"/>
            </a:endParaRPr>
          </a:p>
        </p:txBody>
      </p:sp>
      <p:sp>
        <p:nvSpPr>
          <p:cNvPr id="130" name="object 130" descr=""/>
          <p:cNvSpPr txBox="1"/>
          <p:nvPr/>
        </p:nvSpPr>
        <p:spPr>
          <a:xfrm>
            <a:off x="737409" y="2456034"/>
            <a:ext cx="544830" cy="147320"/>
          </a:xfrm>
          <a:prstGeom prst="rect">
            <a:avLst/>
          </a:prstGeom>
        </p:spPr>
        <p:txBody>
          <a:bodyPr wrap="square" lIns="0" tIns="12065" rIns="0" bIns="0" rtlCol="0" vert="horz">
            <a:spAutoFit/>
          </a:bodyPr>
          <a:lstStyle/>
          <a:p>
            <a:pPr marL="12700">
              <a:lnSpc>
                <a:spcPct val="100000"/>
              </a:lnSpc>
              <a:spcBef>
                <a:spcPts val="95"/>
              </a:spcBef>
            </a:pPr>
            <a:r>
              <a:rPr dirty="0" sz="800" b="1">
                <a:solidFill>
                  <a:srgbClr val="262673"/>
                </a:solidFill>
                <a:latin typeface="Microsoft YaHei"/>
                <a:cs typeface="Microsoft YaHei"/>
              </a:rPr>
              <a:t>64TR</a:t>
            </a:r>
            <a:r>
              <a:rPr dirty="0" sz="800" spc="-35" b="1">
                <a:solidFill>
                  <a:srgbClr val="262673"/>
                </a:solidFill>
                <a:latin typeface="Microsoft YaHei"/>
                <a:cs typeface="Microsoft YaHei"/>
              </a:rPr>
              <a:t> </a:t>
            </a:r>
            <a:r>
              <a:rPr dirty="0" sz="800" spc="-25" b="1">
                <a:solidFill>
                  <a:srgbClr val="262673"/>
                </a:solidFill>
                <a:latin typeface="Microsoft YaHei"/>
                <a:cs typeface="Microsoft YaHei"/>
              </a:rPr>
              <a:t>AAU</a:t>
            </a:r>
            <a:endParaRPr sz="800">
              <a:latin typeface="Microsoft YaHei"/>
              <a:cs typeface="Microsoft YaHei"/>
            </a:endParaRPr>
          </a:p>
        </p:txBody>
      </p:sp>
      <p:sp>
        <p:nvSpPr>
          <p:cNvPr id="131" name="object 131" descr=""/>
          <p:cNvSpPr txBox="1"/>
          <p:nvPr/>
        </p:nvSpPr>
        <p:spPr>
          <a:xfrm>
            <a:off x="3254337" y="2416205"/>
            <a:ext cx="544830" cy="147320"/>
          </a:xfrm>
          <a:prstGeom prst="rect">
            <a:avLst/>
          </a:prstGeom>
        </p:spPr>
        <p:txBody>
          <a:bodyPr wrap="square" lIns="0" tIns="12065" rIns="0" bIns="0" rtlCol="0" vert="horz">
            <a:spAutoFit/>
          </a:bodyPr>
          <a:lstStyle/>
          <a:p>
            <a:pPr marL="12700">
              <a:lnSpc>
                <a:spcPct val="100000"/>
              </a:lnSpc>
              <a:spcBef>
                <a:spcPts val="95"/>
              </a:spcBef>
            </a:pPr>
            <a:r>
              <a:rPr dirty="0" sz="800" b="1">
                <a:solidFill>
                  <a:srgbClr val="262673"/>
                </a:solidFill>
                <a:latin typeface="Microsoft YaHei"/>
                <a:cs typeface="Microsoft YaHei"/>
              </a:rPr>
              <a:t>16TR</a:t>
            </a:r>
            <a:r>
              <a:rPr dirty="0" sz="800" spc="-35" b="1">
                <a:solidFill>
                  <a:srgbClr val="262673"/>
                </a:solidFill>
                <a:latin typeface="Microsoft YaHei"/>
                <a:cs typeface="Microsoft YaHei"/>
              </a:rPr>
              <a:t> </a:t>
            </a:r>
            <a:r>
              <a:rPr dirty="0" sz="800" spc="-25" b="1">
                <a:solidFill>
                  <a:srgbClr val="262673"/>
                </a:solidFill>
                <a:latin typeface="Microsoft YaHei"/>
                <a:cs typeface="Microsoft YaHei"/>
              </a:rPr>
              <a:t>AAU</a:t>
            </a:r>
            <a:endParaRPr sz="800">
              <a:latin typeface="Microsoft YaHei"/>
              <a:cs typeface="Microsoft YaHei"/>
            </a:endParaRPr>
          </a:p>
        </p:txBody>
      </p:sp>
      <p:sp>
        <p:nvSpPr>
          <p:cNvPr id="132" name="object 132" descr=""/>
          <p:cNvSpPr txBox="1"/>
          <p:nvPr/>
        </p:nvSpPr>
        <p:spPr>
          <a:xfrm>
            <a:off x="2295170" y="2614235"/>
            <a:ext cx="499109" cy="147320"/>
          </a:xfrm>
          <a:prstGeom prst="rect">
            <a:avLst/>
          </a:prstGeom>
        </p:spPr>
        <p:txBody>
          <a:bodyPr wrap="square" lIns="0" tIns="12065" rIns="0" bIns="0" rtlCol="0" vert="horz">
            <a:spAutoFit/>
          </a:bodyPr>
          <a:lstStyle/>
          <a:p>
            <a:pPr marL="12700">
              <a:lnSpc>
                <a:spcPct val="100000"/>
              </a:lnSpc>
              <a:spcBef>
                <a:spcPts val="95"/>
              </a:spcBef>
            </a:pPr>
            <a:r>
              <a:rPr dirty="0" sz="800" b="1">
                <a:solidFill>
                  <a:srgbClr val="262673"/>
                </a:solidFill>
                <a:latin typeface="Microsoft YaHei"/>
                <a:cs typeface="Microsoft YaHei"/>
              </a:rPr>
              <a:t>PAD</a:t>
            </a:r>
            <a:r>
              <a:rPr dirty="0" sz="800" spc="-20" b="1">
                <a:solidFill>
                  <a:srgbClr val="262673"/>
                </a:solidFill>
                <a:latin typeface="Microsoft YaHei"/>
                <a:cs typeface="Microsoft YaHei"/>
              </a:rPr>
              <a:t> </a:t>
            </a:r>
            <a:r>
              <a:rPr dirty="0" sz="800" spc="-25" b="1">
                <a:solidFill>
                  <a:srgbClr val="262673"/>
                </a:solidFill>
                <a:latin typeface="Microsoft YaHei"/>
                <a:cs typeface="Microsoft YaHei"/>
              </a:rPr>
              <a:t>RRU</a:t>
            </a:r>
            <a:endParaRPr sz="800">
              <a:latin typeface="Microsoft YaHei"/>
              <a:cs typeface="Microsoft YaHei"/>
            </a:endParaRPr>
          </a:p>
        </p:txBody>
      </p:sp>
      <p:grpSp>
        <p:nvGrpSpPr>
          <p:cNvPr id="133" name="object 133" descr=""/>
          <p:cNvGrpSpPr/>
          <p:nvPr/>
        </p:nvGrpSpPr>
        <p:grpSpPr>
          <a:xfrm>
            <a:off x="547453" y="2483592"/>
            <a:ext cx="1920239" cy="1628139"/>
            <a:chOff x="547453" y="2483592"/>
            <a:chExt cx="1920239" cy="1628139"/>
          </a:xfrm>
        </p:grpSpPr>
        <p:pic>
          <p:nvPicPr>
            <p:cNvPr id="134" name="object 134" descr=""/>
            <p:cNvPicPr/>
            <p:nvPr/>
          </p:nvPicPr>
          <p:blipFill>
            <a:blip r:embed="rId22" cstate="print"/>
            <a:stretch>
              <a:fillRect/>
            </a:stretch>
          </p:blipFill>
          <p:spPr>
            <a:xfrm>
              <a:off x="1578101" y="3005258"/>
              <a:ext cx="133451" cy="253911"/>
            </a:xfrm>
            <a:prstGeom prst="rect">
              <a:avLst/>
            </a:prstGeom>
          </p:spPr>
        </p:pic>
        <p:sp>
          <p:nvSpPr>
            <p:cNvPr id="135" name="object 135" descr=""/>
            <p:cNvSpPr/>
            <p:nvPr/>
          </p:nvSpPr>
          <p:spPr>
            <a:xfrm>
              <a:off x="1578101" y="3005258"/>
              <a:ext cx="133985" cy="254000"/>
            </a:xfrm>
            <a:custGeom>
              <a:avLst/>
              <a:gdLst/>
              <a:ahLst/>
              <a:cxnLst/>
              <a:rect l="l" t="t" r="r" b="b"/>
              <a:pathLst>
                <a:path w="133985" h="254000">
                  <a:moveTo>
                    <a:pt x="59626" y="104355"/>
                  </a:moveTo>
                  <a:lnTo>
                    <a:pt x="0" y="104355"/>
                  </a:lnTo>
                  <a:lnTo>
                    <a:pt x="0" y="253911"/>
                  </a:lnTo>
                  <a:lnTo>
                    <a:pt x="133451" y="253911"/>
                  </a:lnTo>
                  <a:lnTo>
                    <a:pt x="133451" y="0"/>
                  </a:lnTo>
                  <a:lnTo>
                    <a:pt x="59626" y="0"/>
                  </a:lnTo>
                  <a:lnTo>
                    <a:pt x="59626" y="104355"/>
                  </a:lnTo>
                  <a:close/>
                </a:path>
              </a:pathLst>
            </a:custGeom>
            <a:ln w="3175">
              <a:solidFill>
                <a:srgbClr val="000000"/>
              </a:solidFill>
            </a:ln>
          </p:spPr>
          <p:txBody>
            <a:bodyPr wrap="square" lIns="0" tIns="0" rIns="0" bIns="0" rtlCol="0"/>
            <a:lstStyle/>
            <a:p/>
          </p:txBody>
        </p:sp>
        <p:pic>
          <p:nvPicPr>
            <p:cNvPr id="136" name="object 136" descr=""/>
            <p:cNvPicPr/>
            <p:nvPr/>
          </p:nvPicPr>
          <p:blipFill>
            <a:blip r:embed="rId23" cstate="print"/>
            <a:stretch>
              <a:fillRect/>
            </a:stretch>
          </p:blipFill>
          <p:spPr>
            <a:xfrm>
              <a:off x="1578101" y="3005259"/>
              <a:ext cx="133451" cy="253911"/>
            </a:xfrm>
            <a:prstGeom prst="rect">
              <a:avLst/>
            </a:prstGeom>
          </p:spPr>
        </p:pic>
        <p:sp>
          <p:nvSpPr>
            <p:cNvPr id="137" name="object 137" descr=""/>
            <p:cNvSpPr/>
            <p:nvPr/>
          </p:nvSpPr>
          <p:spPr>
            <a:xfrm>
              <a:off x="1578101" y="3005259"/>
              <a:ext cx="133985" cy="254000"/>
            </a:xfrm>
            <a:custGeom>
              <a:avLst/>
              <a:gdLst/>
              <a:ahLst/>
              <a:cxnLst/>
              <a:rect l="l" t="t" r="r" b="b"/>
              <a:pathLst>
                <a:path w="133985" h="254000">
                  <a:moveTo>
                    <a:pt x="59626" y="104355"/>
                  </a:moveTo>
                  <a:lnTo>
                    <a:pt x="0" y="104355"/>
                  </a:lnTo>
                  <a:lnTo>
                    <a:pt x="0" y="253911"/>
                  </a:lnTo>
                  <a:lnTo>
                    <a:pt x="133451" y="253911"/>
                  </a:lnTo>
                  <a:lnTo>
                    <a:pt x="133451" y="0"/>
                  </a:lnTo>
                  <a:lnTo>
                    <a:pt x="59626" y="0"/>
                  </a:lnTo>
                  <a:lnTo>
                    <a:pt x="59626" y="104355"/>
                  </a:lnTo>
                </a:path>
                <a:path w="133985" h="254000">
                  <a:moveTo>
                    <a:pt x="103250" y="214490"/>
                  </a:moveTo>
                  <a:lnTo>
                    <a:pt x="123901" y="214490"/>
                  </a:lnTo>
                  <a:lnTo>
                    <a:pt x="123901" y="241681"/>
                  </a:lnTo>
                  <a:lnTo>
                    <a:pt x="103250" y="241681"/>
                  </a:lnTo>
                  <a:lnTo>
                    <a:pt x="103250" y="214490"/>
                  </a:lnTo>
                  <a:close/>
                </a:path>
                <a:path w="133985" h="254000">
                  <a:moveTo>
                    <a:pt x="103250" y="168262"/>
                  </a:moveTo>
                  <a:lnTo>
                    <a:pt x="123901" y="168262"/>
                  </a:lnTo>
                  <a:lnTo>
                    <a:pt x="123901" y="195453"/>
                  </a:lnTo>
                  <a:lnTo>
                    <a:pt x="103250" y="195453"/>
                  </a:lnTo>
                  <a:lnTo>
                    <a:pt x="103250" y="168262"/>
                  </a:lnTo>
                  <a:close/>
                </a:path>
                <a:path w="133985" h="254000">
                  <a:moveTo>
                    <a:pt x="103250" y="122707"/>
                  </a:moveTo>
                  <a:lnTo>
                    <a:pt x="123901" y="122707"/>
                  </a:lnTo>
                  <a:lnTo>
                    <a:pt x="123901" y="149898"/>
                  </a:lnTo>
                  <a:lnTo>
                    <a:pt x="103250" y="149898"/>
                  </a:lnTo>
                  <a:lnTo>
                    <a:pt x="103250" y="122707"/>
                  </a:lnTo>
                  <a:close/>
                </a:path>
                <a:path w="133985" h="254000">
                  <a:moveTo>
                    <a:pt x="103250" y="76822"/>
                  </a:moveTo>
                  <a:lnTo>
                    <a:pt x="123901" y="76822"/>
                  </a:lnTo>
                  <a:lnTo>
                    <a:pt x="123901" y="104013"/>
                  </a:lnTo>
                  <a:lnTo>
                    <a:pt x="103250" y="104013"/>
                  </a:lnTo>
                  <a:lnTo>
                    <a:pt x="103250" y="76822"/>
                  </a:lnTo>
                  <a:close/>
                </a:path>
                <a:path w="133985" h="254000">
                  <a:moveTo>
                    <a:pt x="103250" y="30594"/>
                  </a:moveTo>
                  <a:lnTo>
                    <a:pt x="123901" y="30594"/>
                  </a:lnTo>
                  <a:lnTo>
                    <a:pt x="123901" y="57785"/>
                  </a:lnTo>
                  <a:lnTo>
                    <a:pt x="103250" y="57785"/>
                  </a:lnTo>
                  <a:lnTo>
                    <a:pt x="103250" y="30594"/>
                  </a:lnTo>
                  <a:close/>
                </a:path>
                <a:path w="133985" h="254000">
                  <a:moveTo>
                    <a:pt x="70472" y="214490"/>
                  </a:moveTo>
                  <a:lnTo>
                    <a:pt x="91122" y="214490"/>
                  </a:lnTo>
                  <a:lnTo>
                    <a:pt x="91122" y="241681"/>
                  </a:lnTo>
                  <a:lnTo>
                    <a:pt x="70472" y="241681"/>
                  </a:lnTo>
                  <a:lnTo>
                    <a:pt x="70472" y="214490"/>
                  </a:lnTo>
                  <a:close/>
                </a:path>
                <a:path w="133985" h="254000">
                  <a:moveTo>
                    <a:pt x="70472" y="168262"/>
                  </a:moveTo>
                  <a:lnTo>
                    <a:pt x="91122" y="168262"/>
                  </a:lnTo>
                  <a:lnTo>
                    <a:pt x="91122" y="195453"/>
                  </a:lnTo>
                  <a:lnTo>
                    <a:pt x="70472" y="195453"/>
                  </a:lnTo>
                  <a:lnTo>
                    <a:pt x="70472" y="168262"/>
                  </a:lnTo>
                  <a:close/>
                </a:path>
                <a:path w="133985" h="254000">
                  <a:moveTo>
                    <a:pt x="70472" y="122707"/>
                  </a:moveTo>
                  <a:lnTo>
                    <a:pt x="91122" y="122707"/>
                  </a:lnTo>
                  <a:lnTo>
                    <a:pt x="91122" y="149898"/>
                  </a:lnTo>
                  <a:lnTo>
                    <a:pt x="70472" y="149898"/>
                  </a:lnTo>
                  <a:lnTo>
                    <a:pt x="70472" y="122707"/>
                  </a:lnTo>
                  <a:close/>
                </a:path>
                <a:path w="133985" h="254000">
                  <a:moveTo>
                    <a:pt x="70472" y="76822"/>
                  </a:moveTo>
                  <a:lnTo>
                    <a:pt x="91122" y="76822"/>
                  </a:lnTo>
                  <a:lnTo>
                    <a:pt x="91122" y="104013"/>
                  </a:lnTo>
                  <a:lnTo>
                    <a:pt x="70472" y="104013"/>
                  </a:lnTo>
                  <a:lnTo>
                    <a:pt x="70472" y="76822"/>
                  </a:lnTo>
                  <a:close/>
                </a:path>
                <a:path w="133985" h="254000">
                  <a:moveTo>
                    <a:pt x="70472" y="30594"/>
                  </a:moveTo>
                  <a:lnTo>
                    <a:pt x="91122" y="30594"/>
                  </a:lnTo>
                  <a:lnTo>
                    <a:pt x="91122" y="57785"/>
                  </a:lnTo>
                  <a:lnTo>
                    <a:pt x="70472" y="57785"/>
                  </a:lnTo>
                  <a:lnTo>
                    <a:pt x="70472" y="30594"/>
                  </a:lnTo>
                  <a:close/>
                </a:path>
                <a:path w="133985" h="254000">
                  <a:moveTo>
                    <a:pt x="17030" y="136309"/>
                  </a:moveTo>
                  <a:lnTo>
                    <a:pt x="4902" y="136309"/>
                  </a:lnTo>
                  <a:lnTo>
                    <a:pt x="4902" y="119989"/>
                  </a:lnTo>
                  <a:lnTo>
                    <a:pt x="17030" y="119989"/>
                  </a:lnTo>
                  <a:lnTo>
                    <a:pt x="17030" y="136309"/>
                  </a:lnTo>
                  <a:close/>
                </a:path>
                <a:path w="133985" h="254000">
                  <a:moveTo>
                    <a:pt x="17030" y="160439"/>
                  </a:moveTo>
                  <a:lnTo>
                    <a:pt x="4902" y="160439"/>
                  </a:lnTo>
                  <a:lnTo>
                    <a:pt x="4902" y="144462"/>
                  </a:lnTo>
                  <a:lnTo>
                    <a:pt x="17030" y="144462"/>
                  </a:lnTo>
                  <a:lnTo>
                    <a:pt x="17030" y="160439"/>
                  </a:lnTo>
                  <a:close/>
                </a:path>
                <a:path w="133985" h="254000">
                  <a:moveTo>
                    <a:pt x="17030" y="184912"/>
                  </a:moveTo>
                  <a:lnTo>
                    <a:pt x="4902" y="184912"/>
                  </a:lnTo>
                  <a:lnTo>
                    <a:pt x="4902" y="168935"/>
                  </a:lnTo>
                  <a:lnTo>
                    <a:pt x="17030" y="168935"/>
                  </a:lnTo>
                  <a:lnTo>
                    <a:pt x="17030" y="184912"/>
                  </a:lnTo>
                  <a:close/>
                </a:path>
                <a:path w="133985" h="254000">
                  <a:moveTo>
                    <a:pt x="17030" y="209384"/>
                  </a:moveTo>
                  <a:lnTo>
                    <a:pt x="4902" y="209384"/>
                  </a:lnTo>
                  <a:lnTo>
                    <a:pt x="4902" y="193408"/>
                  </a:lnTo>
                  <a:lnTo>
                    <a:pt x="17030" y="193408"/>
                  </a:lnTo>
                  <a:lnTo>
                    <a:pt x="17030" y="209384"/>
                  </a:lnTo>
                  <a:close/>
                </a:path>
                <a:path w="133985" h="254000">
                  <a:moveTo>
                    <a:pt x="35623" y="136309"/>
                  </a:moveTo>
                  <a:lnTo>
                    <a:pt x="23494" y="136309"/>
                  </a:lnTo>
                  <a:lnTo>
                    <a:pt x="23494" y="119989"/>
                  </a:lnTo>
                  <a:lnTo>
                    <a:pt x="35623" y="119989"/>
                  </a:lnTo>
                  <a:lnTo>
                    <a:pt x="35623" y="136309"/>
                  </a:lnTo>
                  <a:close/>
                </a:path>
                <a:path w="133985" h="254000">
                  <a:moveTo>
                    <a:pt x="35623" y="160439"/>
                  </a:moveTo>
                  <a:lnTo>
                    <a:pt x="23494" y="160439"/>
                  </a:lnTo>
                  <a:lnTo>
                    <a:pt x="23494" y="144462"/>
                  </a:lnTo>
                  <a:lnTo>
                    <a:pt x="35623" y="144462"/>
                  </a:lnTo>
                  <a:lnTo>
                    <a:pt x="35623" y="160439"/>
                  </a:lnTo>
                  <a:close/>
                </a:path>
                <a:path w="133985" h="254000">
                  <a:moveTo>
                    <a:pt x="35623" y="184912"/>
                  </a:moveTo>
                  <a:lnTo>
                    <a:pt x="23494" y="184912"/>
                  </a:lnTo>
                  <a:lnTo>
                    <a:pt x="23494" y="168935"/>
                  </a:lnTo>
                  <a:lnTo>
                    <a:pt x="35623" y="168935"/>
                  </a:lnTo>
                  <a:lnTo>
                    <a:pt x="35623" y="184912"/>
                  </a:lnTo>
                  <a:close/>
                </a:path>
                <a:path w="133985" h="254000">
                  <a:moveTo>
                    <a:pt x="35623" y="209384"/>
                  </a:moveTo>
                  <a:lnTo>
                    <a:pt x="23494" y="209384"/>
                  </a:lnTo>
                  <a:lnTo>
                    <a:pt x="23494" y="193408"/>
                  </a:lnTo>
                  <a:lnTo>
                    <a:pt x="35623" y="193408"/>
                  </a:lnTo>
                  <a:lnTo>
                    <a:pt x="35623" y="209384"/>
                  </a:lnTo>
                  <a:close/>
                </a:path>
                <a:path w="133985" h="254000">
                  <a:moveTo>
                    <a:pt x="54457" y="136309"/>
                  </a:moveTo>
                  <a:lnTo>
                    <a:pt x="41808" y="136309"/>
                  </a:lnTo>
                  <a:lnTo>
                    <a:pt x="41808" y="119989"/>
                  </a:lnTo>
                  <a:lnTo>
                    <a:pt x="54457" y="119989"/>
                  </a:lnTo>
                  <a:lnTo>
                    <a:pt x="54457" y="136309"/>
                  </a:lnTo>
                  <a:close/>
                </a:path>
                <a:path w="133985" h="254000">
                  <a:moveTo>
                    <a:pt x="54457" y="160439"/>
                  </a:moveTo>
                  <a:lnTo>
                    <a:pt x="41808" y="160439"/>
                  </a:lnTo>
                  <a:lnTo>
                    <a:pt x="41808" y="144462"/>
                  </a:lnTo>
                  <a:lnTo>
                    <a:pt x="54457" y="144462"/>
                  </a:lnTo>
                  <a:lnTo>
                    <a:pt x="54457" y="160439"/>
                  </a:lnTo>
                  <a:close/>
                </a:path>
                <a:path w="133985" h="254000">
                  <a:moveTo>
                    <a:pt x="54457" y="184912"/>
                  </a:moveTo>
                  <a:lnTo>
                    <a:pt x="41808" y="184912"/>
                  </a:lnTo>
                  <a:lnTo>
                    <a:pt x="41808" y="168935"/>
                  </a:lnTo>
                  <a:lnTo>
                    <a:pt x="54457" y="168935"/>
                  </a:lnTo>
                  <a:lnTo>
                    <a:pt x="54457" y="184912"/>
                  </a:lnTo>
                  <a:close/>
                </a:path>
                <a:path w="133985" h="254000">
                  <a:moveTo>
                    <a:pt x="54457" y="209384"/>
                  </a:moveTo>
                  <a:lnTo>
                    <a:pt x="41808" y="209384"/>
                  </a:lnTo>
                  <a:lnTo>
                    <a:pt x="41808" y="193408"/>
                  </a:lnTo>
                  <a:lnTo>
                    <a:pt x="54457" y="193408"/>
                  </a:lnTo>
                  <a:lnTo>
                    <a:pt x="54457" y="209384"/>
                  </a:lnTo>
                  <a:close/>
                </a:path>
              </a:pathLst>
            </a:custGeom>
            <a:ln w="3175">
              <a:solidFill>
                <a:srgbClr val="000000"/>
              </a:solidFill>
            </a:ln>
          </p:spPr>
          <p:txBody>
            <a:bodyPr wrap="square" lIns="0" tIns="0" rIns="0" bIns="0" rtlCol="0"/>
            <a:lstStyle/>
            <a:p/>
          </p:txBody>
        </p:sp>
        <p:sp>
          <p:nvSpPr>
            <p:cNvPr id="138" name="object 138" descr=""/>
            <p:cNvSpPr/>
            <p:nvPr/>
          </p:nvSpPr>
          <p:spPr>
            <a:xfrm>
              <a:off x="1532662" y="3048773"/>
              <a:ext cx="95250" cy="210820"/>
            </a:xfrm>
            <a:custGeom>
              <a:avLst/>
              <a:gdLst/>
              <a:ahLst/>
              <a:cxnLst/>
              <a:rect l="l" t="t" r="r" b="b"/>
              <a:pathLst>
                <a:path w="95250" h="210820">
                  <a:moveTo>
                    <a:pt x="95250" y="16992"/>
                  </a:moveTo>
                  <a:lnTo>
                    <a:pt x="0" y="16992"/>
                  </a:lnTo>
                  <a:lnTo>
                    <a:pt x="0" y="210400"/>
                  </a:lnTo>
                  <a:lnTo>
                    <a:pt x="34328" y="210400"/>
                  </a:lnTo>
                  <a:lnTo>
                    <a:pt x="34328" y="174370"/>
                  </a:lnTo>
                  <a:lnTo>
                    <a:pt x="7226" y="174370"/>
                  </a:lnTo>
                  <a:lnTo>
                    <a:pt x="7226" y="160769"/>
                  </a:lnTo>
                  <a:lnTo>
                    <a:pt x="34328" y="160769"/>
                  </a:lnTo>
                  <a:lnTo>
                    <a:pt x="34328" y="146494"/>
                  </a:lnTo>
                  <a:lnTo>
                    <a:pt x="7226" y="146494"/>
                  </a:lnTo>
                  <a:lnTo>
                    <a:pt x="7226" y="132562"/>
                  </a:lnTo>
                  <a:lnTo>
                    <a:pt x="34328" y="132562"/>
                  </a:lnTo>
                  <a:lnTo>
                    <a:pt x="34328" y="118617"/>
                  </a:lnTo>
                  <a:lnTo>
                    <a:pt x="7226" y="118617"/>
                  </a:lnTo>
                  <a:lnTo>
                    <a:pt x="7226" y="104686"/>
                  </a:lnTo>
                  <a:lnTo>
                    <a:pt x="34328" y="104686"/>
                  </a:lnTo>
                  <a:lnTo>
                    <a:pt x="34328" y="91084"/>
                  </a:lnTo>
                  <a:lnTo>
                    <a:pt x="7226" y="91084"/>
                  </a:lnTo>
                  <a:lnTo>
                    <a:pt x="7226" y="77152"/>
                  </a:lnTo>
                  <a:lnTo>
                    <a:pt x="34328" y="77152"/>
                  </a:lnTo>
                  <a:lnTo>
                    <a:pt x="34328" y="62547"/>
                  </a:lnTo>
                  <a:lnTo>
                    <a:pt x="7226" y="62547"/>
                  </a:lnTo>
                  <a:lnTo>
                    <a:pt x="7226" y="49288"/>
                  </a:lnTo>
                  <a:lnTo>
                    <a:pt x="34328" y="49288"/>
                  </a:lnTo>
                  <a:lnTo>
                    <a:pt x="34328" y="45885"/>
                  </a:lnTo>
                  <a:lnTo>
                    <a:pt x="95250" y="45885"/>
                  </a:lnTo>
                  <a:lnTo>
                    <a:pt x="95250" y="16992"/>
                  </a:lnTo>
                  <a:close/>
                </a:path>
                <a:path w="95250" h="210820">
                  <a:moveTo>
                    <a:pt x="34328" y="160769"/>
                  </a:moveTo>
                  <a:lnTo>
                    <a:pt x="27355" y="160769"/>
                  </a:lnTo>
                  <a:lnTo>
                    <a:pt x="27355" y="174370"/>
                  </a:lnTo>
                  <a:lnTo>
                    <a:pt x="34328" y="174370"/>
                  </a:lnTo>
                  <a:lnTo>
                    <a:pt x="34328" y="160769"/>
                  </a:lnTo>
                  <a:close/>
                </a:path>
                <a:path w="95250" h="210820">
                  <a:moveTo>
                    <a:pt x="34328" y="132562"/>
                  </a:moveTo>
                  <a:lnTo>
                    <a:pt x="27355" y="132562"/>
                  </a:lnTo>
                  <a:lnTo>
                    <a:pt x="27355" y="146494"/>
                  </a:lnTo>
                  <a:lnTo>
                    <a:pt x="34328" y="146494"/>
                  </a:lnTo>
                  <a:lnTo>
                    <a:pt x="34328" y="132562"/>
                  </a:lnTo>
                  <a:close/>
                </a:path>
                <a:path w="95250" h="210820">
                  <a:moveTo>
                    <a:pt x="34328" y="104686"/>
                  </a:moveTo>
                  <a:lnTo>
                    <a:pt x="27355" y="104686"/>
                  </a:lnTo>
                  <a:lnTo>
                    <a:pt x="27355" y="118617"/>
                  </a:lnTo>
                  <a:lnTo>
                    <a:pt x="34328" y="118617"/>
                  </a:lnTo>
                  <a:lnTo>
                    <a:pt x="34328" y="104686"/>
                  </a:lnTo>
                  <a:close/>
                </a:path>
                <a:path w="95250" h="210820">
                  <a:moveTo>
                    <a:pt x="34328" y="77152"/>
                  </a:moveTo>
                  <a:lnTo>
                    <a:pt x="27355" y="77152"/>
                  </a:lnTo>
                  <a:lnTo>
                    <a:pt x="27355" y="91084"/>
                  </a:lnTo>
                  <a:lnTo>
                    <a:pt x="34328" y="91084"/>
                  </a:lnTo>
                  <a:lnTo>
                    <a:pt x="34328" y="77152"/>
                  </a:lnTo>
                  <a:close/>
                </a:path>
                <a:path w="95250" h="210820">
                  <a:moveTo>
                    <a:pt x="34328" y="49288"/>
                  </a:moveTo>
                  <a:lnTo>
                    <a:pt x="27355" y="49288"/>
                  </a:lnTo>
                  <a:lnTo>
                    <a:pt x="27355" y="62547"/>
                  </a:lnTo>
                  <a:lnTo>
                    <a:pt x="34328" y="62547"/>
                  </a:lnTo>
                  <a:lnTo>
                    <a:pt x="34328" y="49288"/>
                  </a:lnTo>
                  <a:close/>
                </a:path>
                <a:path w="95250" h="210820">
                  <a:moveTo>
                    <a:pt x="46723" y="6121"/>
                  </a:moveTo>
                  <a:lnTo>
                    <a:pt x="17297" y="6121"/>
                  </a:lnTo>
                  <a:lnTo>
                    <a:pt x="17297" y="16992"/>
                  </a:lnTo>
                  <a:lnTo>
                    <a:pt x="46723" y="16992"/>
                  </a:lnTo>
                  <a:lnTo>
                    <a:pt x="46723" y="6121"/>
                  </a:lnTo>
                  <a:close/>
                </a:path>
                <a:path w="95250" h="210820">
                  <a:moveTo>
                    <a:pt x="84924" y="0"/>
                  </a:moveTo>
                  <a:lnTo>
                    <a:pt x="68922" y="0"/>
                  </a:lnTo>
                  <a:lnTo>
                    <a:pt x="68922" y="16992"/>
                  </a:lnTo>
                  <a:lnTo>
                    <a:pt x="84924" y="16992"/>
                  </a:lnTo>
                  <a:lnTo>
                    <a:pt x="84924" y="0"/>
                  </a:lnTo>
                  <a:close/>
                </a:path>
              </a:pathLst>
            </a:custGeom>
            <a:solidFill>
              <a:srgbClr val="DDFEFF"/>
            </a:solidFill>
          </p:spPr>
          <p:txBody>
            <a:bodyPr wrap="square" lIns="0" tIns="0" rIns="0" bIns="0" rtlCol="0"/>
            <a:lstStyle/>
            <a:p/>
          </p:txBody>
        </p:sp>
        <p:sp>
          <p:nvSpPr>
            <p:cNvPr id="139" name="object 139" descr=""/>
            <p:cNvSpPr/>
            <p:nvPr/>
          </p:nvSpPr>
          <p:spPr>
            <a:xfrm>
              <a:off x="1532662" y="3048773"/>
              <a:ext cx="95250" cy="210820"/>
            </a:xfrm>
            <a:custGeom>
              <a:avLst/>
              <a:gdLst/>
              <a:ahLst/>
              <a:cxnLst/>
              <a:rect l="l" t="t" r="r" b="b"/>
              <a:pathLst>
                <a:path w="95250" h="210820">
                  <a:moveTo>
                    <a:pt x="0" y="16992"/>
                  </a:moveTo>
                  <a:lnTo>
                    <a:pt x="0" y="210400"/>
                  </a:lnTo>
                  <a:lnTo>
                    <a:pt x="34328" y="210400"/>
                  </a:lnTo>
                  <a:lnTo>
                    <a:pt x="34328" y="45885"/>
                  </a:lnTo>
                  <a:lnTo>
                    <a:pt x="95250" y="45885"/>
                  </a:lnTo>
                  <a:lnTo>
                    <a:pt x="95250" y="16992"/>
                  </a:lnTo>
                  <a:lnTo>
                    <a:pt x="84924" y="16992"/>
                  </a:lnTo>
                  <a:lnTo>
                    <a:pt x="84924" y="0"/>
                  </a:lnTo>
                  <a:lnTo>
                    <a:pt x="68922" y="0"/>
                  </a:lnTo>
                  <a:lnTo>
                    <a:pt x="68922" y="16992"/>
                  </a:lnTo>
                  <a:lnTo>
                    <a:pt x="46723" y="16992"/>
                  </a:lnTo>
                  <a:lnTo>
                    <a:pt x="46723" y="6121"/>
                  </a:lnTo>
                  <a:lnTo>
                    <a:pt x="17297" y="6121"/>
                  </a:lnTo>
                  <a:lnTo>
                    <a:pt x="17297" y="16992"/>
                  </a:lnTo>
                  <a:lnTo>
                    <a:pt x="0" y="16992"/>
                  </a:lnTo>
                  <a:close/>
                </a:path>
                <a:path w="95250" h="210820">
                  <a:moveTo>
                    <a:pt x="7226" y="160769"/>
                  </a:moveTo>
                  <a:lnTo>
                    <a:pt x="27355" y="160769"/>
                  </a:lnTo>
                  <a:lnTo>
                    <a:pt x="27355" y="174370"/>
                  </a:lnTo>
                  <a:lnTo>
                    <a:pt x="7226" y="174370"/>
                  </a:lnTo>
                  <a:lnTo>
                    <a:pt x="7226" y="160769"/>
                  </a:lnTo>
                  <a:close/>
                </a:path>
                <a:path w="95250" h="210820">
                  <a:moveTo>
                    <a:pt x="7226" y="132562"/>
                  </a:moveTo>
                  <a:lnTo>
                    <a:pt x="27355" y="132562"/>
                  </a:lnTo>
                  <a:lnTo>
                    <a:pt x="27355" y="146494"/>
                  </a:lnTo>
                  <a:lnTo>
                    <a:pt x="7226" y="146494"/>
                  </a:lnTo>
                  <a:lnTo>
                    <a:pt x="7226" y="132562"/>
                  </a:lnTo>
                  <a:close/>
                </a:path>
                <a:path w="95250" h="210820">
                  <a:moveTo>
                    <a:pt x="7226" y="104686"/>
                  </a:moveTo>
                  <a:lnTo>
                    <a:pt x="27355" y="104686"/>
                  </a:lnTo>
                  <a:lnTo>
                    <a:pt x="27355" y="118617"/>
                  </a:lnTo>
                  <a:lnTo>
                    <a:pt x="7226" y="118617"/>
                  </a:lnTo>
                  <a:lnTo>
                    <a:pt x="7226" y="104686"/>
                  </a:lnTo>
                  <a:close/>
                </a:path>
                <a:path w="95250" h="210820">
                  <a:moveTo>
                    <a:pt x="7226" y="77152"/>
                  </a:moveTo>
                  <a:lnTo>
                    <a:pt x="27355" y="77152"/>
                  </a:lnTo>
                  <a:lnTo>
                    <a:pt x="27355" y="91084"/>
                  </a:lnTo>
                  <a:lnTo>
                    <a:pt x="7226" y="91084"/>
                  </a:lnTo>
                  <a:lnTo>
                    <a:pt x="7226" y="77152"/>
                  </a:lnTo>
                  <a:close/>
                </a:path>
                <a:path w="95250" h="210820">
                  <a:moveTo>
                    <a:pt x="7226" y="49288"/>
                  </a:moveTo>
                  <a:lnTo>
                    <a:pt x="27355" y="49288"/>
                  </a:lnTo>
                  <a:lnTo>
                    <a:pt x="27355" y="62547"/>
                  </a:lnTo>
                  <a:lnTo>
                    <a:pt x="7226" y="62547"/>
                  </a:lnTo>
                  <a:lnTo>
                    <a:pt x="7226" y="49288"/>
                  </a:lnTo>
                  <a:close/>
                </a:path>
              </a:pathLst>
            </a:custGeom>
            <a:ln w="3175">
              <a:solidFill>
                <a:srgbClr val="000000"/>
              </a:solidFill>
            </a:ln>
          </p:spPr>
          <p:txBody>
            <a:bodyPr wrap="square" lIns="0" tIns="0" rIns="0" bIns="0" rtlCol="0"/>
            <a:lstStyle/>
            <a:p/>
          </p:txBody>
        </p:sp>
        <p:sp>
          <p:nvSpPr>
            <p:cNvPr id="140" name="object 140" descr=""/>
            <p:cNvSpPr/>
            <p:nvPr/>
          </p:nvSpPr>
          <p:spPr>
            <a:xfrm>
              <a:off x="1509433" y="3264611"/>
              <a:ext cx="231140" cy="9525"/>
            </a:xfrm>
            <a:custGeom>
              <a:avLst/>
              <a:gdLst/>
              <a:ahLst/>
              <a:cxnLst/>
              <a:rect l="l" t="t" r="r" b="b"/>
              <a:pathLst>
                <a:path w="231139" h="9525">
                  <a:moveTo>
                    <a:pt x="230784" y="0"/>
                  </a:moveTo>
                  <a:lnTo>
                    <a:pt x="0" y="0"/>
                  </a:lnTo>
                  <a:lnTo>
                    <a:pt x="0" y="9512"/>
                  </a:lnTo>
                  <a:lnTo>
                    <a:pt x="230784" y="9512"/>
                  </a:lnTo>
                  <a:lnTo>
                    <a:pt x="230784" y="0"/>
                  </a:lnTo>
                  <a:close/>
                </a:path>
              </a:pathLst>
            </a:custGeom>
            <a:solidFill>
              <a:srgbClr val="DDFEFF"/>
            </a:solidFill>
          </p:spPr>
          <p:txBody>
            <a:bodyPr wrap="square" lIns="0" tIns="0" rIns="0" bIns="0" rtlCol="0"/>
            <a:lstStyle/>
            <a:p/>
          </p:txBody>
        </p:sp>
        <p:sp>
          <p:nvSpPr>
            <p:cNvPr id="141" name="object 141" descr=""/>
            <p:cNvSpPr/>
            <p:nvPr/>
          </p:nvSpPr>
          <p:spPr>
            <a:xfrm>
              <a:off x="1509433" y="3264611"/>
              <a:ext cx="231140" cy="9525"/>
            </a:xfrm>
            <a:custGeom>
              <a:avLst/>
              <a:gdLst/>
              <a:ahLst/>
              <a:cxnLst/>
              <a:rect l="l" t="t" r="r" b="b"/>
              <a:pathLst>
                <a:path w="231139" h="9525">
                  <a:moveTo>
                    <a:pt x="0" y="0"/>
                  </a:moveTo>
                  <a:lnTo>
                    <a:pt x="230784" y="0"/>
                  </a:lnTo>
                  <a:lnTo>
                    <a:pt x="230784" y="9512"/>
                  </a:lnTo>
                  <a:lnTo>
                    <a:pt x="0" y="9512"/>
                  </a:lnTo>
                  <a:lnTo>
                    <a:pt x="0" y="0"/>
                  </a:lnTo>
                  <a:close/>
                </a:path>
              </a:pathLst>
            </a:custGeom>
            <a:ln w="3175">
              <a:solidFill>
                <a:srgbClr val="000000"/>
              </a:solidFill>
            </a:ln>
          </p:spPr>
          <p:txBody>
            <a:bodyPr wrap="square" lIns="0" tIns="0" rIns="0" bIns="0" rtlCol="0"/>
            <a:lstStyle/>
            <a:p/>
          </p:txBody>
        </p:sp>
        <p:sp>
          <p:nvSpPr>
            <p:cNvPr id="142" name="object 142" descr=""/>
            <p:cNvSpPr/>
            <p:nvPr/>
          </p:nvSpPr>
          <p:spPr>
            <a:xfrm>
              <a:off x="1644700" y="3032455"/>
              <a:ext cx="59690" cy="139700"/>
            </a:xfrm>
            <a:custGeom>
              <a:avLst/>
              <a:gdLst/>
              <a:ahLst/>
              <a:cxnLst/>
              <a:rect l="l" t="t" r="r" b="b"/>
              <a:pathLst>
                <a:path w="59689" h="139700">
                  <a:moveTo>
                    <a:pt x="59626" y="0"/>
                  </a:moveTo>
                  <a:lnTo>
                    <a:pt x="0" y="0"/>
                  </a:lnTo>
                  <a:lnTo>
                    <a:pt x="0" y="139357"/>
                  </a:lnTo>
                  <a:lnTo>
                    <a:pt x="59626" y="139357"/>
                  </a:lnTo>
                  <a:lnTo>
                    <a:pt x="59626" y="122707"/>
                  </a:lnTo>
                  <a:lnTo>
                    <a:pt x="3873" y="122707"/>
                  </a:lnTo>
                  <a:lnTo>
                    <a:pt x="3873" y="95516"/>
                  </a:lnTo>
                  <a:lnTo>
                    <a:pt x="59626" y="95516"/>
                  </a:lnTo>
                  <a:lnTo>
                    <a:pt x="59626" y="76822"/>
                  </a:lnTo>
                  <a:lnTo>
                    <a:pt x="3873" y="76822"/>
                  </a:lnTo>
                  <a:lnTo>
                    <a:pt x="3873" y="49631"/>
                  </a:lnTo>
                  <a:lnTo>
                    <a:pt x="59626" y="49631"/>
                  </a:lnTo>
                  <a:lnTo>
                    <a:pt x="59626" y="30594"/>
                  </a:lnTo>
                  <a:lnTo>
                    <a:pt x="3873" y="30594"/>
                  </a:lnTo>
                  <a:lnTo>
                    <a:pt x="3873" y="3403"/>
                  </a:lnTo>
                  <a:lnTo>
                    <a:pt x="59626" y="3403"/>
                  </a:lnTo>
                  <a:lnTo>
                    <a:pt x="59626" y="0"/>
                  </a:lnTo>
                  <a:close/>
                </a:path>
                <a:path w="59689" h="139700">
                  <a:moveTo>
                    <a:pt x="36652" y="95516"/>
                  </a:moveTo>
                  <a:lnTo>
                    <a:pt x="24523" y="95516"/>
                  </a:lnTo>
                  <a:lnTo>
                    <a:pt x="24523" y="122707"/>
                  </a:lnTo>
                  <a:lnTo>
                    <a:pt x="36652" y="122707"/>
                  </a:lnTo>
                  <a:lnTo>
                    <a:pt x="36652" y="95516"/>
                  </a:lnTo>
                  <a:close/>
                </a:path>
                <a:path w="59689" h="139700">
                  <a:moveTo>
                    <a:pt x="59626" y="95516"/>
                  </a:moveTo>
                  <a:lnTo>
                    <a:pt x="57302" y="95516"/>
                  </a:lnTo>
                  <a:lnTo>
                    <a:pt x="57302" y="122707"/>
                  </a:lnTo>
                  <a:lnTo>
                    <a:pt x="59626" y="122707"/>
                  </a:lnTo>
                  <a:lnTo>
                    <a:pt x="59626" y="95516"/>
                  </a:lnTo>
                  <a:close/>
                </a:path>
                <a:path w="59689" h="139700">
                  <a:moveTo>
                    <a:pt x="36652" y="49631"/>
                  </a:moveTo>
                  <a:lnTo>
                    <a:pt x="24523" y="49631"/>
                  </a:lnTo>
                  <a:lnTo>
                    <a:pt x="24523" y="76822"/>
                  </a:lnTo>
                  <a:lnTo>
                    <a:pt x="36652" y="76822"/>
                  </a:lnTo>
                  <a:lnTo>
                    <a:pt x="36652" y="49631"/>
                  </a:lnTo>
                  <a:close/>
                </a:path>
                <a:path w="59689" h="139700">
                  <a:moveTo>
                    <a:pt x="59626" y="49631"/>
                  </a:moveTo>
                  <a:lnTo>
                    <a:pt x="57302" y="49631"/>
                  </a:lnTo>
                  <a:lnTo>
                    <a:pt x="57302" y="76822"/>
                  </a:lnTo>
                  <a:lnTo>
                    <a:pt x="59626" y="76822"/>
                  </a:lnTo>
                  <a:lnTo>
                    <a:pt x="59626" y="49631"/>
                  </a:lnTo>
                  <a:close/>
                </a:path>
                <a:path w="59689" h="139700">
                  <a:moveTo>
                    <a:pt x="36652" y="3403"/>
                  </a:moveTo>
                  <a:lnTo>
                    <a:pt x="24523" y="3403"/>
                  </a:lnTo>
                  <a:lnTo>
                    <a:pt x="24523" y="30594"/>
                  </a:lnTo>
                  <a:lnTo>
                    <a:pt x="36652" y="30594"/>
                  </a:lnTo>
                  <a:lnTo>
                    <a:pt x="36652" y="3403"/>
                  </a:lnTo>
                  <a:close/>
                </a:path>
                <a:path w="59689" h="139700">
                  <a:moveTo>
                    <a:pt x="59626" y="3403"/>
                  </a:moveTo>
                  <a:lnTo>
                    <a:pt x="57302" y="3403"/>
                  </a:lnTo>
                  <a:lnTo>
                    <a:pt x="57302" y="30594"/>
                  </a:lnTo>
                  <a:lnTo>
                    <a:pt x="59626" y="30594"/>
                  </a:lnTo>
                  <a:lnTo>
                    <a:pt x="59626" y="3403"/>
                  </a:lnTo>
                  <a:close/>
                </a:path>
              </a:pathLst>
            </a:custGeom>
            <a:solidFill>
              <a:srgbClr val="DDFEFF"/>
            </a:solidFill>
          </p:spPr>
          <p:txBody>
            <a:bodyPr wrap="square" lIns="0" tIns="0" rIns="0" bIns="0" rtlCol="0"/>
            <a:lstStyle/>
            <a:p/>
          </p:txBody>
        </p:sp>
        <p:sp>
          <p:nvSpPr>
            <p:cNvPr id="143" name="object 143" descr=""/>
            <p:cNvSpPr/>
            <p:nvPr/>
          </p:nvSpPr>
          <p:spPr>
            <a:xfrm>
              <a:off x="1644700" y="3032455"/>
              <a:ext cx="59690" cy="139700"/>
            </a:xfrm>
            <a:custGeom>
              <a:avLst/>
              <a:gdLst/>
              <a:ahLst/>
              <a:cxnLst/>
              <a:rect l="l" t="t" r="r" b="b"/>
              <a:pathLst>
                <a:path w="59689" h="139700">
                  <a:moveTo>
                    <a:pt x="3873" y="95516"/>
                  </a:moveTo>
                  <a:lnTo>
                    <a:pt x="24523" y="95516"/>
                  </a:lnTo>
                  <a:lnTo>
                    <a:pt x="24523" y="122707"/>
                  </a:lnTo>
                  <a:lnTo>
                    <a:pt x="3873" y="122707"/>
                  </a:lnTo>
                  <a:lnTo>
                    <a:pt x="3873" y="95516"/>
                  </a:lnTo>
                  <a:close/>
                </a:path>
                <a:path w="59689" h="139700">
                  <a:moveTo>
                    <a:pt x="36652" y="95516"/>
                  </a:moveTo>
                  <a:lnTo>
                    <a:pt x="57302" y="95516"/>
                  </a:lnTo>
                  <a:lnTo>
                    <a:pt x="57302" y="122707"/>
                  </a:lnTo>
                  <a:lnTo>
                    <a:pt x="36652" y="122707"/>
                  </a:lnTo>
                  <a:lnTo>
                    <a:pt x="36652" y="95516"/>
                  </a:lnTo>
                  <a:close/>
                </a:path>
                <a:path w="59689" h="139700">
                  <a:moveTo>
                    <a:pt x="3873" y="49631"/>
                  </a:moveTo>
                  <a:lnTo>
                    <a:pt x="24523" y="49631"/>
                  </a:lnTo>
                  <a:lnTo>
                    <a:pt x="24523" y="76822"/>
                  </a:lnTo>
                  <a:lnTo>
                    <a:pt x="3873" y="76822"/>
                  </a:lnTo>
                  <a:lnTo>
                    <a:pt x="3873" y="49631"/>
                  </a:lnTo>
                  <a:close/>
                </a:path>
                <a:path w="59689" h="139700">
                  <a:moveTo>
                    <a:pt x="36652" y="49631"/>
                  </a:moveTo>
                  <a:lnTo>
                    <a:pt x="57302" y="49631"/>
                  </a:lnTo>
                  <a:lnTo>
                    <a:pt x="57302" y="76822"/>
                  </a:lnTo>
                  <a:lnTo>
                    <a:pt x="36652" y="76822"/>
                  </a:lnTo>
                  <a:lnTo>
                    <a:pt x="36652" y="49631"/>
                  </a:lnTo>
                  <a:close/>
                </a:path>
                <a:path w="59689" h="139700">
                  <a:moveTo>
                    <a:pt x="3873" y="3403"/>
                  </a:moveTo>
                  <a:lnTo>
                    <a:pt x="24523" y="3403"/>
                  </a:lnTo>
                  <a:lnTo>
                    <a:pt x="24523" y="30594"/>
                  </a:lnTo>
                  <a:lnTo>
                    <a:pt x="3873" y="30594"/>
                  </a:lnTo>
                  <a:lnTo>
                    <a:pt x="3873" y="3403"/>
                  </a:lnTo>
                  <a:close/>
                </a:path>
                <a:path w="59689" h="139700">
                  <a:moveTo>
                    <a:pt x="36652" y="3403"/>
                  </a:moveTo>
                  <a:lnTo>
                    <a:pt x="57302" y="3403"/>
                  </a:lnTo>
                  <a:lnTo>
                    <a:pt x="57302" y="30594"/>
                  </a:lnTo>
                  <a:lnTo>
                    <a:pt x="36652" y="30594"/>
                  </a:lnTo>
                  <a:lnTo>
                    <a:pt x="36652" y="3403"/>
                  </a:lnTo>
                  <a:close/>
                </a:path>
                <a:path w="59689" h="139700">
                  <a:moveTo>
                    <a:pt x="59626" y="0"/>
                  </a:moveTo>
                  <a:lnTo>
                    <a:pt x="0" y="0"/>
                  </a:lnTo>
                  <a:lnTo>
                    <a:pt x="0" y="139357"/>
                  </a:lnTo>
                  <a:lnTo>
                    <a:pt x="59626" y="139357"/>
                  </a:lnTo>
                  <a:lnTo>
                    <a:pt x="59626" y="0"/>
                  </a:lnTo>
                  <a:close/>
                </a:path>
              </a:pathLst>
            </a:custGeom>
            <a:ln w="3175">
              <a:solidFill>
                <a:srgbClr val="000000"/>
              </a:solidFill>
            </a:ln>
          </p:spPr>
          <p:txBody>
            <a:bodyPr wrap="square" lIns="0" tIns="0" rIns="0" bIns="0" rtlCol="0"/>
            <a:lstStyle/>
            <a:p/>
          </p:txBody>
        </p:sp>
        <p:sp>
          <p:nvSpPr>
            <p:cNvPr id="144" name="object 144" descr=""/>
            <p:cNvSpPr/>
            <p:nvPr/>
          </p:nvSpPr>
          <p:spPr>
            <a:xfrm>
              <a:off x="1580172" y="3118104"/>
              <a:ext cx="59690" cy="139700"/>
            </a:xfrm>
            <a:custGeom>
              <a:avLst/>
              <a:gdLst/>
              <a:ahLst/>
              <a:cxnLst/>
              <a:rect l="l" t="t" r="r" b="b"/>
              <a:pathLst>
                <a:path w="59689" h="139700">
                  <a:moveTo>
                    <a:pt x="59626" y="0"/>
                  </a:moveTo>
                  <a:lnTo>
                    <a:pt x="0" y="0"/>
                  </a:lnTo>
                  <a:lnTo>
                    <a:pt x="0" y="139357"/>
                  </a:lnTo>
                  <a:lnTo>
                    <a:pt x="59626" y="139357"/>
                  </a:lnTo>
                  <a:lnTo>
                    <a:pt x="59626" y="96545"/>
                  </a:lnTo>
                  <a:lnTo>
                    <a:pt x="2832" y="96545"/>
                  </a:lnTo>
                  <a:lnTo>
                    <a:pt x="2832" y="80568"/>
                  </a:lnTo>
                  <a:lnTo>
                    <a:pt x="59626" y="80568"/>
                  </a:lnTo>
                  <a:lnTo>
                    <a:pt x="59626" y="72072"/>
                  </a:lnTo>
                  <a:lnTo>
                    <a:pt x="2832" y="72072"/>
                  </a:lnTo>
                  <a:lnTo>
                    <a:pt x="2832" y="56095"/>
                  </a:lnTo>
                  <a:lnTo>
                    <a:pt x="59626" y="56095"/>
                  </a:lnTo>
                  <a:lnTo>
                    <a:pt x="59626" y="47599"/>
                  </a:lnTo>
                  <a:lnTo>
                    <a:pt x="2832" y="47599"/>
                  </a:lnTo>
                  <a:lnTo>
                    <a:pt x="2832" y="31622"/>
                  </a:lnTo>
                  <a:lnTo>
                    <a:pt x="59626" y="31622"/>
                  </a:lnTo>
                  <a:lnTo>
                    <a:pt x="59626" y="23469"/>
                  </a:lnTo>
                  <a:lnTo>
                    <a:pt x="2832" y="23469"/>
                  </a:lnTo>
                  <a:lnTo>
                    <a:pt x="2832" y="7150"/>
                  </a:lnTo>
                  <a:lnTo>
                    <a:pt x="59626" y="7150"/>
                  </a:lnTo>
                  <a:lnTo>
                    <a:pt x="59626" y="0"/>
                  </a:lnTo>
                  <a:close/>
                </a:path>
                <a:path w="59689" h="139700">
                  <a:moveTo>
                    <a:pt x="21412" y="80568"/>
                  </a:moveTo>
                  <a:lnTo>
                    <a:pt x="14960" y="80568"/>
                  </a:lnTo>
                  <a:lnTo>
                    <a:pt x="14960" y="96545"/>
                  </a:lnTo>
                  <a:lnTo>
                    <a:pt x="21412" y="96545"/>
                  </a:lnTo>
                  <a:lnTo>
                    <a:pt x="21412" y="80568"/>
                  </a:lnTo>
                  <a:close/>
                </a:path>
                <a:path w="59689" h="139700">
                  <a:moveTo>
                    <a:pt x="39738" y="80568"/>
                  </a:moveTo>
                  <a:lnTo>
                    <a:pt x="33540" y="80568"/>
                  </a:lnTo>
                  <a:lnTo>
                    <a:pt x="33540" y="96545"/>
                  </a:lnTo>
                  <a:lnTo>
                    <a:pt x="39738" y="96545"/>
                  </a:lnTo>
                  <a:lnTo>
                    <a:pt x="39738" y="80568"/>
                  </a:lnTo>
                  <a:close/>
                </a:path>
                <a:path w="59689" h="139700">
                  <a:moveTo>
                    <a:pt x="59626" y="80568"/>
                  </a:moveTo>
                  <a:lnTo>
                    <a:pt x="52387" y="80568"/>
                  </a:lnTo>
                  <a:lnTo>
                    <a:pt x="52387" y="96545"/>
                  </a:lnTo>
                  <a:lnTo>
                    <a:pt x="59626" y="96545"/>
                  </a:lnTo>
                  <a:lnTo>
                    <a:pt x="59626" y="80568"/>
                  </a:lnTo>
                  <a:close/>
                </a:path>
                <a:path w="59689" h="139700">
                  <a:moveTo>
                    <a:pt x="21412" y="56095"/>
                  </a:moveTo>
                  <a:lnTo>
                    <a:pt x="14960" y="56095"/>
                  </a:lnTo>
                  <a:lnTo>
                    <a:pt x="14960" y="72072"/>
                  </a:lnTo>
                  <a:lnTo>
                    <a:pt x="21412" y="72072"/>
                  </a:lnTo>
                  <a:lnTo>
                    <a:pt x="21412" y="56095"/>
                  </a:lnTo>
                  <a:close/>
                </a:path>
                <a:path w="59689" h="139700">
                  <a:moveTo>
                    <a:pt x="39738" y="56095"/>
                  </a:moveTo>
                  <a:lnTo>
                    <a:pt x="33540" y="56095"/>
                  </a:lnTo>
                  <a:lnTo>
                    <a:pt x="33540" y="72072"/>
                  </a:lnTo>
                  <a:lnTo>
                    <a:pt x="39738" y="72072"/>
                  </a:lnTo>
                  <a:lnTo>
                    <a:pt x="39738" y="56095"/>
                  </a:lnTo>
                  <a:close/>
                </a:path>
                <a:path w="59689" h="139700">
                  <a:moveTo>
                    <a:pt x="59626" y="56095"/>
                  </a:moveTo>
                  <a:lnTo>
                    <a:pt x="52387" y="56095"/>
                  </a:lnTo>
                  <a:lnTo>
                    <a:pt x="52387" y="72072"/>
                  </a:lnTo>
                  <a:lnTo>
                    <a:pt x="59626" y="72072"/>
                  </a:lnTo>
                  <a:lnTo>
                    <a:pt x="59626" y="56095"/>
                  </a:lnTo>
                  <a:close/>
                </a:path>
                <a:path w="59689" h="139700">
                  <a:moveTo>
                    <a:pt x="21412" y="31622"/>
                  </a:moveTo>
                  <a:lnTo>
                    <a:pt x="14960" y="31622"/>
                  </a:lnTo>
                  <a:lnTo>
                    <a:pt x="14960" y="47599"/>
                  </a:lnTo>
                  <a:lnTo>
                    <a:pt x="21412" y="47599"/>
                  </a:lnTo>
                  <a:lnTo>
                    <a:pt x="21412" y="31622"/>
                  </a:lnTo>
                  <a:close/>
                </a:path>
                <a:path w="59689" h="139700">
                  <a:moveTo>
                    <a:pt x="39738" y="31622"/>
                  </a:moveTo>
                  <a:lnTo>
                    <a:pt x="33540" y="31622"/>
                  </a:lnTo>
                  <a:lnTo>
                    <a:pt x="33540" y="47599"/>
                  </a:lnTo>
                  <a:lnTo>
                    <a:pt x="39738" y="47599"/>
                  </a:lnTo>
                  <a:lnTo>
                    <a:pt x="39738" y="31622"/>
                  </a:lnTo>
                  <a:close/>
                </a:path>
                <a:path w="59689" h="139700">
                  <a:moveTo>
                    <a:pt x="59626" y="31622"/>
                  </a:moveTo>
                  <a:lnTo>
                    <a:pt x="52387" y="31622"/>
                  </a:lnTo>
                  <a:lnTo>
                    <a:pt x="52387" y="47599"/>
                  </a:lnTo>
                  <a:lnTo>
                    <a:pt x="59626" y="47599"/>
                  </a:lnTo>
                  <a:lnTo>
                    <a:pt x="59626" y="31622"/>
                  </a:lnTo>
                  <a:close/>
                </a:path>
                <a:path w="59689" h="139700">
                  <a:moveTo>
                    <a:pt x="21412" y="7150"/>
                  </a:moveTo>
                  <a:lnTo>
                    <a:pt x="14960" y="7150"/>
                  </a:lnTo>
                  <a:lnTo>
                    <a:pt x="14960" y="23469"/>
                  </a:lnTo>
                  <a:lnTo>
                    <a:pt x="21412" y="23469"/>
                  </a:lnTo>
                  <a:lnTo>
                    <a:pt x="21412" y="7150"/>
                  </a:lnTo>
                  <a:close/>
                </a:path>
                <a:path w="59689" h="139700">
                  <a:moveTo>
                    <a:pt x="39738" y="7150"/>
                  </a:moveTo>
                  <a:lnTo>
                    <a:pt x="33540" y="7150"/>
                  </a:lnTo>
                  <a:lnTo>
                    <a:pt x="33540" y="23469"/>
                  </a:lnTo>
                  <a:lnTo>
                    <a:pt x="39738" y="23469"/>
                  </a:lnTo>
                  <a:lnTo>
                    <a:pt x="39738" y="7150"/>
                  </a:lnTo>
                  <a:close/>
                </a:path>
                <a:path w="59689" h="139700">
                  <a:moveTo>
                    <a:pt x="59626" y="7150"/>
                  </a:moveTo>
                  <a:lnTo>
                    <a:pt x="52387" y="7150"/>
                  </a:lnTo>
                  <a:lnTo>
                    <a:pt x="52387" y="23469"/>
                  </a:lnTo>
                  <a:lnTo>
                    <a:pt x="59626" y="23469"/>
                  </a:lnTo>
                  <a:lnTo>
                    <a:pt x="59626" y="7150"/>
                  </a:lnTo>
                  <a:close/>
                </a:path>
              </a:pathLst>
            </a:custGeom>
            <a:solidFill>
              <a:srgbClr val="DDFEFF"/>
            </a:solidFill>
          </p:spPr>
          <p:txBody>
            <a:bodyPr wrap="square" lIns="0" tIns="0" rIns="0" bIns="0" rtlCol="0"/>
            <a:lstStyle/>
            <a:p/>
          </p:txBody>
        </p:sp>
        <p:sp>
          <p:nvSpPr>
            <p:cNvPr id="145" name="object 145" descr=""/>
            <p:cNvSpPr/>
            <p:nvPr/>
          </p:nvSpPr>
          <p:spPr>
            <a:xfrm>
              <a:off x="1580172" y="3118104"/>
              <a:ext cx="59690" cy="139700"/>
            </a:xfrm>
            <a:custGeom>
              <a:avLst/>
              <a:gdLst/>
              <a:ahLst/>
              <a:cxnLst/>
              <a:rect l="l" t="t" r="r" b="b"/>
              <a:pathLst>
                <a:path w="59689" h="139700">
                  <a:moveTo>
                    <a:pt x="2832" y="80568"/>
                  </a:moveTo>
                  <a:lnTo>
                    <a:pt x="14960" y="80568"/>
                  </a:lnTo>
                  <a:lnTo>
                    <a:pt x="14960" y="96545"/>
                  </a:lnTo>
                  <a:lnTo>
                    <a:pt x="2832" y="96545"/>
                  </a:lnTo>
                  <a:lnTo>
                    <a:pt x="2832" y="80568"/>
                  </a:lnTo>
                  <a:close/>
                </a:path>
                <a:path w="59689" h="139700">
                  <a:moveTo>
                    <a:pt x="21412" y="80568"/>
                  </a:moveTo>
                  <a:lnTo>
                    <a:pt x="33540" y="80568"/>
                  </a:lnTo>
                  <a:lnTo>
                    <a:pt x="33540" y="96545"/>
                  </a:lnTo>
                  <a:lnTo>
                    <a:pt x="21412" y="96545"/>
                  </a:lnTo>
                  <a:lnTo>
                    <a:pt x="21412" y="80568"/>
                  </a:lnTo>
                  <a:close/>
                </a:path>
                <a:path w="59689" h="139700">
                  <a:moveTo>
                    <a:pt x="39738" y="80568"/>
                  </a:moveTo>
                  <a:lnTo>
                    <a:pt x="52387" y="80568"/>
                  </a:lnTo>
                  <a:lnTo>
                    <a:pt x="52387" y="96545"/>
                  </a:lnTo>
                  <a:lnTo>
                    <a:pt x="39738" y="96545"/>
                  </a:lnTo>
                  <a:lnTo>
                    <a:pt x="39738" y="80568"/>
                  </a:lnTo>
                  <a:close/>
                </a:path>
                <a:path w="59689" h="139700">
                  <a:moveTo>
                    <a:pt x="2832" y="56095"/>
                  </a:moveTo>
                  <a:lnTo>
                    <a:pt x="14960" y="56095"/>
                  </a:lnTo>
                  <a:lnTo>
                    <a:pt x="14960" y="72072"/>
                  </a:lnTo>
                  <a:lnTo>
                    <a:pt x="2832" y="72072"/>
                  </a:lnTo>
                  <a:lnTo>
                    <a:pt x="2832" y="56095"/>
                  </a:lnTo>
                  <a:close/>
                </a:path>
                <a:path w="59689" h="139700">
                  <a:moveTo>
                    <a:pt x="21412" y="56095"/>
                  </a:moveTo>
                  <a:lnTo>
                    <a:pt x="33540" y="56095"/>
                  </a:lnTo>
                  <a:lnTo>
                    <a:pt x="33540" y="72072"/>
                  </a:lnTo>
                  <a:lnTo>
                    <a:pt x="21412" y="72072"/>
                  </a:lnTo>
                  <a:lnTo>
                    <a:pt x="21412" y="56095"/>
                  </a:lnTo>
                  <a:close/>
                </a:path>
                <a:path w="59689" h="139700">
                  <a:moveTo>
                    <a:pt x="39738" y="56095"/>
                  </a:moveTo>
                  <a:lnTo>
                    <a:pt x="52387" y="56095"/>
                  </a:lnTo>
                  <a:lnTo>
                    <a:pt x="52387" y="72072"/>
                  </a:lnTo>
                  <a:lnTo>
                    <a:pt x="39738" y="72072"/>
                  </a:lnTo>
                  <a:lnTo>
                    <a:pt x="39738" y="56095"/>
                  </a:lnTo>
                  <a:close/>
                </a:path>
                <a:path w="59689" h="139700">
                  <a:moveTo>
                    <a:pt x="2832" y="31622"/>
                  </a:moveTo>
                  <a:lnTo>
                    <a:pt x="14960" y="31622"/>
                  </a:lnTo>
                  <a:lnTo>
                    <a:pt x="14960" y="47599"/>
                  </a:lnTo>
                  <a:lnTo>
                    <a:pt x="2832" y="47599"/>
                  </a:lnTo>
                  <a:lnTo>
                    <a:pt x="2832" y="31622"/>
                  </a:lnTo>
                  <a:close/>
                </a:path>
                <a:path w="59689" h="139700">
                  <a:moveTo>
                    <a:pt x="21412" y="31622"/>
                  </a:moveTo>
                  <a:lnTo>
                    <a:pt x="33540" y="31622"/>
                  </a:lnTo>
                  <a:lnTo>
                    <a:pt x="33540" y="47599"/>
                  </a:lnTo>
                  <a:lnTo>
                    <a:pt x="21412" y="47599"/>
                  </a:lnTo>
                  <a:lnTo>
                    <a:pt x="21412" y="31622"/>
                  </a:lnTo>
                  <a:close/>
                </a:path>
                <a:path w="59689" h="139700">
                  <a:moveTo>
                    <a:pt x="39738" y="31622"/>
                  </a:moveTo>
                  <a:lnTo>
                    <a:pt x="52387" y="31622"/>
                  </a:lnTo>
                  <a:lnTo>
                    <a:pt x="52387" y="47599"/>
                  </a:lnTo>
                  <a:lnTo>
                    <a:pt x="39738" y="47599"/>
                  </a:lnTo>
                  <a:lnTo>
                    <a:pt x="39738" y="31622"/>
                  </a:lnTo>
                  <a:close/>
                </a:path>
                <a:path w="59689" h="139700">
                  <a:moveTo>
                    <a:pt x="2832" y="7150"/>
                  </a:moveTo>
                  <a:lnTo>
                    <a:pt x="14960" y="7150"/>
                  </a:lnTo>
                  <a:lnTo>
                    <a:pt x="14960" y="23469"/>
                  </a:lnTo>
                  <a:lnTo>
                    <a:pt x="2832" y="23469"/>
                  </a:lnTo>
                  <a:lnTo>
                    <a:pt x="2832" y="7150"/>
                  </a:lnTo>
                  <a:close/>
                </a:path>
                <a:path w="59689" h="139700">
                  <a:moveTo>
                    <a:pt x="21412" y="7150"/>
                  </a:moveTo>
                  <a:lnTo>
                    <a:pt x="33540" y="7150"/>
                  </a:lnTo>
                  <a:lnTo>
                    <a:pt x="33540" y="23469"/>
                  </a:lnTo>
                  <a:lnTo>
                    <a:pt x="21412" y="23469"/>
                  </a:lnTo>
                  <a:lnTo>
                    <a:pt x="21412" y="7150"/>
                  </a:lnTo>
                  <a:close/>
                </a:path>
                <a:path w="59689" h="139700">
                  <a:moveTo>
                    <a:pt x="39738" y="7150"/>
                  </a:moveTo>
                  <a:lnTo>
                    <a:pt x="52387" y="7150"/>
                  </a:lnTo>
                  <a:lnTo>
                    <a:pt x="52387" y="23469"/>
                  </a:lnTo>
                  <a:lnTo>
                    <a:pt x="39738" y="23469"/>
                  </a:lnTo>
                  <a:lnTo>
                    <a:pt x="39738" y="7150"/>
                  </a:lnTo>
                  <a:close/>
                </a:path>
                <a:path w="59689" h="139700">
                  <a:moveTo>
                    <a:pt x="59626" y="0"/>
                  </a:moveTo>
                  <a:lnTo>
                    <a:pt x="0" y="0"/>
                  </a:lnTo>
                  <a:lnTo>
                    <a:pt x="0" y="139357"/>
                  </a:lnTo>
                  <a:lnTo>
                    <a:pt x="59626" y="139357"/>
                  </a:lnTo>
                  <a:lnTo>
                    <a:pt x="59626" y="0"/>
                  </a:lnTo>
                  <a:close/>
                </a:path>
              </a:pathLst>
            </a:custGeom>
            <a:ln w="3175">
              <a:solidFill>
                <a:srgbClr val="000000"/>
              </a:solidFill>
            </a:ln>
          </p:spPr>
          <p:txBody>
            <a:bodyPr wrap="square" lIns="0" tIns="0" rIns="0" bIns="0" rtlCol="0"/>
            <a:lstStyle/>
            <a:p/>
          </p:txBody>
        </p:sp>
        <p:pic>
          <p:nvPicPr>
            <p:cNvPr id="146" name="object 146" descr=""/>
            <p:cNvPicPr/>
            <p:nvPr/>
          </p:nvPicPr>
          <p:blipFill>
            <a:blip r:embed="rId24" cstate="print"/>
            <a:stretch>
              <a:fillRect/>
            </a:stretch>
          </p:blipFill>
          <p:spPr>
            <a:xfrm>
              <a:off x="1581886" y="2483592"/>
              <a:ext cx="378383" cy="182314"/>
            </a:xfrm>
            <a:prstGeom prst="rect">
              <a:avLst/>
            </a:prstGeom>
          </p:spPr>
        </p:pic>
        <p:sp>
          <p:nvSpPr>
            <p:cNvPr id="147" name="object 147" descr=""/>
            <p:cNvSpPr/>
            <p:nvPr/>
          </p:nvSpPr>
          <p:spPr>
            <a:xfrm>
              <a:off x="1570570" y="2668295"/>
              <a:ext cx="401320" cy="12700"/>
            </a:xfrm>
            <a:custGeom>
              <a:avLst/>
              <a:gdLst/>
              <a:ahLst/>
              <a:cxnLst/>
              <a:rect l="l" t="t" r="r" b="b"/>
              <a:pathLst>
                <a:path w="401319" h="12700">
                  <a:moveTo>
                    <a:pt x="401002" y="0"/>
                  </a:moveTo>
                  <a:lnTo>
                    <a:pt x="0" y="0"/>
                  </a:lnTo>
                  <a:lnTo>
                    <a:pt x="0" y="12268"/>
                  </a:lnTo>
                  <a:lnTo>
                    <a:pt x="401002" y="12268"/>
                  </a:lnTo>
                  <a:lnTo>
                    <a:pt x="401002" y="0"/>
                  </a:lnTo>
                  <a:close/>
                </a:path>
              </a:pathLst>
            </a:custGeom>
            <a:solidFill>
              <a:srgbClr val="BBE0E3"/>
            </a:solidFill>
          </p:spPr>
          <p:txBody>
            <a:bodyPr wrap="square" lIns="0" tIns="0" rIns="0" bIns="0" rtlCol="0"/>
            <a:lstStyle/>
            <a:p/>
          </p:txBody>
        </p:sp>
        <p:sp>
          <p:nvSpPr>
            <p:cNvPr id="148" name="object 148" descr=""/>
            <p:cNvSpPr/>
            <p:nvPr/>
          </p:nvSpPr>
          <p:spPr>
            <a:xfrm>
              <a:off x="1570570" y="2668295"/>
              <a:ext cx="401320" cy="12700"/>
            </a:xfrm>
            <a:custGeom>
              <a:avLst/>
              <a:gdLst/>
              <a:ahLst/>
              <a:cxnLst/>
              <a:rect l="l" t="t" r="r" b="b"/>
              <a:pathLst>
                <a:path w="401319" h="12700">
                  <a:moveTo>
                    <a:pt x="0" y="0"/>
                  </a:moveTo>
                  <a:lnTo>
                    <a:pt x="401002" y="0"/>
                  </a:lnTo>
                  <a:lnTo>
                    <a:pt x="401002" y="12268"/>
                  </a:lnTo>
                  <a:lnTo>
                    <a:pt x="0" y="12268"/>
                  </a:lnTo>
                  <a:lnTo>
                    <a:pt x="0" y="0"/>
                  </a:lnTo>
                  <a:close/>
                </a:path>
              </a:pathLst>
            </a:custGeom>
            <a:ln w="9525">
              <a:solidFill>
                <a:srgbClr val="000000"/>
              </a:solidFill>
            </a:ln>
          </p:spPr>
          <p:txBody>
            <a:bodyPr wrap="square" lIns="0" tIns="0" rIns="0" bIns="0" rtlCol="0"/>
            <a:lstStyle/>
            <a:p/>
          </p:txBody>
        </p:sp>
        <p:pic>
          <p:nvPicPr>
            <p:cNvPr id="149" name="object 149" descr=""/>
            <p:cNvPicPr/>
            <p:nvPr/>
          </p:nvPicPr>
          <p:blipFill>
            <a:blip r:embed="rId25" cstate="print"/>
            <a:stretch>
              <a:fillRect/>
            </a:stretch>
          </p:blipFill>
          <p:spPr>
            <a:xfrm>
              <a:off x="1126032" y="2814154"/>
              <a:ext cx="408304" cy="227304"/>
            </a:xfrm>
            <a:prstGeom prst="rect">
              <a:avLst/>
            </a:prstGeom>
          </p:spPr>
        </p:pic>
        <p:pic>
          <p:nvPicPr>
            <p:cNvPr id="150" name="object 150" descr=""/>
            <p:cNvPicPr/>
            <p:nvPr/>
          </p:nvPicPr>
          <p:blipFill>
            <a:blip r:embed="rId26" cstate="print"/>
            <a:stretch>
              <a:fillRect/>
            </a:stretch>
          </p:blipFill>
          <p:spPr>
            <a:xfrm>
              <a:off x="1099972" y="2596222"/>
              <a:ext cx="476834" cy="180581"/>
            </a:xfrm>
            <a:prstGeom prst="rect">
              <a:avLst/>
            </a:prstGeom>
          </p:spPr>
        </p:pic>
        <p:pic>
          <p:nvPicPr>
            <p:cNvPr id="151" name="object 151"/>
            <p:cNvPicPr/>
            <p:nvPr/>
          </p:nvPicPr>
          <p:blipFill>
            <a:blip r:embed="rId27" cstate="print"/>
            <a:stretch>
              <a:fillRect/>
            </a:stretch>
          </p:blipFill>
          <p:spPr>
            <a:xfrm>
              <a:off x="1257300" y="3893819"/>
              <a:ext cx="1063751" cy="139445"/>
            </a:xfrm>
            <a:prstGeom prst="rect">
              <a:avLst/>
            </a:prstGeom>
          </p:spPr>
        </p:pic>
        <p:pic>
          <p:nvPicPr>
            <p:cNvPr id="152" name="object 152" descr=""/>
            <p:cNvPicPr/>
            <p:nvPr/>
          </p:nvPicPr>
          <p:blipFill>
            <a:blip r:embed="rId28" cstate="print"/>
            <a:stretch>
              <a:fillRect/>
            </a:stretch>
          </p:blipFill>
          <p:spPr>
            <a:xfrm>
              <a:off x="1231391" y="3867911"/>
              <a:ext cx="1076498" cy="151884"/>
            </a:xfrm>
            <a:prstGeom prst="rect">
              <a:avLst/>
            </a:prstGeom>
          </p:spPr>
        </p:pic>
        <p:sp>
          <p:nvSpPr>
            <p:cNvPr id="153" name="object 153" descr=""/>
            <p:cNvSpPr/>
            <p:nvPr/>
          </p:nvSpPr>
          <p:spPr>
            <a:xfrm>
              <a:off x="1142500" y="4044811"/>
              <a:ext cx="1320800" cy="1270"/>
            </a:xfrm>
            <a:custGeom>
              <a:avLst/>
              <a:gdLst/>
              <a:ahLst/>
              <a:cxnLst/>
              <a:rect l="l" t="t" r="r" b="b"/>
              <a:pathLst>
                <a:path w="1320800" h="1270">
                  <a:moveTo>
                    <a:pt x="0" y="0"/>
                  </a:moveTo>
                  <a:lnTo>
                    <a:pt x="1320203" y="939"/>
                  </a:lnTo>
                </a:path>
              </a:pathLst>
            </a:custGeom>
            <a:ln w="9524">
              <a:solidFill>
                <a:srgbClr val="000000"/>
              </a:solidFill>
            </a:ln>
          </p:spPr>
          <p:txBody>
            <a:bodyPr wrap="square" lIns="0" tIns="0" rIns="0" bIns="0" rtlCol="0"/>
            <a:lstStyle/>
            <a:p/>
          </p:txBody>
        </p:sp>
        <p:sp>
          <p:nvSpPr>
            <p:cNvPr id="154" name="object 154" descr=""/>
            <p:cNvSpPr/>
            <p:nvPr/>
          </p:nvSpPr>
          <p:spPr>
            <a:xfrm>
              <a:off x="1140426" y="4105915"/>
              <a:ext cx="1320800" cy="1270"/>
            </a:xfrm>
            <a:custGeom>
              <a:avLst/>
              <a:gdLst/>
              <a:ahLst/>
              <a:cxnLst/>
              <a:rect l="l" t="t" r="r" b="b"/>
              <a:pathLst>
                <a:path w="1320800" h="1270">
                  <a:moveTo>
                    <a:pt x="0" y="0"/>
                  </a:moveTo>
                  <a:lnTo>
                    <a:pt x="1320203" y="939"/>
                  </a:lnTo>
                </a:path>
              </a:pathLst>
            </a:custGeom>
            <a:ln w="9524">
              <a:solidFill>
                <a:srgbClr val="000000"/>
              </a:solidFill>
            </a:ln>
          </p:spPr>
          <p:txBody>
            <a:bodyPr wrap="square" lIns="0" tIns="0" rIns="0" bIns="0" rtlCol="0"/>
            <a:lstStyle/>
            <a:p/>
          </p:txBody>
        </p:sp>
        <p:pic>
          <p:nvPicPr>
            <p:cNvPr id="155" name="object 155" descr=""/>
            <p:cNvPicPr/>
            <p:nvPr/>
          </p:nvPicPr>
          <p:blipFill>
            <a:blip r:embed="rId29" cstate="print"/>
            <a:stretch>
              <a:fillRect/>
            </a:stretch>
          </p:blipFill>
          <p:spPr>
            <a:xfrm>
              <a:off x="547453" y="3549696"/>
              <a:ext cx="189279" cy="403443"/>
            </a:xfrm>
            <a:prstGeom prst="rect">
              <a:avLst/>
            </a:prstGeom>
          </p:spPr>
        </p:pic>
        <p:pic>
          <p:nvPicPr>
            <p:cNvPr id="156" name="object 156" descr=""/>
            <p:cNvPicPr/>
            <p:nvPr/>
          </p:nvPicPr>
          <p:blipFill>
            <a:blip r:embed="rId30" cstate="print"/>
            <a:stretch>
              <a:fillRect/>
            </a:stretch>
          </p:blipFill>
          <p:spPr>
            <a:xfrm>
              <a:off x="725182" y="3676065"/>
              <a:ext cx="536765" cy="160644"/>
            </a:xfrm>
            <a:prstGeom prst="rect">
              <a:avLst/>
            </a:prstGeom>
          </p:spPr>
        </p:pic>
      </p:grpSp>
      <p:grpSp>
        <p:nvGrpSpPr>
          <p:cNvPr id="157" name="object 157" descr=""/>
          <p:cNvGrpSpPr/>
          <p:nvPr/>
        </p:nvGrpSpPr>
        <p:grpSpPr>
          <a:xfrm>
            <a:off x="5766271" y="3779294"/>
            <a:ext cx="3192780" cy="656590"/>
            <a:chOff x="5766271" y="3779294"/>
            <a:chExt cx="3192780" cy="656590"/>
          </a:xfrm>
        </p:grpSpPr>
        <p:sp>
          <p:nvSpPr>
            <p:cNvPr id="158" name="object 158" descr=""/>
            <p:cNvSpPr/>
            <p:nvPr/>
          </p:nvSpPr>
          <p:spPr>
            <a:xfrm>
              <a:off x="5772621" y="3785644"/>
              <a:ext cx="3180080" cy="643890"/>
            </a:xfrm>
            <a:custGeom>
              <a:avLst/>
              <a:gdLst/>
              <a:ahLst/>
              <a:cxnLst/>
              <a:rect l="l" t="t" r="r" b="b"/>
              <a:pathLst>
                <a:path w="3180079" h="643889">
                  <a:moveTo>
                    <a:pt x="3143516" y="0"/>
                  </a:moveTo>
                  <a:lnTo>
                    <a:pt x="36004" y="0"/>
                  </a:lnTo>
                  <a:lnTo>
                    <a:pt x="21988" y="2828"/>
                  </a:lnTo>
                  <a:lnTo>
                    <a:pt x="10544" y="10544"/>
                  </a:lnTo>
                  <a:lnTo>
                    <a:pt x="2828" y="21988"/>
                  </a:lnTo>
                  <a:lnTo>
                    <a:pt x="0" y="36004"/>
                  </a:lnTo>
                  <a:lnTo>
                    <a:pt x="0" y="607313"/>
                  </a:lnTo>
                  <a:lnTo>
                    <a:pt x="2828" y="621332"/>
                  </a:lnTo>
                  <a:lnTo>
                    <a:pt x="10544" y="632780"/>
                  </a:lnTo>
                  <a:lnTo>
                    <a:pt x="21988" y="640500"/>
                  </a:lnTo>
                  <a:lnTo>
                    <a:pt x="36004" y="643331"/>
                  </a:lnTo>
                  <a:lnTo>
                    <a:pt x="3143516" y="643331"/>
                  </a:lnTo>
                  <a:lnTo>
                    <a:pt x="3157527" y="640500"/>
                  </a:lnTo>
                  <a:lnTo>
                    <a:pt x="3168972" y="632780"/>
                  </a:lnTo>
                  <a:lnTo>
                    <a:pt x="3176690" y="621332"/>
                  </a:lnTo>
                  <a:lnTo>
                    <a:pt x="3179521" y="607313"/>
                  </a:lnTo>
                  <a:lnTo>
                    <a:pt x="3179521" y="36004"/>
                  </a:lnTo>
                  <a:lnTo>
                    <a:pt x="3176690" y="21988"/>
                  </a:lnTo>
                  <a:lnTo>
                    <a:pt x="3168972" y="10544"/>
                  </a:lnTo>
                  <a:lnTo>
                    <a:pt x="3157527" y="2828"/>
                  </a:lnTo>
                  <a:lnTo>
                    <a:pt x="3143516" y="0"/>
                  </a:lnTo>
                  <a:close/>
                </a:path>
              </a:pathLst>
            </a:custGeom>
            <a:solidFill>
              <a:srgbClr val="A7A8A7">
                <a:alpha val="10194"/>
              </a:srgbClr>
            </a:solidFill>
          </p:spPr>
          <p:txBody>
            <a:bodyPr wrap="square" lIns="0" tIns="0" rIns="0" bIns="0" rtlCol="0"/>
            <a:lstStyle/>
            <a:p/>
          </p:txBody>
        </p:sp>
        <p:sp>
          <p:nvSpPr>
            <p:cNvPr id="159" name="object 159" descr=""/>
            <p:cNvSpPr/>
            <p:nvPr/>
          </p:nvSpPr>
          <p:spPr>
            <a:xfrm>
              <a:off x="5772621" y="3785644"/>
              <a:ext cx="3180080" cy="643890"/>
            </a:xfrm>
            <a:custGeom>
              <a:avLst/>
              <a:gdLst/>
              <a:ahLst/>
              <a:cxnLst/>
              <a:rect l="l" t="t" r="r" b="b"/>
              <a:pathLst>
                <a:path w="3180079" h="643889">
                  <a:moveTo>
                    <a:pt x="0" y="36004"/>
                  </a:moveTo>
                  <a:lnTo>
                    <a:pt x="2828" y="21988"/>
                  </a:lnTo>
                  <a:lnTo>
                    <a:pt x="10544" y="10544"/>
                  </a:lnTo>
                  <a:lnTo>
                    <a:pt x="21988" y="2828"/>
                  </a:lnTo>
                  <a:lnTo>
                    <a:pt x="36004" y="0"/>
                  </a:lnTo>
                  <a:lnTo>
                    <a:pt x="3143516" y="0"/>
                  </a:lnTo>
                  <a:lnTo>
                    <a:pt x="3157527" y="2828"/>
                  </a:lnTo>
                  <a:lnTo>
                    <a:pt x="3168972" y="10544"/>
                  </a:lnTo>
                  <a:lnTo>
                    <a:pt x="3176690" y="21988"/>
                  </a:lnTo>
                  <a:lnTo>
                    <a:pt x="3179521" y="36004"/>
                  </a:lnTo>
                  <a:lnTo>
                    <a:pt x="3179521" y="607313"/>
                  </a:lnTo>
                  <a:lnTo>
                    <a:pt x="3176690" y="621332"/>
                  </a:lnTo>
                  <a:lnTo>
                    <a:pt x="3168972" y="632780"/>
                  </a:lnTo>
                  <a:lnTo>
                    <a:pt x="3157527" y="640500"/>
                  </a:lnTo>
                  <a:lnTo>
                    <a:pt x="3143516" y="643331"/>
                  </a:lnTo>
                  <a:lnTo>
                    <a:pt x="36004" y="643331"/>
                  </a:lnTo>
                  <a:lnTo>
                    <a:pt x="21988" y="640500"/>
                  </a:lnTo>
                  <a:lnTo>
                    <a:pt x="10544" y="632780"/>
                  </a:lnTo>
                  <a:lnTo>
                    <a:pt x="2828" y="621332"/>
                  </a:lnTo>
                  <a:lnTo>
                    <a:pt x="0" y="607313"/>
                  </a:lnTo>
                  <a:lnTo>
                    <a:pt x="0" y="36004"/>
                  </a:lnTo>
                  <a:close/>
                </a:path>
              </a:pathLst>
            </a:custGeom>
            <a:ln w="12700">
              <a:solidFill>
                <a:srgbClr val="000000"/>
              </a:solidFill>
              <a:prstDash val="lgDash"/>
            </a:ln>
          </p:spPr>
          <p:txBody>
            <a:bodyPr wrap="square" lIns="0" tIns="0" rIns="0" bIns="0" rtlCol="0"/>
            <a:lstStyle/>
            <a:p/>
          </p:txBody>
        </p:sp>
      </p:grpSp>
      <p:sp>
        <p:nvSpPr>
          <p:cNvPr id="160" name="object 160" descr=""/>
          <p:cNvSpPr txBox="1"/>
          <p:nvPr/>
        </p:nvSpPr>
        <p:spPr>
          <a:xfrm>
            <a:off x="5816017" y="3791949"/>
            <a:ext cx="3053080" cy="601980"/>
          </a:xfrm>
          <a:prstGeom prst="rect">
            <a:avLst/>
          </a:prstGeom>
        </p:spPr>
        <p:txBody>
          <a:bodyPr wrap="square" lIns="0" tIns="67310" rIns="0" bIns="0" rtlCol="0" vert="horz">
            <a:spAutoFit/>
          </a:bodyPr>
          <a:lstStyle/>
          <a:p>
            <a:pPr marL="12700">
              <a:lnSpc>
                <a:spcPct val="100000"/>
              </a:lnSpc>
              <a:spcBef>
                <a:spcPts val="530"/>
              </a:spcBef>
            </a:pPr>
            <a:r>
              <a:rPr dirty="0" sz="900" spc="100" b="1">
                <a:latin typeface="Microsoft YaHei"/>
                <a:cs typeface="Microsoft YaHei"/>
              </a:rPr>
              <a:t>高铁场景 </a:t>
            </a:r>
            <a:r>
              <a:rPr dirty="0" sz="900" spc="-5">
                <a:latin typeface="Microsoft YaHei"/>
                <a:cs typeface="Microsoft YaHei"/>
              </a:rPr>
              <a:t>- </a:t>
            </a:r>
            <a:r>
              <a:rPr dirty="0" sz="900">
                <a:latin typeface="Microsoft YaHei"/>
                <a:cs typeface="Microsoft YaHei"/>
              </a:rPr>
              <a:t>8TR</a:t>
            </a:r>
            <a:r>
              <a:rPr dirty="0" sz="900" spc="-15">
                <a:latin typeface="Microsoft YaHei"/>
                <a:cs typeface="Microsoft YaHei"/>
              </a:rPr>
              <a:t> </a:t>
            </a:r>
            <a:r>
              <a:rPr dirty="0" sz="900" spc="-25">
                <a:latin typeface="Microsoft YaHei"/>
                <a:cs typeface="Microsoft YaHei"/>
              </a:rPr>
              <a:t>RRU</a:t>
            </a:r>
            <a:endParaRPr sz="900">
              <a:latin typeface="Microsoft YaHei"/>
              <a:cs typeface="Microsoft YaHei"/>
            </a:endParaRPr>
          </a:p>
          <a:p>
            <a:pPr marL="182245" indent="-169545">
              <a:lnSpc>
                <a:spcPct val="100000"/>
              </a:lnSpc>
              <a:spcBef>
                <a:spcPts val="434"/>
              </a:spcBef>
              <a:buFont typeface="Wingdings"/>
              <a:buChar char=""/>
              <a:tabLst>
                <a:tab pos="182245" algn="l"/>
              </a:tabLst>
            </a:pPr>
            <a:r>
              <a:rPr dirty="0" sz="900" spc="-5">
                <a:latin typeface="Microsoft YaHei"/>
                <a:cs typeface="Microsoft YaHei"/>
              </a:rPr>
              <a:t>空旷平原铁路，超长铁路桥、超远覆盖场景可应用大功率</a:t>
            </a:r>
            <a:endParaRPr sz="900">
              <a:latin typeface="Microsoft YaHei"/>
              <a:cs typeface="Microsoft YaHei"/>
            </a:endParaRPr>
          </a:p>
          <a:p>
            <a:pPr marL="182245">
              <a:lnSpc>
                <a:spcPct val="100000"/>
              </a:lnSpc>
              <a:spcBef>
                <a:spcPts val="430"/>
              </a:spcBef>
            </a:pPr>
            <a:r>
              <a:rPr dirty="0" sz="900" spc="-10">
                <a:latin typeface="Microsoft YaHei"/>
                <a:cs typeface="Microsoft YaHei"/>
              </a:rPr>
              <a:t>RRU+高增益天线，提供铁道沿线更广的覆盖和体验</a:t>
            </a:r>
            <a:endParaRPr sz="900">
              <a:latin typeface="Microsoft YaHei"/>
              <a:cs typeface="Microsoft YaHei"/>
            </a:endParaRPr>
          </a:p>
        </p:txBody>
      </p:sp>
      <p:sp>
        <p:nvSpPr>
          <p:cNvPr id="161" name="object 161" descr=""/>
          <p:cNvSpPr txBox="1"/>
          <p:nvPr/>
        </p:nvSpPr>
        <p:spPr>
          <a:xfrm>
            <a:off x="414806" y="3401541"/>
            <a:ext cx="472440" cy="147320"/>
          </a:xfrm>
          <a:prstGeom prst="rect">
            <a:avLst/>
          </a:prstGeom>
        </p:spPr>
        <p:txBody>
          <a:bodyPr wrap="square" lIns="0" tIns="12065" rIns="0" bIns="0" rtlCol="0" vert="horz">
            <a:spAutoFit/>
          </a:bodyPr>
          <a:lstStyle/>
          <a:p>
            <a:pPr marL="12700">
              <a:lnSpc>
                <a:spcPct val="100000"/>
              </a:lnSpc>
              <a:spcBef>
                <a:spcPts val="95"/>
              </a:spcBef>
            </a:pPr>
            <a:r>
              <a:rPr dirty="0" sz="800" b="1">
                <a:solidFill>
                  <a:srgbClr val="262673"/>
                </a:solidFill>
                <a:latin typeface="Microsoft YaHei"/>
                <a:cs typeface="Microsoft YaHei"/>
              </a:rPr>
              <a:t>8TR</a:t>
            </a:r>
            <a:r>
              <a:rPr dirty="0" sz="800" spc="-30" b="1">
                <a:solidFill>
                  <a:srgbClr val="262673"/>
                </a:solidFill>
                <a:latin typeface="Microsoft YaHei"/>
                <a:cs typeface="Microsoft YaHei"/>
              </a:rPr>
              <a:t> </a:t>
            </a:r>
            <a:r>
              <a:rPr dirty="0" sz="800" spc="-25" b="1">
                <a:solidFill>
                  <a:srgbClr val="262673"/>
                </a:solidFill>
                <a:latin typeface="Microsoft YaHei"/>
                <a:cs typeface="Microsoft YaHei"/>
              </a:rPr>
              <a:t>RRU</a:t>
            </a:r>
            <a:endParaRPr sz="800">
              <a:latin typeface="Microsoft YaHei"/>
              <a:cs typeface="Microsoft YaHe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5423396" y="2883084"/>
            <a:ext cx="3428365" cy="1753870"/>
            <a:chOff x="5423396" y="2883084"/>
            <a:chExt cx="3428365" cy="1753870"/>
          </a:xfrm>
        </p:grpSpPr>
        <p:sp>
          <p:nvSpPr>
            <p:cNvPr id="3" name="object 3" descr=""/>
            <p:cNvSpPr/>
            <p:nvPr/>
          </p:nvSpPr>
          <p:spPr>
            <a:xfrm>
              <a:off x="5436096" y="2895784"/>
              <a:ext cx="3402965" cy="1728470"/>
            </a:xfrm>
            <a:custGeom>
              <a:avLst/>
              <a:gdLst/>
              <a:ahLst/>
              <a:cxnLst/>
              <a:rect l="l" t="t" r="r" b="b"/>
              <a:pathLst>
                <a:path w="3402965" h="1728470">
                  <a:moveTo>
                    <a:pt x="3229559" y="0"/>
                  </a:moveTo>
                  <a:lnTo>
                    <a:pt x="172821" y="0"/>
                  </a:lnTo>
                  <a:lnTo>
                    <a:pt x="126876" y="6173"/>
                  </a:lnTo>
                  <a:lnTo>
                    <a:pt x="85592" y="23596"/>
                  </a:lnTo>
                  <a:lnTo>
                    <a:pt x="50615" y="50620"/>
                  </a:lnTo>
                  <a:lnTo>
                    <a:pt x="23593" y="85598"/>
                  </a:lnTo>
                  <a:lnTo>
                    <a:pt x="6172" y="126880"/>
                  </a:lnTo>
                  <a:lnTo>
                    <a:pt x="0" y="172821"/>
                  </a:lnTo>
                  <a:lnTo>
                    <a:pt x="0" y="1555381"/>
                  </a:lnTo>
                  <a:lnTo>
                    <a:pt x="6172" y="1601321"/>
                  </a:lnTo>
                  <a:lnTo>
                    <a:pt x="23593" y="1642602"/>
                  </a:lnTo>
                  <a:lnTo>
                    <a:pt x="50615" y="1677576"/>
                  </a:lnTo>
                  <a:lnTo>
                    <a:pt x="85592" y="1704597"/>
                  </a:lnTo>
                  <a:lnTo>
                    <a:pt x="126876" y="1722017"/>
                  </a:lnTo>
                  <a:lnTo>
                    <a:pt x="172821" y="1728190"/>
                  </a:lnTo>
                  <a:lnTo>
                    <a:pt x="3229559" y="1728190"/>
                  </a:lnTo>
                  <a:lnTo>
                    <a:pt x="3275499" y="1722017"/>
                  </a:lnTo>
                  <a:lnTo>
                    <a:pt x="3316782" y="1704597"/>
                  </a:lnTo>
                  <a:lnTo>
                    <a:pt x="3351760" y="1677576"/>
                  </a:lnTo>
                  <a:lnTo>
                    <a:pt x="3378784" y="1642602"/>
                  </a:lnTo>
                  <a:lnTo>
                    <a:pt x="3396207" y="1601321"/>
                  </a:lnTo>
                  <a:lnTo>
                    <a:pt x="3402380" y="1555381"/>
                  </a:lnTo>
                  <a:lnTo>
                    <a:pt x="3402380" y="172821"/>
                  </a:lnTo>
                  <a:lnTo>
                    <a:pt x="3396207" y="126880"/>
                  </a:lnTo>
                  <a:lnTo>
                    <a:pt x="3378784" y="85598"/>
                  </a:lnTo>
                  <a:lnTo>
                    <a:pt x="3351760" y="50620"/>
                  </a:lnTo>
                  <a:lnTo>
                    <a:pt x="3316782" y="23596"/>
                  </a:lnTo>
                  <a:lnTo>
                    <a:pt x="3275499" y="6173"/>
                  </a:lnTo>
                  <a:lnTo>
                    <a:pt x="3229559" y="0"/>
                  </a:lnTo>
                  <a:close/>
                </a:path>
              </a:pathLst>
            </a:custGeom>
            <a:solidFill>
              <a:srgbClr val="DDFEFF">
                <a:alpha val="90194"/>
              </a:srgbClr>
            </a:solidFill>
          </p:spPr>
          <p:txBody>
            <a:bodyPr wrap="square" lIns="0" tIns="0" rIns="0" bIns="0" rtlCol="0"/>
            <a:lstStyle/>
            <a:p/>
          </p:txBody>
        </p:sp>
        <p:sp>
          <p:nvSpPr>
            <p:cNvPr id="4" name="object 4" descr=""/>
            <p:cNvSpPr/>
            <p:nvPr/>
          </p:nvSpPr>
          <p:spPr>
            <a:xfrm>
              <a:off x="5436096" y="2895784"/>
              <a:ext cx="3402965" cy="1728470"/>
            </a:xfrm>
            <a:custGeom>
              <a:avLst/>
              <a:gdLst/>
              <a:ahLst/>
              <a:cxnLst/>
              <a:rect l="l" t="t" r="r" b="b"/>
              <a:pathLst>
                <a:path w="3402965" h="1728470">
                  <a:moveTo>
                    <a:pt x="0" y="172821"/>
                  </a:moveTo>
                  <a:lnTo>
                    <a:pt x="6172" y="126880"/>
                  </a:lnTo>
                  <a:lnTo>
                    <a:pt x="23593" y="85598"/>
                  </a:lnTo>
                  <a:lnTo>
                    <a:pt x="50615" y="50620"/>
                  </a:lnTo>
                  <a:lnTo>
                    <a:pt x="85592" y="23596"/>
                  </a:lnTo>
                  <a:lnTo>
                    <a:pt x="126876" y="6173"/>
                  </a:lnTo>
                  <a:lnTo>
                    <a:pt x="172821" y="0"/>
                  </a:lnTo>
                  <a:lnTo>
                    <a:pt x="3229559" y="0"/>
                  </a:lnTo>
                  <a:lnTo>
                    <a:pt x="3275499" y="6173"/>
                  </a:lnTo>
                  <a:lnTo>
                    <a:pt x="3316782" y="23596"/>
                  </a:lnTo>
                  <a:lnTo>
                    <a:pt x="3351760" y="50620"/>
                  </a:lnTo>
                  <a:lnTo>
                    <a:pt x="3378784" y="85598"/>
                  </a:lnTo>
                  <a:lnTo>
                    <a:pt x="3396207" y="126880"/>
                  </a:lnTo>
                  <a:lnTo>
                    <a:pt x="3402380" y="172821"/>
                  </a:lnTo>
                  <a:lnTo>
                    <a:pt x="3402380" y="1555381"/>
                  </a:lnTo>
                  <a:lnTo>
                    <a:pt x="3396207" y="1601321"/>
                  </a:lnTo>
                  <a:lnTo>
                    <a:pt x="3378784" y="1642602"/>
                  </a:lnTo>
                  <a:lnTo>
                    <a:pt x="3351760" y="1677576"/>
                  </a:lnTo>
                  <a:lnTo>
                    <a:pt x="3316782" y="1704597"/>
                  </a:lnTo>
                  <a:lnTo>
                    <a:pt x="3275499" y="1722017"/>
                  </a:lnTo>
                  <a:lnTo>
                    <a:pt x="3229559" y="1728190"/>
                  </a:lnTo>
                  <a:lnTo>
                    <a:pt x="172821" y="1728190"/>
                  </a:lnTo>
                  <a:lnTo>
                    <a:pt x="126876" y="1722017"/>
                  </a:lnTo>
                  <a:lnTo>
                    <a:pt x="85592" y="1704597"/>
                  </a:lnTo>
                  <a:lnTo>
                    <a:pt x="50615" y="1677576"/>
                  </a:lnTo>
                  <a:lnTo>
                    <a:pt x="23593" y="1642602"/>
                  </a:lnTo>
                  <a:lnTo>
                    <a:pt x="6172" y="1601321"/>
                  </a:lnTo>
                  <a:lnTo>
                    <a:pt x="0" y="1555381"/>
                  </a:lnTo>
                  <a:lnTo>
                    <a:pt x="0" y="172821"/>
                  </a:lnTo>
                  <a:close/>
                </a:path>
              </a:pathLst>
            </a:custGeom>
            <a:ln w="25399">
              <a:solidFill>
                <a:srgbClr val="BBE0E3"/>
              </a:solidFill>
            </a:ln>
          </p:spPr>
          <p:txBody>
            <a:bodyPr wrap="square" lIns="0" tIns="0" rIns="0" bIns="0" rtlCol="0"/>
            <a:lstStyle/>
            <a:p/>
          </p:txBody>
        </p:sp>
      </p:grpSp>
      <p:grpSp>
        <p:nvGrpSpPr>
          <p:cNvPr id="5" name="object 5" descr=""/>
          <p:cNvGrpSpPr/>
          <p:nvPr/>
        </p:nvGrpSpPr>
        <p:grpSpPr>
          <a:xfrm>
            <a:off x="5402432" y="882646"/>
            <a:ext cx="3428365" cy="1651635"/>
            <a:chOff x="5402432" y="882646"/>
            <a:chExt cx="3428365" cy="1651635"/>
          </a:xfrm>
        </p:grpSpPr>
        <p:sp>
          <p:nvSpPr>
            <p:cNvPr id="6" name="object 6" descr=""/>
            <p:cNvSpPr/>
            <p:nvPr/>
          </p:nvSpPr>
          <p:spPr>
            <a:xfrm>
              <a:off x="5415132" y="895346"/>
              <a:ext cx="3402965" cy="1626235"/>
            </a:xfrm>
            <a:custGeom>
              <a:avLst/>
              <a:gdLst/>
              <a:ahLst/>
              <a:cxnLst/>
              <a:rect l="l" t="t" r="r" b="b"/>
              <a:pathLst>
                <a:path w="3402965" h="1626235">
                  <a:moveTo>
                    <a:pt x="3239757" y="0"/>
                  </a:moveTo>
                  <a:lnTo>
                    <a:pt x="162623" y="0"/>
                  </a:lnTo>
                  <a:lnTo>
                    <a:pt x="119391" y="5809"/>
                  </a:lnTo>
                  <a:lnTo>
                    <a:pt x="80544" y="22202"/>
                  </a:lnTo>
                  <a:lnTo>
                    <a:pt x="47631" y="47631"/>
                  </a:lnTo>
                  <a:lnTo>
                    <a:pt x="22202" y="80544"/>
                  </a:lnTo>
                  <a:lnTo>
                    <a:pt x="5809" y="119391"/>
                  </a:lnTo>
                  <a:lnTo>
                    <a:pt x="0" y="162623"/>
                  </a:lnTo>
                  <a:lnTo>
                    <a:pt x="0" y="1463586"/>
                  </a:lnTo>
                  <a:lnTo>
                    <a:pt x="5809" y="1506817"/>
                  </a:lnTo>
                  <a:lnTo>
                    <a:pt x="22202" y="1545665"/>
                  </a:lnTo>
                  <a:lnTo>
                    <a:pt x="47631" y="1578578"/>
                  </a:lnTo>
                  <a:lnTo>
                    <a:pt x="80544" y="1604006"/>
                  </a:lnTo>
                  <a:lnTo>
                    <a:pt x="119391" y="1620400"/>
                  </a:lnTo>
                  <a:lnTo>
                    <a:pt x="162623" y="1626209"/>
                  </a:lnTo>
                  <a:lnTo>
                    <a:pt x="3239757" y="1626209"/>
                  </a:lnTo>
                  <a:lnTo>
                    <a:pt x="3282989" y="1620400"/>
                  </a:lnTo>
                  <a:lnTo>
                    <a:pt x="3321836" y="1604006"/>
                  </a:lnTo>
                  <a:lnTo>
                    <a:pt x="3354749" y="1578578"/>
                  </a:lnTo>
                  <a:lnTo>
                    <a:pt x="3380177" y="1545665"/>
                  </a:lnTo>
                  <a:lnTo>
                    <a:pt x="3396571" y="1506817"/>
                  </a:lnTo>
                  <a:lnTo>
                    <a:pt x="3402380" y="1463586"/>
                  </a:lnTo>
                  <a:lnTo>
                    <a:pt x="3402380" y="162623"/>
                  </a:lnTo>
                  <a:lnTo>
                    <a:pt x="3396571" y="119391"/>
                  </a:lnTo>
                  <a:lnTo>
                    <a:pt x="3380177" y="80544"/>
                  </a:lnTo>
                  <a:lnTo>
                    <a:pt x="3354749" y="47631"/>
                  </a:lnTo>
                  <a:lnTo>
                    <a:pt x="3321836" y="22202"/>
                  </a:lnTo>
                  <a:lnTo>
                    <a:pt x="3282989" y="5809"/>
                  </a:lnTo>
                  <a:lnTo>
                    <a:pt x="3239757" y="0"/>
                  </a:lnTo>
                  <a:close/>
                </a:path>
              </a:pathLst>
            </a:custGeom>
            <a:solidFill>
              <a:srgbClr val="DDFEFF">
                <a:alpha val="90194"/>
              </a:srgbClr>
            </a:solidFill>
          </p:spPr>
          <p:txBody>
            <a:bodyPr wrap="square" lIns="0" tIns="0" rIns="0" bIns="0" rtlCol="0"/>
            <a:lstStyle/>
            <a:p/>
          </p:txBody>
        </p:sp>
        <p:sp>
          <p:nvSpPr>
            <p:cNvPr id="7" name="object 7" descr=""/>
            <p:cNvSpPr/>
            <p:nvPr/>
          </p:nvSpPr>
          <p:spPr>
            <a:xfrm>
              <a:off x="5415132" y="895346"/>
              <a:ext cx="3402965" cy="1626235"/>
            </a:xfrm>
            <a:custGeom>
              <a:avLst/>
              <a:gdLst/>
              <a:ahLst/>
              <a:cxnLst/>
              <a:rect l="l" t="t" r="r" b="b"/>
              <a:pathLst>
                <a:path w="3402965" h="1626235">
                  <a:moveTo>
                    <a:pt x="0" y="162623"/>
                  </a:moveTo>
                  <a:lnTo>
                    <a:pt x="5809" y="119391"/>
                  </a:lnTo>
                  <a:lnTo>
                    <a:pt x="22202" y="80544"/>
                  </a:lnTo>
                  <a:lnTo>
                    <a:pt x="47631" y="47631"/>
                  </a:lnTo>
                  <a:lnTo>
                    <a:pt x="80544" y="22202"/>
                  </a:lnTo>
                  <a:lnTo>
                    <a:pt x="119391" y="5809"/>
                  </a:lnTo>
                  <a:lnTo>
                    <a:pt x="162623" y="0"/>
                  </a:lnTo>
                  <a:lnTo>
                    <a:pt x="3239757" y="0"/>
                  </a:lnTo>
                  <a:lnTo>
                    <a:pt x="3282989" y="5809"/>
                  </a:lnTo>
                  <a:lnTo>
                    <a:pt x="3321836" y="22202"/>
                  </a:lnTo>
                  <a:lnTo>
                    <a:pt x="3354749" y="47631"/>
                  </a:lnTo>
                  <a:lnTo>
                    <a:pt x="3380177" y="80544"/>
                  </a:lnTo>
                  <a:lnTo>
                    <a:pt x="3396571" y="119391"/>
                  </a:lnTo>
                  <a:lnTo>
                    <a:pt x="3402380" y="162623"/>
                  </a:lnTo>
                  <a:lnTo>
                    <a:pt x="3402380" y="1463586"/>
                  </a:lnTo>
                  <a:lnTo>
                    <a:pt x="3396571" y="1506817"/>
                  </a:lnTo>
                  <a:lnTo>
                    <a:pt x="3380177" y="1545665"/>
                  </a:lnTo>
                  <a:lnTo>
                    <a:pt x="3354749" y="1578578"/>
                  </a:lnTo>
                  <a:lnTo>
                    <a:pt x="3321836" y="1604006"/>
                  </a:lnTo>
                  <a:lnTo>
                    <a:pt x="3282989" y="1620400"/>
                  </a:lnTo>
                  <a:lnTo>
                    <a:pt x="3239757" y="1626209"/>
                  </a:lnTo>
                  <a:lnTo>
                    <a:pt x="162623" y="1626209"/>
                  </a:lnTo>
                  <a:lnTo>
                    <a:pt x="119391" y="1620400"/>
                  </a:lnTo>
                  <a:lnTo>
                    <a:pt x="80544" y="1604006"/>
                  </a:lnTo>
                  <a:lnTo>
                    <a:pt x="47631" y="1578578"/>
                  </a:lnTo>
                  <a:lnTo>
                    <a:pt x="22202" y="1545665"/>
                  </a:lnTo>
                  <a:lnTo>
                    <a:pt x="5809" y="1506817"/>
                  </a:lnTo>
                  <a:lnTo>
                    <a:pt x="0" y="1463586"/>
                  </a:lnTo>
                  <a:lnTo>
                    <a:pt x="0" y="162623"/>
                  </a:lnTo>
                  <a:close/>
                </a:path>
              </a:pathLst>
            </a:custGeom>
            <a:ln w="25400">
              <a:solidFill>
                <a:srgbClr val="BBE0E3"/>
              </a:solidFill>
            </a:ln>
          </p:spPr>
          <p:txBody>
            <a:bodyPr wrap="square" lIns="0" tIns="0" rIns="0" bIns="0" rtlCol="0"/>
            <a:lstStyle/>
            <a:p/>
          </p:txBody>
        </p:sp>
      </p:grpSp>
      <p:grpSp>
        <p:nvGrpSpPr>
          <p:cNvPr id="8" name="object 8" descr=""/>
          <p:cNvGrpSpPr/>
          <p:nvPr/>
        </p:nvGrpSpPr>
        <p:grpSpPr>
          <a:xfrm>
            <a:off x="339807" y="882646"/>
            <a:ext cx="3428365" cy="1647825"/>
            <a:chOff x="339807" y="882646"/>
            <a:chExt cx="3428365" cy="1647825"/>
          </a:xfrm>
        </p:grpSpPr>
        <p:sp>
          <p:nvSpPr>
            <p:cNvPr id="9" name="object 9" descr=""/>
            <p:cNvSpPr/>
            <p:nvPr/>
          </p:nvSpPr>
          <p:spPr>
            <a:xfrm>
              <a:off x="352507" y="895346"/>
              <a:ext cx="3402965" cy="1622425"/>
            </a:xfrm>
            <a:custGeom>
              <a:avLst/>
              <a:gdLst/>
              <a:ahLst/>
              <a:cxnLst/>
              <a:rect l="l" t="t" r="r" b="b"/>
              <a:pathLst>
                <a:path w="3402965" h="1622425">
                  <a:moveTo>
                    <a:pt x="3240138" y="0"/>
                  </a:moveTo>
                  <a:lnTo>
                    <a:pt x="162242" y="0"/>
                  </a:lnTo>
                  <a:lnTo>
                    <a:pt x="119109" y="5795"/>
                  </a:lnTo>
                  <a:lnTo>
                    <a:pt x="80352" y="22152"/>
                  </a:lnTo>
                  <a:lnTo>
                    <a:pt x="47517" y="47521"/>
                  </a:lnTo>
                  <a:lnTo>
                    <a:pt x="22149" y="80358"/>
                  </a:lnTo>
                  <a:lnTo>
                    <a:pt x="5794" y="119113"/>
                  </a:lnTo>
                  <a:lnTo>
                    <a:pt x="0" y="162242"/>
                  </a:lnTo>
                  <a:lnTo>
                    <a:pt x="0" y="1460157"/>
                  </a:lnTo>
                  <a:lnTo>
                    <a:pt x="5794" y="1503285"/>
                  </a:lnTo>
                  <a:lnTo>
                    <a:pt x="22149" y="1542041"/>
                  </a:lnTo>
                  <a:lnTo>
                    <a:pt x="47517" y="1574877"/>
                  </a:lnTo>
                  <a:lnTo>
                    <a:pt x="80352" y="1600247"/>
                  </a:lnTo>
                  <a:lnTo>
                    <a:pt x="119109" y="1616603"/>
                  </a:lnTo>
                  <a:lnTo>
                    <a:pt x="162242" y="1622399"/>
                  </a:lnTo>
                  <a:lnTo>
                    <a:pt x="3240138" y="1622399"/>
                  </a:lnTo>
                  <a:lnTo>
                    <a:pt x="3283266" y="1616603"/>
                  </a:lnTo>
                  <a:lnTo>
                    <a:pt x="3322022" y="1600247"/>
                  </a:lnTo>
                  <a:lnTo>
                    <a:pt x="3354858" y="1574877"/>
                  </a:lnTo>
                  <a:lnTo>
                    <a:pt x="3380228" y="1542041"/>
                  </a:lnTo>
                  <a:lnTo>
                    <a:pt x="3396584" y="1503285"/>
                  </a:lnTo>
                  <a:lnTo>
                    <a:pt x="3402380" y="1460157"/>
                  </a:lnTo>
                  <a:lnTo>
                    <a:pt x="3402380" y="162242"/>
                  </a:lnTo>
                  <a:lnTo>
                    <a:pt x="3396584" y="119113"/>
                  </a:lnTo>
                  <a:lnTo>
                    <a:pt x="3380228" y="80358"/>
                  </a:lnTo>
                  <a:lnTo>
                    <a:pt x="3354858" y="47521"/>
                  </a:lnTo>
                  <a:lnTo>
                    <a:pt x="3322022" y="22152"/>
                  </a:lnTo>
                  <a:lnTo>
                    <a:pt x="3283266" y="5795"/>
                  </a:lnTo>
                  <a:lnTo>
                    <a:pt x="3240138" y="0"/>
                  </a:lnTo>
                  <a:close/>
                </a:path>
              </a:pathLst>
            </a:custGeom>
            <a:solidFill>
              <a:srgbClr val="DDFEFF">
                <a:alpha val="90194"/>
              </a:srgbClr>
            </a:solidFill>
          </p:spPr>
          <p:txBody>
            <a:bodyPr wrap="square" lIns="0" tIns="0" rIns="0" bIns="0" rtlCol="0"/>
            <a:lstStyle/>
            <a:p/>
          </p:txBody>
        </p:sp>
        <p:sp>
          <p:nvSpPr>
            <p:cNvPr id="10" name="object 10" descr=""/>
            <p:cNvSpPr/>
            <p:nvPr/>
          </p:nvSpPr>
          <p:spPr>
            <a:xfrm>
              <a:off x="352507" y="895346"/>
              <a:ext cx="3402965" cy="1622425"/>
            </a:xfrm>
            <a:custGeom>
              <a:avLst/>
              <a:gdLst/>
              <a:ahLst/>
              <a:cxnLst/>
              <a:rect l="l" t="t" r="r" b="b"/>
              <a:pathLst>
                <a:path w="3402965" h="1622425">
                  <a:moveTo>
                    <a:pt x="0" y="162242"/>
                  </a:moveTo>
                  <a:lnTo>
                    <a:pt x="5794" y="119113"/>
                  </a:lnTo>
                  <a:lnTo>
                    <a:pt x="22149" y="80358"/>
                  </a:lnTo>
                  <a:lnTo>
                    <a:pt x="47517" y="47521"/>
                  </a:lnTo>
                  <a:lnTo>
                    <a:pt x="80352" y="22152"/>
                  </a:lnTo>
                  <a:lnTo>
                    <a:pt x="119109" y="5795"/>
                  </a:lnTo>
                  <a:lnTo>
                    <a:pt x="162242" y="0"/>
                  </a:lnTo>
                  <a:lnTo>
                    <a:pt x="3240138" y="0"/>
                  </a:lnTo>
                  <a:lnTo>
                    <a:pt x="3283266" y="5795"/>
                  </a:lnTo>
                  <a:lnTo>
                    <a:pt x="3322022" y="22152"/>
                  </a:lnTo>
                  <a:lnTo>
                    <a:pt x="3354858" y="47521"/>
                  </a:lnTo>
                  <a:lnTo>
                    <a:pt x="3380228" y="80358"/>
                  </a:lnTo>
                  <a:lnTo>
                    <a:pt x="3396584" y="119113"/>
                  </a:lnTo>
                  <a:lnTo>
                    <a:pt x="3402380" y="162242"/>
                  </a:lnTo>
                  <a:lnTo>
                    <a:pt x="3402380" y="1460157"/>
                  </a:lnTo>
                  <a:lnTo>
                    <a:pt x="3396584" y="1503285"/>
                  </a:lnTo>
                  <a:lnTo>
                    <a:pt x="3380228" y="1542041"/>
                  </a:lnTo>
                  <a:lnTo>
                    <a:pt x="3354858" y="1574877"/>
                  </a:lnTo>
                  <a:lnTo>
                    <a:pt x="3322022" y="1600247"/>
                  </a:lnTo>
                  <a:lnTo>
                    <a:pt x="3283266" y="1616603"/>
                  </a:lnTo>
                  <a:lnTo>
                    <a:pt x="3240138" y="1622399"/>
                  </a:lnTo>
                  <a:lnTo>
                    <a:pt x="162242" y="1622399"/>
                  </a:lnTo>
                  <a:lnTo>
                    <a:pt x="119109" y="1616603"/>
                  </a:lnTo>
                  <a:lnTo>
                    <a:pt x="80352" y="1600247"/>
                  </a:lnTo>
                  <a:lnTo>
                    <a:pt x="47517" y="1574877"/>
                  </a:lnTo>
                  <a:lnTo>
                    <a:pt x="22149" y="1542041"/>
                  </a:lnTo>
                  <a:lnTo>
                    <a:pt x="5794" y="1503285"/>
                  </a:lnTo>
                  <a:lnTo>
                    <a:pt x="0" y="1460157"/>
                  </a:lnTo>
                  <a:lnTo>
                    <a:pt x="0" y="162242"/>
                  </a:lnTo>
                  <a:close/>
                </a:path>
              </a:pathLst>
            </a:custGeom>
            <a:ln w="25400">
              <a:solidFill>
                <a:srgbClr val="BBE0E3"/>
              </a:solidFill>
            </a:ln>
          </p:spPr>
          <p:txBody>
            <a:bodyPr wrap="square" lIns="0" tIns="0" rIns="0" bIns="0" rtlCol="0"/>
            <a:lstStyle/>
            <a:p/>
          </p:txBody>
        </p:sp>
      </p:grpSp>
      <p:grpSp>
        <p:nvGrpSpPr>
          <p:cNvPr id="11" name="object 11" descr=""/>
          <p:cNvGrpSpPr/>
          <p:nvPr/>
        </p:nvGrpSpPr>
        <p:grpSpPr>
          <a:xfrm>
            <a:off x="339807" y="2883084"/>
            <a:ext cx="3428365" cy="1753870"/>
            <a:chOff x="339807" y="2883084"/>
            <a:chExt cx="3428365" cy="1753870"/>
          </a:xfrm>
        </p:grpSpPr>
        <p:sp>
          <p:nvSpPr>
            <p:cNvPr id="12" name="object 12" descr=""/>
            <p:cNvSpPr/>
            <p:nvPr/>
          </p:nvSpPr>
          <p:spPr>
            <a:xfrm>
              <a:off x="352507" y="2895784"/>
              <a:ext cx="3402965" cy="1728470"/>
            </a:xfrm>
            <a:custGeom>
              <a:avLst/>
              <a:gdLst/>
              <a:ahLst/>
              <a:cxnLst/>
              <a:rect l="l" t="t" r="r" b="b"/>
              <a:pathLst>
                <a:path w="3402965" h="1728470">
                  <a:moveTo>
                    <a:pt x="3229559" y="0"/>
                  </a:moveTo>
                  <a:lnTo>
                    <a:pt x="172821" y="0"/>
                  </a:lnTo>
                  <a:lnTo>
                    <a:pt x="126876" y="6173"/>
                  </a:lnTo>
                  <a:lnTo>
                    <a:pt x="85592" y="23596"/>
                  </a:lnTo>
                  <a:lnTo>
                    <a:pt x="50615" y="50620"/>
                  </a:lnTo>
                  <a:lnTo>
                    <a:pt x="23593" y="85598"/>
                  </a:lnTo>
                  <a:lnTo>
                    <a:pt x="6172" y="126880"/>
                  </a:lnTo>
                  <a:lnTo>
                    <a:pt x="0" y="172821"/>
                  </a:lnTo>
                  <a:lnTo>
                    <a:pt x="0" y="1555381"/>
                  </a:lnTo>
                  <a:lnTo>
                    <a:pt x="6172" y="1601321"/>
                  </a:lnTo>
                  <a:lnTo>
                    <a:pt x="23593" y="1642602"/>
                  </a:lnTo>
                  <a:lnTo>
                    <a:pt x="50615" y="1677576"/>
                  </a:lnTo>
                  <a:lnTo>
                    <a:pt x="85592" y="1704597"/>
                  </a:lnTo>
                  <a:lnTo>
                    <a:pt x="126876" y="1722017"/>
                  </a:lnTo>
                  <a:lnTo>
                    <a:pt x="172821" y="1728190"/>
                  </a:lnTo>
                  <a:lnTo>
                    <a:pt x="3229559" y="1728190"/>
                  </a:lnTo>
                  <a:lnTo>
                    <a:pt x="3275499" y="1722017"/>
                  </a:lnTo>
                  <a:lnTo>
                    <a:pt x="3316782" y="1704597"/>
                  </a:lnTo>
                  <a:lnTo>
                    <a:pt x="3351760" y="1677576"/>
                  </a:lnTo>
                  <a:lnTo>
                    <a:pt x="3378784" y="1642602"/>
                  </a:lnTo>
                  <a:lnTo>
                    <a:pt x="3396207" y="1601321"/>
                  </a:lnTo>
                  <a:lnTo>
                    <a:pt x="3402380" y="1555381"/>
                  </a:lnTo>
                  <a:lnTo>
                    <a:pt x="3402380" y="172821"/>
                  </a:lnTo>
                  <a:lnTo>
                    <a:pt x="3396207" y="126880"/>
                  </a:lnTo>
                  <a:lnTo>
                    <a:pt x="3378784" y="85598"/>
                  </a:lnTo>
                  <a:lnTo>
                    <a:pt x="3351760" y="50620"/>
                  </a:lnTo>
                  <a:lnTo>
                    <a:pt x="3316782" y="23596"/>
                  </a:lnTo>
                  <a:lnTo>
                    <a:pt x="3275499" y="6173"/>
                  </a:lnTo>
                  <a:lnTo>
                    <a:pt x="3229559" y="0"/>
                  </a:lnTo>
                  <a:close/>
                </a:path>
              </a:pathLst>
            </a:custGeom>
            <a:solidFill>
              <a:srgbClr val="DDFEFF">
                <a:alpha val="90194"/>
              </a:srgbClr>
            </a:solidFill>
          </p:spPr>
          <p:txBody>
            <a:bodyPr wrap="square" lIns="0" tIns="0" rIns="0" bIns="0" rtlCol="0"/>
            <a:lstStyle/>
            <a:p/>
          </p:txBody>
        </p:sp>
        <p:sp>
          <p:nvSpPr>
            <p:cNvPr id="13" name="object 13" descr=""/>
            <p:cNvSpPr/>
            <p:nvPr/>
          </p:nvSpPr>
          <p:spPr>
            <a:xfrm>
              <a:off x="352507" y="2895784"/>
              <a:ext cx="3402965" cy="1728470"/>
            </a:xfrm>
            <a:custGeom>
              <a:avLst/>
              <a:gdLst/>
              <a:ahLst/>
              <a:cxnLst/>
              <a:rect l="l" t="t" r="r" b="b"/>
              <a:pathLst>
                <a:path w="3402965" h="1728470">
                  <a:moveTo>
                    <a:pt x="0" y="172821"/>
                  </a:moveTo>
                  <a:lnTo>
                    <a:pt x="6172" y="126880"/>
                  </a:lnTo>
                  <a:lnTo>
                    <a:pt x="23593" y="85598"/>
                  </a:lnTo>
                  <a:lnTo>
                    <a:pt x="50615" y="50620"/>
                  </a:lnTo>
                  <a:lnTo>
                    <a:pt x="85592" y="23596"/>
                  </a:lnTo>
                  <a:lnTo>
                    <a:pt x="126876" y="6173"/>
                  </a:lnTo>
                  <a:lnTo>
                    <a:pt x="172821" y="0"/>
                  </a:lnTo>
                  <a:lnTo>
                    <a:pt x="3229559" y="0"/>
                  </a:lnTo>
                  <a:lnTo>
                    <a:pt x="3275499" y="6173"/>
                  </a:lnTo>
                  <a:lnTo>
                    <a:pt x="3316782" y="23596"/>
                  </a:lnTo>
                  <a:lnTo>
                    <a:pt x="3351760" y="50620"/>
                  </a:lnTo>
                  <a:lnTo>
                    <a:pt x="3378784" y="85598"/>
                  </a:lnTo>
                  <a:lnTo>
                    <a:pt x="3396207" y="126880"/>
                  </a:lnTo>
                  <a:lnTo>
                    <a:pt x="3402380" y="172821"/>
                  </a:lnTo>
                  <a:lnTo>
                    <a:pt x="3402380" y="1555381"/>
                  </a:lnTo>
                  <a:lnTo>
                    <a:pt x="3396207" y="1601321"/>
                  </a:lnTo>
                  <a:lnTo>
                    <a:pt x="3378784" y="1642602"/>
                  </a:lnTo>
                  <a:lnTo>
                    <a:pt x="3351760" y="1677576"/>
                  </a:lnTo>
                  <a:lnTo>
                    <a:pt x="3316782" y="1704597"/>
                  </a:lnTo>
                  <a:lnTo>
                    <a:pt x="3275499" y="1722017"/>
                  </a:lnTo>
                  <a:lnTo>
                    <a:pt x="3229559" y="1728190"/>
                  </a:lnTo>
                  <a:lnTo>
                    <a:pt x="172821" y="1728190"/>
                  </a:lnTo>
                  <a:lnTo>
                    <a:pt x="126876" y="1722017"/>
                  </a:lnTo>
                  <a:lnTo>
                    <a:pt x="85592" y="1704597"/>
                  </a:lnTo>
                  <a:lnTo>
                    <a:pt x="50615" y="1677576"/>
                  </a:lnTo>
                  <a:lnTo>
                    <a:pt x="23593" y="1642602"/>
                  </a:lnTo>
                  <a:lnTo>
                    <a:pt x="6172" y="1601321"/>
                  </a:lnTo>
                  <a:lnTo>
                    <a:pt x="0" y="1555381"/>
                  </a:lnTo>
                  <a:lnTo>
                    <a:pt x="0" y="172821"/>
                  </a:lnTo>
                  <a:close/>
                </a:path>
              </a:pathLst>
            </a:custGeom>
            <a:ln w="25399">
              <a:solidFill>
                <a:srgbClr val="BBE0E3"/>
              </a:solidFill>
            </a:ln>
          </p:spPr>
          <p:txBody>
            <a:bodyPr wrap="square" lIns="0" tIns="0" rIns="0" bIns="0" rtlCol="0"/>
            <a:lstStyle/>
            <a:p/>
          </p:txBody>
        </p:sp>
      </p:grpSp>
      <p:sp>
        <p:nvSpPr>
          <p:cNvPr id="14" name="object 14"/>
          <p:cNvSpPr txBox="1">
            <a:spLocks noGrp="1"/>
          </p:cNvSpPr>
          <p:nvPr>
            <p:ph type="title"/>
          </p:nvPr>
        </p:nvSpPr>
        <p:spPr>
          <a:xfrm>
            <a:off x="1405255" y="92039"/>
            <a:ext cx="6791325" cy="513080"/>
          </a:xfrm>
          <a:prstGeom prst="rect"/>
        </p:spPr>
        <p:txBody>
          <a:bodyPr wrap="square" lIns="0" tIns="12065" rIns="0" bIns="0" rtlCol="0" vert="horz">
            <a:spAutoFit/>
          </a:bodyPr>
          <a:lstStyle/>
          <a:p>
            <a:pPr marL="12700">
              <a:lnSpc>
                <a:spcPct val="100000"/>
              </a:lnSpc>
              <a:spcBef>
                <a:spcPts val="95"/>
              </a:spcBef>
            </a:pPr>
            <a:r>
              <a:rPr dirty="0" spc="-40"/>
              <a:t>城区采用</a:t>
            </a:r>
            <a:r>
              <a:rPr dirty="0">
                <a:latin typeface="Times New Roman"/>
                <a:cs typeface="Times New Roman"/>
              </a:rPr>
              <a:t>64TR </a:t>
            </a:r>
            <a:r>
              <a:rPr dirty="0" spc="-50"/>
              <a:t>天线阵，提升网络性能</a:t>
            </a:r>
          </a:p>
        </p:txBody>
      </p:sp>
      <p:sp>
        <p:nvSpPr>
          <p:cNvPr id="15" name="object 15" descr=""/>
          <p:cNvSpPr txBox="1"/>
          <p:nvPr/>
        </p:nvSpPr>
        <p:spPr>
          <a:xfrm>
            <a:off x="457200" y="4629150"/>
            <a:ext cx="8425180" cy="292735"/>
          </a:xfrm>
          <a:prstGeom prst="rect">
            <a:avLst/>
          </a:prstGeom>
          <a:solidFill>
            <a:srgbClr val="92D050"/>
          </a:solidFill>
        </p:spPr>
        <p:txBody>
          <a:bodyPr wrap="square" lIns="0" tIns="39370" rIns="0" bIns="0" rtlCol="0" vert="horz">
            <a:spAutoFit/>
          </a:bodyPr>
          <a:lstStyle/>
          <a:p>
            <a:pPr algn="ctr">
              <a:lnSpc>
                <a:spcPct val="100000"/>
              </a:lnSpc>
              <a:spcBef>
                <a:spcPts val="310"/>
              </a:spcBef>
            </a:pPr>
            <a:r>
              <a:rPr dirty="0" sz="1300" spc="-10" b="1">
                <a:solidFill>
                  <a:srgbClr val="FFFFFF"/>
                </a:solidFill>
                <a:latin typeface="Microsoft YaHei"/>
                <a:cs typeface="Microsoft YaHei"/>
              </a:rPr>
              <a:t>64TR</a:t>
            </a:r>
            <a:r>
              <a:rPr dirty="0" sz="1300" b="1">
                <a:solidFill>
                  <a:srgbClr val="FFFFFF"/>
                </a:solidFill>
                <a:latin typeface="Microsoft YaHei"/>
                <a:cs typeface="Microsoft YaHei"/>
              </a:rPr>
              <a:t>相比</a:t>
            </a:r>
            <a:r>
              <a:rPr dirty="0" sz="1300" spc="-10" b="1">
                <a:solidFill>
                  <a:srgbClr val="FFFFFF"/>
                </a:solidFill>
                <a:latin typeface="Microsoft YaHei"/>
                <a:cs typeface="Microsoft YaHei"/>
              </a:rPr>
              <a:t>32TR</a:t>
            </a:r>
            <a:r>
              <a:rPr dirty="0" sz="1300" spc="-15" b="1">
                <a:solidFill>
                  <a:srgbClr val="FFFFFF"/>
                </a:solidFill>
                <a:latin typeface="Microsoft YaHei"/>
                <a:cs typeface="Microsoft YaHei"/>
              </a:rPr>
              <a:t>覆盖性能更优，小区峰值更高，小区容量更大，竞争力更强</a:t>
            </a:r>
            <a:endParaRPr sz="1300">
              <a:latin typeface="Microsoft YaHei"/>
              <a:cs typeface="Microsoft YaHei"/>
            </a:endParaRPr>
          </a:p>
        </p:txBody>
      </p:sp>
      <p:grpSp>
        <p:nvGrpSpPr>
          <p:cNvPr id="16" name="object 16" descr=""/>
          <p:cNvGrpSpPr/>
          <p:nvPr/>
        </p:nvGrpSpPr>
        <p:grpSpPr>
          <a:xfrm>
            <a:off x="3418800" y="1521755"/>
            <a:ext cx="2370455" cy="1171575"/>
            <a:chOff x="3418800" y="1521755"/>
            <a:chExt cx="2370455" cy="1171575"/>
          </a:xfrm>
        </p:grpSpPr>
        <p:sp>
          <p:nvSpPr>
            <p:cNvPr id="17" name="object 17" descr=""/>
            <p:cNvSpPr/>
            <p:nvPr/>
          </p:nvSpPr>
          <p:spPr>
            <a:xfrm>
              <a:off x="3431500" y="1534457"/>
              <a:ext cx="1146175" cy="1146175"/>
            </a:xfrm>
            <a:custGeom>
              <a:avLst/>
              <a:gdLst/>
              <a:ahLst/>
              <a:cxnLst/>
              <a:rect l="l" t="t" r="r" b="b"/>
              <a:pathLst>
                <a:path w="1146175" h="1146175">
                  <a:moveTo>
                    <a:pt x="1145844" y="0"/>
                  </a:moveTo>
                  <a:lnTo>
                    <a:pt x="1097408" y="1005"/>
                  </a:lnTo>
                  <a:lnTo>
                    <a:pt x="1049484" y="3994"/>
                  </a:lnTo>
                  <a:lnTo>
                    <a:pt x="1002113" y="8927"/>
                  </a:lnTo>
                  <a:lnTo>
                    <a:pt x="955333" y="15765"/>
                  </a:lnTo>
                  <a:lnTo>
                    <a:pt x="909185" y="24468"/>
                  </a:lnTo>
                  <a:lnTo>
                    <a:pt x="863709" y="34995"/>
                  </a:lnTo>
                  <a:lnTo>
                    <a:pt x="818944" y="47307"/>
                  </a:lnTo>
                  <a:lnTo>
                    <a:pt x="774930" y="61365"/>
                  </a:lnTo>
                  <a:lnTo>
                    <a:pt x="731706" y="77128"/>
                  </a:lnTo>
                  <a:lnTo>
                    <a:pt x="689313" y="94558"/>
                  </a:lnTo>
                  <a:lnTo>
                    <a:pt x="647791" y="113613"/>
                  </a:lnTo>
                  <a:lnTo>
                    <a:pt x="607179" y="134254"/>
                  </a:lnTo>
                  <a:lnTo>
                    <a:pt x="567516" y="156442"/>
                  </a:lnTo>
                  <a:lnTo>
                    <a:pt x="528844" y="180136"/>
                  </a:lnTo>
                  <a:lnTo>
                    <a:pt x="491200" y="205298"/>
                  </a:lnTo>
                  <a:lnTo>
                    <a:pt x="454626" y="231886"/>
                  </a:lnTo>
                  <a:lnTo>
                    <a:pt x="419161" y="259862"/>
                  </a:lnTo>
                  <a:lnTo>
                    <a:pt x="384845" y="289186"/>
                  </a:lnTo>
                  <a:lnTo>
                    <a:pt x="351717" y="319818"/>
                  </a:lnTo>
                  <a:lnTo>
                    <a:pt x="319818" y="351717"/>
                  </a:lnTo>
                  <a:lnTo>
                    <a:pt x="289186" y="384845"/>
                  </a:lnTo>
                  <a:lnTo>
                    <a:pt x="259862" y="419161"/>
                  </a:lnTo>
                  <a:lnTo>
                    <a:pt x="231886" y="454626"/>
                  </a:lnTo>
                  <a:lnTo>
                    <a:pt x="205298" y="491200"/>
                  </a:lnTo>
                  <a:lnTo>
                    <a:pt x="180136" y="528844"/>
                  </a:lnTo>
                  <a:lnTo>
                    <a:pt x="156442" y="567516"/>
                  </a:lnTo>
                  <a:lnTo>
                    <a:pt x="134254" y="607179"/>
                  </a:lnTo>
                  <a:lnTo>
                    <a:pt x="113613" y="647791"/>
                  </a:lnTo>
                  <a:lnTo>
                    <a:pt x="94558" y="689313"/>
                  </a:lnTo>
                  <a:lnTo>
                    <a:pt x="77128" y="731706"/>
                  </a:lnTo>
                  <a:lnTo>
                    <a:pt x="61365" y="774930"/>
                  </a:lnTo>
                  <a:lnTo>
                    <a:pt x="47307" y="818944"/>
                  </a:lnTo>
                  <a:lnTo>
                    <a:pt x="34995" y="863709"/>
                  </a:lnTo>
                  <a:lnTo>
                    <a:pt x="24468" y="909185"/>
                  </a:lnTo>
                  <a:lnTo>
                    <a:pt x="15765" y="955333"/>
                  </a:lnTo>
                  <a:lnTo>
                    <a:pt x="8927" y="1002113"/>
                  </a:lnTo>
                  <a:lnTo>
                    <a:pt x="3994" y="1049484"/>
                  </a:lnTo>
                  <a:lnTo>
                    <a:pt x="1005" y="1097408"/>
                  </a:lnTo>
                  <a:lnTo>
                    <a:pt x="0" y="1145844"/>
                  </a:lnTo>
                  <a:lnTo>
                    <a:pt x="1145844" y="1145844"/>
                  </a:lnTo>
                  <a:lnTo>
                    <a:pt x="1145844" y="0"/>
                  </a:lnTo>
                  <a:close/>
                </a:path>
              </a:pathLst>
            </a:custGeom>
            <a:solidFill>
              <a:srgbClr val="E9F4F5"/>
            </a:solidFill>
          </p:spPr>
          <p:txBody>
            <a:bodyPr wrap="square" lIns="0" tIns="0" rIns="0" bIns="0" rtlCol="0"/>
            <a:lstStyle/>
            <a:p/>
          </p:txBody>
        </p:sp>
        <p:sp>
          <p:nvSpPr>
            <p:cNvPr id="18" name="object 18" descr=""/>
            <p:cNvSpPr/>
            <p:nvPr/>
          </p:nvSpPr>
          <p:spPr>
            <a:xfrm>
              <a:off x="3431500" y="1534457"/>
              <a:ext cx="1146175" cy="1146175"/>
            </a:xfrm>
            <a:custGeom>
              <a:avLst/>
              <a:gdLst/>
              <a:ahLst/>
              <a:cxnLst/>
              <a:rect l="l" t="t" r="r" b="b"/>
              <a:pathLst>
                <a:path w="1146175" h="1146175">
                  <a:moveTo>
                    <a:pt x="0" y="1145844"/>
                  </a:moveTo>
                  <a:lnTo>
                    <a:pt x="1005" y="1097408"/>
                  </a:lnTo>
                  <a:lnTo>
                    <a:pt x="3994" y="1049484"/>
                  </a:lnTo>
                  <a:lnTo>
                    <a:pt x="8927" y="1002113"/>
                  </a:lnTo>
                  <a:lnTo>
                    <a:pt x="15765" y="955333"/>
                  </a:lnTo>
                  <a:lnTo>
                    <a:pt x="24468" y="909185"/>
                  </a:lnTo>
                  <a:lnTo>
                    <a:pt x="34995" y="863709"/>
                  </a:lnTo>
                  <a:lnTo>
                    <a:pt x="47307" y="818944"/>
                  </a:lnTo>
                  <a:lnTo>
                    <a:pt x="61365" y="774930"/>
                  </a:lnTo>
                  <a:lnTo>
                    <a:pt x="77128" y="731706"/>
                  </a:lnTo>
                  <a:lnTo>
                    <a:pt x="94558" y="689313"/>
                  </a:lnTo>
                  <a:lnTo>
                    <a:pt x="113613" y="647791"/>
                  </a:lnTo>
                  <a:lnTo>
                    <a:pt x="134254" y="607179"/>
                  </a:lnTo>
                  <a:lnTo>
                    <a:pt x="156442" y="567516"/>
                  </a:lnTo>
                  <a:lnTo>
                    <a:pt x="180136" y="528844"/>
                  </a:lnTo>
                  <a:lnTo>
                    <a:pt x="205298" y="491200"/>
                  </a:lnTo>
                  <a:lnTo>
                    <a:pt x="231886" y="454626"/>
                  </a:lnTo>
                  <a:lnTo>
                    <a:pt x="259862" y="419161"/>
                  </a:lnTo>
                  <a:lnTo>
                    <a:pt x="289186" y="384845"/>
                  </a:lnTo>
                  <a:lnTo>
                    <a:pt x="319818" y="351717"/>
                  </a:lnTo>
                  <a:lnTo>
                    <a:pt x="351717" y="319818"/>
                  </a:lnTo>
                  <a:lnTo>
                    <a:pt x="384845" y="289186"/>
                  </a:lnTo>
                  <a:lnTo>
                    <a:pt x="419161" y="259862"/>
                  </a:lnTo>
                  <a:lnTo>
                    <a:pt x="454626" y="231886"/>
                  </a:lnTo>
                  <a:lnTo>
                    <a:pt x="491200" y="205298"/>
                  </a:lnTo>
                  <a:lnTo>
                    <a:pt x="528844" y="180136"/>
                  </a:lnTo>
                  <a:lnTo>
                    <a:pt x="567516" y="156442"/>
                  </a:lnTo>
                  <a:lnTo>
                    <a:pt x="607179" y="134254"/>
                  </a:lnTo>
                  <a:lnTo>
                    <a:pt x="647791" y="113613"/>
                  </a:lnTo>
                  <a:lnTo>
                    <a:pt x="689313" y="94558"/>
                  </a:lnTo>
                  <a:lnTo>
                    <a:pt x="731706" y="77128"/>
                  </a:lnTo>
                  <a:lnTo>
                    <a:pt x="774930" y="61365"/>
                  </a:lnTo>
                  <a:lnTo>
                    <a:pt x="818944" y="47307"/>
                  </a:lnTo>
                  <a:lnTo>
                    <a:pt x="863709" y="34995"/>
                  </a:lnTo>
                  <a:lnTo>
                    <a:pt x="909185" y="24468"/>
                  </a:lnTo>
                  <a:lnTo>
                    <a:pt x="955333" y="15765"/>
                  </a:lnTo>
                  <a:lnTo>
                    <a:pt x="1002113" y="8927"/>
                  </a:lnTo>
                  <a:lnTo>
                    <a:pt x="1049484" y="3994"/>
                  </a:lnTo>
                  <a:lnTo>
                    <a:pt x="1097408" y="1005"/>
                  </a:lnTo>
                  <a:lnTo>
                    <a:pt x="1145844" y="0"/>
                  </a:lnTo>
                  <a:lnTo>
                    <a:pt x="1145844" y="1145844"/>
                  </a:lnTo>
                  <a:lnTo>
                    <a:pt x="0" y="1145844"/>
                  </a:lnTo>
                  <a:close/>
                </a:path>
              </a:pathLst>
            </a:custGeom>
            <a:ln w="25400">
              <a:solidFill>
                <a:srgbClr val="A9CBCE"/>
              </a:solidFill>
            </a:ln>
          </p:spPr>
          <p:txBody>
            <a:bodyPr wrap="square" lIns="0" tIns="0" rIns="0" bIns="0" rtlCol="0"/>
            <a:lstStyle/>
            <a:p/>
          </p:txBody>
        </p:sp>
        <p:sp>
          <p:nvSpPr>
            <p:cNvPr id="19" name="object 19" descr=""/>
            <p:cNvSpPr/>
            <p:nvPr/>
          </p:nvSpPr>
          <p:spPr>
            <a:xfrm>
              <a:off x="4630271" y="1534455"/>
              <a:ext cx="1146175" cy="1146175"/>
            </a:xfrm>
            <a:custGeom>
              <a:avLst/>
              <a:gdLst/>
              <a:ahLst/>
              <a:cxnLst/>
              <a:rect l="l" t="t" r="r" b="b"/>
              <a:pathLst>
                <a:path w="1146175" h="1146175">
                  <a:moveTo>
                    <a:pt x="0" y="0"/>
                  </a:moveTo>
                  <a:lnTo>
                    <a:pt x="0" y="1145844"/>
                  </a:lnTo>
                  <a:lnTo>
                    <a:pt x="1145844" y="1145844"/>
                  </a:lnTo>
                  <a:lnTo>
                    <a:pt x="1144839" y="1097408"/>
                  </a:lnTo>
                  <a:lnTo>
                    <a:pt x="1141850" y="1049484"/>
                  </a:lnTo>
                  <a:lnTo>
                    <a:pt x="1136916" y="1002113"/>
                  </a:lnTo>
                  <a:lnTo>
                    <a:pt x="1130079" y="955333"/>
                  </a:lnTo>
                  <a:lnTo>
                    <a:pt x="1121376" y="909185"/>
                  </a:lnTo>
                  <a:lnTo>
                    <a:pt x="1110849" y="863709"/>
                  </a:lnTo>
                  <a:lnTo>
                    <a:pt x="1098536" y="818944"/>
                  </a:lnTo>
                  <a:lnTo>
                    <a:pt x="1084479" y="774930"/>
                  </a:lnTo>
                  <a:lnTo>
                    <a:pt x="1068715" y="731706"/>
                  </a:lnTo>
                  <a:lnTo>
                    <a:pt x="1051286" y="689313"/>
                  </a:lnTo>
                  <a:lnTo>
                    <a:pt x="1032231" y="647791"/>
                  </a:lnTo>
                  <a:lnTo>
                    <a:pt x="1011590" y="607179"/>
                  </a:lnTo>
                  <a:lnTo>
                    <a:pt x="989402" y="567516"/>
                  </a:lnTo>
                  <a:lnTo>
                    <a:pt x="965707" y="528844"/>
                  </a:lnTo>
                  <a:lnTo>
                    <a:pt x="940546" y="491200"/>
                  </a:lnTo>
                  <a:lnTo>
                    <a:pt x="913957" y="454626"/>
                  </a:lnTo>
                  <a:lnTo>
                    <a:pt x="885981" y="419161"/>
                  </a:lnTo>
                  <a:lnTo>
                    <a:pt x="856658" y="384845"/>
                  </a:lnTo>
                  <a:lnTo>
                    <a:pt x="826026" y="351717"/>
                  </a:lnTo>
                  <a:lnTo>
                    <a:pt x="794127" y="319818"/>
                  </a:lnTo>
                  <a:lnTo>
                    <a:pt x="760999" y="289186"/>
                  </a:lnTo>
                  <a:lnTo>
                    <a:pt x="726683" y="259862"/>
                  </a:lnTo>
                  <a:lnTo>
                    <a:pt x="691217" y="231886"/>
                  </a:lnTo>
                  <a:lnTo>
                    <a:pt x="654643" y="205298"/>
                  </a:lnTo>
                  <a:lnTo>
                    <a:pt x="617000" y="180136"/>
                  </a:lnTo>
                  <a:lnTo>
                    <a:pt x="578327" y="156442"/>
                  </a:lnTo>
                  <a:lnTo>
                    <a:pt x="538665" y="134254"/>
                  </a:lnTo>
                  <a:lnTo>
                    <a:pt x="498053" y="113613"/>
                  </a:lnTo>
                  <a:lnTo>
                    <a:pt x="456530" y="94558"/>
                  </a:lnTo>
                  <a:lnTo>
                    <a:pt x="414138" y="77128"/>
                  </a:lnTo>
                  <a:lnTo>
                    <a:pt x="370914" y="61365"/>
                  </a:lnTo>
                  <a:lnTo>
                    <a:pt x="326900" y="47307"/>
                  </a:lnTo>
                  <a:lnTo>
                    <a:pt x="282135" y="34995"/>
                  </a:lnTo>
                  <a:lnTo>
                    <a:pt x="236659" y="24468"/>
                  </a:lnTo>
                  <a:lnTo>
                    <a:pt x="190511" y="15765"/>
                  </a:lnTo>
                  <a:lnTo>
                    <a:pt x="143731" y="8927"/>
                  </a:lnTo>
                  <a:lnTo>
                    <a:pt x="96359" y="3994"/>
                  </a:lnTo>
                  <a:lnTo>
                    <a:pt x="48436" y="1005"/>
                  </a:lnTo>
                  <a:lnTo>
                    <a:pt x="0" y="0"/>
                  </a:lnTo>
                  <a:close/>
                </a:path>
              </a:pathLst>
            </a:custGeom>
            <a:solidFill>
              <a:srgbClr val="99CCFF"/>
            </a:solidFill>
          </p:spPr>
          <p:txBody>
            <a:bodyPr wrap="square" lIns="0" tIns="0" rIns="0" bIns="0" rtlCol="0"/>
            <a:lstStyle/>
            <a:p/>
          </p:txBody>
        </p:sp>
        <p:sp>
          <p:nvSpPr>
            <p:cNvPr id="20" name="object 20" descr=""/>
            <p:cNvSpPr/>
            <p:nvPr/>
          </p:nvSpPr>
          <p:spPr>
            <a:xfrm>
              <a:off x="4630271" y="1534455"/>
              <a:ext cx="1146175" cy="1146175"/>
            </a:xfrm>
            <a:custGeom>
              <a:avLst/>
              <a:gdLst/>
              <a:ahLst/>
              <a:cxnLst/>
              <a:rect l="l" t="t" r="r" b="b"/>
              <a:pathLst>
                <a:path w="1146175" h="1146175">
                  <a:moveTo>
                    <a:pt x="0" y="0"/>
                  </a:moveTo>
                  <a:lnTo>
                    <a:pt x="48436" y="1005"/>
                  </a:lnTo>
                  <a:lnTo>
                    <a:pt x="96359" y="3994"/>
                  </a:lnTo>
                  <a:lnTo>
                    <a:pt x="143731" y="8927"/>
                  </a:lnTo>
                  <a:lnTo>
                    <a:pt x="190511" y="15765"/>
                  </a:lnTo>
                  <a:lnTo>
                    <a:pt x="236659" y="24468"/>
                  </a:lnTo>
                  <a:lnTo>
                    <a:pt x="282135" y="34995"/>
                  </a:lnTo>
                  <a:lnTo>
                    <a:pt x="326900" y="47307"/>
                  </a:lnTo>
                  <a:lnTo>
                    <a:pt x="370914" y="61365"/>
                  </a:lnTo>
                  <a:lnTo>
                    <a:pt x="414138" y="77128"/>
                  </a:lnTo>
                  <a:lnTo>
                    <a:pt x="456530" y="94558"/>
                  </a:lnTo>
                  <a:lnTo>
                    <a:pt x="498053" y="113613"/>
                  </a:lnTo>
                  <a:lnTo>
                    <a:pt x="538665" y="134254"/>
                  </a:lnTo>
                  <a:lnTo>
                    <a:pt x="578327" y="156442"/>
                  </a:lnTo>
                  <a:lnTo>
                    <a:pt x="617000" y="180136"/>
                  </a:lnTo>
                  <a:lnTo>
                    <a:pt x="654643" y="205298"/>
                  </a:lnTo>
                  <a:lnTo>
                    <a:pt x="691217" y="231886"/>
                  </a:lnTo>
                  <a:lnTo>
                    <a:pt x="726683" y="259862"/>
                  </a:lnTo>
                  <a:lnTo>
                    <a:pt x="760999" y="289186"/>
                  </a:lnTo>
                  <a:lnTo>
                    <a:pt x="794127" y="319818"/>
                  </a:lnTo>
                  <a:lnTo>
                    <a:pt x="826026" y="351717"/>
                  </a:lnTo>
                  <a:lnTo>
                    <a:pt x="856658" y="384845"/>
                  </a:lnTo>
                  <a:lnTo>
                    <a:pt x="885981" y="419161"/>
                  </a:lnTo>
                  <a:lnTo>
                    <a:pt x="913957" y="454626"/>
                  </a:lnTo>
                  <a:lnTo>
                    <a:pt x="940546" y="491200"/>
                  </a:lnTo>
                  <a:lnTo>
                    <a:pt x="965707" y="528844"/>
                  </a:lnTo>
                  <a:lnTo>
                    <a:pt x="989402" y="567516"/>
                  </a:lnTo>
                  <a:lnTo>
                    <a:pt x="1011590" y="607179"/>
                  </a:lnTo>
                  <a:lnTo>
                    <a:pt x="1032231" y="647791"/>
                  </a:lnTo>
                  <a:lnTo>
                    <a:pt x="1051286" y="689313"/>
                  </a:lnTo>
                  <a:lnTo>
                    <a:pt x="1068715" y="731706"/>
                  </a:lnTo>
                  <a:lnTo>
                    <a:pt x="1084479" y="774930"/>
                  </a:lnTo>
                  <a:lnTo>
                    <a:pt x="1098536" y="818944"/>
                  </a:lnTo>
                  <a:lnTo>
                    <a:pt x="1110849" y="863709"/>
                  </a:lnTo>
                  <a:lnTo>
                    <a:pt x="1121376" y="909185"/>
                  </a:lnTo>
                  <a:lnTo>
                    <a:pt x="1130079" y="955333"/>
                  </a:lnTo>
                  <a:lnTo>
                    <a:pt x="1136916" y="1002113"/>
                  </a:lnTo>
                  <a:lnTo>
                    <a:pt x="1141850" y="1049484"/>
                  </a:lnTo>
                  <a:lnTo>
                    <a:pt x="1144839" y="1097408"/>
                  </a:lnTo>
                  <a:lnTo>
                    <a:pt x="1145844" y="1145844"/>
                  </a:lnTo>
                  <a:lnTo>
                    <a:pt x="0" y="1145844"/>
                  </a:lnTo>
                  <a:lnTo>
                    <a:pt x="0" y="0"/>
                  </a:lnTo>
                  <a:close/>
                </a:path>
              </a:pathLst>
            </a:custGeom>
            <a:ln w="25400">
              <a:solidFill>
                <a:srgbClr val="A9CBCE"/>
              </a:solidFill>
            </a:ln>
          </p:spPr>
          <p:txBody>
            <a:bodyPr wrap="square" lIns="0" tIns="0" rIns="0" bIns="0" rtlCol="0"/>
            <a:lstStyle/>
            <a:p/>
          </p:txBody>
        </p:sp>
      </p:grpSp>
      <p:sp>
        <p:nvSpPr>
          <p:cNvPr id="21" name="object 21" descr=""/>
          <p:cNvSpPr txBox="1"/>
          <p:nvPr/>
        </p:nvSpPr>
        <p:spPr>
          <a:xfrm>
            <a:off x="3892956" y="1949516"/>
            <a:ext cx="1421765" cy="574040"/>
          </a:xfrm>
          <a:prstGeom prst="rect">
            <a:avLst/>
          </a:prstGeom>
        </p:spPr>
        <p:txBody>
          <a:bodyPr wrap="square" lIns="0" tIns="73660" rIns="0" bIns="0" rtlCol="0" vert="horz">
            <a:spAutoFit/>
          </a:bodyPr>
          <a:lstStyle/>
          <a:p>
            <a:pPr marL="12700">
              <a:lnSpc>
                <a:spcPct val="100000"/>
              </a:lnSpc>
              <a:spcBef>
                <a:spcPts val="580"/>
              </a:spcBef>
              <a:tabLst>
                <a:tab pos="875665" algn="l"/>
              </a:tabLst>
            </a:pPr>
            <a:r>
              <a:rPr dirty="0" sz="1400" spc="-20" b="1">
                <a:latin typeface="Microsoft YaHei"/>
                <a:cs typeface="Microsoft YaHei"/>
              </a:rPr>
              <a:t>覆盖</a:t>
            </a:r>
            <a:r>
              <a:rPr dirty="0" sz="1400" spc="-50" b="1">
                <a:latin typeface="Microsoft YaHei"/>
                <a:cs typeface="Microsoft YaHei"/>
              </a:rPr>
              <a:t>性</a:t>
            </a:r>
            <a:r>
              <a:rPr dirty="0" sz="1400" b="1">
                <a:latin typeface="Microsoft YaHei"/>
                <a:cs typeface="Microsoft YaHei"/>
              </a:rPr>
              <a:t>	</a:t>
            </a:r>
            <a:r>
              <a:rPr dirty="0" sz="1400" spc="-20" b="1">
                <a:latin typeface="Microsoft YaHei"/>
                <a:cs typeface="Microsoft YaHei"/>
              </a:rPr>
              <a:t>小区</a:t>
            </a:r>
            <a:r>
              <a:rPr dirty="0" sz="1400" spc="-50" b="1">
                <a:latin typeface="Microsoft YaHei"/>
                <a:cs typeface="Microsoft YaHei"/>
              </a:rPr>
              <a:t>峰</a:t>
            </a:r>
            <a:endParaRPr sz="1400">
              <a:latin typeface="Microsoft YaHei"/>
              <a:cs typeface="Microsoft YaHei"/>
            </a:endParaRPr>
          </a:p>
          <a:p>
            <a:pPr marL="12700">
              <a:lnSpc>
                <a:spcPct val="100000"/>
              </a:lnSpc>
              <a:spcBef>
                <a:spcPts val="480"/>
              </a:spcBef>
              <a:tabLst>
                <a:tab pos="875665" algn="l"/>
              </a:tabLst>
            </a:pPr>
            <a:r>
              <a:rPr dirty="0" sz="1400" spc="-20" b="1">
                <a:latin typeface="Microsoft YaHei"/>
                <a:cs typeface="Microsoft YaHei"/>
              </a:rPr>
              <a:t>能对</a:t>
            </a:r>
            <a:r>
              <a:rPr dirty="0" sz="1400" spc="-50" b="1">
                <a:latin typeface="Microsoft YaHei"/>
                <a:cs typeface="Microsoft YaHei"/>
              </a:rPr>
              <a:t>比</a:t>
            </a:r>
            <a:r>
              <a:rPr dirty="0" sz="1400" b="1">
                <a:latin typeface="Microsoft YaHei"/>
                <a:cs typeface="Microsoft YaHei"/>
              </a:rPr>
              <a:t>	</a:t>
            </a:r>
            <a:r>
              <a:rPr dirty="0" sz="1400" spc="-20" b="1">
                <a:latin typeface="Microsoft YaHei"/>
                <a:cs typeface="Microsoft YaHei"/>
              </a:rPr>
              <a:t>速对</a:t>
            </a:r>
            <a:r>
              <a:rPr dirty="0" sz="1400" spc="-50" b="1">
                <a:latin typeface="Microsoft YaHei"/>
                <a:cs typeface="Microsoft YaHei"/>
              </a:rPr>
              <a:t>比</a:t>
            </a:r>
            <a:endParaRPr sz="1400">
              <a:latin typeface="Microsoft YaHei"/>
              <a:cs typeface="Microsoft YaHei"/>
            </a:endParaRPr>
          </a:p>
        </p:txBody>
      </p:sp>
      <p:grpSp>
        <p:nvGrpSpPr>
          <p:cNvPr id="22" name="object 22" descr=""/>
          <p:cNvGrpSpPr/>
          <p:nvPr/>
        </p:nvGrpSpPr>
        <p:grpSpPr>
          <a:xfrm>
            <a:off x="3418801" y="2720526"/>
            <a:ext cx="2370455" cy="1171575"/>
            <a:chOff x="3418801" y="2720526"/>
            <a:chExt cx="2370455" cy="1171575"/>
          </a:xfrm>
        </p:grpSpPr>
        <p:sp>
          <p:nvSpPr>
            <p:cNvPr id="23" name="object 23" descr=""/>
            <p:cNvSpPr/>
            <p:nvPr/>
          </p:nvSpPr>
          <p:spPr>
            <a:xfrm>
              <a:off x="4630272" y="2733226"/>
              <a:ext cx="1146175" cy="1146175"/>
            </a:xfrm>
            <a:custGeom>
              <a:avLst/>
              <a:gdLst/>
              <a:ahLst/>
              <a:cxnLst/>
              <a:rect l="l" t="t" r="r" b="b"/>
              <a:pathLst>
                <a:path w="1146175" h="1146175">
                  <a:moveTo>
                    <a:pt x="1145844" y="0"/>
                  </a:moveTo>
                  <a:lnTo>
                    <a:pt x="0" y="0"/>
                  </a:lnTo>
                  <a:lnTo>
                    <a:pt x="0" y="1145844"/>
                  </a:lnTo>
                  <a:lnTo>
                    <a:pt x="48436" y="1144839"/>
                  </a:lnTo>
                  <a:lnTo>
                    <a:pt x="96359" y="1141850"/>
                  </a:lnTo>
                  <a:lnTo>
                    <a:pt x="143731" y="1136916"/>
                  </a:lnTo>
                  <a:lnTo>
                    <a:pt x="190511" y="1130079"/>
                  </a:lnTo>
                  <a:lnTo>
                    <a:pt x="236659" y="1121376"/>
                  </a:lnTo>
                  <a:lnTo>
                    <a:pt x="282135" y="1110849"/>
                  </a:lnTo>
                  <a:lnTo>
                    <a:pt x="326900" y="1098536"/>
                  </a:lnTo>
                  <a:lnTo>
                    <a:pt x="370914" y="1084479"/>
                  </a:lnTo>
                  <a:lnTo>
                    <a:pt x="414138" y="1068715"/>
                  </a:lnTo>
                  <a:lnTo>
                    <a:pt x="456530" y="1051286"/>
                  </a:lnTo>
                  <a:lnTo>
                    <a:pt x="498053" y="1032231"/>
                  </a:lnTo>
                  <a:lnTo>
                    <a:pt x="538665" y="1011590"/>
                  </a:lnTo>
                  <a:lnTo>
                    <a:pt x="578327" y="989402"/>
                  </a:lnTo>
                  <a:lnTo>
                    <a:pt x="617000" y="965707"/>
                  </a:lnTo>
                  <a:lnTo>
                    <a:pt x="654643" y="940546"/>
                  </a:lnTo>
                  <a:lnTo>
                    <a:pt x="691217" y="913957"/>
                  </a:lnTo>
                  <a:lnTo>
                    <a:pt x="726683" y="885981"/>
                  </a:lnTo>
                  <a:lnTo>
                    <a:pt x="760999" y="856658"/>
                  </a:lnTo>
                  <a:lnTo>
                    <a:pt x="794127" y="826026"/>
                  </a:lnTo>
                  <a:lnTo>
                    <a:pt x="826026" y="794127"/>
                  </a:lnTo>
                  <a:lnTo>
                    <a:pt x="856658" y="760999"/>
                  </a:lnTo>
                  <a:lnTo>
                    <a:pt x="885981" y="726683"/>
                  </a:lnTo>
                  <a:lnTo>
                    <a:pt x="913957" y="691217"/>
                  </a:lnTo>
                  <a:lnTo>
                    <a:pt x="940546" y="654643"/>
                  </a:lnTo>
                  <a:lnTo>
                    <a:pt x="965707" y="617000"/>
                  </a:lnTo>
                  <a:lnTo>
                    <a:pt x="989402" y="578327"/>
                  </a:lnTo>
                  <a:lnTo>
                    <a:pt x="1011590" y="538665"/>
                  </a:lnTo>
                  <a:lnTo>
                    <a:pt x="1032231" y="498053"/>
                  </a:lnTo>
                  <a:lnTo>
                    <a:pt x="1051286" y="456530"/>
                  </a:lnTo>
                  <a:lnTo>
                    <a:pt x="1068715" y="414138"/>
                  </a:lnTo>
                  <a:lnTo>
                    <a:pt x="1084479" y="370914"/>
                  </a:lnTo>
                  <a:lnTo>
                    <a:pt x="1098536" y="326900"/>
                  </a:lnTo>
                  <a:lnTo>
                    <a:pt x="1110849" y="282135"/>
                  </a:lnTo>
                  <a:lnTo>
                    <a:pt x="1121376" y="236659"/>
                  </a:lnTo>
                  <a:lnTo>
                    <a:pt x="1130079" y="190511"/>
                  </a:lnTo>
                  <a:lnTo>
                    <a:pt x="1136916" y="143731"/>
                  </a:lnTo>
                  <a:lnTo>
                    <a:pt x="1141850" y="96359"/>
                  </a:lnTo>
                  <a:lnTo>
                    <a:pt x="1144839" y="48436"/>
                  </a:lnTo>
                  <a:lnTo>
                    <a:pt x="1145844" y="0"/>
                  </a:lnTo>
                  <a:close/>
                </a:path>
              </a:pathLst>
            </a:custGeom>
            <a:solidFill>
              <a:srgbClr val="AFDC7E"/>
            </a:solidFill>
          </p:spPr>
          <p:txBody>
            <a:bodyPr wrap="square" lIns="0" tIns="0" rIns="0" bIns="0" rtlCol="0"/>
            <a:lstStyle/>
            <a:p/>
          </p:txBody>
        </p:sp>
        <p:sp>
          <p:nvSpPr>
            <p:cNvPr id="24" name="object 24" descr=""/>
            <p:cNvSpPr/>
            <p:nvPr/>
          </p:nvSpPr>
          <p:spPr>
            <a:xfrm>
              <a:off x="4630272" y="2733226"/>
              <a:ext cx="1146175" cy="1146175"/>
            </a:xfrm>
            <a:custGeom>
              <a:avLst/>
              <a:gdLst/>
              <a:ahLst/>
              <a:cxnLst/>
              <a:rect l="l" t="t" r="r" b="b"/>
              <a:pathLst>
                <a:path w="1146175" h="1146175">
                  <a:moveTo>
                    <a:pt x="1145844" y="0"/>
                  </a:moveTo>
                  <a:lnTo>
                    <a:pt x="1144839" y="48436"/>
                  </a:lnTo>
                  <a:lnTo>
                    <a:pt x="1141850" y="96359"/>
                  </a:lnTo>
                  <a:lnTo>
                    <a:pt x="1136916" y="143731"/>
                  </a:lnTo>
                  <a:lnTo>
                    <a:pt x="1130079" y="190511"/>
                  </a:lnTo>
                  <a:lnTo>
                    <a:pt x="1121376" y="236659"/>
                  </a:lnTo>
                  <a:lnTo>
                    <a:pt x="1110849" y="282135"/>
                  </a:lnTo>
                  <a:lnTo>
                    <a:pt x="1098536" y="326900"/>
                  </a:lnTo>
                  <a:lnTo>
                    <a:pt x="1084479" y="370914"/>
                  </a:lnTo>
                  <a:lnTo>
                    <a:pt x="1068715" y="414138"/>
                  </a:lnTo>
                  <a:lnTo>
                    <a:pt x="1051286" y="456530"/>
                  </a:lnTo>
                  <a:lnTo>
                    <a:pt x="1032231" y="498053"/>
                  </a:lnTo>
                  <a:lnTo>
                    <a:pt x="1011590" y="538665"/>
                  </a:lnTo>
                  <a:lnTo>
                    <a:pt x="989402" y="578327"/>
                  </a:lnTo>
                  <a:lnTo>
                    <a:pt x="965707" y="617000"/>
                  </a:lnTo>
                  <a:lnTo>
                    <a:pt x="940546" y="654643"/>
                  </a:lnTo>
                  <a:lnTo>
                    <a:pt x="913957" y="691217"/>
                  </a:lnTo>
                  <a:lnTo>
                    <a:pt x="885981" y="726683"/>
                  </a:lnTo>
                  <a:lnTo>
                    <a:pt x="856658" y="760999"/>
                  </a:lnTo>
                  <a:lnTo>
                    <a:pt x="826026" y="794127"/>
                  </a:lnTo>
                  <a:lnTo>
                    <a:pt x="794127" y="826026"/>
                  </a:lnTo>
                  <a:lnTo>
                    <a:pt x="760999" y="856658"/>
                  </a:lnTo>
                  <a:lnTo>
                    <a:pt x="726683" y="885981"/>
                  </a:lnTo>
                  <a:lnTo>
                    <a:pt x="691217" y="913957"/>
                  </a:lnTo>
                  <a:lnTo>
                    <a:pt x="654643" y="940546"/>
                  </a:lnTo>
                  <a:lnTo>
                    <a:pt x="617000" y="965707"/>
                  </a:lnTo>
                  <a:lnTo>
                    <a:pt x="578327" y="989402"/>
                  </a:lnTo>
                  <a:lnTo>
                    <a:pt x="538665" y="1011590"/>
                  </a:lnTo>
                  <a:lnTo>
                    <a:pt x="498053" y="1032231"/>
                  </a:lnTo>
                  <a:lnTo>
                    <a:pt x="456530" y="1051286"/>
                  </a:lnTo>
                  <a:lnTo>
                    <a:pt x="414138" y="1068715"/>
                  </a:lnTo>
                  <a:lnTo>
                    <a:pt x="370914" y="1084479"/>
                  </a:lnTo>
                  <a:lnTo>
                    <a:pt x="326900" y="1098536"/>
                  </a:lnTo>
                  <a:lnTo>
                    <a:pt x="282135" y="1110849"/>
                  </a:lnTo>
                  <a:lnTo>
                    <a:pt x="236659" y="1121376"/>
                  </a:lnTo>
                  <a:lnTo>
                    <a:pt x="190511" y="1130079"/>
                  </a:lnTo>
                  <a:lnTo>
                    <a:pt x="143731" y="1136916"/>
                  </a:lnTo>
                  <a:lnTo>
                    <a:pt x="96359" y="1141850"/>
                  </a:lnTo>
                  <a:lnTo>
                    <a:pt x="48436" y="1144839"/>
                  </a:lnTo>
                  <a:lnTo>
                    <a:pt x="0" y="1145844"/>
                  </a:lnTo>
                  <a:lnTo>
                    <a:pt x="0" y="0"/>
                  </a:lnTo>
                  <a:lnTo>
                    <a:pt x="1145844" y="0"/>
                  </a:lnTo>
                  <a:close/>
                </a:path>
              </a:pathLst>
            </a:custGeom>
            <a:ln w="25400">
              <a:solidFill>
                <a:srgbClr val="A9CBCE"/>
              </a:solidFill>
            </a:ln>
          </p:spPr>
          <p:txBody>
            <a:bodyPr wrap="square" lIns="0" tIns="0" rIns="0" bIns="0" rtlCol="0"/>
            <a:lstStyle/>
            <a:p/>
          </p:txBody>
        </p:sp>
        <p:sp>
          <p:nvSpPr>
            <p:cNvPr id="25" name="object 25" descr=""/>
            <p:cNvSpPr/>
            <p:nvPr/>
          </p:nvSpPr>
          <p:spPr>
            <a:xfrm>
              <a:off x="3431501" y="2733228"/>
              <a:ext cx="1146175" cy="1146175"/>
            </a:xfrm>
            <a:custGeom>
              <a:avLst/>
              <a:gdLst/>
              <a:ahLst/>
              <a:cxnLst/>
              <a:rect l="l" t="t" r="r" b="b"/>
              <a:pathLst>
                <a:path w="1146175" h="1146175">
                  <a:moveTo>
                    <a:pt x="1145844" y="0"/>
                  </a:moveTo>
                  <a:lnTo>
                    <a:pt x="0" y="0"/>
                  </a:lnTo>
                  <a:lnTo>
                    <a:pt x="1005" y="48436"/>
                  </a:lnTo>
                  <a:lnTo>
                    <a:pt x="3994" y="96359"/>
                  </a:lnTo>
                  <a:lnTo>
                    <a:pt x="8927" y="143731"/>
                  </a:lnTo>
                  <a:lnTo>
                    <a:pt x="15765" y="190511"/>
                  </a:lnTo>
                  <a:lnTo>
                    <a:pt x="24468" y="236659"/>
                  </a:lnTo>
                  <a:lnTo>
                    <a:pt x="34995" y="282135"/>
                  </a:lnTo>
                  <a:lnTo>
                    <a:pt x="47307" y="326900"/>
                  </a:lnTo>
                  <a:lnTo>
                    <a:pt x="61365" y="370914"/>
                  </a:lnTo>
                  <a:lnTo>
                    <a:pt x="77128" y="414138"/>
                  </a:lnTo>
                  <a:lnTo>
                    <a:pt x="94558" y="456530"/>
                  </a:lnTo>
                  <a:lnTo>
                    <a:pt x="113613" y="498053"/>
                  </a:lnTo>
                  <a:lnTo>
                    <a:pt x="134254" y="538665"/>
                  </a:lnTo>
                  <a:lnTo>
                    <a:pt x="156442" y="578327"/>
                  </a:lnTo>
                  <a:lnTo>
                    <a:pt x="180136" y="617000"/>
                  </a:lnTo>
                  <a:lnTo>
                    <a:pt x="205298" y="654643"/>
                  </a:lnTo>
                  <a:lnTo>
                    <a:pt x="231886" y="691217"/>
                  </a:lnTo>
                  <a:lnTo>
                    <a:pt x="259862" y="726683"/>
                  </a:lnTo>
                  <a:lnTo>
                    <a:pt x="289186" y="760999"/>
                  </a:lnTo>
                  <a:lnTo>
                    <a:pt x="319818" y="794127"/>
                  </a:lnTo>
                  <a:lnTo>
                    <a:pt x="351717" y="826026"/>
                  </a:lnTo>
                  <a:lnTo>
                    <a:pt x="384845" y="856658"/>
                  </a:lnTo>
                  <a:lnTo>
                    <a:pt x="419161" y="885981"/>
                  </a:lnTo>
                  <a:lnTo>
                    <a:pt x="454626" y="913957"/>
                  </a:lnTo>
                  <a:lnTo>
                    <a:pt x="491200" y="940546"/>
                  </a:lnTo>
                  <a:lnTo>
                    <a:pt x="528844" y="965707"/>
                  </a:lnTo>
                  <a:lnTo>
                    <a:pt x="567516" y="989402"/>
                  </a:lnTo>
                  <a:lnTo>
                    <a:pt x="607179" y="1011590"/>
                  </a:lnTo>
                  <a:lnTo>
                    <a:pt x="647791" y="1032231"/>
                  </a:lnTo>
                  <a:lnTo>
                    <a:pt x="689313" y="1051286"/>
                  </a:lnTo>
                  <a:lnTo>
                    <a:pt x="731706" y="1068715"/>
                  </a:lnTo>
                  <a:lnTo>
                    <a:pt x="774930" y="1084479"/>
                  </a:lnTo>
                  <a:lnTo>
                    <a:pt x="818944" y="1098536"/>
                  </a:lnTo>
                  <a:lnTo>
                    <a:pt x="863709" y="1110849"/>
                  </a:lnTo>
                  <a:lnTo>
                    <a:pt x="909185" y="1121376"/>
                  </a:lnTo>
                  <a:lnTo>
                    <a:pt x="955333" y="1130079"/>
                  </a:lnTo>
                  <a:lnTo>
                    <a:pt x="1002113" y="1136916"/>
                  </a:lnTo>
                  <a:lnTo>
                    <a:pt x="1049484" y="1141850"/>
                  </a:lnTo>
                  <a:lnTo>
                    <a:pt x="1097408" y="1144839"/>
                  </a:lnTo>
                  <a:lnTo>
                    <a:pt x="1145844" y="1145844"/>
                  </a:lnTo>
                  <a:lnTo>
                    <a:pt x="1145844" y="0"/>
                  </a:lnTo>
                  <a:close/>
                </a:path>
              </a:pathLst>
            </a:custGeom>
            <a:solidFill>
              <a:srgbClr val="FEB834"/>
            </a:solidFill>
          </p:spPr>
          <p:txBody>
            <a:bodyPr wrap="square" lIns="0" tIns="0" rIns="0" bIns="0" rtlCol="0"/>
            <a:lstStyle/>
            <a:p/>
          </p:txBody>
        </p:sp>
        <p:sp>
          <p:nvSpPr>
            <p:cNvPr id="26" name="object 26" descr=""/>
            <p:cNvSpPr/>
            <p:nvPr/>
          </p:nvSpPr>
          <p:spPr>
            <a:xfrm>
              <a:off x="3431501" y="2733228"/>
              <a:ext cx="1146175" cy="1146175"/>
            </a:xfrm>
            <a:custGeom>
              <a:avLst/>
              <a:gdLst/>
              <a:ahLst/>
              <a:cxnLst/>
              <a:rect l="l" t="t" r="r" b="b"/>
              <a:pathLst>
                <a:path w="1146175" h="1146175">
                  <a:moveTo>
                    <a:pt x="1145844" y="1145844"/>
                  </a:moveTo>
                  <a:lnTo>
                    <a:pt x="1097408" y="1144839"/>
                  </a:lnTo>
                  <a:lnTo>
                    <a:pt x="1049484" y="1141850"/>
                  </a:lnTo>
                  <a:lnTo>
                    <a:pt x="1002113" y="1136916"/>
                  </a:lnTo>
                  <a:lnTo>
                    <a:pt x="955333" y="1130079"/>
                  </a:lnTo>
                  <a:lnTo>
                    <a:pt x="909185" y="1121376"/>
                  </a:lnTo>
                  <a:lnTo>
                    <a:pt x="863709" y="1110849"/>
                  </a:lnTo>
                  <a:lnTo>
                    <a:pt x="818944" y="1098536"/>
                  </a:lnTo>
                  <a:lnTo>
                    <a:pt x="774930" y="1084479"/>
                  </a:lnTo>
                  <a:lnTo>
                    <a:pt x="731706" y="1068715"/>
                  </a:lnTo>
                  <a:lnTo>
                    <a:pt x="689313" y="1051286"/>
                  </a:lnTo>
                  <a:lnTo>
                    <a:pt x="647791" y="1032231"/>
                  </a:lnTo>
                  <a:lnTo>
                    <a:pt x="607179" y="1011590"/>
                  </a:lnTo>
                  <a:lnTo>
                    <a:pt x="567516" y="989402"/>
                  </a:lnTo>
                  <a:lnTo>
                    <a:pt x="528844" y="965707"/>
                  </a:lnTo>
                  <a:lnTo>
                    <a:pt x="491200" y="940546"/>
                  </a:lnTo>
                  <a:lnTo>
                    <a:pt x="454626" y="913957"/>
                  </a:lnTo>
                  <a:lnTo>
                    <a:pt x="419161" y="885981"/>
                  </a:lnTo>
                  <a:lnTo>
                    <a:pt x="384845" y="856658"/>
                  </a:lnTo>
                  <a:lnTo>
                    <a:pt x="351717" y="826026"/>
                  </a:lnTo>
                  <a:lnTo>
                    <a:pt x="319818" y="794127"/>
                  </a:lnTo>
                  <a:lnTo>
                    <a:pt x="289186" y="760999"/>
                  </a:lnTo>
                  <a:lnTo>
                    <a:pt x="259862" y="726683"/>
                  </a:lnTo>
                  <a:lnTo>
                    <a:pt x="231886" y="691217"/>
                  </a:lnTo>
                  <a:lnTo>
                    <a:pt x="205298" y="654643"/>
                  </a:lnTo>
                  <a:lnTo>
                    <a:pt x="180136" y="617000"/>
                  </a:lnTo>
                  <a:lnTo>
                    <a:pt x="156442" y="578327"/>
                  </a:lnTo>
                  <a:lnTo>
                    <a:pt x="134254" y="538665"/>
                  </a:lnTo>
                  <a:lnTo>
                    <a:pt x="113613" y="498053"/>
                  </a:lnTo>
                  <a:lnTo>
                    <a:pt x="94558" y="456530"/>
                  </a:lnTo>
                  <a:lnTo>
                    <a:pt x="77128" y="414138"/>
                  </a:lnTo>
                  <a:lnTo>
                    <a:pt x="61365" y="370914"/>
                  </a:lnTo>
                  <a:lnTo>
                    <a:pt x="47307" y="326900"/>
                  </a:lnTo>
                  <a:lnTo>
                    <a:pt x="34995" y="282135"/>
                  </a:lnTo>
                  <a:lnTo>
                    <a:pt x="24468" y="236659"/>
                  </a:lnTo>
                  <a:lnTo>
                    <a:pt x="15765" y="190511"/>
                  </a:lnTo>
                  <a:lnTo>
                    <a:pt x="8927" y="143731"/>
                  </a:lnTo>
                  <a:lnTo>
                    <a:pt x="3994" y="96359"/>
                  </a:lnTo>
                  <a:lnTo>
                    <a:pt x="1005" y="48436"/>
                  </a:lnTo>
                  <a:lnTo>
                    <a:pt x="0" y="0"/>
                  </a:lnTo>
                  <a:lnTo>
                    <a:pt x="1145844" y="0"/>
                  </a:lnTo>
                  <a:lnTo>
                    <a:pt x="1145844" y="1145844"/>
                  </a:lnTo>
                  <a:close/>
                </a:path>
              </a:pathLst>
            </a:custGeom>
            <a:ln w="25400">
              <a:solidFill>
                <a:srgbClr val="A9CBCE"/>
              </a:solidFill>
            </a:ln>
          </p:spPr>
          <p:txBody>
            <a:bodyPr wrap="square" lIns="0" tIns="0" rIns="0" bIns="0" rtlCol="0"/>
            <a:lstStyle/>
            <a:p/>
          </p:txBody>
        </p:sp>
      </p:grpSp>
      <p:sp>
        <p:nvSpPr>
          <p:cNvPr id="27" name="object 27" descr=""/>
          <p:cNvSpPr txBox="1"/>
          <p:nvPr/>
        </p:nvSpPr>
        <p:spPr>
          <a:xfrm>
            <a:off x="3892955" y="2812676"/>
            <a:ext cx="1421765" cy="574040"/>
          </a:xfrm>
          <a:prstGeom prst="rect">
            <a:avLst/>
          </a:prstGeom>
        </p:spPr>
        <p:txBody>
          <a:bodyPr wrap="square" lIns="0" tIns="73660" rIns="0" bIns="0" rtlCol="0" vert="horz">
            <a:spAutoFit/>
          </a:bodyPr>
          <a:lstStyle/>
          <a:p>
            <a:pPr marL="12700">
              <a:lnSpc>
                <a:spcPct val="100000"/>
              </a:lnSpc>
              <a:spcBef>
                <a:spcPts val="580"/>
              </a:spcBef>
              <a:tabLst>
                <a:tab pos="875665" algn="l"/>
              </a:tabLst>
            </a:pPr>
            <a:r>
              <a:rPr dirty="0" sz="1400" spc="-20" b="1">
                <a:latin typeface="Microsoft YaHei"/>
                <a:cs typeface="Microsoft YaHei"/>
              </a:rPr>
              <a:t>小区</a:t>
            </a:r>
            <a:r>
              <a:rPr dirty="0" sz="1400" spc="-50" b="1">
                <a:latin typeface="Microsoft YaHei"/>
                <a:cs typeface="Microsoft YaHei"/>
              </a:rPr>
              <a:t>容</a:t>
            </a:r>
            <a:r>
              <a:rPr dirty="0" sz="1400" b="1">
                <a:latin typeface="Microsoft YaHei"/>
                <a:cs typeface="Microsoft YaHei"/>
              </a:rPr>
              <a:t>	</a:t>
            </a:r>
            <a:r>
              <a:rPr dirty="0" sz="1400" spc="-20" b="1">
                <a:latin typeface="Microsoft YaHei"/>
                <a:cs typeface="Microsoft YaHei"/>
              </a:rPr>
              <a:t>硬件</a:t>
            </a:r>
            <a:r>
              <a:rPr dirty="0" sz="1400" spc="-50" b="1">
                <a:latin typeface="Microsoft YaHei"/>
                <a:cs typeface="Microsoft YaHei"/>
              </a:rPr>
              <a:t>成</a:t>
            </a:r>
            <a:endParaRPr sz="1400">
              <a:latin typeface="Microsoft YaHei"/>
              <a:cs typeface="Microsoft YaHei"/>
            </a:endParaRPr>
          </a:p>
          <a:p>
            <a:pPr marL="12700">
              <a:lnSpc>
                <a:spcPct val="100000"/>
              </a:lnSpc>
              <a:spcBef>
                <a:spcPts val="480"/>
              </a:spcBef>
              <a:tabLst>
                <a:tab pos="875665" algn="l"/>
              </a:tabLst>
            </a:pPr>
            <a:r>
              <a:rPr dirty="0" sz="1400" spc="-20" b="1">
                <a:latin typeface="Microsoft YaHei"/>
                <a:cs typeface="Microsoft YaHei"/>
              </a:rPr>
              <a:t>量对</a:t>
            </a:r>
            <a:r>
              <a:rPr dirty="0" sz="1400" spc="-50" b="1">
                <a:latin typeface="Microsoft YaHei"/>
                <a:cs typeface="Microsoft YaHei"/>
              </a:rPr>
              <a:t>比</a:t>
            </a:r>
            <a:r>
              <a:rPr dirty="0" sz="1400" b="1">
                <a:latin typeface="Microsoft YaHei"/>
                <a:cs typeface="Microsoft YaHei"/>
              </a:rPr>
              <a:t>	</a:t>
            </a:r>
            <a:r>
              <a:rPr dirty="0" sz="1400" spc="-20" b="1">
                <a:latin typeface="Microsoft YaHei"/>
                <a:cs typeface="Microsoft YaHei"/>
              </a:rPr>
              <a:t>本对</a:t>
            </a:r>
            <a:r>
              <a:rPr dirty="0" sz="1400" spc="-50" b="1">
                <a:latin typeface="Microsoft YaHei"/>
                <a:cs typeface="Microsoft YaHei"/>
              </a:rPr>
              <a:t>比</a:t>
            </a:r>
            <a:endParaRPr sz="1400">
              <a:latin typeface="Microsoft YaHei"/>
              <a:cs typeface="Microsoft YaHei"/>
            </a:endParaRPr>
          </a:p>
        </p:txBody>
      </p:sp>
      <p:grpSp>
        <p:nvGrpSpPr>
          <p:cNvPr id="28" name="object 28" descr=""/>
          <p:cNvGrpSpPr/>
          <p:nvPr/>
        </p:nvGrpSpPr>
        <p:grpSpPr>
          <a:xfrm>
            <a:off x="4405073" y="2477399"/>
            <a:ext cx="397510" cy="459105"/>
            <a:chOff x="4405073" y="2477399"/>
            <a:chExt cx="397510" cy="459105"/>
          </a:xfrm>
        </p:grpSpPr>
        <p:sp>
          <p:nvSpPr>
            <p:cNvPr id="29" name="object 29" descr=""/>
            <p:cNvSpPr/>
            <p:nvPr/>
          </p:nvSpPr>
          <p:spPr>
            <a:xfrm>
              <a:off x="4427499" y="2490099"/>
              <a:ext cx="362585" cy="151130"/>
            </a:xfrm>
            <a:custGeom>
              <a:avLst/>
              <a:gdLst/>
              <a:ahLst/>
              <a:cxnLst/>
              <a:rect l="l" t="t" r="r" b="b"/>
              <a:pathLst>
                <a:path w="362585" h="151130">
                  <a:moveTo>
                    <a:pt x="176314" y="0"/>
                  </a:moveTo>
                  <a:lnTo>
                    <a:pt x="129440" y="5376"/>
                  </a:lnTo>
                  <a:lnTo>
                    <a:pt x="87321" y="20549"/>
                  </a:lnTo>
                  <a:lnTo>
                    <a:pt x="51638" y="44083"/>
                  </a:lnTo>
                  <a:lnTo>
                    <a:pt x="24070" y="74544"/>
                  </a:lnTo>
                  <a:lnTo>
                    <a:pt x="6297" y="110497"/>
                  </a:lnTo>
                  <a:lnTo>
                    <a:pt x="0" y="150507"/>
                  </a:lnTo>
                  <a:lnTo>
                    <a:pt x="43002" y="150507"/>
                  </a:lnTo>
                  <a:lnTo>
                    <a:pt x="48040" y="121217"/>
                  </a:lnTo>
                  <a:lnTo>
                    <a:pt x="62445" y="94597"/>
                  </a:lnTo>
                  <a:lnTo>
                    <a:pt x="85157" y="72056"/>
                  </a:lnTo>
                  <a:lnTo>
                    <a:pt x="115112" y="55003"/>
                  </a:lnTo>
                  <a:lnTo>
                    <a:pt x="166018" y="43292"/>
                  </a:lnTo>
                  <a:lnTo>
                    <a:pt x="297111" y="43292"/>
                  </a:lnTo>
                  <a:lnTo>
                    <a:pt x="278515" y="27870"/>
                  </a:lnTo>
                  <a:lnTo>
                    <a:pt x="230551" y="7290"/>
                  </a:lnTo>
                  <a:lnTo>
                    <a:pt x="176314" y="0"/>
                  </a:lnTo>
                  <a:close/>
                </a:path>
                <a:path w="362585" h="151130">
                  <a:moveTo>
                    <a:pt x="362343" y="101155"/>
                  </a:moveTo>
                  <a:lnTo>
                    <a:pt x="276339" y="101155"/>
                  </a:lnTo>
                  <a:lnTo>
                    <a:pt x="331114" y="150507"/>
                  </a:lnTo>
                  <a:lnTo>
                    <a:pt x="362343" y="101155"/>
                  </a:lnTo>
                  <a:close/>
                </a:path>
                <a:path w="362585" h="151130">
                  <a:moveTo>
                    <a:pt x="297111" y="43292"/>
                  </a:moveTo>
                  <a:lnTo>
                    <a:pt x="166018" y="43292"/>
                  </a:lnTo>
                  <a:lnTo>
                    <a:pt x="216776" y="48071"/>
                  </a:lnTo>
                  <a:lnTo>
                    <a:pt x="261609" y="67853"/>
                  </a:lnTo>
                  <a:lnTo>
                    <a:pt x="294741" y="101155"/>
                  </a:lnTo>
                  <a:lnTo>
                    <a:pt x="342874" y="101155"/>
                  </a:lnTo>
                  <a:lnTo>
                    <a:pt x="317019" y="59803"/>
                  </a:lnTo>
                  <a:lnTo>
                    <a:pt x="297111" y="43292"/>
                  </a:lnTo>
                  <a:close/>
                </a:path>
              </a:pathLst>
            </a:custGeom>
            <a:solidFill>
              <a:srgbClr val="DAEDEF"/>
            </a:solidFill>
          </p:spPr>
          <p:txBody>
            <a:bodyPr wrap="square" lIns="0" tIns="0" rIns="0" bIns="0" rtlCol="0"/>
            <a:lstStyle/>
            <a:p/>
          </p:txBody>
        </p:sp>
        <p:sp>
          <p:nvSpPr>
            <p:cNvPr id="30" name="object 30" descr=""/>
            <p:cNvSpPr/>
            <p:nvPr/>
          </p:nvSpPr>
          <p:spPr>
            <a:xfrm>
              <a:off x="4427499" y="2490099"/>
              <a:ext cx="362585" cy="151130"/>
            </a:xfrm>
            <a:custGeom>
              <a:avLst/>
              <a:gdLst/>
              <a:ahLst/>
              <a:cxnLst/>
              <a:rect l="l" t="t" r="r" b="b"/>
              <a:pathLst>
                <a:path w="362585" h="151130">
                  <a:moveTo>
                    <a:pt x="0" y="150507"/>
                  </a:moveTo>
                  <a:lnTo>
                    <a:pt x="6297" y="110497"/>
                  </a:lnTo>
                  <a:lnTo>
                    <a:pt x="24070" y="74544"/>
                  </a:lnTo>
                  <a:lnTo>
                    <a:pt x="51638" y="44083"/>
                  </a:lnTo>
                  <a:lnTo>
                    <a:pt x="87321" y="20549"/>
                  </a:lnTo>
                  <a:lnTo>
                    <a:pt x="129440" y="5376"/>
                  </a:lnTo>
                  <a:lnTo>
                    <a:pt x="176314" y="0"/>
                  </a:lnTo>
                  <a:lnTo>
                    <a:pt x="230551" y="7290"/>
                  </a:lnTo>
                  <a:lnTo>
                    <a:pt x="278515" y="27870"/>
                  </a:lnTo>
                  <a:lnTo>
                    <a:pt x="317019" y="59803"/>
                  </a:lnTo>
                  <a:lnTo>
                    <a:pt x="342874" y="101155"/>
                  </a:lnTo>
                  <a:lnTo>
                    <a:pt x="362343" y="101155"/>
                  </a:lnTo>
                  <a:lnTo>
                    <a:pt x="331114" y="150507"/>
                  </a:lnTo>
                  <a:lnTo>
                    <a:pt x="276339" y="101155"/>
                  </a:lnTo>
                  <a:lnTo>
                    <a:pt x="294741" y="101155"/>
                  </a:lnTo>
                  <a:lnTo>
                    <a:pt x="261609" y="67853"/>
                  </a:lnTo>
                  <a:lnTo>
                    <a:pt x="216776" y="48071"/>
                  </a:lnTo>
                  <a:lnTo>
                    <a:pt x="166018" y="43292"/>
                  </a:lnTo>
                  <a:lnTo>
                    <a:pt x="115112" y="55003"/>
                  </a:lnTo>
                  <a:lnTo>
                    <a:pt x="85157" y="72056"/>
                  </a:lnTo>
                  <a:lnTo>
                    <a:pt x="62445" y="94597"/>
                  </a:lnTo>
                  <a:lnTo>
                    <a:pt x="48040" y="121217"/>
                  </a:lnTo>
                  <a:lnTo>
                    <a:pt x="43002" y="150507"/>
                  </a:lnTo>
                  <a:lnTo>
                    <a:pt x="0" y="150507"/>
                  </a:lnTo>
                  <a:close/>
                </a:path>
              </a:pathLst>
            </a:custGeom>
            <a:ln w="25400">
              <a:solidFill>
                <a:srgbClr val="FFFFFF"/>
              </a:solidFill>
            </a:ln>
          </p:spPr>
          <p:txBody>
            <a:bodyPr wrap="square" lIns="0" tIns="0" rIns="0" bIns="0" rtlCol="0"/>
            <a:lstStyle/>
            <a:p/>
          </p:txBody>
        </p:sp>
        <p:sp>
          <p:nvSpPr>
            <p:cNvPr id="31" name="object 31" descr=""/>
            <p:cNvSpPr/>
            <p:nvPr/>
          </p:nvSpPr>
          <p:spPr>
            <a:xfrm>
              <a:off x="4417773" y="2772921"/>
              <a:ext cx="362585" cy="151130"/>
            </a:xfrm>
            <a:custGeom>
              <a:avLst/>
              <a:gdLst/>
              <a:ahLst/>
              <a:cxnLst/>
              <a:rect l="l" t="t" r="r" b="b"/>
              <a:pathLst>
                <a:path w="362585" h="151130">
                  <a:moveTo>
                    <a:pt x="67602" y="49352"/>
                  </a:moveTo>
                  <a:lnTo>
                    <a:pt x="19481" y="49352"/>
                  </a:lnTo>
                  <a:lnTo>
                    <a:pt x="45329" y="90703"/>
                  </a:lnTo>
                  <a:lnTo>
                    <a:pt x="83829" y="122637"/>
                  </a:lnTo>
                  <a:lnTo>
                    <a:pt x="131792" y="143217"/>
                  </a:lnTo>
                  <a:lnTo>
                    <a:pt x="186029" y="150507"/>
                  </a:lnTo>
                  <a:lnTo>
                    <a:pt x="232903" y="145131"/>
                  </a:lnTo>
                  <a:lnTo>
                    <a:pt x="275022" y="129958"/>
                  </a:lnTo>
                  <a:lnTo>
                    <a:pt x="309507" y="107214"/>
                  </a:lnTo>
                  <a:lnTo>
                    <a:pt x="196325" y="107214"/>
                  </a:lnTo>
                  <a:lnTo>
                    <a:pt x="145567" y="102436"/>
                  </a:lnTo>
                  <a:lnTo>
                    <a:pt x="100734" y="82654"/>
                  </a:lnTo>
                  <a:lnTo>
                    <a:pt x="67602" y="49352"/>
                  </a:lnTo>
                  <a:close/>
                </a:path>
                <a:path w="362585" h="151130">
                  <a:moveTo>
                    <a:pt x="362343" y="0"/>
                  </a:moveTo>
                  <a:lnTo>
                    <a:pt x="319341" y="0"/>
                  </a:lnTo>
                  <a:lnTo>
                    <a:pt x="314303" y="29290"/>
                  </a:lnTo>
                  <a:lnTo>
                    <a:pt x="299897" y="55910"/>
                  </a:lnTo>
                  <a:lnTo>
                    <a:pt x="277186" y="78450"/>
                  </a:lnTo>
                  <a:lnTo>
                    <a:pt x="247230" y="95504"/>
                  </a:lnTo>
                  <a:lnTo>
                    <a:pt x="196325" y="107214"/>
                  </a:lnTo>
                  <a:lnTo>
                    <a:pt x="309507" y="107214"/>
                  </a:lnTo>
                  <a:lnTo>
                    <a:pt x="310705" y="106424"/>
                  </a:lnTo>
                  <a:lnTo>
                    <a:pt x="338273" y="75963"/>
                  </a:lnTo>
                  <a:lnTo>
                    <a:pt x="356046" y="40010"/>
                  </a:lnTo>
                  <a:lnTo>
                    <a:pt x="362343" y="0"/>
                  </a:lnTo>
                  <a:close/>
                </a:path>
                <a:path w="362585" h="151130">
                  <a:moveTo>
                    <a:pt x="31229" y="0"/>
                  </a:moveTo>
                  <a:lnTo>
                    <a:pt x="0" y="49352"/>
                  </a:lnTo>
                  <a:lnTo>
                    <a:pt x="86004" y="49352"/>
                  </a:lnTo>
                  <a:lnTo>
                    <a:pt x="31229" y="0"/>
                  </a:lnTo>
                  <a:close/>
                </a:path>
              </a:pathLst>
            </a:custGeom>
            <a:solidFill>
              <a:srgbClr val="DAEDEF"/>
            </a:solidFill>
          </p:spPr>
          <p:txBody>
            <a:bodyPr wrap="square" lIns="0" tIns="0" rIns="0" bIns="0" rtlCol="0"/>
            <a:lstStyle/>
            <a:p/>
          </p:txBody>
        </p:sp>
        <p:sp>
          <p:nvSpPr>
            <p:cNvPr id="32" name="object 32" descr=""/>
            <p:cNvSpPr/>
            <p:nvPr/>
          </p:nvSpPr>
          <p:spPr>
            <a:xfrm>
              <a:off x="4417773" y="2772921"/>
              <a:ext cx="362585" cy="151130"/>
            </a:xfrm>
            <a:custGeom>
              <a:avLst/>
              <a:gdLst/>
              <a:ahLst/>
              <a:cxnLst/>
              <a:rect l="l" t="t" r="r" b="b"/>
              <a:pathLst>
                <a:path w="362585" h="151130">
                  <a:moveTo>
                    <a:pt x="362343" y="0"/>
                  </a:moveTo>
                  <a:lnTo>
                    <a:pt x="356046" y="40010"/>
                  </a:lnTo>
                  <a:lnTo>
                    <a:pt x="338273" y="75963"/>
                  </a:lnTo>
                  <a:lnTo>
                    <a:pt x="310705" y="106424"/>
                  </a:lnTo>
                  <a:lnTo>
                    <a:pt x="275022" y="129958"/>
                  </a:lnTo>
                  <a:lnTo>
                    <a:pt x="232903" y="145131"/>
                  </a:lnTo>
                  <a:lnTo>
                    <a:pt x="186029" y="150507"/>
                  </a:lnTo>
                  <a:lnTo>
                    <a:pt x="131792" y="143217"/>
                  </a:lnTo>
                  <a:lnTo>
                    <a:pt x="83829" y="122637"/>
                  </a:lnTo>
                  <a:lnTo>
                    <a:pt x="45329" y="90703"/>
                  </a:lnTo>
                  <a:lnTo>
                    <a:pt x="19481" y="49352"/>
                  </a:lnTo>
                  <a:lnTo>
                    <a:pt x="0" y="49352"/>
                  </a:lnTo>
                  <a:lnTo>
                    <a:pt x="31229" y="0"/>
                  </a:lnTo>
                  <a:lnTo>
                    <a:pt x="86004" y="49352"/>
                  </a:lnTo>
                  <a:lnTo>
                    <a:pt x="67602" y="49352"/>
                  </a:lnTo>
                  <a:lnTo>
                    <a:pt x="100734" y="82654"/>
                  </a:lnTo>
                  <a:lnTo>
                    <a:pt x="145567" y="102436"/>
                  </a:lnTo>
                  <a:lnTo>
                    <a:pt x="196325" y="107214"/>
                  </a:lnTo>
                  <a:lnTo>
                    <a:pt x="247230" y="95504"/>
                  </a:lnTo>
                  <a:lnTo>
                    <a:pt x="277186" y="78450"/>
                  </a:lnTo>
                  <a:lnTo>
                    <a:pt x="299897" y="55910"/>
                  </a:lnTo>
                  <a:lnTo>
                    <a:pt x="314303" y="29290"/>
                  </a:lnTo>
                  <a:lnTo>
                    <a:pt x="319341" y="0"/>
                  </a:lnTo>
                  <a:lnTo>
                    <a:pt x="362343" y="0"/>
                  </a:lnTo>
                  <a:close/>
                </a:path>
              </a:pathLst>
            </a:custGeom>
            <a:ln w="25400">
              <a:solidFill>
                <a:srgbClr val="FFFFFF"/>
              </a:solidFill>
            </a:ln>
          </p:spPr>
          <p:txBody>
            <a:bodyPr wrap="square" lIns="0" tIns="0" rIns="0" bIns="0" rtlCol="0"/>
            <a:lstStyle/>
            <a:p/>
          </p:txBody>
        </p:sp>
      </p:grpSp>
      <p:sp>
        <p:nvSpPr>
          <p:cNvPr id="33" name="object 33" descr=""/>
          <p:cNvSpPr txBox="1"/>
          <p:nvPr/>
        </p:nvSpPr>
        <p:spPr>
          <a:xfrm>
            <a:off x="5816012" y="2327775"/>
            <a:ext cx="1978025" cy="162560"/>
          </a:xfrm>
          <a:prstGeom prst="rect">
            <a:avLst/>
          </a:prstGeom>
        </p:spPr>
        <p:txBody>
          <a:bodyPr wrap="square" lIns="0" tIns="12700" rIns="0" bIns="0" rtlCol="0" vert="horz">
            <a:spAutoFit/>
          </a:bodyPr>
          <a:lstStyle/>
          <a:p>
            <a:pPr marL="140970" indent="-128270">
              <a:lnSpc>
                <a:spcPct val="100000"/>
              </a:lnSpc>
              <a:spcBef>
                <a:spcPts val="100"/>
              </a:spcBef>
              <a:buFont typeface="Wingdings"/>
              <a:buChar char=""/>
              <a:tabLst>
                <a:tab pos="140970" algn="l"/>
              </a:tabLst>
            </a:pPr>
            <a:r>
              <a:rPr dirty="0" sz="900">
                <a:latin typeface="Microsoft YaHei"/>
                <a:cs typeface="Microsoft YaHei"/>
              </a:rPr>
              <a:t>64TR相比32TR</a:t>
            </a:r>
            <a:r>
              <a:rPr dirty="0" sz="900" spc="-5">
                <a:latin typeface="Microsoft YaHei"/>
                <a:cs typeface="Microsoft YaHei"/>
              </a:rPr>
              <a:t>，下行提升</a:t>
            </a:r>
            <a:r>
              <a:rPr dirty="0" sz="900" spc="-10" b="1">
                <a:solidFill>
                  <a:srgbClr val="FF0000"/>
                </a:solidFill>
                <a:latin typeface="Microsoft YaHei"/>
                <a:cs typeface="Microsoft YaHei"/>
              </a:rPr>
              <a:t>50%</a:t>
            </a:r>
            <a:r>
              <a:rPr dirty="0" sz="900" spc="-25">
                <a:latin typeface="Microsoft YaHei"/>
                <a:cs typeface="Microsoft YaHei"/>
              </a:rPr>
              <a:t>左右</a:t>
            </a:r>
            <a:endParaRPr sz="900">
              <a:latin typeface="Microsoft YaHei"/>
              <a:cs typeface="Microsoft YaHei"/>
            </a:endParaRPr>
          </a:p>
        </p:txBody>
      </p:sp>
      <p:grpSp>
        <p:nvGrpSpPr>
          <p:cNvPr id="34" name="object 34" descr=""/>
          <p:cNvGrpSpPr/>
          <p:nvPr/>
        </p:nvGrpSpPr>
        <p:grpSpPr>
          <a:xfrm>
            <a:off x="6477761" y="3654552"/>
            <a:ext cx="1141730" cy="306705"/>
            <a:chOff x="6477761" y="3654552"/>
            <a:chExt cx="1141730" cy="306705"/>
          </a:xfrm>
        </p:grpSpPr>
        <p:sp>
          <p:nvSpPr>
            <p:cNvPr id="35" name="object 35" descr=""/>
            <p:cNvSpPr/>
            <p:nvPr/>
          </p:nvSpPr>
          <p:spPr>
            <a:xfrm>
              <a:off x="6482333" y="3755136"/>
              <a:ext cx="1137285" cy="151130"/>
            </a:xfrm>
            <a:custGeom>
              <a:avLst/>
              <a:gdLst/>
              <a:ahLst/>
              <a:cxnLst/>
              <a:rect l="l" t="t" r="r" b="b"/>
              <a:pathLst>
                <a:path w="1137284" h="151129">
                  <a:moveTo>
                    <a:pt x="0" y="150875"/>
                  </a:moveTo>
                  <a:lnTo>
                    <a:pt x="121919" y="150875"/>
                  </a:lnTo>
                </a:path>
                <a:path w="1137284" h="151129">
                  <a:moveTo>
                    <a:pt x="284225" y="150875"/>
                  </a:moveTo>
                  <a:lnTo>
                    <a:pt x="852677" y="150875"/>
                  </a:lnTo>
                </a:path>
                <a:path w="1137284" h="151129">
                  <a:moveTo>
                    <a:pt x="1014983" y="150875"/>
                  </a:moveTo>
                  <a:lnTo>
                    <a:pt x="1136904" y="150875"/>
                  </a:lnTo>
                </a:path>
                <a:path w="1137284" h="151129">
                  <a:moveTo>
                    <a:pt x="0" y="100584"/>
                  </a:moveTo>
                  <a:lnTo>
                    <a:pt x="121919" y="100584"/>
                  </a:lnTo>
                </a:path>
                <a:path w="1137284" h="151129">
                  <a:moveTo>
                    <a:pt x="284225" y="100584"/>
                  </a:moveTo>
                  <a:lnTo>
                    <a:pt x="852677" y="100584"/>
                  </a:lnTo>
                </a:path>
                <a:path w="1137284" h="151129">
                  <a:moveTo>
                    <a:pt x="1014983" y="100584"/>
                  </a:moveTo>
                  <a:lnTo>
                    <a:pt x="1136904" y="100584"/>
                  </a:lnTo>
                </a:path>
                <a:path w="1137284" h="151129">
                  <a:moveTo>
                    <a:pt x="0" y="50291"/>
                  </a:moveTo>
                  <a:lnTo>
                    <a:pt x="121919" y="50291"/>
                  </a:lnTo>
                </a:path>
                <a:path w="1137284" h="151129">
                  <a:moveTo>
                    <a:pt x="284225" y="50291"/>
                  </a:moveTo>
                  <a:lnTo>
                    <a:pt x="852677" y="50291"/>
                  </a:lnTo>
                </a:path>
                <a:path w="1137284" h="151129">
                  <a:moveTo>
                    <a:pt x="1014983" y="50291"/>
                  </a:moveTo>
                  <a:lnTo>
                    <a:pt x="1136904" y="50291"/>
                  </a:lnTo>
                </a:path>
                <a:path w="1137284" h="151129">
                  <a:moveTo>
                    <a:pt x="0" y="0"/>
                  </a:moveTo>
                  <a:lnTo>
                    <a:pt x="852677" y="0"/>
                  </a:lnTo>
                </a:path>
                <a:path w="1137284" h="151129">
                  <a:moveTo>
                    <a:pt x="1014983" y="0"/>
                  </a:moveTo>
                  <a:lnTo>
                    <a:pt x="1136904" y="0"/>
                  </a:lnTo>
                </a:path>
              </a:pathLst>
            </a:custGeom>
            <a:ln w="9143">
              <a:solidFill>
                <a:srgbClr val="878787"/>
              </a:solidFill>
            </a:ln>
          </p:spPr>
          <p:txBody>
            <a:bodyPr wrap="square" lIns="0" tIns="0" rIns="0" bIns="0" rtlCol="0"/>
            <a:lstStyle/>
            <a:p/>
          </p:txBody>
        </p:sp>
        <p:sp>
          <p:nvSpPr>
            <p:cNvPr id="36" name="object 36" descr=""/>
            <p:cNvSpPr/>
            <p:nvPr/>
          </p:nvSpPr>
          <p:spPr>
            <a:xfrm>
              <a:off x="6482333" y="3704844"/>
              <a:ext cx="1137285" cy="0"/>
            </a:xfrm>
            <a:custGeom>
              <a:avLst/>
              <a:gdLst/>
              <a:ahLst/>
              <a:cxnLst/>
              <a:rect l="l" t="t" r="r" b="b"/>
              <a:pathLst>
                <a:path w="1137284" h="0">
                  <a:moveTo>
                    <a:pt x="0" y="0"/>
                  </a:moveTo>
                  <a:lnTo>
                    <a:pt x="1136904" y="0"/>
                  </a:lnTo>
                </a:path>
              </a:pathLst>
            </a:custGeom>
            <a:ln w="9144">
              <a:solidFill>
                <a:srgbClr val="878787"/>
              </a:solidFill>
            </a:ln>
          </p:spPr>
          <p:txBody>
            <a:bodyPr wrap="square" lIns="0" tIns="0" rIns="0" bIns="0" rtlCol="0"/>
            <a:lstStyle/>
            <a:p/>
          </p:txBody>
        </p:sp>
        <p:sp>
          <p:nvSpPr>
            <p:cNvPr id="37" name="object 37" descr=""/>
            <p:cNvSpPr/>
            <p:nvPr/>
          </p:nvSpPr>
          <p:spPr>
            <a:xfrm>
              <a:off x="6604253" y="3755136"/>
              <a:ext cx="162560" cy="201295"/>
            </a:xfrm>
            <a:custGeom>
              <a:avLst/>
              <a:gdLst/>
              <a:ahLst/>
              <a:cxnLst/>
              <a:rect l="l" t="t" r="r" b="b"/>
              <a:pathLst>
                <a:path w="162559" h="201295">
                  <a:moveTo>
                    <a:pt x="162305" y="0"/>
                  </a:moveTo>
                  <a:lnTo>
                    <a:pt x="0" y="0"/>
                  </a:lnTo>
                  <a:lnTo>
                    <a:pt x="0" y="201168"/>
                  </a:lnTo>
                  <a:lnTo>
                    <a:pt x="162305" y="201168"/>
                  </a:lnTo>
                  <a:lnTo>
                    <a:pt x="162305" y="0"/>
                  </a:lnTo>
                  <a:close/>
                </a:path>
              </a:pathLst>
            </a:custGeom>
            <a:solidFill>
              <a:srgbClr val="BBE0E3"/>
            </a:solidFill>
          </p:spPr>
          <p:txBody>
            <a:bodyPr wrap="square" lIns="0" tIns="0" rIns="0" bIns="0" rtlCol="0"/>
            <a:lstStyle/>
            <a:p/>
          </p:txBody>
        </p:sp>
        <p:sp>
          <p:nvSpPr>
            <p:cNvPr id="38" name="object 38" descr=""/>
            <p:cNvSpPr/>
            <p:nvPr/>
          </p:nvSpPr>
          <p:spPr>
            <a:xfrm>
              <a:off x="7335011" y="3704844"/>
              <a:ext cx="162560" cy="251460"/>
            </a:xfrm>
            <a:custGeom>
              <a:avLst/>
              <a:gdLst/>
              <a:ahLst/>
              <a:cxnLst/>
              <a:rect l="l" t="t" r="r" b="b"/>
              <a:pathLst>
                <a:path w="162559" h="251460">
                  <a:moveTo>
                    <a:pt x="162305" y="0"/>
                  </a:moveTo>
                  <a:lnTo>
                    <a:pt x="0" y="0"/>
                  </a:lnTo>
                  <a:lnTo>
                    <a:pt x="0" y="251459"/>
                  </a:lnTo>
                  <a:lnTo>
                    <a:pt x="162305" y="251459"/>
                  </a:lnTo>
                  <a:lnTo>
                    <a:pt x="162305" y="0"/>
                  </a:lnTo>
                  <a:close/>
                </a:path>
              </a:pathLst>
            </a:custGeom>
            <a:solidFill>
              <a:srgbClr val="0070C0"/>
            </a:solidFill>
          </p:spPr>
          <p:txBody>
            <a:bodyPr wrap="square" lIns="0" tIns="0" rIns="0" bIns="0" rtlCol="0"/>
            <a:lstStyle/>
            <a:p/>
          </p:txBody>
        </p:sp>
        <p:sp>
          <p:nvSpPr>
            <p:cNvPr id="39" name="object 39" descr=""/>
            <p:cNvSpPr/>
            <p:nvPr/>
          </p:nvSpPr>
          <p:spPr>
            <a:xfrm>
              <a:off x="6482333" y="3654552"/>
              <a:ext cx="1137285" cy="302260"/>
            </a:xfrm>
            <a:custGeom>
              <a:avLst/>
              <a:gdLst/>
              <a:ahLst/>
              <a:cxnLst/>
              <a:rect l="l" t="t" r="r" b="b"/>
              <a:pathLst>
                <a:path w="1137284" h="302260">
                  <a:moveTo>
                    <a:pt x="0" y="301752"/>
                  </a:moveTo>
                  <a:lnTo>
                    <a:pt x="0" y="0"/>
                  </a:lnTo>
                </a:path>
                <a:path w="1137284" h="302260">
                  <a:moveTo>
                    <a:pt x="0" y="301752"/>
                  </a:moveTo>
                  <a:lnTo>
                    <a:pt x="1136904" y="301752"/>
                  </a:lnTo>
                </a:path>
              </a:pathLst>
            </a:custGeom>
            <a:ln w="9144">
              <a:solidFill>
                <a:srgbClr val="878787"/>
              </a:solidFill>
            </a:ln>
          </p:spPr>
          <p:txBody>
            <a:bodyPr wrap="square" lIns="0" tIns="0" rIns="0" bIns="0" rtlCol="0"/>
            <a:lstStyle/>
            <a:p/>
          </p:txBody>
        </p:sp>
      </p:grpSp>
      <p:sp>
        <p:nvSpPr>
          <p:cNvPr id="40" name="object 40" descr=""/>
          <p:cNvSpPr txBox="1"/>
          <p:nvPr/>
        </p:nvSpPr>
        <p:spPr>
          <a:xfrm>
            <a:off x="6572936" y="3546965"/>
            <a:ext cx="205104" cy="178435"/>
          </a:xfrm>
          <a:prstGeom prst="rect">
            <a:avLst/>
          </a:prstGeom>
        </p:spPr>
        <p:txBody>
          <a:bodyPr wrap="square" lIns="0" tIns="12700" rIns="0" bIns="0" rtlCol="0" vert="horz">
            <a:spAutoFit/>
          </a:bodyPr>
          <a:lstStyle/>
          <a:p>
            <a:pPr marL="12700">
              <a:lnSpc>
                <a:spcPct val="100000"/>
              </a:lnSpc>
              <a:spcBef>
                <a:spcPts val="100"/>
              </a:spcBef>
            </a:pPr>
            <a:r>
              <a:rPr dirty="0" sz="1000" spc="-25">
                <a:latin typeface="Microsoft YaHei"/>
                <a:cs typeface="Microsoft YaHei"/>
              </a:rPr>
              <a:t>0.8</a:t>
            </a:r>
            <a:endParaRPr sz="1000">
              <a:latin typeface="Microsoft YaHei"/>
              <a:cs typeface="Microsoft YaHei"/>
            </a:endParaRPr>
          </a:p>
        </p:txBody>
      </p:sp>
      <p:sp>
        <p:nvSpPr>
          <p:cNvPr id="41" name="object 41" descr=""/>
          <p:cNvSpPr txBox="1"/>
          <p:nvPr/>
        </p:nvSpPr>
        <p:spPr>
          <a:xfrm>
            <a:off x="6469634" y="3496699"/>
            <a:ext cx="1162685" cy="178435"/>
          </a:xfrm>
          <a:prstGeom prst="rect">
            <a:avLst/>
          </a:prstGeom>
        </p:spPr>
        <p:txBody>
          <a:bodyPr wrap="square" lIns="0" tIns="12700" rIns="0" bIns="0" rtlCol="0" vert="horz">
            <a:spAutoFit/>
          </a:bodyPr>
          <a:lstStyle/>
          <a:p>
            <a:pPr marL="12700">
              <a:lnSpc>
                <a:spcPct val="100000"/>
              </a:lnSpc>
              <a:spcBef>
                <a:spcPts val="100"/>
              </a:spcBef>
              <a:tabLst>
                <a:tab pos="908685" algn="l"/>
                <a:tab pos="1149350" algn="l"/>
              </a:tabLst>
            </a:pPr>
            <a:r>
              <a:rPr dirty="0" u="sng" sz="1000">
                <a:uFill>
                  <a:solidFill>
                    <a:srgbClr val="878787"/>
                  </a:solidFill>
                </a:uFill>
                <a:latin typeface="Microsoft YaHei"/>
                <a:cs typeface="Microsoft YaHei"/>
              </a:rPr>
              <a:t>	</a:t>
            </a:r>
            <a:r>
              <a:rPr dirty="0" u="sng" sz="1000" spc="-50">
                <a:uFill>
                  <a:solidFill>
                    <a:srgbClr val="878787"/>
                  </a:solidFill>
                </a:uFill>
                <a:latin typeface="Microsoft YaHei"/>
                <a:cs typeface="Microsoft YaHei"/>
              </a:rPr>
              <a:t>1</a:t>
            </a:r>
            <a:r>
              <a:rPr dirty="0" u="sng" sz="1000">
                <a:uFill>
                  <a:solidFill>
                    <a:srgbClr val="878787"/>
                  </a:solidFill>
                </a:uFill>
                <a:latin typeface="Microsoft YaHei"/>
                <a:cs typeface="Microsoft YaHei"/>
              </a:rPr>
              <a:t>	</a:t>
            </a:r>
            <a:endParaRPr sz="1000">
              <a:latin typeface="Microsoft YaHei"/>
              <a:cs typeface="Microsoft YaHei"/>
            </a:endParaRPr>
          </a:p>
        </p:txBody>
      </p:sp>
      <p:sp>
        <p:nvSpPr>
          <p:cNvPr id="42" name="object 42" descr=""/>
          <p:cNvSpPr txBox="1"/>
          <p:nvPr/>
        </p:nvSpPr>
        <p:spPr>
          <a:xfrm>
            <a:off x="6289033" y="3858355"/>
            <a:ext cx="96520" cy="178435"/>
          </a:xfrm>
          <a:prstGeom prst="rect">
            <a:avLst/>
          </a:prstGeom>
        </p:spPr>
        <p:txBody>
          <a:bodyPr wrap="square" lIns="0" tIns="12700" rIns="0" bIns="0" rtlCol="0" vert="horz">
            <a:spAutoFit/>
          </a:bodyPr>
          <a:lstStyle/>
          <a:p>
            <a:pPr marL="12700">
              <a:lnSpc>
                <a:spcPct val="100000"/>
              </a:lnSpc>
              <a:spcBef>
                <a:spcPts val="100"/>
              </a:spcBef>
            </a:pPr>
            <a:r>
              <a:rPr dirty="0" sz="1000" spc="-50">
                <a:latin typeface="Arial MT"/>
                <a:cs typeface="Arial MT"/>
              </a:rPr>
              <a:t>0</a:t>
            </a:r>
            <a:endParaRPr sz="1000">
              <a:latin typeface="Arial MT"/>
              <a:cs typeface="Arial MT"/>
            </a:endParaRPr>
          </a:p>
        </p:txBody>
      </p:sp>
      <p:sp>
        <p:nvSpPr>
          <p:cNvPr id="43" name="object 43" descr=""/>
          <p:cNvSpPr txBox="1"/>
          <p:nvPr/>
        </p:nvSpPr>
        <p:spPr>
          <a:xfrm>
            <a:off x="6158140" y="3757825"/>
            <a:ext cx="253365" cy="178435"/>
          </a:xfrm>
          <a:prstGeom prst="rect">
            <a:avLst/>
          </a:prstGeom>
        </p:spPr>
        <p:txBody>
          <a:bodyPr wrap="square" lIns="0" tIns="12700" rIns="0" bIns="0" rtlCol="0" vert="horz">
            <a:spAutoFit/>
          </a:bodyPr>
          <a:lstStyle/>
          <a:p>
            <a:pPr marL="38100">
              <a:lnSpc>
                <a:spcPct val="100000"/>
              </a:lnSpc>
              <a:spcBef>
                <a:spcPts val="100"/>
              </a:spcBef>
            </a:pPr>
            <a:r>
              <a:rPr dirty="0" sz="1000" spc="70">
                <a:latin typeface="Arial MT"/>
                <a:cs typeface="Arial MT"/>
              </a:rPr>
              <a:t>0</a:t>
            </a:r>
            <a:r>
              <a:rPr dirty="0" sz="1000" spc="65">
                <a:latin typeface="Arial MT"/>
                <a:cs typeface="Arial MT"/>
              </a:rPr>
              <a:t>.</a:t>
            </a:r>
            <a:r>
              <a:rPr dirty="0" sz="1000" spc="-484">
                <a:latin typeface="Arial MT"/>
                <a:cs typeface="Arial MT"/>
              </a:rPr>
              <a:t>4</a:t>
            </a:r>
            <a:r>
              <a:rPr dirty="0" baseline="-22222" sz="1500" spc="104">
                <a:latin typeface="Arial MT"/>
                <a:cs typeface="Arial MT"/>
              </a:rPr>
              <a:t>2</a:t>
            </a:r>
            <a:endParaRPr baseline="-22222" sz="1500">
              <a:latin typeface="Arial MT"/>
              <a:cs typeface="Arial MT"/>
            </a:endParaRPr>
          </a:p>
        </p:txBody>
      </p:sp>
      <p:sp>
        <p:nvSpPr>
          <p:cNvPr id="44" name="object 44" descr=""/>
          <p:cNvSpPr txBox="1"/>
          <p:nvPr/>
        </p:nvSpPr>
        <p:spPr>
          <a:xfrm>
            <a:off x="6158140" y="3657294"/>
            <a:ext cx="253365" cy="178435"/>
          </a:xfrm>
          <a:prstGeom prst="rect">
            <a:avLst/>
          </a:prstGeom>
        </p:spPr>
        <p:txBody>
          <a:bodyPr wrap="square" lIns="0" tIns="12700" rIns="0" bIns="0" rtlCol="0" vert="horz">
            <a:spAutoFit/>
          </a:bodyPr>
          <a:lstStyle/>
          <a:p>
            <a:pPr marL="38100">
              <a:lnSpc>
                <a:spcPct val="100000"/>
              </a:lnSpc>
              <a:spcBef>
                <a:spcPts val="100"/>
              </a:spcBef>
            </a:pPr>
            <a:r>
              <a:rPr dirty="0" sz="1000" spc="70">
                <a:latin typeface="Arial MT"/>
                <a:cs typeface="Arial MT"/>
              </a:rPr>
              <a:t>0</a:t>
            </a:r>
            <a:r>
              <a:rPr dirty="0" sz="1000" spc="65">
                <a:latin typeface="Arial MT"/>
                <a:cs typeface="Arial MT"/>
              </a:rPr>
              <a:t>.</a:t>
            </a:r>
            <a:r>
              <a:rPr dirty="0" sz="1000" spc="-484">
                <a:latin typeface="Arial MT"/>
                <a:cs typeface="Arial MT"/>
              </a:rPr>
              <a:t>8</a:t>
            </a:r>
            <a:r>
              <a:rPr dirty="0" baseline="-22222" sz="1500" spc="104">
                <a:latin typeface="Arial MT"/>
                <a:cs typeface="Arial MT"/>
              </a:rPr>
              <a:t>6</a:t>
            </a:r>
            <a:endParaRPr baseline="-22222" sz="1500">
              <a:latin typeface="Arial MT"/>
              <a:cs typeface="Arial MT"/>
            </a:endParaRPr>
          </a:p>
        </p:txBody>
      </p:sp>
      <p:sp>
        <p:nvSpPr>
          <p:cNvPr id="45" name="object 45" descr=""/>
          <p:cNvSpPr txBox="1"/>
          <p:nvPr/>
        </p:nvSpPr>
        <p:spPr>
          <a:xfrm>
            <a:off x="6158140" y="3556763"/>
            <a:ext cx="253365" cy="178435"/>
          </a:xfrm>
          <a:prstGeom prst="rect">
            <a:avLst/>
          </a:prstGeom>
        </p:spPr>
        <p:txBody>
          <a:bodyPr wrap="square" lIns="0" tIns="12700" rIns="0" bIns="0" rtlCol="0" vert="horz">
            <a:spAutoFit/>
          </a:bodyPr>
          <a:lstStyle/>
          <a:p>
            <a:pPr marL="38100">
              <a:lnSpc>
                <a:spcPct val="100000"/>
              </a:lnSpc>
              <a:spcBef>
                <a:spcPts val="100"/>
              </a:spcBef>
            </a:pPr>
            <a:r>
              <a:rPr dirty="0" sz="1000" spc="70">
                <a:latin typeface="Arial MT"/>
                <a:cs typeface="Arial MT"/>
              </a:rPr>
              <a:t>1</a:t>
            </a:r>
            <a:r>
              <a:rPr dirty="0" sz="1000" spc="60">
                <a:latin typeface="Arial MT"/>
                <a:cs typeface="Arial MT"/>
              </a:rPr>
              <a:t>.</a:t>
            </a:r>
            <a:r>
              <a:rPr dirty="0" baseline="-22222" sz="1500" spc="-719">
                <a:latin typeface="Arial MT"/>
                <a:cs typeface="Arial MT"/>
              </a:rPr>
              <a:t>1</a:t>
            </a:r>
            <a:r>
              <a:rPr dirty="0" sz="1000" spc="70">
                <a:latin typeface="Arial MT"/>
                <a:cs typeface="Arial MT"/>
              </a:rPr>
              <a:t>2</a:t>
            </a:r>
            <a:endParaRPr sz="1000">
              <a:latin typeface="Arial MT"/>
              <a:cs typeface="Arial MT"/>
            </a:endParaRPr>
          </a:p>
        </p:txBody>
      </p:sp>
      <p:sp>
        <p:nvSpPr>
          <p:cNvPr id="46" name="object 46" descr=""/>
          <p:cNvSpPr txBox="1"/>
          <p:nvPr/>
        </p:nvSpPr>
        <p:spPr>
          <a:xfrm>
            <a:off x="469400" y="4065143"/>
            <a:ext cx="7324725" cy="531495"/>
          </a:xfrm>
          <a:prstGeom prst="rect">
            <a:avLst/>
          </a:prstGeom>
        </p:spPr>
        <p:txBody>
          <a:bodyPr wrap="square" lIns="0" tIns="12700" rIns="0" bIns="0" rtlCol="0" vert="horz">
            <a:spAutoFit/>
          </a:bodyPr>
          <a:lstStyle/>
          <a:p>
            <a:pPr algn="r" marR="81915">
              <a:lnSpc>
                <a:spcPct val="100000"/>
              </a:lnSpc>
              <a:spcBef>
                <a:spcPts val="100"/>
              </a:spcBef>
            </a:pPr>
            <a:r>
              <a:rPr dirty="0" sz="1000">
                <a:latin typeface="Microsoft YaHei"/>
                <a:cs typeface="Microsoft YaHei"/>
              </a:rPr>
              <a:t>100M</a:t>
            </a:r>
            <a:r>
              <a:rPr dirty="0" sz="1000" spc="-15">
                <a:latin typeface="Microsoft YaHei"/>
                <a:cs typeface="Microsoft YaHei"/>
              </a:rPr>
              <a:t> </a:t>
            </a:r>
            <a:r>
              <a:rPr dirty="0" sz="1000">
                <a:latin typeface="Microsoft YaHei"/>
                <a:cs typeface="Microsoft YaHei"/>
              </a:rPr>
              <a:t>20</a:t>
            </a:r>
            <a:r>
              <a:rPr dirty="0" sz="1000" spc="-310">
                <a:latin typeface="Microsoft YaHei"/>
                <a:cs typeface="Microsoft YaHei"/>
              </a:rPr>
              <a:t>0</a:t>
            </a:r>
            <a:r>
              <a:rPr dirty="0" sz="1000" spc="-280">
                <a:latin typeface="Microsoft YaHei"/>
                <a:cs typeface="Microsoft YaHei"/>
              </a:rPr>
              <a:t>1</a:t>
            </a:r>
            <a:r>
              <a:rPr dirty="0" sz="1000" spc="-745">
                <a:latin typeface="Microsoft YaHei"/>
                <a:cs typeface="Microsoft YaHei"/>
              </a:rPr>
              <a:t>W</a:t>
            </a:r>
            <a:r>
              <a:rPr dirty="0" sz="1000">
                <a:latin typeface="Microsoft YaHei"/>
                <a:cs typeface="Microsoft YaHei"/>
              </a:rPr>
              <a:t>00M</a:t>
            </a:r>
            <a:r>
              <a:rPr dirty="0" sz="1000" spc="-15">
                <a:latin typeface="Microsoft YaHei"/>
                <a:cs typeface="Microsoft YaHei"/>
              </a:rPr>
              <a:t> </a:t>
            </a:r>
            <a:r>
              <a:rPr dirty="0" sz="1000" spc="-20">
                <a:latin typeface="Microsoft YaHei"/>
                <a:cs typeface="Microsoft YaHei"/>
              </a:rPr>
              <a:t>200W</a:t>
            </a:r>
            <a:endParaRPr sz="1000">
              <a:latin typeface="Microsoft YaHei"/>
              <a:cs typeface="Microsoft YaHei"/>
            </a:endParaRPr>
          </a:p>
          <a:p>
            <a:pPr marL="140970" indent="-128270">
              <a:lnSpc>
                <a:spcPct val="100000"/>
              </a:lnSpc>
              <a:spcBef>
                <a:spcPts val="1705"/>
              </a:spcBef>
              <a:buFont typeface="Wingdings"/>
              <a:buChar char=""/>
              <a:tabLst>
                <a:tab pos="140970" algn="l"/>
                <a:tab pos="5358765" algn="l"/>
              </a:tabLst>
            </a:pPr>
            <a:r>
              <a:rPr dirty="0" sz="900">
                <a:latin typeface="Microsoft YaHei"/>
                <a:cs typeface="Microsoft YaHei"/>
              </a:rPr>
              <a:t>64TR相比32TR，下行提</a:t>
            </a:r>
            <a:r>
              <a:rPr dirty="0" sz="900" spc="-10">
                <a:latin typeface="Microsoft YaHei"/>
                <a:cs typeface="Microsoft YaHei"/>
              </a:rPr>
              <a:t>升</a:t>
            </a:r>
            <a:r>
              <a:rPr dirty="0" sz="900" spc="-10" b="1">
                <a:solidFill>
                  <a:srgbClr val="FF0000"/>
                </a:solidFill>
                <a:latin typeface="Microsoft YaHei"/>
                <a:cs typeface="Microsoft YaHei"/>
              </a:rPr>
              <a:t>47%</a:t>
            </a:r>
            <a:r>
              <a:rPr dirty="0" sz="900">
                <a:latin typeface="Microsoft YaHei"/>
                <a:cs typeface="Microsoft YaHei"/>
              </a:rPr>
              <a:t>左右，上行提</a:t>
            </a:r>
            <a:r>
              <a:rPr dirty="0" sz="900" spc="-10">
                <a:latin typeface="Microsoft YaHei"/>
                <a:cs typeface="Microsoft YaHei"/>
              </a:rPr>
              <a:t>升</a:t>
            </a:r>
            <a:r>
              <a:rPr dirty="0" sz="900" spc="-10" b="1">
                <a:solidFill>
                  <a:srgbClr val="FF0000"/>
                </a:solidFill>
                <a:latin typeface="Microsoft YaHei"/>
                <a:cs typeface="Microsoft YaHei"/>
              </a:rPr>
              <a:t>28%</a:t>
            </a:r>
            <a:r>
              <a:rPr dirty="0" sz="900">
                <a:latin typeface="Microsoft YaHei"/>
                <a:cs typeface="Microsoft YaHei"/>
              </a:rPr>
              <a:t>左</a:t>
            </a:r>
            <a:r>
              <a:rPr dirty="0" sz="900" spc="-50">
                <a:latin typeface="Microsoft YaHei"/>
                <a:cs typeface="Microsoft YaHei"/>
              </a:rPr>
              <a:t>右</a:t>
            </a:r>
            <a:r>
              <a:rPr dirty="0" sz="900">
                <a:latin typeface="Microsoft YaHei"/>
                <a:cs typeface="Microsoft YaHei"/>
              </a:rPr>
              <a:t>	</a:t>
            </a:r>
            <a:r>
              <a:rPr dirty="0" sz="900">
                <a:latin typeface="Wingdings"/>
                <a:cs typeface="Wingdings"/>
              </a:rPr>
              <a:t></a:t>
            </a:r>
            <a:r>
              <a:rPr dirty="0" sz="900" spc="-90">
                <a:latin typeface="Times New Roman"/>
                <a:cs typeface="Times New Roman"/>
              </a:rPr>
              <a:t> </a:t>
            </a:r>
            <a:r>
              <a:rPr dirty="0" sz="900">
                <a:latin typeface="Microsoft YaHei"/>
                <a:cs typeface="Microsoft YaHei"/>
              </a:rPr>
              <a:t>32TR成本约为64TR成本</a:t>
            </a:r>
            <a:r>
              <a:rPr dirty="0" sz="900" spc="-10">
                <a:latin typeface="Microsoft YaHei"/>
                <a:cs typeface="Microsoft YaHei"/>
              </a:rPr>
              <a:t>的</a:t>
            </a:r>
            <a:r>
              <a:rPr dirty="0" sz="900" spc="-10" b="1">
                <a:solidFill>
                  <a:srgbClr val="FF0000"/>
                </a:solidFill>
                <a:latin typeface="Microsoft YaHei"/>
                <a:cs typeface="Microsoft YaHei"/>
              </a:rPr>
              <a:t>80%</a:t>
            </a:r>
            <a:r>
              <a:rPr dirty="0" sz="900">
                <a:latin typeface="Microsoft YaHei"/>
                <a:cs typeface="Microsoft YaHei"/>
              </a:rPr>
              <a:t>左</a:t>
            </a:r>
            <a:r>
              <a:rPr dirty="0" sz="900" spc="-50">
                <a:latin typeface="Microsoft YaHei"/>
                <a:cs typeface="Microsoft YaHei"/>
              </a:rPr>
              <a:t>右</a:t>
            </a:r>
            <a:endParaRPr sz="900">
              <a:latin typeface="Microsoft YaHei"/>
              <a:cs typeface="Microsoft YaHei"/>
            </a:endParaRPr>
          </a:p>
        </p:txBody>
      </p:sp>
      <p:sp>
        <p:nvSpPr>
          <p:cNvPr id="47" name="object 47" descr=""/>
          <p:cNvSpPr/>
          <p:nvPr/>
        </p:nvSpPr>
        <p:spPr>
          <a:xfrm>
            <a:off x="7819643" y="3790188"/>
            <a:ext cx="64769" cy="64769"/>
          </a:xfrm>
          <a:custGeom>
            <a:avLst/>
            <a:gdLst/>
            <a:ahLst/>
            <a:cxnLst/>
            <a:rect l="l" t="t" r="r" b="b"/>
            <a:pathLst>
              <a:path w="64770" h="64770">
                <a:moveTo>
                  <a:pt x="64770" y="0"/>
                </a:moveTo>
                <a:lnTo>
                  <a:pt x="0" y="0"/>
                </a:lnTo>
                <a:lnTo>
                  <a:pt x="0" y="64769"/>
                </a:lnTo>
                <a:lnTo>
                  <a:pt x="64770" y="64769"/>
                </a:lnTo>
                <a:lnTo>
                  <a:pt x="64770" y="0"/>
                </a:lnTo>
                <a:close/>
              </a:path>
            </a:pathLst>
          </a:custGeom>
          <a:solidFill>
            <a:srgbClr val="BBE0E3"/>
          </a:solidFill>
        </p:spPr>
        <p:txBody>
          <a:bodyPr wrap="square" lIns="0" tIns="0" rIns="0" bIns="0" rtlCol="0"/>
          <a:lstStyle/>
          <a:p/>
        </p:txBody>
      </p:sp>
      <p:sp>
        <p:nvSpPr>
          <p:cNvPr id="48" name="object 48" descr=""/>
          <p:cNvSpPr/>
          <p:nvPr/>
        </p:nvSpPr>
        <p:spPr>
          <a:xfrm>
            <a:off x="7819643" y="4006596"/>
            <a:ext cx="64769" cy="64769"/>
          </a:xfrm>
          <a:custGeom>
            <a:avLst/>
            <a:gdLst/>
            <a:ahLst/>
            <a:cxnLst/>
            <a:rect l="l" t="t" r="r" b="b"/>
            <a:pathLst>
              <a:path w="64770" h="64770">
                <a:moveTo>
                  <a:pt x="64770" y="0"/>
                </a:moveTo>
                <a:lnTo>
                  <a:pt x="0" y="0"/>
                </a:lnTo>
                <a:lnTo>
                  <a:pt x="0" y="64769"/>
                </a:lnTo>
                <a:lnTo>
                  <a:pt x="64770" y="64769"/>
                </a:lnTo>
                <a:lnTo>
                  <a:pt x="64770" y="0"/>
                </a:lnTo>
                <a:close/>
              </a:path>
            </a:pathLst>
          </a:custGeom>
          <a:solidFill>
            <a:srgbClr val="0070C0"/>
          </a:solidFill>
        </p:spPr>
        <p:txBody>
          <a:bodyPr wrap="square" lIns="0" tIns="0" rIns="0" bIns="0" rtlCol="0"/>
          <a:lstStyle/>
          <a:p/>
        </p:txBody>
      </p:sp>
      <p:sp>
        <p:nvSpPr>
          <p:cNvPr id="49" name="object 49" descr=""/>
          <p:cNvSpPr txBox="1"/>
          <p:nvPr/>
        </p:nvSpPr>
        <p:spPr>
          <a:xfrm>
            <a:off x="7898031" y="3662368"/>
            <a:ext cx="337185" cy="459105"/>
          </a:xfrm>
          <a:prstGeom prst="rect">
            <a:avLst/>
          </a:prstGeom>
        </p:spPr>
        <p:txBody>
          <a:bodyPr wrap="square" lIns="0" tIns="76835" rIns="0" bIns="0" rtlCol="0" vert="horz">
            <a:spAutoFit/>
          </a:bodyPr>
          <a:lstStyle/>
          <a:p>
            <a:pPr marL="12700">
              <a:lnSpc>
                <a:spcPct val="100000"/>
              </a:lnSpc>
              <a:spcBef>
                <a:spcPts val="605"/>
              </a:spcBef>
            </a:pPr>
            <a:r>
              <a:rPr dirty="0" sz="1000" spc="-20">
                <a:latin typeface="Arial MT"/>
                <a:cs typeface="Arial MT"/>
              </a:rPr>
              <a:t>32TR</a:t>
            </a:r>
            <a:endParaRPr sz="1000">
              <a:latin typeface="Arial MT"/>
              <a:cs typeface="Arial MT"/>
            </a:endParaRPr>
          </a:p>
          <a:p>
            <a:pPr marL="12700">
              <a:lnSpc>
                <a:spcPct val="100000"/>
              </a:lnSpc>
              <a:spcBef>
                <a:spcPts val="505"/>
              </a:spcBef>
            </a:pPr>
            <a:r>
              <a:rPr dirty="0" sz="1000" spc="-20">
                <a:latin typeface="Arial MT"/>
                <a:cs typeface="Arial MT"/>
              </a:rPr>
              <a:t>64TR</a:t>
            </a:r>
            <a:endParaRPr sz="1000">
              <a:latin typeface="Arial MT"/>
              <a:cs typeface="Arial MT"/>
            </a:endParaRPr>
          </a:p>
        </p:txBody>
      </p:sp>
      <p:sp>
        <p:nvSpPr>
          <p:cNvPr id="50" name="object 50" descr=""/>
          <p:cNvSpPr txBox="1"/>
          <p:nvPr/>
        </p:nvSpPr>
        <p:spPr>
          <a:xfrm>
            <a:off x="6344646" y="2966673"/>
            <a:ext cx="1774189" cy="505459"/>
          </a:xfrm>
          <a:prstGeom prst="rect">
            <a:avLst/>
          </a:prstGeom>
        </p:spPr>
        <p:txBody>
          <a:bodyPr wrap="square" lIns="0" tIns="85090" rIns="0" bIns="0" rtlCol="0" vert="horz">
            <a:spAutoFit/>
          </a:bodyPr>
          <a:lstStyle/>
          <a:p>
            <a:pPr marL="38100">
              <a:lnSpc>
                <a:spcPct val="100000"/>
              </a:lnSpc>
              <a:spcBef>
                <a:spcPts val="670"/>
              </a:spcBef>
            </a:pPr>
            <a:r>
              <a:rPr dirty="0" sz="1100" b="1">
                <a:latin typeface="Microsoft YaHei"/>
                <a:cs typeface="Microsoft YaHei"/>
              </a:rPr>
              <a:t>64TR/32TR</a:t>
            </a:r>
            <a:r>
              <a:rPr dirty="0" sz="1100" spc="-5" b="1">
                <a:latin typeface="Microsoft YaHei"/>
                <a:cs typeface="Microsoft YaHei"/>
              </a:rPr>
              <a:t> </a:t>
            </a:r>
            <a:r>
              <a:rPr dirty="0" sz="1100" b="1">
                <a:latin typeface="Microsoft YaHei"/>
                <a:cs typeface="Microsoft YaHei"/>
              </a:rPr>
              <a:t>AAU</a:t>
            </a:r>
            <a:r>
              <a:rPr dirty="0" sz="1100" spc="-35" b="1">
                <a:latin typeface="Microsoft YaHei"/>
                <a:cs typeface="Microsoft YaHei"/>
              </a:rPr>
              <a:t>硬件成本</a:t>
            </a:r>
            <a:endParaRPr sz="1100">
              <a:latin typeface="Microsoft YaHei"/>
              <a:cs typeface="Microsoft YaHei"/>
            </a:endParaRPr>
          </a:p>
          <a:p>
            <a:pPr marL="67945">
              <a:lnSpc>
                <a:spcPct val="100000"/>
              </a:lnSpc>
              <a:spcBef>
                <a:spcPts val="570"/>
              </a:spcBef>
              <a:tabLst>
                <a:tab pos="747395" algn="l"/>
                <a:tab pos="1467485" algn="l"/>
              </a:tabLst>
            </a:pPr>
            <a:r>
              <a:rPr dirty="0" u="heavy" sz="1100" b="1">
                <a:uFill>
                  <a:solidFill>
                    <a:srgbClr val="FF0000"/>
                  </a:solidFill>
                </a:uFill>
                <a:latin typeface="Microsoft YaHei"/>
                <a:cs typeface="Microsoft YaHei"/>
              </a:rPr>
              <a:t>	</a:t>
            </a:r>
            <a:r>
              <a:rPr dirty="0" u="heavy" sz="1100" spc="-645" b="1">
                <a:uFill>
                  <a:solidFill>
                    <a:srgbClr val="FF0000"/>
                  </a:solidFill>
                </a:uFill>
                <a:latin typeface="Microsoft YaHei"/>
                <a:cs typeface="Microsoft YaHei"/>
              </a:rPr>
              <a:t>对</a:t>
            </a:r>
            <a:r>
              <a:rPr dirty="0" u="heavy" baseline="15432" sz="1350" spc="-412" b="1">
                <a:solidFill>
                  <a:srgbClr val="0070C0"/>
                </a:solidFill>
                <a:uFill>
                  <a:solidFill>
                    <a:srgbClr val="FF0000"/>
                  </a:solidFill>
                </a:uFill>
                <a:latin typeface="Microsoft YaHei"/>
                <a:cs typeface="Microsoft YaHei"/>
              </a:rPr>
              <a:t>基</a:t>
            </a:r>
            <a:r>
              <a:rPr dirty="0" u="heavy" sz="1100" spc="-840" b="1">
                <a:uFill>
                  <a:solidFill>
                    <a:srgbClr val="FF0000"/>
                  </a:solidFill>
                </a:uFill>
                <a:latin typeface="Microsoft YaHei"/>
                <a:cs typeface="Microsoft YaHei"/>
              </a:rPr>
              <a:t>比</a:t>
            </a:r>
            <a:r>
              <a:rPr dirty="0" u="heavy" baseline="15432" sz="1350" spc="-75" b="1">
                <a:solidFill>
                  <a:srgbClr val="0070C0"/>
                </a:solidFill>
                <a:uFill>
                  <a:solidFill>
                    <a:srgbClr val="FF0000"/>
                  </a:solidFill>
                </a:uFill>
                <a:latin typeface="Microsoft YaHei"/>
                <a:cs typeface="Microsoft YaHei"/>
              </a:rPr>
              <a:t>准</a:t>
            </a:r>
            <a:r>
              <a:rPr dirty="0" u="heavy" baseline="15432" sz="1350" b="1">
                <a:solidFill>
                  <a:srgbClr val="0070C0"/>
                </a:solidFill>
                <a:uFill>
                  <a:solidFill>
                    <a:srgbClr val="FF0000"/>
                  </a:solidFill>
                </a:uFill>
                <a:latin typeface="Microsoft YaHei"/>
                <a:cs typeface="Microsoft YaHei"/>
              </a:rPr>
              <a:t>	</a:t>
            </a:r>
            <a:endParaRPr baseline="15432" sz="1350">
              <a:latin typeface="Microsoft YaHei"/>
              <a:cs typeface="Microsoft YaHei"/>
            </a:endParaRPr>
          </a:p>
        </p:txBody>
      </p:sp>
      <p:grpSp>
        <p:nvGrpSpPr>
          <p:cNvPr id="51" name="object 51" descr=""/>
          <p:cNvGrpSpPr/>
          <p:nvPr/>
        </p:nvGrpSpPr>
        <p:grpSpPr>
          <a:xfrm>
            <a:off x="1298257" y="3384613"/>
            <a:ext cx="1254760" cy="464184"/>
            <a:chOff x="1298257" y="3384613"/>
            <a:chExt cx="1254760" cy="464184"/>
          </a:xfrm>
        </p:grpSpPr>
        <p:sp>
          <p:nvSpPr>
            <p:cNvPr id="52" name="object 52" descr=""/>
            <p:cNvSpPr/>
            <p:nvPr/>
          </p:nvSpPr>
          <p:spPr>
            <a:xfrm>
              <a:off x="1303019" y="3616452"/>
              <a:ext cx="1245235" cy="0"/>
            </a:xfrm>
            <a:custGeom>
              <a:avLst/>
              <a:gdLst/>
              <a:ahLst/>
              <a:cxnLst/>
              <a:rect l="l" t="t" r="r" b="b"/>
              <a:pathLst>
                <a:path w="1245235" h="0">
                  <a:moveTo>
                    <a:pt x="0" y="0"/>
                  </a:moveTo>
                  <a:lnTo>
                    <a:pt x="755904" y="0"/>
                  </a:lnTo>
                </a:path>
                <a:path w="1245235" h="0">
                  <a:moveTo>
                    <a:pt x="1111758" y="0"/>
                  </a:moveTo>
                  <a:lnTo>
                    <a:pt x="1245108" y="0"/>
                  </a:lnTo>
                </a:path>
              </a:pathLst>
            </a:custGeom>
            <a:ln w="9143">
              <a:solidFill>
                <a:srgbClr val="878787"/>
              </a:solidFill>
            </a:ln>
          </p:spPr>
          <p:txBody>
            <a:bodyPr wrap="square" lIns="0" tIns="0" rIns="0" bIns="0" rtlCol="0"/>
            <a:lstStyle/>
            <a:p/>
          </p:txBody>
        </p:sp>
        <p:sp>
          <p:nvSpPr>
            <p:cNvPr id="53" name="object 53" descr=""/>
            <p:cNvSpPr/>
            <p:nvPr/>
          </p:nvSpPr>
          <p:spPr>
            <a:xfrm>
              <a:off x="1436370" y="3595115"/>
              <a:ext cx="801370" cy="248920"/>
            </a:xfrm>
            <a:custGeom>
              <a:avLst/>
              <a:gdLst/>
              <a:ahLst/>
              <a:cxnLst/>
              <a:rect l="l" t="t" r="r" b="b"/>
              <a:pathLst>
                <a:path w="801369" h="248920">
                  <a:moveTo>
                    <a:pt x="177546" y="135636"/>
                  </a:moveTo>
                  <a:lnTo>
                    <a:pt x="0" y="135636"/>
                  </a:lnTo>
                  <a:lnTo>
                    <a:pt x="0" y="248412"/>
                  </a:lnTo>
                  <a:lnTo>
                    <a:pt x="177546" y="248412"/>
                  </a:lnTo>
                  <a:lnTo>
                    <a:pt x="177546" y="135636"/>
                  </a:lnTo>
                  <a:close/>
                </a:path>
                <a:path w="801369" h="248920">
                  <a:moveTo>
                    <a:pt x="800862" y="0"/>
                  </a:moveTo>
                  <a:lnTo>
                    <a:pt x="622554" y="0"/>
                  </a:lnTo>
                  <a:lnTo>
                    <a:pt x="622554" y="248412"/>
                  </a:lnTo>
                  <a:lnTo>
                    <a:pt x="800862" y="248412"/>
                  </a:lnTo>
                  <a:lnTo>
                    <a:pt x="800862" y="0"/>
                  </a:lnTo>
                  <a:close/>
                </a:path>
              </a:pathLst>
            </a:custGeom>
            <a:solidFill>
              <a:srgbClr val="BBE0E3"/>
            </a:solidFill>
          </p:spPr>
          <p:txBody>
            <a:bodyPr wrap="square" lIns="0" tIns="0" rIns="0" bIns="0" rtlCol="0"/>
            <a:lstStyle/>
            <a:p/>
          </p:txBody>
        </p:sp>
        <p:sp>
          <p:nvSpPr>
            <p:cNvPr id="54" name="object 54" descr=""/>
            <p:cNvSpPr/>
            <p:nvPr/>
          </p:nvSpPr>
          <p:spPr>
            <a:xfrm>
              <a:off x="1613916" y="3477767"/>
              <a:ext cx="801370" cy="365760"/>
            </a:xfrm>
            <a:custGeom>
              <a:avLst/>
              <a:gdLst/>
              <a:ahLst/>
              <a:cxnLst/>
              <a:rect l="l" t="t" r="r" b="b"/>
              <a:pathLst>
                <a:path w="801369" h="365760">
                  <a:moveTo>
                    <a:pt x="178308" y="220980"/>
                  </a:moveTo>
                  <a:lnTo>
                    <a:pt x="0" y="220980"/>
                  </a:lnTo>
                  <a:lnTo>
                    <a:pt x="0" y="365760"/>
                  </a:lnTo>
                  <a:lnTo>
                    <a:pt x="178308" y="365760"/>
                  </a:lnTo>
                  <a:lnTo>
                    <a:pt x="178308" y="220980"/>
                  </a:lnTo>
                  <a:close/>
                </a:path>
                <a:path w="801369" h="365760">
                  <a:moveTo>
                    <a:pt x="800862" y="0"/>
                  </a:moveTo>
                  <a:lnTo>
                    <a:pt x="623316" y="0"/>
                  </a:lnTo>
                  <a:lnTo>
                    <a:pt x="623316" y="365760"/>
                  </a:lnTo>
                  <a:lnTo>
                    <a:pt x="800862" y="365760"/>
                  </a:lnTo>
                  <a:lnTo>
                    <a:pt x="800862" y="0"/>
                  </a:lnTo>
                  <a:close/>
                </a:path>
              </a:pathLst>
            </a:custGeom>
            <a:solidFill>
              <a:srgbClr val="0065B0"/>
            </a:solidFill>
          </p:spPr>
          <p:txBody>
            <a:bodyPr wrap="square" lIns="0" tIns="0" rIns="0" bIns="0" rtlCol="0"/>
            <a:lstStyle/>
            <a:p/>
          </p:txBody>
        </p:sp>
        <p:sp>
          <p:nvSpPr>
            <p:cNvPr id="55" name="object 55" descr=""/>
            <p:cNvSpPr/>
            <p:nvPr/>
          </p:nvSpPr>
          <p:spPr>
            <a:xfrm>
              <a:off x="1303019" y="3389376"/>
              <a:ext cx="1245235" cy="454659"/>
            </a:xfrm>
            <a:custGeom>
              <a:avLst/>
              <a:gdLst/>
              <a:ahLst/>
              <a:cxnLst/>
              <a:rect l="l" t="t" r="r" b="b"/>
              <a:pathLst>
                <a:path w="1245235" h="454660">
                  <a:moveTo>
                    <a:pt x="0" y="454152"/>
                  </a:moveTo>
                  <a:lnTo>
                    <a:pt x="0" y="0"/>
                  </a:lnTo>
                </a:path>
                <a:path w="1245235" h="454660">
                  <a:moveTo>
                    <a:pt x="0" y="454152"/>
                  </a:moveTo>
                  <a:lnTo>
                    <a:pt x="1245108" y="454152"/>
                  </a:lnTo>
                </a:path>
              </a:pathLst>
            </a:custGeom>
            <a:ln w="9144">
              <a:solidFill>
                <a:srgbClr val="878787"/>
              </a:solidFill>
            </a:ln>
          </p:spPr>
          <p:txBody>
            <a:bodyPr wrap="square" lIns="0" tIns="0" rIns="0" bIns="0" rtlCol="0"/>
            <a:lstStyle/>
            <a:p/>
          </p:txBody>
        </p:sp>
      </p:grpSp>
      <p:sp>
        <p:nvSpPr>
          <p:cNvPr id="56" name="object 56" descr=""/>
          <p:cNvSpPr txBox="1"/>
          <p:nvPr/>
        </p:nvSpPr>
        <p:spPr>
          <a:xfrm>
            <a:off x="2023184" y="3339163"/>
            <a:ext cx="249554" cy="178435"/>
          </a:xfrm>
          <a:prstGeom prst="rect">
            <a:avLst/>
          </a:prstGeom>
        </p:spPr>
        <p:txBody>
          <a:bodyPr wrap="square" lIns="0" tIns="12700" rIns="0" bIns="0" rtlCol="0" vert="horz">
            <a:spAutoFit/>
          </a:bodyPr>
          <a:lstStyle/>
          <a:p>
            <a:pPr marL="12700">
              <a:lnSpc>
                <a:spcPct val="100000"/>
              </a:lnSpc>
              <a:spcBef>
                <a:spcPts val="100"/>
              </a:spcBef>
            </a:pPr>
            <a:r>
              <a:rPr dirty="0" sz="1000" spc="-25">
                <a:latin typeface="Microsoft YaHei"/>
                <a:cs typeface="Microsoft YaHei"/>
              </a:rPr>
              <a:t>548</a:t>
            </a:r>
            <a:endParaRPr sz="1000">
              <a:latin typeface="Microsoft YaHei"/>
              <a:cs typeface="Microsoft YaHei"/>
            </a:endParaRPr>
          </a:p>
        </p:txBody>
      </p:sp>
      <p:sp>
        <p:nvSpPr>
          <p:cNvPr id="57" name="object 57" descr=""/>
          <p:cNvSpPr txBox="1"/>
          <p:nvPr/>
        </p:nvSpPr>
        <p:spPr>
          <a:xfrm>
            <a:off x="1375003" y="3442748"/>
            <a:ext cx="478155" cy="178435"/>
          </a:xfrm>
          <a:prstGeom prst="rect">
            <a:avLst/>
          </a:prstGeom>
        </p:spPr>
        <p:txBody>
          <a:bodyPr wrap="square" lIns="0" tIns="12700" rIns="0" bIns="0" rtlCol="0" vert="horz">
            <a:spAutoFit/>
          </a:bodyPr>
          <a:lstStyle/>
          <a:p>
            <a:pPr marL="38100">
              <a:lnSpc>
                <a:spcPct val="100000"/>
              </a:lnSpc>
              <a:spcBef>
                <a:spcPts val="100"/>
              </a:spcBef>
            </a:pPr>
            <a:r>
              <a:rPr dirty="0" baseline="-13888" sz="1500" spc="-37">
                <a:latin typeface="Microsoft YaHei"/>
                <a:cs typeface="Microsoft YaHei"/>
              </a:rPr>
              <a:t>249</a:t>
            </a:r>
            <a:r>
              <a:rPr dirty="0" sz="1000" spc="-25">
                <a:latin typeface="Microsoft YaHei"/>
                <a:cs typeface="Microsoft YaHei"/>
              </a:rPr>
              <a:t>320</a:t>
            </a:r>
            <a:endParaRPr sz="1000">
              <a:latin typeface="Microsoft YaHei"/>
              <a:cs typeface="Microsoft YaHei"/>
            </a:endParaRPr>
          </a:p>
        </p:txBody>
      </p:sp>
      <p:sp>
        <p:nvSpPr>
          <p:cNvPr id="58" name="object 58" descr=""/>
          <p:cNvSpPr txBox="1"/>
          <p:nvPr/>
        </p:nvSpPr>
        <p:spPr>
          <a:xfrm>
            <a:off x="1290319" y="3222471"/>
            <a:ext cx="1270635" cy="178435"/>
          </a:xfrm>
          <a:prstGeom prst="rect">
            <a:avLst/>
          </a:prstGeom>
        </p:spPr>
        <p:txBody>
          <a:bodyPr wrap="square" lIns="0" tIns="12700" rIns="0" bIns="0" rtlCol="0" vert="horz">
            <a:spAutoFit/>
          </a:bodyPr>
          <a:lstStyle/>
          <a:p>
            <a:pPr marL="12700">
              <a:lnSpc>
                <a:spcPct val="100000"/>
              </a:lnSpc>
              <a:spcBef>
                <a:spcPts val="100"/>
              </a:spcBef>
              <a:tabLst>
                <a:tab pos="923290" algn="l"/>
              </a:tabLst>
            </a:pPr>
            <a:r>
              <a:rPr dirty="0" u="sng" sz="1000">
                <a:uFill>
                  <a:solidFill>
                    <a:srgbClr val="878787"/>
                  </a:solidFill>
                </a:uFill>
                <a:latin typeface="Microsoft YaHei"/>
                <a:cs typeface="Microsoft YaHei"/>
              </a:rPr>
              <a:t>	</a:t>
            </a:r>
            <a:r>
              <a:rPr dirty="0" u="sng" sz="1000" spc="-25">
                <a:uFill>
                  <a:solidFill>
                    <a:srgbClr val="878787"/>
                  </a:solidFill>
                </a:uFill>
                <a:latin typeface="Microsoft YaHei"/>
                <a:cs typeface="Microsoft YaHei"/>
              </a:rPr>
              <a:t>805</a:t>
            </a:r>
            <a:r>
              <a:rPr dirty="0" u="sng" sz="1000" spc="500">
                <a:uFill>
                  <a:solidFill>
                    <a:srgbClr val="878787"/>
                  </a:solidFill>
                </a:uFill>
                <a:latin typeface="Microsoft YaHei"/>
                <a:cs typeface="Microsoft YaHei"/>
              </a:rPr>
              <a:t> </a:t>
            </a:r>
            <a:endParaRPr sz="1000">
              <a:latin typeface="Microsoft YaHei"/>
              <a:cs typeface="Microsoft YaHei"/>
            </a:endParaRPr>
          </a:p>
        </p:txBody>
      </p:sp>
      <p:sp>
        <p:nvSpPr>
          <p:cNvPr id="59" name="object 59" descr=""/>
          <p:cNvSpPr txBox="1"/>
          <p:nvPr/>
        </p:nvSpPr>
        <p:spPr>
          <a:xfrm>
            <a:off x="897750" y="3217254"/>
            <a:ext cx="309245" cy="707390"/>
          </a:xfrm>
          <a:prstGeom prst="rect">
            <a:avLst/>
          </a:prstGeom>
        </p:spPr>
        <p:txBody>
          <a:bodyPr wrap="square" lIns="0" tIns="86995" rIns="0" bIns="0" rtlCol="0" vert="horz">
            <a:spAutoFit/>
          </a:bodyPr>
          <a:lstStyle/>
          <a:p>
            <a:pPr algn="r" marR="5080">
              <a:lnSpc>
                <a:spcPct val="100000"/>
              </a:lnSpc>
              <a:spcBef>
                <a:spcPts val="685"/>
              </a:spcBef>
            </a:pPr>
            <a:r>
              <a:rPr dirty="0" sz="1000" spc="-20">
                <a:latin typeface="Arial MT"/>
                <a:cs typeface="Arial MT"/>
              </a:rPr>
              <a:t>1000</a:t>
            </a:r>
            <a:endParaRPr sz="1000">
              <a:latin typeface="Arial MT"/>
              <a:cs typeface="Arial MT"/>
            </a:endParaRPr>
          </a:p>
          <a:p>
            <a:pPr algn="r" marR="5080">
              <a:lnSpc>
                <a:spcPct val="100000"/>
              </a:lnSpc>
              <a:spcBef>
                <a:spcPts val="590"/>
              </a:spcBef>
            </a:pPr>
            <a:r>
              <a:rPr dirty="0" sz="1000" spc="-25">
                <a:latin typeface="Arial MT"/>
                <a:cs typeface="Arial MT"/>
              </a:rPr>
              <a:t>500</a:t>
            </a:r>
            <a:endParaRPr sz="1000">
              <a:latin typeface="Arial MT"/>
              <a:cs typeface="Arial MT"/>
            </a:endParaRPr>
          </a:p>
          <a:p>
            <a:pPr algn="r" marR="5715">
              <a:lnSpc>
                <a:spcPct val="100000"/>
              </a:lnSpc>
              <a:spcBef>
                <a:spcPts val="590"/>
              </a:spcBef>
            </a:pPr>
            <a:r>
              <a:rPr dirty="0" sz="1000" spc="-50">
                <a:latin typeface="Arial MT"/>
                <a:cs typeface="Arial MT"/>
              </a:rPr>
              <a:t>0</a:t>
            </a:r>
            <a:endParaRPr sz="1000">
              <a:latin typeface="Arial MT"/>
              <a:cs typeface="Arial MT"/>
            </a:endParaRPr>
          </a:p>
        </p:txBody>
      </p:sp>
      <p:grpSp>
        <p:nvGrpSpPr>
          <p:cNvPr id="60" name="object 60" descr=""/>
          <p:cNvGrpSpPr/>
          <p:nvPr/>
        </p:nvGrpSpPr>
        <p:grpSpPr>
          <a:xfrm>
            <a:off x="1433271" y="3659123"/>
            <a:ext cx="1380490" cy="571500"/>
            <a:chOff x="1433271" y="3659123"/>
            <a:chExt cx="1380490" cy="571500"/>
          </a:xfrm>
        </p:grpSpPr>
        <p:pic>
          <p:nvPicPr>
            <p:cNvPr id="61" name="object 61" descr=""/>
            <p:cNvPicPr/>
            <p:nvPr/>
          </p:nvPicPr>
          <p:blipFill>
            <a:blip r:embed="rId2" cstate="print"/>
            <a:stretch>
              <a:fillRect/>
            </a:stretch>
          </p:blipFill>
          <p:spPr>
            <a:xfrm>
              <a:off x="1433271" y="3972469"/>
              <a:ext cx="280799" cy="257617"/>
            </a:xfrm>
            <a:prstGeom prst="rect">
              <a:avLst/>
            </a:prstGeom>
          </p:spPr>
        </p:pic>
        <p:pic>
          <p:nvPicPr>
            <p:cNvPr id="62" name="object 62" descr=""/>
            <p:cNvPicPr/>
            <p:nvPr/>
          </p:nvPicPr>
          <p:blipFill>
            <a:blip r:embed="rId3" cstate="print"/>
            <a:stretch>
              <a:fillRect/>
            </a:stretch>
          </p:blipFill>
          <p:spPr>
            <a:xfrm>
              <a:off x="2027373" y="3972469"/>
              <a:ext cx="309531" cy="227728"/>
            </a:xfrm>
            <a:prstGeom prst="rect">
              <a:avLst/>
            </a:prstGeom>
          </p:spPr>
        </p:pic>
        <p:sp>
          <p:nvSpPr>
            <p:cNvPr id="63" name="object 63" descr=""/>
            <p:cNvSpPr/>
            <p:nvPr/>
          </p:nvSpPr>
          <p:spPr>
            <a:xfrm>
              <a:off x="2748533" y="3659123"/>
              <a:ext cx="64769" cy="64769"/>
            </a:xfrm>
            <a:custGeom>
              <a:avLst/>
              <a:gdLst/>
              <a:ahLst/>
              <a:cxnLst/>
              <a:rect l="l" t="t" r="r" b="b"/>
              <a:pathLst>
                <a:path w="64769" h="64770">
                  <a:moveTo>
                    <a:pt x="64769" y="0"/>
                  </a:moveTo>
                  <a:lnTo>
                    <a:pt x="0" y="0"/>
                  </a:lnTo>
                  <a:lnTo>
                    <a:pt x="0" y="64769"/>
                  </a:lnTo>
                  <a:lnTo>
                    <a:pt x="64769" y="64769"/>
                  </a:lnTo>
                  <a:lnTo>
                    <a:pt x="64769" y="0"/>
                  </a:lnTo>
                  <a:close/>
                </a:path>
              </a:pathLst>
            </a:custGeom>
            <a:solidFill>
              <a:srgbClr val="BBE0E3"/>
            </a:solidFill>
          </p:spPr>
          <p:txBody>
            <a:bodyPr wrap="square" lIns="0" tIns="0" rIns="0" bIns="0" rtlCol="0"/>
            <a:lstStyle/>
            <a:p/>
          </p:txBody>
        </p:sp>
        <p:sp>
          <p:nvSpPr>
            <p:cNvPr id="64" name="object 64" descr=""/>
            <p:cNvSpPr/>
            <p:nvPr/>
          </p:nvSpPr>
          <p:spPr>
            <a:xfrm>
              <a:off x="2748533" y="3876293"/>
              <a:ext cx="64769" cy="64769"/>
            </a:xfrm>
            <a:custGeom>
              <a:avLst/>
              <a:gdLst/>
              <a:ahLst/>
              <a:cxnLst/>
              <a:rect l="l" t="t" r="r" b="b"/>
              <a:pathLst>
                <a:path w="64769" h="64770">
                  <a:moveTo>
                    <a:pt x="64769" y="0"/>
                  </a:moveTo>
                  <a:lnTo>
                    <a:pt x="0" y="0"/>
                  </a:lnTo>
                  <a:lnTo>
                    <a:pt x="0" y="64769"/>
                  </a:lnTo>
                  <a:lnTo>
                    <a:pt x="64769" y="64769"/>
                  </a:lnTo>
                  <a:lnTo>
                    <a:pt x="64769" y="0"/>
                  </a:lnTo>
                  <a:close/>
                </a:path>
              </a:pathLst>
            </a:custGeom>
            <a:solidFill>
              <a:srgbClr val="0065B0"/>
            </a:solidFill>
          </p:spPr>
          <p:txBody>
            <a:bodyPr wrap="square" lIns="0" tIns="0" rIns="0" bIns="0" rtlCol="0"/>
            <a:lstStyle/>
            <a:p/>
          </p:txBody>
        </p:sp>
      </p:grpSp>
      <p:sp>
        <p:nvSpPr>
          <p:cNvPr id="65" name="object 65" descr=""/>
          <p:cNvSpPr txBox="1"/>
          <p:nvPr/>
        </p:nvSpPr>
        <p:spPr>
          <a:xfrm>
            <a:off x="1233402" y="3014150"/>
            <a:ext cx="1640839" cy="193040"/>
          </a:xfrm>
          <a:prstGeom prst="rect">
            <a:avLst/>
          </a:prstGeom>
        </p:spPr>
        <p:txBody>
          <a:bodyPr wrap="square" lIns="0" tIns="12065" rIns="0" bIns="0" rtlCol="0" vert="horz">
            <a:spAutoFit/>
          </a:bodyPr>
          <a:lstStyle/>
          <a:p>
            <a:pPr marL="12700">
              <a:lnSpc>
                <a:spcPct val="100000"/>
              </a:lnSpc>
              <a:spcBef>
                <a:spcPts val="95"/>
              </a:spcBef>
            </a:pPr>
            <a:r>
              <a:rPr dirty="0" sz="1100" spc="-10" b="1">
                <a:latin typeface="Microsoft YaHei"/>
                <a:cs typeface="Microsoft YaHei"/>
              </a:rPr>
              <a:t>64TR/32TR</a:t>
            </a:r>
            <a:r>
              <a:rPr dirty="0" sz="1100" spc="-25" b="1">
                <a:latin typeface="Microsoft YaHei"/>
                <a:cs typeface="Microsoft YaHei"/>
              </a:rPr>
              <a:t>小区容量对比</a:t>
            </a:r>
            <a:endParaRPr sz="1100">
              <a:latin typeface="Microsoft YaHei"/>
              <a:cs typeface="Microsoft YaHei"/>
            </a:endParaRPr>
          </a:p>
        </p:txBody>
      </p:sp>
      <p:sp>
        <p:nvSpPr>
          <p:cNvPr id="66" name="object 66" descr=""/>
          <p:cNvSpPr txBox="1"/>
          <p:nvPr/>
        </p:nvSpPr>
        <p:spPr>
          <a:xfrm>
            <a:off x="2827046" y="3531594"/>
            <a:ext cx="337185" cy="459105"/>
          </a:xfrm>
          <a:prstGeom prst="rect">
            <a:avLst/>
          </a:prstGeom>
        </p:spPr>
        <p:txBody>
          <a:bodyPr wrap="square" lIns="0" tIns="76835" rIns="0" bIns="0" rtlCol="0" vert="horz">
            <a:spAutoFit/>
          </a:bodyPr>
          <a:lstStyle/>
          <a:p>
            <a:pPr marL="12700">
              <a:lnSpc>
                <a:spcPct val="100000"/>
              </a:lnSpc>
              <a:spcBef>
                <a:spcPts val="605"/>
              </a:spcBef>
            </a:pPr>
            <a:r>
              <a:rPr dirty="0" sz="1000" spc="-20">
                <a:latin typeface="Arial MT"/>
                <a:cs typeface="Arial MT"/>
              </a:rPr>
              <a:t>32TR</a:t>
            </a:r>
            <a:endParaRPr sz="1000">
              <a:latin typeface="Arial MT"/>
              <a:cs typeface="Arial MT"/>
            </a:endParaRPr>
          </a:p>
          <a:p>
            <a:pPr marL="12700">
              <a:lnSpc>
                <a:spcPct val="100000"/>
              </a:lnSpc>
              <a:spcBef>
                <a:spcPts val="505"/>
              </a:spcBef>
            </a:pPr>
            <a:r>
              <a:rPr dirty="0" sz="1000" spc="-20">
                <a:latin typeface="Arial MT"/>
                <a:cs typeface="Arial MT"/>
              </a:rPr>
              <a:t>64TR</a:t>
            </a:r>
            <a:endParaRPr sz="1000">
              <a:latin typeface="Arial MT"/>
              <a:cs typeface="Arial MT"/>
            </a:endParaRPr>
          </a:p>
        </p:txBody>
      </p:sp>
      <p:sp>
        <p:nvSpPr>
          <p:cNvPr id="67" name="object 67" descr=""/>
          <p:cNvSpPr/>
          <p:nvPr/>
        </p:nvSpPr>
        <p:spPr>
          <a:xfrm>
            <a:off x="7534656" y="1542288"/>
            <a:ext cx="140335" cy="0"/>
          </a:xfrm>
          <a:custGeom>
            <a:avLst/>
            <a:gdLst/>
            <a:ahLst/>
            <a:cxnLst/>
            <a:rect l="l" t="t" r="r" b="b"/>
            <a:pathLst>
              <a:path w="140334" h="0">
                <a:moveTo>
                  <a:pt x="0" y="0"/>
                </a:moveTo>
                <a:lnTo>
                  <a:pt x="140208" y="0"/>
                </a:lnTo>
              </a:path>
            </a:pathLst>
          </a:custGeom>
          <a:ln w="9144">
            <a:solidFill>
              <a:srgbClr val="878787"/>
            </a:solidFill>
          </a:ln>
        </p:spPr>
        <p:txBody>
          <a:bodyPr wrap="square" lIns="0" tIns="0" rIns="0" bIns="0" rtlCol="0"/>
          <a:lstStyle/>
          <a:p/>
        </p:txBody>
      </p:sp>
      <p:grpSp>
        <p:nvGrpSpPr>
          <p:cNvPr id="68" name="object 68" descr=""/>
          <p:cNvGrpSpPr/>
          <p:nvPr/>
        </p:nvGrpSpPr>
        <p:grpSpPr>
          <a:xfrm>
            <a:off x="6359652" y="1288541"/>
            <a:ext cx="1315720" cy="506730"/>
            <a:chOff x="6359652" y="1288541"/>
            <a:chExt cx="1315720" cy="506730"/>
          </a:xfrm>
        </p:grpSpPr>
        <p:sp>
          <p:nvSpPr>
            <p:cNvPr id="69" name="object 69" descr=""/>
            <p:cNvSpPr/>
            <p:nvPr/>
          </p:nvSpPr>
          <p:spPr>
            <a:xfrm>
              <a:off x="6364224" y="1542287"/>
              <a:ext cx="796290" cy="0"/>
            </a:xfrm>
            <a:custGeom>
              <a:avLst/>
              <a:gdLst/>
              <a:ahLst/>
              <a:cxnLst/>
              <a:rect l="l" t="t" r="r" b="b"/>
              <a:pathLst>
                <a:path w="796290" h="0">
                  <a:moveTo>
                    <a:pt x="0" y="0"/>
                  </a:moveTo>
                  <a:lnTo>
                    <a:pt x="796290" y="0"/>
                  </a:lnTo>
                </a:path>
              </a:pathLst>
            </a:custGeom>
            <a:ln w="9144">
              <a:solidFill>
                <a:srgbClr val="878787"/>
              </a:solidFill>
            </a:ln>
          </p:spPr>
          <p:txBody>
            <a:bodyPr wrap="square" lIns="0" tIns="0" rIns="0" bIns="0" rtlCol="0"/>
            <a:lstStyle/>
            <a:p/>
          </p:txBody>
        </p:sp>
        <p:sp>
          <p:nvSpPr>
            <p:cNvPr id="70" name="object 70" descr=""/>
            <p:cNvSpPr/>
            <p:nvPr/>
          </p:nvSpPr>
          <p:spPr>
            <a:xfrm>
              <a:off x="6364224" y="1293113"/>
              <a:ext cx="1310640" cy="0"/>
            </a:xfrm>
            <a:custGeom>
              <a:avLst/>
              <a:gdLst/>
              <a:ahLst/>
              <a:cxnLst/>
              <a:rect l="l" t="t" r="r" b="b"/>
              <a:pathLst>
                <a:path w="1310640" h="0">
                  <a:moveTo>
                    <a:pt x="0" y="0"/>
                  </a:moveTo>
                  <a:lnTo>
                    <a:pt x="1310640" y="0"/>
                  </a:lnTo>
                </a:path>
              </a:pathLst>
            </a:custGeom>
            <a:ln w="9144">
              <a:solidFill>
                <a:srgbClr val="878787"/>
              </a:solidFill>
            </a:ln>
          </p:spPr>
          <p:txBody>
            <a:bodyPr wrap="square" lIns="0" tIns="0" rIns="0" bIns="0" rtlCol="0"/>
            <a:lstStyle/>
            <a:p/>
          </p:txBody>
        </p:sp>
        <p:sp>
          <p:nvSpPr>
            <p:cNvPr id="71" name="object 71" descr=""/>
            <p:cNvSpPr/>
            <p:nvPr/>
          </p:nvSpPr>
          <p:spPr>
            <a:xfrm>
              <a:off x="6505194" y="1492757"/>
              <a:ext cx="842010" cy="298450"/>
            </a:xfrm>
            <a:custGeom>
              <a:avLst/>
              <a:gdLst/>
              <a:ahLst/>
              <a:cxnLst/>
              <a:rect l="l" t="t" r="r" b="b"/>
              <a:pathLst>
                <a:path w="842009" h="298450">
                  <a:moveTo>
                    <a:pt x="186690" y="240030"/>
                  </a:moveTo>
                  <a:lnTo>
                    <a:pt x="0" y="240030"/>
                  </a:lnTo>
                  <a:lnTo>
                    <a:pt x="0" y="297942"/>
                  </a:lnTo>
                  <a:lnTo>
                    <a:pt x="186690" y="297942"/>
                  </a:lnTo>
                  <a:lnTo>
                    <a:pt x="186690" y="240030"/>
                  </a:lnTo>
                  <a:close/>
                </a:path>
                <a:path w="842009" h="298450">
                  <a:moveTo>
                    <a:pt x="842010" y="0"/>
                  </a:moveTo>
                  <a:lnTo>
                    <a:pt x="655320" y="0"/>
                  </a:lnTo>
                  <a:lnTo>
                    <a:pt x="655320" y="297942"/>
                  </a:lnTo>
                  <a:lnTo>
                    <a:pt x="842010" y="297942"/>
                  </a:lnTo>
                  <a:lnTo>
                    <a:pt x="842010" y="0"/>
                  </a:lnTo>
                  <a:close/>
                </a:path>
              </a:pathLst>
            </a:custGeom>
            <a:solidFill>
              <a:srgbClr val="BBE0E3"/>
            </a:solidFill>
          </p:spPr>
          <p:txBody>
            <a:bodyPr wrap="square" lIns="0" tIns="0" rIns="0" bIns="0" rtlCol="0"/>
            <a:lstStyle/>
            <a:p/>
          </p:txBody>
        </p:sp>
        <p:sp>
          <p:nvSpPr>
            <p:cNvPr id="72" name="object 72" descr=""/>
            <p:cNvSpPr/>
            <p:nvPr/>
          </p:nvSpPr>
          <p:spPr>
            <a:xfrm>
              <a:off x="6691884" y="1732787"/>
              <a:ext cx="187960" cy="58419"/>
            </a:xfrm>
            <a:custGeom>
              <a:avLst/>
              <a:gdLst/>
              <a:ahLst/>
              <a:cxnLst/>
              <a:rect l="l" t="t" r="r" b="b"/>
              <a:pathLst>
                <a:path w="187959" h="58419">
                  <a:moveTo>
                    <a:pt x="187451" y="0"/>
                  </a:moveTo>
                  <a:lnTo>
                    <a:pt x="0" y="0"/>
                  </a:lnTo>
                  <a:lnTo>
                    <a:pt x="0" y="57912"/>
                  </a:lnTo>
                  <a:lnTo>
                    <a:pt x="187451" y="57912"/>
                  </a:lnTo>
                  <a:lnTo>
                    <a:pt x="187451" y="0"/>
                  </a:lnTo>
                  <a:close/>
                </a:path>
              </a:pathLst>
            </a:custGeom>
            <a:solidFill>
              <a:srgbClr val="0065B0"/>
            </a:solidFill>
          </p:spPr>
          <p:txBody>
            <a:bodyPr wrap="square" lIns="0" tIns="0" rIns="0" bIns="0" rtlCol="0"/>
            <a:lstStyle/>
            <a:p/>
          </p:txBody>
        </p:sp>
        <p:sp>
          <p:nvSpPr>
            <p:cNvPr id="73" name="object 73" descr=""/>
            <p:cNvSpPr/>
            <p:nvPr/>
          </p:nvSpPr>
          <p:spPr>
            <a:xfrm>
              <a:off x="6364224" y="1293113"/>
              <a:ext cx="1310640" cy="497840"/>
            </a:xfrm>
            <a:custGeom>
              <a:avLst/>
              <a:gdLst/>
              <a:ahLst/>
              <a:cxnLst/>
              <a:rect l="l" t="t" r="r" b="b"/>
              <a:pathLst>
                <a:path w="1310640" h="497839">
                  <a:moveTo>
                    <a:pt x="0" y="497586"/>
                  </a:moveTo>
                  <a:lnTo>
                    <a:pt x="0" y="0"/>
                  </a:lnTo>
                </a:path>
                <a:path w="1310640" h="497839">
                  <a:moveTo>
                    <a:pt x="0" y="497586"/>
                  </a:moveTo>
                  <a:lnTo>
                    <a:pt x="1310640" y="497586"/>
                  </a:lnTo>
                </a:path>
              </a:pathLst>
            </a:custGeom>
            <a:ln w="9144">
              <a:solidFill>
                <a:srgbClr val="878787"/>
              </a:solidFill>
            </a:ln>
          </p:spPr>
          <p:txBody>
            <a:bodyPr wrap="square" lIns="0" tIns="0" rIns="0" bIns="0" rtlCol="0"/>
            <a:lstStyle/>
            <a:p/>
          </p:txBody>
        </p:sp>
      </p:grpSp>
      <p:sp>
        <p:nvSpPr>
          <p:cNvPr id="74" name="object 74" descr=""/>
          <p:cNvSpPr txBox="1"/>
          <p:nvPr/>
        </p:nvSpPr>
        <p:spPr>
          <a:xfrm>
            <a:off x="7091672" y="1236961"/>
            <a:ext cx="249554" cy="178435"/>
          </a:xfrm>
          <a:prstGeom prst="rect">
            <a:avLst/>
          </a:prstGeom>
        </p:spPr>
        <p:txBody>
          <a:bodyPr wrap="square" lIns="0" tIns="12700" rIns="0" bIns="0" rtlCol="0" vert="horz">
            <a:spAutoFit/>
          </a:bodyPr>
          <a:lstStyle/>
          <a:p>
            <a:pPr marL="12700">
              <a:lnSpc>
                <a:spcPct val="100000"/>
              </a:lnSpc>
              <a:spcBef>
                <a:spcPts val="100"/>
              </a:spcBef>
            </a:pPr>
            <a:r>
              <a:rPr dirty="0" sz="1000" spc="-25">
                <a:latin typeface="Microsoft YaHei"/>
                <a:cs typeface="Microsoft YaHei"/>
              </a:rPr>
              <a:t>599</a:t>
            </a:r>
            <a:endParaRPr sz="1000">
              <a:latin typeface="Microsoft YaHei"/>
              <a:cs typeface="Microsoft YaHei"/>
            </a:endParaRPr>
          </a:p>
        </p:txBody>
      </p:sp>
      <p:sp>
        <p:nvSpPr>
          <p:cNvPr id="75" name="object 75" descr=""/>
          <p:cNvSpPr txBox="1"/>
          <p:nvPr/>
        </p:nvSpPr>
        <p:spPr>
          <a:xfrm>
            <a:off x="7347204" y="1297686"/>
            <a:ext cx="187960" cy="488950"/>
          </a:xfrm>
          <a:prstGeom prst="rect">
            <a:avLst/>
          </a:prstGeom>
          <a:solidFill>
            <a:srgbClr val="0065B0"/>
          </a:solidFill>
        </p:spPr>
        <p:txBody>
          <a:bodyPr wrap="square" lIns="0" tIns="0" rIns="0" bIns="0" rtlCol="0" vert="horz">
            <a:spAutoFit/>
          </a:bodyPr>
          <a:lstStyle/>
          <a:p>
            <a:pPr>
              <a:lnSpc>
                <a:spcPts val="825"/>
              </a:lnSpc>
            </a:pPr>
            <a:r>
              <a:rPr dirty="0" sz="1000" spc="-50">
                <a:latin typeface="Microsoft YaHei"/>
                <a:cs typeface="Microsoft YaHei"/>
              </a:rPr>
              <a:t>2</a:t>
            </a:r>
            <a:endParaRPr sz="1000">
              <a:latin typeface="Microsoft YaHei"/>
              <a:cs typeface="Microsoft YaHei"/>
            </a:endParaRPr>
          </a:p>
        </p:txBody>
      </p:sp>
      <p:sp>
        <p:nvSpPr>
          <p:cNvPr id="76" name="object 76" descr=""/>
          <p:cNvSpPr txBox="1"/>
          <p:nvPr/>
        </p:nvSpPr>
        <p:spPr>
          <a:xfrm>
            <a:off x="6436314" y="1477089"/>
            <a:ext cx="511809" cy="178435"/>
          </a:xfrm>
          <a:prstGeom prst="rect">
            <a:avLst/>
          </a:prstGeom>
        </p:spPr>
        <p:txBody>
          <a:bodyPr wrap="square" lIns="0" tIns="12700" rIns="0" bIns="0" rtlCol="0" vert="horz">
            <a:spAutoFit/>
          </a:bodyPr>
          <a:lstStyle/>
          <a:p>
            <a:pPr marL="12700">
              <a:lnSpc>
                <a:spcPct val="100000"/>
              </a:lnSpc>
              <a:spcBef>
                <a:spcPts val="100"/>
              </a:spcBef>
            </a:pPr>
            <a:r>
              <a:rPr dirty="0" sz="1000" spc="-110">
                <a:latin typeface="Microsoft YaHei"/>
                <a:cs typeface="Microsoft YaHei"/>
              </a:rPr>
              <a:t>11610160</a:t>
            </a:r>
            <a:endParaRPr sz="1000">
              <a:latin typeface="Microsoft YaHei"/>
              <a:cs typeface="Microsoft YaHei"/>
            </a:endParaRPr>
          </a:p>
        </p:txBody>
      </p:sp>
      <p:sp>
        <p:nvSpPr>
          <p:cNvPr id="77" name="object 77" descr=""/>
          <p:cNvSpPr txBox="1"/>
          <p:nvPr/>
        </p:nvSpPr>
        <p:spPr>
          <a:xfrm>
            <a:off x="7278862" y="1087947"/>
            <a:ext cx="324485" cy="178435"/>
          </a:xfrm>
          <a:prstGeom prst="rect">
            <a:avLst/>
          </a:prstGeom>
        </p:spPr>
        <p:txBody>
          <a:bodyPr wrap="square" lIns="0" tIns="12700" rIns="0" bIns="0" rtlCol="0" vert="horz">
            <a:spAutoFit/>
          </a:bodyPr>
          <a:lstStyle/>
          <a:p>
            <a:pPr marL="12700">
              <a:lnSpc>
                <a:spcPct val="100000"/>
              </a:lnSpc>
              <a:spcBef>
                <a:spcPts val="100"/>
              </a:spcBef>
            </a:pPr>
            <a:r>
              <a:rPr dirty="0" sz="1000" spc="-20">
                <a:latin typeface="Microsoft YaHei"/>
                <a:cs typeface="Microsoft YaHei"/>
              </a:rPr>
              <a:t>8988</a:t>
            </a:r>
            <a:endParaRPr sz="1000">
              <a:latin typeface="Microsoft YaHei"/>
              <a:cs typeface="Microsoft YaHei"/>
            </a:endParaRPr>
          </a:p>
        </p:txBody>
      </p:sp>
      <p:sp>
        <p:nvSpPr>
          <p:cNvPr id="78" name="object 78" descr=""/>
          <p:cNvSpPr txBox="1"/>
          <p:nvPr/>
        </p:nvSpPr>
        <p:spPr>
          <a:xfrm>
            <a:off x="5888104" y="1195476"/>
            <a:ext cx="380365" cy="675640"/>
          </a:xfrm>
          <a:prstGeom prst="rect">
            <a:avLst/>
          </a:prstGeom>
        </p:spPr>
        <p:txBody>
          <a:bodyPr wrap="square" lIns="0" tIns="12700" rIns="0" bIns="0" rtlCol="0" vert="horz">
            <a:spAutoFit/>
          </a:bodyPr>
          <a:lstStyle/>
          <a:p>
            <a:pPr algn="r" marR="5080">
              <a:lnSpc>
                <a:spcPct val="100000"/>
              </a:lnSpc>
              <a:spcBef>
                <a:spcPts val="100"/>
              </a:spcBef>
            </a:pPr>
            <a:r>
              <a:rPr dirty="0" sz="1000" spc="-10">
                <a:latin typeface="Arial MT"/>
                <a:cs typeface="Arial MT"/>
              </a:rPr>
              <a:t>10000</a:t>
            </a:r>
            <a:endParaRPr sz="1000">
              <a:latin typeface="Arial MT"/>
              <a:cs typeface="Arial MT"/>
            </a:endParaRPr>
          </a:p>
          <a:p>
            <a:pPr algn="r" marR="5080">
              <a:lnSpc>
                <a:spcPct val="100000"/>
              </a:lnSpc>
              <a:spcBef>
                <a:spcPts val="755"/>
              </a:spcBef>
            </a:pPr>
            <a:r>
              <a:rPr dirty="0" sz="1000" spc="-20">
                <a:latin typeface="Arial MT"/>
                <a:cs typeface="Arial MT"/>
              </a:rPr>
              <a:t>5000</a:t>
            </a:r>
            <a:endParaRPr sz="1000">
              <a:latin typeface="Arial MT"/>
              <a:cs typeface="Arial MT"/>
            </a:endParaRPr>
          </a:p>
          <a:p>
            <a:pPr algn="r" marR="5715">
              <a:lnSpc>
                <a:spcPct val="100000"/>
              </a:lnSpc>
              <a:spcBef>
                <a:spcPts val="760"/>
              </a:spcBef>
            </a:pPr>
            <a:r>
              <a:rPr dirty="0" sz="1000" spc="-50">
                <a:latin typeface="Arial MT"/>
                <a:cs typeface="Arial MT"/>
              </a:rPr>
              <a:t>0</a:t>
            </a:r>
            <a:endParaRPr sz="1000">
              <a:latin typeface="Arial MT"/>
              <a:cs typeface="Arial MT"/>
            </a:endParaRPr>
          </a:p>
        </p:txBody>
      </p:sp>
      <p:pic>
        <p:nvPicPr>
          <p:cNvPr id="79" name="object 79" descr=""/>
          <p:cNvPicPr/>
          <p:nvPr/>
        </p:nvPicPr>
        <p:blipFill>
          <a:blip r:embed="rId4" cstate="print"/>
          <a:stretch>
            <a:fillRect/>
          </a:stretch>
        </p:blipFill>
        <p:spPr>
          <a:xfrm>
            <a:off x="6511139" y="1919179"/>
            <a:ext cx="280798" cy="257618"/>
          </a:xfrm>
          <a:prstGeom prst="rect">
            <a:avLst/>
          </a:prstGeom>
        </p:spPr>
      </p:pic>
      <p:pic>
        <p:nvPicPr>
          <p:cNvPr id="80" name="object 80" descr=""/>
          <p:cNvPicPr/>
          <p:nvPr/>
        </p:nvPicPr>
        <p:blipFill>
          <a:blip r:embed="rId5" cstate="print"/>
          <a:stretch>
            <a:fillRect/>
          </a:stretch>
        </p:blipFill>
        <p:spPr>
          <a:xfrm>
            <a:off x="7137803" y="1919179"/>
            <a:ext cx="309531" cy="227728"/>
          </a:xfrm>
          <a:prstGeom prst="rect">
            <a:avLst/>
          </a:prstGeom>
        </p:spPr>
      </p:pic>
      <p:sp>
        <p:nvSpPr>
          <p:cNvPr id="81" name="object 81" descr=""/>
          <p:cNvSpPr txBox="1"/>
          <p:nvPr/>
        </p:nvSpPr>
        <p:spPr>
          <a:xfrm>
            <a:off x="6152608" y="917997"/>
            <a:ext cx="1920239" cy="193040"/>
          </a:xfrm>
          <a:prstGeom prst="rect">
            <a:avLst/>
          </a:prstGeom>
        </p:spPr>
        <p:txBody>
          <a:bodyPr wrap="square" lIns="0" tIns="12065" rIns="0" bIns="0" rtlCol="0" vert="horz">
            <a:spAutoFit/>
          </a:bodyPr>
          <a:lstStyle/>
          <a:p>
            <a:pPr marL="12700">
              <a:lnSpc>
                <a:spcPct val="100000"/>
              </a:lnSpc>
              <a:spcBef>
                <a:spcPts val="95"/>
              </a:spcBef>
            </a:pPr>
            <a:r>
              <a:rPr dirty="0" sz="1100" spc="-10" b="1">
                <a:latin typeface="Microsoft YaHei"/>
                <a:cs typeface="Microsoft YaHei"/>
              </a:rPr>
              <a:t>64TR/32TR</a:t>
            </a:r>
            <a:r>
              <a:rPr dirty="0" sz="1100" spc="-25" b="1">
                <a:latin typeface="Microsoft YaHei"/>
                <a:cs typeface="Microsoft YaHei"/>
              </a:rPr>
              <a:t>小区峰值速率对比</a:t>
            </a:r>
            <a:endParaRPr sz="1100">
              <a:latin typeface="Microsoft YaHei"/>
              <a:cs typeface="Microsoft YaHei"/>
            </a:endParaRPr>
          </a:p>
        </p:txBody>
      </p:sp>
      <p:sp>
        <p:nvSpPr>
          <p:cNvPr id="82" name="object 82" descr=""/>
          <p:cNvSpPr/>
          <p:nvPr/>
        </p:nvSpPr>
        <p:spPr>
          <a:xfrm>
            <a:off x="7875269" y="1584960"/>
            <a:ext cx="64769" cy="64135"/>
          </a:xfrm>
          <a:custGeom>
            <a:avLst/>
            <a:gdLst/>
            <a:ahLst/>
            <a:cxnLst/>
            <a:rect l="l" t="t" r="r" b="b"/>
            <a:pathLst>
              <a:path w="64770" h="64135">
                <a:moveTo>
                  <a:pt x="64770" y="0"/>
                </a:moveTo>
                <a:lnTo>
                  <a:pt x="0" y="0"/>
                </a:lnTo>
                <a:lnTo>
                  <a:pt x="0" y="64008"/>
                </a:lnTo>
                <a:lnTo>
                  <a:pt x="64770" y="64008"/>
                </a:lnTo>
                <a:lnTo>
                  <a:pt x="64770" y="0"/>
                </a:lnTo>
                <a:close/>
              </a:path>
            </a:pathLst>
          </a:custGeom>
          <a:solidFill>
            <a:srgbClr val="BBE0E3"/>
          </a:solidFill>
        </p:spPr>
        <p:txBody>
          <a:bodyPr wrap="square" lIns="0" tIns="0" rIns="0" bIns="0" rtlCol="0"/>
          <a:lstStyle/>
          <a:p/>
        </p:txBody>
      </p:sp>
      <p:sp>
        <p:nvSpPr>
          <p:cNvPr id="83" name="object 83" descr=""/>
          <p:cNvSpPr/>
          <p:nvPr/>
        </p:nvSpPr>
        <p:spPr>
          <a:xfrm>
            <a:off x="7875269" y="1801367"/>
            <a:ext cx="64769" cy="64769"/>
          </a:xfrm>
          <a:custGeom>
            <a:avLst/>
            <a:gdLst/>
            <a:ahLst/>
            <a:cxnLst/>
            <a:rect l="l" t="t" r="r" b="b"/>
            <a:pathLst>
              <a:path w="64770" h="64769">
                <a:moveTo>
                  <a:pt x="64770" y="0"/>
                </a:moveTo>
                <a:lnTo>
                  <a:pt x="0" y="0"/>
                </a:lnTo>
                <a:lnTo>
                  <a:pt x="0" y="64770"/>
                </a:lnTo>
                <a:lnTo>
                  <a:pt x="64770" y="64770"/>
                </a:lnTo>
                <a:lnTo>
                  <a:pt x="64770" y="0"/>
                </a:lnTo>
                <a:close/>
              </a:path>
            </a:pathLst>
          </a:custGeom>
          <a:solidFill>
            <a:srgbClr val="0065B0"/>
          </a:solidFill>
        </p:spPr>
        <p:txBody>
          <a:bodyPr wrap="square" lIns="0" tIns="0" rIns="0" bIns="0" rtlCol="0"/>
          <a:lstStyle/>
          <a:p/>
        </p:txBody>
      </p:sp>
      <p:sp>
        <p:nvSpPr>
          <p:cNvPr id="84" name="object 84" descr=""/>
          <p:cNvSpPr txBox="1"/>
          <p:nvPr/>
        </p:nvSpPr>
        <p:spPr>
          <a:xfrm>
            <a:off x="7953756" y="1456871"/>
            <a:ext cx="337185" cy="459105"/>
          </a:xfrm>
          <a:prstGeom prst="rect">
            <a:avLst/>
          </a:prstGeom>
        </p:spPr>
        <p:txBody>
          <a:bodyPr wrap="square" lIns="0" tIns="76835" rIns="0" bIns="0" rtlCol="0" vert="horz">
            <a:spAutoFit/>
          </a:bodyPr>
          <a:lstStyle/>
          <a:p>
            <a:pPr marL="12700">
              <a:lnSpc>
                <a:spcPct val="100000"/>
              </a:lnSpc>
              <a:spcBef>
                <a:spcPts val="605"/>
              </a:spcBef>
            </a:pPr>
            <a:r>
              <a:rPr dirty="0" sz="1000" spc="-20">
                <a:latin typeface="Arial MT"/>
                <a:cs typeface="Arial MT"/>
              </a:rPr>
              <a:t>32TR</a:t>
            </a:r>
            <a:endParaRPr sz="1000">
              <a:latin typeface="Arial MT"/>
              <a:cs typeface="Arial MT"/>
            </a:endParaRPr>
          </a:p>
          <a:p>
            <a:pPr marL="12700">
              <a:lnSpc>
                <a:spcPct val="100000"/>
              </a:lnSpc>
              <a:spcBef>
                <a:spcPts val="505"/>
              </a:spcBef>
            </a:pPr>
            <a:r>
              <a:rPr dirty="0" sz="1000" spc="-20">
                <a:latin typeface="Arial MT"/>
                <a:cs typeface="Arial MT"/>
              </a:rPr>
              <a:t>64TR</a:t>
            </a:r>
            <a:endParaRPr sz="1000">
              <a:latin typeface="Arial MT"/>
              <a:cs typeface="Arial MT"/>
            </a:endParaRPr>
          </a:p>
        </p:txBody>
      </p:sp>
      <p:grpSp>
        <p:nvGrpSpPr>
          <p:cNvPr id="85" name="object 85" descr=""/>
          <p:cNvGrpSpPr/>
          <p:nvPr/>
        </p:nvGrpSpPr>
        <p:grpSpPr>
          <a:xfrm>
            <a:off x="1320355" y="1256347"/>
            <a:ext cx="1140460" cy="568325"/>
            <a:chOff x="1320355" y="1256347"/>
            <a:chExt cx="1140460" cy="568325"/>
          </a:xfrm>
        </p:grpSpPr>
        <p:sp>
          <p:nvSpPr>
            <p:cNvPr id="86" name="object 86" descr=""/>
            <p:cNvSpPr/>
            <p:nvPr/>
          </p:nvSpPr>
          <p:spPr>
            <a:xfrm>
              <a:off x="1325117" y="1341120"/>
              <a:ext cx="1130935" cy="398780"/>
            </a:xfrm>
            <a:custGeom>
              <a:avLst/>
              <a:gdLst/>
              <a:ahLst/>
              <a:cxnLst/>
              <a:rect l="l" t="t" r="r" b="b"/>
              <a:pathLst>
                <a:path w="1130935" h="398780">
                  <a:moveTo>
                    <a:pt x="0" y="398525"/>
                  </a:moveTo>
                  <a:lnTo>
                    <a:pt x="121157" y="398525"/>
                  </a:lnTo>
                </a:path>
                <a:path w="1130935" h="398780">
                  <a:moveTo>
                    <a:pt x="444245" y="398525"/>
                  </a:moveTo>
                  <a:lnTo>
                    <a:pt x="686562" y="398525"/>
                  </a:lnTo>
                </a:path>
                <a:path w="1130935" h="398780">
                  <a:moveTo>
                    <a:pt x="1009650" y="398525"/>
                  </a:moveTo>
                  <a:lnTo>
                    <a:pt x="1130808" y="398525"/>
                  </a:lnTo>
                </a:path>
                <a:path w="1130935" h="398780">
                  <a:moveTo>
                    <a:pt x="0" y="318515"/>
                  </a:moveTo>
                  <a:lnTo>
                    <a:pt x="121157" y="318515"/>
                  </a:lnTo>
                </a:path>
                <a:path w="1130935" h="398780">
                  <a:moveTo>
                    <a:pt x="1009650" y="318515"/>
                  </a:moveTo>
                  <a:lnTo>
                    <a:pt x="1130808" y="318515"/>
                  </a:lnTo>
                </a:path>
                <a:path w="1130935" h="398780">
                  <a:moveTo>
                    <a:pt x="444245" y="318515"/>
                  </a:moveTo>
                  <a:lnTo>
                    <a:pt x="686562" y="318515"/>
                  </a:lnTo>
                </a:path>
                <a:path w="1130935" h="398780">
                  <a:moveTo>
                    <a:pt x="444245" y="239267"/>
                  </a:moveTo>
                  <a:lnTo>
                    <a:pt x="686562" y="239267"/>
                  </a:lnTo>
                </a:path>
                <a:path w="1130935" h="398780">
                  <a:moveTo>
                    <a:pt x="1009650" y="239267"/>
                  </a:moveTo>
                  <a:lnTo>
                    <a:pt x="1130808" y="239267"/>
                  </a:lnTo>
                </a:path>
                <a:path w="1130935" h="398780">
                  <a:moveTo>
                    <a:pt x="0" y="239267"/>
                  </a:moveTo>
                  <a:lnTo>
                    <a:pt x="121157" y="239267"/>
                  </a:lnTo>
                </a:path>
                <a:path w="1130935" h="398780">
                  <a:moveTo>
                    <a:pt x="0" y="159258"/>
                  </a:moveTo>
                  <a:lnTo>
                    <a:pt x="282701" y="159258"/>
                  </a:lnTo>
                </a:path>
                <a:path w="1130935" h="398780">
                  <a:moveTo>
                    <a:pt x="1009650" y="159258"/>
                  </a:moveTo>
                  <a:lnTo>
                    <a:pt x="1130808" y="159258"/>
                  </a:lnTo>
                </a:path>
                <a:path w="1130935" h="398780">
                  <a:moveTo>
                    <a:pt x="444245" y="159258"/>
                  </a:moveTo>
                  <a:lnTo>
                    <a:pt x="686562" y="159258"/>
                  </a:lnTo>
                </a:path>
                <a:path w="1130935" h="398780">
                  <a:moveTo>
                    <a:pt x="0" y="80010"/>
                  </a:moveTo>
                  <a:lnTo>
                    <a:pt x="686562" y="80010"/>
                  </a:lnTo>
                </a:path>
                <a:path w="1130935" h="398780">
                  <a:moveTo>
                    <a:pt x="1009650" y="80010"/>
                  </a:moveTo>
                  <a:lnTo>
                    <a:pt x="1130808" y="80010"/>
                  </a:lnTo>
                </a:path>
                <a:path w="1130935" h="398780">
                  <a:moveTo>
                    <a:pt x="0" y="0"/>
                  </a:moveTo>
                  <a:lnTo>
                    <a:pt x="686562" y="0"/>
                  </a:lnTo>
                </a:path>
                <a:path w="1130935" h="398780">
                  <a:moveTo>
                    <a:pt x="1009650" y="0"/>
                  </a:moveTo>
                  <a:lnTo>
                    <a:pt x="1130808" y="0"/>
                  </a:lnTo>
                </a:path>
              </a:pathLst>
            </a:custGeom>
            <a:ln w="9144">
              <a:solidFill>
                <a:srgbClr val="878787"/>
              </a:solidFill>
            </a:ln>
          </p:spPr>
          <p:txBody>
            <a:bodyPr wrap="square" lIns="0" tIns="0" rIns="0" bIns="0" rtlCol="0"/>
            <a:lstStyle/>
            <a:p/>
          </p:txBody>
        </p:sp>
        <p:sp>
          <p:nvSpPr>
            <p:cNvPr id="87" name="object 87" descr=""/>
            <p:cNvSpPr/>
            <p:nvPr/>
          </p:nvSpPr>
          <p:spPr>
            <a:xfrm>
              <a:off x="1325117" y="1261110"/>
              <a:ext cx="1130935" cy="0"/>
            </a:xfrm>
            <a:custGeom>
              <a:avLst/>
              <a:gdLst/>
              <a:ahLst/>
              <a:cxnLst/>
              <a:rect l="l" t="t" r="r" b="b"/>
              <a:pathLst>
                <a:path w="1130935" h="0">
                  <a:moveTo>
                    <a:pt x="0" y="0"/>
                  </a:moveTo>
                  <a:lnTo>
                    <a:pt x="1130808" y="0"/>
                  </a:lnTo>
                </a:path>
              </a:pathLst>
            </a:custGeom>
            <a:ln w="9144">
              <a:solidFill>
                <a:srgbClr val="878787"/>
              </a:solidFill>
            </a:ln>
          </p:spPr>
          <p:txBody>
            <a:bodyPr wrap="square" lIns="0" tIns="0" rIns="0" bIns="0" rtlCol="0"/>
            <a:lstStyle/>
            <a:p/>
          </p:txBody>
        </p:sp>
        <p:sp>
          <p:nvSpPr>
            <p:cNvPr id="88" name="object 88" descr=""/>
            <p:cNvSpPr/>
            <p:nvPr/>
          </p:nvSpPr>
          <p:spPr>
            <a:xfrm>
              <a:off x="1446276" y="1298447"/>
              <a:ext cx="727075" cy="521334"/>
            </a:xfrm>
            <a:custGeom>
              <a:avLst/>
              <a:gdLst/>
              <a:ahLst/>
              <a:cxnLst/>
              <a:rect l="l" t="t" r="r" b="b"/>
              <a:pathLst>
                <a:path w="727075" h="521335">
                  <a:moveTo>
                    <a:pt x="161544" y="213360"/>
                  </a:moveTo>
                  <a:lnTo>
                    <a:pt x="0" y="213360"/>
                  </a:lnTo>
                  <a:lnTo>
                    <a:pt x="0" y="521220"/>
                  </a:lnTo>
                  <a:lnTo>
                    <a:pt x="161544" y="521220"/>
                  </a:lnTo>
                  <a:lnTo>
                    <a:pt x="161544" y="213360"/>
                  </a:lnTo>
                  <a:close/>
                </a:path>
                <a:path w="727075" h="521335">
                  <a:moveTo>
                    <a:pt x="726948" y="0"/>
                  </a:moveTo>
                  <a:lnTo>
                    <a:pt x="565404" y="0"/>
                  </a:lnTo>
                  <a:lnTo>
                    <a:pt x="565404" y="521220"/>
                  </a:lnTo>
                  <a:lnTo>
                    <a:pt x="726948" y="521220"/>
                  </a:lnTo>
                  <a:lnTo>
                    <a:pt x="726948" y="0"/>
                  </a:lnTo>
                  <a:close/>
                </a:path>
              </a:pathLst>
            </a:custGeom>
            <a:solidFill>
              <a:srgbClr val="BBE0E3"/>
            </a:solidFill>
          </p:spPr>
          <p:txBody>
            <a:bodyPr wrap="square" lIns="0" tIns="0" rIns="0" bIns="0" rtlCol="0"/>
            <a:lstStyle/>
            <a:p/>
          </p:txBody>
        </p:sp>
        <p:sp>
          <p:nvSpPr>
            <p:cNvPr id="89" name="object 89" descr=""/>
            <p:cNvSpPr/>
            <p:nvPr/>
          </p:nvSpPr>
          <p:spPr>
            <a:xfrm>
              <a:off x="1607820" y="1274063"/>
              <a:ext cx="727075" cy="546100"/>
            </a:xfrm>
            <a:custGeom>
              <a:avLst/>
              <a:gdLst/>
              <a:ahLst/>
              <a:cxnLst/>
              <a:rect l="l" t="t" r="r" b="b"/>
              <a:pathLst>
                <a:path w="727075" h="546100">
                  <a:moveTo>
                    <a:pt x="161544" y="218694"/>
                  </a:moveTo>
                  <a:lnTo>
                    <a:pt x="0" y="218694"/>
                  </a:lnTo>
                  <a:lnTo>
                    <a:pt x="0" y="545604"/>
                  </a:lnTo>
                  <a:lnTo>
                    <a:pt x="161544" y="545604"/>
                  </a:lnTo>
                  <a:lnTo>
                    <a:pt x="161544" y="218694"/>
                  </a:lnTo>
                  <a:close/>
                </a:path>
                <a:path w="727075" h="546100">
                  <a:moveTo>
                    <a:pt x="726948" y="0"/>
                  </a:moveTo>
                  <a:lnTo>
                    <a:pt x="565404" y="0"/>
                  </a:lnTo>
                  <a:lnTo>
                    <a:pt x="565404" y="545592"/>
                  </a:lnTo>
                  <a:lnTo>
                    <a:pt x="726948" y="545592"/>
                  </a:lnTo>
                  <a:lnTo>
                    <a:pt x="726948" y="0"/>
                  </a:lnTo>
                  <a:close/>
                </a:path>
              </a:pathLst>
            </a:custGeom>
            <a:solidFill>
              <a:srgbClr val="0065B0"/>
            </a:solidFill>
          </p:spPr>
          <p:txBody>
            <a:bodyPr wrap="square" lIns="0" tIns="0" rIns="0" bIns="0" rtlCol="0"/>
            <a:lstStyle/>
            <a:p/>
          </p:txBody>
        </p:sp>
        <p:sp>
          <p:nvSpPr>
            <p:cNvPr id="90" name="object 90" descr=""/>
            <p:cNvSpPr/>
            <p:nvPr/>
          </p:nvSpPr>
          <p:spPr>
            <a:xfrm>
              <a:off x="1325117" y="1261110"/>
              <a:ext cx="1130935" cy="558800"/>
            </a:xfrm>
            <a:custGeom>
              <a:avLst/>
              <a:gdLst/>
              <a:ahLst/>
              <a:cxnLst/>
              <a:rect l="l" t="t" r="r" b="b"/>
              <a:pathLst>
                <a:path w="1130935" h="558800">
                  <a:moveTo>
                    <a:pt x="0" y="558546"/>
                  </a:moveTo>
                  <a:lnTo>
                    <a:pt x="0" y="0"/>
                  </a:lnTo>
                </a:path>
                <a:path w="1130935" h="558800">
                  <a:moveTo>
                    <a:pt x="0" y="558546"/>
                  </a:moveTo>
                  <a:lnTo>
                    <a:pt x="1130808" y="558546"/>
                  </a:lnTo>
                </a:path>
              </a:pathLst>
            </a:custGeom>
            <a:ln w="9144">
              <a:solidFill>
                <a:srgbClr val="878787"/>
              </a:solidFill>
            </a:ln>
          </p:spPr>
          <p:txBody>
            <a:bodyPr wrap="square" lIns="0" tIns="0" rIns="0" bIns="0" rtlCol="0"/>
            <a:lstStyle/>
            <a:p/>
          </p:txBody>
        </p:sp>
      </p:grpSp>
      <p:sp>
        <p:nvSpPr>
          <p:cNvPr id="91" name="object 91" descr=""/>
          <p:cNvSpPr txBox="1"/>
          <p:nvPr/>
        </p:nvSpPr>
        <p:spPr>
          <a:xfrm>
            <a:off x="1357555" y="1274970"/>
            <a:ext cx="480695" cy="178435"/>
          </a:xfrm>
          <a:prstGeom prst="rect">
            <a:avLst/>
          </a:prstGeom>
        </p:spPr>
        <p:txBody>
          <a:bodyPr wrap="square" lIns="0" tIns="12700" rIns="0" bIns="0" rtlCol="0" vert="horz">
            <a:spAutoFit/>
          </a:bodyPr>
          <a:lstStyle/>
          <a:p>
            <a:pPr marL="38100">
              <a:lnSpc>
                <a:spcPct val="100000"/>
              </a:lnSpc>
              <a:spcBef>
                <a:spcPts val="100"/>
              </a:spcBef>
            </a:pPr>
            <a:r>
              <a:rPr dirty="0" baseline="-16666" sz="1500" spc="-22">
                <a:latin typeface="Microsoft YaHei"/>
                <a:cs typeface="Microsoft YaHei"/>
              </a:rPr>
              <a:t>193</a:t>
            </a:r>
            <a:r>
              <a:rPr dirty="0" sz="1000" spc="-15">
                <a:latin typeface="Microsoft YaHei"/>
                <a:cs typeface="Microsoft YaHei"/>
              </a:rPr>
              <a:t>205</a:t>
            </a:r>
            <a:endParaRPr sz="1000">
              <a:latin typeface="Microsoft YaHei"/>
              <a:cs typeface="Microsoft YaHei"/>
            </a:endParaRPr>
          </a:p>
        </p:txBody>
      </p:sp>
      <p:sp>
        <p:nvSpPr>
          <p:cNvPr id="92" name="object 92" descr=""/>
          <p:cNvSpPr txBox="1"/>
          <p:nvPr/>
        </p:nvSpPr>
        <p:spPr>
          <a:xfrm>
            <a:off x="1131882" y="1721505"/>
            <a:ext cx="96520" cy="178435"/>
          </a:xfrm>
          <a:prstGeom prst="rect">
            <a:avLst/>
          </a:prstGeom>
        </p:spPr>
        <p:txBody>
          <a:bodyPr wrap="square" lIns="0" tIns="12700" rIns="0" bIns="0" rtlCol="0" vert="horz">
            <a:spAutoFit/>
          </a:bodyPr>
          <a:lstStyle/>
          <a:p>
            <a:pPr marL="12700">
              <a:lnSpc>
                <a:spcPct val="100000"/>
              </a:lnSpc>
              <a:spcBef>
                <a:spcPts val="100"/>
              </a:spcBef>
            </a:pPr>
            <a:r>
              <a:rPr dirty="0" sz="1000" spc="-50">
                <a:latin typeface="Arial MT"/>
                <a:cs typeface="Arial MT"/>
              </a:rPr>
              <a:t>0</a:t>
            </a:r>
            <a:endParaRPr sz="1000">
              <a:latin typeface="Arial MT"/>
              <a:cs typeface="Arial MT"/>
            </a:endParaRPr>
          </a:p>
        </p:txBody>
      </p:sp>
      <p:sp>
        <p:nvSpPr>
          <p:cNvPr id="93" name="object 93" descr=""/>
          <p:cNvSpPr txBox="1"/>
          <p:nvPr/>
        </p:nvSpPr>
        <p:spPr>
          <a:xfrm>
            <a:off x="1060747" y="1641844"/>
            <a:ext cx="167640" cy="178435"/>
          </a:xfrm>
          <a:prstGeom prst="rect">
            <a:avLst/>
          </a:prstGeom>
        </p:spPr>
        <p:txBody>
          <a:bodyPr wrap="square" lIns="0" tIns="12700" rIns="0" bIns="0" rtlCol="0" vert="horz">
            <a:spAutoFit/>
          </a:bodyPr>
          <a:lstStyle/>
          <a:p>
            <a:pPr marL="12700">
              <a:lnSpc>
                <a:spcPct val="100000"/>
              </a:lnSpc>
              <a:spcBef>
                <a:spcPts val="100"/>
              </a:spcBef>
            </a:pPr>
            <a:r>
              <a:rPr dirty="0" sz="1000" spc="-25">
                <a:latin typeface="Arial MT"/>
                <a:cs typeface="Arial MT"/>
              </a:rPr>
              <a:t>50</a:t>
            </a:r>
            <a:endParaRPr sz="1000">
              <a:latin typeface="Arial MT"/>
              <a:cs typeface="Arial MT"/>
            </a:endParaRPr>
          </a:p>
        </p:txBody>
      </p:sp>
      <p:sp>
        <p:nvSpPr>
          <p:cNvPr id="94" name="object 94" descr=""/>
          <p:cNvSpPr txBox="1"/>
          <p:nvPr/>
        </p:nvSpPr>
        <p:spPr>
          <a:xfrm>
            <a:off x="990376" y="1562183"/>
            <a:ext cx="238125" cy="178435"/>
          </a:xfrm>
          <a:prstGeom prst="rect">
            <a:avLst/>
          </a:prstGeom>
        </p:spPr>
        <p:txBody>
          <a:bodyPr wrap="square" lIns="0" tIns="12700" rIns="0" bIns="0" rtlCol="0" vert="horz">
            <a:spAutoFit/>
          </a:bodyPr>
          <a:lstStyle/>
          <a:p>
            <a:pPr marL="12700">
              <a:lnSpc>
                <a:spcPct val="100000"/>
              </a:lnSpc>
              <a:spcBef>
                <a:spcPts val="100"/>
              </a:spcBef>
            </a:pPr>
            <a:r>
              <a:rPr dirty="0" sz="1000" spc="-25">
                <a:latin typeface="Arial MT"/>
                <a:cs typeface="Arial MT"/>
              </a:rPr>
              <a:t>100</a:t>
            </a:r>
            <a:endParaRPr sz="1000">
              <a:latin typeface="Arial MT"/>
              <a:cs typeface="Arial MT"/>
            </a:endParaRPr>
          </a:p>
        </p:txBody>
      </p:sp>
      <p:sp>
        <p:nvSpPr>
          <p:cNvPr id="95" name="object 95" descr=""/>
          <p:cNvSpPr txBox="1"/>
          <p:nvPr/>
        </p:nvSpPr>
        <p:spPr>
          <a:xfrm>
            <a:off x="990376" y="1482522"/>
            <a:ext cx="238125" cy="178435"/>
          </a:xfrm>
          <a:prstGeom prst="rect">
            <a:avLst/>
          </a:prstGeom>
        </p:spPr>
        <p:txBody>
          <a:bodyPr wrap="square" lIns="0" tIns="12700" rIns="0" bIns="0" rtlCol="0" vert="horz">
            <a:spAutoFit/>
          </a:bodyPr>
          <a:lstStyle/>
          <a:p>
            <a:pPr marL="12700">
              <a:lnSpc>
                <a:spcPct val="100000"/>
              </a:lnSpc>
              <a:spcBef>
                <a:spcPts val="100"/>
              </a:spcBef>
            </a:pPr>
            <a:r>
              <a:rPr dirty="0" sz="1000" spc="-25">
                <a:latin typeface="Arial MT"/>
                <a:cs typeface="Arial MT"/>
              </a:rPr>
              <a:t>150</a:t>
            </a:r>
            <a:endParaRPr sz="1000">
              <a:latin typeface="Arial MT"/>
              <a:cs typeface="Arial MT"/>
            </a:endParaRPr>
          </a:p>
        </p:txBody>
      </p:sp>
      <p:sp>
        <p:nvSpPr>
          <p:cNvPr id="96" name="object 96" descr=""/>
          <p:cNvSpPr txBox="1"/>
          <p:nvPr/>
        </p:nvSpPr>
        <p:spPr>
          <a:xfrm>
            <a:off x="990376" y="1402861"/>
            <a:ext cx="238125" cy="178435"/>
          </a:xfrm>
          <a:prstGeom prst="rect">
            <a:avLst/>
          </a:prstGeom>
        </p:spPr>
        <p:txBody>
          <a:bodyPr wrap="square" lIns="0" tIns="12700" rIns="0" bIns="0" rtlCol="0" vert="horz">
            <a:spAutoFit/>
          </a:bodyPr>
          <a:lstStyle/>
          <a:p>
            <a:pPr marL="12700">
              <a:lnSpc>
                <a:spcPct val="100000"/>
              </a:lnSpc>
              <a:spcBef>
                <a:spcPts val="100"/>
              </a:spcBef>
            </a:pPr>
            <a:r>
              <a:rPr dirty="0" sz="1000" spc="-25">
                <a:latin typeface="Arial MT"/>
                <a:cs typeface="Arial MT"/>
              </a:rPr>
              <a:t>200</a:t>
            </a:r>
            <a:endParaRPr sz="1000">
              <a:latin typeface="Arial MT"/>
              <a:cs typeface="Arial MT"/>
            </a:endParaRPr>
          </a:p>
        </p:txBody>
      </p:sp>
      <p:sp>
        <p:nvSpPr>
          <p:cNvPr id="97" name="object 97" descr=""/>
          <p:cNvSpPr txBox="1"/>
          <p:nvPr/>
        </p:nvSpPr>
        <p:spPr>
          <a:xfrm>
            <a:off x="990376" y="1323200"/>
            <a:ext cx="238125" cy="178435"/>
          </a:xfrm>
          <a:prstGeom prst="rect">
            <a:avLst/>
          </a:prstGeom>
        </p:spPr>
        <p:txBody>
          <a:bodyPr wrap="square" lIns="0" tIns="12700" rIns="0" bIns="0" rtlCol="0" vert="horz">
            <a:spAutoFit/>
          </a:bodyPr>
          <a:lstStyle/>
          <a:p>
            <a:pPr marL="12700">
              <a:lnSpc>
                <a:spcPct val="100000"/>
              </a:lnSpc>
              <a:spcBef>
                <a:spcPts val="100"/>
              </a:spcBef>
            </a:pPr>
            <a:r>
              <a:rPr dirty="0" sz="1000" spc="-25">
                <a:latin typeface="Arial MT"/>
                <a:cs typeface="Arial MT"/>
              </a:rPr>
              <a:t>250</a:t>
            </a:r>
            <a:endParaRPr sz="1000">
              <a:latin typeface="Arial MT"/>
              <a:cs typeface="Arial MT"/>
            </a:endParaRPr>
          </a:p>
        </p:txBody>
      </p:sp>
      <p:sp>
        <p:nvSpPr>
          <p:cNvPr id="98" name="object 98" descr=""/>
          <p:cNvSpPr txBox="1"/>
          <p:nvPr/>
        </p:nvSpPr>
        <p:spPr>
          <a:xfrm>
            <a:off x="990376" y="1243539"/>
            <a:ext cx="238125" cy="178435"/>
          </a:xfrm>
          <a:prstGeom prst="rect">
            <a:avLst/>
          </a:prstGeom>
        </p:spPr>
        <p:txBody>
          <a:bodyPr wrap="square" lIns="0" tIns="12700" rIns="0" bIns="0" rtlCol="0" vert="horz">
            <a:spAutoFit/>
          </a:bodyPr>
          <a:lstStyle/>
          <a:p>
            <a:pPr marL="12700">
              <a:lnSpc>
                <a:spcPct val="100000"/>
              </a:lnSpc>
              <a:spcBef>
                <a:spcPts val="100"/>
              </a:spcBef>
            </a:pPr>
            <a:r>
              <a:rPr dirty="0" sz="1000" spc="-25">
                <a:latin typeface="Arial MT"/>
                <a:cs typeface="Arial MT"/>
              </a:rPr>
              <a:t>300</a:t>
            </a:r>
            <a:endParaRPr sz="1000">
              <a:latin typeface="Arial MT"/>
              <a:cs typeface="Arial MT"/>
            </a:endParaRPr>
          </a:p>
        </p:txBody>
      </p:sp>
      <p:sp>
        <p:nvSpPr>
          <p:cNvPr id="99" name="object 99" descr=""/>
          <p:cNvSpPr txBox="1"/>
          <p:nvPr/>
        </p:nvSpPr>
        <p:spPr>
          <a:xfrm>
            <a:off x="990376" y="1163878"/>
            <a:ext cx="238125" cy="178435"/>
          </a:xfrm>
          <a:prstGeom prst="rect">
            <a:avLst/>
          </a:prstGeom>
        </p:spPr>
        <p:txBody>
          <a:bodyPr wrap="square" lIns="0" tIns="12700" rIns="0" bIns="0" rtlCol="0" vert="horz">
            <a:spAutoFit/>
          </a:bodyPr>
          <a:lstStyle/>
          <a:p>
            <a:pPr marL="12700">
              <a:lnSpc>
                <a:spcPct val="100000"/>
              </a:lnSpc>
              <a:spcBef>
                <a:spcPts val="100"/>
              </a:spcBef>
            </a:pPr>
            <a:r>
              <a:rPr dirty="0" sz="1000" spc="-25">
                <a:latin typeface="Arial MT"/>
                <a:cs typeface="Arial MT"/>
              </a:rPr>
              <a:t>350</a:t>
            </a:r>
            <a:endParaRPr sz="1000">
              <a:latin typeface="Arial MT"/>
              <a:cs typeface="Arial MT"/>
            </a:endParaRPr>
          </a:p>
        </p:txBody>
      </p:sp>
      <p:sp>
        <p:nvSpPr>
          <p:cNvPr id="100" name="object 100" descr=""/>
          <p:cNvSpPr txBox="1"/>
          <p:nvPr/>
        </p:nvSpPr>
        <p:spPr>
          <a:xfrm>
            <a:off x="469400" y="1861404"/>
            <a:ext cx="2369820" cy="615315"/>
          </a:xfrm>
          <a:prstGeom prst="rect">
            <a:avLst/>
          </a:prstGeom>
        </p:spPr>
        <p:txBody>
          <a:bodyPr wrap="square" lIns="0" tIns="80010" rIns="0" bIns="0" rtlCol="0" vert="horz">
            <a:spAutoFit/>
          </a:bodyPr>
          <a:lstStyle/>
          <a:p>
            <a:pPr marL="908050">
              <a:lnSpc>
                <a:spcPct val="100000"/>
              </a:lnSpc>
              <a:spcBef>
                <a:spcPts val="630"/>
              </a:spcBef>
            </a:pPr>
            <a:r>
              <a:rPr dirty="0" sz="1000">
                <a:latin typeface="Microsoft YaHei"/>
                <a:cs typeface="Microsoft YaHei"/>
              </a:rPr>
              <a:t>上行(m</a:t>
            </a:r>
            <a:r>
              <a:rPr dirty="0" sz="1000" spc="25">
                <a:latin typeface="Microsoft YaHei"/>
                <a:cs typeface="Microsoft YaHei"/>
              </a:rPr>
              <a:t>)  下行(</a:t>
            </a:r>
            <a:r>
              <a:rPr dirty="0" sz="1000" spc="-25">
                <a:latin typeface="Microsoft YaHei"/>
                <a:cs typeface="Microsoft YaHei"/>
              </a:rPr>
              <a:t>m)</a:t>
            </a:r>
            <a:endParaRPr sz="1000">
              <a:latin typeface="Microsoft YaHei"/>
              <a:cs typeface="Microsoft YaHei"/>
            </a:endParaRPr>
          </a:p>
          <a:p>
            <a:pPr algn="r" marR="5080">
              <a:lnSpc>
                <a:spcPct val="100000"/>
              </a:lnSpc>
              <a:spcBef>
                <a:spcPts val="420"/>
              </a:spcBef>
            </a:pPr>
            <a:r>
              <a:rPr dirty="0" sz="800">
                <a:solidFill>
                  <a:srgbClr val="0000FF"/>
                </a:solidFill>
                <a:latin typeface="Microsoft YaHei"/>
                <a:cs typeface="Microsoft YaHei"/>
              </a:rPr>
              <a:t>*</a:t>
            </a:r>
            <a:r>
              <a:rPr dirty="0" sz="800" spc="-10">
                <a:solidFill>
                  <a:srgbClr val="0000FF"/>
                </a:solidFill>
                <a:latin typeface="Microsoft YaHei"/>
                <a:cs typeface="Microsoft YaHei"/>
              </a:rPr>
              <a:t>按照下行</a:t>
            </a:r>
            <a:r>
              <a:rPr dirty="0" sz="800" spc="-20">
                <a:solidFill>
                  <a:srgbClr val="0000FF"/>
                </a:solidFill>
                <a:latin typeface="Microsoft YaHei"/>
                <a:cs typeface="Microsoft YaHei"/>
              </a:rPr>
              <a:t>40M，上行</a:t>
            </a:r>
            <a:r>
              <a:rPr dirty="0" sz="800" spc="-10">
                <a:solidFill>
                  <a:srgbClr val="0000FF"/>
                </a:solidFill>
                <a:latin typeface="Microsoft YaHei"/>
                <a:cs typeface="Microsoft YaHei"/>
              </a:rPr>
              <a:t>2M</a:t>
            </a:r>
            <a:r>
              <a:rPr dirty="0" sz="800" spc="-15">
                <a:solidFill>
                  <a:srgbClr val="0000FF"/>
                </a:solidFill>
                <a:latin typeface="Microsoft YaHei"/>
                <a:cs typeface="Microsoft YaHei"/>
              </a:rPr>
              <a:t>指标计算覆盖距离</a:t>
            </a:r>
            <a:endParaRPr sz="800">
              <a:latin typeface="Microsoft YaHei"/>
              <a:cs typeface="Microsoft YaHei"/>
            </a:endParaRPr>
          </a:p>
          <a:p>
            <a:pPr algn="r" marL="128270" marR="9525" indent="-128270">
              <a:lnSpc>
                <a:spcPct val="100000"/>
              </a:lnSpc>
              <a:spcBef>
                <a:spcPts val="455"/>
              </a:spcBef>
              <a:buFont typeface="Wingdings"/>
              <a:buChar char=""/>
              <a:tabLst>
                <a:tab pos="128270" algn="l"/>
              </a:tabLst>
            </a:pPr>
            <a:r>
              <a:rPr dirty="0" sz="900">
                <a:latin typeface="Microsoft YaHei"/>
                <a:cs typeface="Microsoft YaHei"/>
              </a:rPr>
              <a:t>受限于上行，64TR相比32TR</a:t>
            </a:r>
            <a:r>
              <a:rPr dirty="0" sz="900" spc="-5">
                <a:latin typeface="Microsoft YaHei"/>
                <a:cs typeface="Microsoft YaHei"/>
              </a:rPr>
              <a:t>，提升</a:t>
            </a:r>
            <a:r>
              <a:rPr dirty="0" sz="900" spc="-10" b="1">
                <a:solidFill>
                  <a:srgbClr val="FF0000"/>
                </a:solidFill>
                <a:latin typeface="Microsoft YaHei"/>
                <a:cs typeface="Microsoft YaHei"/>
              </a:rPr>
              <a:t>6%</a:t>
            </a:r>
            <a:r>
              <a:rPr dirty="0" sz="900" spc="-25">
                <a:latin typeface="Microsoft YaHei"/>
                <a:cs typeface="Microsoft YaHei"/>
              </a:rPr>
              <a:t>左右</a:t>
            </a:r>
            <a:endParaRPr sz="900">
              <a:latin typeface="Microsoft YaHei"/>
              <a:cs typeface="Microsoft YaHei"/>
            </a:endParaRPr>
          </a:p>
        </p:txBody>
      </p:sp>
      <p:sp>
        <p:nvSpPr>
          <p:cNvPr id="101" name="object 101" descr=""/>
          <p:cNvSpPr txBox="1"/>
          <p:nvPr/>
        </p:nvSpPr>
        <p:spPr>
          <a:xfrm>
            <a:off x="1303803" y="880992"/>
            <a:ext cx="1499235" cy="377825"/>
          </a:xfrm>
          <a:prstGeom prst="rect">
            <a:avLst/>
          </a:prstGeom>
        </p:spPr>
        <p:txBody>
          <a:bodyPr wrap="square" lIns="0" tIns="36195" rIns="0" bIns="0" rtlCol="0" vert="horz">
            <a:spAutoFit/>
          </a:bodyPr>
          <a:lstStyle/>
          <a:p>
            <a:pPr marL="12700">
              <a:lnSpc>
                <a:spcPct val="100000"/>
              </a:lnSpc>
              <a:spcBef>
                <a:spcPts val="285"/>
              </a:spcBef>
            </a:pPr>
            <a:r>
              <a:rPr dirty="0" sz="1000" spc="-10" b="1">
                <a:latin typeface="Microsoft YaHei"/>
                <a:cs typeface="Microsoft YaHei"/>
              </a:rPr>
              <a:t>64TR/32TR</a:t>
            </a:r>
            <a:r>
              <a:rPr dirty="0" sz="1000" spc="-15" b="1">
                <a:latin typeface="Microsoft YaHei"/>
                <a:cs typeface="Microsoft YaHei"/>
              </a:rPr>
              <a:t>覆盖距离对比</a:t>
            </a:r>
            <a:endParaRPr sz="1000">
              <a:latin typeface="Microsoft YaHei"/>
              <a:cs typeface="Microsoft YaHei"/>
            </a:endParaRPr>
          </a:p>
          <a:p>
            <a:pPr marL="647700">
              <a:lnSpc>
                <a:spcPct val="100000"/>
              </a:lnSpc>
              <a:spcBef>
                <a:spcPts val="185"/>
              </a:spcBef>
            </a:pPr>
            <a:r>
              <a:rPr dirty="0" sz="1000" spc="-10">
                <a:latin typeface="Microsoft YaHei"/>
                <a:cs typeface="Microsoft YaHei"/>
              </a:rPr>
              <a:t>327</a:t>
            </a:r>
            <a:r>
              <a:rPr dirty="0" baseline="2777" sz="1500" spc="-15">
                <a:latin typeface="Microsoft YaHei"/>
                <a:cs typeface="Microsoft YaHei"/>
              </a:rPr>
              <a:t>342</a:t>
            </a:r>
            <a:endParaRPr baseline="2777" sz="1500">
              <a:latin typeface="Microsoft YaHei"/>
              <a:cs typeface="Microsoft YaHei"/>
            </a:endParaRPr>
          </a:p>
        </p:txBody>
      </p:sp>
      <p:grpSp>
        <p:nvGrpSpPr>
          <p:cNvPr id="102" name="object 102" descr=""/>
          <p:cNvGrpSpPr/>
          <p:nvPr/>
        </p:nvGrpSpPr>
        <p:grpSpPr>
          <a:xfrm>
            <a:off x="2656332" y="1525524"/>
            <a:ext cx="64769" cy="281305"/>
            <a:chOff x="2656332" y="1525524"/>
            <a:chExt cx="64769" cy="281305"/>
          </a:xfrm>
        </p:grpSpPr>
        <p:sp>
          <p:nvSpPr>
            <p:cNvPr id="103" name="object 103" descr=""/>
            <p:cNvSpPr/>
            <p:nvPr/>
          </p:nvSpPr>
          <p:spPr>
            <a:xfrm>
              <a:off x="2656332" y="1525524"/>
              <a:ext cx="64769" cy="64135"/>
            </a:xfrm>
            <a:custGeom>
              <a:avLst/>
              <a:gdLst/>
              <a:ahLst/>
              <a:cxnLst/>
              <a:rect l="l" t="t" r="r" b="b"/>
              <a:pathLst>
                <a:path w="64769" h="64134">
                  <a:moveTo>
                    <a:pt x="64769" y="0"/>
                  </a:moveTo>
                  <a:lnTo>
                    <a:pt x="0" y="0"/>
                  </a:lnTo>
                  <a:lnTo>
                    <a:pt x="0" y="64008"/>
                  </a:lnTo>
                  <a:lnTo>
                    <a:pt x="64769" y="64008"/>
                  </a:lnTo>
                  <a:lnTo>
                    <a:pt x="64769" y="0"/>
                  </a:lnTo>
                  <a:close/>
                </a:path>
              </a:pathLst>
            </a:custGeom>
            <a:solidFill>
              <a:srgbClr val="BBE0E3"/>
            </a:solidFill>
          </p:spPr>
          <p:txBody>
            <a:bodyPr wrap="square" lIns="0" tIns="0" rIns="0" bIns="0" rtlCol="0"/>
            <a:lstStyle/>
            <a:p/>
          </p:txBody>
        </p:sp>
        <p:sp>
          <p:nvSpPr>
            <p:cNvPr id="104" name="object 104" descr=""/>
            <p:cNvSpPr/>
            <p:nvPr/>
          </p:nvSpPr>
          <p:spPr>
            <a:xfrm>
              <a:off x="2656332" y="1741932"/>
              <a:ext cx="64769" cy="64769"/>
            </a:xfrm>
            <a:custGeom>
              <a:avLst/>
              <a:gdLst/>
              <a:ahLst/>
              <a:cxnLst/>
              <a:rect l="l" t="t" r="r" b="b"/>
              <a:pathLst>
                <a:path w="64769" h="64769">
                  <a:moveTo>
                    <a:pt x="64769" y="0"/>
                  </a:moveTo>
                  <a:lnTo>
                    <a:pt x="0" y="0"/>
                  </a:lnTo>
                  <a:lnTo>
                    <a:pt x="0" y="64770"/>
                  </a:lnTo>
                  <a:lnTo>
                    <a:pt x="64769" y="64770"/>
                  </a:lnTo>
                  <a:lnTo>
                    <a:pt x="64769" y="0"/>
                  </a:lnTo>
                  <a:close/>
                </a:path>
              </a:pathLst>
            </a:custGeom>
            <a:solidFill>
              <a:srgbClr val="0065B0"/>
            </a:solidFill>
          </p:spPr>
          <p:txBody>
            <a:bodyPr wrap="square" lIns="0" tIns="0" rIns="0" bIns="0" rtlCol="0"/>
            <a:lstStyle/>
            <a:p/>
          </p:txBody>
        </p:sp>
      </p:grpSp>
      <p:sp>
        <p:nvSpPr>
          <p:cNvPr id="105" name="object 105" descr=""/>
          <p:cNvSpPr txBox="1"/>
          <p:nvPr/>
        </p:nvSpPr>
        <p:spPr>
          <a:xfrm>
            <a:off x="2734525" y="1397446"/>
            <a:ext cx="337185" cy="459105"/>
          </a:xfrm>
          <a:prstGeom prst="rect">
            <a:avLst/>
          </a:prstGeom>
        </p:spPr>
        <p:txBody>
          <a:bodyPr wrap="square" lIns="0" tIns="76835" rIns="0" bIns="0" rtlCol="0" vert="horz">
            <a:spAutoFit/>
          </a:bodyPr>
          <a:lstStyle/>
          <a:p>
            <a:pPr marL="12700">
              <a:lnSpc>
                <a:spcPct val="100000"/>
              </a:lnSpc>
              <a:spcBef>
                <a:spcPts val="605"/>
              </a:spcBef>
            </a:pPr>
            <a:r>
              <a:rPr dirty="0" sz="1000" spc="-20">
                <a:latin typeface="Arial MT"/>
                <a:cs typeface="Arial MT"/>
              </a:rPr>
              <a:t>32TR</a:t>
            </a:r>
            <a:endParaRPr sz="1000">
              <a:latin typeface="Arial MT"/>
              <a:cs typeface="Arial MT"/>
            </a:endParaRPr>
          </a:p>
          <a:p>
            <a:pPr marL="12700">
              <a:lnSpc>
                <a:spcPct val="100000"/>
              </a:lnSpc>
              <a:spcBef>
                <a:spcPts val="505"/>
              </a:spcBef>
            </a:pPr>
            <a:r>
              <a:rPr dirty="0" sz="1000" spc="-20">
                <a:latin typeface="Arial MT"/>
                <a:cs typeface="Arial MT"/>
              </a:rPr>
              <a:t>64TR</a:t>
            </a:r>
            <a:endParaRPr sz="1000">
              <a:latin typeface="Arial MT"/>
              <a:cs typeface="Arial M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4937342" y="2964327"/>
            <a:ext cx="2851785" cy="476884"/>
            <a:chOff x="4937342" y="2964327"/>
            <a:chExt cx="2851785" cy="476884"/>
          </a:xfrm>
        </p:grpSpPr>
        <p:sp>
          <p:nvSpPr>
            <p:cNvPr id="3" name="object 3" descr=""/>
            <p:cNvSpPr/>
            <p:nvPr/>
          </p:nvSpPr>
          <p:spPr>
            <a:xfrm>
              <a:off x="4950042" y="3228158"/>
              <a:ext cx="378460" cy="200660"/>
            </a:xfrm>
            <a:custGeom>
              <a:avLst/>
              <a:gdLst/>
              <a:ahLst/>
              <a:cxnLst/>
              <a:rect l="l" t="t" r="r" b="b"/>
              <a:pathLst>
                <a:path w="378460" h="200660">
                  <a:moveTo>
                    <a:pt x="0" y="20015"/>
                  </a:moveTo>
                  <a:lnTo>
                    <a:pt x="1573" y="12226"/>
                  </a:lnTo>
                  <a:lnTo>
                    <a:pt x="5864" y="5864"/>
                  </a:lnTo>
                  <a:lnTo>
                    <a:pt x="12226" y="1573"/>
                  </a:lnTo>
                  <a:lnTo>
                    <a:pt x="20015" y="0"/>
                  </a:lnTo>
                  <a:lnTo>
                    <a:pt x="358025" y="0"/>
                  </a:lnTo>
                  <a:lnTo>
                    <a:pt x="365814" y="1573"/>
                  </a:lnTo>
                  <a:lnTo>
                    <a:pt x="372176" y="5864"/>
                  </a:lnTo>
                  <a:lnTo>
                    <a:pt x="376467" y="12226"/>
                  </a:lnTo>
                  <a:lnTo>
                    <a:pt x="378040" y="20015"/>
                  </a:lnTo>
                  <a:lnTo>
                    <a:pt x="378040" y="180124"/>
                  </a:lnTo>
                  <a:lnTo>
                    <a:pt x="376467" y="187918"/>
                  </a:lnTo>
                  <a:lnTo>
                    <a:pt x="372176" y="194279"/>
                  </a:lnTo>
                  <a:lnTo>
                    <a:pt x="365814" y="198567"/>
                  </a:lnTo>
                  <a:lnTo>
                    <a:pt x="358025" y="200139"/>
                  </a:lnTo>
                  <a:lnTo>
                    <a:pt x="20015" y="200139"/>
                  </a:lnTo>
                  <a:lnTo>
                    <a:pt x="12226" y="198567"/>
                  </a:lnTo>
                  <a:lnTo>
                    <a:pt x="5864" y="194279"/>
                  </a:lnTo>
                  <a:lnTo>
                    <a:pt x="1573" y="187918"/>
                  </a:lnTo>
                  <a:lnTo>
                    <a:pt x="0" y="180124"/>
                  </a:lnTo>
                  <a:lnTo>
                    <a:pt x="0" y="20015"/>
                  </a:lnTo>
                  <a:close/>
                </a:path>
              </a:pathLst>
            </a:custGeom>
            <a:ln w="25400">
              <a:solidFill>
                <a:srgbClr val="BBE0E3"/>
              </a:solidFill>
            </a:ln>
          </p:spPr>
          <p:txBody>
            <a:bodyPr wrap="square" lIns="0" tIns="0" rIns="0" bIns="0" rtlCol="0"/>
            <a:lstStyle/>
            <a:p/>
          </p:txBody>
        </p:sp>
        <p:pic>
          <p:nvPicPr>
            <p:cNvPr id="4" name="object 4" descr=""/>
            <p:cNvPicPr/>
            <p:nvPr/>
          </p:nvPicPr>
          <p:blipFill>
            <a:blip r:embed="rId2" cstate="print"/>
            <a:stretch>
              <a:fillRect/>
            </a:stretch>
          </p:blipFill>
          <p:spPr>
            <a:xfrm>
              <a:off x="5006668" y="2964327"/>
              <a:ext cx="277417" cy="305794"/>
            </a:xfrm>
            <a:prstGeom prst="rect">
              <a:avLst/>
            </a:prstGeom>
          </p:spPr>
        </p:pic>
        <p:pic>
          <p:nvPicPr>
            <p:cNvPr id="5" name="object 5" descr=""/>
            <p:cNvPicPr/>
            <p:nvPr/>
          </p:nvPicPr>
          <p:blipFill>
            <a:blip r:embed="rId3" cstate="print"/>
            <a:stretch>
              <a:fillRect/>
            </a:stretch>
          </p:blipFill>
          <p:spPr>
            <a:xfrm>
              <a:off x="5364472" y="2964327"/>
              <a:ext cx="2424184" cy="366144"/>
            </a:xfrm>
            <a:prstGeom prst="rect">
              <a:avLst/>
            </a:prstGeom>
          </p:spPr>
        </p:pic>
      </p:grpSp>
      <p:sp>
        <p:nvSpPr>
          <p:cNvPr id="6" name="object 6"/>
          <p:cNvSpPr txBox="1">
            <a:spLocks noGrp="1"/>
          </p:cNvSpPr>
          <p:nvPr>
            <p:ph type="title"/>
          </p:nvPr>
        </p:nvSpPr>
        <p:spPr>
          <a:xfrm>
            <a:off x="1399189" y="92039"/>
            <a:ext cx="6801484" cy="513080"/>
          </a:xfrm>
          <a:prstGeom prst="rect"/>
        </p:spPr>
        <p:txBody>
          <a:bodyPr wrap="square" lIns="0" tIns="12065" rIns="0" bIns="0" rtlCol="0" vert="horz">
            <a:spAutoFit/>
          </a:bodyPr>
          <a:lstStyle/>
          <a:p>
            <a:pPr marL="12700">
              <a:lnSpc>
                <a:spcPct val="100000"/>
              </a:lnSpc>
              <a:spcBef>
                <a:spcPts val="95"/>
              </a:spcBef>
            </a:pPr>
            <a:r>
              <a:rPr dirty="0" spc="-35"/>
              <a:t>郊区</a:t>
            </a:r>
            <a:r>
              <a:rPr dirty="0" spc="-10">
                <a:latin typeface="Times New Roman"/>
                <a:cs typeface="Times New Roman"/>
              </a:rPr>
              <a:t>/</a:t>
            </a:r>
            <a:r>
              <a:rPr dirty="0" spc="-40"/>
              <a:t>农村采用</a:t>
            </a:r>
            <a:r>
              <a:rPr dirty="0" spc="-30">
                <a:latin typeface="Times New Roman"/>
                <a:cs typeface="Times New Roman"/>
              </a:rPr>
              <a:t>16TR</a:t>
            </a:r>
            <a:r>
              <a:rPr dirty="0" spc="-45"/>
              <a:t>，兼顾性能和成本</a:t>
            </a:r>
          </a:p>
        </p:txBody>
      </p:sp>
      <p:sp>
        <p:nvSpPr>
          <p:cNvPr id="7" name="object 7" descr=""/>
          <p:cNvSpPr txBox="1"/>
          <p:nvPr/>
        </p:nvSpPr>
        <p:spPr>
          <a:xfrm>
            <a:off x="467537" y="4799647"/>
            <a:ext cx="8353425" cy="292735"/>
          </a:xfrm>
          <a:prstGeom prst="rect">
            <a:avLst/>
          </a:prstGeom>
          <a:solidFill>
            <a:srgbClr val="92D050"/>
          </a:solidFill>
        </p:spPr>
        <p:txBody>
          <a:bodyPr wrap="square" lIns="0" tIns="39370" rIns="0" bIns="0" rtlCol="0" vert="horz">
            <a:spAutoFit/>
          </a:bodyPr>
          <a:lstStyle/>
          <a:p>
            <a:pPr marL="285750">
              <a:lnSpc>
                <a:spcPct val="100000"/>
              </a:lnSpc>
              <a:spcBef>
                <a:spcPts val="310"/>
              </a:spcBef>
            </a:pPr>
            <a:r>
              <a:rPr dirty="0" sz="1300" spc="-5" b="1">
                <a:solidFill>
                  <a:srgbClr val="FFFFFF"/>
                </a:solidFill>
                <a:latin typeface="Microsoft YaHei"/>
                <a:cs typeface="Microsoft YaHei"/>
              </a:rPr>
              <a:t>基于性价比的考虑，</a:t>
            </a:r>
            <a:r>
              <a:rPr dirty="0" sz="1300" spc="-10" b="1">
                <a:solidFill>
                  <a:srgbClr val="FFFFFF"/>
                </a:solidFill>
                <a:latin typeface="Microsoft YaHei"/>
                <a:cs typeface="Microsoft YaHei"/>
              </a:rPr>
              <a:t>16TR</a:t>
            </a:r>
            <a:r>
              <a:rPr dirty="0" sz="1300" spc="-5" b="1">
                <a:solidFill>
                  <a:srgbClr val="FFFFFF"/>
                </a:solidFill>
                <a:latin typeface="Microsoft YaHei"/>
                <a:cs typeface="Microsoft YaHei"/>
              </a:rPr>
              <a:t>产品与</a:t>
            </a:r>
            <a:r>
              <a:rPr dirty="0" sz="1300" spc="-10" b="1">
                <a:solidFill>
                  <a:srgbClr val="FFFFFF"/>
                </a:solidFill>
                <a:latin typeface="Microsoft YaHei"/>
                <a:cs typeface="Microsoft YaHei"/>
              </a:rPr>
              <a:t>64TR</a:t>
            </a:r>
            <a:r>
              <a:rPr dirty="0" sz="1300" spc="-15" b="1">
                <a:solidFill>
                  <a:srgbClr val="FFFFFF"/>
                </a:solidFill>
                <a:latin typeface="Microsoft YaHei"/>
                <a:cs typeface="Microsoft YaHei"/>
              </a:rPr>
              <a:t>形成高低搭配，适用于郊区、农村等流量需求相对不高的低价值场景</a:t>
            </a:r>
            <a:endParaRPr sz="1300">
              <a:latin typeface="Microsoft YaHei"/>
              <a:cs typeface="Microsoft YaHei"/>
            </a:endParaRPr>
          </a:p>
        </p:txBody>
      </p:sp>
      <p:sp>
        <p:nvSpPr>
          <p:cNvPr id="8" name="object 8" descr=""/>
          <p:cNvSpPr txBox="1"/>
          <p:nvPr/>
        </p:nvSpPr>
        <p:spPr>
          <a:xfrm>
            <a:off x="4758749" y="767899"/>
            <a:ext cx="109220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C00000"/>
                </a:solidFill>
                <a:latin typeface="Microsoft YaHei"/>
                <a:cs typeface="Microsoft YaHei"/>
              </a:rPr>
              <a:t>覆盖性能对比：</a:t>
            </a:r>
            <a:endParaRPr sz="1200">
              <a:latin typeface="Microsoft YaHei"/>
              <a:cs typeface="Microsoft YaHei"/>
            </a:endParaRPr>
          </a:p>
        </p:txBody>
      </p:sp>
      <p:grpSp>
        <p:nvGrpSpPr>
          <p:cNvPr id="9" name="object 9" descr=""/>
          <p:cNvGrpSpPr/>
          <p:nvPr/>
        </p:nvGrpSpPr>
        <p:grpSpPr>
          <a:xfrm>
            <a:off x="2401328" y="3319271"/>
            <a:ext cx="1666875" cy="995044"/>
            <a:chOff x="2401328" y="3319271"/>
            <a:chExt cx="1666875" cy="995044"/>
          </a:xfrm>
        </p:grpSpPr>
        <p:sp>
          <p:nvSpPr>
            <p:cNvPr id="10" name="object 10" descr=""/>
            <p:cNvSpPr/>
            <p:nvPr/>
          </p:nvSpPr>
          <p:spPr>
            <a:xfrm>
              <a:off x="3553421" y="3838917"/>
              <a:ext cx="89535" cy="426084"/>
            </a:xfrm>
            <a:custGeom>
              <a:avLst/>
              <a:gdLst/>
              <a:ahLst/>
              <a:cxnLst/>
              <a:rect l="l" t="t" r="r" b="b"/>
              <a:pathLst>
                <a:path w="89535" h="426085">
                  <a:moveTo>
                    <a:pt x="89306" y="0"/>
                  </a:moveTo>
                  <a:lnTo>
                    <a:pt x="0" y="0"/>
                  </a:lnTo>
                  <a:lnTo>
                    <a:pt x="0" y="425792"/>
                  </a:lnTo>
                  <a:lnTo>
                    <a:pt x="89306" y="425792"/>
                  </a:lnTo>
                  <a:lnTo>
                    <a:pt x="89306" y="0"/>
                  </a:lnTo>
                  <a:close/>
                </a:path>
              </a:pathLst>
            </a:custGeom>
            <a:solidFill>
              <a:srgbClr val="BFCCC0"/>
            </a:solidFill>
          </p:spPr>
          <p:txBody>
            <a:bodyPr wrap="square" lIns="0" tIns="0" rIns="0" bIns="0" rtlCol="0"/>
            <a:lstStyle/>
            <a:p/>
          </p:txBody>
        </p:sp>
        <p:sp>
          <p:nvSpPr>
            <p:cNvPr id="11" name="object 11" descr=""/>
            <p:cNvSpPr/>
            <p:nvPr/>
          </p:nvSpPr>
          <p:spPr>
            <a:xfrm>
              <a:off x="3552406" y="3838384"/>
              <a:ext cx="91440" cy="426720"/>
            </a:xfrm>
            <a:custGeom>
              <a:avLst/>
              <a:gdLst/>
              <a:ahLst/>
              <a:cxnLst/>
              <a:rect l="l" t="t" r="r" b="b"/>
              <a:pathLst>
                <a:path w="91439" h="426720">
                  <a:moveTo>
                    <a:pt x="91338" y="1854"/>
                  </a:moveTo>
                  <a:lnTo>
                    <a:pt x="88938" y="1854"/>
                  </a:lnTo>
                  <a:lnTo>
                    <a:pt x="88938" y="424954"/>
                  </a:lnTo>
                  <a:lnTo>
                    <a:pt x="91338" y="424954"/>
                  </a:lnTo>
                  <a:lnTo>
                    <a:pt x="91338" y="1854"/>
                  </a:lnTo>
                  <a:close/>
                </a:path>
                <a:path w="91439" h="426720">
                  <a:moveTo>
                    <a:pt x="91338" y="0"/>
                  </a:moveTo>
                  <a:lnTo>
                    <a:pt x="0" y="0"/>
                  </a:lnTo>
                  <a:lnTo>
                    <a:pt x="0" y="1270"/>
                  </a:lnTo>
                  <a:lnTo>
                    <a:pt x="0" y="425450"/>
                  </a:lnTo>
                  <a:lnTo>
                    <a:pt x="0" y="426720"/>
                  </a:lnTo>
                  <a:lnTo>
                    <a:pt x="91338" y="426720"/>
                  </a:lnTo>
                  <a:lnTo>
                    <a:pt x="91338" y="425450"/>
                  </a:lnTo>
                  <a:lnTo>
                    <a:pt x="2387" y="425450"/>
                  </a:lnTo>
                  <a:lnTo>
                    <a:pt x="2387" y="1270"/>
                  </a:lnTo>
                  <a:lnTo>
                    <a:pt x="91338" y="1270"/>
                  </a:lnTo>
                  <a:lnTo>
                    <a:pt x="91338" y="0"/>
                  </a:lnTo>
                  <a:close/>
                </a:path>
              </a:pathLst>
            </a:custGeom>
            <a:solidFill>
              <a:srgbClr val="879C82"/>
            </a:solidFill>
          </p:spPr>
          <p:txBody>
            <a:bodyPr wrap="square" lIns="0" tIns="0" rIns="0" bIns="0" rtlCol="0"/>
            <a:lstStyle/>
            <a:p/>
          </p:txBody>
        </p:sp>
        <p:sp>
          <p:nvSpPr>
            <p:cNvPr id="12" name="object 12" descr=""/>
            <p:cNvSpPr/>
            <p:nvPr/>
          </p:nvSpPr>
          <p:spPr>
            <a:xfrm>
              <a:off x="3553425" y="3797453"/>
              <a:ext cx="121285" cy="41910"/>
            </a:xfrm>
            <a:custGeom>
              <a:avLst/>
              <a:gdLst/>
              <a:ahLst/>
              <a:cxnLst/>
              <a:rect l="l" t="t" r="r" b="b"/>
              <a:pathLst>
                <a:path w="121285" h="41910">
                  <a:moveTo>
                    <a:pt x="120764" y="0"/>
                  </a:moveTo>
                  <a:lnTo>
                    <a:pt x="31445" y="0"/>
                  </a:lnTo>
                  <a:lnTo>
                    <a:pt x="0" y="41465"/>
                  </a:lnTo>
                  <a:lnTo>
                    <a:pt x="89077" y="41465"/>
                  </a:lnTo>
                  <a:lnTo>
                    <a:pt x="120764" y="0"/>
                  </a:lnTo>
                  <a:close/>
                </a:path>
              </a:pathLst>
            </a:custGeom>
            <a:solidFill>
              <a:srgbClr val="E0E6E2"/>
            </a:solidFill>
          </p:spPr>
          <p:txBody>
            <a:bodyPr wrap="square" lIns="0" tIns="0" rIns="0" bIns="0" rtlCol="0"/>
            <a:lstStyle/>
            <a:p/>
          </p:txBody>
        </p:sp>
        <p:sp>
          <p:nvSpPr>
            <p:cNvPr id="13" name="object 13" descr=""/>
            <p:cNvSpPr/>
            <p:nvPr/>
          </p:nvSpPr>
          <p:spPr>
            <a:xfrm>
              <a:off x="3552412" y="3796435"/>
              <a:ext cx="123825" cy="45085"/>
            </a:xfrm>
            <a:custGeom>
              <a:avLst/>
              <a:gdLst/>
              <a:ahLst/>
              <a:cxnLst/>
              <a:rect l="l" t="t" r="r" b="b"/>
              <a:pathLst>
                <a:path w="123825" h="45085">
                  <a:moveTo>
                    <a:pt x="123812" y="0"/>
                  </a:moveTo>
                  <a:lnTo>
                    <a:pt x="31902" y="0"/>
                  </a:lnTo>
                  <a:lnTo>
                    <a:pt x="0" y="42659"/>
                  </a:lnTo>
                  <a:lnTo>
                    <a:pt x="177" y="44500"/>
                  </a:lnTo>
                  <a:lnTo>
                    <a:pt x="90474" y="44500"/>
                  </a:lnTo>
                  <a:lnTo>
                    <a:pt x="92205" y="42189"/>
                  </a:lnTo>
                  <a:lnTo>
                    <a:pt x="3517" y="42189"/>
                  </a:lnTo>
                  <a:lnTo>
                    <a:pt x="33032" y="2387"/>
                  </a:lnTo>
                  <a:lnTo>
                    <a:pt x="121999" y="2387"/>
                  </a:lnTo>
                  <a:lnTo>
                    <a:pt x="123812" y="0"/>
                  </a:lnTo>
                  <a:close/>
                </a:path>
                <a:path w="123825" h="45085">
                  <a:moveTo>
                    <a:pt x="121999" y="2387"/>
                  </a:moveTo>
                  <a:lnTo>
                    <a:pt x="119037" y="2387"/>
                  </a:lnTo>
                  <a:lnTo>
                    <a:pt x="89280" y="42189"/>
                  </a:lnTo>
                  <a:lnTo>
                    <a:pt x="92205" y="42189"/>
                  </a:lnTo>
                  <a:lnTo>
                    <a:pt x="121999" y="2387"/>
                  </a:lnTo>
                  <a:close/>
                </a:path>
              </a:pathLst>
            </a:custGeom>
            <a:solidFill>
              <a:srgbClr val="879C82"/>
            </a:solidFill>
          </p:spPr>
          <p:txBody>
            <a:bodyPr wrap="square" lIns="0" tIns="0" rIns="0" bIns="0" rtlCol="0"/>
            <a:lstStyle/>
            <a:p/>
          </p:txBody>
        </p:sp>
        <p:sp>
          <p:nvSpPr>
            <p:cNvPr id="14" name="object 14" descr=""/>
            <p:cNvSpPr/>
            <p:nvPr/>
          </p:nvSpPr>
          <p:spPr>
            <a:xfrm>
              <a:off x="3642733" y="3797453"/>
              <a:ext cx="31750" cy="467359"/>
            </a:xfrm>
            <a:custGeom>
              <a:avLst/>
              <a:gdLst/>
              <a:ahLst/>
              <a:cxnLst/>
              <a:rect l="l" t="t" r="r" b="b"/>
              <a:pathLst>
                <a:path w="31750" h="467360">
                  <a:moveTo>
                    <a:pt x="31457" y="0"/>
                  </a:moveTo>
                  <a:lnTo>
                    <a:pt x="0" y="42240"/>
                  </a:lnTo>
                  <a:lnTo>
                    <a:pt x="0" y="467258"/>
                  </a:lnTo>
                  <a:lnTo>
                    <a:pt x="31457" y="425068"/>
                  </a:lnTo>
                  <a:lnTo>
                    <a:pt x="31457" y="0"/>
                  </a:lnTo>
                  <a:close/>
                </a:path>
              </a:pathLst>
            </a:custGeom>
            <a:ln w="4762">
              <a:solidFill>
                <a:srgbClr val="879C82"/>
              </a:solidFill>
            </a:ln>
          </p:spPr>
          <p:txBody>
            <a:bodyPr wrap="square" lIns="0" tIns="0" rIns="0" bIns="0" rtlCol="0"/>
            <a:lstStyle/>
            <a:p/>
          </p:txBody>
        </p:sp>
        <p:sp>
          <p:nvSpPr>
            <p:cNvPr id="15" name="object 15" descr=""/>
            <p:cNvSpPr/>
            <p:nvPr/>
          </p:nvSpPr>
          <p:spPr>
            <a:xfrm>
              <a:off x="3561549" y="392791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6" name="object 16" descr=""/>
            <p:cNvSpPr/>
            <p:nvPr/>
          </p:nvSpPr>
          <p:spPr>
            <a:xfrm>
              <a:off x="3560533" y="3926903"/>
              <a:ext cx="28575" cy="45720"/>
            </a:xfrm>
            <a:custGeom>
              <a:avLst/>
              <a:gdLst/>
              <a:ahLst/>
              <a:cxnLst/>
              <a:rect l="l" t="t" r="r" b="b"/>
              <a:pathLst>
                <a:path w="28575" h="45720">
                  <a:moveTo>
                    <a:pt x="28409" y="0"/>
                  </a:moveTo>
                  <a:lnTo>
                    <a:pt x="0" y="0"/>
                  </a:lnTo>
                  <a:lnTo>
                    <a:pt x="0" y="45516"/>
                  </a:lnTo>
                  <a:lnTo>
                    <a:pt x="28409" y="45516"/>
                  </a:lnTo>
                  <a:lnTo>
                    <a:pt x="28409" y="44246"/>
                  </a:lnTo>
                  <a:lnTo>
                    <a:pt x="1257" y="44246"/>
                  </a:lnTo>
                  <a:lnTo>
                    <a:pt x="1257" y="1155"/>
                  </a:lnTo>
                  <a:lnTo>
                    <a:pt x="28409" y="1155"/>
                  </a:lnTo>
                  <a:lnTo>
                    <a:pt x="28409" y="0"/>
                  </a:lnTo>
                  <a:close/>
                </a:path>
                <a:path w="28575" h="45720">
                  <a:moveTo>
                    <a:pt x="28409" y="1155"/>
                  </a:moveTo>
                  <a:lnTo>
                    <a:pt x="27165" y="1155"/>
                  </a:lnTo>
                  <a:lnTo>
                    <a:pt x="27165" y="44246"/>
                  </a:lnTo>
                  <a:lnTo>
                    <a:pt x="28409" y="44246"/>
                  </a:lnTo>
                  <a:lnTo>
                    <a:pt x="28409" y="1155"/>
                  </a:lnTo>
                  <a:close/>
                </a:path>
              </a:pathLst>
            </a:custGeom>
            <a:solidFill>
              <a:srgbClr val="879C82"/>
            </a:solidFill>
          </p:spPr>
          <p:txBody>
            <a:bodyPr wrap="square" lIns="0" tIns="0" rIns="0" bIns="0" rtlCol="0"/>
            <a:lstStyle/>
            <a:p/>
          </p:txBody>
        </p:sp>
        <p:sp>
          <p:nvSpPr>
            <p:cNvPr id="17" name="object 17" descr=""/>
            <p:cNvSpPr/>
            <p:nvPr/>
          </p:nvSpPr>
          <p:spPr>
            <a:xfrm>
              <a:off x="3603155" y="3927919"/>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E0E6E2"/>
            </a:solidFill>
          </p:spPr>
          <p:txBody>
            <a:bodyPr wrap="square" lIns="0" tIns="0" rIns="0" bIns="0" rtlCol="0"/>
            <a:lstStyle/>
            <a:p/>
          </p:txBody>
        </p:sp>
        <p:sp>
          <p:nvSpPr>
            <p:cNvPr id="18" name="object 18" descr=""/>
            <p:cNvSpPr/>
            <p:nvPr/>
          </p:nvSpPr>
          <p:spPr>
            <a:xfrm>
              <a:off x="3602139" y="3926903"/>
              <a:ext cx="28575" cy="45720"/>
            </a:xfrm>
            <a:custGeom>
              <a:avLst/>
              <a:gdLst/>
              <a:ahLst/>
              <a:cxnLst/>
              <a:rect l="l" t="t" r="r" b="b"/>
              <a:pathLst>
                <a:path w="28575" h="45720">
                  <a:moveTo>
                    <a:pt x="28409" y="0"/>
                  </a:moveTo>
                  <a:lnTo>
                    <a:pt x="0" y="0"/>
                  </a:lnTo>
                  <a:lnTo>
                    <a:pt x="0" y="45516"/>
                  </a:lnTo>
                  <a:lnTo>
                    <a:pt x="28409" y="45516"/>
                  </a:lnTo>
                  <a:lnTo>
                    <a:pt x="28409" y="44246"/>
                  </a:lnTo>
                  <a:lnTo>
                    <a:pt x="1257" y="44246"/>
                  </a:lnTo>
                  <a:lnTo>
                    <a:pt x="1257" y="1155"/>
                  </a:lnTo>
                  <a:lnTo>
                    <a:pt x="28409" y="1155"/>
                  </a:lnTo>
                  <a:lnTo>
                    <a:pt x="28409" y="0"/>
                  </a:lnTo>
                  <a:close/>
                </a:path>
                <a:path w="28575" h="45720">
                  <a:moveTo>
                    <a:pt x="28409" y="1155"/>
                  </a:moveTo>
                  <a:lnTo>
                    <a:pt x="27165" y="1155"/>
                  </a:lnTo>
                  <a:lnTo>
                    <a:pt x="27165" y="44246"/>
                  </a:lnTo>
                  <a:lnTo>
                    <a:pt x="28409" y="44246"/>
                  </a:lnTo>
                  <a:lnTo>
                    <a:pt x="28409" y="1155"/>
                  </a:lnTo>
                  <a:close/>
                </a:path>
              </a:pathLst>
            </a:custGeom>
            <a:solidFill>
              <a:srgbClr val="879C82"/>
            </a:solidFill>
          </p:spPr>
          <p:txBody>
            <a:bodyPr wrap="square" lIns="0" tIns="0" rIns="0" bIns="0" rtlCol="0"/>
            <a:lstStyle/>
            <a:p/>
          </p:txBody>
        </p:sp>
        <p:sp>
          <p:nvSpPr>
            <p:cNvPr id="19" name="object 19" descr=""/>
            <p:cNvSpPr/>
            <p:nvPr/>
          </p:nvSpPr>
          <p:spPr>
            <a:xfrm>
              <a:off x="3561549" y="400276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0" name="object 20" descr=""/>
            <p:cNvSpPr/>
            <p:nvPr/>
          </p:nvSpPr>
          <p:spPr>
            <a:xfrm>
              <a:off x="3560533" y="4001744"/>
              <a:ext cx="28575" cy="45085"/>
            </a:xfrm>
            <a:custGeom>
              <a:avLst/>
              <a:gdLst/>
              <a:ahLst/>
              <a:cxnLst/>
              <a:rect l="l" t="t" r="r" b="b"/>
              <a:pathLst>
                <a:path w="28575" h="45085">
                  <a:moveTo>
                    <a:pt x="28409" y="0"/>
                  </a:moveTo>
                  <a:lnTo>
                    <a:pt x="0" y="0"/>
                  </a:lnTo>
                  <a:lnTo>
                    <a:pt x="0" y="44500"/>
                  </a:lnTo>
                  <a:lnTo>
                    <a:pt x="28409" y="44500"/>
                  </a:lnTo>
                  <a:lnTo>
                    <a:pt x="28409" y="43370"/>
                  </a:lnTo>
                  <a:lnTo>
                    <a:pt x="1257" y="43370"/>
                  </a:lnTo>
                  <a:lnTo>
                    <a:pt x="1257" y="1181"/>
                  </a:lnTo>
                  <a:lnTo>
                    <a:pt x="28409" y="1181"/>
                  </a:lnTo>
                  <a:lnTo>
                    <a:pt x="28409" y="0"/>
                  </a:lnTo>
                  <a:close/>
                </a:path>
                <a:path w="28575" h="45085">
                  <a:moveTo>
                    <a:pt x="28409" y="1181"/>
                  </a:moveTo>
                  <a:lnTo>
                    <a:pt x="27165" y="1181"/>
                  </a:lnTo>
                  <a:lnTo>
                    <a:pt x="27165" y="43370"/>
                  </a:lnTo>
                  <a:lnTo>
                    <a:pt x="28409" y="43370"/>
                  </a:lnTo>
                  <a:lnTo>
                    <a:pt x="28409" y="1181"/>
                  </a:lnTo>
                  <a:close/>
                </a:path>
              </a:pathLst>
            </a:custGeom>
            <a:solidFill>
              <a:srgbClr val="879C82"/>
            </a:solidFill>
          </p:spPr>
          <p:txBody>
            <a:bodyPr wrap="square" lIns="0" tIns="0" rIns="0" bIns="0" rtlCol="0"/>
            <a:lstStyle/>
            <a:p/>
          </p:txBody>
        </p:sp>
        <p:sp>
          <p:nvSpPr>
            <p:cNvPr id="21" name="object 21" descr=""/>
            <p:cNvSpPr/>
            <p:nvPr/>
          </p:nvSpPr>
          <p:spPr>
            <a:xfrm>
              <a:off x="3603155" y="4002760"/>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E0E6E2"/>
            </a:solidFill>
          </p:spPr>
          <p:txBody>
            <a:bodyPr wrap="square" lIns="0" tIns="0" rIns="0" bIns="0" rtlCol="0"/>
            <a:lstStyle/>
            <a:p/>
          </p:txBody>
        </p:sp>
        <p:sp>
          <p:nvSpPr>
            <p:cNvPr id="22" name="object 22" descr=""/>
            <p:cNvSpPr/>
            <p:nvPr/>
          </p:nvSpPr>
          <p:spPr>
            <a:xfrm>
              <a:off x="3602139" y="4001744"/>
              <a:ext cx="28575" cy="45085"/>
            </a:xfrm>
            <a:custGeom>
              <a:avLst/>
              <a:gdLst/>
              <a:ahLst/>
              <a:cxnLst/>
              <a:rect l="l" t="t" r="r" b="b"/>
              <a:pathLst>
                <a:path w="28575" h="45085">
                  <a:moveTo>
                    <a:pt x="28409" y="0"/>
                  </a:moveTo>
                  <a:lnTo>
                    <a:pt x="0" y="0"/>
                  </a:lnTo>
                  <a:lnTo>
                    <a:pt x="0" y="44500"/>
                  </a:lnTo>
                  <a:lnTo>
                    <a:pt x="28409" y="44500"/>
                  </a:lnTo>
                  <a:lnTo>
                    <a:pt x="28409" y="43370"/>
                  </a:lnTo>
                  <a:lnTo>
                    <a:pt x="1257" y="43370"/>
                  </a:lnTo>
                  <a:lnTo>
                    <a:pt x="1257" y="1181"/>
                  </a:lnTo>
                  <a:lnTo>
                    <a:pt x="28409" y="1181"/>
                  </a:lnTo>
                  <a:lnTo>
                    <a:pt x="28409" y="0"/>
                  </a:lnTo>
                  <a:close/>
                </a:path>
                <a:path w="28575" h="45085">
                  <a:moveTo>
                    <a:pt x="28409" y="1181"/>
                  </a:moveTo>
                  <a:lnTo>
                    <a:pt x="27165" y="1181"/>
                  </a:lnTo>
                  <a:lnTo>
                    <a:pt x="27165" y="43370"/>
                  </a:lnTo>
                  <a:lnTo>
                    <a:pt x="28409" y="43370"/>
                  </a:lnTo>
                  <a:lnTo>
                    <a:pt x="28409" y="1181"/>
                  </a:lnTo>
                  <a:close/>
                </a:path>
              </a:pathLst>
            </a:custGeom>
            <a:solidFill>
              <a:srgbClr val="879C82"/>
            </a:solidFill>
          </p:spPr>
          <p:txBody>
            <a:bodyPr wrap="square" lIns="0" tIns="0" rIns="0" bIns="0" rtlCol="0"/>
            <a:lstStyle/>
            <a:p/>
          </p:txBody>
        </p:sp>
        <p:sp>
          <p:nvSpPr>
            <p:cNvPr id="23" name="object 23" descr=""/>
            <p:cNvSpPr/>
            <p:nvPr/>
          </p:nvSpPr>
          <p:spPr>
            <a:xfrm>
              <a:off x="3561549" y="407760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4" name="object 24" descr=""/>
            <p:cNvSpPr/>
            <p:nvPr/>
          </p:nvSpPr>
          <p:spPr>
            <a:xfrm>
              <a:off x="3560533" y="4076585"/>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193"/>
                  </a:lnTo>
                  <a:lnTo>
                    <a:pt x="28409" y="1193"/>
                  </a:lnTo>
                  <a:lnTo>
                    <a:pt x="28409" y="0"/>
                  </a:lnTo>
                  <a:close/>
                </a:path>
                <a:path w="28575" h="45085">
                  <a:moveTo>
                    <a:pt x="28409" y="1193"/>
                  </a:moveTo>
                  <a:lnTo>
                    <a:pt x="27165" y="1193"/>
                  </a:lnTo>
                  <a:lnTo>
                    <a:pt x="27165" y="43319"/>
                  </a:lnTo>
                  <a:lnTo>
                    <a:pt x="28409" y="43319"/>
                  </a:lnTo>
                  <a:lnTo>
                    <a:pt x="28409" y="1193"/>
                  </a:lnTo>
                  <a:close/>
                </a:path>
              </a:pathLst>
            </a:custGeom>
            <a:solidFill>
              <a:srgbClr val="879C82"/>
            </a:solidFill>
          </p:spPr>
          <p:txBody>
            <a:bodyPr wrap="square" lIns="0" tIns="0" rIns="0" bIns="0" rtlCol="0"/>
            <a:lstStyle/>
            <a:p/>
          </p:txBody>
        </p:sp>
        <p:sp>
          <p:nvSpPr>
            <p:cNvPr id="25" name="object 25" descr=""/>
            <p:cNvSpPr/>
            <p:nvPr/>
          </p:nvSpPr>
          <p:spPr>
            <a:xfrm>
              <a:off x="3603155" y="4077601"/>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E0E6E2"/>
            </a:solidFill>
          </p:spPr>
          <p:txBody>
            <a:bodyPr wrap="square" lIns="0" tIns="0" rIns="0" bIns="0" rtlCol="0"/>
            <a:lstStyle/>
            <a:p/>
          </p:txBody>
        </p:sp>
        <p:sp>
          <p:nvSpPr>
            <p:cNvPr id="26" name="object 26" descr=""/>
            <p:cNvSpPr/>
            <p:nvPr/>
          </p:nvSpPr>
          <p:spPr>
            <a:xfrm>
              <a:off x="3602139" y="4076585"/>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193"/>
                  </a:lnTo>
                  <a:lnTo>
                    <a:pt x="28409" y="1193"/>
                  </a:lnTo>
                  <a:lnTo>
                    <a:pt x="28409" y="0"/>
                  </a:lnTo>
                  <a:close/>
                </a:path>
                <a:path w="28575" h="45085">
                  <a:moveTo>
                    <a:pt x="28409" y="1193"/>
                  </a:moveTo>
                  <a:lnTo>
                    <a:pt x="27165" y="1193"/>
                  </a:lnTo>
                  <a:lnTo>
                    <a:pt x="27165" y="43319"/>
                  </a:lnTo>
                  <a:lnTo>
                    <a:pt x="28409" y="43319"/>
                  </a:lnTo>
                  <a:lnTo>
                    <a:pt x="28409" y="1193"/>
                  </a:lnTo>
                  <a:close/>
                </a:path>
              </a:pathLst>
            </a:custGeom>
            <a:solidFill>
              <a:srgbClr val="879C82"/>
            </a:solidFill>
          </p:spPr>
          <p:txBody>
            <a:bodyPr wrap="square" lIns="0" tIns="0" rIns="0" bIns="0" rtlCol="0"/>
            <a:lstStyle/>
            <a:p/>
          </p:txBody>
        </p:sp>
        <p:sp>
          <p:nvSpPr>
            <p:cNvPr id="27" name="object 27" descr=""/>
            <p:cNvSpPr/>
            <p:nvPr/>
          </p:nvSpPr>
          <p:spPr>
            <a:xfrm>
              <a:off x="3642728" y="3427285"/>
              <a:ext cx="174625" cy="837565"/>
            </a:xfrm>
            <a:custGeom>
              <a:avLst/>
              <a:gdLst/>
              <a:ahLst/>
              <a:cxnLst/>
              <a:rect l="l" t="t" r="r" b="b"/>
              <a:pathLst>
                <a:path w="174625" h="837564">
                  <a:moveTo>
                    <a:pt x="174548" y="0"/>
                  </a:moveTo>
                  <a:lnTo>
                    <a:pt x="0" y="0"/>
                  </a:lnTo>
                  <a:lnTo>
                    <a:pt x="0" y="837412"/>
                  </a:lnTo>
                  <a:lnTo>
                    <a:pt x="174548" y="837412"/>
                  </a:lnTo>
                  <a:lnTo>
                    <a:pt x="174548" y="0"/>
                  </a:lnTo>
                  <a:close/>
                </a:path>
              </a:pathLst>
            </a:custGeom>
            <a:solidFill>
              <a:srgbClr val="BFCCC0"/>
            </a:solidFill>
          </p:spPr>
          <p:txBody>
            <a:bodyPr wrap="square" lIns="0" tIns="0" rIns="0" bIns="0" rtlCol="0"/>
            <a:lstStyle/>
            <a:p/>
          </p:txBody>
        </p:sp>
        <p:sp>
          <p:nvSpPr>
            <p:cNvPr id="28" name="object 28" descr=""/>
            <p:cNvSpPr/>
            <p:nvPr/>
          </p:nvSpPr>
          <p:spPr>
            <a:xfrm>
              <a:off x="3641699" y="3426409"/>
              <a:ext cx="177165" cy="839469"/>
            </a:xfrm>
            <a:custGeom>
              <a:avLst/>
              <a:gdLst/>
              <a:ahLst/>
              <a:cxnLst/>
              <a:rect l="l" t="t" r="r" b="b"/>
              <a:pathLst>
                <a:path w="177164" h="839470">
                  <a:moveTo>
                    <a:pt x="176580" y="0"/>
                  </a:moveTo>
                  <a:lnTo>
                    <a:pt x="174193" y="0"/>
                  </a:lnTo>
                  <a:lnTo>
                    <a:pt x="174193" y="2540"/>
                  </a:lnTo>
                  <a:lnTo>
                    <a:pt x="174193" y="836930"/>
                  </a:lnTo>
                  <a:lnTo>
                    <a:pt x="2387" y="836930"/>
                  </a:lnTo>
                  <a:lnTo>
                    <a:pt x="2387" y="2540"/>
                  </a:lnTo>
                  <a:lnTo>
                    <a:pt x="174193" y="2540"/>
                  </a:lnTo>
                  <a:lnTo>
                    <a:pt x="174193" y="0"/>
                  </a:lnTo>
                  <a:lnTo>
                    <a:pt x="482" y="0"/>
                  </a:lnTo>
                  <a:lnTo>
                    <a:pt x="482" y="2540"/>
                  </a:lnTo>
                  <a:lnTo>
                    <a:pt x="241" y="2540"/>
                  </a:lnTo>
                  <a:lnTo>
                    <a:pt x="241" y="836930"/>
                  </a:lnTo>
                  <a:lnTo>
                    <a:pt x="0" y="836930"/>
                  </a:lnTo>
                  <a:lnTo>
                    <a:pt x="0" y="839470"/>
                  </a:lnTo>
                  <a:lnTo>
                    <a:pt x="176580" y="839470"/>
                  </a:lnTo>
                  <a:lnTo>
                    <a:pt x="176580" y="836942"/>
                  </a:lnTo>
                  <a:lnTo>
                    <a:pt x="176580" y="2540"/>
                  </a:lnTo>
                  <a:lnTo>
                    <a:pt x="176580" y="2260"/>
                  </a:lnTo>
                  <a:lnTo>
                    <a:pt x="176580" y="0"/>
                  </a:lnTo>
                  <a:close/>
                </a:path>
              </a:pathLst>
            </a:custGeom>
            <a:solidFill>
              <a:srgbClr val="879C82"/>
            </a:solidFill>
          </p:spPr>
          <p:txBody>
            <a:bodyPr wrap="square" lIns="0" tIns="0" rIns="0" bIns="0" rtlCol="0"/>
            <a:lstStyle/>
            <a:p/>
          </p:txBody>
        </p:sp>
        <p:pic>
          <p:nvPicPr>
            <p:cNvPr id="29" name="object 29" descr=""/>
            <p:cNvPicPr/>
            <p:nvPr/>
          </p:nvPicPr>
          <p:blipFill>
            <a:blip r:embed="rId4" cstate="print"/>
            <a:stretch>
              <a:fillRect/>
            </a:stretch>
          </p:blipFill>
          <p:spPr>
            <a:xfrm>
              <a:off x="3641713" y="3339306"/>
              <a:ext cx="242544" cy="89001"/>
            </a:xfrm>
            <a:prstGeom prst="rect">
              <a:avLst/>
            </a:prstGeom>
          </p:spPr>
        </p:pic>
        <p:sp>
          <p:nvSpPr>
            <p:cNvPr id="30" name="object 30" descr=""/>
            <p:cNvSpPr/>
            <p:nvPr/>
          </p:nvSpPr>
          <p:spPr>
            <a:xfrm>
              <a:off x="3817282" y="3340312"/>
              <a:ext cx="66040" cy="924560"/>
            </a:xfrm>
            <a:custGeom>
              <a:avLst/>
              <a:gdLst/>
              <a:ahLst/>
              <a:cxnLst/>
              <a:rect l="l" t="t" r="r" b="b"/>
              <a:pathLst>
                <a:path w="66039" h="924560">
                  <a:moveTo>
                    <a:pt x="65963" y="0"/>
                  </a:moveTo>
                  <a:lnTo>
                    <a:pt x="0" y="86969"/>
                  </a:lnTo>
                  <a:lnTo>
                    <a:pt x="0" y="924394"/>
                  </a:lnTo>
                  <a:lnTo>
                    <a:pt x="65722" y="845464"/>
                  </a:lnTo>
                  <a:lnTo>
                    <a:pt x="65963" y="0"/>
                  </a:lnTo>
                  <a:close/>
                </a:path>
              </a:pathLst>
            </a:custGeom>
            <a:solidFill>
              <a:srgbClr val="A5B8A6"/>
            </a:solidFill>
          </p:spPr>
          <p:txBody>
            <a:bodyPr wrap="square" lIns="0" tIns="0" rIns="0" bIns="0" rtlCol="0"/>
            <a:lstStyle/>
            <a:p/>
          </p:txBody>
        </p:sp>
        <p:sp>
          <p:nvSpPr>
            <p:cNvPr id="31" name="object 31" descr=""/>
            <p:cNvSpPr/>
            <p:nvPr/>
          </p:nvSpPr>
          <p:spPr>
            <a:xfrm>
              <a:off x="3816272" y="3339296"/>
              <a:ext cx="68580" cy="925830"/>
            </a:xfrm>
            <a:custGeom>
              <a:avLst/>
              <a:gdLst/>
              <a:ahLst/>
              <a:cxnLst/>
              <a:rect l="l" t="t" r="r" b="b"/>
              <a:pathLst>
                <a:path w="68579" h="925829">
                  <a:moveTo>
                    <a:pt x="65862" y="0"/>
                  </a:moveTo>
                  <a:lnTo>
                    <a:pt x="228" y="86868"/>
                  </a:lnTo>
                  <a:lnTo>
                    <a:pt x="0" y="87579"/>
                  </a:lnTo>
                  <a:lnTo>
                    <a:pt x="0" y="924636"/>
                  </a:lnTo>
                  <a:lnTo>
                    <a:pt x="2070" y="925410"/>
                  </a:lnTo>
                  <a:lnTo>
                    <a:pt x="5374" y="921423"/>
                  </a:lnTo>
                  <a:lnTo>
                    <a:pt x="2362" y="921423"/>
                  </a:lnTo>
                  <a:lnTo>
                    <a:pt x="2362" y="87934"/>
                  </a:lnTo>
                  <a:lnTo>
                    <a:pt x="65620" y="4229"/>
                  </a:lnTo>
                  <a:lnTo>
                    <a:pt x="67982" y="4229"/>
                  </a:lnTo>
                  <a:lnTo>
                    <a:pt x="67983" y="660"/>
                  </a:lnTo>
                  <a:lnTo>
                    <a:pt x="65862" y="0"/>
                  </a:lnTo>
                  <a:close/>
                </a:path>
                <a:path w="68579" h="925829">
                  <a:moveTo>
                    <a:pt x="67982" y="4229"/>
                  </a:moveTo>
                  <a:lnTo>
                    <a:pt x="65620" y="4229"/>
                  </a:lnTo>
                  <a:lnTo>
                    <a:pt x="65379" y="845324"/>
                  </a:lnTo>
                  <a:lnTo>
                    <a:pt x="2362" y="921423"/>
                  </a:lnTo>
                  <a:lnTo>
                    <a:pt x="5374" y="921423"/>
                  </a:lnTo>
                  <a:lnTo>
                    <a:pt x="67449" y="846518"/>
                  </a:lnTo>
                  <a:lnTo>
                    <a:pt x="67754" y="845743"/>
                  </a:lnTo>
                  <a:lnTo>
                    <a:pt x="67959" y="87934"/>
                  </a:lnTo>
                  <a:lnTo>
                    <a:pt x="67982" y="4229"/>
                  </a:lnTo>
                  <a:close/>
                </a:path>
              </a:pathLst>
            </a:custGeom>
            <a:solidFill>
              <a:srgbClr val="879C82"/>
            </a:solidFill>
          </p:spPr>
          <p:txBody>
            <a:bodyPr wrap="square" lIns="0" tIns="0" rIns="0" bIns="0" rtlCol="0"/>
            <a:lstStyle/>
            <a:p/>
          </p:txBody>
        </p:sp>
        <p:sp>
          <p:nvSpPr>
            <p:cNvPr id="32" name="object 32" descr=""/>
            <p:cNvSpPr/>
            <p:nvPr/>
          </p:nvSpPr>
          <p:spPr>
            <a:xfrm>
              <a:off x="3654907" y="348898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33" name="object 33" descr=""/>
            <p:cNvSpPr/>
            <p:nvPr/>
          </p:nvSpPr>
          <p:spPr>
            <a:xfrm>
              <a:off x="3653891" y="348898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93"/>
                  </a:lnTo>
                  <a:lnTo>
                    <a:pt x="28409" y="1193"/>
                  </a:lnTo>
                  <a:lnTo>
                    <a:pt x="28409" y="0"/>
                  </a:lnTo>
                  <a:close/>
                </a:path>
                <a:path w="28575" h="45085">
                  <a:moveTo>
                    <a:pt x="28409" y="1193"/>
                  </a:moveTo>
                  <a:lnTo>
                    <a:pt x="27216" y="1193"/>
                  </a:lnTo>
                  <a:lnTo>
                    <a:pt x="27216" y="43319"/>
                  </a:lnTo>
                  <a:lnTo>
                    <a:pt x="28409" y="43319"/>
                  </a:lnTo>
                  <a:lnTo>
                    <a:pt x="28409" y="1193"/>
                  </a:lnTo>
                  <a:close/>
                </a:path>
              </a:pathLst>
            </a:custGeom>
            <a:solidFill>
              <a:srgbClr val="879C82"/>
            </a:solidFill>
          </p:spPr>
          <p:txBody>
            <a:bodyPr wrap="square" lIns="0" tIns="0" rIns="0" bIns="0" rtlCol="0"/>
            <a:lstStyle/>
            <a:p/>
          </p:txBody>
        </p:sp>
        <p:sp>
          <p:nvSpPr>
            <p:cNvPr id="34" name="object 34" descr=""/>
            <p:cNvSpPr/>
            <p:nvPr/>
          </p:nvSpPr>
          <p:spPr>
            <a:xfrm>
              <a:off x="3696512" y="348898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35" name="object 35" descr=""/>
            <p:cNvSpPr/>
            <p:nvPr/>
          </p:nvSpPr>
          <p:spPr>
            <a:xfrm>
              <a:off x="3695496" y="348898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93"/>
                  </a:lnTo>
                  <a:lnTo>
                    <a:pt x="28409" y="1193"/>
                  </a:lnTo>
                  <a:lnTo>
                    <a:pt x="28409" y="0"/>
                  </a:lnTo>
                  <a:close/>
                </a:path>
                <a:path w="28575" h="45085">
                  <a:moveTo>
                    <a:pt x="28409" y="1193"/>
                  </a:moveTo>
                  <a:lnTo>
                    <a:pt x="27228" y="1193"/>
                  </a:lnTo>
                  <a:lnTo>
                    <a:pt x="27228" y="43319"/>
                  </a:lnTo>
                  <a:lnTo>
                    <a:pt x="28409" y="43319"/>
                  </a:lnTo>
                  <a:lnTo>
                    <a:pt x="28409" y="1193"/>
                  </a:lnTo>
                  <a:close/>
                </a:path>
              </a:pathLst>
            </a:custGeom>
            <a:solidFill>
              <a:srgbClr val="879C82"/>
            </a:solidFill>
          </p:spPr>
          <p:txBody>
            <a:bodyPr wrap="square" lIns="0" tIns="0" rIns="0" bIns="0" rtlCol="0"/>
            <a:lstStyle/>
            <a:p/>
          </p:txBody>
        </p:sp>
        <p:sp>
          <p:nvSpPr>
            <p:cNvPr id="36" name="object 36" descr=""/>
            <p:cNvSpPr/>
            <p:nvPr/>
          </p:nvSpPr>
          <p:spPr>
            <a:xfrm>
              <a:off x="3738130" y="3488982"/>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37" name="object 37" descr=""/>
            <p:cNvSpPr/>
            <p:nvPr/>
          </p:nvSpPr>
          <p:spPr>
            <a:xfrm>
              <a:off x="3737114" y="3488982"/>
              <a:ext cx="28575" cy="45085"/>
            </a:xfrm>
            <a:custGeom>
              <a:avLst/>
              <a:gdLst/>
              <a:ahLst/>
              <a:cxnLst/>
              <a:rect l="l" t="t" r="r" b="b"/>
              <a:pathLst>
                <a:path w="28575" h="45085">
                  <a:moveTo>
                    <a:pt x="28409" y="0"/>
                  </a:moveTo>
                  <a:lnTo>
                    <a:pt x="0" y="0"/>
                  </a:lnTo>
                  <a:lnTo>
                    <a:pt x="0" y="44500"/>
                  </a:lnTo>
                  <a:lnTo>
                    <a:pt x="28409" y="44500"/>
                  </a:lnTo>
                  <a:lnTo>
                    <a:pt x="28409" y="43319"/>
                  </a:lnTo>
                  <a:lnTo>
                    <a:pt x="1193" y="43319"/>
                  </a:lnTo>
                  <a:lnTo>
                    <a:pt x="1193" y="1193"/>
                  </a:lnTo>
                  <a:lnTo>
                    <a:pt x="28409" y="1193"/>
                  </a:lnTo>
                  <a:lnTo>
                    <a:pt x="28409" y="0"/>
                  </a:lnTo>
                  <a:close/>
                </a:path>
                <a:path w="28575" h="45085">
                  <a:moveTo>
                    <a:pt x="28409" y="1193"/>
                  </a:moveTo>
                  <a:lnTo>
                    <a:pt x="27216" y="1193"/>
                  </a:lnTo>
                  <a:lnTo>
                    <a:pt x="27216" y="43319"/>
                  </a:lnTo>
                  <a:lnTo>
                    <a:pt x="28409" y="43319"/>
                  </a:lnTo>
                  <a:lnTo>
                    <a:pt x="28409" y="1193"/>
                  </a:lnTo>
                  <a:close/>
                </a:path>
              </a:pathLst>
            </a:custGeom>
            <a:solidFill>
              <a:srgbClr val="879C82"/>
            </a:solidFill>
          </p:spPr>
          <p:txBody>
            <a:bodyPr wrap="square" lIns="0" tIns="0" rIns="0" bIns="0" rtlCol="0"/>
            <a:lstStyle/>
            <a:p/>
          </p:txBody>
        </p:sp>
        <p:sp>
          <p:nvSpPr>
            <p:cNvPr id="38" name="object 38" descr=""/>
            <p:cNvSpPr/>
            <p:nvPr/>
          </p:nvSpPr>
          <p:spPr>
            <a:xfrm>
              <a:off x="3779735" y="348898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39" name="object 39" descr=""/>
            <p:cNvSpPr/>
            <p:nvPr/>
          </p:nvSpPr>
          <p:spPr>
            <a:xfrm>
              <a:off x="3778719" y="3488982"/>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193"/>
                  </a:lnTo>
                  <a:lnTo>
                    <a:pt x="28409" y="1193"/>
                  </a:lnTo>
                  <a:lnTo>
                    <a:pt x="28409" y="0"/>
                  </a:lnTo>
                  <a:close/>
                </a:path>
                <a:path w="28575" h="45085">
                  <a:moveTo>
                    <a:pt x="28409" y="1193"/>
                  </a:moveTo>
                  <a:lnTo>
                    <a:pt x="27165" y="1193"/>
                  </a:lnTo>
                  <a:lnTo>
                    <a:pt x="27165" y="43319"/>
                  </a:lnTo>
                  <a:lnTo>
                    <a:pt x="28409" y="43319"/>
                  </a:lnTo>
                  <a:lnTo>
                    <a:pt x="28409" y="1193"/>
                  </a:lnTo>
                  <a:close/>
                </a:path>
              </a:pathLst>
            </a:custGeom>
            <a:solidFill>
              <a:srgbClr val="879C82"/>
            </a:solidFill>
          </p:spPr>
          <p:txBody>
            <a:bodyPr wrap="square" lIns="0" tIns="0" rIns="0" bIns="0" rtlCol="0"/>
            <a:lstStyle/>
            <a:p/>
          </p:txBody>
        </p:sp>
        <p:sp>
          <p:nvSpPr>
            <p:cNvPr id="40" name="object 40" descr=""/>
            <p:cNvSpPr/>
            <p:nvPr/>
          </p:nvSpPr>
          <p:spPr>
            <a:xfrm>
              <a:off x="3654907" y="356281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41" name="object 41" descr=""/>
            <p:cNvSpPr/>
            <p:nvPr/>
          </p:nvSpPr>
          <p:spPr>
            <a:xfrm>
              <a:off x="3653891" y="3561803"/>
              <a:ext cx="28575" cy="45720"/>
            </a:xfrm>
            <a:custGeom>
              <a:avLst/>
              <a:gdLst/>
              <a:ahLst/>
              <a:cxnLst/>
              <a:rect l="l" t="t" r="r" b="b"/>
              <a:pathLst>
                <a:path w="28575" h="45720">
                  <a:moveTo>
                    <a:pt x="28409" y="0"/>
                  </a:moveTo>
                  <a:lnTo>
                    <a:pt x="0" y="0"/>
                  </a:lnTo>
                  <a:lnTo>
                    <a:pt x="0" y="45516"/>
                  </a:lnTo>
                  <a:lnTo>
                    <a:pt x="28409" y="45516"/>
                  </a:lnTo>
                  <a:lnTo>
                    <a:pt x="28409" y="44234"/>
                  </a:lnTo>
                  <a:lnTo>
                    <a:pt x="1206" y="44234"/>
                  </a:lnTo>
                  <a:lnTo>
                    <a:pt x="1206" y="1206"/>
                  </a:lnTo>
                  <a:lnTo>
                    <a:pt x="28409" y="1206"/>
                  </a:lnTo>
                  <a:lnTo>
                    <a:pt x="28409" y="0"/>
                  </a:lnTo>
                  <a:close/>
                </a:path>
                <a:path w="28575" h="45720">
                  <a:moveTo>
                    <a:pt x="28409" y="1206"/>
                  </a:moveTo>
                  <a:lnTo>
                    <a:pt x="27216" y="1206"/>
                  </a:lnTo>
                  <a:lnTo>
                    <a:pt x="27216" y="44234"/>
                  </a:lnTo>
                  <a:lnTo>
                    <a:pt x="28409" y="44234"/>
                  </a:lnTo>
                  <a:lnTo>
                    <a:pt x="28409" y="1206"/>
                  </a:lnTo>
                  <a:close/>
                </a:path>
              </a:pathLst>
            </a:custGeom>
            <a:solidFill>
              <a:srgbClr val="879C82"/>
            </a:solidFill>
          </p:spPr>
          <p:txBody>
            <a:bodyPr wrap="square" lIns="0" tIns="0" rIns="0" bIns="0" rtlCol="0"/>
            <a:lstStyle/>
            <a:p/>
          </p:txBody>
        </p:sp>
        <p:sp>
          <p:nvSpPr>
            <p:cNvPr id="42" name="object 42" descr=""/>
            <p:cNvSpPr/>
            <p:nvPr/>
          </p:nvSpPr>
          <p:spPr>
            <a:xfrm>
              <a:off x="3696512" y="356281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43" name="object 43" descr=""/>
            <p:cNvSpPr/>
            <p:nvPr/>
          </p:nvSpPr>
          <p:spPr>
            <a:xfrm>
              <a:off x="3695496" y="3561803"/>
              <a:ext cx="28575" cy="45720"/>
            </a:xfrm>
            <a:custGeom>
              <a:avLst/>
              <a:gdLst/>
              <a:ahLst/>
              <a:cxnLst/>
              <a:rect l="l" t="t" r="r" b="b"/>
              <a:pathLst>
                <a:path w="28575" h="45720">
                  <a:moveTo>
                    <a:pt x="28409" y="0"/>
                  </a:moveTo>
                  <a:lnTo>
                    <a:pt x="0" y="0"/>
                  </a:lnTo>
                  <a:lnTo>
                    <a:pt x="0" y="45516"/>
                  </a:lnTo>
                  <a:lnTo>
                    <a:pt x="28409" y="45516"/>
                  </a:lnTo>
                  <a:lnTo>
                    <a:pt x="28409" y="44234"/>
                  </a:lnTo>
                  <a:lnTo>
                    <a:pt x="1206" y="44234"/>
                  </a:lnTo>
                  <a:lnTo>
                    <a:pt x="1206" y="1206"/>
                  </a:lnTo>
                  <a:lnTo>
                    <a:pt x="28409" y="1206"/>
                  </a:lnTo>
                  <a:lnTo>
                    <a:pt x="28409" y="0"/>
                  </a:lnTo>
                  <a:close/>
                </a:path>
                <a:path w="28575" h="45720">
                  <a:moveTo>
                    <a:pt x="28409" y="1206"/>
                  </a:moveTo>
                  <a:lnTo>
                    <a:pt x="27228" y="1206"/>
                  </a:lnTo>
                  <a:lnTo>
                    <a:pt x="27228" y="44234"/>
                  </a:lnTo>
                  <a:lnTo>
                    <a:pt x="28409" y="44234"/>
                  </a:lnTo>
                  <a:lnTo>
                    <a:pt x="28409" y="1206"/>
                  </a:lnTo>
                  <a:close/>
                </a:path>
              </a:pathLst>
            </a:custGeom>
            <a:solidFill>
              <a:srgbClr val="879C82"/>
            </a:solidFill>
          </p:spPr>
          <p:txBody>
            <a:bodyPr wrap="square" lIns="0" tIns="0" rIns="0" bIns="0" rtlCol="0"/>
            <a:lstStyle/>
            <a:p/>
          </p:txBody>
        </p:sp>
        <p:sp>
          <p:nvSpPr>
            <p:cNvPr id="44" name="object 44" descr=""/>
            <p:cNvSpPr/>
            <p:nvPr/>
          </p:nvSpPr>
          <p:spPr>
            <a:xfrm>
              <a:off x="3738130" y="3562819"/>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45" name="object 45" descr=""/>
            <p:cNvSpPr/>
            <p:nvPr/>
          </p:nvSpPr>
          <p:spPr>
            <a:xfrm>
              <a:off x="3737114" y="3561803"/>
              <a:ext cx="28575" cy="45720"/>
            </a:xfrm>
            <a:custGeom>
              <a:avLst/>
              <a:gdLst/>
              <a:ahLst/>
              <a:cxnLst/>
              <a:rect l="l" t="t" r="r" b="b"/>
              <a:pathLst>
                <a:path w="28575" h="45720">
                  <a:moveTo>
                    <a:pt x="28409" y="0"/>
                  </a:moveTo>
                  <a:lnTo>
                    <a:pt x="0" y="0"/>
                  </a:lnTo>
                  <a:lnTo>
                    <a:pt x="0" y="45516"/>
                  </a:lnTo>
                  <a:lnTo>
                    <a:pt x="28409" y="45516"/>
                  </a:lnTo>
                  <a:lnTo>
                    <a:pt x="28409" y="44234"/>
                  </a:lnTo>
                  <a:lnTo>
                    <a:pt x="1193" y="44234"/>
                  </a:lnTo>
                  <a:lnTo>
                    <a:pt x="1193" y="1206"/>
                  </a:lnTo>
                  <a:lnTo>
                    <a:pt x="28409" y="1206"/>
                  </a:lnTo>
                  <a:lnTo>
                    <a:pt x="28409" y="0"/>
                  </a:lnTo>
                  <a:close/>
                </a:path>
                <a:path w="28575" h="45720">
                  <a:moveTo>
                    <a:pt x="28409" y="1206"/>
                  </a:moveTo>
                  <a:lnTo>
                    <a:pt x="27216" y="1206"/>
                  </a:lnTo>
                  <a:lnTo>
                    <a:pt x="27216" y="44234"/>
                  </a:lnTo>
                  <a:lnTo>
                    <a:pt x="28409" y="44234"/>
                  </a:lnTo>
                  <a:lnTo>
                    <a:pt x="28409" y="1206"/>
                  </a:lnTo>
                  <a:close/>
                </a:path>
              </a:pathLst>
            </a:custGeom>
            <a:solidFill>
              <a:srgbClr val="879C82"/>
            </a:solidFill>
          </p:spPr>
          <p:txBody>
            <a:bodyPr wrap="square" lIns="0" tIns="0" rIns="0" bIns="0" rtlCol="0"/>
            <a:lstStyle/>
            <a:p/>
          </p:txBody>
        </p:sp>
        <p:sp>
          <p:nvSpPr>
            <p:cNvPr id="46" name="object 46" descr=""/>
            <p:cNvSpPr/>
            <p:nvPr/>
          </p:nvSpPr>
          <p:spPr>
            <a:xfrm>
              <a:off x="3779735" y="356281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47" name="object 47" descr=""/>
            <p:cNvSpPr/>
            <p:nvPr/>
          </p:nvSpPr>
          <p:spPr>
            <a:xfrm>
              <a:off x="3778719" y="3561803"/>
              <a:ext cx="28575" cy="45720"/>
            </a:xfrm>
            <a:custGeom>
              <a:avLst/>
              <a:gdLst/>
              <a:ahLst/>
              <a:cxnLst/>
              <a:rect l="l" t="t" r="r" b="b"/>
              <a:pathLst>
                <a:path w="28575" h="45720">
                  <a:moveTo>
                    <a:pt x="28409" y="0"/>
                  </a:moveTo>
                  <a:lnTo>
                    <a:pt x="0" y="0"/>
                  </a:lnTo>
                  <a:lnTo>
                    <a:pt x="0" y="45516"/>
                  </a:lnTo>
                  <a:lnTo>
                    <a:pt x="28409" y="45516"/>
                  </a:lnTo>
                  <a:lnTo>
                    <a:pt x="28409" y="44234"/>
                  </a:lnTo>
                  <a:lnTo>
                    <a:pt x="1257" y="44234"/>
                  </a:lnTo>
                  <a:lnTo>
                    <a:pt x="1257" y="1206"/>
                  </a:lnTo>
                  <a:lnTo>
                    <a:pt x="28409" y="1206"/>
                  </a:lnTo>
                  <a:lnTo>
                    <a:pt x="28409" y="0"/>
                  </a:lnTo>
                  <a:close/>
                </a:path>
                <a:path w="28575" h="45720">
                  <a:moveTo>
                    <a:pt x="28409" y="1206"/>
                  </a:moveTo>
                  <a:lnTo>
                    <a:pt x="27165" y="1206"/>
                  </a:lnTo>
                  <a:lnTo>
                    <a:pt x="27165" y="44234"/>
                  </a:lnTo>
                  <a:lnTo>
                    <a:pt x="28409" y="44234"/>
                  </a:lnTo>
                  <a:lnTo>
                    <a:pt x="28409" y="1206"/>
                  </a:lnTo>
                  <a:close/>
                </a:path>
              </a:pathLst>
            </a:custGeom>
            <a:solidFill>
              <a:srgbClr val="879C82"/>
            </a:solidFill>
          </p:spPr>
          <p:txBody>
            <a:bodyPr wrap="square" lIns="0" tIns="0" rIns="0" bIns="0" rtlCol="0"/>
            <a:lstStyle/>
            <a:p/>
          </p:txBody>
        </p:sp>
        <p:sp>
          <p:nvSpPr>
            <p:cNvPr id="48" name="object 48" descr=""/>
            <p:cNvSpPr/>
            <p:nvPr/>
          </p:nvSpPr>
          <p:spPr>
            <a:xfrm>
              <a:off x="3654907" y="363664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49" name="object 49" descr=""/>
            <p:cNvSpPr/>
            <p:nvPr/>
          </p:nvSpPr>
          <p:spPr>
            <a:xfrm>
              <a:off x="3653891" y="3635629"/>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257"/>
                  </a:lnTo>
                  <a:lnTo>
                    <a:pt x="28409" y="1257"/>
                  </a:lnTo>
                  <a:lnTo>
                    <a:pt x="28409" y="0"/>
                  </a:lnTo>
                  <a:close/>
                </a:path>
                <a:path w="28575" h="45085">
                  <a:moveTo>
                    <a:pt x="28409" y="1257"/>
                  </a:moveTo>
                  <a:lnTo>
                    <a:pt x="27216" y="1257"/>
                  </a:lnTo>
                  <a:lnTo>
                    <a:pt x="27216" y="43319"/>
                  </a:lnTo>
                  <a:lnTo>
                    <a:pt x="28409" y="43319"/>
                  </a:lnTo>
                  <a:lnTo>
                    <a:pt x="28409" y="1257"/>
                  </a:lnTo>
                  <a:close/>
                </a:path>
              </a:pathLst>
            </a:custGeom>
            <a:solidFill>
              <a:srgbClr val="879C82"/>
            </a:solidFill>
          </p:spPr>
          <p:txBody>
            <a:bodyPr wrap="square" lIns="0" tIns="0" rIns="0" bIns="0" rtlCol="0"/>
            <a:lstStyle/>
            <a:p/>
          </p:txBody>
        </p:sp>
        <p:sp>
          <p:nvSpPr>
            <p:cNvPr id="50" name="object 50" descr=""/>
            <p:cNvSpPr/>
            <p:nvPr/>
          </p:nvSpPr>
          <p:spPr>
            <a:xfrm>
              <a:off x="3696512" y="363664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51" name="object 51" descr=""/>
            <p:cNvSpPr/>
            <p:nvPr/>
          </p:nvSpPr>
          <p:spPr>
            <a:xfrm>
              <a:off x="3695496" y="3635629"/>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257"/>
                  </a:lnTo>
                  <a:lnTo>
                    <a:pt x="28409" y="1257"/>
                  </a:lnTo>
                  <a:lnTo>
                    <a:pt x="28409" y="0"/>
                  </a:lnTo>
                  <a:close/>
                </a:path>
                <a:path w="28575" h="45085">
                  <a:moveTo>
                    <a:pt x="28409" y="1257"/>
                  </a:moveTo>
                  <a:lnTo>
                    <a:pt x="27228" y="1257"/>
                  </a:lnTo>
                  <a:lnTo>
                    <a:pt x="27228" y="43319"/>
                  </a:lnTo>
                  <a:lnTo>
                    <a:pt x="28409" y="43319"/>
                  </a:lnTo>
                  <a:lnTo>
                    <a:pt x="28409" y="1257"/>
                  </a:lnTo>
                  <a:close/>
                </a:path>
              </a:pathLst>
            </a:custGeom>
            <a:solidFill>
              <a:srgbClr val="879C82"/>
            </a:solidFill>
          </p:spPr>
          <p:txBody>
            <a:bodyPr wrap="square" lIns="0" tIns="0" rIns="0" bIns="0" rtlCol="0"/>
            <a:lstStyle/>
            <a:p/>
          </p:txBody>
        </p:sp>
        <p:sp>
          <p:nvSpPr>
            <p:cNvPr id="52" name="object 52" descr=""/>
            <p:cNvSpPr/>
            <p:nvPr/>
          </p:nvSpPr>
          <p:spPr>
            <a:xfrm>
              <a:off x="3738130" y="3636645"/>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53" name="object 53" descr=""/>
            <p:cNvSpPr/>
            <p:nvPr/>
          </p:nvSpPr>
          <p:spPr>
            <a:xfrm>
              <a:off x="3737114" y="3635629"/>
              <a:ext cx="28575" cy="45085"/>
            </a:xfrm>
            <a:custGeom>
              <a:avLst/>
              <a:gdLst/>
              <a:ahLst/>
              <a:cxnLst/>
              <a:rect l="l" t="t" r="r" b="b"/>
              <a:pathLst>
                <a:path w="28575" h="45085">
                  <a:moveTo>
                    <a:pt x="28409" y="0"/>
                  </a:moveTo>
                  <a:lnTo>
                    <a:pt x="0" y="0"/>
                  </a:lnTo>
                  <a:lnTo>
                    <a:pt x="0" y="44500"/>
                  </a:lnTo>
                  <a:lnTo>
                    <a:pt x="28409" y="44500"/>
                  </a:lnTo>
                  <a:lnTo>
                    <a:pt x="28409" y="43319"/>
                  </a:lnTo>
                  <a:lnTo>
                    <a:pt x="1193" y="43319"/>
                  </a:lnTo>
                  <a:lnTo>
                    <a:pt x="1193" y="1257"/>
                  </a:lnTo>
                  <a:lnTo>
                    <a:pt x="28409" y="1257"/>
                  </a:lnTo>
                  <a:lnTo>
                    <a:pt x="28409" y="0"/>
                  </a:lnTo>
                  <a:close/>
                </a:path>
                <a:path w="28575" h="45085">
                  <a:moveTo>
                    <a:pt x="28409" y="1257"/>
                  </a:moveTo>
                  <a:lnTo>
                    <a:pt x="27216" y="1257"/>
                  </a:lnTo>
                  <a:lnTo>
                    <a:pt x="27216" y="43319"/>
                  </a:lnTo>
                  <a:lnTo>
                    <a:pt x="28409" y="43319"/>
                  </a:lnTo>
                  <a:lnTo>
                    <a:pt x="28409" y="1257"/>
                  </a:lnTo>
                  <a:close/>
                </a:path>
              </a:pathLst>
            </a:custGeom>
            <a:solidFill>
              <a:srgbClr val="879C82"/>
            </a:solidFill>
          </p:spPr>
          <p:txBody>
            <a:bodyPr wrap="square" lIns="0" tIns="0" rIns="0" bIns="0" rtlCol="0"/>
            <a:lstStyle/>
            <a:p/>
          </p:txBody>
        </p:sp>
        <p:sp>
          <p:nvSpPr>
            <p:cNvPr id="54" name="object 54" descr=""/>
            <p:cNvSpPr/>
            <p:nvPr/>
          </p:nvSpPr>
          <p:spPr>
            <a:xfrm>
              <a:off x="3779735" y="363664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55" name="object 55" descr=""/>
            <p:cNvSpPr/>
            <p:nvPr/>
          </p:nvSpPr>
          <p:spPr>
            <a:xfrm>
              <a:off x="3778719" y="3635629"/>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257"/>
                  </a:lnTo>
                  <a:lnTo>
                    <a:pt x="28409" y="1257"/>
                  </a:lnTo>
                  <a:lnTo>
                    <a:pt x="28409" y="0"/>
                  </a:lnTo>
                  <a:close/>
                </a:path>
                <a:path w="28575" h="45085">
                  <a:moveTo>
                    <a:pt x="28409" y="1257"/>
                  </a:moveTo>
                  <a:lnTo>
                    <a:pt x="27165" y="1257"/>
                  </a:lnTo>
                  <a:lnTo>
                    <a:pt x="27165" y="43319"/>
                  </a:lnTo>
                  <a:lnTo>
                    <a:pt x="28409" y="43319"/>
                  </a:lnTo>
                  <a:lnTo>
                    <a:pt x="28409" y="1257"/>
                  </a:lnTo>
                  <a:close/>
                </a:path>
              </a:pathLst>
            </a:custGeom>
            <a:solidFill>
              <a:srgbClr val="879C82"/>
            </a:solidFill>
          </p:spPr>
          <p:txBody>
            <a:bodyPr wrap="square" lIns="0" tIns="0" rIns="0" bIns="0" rtlCol="0"/>
            <a:lstStyle/>
            <a:p/>
          </p:txBody>
        </p:sp>
        <p:sp>
          <p:nvSpPr>
            <p:cNvPr id="56" name="object 56" descr=""/>
            <p:cNvSpPr/>
            <p:nvPr/>
          </p:nvSpPr>
          <p:spPr>
            <a:xfrm>
              <a:off x="3654907" y="371047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57" name="object 57" descr=""/>
            <p:cNvSpPr/>
            <p:nvPr/>
          </p:nvSpPr>
          <p:spPr>
            <a:xfrm>
              <a:off x="3653891" y="3709466"/>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244"/>
                  </a:lnTo>
                  <a:lnTo>
                    <a:pt x="28409" y="1244"/>
                  </a:lnTo>
                  <a:lnTo>
                    <a:pt x="28409" y="0"/>
                  </a:lnTo>
                  <a:close/>
                </a:path>
                <a:path w="28575" h="45085">
                  <a:moveTo>
                    <a:pt x="28409" y="1244"/>
                  </a:moveTo>
                  <a:lnTo>
                    <a:pt x="27216" y="1244"/>
                  </a:lnTo>
                  <a:lnTo>
                    <a:pt x="27216" y="43306"/>
                  </a:lnTo>
                  <a:lnTo>
                    <a:pt x="28409" y="43306"/>
                  </a:lnTo>
                  <a:lnTo>
                    <a:pt x="28409" y="1244"/>
                  </a:lnTo>
                  <a:close/>
                </a:path>
              </a:pathLst>
            </a:custGeom>
            <a:solidFill>
              <a:srgbClr val="879C82"/>
            </a:solidFill>
          </p:spPr>
          <p:txBody>
            <a:bodyPr wrap="square" lIns="0" tIns="0" rIns="0" bIns="0" rtlCol="0"/>
            <a:lstStyle/>
            <a:p/>
          </p:txBody>
        </p:sp>
        <p:sp>
          <p:nvSpPr>
            <p:cNvPr id="58" name="object 58" descr=""/>
            <p:cNvSpPr/>
            <p:nvPr/>
          </p:nvSpPr>
          <p:spPr>
            <a:xfrm>
              <a:off x="3696512" y="371047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59" name="object 59" descr=""/>
            <p:cNvSpPr/>
            <p:nvPr/>
          </p:nvSpPr>
          <p:spPr>
            <a:xfrm>
              <a:off x="3695496" y="3709466"/>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244"/>
                  </a:lnTo>
                  <a:lnTo>
                    <a:pt x="28409" y="1244"/>
                  </a:lnTo>
                  <a:lnTo>
                    <a:pt x="28409" y="0"/>
                  </a:lnTo>
                  <a:close/>
                </a:path>
                <a:path w="28575" h="45085">
                  <a:moveTo>
                    <a:pt x="28409" y="1244"/>
                  </a:moveTo>
                  <a:lnTo>
                    <a:pt x="27228" y="1244"/>
                  </a:lnTo>
                  <a:lnTo>
                    <a:pt x="27228" y="43306"/>
                  </a:lnTo>
                  <a:lnTo>
                    <a:pt x="28409" y="43306"/>
                  </a:lnTo>
                  <a:lnTo>
                    <a:pt x="28409" y="1244"/>
                  </a:lnTo>
                  <a:close/>
                </a:path>
              </a:pathLst>
            </a:custGeom>
            <a:solidFill>
              <a:srgbClr val="879C82"/>
            </a:solidFill>
          </p:spPr>
          <p:txBody>
            <a:bodyPr wrap="square" lIns="0" tIns="0" rIns="0" bIns="0" rtlCol="0"/>
            <a:lstStyle/>
            <a:p/>
          </p:txBody>
        </p:sp>
        <p:sp>
          <p:nvSpPr>
            <p:cNvPr id="60" name="object 60" descr=""/>
            <p:cNvSpPr/>
            <p:nvPr/>
          </p:nvSpPr>
          <p:spPr>
            <a:xfrm>
              <a:off x="3738130" y="3710470"/>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61" name="object 61" descr=""/>
            <p:cNvSpPr/>
            <p:nvPr/>
          </p:nvSpPr>
          <p:spPr>
            <a:xfrm>
              <a:off x="3737114" y="3709466"/>
              <a:ext cx="28575" cy="45085"/>
            </a:xfrm>
            <a:custGeom>
              <a:avLst/>
              <a:gdLst/>
              <a:ahLst/>
              <a:cxnLst/>
              <a:rect l="l" t="t" r="r" b="b"/>
              <a:pathLst>
                <a:path w="28575" h="45085">
                  <a:moveTo>
                    <a:pt x="28409" y="0"/>
                  </a:moveTo>
                  <a:lnTo>
                    <a:pt x="0" y="0"/>
                  </a:lnTo>
                  <a:lnTo>
                    <a:pt x="0" y="44500"/>
                  </a:lnTo>
                  <a:lnTo>
                    <a:pt x="28409" y="44500"/>
                  </a:lnTo>
                  <a:lnTo>
                    <a:pt x="28409" y="43306"/>
                  </a:lnTo>
                  <a:lnTo>
                    <a:pt x="1193" y="43306"/>
                  </a:lnTo>
                  <a:lnTo>
                    <a:pt x="1193" y="1244"/>
                  </a:lnTo>
                  <a:lnTo>
                    <a:pt x="28409" y="1244"/>
                  </a:lnTo>
                  <a:lnTo>
                    <a:pt x="28409" y="0"/>
                  </a:lnTo>
                  <a:close/>
                </a:path>
                <a:path w="28575" h="45085">
                  <a:moveTo>
                    <a:pt x="28409" y="1244"/>
                  </a:moveTo>
                  <a:lnTo>
                    <a:pt x="27216" y="1244"/>
                  </a:lnTo>
                  <a:lnTo>
                    <a:pt x="27216" y="43306"/>
                  </a:lnTo>
                  <a:lnTo>
                    <a:pt x="28409" y="43306"/>
                  </a:lnTo>
                  <a:lnTo>
                    <a:pt x="28409" y="1244"/>
                  </a:lnTo>
                  <a:close/>
                </a:path>
              </a:pathLst>
            </a:custGeom>
            <a:solidFill>
              <a:srgbClr val="879C82"/>
            </a:solidFill>
          </p:spPr>
          <p:txBody>
            <a:bodyPr wrap="square" lIns="0" tIns="0" rIns="0" bIns="0" rtlCol="0"/>
            <a:lstStyle/>
            <a:p/>
          </p:txBody>
        </p:sp>
        <p:sp>
          <p:nvSpPr>
            <p:cNvPr id="62" name="object 62" descr=""/>
            <p:cNvSpPr/>
            <p:nvPr/>
          </p:nvSpPr>
          <p:spPr>
            <a:xfrm>
              <a:off x="3779735" y="371047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63" name="object 63" descr=""/>
            <p:cNvSpPr/>
            <p:nvPr/>
          </p:nvSpPr>
          <p:spPr>
            <a:xfrm>
              <a:off x="3778719" y="3709466"/>
              <a:ext cx="28575" cy="45085"/>
            </a:xfrm>
            <a:custGeom>
              <a:avLst/>
              <a:gdLst/>
              <a:ahLst/>
              <a:cxnLst/>
              <a:rect l="l" t="t" r="r" b="b"/>
              <a:pathLst>
                <a:path w="28575" h="45085">
                  <a:moveTo>
                    <a:pt x="28409" y="0"/>
                  </a:moveTo>
                  <a:lnTo>
                    <a:pt x="0" y="0"/>
                  </a:lnTo>
                  <a:lnTo>
                    <a:pt x="0" y="44500"/>
                  </a:lnTo>
                  <a:lnTo>
                    <a:pt x="28409" y="44500"/>
                  </a:lnTo>
                  <a:lnTo>
                    <a:pt x="28409" y="43306"/>
                  </a:lnTo>
                  <a:lnTo>
                    <a:pt x="1257" y="43306"/>
                  </a:lnTo>
                  <a:lnTo>
                    <a:pt x="1257" y="1244"/>
                  </a:lnTo>
                  <a:lnTo>
                    <a:pt x="28409" y="1244"/>
                  </a:lnTo>
                  <a:lnTo>
                    <a:pt x="28409" y="0"/>
                  </a:lnTo>
                  <a:close/>
                </a:path>
                <a:path w="28575" h="45085">
                  <a:moveTo>
                    <a:pt x="28409" y="1244"/>
                  </a:moveTo>
                  <a:lnTo>
                    <a:pt x="27165" y="1244"/>
                  </a:lnTo>
                  <a:lnTo>
                    <a:pt x="27165" y="43306"/>
                  </a:lnTo>
                  <a:lnTo>
                    <a:pt x="28409" y="43306"/>
                  </a:lnTo>
                  <a:lnTo>
                    <a:pt x="28409" y="1244"/>
                  </a:lnTo>
                  <a:close/>
                </a:path>
              </a:pathLst>
            </a:custGeom>
            <a:solidFill>
              <a:srgbClr val="879C82"/>
            </a:solidFill>
          </p:spPr>
          <p:txBody>
            <a:bodyPr wrap="square" lIns="0" tIns="0" rIns="0" bIns="0" rtlCol="0"/>
            <a:lstStyle/>
            <a:p/>
          </p:txBody>
        </p:sp>
        <p:sp>
          <p:nvSpPr>
            <p:cNvPr id="64" name="object 64" descr=""/>
            <p:cNvSpPr/>
            <p:nvPr/>
          </p:nvSpPr>
          <p:spPr>
            <a:xfrm>
              <a:off x="3654907" y="378329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65" name="object 65" descr=""/>
            <p:cNvSpPr/>
            <p:nvPr/>
          </p:nvSpPr>
          <p:spPr>
            <a:xfrm>
              <a:off x="3653891" y="3783291"/>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17"/>
                  </a:lnTo>
                  <a:lnTo>
                    <a:pt x="28409" y="1117"/>
                  </a:lnTo>
                  <a:lnTo>
                    <a:pt x="28409" y="0"/>
                  </a:lnTo>
                  <a:close/>
                </a:path>
                <a:path w="28575" h="45085">
                  <a:moveTo>
                    <a:pt x="28409" y="1117"/>
                  </a:moveTo>
                  <a:lnTo>
                    <a:pt x="27216" y="1117"/>
                  </a:lnTo>
                  <a:lnTo>
                    <a:pt x="27216" y="43307"/>
                  </a:lnTo>
                  <a:lnTo>
                    <a:pt x="28409" y="43307"/>
                  </a:lnTo>
                  <a:lnTo>
                    <a:pt x="28409" y="1117"/>
                  </a:lnTo>
                  <a:close/>
                </a:path>
              </a:pathLst>
            </a:custGeom>
            <a:solidFill>
              <a:srgbClr val="879C82"/>
            </a:solidFill>
          </p:spPr>
          <p:txBody>
            <a:bodyPr wrap="square" lIns="0" tIns="0" rIns="0" bIns="0" rtlCol="0"/>
            <a:lstStyle/>
            <a:p/>
          </p:txBody>
        </p:sp>
        <p:sp>
          <p:nvSpPr>
            <p:cNvPr id="66" name="object 66" descr=""/>
            <p:cNvSpPr/>
            <p:nvPr/>
          </p:nvSpPr>
          <p:spPr>
            <a:xfrm>
              <a:off x="3696512" y="378329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67" name="object 67" descr=""/>
            <p:cNvSpPr/>
            <p:nvPr/>
          </p:nvSpPr>
          <p:spPr>
            <a:xfrm>
              <a:off x="3695496" y="3783291"/>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17"/>
                  </a:lnTo>
                  <a:lnTo>
                    <a:pt x="28409" y="1117"/>
                  </a:lnTo>
                  <a:lnTo>
                    <a:pt x="28409" y="0"/>
                  </a:lnTo>
                  <a:close/>
                </a:path>
                <a:path w="28575" h="45085">
                  <a:moveTo>
                    <a:pt x="28409" y="1117"/>
                  </a:moveTo>
                  <a:lnTo>
                    <a:pt x="27228" y="1117"/>
                  </a:lnTo>
                  <a:lnTo>
                    <a:pt x="27228" y="43307"/>
                  </a:lnTo>
                  <a:lnTo>
                    <a:pt x="28409" y="43307"/>
                  </a:lnTo>
                  <a:lnTo>
                    <a:pt x="28409" y="1117"/>
                  </a:lnTo>
                  <a:close/>
                </a:path>
              </a:pathLst>
            </a:custGeom>
            <a:solidFill>
              <a:srgbClr val="879C82"/>
            </a:solidFill>
          </p:spPr>
          <p:txBody>
            <a:bodyPr wrap="square" lIns="0" tIns="0" rIns="0" bIns="0" rtlCol="0"/>
            <a:lstStyle/>
            <a:p/>
          </p:txBody>
        </p:sp>
        <p:sp>
          <p:nvSpPr>
            <p:cNvPr id="68" name="object 68" descr=""/>
            <p:cNvSpPr/>
            <p:nvPr/>
          </p:nvSpPr>
          <p:spPr>
            <a:xfrm>
              <a:off x="3738130" y="3783291"/>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69" name="object 69" descr=""/>
            <p:cNvSpPr/>
            <p:nvPr/>
          </p:nvSpPr>
          <p:spPr>
            <a:xfrm>
              <a:off x="3737114" y="3783291"/>
              <a:ext cx="28575" cy="45085"/>
            </a:xfrm>
            <a:custGeom>
              <a:avLst/>
              <a:gdLst/>
              <a:ahLst/>
              <a:cxnLst/>
              <a:rect l="l" t="t" r="r" b="b"/>
              <a:pathLst>
                <a:path w="28575" h="45085">
                  <a:moveTo>
                    <a:pt x="28409" y="0"/>
                  </a:moveTo>
                  <a:lnTo>
                    <a:pt x="0" y="0"/>
                  </a:lnTo>
                  <a:lnTo>
                    <a:pt x="0" y="44500"/>
                  </a:lnTo>
                  <a:lnTo>
                    <a:pt x="28409" y="44500"/>
                  </a:lnTo>
                  <a:lnTo>
                    <a:pt x="28409" y="43307"/>
                  </a:lnTo>
                  <a:lnTo>
                    <a:pt x="1193" y="43307"/>
                  </a:lnTo>
                  <a:lnTo>
                    <a:pt x="1193" y="1117"/>
                  </a:lnTo>
                  <a:lnTo>
                    <a:pt x="28409" y="1117"/>
                  </a:lnTo>
                  <a:lnTo>
                    <a:pt x="28409" y="0"/>
                  </a:lnTo>
                  <a:close/>
                </a:path>
                <a:path w="28575" h="45085">
                  <a:moveTo>
                    <a:pt x="28409" y="1117"/>
                  </a:moveTo>
                  <a:lnTo>
                    <a:pt x="27216" y="1117"/>
                  </a:lnTo>
                  <a:lnTo>
                    <a:pt x="27216" y="43307"/>
                  </a:lnTo>
                  <a:lnTo>
                    <a:pt x="28409" y="43307"/>
                  </a:lnTo>
                  <a:lnTo>
                    <a:pt x="28409" y="1117"/>
                  </a:lnTo>
                  <a:close/>
                </a:path>
              </a:pathLst>
            </a:custGeom>
            <a:solidFill>
              <a:srgbClr val="879C82"/>
            </a:solidFill>
          </p:spPr>
          <p:txBody>
            <a:bodyPr wrap="square" lIns="0" tIns="0" rIns="0" bIns="0" rtlCol="0"/>
            <a:lstStyle/>
            <a:p/>
          </p:txBody>
        </p:sp>
        <p:sp>
          <p:nvSpPr>
            <p:cNvPr id="70" name="object 70" descr=""/>
            <p:cNvSpPr/>
            <p:nvPr/>
          </p:nvSpPr>
          <p:spPr>
            <a:xfrm>
              <a:off x="3779735" y="378329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71" name="object 71" descr=""/>
            <p:cNvSpPr/>
            <p:nvPr/>
          </p:nvSpPr>
          <p:spPr>
            <a:xfrm>
              <a:off x="3778719" y="3783291"/>
              <a:ext cx="28575" cy="45085"/>
            </a:xfrm>
            <a:custGeom>
              <a:avLst/>
              <a:gdLst/>
              <a:ahLst/>
              <a:cxnLst/>
              <a:rect l="l" t="t" r="r" b="b"/>
              <a:pathLst>
                <a:path w="28575" h="45085">
                  <a:moveTo>
                    <a:pt x="28409" y="0"/>
                  </a:moveTo>
                  <a:lnTo>
                    <a:pt x="0" y="0"/>
                  </a:lnTo>
                  <a:lnTo>
                    <a:pt x="0" y="44500"/>
                  </a:lnTo>
                  <a:lnTo>
                    <a:pt x="28409" y="44500"/>
                  </a:lnTo>
                  <a:lnTo>
                    <a:pt x="28409" y="43307"/>
                  </a:lnTo>
                  <a:lnTo>
                    <a:pt x="1257" y="43307"/>
                  </a:lnTo>
                  <a:lnTo>
                    <a:pt x="1257" y="1117"/>
                  </a:lnTo>
                  <a:lnTo>
                    <a:pt x="28409" y="1117"/>
                  </a:lnTo>
                  <a:lnTo>
                    <a:pt x="28409" y="0"/>
                  </a:lnTo>
                  <a:close/>
                </a:path>
                <a:path w="28575" h="45085">
                  <a:moveTo>
                    <a:pt x="28409" y="1117"/>
                  </a:moveTo>
                  <a:lnTo>
                    <a:pt x="27165" y="1117"/>
                  </a:lnTo>
                  <a:lnTo>
                    <a:pt x="27165" y="43307"/>
                  </a:lnTo>
                  <a:lnTo>
                    <a:pt x="28409" y="43307"/>
                  </a:lnTo>
                  <a:lnTo>
                    <a:pt x="28409" y="1117"/>
                  </a:lnTo>
                  <a:close/>
                </a:path>
              </a:pathLst>
            </a:custGeom>
            <a:solidFill>
              <a:srgbClr val="879C82"/>
            </a:solidFill>
          </p:spPr>
          <p:txBody>
            <a:bodyPr wrap="square" lIns="0" tIns="0" rIns="0" bIns="0" rtlCol="0"/>
            <a:lstStyle/>
            <a:p/>
          </p:txBody>
        </p:sp>
        <p:sp>
          <p:nvSpPr>
            <p:cNvPr id="72" name="object 72" descr=""/>
            <p:cNvSpPr/>
            <p:nvPr/>
          </p:nvSpPr>
          <p:spPr>
            <a:xfrm>
              <a:off x="3654907" y="385712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73" name="object 73" descr=""/>
            <p:cNvSpPr/>
            <p:nvPr/>
          </p:nvSpPr>
          <p:spPr>
            <a:xfrm>
              <a:off x="3653891" y="3857129"/>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181"/>
                  </a:lnTo>
                  <a:lnTo>
                    <a:pt x="28409" y="1181"/>
                  </a:lnTo>
                  <a:lnTo>
                    <a:pt x="28409" y="0"/>
                  </a:lnTo>
                  <a:close/>
                </a:path>
                <a:path w="28575" h="45085">
                  <a:moveTo>
                    <a:pt x="28409" y="1181"/>
                  </a:moveTo>
                  <a:lnTo>
                    <a:pt x="27216" y="1181"/>
                  </a:lnTo>
                  <a:lnTo>
                    <a:pt x="27216" y="43306"/>
                  </a:lnTo>
                  <a:lnTo>
                    <a:pt x="28409" y="43306"/>
                  </a:lnTo>
                  <a:lnTo>
                    <a:pt x="28409" y="1181"/>
                  </a:lnTo>
                  <a:close/>
                </a:path>
              </a:pathLst>
            </a:custGeom>
            <a:solidFill>
              <a:srgbClr val="879C82"/>
            </a:solidFill>
          </p:spPr>
          <p:txBody>
            <a:bodyPr wrap="square" lIns="0" tIns="0" rIns="0" bIns="0" rtlCol="0"/>
            <a:lstStyle/>
            <a:p/>
          </p:txBody>
        </p:sp>
        <p:sp>
          <p:nvSpPr>
            <p:cNvPr id="74" name="object 74" descr=""/>
            <p:cNvSpPr/>
            <p:nvPr/>
          </p:nvSpPr>
          <p:spPr>
            <a:xfrm>
              <a:off x="3696512" y="385712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75" name="object 75" descr=""/>
            <p:cNvSpPr/>
            <p:nvPr/>
          </p:nvSpPr>
          <p:spPr>
            <a:xfrm>
              <a:off x="3695496" y="3857129"/>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181"/>
                  </a:lnTo>
                  <a:lnTo>
                    <a:pt x="28409" y="1181"/>
                  </a:lnTo>
                  <a:lnTo>
                    <a:pt x="28409" y="0"/>
                  </a:lnTo>
                  <a:close/>
                </a:path>
                <a:path w="28575" h="45085">
                  <a:moveTo>
                    <a:pt x="28409" y="1181"/>
                  </a:moveTo>
                  <a:lnTo>
                    <a:pt x="27228" y="1181"/>
                  </a:lnTo>
                  <a:lnTo>
                    <a:pt x="27228" y="43306"/>
                  </a:lnTo>
                  <a:lnTo>
                    <a:pt x="28409" y="43306"/>
                  </a:lnTo>
                  <a:lnTo>
                    <a:pt x="28409" y="1181"/>
                  </a:lnTo>
                  <a:close/>
                </a:path>
              </a:pathLst>
            </a:custGeom>
            <a:solidFill>
              <a:srgbClr val="879C82"/>
            </a:solidFill>
          </p:spPr>
          <p:txBody>
            <a:bodyPr wrap="square" lIns="0" tIns="0" rIns="0" bIns="0" rtlCol="0"/>
            <a:lstStyle/>
            <a:p/>
          </p:txBody>
        </p:sp>
        <p:sp>
          <p:nvSpPr>
            <p:cNvPr id="76" name="object 76" descr=""/>
            <p:cNvSpPr/>
            <p:nvPr/>
          </p:nvSpPr>
          <p:spPr>
            <a:xfrm>
              <a:off x="3738130" y="3857129"/>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77" name="object 77" descr=""/>
            <p:cNvSpPr/>
            <p:nvPr/>
          </p:nvSpPr>
          <p:spPr>
            <a:xfrm>
              <a:off x="3737114" y="3857129"/>
              <a:ext cx="28575" cy="45085"/>
            </a:xfrm>
            <a:custGeom>
              <a:avLst/>
              <a:gdLst/>
              <a:ahLst/>
              <a:cxnLst/>
              <a:rect l="l" t="t" r="r" b="b"/>
              <a:pathLst>
                <a:path w="28575" h="45085">
                  <a:moveTo>
                    <a:pt x="28409" y="0"/>
                  </a:moveTo>
                  <a:lnTo>
                    <a:pt x="0" y="0"/>
                  </a:lnTo>
                  <a:lnTo>
                    <a:pt x="0" y="44500"/>
                  </a:lnTo>
                  <a:lnTo>
                    <a:pt x="28409" y="44500"/>
                  </a:lnTo>
                  <a:lnTo>
                    <a:pt x="28409" y="43306"/>
                  </a:lnTo>
                  <a:lnTo>
                    <a:pt x="1193" y="43306"/>
                  </a:lnTo>
                  <a:lnTo>
                    <a:pt x="1193" y="1181"/>
                  </a:lnTo>
                  <a:lnTo>
                    <a:pt x="28409" y="1181"/>
                  </a:lnTo>
                  <a:lnTo>
                    <a:pt x="28409" y="0"/>
                  </a:lnTo>
                  <a:close/>
                </a:path>
                <a:path w="28575" h="45085">
                  <a:moveTo>
                    <a:pt x="28409" y="1181"/>
                  </a:moveTo>
                  <a:lnTo>
                    <a:pt x="27216" y="1181"/>
                  </a:lnTo>
                  <a:lnTo>
                    <a:pt x="27216" y="43306"/>
                  </a:lnTo>
                  <a:lnTo>
                    <a:pt x="28409" y="43306"/>
                  </a:lnTo>
                  <a:lnTo>
                    <a:pt x="28409" y="1181"/>
                  </a:lnTo>
                  <a:close/>
                </a:path>
              </a:pathLst>
            </a:custGeom>
            <a:solidFill>
              <a:srgbClr val="879C82"/>
            </a:solidFill>
          </p:spPr>
          <p:txBody>
            <a:bodyPr wrap="square" lIns="0" tIns="0" rIns="0" bIns="0" rtlCol="0"/>
            <a:lstStyle/>
            <a:p/>
          </p:txBody>
        </p:sp>
        <p:sp>
          <p:nvSpPr>
            <p:cNvPr id="78" name="object 78" descr=""/>
            <p:cNvSpPr/>
            <p:nvPr/>
          </p:nvSpPr>
          <p:spPr>
            <a:xfrm>
              <a:off x="3779735" y="385712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79" name="object 79" descr=""/>
            <p:cNvSpPr/>
            <p:nvPr/>
          </p:nvSpPr>
          <p:spPr>
            <a:xfrm>
              <a:off x="3778719" y="3857129"/>
              <a:ext cx="28575" cy="45085"/>
            </a:xfrm>
            <a:custGeom>
              <a:avLst/>
              <a:gdLst/>
              <a:ahLst/>
              <a:cxnLst/>
              <a:rect l="l" t="t" r="r" b="b"/>
              <a:pathLst>
                <a:path w="28575" h="45085">
                  <a:moveTo>
                    <a:pt x="28409" y="0"/>
                  </a:moveTo>
                  <a:lnTo>
                    <a:pt x="0" y="0"/>
                  </a:lnTo>
                  <a:lnTo>
                    <a:pt x="0" y="44500"/>
                  </a:lnTo>
                  <a:lnTo>
                    <a:pt x="28409" y="44500"/>
                  </a:lnTo>
                  <a:lnTo>
                    <a:pt x="28409" y="43306"/>
                  </a:lnTo>
                  <a:lnTo>
                    <a:pt x="1257" y="43306"/>
                  </a:lnTo>
                  <a:lnTo>
                    <a:pt x="1257" y="1181"/>
                  </a:lnTo>
                  <a:lnTo>
                    <a:pt x="28409" y="1181"/>
                  </a:lnTo>
                  <a:lnTo>
                    <a:pt x="28409" y="0"/>
                  </a:lnTo>
                  <a:close/>
                </a:path>
                <a:path w="28575" h="45085">
                  <a:moveTo>
                    <a:pt x="28409" y="1181"/>
                  </a:moveTo>
                  <a:lnTo>
                    <a:pt x="27165" y="1181"/>
                  </a:lnTo>
                  <a:lnTo>
                    <a:pt x="27165" y="43306"/>
                  </a:lnTo>
                  <a:lnTo>
                    <a:pt x="28409" y="43306"/>
                  </a:lnTo>
                  <a:lnTo>
                    <a:pt x="28409" y="1181"/>
                  </a:lnTo>
                  <a:close/>
                </a:path>
              </a:pathLst>
            </a:custGeom>
            <a:solidFill>
              <a:srgbClr val="879C82"/>
            </a:solidFill>
          </p:spPr>
          <p:txBody>
            <a:bodyPr wrap="square" lIns="0" tIns="0" rIns="0" bIns="0" rtlCol="0"/>
            <a:lstStyle/>
            <a:p/>
          </p:txBody>
        </p:sp>
        <p:sp>
          <p:nvSpPr>
            <p:cNvPr id="80" name="object 80" descr=""/>
            <p:cNvSpPr/>
            <p:nvPr/>
          </p:nvSpPr>
          <p:spPr>
            <a:xfrm>
              <a:off x="3654907" y="3930954"/>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81" name="object 81" descr=""/>
            <p:cNvSpPr/>
            <p:nvPr/>
          </p:nvSpPr>
          <p:spPr>
            <a:xfrm>
              <a:off x="3653891" y="3929938"/>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16" y="1244"/>
                  </a:lnTo>
                  <a:lnTo>
                    <a:pt x="27216" y="43256"/>
                  </a:lnTo>
                  <a:lnTo>
                    <a:pt x="28409" y="43256"/>
                  </a:lnTo>
                  <a:lnTo>
                    <a:pt x="28409" y="1244"/>
                  </a:lnTo>
                  <a:close/>
                </a:path>
              </a:pathLst>
            </a:custGeom>
            <a:solidFill>
              <a:srgbClr val="879C82"/>
            </a:solidFill>
          </p:spPr>
          <p:txBody>
            <a:bodyPr wrap="square" lIns="0" tIns="0" rIns="0" bIns="0" rtlCol="0"/>
            <a:lstStyle/>
            <a:p/>
          </p:txBody>
        </p:sp>
        <p:sp>
          <p:nvSpPr>
            <p:cNvPr id="82" name="object 82" descr=""/>
            <p:cNvSpPr/>
            <p:nvPr/>
          </p:nvSpPr>
          <p:spPr>
            <a:xfrm>
              <a:off x="3696512" y="3930954"/>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83" name="object 83" descr=""/>
            <p:cNvSpPr/>
            <p:nvPr/>
          </p:nvSpPr>
          <p:spPr>
            <a:xfrm>
              <a:off x="3695496" y="3929938"/>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28" y="1244"/>
                  </a:lnTo>
                  <a:lnTo>
                    <a:pt x="27228" y="43256"/>
                  </a:lnTo>
                  <a:lnTo>
                    <a:pt x="28409" y="43256"/>
                  </a:lnTo>
                  <a:lnTo>
                    <a:pt x="28409" y="1244"/>
                  </a:lnTo>
                  <a:close/>
                </a:path>
              </a:pathLst>
            </a:custGeom>
            <a:solidFill>
              <a:srgbClr val="879C82"/>
            </a:solidFill>
          </p:spPr>
          <p:txBody>
            <a:bodyPr wrap="square" lIns="0" tIns="0" rIns="0" bIns="0" rtlCol="0"/>
            <a:lstStyle/>
            <a:p/>
          </p:txBody>
        </p:sp>
        <p:sp>
          <p:nvSpPr>
            <p:cNvPr id="84" name="object 84" descr=""/>
            <p:cNvSpPr/>
            <p:nvPr/>
          </p:nvSpPr>
          <p:spPr>
            <a:xfrm>
              <a:off x="3738130" y="3930954"/>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85" name="object 85" descr=""/>
            <p:cNvSpPr/>
            <p:nvPr/>
          </p:nvSpPr>
          <p:spPr>
            <a:xfrm>
              <a:off x="3737114" y="3929938"/>
              <a:ext cx="28575" cy="45085"/>
            </a:xfrm>
            <a:custGeom>
              <a:avLst/>
              <a:gdLst/>
              <a:ahLst/>
              <a:cxnLst/>
              <a:rect l="l" t="t" r="r" b="b"/>
              <a:pathLst>
                <a:path w="28575" h="45085">
                  <a:moveTo>
                    <a:pt x="28409" y="0"/>
                  </a:moveTo>
                  <a:lnTo>
                    <a:pt x="0" y="0"/>
                  </a:lnTo>
                  <a:lnTo>
                    <a:pt x="0" y="44500"/>
                  </a:lnTo>
                  <a:lnTo>
                    <a:pt x="28409" y="44500"/>
                  </a:lnTo>
                  <a:lnTo>
                    <a:pt x="28409" y="43256"/>
                  </a:lnTo>
                  <a:lnTo>
                    <a:pt x="1193" y="43256"/>
                  </a:lnTo>
                  <a:lnTo>
                    <a:pt x="1193" y="1244"/>
                  </a:lnTo>
                  <a:lnTo>
                    <a:pt x="28409" y="1244"/>
                  </a:lnTo>
                  <a:lnTo>
                    <a:pt x="28409" y="0"/>
                  </a:lnTo>
                  <a:close/>
                </a:path>
                <a:path w="28575" h="45085">
                  <a:moveTo>
                    <a:pt x="28409" y="1244"/>
                  </a:moveTo>
                  <a:lnTo>
                    <a:pt x="27216" y="1244"/>
                  </a:lnTo>
                  <a:lnTo>
                    <a:pt x="27216" y="43256"/>
                  </a:lnTo>
                  <a:lnTo>
                    <a:pt x="28409" y="43256"/>
                  </a:lnTo>
                  <a:lnTo>
                    <a:pt x="28409" y="1244"/>
                  </a:lnTo>
                  <a:close/>
                </a:path>
              </a:pathLst>
            </a:custGeom>
            <a:solidFill>
              <a:srgbClr val="879C82"/>
            </a:solidFill>
          </p:spPr>
          <p:txBody>
            <a:bodyPr wrap="square" lIns="0" tIns="0" rIns="0" bIns="0" rtlCol="0"/>
            <a:lstStyle/>
            <a:p/>
          </p:txBody>
        </p:sp>
        <p:sp>
          <p:nvSpPr>
            <p:cNvPr id="86" name="object 86" descr=""/>
            <p:cNvSpPr/>
            <p:nvPr/>
          </p:nvSpPr>
          <p:spPr>
            <a:xfrm>
              <a:off x="3779735" y="3930954"/>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87" name="object 87" descr=""/>
            <p:cNvSpPr/>
            <p:nvPr/>
          </p:nvSpPr>
          <p:spPr>
            <a:xfrm>
              <a:off x="3778719" y="3929938"/>
              <a:ext cx="28575" cy="45085"/>
            </a:xfrm>
            <a:custGeom>
              <a:avLst/>
              <a:gdLst/>
              <a:ahLst/>
              <a:cxnLst/>
              <a:rect l="l" t="t" r="r" b="b"/>
              <a:pathLst>
                <a:path w="28575" h="45085">
                  <a:moveTo>
                    <a:pt x="28409" y="0"/>
                  </a:moveTo>
                  <a:lnTo>
                    <a:pt x="0" y="0"/>
                  </a:lnTo>
                  <a:lnTo>
                    <a:pt x="0" y="44500"/>
                  </a:lnTo>
                  <a:lnTo>
                    <a:pt x="28409" y="44500"/>
                  </a:lnTo>
                  <a:lnTo>
                    <a:pt x="28409" y="43256"/>
                  </a:lnTo>
                  <a:lnTo>
                    <a:pt x="1257" y="43256"/>
                  </a:lnTo>
                  <a:lnTo>
                    <a:pt x="1257" y="1244"/>
                  </a:lnTo>
                  <a:lnTo>
                    <a:pt x="28409" y="1244"/>
                  </a:lnTo>
                  <a:lnTo>
                    <a:pt x="28409" y="0"/>
                  </a:lnTo>
                  <a:close/>
                </a:path>
                <a:path w="28575" h="45085">
                  <a:moveTo>
                    <a:pt x="28409" y="1244"/>
                  </a:moveTo>
                  <a:lnTo>
                    <a:pt x="27165" y="1244"/>
                  </a:lnTo>
                  <a:lnTo>
                    <a:pt x="27165" y="43256"/>
                  </a:lnTo>
                  <a:lnTo>
                    <a:pt x="28409" y="43256"/>
                  </a:lnTo>
                  <a:lnTo>
                    <a:pt x="28409" y="1244"/>
                  </a:lnTo>
                  <a:close/>
                </a:path>
              </a:pathLst>
            </a:custGeom>
            <a:solidFill>
              <a:srgbClr val="879C82"/>
            </a:solidFill>
          </p:spPr>
          <p:txBody>
            <a:bodyPr wrap="square" lIns="0" tIns="0" rIns="0" bIns="0" rtlCol="0"/>
            <a:lstStyle/>
            <a:p/>
          </p:txBody>
        </p:sp>
        <p:sp>
          <p:nvSpPr>
            <p:cNvPr id="88" name="object 88" descr=""/>
            <p:cNvSpPr/>
            <p:nvPr/>
          </p:nvSpPr>
          <p:spPr>
            <a:xfrm>
              <a:off x="3654907" y="400477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89" name="object 89" descr=""/>
            <p:cNvSpPr/>
            <p:nvPr/>
          </p:nvSpPr>
          <p:spPr>
            <a:xfrm>
              <a:off x="3653891" y="4003776"/>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81"/>
                  </a:lnTo>
                  <a:lnTo>
                    <a:pt x="28409" y="1181"/>
                  </a:lnTo>
                  <a:lnTo>
                    <a:pt x="28409" y="0"/>
                  </a:lnTo>
                  <a:close/>
                </a:path>
                <a:path w="28575" h="45085">
                  <a:moveTo>
                    <a:pt x="28409" y="1181"/>
                  </a:moveTo>
                  <a:lnTo>
                    <a:pt x="27216" y="1181"/>
                  </a:lnTo>
                  <a:lnTo>
                    <a:pt x="27216" y="43307"/>
                  </a:lnTo>
                  <a:lnTo>
                    <a:pt x="28409" y="43307"/>
                  </a:lnTo>
                  <a:lnTo>
                    <a:pt x="28409" y="1181"/>
                  </a:lnTo>
                  <a:close/>
                </a:path>
              </a:pathLst>
            </a:custGeom>
            <a:solidFill>
              <a:srgbClr val="879C82"/>
            </a:solidFill>
          </p:spPr>
          <p:txBody>
            <a:bodyPr wrap="square" lIns="0" tIns="0" rIns="0" bIns="0" rtlCol="0"/>
            <a:lstStyle/>
            <a:p/>
          </p:txBody>
        </p:sp>
        <p:sp>
          <p:nvSpPr>
            <p:cNvPr id="90" name="object 90" descr=""/>
            <p:cNvSpPr/>
            <p:nvPr/>
          </p:nvSpPr>
          <p:spPr>
            <a:xfrm>
              <a:off x="3696512" y="400477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91" name="object 91" descr=""/>
            <p:cNvSpPr/>
            <p:nvPr/>
          </p:nvSpPr>
          <p:spPr>
            <a:xfrm>
              <a:off x="3695496" y="4003776"/>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81"/>
                  </a:lnTo>
                  <a:lnTo>
                    <a:pt x="28409" y="1181"/>
                  </a:lnTo>
                  <a:lnTo>
                    <a:pt x="28409" y="0"/>
                  </a:lnTo>
                  <a:close/>
                </a:path>
                <a:path w="28575" h="45085">
                  <a:moveTo>
                    <a:pt x="28409" y="1181"/>
                  </a:moveTo>
                  <a:lnTo>
                    <a:pt x="27228" y="1181"/>
                  </a:lnTo>
                  <a:lnTo>
                    <a:pt x="27228" y="43307"/>
                  </a:lnTo>
                  <a:lnTo>
                    <a:pt x="28409" y="43307"/>
                  </a:lnTo>
                  <a:lnTo>
                    <a:pt x="28409" y="1181"/>
                  </a:lnTo>
                  <a:close/>
                </a:path>
              </a:pathLst>
            </a:custGeom>
            <a:solidFill>
              <a:srgbClr val="879C82"/>
            </a:solidFill>
          </p:spPr>
          <p:txBody>
            <a:bodyPr wrap="square" lIns="0" tIns="0" rIns="0" bIns="0" rtlCol="0"/>
            <a:lstStyle/>
            <a:p/>
          </p:txBody>
        </p:sp>
        <p:sp>
          <p:nvSpPr>
            <p:cNvPr id="92" name="object 92" descr=""/>
            <p:cNvSpPr/>
            <p:nvPr/>
          </p:nvSpPr>
          <p:spPr>
            <a:xfrm>
              <a:off x="3738130" y="4004779"/>
              <a:ext cx="27940" cy="43815"/>
            </a:xfrm>
            <a:custGeom>
              <a:avLst/>
              <a:gdLst/>
              <a:ahLst/>
              <a:cxnLst/>
              <a:rect l="l" t="t" r="r" b="b"/>
              <a:pathLst>
                <a:path w="27939" h="43814">
                  <a:moveTo>
                    <a:pt x="27406" y="0"/>
                  </a:moveTo>
                  <a:lnTo>
                    <a:pt x="0" y="0"/>
                  </a:lnTo>
                  <a:lnTo>
                    <a:pt x="0" y="43484"/>
                  </a:lnTo>
                  <a:lnTo>
                    <a:pt x="27406" y="43484"/>
                  </a:lnTo>
                  <a:lnTo>
                    <a:pt x="27406" y="0"/>
                  </a:lnTo>
                  <a:close/>
                </a:path>
              </a:pathLst>
            </a:custGeom>
            <a:solidFill>
              <a:srgbClr val="FFFFFF"/>
            </a:solidFill>
          </p:spPr>
          <p:txBody>
            <a:bodyPr wrap="square" lIns="0" tIns="0" rIns="0" bIns="0" rtlCol="0"/>
            <a:lstStyle/>
            <a:p/>
          </p:txBody>
        </p:sp>
        <p:sp>
          <p:nvSpPr>
            <p:cNvPr id="93" name="object 93" descr=""/>
            <p:cNvSpPr/>
            <p:nvPr/>
          </p:nvSpPr>
          <p:spPr>
            <a:xfrm>
              <a:off x="3737114" y="4003776"/>
              <a:ext cx="28575" cy="45085"/>
            </a:xfrm>
            <a:custGeom>
              <a:avLst/>
              <a:gdLst/>
              <a:ahLst/>
              <a:cxnLst/>
              <a:rect l="l" t="t" r="r" b="b"/>
              <a:pathLst>
                <a:path w="28575" h="45085">
                  <a:moveTo>
                    <a:pt x="28409" y="0"/>
                  </a:moveTo>
                  <a:lnTo>
                    <a:pt x="0" y="0"/>
                  </a:lnTo>
                  <a:lnTo>
                    <a:pt x="0" y="44500"/>
                  </a:lnTo>
                  <a:lnTo>
                    <a:pt x="28409" y="44500"/>
                  </a:lnTo>
                  <a:lnTo>
                    <a:pt x="28409" y="43307"/>
                  </a:lnTo>
                  <a:lnTo>
                    <a:pt x="1193" y="43307"/>
                  </a:lnTo>
                  <a:lnTo>
                    <a:pt x="1193" y="1181"/>
                  </a:lnTo>
                  <a:lnTo>
                    <a:pt x="28409" y="1181"/>
                  </a:lnTo>
                  <a:lnTo>
                    <a:pt x="28409" y="0"/>
                  </a:lnTo>
                  <a:close/>
                </a:path>
                <a:path w="28575" h="45085">
                  <a:moveTo>
                    <a:pt x="28409" y="1181"/>
                  </a:moveTo>
                  <a:lnTo>
                    <a:pt x="27216" y="1181"/>
                  </a:lnTo>
                  <a:lnTo>
                    <a:pt x="27216" y="43307"/>
                  </a:lnTo>
                  <a:lnTo>
                    <a:pt x="28409" y="43307"/>
                  </a:lnTo>
                  <a:lnTo>
                    <a:pt x="28409" y="1181"/>
                  </a:lnTo>
                  <a:close/>
                </a:path>
              </a:pathLst>
            </a:custGeom>
            <a:solidFill>
              <a:srgbClr val="879C82"/>
            </a:solidFill>
          </p:spPr>
          <p:txBody>
            <a:bodyPr wrap="square" lIns="0" tIns="0" rIns="0" bIns="0" rtlCol="0"/>
            <a:lstStyle/>
            <a:p/>
          </p:txBody>
        </p:sp>
        <p:sp>
          <p:nvSpPr>
            <p:cNvPr id="94" name="object 94" descr=""/>
            <p:cNvSpPr/>
            <p:nvPr/>
          </p:nvSpPr>
          <p:spPr>
            <a:xfrm>
              <a:off x="3779735" y="400477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95" name="object 95" descr=""/>
            <p:cNvSpPr/>
            <p:nvPr/>
          </p:nvSpPr>
          <p:spPr>
            <a:xfrm>
              <a:off x="3778719" y="4003776"/>
              <a:ext cx="28575" cy="45085"/>
            </a:xfrm>
            <a:custGeom>
              <a:avLst/>
              <a:gdLst/>
              <a:ahLst/>
              <a:cxnLst/>
              <a:rect l="l" t="t" r="r" b="b"/>
              <a:pathLst>
                <a:path w="28575" h="45085">
                  <a:moveTo>
                    <a:pt x="28409" y="0"/>
                  </a:moveTo>
                  <a:lnTo>
                    <a:pt x="0" y="0"/>
                  </a:lnTo>
                  <a:lnTo>
                    <a:pt x="0" y="44500"/>
                  </a:lnTo>
                  <a:lnTo>
                    <a:pt x="28409" y="44500"/>
                  </a:lnTo>
                  <a:lnTo>
                    <a:pt x="28409" y="43307"/>
                  </a:lnTo>
                  <a:lnTo>
                    <a:pt x="1257" y="43307"/>
                  </a:lnTo>
                  <a:lnTo>
                    <a:pt x="1257" y="1181"/>
                  </a:lnTo>
                  <a:lnTo>
                    <a:pt x="28409" y="1181"/>
                  </a:lnTo>
                  <a:lnTo>
                    <a:pt x="28409" y="0"/>
                  </a:lnTo>
                  <a:close/>
                </a:path>
                <a:path w="28575" h="45085">
                  <a:moveTo>
                    <a:pt x="28409" y="1181"/>
                  </a:moveTo>
                  <a:lnTo>
                    <a:pt x="27165" y="1181"/>
                  </a:lnTo>
                  <a:lnTo>
                    <a:pt x="27165" y="43307"/>
                  </a:lnTo>
                  <a:lnTo>
                    <a:pt x="28409" y="43307"/>
                  </a:lnTo>
                  <a:lnTo>
                    <a:pt x="28409" y="1181"/>
                  </a:lnTo>
                  <a:close/>
                </a:path>
              </a:pathLst>
            </a:custGeom>
            <a:solidFill>
              <a:srgbClr val="879C82"/>
            </a:solidFill>
          </p:spPr>
          <p:txBody>
            <a:bodyPr wrap="square" lIns="0" tIns="0" rIns="0" bIns="0" rtlCol="0"/>
            <a:lstStyle/>
            <a:p/>
          </p:txBody>
        </p:sp>
        <p:sp>
          <p:nvSpPr>
            <p:cNvPr id="96" name="object 96" descr=""/>
            <p:cNvSpPr/>
            <p:nvPr/>
          </p:nvSpPr>
          <p:spPr>
            <a:xfrm>
              <a:off x="3817276" y="3551694"/>
              <a:ext cx="111760" cy="714375"/>
            </a:xfrm>
            <a:custGeom>
              <a:avLst/>
              <a:gdLst/>
              <a:ahLst/>
              <a:cxnLst/>
              <a:rect l="l" t="t" r="r" b="b"/>
              <a:pathLst>
                <a:path w="111760" h="714375">
                  <a:moveTo>
                    <a:pt x="111633" y="0"/>
                  </a:moveTo>
                  <a:lnTo>
                    <a:pt x="0" y="0"/>
                  </a:lnTo>
                  <a:lnTo>
                    <a:pt x="0" y="714032"/>
                  </a:lnTo>
                  <a:lnTo>
                    <a:pt x="111633" y="714032"/>
                  </a:lnTo>
                  <a:lnTo>
                    <a:pt x="111633" y="0"/>
                  </a:lnTo>
                  <a:close/>
                </a:path>
              </a:pathLst>
            </a:custGeom>
            <a:solidFill>
              <a:srgbClr val="BFCCC0"/>
            </a:solidFill>
          </p:spPr>
          <p:txBody>
            <a:bodyPr wrap="square" lIns="0" tIns="0" rIns="0" bIns="0" rtlCol="0"/>
            <a:lstStyle/>
            <a:p/>
          </p:txBody>
        </p:sp>
        <p:sp>
          <p:nvSpPr>
            <p:cNvPr id="97" name="object 97" descr=""/>
            <p:cNvSpPr/>
            <p:nvPr/>
          </p:nvSpPr>
          <p:spPr>
            <a:xfrm>
              <a:off x="3816261" y="3550310"/>
              <a:ext cx="114935" cy="716280"/>
            </a:xfrm>
            <a:custGeom>
              <a:avLst/>
              <a:gdLst/>
              <a:ahLst/>
              <a:cxnLst/>
              <a:rect l="l" t="t" r="r" b="b"/>
              <a:pathLst>
                <a:path w="114935" h="716279">
                  <a:moveTo>
                    <a:pt x="114681" y="0"/>
                  </a:moveTo>
                  <a:lnTo>
                    <a:pt x="81915" y="0"/>
                  </a:lnTo>
                  <a:lnTo>
                    <a:pt x="81915" y="1270"/>
                  </a:lnTo>
                  <a:lnTo>
                    <a:pt x="0" y="1270"/>
                  </a:lnTo>
                  <a:lnTo>
                    <a:pt x="0" y="2540"/>
                  </a:lnTo>
                  <a:lnTo>
                    <a:pt x="0" y="713740"/>
                  </a:lnTo>
                  <a:lnTo>
                    <a:pt x="0" y="716280"/>
                  </a:lnTo>
                  <a:lnTo>
                    <a:pt x="114681" y="716280"/>
                  </a:lnTo>
                  <a:lnTo>
                    <a:pt x="114681" y="714057"/>
                  </a:lnTo>
                  <a:lnTo>
                    <a:pt x="114681" y="713740"/>
                  </a:lnTo>
                  <a:lnTo>
                    <a:pt x="114681" y="2755"/>
                  </a:lnTo>
                  <a:lnTo>
                    <a:pt x="112293" y="2755"/>
                  </a:lnTo>
                  <a:lnTo>
                    <a:pt x="112293" y="713740"/>
                  </a:lnTo>
                  <a:lnTo>
                    <a:pt x="2387" y="713740"/>
                  </a:lnTo>
                  <a:lnTo>
                    <a:pt x="2387" y="2540"/>
                  </a:lnTo>
                  <a:lnTo>
                    <a:pt x="114681" y="2540"/>
                  </a:lnTo>
                  <a:lnTo>
                    <a:pt x="114681" y="1270"/>
                  </a:lnTo>
                  <a:lnTo>
                    <a:pt x="114681" y="0"/>
                  </a:lnTo>
                  <a:close/>
                </a:path>
              </a:pathLst>
            </a:custGeom>
            <a:solidFill>
              <a:srgbClr val="879C82"/>
            </a:solidFill>
          </p:spPr>
          <p:txBody>
            <a:bodyPr wrap="square" lIns="0" tIns="0" rIns="0" bIns="0" rtlCol="0"/>
            <a:lstStyle/>
            <a:p/>
          </p:txBody>
        </p:sp>
        <p:pic>
          <p:nvPicPr>
            <p:cNvPr id="98" name="object 98" descr=""/>
            <p:cNvPicPr/>
            <p:nvPr/>
          </p:nvPicPr>
          <p:blipFill>
            <a:blip r:embed="rId5" cstate="print"/>
            <a:stretch>
              <a:fillRect/>
            </a:stretch>
          </p:blipFill>
          <p:spPr>
            <a:xfrm>
              <a:off x="3816268" y="3478865"/>
              <a:ext cx="154254" cy="73837"/>
            </a:xfrm>
            <a:prstGeom prst="rect">
              <a:avLst/>
            </a:prstGeom>
          </p:spPr>
        </p:pic>
        <p:sp>
          <p:nvSpPr>
            <p:cNvPr id="99" name="object 99" descr=""/>
            <p:cNvSpPr/>
            <p:nvPr/>
          </p:nvSpPr>
          <p:spPr>
            <a:xfrm>
              <a:off x="3928916" y="3480893"/>
              <a:ext cx="40640" cy="784860"/>
            </a:xfrm>
            <a:custGeom>
              <a:avLst/>
              <a:gdLst/>
              <a:ahLst/>
              <a:cxnLst/>
              <a:rect l="l" t="t" r="r" b="b"/>
              <a:pathLst>
                <a:path w="40639" h="784860">
                  <a:moveTo>
                    <a:pt x="40589" y="0"/>
                  </a:moveTo>
                  <a:lnTo>
                    <a:pt x="0" y="70866"/>
                  </a:lnTo>
                  <a:lnTo>
                    <a:pt x="0" y="784821"/>
                  </a:lnTo>
                  <a:lnTo>
                    <a:pt x="40589" y="713905"/>
                  </a:lnTo>
                  <a:lnTo>
                    <a:pt x="40589" y="0"/>
                  </a:lnTo>
                  <a:close/>
                </a:path>
              </a:pathLst>
            </a:custGeom>
            <a:solidFill>
              <a:srgbClr val="A5B8A6"/>
            </a:solidFill>
          </p:spPr>
          <p:txBody>
            <a:bodyPr wrap="square" lIns="0" tIns="0" rIns="0" bIns="0" rtlCol="0"/>
            <a:lstStyle/>
            <a:p/>
          </p:txBody>
        </p:sp>
        <p:sp>
          <p:nvSpPr>
            <p:cNvPr id="100" name="object 100" descr=""/>
            <p:cNvSpPr/>
            <p:nvPr/>
          </p:nvSpPr>
          <p:spPr>
            <a:xfrm>
              <a:off x="3927892" y="3479882"/>
              <a:ext cx="43180" cy="787400"/>
            </a:xfrm>
            <a:custGeom>
              <a:avLst/>
              <a:gdLst/>
              <a:ahLst/>
              <a:cxnLst/>
              <a:rect l="l" t="t" r="r" b="b"/>
              <a:pathLst>
                <a:path w="43179" h="787400">
                  <a:moveTo>
                    <a:pt x="40335" y="0"/>
                  </a:moveTo>
                  <a:lnTo>
                    <a:pt x="126" y="70942"/>
                  </a:lnTo>
                  <a:lnTo>
                    <a:pt x="0" y="786256"/>
                  </a:lnTo>
                  <a:lnTo>
                    <a:pt x="2171" y="786841"/>
                  </a:lnTo>
                  <a:lnTo>
                    <a:pt x="5077" y="781723"/>
                  </a:lnTo>
                  <a:lnTo>
                    <a:pt x="2412" y="781723"/>
                  </a:lnTo>
                  <a:lnTo>
                    <a:pt x="2412" y="71894"/>
                  </a:lnTo>
                  <a:lnTo>
                    <a:pt x="40220" y="5118"/>
                  </a:lnTo>
                  <a:lnTo>
                    <a:pt x="42633" y="5118"/>
                  </a:lnTo>
                  <a:lnTo>
                    <a:pt x="42633" y="596"/>
                  </a:lnTo>
                  <a:lnTo>
                    <a:pt x="40335" y="0"/>
                  </a:lnTo>
                  <a:close/>
                </a:path>
                <a:path w="43179" h="787400">
                  <a:moveTo>
                    <a:pt x="42633" y="5118"/>
                  </a:moveTo>
                  <a:lnTo>
                    <a:pt x="40220" y="5118"/>
                  </a:lnTo>
                  <a:lnTo>
                    <a:pt x="40220" y="714959"/>
                  </a:lnTo>
                  <a:lnTo>
                    <a:pt x="2412" y="781723"/>
                  </a:lnTo>
                  <a:lnTo>
                    <a:pt x="5077" y="781723"/>
                  </a:lnTo>
                  <a:lnTo>
                    <a:pt x="42443" y="715911"/>
                  </a:lnTo>
                  <a:lnTo>
                    <a:pt x="42633" y="715251"/>
                  </a:lnTo>
                  <a:lnTo>
                    <a:pt x="42633" y="5118"/>
                  </a:lnTo>
                  <a:close/>
                </a:path>
              </a:pathLst>
            </a:custGeom>
            <a:solidFill>
              <a:srgbClr val="879C82"/>
            </a:solidFill>
          </p:spPr>
          <p:txBody>
            <a:bodyPr wrap="square" lIns="0" tIns="0" rIns="0" bIns="0" rtlCol="0"/>
            <a:lstStyle/>
            <a:p/>
          </p:txBody>
        </p:sp>
        <p:sp>
          <p:nvSpPr>
            <p:cNvPr id="101" name="object 101" descr=""/>
            <p:cNvSpPr/>
            <p:nvPr/>
          </p:nvSpPr>
          <p:spPr>
            <a:xfrm>
              <a:off x="3830472" y="360934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02" name="object 102" descr=""/>
            <p:cNvSpPr/>
            <p:nvPr/>
          </p:nvSpPr>
          <p:spPr>
            <a:xfrm>
              <a:off x="3830472" y="3609340"/>
              <a:ext cx="28575" cy="45085"/>
            </a:xfrm>
            <a:custGeom>
              <a:avLst/>
              <a:gdLst/>
              <a:ahLst/>
              <a:cxnLst/>
              <a:rect l="l" t="t" r="r" b="b"/>
              <a:pathLst>
                <a:path w="28575" h="45085">
                  <a:moveTo>
                    <a:pt x="28409" y="0"/>
                  </a:moveTo>
                  <a:lnTo>
                    <a:pt x="0" y="0"/>
                  </a:lnTo>
                  <a:lnTo>
                    <a:pt x="0" y="44500"/>
                  </a:lnTo>
                  <a:lnTo>
                    <a:pt x="28409" y="44500"/>
                  </a:lnTo>
                  <a:lnTo>
                    <a:pt x="28409" y="43307"/>
                  </a:lnTo>
                  <a:lnTo>
                    <a:pt x="1257" y="43307"/>
                  </a:lnTo>
                  <a:lnTo>
                    <a:pt x="1257" y="1244"/>
                  </a:lnTo>
                  <a:lnTo>
                    <a:pt x="28409" y="1244"/>
                  </a:lnTo>
                  <a:lnTo>
                    <a:pt x="28409" y="0"/>
                  </a:lnTo>
                  <a:close/>
                </a:path>
                <a:path w="28575" h="45085">
                  <a:moveTo>
                    <a:pt x="28409" y="1244"/>
                  </a:moveTo>
                  <a:lnTo>
                    <a:pt x="27165" y="1244"/>
                  </a:lnTo>
                  <a:lnTo>
                    <a:pt x="27165" y="43307"/>
                  </a:lnTo>
                  <a:lnTo>
                    <a:pt x="28409" y="43307"/>
                  </a:lnTo>
                  <a:lnTo>
                    <a:pt x="28409" y="1244"/>
                  </a:lnTo>
                  <a:close/>
                </a:path>
              </a:pathLst>
            </a:custGeom>
            <a:solidFill>
              <a:srgbClr val="879C82"/>
            </a:solidFill>
          </p:spPr>
          <p:txBody>
            <a:bodyPr wrap="square" lIns="0" tIns="0" rIns="0" bIns="0" rtlCol="0"/>
            <a:lstStyle/>
            <a:p/>
          </p:txBody>
        </p:sp>
        <p:sp>
          <p:nvSpPr>
            <p:cNvPr id="103" name="object 103" descr=""/>
            <p:cNvSpPr/>
            <p:nvPr/>
          </p:nvSpPr>
          <p:spPr>
            <a:xfrm>
              <a:off x="3872077" y="360934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04" name="object 104" descr=""/>
            <p:cNvSpPr/>
            <p:nvPr/>
          </p:nvSpPr>
          <p:spPr>
            <a:xfrm>
              <a:off x="3872077" y="3609340"/>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244"/>
                  </a:lnTo>
                  <a:lnTo>
                    <a:pt x="28409" y="1244"/>
                  </a:lnTo>
                  <a:lnTo>
                    <a:pt x="28409" y="0"/>
                  </a:lnTo>
                  <a:close/>
                </a:path>
                <a:path w="28575" h="45085">
                  <a:moveTo>
                    <a:pt x="28409" y="1244"/>
                  </a:moveTo>
                  <a:lnTo>
                    <a:pt x="27228" y="1244"/>
                  </a:lnTo>
                  <a:lnTo>
                    <a:pt x="27228" y="43307"/>
                  </a:lnTo>
                  <a:lnTo>
                    <a:pt x="28409" y="43307"/>
                  </a:lnTo>
                  <a:lnTo>
                    <a:pt x="28409" y="1244"/>
                  </a:lnTo>
                  <a:close/>
                </a:path>
              </a:pathLst>
            </a:custGeom>
            <a:solidFill>
              <a:srgbClr val="879C82"/>
            </a:solidFill>
          </p:spPr>
          <p:txBody>
            <a:bodyPr wrap="square" lIns="0" tIns="0" rIns="0" bIns="0" rtlCol="0"/>
            <a:lstStyle/>
            <a:p/>
          </p:txBody>
        </p:sp>
        <p:sp>
          <p:nvSpPr>
            <p:cNvPr id="105" name="object 105" descr=""/>
            <p:cNvSpPr/>
            <p:nvPr/>
          </p:nvSpPr>
          <p:spPr>
            <a:xfrm>
              <a:off x="3830472" y="368418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06" name="object 106" descr=""/>
            <p:cNvSpPr/>
            <p:nvPr/>
          </p:nvSpPr>
          <p:spPr>
            <a:xfrm>
              <a:off x="3830472" y="3684181"/>
              <a:ext cx="28575" cy="45085"/>
            </a:xfrm>
            <a:custGeom>
              <a:avLst/>
              <a:gdLst/>
              <a:ahLst/>
              <a:cxnLst/>
              <a:rect l="l" t="t" r="r" b="b"/>
              <a:pathLst>
                <a:path w="28575" h="45085">
                  <a:moveTo>
                    <a:pt x="28409" y="0"/>
                  </a:moveTo>
                  <a:lnTo>
                    <a:pt x="0" y="0"/>
                  </a:lnTo>
                  <a:lnTo>
                    <a:pt x="0" y="44500"/>
                  </a:lnTo>
                  <a:lnTo>
                    <a:pt x="28409" y="44500"/>
                  </a:lnTo>
                  <a:lnTo>
                    <a:pt x="28409" y="43256"/>
                  </a:lnTo>
                  <a:lnTo>
                    <a:pt x="1257" y="43256"/>
                  </a:lnTo>
                  <a:lnTo>
                    <a:pt x="1257" y="1244"/>
                  </a:lnTo>
                  <a:lnTo>
                    <a:pt x="28409" y="1244"/>
                  </a:lnTo>
                  <a:lnTo>
                    <a:pt x="28409" y="0"/>
                  </a:lnTo>
                  <a:close/>
                </a:path>
                <a:path w="28575" h="45085">
                  <a:moveTo>
                    <a:pt x="28409" y="1244"/>
                  </a:moveTo>
                  <a:lnTo>
                    <a:pt x="27165" y="1244"/>
                  </a:lnTo>
                  <a:lnTo>
                    <a:pt x="27165" y="43256"/>
                  </a:lnTo>
                  <a:lnTo>
                    <a:pt x="28409" y="43256"/>
                  </a:lnTo>
                  <a:lnTo>
                    <a:pt x="28409" y="1244"/>
                  </a:lnTo>
                  <a:close/>
                </a:path>
              </a:pathLst>
            </a:custGeom>
            <a:solidFill>
              <a:srgbClr val="879C82"/>
            </a:solidFill>
          </p:spPr>
          <p:txBody>
            <a:bodyPr wrap="square" lIns="0" tIns="0" rIns="0" bIns="0" rtlCol="0"/>
            <a:lstStyle/>
            <a:p/>
          </p:txBody>
        </p:sp>
        <p:sp>
          <p:nvSpPr>
            <p:cNvPr id="107" name="object 107" descr=""/>
            <p:cNvSpPr/>
            <p:nvPr/>
          </p:nvSpPr>
          <p:spPr>
            <a:xfrm>
              <a:off x="3872077" y="368418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08" name="object 108" descr=""/>
            <p:cNvSpPr/>
            <p:nvPr/>
          </p:nvSpPr>
          <p:spPr>
            <a:xfrm>
              <a:off x="3872077" y="3684181"/>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28" y="1244"/>
                  </a:lnTo>
                  <a:lnTo>
                    <a:pt x="27228" y="43256"/>
                  </a:lnTo>
                  <a:lnTo>
                    <a:pt x="28409" y="43256"/>
                  </a:lnTo>
                  <a:lnTo>
                    <a:pt x="28409" y="1244"/>
                  </a:lnTo>
                  <a:close/>
                </a:path>
              </a:pathLst>
            </a:custGeom>
            <a:solidFill>
              <a:srgbClr val="879C82"/>
            </a:solidFill>
          </p:spPr>
          <p:txBody>
            <a:bodyPr wrap="square" lIns="0" tIns="0" rIns="0" bIns="0" rtlCol="0"/>
            <a:lstStyle/>
            <a:p/>
          </p:txBody>
        </p:sp>
        <p:sp>
          <p:nvSpPr>
            <p:cNvPr id="109" name="object 109" descr=""/>
            <p:cNvSpPr/>
            <p:nvPr/>
          </p:nvSpPr>
          <p:spPr>
            <a:xfrm>
              <a:off x="3830472" y="375902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10" name="object 110" descr=""/>
            <p:cNvSpPr/>
            <p:nvPr/>
          </p:nvSpPr>
          <p:spPr>
            <a:xfrm>
              <a:off x="3830472" y="3758006"/>
              <a:ext cx="28575" cy="45720"/>
            </a:xfrm>
            <a:custGeom>
              <a:avLst/>
              <a:gdLst/>
              <a:ahLst/>
              <a:cxnLst/>
              <a:rect l="l" t="t" r="r" b="b"/>
              <a:pathLst>
                <a:path w="28575" h="45720">
                  <a:moveTo>
                    <a:pt x="28409" y="0"/>
                  </a:moveTo>
                  <a:lnTo>
                    <a:pt x="0" y="0"/>
                  </a:lnTo>
                  <a:lnTo>
                    <a:pt x="0" y="45516"/>
                  </a:lnTo>
                  <a:lnTo>
                    <a:pt x="28409" y="45516"/>
                  </a:lnTo>
                  <a:lnTo>
                    <a:pt x="28409" y="44246"/>
                  </a:lnTo>
                  <a:lnTo>
                    <a:pt x="1257" y="44246"/>
                  </a:lnTo>
                  <a:lnTo>
                    <a:pt x="1257" y="1219"/>
                  </a:lnTo>
                  <a:lnTo>
                    <a:pt x="28409" y="1219"/>
                  </a:lnTo>
                  <a:lnTo>
                    <a:pt x="28409" y="0"/>
                  </a:lnTo>
                  <a:close/>
                </a:path>
                <a:path w="28575" h="45720">
                  <a:moveTo>
                    <a:pt x="28409" y="1219"/>
                  </a:moveTo>
                  <a:lnTo>
                    <a:pt x="27165" y="1219"/>
                  </a:lnTo>
                  <a:lnTo>
                    <a:pt x="27165" y="44246"/>
                  </a:lnTo>
                  <a:lnTo>
                    <a:pt x="28409" y="44246"/>
                  </a:lnTo>
                  <a:lnTo>
                    <a:pt x="28409" y="1219"/>
                  </a:lnTo>
                  <a:close/>
                </a:path>
              </a:pathLst>
            </a:custGeom>
            <a:solidFill>
              <a:srgbClr val="879C82"/>
            </a:solidFill>
          </p:spPr>
          <p:txBody>
            <a:bodyPr wrap="square" lIns="0" tIns="0" rIns="0" bIns="0" rtlCol="0"/>
            <a:lstStyle/>
            <a:p/>
          </p:txBody>
        </p:sp>
        <p:sp>
          <p:nvSpPr>
            <p:cNvPr id="111" name="object 111" descr=""/>
            <p:cNvSpPr/>
            <p:nvPr/>
          </p:nvSpPr>
          <p:spPr>
            <a:xfrm>
              <a:off x="3872077" y="375902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12" name="object 112" descr=""/>
            <p:cNvSpPr/>
            <p:nvPr/>
          </p:nvSpPr>
          <p:spPr>
            <a:xfrm>
              <a:off x="3872077" y="3758006"/>
              <a:ext cx="28575" cy="45720"/>
            </a:xfrm>
            <a:custGeom>
              <a:avLst/>
              <a:gdLst/>
              <a:ahLst/>
              <a:cxnLst/>
              <a:rect l="l" t="t" r="r" b="b"/>
              <a:pathLst>
                <a:path w="28575" h="45720">
                  <a:moveTo>
                    <a:pt x="28409" y="0"/>
                  </a:moveTo>
                  <a:lnTo>
                    <a:pt x="0" y="0"/>
                  </a:lnTo>
                  <a:lnTo>
                    <a:pt x="0" y="45516"/>
                  </a:lnTo>
                  <a:lnTo>
                    <a:pt x="28409" y="45516"/>
                  </a:lnTo>
                  <a:lnTo>
                    <a:pt x="28409" y="44246"/>
                  </a:lnTo>
                  <a:lnTo>
                    <a:pt x="1206" y="44246"/>
                  </a:lnTo>
                  <a:lnTo>
                    <a:pt x="1206" y="1219"/>
                  </a:lnTo>
                  <a:lnTo>
                    <a:pt x="28409" y="1219"/>
                  </a:lnTo>
                  <a:lnTo>
                    <a:pt x="28409" y="0"/>
                  </a:lnTo>
                  <a:close/>
                </a:path>
                <a:path w="28575" h="45720">
                  <a:moveTo>
                    <a:pt x="28409" y="1219"/>
                  </a:moveTo>
                  <a:lnTo>
                    <a:pt x="27228" y="1219"/>
                  </a:lnTo>
                  <a:lnTo>
                    <a:pt x="27228" y="44246"/>
                  </a:lnTo>
                  <a:lnTo>
                    <a:pt x="28409" y="44246"/>
                  </a:lnTo>
                  <a:lnTo>
                    <a:pt x="28409" y="1219"/>
                  </a:lnTo>
                  <a:close/>
                </a:path>
              </a:pathLst>
            </a:custGeom>
            <a:solidFill>
              <a:srgbClr val="879C82"/>
            </a:solidFill>
          </p:spPr>
          <p:txBody>
            <a:bodyPr wrap="square" lIns="0" tIns="0" rIns="0" bIns="0" rtlCol="0"/>
            <a:lstStyle/>
            <a:p/>
          </p:txBody>
        </p:sp>
        <p:sp>
          <p:nvSpPr>
            <p:cNvPr id="113" name="object 113" descr=""/>
            <p:cNvSpPr/>
            <p:nvPr/>
          </p:nvSpPr>
          <p:spPr>
            <a:xfrm>
              <a:off x="3769588" y="3817683"/>
              <a:ext cx="219710" cy="495934"/>
            </a:xfrm>
            <a:custGeom>
              <a:avLst/>
              <a:gdLst/>
              <a:ahLst/>
              <a:cxnLst/>
              <a:rect l="l" t="t" r="r" b="b"/>
              <a:pathLst>
                <a:path w="219710" h="495935">
                  <a:moveTo>
                    <a:pt x="219201" y="0"/>
                  </a:moveTo>
                  <a:lnTo>
                    <a:pt x="0" y="0"/>
                  </a:lnTo>
                  <a:lnTo>
                    <a:pt x="0" y="495566"/>
                  </a:lnTo>
                  <a:lnTo>
                    <a:pt x="219201" y="495566"/>
                  </a:lnTo>
                  <a:lnTo>
                    <a:pt x="219201" y="0"/>
                  </a:lnTo>
                  <a:close/>
                </a:path>
              </a:pathLst>
            </a:custGeom>
            <a:solidFill>
              <a:srgbClr val="4D7299"/>
            </a:solidFill>
          </p:spPr>
          <p:txBody>
            <a:bodyPr wrap="square" lIns="0" tIns="0" rIns="0" bIns="0" rtlCol="0"/>
            <a:lstStyle/>
            <a:p/>
          </p:txBody>
        </p:sp>
        <p:sp>
          <p:nvSpPr>
            <p:cNvPr id="114" name="object 114" descr=""/>
            <p:cNvSpPr/>
            <p:nvPr/>
          </p:nvSpPr>
          <p:spPr>
            <a:xfrm>
              <a:off x="3768572" y="3816349"/>
              <a:ext cx="221615" cy="497840"/>
            </a:xfrm>
            <a:custGeom>
              <a:avLst/>
              <a:gdLst/>
              <a:ahLst/>
              <a:cxnLst/>
              <a:rect l="l" t="t" r="r" b="b"/>
              <a:pathLst>
                <a:path w="221614" h="497839">
                  <a:moveTo>
                    <a:pt x="221234" y="0"/>
                  </a:moveTo>
                  <a:lnTo>
                    <a:pt x="0" y="0"/>
                  </a:lnTo>
                  <a:lnTo>
                    <a:pt x="0" y="1270"/>
                  </a:lnTo>
                  <a:lnTo>
                    <a:pt x="0" y="496570"/>
                  </a:lnTo>
                  <a:lnTo>
                    <a:pt x="0" y="497840"/>
                  </a:lnTo>
                  <a:lnTo>
                    <a:pt x="221234" y="497840"/>
                  </a:lnTo>
                  <a:lnTo>
                    <a:pt x="221234" y="496658"/>
                  </a:lnTo>
                  <a:lnTo>
                    <a:pt x="221234" y="1511"/>
                  </a:lnTo>
                  <a:lnTo>
                    <a:pt x="220027" y="1511"/>
                  </a:lnTo>
                  <a:lnTo>
                    <a:pt x="220027" y="496570"/>
                  </a:lnTo>
                  <a:lnTo>
                    <a:pt x="1193" y="496570"/>
                  </a:lnTo>
                  <a:lnTo>
                    <a:pt x="1193" y="1270"/>
                  </a:lnTo>
                  <a:lnTo>
                    <a:pt x="221234" y="1270"/>
                  </a:lnTo>
                  <a:lnTo>
                    <a:pt x="221234" y="0"/>
                  </a:lnTo>
                  <a:close/>
                </a:path>
              </a:pathLst>
            </a:custGeom>
            <a:solidFill>
              <a:srgbClr val="9BD3F0"/>
            </a:solidFill>
          </p:spPr>
          <p:txBody>
            <a:bodyPr wrap="square" lIns="0" tIns="0" rIns="0" bIns="0" rtlCol="0"/>
            <a:lstStyle/>
            <a:p/>
          </p:txBody>
        </p:sp>
        <p:sp>
          <p:nvSpPr>
            <p:cNvPr id="115" name="object 115" descr=""/>
            <p:cNvSpPr/>
            <p:nvPr/>
          </p:nvSpPr>
          <p:spPr>
            <a:xfrm>
              <a:off x="3769584" y="3768124"/>
              <a:ext cx="297815" cy="50165"/>
            </a:xfrm>
            <a:custGeom>
              <a:avLst/>
              <a:gdLst/>
              <a:ahLst/>
              <a:cxnLst/>
              <a:rect l="l" t="t" r="r" b="b"/>
              <a:pathLst>
                <a:path w="297814" h="50164">
                  <a:moveTo>
                    <a:pt x="297345" y="0"/>
                  </a:moveTo>
                  <a:lnTo>
                    <a:pt x="77406" y="63"/>
                  </a:lnTo>
                  <a:lnTo>
                    <a:pt x="0" y="49555"/>
                  </a:lnTo>
                  <a:lnTo>
                    <a:pt x="219341" y="49555"/>
                  </a:lnTo>
                  <a:lnTo>
                    <a:pt x="297345" y="0"/>
                  </a:lnTo>
                  <a:close/>
                </a:path>
              </a:pathLst>
            </a:custGeom>
            <a:solidFill>
              <a:srgbClr val="7FA6C8"/>
            </a:solidFill>
          </p:spPr>
          <p:txBody>
            <a:bodyPr wrap="square" lIns="0" tIns="0" rIns="0" bIns="0" rtlCol="0"/>
            <a:lstStyle/>
            <a:p/>
          </p:txBody>
        </p:sp>
        <p:sp>
          <p:nvSpPr>
            <p:cNvPr id="116" name="object 116" descr=""/>
            <p:cNvSpPr/>
            <p:nvPr/>
          </p:nvSpPr>
          <p:spPr>
            <a:xfrm>
              <a:off x="3769584" y="3767225"/>
              <a:ext cx="298450" cy="50800"/>
            </a:xfrm>
            <a:custGeom>
              <a:avLst/>
              <a:gdLst/>
              <a:ahLst/>
              <a:cxnLst/>
              <a:rect l="l" t="t" r="r" b="b"/>
              <a:pathLst>
                <a:path w="298450" h="50800">
                  <a:moveTo>
                    <a:pt x="298087" y="0"/>
                  </a:moveTo>
                  <a:lnTo>
                    <a:pt x="77533" y="0"/>
                  </a:lnTo>
                  <a:lnTo>
                    <a:pt x="0" y="49326"/>
                  </a:lnTo>
                  <a:lnTo>
                    <a:pt x="419" y="50457"/>
                  </a:lnTo>
                  <a:lnTo>
                    <a:pt x="219998" y="50457"/>
                  </a:lnTo>
                  <a:lnTo>
                    <a:pt x="221790" y="49326"/>
                  </a:lnTo>
                  <a:lnTo>
                    <a:pt x="2287" y="49326"/>
                  </a:lnTo>
                  <a:lnTo>
                    <a:pt x="78066" y="1143"/>
                  </a:lnTo>
                  <a:lnTo>
                    <a:pt x="298395" y="1143"/>
                  </a:lnTo>
                  <a:lnTo>
                    <a:pt x="298087" y="0"/>
                  </a:lnTo>
                  <a:close/>
                </a:path>
                <a:path w="298450" h="50800">
                  <a:moveTo>
                    <a:pt x="298159" y="1143"/>
                  </a:moveTo>
                  <a:lnTo>
                    <a:pt x="295973" y="1143"/>
                  </a:lnTo>
                  <a:lnTo>
                    <a:pt x="219596" y="49326"/>
                  </a:lnTo>
                  <a:lnTo>
                    <a:pt x="221790" y="49326"/>
                  </a:lnTo>
                  <a:lnTo>
                    <a:pt x="298159" y="1143"/>
                  </a:lnTo>
                  <a:close/>
                </a:path>
              </a:pathLst>
            </a:custGeom>
            <a:solidFill>
              <a:srgbClr val="9BD3F0"/>
            </a:solidFill>
          </p:spPr>
          <p:txBody>
            <a:bodyPr wrap="square" lIns="0" tIns="0" rIns="0" bIns="0" rtlCol="0"/>
            <a:lstStyle/>
            <a:p/>
          </p:txBody>
        </p:sp>
        <p:sp>
          <p:nvSpPr>
            <p:cNvPr id="117" name="object 117" descr=""/>
            <p:cNvSpPr/>
            <p:nvPr/>
          </p:nvSpPr>
          <p:spPr>
            <a:xfrm>
              <a:off x="3988786" y="3768123"/>
              <a:ext cx="78740" cy="545465"/>
            </a:xfrm>
            <a:custGeom>
              <a:avLst/>
              <a:gdLst/>
              <a:ahLst/>
              <a:cxnLst/>
              <a:rect l="l" t="t" r="r" b="b"/>
              <a:pathLst>
                <a:path w="78739" h="545464">
                  <a:moveTo>
                    <a:pt x="78143" y="0"/>
                  </a:moveTo>
                  <a:lnTo>
                    <a:pt x="0" y="49199"/>
                  </a:lnTo>
                  <a:lnTo>
                    <a:pt x="0" y="545134"/>
                  </a:lnTo>
                  <a:lnTo>
                    <a:pt x="78079" y="495871"/>
                  </a:lnTo>
                  <a:lnTo>
                    <a:pt x="78143" y="0"/>
                  </a:lnTo>
                  <a:close/>
                </a:path>
              </a:pathLst>
            </a:custGeom>
            <a:solidFill>
              <a:srgbClr val="004264"/>
            </a:solidFill>
          </p:spPr>
          <p:txBody>
            <a:bodyPr wrap="square" lIns="0" tIns="0" rIns="0" bIns="0" rtlCol="0"/>
            <a:lstStyle/>
            <a:p/>
          </p:txBody>
        </p:sp>
        <p:sp>
          <p:nvSpPr>
            <p:cNvPr id="118" name="object 118" descr=""/>
            <p:cNvSpPr/>
            <p:nvPr/>
          </p:nvSpPr>
          <p:spPr>
            <a:xfrm>
              <a:off x="3988788" y="3767115"/>
              <a:ext cx="79375" cy="547370"/>
            </a:xfrm>
            <a:custGeom>
              <a:avLst/>
              <a:gdLst/>
              <a:ahLst/>
              <a:cxnLst/>
              <a:rect l="l" t="t" r="r" b="b"/>
              <a:pathLst>
                <a:path w="79375" h="547370">
                  <a:moveTo>
                    <a:pt x="79159" y="0"/>
                  </a:moveTo>
                  <a:lnTo>
                    <a:pt x="78257" y="596"/>
                  </a:lnTo>
                  <a:lnTo>
                    <a:pt x="0" y="50012"/>
                  </a:lnTo>
                  <a:lnTo>
                    <a:pt x="0" y="547154"/>
                  </a:lnTo>
                  <a:lnTo>
                    <a:pt x="3500" y="544944"/>
                  </a:lnTo>
                  <a:lnTo>
                    <a:pt x="1193" y="544944"/>
                  </a:lnTo>
                  <a:lnTo>
                    <a:pt x="1193" y="50673"/>
                  </a:lnTo>
                  <a:lnTo>
                    <a:pt x="77965" y="2197"/>
                  </a:lnTo>
                  <a:lnTo>
                    <a:pt x="79158" y="2197"/>
                  </a:lnTo>
                  <a:lnTo>
                    <a:pt x="79159" y="0"/>
                  </a:lnTo>
                  <a:close/>
                </a:path>
                <a:path w="79375" h="547370">
                  <a:moveTo>
                    <a:pt x="79158" y="2197"/>
                  </a:moveTo>
                  <a:lnTo>
                    <a:pt x="77965" y="2197"/>
                  </a:lnTo>
                  <a:lnTo>
                    <a:pt x="77851" y="496531"/>
                  </a:lnTo>
                  <a:lnTo>
                    <a:pt x="1193" y="544944"/>
                  </a:lnTo>
                  <a:lnTo>
                    <a:pt x="3500" y="544944"/>
                  </a:lnTo>
                  <a:lnTo>
                    <a:pt x="78854" y="497370"/>
                  </a:lnTo>
                  <a:lnTo>
                    <a:pt x="79095" y="497192"/>
                  </a:lnTo>
                  <a:lnTo>
                    <a:pt x="79158" y="2197"/>
                  </a:lnTo>
                  <a:close/>
                </a:path>
              </a:pathLst>
            </a:custGeom>
            <a:solidFill>
              <a:srgbClr val="9BD3F0"/>
            </a:solidFill>
          </p:spPr>
          <p:txBody>
            <a:bodyPr wrap="square" lIns="0" tIns="0" rIns="0" bIns="0" rtlCol="0"/>
            <a:lstStyle/>
            <a:p/>
          </p:txBody>
        </p:sp>
        <p:sp>
          <p:nvSpPr>
            <p:cNvPr id="119" name="object 119" descr=""/>
            <p:cNvSpPr/>
            <p:nvPr/>
          </p:nvSpPr>
          <p:spPr>
            <a:xfrm>
              <a:off x="3784803" y="3893527"/>
              <a:ext cx="28575" cy="45085"/>
            </a:xfrm>
            <a:custGeom>
              <a:avLst/>
              <a:gdLst/>
              <a:ahLst/>
              <a:cxnLst/>
              <a:rect l="l" t="t" r="r" b="b"/>
              <a:pathLst>
                <a:path w="28575" h="45085">
                  <a:moveTo>
                    <a:pt x="28409" y="0"/>
                  </a:moveTo>
                  <a:lnTo>
                    <a:pt x="27406" y="0"/>
                  </a:lnTo>
                  <a:lnTo>
                    <a:pt x="0" y="0"/>
                  </a:lnTo>
                  <a:lnTo>
                    <a:pt x="0" y="43484"/>
                  </a:lnTo>
                  <a:lnTo>
                    <a:pt x="0" y="44500"/>
                  </a:lnTo>
                  <a:lnTo>
                    <a:pt x="28409" y="44500"/>
                  </a:lnTo>
                  <a:lnTo>
                    <a:pt x="28409" y="43319"/>
                  </a:lnTo>
                  <a:lnTo>
                    <a:pt x="28409" y="1193"/>
                  </a:lnTo>
                  <a:lnTo>
                    <a:pt x="28409" y="0"/>
                  </a:lnTo>
                  <a:close/>
                </a:path>
              </a:pathLst>
            </a:custGeom>
            <a:solidFill>
              <a:srgbClr val="7FA6C8"/>
            </a:solidFill>
          </p:spPr>
          <p:txBody>
            <a:bodyPr wrap="square" lIns="0" tIns="0" rIns="0" bIns="0" rtlCol="0"/>
            <a:lstStyle/>
            <a:p/>
          </p:txBody>
        </p:sp>
        <p:sp>
          <p:nvSpPr>
            <p:cNvPr id="120" name="object 120" descr=""/>
            <p:cNvSpPr/>
            <p:nvPr/>
          </p:nvSpPr>
          <p:spPr>
            <a:xfrm>
              <a:off x="3784803" y="389352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6390" y="1015"/>
                  </a:lnTo>
                  <a:lnTo>
                    <a:pt x="26390" y="43497"/>
                  </a:lnTo>
                  <a:lnTo>
                    <a:pt x="1015" y="43497"/>
                  </a:lnTo>
                  <a:lnTo>
                    <a:pt x="1015" y="1015"/>
                  </a:lnTo>
                  <a:close/>
                </a:path>
              </a:pathLst>
            </a:custGeom>
            <a:ln w="3175">
              <a:solidFill>
                <a:srgbClr val="9BD3F0"/>
              </a:solidFill>
            </a:ln>
          </p:spPr>
          <p:txBody>
            <a:bodyPr wrap="square" lIns="0" tIns="0" rIns="0" bIns="0" rtlCol="0"/>
            <a:lstStyle/>
            <a:p/>
          </p:txBody>
        </p:sp>
        <p:sp>
          <p:nvSpPr>
            <p:cNvPr id="121" name="object 121" descr=""/>
            <p:cNvSpPr/>
            <p:nvPr/>
          </p:nvSpPr>
          <p:spPr>
            <a:xfrm>
              <a:off x="3824389" y="3893527"/>
              <a:ext cx="28575" cy="45085"/>
            </a:xfrm>
            <a:custGeom>
              <a:avLst/>
              <a:gdLst/>
              <a:ahLst/>
              <a:cxnLst/>
              <a:rect l="l" t="t" r="r" b="b"/>
              <a:pathLst>
                <a:path w="28575" h="45085">
                  <a:moveTo>
                    <a:pt x="28409" y="0"/>
                  </a:moveTo>
                  <a:lnTo>
                    <a:pt x="1016" y="0"/>
                  </a:lnTo>
                  <a:lnTo>
                    <a:pt x="0" y="0"/>
                  </a:lnTo>
                  <a:lnTo>
                    <a:pt x="0" y="44500"/>
                  </a:lnTo>
                  <a:lnTo>
                    <a:pt x="28409" y="44500"/>
                  </a:lnTo>
                  <a:lnTo>
                    <a:pt x="28409" y="43484"/>
                  </a:lnTo>
                  <a:lnTo>
                    <a:pt x="28409" y="43319"/>
                  </a:lnTo>
                  <a:lnTo>
                    <a:pt x="28409" y="1193"/>
                  </a:lnTo>
                  <a:lnTo>
                    <a:pt x="28409" y="0"/>
                  </a:lnTo>
                  <a:close/>
                </a:path>
              </a:pathLst>
            </a:custGeom>
            <a:solidFill>
              <a:srgbClr val="7FA6C8"/>
            </a:solidFill>
          </p:spPr>
          <p:txBody>
            <a:bodyPr wrap="square" lIns="0" tIns="0" rIns="0" bIns="0" rtlCol="0"/>
            <a:lstStyle/>
            <a:p/>
          </p:txBody>
        </p:sp>
        <p:sp>
          <p:nvSpPr>
            <p:cNvPr id="122" name="object 122" descr=""/>
            <p:cNvSpPr/>
            <p:nvPr/>
          </p:nvSpPr>
          <p:spPr>
            <a:xfrm>
              <a:off x="3824389" y="389352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7406" y="1015"/>
                  </a:lnTo>
                  <a:lnTo>
                    <a:pt x="27406" y="43497"/>
                  </a:lnTo>
                  <a:lnTo>
                    <a:pt x="1016" y="43497"/>
                  </a:lnTo>
                  <a:lnTo>
                    <a:pt x="1016" y="1015"/>
                  </a:lnTo>
                  <a:close/>
                </a:path>
              </a:pathLst>
            </a:custGeom>
            <a:ln w="3175">
              <a:solidFill>
                <a:srgbClr val="9BD3F0"/>
              </a:solidFill>
            </a:ln>
          </p:spPr>
          <p:txBody>
            <a:bodyPr wrap="square" lIns="0" tIns="0" rIns="0" bIns="0" rtlCol="0"/>
            <a:lstStyle/>
            <a:p/>
          </p:txBody>
        </p:sp>
        <p:sp>
          <p:nvSpPr>
            <p:cNvPr id="123" name="object 123" descr=""/>
            <p:cNvSpPr/>
            <p:nvPr/>
          </p:nvSpPr>
          <p:spPr>
            <a:xfrm>
              <a:off x="3864978" y="3893527"/>
              <a:ext cx="28575" cy="45085"/>
            </a:xfrm>
            <a:custGeom>
              <a:avLst/>
              <a:gdLst/>
              <a:ahLst/>
              <a:cxnLst/>
              <a:rect l="l" t="t" r="r" b="b"/>
              <a:pathLst>
                <a:path w="28575" h="45085">
                  <a:moveTo>
                    <a:pt x="28409" y="0"/>
                  </a:moveTo>
                  <a:lnTo>
                    <a:pt x="27393" y="0"/>
                  </a:lnTo>
                  <a:lnTo>
                    <a:pt x="0" y="0"/>
                  </a:lnTo>
                  <a:lnTo>
                    <a:pt x="0" y="43484"/>
                  </a:lnTo>
                  <a:lnTo>
                    <a:pt x="0" y="44500"/>
                  </a:lnTo>
                  <a:lnTo>
                    <a:pt x="28409" y="44500"/>
                  </a:lnTo>
                  <a:lnTo>
                    <a:pt x="28409" y="43319"/>
                  </a:lnTo>
                  <a:lnTo>
                    <a:pt x="28409" y="1193"/>
                  </a:lnTo>
                  <a:lnTo>
                    <a:pt x="28409" y="0"/>
                  </a:lnTo>
                  <a:close/>
                </a:path>
              </a:pathLst>
            </a:custGeom>
            <a:solidFill>
              <a:srgbClr val="7FA6C8"/>
            </a:solidFill>
          </p:spPr>
          <p:txBody>
            <a:bodyPr wrap="square" lIns="0" tIns="0" rIns="0" bIns="0" rtlCol="0"/>
            <a:lstStyle/>
            <a:p/>
          </p:txBody>
        </p:sp>
        <p:sp>
          <p:nvSpPr>
            <p:cNvPr id="124" name="object 124" descr=""/>
            <p:cNvSpPr/>
            <p:nvPr/>
          </p:nvSpPr>
          <p:spPr>
            <a:xfrm>
              <a:off x="3864978" y="389352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6390" y="1015"/>
                  </a:lnTo>
                  <a:lnTo>
                    <a:pt x="26390" y="43497"/>
                  </a:lnTo>
                  <a:lnTo>
                    <a:pt x="1015" y="43497"/>
                  </a:lnTo>
                  <a:lnTo>
                    <a:pt x="1015" y="1015"/>
                  </a:lnTo>
                  <a:close/>
                </a:path>
              </a:pathLst>
            </a:custGeom>
            <a:ln w="3175">
              <a:solidFill>
                <a:srgbClr val="9BD3F0"/>
              </a:solidFill>
            </a:ln>
          </p:spPr>
          <p:txBody>
            <a:bodyPr wrap="square" lIns="0" tIns="0" rIns="0" bIns="0" rtlCol="0"/>
            <a:lstStyle/>
            <a:p/>
          </p:txBody>
        </p:sp>
        <p:sp>
          <p:nvSpPr>
            <p:cNvPr id="125" name="object 125" descr=""/>
            <p:cNvSpPr/>
            <p:nvPr/>
          </p:nvSpPr>
          <p:spPr>
            <a:xfrm>
              <a:off x="3904551" y="3893527"/>
              <a:ext cx="28575" cy="45085"/>
            </a:xfrm>
            <a:custGeom>
              <a:avLst/>
              <a:gdLst/>
              <a:ahLst/>
              <a:cxnLst/>
              <a:rect l="l" t="t" r="r" b="b"/>
              <a:pathLst>
                <a:path w="28575" h="45085">
                  <a:moveTo>
                    <a:pt x="28409" y="0"/>
                  </a:moveTo>
                  <a:lnTo>
                    <a:pt x="1016" y="0"/>
                  </a:lnTo>
                  <a:lnTo>
                    <a:pt x="0" y="0"/>
                  </a:lnTo>
                  <a:lnTo>
                    <a:pt x="0" y="44500"/>
                  </a:lnTo>
                  <a:lnTo>
                    <a:pt x="28409" y="44500"/>
                  </a:lnTo>
                  <a:lnTo>
                    <a:pt x="28409" y="43319"/>
                  </a:lnTo>
                  <a:lnTo>
                    <a:pt x="28409" y="1193"/>
                  </a:lnTo>
                  <a:lnTo>
                    <a:pt x="28409" y="0"/>
                  </a:lnTo>
                  <a:close/>
                </a:path>
              </a:pathLst>
            </a:custGeom>
            <a:solidFill>
              <a:srgbClr val="7FA6C8"/>
            </a:solidFill>
          </p:spPr>
          <p:txBody>
            <a:bodyPr wrap="square" lIns="0" tIns="0" rIns="0" bIns="0" rtlCol="0"/>
            <a:lstStyle/>
            <a:p/>
          </p:txBody>
        </p:sp>
        <p:sp>
          <p:nvSpPr>
            <p:cNvPr id="126" name="object 126" descr=""/>
            <p:cNvSpPr/>
            <p:nvPr/>
          </p:nvSpPr>
          <p:spPr>
            <a:xfrm>
              <a:off x="3904551" y="389352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7406" y="1015"/>
                  </a:lnTo>
                  <a:lnTo>
                    <a:pt x="27406" y="43497"/>
                  </a:lnTo>
                  <a:lnTo>
                    <a:pt x="1015" y="43497"/>
                  </a:lnTo>
                  <a:lnTo>
                    <a:pt x="1015" y="1015"/>
                  </a:lnTo>
                  <a:close/>
                </a:path>
              </a:pathLst>
            </a:custGeom>
            <a:ln w="3175">
              <a:solidFill>
                <a:srgbClr val="9BD3F0"/>
              </a:solidFill>
            </a:ln>
          </p:spPr>
          <p:txBody>
            <a:bodyPr wrap="square" lIns="0" tIns="0" rIns="0" bIns="0" rtlCol="0"/>
            <a:lstStyle/>
            <a:p/>
          </p:txBody>
        </p:sp>
        <p:sp>
          <p:nvSpPr>
            <p:cNvPr id="127" name="object 127" descr=""/>
            <p:cNvSpPr/>
            <p:nvPr/>
          </p:nvSpPr>
          <p:spPr>
            <a:xfrm>
              <a:off x="3948201" y="3893527"/>
              <a:ext cx="27940" cy="45085"/>
            </a:xfrm>
            <a:custGeom>
              <a:avLst/>
              <a:gdLst/>
              <a:ahLst/>
              <a:cxnLst/>
              <a:rect l="l" t="t" r="r" b="b"/>
              <a:pathLst>
                <a:path w="27939" h="45085">
                  <a:moveTo>
                    <a:pt x="27393" y="0"/>
                  </a:moveTo>
                  <a:lnTo>
                    <a:pt x="0" y="0"/>
                  </a:lnTo>
                  <a:lnTo>
                    <a:pt x="0" y="43484"/>
                  </a:lnTo>
                  <a:lnTo>
                    <a:pt x="0" y="44500"/>
                  </a:lnTo>
                  <a:lnTo>
                    <a:pt x="27393" y="44500"/>
                  </a:lnTo>
                  <a:lnTo>
                    <a:pt x="27393" y="43484"/>
                  </a:lnTo>
                  <a:lnTo>
                    <a:pt x="27393" y="43319"/>
                  </a:lnTo>
                  <a:lnTo>
                    <a:pt x="27393" y="1193"/>
                  </a:lnTo>
                  <a:lnTo>
                    <a:pt x="27393" y="0"/>
                  </a:lnTo>
                  <a:close/>
                </a:path>
              </a:pathLst>
            </a:custGeom>
            <a:solidFill>
              <a:srgbClr val="7FA6C8"/>
            </a:solidFill>
          </p:spPr>
          <p:txBody>
            <a:bodyPr wrap="square" lIns="0" tIns="0" rIns="0" bIns="0" rtlCol="0"/>
            <a:lstStyle/>
            <a:p/>
          </p:txBody>
        </p:sp>
        <p:sp>
          <p:nvSpPr>
            <p:cNvPr id="128" name="object 128" descr=""/>
            <p:cNvSpPr/>
            <p:nvPr/>
          </p:nvSpPr>
          <p:spPr>
            <a:xfrm>
              <a:off x="3948201" y="3893527"/>
              <a:ext cx="27940" cy="45085"/>
            </a:xfrm>
            <a:custGeom>
              <a:avLst/>
              <a:gdLst/>
              <a:ahLst/>
              <a:cxnLst/>
              <a:rect l="l" t="t" r="r" b="b"/>
              <a:pathLst>
                <a:path w="27939" h="45085">
                  <a:moveTo>
                    <a:pt x="0" y="0"/>
                  </a:moveTo>
                  <a:lnTo>
                    <a:pt x="27393" y="0"/>
                  </a:lnTo>
                  <a:lnTo>
                    <a:pt x="27393" y="44500"/>
                  </a:lnTo>
                  <a:lnTo>
                    <a:pt x="0" y="44500"/>
                  </a:lnTo>
                  <a:lnTo>
                    <a:pt x="0" y="0"/>
                  </a:lnTo>
                  <a:close/>
                </a:path>
                <a:path w="27939" h="45085">
                  <a:moveTo>
                    <a:pt x="1003" y="1015"/>
                  </a:moveTo>
                  <a:lnTo>
                    <a:pt x="26377" y="1015"/>
                  </a:lnTo>
                  <a:lnTo>
                    <a:pt x="26377" y="43497"/>
                  </a:lnTo>
                  <a:lnTo>
                    <a:pt x="1003" y="43497"/>
                  </a:lnTo>
                  <a:lnTo>
                    <a:pt x="1003" y="1015"/>
                  </a:lnTo>
                  <a:close/>
                </a:path>
              </a:pathLst>
            </a:custGeom>
            <a:ln w="3175">
              <a:solidFill>
                <a:srgbClr val="9BD3F0"/>
              </a:solidFill>
            </a:ln>
          </p:spPr>
          <p:txBody>
            <a:bodyPr wrap="square" lIns="0" tIns="0" rIns="0" bIns="0" rtlCol="0"/>
            <a:lstStyle/>
            <a:p/>
          </p:txBody>
        </p:sp>
        <p:sp>
          <p:nvSpPr>
            <p:cNvPr id="129" name="object 129" descr=""/>
            <p:cNvSpPr/>
            <p:nvPr/>
          </p:nvSpPr>
          <p:spPr>
            <a:xfrm>
              <a:off x="3784803" y="3967365"/>
              <a:ext cx="28575" cy="45720"/>
            </a:xfrm>
            <a:custGeom>
              <a:avLst/>
              <a:gdLst/>
              <a:ahLst/>
              <a:cxnLst/>
              <a:rect l="l" t="t" r="r" b="b"/>
              <a:pathLst>
                <a:path w="28575" h="45720">
                  <a:moveTo>
                    <a:pt x="28409" y="0"/>
                  </a:moveTo>
                  <a:lnTo>
                    <a:pt x="0" y="0"/>
                  </a:lnTo>
                  <a:lnTo>
                    <a:pt x="0" y="1003"/>
                  </a:lnTo>
                  <a:lnTo>
                    <a:pt x="0" y="44488"/>
                  </a:lnTo>
                  <a:lnTo>
                    <a:pt x="0" y="45529"/>
                  </a:lnTo>
                  <a:lnTo>
                    <a:pt x="28409" y="45529"/>
                  </a:lnTo>
                  <a:lnTo>
                    <a:pt x="28409" y="44234"/>
                  </a:lnTo>
                  <a:lnTo>
                    <a:pt x="28409" y="1270"/>
                  </a:lnTo>
                  <a:lnTo>
                    <a:pt x="28409" y="0"/>
                  </a:lnTo>
                  <a:close/>
                </a:path>
              </a:pathLst>
            </a:custGeom>
            <a:solidFill>
              <a:srgbClr val="7FA6C8"/>
            </a:solidFill>
          </p:spPr>
          <p:txBody>
            <a:bodyPr wrap="square" lIns="0" tIns="0" rIns="0" bIns="0" rtlCol="0"/>
            <a:lstStyle/>
            <a:p/>
          </p:txBody>
        </p:sp>
        <p:sp>
          <p:nvSpPr>
            <p:cNvPr id="130" name="object 130" descr=""/>
            <p:cNvSpPr/>
            <p:nvPr/>
          </p:nvSpPr>
          <p:spPr>
            <a:xfrm>
              <a:off x="3784803" y="3967365"/>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5" y="2019"/>
                  </a:moveTo>
                  <a:lnTo>
                    <a:pt x="26390" y="2019"/>
                  </a:lnTo>
                  <a:lnTo>
                    <a:pt x="26390" y="43484"/>
                  </a:lnTo>
                  <a:lnTo>
                    <a:pt x="1015" y="43484"/>
                  </a:lnTo>
                  <a:lnTo>
                    <a:pt x="1015" y="2019"/>
                  </a:lnTo>
                  <a:close/>
                </a:path>
              </a:pathLst>
            </a:custGeom>
            <a:ln w="3175">
              <a:solidFill>
                <a:srgbClr val="9BD3F0"/>
              </a:solidFill>
            </a:ln>
          </p:spPr>
          <p:txBody>
            <a:bodyPr wrap="square" lIns="0" tIns="0" rIns="0" bIns="0" rtlCol="0"/>
            <a:lstStyle/>
            <a:p/>
          </p:txBody>
        </p:sp>
        <p:sp>
          <p:nvSpPr>
            <p:cNvPr id="131" name="object 131" descr=""/>
            <p:cNvSpPr/>
            <p:nvPr/>
          </p:nvSpPr>
          <p:spPr>
            <a:xfrm>
              <a:off x="3824389" y="3967365"/>
              <a:ext cx="28575" cy="45720"/>
            </a:xfrm>
            <a:custGeom>
              <a:avLst/>
              <a:gdLst/>
              <a:ahLst/>
              <a:cxnLst/>
              <a:rect l="l" t="t" r="r" b="b"/>
              <a:pathLst>
                <a:path w="28575" h="45720">
                  <a:moveTo>
                    <a:pt x="28409" y="0"/>
                  </a:moveTo>
                  <a:lnTo>
                    <a:pt x="0" y="0"/>
                  </a:lnTo>
                  <a:lnTo>
                    <a:pt x="0" y="45529"/>
                  </a:lnTo>
                  <a:lnTo>
                    <a:pt x="28409" y="45529"/>
                  </a:lnTo>
                  <a:lnTo>
                    <a:pt x="28409" y="44488"/>
                  </a:lnTo>
                  <a:lnTo>
                    <a:pt x="28409" y="44234"/>
                  </a:lnTo>
                  <a:lnTo>
                    <a:pt x="28409" y="1270"/>
                  </a:lnTo>
                  <a:lnTo>
                    <a:pt x="28409" y="1003"/>
                  </a:lnTo>
                  <a:lnTo>
                    <a:pt x="28409" y="0"/>
                  </a:lnTo>
                  <a:close/>
                </a:path>
              </a:pathLst>
            </a:custGeom>
            <a:solidFill>
              <a:srgbClr val="7FA6C8"/>
            </a:solidFill>
          </p:spPr>
          <p:txBody>
            <a:bodyPr wrap="square" lIns="0" tIns="0" rIns="0" bIns="0" rtlCol="0"/>
            <a:lstStyle/>
            <a:p/>
          </p:txBody>
        </p:sp>
        <p:sp>
          <p:nvSpPr>
            <p:cNvPr id="132" name="object 132" descr=""/>
            <p:cNvSpPr/>
            <p:nvPr/>
          </p:nvSpPr>
          <p:spPr>
            <a:xfrm>
              <a:off x="3824389" y="3967365"/>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6" y="2019"/>
                  </a:moveTo>
                  <a:lnTo>
                    <a:pt x="27406" y="2019"/>
                  </a:lnTo>
                  <a:lnTo>
                    <a:pt x="27406" y="43484"/>
                  </a:lnTo>
                  <a:lnTo>
                    <a:pt x="1016" y="43484"/>
                  </a:lnTo>
                  <a:lnTo>
                    <a:pt x="1016" y="2019"/>
                  </a:lnTo>
                  <a:close/>
                </a:path>
              </a:pathLst>
            </a:custGeom>
            <a:ln w="3175">
              <a:solidFill>
                <a:srgbClr val="9BD3F0"/>
              </a:solidFill>
            </a:ln>
          </p:spPr>
          <p:txBody>
            <a:bodyPr wrap="square" lIns="0" tIns="0" rIns="0" bIns="0" rtlCol="0"/>
            <a:lstStyle/>
            <a:p/>
          </p:txBody>
        </p:sp>
        <p:sp>
          <p:nvSpPr>
            <p:cNvPr id="133" name="object 133" descr=""/>
            <p:cNvSpPr/>
            <p:nvPr/>
          </p:nvSpPr>
          <p:spPr>
            <a:xfrm>
              <a:off x="3864978" y="3967365"/>
              <a:ext cx="28575" cy="45720"/>
            </a:xfrm>
            <a:custGeom>
              <a:avLst/>
              <a:gdLst/>
              <a:ahLst/>
              <a:cxnLst/>
              <a:rect l="l" t="t" r="r" b="b"/>
              <a:pathLst>
                <a:path w="28575" h="45720">
                  <a:moveTo>
                    <a:pt x="28409" y="0"/>
                  </a:moveTo>
                  <a:lnTo>
                    <a:pt x="0" y="0"/>
                  </a:lnTo>
                  <a:lnTo>
                    <a:pt x="0" y="1003"/>
                  </a:lnTo>
                  <a:lnTo>
                    <a:pt x="0" y="44488"/>
                  </a:lnTo>
                  <a:lnTo>
                    <a:pt x="0" y="45529"/>
                  </a:lnTo>
                  <a:lnTo>
                    <a:pt x="28409" y="45529"/>
                  </a:lnTo>
                  <a:lnTo>
                    <a:pt x="28409" y="44234"/>
                  </a:lnTo>
                  <a:lnTo>
                    <a:pt x="28409" y="1270"/>
                  </a:lnTo>
                  <a:lnTo>
                    <a:pt x="28409" y="0"/>
                  </a:lnTo>
                  <a:close/>
                </a:path>
              </a:pathLst>
            </a:custGeom>
            <a:solidFill>
              <a:srgbClr val="7FA6C8"/>
            </a:solidFill>
          </p:spPr>
          <p:txBody>
            <a:bodyPr wrap="square" lIns="0" tIns="0" rIns="0" bIns="0" rtlCol="0"/>
            <a:lstStyle/>
            <a:p/>
          </p:txBody>
        </p:sp>
        <p:sp>
          <p:nvSpPr>
            <p:cNvPr id="134" name="object 134" descr=""/>
            <p:cNvSpPr/>
            <p:nvPr/>
          </p:nvSpPr>
          <p:spPr>
            <a:xfrm>
              <a:off x="3864978" y="3967365"/>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5" y="2019"/>
                  </a:moveTo>
                  <a:lnTo>
                    <a:pt x="26390" y="2019"/>
                  </a:lnTo>
                  <a:lnTo>
                    <a:pt x="26390" y="43484"/>
                  </a:lnTo>
                  <a:lnTo>
                    <a:pt x="1015" y="43484"/>
                  </a:lnTo>
                  <a:lnTo>
                    <a:pt x="1015" y="2019"/>
                  </a:lnTo>
                  <a:close/>
                </a:path>
              </a:pathLst>
            </a:custGeom>
            <a:ln w="3175">
              <a:solidFill>
                <a:srgbClr val="9BD3F0"/>
              </a:solidFill>
            </a:ln>
          </p:spPr>
          <p:txBody>
            <a:bodyPr wrap="square" lIns="0" tIns="0" rIns="0" bIns="0" rtlCol="0"/>
            <a:lstStyle/>
            <a:p/>
          </p:txBody>
        </p:sp>
        <p:sp>
          <p:nvSpPr>
            <p:cNvPr id="135" name="object 135" descr=""/>
            <p:cNvSpPr/>
            <p:nvPr/>
          </p:nvSpPr>
          <p:spPr>
            <a:xfrm>
              <a:off x="3904551" y="3967365"/>
              <a:ext cx="28575" cy="45720"/>
            </a:xfrm>
            <a:custGeom>
              <a:avLst/>
              <a:gdLst/>
              <a:ahLst/>
              <a:cxnLst/>
              <a:rect l="l" t="t" r="r" b="b"/>
              <a:pathLst>
                <a:path w="28575" h="45720">
                  <a:moveTo>
                    <a:pt x="28409" y="0"/>
                  </a:moveTo>
                  <a:lnTo>
                    <a:pt x="0" y="0"/>
                  </a:lnTo>
                  <a:lnTo>
                    <a:pt x="0" y="45529"/>
                  </a:lnTo>
                  <a:lnTo>
                    <a:pt x="28409" y="45529"/>
                  </a:lnTo>
                  <a:lnTo>
                    <a:pt x="28409" y="44234"/>
                  </a:lnTo>
                  <a:lnTo>
                    <a:pt x="28409" y="1270"/>
                  </a:lnTo>
                  <a:lnTo>
                    <a:pt x="28409" y="0"/>
                  </a:lnTo>
                  <a:close/>
                </a:path>
              </a:pathLst>
            </a:custGeom>
            <a:solidFill>
              <a:srgbClr val="7FA6C8"/>
            </a:solidFill>
          </p:spPr>
          <p:txBody>
            <a:bodyPr wrap="square" lIns="0" tIns="0" rIns="0" bIns="0" rtlCol="0"/>
            <a:lstStyle/>
            <a:p/>
          </p:txBody>
        </p:sp>
        <p:sp>
          <p:nvSpPr>
            <p:cNvPr id="136" name="object 136" descr=""/>
            <p:cNvSpPr/>
            <p:nvPr/>
          </p:nvSpPr>
          <p:spPr>
            <a:xfrm>
              <a:off x="3904551" y="3967365"/>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5" y="2019"/>
                  </a:moveTo>
                  <a:lnTo>
                    <a:pt x="27406" y="2019"/>
                  </a:lnTo>
                  <a:lnTo>
                    <a:pt x="27406" y="43484"/>
                  </a:lnTo>
                  <a:lnTo>
                    <a:pt x="1015" y="43484"/>
                  </a:lnTo>
                  <a:lnTo>
                    <a:pt x="1015" y="2019"/>
                  </a:lnTo>
                  <a:close/>
                </a:path>
              </a:pathLst>
            </a:custGeom>
            <a:ln w="3175">
              <a:solidFill>
                <a:srgbClr val="9BD3F0"/>
              </a:solidFill>
            </a:ln>
          </p:spPr>
          <p:txBody>
            <a:bodyPr wrap="square" lIns="0" tIns="0" rIns="0" bIns="0" rtlCol="0"/>
            <a:lstStyle/>
            <a:p/>
          </p:txBody>
        </p:sp>
        <p:sp>
          <p:nvSpPr>
            <p:cNvPr id="137" name="object 137" descr=""/>
            <p:cNvSpPr/>
            <p:nvPr/>
          </p:nvSpPr>
          <p:spPr>
            <a:xfrm>
              <a:off x="3948201" y="3967365"/>
              <a:ext cx="27940" cy="45720"/>
            </a:xfrm>
            <a:custGeom>
              <a:avLst/>
              <a:gdLst/>
              <a:ahLst/>
              <a:cxnLst/>
              <a:rect l="l" t="t" r="r" b="b"/>
              <a:pathLst>
                <a:path w="27939" h="45720">
                  <a:moveTo>
                    <a:pt x="27393" y="0"/>
                  </a:moveTo>
                  <a:lnTo>
                    <a:pt x="0" y="0"/>
                  </a:lnTo>
                  <a:lnTo>
                    <a:pt x="0" y="1003"/>
                  </a:lnTo>
                  <a:lnTo>
                    <a:pt x="0" y="44488"/>
                  </a:lnTo>
                  <a:lnTo>
                    <a:pt x="0" y="45529"/>
                  </a:lnTo>
                  <a:lnTo>
                    <a:pt x="27393" y="45529"/>
                  </a:lnTo>
                  <a:lnTo>
                    <a:pt x="27393" y="44488"/>
                  </a:lnTo>
                  <a:lnTo>
                    <a:pt x="27393" y="44234"/>
                  </a:lnTo>
                  <a:lnTo>
                    <a:pt x="27393" y="1270"/>
                  </a:lnTo>
                  <a:lnTo>
                    <a:pt x="27393" y="1003"/>
                  </a:lnTo>
                  <a:lnTo>
                    <a:pt x="27393" y="0"/>
                  </a:lnTo>
                  <a:close/>
                </a:path>
              </a:pathLst>
            </a:custGeom>
            <a:solidFill>
              <a:srgbClr val="7FA6C8"/>
            </a:solidFill>
          </p:spPr>
          <p:txBody>
            <a:bodyPr wrap="square" lIns="0" tIns="0" rIns="0" bIns="0" rtlCol="0"/>
            <a:lstStyle/>
            <a:p/>
          </p:txBody>
        </p:sp>
        <p:sp>
          <p:nvSpPr>
            <p:cNvPr id="138" name="object 138" descr=""/>
            <p:cNvSpPr/>
            <p:nvPr/>
          </p:nvSpPr>
          <p:spPr>
            <a:xfrm>
              <a:off x="3948201" y="3967365"/>
              <a:ext cx="27940" cy="45720"/>
            </a:xfrm>
            <a:custGeom>
              <a:avLst/>
              <a:gdLst/>
              <a:ahLst/>
              <a:cxnLst/>
              <a:rect l="l" t="t" r="r" b="b"/>
              <a:pathLst>
                <a:path w="27939" h="45720">
                  <a:moveTo>
                    <a:pt x="0" y="0"/>
                  </a:moveTo>
                  <a:lnTo>
                    <a:pt x="27393" y="0"/>
                  </a:lnTo>
                  <a:lnTo>
                    <a:pt x="27393" y="45516"/>
                  </a:lnTo>
                  <a:lnTo>
                    <a:pt x="0" y="45516"/>
                  </a:lnTo>
                  <a:lnTo>
                    <a:pt x="0" y="0"/>
                  </a:lnTo>
                  <a:close/>
                </a:path>
                <a:path w="27939" h="45720">
                  <a:moveTo>
                    <a:pt x="1003" y="2019"/>
                  </a:moveTo>
                  <a:lnTo>
                    <a:pt x="26377" y="2019"/>
                  </a:lnTo>
                  <a:lnTo>
                    <a:pt x="26377" y="43484"/>
                  </a:lnTo>
                  <a:lnTo>
                    <a:pt x="1003" y="43484"/>
                  </a:lnTo>
                  <a:lnTo>
                    <a:pt x="1003" y="2019"/>
                  </a:lnTo>
                  <a:close/>
                </a:path>
              </a:pathLst>
            </a:custGeom>
            <a:ln w="3175">
              <a:solidFill>
                <a:srgbClr val="9BD3F0"/>
              </a:solidFill>
            </a:ln>
          </p:spPr>
          <p:txBody>
            <a:bodyPr wrap="square" lIns="0" tIns="0" rIns="0" bIns="0" rtlCol="0"/>
            <a:lstStyle/>
            <a:p/>
          </p:txBody>
        </p:sp>
        <p:sp>
          <p:nvSpPr>
            <p:cNvPr id="139" name="object 139" descr=""/>
            <p:cNvSpPr/>
            <p:nvPr/>
          </p:nvSpPr>
          <p:spPr>
            <a:xfrm>
              <a:off x="3784803" y="4042206"/>
              <a:ext cx="28575" cy="45085"/>
            </a:xfrm>
            <a:custGeom>
              <a:avLst/>
              <a:gdLst/>
              <a:ahLst/>
              <a:cxnLst/>
              <a:rect l="l" t="t" r="r" b="b"/>
              <a:pathLst>
                <a:path w="28575" h="45085">
                  <a:moveTo>
                    <a:pt x="28409" y="0"/>
                  </a:moveTo>
                  <a:lnTo>
                    <a:pt x="0" y="0"/>
                  </a:lnTo>
                  <a:lnTo>
                    <a:pt x="0" y="1003"/>
                  </a:lnTo>
                  <a:lnTo>
                    <a:pt x="0" y="44488"/>
                  </a:lnTo>
                  <a:lnTo>
                    <a:pt x="28409" y="44513"/>
                  </a:lnTo>
                  <a:lnTo>
                    <a:pt x="28409" y="43256"/>
                  </a:lnTo>
                  <a:lnTo>
                    <a:pt x="28409" y="1193"/>
                  </a:lnTo>
                  <a:lnTo>
                    <a:pt x="28409" y="0"/>
                  </a:lnTo>
                  <a:close/>
                </a:path>
              </a:pathLst>
            </a:custGeom>
            <a:solidFill>
              <a:srgbClr val="7FA6C8"/>
            </a:solidFill>
          </p:spPr>
          <p:txBody>
            <a:bodyPr wrap="square" lIns="0" tIns="0" rIns="0" bIns="0" rtlCol="0"/>
            <a:lstStyle/>
            <a:p/>
          </p:txBody>
        </p:sp>
        <p:sp>
          <p:nvSpPr>
            <p:cNvPr id="140" name="object 140" descr=""/>
            <p:cNvSpPr/>
            <p:nvPr/>
          </p:nvSpPr>
          <p:spPr>
            <a:xfrm>
              <a:off x="3784803" y="4042206"/>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03"/>
                  </a:moveTo>
                  <a:lnTo>
                    <a:pt x="26390" y="1003"/>
                  </a:lnTo>
                  <a:lnTo>
                    <a:pt x="26390" y="43484"/>
                  </a:lnTo>
                  <a:lnTo>
                    <a:pt x="1015" y="43484"/>
                  </a:lnTo>
                  <a:lnTo>
                    <a:pt x="1015" y="1003"/>
                  </a:lnTo>
                  <a:close/>
                </a:path>
              </a:pathLst>
            </a:custGeom>
            <a:ln w="3175">
              <a:solidFill>
                <a:srgbClr val="9BD3F0"/>
              </a:solidFill>
            </a:ln>
          </p:spPr>
          <p:txBody>
            <a:bodyPr wrap="square" lIns="0" tIns="0" rIns="0" bIns="0" rtlCol="0"/>
            <a:lstStyle/>
            <a:p/>
          </p:txBody>
        </p:sp>
        <p:sp>
          <p:nvSpPr>
            <p:cNvPr id="141" name="object 141" descr=""/>
            <p:cNvSpPr/>
            <p:nvPr/>
          </p:nvSpPr>
          <p:spPr>
            <a:xfrm>
              <a:off x="3824389" y="4042206"/>
              <a:ext cx="28575" cy="45085"/>
            </a:xfrm>
            <a:custGeom>
              <a:avLst/>
              <a:gdLst/>
              <a:ahLst/>
              <a:cxnLst/>
              <a:rect l="l" t="t" r="r" b="b"/>
              <a:pathLst>
                <a:path w="28575" h="45085">
                  <a:moveTo>
                    <a:pt x="28409" y="0"/>
                  </a:moveTo>
                  <a:lnTo>
                    <a:pt x="0" y="0"/>
                  </a:lnTo>
                  <a:lnTo>
                    <a:pt x="0" y="44513"/>
                  </a:lnTo>
                  <a:lnTo>
                    <a:pt x="28409" y="44513"/>
                  </a:lnTo>
                  <a:lnTo>
                    <a:pt x="28409" y="43256"/>
                  </a:lnTo>
                  <a:lnTo>
                    <a:pt x="28409" y="1193"/>
                  </a:lnTo>
                  <a:lnTo>
                    <a:pt x="28409" y="1003"/>
                  </a:lnTo>
                  <a:lnTo>
                    <a:pt x="28409" y="0"/>
                  </a:lnTo>
                  <a:close/>
                </a:path>
              </a:pathLst>
            </a:custGeom>
            <a:solidFill>
              <a:srgbClr val="7FA6C8"/>
            </a:solidFill>
          </p:spPr>
          <p:txBody>
            <a:bodyPr wrap="square" lIns="0" tIns="0" rIns="0" bIns="0" rtlCol="0"/>
            <a:lstStyle/>
            <a:p/>
          </p:txBody>
        </p:sp>
        <p:sp>
          <p:nvSpPr>
            <p:cNvPr id="142" name="object 142" descr=""/>
            <p:cNvSpPr/>
            <p:nvPr/>
          </p:nvSpPr>
          <p:spPr>
            <a:xfrm>
              <a:off x="3824389" y="4042206"/>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03"/>
                  </a:moveTo>
                  <a:lnTo>
                    <a:pt x="27406" y="1003"/>
                  </a:lnTo>
                  <a:lnTo>
                    <a:pt x="27406" y="43484"/>
                  </a:lnTo>
                  <a:lnTo>
                    <a:pt x="1016" y="43484"/>
                  </a:lnTo>
                  <a:lnTo>
                    <a:pt x="1016" y="1003"/>
                  </a:lnTo>
                  <a:close/>
                </a:path>
              </a:pathLst>
            </a:custGeom>
            <a:ln w="3175">
              <a:solidFill>
                <a:srgbClr val="9BD3F0"/>
              </a:solidFill>
            </a:ln>
          </p:spPr>
          <p:txBody>
            <a:bodyPr wrap="square" lIns="0" tIns="0" rIns="0" bIns="0" rtlCol="0"/>
            <a:lstStyle/>
            <a:p/>
          </p:txBody>
        </p:sp>
        <p:sp>
          <p:nvSpPr>
            <p:cNvPr id="143" name="object 143" descr=""/>
            <p:cNvSpPr/>
            <p:nvPr/>
          </p:nvSpPr>
          <p:spPr>
            <a:xfrm>
              <a:off x="3864978" y="4042206"/>
              <a:ext cx="28575" cy="45085"/>
            </a:xfrm>
            <a:custGeom>
              <a:avLst/>
              <a:gdLst/>
              <a:ahLst/>
              <a:cxnLst/>
              <a:rect l="l" t="t" r="r" b="b"/>
              <a:pathLst>
                <a:path w="28575" h="45085">
                  <a:moveTo>
                    <a:pt x="28409" y="0"/>
                  </a:moveTo>
                  <a:lnTo>
                    <a:pt x="0" y="0"/>
                  </a:lnTo>
                  <a:lnTo>
                    <a:pt x="0" y="1003"/>
                  </a:lnTo>
                  <a:lnTo>
                    <a:pt x="0" y="44488"/>
                  </a:lnTo>
                  <a:lnTo>
                    <a:pt x="28409" y="44513"/>
                  </a:lnTo>
                  <a:lnTo>
                    <a:pt x="28409" y="43256"/>
                  </a:lnTo>
                  <a:lnTo>
                    <a:pt x="28409" y="1193"/>
                  </a:lnTo>
                  <a:lnTo>
                    <a:pt x="28409" y="0"/>
                  </a:lnTo>
                  <a:close/>
                </a:path>
              </a:pathLst>
            </a:custGeom>
            <a:solidFill>
              <a:srgbClr val="7FA6C8"/>
            </a:solidFill>
          </p:spPr>
          <p:txBody>
            <a:bodyPr wrap="square" lIns="0" tIns="0" rIns="0" bIns="0" rtlCol="0"/>
            <a:lstStyle/>
            <a:p/>
          </p:txBody>
        </p:sp>
        <p:sp>
          <p:nvSpPr>
            <p:cNvPr id="144" name="object 144" descr=""/>
            <p:cNvSpPr/>
            <p:nvPr/>
          </p:nvSpPr>
          <p:spPr>
            <a:xfrm>
              <a:off x="3864978" y="4042206"/>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03"/>
                  </a:moveTo>
                  <a:lnTo>
                    <a:pt x="26390" y="1003"/>
                  </a:lnTo>
                  <a:lnTo>
                    <a:pt x="26390" y="43484"/>
                  </a:lnTo>
                  <a:lnTo>
                    <a:pt x="1015" y="43484"/>
                  </a:lnTo>
                  <a:lnTo>
                    <a:pt x="1015" y="1003"/>
                  </a:lnTo>
                  <a:close/>
                </a:path>
              </a:pathLst>
            </a:custGeom>
            <a:ln w="3175">
              <a:solidFill>
                <a:srgbClr val="9BD3F0"/>
              </a:solidFill>
            </a:ln>
          </p:spPr>
          <p:txBody>
            <a:bodyPr wrap="square" lIns="0" tIns="0" rIns="0" bIns="0" rtlCol="0"/>
            <a:lstStyle/>
            <a:p/>
          </p:txBody>
        </p:sp>
        <p:sp>
          <p:nvSpPr>
            <p:cNvPr id="145" name="object 145" descr=""/>
            <p:cNvSpPr/>
            <p:nvPr/>
          </p:nvSpPr>
          <p:spPr>
            <a:xfrm>
              <a:off x="3904551" y="4042206"/>
              <a:ext cx="28575" cy="45085"/>
            </a:xfrm>
            <a:custGeom>
              <a:avLst/>
              <a:gdLst/>
              <a:ahLst/>
              <a:cxnLst/>
              <a:rect l="l" t="t" r="r" b="b"/>
              <a:pathLst>
                <a:path w="28575" h="45085">
                  <a:moveTo>
                    <a:pt x="28409" y="0"/>
                  </a:moveTo>
                  <a:lnTo>
                    <a:pt x="0" y="0"/>
                  </a:lnTo>
                  <a:lnTo>
                    <a:pt x="0" y="44513"/>
                  </a:lnTo>
                  <a:lnTo>
                    <a:pt x="28409" y="44513"/>
                  </a:lnTo>
                  <a:lnTo>
                    <a:pt x="28409" y="43256"/>
                  </a:lnTo>
                  <a:lnTo>
                    <a:pt x="28409" y="1193"/>
                  </a:lnTo>
                  <a:lnTo>
                    <a:pt x="28409" y="0"/>
                  </a:lnTo>
                  <a:close/>
                </a:path>
              </a:pathLst>
            </a:custGeom>
            <a:solidFill>
              <a:srgbClr val="7FA6C8"/>
            </a:solidFill>
          </p:spPr>
          <p:txBody>
            <a:bodyPr wrap="square" lIns="0" tIns="0" rIns="0" bIns="0" rtlCol="0"/>
            <a:lstStyle/>
            <a:p/>
          </p:txBody>
        </p:sp>
        <p:sp>
          <p:nvSpPr>
            <p:cNvPr id="146" name="object 146" descr=""/>
            <p:cNvSpPr/>
            <p:nvPr/>
          </p:nvSpPr>
          <p:spPr>
            <a:xfrm>
              <a:off x="3904551" y="4042206"/>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03"/>
                  </a:moveTo>
                  <a:lnTo>
                    <a:pt x="27406" y="1003"/>
                  </a:lnTo>
                  <a:lnTo>
                    <a:pt x="27406" y="43484"/>
                  </a:lnTo>
                  <a:lnTo>
                    <a:pt x="1015" y="43484"/>
                  </a:lnTo>
                  <a:lnTo>
                    <a:pt x="1015" y="1003"/>
                  </a:lnTo>
                  <a:close/>
                </a:path>
              </a:pathLst>
            </a:custGeom>
            <a:ln w="3175">
              <a:solidFill>
                <a:srgbClr val="9BD3F0"/>
              </a:solidFill>
            </a:ln>
          </p:spPr>
          <p:txBody>
            <a:bodyPr wrap="square" lIns="0" tIns="0" rIns="0" bIns="0" rtlCol="0"/>
            <a:lstStyle/>
            <a:p/>
          </p:txBody>
        </p:sp>
        <p:sp>
          <p:nvSpPr>
            <p:cNvPr id="147" name="object 147" descr=""/>
            <p:cNvSpPr/>
            <p:nvPr/>
          </p:nvSpPr>
          <p:spPr>
            <a:xfrm>
              <a:off x="3948201" y="4042206"/>
              <a:ext cx="27940" cy="45085"/>
            </a:xfrm>
            <a:custGeom>
              <a:avLst/>
              <a:gdLst/>
              <a:ahLst/>
              <a:cxnLst/>
              <a:rect l="l" t="t" r="r" b="b"/>
              <a:pathLst>
                <a:path w="27939" h="45085">
                  <a:moveTo>
                    <a:pt x="27393" y="0"/>
                  </a:moveTo>
                  <a:lnTo>
                    <a:pt x="0" y="0"/>
                  </a:lnTo>
                  <a:lnTo>
                    <a:pt x="0" y="1003"/>
                  </a:lnTo>
                  <a:lnTo>
                    <a:pt x="0" y="44488"/>
                  </a:lnTo>
                  <a:lnTo>
                    <a:pt x="27393" y="44513"/>
                  </a:lnTo>
                  <a:lnTo>
                    <a:pt x="27393" y="43256"/>
                  </a:lnTo>
                  <a:lnTo>
                    <a:pt x="27393" y="1193"/>
                  </a:lnTo>
                  <a:lnTo>
                    <a:pt x="27393" y="1003"/>
                  </a:lnTo>
                  <a:lnTo>
                    <a:pt x="27393" y="0"/>
                  </a:lnTo>
                  <a:close/>
                </a:path>
              </a:pathLst>
            </a:custGeom>
            <a:solidFill>
              <a:srgbClr val="7FA6C8"/>
            </a:solidFill>
          </p:spPr>
          <p:txBody>
            <a:bodyPr wrap="square" lIns="0" tIns="0" rIns="0" bIns="0" rtlCol="0"/>
            <a:lstStyle/>
            <a:p/>
          </p:txBody>
        </p:sp>
        <p:sp>
          <p:nvSpPr>
            <p:cNvPr id="148" name="object 148" descr=""/>
            <p:cNvSpPr/>
            <p:nvPr/>
          </p:nvSpPr>
          <p:spPr>
            <a:xfrm>
              <a:off x="3948201" y="4042206"/>
              <a:ext cx="27940" cy="45085"/>
            </a:xfrm>
            <a:custGeom>
              <a:avLst/>
              <a:gdLst/>
              <a:ahLst/>
              <a:cxnLst/>
              <a:rect l="l" t="t" r="r" b="b"/>
              <a:pathLst>
                <a:path w="27939" h="45085">
                  <a:moveTo>
                    <a:pt x="0" y="0"/>
                  </a:moveTo>
                  <a:lnTo>
                    <a:pt x="27393" y="0"/>
                  </a:lnTo>
                  <a:lnTo>
                    <a:pt x="27393" y="44500"/>
                  </a:lnTo>
                  <a:lnTo>
                    <a:pt x="0" y="44500"/>
                  </a:lnTo>
                  <a:lnTo>
                    <a:pt x="0" y="0"/>
                  </a:lnTo>
                  <a:close/>
                </a:path>
                <a:path w="27939" h="45085">
                  <a:moveTo>
                    <a:pt x="1003" y="1003"/>
                  </a:moveTo>
                  <a:lnTo>
                    <a:pt x="26377" y="1003"/>
                  </a:lnTo>
                  <a:lnTo>
                    <a:pt x="26377" y="43484"/>
                  </a:lnTo>
                  <a:lnTo>
                    <a:pt x="1003" y="43484"/>
                  </a:lnTo>
                  <a:lnTo>
                    <a:pt x="1003" y="1003"/>
                  </a:lnTo>
                  <a:close/>
                </a:path>
              </a:pathLst>
            </a:custGeom>
            <a:ln w="3175">
              <a:solidFill>
                <a:srgbClr val="9BD3F0"/>
              </a:solidFill>
            </a:ln>
          </p:spPr>
          <p:txBody>
            <a:bodyPr wrap="square" lIns="0" tIns="0" rIns="0" bIns="0" rtlCol="0"/>
            <a:lstStyle/>
            <a:p/>
          </p:txBody>
        </p:sp>
        <p:sp>
          <p:nvSpPr>
            <p:cNvPr id="149" name="object 149" descr=""/>
            <p:cNvSpPr/>
            <p:nvPr/>
          </p:nvSpPr>
          <p:spPr>
            <a:xfrm>
              <a:off x="3784803" y="4117047"/>
              <a:ext cx="28575" cy="45085"/>
            </a:xfrm>
            <a:custGeom>
              <a:avLst/>
              <a:gdLst/>
              <a:ahLst/>
              <a:cxnLst/>
              <a:rect l="l" t="t" r="r" b="b"/>
              <a:pathLst>
                <a:path w="28575" h="45085">
                  <a:moveTo>
                    <a:pt x="28409" y="0"/>
                  </a:moveTo>
                  <a:lnTo>
                    <a:pt x="27406" y="0"/>
                  </a:lnTo>
                  <a:lnTo>
                    <a:pt x="0" y="0"/>
                  </a:lnTo>
                  <a:lnTo>
                    <a:pt x="0" y="43497"/>
                  </a:lnTo>
                  <a:lnTo>
                    <a:pt x="0" y="44513"/>
                  </a:lnTo>
                  <a:lnTo>
                    <a:pt x="28409" y="44513"/>
                  </a:lnTo>
                  <a:lnTo>
                    <a:pt x="28409" y="43307"/>
                  </a:lnTo>
                  <a:lnTo>
                    <a:pt x="28409" y="1193"/>
                  </a:lnTo>
                  <a:lnTo>
                    <a:pt x="28409" y="0"/>
                  </a:lnTo>
                  <a:close/>
                </a:path>
              </a:pathLst>
            </a:custGeom>
            <a:solidFill>
              <a:srgbClr val="7FA6C8"/>
            </a:solidFill>
          </p:spPr>
          <p:txBody>
            <a:bodyPr wrap="square" lIns="0" tIns="0" rIns="0" bIns="0" rtlCol="0"/>
            <a:lstStyle/>
            <a:p/>
          </p:txBody>
        </p:sp>
        <p:sp>
          <p:nvSpPr>
            <p:cNvPr id="150" name="object 150" descr=""/>
            <p:cNvSpPr/>
            <p:nvPr/>
          </p:nvSpPr>
          <p:spPr>
            <a:xfrm>
              <a:off x="3784803" y="411704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6390" y="1015"/>
                  </a:lnTo>
                  <a:lnTo>
                    <a:pt x="26390" y="43497"/>
                  </a:lnTo>
                  <a:lnTo>
                    <a:pt x="1015" y="43497"/>
                  </a:lnTo>
                  <a:lnTo>
                    <a:pt x="1015" y="1015"/>
                  </a:lnTo>
                  <a:close/>
                </a:path>
              </a:pathLst>
            </a:custGeom>
            <a:ln w="3175">
              <a:solidFill>
                <a:srgbClr val="9BD3F0"/>
              </a:solidFill>
            </a:ln>
          </p:spPr>
          <p:txBody>
            <a:bodyPr wrap="square" lIns="0" tIns="0" rIns="0" bIns="0" rtlCol="0"/>
            <a:lstStyle/>
            <a:p/>
          </p:txBody>
        </p:sp>
        <p:sp>
          <p:nvSpPr>
            <p:cNvPr id="151" name="object 151" descr=""/>
            <p:cNvSpPr/>
            <p:nvPr/>
          </p:nvSpPr>
          <p:spPr>
            <a:xfrm>
              <a:off x="3824389" y="4117047"/>
              <a:ext cx="28575" cy="45085"/>
            </a:xfrm>
            <a:custGeom>
              <a:avLst/>
              <a:gdLst/>
              <a:ahLst/>
              <a:cxnLst/>
              <a:rect l="l" t="t" r="r" b="b"/>
              <a:pathLst>
                <a:path w="28575" h="45085">
                  <a:moveTo>
                    <a:pt x="28409" y="0"/>
                  </a:moveTo>
                  <a:lnTo>
                    <a:pt x="1016" y="0"/>
                  </a:lnTo>
                  <a:lnTo>
                    <a:pt x="0" y="0"/>
                  </a:lnTo>
                  <a:lnTo>
                    <a:pt x="0" y="44513"/>
                  </a:lnTo>
                  <a:lnTo>
                    <a:pt x="28409" y="44513"/>
                  </a:lnTo>
                  <a:lnTo>
                    <a:pt x="28409" y="43497"/>
                  </a:lnTo>
                  <a:lnTo>
                    <a:pt x="28409" y="43307"/>
                  </a:lnTo>
                  <a:lnTo>
                    <a:pt x="28409" y="1193"/>
                  </a:lnTo>
                  <a:lnTo>
                    <a:pt x="28409" y="0"/>
                  </a:lnTo>
                  <a:close/>
                </a:path>
              </a:pathLst>
            </a:custGeom>
            <a:solidFill>
              <a:srgbClr val="7FA6C8"/>
            </a:solidFill>
          </p:spPr>
          <p:txBody>
            <a:bodyPr wrap="square" lIns="0" tIns="0" rIns="0" bIns="0" rtlCol="0"/>
            <a:lstStyle/>
            <a:p/>
          </p:txBody>
        </p:sp>
        <p:sp>
          <p:nvSpPr>
            <p:cNvPr id="152" name="object 152" descr=""/>
            <p:cNvSpPr/>
            <p:nvPr/>
          </p:nvSpPr>
          <p:spPr>
            <a:xfrm>
              <a:off x="3824389" y="411704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7406" y="1015"/>
                  </a:lnTo>
                  <a:lnTo>
                    <a:pt x="27406" y="43497"/>
                  </a:lnTo>
                  <a:lnTo>
                    <a:pt x="1016" y="43497"/>
                  </a:lnTo>
                  <a:lnTo>
                    <a:pt x="1016" y="1015"/>
                  </a:lnTo>
                  <a:close/>
                </a:path>
              </a:pathLst>
            </a:custGeom>
            <a:ln w="3175">
              <a:solidFill>
                <a:srgbClr val="9BD3F0"/>
              </a:solidFill>
            </a:ln>
          </p:spPr>
          <p:txBody>
            <a:bodyPr wrap="square" lIns="0" tIns="0" rIns="0" bIns="0" rtlCol="0"/>
            <a:lstStyle/>
            <a:p/>
          </p:txBody>
        </p:sp>
        <p:sp>
          <p:nvSpPr>
            <p:cNvPr id="153" name="object 153" descr=""/>
            <p:cNvSpPr/>
            <p:nvPr/>
          </p:nvSpPr>
          <p:spPr>
            <a:xfrm>
              <a:off x="3864978" y="4117047"/>
              <a:ext cx="28575" cy="45085"/>
            </a:xfrm>
            <a:custGeom>
              <a:avLst/>
              <a:gdLst/>
              <a:ahLst/>
              <a:cxnLst/>
              <a:rect l="l" t="t" r="r" b="b"/>
              <a:pathLst>
                <a:path w="28575" h="45085">
                  <a:moveTo>
                    <a:pt x="28409" y="0"/>
                  </a:moveTo>
                  <a:lnTo>
                    <a:pt x="27393" y="0"/>
                  </a:lnTo>
                  <a:lnTo>
                    <a:pt x="0" y="0"/>
                  </a:lnTo>
                  <a:lnTo>
                    <a:pt x="0" y="43497"/>
                  </a:lnTo>
                  <a:lnTo>
                    <a:pt x="0" y="44513"/>
                  </a:lnTo>
                  <a:lnTo>
                    <a:pt x="28409" y="44513"/>
                  </a:lnTo>
                  <a:lnTo>
                    <a:pt x="28409" y="43307"/>
                  </a:lnTo>
                  <a:lnTo>
                    <a:pt x="28409" y="1193"/>
                  </a:lnTo>
                  <a:lnTo>
                    <a:pt x="28409" y="0"/>
                  </a:lnTo>
                  <a:close/>
                </a:path>
              </a:pathLst>
            </a:custGeom>
            <a:solidFill>
              <a:srgbClr val="7FA6C8"/>
            </a:solidFill>
          </p:spPr>
          <p:txBody>
            <a:bodyPr wrap="square" lIns="0" tIns="0" rIns="0" bIns="0" rtlCol="0"/>
            <a:lstStyle/>
            <a:p/>
          </p:txBody>
        </p:sp>
        <p:sp>
          <p:nvSpPr>
            <p:cNvPr id="154" name="object 154" descr=""/>
            <p:cNvSpPr/>
            <p:nvPr/>
          </p:nvSpPr>
          <p:spPr>
            <a:xfrm>
              <a:off x="3864978" y="411704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6390" y="1015"/>
                  </a:lnTo>
                  <a:lnTo>
                    <a:pt x="26390" y="43497"/>
                  </a:lnTo>
                  <a:lnTo>
                    <a:pt x="1015" y="43497"/>
                  </a:lnTo>
                  <a:lnTo>
                    <a:pt x="1015" y="1015"/>
                  </a:lnTo>
                  <a:close/>
                </a:path>
              </a:pathLst>
            </a:custGeom>
            <a:ln w="3175">
              <a:solidFill>
                <a:srgbClr val="9BD3F0"/>
              </a:solidFill>
            </a:ln>
          </p:spPr>
          <p:txBody>
            <a:bodyPr wrap="square" lIns="0" tIns="0" rIns="0" bIns="0" rtlCol="0"/>
            <a:lstStyle/>
            <a:p/>
          </p:txBody>
        </p:sp>
        <p:sp>
          <p:nvSpPr>
            <p:cNvPr id="155" name="object 155" descr=""/>
            <p:cNvSpPr/>
            <p:nvPr/>
          </p:nvSpPr>
          <p:spPr>
            <a:xfrm>
              <a:off x="3904551" y="4117047"/>
              <a:ext cx="28575" cy="45085"/>
            </a:xfrm>
            <a:custGeom>
              <a:avLst/>
              <a:gdLst/>
              <a:ahLst/>
              <a:cxnLst/>
              <a:rect l="l" t="t" r="r" b="b"/>
              <a:pathLst>
                <a:path w="28575" h="45085">
                  <a:moveTo>
                    <a:pt x="28409" y="0"/>
                  </a:moveTo>
                  <a:lnTo>
                    <a:pt x="1016" y="0"/>
                  </a:lnTo>
                  <a:lnTo>
                    <a:pt x="0" y="0"/>
                  </a:lnTo>
                  <a:lnTo>
                    <a:pt x="0" y="44513"/>
                  </a:lnTo>
                  <a:lnTo>
                    <a:pt x="28409" y="44513"/>
                  </a:lnTo>
                  <a:lnTo>
                    <a:pt x="28409" y="43307"/>
                  </a:lnTo>
                  <a:lnTo>
                    <a:pt x="28409" y="1193"/>
                  </a:lnTo>
                  <a:lnTo>
                    <a:pt x="28409" y="0"/>
                  </a:lnTo>
                  <a:close/>
                </a:path>
              </a:pathLst>
            </a:custGeom>
            <a:solidFill>
              <a:srgbClr val="7FA6C8"/>
            </a:solidFill>
          </p:spPr>
          <p:txBody>
            <a:bodyPr wrap="square" lIns="0" tIns="0" rIns="0" bIns="0" rtlCol="0"/>
            <a:lstStyle/>
            <a:p/>
          </p:txBody>
        </p:sp>
        <p:sp>
          <p:nvSpPr>
            <p:cNvPr id="156" name="object 156" descr=""/>
            <p:cNvSpPr/>
            <p:nvPr/>
          </p:nvSpPr>
          <p:spPr>
            <a:xfrm>
              <a:off x="3904551" y="411704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7406" y="1015"/>
                  </a:lnTo>
                  <a:lnTo>
                    <a:pt x="27406" y="43497"/>
                  </a:lnTo>
                  <a:lnTo>
                    <a:pt x="1015" y="43497"/>
                  </a:lnTo>
                  <a:lnTo>
                    <a:pt x="1015" y="1015"/>
                  </a:lnTo>
                  <a:close/>
                </a:path>
              </a:pathLst>
            </a:custGeom>
            <a:ln w="3175">
              <a:solidFill>
                <a:srgbClr val="9BD3F0"/>
              </a:solidFill>
            </a:ln>
          </p:spPr>
          <p:txBody>
            <a:bodyPr wrap="square" lIns="0" tIns="0" rIns="0" bIns="0" rtlCol="0"/>
            <a:lstStyle/>
            <a:p/>
          </p:txBody>
        </p:sp>
        <p:sp>
          <p:nvSpPr>
            <p:cNvPr id="157" name="object 157" descr=""/>
            <p:cNvSpPr/>
            <p:nvPr/>
          </p:nvSpPr>
          <p:spPr>
            <a:xfrm>
              <a:off x="3948201" y="4117047"/>
              <a:ext cx="27940" cy="45085"/>
            </a:xfrm>
            <a:custGeom>
              <a:avLst/>
              <a:gdLst/>
              <a:ahLst/>
              <a:cxnLst/>
              <a:rect l="l" t="t" r="r" b="b"/>
              <a:pathLst>
                <a:path w="27939" h="45085">
                  <a:moveTo>
                    <a:pt x="27393" y="0"/>
                  </a:moveTo>
                  <a:lnTo>
                    <a:pt x="0" y="0"/>
                  </a:lnTo>
                  <a:lnTo>
                    <a:pt x="0" y="43497"/>
                  </a:lnTo>
                  <a:lnTo>
                    <a:pt x="0" y="44513"/>
                  </a:lnTo>
                  <a:lnTo>
                    <a:pt x="27393" y="44513"/>
                  </a:lnTo>
                  <a:lnTo>
                    <a:pt x="27393" y="43497"/>
                  </a:lnTo>
                  <a:lnTo>
                    <a:pt x="27393" y="43307"/>
                  </a:lnTo>
                  <a:lnTo>
                    <a:pt x="27393" y="1193"/>
                  </a:lnTo>
                  <a:lnTo>
                    <a:pt x="27393" y="0"/>
                  </a:lnTo>
                  <a:close/>
                </a:path>
              </a:pathLst>
            </a:custGeom>
            <a:solidFill>
              <a:srgbClr val="7FA6C8"/>
            </a:solidFill>
          </p:spPr>
          <p:txBody>
            <a:bodyPr wrap="square" lIns="0" tIns="0" rIns="0" bIns="0" rtlCol="0"/>
            <a:lstStyle/>
            <a:p/>
          </p:txBody>
        </p:sp>
        <p:sp>
          <p:nvSpPr>
            <p:cNvPr id="158" name="object 158" descr=""/>
            <p:cNvSpPr/>
            <p:nvPr/>
          </p:nvSpPr>
          <p:spPr>
            <a:xfrm>
              <a:off x="3948201" y="4117047"/>
              <a:ext cx="27940" cy="45085"/>
            </a:xfrm>
            <a:custGeom>
              <a:avLst/>
              <a:gdLst/>
              <a:ahLst/>
              <a:cxnLst/>
              <a:rect l="l" t="t" r="r" b="b"/>
              <a:pathLst>
                <a:path w="27939" h="45085">
                  <a:moveTo>
                    <a:pt x="0" y="0"/>
                  </a:moveTo>
                  <a:lnTo>
                    <a:pt x="27393" y="0"/>
                  </a:lnTo>
                  <a:lnTo>
                    <a:pt x="27393" y="44500"/>
                  </a:lnTo>
                  <a:lnTo>
                    <a:pt x="0" y="44500"/>
                  </a:lnTo>
                  <a:lnTo>
                    <a:pt x="0" y="0"/>
                  </a:lnTo>
                  <a:close/>
                </a:path>
                <a:path w="27939" h="45085">
                  <a:moveTo>
                    <a:pt x="1003" y="1015"/>
                  </a:moveTo>
                  <a:lnTo>
                    <a:pt x="26377" y="1015"/>
                  </a:lnTo>
                  <a:lnTo>
                    <a:pt x="26377" y="43497"/>
                  </a:lnTo>
                  <a:lnTo>
                    <a:pt x="1003" y="43497"/>
                  </a:lnTo>
                  <a:lnTo>
                    <a:pt x="1003" y="1015"/>
                  </a:lnTo>
                  <a:close/>
                </a:path>
              </a:pathLst>
            </a:custGeom>
            <a:ln w="3175">
              <a:solidFill>
                <a:srgbClr val="9BD3F0"/>
              </a:solidFill>
            </a:ln>
          </p:spPr>
          <p:txBody>
            <a:bodyPr wrap="square" lIns="0" tIns="0" rIns="0" bIns="0" rtlCol="0"/>
            <a:lstStyle/>
            <a:p/>
          </p:txBody>
        </p:sp>
        <p:sp>
          <p:nvSpPr>
            <p:cNvPr id="159" name="object 159" descr=""/>
            <p:cNvSpPr/>
            <p:nvPr/>
          </p:nvSpPr>
          <p:spPr>
            <a:xfrm>
              <a:off x="3784803" y="4190872"/>
              <a:ext cx="28575" cy="45085"/>
            </a:xfrm>
            <a:custGeom>
              <a:avLst/>
              <a:gdLst/>
              <a:ahLst/>
              <a:cxnLst/>
              <a:rect l="l" t="t" r="r" b="b"/>
              <a:pathLst>
                <a:path w="28575" h="45085">
                  <a:moveTo>
                    <a:pt x="28409" y="0"/>
                  </a:moveTo>
                  <a:lnTo>
                    <a:pt x="0" y="0"/>
                  </a:lnTo>
                  <a:lnTo>
                    <a:pt x="0" y="1016"/>
                  </a:lnTo>
                  <a:lnTo>
                    <a:pt x="0" y="44500"/>
                  </a:lnTo>
                  <a:lnTo>
                    <a:pt x="27406" y="44500"/>
                  </a:lnTo>
                  <a:lnTo>
                    <a:pt x="28409" y="44500"/>
                  </a:lnTo>
                  <a:lnTo>
                    <a:pt x="28409" y="43256"/>
                  </a:lnTo>
                  <a:lnTo>
                    <a:pt x="28409" y="1193"/>
                  </a:lnTo>
                  <a:lnTo>
                    <a:pt x="28409" y="0"/>
                  </a:lnTo>
                  <a:close/>
                </a:path>
              </a:pathLst>
            </a:custGeom>
            <a:solidFill>
              <a:srgbClr val="7FA6C8"/>
            </a:solidFill>
          </p:spPr>
          <p:txBody>
            <a:bodyPr wrap="square" lIns="0" tIns="0" rIns="0" bIns="0" rtlCol="0"/>
            <a:lstStyle/>
            <a:p/>
          </p:txBody>
        </p:sp>
        <p:sp>
          <p:nvSpPr>
            <p:cNvPr id="160" name="object 160" descr=""/>
            <p:cNvSpPr/>
            <p:nvPr/>
          </p:nvSpPr>
          <p:spPr>
            <a:xfrm>
              <a:off x="3784803" y="4190872"/>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2031"/>
                  </a:moveTo>
                  <a:lnTo>
                    <a:pt x="26390" y="2031"/>
                  </a:lnTo>
                  <a:lnTo>
                    <a:pt x="26390" y="43497"/>
                  </a:lnTo>
                  <a:lnTo>
                    <a:pt x="1015" y="43497"/>
                  </a:lnTo>
                  <a:lnTo>
                    <a:pt x="1015" y="2031"/>
                  </a:lnTo>
                  <a:close/>
                </a:path>
              </a:pathLst>
            </a:custGeom>
            <a:ln w="3175">
              <a:solidFill>
                <a:srgbClr val="9BD3F0"/>
              </a:solidFill>
            </a:ln>
          </p:spPr>
          <p:txBody>
            <a:bodyPr wrap="square" lIns="0" tIns="0" rIns="0" bIns="0" rtlCol="0"/>
            <a:lstStyle/>
            <a:p/>
          </p:txBody>
        </p:sp>
        <p:sp>
          <p:nvSpPr>
            <p:cNvPr id="161" name="object 161" descr=""/>
            <p:cNvSpPr/>
            <p:nvPr/>
          </p:nvSpPr>
          <p:spPr>
            <a:xfrm>
              <a:off x="3824389" y="4190872"/>
              <a:ext cx="28575" cy="45085"/>
            </a:xfrm>
            <a:custGeom>
              <a:avLst/>
              <a:gdLst/>
              <a:ahLst/>
              <a:cxnLst/>
              <a:rect l="l" t="t" r="r" b="b"/>
              <a:pathLst>
                <a:path w="28575" h="45085">
                  <a:moveTo>
                    <a:pt x="28409" y="0"/>
                  </a:moveTo>
                  <a:lnTo>
                    <a:pt x="0" y="0"/>
                  </a:lnTo>
                  <a:lnTo>
                    <a:pt x="0" y="44500"/>
                  </a:lnTo>
                  <a:lnTo>
                    <a:pt x="1016" y="44500"/>
                  </a:lnTo>
                  <a:lnTo>
                    <a:pt x="28409" y="44500"/>
                  </a:lnTo>
                  <a:lnTo>
                    <a:pt x="28409" y="43256"/>
                  </a:lnTo>
                  <a:lnTo>
                    <a:pt x="28409" y="1193"/>
                  </a:lnTo>
                  <a:lnTo>
                    <a:pt x="28409" y="1016"/>
                  </a:lnTo>
                  <a:lnTo>
                    <a:pt x="28409" y="0"/>
                  </a:lnTo>
                  <a:close/>
                </a:path>
              </a:pathLst>
            </a:custGeom>
            <a:solidFill>
              <a:srgbClr val="7FA6C8"/>
            </a:solidFill>
          </p:spPr>
          <p:txBody>
            <a:bodyPr wrap="square" lIns="0" tIns="0" rIns="0" bIns="0" rtlCol="0"/>
            <a:lstStyle/>
            <a:p/>
          </p:txBody>
        </p:sp>
        <p:sp>
          <p:nvSpPr>
            <p:cNvPr id="162" name="object 162" descr=""/>
            <p:cNvSpPr/>
            <p:nvPr/>
          </p:nvSpPr>
          <p:spPr>
            <a:xfrm>
              <a:off x="3824389" y="4190872"/>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2031"/>
                  </a:moveTo>
                  <a:lnTo>
                    <a:pt x="27406" y="2031"/>
                  </a:lnTo>
                  <a:lnTo>
                    <a:pt x="27406" y="43497"/>
                  </a:lnTo>
                  <a:lnTo>
                    <a:pt x="1016" y="43497"/>
                  </a:lnTo>
                  <a:lnTo>
                    <a:pt x="1016" y="2031"/>
                  </a:lnTo>
                  <a:close/>
                </a:path>
              </a:pathLst>
            </a:custGeom>
            <a:ln w="3175">
              <a:solidFill>
                <a:srgbClr val="9BD3F0"/>
              </a:solidFill>
            </a:ln>
          </p:spPr>
          <p:txBody>
            <a:bodyPr wrap="square" lIns="0" tIns="0" rIns="0" bIns="0" rtlCol="0"/>
            <a:lstStyle/>
            <a:p/>
          </p:txBody>
        </p:sp>
        <p:sp>
          <p:nvSpPr>
            <p:cNvPr id="163" name="object 163" descr=""/>
            <p:cNvSpPr/>
            <p:nvPr/>
          </p:nvSpPr>
          <p:spPr>
            <a:xfrm>
              <a:off x="3864978" y="4190872"/>
              <a:ext cx="28575" cy="45085"/>
            </a:xfrm>
            <a:custGeom>
              <a:avLst/>
              <a:gdLst/>
              <a:ahLst/>
              <a:cxnLst/>
              <a:rect l="l" t="t" r="r" b="b"/>
              <a:pathLst>
                <a:path w="28575" h="45085">
                  <a:moveTo>
                    <a:pt x="28409" y="0"/>
                  </a:moveTo>
                  <a:lnTo>
                    <a:pt x="0" y="0"/>
                  </a:lnTo>
                  <a:lnTo>
                    <a:pt x="0" y="1016"/>
                  </a:lnTo>
                  <a:lnTo>
                    <a:pt x="0" y="44500"/>
                  </a:lnTo>
                  <a:lnTo>
                    <a:pt x="27393" y="44500"/>
                  </a:lnTo>
                  <a:lnTo>
                    <a:pt x="28409" y="44500"/>
                  </a:lnTo>
                  <a:lnTo>
                    <a:pt x="28409" y="43256"/>
                  </a:lnTo>
                  <a:lnTo>
                    <a:pt x="28409" y="1193"/>
                  </a:lnTo>
                  <a:lnTo>
                    <a:pt x="28409" y="0"/>
                  </a:lnTo>
                  <a:close/>
                </a:path>
              </a:pathLst>
            </a:custGeom>
            <a:solidFill>
              <a:srgbClr val="7FA6C8"/>
            </a:solidFill>
          </p:spPr>
          <p:txBody>
            <a:bodyPr wrap="square" lIns="0" tIns="0" rIns="0" bIns="0" rtlCol="0"/>
            <a:lstStyle/>
            <a:p/>
          </p:txBody>
        </p:sp>
        <p:sp>
          <p:nvSpPr>
            <p:cNvPr id="164" name="object 164" descr=""/>
            <p:cNvSpPr/>
            <p:nvPr/>
          </p:nvSpPr>
          <p:spPr>
            <a:xfrm>
              <a:off x="3864978" y="4190872"/>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2031"/>
                  </a:moveTo>
                  <a:lnTo>
                    <a:pt x="26390" y="2031"/>
                  </a:lnTo>
                  <a:lnTo>
                    <a:pt x="26390" y="43497"/>
                  </a:lnTo>
                  <a:lnTo>
                    <a:pt x="1015" y="43497"/>
                  </a:lnTo>
                  <a:lnTo>
                    <a:pt x="1015" y="2031"/>
                  </a:lnTo>
                  <a:close/>
                </a:path>
              </a:pathLst>
            </a:custGeom>
            <a:ln w="3175">
              <a:solidFill>
                <a:srgbClr val="9BD3F0"/>
              </a:solidFill>
            </a:ln>
          </p:spPr>
          <p:txBody>
            <a:bodyPr wrap="square" lIns="0" tIns="0" rIns="0" bIns="0" rtlCol="0"/>
            <a:lstStyle/>
            <a:p/>
          </p:txBody>
        </p:sp>
        <p:sp>
          <p:nvSpPr>
            <p:cNvPr id="165" name="object 165" descr=""/>
            <p:cNvSpPr/>
            <p:nvPr/>
          </p:nvSpPr>
          <p:spPr>
            <a:xfrm>
              <a:off x="3904551" y="4190872"/>
              <a:ext cx="28575" cy="45085"/>
            </a:xfrm>
            <a:custGeom>
              <a:avLst/>
              <a:gdLst/>
              <a:ahLst/>
              <a:cxnLst/>
              <a:rect l="l" t="t" r="r" b="b"/>
              <a:pathLst>
                <a:path w="28575" h="45085">
                  <a:moveTo>
                    <a:pt x="28409" y="0"/>
                  </a:moveTo>
                  <a:lnTo>
                    <a:pt x="0" y="0"/>
                  </a:lnTo>
                  <a:lnTo>
                    <a:pt x="0" y="44500"/>
                  </a:lnTo>
                  <a:lnTo>
                    <a:pt x="1016" y="44500"/>
                  </a:lnTo>
                  <a:lnTo>
                    <a:pt x="28397" y="44500"/>
                  </a:lnTo>
                  <a:lnTo>
                    <a:pt x="28409" y="43256"/>
                  </a:lnTo>
                  <a:lnTo>
                    <a:pt x="28409" y="1193"/>
                  </a:lnTo>
                  <a:lnTo>
                    <a:pt x="28409" y="0"/>
                  </a:lnTo>
                  <a:close/>
                </a:path>
              </a:pathLst>
            </a:custGeom>
            <a:solidFill>
              <a:srgbClr val="7FA6C8"/>
            </a:solidFill>
          </p:spPr>
          <p:txBody>
            <a:bodyPr wrap="square" lIns="0" tIns="0" rIns="0" bIns="0" rtlCol="0"/>
            <a:lstStyle/>
            <a:p/>
          </p:txBody>
        </p:sp>
        <p:sp>
          <p:nvSpPr>
            <p:cNvPr id="166" name="object 166" descr=""/>
            <p:cNvSpPr/>
            <p:nvPr/>
          </p:nvSpPr>
          <p:spPr>
            <a:xfrm>
              <a:off x="3904551" y="4190872"/>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2031"/>
                  </a:moveTo>
                  <a:lnTo>
                    <a:pt x="27406" y="2031"/>
                  </a:lnTo>
                  <a:lnTo>
                    <a:pt x="27406" y="43497"/>
                  </a:lnTo>
                  <a:lnTo>
                    <a:pt x="1015" y="43497"/>
                  </a:lnTo>
                  <a:lnTo>
                    <a:pt x="1015" y="2031"/>
                  </a:lnTo>
                  <a:close/>
                </a:path>
              </a:pathLst>
            </a:custGeom>
            <a:ln w="3175">
              <a:solidFill>
                <a:srgbClr val="9BD3F0"/>
              </a:solidFill>
            </a:ln>
          </p:spPr>
          <p:txBody>
            <a:bodyPr wrap="square" lIns="0" tIns="0" rIns="0" bIns="0" rtlCol="0"/>
            <a:lstStyle/>
            <a:p/>
          </p:txBody>
        </p:sp>
        <p:sp>
          <p:nvSpPr>
            <p:cNvPr id="167" name="object 167" descr=""/>
            <p:cNvSpPr/>
            <p:nvPr/>
          </p:nvSpPr>
          <p:spPr>
            <a:xfrm>
              <a:off x="3948201" y="4190872"/>
              <a:ext cx="27940" cy="45085"/>
            </a:xfrm>
            <a:custGeom>
              <a:avLst/>
              <a:gdLst/>
              <a:ahLst/>
              <a:cxnLst/>
              <a:rect l="l" t="t" r="r" b="b"/>
              <a:pathLst>
                <a:path w="27939" h="45085">
                  <a:moveTo>
                    <a:pt x="27393" y="0"/>
                  </a:moveTo>
                  <a:lnTo>
                    <a:pt x="0" y="0"/>
                  </a:lnTo>
                  <a:lnTo>
                    <a:pt x="0" y="1016"/>
                  </a:lnTo>
                  <a:lnTo>
                    <a:pt x="0" y="44500"/>
                  </a:lnTo>
                  <a:lnTo>
                    <a:pt x="27393" y="44500"/>
                  </a:lnTo>
                  <a:lnTo>
                    <a:pt x="27393" y="43256"/>
                  </a:lnTo>
                  <a:lnTo>
                    <a:pt x="27393" y="1193"/>
                  </a:lnTo>
                  <a:lnTo>
                    <a:pt x="27393" y="1016"/>
                  </a:lnTo>
                  <a:lnTo>
                    <a:pt x="27393" y="0"/>
                  </a:lnTo>
                  <a:close/>
                </a:path>
              </a:pathLst>
            </a:custGeom>
            <a:solidFill>
              <a:srgbClr val="7FA6C8"/>
            </a:solidFill>
          </p:spPr>
          <p:txBody>
            <a:bodyPr wrap="square" lIns="0" tIns="0" rIns="0" bIns="0" rtlCol="0"/>
            <a:lstStyle/>
            <a:p/>
          </p:txBody>
        </p:sp>
        <p:sp>
          <p:nvSpPr>
            <p:cNvPr id="168" name="object 168" descr=""/>
            <p:cNvSpPr/>
            <p:nvPr/>
          </p:nvSpPr>
          <p:spPr>
            <a:xfrm>
              <a:off x="3948201" y="4190872"/>
              <a:ext cx="27940" cy="45085"/>
            </a:xfrm>
            <a:custGeom>
              <a:avLst/>
              <a:gdLst/>
              <a:ahLst/>
              <a:cxnLst/>
              <a:rect l="l" t="t" r="r" b="b"/>
              <a:pathLst>
                <a:path w="27939" h="45085">
                  <a:moveTo>
                    <a:pt x="0" y="0"/>
                  </a:moveTo>
                  <a:lnTo>
                    <a:pt x="27393" y="0"/>
                  </a:lnTo>
                  <a:lnTo>
                    <a:pt x="27393" y="44500"/>
                  </a:lnTo>
                  <a:lnTo>
                    <a:pt x="0" y="44500"/>
                  </a:lnTo>
                  <a:lnTo>
                    <a:pt x="0" y="0"/>
                  </a:lnTo>
                  <a:close/>
                </a:path>
                <a:path w="27939" h="45085">
                  <a:moveTo>
                    <a:pt x="1003" y="2031"/>
                  </a:moveTo>
                  <a:lnTo>
                    <a:pt x="26377" y="2031"/>
                  </a:lnTo>
                  <a:lnTo>
                    <a:pt x="26377" y="43497"/>
                  </a:lnTo>
                  <a:lnTo>
                    <a:pt x="1003" y="43497"/>
                  </a:lnTo>
                  <a:lnTo>
                    <a:pt x="1003" y="2031"/>
                  </a:lnTo>
                  <a:close/>
                </a:path>
              </a:pathLst>
            </a:custGeom>
            <a:ln w="3175">
              <a:solidFill>
                <a:srgbClr val="9BD3F0"/>
              </a:solidFill>
            </a:ln>
          </p:spPr>
          <p:txBody>
            <a:bodyPr wrap="square" lIns="0" tIns="0" rIns="0" bIns="0" rtlCol="0"/>
            <a:lstStyle/>
            <a:p/>
          </p:txBody>
        </p:sp>
        <p:sp>
          <p:nvSpPr>
            <p:cNvPr id="169" name="object 169" descr=""/>
            <p:cNvSpPr/>
            <p:nvPr/>
          </p:nvSpPr>
          <p:spPr>
            <a:xfrm>
              <a:off x="3707180" y="3466693"/>
              <a:ext cx="212090" cy="366395"/>
            </a:xfrm>
            <a:custGeom>
              <a:avLst/>
              <a:gdLst/>
              <a:ahLst/>
              <a:cxnLst/>
              <a:rect l="l" t="t" r="r" b="b"/>
              <a:pathLst>
                <a:path w="212089" h="366395">
                  <a:moveTo>
                    <a:pt x="212089" y="0"/>
                  </a:moveTo>
                  <a:lnTo>
                    <a:pt x="0" y="0"/>
                  </a:lnTo>
                  <a:lnTo>
                    <a:pt x="0" y="366217"/>
                  </a:lnTo>
                  <a:lnTo>
                    <a:pt x="212089" y="366217"/>
                  </a:lnTo>
                  <a:lnTo>
                    <a:pt x="212089" y="0"/>
                  </a:lnTo>
                  <a:close/>
                </a:path>
              </a:pathLst>
            </a:custGeom>
            <a:solidFill>
              <a:srgbClr val="92D050">
                <a:alpha val="50195"/>
              </a:srgbClr>
            </a:solidFill>
          </p:spPr>
          <p:txBody>
            <a:bodyPr wrap="square" lIns="0" tIns="0" rIns="0" bIns="0" rtlCol="0"/>
            <a:lstStyle/>
            <a:p/>
          </p:txBody>
        </p:sp>
        <p:pic>
          <p:nvPicPr>
            <p:cNvPr id="170" name="object 170"/>
            <p:cNvPicPr/>
            <p:nvPr/>
          </p:nvPicPr>
          <p:blipFill>
            <a:blip r:embed="rId6" cstate="print"/>
            <a:stretch>
              <a:fillRect/>
            </a:stretch>
          </p:blipFill>
          <p:spPr>
            <a:xfrm>
              <a:off x="3643185" y="3467709"/>
              <a:ext cx="142633" cy="377417"/>
            </a:xfrm>
            <a:prstGeom prst="rect">
              <a:avLst/>
            </a:prstGeom>
          </p:spPr>
        </p:pic>
        <p:sp>
          <p:nvSpPr>
            <p:cNvPr id="171" name="object 171" descr=""/>
            <p:cNvSpPr/>
            <p:nvPr/>
          </p:nvSpPr>
          <p:spPr>
            <a:xfrm>
              <a:off x="3612057" y="3874693"/>
              <a:ext cx="212090" cy="363855"/>
            </a:xfrm>
            <a:custGeom>
              <a:avLst/>
              <a:gdLst/>
              <a:ahLst/>
              <a:cxnLst/>
              <a:rect l="l" t="t" r="r" b="b"/>
              <a:pathLst>
                <a:path w="212089" h="363854">
                  <a:moveTo>
                    <a:pt x="212089" y="0"/>
                  </a:moveTo>
                  <a:lnTo>
                    <a:pt x="0" y="0"/>
                  </a:lnTo>
                  <a:lnTo>
                    <a:pt x="0" y="363588"/>
                  </a:lnTo>
                  <a:lnTo>
                    <a:pt x="212089" y="363588"/>
                  </a:lnTo>
                  <a:lnTo>
                    <a:pt x="212089" y="0"/>
                  </a:lnTo>
                  <a:close/>
                </a:path>
              </a:pathLst>
            </a:custGeom>
            <a:solidFill>
              <a:srgbClr val="92D050">
                <a:alpha val="50195"/>
              </a:srgbClr>
            </a:solidFill>
          </p:spPr>
          <p:txBody>
            <a:bodyPr wrap="square" lIns="0" tIns="0" rIns="0" bIns="0" rtlCol="0"/>
            <a:lstStyle/>
            <a:p/>
          </p:txBody>
        </p:sp>
        <p:pic>
          <p:nvPicPr>
            <p:cNvPr id="172" name="object 172"/>
            <p:cNvPicPr/>
            <p:nvPr/>
          </p:nvPicPr>
          <p:blipFill>
            <a:blip r:embed="rId6" cstate="print"/>
            <a:stretch>
              <a:fillRect/>
            </a:stretch>
          </p:blipFill>
          <p:spPr>
            <a:xfrm>
              <a:off x="3548053" y="3873961"/>
              <a:ext cx="142629" cy="374718"/>
            </a:xfrm>
            <a:prstGeom prst="rect">
              <a:avLst/>
            </a:prstGeom>
          </p:spPr>
        </p:pic>
        <p:pic>
          <p:nvPicPr>
            <p:cNvPr id="173" name="object 173"/>
            <p:cNvPicPr/>
            <p:nvPr/>
          </p:nvPicPr>
          <p:blipFill>
            <a:blip r:embed="rId7" cstate="print"/>
            <a:stretch>
              <a:fillRect/>
            </a:stretch>
          </p:blipFill>
          <p:spPr>
            <a:xfrm>
              <a:off x="2401328" y="3569494"/>
              <a:ext cx="724440" cy="721416"/>
            </a:xfrm>
            <a:prstGeom prst="rect">
              <a:avLst/>
            </a:prstGeom>
          </p:spPr>
        </p:pic>
        <p:pic>
          <p:nvPicPr>
            <p:cNvPr id="174" name="object 174"/>
            <p:cNvPicPr/>
            <p:nvPr/>
          </p:nvPicPr>
          <p:blipFill>
            <a:blip r:embed="rId8" cstate="print"/>
            <a:stretch>
              <a:fillRect/>
            </a:stretch>
          </p:blipFill>
          <p:spPr>
            <a:xfrm>
              <a:off x="2795777" y="3644645"/>
              <a:ext cx="772667" cy="577595"/>
            </a:xfrm>
            <a:prstGeom prst="rect">
              <a:avLst/>
            </a:prstGeom>
          </p:spPr>
        </p:pic>
        <p:pic>
          <p:nvPicPr>
            <p:cNvPr id="175" name="object 175" descr=""/>
            <p:cNvPicPr/>
            <p:nvPr/>
          </p:nvPicPr>
          <p:blipFill>
            <a:blip r:embed="rId9" cstate="print"/>
            <a:stretch>
              <a:fillRect/>
            </a:stretch>
          </p:blipFill>
          <p:spPr>
            <a:xfrm>
              <a:off x="2842423" y="3667785"/>
              <a:ext cx="679695" cy="484707"/>
            </a:xfrm>
            <a:prstGeom prst="rect">
              <a:avLst/>
            </a:prstGeom>
          </p:spPr>
        </p:pic>
        <p:sp>
          <p:nvSpPr>
            <p:cNvPr id="176" name="object 176" descr=""/>
            <p:cNvSpPr/>
            <p:nvPr/>
          </p:nvSpPr>
          <p:spPr>
            <a:xfrm>
              <a:off x="2842422" y="3668412"/>
              <a:ext cx="680085" cy="484505"/>
            </a:xfrm>
            <a:custGeom>
              <a:avLst/>
              <a:gdLst/>
              <a:ahLst/>
              <a:cxnLst/>
              <a:rect l="l" t="t" r="r" b="b"/>
              <a:pathLst>
                <a:path w="680085" h="484504">
                  <a:moveTo>
                    <a:pt x="2123" y="7085"/>
                  </a:moveTo>
                  <a:lnTo>
                    <a:pt x="15128" y="0"/>
                  </a:lnTo>
                  <a:lnTo>
                    <a:pt x="37935" y="681"/>
                  </a:lnTo>
                  <a:lnTo>
                    <a:pt x="69470" y="8636"/>
                  </a:lnTo>
                  <a:lnTo>
                    <a:pt x="108662" y="23374"/>
                  </a:lnTo>
                  <a:lnTo>
                    <a:pt x="154438" y="44400"/>
                  </a:lnTo>
                  <a:lnTo>
                    <a:pt x="205725" y="71223"/>
                  </a:lnTo>
                  <a:lnTo>
                    <a:pt x="261451" y="103350"/>
                  </a:lnTo>
                  <a:lnTo>
                    <a:pt x="320543" y="140288"/>
                  </a:lnTo>
                  <a:lnTo>
                    <a:pt x="381929" y="181545"/>
                  </a:lnTo>
                  <a:lnTo>
                    <a:pt x="441959" y="224755"/>
                  </a:lnTo>
                  <a:lnTo>
                    <a:pt x="497141" y="267316"/>
                  </a:lnTo>
                  <a:lnTo>
                    <a:pt x="546642" y="308393"/>
                  </a:lnTo>
                  <a:lnTo>
                    <a:pt x="589626" y="347153"/>
                  </a:lnTo>
                  <a:lnTo>
                    <a:pt x="625258" y="382761"/>
                  </a:lnTo>
                  <a:lnTo>
                    <a:pt x="652703" y="414382"/>
                  </a:lnTo>
                  <a:lnTo>
                    <a:pt x="679695" y="462329"/>
                  </a:lnTo>
                  <a:lnTo>
                    <a:pt x="677572" y="476985"/>
                  </a:lnTo>
                  <a:lnTo>
                    <a:pt x="664567" y="484075"/>
                  </a:lnTo>
                  <a:lnTo>
                    <a:pt x="641760" y="483397"/>
                  </a:lnTo>
                  <a:lnTo>
                    <a:pt x="571033" y="460707"/>
                  </a:lnTo>
                  <a:lnTo>
                    <a:pt x="525257" y="439680"/>
                  </a:lnTo>
                  <a:lnTo>
                    <a:pt x="473970" y="412856"/>
                  </a:lnTo>
                  <a:lnTo>
                    <a:pt x="418244" y="380727"/>
                  </a:lnTo>
                  <a:lnTo>
                    <a:pt x="359152" y="343786"/>
                  </a:lnTo>
                  <a:lnTo>
                    <a:pt x="297766" y="302526"/>
                  </a:lnTo>
                  <a:lnTo>
                    <a:pt x="237736" y="259319"/>
                  </a:lnTo>
                  <a:lnTo>
                    <a:pt x="182554" y="216761"/>
                  </a:lnTo>
                  <a:lnTo>
                    <a:pt x="133053" y="175686"/>
                  </a:lnTo>
                  <a:lnTo>
                    <a:pt x="90069" y="136927"/>
                  </a:lnTo>
                  <a:lnTo>
                    <a:pt x="54437" y="101319"/>
                  </a:lnTo>
                  <a:lnTo>
                    <a:pt x="26992" y="69697"/>
                  </a:lnTo>
                  <a:lnTo>
                    <a:pt x="0" y="21746"/>
                  </a:lnTo>
                  <a:lnTo>
                    <a:pt x="2123" y="7085"/>
                  </a:lnTo>
                  <a:close/>
                </a:path>
              </a:pathLst>
            </a:custGeom>
            <a:ln w="9524">
              <a:solidFill>
                <a:srgbClr val="F9F9F9"/>
              </a:solidFill>
            </a:ln>
          </p:spPr>
          <p:txBody>
            <a:bodyPr wrap="square" lIns="0" tIns="0" rIns="0" bIns="0" rtlCol="0"/>
            <a:lstStyle/>
            <a:p/>
          </p:txBody>
        </p:sp>
        <p:pic>
          <p:nvPicPr>
            <p:cNvPr id="177" name="object 177"/>
            <p:cNvPicPr/>
            <p:nvPr/>
          </p:nvPicPr>
          <p:blipFill>
            <a:blip r:embed="rId10" cstate="print"/>
            <a:stretch>
              <a:fillRect/>
            </a:stretch>
          </p:blipFill>
          <p:spPr>
            <a:xfrm>
              <a:off x="2850641" y="3319271"/>
              <a:ext cx="862583" cy="417575"/>
            </a:xfrm>
            <a:prstGeom prst="rect">
              <a:avLst/>
            </a:prstGeom>
          </p:spPr>
        </p:pic>
        <p:pic>
          <p:nvPicPr>
            <p:cNvPr id="178" name="object 178" descr=""/>
            <p:cNvPicPr/>
            <p:nvPr/>
          </p:nvPicPr>
          <p:blipFill>
            <a:blip r:embed="rId11" cstate="print"/>
            <a:stretch>
              <a:fillRect/>
            </a:stretch>
          </p:blipFill>
          <p:spPr>
            <a:xfrm>
              <a:off x="2897797" y="3342563"/>
              <a:ext cx="768286" cy="324679"/>
            </a:xfrm>
            <a:prstGeom prst="rect">
              <a:avLst/>
            </a:prstGeom>
          </p:spPr>
        </p:pic>
        <p:sp>
          <p:nvSpPr>
            <p:cNvPr id="179" name="object 179" descr=""/>
            <p:cNvSpPr/>
            <p:nvPr/>
          </p:nvSpPr>
          <p:spPr>
            <a:xfrm>
              <a:off x="2897793" y="3343087"/>
              <a:ext cx="768350" cy="324485"/>
            </a:xfrm>
            <a:custGeom>
              <a:avLst/>
              <a:gdLst/>
              <a:ahLst/>
              <a:cxnLst/>
              <a:rect l="l" t="t" r="r" b="b"/>
              <a:pathLst>
                <a:path w="768350" h="324485">
                  <a:moveTo>
                    <a:pt x="0" y="309357"/>
                  </a:moveTo>
                  <a:lnTo>
                    <a:pt x="39133" y="254522"/>
                  </a:lnTo>
                  <a:lnTo>
                    <a:pt x="73350" y="230388"/>
                  </a:lnTo>
                  <a:lnTo>
                    <a:pt x="116470" y="204344"/>
                  </a:lnTo>
                  <a:lnTo>
                    <a:pt x="167482" y="176999"/>
                  </a:lnTo>
                  <a:lnTo>
                    <a:pt x="225377" y="148964"/>
                  </a:lnTo>
                  <a:lnTo>
                    <a:pt x="289143" y="120850"/>
                  </a:lnTo>
                  <a:lnTo>
                    <a:pt x="357771" y="93267"/>
                  </a:lnTo>
                  <a:lnTo>
                    <a:pt x="427245" y="67901"/>
                  </a:lnTo>
                  <a:lnTo>
                    <a:pt x="493460" y="46180"/>
                  </a:lnTo>
                  <a:lnTo>
                    <a:pt x="555254" y="28325"/>
                  </a:lnTo>
                  <a:lnTo>
                    <a:pt x="611470" y="14558"/>
                  </a:lnTo>
                  <a:lnTo>
                    <a:pt x="660948" y="5101"/>
                  </a:lnTo>
                  <a:lnTo>
                    <a:pt x="702527" y="174"/>
                  </a:lnTo>
                  <a:lnTo>
                    <a:pt x="735050" y="0"/>
                  </a:lnTo>
                  <a:lnTo>
                    <a:pt x="757356" y="4799"/>
                  </a:lnTo>
                  <a:lnTo>
                    <a:pt x="768286" y="14794"/>
                  </a:lnTo>
                  <a:lnTo>
                    <a:pt x="766842" y="29533"/>
                  </a:lnTo>
                  <a:lnTo>
                    <a:pt x="753462" y="48014"/>
                  </a:lnTo>
                  <a:lnTo>
                    <a:pt x="694942" y="93757"/>
                  </a:lnTo>
                  <a:lnTo>
                    <a:pt x="651822" y="119800"/>
                  </a:lnTo>
                  <a:lnTo>
                    <a:pt x="600810" y="147143"/>
                  </a:lnTo>
                  <a:lnTo>
                    <a:pt x="542916" y="175175"/>
                  </a:lnTo>
                  <a:lnTo>
                    <a:pt x="479152" y="203288"/>
                  </a:lnTo>
                  <a:lnTo>
                    <a:pt x="410527" y="230871"/>
                  </a:lnTo>
                  <a:lnTo>
                    <a:pt x="341052" y="256238"/>
                  </a:lnTo>
                  <a:lnTo>
                    <a:pt x="274837" y="277960"/>
                  </a:lnTo>
                  <a:lnTo>
                    <a:pt x="213041" y="295816"/>
                  </a:lnTo>
                  <a:lnTo>
                    <a:pt x="156823" y="309585"/>
                  </a:lnTo>
                  <a:lnTo>
                    <a:pt x="107343" y="319045"/>
                  </a:lnTo>
                  <a:lnTo>
                    <a:pt x="65762" y="323974"/>
                  </a:lnTo>
                  <a:lnTo>
                    <a:pt x="33237" y="324150"/>
                  </a:lnTo>
                  <a:lnTo>
                    <a:pt x="10930" y="319352"/>
                  </a:lnTo>
                  <a:lnTo>
                    <a:pt x="0" y="309357"/>
                  </a:lnTo>
                  <a:close/>
                </a:path>
              </a:pathLst>
            </a:custGeom>
            <a:ln w="9525">
              <a:solidFill>
                <a:srgbClr val="F9F9F9"/>
              </a:solidFill>
            </a:ln>
          </p:spPr>
          <p:txBody>
            <a:bodyPr wrap="square" lIns="0" tIns="0" rIns="0" bIns="0" rtlCol="0"/>
            <a:lstStyle/>
            <a:p/>
          </p:txBody>
        </p:sp>
        <p:pic>
          <p:nvPicPr>
            <p:cNvPr id="180" name="object 180"/>
            <p:cNvPicPr/>
            <p:nvPr/>
          </p:nvPicPr>
          <p:blipFill>
            <a:blip r:embed="rId12" cstate="print"/>
            <a:stretch>
              <a:fillRect/>
            </a:stretch>
          </p:blipFill>
          <p:spPr>
            <a:xfrm>
              <a:off x="2793491" y="3667505"/>
              <a:ext cx="901445" cy="299465"/>
            </a:xfrm>
            <a:prstGeom prst="rect">
              <a:avLst/>
            </a:prstGeom>
          </p:spPr>
        </p:pic>
        <p:pic>
          <p:nvPicPr>
            <p:cNvPr id="181" name="object 181" descr=""/>
            <p:cNvPicPr/>
            <p:nvPr/>
          </p:nvPicPr>
          <p:blipFill>
            <a:blip r:embed="rId13" cstate="print"/>
            <a:stretch>
              <a:fillRect/>
            </a:stretch>
          </p:blipFill>
          <p:spPr>
            <a:xfrm>
              <a:off x="2839580" y="3690708"/>
              <a:ext cx="809421" cy="206825"/>
            </a:xfrm>
            <a:prstGeom prst="rect">
              <a:avLst/>
            </a:prstGeom>
          </p:spPr>
        </p:pic>
        <p:sp>
          <p:nvSpPr>
            <p:cNvPr id="182" name="object 182" descr=""/>
            <p:cNvSpPr/>
            <p:nvPr/>
          </p:nvSpPr>
          <p:spPr>
            <a:xfrm>
              <a:off x="2839582" y="3690994"/>
              <a:ext cx="809625" cy="207010"/>
            </a:xfrm>
            <a:custGeom>
              <a:avLst/>
              <a:gdLst/>
              <a:ahLst/>
              <a:cxnLst/>
              <a:rect l="l" t="t" r="r" b="b"/>
              <a:pathLst>
                <a:path w="809625" h="207010">
                  <a:moveTo>
                    <a:pt x="0" y="29305"/>
                  </a:moveTo>
                  <a:lnTo>
                    <a:pt x="8901" y="17468"/>
                  </a:lnTo>
                  <a:lnTo>
                    <a:pt x="29941" y="8641"/>
                  </a:lnTo>
                  <a:lnTo>
                    <a:pt x="61939" y="2819"/>
                  </a:lnTo>
                  <a:lnTo>
                    <a:pt x="103715" y="0"/>
                  </a:lnTo>
                  <a:lnTo>
                    <a:pt x="154089" y="177"/>
                  </a:lnTo>
                  <a:lnTo>
                    <a:pt x="211881" y="3348"/>
                  </a:lnTo>
                  <a:lnTo>
                    <a:pt x="275909" y="9508"/>
                  </a:lnTo>
                  <a:lnTo>
                    <a:pt x="344995" y="18653"/>
                  </a:lnTo>
                  <a:lnTo>
                    <a:pt x="417956" y="30778"/>
                  </a:lnTo>
                  <a:lnTo>
                    <a:pt x="490492" y="45243"/>
                  </a:lnTo>
                  <a:lnTo>
                    <a:pt x="558346" y="61125"/>
                  </a:lnTo>
                  <a:lnTo>
                    <a:pt x="620415" y="78011"/>
                  </a:lnTo>
                  <a:lnTo>
                    <a:pt x="675593" y="95486"/>
                  </a:lnTo>
                  <a:lnTo>
                    <a:pt x="722774" y="113138"/>
                  </a:lnTo>
                  <a:lnTo>
                    <a:pt x="760853" y="130552"/>
                  </a:lnTo>
                  <a:lnTo>
                    <a:pt x="805282" y="163014"/>
                  </a:lnTo>
                  <a:lnTo>
                    <a:pt x="809421" y="177234"/>
                  </a:lnTo>
                  <a:lnTo>
                    <a:pt x="800520" y="189072"/>
                  </a:lnTo>
                  <a:lnTo>
                    <a:pt x="779479" y="197899"/>
                  </a:lnTo>
                  <a:lnTo>
                    <a:pt x="747479" y="203720"/>
                  </a:lnTo>
                  <a:lnTo>
                    <a:pt x="705701" y="206540"/>
                  </a:lnTo>
                  <a:lnTo>
                    <a:pt x="655326" y="206362"/>
                  </a:lnTo>
                  <a:lnTo>
                    <a:pt x="597535" y="203191"/>
                  </a:lnTo>
                  <a:lnTo>
                    <a:pt x="533506" y="197032"/>
                  </a:lnTo>
                  <a:lnTo>
                    <a:pt x="464423" y="187887"/>
                  </a:lnTo>
                  <a:lnTo>
                    <a:pt x="391464" y="175761"/>
                  </a:lnTo>
                  <a:lnTo>
                    <a:pt x="318929" y="161296"/>
                  </a:lnTo>
                  <a:lnTo>
                    <a:pt x="251075" y="145414"/>
                  </a:lnTo>
                  <a:lnTo>
                    <a:pt x="189006" y="128529"/>
                  </a:lnTo>
                  <a:lnTo>
                    <a:pt x="133828" y="111053"/>
                  </a:lnTo>
                  <a:lnTo>
                    <a:pt x="86647" y="93402"/>
                  </a:lnTo>
                  <a:lnTo>
                    <a:pt x="48568" y="75987"/>
                  </a:lnTo>
                  <a:lnTo>
                    <a:pt x="4139" y="43525"/>
                  </a:lnTo>
                  <a:lnTo>
                    <a:pt x="0" y="29305"/>
                  </a:lnTo>
                  <a:close/>
                </a:path>
              </a:pathLst>
            </a:custGeom>
            <a:ln w="9524">
              <a:solidFill>
                <a:srgbClr val="F9F9F9"/>
              </a:solidFill>
            </a:ln>
          </p:spPr>
          <p:txBody>
            <a:bodyPr wrap="square" lIns="0" tIns="0" rIns="0" bIns="0" rtlCol="0"/>
            <a:lstStyle/>
            <a:p/>
          </p:txBody>
        </p:sp>
        <p:pic>
          <p:nvPicPr>
            <p:cNvPr id="183" name="object 183"/>
            <p:cNvPicPr/>
            <p:nvPr/>
          </p:nvPicPr>
          <p:blipFill>
            <a:blip r:embed="rId14" cstate="print"/>
            <a:stretch>
              <a:fillRect/>
            </a:stretch>
          </p:blipFill>
          <p:spPr>
            <a:xfrm>
              <a:off x="2804159" y="3553967"/>
              <a:ext cx="915161" cy="238505"/>
            </a:xfrm>
            <a:prstGeom prst="rect">
              <a:avLst/>
            </a:prstGeom>
          </p:spPr>
        </p:pic>
        <p:pic>
          <p:nvPicPr>
            <p:cNvPr id="184" name="object 184" descr=""/>
            <p:cNvPicPr/>
            <p:nvPr/>
          </p:nvPicPr>
          <p:blipFill>
            <a:blip r:embed="rId15" cstate="print"/>
            <a:stretch>
              <a:fillRect/>
            </a:stretch>
          </p:blipFill>
          <p:spPr>
            <a:xfrm>
              <a:off x="2850349" y="3576561"/>
              <a:ext cx="822832" cy="147383"/>
            </a:xfrm>
            <a:prstGeom prst="rect">
              <a:avLst/>
            </a:prstGeom>
          </p:spPr>
        </p:pic>
        <p:sp>
          <p:nvSpPr>
            <p:cNvPr id="185" name="object 185" descr=""/>
            <p:cNvSpPr/>
            <p:nvPr/>
          </p:nvSpPr>
          <p:spPr>
            <a:xfrm>
              <a:off x="2850352" y="3576562"/>
              <a:ext cx="822960" cy="147955"/>
            </a:xfrm>
            <a:custGeom>
              <a:avLst/>
              <a:gdLst/>
              <a:ahLst/>
              <a:cxnLst/>
              <a:rect l="l" t="t" r="r" b="b"/>
              <a:pathLst>
                <a:path w="822960" h="147954">
                  <a:moveTo>
                    <a:pt x="0" y="73685"/>
                  </a:moveTo>
                  <a:lnTo>
                    <a:pt x="56171" y="36496"/>
                  </a:lnTo>
                  <a:lnTo>
                    <a:pt x="96761" y="26212"/>
                  </a:lnTo>
                  <a:lnTo>
                    <a:pt x="146347" y="17331"/>
                  </a:lnTo>
                  <a:lnTo>
                    <a:pt x="203768" y="10061"/>
                  </a:lnTo>
                  <a:lnTo>
                    <a:pt x="267861" y="4610"/>
                  </a:lnTo>
                  <a:lnTo>
                    <a:pt x="337464" y="1187"/>
                  </a:lnTo>
                  <a:lnTo>
                    <a:pt x="411416" y="0"/>
                  </a:lnTo>
                  <a:lnTo>
                    <a:pt x="485367" y="1187"/>
                  </a:lnTo>
                  <a:lnTo>
                    <a:pt x="554970" y="4610"/>
                  </a:lnTo>
                  <a:lnTo>
                    <a:pt x="619061" y="10061"/>
                  </a:lnTo>
                  <a:lnTo>
                    <a:pt x="676480" y="17331"/>
                  </a:lnTo>
                  <a:lnTo>
                    <a:pt x="726064" y="26212"/>
                  </a:lnTo>
                  <a:lnTo>
                    <a:pt x="766652" y="36496"/>
                  </a:lnTo>
                  <a:lnTo>
                    <a:pt x="816192" y="60441"/>
                  </a:lnTo>
                  <a:lnTo>
                    <a:pt x="822820" y="73685"/>
                  </a:lnTo>
                  <a:lnTo>
                    <a:pt x="816192" y="86932"/>
                  </a:lnTo>
                  <a:lnTo>
                    <a:pt x="797082" y="99399"/>
                  </a:lnTo>
                  <a:lnTo>
                    <a:pt x="726064" y="121163"/>
                  </a:lnTo>
                  <a:lnTo>
                    <a:pt x="676480" y="130043"/>
                  </a:lnTo>
                  <a:lnTo>
                    <a:pt x="619061" y="137312"/>
                  </a:lnTo>
                  <a:lnTo>
                    <a:pt x="554970" y="142761"/>
                  </a:lnTo>
                  <a:lnTo>
                    <a:pt x="485367" y="146183"/>
                  </a:lnTo>
                  <a:lnTo>
                    <a:pt x="411416" y="147370"/>
                  </a:lnTo>
                  <a:lnTo>
                    <a:pt x="337464" y="146183"/>
                  </a:lnTo>
                  <a:lnTo>
                    <a:pt x="267861" y="142761"/>
                  </a:lnTo>
                  <a:lnTo>
                    <a:pt x="203768" y="137312"/>
                  </a:lnTo>
                  <a:lnTo>
                    <a:pt x="146347" y="130043"/>
                  </a:lnTo>
                  <a:lnTo>
                    <a:pt x="96761" y="121163"/>
                  </a:lnTo>
                  <a:lnTo>
                    <a:pt x="56171" y="110879"/>
                  </a:lnTo>
                  <a:lnTo>
                    <a:pt x="6628" y="86932"/>
                  </a:lnTo>
                  <a:lnTo>
                    <a:pt x="0" y="73685"/>
                  </a:lnTo>
                  <a:close/>
                </a:path>
              </a:pathLst>
            </a:custGeom>
            <a:ln w="9525">
              <a:solidFill>
                <a:srgbClr val="F9F9F9"/>
              </a:solidFill>
            </a:ln>
          </p:spPr>
          <p:txBody>
            <a:bodyPr wrap="square" lIns="0" tIns="0" rIns="0" bIns="0" rtlCol="0"/>
            <a:lstStyle/>
            <a:p/>
          </p:txBody>
        </p:sp>
      </p:grpSp>
      <p:grpSp>
        <p:nvGrpSpPr>
          <p:cNvPr id="186" name="object 186" descr=""/>
          <p:cNvGrpSpPr/>
          <p:nvPr/>
        </p:nvGrpSpPr>
        <p:grpSpPr>
          <a:xfrm>
            <a:off x="391998" y="3339296"/>
            <a:ext cx="1666875" cy="975360"/>
            <a:chOff x="391998" y="3339296"/>
            <a:chExt cx="1666875" cy="975360"/>
          </a:xfrm>
        </p:grpSpPr>
        <p:sp>
          <p:nvSpPr>
            <p:cNvPr id="187" name="object 187" descr=""/>
            <p:cNvSpPr/>
            <p:nvPr/>
          </p:nvSpPr>
          <p:spPr>
            <a:xfrm>
              <a:off x="1544091" y="3838918"/>
              <a:ext cx="89535" cy="426084"/>
            </a:xfrm>
            <a:custGeom>
              <a:avLst/>
              <a:gdLst/>
              <a:ahLst/>
              <a:cxnLst/>
              <a:rect l="l" t="t" r="r" b="b"/>
              <a:pathLst>
                <a:path w="89535" h="426085">
                  <a:moveTo>
                    <a:pt x="89306" y="0"/>
                  </a:moveTo>
                  <a:lnTo>
                    <a:pt x="0" y="0"/>
                  </a:lnTo>
                  <a:lnTo>
                    <a:pt x="0" y="425792"/>
                  </a:lnTo>
                  <a:lnTo>
                    <a:pt x="89306" y="425792"/>
                  </a:lnTo>
                  <a:lnTo>
                    <a:pt x="89306" y="0"/>
                  </a:lnTo>
                  <a:close/>
                </a:path>
              </a:pathLst>
            </a:custGeom>
            <a:solidFill>
              <a:srgbClr val="BFCCC0"/>
            </a:solidFill>
          </p:spPr>
          <p:txBody>
            <a:bodyPr wrap="square" lIns="0" tIns="0" rIns="0" bIns="0" rtlCol="0"/>
            <a:lstStyle/>
            <a:p/>
          </p:txBody>
        </p:sp>
        <p:sp>
          <p:nvSpPr>
            <p:cNvPr id="188" name="object 188" descr=""/>
            <p:cNvSpPr/>
            <p:nvPr/>
          </p:nvSpPr>
          <p:spPr>
            <a:xfrm>
              <a:off x="1543075" y="3838384"/>
              <a:ext cx="91440" cy="426720"/>
            </a:xfrm>
            <a:custGeom>
              <a:avLst/>
              <a:gdLst/>
              <a:ahLst/>
              <a:cxnLst/>
              <a:rect l="l" t="t" r="r" b="b"/>
              <a:pathLst>
                <a:path w="91439" h="426720">
                  <a:moveTo>
                    <a:pt x="91338" y="1854"/>
                  </a:moveTo>
                  <a:lnTo>
                    <a:pt x="88938" y="1854"/>
                  </a:lnTo>
                  <a:lnTo>
                    <a:pt x="88938" y="424954"/>
                  </a:lnTo>
                  <a:lnTo>
                    <a:pt x="91338" y="424954"/>
                  </a:lnTo>
                  <a:lnTo>
                    <a:pt x="91338" y="1854"/>
                  </a:lnTo>
                  <a:close/>
                </a:path>
                <a:path w="91439" h="426720">
                  <a:moveTo>
                    <a:pt x="91338" y="0"/>
                  </a:moveTo>
                  <a:lnTo>
                    <a:pt x="0" y="0"/>
                  </a:lnTo>
                  <a:lnTo>
                    <a:pt x="0" y="1270"/>
                  </a:lnTo>
                  <a:lnTo>
                    <a:pt x="0" y="425450"/>
                  </a:lnTo>
                  <a:lnTo>
                    <a:pt x="0" y="426720"/>
                  </a:lnTo>
                  <a:lnTo>
                    <a:pt x="91338" y="426720"/>
                  </a:lnTo>
                  <a:lnTo>
                    <a:pt x="91338" y="425450"/>
                  </a:lnTo>
                  <a:lnTo>
                    <a:pt x="2387" y="425450"/>
                  </a:lnTo>
                  <a:lnTo>
                    <a:pt x="2387" y="1270"/>
                  </a:lnTo>
                  <a:lnTo>
                    <a:pt x="91338" y="1270"/>
                  </a:lnTo>
                  <a:lnTo>
                    <a:pt x="91338" y="0"/>
                  </a:lnTo>
                  <a:close/>
                </a:path>
              </a:pathLst>
            </a:custGeom>
            <a:solidFill>
              <a:srgbClr val="879C82"/>
            </a:solidFill>
          </p:spPr>
          <p:txBody>
            <a:bodyPr wrap="square" lIns="0" tIns="0" rIns="0" bIns="0" rtlCol="0"/>
            <a:lstStyle/>
            <a:p/>
          </p:txBody>
        </p:sp>
        <p:sp>
          <p:nvSpPr>
            <p:cNvPr id="189" name="object 189" descr=""/>
            <p:cNvSpPr/>
            <p:nvPr/>
          </p:nvSpPr>
          <p:spPr>
            <a:xfrm>
              <a:off x="1544091" y="3797453"/>
              <a:ext cx="121285" cy="41910"/>
            </a:xfrm>
            <a:custGeom>
              <a:avLst/>
              <a:gdLst/>
              <a:ahLst/>
              <a:cxnLst/>
              <a:rect l="l" t="t" r="r" b="b"/>
              <a:pathLst>
                <a:path w="121285" h="41910">
                  <a:moveTo>
                    <a:pt x="120764" y="0"/>
                  </a:moveTo>
                  <a:lnTo>
                    <a:pt x="31445" y="0"/>
                  </a:lnTo>
                  <a:lnTo>
                    <a:pt x="0" y="41465"/>
                  </a:lnTo>
                  <a:lnTo>
                    <a:pt x="89077" y="41465"/>
                  </a:lnTo>
                  <a:lnTo>
                    <a:pt x="120764" y="0"/>
                  </a:lnTo>
                  <a:close/>
                </a:path>
              </a:pathLst>
            </a:custGeom>
            <a:solidFill>
              <a:srgbClr val="E0E6E2"/>
            </a:solidFill>
          </p:spPr>
          <p:txBody>
            <a:bodyPr wrap="square" lIns="0" tIns="0" rIns="0" bIns="0" rtlCol="0"/>
            <a:lstStyle/>
            <a:p/>
          </p:txBody>
        </p:sp>
        <p:sp>
          <p:nvSpPr>
            <p:cNvPr id="190" name="object 190" descr=""/>
            <p:cNvSpPr/>
            <p:nvPr/>
          </p:nvSpPr>
          <p:spPr>
            <a:xfrm>
              <a:off x="1543077" y="3796435"/>
              <a:ext cx="123825" cy="45085"/>
            </a:xfrm>
            <a:custGeom>
              <a:avLst/>
              <a:gdLst/>
              <a:ahLst/>
              <a:cxnLst/>
              <a:rect l="l" t="t" r="r" b="b"/>
              <a:pathLst>
                <a:path w="123825" h="45085">
                  <a:moveTo>
                    <a:pt x="123812" y="0"/>
                  </a:moveTo>
                  <a:lnTo>
                    <a:pt x="31902" y="0"/>
                  </a:lnTo>
                  <a:lnTo>
                    <a:pt x="0" y="42659"/>
                  </a:lnTo>
                  <a:lnTo>
                    <a:pt x="177" y="44500"/>
                  </a:lnTo>
                  <a:lnTo>
                    <a:pt x="90474" y="44500"/>
                  </a:lnTo>
                  <a:lnTo>
                    <a:pt x="92205" y="42189"/>
                  </a:lnTo>
                  <a:lnTo>
                    <a:pt x="3517" y="42189"/>
                  </a:lnTo>
                  <a:lnTo>
                    <a:pt x="33032" y="2387"/>
                  </a:lnTo>
                  <a:lnTo>
                    <a:pt x="121999" y="2387"/>
                  </a:lnTo>
                  <a:lnTo>
                    <a:pt x="123812" y="0"/>
                  </a:lnTo>
                  <a:close/>
                </a:path>
                <a:path w="123825" h="45085">
                  <a:moveTo>
                    <a:pt x="121999" y="2387"/>
                  </a:moveTo>
                  <a:lnTo>
                    <a:pt x="119037" y="2387"/>
                  </a:lnTo>
                  <a:lnTo>
                    <a:pt x="89281" y="42189"/>
                  </a:lnTo>
                  <a:lnTo>
                    <a:pt x="92205" y="42189"/>
                  </a:lnTo>
                  <a:lnTo>
                    <a:pt x="121999" y="2387"/>
                  </a:lnTo>
                  <a:close/>
                </a:path>
              </a:pathLst>
            </a:custGeom>
            <a:solidFill>
              <a:srgbClr val="879C82"/>
            </a:solidFill>
          </p:spPr>
          <p:txBody>
            <a:bodyPr wrap="square" lIns="0" tIns="0" rIns="0" bIns="0" rtlCol="0"/>
            <a:lstStyle/>
            <a:p/>
          </p:txBody>
        </p:sp>
        <p:sp>
          <p:nvSpPr>
            <p:cNvPr id="191" name="object 191" descr=""/>
            <p:cNvSpPr/>
            <p:nvPr/>
          </p:nvSpPr>
          <p:spPr>
            <a:xfrm>
              <a:off x="1633399" y="3797453"/>
              <a:ext cx="31750" cy="467359"/>
            </a:xfrm>
            <a:custGeom>
              <a:avLst/>
              <a:gdLst/>
              <a:ahLst/>
              <a:cxnLst/>
              <a:rect l="l" t="t" r="r" b="b"/>
              <a:pathLst>
                <a:path w="31750" h="467360">
                  <a:moveTo>
                    <a:pt x="31457" y="0"/>
                  </a:moveTo>
                  <a:lnTo>
                    <a:pt x="0" y="42240"/>
                  </a:lnTo>
                  <a:lnTo>
                    <a:pt x="0" y="467258"/>
                  </a:lnTo>
                  <a:lnTo>
                    <a:pt x="31457" y="425068"/>
                  </a:lnTo>
                  <a:lnTo>
                    <a:pt x="31457" y="0"/>
                  </a:lnTo>
                  <a:close/>
                </a:path>
              </a:pathLst>
            </a:custGeom>
            <a:ln w="4762">
              <a:solidFill>
                <a:srgbClr val="879C82"/>
              </a:solidFill>
            </a:ln>
          </p:spPr>
          <p:txBody>
            <a:bodyPr wrap="square" lIns="0" tIns="0" rIns="0" bIns="0" rtlCol="0"/>
            <a:lstStyle/>
            <a:p/>
          </p:txBody>
        </p:sp>
        <p:sp>
          <p:nvSpPr>
            <p:cNvPr id="192" name="object 192" descr=""/>
            <p:cNvSpPr/>
            <p:nvPr/>
          </p:nvSpPr>
          <p:spPr>
            <a:xfrm>
              <a:off x="1552206" y="3927919"/>
              <a:ext cx="27940" cy="43815"/>
            </a:xfrm>
            <a:custGeom>
              <a:avLst/>
              <a:gdLst/>
              <a:ahLst/>
              <a:cxnLst/>
              <a:rect l="l" t="t" r="r" b="b"/>
              <a:pathLst>
                <a:path w="27940"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93" name="object 193" descr=""/>
            <p:cNvSpPr/>
            <p:nvPr/>
          </p:nvSpPr>
          <p:spPr>
            <a:xfrm>
              <a:off x="1551190" y="3926903"/>
              <a:ext cx="28575" cy="45720"/>
            </a:xfrm>
            <a:custGeom>
              <a:avLst/>
              <a:gdLst/>
              <a:ahLst/>
              <a:cxnLst/>
              <a:rect l="l" t="t" r="r" b="b"/>
              <a:pathLst>
                <a:path w="28575" h="45720">
                  <a:moveTo>
                    <a:pt x="28409" y="0"/>
                  </a:moveTo>
                  <a:lnTo>
                    <a:pt x="0" y="0"/>
                  </a:lnTo>
                  <a:lnTo>
                    <a:pt x="0" y="45516"/>
                  </a:lnTo>
                  <a:lnTo>
                    <a:pt x="28409" y="45516"/>
                  </a:lnTo>
                  <a:lnTo>
                    <a:pt x="28409" y="44246"/>
                  </a:lnTo>
                  <a:lnTo>
                    <a:pt x="1257" y="44246"/>
                  </a:lnTo>
                  <a:lnTo>
                    <a:pt x="1257" y="1155"/>
                  </a:lnTo>
                  <a:lnTo>
                    <a:pt x="28409" y="1155"/>
                  </a:lnTo>
                  <a:lnTo>
                    <a:pt x="28409" y="0"/>
                  </a:lnTo>
                  <a:close/>
                </a:path>
                <a:path w="28575" h="45720">
                  <a:moveTo>
                    <a:pt x="28409" y="1155"/>
                  </a:moveTo>
                  <a:lnTo>
                    <a:pt x="27165" y="1155"/>
                  </a:lnTo>
                  <a:lnTo>
                    <a:pt x="27165" y="44246"/>
                  </a:lnTo>
                  <a:lnTo>
                    <a:pt x="28409" y="44246"/>
                  </a:lnTo>
                  <a:lnTo>
                    <a:pt x="28409" y="1155"/>
                  </a:lnTo>
                  <a:close/>
                </a:path>
              </a:pathLst>
            </a:custGeom>
            <a:solidFill>
              <a:srgbClr val="879C82"/>
            </a:solidFill>
          </p:spPr>
          <p:txBody>
            <a:bodyPr wrap="square" lIns="0" tIns="0" rIns="0" bIns="0" rtlCol="0"/>
            <a:lstStyle/>
            <a:p/>
          </p:txBody>
        </p:sp>
        <p:sp>
          <p:nvSpPr>
            <p:cNvPr id="194" name="object 194" descr=""/>
            <p:cNvSpPr/>
            <p:nvPr/>
          </p:nvSpPr>
          <p:spPr>
            <a:xfrm>
              <a:off x="1593824" y="3927919"/>
              <a:ext cx="27940" cy="43815"/>
            </a:xfrm>
            <a:custGeom>
              <a:avLst/>
              <a:gdLst/>
              <a:ahLst/>
              <a:cxnLst/>
              <a:rect l="l" t="t" r="r" b="b"/>
              <a:pathLst>
                <a:path w="27940"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95" name="object 195" descr=""/>
            <p:cNvSpPr/>
            <p:nvPr/>
          </p:nvSpPr>
          <p:spPr>
            <a:xfrm>
              <a:off x="1592808" y="3926903"/>
              <a:ext cx="28575" cy="45720"/>
            </a:xfrm>
            <a:custGeom>
              <a:avLst/>
              <a:gdLst/>
              <a:ahLst/>
              <a:cxnLst/>
              <a:rect l="l" t="t" r="r" b="b"/>
              <a:pathLst>
                <a:path w="28575" h="45720">
                  <a:moveTo>
                    <a:pt x="28409" y="0"/>
                  </a:moveTo>
                  <a:lnTo>
                    <a:pt x="0" y="0"/>
                  </a:lnTo>
                  <a:lnTo>
                    <a:pt x="0" y="45516"/>
                  </a:lnTo>
                  <a:lnTo>
                    <a:pt x="28409" y="45516"/>
                  </a:lnTo>
                  <a:lnTo>
                    <a:pt x="28409" y="44246"/>
                  </a:lnTo>
                  <a:lnTo>
                    <a:pt x="1257" y="44246"/>
                  </a:lnTo>
                  <a:lnTo>
                    <a:pt x="1257" y="1155"/>
                  </a:lnTo>
                  <a:lnTo>
                    <a:pt x="28409" y="1155"/>
                  </a:lnTo>
                  <a:lnTo>
                    <a:pt x="28409" y="0"/>
                  </a:lnTo>
                  <a:close/>
                </a:path>
                <a:path w="28575" h="45720">
                  <a:moveTo>
                    <a:pt x="28409" y="1155"/>
                  </a:moveTo>
                  <a:lnTo>
                    <a:pt x="27165" y="1155"/>
                  </a:lnTo>
                  <a:lnTo>
                    <a:pt x="27165" y="44246"/>
                  </a:lnTo>
                  <a:lnTo>
                    <a:pt x="28409" y="44246"/>
                  </a:lnTo>
                  <a:lnTo>
                    <a:pt x="28409" y="1155"/>
                  </a:lnTo>
                  <a:close/>
                </a:path>
              </a:pathLst>
            </a:custGeom>
            <a:solidFill>
              <a:srgbClr val="879C82"/>
            </a:solidFill>
          </p:spPr>
          <p:txBody>
            <a:bodyPr wrap="square" lIns="0" tIns="0" rIns="0" bIns="0" rtlCol="0"/>
            <a:lstStyle/>
            <a:p/>
          </p:txBody>
        </p:sp>
        <p:sp>
          <p:nvSpPr>
            <p:cNvPr id="196" name="object 196" descr=""/>
            <p:cNvSpPr/>
            <p:nvPr/>
          </p:nvSpPr>
          <p:spPr>
            <a:xfrm>
              <a:off x="1552206" y="4002760"/>
              <a:ext cx="27940" cy="43815"/>
            </a:xfrm>
            <a:custGeom>
              <a:avLst/>
              <a:gdLst/>
              <a:ahLst/>
              <a:cxnLst/>
              <a:rect l="l" t="t" r="r" b="b"/>
              <a:pathLst>
                <a:path w="27940"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97" name="object 197" descr=""/>
            <p:cNvSpPr/>
            <p:nvPr/>
          </p:nvSpPr>
          <p:spPr>
            <a:xfrm>
              <a:off x="1551190" y="4001744"/>
              <a:ext cx="28575" cy="45085"/>
            </a:xfrm>
            <a:custGeom>
              <a:avLst/>
              <a:gdLst/>
              <a:ahLst/>
              <a:cxnLst/>
              <a:rect l="l" t="t" r="r" b="b"/>
              <a:pathLst>
                <a:path w="28575" h="45085">
                  <a:moveTo>
                    <a:pt x="28409" y="0"/>
                  </a:moveTo>
                  <a:lnTo>
                    <a:pt x="0" y="0"/>
                  </a:lnTo>
                  <a:lnTo>
                    <a:pt x="0" y="44500"/>
                  </a:lnTo>
                  <a:lnTo>
                    <a:pt x="28409" y="44500"/>
                  </a:lnTo>
                  <a:lnTo>
                    <a:pt x="28409" y="43370"/>
                  </a:lnTo>
                  <a:lnTo>
                    <a:pt x="1257" y="43370"/>
                  </a:lnTo>
                  <a:lnTo>
                    <a:pt x="1257" y="1181"/>
                  </a:lnTo>
                  <a:lnTo>
                    <a:pt x="28409" y="1181"/>
                  </a:lnTo>
                  <a:lnTo>
                    <a:pt x="28409" y="0"/>
                  </a:lnTo>
                  <a:close/>
                </a:path>
                <a:path w="28575" h="45085">
                  <a:moveTo>
                    <a:pt x="28409" y="1181"/>
                  </a:moveTo>
                  <a:lnTo>
                    <a:pt x="27165" y="1181"/>
                  </a:lnTo>
                  <a:lnTo>
                    <a:pt x="27165" y="43370"/>
                  </a:lnTo>
                  <a:lnTo>
                    <a:pt x="28409" y="43370"/>
                  </a:lnTo>
                  <a:lnTo>
                    <a:pt x="28409" y="1181"/>
                  </a:lnTo>
                  <a:close/>
                </a:path>
              </a:pathLst>
            </a:custGeom>
            <a:solidFill>
              <a:srgbClr val="879C82"/>
            </a:solidFill>
          </p:spPr>
          <p:txBody>
            <a:bodyPr wrap="square" lIns="0" tIns="0" rIns="0" bIns="0" rtlCol="0"/>
            <a:lstStyle/>
            <a:p/>
          </p:txBody>
        </p:sp>
        <p:sp>
          <p:nvSpPr>
            <p:cNvPr id="198" name="object 198" descr=""/>
            <p:cNvSpPr/>
            <p:nvPr/>
          </p:nvSpPr>
          <p:spPr>
            <a:xfrm>
              <a:off x="1593824" y="4002760"/>
              <a:ext cx="27940" cy="43815"/>
            </a:xfrm>
            <a:custGeom>
              <a:avLst/>
              <a:gdLst/>
              <a:ahLst/>
              <a:cxnLst/>
              <a:rect l="l" t="t" r="r" b="b"/>
              <a:pathLst>
                <a:path w="27940"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199" name="object 199" descr=""/>
            <p:cNvSpPr/>
            <p:nvPr/>
          </p:nvSpPr>
          <p:spPr>
            <a:xfrm>
              <a:off x="1592808" y="4001744"/>
              <a:ext cx="28575" cy="45085"/>
            </a:xfrm>
            <a:custGeom>
              <a:avLst/>
              <a:gdLst/>
              <a:ahLst/>
              <a:cxnLst/>
              <a:rect l="l" t="t" r="r" b="b"/>
              <a:pathLst>
                <a:path w="28575" h="45085">
                  <a:moveTo>
                    <a:pt x="28409" y="0"/>
                  </a:moveTo>
                  <a:lnTo>
                    <a:pt x="0" y="0"/>
                  </a:lnTo>
                  <a:lnTo>
                    <a:pt x="0" y="44500"/>
                  </a:lnTo>
                  <a:lnTo>
                    <a:pt x="28409" y="44500"/>
                  </a:lnTo>
                  <a:lnTo>
                    <a:pt x="28409" y="43370"/>
                  </a:lnTo>
                  <a:lnTo>
                    <a:pt x="1257" y="43370"/>
                  </a:lnTo>
                  <a:lnTo>
                    <a:pt x="1257" y="1181"/>
                  </a:lnTo>
                  <a:lnTo>
                    <a:pt x="28409" y="1181"/>
                  </a:lnTo>
                  <a:lnTo>
                    <a:pt x="28409" y="0"/>
                  </a:lnTo>
                  <a:close/>
                </a:path>
                <a:path w="28575" h="45085">
                  <a:moveTo>
                    <a:pt x="28409" y="1181"/>
                  </a:moveTo>
                  <a:lnTo>
                    <a:pt x="27165" y="1181"/>
                  </a:lnTo>
                  <a:lnTo>
                    <a:pt x="27165" y="43370"/>
                  </a:lnTo>
                  <a:lnTo>
                    <a:pt x="28409" y="43370"/>
                  </a:lnTo>
                  <a:lnTo>
                    <a:pt x="28409" y="1181"/>
                  </a:lnTo>
                  <a:close/>
                </a:path>
              </a:pathLst>
            </a:custGeom>
            <a:solidFill>
              <a:srgbClr val="879C82"/>
            </a:solidFill>
          </p:spPr>
          <p:txBody>
            <a:bodyPr wrap="square" lIns="0" tIns="0" rIns="0" bIns="0" rtlCol="0"/>
            <a:lstStyle/>
            <a:p/>
          </p:txBody>
        </p:sp>
        <p:sp>
          <p:nvSpPr>
            <p:cNvPr id="200" name="object 200" descr=""/>
            <p:cNvSpPr/>
            <p:nvPr/>
          </p:nvSpPr>
          <p:spPr>
            <a:xfrm>
              <a:off x="1552206" y="4077601"/>
              <a:ext cx="27940" cy="43815"/>
            </a:xfrm>
            <a:custGeom>
              <a:avLst/>
              <a:gdLst/>
              <a:ahLst/>
              <a:cxnLst/>
              <a:rect l="l" t="t" r="r" b="b"/>
              <a:pathLst>
                <a:path w="27940"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01" name="object 201" descr=""/>
            <p:cNvSpPr/>
            <p:nvPr/>
          </p:nvSpPr>
          <p:spPr>
            <a:xfrm>
              <a:off x="1551190" y="4076585"/>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193"/>
                  </a:lnTo>
                  <a:lnTo>
                    <a:pt x="28409" y="1193"/>
                  </a:lnTo>
                  <a:lnTo>
                    <a:pt x="28409" y="0"/>
                  </a:lnTo>
                  <a:close/>
                </a:path>
                <a:path w="28575" h="45085">
                  <a:moveTo>
                    <a:pt x="28409" y="1193"/>
                  </a:moveTo>
                  <a:lnTo>
                    <a:pt x="27165" y="1193"/>
                  </a:lnTo>
                  <a:lnTo>
                    <a:pt x="27165" y="43319"/>
                  </a:lnTo>
                  <a:lnTo>
                    <a:pt x="28409" y="43319"/>
                  </a:lnTo>
                  <a:lnTo>
                    <a:pt x="28409" y="1193"/>
                  </a:lnTo>
                  <a:close/>
                </a:path>
              </a:pathLst>
            </a:custGeom>
            <a:solidFill>
              <a:srgbClr val="879C82"/>
            </a:solidFill>
          </p:spPr>
          <p:txBody>
            <a:bodyPr wrap="square" lIns="0" tIns="0" rIns="0" bIns="0" rtlCol="0"/>
            <a:lstStyle/>
            <a:p/>
          </p:txBody>
        </p:sp>
        <p:sp>
          <p:nvSpPr>
            <p:cNvPr id="202" name="object 202" descr=""/>
            <p:cNvSpPr/>
            <p:nvPr/>
          </p:nvSpPr>
          <p:spPr>
            <a:xfrm>
              <a:off x="1593824" y="4077601"/>
              <a:ext cx="27940" cy="43815"/>
            </a:xfrm>
            <a:custGeom>
              <a:avLst/>
              <a:gdLst/>
              <a:ahLst/>
              <a:cxnLst/>
              <a:rect l="l" t="t" r="r" b="b"/>
              <a:pathLst>
                <a:path w="27940"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03" name="object 203" descr=""/>
            <p:cNvSpPr/>
            <p:nvPr/>
          </p:nvSpPr>
          <p:spPr>
            <a:xfrm>
              <a:off x="1592808" y="4076585"/>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193"/>
                  </a:lnTo>
                  <a:lnTo>
                    <a:pt x="28409" y="1193"/>
                  </a:lnTo>
                  <a:lnTo>
                    <a:pt x="28409" y="0"/>
                  </a:lnTo>
                  <a:close/>
                </a:path>
                <a:path w="28575" h="45085">
                  <a:moveTo>
                    <a:pt x="28409" y="1193"/>
                  </a:moveTo>
                  <a:lnTo>
                    <a:pt x="27165" y="1193"/>
                  </a:lnTo>
                  <a:lnTo>
                    <a:pt x="27165" y="43319"/>
                  </a:lnTo>
                  <a:lnTo>
                    <a:pt x="28409" y="43319"/>
                  </a:lnTo>
                  <a:lnTo>
                    <a:pt x="28409" y="1193"/>
                  </a:lnTo>
                  <a:close/>
                </a:path>
              </a:pathLst>
            </a:custGeom>
            <a:solidFill>
              <a:srgbClr val="879C82"/>
            </a:solidFill>
          </p:spPr>
          <p:txBody>
            <a:bodyPr wrap="square" lIns="0" tIns="0" rIns="0" bIns="0" rtlCol="0"/>
            <a:lstStyle/>
            <a:p/>
          </p:txBody>
        </p:sp>
        <p:sp>
          <p:nvSpPr>
            <p:cNvPr id="204" name="object 204" descr=""/>
            <p:cNvSpPr/>
            <p:nvPr/>
          </p:nvSpPr>
          <p:spPr>
            <a:xfrm>
              <a:off x="1633397" y="3427285"/>
              <a:ext cx="174625" cy="837565"/>
            </a:xfrm>
            <a:custGeom>
              <a:avLst/>
              <a:gdLst/>
              <a:ahLst/>
              <a:cxnLst/>
              <a:rect l="l" t="t" r="r" b="b"/>
              <a:pathLst>
                <a:path w="174625" h="837564">
                  <a:moveTo>
                    <a:pt x="174548" y="0"/>
                  </a:moveTo>
                  <a:lnTo>
                    <a:pt x="0" y="0"/>
                  </a:lnTo>
                  <a:lnTo>
                    <a:pt x="0" y="837412"/>
                  </a:lnTo>
                  <a:lnTo>
                    <a:pt x="174548" y="837412"/>
                  </a:lnTo>
                  <a:lnTo>
                    <a:pt x="174548" y="0"/>
                  </a:lnTo>
                  <a:close/>
                </a:path>
              </a:pathLst>
            </a:custGeom>
            <a:solidFill>
              <a:srgbClr val="BFCCC0"/>
            </a:solidFill>
          </p:spPr>
          <p:txBody>
            <a:bodyPr wrap="square" lIns="0" tIns="0" rIns="0" bIns="0" rtlCol="0"/>
            <a:lstStyle/>
            <a:p/>
          </p:txBody>
        </p:sp>
        <p:sp>
          <p:nvSpPr>
            <p:cNvPr id="205" name="object 205" descr=""/>
            <p:cNvSpPr/>
            <p:nvPr/>
          </p:nvSpPr>
          <p:spPr>
            <a:xfrm>
              <a:off x="1632369" y="3426409"/>
              <a:ext cx="177165" cy="839469"/>
            </a:xfrm>
            <a:custGeom>
              <a:avLst/>
              <a:gdLst/>
              <a:ahLst/>
              <a:cxnLst/>
              <a:rect l="l" t="t" r="r" b="b"/>
              <a:pathLst>
                <a:path w="177164" h="839470">
                  <a:moveTo>
                    <a:pt x="176580" y="0"/>
                  </a:moveTo>
                  <a:lnTo>
                    <a:pt x="174193" y="0"/>
                  </a:lnTo>
                  <a:lnTo>
                    <a:pt x="174193" y="2540"/>
                  </a:lnTo>
                  <a:lnTo>
                    <a:pt x="174193" y="836930"/>
                  </a:lnTo>
                  <a:lnTo>
                    <a:pt x="2387" y="836930"/>
                  </a:lnTo>
                  <a:lnTo>
                    <a:pt x="2387" y="2540"/>
                  </a:lnTo>
                  <a:lnTo>
                    <a:pt x="174193" y="2540"/>
                  </a:lnTo>
                  <a:lnTo>
                    <a:pt x="174193" y="0"/>
                  </a:lnTo>
                  <a:lnTo>
                    <a:pt x="482" y="0"/>
                  </a:lnTo>
                  <a:lnTo>
                    <a:pt x="482" y="2540"/>
                  </a:lnTo>
                  <a:lnTo>
                    <a:pt x="241" y="2540"/>
                  </a:lnTo>
                  <a:lnTo>
                    <a:pt x="241" y="836930"/>
                  </a:lnTo>
                  <a:lnTo>
                    <a:pt x="0" y="836930"/>
                  </a:lnTo>
                  <a:lnTo>
                    <a:pt x="0" y="839470"/>
                  </a:lnTo>
                  <a:lnTo>
                    <a:pt x="176580" y="839470"/>
                  </a:lnTo>
                  <a:lnTo>
                    <a:pt x="176580" y="836942"/>
                  </a:lnTo>
                  <a:lnTo>
                    <a:pt x="176580" y="2540"/>
                  </a:lnTo>
                  <a:lnTo>
                    <a:pt x="176580" y="2260"/>
                  </a:lnTo>
                  <a:lnTo>
                    <a:pt x="176580" y="0"/>
                  </a:lnTo>
                  <a:close/>
                </a:path>
              </a:pathLst>
            </a:custGeom>
            <a:solidFill>
              <a:srgbClr val="879C82"/>
            </a:solidFill>
          </p:spPr>
          <p:txBody>
            <a:bodyPr wrap="square" lIns="0" tIns="0" rIns="0" bIns="0" rtlCol="0"/>
            <a:lstStyle/>
            <a:p/>
          </p:txBody>
        </p:sp>
        <p:pic>
          <p:nvPicPr>
            <p:cNvPr id="206" name="object 206" descr=""/>
            <p:cNvPicPr/>
            <p:nvPr/>
          </p:nvPicPr>
          <p:blipFill>
            <a:blip r:embed="rId16" cstate="print"/>
            <a:stretch>
              <a:fillRect/>
            </a:stretch>
          </p:blipFill>
          <p:spPr>
            <a:xfrm>
              <a:off x="1632380" y="3339306"/>
              <a:ext cx="242544" cy="89001"/>
            </a:xfrm>
            <a:prstGeom prst="rect">
              <a:avLst/>
            </a:prstGeom>
          </p:spPr>
        </p:pic>
        <p:sp>
          <p:nvSpPr>
            <p:cNvPr id="207" name="object 207" descr=""/>
            <p:cNvSpPr/>
            <p:nvPr/>
          </p:nvSpPr>
          <p:spPr>
            <a:xfrm>
              <a:off x="1807947" y="3340312"/>
              <a:ext cx="66040" cy="924560"/>
            </a:xfrm>
            <a:custGeom>
              <a:avLst/>
              <a:gdLst/>
              <a:ahLst/>
              <a:cxnLst/>
              <a:rect l="l" t="t" r="r" b="b"/>
              <a:pathLst>
                <a:path w="66039" h="924560">
                  <a:moveTo>
                    <a:pt x="65963" y="0"/>
                  </a:moveTo>
                  <a:lnTo>
                    <a:pt x="0" y="86969"/>
                  </a:lnTo>
                  <a:lnTo>
                    <a:pt x="0" y="924394"/>
                  </a:lnTo>
                  <a:lnTo>
                    <a:pt x="65722" y="845464"/>
                  </a:lnTo>
                  <a:lnTo>
                    <a:pt x="65963" y="0"/>
                  </a:lnTo>
                  <a:close/>
                </a:path>
              </a:pathLst>
            </a:custGeom>
            <a:solidFill>
              <a:srgbClr val="A5B8A6"/>
            </a:solidFill>
          </p:spPr>
          <p:txBody>
            <a:bodyPr wrap="square" lIns="0" tIns="0" rIns="0" bIns="0" rtlCol="0"/>
            <a:lstStyle/>
            <a:p/>
          </p:txBody>
        </p:sp>
        <p:sp>
          <p:nvSpPr>
            <p:cNvPr id="208" name="object 208" descr=""/>
            <p:cNvSpPr/>
            <p:nvPr/>
          </p:nvSpPr>
          <p:spPr>
            <a:xfrm>
              <a:off x="1806939" y="3339296"/>
              <a:ext cx="68580" cy="925830"/>
            </a:xfrm>
            <a:custGeom>
              <a:avLst/>
              <a:gdLst/>
              <a:ahLst/>
              <a:cxnLst/>
              <a:rect l="l" t="t" r="r" b="b"/>
              <a:pathLst>
                <a:path w="68580" h="925829">
                  <a:moveTo>
                    <a:pt x="65862" y="0"/>
                  </a:moveTo>
                  <a:lnTo>
                    <a:pt x="228" y="86868"/>
                  </a:lnTo>
                  <a:lnTo>
                    <a:pt x="0" y="87579"/>
                  </a:lnTo>
                  <a:lnTo>
                    <a:pt x="0" y="924636"/>
                  </a:lnTo>
                  <a:lnTo>
                    <a:pt x="2070" y="925410"/>
                  </a:lnTo>
                  <a:lnTo>
                    <a:pt x="5374" y="921423"/>
                  </a:lnTo>
                  <a:lnTo>
                    <a:pt x="2362" y="921423"/>
                  </a:lnTo>
                  <a:lnTo>
                    <a:pt x="2362" y="87934"/>
                  </a:lnTo>
                  <a:lnTo>
                    <a:pt x="65620" y="4229"/>
                  </a:lnTo>
                  <a:lnTo>
                    <a:pt x="67982" y="4229"/>
                  </a:lnTo>
                  <a:lnTo>
                    <a:pt x="67983" y="660"/>
                  </a:lnTo>
                  <a:lnTo>
                    <a:pt x="65862" y="0"/>
                  </a:lnTo>
                  <a:close/>
                </a:path>
                <a:path w="68580" h="925829">
                  <a:moveTo>
                    <a:pt x="67982" y="4229"/>
                  </a:moveTo>
                  <a:lnTo>
                    <a:pt x="65620" y="4229"/>
                  </a:lnTo>
                  <a:lnTo>
                    <a:pt x="65379" y="845324"/>
                  </a:lnTo>
                  <a:lnTo>
                    <a:pt x="2362" y="921423"/>
                  </a:lnTo>
                  <a:lnTo>
                    <a:pt x="5374" y="921423"/>
                  </a:lnTo>
                  <a:lnTo>
                    <a:pt x="67449" y="846518"/>
                  </a:lnTo>
                  <a:lnTo>
                    <a:pt x="67754" y="845743"/>
                  </a:lnTo>
                  <a:lnTo>
                    <a:pt x="67959" y="87934"/>
                  </a:lnTo>
                  <a:lnTo>
                    <a:pt x="67982" y="4229"/>
                  </a:lnTo>
                  <a:close/>
                </a:path>
              </a:pathLst>
            </a:custGeom>
            <a:solidFill>
              <a:srgbClr val="879C82"/>
            </a:solidFill>
          </p:spPr>
          <p:txBody>
            <a:bodyPr wrap="square" lIns="0" tIns="0" rIns="0" bIns="0" rtlCol="0"/>
            <a:lstStyle/>
            <a:p/>
          </p:txBody>
        </p:sp>
        <p:sp>
          <p:nvSpPr>
            <p:cNvPr id="209" name="object 209" descr=""/>
            <p:cNvSpPr/>
            <p:nvPr/>
          </p:nvSpPr>
          <p:spPr>
            <a:xfrm>
              <a:off x="1645577" y="348898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10" name="object 210" descr=""/>
            <p:cNvSpPr/>
            <p:nvPr/>
          </p:nvSpPr>
          <p:spPr>
            <a:xfrm>
              <a:off x="1644561" y="348898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93"/>
                  </a:lnTo>
                  <a:lnTo>
                    <a:pt x="28409" y="1193"/>
                  </a:lnTo>
                  <a:lnTo>
                    <a:pt x="28409" y="0"/>
                  </a:lnTo>
                  <a:close/>
                </a:path>
                <a:path w="28575" h="45085">
                  <a:moveTo>
                    <a:pt x="28409" y="1193"/>
                  </a:moveTo>
                  <a:lnTo>
                    <a:pt x="27216" y="1193"/>
                  </a:lnTo>
                  <a:lnTo>
                    <a:pt x="27216" y="43319"/>
                  </a:lnTo>
                  <a:lnTo>
                    <a:pt x="28409" y="43319"/>
                  </a:lnTo>
                  <a:lnTo>
                    <a:pt x="28409" y="1193"/>
                  </a:lnTo>
                  <a:close/>
                </a:path>
              </a:pathLst>
            </a:custGeom>
            <a:solidFill>
              <a:srgbClr val="879C82"/>
            </a:solidFill>
          </p:spPr>
          <p:txBody>
            <a:bodyPr wrap="square" lIns="0" tIns="0" rIns="0" bIns="0" rtlCol="0"/>
            <a:lstStyle/>
            <a:p/>
          </p:txBody>
        </p:sp>
        <p:sp>
          <p:nvSpPr>
            <p:cNvPr id="211" name="object 211" descr=""/>
            <p:cNvSpPr/>
            <p:nvPr/>
          </p:nvSpPr>
          <p:spPr>
            <a:xfrm>
              <a:off x="1687182" y="348898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12" name="object 212" descr=""/>
            <p:cNvSpPr/>
            <p:nvPr/>
          </p:nvSpPr>
          <p:spPr>
            <a:xfrm>
              <a:off x="1686166" y="348898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93"/>
                  </a:lnTo>
                  <a:lnTo>
                    <a:pt x="28409" y="1193"/>
                  </a:lnTo>
                  <a:lnTo>
                    <a:pt x="28409" y="0"/>
                  </a:lnTo>
                  <a:close/>
                </a:path>
                <a:path w="28575" h="45085">
                  <a:moveTo>
                    <a:pt x="28409" y="1193"/>
                  </a:moveTo>
                  <a:lnTo>
                    <a:pt x="27228" y="1193"/>
                  </a:lnTo>
                  <a:lnTo>
                    <a:pt x="27228" y="43319"/>
                  </a:lnTo>
                  <a:lnTo>
                    <a:pt x="28409" y="43319"/>
                  </a:lnTo>
                  <a:lnTo>
                    <a:pt x="28409" y="1193"/>
                  </a:lnTo>
                  <a:close/>
                </a:path>
              </a:pathLst>
            </a:custGeom>
            <a:solidFill>
              <a:srgbClr val="879C82"/>
            </a:solidFill>
          </p:spPr>
          <p:txBody>
            <a:bodyPr wrap="square" lIns="0" tIns="0" rIns="0" bIns="0" rtlCol="0"/>
            <a:lstStyle/>
            <a:p/>
          </p:txBody>
        </p:sp>
        <p:sp>
          <p:nvSpPr>
            <p:cNvPr id="213" name="object 213" descr=""/>
            <p:cNvSpPr/>
            <p:nvPr/>
          </p:nvSpPr>
          <p:spPr>
            <a:xfrm>
              <a:off x="1728787" y="348898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14" name="object 214" descr=""/>
            <p:cNvSpPr/>
            <p:nvPr/>
          </p:nvSpPr>
          <p:spPr>
            <a:xfrm>
              <a:off x="1727771" y="3488982"/>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193"/>
                  </a:lnTo>
                  <a:lnTo>
                    <a:pt x="28409" y="1193"/>
                  </a:lnTo>
                  <a:lnTo>
                    <a:pt x="28409" y="0"/>
                  </a:lnTo>
                  <a:close/>
                </a:path>
                <a:path w="28575" h="45085">
                  <a:moveTo>
                    <a:pt x="28409" y="1193"/>
                  </a:moveTo>
                  <a:lnTo>
                    <a:pt x="27228" y="1193"/>
                  </a:lnTo>
                  <a:lnTo>
                    <a:pt x="27228" y="43319"/>
                  </a:lnTo>
                  <a:lnTo>
                    <a:pt x="28409" y="43319"/>
                  </a:lnTo>
                  <a:lnTo>
                    <a:pt x="28409" y="1193"/>
                  </a:lnTo>
                  <a:close/>
                </a:path>
              </a:pathLst>
            </a:custGeom>
            <a:solidFill>
              <a:srgbClr val="879C82"/>
            </a:solidFill>
          </p:spPr>
          <p:txBody>
            <a:bodyPr wrap="square" lIns="0" tIns="0" rIns="0" bIns="0" rtlCol="0"/>
            <a:lstStyle/>
            <a:p/>
          </p:txBody>
        </p:sp>
        <p:sp>
          <p:nvSpPr>
            <p:cNvPr id="215" name="object 215" descr=""/>
            <p:cNvSpPr/>
            <p:nvPr/>
          </p:nvSpPr>
          <p:spPr>
            <a:xfrm>
              <a:off x="1770405" y="348898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16" name="object 216" descr=""/>
            <p:cNvSpPr/>
            <p:nvPr/>
          </p:nvSpPr>
          <p:spPr>
            <a:xfrm>
              <a:off x="1769389" y="3488982"/>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193"/>
                  </a:lnTo>
                  <a:lnTo>
                    <a:pt x="28409" y="1193"/>
                  </a:lnTo>
                  <a:lnTo>
                    <a:pt x="28409" y="0"/>
                  </a:lnTo>
                  <a:close/>
                </a:path>
                <a:path w="28575" h="45085">
                  <a:moveTo>
                    <a:pt x="28409" y="1193"/>
                  </a:moveTo>
                  <a:lnTo>
                    <a:pt x="27165" y="1193"/>
                  </a:lnTo>
                  <a:lnTo>
                    <a:pt x="27165" y="43319"/>
                  </a:lnTo>
                  <a:lnTo>
                    <a:pt x="28409" y="43319"/>
                  </a:lnTo>
                  <a:lnTo>
                    <a:pt x="28409" y="1193"/>
                  </a:lnTo>
                  <a:close/>
                </a:path>
              </a:pathLst>
            </a:custGeom>
            <a:solidFill>
              <a:srgbClr val="879C82"/>
            </a:solidFill>
          </p:spPr>
          <p:txBody>
            <a:bodyPr wrap="square" lIns="0" tIns="0" rIns="0" bIns="0" rtlCol="0"/>
            <a:lstStyle/>
            <a:p/>
          </p:txBody>
        </p:sp>
        <p:sp>
          <p:nvSpPr>
            <p:cNvPr id="217" name="object 217" descr=""/>
            <p:cNvSpPr/>
            <p:nvPr/>
          </p:nvSpPr>
          <p:spPr>
            <a:xfrm>
              <a:off x="1645577" y="356281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18" name="object 218" descr=""/>
            <p:cNvSpPr/>
            <p:nvPr/>
          </p:nvSpPr>
          <p:spPr>
            <a:xfrm>
              <a:off x="1644561" y="3561803"/>
              <a:ext cx="28575" cy="45720"/>
            </a:xfrm>
            <a:custGeom>
              <a:avLst/>
              <a:gdLst/>
              <a:ahLst/>
              <a:cxnLst/>
              <a:rect l="l" t="t" r="r" b="b"/>
              <a:pathLst>
                <a:path w="28575" h="45720">
                  <a:moveTo>
                    <a:pt x="28409" y="0"/>
                  </a:moveTo>
                  <a:lnTo>
                    <a:pt x="0" y="0"/>
                  </a:lnTo>
                  <a:lnTo>
                    <a:pt x="0" y="45516"/>
                  </a:lnTo>
                  <a:lnTo>
                    <a:pt x="28409" y="45516"/>
                  </a:lnTo>
                  <a:lnTo>
                    <a:pt x="28409" y="44234"/>
                  </a:lnTo>
                  <a:lnTo>
                    <a:pt x="1206" y="44234"/>
                  </a:lnTo>
                  <a:lnTo>
                    <a:pt x="1206" y="1206"/>
                  </a:lnTo>
                  <a:lnTo>
                    <a:pt x="28409" y="1206"/>
                  </a:lnTo>
                  <a:lnTo>
                    <a:pt x="28409" y="0"/>
                  </a:lnTo>
                  <a:close/>
                </a:path>
                <a:path w="28575" h="45720">
                  <a:moveTo>
                    <a:pt x="28409" y="1206"/>
                  </a:moveTo>
                  <a:lnTo>
                    <a:pt x="27216" y="1206"/>
                  </a:lnTo>
                  <a:lnTo>
                    <a:pt x="27216" y="44234"/>
                  </a:lnTo>
                  <a:lnTo>
                    <a:pt x="28409" y="44234"/>
                  </a:lnTo>
                  <a:lnTo>
                    <a:pt x="28409" y="1206"/>
                  </a:lnTo>
                  <a:close/>
                </a:path>
              </a:pathLst>
            </a:custGeom>
            <a:solidFill>
              <a:srgbClr val="879C82"/>
            </a:solidFill>
          </p:spPr>
          <p:txBody>
            <a:bodyPr wrap="square" lIns="0" tIns="0" rIns="0" bIns="0" rtlCol="0"/>
            <a:lstStyle/>
            <a:p/>
          </p:txBody>
        </p:sp>
        <p:sp>
          <p:nvSpPr>
            <p:cNvPr id="219" name="object 219" descr=""/>
            <p:cNvSpPr/>
            <p:nvPr/>
          </p:nvSpPr>
          <p:spPr>
            <a:xfrm>
              <a:off x="1687182" y="356281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20" name="object 220" descr=""/>
            <p:cNvSpPr/>
            <p:nvPr/>
          </p:nvSpPr>
          <p:spPr>
            <a:xfrm>
              <a:off x="1686166" y="3561803"/>
              <a:ext cx="28575" cy="45720"/>
            </a:xfrm>
            <a:custGeom>
              <a:avLst/>
              <a:gdLst/>
              <a:ahLst/>
              <a:cxnLst/>
              <a:rect l="l" t="t" r="r" b="b"/>
              <a:pathLst>
                <a:path w="28575" h="45720">
                  <a:moveTo>
                    <a:pt x="28409" y="0"/>
                  </a:moveTo>
                  <a:lnTo>
                    <a:pt x="0" y="0"/>
                  </a:lnTo>
                  <a:lnTo>
                    <a:pt x="0" y="45516"/>
                  </a:lnTo>
                  <a:lnTo>
                    <a:pt x="28409" y="45516"/>
                  </a:lnTo>
                  <a:lnTo>
                    <a:pt x="28409" y="44234"/>
                  </a:lnTo>
                  <a:lnTo>
                    <a:pt x="1206" y="44234"/>
                  </a:lnTo>
                  <a:lnTo>
                    <a:pt x="1206" y="1206"/>
                  </a:lnTo>
                  <a:lnTo>
                    <a:pt x="28409" y="1206"/>
                  </a:lnTo>
                  <a:lnTo>
                    <a:pt x="28409" y="0"/>
                  </a:lnTo>
                  <a:close/>
                </a:path>
                <a:path w="28575" h="45720">
                  <a:moveTo>
                    <a:pt x="28409" y="1206"/>
                  </a:moveTo>
                  <a:lnTo>
                    <a:pt x="27228" y="1206"/>
                  </a:lnTo>
                  <a:lnTo>
                    <a:pt x="27228" y="44234"/>
                  </a:lnTo>
                  <a:lnTo>
                    <a:pt x="28409" y="44234"/>
                  </a:lnTo>
                  <a:lnTo>
                    <a:pt x="28409" y="1206"/>
                  </a:lnTo>
                  <a:close/>
                </a:path>
              </a:pathLst>
            </a:custGeom>
            <a:solidFill>
              <a:srgbClr val="879C82"/>
            </a:solidFill>
          </p:spPr>
          <p:txBody>
            <a:bodyPr wrap="square" lIns="0" tIns="0" rIns="0" bIns="0" rtlCol="0"/>
            <a:lstStyle/>
            <a:p/>
          </p:txBody>
        </p:sp>
        <p:sp>
          <p:nvSpPr>
            <p:cNvPr id="221" name="object 221" descr=""/>
            <p:cNvSpPr/>
            <p:nvPr/>
          </p:nvSpPr>
          <p:spPr>
            <a:xfrm>
              <a:off x="1728787" y="356281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22" name="object 222" descr=""/>
            <p:cNvSpPr/>
            <p:nvPr/>
          </p:nvSpPr>
          <p:spPr>
            <a:xfrm>
              <a:off x="1727771" y="3561803"/>
              <a:ext cx="28575" cy="45720"/>
            </a:xfrm>
            <a:custGeom>
              <a:avLst/>
              <a:gdLst/>
              <a:ahLst/>
              <a:cxnLst/>
              <a:rect l="l" t="t" r="r" b="b"/>
              <a:pathLst>
                <a:path w="28575" h="45720">
                  <a:moveTo>
                    <a:pt x="28409" y="0"/>
                  </a:moveTo>
                  <a:lnTo>
                    <a:pt x="0" y="0"/>
                  </a:lnTo>
                  <a:lnTo>
                    <a:pt x="0" y="45516"/>
                  </a:lnTo>
                  <a:lnTo>
                    <a:pt x="28409" y="45516"/>
                  </a:lnTo>
                  <a:lnTo>
                    <a:pt x="28409" y="44234"/>
                  </a:lnTo>
                  <a:lnTo>
                    <a:pt x="1206" y="44234"/>
                  </a:lnTo>
                  <a:lnTo>
                    <a:pt x="1206" y="1206"/>
                  </a:lnTo>
                  <a:lnTo>
                    <a:pt x="28409" y="1206"/>
                  </a:lnTo>
                  <a:lnTo>
                    <a:pt x="28409" y="0"/>
                  </a:lnTo>
                  <a:close/>
                </a:path>
                <a:path w="28575" h="45720">
                  <a:moveTo>
                    <a:pt x="28409" y="1206"/>
                  </a:moveTo>
                  <a:lnTo>
                    <a:pt x="27228" y="1206"/>
                  </a:lnTo>
                  <a:lnTo>
                    <a:pt x="27228" y="44234"/>
                  </a:lnTo>
                  <a:lnTo>
                    <a:pt x="28409" y="44234"/>
                  </a:lnTo>
                  <a:lnTo>
                    <a:pt x="28409" y="1206"/>
                  </a:lnTo>
                  <a:close/>
                </a:path>
              </a:pathLst>
            </a:custGeom>
            <a:solidFill>
              <a:srgbClr val="879C82"/>
            </a:solidFill>
          </p:spPr>
          <p:txBody>
            <a:bodyPr wrap="square" lIns="0" tIns="0" rIns="0" bIns="0" rtlCol="0"/>
            <a:lstStyle/>
            <a:p/>
          </p:txBody>
        </p:sp>
        <p:sp>
          <p:nvSpPr>
            <p:cNvPr id="223" name="object 223" descr=""/>
            <p:cNvSpPr/>
            <p:nvPr/>
          </p:nvSpPr>
          <p:spPr>
            <a:xfrm>
              <a:off x="1770405" y="356281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24" name="object 224" descr=""/>
            <p:cNvSpPr/>
            <p:nvPr/>
          </p:nvSpPr>
          <p:spPr>
            <a:xfrm>
              <a:off x="1769389" y="3561803"/>
              <a:ext cx="28575" cy="45720"/>
            </a:xfrm>
            <a:custGeom>
              <a:avLst/>
              <a:gdLst/>
              <a:ahLst/>
              <a:cxnLst/>
              <a:rect l="l" t="t" r="r" b="b"/>
              <a:pathLst>
                <a:path w="28575" h="45720">
                  <a:moveTo>
                    <a:pt x="28409" y="0"/>
                  </a:moveTo>
                  <a:lnTo>
                    <a:pt x="0" y="0"/>
                  </a:lnTo>
                  <a:lnTo>
                    <a:pt x="0" y="45516"/>
                  </a:lnTo>
                  <a:lnTo>
                    <a:pt x="28409" y="45516"/>
                  </a:lnTo>
                  <a:lnTo>
                    <a:pt x="28409" y="44234"/>
                  </a:lnTo>
                  <a:lnTo>
                    <a:pt x="1257" y="44234"/>
                  </a:lnTo>
                  <a:lnTo>
                    <a:pt x="1257" y="1206"/>
                  </a:lnTo>
                  <a:lnTo>
                    <a:pt x="28409" y="1206"/>
                  </a:lnTo>
                  <a:lnTo>
                    <a:pt x="28409" y="0"/>
                  </a:lnTo>
                  <a:close/>
                </a:path>
                <a:path w="28575" h="45720">
                  <a:moveTo>
                    <a:pt x="28409" y="1206"/>
                  </a:moveTo>
                  <a:lnTo>
                    <a:pt x="27165" y="1206"/>
                  </a:lnTo>
                  <a:lnTo>
                    <a:pt x="27165" y="44234"/>
                  </a:lnTo>
                  <a:lnTo>
                    <a:pt x="28409" y="44234"/>
                  </a:lnTo>
                  <a:lnTo>
                    <a:pt x="28409" y="1206"/>
                  </a:lnTo>
                  <a:close/>
                </a:path>
              </a:pathLst>
            </a:custGeom>
            <a:solidFill>
              <a:srgbClr val="879C82"/>
            </a:solidFill>
          </p:spPr>
          <p:txBody>
            <a:bodyPr wrap="square" lIns="0" tIns="0" rIns="0" bIns="0" rtlCol="0"/>
            <a:lstStyle/>
            <a:p/>
          </p:txBody>
        </p:sp>
        <p:sp>
          <p:nvSpPr>
            <p:cNvPr id="225" name="object 225" descr=""/>
            <p:cNvSpPr/>
            <p:nvPr/>
          </p:nvSpPr>
          <p:spPr>
            <a:xfrm>
              <a:off x="1645577" y="363664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26" name="object 226" descr=""/>
            <p:cNvSpPr/>
            <p:nvPr/>
          </p:nvSpPr>
          <p:spPr>
            <a:xfrm>
              <a:off x="1644561" y="3635629"/>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257"/>
                  </a:lnTo>
                  <a:lnTo>
                    <a:pt x="28409" y="1257"/>
                  </a:lnTo>
                  <a:lnTo>
                    <a:pt x="28409" y="0"/>
                  </a:lnTo>
                  <a:close/>
                </a:path>
                <a:path w="28575" h="45085">
                  <a:moveTo>
                    <a:pt x="28409" y="1257"/>
                  </a:moveTo>
                  <a:lnTo>
                    <a:pt x="27216" y="1257"/>
                  </a:lnTo>
                  <a:lnTo>
                    <a:pt x="27216" y="43319"/>
                  </a:lnTo>
                  <a:lnTo>
                    <a:pt x="28409" y="43319"/>
                  </a:lnTo>
                  <a:lnTo>
                    <a:pt x="28409" y="1257"/>
                  </a:lnTo>
                  <a:close/>
                </a:path>
              </a:pathLst>
            </a:custGeom>
            <a:solidFill>
              <a:srgbClr val="879C82"/>
            </a:solidFill>
          </p:spPr>
          <p:txBody>
            <a:bodyPr wrap="square" lIns="0" tIns="0" rIns="0" bIns="0" rtlCol="0"/>
            <a:lstStyle/>
            <a:p/>
          </p:txBody>
        </p:sp>
        <p:sp>
          <p:nvSpPr>
            <p:cNvPr id="227" name="object 227" descr=""/>
            <p:cNvSpPr/>
            <p:nvPr/>
          </p:nvSpPr>
          <p:spPr>
            <a:xfrm>
              <a:off x="1687182" y="363664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28" name="object 228" descr=""/>
            <p:cNvSpPr/>
            <p:nvPr/>
          </p:nvSpPr>
          <p:spPr>
            <a:xfrm>
              <a:off x="1686166" y="3635629"/>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257"/>
                  </a:lnTo>
                  <a:lnTo>
                    <a:pt x="28409" y="1257"/>
                  </a:lnTo>
                  <a:lnTo>
                    <a:pt x="28409" y="0"/>
                  </a:lnTo>
                  <a:close/>
                </a:path>
                <a:path w="28575" h="45085">
                  <a:moveTo>
                    <a:pt x="28409" y="1257"/>
                  </a:moveTo>
                  <a:lnTo>
                    <a:pt x="27228" y="1257"/>
                  </a:lnTo>
                  <a:lnTo>
                    <a:pt x="27228" y="43319"/>
                  </a:lnTo>
                  <a:lnTo>
                    <a:pt x="28409" y="43319"/>
                  </a:lnTo>
                  <a:lnTo>
                    <a:pt x="28409" y="1257"/>
                  </a:lnTo>
                  <a:close/>
                </a:path>
              </a:pathLst>
            </a:custGeom>
            <a:solidFill>
              <a:srgbClr val="879C82"/>
            </a:solidFill>
          </p:spPr>
          <p:txBody>
            <a:bodyPr wrap="square" lIns="0" tIns="0" rIns="0" bIns="0" rtlCol="0"/>
            <a:lstStyle/>
            <a:p/>
          </p:txBody>
        </p:sp>
        <p:sp>
          <p:nvSpPr>
            <p:cNvPr id="229" name="object 229" descr=""/>
            <p:cNvSpPr/>
            <p:nvPr/>
          </p:nvSpPr>
          <p:spPr>
            <a:xfrm>
              <a:off x="1728787" y="363664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30" name="object 230" descr=""/>
            <p:cNvSpPr/>
            <p:nvPr/>
          </p:nvSpPr>
          <p:spPr>
            <a:xfrm>
              <a:off x="1727771" y="3635629"/>
              <a:ext cx="28575" cy="45085"/>
            </a:xfrm>
            <a:custGeom>
              <a:avLst/>
              <a:gdLst/>
              <a:ahLst/>
              <a:cxnLst/>
              <a:rect l="l" t="t" r="r" b="b"/>
              <a:pathLst>
                <a:path w="28575" h="45085">
                  <a:moveTo>
                    <a:pt x="28409" y="0"/>
                  </a:moveTo>
                  <a:lnTo>
                    <a:pt x="0" y="0"/>
                  </a:lnTo>
                  <a:lnTo>
                    <a:pt x="0" y="44500"/>
                  </a:lnTo>
                  <a:lnTo>
                    <a:pt x="28409" y="44500"/>
                  </a:lnTo>
                  <a:lnTo>
                    <a:pt x="28409" y="43319"/>
                  </a:lnTo>
                  <a:lnTo>
                    <a:pt x="1206" y="43319"/>
                  </a:lnTo>
                  <a:lnTo>
                    <a:pt x="1206" y="1257"/>
                  </a:lnTo>
                  <a:lnTo>
                    <a:pt x="28409" y="1257"/>
                  </a:lnTo>
                  <a:lnTo>
                    <a:pt x="28409" y="0"/>
                  </a:lnTo>
                  <a:close/>
                </a:path>
                <a:path w="28575" h="45085">
                  <a:moveTo>
                    <a:pt x="28409" y="1257"/>
                  </a:moveTo>
                  <a:lnTo>
                    <a:pt x="27228" y="1257"/>
                  </a:lnTo>
                  <a:lnTo>
                    <a:pt x="27228" y="43319"/>
                  </a:lnTo>
                  <a:lnTo>
                    <a:pt x="28409" y="43319"/>
                  </a:lnTo>
                  <a:lnTo>
                    <a:pt x="28409" y="1257"/>
                  </a:lnTo>
                  <a:close/>
                </a:path>
              </a:pathLst>
            </a:custGeom>
            <a:solidFill>
              <a:srgbClr val="879C82"/>
            </a:solidFill>
          </p:spPr>
          <p:txBody>
            <a:bodyPr wrap="square" lIns="0" tIns="0" rIns="0" bIns="0" rtlCol="0"/>
            <a:lstStyle/>
            <a:p/>
          </p:txBody>
        </p:sp>
        <p:sp>
          <p:nvSpPr>
            <p:cNvPr id="231" name="object 231" descr=""/>
            <p:cNvSpPr/>
            <p:nvPr/>
          </p:nvSpPr>
          <p:spPr>
            <a:xfrm>
              <a:off x="1770405" y="3636645"/>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32" name="object 232" descr=""/>
            <p:cNvSpPr/>
            <p:nvPr/>
          </p:nvSpPr>
          <p:spPr>
            <a:xfrm>
              <a:off x="1769389" y="3635629"/>
              <a:ext cx="28575" cy="45085"/>
            </a:xfrm>
            <a:custGeom>
              <a:avLst/>
              <a:gdLst/>
              <a:ahLst/>
              <a:cxnLst/>
              <a:rect l="l" t="t" r="r" b="b"/>
              <a:pathLst>
                <a:path w="28575" h="45085">
                  <a:moveTo>
                    <a:pt x="28409" y="0"/>
                  </a:moveTo>
                  <a:lnTo>
                    <a:pt x="0" y="0"/>
                  </a:lnTo>
                  <a:lnTo>
                    <a:pt x="0" y="44500"/>
                  </a:lnTo>
                  <a:lnTo>
                    <a:pt x="28409" y="44500"/>
                  </a:lnTo>
                  <a:lnTo>
                    <a:pt x="28409" y="43319"/>
                  </a:lnTo>
                  <a:lnTo>
                    <a:pt x="1257" y="43319"/>
                  </a:lnTo>
                  <a:lnTo>
                    <a:pt x="1257" y="1257"/>
                  </a:lnTo>
                  <a:lnTo>
                    <a:pt x="28409" y="1257"/>
                  </a:lnTo>
                  <a:lnTo>
                    <a:pt x="28409" y="0"/>
                  </a:lnTo>
                  <a:close/>
                </a:path>
                <a:path w="28575" h="45085">
                  <a:moveTo>
                    <a:pt x="28409" y="1257"/>
                  </a:moveTo>
                  <a:lnTo>
                    <a:pt x="27165" y="1257"/>
                  </a:lnTo>
                  <a:lnTo>
                    <a:pt x="27165" y="43319"/>
                  </a:lnTo>
                  <a:lnTo>
                    <a:pt x="28409" y="43319"/>
                  </a:lnTo>
                  <a:lnTo>
                    <a:pt x="28409" y="1257"/>
                  </a:lnTo>
                  <a:close/>
                </a:path>
              </a:pathLst>
            </a:custGeom>
            <a:solidFill>
              <a:srgbClr val="879C82"/>
            </a:solidFill>
          </p:spPr>
          <p:txBody>
            <a:bodyPr wrap="square" lIns="0" tIns="0" rIns="0" bIns="0" rtlCol="0"/>
            <a:lstStyle/>
            <a:p/>
          </p:txBody>
        </p:sp>
        <p:sp>
          <p:nvSpPr>
            <p:cNvPr id="233" name="object 233" descr=""/>
            <p:cNvSpPr/>
            <p:nvPr/>
          </p:nvSpPr>
          <p:spPr>
            <a:xfrm>
              <a:off x="1645577" y="371047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34" name="object 234" descr=""/>
            <p:cNvSpPr/>
            <p:nvPr/>
          </p:nvSpPr>
          <p:spPr>
            <a:xfrm>
              <a:off x="1644561" y="3709466"/>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244"/>
                  </a:lnTo>
                  <a:lnTo>
                    <a:pt x="28409" y="1244"/>
                  </a:lnTo>
                  <a:lnTo>
                    <a:pt x="28409" y="0"/>
                  </a:lnTo>
                  <a:close/>
                </a:path>
                <a:path w="28575" h="45085">
                  <a:moveTo>
                    <a:pt x="28409" y="1244"/>
                  </a:moveTo>
                  <a:lnTo>
                    <a:pt x="27216" y="1244"/>
                  </a:lnTo>
                  <a:lnTo>
                    <a:pt x="27216" y="43306"/>
                  </a:lnTo>
                  <a:lnTo>
                    <a:pt x="28409" y="43306"/>
                  </a:lnTo>
                  <a:lnTo>
                    <a:pt x="28409" y="1244"/>
                  </a:lnTo>
                  <a:close/>
                </a:path>
              </a:pathLst>
            </a:custGeom>
            <a:solidFill>
              <a:srgbClr val="879C82"/>
            </a:solidFill>
          </p:spPr>
          <p:txBody>
            <a:bodyPr wrap="square" lIns="0" tIns="0" rIns="0" bIns="0" rtlCol="0"/>
            <a:lstStyle/>
            <a:p/>
          </p:txBody>
        </p:sp>
        <p:sp>
          <p:nvSpPr>
            <p:cNvPr id="235" name="object 235" descr=""/>
            <p:cNvSpPr/>
            <p:nvPr/>
          </p:nvSpPr>
          <p:spPr>
            <a:xfrm>
              <a:off x="1687182" y="371047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36" name="object 236" descr=""/>
            <p:cNvSpPr/>
            <p:nvPr/>
          </p:nvSpPr>
          <p:spPr>
            <a:xfrm>
              <a:off x="1686166" y="3709466"/>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244"/>
                  </a:lnTo>
                  <a:lnTo>
                    <a:pt x="28409" y="1244"/>
                  </a:lnTo>
                  <a:lnTo>
                    <a:pt x="28409" y="0"/>
                  </a:lnTo>
                  <a:close/>
                </a:path>
                <a:path w="28575" h="45085">
                  <a:moveTo>
                    <a:pt x="28409" y="1244"/>
                  </a:moveTo>
                  <a:lnTo>
                    <a:pt x="27228" y="1244"/>
                  </a:lnTo>
                  <a:lnTo>
                    <a:pt x="27228" y="43306"/>
                  </a:lnTo>
                  <a:lnTo>
                    <a:pt x="28409" y="43306"/>
                  </a:lnTo>
                  <a:lnTo>
                    <a:pt x="28409" y="1244"/>
                  </a:lnTo>
                  <a:close/>
                </a:path>
              </a:pathLst>
            </a:custGeom>
            <a:solidFill>
              <a:srgbClr val="879C82"/>
            </a:solidFill>
          </p:spPr>
          <p:txBody>
            <a:bodyPr wrap="square" lIns="0" tIns="0" rIns="0" bIns="0" rtlCol="0"/>
            <a:lstStyle/>
            <a:p/>
          </p:txBody>
        </p:sp>
        <p:sp>
          <p:nvSpPr>
            <p:cNvPr id="237" name="object 237" descr=""/>
            <p:cNvSpPr/>
            <p:nvPr/>
          </p:nvSpPr>
          <p:spPr>
            <a:xfrm>
              <a:off x="1728787" y="371047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38" name="object 238" descr=""/>
            <p:cNvSpPr/>
            <p:nvPr/>
          </p:nvSpPr>
          <p:spPr>
            <a:xfrm>
              <a:off x="1727771" y="3709466"/>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244"/>
                  </a:lnTo>
                  <a:lnTo>
                    <a:pt x="28409" y="1244"/>
                  </a:lnTo>
                  <a:lnTo>
                    <a:pt x="28409" y="0"/>
                  </a:lnTo>
                  <a:close/>
                </a:path>
                <a:path w="28575" h="45085">
                  <a:moveTo>
                    <a:pt x="28409" y="1244"/>
                  </a:moveTo>
                  <a:lnTo>
                    <a:pt x="27228" y="1244"/>
                  </a:lnTo>
                  <a:lnTo>
                    <a:pt x="27228" y="43306"/>
                  </a:lnTo>
                  <a:lnTo>
                    <a:pt x="28409" y="43306"/>
                  </a:lnTo>
                  <a:lnTo>
                    <a:pt x="28409" y="1244"/>
                  </a:lnTo>
                  <a:close/>
                </a:path>
              </a:pathLst>
            </a:custGeom>
            <a:solidFill>
              <a:srgbClr val="879C82"/>
            </a:solidFill>
          </p:spPr>
          <p:txBody>
            <a:bodyPr wrap="square" lIns="0" tIns="0" rIns="0" bIns="0" rtlCol="0"/>
            <a:lstStyle/>
            <a:p/>
          </p:txBody>
        </p:sp>
        <p:sp>
          <p:nvSpPr>
            <p:cNvPr id="239" name="object 239" descr=""/>
            <p:cNvSpPr/>
            <p:nvPr/>
          </p:nvSpPr>
          <p:spPr>
            <a:xfrm>
              <a:off x="1770405" y="371047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40" name="object 240" descr=""/>
            <p:cNvSpPr/>
            <p:nvPr/>
          </p:nvSpPr>
          <p:spPr>
            <a:xfrm>
              <a:off x="1769389" y="3709466"/>
              <a:ext cx="28575" cy="45085"/>
            </a:xfrm>
            <a:custGeom>
              <a:avLst/>
              <a:gdLst/>
              <a:ahLst/>
              <a:cxnLst/>
              <a:rect l="l" t="t" r="r" b="b"/>
              <a:pathLst>
                <a:path w="28575" h="45085">
                  <a:moveTo>
                    <a:pt x="28409" y="0"/>
                  </a:moveTo>
                  <a:lnTo>
                    <a:pt x="0" y="0"/>
                  </a:lnTo>
                  <a:lnTo>
                    <a:pt x="0" y="44500"/>
                  </a:lnTo>
                  <a:lnTo>
                    <a:pt x="28409" y="44500"/>
                  </a:lnTo>
                  <a:lnTo>
                    <a:pt x="28409" y="43306"/>
                  </a:lnTo>
                  <a:lnTo>
                    <a:pt x="1257" y="43306"/>
                  </a:lnTo>
                  <a:lnTo>
                    <a:pt x="1257" y="1244"/>
                  </a:lnTo>
                  <a:lnTo>
                    <a:pt x="28409" y="1244"/>
                  </a:lnTo>
                  <a:lnTo>
                    <a:pt x="28409" y="0"/>
                  </a:lnTo>
                  <a:close/>
                </a:path>
                <a:path w="28575" h="45085">
                  <a:moveTo>
                    <a:pt x="28409" y="1244"/>
                  </a:moveTo>
                  <a:lnTo>
                    <a:pt x="27165" y="1244"/>
                  </a:lnTo>
                  <a:lnTo>
                    <a:pt x="27165" y="43306"/>
                  </a:lnTo>
                  <a:lnTo>
                    <a:pt x="28409" y="43306"/>
                  </a:lnTo>
                  <a:lnTo>
                    <a:pt x="28409" y="1244"/>
                  </a:lnTo>
                  <a:close/>
                </a:path>
              </a:pathLst>
            </a:custGeom>
            <a:solidFill>
              <a:srgbClr val="879C82"/>
            </a:solidFill>
          </p:spPr>
          <p:txBody>
            <a:bodyPr wrap="square" lIns="0" tIns="0" rIns="0" bIns="0" rtlCol="0"/>
            <a:lstStyle/>
            <a:p/>
          </p:txBody>
        </p:sp>
        <p:sp>
          <p:nvSpPr>
            <p:cNvPr id="241" name="object 241" descr=""/>
            <p:cNvSpPr/>
            <p:nvPr/>
          </p:nvSpPr>
          <p:spPr>
            <a:xfrm>
              <a:off x="1645577" y="378329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42" name="object 242" descr=""/>
            <p:cNvSpPr/>
            <p:nvPr/>
          </p:nvSpPr>
          <p:spPr>
            <a:xfrm>
              <a:off x="1644561" y="3783291"/>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17"/>
                  </a:lnTo>
                  <a:lnTo>
                    <a:pt x="28409" y="1117"/>
                  </a:lnTo>
                  <a:lnTo>
                    <a:pt x="28409" y="0"/>
                  </a:lnTo>
                  <a:close/>
                </a:path>
                <a:path w="28575" h="45085">
                  <a:moveTo>
                    <a:pt x="28409" y="1117"/>
                  </a:moveTo>
                  <a:lnTo>
                    <a:pt x="27216" y="1117"/>
                  </a:lnTo>
                  <a:lnTo>
                    <a:pt x="27216" y="43307"/>
                  </a:lnTo>
                  <a:lnTo>
                    <a:pt x="28409" y="43307"/>
                  </a:lnTo>
                  <a:lnTo>
                    <a:pt x="28409" y="1117"/>
                  </a:lnTo>
                  <a:close/>
                </a:path>
              </a:pathLst>
            </a:custGeom>
            <a:solidFill>
              <a:srgbClr val="879C82"/>
            </a:solidFill>
          </p:spPr>
          <p:txBody>
            <a:bodyPr wrap="square" lIns="0" tIns="0" rIns="0" bIns="0" rtlCol="0"/>
            <a:lstStyle/>
            <a:p/>
          </p:txBody>
        </p:sp>
        <p:sp>
          <p:nvSpPr>
            <p:cNvPr id="243" name="object 243" descr=""/>
            <p:cNvSpPr/>
            <p:nvPr/>
          </p:nvSpPr>
          <p:spPr>
            <a:xfrm>
              <a:off x="1687182" y="378329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44" name="object 244" descr=""/>
            <p:cNvSpPr/>
            <p:nvPr/>
          </p:nvSpPr>
          <p:spPr>
            <a:xfrm>
              <a:off x="1686166" y="3783291"/>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17"/>
                  </a:lnTo>
                  <a:lnTo>
                    <a:pt x="28409" y="1117"/>
                  </a:lnTo>
                  <a:lnTo>
                    <a:pt x="28409" y="0"/>
                  </a:lnTo>
                  <a:close/>
                </a:path>
                <a:path w="28575" h="45085">
                  <a:moveTo>
                    <a:pt x="28409" y="1117"/>
                  </a:moveTo>
                  <a:lnTo>
                    <a:pt x="27228" y="1117"/>
                  </a:lnTo>
                  <a:lnTo>
                    <a:pt x="27228" y="43307"/>
                  </a:lnTo>
                  <a:lnTo>
                    <a:pt x="28409" y="43307"/>
                  </a:lnTo>
                  <a:lnTo>
                    <a:pt x="28409" y="1117"/>
                  </a:lnTo>
                  <a:close/>
                </a:path>
              </a:pathLst>
            </a:custGeom>
            <a:solidFill>
              <a:srgbClr val="879C82"/>
            </a:solidFill>
          </p:spPr>
          <p:txBody>
            <a:bodyPr wrap="square" lIns="0" tIns="0" rIns="0" bIns="0" rtlCol="0"/>
            <a:lstStyle/>
            <a:p/>
          </p:txBody>
        </p:sp>
        <p:sp>
          <p:nvSpPr>
            <p:cNvPr id="245" name="object 245" descr=""/>
            <p:cNvSpPr/>
            <p:nvPr/>
          </p:nvSpPr>
          <p:spPr>
            <a:xfrm>
              <a:off x="1728787" y="378329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46" name="object 246" descr=""/>
            <p:cNvSpPr/>
            <p:nvPr/>
          </p:nvSpPr>
          <p:spPr>
            <a:xfrm>
              <a:off x="1727771" y="3783291"/>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17"/>
                  </a:lnTo>
                  <a:lnTo>
                    <a:pt x="28409" y="1117"/>
                  </a:lnTo>
                  <a:lnTo>
                    <a:pt x="28409" y="0"/>
                  </a:lnTo>
                  <a:close/>
                </a:path>
                <a:path w="28575" h="45085">
                  <a:moveTo>
                    <a:pt x="28409" y="1117"/>
                  </a:moveTo>
                  <a:lnTo>
                    <a:pt x="27228" y="1117"/>
                  </a:lnTo>
                  <a:lnTo>
                    <a:pt x="27228" y="43307"/>
                  </a:lnTo>
                  <a:lnTo>
                    <a:pt x="28409" y="43307"/>
                  </a:lnTo>
                  <a:lnTo>
                    <a:pt x="28409" y="1117"/>
                  </a:lnTo>
                  <a:close/>
                </a:path>
              </a:pathLst>
            </a:custGeom>
            <a:solidFill>
              <a:srgbClr val="879C82"/>
            </a:solidFill>
          </p:spPr>
          <p:txBody>
            <a:bodyPr wrap="square" lIns="0" tIns="0" rIns="0" bIns="0" rtlCol="0"/>
            <a:lstStyle/>
            <a:p/>
          </p:txBody>
        </p:sp>
        <p:sp>
          <p:nvSpPr>
            <p:cNvPr id="247" name="object 247" descr=""/>
            <p:cNvSpPr/>
            <p:nvPr/>
          </p:nvSpPr>
          <p:spPr>
            <a:xfrm>
              <a:off x="1770405" y="378329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48" name="object 248" descr=""/>
            <p:cNvSpPr/>
            <p:nvPr/>
          </p:nvSpPr>
          <p:spPr>
            <a:xfrm>
              <a:off x="1769389" y="3783291"/>
              <a:ext cx="28575" cy="45085"/>
            </a:xfrm>
            <a:custGeom>
              <a:avLst/>
              <a:gdLst/>
              <a:ahLst/>
              <a:cxnLst/>
              <a:rect l="l" t="t" r="r" b="b"/>
              <a:pathLst>
                <a:path w="28575" h="45085">
                  <a:moveTo>
                    <a:pt x="28409" y="0"/>
                  </a:moveTo>
                  <a:lnTo>
                    <a:pt x="0" y="0"/>
                  </a:lnTo>
                  <a:lnTo>
                    <a:pt x="0" y="44500"/>
                  </a:lnTo>
                  <a:lnTo>
                    <a:pt x="28409" y="44500"/>
                  </a:lnTo>
                  <a:lnTo>
                    <a:pt x="28409" y="43307"/>
                  </a:lnTo>
                  <a:lnTo>
                    <a:pt x="1257" y="43307"/>
                  </a:lnTo>
                  <a:lnTo>
                    <a:pt x="1257" y="1117"/>
                  </a:lnTo>
                  <a:lnTo>
                    <a:pt x="28409" y="1117"/>
                  </a:lnTo>
                  <a:lnTo>
                    <a:pt x="28409" y="0"/>
                  </a:lnTo>
                  <a:close/>
                </a:path>
                <a:path w="28575" h="45085">
                  <a:moveTo>
                    <a:pt x="28409" y="1117"/>
                  </a:moveTo>
                  <a:lnTo>
                    <a:pt x="27165" y="1117"/>
                  </a:lnTo>
                  <a:lnTo>
                    <a:pt x="27165" y="43307"/>
                  </a:lnTo>
                  <a:lnTo>
                    <a:pt x="28409" y="43307"/>
                  </a:lnTo>
                  <a:lnTo>
                    <a:pt x="28409" y="1117"/>
                  </a:lnTo>
                  <a:close/>
                </a:path>
              </a:pathLst>
            </a:custGeom>
            <a:solidFill>
              <a:srgbClr val="879C82"/>
            </a:solidFill>
          </p:spPr>
          <p:txBody>
            <a:bodyPr wrap="square" lIns="0" tIns="0" rIns="0" bIns="0" rtlCol="0"/>
            <a:lstStyle/>
            <a:p/>
          </p:txBody>
        </p:sp>
        <p:sp>
          <p:nvSpPr>
            <p:cNvPr id="249" name="object 249" descr=""/>
            <p:cNvSpPr/>
            <p:nvPr/>
          </p:nvSpPr>
          <p:spPr>
            <a:xfrm>
              <a:off x="1645577" y="385712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50" name="object 250" descr=""/>
            <p:cNvSpPr/>
            <p:nvPr/>
          </p:nvSpPr>
          <p:spPr>
            <a:xfrm>
              <a:off x="1644561" y="3857129"/>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181"/>
                  </a:lnTo>
                  <a:lnTo>
                    <a:pt x="28409" y="1181"/>
                  </a:lnTo>
                  <a:lnTo>
                    <a:pt x="28409" y="0"/>
                  </a:lnTo>
                  <a:close/>
                </a:path>
                <a:path w="28575" h="45085">
                  <a:moveTo>
                    <a:pt x="28409" y="1181"/>
                  </a:moveTo>
                  <a:lnTo>
                    <a:pt x="27216" y="1181"/>
                  </a:lnTo>
                  <a:lnTo>
                    <a:pt x="27216" y="43306"/>
                  </a:lnTo>
                  <a:lnTo>
                    <a:pt x="28409" y="43306"/>
                  </a:lnTo>
                  <a:lnTo>
                    <a:pt x="28409" y="1181"/>
                  </a:lnTo>
                  <a:close/>
                </a:path>
              </a:pathLst>
            </a:custGeom>
            <a:solidFill>
              <a:srgbClr val="879C82"/>
            </a:solidFill>
          </p:spPr>
          <p:txBody>
            <a:bodyPr wrap="square" lIns="0" tIns="0" rIns="0" bIns="0" rtlCol="0"/>
            <a:lstStyle/>
            <a:p/>
          </p:txBody>
        </p:sp>
        <p:sp>
          <p:nvSpPr>
            <p:cNvPr id="251" name="object 251" descr=""/>
            <p:cNvSpPr/>
            <p:nvPr/>
          </p:nvSpPr>
          <p:spPr>
            <a:xfrm>
              <a:off x="1687182" y="385712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52" name="object 252" descr=""/>
            <p:cNvSpPr/>
            <p:nvPr/>
          </p:nvSpPr>
          <p:spPr>
            <a:xfrm>
              <a:off x="1686166" y="3857129"/>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181"/>
                  </a:lnTo>
                  <a:lnTo>
                    <a:pt x="28409" y="1181"/>
                  </a:lnTo>
                  <a:lnTo>
                    <a:pt x="28409" y="0"/>
                  </a:lnTo>
                  <a:close/>
                </a:path>
                <a:path w="28575" h="45085">
                  <a:moveTo>
                    <a:pt x="28409" y="1181"/>
                  </a:moveTo>
                  <a:lnTo>
                    <a:pt x="27228" y="1181"/>
                  </a:lnTo>
                  <a:lnTo>
                    <a:pt x="27228" y="43306"/>
                  </a:lnTo>
                  <a:lnTo>
                    <a:pt x="28409" y="43306"/>
                  </a:lnTo>
                  <a:lnTo>
                    <a:pt x="28409" y="1181"/>
                  </a:lnTo>
                  <a:close/>
                </a:path>
              </a:pathLst>
            </a:custGeom>
            <a:solidFill>
              <a:srgbClr val="879C82"/>
            </a:solidFill>
          </p:spPr>
          <p:txBody>
            <a:bodyPr wrap="square" lIns="0" tIns="0" rIns="0" bIns="0" rtlCol="0"/>
            <a:lstStyle/>
            <a:p/>
          </p:txBody>
        </p:sp>
        <p:sp>
          <p:nvSpPr>
            <p:cNvPr id="253" name="object 253" descr=""/>
            <p:cNvSpPr/>
            <p:nvPr/>
          </p:nvSpPr>
          <p:spPr>
            <a:xfrm>
              <a:off x="1728787" y="385712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54" name="object 254" descr=""/>
            <p:cNvSpPr/>
            <p:nvPr/>
          </p:nvSpPr>
          <p:spPr>
            <a:xfrm>
              <a:off x="1727771" y="3857129"/>
              <a:ext cx="28575" cy="45085"/>
            </a:xfrm>
            <a:custGeom>
              <a:avLst/>
              <a:gdLst/>
              <a:ahLst/>
              <a:cxnLst/>
              <a:rect l="l" t="t" r="r" b="b"/>
              <a:pathLst>
                <a:path w="28575" h="45085">
                  <a:moveTo>
                    <a:pt x="28409" y="0"/>
                  </a:moveTo>
                  <a:lnTo>
                    <a:pt x="0" y="0"/>
                  </a:lnTo>
                  <a:lnTo>
                    <a:pt x="0" y="44500"/>
                  </a:lnTo>
                  <a:lnTo>
                    <a:pt x="28409" y="44500"/>
                  </a:lnTo>
                  <a:lnTo>
                    <a:pt x="28409" y="43306"/>
                  </a:lnTo>
                  <a:lnTo>
                    <a:pt x="1206" y="43306"/>
                  </a:lnTo>
                  <a:lnTo>
                    <a:pt x="1206" y="1181"/>
                  </a:lnTo>
                  <a:lnTo>
                    <a:pt x="28409" y="1181"/>
                  </a:lnTo>
                  <a:lnTo>
                    <a:pt x="28409" y="0"/>
                  </a:lnTo>
                  <a:close/>
                </a:path>
                <a:path w="28575" h="45085">
                  <a:moveTo>
                    <a:pt x="28409" y="1181"/>
                  </a:moveTo>
                  <a:lnTo>
                    <a:pt x="27228" y="1181"/>
                  </a:lnTo>
                  <a:lnTo>
                    <a:pt x="27228" y="43306"/>
                  </a:lnTo>
                  <a:lnTo>
                    <a:pt x="28409" y="43306"/>
                  </a:lnTo>
                  <a:lnTo>
                    <a:pt x="28409" y="1181"/>
                  </a:lnTo>
                  <a:close/>
                </a:path>
              </a:pathLst>
            </a:custGeom>
            <a:solidFill>
              <a:srgbClr val="879C82"/>
            </a:solidFill>
          </p:spPr>
          <p:txBody>
            <a:bodyPr wrap="square" lIns="0" tIns="0" rIns="0" bIns="0" rtlCol="0"/>
            <a:lstStyle/>
            <a:p/>
          </p:txBody>
        </p:sp>
        <p:sp>
          <p:nvSpPr>
            <p:cNvPr id="255" name="object 255" descr=""/>
            <p:cNvSpPr/>
            <p:nvPr/>
          </p:nvSpPr>
          <p:spPr>
            <a:xfrm>
              <a:off x="1770405" y="385712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56" name="object 256" descr=""/>
            <p:cNvSpPr/>
            <p:nvPr/>
          </p:nvSpPr>
          <p:spPr>
            <a:xfrm>
              <a:off x="1769389" y="3857129"/>
              <a:ext cx="28575" cy="45085"/>
            </a:xfrm>
            <a:custGeom>
              <a:avLst/>
              <a:gdLst/>
              <a:ahLst/>
              <a:cxnLst/>
              <a:rect l="l" t="t" r="r" b="b"/>
              <a:pathLst>
                <a:path w="28575" h="45085">
                  <a:moveTo>
                    <a:pt x="28409" y="0"/>
                  </a:moveTo>
                  <a:lnTo>
                    <a:pt x="0" y="0"/>
                  </a:lnTo>
                  <a:lnTo>
                    <a:pt x="0" y="44500"/>
                  </a:lnTo>
                  <a:lnTo>
                    <a:pt x="28409" y="44500"/>
                  </a:lnTo>
                  <a:lnTo>
                    <a:pt x="28409" y="43306"/>
                  </a:lnTo>
                  <a:lnTo>
                    <a:pt x="1257" y="43306"/>
                  </a:lnTo>
                  <a:lnTo>
                    <a:pt x="1257" y="1181"/>
                  </a:lnTo>
                  <a:lnTo>
                    <a:pt x="28409" y="1181"/>
                  </a:lnTo>
                  <a:lnTo>
                    <a:pt x="28409" y="0"/>
                  </a:lnTo>
                  <a:close/>
                </a:path>
                <a:path w="28575" h="45085">
                  <a:moveTo>
                    <a:pt x="28409" y="1181"/>
                  </a:moveTo>
                  <a:lnTo>
                    <a:pt x="27165" y="1181"/>
                  </a:lnTo>
                  <a:lnTo>
                    <a:pt x="27165" y="43306"/>
                  </a:lnTo>
                  <a:lnTo>
                    <a:pt x="28409" y="43306"/>
                  </a:lnTo>
                  <a:lnTo>
                    <a:pt x="28409" y="1181"/>
                  </a:lnTo>
                  <a:close/>
                </a:path>
              </a:pathLst>
            </a:custGeom>
            <a:solidFill>
              <a:srgbClr val="879C82"/>
            </a:solidFill>
          </p:spPr>
          <p:txBody>
            <a:bodyPr wrap="square" lIns="0" tIns="0" rIns="0" bIns="0" rtlCol="0"/>
            <a:lstStyle/>
            <a:p/>
          </p:txBody>
        </p:sp>
        <p:sp>
          <p:nvSpPr>
            <p:cNvPr id="257" name="object 257" descr=""/>
            <p:cNvSpPr/>
            <p:nvPr/>
          </p:nvSpPr>
          <p:spPr>
            <a:xfrm>
              <a:off x="1645577" y="3930954"/>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58" name="object 258" descr=""/>
            <p:cNvSpPr/>
            <p:nvPr/>
          </p:nvSpPr>
          <p:spPr>
            <a:xfrm>
              <a:off x="1644561" y="3929938"/>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16" y="1244"/>
                  </a:lnTo>
                  <a:lnTo>
                    <a:pt x="27216" y="43256"/>
                  </a:lnTo>
                  <a:lnTo>
                    <a:pt x="28409" y="43256"/>
                  </a:lnTo>
                  <a:lnTo>
                    <a:pt x="28409" y="1244"/>
                  </a:lnTo>
                  <a:close/>
                </a:path>
              </a:pathLst>
            </a:custGeom>
            <a:solidFill>
              <a:srgbClr val="879C82"/>
            </a:solidFill>
          </p:spPr>
          <p:txBody>
            <a:bodyPr wrap="square" lIns="0" tIns="0" rIns="0" bIns="0" rtlCol="0"/>
            <a:lstStyle/>
            <a:p/>
          </p:txBody>
        </p:sp>
        <p:sp>
          <p:nvSpPr>
            <p:cNvPr id="259" name="object 259" descr=""/>
            <p:cNvSpPr/>
            <p:nvPr/>
          </p:nvSpPr>
          <p:spPr>
            <a:xfrm>
              <a:off x="1687182" y="3930954"/>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60" name="object 260" descr=""/>
            <p:cNvSpPr/>
            <p:nvPr/>
          </p:nvSpPr>
          <p:spPr>
            <a:xfrm>
              <a:off x="1686166" y="3929938"/>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28" y="1244"/>
                  </a:lnTo>
                  <a:lnTo>
                    <a:pt x="27228" y="43256"/>
                  </a:lnTo>
                  <a:lnTo>
                    <a:pt x="28409" y="43256"/>
                  </a:lnTo>
                  <a:lnTo>
                    <a:pt x="28409" y="1244"/>
                  </a:lnTo>
                  <a:close/>
                </a:path>
              </a:pathLst>
            </a:custGeom>
            <a:solidFill>
              <a:srgbClr val="879C82"/>
            </a:solidFill>
          </p:spPr>
          <p:txBody>
            <a:bodyPr wrap="square" lIns="0" tIns="0" rIns="0" bIns="0" rtlCol="0"/>
            <a:lstStyle/>
            <a:p/>
          </p:txBody>
        </p:sp>
        <p:sp>
          <p:nvSpPr>
            <p:cNvPr id="261" name="object 261" descr=""/>
            <p:cNvSpPr/>
            <p:nvPr/>
          </p:nvSpPr>
          <p:spPr>
            <a:xfrm>
              <a:off x="1728787" y="3930954"/>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62" name="object 262" descr=""/>
            <p:cNvSpPr/>
            <p:nvPr/>
          </p:nvSpPr>
          <p:spPr>
            <a:xfrm>
              <a:off x="1727771" y="3929938"/>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28" y="1244"/>
                  </a:lnTo>
                  <a:lnTo>
                    <a:pt x="27228" y="43256"/>
                  </a:lnTo>
                  <a:lnTo>
                    <a:pt x="28409" y="43256"/>
                  </a:lnTo>
                  <a:lnTo>
                    <a:pt x="28409" y="1244"/>
                  </a:lnTo>
                  <a:close/>
                </a:path>
              </a:pathLst>
            </a:custGeom>
            <a:solidFill>
              <a:srgbClr val="879C82"/>
            </a:solidFill>
          </p:spPr>
          <p:txBody>
            <a:bodyPr wrap="square" lIns="0" tIns="0" rIns="0" bIns="0" rtlCol="0"/>
            <a:lstStyle/>
            <a:p/>
          </p:txBody>
        </p:sp>
        <p:sp>
          <p:nvSpPr>
            <p:cNvPr id="263" name="object 263" descr=""/>
            <p:cNvSpPr/>
            <p:nvPr/>
          </p:nvSpPr>
          <p:spPr>
            <a:xfrm>
              <a:off x="1770405" y="3930954"/>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64" name="object 264" descr=""/>
            <p:cNvSpPr/>
            <p:nvPr/>
          </p:nvSpPr>
          <p:spPr>
            <a:xfrm>
              <a:off x="1769389" y="3929938"/>
              <a:ext cx="28575" cy="45085"/>
            </a:xfrm>
            <a:custGeom>
              <a:avLst/>
              <a:gdLst/>
              <a:ahLst/>
              <a:cxnLst/>
              <a:rect l="l" t="t" r="r" b="b"/>
              <a:pathLst>
                <a:path w="28575" h="45085">
                  <a:moveTo>
                    <a:pt x="28409" y="0"/>
                  </a:moveTo>
                  <a:lnTo>
                    <a:pt x="0" y="0"/>
                  </a:lnTo>
                  <a:lnTo>
                    <a:pt x="0" y="44500"/>
                  </a:lnTo>
                  <a:lnTo>
                    <a:pt x="28409" y="44500"/>
                  </a:lnTo>
                  <a:lnTo>
                    <a:pt x="28409" y="43256"/>
                  </a:lnTo>
                  <a:lnTo>
                    <a:pt x="1257" y="43256"/>
                  </a:lnTo>
                  <a:lnTo>
                    <a:pt x="1257" y="1244"/>
                  </a:lnTo>
                  <a:lnTo>
                    <a:pt x="28409" y="1244"/>
                  </a:lnTo>
                  <a:lnTo>
                    <a:pt x="28409" y="0"/>
                  </a:lnTo>
                  <a:close/>
                </a:path>
                <a:path w="28575" h="45085">
                  <a:moveTo>
                    <a:pt x="28409" y="1244"/>
                  </a:moveTo>
                  <a:lnTo>
                    <a:pt x="27165" y="1244"/>
                  </a:lnTo>
                  <a:lnTo>
                    <a:pt x="27165" y="43256"/>
                  </a:lnTo>
                  <a:lnTo>
                    <a:pt x="28409" y="43256"/>
                  </a:lnTo>
                  <a:lnTo>
                    <a:pt x="28409" y="1244"/>
                  </a:lnTo>
                  <a:close/>
                </a:path>
              </a:pathLst>
            </a:custGeom>
            <a:solidFill>
              <a:srgbClr val="879C82"/>
            </a:solidFill>
          </p:spPr>
          <p:txBody>
            <a:bodyPr wrap="square" lIns="0" tIns="0" rIns="0" bIns="0" rtlCol="0"/>
            <a:lstStyle/>
            <a:p/>
          </p:txBody>
        </p:sp>
        <p:sp>
          <p:nvSpPr>
            <p:cNvPr id="265" name="object 265" descr=""/>
            <p:cNvSpPr/>
            <p:nvPr/>
          </p:nvSpPr>
          <p:spPr>
            <a:xfrm>
              <a:off x="1645577" y="400477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66" name="object 266" descr=""/>
            <p:cNvSpPr/>
            <p:nvPr/>
          </p:nvSpPr>
          <p:spPr>
            <a:xfrm>
              <a:off x="1644561" y="4003776"/>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81"/>
                  </a:lnTo>
                  <a:lnTo>
                    <a:pt x="28409" y="1181"/>
                  </a:lnTo>
                  <a:lnTo>
                    <a:pt x="28409" y="0"/>
                  </a:lnTo>
                  <a:close/>
                </a:path>
                <a:path w="28575" h="45085">
                  <a:moveTo>
                    <a:pt x="28409" y="1181"/>
                  </a:moveTo>
                  <a:lnTo>
                    <a:pt x="27216" y="1181"/>
                  </a:lnTo>
                  <a:lnTo>
                    <a:pt x="27216" y="43307"/>
                  </a:lnTo>
                  <a:lnTo>
                    <a:pt x="28409" y="43307"/>
                  </a:lnTo>
                  <a:lnTo>
                    <a:pt x="28409" y="1181"/>
                  </a:lnTo>
                  <a:close/>
                </a:path>
              </a:pathLst>
            </a:custGeom>
            <a:solidFill>
              <a:srgbClr val="879C82"/>
            </a:solidFill>
          </p:spPr>
          <p:txBody>
            <a:bodyPr wrap="square" lIns="0" tIns="0" rIns="0" bIns="0" rtlCol="0"/>
            <a:lstStyle/>
            <a:p/>
          </p:txBody>
        </p:sp>
        <p:sp>
          <p:nvSpPr>
            <p:cNvPr id="267" name="object 267" descr=""/>
            <p:cNvSpPr/>
            <p:nvPr/>
          </p:nvSpPr>
          <p:spPr>
            <a:xfrm>
              <a:off x="1687182" y="400477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68" name="object 268" descr=""/>
            <p:cNvSpPr/>
            <p:nvPr/>
          </p:nvSpPr>
          <p:spPr>
            <a:xfrm>
              <a:off x="1686166" y="4003776"/>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81"/>
                  </a:lnTo>
                  <a:lnTo>
                    <a:pt x="28409" y="1181"/>
                  </a:lnTo>
                  <a:lnTo>
                    <a:pt x="28409" y="0"/>
                  </a:lnTo>
                  <a:close/>
                </a:path>
                <a:path w="28575" h="45085">
                  <a:moveTo>
                    <a:pt x="28409" y="1181"/>
                  </a:moveTo>
                  <a:lnTo>
                    <a:pt x="27228" y="1181"/>
                  </a:lnTo>
                  <a:lnTo>
                    <a:pt x="27228" y="43307"/>
                  </a:lnTo>
                  <a:lnTo>
                    <a:pt x="28409" y="43307"/>
                  </a:lnTo>
                  <a:lnTo>
                    <a:pt x="28409" y="1181"/>
                  </a:lnTo>
                  <a:close/>
                </a:path>
              </a:pathLst>
            </a:custGeom>
            <a:solidFill>
              <a:srgbClr val="879C82"/>
            </a:solidFill>
          </p:spPr>
          <p:txBody>
            <a:bodyPr wrap="square" lIns="0" tIns="0" rIns="0" bIns="0" rtlCol="0"/>
            <a:lstStyle/>
            <a:p/>
          </p:txBody>
        </p:sp>
        <p:sp>
          <p:nvSpPr>
            <p:cNvPr id="269" name="object 269" descr=""/>
            <p:cNvSpPr/>
            <p:nvPr/>
          </p:nvSpPr>
          <p:spPr>
            <a:xfrm>
              <a:off x="1728787" y="400477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70" name="object 270" descr=""/>
            <p:cNvSpPr/>
            <p:nvPr/>
          </p:nvSpPr>
          <p:spPr>
            <a:xfrm>
              <a:off x="1727771" y="4003776"/>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181"/>
                  </a:lnTo>
                  <a:lnTo>
                    <a:pt x="28409" y="1181"/>
                  </a:lnTo>
                  <a:lnTo>
                    <a:pt x="28409" y="0"/>
                  </a:lnTo>
                  <a:close/>
                </a:path>
                <a:path w="28575" h="45085">
                  <a:moveTo>
                    <a:pt x="28409" y="1181"/>
                  </a:moveTo>
                  <a:lnTo>
                    <a:pt x="27228" y="1181"/>
                  </a:lnTo>
                  <a:lnTo>
                    <a:pt x="27228" y="43307"/>
                  </a:lnTo>
                  <a:lnTo>
                    <a:pt x="28409" y="43307"/>
                  </a:lnTo>
                  <a:lnTo>
                    <a:pt x="28409" y="1181"/>
                  </a:lnTo>
                  <a:close/>
                </a:path>
              </a:pathLst>
            </a:custGeom>
            <a:solidFill>
              <a:srgbClr val="879C82"/>
            </a:solidFill>
          </p:spPr>
          <p:txBody>
            <a:bodyPr wrap="square" lIns="0" tIns="0" rIns="0" bIns="0" rtlCol="0"/>
            <a:lstStyle/>
            <a:p/>
          </p:txBody>
        </p:sp>
        <p:sp>
          <p:nvSpPr>
            <p:cNvPr id="271" name="object 271" descr=""/>
            <p:cNvSpPr/>
            <p:nvPr/>
          </p:nvSpPr>
          <p:spPr>
            <a:xfrm>
              <a:off x="1770405" y="4004779"/>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FFFFFF"/>
            </a:solidFill>
          </p:spPr>
          <p:txBody>
            <a:bodyPr wrap="square" lIns="0" tIns="0" rIns="0" bIns="0" rtlCol="0"/>
            <a:lstStyle/>
            <a:p/>
          </p:txBody>
        </p:sp>
        <p:sp>
          <p:nvSpPr>
            <p:cNvPr id="272" name="object 272" descr=""/>
            <p:cNvSpPr/>
            <p:nvPr/>
          </p:nvSpPr>
          <p:spPr>
            <a:xfrm>
              <a:off x="1769389" y="4003776"/>
              <a:ext cx="28575" cy="45085"/>
            </a:xfrm>
            <a:custGeom>
              <a:avLst/>
              <a:gdLst/>
              <a:ahLst/>
              <a:cxnLst/>
              <a:rect l="l" t="t" r="r" b="b"/>
              <a:pathLst>
                <a:path w="28575" h="45085">
                  <a:moveTo>
                    <a:pt x="28409" y="0"/>
                  </a:moveTo>
                  <a:lnTo>
                    <a:pt x="0" y="0"/>
                  </a:lnTo>
                  <a:lnTo>
                    <a:pt x="0" y="44500"/>
                  </a:lnTo>
                  <a:lnTo>
                    <a:pt x="28409" y="44500"/>
                  </a:lnTo>
                  <a:lnTo>
                    <a:pt x="28409" y="43307"/>
                  </a:lnTo>
                  <a:lnTo>
                    <a:pt x="1257" y="43307"/>
                  </a:lnTo>
                  <a:lnTo>
                    <a:pt x="1257" y="1181"/>
                  </a:lnTo>
                  <a:lnTo>
                    <a:pt x="28409" y="1181"/>
                  </a:lnTo>
                  <a:lnTo>
                    <a:pt x="28409" y="0"/>
                  </a:lnTo>
                  <a:close/>
                </a:path>
                <a:path w="28575" h="45085">
                  <a:moveTo>
                    <a:pt x="28409" y="1181"/>
                  </a:moveTo>
                  <a:lnTo>
                    <a:pt x="27165" y="1181"/>
                  </a:lnTo>
                  <a:lnTo>
                    <a:pt x="27165" y="43307"/>
                  </a:lnTo>
                  <a:lnTo>
                    <a:pt x="28409" y="43307"/>
                  </a:lnTo>
                  <a:lnTo>
                    <a:pt x="28409" y="1181"/>
                  </a:lnTo>
                  <a:close/>
                </a:path>
              </a:pathLst>
            </a:custGeom>
            <a:solidFill>
              <a:srgbClr val="879C82"/>
            </a:solidFill>
          </p:spPr>
          <p:txBody>
            <a:bodyPr wrap="square" lIns="0" tIns="0" rIns="0" bIns="0" rtlCol="0"/>
            <a:lstStyle/>
            <a:p/>
          </p:txBody>
        </p:sp>
        <p:sp>
          <p:nvSpPr>
            <p:cNvPr id="273" name="object 273" descr=""/>
            <p:cNvSpPr/>
            <p:nvPr/>
          </p:nvSpPr>
          <p:spPr>
            <a:xfrm>
              <a:off x="1807946" y="3551694"/>
              <a:ext cx="111760" cy="714375"/>
            </a:xfrm>
            <a:custGeom>
              <a:avLst/>
              <a:gdLst/>
              <a:ahLst/>
              <a:cxnLst/>
              <a:rect l="l" t="t" r="r" b="b"/>
              <a:pathLst>
                <a:path w="111760" h="714375">
                  <a:moveTo>
                    <a:pt x="111632" y="0"/>
                  </a:moveTo>
                  <a:lnTo>
                    <a:pt x="0" y="0"/>
                  </a:lnTo>
                  <a:lnTo>
                    <a:pt x="0" y="714032"/>
                  </a:lnTo>
                  <a:lnTo>
                    <a:pt x="111632" y="714032"/>
                  </a:lnTo>
                  <a:lnTo>
                    <a:pt x="111632" y="0"/>
                  </a:lnTo>
                  <a:close/>
                </a:path>
              </a:pathLst>
            </a:custGeom>
            <a:solidFill>
              <a:srgbClr val="BFCCC0"/>
            </a:solidFill>
          </p:spPr>
          <p:txBody>
            <a:bodyPr wrap="square" lIns="0" tIns="0" rIns="0" bIns="0" rtlCol="0"/>
            <a:lstStyle/>
            <a:p/>
          </p:txBody>
        </p:sp>
        <p:sp>
          <p:nvSpPr>
            <p:cNvPr id="274" name="object 274" descr=""/>
            <p:cNvSpPr/>
            <p:nvPr/>
          </p:nvSpPr>
          <p:spPr>
            <a:xfrm>
              <a:off x="1806930" y="3550310"/>
              <a:ext cx="114935" cy="716280"/>
            </a:xfrm>
            <a:custGeom>
              <a:avLst/>
              <a:gdLst/>
              <a:ahLst/>
              <a:cxnLst/>
              <a:rect l="l" t="t" r="r" b="b"/>
              <a:pathLst>
                <a:path w="114935" h="716279">
                  <a:moveTo>
                    <a:pt x="114681" y="0"/>
                  </a:moveTo>
                  <a:lnTo>
                    <a:pt x="81915" y="0"/>
                  </a:lnTo>
                  <a:lnTo>
                    <a:pt x="81915" y="1270"/>
                  </a:lnTo>
                  <a:lnTo>
                    <a:pt x="0" y="1270"/>
                  </a:lnTo>
                  <a:lnTo>
                    <a:pt x="0" y="2540"/>
                  </a:lnTo>
                  <a:lnTo>
                    <a:pt x="0" y="713740"/>
                  </a:lnTo>
                  <a:lnTo>
                    <a:pt x="0" y="716280"/>
                  </a:lnTo>
                  <a:lnTo>
                    <a:pt x="114681" y="716280"/>
                  </a:lnTo>
                  <a:lnTo>
                    <a:pt x="114681" y="714057"/>
                  </a:lnTo>
                  <a:lnTo>
                    <a:pt x="114681" y="713740"/>
                  </a:lnTo>
                  <a:lnTo>
                    <a:pt x="114681" y="2755"/>
                  </a:lnTo>
                  <a:lnTo>
                    <a:pt x="112293" y="2755"/>
                  </a:lnTo>
                  <a:lnTo>
                    <a:pt x="112293" y="713740"/>
                  </a:lnTo>
                  <a:lnTo>
                    <a:pt x="2387" y="713740"/>
                  </a:lnTo>
                  <a:lnTo>
                    <a:pt x="2387" y="2540"/>
                  </a:lnTo>
                  <a:lnTo>
                    <a:pt x="114681" y="2540"/>
                  </a:lnTo>
                  <a:lnTo>
                    <a:pt x="114681" y="1270"/>
                  </a:lnTo>
                  <a:lnTo>
                    <a:pt x="114681" y="0"/>
                  </a:lnTo>
                  <a:close/>
                </a:path>
              </a:pathLst>
            </a:custGeom>
            <a:solidFill>
              <a:srgbClr val="879C82"/>
            </a:solidFill>
          </p:spPr>
          <p:txBody>
            <a:bodyPr wrap="square" lIns="0" tIns="0" rIns="0" bIns="0" rtlCol="0"/>
            <a:lstStyle/>
            <a:p/>
          </p:txBody>
        </p:sp>
        <p:pic>
          <p:nvPicPr>
            <p:cNvPr id="275" name="object 275" descr=""/>
            <p:cNvPicPr/>
            <p:nvPr/>
          </p:nvPicPr>
          <p:blipFill>
            <a:blip r:embed="rId17" cstate="print"/>
            <a:stretch>
              <a:fillRect/>
            </a:stretch>
          </p:blipFill>
          <p:spPr>
            <a:xfrm>
              <a:off x="1806934" y="3478865"/>
              <a:ext cx="154254" cy="73837"/>
            </a:xfrm>
            <a:prstGeom prst="rect">
              <a:avLst/>
            </a:prstGeom>
          </p:spPr>
        </p:pic>
        <p:sp>
          <p:nvSpPr>
            <p:cNvPr id="276" name="object 276" descr=""/>
            <p:cNvSpPr/>
            <p:nvPr/>
          </p:nvSpPr>
          <p:spPr>
            <a:xfrm>
              <a:off x="1919583" y="3480893"/>
              <a:ext cx="40640" cy="784860"/>
            </a:xfrm>
            <a:custGeom>
              <a:avLst/>
              <a:gdLst/>
              <a:ahLst/>
              <a:cxnLst/>
              <a:rect l="l" t="t" r="r" b="b"/>
              <a:pathLst>
                <a:path w="40639" h="784860">
                  <a:moveTo>
                    <a:pt x="40589" y="0"/>
                  </a:moveTo>
                  <a:lnTo>
                    <a:pt x="0" y="70866"/>
                  </a:lnTo>
                  <a:lnTo>
                    <a:pt x="0" y="784821"/>
                  </a:lnTo>
                  <a:lnTo>
                    <a:pt x="40589" y="713905"/>
                  </a:lnTo>
                  <a:lnTo>
                    <a:pt x="40589" y="0"/>
                  </a:lnTo>
                  <a:close/>
                </a:path>
              </a:pathLst>
            </a:custGeom>
            <a:solidFill>
              <a:srgbClr val="A5B8A6"/>
            </a:solidFill>
          </p:spPr>
          <p:txBody>
            <a:bodyPr wrap="square" lIns="0" tIns="0" rIns="0" bIns="0" rtlCol="0"/>
            <a:lstStyle/>
            <a:p/>
          </p:txBody>
        </p:sp>
        <p:sp>
          <p:nvSpPr>
            <p:cNvPr id="277" name="object 277" descr=""/>
            <p:cNvSpPr/>
            <p:nvPr/>
          </p:nvSpPr>
          <p:spPr>
            <a:xfrm>
              <a:off x="1918558" y="3479882"/>
              <a:ext cx="43180" cy="787400"/>
            </a:xfrm>
            <a:custGeom>
              <a:avLst/>
              <a:gdLst/>
              <a:ahLst/>
              <a:cxnLst/>
              <a:rect l="l" t="t" r="r" b="b"/>
              <a:pathLst>
                <a:path w="43180" h="787400">
                  <a:moveTo>
                    <a:pt x="40335" y="0"/>
                  </a:moveTo>
                  <a:lnTo>
                    <a:pt x="127" y="70942"/>
                  </a:lnTo>
                  <a:lnTo>
                    <a:pt x="0" y="786256"/>
                  </a:lnTo>
                  <a:lnTo>
                    <a:pt x="2171" y="786841"/>
                  </a:lnTo>
                  <a:lnTo>
                    <a:pt x="5077" y="781723"/>
                  </a:lnTo>
                  <a:lnTo>
                    <a:pt x="2413" y="781723"/>
                  </a:lnTo>
                  <a:lnTo>
                    <a:pt x="2413" y="71894"/>
                  </a:lnTo>
                  <a:lnTo>
                    <a:pt x="40220" y="5118"/>
                  </a:lnTo>
                  <a:lnTo>
                    <a:pt x="42633" y="5118"/>
                  </a:lnTo>
                  <a:lnTo>
                    <a:pt x="42633" y="596"/>
                  </a:lnTo>
                  <a:lnTo>
                    <a:pt x="40335" y="0"/>
                  </a:lnTo>
                  <a:close/>
                </a:path>
                <a:path w="43180" h="787400">
                  <a:moveTo>
                    <a:pt x="42633" y="5118"/>
                  </a:moveTo>
                  <a:lnTo>
                    <a:pt x="40220" y="5118"/>
                  </a:lnTo>
                  <a:lnTo>
                    <a:pt x="40220" y="714959"/>
                  </a:lnTo>
                  <a:lnTo>
                    <a:pt x="2413" y="781723"/>
                  </a:lnTo>
                  <a:lnTo>
                    <a:pt x="5077" y="781723"/>
                  </a:lnTo>
                  <a:lnTo>
                    <a:pt x="42443" y="715911"/>
                  </a:lnTo>
                  <a:lnTo>
                    <a:pt x="42633" y="715251"/>
                  </a:lnTo>
                  <a:lnTo>
                    <a:pt x="42633" y="5118"/>
                  </a:lnTo>
                  <a:close/>
                </a:path>
              </a:pathLst>
            </a:custGeom>
            <a:solidFill>
              <a:srgbClr val="879C82"/>
            </a:solidFill>
          </p:spPr>
          <p:txBody>
            <a:bodyPr wrap="square" lIns="0" tIns="0" rIns="0" bIns="0" rtlCol="0"/>
            <a:lstStyle/>
            <a:p/>
          </p:txBody>
        </p:sp>
        <p:sp>
          <p:nvSpPr>
            <p:cNvPr id="278" name="object 278" descr=""/>
            <p:cNvSpPr/>
            <p:nvPr/>
          </p:nvSpPr>
          <p:spPr>
            <a:xfrm>
              <a:off x="1821141" y="360934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79" name="object 279" descr=""/>
            <p:cNvSpPr/>
            <p:nvPr/>
          </p:nvSpPr>
          <p:spPr>
            <a:xfrm>
              <a:off x="1821141" y="3609340"/>
              <a:ext cx="28575" cy="45085"/>
            </a:xfrm>
            <a:custGeom>
              <a:avLst/>
              <a:gdLst/>
              <a:ahLst/>
              <a:cxnLst/>
              <a:rect l="l" t="t" r="r" b="b"/>
              <a:pathLst>
                <a:path w="28575" h="45085">
                  <a:moveTo>
                    <a:pt x="28409" y="0"/>
                  </a:moveTo>
                  <a:lnTo>
                    <a:pt x="0" y="0"/>
                  </a:lnTo>
                  <a:lnTo>
                    <a:pt x="0" y="44500"/>
                  </a:lnTo>
                  <a:lnTo>
                    <a:pt x="28409" y="44500"/>
                  </a:lnTo>
                  <a:lnTo>
                    <a:pt x="28409" y="43307"/>
                  </a:lnTo>
                  <a:lnTo>
                    <a:pt x="1257" y="43307"/>
                  </a:lnTo>
                  <a:lnTo>
                    <a:pt x="1257" y="1244"/>
                  </a:lnTo>
                  <a:lnTo>
                    <a:pt x="28409" y="1244"/>
                  </a:lnTo>
                  <a:lnTo>
                    <a:pt x="28409" y="0"/>
                  </a:lnTo>
                  <a:close/>
                </a:path>
                <a:path w="28575" h="45085">
                  <a:moveTo>
                    <a:pt x="28409" y="1244"/>
                  </a:moveTo>
                  <a:lnTo>
                    <a:pt x="27165" y="1244"/>
                  </a:lnTo>
                  <a:lnTo>
                    <a:pt x="27165" y="43307"/>
                  </a:lnTo>
                  <a:lnTo>
                    <a:pt x="28409" y="43307"/>
                  </a:lnTo>
                  <a:lnTo>
                    <a:pt x="28409" y="1244"/>
                  </a:lnTo>
                  <a:close/>
                </a:path>
              </a:pathLst>
            </a:custGeom>
            <a:solidFill>
              <a:srgbClr val="879C82"/>
            </a:solidFill>
          </p:spPr>
          <p:txBody>
            <a:bodyPr wrap="square" lIns="0" tIns="0" rIns="0" bIns="0" rtlCol="0"/>
            <a:lstStyle/>
            <a:p/>
          </p:txBody>
        </p:sp>
        <p:sp>
          <p:nvSpPr>
            <p:cNvPr id="280" name="object 280" descr=""/>
            <p:cNvSpPr/>
            <p:nvPr/>
          </p:nvSpPr>
          <p:spPr>
            <a:xfrm>
              <a:off x="1862747" y="3609340"/>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81" name="object 281" descr=""/>
            <p:cNvSpPr/>
            <p:nvPr/>
          </p:nvSpPr>
          <p:spPr>
            <a:xfrm>
              <a:off x="1862747" y="3609340"/>
              <a:ext cx="28575" cy="45085"/>
            </a:xfrm>
            <a:custGeom>
              <a:avLst/>
              <a:gdLst/>
              <a:ahLst/>
              <a:cxnLst/>
              <a:rect l="l" t="t" r="r" b="b"/>
              <a:pathLst>
                <a:path w="28575" h="45085">
                  <a:moveTo>
                    <a:pt x="28409" y="0"/>
                  </a:moveTo>
                  <a:lnTo>
                    <a:pt x="0" y="0"/>
                  </a:lnTo>
                  <a:lnTo>
                    <a:pt x="0" y="44500"/>
                  </a:lnTo>
                  <a:lnTo>
                    <a:pt x="28409" y="44500"/>
                  </a:lnTo>
                  <a:lnTo>
                    <a:pt x="28409" y="43307"/>
                  </a:lnTo>
                  <a:lnTo>
                    <a:pt x="1206" y="43307"/>
                  </a:lnTo>
                  <a:lnTo>
                    <a:pt x="1206" y="1244"/>
                  </a:lnTo>
                  <a:lnTo>
                    <a:pt x="28409" y="1244"/>
                  </a:lnTo>
                  <a:lnTo>
                    <a:pt x="28409" y="0"/>
                  </a:lnTo>
                  <a:close/>
                </a:path>
                <a:path w="28575" h="45085">
                  <a:moveTo>
                    <a:pt x="28409" y="1244"/>
                  </a:moveTo>
                  <a:lnTo>
                    <a:pt x="27228" y="1244"/>
                  </a:lnTo>
                  <a:lnTo>
                    <a:pt x="27228" y="43307"/>
                  </a:lnTo>
                  <a:lnTo>
                    <a:pt x="28409" y="43307"/>
                  </a:lnTo>
                  <a:lnTo>
                    <a:pt x="28409" y="1244"/>
                  </a:lnTo>
                  <a:close/>
                </a:path>
              </a:pathLst>
            </a:custGeom>
            <a:solidFill>
              <a:srgbClr val="879C82"/>
            </a:solidFill>
          </p:spPr>
          <p:txBody>
            <a:bodyPr wrap="square" lIns="0" tIns="0" rIns="0" bIns="0" rtlCol="0"/>
            <a:lstStyle/>
            <a:p/>
          </p:txBody>
        </p:sp>
        <p:sp>
          <p:nvSpPr>
            <p:cNvPr id="282" name="object 282" descr=""/>
            <p:cNvSpPr/>
            <p:nvPr/>
          </p:nvSpPr>
          <p:spPr>
            <a:xfrm>
              <a:off x="1821141" y="368418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83" name="object 283" descr=""/>
            <p:cNvSpPr/>
            <p:nvPr/>
          </p:nvSpPr>
          <p:spPr>
            <a:xfrm>
              <a:off x="1821141" y="3684181"/>
              <a:ext cx="28575" cy="45085"/>
            </a:xfrm>
            <a:custGeom>
              <a:avLst/>
              <a:gdLst/>
              <a:ahLst/>
              <a:cxnLst/>
              <a:rect l="l" t="t" r="r" b="b"/>
              <a:pathLst>
                <a:path w="28575" h="45085">
                  <a:moveTo>
                    <a:pt x="28409" y="0"/>
                  </a:moveTo>
                  <a:lnTo>
                    <a:pt x="0" y="0"/>
                  </a:lnTo>
                  <a:lnTo>
                    <a:pt x="0" y="44500"/>
                  </a:lnTo>
                  <a:lnTo>
                    <a:pt x="28409" y="44500"/>
                  </a:lnTo>
                  <a:lnTo>
                    <a:pt x="28409" y="43256"/>
                  </a:lnTo>
                  <a:lnTo>
                    <a:pt x="1257" y="43256"/>
                  </a:lnTo>
                  <a:lnTo>
                    <a:pt x="1257" y="1244"/>
                  </a:lnTo>
                  <a:lnTo>
                    <a:pt x="28409" y="1244"/>
                  </a:lnTo>
                  <a:lnTo>
                    <a:pt x="28409" y="0"/>
                  </a:lnTo>
                  <a:close/>
                </a:path>
                <a:path w="28575" h="45085">
                  <a:moveTo>
                    <a:pt x="28409" y="1244"/>
                  </a:moveTo>
                  <a:lnTo>
                    <a:pt x="27165" y="1244"/>
                  </a:lnTo>
                  <a:lnTo>
                    <a:pt x="27165" y="43256"/>
                  </a:lnTo>
                  <a:lnTo>
                    <a:pt x="28409" y="43256"/>
                  </a:lnTo>
                  <a:lnTo>
                    <a:pt x="28409" y="1244"/>
                  </a:lnTo>
                  <a:close/>
                </a:path>
              </a:pathLst>
            </a:custGeom>
            <a:solidFill>
              <a:srgbClr val="879C82"/>
            </a:solidFill>
          </p:spPr>
          <p:txBody>
            <a:bodyPr wrap="square" lIns="0" tIns="0" rIns="0" bIns="0" rtlCol="0"/>
            <a:lstStyle/>
            <a:p/>
          </p:txBody>
        </p:sp>
        <p:sp>
          <p:nvSpPr>
            <p:cNvPr id="284" name="object 284" descr=""/>
            <p:cNvSpPr/>
            <p:nvPr/>
          </p:nvSpPr>
          <p:spPr>
            <a:xfrm>
              <a:off x="1862747" y="3684181"/>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85" name="object 285" descr=""/>
            <p:cNvSpPr/>
            <p:nvPr/>
          </p:nvSpPr>
          <p:spPr>
            <a:xfrm>
              <a:off x="1862747" y="3684181"/>
              <a:ext cx="28575" cy="45085"/>
            </a:xfrm>
            <a:custGeom>
              <a:avLst/>
              <a:gdLst/>
              <a:ahLst/>
              <a:cxnLst/>
              <a:rect l="l" t="t" r="r" b="b"/>
              <a:pathLst>
                <a:path w="28575" h="45085">
                  <a:moveTo>
                    <a:pt x="28409" y="0"/>
                  </a:moveTo>
                  <a:lnTo>
                    <a:pt x="0" y="0"/>
                  </a:lnTo>
                  <a:lnTo>
                    <a:pt x="0" y="44500"/>
                  </a:lnTo>
                  <a:lnTo>
                    <a:pt x="28409" y="44500"/>
                  </a:lnTo>
                  <a:lnTo>
                    <a:pt x="28409" y="43256"/>
                  </a:lnTo>
                  <a:lnTo>
                    <a:pt x="1206" y="43256"/>
                  </a:lnTo>
                  <a:lnTo>
                    <a:pt x="1206" y="1244"/>
                  </a:lnTo>
                  <a:lnTo>
                    <a:pt x="28409" y="1244"/>
                  </a:lnTo>
                  <a:lnTo>
                    <a:pt x="28409" y="0"/>
                  </a:lnTo>
                  <a:close/>
                </a:path>
                <a:path w="28575" h="45085">
                  <a:moveTo>
                    <a:pt x="28409" y="1244"/>
                  </a:moveTo>
                  <a:lnTo>
                    <a:pt x="27228" y="1244"/>
                  </a:lnTo>
                  <a:lnTo>
                    <a:pt x="27228" y="43256"/>
                  </a:lnTo>
                  <a:lnTo>
                    <a:pt x="28409" y="43256"/>
                  </a:lnTo>
                  <a:lnTo>
                    <a:pt x="28409" y="1244"/>
                  </a:lnTo>
                  <a:close/>
                </a:path>
              </a:pathLst>
            </a:custGeom>
            <a:solidFill>
              <a:srgbClr val="879C82"/>
            </a:solidFill>
          </p:spPr>
          <p:txBody>
            <a:bodyPr wrap="square" lIns="0" tIns="0" rIns="0" bIns="0" rtlCol="0"/>
            <a:lstStyle/>
            <a:p/>
          </p:txBody>
        </p:sp>
        <p:sp>
          <p:nvSpPr>
            <p:cNvPr id="286" name="object 286" descr=""/>
            <p:cNvSpPr/>
            <p:nvPr/>
          </p:nvSpPr>
          <p:spPr>
            <a:xfrm>
              <a:off x="1821141" y="375902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87" name="object 287" descr=""/>
            <p:cNvSpPr/>
            <p:nvPr/>
          </p:nvSpPr>
          <p:spPr>
            <a:xfrm>
              <a:off x="1821141" y="3758006"/>
              <a:ext cx="28575" cy="45720"/>
            </a:xfrm>
            <a:custGeom>
              <a:avLst/>
              <a:gdLst/>
              <a:ahLst/>
              <a:cxnLst/>
              <a:rect l="l" t="t" r="r" b="b"/>
              <a:pathLst>
                <a:path w="28575" h="45720">
                  <a:moveTo>
                    <a:pt x="28409" y="0"/>
                  </a:moveTo>
                  <a:lnTo>
                    <a:pt x="0" y="0"/>
                  </a:lnTo>
                  <a:lnTo>
                    <a:pt x="0" y="45516"/>
                  </a:lnTo>
                  <a:lnTo>
                    <a:pt x="28409" y="45516"/>
                  </a:lnTo>
                  <a:lnTo>
                    <a:pt x="28409" y="44246"/>
                  </a:lnTo>
                  <a:lnTo>
                    <a:pt x="1257" y="44246"/>
                  </a:lnTo>
                  <a:lnTo>
                    <a:pt x="1257" y="1219"/>
                  </a:lnTo>
                  <a:lnTo>
                    <a:pt x="28409" y="1219"/>
                  </a:lnTo>
                  <a:lnTo>
                    <a:pt x="28409" y="0"/>
                  </a:lnTo>
                  <a:close/>
                </a:path>
                <a:path w="28575" h="45720">
                  <a:moveTo>
                    <a:pt x="28409" y="1219"/>
                  </a:moveTo>
                  <a:lnTo>
                    <a:pt x="27165" y="1219"/>
                  </a:lnTo>
                  <a:lnTo>
                    <a:pt x="27165" y="44246"/>
                  </a:lnTo>
                  <a:lnTo>
                    <a:pt x="28409" y="44246"/>
                  </a:lnTo>
                  <a:lnTo>
                    <a:pt x="28409" y="1219"/>
                  </a:lnTo>
                  <a:close/>
                </a:path>
              </a:pathLst>
            </a:custGeom>
            <a:solidFill>
              <a:srgbClr val="879C82"/>
            </a:solidFill>
          </p:spPr>
          <p:txBody>
            <a:bodyPr wrap="square" lIns="0" tIns="0" rIns="0" bIns="0" rtlCol="0"/>
            <a:lstStyle/>
            <a:p/>
          </p:txBody>
        </p:sp>
        <p:sp>
          <p:nvSpPr>
            <p:cNvPr id="288" name="object 288" descr=""/>
            <p:cNvSpPr/>
            <p:nvPr/>
          </p:nvSpPr>
          <p:spPr>
            <a:xfrm>
              <a:off x="1862747" y="3759022"/>
              <a:ext cx="27940" cy="43815"/>
            </a:xfrm>
            <a:custGeom>
              <a:avLst/>
              <a:gdLst/>
              <a:ahLst/>
              <a:cxnLst/>
              <a:rect l="l" t="t" r="r" b="b"/>
              <a:pathLst>
                <a:path w="27939" h="43814">
                  <a:moveTo>
                    <a:pt x="27393" y="0"/>
                  </a:moveTo>
                  <a:lnTo>
                    <a:pt x="0" y="0"/>
                  </a:lnTo>
                  <a:lnTo>
                    <a:pt x="0" y="43484"/>
                  </a:lnTo>
                  <a:lnTo>
                    <a:pt x="27393" y="43484"/>
                  </a:lnTo>
                  <a:lnTo>
                    <a:pt x="27393" y="0"/>
                  </a:lnTo>
                  <a:close/>
                </a:path>
              </a:pathLst>
            </a:custGeom>
            <a:solidFill>
              <a:srgbClr val="E0E6E2"/>
            </a:solidFill>
          </p:spPr>
          <p:txBody>
            <a:bodyPr wrap="square" lIns="0" tIns="0" rIns="0" bIns="0" rtlCol="0"/>
            <a:lstStyle/>
            <a:p/>
          </p:txBody>
        </p:sp>
        <p:sp>
          <p:nvSpPr>
            <p:cNvPr id="289" name="object 289" descr=""/>
            <p:cNvSpPr/>
            <p:nvPr/>
          </p:nvSpPr>
          <p:spPr>
            <a:xfrm>
              <a:off x="1862747" y="3758006"/>
              <a:ext cx="28575" cy="45720"/>
            </a:xfrm>
            <a:custGeom>
              <a:avLst/>
              <a:gdLst/>
              <a:ahLst/>
              <a:cxnLst/>
              <a:rect l="l" t="t" r="r" b="b"/>
              <a:pathLst>
                <a:path w="28575" h="45720">
                  <a:moveTo>
                    <a:pt x="28409" y="0"/>
                  </a:moveTo>
                  <a:lnTo>
                    <a:pt x="0" y="0"/>
                  </a:lnTo>
                  <a:lnTo>
                    <a:pt x="0" y="45516"/>
                  </a:lnTo>
                  <a:lnTo>
                    <a:pt x="28409" y="45516"/>
                  </a:lnTo>
                  <a:lnTo>
                    <a:pt x="28409" y="44246"/>
                  </a:lnTo>
                  <a:lnTo>
                    <a:pt x="1206" y="44246"/>
                  </a:lnTo>
                  <a:lnTo>
                    <a:pt x="1206" y="1219"/>
                  </a:lnTo>
                  <a:lnTo>
                    <a:pt x="28409" y="1219"/>
                  </a:lnTo>
                  <a:lnTo>
                    <a:pt x="28409" y="0"/>
                  </a:lnTo>
                  <a:close/>
                </a:path>
                <a:path w="28575" h="45720">
                  <a:moveTo>
                    <a:pt x="28409" y="1219"/>
                  </a:moveTo>
                  <a:lnTo>
                    <a:pt x="27228" y="1219"/>
                  </a:lnTo>
                  <a:lnTo>
                    <a:pt x="27228" y="44246"/>
                  </a:lnTo>
                  <a:lnTo>
                    <a:pt x="28409" y="44246"/>
                  </a:lnTo>
                  <a:lnTo>
                    <a:pt x="28409" y="1219"/>
                  </a:lnTo>
                  <a:close/>
                </a:path>
              </a:pathLst>
            </a:custGeom>
            <a:solidFill>
              <a:srgbClr val="879C82"/>
            </a:solidFill>
          </p:spPr>
          <p:txBody>
            <a:bodyPr wrap="square" lIns="0" tIns="0" rIns="0" bIns="0" rtlCol="0"/>
            <a:lstStyle/>
            <a:p/>
          </p:txBody>
        </p:sp>
        <p:sp>
          <p:nvSpPr>
            <p:cNvPr id="290" name="object 290" descr=""/>
            <p:cNvSpPr/>
            <p:nvPr/>
          </p:nvSpPr>
          <p:spPr>
            <a:xfrm>
              <a:off x="1760245" y="3817683"/>
              <a:ext cx="219710" cy="495934"/>
            </a:xfrm>
            <a:custGeom>
              <a:avLst/>
              <a:gdLst/>
              <a:ahLst/>
              <a:cxnLst/>
              <a:rect l="l" t="t" r="r" b="b"/>
              <a:pathLst>
                <a:path w="219710" h="495935">
                  <a:moveTo>
                    <a:pt x="219201" y="0"/>
                  </a:moveTo>
                  <a:lnTo>
                    <a:pt x="0" y="0"/>
                  </a:lnTo>
                  <a:lnTo>
                    <a:pt x="0" y="495566"/>
                  </a:lnTo>
                  <a:lnTo>
                    <a:pt x="219201" y="495566"/>
                  </a:lnTo>
                  <a:lnTo>
                    <a:pt x="219201" y="0"/>
                  </a:lnTo>
                  <a:close/>
                </a:path>
              </a:pathLst>
            </a:custGeom>
            <a:solidFill>
              <a:srgbClr val="4D7299"/>
            </a:solidFill>
          </p:spPr>
          <p:txBody>
            <a:bodyPr wrap="square" lIns="0" tIns="0" rIns="0" bIns="0" rtlCol="0"/>
            <a:lstStyle/>
            <a:p/>
          </p:txBody>
        </p:sp>
        <p:sp>
          <p:nvSpPr>
            <p:cNvPr id="291" name="object 291" descr=""/>
            <p:cNvSpPr/>
            <p:nvPr/>
          </p:nvSpPr>
          <p:spPr>
            <a:xfrm>
              <a:off x="1759242" y="3816350"/>
              <a:ext cx="221615" cy="497840"/>
            </a:xfrm>
            <a:custGeom>
              <a:avLst/>
              <a:gdLst/>
              <a:ahLst/>
              <a:cxnLst/>
              <a:rect l="l" t="t" r="r" b="b"/>
              <a:pathLst>
                <a:path w="221614" h="497839">
                  <a:moveTo>
                    <a:pt x="221221" y="0"/>
                  </a:moveTo>
                  <a:lnTo>
                    <a:pt x="0" y="0"/>
                  </a:lnTo>
                  <a:lnTo>
                    <a:pt x="0" y="1270"/>
                  </a:lnTo>
                  <a:lnTo>
                    <a:pt x="0" y="496570"/>
                  </a:lnTo>
                  <a:lnTo>
                    <a:pt x="0" y="497840"/>
                  </a:lnTo>
                  <a:lnTo>
                    <a:pt x="221221" y="497840"/>
                  </a:lnTo>
                  <a:lnTo>
                    <a:pt x="221221" y="496658"/>
                  </a:lnTo>
                  <a:lnTo>
                    <a:pt x="221221" y="1511"/>
                  </a:lnTo>
                  <a:lnTo>
                    <a:pt x="220040" y="1511"/>
                  </a:lnTo>
                  <a:lnTo>
                    <a:pt x="220040" y="496570"/>
                  </a:lnTo>
                  <a:lnTo>
                    <a:pt x="1193" y="496570"/>
                  </a:lnTo>
                  <a:lnTo>
                    <a:pt x="1193" y="1270"/>
                  </a:lnTo>
                  <a:lnTo>
                    <a:pt x="221221" y="1270"/>
                  </a:lnTo>
                  <a:lnTo>
                    <a:pt x="221221" y="0"/>
                  </a:lnTo>
                  <a:close/>
                </a:path>
              </a:pathLst>
            </a:custGeom>
            <a:solidFill>
              <a:srgbClr val="9BD3F0"/>
            </a:solidFill>
          </p:spPr>
          <p:txBody>
            <a:bodyPr wrap="square" lIns="0" tIns="0" rIns="0" bIns="0" rtlCol="0"/>
            <a:lstStyle/>
            <a:p/>
          </p:txBody>
        </p:sp>
        <p:sp>
          <p:nvSpPr>
            <p:cNvPr id="292" name="object 292" descr=""/>
            <p:cNvSpPr/>
            <p:nvPr/>
          </p:nvSpPr>
          <p:spPr>
            <a:xfrm>
              <a:off x="1760250" y="3768124"/>
              <a:ext cx="297815" cy="50165"/>
            </a:xfrm>
            <a:custGeom>
              <a:avLst/>
              <a:gdLst/>
              <a:ahLst/>
              <a:cxnLst/>
              <a:rect l="l" t="t" r="r" b="b"/>
              <a:pathLst>
                <a:path w="297814" h="50164">
                  <a:moveTo>
                    <a:pt x="297345" y="0"/>
                  </a:moveTo>
                  <a:lnTo>
                    <a:pt x="77406" y="63"/>
                  </a:lnTo>
                  <a:lnTo>
                    <a:pt x="0" y="49555"/>
                  </a:lnTo>
                  <a:lnTo>
                    <a:pt x="219341" y="49555"/>
                  </a:lnTo>
                  <a:lnTo>
                    <a:pt x="297345" y="0"/>
                  </a:lnTo>
                  <a:close/>
                </a:path>
              </a:pathLst>
            </a:custGeom>
            <a:solidFill>
              <a:srgbClr val="7FA6C8"/>
            </a:solidFill>
          </p:spPr>
          <p:txBody>
            <a:bodyPr wrap="square" lIns="0" tIns="0" rIns="0" bIns="0" rtlCol="0"/>
            <a:lstStyle/>
            <a:p/>
          </p:txBody>
        </p:sp>
        <p:sp>
          <p:nvSpPr>
            <p:cNvPr id="293" name="object 293" descr=""/>
            <p:cNvSpPr/>
            <p:nvPr/>
          </p:nvSpPr>
          <p:spPr>
            <a:xfrm>
              <a:off x="1760250" y="3767225"/>
              <a:ext cx="298450" cy="50800"/>
            </a:xfrm>
            <a:custGeom>
              <a:avLst/>
              <a:gdLst/>
              <a:ahLst/>
              <a:cxnLst/>
              <a:rect l="l" t="t" r="r" b="b"/>
              <a:pathLst>
                <a:path w="298450" h="50800">
                  <a:moveTo>
                    <a:pt x="298087" y="0"/>
                  </a:moveTo>
                  <a:lnTo>
                    <a:pt x="77533" y="0"/>
                  </a:lnTo>
                  <a:lnTo>
                    <a:pt x="0" y="49326"/>
                  </a:lnTo>
                  <a:lnTo>
                    <a:pt x="419" y="50457"/>
                  </a:lnTo>
                  <a:lnTo>
                    <a:pt x="219998" y="50457"/>
                  </a:lnTo>
                  <a:lnTo>
                    <a:pt x="221790" y="49326"/>
                  </a:lnTo>
                  <a:lnTo>
                    <a:pt x="2287" y="49326"/>
                  </a:lnTo>
                  <a:lnTo>
                    <a:pt x="78066" y="1143"/>
                  </a:lnTo>
                  <a:lnTo>
                    <a:pt x="298395" y="1143"/>
                  </a:lnTo>
                  <a:lnTo>
                    <a:pt x="298087" y="0"/>
                  </a:lnTo>
                  <a:close/>
                </a:path>
                <a:path w="298450" h="50800">
                  <a:moveTo>
                    <a:pt x="298159" y="1143"/>
                  </a:moveTo>
                  <a:lnTo>
                    <a:pt x="295973" y="1143"/>
                  </a:lnTo>
                  <a:lnTo>
                    <a:pt x="219596" y="49326"/>
                  </a:lnTo>
                  <a:lnTo>
                    <a:pt x="221790" y="49326"/>
                  </a:lnTo>
                  <a:lnTo>
                    <a:pt x="298159" y="1143"/>
                  </a:lnTo>
                  <a:close/>
                </a:path>
              </a:pathLst>
            </a:custGeom>
            <a:solidFill>
              <a:srgbClr val="9BD3F0"/>
            </a:solidFill>
          </p:spPr>
          <p:txBody>
            <a:bodyPr wrap="square" lIns="0" tIns="0" rIns="0" bIns="0" rtlCol="0"/>
            <a:lstStyle/>
            <a:p/>
          </p:txBody>
        </p:sp>
        <p:sp>
          <p:nvSpPr>
            <p:cNvPr id="294" name="object 294" descr=""/>
            <p:cNvSpPr/>
            <p:nvPr/>
          </p:nvSpPr>
          <p:spPr>
            <a:xfrm>
              <a:off x="1979452" y="3768123"/>
              <a:ext cx="78740" cy="545465"/>
            </a:xfrm>
            <a:custGeom>
              <a:avLst/>
              <a:gdLst/>
              <a:ahLst/>
              <a:cxnLst/>
              <a:rect l="l" t="t" r="r" b="b"/>
              <a:pathLst>
                <a:path w="78739" h="545464">
                  <a:moveTo>
                    <a:pt x="78143" y="0"/>
                  </a:moveTo>
                  <a:lnTo>
                    <a:pt x="0" y="49199"/>
                  </a:lnTo>
                  <a:lnTo>
                    <a:pt x="0" y="545134"/>
                  </a:lnTo>
                  <a:lnTo>
                    <a:pt x="78079" y="495871"/>
                  </a:lnTo>
                  <a:lnTo>
                    <a:pt x="78143" y="0"/>
                  </a:lnTo>
                  <a:close/>
                </a:path>
              </a:pathLst>
            </a:custGeom>
            <a:solidFill>
              <a:srgbClr val="004264"/>
            </a:solidFill>
          </p:spPr>
          <p:txBody>
            <a:bodyPr wrap="square" lIns="0" tIns="0" rIns="0" bIns="0" rtlCol="0"/>
            <a:lstStyle/>
            <a:p/>
          </p:txBody>
        </p:sp>
        <p:sp>
          <p:nvSpPr>
            <p:cNvPr id="295" name="object 295" descr=""/>
            <p:cNvSpPr/>
            <p:nvPr/>
          </p:nvSpPr>
          <p:spPr>
            <a:xfrm>
              <a:off x="1979454" y="3767115"/>
              <a:ext cx="79375" cy="547370"/>
            </a:xfrm>
            <a:custGeom>
              <a:avLst/>
              <a:gdLst/>
              <a:ahLst/>
              <a:cxnLst/>
              <a:rect l="l" t="t" r="r" b="b"/>
              <a:pathLst>
                <a:path w="79375" h="547370">
                  <a:moveTo>
                    <a:pt x="79159" y="0"/>
                  </a:moveTo>
                  <a:lnTo>
                    <a:pt x="78257" y="596"/>
                  </a:lnTo>
                  <a:lnTo>
                    <a:pt x="0" y="50012"/>
                  </a:lnTo>
                  <a:lnTo>
                    <a:pt x="0" y="547154"/>
                  </a:lnTo>
                  <a:lnTo>
                    <a:pt x="3500" y="544944"/>
                  </a:lnTo>
                  <a:lnTo>
                    <a:pt x="1193" y="544944"/>
                  </a:lnTo>
                  <a:lnTo>
                    <a:pt x="1193" y="50673"/>
                  </a:lnTo>
                  <a:lnTo>
                    <a:pt x="77965" y="2197"/>
                  </a:lnTo>
                  <a:lnTo>
                    <a:pt x="79158" y="2197"/>
                  </a:lnTo>
                  <a:lnTo>
                    <a:pt x="79159" y="0"/>
                  </a:lnTo>
                  <a:close/>
                </a:path>
                <a:path w="79375" h="547370">
                  <a:moveTo>
                    <a:pt x="79158" y="2197"/>
                  </a:moveTo>
                  <a:lnTo>
                    <a:pt x="77965" y="2197"/>
                  </a:lnTo>
                  <a:lnTo>
                    <a:pt x="77851" y="496531"/>
                  </a:lnTo>
                  <a:lnTo>
                    <a:pt x="1193" y="544944"/>
                  </a:lnTo>
                  <a:lnTo>
                    <a:pt x="3500" y="544944"/>
                  </a:lnTo>
                  <a:lnTo>
                    <a:pt x="78854" y="497370"/>
                  </a:lnTo>
                  <a:lnTo>
                    <a:pt x="79095" y="497192"/>
                  </a:lnTo>
                  <a:lnTo>
                    <a:pt x="79158" y="2197"/>
                  </a:lnTo>
                  <a:close/>
                </a:path>
              </a:pathLst>
            </a:custGeom>
            <a:solidFill>
              <a:srgbClr val="9BD3F0"/>
            </a:solidFill>
          </p:spPr>
          <p:txBody>
            <a:bodyPr wrap="square" lIns="0" tIns="0" rIns="0" bIns="0" rtlCol="0"/>
            <a:lstStyle/>
            <a:p/>
          </p:txBody>
        </p:sp>
        <p:sp>
          <p:nvSpPr>
            <p:cNvPr id="296" name="object 296" descr=""/>
            <p:cNvSpPr/>
            <p:nvPr/>
          </p:nvSpPr>
          <p:spPr>
            <a:xfrm>
              <a:off x="1775472" y="3893527"/>
              <a:ext cx="28575" cy="45085"/>
            </a:xfrm>
            <a:custGeom>
              <a:avLst/>
              <a:gdLst/>
              <a:ahLst/>
              <a:cxnLst/>
              <a:rect l="l" t="t" r="r" b="b"/>
              <a:pathLst>
                <a:path w="28575" h="45085">
                  <a:moveTo>
                    <a:pt x="28397" y="0"/>
                  </a:moveTo>
                  <a:lnTo>
                    <a:pt x="27393" y="0"/>
                  </a:lnTo>
                  <a:lnTo>
                    <a:pt x="0" y="0"/>
                  </a:lnTo>
                  <a:lnTo>
                    <a:pt x="0" y="43484"/>
                  </a:lnTo>
                  <a:lnTo>
                    <a:pt x="0" y="44500"/>
                  </a:lnTo>
                  <a:lnTo>
                    <a:pt x="28397" y="44500"/>
                  </a:lnTo>
                  <a:lnTo>
                    <a:pt x="28397" y="43319"/>
                  </a:lnTo>
                  <a:lnTo>
                    <a:pt x="28397" y="1193"/>
                  </a:lnTo>
                  <a:lnTo>
                    <a:pt x="28397" y="0"/>
                  </a:lnTo>
                  <a:close/>
                </a:path>
              </a:pathLst>
            </a:custGeom>
            <a:solidFill>
              <a:srgbClr val="7FA6C8"/>
            </a:solidFill>
          </p:spPr>
          <p:txBody>
            <a:bodyPr wrap="square" lIns="0" tIns="0" rIns="0" bIns="0" rtlCol="0"/>
            <a:lstStyle/>
            <a:p/>
          </p:txBody>
        </p:sp>
        <p:sp>
          <p:nvSpPr>
            <p:cNvPr id="297" name="object 297" descr=""/>
            <p:cNvSpPr/>
            <p:nvPr/>
          </p:nvSpPr>
          <p:spPr>
            <a:xfrm>
              <a:off x="1775472" y="389352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6390" y="1015"/>
                  </a:lnTo>
                  <a:lnTo>
                    <a:pt x="26390" y="43497"/>
                  </a:lnTo>
                  <a:lnTo>
                    <a:pt x="1016" y="43497"/>
                  </a:lnTo>
                  <a:lnTo>
                    <a:pt x="1016" y="1015"/>
                  </a:lnTo>
                  <a:close/>
                </a:path>
              </a:pathLst>
            </a:custGeom>
            <a:ln w="3175">
              <a:solidFill>
                <a:srgbClr val="9BD3F0"/>
              </a:solidFill>
            </a:ln>
          </p:spPr>
          <p:txBody>
            <a:bodyPr wrap="square" lIns="0" tIns="0" rIns="0" bIns="0" rtlCol="0"/>
            <a:lstStyle/>
            <a:p/>
          </p:txBody>
        </p:sp>
        <p:sp>
          <p:nvSpPr>
            <p:cNvPr id="298" name="object 298" descr=""/>
            <p:cNvSpPr/>
            <p:nvPr/>
          </p:nvSpPr>
          <p:spPr>
            <a:xfrm>
              <a:off x="1815046" y="3893527"/>
              <a:ext cx="28575" cy="45085"/>
            </a:xfrm>
            <a:custGeom>
              <a:avLst/>
              <a:gdLst/>
              <a:ahLst/>
              <a:cxnLst/>
              <a:rect l="l" t="t" r="r" b="b"/>
              <a:pathLst>
                <a:path w="28575" h="45085">
                  <a:moveTo>
                    <a:pt x="28409" y="0"/>
                  </a:moveTo>
                  <a:lnTo>
                    <a:pt x="1016" y="0"/>
                  </a:lnTo>
                  <a:lnTo>
                    <a:pt x="0" y="0"/>
                  </a:lnTo>
                  <a:lnTo>
                    <a:pt x="0" y="44500"/>
                  </a:lnTo>
                  <a:lnTo>
                    <a:pt x="28409" y="44500"/>
                  </a:lnTo>
                  <a:lnTo>
                    <a:pt x="28409" y="43484"/>
                  </a:lnTo>
                  <a:lnTo>
                    <a:pt x="28409" y="43319"/>
                  </a:lnTo>
                  <a:lnTo>
                    <a:pt x="28409" y="1193"/>
                  </a:lnTo>
                  <a:lnTo>
                    <a:pt x="28409" y="0"/>
                  </a:lnTo>
                  <a:close/>
                </a:path>
              </a:pathLst>
            </a:custGeom>
            <a:solidFill>
              <a:srgbClr val="7FA6C8"/>
            </a:solidFill>
          </p:spPr>
          <p:txBody>
            <a:bodyPr wrap="square" lIns="0" tIns="0" rIns="0" bIns="0" rtlCol="0"/>
            <a:lstStyle/>
            <a:p/>
          </p:txBody>
        </p:sp>
        <p:sp>
          <p:nvSpPr>
            <p:cNvPr id="299" name="object 299" descr=""/>
            <p:cNvSpPr/>
            <p:nvPr/>
          </p:nvSpPr>
          <p:spPr>
            <a:xfrm>
              <a:off x="1815045" y="389352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7406" y="1015"/>
                  </a:lnTo>
                  <a:lnTo>
                    <a:pt x="27406" y="43497"/>
                  </a:lnTo>
                  <a:lnTo>
                    <a:pt x="1016" y="43497"/>
                  </a:lnTo>
                  <a:lnTo>
                    <a:pt x="1016" y="1015"/>
                  </a:lnTo>
                  <a:close/>
                </a:path>
              </a:pathLst>
            </a:custGeom>
            <a:ln w="3175">
              <a:solidFill>
                <a:srgbClr val="9BD3F0"/>
              </a:solidFill>
            </a:ln>
          </p:spPr>
          <p:txBody>
            <a:bodyPr wrap="square" lIns="0" tIns="0" rIns="0" bIns="0" rtlCol="0"/>
            <a:lstStyle/>
            <a:p/>
          </p:txBody>
        </p:sp>
        <p:sp>
          <p:nvSpPr>
            <p:cNvPr id="300" name="object 300" descr=""/>
            <p:cNvSpPr/>
            <p:nvPr/>
          </p:nvSpPr>
          <p:spPr>
            <a:xfrm>
              <a:off x="1855647" y="3893527"/>
              <a:ext cx="28575" cy="45085"/>
            </a:xfrm>
            <a:custGeom>
              <a:avLst/>
              <a:gdLst/>
              <a:ahLst/>
              <a:cxnLst/>
              <a:rect l="l" t="t" r="r" b="b"/>
              <a:pathLst>
                <a:path w="28575" h="45085">
                  <a:moveTo>
                    <a:pt x="28409" y="0"/>
                  </a:moveTo>
                  <a:lnTo>
                    <a:pt x="27393" y="0"/>
                  </a:lnTo>
                  <a:lnTo>
                    <a:pt x="0" y="0"/>
                  </a:lnTo>
                  <a:lnTo>
                    <a:pt x="0" y="43484"/>
                  </a:lnTo>
                  <a:lnTo>
                    <a:pt x="0" y="44500"/>
                  </a:lnTo>
                  <a:lnTo>
                    <a:pt x="28409" y="44500"/>
                  </a:lnTo>
                  <a:lnTo>
                    <a:pt x="28409" y="43319"/>
                  </a:lnTo>
                  <a:lnTo>
                    <a:pt x="28409" y="1193"/>
                  </a:lnTo>
                  <a:lnTo>
                    <a:pt x="28409" y="0"/>
                  </a:lnTo>
                  <a:close/>
                </a:path>
              </a:pathLst>
            </a:custGeom>
            <a:solidFill>
              <a:srgbClr val="7FA6C8"/>
            </a:solidFill>
          </p:spPr>
          <p:txBody>
            <a:bodyPr wrap="square" lIns="0" tIns="0" rIns="0" bIns="0" rtlCol="0"/>
            <a:lstStyle/>
            <a:p/>
          </p:txBody>
        </p:sp>
        <p:sp>
          <p:nvSpPr>
            <p:cNvPr id="301" name="object 301" descr=""/>
            <p:cNvSpPr/>
            <p:nvPr/>
          </p:nvSpPr>
          <p:spPr>
            <a:xfrm>
              <a:off x="1855647" y="389352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6390" y="1015"/>
                  </a:lnTo>
                  <a:lnTo>
                    <a:pt x="26390" y="43497"/>
                  </a:lnTo>
                  <a:lnTo>
                    <a:pt x="1015" y="43497"/>
                  </a:lnTo>
                  <a:lnTo>
                    <a:pt x="1015" y="1015"/>
                  </a:lnTo>
                  <a:close/>
                </a:path>
              </a:pathLst>
            </a:custGeom>
            <a:ln w="3175">
              <a:solidFill>
                <a:srgbClr val="9BD3F0"/>
              </a:solidFill>
            </a:ln>
          </p:spPr>
          <p:txBody>
            <a:bodyPr wrap="square" lIns="0" tIns="0" rIns="0" bIns="0" rtlCol="0"/>
            <a:lstStyle/>
            <a:p/>
          </p:txBody>
        </p:sp>
        <p:sp>
          <p:nvSpPr>
            <p:cNvPr id="302" name="object 302" descr=""/>
            <p:cNvSpPr/>
            <p:nvPr/>
          </p:nvSpPr>
          <p:spPr>
            <a:xfrm>
              <a:off x="1895221" y="3893527"/>
              <a:ext cx="28575" cy="45085"/>
            </a:xfrm>
            <a:custGeom>
              <a:avLst/>
              <a:gdLst/>
              <a:ahLst/>
              <a:cxnLst/>
              <a:rect l="l" t="t" r="r" b="b"/>
              <a:pathLst>
                <a:path w="28575" h="45085">
                  <a:moveTo>
                    <a:pt x="28409" y="0"/>
                  </a:moveTo>
                  <a:lnTo>
                    <a:pt x="1016" y="0"/>
                  </a:lnTo>
                  <a:lnTo>
                    <a:pt x="0" y="0"/>
                  </a:lnTo>
                  <a:lnTo>
                    <a:pt x="0" y="44500"/>
                  </a:lnTo>
                  <a:lnTo>
                    <a:pt x="28397" y="44500"/>
                  </a:lnTo>
                  <a:lnTo>
                    <a:pt x="28397" y="43484"/>
                  </a:lnTo>
                  <a:lnTo>
                    <a:pt x="28409" y="0"/>
                  </a:lnTo>
                  <a:close/>
                </a:path>
              </a:pathLst>
            </a:custGeom>
            <a:solidFill>
              <a:srgbClr val="7FA6C8"/>
            </a:solidFill>
          </p:spPr>
          <p:txBody>
            <a:bodyPr wrap="square" lIns="0" tIns="0" rIns="0" bIns="0" rtlCol="0"/>
            <a:lstStyle/>
            <a:p/>
          </p:txBody>
        </p:sp>
        <p:sp>
          <p:nvSpPr>
            <p:cNvPr id="303" name="object 303" descr=""/>
            <p:cNvSpPr/>
            <p:nvPr/>
          </p:nvSpPr>
          <p:spPr>
            <a:xfrm>
              <a:off x="1895220" y="389352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7406" y="1015"/>
                  </a:lnTo>
                  <a:lnTo>
                    <a:pt x="27406" y="43497"/>
                  </a:lnTo>
                  <a:lnTo>
                    <a:pt x="1016" y="43497"/>
                  </a:lnTo>
                  <a:lnTo>
                    <a:pt x="1016" y="1015"/>
                  </a:lnTo>
                  <a:close/>
                </a:path>
              </a:pathLst>
            </a:custGeom>
            <a:ln w="3175">
              <a:solidFill>
                <a:srgbClr val="9BD3F0"/>
              </a:solidFill>
            </a:ln>
          </p:spPr>
          <p:txBody>
            <a:bodyPr wrap="square" lIns="0" tIns="0" rIns="0" bIns="0" rtlCol="0"/>
            <a:lstStyle/>
            <a:p/>
          </p:txBody>
        </p:sp>
        <p:sp>
          <p:nvSpPr>
            <p:cNvPr id="304" name="object 304" descr=""/>
            <p:cNvSpPr/>
            <p:nvPr/>
          </p:nvSpPr>
          <p:spPr>
            <a:xfrm>
              <a:off x="1938858" y="3893527"/>
              <a:ext cx="27940" cy="45085"/>
            </a:xfrm>
            <a:custGeom>
              <a:avLst/>
              <a:gdLst/>
              <a:ahLst/>
              <a:cxnLst/>
              <a:rect l="l" t="t" r="r" b="b"/>
              <a:pathLst>
                <a:path w="27939" h="45085">
                  <a:moveTo>
                    <a:pt x="27393" y="0"/>
                  </a:moveTo>
                  <a:lnTo>
                    <a:pt x="0" y="0"/>
                  </a:lnTo>
                  <a:lnTo>
                    <a:pt x="0" y="43484"/>
                  </a:lnTo>
                  <a:lnTo>
                    <a:pt x="0" y="44500"/>
                  </a:lnTo>
                  <a:lnTo>
                    <a:pt x="27393" y="44500"/>
                  </a:lnTo>
                  <a:lnTo>
                    <a:pt x="27393" y="43484"/>
                  </a:lnTo>
                  <a:lnTo>
                    <a:pt x="27393" y="43319"/>
                  </a:lnTo>
                  <a:lnTo>
                    <a:pt x="27393" y="1193"/>
                  </a:lnTo>
                  <a:lnTo>
                    <a:pt x="27393" y="0"/>
                  </a:lnTo>
                  <a:close/>
                </a:path>
              </a:pathLst>
            </a:custGeom>
            <a:solidFill>
              <a:srgbClr val="7FA6C8"/>
            </a:solidFill>
          </p:spPr>
          <p:txBody>
            <a:bodyPr wrap="square" lIns="0" tIns="0" rIns="0" bIns="0" rtlCol="0"/>
            <a:lstStyle/>
            <a:p/>
          </p:txBody>
        </p:sp>
        <p:sp>
          <p:nvSpPr>
            <p:cNvPr id="305" name="object 305" descr=""/>
            <p:cNvSpPr/>
            <p:nvPr/>
          </p:nvSpPr>
          <p:spPr>
            <a:xfrm>
              <a:off x="1938858" y="3893527"/>
              <a:ext cx="27940" cy="45085"/>
            </a:xfrm>
            <a:custGeom>
              <a:avLst/>
              <a:gdLst/>
              <a:ahLst/>
              <a:cxnLst/>
              <a:rect l="l" t="t" r="r" b="b"/>
              <a:pathLst>
                <a:path w="27939" h="45085">
                  <a:moveTo>
                    <a:pt x="0" y="0"/>
                  </a:moveTo>
                  <a:lnTo>
                    <a:pt x="27393" y="0"/>
                  </a:lnTo>
                  <a:lnTo>
                    <a:pt x="27393" y="44500"/>
                  </a:lnTo>
                  <a:lnTo>
                    <a:pt x="0" y="44500"/>
                  </a:lnTo>
                  <a:lnTo>
                    <a:pt x="0" y="0"/>
                  </a:lnTo>
                  <a:close/>
                </a:path>
                <a:path w="27939" h="45085">
                  <a:moveTo>
                    <a:pt x="1016" y="1015"/>
                  </a:moveTo>
                  <a:lnTo>
                    <a:pt x="26390" y="1015"/>
                  </a:lnTo>
                  <a:lnTo>
                    <a:pt x="26390" y="43497"/>
                  </a:lnTo>
                  <a:lnTo>
                    <a:pt x="1016" y="43497"/>
                  </a:lnTo>
                  <a:lnTo>
                    <a:pt x="1016" y="1015"/>
                  </a:lnTo>
                  <a:close/>
                </a:path>
              </a:pathLst>
            </a:custGeom>
            <a:ln w="3175">
              <a:solidFill>
                <a:srgbClr val="9BD3F0"/>
              </a:solidFill>
            </a:ln>
          </p:spPr>
          <p:txBody>
            <a:bodyPr wrap="square" lIns="0" tIns="0" rIns="0" bIns="0" rtlCol="0"/>
            <a:lstStyle/>
            <a:p/>
          </p:txBody>
        </p:sp>
        <p:sp>
          <p:nvSpPr>
            <p:cNvPr id="306" name="object 306" descr=""/>
            <p:cNvSpPr/>
            <p:nvPr/>
          </p:nvSpPr>
          <p:spPr>
            <a:xfrm>
              <a:off x="1775472" y="3967365"/>
              <a:ext cx="28575" cy="45720"/>
            </a:xfrm>
            <a:custGeom>
              <a:avLst/>
              <a:gdLst/>
              <a:ahLst/>
              <a:cxnLst/>
              <a:rect l="l" t="t" r="r" b="b"/>
              <a:pathLst>
                <a:path w="28575" h="45720">
                  <a:moveTo>
                    <a:pt x="28397" y="0"/>
                  </a:moveTo>
                  <a:lnTo>
                    <a:pt x="0" y="0"/>
                  </a:lnTo>
                  <a:lnTo>
                    <a:pt x="0" y="1003"/>
                  </a:lnTo>
                  <a:lnTo>
                    <a:pt x="0" y="44488"/>
                  </a:lnTo>
                  <a:lnTo>
                    <a:pt x="0" y="45529"/>
                  </a:lnTo>
                  <a:lnTo>
                    <a:pt x="28397" y="45529"/>
                  </a:lnTo>
                  <a:lnTo>
                    <a:pt x="28397" y="44234"/>
                  </a:lnTo>
                  <a:lnTo>
                    <a:pt x="28397" y="1270"/>
                  </a:lnTo>
                  <a:lnTo>
                    <a:pt x="28397" y="0"/>
                  </a:lnTo>
                  <a:close/>
                </a:path>
              </a:pathLst>
            </a:custGeom>
            <a:solidFill>
              <a:srgbClr val="7FA6C8"/>
            </a:solidFill>
          </p:spPr>
          <p:txBody>
            <a:bodyPr wrap="square" lIns="0" tIns="0" rIns="0" bIns="0" rtlCol="0"/>
            <a:lstStyle/>
            <a:p/>
          </p:txBody>
        </p:sp>
        <p:sp>
          <p:nvSpPr>
            <p:cNvPr id="307" name="object 307" descr=""/>
            <p:cNvSpPr/>
            <p:nvPr/>
          </p:nvSpPr>
          <p:spPr>
            <a:xfrm>
              <a:off x="1775472" y="3967365"/>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6" y="2019"/>
                  </a:moveTo>
                  <a:lnTo>
                    <a:pt x="26390" y="2019"/>
                  </a:lnTo>
                  <a:lnTo>
                    <a:pt x="26390" y="43484"/>
                  </a:lnTo>
                  <a:lnTo>
                    <a:pt x="1016" y="43484"/>
                  </a:lnTo>
                  <a:lnTo>
                    <a:pt x="1016" y="2019"/>
                  </a:lnTo>
                  <a:close/>
                </a:path>
              </a:pathLst>
            </a:custGeom>
            <a:ln w="3175">
              <a:solidFill>
                <a:srgbClr val="9BD3F0"/>
              </a:solidFill>
            </a:ln>
          </p:spPr>
          <p:txBody>
            <a:bodyPr wrap="square" lIns="0" tIns="0" rIns="0" bIns="0" rtlCol="0"/>
            <a:lstStyle/>
            <a:p/>
          </p:txBody>
        </p:sp>
        <p:sp>
          <p:nvSpPr>
            <p:cNvPr id="308" name="object 308" descr=""/>
            <p:cNvSpPr/>
            <p:nvPr/>
          </p:nvSpPr>
          <p:spPr>
            <a:xfrm>
              <a:off x="1815046" y="3967365"/>
              <a:ext cx="28575" cy="45720"/>
            </a:xfrm>
            <a:custGeom>
              <a:avLst/>
              <a:gdLst/>
              <a:ahLst/>
              <a:cxnLst/>
              <a:rect l="l" t="t" r="r" b="b"/>
              <a:pathLst>
                <a:path w="28575" h="45720">
                  <a:moveTo>
                    <a:pt x="28409" y="0"/>
                  </a:moveTo>
                  <a:lnTo>
                    <a:pt x="0" y="0"/>
                  </a:lnTo>
                  <a:lnTo>
                    <a:pt x="0" y="45529"/>
                  </a:lnTo>
                  <a:lnTo>
                    <a:pt x="28409" y="45529"/>
                  </a:lnTo>
                  <a:lnTo>
                    <a:pt x="28409" y="44488"/>
                  </a:lnTo>
                  <a:lnTo>
                    <a:pt x="28409" y="44234"/>
                  </a:lnTo>
                  <a:lnTo>
                    <a:pt x="28409" y="1270"/>
                  </a:lnTo>
                  <a:lnTo>
                    <a:pt x="28409" y="1003"/>
                  </a:lnTo>
                  <a:lnTo>
                    <a:pt x="28409" y="0"/>
                  </a:lnTo>
                  <a:close/>
                </a:path>
              </a:pathLst>
            </a:custGeom>
            <a:solidFill>
              <a:srgbClr val="7FA6C8"/>
            </a:solidFill>
          </p:spPr>
          <p:txBody>
            <a:bodyPr wrap="square" lIns="0" tIns="0" rIns="0" bIns="0" rtlCol="0"/>
            <a:lstStyle/>
            <a:p/>
          </p:txBody>
        </p:sp>
        <p:sp>
          <p:nvSpPr>
            <p:cNvPr id="309" name="object 309" descr=""/>
            <p:cNvSpPr/>
            <p:nvPr/>
          </p:nvSpPr>
          <p:spPr>
            <a:xfrm>
              <a:off x="1815045" y="3967365"/>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6" y="2019"/>
                  </a:moveTo>
                  <a:lnTo>
                    <a:pt x="27406" y="2019"/>
                  </a:lnTo>
                  <a:lnTo>
                    <a:pt x="27406" y="43484"/>
                  </a:lnTo>
                  <a:lnTo>
                    <a:pt x="1016" y="43484"/>
                  </a:lnTo>
                  <a:lnTo>
                    <a:pt x="1016" y="2019"/>
                  </a:lnTo>
                  <a:close/>
                </a:path>
              </a:pathLst>
            </a:custGeom>
            <a:ln w="3175">
              <a:solidFill>
                <a:srgbClr val="9BD3F0"/>
              </a:solidFill>
            </a:ln>
          </p:spPr>
          <p:txBody>
            <a:bodyPr wrap="square" lIns="0" tIns="0" rIns="0" bIns="0" rtlCol="0"/>
            <a:lstStyle/>
            <a:p/>
          </p:txBody>
        </p:sp>
        <p:sp>
          <p:nvSpPr>
            <p:cNvPr id="310" name="object 310" descr=""/>
            <p:cNvSpPr/>
            <p:nvPr/>
          </p:nvSpPr>
          <p:spPr>
            <a:xfrm>
              <a:off x="1855647" y="3967365"/>
              <a:ext cx="28575" cy="45720"/>
            </a:xfrm>
            <a:custGeom>
              <a:avLst/>
              <a:gdLst/>
              <a:ahLst/>
              <a:cxnLst/>
              <a:rect l="l" t="t" r="r" b="b"/>
              <a:pathLst>
                <a:path w="28575" h="45720">
                  <a:moveTo>
                    <a:pt x="28409" y="0"/>
                  </a:moveTo>
                  <a:lnTo>
                    <a:pt x="0" y="0"/>
                  </a:lnTo>
                  <a:lnTo>
                    <a:pt x="0" y="1003"/>
                  </a:lnTo>
                  <a:lnTo>
                    <a:pt x="0" y="44488"/>
                  </a:lnTo>
                  <a:lnTo>
                    <a:pt x="0" y="45529"/>
                  </a:lnTo>
                  <a:lnTo>
                    <a:pt x="28409" y="45529"/>
                  </a:lnTo>
                  <a:lnTo>
                    <a:pt x="28409" y="44234"/>
                  </a:lnTo>
                  <a:lnTo>
                    <a:pt x="28409" y="1270"/>
                  </a:lnTo>
                  <a:lnTo>
                    <a:pt x="28409" y="0"/>
                  </a:lnTo>
                  <a:close/>
                </a:path>
              </a:pathLst>
            </a:custGeom>
            <a:solidFill>
              <a:srgbClr val="7FA6C8"/>
            </a:solidFill>
          </p:spPr>
          <p:txBody>
            <a:bodyPr wrap="square" lIns="0" tIns="0" rIns="0" bIns="0" rtlCol="0"/>
            <a:lstStyle/>
            <a:p/>
          </p:txBody>
        </p:sp>
        <p:sp>
          <p:nvSpPr>
            <p:cNvPr id="311" name="object 311" descr=""/>
            <p:cNvSpPr/>
            <p:nvPr/>
          </p:nvSpPr>
          <p:spPr>
            <a:xfrm>
              <a:off x="1855647" y="3967365"/>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5" y="2019"/>
                  </a:moveTo>
                  <a:lnTo>
                    <a:pt x="26390" y="2019"/>
                  </a:lnTo>
                  <a:lnTo>
                    <a:pt x="26390" y="43484"/>
                  </a:lnTo>
                  <a:lnTo>
                    <a:pt x="1015" y="43484"/>
                  </a:lnTo>
                  <a:lnTo>
                    <a:pt x="1015" y="2019"/>
                  </a:lnTo>
                  <a:close/>
                </a:path>
              </a:pathLst>
            </a:custGeom>
            <a:ln w="3175">
              <a:solidFill>
                <a:srgbClr val="9BD3F0"/>
              </a:solidFill>
            </a:ln>
          </p:spPr>
          <p:txBody>
            <a:bodyPr wrap="square" lIns="0" tIns="0" rIns="0" bIns="0" rtlCol="0"/>
            <a:lstStyle/>
            <a:p/>
          </p:txBody>
        </p:sp>
        <p:sp>
          <p:nvSpPr>
            <p:cNvPr id="312" name="object 312" descr=""/>
            <p:cNvSpPr/>
            <p:nvPr/>
          </p:nvSpPr>
          <p:spPr>
            <a:xfrm>
              <a:off x="1895221" y="3967365"/>
              <a:ext cx="28575" cy="45720"/>
            </a:xfrm>
            <a:custGeom>
              <a:avLst/>
              <a:gdLst/>
              <a:ahLst/>
              <a:cxnLst/>
              <a:rect l="l" t="t" r="r" b="b"/>
              <a:pathLst>
                <a:path w="28575" h="45720">
                  <a:moveTo>
                    <a:pt x="28409" y="1003"/>
                  </a:moveTo>
                  <a:lnTo>
                    <a:pt x="28397" y="0"/>
                  </a:lnTo>
                  <a:lnTo>
                    <a:pt x="0" y="0"/>
                  </a:lnTo>
                  <a:lnTo>
                    <a:pt x="0" y="45529"/>
                  </a:lnTo>
                  <a:lnTo>
                    <a:pt x="28397" y="45529"/>
                  </a:lnTo>
                  <a:lnTo>
                    <a:pt x="28397" y="44488"/>
                  </a:lnTo>
                  <a:lnTo>
                    <a:pt x="28409" y="1003"/>
                  </a:lnTo>
                  <a:close/>
                </a:path>
              </a:pathLst>
            </a:custGeom>
            <a:solidFill>
              <a:srgbClr val="7FA6C8"/>
            </a:solidFill>
          </p:spPr>
          <p:txBody>
            <a:bodyPr wrap="square" lIns="0" tIns="0" rIns="0" bIns="0" rtlCol="0"/>
            <a:lstStyle/>
            <a:p/>
          </p:txBody>
        </p:sp>
        <p:sp>
          <p:nvSpPr>
            <p:cNvPr id="313" name="object 313" descr=""/>
            <p:cNvSpPr/>
            <p:nvPr/>
          </p:nvSpPr>
          <p:spPr>
            <a:xfrm>
              <a:off x="1895220" y="3967365"/>
              <a:ext cx="28575" cy="45720"/>
            </a:xfrm>
            <a:custGeom>
              <a:avLst/>
              <a:gdLst/>
              <a:ahLst/>
              <a:cxnLst/>
              <a:rect l="l" t="t" r="r" b="b"/>
              <a:pathLst>
                <a:path w="28575" h="45720">
                  <a:moveTo>
                    <a:pt x="0" y="0"/>
                  </a:moveTo>
                  <a:lnTo>
                    <a:pt x="28409" y="0"/>
                  </a:lnTo>
                  <a:lnTo>
                    <a:pt x="28409" y="45516"/>
                  </a:lnTo>
                  <a:lnTo>
                    <a:pt x="0" y="45516"/>
                  </a:lnTo>
                  <a:lnTo>
                    <a:pt x="0" y="0"/>
                  </a:lnTo>
                  <a:close/>
                </a:path>
                <a:path w="28575" h="45720">
                  <a:moveTo>
                    <a:pt x="1016" y="2019"/>
                  </a:moveTo>
                  <a:lnTo>
                    <a:pt x="27406" y="2019"/>
                  </a:lnTo>
                  <a:lnTo>
                    <a:pt x="27406" y="43484"/>
                  </a:lnTo>
                  <a:lnTo>
                    <a:pt x="1016" y="43484"/>
                  </a:lnTo>
                  <a:lnTo>
                    <a:pt x="1016" y="2019"/>
                  </a:lnTo>
                  <a:close/>
                </a:path>
              </a:pathLst>
            </a:custGeom>
            <a:ln w="3175">
              <a:solidFill>
                <a:srgbClr val="9BD3F0"/>
              </a:solidFill>
            </a:ln>
          </p:spPr>
          <p:txBody>
            <a:bodyPr wrap="square" lIns="0" tIns="0" rIns="0" bIns="0" rtlCol="0"/>
            <a:lstStyle/>
            <a:p/>
          </p:txBody>
        </p:sp>
        <p:sp>
          <p:nvSpPr>
            <p:cNvPr id="314" name="object 314" descr=""/>
            <p:cNvSpPr/>
            <p:nvPr/>
          </p:nvSpPr>
          <p:spPr>
            <a:xfrm>
              <a:off x="1938858" y="3967365"/>
              <a:ext cx="27940" cy="45720"/>
            </a:xfrm>
            <a:custGeom>
              <a:avLst/>
              <a:gdLst/>
              <a:ahLst/>
              <a:cxnLst/>
              <a:rect l="l" t="t" r="r" b="b"/>
              <a:pathLst>
                <a:path w="27939" h="45720">
                  <a:moveTo>
                    <a:pt x="27393" y="0"/>
                  </a:moveTo>
                  <a:lnTo>
                    <a:pt x="0" y="0"/>
                  </a:lnTo>
                  <a:lnTo>
                    <a:pt x="0" y="1003"/>
                  </a:lnTo>
                  <a:lnTo>
                    <a:pt x="0" y="44488"/>
                  </a:lnTo>
                  <a:lnTo>
                    <a:pt x="0" y="45529"/>
                  </a:lnTo>
                  <a:lnTo>
                    <a:pt x="27393" y="45529"/>
                  </a:lnTo>
                  <a:lnTo>
                    <a:pt x="27393" y="44488"/>
                  </a:lnTo>
                  <a:lnTo>
                    <a:pt x="27393" y="44234"/>
                  </a:lnTo>
                  <a:lnTo>
                    <a:pt x="27393" y="1270"/>
                  </a:lnTo>
                  <a:lnTo>
                    <a:pt x="27393" y="1003"/>
                  </a:lnTo>
                  <a:lnTo>
                    <a:pt x="27393" y="0"/>
                  </a:lnTo>
                  <a:close/>
                </a:path>
              </a:pathLst>
            </a:custGeom>
            <a:solidFill>
              <a:srgbClr val="7FA6C8"/>
            </a:solidFill>
          </p:spPr>
          <p:txBody>
            <a:bodyPr wrap="square" lIns="0" tIns="0" rIns="0" bIns="0" rtlCol="0"/>
            <a:lstStyle/>
            <a:p/>
          </p:txBody>
        </p:sp>
        <p:sp>
          <p:nvSpPr>
            <p:cNvPr id="315" name="object 315" descr=""/>
            <p:cNvSpPr/>
            <p:nvPr/>
          </p:nvSpPr>
          <p:spPr>
            <a:xfrm>
              <a:off x="1938858" y="3967365"/>
              <a:ext cx="27940" cy="45720"/>
            </a:xfrm>
            <a:custGeom>
              <a:avLst/>
              <a:gdLst/>
              <a:ahLst/>
              <a:cxnLst/>
              <a:rect l="l" t="t" r="r" b="b"/>
              <a:pathLst>
                <a:path w="27939" h="45720">
                  <a:moveTo>
                    <a:pt x="0" y="0"/>
                  </a:moveTo>
                  <a:lnTo>
                    <a:pt x="27393" y="0"/>
                  </a:lnTo>
                  <a:lnTo>
                    <a:pt x="27393" y="45516"/>
                  </a:lnTo>
                  <a:lnTo>
                    <a:pt x="0" y="45516"/>
                  </a:lnTo>
                  <a:lnTo>
                    <a:pt x="0" y="0"/>
                  </a:lnTo>
                  <a:close/>
                </a:path>
                <a:path w="27939" h="45720">
                  <a:moveTo>
                    <a:pt x="1016" y="2019"/>
                  </a:moveTo>
                  <a:lnTo>
                    <a:pt x="26390" y="2019"/>
                  </a:lnTo>
                  <a:lnTo>
                    <a:pt x="26390" y="43484"/>
                  </a:lnTo>
                  <a:lnTo>
                    <a:pt x="1016" y="43484"/>
                  </a:lnTo>
                  <a:lnTo>
                    <a:pt x="1016" y="2019"/>
                  </a:lnTo>
                  <a:close/>
                </a:path>
              </a:pathLst>
            </a:custGeom>
            <a:ln w="3175">
              <a:solidFill>
                <a:srgbClr val="9BD3F0"/>
              </a:solidFill>
            </a:ln>
          </p:spPr>
          <p:txBody>
            <a:bodyPr wrap="square" lIns="0" tIns="0" rIns="0" bIns="0" rtlCol="0"/>
            <a:lstStyle/>
            <a:p/>
          </p:txBody>
        </p:sp>
        <p:sp>
          <p:nvSpPr>
            <p:cNvPr id="316" name="object 316" descr=""/>
            <p:cNvSpPr/>
            <p:nvPr/>
          </p:nvSpPr>
          <p:spPr>
            <a:xfrm>
              <a:off x="1775472" y="4042206"/>
              <a:ext cx="28575" cy="45085"/>
            </a:xfrm>
            <a:custGeom>
              <a:avLst/>
              <a:gdLst/>
              <a:ahLst/>
              <a:cxnLst/>
              <a:rect l="l" t="t" r="r" b="b"/>
              <a:pathLst>
                <a:path w="28575" h="45085">
                  <a:moveTo>
                    <a:pt x="28397" y="0"/>
                  </a:moveTo>
                  <a:lnTo>
                    <a:pt x="0" y="0"/>
                  </a:lnTo>
                  <a:lnTo>
                    <a:pt x="0" y="1003"/>
                  </a:lnTo>
                  <a:lnTo>
                    <a:pt x="0" y="44488"/>
                  </a:lnTo>
                  <a:lnTo>
                    <a:pt x="28397" y="44513"/>
                  </a:lnTo>
                  <a:lnTo>
                    <a:pt x="28397" y="43256"/>
                  </a:lnTo>
                  <a:lnTo>
                    <a:pt x="28397" y="1193"/>
                  </a:lnTo>
                  <a:lnTo>
                    <a:pt x="28397" y="0"/>
                  </a:lnTo>
                  <a:close/>
                </a:path>
              </a:pathLst>
            </a:custGeom>
            <a:solidFill>
              <a:srgbClr val="7FA6C8"/>
            </a:solidFill>
          </p:spPr>
          <p:txBody>
            <a:bodyPr wrap="square" lIns="0" tIns="0" rIns="0" bIns="0" rtlCol="0"/>
            <a:lstStyle/>
            <a:p/>
          </p:txBody>
        </p:sp>
        <p:sp>
          <p:nvSpPr>
            <p:cNvPr id="317" name="object 317" descr=""/>
            <p:cNvSpPr/>
            <p:nvPr/>
          </p:nvSpPr>
          <p:spPr>
            <a:xfrm>
              <a:off x="1775472" y="4042206"/>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03"/>
                  </a:moveTo>
                  <a:lnTo>
                    <a:pt x="26390" y="1003"/>
                  </a:lnTo>
                  <a:lnTo>
                    <a:pt x="26390" y="43484"/>
                  </a:lnTo>
                  <a:lnTo>
                    <a:pt x="1016" y="43484"/>
                  </a:lnTo>
                  <a:lnTo>
                    <a:pt x="1016" y="1003"/>
                  </a:lnTo>
                  <a:close/>
                </a:path>
              </a:pathLst>
            </a:custGeom>
            <a:ln w="3175">
              <a:solidFill>
                <a:srgbClr val="9BD3F0"/>
              </a:solidFill>
            </a:ln>
          </p:spPr>
          <p:txBody>
            <a:bodyPr wrap="square" lIns="0" tIns="0" rIns="0" bIns="0" rtlCol="0"/>
            <a:lstStyle/>
            <a:p/>
          </p:txBody>
        </p:sp>
        <p:sp>
          <p:nvSpPr>
            <p:cNvPr id="318" name="object 318" descr=""/>
            <p:cNvSpPr/>
            <p:nvPr/>
          </p:nvSpPr>
          <p:spPr>
            <a:xfrm>
              <a:off x="1815046" y="4042206"/>
              <a:ext cx="28575" cy="45085"/>
            </a:xfrm>
            <a:custGeom>
              <a:avLst/>
              <a:gdLst/>
              <a:ahLst/>
              <a:cxnLst/>
              <a:rect l="l" t="t" r="r" b="b"/>
              <a:pathLst>
                <a:path w="28575" h="45085">
                  <a:moveTo>
                    <a:pt x="28409" y="0"/>
                  </a:moveTo>
                  <a:lnTo>
                    <a:pt x="0" y="0"/>
                  </a:lnTo>
                  <a:lnTo>
                    <a:pt x="0" y="44513"/>
                  </a:lnTo>
                  <a:lnTo>
                    <a:pt x="28409" y="44513"/>
                  </a:lnTo>
                  <a:lnTo>
                    <a:pt x="28409" y="43256"/>
                  </a:lnTo>
                  <a:lnTo>
                    <a:pt x="28409" y="1193"/>
                  </a:lnTo>
                  <a:lnTo>
                    <a:pt x="28409" y="1003"/>
                  </a:lnTo>
                  <a:lnTo>
                    <a:pt x="28409" y="0"/>
                  </a:lnTo>
                  <a:close/>
                </a:path>
              </a:pathLst>
            </a:custGeom>
            <a:solidFill>
              <a:srgbClr val="7FA6C8"/>
            </a:solidFill>
          </p:spPr>
          <p:txBody>
            <a:bodyPr wrap="square" lIns="0" tIns="0" rIns="0" bIns="0" rtlCol="0"/>
            <a:lstStyle/>
            <a:p/>
          </p:txBody>
        </p:sp>
        <p:sp>
          <p:nvSpPr>
            <p:cNvPr id="319" name="object 319" descr=""/>
            <p:cNvSpPr/>
            <p:nvPr/>
          </p:nvSpPr>
          <p:spPr>
            <a:xfrm>
              <a:off x="1815045" y="4042206"/>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03"/>
                  </a:moveTo>
                  <a:lnTo>
                    <a:pt x="27406" y="1003"/>
                  </a:lnTo>
                  <a:lnTo>
                    <a:pt x="27406" y="43484"/>
                  </a:lnTo>
                  <a:lnTo>
                    <a:pt x="1016" y="43484"/>
                  </a:lnTo>
                  <a:lnTo>
                    <a:pt x="1016" y="1003"/>
                  </a:lnTo>
                  <a:close/>
                </a:path>
              </a:pathLst>
            </a:custGeom>
            <a:ln w="3175">
              <a:solidFill>
                <a:srgbClr val="9BD3F0"/>
              </a:solidFill>
            </a:ln>
          </p:spPr>
          <p:txBody>
            <a:bodyPr wrap="square" lIns="0" tIns="0" rIns="0" bIns="0" rtlCol="0"/>
            <a:lstStyle/>
            <a:p/>
          </p:txBody>
        </p:sp>
        <p:sp>
          <p:nvSpPr>
            <p:cNvPr id="320" name="object 320" descr=""/>
            <p:cNvSpPr/>
            <p:nvPr/>
          </p:nvSpPr>
          <p:spPr>
            <a:xfrm>
              <a:off x="1855647" y="4042206"/>
              <a:ext cx="28575" cy="45085"/>
            </a:xfrm>
            <a:custGeom>
              <a:avLst/>
              <a:gdLst/>
              <a:ahLst/>
              <a:cxnLst/>
              <a:rect l="l" t="t" r="r" b="b"/>
              <a:pathLst>
                <a:path w="28575" h="45085">
                  <a:moveTo>
                    <a:pt x="28409" y="0"/>
                  </a:moveTo>
                  <a:lnTo>
                    <a:pt x="0" y="0"/>
                  </a:lnTo>
                  <a:lnTo>
                    <a:pt x="0" y="1003"/>
                  </a:lnTo>
                  <a:lnTo>
                    <a:pt x="0" y="44488"/>
                  </a:lnTo>
                  <a:lnTo>
                    <a:pt x="28409" y="44513"/>
                  </a:lnTo>
                  <a:lnTo>
                    <a:pt x="28409" y="43256"/>
                  </a:lnTo>
                  <a:lnTo>
                    <a:pt x="28409" y="1193"/>
                  </a:lnTo>
                  <a:lnTo>
                    <a:pt x="28409" y="0"/>
                  </a:lnTo>
                  <a:close/>
                </a:path>
              </a:pathLst>
            </a:custGeom>
            <a:solidFill>
              <a:srgbClr val="7FA6C8"/>
            </a:solidFill>
          </p:spPr>
          <p:txBody>
            <a:bodyPr wrap="square" lIns="0" tIns="0" rIns="0" bIns="0" rtlCol="0"/>
            <a:lstStyle/>
            <a:p/>
          </p:txBody>
        </p:sp>
        <p:sp>
          <p:nvSpPr>
            <p:cNvPr id="321" name="object 321" descr=""/>
            <p:cNvSpPr/>
            <p:nvPr/>
          </p:nvSpPr>
          <p:spPr>
            <a:xfrm>
              <a:off x="1855647" y="4042206"/>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03"/>
                  </a:moveTo>
                  <a:lnTo>
                    <a:pt x="26390" y="1003"/>
                  </a:lnTo>
                  <a:lnTo>
                    <a:pt x="26390" y="43484"/>
                  </a:lnTo>
                  <a:lnTo>
                    <a:pt x="1015" y="43484"/>
                  </a:lnTo>
                  <a:lnTo>
                    <a:pt x="1015" y="1003"/>
                  </a:lnTo>
                  <a:close/>
                </a:path>
              </a:pathLst>
            </a:custGeom>
            <a:ln w="3175">
              <a:solidFill>
                <a:srgbClr val="9BD3F0"/>
              </a:solidFill>
            </a:ln>
          </p:spPr>
          <p:txBody>
            <a:bodyPr wrap="square" lIns="0" tIns="0" rIns="0" bIns="0" rtlCol="0"/>
            <a:lstStyle/>
            <a:p/>
          </p:txBody>
        </p:sp>
        <p:sp>
          <p:nvSpPr>
            <p:cNvPr id="322" name="object 322" descr=""/>
            <p:cNvSpPr/>
            <p:nvPr/>
          </p:nvSpPr>
          <p:spPr>
            <a:xfrm>
              <a:off x="1895221" y="4042206"/>
              <a:ext cx="28575" cy="45085"/>
            </a:xfrm>
            <a:custGeom>
              <a:avLst/>
              <a:gdLst/>
              <a:ahLst/>
              <a:cxnLst/>
              <a:rect l="l" t="t" r="r" b="b"/>
              <a:pathLst>
                <a:path w="28575" h="45085">
                  <a:moveTo>
                    <a:pt x="28409" y="1003"/>
                  </a:moveTo>
                  <a:lnTo>
                    <a:pt x="28397" y="0"/>
                  </a:lnTo>
                  <a:lnTo>
                    <a:pt x="0" y="0"/>
                  </a:lnTo>
                  <a:lnTo>
                    <a:pt x="0" y="44513"/>
                  </a:lnTo>
                  <a:lnTo>
                    <a:pt x="28397" y="44513"/>
                  </a:lnTo>
                  <a:lnTo>
                    <a:pt x="28409" y="1003"/>
                  </a:lnTo>
                  <a:close/>
                </a:path>
              </a:pathLst>
            </a:custGeom>
            <a:solidFill>
              <a:srgbClr val="7FA6C8"/>
            </a:solidFill>
          </p:spPr>
          <p:txBody>
            <a:bodyPr wrap="square" lIns="0" tIns="0" rIns="0" bIns="0" rtlCol="0"/>
            <a:lstStyle/>
            <a:p/>
          </p:txBody>
        </p:sp>
        <p:sp>
          <p:nvSpPr>
            <p:cNvPr id="323" name="object 323" descr=""/>
            <p:cNvSpPr/>
            <p:nvPr/>
          </p:nvSpPr>
          <p:spPr>
            <a:xfrm>
              <a:off x="1895220" y="4042206"/>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03"/>
                  </a:moveTo>
                  <a:lnTo>
                    <a:pt x="27406" y="1003"/>
                  </a:lnTo>
                  <a:lnTo>
                    <a:pt x="27406" y="43484"/>
                  </a:lnTo>
                  <a:lnTo>
                    <a:pt x="1016" y="43484"/>
                  </a:lnTo>
                  <a:lnTo>
                    <a:pt x="1016" y="1003"/>
                  </a:lnTo>
                  <a:close/>
                </a:path>
              </a:pathLst>
            </a:custGeom>
            <a:ln w="3175">
              <a:solidFill>
                <a:srgbClr val="9BD3F0"/>
              </a:solidFill>
            </a:ln>
          </p:spPr>
          <p:txBody>
            <a:bodyPr wrap="square" lIns="0" tIns="0" rIns="0" bIns="0" rtlCol="0"/>
            <a:lstStyle/>
            <a:p/>
          </p:txBody>
        </p:sp>
        <p:sp>
          <p:nvSpPr>
            <p:cNvPr id="324" name="object 324" descr=""/>
            <p:cNvSpPr/>
            <p:nvPr/>
          </p:nvSpPr>
          <p:spPr>
            <a:xfrm>
              <a:off x="1938858" y="4042206"/>
              <a:ext cx="27940" cy="45085"/>
            </a:xfrm>
            <a:custGeom>
              <a:avLst/>
              <a:gdLst/>
              <a:ahLst/>
              <a:cxnLst/>
              <a:rect l="l" t="t" r="r" b="b"/>
              <a:pathLst>
                <a:path w="27939" h="45085">
                  <a:moveTo>
                    <a:pt x="27393" y="0"/>
                  </a:moveTo>
                  <a:lnTo>
                    <a:pt x="0" y="0"/>
                  </a:lnTo>
                  <a:lnTo>
                    <a:pt x="0" y="1003"/>
                  </a:lnTo>
                  <a:lnTo>
                    <a:pt x="0" y="44488"/>
                  </a:lnTo>
                  <a:lnTo>
                    <a:pt x="27393" y="44513"/>
                  </a:lnTo>
                  <a:lnTo>
                    <a:pt x="27393" y="43256"/>
                  </a:lnTo>
                  <a:lnTo>
                    <a:pt x="27393" y="1193"/>
                  </a:lnTo>
                  <a:lnTo>
                    <a:pt x="27393" y="1003"/>
                  </a:lnTo>
                  <a:lnTo>
                    <a:pt x="27393" y="0"/>
                  </a:lnTo>
                  <a:close/>
                </a:path>
              </a:pathLst>
            </a:custGeom>
            <a:solidFill>
              <a:srgbClr val="7FA6C8"/>
            </a:solidFill>
          </p:spPr>
          <p:txBody>
            <a:bodyPr wrap="square" lIns="0" tIns="0" rIns="0" bIns="0" rtlCol="0"/>
            <a:lstStyle/>
            <a:p/>
          </p:txBody>
        </p:sp>
        <p:sp>
          <p:nvSpPr>
            <p:cNvPr id="325" name="object 325" descr=""/>
            <p:cNvSpPr/>
            <p:nvPr/>
          </p:nvSpPr>
          <p:spPr>
            <a:xfrm>
              <a:off x="1938858" y="4042206"/>
              <a:ext cx="27940" cy="45085"/>
            </a:xfrm>
            <a:custGeom>
              <a:avLst/>
              <a:gdLst/>
              <a:ahLst/>
              <a:cxnLst/>
              <a:rect l="l" t="t" r="r" b="b"/>
              <a:pathLst>
                <a:path w="27939" h="45085">
                  <a:moveTo>
                    <a:pt x="0" y="0"/>
                  </a:moveTo>
                  <a:lnTo>
                    <a:pt x="27393" y="0"/>
                  </a:lnTo>
                  <a:lnTo>
                    <a:pt x="27393" y="44500"/>
                  </a:lnTo>
                  <a:lnTo>
                    <a:pt x="0" y="44500"/>
                  </a:lnTo>
                  <a:lnTo>
                    <a:pt x="0" y="0"/>
                  </a:lnTo>
                  <a:close/>
                </a:path>
                <a:path w="27939" h="45085">
                  <a:moveTo>
                    <a:pt x="1016" y="1003"/>
                  </a:moveTo>
                  <a:lnTo>
                    <a:pt x="26390" y="1003"/>
                  </a:lnTo>
                  <a:lnTo>
                    <a:pt x="26390" y="43484"/>
                  </a:lnTo>
                  <a:lnTo>
                    <a:pt x="1016" y="43484"/>
                  </a:lnTo>
                  <a:lnTo>
                    <a:pt x="1016" y="1003"/>
                  </a:lnTo>
                  <a:close/>
                </a:path>
              </a:pathLst>
            </a:custGeom>
            <a:ln w="3175">
              <a:solidFill>
                <a:srgbClr val="9BD3F0"/>
              </a:solidFill>
            </a:ln>
          </p:spPr>
          <p:txBody>
            <a:bodyPr wrap="square" lIns="0" tIns="0" rIns="0" bIns="0" rtlCol="0"/>
            <a:lstStyle/>
            <a:p/>
          </p:txBody>
        </p:sp>
        <p:sp>
          <p:nvSpPr>
            <p:cNvPr id="326" name="object 326" descr=""/>
            <p:cNvSpPr/>
            <p:nvPr/>
          </p:nvSpPr>
          <p:spPr>
            <a:xfrm>
              <a:off x="1775472" y="4117047"/>
              <a:ext cx="28575" cy="45085"/>
            </a:xfrm>
            <a:custGeom>
              <a:avLst/>
              <a:gdLst/>
              <a:ahLst/>
              <a:cxnLst/>
              <a:rect l="l" t="t" r="r" b="b"/>
              <a:pathLst>
                <a:path w="28575" h="45085">
                  <a:moveTo>
                    <a:pt x="28397" y="0"/>
                  </a:moveTo>
                  <a:lnTo>
                    <a:pt x="27393" y="0"/>
                  </a:lnTo>
                  <a:lnTo>
                    <a:pt x="0" y="0"/>
                  </a:lnTo>
                  <a:lnTo>
                    <a:pt x="0" y="43497"/>
                  </a:lnTo>
                  <a:lnTo>
                    <a:pt x="0" y="44513"/>
                  </a:lnTo>
                  <a:lnTo>
                    <a:pt x="28397" y="44513"/>
                  </a:lnTo>
                  <a:lnTo>
                    <a:pt x="28397" y="43307"/>
                  </a:lnTo>
                  <a:lnTo>
                    <a:pt x="28397" y="1193"/>
                  </a:lnTo>
                  <a:lnTo>
                    <a:pt x="28397" y="0"/>
                  </a:lnTo>
                  <a:close/>
                </a:path>
              </a:pathLst>
            </a:custGeom>
            <a:solidFill>
              <a:srgbClr val="7FA6C8"/>
            </a:solidFill>
          </p:spPr>
          <p:txBody>
            <a:bodyPr wrap="square" lIns="0" tIns="0" rIns="0" bIns="0" rtlCol="0"/>
            <a:lstStyle/>
            <a:p/>
          </p:txBody>
        </p:sp>
        <p:sp>
          <p:nvSpPr>
            <p:cNvPr id="327" name="object 327" descr=""/>
            <p:cNvSpPr/>
            <p:nvPr/>
          </p:nvSpPr>
          <p:spPr>
            <a:xfrm>
              <a:off x="1775472" y="411704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6390" y="1015"/>
                  </a:lnTo>
                  <a:lnTo>
                    <a:pt x="26390" y="43497"/>
                  </a:lnTo>
                  <a:lnTo>
                    <a:pt x="1016" y="43497"/>
                  </a:lnTo>
                  <a:lnTo>
                    <a:pt x="1016" y="1015"/>
                  </a:lnTo>
                  <a:close/>
                </a:path>
              </a:pathLst>
            </a:custGeom>
            <a:ln w="3175">
              <a:solidFill>
                <a:srgbClr val="9BD3F0"/>
              </a:solidFill>
            </a:ln>
          </p:spPr>
          <p:txBody>
            <a:bodyPr wrap="square" lIns="0" tIns="0" rIns="0" bIns="0" rtlCol="0"/>
            <a:lstStyle/>
            <a:p/>
          </p:txBody>
        </p:sp>
        <p:sp>
          <p:nvSpPr>
            <p:cNvPr id="328" name="object 328" descr=""/>
            <p:cNvSpPr/>
            <p:nvPr/>
          </p:nvSpPr>
          <p:spPr>
            <a:xfrm>
              <a:off x="1815046" y="4117047"/>
              <a:ext cx="28575" cy="45085"/>
            </a:xfrm>
            <a:custGeom>
              <a:avLst/>
              <a:gdLst/>
              <a:ahLst/>
              <a:cxnLst/>
              <a:rect l="l" t="t" r="r" b="b"/>
              <a:pathLst>
                <a:path w="28575" h="45085">
                  <a:moveTo>
                    <a:pt x="28409" y="0"/>
                  </a:moveTo>
                  <a:lnTo>
                    <a:pt x="1016" y="0"/>
                  </a:lnTo>
                  <a:lnTo>
                    <a:pt x="0" y="0"/>
                  </a:lnTo>
                  <a:lnTo>
                    <a:pt x="0" y="44513"/>
                  </a:lnTo>
                  <a:lnTo>
                    <a:pt x="28409" y="44513"/>
                  </a:lnTo>
                  <a:lnTo>
                    <a:pt x="28409" y="43497"/>
                  </a:lnTo>
                  <a:lnTo>
                    <a:pt x="28409" y="43307"/>
                  </a:lnTo>
                  <a:lnTo>
                    <a:pt x="28409" y="1193"/>
                  </a:lnTo>
                  <a:lnTo>
                    <a:pt x="28409" y="0"/>
                  </a:lnTo>
                  <a:close/>
                </a:path>
              </a:pathLst>
            </a:custGeom>
            <a:solidFill>
              <a:srgbClr val="7FA6C8"/>
            </a:solidFill>
          </p:spPr>
          <p:txBody>
            <a:bodyPr wrap="square" lIns="0" tIns="0" rIns="0" bIns="0" rtlCol="0"/>
            <a:lstStyle/>
            <a:p/>
          </p:txBody>
        </p:sp>
        <p:sp>
          <p:nvSpPr>
            <p:cNvPr id="329" name="object 329" descr=""/>
            <p:cNvSpPr/>
            <p:nvPr/>
          </p:nvSpPr>
          <p:spPr>
            <a:xfrm>
              <a:off x="1815045" y="411704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7406" y="1015"/>
                  </a:lnTo>
                  <a:lnTo>
                    <a:pt x="27406" y="43497"/>
                  </a:lnTo>
                  <a:lnTo>
                    <a:pt x="1016" y="43497"/>
                  </a:lnTo>
                  <a:lnTo>
                    <a:pt x="1016" y="1015"/>
                  </a:lnTo>
                  <a:close/>
                </a:path>
              </a:pathLst>
            </a:custGeom>
            <a:ln w="3175">
              <a:solidFill>
                <a:srgbClr val="9BD3F0"/>
              </a:solidFill>
            </a:ln>
          </p:spPr>
          <p:txBody>
            <a:bodyPr wrap="square" lIns="0" tIns="0" rIns="0" bIns="0" rtlCol="0"/>
            <a:lstStyle/>
            <a:p/>
          </p:txBody>
        </p:sp>
        <p:sp>
          <p:nvSpPr>
            <p:cNvPr id="330" name="object 330" descr=""/>
            <p:cNvSpPr/>
            <p:nvPr/>
          </p:nvSpPr>
          <p:spPr>
            <a:xfrm>
              <a:off x="1855647" y="4117047"/>
              <a:ext cx="28575" cy="45085"/>
            </a:xfrm>
            <a:custGeom>
              <a:avLst/>
              <a:gdLst/>
              <a:ahLst/>
              <a:cxnLst/>
              <a:rect l="l" t="t" r="r" b="b"/>
              <a:pathLst>
                <a:path w="28575" h="45085">
                  <a:moveTo>
                    <a:pt x="28409" y="0"/>
                  </a:moveTo>
                  <a:lnTo>
                    <a:pt x="27393" y="0"/>
                  </a:lnTo>
                  <a:lnTo>
                    <a:pt x="0" y="0"/>
                  </a:lnTo>
                  <a:lnTo>
                    <a:pt x="0" y="43497"/>
                  </a:lnTo>
                  <a:lnTo>
                    <a:pt x="0" y="44513"/>
                  </a:lnTo>
                  <a:lnTo>
                    <a:pt x="28409" y="44513"/>
                  </a:lnTo>
                  <a:lnTo>
                    <a:pt x="28409" y="43307"/>
                  </a:lnTo>
                  <a:lnTo>
                    <a:pt x="28409" y="1193"/>
                  </a:lnTo>
                  <a:lnTo>
                    <a:pt x="28409" y="0"/>
                  </a:lnTo>
                  <a:close/>
                </a:path>
              </a:pathLst>
            </a:custGeom>
            <a:solidFill>
              <a:srgbClr val="7FA6C8"/>
            </a:solidFill>
          </p:spPr>
          <p:txBody>
            <a:bodyPr wrap="square" lIns="0" tIns="0" rIns="0" bIns="0" rtlCol="0"/>
            <a:lstStyle/>
            <a:p/>
          </p:txBody>
        </p:sp>
        <p:sp>
          <p:nvSpPr>
            <p:cNvPr id="331" name="object 331" descr=""/>
            <p:cNvSpPr/>
            <p:nvPr/>
          </p:nvSpPr>
          <p:spPr>
            <a:xfrm>
              <a:off x="1855647" y="411704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1015"/>
                  </a:moveTo>
                  <a:lnTo>
                    <a:pt x="26390" y="1015"/>
                  </a:lnTo>
                  <a:lnTo>
                    <a:pt x="26390" y="43497"/>
                  </a:lnTo>
                  <a:lnTo>
                    <a:pt x="1015" y="43497"/>
                  </a:lnTo>
                  <a:lnTo>
                    <a:pt x="1015" y="1015"/>
                  </a:lnTo>
                  <a:close/>
                </a:path>
              </a:pathLst>
            </a:custGeom>
            <a:ln w="3175">
              <a:solidFill>
                <a:srgbClr val="9BD3F0"/>
              </a:solidFill>
            </a:ln>
          </p:spPr>
          <p:txBody>
            <a:bodyPr wrap="square" lIns="0" tIns="0" rIns="0" bIns="0" rtlCol="0"/>
            <a:lstStyle/>
            <a:p/>
          </p:txBody>
        </p:sp>
        <p:sp>
          <p:nvSpPr>
            <p:cNvPr id="332" name="object 332" descr=""/>
            <p:cNvSpPr/>
            <p:nvPr/>
          </p:nvSpPr>
          <p:spPr>
            <a:xfrm>
              <a:off x="1895221" y="4117047"/>
              <a:ext cx="28575" cy="45085"/>
            </a:xfrm>
            <a:custGeom>
              <a:avLst/>
              <a:gdLst/>
              <a:ahLst/>
              <a:cxnLst/>
              <a:rect l="l" t="t" r="r" b="b"/>
              <a:pathLst>
                <a:path w="28575" h="45085">
                  <a:moveTo>
                    <a:pt x="28409" y="0"/>
                  </a:moveTo>
                  <a:lnTo>
                    <a:pt x="1016" y="0"/>
                  </a:lnTo>
                  <a:lnTo>
                    <a:pt x="0" y="0"/>
                  </a:lnTo>
                  <a:lnTo>
                    <a:pt x="0" y="44513"/>
                  </a:lnTo>
                  <a:lnTo>
                    <a:pt x="28397" y="44513"/>
                  </a:lnTo>
                  <a:lnTo>
                    <a:pt x="28397" y="43497"/>
                  </a:lnTo>
                  <a:lnTo>
                    <a:pt x="28409" y="0"/>
                  </a:lnTo>
                  <a:close/>
                </a:path>
              </a:pathLst>
            </a:custGeom>
            <a:solidFill>
              <a:srgbClr val="7FA6C8"/>
            </a:solidFill>
          </p:spPr>
          <p:txBody>
            <a:bodyPr wrap="square" lIns="0" tIns="0" rIns="0" bIns="0" rtlCol="0"/>
            <a:lstStyle/>
            <a:p/>
          </p:txBody>
        </p:sp>
        <p:sp>
          <p:nvSpPr>
            <p:cNvPr id="333" name="object 333" descr=""/>
            <p:cNvSpPr/>
            <p:nvPr/>
          </p:nvSpPr>
          <p:spPr>
            <a:xfrm>
              <a:off x="1895220" y="4117047"/>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1015"/>
                  </a:moveTo>
                  <a:lnTo>
                    <a:pt x="27406" y="1015"/>
                  </a:lnTo>
                  <a:lnTo>
                    <a:pt x="27406" y="43497"/>
                  </a:lnTo>
                  <a:lnTo>
                    <a:pt x="1016" y="43497"/>
                  </a:lnTo>
                  <a:lnTo>
                    <a:pt x="1016" y="1015"/>
                  </a:lnTo>
                  <a:close/>
                </a:path>
              </a:pathLst>
            </a:custGeom>
            <a:ln w="3175">
              <a:solidFill>
                <a:srgbClr val="9BD3F0"/>
              </a:solidFill>
            </a:ln>
          </p:spPr>
          <p:txBody>
            <a:bodyPr wrap="square" lIns="0" tIns="0" rIns="0" bIns="0" rtlCol="0"/>
            <a:lstStyle/>
            <a:p/>
          </p:txBody>
        </p:sp>
        <p:sp>
          <p:nvSpPr>
            <p:cNvPr id="334" name="object 334" descr=""/>
            <p:cNvSpPr/>
            <p:nvPr/>
          </p:nvSpPr>
          <p:spPr>
            <a:xfrm>
              <a:off x="1938858" y="4117047"/>
              <a:ext cx="27940" cy="45085"/>
            </a:xfrm>
            <a:custGeom>
              <a:avLst/>
              <a:gdLst/>
              <a:ahLst/>
              <a:cxnLst/>
              <a:rect l="l" t="t" r="r" b="b"/>
              <a:pathLst>
                <a:path w="27939" h="45085">
                  <a:moveTo>
                    <a:pt x="27393" y="0"/>
                  </a:moveTo>
                  <a:lnTo>
                    <a:pt x="0" y="0"/>
                  </a:lnTo>
                  <a:lnTo>
                    <a:pt x="0" y="43497"/>
                  </a:lnTo>
                  <a:lnTo>
                    <a:pt x="0" y="44513"/>
                  </a:lnTo>
                  <a:lnTo>
                    <a:pt x="27393" y="44513"/>
                  </a:lnTo>
                  <a:lnTo>
                    <a:pt x="27393" y="43497"/>
                  </a:lnTo>
                  <a:lnTo>
                    <a:pt x="27393" y="43307"/>
                  </a:lnTo>
                  <a:lnTo>
                    <a:pt x="27393" y="1193"/>
                  </a:lnTo>
                  <a:lnTo>
                    <a:pt x="27393" y="0"/>
                  </a:lnTo>
                  <a:close/>
                </a:path>
              </a:pathLst>
            </a:custGeom>
            <a:solidFill>
              <a:srgbClr val="7FA6C8"/>
            </a:solidFill>
          </p:spPr>
          <p:txBody>
            <a:bodyPr wrap="square" lIns="0" tIns="0" rIns="0" bIns="0" rtlCol="0"/>
            <a:lstStyle/>
            <a:p/>
          </p:txBody>
        </p:sp>
        <p:sp>
          <p:nvSpPr>
            <p:cNvPr id="335" name="object 335" descr=""/>
            <p:cNvSpPr/>
            <p:nvPr/>
          </p:nvSpPr>
          <p:spPr>
            <a:xfrm>
              <a:off x="1938858" y="4117047"/>
              <a:ext cx="27940" cy="45085"/>
            </a:xfrm>
            <a:custGeom>
              <a:avLst/>
              <a:gdLst/>
              <a:ahLst/>
              <a:cxnLst/>
              <a:rect l="l" t="t" r="r" b="b"/>
              <a:pathLst>
                <a:path w="27939" h="45085">
                  <a:moveTo>
                    <a:pt x="0" y="0"/>
                  </a:moveTo>
                  <a:lnTo>
                    <a:pt x="27393" y="0"/>
                  </a:lnTo>
                  <a:lnTo>
                    <a:pt x="27393" y="44500"/>
                  </a:lnTo>
                  <a:lnTo>
                    <a:pt x="0" y="44500"/>
                  </a:lnTo>
                  <a:lnTo>
                    <a:pt x="0" y="0"/>
                  </a:lnTo>
                  <a:close/>
                </a:path>
                <a:path w="27939" h="45085">
                  <a:moveTo>
                    <a:pt x="1016" y="1015"/>
                  </a:moveTo>
                  <a:lnTo>
                    <a:pt x="26390" y="1015"/>
                  </a:lnTo>
                  <a:lnTo>
                    <a:pt x="26390" y="43497"/>
                  </a:lnTo>
                  <a:lnTo>
                    <a:pt x="1016" y="43497"/>
                  </a:lnTo>
                  <a:lnTo>
                    <a:pt x="1016" y="1015"/>
                  </a:lnTo>
                  <a:close/>
                </a:path>
              </a:pathLst>
            </a:custGeom>
            <a:ln w="3175">
              <a:solidFill>
                <a:srgbClr val="9BD3F0"/>
              </a:solidFill>
            </a:ln>
          </p:spPr>
          <p:txBody>
            <a:bodyPr wrap="square" lIns="0" tIns="0" rIns="0" bIns="0" rtlCol="0"/>
            <a:lstStyle/>
            <a:p/>
          </p:txBody>
        </p:sp>
        <p:sp>
          <p:nvSpPr>
            <p:cNvPr id="336" name="object 336" descr=""/>
            <p:cNvSpPr/>
            <p:nvPr/>
          </p:nvSpPr>
          <p:spPr>
            <a:xfrm>
              <a:off x="1775472" y="4190873"/>
              <a:ext cx="28575" cy="45085"/>
            </a:xfrm>
            <a:custGeom>
              <a:avLst/>
              <a:gdLst/>
              <a:ahLst/>
              <a:cxnLst/>
              <a:rect l="l" t="t" r="r" b="b"/>
              <a:pathLst>
                <a:path w="28575" h="45085">
                  <a:moveTo>
                    <a:pt x="28397" y="0"/>
                  </a:moveTo>
                  <a:lnTo>
                    <a:pt x="0" y="0"/>
                  </a:lnTo>
                  <a:lnTo>
                    <a:pt x="0" y="1016"/>
                  </a:lnTo>
                  <a:lnTo>
                    <a:pt x="0" y="44500"/>
                  </a:lnTo>
                  <a:lnTo>
                    <a:pt x="27393" y="44500"/>
                  </a:lnTo>
                  <a:lnTo>
                    <a:pt x="28397" y="44500"/>
                  </a:lnTo>
                  <a:lnTo>
                    <a:pt x="28397" y="43256"/>
                  </a:lnTo>
                  <a:lnTo>
                    <a:pt x="28397" y="1193"/>
                  </a:lnTo>
                  <a:lnTo>
                    <a:pt x="28397" y="0"/>
                  </a:lnTo>
                  <a:close/>
                </a:path>
              </a:pathLst>
            </a:custGeom>
            <a:solidFill>
              <a:srgbClr val="7FA6C8"/>
            </a:solidFill>
          </p:spPr>
          <p:txBody>
            <a:bodyPr wrap="square" lIns="0" tIns="0" rIns="0" bIns="0" rtlCol="0"/>
            <a:lstStyle/>
            <a:p/>
          </p:txBody>
        </p:sp>
        <p:sp>
          <p:nvSpPr>
            <p:cNvPr id="337" name="object 337" descr=""/>
            <p:cNvSpPr/>
            <p:nvPr/>
          </p:nvSpPr>
          <p:spPr>
            <a:xfrm>
              <a:off x="1775472" y="4190873"/>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2031"/>
                  </a:moveTo>
                  <a:lnTo>
                    <a:pt x="26390" y="2031"/>
                  </a:lnTo>
                  <a:lnTo>
                    <a:pt x="26390" y="43497"/>
                  </a:lnTo>
                  <a:lnTo>
                    <a:pt x="1016" y="43497"/>
                  </a:lnTo>
                  <a:lnTo>
                    <a:pt x="1016" y="2031"/>
                  </a:lnTo>
                  <a:close/>
                </a:path>
              </a:pathLst>
            </a:custGeom>
            <a:ln w="3175">
              <a:solidFill>
                <a:srgbClr val="9BD3F0"/>
              </a:solidFill>
            </a:ln>
          </p:spPr>
          <p:txBody>
            <a:bodyPr wrap="square" lIns="0" tIns="0" rIns="0" bIns="0" rtlCol="0"/>
            <a:lstStyle/>
            <a:p/>
          </p:txBody>
        </p:sp>
        <p:sp>
          <p:nvSpPr>
            <p:cNvPr id="338" name="object 338" descr=""/>
            <p:cNvSpPr/>
            <p:nvPr/>
          </p:nvSpPr>
          <p:spPr>
            <a:xfrm>
              <a:off x="1815046" y="4190873"/>
              <a:ext cx="28575" cy="45085"/>
            </a:xfrm>
            <a:custGeom>
              <a:avLst/>
              <a:gdLst/>
              <a:ahLst/>
              <a:cxnLst/>
              <a:rect l="l" t="t" r="r" b="b"/>
              <a:pathLst>
                <a:path w="28575" h="45085">
                  <a:moveTo>
                    <a:pt x="28409" y="0"/>
                  </a:moveTo>
                  <a:lnTo>
                    <a:pt x="0" y="0"/>
                  </a:lnTo>
                  <a:lnTo>
                    <a:pt x="0" y="44500"/>
                  </a:lnTo>
                  <a:lnTo>
                    <a:pt x="1016" y="44500"/>
                  </a:lnTo>
                  <a:lnTo>
                    <a:pt x="28409" y="44500"/>
                  </a:lnTo>
                  <a:lnTo>
                    <a:pt x="28409" y="43256"/>
                  </a:lnTo>
                  <a:lnTo>
                    <a:pt x="28409" y="1193"/>
                  </a:lnTo>
                  <a:lnTo>
                    <a:pt x="28409" y="1016"/>
                  </a:lnTo>
                  <a:lnTo>
                    <a:pt x="28409" y="0"/>
                  </a:lnTo>
                  <a:close/>
                </a:path>
              </a:pathLst>
            </a:custGeom>
            <a:solidFill>
              <a:srgbClr val="7FA6C8"/>
            </a:solidFill>
          </p:spPr>
          <p:txBody>
            <a:bodyPr wrap="square" lIns="0" tIns="0" rIns="0" bIns="0" rtlCol="0"/>
            <a:lstStyle/>
            <a:p/>
          </p:txBody>
        </p:sp>
        <p:sp>
          <p:nvSpPr>
            <p:cNvPr id="339" name="object 339" descr=""/>
            <p:cNvSpPr/>
            <p:nvPr/>
          </p:nvSpPr>
          <p:spPr>
            <a:xfrm>
              <a:off x="1815045" y="4190873"/>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2031"/>
                  </a:moveTo>
                  <a:lnTo>
                    <a:pt x="27406" y="2031"/>
                  </a:lnTo>
                  <a:lnTo>
                    <a:pt x="27406" y="43497"/>
                  </a:lnTo>
                  <a:lnTo>
                    <a:pt x="1016" y="43497"/>
                  </a:lnTo>
                  <a:lnTo>
                    <a:pt x="1016" y="2031"/>
                  </a:lnTo>
                  <a:close/>
                </a:path>
              </a:pathLst>
            </a:custGeom>
            <a:ln w="3175">
              <a:solidFill>
                <a:srgbClr val="9BD3F0"/>
              </a:solidFill>
            </a:ln>
          </p:spPr>
          <p:txBody>
            <a:bodyPr wrap="square" lIns="0" tIns="0" rIns="0" bIns="0" rtlCol="0"/>
            <a:lstStyle/>
            <a:p/>
          </p:txBody>
        </p:sp>
        <p:sp>
          <p:nvSpPr>
            <p:cNvPr id="340" name="object 340" descr=""/>
            <p:cNvSpPr/>
            <p:nvPr/>
          </p:nvSpPr>
          <p:spPr>
            <a:xfrm>
              <a:off x="1855647" y="4190873"/>
              <a:ext cx="28575" cy="45085"/>
            </a:xfrm>
            <a:custGeom>
              <a:avLst/>
              <a:gdLst/>
              <a:ahLst/>
              <a:cxnLst/>
              <a:rect l="l" t="t" r="r" b="b"/>
              <a:pathLst>
                <a:path w="28575" h="45085">
                  <a:moveTo>
                    <a:pt x="28409" y="0"/>
                  </a:moveTo>
                  <a:lnTo>
                    <a:pt x="0" y="0"/>
                  </a:lnTo>
                  <a:lnTo>
                    <a:pt x="0" y="1016"/>
                  </a:lnTo>
                  <a:lnTo>
                    <a:pt x="0" y="44500"/>
                  </a:lnTo>
                  <a:lnTo>
                    <a:pt x="27393" y="44500"/>
                  </a:lnTo>
                  <a:lnTo>
                    <a:pt x="28409" y="44500"/>
                  </a:lnTo>
                  <a:lnTo>
                    <a:pt x="28409" y="43256"/>
                  </a:lnTo>
                  <a:lnTo>
                    <a:pt x="28409" y="1193"/>
                  </a:lnTo>
                  <a:lnTo>
                    <a:pt x="28409" y="0"/>
                  </a:lnTo>
                  <a:close/>
                </a:path>
              </a:pathLst>
            </a:custGeom>
            <a:solidFill>
              <a:srgbClr val="7FA6C8"/>
            </a:solidFill>
          </p:spPr>
          <p:txBody>
            <a:bodyPr wrap="square" lIns="0" tIns="0" rIns="0" bIns="0" rtlCol="0"/>
            <a:lstStyle/>
            <a:p/>
          </p:txBody>
        </p:sp>
        <p:sp>
          <p:nvSpPr>
            <p:cNvPr id="341" name="object 341" descr=""/>
            <p:cNvSpPr/>
            <p:nvPr/>
          </p:nvSpPr>
          <p:spPr>
            <a:xfrm>
              <a:off x="1855647" y="4190873"/>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5" y="2031"/>
                  </a:moveTo>
                  <a:lnTo>
                    <a:pt x="26390" y="2031"/>
                  </a:lnTo>
                  <a:lnTo>
                    <a:pt x="26390" y="43497"/>
                  </a:lnTo>
                  <a:lnTo>
                    <a:pt x="1015" y="43497"/>
                  </a:lnTo>
                  <a:lnTo>
                    <a:pt x="1015" y="2031"/>
                  </a:lnTo>
                  <a:close/>
                </a:path>
              </a:pathLst>
            </a:custGeom>
            <a:ln w="3175">
              <a:solidFill>
                <a:srgbClr val="9BD3F0"/>
              </a:solidFill>
            </a:ln>
          </p:spPr>
          <p:txBody>
            <a:bodyPr wrap="square" lIns="0" tIns="0" rIns="0" bIns="0" rtlCol="0"/>
            <a:lstStyle/>
            <a:p/>
          </p:txBody>
        </p:sp>
        <p:sp>
          <p:nvSpPr>
            <p:cNvPr id="342" name="object 342" descr=""/>
            <p:cNvSpPr/>
            <p:nvPr/>
          </p:nvSpPr>
          <p:spPr>
            <a:xfrm>
              <a:off x="1895221" y="4190873"/>
              <a:ext cx="28575" cy="45085"/>
            </a:xfrm>
            <a:custGeom>
              <a:avLst/>
              <a:gdLst/>
              <a:ahLst/>
              <a:cxnLst/>
              <a:rect l="l" t="t" r="r" b="b"/>
              <a:pathLst>
                <a:path w="28575" h="45085">
                  <a:moveTo>
                    <a:pt x="28409" y="1016"/>
                  </a:moveTo>
                  <a:lnTo>
                    <a:pt x="28397" y="0"/>
                  </a:lnTo>
                  <a:lnTo>
                    <a:pt x="0" y="0"/>
                  </a:lnTo>
                  <a:lnTo>
                    <a:pt x="0" y="44500"/>
                  </a:lnTo>
                  <a:lnTo>
                    <a:pt x="1016" y="44500"/>
                  </a:lnTo>
                  <a:lnTo>
                    <a:pt x="28397" y="44500"/>
                  </a:lnTo>
                  <a:lnTo>
                    <a:pt x="28409" y="1016"/>
                  </a:lnTo>
                  <a:close/>
                </a:path>
              </a:pathLst>
            </a:custGeom>
            <a:solidFill>
              <a:srgbClr val="7FA6C8"/>
            </a:solidFill>
          </p:spPr>
          <p:txBody>
            <a:bodyPr wrap="square" lIns="0" tIns="0" rIns="0" bIns="0" rtlCol="0"/>
            <a:lstStyle/>
            <a:p/>
          </p:txBody>
        </p:sp>
        <p:sp>
          <p:nvSpPr>
            <p:cNvPr id="343" name="object 343" descr=""/>
            <p:cNvSpPr/>
            <p:nvPr/>
          </p:nvSpPr>
          <p:spPr>
            <a:xfrm>
              <a:off x="1895220" y="4190873"/>
              <a:ext cx="28575" cy="45085"/>
            </a:xfrm>
            <a:custGeom>
              <a:avLst/>
              <a:gdLst/>
              <a:ahLst/>
              <a:cxnLst/>
              <a:rect l="l" t="t" r="r" b="b"/>
              <a:pathLst>
                <a:path w="28575" h="45085">
                  <a:moveTo>
                    <a:pt x="0" y="0"/>
                  </a:moveTo>
                  <a:lnTo>
                    <a:pt x="28409" y="0"/>
                  </a:lnTo>
                  <a:lnTo>
                    <a:pt x="28409" y="44500"/>
                  </a:lnTo>
                  <a:lnTo>
                    <a:pt x="0" y="44500"/>
                  </a:lnTo>
                  <a:lnTo>
                    <a:pt x="0" y="0"/>
                  </a:lnTo>
                  <a:close/>
                </a:path>
                <a:path w="28575" h="45085">
                  <a:moveTo>
                    <a:pt x="1016" y="2031"/>
                  </a:moveTo>
                  <a:lnTo>
                    <a:pt x="27406" y="2031"/>
                  </a:lnTo>
                  <a:lnTo>
                    <a:pt x="27406" y="43497"/>
                  </a:lnTo>
                  <a:lnTo>
                    <a:pt x="1016" y="43497"/>
                  </a:lnTo>
                  <a:lnTo>
                    <a:pt x="1016" y="2031"/>
                  </a:lnTo>
                  <a:close/>
                </a:path>
              </a:pathLst>
            </a:custGeom>
            <a:ln w="3175">
              <a:solidFill>
                <a:srgbClr val="9BD3F0"/>
              </a:solidFill>
            </a:ln>
          </p:spPr>
          <p:txBody>
            <a:bodyPr wrap="square" lIns="0" tIns="0" rIns="0" bIns="0" rtlCol="0"/>
            <a:lstStyle/>
            <a:p/>
          </p:txBody>
        </p:sp>
        <p:sp>
          <p:nvSpPr>
            <p:cNvPr id="344" name="object 344" descr=""/>
            <p:cNvSpPr/>
            <p:nvPr/>
          </p:nvSpPr>
          <p:spPr>
            <a:xfrm>
              <a:off x="1938858" y="4190873"/>
              <a:ext cx="27940" cy="45085"/>
            </a:xfrm>
            <a:custGeom>
              <a:avLst/>
              <a:gdLst/>
              <a:ahLst/>
              <a:cxnLst/>
              <a:rect l="l" t="t" r="r" b="b"/>
              <a:pathLst>
                <a:path w="27939" h="45085">
                  <a:moveTo>
                    <a:pt x="27393" y="0"/>
                  </a:moveTo>
                  <a:lnTo>
                    <a:pt x="0" y="0"/>
                  </a:lnTo>
                  <a:lnTo>
                    <a:pt x="0" y="1016"/>
                  </a:lnTo>
                  <a:lnTo>
                    <a:pt x="0" y="44500"/>
                  </a:lnTo>
                  <a:lnTo>
                    <a:pt x="27393" y="44500"/>
                  </a:lnTo>
                  <a:lnTo>
                    <a:pt x="27393" y="43256"/>
                  </a:lnTo>
                  <a:lnTo>
                    <a:pt x="27393" y="1193"/>
                  </a:lnTo>
                  <a:lnTo>
                    <a:pt x="27393" y="1016"/>
                  </a:lnTo>
                  <a:lnTo>
                    <a:pt x="27393" y="0"/>
                  </a:lnTo>
                  <a:close/>
                </a:path>
              </a:pathLst>
            </a:custGeom>
            <a:solidFill>
              <a:srgbClr val="7FA6C8"/>
            </a:solidFill>
          </p:spPr>
          <p:txBody>
            <a:bodyPr wrap="square" lIns="0" tIns="0" rIns="0" bIns="0" rtlCol="0"/>
            <a:lstStyle/>
            <a:p/>
          </p:txBody>
        </p:sp>
        <p:sp>
          <p:nvSpPr>
            <p:cNvPr id="345" name="object 345" descr=""/>
            <p:cNvSpPr/>
            <p:nvPr/>
          </p:nvSpPr>
          <p:spPr>
            <a:xfrm>
              <a:off x="1938858" y="4190873"/>
              <a:ext cx="27940" cy="45085"/>
            </a:xfrm>
            <a:custGeom>
              <a:avLst/>
              <a:gdLst/>
              <a:ahLst/>
              <a:cxnLst/>
              <a:rect l="l" t="t" r="r" b="b"/>
              <a:pathLst>
                <a:path w="27939" h="45085">
                  <a:moveTo>
                    <a:pt x="0" y="0"/>
                  </a:moveTo>
                  <a:lnTo>
                    <a:pt x="27393" y="0"/>
                  </a:lnTo>
                  <a:lnTo>
                    <a:pt x="27393" y="44500"/>
                  </a:lnTo>
                  <a:lnTo>
                    <a:pt x="0" y="44500"/>
                  </a:lnTo>
                  <a:lnTo>
                    <a:pt x="0" y="0"/>
                  </a:lnTo>
                  <a:close/>
                </a:path>
                <a:path w="27939" h="45085">
                  <a:moveTo>
                    <a:pt x="1016" y="2031"/>
                  </a:moveTo>
                  <a:lnTo>
                    <a:pt x="26390" y="2031"/>
                  </a:lnTo>
                  <a:lnTo>
                    <a:pt x="26390" y="43497"/>
                  </a:lnTo>
                  <a:lnTo>
                    <a:pt x="1016" y="43497"/>
                  </a:lnTo>
                  <a:lnTo>
                    <a:pt x="1016" y="2031"/>
                  </a:lnTo>
                  <a:close/>
                </a:path>
              </a:pathLst>
            </a:custGeom>
            <a:ln w="3175">
              <a:solidFill>
                <a:srgbClr val="9BD3F0"/>
              </a:solidFill>
            </a:ln>
          </p:spPr>
          <p:txBody>
            <a:bodyPr wrap="square" lIns="0" tIns="0" rIns="0" bIns="0" rtlCol="0"/>
            <a:lstStyle/>
            <a:p/>
          </p:txBody>
        </p:sp>
        <p:sp>
          <p:nvSpPr>
            <p:cNvPr id="346" name="object 346" descr=""/>
            <p:cNvSpPr/>
            <p:nvPr/>
          </p:nvSpPr>
          <p:spPr>
            <a:xfrm>
              <a:off x="1697850" y="3466693"/>
              <a:ext cx="212090" cy="366395"/>
            </a:xfrm>
            <a:custGeom>
              <a:avLst/>
              <a:gdLst/>
              <a:ahLst/>
              <a:cxnLst/>
              <a:rect l="l" t="t" r="r" b="b"/>
              <a:pathLst>
                <a:path w="212089" h="366395">
                  <a:moveTo>
                    <a:pt x="212089" y="0"/>
                  </a:moveTo>
                  <a:lnTo>
                    <a:pt x="0" y="0"/>
                  </a:lnTo>
                  <a:lnTo>
                    <a:pt x="0" y="366217"/>
                  </a:lnTo>
                  <a:lnTo>
                    <a:pt x="212089" y="366217"/>
                  </a:lnTo>
                  <a:lnTo>
                    <a:pt x="212089" y="0"/>
                  </a:lnTo>
                  <a:close/>
                </a:path>
              </a:pathLst>
            </a:custGeom>
            <a:solidFill>
              <a:srgbClr val="92D050">
                <a:alpha val="50195"/>
              </a:srgbClr>
            </a:solidFill>
          </p:spPr>
          <p:txBody>
            <a:bodyPr wrap="square" lIns="0" tIns="0" rIns="0" bIns="0" rtlCol="0"/>
            <a:lstStyle/>
            <a:p/>
          </p:txBody>
        </p:sp>
        <p:pic>
          <p:nvPicPr>
            <p:cNvPr id="347" name="object 347"/>
            <p:cNvPicPr/>
            <p:nvPr/>
          </p:nvPicPr>
          <p:blipFill>
            <a:blip r:embed="rId6" cstate="print"/>
            <a:stretch>
              <a:fillRect/>
            </a:stretch>
          </p:blipFill>
          <p:spPr>
            <a:xfrm>
              <a:off x="1633847" y="3467705"/>
              <a:ext cx="142639" cy="377421"/>
            </a:xfrm>
            <a:prstGeom prst="rect">
              <a:avLst/>
            </a:prstGeom>
          </p:spPr>
        </p:pic>
        <p:sp>
          <p:nvSpPr>
            <p:cNvPr id="348" name="object 348" descr=""/>
            <p:cNvSpPr/>
            <p:nvPr/>
          </p:nvSpPr>
          <p:spPr>
            <a:xfrm>
              <a:off x="1602727" y="3874693"/>
              <a:ext cx="212090" cy="363855"/>
            </a:xfrm>
            <a:custGeom>
              <a:avLst/>
              <a:gdLst/>
              <a:ahLst/>
              <a:cxnLst/>
              <a:rect l="l" t="t" r="r" b="b"/>
              <a:pathLst>
                <a:path w="212089" h="363854">
                  <a:moveTo>
                    <a:pt x="212090" y="0"/>
                  </a:moveTo>
                  <a:lnTo>
                    <a:pt x="0" y="0"/>
                  </a:lnTo>
                  <a:lnTo>
                    <a:pt x="0" y="363588"/>
                  </a:lnTo>
                  <a:lnTo>
                    <a:pt x="212090" y="363588"/>
                  </a:lnTo>
                  <a:lnTo>
                    <a:pt x="212090" y="0"/>
                  </a:lnTo>
                  <a:close/>
                </a:path>
              </a:pathLst>
            </a:custGeom>
            <a:solidFill>
              <a:srgbClr val="92D050">
                <a:alpha val="50195"/>
              </a:srgbClr>
            </a:solidFill>
          </p:spPr>
          <p:txBody>
            <a:bodyPr wrap="square" lIns="0" tIns="0" rIns="0" bIns="0" rtlCol="0"/>
            <a:lstStyle/>
            <a:p/>
          </p:txBody>
        </p:sp>
        <p:pic>
          <p:nvPicPr>
            <p:cNvPr id="349" name="object 349"/>
            <p:cNvPicPr/>
            <p:nvPr/>
          </p:nvPicPr>
          <p:blipFill>
            <a:blip r:embed="rId6" cstate="print"/>
            <a:stretch>
              <a:fillRect/>
            </a:stretch>
          </p:blipFill>
          <p:spPr>
            <a:xfrm>
              <a:off x="1538720" y="3873961"/>
              <a:ext cx="142639" cy="374718"/>
            </a:xfrm>
            <a:prstGeom prst="rect">
              <a:avLst/>
            </a:prstGeom>
          </p:spPr>
        </p:pic>
        <p:pic>
          <p:nvPicPr>
            <p:cNvPr id="350" name="object 350"/>
            <p:cNvPicPr/>
            <p:nvPr/>
          </p:nvPicPr>
          <p:blipFill>
            <a:blip r:embed="rId7" cstate="print"/>
            <a:stretch>
              <a:fillRect/>
            </a:stretch>
          </p:blipFill>
          <p:spPr>
            <a:xfrm>
              <a:off x="391998" y="3569494"/>
              <a:ext cx="724436" cy="721416"/>
            </a:xfrm>
            <a:prstGeom prst="rect">
              <a:avLst/>
            </a:prstGeom>
          </p:spPr>
        </p:pic>
        <p:pic>
          <p:nvPicPr>
            <p:cNvPr id="351" name="object 351"/>
            <p:cNvPicPr/>
            <p:nvPr/>
          </p:nvPicPr>
          <p:blipFill>
            <a:blip r:embed="rId18" cstate="print"/>
            <a:stretch>
              <a:fillRect/>
            </a:stretch>
          </p:blipFill>
          <p:spPr>
            <a:xfrm>
              <a:off x="762761" y="3801618"/>
              <a:ext cx="844295" cy="457199"/>
            </a:xfrm>
            <a:prstGeom prst="rect">
              <a:avLst/>
            </a:prstGeom>
          </p:spPr>
        </p:pic>
        <p:pic>
          <p:nvPicPr>
            <p:cNvPr id="352" name="object 352" descr=""/>
            <p:cNvPicPr/>
            <p:nvPr/>
          </p:nvPicPr>
          <p:blipFill>
            <a:blip r:embed="rId19" cstate="print"/>
            <a:stretch>
              <a:fillRect/>
            </a:stretch>
          </p:blipFill>
          <p:spPr>
            <a:xfrm>
              <a:off x="810056" y="3824643"/>
              <a:ext cx="749604" cy="364966"/>
            </a:xfrm>
            <a:prstGeom prst="rect">
              <a:avLst/>
            </a:prstGeom>
          </p:spPr>
        </p:pic>
        <p:sp>
          <p:nvSpPr>
            <p:cNvPr id="353" name="object 353" descr=""/>
            <p:cNvSpPr/>
            <p:nvPr/>
          </p:nvSpPr>
          <p:spPr>
            <a:xfrm>
              <a:off x="810051" y="3824684"/>
              <a:ext cx="749935" cy="365125"/>
            </a:xfrm>
            <a:custGeom>
              <a:avLst/>
              <a:gdLst/>
              <a:ahLst/>
              <a:cxnLst/>
              <a:rect l="l" t="t" r="r" b="b"/>
              <a:pathLst>
                <a:path w="749935" h="365125">
                  <a:moveTo>
                    <a:pt x="0" y="12808"/>
                  </a:moveTo>
                  <a:lnTo>
                    <a:pt x="11499" y="3475"/>
                  </a:lnTo>
                  <a:lnTo>
                    <a:pt x="34049" y="0"/>
                  </a:lnTo>
                  <a:lnTo>
                    <a:pt x="66507" y="2091"/>
                  </a:lnTo>
                  <a:lnTo>
                    <a:pt x="107726" y="9459"/>
                  </a:lnTo>
                  <a:lnTo>
                    <a:pt x="156563" y="21816"/>
                  </a:lnTo>
                  <a:lnTo>
                    <a:pt x="211872" y="38871"/>
                  </a:lnTo>
                  <a:lnTo>
                    <a:pt x="272510" y="60336"/>
                  </a:lnTo>
                  <a:lnTo>
                    <a:pt x="337332" y="85920"/>
                  </a:lnTo>
                  <a:lnTo>
                    <a:pt x="405193" y="115335"/>
                  </a:lnTo>
                  <a:lnTo>
                    <a:pt x="472075" y="146913"/>
                  </a:lnTo>
                  <a:lnTo>
                    <a:pt x="534073" y="178734"/>
                  </a:lnTo>
                  <a:lnTo>
                    <a:pt x="590215" y="210129"/>
                  </a:lnTo>
                  <a:lnTo>
                    <a:pt x="639527" y="240429"/>
                  </a:lnTo>
                  <a:lnTo>
                    <a:pt x="681038" y="268967"/>
                  </a:lnTo>
                  <a:lnTo>
                    <a:pt x="713774" y="295073"/>
                  </a:lnTo>
                  <a:lnTo>
                    <a:pt x="749030" y="337315"/>
                  </a:lnTo>
                  <a:lnTo>
                    <a:pt x="749604" y="352114"/>
                  </a:lnTo>
                  <a:lnTo>
                    <a:pt x="738105" y="361450"/>
                  </a:lnTo>
                  <a:lnTo>
                    <a:pt x="715556" y="364927"/>
                  </a:lnTo>
                  <a:lnTo>
                    <a:pt x="641882" y="355469"/>
                  </a:lnTo>
                  <a:lnTo>
                    <a:pt x="593046" y="343112"/>
                  </a:lnTo>
                  <a:lnTo>
                    <a:pt x="537737" y="326057"/>
                  </a:lnTo>
                  <a:lnTo>
                    <a:pt x="477099" y="304593"/>
                  </a:lnTo>
                  <a:lnTo>
                    <a:pt x="412275" y="279011"/>
                  </a:lnTo>
                  <a:lnTo>
                    <a:pt x="344411" y="249599"/>
                  </a:lnTo>
                  <a:lnTo>
                    <a:pt x="277530" y="218021"/>
                  </a:lnTo>
                  <a:lnTo>
                    <a:pt x="215532" y="186199"/>
                  </a:lnTo>
                  <a:lnTo>
                    <a:pt x="159392" y="154802"/>
                  </a:lnTo>
                  <a:lnTo>
                    <a:pt x="110081" y="124500"/>
                  </a:lnTo>
                  <a:lnTo>
                    <a:pt x="68571" y="95960"/>
                  </a:lnTo>
                  <a:lnTo>
                    <a:pt x="35836" y="69852"/>
                  </a:lnTo>
                  <a:lnTo>
                    <a:pt x="577" y="27607"/>
                  </a:lnTo>
                  <a:lnTo>
                    <a:pt x="0" y="12808"/>
                  </a:lnTo>
                  <a:close/>
                </a:path>
              </a:pathLst>
            </a:custGeom>
            <a:ln w="9525">
              <a:solidFill>
                <a:srgbClr val="F9F9F9"/>
              </a:solidFill>
            </a:ln>
          </p:spPr>
          <p:txBody>
            <a:bodyPr wrap="square" lIns="0" tIns="0" rIns="0" bIns="0" rtlCol="0"/>
            <a:lstStyle/>
            <a:p/>
          </p:txBody>
        </p:sp>
      </p:grpSp>
      <p:sp>
        <p:nvSpPr>
          <p:cNvPr id="354" name="object 354" descr=""/>
          <p:cNvSpPr txBox="1"/>
          <p:nvPr/>
        </p:nvSpPr>
        <p:spPr>
          <a:xfrm>
            <a:off x="291278" y="2501224"/>
            <a:ext cx="3877945" cy="1066165"/>
          </a:xfrm>
          <a:prstGeom prst="rect">
            <a:avLst/>
          </a:prstGeom>
        </p:spPr>
        <p:txBody>
          <a:bodyPr wrap="square" lIns="0" tIns="12065" rIns="0" bIns="0" rtlCol="0" vert="horz">
            <a:spAutoFit/>
          </a:bodyPr>
          <a:lstStyle/>
          <a:p>
            <a:pPr marL="193040">
              <a:lnSpc>
                <a:spcPct val="100000"/>
              </a:lnSpc>
              <a:spcBef>
                <a:spcPts val="95"/>
              </a:spcBef>
            </a:pPr>
            <a:r>
              <a:rPr dirty="0" sz="800" spc="-20">
                <a:solidFill>
                  <a:srgbClr val="2304BC"/>
                </a:solidFill>
                <a:latin typeface="Microsoft YaHei"/>
                <a:cs typeface="Microsoft YaHei"/>
              </a:rPr>
              <a:t>64TR</a:t>
            </a:r>
            <a:r>
              <a:rPr dirty="0" sz="800" spc="-10">
                <a:solidFill>
                  <a:srgbClr val="2304BC"/>
                </a:solidFill>
                <a:latin typeface="Microsoft YaHei"/>
                <a:cs typeface="Microsoft YaHei"/>
              </a:rPr>
              <a:t>、32TR、16TR均采用192阵元，支持100M带宽，200W</a:t>
            </a:r>
            <a:r>
              <a:rPr dirty="0" sz="800" spc="-20">
                <a:solidFill>
                  <a:srgbClr val="2304BC"/>
                </a:solidFill>
                <a:latin typeface="Microsoft YaHei"/>
                <a:cs typeface="Microsoft YaHei"/>
              </a:rPr>
              <a:t>发射功率</a:t>
            </a:r>
            <a:endParaRPr sz="800">
              <a:latin typeface="Microsoft YaHei"/>
              <a:cs typeface="Microsoft YaHei"/>
            </a:endParaRPr>
          </a:p>
          <a:p>
            <a:pPr marL="234315" marR="5080" indent="-128905">
              <a:lnSpc>
                <a:spcPct val="100000"/>
              </a:lnSpc>
              <a:spcBef>
                <a:spcPts val="740"/>
              </a:spcBef>
              <a:buFont typeface="Wingdings"/>
              <a:buChar char=""/>
              <a:tabLst>
                <a:tab pos="234315" algn="l"/>
              </a:tabLst>
            </a:pPr>
            <a:r>
              <a:rPr dirty="0" sz="900">
                <a:latin typeface="Microsoft YaHei"/>
                <a:cs typeface="Microsoft YaHei"/>
              </a:rPr>
              <a:t>64TR</a:t>
            </a:r>
            <a:r>
              <a:rPr dirty="0" sz="900" spc="365">
                <a:latin typeface="Microsoft YaHei"/>
                <a:cs typeface="Microsoft YaHei"/>
              </a:rPr>
              <a:t> </a:t>
            </a:r>
            <a:r>
              <a:rPr dirty="0" sz="900" spc="-10">
                <a:latin typeface="Microsoft YaHei"/>
                <a:cs typeface="Microsoft YaHei"/>
              </a:rPr>
              <a:t>AAU</a:t>
            </a:r>
            <a:r>
              <a:rPr dirty="0" sz="900" b="1">
                <a:solidFill>
                  <a:srgbClr val="FF0000"/>
                </a:solidFill>
                <a:latin typeface="Microsoft YaHei"/>
                <a:cs typeface="Microsoft YaHei"/>
              </a:rPr>
              <a:t>性能好</a:t>
            </a:r>
            <a:r>
              <a:rPr dirty="0" sz="900">
                <a:latin typeface="Microsoft YaHei"/>
                <a:cs typeface="Microsoft YaHei"/>
              </a:rPr>
              <a:t>，但</a:t>
            </a:r>
            <a:r>
              <a:rPr dirty="0" sz="900" b="1">
                <a:solidFill>
                  <a:srgbClr val="FF0000"/>
                </a:solidFill>
                <a:latin typeface="Microsoft YaHei"/>
                <a:cs typeface="Microsoft YaHei"/>
              </a:rPr>
              <a:t>成本高</a:t>
            </a:r>
            <a:r>
              <a:rPr dirty="0" sz="900">
                <a:latin typeface="Microsoft YaHei"/>
                <a:cs typeface="Microsoft YaHei"/>
              </a:rPr>
              <a:t>，全网采用64TR</a:t>
            </a:r>
            <a:r>
              <a:rPr dirty="0" sz="900" spc="-5">
                <a:latin typeface="Microsoft YaHei"/>
                <a:cs typeface="Microsoft YaHei"/>
              </a:rPr>
              <a:t>会给运营商带来巨大的成</a:t>
            </a:r>
            <a:r>
              <a:rPr dirty="0" sz="900">
                <a:latin typeface="Microsoft YaHei"/>
                <a:cs typeface="Microsoft YaHei"/>
              </a:rPr>
              <a:t>本压力，低流量区域可考虑采用通道数较少的</a:t>
            </a:r>
            <a:r>
              <a:rPr dirty="0" sz="900" spc="-10">
                <a:latin typeface="Microsoft YaHei"/>
                <a:cs typeface="Microsoft YaHei"/>
              </a:rPr>
              <a:t>AAU</a:t>
            </a:r>
            <a:r>
              <a:rPr dirty="0" sz="900" spc="-15">
                <a:latin typeface="Microsoft YaHei"/>
                <a:cs typeface="Microsoft YaHei"/>
              </a:rPr>
              <a:t>，以降低成本</a:t>
            </a:r>
            <a:endParaRPr sz="900">
              <a:latin typeface="Microsoft YaHei"/>
              <a:cs typeface="Microsoft YaHei"/>
            </a:endParaRPr>
          </a:p>
          <a:p>
            <a:pPr marL="12700">
              <a:lnSpc>
                <a:spcPct val="100000"/>
              </a:lnSpc>
              <a:spcBef>
                <a:spcPts val="855"/>
              </a:spcBef>
            </a:pPr>
            <a:r>
              <a:rPr dirty="0" sz="1200" spc="-10" b="1">
                <a:solidFill>
                  <a:srgbClr val="C00000"/>
                </a:solidFill>
                <a:latin typeface="Microsoft YaHei"/>
                <a:cs typeface="Microsoft YaHei"/>
              </a:rPr>
              <a:t>赋形能力对比：</a:t>
            </a:r>
            <a:endParaRPr sz="1200">
              <a:latin typeface="Microsoft YaHei"/>
              <a:cs typeface="Microsoft YaHei"/>
            </a:endParaRPr>
          </a:p>
          <a:p>
            <a:pPr marL="191770">
              <a:lnSpc>
                <a:spcPct val="100000"/>
              </a:lnSpc>
              <a:spcBef>
                <a:spcPts val="1080"/>
              </a:spcBef>
              <a:tabLst>
                <a:tab pos="2200910" algn="l"/>
              </a:tabLst>
            </a:pPr>
            <a:r>
              <a:rPr dirty="0" sz="800" spc="-10">
                <a:latin typeface="Microsoft YaHei"/>
                <a:cs typeface="Microsoft YaHei"/>
              </a:rPr>
              <a:t>16T16R</a:t>
            </a:r>
            <a:r>
              <a:rPr dirty="0" sz="800">
                <a:latin typeface="Microsoft YaHei"/>
                <a:cs typeface="Microsoft YaHei"/>
              </a:rPr>
              <a:t>	</a:t>
            </a:r>
            <a:r>
              <a:rPr dirty="0" sz="800" spc="-10">
                <a:latin typeface="Microsoft YaHei"/>
                <a:cs typeface="Microsoft YaHei"/>
              </a:rPr>
              <a:t>64T64R</a:t>
            </a:r>
            <a:endParaRPr sz="800">
              <a:latin typeface="Microsoft YaHei"/>
              <a:cs typeface="Microsoft YaHei"/>
            </a:endParaRPr>
          </a:p>
        </p:txBody>
      </p:sp>
      <p:sp>
        <p:nvSpPr>
          <p:cNvPr id="355" name="object 355" descr=""/>
          <p:cNvSpPr txBox="1"/>
          <p:nvPr/>
        </p:nvSpPr>
        <p:spPr>
          <a:xfrm>
            <a:off x="449111" y="3653496"/>
            <a:ext cx="8451850" cy="1102995"/>
          </a:xfrm>
          <a:prstGeom prst="rect">
            <a:avLst/>
          </a:prstGeom>
        </p:spPr>
        <p:txBody>
          <a:bodyPr wrap="square" lIns="0" tIns="67310" rIns="0" bIns="0" rtlCol="0" vert="horz">
            <a:spAutoFit/>
          </a:bodyPr>
          <a:lstStyle/>
          <a:p>
            <a:pPr marL="4439920" indent="-172085">
              <a:lnSpc>
                <a:spcPct val="100000"/>
              </a:lnSpc>
              <a:spcBef>
                <a:spcPts val="530"/>
              </a:spcBef>
              <a:buFont typeface="Arial MT"/>
              <a:buChar char="•"/>
              <a:tabLst>
                <a:tab pos="4439920" algn="l"/>
              </a:tabLst>
            </a:pPr>
            <a:r>
              <a:rPr dirty="0" sz="1200" spc="-10">
                <a:latin typeface="Microsoft YaHei"/>
                <a:cs typeface="Microsoft YaHei"/>
              </a:rPr>
              <a:t>覆盖性能， 受限于上行，64TR</a:t>
            </a:r>
            <a:r>
              <a:rPr dirty="0" sz="1200">
                <a:latin typeface="Microsoft YaHei"/>
                <a:cs typeface="Microsoft YaHei"/>
              </a:rPr>
              <a:t>相比</a:t>
            </a:r>
            <a:r>
              <a:rPr dirty="0" sz="1200" spc="-10">
                <a:latin typeface="Microsoft YaHei"/>
                <a:cs typeface="Microsoft YaHei"/>
              </a:rPr>
              <a:t>16TR</a:t>
            </a:r>
            <a:r>
              <a:rPr dirty="0" sz="1200" spc="-5">
                <a:latin typeface="Microsoft YaHei"/>
                <a:cs typeface="Microsoft YaHei"/>
              </a:rPr>
              <a:t>，提升</a:t>
            </a:r>
            <a:r>
              <a:rPr dirty="0" sz="1200" spc="-10" b="1">
                <a:solidFill>
                  <a:srgbClr val="FF0000"/>
                </a:solidFill>
                <a:latin typeface="Microsoft YaHei"/>
                <a:cs typeface="Microsoft YaHei"/>
              </a:rPr>
              <a:t>13%</a:t>
            </a:r>
            <a:r>
              <a:rPr dirty="0" sz="1200" spc="-20">
                <a:latin typeface="Microsoft YaHei"/>
                <a:cs typeface="Microsoft YaHei"/>
              </a:rPr>
              <a:t>左右；</a:t>
            </a:r>
            <a:endParaRPr sz="1200">
              <a:latin typeface="Microsoft YaHei"/>
              <a:cs typeface="Microsoft YaHei"/>
            </a:endParaRPr>
          </a:p>
          <a:p>
            <a:pPr marL="4439920" indent="-172085">
              <a:lnSpc>
                <a:spcPct val="100000"/>
              </a:lnSpc>
              <a:spcBef>
                <a:spcPts val="434"/>
              </a:spcBef>
              <a:buFont typeface="Arial MT"/>
              <a:buChar char="•"/>
              <a:tabLst>
                <a:tab pos="4439920" algn="l"/>
              </a:tabLst>
            </a:pPr>
            <a:r>
              <a:rPr dirty="0" sz="1200">
                <a:latin typeface="Microsoft YaHei"/>
                <a:cs typeface="Microsoft YaHei"/>
              </a:rPr>
              <a:t>硬件成本， </a:t>
            </a:r>
            <a:r>
              <a:rPr dirty="0" sz="1200" spc="-10">
                <a:latin typeface="Microsoft YaHei"/>
                <a:cs typeface="Microsoft YaHei"/>
              </a:rPr>
              <a:t>16TR</a:t>
            </a:r>
            <a:r>
              <a:rPr dirty="0" sz="1200">
                <a:latin typeface="Microsoft YaHei"/>
                <a:cs typeface="Microsoft YaHei"/>
              </a:rPr>
              <a:t>成本约为</a:t>
            </a:r>
            <a:r>
              <a:rPr dirty="0" sz="1200" spc="-10">
                <a:latin typeface="Microsoft YaHei"/>
                <a:cs typeface="Microsoft YaHei"/>
              </a:rPr>
              <a:t>64TR</a:t>
            </a:r>
            <a:r>
              <a:rPr dirty="0" sz="1200">
                <a:latin typeface="Microsoft YaHei"/>
                <a:cs typeface="Microsoft YaHei"/>
              </a:rPr>
              <a:t>成本的</a:t>
            </a:r>
            <a:r>
              <a:rPr dirty="0" sz="1200" spc="-20" b="1">
                <a:solidFill>
                  <a:srgbClr val="FF0000"/>
                </a:solidFill>
                <a:latin typeface="Microsoft YaHei"/>
                <a:cs typeface="Microsoft YaHei"/>
              </a:rPr>
              <a:t>45%</a:t>
            </a:r>
            <a:r>
              <a:rPr dirty="0" sz="1200" spc="-20">
                <a:latin typeface="Microsoft YaHei"/>
                <a:cs typeface="Microsoft YaHei"/>
              </a:rPr>
              <a:t>；</a:t>
            </a:r>
            <a:endParaRPr sz="1200">
              <a:latin typeface="Microsoft YaHei"/>
              <a:cs typeface="Microsoft YaHei"/>
            </a:endParaRPr>
          </a:p>
          <a:p>
            <a:pPr>
              <a:lnSpc>
                <a:spcPct val="100000"/>
              </a:lnSpc>
              <a:spcBef>
                <a:spcPts val="365"/>
              </a:spcBef>
            </a:pPr>
            <a:endParaRPr sz="1200">
              <a:latin typeface="Microsoft YaHei"/>
              <a:cs typeface="Microsoft YaHei"/>
            </a:endParaRPr>
          </a:p>
          <a:p>
            <a:pPr marL="226060" marR="4810125" indent="-213995">
              <a:lnSpc>
                <a:spcPct val="100000"/>
              </a:lnSpc>
              <a:buFont typeface="Wingdings"/>
              <a:buChar char=""/>
              <a:tabLst>
                <a:tab pos="227329" algn="l"/>
              </a:tabLst>
            </a:pPr>
            <a:r>
              <a:rPr dirty="0" sz="900">
                <a:latin typeface="Microsoft YaHei"/>
                <a:cs typeface="Microsoft YaHei"/>
              </a:rPr>
              <a:t>64TR</a:t>
            </a:r>
            <a:r>
              <a:rPr dirty="0" sz="900" b="1">
                <a:solidFill>
                  <a:srgbClr val="FF0000"/>
                </a:solidFill>
                <a:latin typeface="Microsoft YaHei"/>
                <a:cs typeface="Microsoft YaHei"/>
              </a:rPr>
              <a:t>垂直方向赋形</a:t>
            </a:r>
            <a:r>
              <a:rPr dirty="0" sz="900" b="1">
                <a:latin typeface="Microsoft YaHei"/>
                <a:cs typeface="Microsoft YaHei"/>
              </a:rPr>
              <a:t>，</a:t>
            </a:r>
            <a:r>
              <a:rPr dirty="0" sz="900">
                <a:latin typeface="Microsoft YaHei"/>
                <a:cs typeface="Microsoft YaHei"/>
              </a:rPr>
              <a:t>相比16TR对于</a:t>
            </a:r>
            <a:r>
              <a:rPr dirty="0" sz="900" b="1">
                <a:solidFill>
                  <a:srgbClr val="FF0000"/>
                </a:solidFill>
                <a:latin typeface="Microsoft YaHei"/>
                <a:cs typeface="Microsoft YaHei"/>
              </a:rPr>
              <a:t>高楼覆盖</a:t>
            </a:r>
            <a:r>
              <a:rPr dirty="0" sz="900" spc="-5">
                <a:latin typeface="Microsoft YaHei"/>
                <a:cs typeface="Microsoft YaHei"/>
              </a:rPr>
              <a:t>更有优势，但对于郊区	农村，水平覆盖基本满足覆盖要求</a:t>
            </a:r>
            <a:endParaRPr sz="900">
              <a:latin typeface="Microsoft YaHei"/>
              <a:cs typeface="Microsoft YaHei"/>
            </a:endParaRPr>
          </a:p>
        </p:txBody>
      </p:sp>
      <p:sp>
        <p:nvSpPr>
          <p:cNvPr id="356" name="object 356" descr=""/>
          <p:cNvSpPr txBox="1"/>
          <p:nvPr/>
        </p:nvSpPr>
        <p:spPr>
          <a:xfrm>
            <a:off x="251030" y="767899"/>
            <a:ext cx="109220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C00000"/>
                </a:solidFill>
                <a:latin typeface="Microsoft YaHei"/>
                <a:cs typeface="Microsoft YaHei"/>
              </a:rPr>
              <a:t>硬件成本对比：</a:t>
            </a:r>
            <a:endParaRPr sz="1200">
              <a:latin typeface="Microsoft YaHei"/>
              <a:cs typeface="Microsoft YaHei"/>
            </a:endParaRPr>
          </a:p>
        </p:txBody>
      </p:sp>
      <p:sp>
        <p:nvSpPr>
          <p:cNvPr id="357" name="object 357" descr=""/>
          <p:cNvSpPr/>
          <p:nvPr/>
        </p:nvSpPr>
        <p:spPr>
          <a:xfrm>
            <a:off x="1895094" y="2141220"/>
            <a:ext cx="0" cy="45085"/>
          </a:xfrm>
          <a:custGeom>
            <a:avLst/>
            <a:gdLst/>
            <a:ahLst/>
            <a:cxnLst/>
            <a:rect l="l" t="t" r="r" b="b"/>
            <a:pathLst>
              <a:path w="0" h="45085">
                <a:moveTo>
                  <a:pt x="0" y="0"/>
                </a:moveTo>
                <a:lnTo>
                  <a:pt x="0" y="44958"/>
                </a:lnTo>
              </a:path>
            </a:pathLst>
          </a:custGeom>
          <a:ln w="9144">
            <a:solidFill>
              <a:srgbClr val="878787"/>
            </a:solidFill>
          </a:ln>
        </p:spPr>
        <p:txBody>
          <a:bodyPr wrap="square" lIns="0" tIns="0" rIns="0" bIns="0" rtlCol="0"/>
          <a:lstStyle/>
          <a:p/>
        </p:txBody>
      </p:sp>
      <p:sp>
        <p:nvSpPr>
          <p:cNvPr id="358" name="object 358" descr=""/>
          <p:cNvSpPr/>
          <p:nvPr/>
        </p:nvSpPr>
        <p:spPr>
          <a:xfrm>
            <a:off x="3071622" y="2141220"/>
            <a:ext cx="0" cy="45085"/>
          </a:xfrm>
          <a:custGeom>
            <a:avLst/>
            <a:gdLst/>
            <a:ahLst/>
            <a:cxnLst/>
            <a:rect l="l" t="t" r="r" b="b"/>
            <a:pathLst>
              <a:path w="0" h="45085">
                <a:moveTo>
                  <a:pt x="0" y="0"/>
                </a:moveTo>
                <a:lnTo>
                  <a:pt x="0" y="44958"/>
                </a:lnTo>
              </a:path>
            </a:pathLst>
          </a:custGeom>
          <a:ln w="9144">
            <a:solidFill>
              <a:srgbClr val="878787"/>
            </a:solidFill>
          </a:ln>
        </p:spPr>
        <p:txBody>
          <a:bodyPr wrap="square" lIns="0" tIns="0" rIns="0" bIns="0" rtlCol="0"/>
          <a:lstStyle/>
          <a:p/>
        </p:txBody>
      </p:sp>
      <p:graphicFrame>
        <p:nvGraphicFramePr>
          <p:cNvPr id="359" name="object 359" descr=""/>
          <p:cNvGraphicFramePr>
            <a:graphicFrameLocks noGrp="1"/>
          </p:cNvGraphicFramePr>
          <p:nvPr/>
        </p:nvGraphicFramePr>
        <p:xfrm>
          <a:off x="387235" y="995159"/>
          <a:ext cx="3942079" cy="1472565"/>
        </p:xfrm>
        <a:graphic>
          <a:graphicData uri="http://schemas.openxmlformats.org/drawingml/2006/table">
            <a:tbl>
              <a:tblPr firstRow="1" bandRow="1">
                <a:tableStyleId>{2D5ABB26-0587-4C30-8999-92F81FD0307C}</a:tableStyleId>
              </a:tblPr>
              <a:tblGrid>
                <a:gridCol w="327025"/>
                <a:gridCol w="352425"/>
                <a:gridCol w="469900"/>
                <a:gridCol w="352425"/>
                <a:gridCol w="353694"/>
                <a:gridCol w="469900"/>
                <a:gridCol w="352425"/>
                <a:gridCol w="353060"/>
                <a:gridCol w="470534"/>
                <a:gridCol w="352425"/>
              </a:tblGrid>
              <a:tr h="213360">
                <a:tc gridSpan="10">
                  <a:txBody>
                    <a:bodyPr/>
                    <a:lstStyle/>
                    <a:p>
                      <a:pPr marL="18415">
                        <a:lnSpc>
                          <a:spcPts val="1130"/>
                        </a:lnSpc>
                        <a:spcBef>
                          <a:spcPts val="455"/>
                        </a:spcBef>
                        <a:tabLst>
                          <a:tab pos="885190" algn="l"/>
                          <a:tab pos="1440815" algn="l"/>
                        </a:tabLst>
                      </a:pPr>
                      <a:r>
                        <a:rPr dirty="0" baseline="-19444" sz="1500" spc="-37">
                          <a:latin typeface="Microsoft YaHei"/>
                          <a:cs typeface="Microsoft YaHei"/>
                        </a:rPr>
                        <a:t>1.2</a:t>
                      </a:r>
                      <a:r>
                        <a:rPr dirty="0" baseline="-19444" sz="1500">
                          <a:latin typeface="Microsoft YaHei"/>
                          <a:cs typeface="Microsoft YaHei"/>
                        </a:rPr>
                        <a:t>	</a:t>
                      </a:r>
                      <a:r>
                        <a:rPr dirty="0" baseline="-38888" sz="1500" spc="-75" b="1">
                          <a:latin typeface="Microsoft YaHei"/>
                          <a:cs typeface="Microsoft YaHei"/>
                        </a:rPr>
                        <a:t>1</a:t>
                      </a:r>
                      <a:r>
                        <a:rPr dirty="0" baseline="-38888" sz="1500" b="1">
                          <a:latin typeface="Microsoft YaHei"/>
                          <a:cs typeface="Microsoft YaHei"/>
                        </a:rPr>
                        <a:t>	</a:t>
                      </a:r>
                      <a:r>
                        <a:rPr dirty="0" sz="1200" spc="-25" b="1">
                          <a:latin typeface="Microsoft YaHei"/>
                          <a:cs typeface="Microsoft YaHei"/>
                        </a:rPr>
                        <a:t>AAU</a:t>
                      </a:r>
                      <a:r>
                        <a:rPr dirty="0" sz="1200" spc="-10" b="1">
                          <a:latin typeface="Microsoft YaHei"/>
                          <a:cs typeface="Microsoft YaHei"/>
                        </a:rPr>
                        <a:t>硬件成本对比</a:t>
                      </a:r>
                      <a:endParaRPr sz="1200">
                        <a:latin typeface="Microsoft YaHei"/>
                        <a:cs typeface="Microsoft YaHei"/>
                      </a:endParaRPr>
                    </a:p>
                  </a:txBody>
                  <a:tcPr marL="0" marR="0" marB="0" marT="57785">
                    <a:lnL w="9525">
                      <a:solidFill>
                        <a:srgbClr val="878787"/>
                      </a:solidFill>
                      <a:prstDash val="solid"/>
                    </a:lnL>
                    <a:lnR w="9525">
                      <a:solidFill>
                        <a:srgbClr val="878787"/>
                      </a:solidFill>
                      <a:prstDash val="solid"/>
                    </a:lnR>
                    <a:lnT w="9525">
                      <a:solidFill>
                        <a:srgbClr val="878787"/>
                      </a:solidFill>
                      <a:prstDash val="solid"/>
                    </a:lnT>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65100">
                <a:tc rowSpan="2">
                  <a:txBody>
                    <a:bodyPr/>
                    <a:lstStyle/>
                    <a:p>
                      <a:pPr algn="ctr">
                        <a:lnSpc>
                          <a:spcPts val="1110"/>
                        </a:lnSpc>
                        <a:spcBef>
                          <a:spcPts val="530"/>
                        </a:spcBef>
                      </a:pPr>
                      <a:r>
                        <a:rPr dirty="0" sz="1000" spc="-50">
                          <a:latin typeface="Microsoft YaHei"/>
                          <a:cs typeface="Microsoft YaHei"/>
                        </a:rPr>
                        <a:t>1</a:t>
                      </a:r>
                      <a:endParaRPr sz="1000">
                        <a:latin typeface="Microsoft YaHei"/>
                        <a:cs typeface="Microsoft YaHei"/>
                      </a:endParaRPr>
                    </a:p>
                  </a:txBody>
                  <a:tcPr marL="0" marR="0" marB="0" marT="67310">
                    <a:lnL w="9525">
                      <a:solidFill>
                        <a:srgbClr val="878787"/>
                      </a:solidFill>
                      <a:prstDash val="solid"/>
                    </a:lnL>
                    <a:lnR w="9525">
                      <a:solidFill>
                        <a:srgbClr val="878787"/>
                      </a:solidFill>
                      <a:prstDash val="solid"/>
                    </a:lnR>
                  </a:tcPr>
                </a:tc>
                <a:tc gridSpan="9">
                  <a:txBody>
                    <a:bodyPr/>
                    <a:lstStyle/>
                    <a:p>
                      <a:pPr marL="854075">
                        <a:lnSpc>
                          <a:spcPts val="1205"/>
                        </a:lnSpc>
                      </a:pPr>
                      <a:r>
                        <a:rPr dirty="0" sz="1200" spc="-25" b="1">
                          <a:solidFill>
                            <a:srgbClr val="0070C0"/>
                          </a:solidFill>
                          <a:latin typeface="Microsoft YaHei"/>
                          <a:cs typeface="Microsoft YaHei"/>
                        </a:rPr>
                        <a:t>基准</a:t>
                      </a:r>
                      <a:endParaRPr sz="1200">
                        <a:latin typeface="Microsoft YaHei"/>
                        <a:cs typeface="Microsoft YaHei"/>
                      </a:endParaRPr>
                    </a:p>
                  </a:txBody>
                  <a:tcPr marL="0" marR="0" marB="0" marT="0">
                    <a:lnL w="9525">
                      <a:solidFill>
                        <a:srgbClr val="878787"/>
                      </a:solidFill>
                      <a:prstDash val="solid"/>
                    </a:lnL>
                    <a:lnR w="9525">
                      <a:solidFill>
                        <a:srgbClr val="878787"/>
                      </a:solidFill>
                      <a:prstDash val="solid"/>
                    </a:lnR>
                    <a:lnT w="9525">
                      <a:solidFill>
                        <a:srgbClr val="878787"/>
                      </a:solidFill>
                      <a:prstDash val="solid"/>
                    </a:lnT>
                    <a:lnB w="38100">
                      <a:solidFill>
                        <a:srgbClr val="FF0000"/>
                      </a:solidFill>
                      <a:prstDash val="solid"/>
                    </a:lnB>
                    <a:solidFill>
                      <a:srgbClr val="000000"/>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5880">
                <a:tc vMerge="1">
                  <a:txBody>
                    <a:bodyPr/>
                    <a:lstStyle/>
                    <a:p>
                      <a:pPr/>
                    </a:p>
                  </a:txBody>
                  <a:tcPr marL="0" marR="0" marB="0" marT="67310">
                    <a:lnL w="9525">
                      <a:solidFill>
                        <a:srgbClr val="878787"/>
                      </a:solidFill>
                      <a:prstDash val="solid"/>
                    </a:lnL>
                    <a:lnR w="9525">
                      <a:solidFill>
                        <a:srgbClr val="878787"/>
                      </a:solidFill>
                      <a:prstDash val="solid"/>
                    </a:lnR>
                  </a:tcPr>
                </a:tc>
                <a:tc rowSpan="2">
                  <a:txBody>
                    <a:bodyPr/>
                    <a:lstStyle/>
                    <a:p>
                      <a:pPr>
                        <a:lnSpc>
                          <a:spcPct val="100000"/>
                        </a:lnSpc>
                      </a:pPr>
                      <a:endParaRPr sz="800">
                        <a:latin typeface="Times New Roman"/>
                        <a:cs typeface="Times New Roman"/>
                      </a:endParaRPr>
                    </a:p>
                  </a:txBody>
                  <a:tcPr marL="0" marR="0" marB="0" marT="0">
                    <a:lnL w="9525">
                      <a:solidFill>
                        <a:srgbClr val="878787"/>
                      </a:solidFill>
                      <a:prstDash val="solid"/>
                    </a:lnL>
                    <a:lnR w="9525">
                      <a:solidFill>
                        <a:srgbClr val="20206E"/>
                      </a:solidFill>
                      <a:prstDash val="solid"/>
                    </a:lnR>
                    <a:lnT w="38100">
                      <a:solidFill>
                        <a:srgbClr val="878787"/>
                      </a:solidFill>
                      <a:prstDash val="solid"/>
                    </a:lnT>
                    <a:lnB w="9525">
                      <a:solidFill>
                        <a:srgbClr val="878787"/>
                      </a:solidFill>
                      <a:prstDash val="solid"/>
                    </a:lnB>
                    <a:solidFill>
                      <a:srgbClr val="000000"/>
                    </a:solidFill>
                  </a:tcPr>
                </a:tc>
                <a:tc rowSpan="10">
                  <a:txBody>
                    <a:bodyPr/>
                    <a:lstStyle/>
                    <a:p>
                      <a:pPr>
                        <a:lnSpc>
                          <a:spcPct val="100000"/>
                        </a:lnSpc>
                      </a:pPr>
                      <a:endParaRPr sz="1100">
                        <a:latin typeface="Times New Roman"/>
                        <a:cs typeface="Times New Roman"/>
                      </a:endParaRPr>
                    </a:p>
                  </a:txBody>
                  <a:tcPr marL="0" marR="0" marB="0" marT="0">
                    <a:lnL w="9525">
                      <a:solidFill>
                        <a:srgbClr val="20206E"/>
                      </a:solidFill>
                      <a:prstDash val="solid"/>
                    </a:lnL>
                    <a:lnR w="9525">
                      <a:solidFill>
                        <a:srgbClr val="20206E"/>
                      </a:solidFill>
                      <a:prstDash val="solid"/>
                    </a:lnR>
                    <a:lnT w="38100">
                      <a:solidFill>
                        <a:srgbClr val="FF0000"/>
                      </a:solidFill>
                      <a:prstDash val="solid"/>
                    </a:lnT>
                    <a:lnB w="9525">
                      <a:solidFill>
                        <a:srgbClr val="878787"/>
                      </a:solidFill>
                      <a:prstDash val="solid"/>
                    </a:lnB>
                    <a:solidFill>
                      <a:srgbClr val="0065B0"/>
                    </a:solidFill>
                  </a:tcPr>
                </a:tc>
                <a:tc gridSpan="7" rowSpan="2">
                  <a:txBody>
                    <a:bodyPr/>
                    <a:lstStyle/>
                    <a:p>
                      <a:pPr>
                        <a:lnSpc>
                          <a:spcPct val="100000"/>
                        </a:lnSpc>
                      </a:pPr>
                      <a:endParaRPr sz="800">
                        <a:latin typeface="Times New Roman"/>
                        <a:cs typeface="Times New Roman"/>
                      </a:endParaRPr>
                    </a:p>
                  </a:txBody>
                  <a:tcPr marL="0" marR="0" marB="0" marT="0">
                    <a:lnL w="9525">
                      <a:solidFill>
                        <a:srgbClr val="20206E"/>
                      </a:solidFill>
                      <a:prstDash val="solid"/>
                    </a:lnL>
                    <a:lnR w="9525">
                      <a:solidFill>
                        <a:srgbClr val="878787"/>
                      </a:solidFill>
                      <a:prstDash val="solid"/>
                    </a:lnR>
                    <a:lnT w="38100">
                      <a:solidFill>
                        <a:srgbClr val="FF0000"/>
                      </a:solidFill>
                      <a:prstDash val="solid"/>
                    </a:lnT>
                    <a:lnB w="9525">
                      <a:solidFill>
                        <a:srgbClr val="878787"/>
                      </a:solidFill>
                      <a:prstDash val="solid"/>
                    </a:lnB>
                    <a:solidFill>
                      <a:srgbClr val="000000"/>
                    </a:solidFill>
                  </a:tcPr>
                </a:tc>
                <a:tc rowSpan="2" hMerge="1">
                  <a:txBody>
                    <a:bodyPr/>
                    <a:lstStyle/>
                    <a:p>
                      <a:pPr/>
                    </a:p>
                  </a:txBody>
                  <a:tcPr marL="0" marR="0" marB="0" marT="0"/>
                </a:tc>
                <a:tc rowSpan="2" hMerge="1">
                  <a:txBody>
                    <a:bodyPr/>
                    <a:lstStyle/>
                    <a:p>
                      <a:pPr/>
                    </a:p>
                  </a:txBody>
                  <a:tcPr marL="0" marR="0" marB="0" marT="0"/>
                </a:tc>
                <a:tc rowSpan="2" hMerge="1">
                  <a:txBody>
                    <a:bodyPr/>
                    <a:lstStyle/>
                    <a:p>
                      <a:pPr/>
                    </a:p>
                  </a:txBody>
                  <a:tcPr marL="0" marR="0" marB="0" marT="0"/>
                </a:tc>
                <a:tc rowSpan="2" hMerge="1">
                  <a:txBody>
                    <a:bodyPr/>
                    <a:lstStyle/>
                    <a:p>
                      <a:pPr/>
                    </a:p>
                  </a:txBody>
                  <a:tcPr marL="0" marR="0" marB="0" marT="0"/>
                </a:tc>
                <a:tc rowSpan="2" hMerge="1">
                  <a:txBody>
                    <a:bodyPr/>
                    <a:lstStyle/>
                    <a:p>
                      <a:pPr/>
                    </a:p>
                  </a:txBody>
                  <a:tcPr marL="0" marR="0" marB="0" marT="0"/>
                </a:tc>
                <a:tc rowSpan="2" hMerge="1">
                  <a:txBody>
                    <a:bodyPr/>
                    <a:lstStyle/>
                    <a:p>
                      <a:pPr/>
                    </a:p>
                  </a:txBody>
                  <a:tcPr marL="0" marR="0" marB="0" marT="0"/>
                </a:tc>
              </a:tr>
              <a:tr h="87630">
                <a:tc rowSpan="2">
                  <a:txBody>
                    <a:bodyPr/>
                    <a:lstStyle/>
                    <a:p>
                      <a:pPr marL="18415">
                        <a:lnSpc>
                          <a:spcPts val="1110"/>
                        </a:lnSpc>
                        <a:spcBef>
                          <a:spcPts val="5"/>
                        </a:spcBef>
                      </a:pPr>
                      <a:r>
                        <a:rPr dirty="0" sz="1000" spc="-25">
                          <a:latin typeface="Microsoft YaHei"/>
                          <a:cs typeface="Microsoft YaHei"/>
                        </a:rPr>
                        <a:t>0.8</a:t>
                      </a:r>
                      <a:endParaRPr sz="1000">
                        <a:latin typeface="Microsoft YaHei"/>
                        <a:cs typeface="Microsoft YaHei"/>
                      </a:endParaRPr>
                    </a:p>
                  </a:txBody>
                  <a:tcPr marL="0" marR="0" marB="0" marT="635">
                    <a:lnL w="9525">
                      <a:solidFill>
                        <a:srgbClr val="878787"/>
                      </a:solidFill>
                      <a:prstDash val="solid"/>
                    </a:lnL>
                    <a:lnR w="9525">
                      <a:solidFill>
                        <a:srgbClr val="878787"/>
                      </a:solidFill>
                      <a:prstDash val="solid"/>
                    </a:lnR>
                  </a:tcPr>
                </a:tc>
                <a:tc vMerge="1">
                  <a:txBody>
                    <a:bodyPr/>
                    <a:lstStyle/>
                    <a:p>
                      <a:pPr/>
                    </a:p>
                  </a:txBody>
                  <a:tcPr marL="0" marR="0" marB="0" marT="0">
                    <a:lnL w="9525">
                      <a:solidFill>
                        <a:srgbClr val="878787"/>
                      </a:solidFill>
                      <a:prstDash val="solid"/>
                    </a:lnL>
                    <a:lnR w="9525">
                      <a:solidFill>
                        <a:srgbClr val="20206E"/>
                      </a:solidFill>
                      <a:prstDash val="solid"/>
                    </a:lnR>
                    <a:lnT w="38100">
                      <a:solidFill>
                        <a:srgbClr val="878787"/>
                      </a:solidFill>
                      <a:prstDash val="solid"/>
                    </a:lnT>
                    <a:lnB w="9525">
                      <a:solidFill>
                        <a:srgbClr val="878787"/>
                      </a:solidFill>
                      <a:prstDash val="solid"/>
                    </a:lnB>
                    <a:solidFill>
                      <a:srgbClr val="000000"/>
                    </a:solidFill>
                  </a:tcPr>
                </a:tc>
                <a:tc vMerge="1">
                  <a:txBody>
                    <a:bodyPr/>
                    <a:lstStyle/>
                    <a:p>
                      <a:pPr/>
                    </a:p>
                  </a:txBody>
                  <a:tcPr marL="0" marR="0" marB="0" marT="0">
                    <a:lnL w="9525">
                      <a:solidFill>
                        <a:srgbClr val="20206E"/>
                      </a:solidFill>
                      <a:prstDash val="solid"/>
                    </a:lnL>
                    <a:lnR w="9525">
                      <a:solidFill>
                        <a:srgbClr val="20206E"/>
                      </a:solidFill>
                      <a:prstDash val="solid"/>
                    </a:lnR>
                    <a:lnT w="38100">
                      <a:solidFill>
                        <a:srgbClr val="FF0000"/>
                      </a:solidFill>
                      <a:prstDash val="solid"/>
                    </a:lnT>
                    <a:lnB w="9525">
                      <a:solidFill>
                        <a:srgbClr val="878787"/>
                      </a:solidFill>
                      <a:prstDash val="solid"/>
                    </a:lnB>
                    <a:solidFill>
                      <a:srgbClr val="0065B0"/>
                    </a:solidFill>
                  </a:tcPr>
                </a:tc>
                <a:tc gridSpan="7" vMerge="1">
                  <a:txBody>
                    <a:bodyPr/>
                    <a:lstStyle/>
                    <a:p>
                      <a:pPr/>
                    </a:p>
                  </a:txBody>
                  <a:tcPr marL="0" marR="0" marB="0" marT="0">
                    <a:lnL w="9525">
                      <a:solidFill>
                        <a:srgbClr val="20206E"/>
                      </a:solidFill>
                      <a:prstDash val="solid"/>
                    </a:lnL>
                    <a:lnR w="9525">
                      <a:solidFill>
                        <a:srgbClr val="878787"/>
                      </a:solidFill>
                      <a:prstDash val="solid"/>
                    </a:lnR>
                    <a:lnT w="38100">
                      <a:solidFill>
                        <a:srgbClr val="FF0000"/>
                      </a:solidFill>
                      <a:prstDash val="solid"/>
                    </a:lnT>
                    <a:lnB w="9525">
                      <a:solidFill>
                        <a:srgbClr val="878787"/>
                      </a:solidFill>
                      <a:prstDash val="solid"/>
                    </a:lnB>
                    <a:solidFill>
                      <a:srgbClr val="000000"/>
                    </a:solidFill>
                  </a:tcPr>
                </a:tc>
                <a:tc hMerge="1" vMerge="1">
                  <a:txBody>
                    <a:bodyPr/>
                    <a:lstStyle/>
                    <a:p>
                      <a:pPr/>
                    </a:p>
                  </a:txBody>
                  <a:tcPr marL="0" marR="0" marB="0" marT="0"/>
                </a:tc>
                <a:tc hMerge="1" vMerge="1">
                  <a:txBody>
                    <a:bodyPr/>
                    <a:lstStyle/>
                    <a:p>
                      <a:pPr/>
                    </a:p>
                  </a:txBody>
                  <a:tcPr marL="0" marR="0" marB="0" marT="0"/>
                </a:tc>
                <a:tc hMerge="1" vMerge="1">
                  <a:txBody>
                    <a:bodyPr/>
                    <a:lstStyle/>
                    <a:p>
                      <a:pPr/>
                    </a:p>
                  </a:txBody>
                  <a:tcPr marL="0" marR="0" marB="0" marT="0"/>
                </a:tc>
                <a:tc hMerge="1" vMerge="1">
                  <a:txBody>
                    <a:bodyPr/>
                    <a:lstStyle/>
                    <a:p>
                      <a:pPr/>
                    </a:p>
                  </a:txBody>
                  <a:tcPr marL="0" marR="0" marB="0" marT="0"/>
                </a:tc>
                <a:tc hMerge="1" vMerge="1">
                  <a:txBody>
                    <a:bodyPr/>
                    <a:lstStyle/>
                    <a:p>
                      <a:pPr/>
                    </a:p>
                  </a:txBody>
                  <a:tcPr marL="0" marR="0" marB="0" marT="0"/>
                </a:tc>
                <a:tc hMerge="1" vMerge="1">
                  <a:txBody>
                    <a:bodyPr/>
                    <a:lstStyle/>
                    <a:p>
                      <a:pPr/>
                    </a:p>
                  </a:txBody>
                  <a:tcPr marL="0" marR="0" marB="0" marT="0"/>
                </a:tc>
              </a:tr>
              <a:tr h="66040">
                <a:tc vMerge="1">
                  <a:txBody>
                    <a:bodyPr/>
                    <a:lstStyle/>
                    <a:p>
                      <a:pPr/>
                    </a:p>
                  </a:txBody>
                  <a:tcPr marL="0" marR="0" marB="0" marT="635">
                    <a:lnL w="9525">
                      <a:solidFill>
                        <a:srgbClr val="878787"/>
                      </a:solidFill>
                      <a:prstDash val="solid"/>
                    </a:lnL>
                    <a:lnR w="9525">
                      <a:solidFill>
                        <a:srgbClr val="878787"/>
                      </a:solidFill>
                      <a:prstDash val="solid"/>
                    </a:lnR>
                  </a:tcPr>
                </a:tc>
                <a:tc rowSpan="2">
                  <a:txBody>
                    <a:bodyPr/>
                    <a:lstStyle/>
                    <a:p>
                      <a:pPr>
                        <a:lnSpc>
                          <a:spcPct val="100000"/>
                        </a:lnSpc>
                      </a:pPr>
                      <a:endParaRPr sz="800">
                        <a:latin typeface="Times New Roman"/>
                        <a:cs typeface="Times New Roman"/>
                      </a:endParaRPr>
                    </a:p>
                  </a:txBody>
                  <a:tcPr marL="0" marR="0" marB="0" marT="0">
                    <a:lnL w="9525">
                      <a:solidFill>
                        <a:srgbClr val="878787"/>
                      </a:solidFill>
                      <a:prstDash val="solid"/>
                    </a:lnL>
                    <a:lnR w="9525">
                      <a:solidFill>
                        <a:srgbClr val="20206E"/>
                      </a:solidFill>
                      <a:prstDash val="solid"/>
                    </a:lnR>
                    <a:lnT w="9525">
                      <a:solidFill>
                        <a:srgbClr val="878787"/>
                      </a:solidFill>
                      <a:prstDash val="solid"/>
                    </a:lnT>
                    <a:lnB w="9525">
                      <a:solidFill>
                        <a:srgbClr val="878787"/>
                      </a:solidFill>
                      <a:prstDash val="solid"/>
                    </a:lnB>
                    <a:solidFill>
                      <a:srgbClr val="000000"/>
                    </a:solidFill>
                  </a:tcPr>
                </a:tc>
                <a:tc vMerge="1">
                  <a:txBody>
                    <a:bodyPr/>
                    <a:lstStyle/>
                    <a:p>
                      <a:pPr/>
                    </a:p>
                  </a:txBody>
                  <a:tcPr marL="0" marR="0" marB="0" marT="0">
                    <a:lnL w="9525">
                      <a:solidFill>
                        <a:srgbClr val="20206E"/>
                      </a:solidFill>
                      <a:prstDash val="solid"/>
                    </a:lnL>
                    <a:lnR w="9525">
                      <a:solidFill>
                        <a:srgbClr val="20206E"/>
                      </a:solidFill>
                      <a:prstDash val="solid"/>
                    </a:lnR>
                    <a:lnT w="38100">
                      <a:solidFill>
                        <a:srgbClr val="FF0000"/>
                      </a:solidFill>
                      <a:prstDash val="solid"/>
                    </a:lnT>
                    <a:lnB w="9525">
                      <a:solidFill>
                        <a:srgbClr val="878787"/>
                      </a:solidFill>
                      <a:prstDash val="solid"/>
                    </a:lnB>
                    <a:solidFill>
                      <a:srgbClr val="0065B0"/>
                    </a:solidFill>
                  </a:tcPr>
                </a:tc>
                <a:tc gridSpan="2" rowSpan="2">
                  <a:txBody>
                    <a:bodyPr/>
                    <a:lstStyle/>
                    <a:p>
                      <a:pPr>
                        <a:lnSpc>
                          <a:spcPct val="100000"/>
                        </a:lnSpc>
                      </a:pPr>
                      <a:endParaRPr sz="800">
                        <a:latin typeface="Times New Roman"/>
                        <a:cs typeface="Times New Roman"/>
                      </a:endParaRPr>
                    </a:p>
                  </a:txBody>
                  <a:tcPr marL="0" marR="0" marB="0" marT="0">
                    <a:lnL w="9525">
                      <a:solidFill>
                        <a:srgbClr val="20206E"/>
                      </a:solidFill>
                      <a:prstDash val="solid"/>
                    </a:lnL>
                    <a:lnR w="9525">
                      <a:solidFill>
                        <a:srgbClr val="C00000"/>
                      </a:solidFill>
                      <a:prstDash val="solid"/>
                    </a:lnR>
                    <a:lnT w="9525">
                      <a:solidFill>
                        <a:srgbClr val="878787"/>
                      </a:solidFill>
                      <a:prstDash val="solid"/>
                    </a:lnT>
                    <a:lnB w="9525">
                      <a:solidFill>
                        <a:srgbClr val="878787"/>
                      </a:solidFill>
                      <a:prstDash val="solid"/>
                    </a:lnB>
                    <a:solidFill>
                      <a:srgbClr val="000000"/>
                    </a:solidFill>
                  </a:tcPr>
                </a:tc>
                <a:tc rowSpan="2" hMerge="1">
                  <a:txBody>
                    <a:bodyPr/>
                    <a:lstStyle/>
                    <a:p>
                      <a:pPr/>
                    </a:p>
                  </a:txBody>
                  <a:tcPr marL="0" marR="0" marB="0" marT="0"/>
                </a:tc>
                <a:tc rowSpan="8">
                  <a:txBody>
                    <a:bodyPr/>
                    <a:lstStyle/>
                    <a:p>
                      <a:pPr>
                        <a:lnSpc>
                          <a:spcPct val="100000"/>
                        </a:lnSpc>
                      </a:pPr>
                      <a:endParaRPr sz="1100">
                        <a:latin typeface="Times New Roman"/>
                        <a:cs typeface="Times New Roman"/>
                      </a:endParaRPr>
                    </a:p>
                  </a:txBody>
                  <a:tcPr marL="0" marR="0" marB="0" marT="0">
                    <a:lnL w="9525">
                      <a:solidFill>
                        <a:srgbClr val="C00000"/>
                      </a:solidFill>
                      <a:prstDash val="solid"/>
                    </a:lnL>
                    <a:lnR w="9525">
                      <a:solidFill>
                        <a:srgbClr val="C00000"/>
                      </a:solidFill>
                      <a:prstDash val="solid"/>
                    </a:lnR>
                    <a:lnT w="9525">
                      <a:solidFill>
                        <a:srgbClr val="C00000"/>
                      </a:solidFill>
                      <a:prstDash val="solid"/>
                    </a:lnT>
                    <a:lnB w="9525">
                      <a:solidFill>
                        <a:srgbClr val="878787"/>
                      </a:solidFill>
                      <a:prstDash val="solid"/>
                    </a:lnB>
                    <a:solidFill>
                      <a:srgbClr val="BBE0E3"/>
                    </a:solidFill>
                  </a:tcPr>
                </a:tc>
                <a:tc gridSpan="4" rowSpan="2">
                  <a:txBody>
                    <a:bodyPr/>
                    <a:lstStyle/>
                    <a:p>
                      <a:pPr marL="795020">
                        <a:lnSpc>
                          <a:spcPts val="525"/>
                        </a:lnSpc>
                        <a:spcBef>
                          <a:spcPts val="590"/>
                        </a:spcBef>
                      </a:pPr>
                      <a:r>
                        <a:rPr dirty="0" sz="1000" spc="-20" b="1">
                          <a:latin typeface="Microsoft YaHei"/>
                          <a:cs typeface="Microsoft YaHei"/>
                        </a:rPr>
                        <a:t>0.45</a:t>
                      </a:r>
                      <a:endParaRPr sz="1000">
                        <a:latin typeface="Microsoft YaHei"/>
                        <a:cs typeface="Microsoft YaHei"/>
                      </a:endParaRPr>
                    </a:p>
                  </a:txBody>
                  <a:tcPr marL="0" marR="0" marB="0" marT="74930">
                    <a:lnL w="9525">
                      <a:solidFill>
                        <a:srgbClr val="C00000"/>
                      </a:solidFill>
                      <a:prstDash val="solid"/>
                    </a:lnL>
                    <a:lnR w="9525">
                      <a:solidFill>
                        <a:srgbClr val="878787"/>
                      </a:solidFill>
                      <a:prstDash val="solid"/>
                    </a:lnR>
                    <a:lnT w="9525">
                      <a:solidFill>
                        <a:srgbClr val="878787"/>
                      </a:solidFill>
                      <a:prstDash val="solid"/>
                    </a:lnT>
                    <a:lnB w="9525">
                      <a:solidFill>
                        <a:srgbClr val="878787"/>
                      </a:solidFill>
                      <a:prstDash val="solid"/>
                    </a:lnB>
                    <a:solidFill>
                      <a:srgbClr val="000000"/>
                    </a:solidFill>
                  </a:tcPr>
                </a:tc>
                <a:tc rowSpan="2" hMerge="1">
                  <a:txBody>
                    <a:bodyPr/>
                    <a:lstStyle/>
                    <a:p>
                      <a:pPr/>
                    </a:p>
                  </a:txBody>
                  <a:tcPr marL="0" marR="0" marB="0" marT="0"/>
                </a:tc>
                <a:tc rowSpan="2" hMerge="1">
                  <a:txBody>
                    <a:bodyPr/>
                    <a:lstStyle/>
                    <a:p>
                      <a:pPr/>
                    </a:p>
                  </a:txBody>
                  <a:tcPr marL="0" marR="0" marB="0" marT="0"/>
                </a:tc>
                <a:tc rowSpan="2" hMerge="1">
                  <a:txBody>
                    <a:bodyPr/>
                    <a:lstStyle/>
                    <a:p>
                      <a:pPr/>
                    </a:p>
                  </a:txBody>
                  <a:tcPr marL="0" marR="0" marB="0" marT="0"/>
                </a:tc>
              </a:tr>
              <a:tr h="87630">
                <a:tc rowSpan="2">
                  <a:txBody>
                    <a:bodyPr/>
                    <a:lstStyle/>
                    <a:p>
                      <a:pPr marL="18415">
                        <a:lnSpc>
                          <a:spcPts val="1110"/>
                        </a:lnSpc>
                        <a:spcBef>
                          <a:spcPts val="5"/>
                        </a:spcBef>
                      </a:pPr>
                      <a:r>
                        <a:rPr dirty="0" sz="1000" spc="-25">
                          <a:latin typeface="Microsoft YaHei"/>
                          <a:cs typeface="Microsoft YaHei"/>
                        </a:rPr>
                        <a:t>0.6</a:t>
                      </a:r>
                      <a:endParaRPr sz="1000">
                        <a:latin typeface="Microsoft YaHei"/>
                        <a:cs typeface="Microsoft YaHei"/>
                      </a:endParaRPr>
                    </a:p>
                  </a:txBody>
                  <a:tcPr marL="0" marR="0" marB="0" marT="635">
                    <a:lnL w="9525">
                      <a:solidFill>
                        <a:srgbClr val="878787"/>
                      </a:solidFill>
                      <a:prstDash val="solid"/>
                    </a:lnL>
                    <a:lnR w="9525">
                      <a:solidFill>
                        <a:srgbClr val="878787"/>
                      </a:solidFill>
                      <a:prstDash val="solid"/>
                    </a:lnR>
                  </a:tcPr>
                </a:tc>
                <a:tc vMerge="1">
                  <a:txBody>
                    <a:bodyPr/>
                    <a:lstStyle/>
                    <a:p>
                      <a:pPr/>
                    </a:p>
                  </a:txBody>
                  <a:tcPr marL="0" marR="0" marB="0" marT="0">
                    <a:lnL w="9525">
                      <a:solidFill>
                        <a:srgbClr val="878787"/>
                      </a:solidFill>
                      <a:prstDash val="solid"/>
                    </a:lnL>
                    <a:lnR w="9525">
                      <a:solidFill>
                        <a:srgbClr val="20206E"/>
                      </a:solidFill>
                      <a:prstDash val="solid"/>
                    </a:lnR>
                    <a:lnT w="9525">
                      <a:solidFill>
                        <a:srgbClr val="878787"/>
                      </a:solidFill>
                      <a:prstDash val="solid"/>
                    </a:lnT>
                    <a:lnB w="9525">
                      <a:solidFill>
                        <a:srgbClr val="878787"/>
                      </a:solidFill>
                      <a:prstDash val="solid"/>
                    </a:lnB>
                    <a:solidFill>
                      <a:srgbClr val="000000"/>
                    </a:solidFill>
                  </a:tcPr>
                </a:tc>
                <a:tc vMerge="1">
                  <a:txBody>
                    <a:bodyPr/>
                    <a:lstStyle/>
                    <a:p>
                      <a:pPr/>
                    </a:p>
                  </a:txBody>
                  <a:tcPr marL="0" marR="0" marB="0" marT="0">
                    <a:lnL w="9525">
                      <a:solidFill>
                        <a:srgbClr val="20206E"/>
                      </a:solidFill>
                      <a:prstDash val="solid"/>
                    </a:lnL>
                    <a:lnR w="9525">
                      <a:solidFill>
                        <a:srgbClr val="20206E"/>
                      </a:solidFill>
                      <a:prstDash val="solid"/>
                    </a:lnR>
                    <a:lnT w="38100">
                      <a:solidFill>
                        <a:srgbClr val="FF0000"/>
                      </a:solidFill>
                      <a:prstDash val="solid"/>
                    </a:lnT>
                    <a:lnB w="9525">
                      <a:solidFill>
                        <a:srgbClr val="878787"/>
                      </a:solidFill>
                      <a:prstDash val="solid"/>
                    </a:lnB>
                    <a:solidFill>
                      <a:srgbClr val="0065B0"/>
                    </a:solidFill>
                  </a:tcPr>
                </a:tc>
                <a:tc gridSpan="2" vMerge="1">
                  <a:txBody>
                    <a:bodyPr/>
                    <a:lstStyle/>
                    <a:p>
                      <a:pPr/>
                    </a:p>
                  </a:txBody>
                  <a:tcPr marL="0" marR="0" marB="0" marT="0">
                    <a:lnL w="9525">
                      <a:solidFill>
                        <a:srgbClr val="20206E"/>
                      </a:solidFill>
                      <a:prstDash val="solid"/>
                    </a:lnL>
                    <a:lnR w="9525">
                      <a:solidFill>
                        <a:srgbClr val="C00000"/>
                      </a:solidFill>
                      <a:prstDash val="solid"/>
                    </a:lnR>
                    <a:lnT w="9525">
                      <a:solidFill>
                        <a:srgbClr val="878787"/>
                      </a:solidFill>
                      <a:prstDash val="solid"/>
                    </a:lnT>
                    <a:lnB w="9525">
                      <a:solidFill>
                        <a:srgbClr val="878787"/>
                      </a:solidFill>
                      <a:prstDash val="solid"/>
                    </a:lnB>
                    <a:solidFill>
                      <a:srgbClr val="000000"/>
                    </a:solidFill>
                  </a:tcPr>
                </a:tc>
                <a:tc hMerge="1" vMerge="1">
                  <a:txBody>
                    <a:bodyPr/>
                    <a:lstStyle/>
                    <a:p>
                      <a:pPr/>
                    </a:p>
                  </a:txBody>
                  <a:tcPr marL="0" marR="0" marB="0" marT="0"/>
                </a:tc>
                <a:tc vMerge="1">
                  <a:txBody>
                    <a:bodyPr/>
                    <a:lstStyle/>
                    <a:p>
                      <a:pPr/>
                    </a:p>
                  </a:txBody>
                  <a:tcPr marL="0" marR="0" marB="0" marT="0">
                    <a:lnL w="9525">
                      <a:solidFill>
                        <a:srgbClr val="C00000"/>
                      </a:solidFill>
                      <a:prstDash val="solid"/>
                    </a:lnL>
                    <a:lnR w="9525">
                      <a:solidFill>
                        <a:srgbClr val="C00000"/>
                      </a:solidFill>
                      <a:prstDash val="solid"/>
                    </a:lnR>
                    <a:lnT w="9525">
                      <a:solidFill>
                        <a:srgbClr val="C00000"/>
                      </a:solidFill>
                      <a:prstDash val="solid"/>
                    </a:lnT>
                    <a:lnB w="9525">
                      <a:solidFill>
                        <a:srgbClr val="878787"/>
                      </a:solidFill>
                      <a:prstDash val="solid"/>
                    </a:lnB>
                    <a:solidFill>
                      <a:srgbClr val="BBE0E3"/>
                    </a:solidFill>
                  </a:tcPr>
                </a:tc>
                <a:tc gridSpan="4" vMerge="1">
                  <a:txBody>
                    <a:bodyPr/>
                    <a:lstStyle/>
                    <a:p>
                      <a:pPr/>
                    </a:p>
                  </a:txBody>
                  <a:tcPr marL="0" marR="0" marB="0" marT="74930">
                    <a:lnL w="9525">
                      <a:solidFill>
                        <a:srgbClr val="C00000"/>
                      </a:solidFill>
                      <a:prstDash val="solid"/>
                    </a:lnL>
                    <a:lnR w="9525">
                      <a:solidFill>
                        <a:srgbClr val="878787"/>
                      </a:solidFill>
                      <a:prstDash val="solid"/>
                    </a:lnR>
                    <a:lnT w="9525">
                      <a:solidFill>
                        <a:srgbClr val="878787"/>
                      </a:solidFill>
                      <a:prstDash val="solid"/>
                    </a:lnT>
                    <a:lnB w="9525">
                      <a:solidFill>
                        <a:srgbClr val="878787"/>
                      </a:solidFill>
                      <a:prstDash val="solid"/>
                    </a:lnB>
                    <a:solidFill>
                      <a:srgbClr val="000000"/>
                    </a:solidFill>
                  </a:tcPr>
                </a:tc>
                <a:tc hMerge="1" vMerge="1">
                  <a:txBody>
                    <a:bodyPr/>
                    <a:lstStyle/>
                    <a:p>
                      <a:pPr/>
                    </a:p>
                  </a:txBody>
                  <a:tcPr marL="0" marR="0" marB="0" marT="0"/>
                </a:tc>
                <a:tc hMerge="1" vMerge="1">
                  <a:txBody>
                    <a:bodyPr/>
                    <a:lstStyle/>
                    <a:p>
                      <a:pPr/>
                    </a:p>
                  </a:txBody>
                  <a:tcPr marL="0" marR="0" marB="0" marT="0"/>
                </a:tc>
                <a:tc hMerge="1" vMerge="1">
                  <a:txBody>
                    <a:bodyPr/>
                    <a:lstStyle/>
                    <a:p>
                      <a:pPr/>
                    </a:p>
                  </a:txBody>
                  <a:tcPr marL="0" marR="0" marB="0" marT="0"/>
                </a:tc>
              </a:tr>
              <a:tr h="66040">
                <a:tc vMerge="1">
                  <a:txBody>
                    <a:bodyPr/>
                    <a:lstStyle/>
                    <a:p>
                      <a:pPr/>
                    </a:p>
                  </a:txBody>
                  <a:tcPr marL="0" marR="0" marB="0" marT="635">
                    <a:lnL w="9525">
                      <a:solidFill>
                        <a:srgbClr val="878787"/>
                      </a:solidFill>
                      <a:prstDash val="solid"/>
                    </a:lnL>
                    <a:lnR w="9525">
                      <a:solidFill>
                        <a:srgbClr val="878787"/>
                      </a:solidFill>
                      <a:prstDash val="solid"/>
                    </a:lnR>
                  </a:tcPr>
                </a:tc>
                <a:tc rowSpan="2">
                  <a:txBody>
                    <a:bodyPr/>
                    <a:lstStyle/>
                    <a:p>
                      <a:pPr>
                        <a:lnSpc>
                          <a:spcPct val="100000"/>
                        </a:lnSpc>
                      </a:pPr>
                      <a:endParaRPr sz="800">
                        <a:latin typeface="Times New Roman"/>
                        <a:cs typeface="Times New Roman"/>
                      </a:endParaRPr>
                    </a:p>
                  </a:txBody>
                  <a:tcPr marL="0" marR="0" marB="0" marT="0">
                    <a:lnL w="9525">
                      <a:solidFill>
                        <a:srgbClr val="878787"/>
                      </a:solidFill>
                      <a:prstDash val="solid"/>
                    </a:lnL>
                    <a:lnR w="9525">
                      <a:solidFill>
                        <a:srgbClr val="20206E"/>
                      </a:solidFill>
                      <a:prstDash val="solid"/>
                    </a:lnR>
                    <a:lnT w="9525">
                      <a:solidFill>
                        <a:srgbClr val="878787"/>
                      </a:solidFill>
                      <a:prstDash val="solid"/>
                    </a:lnT>
                    <a:lnB w="9525">
                      <a:solidFill>
                        <a:srgbClr val="878787"/>
                      </a:solidFill>
                      <a:prstDash val="solid"/>
                    </a:lnB>
                    <a:solidFill>
                      <a:srgbClr val="000000"/>
                    </a:solidFill>
                  </a:tcPr>
                </a:tc>
                <a:tc vMerge="1">
                  <a:txBody>
                    <a:bodyPr/>
                    <a:lstStyle/>
                    <a:p>
                      <a:pPr/>
                    </a:p>
                  </a:txBody>
                  <a:tcPr marL="0" marR="0" marB="0" marT="0">
                    <a:lnL w="9525">
                      <a:solidFill>
                        <a:srgbClr val="20206E"/>
                      </a:solidFill>
                      <a:prstDash val="solid"/>
                    </a:lnL>
                    <a:lnR w="9525">
                      <a:solidFill>
                        <a:srgbClr val="20206E"/>
                      </a:solidFill>
                      <a:prstDash val="solid"/>
                    </a:lnR>
                    <a:lnT w="38100">
                      <a:solidFill>
                        <a:srgbClr val="FF0000"/>
                      </a:solidFill>
                      <a:prstDash val="solid"/>
                    </a:lnT>
                    <a:lnB w="9525">
                      <a:solidFill>
                        <a:srgbClr val="878787"/>
                      </a:solidFill>
                      <a:prstDash val="solid"/>
                    </a:lnB>
                    <a:solidFill>
                      <a:srgbClr val="0065B0"/>
                    </a:solidFill>
                  </a:tcPr>
                </a:tc>
                <a:tc gridSpan="2" rowSpan="2">
                  <a:txBody>
                    <a:bodyPr/>
                    <a:lstStyle/>
                    <a:p>
                      <a:pPr>
                        <a:lnSpc>
                          <a:spcPct val="100000"/>
                        </a:lnSpc>
                      </a:pPr>
                      <a:endParaRPr sz="800">
                        <a:latin typeface="Times New Roman"/>
                        <a:cs typeface="Times New Roman"/>
                      </a:endParaRPr>
                    </a:p>
                  </a:txBody>
                  <a:tcPr marL="0" marR="0" marB="0" marT="0">
                    <a:lnL w="9525">
                      <a:solidFill>
                        <a:srgbClr val="20206E"/>
                      </a:solidFill>
                      <a:prstDash val="solid"/>
                    </a:lnL>
                    <a:lnR w="9525">
                      <a:solidFill>
                        <a:srgbClr val="C00000"/>
                      </a:solidFill>
                      <a:prstDash val="solid"/>
                    </a:lnR>
                    <a:lnT w="9525">
                      <a:solidFill>
                        <a:srgbClr val="878787"/>
                      </a:solidFill>
                      <a:prstDash val="solid"/>
                    </a:lnT>
                    <a:lnB w="9525">
                      <a:solidFill>
                        <a:srgbClr val="878787"/>
                      </a:solidFill>
                      <a:prstDash val="solid"/>
                    </a:lnB>
                    <a:solidFill>
                      <a:srgbClr val="000000"/>
                    </a:solidFill>
                  </a:tcPr>
                </a:tc>
                <a:tc rowSpan="2" hMerge="1">
                  <a:txBody>
                    <a:bodyPr/>
                    <a:lstStyle/>
                    <a:p>
                      <a:pPr/>
                    </a:p>
                  </a:txBody>
                  <a:tcPr marL="0" marR="0" marB="0" marT="0"/>
                </a:tc>
                <a:tc vMerge="1">
                  <a:txBody>
                    <a:bodyPr/>
                    <a:lstStyle/>
                    <a:p>
                      <a:pPr/>
                    </a:p>
                  </a:txBody>
                  <a:tcPr marL="0" marR="0" marB="0" marT="0">
                    <a:lnL w="9525">
                      <a:solidFill>
                        <a:srgbClr val="C00000"/>
                      </a:solidFill>
                      <a:prstDash val="solid"/>
                    </a:lnL>
                    <a:lnR w="9525">
                      <a:solidFill>
                        <a:srgbClr val="C00000"/>
                      </a:solidFill>
                      <a:prstDash val="solid"/>
                    </a:lnR>
                    <a:lnT w="9525">
                      <a:solidFill>
                        <a:srgbClr val="C00000"/>
                      </a:solidFill>
                      <a:prstDash val="solid"/>
                    </a:lnT>
                    <a:lnB w="9525">
                      <a:solidFill>
                        <a:srgbClr val="878787"/>
                      </a:solidFill>
                      <a:prstDash val="solid"/>
                    </a:lnB>
                    <a:solidFill>
                      <a:srgbClr val="BBE0E3"/>
                    </a:solidFill>
                  </a:tcPr>
                </a:tc>
                <a:tc gridSpan="4" rowSpan="2">
                  <a:txBody>
                    <a:bodyPr/>
                    <a:lstStyle/>
                    <a:p>
                      <a:pPr>
                        <a:lnSpc>
                          <a:spcPct val="100000"/>
                        </a:lnSpc>
                      </a:pPr>
                      <a:endParaRPr sz="800">
                        <a:latin typeface="Times New Roman"/>
                        <a:cs typeface="Times New Roman"/>
                      </a:endParaRPr>
                    </a:p>
                  </a:txBody>
                  <a:tcPr marL="0" marR="0" marB="0" marT="0">
                    <a:lnL w="9525">
                      <a:solidFill>
                        <a:srgbClr val="C00000"/>
                      </a:solidFill>
                      <a:prstDash val="solid"/>
                    </a:lnL>
                    <a:lnR w="9525">
                      <a:solidFill>
                        <a:srgbClr val="878787"/>
                      </a:solidFill>
                      <a:prstDash val="solid"/>
                    </a:lnR>
                    <a:lnT w="9525">
                      <a:solidFill>
                        <a:srgbClr val="878787"/>
                      </a:solidFill>
                      <a:prstDash val="solid"/>
                    </a:lnT>
                    <a:solidFill>
                      <a:srgbClr val="000000"/>
                    </a:solidFill>
                  </a:tcPr>
                </a:tc>
                <a:tc rowSpan="2" hMerge="1">
                  <a:txBody>
                    <a:bodyPr/>
                    <a:lstStyle/>
                    <a:p>
                      <a:pPr/>
                    </a:p>
                  </a:txBody>
                  <a:tcPr marL="0" marR="0" marB="0" marT="0"/>
                </a:tc>
                <a:tc rowSpan="2" hMerge="1">
                  <a:txBody>
                    <a:bodyPr/>
                    <a:lstStyle/>
                    <a:p>
                      <a:pPr/>
                    </a:p>
                  </a:txBody>
                  <a:tcPr marL="0" marR="0" marB="0" marT="0"/>
                </a:tc>
                <a:tc rowSpan="2" hMerge="1">
                  <a:txBody>
                    <a:bodyPr/>
                    <a:lstStyle/>
                    <a:p>
                      <a:pPr/>
                    </a:p>
                  </a:txBody>
                  <a:tcPr marL="0" marR="0" marB="0" marT="0"/>
                </a:tc>
              </a:tr>
              <a:tr h="87630">
                <a:tc rowSpan="2">
                  <a:txBody>
                    <a:bodyPr/>
                    <a:lstStyle/>
                    <a:p>
                      <a:pPr marL="18415">
                        <a:lnSpc>
                          <a:spcPts val="1110"/>
                        </a:lnSpc>
                        <a:spcBef>
                          <a:spcPts val="5"/>
                        </a:spcBef>
                      </a:pPr>
                      <a:r>
                        <a:rPr dirty="0" sz="1000" spc="-25">
                          <a:latin typeface="Microsoft YaHei"/>
                          <a:cs typeface="Microsoft YaHei"/>
                        </a:rPr>
                        <a:t>0.4</a:t>
                      </a:r>
                      <a:endParaRPr sz="1000">
                        <a:latin typeface="Microsoft YaHei"/>
                        <a:cs typeface="Microsoft YaHei"/>
                      </a:endParaRPr>
                    </a:p>
                  </a:txBody>
                  <a:tcPr marL="0" marR="0" marB="0" marT="635">
                    <a:lnL w="9525">
                      <a:solidFill>
                        <a:srgbClr val="878787"/>
                      </a:solidFill>
                      <a:prstDash val="solid"/>
                    </a:lnL>
                    <a:lnR w="9525">
                      <a:solidFill>
                        <a:srgbClr val="878787"/>
                      </a:solidFill>
                      <a:prstDash val="solid"/>
                    </a:lnR>
                  </a:tcPr>
                </a:tc>
                <a:tc vMerge="1">
                  <a:txBody>
                    <a:bodyPr/>
                    <a:lstStyle/>
                    <a:p>
                      <a:pPr/>
                    </a:p>
                  </a:txBody>
                  <a:tcPr marL="0" marR="0" marB="0" marT="0">
                    <a:lnL w="9525">
                      <a:solidFill>
                        <a:srgbClr val="878787"/>
                      </a:solidFill>
                      <a:prstDash val="solid"/>
                    </a:lnL>
                    <a:lnR w="9525">
                      <a:solidFill>
                        <a:srgbClr val="20206E"/>
                      </a:solidFill>
                      <a:prstDash val="solid"/>
                    </a:lnR>
                    <a:lnT w="9525">
                      <a:solidFill>
                        <a:srgbClr val="878787"/>
                      </a:solidFill>
                      <a:prstDash val="solid"/>
                    </a:lnT>
                    <a:lnB w="9525">
                      <a:solidFill>
                        <a:srgbClr val="878787"/>
                      </a:solidFill>
                      <a:prstDash val="solid"/>
                    </a:lnB>
                    <a:solidFill>
                      <a:srgbClr val="000000"/>
                    </a:solidFill>
                  </a:tcPr>
                </a:tc>
                <a:tc vMerge="1">
                  <a:txBody>
                    <a:bodyPr/>
                    <a:lstStyle/>
                    <a:p>
                      <a:pPr/>
                    </a:p>
                  </a:txBody>
                  <a:tcPr marL="0" marR="0" marB="0" marT="0">
                    <a:lnL w="9525">
                      <a:solidFill>
                        <a:srgbClr val="20206E"/>
                      </a:solidFill>
                      <a:prstDash val="solid"/>
                    </a:lnL>
                    <a:lnR w="9525">
                      <a:solidFill>
                        <a:srgbClr val="20206E"/>
                      </a:solidFill>
                      <a:prstDash val="solid"/>
                    </a:lnR>
                    <a:lnT w="38100">
                      <a:solidFill>
                        <a:srgbClr val="FF0000"/>
                      </a:solidFill>
                      <a:prstDash val="solid"/>
                    </a:lnT>
                    <a:lnB w="9525">
                      <a:solidFill>
                        <a:srgbClr val="878787"/>
                      </a:solidFill>
                      <a:prstDash val="solid"/>
                    </a:lnB>
                    <a:solidFill>
                      <a:srgbClr val="0065B0"/>
                    </a:solidFill>
                  </a:tcPr>
                </a:tc>
                <a:tc gridSpan="2" vMerge="1">
                  <a:txBody>
                    <a:bodyPr/>
                    <a:lstStyle/>
                    <a:p>
                      <a:pPr/>
                    </a:p>
                  </a:txBody>
                  <a:tcPr marL="0" marR="0" marB="0" marT="0">
                    <a:lnL w="9525">
                      <a:solidFill>
                        <a:srgbClr val="20206E"/>
                      </a:solidFill>
                      <a:prstDash val="solid"/>
                    </a:lnL>
                    <a:lnR w="9525">
                      <a:solidFill>
                        <a:srgbClr val="C00000"/>
                      </a:solidFill>
                      <a:prstDash val="solid"/>
                    </a:lnR>
                    <a:lnT w="9525">
                      <a:solidFill>
                        <a:srgbClr val="878787"/>
                      </a:solidFill>
                      <a:prstDash val="solid"/>
                    </a:lnT>
                    <a:lnB w="9525">
                      <a:solidFill>
                        <a:srgbClr val="878787"/>
                      </a:solidFill>
                      <a:prstDash val="solid"/>
                    </a:lnB>
                    <a:solidFill>
                      <a:srgbClr val="000000"/>
                    </a:solidFill>
                  </a:tcPr>
                </a:tc>
                <a:tc hMerge="1" vMerge="1">
                  <a:txBody>
                    <a:bodyPr/>
                    <a:lstStyle/>
                    <a:p>
                      <a:pPr/>
                    </a:p>
                  </a:txBody>
                  <a:tcPr marL="0" marR="0" marB="0" marT="0"/>
                </a:tc>
                <a:tc vMerge="1">
                  <a:txBody>
                    <a:bodyPr/>
                    <a:lstStyle/>
                    <a:p>
                      <a:pPr/>
                    </a:p>
                  </a:txBody>
                  <a:tcPr marL="0" marR="0" marB="0" marT="0">
                    <a:lnL w="9525">
                      <a:solidFill>
                        <a:srgbClr val="C00000"/>
                      </a:solidFill>
                      <a:prstDash val="solid"/>
                    </a:lnL>
                    <a:lnR w="9525">
                      <a:solidFill>
                        <a:srgbClr val="C00000"/>
                      </a:solidFill>
                      <a:prstDash val="solid"/>
                    </a:lnR>
                    <a:lnT w="9525">
                      <a:solidFill>
                        <a:srgbClr val="C00000"/>
                      </a:solidFill>
                      <a:prstDash val="solid"/>
                    </a:lnT>
                    <a:lnB w="9525">
                      <a:solidFill>
                        <a:srgbClr val="878787"/>
                      </a:solidFill>
                      <a:prstDash val="solid"/>
                    </a:lnB>
                    <a:solidFill>
                      <a:srgbClr val="BBE0E3"/>
                    </a:solidFill>
                  </a:tcPr>
                </a:tc>
                <a:tc gridSpan="4" vMerge="1">
                  <a:txBody>
                    <a:bodyPr/>
                    <a:lstStyle/>
                    <a:p>
                      <a:pPr/>
                    </a:p>
                  </a:txBody>
                  <a:tcPr marL="0" marR="0" marB="0" marT="0">
                    <a:lnL w="9525">
                      <a:solidFill>
                        <a:srgbClr val="C00000"/>
                      </a:solidFill>
                      <a:prstDash val="solid"/>
                    </a:lnL>
                    <a:lnR w="9525">
                      <a:solidFill>
                        <a:srgbClr val="878787"/>
                      </a:solidFill>
                      <a:prstDash val="solid"/>
                    </a:lnR>
                    <a:lnT w="9525">
                      <a:solidFill>
                        <a:srgbClr val="878787"/>
                      </a:solidFill>
                      <a:prstDash val="solid"/>
                    </a:lnT>
                    <a:solidFill>
                      <a:srgbClr val="000000"/>
                    </a:solidFill>
                  </a:tcPr>
                </a:tc>
                <a:tc hMerge="1" vMerge="1">
                  <a:txBody>
                    <a:bodyPr/>
                    <a:lstStyle/>
                    <a:p>
                      <a:pPr/>
                    </a:p>
                  </a:txBody>
                  <a:tcPr marL="0" marR="0" marB="0" marT="0"/>
                </a:tc>
                <a:tc hMerge="1" vMerge="1">
                  <a:txBody>
                    <a:bodyPr/>
                    <a:lstStyle/>
                    <a:p>
                      <a:pPr/>
                    </a:p>
                  </a:txBody>
                  <a:tcPr marL="0" marR="0" marB="0" marT="0"/>
                </a:tc>
                <a:tc hMerge="1" vMerge="1">
                  <a:txBody>
                    <a:bodyPr/>
                    <a:lstStyle/>
                    <a:p>
                      <a:pPr/>
                    </a:p>
                  </a:txBody>
                  <a:tcPr marL="0" marR="0" marB="0" marT="0"/>
                </a:tc>
              </a:tr>
              <a:tr h="66040">
                <a:tc vMerge="1">
                  <a:txBody>
                    <a:bodyPr/>
                    <a:lstStyle/>
                    <a:p>
                      <a:pPr/>
                    </a:p>
                  </a:txBody>
                  <a:tcPr marL="0" marR="0" marB="0" marT="635">
                    <a:lnL w="9525">
                      <a:solidFill>
                        <a:srgbClr val="878787"/>
                      </a:solidFill>
                      <a:prstDash val="solid"/>
                    </a:lnL>
                    <a:lnR w="9525">
                      <a:solidFill>
                        <a:srgbClr val="878787"/>
                      </a:solidFill>
                      <a:prstDash val="solid"/>
                    </a:lnR>
                  </a:tcPr>
                </a:tc>
                <a:tc rowSpan="2">
                  <a:txBody>
                    <a:bodyPr/>
                    <a:lstStyle/>
                    <a:p>
                      <a:pPr>
                        <a:lnSpc>
                          <a:spcPct val="100000"/>
                        </a:lnSpc>
                      </a:pPr>
                      <a:endParaRPr sz="800">
                        <a:latin typeface="Times New Roman"/>
                        <a:cs typeface="Times New Roman"/>
                      </a:endParaRPr>
                    </a:p>
                  </a:txBody>
                  <a:tcPr marL="0" marR="0" marB="0" marT="0">
                    <a:lnL w="9525">
                      <a:solidFill>
                        <a:srgbClr val="878787"/>
                      </a:solidFill>
                      <a:prstDash val="solid"/>
                    </a:lnL>
                    <a:lnR w="9525">
                      <a:solidFill>
                        <a:srgbClr val="20206E"/>
                      </a:solidFill>
                      <a:prstDash val="solid"/>
                    </a:lnR>
                    <a:lnT w="9525">
                      <a:solidFill>
                        <a:srgbClr val="878787"/>
                      </a:solidFill>
                      <a:prstDash val="solid"/>
                    </a:lnT>
                    <a:lnB w="9525">
                      <a:solidFill>
                        <a:srgbClr val="878787"/>
                      </a:solidFill>
                      <a:prstDash val="solid"/>
                    </a:lnB>
                    <a:solidFill>
                      <a:srgbClr val="000000"/>
                    </a:solidFill>
                  </a:tcPr>
                </a:tc>
                <a:tc vMerge="1">
                  <a:txBody>
                    <a:bodyPr/>
                    <a:lstStyle/>
                    <a:p>
                      <a:pPr/>
                    </a:p>
                  </a:txBody>
                  <a:tcPr marL="0" marR="0" marB="0" marT="0">
                    <a:lnL w="9525">
                      <a:solidFill>
                        <a:srgbClr val="20206E"/>
                      </a:solidFill>
                      <a:prstDash val="solid"/>
                    </a:lnL>
                    <a:lnR w="9525">
                      <a:solidFill>
                        <a:srgbClr val="20206E"/>
                      </a:solidFill>
                      <a:prstDash val="solid"/>
                    </a:lnR>
                    <a:lnT w="38100">
                      <a:solidFill>
                        <a:srgbClr val="FF0000"/>
                      </a:solidFill>
                      <a:prstDash val="solid"/>
                    </a:lnT>
                    <a:lnB w="9525">
                      <a:solidFill>
                        <a:srgbClr val="878787"/>
                      </a:solidFill>
                      <a:prstDash val="solid"/>
                    </a:lnB>
                    <a:solidFill>
                      <a:srgbClr val="0065B0"/>
                    </a:solidFill>
                  </a:tcPr>
                </a:tc>
                <a:tc gridSpan="2" rowSpan="2">
                  <a:txBody>
                    <a:bodyPr/>
                    <a:lstStyle/>
                    <a:p>
                      <a:pPr>
                        <a:lnSpc>
                          <a:spcPct val="100000"/>
                        </a:lnSpc>
                      </a:pPr>
                      <a:endParaRPr sz="900">
                        <a:latin typeface="Times New Roman"/>
                        <a:cs typeface="Times New Roman"/>
                      </a:endParaRPr>
                    </a:p>
                  </a:txBody>
                  <a:tcPr marL="0" marR="0" marB="0" marT="0">
                    <a:lnL w="9525">
                      <a:solidFill>
                        <a:srgbClr val="20206E"/>
                      </a:solidFill>
                      <a:prstDash val="solid"/>
                    </a:lnL>
                    <a:lnR w="9525">
                      <a:solidFill>
                        <a:srgbClr val="C00000"/>
                      </a:solidFill>
                      <a:prstDash val="solid"/>
                    </a:lnR>
                    <a:lnT w="9525">
                      <a:solidFill>
                        <a:srgbClr val="878787"/>
                      </a:solidFill>
                      <a:prstDash val="solid"/>
                    </a:lnT>
                    <a:lnB w="9525">
                      <a:solidFill>
                        <a:srgbClr val="878787"/>
                      </a:solidFill>
                      <a:prstDash val="solid"/>
                    </a:lnB>
                    <a:solidFill>
                      <a:srgbClr val="000000"/>
                    </a:solidFill>
                  </a:tcPr>
                </a:tc>
                <a:tc rowSpan="2" hMerge="1">
                  <a:txBody>
                    <a:bodyPr/>
                    <a:lstStyle/>
                    <a:p>
                      <a:pPr/>
                    </a:p>
                  </a:txBody>
                  <a:tcPr marL="0" marR="0" marB="0" marT="0"/>
                </a:tc>
                <a:tc vMerge="1">
                  <a:txBody>
                    <a:bodyPr/>
                    <a:lstStyle/>
                    <a:p>
                      <a:pPr/>
                    </a:p>
                  </a:txBody>
                  <a:tcPr marL="0" marR="0" marB="0" marT="0">
                    <a:lnL w="9525">
                      <a:solidFill>
                        <a:srgbClr val="C00000"/>
                      </a:solidFill>
                      <a:prstDash val="solid"/>
                    </a:lnL>
                    <a:lnR w="9525">
                      <a:solidFill>
                        <a:srgbClr val="C00000"/>
                      </a:solidFill>
                      <a:prstDash val="solid"/>
                    </a:lnR>
                    <a:lnT w="9525">
                      <a:solidFill>
                        <a:srgbClr val="C00000"/>
                      </a:solidFill>
                      <a:prstDash val="solid"/>
                    </a:lnT>
                    <a:lnB w="9525">
                      <a:solidFill>
                        <a:srgbClr val="878787"/>
                      </a:solidFill>
                      <a:prstDash val="solid"/>
                    </a:lnB>
                    <a:solidFill>
                      <a:srgbClr val="BBE0E3"/>
                    </a:solidFill>
                  </a:tcPr>
                </a:tc>
                <a:tc gridSpan="2" rowSpan="2">
                  <a:txBody>
                    <a:bodyPr/>
                    <a:lstStyle/>
                    <a:p>
                      <a:pPr>
                        <a:lnSpc>
                          <a:spcPct val="100000"/>
                        </a:lnSpc>
                      </a:pPr>
                      <a:endParaRPr sz="900">
                        <a:latin typeface="Times New Roman"/>
                        <a:cs typeface="Times New Roman"/>
                      </a:endParaRPr>
                    </a:p>
                  </a:txBody>
                  <a:tcPr marL="0" marR="0" marB="0" marT="0">
                    <a:lnL w="9525">
                      <a:solidFill>
                        <a:srgbClr val="C00000"/>
                      </a:solidFill>
                      <a:prstDash val="solid"/>
                    </a:lnL>
                    <a:lnR w="9525">
                      <a:solidFill>
                        <a:srgbClr val="20206E"/>
                      </a:solidFill>
                      <a:prstDash val="solid"/>
                    </a:lnR>
                    <a:lnT w="9525">
                      <a:solidFill>
                        <a:srgbClr val="878787"/>
                      </a:solidFill>
                      <a:prstDash val="solid"/>
                    </a:lnT>
                    <a:lnB w="9525">
                      <a:solidFill>
                        <a:srgbClr val="878787"/>
                      </a:solidFill>
                      <a:prstDash val="solid"/>
                    </a:lnB>
                    <a:solidFill>
                      <a:srgbClr val="000000"/>
                    </a:solidFill>
                  </a:tcPr>
                </a:tc>
                <a:tc rowSpan="2" hMerge="1">
                  <a:txBody>
                    <a:bodyPr/>
                    <a:lstStyle/>
                    <a:p>
                      <a:pPr/>
                    </a:p>
                  </a:txBody>
                  <a:tcPr marL="0" marR="0" marB="0" marT="0"/>
                </a:tc>
                <a:tc rowSpan="4">
                  <a:txBody>
                    <a:bodyPr/>
                    <a:lstStyle/>
                    <a:p>
                      <a:pPr>
                        <a:lnSpc>
                          <a:spcPct val="100000"/>
                        </a:lnSpc>
                      </a:pPr>
                      <a:endParaRPr sz="1100">
                        <a:latin typeface="Times New Roman"/>
                        <a:cs typeface="Times New Roman"/>
                      </a:endParaRPr>
                    </a:p>
                  </a:txBody>
                  <a:tcPr marL="0" marR="0" marB="0" marT="0">
                    <a:lnL w="9525">
                      <a:solidFill>
                        <a:srgbClr val="20206E"/>
                      </a:solidFill>
                      <a:prstDash val="solid"/>
                    </a:lnL>
                    <a:lnR w="9525">
                      <a:solidFill>
                        <a:srgbClr val="20206E"/>
                      </a:solidFill>
                      <a:prstDash val="solid"/>
                    </a:lnR>
                    <a:lnT w="9525">
                      <a:solidFill>
                        <a:srgbClr val="20206E"/>
                      </a:solidFill>
                      <a:prstDash val="solid"/>
                    </a:lnT>
                    <a:lnB w="9525">
                      <a:solidFill>
                        <a:srgbClr val="878787"/>
                      </a:solidFill>
                      <a:prstDash val="solid"/>
                    </a:lnB>
                    <a:solidFill>
                      <a:srgbClr val="92D050"/>
                    </a:solidFill>
                  </a:tcPr>
                </a:tc>
                <a:tc rowSpan="2">
                  <a:txBody>
                    <a:bodyPr/>
                    <a:lstStyle/>
                    <a:p>
                      <a:pPr>
                        <a:lnSpc>
                          <a:spcPct val="100000"/>
                        </a:lnSpc>
                      </a:pPr>
                      <a:endParaRPr sz="900">
                        <a:latin typeface="Times New Roman"/>
                        <a:cs typeface="Times New Roman"/>
                      </a:endParaRPr>
                    </a:p>
                  </a:txBody>
                  <a:tcPr marL="0" marR="0" marB="0" marT="0">
                    <a:lnL w="9525">
                      <a:solidFill>
                        <a:srgbClr val="20206E"/>
                      </a:solidFill>
                      <a:prstDash val="solid"/>
                    </a:lnL>
                    <a:lnR w="9525">
                      <a:solidFill>
                        <a:srgbClr val="878787"/>
                      </a:solidFill>
                      <a:prstDash val="solid"/>
                    </a:lnR>
                    <a:lnT w="9525">
                      <a:solidFill>
                        <a:srgbClr val="878787"/>
                      </a:solidFill>
                      <a:prstDash val="solid"/>
                    </a:lnT>
                    <a:lnB w="9525">
                      <a:solidFill>
                        <a:srgbClr val="878787"/>
                      </a:solidFill>
                      <a:prstDash val="solid"/>
                    </a:lnB>
                    <a:solidFill>
                      <a:srgbClr val="000000"/>
                    </a:solidFill>
                  </a:tcPr>
                </a:tc>
              </a:tr>
              <a:tr h="96520">
                <a:tc rowSpan="2">
                  <a:txBody>
                    <a:bodyPr/>
                    <a:lstStyle/>
                    <a:p>
                      <a:pPr marL="18415">
                        <a:lnSpc>
                          <a:spcPts val="1110"/>
                        </a:lnSpc>
                        <a:spcBef>
                          <a:spcPts val="5"/>
                        </a:spcBef>
                      </a:pPr>
                      <a:r>
                        <a:rPr dirty="0" sz="1000" spc="-25">
                          <a:latin typeface="Microsoft YaHei"/>
                          <a:cs typeface="Microsoft YaHei"/>
                        </a:rPr>
                        <a:t>0.2</a:t>
                      </a:r>
                      <a:endParaRPr sz="1000">
                        <a:latin typeface="Microsoft YaHei"/>
                        <a:cs typeface="Microsoft YaHei"/>
                      </a:endParaRPr>
                    </a:p>
                  </a:txBody>
                  <a:tcPr marL="0" marR="0" marB="0" marT="635">
                    <a:lnL w="9525">
                      <a:solidFill>
                        <a:srgbClr val="878787"/>
                      </a:solidFill>
                      <a:prstDash val="solid"/>
                    </a:lnL>
                    <a:lnR w="9525">
                      <a:solidFill>
                        <a:srgbClr val="878787"/>
                      </a:solidFill>
                      <a:prstDash val="solid"/>
                    </a:lnR>
                  </a:tcPr>
                </a:tc>
                <a:tc vMerge="1">
                  <a:txBody>
                    <a:bodyPr/>
                    <a:lstStyle/>
                    <a:p>
                      <a:pPr/>
                    </a:p>
                  </a:txBody>
                  <a:tcPr marL="0" marR="0" marB="0" marT="0">
                    <a:lnL w="9525">
                      <a:solidFill>
                        <a:srgbClr val="878787"/>
                      </a:solidFill>
                      <a:prstDash val="solid"/>
                    </a:lnL>
                    <a:lnR w="9525">
                      <a:solidFill>
                        <a:srgbClr val="20206E"/>
                      </a:solidFill>
                      <a:prstDash val="solid"/>
                    </a:lnR>
                    <a:lnT w="9525">
                      <a:solidFill>
                        <a:srgbClr val="878787"/>
                      </a:solidFill>
                      <a:prstDash val="solid"/>
                    </a:lnT>
                    <a:lnB w="9525">
                      <a:solidFill>
                        <a:srgbClr val="878787"/>
                      </a:solidFill>
                      <a:prstDash val="solid"/>
                    </a:lnB>
                    <a:solidFill>
                      <a:srgbClr val="000000"/>
                    </a:solidFill>
                  </a:tcPr>
                </a:tc>
                <a:tc vMerge="1">
                  <a:txBody>
                    <a:bodyPr/>
                    <a:lstStyle/>
                    <a:p>
                      <a:pPr/>
                    </a:p>
                  </a:txBody>
                  <a:tcPr marL="0" marR="0" marB="0" marT="0">
                    <a:lnL w="9525">
                      <a:solidFill>
                        <a:srgbClr val="20206E"/>
                      </a:solidFill>
                      <a:prstDash val="solid"/>
                    </a:lnL>
                    <a:lnR w="9525">
                      <a:solidFill>
                        <a:srgbClr val="20206E"/>
                      </a:solidFill>
                      <a:prstDash val="solid"/>
                    </a:lnR>
                    <a:lnT w="38100">
                      <a:solidFill>
                        <a:srgbClr val="FF0000"/>
                      </a:solidFill>
                      <a:prstDash val="solid"/>
                    </a:lnT>
                    <a:lnB w="9525">
                      <a:solidFill>
                        <a:srgbClr val="878787"/>
                      </a:solidFill>
                      <a:prstDash val="solid"/>
                    </a:lnB>
                    <a:solidFill>
                      <a:srgbClr val="0065B0"/>
                    </a:solidFill>
                  </a:tcPr>
                </a:tc>
                <a:tc gridSpan="2" vMerge="1">
                  <a:txBody>
                    <a:bodyPr/>
                    <a:lstStyle/>
                    <a:p>
                      <a:pPr/>
                    </a:p>
                  </a:txBody>
                  <a:tcPr marL="0" marR="0" marB="0" marT="0">
                    <a:lnL w="9525">
                      <a:solidFill>
                        <a:srgbClr val="20206E"/>
                      </a:solidFill>
                      <a:prstDash val="solid"/>
                    </a:lnL>
                    <a:lnR w="9525">
                      <a:solidFill>
                        <a:srgbClr val="C00000"/>
                      </a:solidFill>
                      <a:prstDash val="solid"/>
                    </a:lnR>
                    <a:lnT w="9525">
                      <a:solidFill>
                        <a:srgbClr val="878787"/>
                      </a:solidFill>
                      <a:prstDash val="solid"/>
                    </a:lnT>
                    <a:lnB w="9525">
                      <a:solidFill>
                        <a:srgbClr val="878787"/>
                      </a:solidFill>
                      <a:prstDash val="solid"/>
                    </a:lnB>
                    <a:solidFill>
                      <a:srgbClr val="000000"/>
                    </a:solidFill>
                  </a:tcPr>
                </a:tc>
                <a:tc hMerge="1" vMerge="1">
                  <a:txBody>
                    <a:bodyPr/>
                    <a:lstStyle/>
                    <a:p>
                      <a:pPr/>
                    </a:p>
                  </a:txBody>
                  <a:tcPr marL="0" marR="0" marB="0" marT="0"/>
                </a:tc>
                <a:tc vMerge="1">
                  <a:txBody>
                    <a:bodyPr/>
                    <a:lstStyle/>
                    <a:p>
                      <a:pPr/>
                    </a:p>
                  </a:txBody>
                  <a:tcPr marL="0" marR="0" marB="0" marT="0">
                    <a:lnL w="9525">
                      <a:solidFill>
                        <a:srgbClr val="C00000"/>
                      </a:solidFill>
                      <a:prstDash val="solid"/>
                    </a:lnL>
                    <a:lnR w="9525">
                      <a:solidFill>
                        <a:srgbClr val="C00000"/>
                      </a:solidFill>
                      <a:prstDash val="solid"/>
                    </a:lnR>
                    <a:lnT w="9525">
                      <a:solidFill>
                        <a:srgbClr val="C00000"/>
                      </a:solidFill>
                      <a:prstDash val="solid"/>
                    </a:lnT>
                    <a:lnB w="9525">
                      <a:solidFill>
                        <a:srgbClr val="878787"/>
                      </a:solidFill>
                      <a:prstDash val="solid"/>
                    </a:lnB>
                    <a:solidFill>
                      <a:srgbClr val="BBE0E3"/>
                    </a:solidFill>
                  </a:tcPr>
                </a:tc>
                <a:tc gridSpan="2" vMerge="1">
                  <a:txBody>
                    <a:bodyPr/>
                    <a:lstStyle/>
                    <a:p>
                      <a:pPr/>
                    </a:p>
                  </a:txBody>
                  <a:tcPr marL="0" marR="0" marB="0" marT="0">
                    <a:lnL w="9525">
                      <a:solidFill>
                        <a:srgbClr val="C00000"/>
                      </a:solidFill>
                      <a:prstDash val="solid"/>
                    </a:lnL>
                    <a:lnR w="9525">
                      <a:solidFill>
                        <a:srgbClr val="20206E"/>
                      </a:solidFill>
                      <a:prstDash val="solid"/>
                    </a:lnR>
                    <a:lnT w="9525">
                      <a:solidFill>
                        <a:srgbClr val="878787"/>
                      </a:solidFill>
                      <a:prstDash val="solid"/>
                    </a:lnT>
                    <a:lnB w="9525">
                      <a:solidFill>
                        <a:srgbClr val="878787"/>
                      </a:solidFill>
                      <a:prstDash val="solid"/>
                    </a:lnB>
                    <a:solidFill>
                      <a:srgbClr val="000000"/>
                    </a:solidFill>
                  </a:tcPr>
                </a:tc>
                <a:tc hMerge="1" vMerge="1">
                  <a:txBody>
                    <a:bodyPr/>
                    <a:lstStyle/>
                    <a:p>
                      <a:pPr/>
                    </a:p>
                  </a:txBody>
                  <a:tcPr marL="0" marR="0" marB="0" marT="0"/>
                </a:tc>
                <a:tc vMerge="1">
                  <a:txBody>
                    <a:bodyPr/>
                    <a:lstStyle/>
                    <a:p>
                      <a:pPr/>
                    </a:p>
                  </a:txBody>
                  <a:tcPr marL="0" marR="0" marB="0" marT="0">
                    <a:lnL w="9525">
                      <a:solidFill>
                        <a:srgbClr val="20206E"/>
                      </a:solidFill>
                      <a:prstDash val="solid"/>
                    </a:lnL>
                    <a:lnR w="9525">
                      <a:solidFill>
                        <a:srgbClr val="20206E"/>
                      </a:solidFill>
                      <a:prstDash val="solid"/>
                    </a:lnR>
                    <a:lnT w="9525">
                      <a:solidFill>
                        <a:srgbClr val="20206E"/>
                      </a:solidFill>
                      <a:prstDash val="solid"/>
                    </a:lnT>
                    <a:lnB w="9525">
                      <a:solidFill>
                        <a:srgbClr val="878787"/>
                      </a:solidFill>
                      <a:prstDash val="solid"/>
                    </a:lnB>
                    <a:solidFill>
                      <a:srgbClr val="92D050"/>
                    </a:solidFill>
                  </a:tcPr>
                </a:tc>
                <a:tc vMerge="1">
                  <a:txBody>
                    <a:bodyPr/>
                    <a:lstStyle/>
                    <a:p>
                      <a:pPr/>
                    </a:p>
                  </a:txBody>
                  <a:tcPr marL="0" marR="0" marB="0" marT="0">
                    <a:lnL w="9525">
                      <a:solidFill>
                        <a:srgbClr val="20206E"/>
                      </a:solidFill>
                      <a:prstDash val="solid"/>
                    </a:lnL>
                    <a:lnR w="9525">
                      <a:solidFill>
                        <a:srgbClr val="878787"/>
                      </a:solidFill>
                      <a:prstDash val="solid"/>
                    </a:lnR>
                    <a:lnT w="9525">
                      <a:solidFill>
                        <a:srgbClr val="878787"/>
                      </a:solidFill>
                      <a:prstDash val="solid"/>
                    </a:lnT>
                    <a:lnB w="9525">
                      <a:solidFill>
                        <a:srgbClr val="878787"/>
                      </a:solidFill>
                      <a:prstDash val="solid"/>
                    </a:lnB>
                    <a:solidFill>
                      <a:srgbClr val="000000"/>
                    </a:solidFill>
                  </a:tcPr>
                </a:tc>
              </a:tr>
              <a:tr h="57150">
                <a:tc vMerge="1">
                  <a:txBody>
                    <a:bodyPr/>
                    <a:lstStyle/>
                    <a:p>
                      <a:pPr/>
                    </a:p>
                  </a:txBody>
                  <a:tcPr marL="0" marR="0" marB="0" marT="635">
                    <a:lnL w="9525">
                      <a:solidFill>
                        <a:srgbClr val="878787"/>
                      </a:solidFill>
                      <a:prstDash val="solid"/>
                    </a:lnL>
                    <a:lnR w="9525">
                      <a:solidFill>
                        <a:srgbClr val="878787"/>
                      </a:solidFill>
                      <a:prstDash val="solid"/>
                    </a:lnR>
                  </a:tcPr>
                </a:tc>
                <a:tc rowSpan="2">
                  <a:txBody>
                    <a:bodyPr/>
                    <a:lstStyle/>
                    <a:p>
                      <a:pPr>
                        <a:lnSpc>
                          <a:spcPct val="100000"/>
                        </a:lnSpc>
                      </a:pPr>
                      <a:endParaRPr sz="800">
                        <a:latin typeface="Times New Roman"/>
                        <a:cs typeface="Times New Roman"/>
                      </a:endParaRPr>
                    </a:p>
                  </a:txBody>
                  <a:tcPr marL="0" marR="0" marB="0" marT="0">
                    <a:lnL w="9525">
                      <a:solidFill>
                        <a:srgbClr val="878787"/>
                      </a:solidFill>
                      <a:prstDash val="solid"/>
                    </a:lnL>
                    <a:lnR w="9525">
                      <a:solidFill>
                        <a:srgbClr val="20206E"/>
                      </a:solidFill>
                      <a:prstDash val="solid"/>
                    </a:lnR>
                    <a:lnT w="9525">
                      <a:solidFill>
                        <a:srgbClr val="878787"/>
                      </a:solidFill>
                      <a:prstDash val="solid"/>
                    </a:lnT>
                    <a:lnB w="9525">
                      <a:solidFill>
                        <a:srgbClr val="878787"/>
                      </a:solidFill>
                      <a:prstDash val="solid"/>
                    </a:lnB>
                    <a:solidFill>
                      <a:srgbClr val="000000"/>
                    </a:solidFill>
                  </a:tcPr>
                </a:tc>
                <a:tc vMerge="1">
                  <a:txBody>
                    <a:bodyPr/>
                    <a:lstStyle/>
                    <a:p>
                      <a:pPr/>
                    </a:p>
                  </a:txBody>
                  <a:tcPr marL="0" marR="0" marB="0" marT="0">
                    <a:lnL w="9525">
                      <a:solidFill>
                        <a:srgbClr val="20206E"/>
                      </a:solidFill>
                      <a:prstDash val="solid"/>
                    </a:lnL>
                    <a:lnR w="9525">
                      <a:solidFill>
                        <a:srgbClr val="20206E"/>
                      </a:solidFill>
                      <a:prstDash val="solid"/>
                    </a:lnR>
                    <a:lnT w="38100">
                      <a:solidFill>
                        <a:srgbClr val="FF0000"/>
                      </a:solidFill>
                      <a:prstDash val="solid"/>
                    </a:lnT>
                    <a:lnB w="9525">
                      <a:solidFill>
                        <a:srgbClr val="878787"/>
                      </a:solidFill>
                      <a:prstDash val="solid"/>
                    </a:lnB>
                    <a:solidFill>
                      <a:srgbClr val="0065B0"/>
                    </a:solidFill>
                  </a:tcPr>
                </a:tc>
                <a:tc gridSpan="2" rowSpan="2">
                  <a:txBody>
                    <a:bodyPr/>
                    <a:lstStyle/>
                    <a:p>
                      <a:pPr>
                        <a:lnSpc>
                          <a:spcPct val="100000"/>
                        </a:lnSpc>
                      </a:pPr>
                      <a:endParaRPr sz="800">
                        <a:latin typeface="Times New Roman"/>
                        <a:cs typeface="Times New Roman"/>
                      </a:endParaRPr>
                    </a:p>
                  </a:txBody>
                  <a:tcPr marL="0" marR="0" marB="0" marT="0">
                    <a:lnL w="9525">
                      <a:solidFill>
                        <a:srgbClr val="20206E"/>
                      </a:solidFill>
                      <a:prstDash val="solid"/>
                    </a:lnL>
                    <a:lnR w="9525">
                      <a:solidFill>
                        <a:srgbClr val="C00000"/>
                      </a:solidFill>
                      <a:prstDash val="solid"/>
                    </a:lnR>
                    <a:lnT w="9525">
                      <a:solidFill>
                        <a:srgbClr val="878787"/>
                      </a:solidFill>
                      <a:prstDash val="solid"/>
                    </a:lnT>
                    <a:lnB w="9525">
                      <a:solidFill>
                        <a:srgbClr val="878787"/>
                      </a:solidFill>
                      <a:prstDash val="solid"/>
                    </a:lnB>
                    <a:solidFill>
                      <a:srgbClr val="000000"/>
                    </a:solidFill>
                  </a:tcPr>
                </a:tc>
                <a:tc rowSpan="2" hMerge="1">
                  <a:txBody>
                    <a:bodyPr/>
                    <a:lstStyle/>
                    <a:p>
                      <a:pPr/>
                    </a:p>
                  </a:txBody>
                  <a:tcPr marL="0" marR="0" marB="0" marT="0"/>
                </a:tc>
                <a:tc vMerge="1">
                  <a:txBody>
                    <a:bodyPr/>
                    <a:lstStyle/>
                    <a:p>
                      <a:pPr/>
                    </a:p>
                  </a:txBody>
                  <a:tcPr marL="0" marR="0" marB="0" marT="0">
                    <a:lnL w="9525">
                      <a:solidFill>
                        <a:srgbClr val="C00000"/>
                      </a:solidFill>
                      <a:prstDash val="solid"/>
                    </a:lnL>
                    <a:lnR w="9525">
                      <a:solidFill>
                        <a:srgbClr val="C00000"/>
                      </a:solidFill>
                      <a:prstDash val="solid"/>
                    </a:lnR>
                    <a:lnT w="9525">
                      <a:solidFill>
                        <a:srgbClr val="C00000"/>
                      </a:solidFill>
                      <a:prstDash val="solid"/>
                    </a:lnT>
                    <a:lnB w="9525">
                      <a:solidFill>
                        <a:srgbClr val="878787"/>
                      </a:solidFill>
                      <a:prstDash val="solid"/>
                    </a:lnB>
                    <a:solidFill>
                      <a:srgbClr val="BBE0E3"/>
                    </a:solidFill>
                  </a:tcPr>
                </a:tc>
                <a:tc gridSpan="2" rowSpan="2">
                  <a:txBody>
                    <a:bodyPr/>
                    <a:lstStyle/>
                    <a:p>
                      <a:pPr>
                        <a:lnSpc>
                          <a:spcPct val="100000"/>
                        </a:lnSpc>
                      </a:pPr>
                      <a:endParaRPr sz="800">
                        <a:latin typeface="Times New Roman"/>
                        <a:cs typeface="Times New Roman"/>
                      </a:endParaRPr>
                    </a:p>
                  </a:txBody>
                  <a:tcPr marL="0" marR="0" marB="0" marT="0">
                    <a:lnL w="9525">
                      <a:solidFill>
                        <a:srgbClr val="C00000"/>
                      </a:solidFill>
                      <a:prstDash val="solid"/>
                    </a:lnL>
                    <a:lnR w="9525">
                      <a:solidFill>
                        <a:srgbClr val="20206E"/>
                      </a:solidFill>
                      <a:prstDash val="solid"/>
                    </a:lnR>
                    <a:lnT w="9525">
                      <a:solidFill>
                        <a:srgbClr val="878787"/>
                      </a:solidFill>
                      <a:prstDash val="solid"/>
                    </a:lnT>
                    <a:lnB w="9525">
                      <a:solidFill>
                        <a:srgbClr val="878787"/>
                      </a:solidFill>
                      <a:prstDash val="solid"/>
                    </a:lnB>
                    <a:solidFill>
                      <a:srgbClr val="000000"/>
                    </a:solidFill>
                  </a:tcPr>
                </a:tc>
                <a:tc rowSpan="2" hMerge="1">
                  <a:txBody>
                    <a:bodyPr/>
                    <a:lstStyle/>
                    <a:p>
                      <a:pPr/>
                    </a:p>
                  </a:txBody>
                  <a:tcPr marL="0" marR="0" marB="0" marT="0"/>
                </a:tc>
                <a:tc vMerge="1">
                  <a:txBody>
                    <a:bodyPr/>
                    <a:lstStyle/>
                    <a:p>
                      <a:pPr/>
                    </a:p>
                  </a:txBody>
                  <a:tcPr marL="0" marR="0" marB="0" marT="0">
                    <a:lnL w="9525">
                      <a:solidFill>
                        <a:srgbClr val="20206E"/>
                      </a:solidFill>
                      <a:prstDash val="solid"/>
                    </a:lnL>
                    <a:lnR w="9525">
                      <a:solidFill>
                        <a:srgbClr val="20206E"/>
                      </a:solidFill>
                      <a:prstDash val="solid"/>
                    </a:lnR>
                    <a:lnT w="9525">
                      <a:solidFill>
                        <a:srgbClr val="20206E"/>
                      </a:solidFill>
                      <a:prstDash val="solid"/>
                    </a:lnT>
                    <a:lnB w="9525">
                      <a:solidFill>
                        <a:srgbClr val="878787"/>
                      </a:solidFill>
                      <a:prstDash val="solid"/>
                    </a:lnB>
                    <a:solidFill>
                      <a:srgbClr val="92D050"/>
                    </a:solidFill>
                  </a:tcPr>
                </a:tc>
                <a:tc rowSpan="2">
                  <a:txBody>
                    <a:bodyPr/>
                    <a:lstStyle/>
                    <a:p>
                      <a:pPr>
                        <a:lnSpc>
                          <a:spcPct val="100000"/>
                        </a:lnSpc>
                      </a:pPr>
                      <a:endParaRPr sz="800">
                        <a:latin typeface="Times New Roman"/>
                        <a:cs typeface="Times New Roman"/>
                      </a:endParaRPr>
                    </a:p>
                  </a:txBody>
                  <a:tcPr marL="0" marR="0" marB="0" marT="0">
                    <a:lnL w="9525">
                      <a:solidFill>
                        <a:srgbClr val="20206E"/>
                      </a:solidFill>
                      <a:prstDash val="solid"/>
                    </a:lnL>
                    <a:lnR w="9525">
                      <a:solidFill>
                        <a:srgbClr val="878787"/>
                      </a:solidFill>
                      <a:prstDash val="solid"/>
                    </a:lnR>
                    <a:lnT w="9525">
                      <a:solidFill>
                        <a:srgbClr val="878787"/>
                      </a:solidFill>
                      <a:prstDash val="solid"/>
                    </a:lnT>
                    <a:lnB w="9525">
                      <a:solidFill>
                        <a:srgbClr val="878787"/>
                      </a:solidFill>
                      <a:prstDash val="solid"/>
                    </a:lnB>
                    <a:solidFill>
                      <a:srgbClr val="000000"/>
                    </a:solidFill>
                  </a:tcPr>
                </a:tc>
              </a:tr>
              <a:tr h="97155">
                <a:tc>
                  <a:txBody>
                    <a:bodyPr/>
                    <a:lstStyle/>
                    <a:p>
                      <a:pPr algn="ctr">
                        <a:lnSpc>
                          <a:spcPts val="580"/>
                        </a:lnSpc>
                        <a:spcBef>
                          <a:spcPts val="5"/>
                        </a:spcBef>
                      </a:pPr>
                      <a:r>
                        <a:rPr dirty="0" sz="1000" spc="-50">
                          <a:latin typeface="Microsoft YaHei"/>
                          <a:cs typeface="Microsoft YaHei"/>
                        </a:rPr>
                        <a:t>0</a:t>
                      </a:r>
                      <a:endParaRPr sz="1000">
                        <a:latin typeface="Microsoft YaHei"/>
                        <a:cs typeface="Microsoft YaHei"/>
                      </a:endParaRPr>
                    </a:p>
                  </a:txBody>
                  <a:tcPr marL="0" marR="0" marB="0" marT="635">
                    <a:lnL w="9525">
                      <a:solidFill>
                        <a:srgbClr val="878787"/>
                      </a:solidFill>
                      <a:prstDash val="solid"/>
                    </a:lnL>
                    <a:lnR w="9525">
                      <a:solidFill>
                        <a:srgbClr val="878787"/>
                      </a:solidFill>
                      <a:prstDash val="solid"/>
                    </a:lnR>
                  </a:tcPr>
                </a:tc>
                <a:tc vMerge="1">
                  <a:txBody>
                    <a:bodyPr/>
                    <a:lstStyle/>
                    <a:p>
                      <a:pPr/>
                    </a:p>
                  </a:txBody>
                  <a:tcPr marL="0" marR="0" marB="0" marT="0">
                    <a:lnL w="9525">
                      <a:solidFill>
                        <a:srgbClr val="878787"/>
                      </a:solidFill>
                      <a:prstDash val="solid"/>
                    </a:lnL>
                    <a:lnR w="9525">
                      <a:solidFill>
                        <a:srgbClr val="20206E"/>
                      </a:solidFill>
                      <a:prstDash val="solid"/>
                    </a:lnR>
                    <a:lnT w="9525">
                      <a:solidFill>
                        <a:srgbClr val="878787"/>
                      </a:solidFill>
                      <a:prstDash val="solid"/>
                    </a:lnT>
                    <a:lnB w="9525">
                      <a:solidFill>
                        <a:srgbClr val="878787"/>
                      </a:solidFill>
                      <a:prstDash val="solid"/>
                    </a:lnB>
                    <a:solidFill>
                      <a:srgbClr val="000000"/>
                    </a:solidFill>
                  </a:tcPr>
                </a:tc>
                <a:tc vMerge="1">
                  <a:txBody>
                    <a:bodyPr/>
                    <a:lstStyle/>
                    <a:p>
                      <a:pPr/>
                    </a:p>
                  </a:txBody>
                  <a:tcPr marL="0" marR="0" marB="0" marT="0">
                    <a:lnL w="9525">
                      <a:solidFill>
                        <a:srgbClr val="20206E"/>
                      </a:solidFill>
                      <a:prstDash val="solid"/>
                    </a:lnL>
                    <a:lnR w="9525">
                      <a:solidFill>
                        <a:srgbClr val="20206E"/>
                      </a:solidFill>
                      <a:prstDash val="solid"/>
                    </a:lnR>
                    <a:lnT w="38100">
                      <a:solidFill>
                        <a:srgbClr val="FF0000"/>
                      </a:solidFill>
                      <a:prstDash val="solid"/>
                    </a:lnT>
                    <a:lnB w="9525">
                      <a:solidFill>
                        <a:srgbClr val="878787"/>
                      </a:solidFill>
                      <a:prstDash val="solid"/>
                    </a:lnB>
                    <a:solidFill>
                      <a:srgbClr val="0065B0"/>
                    </a:solidFill>
                  </a:tcPr>
                </a:tc>
                <a:tc gridSpan="2" vMerge="1">
                  <a:txBody>
                    <a:bodyPr/>
                    <a:lstStyle/>
                    <a:p>
                      <a:pPr/>
                    </a:p>
                  </a:txBody>
                  <a:tcPr marL="0" marR="0" marB="0" marT="0">
                    <a:lnL w="9525">
                      <a:solidFill>
                        <a:srgbClr val="20206E"/>
                      </a:solidFill>
                      <a:prstDash val="solid"/>
                    </a:lnL>
                    <a:lnR w="9525">
                      <a:solidFill>
                        <a:srgbClr val="C00000"/>
                      </a:solidFill>
                      <a:prstDash val="solid"/>
                    </a:lnR>
                    <a:lnT w="9525">
                      <a:solidFill>
                        <a:srgbClr val="878787"/>
                      </a:solidFill>
                      <a:prstDash val="solid"/>
                    </a:lnT>
                    <a:lnB w="9525">
                      <a:solidFill>
                        <a:srgbClr val="878787"/>
                      </a:solidFill>
                      <a:prstDash val="solid"/>
                    </a:lnB>
                    <a:solidFill>
                      <a:srgbClr val="000000"/>
                    </a:solidFill>
                  </a:tcPr>
                </a:tc>
                <a:tc hMerge="1" vMerge="1">
                  <a:txBody>
                    <a:bodyPr/>
                    <a:lstStyle/>
                    <a:p>
                      <a:pPr/>
                    </a:p>
                  </a:txBody>
                  <a:tcPr marL="0" marR="0" marB="0" marT="0"/>
                </a:tc>
                <a:tc vMerge="1">
                  <a:txBody>
                    <a:bodyPr/>
                    <a:lstStyle/>
                    <a:p>
                      <a:pPr/>
                    </a:p>
                  </a:txBody>
                  <a:tcPr marL="0" marR="0" marB="0" marT="0">
                    <a:lnL w="9525">
                      <a:solidFill>
                        <a:srgbClr val="C00000"/>
                      </a:solidFill>
                      <a:prstDash val="solid"/>
                    </a:lnL>
                    <a:lnR w="9525">
                      <a:solidFill>
                        <a:srgbClr val="C00000"/>
                      </a:solidFill>
                      <a:prstDash val="solid"/>
                    </a:lnR>
                    <a:lnT w="9525">
                      <a:solidFill>
                        <a:srgbClr val="C00000"/>
                      </a:solidFill>
                      <a:prstDash val="solid"/>
                    </a:lnT>
                    <a:lnB w="9525">
                      <a:solidFill>
                        <a:srgbClr val="878787"/>
                      </a:solidFill>
                      <a:prstDash val="solid"/>
                    </a:lnB>
                    <a:solidFill>
                      <a:srgbClr val="BBE0E3"/>
                    </a:solidFill>
                  </a:tcPr>
                </a:tc>
                <a:tc gridSpan="2" vMerge="1">
                  <a:txBody>
                    <a:bodyPr/>
                    <a:lstStyle/>
                    <a:p>
                      <a:pPr/>
                    </a:p>
                  </a:txBody>
                  <a:tcPr marL="0" marR="0" marB="0" marT="0">
                    <a:lnL w="9525">
                      <a:solidFill>
                        <a:srgbClr val="C00000"/>
                      </a:solidFill>
                      <a:prstDash val="solid"/>
                    </a:lnL>
                    <a:lnR w="9525">
                      <a:solidFill>
                        <a:srgbClr val="20206E"/>
                      </a:solidFill>
                      <a:prstDash val="solid"/>
                    </a:lnR>
                    <a:lnT w="9525">
                      <a:solidFill>
                        <a:srgbClr val="878787"/>
                      </a:solidFill>
                      <a:prstDash val="solid"/>
                    </a:lnT>
                    <a:lnB w="9525">
                      <a:solidFill>
                        <a:srgbClr val="878787"/>
                      </a:solidFill>
                      <a:prstDash val="solid"/>
                    </a:lnB>
                    <a:solidFill>
                      <a:srgbClr val="000000"/>
                    </a:solidFill>
                  </a:tcPr>
                </a:tc>
                <a:tc hMerge="1" vMerge="1">
                  <a:txBody>
                    <a:bodyPr/>
                    <a:lstStyle/>
                    <a:p>
                      <a:pPr/>
                    </a:p>
                  </a:txBody>
                  <a:tcPr marL="0" marR="0" marB="0" marT="0"/>
                </a:tc>
                <a:tc vMerge="1">
                  <a:txBody>
                    <a:bodyPr/>
                    <a:lstStyle/>
                    <a:p>
                      <a:pPr/>
                    </a:p>
                  </a:txBody>
                  <a:tcPr marL="0" marR="0" marB="0" marT="0">
                    <a:lnL w="9525">
                      <a:solidFill>
                        <a:srgbClr val="20206E"/>
                      </a:solidFill>
                      <a:prstDash val="solid"/>
                    </a:lnL>
                    <a:lnR w="9525">
                      <a:solidFill>
                        <a:srgbClr val="20206E"/>
                      </a:solidFill>
                      <a:prstDash val="solid"/>
                    </a:lnR>
                    <a:lnT w="9525">
                      <a:solidFill>
                        <a:srgbClr val="20206E"/>
                      </a:solidFill>
                      <a:prstDash val="solid"/>
                    </a:lnT>
                    <a:lnB w="9525">
                      <a:solidFill>
                        <a:srgbClr val="878787"/>
                      </a:solidFill>
                      <a:prstDash val="solid"/>
                    </a:lnB>
                    <a:solidFill>
                      <a:srgbClr val="92D050"/>
                    </a:solidFill>
                  </a:tcPr>
                </a:tc>
                <a:tc vMerge="1">
                  <a:txBody>
                    <a:bodyPr/>
                    <a:lstStyle/>
                    <a:p>
                      <a:pPr/>
                    </a:p>
                  </a:txBody>
                  <a:tcPr marL="0" marR="0" marB="0" marT="0">
                    <a:lnL w="9525">
                      <a:solidFill>
                        <a:srgbClr val="20206E"/>
                      </a:solidFill>
                      <a:prstDash val="solid"/>
                    </a:lnL>
                    <a:lnR w="9525">
                      <a:solidFill>
                        <a:srgbClr val="878787"/>
                      </a:solidFill>
                      <a:prstDash val="solid"/>
                    </a:lnR>
                    <a:lnT w="9525">
                      <a:solidFill>
                        <a:srgbClr val="878787"/>
                      </a:solidFill>
                      <a:prstDash val="solid"/>
                    </a:lnT>
                    <a:lnB w="9525">
                      <a:solidFill>
                        <a:srgbClr val="878787"/>
                      </a:solidFill>
                      <a:prstDash val="solid"/>
                    </a:lnB>
                    <a:solidFill>
                      <a:srgbClr val="000000"/>
                    </a:solidFill>
                  </a:tcPr>
                </a:tc>
              </a:tr>
              <a:tr h="326390">
                <a:tc>
                  <a:txBody>
                    <a:bodyPr/>
                    <a:lstStyle/>
                    <a:p>
                      <a:pPr>
                        <a:lnSpc>
                          <a:spcPct val="100000"/>
                        </a:lnSpc>
                      </a:pPr>
                      <a:endParaRPr sz="1100">
                        <a:latin typeface="Times New Roman"/>
                        <a:cs typeface="Times New Roman"/>
                      </a:endParaRPr>
                    </a:p>
                  </a:txBody>
                  <a:tcPr marL="0" marR="0" marB="0" marT="0">
                    <a:lnL w="9525">
                      <a:solidFill>
                        <a:srgbClr val="878787"/>
                      </a:solidFill>
                      <a:prstDash val="solid"/>
                    </a:lnL>
                    <a:lnB w="9525">
                      <a:solidFill>
                        <a:srgbClr val="878787"/>
                      </a:solidFill>
                      <a:prstDash val="solid"/>
                    </a:lnB>
                  </a:tcPr>
                </a:tc>
                <a:tc gridSpan="3">
                  <a:txBody>
                    <a:bodyPr/>
                    <a:lstStyle/>
                    <a:p>
                      <a:pPr marL="46990">
                        <a:lnSpc>
                          <a:spcPct val="100000"/>
                        </a:lnSpc>
                        <a:spcBef>
                          <a:spcPts val="960"/>
                        </a:spcBef>
                      </a:pPr>
                      <a:r>
                        <a:rPr dirty="0" sz="1000">
                          <a:latin typeface="Microsoft YaHei"/>
                          <a:cs typeface="Microsoft YaHei"/>
                        </a:rPr>
                        <a:t>100M</a:t>
                      </a:r>
                      <a:r>
                        <a:rPr dirty="0" sz="1000" spc="-15">
                          <a:latin typeface="Microsoft YaHei"/>
                          <a:cs typeface="Microsoft YaHei"/>
                        </a:rPr>
                        <a:t> </a:t>
                      </a:r>
                      <a:r>
                        <a:rPr dirty="0" sz="1000">
                          <a:latin typeface="Microsoft YaHei"/>
                          <a:cs typeface="Microsoft YaHei"/>
                        </a:rPr>
                        <a:t>200W</a:t>
                      </a:r>
                      <a:r>
                        <a:rPr dirty="0" sz="1000" spc="-5">
                          <a:latin typeface="Microsoft YaHei"/>
                          <a:cs typeface="Microsoft YaHei"/>
                        </a:rPr>
                        <a:t> </a:t>
                      </a:r>
                      <a:r>
                        <a:rPr dirty="0" sz="1000" spc="-20">
                          <a:latin typeface="Microsoft YaHei"/>
                          <a:cs typeface="Microsoft YaHei"/>
                        </a:rPr>
                        <a:t>64TR</a:t>
                      </a:r>
                      <a:endParaRPr sz="1000">
                        <a:latin typeface="Microsoft YaHei"/>
                        <a:cs typeface="Microsoft YaHei"/>
                      </a:endParaRPr>
                    </a:p>
                  </a:txBody>
                  <a:tcPr marL="0" marR="0" marB="0" marT="121920">
                    <a:lnT w="9525">
                      <a:solidFill>
                        <a:srgbClr val="878787"/>
                      </a:solidFill>
                      <a:prstDash val="solid"/>
                    </a:lnT>
                    <a:lnB w="9525">
                      <a:solidFill>
                        <a:srgbClr val="878787"/>
                      </a:solidFill>
                      <a:prstDash val="solid"/>
                    </a:lnB>
                  </a:tcPr>
                </a:tc>
                <a:tc hMerge="1">
                  <a:txBody>
                    <a:bodyPr/>
                    <a:lstStyle/>
                    <a:p>
                      <a:pPr/>
                    </a:p>
                  </a:txBody>
                  <a:tcPr marL="0" marR="0" marB="0" marT="0"/>
                </a:tc>
                <a:tc hMerge="1">
                  <a:txBody>
                    <a:bodyPr/>
                    <a:lstStyle/>
                    <a:p>
                      <a:pPr/>
                    </a:p>
                  </a:txBody>
                  <a:tcPr marL="0" marR="0" marB="0" marT="0"/>
                </a:tc>
                <a:tc gridSpan="3">
                  <a:txBody>
                    <a:bodyPr/>
                    <a:lstStyle/>
                    <a:p>
                      <a:pPr marL="47625">
                        <a:lnSpc>
                          <a:spcPct val="100000"/>
                        </a:lnSpc>
                        <a:spcBef>
                          <a:spcPts val="960"/>
                        </a:spcBef>
                      </a:pPr>
                      <a:r>
                        <a:rPr dirty="0" sz="1000">
                          <a:latin typeface="Microsoft YaHei"/>
                          <a:cs typeface="Microsoft YaHei"/>
                        </a:rPr>
                        <a:t>100M</a:t>
                      </a:r>
                      <a:r>
                        <a:rPr dirty="0" sz="1000" spc="-15">
                          <a:latin typeface="Microsoft YaHei"/>
                          <a:cs typeface="Microsoft YaHei"/>
                        </a:rPr>
                        <a:t> </a:t>
                      </a:r>
                      <a:r>
                        <a:rPr dirty="0" sz="1000">
                          <a:latin typeface="Microsoft YaHei"/>
                          <a:cs typeface="Microsoft YaHei"/>
                        </a:rPr>
                        <a:t>200W</a:t>
                      </a:r>
                      <a:r>
                        <a:rPr dirty="0" sz="1000" spc="-5">
                          <a:latin typeface="Microsoft YaHei"/>
                          <a:cs typeface="Microsoft YaHei"/>
                        </a:rPr>
                        <a:t> </a:t>
                      </a:r>
                      <a:r>
                        <a:rPr dirty="0" sz="1000" spc="-20">
                          <a:latin typeface="Microsoft YaHei"/>
                          <a:cs typeface="Microsoft YaHei"/>
                        </a:rPr>
                        <a:t>32TR</a:t>
                      </a:r>
                      <a:endParaRPr sz="1000">
                        <a:latin typeface="Microsoft YaHei"/>
                        <a:cs typeface="Microsoft YaHei"/>
                      </a:endParaRPr>
                    </a:p>
                  </a:txBody>
                  <a:tcPr marL="0" marR="0" marB="0" marT="121920">
                    <a:lnT w="9525">
                      <a:solidFill>
                        <a:srgbClr val="878787"/>
                      </a:solidFill>
                      <a:prstDash val="solid"/>
                    </a:lnT>
                    <a:lnB w="9525">
                      <a:solidFill>
                        <a:srgbClr val="878787"/>
                      </a:solidFill>
                      <a:prstDash val="solid"/>
                    </a:lnB>
                  </a:tcPr>
                </a:tc>
                <a:tc hMerge="1">
                  <a:txBody>
                    <a:bodyPr/>
                    <a:lstStyle/>
                    <a:p>
                      <a:pPr/>
                    </a:p>
                  </a:txBody>
                  <a:tcPr marL="0" marR="0" marB="0" marT="0"/>
                </a:tc>
                <a:tc hMerge="1">
                  <a:txBody>
                    <a:bodyPr/>
                    <a:lstStyle/>
                    <a:p>
                      <a:pPr/>
                    </a:p>
                  </a:txBody>
                  <a:tcPr marL="0" marR="0" marB="0" marT="0"/>
                </a:tc>
                <a:tc gridSpan="3">
                  <a:txBody>
                    <a:bodyPr/>
                    <a:lstStyle/>
                    <a:p>
                      <a:pPr marL="47625">
                        <a:lnSpc>
                          <a:spcPct val="100000"/>
                        </a:lnSpc>
                        <a:spcBef>
                          <a:spcPts val="960"/>
                        </a:spcBef>
                      </a:pPr>
                      <a:r>
                        <a:rPr dirty="0" sz="1000">
                          <a:latin typeface="Microsoft YaHei"/>
                          <a:cs typeface="Microsoft YaHei"/>
                        </a:rPr>
                        <a:t>100M</a:t>
                      </a:r>
                      <a:r>
                        <a:rPr dirty="0" sz="1000" spc="-15">
                          <a:latin typeface="Microsoft YaHei"/>
                          <a:cs typeface="Microsoft YaHei"/>
                        </a:rPr>
                        <a:t> </a:t>
                      </a:r>
                      <a:r>
                        <a:rPr dirty="0" sz="1000">
                          <a:latin typeface="Microsoft YaHei"/>
                          <a:cs typeface="Microsoft YaHei"/>
                        </a:rPr>
                        <a:t>200W</a:t>
                      </a:r>
                      <a:r>
                        <a:rPr dirty="0" sz="1000" spc="-5">
                          <a:latin typeface="Microsoft YaHei"/>
                          <a:cs typeface="Microsoft YaHei"/>
                        </a:rPr>
                        <a:t> </a:t>
                      </a:r>
                      <a:r>
                        <a:rPr dirty="0" sz="1000" spc="-20">
                          <a:latin typeface="Microsoft YaHei"/>
                          <a:cs typeface="Microsoft YaHei"/>
                        </a:rPr>
                        <a:t>16TR</a:t>
                      </a:r>
                      <a:endParaRPr sz="1000">
                        <a:latin typeface="Microsoft YaHei"/>
                        <a:cs typeface="Microsoft YaHei"/>
                      </a:endParaRPr>
                    </a:p>
                  </a:txBody>
                  <a:tcPr marL="0" marR="0" marB="0" marT="121920">
                    <a:lnR w="9525">
                      <a:solidFill>
                        <a:srgbClr val="878787"/>
                      </a:solidFill>
                      <a:prstDash val="solid"/>
                    </a:lnR>
                    <a:lnT w="9525">
                      <a:solidFill>
                        <a:srgbClr val="878787"/>
                      </a:solidFill>
                      <a:prstDash val="solid"/>
                    </a:lnT>
                    <a:lnB w="9525">
                      <a:solidFill>
                        <a:srgbClr val="878787"/>
                      </a:solidFill>
                      <a:prstDash val="solid"/>
                    </a:lnB>
                  </a:tcPr>
                </a:tc>
                <a:tc hMerge="1">
                  <a:txBody>
                    <a:bodyPr/>
                    <a:lstStyle/>
                    <a:p>
                      <a:pPr/>
                    </a:p>
                  </a:txBody>
                  <a:tcPr marL="0" marR="0" marB="0" marT="0"/>
                </a:tc>
                <a:tc hMerge="1">
                  <a:txBody>
                    <a:bodyPr/>
                    <a:lstStyle/>
                    <a:p>
                      <a:pPr/>
                    </a:p>
                  </a:txBody>
                  <a:tcPr marL="0" marR="0" marB="0" marT="0"/>
                </a:tc>
              </a:tr>
            </a:tbl>
          </a:graphicData>
        </a:graphic>
      </p:graphicFrame>
      <p:grpSp>
        <p:nvGrpSpPr>
          <p:cNvPr id="360" name="object 360" descr=""/>
          <p:cNvGrpSpPr/>
          <p:nvPr/>
        </p:nvGrpSpPr>
        <p:grpSpPr>
          <a:xfrm>
            <a:off x="5079491" y="1511046"/>
            <a:ext cx="2867025" cy="1343025"/>
            <a:chOff x="5079491" y="1511046"/>
            <a:chExt cx="2867025" cy="1343025"/>
          </a:xfrm>
        </p:grpSpPr>
        <p:sp>
          <p:nvSpPr>
            <p:cNvPr id="361" name="object 361" descr=""/>
            <p:cNvSpPr/>
            <p:nvPr/>
          </p:nvSpPr>
          <p:spPr>
            <a:xfrm>
              <a:off x="5084063" y="1664208"/>
              <a:ext cx="2862580" cy="1036319"/>
            </a:xfrm>
            <a:custGeom>
              <a:avLst/>
              <a:gdLst/>
              <a:ahLst/>
              <a:cxnLst/>
              <a:rect l="l" t="t" r="r" b="b"/>
              <a:pathLst>
                <a:path w="2862579" h="1036319">
                  <a:moveTo>
                    <a:pt x="2785110" y="1036320"/>
                  </a:moveTo>
                  <a:lnTo>
                    <a:pt x="2862072" y="1036320"/>
                  </a:lnTo>
                </a:path>
                <a:path w="2862579" h="1036319">
                  <a:moveTo>
                    <a:pt x="1712214" y="1036320"/>
                  </a:moveTo>
                  <a:lnTo>
                    <a:pt x="1865376" y="1036320"/>
                  </a:lnTo>
                </a:path>
                <a:path w="2862579" h="1036319">
                  <a:moveTo>
                    <a:pt x="1354074" y="1036320"/>
                  </a:moveTo>
                  <a:lnTo>
                    <a:pt x="1507236" y="1036320"/>
                  </a:lnTo>
                </a:path>
                <a:path w="2862579" h="1036319">
                  <a:moveTo>
                    <a:pt x="280416" y="1036320"/>
                  </a:moveTo>
                  <a:lnTo>
                    <a:pt x="434339" y="1036320"/>
                  </a:lnTo>
                </a:path>
                <a:path w="2862579" h="1036319">
                  <a:moveTo>
                    <a:pt x="2427732" y="1036320"/>
                  </a:moveTo>
                  <a:lnTo>
                    <a:pt x="2580893" y="1036320"/>
                  </a:lnTo>
                </a:path>
                <a:path w="2862579" h="1036319">
                  <a:moveTo>
                    <a:pt x="0" y="1036320"/>
                  </a:moveTo>
                  <a:lnTo>
                    <a:pt x="76200" y="1036320"/>
                  </a:lnTo>
                </a:path>
                <a:path w="2862579" h="1036319">
                  <a:moveTo>
                    <a:pt x="2069591" y="1036320"/>
                  </a:moveTo>
                  <a:lnTo>
                    <a:pt x="2222754" y="1036320"/>
                  </a:lnTo>
                </a:path>
                <a:path w="2862579" h="1036319">
                  <a:moveTo>
                    <a:pt x="638556" y="1036320"/>
                  </a:moveTo>
                  <a:lnTo>
                    <a:pt x="791718" y="1036320"/>
                  </a:lnTo>
                </a:path>
                <a:path w="2862579" h="1036319">
                  <a:moveTo>
                    <a:pt x="996696" y="1036320"/>
                  </a:moveTo>
                  <a:lnTo>
                    <a:pt x="1149858" y="1036320"/>
                  </a:lnTo>
                </a:path>
                <a:path w="2862579" h="1036319">
                  <a:moveTo>
                    <a:pt x="2785110" y="888492"/>
                  </a:moveTo>
                  <a:lnTo>
                    <a:pt x="2862072" y="888492"/>
                  </a:lnTo>
                </a:path>
                <a:path w="2862579" h="1036319">
                  <a:moveTo>
                    <a:pt x="2069591" y="888492"/>
                  </a:moveTo>
                  <a:lnTo>
                    <a:pt x="2222754" y="888492"/>
                  </a:lnTo>
                </a:path>
                <a:path w="2862579" h="1036319">
                  <a:moveTo>
                    <a:pt x="1354074" y="888492"/>
                  </a:moveTo>
                  <a:lnTo>
                    <a:pt x="1507236" y="888492"/>
                  </a:lnTo>
                </a:path>
                <a:path w="2862579" h="1036319">
                  <a:moveTo>
                    <a:pt x="996696" y="888492"/>
                  </a:moveTo>
                  <a:lnTo>
                    <a:pt x="1149858" y="888492"/>
                  </a:lnTo>
                </a:path>
                <a:path w="2862579" h="1036319">
                  <a:moveTo>
                    <a:pt x="280416" y="888492"/>
                  </a:moveTo>
                  <a:lnTo>
                    <a:pt x="434339" y="888492"/>
                  </a:lnTo>
                </a:path>
                <a:path w="2862579" h="1036319">
                  <a:moveTo>
                    <a:pt x="638556" y="888492"/>
                  </a:moveTo>
                  <a:lnTo>
                    <a:pt x="791718" y="888492"/>
                  </a:lnTo>
                </a:path>
                <a:path w="2862579" h="1036319">
                  <a:moveTo>
                    <a:pt x="0" y="888492"/>
                  </a:moveTo>
                  <a:lnTo>
                    <a:pt x="76200" y="888492"/>
                  </a:lnTo>
                </a:path>
                <a:path w="2862579" h="1036319">
                  <a:moveTo>
                    <a:pt x="2427732" y="888492"/>
                  </a:moveTo>
                  <a:lnTo>
                    <a:pt x="2580893" y="888492"/>
                  </a:lnTo>
                </a:path>
                <a:path w="2862579" h="1036319">
                  <a:moveTo>
                    <a:pt x="1712214" y="888492"/>
                  </a:moveTo>
                  <a:lnTo>
                    <a:pt x="1865376" y="888492"/>
                  </a:lnTo>
                </a:path>
                <a:path w="2862579" h="1036319">
                  <a:moveTo>
                    <a:pt x="0" y="740664"/>
                  </a:moveTo>
                  <a:lnTo>
                    <a:pt x="76200" y="740664"/>
                  </a:lnTo>
                </a:path>
                <a:path w="2862579" h="1036319">
                  <a:moveTo>
                    <a:pt x="1712214" y="740664"/>
                  </a:moveTo>
                  <a:lnTo>
                    <a:pt x="1865376" y="740664"/>
                  </a:lnTo>
                </a:path>
                <a:path w="2862579" h="1036319">
                  <a:moveTo>
                    <a:pt x="280416" y="740664"/>
                  </a:moveTo>
                  <a:lnTo>
                    <a:pt x="434339" y="740664"/>
                  </a:lnTo>
                </a:path>
                <a:path w="2862579" h="1036319">
                  <a:moveTo>
                    <a:pt x="1354074" y="740664"/>
                  </a:moveTo>
                  <a:lnTo>
                    <a:pt x="1507236" y="740664"/>
                  </a:lnTo>
                </a:path>
                <a:path w="2862579" h="1036319">
                  <a:moveTo>
                    <a:pt x="638556" y="740664"/>
                  </a:moveTo>
                  <a:lnTo>
                    <a:pt x="791718" y="740664"/>
                  </a:lnTo>
                </a:path>
                <a:path w="2862579" h="1036319">
                  <a:moveTo>
                    <a:pt x="996696" y="740664"/>
                  </a:moveTo>
                  <a:lnTo>
                    <a:pt x="1149858" y="740664"/>
                  </a:lnTo>
                </a:path>
                <a:path w="2862579" h="1036319">
                  <a:moveTo>
                    <a:pt x="2785110" y="740664"/>
                  </a:moveTo>
                  <a:lnTo>
                    <a:pt x="2862072" y="740664"/>
                  </a:lnTo>
                </a:path>
                <a:path w="2862579" h="1036319">
                  <a:moveTo>
                    <a:pt x="2427732" y="740664"/>
                  </a:moveTo>
                  <a:lnTo>
                    <a:pt x="2580893" y="740664"/>
                  </a:lnTo>
                </a:path>
                <a:path w="2862579" h="1036319">
                  <a:moveTo>
                    <a:pt x="2069591" y="740664"/>
                  </a:moveTo>
                  <a:lnTo>
                    <a:pt x="2222754" y="740664"/>
                  </a:lnTo>
                </a:path>
                <a:path w="2862579" h="1036319">
                  <a:moveTo>
                    <a:pt x="2069591" y="592074"/>
                  </a:moveTo>
                  <a:lnTo>
                    <a:pt x="2222754" y="592074"/>
                  </a:lnTo>
                </a:path>
                <a:path w="2862579" h="1036319">
                  <a:moveTo>
                    <a:pt x="2785110" y="592074"/>
                  </a:moveTo>
                  <a:lnTo>
                    <a:pt x="2862072" y="592074"/>
                  </a:lnTo>
                </a:path>
                <a:path w="2862579" h="1036319">
                  <a:moveTo>
                    <a:pt x="996696" y="592074"/>
                  </a:moveTo>
                  <a:lnTo>
                    <a:pt x="1149858" y="592074"/>
                  </a:lnTo>
                </a:path>
                <a:path w="2862579" h="1036319">
                  <a:moveTo>
                    <a:pt x="1354074" y="592074"/>
                  </a:moveTo>
                  <a:lnTo>
                    <a:pt x="1507236" y="592074"/>
                  </a:lnTo>
                </a:path>
                <a:path w="2862579" h="1036319">
                  <a:moveTo>
                    <a:pt x="638556" y="592074"/>
                  </a:moveTo>
                  <a:lnTo>
                    <a:pt x="791718" y="592074"/>
                  </a:lnTo>
                </a:path>
                <a:path w="2862579" h="1036319">
                  <a:moveTo>
                    <a:pt x="280416" y="592074"/>
                  </a:moveTo>
                  <a:lnTo>
                    <a:pt x="434339" y="592074"/>
                  </a:lnTo>
                </a:path>
                <a:path w="2862579" h="1036319">
                  <a:moveTo>
                    <a:pt x="1712214" y="592074"/>
                  </a:moveTo>
                  <a:lnTo>
                    <a:pt x="1865376" y="592074"/>
                  </a:lnTo>
                </a:path>
                <a:path w="2862579" h="1036319">
                  <a:moveTo>
                    <a:pt x="0" y="592074"/>
                  </a:moveTo>
                  <a:lnTo>
                    <a:pt x="178308" y="592074"/>
                  </a:lnTo>
                </a:path>
                <a:path w="2862579" h="1036319">
                  <a:moveTo>
                    <a:pt x="2427732" y="592074"/>
                  </a:moveTo>
                  <a:lnTo>
                    <a:pt x="2580893" y="592074"/>
                  </a:lnTo>
                </a:path>
                <a:path w="2862579" h="1036319">
                  <a:moveTo>
                    <a:pt x="2785110" y="444246"/>
                  </a:moveTo>
                  <a:lnTo>
                    <a:pt x="2862072" y="444246"/>
                  </a:lnTo>
                </a:path>
                <a:path w="2862579" h="1036319">
                  <a:moveTo>
                    <a:pt x="1712214" y="444246"/>
                  </a:moveTo>
                  <a:lnTo>
                    <a:pt x="2222754" y="444246"/>
                  </a:lnTo>
                </a:path>
                <a:path w="2862579" h="1036319">
                  <a:moveTo>
                    <a:pt x="2427732" y="444246"/>
                  </a:moveTo>
                  <a:lnTo>
                    <a:pt x="2580893" y="444246"/>
                  </a:lnTo>
                </a:path>
                <a:path w="2862579" h="1036319">
                  <a:moveTo>
                    <a:pt x="1354074" y="444246"/>
                  </a:moveTo>
                  <a:lnTo>
                    <a:pt x="1507236" y="444246"/>
                  </a:lnTo>
                </a:path>
                <a:path w="2862579" h="1036319">
                  <a:moveTo>
                    <a:pt x="0" y="444246"/>
                  </a:moveTo>
                  <a:lnTo>
                    <a:pt x="791718" y="444246"/>
                  </a:lnTo>
                </a:path>
                <a:path w="2862579" h="1036319">
                  <a:moveTo>
                    <a:pt x="996696" y="444246"/>
                  </a:moveTo>
                  <a:lnTo>
                    <a:pt x="1149858" y="444246"/>
                  </a:lnTo>
                </a:path>
                <a:path w="2862579" h="1036319">
                  <a:moveTo>
                    <a:pt x="2785110" y="295656"/>
                  </a:moveTo>
                  <a:lnTo>
                    <a:pt x="2862072" y="295656"/>
                  </a:lnTo>
                </a:path>
                <a:path w="2862579" h="1036319">
                  <a:moveTo>
                    <a:pt x="0" y="295656"/>
                  </a:moveTo>
                  <a:lnTo>
                    <a:pt x="1149858" y="295656"/>
                  </a:lnTo>
                </a:path>
                <a:path w="2862579" h="1036319">
                  <a:moveTo>
                    <a:pt x="1712214" y="295656"/>
                  </a:moveTo>
                  <a:lnTo>
                    <a:pt x="2222754" y="295656"/>
                  </a:lnTo>
                </a:path>
                <a:path w="2862579" h="1036319">
                  <a:moveTo>
                    <a:pt x="1354074" y="295656"/>
                  </a:moveTo>
                  <a:lnTo>
                    <a:pt x="1507236" y="295656"/>
                  </a:lnTo>
                </a:path>
                <a:path w="2862579" h="1036319">
                  <a:moveTo>
                    <a:pt x="2427732" y="295656"/>
                  </a:moveTo>
                  <a:lnTo>
                    <a:pt x="2580893" y="295656"/>
                  </a:lnTo>
                </a:path>
                <a:path w="2862579" h="1036319">
                  <a:moveTo>
                    <a:pt x="2785110" y="147828"/>
                  </a:moveTo>
                  <a:lnTo>
                    <a:pt x="2862072" y="147828"/>
                  </a:lnTo>
                </a:path>
                <a:path w="2862579" h="1036319">
                  <a:moveTo>
                    <a:pt x="0" y="147828"/>
                  </a:moveTo>
                  <a:lnTo>
                    <a:pt x="1507236" y="147828"/>
                  </a:lnTo>
                </a:path>
                <a:path w="2862579" h="1036319">
                  <a:moveTo>
                    <a:pt x="1712214" y="147828"/>
                  </a:moveTo>
                  <a:lnTo>
                    <a:pt x="2683002" y="147828"/>
                  </a:lnTo>
                </a:path>
                <a:path w="2862579" h="1036319">
                  <a:moveTo>
                    <a:pt x="1712214" y="0"/>
                  </a:moveTo>
                  <a:lnTo>
                    <a:pt x="2862072" y="0"/>
                  </a:lnTo>
                </a:path>
                <a:path w="2862579" h="1036319">
                  <a:moveTo>
                    <a:pt x="0" y="0"/>
                  </a:moveTo>
                  <a:lnTo>
                    <a:pt x="1610106" y="0"/>
                  </a:lnTo>
                </a:path>
              </a:pathLst>
            </a:custGeom>
            <a:ln w="9144">
              <a:solidFill>
                <a:srgbClr val="878787"/>
              </a:solidFill>
            </a:ln>
          </p:spPr>
          <p:txBody>
            <a:bodyPr wrap="square" lIns="0" tIns="0" rIns="0" bIns="0" rtlCol="0"/>
            <a:lstStyle/>
            <a:p/>
          </p:txBody>
        </p:sp>
        <p:sp>
          <p:nvSpPr>
            <p:cNvPr id="362" name="object 362" descr=""/>
            <p:cNvSpPr/>
            <p:nvPr/>
          </p:nvSpPr>
          <p:spPr>
            <a:xfrm>
              <a:off x="5084063" y="1515618"/>
              <a:ext cx="2862580" cy="0"/>
            </a:xfrm>
            <a:custGeom>
              <a:avLst/>
              <a:gdLst/>
              <a:ahLst/>
              <a:cxnLst/>
              <a:rect l="l" t="t" r="r" b="b"/>
              <a:pathLst>
                <a:path w="2862579" h="0">
                  <a:moveTo>
                    <a:pt x="0" y="0"/>
                  </a:moveTo>
                  <a:lnTo>
                    <a:pt x="2862072" y="0"/>
                  </a:lnTo>
                </a:path>
              </a:pathLst>
            </a:custGeom>
            <a:ln w="9144">
              <a:solidFill>
                <a:srgbClr val="878787"/>
              </a:solidFill>
            </a:ln>
          </p:spPr>
          <p:txBody>
            <a:bodyPr wrap="square" lIns="0" tIns="0" rIns="0" bIns="0" rtlCol="0"/>
            <a:lstStyle/>
            <a:p/>
          </p:txBody>
        </p:sp>
        <p:sp>
          <p:nvSpPr>
            <p:cNvPr id="363" name="object 363" descr=""/>
            <p:cNvSpPr/>
            <p:nvPr/>
          </p:nvSpPr>
          <p:spPr>
            <a:xfrm>
              <a:off x="5160264" y="1782317"/>
              <a:ext cx="2607310" cy="1066800"/>
            </a:xfrm>
            <a:custGeom>
              <a:avLst/>
              <a:gdLst/>
              <a:ahLst/>
              <a:cxnLst/>
              <a:rect l="l" t="t" r="r" b="b"/>
              <a:pathLst>
                <a:path w="2607309" h="1066800">
                  <a:moveTo>
                    <a:pt x="102108" y="524256"/>
                  </a:moveTo>
                  <a:lnTo>
                    <a:pt x="0" y="524256"/>
                  </a:lnTo>
                  <a:lnTo>
                    <a:pt x="0" y="1066800"/>
                  </a:lnTo>
                  <a:lnTo>
                    <a:pt x="102108" y="1066800"/>
                  </a:lnTo>
                  <a:lnTo>
                    <a:pt x="102108" y="524256"/>
                  </a:lnTo>
                  <a:close/>
                </a:path>
                <a:path w="2607309" h="1066800">
                  <a:moveTo>
                    <a:pt x="460248" y="423672"/>
                  </a:moveTo>
                  <a:lnTo>
                    <a:pt x="358140" y="423672"/>
                  </a:lnTo>
                  <a:lnTo>
                    <a:pt x="358140" y="1066800"/>
                  </a:lnTo>
                  <a:lnTo>
                    <a:pt x="460248" y="1066800"/>
                  </a:lnTo>
                  <a:lnTo>
                    <a:pt x="460248" y="423672"/>
                  </a:lnTo>
                  <a:close/>
                </a:path>
                <a:path w="2607309" h="1066800">
                  <a:moveTo>
                    <a:pt x="817626" y="296418"/>
                  </a:moveTo>
                  <a:lnTo>
                    <a:pt x="715518" y="296418"/>
                  </a:lnTo>
                  <a:lnTo>
                    <a:pt x="715518" y="1066800"/>
                  </a:lnTo>
                  <a:lnTo>
                    <a:pt x="817626" y="1066800"/>
                  </a:lnTo>
                  <a:lnTo>
                    <a:pt x="817626" y="296418"/>
                  </a:lnTo>
                  <a:close/>
                </a:path>
                <a:path w="2607309" h="1066800">
                  <a:moveTo>
                    <a:pt x="1175766" y="148590"/>
                  </a:moveTo>
                  <a:lnTo>
                    <a:pt x="1073658" y="148590"/>
                  </a:lnTo>
                  <a:lnTo>
                    <a:pt x="1073658" y="1066800"/>
                  </a:lnTo>
                  <a:lnTo>
                    <a:pt x="1175766" y="1066800"/>
                  </a:lnTo>
                  <a:lnTo>
                    <a:pt x="1175766" y="148590"/>
                  </a:lnTo>
                  <a:close/>
                </a:path>
                <a:path w="2607309" h="1066800">
                  <a:moveTo>
                    <a:pt x="1533906" y="0"/>
                  </a:moveTo>
                  <a:lnTo>
                    <a:pt x="1431036" y="0"/>
                  </a:lnTo>
                  <a:lnTo>
                    <a:pt x="1431036" y="1066800"/>
                  </a:lnTo>
                  <a:lnTo>
                    <a:pt x="1533906" y="1066800"/>
                  </a:lnTo>
                  <a:lnTo>
                    <a:pt x="1533906" y="0"/>
                  </a:lnTo>
                  <a:close/>
                </a:path>
                <a:path w="2607309" h="1066800">
                  <a:moveTo>
                    <a:pt x="1891284" y="444246"/>
                  </a:moveTo>
                  <a:lnTo>
                    <a:pt x="1789176" y="444246"/>
                  </a:lnTo>
                  <a:lnTo>
                    <a:pt x="1789176" y="1066800"/>
                  </a:lnTo>
                  <a:lnTo>
                    <a:pt x="1891284" y="1066800"/>
                  </a:lnTo>
                  <a:lnTo>
                    <a:pt x="1891284" y="444246"/>
                  </a:lnTo>
                  <a:close/>
                </a:path>
                <a:path w="2607309" h="1066800">
                  <a:moveTo>
                    <a:pt x="2249424" y="166116"/>
                  </a:moveTo>
                  <a:lnTo>
                    <a:pt x="2146554" y="166116"/>
                  </a:lnTo>
                  <a:lnTo>
                    <a:pt x="2146554" y="1066800"/>
                  </a:lnTo>
                  <a:lnTo>
                    <a:pt x="2249424" y="1066800"/>
                  </a:lnTo>
                  <a:lnTo>
                    <a:pt x="2249424" y="166116"/>
                  </a:lnTo>
                  <a:close/>
                </a:path>
                <a:path w="2607309" h="1066800">
                  <a:moveTo>
                    <a:pt x="2606789" y="26670"/>
                  </a:moveTo>
                  <a:lnTo>
                    <a:pt x="2504694" y="26670"/>
                  </a:lnTo>
                  <a:lnTo>
                    <a:pt x="2504694" y="1066800"/>
                  </a:lnTo>
                  <a:lnTo>
                    <a:pt x="2606789" y="1066800"/>
                  </a:lnTo>
                  <a:lnTo>
                    <a:pt x="2606789" y="26670"/>
                  </a:lnTo>
                  <a:close/>
                </a:path>
              </a:pathLst>
            </a:custGeom>
            <a:solidFill>
              <a:srgbClr val="0065B0"/>
            </a:solidFill>
          </p:spPr>
          <p:txBody>
            <a:bodyPr wrap="square" lIns="0" tIns="0" rIns="0" bIns="0" rtlCol="0"/>
            <a:lstStyle/>
            <a:p/>
          </p:txBody>
        </p:sp>
        <p:sp>
          <p:nvSpPr>
            <p:cNvPr id="364" name="object 364" descr=""/>
            <p:cNvSpPr/>
            <p:nvPr/>
          </p:nvSpPr>
          <p:spPr>
            <a:xfrm>
              <a:off x="5262372" y="1648967"/>
              <a:ext cx="2607310" cy="1200785"/>
            </a:xfrm>
            <a:custGeom>
              <a:avLst/>
              <a:gdLst/>
              <a:ahLst/>
              <a:cxnLst/>
              <a:rect l="l" t="t" r="r" b="b"/>
              <a:pathLst>
                <a:path w="2607309" h="1200785">
                  <a:moveTo>
                    <a:pt x="102108" y="592836"/>
                  </a:moveTo>
                  <a:lnTo>
                    <a:pt x="0" y="592836"/>
                  </a:lnTo>
                  <a:lnTo>
                    <a:pt x="0" y="1200150"/>
                  </a:lnTo>
                  <a:lnTo>
                    <a:pt x="102108" y="1200150"/>
                  </a:lnTo>
                  <a:lnTo>
                    <a:pt x="102108" y="592836"/>
                  </a:lnTo>
                  <a:close/>
                </a:path>
                <a:path w="2607309" h="1200785">
                  <a:moveTo>
                    <a:pt x="460248" y="473964"/>
                  </a:moveTo>
                  <a:lnTo>
                    <a:pt x="358140" y="473964"/>
                  </a:lnTo>
                  <a:lnTo>
                    <a:pt x="358140" y="1200150"/>
                  </a:lnTo>
                  <a:lnTo>
                    <a:pt x="460248" y="1200150"/>
                  </a:lnTo>
                  <a:lnTo>
                    <a:pt x="460248" y="473964"/>
                  </a:lnTo>
                  <a:close/>
                </a:path>
                <a:path w="2607309" h="1200785">
                  <a:moveTo>
                    <a:pt x="818388" y="335280"/>
                  </a:moveTo>
                  <a:lnTo>
                    <a:pt x="715518" y="335280"/>
                  </a:lnTo>
                  <a:lnTo>
                    <a:pt x="715518" y="1200150"/>
                  </a:lnTo>
                  <a:lnTo>
                    <a:pt x="818388" y="1200150"/>
                  </a:lnTo>
                  <a:lnTo>
                    <a:pt x="818388" y="335280"/>
                  </a:lnTo>
                  <a:close/>
                </a:path>
                <a:path w="2607309" h="1200785">
                  <a:moveTo>
                    <a:pt x="1175766" y="166128"/>
                  </a:moveTo>
                  <a:lnTo>
                    <a:pt x="1073658" y="166128"/>
                  </a:lnTo>
                  <a:lnTo>
                    <a:pt x="1073658" y="1200162"/>
                  </a:lnTo>
                  <a:lnTo>
                    <a:pt x="1175766" y="1200162"/>
                  </a:lnTo>
                  <a:lnTo>
                    <a:pt x="1175766" y="166128"/>
                  </a:lnTo>
                  <a:close/>
                </a:path>
                <a:path w="2607309" h="1200785">
                  <a:moveTo>
                    <a:pt x="1533906" y="0"/>
                  </a:moveTo>
                  <a:lnTo>
                    <a:pt x="1431798" y="0"/>
                  </a:lnTo>
                  <a:lnTo>
                    <a:pt x="1431798" y="1200150"/>
                  </a:lnTo>
                  <a:lnTo>
                    <a:pt x="1533906" y="1200150"/>
                  </a:lnTo>
                  <a:lnTo>
                    <a:pt x="1533906" y="0"/>
                  </a:lnTo>
                  <a:close/>
                </a:path>
                <a:path w="2607309" h="1200785">
                  <a:moveTo>
                    <a:pt x="1891284" y="500634"/>
                  </a:moveTo>
                  <a:lnTo>
                    <a:pt x="1789176" y="500634"/>
                  </a:lnTo>
                  <a:lnTo>
                    <a:pt x="1789176" y="1200150"/>
                  </a:lnTo>
                  <a:lnTo>
                    <a:pt x="1891284" y="1200150"/>
                  </a:lnTo>
                  <a:lnTo>
                    <a:pt x="1891284" y="500634"/>
                  </a:lnTo>
                  <a:close/>
                </a:path>
                <a:path w="2607309" h="1200785">
                  <a:moveTo>
                    <a:pt x="2249424" y="186702"/>
                  </a:moveTo>
                  <a:lnTo>
                    <a:pt x="2147316" y="186702"/>
                  </a:lnTo>
                  <a:lnTo>
                    <a:pt x="2147316" y="1200162"/>
                  </a:lnTo>
                  <a:lnTo>
                    <a:pt x="2249424" y="1200162"/>
                  </a:lnTo>
                  <a:lnTo>
                    <a:pt x="2249424" y="186702"/>
                  </a:lnTo>
                  <a:close/>
                </a:path>
                <a:path w="2607309" h="1200785">
                  <a:moveTo>
                    <a:pt x="2606802" y="29718"/>
                  </a:moveTo>
                  <a:lnTo>
                    <a:pt x="2504694" y="29718"/>
                  </a:lnTo>
                  <a:lnTo>
                    <a:pt x="2504694" y="1200150"/>
                  </a:lnTo>
                  <a:lnTo>
                    <a:pt x="2606802" y="1200150"/>
                  </a:lnTo>
                  <a:lnTo>
                    <a:pt x="2606802" y="29718"/>
                  </a:lnTo>
                  <a:close/>
                </a:path>
              </a:pathLst>
            </a:custGeom>
            <a:solidFill>
              <a:srgbClr val="C00000"/>
            </a:solidFill>
          </p:spPr>
          <p:txBody>
            <a:bodyPr wrap="square" lIns="0" tIns="0" rIns="0" bIns="0" rtlCol="0"/>
            <a:lstStyle/>
            <a:p/>
          </p:txBody>
        </p:sp>
        <p:sp>
          <p:nvSpPr>
            <p:cNvPr id="365" name="object 365" descr=""/>
            <p:cNvSpPr/>
            <p:nvPr/>
          </p:nvSpPr>
          <p:spPr>
            <a:xfrm>
              <a:off x="5084063" y="1515618"/>
              <a:ext cx="2862580" cy="1333500"/>
            </a:xfrm>
            <a:custGeom>
              <a:avLst/>
              <a:gdLst/>
              <a:ahLst/>
              <a:cxnLst/>
              <a:rect l="l" t="t" r="r" b="b"/>
              <a:pathLst>
                <a:path w="2862579" h="1333500">
                  <a:moveTo>
                    <a:pt x="0" y="1333499"/>
                  </a:moveTo>
                  <a:lnTo>
                    <a:pt x="0" y="0"/>
                  </a:lnTo>
                </a:path>
                <a:path w="2862579" h="1333500">
                  <a:moveTo>
                    <a:pt x="0" y="1333499"/>
                  </a:moveTo>
                  <a:lnTo>
                    <a:pt x="2862072" y="1333499"/>
                  </a:lnTo>
                </a:path>
              </a:pathLst>
            </a:custGeom>
            <a:ln w="9144">
              <a:solidFill>
                <a:srgbClr val="878787"/>
              </a:solidFill>
            </a:ln>
          </p:spPr>
          <p:txBody>
            <a:bodyPr wrap="square" lIns="0" tIns="0" rIns="0" bIns="0" rtlCol="0"/>
            <a:lstStyle/>
            <a:p/>
          </p:txBody>
        </p:sp>
      </p:grpSp>
      <p:sp>
        <p:nvSpPr>
          <p:cNvPr id="366" name="object 366" descr=""/>
          <p:cNvSpPr txBox="1"/>
          <p:nvPr/>
        </p:nvSpPr>
        <p:spPr>
          <a:xfrm>
            <a:off x="5088635" y="2051108"/>
            <a:ext cx="532130" cy="178435"/>
          </a:xfrm>
          <a:prstGeom prst="rect">
            <a:avLst/>
          </a:prstGeom>
        </p:spPr>
        <p:txBody>
          <a:bodyPr wrap="square" lIns="0" tIns="12700" rIns="0" bIns="0" rtlCol="0" vert="horz">
            <a:spAutoFit/>
          </a:bodyPr>
          <a:lstStyle/>
          <a:p>
            <a:pPr marL="10160">
              <a:lnSpc>
                <a:spcPct val="100000"/>
              </a:lnSpc>
              <a:spcBef>
                <a:spcPts val="100"/>
              </a:spcBef>
            </a:pPr>
            <a:r>
              <a:rPr dirty="0" sz="1000" spc="-25">
                <a:latin typeface="Microsoft YaHei"/>
                <a:cs typeface="Microsoft YaHei"/>
              </a:rPr>
              <a:t>183</a:t>
            </a:r>
            <a:endParaRPr sz="1000">
              <a:latin typeface="Microsoft YaHei"/>
              <a:cs typeface="Microsoft YaHei"/>
            </a:endParaRPr>
          </a:p>
        </p:txBody>
      </p:sp>
      <p:sp>
        <p:nvSpPr>
          <p:cNvPr id="367" name="object 367" descr=""/>
          <p:cNvSpPr txBox="1"/>
          <p:nvPr/>
        </p:nvSpPr>
        <p:spPr>
          <a:xfrm>
            <a:off x="7232934" y="1692633"/>
            <a:ext cx="249554" cy="178435"/>
          </a:xfrm>
          <a:prstGeom prst="rect">
            <a:avLst/>
          </a:prstGeom>
        </p:spPr>
        <p:txBody>
          <a:bodyPr wrap="square" lIns="0" tIns="12700" rIns="0" bIns="0" rtlCol="0" vert="horz">
            <a:spAutoFit/>
          </a:bodyPr>
          <a:lstStyle/>
          <a:p>
            <a:pPr marL="12700">
              <a:lnSpc>
                <a:spcPct val="100000"/>
              </a:lnSpc>
              <a:spcBef>
                <a:spcPts val="100"/>
              </a:spcBef>
            </a:pPr>
            <a:r>
              <a:rPr dirty="0" sz="1000" spc="-25">
                <a:latin typeface="Microsoft YaHei"/>
                <a:cs typeface="Microsoft YaHei"/>
              </a:rPr>
              <a:t>304</a:t>
            </a:r>
            <a:endParaRPr sz="1000">
              <a:latin typeface="Microsoft YaHei"/>
              <a:cs typeface="Microsoft YaHei"/>
            </a:endParaRPr>
          </a:p>
        </p:txBody>
      </p:sp>
      <p:sp>
        <p:nvSpPr>
          <p:cNvPr id="368" name="object 368" descr=""/>
          <p:cNvSpPr txBox="1"/>
          <p:nvPr/>
        </p:nvSpPr>
        <p:spPr>
          <a:xfrm>
            <a:off x="5162817" y="1822942"/>
            <a:ext cx="914400" cy="178435"/>
          </a:xfrm>
          <a:prstGeom prst="rect">
            <a:avLst/>
          </a:prstGeom>
        </p:spPr>
        <p:txBody>
          <a:bodyPr wrap="square" lIns="0" tIns="12700" rIns="0" bIns="0" rtlCol="0" vert="horz">
            <a:spAutoFit/>
          </a:bodyPr>
          <a:lstStyle/>
          <a:p>
            <a:pPr marL="38100">
              <a:lnSpc>
                <a:spcPct val="100000"/>
              </a:lnSpc>
              <a:spcBef>
                <a:spcPts val="100"/>
              </a:spcBef>
            </a:pPr>
            <a:r>
              <a:rPr dirty="0" baseline="-72222" sz="1500">
                <a:latin typeface="Microsoft YaHei"/>
                <a:cs typeface="Microsoft YaHei"/>
              </a:rPr>
              <a:t>205</a:t>
            </a:r>
            <a:r>
              <a:rPr dirty="0" baseline="-72222" sz="1500" spc="-60">
                <a:latin typeface="Microsoft YaHei"/>
                <a:cs typeface="Microsoft YaHei"/>
              </a:rPr>
              <a:t> </a:t>
            </a:r>
            <a:r>
              <a:rPr dirty="0" baseline="-55555" sz="1500" spc="-247">
                <a:latin typeface="Microsoft YaHei"/>
                <a:cs typeface="Microsoft YaHei"/>
              </a:rPr>
              <a:t>21</a:t>
            </a:r>
            <a:r>
              <a:rPr dirty="0" baseline="-19444" sz="1500" spc="-247">
                <a:latin typeface="Microsoft YaHei"/>
                <a:cs typeface="Microsoft YaHei"/>
              </a:rPr>
              <a:t>2</a:t>
            </a:r>
            <a:r>
              <a:rPr dirty="0" baseline="-55555" sz="1500" spc="-247">
                <a:latin typeface="Microsoft YaHei"/>
                <a:cs typeface="Microsoft YaHei"/>
              </a:rPr>
              <a:t>7</a:t>
            </a:r>
            <a:r>
              <a:rPr dirty="0" baseline="-19444" sz="1500" spc="-247">
                <a:latin typeface="Microsoft YaHei"/>
                <a:cs typeface="Microsoft YaHei"/>
              </a:rPr>
              <a:t>45</a:t>
            </a:r>
            <a:r>
              <a:rPr dirty="0" baseline="-19444" sz="1500" spc="-52">
                <a:latin typeface="Microsoft YaHei"/>
                <a:cs typeface="Microsoft YaHei"/>
              </a:rPr>
              <a:t> </a:t>
            </a:r>
            <a:r>
              <a:rPr dirty="0" sz="1000" spc="-25">
                <a:latin typeface="Microsoft YaHei"/>
                <a:cs typeface="Microsoft YaHei"/>
              </a:rPr>
              <a:t>260</a:t>
            </a:r>
            <a:endParaRPr sz="1000">
              <a:latin typeface="Microsoft YaHei"/>
              <a:cs typeface="Microsoft YaHei"/>
            </a:endParaRPr>
          </a:p>
        </p:txBody>
      </p:sp>
      <p:sp>
        <p:nvSpPr>
          <p:cNvPr id="369" name="object 369" descr=""/>
          <p:cNvSpPr txBox="1"/>
          <p:nvPr/>
        </p:nvSpPr>
        <p:spPr>
          <a:xfrm>
            <a:off x="5878239" y="1674818"/>
            <a:ext cx="556895" cy="178435"/>
          </a:xfrm>
          <a:prstGeom prst="rect">
            <a:avLst/>
          </a:prstGeom>
        </p:spPr>
        <p:txBody>
          <a:bodyPr wrap="square" lIns="0" tIns="12700" rIns="0" bIns="0" rtlCol="0" vert="horz">
            <a:spAutoFit/>
          </a:bodyPr>
          <a:lstStyle/>
          <a:p>
            <a:pPr marL="38100">
              <a:lnSpc>
                <a:spcPct val="100000"/>
              </a:lnSpc>
              <a:spcBef>
                <a:spcPts val="100"/>
              </a:spcBef>
            </a:pPr>
            <a:r>
              <a:rPr dirty="0" baseline="-22222" sz="1500">
                <a:latin typeface="Microsoft YaHei"/>
                <a:cs typeface="Microsoft YaHei"/>
              </a:rPr>
              <a:t>292</a:t>
            </a:r>
            <a:r>
              <a:rPr dirty="0" baseline="-22222" sz="1500" spc="-67">
                <a:latin typeface="Microsoft YaHei"/>
                <a:cs typeface="Microsoft YaHei"/>
              </a:rPr>
              <a:t> </a:t>
            </a:r>
            <a:r>
              <a:rPr dirty="0" sz="1000" spc="-25">
                <a:latin typeface="Microsoft YaHei"/>
                <a:cs typeface="Microsoft YaHei"/>
              </a:rPr>
              <a:t>310</a:t>
            </a:r>
            <a:endParaRPr sz="1000">
              <a:latin typeface="Microsoft YaHei"/>
              <a:cs typeface="Microsoft YaHei"/>
            </a:endParaRPr>
          </a:p>
        </p:txBody>
      </p:sp>
      <p:sp>
        <p:nvSpPr>
          <p:cNvPr id="370" name="object 370" descr=""/>
          <p:cNvSpPr txBox="1"/>
          <p:nvPr/>
        </p:nvSpPr>
        <p:spPr>
          <a:xfrm>
            <a:off x="6235950" y="1526694"/>
            <a:ext cx="556895" cy="178435"/>
          </a:xfrm>
          <a:prstGeom prst="rect">
            <a:avLst/>
          </a:prstGeom>
        </p:spPr>
        <p:txBody>
          <a:bodyPr wrap="square" lIns="0" tIns="12700" rIns="0" bIns="0" rtlCol="0" vert="horz">
            <a:spAutoFit/>
          </a:bodyPr>
          <a:lstStyle/>
          <a:p>
            <a:pPr marL="38100">
              <a:lnSpc>
                <a:spcPct val="100000"/>
              </a:lnSpc>
              <a:spcBef>
                <a:spcPts val="100"/>
              </a:spcBef>
            </a:pPr>
            <a:r>
              <a:rPr dirty="0" baseline="-13888" sz="1500">
                <a:latin typeface="Microsoft YaHei"/>
                <a:cs typeface="Microsoft YaHei"/>
              </a:rPr>
              <a:t>349</a:t>
            </a:r>
            <a:r>
              <a:rPr dirty="0" baseline="-13888" sz="1500" spc="-67">
                <a:latin typeface="Microsoft YaHei"/>
                <a:cs typeface="Microsoft YaHei"/>
              </a:rPr>
              <a:t> </a:t>
            </a:r>
            <a:r>
              <a:rPr dirty="0" sz="1000" spc="-25">
                <a:latin typeface="Microsoft YaHei"/>
                <a:cs typeface="Microsoft YaHei"/>
              </a:rPr>
              <a:t>360</a:t>
            </a:r>
            <a:endParaRPr sz="1000">
              <a:latin typeface="Microsoft YaHei"/>
              <a:cs typeface="Microsoft YaHei"/>
            </a:endParaRPr>
          </a:p>
        </p:txBody>
      </p:sp>
      <p:sp>
        <p:nvSpPr>
          <p:cNvPr id="371" name="object 371" descr=""/>
          <p:cNvSpPr txBox="1"/>
          <p:nvPr/>
        </p:nvSpPr>
        <p:spPr>
          <a:xfrm>
            <a:off x="6412738" y="1894077"/>
            <a:ext cx="919480" cy="178435"/>
          </a:xfrm>
          <a:prstGeom prst="rect">
            <a:avLst/>
          </a:prstGeom>
        </p:spPr>
        <p:txBody>
          <a:bodyPr wrap="square" lIns="0" tIns="12700" rIns="0" bIns="0" rtlCol="0" vert="horz">
            <a:spAutoFit/>
          </a:bodyPr>
          <a:lstStyle/>
          <a:p>
            <a:pPr marL="474980">
              <a:lnSpc>
                <a:spcPct val="100000"/>
              </a:lnSpc>
              <a:spcBef>
                <a:spcPts val="100"/>
              </a:spcBef>
            </a:pPr>
            <a:r>
              <a:rPr dirty="0" baseline="-33333" sz="1500" spc="-30">
                <a:latin typeface="Microsoft YaHei"/>
                <a:cs typeface="Microsoft YaHei"/>
              </a:rPr>
              <a:t>21</a:t>
            </a:r>
            <a:r>
              <a:rPr dirty="0" sz="1000" spc="-20">
                <a:latin typeface="Microsoft YaHei"/>
                <a:cs typeface="Microsoft YaHei"/>
              </a:rPr>
              <a:t>2</a:t>
            </a:r>
            <a:r>
              <a:rPr dirty="0" baseline="-33333" sz="1500" spc="-30">
                <a:latin typeface="Microsoft YaHei"/>
                <a:cs typeface="Microsoft YaHei"/>
              </a:rPr>
              <a:t>0</a:t>
            </a:r>
            <a:r>
              <a:rPr dirty="0" sz="1000" spc="-20">
                <a:latin typeface="Microsoft YaHei"/>
                <a:cs typeface="Microsoft YaHei"/>
              </a:rPr>
              <a:t>36</a:t>
            </a:r>
            <a:endParaRPr sz="1000">
              <a:latin typeface="Microsoft YaHei"/>
              <a:cs typeface="Microsoft YaHei"/>
            </a:endParaRPr>
          </a:p>
        </p:txBody>
      </p:sp>
      <p:sp>
        <p:nvSpPr>
          <p:cNvPr id="372" name="object 372" descr=""/>
          <p:cNvSpPr txBox="1"/>
          <p:nvPr/>
        </p:nvSpPr>
        <p:spPr>
          <a:xfrm>
            <a:off x="7309083" y="1553417"/>
            <a:ext cx="556895" cy="178435"/>
          </a:xfrm>
          <a:prstGeom prst="rect">
            <a:avLst/>
          </a:prstGeom>
        </p:spPr>
        <p:txBody>
          <a:bodyPr wrap="square" lIns="0" tIns="12700" rIns="0" bIns="0" rtlCol="0" vert="horz">
            <a:spAutoFit/>
          </a:bodyPr>
          <a:lstStyle/>
          <a:p>
            <a:pPr marL="38100">
              <a:lnSpc>
                <a:spcPct val="100000"/>
              </a:lnSpc>
              <a:spcBef>
                <a:spcPts val="100"/>
              </a:spcBef>
            </a:pPr>
            <a:r>
              <a:rPr dirty="0" baseline="-11111" sz="1500">
                <a:latin typeface="Microsoft YaHei"/>
                <a:cs typeface="Microsoft YaHei"/>
              </a:rPr>
              <a:t>342</a:t>
            </a:r>
            <a:r>
              <a:rPr dirty="0" baseline="-11111" sz="1500" spc="-67">
                <a:latin typeface="Microsoft YaHei"/>
                <a:cs typeface="Microsoft YaHei"/>
              </a:rPr>
              <a:t> </a:t>
            </a:r>
            <a:r>
              <a:rPr dirty="0" sz="1000" spc="-25">
                <a:latin typeface="Microsoft YaHei"/>
                <a:cs typeface="Microsoft YaHei"/>
              </a:rPr>
              <a:t>351</a:t>
            </a:r>
            <a:endParaRPr sz="1000">
              <a:latin typeface="Microsoft YaHei"/>
              <a:cs typeface="Microsoft YaHei"/>
            </a:endParaRPr>
          </a:p>
        </p:txBody>
      </p:sp>
      <p:sp>
        <p:nvSpPr>
          <p:cNvPr id="373" name="object 373" descr=""/>
          <p:cNvSpPr txBox="1"/>
          <p:nvPr/>
        </p:nvSpPr>
        <p:spPr>
          <a:xfrm>
            <a:off x="5045964" y="1393459"/>
            <a:ext cx="2921635" cy="178435"/>
          </a:xfrm>
          <a:prstGeom prst="rect">
            <a:avLst/>
          </a:prstGeom>
        </p:spPr>
        <p:txBody>
          <a:bodyPr wrap="square" lIns="0" tIns="12700" rIns="0" bIns="0" rtlCol="0" vert="horz">
            <a:spAutoFit/>
          </a:bodyPr>
          <a:lstStyle/>
          <a:p>
            <a:pPr marL="38100">
              <a:lnSpc>
                <a:spcPct val="100000"/>
              </a:lnSpc>
              <a:spcBef>
                <a:spcPts val="100"/>
              </a:spcBef>
              <a:tabLst>
                <a:tab pos="1585595" algn="l"/>
                <a:tab pos="2658745" algn="l"/>
              </a:tabLst>
            </a:pPr>
            <a:r>
              <a:rPr dirty="0" u="sng" sz="1000">
                <a:uFill>
                  <a:solidFill>
                    <a:srgbClr val="878787"/>
                  </a:solidFill>
                </a:uFill>
                <a:latin typeface="Microsoft YaHei"/>
                <a:cs typeface="Microsoft YaHei"/>
              </a:rPr>
              <a:t>	</a:t>
            </a:r>
            <a:r>
              <a:rPr dirty="0" u="sng" sz="1000" spc="-25">
                <a:uFill>
                  <a:solidFill>
                    <a:srgbClr val="878787"/>
                  </a:solidFill>
                </a:uFill>
                <a:latin typeface="Microsoft YaHei"/>
                <a:cs typeface="Microsoft YaHei"/>
              </a:rPr>
              <a:t>405</a:t>
            </a:r>
            <a:r>
              <a:rPr dirty="0" u="sng" sz="1000">
                <a:uFill>
                  <a:solidFill>
                    <a:srgbClr val="878787"/>
                  </a:solidFill>
                </a:uFill>
                <a:latin typeface="Microsoft YaHei"/>
                <a:cs typeface="Microsoft YaHei"/>
              </a:rPr>
              <a:t>	</a:t>
            </a:r>
            <a:r>
              <a:rPr dirty="0" baseline="-13888" sz="1500" spc="-37">
                <a:latin typeface="Microsoft YaHei"/>
                <a:cs typeface="Microsoft YaHei"/>
              </a:rPr>
              <a:t>395</a:t>
            </a:r>
            <a:endParaRPr baseline="-13888" sz="1500">
              <a:latin typeface="Microsoft YaHei"/>
              <a:cs typeface="Microsoft YaHei"/>
            </a:endParaRPr>
          </a:p>
        </p:txBody>
      </p:sp>
      <p:sp>
        <p:nvSpPr>
          <p:cNvPr id="374" name="object 374" descr=""/>
          <p:cNvSpPr txBox="1"/>
          <p:nvPr/>
        </p:nvSpPr>
        <p:spPr>
          <a:xfrm>
            <a:off x="4748045" y="1417892"/>
            <a:ext cx="238125" cy="1511300"/>
          </a:xfrm>
          <a:prstGeom prst="rect">
            <a:avLst/>
          </a:prstGeom>
        </p:spPr>
        <p:txBody>
          <a:bodyPr wrap="square" lIns="0" tIns="12700" rIns="0" bIns="0" rtlCol="0" vert="horz">
            <a:spAutoFit/>
          </a:bodyPr>
          <a:lstStyle/>
          <a:p>
            <a:pPr algn="r" marR="5080">
              <a:lnSpc>
                <a:spcPts val="1185"/>
              </a:lnSpc>
              <a:spcBef>
                <a:spcPts val="100"/>
              </a:spcBef>
            </a:pPr>
            <a:r>
              <a:rPr dirty="0" sz="1000" spc="-25">
                <a:latin typeface="Arial MT"/>
                <a:cs typeface="Arial MT"/>
              </a:rPr>
              <a:t>450</a:t>
            </a:r>
            <a:endParaRPr sz="1000">
              <a:latin typeface="Arial MT"/>
              <a:cs typeface="Arial MT"/>
            </a:endParaRPr>
          </a:p>
          <a:p>
            <a:pPr algn="r" marR="5080">
              <a:lnSpc>
                <a:spcPts val="1165"/>
              </a:lnSpc>
            </a:pPr>
            <a:r>
              <a:rPr dirty="0" sz="1000" spc="-25">
                <a:latin typeface="Arial MT"/>
                <a:cs typeface="Arial MT"/>
              </a:rPr>
              <a:t>400</a:t>
            </a:r>
            <a:endParaRPr sz="1000">
              <a:latin typeface="Arial MT"/>
              <a:cs typeface="Arial MT"/>
            </a:endParaRPr>
          </a:p>
          <a:p>
            <a:pPr algn="r" marR="5080">
              <a:lnSpc>
                <a:spcPts val="1165"/>
              </a:lnSpc>
            </a:pPr>
            <a:r>
              <a:rPr dirty="0" sz="1000" spc="-25">
                <a:latin typeface="Arial MT"/>
                <a:cs typeface="Arial MT"/>
              </a:rPr>
              <a:t>350</a:t>
            </a:r>
            <a:endParaRPr sz="1000">
              <a:latin typeface="Arial MT"/>
              <a:cs typeface="Arial MT"/>
            </a:endParaRPr>
          </a:p>
          <a:p>
            <a:pPr algn="r" marR="5080">
              <a:lnSpc>
                <a:spcPts val="1165"/>
              </a:lnSpc>
            </a:pPr>
            <a:r>
              <a:rPr dirty="0" sz="1000" spc="-25">
                <a:latin typeface="Arial MT"/>
                <a:cs typeface="Arial MT"/>
              </a:rPr>
              <a:t>300</a:t>
            </a:r>
            <a:endParaRPr sz="1000">
              <a:latin typeface="Arial MT"/>
              <a:cs typeface="Arial MT"/>
            </a:endParaRPr>
          </a:p>
          <a:p>
            <a:pPr algn="r" marR="5080">
              <a:lnSpc>
                <a:spcPts val="1165"/>
              </a:lnSpc>
            </a:pPr>
            <a:r>
              <a:rPr dirty="0" sz="1000" spc="-25">
                <a:latin typeface="Arial MT"/>
                <a:cs typeface="Arial MT"/>
              </a:rPr>
              <a:t>250</a:t>
            </a:r>
            <a:endParaRPr sz="1000">
              <a:latin typeface="Arial MT"/>
              <a:cs typeface="Arial MT"/>
            </a:endParaRPr>
          </a:p>
          <a:p>
            <a:pPr algn="r" marR="5080">
              <a:lnSpc>
                <a:spcPts val="1165"/>
              </a:lnSpc>
            </a:pPr>
            <a:r>
              <a:rPr dirty="0" sz="1000" spc="-25">
                <a:latin typeface="Arial MT"/>
                <a:cs typeface="Arial MT"/>
              </a:rPr>
              <a:t>200</a:t>
            </a:r>
            <a:endParaRPr sz="1000">
              <a:latin typeface="Arial MT"/>
              <a:cs typeface="Arial MT"/>
            </a:endParaRPr>
          </a:p>
          <a:p>
            <a:pPr algn="r" marR="5080">
              <a:lnSpc>
                <a:spcPts val="1165"/>
              </a:lnSpc>
            </a:pPr>
            <a:r>
              <a:rPr dirty="0" sz="1000" spc="-25">
                <a:latin typeface="Arial MT"/>
                <a:cs typeface="Arial MT"/>
              </a:rPr>
              <a:t>150</a:t>
            </a:r>
            <a:endParaRPr sz="1000">
              <a:latin typeface="Arial MT"/>
              <a:cs typeface="Arial MT"/>
            </a:endParaRPr>
          </a:p>
          <a:p>
            <a:pPr algn="r" marR="5080">
              <a:lnSpc>
                <a:spcPts val="1165"/>
              </a:lnSpc>
            </a:pPr>
            <a:r>
              <a:rPr dirty="0" sz="1000" spc="-25">
                <a:latin typeface="Arial MT"/>
                <a:cs typeface="Arial MT"/>
              </a:rPr>
              <a:t>100</a:t>
            </a:r>
            <a:endParaRPr sz="1000">
              <a:latin typeface="Arial MT"/>
              <a:cs typeface="Arial MT"/>
            </a:endParaRPr>
          </a:p>
          <a:p>
            <a:pPr algn="r" marR="5080">
              <a:lnSpc>
                <a:spcPts val="1165"/>
              </a:lnSpc>
            </a:pPr>
            <a:r>
              <a:rPr dirty="0" sz="1000" spc="-25">
                <a:latin typeface="Arial MT"/>
                <a:cs typeface="Arial MT"/>
              </a:rPr>
              <a:t>50</a:t>
            </a:r>
            <a:endParaRPr sz="1000">
              <a:latin typeface="Arial MT"/>
              <a:cs typeface="Arial MT"/>
            </a:endParaRPr>
          </a:p>
          <a:p>
            <a:pPr algn="r" marR="5080">
              <a:lnSpc>
                <a:spcPts val="1185"/>
              </a:lnSpc>
            </a:pPr>
            <a:r>
              <a:rPr dirty="0" sz="1000" spc="-50">
                <a:latin typeface="Arial MT"/>
                <a:cs typeface="Arial MT"/>
              </a:rPr>
              <a:t>0</a:t>
            </a:r>
            <a:endParaRPr sz="1000">
              <a:latin typeface="Arial MT"/>
              <a:cs typeface="Arial MT"/>
            </a:endParaRPr>
          </a:p>
        </p:txBody>
      </p:sp>
      <p:sp>
        <p:nvSpPr>
          <p:cNvPr id="375" name="object 375" descr=""/>
          <p:cNvSpPr txBox="1"/>
          <p:nvPr/>
        </p:nvSpPr>
        <p:spPr>
          <a:xfrm>
            <a:off x="6224715" y="1121816"/>
            <a:ext cx="906780" cy="208279"/>
          </a:xfrm>
          <a:prstGeom prst="rect">
            <a:avLst/>
          </a:prstGeom>
        </p:spPr>
        <p:txBody>
          <a:bodyPr wrap="square" lIns="0" tIns="12700" rIns="0" bIns="0" rtlCol="0" vert="horz">
            <a:spAutoFit/>
          </a:bodyPr>
          <a:lstStyle/>
          <a:p>
            <a:pPr marL="12700">
              <a:lnSpc>
                <a:spcPct val="100000"/>
              </a:lnSpc>
              <a:spcBef>
                <a:spcPts val="100"/>
              </a:spcBef>
            </a:pPr>
            <a:r>
              <a:rPr dirty="0" sz="1200" spc="-10" b="1">
                <a:latin typeface="Microsoft YaHei"/>
                <a:cs typeface="Microsoft YaHei"/>
              </a:rPr>
              <a:t>覆盖距离(米)</a:t>
            </a:r>
            <a:endParaRPr sz="1200">
              <a:latin typeface="Microsoft YaHei"/>
              <a:cs typeface="Microsoft YaHei"/>
            </a:endParaRPr>
          </a:p>
        </p:txBody>
      </p:sp>
      <p:sp>
        <p:nvSpPr>
          <p:cNvPr id="376" name="object 376" descr=""/>
          <p:cNvSpPr/>
          <p:nvPr/>
        </p:nvSpPr>
        <p:spPr>
          <a:xfrm>
            <a:off x="8146542" y="2281427"/>
            <a:ext cx="64769" cy="64135"/>
          </a:xfrm>
          <a:custGeom>
            <a:avLst/>
            <a:gdLst/>
            <a:ahLst/>
            <a:cxnLst/>
            <a:rect l="l" t="t" r="r" b="b"/>
            <a:pathLst>
              <a:path w="64770" h="64135">
                <a:moveTo>
                  <a:pt x="64770" y="0"/>
                </a:moveTo>
                <a:lnTo>
                  <a:pt x="0" y="0"/>
                </a:lnTo>
                <a:lnTo>
                  <a:pt x="0" y="64007"/>
                </a:lnTo>
                <a:lnTo>
                  <a:pt x="64770" y="64007"/>
                </a:lnTo>
                <a:lnTo>
                  <a:pt x="64770" y="0"/>
                </a:lnTo>
                <a:close/>
              </a:path>
            </a:pathLst>
          </a:custGeom>
          <a:solidFill>
            <a:srgbClr val="0065B0"/>
          </a:solidFill>
        </p:spPr>
        <p:txBody>
          <a:bodyPr wrap="square" lIns="0" tIns="0" rIns="0" bIns="0" rtlCol="0"/>
          <a:lstStyle/>
          <a:p/>
        </p:txBody>
      </p:sp>
      <p:sp>
        <p:nvSpPr>
          <p:cNvPr id="377" name="object 377" descr=""/>
          <p:cNvSpPr txBox="1"/>
          <p:nvPr/>
        </p:nvSpPr>
        <p:spPr>
          <a:xfrm>
            <a:off x="8224653" y="2153306"/>
            <a:ext cx="337185" cy="459105"/>
          </a:xfrm>
          <a:prstGeom prst="rect">
            <a:avLst/>
          </a:prstGeom>
        </p:spPr>
        <p:txBody>
          <a:bodyPr wrap="square" lIns="0" tIns="76835" rIns="0" bIns="0" rtlCol="0" vert="horz">
            <a:spAutoFit/>
          </a:bodyPr>
          <a:lstStyle/>
          <a:p>
            <a:pPr marL="12700">
              <a:lnSpc>
                <a:spcPct val="100000"/>
              </a:lnSpc>
              <a:spcBef>
                <a:spcPts val="605"/>
              </a:spcBef>
            </a:pPr>
            <a:r>
              <a:rPr dirty="0" sz="1000" spc="-20">
                <a:latin typeface="Arial MT"/>
                <a:cs typeface="Arial MT"/>
              </a:rPr>
              <a:t>16TR</a:t>
            </a:r>
            <a:endParaRPr sz="1000">
              <a:latin typeface="Arial MT"/>
              <a:cs typeface="Arial MT"/>
            </a:endParaRPr>
          </a:p>
          <a:p>
            <a:pPr marL="12700">
              <a:lnSpc>
                <a:spcPct val="100000"/>
              </a:lnSpc>
              <a:spcBef>
                <a:spcPts val="505"/>
              </a:spcBef>
            </a:pPr>
            <a:r>
              <a:rPr dirty="0" sz="1000" spc="-20">
                <a:latin typeface="Arial MT"/>
                <a:cs typeface="Arial MT"/>
              </a:rPr>
              <a:t>64TR</a:t>
            </a:r>
            <a:endParaRPr sz="1000">
              <a:latin typeface="Arial MT"/>
              <a:cs typeface="Arial MT"/>
            </a:endParaRPr>
          </a:p>
        </p:txBody>
      </p:sp>
      <p:sp>
        <p:nvSpPr>
          <p:cNvPr id="378" name="object 378" descr=""/>
          <p:cNvSpPr/>
          <p:nvPr/>
        </p:nvSpPr>
        <p:spPr>
          <a:xfrm>
            <a:off x="8146542" y="2497835"/>
            <a:ext cx="64769" cy="64769"/>
          </a:xfrm>
          <a:custGeom>
            <a:avLst/>
            <a:gdLst/>
            <a:ahLst/>
            <a:cxnLst/>
            <a:rect l="l" t="t" r="r" b="b"/>
            <a:pathLst>
              <a:path w="64770" h="64769">
                <a:moveTo>
                  <a:pt x="64770" y="0"/>
                </a:moveTo>
                <a:lnTo>
                  <a:pt x="0" y="0"/>
                </a:lnTo>
                <a:lnTo>
                  <a:pt x="0" y="64769"/>
                </a:lnTo>
                <a:lnTo>
                  <a:pt x="64770" y="64769"/>
                </a:lnTo>
                <a:lnTo>
                  <a:pt x="64770" y="0"/>
                </a:lnTo>
                <a:close/>
              </a:path>
            </a:pathLst>
          </a:custGeom>
          <a:solidFill>
            <a:srgbClr val="C00000"/>
          </a:solidFill>
        </p:spPr>
        <p:txBody>
          <a:bodyPr wrap="square" lIns="0" tIns="0" rIns="0" bIns="0" rtlCol="0"/>
          <a:lstStyl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0782" y="131352"/>
            <a:ext cx="6642734" cy="513080"/>
          </a:xfrm>
          <a:prstGeom prst="rect"/>
        </p:spPr>
        <p:txBody>
          <a:bodyPr wrap="square" lIns="0" tIns="12065" rIns="0" bIns="0" rtlCol="0" vert="horz">
            <a:spAutoFit/>
          </a:bodyPr>
          <a:lstStyle/>
          <a:p>
            <a:pPr marL="12700">
              <a:lnSpc>
                <a:spcPct val="100000"/>
              </a:lnSpc>
              <a:spcBef>
                <a:spcPts val="95"/>
              </a:spcBef>
            </a:pPr>
            <a:r>
              <a:rPr dirty="0" spc="-40"/>
              <a:t>中国电信</a:t>
            </a:r>
            <a:r>
              <a:rPr dirty="0" spc="-10">
                <a:latin typeface="Times New Roman"/>
                <a:cs typeface="Times New Roman"/>
              </a:rPr>
              <a:t>5G</a:t>
            </a:r>
            <a:r>
              <a:rPr dirty="0" spc="-45"/>
              <a:t>多场景灵活组网解决方案</a:t>
            </a:r>
          </a:p>
        </p:txBody>
      </p:sp>
      <p:pic>
        <p:nvPicPr>
          <p:cNvPr id="3" name="object 3"/>
          <p:cNvPicPr/>
          <p:nvPr/>
        </p:nvPicPr>
        <p:blipFill>
          <a:blip r:embed="rId2" cstate="print"/>
          <a:stretch>
            <a:fillRect/>
          </a:stretch>
        </p:blipFill>
        <p:spPr>
          <a:xfrm>
            <a:off x="5869397" y="785444"/>
            <a:ext cx="2312193" cy="1230075"/>
          </a:xfrm>
          <a:prstGeom prst="rect">
            <a:avLst/>
          </a:prstGeom>
        </p:spPr>
      </p:pic>
      <p:sp>
        <p:nvSpPr>
          <p:cNvPr id="4" name="object 4" descr=""/>
          <p:cNvSpPr txBox="1"/>
          <p:nvPr/>
        </p:nvSpPr>
        <p:spPr>
          <a:xfrm>
            <a:off x="5862692" y="836416"/>
            <a:ext cx="2284730" cy="1149985"/>
          </a:xfrm>
          <a:prstGeom prst="rect">
            <a:avLst/>
          </a:prstGeom>
        </p:spPr>
        <p:txBody>
          <a:bodyPr wrap="square" lIns="0" tIns="103505" rIns="0" bIns="0" rtlCol="0" vert="horz">
            <a:spAutoFit/>
          </a:bodyPr>
          <a:lstStyle/>
          <a:p>
            <a:pPr marL="209550">
              <a:lnSpc>
                <a:spcPct val="100000"/>
              </a:lnSpc>
              <a:spcBef>
                <a:spcPts val="815"/>
              </a:spcBef>
            </a:pPr>
            <a:r>
              <a:rPr dirty="0" sz="1300" spc="-10">
                <a:solidFill>
                  <a:srgbClr val="F9BC19"/>
                </a:solidFill>
                <a:latin typeface="Microsoft YaHei"/>
                <a:cs typeface="Microsoft YaHei"/>
              </a:rPr>
              <a:t>城区覆盖场景</a:t>
            </a:r>
            <a:endParaRPr sz="1300">
              <a:latin typeface="Microsoft YaHei"/>
              <a:cs typeface="Microsoft YaHei"/>
            </a:endParaRPr>
          </a:p>
          <a:p>
            <a:pPr marL="12700">
              <a:lnSpc>
                <a:spcPct val="100000"/>
              </a:lnSpc>
              <a:spcBef>
                <a:spcPts val="434"/>
              </a:spcBef>
            </a:pPr>
            <a:r>
              <a:rPr dirty="0" sz="800" b="1">
                <a:solidFill>
                  <a:srgbClr val="0950A0"/>
                </a:solidFill>
                <a:latin typeface="Microsoft YaHei"/>
                <a:cs typeface="Microsoft YaHei"/>
              </a:rPr>
              <a:t>-</a:t>
            </a:r>
            <a:r>
              <a:rPr dirty="0" sz="800" spc="-25" b="1">
                <a:solidFill>
                  <a:srgbClr val="0950A0"/>
                </a:solidFill>
                <a:latin typeface="Microsoft YaHei"/>
                <a:cs typeface="Microsoft YaHei"/>
              </a:rPr>
              <a:t> </a:t>
            </a:r>
            <a:r>
              <a:rPr dirty="0" sz="800" b="1">
                <a:solidFill>
                  <a:srgbClr val="0950A0"/>
                </a:solidFill>
                <a:latin typeface="Microsoft YaHei"/>
                <a:cs typeface="Microsoft YaHei"/>
              </a:rPr>
              <a:t>100M</a:t>
            </a:r>
            <a:r>
              <a:rPr dirty="0" sz="800" spc="-25" b="1">
                <a:solidFill>
                  <a:srgbClr val="0950A0"/>
                </a:solidFill>
                <a:latin typeface="Microsoft YaHei"/>
                <a:cs typeface="Microsoft YaHei"/>
              </a:rPr>
              <a:t> </a:t>
            </a:r>
            <a:r>
              <a:rPr dirty="0" sz="800" b="1">
                <a:solidFill>
                  <a:srgbClr val="0950A0"/>
                </a:solidFill>
                <a:latin typeface="Microsoft YaHei"/>
                <a:cs typeface="Microsoft YaHei"/>
              </a:rPr>
              <a:t>Hz</a:t>
            </a:r>
            <a:r>
              <a:rPr dirty="0" sz="800" spc="-5" b="1">
                <a:solidFill>
                  <a:srgbClr val="0950A0"/>
                </a:solidFill>
                <a:latin typeface="Microsoft YaHei"/>
                <a:cs typeface="Microsoft YaHei"/>
              </a:rPr>
              <a:t> </a:t>
            </a:r>
            <a:r>
              <a:rPr dirty="0" sz="800" b="1">
                <a:solidFill>
                  <a:srgbClr val="0950A0"/>
                </a:solidFill>
                <a:latin typeface="Microsoft YaHei"/>
                <a:cs typeface="Microsoft YaHei"/>
              </a:rPr>
              <a:t>64TR</a:t>
            </a:r>
            <a:r>
              <a:rPr dirty="0" sz="800" spc="-20" b="1">
                <a:solidFill>
                  <a:srgbClr val="0950A0"/>
                </a:solidFill>
                <a:latin typeface="Microsoft YaHei"/>
                <a:cs typeface="Microsoft YaHei"/>
              </a:rPr>
              <a:t> </a:t>
            </a:r>
            <a:r>
              <a:rPr dirty="0" sz="800" spc="-25" b="1">
                <a:solidFill>
                  <a:srgbClr val="0950A0"/>
                </a:solidFill>
                <a:latin typeface="Microsoft YaHei"/>
                <a:cs typeface="Microsoft YaHei"/>
              </a:rPr>
              <a:t>AAU</a:t>
            </a:r>
            <a:endParaRPr sz="800">
              <a:latin typeface="Microsoft YaHei"/>
              <a:cs typeface="Microsoft YaHei"/>
            </a:endParaRPr>
          </a:p>
          <a:p>
            <a:pPr marL="149860" marR="5080" indent="-635">
              <a:lnSpc>
                <a:spcPct val="150000"/>
              </a:lnSpc>
              <a:spcBef>
                <a:spcPts val="320"/>
              </a:spcBef>
            </a:pPr>
            <a:r>
              <a:rPr dirty="0" sz="900" b="1">
                <a:solidFill>
                  <a:srgbClr val="0950A0"/>
                </a:solidFill>
                <a:latin typeface="Microsoft YaHei"/>
                <a:cs typeface="Microsoft YaHei"/>
              </a:rPr>
              <a:t>提供良好的覆盖效果和Massive</a:t>
            </a:r>
            <a:r>
              <a:rPr dirty="0" sz="900" spc="-70" b="1">
                <a:solidFill>
                  <a:srgbClr val="0950A0"/>
                </a:solidFill>
                <a:latin typeface="Microsoft YaHei"/>
                <a:cs typeface="Microsoft YaHei"/>
              </a:rPr>
              <a:t> </a:t>
            </a:r>
            <a:r>
              <a:rPr dirty="0" sz="900" spc="-10" b="1">
                <a:solidFill>
                  <a:srgbClr val="0950A0"/>
                </a:solidFill>
                <a:latin typeface="Microsoft YaHei"/>
                <a:cs typeface="Microsoft YaHei"/>
              </a:rPr>
              <a:t>MIMO</a:t>
            </a:r>
            <a:r>
              <a:rPr dirty="0" sz="900" spc="-50" b="1">
                <a:solidFill>
                  <a:srgbClr val="0950A0"/>
                </a:solidFill>
                <a:latin typeface="Microsoft YaHei"/>
                <a:cs typeface="Microsoft YaHei"/>
              </a:rPr>
              <a:t>性</a:t>
            </a:r>
            <a:r>
              <a:rPr dirty="0" sz="900" b="1">
                <a:solidFill>
                  <a:srgbClr val="0950A0"/>
                </a:solidFill>
                <a:latin typeface="Microsoft YaHei"/>
                <a:cs typeface="Microsoft YaHei"/>
              </a:rPr>
              <a:t>能，解决持续容量需求，有效分流4G</a:t>
            </a:r>
            <a:r>
              <a:rPr dirty="0" sz="900" spc="-50" b="1">
                <a:solidFill>
                  <a:srgbClr val="0950A0"/>
                </a:solidFill>
                <a:latin typeface="Microsoft YaHei"/>
                <a:cs typeface="Microsoft YaHei"/>
              </a:rPr>
              <a:t>网</a:t>
            </a:r>
            <a:r>
              <a:rPr dirty="0" sz="900" spc="500" b="1">
                <a:solidFill>
                  <a:srgbClr val="0950A0"/>
                </a:solidFill>
                <a:latin typeface="Microsoft YaHei"/>
                <a:cs typeface="Microsoft YaHei"/>
              </a:rPr>
              <a:t> </a:t>
            </a:r>
            <a:r>
              <a:rPr dirty="0" sz="900" spc="-5" b="1">
                <a:solidFill>
                  <a:srgbClr val="0950A0"/>
                </a:solidFill>
                <a:latin typeface="Microsoft YaHei"/>
                <a:cs typeface="Microsoft YaHei"/>
              </a:rPr>
              <a:t>络压力，针对高楼场景增强覆盖</a:t>
            </a:r>
            <a:endParaRPr sz="900">
              <a:latin typeface="Microsoft YaHei"/>
              <a:cs typeface="Microsoft YaHei"/>
            </a:endParaRPr>
          </a:p>
        </p:txBody>
      </p:sp>
      <p:pic>
        <p:nvPicPr>
          <p:cNvPr id="5" name="object 5"/>
          <p:cNvPicPr/>
          <p:nvPr/>
        </p:nvPicPr>
        <p:blipFill>
          <a:blip r:embed="rId3" cstate="print"/>
          <a:stretch>
            <a:fillRect/>
          </a:stretch>
        </p:blipFill>
        <p:spPr>
          <a:xfrm>
            <a:off x="5942431" y="1392897"/>
            <a:ext cx="77152" cy="94296"/>
          </a:xfrm>
          <a:prstGeom prst="rect">
            <a:avLst/>
          </a:prstGeom>
        </p:spPr>
      </p:pic>
      <p:pic>
        <p:nvPicPr>
          <p:cNvPr id="6" name="object 6"/>
          <p:cNvPicPr/>
          <p:nvPr/>
        </p:nvPicPr>
        <p:blipFill>
          <a:blip r:embed="rId4" cstate="print"/>
          <a:stretch>
            <a:fillRect/>
          </a:stretch>
        </p:blipFill>
        <p:spPr>
          <a:xfrm>
            <a:off x="5854039" y="2103348"/>
            <a:ext cx="2312187" cy="1066021"/>
          </a:xfrm>
          <a:prstGeom prst="rect">
            <a:avLst/>
          </a:prstGeom>
        </p:spPr>
      </p:pic>
      <p:sp>
        <p:nvSpPr>
          <p:cNvPr id="7" name="object 7" descr=""/>
          <p:cNvSpPr txBox="1"/>
          <p:nvPr/>
        </p:nvSpPr>
        <p:spPr>
          <a:xfrm>
            <a:off x="5814706" y="2270068"/>
            <a:ext cx="2130425" cy="875030"/>
          </a:xfrm>
          <a:prstGeom prst="rect">
            <a:avLst/>
          </a:prstGeom>
        </p:spPr>
        <p:txBody>
          <a:bodyPr wrap="square" lIns="0" tIns="12700" rIns="0" bIns="0" rtlCol="0" vert="horz">
            <a:spAutoFit/>
          </a:bodyPr>
          <a:lstStyle/>
          <a:p>
            <a:pPr marL="271780">
              <a:lnSpc>
                <a:spcPct val="100000"/>
              </a:lnSpc>
              <a:spcBef>
                <a:spcPts val="100"/>
              </a:spcBef>
            </a:pPr>
            <a:r>
              <a:rPr dirty="0" sz="1300" spc="-10">
                <a:solidFill>
                  <a:srgbClr val="F9BC19"/>
                </a:solidFill>
                <a:latin typeface="Microsoft YaHei"/>
                <a:cs typeface="Microsoft YaHei"/>
              </a:rPr>
              <a:t>郊区、农村覆盖场景</a:t>
            </a:r>
            <a:endParaRPr sz="1300">
              <a:latin typeface="Microsoft YaHei"/>
              <a:cs typeface="Microsoft YaHei"/>
            </a:endParaRPr>
          </a:p>
          <a:p>
            <a:pPr marL="12700">
              <a:lnSpc>
                <a:spcPct val="100000"/>
              </a:lnSpc>
              <a:spcBef>
                <a:spcPts val="930"/>
              </a:spcBef>
            </a:pPr>
            <a:r>
              <a:rPr dirty="0" sz="800" b="1">
                <a:solidFill>
                  <a:srgbClr val="FFFFFF"/>
                </a:solidFill>
                <a:latin typeface="Microsoft YaHei"/>
                <a:cs typeface="Microsoft YaHei"/>
              </a:rPr>
              <a:t>-</a:t>
            </a:r>
            <a:r>
              <a:rPr dirty="0" sz="800" spc="-30" b="1">
                <a:solidFill>
                  <a:srgbClr val="FFFFFF"/>
                </a:solidFill>
                <a:latin typeface="Microsoft YaHei"/>
                <a:cs typeface="Microsoft YaHei"/>
              </a:rPr>
              <a:t> </a:t>
            </a:r>
            <a:r>
              <a:rPr dirty="0" sz="800" b="1">
                <a:solidFill>
                  <a:srgbClr val="0950A0"/>
                </a:solidFill>
                <a:latin typeface="Microsoft YaHei"/>
                <a:cs typeface="Microsoft YaHei"/>
              </a:rPr>
              <a:t>100M</a:t>
            </a:r>
            <a:r>
              <a:rPr dirty="0" sz="800" spc="-30" b="1">
                <a:solidFill>
                  <a:srgbClr val="0950A0"/>
                </a:solidFill>
                <a:latin typeface="Microsoft YaHei"/>
                <a:cs typeface="Microsoft YaHei"/>
              </a:rPr>
              <a:t> </a:t>
            </a:r>
            <a:r>
              <a:rPr dirty="0" sz="800" b="1">
                <a:solidFill>
                  <a:srgbClr val="0950A0"/>
                </a:solidFill>
                <a:latin typeface="Microsoft YaHei"/>
                <a:cs typeface="Microsoft YaHei"/>
              </a:rPr>
              <a:t>Hz</a:t>
            </a:r>
            <a:r>
              <a:rPr dirty="0" sz="800" spc="-10" b="1">
                <a:solidFill>
                  <a:srgbClr val="0950A0"/>
                </a:solidFill>
                <a:latin typeface="Microsoft YaHei"/>
                <a:cs typeface="Microsoft YaHei"/>
              </a:rPr>
              <a:t> </a:t>
            </a:r>
            <a:r>
              <a:rPr dirty="0" sz="800" b="1">
                <a:solidFill>
                  <a:srgbClr val="0950A0"/>
                </a:solidFill>
                <a:latin typeface="Microsoft YaHei"/>
                <a:cs typeface="Microsoft YaHei"/>
              </a:rPr>
              <a:t>64TR/16TR</a:t>
            </a:r>
            <a:r>
              <a:rPr dirty="0" sz="800" spc="-35" b="1">
                <a:solidFill>
                  <a:srgbClr val="0950A0"/>
                </a:solidFill>
                <a:latin typeface="Microsoft YaHei"/>
                <a:cs typeface="Microsoft YaHei"/>
              </a:rPr>
              <a:t> </a:t>
            </a:r>
            <a:r>
              <a:rPr dirty="0" sz="800" spc="-25" b="1">
                <a:solidFill>
                  <a:srgbClr val="0950A0"/>
                </a:solidFill>
                <a:latin typeface="Microsoft YaHei"/>
                <a:cs typeface="Microsoft YaHei"/>
              </a:rPr>
              <a:t>AAU</a:t>
            </a:r>
            <a:endParaRPr sz="800">
              <a:latin typeface="Microsoft YaHei"/>
              <a:cs typeface="Microsoft YaHei"/>
            </a:endParaRPr>
          </a:p>
          <a:p>
            <a:pPr marL="288290" marR="5080">
              <a:lnSpc>
                <a:spcPts val="1620"/>
              </a:lnSpc>
              <a:spcBef>
                <a:spcPts val="95"/>
              </a:spcBef>
            </a:pPr>
            <a:r>
              <a:rPr dirty="0" sz="900" spc="-5" b="1">
                <a:solidFill>
                  <a:srgbClr val="0950A0"/>
                </a:solidFill>
                <a:latin typeface="Microsoft YaHei"/>
                <a:cs typeface="Microsoft YaHei"/>
              </a:rPr>
              <a:t>兼顾网络性能和建网成本，解决低成</a:t>
            </a:r>
            <a:r>
              <a:rPr dirty="0" sz="900" spc="-10" b="1">
                <a:solidFill>
                  <a:srgbClr val="0950A0"/>
                </a:solidFill>
                <a:latin typeface="Microsoft YaHei"/>
                <a:cs typeface="Microsoft YaHei"/>
              </a:rPr>
              <a:t>本广覆盖建网需求</a:t>
            </a:r>
            <a:endParaRPr sz="900">
              <a:latin typeface="Microsoft YaHei"/>
              <a:cs typeface="Microsoft YaHei"/>
            </a:endParaRPr>
          </a:p>
        </p:txBody>
      </p:sp>
      <p:pic>
        <p:nvPicPr>
          <p:cNvPr id="8" name="object 8"/>
          <p:cNvPicPr/>
          <p:nvPr/>
        </p:nvPicPr>
        <p:blipFill>
          <a:blip r:embed="rId3" cstate="print"/>
          <a:stretch>
            <a:fillRect/>
          </a:stretch>
        </p:blipFill>
        <p:spPr>
          <a:xfrm>
            <a:off x="5941190" y="2545388"/>
            <a:ext cx="77149" cy="70679"/>
          </a:xfrm>
          <a:prstGeom prst="rect">
            <a:avLst/>
          </a:prstGeom>
        </p:spPr>
      </p:pic>
      <p:pic>
        <p:nvPicPr>
          <p:cNvPr id="9" name="object 9"/>
          <p:cNvPicPr/>
          <p:nvPr/>
        </p:nvPicPr>
        <p:blipFill>
          <a:blip r:embed="rId5" cstate="print"/>
          <a:stretch>
            <a:fillRect/>
          </a:stretch>
        </p:blipFill>
        <p:spPr>
          <a:xfrm>
            <a:off x="5860529" y="3257196"/>
            <a:ext cx="2312187" cy="1103755"/>
          </a:xfrm>
          <a:prstGeom prst="rect">
            <a:avLst/>
          </a:prstGeom>
        </p:spPr>
      </p:pic>
      <p:sp>
        <p:nvSpPr>
          <p:cNvPr id="10" name="object 10" descr=""/>
          <p:cNvSpPr txBox="1"/>
          <p:nvPr/>
        </p:nvSpPr>
        <p:spPr>
          <a:xfrm>
            <a:off x="5969001" y="3349099"/>
            <a:ext cx="2152015" cy="946150"/>
          </a:xfrm>
          <a:prstGeom prst="rect">
            <a:avLst/>
          </a:prstGeom>
        </p:spPr>
        <p:txBody>
          <a:bodyPr wrap="square" lIns="0" tIns="125730" rIns="0" bIns="0" rtlCol="0" vert="horz">
            <a:spAutoFit/>
          </a:bodyPr>
          <a:lstStyle/>
          <a:p>
            <a:pPr marL="132715">
              <a:lnSpc>
                <a:spcPct val="100000"/>
              </a:lnSpc>
              <a:spcBef>
                <a:spcPts val="990"/>
              </a:spcBef>
            </a:pPr>
            <a:r>
              <a:rPr dirty="0" sz="1300" spc="-10">
                <a:solidFill>
                  <a:srgbClr val="F9BC19"/>
                </a:solidFill>
                <a:latin typeface="Microsoft YaHei"/>
                <a:cs typeface="Microsoft YaHei"/>
              </a:rPr>
              <a:t>室内覆盖场景</a:t>
            </a:r>
            <a:endParaRPr sz="1300">
              <a:latin typeface="Microsoft YaHei"/>
              <a:cs typeface="Microsoft YaHei"/>
            </a:endParaRPr>
          </a:p>
          <a:p>
            <a:pPr marL="12700">
              <a:lnSpc>
                <a:spcPct val="100000"/>
              </a:lnSpc>
              <a:spcBef>
                <a:spcPts val="540"/>
              </a:spcBef>
            </a:pPr>
            <a:r>
              <a:rPr dirty="0" sz="800" b="1">
                <a:solidFill>
                  <a:srgbClr val="0950A0"/>
                </a:solidFill>
                <a:latin typeface="Microsoft YaHei"/>
                <a:cs typeface="Microsoft YaHei"/>
              </a:rPr>
              <a:t>-</a:t>
            </a:r>
            <a:r>
              <a:rPr dirty="0" sz="800" spc="-20" b="1">
                <a:solidFill>
                  <a:srgbClr val="0950A0"/>
                </a:solidFill>
                <a:latin typeface="Microsoft YaHei"/>
                <a:cs typeface="Microsoft YaHei"/>
              </a:rPr>
              <a:t> </a:t>
            </a:r>
            <a:r>
              <a:rPr dirty="0" sz="800" b="1">
                <a:solidFill>
                  <a:srgbClr val="0950A0"/>
                </a:solidFill>
                <a:latin typeface="Microsoft YaHei"/>
                <a:cs typeface="Microsoft YaHei"/>
              </a:rPr>
              <a:t>4TR</a:t>
            </a:r>
            <a:r>
              <a:rPr dirty="0" sz="800" spc="-10" b="1">
                <a:solidFill>
                  <a:srgbClr val="0950A0"/>
                </a:solidFill>
                <a:latin typeface="Microsoft YaHei"/>
                <a:cs typeface="Microsoft YaHei"/>
              </a:rPr>
              <a:t> </a:t>
            </a:r>
            <a:r>
              <a:rPr dirty="0" sz="800" spc="-20" b="1">
                <a:solidFill>
                  <a:srgbClr val="0950A0"/>
                </a:solidFill>
                <a:latin typeface="Microsoft YaHei"/>
                <a:cs typeface="Microsoft YaHei"/>
              </a:rPr>
              <a:t>Pico</a:t>
            </a:r>
            <a:endParaRPr sz="800">
              <a:latin typeface="Microsoft YaHei"/>
              <a:cs typeface="Microsoft YaHei"/>
            </a:endParaRPr>
          </a:p>
          <a:p>
            <a:pPr marL="42545" marR="5080" indent="-635">
              <a:lnSpc>
                <a:spcPct val="150000"/>
              </a:lnSpc>
              <a:spcBef>
                <a:spcPts val="55"/>
              </a:spcBef>
            </a:pPr>
            <a:r>
              <a:rPr dirty="0" sz="900" b="1">
                <a:solidFill>
                  <a:srgbClr val="0950A0"/>
                </a:solidFill>
                <a:latin typeface="Microsoft YaHei"/>
                <a:cs typeface="Microsoft YaHei"/>
              </a:rPr>
              <a:t>4TR</a:t>
            </a:r>
            <a:r>
              <a:rPr dirty="0" sz="900" spc="-70" b="1">
                <a:solidFill>
                  <a:srgbClr val="0950A0"/>
                </a:solidFill>
                <a:latin typeface="Microsoft YaHei"/>
                <a:cs typeface="Microsoft YaHei"/>
              </a:rPr>
              <a:t> </a:t>
            </a:r>
            <a:r>
              <a:rPr dirty="0" sz="900" spc="-10" b="1">
                <a:solidFill>
                  <a:srgbClr val="0950A0"/>
                </a:solidFill>
                <a:latin typeface="Microsoft YaHei"/>
                <a:cs typeface="Microsoft YaHei"/>
              </a:rPr>
              <a:t>Pico，新型有源室分，确保高容量、</a:t>
            </a:r>
            <a:r>
              <a:rPr dirty="0" sz="900" spc="-5" b="1">
                <a:solidFill>
                  <a:srgbClr val="0950A0"/>
                </a:solidFill>
                <a:latin typeface="Microsoft YaHei"/>
                <a:cs typeface="Microsoft YaHei"/>
              </a:rPr>
              <a:t>高价值区域良好的用户体验</a:t>
            </a:r>
            <a:endParaRPr sz="900">
              <a:latin typeface="Microsoft YaHei"/>
              <a:cs typeface="Microsoft YaHei"/>
            </a:endParaRPr>
          </a:p>
        </p:txBody>
      </p:sp>
      <p:pic>
        <p:nvPicPr>
          <p:cNvPr id="11" name="object 11"/>
          <p:cNvPicPr/>
          <p:nvPr/>
        </p:nvPicPr>
        <p:blipFill>
          <a:blip r:embed="rId3" cstate="print"/>
          <a:stretch>
            <a:fillRect/>
          </a:stretch>
        </p:blipFill>
        <p:spPr>
          <a:xfrm>
            <a:off x="5964161" y="3847985"/>
            <a:ext cx="77150" cy="67575"/>
          </a:xfrm>
          <a:prstGeom prst="rect">
            <a:avLst/>
          </a:prstGeom>
        </p:spPr>
      </p:pic>
      <p:grpSp>
        <p:nvGrpSpPr>
          <p:cNvPr id="12" name="object 12" descr=""/>
          <p:cNvGrpSpPr/>
          <p:nvPr/>
        </p:nvGrpSpPr>
        <p:grpSpPr>
          <a:xfrm>
            <a:off x="788352" y="2268562"/>
            <a:ext cx="3990340" cy="784225"/>
            <a:chOff x="788352" y="2268562"/>
            <a:chExt cx="3990340" cy="784225"/>
          </a:xfrm>
        </p:grpSpPr>
        <p:pic>
          <p:nvPicPr>
            <p:cNvPr id="13" name="object 13"/>
            <p:cNvPicPr/>
            <p:nvPr/>
          </p:nvPicPr>
          <p:blipFill>
            <a:blip r:embed="rId6" cstate="print"/>
            <a:stretch>
              <a:fillRect/>
            </a:stretch>
          </p:blipFill>
          <p:spPr>
            <a:xfrm>
              <a:off x="788352" y="2268562"/>
              <a:ext cx="3989850" cy="784009"/>
            </a:xfrm>
            <a:prstGeom prst="rect">
              <a:avLst/>
            </a:prstGeom>
          </p:spPr>
        </p:pic>
        <p:pic>
          <p:nvPicPr>
            <p:cNvPr id="14" name="object 14"/>
            <p:cNvPicPr/>
            <p:nvPr/>
          </p:nvPicPr>
          <p:blipFill>
            <a:blip r:embed="rId7" cstate="print"/>
            <a:stretch>
              <a:fillRect/>
            </a:stretch>
          </p:blipFill>
          <p:spPr>
            <a:xfrm>
              <a:off x="1254201" y="2303525"/>
              <a:ext cx="2856595" cy="596750"/>
            </a:xfrm>
            <a:prstGeom prst="rect">
              <a:avLst/>
            </a:prstGeom>
          </p:spPr>
        </p:pic>
      </p:grpSp>
      <p:grpSp>
        <p:nvGrpSpPr>
          <p:cNvPr id="15" name="object 15" descr=""/>
          <p:cNvGrpSpPr/>
          <p:nvPr/>
        </p:nvGrpSpPr>
        <p:grpSpPr>
          <a:xfrm>
            <a:off x="591235" y="3303727"/>
            <a:ext cx="4417695" cy="909319"/>
            <a:chOff x="591235" y="3303727"/>
            <a:chExt cx="4417695" cy="909319"/>
          </a:xfrm>
        </p:grpSpPr>
        <p:pic>
          <p:nvPicPr>
            <p:cNvPr id="16" name="object 16"/>
            <p:cNvPicPr/>
            <p:nvPr/>
          </p:nvPicPr>
          <p:blipFill>
            <a:blip r:embed="rId8" cstate="print"/>
            <a:stretch>
              <a:fillRect/>
            </a:stretch>
          </p:blipFill>
          <p:spPr>
            <a:xfrm>
              <a:off x="591235" y="3303727"/>
              <a:ext cx="4417674" cy="909013"/>
            </a:xfrm>
            <a:prstGeom prst="rect">
              <a:avLst/>
            </a:prstGeom>
          </p:spPr>
        </p:pic>
        <p:pic>
          <p:nvPicPr>
            <p:cNvPr id="17" name="object 17"/>
            <p:cNvPicPr/>
            <p:nvPr/>
          </p:nvPicPr>
          <p:blipFill>
            <a:blip r:embed="rId9" cstate="print"/>
            <a:stretch>
              <a:fillRect/>
            </a:stretch>
          </p:blipFill>
          <p:spPr>
            <a:xfrm>
              <a:off x="1965972" y="3385620"/>
              <a:ext cx="2134044" cy="690139"/>
            </a:xfrm>
            <a:prstGeom prst="rect">
              <a:avLst/>
            </a:prstGeom>
          </p:spPr>
        </p:pic>
      </p:grpSp>
      <p:grpSp>
        <p:nvGrpSpPr>
          <p:cNvPr id="18" name="object 18" descr=""/>
          <p:cNvGrpSpPr/>
          <p:nvPr/>
        </p:nvGrpSpPr>
        <p:grpSpPr>
          <a:xfrm>
            <a:off x="1072299" y="1047750"/>
            <a:ext cx="3481070" cy="962660"/>
            <a:chOff x="1072299" y="1047750"/>
            <a:chExt cx="3481070" cy="962660"/>
          </a:xfrm>
        </p:grpSpPr>
        <p:pic>
          <p:nvPicPr>
            <p:cNvPr id="19" name="object 19"/>
            <p:cNvPicPr/>
            <p:nvPr/>
          </p:nvPicPr>
          <p:blipFill>
            <a:blip r:embed="rId10" cstate="print"/>
            <a:stretch>
              <a:fillRect/>
            </a:stretch>
          </p:blipFill>
          <p:spPr>
            <a:xfrm>
              <a:off x="1072299" y="1286738"/>
              <a:ext cx="3480899" cy="694931"/>
            </a:xfrm>
            <a:prstGeom prst="rect">
              <a:avLst/>
            </a:prstGeom>
          </p:spPr>
        </p:pic>
        <p:pic>
          <p:nvPicPr>
            <p:cNvPr id="20" name="object 20"/>
            <p:cNvPicPr/>
            <p:nvPr/>
          </p:nvPicPr>
          <p:blipFill>
            <a:blip r:embed="rId11" cstate="print"/>
            <a:stretch>
              <a:fillRect/>
            </a:stretch>
          </p:blipFill>
          <p:spPr>
            <a:xfrm>
              <a:off x="1295400" y="1047750"/>
              <a:ext cx="2874340" cy="962177"/>
            </a:xfrm>
            <a:prstGeom prst="rect">
              <a:avLst/>
            </a:prstGeom>
          </p:spPr>
        </p:pic>
      </p:grpSp>
      <p:sp>
        <p:nvSpPr>
          <p:cNvPr id="21" name="object 21" descr=""/>
          <p:cNvSpPr txBox="1"/>
          <p:nvPr/>
        </p:nvSpPr>
        <p:spPr>
          <a:xfrm>
            <a:off x="3920124" y="911421"/>
            <a:ext cx="356235" cy="224154"/>
          </a:xfrm>
          <a:prstGeom prst="rect">
            <a:avLst/>
          </a:prstGeom>
        </p:spPr>
        <p:txBody>
          <a:bodyPr wrap="square" lIns="0" tIns="12700" rIns="0" bIns="0" rtlCol="0" vert="horz">
            <a:spAutoFit/>
          </a:bodyPr>
          <a:lstStyle/>
          <a:p>
            <a:pPr marL="12700">
              <a:lnSpc>
                <a:spcPct val="100000"/>
              </a:lnSpc>
              <a:spcBef>
                <a:spcPts val="100"/>
              </a:spcBef>
            </a:pPr>
            <a:r>
              <a:rPr dirty="0" sz="1300" spc="-25">
                <a:solidFill>
                  <a:srgbClr val="F9BC19"/>
                </a:solidFill>
                <a:latin typeface="Microsoft YaHei"/>
                <a:cs typeface="Microsoft YaHei"/>
              </a:rPr>
              <a:t>市内</a:t>
            </a:r>
            <a:endParaRPr sz="1300">
              <a:latin typeface="Microsoft YaHei"/>
              <a:cs typeface="Microsoft YaHei"/>
            </a:endParaRPr>
          </a:p>
        </p:txBody>
      </p:sp>
      <p:sp>
        <p:nvSpPr>
          <p:cNvPr id="22" name="object 22" descr=""/>
          <p:cNvSpPr txBox="1"/>
          <p:nvPr/>
        </p:nvSpPr>
        <p:spPr>
          <a:xfrm>
            <a:off x="3913179" y="3157259"/>
            <a:ext cx="356235" cy="224154"/>
          </a:xfrm>
          <a:prstGeom prst="rect">
            <a:avLst/>
          </a:prstGeom>
        </p:spPr>
        <p:txBody>
          <a:bodyPr wrap="square" lIns="0" tIns="12700" rIns="0" bIns="0" rtlCol="0" vert="horz">
            <a:spAutoFit/>
          </a:bodyPr>
          <a:lstStyle/>
          <a:p>
            <a:pPr marL="12700">
              <a:lnSpc>
                <a:spcPct val="100000"/>
              </a:lnSpc>
              <a:spcBef>
                <a:spcPts val="100"/>
              </a:spcBef>
            </a:pPr>
            <a:r>
              <a:rPr dirty="0" sz="1300" spc="-25">
                <a:solidFill>
                  <a:srgbClr val="F9BC19"/>
                </a:solidFill>
                <a:latin typeface="Microsoft YaHei"/>
                <a:cs typeface="Microsoft YaHei"/>
              </a:rPr>
              <a:t>农村</a:t>
            </a:r>
            <a:endParaRPr sz="1300">
              <a:latin typeface="Microsoft YaHei"/>
              <a:cs typeface="Microsoft YaHei"/>
            </a:endParaRPr>
          </a:p>
        </p:txBody>
      </p:sp>
      <p:sp>
        <p:nvSpPr>
          <p:cNvPr id="23" name="object 23" descr=""/>
          <p:cNvSpPr txBox="1"/>
          <p:nvPr/>
        </p:nvSpPr>
        <p:spPr>
          <a:xfrm>
            <a:off x="1005699" y="1290151"/>
            <a:ext cx="1002030" cy="147320"/>
          </a:xfrm>
          <a:prstGeom prst="rect">
            <a:avLst/>
          </a:prstGeom>
        </p:spPr>
        <p:txBody>
          <a:bodyPr wrap="square" lIns="0" tIns="12065" rIns="0" bIns="0" rtlCol="0" vert="horz">
            <a:spAutoFit/>
          </a:bodyPr>
          <a:lstStyle/>
          <a:p>
            <a:pPr marL="12700">
              <a:lnSpc>
                <a:spcPct val="100000"/>
              </a:lnSpc>
              <a:spcBef>
                <a:spcPts val="95"/>
              </a:spcBef>
            </a:pPr>
            <a:r>
              <a:rPr dirty="0" sz="800" b="1">
                <a:solidFill>
                  <a:srgbClr val="0950A0"/>
                </a:solidFill>
                <a:latin typeface="Microsoft YaHei"/>
                <a:cs typeface="Microsoft YaHei"/>
              </a:rPr>
              <a:t>64TR</a:t>
            </a:r>
            <a:r>
              <a:rPr dirty="0" sz="800" spc="-40" b="1">
                <a:solidFill>
                  <a:srgbClr val="0950A0"/>
                </a:solidFill>
                <a:latin typeface="Microsoft YaHei"/>
                <a:cs typeface="Microsoft YaHei"/>
              </a:rPr>
              <a:t> </a:t>
            </a:r>
            <a:r>
              <a:rPr dirty="0" sz="800" b="1">
                <a:solidFill>
                  <a:srgbClr val="0950A0"/>
                </a:solidFill>
                <a:latin typeface="Microsoft YaHei"/>
                <a:cs typeface="Microsoft YaHei"/>
              </a:rPr>
              <a:t>100MHz</a:t>
            </a:r>
            <a:r>
              <a:rPr dirty="0" sz="800" spc="-35" b="1">
                <a:solidFill>
                  <a:srgbClr val="0950A0"/>
                </a:solidFill>
                <a:latin typeface="Microsoft YaHei"/>
                <a:cs typeface="Microsoft YaHei"/>
              </a:rPr>
              <a:t> </a:t>
            </a:r>
            <a:r>
              <a:rPr dirty="0" sz="800" spc="-25" b="1">
                <a:solidFill>
                  <a:srgbClr val="0950A0"/>
                </a:solidFill>
                <a:latin typeface="Microsoft YaHei"/>
                <a:cs typeface="Microsoft YaHei"/>
              </a:rPr>
              <a:t>AAU</a:t>
            </a:r>
            <a:endParaRPr sz="800">
              <a:latin typeface="Microsoft YaHei"/>
              <a:cs typeface="Microsoft YaHei"/>
            </a:endParaRPr>
          </a:p>
        </p:txBody>
      </p:sp>
      <p:sp>
        <p:nvSpPr>
          <p:cNvPr id="24" name="object 24" descr=""/>
          <p:cNvSpPr txBox="1"/>
          <p:nvPr/>
        </p:nvSpPr>
        <p:spPr>
          <a:xfrm>
            <a:off x="3736163" y="1587853"/>
            <a:ext cx="493395" cy="116839"/>
          </a:xfrm>
          <a:prstGeom prst="rect">
            <a:avLst/>
          </a:prstGeom>
        </p:spPr>
        <p:txBody>
          <a:bodyPr wrap="square" lIns="0" tIns="12700" rIns="0" bIns="0" rtlCol="0" vert="horz">
            <a:spAutoFit/>
          </a:bodyPr>
          <a:lstStyle/>
          <a:p>
            <a:pPr marL="12700">
              <a:lnSpc>
                <a:spcPct val="100000"/>
              </a:lnSpc>
              <a:spcBef>
                <a:spcPts val="100"/>
              </a:spcBef>
            </a:pPr>
            <a:r>
              <a:rPr dirty="0" sz="600" spc="-10" b="1">
                <a:solidFill>
                  <a:srgbClr val="0950A0"/>
                </a:solidFill>
                <a:latin typeface="Microsoft YaHei"/>
                <a:cs typeface="Microsoft YaHei"/>
              </a:rPr>
              <a:t>Pico</a:t>
            </a:r>
            <a:r>
              <a:rPr dirty="0" sz="600" spc="-15" b="1">
                <a:solidFill>
                  <a:srgbClr val="0950A0"/>
                </a:solidFill>
                <a:latin typeface="Microsoft YaHei"/>
                <a:cs typeface="Microsoft YaHei"/>
              </a:rPr>
              <a:t>覆盖室内</a:t>
            </a:r>
            <a:endParaRPr sz="600">
              <a:latin typeface="Microsoft YaHei"/>
              <a:cs typeface="Microsoft YaHei"/>
            </a:endParaRPr>
          </a:p>
        </p:txBody>
      </p:sp>
      <p:sp>
        <p:nvSpPr>
          <p:cNvPr id="25" name="object 25" descr=""/>
          <p:cNvSpPr txBox="1"/>
          <p:nvPr/>
        </p:nvSpPr>
        <p:spPr>
          <a:xfrm>
            <a:off x="3100213" y="1844757"/>
            <a:ext cx="645795" cy="147320"/>
          </a:xfrm>
          <a:prstGeom prst="rect">
            <a:avLst/>
          </a:prstGeom>
        </p:spPr>
        <p:txBody>
          <a:bodyPr wrap="square" lIns="0" tIns="12065" rIns="0" bIns="0" rtlCol="0" vert="horz">
            <a:spAutoFit/>
          </a:bodyPr>
          <a:lstStyle/>
          <a:p>
            <a:pPr marL="12700">
              <a:lnSpc>
                <a:spcPct val="100000"/>
              </a:lnSpc>
              <a:spcBef>
                <a:spcPts val="95"/>
              </a:spcBef>
            </a:pPr>
            <a:r>
              <a:rPr dirty="0" sz="800" spc="-10" b="1">
                <a:solidFill>
                  <a:srgbClr val="0950A0"/>
                </a:solidFill>
                <a:latin typeface="Microsoft YaHei"/>
                <a:cs typeface="Microsoft YaHei"/>
              </a:rPr>
              <a:t>Pico</a:t>
            </a:r>
            <a:r>
              <a:rPr dirty="0" sz="800" spc="-20" b="1">
                <a:solidFill>
                  <a:srgbClr val="0950A0"/>
                </a:solidFill>
                <a:latin typeface="Microsoft YaHei"/>
                <a:cs typeface="Microsoft YaHei"/>
              </a:rPr>
              <a:t>覆盖室内</a:t>
            </a:r>
            <a:endParaRPr sz="800">
              <a:latin typeface="Microsoft YaHei"/>
              <a:cs typeface="Microsoft YaHei"/>
            </a:endParaRPr>
          </a:p>
        </p:txBody>
      </p:sp>
      <p:sp>
        <p:nvSpPr>
          <p:cNvPr id="26" name="object 26" descr=""/>
          <p:cNvSpPr txBox="1"/>
          <p:nvPr/>
        </p:nvSpPr>
        <p:spPr>
          <a:xfrm>
            <a:off x="682503" y="2568874"/>
            <a:ext cx="1002030" cy="147320"/>
          </a:xfrm>
          <a:prstGeom prst="rect">
            <a:avLst/>
          </a:prstGeom>
        </p:spPr>
        <p:txBody>
          <a:bodyPr wrap="square" lIns="0" tIns="12065" rIns="0" bIns="0" rtlCol="0" vert="horz">
            <a:spAutoFit/>
          </a:bodyPr>
          <a:lstStyle/>
          <a:p>
            <a:pPr marL="12700">
              <a:lnSpc>
                <a:spcPct val="100000"/>
              </a:lnSpc>
              <a:spcBef>
                <a:spcPts val="95"/>
              </a:spcBef>
            </a:pPr>
            <a:r>
              <a:rPr dirty="0" sz="800" b="1">
                <a:solidFill>
                  <a:srgbClr val="0950A0"/>
                </a:solidFill>
                <a:latin typeface="Microsoft YaHei"/>
                <a:cs typeface="Microsoft YaHei"/>
              </a:rPr>
              <a:t>64TR</a:t>
            </a:r>
            <a:r>
              <a:rPr dirty="0" sz="800" spc="-40" b="1">
                <a:solidFill>
                  <a:srgbClr val="0950A0"/>
                </a:solidFill>
                <a:latin typeface="Microsoft YaHei"/>
                <a:cs typeface="Microsoft YaHei"/>
              </a:rPr>
              <a:t> </a:t>
            </a:r>
            <a:r>
              <a:rPr dirty="0" sz="800" b="1">
                <a:solidFill>
                  <a:srgbClr val="0950A0"/>
                </a:solidFill>
                <a:latin typeface="Microsoft YaHei"/>
                <a:cs typeface="Microsoft YaHei"/>
              </a:rPr>
              <a:t>100MHz</a:t>
            </a:r>
            <a:r>
              <a:rPr dirty="0" sz="800" spc="-35" b="1">
                <a:solidFill>
                  <a:srgbClr val="0950A0"/>
                </a:solidFill>
                <a:latin typeface="Microsoft YaHei"/>
                <a:cs typeface="Microsoft YaHei"/>
              </a:rPr>
              <a:t> </a:t>
            </a:r>
            <a:r>
              <a:rPr dirty="0" sz="800" spc="-25" b="1">
                <a:solidFill>
                  <a:srgbClr val="0950A0"/>
                </a:solidFill>
                <a:latin typeface="Microsoft YaHei"/>
                <a:cs typeface="Microsoft YaHei"/>
              </a:rPr>
              <a:t>AAU</a:t>
            </a:r>
            <a:endParaRPr sz="800">
              <a:latin typeface="Microsoft YaHei"/>
              <a:cs typeface="Microsoft YaHei"/>
            </a:endParaRPr>
          </a:p>
        </p:txBody>
      </p:sp>
      <p:sp>
        <p:nvSpPr>
          <p:cNvPr id="27" name="object 27" descr=""/>
          <p:cNvSpPr txBox="1"/>
          <p:nvPr/>
        </p:nvSpPr>
        <p:spPr>
          <a:xfrm>
            <a:off x="3376888" y="2093372"/>
            <a:ext cx="1002030" cy="429895"/>
          </a:xfrm>
          <a:prstGeom prst="rect">
            <a:avLst/>
          </a:prstGeom>
        </p:spPr>
        <p:txBody>
          <a:bodyPr wrap="square" lIns="0" tIns="12700" rIns="0" bIns="0" rtlCol="0" vert="horz">
            <a:spAutoFit/>
          </a:bodyPr>
          <a:lstStyle/>
          <a:p>
            <a:pPr marL="538480">
              <a:lnSpc>
                <a:spcPct val="100000"/>
              </a:lnSpc>
              <a:spcBef>
                <a:spcPts val="100"/>
              </a:spcBef>
            </a:pPr>
            <a:r>
              <a:rPr dirty="0" sz="1300" spc="-25">
                <a:solidFill>
                  <a:srgbClr val="F9BC19"/>
                </a:solidFill>
                <a:latin typeface="Microsoft YaHei"/>
                <a:cs typeface="Microsoft YaHei"/>
              </a:rPr>
              <a:t>郊区</a:t>
            </a:r>
            <a:endParaRPr sz="1300">
              <a:latin typeface="Microsoft YaHei"/>
              <a:cs typeface="Microsoft YaHei"/>
            </a:endParaRPr>
          </a:p>
          <a:p>
            <a:pPr marL="12700">
              <a:lnSpc>
                <a:spcPct val="100000"/>
              </a:lnSpc>
              <a:spcBef>
                <a:spcPts val="660"/>
              </a:spcBef>
            </a:pPr>
            <a:r>
              <a:rPr dirty="0" sz="800" b="1">
                <a:solidFill>
                  <a:srgbClr val="0950A0"/>
                </a:solidFill>
                <a:latin typeface="Microsoft YaHei"/>
                <a:cs typeface="Microsoft YaHei"/>
              </a:rPr>
              <a:t>16TR</a:t>
            </a:r>
            <a:r>
              <a:rPr dirty="0" sz="800" spc="-40" b="1">
                <a:solidFill>
                  <a:srgbClr val="0950A0"/>
                </a:solidFill>
                <a:latin typeface="Microsoft YaHei"/>
                <a:cs typeface="Microsoft YaHei"/>
              </a:rPr>
              <a:t> </a:t>
            </a:r>
            <a:r>
              <a:rPr dirty="0" sz="800" b="1">
                <a:solidFill>
                  <a:srgbClr val="0950A0"/>
                </a:solidFill>
                <a:latin typeface="Microsoft YaHei"/>
                <a:cs typeface="Microsoft YaHei"/>
              </a:rPr>
              <a:t>100MHz</a:t>
            </a:r>
            <a:r>
              <a:rPr dirty="0" sz="800" spc="-35" b="1">
                <a:solidFill>
                  <a:srgbClr val="0950A0"/>
                </a:solidFill>
                <a:latin typeface="Microsoft YaHei"/>
                <a:cs typeface="Microsoft YaHei"/>
              </a:rPr>
              <a:t> </a:t>
            </a:r>
            <a:r>
              <a:rPr dirty="0" sz="800" spc="-25" b="1">
                <a:solidFill>
                  <a:srgbClr val="0950A0"/>
                </a:solidFill>
                <a:latin typeface="Microsoft YaHei"/>
                <a:cs typeface="Microsoft YaHei"/>
              </a:rPr>
              <a:t>AAU</a:t>
            </a:r>
            <a:endParaRPr sz="800">
              <a:latin typeface="Microsoft YaHei"/>
              <a:cs typeface="Microsoft YaHei"/>
            </a:endParaRPr>
          </a:p>
        </p:txBody>
      </p:sp>
      <p:sp>
        <p:nvSpPr>
          <p:cNvPr id="28" name="object 28" descr=""/>
          <p:cNvSpPr txBox="1"/>
          <p:nvPr/>
        </p:nvSpPr>
        <p:spPr>
          <a:xfrm>
            <a:off x="787193" y="3638074"/>
            <a:ext cx="1002030" cy="147320"/>
          </a:xfrm>
          <a:prstGeom prst="rect">
            <a:avLst/>
          </a:prstGeom>
        </p:spPr>
        <p:txBody>
          <a:bodyPr wrap="square" lIns="0" tIns="12065" rIns="0" bIns="0" rtlCol="0" vert="horz">
            <a:spAutoFit/>
          </a:bodyPr>
          <a:lstStyle/>
          <a:p>
            <a:pPr marL="12700">
              <a:lnSpc>
                <a:spcPct val="100000"/>
              </a:lnSpc>
              <a:spcBef>
                <a:spcPts val="95"/>
              </a:spcBef>
            </a:pPr>
            <a:r>
              <a:rPr dirty="0" sz="800" b="1">
                <a:solidFill>
                  <a:srgbClr val="0950A0"/>
                </a:solidFill>
                <a:latin typeface="Microsoft YaHei"/>
                <a:cs typeface="Microsoft YaHei"/>
              </a:rPr>
              <a:t>16TR</a:t>
            </a:r>
            <a:r>
              <a:rPr dirty="0" sz="800" spc="-40" b="1">
                <a:solidFill>
                  <a:srgbClr val="0950A0"/>
                </a:solidFill>
                <a:latin typeface="Microsoft YaHei"/>
                <a:cs typeface="Microsoft YaHei"/>
              </a:rPr>
              <a:t> </a:t>
            </a:r>
            <a:r>
              <a:rPr dirty="0" sz="800" b="1">
                <a:solidFill>
                  <a:srgbClr val="0950A0"/>
                </a:solidFill>
                <a:latin typeface="Microsoft YaHei"/>
                <a:cs typeface="Microsoft YaHei"/>
              </a:rPr>
              <a:t>100MHz</a:t>
            </a:r>
            <a:r>
              <a:rPr dirty="0" sz="800" spc="-35" b="1">
                <a:solidFill>
                  <a:srgbClr val="0950A0"/>
                </a:solidFill>
                <a:latin typeface="Microsoft YaHei"/>
                <a:cs typeface="Microsoft YaHei"/>
              </a:rPr>
              <a:t> </a:t>
            </a:r>
            <a:r>
              <a:rPr dirty="0" sz="800" spc="-25" b="1">
                <a:solidFill>
                  <a:srgbClr val="0950A0"/>
                </a:solidFill>
                <a:latin typeface="Microsoft YaHei"/>
                <a:cs typeface="Microsoft YaHei"/>
              </a:rPr>
              <a:t>AAU</a:t>
            </a:r>
            <a:endParaRPr sz="800">
              <a:latin typeface="Microsoft YaHei"/>
              <a:cs typeface="Microsoft YaHei"/>
            </a:endParaRPr>
          </a:p>
        </p:txBody>
      </p:sp>
      <p:sp>
        <p:nvSpPr>
          <p:cNvPr id="29" name="object 29" descr=""/>
          <p:cNvSpPr txBox="1"/>
          <p:nvPr/>
        </p:nvSpPr>
        <p:spPr>
          <a:xfrm>
            <a:off x="2537236" y="1290192"/>
            <a:ext cx="1002030" cy="147320"/>
          </a:xfrm>
          <a:prstGeom prst="rect">
            <a:avLst/>
          </a:prstGeom>
        </p:spPr>
        <p:txBody>
          <a:bodyPr wrap="square" lIns="0" tIns="12065" rIns="0" bIns="0" rtlCol="0" vert="horz">
            <a:spAutoFit/>
          </a:bodyPr>
          <a:lstStyle/>
          <a:p>
            <a:pPr marL="12700">
              <a:lnSpc>
                <a:spcPct val="100000"/>
              </a:lnSpc>
              <a:spcBef>
                <a:spcPts val="95"/>
              </a:spcBef>
            </a:pPr>
            <a:r>
              <a:rPr dirty="0" sz="800" b="1">
                <a:solidFill>
                  <a:srgbClr val="0950A0"/>
                </a:solidFill>
                <a:latin typeface="Microsoft YaHei"/>
                <a:cs typeface="Microsoft YaHei"/>
              </a:rPr>
              <a:t>64TR</a:t>
            </a:r>
            <a:r>
              <a:rPr dirty="0" sz="800" spc="-40" b="1">
                <a:solidFill>
                  <a:srgbClr val="0950A0"/>
                </a:solidFill>
                <a:latin typeface="Microsoft YaHei"/>
                <a:cs typeface="Microsoft YaHei"/>
              </a:rPr>
              <a:t> </a:t>
            </a:r>
            <a:r>
              <a:rPr dirty="0" sz="800" b="1">
                <a:solidFill>
                  <a:srgbClr val="0950A0"/>
                </a:solidFill>
                <a:latin typeface="Microsoft YaHei"/>
                <a:cs typeface="Microsoft YaHei"/>
              </a:rPr>
              <a:t>100MHz</a:t>
            </a:r>
            <a:r>
              <a:rPr dirty="0" sz="800" spc="-35" b="1">
                <a:solidFill>
                  <a:srgbClr val="0950A0"/>
                </a:solidFill>
                <a:latin typeface="Microsoft YaHei"/>
                <a:cs typeface="Microsoft YaHei"/>
              </a:rPr>
              <a:t> </a:t>
            </a:r>
            <a:r>
              <a:rPr dirty="0" sz="800" spc="-25" b="1">
                <a:solidFill>
                  <a:srgbClr val="0950A0"/>
                </a:solidFill>
                <a:latin typeface="Microsoft YaHei"/>
                <a:cs typeface="Microsoft YaHei"/>
              </a:rPr>
              <a:t>AAU</a:t>
            </a:r>
            <a:endParaRPr sz="800">
              <a:latin typeface="Microsoft YaHei"/>
              <a:cs typeface="Microsoft YaHei"/>
            </a:endParaRPr>
          </a:p>
        </p:txBody>
      </p:sp>
      <p:pic>
        <p:nvPicPr>
          <p:cNvPr id="30" name="object 30"/>
          <p:cNvPicPr/>
          <p:nvPr/>
        </p:nvPicPr>
        <p:blipFill>
          <a:blip r:embed="rId12" cstate="print"/>
          <a:stretch>
            <a:fillRect/>
          </a:stretch>
        </p:blipFill>
        <p:spPr>
          <a:xfrm>
            <a:off x="240043" y="4424364"/>
            <a:ext cx="8642729" cy="402282"/>
          </a:xfrm>
          <a:prstGeom prst="rect">
            <a:avLst/>
          </a:prstGeom>
        </p:spPr>
      </p:pic>
      <p:sp>
        <p:nvSpPr>
          <p:cNvPr id="31" name="object 31" descr=""/>
          <p:cNvSpPr txBox="1"/>
          <p:nvPr/>
        </p:nvSpPr>
        <p:spPr>
          <a:xfrm>
            <a:off x="393153" y="4501389"/>
            <a:ext cx="8340725" cy="29972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002F86"/>
                </a:solidFill>
                <a:latin typeface="Microsoft YaHei"/>
                <a:cs typeface="Microsoft YaHei"/>
              </a:rPr>
              <a:t>5G</a:t>
            </a:r>
            <a:r>
              <a:rPr dirty="0" sz="1800" spc="-5">
                <a:solidFill>
                  <a:srgbClr val="002F86"/>
                </a:solidFill>
                <a:latin typeface="Microsoft YaHei"/>
                <a:cs typeface="Microsoft YaHei"/>
              </a:rPr>
              <a:t>组网采用宏站作为广域覆盖的中坚力量，</a:t>
            </a:r>
            <a:r>
              <a:rPr dirty="0" sz="1800" spc="-10">
                <a:solidFill>
                  <a:srgbClr val="002F86"/>
                </a:solidFill>
                <a:latin typeface="Microsoft YaHei"/>
                <a:cs typeface="Microsoft YaHei"/>
              </a:rPr>
              <a:t>pico</a:t>
            </a:r>
            <a:r>
              <a:rPr dirty="0" sz="1800" spc="-5">
                <a:solidFill>
                  <a:srgbClr val="002F86"/>
                </a:solidFill>
                <a:latin typeface="Microsoft YaHei"/>
                <a:cs typeface="Microsoft YaHei"/>
              </a:rPr>
              <a:t>是深度覆盖和容量吸收的重要手段</a:t>
            </a:r>
            <a:endParaRPr sz="1800">
              <a:latin typeface="Microsoft YaHei"/>
              <a:cs typeface="Microsoft YaHe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246761" y="1054823"/>
            <a:ext cx="4083050" cy="2270125"/>
            <a:chOff x="246761" y="1054823"/>
            <a:chExt cx="4083050" cy="2270125"/>
          </a:xfrm>
        </p:grpSpPr>
        <p:pic>
          <p:nvPicPr>
            <p:cNvPr id="3" name="object 3"/>
            <p:cNvPicPr/>
            <p:nvPr/>
          </p:nvPicPr>
          <p:blipFill>
            <a:blip r:embed="rId2" cstate="print"/>
            <a:stretch>
              <a:fillRect/>
            </a:stretch>
          </p:blipFill>
          <p:spPr>
            <a:xfrm>
              <a:off x="2281516" y="2909599"/>
              <a:ext cx="2047683" cy="415107"/>
            </a:xfrm>
            <a:prstGeom prst="rect">
              <a:avLst/>
            </a:prstGeom>
          </p:spPr>
        </p:pic>
        <p:sp>
          <p:nvSpPr>
            <p:cNvPr id="4" name="object 4" descr=""/>
            <p:cNvSpPr/>
            <p:nvPr/>
          </p:nvSpPr>
          <p:spPr>
            <a:xfrm>
              <a:off x="251523" y="1059586"/>
              <a:ext cx="3812540" cy="1398905"/>
            </a:xfrm>
            <a:custGeom>
              <a:avLst/>
              <a:gdLst/>
              <a:ahLst/>
              <a:cxnLst/>
              <a:rect l="l" t="t" r="r" b="b"/>
              <a:pathLst>
                <a:path w="3812540" h="1398905">
                  <a:moveTo>
                    <a:pt x="0" y="0"/>
                  </a:moveTo>
                  <a:lnTo>
                    <a:pt x="3812184" y="0"/>
                  </a:lnTo>
                  <a:lnTo>
                    <a:pt x="3812184" y="1398841"/>
                  </a:lnTo>
                  <a:lnTo>
                    <a:pt x="0" y="1398841"/>
                  </a:lnTo>
                  <a:lnTo>
                    <a:pt x="0" y="0"/>
                  </a:lnTo>
                  <a:close/>
                </a:path>
              </a:pathLst>
            </a:custGeom>
            <a:ln w="9525">
              <a:solidFill>
                <a:srgbClr val="FF0000"/>
              </a:solidFill>
              <a:prstDash val="sysDash"/>
            </a:ln>
          </p:spPr>
          <p:txBody>
            <a:bodyPr wrap="square" lIns="0" tIns="0" rIns="0" bIns="0" rtlCol="0"/>
            <a:lstStyle/>
            <a:p/>
          </p:txBody>
        </p:sp>
      </p:grpSp>
      <p:sp>
        <p:nvSpPr>
          <p:cNvPr id="5" name="object 5"/>
          <p:cNvSpPr txBox="1">
            <a:spLocks noGrp="1"/>
          </p:cNvSpPr>
          <p:nvPr>
            <p:ph type="title"/>
          </p:nvPr>
        </p:nvSpPr>
        <p:spPr>
          <a:xfrm>
            <a:off x="2460606" y="93563"/>
            <a:ext cx="4498340" cy="513080"/>
          </a:xfrm>
          <a:prstGeom prst="rect"/>
        </p:spPr>
        <p:txBody>
          <a:bodyPr wrap="square" lIns="0" tIns="12065" rIns="0" bIns="0" rtlCol="0" vert="horz">
            <a:spAutoFit/>
          </a:bodyPr>
          <a:lstStyle/>
          <a:p>
            <a:pPr marL="12700">
              <a:lnSpc>
                <a:spcPct val="100000"/>
              </a:lnSpc>
              <a:spcBef>
                <a:spcPts val="95"/>
              </a:spcBef>
            </a:pPr>
            <a:r>
              <a:rPr dirty="0" spc="-45"/>
              <a:t>运营商共建共享解决方案</a:t>
            </a:r>
          </a:p>
        </p:txBody>
      </p:sp>
      <p:sp>
        <p:nvSpPr>
          <p:cNvPr id="6" name="object 6" descr=""/>
          <p:cNvSpPr/>
          <p:nvPr/>
        </p:nvSpPr>
        <p:spPr>
          <a:xfrm>
            <a:off x="251518" y="735543"/>
            <a:ext cx="1220470" cy="270510"/>
          </a:xfrm>
          <a:custGeom>
            <a:avLst/>
            <a:gdLst/>
            <a:ahLst/>
            <a:cxnLst/>
            <a:rect l="l" t="t" r="r" b="b"/>
            <a:pathLst>
              <a:path w="1220470" h="270509">
                <a:moveTo>
                  <a:pt x="1174889" y="0"/>
                </a:moveTo>
                <a:lnTo>
                  <a:pt x="45008" y="0"/>
                </a:lnTo>
                <a:lnTo>
                  <a:pt x="27490" y="3537"/>
                </a:lnTo>
                <a:lnTo>
                  <a:pt x="13184" y="13184"/>
                </a:lnTo>
                <a:lnTo>
                  <a:pt x="3537" y="27490"/>
                </a:lnTo>
                <a:lnTo>
                  <a:pt x="0" y="45008"/>
                </a:lnTo>
                <a:lnTo>
                  <a:pt x="0" y="225031"/>
                </a:lnTo>
                <a:lnTo>
                  <a:pt x="3537" y="242547"/>
                </a:lnTo>
                <a:lnTo>
                  <a:pt x="13184" y="256849"/>
                </a:lnTo>
                <a:lnTo>
                  <a:pt x="27490" y="266491"/>
                </a:lnTo>
                <a:lnTo>
                  <a:pt x="45008" y="270027"/>
                </a:lnTo>
                <a:lnTo>
                  <a:pt x="1174889" y="270027"/>
                </a:lnTo>
                <a:lnTo>
                  <a:pt x="1192412" y="266491"/>
                </a:lnTo>
                <a:lnTo>
                  <a:pt x="1206719" y="256849"/>
                </a:lnTo>
                <a:lnTo>
                  <a:pt x="1216362" y="242547"/>
                </a:lnTo>
                <a:lnTo>
                  <a:pt x="1219898" y="225031"/>
                </a:lnTo>
                <a:lnTo>
                  <a:pt x="1219898" y="45008"/>
                </a:lnTo>
                <a:lnTo>
                  <a:pt x="1216362" y="27490"/>
                </a:lnTo>
                <a:lnTo>
                  <a:pt x="1206719" y="13184"/>
                </a:lnTo>
                <a:lnTo>
                  <a:pt x="1192412" y="3537"/>
                </a:lnTo>
                <a:lnTo>
                  <a:pt x="1174889" y="0"/>
                </a:lnTo>
                <a:close/>
              </a:path>
            </a:pathLst>
          </a:custGeom>
          <a:solidFill>
            <a:srgbClr val="FFC000"/>
          </a:solidFill>
        </p:spPr>
        <p:txBody>
          <a:bodyPr wrap="square" lIns="0" tIns="0" rIns="0" bIns="0" rtlCol="0"/>
          <a:lstStyle/>
          <a:p/>
        </p:txBody>
      </p:sp>
      <p:sp>
        <p:nvSpPr>
          <p:cNvPr id="7" name="object 7" descr=""/>
          <p:cNvSpPr txBox="1"/>
          <p:nvPr/>
        </p:nvSpPr>
        <p:spPr>
          <a:xfrm>
            <a:off x="390108" y="716890"/>
            <a:ext cx="942975" cy="299720"/>
          </a:xfrm>
          <a:prstGeom prst="rect">
            <a:avLst/>
          </a:prstGeom>
        </p:spPr>
        <p:txBody>
          <a:bodyPr wrap="square" lIns="0" tIns="12700" rIns="0" bIns="0" rtlCol="0" vert="horz">
            <a:spAutoFit/>
          </a:bodyPr>
          <a:lstStyle/>
          <a:p>
            <a:pPr marL="12700">
              <a:lnSpc>
                <a:spcPct val="100000"/>
              </a:lnSpc>
              <a:spcBef>
                <a:spcPts val="100"/>
              </a:spcBef>
            </a:pPr>
            <a:r>
              <a:rPr dirty="0" sz="1800" spc="-15">
                <a:solidFill>
                  <a:srgbClr val="FFFFFF"/>
                </a:solidFill>
                <a:latin typeface="SimSun"/>
                <a:cs typeface="SimSun"/>
              </a:rPr>
              <a:t>应用场景</a:t>
            </a:r>
            <a:endParaRPr sz="1800">
              <a:latin typeface="SimSun"/>
              <a:cs typeface="SimSun"/>
            </a:endParaRPr>
          </a:p>
        </p:txBody>
      </p:sp>
      <p:sp>
        <p:nvSpPr>
          <p:cNvPr id="8" name="object 8" descr=""/>
          <p:cNvSpPr txBox="1"/>
          <p:nvPr/>
        </p:nvSpPr>
        <p:spPr>
          <a:xfrm>
            <a:off x="307399" y="1044596"/>
            <a:ext cx="3669665" cy="683895"/>
          </a:xfrm>
          <a:prstGeom prst="rect">
            <a:avLst/>
          </a:prstGeom>
        </p:spPr>
        <p:txBody>
          <a:bodyPr wrap="square" lIns="0" tIns="12700" rIns="0" bIns="0" rtlCol="0" vert="horz">
            <a:spAutoFit/>
          </a:bodyPr>
          <a:lstStyle/>
          <a:p>
            <a:pPr marL="227329" marR="5080" indent="-215265">
              <a:lnSpc>
                <a:spcPct val="120000"/>
              </a:lnSpc>
              <a:spcBef>
                <a:spcPts val="100"/>
              </a:spcBef>
              <a:buFont typeface="Arial MT"/>
              <a:buChar char="•"/>
              <a:tabLst>
                <a:tab pos="227329" algn="l"/>
              </a:tabLst>
            </a:pPr>
            <a:r>
              <a:rPr dirty="0" sz="1800" spc="-5">
                <a:latin typeface="SimSun"/>
                <a:cs typeface="SimSun"/>
              </a:rPr>
              <a:t>高价值区，运营商建设独立网络，发展存量用户，体现品牌价值；</a:t>
            </a:r>
            <a:endParaRPr sz="1800">
              <a:latin typeface="SimSun"/>
              <a:cs typeface="SimSun"/>
            </a:endParaRPr>
          </a:p>
        </p:txBody>
      </p:sp>
      <p:sp>
        <p:nvSpPr>
          <p:cNvPr id="9" name="object 9" descr=""/>
          <p:cNvSpPr txBox="1"/>
          <p:nvPr/>
        </p:nvSpPr>
        <p:spPr>
          <a:xfrm>
            <a:off x="307399" y="1757828"/>
            <a:ext cx="3898265" cy="299720"/>
          </a:xfrm>
          <a:prstGeom prst="rect">
            <a:avLst/>
          </a:prstGeom>
        </p:spPr>
        <p:txBody>
          <a:bodyPr wrap="square" lIns="0" tIns="12700" rIns="0" bIns="0" rtlCol="0" vert="horz">
            <a:spAutoFit/>
          </a:bodyPr>
          <a:lstStyle/>
          <a:p>
            <a:pPr marL="227329" indent="-214629">
              <a:lnSpc>
                <a:spcPct val="100000"/>
              </a:lnSpc>
              <a:spcBef>
                <a:spcPts val="100"/>
              </a:spcBef>
              <a:buFont typeface="Arial MT"/>
              <a:buChar char="•"/>
              <a:tabLst>
                <a:tab pos="227329" algn="l"/>
              </a:tabLst>
            </a:pPr>
            <a:r>
              <a:rPr dirty="0" sz="1800" spc="-5">
                <a:latin typeface="SimSun"/>
                <a:cs typeface="SimSun"/>
              </a:rPr>
              <a:t>中低价值区，运营商考虑共建共享，</a:t>
            </a:r>
            <a:endParaRPr sz="1800">
              <a:latin typeface="SimSun"/>
              <a:cs typeface="SimSun"/>
            </a:endParaRPr>
          </a:p>
        </p:txBody>
      </p:sp>
      <p:sp>
        <p:nvSpPr>
          <p:cNvPr id="10" name="object 10" descr=""/>
          <p:cNvSpPr txBox="1"/>
          <p:nvPr/>
        </p:nvSpPr>
        <p:spPr>
          <a:xfrm>
            <a:off x="522283" y="2087012"/>
            <a:ext cx="16256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SimSun"/>
                <a:cs typeface="SimSun"/>
              </a:rPr>
              <a:t>节省网络投资。</a:t>
            </a:r>
            <a:endParaRPr sz="1800">
              <a:latin typeface="SimSun"/>
              <a:cs typeface="SimSun"/>
            </a:endParaRPr>
          </a:p>
        </p:txBody>
      </p:sp>
      <p:sp>
        <p:nvSpPr>
          <p:cNvPr id="11" name="object 11" descr=""/>
          <p:cNvSpPr/>
          <p:nvPr/>
        </p:nvSpPr>
        <p:spPr>
          <a:xfrm>
            <a:off x="251519" y="2427728"/>
            <a:ext cx="1296670" cy="252095"/>
          </a:xfrm>
          <a:custGeom>
            <a:avLst/>
            <a:gdLst/>
            <a:ahLst/>
            <a:cxnLst/>
            <a:rect l="l" t="t" r="r" b="b"/>
            <a:pathLst>
              <a:path w="1296670" h="252094">
                <a:moveTo>
                  <a:pt x="1254137" y="0"/>
                </a:moveTo>
                <a:lnTo>
                  <a:pt x="42011" y="0"/>
                </a:lnTo>
                <a:lnTo>
                  <a:pt x="25658" y="3301"/>
                </a:lnTo>
                <a:lnTo>
                  <a:pt x="12304" y="12304"/>
                </a:lnTo>
                <a:lnTo>
                  <a:pt x="3301" y="25658"/>
                </a:lnTo>
                <a:lnTo>
                  <a:pt x="0" y="42011"/>
                </a:lnTo>
                <a:lnTo>
                  <a:pt x="0" y="210032"/>
                </a:lnTo>
                <a:lnTo>
                  <a:pt x="3301" y="226378"/>
                </a:lnTo>
                <a:lnTo>
                  <a:pt x="12304" y="239728"/>
                </a:lnTo>
                <a:lnTo>
                  <a:pt x="25658" y="248730"/>
                </a:lnTo>
                <a:lnTo>
                  <a:pt x="42011" y="252031"/>
                </a:lnTo>
                <a:lnTo>
                  <a:pt x="1254137" y="252031"/>
                </a:lnTo>
                <a:lnTo>
                  <a:pt x="1270490" y="248730"/>
                </a:lnTo>
                <a:lnTo>
                  <a:pt x="1283844" y="239728"/>
                </a:lnTo>
                <a:lnTo>
                  <a:pt x="1292847" y="226378"/>
                </a:lnTo>
                <a:lnTo>
                  <a:pt x="1296149" y="210032"/>
                </a:lnTo>
                <a:lnTo>
                  <a:pt x="1296149" y="42011"/>
                </a:lnTo>
                <a:lnTo>
                  <a:pt x="1292847" y="25658"/>
                </a:lnTo>
                <a:lnTo>
                  <a:pt x="1283844" y="12304"/>
                </a:lnTo>
                <a:lnTo>
                  <a:pt x="1270490" y="3301"/>
                </a:lnTo>
                <a:lnTo>
                  <a:pt x="1254137" y="0"/>
                </a:lnTo>
                <a:close/>
              </a:path>
            </a:pathLst>
          </a:custGeom>
          <a:solidFill>
            <a:srgbClr val="2D2D8A"/>
          </a:solidFill>
        </p:spPr>
        <p:txBody>
          <a:bodyPr wrap="square" lIns="0" tIns="0" rIns="0" bIns="0" rtlCol="0"/>
          <a:lstStyle/>
          <a:p/>
        </p:txBody>
      </p:sp>
      <p:sp>
        <p:nvSpPr>
          <p:cNvPr id="12" name="object 12" descr=""/>
          <p:cNvSpPr txBox="1"/>
          <p:nvPr/>
        </p:nvSpPr>
        <p:spPr>
          <a:xfrm>
            <a:off x="428358" y="2400077"/>
            <a:ext cx="942975" cy="299720"/>
          </a:xfrm>
          <a:prstGeom prst="rect">
            <a:avLst/>
          </a:prstGeom>
        </p:spPr>
        <p:txBody>
          <a:bodyPr wrap="square" lIns="0" tIns="12700" rIns="0" bIns="0" rtlCol="0" vert="horz">
            <a:spAutoFit/>
          </a:bodyPr>
          <a:lstStyle/>
          <a:p>
            <a:pPr marL="12700">
              <a:lnSpc>
                <a:spcPct val="100000"/>
              </a:lnSpc>
              <a:spcBef>
                <a:spcPts val="100"/>
              </a:spcBef>
            </a:pPr>
            <a:r>
              <a:rPr dirty="0" sz="1800" spc="-15">
                <a:solidFill>
                  <a:srgbClr val="FFFFFF"/>
                </a:solidFill>
                <a:latin typeface="SimSun"/>
                <a:cs typeface="SimSun"/>
              </a:rPr>
              <a:t>组网方案</a:t>
            </a:r>
            <a:endParaRPr sz="1800">
              <a:latin typeface="SimSun"/>
              <a:cs typeface="SimSun"/>
            </a:endParaRPr>
          </a:p>
        </p:txBody>
      </p:sp>
      <p:pic>
        <p:nvPicPr>
          <p:cNvPr id="13" name="object 13" descr=""/>
          <p:cNvPicPr/>
          <p:nvPr/>
        </p:nvPicPr>
        <p:blipFill>
          <a:blip r:embed="rId3" cstate="print"/>
          <a:stretch>
            <a:fillRect/>
          </a:stretch>
        </p:blipFill>
        <p:spPr>
          <a:xfrm>
            <a:off x="169659" y="3678454"/>
            <a:ext cx="1933002" cy="508180"/>
          </a:xfrm>
          <a:prstGeom prst="rect">
            <a:avLst/>
          </a:prstGeom>
        </p:spPr>
      </p:pic>
      <p:sp>
        <p:nvSpPr>
          <p:cNvPr id="14" name="object 14" descr=""/>
          <p:cNvSpPr txBox="1"/>
          <p:nvPr/>
        </p:nvSpPr>
        <p:spPr>
          <a:xfrm>
            <a:off x="1490167" y="3921715"/>
            <a:ext cx="370840" cy="162560"/>
          </a:xfrm>
          <a:prstGeom prst="rect">
            <a:avLst/>
          </a:prstGeom>
        </p:spPr>
        <p:txBody>
          <a:bodyPr wrap="square" lIns="0" tIns="12700" rIns="0" bIns="0" rtlCol="0" vert="horz">
            <a:spAutoFit/>
          </a:bodyPr>
          <a:lstStyle/>
          <a:p>
            <a:pPr marL="12700">
              <a:lnSpc>
                <a:spcPct val="100000"/>
              </a:lnSpc>
              <a:spcBef>
                <a:spcPts val="100"/>
              </a:spcBef>
            </a:pPr>
            <a:r>
              <a:rPr dirty="0" sz="900" spc="-20">
                <a:latin typeface="SimSun"/>
                <a:cs typeface="SimSun"/>
              </a:rPr>
              <a:t>传输网</a:t>
            </a:r>
            <a:endParaRPr sz="900">
              <a:latin typeface="SimSun"/>
              <a:cs typeface="SimSun"/>
            </a:endParaRPr>
          </a:p>
        </p:txBody>
      </p:sp>
      <p:pic>
        <p:nvPicPr>
          <p:cNvPr id="15" name="object 15" descr=""/>
          <p:cNvPicPr/>
          <p:nvPr/>
        </p:nvPicPr>
        <p:blipFill>
          <a:blip r:embed="rId4" cstate="print"/>
          <a:stretch>
            <a:fillRect/>
          </a:stretch>
        </p:blipFill>
        <p:spPr>
          <a:xfrm>
            <a:off x="168922" y="3071247"/>
            <a:ext cx="1933738" cy="506603"/>
          </a:xfrm>
          <a:prstGeom prst="rect">
            <a:avLst/>
          </a:prstGeom>
        </p:spPr>
      </p:pic>
      <p:sp>
        <p:nvSpPr>
          <p:cNvPr id="16" name="object 16" descr=""/>
          <p:cNvSpPr txBox="1"/>
          <p:nvPr/>
        </p:nvSpPr>
        <p:spPr>
          <a:xfrm>
            <a:off x="1463506" y="3351409"/>
            <a:ext cx="370840" cy="162560"/>
          </a:xfrm>
          <a:prstGeom prst="rect">
            <a:avLst/>
          </a:prstGeom>
        </p:spPr>
        <p:txBody>
          <a:bodyPr wrap="square" lIns="0" tIns="12700" rIns="0" bIns="0" rtlCol="0" vert="horz">
            <a:spAutoFit/>
          </a:bodyPr>
          <a:lstStyle/>
          <a:p>
            <a:pPr marL="12700">
              <a:lnSpc>
                <a:spcPct val="100000"/>
              </a:lnSpc>
              <a:spcBef>
                <a:spcPts val="100"/>
              </a:spcBef>
            </a:pPr>
            <a:r>
              <a:rPr dirty="0" sz="900" spc="-20">
                <a:latin typeface="SimSun"/>
                <a:cs typeface="SimSun"/>
              </a:rPr>
              <a:t>传输网</a:t>
            </a:r>
            <a:endParaRPr sz="900">
              <a:latin typeface="SimSun"/>
              <a:cs typeface="SimSun"/>
            </a:endParaRPr>
          </a:p>
        </p:txBody>
      </p:sp>
      <p:sp>
        <p:nvSpPr>
          <p:cNvPr id="17" name="object 17" descr=""/>
          <p:cNvSpPr txBox="1"/>
          <p:nvPr/>
        </p:nvSpPr>
        <p:spPr>
          <a:xfrm>
            <a:off x="259485" y="3888499"/>
            <a:ext cx="567055" cy="147320"/>
          </a:xfrm>
          <a:prstGeom prst="rect">
            <a:avLst/>
          </a:prstGeom>
        </p:spPr>
        <p:txBody>
          <a:bodyPr wrap="square" lIns="0" tIns="12065" rIns="0" bIns="0" rtlCol="0" vert="horz">
            <a:spAutoFit/>
          </a:bodyPr>
          <a:lstStyle/>
          <a:p>
            <a:pPr marL="12700">
              <a:lnSpc>
                <a:spcPct val="100000"/>
              </a:lnSpc>
              <a:spcBef>
                <a:spcPts val="95"/>
              </a:spcBef>
            </a:pPr>
            <a:r>
              <a:rPr dirty="0" sz="800" spc="-50">
                <a:latin typeface="SimSun"/>
                <a:cs typeface="SimSun"/>
              </a:rPr>
              <a:t>中联通 </a:t>
            </a:r>
            <a:r>
              <a:rPr dirty="0" sz="800" spc="-25" b="1">
                <a:latin typeface="Arial"/>
                <a:cs typeface="Arial"/>
              </a:rPr>
              <a:t>5GC</a:t>
            </a:r>
            <a:endParaRPr sz="800">
              <a:latin typeface="Arial"/>
              <a:cs typeface="Arial"/>
            </a:endParaRPr>
          </a:p>
        </p:txBody>
      </p:sp>
      <p:sp>
        <p:nvSpPr>
          <p:cNvPr id="18" name="object 18" descr=""/>
          <p:cNvSpPr txBox="1"/>
          <p:nvPr/>
        </p:nvSpPr>
        <p:spPr>
          <a:xfrm>
            <a:off x="258759" y="3114490"/>
            <a:ext cx="567055" cy="147320"/>
          </a:xfrm>
          <a:prstGeom prst="rect">
            <a:avLst/>
          </a:prstGeom>
        </p:spPr>
        <p:txBody>
          <a:bodyPr wrap="square" lIns="0" tIns="12065" rIns="0" bIns="0" rtlCol="0" vert="horz">
            <a:spAutoFit/>
          </a:bodyPr>
          <a:lstStyle/>
          <a:p>
            <a:pPr marL="12700">
              <a:lnSpc>
                <a:spcPct val="100000"/>
              </a:lnSpc>
              <a:spcBef>
                <a:spcPts val="95"/>
              </a:spcBef>
            </a:pPr>
            <a:r>
              <a:rPr dirty="0" sz="800" spc="-50">
                <a:latin typeface="SimSun"/>
                <a:cs typeface="SimSun"/>
              </a:rPr>
              <a:t>中电信 </a:t>
            </a:r>
            <a:r>
              <a:rPr dirty="0" sz="800" spc="-25" b="1">
                <a:latin typeface="Arial"/>
                <a:cs typeface="Arial"/>
              </a:rPr>
              <a:t>5GC</a:t>
            </a:r>
            <a:endParaRPr sz="800">
              <a:latin typeface="Arial"/>
              <a:cs typeface="Arial"/>
            </a:endParaRPr>
          </a:p>
        </p:txBody>
      </p:sp>
      <p:grpSp>
        <p:nvGrpSpPr>
          <p:cNvPr id="19" name="object 19" descr=""/>
          <p:cNvGrpSpPr/>
          <p:nvPr/>
        </p:nvGrpSpPr>
        <p:grpSpPr>
          <a:xfrm>
            <a:off x="226725" y="2582036"/>
            <a:ext cx="1765935" cy="1297940"/>
            <a:chOff x="226725" y="2582036"/>
            <a:chExt cx="1765935" cy="1297940"/>
          </a:xfrm>
        </p:grpSpPr>
        <p:pic>
          <p:nvPicPr>
            <p:cNvPr id="20" name="object 20"/>
            <p:cNvPicPr/>
            <p:nvPr/>
          </p:nvPicPr>
          <p:blipFill>
            <a:blip r:embed="rId5" cstate="print"/>
            <a:stretch>
              <a:fillRect/>
            </a:stretch>
          </p:blipFill>
          <p:spPr>
            <a:xfrm>
              <a:off x="277448" y="2660815"/>
              <a:ext cx="664230" cy="371132"/>
            </a:xfrm>
            <a:prstGeom prst="rect">
              <a:avLst/>
            </a:prstGeom>
          </p:spPr>
        </p:pic>
        <p:pic>
          <p:nvPicPr>
            <p:cNvPr id="21" name="object 21"/>
            <p:cNvPicPr/>
            <p:nvPr/>
          </p:nvPicPr>
          <p:blipFill>
            <a:blip r:embed="rId6" cstate="print"/>
            <a:stretch>
              <a:fillRect/>
            </a:stretch>
          </p:blipFill>
          <p:spPr>
            <a:xfrm>
              <a:off x="226725" y="3434816"/>
              <a:ext cx="664229" cy="371140"/>
            </a:xfrm>
            <a:prstGeom prst="rect">
              <a:avLst/>
            </a:prstGeom>
          </p:spPr>
        </p:pic>
        <p:sp>
          <p:nvSpPr>
            <p:cNvPr id="22" name="object 22" descr=""/>
            <p:cNvSpPr/>
            <p:nvPr/>
          </p:nvSpPr>
          <p:spPr>
            <a:xfrm>
              <a:off x="859511" y="2872809"/>
              <a:ext cx="475615" cy="316865"/>
            </a:xfrm>
            <a:custGeom>
              <a:avLst/>
              <a:gdLst/>
              <a:ahLst/>
              <a:cxnLst/>
              <a:rect l="l" t="t" r="r" b="b"/>
              <a:pathLst>
                <a:path w="475615" h="316864">
                  <a:moveTo>
                    <a:pt x="475119" y="316864"/>
                  </a:moveTo>
                  <a:lnTo>
                    <a:pt x="0" y="0"/>
                  </a:lnTo>
                </a:path>
              </a:pathLst>
            </a:custGeom>
            <a:ln w="19050">
              <a:solidFill>
                <a:srgbClr val="FFC000"/>
              </a:solidFill>
            </a:ln>
          </p:spPr>
          <p:txBody>
            <a:bodyPr wrap="square" lIns="0" tIns="0" rIns="0" bIns="0" rtlCol="0"/>
            <a:lstStyle/>
            <a:p/>
          </p:txBody>
        </p:sp>
        <p:sp>
          <p:nvSpPr>
            <p:cNvPr id="23" name="object 23" descr=""/>
            <p:cNvSpPr/>
            <p:nvPr/>
          </p:nvSpPr>
          <p:spPr>
            <a:xfrm>
              <a:off x="784684" y="3650081"/>
              <a:ext cx="475615" cy="220345"/>
            </a:xfrm>
            <a:custGeom>
              <a:avLst/>
              <a:gdLst/>
              <a:ahLst/>
              <a:cxnLst/>
              <a:rect l="l" t="t" r="r" b="b"/>
              <a:pathLst>
                <a:path w="475615" h="220345">
                  <a:moveTo>
                    <a:pt x="475119" y="220116"/>
                  </a:moveTo>
                  <a:lnTo>
                    <a:pt x="0" y="0"/>
                  </a:lnTo>
                </a:path>
              </a:pathLst>
            </a:custGeom>
            <a:ln w="19050">
              <a:solidFill>
                <a:srgbClr val="FFC000"/>
              </a:solidFill>
            </a:ln>
          </p:spPr>
          <p:txBody>
            <a:bodyPr wrap="square" lIns="0" tIns="0" rIns="0" bIns="0" rtlCol="0"/>
            <a:lstStyle/>
            <a:p/>
          </p:txBody>
        </p:sp>
        <p:sp>
          <p:nvSpPr>
            <p:cNvPr id="24" name="object 24" descr=""/>
            <p:cNvSpPr/>
            <p:nvPr/>
          </p:nvSpPr>
          <p:spPr>
            <a:xfrm>
              <a:off x="1633435" y="2588386"/>
              <a:ext cx="353060" cy="161925"/>
            </a:xfrm>
            <a:custGeom>
              <a:avLst/>
              <a:gdLst/>
              <a:ahLst/>
              <a:cxnLst/>
              <a:rect l="l" t="t" r="r" b="b"/>
              <a:pathLst>
                <a:path w="353060" h="161925">
                  <a:moveTo>
                    <a:pt x="352856" y="0"/>
                  </a:moveTo>
                  <a:lnTo>
                    <a:pt x="0" y="0"/>
                  </a:lnTo>
                  <a:lnTo>
                    <a:pt x="0" y="161467"/>
                  </a:lnTo>
                  <a:lnTo>
                    <a:pt x="352856" y="161467"/>
                  </a:lnTo>
                  <a:lnTo>
                    <a:pt x="352856" y="0"/>
                  </a:lnTo>
                  <a:close/>
                </a:path>
              </a:pathLst>
            </a:custGeom>
            <a:solidFill>
              <a:srgbClr val="C0C0C0"/>
            </a:solidFill>
          </p:spPr>
          <p:txBody>
            <a:bodyPr wrap="square" lIns="0" tIns="0" rIns="0" bIns="0" rtlCol="0"/>
            <a:lstStyle/>
            <a:p/>
          </p:txBody>
        </p:sp>
        <p:sp>
          <p:nvSpPr>
            <p:cNvPr id="25" name="object 25" descr=""/>
            <p:cNvSpPr/>
            <p:nvPr/>
          </p:nvSpPr>
          <p:spPr>
            <a:xfrm>
              <a:off x="1633435" y="2588386"/>
              <a:ext cx="353060" cy="161925"/>
            </a:xfrm>
            <a:custGeom>
              <a:avLst/>
              <a:gdLst/>
              <a:ahLst/>
              <a:cxnLst/>
              <a:rect l="l" t="t" r="r" b="b"/>
              <a:pathLst>
                <a:path w="353060" h="161925">
                  <a:moveTo>
                    <a:pt x="0" y="0"/>
                  </a:moveTo>
                  <a:lnTo>
                    <a:pt x="352856" y="0"/>
                  </a:lnTo>
                  <a:lnTo>
                    <a:pt x="352856" y="161467"/>
                  </a:lnTo>
                  <a:lnTo>
                    <a:pt x="0" y="161467"/>
                  </a:lnTo>
                  <a:lnTo>
                    <a:pt x="0" y="0"/>
                  </a:lnTo>
                  <a:close/>
                </a:path>
              </a:pathLst>
            </a:custGeom>
            <a:ln w="12699">
              <a:solidFill>
                <a:srgbClr val="000000"/>
              </a:solidFill>
            </a:ln>
          </p:spPr>
          <p:txBody>
            <a:bodyPr wrap="square" lIns="0" tIns="0" rIns="0" bIns="0" rtlCol="0"/>
            <a:lstStyle/>
            <a:p/>
          </p:txBody>
        </p:sp>
      </p:grpSp>
      <p:sp>
        <p:nvSpPr>
          <p:cNvPr id="26" name="object 26" descr=""/>
          <p:cNvSpPr txBox="1"/>
          <p:nvPr/>
        </p:nvSpPr>
        <p:spPr>
          <a:xfrm>
            <a:off x="1724176" y="2532212"/>
            <a:ext cx="172085" cy="147320"/>
          </a:xfrm>
          <a:prstGeom prst="rect">
            <a:avLst/>
          </a:prstGeom>
        </p:spPr>
        <p:txBody>
          <a:bodyPr wrap="square" lIns="0" tIns="12065" rIns="0" bIns="0" rtlCol="0" vert="horz">
            <a:spAutoFit/>
          </a:bodyPr>
          <a:lstStyle/>
          <a:p>
            <a:pPr marL="12700">
              <a:lnSpc>
                <a:spcPct val="100000"/>
              </a:lnSpc>
              <a:spcBef>
                <a:spcPts val="95"/>
              </a:spcBef>
            </a:pPr>
            <a:r>
              <a:rPr dirty="0" sz="800" spc="-25" b="1">
                <a:latin typeface="Arial"/>
                <a:cs typeface="Arial"/>
              </a:rPr>
              <a:t>GP</a:t>
            </a:r>
            <a:endParaRPr sz="800">
              <a:latin typeface="Arial"/>
              <a:cs typeface="Arial"/>
            </a:endParaRPr>
          </a:p>
        </p:txBody>
      </p:sp>
      <p:sp>
        <p:nvSpPr>
          <p:cNvPr id="27" name="object 27" descr=""/>
          <p:cNvSpPr txBox="1"/>
          <p:nvPr/>
        </p:nvSpPr>
        <p:spPr>
          <a:xfrm>
            <a:off x="1762991" y="2654131"/>
            <a:ext cx="93345" cy="147320"/>
          </a:xfrm>
          <a:prstGeom prst="rect">
            <a:avLst/>
          </a:prstGeom>
        </p:spPr>
        <p:txBody>
          <a:bodyPr wrap="square" lIns="0" tIns="12065" rIns="0" bIns="0" rtlCol="0" vert="horz">
            <a:spAutoFit/>
          </a:bodyPr>
          <a:lstStyle/>
          <a:p>
            <a:pPr marL="12700">
              <a:lnSpc>
                <a:spcPct val="100000"/>
              </a:lnSpc>
              <a:spcBef>
                <a:spcPts val="95"/>
              </a:spcBef>
            </a:pPr>
            <a:r>
              <a:rPr dirty="0" sz="800" spc="-50" b="1">
                <a:latin typeface="Arial"/>
                <a:cs typeface="Arial"/>
              </a:rPr>
              <a:t>S</a:t>
            </a:r>
            <a:endParaRPr sz="800">
              <a:latin typeface="Arial"/>
              <a:cs typeface="Arial"/>
            </a:endParaRPr>
          </a:p>
        </p:txBody>
      </p:sp>
      <p:grpSp>
        <p:nvGrpSpPr>
          <p:cNvPr id="28" name="object 28" descr=""/>
          <p:cNvGrpSpPr/>
          <p:nvPr/>
        </p:nvGrpSpPr>
        <p:grpSpPr>
          <a:xfrm>
            <a:off x="1866787" y="2193709"/>
            <a:ext cx="4577715" cy="1787525"/>
            <a:chOff x="1866787" y="2193709"/>
            <a:chExt cx="4577715" cy="1787525"/>
          </a:xfrm>
        </p:grpSpPr>
        <p:sp>
          <p:nvSpPr>
            <p:cNvPr id="29" name="object 29" descr=""/>
            <p:cNvSpPr/>
            <p:nvPr/>
          </p:nvSpPr>
          <p:spPr>
            <a:xfrm>
              <a:off x="1876312" y="2735980"/>
              <a:ext cx="859790" cy="483870"/>
            </a:xfrm>
            <a:custGeom>
              <a:avLst/>
              <a:gdLst/>
              <a:ahLst/>
              <a:cxnLst/>
              <a:rect l="l" t="t" r="r" b="b"/>
              <a:pathLst>
                <a:path w="859789" h="483869">
                  <a:moveTo>
                    <a:pt x="0" y="0"/>
                  </a:moveTo>
                  <a:lnTo>
                    <a:pt x="15282" y="72044"/>
                  </a:lnTo>
                  <a:lnTo>
                    <a:pt x="28559" y="107912"/>
                  </a:lnTo>
                  <a:lnTo>
                    <a:pt x="48600" y="143595"/>
                  </a:lnTo>
                  <a:lnTo>
                    <a:pt x="77659" y="179034"/>
                  </a:lnTo>
                  <a:lnTo>
                    <a:pt x="117993" y="214166"/>
                  </a:lnTo>
                  <a:lnTo>
                    <a:pt x="171856" y="248932"/>
                  </a:lnTo>
                  <a:lnTo>
                    <a:pt x="206324" y="267149"/>
                  </a:lnTo>
                  <a:lnTo>
                    <a:pt x="247588" y="286939"/>
                  </a:lnTo>
                  <a:lnTo>
                    <a:pt x="294511" y="307853"/>
                  </a:lnTo>
                  <a:lnTo>
                    <a:pt x="345957" y="329443"/>
                  </a:lnTo>
                  <a:lnTo>
                    <a:pt x="400791" y="351260"/>
                  </a:lnTo>
                  <a:lnTo>
                    <a:pt x="457876" y="372856"/>
                  </a:lnTo>
                  <a:lnTo>
                    <a:pt x="516077" y="393782"/>
                  </a:lnTo>
                  <a:lnTo>
                    <a:pt x="574257" y="413590"/>
                  </a:lnTo>
                  <a:lnTo>
                    <a:pt x="631282" y="431832"/>
                  </a:lnTo>
                  <a:lnTo>
                    <a:pt x="686014" y="448058"/>
                  </a:lnTo>
                  <a:lnTo>
                    <a:pt x="737319" y="461821"/>
                  </a:lnTo>
                  <a:lnTo>
                    <a:pt x="784060" y="472672"/>
                  </a:lnTo>
                  <a:lnTo>
                    <a:pt x="825101" y="480163"/>
                  </a:lnTo>
                  <a:lnTo>
                    <a:pt x="859307" y="483844"/>
                  </a:lnTo>
                </a:path>
              </a:pathLst>
            </a:custGeom>
            <a:ln w="19050">
              <a:solidFill>
                <a:srgbClr val="72BFC5"/>
              </a:solidFill>
            </a:ln>
          </p:spPr>
          <p:txBody>
            <a:bodyPr wrap="square" lIns="0" tIns="0" rIns="0" bIns="0" rtlCol="0"/>
            <a:lstStyle/>
            <a:p/>
          </p:txBody>
        </p:sp>
        <p:sp>
          <p:nvSpPr>
            <p:cNvPr id="30" name="object 30" descr=""/>
            <p:cNvSpPr/>
            <p:nvPr/>
          </p:nvSpPr>
          <p:spPr>
            <a:xfrm>
              <a:off x="2040329" y="3268626"/>
              <a:ext cx="943610" cy="237490"/>
            </a:xfrm>
            <a:custGeom>
              <a:avLst/>
              <a:gdLst/>
              <a:ahLst/>
              <a:cxnLst/>
              <a:rect l="l" t="t" r="r" b="b"/>
              <a:pathLst>
                <a:path w="943610" h="237489">
                  <a:moveTo>
                    <a:pt x="0" y="237375"/>
                  </a:moveTo>
                  <a:lnTo>
                    <a:pt x="73715" y="236661"/>
                  </a:lnTo>
                  <a:lnTo>
                    <a:pt x="145879" y="234554"/>
                  </a:lnTo>
                  <a:lnTo>
                    <a:pt x="216282" y="231106"/>
                  </a:lnTo>
                  <a:lnTo>
                    <a:pt x="284713" y="226371"/>
                  </a:lnTo>
                  <a:lnTo>
                    <a:pt x="350963" y="220401"/>
                  </a:lnTo>
                  <a:lnTo>
                    <a:pt x="414823" y="213249"/>
                  </a:lnTo>
                  <a:lnTo>
                    <a:pt x="476082" y="204967"/>
                  </a:lnTo>
                  <a:lnTo>
                    <a:pt x="534531" y="195609"/>
                  </a:lnTo>
                  <a:lnTo>
                    <a:pt x="589961" y="185227"/>
                  </a:lnTo>
                  <a:lnTo>
                    <a:pt x="642161" y="173875"/>
                  </a:lnTo>
                  <a:lnTo>
                    <a:pt x="690922" y="161604"/>
                  </a:lnTo>
                  <a:lnTo>
                    <a:pt x="736034" y="148467"/>
                  </a:lnTo>
                  <a:lnTo>
                    <a:pt x="777288" y="134518"/>
                  </a:lnTo>
                  <a:lnTo>
                    <a:pt x="814474" y="119809"/>
                  </a:lnTo>
                  <a:lnTo>
                    <a:pt x="875803" y="88322"/>
                  </a:lnTo>
                  <a:lnTo>
                    <a:pt x="918342" y="54429"/>
                  </a:lnTo>
                  <a:lnTo>
                    <a:pt x="940416" y="18551"/>
                  </a:lnTo>
                  <a:lnTo>
                    <a:pt x="943254" y="0"/>
                  </a:lnTo>
                </a:path>
              </a:pathLst>
            </a:custGeom>
            <a:ln w="9525">
              <a:solidFill>
                <a:srgbClr val="FFC000"/>
              </a:solidFill>
            </a:ln>
          </p:spPr>
          <p:txBody>
            <a:bodyPr wrap="square" lIns="0" tIns="0" rIns="0" bIns="0" rtlCol="0"/>
            <a:lstStyle/>
            <a:p/>
          </p:txBody>
        </p:sp>
        <p:sp>
          <p:nvSpPr>
            <p:cNvPr id="31" name="object 31" descr=""/>
            <p:cNvSpPr/>
            <p:nvPr/>
          </p:nvSpPr>
          <p:spPr>
            <a:xfrm>
              <a:off x="2038484" y="3282143"/>
              <a:ext cx="999490" cy="694055"/>
            </a:xfrm>
            <a:custGeom>
              <a:avLst/>
              <a:gdLst/>
              <a:ahLst/>
              <a:cxnLst/>
              <a:rect l="l" t="t" r="r" b="b"/>
              <a:pathLst>
                <a:path w="999489" h="694054">
                  <a:moveTo>
                    <a:pt x="0" y="693762"/>
                  </a:moveTo>
                  <a:lnTo>
                    <a:pt x="56694" y="692664"/>
                  </a:lnTo>
                  <a:lnTo>
                    <a:pt x="112560" y="689409"/>
                  </a:lnTo>
                  <a:lnTo>
                    <a:pt x="167511" y="684054"/>
                  </a:lnTo>
                  <a:lnTo>
                    <a:pt x="221464" y="676659"/>
                  </a:lnTo>
                  <a:lnTo>
                    <a:pt x="274334" y="667283"/>
                  </a:lnTo>
                  <a:lnTo>
                    <a:pt x="326037" y="655983"/>
                  </a:lnTo>
                  <a:lnTo>
                    <a:pt x="376489" y="642819"/>
                  </a:lnTo>
                  <a:lnTo>
                    <a:pt x="425605" y="627849"/>
                  </a:lnTo>
                  <a:lnTo>
                    <a:pt x="473301" y="611131"/>
                  </a:lnTo>
                  <a:lnTo>
                    <a:pt x="519492" y="592725"/>
                  </a:lnTo>
                  <a:lnTo>
                    <a:pt x="564095" y="572688"/>
                  </a:lnTo>
                  <a:lnTo>
                    <a:pt x="607025" y="551079"/>
                  </a:lnTo>
                  <a:lnTo>
                    <a:pt x="648197" y="527957"/>
                  </a:lnTo>
                  <a:lnTo>
                    <a:pt x="687527" y="503381"/>
                  </a:lnTo>
                  <a:lnTo>
                    <a:pt x="724931" y="477408"/>
                  </a:lnTo>
                  <a:lnTo>
                    <a:pt x="760325" y="450098"/>
                  </a:lnTo>
                  <a:lnTo>
                    <a:pt x="793623" y="421509"/>
                  </a:lnTo>
                  <a:lnTo>
                    <a:pt x="824743" y="391700"/>
                  </a:lnTo>
                  <a:lnTo>
                    <a:pt x="853599" y="360729"/>
                  </a:lnTo>
                  <a:lnTo>
                    <a:pt x="880107" y="328654"/>
                  </a:lnTo>
                  <a:lnTo>
                    <a:pt x="904183" y="295535"/>
                  </a:lnTo>
                  <a:lnTo>
                    <a:pt x="925742" y="261430"/>
                  </a:lnTo>
                  <a:lnTo>
                    <a:pt x="944701" y="226397"/>
                  </a:lnTo>
                  <a:lnTo>
                    <a:pt x="960974" y="190495"/>
                  </a:lnTo>
                  <a:lnTo>
                    <a:pt x="974477" y="153782"/>
                  </a:lnTo>
                  <a:lnTo>
                    <a:pt x="985127" y="116318"/>
                  </a:lnTo>
                  <a:lnTo>
                    <a:pt x="992838" y="78160"/>
                  </a:lnTo>
                  <a:lnTo>
                    <a:pt x="997527" y="39368"/>
                  </a:lnTo>
                  <a:lnTo>
                    <a:pt x="999109" y="0"/>
                  </a:lnTo>
                </a:path>
              </a:pathLst>
            </a:custGeom>
            <a:ln w="9525">
              <a:solidFill>
                <a:srgbClr val="FFC000"/>
              </a:solidFill>
            </a:ln>
          </p:spPr>
          <p:txBody>
            <a:bodyPr wrap="square" lIns="0" tIns="0" rIns="0" bIns="0" rtlCol="0"/>
            <a:lstStyle/>
            <a:p/>
          </p:txBody>
        </p:sp>
        <p:pic>
          <p:nvPicPr>
            <p:cNvPr id="32" name="object 32"/>
            <p:cNvPicPr/>
            <p:nvPr/>
          </p:nvPicPr>
          <p:blipFill>
            <a:blip r:embed="rId7" cstate="print"/>
            <a:stretch>
              <a:fillRect/>
            </a:stretch>
          </p:blipFill>
          <p:spPr>
            <a:xfrm>
              <a:off x="2800238" y="2321331"/>
              <a:ext cx="187186" cy="349410"/>
            </a:xfrm>
            <a:prstGeom prst="rect">
              <a:avLst/>
            </a:prstGeom>
          </p:spPr>
        </p:pic>
        <p:pic>
          <p:nvPicPr>
            <p:cNvPr id="33" name="object 33"/>
            <p:cNvPicPr/>
            <p:nvPr/>
          </p:nvPicPr>
          <p:blipFill>
            <a:blip r:embed="rId7" cstate="print"/>
            <a:stretch>
              <a:fillRect/>
            </a:stretch>
          </p:blipFill>
          <p:spPr>
            <a:xfrm>
              <a:off x="3338017" y="2193709"/>
              <a:ext cx="187185" cy="349409"/>
            </a:xfrm>
            <a:prstGeom prst="rect">
              <a:avLst/>
            </a:prstGeom>
          </p:spPr>
        </p:pic>
        <p:pic>
          <p:nvPicPr>
            <p:cNvPr id="34" name="object 34"/>
            <p:cNvPicPr/>
            <p:nvPr/>
          </p:nvPicPr>
          <p:blipFill>
            <a:blip r:embed="rId7" cstate="print"/>
            <a:stretch>
              <a:fillRect/>
            </a:stretch>
          </p:blipFill>
          <p:spPr>
            <a:xfrm>
              <a:off x="3770064" y="2301722"/>
              <a:ext cx="187179" cy="349407"/>
            </a:xfrm>
            <a:prstGeom prst="rect">
              <a:avLst/>
            </a:prstGeom>
          </p:spPr>
        </p:pic>
        <p:sp>
          <p:nvSpPr>
            <p:cNvPr id="35" name="object 35" descr=""/>
            <p:cNvSpPr/>
            <p:nvPr/>
          </p:nvSpPr>
          <p:spPr>
            <a:xfrm>
              <a:off x="2983589" y="2625755"/>
              <a:ext cx="540385" cy="328930"/>
            </a:xfrm>
            <a:custGeom>
              <a:avLst/>
              <a:gdLst/>
              <a:ahLst/>
              <a:cxnLst/>
              <a:rect l="l" t="t" r="r" b="b"/>
              <a:pathLst>
                <a:path w="540385" h="328930">
                  <a:moveTo>
                    <a:pt x="0" y="0"/>
                  </a:moveTo>
                  <a:lnTo>
                    <a:pt x="540054" y="328396"/>
                  </a:lnTo>
                </a:path>
              </a:pathLst>
            </a:custGeom>
            <a:ln w="9525">
              <a:solidFill>
                <a:srgbClr val="FFC000"/>
              </a:solidFill>
            </a:ln>
          </p:spPr>
          <p:txBody>
            <a:bodyPr wrap="square" lIns="0" tIns="0" rIns="0" bIns="0" rtlCol="0"/>
            <a:lstStyle/>
            <a:p/>
          </p:txBody>
        </p:sp>
        <p:sp>
          <p:nvSpPr>
            <p:cNvPr id="36" name="object 36" descr=""/>
            <p:cNvSpPr/>
            <p:nvPr/>
          </p:nvSpPr>
          <p:spPr>
            <a:xfrm>
              <a:off x="3037596" y="2625755"/>
              <a:ext cx="540385" cy="328930"/>
            </a:xfrm>
            <a:custGeom>
              <a:avLst/>
              <a:gdLst/>
              <a:ahLst/>
              <a:cxnLst/>
              <a:rect l="l" t="t" r="r" b="b"/>
              <a:pathLst>
                <a:path w="540385" h="328930">
                  <a:moveTo>
                    <a:pt x="0" y="0"/>
                  </a:moveTo>
                  <a:lnTo>
                    <a:pt x="540054" y="328396"/>
                  </a:lnTo>
                </a:path>
              </a:pathLst>
            </a:custGeom>
            <a:ln w="9525">
              <a:solidFill>
                <a:srgbClr val="FFC000"/>
              </a:solidFill>
            </a:ln>
          </p:spPr>
          <p:txBody>
            <a:bodyPr wrap="square" lIns="0" tIns="0" rIns="0" bIns="0" rtlCol="0"/>
            <a:lstStyle/>
            <a:p/>
          </p:txBody>
        </p:sp>
        <p:sp>
          <p:nvSpPr>
            <p:cNvPr id="37" name="object 37" descr=""/>
            <p:cNvSpPr/>
            <p:nvPr/>
          </p:nvSpPr>
          <p:spPr>
            <a:xfrm>
              <a:off x="3430832" y="2541493"/>
              <a:ext cx="201295" cy="436880"/>
            </a:xfrm>
            <a:custGeom>
              <a:avLst/>
              <a:gdLst/>
              <a:ahLst/>
              <a:cxnLst/>
              <a:rect l="l" t="t" r="r" b="b"/>
              <a:pathLst>
                <a:path w="201295" h="436880">
                  <a:moveTo>
                    <a:pt x="0" y="0"/>
                  </a:moveTo>
                  <a:lnTo>
                    <a:pt x="200825" y="436410"/>
                  </a:lnTo>
                </a:path>
              </a:pathLst>
            </a:custGeom>
            <a:ln w="9524">
              <a:solidFill>
                <a:srgbClr val="FFC000"/>
              </a:solidFill>
            </a:ln>
          </p:spPr>
          <p:txBody>
            <a:bodyPr wrap="square" lIns="0" tIns="0" rIns="0" bIns="0" rtlCol="0"/>
            <a:lstStyle/>
            <a:p/>
          </p:txBody>
        </p:sp>
        <p:sp>
          <p:nvSpPr>
            <p:cNvPr id="38" name="object 38" descr=""/>
            <p:cNvSpPr/>
            <p:nvPr/>
          </p:nvSpPr>
          <p:spPr>
            <a:xfrm>
              <a:off x="3469643" y="2567391"/>
              <a:ext cx="201295" cy="436880"/>
            </a:xfrm>
            <a:custGeom>
              <a:avLst/>
              <a:gdLst/>
              <a:ahLst/>
              <a:cxnLst/>
              <a:rect l="l" t="t" r="r" b="b"/>
              <a:pathLst>
                <a:path w="201295" h="436880">
                  <a:moveTo>
                    <a:pt x="0" y="0"/>
                  </a:moveTo>
                  <a:lnTo>
                    <a:pt x="200825" y="436410"/>
                  </a:lnTo>
                </a:path>
              </a:pathLst>
            </a:custGeom>
            <a:ln w="9524">
              <a:solidFill>
                <a:srgbClr val="FFC000"/>
              </a:solidFill>
            </a:ln>
          </p:spPr>
          <p:txBody>
            <a:bodyPr wrap="square" lIns="0" tIns="0" rIns="0" bIns="0" rtlCol="0"/>
            <a:lstStyle/>
            <a:p/>
          </p:txBody>
        </p:sp>
        <p:sp>
          <p:nvSpPr>
            <p:cNvPr id="39" name="object 39" descr=""/>
            <p:cNvSpPr/>
            <p:nvPr/>
          </p:nvSpPr>
          <p:spPr>
            <a:xfrm>
              <a:off x="3793684" y="2649504"/>
              <a:ext cx="93345" cy="354330"/>
            </a:xfrm>
            <a:custGeom>
              <a:avLst/>
              <a:gdLst/>
              <a:ahLst/>
              <a:cxnLst/>
              <a:rect l="l" t="t" r="r" b="b"/>
              <a:pathLst>
                <a:path w="93345" h="354330">
                  <a:moveTo>
                    <a:pt x="92811" y="0"/>
                  </a:moveTo>
                  <a:lnTo>
                    <a:pt x="0" y="354291"/>
                  </a:lnTo>
                </a:path>
              </a:pathLst>
            </a:custGeom>
            <a:ln w="9525">
              <a:solidFill>
                <a:srgbClr val="FFC000"/>
              </a:solidFill>
            </a:ln>
          </p:spPr>
          <p:txBody>
            <a:bodyPr wrap="square" lIns="0" tIns="0" rIns="0" bIns="0" rtlCol="0"/>
            <a:lstStyle/>
            <a:p/>
          </p:txBody>
        </p:sp>
        <p:sp>
          <p:nvSpPr>
            <p:cNvPr id="40" name="object 40" descr=""/>
            <p:cNvSpPr/>
            <p:nvPr/>
          </p:nvSpPr>
          <p:spPr>
            <a:xfrm>
              <a:off x="3739678" y="2649504"/>
              <a:ext cx="93345" cy="354330"/>
            </a:xfrm>
            <a:custGeom>
              <a:avLst/>
              <a:gdLst/>
              <a:ahLst/>
              <a:cxnLst/>
              <a:rect l="l" t="t" r="r" b="b"/>
              <a:pathLst>
                <a:path w="93345" h="354330">
                  <a:moveTo>
                    <a:pt x="92811" y="0"/>
                  </a:moveTo>
                  <a:lnTo>
                    <a:pt x="0" y="354291"/>
                  </a:lnTo>
                </a:path>
              </a:pathLst>
            </a:custGeom>
            <a:ln w="9525">
              <a:solidFill>
                <a:srgbClr val="FFC000"/>
              </a:solidFill>
            </a:ln>
          </p:spPr>
          <p:txBody>
            <a:bodyPr wrap="square" lIns="0" tIns="0" rIns="0" bIns="0" rtlCol="0"/>
            <a:lstStyle/>
            <a:p/>
          </p:txBody>
        </p:sp>
        <p:sp>
          <p:nvSpPr>
            <p:cNvPr id="41" name="object 41" descr=""/>
            <p:cNvSpPr/>
            <p:nvPr/>
          </p:nvSpPr>
          <p:spPr>
            <a:xfrm>
              <a:off x="4186516" y="2463731"/>
              <a:ext cx="2258060" cy="324485"/>
            </a:xfrm>
            <a:custGeom>
              <a:avLst/>
              <a:gdLst/>
              <a:ahLst/>
              <a:cxnLst/>
              <a:rect l="l" t="t" r="r" b="b"/>
              <a:pathLst>
                <a:path w="2258060" h="324485">
                  <a:moveTo>
                    <a:pt x="2203678" y="0"/>
                  </a:moveTo>
                  <a:lnTo>
                    <a:pt x="54013" y="0"/>
                  </a:lnTo>
                  <a:lnTo>
                    <a:pt x="32988" y="4244"/>
                  </a:lnTo>
                  <a:lnTo>
                    <a:pt x="15819" y="15819"/>
                  </a:lnTo>
                  <a:lnTo>
                    <a:pt x="4244" y="32988"/>
                  </a:lnTo>
                  <a:lnTo>
                    <a:pt x="0" y="54013"/>
                  </a:lnTo>
                  <a:lnTo>
                    <a:pt x="0" y="270040"/>
                  </a:lnTo>
                  <a:lnTo>
                    <a:pt x="4244" y="291057"/>
                  </a:lnTo>
                  <a:lnTo>
                    <a:pt x="15819" y="308222"/>
                  </a:lnTo>
                  <a:lnTo>
                    <a:pt x="32988" y="319796"/>
                  </a:lnTo>
                  <a:lnTo>
                    <a:pt x="54013" y="324040"/>
                  </a:lnTo>
                  <a:lnTo>
                    <a:pt x="2203678" y="324040"/>
                  </a:lnTo>
                  <a:lnTo>
                    <a:pt x="2224703" y="319796"/>
                  </a:lnTo>
                  <a:lnTo>
                    <a:pt x="2241872" y="308222"/>
                  </a:lnTo>
                  <a:lnTo>
                    <a:pt x="2253447" y="291057"/>
                  </a:lnTo>
                  <a:lnTo>
                    <a:pt x="2257691" y="270040"/>
                  </a:lnTo>
                  <a:lnTo>
                    <a:pt x="2257691" y="54013"/>
                  </a:lnTo>
                  <a:lnTo>
                    <a:pt x="2253447" y="32988"/>
                  </a:lnTo>
                  <a:lnTo>
                    <a:pt x="2241872" y="15819"/>
                  </a:lnTo>
                  <a:lnTo>
                    <a:pt x="2224703" y="4244"/>
                  </a:lnTo>
                  <a:lnTo>
                    <a:pt x="2203678" y="0"/>
                  </a:lnTo>
                  <a:close/>
                </a:path>
              </a:pathLst>
            </a:custGeom>
            <a:solidFill>
              <a:srgbClr val="2D2D8A"/>
            </a:solidFill>
          </p:spPr>
          <p:txBody>
            <a:bodyPr wrap="square" lIns="0" tIns="0" rIns="0" bIns="0" rtlCol="0"/>
            <a:lstStyle/>
            <a:p/>
          </p:txBody>
        </p:sp>
      </p:grpSp>
      <p:sp>
        <p:nvSpPr>
          <p:cNvPr id="42" name="object 42" descr=""/>
          <p:cNvSpPr/>
          <p:nvPr/>
        </p:nvSpPr>
        <p:spPr>
          <a:xfrm>
            <a:off x="4186518" y="735540"/>
            <a:ext cx="1821814" cy="269240"/>
          </a:xfrm>
          <a:custGeom>
            <a:avLst/>
            <a:gdLst/>
            <a:ahLst/>
            <a:cxnLst/>
            <a:rect l="l" t="t" r="r" b="b"/>
            <a:pathLst>
              <a:path w="1821814" h="269240">
                <a:moveTo>
                  <a:pt x="1776590" y="0"/>
                </a:moveTo>
                <a:lnTo>
                  <a:pt x="44818" y="0"/>
                </a:lnTo>
                <a:lnTo>
                  <a:pt x="27373" y="3522"/>
                </a:lnTo>
                <a:lnTo>
                  <a:pt x="13127" y="13127"/>
                </a:lnTo>
                <a:lnTo>
                  <a:pt x="3522" y="27373"/>
                </a:lnTo>
                <a:lnTo>
                  <a:pt x="0" y="44818"/>
                </a:lnTo>
                <a:lnTo>
                  <a:pt x="0" y="224066"/>
                </a:lnTo>
                <a:lnTo>
                  <a:pt x="3522" y="241509"/>
                </a:lnTo>
                <a:lnTo>
                  <a:pt x="13127" y="255751"/>
                </a:lnTo>
                <a:lnTo>
                  <a:pt x="27373" y="265351"/>
                </a:lnTo>
                <a:lnTo>
                  <a:pt x="44818" y="268871"/>
                </a:lnTo>
                <a:lnTo>
                  <a:pt x="1776590" y="268871"/>
                </a:lnTo>
                <a:lnTo>
                  <a:pt x="1794035" y="265351"/>
                </a:lnTo>
                <a:lnTo>
                  <a:pt x="1808281" y="255751"/>
                </a:lnTo>
                <a:lnTo>
                  <a:pt x="1817886" y="241509"/>
                </a:lnTo>
                <a:lnTo>
                  <a:pt x="1821408" y="224066"/>
                </a:lnTo>
                <a:lnTo>
                  <a:pt x="1821408" y="44818"/>
                </a:lnTo>
                <a:lnTo>
                  <a:pt x="1817886" y="27373"/>
                </a:lnTo>
                <a:lnTo>
                  <a:pt x="1808281" y="13127"/>
                </a:lnTo>
                <a:lnTo>
                  <a:pt x="1794035" y="3522"/>
                </a:lnTo>
                <a:lnTo>
                  <a:pt x="1776590" y="0"/>
                </a:lnTo>
                <a:close/>
              </a:path>
            </a:pathLst>
          </a:custGeom>
          <a:solidFill>
            <a:srgbClr val="FFC000"/>
          </a:solidFill>
        </p:spPr>
        <p:txBody>
          <a:bodyPr wrap="square" lIns="0" tIns="0" rIns="0" bIns="0" rtlCol="0"/>
          <a:lstStyle/>
          <a:p/>
        </p:txBody>
      </p:sp>
      <p:sp>
        <p:nvSpPr>
          <p:cNvPr id="43" name="object 43" descr=""/>
          <p:cNvSpPr txBox="1"/>
          <p:nvPr/>
        </p:nvSpPr>
        <p:spPr>
          <a:xfrm>
            <a:off x="4280261" y="716311"/>
            <a:ext cx="1632585" cy="29972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FFFFFF"/>
                </a:solidFill>
                <a:latin typeface="SimSun"/>
                <a:cs typeface="SimSun"/>
              </a:rPr>
              <a:t>网管及运维方案</a:t>
            </a:r>
            <a:endParaRPr sz="1800">
              <a:latin typeface="SimSun"/>
              <a:cs typeface="SimSun"/>
            </a:endParaRPr>
          </a:p>
        </p:txBody>
      </p:sp>
      <p:sp>
        <p:nvSpPr>
          <p:cNvPr id="44" name="object 44" descr=""/>
          <p:cNvSpPr txBox="1"/>
          <p:nvPr/>
        </p:nvSpPr>
        <p:spPr>
          <a:xfrm>
            <a:off x="4186516" y="1059586"/>
            <a:ext cx="4750435" cy="1316355"/>
          </a:xfrm>
          <a:prstGeom prst="rect">
            <a:avLst/>
          </a:prstGeom>
          <a:ln w="9525">
            <a:solidFill>
              <a:srgbClr val="FF0000"/>
            </a:solidFill>
          </a:ln>
        </p:spPr>
        <p:txBody>
          <a:bodyPr wrap="square" lIns="0" tIns="74295" rIns="0" bIns="0" rtlCol="0" vert="horz">
            <a:spAutoFit/>
          </a:bodyPr>
          <a:lstStyle/>
          <a:p>
            <a:pPr marL="283210" marR="3175" indent="-214629">
              <a:lnSpc>
                <a:spcPct val="100000"/>
              </a:lnSpc>
              <a:spcBef>
                <a:spcPts val="585"/>
              </a:spcBef>
              <a:buFont typeface="Arial MT"/>
              <a:buChar char="•"/>
              <a:tabLst>
                <a:tab pos="283210" algn="l"/>
              </a:tabLst>
            </a:pPr>
            <a:r>
              <a:rPr dirty="0" sz="900" spc="-5">
                <a:latin typeface="SimSun"/>
                <a:cs typeface="SimSun"/>
              </a:rPr>
              <a:t>用户分组管理：设备运维组、运营运维组；</a:t>
            </a:r>
            <a:endParaRPr sz="900">
              <a:latin typeface="SimSun"/>
              <a:cs typeface="SimSun"/>
            </a:endParaRPr>
          </a:p>
          <a:p>
            <a:pPr marL="283210" marR="3175" indent="-214629">
              <a:lnSpc>
                <a:spcPct val="100000"/>
              </a:lnSpc>
              <a:spcBef>
                <a:spcPts val="540"/>
              </a:spcBef>
              <a:buFont typeface="Arial MT"/>
              <a:buChar char="•"/>
              <a:tabLst>
                <a:tab pos="283210" algn="l"/>
              </a:tabLst>
            </a:pPr>
            <a:r>
              <a:rPr dirty="0" sz="900">
                <a:latin typeface="SimSun"/>
                <a:cs typeface="SimSun"/>
              </a:rPr>
              <a:t>设备分级管理：基站硬件设备资源由主运营商运维，逻辑小区由主</a:t>
            </a:r>
            <a:r>
              <a:rPr dirty="0" sz="900">
                <a:latin typeface="Arial MT"/>
                <a:cs typeface="Arial MT"/>
              </a:rPr>
              <a:t>/</a:t>
            </a:r>
            <a:r>
              <a:rPr dirty="0" sz="900" spc="-10">
                <a:latin typeface="SimSun"/>
                <a:cs typeface="SimSun"/>
              </a:rPr>
              <a:t>辅运营商管理优化</a:t>
            </a:r>
            <a:endParaRPr sz="900">
              <a:latin typeface="SimSun"/>
              <a:cs typeface="SimSun"/>
            </a:endParaRPr>
          </a:p>
          <a:p>
            <a:pPr marL="283210" marR="3175">
              <a:lnSpc>
                <a:spcPct val="100000"/>
              </a:lnSpc>
              <a:spcBef>
                <a:spcPts val="540"/>
              </a:spcBef>
            </a:pPr>
            <a:r>
              <a:rPr dirty="0" sz="900">
                <a:latin typeface="SimSun"/>
                <a:cs typeface="SimSun"/>
              </a:rPr>
              <a:t>（如可以区分小区进行性能报表提取、小区配置参数管理等）</a:t>
            </a:r>
            <a:r>
              <a:rPr dirty="0" sz="900" spc="-50">
                <a:latin typeface="SimSun"/>
                <a:cs typeface="SimSun"/>
              </a:rPr>
              <a:t>。</a:t>
            </a:r>
            <a:endParaRPr sz="900">
              <a:latin typeface="SimSun"/>
              <a:cs typeface="SimSun"/>
            </a:endParaRPr>
          </a:p>
          <a:p>
            <a:pPr marL="283210" indent="-215265">
              <a:lnSpc>
                <a:spcPct val="150000"/>
              </a:lnSpc>
              <a:buFont typeface="Arial MT"/>
              <a:buChar char="•"/>
              <a:tabLst>
                <a:tab pos="283210" algn="l"/>
              </a:tabLst>
            </a:pPr>
            <a:r>
              <a:rPr dirty="0" sz="900">
                <a:latin typeface="SimSun"/>
                <a:cs typeface="SimSun"/>
              </a:rPr>
              <a:t>北向区分呈现和管理：针对不同运营商提供不同的北向数据（</a:t>
            </a:r>
            <a:r>
              <a:rPr dirty="0" sz="900" spc="-5">
                <a:latin typeface="SimSun"/>
                <a:cs typeface="SimSun"/>
              </a:rPr>
              <a:t>如逻辑小区级的性能数据、</a:t>
            </a:r>
            <a:r>
              <a:rPr dirty="0" sz="900">
                <a:latin typeface="SimSun"/>
                <a:cs typeface="SimSun"/>
              </a:rPr>
              <a:t>配置数据、告警数据），</a:t>
            </a:r>
            <a:r>
              <a:rPr dirty="0" sz="900" spc="-5">
                <a:latin typeface="SimSun"/>
                <a:cs typeface="SimSun"/>
              </a:rPr>
              <a:t>不同运营商可通过用户分区域管理的北向命令行分别配置各自</a:t>
            </a:r>
            <a:r>
              <a:rPr dirty="0" sz="900" spc="-50">
                <a:latin typeface="SimSun"/>
                <a:cs typeface="SimSun"/>
              </a:rPr>
              <a:t> </a:t>
            </a:r>
            <a:r>
              <a:rPr dirty="0" sz="900" spc="-20">
                <a:latin typeface="SimSun"/>
                <a:cs typeface="SimSun"/>
              </a:rPr>
              <a:t>参数。</a:t>
            </a:r>
            <a:endParaRPr sz="900">
              <a:latin typeface="SimSun"/>
              <a:cs typeface="SimSun"/>
            </a:endParaRPr>
          </a:p>
        </p:txBody>
      </p:sp>
      <p:graphicFrame>
        <p:nvGraphicFramePr>
          <p:cNvPr id="45" name="object 45" descr=""/>
          <p:cNvGraphicFramePr>
            <a:graphicFrameLocks noGrp="1"/>
          </p:cNvGraphicFramePr>
          <p:nvPr/>
        </p:nvGraphicFramePr>
        <p:xfrm>
          <a:off x="4705421" y="2851495"/>
          <a:ext cx="4301490" cy="1711325"/>
        </p:xfrm>
        <a:graphic>
          <a:graphicData uri="http://schemas.openxmlformats.org/drawingml/2006/table">
            <a:tbl>
              <a:tblPr firstRow="1" bandRow="1">
                <a:tableStyleId>{2D5ABB26-0587-4C30-8999-92F81FD0307C}</a:tableStyleId>
              </a:tblPr>
              <a:tblGrid>
                <a:gridCol w="539750"/>
                <a:gridCol w="1727835"/>
                <a:gridCol w="1079500"/>
                <a:gridCol w="863600"/>
              </a:tblGrid>
              <a:tr h="318770">
                <a:tc>
                  <a:txBody>
                    <a:bodyPr/>
                    <a:lstStyle/>
                    <a:p>
                      <a:pPr marL="39370" marR="31750">
                        <a:lnSpc>
                          <a:spcPct val="100000"/>
                        </a:lnSpc>
                        <a:spcBef>
                          <a:spcPts val="165"/>
                        </a:spcBef>
                      </a:pPr>
                      <a:r>
                        <a:rPr dirty="0" sz="900" spc="-15">
                          <a:solidFill>
                            <a:srgbClr val="FFFFFF"/>
                          </a:solidFill>
                          <a:latin typeface="SimSun"/>
                          <a:cs typeface="SimSun"/>
                        </a:rPr>
                        <a:t>空口资源共享方式</a:t>
                      </a:r>
                      <a:endParaRPr sz="900">
                        <a:latin typeface="SimSun"/>
                        <a:cs typeface="SimSun"/>
                      </a:endParaRPr>
                    </a:p>
                  </a:txBody>
                  <a:tcPr marL="0" marR="0" marB="0" marT="209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0000"/>
                    </a:solidFill>
                  </a:tcPr>
                </a:tc>
                <a:tc>
                  <a:txBody>
                    <a:bodyPr/>
                    <a:lstStyle/>
                    <a:p>
                      <a:pPr algn="ctr">
                        <a:lnSpc>
                          <a:spcPct val="100000"/>
                        </a:lnSpc>
                        <a:spcBef>
                          <a:spcPts val="705"/>
                        </a:spcBef>
                      </a:pPr>
                      <a:r>
                        <a:rPr dirty="0" sz="900" spc="-15">
                          <a:solidFill>
                            <a:srgbClr val="FFFFFF"/>
                          </a:solidFill>
                          <a:latin typeface="SimSun"/>
                          <a:cs typeface="SimSun"/>
                        </a:rPr>
                        <a:t>技术特点</a:t>
                      </a:r>
                      <a:endParaRPr sz="900">
                        <a:latin typeface="SimSun"/>
                        <a:cs typeface="SimSun"/>
                      </a:endParaRPr>
                    </a:p>
                  </a:txBody>
                  <a:tcPr marL="0" marR="0" marB="0" marT="895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0000"/>
                    </a:solidFill>
                  </a:tcPr>
                </a:tc>
                <a:tc>
                  <a:txBody>
                    <a:bodyPr/>
                    <a:lstStyle/>
                    <a:p>
                      <a:pPr algn="ctr">
                        <a:lnSpc>
                          <a:spcPct val="100000"/>
                        </a:lnSpc>
                        <a:spcBef>
                          <a:spcPts val="705"/>
                        </a:spcBef>
                      </a:pPr>
                      <a:r>
                        <a:rPr dirty="0" sz="900" spc="-25">
                          <a:solidFill>
                            <a:srgbClr val="FFFFFF"/>
                          </a:solidFill>
                          <a:latin typeface="SimSun"/>
                          <a:cs typeface="SimSun"/>
                        </a:rPr>
                        <a:t>优点</a:t>
                      </a:r>
                      <a:endParaRPr sz="900">
                        <a:latin typeface="SimSun"/>
                        <a:cs typeface="SimSun"/>
                      </a:endParaRPr>
                    </a:p>
                  </a:txBody>
                  <a:tcPr marL="0" marR="0" marB="0" marT="895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0000"/>
                    </a:solidFill>
                  </a:tcPr>
                </a:tc>
                <a:tc>
                  <a:txBody>
                    <a:bodyPr/>
                    <a:lstStyle/>
                    <a:p>
                      <a:pPr algn="ctr">
                        <a:lnSpc>
                          <a:spcPct val="100000"/>
                        </a:lnSpc>
                        <a:spcBef>
                          <a:spcPts val="705"/>
                        </a:spcBef>
                      </a:pPr>
                      <a:r>
                        <a:rPr dirty="0" sz="900" spc="-25">
                          <a:solidFill>
                            <a:srgbClr val="FFFFFF"/>
                          </a:solidFill>
                          <a:latin typeface="SimSun"/>
                          <a:cs typeface="SimSun"/>
                        </a:rPr>
                        <a:t>缺点</a:t>
                      </a:r>
                      <a:endParaRPr sz="900">
                        <a:latin typeface="SimSun"/>
                        <a:cs typeface="SimSun"/>
                      </a:endParaRPr>
                    </a:p>
                  </a:txBody>
                  <a:tcPr marL="0" marR="0" marB="0" marT="895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0000"/>
                    </a:solidFill>
                  </a:tcPr>
                </a:tc>
              </a:tr>
              <a:tr h="418465">
                <a:tc>
                  <a:txBody>
                    <a:bodyPr/>
                    <a:lstStyle/>
                    <a:p>
                      <a:pPr>
                        <a:lnSpc>
                          <a:spcPct val="100000"/>
                        </a:lnSpc>
                        <a:spcBef>
                          <a:spcPts val="65"/>
                        </a:spcBef>
                      </a:pPr>
                      <a:endParaRPr sz="900">
                        <a:latin typeface="Times New Roman"/>
                        <a:cs typeface="Times New Roman"/>
                      </a:endParaRPr>
                    </a:p>
                    <a:p>
                      <a:pPr marL="6985">
                        <a:lnSpc>
                          <a:spcPct val="100000"/>
                        </a:lnSpc>
                      </a:pPr>
                      <a:r>
                        <a:rPr dirty="0" sz="900" spc="-25">
                          <a:latin typeface="SimSun"/>
                          <a:cs typeface="SimSun"/>
                        </a:rPr>
                        <a:t>静态</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CCBCB"/>
                    </a:solidFill>
                  </a:tcPr>
                </a:tc>
                <a:tc>
                  <a:txBody>
                    <a:bodyPr/>
                    <a:lstStyle/>
                    <a:p>
                      <a:pPr marL="6985" marR="113030">
                        <a:lnSpc>
                          <a:spcPct val="100000"/>
                        </a:lnSpc>
                      </a:pPr>
                      <a:r>
                        <a:rPr dirty="0" sz="900" spc="-5">
                          <a:latin typeface="SimSun"/>
                          <a:cs typeface="SimSun"/>
                        </a:rPr>
                        <a:t>预先配置好不同运营商的空口资源比例，基站通过不同用户的</a:t>
                      </a:r>
                      <a:r>
                        <a:rPr dirty="0" sz="900" spc="-50">
                          <a:latin typeface="SimSun"/>
                          <a:cs typeface="SimSun"/>
                        </a:rPr>
                        <a:t> </a:t>
                      </a:r>
                      <a:r>
                        <a:rPr dirty="0" sz="900" spc="-10">
                          <a:latin typeface="Arial MT"/>
                          <a:cs typeface="Arial MT"/>
                        </a:rPr>
                        <a:t>PLMN</a:t>
                      </a:r>
                      <a:r>
                        <a:rPr dirty="0" sz="900" spc="-20">
                          <a:latin typeface="SimSun"/>
                          <a:cs typeface="SimSun"/>
                        </a:rPr>
                        <a:t>来调度</a:t>
                      </a:r>
                      <a:endParaRPr sz="9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CCBCB"/>
                    </a:solidFill>
                  </a:tcPr>
                </a:tc>
                <a:tc>
                  <a:txBody>
                    <a:bodyPr/>
                    <a:lstStyle/>
                    <a:p>
                      <a:pPr marL="6985" marR="36195">
                        <a:lnSpc>
                          <a:spcPct val="100000"/>
                        </a:lnSpc>
                        <a:spcBef>
                          <a:spcPts val="20"/>
                        </a:spcBef>
                      </a:pPr>
                      <a:r>
                        <a:rPr dirty="0" sz="900" spc="-10">
                          <a:latin typeface="SimSun"/>
                          <a:cs typeface="SimSun"/>
                        </a:rPr>
                        <a:t>不同运营商可以设置不同的底层参数</a:t>
                      </a:r>
                      <a:endParaRPr sz="900">
                        <a:latin typeface="SimSun"/>
                        <a:cs typeface="SimSun"/>
                      </a:endParaRPr>
                    </a:p>
                    <a:p>
                      <a:pPr marL="6985">
                        <a:lnSpc>
                          <a:spcPts val="1015"/>
                        </a:lnSpc>
                      </a:pPr>
                      <a:r>
                        <a:rPr dirty="0" sz="900" spc="-10">
                          <a:latin typeface="SimSun"/>
                          <a:cs typeface="SimSun"/>
                        </a:rPr>
                        <a:t>问题定位简单</a:t>
                      </a:r>
                      <a:endParaRPr sz="900">
                        <a:latin typeface="SimSun"/>
                        <a:cs typeface="SimSun"/>
                      </a:endParaRPr>
                    </a:p>
                  </a:txBody>
                  <a:tcPr marL="0" marR="0" marB="0" marT="25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CCBCB"/>
                    </a:solidFill>
                  </a:tcPr>
                </a:tc>
                <a:tc>
                  <a:txBody>
                    <a:bodyPr/>
                    <a:lstStyle/>
                    <a:p>
                      <a:pPr marL="6985" marR="48895">
                        <a:lnSpc>
                          <a:spcPct val="100000"/>
                        </a:lnSpc>
                        <a:spcBef>
                          <a:spcPts val="560"/>
                        </a:spcBef>
                      </a:pPr>
                      <a:r>
                        <a:rPr dirty="0" sz="900" spc="-10">
                          <a:latin typeface="SimSun"/>
                          <a:cs typeface="SimSun"/>
                        </a:rPr>
                        <a:t>空口资源利用率</a:t>
                      </a:r>
                      <a:r>
                        <a:rPr dirty="0" sz="900" spc="-25">
                          <a:latin typeface="SimSun"/>
                          <a:cs typeface="SimSun"/>
                        </a:rPr>
                        <a:t>不高</a:t>
                      </a:r>
                      <a:endParaRPr sz="900">
                        <a:latin typeface="SimSun"/>
                        <a:cs typeface="SimSun"/>
                      </a:endParaRPr>
                    </a:p>
                  </a:txBody>
                  <a:tcPr marL="0" marR="0" marB="0" marT="711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CCBCB"/>
                    </a:solidFill>
                  </a:tcPr>
                </a:tc>
              </a:tr>
              <a:tr h="418465">
                <a:tc>
                  <a:txBody>
                    <a:bodyPr/>
                    <a:lstStyle/>
                    <a:p>
                      <a:pPr>
                        <a:lnSpc>
                          <a:spcPct val="100000"/>
                        </a:lnSpc>
                        <a:spcBef>
                          <a:spcPts val="65"/>
                        </a:spcBef>
                      </a:pPr>
                      <a:endParaRPr sz="900">
                        <a:latin typeface="Times New Roman"/>
                        <a:cs typeface="Times New Roman"/>
                      </a:endParaRPr>
                    </a:p>
                    <a:p>
                      <a:pPr marL="6985">
                        <a:lnSpc>
                          <a:spcPct val="100000"/>
                        </a:lnSpc>
                      </a:pPr>
                      <a:r>
                        <a:rPr dirty="0" sz="900" spc="-20">
                          <a:latin typeface="SimSun"/>
                          <a:cs typeface="SimSun"/>
                        </a:rPr>
                        <a:t>半静态</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3F9FA"/>
                    </a:solidFill>
                  </a:tcPr>
                </a:tc>
                <a:tc>
                  <a:txBody>
                    <a:bodyPr/>
                    <a:lstStyle/>
                    <a:p>
                      <a:pPr algn="just" marL="6985" marR="113030">
                        <a:lnSpc>
                          <a:spcPct val="100000"/>
                        </a:lnSpc>
                      </a:pPr>
                      <a:r>
                        <a:rPr dirty="0" sz="900" spc="-5">
                          <a:latin typeface="SimSun"/>
                          <a:cs typeface="SimSun"/>
                        </a:rPr>
                        <a:t>根据一段时间不同运营商空口资源占用情况，半静态调整这个比</a:t>
                      </a:r>
                      <a:r>
                        <a:rPr dirty="0" sz="900" spc="-50">
                          <a:latin typeface="SimSun"/>
                          <a:cs typeface="SimSun"/>
                        </a:rPr>
                        <a:t>例</a:t>
                      </a:r>
                      <a:endParaRPr sz="9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3F9FA"/>
                    </a:solidFill>
                  </a:tcPr>
                </a:tc>
                <a:tc>
                  <a:txBody>
                    <a:bodyPr/>
                    <a:lstStyle/>
                    <a:p>
                      <a:pPr marL="6985" marR="36195">
                        <a:lnSpc>
                          <a:spcPct val="100000"/>
                        </a:lnSpc>
                        <a:spcBef>
                          <a:spcPts val="20"/>
                        </a:spcBef>
                      </a:pPr>
                      <a:r>
                        <a:rPr dirty="0" sz="900" spc="-10">
                          <a:latin typeface="SimSun"/>
                          <a:cs typeface="SimSun"/>
                        </a:rPr>
                        <a:t>不同运营商可以设置不同的底层参数</a:t>
                      </a:r>
                      <a:endParaRPr sz="900">
                        <a:latin typeface="SimSun"/>
                        <a:cs typeface="SimSun"/>
                      </a:endParaRPr>
                    </a:p>
                    <a:p>
                      <a:pPr marL="6985">
                        <a:lnSpc>
                          <a:spcPts val="1015"/>
                        </a:lnSpc>
                      </a:pPr>
                      <a:r>
                        <a:rPr dirty="0" sz="900" spc="-10">
                          <a:latin typeface="SimSun"/>
                          <a:cs typeface="SimSun"/>
                        </a:rPr>
                        <a:t>问题定位简单</a:t>
                      </a:r>
                      <a:endParaRPr sz="900">
                        <a:latin typeface="SimSun"/>
                        <a:cs typeface="SimSun"/>
                      </a:endParaRPr>
                    </a:p>
                  </a:txBody>
                  <a:tcPr marL="0" marR="0" marB="0" marT="25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3F9FA"/>
                    </a:solidFill>
                  </a:tcPr>
                </a:tc>
                <a:tc>
                  <a:txBody>
                    <a:bodyPr/>
                    <a:lstStyle/>
                    <a:p>
                      <a:pPr>
                        <a:lnSpc>
                          <a:spcPct val="100000"/>
                        </a:lnSpc>
                        <a:spcBef>
                          <a:spcPts val="65"/>
                        </a:spcBef>
                      </a:pPr>
                      <a:endParaRPr sz="900">
                        <a:latin typeface="Times New Roman"/>
                        <a:cs typeface="Times New Roman"/>
                      </a:endParaRPr>
                    </a:p>
                    <a:p>
                      <a:pPr marL="6985">
                        <a:lnSpc>
                          <a:spcPct val="100000"/>
                        </a:lnSpc>
                      </a:pPr>
                      <a:r>
                        <a:rPr dirty="0" sz="900" spc="-15">
                          <a:latin typeface="SimSun"/>
                          <a:cs typeface="SimSun"/>
                        </a:rPr>
                        <a:t>运维复杂</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3F9FA"/>
                    </a:solidFill>
                  </a:tcPr>
                </a:tc>
              </a:tr>
              <a:tr h="555625">
                <a:tc>
                  <a:txBody>
                    <a:bodyPr/>
                    <a:lstStyle/>
                    <a:p>
                      <a:pPr>
                        <a:lnSpc>
                          <a:spcPct val="100000"/>
                        </a:lnSpc>
                        <a:spcBef>
                          <a:spcPts val="605"/>
                        </a:spcBef>
                      </a:pPr>
                      <a:endParaRPr sz="900">
                        <a:latin typeface="Times New Roman"/>
                        <a:cs typeface="Times New Roman"/>
                      </a:endParaRPr>
                    </a:p>
                    <a:p>
                      <a:pPr marL="6985">
                        <a:lnSpc>
                          <a:spcPct val="100000"/>
                        </a:lnSpc>
                      </a:pPr>
                      <a:r>
                        <a:rPr dirty="0" sz="900" spc="-25">
                          <a:latin typeface="SimSun"/>
                          <a:cs typeface="SimSun"/>
                        </a:rPr>
                        <a:t>动态</a:t>
                      </a:r>
                      <a:endParaRPr sz="900">
                        <a:latin typeface="SimSun"/>
                        <a:cs typeface="SimSun"/>
                      </a:endParaRPr>
                    </a:p>
                  </a:txBody>
                  <a:tcPr marL="0" marR="0" marB="0" marT="768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CCBCB"/>
                    </a:solidFill>
                  </a:tcPr>
                </a:tc>
                <a:tc>
                  <a:txBody>
                    <a:bodyPr/>
                    <a:lstStyle/>
                    <a:p>
                      <a:pPr marL="6985" marR="24765">
                        <a:lnSpc>
                          <a:spcPct val="100000"/>
                        </a:lnSpc>
                      </a:pPr>
                      <a:r>
                        <a:rPr dirty="0" sz="900">
                          <a:latin typeface="SimSun"/>
                          <a:cs typeface="SimSun"/>
                        </a:rPr>
                        <a:t>不同</a:t>
                      </a:r>
                      <a:r>
                        <a:rPr dirty="0" sz="900" spc="-10">
                          <a:latin typeface="Arial MT"/>
                          <a:cs typeface="Arial MT"/>
                        </a:rPr>
                        <a:t>PLMN</a:t>
                      </a:r>
                      <a:r>
                        <a:rPr dirty="0" sz="900" spc="-5">
                          <a:latin typeface="SimSun"/>
                          <a:cs typeface="SimSun"/>
                        </a:rPr>
                        <a:t>的用户混合调度，基站按照统一标准或不同运营商不同权值的方式对来自不同运营商的用户混合排队，依次调度。</a:t>
                      </a:r>
                      <a:endParaRPr sz="9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CCBCB"/>
                    </a:solidFill>
                  </a:tcPr>
                </a:tc>
                <a:tc>
                  <a:txBody>
                    <a:bodyPr/>
                    <a:lstStyle/>
                    <a:p>
                      <a:pPr>
                        <a:lnSpc>
                          <a:spcPct val="100000"/>
                        </a:lnSpc>
                        <a:spcBef>
                          <a:spcPts val="65"/>
                        </a:spcBef>
                      </a:pPr>
                      <a:endParaRPr sz="900">
                        <a:latin typeface="Times New Roman"/>
                        <a:cs typeface="Times New Roman"/>
                      </a:endParaRPr>
                    </a:p>
                    <a:p>
                      <a:pPr marL="6985" marR="150495">
                        <a:lnSpc>
                          <a:spcPct val="100000"/>
                        </a:lnSpc>
                      </a:pPr>
                      <a:r>
                        <a:rPr dirty="0" sz="900" spc="-10">
                          <a:latin typeface="SimSun"/>
                          <a:cs typeface="SimSun"/>
                        </a:rPr>
                        <a:t>空口资源利用率高</a:t>
                      </a:r>
                      <a:r>
                        <a:rPr dirty="0" sz="900" spc="-15">
                          <a:latin typeface="SimSun"/>
                          <a:cs typeface="SimSun"/>
                        </a:rPr>
                        <a:t>运维简单</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CCBCB"/>
                    </a:solidFill>
                  </a:tcPr>
                </a:tc>
                <a:tc>
                  <a:txBody>
                    <a:bodyPr/>
                    <a:lstStyle/>
                    <a:p>
                      <a:pPr algn="just" marL="6985" marR="48895">
                        <a:lnSpc>
                          <a:spcPct val="100000"/>
                        </a:lnSpc>
                        <a:spcBef>
                          <a:spcPts val="20"/>
                        </a:spcBef>
                      </a:pPr>
                      <a:r>
                        <a:rPr dirty="0" sz="900" spc="-10">
                          <a:latin typeface="SimSun"/>
                          <a:cs typeface="SimSun"/>
                        </a:rPr>
                        <a:t>不同运营商需要设置相同的底层</a:t>
                      </a:r>
                      <a:r>
                        <a:rPr dirty="0" sz="900" spc="-25">
                          <a:latin typeface="SimSun"/>
                          <a:cs typeface="SimSun"/>
                        </a:rPr>
                        <a:t>参数</a:t>
                      </a:r>
                      <a:endParaRPr sz="900">
                        <a:latin typeface="SimSun"/>
                        <a:cs typeface="SimSun"/>
                      </a:endParaRPr>
                    </a:p>
                    <a:p>
                      <a:pPr marL="6985">
                        <a:lnSpc>
                          <a:spcPts val="1015"/>
                        </a:lnSpc>
                      </a:pPr>
                      <a:r>
                        <a:rPr dirty="0" sz="900" spc="-10">
                          <a:latin typeface="SimSun"/>
                          <a:cs typeface="SimSun"/>
                        </a:rPr>
                        <a:t>问题定位复杂</a:t>
                      </a:r>
                      <a:endParaRPr sz="900">
                        <a:latin typeface="SimSun"/>
                        <a:cs typeface="SimSun"/>
                      </a:endParaRPr>
                    </a:p>
                  </a:txBody>
                  <a:tcPr marL="0" marR="0" marB="0" marT="25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CCBCB"/>
                    </a:solidFill>
                  </a:tcPr>
                </a:tc>
              </a:tr>
            </a:tbl>
          </a:graphicData>
        </a:graphic>
      </p:graphicFrame>
      <p:grpSp>
        <p:nvGrpSpPr>
          <p:cNvPr id="46" name="object 46" descr=""/>
          <p:cNvGrpSpPr/>
          <p:nvPr/>
        </p:nvGrpSpPr>
        <p:grpSpPr>
          <a:xfrm>
            <a:off x="-12700" y="4752479"/>
            <a:ext cx="9169400" cy="403860"/>
            <a:chOff x="-12700" y="4752479"/>
            <a:chExt cx="9169400" cy="403860"/>
          </a:xfrm>
        </p:grpSpPr>
        <p:sp>
          <p:nvSpPr>
            <p:cNvPr id="47" name="object 47" descr=""/>
            <p:cNvSpPr/>
            <p:nvPr/>
          </p:nvSpPr>
          <p:spPr>
            <a:xfrm>
              <a:off x="0" y="4765179"/>
              <a:ext cx="9144000" cy="378460"/>
            </a:xfrm>
            <a:custGeom>
              <a:avLst/>
              <a:gdLst/>
              <a:ahLst/>
              <a:cxnLst/>
              <a:rect l="l" t="t" r="r" b="b"/>
              <a:pathLst>
                <a:path w="9144000" h="378460">
                  <a:moveTo>
                    <a:pt x="9144000" y="0"/>
                  </a:moveTo>
                  <a:lnTo>
                    <a:pt x="0" y="0"/>
                  </a:lnTo>
                  <a:lnTo>
                    <a:pt x="0" y="378320"/>
                  </a:lnTo>
                  <a:lnTo>
                    <a:pt x="9144000" y="378320"/>
                  </a:lnTo>
                  <a:lnTo>
                    <a:pt x="9144000" y="0"/>
                  </a:lnTo>
                  <a:close/>
                </a:path>
              </a:pathLst>
            </a:custGeom>
            <a:solidFill>
              <a:srgbClr val="C00000"/>
            </a:solidFill>
          </p:spPr>
          <p:txBody>
            <a:bodyPr wrap="square" lIns="0" tIns="0" rIns="0" bIns="0" rtlCol="0"/>
            <a:lstStyle/>
            <a:p/>
          </p:txBody>
        </p:sp>
        <p:sp>
          <p:nvSpPr>
            <p:cNvPr id="48" name="object 48" descr=""/>
            <p:cNvSpPr/>
            <p:nvPr/>
          </p:nvSpPr>
          <p:spPr>
            <a:xfrm>
              <a:off x="0" y="4765179"/>
              <a:ext cx="9144000" cy="378460"/>
            </a:xfrm>
            <a:custGeom>
              <a:avLst/>
              <a:gdLst/>
              <a:ahLst/>
              <a:cxnLst/>
              <a:rect l="l" t="t" r="r" b="b"/>
              <a:pathLst>
                <a:path w="9144000" h="378460">
                  <a:moveTo>
                    <a:pt x="0" y="378320"/>
                  </a:moveTo>
                  <a:lnTo>
                    <a:pt x="0" y="0"/>
                  </a:lnTo>
                  <a:lnTo>
                    <a:pt x="9144000" y="0"/>
                  </a:lnTo>
                  <a:lnTo>
                    <a:pt x="9144000" y="378320"/>
                  </a:lnTo>
                </a:path>
              </a:pathLst>
            </a:custGeom>
            <a:ln w="25400">
              <a:solidFill>
                <a:srgbClr val="333399"/>
              </a:solidFill>
            </a:ln>
          </p:spPr>
          <p:txBody>
            <a:bodyPr wrap="square" lIns="0" tIns="0" rIns="0" bIns="0" rtlCol="0"/>
            <a:lstStyle/>
            <a:p/>
          </p:txBody>
        </p:sp>
      </p:grpSp>
      <p:sp>
        <p:nvSpPr>
          <p:cNvPr id="49" name="object 49" descr=""/>
          <p:cNvSpPr txBox="1"/>
          <p:nvPr/>
        </p:nvSpPr>
        <p:spPr>
          <a:xfrm>
            <a:off x="403701" y="4840870"/>
            <a:ext cx="8336280" cy="299720"/>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FFFFFF"/>
                </a:solidFill>
                <a:latin typeface="Microsoft YaHei"/>
                <a:cs typeface="Microsoft YaHei"/>
              </a:rPr>
              <a:t>建议采用</a:t>
            </a:r>
            <a:r>
              <a:rPr dirty="0" sz="1800" spc="-20" b="1">
                <a:solidFill>
                  <a:srgbClr val="FFFFFF"/>
                </a:solidFill>
                <a:latin typeface="Microsoft YaHei"/>
                <a:cs typeface="Microsoft YaHei"/>
              </a:rPr>
              <a:t>SA</a:t>
            </a:r>
            <a:r>
              <a:rPr dirty="0" sz="1800" spc="-5" b="1">
                <a:solidFill>
                  <a:srgbClr val="FFFFFF"/>
                </a:solidFill>
                <a:latin typeface="Microsoft YaHei"/>
                <a:cs typeface="Microsoft YaHei"/>
              </a:rPr>
              <a:t>网络架构，只共享基站设备，空口资源采用静态方式开展网络共建共享</a:t>
            </a:r>
            <a:endParaRPr sz="1800">
              <a:latin typeface="Microsoft YaHei"/>
              <a:cs typeface="Microsoft YaHei"/>
            </a:endParaRPr>
          </a:p>
        </p:txBody>
      </p:sp>
      <p:sp>
        <p:nvSpPr>
          <p:cNvPr id="50" name="object 50" descr=""/>
          <p:cNvSpPr txBox="1"/>
          <p:nvPr/>
        </p:nvSpPr>
        <p:spPr>
          <a:xfrm>
            <a:off x="231157" y="4185327"/>
            <a:ext cx="2783205" cy="436880"/>
          </a:xfrm>
          <a:prstGeom prst="rect">
            <a:avLst/>
          </a:prstGeom>
        </p:spPr>
        <p:txBody>
          <a:bodyPr wrap="square" lIns="0" tIns="81280" rIns="0" bIns="0" rtlCol="0" vert="horz">
            <a:spAutoFit/>
          </a:bodyPr>
          <a:lstStyle/>
          <a:p>
            <a:pPr marL="140970" indent="-128270">
              <a:lnSpc>
                <a:spcPct val="100000"/>
              </a:lnSpc>
              <a:spcBef>
                <a:spcPts val="640"/>
              </a:spcBef>
              <a:buFont typeface="Arial MT"/>
              <a:buChar char="•"/>
              <a:tabLst>
                <a:tab pos="140970" algn="l"/>
              </a:tabLst>
            </a:pPr>
            <a:r>
              <a:rPr dirty="0" sz="900" spc="-5">
                <a:latin typeface="SimSun"/>
                <a:cs typeface="SimSun"/>
              </a:rPr>
              <a:t>基站为每个运营商单独提供物理回传光纤</a:t>
            </a:r>
            <a:endParaRPr sz="900">
              <a:latin typeface="SimSun"/>
              <a:cs typeface="SimSun"/>
            </a:endParaRPr>
          </a:p>
          <a:p>
            <a:pPr marL="140970" indent="-128270">
              <a:lnSpc>
                <a:spcPct val="100000"/>
              </a:lnSpc>
              <a:spcBef>
                <a:spcPts val="540"/>
              </a:spcBef>
              <a:buFont typeface="Arial MT"/>
              <a:buChar char="•"/>
              <a:tabLst>
                <a:tab pos="140970" algn="l"/>
              </a:tabLst>
            </a:pPr>
            <a:r>
              <a:rPr dirty="0" sz="900" spc="-5">
                <a:latin typeface="SimSun"/>
                <a:cs typeface="SimSun"/>
              </a:rPr>
              <a:t>基站每对回传光纤上承载信令、业务和操作维护数据</a:t>
            </a:r>
            <a:endParaRPr sz="900">
              <a:latin typeface="SimSun"/>
              <a:cs typeface="SimSun"/>
            </a:endParaRPr>
          </a:p>
        </p:txBody>
      </p:sp>
      <p:sp>
        <p:nvSpPr>
          <p:cNvPr id="51" name="object 51" descr=""/>
          <p:cNvSpPr txBox="1"/>
          <p:nvPr/>
        </p:nvSpPr>
        <p:spPr>
          <a:xfrm>
            <a:off x="4383690" y="2472085"/>
            <a:ext cx="1862455" cy="29972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FFFFFF"/>
                </a:solidFill>
                <a:latin typeface="SimSun"/>
                <a:cs typeface="SimSun"/>
              </a:rPr>
              <a:t>空口资源共享对比</a:t>
            </a:r>
            <a:endParaRPr sz="1800">
              <a:latin typeface="SimSun"/>
              <a:cs typeface="SimSu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734209" y="4016217"/>
            <a:ext cx="2920365" cy="751840"/>
            <a:chOff x="2734209" y="4016217"/>
            <a:chExt cx="2920365" cy="751840"/>
          </a:xfrm>
        </p:grpSpPr>
        <p:pic>
          <p:nvPicPr>
            <p:cNvPr id="3" name="object 3"/>
            <p:cNvPicPr/>
            <p:nvPr/>
          </p:nvPicPr>
          <p:blipFill>
            <a:blip r:embed="rId2" cstate="print"/>
            <a:stretch>
              <a:fillRect/>
            </a:stretch>
          </p:blipFill>
          <p:spPr>
            <a:xfrm>
              <a:off x="2759201" y="4040886"/>
              <a:ext cx="2894837" cy="726947"/>
            </a:xfrm>
            <a:prstGeom prst="rect">
              <a:avLst/>
            </a:prstGeom>
          </p:spPr>
        </p:pic>
        <p:sp>
          <p:nvSpPr>
            <p:cNvPr id="4" name="object 4" descr=""/>
            <p:cNvSpPr/>
            <p:nvPr/>
          </p:nvSpPr>
          <p:spPr>
            <a:xfrm>
              <a:off x="2735797" y="4017805"/>
              <a:ext cx="2890520" cy="722630"/>
            </a:xfrm>
            <a:custGeom>
              <a:avLst/>
              <a:gdLst/>
              <a:ahLst/>
              <a:cxnLst/>
              <a:rect l="l" t="t" r="r" b="b"/>
              <a:pathLst>
                <a:path w="2890520" h="722629">
                  <a:moveTo>
                    <a:pt x="2856115" y="0"/>
                  </a:moveTo>
                  <a:lnTo>
                    <a:pt x="34099" y="0"/>
                  </a:lnTo>
                  <a:lnTo>
                    <a:pt x="20825" y="2679"/>
                  </a:lnTo>
                  <a:lnTo>
                    <a:pt x="9986" y="9986"/>
                  </a:lnTo>
                  <a:lnTo>
                    <a:pt x="2679" y="20825"/>
                  </a:lnTo>
                  <a:lnTo>
                    <a:pt x="0" y="34099"/>
                  </a:lnTo>
                  <a:lnTo>
                    <a:pt x="0" y="688111"/>
                  </a:lnTo>
                  <a:lnTo>
                    <a:pt x="2679" y="701385"/>
                  </a:lnTo>
                  <a:lnTo>
                    <a:pt x="9986" y="712223"/>
                  </a:lnTo>
                  <a:lnTo>
                    <a:pt x="20825" y="719531"/>
                  </a:lnTo>
                  <a:lnTo>
                    <a:pt x="34099" y="722210"/>
                  </a:lnTo>
                  <a:lnTo>
                    <a:pt x="2856115" y="722210"/>
                  </a:lnTo>
                  <a:lnTo>
                    <a:pt x="2869391" y="719531"/>
                  </a:lnTo>
                  <a:lnTo>
                    <a:pt x="2880234" y="712223"/>
                  </a:lnTo>
                  <a:lnTo>
                    <a:pt x="2887546" y="701385"/>
                  </a:lnTo>
                  <a:lnTo>
                    <a:pt x="2890227" y="688111"/>
                  </a:lnTo>
                  <a:lnTo>
                    <a:pt x="2890227" y="34099"/>
                  </a:lnTo>
                  <a:lnTo>
                    <a:pt x="2887546" y="20825"/>
                  </a:lnTo>
                  <a:lnTo>
                    <a:pt x="2880234" y="9986"/>
                  </a:lnTo>
                  <a:lnTo>
                    <a:pt x="2869391" y="2679"/>
                  </a:lnTo>
                  <a:lnTo>
                    <a:pt x="2856115" y="0"/>
                  </a:lnTo>
                  <a:close/>
                </a:path>
              </a:pathLst>
            </a:custGeom>
            <a:solidFill>
              <a:srgbClr val="FFFFFF"/>
            </a:solidFill>
          </p:spPr>
          <p:txBody>
            <a:bodyPr wrap="square" lIns="0" tIns="0" rIns="0" bIns="0" rtlCol="0"/>
            <a:lstStyle/>
            <a:p/>
          </p:txBody>
        </p:sp>
        <p:sp>
          <p:nvSpPr>
            <p:cNvPr id="5" name="object 5" descr=""/>
            <p:cNvSpPr/>
            <p:nvPr/>
          </p:nvSpPr>
          <p:spPr>
            <a:xfrm>
              <a:off x="2735797" y="4017805"/>
              <a:ext cx="2890520" cy="722630"/>
            </a:xfrm>
            <a:custGeom>
              <a:avLst/>
              <a:gdLst/>
              <a:ahLst/>
              <a:cxnLst/>
              <a:rect l="l" t="t" r="r" b="b"/>
              <a:pathLst>
                <a:path w="2890520" h="722629">
                  <a:moveTo>
                    <a:pt x="0" y="34099"/>
                  </a:moveTo>
                  <a:lnTo>
                    <a:pt x="2679" y="20825"/>
                  </a:lnTo>
                  <a:lnTo>
                    <a:pt x="9986" y="9986"/>
                  </a:lnTo>
                  <a:lnTo>
                    <a:pt x="20825" y="2679"/>
                  </a:lnTo>
                  <a:lnTo>
                    <a:pt x="34099" y="0"/>
                  </a:lnTo>
                  <a:lnTo>
                    <a:pt x="2856115" y="0"/>
                  </a:lnTo>
                  <a:lnTo>
                    <a:pt x="2869391" y="2679"/>
                  </a:lnTo>
                  <a:lnTo>
                    <a:pt x="2880234" y="9986"/>
                  </a:lnTo>
                  <a:lnTo>
                    <a:pt x="2887546" y="20825"/>
                  </a:lnTo>
                  <a:lnTo>
                    <a:pt x="2890227" y="34099"/>
                  </a:lnTo>
                  <a:lnTo>
                    <a:pt x="2890227" y="688111"/>
                  </a:lnTo>
                  <a:lnTo>
                    <a:pt x="2887546" y="701385"/>
                  </a:lnTo>
                  <a:lnTo>
                    <a:pt x="2880234" y="712223"/>
                  </a:lnTo>
                  <a:lnTo>
                    <a:pt x="2869391" y="719531"/>
                  </a:lnTo>
                  <a:lnTo>
                    <a:pt x="2856115" y="722210"/>
                  </a:lnTo>
                  <a:lnTo>
                    <a:pt x="34099" y="722210"/>
                  </a:lnTo>
                  <a:lnTo>
                    <a:pt x="20825" y="719531"/>
                  </a:lnTo>
                  <a:lnTo>
                    <a:pt x="9986" y="712223"/>
                  </a:lnTo>
                  <a:lnTo>
                    <a:pt x="2679" y="701385"/>
                  </a:lnTo>
                  <a:lnTo>
                    <a:pt x="0" y="688111"/>
                  </a:lnTo>
                  <a:lnTo>
                    <a:pt x="0" y="34099"/>
                  </a:lnTo>
                  <a:close/>
                </a:path>
              </a:pathLst>
            </a:custGeom>
            <a:ln w="3175">
              <a:solidFill>
                <a:srgbClr val="BBE0E3"/>
              </a:solidFill>
            </a:ln>
          </p:spPr>
          <p:txBody>
            <a:bodyPr wrap="square" lIns="0" tIns="0" rIns="0" bIns="0" rtlCol="0"/>
            <a:lstStyle/>
            <a:p/>
          </p:txBody>
        </p:sp>
      </p:grpSp>
      <p:grpSp>
        <p:nvGrpSpPr>
          <p:cNvPr id="6" name="object 6" descr=""/>
          <p:cNvGrpSpPr/>
          <p:nvPr/>
        </p:nvGrpSpPr>
        <p:grpSpPr>
          <a:xfrm>
            <a:off x="5715761" y="3144773"/>
            <a:ext cx="3385185" cy="946785"/>
            <a:chOff x="5715761" y="3144773"/>
            <a:chExt cx="3385185" cy="946785"/>
          </a:xfrm>
        </p:grpSpPr>
        <p:pic>
          <p:nvPicPr>
            <p:cNvPr id="7" name="object 7"/>
            <p:cNvPicPr/>
            <p:nvPr/>
          </p:nvPicPr>
          <p:blipFill>
            <a:blip r:embed="rId3" cstate="print"/>
            <a:stretch>
              <a:fillRect/>
            </a:stretch>
          </p:blipFill>
          <p:spPr>
            <a:xfrm>
              <a:off x="5715761" y="3144773"/>
              <a:ext cx="3384802" cy="946403"/>
            </a:xfrm>
            <a:prstGeom prst="rect">
              <a:avLst/>
            </a:prstGeom>
          </p:spPr>
        </p:pic>
        <p:sp>
          <p:nvSpPr>
            <p:cNvPr id="8" name="object 8" descr=""/>
            <p:cNvSpPr/>
            <p:nvPr/>
          </p:nvSpPr>
          <p:spPr>
            <a:xfrm>
              <a:off x="5976156" y="3404562"/>
              <a:ext cx="2864485" cy="427355"/>
            </a:xfrm>
            <a:custGeom>
              <a:avLst/>
              <a:gdLst/>
              <a:ahLst/>
              <a:cxnLst/>
              <a:rect l="l" t="t" r="r" b="b"/>
              <a:pathLst>
                <a:path w="2864484" h="427354">
                  <a:moveTo>
                    <a:pt x="2864383" y="0"/>
                  </a:moveTo>
                  <a:lnTo>
                    <a:pt x="0" y="0"/>
                  </a:lnTo>
                  <a:lnTo>
                    <a:pt x="0" y="426821"/>
                  </a:lnTo>
                  <a:lnTo>
                    <a:pt x="2864383" y="426821"/>
                  </a:lnTo>
                  <a:lnTo>
                    <a:pt x="2864383" y="0"/>
                  </a:lnTo>
                  <a:close/>
                </a:path>
              </a:pathLst>
            </a:custGeom>
            <a:solidFill>
              <a:srgbClr val="FFFFFF"/>
            </a:solidFill>
          </p:spPr>
          <p:txBody>
            <a:bodyPr wrap="square" lIns="0" tIns="0" rIns="0" bIns="0" rtlCol="0"/>
            <a:lstStyle/>
            <a:p/>
          </p:txBody>
        </p:sp>
        <p:sp>
          <p:nvSpPr>
            <p:cNvPr id="9" name="object 9" descr=""/>
            <p:cNvSpPr/>
            <p:nvPr/>
          </p:nvSpPr>
          <p:spPr>
            <a:xfrm>
              <a:off x="5976156" y="3404562"/>
              <a:ext cx="2864485" cy="427355"/>
            </a:xfrm>
            <a:custGeom>
              <a:avLst/>
              <a:gdLst/>
              <a:ahLst/>
              <a:cxnLst/>
              <a:rect l="l" t="t" r="r" b="b"/>
              <a:pathLst>
                <a:path w="2864484" h="427354">
                  <a:moveTo>
                    <a:pt x="0" y="0"/>
                  </a:moveTo>
                  <a:lnTo>
                    <a:pt x="2864383" y="0"/>
                  </a:lnTo>
                  <a:lnTo>
                    <a:pt x="2864383" y="426821"/>
                  </a:lnTo>
                  <a:lnTo>
                    <a:pt x="0" y="426821"/>
                  </a:lnTo>
                  <a:lnTo>
                    <a:pt x="0" y="0"/>
                  </a:lnTo>
                  <a:close/>
                </a:path>
              </a:pathLst>
            </a:custGeom>
            <a:ln w="9524">
              <a:solidFill>
                <a:srgbClr val="C0C0C0"/>
              </a:solidFill>
            </a:ln>
          </p:spPr>
          <p:txBody>
            <a:bodyPr wrap="square" lIns="0" tIns="0" rIns="0" bIns="0" rtlCol="0"/>
            <a:lstStyle/>
            <a:p/>
          </p:txBody>
        </p:sp>
        <p:pic>
          <p:nvPicPr>
            <p:cNvPr id="10" name="object 10"/>
            <p:cNvPicPr/>
            <p:nvPr/>
          </p:nvPicPr>
          <p:blipFill>
            <a:blip r:embed="rId4" cstate="print"/>
            <a:stretch>
              <a:fillRect/>
            </a:stretch>
          </p:blipFill>
          <p:spPr>
            <a:xfrm>
              <a:off x="8042910" y="3285743"/>
              <a:ext cx="973834" cy="642365"/>
            </a:xfrm>
            <a:prstGeom prst="rect">
              <a:avLst/>
            </a:prstGeom>
          </p:spPr>
        </p:pic>
        <p:sp>
          <p:nvSpPr>
            <p:cNvPr id="11" name="object 11" descr=""/>
            <p:cNvSpPr/>
            <p:nvPr/>
          </p:nvSpPr>
          <p:spPr>
            <a:xfrm>
              <a:off x="8303234" y="3546125"/>
              <a:ext cx="454025" cy="122555"/>
            </a:xfrm>
            <a:custGeom>
              <a:avLst/>
              <a:gdLst/>
              <a:ahLst/>
              <a:cxnLst/>
              <a:rect l="l" t="t" r="r" b="b"/>
              <a:pathLst>
                <a:path w="454025" h="122554">
                  <a:moveTo>
                    <a:pt x="226809" y="0"/>
                  </a:moveTo>
                  <a:lnTo>
                    <a:pt x="155121" y="3113"/>
                  </a:lnTo>
                  <a:lnTo>
                    <a:pt x="92860" y="11784"/>
                  </a:lnTo>
                  <a:lnTo>
                    <a:pt x="43761" y="25007"/>
                  </a:lnTo>
                  <a:lnTo>
                    <a:pt x="0" y="61087"/>
                  </a:lnTo>
                  <a:lnTo>
                    <a:pt x="11563" y="80397"/>
                  </a:lnTo>
                  <a:lnTo>
                    <a:pt x="43761" y="97166"/>
                  </a:lnTo>
                  <a:lnTo>
                    <a:pt x="92860" y="110389"/>
                  </a:lnTo>
                  <a:lnTo>
                    <a:pt x="155121" y="119060"/>
                  </a:lnTo>
                  <a:lnTo>
                    <a:pt x="226809" y="122174"/>
                  </a:lnTo>
                  <a:lnTo>
                    <a:pt x="298503" y="119060"/>
                  </a:lnTo>
                  <a:lnTo>
                    <a:pt x="360768" y="110389"/>
                  </a:lnTo>
                  <a:lnTo>
                    <a:pt x="409868" y="97166"/>
                  </a:lnTo>
                  <a:lnTo>
                    <a:pt x="442068" y="80397"/>
                  </a:lnTo>
                  <a:lnTo>
                    <a:pt x="453631" y="61087"/>
                  </a:lnTo>
                  <a:lnTo>
                    <a:pt x="442068" y="41776"/>
                  </a:lnTo>
                  <a:lnTo>
                    <a:pt x="409868" y="25007"/>
                  </a:lnTo>
                  <a:lnTo>
                    <a:pt x="360768" y="11784"/>
                  </a:lnTo>
                  <a:lnTo>
                    <a:pt x="298503" y="3113"/>
                  </a:lnTo>
                  <a:lnTo>
                    <a:pt x="226809" y="0"/>
                  </a:lnTo>
                  <a:close/>
                </a:path>
              </a:pathLst>
            </a:custGeom>
            <a:solidFill>
              <a:srgbClr val="FFFFFF"/>
            </a:solidFill>
          </p:spPr>
          <p:txBody>
            <a:bodyPr wrap="square" lIns="0" tIns="0" rIns="0" bIns="0" rtlCol="0"/>
            <a:lstStyle/>
            <a:p/>
          </p:txBody>
        </p:sp>
        <p:sp>
          <p:nvSpPr>
            <p:cNvPr id="12" name="object 12" descr=""/>
            <p:cNvSpPr/>
            <p:nvPr/>
          </p:nvSpPr>
          <p:spPr>
            <a:xfrm>
              <a:off x="8303234" y="3546125"/>
              <a:ext cx="454025" cy="122555"/>
            </a:xfrm>
            <a:custGeom>
              <a:avLst/>
              <a:gdLst/>
              <a:ahLst/>
              <a:cxnLst/>
              <a:rect l="l" t="t" r="r" b="b"/>
              <a:pathLst>
                <a:path w="454025" h="122554">
                  <a:moveTo>
                    <a:pt x="0" y="61087"/>
                  </a:moveTo>
                  <a:lnTo>
                    <a:pt x="43761" y="25007"/>
                  </a:lnTo>
                  <a:lnTo>
                    <a:pt x="92860" y="11784"/>
                  </a:lnTo>
                  <a:lnTo>
                    <a:pt x="155121" y="3113"/>
                  </a:lnTo>
                  <a:lnTo>
                    <a:pt x="226809" y="0"/>
                  </a:lnTo>
                  <a:lnTo>
                    <a:pt x="298503" y="3113"/>
                  </a:lnTo>
                  <a:lnTo>
                    <a:pt x="360768" y="11784"/>
                  </a:lnTo>
                  <a:lnTo>
                    <a:pt x="409868" y="25007"/>
                  </a:lnTo>
                  <a:lnTo>
                    <a:pt x="442068" y="41776"/>
                  </a:lnTo>
                  <a:lnTo>
                    <a:pt x="453631" y="61087"/>
                  </a:lnTo>
                  <a:lnTo>
                    <a:pt x="442068" y="80397"/>
                  </a:lnTo>
                  <a:lnTo>
                    <a:pt x="409868" y="97166"/>
                  </a:lnTo>
                  <a:lnTo>
                    <a:pt x="360768" y="110389"/>
                  </a:lnTo>
                  <a:lnTo>
                    <a:pt x="298503" y="119060"/>
                  </a:lnTo>
                  <a:lnTo>
                    <a:pt x="226809" y="122174"/>
                  </a:lnTo>
                  <a:lnTo>
                    <a:pt x="155121" y="119060"/>
                  </a:lnTo>
                  <a:lnTo>
                    <a:pt x="92860" y="110389"/>
                  </a:lnTo>
                  <a:lnTo>
                    <a:pt x="43761" y="97166"/>
                  </a:lnTo>
                  <a:lnTo>
                    <a:pt x="11563" y="80397"/>
                  </a:lnTo>
                  <a:lnTo>
                    <a:pt x="0" y="61087"/>
                  </a:lnTo>
                  <a:close/>
                </a:path>
              </a:pathLst>
            </a:custGeom>
            <a:ln w="9525">
              <a:solidFill>
                <a:srgbClr val="C0C0C0"/>
              </a:solidFill>
            </a:ln>
          </p:spPr>
          <p:txBody>
            <a:bodyPr wrap="square" lIns="0" tIns="0" rIns="0" bIns="0" rtlCol="0"/>
            <a:lstStyle/>
            <a:p/>
          </p:txBody>
        </p:sp>
        <p:pic>
          <p:nvPicPr>
            <p:cNvPr id="13" name="object 13"/>
            <p:cNvPicPr/>
            <p:nvPr/>
          </p:nvPicPr>
          <p:blipFill>
            <a:blip r:embed="rId4" cstate="print"/>
            <a:stretch>
              <a:fillRect/>
            </a:stretch>
          </p:blipFill>
          <p:spPr>
            <a:xfrm>
              <a:off x="7606283" y="3285743"/>
              <a:ext cx="973834" cy="642365"/>
            </a:xfrm>
            <a:prstGeom prst="rect">
              <a:avLst/>
            </a:prstGeom>
          </p:spPr>
        </p:pic>
        <p:sp>
          <p:nvSpPr>
            <p:cNvPr id="14" name="object 14" descr=""/>
            <p:cNvSpPr/>
            <p:nvPr/>
          </p:nvSpPr>
          <p:spPr>
            <a:xfrm>
              <a:off x="7866447" y="3546125"/>
              <a:ext cx="454025" cy="122555"/>
            </a:xfrm>
            <a:custGeom>
              <a:avLst/>
              <a:gdLst/>
              <a:ahLst/>
              <a:cxnLst/>
              <a:rect l="l" t="t" r="r" b="b"/>
              <a:pathLst>
                <a:path w="454025" h="122554">
                  <a:moveTo>
                    <a:pt x="226809" y="0"/>
                  </a:moveTo>
                  <a:lnTo>
                    <a:pt x="155121" y="3113"/>
                  </a:lnTo>
                  <a:lnTo>
                    <a:pt x="92860" y="11784"/>
                  </a:lnTo>
                  <a:lnTo>
                    <a:pt x="43761" y="25007"/>
                  </a:lnTo>
                  <a:lnTo>
                    <a:pt x="0" y="61087"/>
                  </a:lnTo>
                  <a:lnTo>
                    <a:pt x="11563" y="80397"/>
                  </a:lnTo>
                  <a:lnTo>
                    <a:pt x="43761" y="97166"/>
                  </a:lnTo>
                  <a:lnTo>
                    <a:pt x="92860" y="110389"/>
                  </a:lnTo>
                  <a:lnTo>
                    <a:pt x="155121" y="119060"/>
                  </a:lnTo>
                  <a:lnTo>
                    <a:pt x="226809" y="122174"/>
                  </a:lnTo>
                  <a:lnTo>
                    <a:pt x="298503" y="119060"/>
                  </a:lnTo>
                  <a:lnTo>
                    <a:pt x="360768" y="110389"/>
                  </a:lnTo>
                  <a:lnTo>
                    <a:pt x="409868" y="97166"/>
                  </a:lnTo>
                  <a:lnTo>
                    <a:pt x="442068" y="80397"/>
                  </a:lnTo>
                  <a:lnTo>
                    <a:pt x="453631" y="61087"/>
                  </a:lnTo>
                  <a:lnTo>
                    <a:pt x="442068" y="41776"/>
                  </a:lnTo>
                  <a:lnTo>
                    <a:pt x="409868" y="25007"/>
                  </a:lnTo>
                  <a:lnTo>
                    <a:pt x="360768" y="11784"/>
                  </a:lnTo>
                  <a:lnTo>
                    <a:pt x="298503" y="3113"/>
                  </a:lnTo>
                  <a:lnTo>
                    <a:pt x="226809" y="0"/>
                  </a:lnTo>
                  <a:close/>
                </a:path>
              </a:pathLst>
            </a:custGeom>
            <a:solidFill>
              <a:srgbClr val="FFFFFF"/>
            </a:solidFill>
          </p:spPr>
          <p:txBody>
            <a:bodyPr wrap="square" lIns="0" tIns="0" rIns="0" bIns="0" rtlCol="0"/>
            <a:lstStyle/>
            <a:p/>
          </p:txBody>
        </p:sp>
        <p:sp>
          <p:nvSpPr>
            <p:cNvPr id="15" name="object 15" descr=""/>
            <p:cNvSpPr/>
            <p:nvPr/>
          </p:nvSpPr>
          <p:spPr>
            <a:xfrm>
              <a:off x="7866447" y="3546125"/>
              <a:ext cx="454025" cy="122555"/>
            </a:xfrm>
            <a:custGeom>
              <a:avLst/>
              <a:gdLst/>
              <a:ahLst/>
              <a:cxnLst/>
              <a:rect l="l" t="t" r="r" b="b"/>
              <a:pathLst>
                <a:path w="454025" h="122554">
                  <a:moveTo>
                    <a:pt x="0" y="61087"/>
                  </a:moveTo>
                  <a:lnTo>
                    <a:pt x="43761" y="25007"/>
                  </a:lnTo>
                  <a:lnTo>
                    <a:pt x="92860" y="11784"/>
                  </a:lnTo>
                  <a:lnTo>
                    <a:pt x="155121" y="3113"/>
                  </a:lnTo>
                  <a:lnTo>
                    <a:pt x="226809" y="0"/>
                  </a:lnTo>
                  <a:lnTo>
                    <a:pt x="298503" y="3113"/>
                  </a:lnTo>
                  <a:lnTo>
                    <a:pt x="360768" y="11784"/>
                  </a:lnTo>
                  <a:lnTo>
                    <a:pt x="409868" y="25007"/>
                  </a:lnTo>
                  <a:lnTo>
                    <a:pt x="442068" y="41776"/>
                  </a:lnTo>
                  <a:lnTo>
                    <a:pt x="453631" y="61087"/>
                  </a:lnTo>
                  <a:lnTo>
                    <a:pt x="442068" y="80397"/>
                  </a:lnTo>
                  <a:lnTo>
                    <a:pt x="409868" y="97166"/>
                  </a:lnTo>
                  <a:lnTo>
                    <a:pt x="360768" y="110389"/>
                  </a:lnTo>
                  <a:lnTo>
                    <a:pt x="298503" y="119060"/>
                  </a:lnTo>
                  <a:lnTo>
                    <a:pt x="226809" y="122174"/>
                  </a:lnTo>
                  <a:lnTo>
                    <a:pt x="155121" y="119060"/>
                  </a:lnTo>
                  <a:lnTo>
                    <a:pt x="92860" y="110389"/>
                  </a:lnTo>
                  <a:lnTo>
                    <a:pt x="43761" y="97166"/>
                  </a:lnTo>
                  <a:lnTo>
                    <a:pt x="11563" y="80397"/>
                  </a:lnTo>
                  <a:lnTo>
                    <a:pt x="0" y="61087"/>
                  </a:lnTo>
                  <a:close/>
                </a:path>
              </a:pathLst>
            </a:custGeom>
            <a:ln w="9525">
              <a:solidFill>
                <a:srgbClr val="C0C0C0"/>
              </a:solidFill>
            </a:ln>
          </p:spPr>
          <p:txBody>
            <a:bodyPr wrap="square" lIns="0" tIns="0" rIns="0" bIns="0" rtlCol="0"/>
            <a:lstStyle/>
            <a:p/>
          </p:txBody>
        </p:sp>
        <p:pic>
          <p:nvPicPr>
            <p:cNvPr id="16" name="object 16"/>
            <p:cNvPicPr/>
            <p:nvPr/>
          </p:nvPicPr>
          <p:blipFill>
            <a:blip r:embed="rId5" cstate="print"/>
            <a:stretch>
              <a:fillRect/>
            </a:stretch>
          </p:blipFill>
          <p:spPr>
            <a:xfrm>
              <a:off x="7169658" y="3288791"/>
              <a:ext cx="973834" cy="642365"/>
            </a:xfrm>
            <a:prstGeom prst="rect">
              <a:avLst/>
            </a:prstGeom>
          </p:spPr>
        </p:pic>
        <p:sp>
          <p:nvSpPr>
            <p:cNvPr id="17" name="object 17" descr=""/>
            <p:cNvSpPr/>
            <p:nvPr/>
          </p:nvSpPr>
          <p:spPr>
            <a:xfrm>
              <a:off x="7429658" y="3548816"/>
              <a:ext cx="454025" cy="122555"/>
            </a:xfrm>
            <a:custGeom>
              <a:avLst/>
              <a:gdLst/>
              <a:ahLst/>
              <a:cxnLst/>
              <a:rect l="l" t="t" r="r" b="b"/>
              <a:pathLst>
                <a:path w="454025" h="122554">
                  <a:moveTo>
                    <a:pt x="226809" y="0"/>
                  </a:moveTo>
                  <a:lnTo>
                    <a:pt x="155121" y="3113"/>
                  </a:lnTo>
                  <a:lnTo>
                    <a:pt x="92860" y="11784"/>
                  </a:lnTo>
                  <a:lnTo>
                    <a:pt x="43761" y="25007"/>
                  </a:lnTo>
                  <a:lnTo>
                    <a:pt x="0" y="61087"/>
                  </a:lnTo>
                  <a:lnTo>
                    <a:pt x="11563" y="80397"/>
                  </a:lnTo>
                  <a:lnTo>
                    <a:pt x="43761" y="97166"/>
                  </a:lnTo>
                  <a:lnTo>
                    <a:pt x="92860" y="110389"/>
                  </a:lnTo>
                  <a:lnTo>
                    <a:pt x="155121" y="119060"/>
                  </a:lnTo>
                  <a:lnTo>
                    <a:pt x="226809" y="122174"/>
                  </a:lnTo>
                  <a:lnTo>
                    <a:pt x="298503" y="119060"/>
                  </a:lnTo>
                  <a:lnTo>
                    <a:pt x="360768" y="110389"/>
                  </a:lnTo>
                  <a:lnTo>
                    <a:pt x="409868" y="97166"/>
                  </a:lnTo>
                  <a:lnTo>
                    <a:pt x="442068" y="80397"/>
                  </a:lnTo>
                  <a:lnTo>
                    <a:pt x="453631" y="61087"/>
                  </a:lnTo>
                  <a:lnTo>
                    <a:pt x="442068" y="41776"/>
                  </a:lnTo>
                  <a:lnTo>
                    <a:pt x="409868" y="25007"/>
                  </a:lnTo>
                  <a:lnTo>
                    <a:pt x="360768" y="11784"/>
                  </a:lnTo>
                  <a:lnTo>
                    <a:pt x="298503" y="3113"/>
                  </a:lnTo>
                  <a:lnTo>
                    <a:pt x="226809" y="0"/>
                  </a:lnTo>
                  <a:close/>
                </a:path>
              </a:pathLst>
            </a:custGeom>
            <a:solidFill>
              <a:srgbClr val="FFFFFF"/>
            </a:solidFill>
          </p:spPr>
          <p:txBody>
            <a:bodyPr wrap="square" lIns="0" tIns="0" rIns="0" bIns="0" rtlCol="0"/>
            <a:lstStyle/>
            <a:p/>
          </p:txBody>
        </p:sp>
        <p:sp>
          <p:nvSpPr>
            <p:cNvPr id="18" name="object 18" descr=""/>
            <p:cNvSpPr/>
            <p:nvPr/>
          </p:nvSpPr>
          <p:spPr>
            <a:xfrm>
              <a:off x="7429658" y="3548816"/>
              <a:ext cx="454025" cy="122555"/>
            </a:xfrm>
            <a:custGeom>
              <a:avLst/>
              <a:gdLst/>
              <a:ahLst/>
              <a:cxnLst/>
              <a:rect l="l" t="t" r="r" b="b"/>
              <a:pathLst>
                <a:path w="454025" h="122554">
                  <a:moveTo>
                    <a:pt x="0" y="61087"/>
                  </a:moveTo>
                  <a:lnTo>
                    <a:pt x="43761" y="25007"/>
                  </a:lnTo>
                  <a:lnTo>
                    <a:pt x="92860" y="11784"/>
                  </a:lnTo>
                  <a:lnTo>
                    <a:pt x="155121" y="3113"/>
                  </a:lnTo>
                  <a:lnTo>
                    <a:pt x="226809" y="0"/>
                  </a:lnTo>
                  <a:lnTo>
                    <a:pt x="298503" y="3113"/>
                  </a:lnTo>
                  <a:lnTo>
                    <a:pt x="360768" y="11784"/>
                  </a:lnTo>
                  <a:lnTo>
                    <a:pt x="409868" y="25007"/>
                  </a:lnTo>
                  <a:lnTo>
                    <a:pt x="442068" y="41776"/>
                  </a:lnTo>
                  <a:lnTo>
                    <a:pt x="453631" y="61087"/>
                  </a:lnTo>
                  <a:lnTo>
                    <a:pt x="442068" y="80397"/>
                  </a:lnTo>
                  <a:lnTo>
                    <a:pt x="409868" y="97166"/>
                  </a:lnTo>
                  <a:lnTo>
                    <a:pt x="360768" y="110389"/>
                  </a:lnTo>
                  <a:lnTo>
                    <a:pt x="298503" y="119060"/>
                  </a:lnTo>
                  <a:lnTo>
                    <a:pt x="226809" y="122174"/>
                  </a:lnTo>
                  <a:lnTo>
                    <a:pt x="155121" y="119060"/>
                  </a:lnTo>
                  <a:lnTo>
                    <a:pt x="92860" y="110389"/>
                  </a:lnTo>
                  <a:lnTo>
                    <a:pt x="43761" y="97166"/>
                  </a:lnTo>
                  <a:lnTo>
                    <a:pt x="11563" y="80397"/>
                  </a:lnTo>
                  <a:lnTo>
                    <a:pt x="0" y="61087"/>
                  </a:lnTo>
                  <a:close/>
                </a:path>
              </a:pathLst>
            </a:custGeom>
            <a:ln w="9525">
              <a:solidFill>
                <a:srgbClr val="C0C0C0"/>
              </a:solidFill>
            </a:ln>
          </p:spPr>
          <p:txBody>
            <a:bodyPr wrap="square" lIns="0" tIns="0" rIns="0" bIns="0" rtlCol="0"/>
            <a:lstStyle/>
            <a:p/>
          </p:txBody>
        </p:sp>
        <p:pic>
          <p:nvPicPr>
            <p:cNvPr id="19" name="object 19"/>
            <p:cNvPicPr/>
            <p:nvPr/>
          </p:nvPicPr>
          <p:blipFill>
            <a:blip r:embed="rId6" cstate="print"/>
            <a:stretch>
              <a:fillRect/>
            </a:stretch>
          </p:blipFill>
          <p:spPr>
            <a:xfrm>
              <a:off x="6733031" y="3288791"/>
              <a:ext cx="973834" cy="642365"/>
            </a:xfrm>
            <a:prstGeom prst="rect">
              <a:avLst/>
            </a:prstGeom>
          </p:spPr>
        </p:pic>
        <p:sp>
          <p:nvSpPr>
            <p:cNvPr id="20" name="object 20" descr=""/>
            <p:cNvSpPr/>
            <p:nvPr/>
          </p:nvSpPr>
          <p:spPr>
            <a:xfrm>
              <a:off x="6992871" y="3548816"/>
              <a:ext cx="454025" cy="122555"/>
            </a:xfrm>
            <a:custGeom>
              <a:avLst/>
              <a:gdLst/>
              <a:ahLst/>
              <a:cxnLst/>
              <a:rect l="l" t="t" r="r" b="b"/>
              <a:pathLst>
                <a:path w="454025" h="122554">
                  <a:moveTo>
                    <a:pt x="226809" y="0"/>
                  </a:moveTo>
                  <a:lnTo>
                    <a:pt x="155121" y="3113"/>
                  </a:lnTo>
                  <a:lnTo>
                    <a:pt x="92860" y="11784"/>
                  </a:lnTo>
                  <a:lnTo>
                    <a:pt x="43761" y="25007"/>
                  </a:lnTo>
                  <a:lnTo>
                    <a:pt x="0" y="61087"/>
                  </a:lnTo>
                  <a:lnTo>
                    <a:pt x="11563" y="80397"/>
                  </a:lnTo>
                  <a:lnTo>
                    <a:pt x="43761" y="97166"/>
                  </a:lnTo>
                  <a:lnTo>
                    <a:pt x="92860" y="110389"/>
                  </a:lnTo>
                  <a:lnTo>
                    <a:pt x="155121" y="119060"/>
                  </a:lnTo>
                  <a:lnTo>
                    <a:pt x="226809" y="122174"/>
                  </a:lnTo>
                  <a:lnTo>
                    <a:pt x="298503" y="119060"/>
                  </a:lnTo>
                  <a:lnTo>
                    <a:pt x="360768" y="110389"/>
                  </a:lnTo>
                  <a:lnTo>
                    <a:pt x="409868" y="97166"/>
                  </a:lnTo>
                  <a:lnTo>
                    <a:pt x="442068" y="80397"/>
                  </a:lnTo>
                  <a:lnTo>
                    <a:pt x="453631" y="61087"/>
                  </a:lnTo>
                  <a:lnTo>
                    <a:pt x="442068" y="41776"/>
                  </a:lnTo>
                  <a:lnTo>
                    <a:pt x="409868" y="25007"/>
                  </a:lnTo>
                  <a:lnTo>
                    <a:pt x="360768" y="11784"/>
                  </a:lnTo>
                  <a:lnTo>
                    <a:pt x="298503" y="3113"/>
                  </a:lnTo>
                  <a:lnTo>
                    <a:pt x="226809" y="0"/>
                  </a:lnTo>
                  <a:close/>
                </a:path>
              </a:pathLst>
            </a:custGeom>
            <a:solidFill>
              <a:srgbClr val="FFFFFF"/>
            </a:solidFill>
          </p:spPr>
          <p:txBody>
            <a:bodyPr wrap="square" lIns="0" tIns="0" rIns="0" bIns="0" rtlCol="0"/>
            <a:lstStyle/>
            <a:p/>
          </p:txBody>
        </p:sp>
        <p:sp>
          <p:nvSpPr>
            <p:cNvPr id="21" name="object 21" descr=""/>
            <p:cNvSpPr/>
            <p:nvPr/>
          </p:nvSpPr>
          <p:spPr>
            <a:xfrm>
              <a:off x="6992871" y="3548816"/>
              <a:ext cx="454025" cy="122555"/>
            </a:xfrm>
            <a:custGeom>
              <a:avLst/>
              <a:gdLst/>
              <a:ahLst/>
              <a:cxnLst/>
              <a:rect l="l" t="t" r="r" b="b"/>
              <a:pathLst>
                <a:path w="454025" h="122554">
                  <a:moveTo>
                    <a:pt x="0" y="61087"/>
                  </a:moveTo>
                  <a:lnTo>
                    <a:pt x="43761" y="25007"/>
                  </a:lnTo>
                  <a:lnTo>
                    <a:pt x="92860" y="11784"/>
                  </a:lnTo>
                  <a:lnTo>
                    <a:pt x="155121" y="3113"/>
                  </a:lnTo>
                  <a:lnTo>
                    <a:pt x="226809" y="0"/>
                  </a:lnTo>
                  <a:lnTo>
                    <a:pt x="298503" y="3113"/>
                  </a:lnTo>
                  <a:lnTo>
                    <a:pt x="360768" y="11784"/>
                  </a:lnTo>
                  <a:lnTo>
                    <a:pt x="409868" y="25007"/>
                  </a:lnTo>
                  <a:lnTo>
                    <a:pt x="442068" y="41776"/>
                  </a:lnTo>
                  <a:lnTo>
                    <a:pt x="453631" y="61087"/>
                  </a:lnTo>
                  <a:lnTo>
                    <a:pt x="442068" y="80397"/>
                  </a:lnTo>
                  <a:lnTo>
                    <a:pt x="409868" y="97166"/>
                  </a:lnTo>
                  <a:lnTo>
                    <a:pt x="360768" y="110389"/>
                  </a:lnTo>
                  <a:lnTo>
                    <a:pt x="298503" y="119060"/>
                  </a:lnTo>
                  <a:lnTo>
                    <a:pt x="226809" y="122174"/>
                  </a:lnTo>
                  <a:lnTo>
                    <a:pt x="155121" y="119060"/>
                  </a:lnTo>
                  <a:lnTo>
                    <a:pt x="92860" y="110389"/>
                  </a:lnTo>
                  <a:lnTo>
                    <a:pt x="43761" y="97166"/>
                  </a:lnTo>
                  <a:lnTo>
                    <a:pt x="11563" y="80397"/>
                  </a:lnTo>
                  <a:lnTo>
                    <a:pt x="0" y="61087"/>
                  </a:lnTo>
                  <a:close/>
                </a:path>
              </a:pathLst>
            </a:custGeom>
            <a:ln w="9525">
              <a:solidFill>
                <a:srgbClr val="C0C0C0"/>
              </a:solidFill>
            </a:ln>
          </p:spPr>
          <p:txBody>
            <a:bodyPr wrap="square" lIns="0" tIns="0" rIns="0" bIns="0" rtlCol="0"/>
            <a:lstStyle/>
            <a:p/>
          </p:txBody>
        </p:sp>
        <p:pic>
          <p:nvPicPr>
            <p:cNvPr id="22" name="object 22"/>
            <p:cNvPicPr/>
            <p:nvPr/>
          </p:nvPicPr>
          <p:blipFill>
            <a:blip r:embed="rId7" cstate="print"/>
            <a:stretch>
              <a:fillRect/>
            </a:stretch>
          </p:blipFill>
          <p:spPr>
            <a:xfrm>
              <a:off x="6296405" y="3291839"/>
              <a:ext cx="973073" cy="641603"/>
            </a:xfrm>
            <a:prstGeom prst="rect">
              <a:avLst/>
            </a:prstGeom>
          </p:spPr>
        </p:pic>
        <p:sp>
          <p:nvSpPr>
            <p:cNvPr id="23" name="object 23" descr=""/>
            <p:cNvSpPr/>
            <p:nvPr/>
          </p:nvSpPr>
          <p:spPr>
            <a:xfrm>
              <a:off x="6556084" y="3551507"/>
              <a:ext cx="454025" cy="122555"/>
            </a:xfrm>
            <a:custGeom>
              <a:avLst/>
              <a:gdLst/>
              <a:ahLst/>
              <a:cxnLst/>
              <a:rect l="l" t="t" r="r" b="b"/>
              <a:pathLst>
                <a:path w="454025" h="122554">
                  <a:moveTo>
                    <a:pt x="226809" y="0"/>
                  </a:moveTo>
                  <a:lnTo>
                    <a:pt x="155121" y="3113"/>
                  </a:lnTo>
                  <a:lnTo>
                    <a:pt x="92860" y="11784"/>
                  </a:lnTo>
                  <a:lnTo>
                    <a:pt x="43761" y="25007"/>
                  </a:lnTo>
                  <a:lnTo>
                    <a:pt x="0" y="61087"/>
                  </a:lnTo>
                  <a:lnTo>
                    <a:pt x="11563" y="80397"/>
                  </a:lnTo>
                  <a:lnTo>
                    <a:pt x="43761" y="97166"/>
                  </a:lnTo>
                  <a:lnTo>
                    <a:pt x="92860" y="110389"/>
                  </a:lnTo>
                  <a:lnTo>
                    <a:pt x="155121" y="119060"/>
                  </a:lnTo>
                  <a:lnTo>
                    <a:pt x="226809" y="122174"/>
                  </a:lnTo>
                  <a:lnTo>
                    <a:pt x="298503" y="119060"/>
                  </a:lnTo>
                  <a:lnTo>
                    <a:pt x="360768" y="110389"/>
                  </a:lnTo>
                  <a:lnTo>
                    <a:pt x="409868" y="97166"/>
                  </a:lnTo>
                  <a:lnTo>
                    <a:pt x="442068" y="80397"/>
                  </a:lnTo>
                  <a:lnTo>
                    <a:pt x="453631" y="61087"/>
                  </a:lnTo>
                  <a:lnTo>
                    <a:pt x="442068" y="41776"/>
                  </a:lnTo>
                  <a:lnTo>
                    <a:pt x="409868" y="25007"/>
                  </a:lnTo>
                  <a:lnTo>
                    <a:pt x="360768" y="11784"/>
                  </a:lnTo>
                  <a:lnTo>
                    <a:pt x="298503" y="3113"/>
                  </a:lnTo>
                  <a:lnTo>
                    <a:pt x="226809" y="0"/>
                  </a:lnTo>
                  <a:close/>
                </a:path>
              </a:pathLst>
            </a:custGeom>
            <a:solidFill>
              <a:srgbClr val="FFFFFF"/>
            </a:solidFill>
          </p:spPr>
          <p:txBody>
            <a:bodyPr wrap="square" lIns="0" tIns="0" rIns="0" bIns="0" rtlCol="0"/>
            <a:lstStyle/>
            <a:p/>
          </p:txBody>
        </p:sp>
        <p:sp>
          <p:nvSpPr>
            <p:cNvPr id="24" name="object 24" descr=""/>
            <p:cNvSpPr/>
            <p:nvPr/>
          </p:nvSpPr>
          <p:spPr>
            <a:xfrm>
              <a:off x="6556084" y="3551507"/>
              <a:ext cx="454025" cy="122555"/>
            </a:xfrm>
            <a:custGeom>
              <a:avLst/>
              <a:gdLst/>
              <a:ahLst/>
              <a:cxnLst/>
              <a:rect l="l" t="t" r="r" b="b"/>
              <a:pathLst>
                <a:path w="454025" h="122554">
                  <a:moveTo>
                    <a:pt x="0" y="61087"/>
                  </a:moveTo>
                  <a:lnTo>
                    <a:pt x="43761" y="25007"/>
                  </a:lnTo>
                  <a:lnTo>
                    <a:pt x="92860" y="11784"/>
                  </a:lnTo>
                  <a:lnTo>
                    <a:pt x="155121" y="3113"/>
                  </a:lnTo>
                  <a:lnTo>
                    <a:pt x="226809" y="0"/>
                  </a:lnTo>
                  <a:lnTo>
                    <a:pt x="298503" y="3113"/>
                  </a:lnTo>
                  <a:lnTo>
                    <a:pt x="360768" y="11784"/>
                  </a:lnTo>
                  <a:lnTo>
                    <a:pt x="409868" y="25007"/>
                  </a:lnTo>
                  <a:lnTo>
                    <a:pt x="442068" y="41776"/>
                  </a:lnTo>
                  <a:lnTo>
                    <a:pt x="453631" y="61087"/>
                  </a:lnTo>
                  <a:lnTo>
                    <a:pt x="442068" y="80397"/>
                  </a:lnTo>
                  <a:lnTo>
                    <a:pt x="409868" y="97166"/>
                  </a:lnTo>
                  <a:lnTo>
                    <a:pt x="360768" y="110389"/>
                  </a:lnTo>
                  <a:lnTo>
                    <a:pt x="298503" y="119060"/>
                  </a:lnTo>
                  <a:lnTo>
                    <a:pt x="226809" y="122174"/>
                  </a:lnTo>
                  <a:lnTo>
                    <a:pt x="155121" y="119060"/>
                  </a:lnTo>
                  <a:lnTo>
                    <a:pt x="92860" y="110389"/>
                  </a:lnTo>
                  <a:lnTo>
                    <a:pt x="43761" y="97166"/>
                  </a:lnTo>
                  <a:lnTo>
                    <a:pt x="11563" y="80397"/>
                  </a:lnTo>
                  <a:lnTo>
                    <a:pt x="0" y="61087"/>
                  </a:lnTo>
                  <a:close/>
                </a:path>
              </a:pathLst>
            </a:custGeom>
            <a:ln w="9525">
              <a:solidFill>
                <a:srgbClr val="C0C0C0"/>
              </a:solidFill>
            </a:ln>
          </p:spPr>
          <p:txBody>
            <a:bodyPr wrap="square" lIns="0" tIns="0" rIns="0" bIns="0" rtlCol="0"/>
            <a:lstStyle/>
            <a:p/>
          </p:txBody>
        </p:sp>
        <p:pic>
          <p:nvPicPr>
            <p:cNvPr id="25" name="object 25"/>
            <p:cNvPicPr/>
            <p:nvPr/>
          </p:nvPicPr>
          <p:blipFill>
            <a:blip r:embed="rId8" cstate="print"/>
            <a:stretch>
              <a:fillRect/>
            </a:stretch>
          </p:blipFill>
          <p:spPr>
            <a:xfrm>
              <a:off x="5859017" y="3291839"/>
              <a:ext cx="973835" cy="641603"/>
            </a:xfrm>
            <a:prstGeom prst="rect">
              <a:avLst/>
            </a:prstGeom>
          </p:spPr>
        </p:pic>
        <p:sp>
          <p:nvSpPr>
            <p:cNvPr id="26" name="object 26" descr=""/>
            <p:cNvSpPr/>
            <p:nvPr/>
          </p:nvSpPr>
          <p:spPr>
            <a:xfrm>
              <a:off x="6119296" y="3551507"/>
              <a:ext cx="454025" cy="122555"/>
            </a:xfrm>
            <a:custGeom>
              <a:avLst/>
              <a:gdLst/>
              <a:ahLst/>
              <a:cxnLst/>
              <a:rect l="l" t="t" r="r" b="b"/>
              <a:pathLst>
                <a:path w="454025" h="122554">
                  <a:moveTo>
                    <a:pt x="226809" y="0"/>
                  </a:moveTo>
                  <a:lnTo>
                    <a:pt x="155121" y="3113"/>
                  </a:lnTo>
                  <a:lnTo>
                    <a:pt x="92860" y="11784"/>
                  </a:lnTo>
                  <a:lnTo>
                    <a:pt x="43761" y="25007"/>
                  </a:lnTo>
                  <a:lnTo>
                    <a:pt x="0" y="61087"/>
                  </a:lnTo>
                  <a:lnTo>
                    <a:pt x="11563" y="80397"/>
                  </a:lnTo>
                  <a:lnTo>
                    <a:pt x="43761" y="97166"/>
                  </a:lnTo>
                  <a:lnTo>
                    <a:pt x="92860" y="110389"/>
                  </a:lnTo>
                  <a:lnTo>
                    <a:pt x="155121" y="119060"/>
                  </a:lnTo>
                  <a:lnTo>
                    <a:pt x="226809" y="122174"/>
                  </a:lnTo>
                  <a:lnTo>
                    <a:pt x="298503" y="119060"/>
                  </a:lnTo>
                  <a:lnTo>
                    <a:pt x="360768" y="110389"/>
                  </a:lnTo>
                  <a:lnTo>
                    <a:pt x="409868" y="97166"/>
                  </a:lnTo>
                  <a:lnTo>
                    <a:pt x="442068" y="80397"/>
                  </a:lnTo>
                  <a:lnTo>
                    <a:pt x="453631" y="61087"/>
                  </a:lnTo>
                  <a:lnTo>
                    <a:pt x="442068" y="41776"/>
                  </a:lnTo>
                  <a:lnTo>
                    <a:pt x="409868" y="25007"/>
                  </a:lnTo>
                  <a:lnTo>
                    <a:pt x="360768" y="11784"/>
                  </a:lnTo>
                  <a:lnTo>
                    <a:pt x="298503" y="3113"/>
                  </a:lnTo>
                  <a:lnTo>
                    <a:pt x="226809" y="0"/>
                  </a:lnTo>
                  <a:close/>
                </a:path>
              </a:pathLst>
            </a:custGeom>
            <a:solidFill>
              <a:srgbClr val="FFFFFF"/>
            </a:solidFill>
          </p:spPr>
          <p:txBody>
            <a:bodyPr wrap="square" lIns="0" tIns="0" rIns="0" bIns="0" rtlCol="0"/>
            <a:lstStyle/>
            <a:p/>
          </p:txBody>
        </p:sp>
        <p:sp>
          <p:nvSpPr>
            <p:cNvPr id="27" name="object 27" descr=""/>
            <p:cNvSpPr/>
            <p:nvPr/>
          </p:nvSpPr>
          <p:spPr>
            <a:xfrm>
              <a:off x="6119296" y="3551507"/>
              <a:ext cx="454025" cy="122555"/>
            </a:xfrm>
            <a:custGeom>
              <a:avLst/>
              <a:gdLst/>
              <a:ahLst/>
              <a:cxnLst/>
              <a:rect l="l" t="t" r="r" b="b"/>
              <a:pathLst>
                <a:path w="454025" h="122554">
                  <a:moveTo>
                    <a:pt x="0" y="61087"/>
                  </a:moveTo>
                  <a:lnTo>
                    <a:pt x="43761" y="25007"/>
                  </a:lnTo>
                  <a:lnTo>
                    <a:pt x="92860" y="11784"/>
                  </a:lnTo>
                  <a:lnTo>
                    <a:pt x="155121" y="3113"/>
                  </a:lnTo>
                  <a:lnTo>
                    <a:pt x="226809" y="0"/>
                  </a:lnTo>
                  <a:lnTo>
                    <a:pt x="298503" y="3113"/>
                  </a:lnTo>
                  <a:lnTo>
                    <a:pt x="360768" y="11784"/>
                  </a:lnTo>
                  <a:lnTo>
                    <a:pt x="409868" y="25007"/>
                  </a:lnTo>
                  <a:lnTo>
                    <a:pt x="442068" y="41776"/>
                  </a:lnTo>
                  <a:lnTo>
                    <a:pt x="453631" y="61087"/>
                  </a:lnTo>
                  <a:lnTo>
                    <a:pt x="442068" y="80397"/>
                  </a:lnTo>
                  <a:lnTo>
                    <a:pt x="409868" y="97166"/>
                  </a:lnTo>
                  <a:lnTo>
                    <a:pt x="360768" y="110389"/>
                  </a:lnTo>
                  <a:lnTo>
                    <a:pt x="298503" y="119060"/>
                  </a:lnTo>
                  <a:lnTo>
                    <a:pt x="226809" y="122174"/>
                  </a:lnTo>
                  <a:lnTo>
                    <a:pt x="155121" y="119060"/>
                  </a:lnTo>
                  <a:lnTo>
                    <a:pt x="92860" y="110389"/>
                  </a:lnTo>
                  <a:lnTo>
                    <a:pt x="43761" y="97166"/>
                  </a:lnTo>
                  <a:lnTo>
                    <a:pt x="11563" y="80397"/>
                  </a:lnTo>
                  <a:lnTo>
                    <a:pt x="0" y="61087"/>
                  </a:lnTo>
                  <a:close/>
                </a:path>
              </a:pathLst>
            </a:custGeom>
            <a:ln w="9525">
              <a:solidFill>
                <a:srgbClr val="C0C0C0"/>
              </a:solidFill>
            </a:ln>
          </p:spPr>
          <p:txBody>
            <a:bodyPr wrap="square" lIns="0" tIns="0" rIns="0" bIns="0" rtlCol="0"/>
            <a:lstStyle/>
            <a:p/>
          </p:txBody>
        </p:sp>
        <p:sp>
          <p:nvSpPr>
            <p:cNvPr id="28" name="object 28" descr=""/>
            <p:cNvSpPr/>
            <p:nvPr/>
          </p:nvSpPr>
          <p:spPr>
            <a:xfrm>
              <a:off x="6970004" y="3707667"/>
              <a:ext cx="53340" cy="26034"/>
            </a:xfrm>
            <a:custGeom>
              <a:avLst/>
              <a:gdLst/>
              <a:ahLst/>
              <a:cxnLst/>
              <a:rect l="l" t="t" r="r" b="b"/>
              <a:pathLst>
                <a:path w="53340" h="26035">
                  <a:moveTo>
                    <a:pt x="23342" y="25967"/>
                  </a:moveTo>
                  <a:lnTo>
                    <a:pt x="0" y="25967"/>
                  </a:lnTo>
                  <a:lnTo>
                    <a:pt x="44461" y="876"/>
                  </a:lnTo>
                  <a:lnTo>
                    <a:pt x="45002" y="654"/>
                  </a:lnTo>
                  <a:lnTo>
                    <a:pt x="45594" y="495"/>
                  </a:lnTo>
                  <a:lnTo>
                    <a:pt x="49276" y="0"/>
                  </a:lnTo>
                  <a:lnTo>
                    <a:pt x="52224" y="1474"/>
                  </a:lnTo>
                  <a:lnTo>
                    <a:pt x="52795" y="3710"/>
                  </a:lnTo>
                  <a:lnTo>
                    <a:pt x="50642" y="12270"/>
                  </a:lnTo>
                  <a:lnTo>
                    <a:pt x="44388" y="19308"/>
                  </a:lnTo>
                  <a:lnTo>
                    <a:pt x="34974" y="24110"/>
                  </a:lnTo>
                  <a:lnTo>
                    <a:pt x="23342" y="25967"/>
                  </a:lnTo>
                  <a:close/>
                </a:path>
              </a:pathLst>
            </a:custGeom>
            <a:solidFill>
              <a:srgbClr val="FFFFFF">
                <a:alpha val="29803"/>
              </a:srgbClr>
            </a:solidFill>
          </p:spPr>
          <p:txBody>
            <a:bodyPr wrap="square" lIns="0" tIns="0" rIns="0" bIns="0" rtlCol="0"/>
            <a:lstStyle/>
            <a:p/>
          </p:txBody>
        </p:sp>
        <p:sp>
          <p:nvSpPr>
            <p:cNvPr id="29" name="object 29" descr=""/>
            <p:cNvSpPr/>
            <p:nvPr/>
          </p:nvSpPr>
          <p:spPr>
            <a:xfrm>
              <a:off x="6944997" y="3716549"/>
              <a:ext cx="51435" cy="17780"/>
            </a:xfrm>
            <a:custGeom>
              <a:avLst/>
              <a:gdLst/>
              <a:ahLst/>
              <a:cxnLst/>
              <a:rect l="l" t="t" r="r" b="b"/>
              <a:pathLst>
                <a:path w="51434" h="17779">
                  <a:moveTo>
                    <a:pt x="14" y="7899"/>
                  </a:moveTo>
                  <a:lnTo>
                    <a:pt x="2543" y="12438"/>
                  </a:lnTo>
                  <a:lnTo>
                    <a:pt x="7921" y="15754"/>
                  </a:lnTo>
                  <a:lnTo>
                    <a:pt x="14378" y="16759"/>
                  </a:lnTo>
                  <a:lnTo>
                    <a:pt x="19285" y="17485"/>
                  </a:lnTo>
                  <a:lnTo>
                    <a:pt x="24361" y="17233"/>
                  </a:lnTo>
                  <a:lnTo>
                    <a:pt x="29092" y="16024"/>
                  </a:lnTo>
                  <a:lnTo>
                    <a:pt x="51208" y="6999"/>
                  </a:lnTo>
                  <a:lnTo>
                    <a:pt x="50443" y="4624"/>
                  </a:lnTo>
                  <a:lnTo>
                    <a:pt x="49471" y="2283"/>
                  </a:lnTo>
                  <a:lnTo>
                    <a:pt x="48300" y="0"/>
                  </a:lnTo>
                  <a:lnTo>
                    <a:pt x="27785" y="8990"/>
                  </a:lnTo>
                  <a:lnTo>
                    <a:pt x="21759" y="10765"/>
                  </a:lnTo>
                  <a:lnTo>
                    <a:pt x="15015" y="10591"/>
                  </a:lnTo>
                  <a:lnTo>
                    <a:pt x="9177" y="8511"/>
                  </a:lnTo>
                  <a:lnTo>
                    <a:pt x="4704" y="7052"/>
                  </a:lnTo>
                  <a:lnTo>
                    <a:pt x="1332" y="4181"/>
                  </a:lnTo>
                  <a:lnTo>
                    <a:pt x="0" y="696"/>
                  </a:lnTo>
                  <a:lnTo>
                    <a:pt x="14" y="7899"/>
                  </a:lnTo>
                  <a:close/>
                </a:path>
              </a:pathLst>
            </a:custGeom>
            <a:ln w="3175">
              <a:solidFill>
                <a:srgbClr val="FFFFFF"/>
              </a:solidFill>
            </a:ln>
          </p:spPr>
          <p:txBody>
            <a:bodyPr wrap="square" lIns="0" tIns="0" rIns="0" bIns="0" rtlCol="0"/>
            <a:lstStyle/>
            <a:p/>
          </p:txBody>
        </p:sp>
        <p:pic>
          <p:nvPicPr>
            <p:cNvPr id="30" name="object 30" descr=""/>
            <p:cNvPicPr/>
            <p:nvPr/>
          </p:nvPicPr>
          <p:blipFill>
            <a:blip r:embed="rId9" cstate="print"/>
            <a:stretch>
              <a:fillRect/>
            </a:stretch>
          </p:blipFill>
          <p:spPr>
            <a:xfrm>
              <a:off x="7002166" y="3673030"/>
              <a:ext cx="27423" cy="42024"/>
            </a:xfrm>
            <a:prstGeom prst="rect">
              <a:avLst/>
            </a:prstGeom>
          </p:spPr>
        </p:pic>
        <p:sp>
          <p:nvSpPr>
            <p:cNvPr id="31" name="object 31" descr=""/>
            <p:cNvSpPr/>
            <p:nvPr/>
          </p:nvSpPr>
          <p:spPr>
            <a:xfrm>
              <a:off x="7002204" y="3673026"/>
              <a:ext cx="27940" cy="42545"/>
            </a:xfrm>
            <a:custGeom>
              <a:avLst/>
              <a:gdLst/>
              <a:ahLst/>
              <a:cxnLst/>
              <a:rect l="l" t="t" r="r" b="b"/>
              <a:pathLst>
                <a:path w="27940" h="42545">
                  <a:moveTo>
                    <a:pt x="6140" y="42027"/>
                  </a:moveTo>
                  <a:lnTo>
                    <a:pt x="25565" y="18048"/>
                  </a:lnTo>
                  <a:lnTo>
                    <a:pt x="27387" y="12979"/>
                  </a:lnTo>
                  <a:lnTo>
                    <a:pt x="24998" y="7599"/>
                  </a:lnTo>
                  <a:lnTo>
                    <a:pt x="19484" y="4356"/>
                  </a:lnTo>
                  <a:lnTo>
                    <a:pt x="6419" y="0"/>
                  </a:lnTo>
                  <a:lnTo>
                    <a:pt x="15291" y="2423"/>
                  </a:lnTo>
                  <a:lnTo>
                    <a:pt x="19841" y="9741"/>
                  </a:lnTo>
                  <a:lnTo>
                    <a:pt x="16583" y="16349"/>
                  </a:lnTo>
                  <a:lnTo>
                    <a:pt x="0" y="37644"/>
                  </a:lnTo>
                  <a:lnTo>
                    <a:pt x="3272" y="37684"/>
                  </a:lnTo>
                  <a:lnTo>
                    <a:pt x="5948" y="39595"/>
                  </a:lnTo>
                  <a:lnTo>
                    <a:pt x="6140" y="42027"/>
                  </a:lnTo>
                  <a:close/>
                </a:path>
              </a:pathLst>
            </a:custGeom>
            <a:ln w="3247">
              <a:solidFill>
                <a:srgbClr val="FFFFFF"/>
              </a:solidFill>
            </a:ln>
          </p:spPr>
          <p:txBody>
            <a:bodyPr wrap="square" lIns="0" tIns="0" rIns="0" bIns="0" rtlCol="0"/>
            <a:lstStyle/>
            <a:p/>
          </p:txBody>
        </p:sp>
        <p:sp>
          <p:nvSpPr>
            <p:cNvPr id="32" name="object 32" descr=""/>
            <p:cNvSpPr/>
            <p:nvPr/>
          </p:nvSpPr>
          <p:spPr>
            <a:xfrm>
              <a:off x="6991768" y="3709730"/>
              <a:ext cx="18415" cy="15875"/>
            </a:xfrm>
            <a:custGeom>
              <a:avLst/>
              <a:gdLst/>
              <a:ahLst/>
              <a:cxnLst/>
              <a:rect l="l" t="t" r="r" b="b"/>
              <a:pathLst>
                <a:path w="18415" h="15875">
                  <a:moveTo>
                    <a:pt x="15626" y="10352"/>
                  </a:moveTo>
                  <a:lnTo>
                    <a:pt x="18310" y="6967"/>
                  </a:lnTo>
                  <a:lnTo>
                    <a:pt x="17588" y="3005"/>
                  </a:lnTo>
                  <a:lnTo>
                    <a:pt x="14014" y="1501"/>
                  </a:lnTo>
                  <a:lnTo>
                    <a:pt x="10439" y="0"/>
                  </a:lnTo>
                  <a:lnTo>
                    <a:pt x="5367" y="1525"/>
                  </a:lnTo>
                  <a:lnTo>
                    <a:pt x="2683" y="4910"/>
                  </a:lnTo>
                  <a:lnTo>
                    <a:pt x="0" y="8296"/>
                  </a:lnTo>
                  <a:lnTo>
                    <a:pt x="721" y="12258"/>
                  </a:lnTo>
                  <a:lnTo>
                    <a:pt x="4295" y="13762"/>
                  </a:lnTo>
                  <a:lnTo>
                    <a:pt x="7870" y="15263"/>
                  </a:lnTo>
                  <a:lnTo>
                    <a:pt x="12942" y="13738"/>
                  </a:lnTo>
                  <a:lnTo>
                    <a:pt x="15626" y="10352"/>
                  </a:lnTo>
                  <a:close/>
                </a:path>
              </a:pathLst>
            </a:custGeom>
            <a:ln w="3175">
              <a:solidFill>
                <a:srgbClr val="FFFFFF"/>
              </a:solidFill>
            </a:ln>
          </p:spPr>
          <p:txBody>
            <a:bodyPr wrap="square" lIns="0" tIns="0" rIns="0" bIns="0" rtlCol="0"/>
            <a:lstStyle/>
            <a:p/>
          </p:txBody>
        </p:sp>
        <p:sp>
          <p:nvSpPr>
            <p:cNvPr id="33" name="object 33" descr=""/>
            <p:cNvSpPr/>
            <p:nvPr/>
          </p:nvSpPr>
          <p:spPr>
            <a:xfrm>
              <a:off x="6944996" y="3705296"/>
              <a:ext cx="48895" cy="22225"/>
            </a:xfrm>
            <a:custGeom>
              <a:avLst/>
              <a:gdLst/>
              <a:ahLst/>
              <a:cxnLst/>
              <a:rect l="l" t="t" r="r" b="b"/>
              <a:pathLst>
                <a:path w="48895" h="22225">
                  <a:moveTo>
                    <a:pt x="22263" y="0"/>
                  </a:moveTo>
                  <a:lnTo>
                    <a:pt x="0" y="11950"/>
                  </a:lnTo>
                  <a:lnTo>
                    <a:pt x="1354" y="15440"/>
                  </a:lnTo>
                  <a:lnTo>
                    <a:pt x="4708" y="18292"/>
                  </a:lnTo>
                  <a:lnTo>
                    <a:pt x="9177" y="19764"/>
                  </a:lnTo>
                  <a:lnTo>
                    <a:pt x="14989" y="21844"/>
                  </a:lnTo>
                  <a:lnTo>
                    <a:pt x="21733" y="22018"/>
                  </a:lnTo>
                  <a:lnTo>
                    <a:pt x="27785" y="20244"/>
                  </a:lnTo>
                  <a:lnTo>
                    <a:pt x="48300" y="11253"/>
                  </a:lnTo>
                  <a:lnTo>
                    <a:pt x="22263" y="0"/>
                  </a:lnTo>
                  <a:close/>
                </a:path>
              </a:pathLst>
            </a:custGeom>
            <a:ln w="3175">
              <a:solidFill>
                <a:srgbClr val="000000"/>
              </a:solidFill>
            </a:ln>
          </p:spPr>
          <p:txBody>
            <a:bodyPr wrap="square" lIns="0" tIns="0" rIns="0" bIns="0" rtlCol="0"/>
            <a:lstStyle/>
            <a:p/>
          </p:txBody>
        </p:sp>
        <p:pic>
          <p:nvPicPr>
            <p:cNvPr id="34" name="object 34" descr=""/>
            <p:cNvPicPr/>
            <p:nvPr/>
          </p:nvPicPr>
          <p:blipFill>
            <a:blip r:embed="rId10" cstate="print"/>
            <a:stretch>
              <a:fillRect/>
            </a:stretch>
          </p:blipFill>
          <p:spPr>
            <a:xfrm>
              <a:off x="6973341" y="3673030"/>
              <a:ext cx="48958" cy="37896"/>
            </a:xfrm>
            <a:prstGeom prst="rect">
              <a:avLst/>
            </a:prstGeom>
          </p:spPr>
        </p:pic>
        <p:sp>
          <p:nvSpPr>
            <p:cNvPr id="35" name="object 35" descr=""/>
            <p:cNvSpPr/>
            <p:nvPr/>
          </p:nvSpPr>
          <p:spPr>
            <a:xfrm>
              <a:off x="6973339" y="3672243"/>
              <a:ext cx="49530" cy="38735"/>
            </a:xfrm>
            <a:custGeom>
              <a:avLst/>
              <a:gdLst/>
              <a:ahLst/>
              <a:cxnLst/>
              <a:rect l="l" t="t" r="r" b="b"/>
              <a:pathLst>
                <a:path w="49529" h="38735">
                  <a:moveTo>
                    <a:pt x="0" y="27195"/>
                  </a:moveTo>
                  <a:lnTo>
                    <a:pt x="27074" y="38692"/>
                  </a:lnTo>
                  <a:lnTo>
                    <a:pt x="28867" y="38427"/>
                  </a:lnTo>
                  <a:lnTo>
                    <a:pt x="44247" y="18710"/>
                  </a:lnTo>
                  <a:lnTo>
                    <a:pt x="48966" y="12741"/>
                  </a:lnTo>
                  <a:lnTo>
                    <a:pt x="46301" y="5160"/>
                  </a:lnTo>
                  <a:lnTo>
                    <a:pt x="38302" y="1777"/>
                  </a:lnTo>
                  <a:lnTo>
                    <a:pt x="37345" y="1372"/>
                  </a:lnTo>
                  <a:lnTo>
                    <a:pt x="36336" y="1040"/>
                  </a:lnTo>
                  <a:lnTo>
                    <a:pt x="35287" y="785"/>
                  </a:lnTo>
                  <a:lnTo>
                    <a:pt x="27490" y="0"/>
                  </a:lnTo>
                  <a:lnTo>
                    <a:pt x="19727" y="2648"/>
                  </a:lnTo>
                  <a:lnTo>
                    <a:pt x="15394" y="7572"/>
                  </a:lnTo>
                  <a:lnTo>
                    <a:pt x="0" y="27195"/>
                  </a:lnTo>
                  <a:close/>
                </a:path>
              </a:pathLst>
            </a:custGeom>
            <a:ln w="3175">
              <a:solidFill>
                <a:srgbClr val="000000"/>
              </a:solidFill>
            </a:ln>
          </p:spPr>
          <p:txBody>
            <a:bodyPr wrap="square" lIns="0" tIns="0" rIns="0" bIns="0" rtlCol="0"/>
            <a:lstStyle/>
            <a:p/>
          </p:txBody>
        </p:sp>
        <p:sp>
          <p:nvSpPr>
            <p:cNvPr id="36" name="object 36" descr=""/>
            <p:cNvSpPr/>
            <p:nvPr/>
          </p:nvSpPr>
          <p:spPr>
            <a:xfrm>
              <a:off x="6967260" y="3699439"/>
              <a:ext cx="33655" cy="17145"/>
            </a:xfrm>
            <a:custGeom>
              <a:avLst/>
              <a:gdLst/>
              <a:ahLst/>
              <a:cxnLst/>
              <a:rect l="l" t="t" r="r" b="b"/>
              <a:pathLst>
                <a:path w="33654" h="17145">
                  <a:moveTo>
                    <a:pt x="0" y="5857"/>
                  </a:moveTo>
                  <a:lnTo>
                    <a:pt x="26040" y="17110"/>
                  </a:lnTo>
                  <a:lnTo>
                    <a:pt x="27086" y="14504"/>
                  </a:lnTo>
                  <a:lnTo>
                    <a:pt x="29721" y="12424"/>
                  </a:lnTo>
                  <a:lnTo>
                    <a:pt x="33156" y="11494"/>
                  </a:lnTo>
                  <a:lnTo>
                    <a:pt x="6077" y="0"/>
                  </a:lnTo>
                  <a:lnTo>
                    <a:pt x="2867" y="1072"/>
                  </a:lnTo>
                  <a:lnTo>
                    <a:pt x="585" y="3270"/>
                  </a:lnTo>
                  <a:lnTo>
                    <a:pt x="0" y="5857"/>
                  </a:lnTo>
                  <a:close/>
                </a:path>
              </a:pathLst>
            </a:custGeom>
            <a:ln w="3175">
              <a:solidFill>
                <a:srgbClr val="000000"/>
              </a:solidFill>
            </a:ln>
          </p:spPr>
          <p:txBody>
            <a:bodyPr wrap="square" lIns="0" tIns="0" rIns="0" bIns="0" rtlCol="0"/>
            <a:lstStyle/>
            <a:p/>
          </p:txBody>
        </p:sp>
        <p:sp>
          <p:nvSpPr>
            <p:cNvPr id="37" name="object 37" descr=""/>
            <p:cNvSpPr/>
            <p:nvPr/>
          </p:nvSpPr>
          <p:spPr>
            <a:xfrm>
              <a:off x="6959004" y="3717044"/>
              <a:ext cx="5080" cy="2540"/>
            </a:xfrm>
            <a:custGeom>
              <a:avLst/>
              <a:gdLst/>
              <a:ahLst/>
              <a:cxnLst/>
              <a:rect l="l" t="t" r="r" b="b"/>
              <a:pathLst>
                <a:path w="5079" h="2539">
                  <a:moveTo>
                    <a:pt x="1509" y="2490"/>
                  </a:moveTo>
                  <a:lnTo>
                    <a:pt x="415" y="2214"/>
                  </a:lnTo>
                  <a:lnTo>
                    <a:pt x="0" y="1085"/>
                  </a:lnTo>
                  <a:lnTo>
                    <a:pt x="758" y="447"/>
                  </a:lnTo>
                  <a:lnTo>
                    <a:pt x="3044" y="0"/>
                  </a:lnTo>
                  <a:lnTo>
                    <a:pt x="4141" y="276"/>
                  </a:lnTo>
                  <a:lnTo>
                    <a:pt x="4347" y="841"/>
                  </a:lnTo>
                  <a:lnTo>
                    <a:pt x="4553" y="1407"/>
                  </a:lnTo>
                  <a:lnTo>
                    <a:pt x="3795" y="2045"/>
                  </a:lnTo>
                  <a:lnTo>
                    <a:pt x="1509" y="2490"/>
                  </a:lnTo>
                  <a:close/>
                </a:path>
              </a:pathLst>
            </a:custGeom>
            <a:solidFill>
              <a:srgbClr val="FFFFFF">
                <a:alpha val="29803"/>
              </a:srgbClr>
            </a:solidFill>
          </p:spPr>
          <p:txBody>
            <a:bodyPr wrap="square" lIns="0" tIns="0" rIns="0" bIns="0" rtlCol="0"/>
            <a:lstStyle/>
            <a:p/>
          </p:txBody>
        </p:sp>
        <p:sp>
          <p:nvSpPr>
            <p:cNvPr id="38" name="object 38" descr=""/>
            <p:cNvSpPr/>
            <p:nvPr/>
          </p:nvSpPr>
          <p:spPr>
            <a:xfrm>
              <a:off x="6959004" y="3717044"/>
              <a:ext cx="5080" cy="2540"/>
            </a:xfrm>
            <a:custGeom>
              <a:avLst/>
              <a:gdLst/>
              <a:ahLst/>
              <a:cxnLst/>
              <a:rect l="l" t="t" r="r" b="b"/>
              <a:pathLst>
                <a:path w="5079" h="2539">
                  <a:moveTo>
                    <a:pt x="4347" y="841"/>
                  </a:moveTo>
                  <a:lnTo>
                    <a:pt x="4141" y="276"/>
                  </a:lnTo>
                  <a:lnTo>
                    <a:pt x="3044" y="0"/>
                  </a:lnTo>
                  <a:lnTo>
                    <a:pt x="1903" y="225"/>
                  </a:lnTo>
                  <a:lnTo>
                    <a:pt x="758" y="447"/>
                  </a:lnTo>
                  <a:lnTo>
                    <a:pt x="0" y="1085"/>
                  </a:lnTo>
                  <a:lnTo>
                    <a:pt x="206" y="1648"/>
                  </a:lnTo>
                  <a:lnTo>
                    <a:pt x="415" y="2214"/>
                  </a:lnTo>
                  <a:lnTo>
                    <a:pt x="1509" y="2490"/>
                  </a:lnTo>
                  <a:lnTo>
                    <a:pt x="2654" y="2267"/>
                  </a:lnTo>
                  <a:lnTo>
                    <a:pt x="3795" y="2045"/>
                  </a:lnTo>
                  <a:lnTo>
                    <a:pt x="4553" y="1407"/>
                  </a:lnTo>
                  <a:lnTo>
                    <a:pt x="4347" y="841"/>
                  </a:lnTo>
                  <a:close/>
                </a:path>
              </a:pathLst>
            </a:custGeom>
            <a:ln w="3175">
              <a:solidFill>
                <a:srgbClr val="000000"/>
              </a:solidFill>
            </a:ln>
          </p:spPr>
          <p:txBody>
            <a:bodyPr wrap="square" lIns="0" tIns="0" rIns="0" bIns="0" rtlCol="0"/>
            <a:lstStyle/>
            <a:p/>
          </p:txBody>
        </p:sp>
        <p:pic>
          <p:nvPicPr>
            <p:cNvPr id="39" name="object 39" descr=""/>
            <p:cNvPicPr/>
            <p:nvPr/>
          </p:nvPicPr>
          <p:blipFill>
            <a:blip r:embed="rId11" cstate="print"/>
            <a:stretch>
              <a:fillRect/>
            </a:stretch>
          </p:blipFill>
          <p:spPr>
            <a:xfrm>
              <a:off x="6988022" y="3675367"/>
              <a:ext cx="31153" cy="20231"/>
            </a:xfrm>
            <a:prstGeom prst="rect">
              <a:avLst/>
            </a:prstGeom>
          </p:spPr>
        </p:pic>
        <p:sp>
          <p:nvSpPr>
            <p:cNvPr id="40" name="object 40" descr=""/>
            <p:cNvSpPr/>
            <p:nvPr/>
          </p:nvSpPr>
          <p:spPr>
            <a:xfrm>
              <a:off x="6988031" y="3675356"/>
              <a:ext cx="31750" cy="20320"/>
            </a:xfrm>
            <a:custGeom>
              <a:avLst/>
              <a:gdLst/>
              <a:ahLst/>
              <a:cxnLst/>
              <a:rect l="l" t="t" r="r" b="b"/>
              <a:pathLst>
                <a:path w="31750" h="20320">
                  <a:moveTo>
                    <a:pt x="0" y="10344"/>
                  </a:moveTo>
                  <a:lnTo>
                    <a:pt x="23460" y="20236"/>
                  </a:lnTo>
                  <a:lnTo>
                    <a:pt x="27351" y="14976"/>
                  </a:lnTo>
                  <a:lnTo>
                    <a:pt x="31138" y="10213"/>
                  </a:lnTo>
                  <a:lnTo>
                    <a:pt x="28967" y="4109"/>
                  </a:lnTo>
                  <a:lnTo>
                    <a:pt x="22495" y="1348"/>
                  </a:lnTo>
                  <a:lnTo>
                    <a:pt x="20426" y="466"/>
                  </a:lnTo>
                  <a:lnTo>
                    <a:pt x="18074" y="0"/>
                  </a:lnTo>
                  <a:lnTo>
                    <a:pt x="15678" y="2"/>
                  </a:lnTo>
                  <a:lnTo>
                    <a:pt x="10885" y="364"/>
                  </a:lnTo>
                  <a:lnTo>
                    <a:pt x="6585" y="2332"/>
                  </a:lnTo>
                  <a:lnTo>
                    <a:pt x="4012" y="5339"/>
                  </a:lnTo>
                  <a:lnTo>
                    <a:pt x="0" y="10344"/>
                  </a:lnTo>
                  <a:close/>
                </a:path>
              </a:pathLst>
            </a:custGeom>
            <a:ln w="3175">
              <a:solidFill>
                <a:srgbClr val="000000"/>
              </a:solidFill>
            </a:ln>
          </p:spPr>
          <p:txBody>
            <a:bodyPr wrap="square" lIns="0" tIns="0" rIns="0" bIns="0" rtlCol="0"/>
            <a:lstStyle/>
            <a:p/>
          </p:txBody>
        </p:sp>
        <p:sp>
          <p:nvSpPr>
            <p:cNvPr id="41" name="object 41" descr=""/>
            <p:cNvSpPr/>
            <p:nvPr/>
          </p:nvSpPr>
          <p:spPr>
            <a:xfrm>
              <a:off x="6944997" y="3672023"/>
              <a:ext cx="85090" cy="62230"/>
            </a:xfrm>
            <a:custGeom>
              <a:avLst/>
              <a:gdLst/>
              <a:ahLst/>
              <a:cxnLst/>
              <a:rect l="l" t="t" r="r" b="b"/>
              <a:pathLst>
                <a:path w="85090" h="62229">
                  <a:moveTo>
                    <a:pt x="28341" y="27414"/>
                  </a:moveTo>
                  <a:lnTo>
                    <a:pt x="25168" y="28524"/>
                  </a:lnTo>
                  <a:lnTo>
                    <a:pt x="22904" y="30704"/>
                  </a:lnTo>
                  <a:lnTo>
                    <a:pt x="22263" y="33272"/>
                  </a:lnTo>
                  <a:lnTo>
                    <a:pt x="2587" y="41499"/>
                  </a:lnTo>
                  <a:lnTo>
                    <a:pt x="1019" y="42389"/>
                  </a:lnTo>
                  <a:lnTo>
                    <a:pt x="69" y="43756"/>
                  </a:lnTo>
                  <a:lnTo>
                    <a:pt x="0" y="45222"/>
                  </a:lnTo>
                  <a:lnTo>
                    <a:pt x="14" y="52425"/>
                  </a:lnTo>
                  <a:lnTo>
                    <a:pt x="2094" y="57199"/>
                  </a:lnTo>
                  <a:lnTo>
                    <a:pt x="7693" y="60652"/>
                  </a:lnTo>
                  <a:lnTo>
                    <a:pt x="14378" y="61284"/>
                  </a:lnTo>
                  <a:lnTo>
                    <a:pt x="19292" y="61896"/>
                  </a:lnTo>
                  <a:lnTo>
                    <a:pt x="24328" y="61644"/>
                  </a:lnTo>
                  <a:lnTo>
                    <a:pt x="29088" y="60550"/>
                  </a:lnTo>
                  <a:lnTo>
                    <a:pt x="50133" y="51522"/>
                  </a:lnTo>
                  <a:lnTo>
                    <a:pt x="54345" y="52763"/>
                  </a:lnTo>
                  <a:lnTo>
                    <a:pt x="59145" y="51589"/>
                  </a:lnTo>
                  <a:lnTo>
                    <a:pt x="61549" y="48728"/>
                  </a:lnTo>
                  <a:lnTo>
                    <a:pt x="63154" y="47088"/>
                  </a:lnTo>
                  <a:lnTo>
                    <a:pt x="63801" y="45032"/>
                  </a:lnTo>
                  <a:lnTo>
                    <a:pt x="63345" y="43029"/>
                  </a:lnTo>
                  <a:lnTo>
                    <a:pt x="82774" y="19051"/>
                  </a:lnTo>
                  <a:lnTo>
                    <a:pt x="55751" y="0"/>
                  </a:lnTo>
                  <a:lnTo>
                    <a:pt x="47855" y="2694"/>
                  </a:lnTo>
                  <a:lnTo>
                    <a:pt x="43735" y="7792"/>
                  </a:lnTo>
                  <a:lnTo>
                    <a:pt x="28341" y="27414"/>
                  </a:lnTo>
                  <a:close/>
                </a:path>
              </a:pathLst>
            </a:custGeom>
            <a:ln w="6057">
              <a:solidFill>
                <a:srgbClr val="4677BF"/>
              </a:solidFill>
            </a:ln>
          </p:spPr>
          <p:txBody>
            <a:bodyPr wrap="square" lIns="0" tIns="0" rIns="0" bIns="0" rtlCol="0"/>
            <a:lstStyle/>
            <a:p/>
          </p:txBody>
        </p:sp>
        <p:pic>
          <p:nvPicPr>
            <p:cNvPr id="42" name="object 42" descr=""/>
            <p:cNvPicPr/>
            <p:nvPr/>
          </p:nvPicPr>
          <p:blipFill>
            <a:blip r:embed="rId12" cstate="print"/>
            <a:stretch>
              <a:fillRect/>
            </a:stretch>
          </p:blipFill>
          <p:spPr>
            <a:xfrm>
              <a:off x="6980377" y="3688994"/>
              <a:ext cx="25361" cy="17945"/>
            </a:xfrm>
            <a:prstGeom prst="rect">
              <a:avLst/>
            </a:prstGeom>
          </p:spPr>
        </p:pic>
        <p:sp>
          <p:nvSpPr>
            <p:cNvPr id="43" name="object 43" descr=""/>
            <p:cNvSpPr/>
            <p:nvPr/>
          </p:nvSpPr>
          <p:spPr>
            <a:xfrm>
              <a:off x="6983732" y="3690346"/>
              <a:ext cx="20955" cy="15875"/>
            </a:xfrm>
            <a:custGeom>
              <a:avLst/>
              <a:gdLst/>
              <a:ahLst/>
              <a:cxnLst/>
              <a:rect l="l" t="t" r="r" b="b"/>
              <a:pathLst>
                <a:path w="20954" h="15875">
                  <a:moveTo>
                    <a:pt x="11772" y="12958"/>
                  </a:moveTo>
                  <a:lnTo>
                    <a:pt x="13491" y="13663"/>
                  </a:lnTo>
                  <a:lnTo>
                    <a:pt x="13664" y="14236"/>
                  </a:lnTo>
                  <a:lnTo>
                    <a:pt x="12803" y="15453"/>
                  </a:lnTo>
                </a:path>
                <a:path w="20954" h="15875">
                  <a:moveTo>
                    <a:pt x="5886" y="10494"/>
                  </a:moveTo>
                  <a:lnTo>
                    <a:pt x="7605" y="11199"/>
                  </a:lnTo>
                  <a:lnTo>
                    <a:pt x="7778" y="11773"/>
                  </a:lnTo>
                  <a:lnTo>
                    <a:pt x="6916" y="12990"/>
                  </a:lnTo>
                </a:path>
                <a:path w="20954" h="15875">
                  <a:moveTo>
                    <a:pt x="0" y="8159"/>
                  </a:moveTo>
                  <a:lnTo>
                    <a:pt x="1719" y="8862"/>
                  </a:lnTo>
                  <a:lnTo>
                    <a:pt x="1892" y="9438"/>
                  </a:lnTo>
                  <a:lnTo>
                    <a:pt x="1030" y="10655"/>
                  </a:lnTo>
                </a:path>
                <a:path w="20954" h="15875">
                  <a:moveTo>
                    <a:pt x="3394" y="3967"/>
                  </a:moveTo>
                  <a:lnTo>
                    <a:pt x="5113" y="4672"/>
                  </a:lnTo>
                  <a:lnTo>
                    <a:pt x="5286" y="5248"/>
                  </a:lnTo>
                  <a:lnTo>
                    <a:pt x="4424" y="6463"/>
                  </a:lnTo>
                </a:path>
                <a:path w="20954" h="15875">
                  <a:moveTo>
                    <a:pt x="6703" y="0"/>
                  </a:moveTo>
                  <a:lnTo>
                    <a:pt x="8422" y="705"/>
                  </a:lnTo>
                  <a:lnTo>
                    <a:pt x="8591" y="1281"/>
                  </a:lnTo>
                  <a:lnTo>
                    <a:pt x="7734" y="2495"/>
                  </a:lnTo>
                </a:path>
                <a:path w="20954" h="15875">
                  <a:moveTo>
                    <a:pt x="12589" y="2337"/>
                  </a:moveTo>
                  <a:lnTo>
                    <a:pt x="14308" y="3039"/>
                  </a:lnTo>
                  <a:lnTo>
                    <a:pt x="14478" y="3616"/>
                  </a:lnTo>
                  <a:lnTo>
                    <a:pt x="13620" y="4830"/>
                  </a:lnTo>
                </a:path>
                <a:path w="20954" h="15875">
                  <a:moveTo>
                    <a:pt x="18475" y="4801"/>
                  </a:moveTo>
                  <a:lnTo>
                    <a:pt x="20191" y="5503"/>
                  </a:lnTo>
                  <a:lnTo>
                    <a:pt x="20364" y="6079"/>
                  </a:lnTo>
                  <a:lnTo>
                    <a:pt x="19506" y="7294"/>
                  </a:lnTo>
                </a:path>
                <a:path w="20954" h="15875">
                  <a:moveTo>
                    <a:pt x="9280" y="6302"/>
                  </a:moveTo>
                  <a:lnTo>
                    <a:pt x="10999" y="7007"/>
                  </a:lnTo>
                  <a:lnTo>
                    <a:pt x="11172" y="7583"/>
                  </a:lnTo>
                  <a:lnTo>
                    <a:pt x="10310" y="8797"/>
                  </a:lnTo>
                </a:path>
                <a:path w="20954" h="15875">
                  <a:moveTo>
                    <a:pt x="15166" y="8765"/>
                  </a:moveTo>
                  <a:lnTo>
                    <a:pt x="16885" y="9470"/>
                  </a:lnTo>
                  <a:lnTo>
                    <a:pt x="17058" y="10047"/>
                  </a:lnTo>
                  <a:lnTo>
                    <a:pt x="16197" y="11261"/>
                  </a:lnTo>
                </a:path>
              </a:pathLst>
            </a:custGeom>
            <a:ln w="3175">
              <a:solidFill>
                <a:srgbClr val="FFFFFF"/>
              </a:solidFill>
            </a:ln>
          </p:spPr>
          <p:txBody>
            <a:bodyPr wrap="square" lIns="0" tIns="0" rIns="0" bIns="0" rtlCol="0"/>
            <a:lstStyle/>
            <a:p/>
          </p:txBody>
        </p:sp>
        <p:sp>
          <p:nvSpPr>
            <p:cNvPr id="44" name="object 44" descr=""/>
            <p:cNvSpPr/>
            <p:nvPr/>
          </p:nvSpPr>
          <p:spPr>
            <a:xfrm>
              <a:off x="7997449" y="3589406"/>
              <a:ext cx="166370" cy="50165"/>
            </a:xfrm>
            <a:custGeom>
              <a:avLst/>
              <a:gdLst/>
              <a:ahLst/>
              <a:cxnLst/>
              <a:rect l="l" t="t" r="r" b="b"/>
              <a:pathLst>
                <a:path w="166370" h="50164">
                  <a:moveTo>
                    <a:pt x="165836" y="0"/>
                  </a:moveTo>
                  <a:lnTo>
                    <a:pt x="0" y="50152"/>
                  </a:lnTo>
                </a:path>
              </a:pathLst>
            </a:custGeom>
            <a:ln w="28574">
              <a:solidFill>
                <a:srgbClr val="0066FF"/>
              </a:solidFill>
            </a:ln>
          </p:spPr>
          <p:txBody>
            <a:bodyPr wrap="square" lIns="0" tIns="0" rIns="0" bIns="0" rtlCol="0"/>
            <a:lstStyle/>
            <a:p/>
          </p:txBody>
        </p:sp>
        <p:sp>
          <p:nvSpPr>
            <p:cNvPr id="45" name="object 45" descr=""/>
            <p:cNvSpPr/>
            <p:nvPr/>
          </p:nvSpPr>
          <p:spPr>
            <a:xfrm>
              <a:off x="7929067" y="3552520"/>
              <a:ext cx="302895" cy="124460"/>
            </a:xfrm>
            <a:custGeom>
              <a:avLst/>
              <a:gdLst/>
              <a:ahLst/>
              <a:cxnLst/>
              <a:rect l="l" t="t" r="r" b="b"/>
              <a:pathLst>
                <a:path w="302895" h="124460">
                  <a:moveTo>
                    <a:pt x="94462" y="123926"/>
                  </a:moveTo>
                  <a:lnTo>
                    <a:pt x="69646" y="41871"/>
                  </a:lnTo>
                  <a:lnTo>
                    <a:pt x="0" y="107721"/>
                  </a:lnTo>
                  <a:lnTo>
                    <a:pt x="94462" y="123926"/>
                  </a:lnTo>
                  <a:close/>
                </a:path>
                <a:path w="302895" h="124460">
                  <a:moveTo>
                    <a:pt x="302590" y="16217"/>
                  </a:moveTo>
                  <a:lnTo>
                    <a:pt x="208127" y="0"/>
                  </a:lnTo>
                  <a:lnTo>
                    <a:pt x="232930" y="82054"/>
                  </a:lnTo>
                  <a:lnTo>
                    <a:pt x="302590" y="16217"/>
                  </a:lnTo>
                  <a:close/>
                </a:path>
              </a:pathLst>
            </a:custGeom>
            <a:solidFill>
              <a:srgbClr val="0066FF"/>
            </a:solidFill>
          </p:spPr>
          <p:txBody>
            <a:bodyPr wrap="square" lIns="0" tIns="0" rIns="0" bIns="0" rtlCol="0"/>
            <a:lstStyle/>
            <a:p/>
          </p:txBody>
        </p:sp>
        <p:sp>
          <p:nvSpPr>
            <p:cNvPr id="46" name="object 46" descr=""/>
            <p:cNvSpPr/>
            <p:nvPr/>
          </p:nvSpPr>
          <p:spPr>
            <a:xfrm>
              <a:off x="7118381" y="3590141"/>
              <a:ext cx="186055" cy="58419"/>
            </a:xfrm>
            <a:custGeom>
              <a:avLst/>
              <a:gdLst/>
              <a:ahLst/>
              <a:cxnLst/>
              <a:rect l="l" t="t" r="r" b="b"/>
              <a:pathLst>
                <a:path w="186054" h="58420">
                  <a:moveTo>
                    <a:pt x="185762" y="0"/>
                  </a:moveTo>
                  <a:lnTo>
                    <a:pt x="0" y="58369"/>
                  </a:lnTo>
                </a:path>
              </a:pathLst>
            </a:custGeom>
            <a:ln w="28575">
              <a:solidFill>
                <a:srgbClr val="0066FF"/>
              </a:solidFill>
            </a:ln>
          </p:spPr>
          <p:txBody>
            <a:bodyPr wrap="square" lIns="0" tIns="0" rIns="0" bIns="0" rtlCol="0"/>
            <a:lstStyle/>
            <a:p/>
          </p:txBody>
        </p:sp>
        <p:sp>
          <p:nvSpPr>
            <p:cNvPr id="47" name="object 47" descr=""/>
            <p:cNvSpPr/>
            <p:nvPr/>
          </p:nvSpPr>
          <p:spPr>
            <a:xfrm>
              <a:off x="7050227" y="3553536"/>
              <a:ext cx="322580" cy="132080"/>
            </a:xfrm>
            <a:custGeom>
              <a:avLst/>
              <a:gdLst/>
              <a:ahLst/>
              <a:cxnLst/>
              <a:rect l="l" t="t" r="r" b="b"/>
              <a:pathLst>
                <a:path w="322579" h="132079">
                  <a:moveTo>
                    <a:pt x="94627" y="131584"/>
                  </a:moveTo>
                  <a:lnTo>
                    <a:pt x="68922" y="49796"/>
                  </a:lnTo>
                  <a:lnTo>
                    <a:pt x="0" y="116395"/>
                  </a:lnTo>
                  <a:lnTo>
                    <a:pt x="94627" y="131584"/>
                  </a:lnTo>
                  <a:close/>
                </a:path>
                <a:path w="322579" h="132079">
                  <a:moveTo>
                    <a:pt x="322059" y="15201"/>
                  </a:moveTo>
                  <a:lnTo>
                    <a:pt x="227431" y="0"/>
                  </a:lnTo>
                  <a:lnTo>
                    <a:pt x="253123" y="81788"/>
                  </a:lnTo>
                  <a:lnTo>
                    <a:pt x="322059" y="15201"/>
                  </a:lnTo>
                  <a:close/>
                </a:path>
              </a:pathLst>
            </a:custGeom>
            <a:solidFill>
              <a:srgbClr val="0066FF"/>
            </a:solidFill>
          </p:spPr>
          <p:txBody>
            <a:bodyPr wrap="square" lIns="0" tIns="0" rIns="0" bIns="0" rtlCol="0"/>
            <a:lstStyle/>
            <a:p/>
          </p:txBody>
        </p:sp>
        <p:sp>
          <p:nvSpPr>
            <p:cNvPr id="48" name="object 48" descr=""/>
            <p:cNvSpPr/>
            <p:nvPr/>
          </p:nvSpPr>
          <p:spPr>
            <a:xfrm>
              <a:off x="7848343" y="3706604"/>
              <a:ext cx="53340" cy="26034"/>
            </a:xfrm>
            <a:custGeom>
              <a:avLst/>
              <a:gdLst/>
              <a:ahLst/>
              <a:cxnLst/>
              <a:rect l="l" t="t" r="r" b="b"/>
              <a:pathLst>
                <a:path w="53340" h="26035">
                  <a:moveTo>
                    <a:pt x="23342" y="25967"/>
                  </a:moveTo>
                  <a:lnTo>
                    <a:pt x="0" y="25967"/>
                  </a:lnTo>
                  <a:lnTo>
                    <a:pt x="44461" y="876"/>
                  </a:lnTo>
                  <a:lnTo>
                    <a:pt x="45002" y="654"/>
                  </a:lnTo>
                  <a:lnTo>
                    <a:pt x="45594" y="495"/>
                  </a:lnTo>
                  <a:lnTo>
                    <a:pt x="49276" y="0"/>
                  </a:lnTo>
                  <a:lnTo>
                    <a:pt x="52224" y="1474"/>
                  </a:lnTo>
                  <a:lnTo>
                    <a:pt x="52795" y="3710"/>
                  </a:lnTo>
                  <a:lnTo>
                    <a:pt x="50642" y="12270"/>
                  </a:lnTo>
                  <a:lnTo>
                    <a:pt x="44388" y="19308"/>
                  </a:lnTo>
                  <a:lnTo>
                    <a:pt x="34974" y="24110"/>
                  </a:lnTo>
                  <a:lnTo>
                    <a:pt x="23342" y="25967"/>
                  </a:lnTo>
                  <a:close/>
                </a:path>
              </a:pathLst>
            </a:custGeom>
            <a:solidFill>
              <a:srgbClr val="FFFFFF">
                <a:alpha val="29803"/>
              </a:srgbClr>
            </a:solidFill>
          </p:spPr>
          <p:txBody>
            <a:bodyPr wrap="square" lIns="0" tIns="0" rIns="0" bIns="0" rtlCol="0"/>
            <a:lstStyle/>
            <a:p/>
          </p:txBody>
        </p:sp>
        <p:sp>
          <p:nvSpPr>
            <p:cNvPr id="49" name="object 49" descr=""/>
            <p:cNvSpPr/>
            <p:nvPr/>
          </p:nvSpPr>
          <p:spPr>
            <a:xfrm>
              <a:off x="7823336" y="3715486"/>
              <a:ext cx="51435" cy="17780"/>
            </a:xfrm>
            <a:custGeom>
              <a:avLst/>
              <a:gdLst/>
              <a:ahLst/>
              <a:cxnLst/>
              <a:rect l="l" t="t" r="r" b="b"/>
              <a:pathLst>
                <a:path w="51434" h="17779">
                  <a:moveTo>
                    <a:pt x="14" y="7899"/>
                  </a:moveTo>
                  <a:lnTo>
                    <a:pt x="2543" y="12438"/>
                  </a:lnTo>
                  <a:lnTo>
                    <a:pt x="7921" y="15754"/>
                  </a:lnTo>
                  <a:lnTo>
                    <a:pt x="14378" y="16759"/>
                  </a:lnTo>
                  <a:lnTo>
                    <a:pt x="19285" y="17485"/>
                  </a:lnTo>
                  <a:lnTo>
                    <a:pt x="24361" y="17233"/>
                  </a:lnTo>
                  <a:lnTo>
                    <a:pt x="29092" y="16024"/>
                  </a:lnTo>
                  <a:lnTo>
                    <a:pt x="51208" y="6999"/>
                  </a:lnTo>
                  <a:lnTo>
                    <a:pt x="50443" y="4624"/>
                  </a:lnTo>
                  <a:lnTo>
                    <a:pt x="49471" y="2283"/>
                  </a:lnTo>
                  <a:lnTo>
                    <a:pt x="48300" y="0"/>
                  </a:lnTo>
                  <a:lnTo>
                    <a:pt x="27785" y="8990"/>
                  </a:lnTo>
                  <a:lnTo>
                    <a:pt x="21759" y="10765"/>
                  </a:lnTo>
                  <a:lnTo>
                    <a:pt x="15015" y="10591"/>
                  </a:lnTo>
                  <a:lnTo>
                    <a:pt x="9177" y="8511"/>
                  </a:lnTo>
                  <a:lnTo>
                    <a:pt x="4704" y="7052"/>
                  </a:lnTo>
                  <a:lnTo>
                    <a:pt x="1332" y="4181"/>
                  </a:lnTo>
                  <a:lnTo>
                    <a:pt x="0" y="696"/>
                  </a:lnTo>
                  <a:lnTo>
                    <a:pt x="14" y="7899"/>
                  </a:lnTo>
                  <a:close/>
                </a:path>
              </a:pathLst>
            </a:custGeom>
            <a:ln w="3175">
              <a:solidFill>
                <a:srgbClr val="FFFFFF"/>
              </a:solidFill>
            </a:ln>
          </p:spPr>
          <p:txBody>
            <a:bodyPr wrap="square" lIns="0" tIns="0" rIns="0" bIns="0" rtlCol="0"/>
            <a:lstStyle/>
            <a:p/>
          </p:txBody>
        </p:sp>
        <p:pic>
          <p:nvPicPr>
            <p:cNvPr id="50" name="object 50" descr=""/>
            <p:cNvPicPr/>
            <p:nvPr/>
          </p:nvPicPr>
          <p:blipFill>
            <a:blip r:embed="rId13" cstate="print"/>
            <a:stretch>
              <a:fillRect/>
            </a:stretch>
          </p:blipFill>
          <p:spPr>
            <a:xfrm>
              <a:off x="7880500" y="3671963"/>
              <a:ext cx="27420" cy="42036"/>
            </a:xfrm>
            <a:prstGeom prst="rect">
              <a:avLst/>
            </a:prstGeom>
          </p:spPr>
        </p:pic>
        <p:sp>
          <p:nvSpPr>
            <p:cNvPr id="51" name="object 51" descr=""/>
            <p:cNvSpPr/>
            <p:nvPr/>
          </p:nvSpPr>
          <p:spPr>
            <a:xfrm>
              <a:off x="7880544" y="3671963"/>
              <a:ext cx="27940" cy="42545"/>
            </a:xfrm>
            <a:custGeom>
              <a:avLst/>
              <a:gdLst/>
              <a:ahLst/>
              <a:cxnLst/>
              <a:rect l="l" t="t" r="r" b="b"/>
              <a:pathLst>
                <a:path w="27940" h="42545">
                  <a:moveTo>
                    <a:pt x="6140" y="42027"/>
                  </a:moveTo>
                  <a:lnTo>
                    <a:pt x="25569" y="18048"/>
                  </a:lnTo>
                  <a:lnTo>
                    <a:pt x="27387" y="12979"/>
                  </a:lnTo>
                  <a:lnTo>
                    <a:pt x="24998" y="7599"/>
                  </a:lnTo>
                  <a:lnTo>
                    <a:pt x="19484" y="4356"/>
                  </a:lnTo>
                  <a:lnTo>
                    <a:pt x="6419" y="0"/>
                  </a:lnTo>
                  <a:lnTo>
                    <a:pt x="15291" y="2423"/>
                  </a:lnTo>
                  <a:lnTo>
                    <a:pt x="19841" y="9741"/>
                  </a:lnTo>
                  <a:lnTo>
                    <a:pt x="16583" y="16349"/>
                  </a:lnTo>
                  <a:lnTo>
                    <a:pt x="0" y="37644"/>
                  </a:lnTo>
                  <a:lnTo>
                    <a:pt x="3272" y="37684"/>
                  </a:lnTo>
                  <a:lnTo>
                    <a:pt x="5948" y="39595"/>
                  </a:lnTo>
                  <a:lnTo>
                    <a:pt x="6140" y="42027"/>
                  </a:lnTo>
                  <a:close/>
                </a:path>
              </a:pathLst>
            </a:custGeom>
            <a:ln w="3247">
              <a:solidFill>
                <a:srgbClr val="FFFFFF"/>
              </a:solidFill>
            </a:ln>
          </p:spPr>
          <p:txBody>
            <a:bodyPr wrap="square" lIns="0" tIns="0" rIns="0" bIns="0" rtlCol="0"/>
            <a:lstStyle/>
            <a:p/>
          </p:txBody>
        </p:sp>
        <p:sp>
          <p:nvSpPr>
            <p:cNvPr id="52" name="object 52" descr=""/>
            <p:cNvSpPr/>
            <p:nvPr/>
          </p:nvSpPr>
          <p:spPr>
            <a:xfrm>
              <a:off x="7870108" y="3708667"/>
              <a:ext cx="18415" cy="15875"/>
            </a:xfrm>
            <a:custGeom>
              <a:avLst/>
              <a:gdLst/>
              <a:ahLst/>
              <a:cxnLst/>
              <a:rect l="l" t="t" r="r" b="b"/>
              <a:pathLst>
                <a:path w="18415" h="15875">
                  <a:moveTo>
                    <a:pt x="15626" y="10352"/>
                  </a:moveTo>
                  <a:lnTo>
                    <a:pt x="18310" y="6967"/>
                  </a:lnTo>
                  <a:lnTo>
                    <a:pt x="17588" y="3005"/>
                  </a:lnTo>
                  <a:lnTo>
                    <a:pt x="14014" y="1501"/>
                  </a:lnTo>
                  <a:lnTo>
                    <a:pt x="10439" y="0"/>
                  </a:lnTo>
                  <a:lnTo>
                    <a:pt x="5367" y="1525"/>
                  </a:lnTo>
                  <a:lnTo>
                    <a:pt x="2683" y="4910"/>
                  </a:lnTo>
                  <a:lnTo>
                    <a:pt x="0" y="8296"/>
                  </a:lnTo>
                  <a:lnTo>
                    <a:pt x="721" y="12258"/>
                  </a:lnTo>
                  <a:lnTo>
                    <a:pt x="4295" y="13762"/>
                  </a:lnTo>
                  <a:lnTo>
                    <a:pt x="7870" y="15263"/>
                  </a:lnTo>
                  <a:lnTo>
                    <a:pt x="12942" y="13738"/>
                  </a:lnTo>
                  <a:lnTo>
                    <a:pt x="15626" y="10352"/>
                  </a:lnTo>
                  <a:close/>
                </a:path>
              </a:pathLst>
            </a:custGeom>
            <a:ln w="3175">
              <a:solidFill>
                <a:srgbClr val="FFFFFF"/>
              </a:solidFill>
            </a:ln>
          </p:spPr>
          <p:txBody>
            <a:bodyPr wrap="square" lIns="0" tIns="0" rIns="0" bIns="0" rtlCol="0"/>
            <a:lstStyle/>
            <a:p/>
          </p:txBody>
        </p:sp>
        <p:sp>
          <p:nvSpPr>
            <p:cNvPr id="53" name="object 53" descr=""/>
            <p:cNvSpPr/>
            <p:nvPr/>
          </p:nvSpPr>
          <p:spPr>
            <a:xfrm>
              <a:off x="7823335" y="3704233"/>
              <a:ext cx="48895" cy="22225"/>
            </a:xfrm>
            <a:custGeom>
              <a:avLst/>
              <a:gdLst/>
              <a:ahLst/>
              <a:cxnLst/>
              <a:rect l="l" t="t" r="r" b="b"/>
              <a:pathLst>
                <a:path w="48895" h="22225">
                  <a:moveTo>
                    <a:pt x="22263" y="0"/>
                  </a:moveTo>
                  <a:lnTo>
                    <a:pt x="0" y="11950"/>
                  </a:lnTo>
                  <a:lnTo>
                    <a:pt x="1354" y="15440"/>
                  </a:lnTo>
                  <a:lnTo>
                    <a:pt x="4708" y="18292"/>
                  </a:lnTo>
                  <a:lnTo>
                    <a:pt x="9180" y="19764"/>
                  </a:lnTo>
                  <a:lnTo>
                    <a:pt x="14989" y="21844"/>
                  </a:lnTo>
                  <a:lnTo>
                    <a:pt x="21733" y="22018"/>
                  </a:lnTo>
                  <a:lnTo>
                    <a:pt x="27785" y="20244"/>
                  </a:lnTo>
                  <a:lnTo>
                    <a:pt x="48304" y="11253"/>
                  </a:lnTo>
                  <a:lnTo>
                    <a:pt x="22263" y="0"/>
                  </a:lnTo>
                  <a:close/>
                </a:path>
              </a:pathLst>
            </a:custGeom>
            <a:ln w="3175">
              <a:solidFill>
                <a:srgbClr val="000000"/>
              </a:solidFill>
            </a:ln>
          </p:spPr>
          <p:txBody>
            <a:bodyPr wrap="square" lIns="0" tIns="0" rIns="0" bIns="0" rtlCol="0"/>
            <a:lstStyle/>
            <a:p/>
          </p:txBody>
        </p:sp>
        <p:pic>
          <p:nvPicPr>
            <p:cNvPr id="54" name="object 54" descr=""/>
            <p:cNvPicPr/>
            <p:nvPr/>
          </p:nvPicPr>
          <p:blipFill>
            <a:blip r:embed="rId14" cstate="print"/>
            <a:stretch>
              <a:fillRect/>
            </a:stretch>
          </p:blipFill>
          <p:spPr>
            <a:xfrm>
              <a:off x="7851673" y="3671963"/>
              <a:ext cx="48971" cy="37909"/>
            </a:xfrm>
            <a:prstGeom prst="rect">
              <a:avLst/>
            </a:prstGeom>
          </p:spPr>
        </p:pic>
        <p:sp>
          <p:nvSpPr>
            <p:cNvPr id="55" name="object 55" descr=""/>
            <p:cNvSpPr/>
            <p:nvPr/>
          </p:nvSpPr>
          <p:spPr>
            <a:xfrm>
              <a:off x="7851679" y="3671180"/>
              <a:ext cx="49530" cy="38735"/>
            </a:xfrm>
            <a:custGeom>
              <a:avLst/>
              <a:gdLst/>
              <a:ahLst/>
              <a:cxnLst/>
              <a:rect l="l" t="t" r="r" b="b"/>
              <a:pathLst>
                <a:path w="49529" h="38735">
                  <a:moveTo>
                    <a:pt x="0" y="27195"/>
                  </a:moveTo>
                  <a:lnTo>
                    <a:pt x="27074" y="38692"/>
                  </a:lnTo>
                  <a:lnTo>
                    <a:pt x="28867" y="38427"/>
                  </a:lnTo>
                  <a:lnTo>
                    <a:pt x="44247" y="18710"/>
                  </a:lnTo>
                  <a:lnTo>
                    <a:pt x="48963" y="12741"/>
                  </a:lnTo>
                  <a:lnTo>
                    <a:pt x="46301" y="5160"/>
                  </a:lnTo>
                  <a:lnTo>
                    <a:pt x="38302" y="1777"/>
                  </a:lnTo>
                  <a:lnTo>
                    <a:pt x="37345" y="1372"/>
                  </a:lnTo>
                  <a:lnTo>
                    <a:pt x="36336" y="1040"/>
                  </a:lnTo>
                  <a:lnTo>
                    <a:pt x="35287" y="785"/>
                  </a:lnTo>
                  <a:lnTo>
                    <a:pt x="27490" y="0"/>
                  </a:lnTo>
                  <a:lnTo>
                    <a:pt x="19727" y="2648"/>
                  </a:lnTo>
                  <a:lnTo>
                    <a:pt x="15394" y="7572"/>
                  </a:lnTo>
                  <a:lnTo>
                    <a:pt x="0" y="27195"/>
                  </a:lnTo>
                  <a:close/>
                </a:path>
              </a:pathLst>
            </a:custGeom>
            <a:ln w="3175">
              <a:solidFill>
                <a:srgbClr val="000000"/>
              </a:solidFill>
            </a:ln>
          </p:spPr>
          <p:txBody>
            <a:bodyPr wrap="square" lIns="0" tIns="0" rIns="0" bIns="0" rtlCol="0"/>
            <a:lstStyle/>
            <a:p/>
          </p:txBody>
        </p:sp>
        <p:pic>
          <p:nvPicPr>
            <p:cNvPr id="56" name="object 56" descr=""/>
            <p:cNvPicPr/>
            <p:nvPr/>
          </p:nvPicPr>
          <p:blipFill>
            <a:blip r:embed="rId15" cstate="print"/>
            <a:stretch>
              <a:fillRect/>
            </a:stretch>
          </p:blipFill>
          <p:spPr>
            <a:xfrm>
              <a:off x="7845602" y="3698367"/>
              <a:ext cx="33159" cy="17119"/>
            </a:xfrm>
            <a:prstGeom prst="rect">
              <a:avLst/>
            </a:prstGeom>
          </p:spPr>
        </p:pic>
        <p:sp>
          <p:nvSpPr>
            <p:cNvPr id="57" name="object 57" descr=""/>
            <p:cNvSpPr/>
            <p:nvPr/>
          </p:nvSpPr>
          <p:spPr>
            <a:xfrm>
              <a:off x="7845599" y="3698376"/>
              <a:ext cx="33655" cy="17145"/>
            </a:xfrm>
            <a:custGeom>
              <a:avLst/>
              <a:gdLst/>
              <a:ahLst/>
              <a:cxnLst/>
              <a:rect l="l" t="t" r="r" b="b"/>
              <a:pathLst>
                <a:path w="33654" h="17145">
                  <a:moveTo>
                    <a:pt x="0" y="5857"/>
                  </a:moveTo>
                  <a:lnTo>
                    <a:pt x="26040" y="17110"/>
                  </a:lnTo>
                  <a:lnTo>
                    <a:pt x="27086" y="14504"/>
                  </a:lnTo>
                  <a:lnTo>
                    <a:pt x="29721" y="12424"/>
                  </a:lnTo>
                  <a:lnTo>
                    <a:pt x="33156" y="11494"/>
                  </a:lnTo>
                  <a:lnTo>
                    <a:pt x="6081" y="0"/>
                  </a:lnTo>
                  <a:lnTo>
                    <a:pt x="2867" y="1072"/>
                  </a:lnTo>
                  <a:lnTo>
                    <a:pt x="585" y="3270"/>
                  </a:lnTo>
                  <a:lnTo>
                    <a:pt x="0" y="5857"/>
                  </a:lnTo>
                  <a:close/>
                </a:path>
              </a:pathLst>
            </a:custGeom>
            <a:ln w="3175">
              <a:solidFill>
                <a:srgbClr val="000000"/>
              </a:solidFill>
            </a:ln>
          </p:spPr>
          <p:txBody>
            <a:bodyPr wrap="square" lIns="0" tIns="0" rIns="0" bIns="0" rtlCol="0"/>
            <a:lstStyle/>
            <a:p/>
          </p:txBody>
        </p:sp>
        <p:sp>
          <p:nvSpPr>
            <p:cNvPr id="58" name="object 58" descr=""/>
            <p:cNvSpPr/>
            <p:nvPr/>
          </p:nvSpPr>
          <p:spPr>
            <a:xfrm>
              <a:off x="7837344" y="3715981"/>
              <a:ext cx="5080" cy="2540"/>
            </a:xfrm>
            <a:custGeom>
              <a:avLst/>
              <a:gdLst/>
              <a:ahLst/>
              <a:cxnLst/>
              <a:rect l="l" t="t" r="r" b="b"/>
              <a:pathLst>
                <a:path w="5079" h="2539">
                  <a:moveTo>
                    <a:pt x="1509" y="2490"/>
                  </a:moveTo>
                  <a:lnTo>
                    <a:pt x="415" y="2214"/>
                  </a:lnTo>
                  <a:lnTo>
                    <a:pt x="0" y="1085"/>
                  </a:lnTo>
                  <a:lnTo>
                    <a:pt x="758" y="447"/>
                  </a:lnTo>
                  <a:lnTo>
                    <a:pt x="3044" y="0"/>
                  </a:lnTo>
                  <a:lnTo>
                    <a:pt x="4141" y="276"/>
                  </a:lnTo>
                  <a:lnTo>
                    <a:pt x="4347" y="841"/>
                  </a:lnTo>
                  <a:lnTo>
                    <a:pt x="4553" y="1407"/>
                  </a:lnTo>
                  <a:lnTo>
                    <a:pt x="3795" y="2045"/>
                  </a:lnTo>
                  <a:lnTo>
                    <a:pt x="1509" y="2490"/>
                  </a:lnTo>
                  <a:close/>
                </a:path>
              </a:pathLst>
            </a:custGeom>
            <a:solidFill>
              <a:srgbClr val="FFFFFF">
                <a:alpha val="29803"/>
              </a:srgbClr>
            </a:solidFill>
          </p:spPr>
          <p:txBody>
            <a:bodyPr wrap="square" lIns="0" tIns="0" rIns="0" bIns="0" rtlCol="0"/>
            <a:lstStyle/>
            <a:p/>
          </p:txBody>
        </p:sp>
        <p:sp>
          <p:nvSpPr>
            <p:cNvPr id="59" name="object 59" descr=""/>
            <p:cNvSpPr/>
            <p:nvPr/>
          </p:nvSpPr>
          <p:spPr>
            <a:xfrm>
              <a:off x="7837344" y="3715981"/>
              <a:ext cx="5080" cy="2540"/>
            </a:xfrm>
            <a:custGeom>
              <a:avLst/>
              <a:gdLst/>
              <a:ahLst/>
              <a:cxnLst/>
              <a:rect l="l" t="t" r="r" b="b"/>
              <a:pathLst>
                <a:path w="5079" h="2539">
                  <a:moveTo>
                    <a:pt x="4347" y="841"/>
                  </a:moveTo>
                  <a:lnTo>
                    <a:pt x="4141" y="276"/>
                  </a:lnTo>
                  <a:lnTo>
                    <a:pt x="3044" y="0"/>
                  </a:lnTo>
                  <a:lnTo>
                    <a:pt x="1899" y="225"/>
                  </a:lnTo>
                  <a:lnTo>
                    <a:pt x="758" y="447"/>
                  </a:lnTo>
                  <a:lnTo>
                    <a:pt x="0" y="1085"/>
                  </a:lnTo>
                  <a:lnTo>
                    <a:pt x="206" y="1648"/>
                  </a:lnTo>
                  <a:lnTo>
                    <a:pt x="415" y="2214"/>
                  </a:lnTo>
                  <a:lnTo>
                    <a:pt x="1509" y="2490"/>
                  </a:lnTo>
                  <a:lnTo>
                    <a:pt x="2654" y="2267"/>
                  </a:lnTo>
                  <a:lnTo>
                    <a:pt x="3795" y="2045"/>
                  </a:lnTo>
                  <a:lnTo>
                    <a:pt x="4553" y="1407"/>
                  </a:lnTo>
                  <a:lnTo>
                    <a:pt x="4347" y="841"/>
                  </a:lnTo>
                  <a:close/>
                </a:path>
              </a:pathLst>
            </a:custGeom>
            <a:ln w="3175">
              <a:solidFill>
                <a:srgbClr val="000000"/>
              </a:solidFill>
            </a:ln>
          </p:spPr>
          <p:txBody>
            <a:bodyPr wrap="square" lIns="0" tIns="0" rIns="0" bIns="0" rtlCol="0"/>
            <a:lstStyle/>
            <a:p/>
          </p:txBody>
        </p:sp>
        <p:sp>
          <p:nvSpPr>
            <p:cNvPr id="60" name="object 60" descr=""/>
            <p:cNvSpPr/>
            <p:nvPr/>
          </p:nvSpPr>
          <p:spPr>
            <a:xfrm>
              <a:off x="7866371" y="3674293"/>
              <a:ext cx="31750" cy="20320"/>
            </a:xfrm>
            <a:custGeom>
              <a:avLst/>
              <a:gdLst/>
              <a:ahLst/>
              <a:cxnLst/>
              <a:rect l="l" t="t" r="r" b="b"/>
              <a:pathLst>
                <a:path w="31750" h="20320">
                  <a:moveTo>
                    <a:pt x="0" y="10344"/>
                  </a:moveTo>
                  <a:lnTo>
                    <a:pt x="23460" y="20236"/>
                  </a:lnTo>
                  <a:lnTo>
                    <a:pt x="27347" y="14976"/>
                  </a:lnTo>
                  <a:lnTo>
                    <a:pt x="31138" y="10213"/>
                  </a:lnTo>
                  <a:lnTo>
                    <a:pt x="28967" y="4109"/>
                  </a:lnTo>
                  <a:lnTo>
                    <a:pt x="22495" y="1348"/>
                  </a:lnTo>
                  <a:lnTo>
                    <a:pt x="20426" y="466"/>
                  </a:lnTo>
                  <a:lnTo>
                    <a:pt x="18074" y="0"/>
                  </a:lnTo>
                  <a:lnTo>
                    <a:pt x="15678" y="2"/>
                  </a:lnTo>
                  <a:lnTo>
                    <a:pt x="10885" y="364"/>
                  </a:lnTo>
                  <a:lnTo>
                    <a:pt x="6585" y="2332"/>
                  </a:lnTo>
                  <a:lnTo>
                    <a:pt x="4012" y="5339"/>
                  </a:lnTo>
                  <a:lnTo>
                    <a:pt x="0" y="10344"/>
                  </a:lnTo>
                  <a:close/>
                </a:path>
              </a:pathLst>
            </a:custGeom>
            <a:ln w="3175">
              <a:solidFill>
                <a:srgbClr val="000000"/>
              </a:solidFill>
            </a:ln>
          </p:spPr>
          <p:txBody>
            <a:bodyPr wrap="square" lIns="0" tIns="0" rIns="0" bIns="0" rtlCol="0"/>
            <a:lstStyle/>
            <a:p/>
          </p:txBody>
        </p:sp>
        <p:sp>
          <p:nvSpPr>
            <p:cNvPr id="61" name="object 61" descr=""/>
            <p:cNvSpPr/>
            <p:nvPr/>
          </p:nvSpPr>
          <p:spPr>
            <a:xfrm>
              <a:off x="7823337" y="3670960"/>
              <a:ext cx="85090" cy="62230"/>
            </a:xfrm>
            <a:custGeom>
              <a:avLst/>
              <a:gdLst/>
              <a:ahLst/>
              <a:cxnLst/>
              <a:rect l="l" t="t" r="r" b="b"/>
              <a:pathLst>
                <a:path w="85090" h="62229">
                  <a:moveTo>
                    <a:pt x="28341" y="27414"/>
                  </a:moveTo>
                  <a:lnTo>
                    <a:pt x="25168" y="28524"/>
                  </a:lnTo>
                  <a:lnTo>
                    <a:pt x="22904" y="30704"/>
                  </a:lnTo>
                  <a:lnTo>
                    <a:pt x="22260" y="33272"/>
                  </a:lnTo>
                  <a:lnTo>
                    <a:pt x="2584" y="41499"/>
                  </a:lnTo>
                  <a:lnTo>
                    <a:pt x="1019" y="42389"/>
                  </a:lnTo>
                  <a:lnTo>
                    <a:pt x="69" y="43756"/>
                  </a:lnTo>
                  <a:lnTo>
                    <a:pt x="0" y="45222"/>
                  </a:lnTo>
                  <a:lnTo>
                    <a:pt x="14" y="52425"/>
                  </a:lnTo>
                  <a:lnTo>
                    <a:pt x="2094" y="57199"/>
                  </a:lnTo>
                  <a:lnTo>
                    <a:pt x="7689" y="60652"/>
                  </a:lnTo>
                  <a:lnTo>
                    <a:pt x="14378" y="61284"/>
                  </a:lnTo>
                  <a:lnTo>
                    <a:pt x="19292" y="61896"/>
                  </a:lnTo>
                  <a:lnTo>
                    <a:pt x="24328" y="61644"/>
                  </a:lnTo>
                  <a:lnTo>
                    <a:pt x="29088" y="60550"/>
                  </a:lnTo>
                  <a:lnTo>
                    <a:pt x="50130" y="51522"/>
                  </a:lnTo>
                  <a:lnTo>
                    <a:pt x="54345" y="52763"/>
                  </a:lnTo>
                  <a:lnTo>
                    <a:pt x="59145" y="51589"/>
                  </a:lnTo>
                  <a:lnTo>
                    <a:pt x="61549" y="48728"/>
                  </a:lnTo>
                  <a:lnTo>
                    <a:pt x="63154" y="47088"/>
                  </a:lnTo>
                  <a:lnTo>
                    <a:pt x="63801" y="45032"/>
                  </a:lnTo>
                  <a:lnTo>
                    <a:pt x="63345" y="43029"/>
                  </a:lnTo>
                  <a:lnTo>
                    <a:pt x="82774" y="19051"/>
                  </a:lnTo>
                  <a:lnTo>
                    <a:pt x="55751" y="0"/>
                  </a:lnTo>
                  <a:lnTo>
                    <a:pt x="47855" y="2694"/>
                  </a:lnTo>
                  <a:lnTo>
                    <a:pt x="43735" y="7792"/>
                  </a:lnTo>
                  <a:lnTo>
                    <a:pt x="28341" y="27414"/>
                  </a:lnTo>
                  <a:close/>
                </a:path>
              </a:pathLst>
            </a:custGeom>
            <a:ln w="6057">
              <a:solidFill>
                <a:srgbClr val="4677BF"/>
              </a:solidFill>
            </a:ln>
          </p:spPr>
          <p:txBody>
            <a:bodyPr wrap="square" lIns="0" tIns="0" rIns="0" bIns="0" rtlCol="0"/>
            <a:lstStyle/>
            <a:p/>
          </p:txBody>
        </p:sp>
        <p:sp>
          <p:nvSpPr>
            <p:cNvPr id="62" name="object 62" descr=""/>
            <p:cNvSpPr/>
            <p:nvPr/>
          </p:nvSpPr>
          <p:spPr>
            <a:xfrm>
              <a:off x="7862071" y="3689283"/>
              <a:ext cx="20955" cy="15875"/>
            </a:xfrm>
            <a:custGeom>
              <a:avLst/>
              <a:gdLst/>
              <a:ahLst/>
              <a:cxnLst/>
              <a:rect l="l" t="t" r="r" b="b"/>
              <a:pathLst>
                <a:path w="20954" h="15875">
                  <a:moveTo>
                    <a:pt x="11772" y="12958"/>
                  </a:moveTo>
                  <a:lnTo>
                    <a:pt x="13491" y="13663"/>
                  </a:lnTo>
                  <a:lnTo>
                    <a:pt x="13660" y="14236"/>
                  </a:lnTo>
                  <a:lnTo>
                    <a:pt x="12803" y="15453"/>
                  </a:lnTo>
                </a:path>
                <a:path w="20954" h="15875">
                  <a:moveTo>
                    <a:pt x="5886" y="10494"/>
                  </a:moveTo>
                  <a:lnTo>
                    <a:pt x="7605" y="11199"/>
                  </a:lnTo>
                  <a:lnTo>
                    <a:pt x="7778" y="11773"/>
                  </a:lnTo>
                  <a:lnTo>
                    <a:pt x="6916" y="12990"/>
                  </a:lnTo>
                </a:path>
                <a:path w="20954" h="15875">
                  <a:moveTo>
                    <a:pt x="0" y="8159"/>
                  </a:moveTo>
                  <a:lnTo>
                    <a:pt x="1719" y="8862"/>
                  </a:lnTo>
                  <a:lnTo>
                    <a:pt x="1892" y="9438"/>
                  </a:lnTo>
                  <a:lnTo>
                    <a:pt x="1030" y="10655"/>
                  </a:lnTo>
                </a:path>
                <a:path w="20954" h="15875">
                  <a:moveTo>
                    <a:pt x="3394" y="3967"/>
                  </a:moveTo>
                  <a:lnTo>
                    <a:pt x="5113" y="4672"/>
                  </a:lnTo>
                  <a:lnTo>
                    <a:pt x="5286" y="5248"/>
                  </a:lnTo>
                  <a:lnTo>
                    <a:pt x="4424" y="6463"/>
                  </a:lnTo>
                </a:path>
                <a:path w="20954" h="15875">
                  <a:moveTo>
                    <a:pt x="6703" y="0"/>
                  </a:moveTo>
                  <a:lnTo>
                    <a:pt x="8422" y="705"/>
                  </a:lnTo>
                  <a:lnTo>
                    <a:pt x="8591" y="1281"/>
                  </a:lnTo>
                  <a:lnTo>
                    <a:pt x="7734" y="2495"/>
                  </a:lnTo>
                </a:path>
                <a:path w="20954" h="15875">
                  <a:moveTo>
                    <a:pt x="12589" y="2337"/>
                  </a:moveTo>
                  <a:lnTo>
                    <a:pt x="14305" y="3039"/>
                  </a:lnTo>
                  <a:lnTo>
                    <a:pt x="14478" y="3616"/>
                  </a:lnTo>
                  <a:lnTo>
                    <a:pt x="13620" y="4830"/>
                  </a:lnTo>
                </a:path>
                <a:path w="20954" h="15875">
                  <a:moveTo>
                    <a:pt x="18475" y="4801"/>
                  </a:moveTo>
                  <a:lnTo>
                    <a:pt x="20191" y="5503"/>
                  </a:lnTo>
                  <a:lnTo>
                    <a:pt x="20364" y="6079"/>
                  </a:lnTo>
                  <a:lnTo>
                    <a:pt x="19506" y="7294"/>
                  </a:lnTo>
                </a:path>
                <a:path w="20954" h="15875">
                  <a:moveTo>
                    <a:pt x="9280" y="6302"/>
                  </a:moveTo>
                  <a:lnTo>
                    <a:pt x="10999" y="7007"/>
                  </a:lnTo>
                  <a:lnTo>
                    <a:pt x="11168" y="7583"/>
                  </a:lnTo>
                  <a:lnTo>
                    <a:pt x="10310" y="8797"/>
                  </a:lnTo>
                </a:path>
                <a:path w="20954" h="15875">
                  <a:moveTo>
                    <a:pt x="15166" y="8765"/>
                  </a:moveTo>
                  <a:lnTo>
                    <a:pt x="16885" y="9470"/>
                  </a:lnTo>
                  <a:lnTo>
                    <a:pt x="17054" y="10047"/>
                  </a:lnTo>
                  <a:lnTo>
                    <a:pt x="16197" y="11261"/>
                  </a:lnTo>
                </a:path>
              </a:pathLst>
            </a:custGeom>
            <a:ln w="3175">
              <a:solidFill>
                <a:srgbClr val="FFFFFF"/>
              </a:solidFill>
            </a:ln>
          </p:spPr>
          <p:txBody>
            <a:bodyPr wrap="square" lIns="0" tIns="0" rIns="0" bIns="0" rtlCol="0"/>
            <a:lstStyle/>
            <a:p/>
          </p:txBody>
        </p:sp>
        <p:pic>
          <p:nvPicPr>
            <p:cNvPr id="63" name="object 63" descr=""/>
            <p:cNvPicPr/>
            <p:nvPr/>
          </p:nvPicPr>
          <p:blipFill>
            <a:blip r:embed="rId16" cstate="print"/>
            <a:stretch>
              <a:fillRect/>
            </a:stretch>
          </p:blipFill>
          <p:spPr>
            <a:xfrm>
              <a:off x="7515431" y="3552957"/>
              <a:ext cx="274707" cy="116038"/>
            </a:xfrm>
            <a:prstGeom prst="rect">
              <a:avLst/>
            </a:prstGeom>
          </p:spPr>
        </p:pic>
        <p:sp>
          <p:nvSpPr>
            <p:cNvPr id="64" name="object 64" descr=""/>
            <p:cNvSpPr/>
            <p:nvPr/>
          </p:nvSpPr>
          <p:spPr>
            <a:xfrm>
              <a:off x="6699779" y="3592433"/>
              <a:ext cx="163830" cy="57785"/>
            </a:xfrm>
            <a:custGeom>
              <a:avLst/>
              <a:gdLst/>
              <a:ahLst/>
              <a:cxnLst/>
              <a:rect l="l" t="t" r="r" b="b"/>
              <a:pathLst>
                <a:path w="163829" h="57785">
                  <a:moveTo>
                    <a:pt x="0" y="0"/>
                  </a:moveTo>
                  <a:lnTo>
                    <a:pt x="163601" y="57543"/>
                  </a:lnTo>
                </a:path>
              </a:pathLst>
            </a:custGeom>
            <a:ln w="28575">
              <a:solidFill>
                <a:srgbClr val="0066FF"/>
              </a:solidFill>
            </a:ln>
          </p:spPr>
          <p:txBody>
            <a:bodyPr wrap="square" lIns="0" tIns="0" rIns="0" bIns="0" rtlCol="0"/>
            <a:lstStyle/>
            <a:p/>
          </p:txBody>
        </p:sp>
        <p:sp>
          <p:nvSpPr>
            <p:cNvPr id="65" name="object 65" descr=""/>
            <p:cNvSpPr/>
            <p:nvPr/>
          </p:nvSpPr>
          <p:spPr>
            <a:xfrm>
              <a:off x="6632384" y="3556736"/>
              <a:ext cx="298450" cy="129539"/>
            </a:xfrm>
            <a:custGeom>
              <a:avLst/>
              <a:gdLst/>
              <a:ahLst/>
              <a:cxnLst/>
              <a:rect l="l" t="t" r="r" b="b"/>
              <a:pathLst>
                <a:path w="298450" h="129539">
                  <a:moveTo>
                    <a:pt x="95097" y="0"/>
                  </a:moveTo>
                  <a:lnTo>
                    <a:pt x="0" y="12001"/>
                  </a:lnTo>
                  <a:lnTo>
                    <a:pt x="66649" y="80873"/>
                  </a:lnTo>
                  <a:lnTo>
                    <a:pt x="95097" y="0"/>
                  </a:lnTo>
                  <a:close/>
                </a:path>
                <a:path w="298450" h="129539">
                  <a:moveTo>
                    <a:pt x="298373" y="116954"/>
                  </a:moveTo>
                  <a:lnTo>
                    <a:pt x="231736" y="48069"/>
                  </a:lnTo>
                  <a:lnTo>
                    <a:pt x="203288" y="128930"/>
                  </a:lnTo>
                  <a:lnTo>
                    <a:pt x="298373" y="116954"/>
                  </a:lnTo>
                  <a:close/>
                </a:path>
              </a:pathLst>
            </a:custGeom>
            <a:solidFill>
              <a:srgbClr val="0066FF"/>
            </a:solidFill>
          </p:spPr>
          <p:txBody>
            <a:bodyPr wrap="square" lIns="0" tIns="0" rIns="0" bIns="0" rtlCol="0"/>
            <a:lstStyle/>
            <a:p/>
          </p:txBody>
        </p:sp>
        <p:sp>
          <p:nvSpPr>
            <p:cNvPr id="66" name="object 66" descr=""/>
            <p:cNvSpPr/>
            <p:nvPr/>
          </p:nvSpPr>
          <p:spPr>
            <a:xfrm>
              <a:off x="6005626" y="3257727"/>
              <a:ext cx="775970" cy="147320"/>
            </a:xfrm>
            <a:custGeom>
              <a:avLst/>
              <a:gdLst/>
              <a:ahLst/>
              <a:cxnLst/>
              <a:rect l="l" t="t" r="r" b="b"/>
              <a:pathLst>
                <a:path w="775970" h="147320">
                  <a:moveTo>
                    <a:pt x="775957" y="0"/>
                  </a:moveTo>
                  <a:lnTo>
                    <a:pt x="0" y="0"/>
                  </a:lnTo>
                  <a:lnTo>
                    <a:pt x="0" y="146824"/>
                  </a:lnTo>
                  <a:lnTo>
                    <a:pt x="775957" y="146824"/>
                  </a:lnTo>
                  <a:lnTo>
                    <a:pt x="775957" y="0"/>
                  </a:lnTo>
                  <a:close/>
                </a:path>
              </a:pathLst>
            </a:custGeom>
            <a:solidFill>
              <a:srgbClr val="0065B0">
                <a:alpha val="20783"/>
              </a:srgbClr>
            </a:solidFill>
          </p:spPr>
          <p:txBody>
            <a:bodyPr wrap="square" lIns="0" tIns="0" rIns="0" bIns="0" rtlCol="0"/>
            <a:lstStyle/>
            <a:p/>
          </p:txBody>
        </p:sp>
        <p:sp>
          <p:nvSpPr>
            <p:cNvPr id="67" name="object 67" descr=""/>
            <p:cNvSpPr/>
            <p:nvPr/>
          </p:nvSpPr>
          <p:spPr>
            <a:xfrm>
              <a:off x="6005626" y="3257727"/>
              <a:ext cx="775970" cy="147320"/>
            </a:xfrm>
            <a:custGeom>
              <a:avLst/>
              <a:gdLst/>
              <a:ahLst/>
              <a:cxnLst/>
              <a:rect l="l" t="t" r="r" b="b"/>
              <a:pathLst>
                <a:path w="775970" h="147320">
                  <a:moveTo>
                    <a:pt x="0" y="0"/>
                  </a:moveTo>
                  <a:lnTo>
                    <a:pt x="775957" y="0"/>
                  </a:lnTo>
                  <a:lnTo>
                    <a:pt x="775957" y="146824"/>
                  </a:lnTo>
                  <a:lnTo>
                    <a:pt x="0" y="146824"/>
                  </a:lnTo>
                  <a:lnTo>
                    <a:pt x="0" y="0"/>
                  </a:lnTo>
                  <a:close/>
                </a:path>
              </a:pathLst>
            </a:custGeom>
            <a:ln w="9525">
              <a:solidFill>
                <a:srgbClr val="FFFFFF"/>
              </a:solidFill>
            </a:ln>
          </p:spPr>
          <p:txBody>
            <a:bodyPr wrap="square" lIns="0" tIns="0" rIns="0" bIns="0" rtlCol="0"/>
            <a:lstStyle/>
            <a:p/>
          </p:txBody>
        </p:sp>
      </p:grpSp>
      <p:sp>
        <p:nvSpPr>
          <p:cNvPr id="68" name="object 68" descr=""/>
          <p:cNvSpPr txBox="1"/>
          <p:nvPr/>
        </p:nvSpPr>
        <p:spPr>
          <a:xfrm>
            <a:off x="5980919" y="3269679"/>
            <a:ext cx="796290" cy="116839"/>
          </a:xfrm>
          <a:prstGeom prst="rect">
            <a:avLst/>
          </a:prstGeom>
        </p:spPr>
        <p:txBody>
          <a:bodyPr wrap="square" lIns="0" tIns="12700" rIns="0" bIns="0" rtlCol="0" vert="horz">
            <a:spAutoFit/>
          </a:bodyPr>
          <a:lstStyle/>
          <a:p>
            <a:pPr marL="92710">
              <a:lnSpc>
                <a:spcPct val="100000"/>
              </a:lnSpc>
              <a:spcBef>
                <a:spcPts val="100"/>
              </a:spcBef>
            </a:pPr>
            <a:r>
              <a:rPr dirty="0" sz="600">
                <a:solidFill>
                  <a:srgbClr val="050505"/>
                </a:solidFill>
                <a:latin typeface="Microsoft YaHei"/>
                <a:cs typeface="Microsoft YaHei"/>
              </a:rPr>
              <a:t>多</a:t>
            </a:r>
            <a:r>
              <a:rPr dirty="0" sz="600" spc="-10">
                <a:solidFill>
                  <a:srgbClr val="050505"/>
                </a:solidFill>
                <a:latin typeface="Microsoft YaHei"/>
                <a:cs typeface="Microsoft YaHei"/>
              </a:rPr>
              <a:t>RRU共小区方式</a:t>
            </a:r>
            <a:endParaRPr sz="600">
              <a:latin typeface="Microsoft YaHei"/>
              <a:cs typeface="Microsoft YaHei"/>
            </a:endParaRPr>
          </a:p>
        </p:txBody>
      </p:sp>
      <p:pic>
        <p:nvPicPr>
          <p:cNvPr id="69" name="object 69" descr=""/>
          <p:cNvPicPr/>
          <p:nvPr/>
        </p:nvPicPr>
        <p:blipFill>
          <a:blip r:embed="rId17" cstate="print"/>
          <a:stretch>
            <a:fillRect/>
          </a:stretch>
        </p:blipFill>
        <p:spPr>
          <a:xfrm>
            <a:off x="6524306" y="3517590"/>
            <a:ext cx="98495" cy="145099"/>
          </a:xfrm>
          <a:prstGeom prst="rect">
            <a:avLst/>
          </a:prstGeom>
        </p:spPr>
      </p:pic>
      <p:sp>
        <p:nvSpPr>
          <p:cNvPr id="70" name="object 70" descr=""/>
          <p:cNvSpPr txBox="1"/>
          <p:nvPr/>
        </p:nvSpPr>
        <p:spPr>
          <a:xfrm>
            <a:off x="7366222" y="3681275"/>
            <a:ext cx="142240" cy="101600"/>
          </a:xfrm>
          <a:prstGeom prst="rect">
            <a:avLst/>
          </a:prstGeom>
        </p:spPr>
        <p:txBody>
          <a:bodyPr wrap="square" lIns="0" tIns="12065" rIns="0" bIns="0" rtlCol="0" vert="horz">
            <a:spAutoFit/>
          </a:bodyPr>
          <a:lstStyle/>
          <a:p>
            <a:pPr>
              <a:lnSpc>
                <a:spcPct val="100000"/>
              </a:lnSpc>
              <a:spcBef>
                <a:spcPts val="95"/>
              </a:spcBef>
            </a:pPr>
            <a:r>
              <a:rPr dirty="0" sz="500" spc="-25">
                <a:solidFill>
                  <a:srgbClr val="050505"/>
                </a:solidFill>
                <a:latin typeface="Microsoft YaHei"/>
                <a:cs typeface="Microsoft YaHei"/>
              </a:rPr>
              <a:t>RRU</a:t>
            </a:r>
            <a:endParaRPr sz="500">
              <a:latin typeface="Microsoft YaHei"/>
              <a:cs typeface="Microsoft YaHei"/>
            </a:endParaRPr>
          </a:p>
        </p:txBody>
      </p:sp>
      <p:pic>
        <p:nvPicPr>
          <p:cNvPr id="71" name="object 71" descr=""/>
          <p:cNvPicPr/>
          <p:nvPr/>
        </p:nvPicPr>
        <p:blipFill>
          <a:blip r:embed="rId18" cstate="print"/>
          <a:stretch>
            <a:fillRect/>
          </a:stretch>
        </p:blipFill>
        <p:spPr>
          <a:xfrm>
            <a:off x="7379828" y="3514473"/>
            <a:ext cx="98495" cy="145099"/>
          </a:xfrm>
          <a:prstGeom prst="rect">
            <a:avLst/>
          </a:prstGeom>
        </p:spPr>
      </p:pic>
      <p:sp>
        <p:nvSpPr>
          <p:cNvPr id="72" name="object 72" descr=""/>
          <p:cNvSpPr txBox="1"/>
          <p:nvPr/>
        </p:nvSpPr>
        <p:spPr>
          <a:xfrm>
            <a:off x="8254007" y="3685042"/>
            <a:ext cx="142240" cy="101600"/>
          </a:xfrm>
          <a:prstGeom prst="rect">
            <a:avLst/>
          </a:prstGeom>
        </p:spPr>
        <p:txBody>
          <a:bodyPr wrap="square" lIns="0" tIns="12065" rIns="0" bIns="0" rtlCol="0" vert="horz">
            <a:spAutoFit/>
          </a:bodyPr>
          <a:lstStyle/>
          <a:p>
            <a:pPr>
              <a:lnSpc>
                <a:spcPct val="100000"/>
              </a:lnSpc>
              <a:spcBef>
                <a:spcPts val="95"/>
              </a:spcBef>
            </a:pPr>
            <a:r>
              <a:rPr dirty="0" sz="500" spc="-25">
                <a:solidFill>
                  <a:srgbClr val="050505"/>
                </a:solidFill>
                <a:latin typeface="Microsoft YaHei"/>
                <a:cs typeface="Microsoft YaHei"/>
              </a:rPr>
              <a:t>RRU</a:t>
            </a:r>
            <a:endParaRPr sz="500">
              <a:latin typeface="Microsoft YaHei"/>
              <a:cs typeface="Microsoft YaHei"/>
            </a:endParaRPr>
          </a:p>
        </p:txBody>
      </p:sp>
      <p:grpSp>
        <p:nvGrpSpPr>
          <p:cNvPr id="73" name="object 73" descr=""/>
          <p:cNvGrpSpPr/>
          <p:nvPr/>
        </p:nvGrpSpPr>
        <p:grpSpPr>
          <a:xfrm>
            <a:off x="6019282" y="3440713"/>
            <a:ext cx="2802890" cy="386715"/>
            <a:chOff x="6019282" y="3440713"/>
            <a:chExt cx="2802890" cy="386715"/>
          </a:xfrm>
        </p:grpSpPr>
        <p:pic>
          <p:nvPicPr>
            <p:cNvPr id="74" name="object 74" descr=""/>
            <p:cNvPicPr/>
            <p:nvPr/>
          </p:nvPicPr>
          <p:blipFill>
            <a:blip r:embed="rId19" cstate="print"/>
            <a:stretch>
              <a:fillRect/>
            </a:stretch>
          </p:blipFill>
          <p:spPr>
            <a:xfrm>
              <a:off x="8267537" y="3518328"/>
              <a:ext cx="98495" cy="145098"/>
            </a:xfrm>
            <a:prstGeom prst="rect">
              <a:avLst/>
            </a:prstGeom>
          </p:spPr>
        </p:pic>
        <p:sp>
          <p:nvSpPr>
            <p:cNvPr id="75" name="object 75" descr=""/>
            <p:cNvSpPr/>
            <p:nvPr/>
          </p:nvSpPr>
          <p:spPr>
            <a:xfrm>
              <a:off x="6024045" y="3445475"/>
              <a:ext cx="2793365" cy="365760"/>
            </a:xfrm>
            <a:custGeom>
              <a:avLst/>
              <a:gdLst/>
              <a:ahLst/>
              <a:cxnLst/>
              <a:rect l="l" t="t" r="r" b="b"/>
              <a:pathLst>
                <a:path w="2793365" h="365760">
                  <a:moveTo>
                    <a:pt x="1396403" y="0"/>
                  </a:moveTo>
                  <a:lnTo>
                    <a:pt x="1244241" y="1072"/>
                  </a:lnTo>
                  <a:lnTo>
                    <a:pt x="1096825" y="4214"/>
                  </a:lnTo>
                  <a:lnTo>
                    <a:pt x="955007" y="9315"/>
                  </a:lnTo>
                  <a:lnTo>
                    <a:pt x="819641" y="16264"/>
                  </a:lnTo>
                  <a:lnTo>
                    <a:pt x="691579" y="24948"/>
                  </a:lnTo>
                  <a:lnTo>
                    <a:pt x="571671" y="35256"/>
                  </a:lnTo>
                  <a:lnTo>
                    <a:pt x="515041" y="40985"/>
                  </a:lnTo>
                  <a:lnTo>
                    <a:pt x="460770" y="47077"/>
                  </a:lnTo>
                  <a:lnTo>
                    <a:pt x="408964" y="53520"/>
                  </a:lnTo>
                  <a:lnTo>
                    <a:pt x="359728" y="60300"/>
                  </a:lnTo>
                  <a:lnTo>
                    <a:pt x="313170" y="67402"/>
                  </a:lnTo>
                  <a:lnTo>
                    <a:pt x="269397" y="74812"/>
                  </a:lnTo>
                  <a:lnTo>
                    <a:pt x="228513" y="82517"/>
                  </a:lnTo>
                  <a:lnTo>
                    <a:pt x="190627" y="90503"/>
                  </a:lnTo>
                  <a:lnTo>
                    <a:pt x="124270" y="107260"/>
                  </a:lnTo>
                  <a:lnTo>
                    <a:pt x="71178" y="124972"/>
                  </a:lnTo>
                  <a:lnTo>
                    <a:pt x="32202" y="143529"/>
                  </a:lnTo>
                  <a:lnTo>
                    <a:pt x="2065" y="172702"/>
                  </a:lnTo>
                  <a:lnTo>
                    <a:pt x="0" y="182727"/>
                  </a:lnTo>
                  <a:lnTo>
                    <a:pt x="2066" y="192754"/>
                  </a:lnTo>
                  <a:lnTo>
                    <a:pt x="32207" y="221930"/>
                  </a:lnTo>
                  <a:lnTo>
                    <a:pt x="71190" y="240488"/>
                  </a:lnTo>
                  <a:lnTo>
                    <a:pt x="124288" y="258202"/>
                  </a:lnTo>
                  <a:lnTo>
                    <a:pt x="190650" y="274961"/>
                  </a:lnTo>
                  <a:lnTo>
                    <a:pt x="228540" y="282947"/>
                  </a:lnTo>
                  <a:lnTo>
                    <a:pt x="269426" y="290652"/>
                  </a:lnTo>
                  <a:lnTo>
                    <a:pt x="313202" y="298063"/>
                  </a:lnTo>
                  <a:lnTo>
                    <a:pt x="359761" y="305165"/>
                  </a:lnTo>
                  <a:lnTo>
                    <a:pt x="408998" y="311945"/>
                  </a:lnTo>
                  <a:lnTo>
                    <a:pt x="460806" y="318388"/>
                  </a:lnTo>
                  <a:lnTo>
                    <a:pt x="515078" y="324481"/>
                  </a:lnTo>
                  <a:lnTo>
                    <a:pt x="571707" y="330210"/>
                  </a:lnTo>
                  <a:lnTo>
                    <a:pt x="691613" y="340518"/>
                  </a:lnTo>
                  <a:lnTo>
                    <a:pt x="819673" y="349203"/>
                  </a:lnTo>
                  <a:lnTo>
                    <a:pt x="955033" y="356151"/>
                  </a:lnTo>
                  <a:lnTo>
                    <a:pt x="1096843" y="361253"/>
                  </a:lnTo>
                  <a:lnTo>
                    <a:pt x="1244250" y="364395"/>
                  </a:lnTo>
                  <a:lnTo>
                    <a:pt x="1396403" y="365467"/>
                  </a:lnTo>
                  <a:lnTo>
                    <a:pt x="1548558" y="364395"/>
                  </a:lnTo>
                  <a:lnTo>
                    <a:pt x="1695966" y="361253"/>
                  </a:lnTo>
                  <a:lnTo>
                    <a:pt x="1837777" y="356151"/>
                  </a:lnTo>
                  <a:lnTo>
                    <a:pt x="1973138" y="349203"/>
                  </a:lnTo>
                  <a:lnTo>
                    <a:pt x="2101198" y="340518"/>
                  </a:lnTo>
                  <a:lnTo>
                    <a:pt x="2221104" y="330210"/>
                  </a:lnTo>
                  <a:lnTo>
                    <a:pt x="2277733" y="324481"/>
                  </a:lnTo>
                  <a:lnTo>
                    <a:pt x="2332004" y="318388"/>
                  </a:lnTo>
                  <a:lnTo>
                    <a:pt x="2383812" y="311945"/>
                  </a:lnTo>
                  <a:lnTo>
                    <a:pt x="2433048" y="305165"/>
                  </a:lnTo>
                  <a:lnTo>
                    <a:pt x="2479608" y="298063"/>
                  </a:lnTo>
                  <a:lnTo>
                    <a:pt x="2523383" y="290652"/>
                  </a:lnTo>
                  <a:lnTo>
                    <a:pt x="2564269" y="282947"/>
                  </a:lnTo>
                  <a:lnTo>
                    <a:pt x="2602158" y="274961"/>
                  </a:lnTo>
                  <a:lnTo>
                    <a:pt x="2668519" y="258202"/>
                  </a:lnTo>
                  <a:lnTo>
                    <a:pt x="2721617" y="240488"/>
                  </a:lnTo>
                  <a:lnTo>
                    <a:pt x="2760598" y="221930"/>
                  </a:lnTo>
                  <a:lnTo>
                    <a:pt x="2790740" y="192754"/>
                  </a:lnTo>
                  <a:lnTo>
                    <a:pt x="2792806" y="182727"/>
                  </a:lnTo>
                  <a:lnTo>
                    <a:pt x="2790739" y="172702"/>
                  </a:lnTo>
                  <a:lnTo>
                    <a:pt x="2760598" y="143529"/>
                  </a:lnTo>
                  <a:lnTo>
                    <a:pt x="2721616" y="124972"/>
                  </a:lnTo>
                  <a:lnTo>
                    <a:pt x="2668517" y="107260"/>
                  </a:lnTo>
                  <a:lnTo>
                    <a:pt x="2602155" y="90503"/>
                  </a:lnTo>
                  <a:lnTo>
                    <a:pt x="2564265" y="82517"/>
                  </a:lnTo>
                  <a:lnTo>
                    <a:pt x="2523380" y="74812"/>
                  </a:lnTo>
                  <a:lnTo>
                    <a:pt x="2479604" y="67402"/>
                  </a:lnTo>
                  <a:lnTo>
                    <a:pt x="2433044" y="60300"/>
                  </a:lnTo>
                  <a:lnTo>
                    <a:pt x="2383807" y="53520"/>
                  </a:lnTo>
                  <a:lnTo>
                    <a:pt x="2331999" y="47077"/>
                  </a:lnTo>
                  <a:lnTo>
                    <a:pt x="2277728" y="40985"/>
                  </a:lnTo>
                  <a:lnTo>
                    <a:pt x="2221098" y="35256"/>
                  </a:lnTo>
                  <a:lnTo>
                    <a:pt x="2101192" y="24948"/>
                  </a:lnTo>
                  <a:lnTo>
                    <a:pt x="1973133" y="16264"/>
                  </a:lnTo>
                  <a:lnTo>
                    <a:pt x="1837772" y="9315"/>
                  </a:lnTo>
                  <a:lnTo>
                    <a:pt x="1695962" y="4214"/>
                  </a:lnTo>
                  <a:lnTo>
                    <a:pt x="1548555" y="1072"/>
                  </a:lnTo>
                  <a:lnTo>
                    <a:pt x="1396403" y="0"/>
                  </a:lnTo>
                  <a:close/>
                </a:path>
              </a:pathLst>
            </a:custGeom>
            <a:solidFill>
              <a:srgbClr val="F2F2F2">
                <a:alpha val="36468"/>
              </a:srgbClr>
            </a:solidFill>
          </p:spPr>
          <p:txBody>
            <a:bodyPr wrap="square" lIns="0" tIns="0" rIns="0" bIns="0" rtlCol="0"/>
            <a:lstStyle/>
            <a:p/>
          </p:txBody>
        </p:sp>
        <p:sp>
          <p:nvSpPr>
            <p:cNvPr id="76" name="object 76" descr=""/>
            <p:cNvSpPr/>
            <p:nvPr/>
          </p:nvSpPr>
          <p:spPr>
            <a:xfrm>
              <a:off x="6024045" y="3445475"/>
              <a:ext cx="2793365" cy="365760"/>
            </a:xfrm>
            <a:custGeom>
              <a:avLst/>
              <a:gdLst/>
              <a:ahLst/>
              <a:cxnLst/>
              <a:rect l="l" t="t" r="r" b="b"/>
              <a:pathLst>
                <a:path w="2793365" h="365760">
                  <a:moveTo>
                    <a:pt x="0" y="182727"/>
                  </a:moveTo>
                  <a:lnTo>
                    <a:pt x="32207" y="143525"/>
                  </a:lnTo>
                  <a:lnTo>
                    <a:pt x="71190" y="124967"/>
                  </a:lnTo>
                  <a:lnTo>
                    <a:pt x="124288" y="107254"/>
                  </a:lnTo>
                  <a:lnTo>
                    <a:pt x="190650" y="90497"/>
                  </a:lnTo>
                  <a:lnTo>
                    <a:pt x="228540" y="82511"/>
                  </a:lnTo>
                  <a:lnTo>
                    <a:pt x="269426" y="74807"/>
                  </a:lnTo>
                  <a:lnTo>
                    <a:pt x="313202" y="67396"/>
                  </a:lnTo>
                  <a:lnTo>
                    <a:pt x="359761" y="60295"/>
                  </a:lnTo>
                  <a:lnTo>
                    <a:pt x="408998" y="53516"/>
                  </a:lnTo>
                  <a:lnTo>
                    <a:pt x="460806" y="47073"/>
                  </a:lnTo>
                  <a:lnTo>
                    <a:pt x="515078" y="40981"/>
                  </a:lnTo>
                  <a:lnTo>
                    <a:pt x="571707" y="35253"/>
                  </a:lnTo>
                  <a:lnTo>
                    <a:pt x="630588" y="29903"/>
                  </a:lnTo>
                  <a:lnTo>
                    <a:pt x="691613" y="24945"/>
                  </a:lnTo>
                  <a:lnTo>
                    <a:pt x="754677" y="20393"/>
                  </a:lnTo>
                  <a:lnTo>
                    <a:pt x="819673" y="16262"/>
                  </a:lnTo>
                  <a:lnTo>
                    <a:pt x="886493" y="12564"/>
                  </a:lnTo>
                  <a:lnTo>
                    <a:pt x="955033" y="9314"/>
                  </a:lnTo>
                  <a:lnTo>
                    <a:pt x="1025185" y="6526"/>
                  </a:lnTo>
                  <a:lnTo>
                    <a:pt x="1096843" y="4214"/>
                  </a:lnTo>
                  <a:lnTo>
                    <a:pt x="1169900" y="2391"/>
                  </a:lnTo>
                  <a:lnTo>
                    <a:pt x="1244250" y="1072"/>
                  </a:lnTo>
                  <a:lnTo>
                    <a:pt x="1319786" y="270"/>
                  </a:lnTo>
                  <a:lnTo>
                    <a:pt x="1396403" y="0"/>
                  </a:lnTo>
                  <a:lnTo>
                    <a:pt x="1473019" y="270"/>
                  </a:lnTo>
                  <a:lnTo>
                    <a:pt x="1548555" y="1072"/>
                  </a:lnTo>
                  <a:lnTo>
                    <a:pt x="1622905" y="2391"/>
                  </a:lnTo>
                  <a:lnTo>
                    <a:pt x="1695962" y="4214"/>
                  </a:lnTo>
                  <a:lnTo>
                    <a:pt x="1767620" y="6527"/>
                  </a:lnTo>
                  <a:lnTo>
                    <a:pt x="1837772" y="9315"/>
                  </a:lnTo>
                  <a:lnTo>
                    <a:pt x="1906312" y="12566"/>
                  </a:lnTo>
                  <a:lnTo>
                    <a:pt x="1973133" y="16264"/>
                  </a:lnTo>
                  <a:lnTo>
                    <a:pt x="2038128" y="20396"/>
                  </a:lnTo>
                  <a:lnTo>
                    <a:pt x="2101192" y="24948"/>
                  </a:lnTo>
                  <a:lnTo>
                    <a:pt x="2162217" y="29906"/>
                  </a:lnTo>
                  <a:lnTo>
                    <a:pt x="2221098" y="35256"/>
                  </a:lnTo>
                  <a:lnTo>
                    <a:pt x="2277728" y="40985"/>
                  </a:lnTo>
                  <a:lnTo>
                    <a:pt x="2331999" y="47077"/>
                  </a:lnTo>
                  <a:lnTo>
                    <a:pt x="2383807" y="53520"/>
                  </a:lnTo>
                  <a:lnTo>
                    <a:pt x="2433044" y="60300"/>
                  </a:lnTo>
                  <a:lnTo>
                    <a:pt x="2479604" y="67402"/>
                  </a:lnTo>
                  <a:lnTo>
                    <a:pt x="2523380" y="74812"/>
                  </a:lnTo>
                  <a:lnTo>
                    <a:pt x="2564265" y="82517"/>
                  </a:lnTo>
                  <a:lnTo>
                    <a:pt x="2602155" y="90503"/>
                  </a:lnTo>
                  <a:lnTo>
                    <a:pt x="2668517" y="107260"/>
                  </a:lnTo>
                  <a:lnTo>
                    <a:pt x="2721616" y="124972"/>
                  </a:lnTo>
                  <a:lnTo>
                    <a:pt x="2760598" y="143529"/>
                  </a:lnTo>
                  <a:lnTo>
                    <a:pt x="2790739" y="172702"/>
                  </a:lnTo>
                  <a:lnTo>
                    <a:pt x="2792806" y="182727"/>
                  </a:lnTo>
                  <a:lnTo>
                    <a:pt x="2790740" y="192754"/>
                  </a:lnTo>
                  <a:lnTo>
                    <a:pt x="2784612" y="202639"/>
                  </a:lnTo>
                  <a:lnTo>
                    <a:pt x="2742925" y="231307"/>
                  </a:lnTo>
                  <a:lnTo>
                    <a:pt x="2696779" y="249458"/>
                  </a:lnTo>
                  <a:lnTo>
                    <a:pt x="2636943" y="266708"/>
                  </a:lnTo>
                  <a:lnTo>
                    <a:pt x="2564269" y="282947"/>
                  </a:lnTo>
                  <a:lnTo>
                    <a:pt x="2523383" y="290652"/>
                  </a:lnTo>
                  <a:lnTo>
                    <a:pt x="2479608" y="298063"/>
                  </a:lnTo>
                  <a:lnTo>
                    <a:pt x="2433048" y="305165"/>
                  </a:lnTo>
                  <a:lnTo>
                    <a:pt x="2383812" y="311945"/>
                  </a:lnTo>
                  <a:lnTo>
                    <a:pt x="2332004" y="318388"/>
                  </a:lnTo>
                  <a:lnTo>
                    <a:pt x="2277733" y="324481"/>
                  </a:lnTo>
                  <a:lnTo>
                    <a:pt x="2221104" y="330210"/>
                  </a:lnTo>
                  <a:lnTo>
                    <a:pt x="2162223" y="335560"/>
                  </a:lnTo>
                  <a:lnTo>
                    <a:pt x="2101198" y="340518"/>
                  </a:lnTo>
                  <a:lnTo>
                    <a:pt x="2038134" y="345071"/>
                  </a:lnTo>
                  <a:lnTo>
                    <a:pt x="1973138" y="349203"/>
                  </a:lnTo>
                  <a:lnTo>
                    <a:pt x="1906317" y="352901"/>
                  </a:lnTo>
                  <a:lnTo>
                    <a:pt x="1837777" y="356151"/>
                  </a:lnTo>
                  <a:lnTo>
                    <a:pt x="1767625" y="358940"/>
                  </a:lnTo>
                  <a:lnTo>
                    <a:pt x="1695966" y="361253"/>
                  </a:lnTo>
                  <a:lnTo>
                    <a:pt x="1622908" y="363076"/>
                  </a:lnTo>
                  <a:lnTo>
                    <a:pt x="1548558" y="364395"/>
                  </a:lnTo>
                  <a:lnTo>
                    <a:pt x="1473020" y="365197"/>
                  </a:lnTo>
                  <a:lnTo>
                    <a:pt x="1396403" y="365467"/>
                  </a:lnTo>
                  <a:lnTo>
                    <a:pt x="1319786" y="365197"/>
                  </a:lnTo>
                  <a:lnTo>
                    <a:pt x="1244250" y="364395"/>
                  </a:lnTo>
                  <a:lnTo>
                    <a:pt x="1169900" y="363076"/>
                  </a:lnTo>
                  <a:lnTo>
                    <a:pt x="1096843" y="361253"/>
                  </a:lnTo>
                  <a:lnTo>
                    <a:pt x="1025185" y="358940"/>
                  </a:lnTo>
                  <a:lnTo>
                    <a:pt x="955033" y="356151"/>
                  </a:lnTo>
                  <a:lnTo>
                    <a:pt x="886493" y="352901"/>
                  </a:lnTo>
                  <a:lnTo>
                    <a:pt x="819673" y="349203"/>
                  </a:lnTo>
                  <a:lnTo>
                    <a:pt x="754677" y="345071"/>
                  </a:lnTo>
                  <a:lnTo>
                    <a:pt x="691613" y="340518"/>
                  </a:lnTo>
                  <a:lnTo>
                    <a:pt x="630588" y="335560"/>
                  </a:lnTo>
                  <a:lnTo>
                    <a:pt x="571707" y="330210"/>
                  </a:lnTo>
                  <a:lnTo>
                    <a:pt x="515078" y="324481"/>
                  </a:lnTo>
                  <a:lnTo>
                    <a:pt x="460806" y="318388"/>
                  </a:lnTo>
                  <a:lnTo>
                    <a:pt x="408998" y="311945"/>
                  </a:lnTo>
                  <a:lnTo>
                    <a:pt x="359761" y="305165"/>
                  </a:lnTo>
                  <a:lnTo>
                    <a:pt x="313202" y="298063"/>
                  </a:lnTo>
                  <a:lnTo>
                    <a:pt x="269426" y="290652"/>
                  </a:lnTo>
                  <a:lnTo>
                    <a:pt x="228540" y="282947"/>
                  </a:lnTo>
                  <a:lnTo>
                    <a:pt x="190650" y="274961"/>
                  </a:lnTo>
                  <a:lnTo>
                    <a:pt x="124288" y="258202"/>
                  </a:lnTo>
                  <a:lnTo>
                    <a:pt x="71190" y="240488"/>
                  </a:lnTo>
                  <a:lnTo>
                    <a:pt x="32207" y="221930"/>
                  </a:lnTo>
                  <a:lnTo>
                    <a:pt x="2066" y="192754"/>
                  </a:lnTo>
                  <a:lnTo>
                    <a:pt x="0" y="182727"/>
                  </a:lnTo>
                  <a:close/>
                </a:path>
              </a:pathLst>
            </a:custGeom>
            <a:ln w="9525">
              <a:solidFill>
                <a:srgbClr val="0066FF"/>
              </a:solidFill>
              <a:prstDash val="sysDash"/>
            </a:ln>
          </p:spPr>
          <p:txBody>
            <a:bodyPr wrap="square" lIns="0" tIns="0" rIns="0" bIns="0" rtlCol="0"/>
            <a:lstStyle/>
            <a:p/>
          </p:txBody>
        </p:sp>
        <p:sp>
          <p:nvSpPr>
            <p:cNvPr id="77" name="object 77" descr=""/>
            <p:cNvSpPr/>
            <p:nvPr/>
          </p:nvSpPr>
          <p:spPr>
            <a:xfrm>
              <a:off x="6525167" y="3782697"/>
              <a:ext cx="55880" cy="28575"/>
            </a:xfrm>
            <a:custGeom>
              <a:avLst/>
              <a:gdLst/>
              <a:ahLst/>
              <a:cxnLst/>
              <a:rect l="l" t="t" r="r" b="b"/>
              <a:pathLst>
                <a:path w="55879" h="28575">
                  <a:moveTo>
                    <a:pt x="55727" y="0"/>
                  </a:moveTo>
                  <a:lnTo>
                    <a:pt x="0" y="28473"/>
                  </a:lnTo>
                </a:path>
              </a:pathLst>
            </a:custGeom>
            <a:ln w="28575">
              <a:solidFill>
                <a:srgbClr val="0066FF"/>
              </a:solidFill>
            </a:ln>
          </p:spPr>
          <p:txBody>
            <a:bodyPr wrap="square" lIns="0" tIns="0" rIns="0" bIns="0" rtlCol="0"/>
            <a:lstStyle/>
            <a:p/>
          </p:txBody>
        </p:sp>
        <p:sp>
          <p:nvSpPr>
            <p:cNvPr id="78" name="object 78" descr=""/>
            <p:cNvSpPr/>
            <p:nvPr/>
          </p:nvSpPr>
          <p:spPr>
            <a:xfrm>
              <a:off x="6548671" y="3750196"/>
              <a:ext cx="95885" cy="77470"/>
            </a:xfrm>
            <a:custGeom>
              <a:avLst/>
              <a:gdLst/>
              <a:ahLst/>
              <a:cxnLst/>
              <a:rect l="l" t="t" r="r" b="b"/>
              <a:pathLst>
                <a:path w="95884" h="77470">
                  <a:moveTo>
                    <a:pt x="95846" y="0"/>
                  </a:moveTo>
                  <a:lnTo>
                    <a:pt x="0" y="825"/>
                  </a:lnTo>
                  <a:lnTo>
                    <a:pt x="39001" y="77165"/>
                  </a:lnTo>
                  <a:lnTo>
                    <a:pt x="95846" y="0"/>
                  </a:lnTo>
                  <a:close/>
                </a:path>
              </a:pathLst>
            </a:custGeom>
            <a:solidFill>
              <a:srgbClr val="0066FF"/>
            </a:solidFill>
          </p:spPr>
          <p:txBody>
            <a:bodyPr wrap="square" lIns="0" tIns="0" rIns="0" bIns="0" rtlCol="0"/>
            <a:lstStyle/>
            <a:p/>
          </p:txBody>
        </p:sp>
        <p:sp>
          <p:nvSpPr>
            <p:cNvPr id="79" name="object 79" descr=""/>
            <p:cNvSpPr/>
            <p:nvPr/>
          </p:nvSpPr>
          <p:spPr>
            <a:xfrm>
              <a:off x="6141999" y="3811169"/>
              <a:ext cx="382270" cy="0"/>
            </a:xfrm>
            <a:custGeom>
              <a:avLst/>
              <a:gdLst/>
              <a:ahLst/>
              <a:cxnLst/>
              <a:rect l="l" t="t" r="r" b="b"/>
              <a:pathLst>
                <a:path w="382270" h="0">
                  <a:moveTo>
                    <a:pt x="381914" y="0"/>
                  </a:moveTo>
                  <a:lnTo>
                    <a:pt x="0" y="0"/>
                  </a:lnTo>
                </a:path>
              </a:pathLst>
            </a:custGeom>
            <a:ln w="28575">
              <a:solidFill>
                <a:srgbClr val="0066FF"/>
              </a:solidFill>
            </a:ln>
          </p:spPr>
          <p:txBody>
            <a:bodyPr wrap="square" lIns="0" tIns="0" rIns="0" bIns="0" rtlCol="0"/>
            <a:lstStyle/>
            <a:p/>
          </p:txBody>
        </p:sp>
      </p:grpSp>
      <p:sp>
        <p:nvSpPr>
          <p:cNvPr id="80" name="object 80" descr=""/>
          <p:cNvSpPr txBox="1"/>
          <p:nvPr/>
        </p:nvSpPr>
        <p:spPr>
          <a:xfrm>
            <a:off x="6174451" y="3716884"/>
            <a:ext cx="504190" cy="101600"/>
          </a:xfrm>
          <a:prstGeom prst="rect">
            <a:avLst/>
          </a:prstGeom>
        </p:spPr>
        <p:txBody>
          <a:bodyPr wrap="square" lIns="0" tIns="12065" rIns="0" bIns="0" rtlCol="0" vert="horz">
            <a:spAutoFit/>
          </a:bodyPr>
          <a:lstStyle/>
          <a:p>
            <a:pPr marL="25400">
              <a:lnSpc>
                <a:spcPct val="100000"/>
              </a:lnSpc>
              <a:spcBef>
                <a:spcPts val="95"/>
              </a:spcBef>
            </a:pPr>
            <a:r>
              <a:rPr dirty="0" sz="500" spc="55">
                <a:solidFill>
                  <a:srgbClr val="3399FF"/>
                </a:solidFill>
                <a:latin typeface="Microsoft YaHei"/>
                <a:cs typeface="Microsoft YaHei"/>
              </a:rPr>
              <a:t>逻辑小区 </a:t>
            </a:r>
            <a:r>
              <a:rPr dirty="0" baseline="27777" sz="750" spc="-37">
                <a:solidFill>
                  <a:srgbClr val="050505"/>
                </a:solidFill>
                <a:latin typeface="Microsoft YaHei"/>
                <a:cs typeface="Microsoft YaHei"/>
              </a:rPr>
              <a:t>RRU</a:t>
            </a:r>
            <a:endParaRPr baseline="27777" sz="750">
              <a:latin typeface="Microsoft YaHei"/>
              <a:cs typeface="Microsoft YaHei"/>
            </a:endParaRPr>
          </a:p>
        </p:txBody>
      </p:sp>
      <p:sp>
        <p:nvSpPr>
          <p:cNvPr id="81" name="object 81"/>
          <p:cNvSpPr txBox="1">
            <a:spLocks noGrp="1"/>
          </p:cNvSpPr>
          <p:nvPr>
            <p:ph type="title"/>
          </p:nvPr>
        </p:nvSpPr>
        <p:spPr>
          <a:xfrm>
            <a:off x="1873103" y="92039"/>
            <a:ext cx="5673090" cy="513080"/>
          </a:xfrm>
          <a:prstGeom prst="rect"/>
        </p:spPr>
        <p:txBody>
          <a:bodyPr wrap="square" lIns="0" tIns="12065" rIns="0" bIns="0" rtlCol="0" vert="horz">
            <a:spAutoFit/>
          </a:bodyPr>
          <a:lstStyle/>
          <a:p>
            <a:pPr marL="12700">
              <a:lnSpc>
                <a:spcPct val="100000"/>
              </a:lnSpc>
              <a:spcBef>
                <a:spcPts val="95"/>
              </a:spcBef>
            </a:pPr>
            <a:r>
              <a:rPr dirty="0" spc="-35"/>
              <a:t>采用</a:t>
            </a:r>
            <a:r>
              <a:rPr dirty="0" spc="-30">
                <a:latin typeface="Times New Roman"/>
                <a:cs typeface="Times New Roman"/>
              </a:rPr>
              <a:t>8TR</a:t>
            </a:r>
            <a:r>
              <a:rPr dirty="0" spc="-45"/>
              <a:t>设备部署高铁应用场景</a:t>
            </a:r>
          </a:p>
        </p:txBody>
      </p:sp>
      <p:sp>
        <p:nvSpPr>
          <p:cNvPr id="82" name="object 82" descr=""/>
          <p:cNvSpPr/>
          <p:nvPr/>
        </p:nvSpPr>
        <p:spPr>
          <a:xfrm>
            <a:off x="0" y="4839995"/>
            <a:ext cx="9144000" cy="292735"/>
          </a:xfrm>
          <a:custGeom>
            <a:avLst/>
            <a:gdLst/>
            <a:ahLst/>
            <a:cxnLst/>
            <a:rect l="l" t="t" r="r" b="b"/>
            <a:pathLst>
              <a:path w="9144000" h="292735">
                <a:moveTo>
                  <a:pt x="9144000" y="0"/>
                </a:moveTo>
                <a:lnTo>
                  <a:pt x="0" y="0"/>
                </a:lnTo>
                <a:lnTo>
                  <a:pt x="0" y="292392"/>
                </a:lnTo>
                <a:lnTo>
                  <a:pt x="9144000" y="292392"/>
                </a:lnTo>
                <a:lnTo>
                  <a:pt x="9144000" y="0"/>
                </a:lnTo>
                <a:close/>
              </a:path>
            </a:pathLst>
          </a:custGeom>
          <a:solidFill>
            <a:srgbClr val="BBE0E3"/>
          </a:solidFill>
        </p:spPr>
        <p:txBody>
          <a:bodyPr wrap="square" lIns="0" tIns="0" rIns="0" bIns="0" rtlCol="0"/>
          <a:lstStyle/>
          <a:p/>
        </p:txBody>
      </p:sp>
      <p:sp>
        <p:nvSpPr>
          <p:cNvPr id="83" name="object 83" descr=""/>
          <p:cNvSpPr txBox="1"/>
          <p:nvPr/>
        </p:nvSpPr>
        <p:spPr>
          <a:xfrm>
            <a:off x="430656" y="4866925"/>
            <a:ext cx="8283575" cy="224154"/>
          </a:xfrm>
          <a:prstGeom prst="rect">
            <a:avLst/>
          </a:prstGeom>
        </p:spPr>
        <p:txBody>
          <a:bodyPr wrap="square" lIns="0" tIns="12700" rIns="0" bIns="0" rtlCol="0" vert="horz">
            <a:spAutoFit/>
          </a:bodyPr>
          <a:lstStyle/>
          <a:p>
            <a:pPr marL="12700">
              <a:lnSpc>
                <a:spcPct val="100000"/>
              </a:lnSpc>
              <a:spcBef>
                <a:spcPts val="100"/>
              </a:spcBef>
            </a:pPr>
            <a:r>
              <a:rPr dirty="0" sz="1300" spc="-15" b="1">
                <a:solidFill>
                  <a:srgbClr val="FFFFFF"/>
                </a:solidFill>
                <a:latin typeface="Microsoft YaHei"/>
                <a:cs typeface="Microsoft YaHei"/>
              </a:rPr>
              <a:t>采用高增益窄波束天线，通过多普勒频偏消减技术、多小区合并技术，合理设计重叠切换带，提升速率和用户感知</a:t>
            </a:r>
            <a:endParaRPr sz="1300">
              <a:latin typeface="Microsoft YaHei"/>
              <a:cs typeface="Microsoft YaHei"/>
            </a:endParaRPr>
          </a:p>
        </p:txBody>
      </p:sp>
      <p:sp>
        <p:nvSpPr>
          <p:cNvPr id="84" name="object 84" descr=""/>
          <p:cNvSpPr/>
          <p:nvPr/>
        </p:nvSpPr>
        <p:spPr>
          <a:xfrm>
            <a:off x="307162" y="1229334"/>
            <a:ext cx="2105025" cy="927735"/>
          </a:xfrm>
          <a:custGeom>
            <a:avLst/>
            <a:gdLst/>
            <a:ahLst/>
            <a:cxnLst/>
            <a:rect l="l" t="t" r="r" b="b"/>
            <a:pathLst>
              <a:path w="2105025" h="927735">
                <a:moveTo>
                  <a:pt x="0" y="0"/>
                </a:moveTo>
                <a:lnTo>
                  <a:pt x="2104593" y="0"/>
                </a:lnTo>
                <a:lnTo>
                  <a:pt x="2104593" y="927163"/>
                </a:lnTo>
                <a:lnTo>
                  <a:pt x="0" y="927163"/>
                </a:lnTo>
                <a:lnTo>
                  <a:pt x="0" y="0"/>
                </a:lnTo>
                <a:close/>
              </a:path>
            </a:pathLst>
          </a:custGeom>
          <a:ln w="9524">
            <a:solidFill>
              <a:srgbClr val="003399"/>
            </a:solidFill>
          </a:ln>
        </p:spPr>
        <p:txBody>
          <a:bodyPr wrap="square" lIns="0" tIns="0" rIns="0" bIns="0" rtlCol="0"/>
          <a:lstStyle/>
          <a:p/>
        </p:txBody>
      </p:sp>
      <p:grpSp>
        <p:nvGrpSpPr>
          <p:cNvPr id="85" name="object 85" descr=""/>
          <p:cNvGrpSpPr/>
          <p:nvPr/>
        </p:nvGrpSpPr>
        <p:grpSpPr>
          <a:xfrm>
            <a:off x="2731008" y="2572524"/>
            <a:ext cx="4954905" cy="1420495"/>
            <a:chOff x="2731008" y="2572524"/>
            <a:chExt cx="4954905" cy="1420495"/>
          </a:xfrm>
        </p:grpSpPr>
        <p:sp>
          <p:nvSpPr>
            <p:cNvPr id="86" name="object 86" descr=""/>
            <p:cNvSpPr/>
            <p:nvPr/>
          </p:nvSpPr>
          <p:spPr>
            <a:xfrm>
              <a:off x="7150301" y="3760692"/>
              <a:ext cx="521334" cy="635"/>
            </a:xfrm>
            <a:custGeom>
              <a:avLst/>
              <a:gdLst/>
              <a:ahLst/>
              <a:cxnLst/>
              <a:rect l="l" t="t" r="r" b="b"/>
              <a:pathLst>
                <a:path w="521334" h="635">
                  <a:moveTo>
                    <a:pt x="0" y="0"/>
                  </a:moveTo>
                  <a:lnTo>
                    <a:pt x="520712" y="419"/>
                  </a:lnTo>
                </a:path>
              </a:pathLst>
            </a:custGeom>
            <a:ln w="28575">
              <a:solidFill>
                <a:srgbClr val="000000"/>
              </a:solidFill>
            </a:ln>
          </p:spPr>
          <p:txBody>
            <a:bodyPr wrap="square" lIns="0" tIns="0" rIns="0" bIns="0" rtlCol="0"/>
            <a:lstStyle/>
            <a:p/>
          </p:txBody>
        </p:sp>
        <p:sp>
          <p:nvSpPr>
            <p:cNvPr id="87" name="object 87" descr=""/>
            <p:cNvSpPr/>
            <p:nvPr/>
          </p:nvSpPr>
          <p:spPr>
            <a:xfrm>
              <a:off x="7585247" y="3711036"/>
              <a:ext cx="86360" cy="100330"/>
            </a:xfrm>
            <a:custGeom>
              <a:avLst/>
              <a:gdLst/>
              <a:ahLst/>
              <a:cxnLst/>
              <a:rect l="l" t="t" r="r" b="b"/>
              <a:pathLst>
                <a:path w="86359" h="100329">
                  <a:moveTo>
                    <a:pt x="88" y="0"/>
                  </a:moveTo>
                  <a:lnTo>
                    <a:pt x="85775" y="50076"/>
                  </a:lnTo>
                  <a:lnTo>
                    <a:pt x="0" y="100012"/>
                  </a:lnTo>
                </a:path>
              </a:pathLst>
            </a:custGeom>
            <a:ln w="28575">
              <a:solidFill>
                <a:srgbClr val="000000"/>
              </a:solidFill>
            </a:ln>
          </p:spPr>
          <p:txBody>
            <a:bodyPr wrap="square" lIns="0" tIns="0" rIns="0" bIns="0" rtlCol="0"/>
            <a:lstStyle/>
            <a:p/>
          </p:txBody>
        </p:sp>
        <p:sp>
          <p:nvSpPr>
            <p:cNvPr id="88" name="object 88" descr=""/>
            <p:cNvSpPr/>
            <p:nvPr/>
          </p:nvSpPr>
          <p:spPr>
            <a:xfrm>
              <a:off x="2844553" y="2634107"/>
              <a:ext cx="2691130" cy="1344930"/>
            </a:xfrm>
            <a:custGeom>
              <a:avLst/>
              <a:gdLst/>
              <a:ahLst/>
              <a:cxnLst/>
              <a:rect l="l" t="t" r="r" b="b"/>
              <a:pathLst>
                <a:path w="2691129" h="1344929">
                  <a:moveTo>
                    <a:pt x="667600" y="54025"/>
                  </a:moveTo>
                  <a:lnTo>
                    <a:pt x="607025" y="73320"/>
                  </a:lnTo>
                  <a:lnTo>
                    <a:pt x="548862" y="94109"/>
                  </a:lnTo>
                  <a:lnTo>
                    <a:pt x="493187" y="116331"/>
                  </a:lnTo>
                  <a:lnTo>
                    <a:pt x="440074" y="139921"/>
                  </a:lnTo>
                  <a:lnTo>
                    <a:pt x="389598" y="164817"/>
                  </a:lnTo>
                  <a:lnTo>
                    <a:pt x="341835" y="190956"/>
                  </a:lnTo>
                  <a:lnTo>
                    <a:pt x="296860" y="218274"/>
                  </a:lnTo>
                  <a:lnTo>
                    <a:pt x="254747" y="246710"/>
                  </a:lnTo>
                  <a:lnTo>
                    <a:pt x="215572" y="276199"/>
                  </a:lnTo>
                  <a:lnTo>
                    <a:pt x="179409" y="306679"/>
                  </a:lnTo>
                  <a:lnTo>
                    <a:pt x="146335" y="338087"/>
                  </a:lnTo>
                  <a:lnTo>
                    <a:pt x="116423" y="370359"/>
                  </a:lnTo>
                  <a:lnTo>
                    <a:pt x="89749" y="403433"/>
                  </a:lnTo>
                  <a:lnTo>
                    <a:pt x="66388" y="437246"/>
                  </a:lnTo>
                  <a:lnTo>
                    <a:pt x="46416" y="471735"/>
                  </a:lnTo>
                  <a:lnTo>
                    <a:pt x="29906" y="506836"/>
                  </a:lnTo>
                  <a:lnTo>
                    <a:pt x="7576" y="578624"/>
                  </a:lnTo>
                  <a:lnTo>
                    <a:pt x="0" y="652106"/>
                  </a:lnTo>
                  <a:lnTo>
                    <a:pt x="1464" y="684704"/>
                  </a:lnTo>
                  <a:lnTo>
                    <a:pt x="12986" y="748700"/>
                  </a:lnTo>
                  <a:lnTo>
                    <a:pt x="35534" y="810879"/>
                  </a:lnTo>
                  <a:lnTo>
                    <a:pt x="68592" y="870973"/>
                  </a:lnTo>
                  <a:lnTo>
                    <a:pt x="111642" y="928717"/>
                  </a:lnTo>
                  <a:lnTo>
                    <a:pt x="164169" y="983844"/>
                  </a:lnTo>
                  <a:lnTo>
                    <a:pt x="193825" y="1010344"/>
                  </a:lnTo>
                  <a:lnTo>
                    <a:pt x="225655" y="1036090"/>
                  </a:lnTo>
                  <a:lnTo>
                    <a:pt x="259597" y="1061049"/>
                  </a:lnTo>
                  <a:lnTo>
                    <a:pt x="295584" y="1085188"/>
                  </a:lnTo>
                  <a:lnTo>
                    <a:pt x="333553" y="1108473"/>
                  </a:lnTo>
                  <a:lnTo>
                    <a:pt x="373439" y="1130872"/>
                  </a:lnTo>
                  <a:lnTo>
                    <a:pt x="415177" y="1152350"/>
                  </a:lnTo>
                  <a:lnTo>
                    <a:pt x="458703" y="1172876"/>
                  </a:lnTo>
                  <a:lnTo>
                    <a:pt x="503951" y="1192414"/>
                  </a:lnTo>
                  <a:lnTo>
                    <a:pt x="550859" y="1210934"/>
                  </a:lnTo>
                  <a:lnTo>
                    <a:pt x="599360" y="1228400"/>
                  </a:lnTo>
                  <a:lnTo>
                    <a:pt x="649390" y="1244780"/>
                  </a:lnTo>
                  <a:lnTo>
                    <a:pt x="700885" y="1260041"/>
                  </a:lnTo>
                  <a:lnTo>
                    <a:pt x="753781" y="1274149"/>
                  </a:lnTo>
                  <a:lnTo>
                    <a:pt x="808011" y="1287072"/>
                  </a:lnTo>
                  <a:lnTo>
                    <a:pt x="863513" y="1298775"/>
                  </a:lnTo>
                  <a:lnTo>
                    <a:pt x="920221" y="1309226"/>
                  </a:lnTo>
                  <a:lnTo>
                    <a:pt x="978070" y="1318391"/>
                  </a:lnTo>
                  <a:lnTo>
                    <a:pt x="1036997" y="1326237"/>
                  </a:lnTo>
                  <a:lnTo>
                    <a:pt x="1096936" y="1332731"/>
                  </a:lnTo>
                  <a:lnTo>
                    <a:pt x="1157823" y="1337840"/>
                  </a:lnTo>
                  <a:lnTo>
                    <a:pt x="1219594" y="1341531"/>
                  </a:lnTo>
                  <a:lnTo>
                    <a:pt x="1282183" y="1343770"/>
                  </a:lnTo>
                  <a:lnTo>
                    <a:pt x="1345526" y="1344523"/>
                  </a:lnTo>
                  <a:lnTo>
                    <a:pt x="1408866" y="1343770"/>
                  </a:lnTo>
                  <a:lnTo>
                    <a:pt x="1471451" y="1341531"/>
                  </a:lnTo>
                  <a:lnTo>
                    <a:pt x="1533219" y="1337840"/>
                  </a:lnTo>
                  <a:lnTo>
                    <a:pt x="1594103" y="1332731"/>
                  </a:lnTo>
                  <a:lnTo>
                    <a:pt x="1654040" y="1326237"/>
                  </a:lnTo>
                  <a:lnTo>
                    <a:pt x="1712965" y="1318391"/>
                  </a:lnTo>
                  <a:lnTo>
                    <a:pt x="1770814" y="1309226"/>
                  </a:lnTo>
                  <a:lnTo>
                    <a:pt x="1827521" y="1298775"/>
                  </a:lnTo>
                  <a:lnTo>
                    <a:pt x="1883022" y="1287072"/>
                  </a:lnTo>
                  <a:lnTo>
                    <a:pt x="1937253" y="1274149"/>
                  </a:lnTo>
                  <a:lnTo>
                    <a:pt x="1990148" y="1260041"/>
                  </a:lnTo>
                  <a:lnTo>
                    <a:pt x="2041643" y="1244780"/>
                  </a:lnTo>
                  <a:lnTo>
                    <a:pt x="2091675" y="1228400"/>
                  </a:lnTo>
                  <a:lnTo>
                    <a:pt x="2140177" y="1210934"/>
                  </a:lnTo>
                  <a:lnTo>
                    <a:pt x="2187085" y="1192414"/>
                  </a:lnTo>
                  <a:lnTo>
                    <a:pt x="2232335" y="1172876"/>
                  </a:lnTo>
                  <a:lnTo>
                    <a:pt x="2275862" y="1152350"/>
                  </a:lnTo>
                  <a:lnTo>
                    <a:pt x="2317602" y="1130872"/>
                  </a:lnTo>
                  <a:lnTo>
                    <a:pt x="2357489" y="1108473"/>
                  </a:lnTo>
                  <a:lnTo>
                    <a:pt x="2395460" y="1085188"/>
                  </a:lnTo>
                  <a:lnTo>
                    <a:pt x="2431450" y="1061049"/>
                  </a:lnTo>
                  <a:lnTo>
                    <a:pt x="2465393" y="1036090"/>
                  </a:lnTo>
                  <a:lnTo>
                    <a:pt x="2497226" y="1010344"/>
                  </a:lnTo>
                  <a:lnTo>
                    <a:pt x="2526883" y="983844"/>
                  </a:lnTo>
                  <a:lnTo>
                    <a:pt x="2554301" y="956624"/>
                  </a:lnTo>
                  <a:lnTo>
                    <a:pt x="2602158" y="900155"/>
                  </a:lnTo>
                  <a:lnTo>
                    <a:pt x="2640280" y="841203"/>
                  </a:lnTo>
                  <a:lnTo>
                    <a:pt x="2668150" y="780033"/>
                  </a:lnTo>
                  <a:lnTo>
                    <a:pt x="2685251" y="716913"/>
                  </a:lnTo>
                  <a:lnTo>
                    <a:pt x="2691066" y="652106"/>
                  </a:lnTo>
                  <a:lnTo>
                    <a:pt x="2689361" y="617147"/>
                  </a:lnTo>
                  <a:lnTo>
                    <a:pt x="2675927" y="548340"/>
                  </a:lnTo>
                  <a:lnTo>
                    <a:pt x="2649588" y="481350"/>
                  </a:lnTo>
                  <a:lnTo>
                    <a:pt x="2610896" y="416580"/>
                  </a:lnTo>
                  <a:lnTo>
                    <a:pt x="2587090" y="385153"/>
                  </a:lnTo>
                  <a:lnTo>
                    <a:pt x="2560402" y="354432"/>
                  </a:lnTo>
                  <a:lnTo>
                    <a:pt x="2530902" y="324468"/>
                  </a:lnTo>
                  <a:lnTo>
                    <a:pt x="2498658" y="295310"/>
                  </a:lnTo>
                  <a:lnTo>
                    <a:pt x="2463739" y="267009"/>
                  </a:lnTo>
                  <a:lnTo>
                    <a:pt x="2426215" y="239616"/>
                  </a:lnTo>
                  <a:lnTo>
                    <a:pt x="2386155" y="213181"/>
                  </a:lnTo>
                  <a:lnTo>
                    <a:pt x="2343626" y="187753"/>
                  </a:lnTo>
                  <a:lnTo>
                    <a:pt x="2298699" y="163384"/>
                  </a:lnTo>
                  <a:lnTo>
                    <a:pt x="2251442" y="140124"/>
                  </a:lnTo>
                  <a:lnTo>
                    <a:pt x="2201924" y="118023"/>
                  </a:lnTo>
                  <a:lnTo>
                    <a:pt x="2150214" y="97131"/>
                  </a:lnTo>
                  <a:lnTo>
                    <a:pt x="2096381" y="77499"/>
                  </a:lnTo>
                  <a:lnTo>
                    <a:pt x="2040494" y="59177"/>
                  </a:lnTo>
                  <a:lnTo>
                    <a:pt x="1982622" y="42216"/>
                  </a:lnTo>
                  <a:lnTo>
                    <a:pt x="1922834" y="26666"/>
                  </a:lnTo>
                  <a:lnTo>
                    <a:pt x="1861199" y="12577"/>
                  </a:lnTo>
                  <a:lnTo>
                    <a:pt x="1797786" y="0"/>
                  </a:lnTo>
                </a:path>
              </a:pathLst>
            </a:custGeom>
            <a:ln w="28575">
              <a:solidFill>
                <a:srgbClr val="FF6600"/>
              </a:solidFill>
              <a:prstDash val="sysDot"/>
            </a:ln>
          </p:spPr>
          <p:txBody>
            <a:bodyPr wrap="square" lIns="0" tIns="0" rIns="0" bIns="0" rtlCol="0"/>
            <a:lstStyle/>
            <a:p/>
          </p:txBody>
        </p:sp>
        <p:sp>
          <p:nvSpPr>
            <p:cNvPr id="89" name="object 89" descr=""/>
            <p:cNvSpPr/>
            <p:nvPr/>
          </p:nvSpPr>
          <p:spPr>
            <a:xfrm>
              <a:off x="3487183" y="2650611"/>
              <a:ext cx="94615" cy="82550"/>
            </a:xfrm>
            <a:custGeom>
              <a:avLst/>
              <a:gdLst/>
              <a:ahLst/>
              <a:cxnLst/>
              <a:rect l="l" t="t" r="r" b="b"/>
              <a:pathLst>
                <a:path w="94614" h="82550">
                  <a:moveTo>
                    <a:pt x="0" y="0"/>
                  </a:moveTo>
                  <a:lnTo>
                    <a:pt x="23126" y="82550"/>
                  </a:lnTo>
                  <a:lnTo>
                    <a:pt x="94107" y="18148"/>
                  </a:lnTo>
                  <a:lnTo>
                    <a:pt x="0" y="0"/>
                  </a:lnTo>
                  <a:close/>
                </a:path>
              </a:pathLst>
            </a:custGeom>
            <a:solidFill>
              <a:srgbClr val="FF6600"/>
            </a:solidFill>
          </p:spPr>
          <p:txBody>
            <a:bodyPr wrap="square" lIns="0" tIns="0" rIns="0" bIns="0" rtlCol="0"/>
            <a:lstStyle/>
            <a:p/>
          </p:txBody>
        </p:sp>
        <p:sp>
          <p:nvSpPr>
            <p:cNvPr id="90" name="object 90" descr=""/>
            <p:cNvSpPr/>
            <p:nvPr/>
          </p:nvSpPr>
          <p:spPr>
            <a:xfrm>
              <a:off x="3104089" y="2753266"/>
              <a:ext cx="2113915" cy="1070610"/>
            </a:xfrm>
            <a:custGeom>
              <a:avLst/>
              <a:gdLst/>
              <a:ahLst/>
              <a:cxnLst/>
              <a:rect l="l" t="t" r="r" b="b"/>
              <a:pathLst>
                <a:path w="2113915" h="1070610">
                  <a:moveTo>
                    <a:pt x="1056855" y="0"/>
                  </a:moveTo>
                  <a:lnTo>
                    <a:pt x="994758" y="908"/>
                  </a:lnTo>
                  <a:lnTo>
                    <a:pt x="933605" y="3600"/>
                  </a:lnTo>
                  <a:lnTo>
                    <a:pt x="873496" y="8025"/>
                  </a:lnTo>
                  <a:lnTo>
                    <a:pt x="814530" y="14133"/>
                  </a:lnTo>
                  <a:lnTo>
                    <a:pt x="756806" y="21873"/>
                  </a:lnTo>
                  <a:lnTo>
                    <a:pt x="700424" y="31197"/>
                  </a:lnTo>
                  <a:lnTo>
                    <a:pt x="645482" y="42052"/>
                  </a:lnTo>
                  <a:lnTo>
                    <a:pt x="592080" y="54390"/>
                  </a:lnTo>
                  <a:lnTo>
                    <a:pt x="540316" y="68160"/>
                  </a:lnTo>
                  <a:lnTo>
                    <a:pt x="490290" y="83312"/>
                  </a:lnTo>
                  <a:lnTo>
                    <a:pt x="442101" y="99795"/>
                  </a:lnTo>
                  <a:lnTo>
                    <a:pt x="395849" y="117560"/>
                  </a:lnTo>
                  <a:lnTo>
                    <a:pt x="351631" y="136556"/>
                  </a:lnTo>
                  <a:lnTo>
                    <a:pt x="309548" y="156733"/>
                  </a:lnTo>
                  <a:lnTo>
                    <a:pt x="269698" y="178041"/>
                  </a:lnTo>
                  <a:lnTo>
                    <a:pt x="232181" y="200430"/>
                  </a:lnTo>
                  <a:lnTo>
                    <a:pt x="197095" y="223849"/>
                  </a:lnTo>
                  <a:lnTo>
                    <a:pt x="164541" y="248248"/>
                  </a:lnTo>
                  <a:lnTo>
                    <a:pt x="134616" y="273578"/>
                  </a:lnTo>
                  <a:lnTo>
                    <a:pt x="83053" y="326826"/>
                  </a:lnTo>
                  <a:lnTo>
                    <a:pt x="43200" y="383192"/>
                  </a:lnTo>
                  <a:lnTo>
                    <a:pt x="15849" y="442275"/>
                  </a:lnTo>
                  <a:lnTo>
                    <a:pt x="1794" y="503673"/>
                  </a:lnTo>
                  <a:lnTo>
                    <a:pt x="0" y="535114"/>
                  </a:lnTo>
                  <a:lnTo>
                    <a:pt x="1794" y="566557"/>
                  </a:lnTo>
                  <a:lnTo>
                    <a:pt x="15849" y="627956"/>
                  </a:lnTo>
                  <a:lnTo>
                    <a:pt x="43199" y="687040"/>
                  </a:lnTo>
                  <a:lnTo>
                    <a:pt x="83052" y="743407"/>
                  </a:lnTo>
                  <a:lnTo>
                    <a:pt x="134613" y="796656"/>
                  </a:lnTo>
                  <a:lnTo>
                    <a:pt x="164538" y="821985"/>
                  </a:lnTo>
                  <a:lnTo>
                    <a:pt x="197092" y="846385"/>
                  </a:lnTo>
                  <a:lnTo>
                    <a:pt x="232177" y="869803"/>
                  </a:lnTo>
                  <a:lnTo>
                    <a:pt x="269694" y="892192"/>
                  </a:lnTo>
                  <a:lnTo>
                    <a:pt x="309543" y="913499"/>
                  </a:lnTo>
                  <a:lnTo>
                    <a:pt x="351626" y="933676"/>
                  </a:lnTo>
                  <a:lnTo>
                    <a:pt x="395843" y="952672"/>
                  </a:lnTo>
                  <a:lnTo>
                    <a:pt x="442096" y="970436"/>
                  </a:lnTo>
                  <a:lnTo>
                    <a:pt x="490285" y="986919"/>
                  </a:lnTo>
                  <a:lnTo>
                    <a:pt x="540310" y="1002070"/>
                  </a:lnTo>
                  <a:lnTo>
                    <a:pt x="592074" y="1015840"/>
                  </a:lnTo>
                  <a:lnTo>
                    <a:pt x="645477" y="1028177"/>
                  </a:lnTo>
                  <a:lnTo>
                    <a:pt x="700419" y="1039033"/>
                  </a:lnTo>
                  <a:lnTo>
                    <a:pt x="756802" y="1048356"/>
                  </a:lnTo>
                  <a:lnTo>
                    <a:pt x="814526" y="1056096"/>
                  </a:lnTo>
                  <a:lnTo>
                    <a:pt x="873493" y="1062204"/>
                  </a:lnTo>
                  <a:lnTo>
                    <a:pt x="933602" y="1066628"/>
                  </a:lnTo>
                  <a:lnTo>
                    <a:pt x="994756" y="1069320"/>
                  </a:lnTo>
                  <a:lnTo>
                    <a:pt x="1056855" y="1070228"/>
                  </a:lnTo>
                  <a:lnTo>
                    <a:pt x="1118953" y="1069320"/>
                  </a:lnTo>
                  <a:lnTo>
                    <a:pt x="1180106" y="1066628"/>
                  </a:lnTo>
                  <a:lnTo>
                    <a:pt x="1240215" y="1062204"/>
                  </a:lnTo>
                  <a:lnTo>
                    <a:pt x="1299181" y="1056096"/>
                  </a:lnTo>
                  <a:lnTo>
                    <a:pt x="1356905" y="1048356"/>
                  </a:lnTo>
                  <a:lnTo>
                    <a:pt x="1413287" y="1039033"/>
                  </a:lnTo>
                  <a:lnTo>
                    <a:pt x="1468229" y="1028177"/>
                  </a:lnTo>
                  <a:lnTo>
                    <a:pt x="1521631" y="1015840"/>
                  </a:lnTo>
                  <a:lnTo>
                    <a:pt x="1573395" y="1002070"/>
                  </a:lnTo>
                  <a:lnTo>
                    <a:pt x="1623421" y="986919"/>
                  </a:lnTo>
                  <a:lnTo>
                    <a:pt x="1671610" y="970436"/>
                  </a:lnTo>
                  <a:lnTo>
                    <a:pt x="1717862" y="952672"/>
                  </a:lnTo>
                  <a:lnTo>
                    <a:pt x="1762080" y="933676"/>
                  </a:lnTo>
                  <a:lnTo>
                    <a:pt x="1804163" y="913499"/>
                  </a:lnTo>
                  <a:lnTo>
                    <a:pt x="1844013" y="892192"/>
                  </a:lnTo>
                  <a:lnTo>
                    <a:pt x="1881530" y="869803"/>
                  </a:lnTo>
                  <a:lnTo>
                    <a:pt x="1916615" y="846385"/>
                  </a:lnTo>
                  <a:lnTo>
                    <a:pt x="1949170" y="821985"/>
                  </a:lnTo>
                  <a:lnTo>
                    <a:pt x="1979095" y="796656"/>
                  </a:lnTo>
                  <a:lnTo>
                    <a:pt x="2030657" y="743407"/>
                  </a:lnTo>
                  <a:lnTo>
                    <a:pt x="2070511" y="687040"/>
                  </a:lnTo>
                  <a:lnTo>
                    <a:pt x="2097862" y="627956"/>
                  </a:lnTo>
                  <a:lnTo>
                    <a:pt x="2111917" y="566557"/>
                  </a:lnTo>
                  <a:lnTo>
                    <a:pt x="2113711" y="535114"/>
                  </a:lnTo>
                  <a:lnTo>
                    <a:pt x="2111917" y="503673"/>
                  </a:lnTo>
                  <a:lnTo>
                    <a:pt x="2097862" y="442275"/>
                  </a:lnTo>
                  <a:lnTo>
                    <a:pt x="2070511" y="383192"/>
                  </a:lnTo>
                  <a:lnTo>
                    <a:pt x="2030657" y="326826"/>
                  </a:lnTo>
                  <a:lnTo>
                    <a:pt x="1979095" y="273578"/>
                  </a:lnTo>
                  <a:lnTo>
                    <a:pt x="1949170" y="248248"/>
                  </a:lnTo>
                  <a:lnTo>
                    <a:pt x="1916615" y="223849"/>
                  </a:lnTo>
                  <a:lnTo>
                    <a:pt x="1881530" y="200430"/>
                  </a:lnTo>
                  <a:lnTo>
                    <a:pt x="1844013" y="178041"/>
                  </a:lnTo>
                  <a:lnTo>
                    <a:pt x="1804163" y="156733"/>
                  </a:lnTo>
                  <a:lnTo>
                    <a:pt x="1762080" y="136556"/>
                  </a:lnTo>
                  <a:lnTo>
                    <a:pt x="1717862" y="117560"/>
                  </a:lnTo>
                  <a:lnTo>
                    <a:pt x="1671610" y="99795"/>
                  </a:lnTo>
                  <a:lnTo>
                    <a:pt x="1623421" y="83312"/>
                  </a:lnTo>
                  <a:lnTo>
                    <a:pt x="1573395" y="68160"/>
                  </a:lnTo>
                  <a:lnTo>
                    <a:pt x="1521631" y="54390"/>
                  </a:lnTo>
                  <a:lnTo>
                    <a:pt x="1468229" y="42052"/>
                  </a:lnTo>
                  <a:lnTo>
                    <a:pt x="1413287" y="31197"/>
                  </a:lnTo>
                  <a:lnTo>
                    <a:pt x="1356905" y="21873"/>
                  </a:lnTo>
                  <a:lnTo>
                    <a:pt x="1299181" y="14133"/>
                  </a:lnTo>
                  <a:lnTo>
                    <a:pt x="1240215" y="8025"/>
                  </a:lnTo>
                  <a:lnTo>
                    <a:pt x="1180106" y="3600"/>
                  </a:lnTo>
                  <a:lnTo>
                    <a:pt x="1118953" y="908"/>
                  </a:lnTo>
                  <a:lnTo>
                    <a:pt x="1056855" y="0"/>
                  </a:lnTo>
                  <a:close/>
                </a:path>
              </a:pathLst>
            </a:custGeom>
            <a:solidFill>
              <a:srgbClr val="B9C597">
                <a:alpha val="39999"/>
              </a:srgbClr>
            </a:solidFill>
          </p:spPr>
          <p:txBody>
            <a:bodyPr wrap="square" lIns="0" tIns="0" rIns="0" bIns="0" rtlCol="0"/>
            <a:lstStyle/>
            <a:p/>
          </p:txBody>
        </p:sp>
        <p:pic>
          <p:nvPicPr>
            <p:cNvPr id="91" name="object 91" descr=""/>
            <p:cNvPicPr/>
            <p:nvPr/>
          </p:nvPicPr>
          <p:blipFill>
            <a:blip r:embed="rId20" cstate="print"/>
            <a:stretch>
              <a:fillRect/>
            </a:stretch>
          </p:blipFill>
          <p:spPr>
            <a:xfrm>
              <a:off x="2731008" y="3041904"/>
              <a:ext cx="1051560" cy="435864"/>
            </a:xfrm>
            <a:prstGeom prst="rect">
              <a:avLst/>
            </a:prstGeom>
          </p:spPr>
        </p:pic>
        <p:pic>
          <p:nvPicPr>
            <p:cNvPr id="92" name="object 92" descr=""/>
            <p:cNvPicPr/>
            <p:nvPr/>
          </p:nvPicPr>
          <p:blipFill>
            <a:blip r:embed="rId21" cstate="print"/>
            <a:stretch>
              <a:fillRect/>
            </a:stretch>
          </p:blipFill>
          <p:spPr>
            <a:xfrm>
              <a:off x="4550664" y="3023616"/>
              <a:ext cx="1124712" cy="435864"/>
            </a:xfrm>
            <a:prstGeom prst="rect">
              <a:avLst/>
            </a:prstGeom>
          </p:spPr>
        </p:pic>
        <p:pic>
          <p:nvPicPr>
            <p:cNvPr id="93" name="object 93"/>
            <p:cNvPicPr/>
            <p:nvPr/>
          </p:nvPicPr>
          <p:blipFill>
            <a:blip r:embed="rId22" cstate="print"/>
            <a:stretch>
              <a:fillRect/>
            </a:stretch>
          </p:blipFill>
          <p:spPr>
            <a:xfrm>
              <a:off x="3709416" y="2572524"/>
              <a:ext cx="984503" cy="551675"/>
            </a:xfrm>
            <a:prstGeom prst="rect">
              <a:avLst/>
            </a:prstGeom>
          </p:spPr>
        </p:pic>
        <p:pic>
          <p:nvPicPr>
            <p:cNvPr id="94" name="object 94"/>
            <p:cNvPicPr/>
            <p:nvPr/>
          </p:nvPicPr>
          <p:blipFill>
            <a:blip r:embed="rId23" cstate="print"/>
            <a:stretch>
              <a:fillRect/>
            </a:stretch>
          </p:blipFill>
          <p:spPr>
            <a:xfrm>
              <a:off x="3706367" y="3389376"/>
              <a:ext cx="984503" cy="490728"/>
            </a:xfrm>
            <a:prstGeom prst="rect">
              <a:avLst/>
            </a:prstGeom>
          </p:spPr>
        </p:pic>
        <p:pic>
          <p:nvPicPr>
            <p:cNvPr id="95" name="object 95" descr=""/>
            <p:cNvPicPr/>
            <p:nvPr/>
          </p:nvPicPr>
          <p:blipFill>
            <a:blip r:embed="rId24" cstate="print"/>
            <a:stretch>
              <a:fillRect/>
            </a:stretch>
          </p:blipFill>
          <p:spPr>
            <a:xfrm>
              <a:off x="3712464" y="3051048"/>
              <a:ext cx="914400" cy="393191"/>
            </a:xfrm>
            <a:prstGeom prst="rect">
              <a:avLst/>
            </a:prstGeom>
          </p:spPr>
        </p:pic>
      </p:grpSp>
      <p:sp>
        <p:nvSpPr>
          <p:cNvPr id="96" name="object 96" descr=""/>
          <p:cNvSpPr txBox="1"/>
          <p:nvPr/>
        </p:nvSpPr>
        <p:spPr>
          <a:xfrm>
            <a:off x="398605" y="1313695"/>
            <a:ext cx="98425" cy="779780"/>
          </a:xfrm>
          <a:prstGeom prst="rect">
            <a:avLst/>
          </a:prstGeom>
        </p:spPr>
        <p:txBody>
          <a:bodyPr wrap="square" lIns="0" tIns="12700" rIns="0" bIns="0" rtlCol="0" vert="horz">
            <a:spAutoFit/>
          </a:bodyPr>
          <a:lstStyle/>
          <a:p>
            <a:pPr>
              <a:lnSpc>
                <a:spcPct val="100000"/>
              </a:lnSpc>
              <a:spcBef>
                <a:spcPts val="100"/>
              </a:spcBef>
            </a:pPr>
            <a:r>
              <a:rPr dirty="0" sz="900" spc="-50">
                <a:latin typeface="Wingdings"/>
                <a:cs typeface="Wingdings"/>
              </a:rPr>
              <a:t></a:t>
            </a:r>
            <a:endParaRPr sz="900">
              <a:latin typeface="Wingdings"/>
              <a:cs typeface="Wingdings"/>
            </a:endParaRPr>
          </a:p>
          <a:p>
            <a:pPr>
              <a:lnSpc>
                <a:spcPct val="100000"/>
              </a:lnSpc>
            </a:pPr>
            <a:endParaRPr sz="900">
              <a:latin typeface="Wingdings"/>
              <a:cs typeface="Wingdings"/>
            </a:endParaRPr>
          </a:p>
          <a:p>
            <a:pPr>
              <a:lnSpc>
                <a:spcPct val="100000"/>
              </a:lnSpc>
            </a:pPr>
            <a:endParaRPr sz="900">
              <a:latin typeface="Wingdings"/>
              <a:cs typeface="Wingdings"/>
            </a:endParaRPr>
          </a:p>
          <a:p>
            <a:pPr>
              <a:lnSpc>
                <a:spcPct val="100000"/>
              </a:lnSpc>
              <a:spcBef>
                <a:spcPts val="780"/>
              </a:spcBef>
            </a:pPr>
            <a:endParaRPr sz="900">
              <a:latin typeface="Wingdings"/>
              <a:cs typeface="Wingdings"/>
            </a:endParaRPr>
          </a:p>
          <a:p>
            <a:pPr>
              <a:lnSpc>
                <a:spcPct val="100000"/>
              </a:lnSpc>
            </a:pPr>
            <a:r>
              <a:rPr dirty="0" sz="900" spc="-50">
                <a:latin typeface="Wingdings"/>
                <a:cs typeface="Wingdings"/>
              </a:rPr>
              <a:t></a:t>
            </a:r>
            <a:endParaRPr sz="900">
              <a:latin typeface="Wingdings"/>
              <a:cs typeface="Wingdings"/>
            </a:endParaRPr>
          </a:p>
        </p:txBody>
      </p:sp>
      <p:sp>
        <p:nvSpPr>
          <p:cNvPr id="97" name="object 97" descr=""/>
          <p:cNvSpPr txBox="1"/>
          <p:nvPr/>
        </p:nvSpPr>
        <p:spPr>
          <a:xfrm>
            <a:off x="855805" y="1245116"/>
            <a:ext cx="1336040" cy="848360"/>
          </a:xfrm>
          <a:prstGeom prst="rect">
            <a:avLst/>
          </a:prstGeom>
        </p:spPr>
        <p:txBody>
          <a:bodyPr wrap="square" lIns="0" tIns="81280" rIns="0" bIns="0" rtlCol="0" vert="horz">
            <a:spAutoFit/>
          </a:bodyPr>
          <a:lstStyle/>
          <a:p>
            <a:pPr>
              <a:lnSpc>
                <a:spcPct val="100000"/>
              </a:lnSpc>
              <a:spcBef>
                <a:spcPts val="640"/>
              </a:spcBef>
            </a:pPr>
            <a:r>
              <a:rPr dirty="0" sz="900" spc="-10" b="1">
                <a:latin typeface="Microsoft YaHei"/>
                <a:cs typeface="Microsoft YaHei"/>
              </a:rPr>
              <a:t>衰落变化剧烈</a:t>
            </a:r>
            <a:endParaRPr sz="900">
              <a:latin typeface="Microsoft YaHei"/>
              <a:cs typeface="Microsoft YaHei"/>
            </a:endParaRPr>
          </a:p>
          <a:p>
            <a:pPr marL="179070" indent="-179070">
              <a:lnSpc>
                <a:spcPct val="100000"/>
              </a:lnSpc>
              <a:spcBef>
                <a:spcPts val="540"/>
              </a:spcBef>
              <a:buFont typeface="Wingdings"/>
              <a:buChar char=""/>
              <a:tabLst>
                <a:tab pos="179070" algn="l"/>
              </a:tabLst>
            </a:pPr>
            <a:r>
              <a:rPr dirty="0" sz="900" spc="-5" b="1">
                <a:latin typeface="Microsoft YaHei"/>
                <a:cs typeface="Microsoft YaHei"/>
              </a:rPr>
              <a:t>高速移动下快衰落极快</a:t>
            </a:r>
            <a:endParaRPr sz="900">
              <a:latin typeface="Microsoft YaHei"/>
              <a:cs typeface="Microsoft YaHei"/>
            </a:endParaRPr>
          </a:p>
          <a:p>
            <a:pPr marL="179070" indent="-179070">
              <a:lnSpc>
                <a:spcPct val="100000"/>
              </a:lnSpc>
              <a:spcBef>
                <a:spcPts val="540"/>
              </a:spcBef>
              <a:buFont typeface="Wingdings"/>
              <a:buChar char=""/>
              <a:tabLst>
                <a:tab pos="179070" algn="l"/>
              </a:tabLst>
            </a:pPr>
            <a:r>
              <a:rPr dirty="0" sz="900" spc="-10" b="1">
                <a:latin typeface="Microsoft YaHei"/>
                <a:cs typeface="Microsoft YaHei"/>
              </a:rPr>
              <a:t>车体穿透损耗大</a:t>
            </a:r>
            <a:endParaRPr sz="900">
              <a:latin typeface="Microsoft YaHei"/>
              <a:cs typeface="Microsoft YaHei"/>
            </a:endParaRPr>
          </a:p>
          <a:p>
            <a:pPr>
              <a:lnSpc>
                <a:spcPct val="100000"/>
              </a:lnSpc>
              <a:spcBef>
                <a:spcPts val="540"/>
              </a:spcBef>
            </a:pPr>
            <a:r>
              <a:rPr dirty="0" sz="900" spc="-5" b="1">
                <a:latin typeface="Microsoft YaHei"/>
                <a:cs typeface="Microsoft YaHei"/>
              </a:rPr>
              <a:t>线路和周边的交叉覆盖</a:t>
            </a:r>
            <a:endParaRPr sz="900">
              <a:latin typeface="Microsoft YaHei"/>
              <a:cs typeface="Microsoft YaHei"/>
            </a:endParaRPr>
          </a:p>
        </p:txBody>
      </p:sp>
      <p:sp>
        <p:nvSpPr>
          <p:cNvPr id="98" name="object 98" descr=""/>
          <p:cNvSpPr txBox="1"/>
          <p:nvPr/>
        </p:nvSpPr>
        <p:spPr>
          <a:xfrm>
            <a:off x="2923920" y="1229334"/>
            <a:ext cx="2890520" cy="927735"/>
          </a:xfrm>
          <a:prstGeom prst="rect">
            <a:avLst/>
          </a:prstGeom>
          <a:ln w="9525">
            <a:solidFill>
              <a:srgbClr val="003399"/>
            </a:solidFill>
          </a:ln>
        </p:spPr>
        <p:txBody>
          <a:bodyPr wrap="square" lIns="0" tIns="54610" rIns="0" bIns="0" rtlCol="0" vert="horz">
            <a:spAutoFit/>
          </a:bodyPr>
          <a:lstStyle/>
          <a:p>
            <a:pPr marL="433705" indent="-342900">
              <a:lnSpc>
                <a:spcPct val="100000"/>
              </a:lnSpc>
              <a:spcBef>
                <a:spcPts val="430"/>
              </a:spcBef>
              <a:buFont typeface="Wingdings"/>
              <a:buChar char=""/>
              <a:tabLst>
                <a:tab pos="433705" algn="l"/>
              </a:tabLst>
            </a:pPr>
            <a:r>
              <a:rPr dirty="0" sz="900" spc="-5" b="1">
                <a:latin typeface="Microsoft YaHei"/>
                <a:cs typeface="Microsoft YaHei"/>
              </a:rPr>
              <a:t>多普勒频偏导致基站发射和接收频率不一致</a:t>
            </a:r>
            <a:endParaRPr sz="900">
              <a:latin typeface="Microsoft YaHei"/>
              <a:cs typeface="Microsoft YaHei"/>
            </a:endParaRPr>
          </a:p>
          <a:p>
            <a:pPr marL="433705" marR="161925" indent="-342900">
              <a:lnSpc>
                <a:spcPct val="120000"/>
              </a:lnSpc>
              <a:spcBef>
                <a:spcPts val="215"/>
              </a:spcBef>
              <a:buFont typeface="Wingdings"/>
              <a:buChar char=""/>
              <a:tabLst>
                <a:tab pos="433705" algn="l"/>
              </a:tabLst>
            </a:pPr>
            <a:r>
              <a:rPr dirty="0" sz="900" spc="-5" b="1">
                <a:latin typeface="Microsoft YaHei"/>
                <a:cs typeface="Microsoft YaHei"/>
              </a:rPr>
              <a:t>移动速度越快频偏也越大，导致基站信号接收</a:t>
            </a:r>
            <a:r>
              <a:rPr dirty="0" sz="900" spc="-15" b="1">
                <a:latin typeface="Microsoft YaHei"/>
                <a:cs typeface="Microsoft YaHei"/>
              </a:rPr>
              <a:t>性能下降</a:t>
            </a:r>
            <a:endParaRPr sz="900">
              <a:latin typeface="Microsoft YaHei"/>
              <a:cs typeface="Microsoft YaHei"/>
            </a:endParaRPr>
          </a:p>
          <a:p>
            <a:pPr marL="433705" marR="161925" indent="-342900">
              <a:lnSpc>
                <a:spcPct val="120000"/>
              </a:lnSpc>
              <a:spcBef>
                <a:spcPts val="215"/>
              </a:spcBef>
              <a:buFont typeface="Wingdings"/>
              <a:buChar char=""/>
              <a:tabLst>
                <a:tab pos="433705" algn="l"/>
              </a:tabLst>
            </a:pPr>
            <a:r>
              <a:rPr dirty="0" sz="900" spc="-5" b="1">
                <a:latin typeface="Microsoft YaHei"/>
                <a:cs typeface="Microsoft YaHei"/>
              </a:rPr>
              <a:t>高速引起的大频偏对于接收机解调性能提升是</a:t>
            </a:r>
            <a:r>
              <a:rPr dirty="0" sz="900" spc="-10" b="1">
                <a:latin typeface="Microsoft YaHei"/>
                <a:cs typeface="Microsoft YaHei"/>
              </a:rPr>
              <a:t>一个极大的挑战</a:t>
            </a:r>
            <a:endParaRPr sz="900">
              <a:latin typeface="Microsoft YaHei"/>
              <a:cs typeface="Microsoft YaHei"/>
            </a:endParaRPr>
          </a:p>
        </p:txBody>
      </p:sp>
      <p:sp>
        <p:nvSpPr>
          <p:cNvPr id="99" name="object 99" descr=""/>
          <p:cNvSpPr txBox="1"/>
          <p:nvPr/>
        </p:nvSpPr>
        <p:spPr>
          <a:xfrm>
            <a:off x="6246190" y="1213827"/>
            <a:ext cx="2607310" cy="942975"/>
          </a:xfrm>
          <a:prstGeom prst="rect">
            <a:avLst/>
          </a:prstGeom>
          <a:ln w="9525">
            <a:solidFill>
              <a:srgbClr val="333399"/>
            </a:solidFill>
          </a:ln>
        </p:spPr>
        <p:txBody>
          <a:bodyPr wrap="square" lIns="0" tIns="70485" rIns="0" bIns="0" rtlCol="0" vert="horz">
            <a:spAutoFit/>
          </a:bodyPr>
          <a:lstStyle/>
          <a:p>
            <a:pPr marL="433705" indent="-342900">
              <a:lnSpc>
                <a:spcPct val="100000"/>
              </a:lnSpc>
              <a:spcBef>
                <a:spcPts val="555"/>
              </a:spcBef>
              <a:buFont typeface="Wingdings"/>
              <a:buChar char=""/>
              <a:tabLst>
                <a:tab pos="433705" algn="l"/>
              </a:tabLst>
            </a:pPr>
            <a:r>
              <a:rPr dirty="0" sz="900" spc="-5" b="1">
                <a:latin typeface="Microsoft YaHei"/>
                <a:cs typeface="Microsoft YaHei"/>
              </a:rPr>
              <a:t>高速移动切换频繁，用户感受差</a:t>
            </a:r>
            <a:endParaRPr sz="900">
              <a:latin typeface="Microsoft YaHei"/>
              <a:cs typeface="Microsoft YaHei"/>
            </a:endParaRPr>
          </a:p>
          <a:p>
            <a:pPr marL="433705" marR="107314" indent="-342900">
              <a:lnSpc>
                <a:spcPct val="120000"/>
              </a:lnSpc>
              <a:spcBef>
                <a:spcPts val="215"/>
              </a:spcBef>
              <a:buFont typeface="Wingdings"/>
              <a:buChar char=""/>
              <a:tabLst>
                <a:tab pos="433705" algn="l"/>
              </a:tabLst>
            </a:pPr>
            <a:r>
              <a:rPr dirty="0" sz="900" spc="-5" b="1">
                <a:latin typeface="Microsoft YaHei"/>
                <a:cs typeface="Microsoft YaHei"/>
              </a:rPr>
              <a:t>需要的切换距离长，常规小区覆盖方案下</a:t>
            </a:r>
            <a:r>
              <a:rPr dirty="0" sz="900" spc="-10" b="1">
                <a:latin typeface="Microsoft YaHei"/>
                <a:cs typeface="Microsoft YaHei"/>
              </a:rPr>
              <a:t>终端很容易掉话</a:t>
            </a:r>
            <a:endParaRPr sz="900">
              <a:latin typeface="Microsoft YaHei"/>
              <a:cs typeface="Microsoft YaHei"/>
            </a:endParaRPr>
          </a:p>
        </p:txBody>
      </p:sp>
      <p:grpSp>
        <p:nvGrpSpPr>
          <p:cNvPr id="100" name="object 100" descr=""/>
          <p:cNvGrpSpPr/>
          <p:nvPr/>
        </p:nvGrpSpPr>
        <p:grpSpPr>
          <a:xfrm>
            <a:off x="307162" y="1004315"/>
            <a:ext cx="2131060" cy="237490"/>
            <a:chOff x="307162" y="1004315"/>
            <a:chExt cx="2131060" cy="237490"/>
          </a:xfrm>
        </p:grpSpPr>
        <p:pic>
          <p:nvPicPr>
            <p:cNvPr id="101" name="object 101" descr=""/>
            <p:cNvPicPr/>
            <p:nvPr/>
          </p:nvPicPr>
          <p:blipFill>
            <a:blip r:embed="rId25" cstate="print"/>
            <a:stretch>
              <a:fillRect/>
            </a:stretch>
          </p:blipFill>
          <p:spPr>
            <a:xfrm>
              <a:off x="331469" y="1045464"/>
              <a:ext cx="2106167" cy="195833"/>
            </a:xfrm>
            <a:prstGeom prst="rect">
              <a:avLst/>
            </a:prstGeom>
          </p:spPr>
        </p:pic>
        <p:pic>
          <p:nvPicPr>
            <p:cNvPr id="102" name="object 102" descr=""/>
            <p:cNvPicPr/>
            <p:nvPr/>
          </p:nvPicPr>
          <p:blipFill>
            <a:blip r:embed="rId26" cstate="print"/>
            <a:stretch>
              <a:fillRect/>
            </a:stretch>
          </p:blipFill>
          <p:spPr>
            <a:xfrm>
              <a:off x="835151" y="1004315"/>
              <a:ext cx="1144523" cy="230885"/>
            </a:xfrm>
            <a:prstGeom prst="rect">
              <a:avLst/>
            </a:prstGeom>
          </p:spPr>
        </p:pic>
        <p:pic>
          <p:nvPicPr>
            <p:cNvPr id="103" name="object 103" descr=""/>
            <p:cNvPicPr/>
            <p:nvPr/>
          </p:nvPicPr>
          <p:blipFill>
            <a:blip r:embed="rId27" cstate="print"/>
            <a:stretch>
              <a:fillRect/>
            </a:stretch>
          </p:blipFill>
          <p:spPr>
            <a:xfrm>
              <a:off x="307162" y="1020940"/>
              <a:ext cx="2104593" cy="193954"/>
            </a:xfrm>
            <a:prstGeom prst="rect">
              <a:avLst/>
            </a:prstGeom>
          </p:spPr>
        </p:pic>
      </p:grpSp>
      <p:sp>
        <p:nvSpPr>
          <p:cNvPr id="104" name="object 104" descr=""/>
          <p:cNvSpPr txBox="1"/>
          <p:nvPr/>
        </p:nvSpPr>
        <p:spPr>
          <a:xfrm>
            <a:off x="889246" y="1007681"/>
            <a:ext cx="93980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FFFFFF"/>
                </a:solidFill>
                <a:latin typeface="Microsoft YaHei"/>
                <a:cs typeface="Microsoft YaHei"/>
              </a:rPr>
              <a:t>传播衰耗较大</a:t>
            </a:r>
            <a:endParaRPr sz="1200">
              <a:latin typeface="Microsoft YaHei"/>
              <a:cs typeface="Microsoft YaHei"/>
            </a:endParaRPr>
          </a:p>
        </p:txBody>
      </p:sp>
      <p:grpSp>
        <p:nvGrpSpPr>
          <p:cNvPr id="105" name="object 105" descr=""/>
          <p:cNvGrpSpPr/>
          <p:nvPr/>
        </p:nvGrpSpPr>
        <p:grpSpPr>
          <a:xfrm>
            <a:off x="2923920" y="1004315"/>
            <a:ext cx="2916555" cy="237490"/>
            <a:chOff x="2923920" y="1004315"/>
            <a:chExt cx="2916555" cy="237490"/>
          </a:xfrm>
        </p:grpSpPr>
        <p:pic>
          <p:nvPicPr>
            <p:cNvPr id="106" name="object 106" descr=""/>
            <p:cNvPicPr/>
            <p:nvPr/>
          </p:nvPicPr>
          <p:blipFill>
            <a:blip r:embed="rId28" cstate="print"/>
            <a:stretch>
              <a:fillRect/>
            </a:stretch>
          </p:blipFill>
          <p:spPr>
            <a:xfrm>
              <a:off x="2948177" y="1045464"/>
              <a:ext cx="2891789" cy="195833"/>
            </a:xfrm>
            <a:prstGeom prst="rect">
              <a:avLst/>
            </a:prstGeom>
          </p:spPr>
        </p:pic>
        <p:pic>
          <p:nvPicPr>
            <p:cNvPr id="107" name="object 107" descr=""/>
            <p:cNvPicPr/>
            <p:nvPr/>
          </p:nvPicPr>
          <p:blipFill>
            <a:blip r:embed="rId29" cstate="print"/>
            <a:stretch>
              <a:fillRect/>
            </a:stretch>
          </p:blipFill>
          <p:spPr>
            <a:xfrm>
              <a:off x="3464051" y="1004315"/>
              <a:ext cx="1906523" cy="230885"/>
            </a:xfrm>
            <a:prstGeom prst="rect">
              <a:avLst/>
            </a:prstGeom>
          </p:spPr>
        </p:pic>
        <p:sp>
          <p:nvSpPr>
            <p:cNvPr id="108" name="object 108" descr=""/>
            <p:cNvSpPr/>
            <p:nvPr/>
          </p:nvSpPr>
          <p:spPr>
            <a:xfrm>
              <a:off x="2923920" y="1020940"/>
              <a:ext cx="2890520" cy="194310"/>
            </a:xfrm>
            <a:custGeom>
              <a:avLst/>
              <a:gdLst/>
              <a:ahLst/>
              <a:cxnLst/>
              <a:rect l="l" t="t" r="r" b="b"/>
              <a:pathLst>
                <a:path w="2890520" h="194309">
                  <a:moveTo>
                    <a:pt x="2890227" y="0"/>
                  </a:moveTo>
                  <a:lnTo>
                    <a:pt x="0" y="0"/>
                  </a:lnTo>
                  <a:lnTo>
                    <a:pt x="0" y="193954"/>
                  </a:lnTo>
                  <a:lnTo>
                    <a:pt x="2890227" y="193954"/>
                  </a:lnTo>
                  <a:lnTo>
                    <a:pt x="2890227" y="0"/>
                  </a:lnTo>
                  <a:close/>
                </a:path>
              </a:pathLst>
            </a:custGeom>
            <a:solidFill>
              <a:srgbClr val="00B050"/>
            </a:solidFill>
          </p:spPr>
          <p:txBody>
            <a:bodyPr wrap="square" lIns="0" tIns="0" rIns="0" bIns="0" rtlCol="0"/>
            <a:lstStyle/>
            <a:p/>
          </p:txBody>
        </p:sp>
      </p:grpSp>
      <p:sp>
        <p:nvSpPr>
          <p:cNvPr id="109" name="object 109" descr=""/>
          <p:cNvSpPr txBox="1"/>
          <p:nvPr/>
        </p:nvSpPr>
        <p:spPr>
          <a:xfrm>
            <a:off x="2923920" y="1007681"/>
            <a:ext cx="2890520" cy="208279"/>
          </a:xfrm>
          <a:prstGeom prst="rect">
            <a:avLst/>
          </a:prstGeom>
        </p:spPr>
        <p:txBody>
          <a:bodyPr wrap="square" lIns="0" tIns="12700" rIns="0" bIns="0" rtlCol="0" vert="horz">
            <a:spAutoFit/>
          </a:bodyPr>
          <a:lstStyle/>
          <a:p>
            <a:pPr marL="606425">
              <a:lnSpc>
                <a:spcPct val="100000"/>
              </a:lnSpc>
              <a:spcBef>
                <a:spcPts val="100"/>
              </a:spcBef>
            </a:pPr>
            <a:r>
              <a:rPr dirty="0" sz="1200" spc="-5" b="1">
                <a:solidFill>
                  <a:srgbClr val="FFFFFF"/>
                </a:solidFill>
                <a:latin typeface="Microsoft YaHei"/>
                <a:cs typeface="Microsoft YaHei"/>
              </a:rPr>
              <a:t>多普勒频偏影响接收性能</a:t>
            </a:r>
            <a:endParaRPr sz="1200">
              <a:latin typeface="Microsoft YaHei"/>
              <a:cs typeface="Microsoft YaHei"/>
            </a:endParaRPr>
          </a:p>
        </p:txBody>
      </p:sp>
      <p:grpSp>
        <p:nvGrpSpPr>
          <p:cNvPr id="110" name="object 110" descr=""/>
          <p:cNvGrpSpPr/>
          <p:nvPr/>
        </p:nvGrpSpPr>
        <p:grpSpPr>
          <a:xfrm>
            <a:off x="6246190" y="989076"/>
            <a:ext cx="2633980" cy="237490"/>
            <a:chOff x="6246190" y="989076"/>
            <a:chExt cx="2633980" cy="237490"/>
          </a:xfrm>
        </p:grpSpPr>
        <p:pic>
          <p:nvPicPr>
            <p:cNvPr id="111" name="object 111" descr=""/>
            <p:cNvPicPr/>
            <p:nvPr/>
          </p:nvPicPr>
          <p:blipFill>
            <a:blip r:embed="rId30" cstate="print"/>
            <a:stretch>
              <a:fillRect/>
            </a:stretch>
          </p:blipFill>
          <p:spPr>
            <a:xfrm>
              <a:off x="6270497" y="1030223"/>
              <a:ext cx="2609087" cy="195833"/>
            </a:xfrm>
            <a:prstGeom prst="rect">
              <a:avLst/>
            </a:prstGeom>
          </p:spPr>
        </p:pic>
        <p:pic>
          <p:nvPicPr>
            <p:cNvPr id="112" name="object 112" descr=""/>
            <p:cNvPicPr/>
            <p:nvPr/>
          </p:nvPicPr>
          <p:blipFill>
            <a:blip r:embed="rId31" cstate="print"/>
            <a:stretch>
              <a:fillRect/>
            </a:stretch>
          </p:blipFill>
          <p:spPr>
            <a:xfrm>
              <a:off x="6873239" y="989076"/>
              <a:ext cx="1449323" cy="230885"/>
            </a:xfrm>
            <a:prstGeom prst="rect">
              <a:avLst/>
            </a:prstGeom>
          </p:spPr>
        </p:pic>
        <p:sp>
          <p:nvSpPr>
            <p:cNvPr id="113" name="object 113" descr=""/>
            <p:cNvSpPr/>
            <p:nvPr/>
          </p:nvSpPr>
          <p:spPr>
            <a:xfrm>
              <a:off x="6246190" y="1005573"/>
              <a:ext cx="2607310" cy="194310"/>
            </a:xfrm>
            <a:custGeom>
              <a:avLst/>
              <a:gdLst/>
              <a:ahLst/>
              <a:cxnLst/>
              <a:rect l="l" t="t" r="r" b="b"/>
              <a:pathLst>
                <a:path w="2607309" h="194309">
                  <a:moveTo>
                    <a:pt x="2607144" y="0"/>
                  </a:moveTo>
                  <a:lnTo>
                    <a:pt x="0" y="0"/>
                  </a:lnTo>
                  <a:lnTo>
                    <a:pt x="0" y="193954"/>
                  </a:lnTo>
                  <a:lnTo>
                    <a:pt x="2607144" y="193954"/>
                  </a:lnTo>
                  <a:lnTo>
                    <a:pt x="2607144" y="0"/>
                  </a:lnTo>
                  <a:close/>
                </a:path>
              </a:pathLst>
            </a:custGeom>
            <a:solidFill>
              <a:srgbClr val="0070C0"/>
            </a:solidFill>
          </p:spPr>
          <p:txBody>
            <a:bodyPr wrap="square" lIns="0" tIns="0" rIns="0" bIns="0" rtlCol="0"/>
            <a:lstStyle/>
            <a:p/>
          </p:txBody>
        </p:sp>
      </p:grpSp>
      <p:sp>
        <p:nvSpPr>
          <p:cNvPr id="114" name="object 114" descr=""/>
          <p:cNvSpPr txBox="1"/>
          <p:nvPr/>
        </p:nvSpPr>
        <p:spPr>
          <a:xfrm>
            <a:off x="6246190" y="992318"/>
            <a:ext cx="2607310" cy="208279"/>
          </a:xfrm>
          <a:prstGeom prst="rect">
            <a:avLst/>
          </a:prstGeom>
        </p:spPr>
        <p:txBody>
          <a:bodyPr wrap="square" lIns="0" tIns="12700" rIns="0" bIns="0" rtlCol="0" vert="horz">
            <a:spAutoFit/>
          </a:bodyPr>
          <a:lstStyle/>
          <a:p>
            <a:pPr marL="694055">
              <a:lnSpc>
                <a:spcPct val="100000"/>
              </a:lnSpc>
              <a:spcBef>
                <a:spcPts val="100"/>
              </a:spcBef>
            </a:pPr>
            <a:r>
              <a:rPr dirty="0" sz="1200" spc="-10" b="1">
                <a:solidFill>
                  <a:srgbClr val="FFFFFF"/>
                </a:solidFill>
                <a:latin typeface="Microsoft YaHei"/>
                <a:cs typeface="Microsoft YaHei"/>
              </a:rPr>
              <a:t>切换频繁影响性能</a:t>
            </a:r>
            <a:endParaRPr sz="1200">
              <a:latin typeface="Microsoft YaHei"/>
              <a:cs typeface="Microsoft YaHei"/>
            </a:endParaRPr>
          </a:p>
        </p:txBody>
      </p:sp>
      <p:sp>
        <p:nvSpPr>
          <p:cNvPr id="115" name="object 115" descr=""/>
          <p:cNvSpPr txBox="1"/>
          <p:nvPr/>
        </p:nvSpPr>
        <p:spPr>
          <a:xfrm>
            <a:off x="312256" y="778587"/>
            <a:ext cx="1244600" cy="208279"/>
          </a:xfrm>
          <a:prstGeom prst="rect">
            <a:avLst/>
          </a:prstGeom>
        </p:spPr>
        <p:txBody>
          <a:bodyPr wrap="square" lIns="0" tIns="12700" rIns="0" bIns="0" rtlCol="0" vert="horz">
            <a:spAutoFit/>
          </a:bodyPr>
          <a:lstStyle/>
          <a:p>
            <a:pPr marL="12700">
              <a:lnSpc>
                <a:spcPct val="100000"/>
              </a:lnSpc>
              <a:spcBef>
                <a:spcPts val="100"/>
              </a:spcBef>
            </a:pPr>
            <a:r>
              <a:rPr dirty="0" sz="1200" spc="-10" b="1">
                <a:latin typeface="Microsoft YaHei"/>
                <a:cs typeface="Microsoft YaHei"/>
              </a:rPr>
              <a:t>高速铁路组网难点</a:t>
            </a:r>
            <a:endParaRPr sz="1200">
              <a:latin typeface="Microsoft YaHei"/>
              <a:cs typeface="Microsoft YaHei"/>
            </a:endParaRPr>
          </a:p>
        </p:txBody>
      </p:sp>
      <p:sp>
        <p:nvSpPr>
          <p:cNvPr id="116" name="object 116" descr=""/>
          <p:cNvSpPr txBox="1"/>
          <p:nvPr/>
        </p:nvSpPr>
        <p:spPr>
          <a:xfrm>
            <a:off x="379159" y="2420545"/>
            <a:ext cx="1960880" cy="391160"/>
          </a:xfrm>
          <a:prstGeom prst="rect">
            <a:avLst/>
          </a:prstGeom>
        </p:spPr>
        <p:txBody>
          <a:bodyPr wrap="square" lIns="0" tIns="12700" rIns="0" bIns="0" rtlCol="0" vert="horz">
            <a:spAutoFit/>
          </a:bodyPr>
          <a:lstStyle/>
          <a:p>
            <a:pPr marL="66040" marR="5080" indent="-53340">
              <a:lnSpc>
                <a:spcPct val="100000"/>
              </a:lnSpc>
              <a:spcBef>
                <a:spcPts val="100"/>
              </a:spcBef>
            </a:pPr>
            <a:r>
              <a:rPr dirty="0" sz="1200" b="1">
                <a:solidFill>
                  <a:srgbClr val="003399"/>
                </a:solidFill>
                <a:latin typeface="Microsoft YaHei"/>
                <a:cs typeface="Microsoft YaHei"/>
              </a:rPr>
              <a:t>高铁建议采用</a:t>
            </a:r>
            <a:r>
              <a:rPr dirty="0" sz="1200" spc="-10" b="1">
                <a:solidFill>
                  <a:srgbClr val="003399"/>
                </a:solidFill>
                <a:latin typeface="Microsoft YaHei"/>
                <a:cs typeface="Microsoft YaHei"/>
              </a:rPr>
              <a:t>8TR</a:t>
            </a:r>
            <a:r>
              <a:rPr dirty="0" sz="1200" spc="-15" b="1">
                <a:solidFill>
                  <a:srgbClr val="003399"/>
                </a:solidFill>
                <a:latin typeface="Microsoft YaHei"/>
                <a:cs typeface="Microsoft YaHei"/>
              </a:rPr>
              <a:t>设备+定制</a:t>
            </a:r>
            <a:r>
              <a:rPr dirty="0" sz="1200" spc="-5" b="1">
                <a:solidFill>
                  <a:srgbClr val="003399"/>
                </a:solidFill>
                <a:latin typeface="Microsoft YaHei"/>
                <a:cs typeface="Microsoft YaHei"/>
              </a:rPr>
              <a:t>高增益窄波束高铁专用天线</a:t>
            </a:r>
            <a:endParaRPr sz="1200">
              <a:latin typeface="Microsoft YaHei"/>
              <a:cs typeface="Microsoft YaHei"/>
            </a:endParaRPr>
          </a:p>
        </p:txBody>
      </p:sp>
      <p:sp>
        <p:nvSpPr>
          <p:cNvPr id="117" name="object 117" descr=""/>
          <p:cNvSpPr txBox="1"/>
          <p:nvPr/>
        </p:nvSpPr>
        <p:spPr>
          <a:xfrm>
            <a:off x="3801075" y="3224150"/>
            <a:ext cx="649605" cy="132715"/>
          </a:xfrm>
          <a:prstGeom prst="rect">
            <a:avLst/>
          </a:prstGeom>
        </p:spPr>
        <p:txBody>
          <a:bodyPr wrap="square" lIns="0" tIns="12700" rIns="0" bIns="0" rtlCol="0" vert="horz">
            <a:spAutoFit/>
          </a:bodyPr>
          <a:lstStyle/>
          <a:p>
            <a:pPr marL="12700">
              <a:lnSpc>
                <a:spcPct val="100000"/>
              </a:lnSpc>
              <a:spcBef>
                <a:spcPts val="100"/>
              </a:spcBef>
            </a:pPr>
            <a:r>
              <a:rPr dirty="0" sz="700" spc="-10" b="1">
                <a:solidFill>
                  <a:srgbClr val="FFFFFF"/>
                </a:solidFill>
                <a:latin typeface="Microsoft YaHei"/>
                <a:cs typeface="Microsoft YaHei"/>
              </a:rPr>
              <a:t>多普勒频偏消减</a:t>
            </a:r>
            <a:endParaRPr sz="700">
              <a:latin typeface="Microsoft YaHei"/>
              <a:cs typeface="Microsoft YaHei"/>
            </a:endParaRPr>
          </a:p>
        </p:txBody>
      </p:sp>
      <p:sp>
        <p:nvSpPr>
          <p:cNvPr id="118" name="object 118" descr=""/>
          <p:cNvSpPr txBox="1"/>
          <p:nvPr/>
        </p:nvSpPr>
        <p:spPr>
          <a:xfrm>
            <a:off x="3962533" y="2720608"/>
            <a:ext cx="382270" cy="132715"/>
          </a:xfrm>
          <a:prstGeom prst="rect">
            <a:avLst/>
          </a:prstGeom>
        </p:spPr>
        <p:txBody>
          <a:bodyPr wrap="square" lIns="0" tIns="12700" rIns="0" bIns="0" rtlCol="0" vert="horz">
            <a:spAutoFit/>
          </a:bodyPr>
          <a:lstStyle/>
          <a:p>
            <a:pPr marL="12700">
              <a:lnSpc>
                <a:spcPct val="100000"/>
              </a:lnSpc>
              <a:spcBef>
                <a:spcPts val="100"/>
              </a:spcBef>
            </a:pPr>
            <a:r>
              <a:rPr dirty="0" sz="700" spc="-15" b="1">
                <a:solidFill>
                  <a:srgbClr val="FFFFFF"/>
                </a:solidFill>
                <a:latin typeface="Microsoft YaHei"/>
                <a:cs typeface="Microsoft YaHei"/>
              </a:rPr>
              <a:t>频偏估计</a:t>
            </a:r>
            <a:endParaRPr sz="700">
              <a:latin typeface="Microsoft YaHei"/>
              <a:cs typeface="Microsoft YaHei"/>
            </a:endParaRPr>
          </a:p>
        </p:txBody>
      </p:sp>
      <p:sp>
        <p:nvSpPr>
          <p:cNvPr id="119" name="object 119" descr=""/>
          <p:cNvSpPr txBox="1"/>
          <p:nvPr/>
        </p:nvSpPr>
        <p:spPr>
          <a:xfrm>
            <a:off x="4936897" y="3192411"/>
            <a:ext cx="560705" cy="132715"/>
          </a:xfrm>
          <a:prstGeom prst="rect">
            <a:avLst/>
          </a:prstGeom>
        </p:spPr>
        <p:txBody>
          <a:bodyPr wrap="square" lIns="0" tIns="12700" rIns="0" bIns="0" rtlCol="0" vert="horz">
            <a:spAutoFit/>
          </a:bodyPr>
          <a:lstStyle/>
          <a:p>
            <a:pPr marL="12700">
              <a:lnSpc>
                <a:spcPct val="100000"/>
              </a:lnSpc>
              <a:spcBef>
                <a:spcPts val="100"/>
              </a:spcBef>
            </a:pPr>
            <a:r>
              <a:rPr dirty="0" sz="700" spc="-10" b="1">
                <a:solidFill>
                  <a:srgbClr val="FFFFFF"/>
                </a:solidFill>
                <a:latin typeface="Microsoft YaHei"/>
                <a:cs typeface="Microsoft YaHei"/>
              </a:rPr>
              <a:t>时域频偏补偿</a:t>
            </a:r>
            <a:endParaRPr sz="700">
              <a:latin typeface="Microsoft YaHei"/>
              <a:cs typeface="Microsoft YaHei"/>
            </a:endParaRPr>
          </a:p>
        </p:txBody>
      </p:sp>
      <p:sp>
        <p:nvSpPr>
          <p:cNvPr id="120" name="object 120" descr=""/>
          <p:cNvSpPr txBox="1"/>
          <p:nvPr/>
        </p:nvSpPr>
        <p:spPr>
          <a:xfrm>
            <a:off x="2760470" y="3189380"/>
            <a:ext cx="739140" cy="132715"/>
          </a:xfrm>
          <a:prstGeom prst="rect">
            <a:avLst/>
          </a:prstGeom>
        </p:spPr>
        <p:txBody>
          <a:bodyPr wrap="square" lIns="0" tIns="12700" rIns="0" bIns="0" rtlCol="0" vert="horz">
            <a:spAutoFit/>
          </a:bodyPr>
          <a:lstStyle/>
          <a:p>
            <a:pPr marL="12700">
              <a:lnSpc>
                <a:spcPct val="100000"/>
              </a:lnSpc>
              <a:spcBef>
                <a:spcPts val="100"/>
              </a:spcBef>
            </a:pPr>
            <a:r>
              <a:rPr dirty="0" sz="700" spc="-10" b="1">
                <a:solidFill>
                  <a:srgbClr val="FFFFFF"/>
                </a:solidFill>
                <a:latin typeface="Microsoft YaHei"/>
                <a:cs typeface="Microsoft YaHei"/>
              </a:rPr>
              <a:t>高速定时偏差修正</a:t>
            </a:r>
            <a:endParaRPr sz="700">
              <a:latin typeface="Microsoft YaHei"/>
              <a:cs typeface="Microsoft YaHei"/>
            </a:endParaRPr>
          </a:p>
        </p:txBody>
      </p:sp>
      <p:sp>
        <p:nvSpPr>
          <p:cNvPr id="121" name="object 121" descr=""/>
          <p:cNvSpPr txBox="1"/>
          <p:nvPr/>
        </p:nvSpPr>
        <p:spPr>
          <a:xfrm>
            <a:off x="3799738" y="3644332"/>
            <a:ext cx="739140" cy="132715"/>
          </a:xfrm>
          <a:prstGeom prst="rect">
            <a:avLst/>
          </a:prstGeom>
        </p:spPr>
        <p:txBody>
          <a:bodyPr wrap="square" lIns="0" tIns="12700" rIns="0" bIns="0" rtlCol="0" vert="horz">
            <a:spAutoFit/>
          </a:bodyPr>
          <a:lstStyle/>
          <a:p>
            <a:pPr marL="12700">
              <a:lnSpc>
                <a:spcPct val="100000"/>
              </a:lnSpc>
              <a:spcBef>
                <a:spcPts val="100"/>
              </a:spcBef>
            </a:pPr>
            <a:r>
              <a:rPr dirty="0" sz="700" spc="-10" b="1">
                <a:solidFill>
                  <a:srgbClr val="FFFFFF"/>
                </a:solidFill>
                <a:latin typeface="Microsoft YaHei"/>
                <a:cs typeface="Microsoft YaHei"/>
              </a:rPr>
              <a:t>高速信道估计去噪</a:t>
            </a:r>
            <a:endParaRPr sz="700">
              <a:latin typeface="Microsoft YaHei"/>
              <a:cs typeface="Microsoft YaHei"/>
            </a:endParaRPr>
          </a:p>
        </p:txBody>
      </p:sp>
      <p:sp>
        <p:nvSpPr>
          <p:cNvPr id="122" name="object 122" descr=""/>
          <p:cNvSpPr txBox="1"/>
          <p:nvPr/>
        </p:nvSpPr>
        <p:spPr>
          <a:xfrm>
            <a:off x="2791675" y="3962309"/>
            <a:ext cx="2778760" cy="757555"/>
          </a:xfrm>
          <a:prstGeom prst="rect">
            <a:avLst/>
          </a:prstGeom>
        </p:spPr>
        <p:txBody>
          <a:bodyPr wrap="square" lIns="0" tIns="12700" rIns="0" bIns="0" rtlCol="0" vert="horz">
            <a:spAutoFit/>
          </a:bodyPr>
          <a:lstStyle/>
          <a:p>
            <a:pPr algn="just" marL="140335" marR="5080" indent="-128270">
              <a:lnSpc>
                <a:spcPct val="150000"/>
              </a:lnSpc>
              <a:spcBef>
                <a:spcPts val="100"/>
              </a:spcBef>
              <a:buClr>
                <a:srgbClr val="00B0F0"/>
              </a:buClr>
              <a:buFont typeface="Wingdings"/>
              <a:buChar char=""/>
              <a:tabLst>
                <a:tab pos="141605" algn="l"/>
              </a:tabLst>
            </a:pPr>
            <a:r>
              <a:rPr dirty="0" sz="800">
                <a:latin typeface="Microsoft YaHei"/>
                <a:cs typeface="Microsoft YaHei"/>
              </a:rPr>
              <a:t>针对</a:t>
            </a:r>
            <a:r>
              <a:rPr dirty="0" sz="800" spc="-10">
                <a:latin typeface="Microsoft YaHei"/>
                <a:cs typeface="Microsoft YaHei"/>
              </a:rPr>
              <a:t>300km/h</a:t>
            </a:r>
            <a:r>
              <a:rPr dirty="0" sz="800" spc="-5">
                <a:latin typeface="Microsoft YaHei"/>
                <a:cs typeface="Microsoft YaHei"/>
              </a:rPr>
              <a:t>以上的高速场景，我司引入了大频偏估计、	时域频偏补偿以及高速信道估计去噪和高速定时偏差修正等	算法，快速测算由于高速所带来的频率偏移，补偿多普</a:t>
            </a:r>
            <a:r>
              <a:rPr dirty="0" sz="800" spc="-15">
                <a:latin typeface="Microsoft YaHei"/>
                <a:cs typeface="Microsoft YaHei"/>
              </a:rPr>
              <a:t>勒频	移，改善无线链路的稳定性，从而提高解调性能。</a:t>
            </a:r>
            <a:endParaRPr sz="800">
              <a:latin typeface="Microsoft YaHei"/>
              <a:cs typeface="Microsoft YaHei"/>
            </a:endParaRPr>
          </a:p>
        </p:txBody>
      </p:sp>
      <p:sp>
        <p:nvSpPr>
          <p:cNvPr id="123" name="object 123" descr=""/>
          <p:cNvSpPr txBox="1"/>
          <p:nvPr/>
        </p:nvSpPr>
        <p:spPr>
          <a:xfrm>
            <a:off x="6744515" y="2422102"/>
            <a:ext cx="1625600" cy="162560"/>
          </a:xfrm>
          <a:prstGeom prst="rect">
            <a:avLst/>
          </a:prstGeom>
        </p:spPr>
        <p:txBody>
          <a:bodyPr wrap="square" lIns="0" tIns="12700" rIns="0" bIns="0" rtlCol="0" vert="horz">
            <a:spAutoFit/>
          </a:bodyPr>
          <a:lstStyle/>
          <a:p>
            <a:pPr marL="12700">
              <a:lnSpc>
                <a:spcPct val="100000"/>
              </a:lnSpc>
              <a:spcBef>
                <a:spcPts val="100"/>
              </a:spcBef>
            </a:pPr>
            <a:r>
              <a:rPr dirty="0" sz="900" spc="-5" b="1">
                <a:solidFill>
                  <a:srgbClr val="003399"/>
                </a:solidFill>
                <a:latin typeface="Microsoft YaHei"/>
                <a:cs typeface="Microsoft YaHei"/>
              </a:rPr>
              <a:t>多小区合并技术降低切换和重选</a:t>
            </a:r>
            <a:endParaRPr sz="900">
              <a:latin typeface="Microsoft YaHei"/>
              <a:cs typeface="Microsoft YaHei"/>
            </a:endParaRPr>
          </a:p>
        </p:txBody>
      </p:sp>
      <p:sp>
        <p:nvSpPr>
          <p:cNvPr id="124" name="object 124" descr=""/>
          <p:cNvSpPr/>
          <p:nvPr/>
        </p:nvSpPr>
        <p:spPr>
          <a:xfrm>
            <a:off x="114556" y="2193709"/>
            <a:ext cx="8886190" cy="285115"/>
          </a:xfrm>
          <a:custGeom>
            <a:avLst/>
            <a:gdLst/>
            <a:ahLst/>
            <a:cxnLst/>
            <a:rect l="l" t="t" r="r" b="b"/>
            <a:pathLst>
              <a:path w="8886190" h="285114">
                <a:moveTo>
                  <a:pt x="8885936" y="0"/>
                </a:moveTo>
                <a:lnTo>
                  <a:pt x="0" y="0"/>
                </a:lnTo>
                <a:lnTo>
                  <a:pt x="4442968" y="284518"/>
                </a:lnTo>
                <a:lnTo>
                  <a:pt x="8885936" y="0"/>
                </a:lnTo>
                <a:close/>
              </a:path>
            </a:pathLst>
          </a:custGeom>
          <a:solidFill>
            <a:srgbClr val="92D050"/>
          </a:solidFill>
        </p:spPr>
        <p:txBody>
          <a:bodyPr wrap="square" lIns="0" tIns="0" rIns="0" bIns="0" rtlCol="0"/>
          <a:lstStyle/>
          <a:p/>
        </p:txBody>
      </p:sp>
      <p:sp>
        <p:nvSpPr>
          <p:cNvPr id="125" name="object 125" descr=""/>
          <p:cNvSpPr txBox="1"/>
          <p:nvPr/>
        </p:nvSpPr>
        <p:spPr>
          <a:xfrm>
            <a:off x="4087181" y="2160699"/>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solidFill>
                  <a:srgbClr val="FFFFFF"/>
                </a:solidFill>
                <a:latin typeface="Microsoft YaHei"/>
                <a:cs typeface="Microsoft YaHei"/>
              </a:rPr>
              <a:t>解决方案</a:t>
            </a:r>
            <a:endParaRPr sz="1800">
              <a:latin typeface="Microsoft YaHei"/>
              <a:cs typeface="Microsoft YaHei"/>
            </a:endParaRPr>
          </a:p>
        </p:txBody>
      </p:sp>
      <p:sp>
        <p:nvSpPr>
          <p:cNvPr id="126" name="object 126" descr=""/>
          <p:cNvSpPr txBox="1"/>
          <p:nvPr/>
        </p:nvSpPr>
        <p:spPr>
          <a:xfrm>
            <a:off x="5981941" y="3921899"/>
            <a:ext cx="1404620" cy="192405"/>
          </a:xfrm>
          <a:prstGeom prst="rect">
            <a:avLst/>
          </a:prstGeom>
          <a:solidFill>
            <a:srgbClr val="333399"/>
          </a:solidFill>
        </p:spPr>
        <p:txBody>
          <a:bodyPr wrap="square" lIns="0" tIns="29845" rIns="0" bIns="0" rtlCol="0" vert="horz">
            <a:spAutoFit/>
          </a:bodyPr>
          <a:lstStyle/>
          <a:p>
            <a:pPr marL="68580">
              <a:lnSpc>
                <a:spcPct val="100000"/>
              </a:lnSpc>
              <a:spcBef>
                <a:spcPts val="235"/>
              </a:spcBef>
            </a:pPr>
            <a:r>
              <a:rPr dirty="0" sz="800" spc="-20" b="1">
                <a:solidFill>
                  <a:srgbClr val="FFFFFF"/>
                </a:solidFill>
                <a:latin typeface="Microsoft YaHei"/>
                <a:cs typeface="Microsoft YaHei"/>
              </a:rPr>
              <a:t>多小区合并技术</a:t>
            </a:r>
            <a:endParaRPr sz="800">
              <a:latin typeface="Microsoft YaHei"/>
              <a:cs typeface="Microsoft YaHei"/>
            </a:endParaRPr>
          </a:p>
        </p:txBody>
      </p:sp>
      <p:grpSp>
        <p:nvGrpSpPr>
          <p:cNvPr id="127" name="object 127"/>
          <p:cNvGrpSpPr/>
          <p:nvPr/>
        </p:nvGrpSpPr>
        <p:grpSpPr>
          <a:xfrm>
            <a:off x="5976683" y="4154500"/>
            <a:ext cx="2904490" cy="574040"/>
            <a:chOff x="5976683" y="4154500"/>
            <a:chExt cx="2904490" cy="574040"/>
          </a:xfrm>
        </p:grpSpPr>
        <p:pic>
          <p:nvPicPr>
            <p:cNvPr id="128" name="object 128"/>
            <p:cNvPicPr/>
            <p:nvPr/>
          </p:nvPicPr>
          <p:blipFill>
            <a:blip r:embed="rId32" cstate="print"/>
            <a:stretch>
              <a:fillRect/>
            </a:stretch>
          </p:blipFill>
          <p:spPr>
            <a:xfrm>
              <a:off x="5999988" y="4177284"/>
              <a:ext cx="2881121" cy="550925"/>
            </a:xfrm>
            <a:prstGeom prst="rect">
              <a:avLst/>
            </a:prstGeom>
          </p:spPr>
        </p:pic>
        <p:sp>
          <p:nvSpPr>
            <p:cNvPr id="129" name="object 129" descr=""/>
            <p:cNvSpPr/>
            <p:nvPr/>
          </p:nvSpPr>
          <p:spPr>
            <a:xfrm>
              <a:off x="5976683" y="4154500"/>
              <a:ext cx="2877185" cy="546100"/>
            </a:xfrm>
            <a:custGeom>
              <a:avLst/>
              <a:gdLst/>
              <a:ahLst/>
              <a:cxnLst/>
              <a:rect l="l" t="t" r="r" b="b"/>
              <a:pathLst>
                <a:path w="2877184" h="546100">
                  <a:moveTo>
                    <a:pt x="2876651" y="0"/>
                  </a:moveTo>
                  <a:lnTo>
                    <a:pt x="0" y="0"/>
                  </a:lnTo>
                  <a:lnTo>
                    <a:pt x="0" y="545782"/>
                  </a:lnTo>
                  <a:lnTo>
                    <a:pt x="2876651" y="545782"/>
                  </a:lnTo>
                  <a:lnTo>
                    <a:pt x="2876651" y="0"/>
                  </a:lnTo>
                  <a:close/>
                </a:path>
              </a:pathLst>
            </a:custGeom>
            <a:solidFill>
              <a:srgbClr val="FFFFFF"/>
            </a:solidFill>
          </p:spPr>
          <p:txBody>
            <a:bodyPr wrap="square" lIns="0" tIns="0" rIns="0" bIns="0" rtlCol="0"/>
            <a:lstStyle/>
            <a:p/>
          </p:txBody>
        </p:sp>
      </p:grpSp>
      <p:grpSp>
        <p:nvGrpSpPr>
          <p:cNvPr id="130" name="object 130" descr=""/>
          <p:cNvGrpSpPr/>
          <p:nvPr/>
        </p:nvGrpSpPr>
        <p:grpSpPr>
          <a:xfrm>
            <a:off x="5847588" y="2727960"/>
            <a:ext cx="3157855" cy="647700"/>
            <a:chOff x="5847588" y="2727960"/>
            <a:chExt cx="3157855" cy="647700"/>
          </a:xfrm>
        </p:grpSpPr>
        <p:pic>
          <p:nvPicPr>
            <p:cNvPr id="131" name="object 131"/>
            <p:cNvPicPr/>
            <p:nvPr/>
          </p:nvPicPr>
          <p:blipFill>
            <a:blip r:embed="rId33" cstate="print"/>
            <a:stretch>
              <a:fillRect/>
            </a:stretch>
          </p:blipFill>
          <p:spPr>
            <a:xfrm>
              <a:off x="8031480" y="2727960"/>
              <a:ext cx="973834" cy="641603"/>
            </a:xfrm>
            <a:prstGeom prst="rect">
              <a:avLst/>
            </a:prstGeom>
          </p:spPr>
        </p:pic>
        <p:sp>
          <p:nvSpPr>
            <p:cNvPr id="132" name="object 132" descr=""/>
            <p:cNvSpPr/>
            <p:nvPr/>
          </p:nvSpPr>
          <p:spPr>
            <a:xfrm>
              <a:off x="8291657" y="2987963"/>
              <a:ext cx="454025" cy="121920"/>
            </a:xfrm>
            <a:custGeom>
              <a:avLst/>
              <a:gdLst/>
              <a:ahLst/>
              <a:cxnLst/>
              <a:rect l="l" t="t" r="r" b="b"/>
              <a:pathLst>
                <a:path w="454025" h="121919">
                  <a:moveTo>
                    <a:pt x="226809" y="0"/>
                  </a:moveTo>
                  <a:lnTo>
                    <a:pt x="155121" y="3100"/>
                  </a:lnTo>
                  <a:lnTo>
                    <a:pt x="92860" y="11734"/>
                  </a:lnTo>
                  <a:lnTo>
                    <a:pt x="43761" y="24900"/>
                  </a:lnTo>
                  <a:lnTo>
                    <a:pt x="0" y="60820"/>
                  </a:lnTo>
                  <a:lnTo>
                    <a:pt x="11563" y="80044"/>
                  </a:lnTo>
                  <a:lnTo>
                    <a:pt x="43761" y="96740"/>
                  </a:lnTo>
                  <a:lnTo>
                    <a:pt x="92860" y="109906"/>
                  </a:lnTo>
                  <a:lnTo>
                    <a:pt x="155121" y="118540"/>
                  </a:lnTo>
                  <a:lnTo>
                    <a:pt x="226809" y="121640"/>
                  </a:lnTo>
                  <a:lnTo>
                    <a:pt x="298503" y="118540"/>
                  </a:lnTo>
                  <a:lnTo>
                    <a:pt x="360768" y="109906"/>
                  </a:lnTo>
                  <a:lnTo>
                    <a:pt x="409868" y="96740"/>
                  </a:lnTo>
                  <a:lnTo>
                    <a:pt x="442068" y="80044"/>
                  </a:lnTo>
                  <a:lnTo>
                    <a:pt x="453631" y="60820"/>
                  </a:lnTo>
                  <a:lnTo>
                    <a:pt x="442068" y="41595"/>
                  </a:lnTo>
                  <a:lnTo>
                    <a:pt x="409868" y="24900"/>
                  </a:lnTo>
                  <a:lnTo>
                    <a:pt x="360768" y="11734"/>
                  </a:lnTo>
                  <a:lnTo>
                    <a:pt x="298503" y="3100"/>
                  </a:lnTo>
                  <a:lnTo>
                    <a:pt x="226809" y="0"/>
                  </a:lnTo>
                  <a:close/>
                </a:path>
              </a:pathLst>
            </a:custGeom>
            <a:solidFill>
              <a:srgbClr val="FFFFFF"/>
            </a:solidFill>
          </p:spPr>
          <p:txBody>
            <a:bodyPr wrap="square" lIns="0" tIns="0" rIns="0" bIns="0" rtlCol="0"/>
            <a:lstStyle/>
            <a:p/>
          </p:txBody>
        </p:sp>
        <p:sp>
          <p:nvSpPr>
            <p:cNvPr id="133" name="object 133" descr=""/>
            <p:cNvSpPr/>
            <p:nvPr/>
          </p:nvSpPr>
          <p:spPr>
            <a:xfrm>
              <a:off x="8291657" y="2987963"/>
              <a:ext cx="454025" cy="121920"/>
            </a:xfrm>
            <a:custGeom>
              <a:avLst/>
              <a:gdLst/>
              <a:ahLst/>
              <a:cxnLst/>
              <a:rect l="l" t="t" r="r" b="b"/>
              <a:pathLst>
                <a:path w="454025" h="121919">
                  <a:moveTo>
                    <a:pt x="0" y="60820"/>
                  </a:moveTo>
                  <a:lnTo>
                    <a:pt x="43761" y="24900"/>
                  </a:lnTo>
                  <a:lnTo>
                    <a:pt x="92860" y="11734"/>
                  </a:lnTo>
                  <a:lnTo>
                    <a:pt x="155121" y="3100"/>
                  </a:lnTo>
                  <a:lnTo>
                    <a:pt x="226809" y="0"/>
                  </a:lnTo>
                  <a:lnTo>
                    <a:pt x="298503" y="3100"/>
                  </a:lnTo>
                  <a:lnTo>
                    <a:pt x="360768" y="11734"/>
                  </a:lnTo>
                  <a:lnTo>
                    <a:pt x="409868" y="24900"/>
                  </a:lnTo>
                  <a:lnTo>
                    <a:pt x="442068" y="41595"/>
                  </a:lnTo>
                  <a:lnTo>
                    <a:pt x="453631" y="60820"/>
                  </a:lnTo>
                  <a:lnTo>
                    <a:pt x="442068" y="80044"/>
                  </a:lnTo>
                  <a:lnTo>
                    <a:pt x="409868" y="96740"/>
                  </a:lnTo>
                  <a:lnTo>
                    <a:pt x="360768" y="109906"/>
                  </a:lnTo>
                  <a:lnTo>
                    <a:pt x="298503" y="118540"/>
                  </a:lnTo>
                  <a:lnTo>
                    <a:pt x="226809" y="121640"/>
                  </a:lnTo>
                  <a:lnTo>
                    <a:pt x="155121" y="118540"/>
                  </a:lnTo>
                  <a:lnTo>
                    <a:pt x="92860" y="109906"/>
                  </a:lnTo>
                  <a:lnTo>
                    <a:pt x="43761" y="96740"/>
                  </a:lnTo>
                  <a:lnTo>
                    <a:pt x="11563" y="80044"/>
                  </a:lnTo>
                  <a:lnTo>
                    <a:pt x="0" y="60820"/>
                  </a:lnTo>
                  <a:close/>
                </a:path>
              </a:pathLst>
            </a:custGeom>
            <a:ln w="9524">
              <a:solidFill>
                <a:srgbClr val="C0C0C0"/>
              </a:solidFill>
            </a:ln>
          </p:spPr>
          <p:txBody>
            <a:bodyPr wrap="square" lIns="0" tIns="0" rIns="0" bIns="0" rtlCol="0"/>
            <a:lstStyle/>
            <a:p/>
          </p:txBody>
        </p:sp>
        <p:pic>
          <p:nvPicPr>
            <p:cNvPr id="134" name="object 134"/>
            <p:cNvPicPr/>
            <p:nvPr/>
          </p:nvPicPr>
          <p:blipFill>
            <a:blip r:embed="rId34" cstate="print"/>
            <a:stretch>
              <a:fillRect/>
            </a:stretch>
          </p:blipFill>
          <p:spPr>
            <a:xfrm>
              <a:off x="7594854" y="2727960"/>
              <a:ext cx="973835" cy="641603"/>
            </a:xfrm>
            <a:prstGeom prst="rect">
              <a:avLst/>
            </a:prstGeom>
          </p:spPr>
        </p:pic>
        <p:sp>
          <p:nvSpPr>
            <p:cNvPr id="135" name="object 135" descr=""/>
            <p:cNvSpPr/>
            <p:nvPr/>
          </p:nvSpPr>
          <p:spPr>
            <a:xfrm>
              <a:off x="7854869" y="2987963"/>
              <a:ext cx="454025" cy="121920"/>
            </a:xfrm>
            <a:custGeom>
              <a:avLst/>
              <a:gdLst/>
              <a:ahLst/>
              <a:cxnLst/>
              <a:rect l="l" t="t" r="r" b="b"/>
              <a:pathLst>
                <a:path w="454025" h="121919">
                  <a:moveTo>
                    <a:pt x="226809" y="0"/>
                  </a:moveTo>
                  <a:lnTo>
                    <a:pt x="155121" y="3100"/>
                  </a:lnTo>
                  <a:lnTo>
                    <a:pt x="92860" y="11734"/>
                  </a:lnTo>
                  <a:lnTo>
                    <a:pt x="43761" y="24900"/>
                  </a:lnTo>
                  <a:lnTo>
                    <a:pt x="0" y="60820"/>
                  </a:lnTo>
                  <a:lnTo>
                    <a:pt x="11563" y="80044"/>
                  </a:lnTo>
                  <a:lnTo>
                    <a:pt x="43761" y="96740"/>
                  </a:lnTo>
                  <a:lnTo>
                    <a:pt x="92860" y="109906"/>
                  </a:lnTo>
                  <a:lnTo>
                    <a:pt x="155121" y="118540"/>
                  </a:lnTo>
                  <a:lnTo>
                    <a:pt x="226809" y="121640"/>
                  </a:lnTo>
                  <a:lnTo>
                    <a:pt x="298503" y="118540"/>
                  </a:lnTo>
                  <a:lnTo>
                    <a:pt x="360768" y="109906"/>
                  </a:lnTo>
                  <a:lnTo>
                    <a:pt x="409868" y="96740"/>
                  </a:lnTo>
                  <a:lnTo>
                    <a:pt x="442068" y="80044"/>
                  </a:lnTo>
                  <a:lnTo>
                    <a:pt x="453631" y="60820"/>
                  </a:lnTo>
                  <a:lnTo>
                    <a:pt x="442068" y="41595"/>
                  </a:lnTo>
                  <a:lnTo>
                    <a:pt x="409868" y="24900"/>
                  </a:lnTo>
                  <a:lnTo>
                    <a:pt x="360768" y="11734"/>
                  </a:lnTo>
                  <a:lnTo>
                    <a:pt x="298503" y="3100"/>
                  </a:lnTo>
                  <a:lnTo>
                    <a:pt x="226809" y="0"/>
                  </a:lnTo>
                  <a:close/>
                </a:path>
              </a:pathLst>
            </a:custGeom>
            <a:solidFill>
              <a:srgbClr val="FFFFFF"/>
            </a:solidFill>
          </p:spPr>
          <p:txBody>
            <a:bodyPr wrap="square" lIns="0" tIns="0" rIns="0" bIns="0" rtlCol="0"/>
            <a:lstStyle/>
            <a:p/>
          </p:txBody>
        </p:sp>
        <p:sp>
          <p:nvSpPr>
            <p:cNvPr id="136" name="object 136" descr=""/>
            <p:cNvSpPr/>
            <p:nvPr/>
          </p:nvSpPr>
          <p:spPr>
            <a:xfrm>
              <a:off x="7854869" y="2987963"/>
              <a:ext cx="454025" cy="121920"/>
            </a:xfrm>
            <a:custGeom>
              <a:avLst/>
              <a:gdLst/>
              <a:ahLst/>
              <a:cxnLst/>
              <a:rect l="l" t="t" r="r" b="b"/>
              <a:pathLst>
                <a:path w="454025" h="121919">
                  <a:moveTo>
                    <a:pt x="0" y="60820"/>
                  </a:moveTo>
                  <a:lnTo>
                    <a:pt x="43761" y="24900"/>
                  </a:lnTo>
                  <a:lnTo>
                    <a:pt x="92860" y="11734"/>
                  </a:lnTo>
                  <a:lnTo>
                    <a:pt x="155121" y="3100"/>
                  </a:lnTo>
                  <a:lnTo>
                    <a:pt x="226809" y="0"/>
                  </a:lnTo>
                  <a:lnTo>
                    <a:pt x="298503" y="3100"/>
                  </a:lnTo>
                  <a:lnTo>
                    <a:pt x="360768" y="11734"/>
                  </a:lnTo>
                  <a:lnTo>
                    <a:pt x="409868" y="24900"/>
                  </a:lnTo>
                  <a:lnTo>
                    <a:pt x="442068" y="41595"/>
                  </a:lnTo>
                  <a:lnTo>
                    <a:pt x="453631" y="60820"/>
                  </a:lnTo>
                  <a:lnTo>
                    <a:pt x="442068" y="80044"/>
                  </a:lnTo>
                  <a:lnTo>
                    <a:pt x="409868" y="96740"/>
                  </a:lnTo>
                  <a:lnTo>
                    <a:pt x="360768" y="109906"/>
                  </a:lnTo>
                  <a:lnTo>
                    <a:pt x="298503" y="118540"/>
                  </a:lnTo>
                  <a:lnTo>
                    <a:pt x="226809" y="121640"/>
                  </a:lnTo>
                  <a:lnTo>
                    <a:pt x="155121" y="118540"/>
                  </a:lnTo>
                  <a:lnTo>
                    <a:pt x="92860" y="109906"/>
                  </a:lnTo>
                  <a:lnTo>
                    <a:pt x="43761" y="96740"/>
                  </a:lnTo>
                  <a:lnTo>
                    <a:pt x="11563" y="80044"/>
                  </a:lnTo>
                  <a:lnTo>
                    <a:pt x="0" y="60820"/>
                  </a:lnTo>
                  <a:close/>
                </a:path>
              </a:pathLst>
            </a:custGeom>
            <a:ln w="9524">
              <a:solidFill>
                <a:srgbClr val="C0C0C0"/>
              </a:solidFill>
            </a:ln>
          </p:spPr>
          <p:txBody>
            <a:bodyPr wrap="square" lIns="0" tIns="0" rIns="0" bIns="0" rtlCol="0"/>
            <a:lstStyle/>
            <a:p/>
          </p:txBody>
        </p:sp>
        <p:pic>
          <p:nvPicPr>
            <p:cNvPr id="137" name="object 137"/>
            <p:cNvPicPr/>
            <p:nvPr/>
          </p:nvPicPr>
          <p:blipFill>
            <a:blip r:embed="rId35" cstate="print"/>
            <a:stretch>
              <a:fillRect/>
            </a:stretch>
          </p:blipFill>
          <p:spPr>
            <a:xfrm>
              <a:off x="7158227" y="2730246"/>
              <a:ext cx="973835" cy="642365"/>
            </a:xfrm>
            <a:prstGeom prst="rect">
              <a:avLst/>
            </a:prstGeom>
          </p:spPr>
        </p:pic>
        <p:sp>
          <p:nvSpPr>
            <p:cNvPr id="138" name="object 138" descr=""/>
            <p:cNvSpPr/>
            <p:nvPr/>
          </p:nvSpPr>
          <p:spPr>
            <a:xfrm>
              <a:off x="7418082" y="2990656"/>
              <a:ext cx="454025" cy="122555"/>
            </a:xfrm>
            <a:custGeom>
              <a:avLst/>
              <a:gdLst/>
              <a:ahLst/>
              <a:cxnLst/>
              <a:rect l="l" t="t" r="r" b="b"/>
              <a:pathLst>
                <a:path w="454025" h="122555">
                  <a:moveTo>
                    <a:pt x="226809" y="0"/>
                  </a:moveTo>
                  <a:lnTo>
                    <a:pt x="155121" y="3113"/>
                  </a:lnTo>
                  <a:lnTo>
                    <a:pt x="92860" y="11784"/>
                  </a:lnTo>
                  <a:lnTo>
                    <a:pt x="43761" y="25007"/>
                  </a:lnTo>
                  <a:lnTo>
                    <a:pt x="0" y="61087"/>
                  </a:lnTo>
                  <a:lnTo>
                    <a:pt x="11563" y="80397"/>
                  </a:lnTo>
                  <a:lnTo>
                    <a:pt x="43761" y="97166"/>
                  </a:lnTo>
                  <a:lnTo>
                    <a:pt x="92860" y="110389"/>
                  </a:lnTo>
                  <a:lnTo>
                    <a:pt x="155121" y="119060"/>
                  </a:lnTo>
                  <a:lnTo>
                    <a:pt x="226809" y="122174"/>
                  </a:lnTo>
                  <a:lnTo>
                    <a:pt x="298503" y="119060"/>
                  </a:lnTo>
                  <a:lnTo>
                    <a:pt x="360768" y="110389"/>
                  </a:lnTo>
                  <a:lnTo>
                    <a:pt x="409868" y="97166"/>
                  </a:lnTo>
                  <a:lnTo>
                    <a:pt x="442068" y="80397"/>
                  </a:lnTo>
                  <a:lnTo>
                    <a:pt x="453631" y="61087"/>
                  </a:lnTo>
                  <a:lnTo>
                    <a:pt x="442068" y="41776"/>
                  </a:lnTo>
                  <a:lnTo>
                    <a:pt x="409868" y="25007"/>
                  </a:lnTo>
                  <a:lnTo>
                    <a:pt x="360768" y="11784"/>
                  </a:lnTo>
                  <a:lnTo>
                    <a:pt x="298503" y="3113"/>
                  </a:lnTo>
                  <a:lnTo>
                    <a:pt x="226809" y="0"/>
                  </a:lnTo>
                  <a:close/>
                </a:path>
              </a:pathLst>
            </a:custGeom>
            <a:solidFill>
              <a:srgbClr val="FFFFFF"/>
            </a:solidFill>
          </p:spPr>
          <p:txBody>
            <a:bodyPr wrap="square" lIns="0" tIns="0" rIns="0" bIns="0" rtlCol="0"/>
            <a:lstStyle/>
            <a:p/>
          </p:txBody>
        </p:sp>
        <p:sp>
          <p:nvSpPr>
            <p:cNvPr id="139" name="object 139" descr=""/>
            <p:cNvSpPr/>
            <p:nvPr/>
          </p:nvSpPr>
          <p:spPr>
            <a:xfrm>
              <a:off x="7418082" y="2990656"/>
              <a:ext cx="454025" cy="122555"/>
            </a:xfrm>
            <a:custGeom>
              <a:avLst/>
              <a:gdLst/>
              <a:ahLst/>
              <a:cxnLst/>
              <a:rect l="l" t="t" r="r" b="b"/>
              <a:pathLst>
                <a:path w="454025" h="122555">
                  <a:moveTo>
                    <a:pt x="0" y="61087"/>
                  </a:moveTo>
                  <a:lnTo>
                    <a:pt x="43761" y="25007"/>
                  </a:lnTo>
                  <a:lnTo>
                    <a:pt x="92860" y="11784"/>
                  </a:lnTo>
                  <a:lnTo>
                    <a:pt x="155121" y="3113"/>
                  </a:lnTo>
                  <a:lnTo>
                    <a:pt x="226809" y="0"/>
                  </a:lnTo>
                  <a:lnTo>
                    <a:pt x="298503" y="3113"/>
                  </a:lnTo>
                  <a:lnTo>
                    <a:pt x="360768" y="11784"/>
                  </a:lnTo>
                  <a:lnTo>
                    <a:pt x="409868" y="25007"/>
                  </a:lnTo>
                  <a:lnTo>
                    <a:pt x="442068" y="41776"/>
                  </a:lnTo>
                  <a:lnTo>
                    <a:pt x="453631" y="61087"/>
                  </a:lnTo>
                  <a:lnTo>
                    <a:pt x="442068" y="80397"/>
                  </a:lnTo>
                  <a:lnTo>
                    <a:pt x="409868" y="97166"/>
                  </a:lnTo>
                  <a:lnTo>
                    <a:pt x="360768" y="110389"/>
                  </a:lnTo>
                  <a:lnTo>
                    <a:pt x="298503" y="119060"/>
                  </a:lnTo>
                  <a:lnTo>
                    <a:pt x="226809" y="122174"/>
                  </a:lnTo>
                  <a:lnTo>
                    <a:pt x="155121" y="119060"/>
                  </a:lnTo>
                  <a:lnTo>
                    <a:pt x="92860" y="110389"/>
                  </a:lnTo>
                  <a:lnTo>
                    <a:pt x="43761" y="97166"/>
                  </a:lnTo>
                  <a:lnTo>
                    <a:pt x="11563" y="80397"/>
                  </a:lnTo>
                  <a:lnTo>
                    <a:pt x="0" y="61087"/>
                  </a:lnTo>
                  <a:close/>
                </a:path>
              </a:pathLst>
            </a:custGeom>
            <a:ln w="9525">
              <a:solidFill>
                <a:srgbClr val="C0C0C0"/>
              </a:solidFill>
            </a:ln>
          </p:spPr>
          <p:txBody>
            <a:bodyPr wrap="square" lIns="0" tIns="0" rIns="0" bIns="0" rtlCol="0"/>
            <a:lstStyle/>
            <a:p/>
          </p:txBody>
        </p:sp>
        <p:pic>
          <p:nvPicPr>
            <p:cNvPr id="140" name="object 140"/>
            <p:cNvPicPr/>
            <p:nvPr/>
          </p:nvPicPr>
          <p:blipFill>
            <a:blip r:embed="rId36" cstate="print"/>
            <a:stretch>
              <a:fillRect/>
            </a:stretch>
          </p:blipFill>
          <p:spPr>
            <a:xfrm>
              <a:off x="6721602" y="2730246"/>
              <a:ext cx="973073" cy="642365"/>
            </a:xfrm>
            <a:prstGeom prst="rect">
              <a:avLst/>
            </a:prstGeom>
          </p:spPr>
        </p:pic>
        <p:sp>
          <p:nvSpPr>
            <p:cNvPr id="141" name="object 141" descr=""/>
            <p:cNvSpPr/>
            <p:nvPr/>
          </p:nvSpPr>
          <p:spPr>
            <a:xfrm>
              <a:off x="6981294" y="2990656"/>
              <a:ext cx="454025" cy="122555"/>
            </a:xfrm>
            <a:custGeom>
              <a:avLst/>
              <a:gdLst/>
              <a:ahLst/>
              <a:cxnLst/>
              <a:rect l="l" t="t" r="r" b="b"/>
              <a:pathLst>
                <a:path w="454025" h="122555">
                  <a:moveTo>
                    <a:pt x="226809" y="0"/>
                  </a:moveTo>
                  <a:lnTo>
                    <a:pt x="155121" y="3113"/>
                  </a:lnTo>
                  <a:lnTo>
                    <a:pt x="92860" y="11784"/>
                  </a:lnTo>
                  <a:lnTo>
                    <a:pt x="43761" y="25007"/>
                  </a:lnTo>
                  <a:lnTo>
                    <a:pt x="0" y="61087"/>
                  </a:lnTo>
                  <a:lnTo>
                    <a:pt x="11563" y="80397"/>
                  </a:lnTo>
                  <a:lnTo>
                    <a:pt x="43761" y="97166"/>
                  </a:lnTo>
                  <a:lnTo>
                    <a:pt x="92860" y="110389"/>
                  </a:lnTo>
                  <a:lnTo>
                    <a:pt x="155121" y="119060"/>
                  </a:lnTo>
                  <a:lnTo>
                    <a:pt x="226809" y="122174"/>
                  </a:lnTo>
                  <a:lnTo>
                    <a:pt x="298503" y="119060"/>
                  </a:lnTo>
                  <a:lnTo>
                    <a:pt x="360768" y="110389"/>
                  </a:lnTo>
                  <a:lnTo>
                    <a:pt x="409868" y="97166"/>
                  </a:lnTo>
                  <a:lnTo>
                    <a:pt x="442068" y="80397"/>
                  </a:lnTo>
                  <a:lnTo>
                    <a:pt x="453631" y="61087"/>
                  </a:lnTo>
                  <a:lnTo>
                    <a:pt x="442068" y="41776"/>
                  </a:lnTo>
                  <a:lnTo>
                    <a:pt x="409868" y="25007"/>
                  </a:lnTo>
                  <a:lnTo>
                    <a:pt x="360768" y="11784"/>
                  </a:lnTo>
                  <a:lnTo>
                    <a:pt x="298503" y="3113"/>
                  </a:lnTo>
                  <a:lnTo>
                    <a:pt x="226809" y="0"/>
                  </a:lnTo>
                  <a:close/>
                </a:path>
              </a:pathLst>
            </a:custGeom>
            <a:solidFill>
              <a:srgbClr val="FFFFFF"/>
            </a:solidFill>
          </p:spPr>
          <p:txBody>
            <a:bodyPr wrap="square" lIns="0" tIns="0" rIns="0" bIns="0" rtlCol="0"/>
            <a:lstStyle/>
            <a:p/>
          </p:txBody>
        </p:sp>
        <p:sp>
          <p:nvSpPr>
            <p:cNvPr id="142" name="object 142" descr=""/>
            <p:cNvSpPr/>
            <p:nvPr/>
          </p:nvSpPr>
          <p:spPr>
            <a:xfrm>
              <a:off x="6981294" y="2990656"/>
              <a:ext cx="454025" cy="122555"/>
            </a:xfrm>
            <a:custGeom>
              <a:avLst/>
              <a:gdLst/>
              <a:ahLst/>
              <a:cxnLst/>
              <a:rect l="l" t="t" r="r" b="b"/>
              <a:pathLst>
                <a:path w="454025" h="122555">
                  <a:moveTo>
                    <a:pt x="0" y="61087"/>
                  </a:moveTo>
                  <a:lnTo>
                    <a:pt x="43761" y="25007"/>
                  </a:lnTo>
                  <a:lnTo>
                    <a:pt x="92860" y="11784"/>
                  </a:lnTo>
                  <a:lnTo>
                    <a:pt x="155121" y="3113"/>
                  </a:lnTo>
                  <a:lnTo>
                    <a:pt x="226809" y="0"/>
                  </a:lnTo>
                  <a:lnTo>
                    <a:pt x="298503" y="3113"/>
                  </a:lnTo>
                  <a:lnTo>
                    <a:pt x="360768" y="11784"/>
                  </a:lnTo>
                  <a:lnTo>
                    <a:pt x="409868" y="25007"/>
                  </a:lnTo>
                  <a:lnTo>
                    <a:pt x="442068" y="41776"/>
                  </a:lnTo>
                  <a:lnTo>
                    <a:pt x="453631" y="61087"/>
                  </a:lnTo>
                  <a:lnTo>
                    <a:pt x="442068" y="80397"/>
                  </a:lnTo>
                  <a:lnTo>
                    <a:pt x="409868" y="97166"/>
                  </a:lnTo>
                  <a:lnTo>
                    <a:pt x="360768" y="110389"/>
                  </a:lnTo>
                  <a:lnTo>
                    <a:pt x="298503" y="119060"/>
                  </a:lnTo>
                  <a:lnTo>
                    <a:pt x="226809" y="122174"/>
                  </a:lnTo>
                  <a:lnTo>
                    <a:pt x="155121" y="119060"/>
                  </a:lnTo>
                  <a:lnTo>
                    <a:pt x="92860" y="110389"/>
                  </a:lnTo>
                  <a:lnTo>
                    <a:pt x="43761" y="97166"/>
                  </a:lnTo>
                  <a:lnTo>
                    <a:pt x="11563" y="80397"/>
                  </a:lnTo>
                  <a:lnTo>
                    <a:pt x="0" y="61087"/>
                  </a:lnTo>
                  <a:close/>
                </a:path>
              </a:pathLst>
            </a:custGeom>
            <a:ln w="9525">
              <a:solidFill>
                <a:srgbClr val="C0C0C0"/>
              </a:solidFill>
            </a:ln>
          </p:spPr>
          <p:txBody>
            <a:bodyPr wrap="square" lIns="0" tIns="0" rIns="0" bIns="0" rtlCol="0"/>
            <a:lstStyle/>
            <a:p/>
          </p:txBody>
        </p:sp>
        <p:pic>
          <p:nvPicPr>
            <p:cNvPr id="143" name="object 143"/>
            <p:cNvPicPr/>
            <p:nvPr/>
          </p:nvPicPr>
          <p:blipFill>
            <a:blip r:embed="rId37" cstate="print"/>
            <a:stretch>
              <a:fillRect/>
            </a:stretch>
          </p:blipFill>
          <p:spPr>
            <a:xfrm>
              <a:off x="6284214" y="2733294"/>
              <a:ext cx="973834" cy="642365"/>
            </a:xfrm>
            <a:prstGeom prst="rect">
              <a:avLst/>
            </a:prstGeom>
          </p:spPr>
        </p:pic>
        <p:sp>
          <p:nvSpPr>
            <p:cNvPr id="144" name="object 144" descr=""/>
            <p:cNvSpPr/>
            <p:nvPr/>
          </p:nvSpPr>
          <p:spPr>
            <a:xfrm>
              <a:off x="6544505" y="2993348"/>
              <a:ext cx="454025" cy="122555"/>
            </a:xfrm>
            <a:custGeom>
              <a:avLst/>
              <a:gdLst/>
              <a:ahLst/>
              <a:cxnLst/>
              <a:rect l="l" t="t" r="r" b="b"/>
              <a:pathLst>
                <a:path w="454025" h="122555">
                  <a:moveTo>
                    <a:pt x="226809" y="0"/>
                  </a:moveTo>
                  <a:lnTo>
                    <a:pt x="155121" y="3113"/>
                  </a:lnTo>
                  <a:lnTo>
                    <a:pt x="92860" y="11784"/>
                  </a:lnTo>
                  <a:lnTo>
                    <a:pt x="43761" y="25007"/>
                  </a:lnTo>
                  <a:lnTo>
                    <a:pt x="0" y="61087"/>
                  </a:lnTo>
                  <a:lnTo>
                    <a:pt x="11563" y="80397"/>
                  </a:lnTo>
                  <a:lnTo>
                    <a:pt x="43761" y="97166"/>
                  </a:lnTo>
                  <a:lnTo>
                    <a:pt x="92860" y="110389"/>
                  </a:lnTo>
                  <a:lnTo>
                    <a:pt x="155121" y="119060"/>
                  </a:lnTo>
                  <a:lnTo>
                    <a:pt x="226809" y="122174"/>
                  </a:lnTo>
                  <a:lnTo>
                    <a:pt x="298503" y="119060"/>
                  </a:lnTo>
                  <a:lnTo>
                    <a:pt x="360768" y="110389"/>
                  </a:lnTo>
                  <a:lnTo>
                    <a:pt x="409868" y="97166"/>
                  </a:lnTo>
                  <a:lnTo>
                    <a:pt x="442068" y="80397"/>
                  </a:lnTo>
                  <a:lnTo>
                    <a:pt x="453631" y="61087"/>
                  </a:lnTo>
                  <a:lnTo>
                    <a:pt x="442068" y="41776"/>
                  </a:lnTo>
                  <a:lnTo>
                    <a:pt x="409868" y="25007"/>
                  </a:lnTo>
                  <a:lnTo>
                    <a:pt x="360768" y="11784"/>
                  </a:lnTo>
                  <a:lnTo>
                    <a:pt x="298503" y="3113"/>
                  </a:lnTo>
                  <a:lnTo>
                    <a:pt x="226809" y="0"/>
                  </a:lnTo>
                  <a:close/>
                </a:path>
              </a:pathLst>
            </a:custGeom>
            <a:solidFill>
              <a:srgbClr val="FFFFFF"/>
            </a:solidFill>
          </p:spPr>
          <p:txBody>
            <a:bodyPr wrap="square" lIns="0" tIns="0" rIns="0" bIns="0" rtlCol="0"/>
            <a:lstStyle/>
            <a:p/>
          </p:txBody>
        </p:sp>
        <p:sp>
          <p:nvSpPr>
            <p:cNvPr id="145" name="object 145" descr=""/>
            <p:cNvSpPr/>
            <p:nvPr/>
          </p:nvSpPr>
          <p:spPr>
            <a:xfrm>
              <a:off x="6544505" y="2993348"/>
              <a:ext cx="454025" cy="122555"/>
            </a:xfrm>
            <a:custGeom>
              <a:avLst/>
              <a:gdLst/>
              <a:ahLst/>
              <a:cxnLst/>
              <a:rect l="l" t="t" r="r" b="b"/>
              <a:pathLst>
                <a:path w="454025" h="122555">
                  <a:moveTo>
                    <a:pt x="0" y="61087"/>
                  </a:moveTo>
                  <a:lnTo>
                    <a:pt x="43761" y="25007"/>
                  </a:lnTo>
                  <a:lnTo>
                    <a:pt x="92860" y="11784"/>
                  </a:lnTo>
                  <a:lnTo>
                    <a:pt x="155121" y="3113"/>
                  </a:lnTo>
                  <a:lnTo>
                    <a:pt x="226809" y="0"/>
                  </a:lnTo>
                  <a:lnTo>
                    <a:pt x="298503" y="3113"/>
                  </a:lnTo>
                  <a:lnTo>
                    <a:pt x="360768" y="11784"/>
                  </a:lnTo>
                  <a:lnTo>
                    <a:pt x="409868" y="25007"/>
                  </a:lnTo>
                  <a:lnTo>
                    <a:pt x="442068" y="41776"/>
                  </a:lnTo>
                  <a:lnTo>
                    <a:pt x="453631" y="61087"/>
                  </a:lnTo>
                  <a:lnTo>
                    <a:pt x="442068" y="80397"/>
                  </a:lnTo>
                  <a:lnTo>
                    <a:pt x="409868" y="97166"/>
                  </a:lnTo>
                  <a:lnTo>
                    <a:pt x="360768" y="110389"/>
                  </a:lnTo>
                  <a:lnTo>
                    <a:pt x="298503" y="119060"/>
                  </a:lnTo>
                  <a:lnTo>
                    <a:pt x="226809" y="122174"/>
                  </a:lnTo>
                  <a:lnTo>
                    <a:pt x="155121" y="119060"/>
                  </a:lnTo>
                  <a:lnTo>
                    <a:pt x="92860" y="110389"/>
                  </a:lnTo>
                  <a:lnTo>
                    <a:pt x="43761" y="97166"/>
                  </a:lnTo>
                  <a:lnTo>
                    <a:pt x="11563" y="80397"/>
                  </a:lnTo>
                  <a:lnTo>
                    <a:pt x="0" y="61087"/>
                  </a:lnTo>
                  <a:close/>
                </a:path>
              </a:pathLst>
            </a:custGeom>
            <a:ln w="9525">
              <a:solidFill>
                <a:srgbClr val="C0C0C0"/>
              </a:solidFill>
            </a:ln>
          </p:spPr>
          <p:txBody>
            <a:bodyPr wrap="square" lIns="0" tIns="0" rIns="0" bIns="0" rtlCol="0"/>
            <a:lstStyle/>
            <a:p/>
          </p:txBody>
        </p:sp>
        <p:pic>
          <p:nvPicPr>
            <p:cNvPr id="146" name="object 146"/>
            <p:cNvPicPr/>
            <p:nvPr/>
          </p:nvPicPr>
          <p:blipFill>
            <a:blip r:embed="rId38" cstate="print"/>
            <a:stretch>
              <a:fillRect/>
            </a:stretch>
          </p:blipFill>
          <p:spPr>
            <a:xfrm>
              <a:off x="5847588" y="2733294"/>
              <a:ext cx="973835" cy="642365"/>
            </a:xfrm>
            <a:prstGeom prst="rect">
              <a:avLst/>
            </a:prstGeom>
          </p:spPr>
        </p:pic>
        <p:sp>
          <p:nvSpPr>
            <p:cNvPr id="147" name="object 147" descr=""/>
            <p:cNvSpPr/>
            <p:nvPr/>
          </p:nvSpPr>
          <p:spPr>
            <a:xfrm>
              <a:off x="6107719" y="2993348"/>
              <a:ext cx="454025" cy="122555"/>
            </a:xfrm>
            <a:custGeom>
              <a:avLst/>
              <a:gdLst/>
              <a:ahLst/>
              <a:cxnLst/>
              <a:rect l="l" t="t" r="r" b="b"/>
              <a:pathLst>
                <a:path w="454025" h="122555">
                  <a:moveTo>
                    <a:pt x="226809" y="0"/>
                  </a:moveTo>
                  <a:lnTo>
                    <a:pt x="155121" y="3113"/>
                  </a:lnTo>
                  <a:lnTo>
                    <a:pt x="92860" y="11784"/>
                  </a:lnTo>
                  <a:lnTo>
                    <a:pt x="43761" y="25007"/>
                  </a:lnTo>
                  <a:lnTo>
                    <a:pt x="0" y="61087"/>
                  </a:lnTo>
                  <a:lnTo>
                    <a:pt x="11563" y="80397"/>
                  </a:lnTo>
                  <a:lnTo>
                    <a:pt x="43761" y="97166"/>
                  </a:lnTo>
                  <a:lnTo>
                    <a:pt x="92860" y="110389"/>
                  </a:lnTo>
                  <a:lnTo>
                    <a:pt x="155121" y="119060"/>
                  </a:lnTo>
                  <a:lnTo>
                    <a:pt x="226809" y="122174"/>
                  </a:lnTo>
                  <a:lnTo>
                    <a:pt x="298503" y="119060"/>
                  </a:lnTo>
                  <a:lnTo>
                    <a:pt x="360768" y="110389"/>
                  </a:lnTo>
                  <a:lnTo>
                    <a:pt x="409868" y="97166"/>
                  </a:lnTo>
                  <a:lnTo>
                    <a:pt x="442068" y="80397"/>
                  </a:lnTo>
                  <a:lnTo>
                    <a:pt x="453631" y="61087"/>
                  </a:lnTo>
                  <a:lnTo>
                    <a:pt x="442068" y="41776"/>
                  </a:lnTo>
                  <a:lnTo>
                    <a:pt x="409868" y="25007"/>
                  </a:lnTo>
                  <a:lnTo>
                    <a:pt x="360768" y="11784"/>
                  </a:lnTo>
                  <a:lnTo>
                    <a:pt x="298503" y="3113"/>
                  </a:lnTo>
                  <a:lnTo>
                    <a:pt x="226809" y="0"/>
                  </a:lnTo>
                  <a:close/>
                </a:path>
              </a:pathLst>
            </a:custGeom>
            <a:solidFill>
              <a:srgbClr val="FFFFFF"/>
            </a:solidFill>
          </p:spPr>
          <p:txBody>
            <a:bodyPr wrap="square" lIns="0" tIns="0" rIns="0" bIns="0" rtlCol="0"/>
            <a:lstStyle/>
            <a:p/>
          </p:txBody>
        </p:sp>
        <p:sp>
          <p:nvSpPr>
            <p:cNvPr id="148" name="object 148" descr=""/>
            <p:cNvSpPr/>
            <p:nvPr/>
          </p:nvSpPr>
          <p:spPr>
            <a:xfrm>
              <a:off x="6107719" y="2993348"/>
              <a:ext cx="454025" cy="122555"/>
            </a:xfrm>
            <a:custGeom>
              <a:avLst/>
              <a:gdLst/>
              <a:ahLst/>
              <a:cxnLst/>
              <a:rect l="l" t="t" r="r" b="b"/>
              <a:pathLst>
                <a:path w="454025" h="122555">
                  <a:moveTo>
                    <a:pt x="0" y="61087"/>
                  </a:moveTo>
                  <a:lnTo>
                    <a:pt x="43761" y="25007"/>
                  </a:lnTo>
                  <a:lnTo>
                    <a:pt x="92860" y="11784"/>
                  </a:lnTo>
                  <a:lnTo>
                    <a:pt x="155121" y="3113"/>
                  </a:lnTo>
                  <a:lnTo>
                    <a:pt x="226809" y="0"/>
                  </a:lnTo>
                  <a:lnTo>
                    <a:pt x="298503" y="3113"/>
                  </a:lnTo>
                  <a:lnTo>
                    <a:pt x="360768" y="11784"/>
                  </a:lnTo>
                  <a:lnTo>
                    <a:pt x="409868" y="25007"/>
                  </a:lnTo>
                  <a:lnTo>
                    <a:pt x="442068" y="41776"/>
                  </a:lnTo>
                  <a:lnTo>
                    <a:pt x="453631" y="61087"/>
                  </a:lnTo>
                  <a:lnTo>
                    <a:pt x="442068" y="80397"/>
                  </a:lnTo>
                  <a:lnTo>
                    <a:pt x="409868" y="97166"/>
                  </a:lnTo>
                  <a:lnTo>
                    <a:pt x="360768" y="110389"/>
                  </a:lnTo>
                  <a:lnTo>
                    <a:pt x="298503" y="119060"/>
                  </a:lnTo>
                  <a:lnTo>
                    <a:pt x="226809" y="122174"/>
                  </a:lnTo>
                  <a:lnTo>
                    <a:pt x="155121" y="119060"/>
                  </a:lnTo>
                  <a:lnTo>
                    <a:pt x="92860" y="110389"/>
                  </a:lnTo>
                  <a:lnTo>
                    <a:pt x="43761" y="97166"/>
                  </a:lnTo>
                  <a:lnTo>
                    <a:pt x="11563" y="80397"/>
                  </a:lnTo>
                  <a:lnTo>
                    <a:pt x="0" y="61087"/>
                  </a:lnTo>
                  <a:close/>
                </a:path>
              </a:pathLst>
            </a:custGeom>
            <a:ln w="9525">
              <a:solidFill>
                <a:srgbClr val="C0C0C0"/>
              </a:solidFill>
            </a:ln>
          </p:spPr>
          <p:txBody>
            <a:bodyPr wrap="square" lIns="0" tIns="0" rIns="0" bIns="0" rtlCol="0"/>
            <a:lstStyle/>
            <a:p/>
          </p:txBody>
        </p:sp>
        <p:sp>
          <p:nvSpPr>
            <p:cNvPr id="149" name="object 149" descr=""/>
            <p:cNvSpPr/>
            <p:nvPr/>
          </p:nvSpPr>
          <p:spPr>
            <a:xfrm>
              <a:off x="6958601" y="3149587"/>
              <a:ext cx="52705" cy="26034"/>
            </a:xfrm>
            <a:custGeom>
              <a:avLst/>
              <a:gdLst/>
              <a:ahLst/>
              <a:cxnLst/>
              <a:rect l="l" t="t" r="r" b="b"/>
              <a:pathLst>
                <a:path w="52704" h="26035">
                  <a:moveTo>
                    <a:pt x="23296" y="25997"/>
                  </a:moveTo>
                  <a:lnTo>
                    <a:pt x="0" y="25997"/>
                  </a:lnTo>
                  <a:lnTo>
                    <a:pt x="44373" y="877"/>
                  </a:lnTo>
                  <a:lnTo>
                    <a:pt x="44913" y="654"/>
                  </a:lnTo>
                  <a:lnTo>
                    <a:pt x="45504" y="496"/>
                  </a:lnTo>
                  <a:lnTo>
                    <a:pt x="49178" y="0"/>
                  </a:lnTo>
                  <a:lnTo>
                    <a:pt x="52121" y="1476"/>
                  </a:lnTo>
                  <a:lnTo>
                    <a:pt x="52691" y="3714"/>
                  </a:lnTo>
                  <a:lnTo>
                    <a:pt x="50542" y="12284"/>
                  </a:lnTo>
                  <a:lnTo>
                    <a:pt x="44300" y="19330"/>
                  </a:lnTo>
                  <a:lnTo>
                    <a:pt x="34905" y="24138"/>
                  </a:lnTo>
                  <a:lnTo>
                    <a:pt x="23296" y="25997"/>
                  </a:lnTo>
                  <a:close/>
                </a:path>
              </a:pathLst>
            </a:custGeom>
            <a:solidFill>
              <a:srgbClr val="FFFFFF">
                <a:alpha val="29803"/>
              </a:srgbClr>
            </a:solidFill>
          </p:spPr>
          <p:txBody>
            <a:bodyPr wrap="square" lIns="0" tIns="0" rIns="0" bIns="0" rtlCol="0"/>
            <a:lstStyle/>
            <a:p/>
          </p:txBody>
        </p:sp>
        <p:sp>
          <p:nvSpPr>
            <p:cNvPr id="150" name="object 150" descr=""/>
            <p:cNvSpPr/>
            <p:nvPr/>
          </p:nvSpPr>
          <p:spPr>
            <a:xfrm>
              <a:off x="6933643" y="3158479"/>
              <a:ext cx="51435" cy="17780"/>
            </a:xfrm>
            <a:custGeom>
              <a:avLst/>
              <a:gdLst/>
              <a:ahLst/>
              <a:cxnLst/>
              <a:rect l="l" t="t" r="r" b="b"/>
              <a:pathLst>
                <a:path w="51434" h="17780">
                  <a:moveTo>
                    <a:pt x="14" y="7908"/>
                  </a:moveTo>
                  <a:lnTo>
                    <a:pt x="2538" y="12452"/>
                  </a:lnTo>
                  <a:lnTo>
                    <a:pt x="7906" y="15772"/>
                  </a:lnTo>
                  <a:lnTo>
                    <a:pt x="14350" y="16778"/>
                  </a:lnTo>
                  <a:lnTo>
                    <a:pt x="19247" y="17505"/>
                  </a:lnTo>
                  <a:lnTo>
                    <a:pt x="24313" y="17253"/>
                  </a:lnTo>
                  <a:lnTo>
                    <a:pt x="29034" y="16043"/>
                  </a:lnTo>
                  <a:lnTo>
                    <a:pt x="51107" y="7007"/>
                  </a:lnTo>
                  <a:lnTo>
                    <a:pt x="50343" y="4629"/>
                  </a:lnTo>
                  <a:lnTo>
                    <a:pt x="49373" y="2286"/>
                  </a:lnTo>
                  <a:lnTo>
                    <a:pt x="48205" y="0"/>
                  </a:lnTo>
                  <a:lnTo>
                    <a:pt x="27730" y="9001"/>
                  </a:lnTo>
                  <a:lnTo>
                    <a:pt x="21716" y="10777"/>
                  </a:lnTo>
                  <a:lnTo>
                    <a:pt x="14985" y="10603"/>
                  </a:lnTo>
                  <a:lnTo>
                    <a:pt x="9159" y="8520"/>
                  </a:lnTo>
                  <a:lnTo>
                    <a:pt x="4695" y="7060"/>
                  </a:lnTo>
                  <a:lnTo>
                    <a:pt x="1329" y="4186"/>
                  </a:lnTo>
                  <a:lnTo>
                    <a:pt x="0" y="697"/>
                  </a:lnTo>
                  <a:lnTo>
                    <a:pt x="14" y="7908"/>
                  </a:lnTo>
                  <a:close/>
                </a:path>
              </a:pathLst>
            </a:custGeom>
            <a:ln w="3175">
              <a:solidFill>
                <a:srgbClr val="FFFFFF"/>
              </a:solidFill>
            </a:ln>
          </p:spPr>
          <p:txBody>
            <a:bodyPr wrap="square" lIns="0" tIns="0" rIns="0" bIns="0" rtlCol="0"/>
            <a:lstStyle/>
            <a:p/>
          </p:txBody>
        </p:sp>
        <p:pic>
          <p:nvPicPr>
            <p:cNvPr id="151" name="object 151" descr=""/>
            <p:cNvPicPr/>
            <p:nvPr/>
          </p:nvPicPr>
          <p:blipFill>
            <a:blip r:embed="rId39" cstate="print"/>
            <a:stretch>
              <a:fillRect/>
            </a:stretch>
          </p:blipFill>
          <p:spPr>
            <a:xfrm>
              <a:off x="6990711" y="3114903"/>
              <a:ext cx="27359" cy="42075"/>
            </a:xfrm>
            <a:prstGeom prst="rect">
              <a:avLst/>
            </a:prstGeom>
          </p:spPr>
        </p:pic>
        <p:sp>
          <p:nvSpPr>
            <p:cNvPr id="152" name="object 152" descr=""/>
            <p:cNvSpPr/>
            <p:nvPr/>
          </p:nvSpPr>
          <p:spPr>
            <a:xfrm>
              <a:off x="6990738" y="3114906"/>
              <a:ext cx="27940" cy="42545"/>
            </a:xfrm>
            <a:custGeom>
              <a:avLst/>
              <a:gdLst/>
              <a:ahLst/>
              <a:cxnLst/>
              <a:rect l="l" t="t" r="r" b="b"/>
              <a:pathLst>
                <a:path w="27940" h="42544">
                  <a:moveTo>
                    <a:pt x="6128" y="42075"/>
                  </a:moveTo>
                  <a:lnTo>
                    <a:pt x="25515" y="18069"/>
                  </a:lnTo>
                  <a:lnTo>
                    <a:pt x="27333" y="12994"/>
                  </a:lnTo>
                  <a:lnTo>
                    <a:pt x="24949" y="7608"/>
                  </a:lnTo>
                  <a:lnTo>
                    <a:pt x="19445" y="4361"/>
                  </a:lnTo>
                  <a:lnTo>
                    <a:pt x="6407" y="0"/>
                  </a:lnTo>
                  <a:lnTo>
                    <a:pt x="15261" y="2426"/>
                  </a:lnTo>
                  <a:lnTo>
                    <a:pt x="19802" y="9752"/>
                  </a:lnTo>
                  <a:lnTo>
                    <a:pt x="16550" y="16367"/>
                  </a:lnTo>
                  <a:lnTo>
                    <a:pt x="0" y="37687"/>
                  </a:lnTo>
                  <a:lnTo>
                    <a:pt x="3266" y="37727"/>
                  </a:lnTo>
                  <a:lnTo>
                    <a:pt x="5937" y="39641"/>
                  </a:lnTo>
                  <a:lnTo>
                    <a:pt x="6128" y="42075"/>
                  </a:lnTo>
                  <a:close/>
                </a:path>
              </a:pathLst>
            </a:custGeom>
            <a:ln w="3244">
              <a:solidFill>
                <a:srgbClr val="FFFFFF"/>
              </a:solidFill>
            </a:ln>
          </p:spPr>
          <p:txBody>
            <a:bodyPr wrap="square" lIns="0" tIns="0" rIns="0" bIns="0" rtlCol="0"/>
            <a:lstStyle/>
            <a:p/>
          </p:txBody>
        </p:sp>
        <p:sp>
          <p:nvSpPr>
            <p:cNvPr id="153" name="object 153" descr=""/>
            <p:cNvSpPr/>
            <p:nvPr/>
          </p:nvSpPr>
          <p:spPr>
            <a:xfrm>
              <a:off x="6980322" y="3151652"/>
              <a:ext cx="18415" cy="15875"/>
            </a:xfrm>
            <a:custGeom>
              <a:avLst/>
              <a:gdLst/>
              <a:ahLst/>
              <a:cxnLst/>
              <a:rect l="l" t="t" r="r" b="b"/>
              <a:pathLst>
                <a:path w="18415" h="15875">
                  <a:moveTo>
                    <a:pt x="15595" y="10364"/>
                  </a:moveTo>
                  <a:lnTo>
                    <a:pt x="18274" y="6974"/>
                  </a:lnTo>
                  <a:lnTo>
                    <a:pt x="17553" y="3008"/>
                  </a:lnTo>
                  <a:lnTo>
                    <a:pt x="13986" y="1502"/>
                  </a:lnTo>
                  <a:lnTo>
                    <a:pt x="10419" y="0"/>
                  </a:lnTo>
                  <a:lnTo>
                    <a:pt x="5356" y="1527"/>
                  </a:lnTo>
                  <a:lnTo>
                    <a:pt x="2678" y="4916"/>
                  </a:lnTo>
                  <a:lnTo>
                    <a:pt x="0" y="8306"/>
                  </a:lnTo>
                  <a:lnTo>
                    <a:pt x="720" y="12272"/>
                  </a:lnTo>
                  <a:lnTo>
                    <a:pt x="4287" y="13778"/>
                  </a:lnTo>
                  <a:lnTo>
                    <a:pt x="7854" y="15281"/>
                  </a:lnTo>
                  <a:lnTo>
                    <a:pt x="12917" y="13754"/>
                  </a:lnTo>
                  <a:lnTo>
                    <a:pt x="15595" y="10364"/>
                  </a:lnTo>
                  <a:close/>
                </a:path>
              </a:pathLst>
            </a:custGeom>
            <a:ln w="3175">
              <a:solidFill>
                <a:srgbClr val="FFFFFF"/>
              </a:solidFill>
            </a:ln>
          </p:spPr>
          <p:txBody>
            <a:bodyPr wrap="square" lIns="0" tIns="0" rIns="0" bIns="0" rtlCol="0"/>
            <a:lstStyle/>
            <a:p/>
          </p:txBody>
        </p:sp>
        <p:sp>
          <p:nvSpPr>
            <p:cNvPr id="154" name="object 154" descr=""/>
            <p:cNvSpPr/>
            <p:nvPr/>
          </p:nvSpPr>
          <p:spPr>
            <a:xfrm>
              <a:off x="6933643" y="3147213"/>
              <a:ext cx="48260" cy="22225"/>
            </a:xfrm>
            <a:custGeom>
              <a:avLst/>
              <a:gdLst/>
              <a:ahLst/>
              <a:cxnLst/>
              <a:rect l="l" t="t" r="r" b="b"/>
              <a:pathLst>
                <a:path w="48259" h="22225">
                  <a:moveTo>
                    <a:pt x="22219" y="0"/>
                  </a:moveTo>
                  <a:lnTo>
                    <a:pt x="0" y="11964"/>
                  </a:lnTo>
                  <a:lnTo>
                    <a:pt x="1351" y="15458"/>
                  </a:lnTo>
                  <a:lnTo>
                    <a:pt x="4698" y="18313"/>
                  </a:lnTo>
                  <a:lnTo>
                    <a:pt x="9159" y="19787"/>
                  </a:lnTo>
                  <a:lnTo>
                    <a:pt x="14960" y="21869"/>
                  </a:lnTo>
                  <a:lnTo>
                    <a:pt x="21690" y="22044"/>
                  </a:lnTo>
                  <a:lnTo>
                    <a:pt x="27730" y="20267"/>
                  </a:lnTo>
                  <a:lnTo>
                    <a:pt x="48205" y="11266"/>
                  </a:lnTo>
                  <a:lnTo>
                    <a:pt x="22219" y="0"/>
                  </a:lnTo>
                  <a:close/>
                </a:path>
              </a:pathLst>
            </a:custGeom>
            <a:ln w="3175">
              <a:solidFill>
                <a:srgbClr val="000000"/>
              </a:solidFill>
            </a:ln>
          </p:spPr>
          <p:txBody>
            <a:bodyPr wrap="square" lIns="0" tIns="0" rIns="0" bIns="0" rtlCol="0"/>
            <a:lstStyle/>
            <a:p/>
          </p:txBody>
        </p:sp>
        <p:pic>
          <p:nvPicPr>
            <p:cNvPr id="155" name="object 155" descr=""/>
            <p:cNvPicPr/>
            <p:nvPr/>
          </p:nvPicPr>
          <p:blipFill>
            <a:blip r:embed="rId40" cstate="print"/>
            <a:stretch>
              <a:fillRect/>
            </a:stretch>
          </p:blipFill>
          <p:spPr>
            <a:xfrm>
              <a:off x="6961937" y="3114903"/>
              <a:ext cx="48856" cy="37960"/>
            </a:xfrm>
            <a:prstGeom prst="rect">
              <a:avLst/>
            </a:prstGeom>
          </p:spPr>
        </p:pic>
        <p:sp>
          <p:nvSpPr>
            <p:cNvPr id="156" name="object 156" descr=""/>
            <p:cNvSpPr/>
            <p:nvPr/>
          </p:nvSpPr>
          <p:spPr>
            <a:xfrm>
              <a:off x="6961929" y="3114122"/>
              <a:ext cx="48895" cy="38735"/>
            </a:xfrm>
            <a:custGeom>
              <a:avLst/>
              <a:gdLst/>
              <a:ahLst/>
              <a:cxnLst/>
              <a:rect l="l" t="t" r="r" b="b"/>
              <a:pathLst>
                <a:path w="48895" h="38735">
                  <a:moveTo>
                    <a:pt x="0" y="27226"/>
                  </a:moveTo>
                  <a:lnTo>
                    <a:pt x="27021" y="38736"/>
                  </a:lnTo>
                  <a:lnTo>
                    <a:pt x="28810" y="38471"/>
                  </a:lnTo>
                  <a:lnTo>
                    <a:pt x="44160" y="18732"/>
                  </a:lnTo>
                  <a:lnTo>
                    <a:pt x="48870" y="12755"/>
                  </a:lnTo>
                  <a:lnTo>
                    <a:pt x="46210" y="5166"/>
                  </a:lnTo>
                  <a:lnTo>
                    <a:pt x="38226" y="1779"/>
                  </a:lnTo>
                  <a:lnTo>
                    <a:pt x="37271" y="1374"/>
                  </a:lnTo>
                  <a:lnTo>
                    <a:pt x="36265" y="1041"/>
                  </a:lnTo>
                  <a:lnTo>
                    <a:pt x="35218" y="786"/>
                  </a:lnTo>
                  <a:lnTo>
                    <a:pt x="27436" y="0"/>
                  </a:lnTo>
                  <a:lnTo>
                    <a:pt x="19688" y="2651"/>
                  </a:lnTo>
                  <a:lnTo>
                    <a:pt x="15364" y="7581"/>
                  </a:lnTo>
                  <a:lnTo>
                    <a:pt x="0" y="27226"/>
                  </a:lnTo>
                  <a:close/>
                </a:path>
              </a:pathLst>
            </a:custGeom>
            <a:ln w="3175">
              <a:solidFill>
                <a:srgbClr val="000000"/>
              </a:solidFill>
            </a:ln>
          </p:spPr>
          <p:txBody>
            <a:bodyPr wrap="square" lIns="0" tIns="0" rIns="0" bIns="0" rtlCol="0"/>
            <a:lstStyle/>
            <a:p/>
          </p:txBody>
        </p:sp>
        <p:sp>
          <p:nvSpPr>
            <p:cNvPr id="157" name="object 157" descr=""/>
            <p:cNvSpPr/>
            <p:nvPr/>
          </p:nvSpPr>
          <p:spPr>
            <a:xfrm>
              <a:off x="6955862" y="3141349"/>
              <a:ext cx="33655" cy="17145"/>
            </a:xfrm>
            <a:custGeom>
              <a:avLst/>
              <a:gdLst/>
              <a:ahLst/>
              <a:cxnLst/>
              <a:rect l="l" t="t" r="r" b="b"/>
              <a:pathLst>
                <a:path w="33654" h="17144">
                  <a:moveTo>
                    <a:pt x="0" y="5863"/>
                  </a:moveTo>
                  <a:lnTo>
                    <a:pt x="25989" y="17130"/>
                  </a:lnTo>
                  <a:lnTo>
                    <a:pt x="27032" y="14521"/>
                  </a:lnTo>
                  <a:lnTo>
                    <a:pt x="29663" y="12439"/>
                  </a:lnTo>
                  <a:lnTo>
                    <a:pt x="33090" y="11507"/>
                  </a:lnTo>
                  <a:lnTo>
                    <a:pt x="6065" y="0"/>
                  </a:lnTo>
                  <a:lnTo>
                    <a:pt x="2861" y="1073"/>
                  </a:lnTo>
                  <a:lnTo>
                    <a:pt x="584" y="3274"/>
                  </a:lnTo>
                  <a:lnTo>
                    <a:pt x="0" y="5863"/>
                  </a:lnTo>
                  <a:close/>
                </a:path>
              </a:pathLst>
            </a:custGeom>
            <a:ln w="3175">
              <a:solidFill>
                <a:srgbClr val="000000"/>
              </a:solidFill>
            </a:ln>
          </p:spPr>
          <p:txBody>
            <a:bodyPr wrap="square" lIns="0" tIns="0" rIns="0" bIns="0" rtlCol="0"/>
            <a:lstStyle/>
            <a:p/>
          </p:txBody>
        </p:sp>
        <p:sp>
          <p:nvSpPr>
            <p:cNvPr id="158" name="object 158" descr=""/>
            <p:cNvSpPr/>
            <p:nvPr/>
          </p:nvSpPr>
          <p:spPr>
            <a:xfrm>
              <a:off x="6947623" y="3158974"/>
              <a:ext cx="5080" cy="2540"/>
            </a:xfrm>
            <a:custGeom>
              <a:avLst/>
              <a:gdLst/>
              <a:ahLst/>
              <a:cxnLst/>
              <a:rect l="l" t="t" r="r" b="b"/>
              <a:pathLst>
                <a:path w="5079" h="2539">
                  <a:moveTo>
                    <a:pt x="1506" y="2493"/>
                  </a:moveTo>
                  <a:lnTo>
                    <a:pt x="415" y="2216"/>
                  </a:lnTo>
                  <a:lnTo>
                    <a:pt x="0" y="1086"/>
                  </a:lnTo>
                  <a:lnTo>
                    <a:pt x="756" y="448"/>
                  </a:lnTo>
                  <a:lnTo>
                    <a:pt x="3038" y="0"/>
                  </a:lnTo>
                  <a:lnTo>
                    <a:pt x="4133" y="276"/>
                  </a:lnTo>
                  <a:lnTo>
                    <a:pt x="4338" y="842"/>
                  </a:lnTo>
                  <a:lnTo>
                    <a:pt x="4544" y="1408"/>
                  </a:lnTo>
                  <a:lnTo>
                    <a:pt x="3787" y="2047"/>
                  </a:lnTo>
                  <a:lnTo>
                    <a:pt x="1506" y="2493"/>
                  </a:lnTo>
                  <a:close/>
                </a:path>
              </a:pathLst>
            </a:custGeom>
            <a:solidFill>
              <a:srgbClr val="FFFFFF">
                <a:alpha val="29803"/>
              </a:srgbClr>
            </a:solidFill>
          </p:spPr>
          <p:txBody>
            <a:bodyPr wrap="square" lIns="0" tIns="0" rIns="0" bIns="0" rtlCol="0"/>
            <a:lstStyle/>
            <a:p/>
          </p:txBody>
        </p:sp>
        <p:sp>
          <p:nvSpPr>
            <p:cNvPr id="159" name="object 159" descr=""/>
            <p:cNvSpPr/>
            <p:nvPr/>
          </p:nvSpPr>
          <p:spPr>
            <a:xfrm>
              <a:off x="6947623" y="3158974"/>
              <a:ext cx="5080" cy="2540"/>
            </a:xfrm>
            <a:custGeom>
              <a:avLst/>
              <a:gdLst/>
              <a:ahLst/>
              <a:cxnLst/>
              <a:rect l="l" t="t" r="r" b="b"/>
              <a:pathLst>
                <a:path w="5079" h="2539">
                  <a:moveTo>
                    <a:pt x="4338" y="842"/>
                  </a:moveTo>
                  <a:lnTo>
                    <a:pt x="4133" y="276"/>
                  </a:lnTo>
                  <a:lnTo>
                    <a:pt x="3038" y="0"/>
                  </a:lnTo>
                  <a:lnTo>
                    <a:pt x="1899" y="225"/>
                  </a:lnTo>
                  <a:lnTo>
                    <a:pt x="756" y="448"/>
                  </a:lnTo>
                  <a:lnTo>
                    <a:pt x="0" y="1086"/>
                  </a:lnTo>
                  <a:lnTo>
                    <a:pt x="205" y="1650"/>
                  </a:lnTo>
                  <a:lnTo>
                    <a:pt x="415" y="2216"/>
                  </a:lnTo>
                  <a:lnTo>
                    <a:pt x="1506" y="2493"/>
                  </a:lnTo>
                  <a:lnTo>
                    <a:pt x="2648" y="2270"/>
                  </a:lnTo>
                  <a:lnTo>
                    <a:pt x="3787" y="2047"/>
                  </a:lnTo>
                  <a:lnTo>
                    <a:pt x="4544" y="1408"/>
                  </a:lnTo>
                  <a:lnTo>
                    <a:pt x="4338" y="842"/>
                  </a:lnTo>
                  <a:close/>
                </a:path>
              </a:pathLst>
            </a:custGeom>
            <a:ln w="3175">
              <a:solidFill>
                <a:srgbClr val="000000"/>
              </a:solidFill>
            </a:ln>
          </p:spPr>
          <p:txBody>
            <a:bodyPr wrap="square" lIns="0" tIns="0" rIns="0" bIns="0" rtlCol="0"/>
            <a:lstStyle/>
            <a:p/>
          </p:txBody>
        </p:sp>
        <p:pic>
          <p:nvPicPr>
            <p:cNvPr id="160" name="object 160" descr=""/>
            <p:cNvPicPr/>
            <p:nvPr/>
          </p:nvPicPr>
          <p:blipFill>
            <a:blip r:embed="rId41" cstate="print"/>
            <a:stretch>
              <a:fillRect/>
            </a:stretch>
          </p:blipFill>
          <p:spPr>
            <a:xfrm>
              <a:off x="6976593" y="3117240"/>
              <a:ext cx="31134" cy="20256"/>
            </a:xfrm>
            <a:prstGeom prst="rect">
              <a:avLst/>
            </a:prstGeom>
          </p:spPr>
        </p:pic>
        <p:sp>
          <p:nvSpPr>
            <p:cNvPr id="161" name="object 161" descr=""/>
            <p:cNvSpPr/>
            <p:nvPr/>
          </p:nvSpPr>
          <p:spPr>
            <a:xfrm>
              <a:off x="6976593" y="3117239"/>
              <a:ext cx="31115" cy="20320"/>
            </a:xfrm>
            <a:custGeom>
              <a:avLst/>
              <a:gdLst/>
              <a:ahLst/>
              <a:cxnLst/>
              <a:rect l="l" t="t" r="r" b="b"/>
              <a:pathLst>
                <a:path w="31115" h="20319">
                  <a:moveTo>
                    <a:pt x="0" y="10356"/>
                  </a:moveTo>
                  <a:lnTo>
                    <a:pt x="23413" y="20259"/>
                  </a:lnTo>
                  <a:lnTo>
                    <a:pt x="27297" y="14993"/>
                  </a:lnTo>
                  <a:lnTo>
                    <a:pt x="31077" y="10224"/>
                  </a:lnTo>
                  <a:lnTo>
                    <a:pt x="28909" y="4114"/>
                  </a:lnTo>
                  <a:lnTo>
                    <a:pt x="22451" y="1349"/>
                  </a:lnTo>
                  <a:lnTo>
                    <a:pt x="20386" y="466"/>
                  </a:lnTo>
                  <a:lnTo>
                    <a:pt x="18038" y="0"/>
                  </a:lnTo>
                  <a:lnTo>
                    <a:pt x="15647" y="2"/>
                  </a:lnTo>
                  <a:lnTo>
                    <a:pt x="10863" y="364"/>
                  </a:lnTo>
                  <a:lnTo>
                    <a:pt x="6572" y="2334"/>
                  </a:lnTo>
                  <a:lnTo>
                    <a:pt x="4004" y="5345"/>
                  </a:lnTo>
                  <a:lnTo>
                    <a:pt x="0" y="10356"/>
                  </a:lnTo>
                  <a:close/>
                </a:path>
              </a:pathLst>
            </a:custGeom>
            <a:ln w="3175">
              <a:solidFill>
                <a:srgbClr val="000000"/>
              </a:solidFill>
            </a:ln>
          </p:spPr>
          <p:txBody>
            <a:bodyPr wrap="square" lIns="0" tIns="0" rIns="0" bIns="0" rtlCol="0"/>
            <a:lstStyle/>
            <a:p/>
          </p:txBody>
        </p:sp>
        <p:sp>
          <p:nvSpPr>
            <p:cNvPr id="162" name="object 162" descr=""/>
            <p:cNvSpPr/>
            <p:nvPr/>
          </p:nvSpPr>
          <p:spPr>
            <a:xfrm>
              <a:off x="6933644" y="3113902"/>
              <a:ext cx="85090" cy="62230"/>
            </a:xfrm>
            <a:custGeom>
              <a:avLst/>
              <a:gdLst/>
              <a:ahLst/>
              <a:cxnLst/>
              <a:rect l="l" t="t" r="r" b="b"/>
              <a:pathLst>
                <a:path w="85090" h="62230">
                  <a:moveTo>
                    <a:pt x="28285" y="27446"/>
                  </a:moveTo>
                  <a:lnTo>
                    <a:pt x="25118" y="28557"/>
                  </a:lnTo>
                  <a:lnTo>
                    <a:pt x="22859" y="30739"/>
                  </a:lnTo>
                  <a:lnTo>
                    <a:pt x="22219" y="33310"/>
                  </a:lnTo>
                  <a:lnTo>
                    <a:pt x="2582" y="41546"/>
                  </a:lnTo>
                  <a:lnTo>
                    <a:pt x="1017" y="42437"/>
                  </a:lnTo>
                  <a:lnTo>
                    <a:pt x="69" y="43806"/>
                  </a:lnTo>
                  <a:lnTo>
                    <a:pt x="0" y="45274"/>
                  </a:lnTo>
                  <a:lnTo>
                    <a:pt x="14" y="52485"/>
                  </a:lnTo>
                  <a:lnTo>
                    <a:pt x="2090" y="57265"/>
                  </a:lnTo>
                  <a:lnTo>
                    <a:pt x="7678" y="60721"/>
                  </a:lnTo>
                  <a:lnTo>
                    <a:pt x="14350" y="61355"/>
                  </a:lnTo>
                  <a:lnTo>
                    <a:pt x="19254" y="61967"/>
                  </a:lnTo>
                  <a:lnTo>
                    <a:pt x="24280" y="61714"/>
                  </a:lnTo>
                  <a:lnTo>
                    <a:pt x="29031" y="60619"/>
                  </a:lnTo>
                  <a:lnTo>
                    <a:pt x="50034" y="51581"/>
                  </a:lnTo>
                  <a:lnTo>
                    <a:pt x="54237" y="52823"/>
                  </a:lnTo>
                  <a:lnTo>
                    <a:pt x="59028" y="51648"/>
                  </a:lnTo>
                  <a:lnTo>
                    <a:pt x="61427" y="48784"/>
                  </a:lnTo>
                  <a:lnTo>
                    <a:pt x="63029" y="47142"/>
                  </a:lnTo>
                  <a:lnTo>
                    <a:pt x="63676" y="45083"/>
                  </a:lnTo>
                  <a:lnTo>
                    <a:pt x="63220" y="43079"/>
                  </a:lnTo>
                  <a:lnTo>
                    <a:pt x="82611" y="19073"/>
                  </a:lnTo>
                  <a:lnTo>
                    <a:pt x="55641" y="0"/>
                  </a:lnTo>
                  <a:lnTo>
                    <a:pt x="47760" y="2697"/>
                  </a:lnTo>
                  <a:lnTo>
                    <a:pt x="43649" y="7801"/>
                  </a:lnTo>
                  <a:lnTo>
                    <a:pt x="28285" y="27446"/>
                  </a:lnTo>
                  <a:close/>
                </a:path>
              </a:pathLst>
            </a:custGeom>
            <a:ln w="6058">
              <a:solidFill>
                <a:srgbClr val="4677BF"/>
              </a:solidFill>
            </a:ln>
          </p:spPr>
          <p:txBody>
            <a:bodyPr wrap="square" lIns="0" tIns="0" rIns="0" bIns="0" rtlCol="0"/>
            <a:lstStyle/>
            <a:p/>
          </p:txBody>
        </p:sp>
        <p:pic>
          <p:nvPicPr>
            <p:cNvPr id="163" name="object 163" descr=""/>
            <p:cNvPicPr/>
            <p:nvPr/>
          </p:nvPicPr>
          <p:blipFill>
            <a:blip r:embed="rId41" cstate="print"/>
            <a:stretch>
              <a:fillRect/>
            </a:stretch>
          </p:blipFill>
          <p:spPr>
            <a:xfrm>
              <a:off x="6968960" y="3130892"/>
              <a:ext cx="25298" cy="17970"/>
            </a:xfrm>
            <a:prstGeom prst="rect">
              <a:avLst/>
            </a:prstGeom>
          </p:spPr>
        </p:pic>
        <p:sp>
          <p:nvSpPr>
            <p:cNvPr id="164" name="object 164" descr=""/>
            <p:cNvSpPr/>
            <p:nvPr/>
          </p:nvSpPr>
          <p:spPr>
            <a:xfrm>
              <a:off x="6972302" y="3132246"/>
              <a:ext cx="20320" cy="15875"/>
            </a:xfrm>
            <a:custGeom>
              <a:avLst/>
              <a:gdLst/>
              <a:ahLst/>
              <a:cxnLst/>
              <a:rect l="l" t="t" r="r" b="b"/>
              <a:pathLst>
                <a:path w="20320" h="15875">
                  <a:moveTo>
                    <a:pt x="11749" y="12973"/>
                  </a:moveTo>
                  <a:lnTo>
                    <a:pt x="13464" y="13678"/>
                  </a:lnTo>
                  <a:lnTo>
                    <a:pt x="13637" y="14253"/>
                  </a:lnTo>
                  <a:lnTo>
                    <a:pt x="12777" y="15471"/>
                  </a:lnTo>
                </a:path>
                <a:path w="20320" h="15875">
                  <a:moveTo>
                    <a:pt x="5874" y="10506"/>
                  </a:moveTo>
                  <a:lnTo>
                    <a:pt x="7590" y="11212"/>
                  </a:lnTo>
                  <a:lnTo>
                    <a:pt x="7762" y="11786"/>
                  </a:lnTo>
                  <a:lnTo>
                    <a:pt x="6903" y="13005"/>
                  </a:lnTo>
                </a:path>
                <a:path w="20320" h="15875">
                  <a:moveTo>
                    <a:pt x="0" y="8169"/>
                  </a:moveTo>
                  <a:lnTo>
                    <a:pt x="1715" y="8872"/>
                  </a:lnTo>
                  <a:lnTo>
                    <a:pt x="1888" y="9449"/>
                  </a:lnTo>
                  <a:lnTo>
                    <a:pt x="1028" y="10667"/>
                  </a:lnTo>
                </a:path>
                <a:path w="20320" h="15875">
                  <a:moveTo>
                    <a:pt x="3387" y="3971"/>
                  </a:moveTo>
                  <a:lnTo>
                    <a:pt x="5103" y="4677"/>
                  </a:lnTo>
                  <a:lnTo>
                    <a:pt x="5275" y="5254"/>
                  </a:lnTo>
                  <a:lnTo>
                    <a:pt x="4416" y="6470"/>
                  </a:lnTo>
                </a:path>
                <a:path w="20320" h="15875">
                  <a:moveTo>
                    <a:pt x="6690" y="0"/>
                  </a:moveTo>
                  <a:lnTo>
                    <a:pt x="8405" y="705"/>
                  </a:lnTo>
                  <a:lnTo>
                    <a:pt x="8574" y="1282"/>
                  </a:lnTo>
                  <a:lnTo>
                    <a:pt x="7718" y="2498"/>
                  </a:lnTo>
                </a:path>
                <a:path w="20320" h="15875">
                  <a:moveTo>
                    <a:pt x="12564" y="2340"/>
                  </a:moveTo>
                  <a:lnTo>
                    <a:pt x="14280" y="3043"/>
                  </a:lnTo>
                  <a:lnTo>
                    <a:pt x="14449" y="3620"/>
                  </a:lnTo>
                  <a:lnTo>
                    <a:pt x="13593" y="4836"/>
                  </a:lnTo>
                </a:path>
                <a:path w="20320" h="15875">
                  <a:moveTo>
                    <a:pt x="18439" y="4806"/>
                  </a:moveTo>
                  <a:lnTo>
                    <a:pt x="20151" y="5509"/>
                  </a:lnTo>
                  <a:lnTo>
                    <a:pt x="20324" y="6086"/>
                  </a:lnTo>
                  <a:lnTo>
                    <a:pt x="19468" y="7302"/>
                  </a:lnTo>
                </a:path>
                <a:path w="20320" h="15875">
                  <a:moveTo>
                    <a:pt x="9261" y="6309"/>
                  </a:moveTo>
                  <a:lnTo>
                    <a:pt x="10977" y="7015"/>
                  </a:lnTo>
                  <a:lnTo>
                    <a:pt x="11150" y="7592"/>
                  </a:lnTo>
                  <a:lnTo>
                    <a:pt x="10290" y="8807"/>
                  </a:lnTo>
                </a:path>
                <a:path w="20320" h="15875">
                  <a:moveTo>
                    <a:pt x="15136" y="8775"/>
                  </a:moveTo>
                  <a:lnTo>
                    <a:pt x="16852" y="9481"/>
                  </a:lnTo>
                  <a:lnTo>
                    <a:pt x="17024" y="10058"/>
                  </a:lnTo>
                  <a:lnTo>
                    <a:pt x="16165" y="11274"/>
                  </a:lnTo>
                </a:path>
              </a:pathLst>
            </a:custGeom>
            <a:ln w="3175">
              <a:solidFill>
                <a:srgbClr val="FFFFFF"/>
              </a:solidFill>
            </a:ln>
          </p:spPr>
          <p:txBody>
            <a:bodyPr wrap="square" lIns="0" tIns="0" rIns="0" bIns="0" rtlCol="0"/>
            <a:lstStyle/>
            <a:p/>
          </p:txBody>
        </p:sp>
        <p:sp>
          <p:nvSpPr>
            <p:cNvPr id="165" name="object 165" descr=""/>
            <p:cNvSpPr/>
            <p:nvPr/>
          </p:nvSpPr>
          <p:spPr>
            <a:xfrm>
              <a:off x="7977762" y="3028918"/>
              <a:ext cx="181610" cy="55244"/>
            </a:xfrm>
            <a:custGeom>
              <a:avLst/>
              <a:gdLst/>
              <a:ahLst/>
              <a:cxnLst/>
              <a:rect l="l" t="t" r="r" b="b"/>
              <a:pathLst>
                <a:path w="181609" h="55244">
                  <a:moveTo>
                    <a:pt x="181533" y="0"/>
                  </a:moveTo>
                  <a:lnTo>
                    <a:pt x="0" y="54800"/>
                  </a:lnTo>
                </a:path>
              </a:pathLst>
            </a:custGeom>
            <a:ln w="12700">
              <a:solidFill>
                <a:srgbClr val="2F2F98"/>
              </a:solidFill>
            </a:ln>
          </p:spPr>
          <p:txBody>
            <a:bodyPr wrap="square" lIns="0" tIns="0" rIns="0" bIns="0" rtlCol="0"/>
            <a:lstStyle/>
            <a:p/>
          </p:txBody>
        </p:sp>
        <p:sp>
          <p:nvSpPr>
            <p:cNvPr id="166" name="object 166" descr=""/>
            <p:cNvSpPr/>
            <p:nvPr/>
          </p:nvSpPr>
          <p:spPr>
            <a:xfrm>
              <a:off x="7916964" y="2996120"/>
              <a:ext cx="303530" cy="120650"/>
            </a:xfrm>
            <a:custGeom>
              <a:avLst/>
              <a:gdLst/>
              <a:ahLst/>
              <a:cxnLst/>
              <a:rect l="l" t="t" r="r" b="b"/>
              <a:pathLst>
                <a:path w="303529" h="120650">
                  <a:moveTo>
                    <a:pt x="83959" y="120408"/>
                  </a:moveTo>
                  <a:lnTo>
                    <a:pt x="61937" y="47459"/>
                  </a:lnTo>
                  <a:lnTo>
                    <a:pt x="0" y="105956"/>
                  </a:lnTo>
                  <a:lnTo>
                    <a:pt x="83959" y="120408"/>
                  </a:lnTo>
                  <a:close/>
                </a:path>
                <a:path w="303529" h="120650">
                  <a:moveTo>
                    <a:pt x="303123" y="14452"/>
                  </a:moveTo>
                  <a:lnTo>
                    <a:pt x="219163" y="0"/>
                  </a:lnTo>
                  <a:lnTo>
                    <a:pt x="241185" y="72948"/>
                  </a:lnTo>
                  <a:lnTo>
                    <a:pt x="303123" y="14452"/>
                  </a:lnTo>
                  <a:close/>
                </a:path>
              </a:pathLst>
            </a:custGeom>
            <a:solidFill>
              <a:srgbClr val="2F2F98"/>
            </a:solidFill>
          </p:spPr>
          <p:txBody>
            <a:bodyPr wrap="square" lIns="0" tIns="0" rIns="0" bIns="0" rtlCol="0"/>
            <a:lstStyle/>
            <a:p/>
          </p:txBody>
        </p:sp>
        <p:sp>
          <p:nvSpPr>
            <p:cNvPr id="167" name="object 167" descr=""/>
            <p:cNvSpPr/>
            <p:nvPr/>
          </p:nvSpPr>
          <p:spPr>
            <a:xfrm>
              <a:off x="7107330" y="3031981"/>
              <a:ext cx="186055" cy="58419"/>
            </a:xfrm>
            <a:custGeom>
              <a:avLst/>
              <a:gdLst/>
              <a:ahLst/>
              <a:cxnLst/>
              <a:rect l="l" t="t" r="r" b="b"/>
              <a:pathLst>
                <a:path w="186054" h="58419">
                  <a:moveTo>
                    <a:pt x="185762" y="0"/>
                  </a:moveTo>
                  <a:lnTo>
                    <a:pt x="0" y="58369"/>
                  </a:lnTo>
                </a:path>
              </a:pathLst>
            </a:custGeom>
            <a:ln w="28575">
              <a:solidFill>
                <a:srgbClr val="FF6600"/>
              </a:solidFill>
            </a:ln>
          </p:spPr>
          <p:txBody>
            <a:bodyPr wrap="square" lIns="0" tIns="0" rIns="0" bIns="0" rtlCol="0"/>
            <a:lstStyle/>
            <a:p/>
          </p:txBody>
        </p:sp>
        <p:sp>
          <p:nvSpPr>
            <p:cNvPr id="168" name="object 168" descr=""/>
            <p:cNvSpPr/>
            <p:nvPr/>
          </p:nvSpPr>
          <p:spPr>
            <a:xfrm>
              <a:off x="7039178" y="2995371"/>
              <a:ext cx="322580" cy="132080"/>
            </a:xfrm>
            <a:custGeom>
              <a:avLst/>
              <a:gdLst/>
              <a:ahLst/>
              <a:cxnLst/>
              <a:rect l="l" t="t" r="r" b="b"/>
              <a:pathLst>
                <a:path w="322579" h="132080">
                  <a:moveTo>
                    <a:pt x="94627" y="131584"/>
                  </a:moveTo>
                  <a:lnTo>
                    <a:pt x="68922" y="49796"/>
                  </a:lnTo>
                  <a:lnTo>
                    <a:pt x="0" y="116395"/>
                  </a:lnTo>
                  <a:lnTo>
                    <a:pt x="94627" y="131584"/>
                  </a:lnTo>
                  <a:close/>
                </a:path>
                <a:path w="322579" h="132080">
                  <a:moveTo>
                    <a:pt x="322059" y="15201"/>
                  </a:moveTo>
                  <a:lnTo>
                    <a:pt x="227431" y="0"/>
                  </a:lnTo>
                  <a:lnTo>
                    <a:pt x="253123" y="81788"/>
                  </a:lnTo>
                  <a:lnTo>
                    <a:pt x="322059" y="15201"/>
                  </a:lnTo>
                  <a:close/>
                </a:path>
              </a:pathLst>
            </a:custGeom>
            <a:solidFill>
              <a:srgbClr val="FF6600"/>
            </a:solidFill>
          </p:spPr>
          <p:txBody>
            <a:bodyPr wrap="square" lIns="0" tIns="0" rIns="0" bIns="0" rtlCol="0"/>
            <a:lstStyle/>
            <a:p/>
          </p:txBody>
        </p:sp>
        <p:sp>
          <p:nvSpPr>
            <p:cNvPr id="169" name="object 169" descr=""/>
            <p:cNvSpPr/>
            <p:nvPr/>
          </p:nvSpPr>
          <p:spPr>
            <a:xfrm>
              <a:off x="7836730" y="3148509"/>
              <a:ext cx="53340" cy="26034"/>
            </a:xfrm>
            <a:custGeom>
              <a:avLst/>
              <a:gdLst/>
              <a:ahLst/>
              <a:cxnLst/>
              <a:rect l="l" t="t" r="r" b="b"/>
              <a:pathLst>
                <a:path w="53340" h="26035">
                  <a:moveTo>
                    <a:pt x="23529" y="25997"/>
                  </a:moveTo>
                  <a:lnTo>
                    <a:pt x="0" y="25997"/>
                  </a:lnTo>
                  <a:lnTo>
                    <a:pt x="44817" y="877"/>
                  </a:lnTo>
                  <a:lnTo>
                    <a:pt x="45362" y="654"/>
                  </a:lnTo>
                  <a:lnTo>
                    <a:pt x="45960" y="496"/>
                  </a:lnTo>
                  <a:lnTo>
                    <a:pt x="49670" y="0"/>
                  </a:lnTo>
                  <a:lnTo>
                    <a:pt x="52643" y="1476"/>
                  </a:lnTo>
                  <a:lnTo>
                    <a:pt x="53218" y="3714"/>
                  </a:lnTo>
                  <a:lnTo>
                    <a:pt x="51048" y="12284"/>
                  </a:lnTo>
                  <a:lnTo>
                    <a:pt x="44744" y="19330"/>
                  </a:lnTo>
                  <a:lnTo>
                    <a:pt x="35254" y="24138"/>
                  </a:lnTo>
                  <a:lnTo>
                    <a:pt x="23529" y="25997"/>
                  </a:lnTo>
                  <a:close/>
                </a:path>
              </a:pathLst>
            </a:custGeom>
            <a:solidFill>
              <a:srgbClr val="FFFFFF">
                <a:alpha val="29803"/>
              </a:srgbClr>
            </a:solidFill>
          </p:spPr>
          <p:txBody>
            <a:bodyPr wrap="square" lIns="0" tIns="0" rIns="0" bIns="0" rtlCol="0"/>
            <a:lstStyle/>
            <a:p/>
          </p:txBody>
        </p:sp>
        <p:sp>
          <p:nvSpPr>
            <p:cNvPr id="170" name="object 170" descr=""/>
            <p:cNvSpPr/>
            <p:nvPr/>
          </p:nvSpPr>
          <p:spPr>
            <a:xfrm>
              <a:off x="7811523" y="3157401"/>
              <a:ext cx="52069" cy="17780"/>
            </a:xfrm>
            <a:custGeom>
              <a:avLst/>
              <a:gdLst/>
              <a:ahLst/>
              <a:cxnLst/>
              <a:rect l="l" t="t" r="r" b="b"/>
              <a:pathLst>
                <a:path w="52070" h="17780">
                  <a:moveTo>
                    <a:pt x="14" y="7908"/>
                  </a:moveTo>
                  <a:lnTo>
                    <a:pt x="2564" y="12452"/>
                  </a:lnTo>
                  <a:lnTo>
                    <a:pt x="7985" y="15772"/>
                  </a:lnTo>
                  <a:lnTo>
                    <a:pt x="14493" y="16778"/>
                  </a:lnTo>
                  <a:lnTo>
                    <a:pt x="19440" y="17505"/>
                  </a:lnTo>
                  <a:lnTo>
                    <a:pt x="24557" y="17253"/>
                  </a:lnTo>
                  <a:lnTo>
                    <a:pt x="29325" y="16043"/>
                  </a:lnTo>
                  <a:lnTo>
                    <a:pt x="51619" y="7007"/>
                  </a:lnTo>
                  <a:lnTo>
                    <a:pt x="50847" y="4629"/>
                  </a:lnTo>
                  <a:lnTo>
                    <a:pt x="49867" y="2286"/>
                  </a:lnTo>
                  <a:lnTo>
                    <a:pt x="48687" y="0"/>
                  </a:lnTo>
                  <a:lnTo>
                    <a:pt x="28008" y="9001"/>
                  </a:lnTo>
                  <a:lnTo>
                    <a:pt x="21933" y="10777"/>
                  </a:lnTo>
                  <a:lnTo>
                    <a:pt x="15135" y="10603"/>
                  </a:lnTo>
                  <a:lnTo>
                    <a:pt x="9250" y="8520"/>
                  </a:lnTo>
                  <a:lnTo>
                    <a:pt x="4742" y="7060"/>
                  </a:lnTo>
                  <a:lnTo>
                    <a:pt x="1343" y="4186"/>
                  </a:lnTo>
                  <a:lnTo>
                    <a:pt x="0" y="697"/>
                  </a:lnTo>
                  <a:lnTo>
                    <a:pt x="14" y="7908"/>
                  </a:lnTo>
                  <a:close/>
                </a:path>
              </a:pathLst>
            </a:custGeom>
            <a:ln w="3175">
              <a:solidFill>
                <a:srgbClr val="FFFFFF"/>
              </a:solidFill>
            </a:ln>
          </p:spPr>
          <p:txBody>
            <a:bodyPr wrap="square" lIns="0" tIns="0" rIns="0" bIns="0" rtlCol="0"/>
            <a:lstStyle/>
            <a:p/>
          </p:txBody>
        </p:sp>
        <p:pic>
          <p:nvPicPr>
            <p:cNvPr id="171" name="object 171" descr=""/>
            <p:cNvPicPr/>
            <p:nvPr/>
          </p:nvPicPr>
          <p:blipFill>
            <a:blip r:embed="rId42" cstate="print"/>
            <a:stretch>
              <a:fillRect/>
            </a:stretch>
          </p:blipFill>
          <p:spPr>
            <a:xfrm>
              <a:off x="7869157" y="3113824"/>
              <a:ext cx="27639" cy="42075"/>
            </a:xfrm>
            <a:prstGeom prst="rect">
              <a:avLst/>
            </a:prstGeom>
          </p:spPr>
        </p:pic>
        <p:sp>
          <p:nvSpPr>
            <p:cNvPr id="172" name="object 172" descr=""/>
            <p:cNvSpPr/>
            <p:nvPr/>
          </p:nvSpPr>
          <p:spPr>
            <a:xfrm>
              <a:off x="7869189" y="3113828"/>
              <a:ext cx="27940" cy="42545"/>
            </a:xfrm>
            <a:custGeom>
              <a:avLst/>
              <a:gdLst/>
              <a:ahLst/>
              <a:cxnLst/>
              <a:rect l="l" t="t" r="r" b="b"/>
              <a:pathLst>
                <a:path w="27940" h="42544">
                  <a:moveTo>
                    <a:pt x="6189" y="42075"/>
                  </a:moveTo>
                  <a:lnTo>
                    <a:pt x="25774" y="18069"/>
                  </a:lnTo>
                  <a:lnTo>
                    <a:pt x="27607" y="12994"/>
                  </a:lnTo>
                  <a:lnTo>
                    <a:pt x="25199" y="7608"/>
                  </a:lnTo>
                  <a:lnTo>
                    <a:pt x="19640" y="4361"/>
                  </a:lnTo>
                  <a:lnTo>
                    <a:pt x="6471" y="0"/>
                  </a:lnTo>
                  <a:lnTo>
                    <a:pt x="15414" y="2426"/>
                  </a:lnTo>
                  <a:lnTo>
                    <a:pt x="20000" y="9752"/>
                  </a:lnTo>
                  <a:lnTo>
                    <a:pt x="16716" y="16367"/>
                  </a:lnTo>
                  <a:lnTo>
                    <a:pt x="0" y="37687"/>
                  </a:lnTo>
                  <a:lnTo>
                    <a:pt x="3298" y="37727"/>
                  </a:lnTo>
                  <a:lnTo>
                    <a:pt x="5996" y="39641"/>
                  </a:lnTo>
                  <a:lnTo>
                    <a:pt x="6189" y="42075"/>
                  </a:lnTo>
                  <a:close/>
                </a:path>
              </a:pathLst>
            </a:custGeom>
            <a:ln w="3265">
              <a:solidFill>
                <a:srgbClr val="FFFFFF"/>
              </a:solidFill>
            </a:ln>
          </p:spPr>
          <p:txBody>
            <a:bodyPr wrap="square" lIns="0" tIns="0" rIns="0" bIns="0" rtlCol="0"/>
            <a:lstStyle/>
            <a:p/>
          </p:txBody>
        </p:sp>
        <p:sp>
          <p:nvSpPr>
            <p:cNvPr id="173" name="object 173" descr=""/>
            <p:cNvSpPr/>
            <p:nvPr/>
          </p:nvSpPr>
          <p:spPr>
            <a:xfrm>
              <a:off x="7858670" y="3150574"/>
              <a:ext cx="19050" cy="15875"/>
            </a:xfrm>
            <a:custGeom>
              <a:avLst/>
              <a:gdLst/>
              <a:ahLst/>
              <a:cxnLst/>
              <a:rect l="l" t="t" r="r" b="b"/>
              <a:pathLst>
                <a:path w="19050" h="15875">
                  <a:moveTo>
                    <a:pt x="15751" y="10364"/>
                  </a:moveTo>
                  <a:lnTo>
                    <a:pt x="18456" y="6974"/>
                  </a:lnTo>
                  <a:lnTo>
                    <a:pt x="17729" y="3008"/>
                  </a:lnTo>
                  <a:lnTo>
                    <a:pt x="14126" y="1502"/>
                  </a:lnTo>
                  <a:lnTo>
                    <a:pt x="10523" y="0"/>
                  </a:lnTo>
                  <a:lnTo>
                    <a:pt x="5410" y="1527"/>
                  </a:lnTo>
                  <a:lnTo>
                    <a:pt x="2705" y="4916"/>
                  </a:lnTo>
                  <a:lnTo>
                    <a:pt x="0" y="8306"/>
                  </a:lnTo>
                  <a:lnTo>
                    <a:pt x="727" y="12272"/>
                  </a:lnTo>
                  <a:lnTo>
                    <a:pt x="4330" y="13778"/>
                  </a:lnTo>
                  <a:lnTo>
                    <a:pt x="7933" y="15281"/>
                  </a:lnTo>
                  <a:lnTo>
                    <a:pt x="13046" y="13754"/>
                  </a:lnTo>
                  <a:lnTo>
                    <a:pt x="15751" y="10364"/>
                  </a:lnTo>
                  <a:close/>
                </a:path>
              </a:pathLst>
            </a:custGeom>
            <a:ln w="3175">
              <a:solidFill>
                <a:srgbClr val="FFFFFF"/>
              </a:solidFill>
            </a:ln>
          </p:spPr>
          <p:txBody>
            <a:bodyPr wrap="square" lIns="0" tIns="0" rIns="0" bIns="0" rtlCol="0"/>
            <a:lstStyle/>
            <a:p/>
          </p:txBody>
        </p:sp>
        <p:sp>
          <p:nvSpPr>
            <p:cNvPr id="174" name="object 174" descr=""/>
            <p:cNvSpPr/>
            <p:nvPr/>
          </p:nvSpPr>
          <p:spPr>
            <a:xfrm>
              <a:off x="7811522" y="3146136"/>
              <a:ext cx="48895" cy="22225"/>
            </a:xfrm>
            <a:custGeom>
              <a:avLst/>
              <a:gdLst/>
              <a:ahLst/>
              <a:cxnLst/>
              <a:rect l="l" t="t" r="r" b="b"/>
              <a:pathLst>
                <a:path w="48895" h="22225">
                  <a:moveTo>
                    <a:pt x="22442" y="0"/>
                  </a:moveTo>
                  <a:lnTo>
                    <a:pt x="0" y="11964"/>
                  </a:lnTo>
                  <a:lnTo>
                    <a:pt x="1365" y="15458"/>
                  </a:lnTo>
                  <a:lnTo>
                    <a:pt x="4745" y="18313"/>
                  </a:lnTo>
                  <a:lnTo>
                    <a:pt x="9254" y="19787"/>
                  </a:lnTo>
                  <a:lnTo>
                    <a:pt x="15109" y="21869"/>
                  </a:lnTo>
                  <a:lnTo>
                    <a:pt x="21907" y="22044"/>
                  </a:lnTo>
                  <a:lnTo>
                    <a:pt x="28008" y="20267"/>
                  </a:lnTo>
                  <a:lnTo>
                    <a:pt x="48691" y="11266"/>
                  </a:lnTo>
                  <a:lnTo>
                    <a:pt x="22442" y="0"/>
                  </a:lnTo>
                  <a:close/>
                </a:path>
              </a:pathLst>
            </a:custGeom>
            <a:ln w="3175">
              <a:solidFill>
                <a:srgbClr val="000000"/>
              </a:solidFill>
            </a:ln>
          </p:spPr>
          <p:txBody>
            <a:bodyPr wrap="square" lIns="0" tIns="0" rIns="0" bIns="0" rtlCol="0"/>
            <a:lstStyle/>
            <a:p/>
          </p:txBody>
        </p:sp>
        <p:pic>
          <p:nvPicPr>
            <p:cNvPr id="175" name="object 175" descr=""/>
            <p:cNvPicPr/>
            <p:nvPr/>
          </p:nvPicPr>
          <p:blipFill>
            <a:blip r:embed="rId43" cstate="print"/>
            <a:stretch>
              <a:fillRect/>
            </a:stretch>
          </p:blipFill>
          <p:spPr>
            <a:xfrm>
              <a:off x="7840091" y="3113824"/>
              <a:ext cx="49364" cy="37947"/>
            </a:xfrm>
            <a:prstGeom prst="rect">
              <a:avLst/>
            </a:prstGeom>
          </p:spPr>
        </p:pic>
        <p:sp>
          <p:nvSpPr>
            <p:cNvPr id="176" name="object 176" descr=""/>
            <p:cNvSpPr/>
            <p:nvPr/>
          </p:nvSpPr>
          <p:spPr>
            <a:xfrm>
              <a:off x="7840093" y="3113044"/>
              <a:ext cx="49530" cy="38735"/>
            </a:xfrm>
            <a:custGeom>
              <a:avLst/>
              <a:gdLst/>
              <a:ahLst/>
              <a:cxnLst/>
              <a:rect l="l" t="t" r="r" b="b"/>
              <a:pathLst>
                <a:path w="49529" h="38735">
                  <a:moveTo>
                    <a:pt x="0" y="27226"/>
                  </a:moveTo>
                  <a:lnTo>
                    <a:pt x="27291" y="38736"/>
                  </a:lnTo>
                  <a:lnTo>
                    <a:pt x="29099" y="38471"/>
                  </a:lnTo>
                  <a:lnTo>
                    <a:pt x="44602" y="18732"/>
                  </a:lnTo>
                  <a:lnTo>
                    <a:pt x="49355" y="12755"/>
                  </a:lnTo>
                  <a:lnTo>
                    <a:pt x="46672" y="5166"/>
                  </a:lnTo>
                  <a:lnTo>
                    <a:pt x="38609" y="1779"/>
                  </a:lnTo>
                  <a:lnTo>
                    <a:pt x="37644" y="1374"/>
                  </a:lnTo>
                  <a:lnTo>
                    <a:pt x="36627" y="1041"/>
                  </a:lnTo>
                  <a:lnTo>
                    <a:pt x="35570" y="786"/>
                  </a:lnTo>
                  <a:lnTo>
                    <a:pt x="27711" y="0"/>
                  </a:lnTo>
                  <a:lnTo>
                    <a:pt x="19885" y="2651"/>
                  </a:lnTo>
                  <a:lnTo>
                    <a:pt x="15517" y="7581"/>
                  </a:lnTo>
                  <a:lnTo>
                    <a:pt x="0" y="27226"/>
                  </a:lnTo>
                  <a:close/>
                </a:path>
              </a:pathLst>
            </a:custGeom>
            <a:ln w="3175">
              <a:solidFill>
                <a:srgbClr val="000000"/>
              </a:solidFill>
            </a:ln>
          </p:spPr>
          <p:txBody>
            <a:bodyPr wrap="square" lIns="0" tIns="0" rIns="0" bIns="0" rtlCol="0"/>
            <a:lstStyle/>
            <a:p/>
          </p:txBody>
        </p:sp>
        <p:sp>
          <p:nvSpPr>
            <p:cNvPr id="177" name="object 177" descr=""/>
            <p:cNvSpPr/>
            <p:nvPr/>
          </p:nvSpPr>
          <p:spPr>
            <a:xfrm>
              <a:off x="7833964" y="3140272"/>
              <a:ext cx="33655" cy="17145"/>
            </a:xfrm>
            <a:custGeom>
              <a:avLst/>
              <a:gdLst/>
              <a:ahLst/>
              <a:cxnLst/>
              <a:rect l="l" t="t" r="r" b="b"/>
              <a:pathLst>
                <a:path w="33654" h="17144">
                  <a:moveTo>
                    <a:pt x="0" y="5863"/>
                  </a:moveTo>
                  <a:lnTo>
                    <a:pt x="26249" y="17130"/>
                  </a:lnTo>
                  <a:lnTo>
                    <a:pt x="27303" y="14521"/>
                  </a:lnTo>
                  <a:lnTo>
                    <a:pt x="29959" y="12439"/>
                  </a:lnTo>
                  <a:lnTo>
                    <a:pt x="33421" y="11507"/>
                  </a:lnTo>
                  <a:lnTo>
                    <a:pt x="6130" y="0"/>
                  </a:lnTo>
                  <a:lnTo>
                    <a:pt x="2890" y="1073"/>
                  </a:lnTo>
                  <a:lnTo>
                    <a:pt x="589" y="3274"/>
                  </a:lnTo>
                  <a:lnTo>
                    <a:pt x="0" y="5863"/>
                  </a:lnTo>
                  <a:close/>
                </a:path>
              </a:pathLst>
            </a:custGeom>
            <a:ln w="3175">
              <a:solidFill>
                <a:srgbClr val="000000"/>
              </a:solidFill>
            </a:ln>
          </p:spPr>
          <p:txBody>
            <a:bodyPr wrap="square" lIns="0" tIns="0" rIns="0" bIns="0" rtlCol="0"/>
            <a:lstStyle/>
            <a:p/>
          </p:txBody>
        </p:sp>
        <p:sp>
          <p:nvSpPr>
            <p:cNvPr id="178" name="object 178" descr=""/>
            <p:cNvSpPr/>
            <p:nvPr/>
          </p:nvSpPr>
          <p:spPr>
            <a:xfrm>
              <a:off x="7825644" y="3157896"/>
              <a:ext cx="5080" cy="2540"/>
            </a:xfrm>
            <a:custGeom>
              <a:avLst/>
              <a:gdLst/>
              <a:ahLst/>
              <a:cxnLst/>
              <a:rect l="l" t="t" r="r" b="b"/>
              <a:pathLst>
                <a:path w="5079" h="2539">
                  <a:moveTo>
                    <a:pt x="1521" y="2493"/>
                  </a:moveTo>
                  <a:lnTo>
                    <a:pt x="419" y="2216"/>
                  </a:lnTo>
                  <a:lnTo>
                    <a:pt x="0" y="1086"/>
                  </a:lnTo>
                  <a:lnTo>
                    <a:pt x="764" y="448"/>
                  </a:lnTo>
                  <a:lnTo>
                    <a:pt x="3068" y="0"/>
                  </a:lnTo>
                  <a:lnTo>
                    <a:pt x="4174" y="276"/>
                  </a:lnTo>
                  <a:lnTo>
                    <a:pt x="4382" y="842"/>
                  </a:lnTo>
                  <a:lnTo>
                    <a:pt x="4590" y="1408"/>
                  </a:lnTo>
                  <a:lnTo>
                    <a:pt x="3825" y="2047"/>
                  </a:lnTo>
                  <a:lnTo>
                    <a:pt x="1521" y="2493"/>
                  </a:lnTo>
                  <a:close/>
                </a:path>
              </a:pathLst>
            </a:custGeom>
            <a:solidFill>
              <a:srgbClr val="FFFFFF">
                <a:alpha val="29803"/>
              </a:srgbClr>
            </a:solidFill>
          </p:spPr>
          <p:txBody>
            <a:bodyPr wrap="square" lIns="0" tIns="0" rIns="0" bIns="0" rtlCol="0"/>
            <a:lstStyle/>
            <a:p/>
          </p:txBody>
        </p:sp>
        <p:sp>
          <p:nvSpPr>
            <p:cNvPr id="179" name="object 179" descr=""/>
            <p:cNvSpPr/>
            <p:nvPr/>
          </p:nvSpPr>
          <p:spPr>
            <a:xfrm>
              <a:off x="7825646" y="3157896"/>
              <a:ext cx="5080" cy="2540"/>
            </a:xfrm>
            <a:custGeom>
              <a:avLst/>
              <a:gdLst/>
              <a:ahLst/>
              <a:cxnLst/>
              <a:rect l="l" t="t" r="r" b="b"/>
              <a:pathLst>
                <a:path w="5079" h="2539">
                  <a:moveTo>
                    <a:pt x="4382" y="842"/>
                  </a:moveTo>
                  <a:lnTo>
                    <a:pt x="4174" y="276"/>
                  </a:lnTo>
                  <a:lnTo>
                    <a:pt x="3068" y="0"/>
                  </a:lnTo>
                  <a:lnTo>
                    <a:pt x="1914" y="225"/>
                  </a:lnTo>
                  <a:lnTo>
                    <a:pt x="764" y="448"/>
                  </a:lnTo>
                  <a:lnTo>
                    <a:pt x="0" y="1086"/>
                  </a:lnTo>
                  <a:lnTo>
                    <a:pt x="207" y="1650"/>
                  </a:lnTo>
                  <a:lnTo>
                    <a:pt x="419" y="2216"/>
                  </a:lnTo>
                  <a:lnTo>
                    <a:pt x="1521" y="2493"/>
                  </a:lnTo>
                  <a:lnTo>
                    <a:pt x="2675" y="2270"/>
                  </a:lnTo>
                  <a:lnTo>
                    <a:pt x="3825" y="2047"/>
                  </a:lnTo>
                  <a:lnTo>
                    <a:pt x="4590" y="1408"/>
                  </a:lnTo>
                  <a:lnTo>
                    <a:pt x="4382" y="842"/>
                  </a:lnTo>
                  <a:close/>
                </a:path>
              </a:pathLst>
            </a:custGeom>
            <a:ln w="3175">
              <a:solidFill>
                <a:srgbClr val="000000"/>
              </a:solidFill>
            </a:ln>
          </p:spPr>
          <p:txBody>
            <a:bodyPr wrap="square" lIns="0" tIns="0" rIns="0" bIns="0" rtlCol="0"/>
            <a:lstStyle/>
            <a:p/>
          </p:txBody>
        </p:sp>
        <p:sp>
          <p:nvSpPr>
            <p:cNvPr id="180" name="object 180" descr=""/>
            <p:cNvSpPr/>
            <p:nvPr/>
          </p:nvSpPr>
          <p:spPr>
            <a:xfrm>
              <a:off x="7854903" y="3116161"/>
              <a:ext cx="31750" cy="20320"/>
            </a:xfrm>
            <a:custGeom>
              <a:avLst/>
              <a:gdLst/>
              <a:ahLst/>
              <a:cxnLst/>
              <a:rect l="l" t="t" r="r" b="b"/>
              <a:pathLst>
                <a:path w="31750" h="20319">
                  <a:moveTo>
                    <a:pt x="0" y="10356"/>
                  </a:moveTo>
                  <a:lnTo>
                    <a:pt x="23648" y="20259"/>
                  </a:lnTo>
                  <a:lnTo>
                    <a:pt x="27566" y="14993"/>
                  </a:lnTo>
                  <a:lnTo>
                    <a:pt x="31388" y="10224"/>
                  </a:lnTo>
                  <a:lnTo>
                    <a:pt x="29199" y="4114"/>
                  </a:lnTo>
                  <a:lnTo>
                    <a:pt x="22675" y="1349"/>
                  </a:lnTo>
                  <a:lnTo>
                    <a:pt x="20590" y="466"/>
                  </a:lnTo>
                  <a:lnTo>
                    <a:pt x="18219" y="0"/>
                  </a:lnTo>
                  <a:lnTo>
                    <a:pt x="15803" y="2"/>
                  </a:lnTo>
                  <a:lnTo>
                    <a:pt x="10972" y="364"/>
                  </a:lnTo>
                  <a:lnTo>
                    <a:pt x="6638" y="2334"/>
                  </a:lnTo>
                  <a:lnTo>
                    <a:pt x="4044" y="5345"/>
                  </a:lnTo>
                  <a:lnTo>
                    <a:pt x="0" y="10356"/>
                  </a:lnTo>
                  <a:close/>
                </a:path>
              </a:pathLst>
            </a:custGeom>
            <a:ln w="3175">
              <a:solidFill>
                <a:srgbClr val="000000"/>
              </a:solidFill>
            </a:ln>
          </p:spPr>
          <p:txBody>
            <a:bodyPr wrap="square" lIns="0" tIns="0" rIns="0" bIns="0" rtlCol="0"/>
            <a:lstStyle/>
            <a:p/>
          </p:txBody>
        </p:sp>
        <p:sp>
          <p:nvSpPr>
            <p:cNvPr id="181" name="object 181" descr=""/>
            <p:cNvSpPr/>
            <p:nvPr/>
          </p:nvSpPr>
          <p:spPr>
            <a:xfrm>
              <a:off x="7811526" y="3112824"/>
              <a:ext cx="85725" cy="62230"/>
            </a:xfrm>
            <a:custGeom>
              <a:avLst/>
              <a:gdLst/>
              <a:ahLst/>
              <a:cxnLst/>
              <a:rect l="l" t="t" r="r" b="b"/>
              <a:pathLst>
                <a:path w="85725" h="62230">
                  <a:moveTo>
                    <a:pt x="28568" y="27446"/>
                  </a:moveTo>
                  <a:lnTo>
                    <a:pt x="25369" y="28557"/>
                  </a:lnTo>
                  <a:lnTo>
                    <a:pt x="23087" y="30739"/>
                  </a:lnTo>
                  <a:lnTo>
                    <a:pt x="22438" y="33310"/>
                  </a:lnTo>
                  <a:lnTo>
                    <a:pt x="2604" y="41546"/>
                  </a:lnTo>
                  <a:lnTo>
                    <a:pt x="1027" y="42437"/>
                  </a:lnTo>
                  <a:lnTo>
                    <a:pt x="70" y="43806"/>
                  </a:lnTo>
                  <a:lnTo>
                    <a:pt x="0" y="45274"/>
                  </a:lnTo>
                  <a:lnTo>
                    <a:pt x="14" y="52485"/>
                  </a:lnTo>
                  <a:lnTo>
                    <a:pt x="2111" y="57265"/>
                  </a:lnTo>
                  <a:lnTo>
                    <a:pt x="7751" y="60721"/>
                  </a:lnTo>
                  <a:lnTo>
                    <a:pt x="14493" y="61355"/>
                  </a:lnTo>
                  <a:lnTo>
                    <a:pt x="19447" y="61967"/>
                  </a:lnTo>
                  <a:lnTo>
                    <a:pt x="24523" y="61714"/>
                  </a:lnTo>
                  <a:lnTo>
                    <a:pt x="29321" y="60619"/>
                  </a:lnTo>
                  <a:lnTo>
                    <a:pt x="50531" y="51581"/>
                  </a:lnTo>
                  <a:lnTo>
                    <a:pt x="54780" y="52823"/>
                  </a:lnTo>
                  <a:lnTo>
                    <a:pt x="59619" y="51648"/>
                  </a:lnTo>
                  <a:lnTo>
                    <a:pt x="62042" y="48784"/>
                  </a:lnTo>
                  <a:lnTo>
                    <a:pt x="63660" y="47142"/>
                  </a:lnTo>
                  <a:lnTo>
                    <a:pt x="64313" y="45083"/>
                  </a:lnTo>
                  <a:lnTo>
                    <a:pt x="63853" y="43079"/>
                  </a:lnTo>
                  <a:lnTo>
                    <a:pt x="83437" y="19073"/>
                  </a:lnTo>
                  <a:lnTo>
                    <a:pt x="56197" y="0"/>
                  </a:lnTo>
                  <a:lnTo>
                    <a:pt x="48238" y="2697"/>
                  </a:lnTo>
                  <a:lnTo>
                    <a:pt x="44086" y="7801"/>
                  </a:lnTo>
                  <a:lnTo>
                    <a:pt x="28568" y="27446"/>
                  </a:lnTo>
                  <a:close/>
                </a:path>
              </a:pathLst>
            </a:custGeom>
            <a:ln w="6075">
              <a:solidFill>
                <a:srgbClr val="4677BF"/>
              </a:solidFill>
            </a:ln>
          </p:spPr>
          <p:txBody>
            <a:bodyPr wrap="square" lIns="0" tIns="0" rIns="0" bIns="0" rtlCol="0"/>
            <a:lstStyle/>
            <a:p/>
          </p:txBody>
        </p:sp>
        <p:pic>
          <p:nvPicPr>
            <p:cNvPr id="182" name="object 182" descr=""/>
            <p:cNvPicPr/>
            <p:nvPr/>
          </p:nvPicPr>
          <p:blipFill>
            <a:blip r:embed="rId44" cstate="print"/>
            <a:stretch>
              <a:fillRect/>
            </a:stretch>
          </p:blipFill>
          <p:spPr>
            <a:xfrm>
              <a:off x="7847038" y="3129915"/>
              <a:ext cx="25641" cy="17856"/>
            </a:xfrm>
            <a:prstGeom prst="rect">
              <a:avLst/>
            </a:prstGeom>
          </p:spPr>
        </p:pic>
        <p:sp>
          <p:nvSpPr>
            <p:cNvPr id="183" name="object 183" descr=""/>
            <p:cNvSpPr/>
            <p:nvPr/>
          </p:nvSpPr>
          <p:spPr>
            <a:xfrm>
              <a:off x="7850569" y="3131168"/>
              <a:ext cx="20955" cy="15875"/>
            </a:xfrm>
            <a:custGeom>
              <a:avLst/>
              <a:gdLst/>
              <a:ahLst/>
              <a:cxnLst/>
              <a:rect l="l" t="t" r="r" b="b"/>
              <a:pathLst>
                <a:path w="20954" h="15875">
                  <a:moveTo>
                    <a:pt x="11866" y="12973"/>
                  </a:moveTo>
                  <a:lnTo>
                    <a:pt x="13599" y="13678"/>
                  </a:lnTo>
                  <a:lnTo>
                    <a:pt x="13770" y="14253"/>
                  </a:lnTo>
                  <a:lnTo>
                    <a:pt x="12905" y="15471"/>
                  </a:lnTo>
                </a:path>
                <a:path w="20954" h="15875">
                  <a:moveTo>
                    <a:pt x="5933" y="10506"/>
                  </a:moveTo>
                  <a:lnTo>
                    <a:pt x="7666" y="11212"/>
                  </a:lnTo>
                  <a:lnTo>
                    <a:pt x="7840" y="11786"/>
                  </a:lnTo>
                  <a:lnTo>
                    <a:pt x="6972" y="13005"/>
                  </a:lnTo>
                </a:path>
                <a:path w="20954" h="15875">
                  <a:moveTo>
                    <a:pt x="0" y="8169"/>
                  </a:moveTo>
                  <a:lnTo>
                    <a:pt x="1732" y="8872"/>
                  </a:lnTo>
                  <a:lnTo>
                    <a:pt x="1907" y="9449"/>
                  </a:lnTo>
                  <a:lnTo>
                    <a:pt x="1038" y="10667"/>
                  </a:lnTo>
                </a:path>
                <a:path w="20954" h="15875">
                  <a:moveTo>
                    <a:pt x="3421" y="3971"/>
                  </a:moveTo>
                  <a:lnTo>
                    <a:pt x="5154" y="4677"/>
                  </a:lnTo>
                  <a:lnTo>
                    <a:pt x="5328" y="5254"/>
                  </a:lnTo>
                  <a:lnTo>
                    <a:pt x="4460" y="6470"/>
                  </a:lnTo>
                </a:path>
                <a:path w="20954" h="15875">
                  <a:moveTo>
                    <a:pt x="6757" y="0"/>
                  </a:moveTo>
                  <a:lnTo>
                    <a:pt x="8489" y="705"/>
                  </a:lnTo>
                  <a:lnTo>
                    <a:pt x="8660" y="1282"/>
                  </a:lnTo>
                  <a:lnTo>
                    <a:pt x="7796" y="2498"/>
                  </a:lnTo>
                </a:path>
                <a:path w="20954" h="15875">
                  <a:moveTo>
                    <a:pt x="12690" y="2340"/>
                  </a:moveTo>
                  <a:lnTo>
                    <a:pt x="14419" y="3043"/>
                  </a:lnTo>
                  <a:lnTo>
                    <a:pt x="14594" y="3620"/>
                  </a:lnTo>
                  <a:lnTo>
                    <a:pt x="13729" y="4836"/>
                  </a:lnTo>
                </a:path>
                <a:path w="20954" h="15875">
                  <a:moveTo>
                    <a:pt x="18623" y="4806"/>
                  </a:moveTo>
                  <a:lnTo>
                    <a:pt x="20352" y="5509"/>
                  </a:lnTo>
                  <a:lnTo>
                    <a:pt x="20527" y="6086"/>
                  </a:lnTo>
                  <a:lnTo>
                    <a:pt x="19662" y="7302"/>
                  </a:lnTo>
                </a:path>
                <a:path w="20954" h="15875">
                  <a:moveTo>
                    <a:pt x="9354" y="6309"/>
                  </a:moveTo>
                  <a:lnTo>
                    <a:pt x="11087" y="7015"/>
                  </a:lnTo>
                  <a:lnTo>
                    <a:pt x="11258" y="7592"/>
                  </a:lnTo>
                  <a:lnTo>
                    <a:pt x="10393" y="8807"/>
                  </a:lnTo>
                </a:path>
                <a:path w="20954" h="15875">
                  <a:moveTo>
                    <a:pt x="15287" y="8775"/>
                  </a:moveTo>
                  <a:lnTo>
                    <a:pt x="17020" y="9481"/>
                  </a:lnTo>
                  <a:lnTo>
                    <a:pt x="17191" y="10058"/>
                  </a:lnTo>
                  <a:lnTo>
                    <a:pt x="16326" y="11274"/>
                  </a:lnTo>
                </a:path>
              </a:pathLst>
            </a:custGeom>
            <a:ln w="3175">
              <a:solidFill>
                <a:srgbClr val="FFFFFF"/>
              </a:solidFill>
            </a:ln>
          </p:spPr>
          <p:txBody>
            <a:bodyPr wrap="square" lIns="0" tIns="0" rIns="0" bIns="0" rtlCol="0"/>
            <a:lstStyle/>
            <a:p/>
          </p:txBody>
        </p:sp>
        <p:pic>
          <p:nvPicPr>
            <p:cNvPr id="184" name="object 184" descr=""/>
            <p:cNvPicPr/>
            <p:nvPr/>
          </p:nvPicPr>
          <p:blipFill>
            <a:blip r:embed="rId45" cstate="print"/>
            <a:stretch>
              <a:fillRect/>
            </a:stretch>
          </p:blipFill>
          <p:spPr>
            <a:xfrm>
              <a:off x="7504380" y="2994797"/>
              <a:ext cx="274708" cy="116039"/>
            </a:xfrm>
            <a:prstGeom prst="rect">
              <a:avLst/>
            </a:prstGeom>
          </p:spPr>
        </p:pic>
        <p:sp>
          <p:nvSpPr>
            <p:cNvPr id="185" name="object 185" descr=""/>
            <p:cNvSpPr/>
            <p:nvPr/>
          </p:nvSpPr>
          <p:spPr>
            <a:xfrm>
              <a:off x="6681229" y="3031671"/>
              <a:ext cx="178435" cy="62865"/>
            </a:xfrm>
            <a:custGeom>
              <a:avLst/>
              <a:gdLst/>
              <a:ahLst/>
              <a:cxnLst/>
              <a:rect l="l" t="t" r="r" b="b"/>
              <a:pathLst>
                <a:path w="178434" h="62864">
                  <a:moveTo>
                    <a:pt x="0" y="0"/>
                  </a:moveTo>
                  <a:lnTo>
                    <a:pt x="178079" y="62750"/>
                  </a:lnTo>
                </a:path>
              </a:pathLst>
            </a:custGeom>
            <a:ln w="12700">
              <a:solidFill>
                <a:srgbClr val="000000"/>
              </a:solidFill>
            </a:ln>
          </p:spPr>
          <p:txBody>
            <a:bodyPr wrap="square" lIns="0" tIns="0" rIns="0" bIns="0" rtlCol="0"/>
            <a:lstStyle/>
            <a:p/>
          </p:txBody>
        </p:sp>
        <p:sp>
          <p:nvSpPr>
            <p:cNvPr id="186" name="object 186" descr=""/>
            <p:cNvSpPr/>
            <p:nvPr/>
          </p:nvSpPr>
          <p:spPr>
            <a:xfrm>
              <a:off x="6621335" y="2999955"/>
              <a:ext cx="298450" cy="126364"/>
            </a:xfrm>
            <a:custGeom>
              <a:avLst/>
              <a:gdLst/>
              <a:ahLst/>
              <a:cxnLst/>
              <a:rect l="l" t="t" r="r" b="b"/>
              <a:pathLst>
                <a:path w="298450" h="126364">
                  <a:moveTo>
                    <a:pt x="84531" y="0"/>
                  </a:moveTo>
                  <a:lnTo>
                    <a:pt x="0" y="10617"/>
                  </a:lnTo>
                  <a:lnTo>
                    <a:pt x="59207" y="71869"/>
                  </a:lnTo>
                  <a:lnTo>
                    <a:pt x="84531" y="0"/>
                  </a:lnTo>
                  <a:close/>
                </a:path>
                <a:path w="298450" h="126364">
                  <a:moveTo>
                    <a:pt x="297865" y="115582"/>
                  </a:moveTo>
                  <a:lnTo>
                    <a:pt x="238658" y="54317"/>
                  </a:lnTo>
                  <a:lnTo>
                    <a:pt x="213334" y="126187"/>
                  </a:lnTo>
                  <a:lnTo>
                    <a:pt x="297865" y="115582"/>
                  </a:lnTo>
                  <a:close/>
                </a:path>
              </a:pathLst>
            </a:custGeom>
            <a:solidFill>
              <a:srgbClr val="000000"/>
            </a:solidFill>
          </p:spPr>
          <p:txBody>
            <a:bodyPr wrap="square" lIns="0" tIns="0" rIns="0" bIns="0" rtlCol="0"/>
            <a:lstStyle/>
            <a:p/>
          </p:txBody>
        </p:sp>
      </p:grpSp>
      <p:sp>
        <p:nvSpPr>
          <p:cNvPr id="187" name="object 187" descr=""/>
          <p:cNvSpPr txBox="1"/>
          <p:nvPr/>
        </p:nvSpPr>
        <p:spPr>
          <a:xfrm>
            <a:off x="6938238" y="3187353"/>
            <a:ext cx="177800" cy="116839"/>
          </a:xfrm>
          <a:prstGeom prst="rect">
            <a:avLst/>
          </a:prstGeom>
        </p:spPr>
        <p:txBody>
          <a:bodyPr wrap="square" lIns="0" tIns="12700" rIns="0" bIns="0" rtlCol="0" vert="horz">
            <a:spAutoFit/>
          </a:bodyPr>
          <a:lstStyle/>
          <a:p>
            <a:pPr marL="12700">
              <a:lnSpc>
                <a:spcPct val="100000"/>
              </a:lnSpc>
              <a:spcBef>
                <a:spcPts val="100"/>
              </a:spcBef>
            </a:pPr>
            <a:r>
              <a:rPr dirty="0" sz="600" spc="-25">
                <a:latin typeface="Microsoft YaHei"/>
                <a:cs typeface="Microsoft YaHei"/>
              </a:rPr>
              <a:t>切换</a:t>
            </a:r>
            <a:endParaRPr sz="600">
              <a:latin typeface="Microsoft YaHei"/>
              <a:cs typeface="Microsoft YaHei"/>
            </a:endParaRPr>
          </a:p>
        </p:txBody>
      </p:sp>
      <p:sp>
        <p:nvSpPr>
          <p:cNvPr id="188" name="object 188" descr=""/>
          <p:cNvSpPr txBox="1"/>
          <p:nvPr/>
        </p:nvSpPr>
        <p:spPr>
          <a:xfrm>
            <a:off x="7823377" y="3186286"/>
            <a:ext cx="177800" cy="116839"/>
          </a:xfrm>
          <a:prstGeom prst="rect">
            <a:avLst/>
          </a:prstGeom>
        </p:spPr>
        <p:txBody>
          <a:bodyPr wrap="square" lIns="0" tIns="12700" rIns="0" bIns="0" rtlCol="0" vert="horz">
            <a:spAutoFit/>
          </a:bodyPr>
          <a:lstStyle/>
          <a:p>
            <a:pPr marL="12700">
              <a:lnSpc>
                <a:spcPct val="100000"/>
              </a:lnSpc>
              <a:spcBef>
                <a:spcPts val="100"/>
              </a:spcBef>
            </a:pPr>
            <a:r>
              <a:rPr dirty="0" sz="600" spc="-25">
                <a:latin typeface="Microsoft YaHei"/>
                <a:cs typeface="Microsoft YaHei"/>
              </a:rPr>
              <a:t>切换</a:t>
            </a:r>
            <a:endParaRPr sz="600">
              <a:latin typeface="Microsoft YaHei"/>
              <a:cs typeface="Microsoft YaHei"/>
            </a:endParaRPr>
          </a:p>
        </p:txBody>
      </p:sp>
      <p:sp>
        <p:nvSpPr>
          <p:cNvPr id="189" name="object 189" descr=""/>
          <p:cNvSpPr txBox="1"/>
          <p:nvPr/>
        </p:nvSpPr>
        <p:spPr>
          <a:xfrm>
            <a:off x="6000369" y="2733763"/>
            <a:ext cx="523875" cy="159385"/>
          </a:xfrm>
          <a:prstGeom prst="rect">
            <a:avLst/>
          </a:prstGeom>
          <a:solidFill>
            <a:srgbClr val="0065B0">
              <a:alpha val="20783"/>
            </a:srgbClr>
          </a:solidFill>
          <a:ln w="9525">
            <a:solidFill>
              <a:srgbClr val="FFFFFF"/>
            </a:solidFill>
          </a:ln>
        </p:spPr>
        <p:txBody>
          <a:bodyPr wrap="square" lIns="0" tIns="30480" rIns="0" bIns="0" rtlCol="0" vert="horz">
            <a:spAutoFit/>
          </a:bodyPr>
          <a:lstStyle/>
          <a:p>
            <a:pPr marL="67945">
              <a:lnSpc>
                <a:spcPct val="100000"/>
              </a:lnSpc>
              <a:spcBef>
                <a:spcPts val="240"/>
              </a:spcBef>
            </a:pPr>
            <a:r>
              <a:rPr dirty="0" sz="600" spc="-15">
                <a:solidFill>
                  <a:srgbClr val="050505"/>
                </a:solidFill>
                <a:latin typeface="Microsoft YaHei"/>
                <a:cs typeface="Microsoft YaHei"/>
              </a:rPr>
              <a:t>普通方式</a:t>
            </a:r>
            <a:endParaRPr sz="600">
              <a:latin typeface="Microsoft YaHei"/>
              <a:cs typeface="Microsoft YaHei"/>
            </a:endParaRPr>
          </a:p>
        </p:txBody>
      </p:sp>
      <p:sp>
        <p:nvSpPr>
          <p:cNvPr id="190" name="object 190" descr=""/>
          <p:cNvSpPr txBox="1"/>
          <p:nvPr/>
        </p:nvSpPr>
        <p:spPr>
          <a:xfrm>
            <a:off x="6486525" y="3125809"/>
            <a:ext cx="154940" cy="101600"/>
          </a:xfrm>
          <a:prstGeom prst="rect">
            <a:avLst/>
          </a:prstGeom>
        </p:spPr>
        <p:txBody>
          <a:bodyPr wrap="square" lIns="0" tIns="12065" rIns="0" bIns="0" rtlCol="0" vert="horz">
            <a:spAutoFit/>
          </a:bodyPr>
          <a:lstStyle/>
          <a:p>
            <a:pPr marL="12700">
              <a:lnSpc>
                <a:spcPct val="100000"/>
              </a:lnSpc>
              <a:spcBef>
                <a:spcPts val="95"/>
              </a:spcBef>
            </a:pPr>
            <a:r>
              <a:rPr dirty="0" sz="500" spc="-25">
                <a:latin typeface="Microsoft YaHei"/>
                <a:cs typeface="Microsoft YaHei"/>
              </a:rPr>
              <a:t>RRU</a:t>
            </a:r>
            <a:endParaRPr sz="500">
              <a:latin typeface="Microsoft YaHei"/>
              <a:cs typeface="Microsoft YaHei"/>
            </a:endParaRPr>
          </a:p>
        </p:txBody>
      </p:sp>
      <p:pic>
        <p:nvPicPr>
          <p:cNvPr id="191" name="object 191" descr=""/>
          <p:cNvPicPr/>
          <p:nvPr/>
        </p:nvPicPr>
        <p:blipFill>
          <a:blip r:embed="rId46" cstate="print"/>
          <a:stretch>
            <a:fillRect/>
          </a:stretch>
        </p:blipFill>
        <p:spPr>
          <a:xfrm>
            <a:off x="6512757" y="2958894"/>
            <a:ext cx="98732" cy="145557"/>
          </a:xfrm>
          <a:prstGeom prst="rect">
            <a:avLst/>
          </a:prstGeom>
        </p:spPr>
      </p:pic>
      <p:sp>
        <p:nvSpPr>
          <p:cNvPr id="192" name="object 192" descr=""/>
          <p:cNvSpPr txBox="1"/>
          <p:nvPr/>
        </p:nvSpPr>
        <p:spPr>
          <a:xfrm>
            <a:off x="7342207" y="3123116"/>
            <a:ext cx="154940" cy="101600"/>
          </a:xfrm>
          <a:prstGeom prst="rect">
            <a:avLst/>
          </a:prstGeom>
        </p:spPr>
        <p:txBody>
          <a:bodyPr wrap="square" lIns="0" tIns="12065" rIns="0" bIns="0" rtlCol="0" vert="horz">
            <a:spAutoFit/>
          </a:bodyPr>
          <a:lstStyle/>
          <a:p>
            <a:pPr marL="12700">
              <a:lnSpc>
                <a:spcPct val="100000"/>
              </a:lnSpc>
              <a:spcBef>
                <a:spcPts val="95"/>
              </a:spcBef>
            </a:pPr>
            <a:r>
              <a:rPr dirty="0" sz="500" spc="-25">
                <a:latin typeface="Microsoft YaHei"/>
                <a:cs typeface="Microsoft YaHei"/>
              </a:rPr>
              <a:t>RRU</a:t>
            </a:r>
            <a:endParaRPr sz="500">
              <a:latin typeface="Microsoft YaHei"/>
              <a:cs typeface="Microsoft YaHei"/>
            </a:endParaRPr>
          </a:p>
        </p:txBody>
      </p:sp>
      <p:pic>
        <p:nvPicPr>
          <p:cNvPr id="193" name="object 193" descr=""/>
          <p:cNvPicPr/>
          <p:nvPr/>
        </p:nvPicPr>
        <p:blipFill>
          <a:blip r:embed="rId47" cstate="print"/>
          <a:stretch>
            <a:fillRect/>
          </a:stretch>
        </p:blipFill>
        <p:spPr>
          <a:xfrm>
            <a:off x="7368440" y="2956187"/>
            <a:ext cx="98732" cy="145226"/>
          </a:xfrm>
          <a:prstGeom prst="rect">
            <a:avLst/>
          </a:prstGeom>
        </p:spPr>
      </p:pic>
      <p:sp>
        <p:nvSpPr>
          <p:cNvPr id="194" name="object 194" descr=""/>
          <p:cNvSpPr txBox="1"/>
          <p:nvPr/>
        </p:nvSpPr>
        <p:spPr>
          <a:xfrm>
            <a:off x="8229465" y="3126886"/>
            <a:ext cx="154940" cy="101600"/>
          </a:xfrm>
          <a:prstGeom prst="rect">
            <a:avLst/>
          </a:prstGeom>
        </p:spPr>
        <p:txBody>
          <a:bodyPr wrap="square" lIns="0" tIns="12065" rIns="0" bIns="0" rtlCol="0" vert="horz">
            <a:spAutoFit/>
          </a:bodyPr>
          <a:lstStyle/>
          <a:p>
            <a:pPr marL="12700">
              <a:lnSpc>
                <a:spcPct val="100000"/>
              </a:lnSpc>
              <a:spcBef>
                <a:spcPts val="95"/>
              </a:spcBef>
            </a:pPr>
            <a:r>
              <a:rPr dirty="0" sz="500" spc="-25">
                <a:latin typeface="Microsoft YaHei"/>
                <a:cs typeface="Microsoft YaHei"/>
              </a:rPr>
              <a:t>RRU</a:t>
            </a:r>
            <a:endParaRPr sz="500">
              <a:latin typeface="Microsoft YaHei"/>
              <a:cs typeface="Microsoft YaHei"/>
            </a:endParaRPr>
          </a:p>
        </p:txBody>
      </p:sp>
      <p:grpSp>
        <p:nvGrpSpPr>
          <p:cNvPr id="195" name="object 195" descr=""/>
          <p:cNvGrpSpPr/>
          <p:nvPr/>
        </p:nvGrpSpPr>
        <p:grpSpPr>
          <a:xfrm>
            <a:off x="7073309" y="2959956"/>
            <a:ext cx="1281430" cy="319405"/>
            <a:chOff x="7073309" y="2959956"/>
            <a:chExt cx="1281430" cy="319405"/>
          </a:xfrm>
        </p:grpSpPr>
        <p:pic>
          <p:nvPicPr>
            <p:cNvPr id="196" name="object 196" descr=""/>
            <p:cNvPicPr/>
            <p:nvPr/>
          </p:nvPicPr>
          <p:blipFill>
            <a:blip r:embed="rId48" cstate="print"/>
            <a:stretch>
              <a:fillRect/>
            </a:stretch>
          </p:blipFill>
          <p:spPr>
            <a:xfrm>
              <a:off x="8255698" y="2959956"/>
              <a:ext cx="98731" cy="145226"/>
            </a:xfrm>
            <a:prstGeom prst="rect">
              <a:avLst/>
            </a:prstGeom>
          </p:spPr>
        </p:pic>
        <p:sp>
          <p:nvSpPr>
            <p:cNvPr id="197" name="object 197" descr=""/>
            <p:cNvSpPr/>
            <p:nvPr/>
          </p:nvSpPr>
          <p:spPr>
            <a:xfrm>
              <a:off x="7087596" y="3214024"/>
              <a:ext cx="640080" cy="635"/>
            </a:xfrm>
            <a:custGeom>
              <a:avLst/>
              <a:gdLst/>
              <a:ahLst/>
              <a:cxnLst/>
              <a:rect l="l" t="t" r="r" b="b"/>
              <a:pathLst>
                <a:path w="640079" h="635">
                  <a:moveTo>
                    <a:pt x="0" y="0"/>
                  </a:moveTo>
                  <a:lnTo>
                    <a:pt x="640054" y="520"/>
                  </a:lnTo>
                </a:path>
              </a:pathLst>
            </a:custGeom>
            <a:ln w="28575">
              <a:solidFill>
                <a:srgbClr val="000000"/>
              </a:solidFill>
            </a:ln>
          </p:spPr>
          <p:txBody>
            <a:bodyPr wrap="square" lIns="0" tIns="0" rIns="0" bIns="0" rtlCol="0"/>
            <a:lstStyle/>
            <a:p/>
          </p:txBody>
        </p:sp>
        <p:sp>
          <p:nvSpPr>
            <p:cNvPr id="198" name="object 198" descr=""/>
            <p:cNvSpPr/>
            <p:nvPr/>
          </p:nvSpPr>
          <p:spPr>
            <a:xfrm>
              <a:off x="7641874" y="3164460"/>
              <a:ext cx="86360" cy="100330"/>
            </a:xfrm>
            <a:custGeom>
              <a:avLst/>
              <a:gdLst/>
              <a:ahLst/>
              <a:cxnLst/>
              <a:rect l="l" t="t" r="r" b="b"/>
              <a:pathLst>
                <a:path w="86359" h="100329">
                  <a:moveTo>
                    <a:pt x="88" y="0"/>
                  </a:moveTo>
                  <a:lnTo>
                    <a:pt x="85775" y="50076"/>
                  </a:lnTo>
                  <a:lnTo>
                    <a:pt x="0" y="100012"/>
                  </a:lnTo>
                </a:path>
              </a:pathLst>
            </a:custGeom>
            <a:ln w="28575">
              <a:solidFill>
                <a:srgbClr val="000000"/>
              </a:solidFill>
            </a:ln>
          </p:spPr>
          <p:txBody>
            <a:bodyPr wrap="square" lIns="0" tIns="0" rIns="0" bIns="0" rtlCol="0"/>
            <a:lstStyle/>
            <a:p/>
          </p:txBody>
        </p:sp>
      </p:grpSp>
      <p:sp>
        <p:nvSpPr>
          <p:cNvPr id="199" name="object 199" descr=""/>
          <p:cNvSpPr txBox="1"/>
          <p:nvPr/>
        </p:nvSpPr>
        <p:spPr>
          <a:xfrm>
            <a:off x="5976683" y="4154500"/>
            <a:ext cx="2877185" cy="546100"/>
          </a:xfrm>
          <a:prstGeom prst="rect">
            <a:avLst/>
          </a:prstGeom>
          <a:ln w="3175">
            <a:solidFill>
              <a:srgbClr val="BBE0E3"/>
            </a:solidFill>
          </a:ln>
        </p:spPr>
        <p:txBody>
          <a:bodyPr wrap="square" lIns="0" tIns="26670" rIns="0" bIns="0" rtlCol="0" vert="horz">
            <a:spAutoFit/>
          </a:bodyPr>
          <a:lstStyle/>
          <a:p>
            <a:pPr algn="just" marL="196215" marR="20955" indent="-128905">
              <a:lnSpc>
                <a:spcPct val="100000"/>
              </a:lnSpc>
              <a:spcBef>
                <a:spcPts val="210"/>
              </a:spcBef>
              <a:buFont typeface="Wingdings"/>
              <a:buChar char=""/>
              <a:tabLst>
                <a:tab pos="196215" algn="l"/>
                <a:tab pos="224790" algn="l"/>
              </a:tabLst>
            </a:pPr>
            <a:r>
              <a:rPr dirty="0" sz="800">
                <a:solidFill>
                  <a:srgbClr val="00B0F0"/>
                </a:solidFill>
                <a:latin typeface="Microsoft YaHei"/>
                <a:cs typeface="Microsoft YaHei"/>
              </a:rPr>
              <a:t>	</a:t>
            </a:r>
            <a:r>
              <a:rPr dirty="0" sz="800" spc="15">
                <a:latin typeface="Microsoft YaHei"/>
                <a:cs typeface="Microsoft YaHei"/>
              </a:rPr>
              <a:t>不同</a:t>
            </a:r>
            <a:r>
              <a:rPr dirty="0" sz="800">
                <a:latin typeface="Microsoft YaHei"/>
                <a:cs typeface="Microsoft YaHei"/>
              </a:rPr>
              <a:t>RRU</a:t>
            </a:r>
            <a:r>
              <a:rPr dirty="0" sz="800" spc="10">
                <a:latin typeface="Microsoft YaHei"/>
                <a:cs typeface="Microsoft YaHei"/>
              </a:rPr>
              <a:t>采用相同的频率及参数设置，在逻辑上设置为同</a:t>
            </a:r>
            <a:r>
              <a:rPr dirty="0" sz="800" spc="25">
                <a:latin typeface="Microsoft YaHei"/>
                <a:cs typeface="Microsoft YaHei"/>
              </a:rPr>
              <a:t>一小区，通过将相邻的</a:t>
            </a:r>
            <a:r>
              <a:rPr dirty="0" sz="800" spc="5">
                <a:latin typeface="Microsoft YaHei"/>
                <a:cs typeface="Microsoft YaHei"/>
              </a:rPr>
              <a:t>RRU</a:t>
            </a:r>
            <a:r>
              <a:rPr dirty="0" sz="800" spc="25">
                <a:latin typeface="Microsoft YaHei"/>
                <a:cs typeface="Microsoft YaHei"/>
              </a:rPr>
              <a:t>设置为同一小区，可以有效避</a:t>
            </a:r>
            <a:r>
              <a:rPr dirty="0" sz="800" spc="-15">
                <a:latin typeface="Microsoft YaHei"/>
                <a:cs typeface="Microsoft YaHei"/>
              </a:rPr>
              <a:t>免传统覆盖方案中切换过于频繁的问题，同时可缓解小区间</a:t>
            </a:r>
            <a:r>
              <a:rPr dirty="0" sz="800" spc="-10">
                <a:latin typeface="Microsoft YaHei"/>
                <a:cs typeface="Microsoft YaHei"/>
              </a:rPr>
              <a:t>干扰问题。</a:t>
            </a:r>
            <a:endParaRPr sz="800">
              <a:latin typeface="Microsoft YaHei"/>
              <a:cs typeface="Microsoft YaHei"/>
            </a:endParaRPr>
          </a:p>
        </p:txBody>
      </p:sp>
      <p:sp>
        <p:nvSpPr>
          <p:cNvPr id="200" name="object 200" descr=""/>
          <p:cNvSpPr txBox="1"/>
          <p:nvPr/>
        </p:nvSpPr>
        <p:spPr>
          <a:xfrm>
            <a:off x="7788730" y="3745202"/>
            <a:ext cx="266065" cy="101600"/>
          </a:xfrm>
          <a:prstGeom prst="rect">
            <a:avLst/>
          </a:prstGeom>
        </p:spPr>
        <p:txBody>
          <a:bodyPr wrap="square" lIns="0" tIns="12065" rIns="0" bIns="0" rtlCol="0" vert="horz">
            <a:spAutoFit/>
          </a:bodyPr>
          <a:lstStyle/>
          <a:p>
            <a:pPr>
              <a:lnSpc>
                <a:spcPct val="100000"/>
              </a:lnSpc>
              <a:spcBef>
                <a:spcPts val="95"/>
              </a:spcBef>
            </a:pPr>
            <a:r>
              <a:rPr dirty="0" sz="500" spc="-20">
                <a:solidFill>
                  <a:srgbClr val="050505"/>
                </a:solidFill>
                <a:latin typeface="Microsoft YaHei"/>
                <a:cs typeface="Microsoft YaHei"/>
              </a:rPr>
              <a:t>协同工作</a:t>
            </a:r>
            <a:endParaRPr sz="500">
              <a:latin typeface="Microsoft YaHei"/>
              <a:cs typeface="Microsoft YaHei"/>
            </a:endParaRPr>
          </a:p>
        </p:txBody>
      </p:sp>
      <p:sp>
        <p:nvSpPr>
          <p:cNvPr id="201" name="object 201" descr=""/>
          <p:cNvSpPr txBox="1"/>
          <p:nvPr/>
        </p:nvSpPr>
        <p:spPr>
          <a:xfrm>
            <a:off x="6902526" y="3746277"/>
            <a:ext cx="266065" cy="101600"/>
          </a:xfrm>
          <a:prstGeom prst="rect">
            <a:avLst/>
          </a:prstGeom>
        </p:spPr>
        <p:txBody>
          <a:bodyPr wrap="square" lIns="0" tIns="12065" rIns="0" bIns="0" rtlCol="0" vert="horz">
            <a:spAutoFit/>
          </a:bodyPr>
          <a:lstStyle/>
          <a:p>
            <a:pPr>
              <a:lnSpc>
                <a:spcPct val="100000"/>
              </a:lnSpc>
              <a:spcBef>
                <a:spcPts val="95"/>
              </a:spcBef>
            </a:pPr>
            <a:r>
              <a:rPr dirty="0" sz="500" spc="-20">
                <a:solidFill>
                  <a:srgbClr val="050505"/>
                </a:solidFill>
                <a:latin typeface="Microsoft YaHei"/>
                <a:cs typeface="Microsoft YaHei"/>
              </a:rPr>
              <a:t>协同工作</a:t>
            </a:r>
            <a:endParaRPr sz="500">
              <a:latin typeface="Microsoft YaHei"/>
              <a:cs typeface="Microsoft YaHei"/>
            </a:endParaRPr>
          </a:p>
        </p:txBody>
      </p:sp>
      <p:pic>
        <p:nvPicPr>
          <p:cNvPr id="202" name="object 202"/>
          <p:cNvPicPr/>
          <p:nvPr/>
        </p:nvPicPr>
        <p:blipFill>
          <a:blip r:embed="rId49" cstate="print"/>
          <a:stretch>
            <a:fillRect/>
          </a:stretch>
        </p:blipFill>
        <p:spPr>
          <a:xfrm>
            <a:off x="316318" y="2909335"/>
            <a:ext cx="2086286" cy="1007982"/>
          </a:xfrm>
          <a:prstGeom prst="rect">
            <a:avLst/>
          </a:prstGeom>
        </p:spPr>
      </p:pic>
      <p:grpSp>
        <p:nvGrpSpPr>
          <p:cNvPr id="203" name="object 203" descr=""/>
          <p:cNvGrpSpPr/>
          <p:nvPr/>
        </p:nvGrpSpPr>
        <p:grpSpPr>
          <a:xfrm>
            <a:off x="316106" y="4043296"/>
            <a:ext cx="2134235" cy="724535"/>
            <a:chOff x="316106" y="4043296"/>
            <a:chExt cx="2134235" cy="724535"/>
          </a:xfrm>
        </p:grpSpPr>
        <p:pic>
          <p:nvPicPr>
            <p:cNvPr id="204" name="object 204" descr=""/>
            <p:cNvPicPr/>
            <p:nvPr/>
          </p:nvPicPr>
          <p:blipFill>
            <a:blip r:embed="rId50" cstate="print"/>
            <a:stretch>
              <a:fillRect/>
            </a:stretch>
          </p:blipFill>
          <p:spPr>
            <a:xfrm>
              <a:off x="340614" y="4068318"/>
              <a:ext cx="2109215" cy="699515"/>
            </a:xfrm>
            <a:prstGeom prst="rect">
              <a:avLst/>
            </a:prstGeom>
          </p:spPr>
        </p:pic>
        <p:sp>
          <p:nvSpPr>
            <p:cNvPr id="205" name="object 205" descr=""/>
            <p:cNvSpPr/>
            <p:nvPr/>
          </p:nvSpPr>
          <p:spPr>
            <a:xfrm>
              <a:off x="317694" y="4044884"/>
              <a:ext cx="2105025" cy="695325"/>
            </a:xfrm>
            <a:custGeom>
              <a:avLst/>
              <a:gdLst/>
              <a:ahLst/>
              <a:cxnLst/>
              <a:rect l="l" t="t" r="r" b="b"/>
              <a:pathLst>
                <a:path w="2105025" h="695325">
                  <a:moveTo>
                    <a:pt x="2071763" y="0"/>
                  </a:moveTo>
                  <a:lnTo>
                    <a:pt x="32829" y="0"/>
                  </a:lnTo>
                  <a:lnTo>
                    <a:pt x="20048" y="2581"/>
                  </a:lnTo>
                  <a:lnTo>
                    <a:pt x="9613" y="9618"/>
                  </a:lnTo>
                  <a:lnTo>
                    <a:pt x="2579" y="20054"/>
                  </a:lnTo>
                  <a:lnTo>
                    <a:pt x="0" y="32829"/>
                  </a:lnTo>
                  <a:lnTo>
                    <a:pt x="0" y="662305"/>
                  </a:lnTo>
                  <a:lnTo>
                    <a:pt x="2579" y="675085"/>
                  </a:lnTo>
                  <a:lnTo>
                    <a:pt x="9613" y="685520"/>
                  </a:lnTo>
                  <a:lnTo>
                    <a:pt x="20048" y="692555"/>
                  </a:lnTo>
                  <a:lnTo>
                    <a:pt x="32829" y="695134"/>
                  </a:lnTo>
                  <a:lnTo>
                    <a:pt x="2071763" y="695134"/>
                  </a:lnTo>
                  <a:lnTo>
                    <a:pt x="2084544" y="692555"/>
                  </a:lnTo>
                  <a:lnTo>
                    <a:pt x="2094979" y="685520"/>
                  </a:lnTo>
                  <a:lnTo>
                    <a:pt x="2102013" y="675085"/>
                  </a:lnTo>
                  <a:lnTo>
                    <a:pt x="2104593" y="662305"/>
                  </a:lnTo>
                  <a:lnTo>
                    <a:pt x="2104593" y="32829"/>
                  </a:lnTo>
                  <a:lnTo>
                    <a:pt x="2102013" y="20054"/>
                  </a:lnTo>
                  <a:lnTo>
                    <a:pt x="2094979" y="9618"/>
                  </a:lnTo>
                  <a:lnTo>
                    <a:pt x="2084544" y="2581"/>
                  </a:lnTo>
                  <a:lnTo>
                    <a:pt x="2071763" y="0"/>
                  </a:lnTo>
                  <a:close/>
                </a:path>
              </a:pathLst>
            </a:custGeom>
            <a:solidFill>
              <a:srgbClr val="FFFFFF"/>
            </a:solidFill>
          </p:spPr>
          <p:txBody>
            <a:bodyPr wrap="square" lIns="0" tIns="0" rIns="0" bIns="0" rtlCol="0"/>
            <a:lstStyle/>
            <a:p/>
          </p:txBody>
        </p:sp>
        <p:sp>
          <p:nvSpPr>
            <p:cNvPr id="206" name="object 206" descr=""/>
            <p:cNvSpPr/>
            <p:nvPr/>
          </p:nvSpPr>
          <p:spPr>
            <a:xfrm>
              <a:off x="317694" y="4044884"/>
              <a:ext cx="2105025" cy="695325"/>
            </a:xfrm>
            <a:custGeom>
              <a:avLst/>
              <a:gdLst/>
              <a:ahLst/>
              <a:cxnLst/>
              <a:rect l="l" t="t" r="r" b="b"/>
              <a:pathLst>
                <a:path w="2105025" h="695325">
                  <a:moveTo>
                    <a:pt x="0" y="32829"/>
                  </a:moveTo>
                  <a:lnTo>
                    <a:pt x="2579" y="20054"/>
                  </a:lnTo>
                  <a:lnTo>
                    <a:pt x="9613" y="9618"/>
                  </a:lnTo>
                  <a:lnTo>
                    <a:pt x="20048" y="2581"/>
                  </a:lnTo>
                  <a:lnTo>
                    <a:pt x="32829" y="0"/>
                  </a:lnTo>
                  <a:lnTo>
                    <a:pt x="2071763" y="0"/>
                  </a:lnTo>
                  <a:lnTo>
                    <a:pt x="2084544" y="2581"/>
                  </a:lnTo>
                  <a:lnTo>
                    <a:pt x="2094979" y="9618"/>
                  </a:lnTo>
                  <a:lnTo>
                    <a:pt x="2102013" y="20054"/>
                  </a:lnTo>
                  <a:lnTo>
                    <a:pt x="2104593" y="32829"/>
                  </a:lnTo>
                  <a:lnTo>
                    <a:pt x="2104593" y="662305"/>
                  </a:lnTo>
                  <a:lnTo>
                    <a:pt x="2102013" y="675085"/>
                  </a:lnTo>
                  <a:lnTo>
                    <a:pt x="2094979" y="685520"/>
                  </a:lnTo>
                  <a:lnTo>
                    <a:pt x="2084544" y="692555"/>
                  </a:lnTo>
                  <a:lnTo>
                    <a:pt x="2071763" y="695134"/>
                  </a:lnTo>
                  <a:lnTo>
                    <a:pt x="32829" y="695134"/>
                  </a:lnTo>
                  <a:lnTo>
                    <a:pt x="20048" y="692555"/>
                  </a:lnTo>
                  <a:lnTo>
                    <a:pt x="9613" y="685520"/>
                  </a:lnTo>
                  <a:lnTo>
                    <a:pt x="2579" y="675085"/>
                  </a:lnTo>
                  <a:lnTo>
                    <a:pt x="0" y="662305"/>
                  </a:lnTo>
                  <a:lnTo>
                    <a:pt x="0" y="32829"/>
                  </a:lnTo>
                  <a:close/>
                </a:path>
              </a:pathLst>
            </a:custGeom>
            <a:ln w="3175">
              <a:solidFill>
                <a:srgbClr val="BBE0E3"/>
              </a:solidFill>
            </a:ln>
          </p:spPr>
          <p:txBody>
            <a:bodyPr wrap="square" lIns="0" tIns="0" rIns="0" bIns="0" rtlCol="0"/>
            <a:lstStyle/>
            <a:p/>
          </p:txBody>
        </p:sp>
      </p:grpSp>
      <p:sp>
        <p:nvSpPr>
          <p:cNvPr id="207" name="object 207" descr=""/>
          <p:cNvSpPr txBox="1"/>
          <p:nvPr/>
        </p:nvSpPr>
        <p:spPr>
          <a:xfrm>
            <a:off x="383188" y="4058675"/>
            <a:ext cx="1979930" cy="659765"/>
          </a:xfrm>
          <a:prstGeom prst="rect">
            <a:avLst/>
          </a:prstGeom>
        </p:spPr>
        <p:txBody>
          <a:bodyPr wrap="square" lIns="0" tIns="24765" rIns="0" bIns="0" rtlCol="0" vert="horz">
            <a:spAutoFit/>
          </a:bodyPr>
          <a:lstStyle/>
          <a:p>
            <a:pPr marL="12700">
              <a:lnSpc>
                <a:spcPct val="100000"/>
              </a:lnSpc>
              <a:spcBef>
                <a:spcPts val="195"/>
              </a:spcBef>
            </a:pPr>
            <a:r>
              <a:rPr dirty="0" sz="800" spc="-20" b="1">
                <a:solidFill>
                  <a:srgbClr val="333399"/>
                </a:solidFill>
                <a:latin typeface="Microsoft YaHei"/>
                <a:cs typeface="Microsoft YaHei"/>
              </a:rPr>
              <a:t>方案亮点：</a:t>
            </a:r>
            <a:endParaRPr sz="800">
              <a:latin typeface="Microsoft YaHei"/>
              <a:cs typeface="Microsoft YaHei"/>
            </a:endParaRPr>
          </a:p>
          <a:p>
            <a:pPr marL="140335" marR="5080" indent="-128270">
              <a:lnSpc>
                <a:spcPct val="100000"/>
              </a:lnSpc>
              <a:spcBef>
                <a:spcPts val="95"/>
              </a:spcBef>
              <a:buClr>
                <a:srgbClr val="00B0F0"/>
              </a:buClr>
              <a:buFont typeface="Wingdings"/>
              <a:buChar char=""/>
              <a:tabLst>
                <a:tab pos="141605" algn="l"/>
              </a:tabLst>
            </a:pPr>
            <a:r>
              <a:rPr dirty="0" sz="800" spc="30">
                <a:latin typeface="Microsoft YaHei"/>
                <a:cs typeface="Microsoft YaHei"/>
              </a:rPr>
              <a:t>高增益，减少区间切换，从而提升网络</a:t>
            </a:r>
            <a:r>
              <a:rPr dirty="0" sz="800" spc="30">
                <a:latin typeface="Microsoft YaHei"/>
                <a:cs typeface="Microsoft YaHei"/>
              </a:rPr>
              <a:t>	</a:t>
            </a:r>
            <a:r>
              <a:rPr dirty="0" sz="800" spc="-10">
                <a:latin typeface="Microsoft YaHei"/>
                <a:cs typeface="Microsoft YaHei"/>
              </a:rPr>
              <a:t>性能</a:t>
            </a:r>
            <a:endParaRPr sz="800">
              <a:latin typeface="Microsoft YaHei"/>
              <a:cs typeface="Microsoft YaHei"/>
            </a:endParaRPr>
          </a:p>
          <a:p>
            <a:pPr marL="140335" marR="5080" indent="-128270">
              <a:lnSpc>
                <a:spcPct val="100000"/>
              </a:lnSpc>
              <a:buClr>
                <a:srgbClr val="00B0F0"/>
              </a:buClr>
              <a:buFont typeface="Wingdings"/>
              <a:buChar char=""/>
              <a:tabLst>
                <a:tab pos="141605" algn="l"/>
              </a:tabLst>
            </a:pPr>
            <a:r>
              <a:rPr dirty="0" sz="800" spc="30">
                <a:latin typeface="Microsoft YaHei"/>
                <a:cs typeface="Microsoft YaHei"/>
              </a:rPr>
              <a:t>窄波束，适用于专网建设，避免外网带</a:t>
            </a:r>
            <a:r>
              <a:rPr dirty="0" sz="800" spc="30">
                <a:latin typeface="Microsoft YaHei"/>
                <a:cs typeface="Microsoft YaHei"/>
              </a:rPr>
              <a:t>	</a:t>
            </a:r>
            <a:r>
              <a:rPr dirty="0" sz="800" spc="-10">
                <a:latin typeface="Microsoft YaHei"/>
                <a:cs typeface="Microsoft YaHei"/>
              </a:rPr>
              <a:t>来干扰</a:t>
            </a:r>
            <a:endParaRPr sz="800">
              <a:latin typeface="Microsoft YaHei"/>
              <a:cs typeface="Microsoft YaHe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004121" y="915568"/>
            <a:ext cx="6032500" cy="1918335"/>
          </a:xfrm>
          <a:custGeom>
            <a:avLst/>
            <a:gdLst/>
            <a:ahLst/>
            <a:cxnLst/>
            <a:rect l="l" t="t" r="r" b="b"/>
            <a:pathLst>
              <a:path w="6032500" h="1918335">
                <a:moveTo>
                  <a:pt x="0" y="0"/>
                </a:moveTo>
                <a:lnTo>
                  <a:pt x="6031928" y="0"/>
                </a:lnTo>
                <a:lnTo>
                  <a:pt x="6031928" y="1918093"/>
                </a:lnTo>
                <a:lnTo>
                  <a:pt x="0" y="1918093"/>
                </a:lnTo>
                <a:lnTo>
                  <a:pt x="0" y="0"/>
                </a:lnTo>
                <a:close/>
              </a:path>
            </a:pathLst>
          </a:custGeom>
          <a:ln w="25400">
            <a:solidFill>
              <a:srgbClr val="BBE0E3"/>
            </a:solidFill>
          </a:ln>
        </p:spPr>
        <p:txBody>
          <a:bodyPr wrap="square" lIns="0" tIns="0" rIns="0" bIns="0" rtlCol="0"/>
          <a:lstStyle/>
          <a:p/>
        </p:txBody>
      </p:sp>
      <p:sp>
        <p:nvSpPr>
          <p:cNvPr id="3" name="object 3" descr=""/>
          <p:cNvSpPr/>
          <p:nvPr/>
        </p:nvSpPr>
        <p:spPr>
          <a:xfrm>
            <a:off x="0" y="4799634"/>
            <a:ext cx="9144000" cy="292735"/>
          </a:xfrm>
          <a:custGeom>
            <a:avLst/>
            <a:gdLst/>
            <a:ahLst/>
            <a:cxnLst/>
            <a:rect l="l" t="t" r="r" b="b"/>
            <a:pathLst>
              <a:path w="9144000" h="292735">
                <a:moveTo>
                  <a:pt x="9144000" y="0"/>
                </a:moveTo>
                <a:lnTo>
                  <a:pt x="0" y="0"/>
                </a:lnTo>
                <a:lnTo>
                  <a:pt x="0" y="292392"/>
                </a:lnTo>
                <a:lnTo>
                  <a:pt x="9144000" y="292392"/>
                </a:lnTo>
                <a:lnTo>
                  <a:pt x="9144000" y="0"/>
                </a:lnTo>
                <a:close/>
              </a:path>
            </a:pathLst>
          </a:custGeom>
          <a:solidFill>
            <a:srgbClr val="BBE0E3"/>
          </a:solidFill>
        </p:spPr>
        <p:txBody>
          <a:bodyPr wrap="square" lIns="0" tIns="0" rIns="0" bIns="0" rtlCol="0"/>
          <a:lstStyle/>
          <a:p/>
        </p:txBody>
      </p:sp>
      <p:sp>
        <p:nvSpPr>
          <p:cNvPr id="4" name="object 4" descr=""/>
          <p:cNvSpPr txBox="1"/>
          <p:nvPr/>
        </p:nvSpPr>
        <p:spPr>
          <a:xfrm>
            <a:off x="542670" y="4826566"/>
            <a:ext cx="8057515" cy="224154"/>
          </a:xfrm>
          <a:prstGeom prst="rect">
            <a:avLst/>
          </a:prstGeom>
        </p:spPr>
        <p:txBody>
          <a:bodyPr wrap="square" lIns="0" tIns="12700" rIns="0" bIns="0" rtlCol="0" vert="horz">
            <a:spAutoFit/>
          </a:bodyPr>
          <a:lstStyle/>
          <a:p>
            <a:pPr marL="12700">
              <a:lnSpc>
                <a:spcPct val="100000"/>
              </a:lnSpc>
              <a:spcBef>
                <a:spcPts val="100"/>
              </a:spcBef>
            </a:pPr>
            <a:r>
              <a:rPr dirty="0" sz="1300" spc="-5" b="1">
                <a:solidFill>
                  <a:srgbClr val="FFFFFF"/>
                </a:solidFill>
                <a:latin typeface="Microsoft YaHei"/>
                <a:cs typeface="Microsoft YaHei"/>
              </a:rPr>
              <a:t>地铁站台等高密集区域采用</a:t>
            </a:r>
            <a:r>
              <a:rPr dirty="0" sz="1300" spc="-10" b="1">
                <a:solidFill>
                  <a:srgbClr val="FFFFFF"/>
                </a:solidFill>
                <a:latin typeface="Microsoft YaHei"/>
                <a:cs typeface="Microsoft YaHei"/>
              </a:rPr>
              <a:t>4</a:t>
            </a:r>
            <a:r>
              <a:rPr dirty="0" sz="1300" spc="-5" b="1">
                <a:solidFill>
                  <a:srgbClr val="FFFFFF"/>
                </a:solidFill>
                <a:latin typeface="Microsoft YaHei"/>
                <a:cs typeface="Microsoft YaHei"/>
              </a:rPr>
              <a:t>通道</a:t>
            </a:r>
            <a:r>
              <a:rPr dirty="0" sz="1300" spc="-10" b="1">
                <a:solidFill>
                  <a:srgbClr val="FFFFFF"/>
                </a:solidFill>
                <a:latin typeface="Microsoft YaHei"/>
                <a:cs typeface="Microsoft YaHei"/>
              </a:rPr>
              <a:t>PICO进行覆盖，地铁隧道采用2</a:t>
            </a:r>
            <a:r>
              <a:rPr dirty="0" sz="1300" spc="-5" b="1">
                <a:solidFill>
                  <a:srgbClr val="FFFFFF"/>
                </a:solidFill>
                <a:latin typeface="Microsoft YaHei"/>
                <a:cs typeface="Microsoft YaHei"/>
              </a:rPr>
              <a:t>通道</a:t>
            </a:r>
            <a:r>
              <a:rPr dirty="0" sz="1300" spc="-10" b="1">
                <a:solidFill>
                  <a:srgbClr val="FFFFFF"/>
                </a:solidFill>
                <a:latin typeface="Microsoft YaHei"/>
                <a:cs typeface="Microsoft YaHei"/>
              </a:rPr>
              <a:t>RRU</a:t>
            </a:r>
            <a:r>
              <a:rPr dirty="0" sz="1300" spc="-15" b="1">
                <a:solidFill>
                  <a:srgbClr val="FFFFFF"/>
                </a:solidFill>
                <a:latin typeface="Microsoft YaHei"/>
                <a:cs typeface="Microsoft YaHei"/>
              </a:rPr>
              <a:t>+漏缆方式完成覆盖，保证用户感知</a:t>
            </a:r>
            <a:endParaRPr sz="1300">
              <a:latin typeface="Microsoft YaHei"/>
              <a:cs typeface="Microsoft YaHei"/>
            </a:endParaRPr>
          </a:p>
        </p:txBody>
      </p:sp>
      <p:grpSp>
        <p:nvGrpSpPr>
          <p:cNvPr id="5" name="object 5" descr=""/>
          <p:cNvGrpSpPr/>
          <p:nvPr/>
        </p:nvGrpSpPr>
        <p:grpSpPr>
          <a:xfrm>
            <a:off x="96837" y="915570"/>
            <a:ext cx="8952230" cy="4228465"/>
            <a:chOff x="96837" y="915570"/>
            <a:chExt cx="8952230" cy="4228465"/>
          </a:xfrm>
        </p:grpSpPr>
        <p:pic>
          <p:nvPicPr>
            <p:cNvPr id="6" name="object 6"/>
            <p:cNvPicPr/>
            <p:nvPr/>
          </p:nvPicPr>
          <p:blipFill>
            <a:blip r:embed="rId2" cstate="print"/>
            <a:stretch>
              <a:fillRect/>
            </a:stretch>
          </p:blipFill>
          <p:spPr>
            <a:xfrm>
              <a:off x="109539" y="915570"/>
              <a:ext cx="2833685" cy="1918091"/>
            </a:xfrm>
            <a:prstGeom prst="rect">
              <a:avLst/>
            </a:prstGeom>
          </p:spPr>
        </p:pic>
        <p:sp>
          <p:nvSpPr>
            <p:cNvPr id="7" name="object 7" descr=""/>
            <p:cNvSpPr/>
            <p:nvPr/>
          </p:nvSpPr>
          <p:spPr>
            <a:xfrm>
              <a:off x="3529012" y="1273948"/>
              <a:ext cx="0" cy="581025"/>
            </a:xfrm>
            <a:custGeom>
              <a:avLst/>
              <a:gdLst/>
              <a:ahLst/>
              <a:cxnLst/>
              <a:rect l="l" t="t" r="r" b="b"/>
              <a:pathLst>
                <a:path w="0" h="581025">
                  <a:moveTo>
                    <a:pt x="0" y="0"/>
                  </a:moveTo>
                  <a:lnTo>
                    <a:pt x="0" y="581025"/>
                  </a:lnTo>
                </a:path>
              </a:pathLst>
            </a:custGeom>
            <a:ln w="28575">
              <a:solidFill>
                <a:srgbClr val="FF6600"/>
              </a:solidFill>
            </a:ln>
          </p:spPr>
          <p:txBody>
            <a:bodyPr wrap="square" lIns="0" tIns="0" rIns="0" bIns="0" rtlCol="0"/>
            <a:lstStyle/>
            <a:p/>
          </p:txBody>
        </p:sp>
        <p:sp>
          <p:nvSpPr>
            <p:cNvPr id="8" name="object 8" descr=""/>
            <p:cNvSpPr/>
            <p:nvPr/>
          </p:nvSpPr>
          <p:spPr>
            <a:xfrm>
              <a:off x="681267" y="1715669"/>
              <a:ext cx="2847975" cy="562610"/>
            </a:xfrm>
            <a:custGeom>
              <a:avLst/>
              <a:gdLst/>
              <a:ahLst/>
              <a:cxnLst/>
              <a:rect l="l" t="t" r="r" b="b"/>
              <a:pathLst>
                <a:path w="2847975" h="562610">
                  <a:moveTo>
                    <a:pt x="2847746" y="0"/>
                  </a:moveTo>
                  <a:lnTo>
                    <a:pt x="0" y="562419"/>
                  </a:lnTo>
                </a:path>
              </a:pathLst>
            </a:custGeom>
            <a:ln w="28575">
              <a:solidFill>
                <a:srgbClr val="FF6600"/>
              </a:solidFill>
            </a:ln>
          </p:spPr>
          <p:txBody>
            <a:bodyPr wrap="square" lIns="0" tIns="0" rIns="0" bIns="0" rtlCol="0"/>
            <a:lstStyle/>
            <a:p/>
          </p:txBody>
        </p:sp>
        <p:sp>
          <p:nvSpPr>
            <p:cNvPr id="9" name="object 9" descr=""/>
            <p:cNvSpPr/>
            <p:nvPr/>
          </p:nvSpPr>
          <p:spPr>
            <a:xfrm>
              <a:off x="611190" y="2233269"/>
              <a:ext cx="92710" cy="84455"/>
            </a:xfrm>
            <a:custGeom>
              <a:avLst/>
              <a:gdLst/>
              <a:ahLst/>
              <a:cxnLst/>
              <a:rect l="l" t="t" r="r" b="b"/>
              <a:pathLst>
                <a:path w="92709" h="84455">
                  <a:moveTo>
                    <a:pt x="75793" y="0"/>
                  </a:moveTo>
                  <a:lnTo>
                    <a:pt x="0" y="58661"/>
                  </a:lnTo>
                  <a:lnTo>
                    <a:pt x="92405" y="84099"/>
                  </a:lnTo>
                  <a:lnTo>
                    <a:pt x="75793" y="0"/>
                  </a:lnTo>
                  <a:close/>
                </a:path>
              </a:pathLst>
            </a:custGeom>
            <a:solidFill>
              <a:srgbClr val="FF6600"/>
            </a:solidFill>
          </p:spPr>
          <p:txBody>
            <a:bodyPr wrap="square" lIns="0" tIns="0" rIns="0" bIns="0" rtlCol="0"/>
            <a:lstStyle/>
            <a:p/>
          </p:txBody>
        </p:sp>
        <p:sp>
          <p:nvSpPr>
            <p:cNvPr id="10" name="object 10" descr=""/>
            <p:cNvSpPr/>
            <p:nvPr/>
          </p:nvSpPr>
          <p:spPr>
            <a:xfrm>
              <a:off x="1790700" y="1337050"/>
              <a:ext cx="1738630" cy="0"/>
            </a:xfrm>
            <a:custGeom>
              <a:avLst/>
              <a:gdLst/>
              <a:ahLst/>
              <a:cxnLst/>
              <a:rect l="l" t="t" r="r" b="b"/>
              <a:pathLst>
                <a:path w="1738629" h="0">
                  <a:moveTo>
                    <a:pt x="1738312" y="0"/>
                  </a:moveTo>
                  <a:lnTo>
                    <a:pt x="0" y="0"/>
                  </a:lnTo>
                </a:path>
              </a:pathLst>
            </a:custGeom>
            <a:ln w="28575">
              <a:solidFill>
                <a:srgbClr val="FF6600"/>
              </a:solidFill>
            </a:ln>
          </p:spPr>
          <p:txBody>
            <a:bodyPr wrap="square" lIns="0" tIns="0" rIns="0" bIns="0" rtlCol="0"/>
            <a:lstStyle/>
            <a:p/>
          </p:txBody>
        </p:sp>
        <p:sp>
          <p:nvSpPr>
            <p:cNvPr id="11" name="object 11" descr=""/>
            <p:cNvSpPr/>
            <p:nvPr/>
          </p:nvSpPr>
          <p:spPr>
            <a:xfrm>
              <a:off x="1719265" y="1294184"/>
              <a:ext cx="85725" cy="85725"/>
            </a:xfrm>
            <a:custGeom>
              <a:avLst/>
              <a:gdLst/>
              <a:ahLst/>
              <a:cxnLst/>
              <a:rect l="l" t="t" r="r" b="b"/>
              <a:pathLst>
                <a:path w="85725" h="85725">
                  <a:moveTo>
                    <a:pt x="85725" y="0"/>
                  </a:moveTo>
                  <a:lnTo>
                    <a:pt x="0" y="42862"/>
                  </a:lnTo>
                  <a:lnTo>
                    <a:pt x="85725" y="85725"/>
                  </a:lnTo>
                  <a:lnTo>
                    <a:pt x="85725" y="0"/>
                  </a:lnTo>
                  <a:close/>
                </a:path>
              </a:pathLst>
            </a:custGeom>
            <a:solidFill>
              <a:srgbClr val="FF6600"/>
            </a:solidFill>
          </p:spPr>
          <p:txBody>
            <a:bodyPr wrap="square" lIns="0" tIns="0" rIns="0" bIns="0" rtlCol="0"/>
            <a:lstStyle/>
            <a:p/>
          </p:txBody>
        </p:sp>
        <p:sp>
          <p:nvSpPr>
            <p:cNvPr id="12" name="object 12" descr=""/>
            <p:cNvSpPr/>
            <p:nvPr/>
          </p:nvSpPr>
          <p:spPr>
            <a:xfrm>
              <a:off x="352667" y="2524011"/>
              <a:ext cx="259079" cy="407034"/>
            </a:xfrm>
            <a:custGeom>
              <a:avLst/>
              <a:gdLst/>
              <a:ahLst/>
              <a:cxnLst/>
              <a:rect l="l" t="t" r="r" b="b"/>
              <a:pathLst>
                <a:path w="259079" h="407035">
                  <a:moveTo>
                    <a:pt x="258521" y="406450"/>
                  </a:moveTo>
                  <a:lnTo>
                    <a:pt x="0" y="0"/>
                  </a:lnTo>
                </a:path>
              </a:pathLst>
            </a:custGeom>
            <a:ln w="28575">
              <a:solidFill>
                <a:srgbClr val="FF6600"/>
              </a:solidFill>
            </a:ln>
          </p:spPr>
          <p:txBody>
            <a:bodyPr wrap="square" lIns="0" tIns="0" rIns="0" bIns="0" rtlCol="0"/>
            <a:lstStyle/>
            <a:p/>
          </p:txBody>
        </p:sp>
        <p:sp>
          <p:nvSpPr>
            <p:cNvPr id="13" name="object 13" descr=""/>
            <p:cNvSpPr/>
            <p:nvPr/>
          </p:nvSpPr>
          <p:spPr>
            <a:xfrm>
              <a:off x="314328" y="2463735"/>
              <a:ext cx="82550" cy="95885"/>
            </a:xfrm>
            <a:custGeom>
              <a:avLst/>
              <a:gdLst/>
              <a:ahLst/>
              <a:cxnLst/>
              <a:rect l="l" t="t" r="r" b="b"/>
              <a:pathLst>
                <a:path w="82550" h="95885">
                  <a:moveTo>
                    <a:pt x="0" y="0"/>
                  </a:moveTo>
                  <a:lnTo>
                    <a:pt x="9842" y="95338"/>
                  </a:lnTo>
                  <a:lnTo>
                    <a:pt x="82168" y="49326"/>
                  </a:lnTo>
                  <a:lnTo>
                    <a:pt x="0" y="0"/>
                  </a:lnTo>
                  <a:close/>
                </a:path>
              </a:pathLst>
            </a:custGeom>
            <a:solidFill>
              <a:srgbClr val="FF6600"/>
            </a:solidFill>
          </p:spPr>
          <p:txBody>
            <a:bodyPr wrap="square" lIns="0" tIns="0" rIns="0" bIns="0" rtlCol="0"/>
            <a:lstStyle/>
            <a:p/>
          </p:txBody>
        </p:sp>
        <p:sp>
          <p:nvSpPr>
            <p:cNvPr id="14" name="object 14" descr=""/>
            <p:cNvSpPr/>
            <p:nvPr/>
          </p:nvSpPr>
          <p:spPr>
            <a:xfrm>
              <a:off x="109537" y="3003804"/>
              <a:ext cx="8926830" cy="1641475"/>
            </a:xfrm>
            <a:custGeom>
              <a:avLst/>
              <a:gdLst/>
              <a:ahLst/>
              <a:cxnLst/>
              <a:rect l="l" t="t" r="r" b="b"/>
              <a:pathLst>
                <a:path w="8926830" h="1641475">
                  <a:moveTo>
                    <a:pt x="0" y="0"/>
                  </a:moveTo>
                  <a:lnTo>
                    <a:pt x="8926512" y="0"/>
                  </a:lnTo>
                  <a:lnTo>
                    <a:pt x="8926512" y="1641246"/>
                  </a:lnTo>
                  <a:lnTo>
                    <a:pt x="0" y="1641246"/>
                  </a:lnTo>
                  <a:lnTo>
                    <a:pt x="0" y="0"/>
                  </a:lnTo>
                  <a:close/>
                </a:path>
              </a:pathLst>
            </a:custGeom>
            <a:ln w="25400">
              <a:solidFill>
                <a:srgbClr val="000000"/>
              </a:solidFill>
            </a:ln>
          </p:spPr>
          <p:txBody>
            <a:bodyPr wrap="square" lIns="0" tIns="0" rIns="0" bIns="0" rtlCol="0"/>
            <a:lstStyle/>
            <a:p/>
          </p:txBody>
        </p:sp>
        <p:pic>
          <p:nvPicPr>
            <p:cNvPr id="15" name="object 15"/>
            <p:cNvPicPr/>
            <p:nvPr/>
          </p:nvPicPr>
          <p:blipFill>
            <a:blip r:embed="rId3" cstate="print"/>
            <a:stretch>
              <a:fillRect/>
            </a:stretch>
          </p:blipFill>
          <p:spPr>
            <a:xfrm>
              <a:off x="202692" y="4595621"/>
              <a:ext cx="1530095" cy="547878"/>
            </a:xfrm>
            <a:prstGeom prst="rect">
              <a:avLst/>
            </a:prstGeom>
          </p:spPr>
        </p:pic>
        <p:pic>
          <p:nvPicPr>
            <p:cNvPr id="16" name="object 16" descr=""/>
            <p:cNvPicPr/>
            <p:nvPr/>
          </p:nvPicPr>
          <p:blipFill>
            <a:blip r:embed="rId4" cstate="print"/>
            <a:stretch>
              <a:fillRect/>
            </a:stretch>
          </p:blipFill>
          <p:spPr>
            <a:xfrm>
              <a:off x="216181" y="3258106"/>
              <a:ext cx="1503083" cy="1346542"/>
            </a:xfrm>
            <a:prstGeom prst="rect">
              <a:avLst/>
            </a:prstGeom>
          </p:spPr>
        </p:pic>
        <p:sp>
          <p:nvSpPr>
            <p:cNvPr id="17" name="object 17" descr=""/>
            <p:cNvSpPr/>
            <p:nvPr/>
          </p:nvSpPr>
          <p:spPr>
            <a:xfrm>
              <a:off x="1761985" y="3319030"/>
              <a:ext cx="7230109" cy="1224915"/>
            </a:xfrm>
            <a:custGeom>
              <a:avLst/>
              <a:gdLst/>
              <a:ahLst/>
              <a:cxnLst/>
              <a:rect l="l" t="t" r="r" b="b"/>
              <a:pathLst>
                <a:path w="7230109" h="1224914">
                  <a:moveTo>
                    <a:pt x="0" y="0"/>
                  </a:moveTo>
                  <a:lnTo>
                    <a:pt x="7229614" y="0"/>
                  </a:lnTo>
                  <a:lnTo>
                    <a:pt x="7229614" y="1224699"/>
                  </a:lnTo>
                  <a:lnTo>
                    <a:pt x="0" y="1224699"/>
                  </a:lnTo>
                  <a:lnTo>
                    <a:pt x="0" y="0"/>
                  </a:lnTo>
                  <a:close/>
                </a:path>
              </a:pathLst>
            </a:custGeom>
            <a:ln w="28574">
              <a:solidFill>
                <a:srgbClr val="89A4A7"/>
              </a:solidFill>
              <a:prstDash val="sysDot"/>
            </a:ln>
          </p:spPr>
          <p:txBody>
            <a:bodyPr wrap="square" lIns="0" tIns="0" rIns="0" bIns="0" rtlCol="0"/>
            <a:lstStyle/>
            <a:p/>
          </p:txBody>
        </p:sp>
      </p:grpSp>
      <p:sp>
        <p:nvSpPr>
          <p:cNvPr id="18" name="object 18" descr=""/>
          <p:cNvSpPr txBox="1"/>
          <p:nvPr/>
        </p:nvSpPr>
        <p:spPr>
          <a:xfrm>
            <a:off x="210653" y="2988726"/>
            <a:ext cx="2994660" cy="299720"/>
          </a:xfrm>
          <a:prstGeom prst="rect">
            <a:avLst/>
          </a:prstGeom>
        </p:spPr>
        <p:txBody>
          <a:bodyPr wrap="square" lIns="0" tIns="12700" rIns="0" bIns="0" rtlCol="0" vert="horz">
            <a:spAutoFit/>
          </a:bodyPr>
          <a:lstStyle/>
          <a:p>
            <a:pPr marL="238125" indent="-225425">
              <a:lnSpc>
                <a:spcPct val="100000"/>
              </a:lnSpc>
              <a:spcBef>
                <a:spcPts val="100"/>
              </a:spcBef>
              <a:buSzPct val="94444"/>
              <a:buFont typeface="Wingdings"/>
              <a:buChar char=""/>
              <a:tabLst>
                <a:tab pos="238125" algn="l"/>
              </a:tabLst>
            </a:pPr>
            <a:r>
              <a:rPr dirty="0" sz="1800" spc="-5" b="1">
                <a:latin typeface="Microsoft YaHei"/>
                <a:cs typeface="Microsoft YaHei"/>
              </a:rPr>
              <a:t>隧道泄漏电缆覆盖解决方案</a:t>
            </a:r>
            <a:endParaRPr sz="1800">
              <a:latin typeface="Microsoft YaHei"/>
              <a:cs typeface="Microsoft YaHei"/>
            </a:endParaRPr>
          </a:p>
        </p:txBody>
      </p:sp>
      <p:grpSp>
        <p:nvGrpSpPr>
          <p:cNvPr id="19" name="object 19" descr=""/>
          <p:cNvGrpSpPr/>
          <p:nvPr/>
        </p:nvGrpSpPr>
        <p:grpSpPr>
          <a:xfrm>
            <a:off x="509584" y="1154887"/>
            <a:ext cx="8496300" cy="3343275"/>
            <a:chOff x="509584" y="1154887"/>
            <a:chExt cx="8496300" cy="3343275"/>
          </a:xfrm>
        </p:grpSpPr>
        <p:sp>
          <p:nvSpPr>
            <p:cNvPr id="20" name="object 20" descr=""/>
            <p:cNvSpPr/>
            <p:nvPr/>
          </p:nvSpPr>
          <p:spPr>
            <a:xfrm>
              <a:off x="5460631" y="1169174"/>
              <a:ext cx="3531235" cy="1625600"/>
            </a:xfrm>
            <a:custGeom>
              <a:avLst/>
              <a:gdLst/>
              <a:ahLst/>
              <a:cxnLst/>
              <a:rect l="l" t="t" r="r" b="b"/>
              <a:pathLst>
                <a:path w="3531234" h="1625600">
                  <a:moveTo>
                    <a:pt x="3530968" y="0"/>
                  </a:moveTo>
                  <a:lnTo>
                    <a:pt x="0" y="0"/>
                  </a:lnTo>
                  <a:lnTo>
                    <a:pt x="0" y="1625206"/>
                  </a:lnTo>
                  <a:lnTo>
                    <a:pt x="3530968" y="1625206"/>
                  </a:lnTo>
                  <a:lnTo>
                    <a:pt x="3530968" y="0"/>
                  </a:lnTo>
                  <a:close/>
                </a:path>
              </a:pathLst>
            </a:custGeom>
            <a:solidFill>
              <a:srgbClr val="FFFFFF"/>
            </a:solidFill>
          </p:spPr>
          <p:txBody>
            <a:bodyPr wrap="square" lIns="0" tIns="0" rIns="0" bIns="0" rtlCol="0"/>
            <a:lstStyle/>
            <a:p/>
          </p:txBody>
        </p:sp>
        <p:sp>
          <p:nvSpPr>
            <p:cNvPr id="21" name="object 21" descr=""/>
            <p:cNvSpPr/>
            <p:nvPr/>
          </p:nvSpPr>
          <p:spPr>
            <a:xfrm>
              <a:off x="5460631" y="1169174"/>
              <a:ext cx="3531235" cy="1625600"/>
            </a:xfrm>
            <a:custGeom>
              <a:avLst/>
              <a:gdLst/>
              <a:ahLst/>
              <a:cxnLst/>
              <a:rect l="l" t="t" r="r" b="b"/>
              <a:pathLst>
                <a:path w="3531234" h="1625600">
                  <a:moveTo>
                    <a:pt x="0" y="0"/>
                  </a:moveTo>
                  <a:lnTo>
                    <a:pt x="3530968" y="0"/>
                  </a:lnTo>
                  <a:lnTo>
                    <a:pt x="3530968" y="1625206"/>
                  </a:lnTo>
                  <a:lnTo>
                    <a:pt x="0" y="1625206"/>
                  </a:lnTo>
                  <a:lnTo>
                    <a:pt x="0" y="0"/>
                  </a:lnTo>
                  <a:close/>
                </a:path>
              </a:pathLst>
            </a:custGeom>
            <a:ln w="28575">
              <a:solidFill>
                <a:srgbClr val="89A4A7"/>
              </a:solidFill>
              <a:prstDash val="sysDot"/>
            </a:ln>
          </p:spPr>
          <p:txBody>
            <a:bodyPr wrap="square" lIns="0" tIns="0" rIns="0" bIns="0" rtlCol="0"/>
            <a:lstStyle/>
            <a:p/>
          </p:txBody>
        </p:sp>
        <p:sp>
          <p:nvSpPr>
            <p:cNvPr id="22" name="object 22" descr=""/>
            <p:cNvSpPr/>
            <p:nvPr/>
          </p:nvSpPr>
          <p:spPr>
            <a:xfrm>
              <a:off x="535327" y="2947870"/>
              <a:ext cx="465455" cy="0"/>
            </a:xfrm>
            <a:custGeom>
              <a:avLst/>
              <a:gdLst/>
              <a:ahLst/>
              <a:cxnLst/>
              <a:rect l="l" t="t" r="r" b="b"/>
              <a:pathLst>
                <a:path w="465455" h="0">
                  <a:moveTo>
                    <a:pt x="0" y="0"/>
                  </a:moveTo>
                  <a:lnTo>
                    <a:pt x="465137" y="0"/>
                  </a:lnTo>
                </a:path>
              </a:pathLst>
            </a:custGeom>
            <a:ln w="28575">
              <a:solidFill>
                <a:srgbClr val="FF6600"/>
              </a:solidFill>
            </a:ln>
          </p:spPr>
          <p:txBody>
            <a:bodyPr wrap="square" lIns="0" tIns="0" rIns="0" bIns="0" rtlCol="0"/>
            <a:lstStyle/>
            <a:p/>
          </p:txBody>
        </p:sp>
        <p:sp>
          <p:nvSpPr>
            <p:cNvPr id="23" name="object 23" descr=""/>
            <p:cNvSpPr/>
            <p:nvPr/>
          </p:nvSpPr>
          <p:spPr>
            <a:xfrm>
              <a:off x="553491" y="2590335"/>
              <a:ext cx="253365" cy="325120"/>
            </a:xfrm>
            <a:custGeom>
              <a:avLst/>
              <a:gdLst/>
              <a:ahLst/>
              <a:cxnLst/>
              <a:rect l="l" t="t" r="r" b="b"/>
              <a:pathLst>
                <a:path w="253365" h="325119">
                  <a:moveTo>
                    <a:pt x="252958" y="324650"/>
                  </a:moveTo>
                  <a:lnTo>
                    <a:pt x="0" y="0"/>
                  </a:lnTo>
                </a:path>
              </a:pathLst>
            </a:custGeom>
            <a:ln w="28575">
              <a:solidFill>
                <a:srgbClr val="FF6600"/>
              </a:solidFill>
            </a:ln>
          </p:spPr>
          <p:txBody>
            <a:bodyPr wrap="square" lIns="0" tIns="0" rIns="0" bIns="0" rtlCol="0"/>
            <a:lstStyle/>
            <a:p/>
          </p:txBody>
        </p:sp>
        <p:sp>
          <p:nvSpPr>
            <p:cNvPr id="24" name="object 24" descr=""/>
            <p:cNvSpPr/>
            <p:nvPr/>
          </p:nvSpPr>
          <p:spPr>
            <a:xfrm>
              <a:off x="509584" y="2533982"/>
              <a:ext cx="86995" cy="93980"/>
            </a:xfrm>
            <a:custGeom>
              <a:avLst/>
              <a:gdLst/>
              <a:ahLst/>
              <a:cxnLst/>
              <a:rect l="l" t="t" r="r" b="b"/>
              <a:pathLst>
                <a:path w="86995" h="93980">
                  <a:moveTo>
                    <a:pt x="0" y="0"/>
                  </a:moveTo>
                  <a:lnTo>
                    <a:pt x="18884" y="93967"/>
                  </a:lnTo>
                  <a:lnTo>
                    <a:pt x="86499" y="41275"/>
                  </a:lnTo>
                  <a:lnTo>
                    <a:pt x="0" y="0"/>
                  </a:lnTo>
                  <a:close/>
                </a:path>
              </a:pathLst>
            </a:custGeom>
            <a:solidFill>
              <a:srgbClr val="FF6600"/>
            </a:solidFill>
          </p:spPr>
          <p:txBody>
            <a:bodyPr wrap="square" lIns="0" tIns="0" rIns="0" bIns="0" rtlCol="0"/>
            <a:lstStyle/>
            <a:p/>
          </p:txBody>
        </p:sp>
        <p:sp>
          <p:nvSpPr>
            <p:cNvPr id="25" name="object 25" descr=""/>
            <p:cNvSpPr/>
            <p:nvPr/>
          </p:nvSpPr>
          <p:spPr>
            <a:xfrm>
              <a:off x="2309739" y="3964196"/>
              <a:ext cx="1487805" cy="257810"/>
            </a:xfrm>
            <a:custGeom>
              <a:avLst/>
              <a:gdLst/>
              <a:ahLst/>
              <a:cxnLst/>
              <a:rect l="l" t="t" r="r" b="b"/>
              <a:pathLst>
                <a:path w="1487804" h="257810">
                  <a:moveTo>
                    <a:pt x="1487400" y="257542"/>
                  </a:moveTo>
                  <a:lnTo>
                    <a:pt x="0" y="257542"/>
                  </a:lnTo>
                  <a:lnTo>
                    <a:pt x="0" y="0"/>
                  </a:lnTo>
                  <a:lnTo>
                    <a:pt x="1487400" y="0"/>
                  </a:lnTo>
                  <a:lnTo>
                    <a:pt x="1487400" y="257542"/>
                  </a:lnTo>
                  <a:close/>
                </a:path>
              </a:pathLst>
            </a:custGeom>
            <a:solidFill>
              <a:srgbClr val="FFFF00"/>
            </a:solidFill>
          </p:spPr>
          <p:txBody>
            <a:bodyPr wrap="square" lIns="0" tIns="0" rIns="0" bIns="0" rtlCol="0"/>
            <a:lstStyle/>
            <a:p/>
          </p:txBody>
        </p:sp>
        <p:sp>
          <p:nvSpPr>
            <p:cNvPr id="26" name="object 26" descr=""/>
            <p:cNvSpPr/>
            <p:nvPr/>
          </p:nvSpPr>
          <p:spPr>
            <a:xfrm>
              <a:off x="2325236" y="4213983"/>
              <a:ext cx="1393190" cy="0"/>
            </a:xfrm>
            <a:custGeom>
              <a:avLst/>
              <a:gdLst/>
              <a:ahLst/>
              <a:cxnLst/>
              <a:rect l="l" t="t" r="r" b="b"/>
              <a:pathLst>
                <a:path w="1393189" h="0">
                  <a:moveTo>
                    <a:pt x="0" y="0"/>
                  </a:moveTo>
                  <a:lnTo>
                    <a:pt x="1393121" y="0"/>
                  </a:lnTo>
                </a:path>
              </a:pathLst>
            </a:custGeom>
            <a:ln w="15514">
              <a:solidFill>
                <a:srgbClr val="000000"/>
              </a:solidFill>
            </a:ln>
          </p:spPr>
          <p:txBody>
            <a:bodyPr wrap="square" lIns="0" tIns="0" rIns="0" bIns="0" rtlCol="0"/>
            <a:lstStyle/>
            <a:p/>
          </p:txBody>
        </p:sp>
        <p:sp>
          <p:nvSpPr>
            <p:cNvPr id="27" name="object 27" descr=""/>
            <p:cNvSpPr/>
            <p:nvPr/>
          </p:nvSpPr>
          <p:spPr>
            <a:xfrm>
              <a:off x="2317917" y="3957991"/>
              <a:ext cx="1392555" cy="0"/>
            </a:xfrm>
            <a:custGeom>
              <a:avLst/>
              <a:gdLst/>
              <a:ahLst/>
              <a:cxnLst/>
              <a:rect l="l" t="t" r="r" b="b"/>
              <a:pathLst>
                <a:path w="1392554" h="0">
                  <a:moveTo>
                    <a:pt x="0" y="0"/>
                  </a:moveTo>
                  <a:lnTo>
                    <a:pt x="1392259" y="0"/>
                  </a:lnTo>
                </a:path>
              </a:pathLst>
            </a:custGeom>
            <a:ln w="23271">
              <a:solidFill>
                <a:srgbClr val="000000"/>
              </a:solidFill>
            </a:ln>
          </p:spPr>
          <p:txBody>
            <a:bodyPr wrap="square" lIns="0" tIns="0" rIns="0" bIns="0" rtlCol="0"/>
            <a:lstStyle/>
            <a:p/>
          </p:txBody>
        </p:sp>
        <p:sp>
          <p:nvSpPr>
            <p:cNvPr id="28" name="object 28" descr=""/>
            <p:cNvSpPr/>
            <p:nvPr/>
          </p:nvSpPr>
          <p:spPr>
            <a:xfrm>
              <a:off x="3714051" y="4204674"/>
              <a:ext cx="1788160" cy="277495"/>
            </a:xfrm>
            <a:custGeom>
              <a:avLst/>
              <a:gdLst/>
              <a:ahLst/>
              <a:cxnLst/>
              <a:rect l="l" t="t" r="r" b="b"/>
              <a:pathLst>
                <a:path w="1788160" h="277495">
                  <a:moveTo>
                    <a:pt x="0" y="0"/>
                  </a:moveTo>
                  <a:lnTo>
                    <a:pt x="1787894" y="277195"/>
                  </a:lnTo>
                </a:path>
              </a:pathLst>
            </a:custGeom>
            <a:ln w="15453">
              <a:solidFill>
                <a:srgbClr val="000000"/>
              </a:solidFill>
            </a:ln>
          </p:spPr>
          <p:txBody>
            <a:bodyPr wrap="square" lIns="0" tIns="0" rIns="0" bIns="0" rtlCol="0"/>
            <a:lstStyle/>
            <a:p/>
          </p:txBody>
        </p:sp>
        <p:sp>
          <p:nvSpPr>
            <p:cNvPr id="29" name="object 29" descr=""/>
            <p:cNvSpPr/>
            <p:nvPr/>
          </p:nvSpPr>
          <p:spPr>
            <a:xfrm>
              <a:off x="3703289" y="3954371"/>
              <a:ext cx="1810385" cy="273685"/>
            </a:xfrm>
            <a:custGeom>
              <a:avLst/>
              <a:gdLst/>
              <a:ahLst/>
              <a:cxnLst/>
              <a:rect l="l" t="t" r="r" b="b"/>
              <a:pathLst>
                <a:path w="1810385" h="273685">
                  <a:moveTo>
                    <a:pt x="0" y="0"/>
                  </a:moveTo>
                  <a:lnTo>
                    <a:pt x="1809850" y="273057"/>
                  </a:lnTo>
                </a:path>
              </a:pathLst>
            </a:custGeom>
            <a:ln w="23185">
              <a:solidFill>
                <a:srgbClr val="000000"/>
              </a:solidFill>
            </a:ln>
          </p:spPr>
          <p:txBody>
            <a:bodyPr wrap="square" lIns="0" tIns="0" rIns="0" bIns="0" rtlCol="0"/>
            <a:lstStyle/>
            <a:p/>
          </p:txBody>
        </p:sp>
        <p:sp>
          <p:nvSpPr>
            <p:cNvPr id="30" name="object 30" descr=""/>
            <p:cNvSpPr/>
            <p:nvPr/>
          </p:nvSpPr>
          <p:spPr>
            <a:xfrm>
              <a:off x="3722587" y="3947438"/>
              <a:ext cx="1864360" cy="545465"/>
            </a:xfrm>
            <a:custGeom>
              <a:avLst/>
              <a:gdLst/>
              <a:ahLst/>
              <a:cxnLst/>
              <a:rect l="l" t="t" r="r" b="b"/>
              <a:pathLst>
                <a:path w="1864360" h="545464">
                  <a:moveTo>
                    <a:pt x="1836660" y="544985"/>
                  </a:moveTo>
                  <a:lnTo>
                    <a:pt x="0" y="224674"/>
                  </a:lnTo>
                  <a:lnTo>
                    <a:pt x="27152" y="0"/>
                  </a:lnTo>
                  <a:lnTo>
                    <a:pt x="1863815" y="320309"/>
                  </a:lnTo>
                  <a:lnTo>
                    <a:pt x="1836660" y="544985"/>
                  </a:lnTo>
                  <a:close/>
                </a:path>
              </a:pathLst>
            </a:custGeom>
            <a:solidFill>
              <a:srgbClr val="FFFF00"/>
            </a:solidFill>
          </p:spPr>
          <p:txBody>
            <a:bodyPr wrap="square" lIns="0" tIns="0" rIns="0" bIns="0" rtlCol="0"/>
            <a:lstStyle/>
            <a:p/>
          </p:txBody>
        </p:sp>
        <p:sp>
          <p:nvSpPr>
            <p:cNvPr id="31" name="object 31" descr=""/>
            <p:cNvSpPr/>
            <p:nvPr/>
          </p:nvSpPr>
          <p:spPr>
            <a:xfrm>
              <a:off x="2242148" y="3944544"/>
              <a:ext cx="149225" cy="268605"/>
            </a:xfrm>
            <a:custGeom>
              <a:avLst/>
              <a:gdLst/>
              <a:ahLst/>
              <a:cxnLst/>
              <a:rect l="l" t="t" r="r" b="b"/>
              <a:pathLst>
                <a:path w="149225" h="268604">
                  <a:moveTo>
                    <a:pt x="148954" y="268405"/>
                  </a:moveTo>
                  <a:lnTo>
                    <a:pt x="0" y="268405"/>
                  </a:lnTo>
                  <a:lnTo>
                    <a:pt x="0" y="134202"/>
                  </a:lnTo>
                  <a:lnTo>
                    <a:pt x="5852" y="81963"/>
                  </a:lnTo>
                  <a:lnTo>
                    <a:pt x="21813" y="39305"/>
                  </a:lnTo>
                  <a:lnTo>
                    <a:pt x="45486" y="10545"/>
                  </a:lnTo>
                  <a:lnTo>
                    <a:pt x="74478" y="0"/>
                  </a:lnTo>
                  <a:lnTo>
                    <a:pt x="103468" y="10545"/>
                  </a:lnTo>
                  <a:lnTo>
                    <a:pt x="127141" y="39305"/>
                  </a:lnTo>
                  <a:lnTo>
                    <a:pt x="143102" y="81963"/>
                  </a:lnTo>
                  <a:lnTo>
                    <a:pt x="148954" y="134202"/>
                  </a:lnTo>
                  <a:lnTo>
                    <a:pt x="148954" y="268405"/>
                  </a:lnTo>
                  <a:close/>
                </a:path>
              </a:pathLst>
            </a:custGeom>
            <a:solidFill>
              <a:srgbClr val="FFFFFF"/>
            </a:solidFill>
          </p:spPr>
          <p:txBody>
            <a:bodyPr wrap="square" lIns="0" tIns="0" rIns="0" bIns="0" rtlCol="0"/>
            <a:lstStyle/>
            <a:p/>
          </p:txBody>
        </p:sp>
        <p:sp>
          <p:nvSpPr>
            <p:cNvPr id="32" name="object 32" descr=""/>
            <p:cNvSpPr/>
            <p:nvPr/>
          </p:nvSpPr>
          <p:spPr>
            <a:xfrm>
              <a:off x="2242147" y="3944544"/>
              <a:ext cx="149225" cy="268605"/>
            </a:xfrm>
            <a:custGeom>
              <a:avLst/>
              <a:gdLst/>
              <a:ahLst/>
              <a:cxnLst/>
              <a:rect l="l" t="t" r="r" b="b"/>
              <a:pathLst>
                <a:path w="149225" h="268604">
                  <a:moveTo>
                    <a:pt x="0" y="134202"/>
                  </a:moveTo>
                  <a:lnTo>
                    <a:pt x="5852" y="81963"/>
                  </a:lnTo>
                  <a:lnTo>
                    <a:pt x="21813" y="39305"/>
                  </a:lnTo>
                  <a:lnTo>
                    <a:pt x="45486" y="10545"/>
                  </a:lnTo>
                  <a:lnTo>
                    <a:pt x="74478" y="0"/>
                  </a:lnTo>
                  <a:lnTo>
                    <a:pt x="103468" y="10545"/>
                  </a:lnTo>
                  <a:lnTo>
                    <a:pt x="127141" y="39305"/>
                  </a:lnTo>
                  <a:lnTo>
                    <a:pt x="143102" y="81963"/>
                  </a:lnTo>
                  <a:lnTo>
                    <a:pt x="148954" y="134202"/>
                  </a:lnTo>
                  <a:lnTo>
                    <a:pt x="148954" y="268405"/>
                  </a:lnTo>
                  <a:lnTo>
                    <a:pt x="0" y="268405"/>
                  </a:lnTo>
                  <a:lnTo>
                    <a:pt x="0" y="134202"/>
                  </a:lnTo>
                  <a:close/>
                </a:path>
              </a:pathLst>
            </a:custGeom>
            <a:ln w="13527">
              <a:solidFill>
                <a:srgbClr val="000000"/>
              </a:solidFill>
            </a:ln>
          </p:spPr>
          <p:txBody>
            <a:bodyPr wrap="square" lIns="0" tIns="0" rIns="0" bIns="0" rtlCol="0"/>
            <a:lstStyle/>
            <a:p/>
          </p:txBody>
        </p:sp>
        <p:sp>
          <p:nvSpPr>
            <p:cNvPr id="33" name="object 33" descr=""/>
            <p:cNvSpPr/>
            <p:nvPr/>
          </p:nvSpPr>
          <p:spPr>
            <a:xfrm>
              <a:off x="5429622" y="4227428"/>
              <a:ext cx="189230" cy="263525"/>
            </a:xfrm>
            <a:custGeom>
              <a:avLst/>
              <a:gdLst/>
              <a:ahLst/>
              <a:cxnLst/>
              <a:rect l="l" t="t" r="r" b="b"/>
              <a:pathLst>
                <a:path w="189229" h="263525">
                  <a:moveTo>
                    <a:pt x="188991" y="263232"/>
                  </a:moveTo>
                  <a:lnTo>
                    <a:pt x="0" y="263232"/>
                  </a:lnTo>
                  <a:lnTo>
                    <a:pt x="0" y="131616"/>
                  </a:lnTo>
                  <a:lnTo>
                    <a:pt x="7425" y="80383"/>
                  </a:lnTo>
                  <a:lnTo>
                    <a:pt x="27676" y="38548"/>
                  </a:lnTo>
                  <a:lnTo>
                    <a:pt x="57712" y="10342"/>
                  </a:lnTo>
                  <a:lnTo>
                    <a:pt x="94495" y="0"/>
                  </a:lnTo>
                  <a:lnTo>
                    <a:pt x="131279" y="10342"/>
                  </a:lnTo>
                  <a:lnTo>
                    <a:pt x="161315" y="38548"/>
                  </a:lnTo>
                  <a:lnTo>
                    <a:pt x="181566" y="80383"/>
                  </a:lnTo>
                  <a:lnTo>
                    <a:pt x="188991" y="131616"/>
                  </a:lnTo>
                  <a:lnTo>
                    <a:pt x="188991" y="263232"/>
                  </a:lnTo>
                  <a:close/>
                </a:path>
              </a:pathLst>
            </a:custGeom>
            <a:solidFill>
              <a:srgbClr val="FFFFFF"/>
            </a:solidFill>
          </p:spPr>
          <p:txBody>
            <a:bodyPr wrap="square" lIns="0" tIns="0" rIns="0" bIns="0" rtlCol="0"/>
            <a:lstStyle/>
            <a:p/>
          </p:txBody>
        </p:sp>
        <p:sp>
          <p:nvSpPr>
            <p:cNvPr id="34" name="object 34" descr=""/>
            <p:cNvSpPr/>
            <p:nvPr/>
          </p:nvSpPr>
          <p:spPr>
            <a:xfrm>
              <a:off x="5429621" y="4227429"/>
              <a:ext cx="189230" cy="263525"/>
            </a:xfrm>
            <a:custGeom>
              <a:avLst/>
              <a:gdLst/>
              <a:ahLst/>
              <a:cxnLst/>
              <a:rect l="l" t="t" r="r" b="b"/>
              <a:pathLst>
                <a:path w="189229" h="263525">
                  <a:moveTo>
                    <a:pt x="0" y="131616"/>
                  </a:moveTo>
                  <a:lnTo>
                    <a:pt x="7425" y="80383"/>
                  </a:lnTo>
                  <a:lnTo>
                    <a:pt x="27676" y="38548"/>
                  </a:lnTo>
                  <a:lnTo>
                    <a:pt x="57712" y="10342"/>
                  </a:lnTo>
                  <a:lnTo>
                    <a:pt x="94495" y="0"/>
                  </a:lnTo>
                  <a:lnTo>
                    <a:pt x="131279" y="10342"/>
                  </a:lnTo>
                  <a:lnTo>
                    <a:pt x="161315" y="38548"/>
                  </a:lnTo>
                  <a:lnTo>
                    <a:pt x="181566" y="80383"/>
                  </a:lnTo>
                  <a:lnTo>
                    <a:pt x="188991" y="131616"/>
                  </a:lnTo>
                  <a:lnTo>
                    <a:pt x="188991" y="263232"/>
                  </a:lnTo>
                  <a:lnTo>
                    <a:pt x="0" y="263232"/>
                  </a:lnTo>
                  <a:lnTo>
                    <a:pt x="0" y="131616"/>
                  </a:lnTo>
                  <a:close/>
                </a:path>
              </a:pathLst>
            </a:custGeom>
            <a:ln w="13799">
              <a:solidFill>
                <a:srgbClr val="000000"/>
              </a:solidFill>
            </a:ln>
          </p:spPr>
          <p:txBody>
            <a:bodyPr wrap="square" lIns="0" tIns="0" rIns="0" bIns="0" rtlCol="0"/>
            <a:lstStyle/>
            <a:p/>
          </p:txBody>
        </p:sp>
        <p:sp>
          <p:nvSpPr>
            <p:cNvPr id="35" name="object 35" descr=""/>
            <p:cNvSpPr/>
            <p:nvPr/>
          </p:nvSpPr>
          <p:spPr>
            <a:xfrm>
              <a:off x="2286490" y="4066076"/>
              <a:ext cx="391795" cy="21590"/>
            </a:xfrm>
            <a:custGeom>
              <a:avLst/>
              <a:gdLst/>
              <a:ahLst/>
              <a:cxnLst/>
              <a:rect l="l" t="t" r="r" b="b"/>
              <a:pathLst>
                <a:path w="391794" h="21589">
                  <a:moveTo>
                    <a:pt x="0" y="21204"/>
                  </a:moveTo>
                  <a:lnTo>
                    <a:pt x="391760" y="0"/>
                  </a:lnTo>
                </a:path>
              </a:pathLst>
            </a:custGeom>
            <a:ln w="23260">
              <a:solidFill>
                <a:srgbClr val="0000FF"/>
              </a:solidFill>
              <a:prstDash val="lgDash"/>
            </a:ln>
          </p:spPr>
          <p:txBody>
            <a:bodyPr wrap="square" lIns="0" tIns="0" rIns="0" bIns="0" rtlCol="0"/>
            <a:lstStyle/>
            <a:p/>
          </p:txBody>
        </p:sp>
        <p:sp>
          <p:nvSpPr>
            <p:cNvPr id="36" name="object 36" descr=""/>
            <p:cNvSpPr/>
            <p:nvPr/>
          </p:nvSpPr>
          <p:spPr>
            <a:xfrm>
              <a:off x="2693319" y="4072283"/>
              <a:ext cx="529590" cy="635"/>
            </a:xfrm>
            <a:custGeom>
              <a:avLst/>
              <a:gdLst/>
              <a:ahLst/>
              <a:cxnLst/>
              <a:rect l="l" t="t" r="r" b="b"/>
              <a:pathLst>
                <a:path w="529589" h="635">
                  <a:moveTo>
                    <a:pt x="0" y="516"/>
                  </a:moveTo>
                  <a:lnTo>
                    <a:pt x="529093" y="0"/>
                  </a:lnTo>
                </a:path>
              </a:pathLst>
            </a:custGeom>
            <a:ln w="23271">
              <a:solidFill>
                <a:srgbClr val="0000FF"/>
              </a:solidFill>
              <a:prstDash val="lgDash"/>
            </a:ln>
          </p:spPr>
          <p:txBody>
            <a:bodyPr wrap="square" lIns="0" tIns="0" rIns="0" bIns="0" rtlCol="0"/>
            <a:lstStyle/>
            <a:p/>
          </p:txBody>
        </p:sp>
        <p:sp>
          <p:nvSpPr>
            <p:cNvPr id="37" name="object 37" descr=""/>
            <p:cNvSpPr/>
            <p:nvPr/>
          </p:nvSpPr>
          <p:spPr>
            <a:xfrm>
              <a:off x="2621855" y="4028841"/>
              <a:ext cx="98425" cy="33020"/>
            </a:xfrm>
            <a:custGeom>
              <a:avLst/>
              <a:gdLst/>
              <a:ahLst/>
              <a:cxnLst/>
              <a:rect l="l" t="t" r="r" b="b"/>
              <a:pathLst>
                <a:path w="98425" h="33020">
                  <a:moveTo>
                    <a:pt x="98155" y="32583"/>
                  </a:moveTo>
                  <a:lnTo>
                    <a:pt x="0" y="32583"/>
                  </a:lnTo>
                  <a:lnTo>
                    <a:pt x="0" y="0"/>
                  </a:lnTo>
                  <a:lnTo>
                    <a:pt x="98155" y="0"/>
                  </a:lnTo>
                  <a:lnTo>
                    <a:pt x="98155" y="32583"/>
                  </a:lnTo>
                  <a:close/>
                </a:path>
              </a:pathLst>
            </a:custGeom>
            <a:solidFill>
              <a:srgbClr val="99CCFF"/>
            </a:solidFill>
          </p:spPr>
          <p:txBody>
            <a:bodyPr wrap="square" lIns="0" tIns="0" rIns="0" bIns="0" rtlCol="0"/>
            <a:lstStyle/>
            <a:p/>
          </p:txBody>
        </p:sp>
        <p:sp>
          <p:nvSpPr>
            <p:cNvPr id="38" name="object 38" descr=""/>
            <p:cNvSpPr/>
            <p:nvPr/>
          </p:nvSpPr>
          <p:spPr>
            <a:xfrm>
              <a:off x="2621854" y="4028842"/>
              <a:ext cx="98425" cy="33020"/>
            </a:xfrm>
            <a:custGeom>
              <a:avLst/>
              <a:gdLst/>
              <a:ahLst/>
              <a:cxnLst/>
              <a:rect l="l" t="t" r="r" b="b"/>
              <a:pathLst>
                <a:path w="98425" h="33020">
                  <a:moveTo>
                    <a:pt x="98155" y="0"/>
                  </a:moveTo>
                  <a:lnTo>
                    <a:pt x="0" y="0"/>
                  </a:lnTo>
                  <a:lnTo>
                    <a:pt x="0" y="32580"/>
                  </a:lnTo>
                  <a:lnTo>
                    <a:pt x="98155" y="32580"/>
                  </a:lnTo>
                  <a:lnTo>
                    <a:pt x="98155" y="0"/>
                  </a:lnTo>
                  <a:close/>
                </a:path>
              </a:pathLst>
            </a:custGeom>
            <a:ln w="7628">
              <a:solidFill>
                <a:srgbClr val="000000"/>
              </a:solidFill>
            </a:ln>
          </p:spPr>
          <p:txBody>
            <a:bodyPr wrap="square" lIns="0" tIns="0" rIns="0" bIns="0" rtlCol="0"/>
            <a:lstStyle/>
            <a:p/>
          </p:txBody>
        </p:sp>
        <p:sp>
          <p:nvSpPr>
            <p:cNvPr id="39" name="object 39" descr=""/>
            <p:cNvSpPr/>
            <p:nvPr/>
          </p:nvSpPr>
          <p:spPr>
            <a:xfrm>
              <a:off x="3423457" y="4043324"/>
              <a:ext cx="76200" cy="31750"/>
            </a:xfrm>
            <a:custGeom>
              <a:avLst/>
              <a:gdLst/>
              <a:ahLst/>
              <a:cxnLst/>
              <a:rect l="l" t="t" r="r" b="b"/>
              <a:pathLst>
                <a:path w="76200" h="31750">
                  <a:moveTo>
                    <a:pt x="75769" y="31545"/>
                  </a:moveTo>
                  <a:lnTo>
                    <a:pt x="0" y="31545"/>
                  </a:lnTo>
                  <a:lnTo>
                    <a:pt x="0" y="0"/>
                  </a:lnTo>
                  <a:lnTo>
                    <a:pt x="75769" y="0"/>
                  </a:lnTo>
                  <a:lnTo>
                    <a:pt x="75769" y="31545"/>
                  </a:lnTo>
                  <a:close/>
                </a:path>
              </a:pathLst>
            </a:custGeom>
            <a:solidFill>
              <a:srgbClr val="99CCFF"/>
            </a:solidFill>
          </p:spPr>
          <p:txBody>
            <a:bodyPr wrap="square" lIns="0" tIns="0" rIns="0" bIns="0" rtlCol="0"/>
            <a:lstStyle/>
            <a:p/>
          </p:txBody>
        </p:sp>
        <p:sp>
          <p:nvSpPr>
            <p:cNvPr id="40" name="object 40" descr=""/>
            <p:cNvSpPr/>
            <p:nvPr/>
          </p:nvSpPr>
          <p:spPr>
            <a:xfrm>
              <a:off x="3423457" y="4043321"/>
              <a:ext cx="76200" cy="31750"/>
            </a:xfrm>
            <a:custGeom>
              <a:avLst/>
              <a:gdLst/>
              <a:ahLst/>
              <a:cxnLst/>
              <a:rect l="l" t="t" r="r" b="b"/>
              <a:pathLst>
                <a:path w="76200" h="31750">
                  <a:moveTo>
                    <a:pt x="75769" y="0"/>
                  </a:moveTo>
                  <a:lnTo>
                    <a:pt x="0" y="0"/>
                  </a:lnTo>
                  <a:lnTo>
                    <a:pt x="0" y="31545"/>
                  </a:lnTo>
                  <a:lnTo>
                    <a:pt x="75769" y="31545"/>
                  </a:lnTo>
                  <a:lnTo>
                    <a:pt x="75769" y="0"/>
                  </a:lnTo>
                  <a:close/>
                </a:path>
              </a:pathLst>
            </a:custGeom>
            <a:ln w="7565">
              <a:solidFill>
                <a:srgbClr val="000000"/>
              </a:solidFill>
            </a:ln>
          </p:spPr>
          <p:txBody>
            <a:bodyPr wrap="square" lIns="0" tIns="0" rIns="0" bIns="0" rtlCol="0"/>
            <a:lstStyle/>
            <a:p/>
          </p:txBody>
        </p:sp>
        <p:sp>
          <p:nvSpPr>
            <p:cNvPr id="41" name="object 41" descr=""/>
            <p:cNvSpPr/>
            <p:nvPr/>
          </p:nvSpPr>
          <p:spPr>
            <a:xfrm>
              <a:off x="3245660" y="4066077"/>
              <a:ext cx="180975" cy="0"/>
            </a:xfrm>
            <a:custGeom>
              <a:avLst/>
              <a:gdLst/>
              <a:ahLst/>
              <a:cxnLst/>
              <a:rect l="l" t="t" r="r" b="b"/>
              <a:pathLst>
                <a:path w="180975" h="0">
                  <a:moveTo>
                    <a:pt x="0" y="0"/>
                  </a:moveTo>
                  <a:lnTo>
                    <a:pt x="180812" y="0"/>
                  </a:lnTo>
                </a:path>
              </a:pathLst>
            </a:custGeom>
            <a:ln w="23271">
              <a:solidFill>
                <a:srgbClr val="0000FF"/>
              </a:solidFill>
              <a:prstDash val="lgDash"/>
            </a:ln>
          </p:spPr>
          <p:txBody>
            <a:bodyPr wrap="square" lIns="0" tIns="0" rIns="0" bIns="0" rtlCol="0"/>
            <a:lstStyle/>
            <a:p/>
          </p:txBody>
        </p:sp>
        <p:sp>
          <p:nvSpPr>
            <p:cNvPr id="42" name="object 42" descr=""/>
            <p:cNvSpPr/>
            <p:nvPr/>
          </p:nvSpPr>
          <p:spPr>
            <a:xfrm>
              <a:off x="3503964" y="4061422"/>
              <a:ext cx="299720" cy="0"/>
            </a:xfrm>
            <a:custGeom>
              <a:avLst/>
              <a:gdLst/>
              <a:ahLst/>
              <a:cxnLst/>
              <a:rect l="l" t="t" r="r" b="b"/>
              <a:pathLst>
                <a:path w="299720" h="0">
                  <a:moveTo>
                    <a:pt x="0" y="0"/>
                  </a:moveTo>
                  <a:lnTo>
                    <a:pt x="299632" y="0"/>
                  </a:lnTo>
                </a:path>
              </a:pathLst>
            </a:custGeom>
            <a:ln w="23271">
              <a:solidFill>
                <a:srgbClr val="0000FF"/>
              </a:solidFill>
              <a:prstDash val="lgDash"/>
            </a:ln>
          </p:spPr>
          <p:txBody>
            <a:bodyPr wrap="square" lIns="0" tIns="0" rIns="0" bIns="0" rtlCol="0"/>
            <a:lstStyle/>
            <a:p/>
          </p:txBody>
        </p:sp>
        <p:pic>
          <p:nvPicPr>
            <p:cNvPr id="43" name="object 43" descr=""/>
            <p:cNvPicPr/>
            <p:nvPr/>
          </p:nvPicPr>
          <p:blipFill>
            <a:blip r:embed="rId5" cstate="print"/>
            <a:stretch>
              <a:fillRect/>
            </a:stretch>
          </p:blipFill>
          <p:spPr>
            <a:xfrm>
              <a:off x="5072324" y="4164107"/>
              <a:ext cx="85190" cy="88125"/>
            </a:xfrm>
            <a:prstGeom prst="rect">
              <a:avLst/>
            </a:prstGeom>
          </p:spPr>
        </p:pic>
        <p:sp>
          <p:nvSpPr>
            <p:cNvPr id="44" name="object 44" descr=""/>
            <p:cNvSpPr/>
            <p:nvPr/>
          </p:nvSpPr>
          <p:spPr>
            <a:xfrm>
              <a:off x="4268602" y="4140678"/>
              <a:ext cx="77470" cy="38100"/>
            </a:xfrm>
            <a:custGeom>
              <a:avLst/>
              <a:gdLst/>
              <a:ahLst/>
              <a:cxnLst/>
              <a:rect l="l" t="t" r="r" b="b"/>
              <a:pathLst>
                <a:path w="77470" h="38100">
                  <a:moveTo>
                    <a:pt x="75170" y="38007"/>
                  </a:moveTo>
                  <a:lnTo>
                    <a:pt x="0" y="31992"/>
                  </a:lnTo>
                  <a:lnTo>
                    <a:pt x="1773" y="0"/>
                  </a:lnTo>
                  <a:lnTo>
                    <a:pt x="76945" y="6014"/>
                  </a:lnTo>
                  <a:lnTo>
                    <a:pt x="75170" y="38007"/>
                  </a:lnTo>
                  <a:close/>
                </a:path>
              </a:pathLst>
            </a:custGeom>
            <a:solidFill>
              <a:srgbClr val="99CCFF"/>
            </a:solidFill>
          </p:spPr>
          <p:txBody>
            <a:bodyPr wrap="square" lIns="0" tIns="0" rIns="0" bIns="0" rtlCol="0"/>
            <a:lstStyle/>
            <a:p/>
          </p:txBody>
        </p:sp>
        <p:sp>
          <p:nvSpPr>
            <p:cNvPr id="45" name="object 45" descr=""/>
            <p:cNvSpPr/>
            <p:nvPr/>
          </p:nvSpPr>
          <p:spPr>
            <a:xfrm>
              <a:off x="4268601" y="4140678"/>
              <a:ext cx="77470" cy="38100"/>
            </a:xfrm>
            <a:custGeom>
              <a:avLst/>
              <a:gdLst/>
              <a:ahLst/>
              <a:cxnLst/>
              <a:rect l="l" t="t" r="r" b="b"/>
              <a:pathLst>
                <a:path w="77470" h="38100">
                  <a:moveTo>
                    <a:pt x="76945" y="6014"/>
                  </a:moveTo>
                  <a:lnTo>
                    <a:pt x="1773" y="0"/>
                  </a:lnTo>
                  <a:lnTo>
                    <a:pt x="0" y="31992"/>
                  </a:lnTo>
                  <a:lnTo>
                    <a:pt x="75172" y="38007"/>
                  </a:lnTo>
                  <a:lnTo>
                    <a:pt x="76945" y="6014"/>
                  </a:lnTo>
                  <a:close/>
                </a:path>
              </a:pathLst>
            </a:custGeom>
            <a:ln w="7502">
              <a:solidFill>
                <a:srgbClr val="000000"/>
              </a:solidFill>
            </a:ln>
          </p:spPr>
          <p:txBody>
            <a:bodyPr wrap="square" lIns="0" tIns="0" rIns="0" bIns="0" rtlCol="0"/>
            <a:lstStyle/>
            <a:p/>
          </p:txBody>
        </p:sp>
        <p:sp>
          <p:nvSpPr>
            <p:cNvPr id="46" name="object 46" descr=""/>
            <p:cNvSpPr/>
            <p:nvPr/>
          </p:nvSpPr>
          <p:spPr>
            <a:xfrm>
              <a:off x="3779057" y="4072283"/>
              <a:ext cx="497205" cy="73025"/>
            </a:xfrm>
            <a:custGeom>
              <a:avLst/>
              <a:gdLst/>
              <a:ahLst/>
              <a:cxnLst/>
              <a:rect l="l" t="t" r="r" b="b"/>
              <a:pathLst>
                <a:path w="497204" h="73025">
                  <a:moveTo>
                    <a:pt x="496805" y="72918"/>
                  </a:moveTo>
                  <a:lnTo>
                    <a:pt x="0" y="0"/>
                  </a:lnTo>
                </a:path>
              </a:pathLst>
            </a:custGeom>
            <a:ln w="23189">
              <a:solidFill>
                <a:srgbClr val="0000FF"/>
              </a:solidFill>
              <a:prstDash val="lgDash"/>
            </a:ln>
          </p:spPr>
          <p:txBody>
            <a:bodyPr wrap="square" lIns="0" tIns="0" rIns="0" bIns="0" rtlCol="0"/>
            <a:lstStyle/>
            <a:p/>
          </p:txBody>
        </p:sp>
        <p:sp>
          <p:nvSpPr>
            <p:cNvPr id="47" name="object 47" descr=""/>
            <p:cNvSpPr/>
            <p:nvPr/>
          </p:nvSpPr>
          <p:spPr>
            <a:xfrm>
              <a:off x="4350771" y="4167956"/>
              <a:ext cx="725805" cy="106045"/>
            </a:xfrm>
            <a:custGeom>
              <a:avLst/>
              <a:gdLst/>
              <a:ahLst/>
              <a:cxnLst/>
              <a:rect l="l" t="t" r="r" b="b"/>
              <a:pathLst>
                <a:path w="725804" h="106045">
                  <a:moveTo>
                    <a:pt x="0" y="0"/>
                  </a:moveTo>
                  <a:lnTo>
                    <a:pt x="725404" y="106015"/>
                  </a:lnTo>
                </a:path>
              </a:pathLst>
            </a:custGeom>
            <a:ln w="23190">
              <a:solidFill>
                <a:srgbClr val="0000FF"/>
              </a:solidFill>
              <a:prstDash val="lgDash"/>
            </a:ln>
          </p:spPr>
          <p:txBody>
            <a:bodyPr wrap="square" lIns="0" tIns="0" rIns="0" bIns="0" rtlCol="0"/>
            <a:lstStyle/>
            <a:p/>
          </p:txBody>
        </p:sp>
        <p:sp>
          <p:nvSpPr>
            <p:cNvPr id="48" name="object 48" descr=""/>
            <p:cNvSpPr/>
            <p:nvPr/>
          </p:nvSpPr>
          <p:spPr>
            <a:xfrm>
              <a:off x="5074526" y="4249797"/>
              <a:ext cx="77470" cy="38100"/>
            </a:xfrm>
            <a:custGeom>
              <a:avLst/>
              <a:gdLst/>
              <a:ahLst/>
              <a:cxnLst/>
              <a:rect l="l" t="t" r="r" b="b"/>
              <a:pathLst>
                <a:path w="77470" h="38100">
                  <a:moveTo>
                    <a:pt x="75170" y="37490"/>
                  </a:moveTo>
                  <a:lnTo>
                    <a:pt x="0" y="31476"/>
                  </a:lnTo>
                  <a:lnTo>
                    <a:pt x="1744" y="0"/>
                  </a:lnTo>
                  <a:lnTo>
                    <a:pt x="76916" y="6014"/>
                  </a:lnTo>
                  <a:lnTo>
                    <a:pt x="75170" y="37490"/>
                  </a:lnTo>
                  <a:close/>
                </a:path>
              </a:pathLst>
            </a:custGeom>
            <a:solidFill>
              <a:srgbClr val="99CCFF"/>
            </a:solidFill>
          </p:spPr>
          <p:txBody>
            <a:bodyPr wrap="square" lIns="0" tIns="0" rIns="0" bIns="0" rtlCol="0"/>
            <a:lstStyle/>
            <a:p/>
          </p:txBody>
        </p:sp>
        <p:sp>
          <p:nvSpPr>
            <p:cNvPr id="49" name="object 49" descr=""/>
            <p:cNvSpPr/>
            <p:nvPr/>
          </p:nvSpPr>
          <p:spPr>
            <a:xfrm>
              <a:off x="5074525" y="4249797"/>
              <a:ext cx="77470" cy="38100"/>
            </a:xfrm>
            <a:custGeom>
              <a:avLst/>
              <a:gdLst/>
              <a:ahLst/>
              <a:cxnLst/>
              <a:rect l="l" t="t" r="r" b="b"/>
              <a:pathLst>
                <a:path w="77470" h="38100">
                  <a:moveTo>
                    <a:pt x="76916" y="6014"/>
                  </a:moveTo>
                  <a:lnTo>
                    <a:pt x="1744" y="0"/>
                  </a:lnTo>
                  <a:lnTo>
                    <a:pt x="0" y="31476"/>
                  </a:lnTo>
                  <a:lnTo>
                    <a:pt x="75172" y="37490"/>
                  </a:lnTo>
                  <a:lnTo>
                    <a:pt x="76916" y="6014"/>
                  </a:lnTo>
                  <a:close/>
                </a:path>
              </a:pathLst>
            </a:custGeom>
            <a:ln w="7507">
              <a:solidFill>
                <a:srgbClr val="000000"/>
              </a:solidFill>
            </a:ln>
          </p:spPr>
          <p:txBody>
            <a:bodyPr wrap="square" lIns="0" tIns="0" rIns="0" bIns="0" rtlCol="0"/>
            <a:lstStyle/>
            <a:p/>
          </p:txBody>
        </p:sp>
        <p:sp>
          <p:nvSpPr>
            <p:cNvPr id="50" name="object 50" descr=""/>
            <p:cNvSpPr/>
            <p:nvPr/>
          </p:nvSpPr>
          <p:spPr>
            <a:xfrm>
              <a:off x="5142904" y="4286902"/>
              <a:ext cx="398780" cy="42545"/>
            </a:xfrm>
            <a:custGeom>
              <a:avLst/>
              <a:gdLst/>
              <a:ahLst/>
              <a:cxnLst/>
              <a:rect l="l" t="t" r="r" b="b"/>
              <a:pathLst>
                <a:path w="398779" h="42545">
                  <a:moveTo>
                    <a:pt x="0" y="0"/>
                  </a:moveTo>
                  <a:lnTo>
                    <a:pt x="398218" y="42405"/>
                  </a:lnTo>
                </a:path>
              </a:pathLst>
            </a:custGeom>
            <a:ln w="23228">
              <a:solidFill>
                <a:srgbClr val="0000FF"/>
              </a:solidFill>
              <a:prstDash val="lgDash"/>
            </a:ln>
          </p:spPr>
          <p:txBody>
            <a:bodyPr wrap="square" lIns="0" tIns="0" rIns="0" bIns="0" rtlCol="0"/>
            <a:lstStyle/>
            <a:p/>
          </p:txBody>
        </p:sp>
        <p:sp>
          <p:nvSpPr>
            <p:cNvPr id="51" name="object 51" descr=""/>
            <p:cNvSpPr/>
            <p:nvPr/>
          </p:nvSpPr>
          <p:spPr>
            <a:xfrm>
              <a:off x="2284233" y="4021126"/>
              <a:ext cx="3175" cy="66675"/>
            </a:xfrm>
            <a:custGeom>
              <a:avLst/>
              <a:gdLst/>
              <a:ahLst/>
              <a:cxnLst/>
              <a:rect l="l" t="t" r="r" b="b"/>
              <a:pathLst>
                <a:path w="3175" h="66675">
                  <a:moveTo>
                    <a:pt x="2793" y="0"/>
                  </a:moveTo>
                  <a:lnTo>
                    <a:pt x="0" y="66628"/>
                  </a:lnTo>
                </a:path>
              </a:pathLst>
            </a:custGeom>
            <a:ln w="19379">
              <a:solidFill>
                <a:srgbClr val="993366"/>
              </a:solidFill>
            </a:ln>
          </p:spPr>
          <p:txBody>
            <a:bodyPr wrap="square" lIns="0" tIns="0" rIns="0" bIns="0" rtlCol="0"/>
            <a:lstStyle/>
            <a:p/>
          </p:txBody>
        </p:sp>
        <p:sp>
          <p:nvSpPr>
            <p:cNvPr id="52" name="object 52" descr=""/>
            <p:cNvSpPr/>
            <p:nvPr/>
          </p:nvSpPr>
          <p:spPr>
            <a:xfrm>
              <a:off x="2249132" y="4020650"/>
              <a:ext cx="37465" cy="15240"/>
            </a:xfrm>
            <a:custGeom>
              <a:avLst/>
              <a:gdLst/>
              <a:ahLst/>
              <a:cxnLst/>
              <a:rect l="l" t="t" r="r" b="b"/>
              <a:pathLst>
                <a:path w="37464" h="15239">
                  <a:moveTo>
                    <a:pt x="37261" y="0"/>
                  </a:moveTo>
                  <a:lnTo>
                    <a:pt x="0" y="14831"/>
                  </a:lnTo>
                </a:path>
              </a:pathLst>
            </a:custGeom>
            <a:ln w="22738">
              <a:solidFill>
                <a:srgbClr val="993366"/>
              </a:solidFill>
            </a:ln>
          </p:spPr>
          <p:txBody>
            <a:bodyPr wrap="square" lIns="0" tIns="0" rIns="0" bIns="0" rtlCol="0"/>
            <a:lstStyle/>
            <a:p/>
          </p:txBody>
        </p:sp>
        <p:sp>
          <p:nvSpPr>
            <p:cNvPr id="53" name="object 53" descr=""/>
            <p:cNvSpPr/>
            <p:nvPr/>
          </p:nvSpPr>
          <p:spPr>
            <a:xfrm>
              <a:off x="2248342" y="4036103"/>
              <a:ext cx="1905" cy="33655"/>
            </a:xfrm>
            <a:custGeom>
              <a:avLst/>
              <a:gdLst/>
              <a:ahLst/>
              <a:cxnLst/>
              <a:rect l="l" t="t" r="r" b="b"/>
              <a:pathLst>
                <a:path w="1905" h="33654">
                  <a:moveTo>
                    <a:pt x="1386" y="0"/>
                  </a:moveTo>
                  <a:lnTo>
                    <a:pt x="0" y="33054"/>
                  </a:lnTo>
                </a:path>
              </a:pathLst>
            </a:custGeom>
            <a:ln w="19379">
              <a:solidFill>
                <a:srgbClr val="993366"/>
              </a:solidFill>
            </a:ln>
          </p:spPr>
          <p:txBody>
            <a:bodyPr wrap="square" lIns="0" tIns="0" rIns="0" bIns="0" rtlCol="0"/>
            <a:lstStyle/>
            <a:p/>
          </p:txBody>
        </p:sp>
        <p:sp>
          <p:nvSpPr>
            <p:cNvPr id="54" name="object 54" descr=""/>
            <p:cNvSpPr/>
            <p:nvPr/>
          </p:nvSpPr>
          <p:spPr>
            <a:xfrm>
              <a:off x="2247852" y="4054781"/>
              <a:ext cx="37465" cy="14604"/>
            </a:xfrm>
            <a:custGeom>
              <a:avLst/>
              <a:gdLst/>
              <a:ahLst/>
              <a:cxnLst/>
              <a:rect l="l" t="t" r="r" b="b"/>
              <a:pathLst>
                <a:path w="37464" h="14604">
                  <a:moveTo>
                    <a:pt x="37239" y="0"/>
                  </a:moveTo>
                  <a:lnTo>
                    <a:pt x="0" y="14315"/>
                  </a:lnTo>
                </a:path>
              </a:pathLst>
            </a:custGeom>
            <a:ln w="22769">
              <a:solidFill>
                <a:srgbClr val="993366"/>
              </a:solidFill>
            </a:ln>
          </p:spPr>
          <p:txBody>
            <a:bodyPr wrap="square" lIns="0" tIns="0" rIns="0" bIns="0" rtlCol="0"/>
            <a:lstStyle/>
            <a:p/>
          </p:txBody>
        </p:sp>
        <p:sp>
          <p:nvSpPr>
            <p:cNvPr id="55" name="object 55" descr=""/>
            <p:cNvSpPr/>
            <p:nvPr/>
          </p:nvSpPr>
          <p:spPr>
            <a:xfrm>
              <a:off x="2255005" y="4007653"/>
              <a:ext cx="1270" cy="23495"/>
            </a:xfrm>
            <a:custGeom>
              <a:avLst/>
              <a:gdLst/>
              <a:ahLst/>
              <a:cxnLst/>
              <a:rect l="l" t="t" r="r" b="b"/>
              <a:pathLst>
                <a:path w="1269" h="23495">
                  <a:moveTo>
                    <a:pt x="975" y="0"/>
                  </a:moveTo>
                  <a:lnTo>
                    <a:pt x="0" y="23242"/>
                  </a:lnTo>
                </a:path>
              </a:pathLst>
            </a:custGeom>
            <a:ln w="19379">
              <a:solidFill>
                <a:srgbClr val="993366"/>
              </a:solidFill>
            </a:ln>
          </p:spPr>
          <p:txBody>
            <a:bodyPr wrap="square" lIns="0" tIns="0" rIns="0" bIns="0" rtlCol="0"/>
            <a:lstStyle/>
            <a:p/>
          </p:txBody>
        </p:sp>
        <p:sp>
          <p:nvSpPr>
            <p:cNvPr id="56" name="object 56" descr=""/>
            <p:cNvSpPr/>
            <p:nvPr/>
          </p:nvSpPr>
          <p:spPr>
            <a:xfrm>
              <a:off x="2256246" y="4006181"/>
              <a:ext cx="31115" cy="16510"/>
            </a:xfrm>
            <a:custGeom>
              <a:avLst/>
              <a:gdLst/>
              <a:ahLst/>
              <a:cxnLst/>
              <a:rect l="l" t="t" r="r" b="b"/>
              <a:pathLst>
                <a:path w="31114" h="16510">
                  <a:moveTo>
                    <a:pt x="30781" y="16361"/>
                  </a:moveTo>
                  <a:lnTo>
                    <a:pt x="0" y="0"/>
                  </a:lnTo>
                </a:path>
              </a:pathLst>
            </a:custGeom>
            <a:ln w="22413">
              <a:solidFill>
                <a:srgbClr val="993366"/>
              </a:solidFill>
            </a:ln>
          </p:spPr>
          <p:txBody>
            <a:bodyPr wrap="square" lIns="0" tIns="0" rIns="0" bIns="0" rtlCol="0"/>
            <a:lstStyle/>
            <a:p/>
          </p:txBody>
        </p:sp>
        <p:sp>
          <p:nvSpPr>
            <p:cNvPr id="57" name="object 57" descr=""/>
            <p:cNvSpPr/>
            <p:nvPr/>
          </p:nvSpPr>
          <p:spPr>
            <a:xfrm>
              <a:off x="5508729" y="4274015"/>
              <a:ext cx="3175" cy="66675"/>
            </a:xfrm>
            <a:custGeom>
              <a:avLst/>
              <a:gdLst/>
              <a:ahLst/>
              <a:cxnLst/>
              <a:rect l="l" t="t" r="r" b="b"/>
              <a:pathLst>
                <a:path w="3175" h="66675">
                  <a:moveTo>
                    <a:pt x="2793" y="0"/>
                  </a:moveTo>
                  <a:lnTo>
                    <a:pt x="0" y="66628"/>
                  </a:lnTo>
                </a:path>
              </a:pathLst>
            </a:custGeom>
            <a:ln w="19379">
              <a:solidFill>
                <a:srgbClr val="993366"/>
              </a:solidFill>
            </a:ln>
          </p:spPr>
          <p:txBody>
            <a:bodyPr wrap="square" lIns="0" tIns="0" rIns="0" bIns="0" rtlCol="0"/>
            <a:lstStyle/>
            <a:p/>
          </p:txBody>
        </p:sp>
        <p:sp>
          <p:nvSpPr>
            <p:cNvPr id="58" name="object 58" descr=""/>
            <p:cNvSpPr/>
            <p:nvPr/>
          </p:nvSpPr>
          <p:spPr>
            <a:xfrm>
              <a:off x="5511364" y="4274081"/>
              <a:ext cx="30480" cy="19050"/>
            </a:xfrm>
            <a:custGeom>
              <a:avLst/>
              <a:gdLst/>
              <a:ahLst/>
              <a:cxnLst/>
              <a:rect l="l" t="t" r="r" b="b"/>
              <a:pathLst>
                <a:path w="30479" h="19050">
                  <a:moveTo>
                    <a:pt x="0" y="0"/>
                  </a:moveTo>
                  <a:lnTo>
                    <a:pt x="30242" y="18917"/>
                  </a:lnTo>
                </a:path>
              </a:pathLst>
            </a:custGeom>
            <a:ln w="22175">
              <a:solidFill>
                <a:srgbClr val="993366"/>
              </a:solidFill>
            </a:ln>
          </p:spPr>
          <p:txBody>
            <a:bodyPr wrap="square" lIns="0" tIns="0" rIns="0" bIns="0" rtlCol="0"/>
            <a:lstStyle/>
            <a:p/>
          </p:txBody>
        </p:sp>
        <p:sp>
          <p:nvSpPr>
            <p:cNvPr id="59" name="object 59" descr=""/>
            <p:cNvSpPr/>
            <p:nvPr/>
          </p:nvSpPr>
          <p:spPr>
            <a:xfrm>
              <a:off x="5540429" y="4293129"/>
              <a:ext cx="1905" cy="33655"/>
            </a:xfrm>
            <a:custGeom>
              <a:avLst/>
              <a:gdLst/>
              <a:ahLst/>
              <a:cxnLst/>
              <a:rect l="l" t="t" r="r" b="b"/>
              <a:pathLst>
                <a:path w="1904" h="33654">
                  <a:moveTo>
                    <a:pt x="1386" y="0"/>
                  </a:moveTo>
                  <a:lnTo>
                    <a:pt x="0" y="33054"/>
                  </a:lnTo>
                </a:path>
              </a:pathLst>
            </a:custGeom>
            <a:ln w="19379">
              <a:solidFill>
                <a:srgbClr val="993366"/>
              </a:solidFill>
            </a:ln>
          </p:spPr>
          <p:txBody>
            <a:bodyPr wrap="square" lIns="0" tIns="0" rIns="0" bIns="0" rtlCol="0"/>
            <a:lstStyle/>
            <a:p/>
          </p:txBody>
        </p:sp>
        <p:sp>
          <p:nvSpPr>
            <p:cNvPr id="60" name="object 60" descr=""/>
            <p:cNvSpPr/>
            <p:nvPr/>
          </p:nvSpPr>
          <p:spPr>
            <a:xfrm>
              <a:off x="5510062" y="4308213"/>
              <a:ext cx="30480" cy="18415"/>
            </a:xfrm>
            <a:custGeom>
              <a:avLst/>
              <a:gdLst/>
              <a:ahLst/>
              <a:cxnLst/>
              <a:rect l="l" t="t" r="r" b="b"/>
              <a:pathLst>
                <a:path w="30479" h="18414">
                  <a:moveTo>
                    <a:pt x="0" y="0"/>
                  </a:moveTo>
                  <a:lnTo>
                    <a:pt x="30264" y="18401"/>
                  </a:lnTo>
                </a:path>
              </a:pathLst>
            </a:custGeom>
            <a:ln w="22219">
              <a:solidFill>
                <a:srgbClr val="993366"/>
              </a:solidFill>
            </a:ln>
          </p:spPr>
          <p:txBody>
            <a:bodyPr wrap="square" lIns="0" tIns="0" rIns="0" bIns="0" rtlCol="0"/>
            <a:lstStyle/>
            <a:p/>
          </p:txBody>
        </p:sp>
        <p:sp>
          <p:nvSpPr>
            <p:cNvPr id="61" name="object 61" descr=""/>
            <p:cNvSpPr/>
            <p:nvPr/>
          </p:nvSpPr>
          <p:spPr>
            <a:xfrm>
              <a:off x="5537621" y="4264162"/>
              <a:ext cx="1270" cy="23495"/>
            </a:xfrm>
            <a:custGeom>
              <a:avLst/>
              <a:gdLst/>
              <a:ahLst/>
              <a:cxnLst/>
              <a:rect l="l" t="t" r="r" b="b"/>
              <a:pathLst>
                <a:path w="1270" h="23495">
                  <a:moveTo>
                    <a:pt x="975" y="0"/>
                  </a:moveTo>
                  <a:lnTo>
                    <a:pt x="0" y="23242"/>
                  </a:lnTo>
                </a:path>
              </a:pathLst>
            </a:custGeom>
            <a:ln w="19379">
              <a:solidFill>
                <a:srgbClr val="993366"/>
              </a:solidFill>
            </a:ln>
          </p:spPr>
          <p:txBody>
            <a:bodyPr wrap="square" lIns="0" tIns="0" rIns="0" bIns="0" rtlCol="0"/>
            <a:lstStyle/>
            <a:p/>
          </p:txBody>
        </p:sp>
        <p:sp>
          <p:nvSpPr>
            <p:cNvPr id="62" name="object 62" descr=""/>
            <p:cNvSpPr/>
            <p:nvPr/>
          </p:nvSpPr>
          <p:spPr>
            <a:xfrm>
              <a:off x="5511132" y="4262377"/>
              <a:ext cx="27305" cy="13335"/>
            </a:xfrm>
            <a:custGeom>
              <a:avLst/>
              <a:gdLst/>
              <a:ahLst/>
              <a:cxnLst/>
              <a:rect l="l" t="t" r="r" b="b"/>
              <a:pathLst>
                <a:path w="27304" h="13335">
                  <a:moveTo>
                    <a:pt x="0" y="12848"/>
                  </a:moveTo>
                  <a:lnTo>
                    <a:pt x="27264" y="0"/>
                  </a:lnTo>
                </a:path>
              </a:pathLst>
            </a:custGeom>
            <a:ln w="22563">
              <a:solidFill>
                <a:srgbClr val="993366"/>
              </a:solidFill>
            </a:ln>
          </p:spPr>
          <p:txBody>
            <a:bodyPr wrap="square" lIns="0" tIns="0" rIns="0" bIns="0" rtlCol="0"/>
            <a:lstStyle/>
            <a:p/>
          </p:txBody>
        </p:sp>
        <p:pic>
          <p:nvPicPr>
            <p:cNvPr id="63" name="object 63" descr=""/>
            <p:cNvPicPr/>
            <p:nvPr/>
          </p:nvPicPr>
          <p:blipFill>
            <a:blip r:embed="rId6" cstate="print"/>
            <a:stretch>
              <a:fillRect/>
            </a:stretch>
          </p:blipFill>
          <p:spPr>
            <a:xfrm>
              <a:off x="2635662" y="3932430"/>
              <a:ext cx="84743" cy="98935"/>
            </a:xfrm>
            <a:prstGeom prst="rect">
              <a:avLst/>
            </a:prstGeom>
          </p:spPr>
        </p:pic>
        <p:pic>
          <p:nvPicPr>
            <p:cNvPr id="64" name="object 64" descr=""/>
            <p:cNvPicPr/>
            <p:nvPr/>
          </p:nvPicPr>
          <p:blipFill>
            <a:blip r:embed="rId7" cstate="print"/>
            <a:stretch>
              <a:fillRect/>
            </a:stretch>
          </p:blipFill>
          <p:spPr>
            <a:xfrm>
              <a:off x="4275894" y="4057064"/>
              <a:ext cx="84743" cy="98935"/>
            </a:xfrm>
            <a:prstGeom prst="rect">
              <a:avLst/>
            </a:prstGeom>
          </p:spPr>
        </p:pic>
        <p:pic>
          <p:nvPicPr>
            <p:cNvPr id="65" name="object 65" descr=""/>
            <p:cNvPicPr/>
            <p:nvPr/>
          </p:nvPicPr>
          <p:blipFill>
            <a:blip r:embed="rId7" cstate="print"/>
            <a:stretch>
              <a:fillRect/>
            </a:stretch>
          </p:blipFill>
          <p:spPr>
            <a:xfrm>
              <a:off x="3423490" y="3947944"/>
              <a:ext cx="84743" cy="98935"/>
            </a:xfrm>
            <a:prstGeom prst="rect">
              <a:avLst/>
            </a:prstGeom>
          </p:spPr>
        </p:pic>
        <p:sp>
          <p:nvSpPr>
            <p:cNvPr id="66" name="object 66" descr=""/>
            <p:cNvSpPr/>
            <p:nvPr/>
          </p:nvSpPr>
          <p:spPr>
            <a:xfrm>
              <a:off x="2081236" y="3872551"/>
              <a:ext cx="250825" cy="45720"/>
            </a:xfrm>
            <a:custGeom>
              <a:avLst/>
              <a:gdLst/>
              <a:ahLst/>
              <a:cxnLst/>
              <a:rect l="l" t="t" r="r" b="b"/>
              <a:pathLst>
                <a:path w="250825" h="45720">
                  <a:moveTo>
                    <a:pt x="186296" y="45470"/>
                  </a:moveTo>
                  <a:lnTo>
                    <a:pt x="64043" y="45470"/>
                  </a:lnTo>
                  <a:lnTo>
                    <a:pt x="0" y="0"/>
                  </a:lnTo>
                  <a:lnTo>
                    <a:pt x="250328" y="0"/>
                  </a:lnTo>
                  <a:lnTo>
                    <a:pt x="186296" y="45470"/>
                  </a:lnTo>
                  <a:close/>
                </a:path>
              </a:pathLst>
            </a:custGeom>
            <a:solidFill>
              <a:srgbClr val="B4B5B4"/>
            </a:solidFill>
          </p:spPr>
          <p:txBody>
            <a:bodyPr wrap="square" lIns="0" tIns="0" rIns="0" bIns="0" rtlCol="0"/>
            <a:lstStyle/>
            <a:p/>
          </p:txBody>
        </p:sp>
        <p:sp>
          <p:nvSpPr>
            <p:cNvPr id="67" name="object 67" descr=""/>
            <p:cNvSpPr/>
            <p:nvPr/>
          </p:nvSpPr>
          <p:spPr>
            <a:xfrm>
              <a:off x="2081240" y="3872552"/>
              <a:ext cx="250825" cy="45720"/>
            </a:xfrm>
            <a:custGeom>
              <a:avLst/>
              <a:gdLst/>
              <a:ahLst/>
              <a:cxnLst/>
              <a:rect l="l" t="t" r="r" b="b"/>
              <a:pathLst>
                <a:path w="250825" h="45720">
                  <a:moveTo>
                    <a:pt x="0" y="0"/>
                  </a:moveTo>
                  <a:lnTo>
                    <a:pt x="250328" y="0"/>
                  </a:lnTo>
                </a:path>
                <a:path w="250825" h="45720">
                  <a:moveTo>
                    <a:pt x="64037" y="45470"/>
                  </a:moveTo>
                  <a:lnTo>
                    <a:pt x="186290" y="45470"/>
                  </a:lnTo>
                </a:path>
              </a:pathLst>
            </a:custGeom>
            <a:ln w="3175">
              <a:solidFill>
                <a:srgbClr val="000000"/>
              </a:solidFill>
            </a:ln>
          </p:spPr>
          <p:txBody>
            <a:bodyPr wrap="square" lIns="0" tIns="0" rIns="0" bIns="0" rtlCol="0"/>
            <a:lstStyle/>
            <a:p/>
          </p:txBody>
        </p:sp>
        <p:sp>
          <p:nvSpPr>
            <p:cNvPr id="68" name="object 68" descr=""/>
            <p:cNvSpPr/>
            <p:nvPr/>
          </p:nvSpPr>
          <p:spPr>
            <a:xfrm>
              <a:off x="2267530" y="3872551"/>
              <a:ext cx="64135" cy="215265"/>
            </a:xfrm>
            <a:custGeom>
              <a:avLst/>
              <a:gdLst/>
              <a:ahLst/>
              <a:cxnLst/>
              <a:rect l="l" t="t" r="r" b="b"/>
              <a:pathLst>
                <a:path w="64135" h="215264">
                  <a:moveTo>
                    <a:pt x="64037" y="214956"/>
                  </a:moveTo>
                  <a:lnTo>
                    <a:pt x="0" y="165348"/>
                  </a:lnTo>
                  <a:lnTo>
                    <a:pt x="0" y="45470"/>
                  </a:lnTo>
                  <a:lnTo>
                    <a:pt x="64037" y="0"/>
                  </a:lnTo>
                  <a:lnTo>
                    <a:pt x="64037" y="214956"/>
                  </a:lnTo>
                  <a:close/>
                </a:path>
              </a:pathLst>
            </a:custGeom>
            <a:solidFill>
              <a:srgbClr val="B4B5B4"/>
            </a:solidFill>
          </p:spPr>
          <p:txBody>
            <a:bodyPr wrap="square" lIns="0" tIns="0" rIns="0" bIns="0" rtlCol="0"/>
            <a:lstStyle/>
            <a:p/>
          </p:txBody>
        </p:sp>
        <p:sp>
          <p:nvSpPr>
            <p:cNvPr id="69" name="object 69" descr=""/>
            <p:cNvSpPr/>
            <p:nvPr/>
          </p:nvSpPr>
          <p:spPr>
            <a:xfrm>
              <a:off x="2267530" y="3872553"/>
              <a:ext cx="64135" cy="215265"/>
            </a:xfrm>
            <a:custGeom>
              <a:avLst/>
              <a:gdLst/>
              <a:ahLst/>
              <a:cxnLst/>
              <a:rect l="l" t="t" r="r" b="b"/>
              <a:pathLst>
                <a:path w="64135" h="215264">
                  <a:moveTo>
                    <a:pt x="64037" y="0"/>
                  </a:moveTo>
                  <a:lnTo>
                    <a:pt x="64037" y="214952"/>
                  </a:lnTo>
                </a:path>
                <a:path w="64135" h="215264">
                  <a:moveTo>
                    <a:pt x="0" y="45470"/>
                  </a:moveTo>
                  <a:lnTo>
                    <a:pt x="0" y="165348"/>
                  </a:lnTo>
                </a:path>
              </a:pathLst>
            </a:custGeom>
            <a:ln w="3175">
              <a:solidFill>
                <a:srgbClr val="000000"/>
              </a:solidFill>
            </a:ln>
          </p:spPr>
          <p:txBody>
            <a:bodyPr wrap="square" lIns="0" tIns="0" rIns="0" bIns="0" rtlCol="0"/>
            <a:lstStyle/>
            <a:p/>
          </p:txBody>
        </p:sp>
        <p:sp>
          <p:nvSpPr>
            <p:cNvPr id="70" name="object 70" descr=""/>
            <p:cNvSpPr/>
            <p:nvPr/>
          </p:nvSpPr>
          <p:spPr>
            <a:xfrm>
              <a:off x="2081237" y="4037898"/>
              <a:ext cx="250825" cy="50165"/>
            </a:xfrm>
            <a:custGeom>
              <a:avLst/>
              <a:gdLst/>
              <a:ahLst/>
              <a:cxnLst/>
              <a:rect l="l" t="t" r="r" b="b"/>
              <a:pathLst>
                <a:path w="250825" h="50164">
                  <a:moveTo>
                    <a:pt x="250328" y="49608"/>
                  </a:moveTo>
                  <a:lnTo>
                    <a:pt x="0" y="49608"/>
                  </a:lnTo>
                  <a:lnTo>
                    <a:pt x="64043" y="0"/>
                  </a:lnTo>
                  <a:lnTo>
                    <a:pt x="186290" y="0"/>
                  </a:lnTo>
                  <a:lnTo>
                    <a:pt x="250328" y="49608"/>
                  </a:lnTo>
                  <a:close/>
                </a:path>
              </a:pathLst>
            </a:custGeom>
            <a:solidFill>
              <a:srgbClr val="B4B5B4"/>
            </a:solidFill>
          </p:spPr>
          <p:txBody>
            <a:bodyPr wrap="square" lIns="0" tIns="0" rIns="0" bIns="0" rtlCol="0"/>
            <a:lstStyle/>
            <a:p/>
          </p:txBody>
        </p:sp>
        <p:sp>
          <p:nvSpPr>
            <p:cNvPr id="71" name="object 71" descr=""/>
            <p:cNvSpPr/>
            <p:nvPr/>
          </p:nvSpPr>
          <p:spPr>
            <a:xfrm>
              <a:off x="2081239" y="4037901"/>
              <a:ext cx="250825" cy="50165"/>
            </a:xfrm>
            <a:custGeom>
              <a:avLst/>
              <a:gdLst/>
              <a:ahLst/>
              <a:cxnLst/>
              <a:rect l="l" t="t" r="r" b="b"/>
              <a:pathLst>
                <a:path w="250825" h="50164">
                  <a:moveTo>
                    <a:pt x="250328" y="49604"/>
                  </a:moveTo>
                  <a:lnTo>
                    <a:pt x="0" y="49604"/>
                  </a:lnTo>
                </a:path>
                <a:path w="250825" h="50164">
                  <a:moveTo>
                    <a:pt x="186290" y="0"/>
                  </a:moveTo>
                  <a:lnTo>
                    <a:pt x="64037" y="0"/>
                  </a:lnTo>
                </a:path>
              </a:pathLst>
            </a:custGeom>
            <a:ln w="3175">
              <a:solidFill>
                <a:srgbClr val="000000"/>
              </a:solidFill>
            </a:ln>
          </p:spPr>
          <p:txBody>
            <a:bodyPr wrap="square" lIns="0" tIns="0" rIns="0" bIns="0" rtlCol="0"/>
            <a:lstStyle/>
            <a:p/>
          </p:txBody>
        </p:sp>
        <p:sp>
          <p:nvSpPr>
            <p:cNvPr id="72" name="object 72" descr=""/>
            <p:cNvSpPr/>
            <p:nvPr/>
          </p:nvSpPr>
          <p:spPr>
            <a:xfrm>
              <a:off x="2081236" y="3872553"/>
              <a:ext cx="64135" cy="215265"/>
            </a:xfrm>
            <a:custGeom>
              <a:avLst/>
              <a:gdLst/>
              <a:ahLst/>
              <a:cxnLst/>
              <a:rect l="l" t="t" r="r" b="b"/>
              <a:pathLst>
                <a:path w="64135" h="215264">
                  <a:moveTo>
                    <a:pt x="0" y="214952"/>
                  </a:moveTo>
                  <a:lnTo>
                    <a:pt x="0" y="0"/>
                  </a:lnTo>
                  <a:lnTo>
                    <a:pt x="64043" y="45470"/>
                  </a:lnTo>
                  <a:lnTo>
                    <a:pt x="64043" y="165348"/>
                  </a:lnTo>
                  <a:lnTo>
                    <a:pt x="0" y="214952"/>
                  </a:lnTo>
                  <a:close/>
                </a:path>
              </a:pathLst>
            </a:custGeom>
            <a:solidFill>
              <a:srgbClr val="B4B5B4"/>
            </a:solidFill>
          </p:spPr>
          <p:txBody>
            <a:bodyPr wrap="square" lIns="0" tIns="0" rIns="0" bIns="0" rtlCol="0"/>
            <a:lstStyle/>
            <a:p/>
          </p:txBody>
        </p:sp>
        <p:sp>
          <p:nvSpPr>
            <p:cNvPr id="73" name="object 73" descr=""/>
            <p:cNvSpPr/>
            <p:nvPr/>
          </p:nvSpPr>
          <p:spPr>
            <a:xfrm>
              <a:off x="2081238" y="3872554"/>
              <a:ext cx="64135" cy="215265"/>
            </a:xfrm>
            <a:custGeom>
              <a:avLst/>
              <a:gdLst/>
              <a:ahLst/>
              <a:cxnLst/>
              <a:rect l="l" t="t" r="r" b="b"/>
              <a:pathLst>
                <a:path w="64135" h="215264">
                  <a:moveTo>
                    <a:pt x="0" y="214952"/>
                  </a:moveTo>
                  <a:lnTo>
                    <a:pt x="0" y="0"/>
                  </a:lnTo>
                </a:path>
                <a:path w="64135" h="215264">
                  <a:moveTo>
                    <a:pt x="64037" y="165348"/>
                  </a:moveTo>
                  <a:lnTo>
                    <a:pt x="64037" y="45470"/>
                  </a:lnTo>
                </a:path>
              </a:pathLst>
            </a:custGeom>
            <a:ln w="3175">
              <a:solidFill>
                <a:srgbClr val="000000"/>
              </a:solidFill>
            </a:ln>
          </p:spPr>
          <p:txBody>
            <a:bodyPr wrap="square" lIns="0" tIns="0" rIns="0" bIns="0" rtlCol="0"/>
            <a:lstStyle/>
            <a:p/>
          </p:txBody>
        </p:sp>
      </p:grpSp>
      <p:sp>
        <p:nvSpPr>
          <p:cNvPr id="74" name="object 74" descr=""/>
          <p:cNvSpPr txBox="1"/>
          <p:nvPr/>
        </p:nvSpPr>
        <p:spPr>
          <a:xfrm>
            <a:off x="2088464" y="3912462"/>
            <a:ext cx="245745" cy="118110"/>
          </a:xfrm>
          <a:prstGeom prst="rect">
            <a:avLst/>
          </a:prstGeom>
        </p:spPr>
        <p:txBody>
          <a:bodyPr wrap="square" lIns="0" tIns="13335" rIns="0" bIns="0" rtlCol="0" vert="horz">
            <a:spAutoFit/>
          </a:bodyPr>
          <a:lstStyle/>
          <a:p>
            <a:pPr>
              <a:lnSpc>
                <a:spcPct val="100000"/>
              </a:lnSpc>
              <a:spcBef>
                <a:spcPts val="105"/>
              </a:spcBef>
            </a:pPr>
            <a:r>
              <a:rPr dirty="0" sz="600" spc="150" b="1">
                <a:solidFill>
                  <a:srgbClr val="FF0000"/>
                </a:solidFill>
                <a:latin typeface="Microsoft YaHei"/>
                <a:cs typeface="Microsoft YaHei"/>
              </a:rPr>
              <a:t>BBU</a:t>
            </a:r>
            <a:endParaRPr sz="600">
              <a:latin typeface="Microsoft YaHei"/>
              <a:cs typeface="Microsoft YaHei"/>
            </a:endParaRPr>
          </a:p>
        </p:txBody>
      </p:sp>
      <p:grpSp>
        <p:nvGrpSpPr>
          <p:cNvPr id="75" name="object 75" descr=""/>
          <p:cNvGrpSpPr/>
          <p:nvPr/>
        </p:nvGrpSpPr>
        <p:grpSpPr>
          <a:xfrm>
            <a:off x="2191638" y="3764773"/>
            <a:ext cx="2859405" cy="461645"/>
            <a:chOff x="2191638" y="3764773"/>
            <a:chExt cx="2859405" cy="461645"/>
          </a:xfrm>
        </p:grpSpPr>
        <p:sp>
          <p:nvSpPr>
            <p:cNvPr id="76" name="object 76" descr=""/>
            <p:cNvSpPr/>
            <p:nvPr/>
          </p:nvSpPr>
          <p:spPr>
            <a:xfrm>
              <a:off x="2197670" y="4008966"/>
              <a:ext cx="2847340" cy="210820"/>
            </a:xfrm>
            <a:custGeom>
              <a:avLst/>
              <a:gdLst/>
              <a:ahLst/>
              <a:cxnLst/>
              <a:rect l="l" t="t" r="r" b="b"/>
              <a:pathLst>
                <a:path w="2847340" h="210820">
                  <a:moveTo>
                    <a:pt x="0" y="0"/>
                  </a:moveTo>
                  <a:lnTo>
                    <a:pt x="1583472" y="0"/>
                  </a:lnTo>
                  <a:lnTo>
                    <a:pt x="2846757" y="128144"/>
                  </a:lnTo>
                  <a:lnTo>
                    <a:pt x="2829292" y="210818"/>
                  </a:lnTo>
                </a:path>
              </a:pathLst>
            </a:custGeom>
            <a:ln w="11931">
              <a:solidFill>
                <a:srgbClr val="00FFFF"/>
              </a:solidFill>
            </a:ln>
          </p:spPr>
          <p:txBody>
            <a:bodyPr wrap="square" lIns="0" tIns="0" rIns="0" bIns="0" rtlCol="0"/>
            <a:lstStyle/>
            <a:p/>
          </p:txBody>
        </p:sp>
        <p:sp>
          <p:nvSpPr>
            <p:cNvPr id="77" name="object 77" descr=""/>
            <p:cNvSpPr/>
            <p:nvPr/>
          </p:nvSpPr>
          <p:spPr>
            <a:xfrm>
              <a:off x="4252691" y="4050303"/>
              <a:ext cx="87630" cy="4445"/>
            </a:xfrm>
            <a:custGeom>
              <a:avLst/>
              <a:gdLst/>
              <a:ahLst/>
              <a:cxnLst/>
              <a:rect l="l" t="t" r="r" b="b"/>
              <a:pathLst>
                <a:path w="87629" h="4445">
                  <a:moveTo>
                    <a:pt x="0" y="4133"/>
                  </a:moveTo>
                  <a:lnTo>
                    <a:pt x="87323" y="0"/>
                  </a:lnTo>
                </a:path>
              </a:pathLst>
            </a:custGeom>
            <a:ln w="11915">
              <a:solidFill>
                <a:srgbClr val="800080"/>
              </a:solidFill>
            </a:ln>
          </p:spPr>
          <p:txBody>
            <a:bodyPr wrap="square" lIns="0" tIns="0" rIns="0" bIns="0" rtlCol="0"/>
            <a:lstStyle/>
            <a:p/>
          </p:txBody>
        </p:sp>
        <p:sp>
          <p:nvSpPr>
            <p:cNvPr id="78" name="object 78" descr=""/>
            <p:cNvSpPr/>
            <p:nvPr/>
          </p:nvSpPr>
          <p:spPr>
            <a:xfrm>
              <a:off x="3408560" y="3984164"/>
              <a:ext cx="52705" cy="25400"/>
            </a:xfrm>
            <a:custGeom>
              <a:avLst/>
              <a:gdLst/>
              <a:ahLst/>
              <a:cxnLst/>
              <a:rect l="l" t="t" r="r" b="b"/>
              <a:pathLst>
                <a:path w="52704" h="25400">
                  <a:moveTo>
                    <a:pt x="0" y="24802"/>
                  </a:moveTo>
                  <a:lnTo>
                    <a:pt x="52394" y="0"/>
                  </a:lnTo>
                </a:path>
              </a:pathLst>
            </a:custGeom>
            <a:ln w="12794">
              <a:solidFill>
                <a:srgbClr val="800080"/>
              </a:solidFill>
            </a:ln>
          </p:spPr>
          <p:txBody>
            <a:bodyPr wrap="square" lIns="0" tIns="0" rIns="0" bIns="0" rtlCol="0"/>
            <a:lstStyle/>
            <a:p/>
          </p:txBody>
        </p:sp>
        <p:sp>
          <p:nvSpPr>
            <p:cNvPr id="79" name="object 79" descr=""/>
            <p:cNvSpPr/>
            <p:nvPr/>
          </p:nvSpPr>
          <p:spPr>
            <a:xfrm>
              <a:off x="2657575" y="3930426"/>
              <a:ext cx="23495" cy="78740"/>
            </a:xfrm>
            <a:custGeom>
              <a:avLst/>
              <a:gdLst/>
              <a:ahLst/>
              <a:cxnLst/>
              <a:rect l="l" t="t" r="r" b="b"/>
              <a:pathLst>
                <a:path w="23494" h="78739">
                  <a:moveTo>
                    <a:pt x="0" y="78540"/>
                  </a:moveTo>
                  <a:lnTo>
                    <a:pt x="23286" y="0"/>
                  </a:lnTo>
                </a:path>
              </a:pathLst>
            </a:custGeom>
            <a:ln w="16373">
              <a:solidFill>
                <a:srgbClr val="800080"/>
              </a:solidFill>
            </a:ln>
          </p:spPr>
          <p:txBody>
            <a:bodyPr wrap="square" lIns="0" tIns="0" rIns="0" bIns="0" rtlCol="0"/>
            <a:lstStyle/>
            <a:p/>
          </p:txBody>
        </p:sp>
        <p:sp>
          <p:nvSpPr>
            <p:cNvPr id="80" name="object 80" descr=""/>
            <p:cNvSpPr/>
            <p:nvPr/>
          </p:nvSpPr>
          <p:spPr>
            <a:xfrm>
              <a:off x="2424711" y="3773346"/>
              <a:ext cx="46990" cy="165735"/>
            </a:xfrm>
            <a:custGeom>
              <a:avLst/>
              <a:gdLst/>
              <a:ahLst/>
              <a:cxnLst/>
              <a:rect l="l" t="t" r="r" b="b"/>
              <a:pathLst>
                <a:path w="46989" h="165735">
                  <a:moveTo>
                    <a:pt x="46572" y="0"/>
                  </a:moveTo>
                  <a:lnTo>
                    <a:pt x="0" y="165348"/>
                  </a:lnTo>
                </a:path>
              </a:pathLst>
            </a:custGeom>
            <a:ln w="16408">
              <a:solidFill>
                <a:srgbClr val="000000"/>
              </a:solidFill>
            </a:ln>
          </p:spPr>
          <p:txBody>
            <a:bodyPr wrap="square" lIns="0" tIns="0" rIns="0" bIns="0" rtlCol="0"/>
            <a:lstStyle/>
            <a:p/>
          </p:txBody>
        </p:sp>
        <p:sp>
          <p:nvSpPr>
            <p:cNvPr id="81" name="object 81" descr=""/>
            <p:cNvSpPr/>
            <p:nvPr/>
          </p:nvSpPr>
          <p:spPr>
            <a:xfrm>
              <a:off x="2389780" y="3926291"/>
              <a:ext cx="76200" cy="83185"/>
            </a:xfrm>
            <a:custGeom>
              <a:avLst/>
              <a:gdLst/>
              <a:ahLst/>
              <a:cxnLst/>
              <a:rect l="l" t="t" r="r" b="b"/>
              <a:pathLst>
                <a:path w="76200" h="83185">
                  <a:moveTo>
                    <a:pt x="17470" y="82678"/>
                  </a:moveTo>
                  <a:lnTo>
                    <a:pt x="0" y="0"/>
                  </a:lnTo>
                  <a:lnTo>
                    <a:pt x="75680" y="12405"/>
                  </a:lnTo>
                  <a:lnTo>
                    <a:pt x="17470" y="82678"/>
                  </a:lnTo>
                  <a:close/>
                </a:path>
              </a:pathLst>
            </a:custGeom>
            <a:solidFill>
              <a:srgbClr val="000000"/>
            </a:solidFill>
          </p:spPr>
          <p:txBody>
            <a:bodyPr wrap="square" lIns="0" tIns="0" rIns="0" bIns="0" rtlCol="0"/>
            <a:lstStyle/>
            <a:p/>
          </p:txBody>
        </p:sp>
      </p:grpSp>
      <p:sp>
        <p:nvSpPr>
          <p:cNvPr id="82" name="object 82" descr=""/>
          <p:cNvSpPr txBox="1"/>
          <p:nvPr/>
        </p:nvSpPr>
        <p:spPr>
          <a:xfrm>
            <a:off x="1830288" y="3380746"/>
            <a:ext cx="4239260" cy="412115"/>
          </a:xfrm>
          <a:prstGeom prst="rect">
            <a:avLst/>
          </a:prstGeom>
        </p:spPr>
        <p:txBody>
          <a:bodyPr wrap="square" lIns="0" tIns="12065" rIns="0" bIns="0" rtlCol="0" vert="horz">
            <a:spAutoFit/>
          </a:bodyPr>
          <a:lstStyle/>
          <a:p>
            <a:pPr marL="213995" indent="-213995">
              <a:lnSpc>
                <a:spcPct val="100000"/>
              </a:lnSpc>
              <a:spcBef>
                <a:spcPts val="95"/>
              </a:spcBef>
              <a:buFont typeface="Wingdings"/>
              <a:buChar char=""/>
              <a:tabLst>
                <a:tab pos="213995" algn="l"/>
              </a:tabLst>
            </a:pPr>
            <a:r>
              <a:rPr dirty="0" sz="1100" spc="-25">
                <a:latin typeface="Microsoft YaHei"/>
                <a:cs typeface="Microsoft YaHei"/>
              </a:rPr>
              <a:t>在隧道中采用光纤分布系统+泄漏电缆覆盖方式进行无线信号覆盖</a:t>
            </a:r>
            <a:endParaRPr sz="1100">
              <a:latin typeface="Microsoft YaHei"/>
              <a:cs typeface="Microsoft YaHei"/>
            </a:endParaRPr>
          </a:p>
          <a:p>
            <a:pPr marL="594360">
              <a:lnSpc>
                <a:spcPct val="100000"/>
              </a:lnSpc>
              <a:spcBef>
                <a:spcPts val="1005"/>
              </a:spcBef>
              <a:tabLst>
                <a:tab pos="1078230" algn="l"/>
              </a:tabLst>
            </a:pPr>
            <a:r>
              <a:rPr dirty="0" baseline="4629" sz="900" spc="375" b="1">
                <a:latin typeface="Microsoft YaHei"/>
                <a:cs typeface="Microsoft YaHei"/>
              </a:rPr>
              <a:t>光</a:t>
            </a:r>
            <a:r>
              <a:rPr dirty="0" baseline="4629" sz="900" spc="300" b="1">
                <a:latin typeface="Microsoft YaHei"/>
                <a:cs typeface="Microsoft YaHei"/>
              </a:rPr>
              <a:t>纤</a:t>
            </a:r>
            <a:r>
              <a:rPr dirty="0" baseline="4629" sz="900" b="1">
                <a:latin typeface="Microsoft YaHei"/>
                <a:cs typeface="Microsoft YaHei"/>
              </a:rPr>
              <a:t>	</a:t>
            </a:r>
            <a:r>
              <a:rPr dirty="0" sz="600" spc="145" b="1">
                <a:latin typeface="Microsoft YaHei"/>
                <a:cs typeface="Microsoft YaHei"/>
              </a:rPr>
              <a:t>RRU</a:t>
            </a:r>
            <a:endParaRPr sz="600">
              <a:latin typeface="Microsoft YaHei"/>
              <a:cs typeface="Microsoft YaHei"/>
            </a:endParaRPr>
          </a:p>
        </p:txBody>
      </p:sp>
      <p:sp>
        <p:nvSpPr>
          <p:cNvPr id="83" name="object 83" descr=""/>
          <p:cNvSpPr txBox="1"/>
          <p:nvPr/>
        </p:nvSpPr>
        <p:spPr>
          <a:xfrm>
            <a:off x="3113640" y="4297043"/>
            <a:ext cx="447675" cy="118110"/>
          </a:xfrm>
          <a:prstGeom prst="rect">
            <a:avLst/>
          </a:prstGeom>
        </p:spPr>
        <p:txBody>
          <a:bodyPr wrap="square" lIns="0" tIns="13335" rIns="0" bIns="0" rtlCol="0" vert="horz">
            <a:spAutoFit/>
          </a:bodyPr>
          <a:lstStyle/>
          <a:p>
            <a:pPr>
              <a:lnSpc>
                <a:spcPct val="100000"/>
              </a:lnSpc>
              <a:spcBef>
                <a:spcPts val="105"/>
              </a:spcBef>
            </a:pPr>
            <a:r>
              <a:rPr dirty="0" sz="600" spc="235" b="1">
                <a:latin typeface="Microsoft YaHei"/>
                <a:cs typeface="Microsoft YaHei"/>
              </a:rPr>
              <a:t>泄漏电缆</a:t>
            </a:r>
            <a:endParaRPr sz="600">
              <a:latin typeface="Microsoft YaHei"/>
              <a:cs typeface="Microsoft YaHei"/>
            </a:endParaRPr>
          </a:p>
        </p:txBody>
      </p:sp>
      <p:grpSp>
        <p:nvGrpSpPr>
          <p:cNvPr id="84" name="object 84" descr=""/>
          <p:cNvGrpSpPr/>
          <p:nvPr/>
        </p:nvGrpSpPr>
        <p:grpSpPr>
          <a:xfrm>
            <a:off x="2680861" y="1550669"/>
            <a:ext cx="6063615" cy="2785745"/>
            <a:chOff x="2680861" y="1550669"/>
            <a:chExt cx="6063615" cy="2785745"/>
          </a:xfrm>
        </p:grpSpPr>
        <p:sp>
          <p:nvSpPr>
            <p:cNvPr id="85" name="object 85" descr=""/>
            <p:cNvSpPr/>
            <p:nvPr/>
          </p:nvSpPr>
          <p:spPr>
            <a:xfrm>
              <a:off x="3268841" y="4145379"/>
              <a:ext cx="41275" cy="182245"/>
            </a:xfrm>
            <a:custGeom>
              <a:avLst/>
              <a:gdLst/>
              <a:ahLst/>
              <a:cxnLst/>
              <a:rect l="l" t="t" r="r" b="b"/>
              <a:pathLst>
                <a:path w="41275" h="182245">
                  <a:moveTo>
                    <a:pt x="40751" y="181882"/>
                  </a:moveTo>
                  <a:lnTo>
                    <a:pt x="0" y="0"/>
                  </a:lnTo>
                </a:path>
              </a:pathLst>
            </a:custGeom>
            <a:ln w="16533">
              <a:solidFill>
                <a:srgbClr val="000000"/>
              </a:solidFill>
            </a:ln>
          </p:spPr>
          <p:txBody>
            <a:bodyPr wrap="square" lIns="0" tIns="0" rIns="0" bIns="0" rtlCol="0"/>
            <a:lstStyle/>
            <a:p/>
          </p:txBody>
        </p:sp>
        <p:sp>
          <p:nvSpPr>
            <p:cNvPr id="86" name="object 86" descr=""/>
            <p:cNvSpPr/>
            <p:nvPr/>
          </p:nvSpPr>
          <p:spPr>
            <a:xfrm>
              <a:off x="3233907" y="4075105"/>
              <a:ext cx="70485" cy="83185"/>
            </a:xfrm>
            <a:custGeom>
              <a:avLst/>
              <a:gdLst/>
              <a:ahLst/>
              <a:cxnLst/>
              <a:rect l="l" t="t" r="r" b="b"/>
              <a:pathLst>
                <a:path w="70485" h="83185">
                  <a:moveTo>
                    <a:pt x="0" y="82678"/>
                  </a:moveTo>
                  <a:lnTo>
                    <a:pt x="17470" y="0"/>
                  </a:lnTo>
                  <a:lnTo>
                    <a:pt x="69864" y="70272"/>
                  </a:lnTo>
                  <a:lnTo>
                    <a:pt x="0" y="82678"/>
                  </a:lnTo>
                  <a:close/>
                </a:path>
              </a:pathLst>
            </a:custGeom>
            <a:solidFill>
              <a:srgbClr val="000000"/>
            </a:solidFill>
          </p:spPr>
          <p:txBody>
            <a:bodyPr wrap="square" lIns="0" tIns="0" rIns="0" bIns="0" rtlCol="0"/>
            <a:lstStyle/>
            <a:p/>
          </p:txBody>
        </p:sp>
        <p:sp>
          <p:nvSpPr>
            <p:cNvPr id="87" name="object 87" descr=""/>
            <p:cNvSpPr/>
            <p:nvPr/>
          </p:nvSpPr>
          <p:spPr>
            <a:xfrm>
              <a:off x="2756541" y="3785747"/>
              <a:ext cx="133985" cy="95250"/>
            </a:xfrm>
            <a:custGeom>
              <a:avLst/>
              <a:gdLst/>
              <a:ahLst/>
              <a:cxnLst/>
              <a:rect l="l" t="t" r="r" b="b"/>
              <a:pathLst>
                <a:path w="133985" h="95250">
                  <a:moveTo>
                    <a:pt x="133896" y="0"/>
                  </a:moveTo>
                  <a:lnTo>
                    <a:pt x="0" y="95075"/>
                  </a:lnTo>
                </a:path>
              </a:pathLst>
            </a:custGeom>
            <a:ln w="13534">
              <a:solidFill>
                <a:srgbClr val="000000"/>
              </a:solidFill>
            </a:ln>
          </p:spPr>
          <p:txBody>
            <a:bodyPr wrap="square" lIns="0" tIns="0" rIns="0" bIns="0" rtlCol="0"/>
            <a:lstStyle/>
            <a:p/>
          </p:txBody>
        </p:sp>
        <p:sp>
          <p:nvSpPr>
            <p:cNvPr id="88" name="object 88" descr=""/>
            <p:cNvSpPr/>
            <p:nvPr/>
          </p:nvSpPr>
          <p:spPr>
            <a:xfrm>
              <a:off x="2680861" y="3860156"/>
              <a:ext cx="105410" cy="70485"/>
            </a:xfrm>
            <a:custGeom>
              <a:avLst/>
              <a:gdLst/>
              <a:ahLst/>
              <a:cxnLst/>
              <a:rect l="l" t="t" r="r" b="b"/>
              <a:pathLst>
                <a:path w="105410" h="70485">
                  <a:moveTo>
                    <a:pt x="0" y="70272"/>
                  </a:moveTo>
                  <a:lnTo>
                    <a:pt x="52394" y="0"/>
                  </a:lnTo>
                  <a:lnTo>
                    <a:pt x="104788" y="37203"/>
                  </a:lnTo>
                  <a:lnTo>
                    <a:pt x="0" y="70272"/>
                  </a:lnTo>
                  <a:close/>
                </a:path>
              </a:pathLst>
            </a:custGeom>
            <a:solidFill>
              <a:srgbClr val="000000"/>
            </a:solidFill>
          </p:spPr>
          <p:txBody>
            <a:bodyPr wrap="square" lIns="0" tIns="0" rIns="0" bIns="0" rtlCol="0"/>
            <a:lstStyle/>
            <a:p/>
          </p:txBody>
        </p:sp>
        <p:pic>
          <p:nvPicPr>
            <p:cNvPr id="89" name="object 89"/>
            <p:cNvPicPr/>
            <p:nvPr/>
          </p:nvPicPr>
          <p:blipFill>
            <a:blip r:embed="rId8" cstate="print"/>
            <a:stretch>
              <a:fillRect/>
            </a:stretch>
          </p:blipFill>
          <p:spPr>
            <a:xfrm>
              <a:off x="5853683" y="1550669"/>
              <a:ext cx="2865119" cy="1163573"/>
            </a:xfrm>
            <a:prstGeom prst="rect">
              <a:avLst/>
            </a:prstGeom>
          </p:spPr>
        </p:pic>
        <p:pic>
          <p:nvPicPr>
            <p:cNvPr id="90" name="object 90" descr=""/>
            <p:cNvPicPr/>
            <p:nvPr/>
          </p:nvPicPr>
          <p:blipFill>
            <a:blip r:embed="rId9" cstate="print"/>
            <a:stretch>
              <a:fillRect/>
            </a:stretch>
          </p:blipFill>
          <p:spPr>
            <a:xfrm>
              <a:off x="5867292" y="1564462"/>
              <a:ext cx="2876656" cy="1175689"/>
            </a:xfrm>
            <a:prstGeom prst="rect">
              <a:avLst/>
            </a:prstGeom>
          </p:spPr>
        </p:pic>
      </p:grpSp>
      <p:sp>
        <p:nvSpPr>
          <p:cNvPr id="91" name="object 91" descr=""/>
          <p:cNvSpPr txBox="1"/>
          <p:nvPr/>
        </p:nvSpPr>
        <p:spPr>
          <a:xfrm>
            <a:off x="5693496" y="4234770"/>
            <a:ext cx="368300" cy="238760"/>
          </a:xfrm>
          <a:prstGeom prst="rect">
            <a:avLst/>
          </a:prstGeom>
        </p:spPr>
        <p:txBody>
          <a:bodyPr wrap="square" lIns="0" tIns="12065" rIns="0" bIns="0" rtlCol="0" vert="horz">
            <a:spAutoFit/>
          </a:bodyPr>
          <a:lstStyle/>
          <a:p>
            <a:pPr>
              <a:lnSpc>
                <a:spcPct val="100000"/>
              </a:lnSpc>
              <a:spcBef>
                <a:spcPts val="95"/>
              </a:spcBef>
            </a:pPr>
            <a:r>
              <a:rPr dirty="0" sz="1400" spc="-35" b="1">
                <a:latin typeface="Microsoft YaHei"/>
                <a:cs typeface="Microsoft YaHei"/>
              </a:rPr>
              <a:t>隧道</a:t>
            </a:r>
            <a:endParaRPr sz="1400">
              <a:latin typeface="Microsoft YaHei"/>
              <a:cs typeface="Microsoft YaHei"/>
            </a:endParaRPr>
          </a:p>
        </p:txBody>
      </p:sp>
      <p:sp>
        <p:nvSpPr>
          <p:cNvPr id="92" name="object 92" descr=""/>
          <p:cNvSpPr txBox="1"/>
          <p:nvPr/>
        </p:nvSpPr>
        <p:spPr>
          <a:xfrm>
            <a:off x="3060001" y="798576"/>
            <a:ext cx="5778500" cy="627380"/>
          </a:xfrm>
          <a:prstGeom prst="rect">
            <a:avLst/>
          </a:prstGeom>
        </p:spPr>
        <p:txBody>
          <a:bodyPr wrap="square" lIns="0" tIns="111760" rIns="0" bIns="0" rtlCol="0" vert="horz">
            <a:spAutoFit/>
          </a:bodyPr>
          <a:lstStyle/>
          <a:p>
            <a:pPr marL="238125" indent="-225425">
              <a:lnSpc>
                <a:spcPct val="100000"/>
              </a:lnSpc>
              <a:spcBef>
                <a:spcPts val="880"/>
              </a:spcBef>
              <a:buSzPct val="94444"/>
              <a:buFont typeface="Wingdings"/>
              <a:buChar char=""/>
              <a:tabLst>
                <a:tab pos="238125" algn="l"/>
              </a:tabLst>
            </a:pPr>
            <a:r>
              <a:rPr dirty="0" sz="1800" spc="-5" b="1">
                <a:latin typeface="Microsoft YaHei"/>
                <a:cs typeface="Microsoft YaHei"/>
              </a:rPr>
              <a:t>站台及换乘区域覆盖实施方案</a:t>
            </a:r>
            <a:endParaRPr sz="1800">
              <a:latin typeface="Microsoft YaHei"/>
              <a:cs typeface="Microsoft YaHei"/>
            </a:endParaRPr>
          </a:p>
          <a:p>
            <a:pPr lvl="1" marL="2726690" indent="-257810">
              <a:lnSpc>
                <a:spcPct val="100000"/>
              </a:lnSpc>
              <a:spcBef>
                <a:spcPts val="475"/>
              </a:spcBef>
              <a:buFont typeface="Wingdings"/>
              <a:buChar char=""/>
              <a:tabLst>
                <a:tab pos="2726690" algn="l"/>
              </a:tabLst>
            </a:pPr>
            <a:r>
              <a:rPr dirty="0" sz="1100" spc="-20">
                <a:latin typeface="Microsoft YaHei"/>
                <a:cs typeface="Microsoft YaHei"/>
              </a:rPr>
              <a:t>采用多模皮基站(</a:t>
            </a:r>
            <a:r>
              <a:rPr dirty="0" sz="1100">
                <a:latin typeface="Microsoft YaHei"/>
                <a:cs typeface="Microsoft YaHei"/>
              </a:rPr>
              <a:t>4TR</a:t>
            </a:r>
            <a:r>
              <a:rPr dirty="0" sz="1100" spc="165">
                <a:latin typeface="Microsoft YaHei"/>
                <a:cs typeface="Microsoft YaHei"/>
              </a:rPr>
              <a:t> </a:t>
            </a:r>
            <a:r>
              <a:rPr dirty="0" sz="1100" spc="-10">
                <a:latin typeface="Microsoft YaHei"/>
                <a:cs typeface="Microsoft YaHei"/>
              </a:rPr>
              <a:t>Pico)</a:t>
            </a:r>
            <a:r>
              <a:rPr dirty="0" sz="1100" spc="-25">
                <a:latin typeface="Microsoft YaHei"/>
                <a:cs typeface="Microsoft YaHei"/>
              </a:rPr>
              <a:t>方式进行无线网络覆盖</a:t>
            </a:r>
            <a:endParaRPr sz="1100">
              <a:latin typeface="Microsoft YaHei"/>
              <a:cs typeface="Microsoft YaHei"/>
            </a:endParaRPr>
          </a:p>
        </p:txBody>
      </p:sp>
      <p:sp>
        <p:nvSpPr>
          <p:cNvPr id="93" name="object 93" descr=""/>
          <p:cNvSpPr txBox="1"/>
          <p:nvPr/>
        </p:nvSpPr>
        <p:spPr>
          <a:xfrm>
            <a:off x="6388891" y="3390189"/>
            <a:ext cx="722630" cy="193040"/>
          </a:xfrm>
          <a:prstGeom prst="rect">
            <a:avLst/>
          </a:prstGeom>
        </p:spPr>
        <p:txBody>
          <a:bodyPr wrap="square" lIns="0" tIns="12065" rIns="0" bIns="0" rtlCol="0" vert="horz">
            <a:spAutoFit/>
          </a:bodyPr>
          <a:lstStyle/>
          <a:p>
            <a:pPr marL="12700">
              <a:lnSpc>
                <a:spcPct val="100000"/>
              </a:lnSpc>
              <a:spcBef>
                <a:spcPts val="95"/>
              </a:spcBef>
            </a:pPr>
            <a:r>
              <a:rPr dirty="0" sz="1100" spc="-30" b="1">
                <a:solidFill>
                  <a:srgbClr val="333399"/>
                </a:solidFill>
                <a:latin typeface="Microsoft YaHei"/>
                <a:cs typeface="Microsoft YaHei"/>
              </a:rPr>
              <a:t>方案亮点：</a:t>
            </a:r>
            <a:endParaRPr sz="1100">
              <a:latin typeface="Microsoft YaHei"/>
              <a:cs typeface="Microsoft YaHei"/>
            </a:endParaRPr>
          </a:p>
        </p:txBody>
      </p:sp>
      <p:sp>
        <p:nvSpPr>
          <p:cNvPr id="94" name="object 94" descr=""/>
          <p:cNvSpPr txBox="1"/>
          <p:nvPr/>
        </p:nvSpPr>
        <p:spPr>
          <a:xfrm>
            <a:off x="6388891" y="3641610"/>
            <a:ext cx="2687320" cy="193040"/>
          </a:xfrm>
          <a:prstGeom prst="rect">
            <a:avLst/>
          </a:prstGeom>
        </p:spPr>
        <p:txBody>
          <a:bodyPr wrap="square" lIns="0" tIns="12065" rIns="0" bIns="0" rtlCol="0" vert="horz">
            <a:spAutoFit/>
          </a:bodyPr>
          <a:lstStyle/>
          <a:p>
            <a:pPr marL="226695" indent="-213995">
              <a:lnSpc>
                <a:spcPct val="100000"/>
              </a:lnSpc>
              <a:spcBef>
                <a:spcPts val="95"/>
              </a:spcBef>
              <a:buFont typeface="Wingdings"/>
              <a:buChar char=""/>
              <a:tabLst>
                <a:tab pos="226695" algn="l"/>
              </a:tabLst>
            </a:pPr>
            <a:r>
              <a:rPr dirty="0" sz="1100" spc="-5">
                <a:latin typeface="Microsoft YaHei"/>
                <a:cs typeface="Microsoft YaHei"/>
              </a:rPr>
              <a:t>泄露电缆可有效减小信号阴影及遮挡，</a:t>
            </a:r>
            <a:endParaRPr sz="1100">
              <a:latin typeface="Microsoft YaHei"/>
              <a:cs typeface="Microsoft YaHei"/>
            </a:endParaRPr>
          </a:p>
        </p:txBody>
      </p:sp>
      <p:sp>
        <p:nvSpPr>
          <p:cNvPr id="95" name="object 95" descr=""/>
          <p:cNvSpPr txBox="1"/>
          <p:nvPr/>
        </p:nvSpPr>
        <p:spPr>
          <a:xfrm>
            <a:off x="6388891" y="3808945"/>
            <a:ext cx="2471420" cy="528320"/>
          </a:xfrm>
          <a:prstGeom prst="rect">
            <a:avLst/>
          </a:prstGeom>
        </p:spPr>
        <p:txBody>
          <a:bodyPr wrap="square" lIns="0" tIns="96520" rIns="0" bIns="0" rtlCol="0" vert="horz">
            <a:spAutoFit/>
          </a:bodyPr>
          <a:lstStyle/>
          <a:p>
            <a:pPr marL="227329">
              <a:lnSpc>
                <a:spcPct val="100000"/>
              </a:lnSpc>
              <a:spcBef>
                <a:spcPts val="760"/>
              </a:spcBef>
            </a:pPr>
            <a:r>
              <a:rPr dirty="0" sz="1100" spc="-25">
                <a:latin typeface="Microsoft YaHei"/>
                <a:cs typeface="Microsoft YaHei"/>
              </a:rPr>
              <a:t>使隧道内信号覆盖更均匀</a:t>
            </a:r>
            <a:endParaRPr sz="1100">
              <a:latin typeface="Microsoft YaHei"/>
              <a:cs typeface="Microsoft YaHei"/>
            </a:endParaRPr>
          </a:p>
          <a:p>
            <a:pPr marL="226695" indent="-213995">
              <a:lnSpc>
                <a:spcPct val="100000"/>
              </a:lnSpc>
              <a:spcBef>
                <a:spcPts val="660"/>
              </a:spcBef>
              <a:buFont typeface="Wingdings"/>
              <a:buChar char=""/>
              <a:tabLst>
                <a:tab pos="226695" algn="l"/>
              </a:tabLst>
            </a:pPr>
            <a:r>
              <a:rPr dirty="0" sz="1100" spc="-25">
                <a:latin typeface="Microsoft YaHei"/>
                <a:cs typeface="Microsoft YaHei"/>
              </a:rPr>
              <a:t>泄露电缆覆盖方式不受隧道弯曲影响</a:t>
            </a:r>
            <a:endParaRPr sz="1100">
              <a:latin typeface="Microsoft YaHei"/>
              <a:cs typeface="Microsoft YaHei"/>
            </a:endParaRPr>
          </a:p>
        </p:txBody>
      </p:sp>
      <p:grpSp>
        <p:nvGrpSpPr>
          <p:cNvPr id="96" name="object 96" descr=""/>
          <p:cNvGrpSpPr/>
          <p:nvPr/>
        </p:nvGrpSpPr>
        <p:grpSpPr>
          <a:xfrm>
            <a:off x="3549637" y="1273595"/>
            <a:ext cx="2797810" cy="3296920"/>
            <a:chOff x="3549637" y="1273595"/>
            <a:chExt cx="2797810" cy="3296920"/>
          </a:xfrm>
        </p:grpSpPr>
        <p:sp>
          <p:nvSpPr>
            <p:cNvPr id="97" name="object 97" descr=""/>
            <p:cNvSpPr/>
            <p:nvPr/>
          </p:nvSpPr>
          <p:spPr>
            <a:xfrm>
              <a:off x="6332904" y="3322194"/>
              <a:ext cx="0" cy="1247775"/>
            </a:xfrm>
            <a:custGeom>
              <a:avLst/>
              <a:gdLst/>
              <a:ahLst/>
              <a:cxnLst/>
              <a:rect l="l" t="t" r="r" b="b"/>
              <a:pathLst>
                <a:path w="0" h="1247775">
                  <a:moveTo>
                    <a:pt x="0" y="0"/>
                  </a:moveTo>
                  <a:lnTo>
                    <a:pt x="0" y="1247775"/>
                  </a:lnTo>
                </a:path>
              </a:pathLst>
            </a:custGeom>
            <a:ln w="28575">
              <a:solidFill>
                <a:srgbClr val="89A4A7"/>
              </a:solidFill>
              <a:prstDash val="sysDot"/>
            </a:ln>
          </p:spPr>
          <p:txBody>
            <a:bodyPr wrap="square" lIns="0" tIns="0" rIns="0" bIns="0" rtlCol="0"/>
            <a:lstStyle/>
            <a:p/>
          </p:txBody>
        </p:sp>
        <p:pic>
          <p:nvPicPr>
            <p:cNvPr id="98" name="object 98"/>
            <p:cNvPicPr/>
            <p:nvPr/>
          </p:nvPicPr>
          <p:blipFill>
            <a:blip r:embed="rId10" cstate="print"/>
            <a:stretch>
              <a:fillRect/>
            </a:stretch>
          </p:blipFill>
          <p:spPr>
            <a:xfrm>
              <a:off x="3549637" y="1273595"/>
              <a:ext cx="1900707" cy="1191703"/>
            </a:xfrm>
            <a:prstGeom prst="rect">
              <a:avLst/>
            </a:prstGeom>
          </p:spPr>
        </p:pic>
      </p:grpSp>
      <p:sp>
        <p:nvSpPr>
          <p:cNvPr id="99" name="object 99"/>
          <p:cNvSpPr txBox="1">
            <a:spLocks noGrp="1"/>
          </p:cNvSpPr>
          <p:nvPr>
            <p:ph type="title"/>
          </p:nvPr>
        </p:nvSpPr>
        <p:spPr>
          <a:xfrm>
            <a:off x="1263522" y="92039"/>
            <a:ext cx="7531734" cy="513080"/>
          </a:xfrm>
          <a:prstGeom prst="rect"/>
        </p:spPr>
        <p:txBody>
          <a:bodyPr wrap="square" lIns="0" tIns="12065" rIns="0" bIns="0" rtlCol="0" vert="horz">
            <a:spAutoFit/>
          </a:bodyPr>
          <a:lstStyle/>
          <a:p>
            <a:pPr marL="12700">
              <a:lnSpc>
                <a:spcPct val="100000"/>
              </a:lnSpc>
              <a:spcBef>
                <a:spcPts val="95"/>
              </a:spcBef>
            </a:pPr>
            <a:r>
              <a:rPr dirty="0" spc="-25">
                <a:latin typeface="Times New Roman"/>
                <a:cs typeface="Times New Roman"/>
              </a:rPr>
              <a:t>2TR+</a:t>
            </a:r>
            <a:r>
              <a:rPr dirty="0" spc="-45"/>
              <a:t>数字室分设备部署地铁隧道应用场景</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218694" y="862092"/>
            <a:ext cx="5864225" cy="4046854"/>
            <a:chOff x="218694" y="862092"/>
            <a:chExt cx="5864225" cy="4046854"/>
          </a:xfrm>
        </p:grpSpPr>
        <p:sp>
          <p:nvSpPr>
            <p:cNvPr id="3" name="object 3" descr=""/>
            <p:cNvSpPr/>
            <p:nvPr/>
          </p:nvSpPr>
          <p:spPr>
            <a:xfrm>
              <a:off x="3931795" y="866855"/>
              <a:ext cx="2146300" cy="673735"/>
            </a:xfrm>
            <a:custGeom>
              <a:avLst/>
              <a:gdLst/>
              <a:ahLst/>
              <a:cxnLst/>
              <a:rect l="l" t="t" r="r" b="b"/>
              <a:pathLst>
                <a:path w="2146300" h="673735">
                  <a:moveTo>
                    <a:pt x="1469275" y="0"/>
                  </a:moveTo>
                  <a:lnTo>
                    <a:pt x="1138669" y="135343"/>
                  </a:lnTo>
                  <a:lnTo>
                    <a:pt x="965809" y="58826"/>
                  </a:lnTo>
                  <a:lnTo>
                    <a:pt x="849388" y="198932"/>
                  </a:lnTo>
                  <a:lnTo>
                    <a:pt x="447243" y="112991"/>
                  </a:lnTo>
                  <a:lnTo>
                    <a:pt x="533666" y="243662"/>
                  </a:lnTo>
                  <a:lnTo>
                    <a:pt x="116433" y="257784"/>
                  </a:lnTo>
                  <a:lnTo>
                    <a:pt x="390918" y="361327"/>
                  </a:lnTo>
                  <a:lnTo>
                    <a:pt x="0" y="401383"/>
                  </a:lnTo>
                  <a:lnTo>
                    <a:pt x="330809" y="479094"/>
                  </a:lnTo>
                  <a:lnTo>
                    <a:pt x="127660" y="555612"/>
                  </a:lnTo>
                  <a:lnTo>
                    <a:pt x="477342" y="568553"/>
                  </a:lnTo>
                  <a:lnTo>
                    <a:pt x="488467" y="673290"/>
                  </a:lnTo>
                  <a:lnTo>
                    <a:pt x="747750" y="564972"/>
                  </a:lnTo>
                  <a:lnTo>
                    <a:pt x="864285" y="614438"/>
                  </a:lnTo>
                  <a:lnTo>
                    <a:pt x="980719" y="541439"/>
                  </a:lnTo>
                  <a:lnTo>
                    <a:pt x="1153566" y="587311"/>
                  </a:lnTo>
                  <a:lnTo>
                    <a:pt x="1209992" y="496696"/>
                  </a:lnTo>
                  <a:lnTo>
                    <a:pt x="1484376" y="541439"/>
                  </a:lnTo>
                  <a:lnTo>
                    <a:pt x="1454378" y="447293"/>
                  </a:lnTo>
                  <a:lnTo>
                    <a:pt x="1875294" y="487260"/>
                  </a:lnTo>
                  <a:lnTo>
                    <a:pt x="1627238" y="383705"/>
                  </a:lnTo>
                  <a:lnTo>
                    <a:pt x="1814995" y="351916"/>
                  </a:lnTo>
                  <a:lnTo>
                    <a:pt x="1687334" y="293065"/>
                  </a:lnTo>
                  <a:lnTo>
                    <a:pt x="2145804" y="207124"/>
                  </a:lnTo>
                  <a:lnTo>
                    <a:pt x="1627238" y="203606"/>
                  </a:lnTo>
                  <a:lnTo>
                    <a:pt x="1788871" y="98869"/>
                  </a:lnTo>
                  <a:lnTo>
                    <a:pt x="1442961" y="180073"/>
                  </a:lnTo>
                  <a:lnTo>
                    <a:pt x="1469275" y="0"/>
                  </a:lnTo>
                  <a:close/>
                </a:path>
              </a:pathLst>
            </a:custGeom>
            <a:solidFill>
              <a:srgbClr val="BBE0E3"/>
            </a:solidFill>
          </p:spPr>
          <p:txBody>
            <a:bodyPr wrap="square" lIns="0" tIns="0" rIns="0" bIns="0" rtlCol="0"/>
            <a:lstStyle/>
            <a:p/>
          </p:txBody>
        </p:sp>
        <p:sp>
          <p:nvSpPr>
            <p:cNvPr id="4" name="object 4" descr=""/>
            <p:cNvSpPr/>
            <p:nvPr/>
          </p:nvSpPr>
          <p:spPr>
            <a:xfrm>
              <a:off x="3931795" y="866855"/>
              <a:ext cx="2146300" cy="673735"/>
            </a:xfrm>
            <a:custGeom>
              <a:avLst/>
              <a:gdLst/>
              <a:ahLst/>
              <a:cxnLst/>
              <a:rect l="l" t="t" r="r" b="b"/>
              <a:pathLst>
                <a:path w="2146300" h="673735">
                  <a:moveTo>
                    <a:pt x="1138669" y="135343"/>
                  </a:moveTo>
                  <a:lnTo>
                    <a:pt x="1469275" y="0"/>
                  </a:lnTo>
                  <a:lnTo>
                    <a:pt x="1442961" y="180073"/>
                  </a:lnTo>
                  <a:lnTo>
                    <a:pt x="1788871" y="98869"/>
                  </a:lnTo>
                  <a:lnTo>
                    <a:pt x="1627238" y="203606"/>
                  </a:lnTo>
                  <a:lnTo>
                    <a:pt x="2145804" y="207124"/>
                  </a:lnTo>
                  <a:lnTo>
                    <a:pt x="1687334" y="293065"/>
                  </a:lnTo>
                  <a:lnTo>
                    <a:pt x="1814995" y="351916"/>
                  </a:lnTo>
                  <a:lnTo>
                    <a:pt x="1627238" y="383705"/>
                  </a:lnTo>
                  <a:lnTo>
                    <a:pt x="1875294" y="487260"/>
                  </a:lnTo>
                  <a:lnTo>
                    <a:pt x="1454378" y="447293"/>
                  </a:lnTo>
                  <a:lnTo>
                    <a:pt x="1484376" y="541439"/>
                  </a:lnTo>
                  <a:lnTo>
                    <a:pt x="1209992" y="496696"/>
                  </a:lnTo>
                  <a:lnTo>
                    <a:pt x="1153566" y="587311"/>
                  </a:lnTo>
                  <a:lnTo>
                    <a:pt x="980719" y="541439"/>
                  </a:lnTo>
                  <a:lnTo>
                    <a:pt x="864285" y="614438"/>
                  </a:lnTo>
                  <a:lnTo>
                    <a:pt x="747750" y="564972"/>
                  </a:lnTo>
                  <a:lnTo>
                    <a:pt x="488467" y="673290"/>
                  </a:lnTo>
                  <a:lnTo>
                    <a:pt x="477342" y="568553"/>
                  </a:lnTo>
                  <a:lnTo>
                    <a:pt x="127660" y="555612"/>
                  </a:lnTo>
                  <a:lnTo>
                    <a:pt x="330809" y="479094"/>
                  </a:lnTo>
                  <a:lnTo>
                    <a:pt x="0" y="401383"/>
                  </a:lnTo>
                  <a:lnTo>
                    <a:pt x="390918" y="361327"/>
                  </a:lnTo>
                  <a:lnTo>
                    <a:pt x="116433" y="257784"/>
                  </a:lnTo>
                  <a:lnTo>
                    <a:pt x="533666" y="243662"/>
                  </a:lnTo>
                  <a:lnTo>
                    <a:pt x="447243" y="112991"/>
                  </a:lnTo>
                  <a:lnTo>
                    <a:pt x="849388" y="198932"/>
                  </a:lnTo>
                  <a:lnTo>
                    <a:pt x="965809" y="58826"/>
                  </a:lnTo>
                  <a:lnTo>
                    <a:pt x="1138669" y="135343"/>
                  </a:lnTo>
                  <a:close/>
                </a:path>
              </a:pathLst>
            </a:custGeom>
            <a:ln w="9525">
              <a:solidFill>
                <a:srgbClr val="000000"/>
              </a:solidFill>
            </a:ln>
          </p:spPr>
          <p:txBody>
            <a:bodyPr wrap="square" lIns="0" tIns="0" rIns="0" bIns="0" rtlCol="0"/>
            <a:lstStyle/>
            <a:p/>
          </p:txBody>
        </p:sp>
        <p:pic>
          <p:nvPicPr>
            <p:cNvPr id="5" name="object 5"/>
            <p:cNvPicPr/>
            <p:nvPr/>
          </p:nvPicPr>
          <p:blipFill>
            <a:blip r:embed="rId2" cstate="print"/>
            <a:stretch>
              <a:fillRect/>
            </a:stretch>
          </p:blipFill>
          <p:spPr>
            <a:xfrm>
              <a:off x="218694" y="1344930"/>
              <a:ext cx="5859778" cy="3563872"/>
            </a:xfrm>
            <a:prstGeom prst="rect">
              <a:avLst/>
            </a:prstGeom>
          </p:spPr>
        </p:pic>
      </p:grpSp>
      <p:sp>
        <p:nvSpPr>
          <p:cNvPr id="6" name="object 6" descr=""/>
          <p:cNvSpPr txBox="1"/>
          <p:nvPr/>
        </p:nvSpPr>
        <p:spPr>
          <a:xfrm>
            <a:off x="6098540" y="888746"/>
            <a:ext cx="2764790" cy="1739900"/>
          </a:xfrm>
          <a:prstGeom prst="rect">
            <a:avLst/>
          </a:prstGeom>
        </p:spPr>
        <p:txBody>
          <a:bodyPr wrap="square" lIns="0" tIns="12700" rIns="0" bIns="0" rtlCol="0" vert="horz">
            <a:spAutoFit/>
          </a:bodyPr>
          <a:lstStyle/>
          <a:p>
            <a:pPr algn="just" marL="12700" marR="5080">
              <a:lnSpc>
                <a:spcPct val="125000"/>
              </a:lnSpc>
              <a:spcBef>
                <a:spcPts val="100"/>
              </a:spcBef>
            </a:pPr>
            <a:r>
              <a:rPr dirty="0" sz="1800" spc="50">
                <a:latin typeface="SimSun"/>
                <a:cs typeface="SimSun"/>
              </a:rPr>
              <a:t>对于低频段使用， 将不可</a:t>
            </a:r>
            <a:r>
              <a:rPr dirty="0" sz="1800" spc="-25">
                <a:latin typeface="SimSun"/>
                <a:cs typeface="SimSun"/>
              </a:rPr>
              <a:t>避免出现“ 天线墙”， 我们何不顺势而为， 造“ </a:t>
            </a:r>
            <a:r>
              <a:rPr dirty="0" sz="1800">
                <a:solidFill>
                  <a:srgbClr val="C00000"/>
                </a:solidFill>
                <a:latin typeface="SimSun"/>
                <a:cs typeface="SimSun"/>
              </a:rPr>
              <a:t>天</a:t>
            </a:r>
            <a:r>
              <a:rPr dirty="0" sz="1800" spc="160">
                <a:solidFill>
                  <a:srgbClr val="C00000"/>
                </a:solidFill>
                <a:latin typeface="SimSun"/>
                <a:cs typeface="SimSun"/>
              </a:rPr>
              <a:t>线砖</a:t>
            </a:r>
            <a:r>
              <a:rPr dirty="0" sz="1800" spc="40">
                <a:latin typeface="SimSun"/>
                <a:cs typeface="SimSun"/>
              </a:rPr>
              <a:t>”， 变成一种未来建</a:t>
            </a:r>
            <a:r>
              <a:rPr dirty="0" sz="1800">
                <a:latin typeface="SimSun"/>
                <a:cs typeface="SimSun"/>
              </a:rPr>
              <a:t>筑的标配建材？</a:t>
            </a:r>
            <a:endParaRPr sz="1800">
              <a:latin typeface="SimSun"/>
              <a:cs typeface="SimSun"/>
            </a:endParaRPr>
          </a:p>
        </p:txBody>
      </p:sp>
      <p:sp>
        <p:nvSpPr>
          <p:cNvPr id="7" name="object 7" descr=""/>
          <p:cNvSpPr txBox="1"/>
          <p:nvPr/>
        </p:nvSpPr>
        <p:spPr>
          <a:xfrm>
            <a:off x="6098768" y="2946146"/>
            <a:ext cx="2764790" cy="1397000"/>
          </a:xfrm>
          <a:prstGeom prst="rect">
            <a:avLst/>
          </a:prstGeom>
        </p:spPr>
        <p:txBody>
          <a:bodyPr wrap="square" lIns="0" tIns="12700" rIns="0" bIns="0" rtlCol="0" vert="horz">
            <a:spAutoFit/>
          </a:bodyPr>
          <a:lstStyle/>
          <a:p>
            <a:pPr algn="just" marL="12700" marR="5080">
              <a:lnSpc>
                <a:spcPct val="125000"/>
              </a:lnSpc>
              <a:spcBef>
                <a:spcPts val="100"/>
              </a:spcBef>
            </a:pPr>
            <a:r>
              <a:rPr dirty="0" sz="1800" spc="50">
                <a:latin typeface="SimSun"/>
                <a:cs typeface="SimSun"/>
              </a:rPr>
              <a:t>针对高频段使用， 天线阵</a:t>
            </a:r>
            <a:r>
              <a:rPr dirty="0" sz="1800" spc="45">
                <a:latin typeface="SimSun"/>
                <a:cs typeface="SimSun"/>
              </a:rPr>
              <a:t>列尺寸小， 可以做成</a:t>
            </a:r>
            <a:r>
              <a:rPr dirty="0" sz="1800" spc="160">
                <a:solidFill>
                  <a:srgbClr val="C00000"/>
                </a:solidFill>
                <a:latin typeface="SimSun"/>
                <a:cs typeface="SimSun"/>
              </a:rPr>
              <a:t>家居用品</a:t>
            </a:r>
            <a:r>
              <a:rPr dirty="0" sz="1800" spc="155">
                <a:latin typeface="SimSun"/>
                <a:cs typeface="SimSun"/>
              </a:rPr>
              <a:t>或</a:t>
            </a:r>
            <a:r>
              <a:rPr dirty="0" sz="1800" spc="155">
                <a:solidFill>
                  <a:srgbClr val="C00000"/>
                </a:solidFill>
                <a:latin typeface="SimSun"/>
                <a:cs typeface="SimSun"/>
              </a:rPr>
              <a:t>工艺品</a:t>
            </a:r>
            <a:r>
              <a:rPr dirty="0" sz="1800" spc="-25">
                <a:latin typeface="SimSun"/>
                <a:cs typeface="SimSun"/>
              </a:rPr>
              <a:t>模样， 同样</a:t>
            </a:r>
            <a:r>
              <a:rPr dirty="0" sz="1800">
                <a:latin typeface="SimSun"/>
                <a:cs typeface="SimSun"/>
              </a:rPr>
              <a:t>可以成为装潢用品。</a:t>
            </a:r>
            <a:endParaRPr sz="1800">
              <a:latin typeface="SimSun"/>
              <a:cs typeface="SimSun"/>
            </a:endParaRPr>
          </a:p>
        </p:txBody>
      </p:sp>
      <p:sp>
        <p:nvSpPr>
          <p:cNvPr id="8" name="object 8" descr=""/>
          <p:cNvSpPr txBox="1"/>
          <p:nvPr/>
        </p:nvSpPr>
        <p:spPr>
          <a:xfrm>
            <a:off x="4454677" y="1035507"/>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solidFill>
                  <a:srgbClr val="FF0000"/>
                </a:solidFill>
                <a:latin typeface="SimSun"/>
                <a:cs typeface="SimSun"/>
              </a:rPr>
              <a:t>乱弹一曲</a:t>
            </a:r>
            <a:endParaRPr sz="1800">
              <a:latin typeface="SimSun"/>
              <a:cs typeface="SimSun"/>
            </a:endParaRPr>
          </a:p>
        </p:txBody>
      </p:sp>
      <p:sp>
        <p:nvSpPr>
          <p:cNvPr id="9" name="object 9"/>
          <p:cNvSpPr txBox="1">
            <a:spLocks noGrp="1"/>
          </p:cNvSpPr>
          <p:nvPr>
            <p:ph type="title"/>
          </p:nvPr>
        </p:nvSpPr>
        <p:spPr>
          <a:xfrm>
            <a:off x="1226747" y="142782"/>
            <a:ext cx="6868795" cy="513080"/>
          </a:xfrm>
          <a:prstGeom prst="rect"/>
        </p:spPr>
        <p:txBody>
          <a:bodyPr wrap="square" lIns="0" tIns="12065" rIns="0" bIns="0" rtlCol="0" vert="horz">
            <a:spAutoFit/>
          </a:bodyPr>
          <a:lstStyle/>
          <a:p>
            <a:pPr marL="12700">
              <a:lnSpc>
                <a:spcPct val="100000"/>
              </a:lnSpc>
              <a:spcBef>
                <a:spcPts val="95"/>
              </a:spcBef>
            </a:pPr>
            <a:r>
              <a:rPr dirty="0" spc="-35"/>
              <a:t>问题</a:t>
            </a:r>
            <a:r>
              <a:rPr dirty="0" spc="-30">
                <a:latin typeface="Times New Roman"/>
                <a:cs typeface="Times New Roman"/>
              </a:rPr>
              <a:t>1</a:t>
            </a:r>
            <a:r>
              <a:rPr dirty="0" spc="-45"/>
              <a:t>：大规模天线</a:t>
            </a:r>
            <a:r>
              <a:rPr dirty="0" spc="-25">
                <a:latin typeface="Times New Roman"/>
                <a:cs typeface="Times New Roman"/>
              </a:rPr>
              <a:t>M-</a:t>
            </a:r>
            <a:r>
              <a:rPr dirty="0" spc="-35">
                <a:latin typeface="Times New Roman"/>
                <a:cs typeface="Times New Roman"/>
              </a:rPr>
              <a:t>MIMO</a:t>
            </a:r>
            <a:r>
              <a:rPr dirty="0" spc="-40"/>
              <a:t>部署难题</a:t>
            </a:r>
          </a:p>
        </p:txBody>
      </p:sp>
    </p:spTree>
  </p:cSld>
  <p:clrMapOvr>
    <a:masterClrMapping/>
  </p:clrMapOvr>
  <p:transition spd="med">
    <p:fade thruBlk="0"/>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9190" y="138968"/>
            <a:ext cx="6801484" cy="513080"/>
          </a:xfrm>
          <a:prstGeom prst="rect"/>
        </p:spPr>
        <p:txBody>
          <a:bodyPr wrap="square" lIns="0" tIns="12065" rIns="0" bIns="0" rtlCol="0" vert="horz">
            <a:spAutoFit/>
          </a:bodyPr>
          <a:lstStyle/>
          <a:p>
            <a:pPr marL="12700">
              <a:lnSpc>
                <a:spcPct val="100000"/>
              </a:lnSpc>
              <a:spcBef>
                <a:spcPts val="95"/>
              </a:spcBef>
            </a:pPr>
            <a:r>
              <a:rPr dirty="0" spc="-35"/>
              <a:t>问题</a:t>
            </a:r>
            <a:r>
              <a:rPr dirty="0" spc="-30">
                <a:latin typeface="Times New Roman"/>
                <a:cs typeface="Times New Roman"/>
              </a:rPr>
              <a:t>2</a:t>
            </a:r>
            <a:r>
              <a:rPr dirty="0" spc="-30"/>
              <a:t>：</a:t>
            </a:r>
            <a:r>
              <a:rPr dirty="0" spc="-30">
                <a:latin typeface="Times New Roman"/>
                <a:cs typeface="Times New Roman"/>
              </a:rPr>
              <a:t>AAU</a:t>
            </a:r>
            <a:r>
              <a:rPr dirty="0" spc="-45"/>
              <a:t>形态变化大对抱杆的影响</a:t>
            </a:r>
          </a:p>
        </p:txBody>
      </p:sp>
      <p:graphicFrame>
        <p:nvGraphicFramePr>
          <p:cNvPr id="3" name="object 3" descr=""/>
          <p:cNvGraphicFramePr>
            <a:graphicFrameLocks noGrp="1"/>
          </p:cNvGraphicFramePr>
          <p:nvPr/>
        </p:nvGraphicFramePr>
        <p:xfrm>
          <a:off x="3263356" y="3784600"/>
          <a:ext cx="5280025" cy="1097280"/>
        </p:xfrm>
        <a:graphic>
          <a:graphicData uri="http://schemas.openxmlformats.org/drawingml/2006/table">
            <a:tbl>
              <a:tblPr firstRow="1" bandRow="1">
                <a:tableStyleId>{2D5ABB26-0587-4C30-8999-92F81FD0307C}</a:tableStyleId>
              </a:tblPr>
              <a:tblGrid>
                <a:gridCol w="881380"/>
                <a:gridCol w="1273175"/>
                <a:gridCol w="1273174"/>
                <a:gridCol w="881379"/>
                <a:gridCol w="881379"/>
              </a:tblGrid>
              <a:tr h="274320">
                <a:tc>
                  <a:txBody>
                    <a:bodyPr/>
                    <a:lstStyle/>
                    <a:p>
                      <a:pPr algn="ctr">
                        <a:lnSpc>
                          <a:spcPct val="100000"/>
                        </a:lnSpc>
                        <a:spcBef>
                          <a:spcPts val="180"/>
                        </a:spcBef>
                      </a:pPr>
                      <a:r>
                        <a:rPr dirty="0" sz="1400" spc="-30">
                          <a:latin typeface="SimSun"/>
                          <a:cs typeface="SimSun"/>
                        </a:rPr>
                        <a:t>使用场景</a:t>
                      </a:r>
                      <a:endParaRPr sz="1400">
                        <a:latin typeface="SimSun"/>
                        <a:cs typeface="SimSun"/>
                      </a:endParaRPr>
                    </a:p>
                  </a:txBody>
                  <a:tcPr marL="0" marR="0" marB="0" marT="228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180"/>
                        </a:spcBef>
                      </a:pPr>
                      <a:r>
                        <a:rPr dirty="0" sz="1400" spc="-25">
                          <a:latin typeface="SimSun"/>
                          <a:cs typeface="SimSun"/>
                        </a:rPr>
                        <a:t>抱杆高度要求</a:t>
                      </a:r>
                      <a:endParaRPr sz="1400">
                        <a:latin typeface="SimSun"/>
                        <a:cs typeface="SimSun"/>
                      </a:endParaRPr>
                    </a:p>
                  </a:txBody>
                  <a:tcPr marL="0" marR="0" marB="0" marT="228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180"/>
                        </a:spcBef>
                      </a:pPr>
                      <a:r>
                        <a:rPr dirty="0" sz="1400" spc="-25">
                          <a:latin typeface="SimSun"/>
                          <a:cs typeface="SimSun"/>
                        </a:rPr>
                        <a:t>抱杆直径要求</a:t>
                      </a:r>
                      <a:endParaRPr sz="1400">
                        <a:latin typeface="SimSun"/>
                        <a:cs typeface="SimSun"/>
                      </a:endParaRPr>
                    </a:p>
                  </a:txBody>
                  <a:tcPr marL="0" marR="0" marB="0" marT="228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180"/>
                        </a:spcBef>
                      </a:pPr>
                      <a:r>
                        <a:rPr dirty="0" sz="1400" spc="-30">
                          <a:latin typeface="SimSun"/>
                          <a:cs typeface="SimSun"/>
                        </a:rPr>
                        <a:t>壁厚要求</a:t>
                      </a:r>
                      <a:endParaRPr sz="1400">
                        <a:latin typeface="SimSun"/>
                        <a:cs typeface="SimSun"/>
                      </a:endParaRPr>
                    </a:p>
                  </a:txBody>
                  <a:tcPr marL="0" marR="0" marB="0" marT="228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180"/>
                        </a:spcBef>
                      </a:pPr>
                      <a:r>
                        <a:rPr dirty="0" sz="1400" spc="-20">
                          <a:latin typeface="Arial MT"/>
                          <a:cs typeface="Arial MT"/>
                        </a:rPr>
                        <a:t>AAU</a:t>
                      </a:r>
                      <a:r>
                        <a:rPr dirty="0" sz="1400" spc="-35">
                          <a:latin typeface="SimSun"/>
                          <a:cs typeface="SimSun"/>
                        </a:rPr>
                        <a:t>数量</a:t>
                      </a:r>
                      <a:endParaRPr sz="1400">
                        <a:latin typeface="SimSun"/>
                        <a:cs typeface="SimSun"/>
                      </a:endParaRPr>
                    </a:p>
                  </a:txBody>
                  <a:tcPr marL="0" marR="0" marB="0" marT="228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293370">
                <a:tc rowSpan="2">
                  <a:txBody>
                    <a:bodyPr/>
                    <a:lstStyle/>
                    <a:p>
                      <a:pPr marL="85090">
                        <a:lnSpc>
                          <a:spcPct val="100000"/>
                        </a:lnSpc>
                        <a:spcBef>
                          <a:spcPts val="1295"/>
                        </a:spcBef>
                      </a:pPr>
                      <a:r>
                        <a:rPr dirty="0" sz="1400" spc="-30">
                          <a:latin typeface="SimSun"/>
                          <a:cs typeface="SimSun"/>
                        </a:rPr>
                        <a:t>楼顶抱杆</a:t>
                      </a:r>
                      <a:endParaRPr sz="1400">
                        <a:latin typeface="SimSun"/>
                        <a:cs typeface="SimSun"/>
                      </a:endParaRPr>
                    </a:p>
                  </a:txBody>
                  <a:tcPr marL="0" marR="0" marB="0" marT="1644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240"/>
                        </a:spcBef>
                      </a:pPr>
                      <a:r>
                        <a:rPr dirty="0" sz="1400" spc="-25">
                          <a:latin typeface="Arial MT"/>
                          <a:cs typeface="Arial MT"/>
                        </a:rPr>
                        <a:t>4m</a:t>
                      </a:r>
                      <a:endParaRPr sz="1400">
                        <a:latin typeface="Arial MT"/>
                        <a:cs typeface="Arial MT"/>
                      </a:endParaRPr>
                    </a:p>
                  </a:txBody>
                  <a:tcPr marL="0" marR="0" marB="0" marT="304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70485">
                        <a:lnSpc>
                          <a:spcPct val="100000"/>
                        </a:lnSpc>
                        <a:spcBef>
                          <a:spcPts val="240"/>
                        </a:spcBef>
                      </a:pPr>
                      <a:r>
                        <a:rPr dirty="0" sz="1400" spc="-10">
                          <a:latin typeface="Arial MT"/>
                          <a:cs typeface="Arial MT"/>
                        </a:rPr>
                        <a:t>70mm-114mm</a:t>
                      </a:r>
                      <a:endParaRPr sz="1400">
                        <a:latin typeface="Arial MT"/>
                        <a:cs typeface="Arial MT"/>
                      </a:endParaRPr>
                    </a:p>
                  </a:txBody>
                  <a:tcPr marL="0" marR="0" marB="0" marT="304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242570">
                        <a:lnSpc>
                          <a:spcPct val="100000"/>
                        </a:lnSpc>
                        <a:spcBef>
                          <a:spcPts val="240"/>
                        </a:spcBef>
                      </a:pPr>
                      <a:r>
                        <a:rPr dirty="0" sz="1400" spc="-25">
                          <a:latin typeface="Arial MT"/>
                          <a:cs typeface="Arial MT"/>
                        </a:rPr>
                        <a:t>4mm</a:t>
                      </a:r>
                      <a:endParaRPr sz="1400">
                        <a:latin typeface="Arial MT"/>
                        <a:cs typeface="Arial MT"/>
                      </a:endParaRPr>
                    </a:p>
                  </a:txBody>
                  <a:tcPr marL="0" marR="0" marB="0" marT="304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240"/>
                        </a:spcBef>
                      </a:pPr>
                      <a:r>
                        <a:rPr dirty="0" sz="1400" spc="-50">
                          <a:latin typeface="Arial MT"/>
                          <a:cs typeface="Arial MT"/>
                        </a:rPr>
                        <a:t>1</a:t>
                      </a:r>
                      <a:endParaRPr sz="1400">
                        <a:latin typeface="Arial MT"/>
                        <a:cs typeface="Arial MT"/>
                      </a:endParaRPr>
                    </a:p>
                  </a:txBody>
                  <a:tcPr marL="0" marR="0" marB="0" marT="304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264795">
                <a:tc vMerge="1">
                  <a:txBody>
                    <a:bodyPr/>
                    <a:lstStyle/>
                    <a:p>
                      <a:pPr/>
                    </a:p>
                  </a:txBody>
                  <a:tcPr marL="0" marR="0" marB="0" marT="1644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130"/>
                        </a:spcBef>
                      </a:pPr>
                      <a:r>
                        <a:rPr dirty="0" sz="1400" spc="-25">
                          <a:latin typeface="Arial MT"/>
                          <a:cs typeface="Arial MT"/>
                        </a:rPr>
                        <a:t>6m</a:t>
                      </a:r>
                      <a:endParaRPr sz="1400">
                        <a:latin typeface="Arial MT"/>
                        <a:cs typeface="Arial MT"/>
                      </a:endParaRPr>
                    </a:p>
                  </a:txBody>
                  <a:tcPr marL="0" marR="0" marB="0" marT="165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21590">
                        <a:lnSpc>
                          <a:spcPct val="100000"/>
                        </a:lnSpc>
                        <a:spcBef>
                          <a:spcPts val="130"/>
                        </a:spcBef>
                      </a:pPr>
                      <a:r>
                        <a:rPr dirty="0" sz="1400" spc="-10">
                          <a:latin typeface="Arial MT"/>
                          <a:cs typeface="Arial MT"/>
                        </a:rPr>
                        <a:t>100mm-</a:t>
                      </a:r>
                      <a:r>
                        <a:rPr dirty="0" sz="1400" spc="-20">
                          <a:latin typeface="Arial MT"/>
                          <a:cs typeface="Arial MT"/>
                        </a:rPr>
                        <a:t>114mm</a:t>
                      </a:r>
                      <a:endParaRPr sz="1400">
                        <a:latin typeface="Arial MT"/>
                        <a:cs typeface="Arial MT"/>
                      </a:endParaRPr>
                    </a:p>
                  </a:txBody>
                  <a:tcPr marL="0" marR="0" marB="0" marT="165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242570">
                        <a:lnSpc>
                          <a:spcPct val="100000"/>
                        </a:lnSpc>
                        <a:spcBef>
                          <a:spcPts val="130"/>
                        </a:spcBef>
                      </a:pPr>
                      <a:r>
                        <a:rPr dirty="0" sz="1400" spc="-25">
                          <a:latin typeface="Arial MT"/>
                          <a:cs typeface="Arial MT"/>
                        </a:rPr>
                        <a:t>4mm</a:t>
                      </a:r>
                      <a:endParaRPr sz="1400">
                        <a:latin typeface="Arial MT"/>
                        <a:cs typeface="Arial MT"/>
                      </a:endParaRPr>
                    </a:p>
                  </a:txBody>
                  <a:tcPr marL="0" marR="0" marB="0" marT="165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130"/>
                        </a:spcBef>
                      </a:pPr>
                      <a:r>
                        <a:rPr dirty="0" sz="1400" spc="-50">
                          <a:latin typeface="Arial MT"/>
                          <a:cs typeface="Arial MT"/>
                        </a:rPr>
                        <a:t>1</a:t>
                      </a:r>
                      <a:endParaRPr sz="1400">
                        <a:latin typeface="Arial MT"/>
                        <a:cs typeface="Arial MT"/>
                      </a:endParaRPr>
                    </a:p>
                  </a:txBody>
                  <a:tcPr marL="0" marR="0" marB="0" marT="165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264795">
                <a:tc>
                  <a:txBody>
                    <a:bodyPr/>
                    <a:lstStyle/>
                    <a:p>
                      <a:pPr algn="ctr">
                        <a:lnSpc>
                          <a:spcPct val="100000"/>
                        </a:lnSpc>
                        <a:spcBef>
                          <a:spcPts val="140"/>
                        </a:spcBef>
                      </a:pPr>
                      <a:r>
                        <a:rPr dirty="0" sz="1400" spc="-30">
                          <a:latin typeface="SimSun"/>
                          <a:cs typeface="SimSun"/>
                        </a:rPr>
                        <a:t>铁塔抱杆</a:t>
                      </a:r>
                      <a:endParaRPr sz="1400">
                        <a:latin typeface="SimSun"/>
                        <a:cs typeface="SimSun"/>
                      </a:endParaRPr>
                    </a:p>
                  </a:txBody>
                  <a:tcPr marL="0" marR="0" marB="0" marT="177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130"/>
                        </a:spcBef>
                      </a:pPr>
                      <a:r>
                        <a:rPr dirty="0" sz="1400" spc="-20">
                          <a:latin typeface="Arial MT"/>
                          <a:cs typeface="Arial MT"/>
                        </a:rPr>
                        <a:t>1.5m</a:t>
                      </a:r>
                      <a:endParaRPr sz="1400">
                        <a:latin typeface="Arial MT"/>
                        <a:cs typeface="Arial MT"/>
                      </a:endParaRPr>
                    </a:p>
                  </a:txBody>
                  <a:tcPr marL="0" marR="0" marB="0" marT="165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70485">
                        <a:lnSpc>
                          <a:spcPct val="100000"/>
                        </a:lnSpc>
                        <a:spcBef>
                          <a:spcPts val="130"/>
                        </a:spcBef>
                      </a:pPr>
                      <a:r>
                        <a:rPr dirty="0" sz="1400" spc="-10">
                          <a:latin typeface="Arial MT"/>
                          <a:cs typeface="Arial MT"/>
                        </a:rPr>
                        <a:t>60mm-114mm</a:t>
                      </a:r>
                      <a:endParaRPr sz="1400">
                        <a:latin typeface="Arial MT"/>
                        <a:cs typeface="Arial MT"/>
                      </a:endParaRPr>
                    </a:p>
                  </a:txBody>
                  <a:tcPr marL="0" marR="0" marB="0" marT="165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242570">
                        <a:lnSpc>
                          <a:spcPct val="100000"/>
                        </a:lnSpc>
                        <a:spcBef>
                          <a:spcPts val="130"/>
                        </a:spcBef>
                      </a:pPr>
                      <a:r>
                        <a:rPr dirty="0" sz="1400" spc="-25">
                          <a:latin typeface="Arial MT"/>
                          <a:cs typeface="Arial MT"/>
                        </a:rPr>
                        <a:t>4mm</a:t>
                      </a:r>
                      <a:endParaRPr sz="1400">
                        <a:latin typeface="Arial MT"/>
                        <a:cs typeface="Arial MT"/>
                      </a:endParaRPr>
                    </a:p>
                  </a:txBody>
                  <a:tcPr marL="0" marR="0" marB="0" marT="165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130"/>
                        </a:spcBef>
                      </a:pPr>
                      <a:r>
                        <a:rPr dirty="0" sz="1400" spc="-50">
                          <a:latin typeface="Arial MT"/>
                          <a:cs typeface="Arial MT"/>
                        </a:rPr>
                        <a:t>1</a:t>
                      </a:r>
                      <a:endParaRPr sz="1400">
                        <a:latin typeface="Arial MT"/>
                        <a:cs typeface="Arial MT"/>
                      </a:endParaRPr>
                    </a:p>
                  </a:txBody>
                  <a:tcPr marL="0" marR="0" marB="0" marT="165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bl>
          </a:graphicData>
        </a:graphic>
      </p:graphicFrame>
      <p:sp>
        <p:nvSpPr>
          <p:cNvPr id="4" name="object 4" descr=""/>
          <p:cNvSpPr txBox="1"/>
          <p:nvPr/>
        </p:nvSpPr>
        <p:spPr>
          <a:xfrm>
            <a:off x="474334" y="1028077"/>
            <a:ext cx="1691639" cy="238760"/>
          </a:xfrm>
          <a:prstGeom prst="rect">
            <a:avLst/>
          </a:prstGeom>
        </p:spPr>
        <p:txBody>
          <a:bodyPr wrap="square" lIns="0" tIns="12065" rIns="0" bIns="0" rtlCol="0" vert="horz">
            <a:spAutoFit/>
          </a:bodyPr>
          <a:lstStyle/>
          <a:p>
            <a:pPr marL="12700">
              <a:lnSpc>
                <a:spcPct val="100000"/>
              </a:lnSpc>
              <a:spcBef>
                <a:spcPts val="95"/>
              </a:spcBef>
            </a:pPr>
            <a:r>
              <a:rPr dirty="0" sz="1400" spc="-20" b="1">
                <a:solidFill>
                  <a:srgbClr val="0070C0"/>
                </a:solidFill>
                <a:latin typeface="Microsoft YaHei"/>
                <a:cs typeface="Microsoft YaHei"/>
              </a:rPr>
              <a:t>5G</a:t>
            </a:r>
            <a:r>
              <a:rPr dirty="0" sz="1400" spc="-25" b="1">
                <a:solidFill>
                  <a:srgbClr val="0070C0"/>
                </a:solidFill>
                <a:latin typeface="Microsoft YaHei"/>
                <a:cs typeface="Microsoft YaHei"/>
              </a:rPr>
              <a:t>基站产品部署影响</a:t>
            </a:r>
            <a:endParaRPr sz="1400">
              <a:latin typeface="Microsoft YaHei"/>
              <a:cs typeface="Microsoft YaHei"/>
            </a:endParaRPr>
          </a:p>
        </p:txBody>
      </p:sp>
      <p:sp>
        <p:nvSpPr>
          <p:cNvPr id="5" name="object 5" descr=""/>
          <p:cNvSpPr txBox="1"/>
          <p:nvPr/>
        </p:nvSpPr>
        <p:spPr>
          <a:xfrm>
            <a:off x="3282343" y="3348739"/>
            <a:ext cx="1730375" cy="231140"/>
          </a:xfrm>
          <a:prstGeom prst="rect">
            <a:avLst/>
          </a:prstGeom>
        </p:spPr>
        <p:txBody>
          <a:bodyPr wrap="square" lIns="0" tIns="12700" rIns="0" bIns="0" rtlCol="0" vert="horz">
            <a:spAutoFit/>
          </a:bodyPr>
          <a:lstStyle/>
          <a:p>
            <a:pPr marL="12700">
              <a:lnSpc>
                <a:spcPct val="100000"/>
              </a:lnSpc>
              <a:spcBef>
                <a:spcPts val="100"/>
              </a:spcBef>
            </a:pPr>
            <a:r>
              <a:rPr dirty="0" sz="1350" b="1">
                <a:solidFill>
                  <a:srgbClr val="0070C0"/>
                </a:solidFill>
                <a:latin typeface="Microsoft YaHei"/>
                <a:cs typeface="Microsoft YaHei"/>
              </a:rPr>
              <a:t>5G</a:t>
            </a:r>
            <a:r>
              <a:rPr dirty="0" sz="1350" spc="-5" b="1">
                <a:solidFill>
                  <a:srgbClr val="0070C0"/>
                </a:solidFill>
                <a:latin typeface="Microsoft YaHei"/>
                <a:cs typeface="Microsoft YaHei"/>
              </a:rPr>
              <a:t> </a:t>
            </a:r>
            <a:r>
              <a:rPr dirty="0" sz="1350" spc="-20" b="1">
                <a:solidFill>
                  <a:srgbClr val="0070C0"/>
                </a:solidFill>
                <a:latin typeface="Microsoft YaHei"/>
                <a:cs typeface="Microsoft YaHei"/>
              </a:rPr>
              <a:t>AAU</a:t>
            </a:r>
            <a:r>
              <a:rPr dirty="0" sz="1350" spc="-10" b="1">
                <a:solidFill>
                  <a:srgbClr val="0070C0"/>
                </a:solidFill>
                <a:latin typeface="Microsoft YaHei"/>
                <a:cs typeface="Microsoft YaHei"/>
              </a:rPr>
              <a:t>抱杆建设要求</a:t>
            </a:r>
            <a:endParaRPr sz="1350">
              <a:latin typeface="Microsoft YaHei"/>
              <a:cs typeface="Microsoft YaHei"/>
            </a:endParaRPr>
          </a:p>
        </p:txBody>
      </p:sp>
      <p:sp>
        <p:nvSpPr>
          <p:cNvPr id="6" name="object 6" descr=""/>
          <p:cNvSpPr txBox="1"/>
          <p:nvPr/>
        </p:nvSpPr>
        <p:spPr>
          <a:xfrm>
            <a:off x="541515" y="1495755"/>
            <a:ext cx="1510665" cy="586740"/>
          </a:xfrm>
          <a:prstGeom prst="rect">
            <a:avLst/>
          </a:prstGeom>
          <a:solidFill>
            <a:srgbClr val="BBE0E3"/>
          </a:solidFill>
          <a:ln w="25400">
            <a:solidFill>
              <a:srgbClr val="89A4A7"/>
            </a:solidFill>
          </a:ln>
        </p:spPr>
        <p:txBody>
          <a:bodyPr wrap="square" lIns="0" tIns="151765" rIns="0" bIns="0" rtlCol="0" vert="horz">
            <a:spAutoFit/>
          </a:bodyPr>
          <a:lstStyle/>
          <a:p>
            <a:pPr marL="295910">
              <a:lnSpc>
                <a:spcPct val="100000"/>
              </a:lnSpc>
              <a:spcBef>
                <a:spcPts val="1195"/>
              </a:spcBef>
            </a:pPr>
            <a:r>
              <a:rPr dirty="0" sz="1800" spc="-15">
                <a:solidFill>
                  <a:srgbClr val="FFFFFF"/>
                </a:solidFill>
                <a:latin typeface="SimSun"/>
                <a:cs typeface="SimSun"/>
              </a:rPr>
              <a:t>天面安装</a:t>
            </a:r>
            <a:endParaRPr sz="1800">
              <a:latin typeface="SimSun"/>
              <a:cs typeface="SimSun"/>
            </a:endParaRPr>
          </a:p>
        </p:txBody>
      </p:sp>
      <p:sp>
        <p:nvSpPr>
          <p:cNvPr id="7" name="object 7" descr=""/>
          <p:cNvSpPr txBox="1"/>
          <p:nvPr/>
        </p:nvSpPr>
        <p:spPr>
          <a:xfrm>
            <a:off x="541515" y="2444153"/>
            <a:ext cx="1510665" cy="570230"/>
          </a:xfrm>
          <a:prstGeom prst="rect">
            <a:avLst/>
          </a:prstGeom>
          <a:solidFill>
            <a:srgbClr val="00BFFF"/>
          </a:solidFill>
          <a:ln w="25400">
            <a:solidFill>
              <a:srgbClr val="89A4A7"/>
            </a:solidFill>
          </a:ln>
        </p:spPr>
        <p:txBody>
          <a:bodyPr wrap="square" lIns="0" tIns="144145" rIns="0" bIns="0" rtlCol="0" vert="horz">
            <a:spAutoFit/>
          </a:bodyPr>
          <a:lstStyle/>
          <a:p>
            <a:pPr marL="295910">
              <a:lnSpc>
                <a:spcPct val="100000"/>
              </a:lnSpc>
              <a:spcBef>
                <a:spcPts val="1135"/>
              </a:spcBef>
            </a:pPr>
            <a:r>
              <a:rPr dirty="0" sz="1800" spc="-15">
                <a:solidFill>
                  <a:srgbClr val="FFFFFF"/>
                </a:solidFill>
                <a:latin typeface="SimSun"/>
                <a:cs typeface="SimSun"/>
              </a:rPr>
              <a:t>天面美化</a:t>
            </a:r>
            <a:endParaRPr sz="1800">
              <a:latin typeface="SimSun"/>
              <a:cs typeface="SimSun"/>
            </a:endParaRPr>
          </a:p>
        </p:txBody>
      </p:sp>
      <p:sp>
        <p:nvSpPr>
          <p:cNvPr id="8" name="object 8" descr=""/>
          <p:cNvSpPr txBox="1"/>
          <p:nvPr/>
        </p:nvSpPr>
        <p:spPr>
          <a:xfrm>
            <a:off x="536028" y="3377285"/>
            <a:ext cx="1515745" cy="539750"/>
          </a:xfrm>
          <a:prstGeom prst="rect">
            <a:avLst/>
          </a:prstGeom>
          <a:solidFill>
            <a:srgbClr val="FFC000"/>
          </a:solidFill>
          <a:ln w="25400">
            <a:solidFill>
              <a:srgbClr val="89A4A7"/>
            </a:solidFill>
          </a:ln>
        </p:spPr>
        <p:txBody>
          <a:bodyPr wrap="square" lIns="0" tIns="128270" rIns="0" bIns="0" rtlCol="0" vert="horz">
            <a:spAutoFit/>
          </a:bodyPr>
          <a:lstStyle/>
          <a:p>
            <a:pPr marL="298450">
              <a:lnSpc>
                <a:spcPct val="100000"/>
              </a:lnSpc>
              <a:spcBef>
                <a:spcPts val="1010"/>
              </a:spcBef>
            </a:pPr>
            <a:r>
              <a:rPr dirty="0" sz="1800" spc="-15">
                <a:solidFill>
                  <a:srgbClr val="FFFFFF"/>
                </a:solidFill>
                <a:latin typeface="SimSun"/>
                <a:cs typeface="SimSun"/>
              </a:rPr>
              <a:t>机房环境</a:t>
            </a:r>
            <a:endParaRPr sz="1800">
              <a:latin typeface="SimSun"/>
              <a:cs typeface="SimSun"/>
            </a:endParaRPr>
          </a:p>
        </p:txBody>
      </p:sp>
      <p:sp>
        <p:nvSpPr>
          <p:cNvPr id="9" name="object 9" descr=""/>
          <p:cNvSpPr txBox="1"/>
          <p:nvPr/>
        </p:nvSpPr>
        <p:spPr>
          <a:xfrm>
            <a:off x="541515" y="4313389"/>
            <a:ext cx="1510665" cy="576580"/>
          </a:xfrm>
          <a:prstGeom prst="rect">
            <a:avLst/>
          </a:prstGeom>
          <a:solidFill>
            <a:srgbClr val="953735"/>
          </a:solidFill>
          <a:ln w="25400">
            <a:solidFill>
              <a:srgbClr val="89A4A7"/>
            </a:solidFill>
          </a:ln>
        </p:spPr>
        <p:txBody>
          <a:bodyPr wrap="square" lIns="0" tIns="146685" rIns="0" bIns="0" rtlCol="0" vert="horz">
            <a:spAutoFit/>
          </a:bodyPr>
          <a:lstStyle/>
          <a:p>
            <a:pPr marL="295910">
              <a:lnSpc>
                <a:spcPct val="100000"/>
              </a:lnSpc>
              <a:spcBef>
                <a:spcPts val="1155"/>
              </a:spcBef>
            </a:pPr>
            <a:r>
              <a:rPr dirty="0" sz="1800" spc="-15">
                <a:solidFill>
                  <a:srgbClr val="FFFFFF"/>
                </a:solidFill>
                <a:latin typeface="SimSun"/>
                <a:cs typeface="SimSun"/>
              </a:rPr>
              <a:t>机房配电</a:t>
            </a:r>
            <a:endParaRPr sz="1800">
              <a:latin typeface="SimSun"/>
              <a:cs typeface="SimSun"/>
            </a:endParaRPr>
          </a:p>
        </p:txBody>
      </p:sp>
      <p:pic>
        <p:nvPicPr>
          <p:cNvPr id="10" name="object 10"/>
          <p:cNvPicPr/>
          <p:nvPr/>
        </p:nvPicPr>
        <p:blipFill>
          <a:blip r:embed="rId2" cstate="print"/>
          <a:stretch>
            <a:fillRect/>
          </a:stretch>
        </p:blipFill>
        <p:spPr>
          <a:xfrm>
            <a:off x="2699791" y="904624"/>
            <a:ext cx="1477209" cy="1968597"/>
          </a:xfrm>
          <a:prstGeom prst="rect">
            <a:avLst/>
          </a:prstGeom>
        </p:spPr>
      </p:pic>
      <p:sp>
        <p:nvSpPr>
          <p:cNvPr id="11" name="object 11" descr=""/>
          <p:cNvSpPr txBox="1"/>
          <p:nvPr/>
        </p:nvSpPr>
        <p:spPr>
          <a:xfrm>
            <a:off x="2346483" y="1041764"/>
            <a:ext cx="330200" cy="1488440"/>
          </a:xfrm>
          <a:prstGeom prst="rect">
            <a:avLst/>
          </a:prstGeom>
        </p:spPr>
        <p:txBody>
          <a:bodyPr wrap="square" lIns="0" tIns="12700" rIns="0" bIns="0" rtlCol="0" vert="horz">
            <a:spAutoFit/>
          </a:bodyPr>
          <a:lstStyle/>
          <a:p>
            <a:pPr algn="just" marL="12700" marR="5080">
              <a:lnSpc>
                <a:spcPct val="100000"/>
              </a:lnSpc>
              <a:spcBef>
                <a:spcPts val="100"/>
              </a:spcBef>
            </a:pPr>
            <a:r>
              <a:rPr dirty="0" sz="2400" spc="-50">
                <a:solidFill>
                  <a:srgbClr val="FF0000"/>
                </a:solidFill>
                <a:latin typeface="Microsoft YaHei"/>
                <a:cs typeface="Microsoft YaHei"/>
              </a:rPr>
              <a:t>存在问题</a:t>
            </a:r>
            <a:endParaRPr sz="2400">
              <a:latin typeface="Microsoft YaHei"/>
              <a:cs typeface="Microsoft YaHei"/>
            </a:endParaRPr>
          </a:p>
        </p:txBody>
      </p:sp>
      <p:sp>
        <p:nvSpPr>
          <p:cNvPr id="12" name="object 12" descr=""/>
          <p:cNvSpPr txBox="1"/>
          <p:nvPr/>
        </p:nvSpPr>
        <p:spPr>
          <a:xfrm>
            <a:off x="4324606" y="990984"/>
            <a:ext cx="2206625" cy="1610360"/>
          </a:xfrm>
          <a:prstGeom prst="rect">
            <a:avLst/>
          </a:prstGeom>
        </p:spPr>
        <p:txBody>
          <a:bodyPr wrap="square" lIns="0" tIns="12700" rIns="0" bIns="0" rtlCol="0" vert="horz">
            <a:spAutoFit/>
          </a:bodyPr>
          <a:lstStyle/>
          <a:p>
            <a:pPr marL="335915" indent="-285115">
              <a:lnSpc>
                <a:spcPts val="1200"/>
              </a:lnSpc>
              <a:spcBef>
                <a:spcPts val="100"/>
              </a:spcBef>
              <a:buFont typeface="Wingdings"/>
              <a:buChar char=""/>
              <a:tabLst>
                <a:tab pos="335915" algn="l"/>
              </a:tabLst>
            </a:pPr>
            <a:r>
              <a:rPr dirty="0" sz="1200" spc="-10">
                <a:latin typeface="SimSun"/>
                <a:cs typeface="SimSun"/>
              </a:rPr>
              <a:t>天馈安装数量较多，</a:t>
            </a:r>
            <a:endParaRPr sz="1200">
              <a:latin typeface="SimSun"/>
              <a:cs typeface="SimSun"/>
            </a:endParaRPr>
          </a:p>
          <a:p>
            <a:pPr algn="r" marR="43815">
              <a:lnSpc>
                <a:spcPts val="2280"/>
              </a:lnSpc>
              <a:tabLst>
                <a:tab pos="1513840" algn="l"/>
              </a:tabLst>
            </a:pPr>
            <a:r>
              <a:rPr dirty="0" sz="1200">
                <a:latin typeface="SimSun"/>
                <a:cs typeface="SimSun"/>
              </a:rPr>
              <a:t>空余抱杆资源不足</a:t>
            </a:r>
            <a:r>
              <a:rPr dirty="0" sz="1200" spc="-50">
                <a:latin typeface="SimSun"/>
                <a:cs typeface="SimSun"/>
              </a:rPr>
              <a:t>，</a:t>
            </a:r>
            <a:r>
              <a:rPr dirty="0" sz="1200">
                <a:latin typeface="SimSun"/>
                <a:cs typeface="SimSun"/>
              </a:rPr>
              <a:t>	</a:t>
            </a:r>
            <a:r>
              <a:rPr dirty="0" sz="2400" spc="-50">
                <a:solidFill>
                  <a:srgbClr val="0070C0"/>
                </a:solidFill>
                <a:latin typeface="Microsoft YaHei"/>
                <a:cs typeface="Microsoft YaHei"/>
              </a:rPr>
              <a:t>解</a:t>
            </a:r>
            <a:endParaRPr sz="2400">
              <a:latin typeface="Microsoft YaHei"/>
              <a:cs typeface="Microsoft YaHei"/>
            </a:endParaRPr>
          </a:p>
          <a:p>
            <a:pPr algn="r" marR="43815">
              <a:lnSpc>
                <a:spcPts val="2160"/>
              </a:lnSpc>
              <a:tabLst>
                <a:tab pos="1513840" algn="l"/>
              </a:tabLst>
            </a:pPr>
            <a:r>
              <a:rPr dirty="0" sz="1200">
                <a:latin typeface="SimSun"/>
                <a:cs typeface="SimSun"/>
              </a:rPr>
              <a:t>安装空间不</a:t>
            </a:r>
            <a:r>
              <a:rPr dirty="0" sz="1200" spc="-50">
                <a:latin typeface="SimSun"/>
                <a:cs typeface="SimSun"/>
              </a:rPr>
              <a:t>足</a:t>
            </a:r>
            <a:r>
              <a:rPr dirty="0" sz="1200">
                <a:latin typeface="SimSun"/>
                <a:cs typeface="SimSun"/>
              </a:rPr>
              <a:t>	</a:t>
            </a:r>
            <a:r>
              <a:rPr dirty="0" baseline="-16203" sz="3600" spc="-75">
                <a:solidFill>
                  <a:srgbClr val="0070C0"/>
                </a:solidFill>
                <a:latin typeface="Microsoft YaHei"/>
                <a:cs typeface="Microsoft YaHei"/>
              </a:rPr>
              <a:t>决</a:t>
            </a:r>
            <a:endParaRPr baseline="-16203" sz="3600">
              <a:latin typeface="Microsoft YaHei"/>
              <a:cs typeface="Microsoft YaHei"/>
            </a:endParaRPr>
          </a:p>
          <a:p>
            <a:pPr algn="r" marL="285115" marR="43815" indent="-285115">
              <a:lnSpc>
                <a:spcPts val="2520"/>
              </a:lnSpc>
              <a:buFont typeface="Wingdings"/>
              <a:buChar char=""/>
              <a:tabLst>
                <a:tab pos="285115" algn="l"/>
                <a:tab pos="1799589" algn="l"/>
              </a:tabLst>
            </a:pPr>
            <a:r>
              <a:rPr dirty="0" sz="1200">
                <a:latin typeface="SimSun"/>
                <a:cs typeface="SimSun"/>
              </a:rPr>
              <a:t>新增天馈抱杆，铁</a:t>
            </a:r>
            <a:r>
              <a:rPr dirty="0" sz="1200" spc="-50">
                <a:latin typeface="SimSun"/>
                <a:cs typeface="SimSun"/>
              </a:rPr>
              <a:t>塔</a:t>
            </a:r>
            <a:r>
              <a:rPr dirty="0" sz="1200">
                <a:latin typeface="SimSun"/>
                <a:cs typeface="SimSun"/>
              </a:rPr>
              <a:t>	</a:t>
            </a:r>
            <a:r>
              <a:rPr dirty="0" baseline="-32407" sz="3600" spc="-75">
                <a:solidFill>
                  <a:srgbClr val="0070C0"/>
                </a:solidFill>
                <a:latin typeface="Microsoft YaHei"/>
                <a:cs typeface="Microsoft YaHei"/>
              </a:rPr>
              <a:t>措</a:t>
            </a:r>
            <a:endParaRPr baseline="-32407" sz="3600">
              <a:latin typeface="Microsoft YaHei"/>
              <a:cs typeface="Microsoft YaHei"/>
            </a:endParaRPr>
          </a:p>
          <a:p>
            <a:pPr marL="336550">
              <a:lnSpc>
                <a:spcPts val="1200"/>
              </a:lnSpc>
              <a:spcBef>
                <a:spcPts val="480"/>
              </a:spcBef>
            </a:pPr>
            <a:r>
              <a:rPr dirty="0" sz="1200" spc="-10">
                <a:latin typeface="SimSun"/>
                <a:cs typeface="SimSun"/>
              </a:rPr>
              <a:t>总体承重能否满足要</a:t>
            </a:r>
            <a:endParaRPr sz="1200">
              <a:latin typeface="SimSun"/>
              <a:cs typeface="SimSun"/>
            </a:endParaRPr>
          </a:p>
          <a:p>
            <a:pPr marL="336550">
              <a:lnSpc>
                <a:spcPts val="2640"/>
              </a:lnSpc>
              <a:tabLst>
                <a:tab pos="1850389" algn="l"/>
              </a:tabLst>
            </a:pPr>
            <a:r>
              <a:rPr dirty="0" sz="1200" spc="-50">
                <a:latin typeface="SimSun"/>
                <a:cs typeface="SimSun"/>
              </a:rPr>
              <a:t>求</a:t>
            </a:r>
            <a:r>
              <a:rPr dirty="0" sz="1200">
                <a:latin typeface="SimSun"/>
                <a:cs typeface="SimSun"/>
              </a:rPr>
              <a:t>	</a:t>
            </a:r>
            <a:r>
              <a:rPr dirty="0" sz="2400" spc="-50">
                <a:solidFill>
                  <a:srgbClr val="0070C0"/>
                </a:solidFill>
                <a:latin typeface="Microsoft YaHei"/>
                <a:cs typeface="Microsoft YaHei"/>
              </a:rPr>
              <a:t>施</a:t>
            </a:r>
            <a:endParaRPr sz="2400">
              <a:latin typeface="Microsoft YaHei"/>
              <a:cs typeface="Microsoft YaHei"/>
            </a:endParaRPr>
          </a:p>
        </p:txBody>
      </p:sp>
      <p:sp>
        <p:nvSpPr>
          <p:cNvPr id="13" name="object 13" descr=""/>
          <p:cNvSpPr txBox="1"/>
          <p:nvPr/>
        </p:nvSpPr>
        <p:spPr>
          <a:xfrm>
            <a:off x="6594956" y="939942"/>
            <a:ext cx="2444750" cy="208279"/>
          </a:xfrm>
          <a:prstGeom prst="rect">
            <a:avLst/>
          </a:prstGeom>
        </p:spPr>
        <p:txBody>
          <a:bodyPr wrap="square" lIns="0" tIns="12700" rIns="0" bIns="0" rtlCol="0" vert="horz">
            <a:spAutoFit/>
          </a:bodyPr>
          <a:lstStyle/>
          <a:p>
            <a:pPr marL="297815" indent="-285115">
              <a:lnSpc>
                <a:spcPct val="100000"/>
              </a:lnSpc>
              <a:spcBef>
                <a:spcPts val="100"/>
              </a:spcBef>
              <a:buFont typeface="Wingdings"/>
              <a:buChar char=""/>
              <a:tabLst>
                <a:tab pos="297815" algn="l"/>
              </a:tabLst>
            </a:pPr>
            <a:r>
              <a:rPr dirty="0" sz="1200">
                <a:latin typeface="SimSun"/>
                <a:cs typeface="SimSun"/>
              </a:rPr>
              <a:t>新增抱杆（</a:t>
            </a:r>
            <a:r>
              <a:rPr dirty="0" sz="1200" spc="-10">
                <a:latin typeface="SimSun"/>
                <a:cs typeface="SimSun"/>
              </a:rPr>
              <a:t>铁塔平台空间足够且</a:t>
            </a:r>
            <a:endParaRPr sz="1200">
              <a:latin typeface="SimSun"/>
              <a:cs typeface="SimSun"/>
            </a:endParaRPr>
          </a:p>
        </p:txBody>
      </p:sp>
      <p:sp>
        <p:nvSpPr>
          <p:cNvPr id="14" name="object 14" descr=""/>
          <p:cNvSpPr txBox="1"/>
          <p:nvPr/>
        </p:nvSpPr>
        <p:spPr>
          <a:xfrm>
            <a:off x="6880706" y="1305702"/>
            <a:ext cx="7874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SimSun"/>
                <a:cs typeface="SimSun"/>
              </a:rPr>
              <a:t>承重满足</a:t>
            </a:r>
            <a:r>
              <a:rPr dirty="0" sz="1200" spc="-50">
                <a:latin typeface="SimSun"/>
                <a:cs typeface="SimSun"/>
              </a:rPr>
              <a:t>）</a:t>
            </a:r>
            <a:endParaRPr sz="1200">
              <a:latin typeface="SimSun"/>
              <a:cs typeface="SimSun"/>
            </a:endParaRPr>
          </a:p>
        </p:txBody>
      </p:sp>
      <p:sp>
        <p:nvSpPr>
          <p:cNvPr id="15" name="object 15" descr=""/>
          <p:cNvSpPr txBox="1"/>
          <p:nvPr/>
        </p:nvSpPr>
        <p:spPr>
          <a:xfrm>
            <a:off x="6594956" y="1671462"/>
            <a:ext cx="2444750" cy="208279"/>
          </a:xfrm>
          <a:prstGeom prst="rect">
            <a:avLst/>
          </a:prstGeom>
        </p:spPr>
        <p:txBody>
          <a:bodyPr wrap="square" lIns="0" tIns="12700" rIns="0" bIns="0" rtlCol="0" vert="horz">
            <a:spAutoFit/>
          </a:bodyPr>
          <a:lstStyle/>
          <a:p>
            <a:pPr marL="297815" indent="-285115">
              <a:lnSpc>
                <a:spcPct val="100000"/>
              </a:lnSpc>
              <a:spcBef>
                <a:spcPts val="100"/>
              </a:spcBef>
              <a:buFont typeface="Wingdings"/>
              <a:buChar char=""/>
              <a:tabLst>
                <a:tab pos="297815" algn="l"/>
              </a:tabLst>
            </a:pPr>
            <a:r>
              <a:rPr dirty="0" sz="1200">
                <a:latin typeface="SimSun"/>
                <a:cs typeface="SimSun"/>
              </a:rPr>
              <a:t>新增平台并增加抱杆（</a:t>
            </a:r>
            <a:r>
              <a:rPr dirty="0" sz="1200" spc="-15">
                <a:latin typeface="SimSun"/>
                <a:cs typeface="SimSun"/>
              </a:rPr>
              <a:t>铁塔原有</a:t>
            </a:r>
            <a:endParaRPr sz="1200">
              <a:latin typeface="SimSun"/>
              <a:cs typeface="SimSun"/>
            </a:endParaRPr>
          </a:p>
        </p:txBody>
      </p:sp>
      <p:sp>
        <p:nvSpPr>
          <p:cNvPr id="16" name="object 16" descr=""/>
          <p:cNvSpPr txBox="1"/>
          <p:nvPr/>
        </p:nvSpPr>
        <p:spPr>
          <a:xfrm>
            <a:off x="6880706" y="2037222"/>
            <a:ext cx="18542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SimSun"/>
                <a:cs typeface="SimSun"/>
              </a:rPr>
              <a:t>平台空间不足但承重满足</a:t>
            </a:r>
            <a:r>
              <a:rPr dirty="0" sz="1200" spc="-50">
                <a:latin typeface="SimSun"/>
                <a:cs typeface="SimSun"/>
              </a:rPr>
              <a:t>）</a:t>
            </a:r>
            <a:endParaRPr sz="1200">
              <a:latin typeface="SimSun"/>
              <a:cs typeface="SimSun"/>
            </a:endParaRPr>
          </a:p>
        </p:txBody>
      </p:sp>
      <p:sp>
        <p:nvSpPr>
          <p:cNvPr id="17" name="object 17" descr=""/>
          <p:cNvSpPr txBox="1"/>
          <p:nvPr/>
        </p:nvSpPr>
        <p:spPr>
          <a:xfrm>
            <a:off x="6594956" y="2402982"/>
            <a:ext cx="2444750" cy="208279"/>
          </a:xfrm>
          <a:prstGeom prst="rect">
            <a:avLst/>
          </a:prstGeom>
        </p:spPr>
        <p:txBody>
          <a:bodyPr wrap="square" lIns="0" tIns="12700" rIns="0" bIns="0" rtlCol="0" vert="horz">
            <a:spAutoFit/>
          </a:bodyPr>
          <a:lstStyle/>
          <a:p>
            <a:pPr marL="297815" indent="-285115">
              <a:lnSpc>
                <a:spcPct val="100000"/>
              </a:lnSpc>
              <a:spcBef>
                <a:spcPts val="100"/>
              </a:spcBef>
              <a:buFont typeface="Wingdings"/>
              <a:buChar char=""/>
              <a:tabLst>
                <a:tab pos="297815" algn="l"/>
              </a:tabLst>
            </a:pPr>
            <a:r>
              <a:rPr dirty="0" sz="1200" spc="-5">
                <a:latin typeface="SimSun"/>
                <a:cs typeface="SimSun"/>
              </a:rPr>
              <a:t>使用多频合路天线对现网进行天</a:t>
            </a:r>
            <a:endParaRPr sz="1200">
              <a:latin typeface="SimSun"/>
              <a:cs typeface="SimSun"/>
            </a:endParaRPr>
          </a:p>
        </p:txBody>
      </p:sp>
      <p:sp>
        <p:nvSpPr>
          <p:cNvPr id="18" name="object 18" descr=""/>
          <p:cNvSpPr txBox="1"/>
          <p:nvPr/>
        </p:nvSpPr>
        <p:spPr>
          <a:xfrm>
            <a:off x="6880706" y="2768742"/>
            <a:ext cx="2159000" cy="208279"/>
          </a:xfrm>
          <a:prstGeom prst="rect">
            <a:avLst/>
          </a:prstGeom>
        </p:spPr>
        <p:txBody>
          <a:bodyPr wrap="square" lIns="0" tIns="12700" rIns="0" bIns="0" rtlCol="0" vert="horz">
            <a:spAutoFit/>
          </a:bodyPr>
          <a:lstStyle/>
          <a:p>
            <a:pPr marL="12700">
              <a:lnSpc>
                <a:spcPct val="100000"/>
              </a:lnSpc>
              <a:spcBef>
                <a:spcPts val="100"/>
              </a:spcBef>
            </a:pPr>
            <a:r>
              <a:rPr dirty="0" sz="1200" spc="-5">
                <a:latin typeface="SimSun"/>
                <a:cs typeface="SimSun"/>
              </a:rPr>
              <a:t>馈合路，减少天线数量，增加抱</a:t>
            </a:r>
            <a:endParaRPr sz="1200">
              <a:latin typeface="SimSun"/>
              <a:cs typeface="SimSun"/>
            </a:endParaRPr>
          </a:p>
        </p:txBody>
      </p:sp>
      <p:sp>
        <p:nvSpPr>
          <p:cNvPr id="19" name="object 19" descr=""/>
          <p:cNvSpPr txBox="1"/>
          <p:nvPr/>
        </p:nvSpPr>
        <p:spPr>
          <a:xfrm>
            <a:off x="6880706" y="3134502"/>
            <a:ext cx="482600" cy="208279"/>
          </a:xfrm>
          <a:prstGeom prst="rect">
            <a:avLst/>
          </a:prstGeom>
        </p:spPr>
        <p:txBody>
          <a:bodyPr wrap="square" lIns="0" tIns="12700" rIns="0" bIns="0" rtlCol="0" vert="horz">
            <a:spAutoFit/>
          </a:bodyPr>
          <a:lstStyle/>
          <a:p>
            <a:pPr marL="12700">
              <a:lnSpc>
                <a:spcPct val="100000"/>
              </a:lnSpc>
              <a:spcBef>
                <a:spcPts val="100"/>
              </a:spcBef>
            </a:pPr>
            <a:r>
              <a:rPr dirty="0" sz="1200" spc="-20">
                <a:latin typeface="SimSun"/>
                <a:cs typeface="SimSun"/>
              </a:rPr>
              <a:t>杆资源</a:t>
            </a:r>
            <a:endParaRPr sz="1200">
              <a:latin typeface="SimSun"/>
              <a:cs typeface="SimSu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13423" y="3346307"/>
            <a:ext cx="1436745" cy="1438756"/>
          </a:xfrm>
          <a:prstGeom prst="rect">
            <a:avLst/>
          </a:prstGeom>
        </p:spPr>
      </p:pic>
      <p:sp>
        <p:nvSpPr>
          <p:cNvPr id="3" name="object 3" descr=""/>
          <p:cNvSpPr txBox="1"/>
          <p:nvPr/>
        </p:nvSpPr>
        <p:spPr>
          <a:xfrm>
            <a:off x="1986443" y="2998717"/>
            <a:ext cx="1377950" cy="1122680"/>
          </a:xfrm>
          <a:prstGeom prst="rect">
            <a:avLst/>
          </a:prstGeom>
        </p:spPr>
        <p:txBody>
          <a:bodyPr wrap="square" lIns="0" tIns="104140" rIns="0" bIns="0" rtlCol="0" vert="horz">
            <a:spAutoFit/>
          </a:bodyPr>
          <a:lstStyle/>
          <a:p>
            <a:pPr marL="297815" indent="-285115">
              <a:lnSpc>
                <a:spcPct val="100000"/>
              </a:lnSpc>
              <a:spcBef>
                <a:spcPts val="820"/>
              </a:spcBef>
              <a:buFont typeface="Arial MT"/>
              <a:buChar char="•"/>
              <a:tabLst>
                <a:tab pos="297815" algn="l"/>
              </a:tabLst>
            </a:pPr>
            <a:r>
              <a:rPr dirty="0" sz="1200" spc="-10">
                <a:latin typeface="SimSun"/>
                <a:cs typeface="SimSun"/>
              </a:rPr>
              <a:t>上下通透无遮挡</a:t>
            </a:r>
            <a:endParaRPr sz="1200">
              <a:latin typeface="SimSun"/>
              <a:cs typeface="SimSun"/>
            </a:endParaRPr>
          </a:p>
          <a:p>
            <a:pPr marL="298450" marR="5080" indent="-285750">
              <a:lnSpc>
                <a:spcPct val="150000"/>
              </a:lnSpc>
              <a:buFont typeface="Arial MT"/>
              <a:buChar char="•"/>
              <a:tabLst>
                <a:tab pos="298450" algn="l"/>
              </a:tabLst>
            </a:pPr>
            <a:r>
              <a:rPr dirty="0" sz="1200" spc="-10">
                <a:latin typeface="SimSun"/>
                <a:cs typeface="SimSun"/>
              </a:rPr>
              <a:t>美化罩前后通透</a:t>
            </a:r>
            <a:r>
              <a:rPr dirty="0" sz="1200">
                <a:latin typeface="SimSun"/>
                <a:cs typeface="SimSun"/>
              </a:rPr>
              <a:t>率应大于</a:t>
            </a:r>
            <a:r>
              <a:rPr dirty="0" sz="1200" spc="-25">
                <a:latin typeface="Arial MT"/>
                <a:cs typeface="Arial MT"/>
              </a:rPr>
              <a:t>60%</a:t>
            </a:r>
            <a:endParaRPr sz="1200">
              <a:latin typeface="Arial MT"/>
              <a:cs typeface="Arial MT"/>
            </a:endParaRPr>
          </a:p>
          <a:p>
            <a:pPr marL="297815" indent="-285115">
              <a:lnSpc>
                <a:spcPct val="100000"/>
              </a:lnSpc>
              <a:spcBef>
                <a:spcPts val="720"/>
              </a:spcBef>
              <a:buFont typeface="Arial MT"/>
              <a:buChar char="•"/>
              <a:tabLst>
                <a:tab pos="297815" algn="l"/>
              </a:tabLst>
            </a:pPr>
            <a:r>
              <a:rPr dirty="0" sz="1200" spc="-10">
                <a:latin typeface="SimSun"/>
                <a:cs typeface="SimSun"/>
              </a:rPr>
              <a:t>美化罩的抗风阻</a:t>
            </a:r>
            <a:endParaRPr sz="1200">
              <a:latin typeface="SimSun"/>
              <a:cs typeface="SimSun"/>
            </a:endParaRPr>
          </a:p>
        </p:txBody>
      </p:sp>
      <p:sp>
        <p:nvSpPr>
          <p:cNvPr id="4" name="object 4" descr=""/>
          <p:cNvSpPr txBox="1"/>
          <p:nvPr/>
        </p:nvSpPr>
        <p:spPr>
          <a:xfrm>
            <a:off x="1986443" y="4095997"/>
            <a:ext cx="1377950" cy="848360"/>
          </a:xfrm>
          <a:prstGeom prst="rect">
            <a:avLst/>
          </a:prstGeom>
        </p:spPr>
        <p:txBody>
          <a:bodyPr wrap="square" lIns="0" tIns="104140" rIns="0" bIns="0" rtlCol="0" vert="horz">
            <a:spAutoFit/>
          </a:bodyPr>
          <a:lstStyle/>
          <a:p>
            <a:pPr marL="298450">
              <a:lnSpc>
                <a:spcPct val="100000"/>
              </a:lnSpc>
              <a:spcBef>
                <a:spcPts val="820"/>
              </a:spcBef>
            </a:pPr>
            <a:r>
              <a:rPr dirty="0" sz="1200" spc="-10">
                <a:latin typeface="SimSun"/>
                <a:cs typeface="SimSun"/>
              </a:rPr>
              <a:t>能力满足要求</a:t>
            </a:r>
            <a:endParaRPr sz="1200">
              <a:latin typeface="SimSun"/>
              <a:cs typeface="SimSun"/>
            </a:endParaRPr>
          </a:p>
          <a:p>
            <a:pPr marL="298450" marR="5080" indent="-285750">
              <a:lnSpc>
                <a:spcPct val="150000"/>
              </a:lnSpc>
              <a:buFont typeface="Arial MT"/>
              <a:buChar char="•"/>
              <a:tabLst>
                <a:tab pos="298450" algn="l"/>
              </a:tabLst>
            </a:pPr>
            <a:r>
              <a:rPr dirty="0" sz="1200" spc="-10">
                <a:latin typeface="SimSun"/>
                <a:cs typeface="SimSun"/>
              </a:rPr>
              <a:t>尺寸满足方位角下倾角调整要求</a:t>
            </a:r>
            <a:endParaRPr sz="1200">
              <a:latin typeface="SimSun"/>
              <a:cs typeface="SimSun"/>
            </a:endParaRPr>
          </a:p>
        </p:txBody>
      </p:sp>
      <p:sp>
        <p:nvSpPr>
          <p:cNvPr id="5" name="object 5"/>
          <p:cNvSpPr txBox="1">
            <a:spLocks noGrp="1"/>
          </p:cNvSpPr>
          <p:nvPr>
            <p:ph type="title"/>
          </p:nvPr>
        </p:nvSpPr>
        <p:spPr>
          <a:xfrm>
            <a:off x="2515994" y="102964"/>
            <a:ext cx="4363085" cy="513080"/>
          </a:xfrm>
          <a:prstGeom prst="rect"/>
        </p:spPr>
        <p:txBody>
          <a:bodyPr wrap="square" lIns="0" tIns="12065" rIns="0" bIns="0" rtlCol="0" vert="horz">
            <a:spAutoFit/>
          </a:bodyPr>
          <a:lstStyle/>
          <a:p>
            <a:pPr marL="12700">
              <a:lnSpc>
                <a:spcPct val="100000"/>
              </a:lnSpc>
              <a:spcBef>
                <a:spcPts val="95"/>
              </a:spcBef>
            </a:pPr>
            <a:r>
              <a:rPr dirty="0" spc="-35"/>
              <a:t>问题</a:t>
            </a:r>
            <a:r>
              <a:rPr dirty="0" spc="-30">
                <a:latin typeface="Times New Roman"/>
                <a:cs typeface="Times New Roman"/>
              </a:rPr>
              <a:t>3</a:t>
            </a:r>
            <a:r>
              <a:rPr dirty="0" spc="-30"/>
              <a:t>：</a:t>
            </a:r>
            <a:r>
              <a:rPr dirty="0" spc="-30">
                <a:latin typeface="Times New Roman"/>
                <a:cs typeface="Times New Roman"/>
              </a:rPr>
              <a:t>AAU</a:t>
            </a:r>
            <a:r>
              <a:rPr dirty="0" spc="-45"/>
              <a:t>美化罩安装</a:t>
            </a:r>
          </a:p>
        </p:txBody>
      </p:sp>
      <p:sp>
        <p:nvSpPr>
          <p:cNvPr id="6" name="object 6" descr=""/>
          <p:cNvSpPr txBox="1"/>
          <p:nvPr/>
        </p:nvSpPr>
        <p:spPr>
          <a:xfrm>
            <a:off x="702999" y="2741927"/>
            <a:ext cx="1371600" cy="231140"/>
          </a:xfrm>
          <a:prstGeom prst="rect">
            <a:avLst/>
          </a:prstGeom>
        </p:spPr>
        <p:txBody>
          <a:bodyPr wrap="square" lIns="0" tIns="12700" rIns="0" bIns="0" rtlCol="0" vert="horz">
            <a:spAutoFit/>
          </a:bodyPr>
          <a:lstStyle/>
          <a:p>
            <a:pPr>
              <a:lnSpc>
                <a:spcPct val="100000"/>
              </a:lnSpc>
              <a:spcBef>
                <a:spcPts val="100"/>
              </a:spcBef>
            </a:pPr>
            <a:r>
              <a:rPr dirty="0" sz="1350" spc="-10" b="1">
                <a:solidFill>
                  <a:srgbClr val="0070C0"/>
                </a:solidFill>
                <a:latin typeface="Microsoft YaHei"/>
                <a:cs typeface="Microsoft YaHei"/>
              </a:rPr>
              <a:t>措施①新建美化罩</a:t>
            </a:r>
            <a:endParaRPr sz="1350">
              <a:latin typeface="Microsoft YaHei"/>
              <a:cs typeface="Microsoft YaHei"/>
            </a:endParaRPr>
          </a:p>
        </p:txBody>
      </p:sp>
      <p:sp>
        <p:nvSpPr>
          <p:cNvPr id="7" name="object 7" descr=""/>
          <p:cNvSpPr txBox="1"/>
          <p:nvPr/>
        </p:nvSpPr>
        <p:spPr>
          <a:xfrm>
            <a:off x="4434715" y="3044592"/>
            <a:ext cx="1377950" cy="574040"/>
          </a:xfrm>
          <a:prstGeom prst="rect">
            <a:avLst/>
          </a:prstGeom>
        </p:spPr>
        <p:txBody>
          <a:bodyPr wrap="square" lIns="0" tIns="12700" rIns="0" bIns="0" rtlCol="0" vert="horz">
            <a:spAutoFit/>
          </a:bodyPr>
          <a:lstStyle/>
          <a:p>
            <a:pPr marL="298450" marR="5080" indent="-285750">
              <a:lnSpc>
                <a:spcPct val="150000"/>
              </a:lnSpc>
              <a:spcBef>
                <a:spcPts val="100"/>
              </a:spcBef>
              <a:buFont typeface="Arial MT"/>
              <a:buChar char="•"/>
              <a:tabLst>
                <a:tab pos="298450" algn="l"/>
              </a:tabLst>
            </a:pPr>
            <a:r>
              <a:rPr dirty="0" sz="1200" spc="-10">
                <a:latin typeface="SimSun"/>
                <a:cs typeface="SimSun"/>
              </a:rPr>
              <a:t>正面与背面部分需要开孔，尺寸</a:t>
            </a:r>
            <a:endParaRPr sz="1200">
              <a:latin typeface="SimSun"/>
              <a:cs typeface="SimSun"/>
            </a:endParaRPr>
          </a:p>
        </p:txBody>
      </p:sp>
      <p:sp>
        <p:nvSpPr>
          <p:cNvPr id="8" name="object 8" descr=""/>
          <p:cNvSpPr txBox="1"/>
          <p:nvPr/>
        </p:nvSpPr>
        <p:spPr>
          <a:xfrm>
            <a:off x="4434715" y="3593232"/>
            <a:ext cx="1377950" cy="1122680"/>
          </a:xfrm>
          <a:prstGeom prst="rect">
            <a:avLst/>
          </a:prstGeom>
        </p:spPr>
        <p:txBody>
          <a:bodyPr wrap="square" lIns="0" tIns="104140" rIns="0" bIns="0" rtlCol="0" vert="horz">
            <a:spAutoFit/>
          </a:bodyPr>
          <a:lstStyle/>
          <a:p>
            <a:pPr marL="298450">
              <a:lnSpc>
                <a:spcPct val="100000"/>
              </a:lnSpc>
              <a:spcBef>
                <a:spcPts val="820"/>
              </a:spcBef>
            </a:pPr>
            <a:r>
              <a:rPr dirty="0" sz="1200" spc="-10">
                <a:latin typeface="Arial MT"/>
                <a:cs typeface="Arial MT"/>
              </a:rPr>
              <a:t>900</a:t>
            </a:r>
            <a:r>
              <a:rPr dirty="0" sz="1200" spc="-10">
                <a:latin typeface="SimSun"/>
                <a:cs typeface="SimSun"/>
              </a:rPr>
              <a:t>（</a:t>
            </a:r>
            <a:r>
              <a:rPr dirty="0" sz="1200" spc="-10">
                <a:latin typeface="Arial MT"/>
                <a:cs typeface="Arial MT"/>
              </a:rPr>
              <a:t>mm</a:t>
            </a:r>
            <a:r>
              <a:rPr dirty="0" sz="1200" spc="-10">
                <a:latin typeface="SimSun"/>
                <a:cs typeface="SimSun"/>
              </a:rPr>
              <a:t>）</a:t>
            </a:r>
            <a:endParaRPr sz="1200">
              <a:latin typeface="SimSun"/>
              <a:cs typeface="SimSun"/>
            </a:endParaRPr>
          </a:p>
          <a:p>
            <a:pPr marL="298450">
              <a:lnSpc>
                <a:spcPct val="100000"/>
              </a:lnSpc>
              <a:spcBef>
                <a:spcPts val="720"/>
              </a:spcBef>
            </a:pPr>
            <a:r>
              <a:rPr dirty="0" sz="1200" spc="-10">
                <a:latin typeface="Arial MT"/>
                <a:cs typeface="Arial MT"/>
              </a:rPr>
              <a:t>*500</a:t>
            </a:r>
            <a:r>
              <a:rPr dirty="0" sz="1200" spc="-10">
                <a:latin typeface="SimSun"/>
                <a:cs typeface="SimSun"/>
              </a:rPr>
              <a:t>（</a:t>
            </a:r>
            <a:r>
              <a:rPr dirty="0" sz="1200" spc="-10">
                <a:latin typeface="Arial MT"/>
                <a:cs typeface="Arial MT"/>
              </a:rPr>
              <a:t>mm</a:t>
            </a:r>
            <a:r>
              <a:rPr dirty="0" sz="1200" spc="-10">
                <a:latin typeface="SimSun"/>
                <a:cs typeface="SimSun"/>
              </a:rPr>
              <a:t>）</a:t>
            </a:r>
            <a:endParaRPr sz="1200">
              <a:latin typeface="SimSun"/>
              <a:cs typeface="SimSun"/>
            </a:endParaRPr>
          </a:p>
          <a:p>
            <a:pPr marL="298450" marR="5080" indent="-285750">
              <a:lnSpc>
                <a:spcPct val="150000"/>
              </a:lnSpc>
              <a:buFont typeface="Arial MT"/>
              <a:buChar char="•"/>
              <a:tabLst>
                <a:tab pos="298450" algn="l"/>
              </a:tabLst>
            </a:pPr>
            <a:r>
              <a:rPr dirty="0" sz="1200" spc="-10">
                <a:latin typeface="SimSun"/>
                <a:cs typeface="SimSun"/>
              </a:rPr>
              <a:t>调整抱杆位置方便调整角度</a:t>
            </a:r>
            <a:endParaRPr sz="1200">
              <a:latin typeface="SimSun"/>
              <a:cs typeface="SimSun"/>
            </a:endParaRPr>
          </a:p>
        </p:txBody>
      </p:sp>
      <p:sp>
        <p:nvSpPr>
          <p:cNvPr id="9" name="object 9" descr=""/>
          <p:cNvSpPr txBox="1"/>
          <p:nvPr/>
        </p:nvSpPr>
        <p:spPr>
          <a:xfrm>
            <a:off x="3063445" y="694461"/>
            <a:ext cx="1995170" cy="1671320"/>
          </a:xfrm>
          <a:prstGeom prst="rect">
            <a:avLst/>
          </a:prstGeom>
        </p:spPr>
        <p:txBody>
          <a:bodyPr wrap="square" lIns="0" tIns="12700" rIns="0" bIns="0" rtlCol="0" vert="horz">
            <a:spAutoFit/>
          </a:bodyPr>
          <a:lstStyle/>
          <a:p>
            <a:pPr marL="298450" marR="5080" indent="-285750">
              <a:lnSpc>
                <a:spcPct val="150000"/>
              </a:lnSpc>
              <a:spcBef>
                <a:spcPts val="100"/>
              </a:spcBef>
              <a:buFont typeface="Arial MT"/>
              <a:buChar char="•"/>
              <a:tabLst>
                <a:tab pos="298450" algn="l"/>
              </a:tabLst>
            </a:pPr>
            <a:r>
              <a:rPr dirty="0" sz="1200">
                <a:latin typeface="SimSun"/>
                <a:cs typeface="SimSun"/>
              </a:rPr>
              <a:t>美化罩尺寸影响</a:t>
            </a:r>
            <a:r>
              <a:rPr dirty="0" sz="1200" spc="-10">
                <a:latin typeface="Arial MT"/>
                <a:cs typeface="Arial MT"/>
              </a:rPr>
              <a:t>AAU</a:t>
            </a:r>
            <a:r>
              <a:rPr dirty="0" sz="1200" spc="-25">
                <a:latin typeface="SimSun"/>
                <a:cs typeface="SimSun"/>
              </a:rPr>
              <a:t>方位</a:t>
            </a:r>
            <a:r>
              <a:rPr dirty="0" sz="1200" spc="-20">
                <a:latin typeface="SimSun"/>
                <a:cs typeface="SimSun"/>
              </a:rPr>
              <a:t>角调整</a:t>
            </a:r>
            <a:endParaRPr sz="1200">
              <a:latin typeface="SimSun"/>
              <a:cs typeface="SimSun"/>
            </a:endParaRPr>
          </a:p>
          <a:p>
            <a:pPr marL="298450" marR="5080" indent="-285750">
              <a:lnSpc>
                <a:spcPct val="150000"/>
              </a:lnSpc>
              <a:buFont typeface="Arial MT"/>
              <a:buChar char="•"/>
              <a:tabLst>
                <a:tab pos="298450" algn="l"/>
              </a:tabLst>
            </a:pPr>
            <a:r>
              <a:rPr dirty="0" sz="1200">
                <a:latin typeface="SimSun"/>
                <a:cs typeface="SimSun"/>
              </a:rPr>
              <a:t>美化罩尺寸影响</a:t>
            </a:r>
            <a:r>
              <a:rPr dirty="0" sz="1200" spc="-10">
                <a:latin typeface="Arial MT"/>
                <a:cs typeface="Arial MT"/>
              </a:rPr>
              <a:t>AAU</a:t>
            </a:r>
            <a:r>
              <a:rPr dirty="0" sz="1200" spc="-25">
                <a:latin typeface="SimSun"/>
                <a:cs typeface="SimSun"/>
              </a:rPr>
              <a:t>下倾</a:t>
            </a:r>
            <a:r>
              <a:rPr dirty="0" sz="1200" spc="-20">
                <a:latin typeface="SimSun"/>
                <a:cs typeface="SimSun"/>
              </a:rPr>
              <a:t>角调整</a:t>
            </a:r>
            <a:endParaRPr sz="1200">
              <a:latin typeface="SimSun"/>
              <a:cs typeface="SimSun"/>
            </a:endParaRPr>
          </a:p>
          <a:p>
            <a:pPr marL="298450" marR="13335" indent="-285750">
              <a:lnSpc>
                <a:spcPct val="150000"/>
              </a:lnSpc>
              <a:buFont typeface="Arial MT"/>
              <a:buChar char="•"/>
              <a:tabLst>
                <a:tab pos="298450" algn="l"/>
              </a:tabLst>
            </a:pPr>
            <a:r>
              <a:rPr dirty="0" sz="1200" spc="-5">
                <a:latin typeface="SimSun"/>
                <a:cs typeface="SimSun"/>
              </a:rPr>
              <a:t>美化罩通风孔不满足散热</a:t>
            </a:r>
            <a:r>
              <a:rPr dirty="0" sz="1200" spc="-25">
                <a:latin typeface="SimSun"/>
                <a:cs typeface="SimSun"/>
              </a:rPr>
              <a:t>要求</a:t>
            </a:r>
            <a:endParaRPr sz="1200">
              <a:latin typeface="SimSun"/>
              <a:cs typeface="SimSun"/>
            </a:endParaRPr>
          </a:p>
        </p:txBody>
      </p:sp>
      <p:pic>
        <p:nvPicPr>
          <p:cNvPr id="10" name="object 10"/>
          <p:cNvPicPr/>
          <p:nvPr/>
        </p:nvPicPr>
        <p:blipFill>
          <a:blip r:embed="rId3" cstate="print"/>
          <a:stretch>
            <a:fillRect/>
          </a:stretch>
        </p:blipFill>
        <p:spPr>
          <a:xfrm>
            <a:off x="755574" y="808214"/>
            <a:ext cx="2111545" cy="1660231"/>
          </a:xfrm>
          <a:prstGeom prst="rect">
            <a:avLst/>
          </a:prstGeom>
        </p:spPr>
      </p:pic>
      <p:sp>
        <p:nvSpPr>
          <p:cNvPr id="11" name="object 11" descr=""/>
          <p:cNvSpPr txBox="1"/>
          <p:nvPr/>
        </p:nvSpPr>
        <p:spPr>
          <a:xfrm>
            <a:off x="5874875" y="2769980"/>
            <a:ext cx="1397000" cy="231140"/>
          </a:xfrm>
          <a:prstGeom prst="rect">
            <a:avLst/>
          </a:prstGeom>
        </p:spPr>
        <p:txBody>
          <a:bodyPr wrap="square" lIns="0" tIns="12700" rIns="0" bIns="0" rtlCol="0" vert="horz">
            <a:spAutoFit/>
          </a:bodyPr>
          <a:lstStyle/>
          <a:p>
            <a:pPr marL="12700">
              <a:lnSpc>
                <a:spcPct val="100000"/>
              </a:lnSpc>
              <a:spcBef>
                <a:spcPts val="100"/>
              </a:spcBef>
            </a:pPr>
            <a:r>
              <a:rPr dirty="0" sz="1350" spc="-10" b="1">
                <a:solidFill>
                  <a:srgbClr val="0070C0"/>
                </a:solidFill>
                <a:latin typeface="Microsoft YaHei"/>
                <a:cs typeface="Microsoft YaHei"/>
              </a:rPr>
              <a:t>措施③美化塔改造</a:t>
            </a:r>
            <a:endParaRPr sz="1350">
              <a:latin typeface="Microsoft YaHei"/>
              <a:cs typeface="Microsoft YaHei"/>
            </a:endParaRPr>
          </a:p>
        </p:txBody>
      </p:sp>
      <p:sp>
        <p:nvSpPr>
          <p:cNvPr id="12" name="object 12" descr=""/>
          <p:cNvSpPr txBox="1"/>
          <p:nvPr/>
        </p:nvSpPr>
        <p:spPr>
          <a:xfrm>
            <a:off x="7291089" y="3070725"/>
            <a:ext cx="1682750" cy="1671320"/>
          </a:xfrm>
          <a:prstGeom prst="rect">
            <a:avLst/>
          </a:prstGeom>
        </p:spPr>
        <p:txBody>
          <a:bodyPr wrap="square" lIns="0" tIns="12700" rIns="0" bIns="0" rtlCol="0" vert="horz">
            <a:spAutoFit/>
          </a:bodyPr>
          <a:lstStyle/>
          <a:p>
            <a:pPr marL="298450" marR="5080" indent="-285750">
              <a:lnSpc>
                <a:spcPct val="150000"/>
              </a:lnSpc>
              <a:spcBef>
                <a:spcPts val="100"/>
              </a:spcBef>
              <a:buFont typeface="Arial MT"/>
              <a:buChar char="•"/>
              <a:tabLst>
                <a:tab pos="298450" algn="l"/>
              </a:tabLst>
            </a:pPr>
            <a:r>
              <a:rPr dirty="0" sz="1200" spc="-10">
                <a:latin typeface="SimSun"/>
                <a:cs typeface="SimSun"/>
              </a:rPr>
              <a:t>拆除美化罩，增加安</a:t>
            </a:r>
            <a:r>
              <a:rPr dirty="0" sz="1200" spc="-20">
                <a:latin typeface="SimSun"/>
                <a:cs typeface="SimSun"/>
              </a:rPr>
              <a:t>装空间</a:t>
            </a:r>
            <a:endParaRPr sz="1200">
              <a:latin typeface="SimSun"/>
              <a:cs typeface="SimSun"/>
            </a:endParaRPr>
          </a:p>
          <a:p>
            <a:pPr marL="298450" marR="5080" indent="-285750">
              <a:lnSpc>
                <a:spcPct val="150000"/>
              </a:lnSpc>
              <a:buFont typeface="Arial MT"/>
              <a:buChar char="•"/>
              <a:tabLst>
                <a:tab pos="298450" algn="l"/>
              </a:tabLst>
            </a:pPr>
            <a:r>
              <a:rPr dirty="0" sz="1200" spc="-10">
                <a:latin typeface="SimSun"/>
                <a:cs typeface="SimSun"/>
              </a:rPr>
              <a:t>在美化罩底部安装设</a:t>
            </a:r>
            <a:r>
              <a:rPr dirty="0" sz="1200" spc="-50">
                <a:latin typeface="SimSun"/>
                <a:cs typeface="SimSun"/>
              </a:rPr>
              <a:t>备</a:t>
            </a:r>
            <a:endParaRPr sz="1200">
              <a:latin typeface="SimSun"/>
              <a:cs typeface="SimSun"/>
            </a:endParaRPr>
          </a:p>
          <a:p>
            <a:pPr marL="298450" marR="5080" indent="-285750">
              <a:lnSpc>
                <a:spcPct val="150000"/>
              </a:lnSpc>
              <a:buFont typeface="Arial MT"/>
              <a:buChar char="•"/>
              <a:tabLst>
                <a:tab pos="298450" algn="l"/>
              </a:tabLst>
            </a:pPr>
            <a:r>
              <a:rPr dirty="0" sz="1200" spc="-10">
                <a:latin typeface="SimSun"/>
                <a:cs typeface="SimSun"/>
              </a:rPr>
              <a:t>更换美化罩，满足设备安装要求</a:t>
            </a:r>
            <a:endParaRPr sz="1200">
              <a:latin typeface="SimSun"/>
              <a:cs typeface="SimSun"/>
            </a:endParaRPr>
          </a:p>
        </p:txBody>
      </p:sp>
      <p:sp>
        <p:nvSpPr>
          <p:cNvPr id="13" name="object 13" descr=""/>
          <p:cNvSpPr txBox="1"/>
          <p:nvPr/>
        </p:nvSpPr>
        <p:spPr>
          <a:xfrm>
            <a:off x="3599983" y="2769980"/>
            <a:ext cx="1739900" cy="231140"/>
          </a:xfrm>
          <a:prstGeom prst="rect">
            <a:avLst/>
          </a:prstGeom>
        </p:spPr>
        <p:txBody>
          <a:bodyPr wrap="square" lIns="0" tIns="12700" rIns="0" bIns="0" rtlCol="0" vert="horz">
            <a:spAutoFit/>
          </a:bodyPr>
          <a:lstStyle/>
          <a:p>
            <a:pPr marL="12700">
              <a:lnSpc>
                <a:spcPct val="100000"/>
              </a:lnSpc>
              <a:spcBef>
                <a:spcPts val="100"/>
              </a:spcBef>
            </a:pPr>
            <a:r>
              <a:rPr dirty="0" sz="1350" spc="-5" b="1">
                <a:solidFill>
                  <a:srgbClr val="0070C0"/>
                </a:solidFill>
                <a:latin typeface="Microsoft YaHei"/>
                <a:cs typeface="Microsoft YaHei"/>
              </a:rPr>
              <a:t>措施②利旧改造美化罩</a:t>
            </a:r>
            <a:endParaRPr sz="1350">
              <a:latin typeface="Microsoft YaHei"/>
              <a:cs typeface="Microsoft YaHei"/>
            </a:endParaRPr>
          </a:p>
        </p:txBody>
      </p:sp>
      <p:grpSp>
        <p:nvGrpSpPr>
          <p:cNvPr id="14" name="object 14" descr=""/>
          <p:cNvGrpSpPr/>
          <p:nvPr/>
        </p:nvGrpSpPr>
        <p:grpSpPr>
          <a:xfrm>
            <a:off x="282105" y="819150"/>
            <a:ext cx="8610600" cy="1758950"/>
            <a:chOff x="282105" y="819150"/>
            <a:chExt cx="8610600" cy="1758950"/>
          </a:xfrm>
        </p:grpSpPr>
        <p:pic>
          <p:nvPicPr>
            <p:cNvPr id="15" name="object 15"/>
            <p:cNvPicPr/>
            <p:nvPr/>
          </p:nvPicPr>
          <p:blipFill>
            <a:blip r:embed="rId4" cstate="print"/>
            <a:stretch>
              <a:fillRect/>
            </a:stretch>
          </p:blipFill>
          <p:spPr>
            <a:xfrm>
              <a:off x="5486399" y="819150"/>
              <a:ext cx="1461096" cy="1733257"/>
            </a:xfrm>
            <a:prstGeom prst="rect">
              <a:avLst/>
            </a:prstGeom>
          </p:spPr>
        </p:pic>
        <p:sp>
          <p:nvSpPr>
            <p:cNvPr id="16" name="object 16" descr=""/>
            <p:cNvSpPr/>
            <p:nvPr/>
          </p:nvSpPr>
          <p:spPr>
            <a:xfrm>
              <a:off x="282105" y="2571750"/>
              <a:ext cx="8610600" cy="0"/>
            </a:xfrm>
            <a:custGeom>
              <a:avLst/>
              <a:gdLst/>
              <a:ahLst/>
              <a:cxnLst/>
              <a:rect l="l" t="t" r="r" b="b"/>
              <a:pathLst>
                <a:path w="8610600" h="0">
                  <a:moveTo>
                    <a:pt x="0" y="0"/>
                  </a:moveTo>
                  <a:lnTo>
                    <a:pt x="8610371" y="0"/>
                  </a:lnTo>
                </a:path>
              </a:pathLst>
            </a:custGeom>
            <a:ln w="12700">
              <a:solidFill>
                <a:srgbClr val="B6DCDF"/>
              </a:solidFill>
              <a:prstDash val="sysDash"/>
            </a:ln>
          </p:spPr>
          <p:txBody>
            <a:bodyPr wrap="square" lIns="0" tIns="0" rIns="0" bIns="0" rtlCol="0"/>
            <a:lstStyle/>
            <a:p/>
          </p:txBody>
        </p:sp>
      </p:grpSp>
      <p:sp>
        <p:nvSpPr>
          <p:cNvPr id="17" name="object 17" descr=""/>
          <p:cNvSpPr txBox="1"/>
          <p:nvPr/>
        </p:nvSpPr>
        <p:spPr>
          <a:xfrm>
            <a:off x="7134066" y="694461"/>
            <a:ext cx="1835150" cy="1122680"/>
          </a:xfrm>
          <a:prstGeom prst="rect">
            <a:avLst/>
          </a:prstGeom>
        </p:spPr>
        <p:txBody>
          <a:bodyPr wrap="square" lIns="0" tIns="12700" rIns="0" bIns="0" rtlCol="0" vert="horz">
            <a:spAutoFit/>
          </a:bodyPr>
          <a:lstStyle/>
          <a:p>
            <a:pPr marL="298450" marR="5080" indent="-285750">
              <a:lnSpc>
                <a:spcPct val="150000"/>
              </a:lnSpc>
              <a:spcBef>
                <a:spcPts val="100"/>
              </a:spcBef>
              <a:buFont typeface="Arial MT"/>
              <a:buChar char="•"/>
              <a:tabLst>
                <a:tab pos="298450" algn="l"/>
              </a:tabLst>
            </a:pPr>
            <a:r>
              <a:rPr dirty="0" sz="1200" spc="-5">
                <a:latin typeface="SimSun"/>
                <a:cs typeface="SimSun"/>
              </a:rPr>
              <a:t>美化塔安装空间不足，</a:t>
            </a:r>
            <a:r>
              <a:rPr dirty="0" sz="1200">
                <a:latin typeface="SimSun"/>
                <a:cs typeface="SimSun"/>
              </a:rPr>
              <a:t>影响</a:t>
            </a:r>
            <a:r>
              <a:rPr dirty="0" sz="1200" spc="-10">
                <a:latin typeface="Arial MT"/>
                <a:cs typeface="Arial MT"/>
              </a:rPr>
              <a:t>AAU</a:t>
            </a:r>
            <a:r>
              <a:rPr dirty="0" sz="1200" spc="-10">
                <a:latin typeface="SimSun"/>
                <a:cs typeface="SimSun"/>
              </a:rPr>
              <a:t>方位角调整</a:t>
            </a:r>
            <a:endParaRPr sz="1200">
              <a:latin typeface="SimSun"/>
              <a:cs typeface="SimSun"/>
            </a:endParaRPr>
          </a:p>
          <a:p>
            <a:pPr marL="298450" marR="5080" indent="-285750">
              <a:lnSpc>
                <a:spcPct val="150000"/>
              </a:lnSpc>
              <a:buFont typeface="Arial MT"/>
              <a:buChar char="•"/>
              <a:tabLst>
                <a:tab pos="298450" algn="l"/>
              </a:tabLst>
            </a:pPr>
            <a:r>
              <a:rPr dirty="0" sz="1200" spc="-5">
                <a:latin typeface="SimSun"/>
                <a:cs typeface="SimSun"/>
              </a:rPr>
              <a:t>美化塔安装空间不足，</a:t>
            </a:r>
            <a:r>
              <a:rPr dirty="0" sz="1200">
                <a:latin typeface="SimSun"/>
                <a:cs typeface="SimSun"/>
              </a:rPr>
              <a:t>影响</a:t>
            </a:r>
            <a:r>
              <a:rPr dirty="0" sz="1200" spc="-10">
                <a:latin typeface="Arial MT"/>
                <a:cs typeface="Arial MT"/>
              </a:rPr>
              <a:t>AAU</a:t>
            </a:r>
            <a:r>
              <a:rPr dirty="0" sz="1200" spc="-10">
                <a:latin typeface="SimSun"/>
                <a:cs typeface="SimSun"/>
              </a:rPr>
              <a:t>下倾角调整</a:t>
            </a:r>
            <a:endParaRPr sz="1200">
              <a:latin typeface="SimSun"/>
              <a:cs typeface="SimSun"/>
            </a:endParaRPr>
          </a:p>
        </p:txBody>
      </p:sp>
      <p:pic>
        <p:nvPicPr>
          <p:cNvPr id="18" name="object 18"/>
          <p:cNvPicPr/>
          <p:nvPr/>
        </p:nvPicPr>
        <p:blipFill>
          <a:blip r:embed="rId5" cstate="print"/>
          <a:stretch>
            <a:fillRect/>
          </a:stretch>
        </p:blipFill>
        <p:spPr>
          <a:xfrm>
            <a:off x="710260" y="3054959"/>
            <a:ext cx="1238866" cy="1937016"/>
          </a:xfrm>
          <a:prstGeom prst="rect">
            <a:avLst/>
          </a:prstGeom>
        </p:spPr>
      </p:pic>
      <p:sp>
        <p:nvSpPr>
          <p:cNvPr id="19" name="object 19" descr=""/>
          <p:cNvSpPr txBox="1"/>
          <p:nvPr/>
        </p:nvSpPr>
        <p:spPr>
          <a:xfrm>
            <a:off x="258251" y="3065490"/>
            <a:ext cx="330200" cy="1488440"/>
          </a:xfrm>
          <a:prstGeom prst="rect">
            <a:avLst/>
          </a:prstGeom>
        </p:spPr>
        <p:txBody>
          <a:bodyPr wrap="square" lIns="0" tIns="12700" rIns="0" bIns="0" rtlCol="0" vert="horz">
            <a:spAutoFit/>
          </a:bodyPr>
          <a:lstStyle/>
          <a:p>
            <a:pPr algn="just" marL="12700" marR="5080">
              <a:lnSpc>
                <a:spcPct val="100000"/>
              </a:lnSpc>
              <a:spcBef>
                <a:spcPts val="100"/>
              </a:spcBef>
            </a:pPr>
            <a:r>
              <a:rPr dirty="0" sz="2400" spc="-50">
                <a:solidFill>
                  <a:srgbClr val="0070C0"/>
                </a:solidFill>
                <a:latin typeface="Microsoft YaHei"/>
                <a:cs typeface="Microsoft YaHei"/>
              </a:rPr>
              <a:t>解决方案</a:t>
            </a:r>
            <a:endParaRPr sz="2400">
              <a:latin typeface="Microsoft YaHei"/>
              <a:cs typeface="Microsoft YaHei"/>
            </a:endParaRPr>
          </a:p>
        </p:txBody>
      </p:sp>
      <p:sp>
        <p:nvSpPr>
          <p:cNvPr id="20" name="object 20" descr=""/>
          <p:cNvSpPr txBox="1"/>
          <p:nvPr/>
        </p:nvSpPr>
        <p:spPr>
          <a:xfrm>
            <a:off x="360969" y="755715"/>
            <a:ext cx="330200" cy="1488440"/>
          </a:xfrm>
          <a:prstGeom prst="rect">
            <a:avLst/>
          </a:prstGeom>
        </p:spPr>
        <p:txBody>
          <a:bodyPr wrap="square" lIns="0" tIns="12700" rIns="0" bIns="0" rtlCol="0" vert="horz">
            <a:spAutoFit/>
          </a:bodyPr>
          <a:lstStyle/>
          <a:p>
            <a:pPr algn="just" marL="12700" marR="5080">
              <a:lnSpc>
                <a:spcPct val="100000"/>
              </a:lnSpc>
              <a:spcBef>
                <a:spcPts val="100"/>
              </a:spcBef>
            </a:pPr>
            <a:r>
              <a:rPr dirty="0" sz="2400" spc="-50">
                <a:solidFill>
                  <a:srgbClr val="FF0000"/>
                </a:solidFill>
                <a:latin typeface="Microsoft YaHei"/>
                <a:cs typeface="Microsoft YaHei"/>
              </a:rPr>
              <a:t>存在问题</a:t>
            </a:r>
            <a:endParaRPr sz="2400">
              <a:latin typeface="Microsoft YaHei"/>
              <a:cs typeface="Microsoft YaHei"/>
            </a:endParaRPr>
          </a:p>
        </p:txBody>
      </p:sp>
      <p:pic>
        <p:nvPicPr>
          <p:cNvPr id="21" name="object 21"/>
          <p:cNvPicPr/>
          <p:nvPr/>
        </p:nvPicPr>
        <p:blipFill>
          <a:blip r:embed="rId6" cstate="print"/>
          <a:stretch>
            <a:fillRect/>
          </a:stretch>
        </p:blipFill>
        <p:spPr>
          <a:xfrm>
            <a:off x="3491879" y="3160877"/>
            <a:ext cx="925243" cy="185914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txBox="1"/>
          <p:nvPr/>
        </p:nvSpPr>
        <p:spPr>
          <a:xfrm>
            <a:off x="1219200" y="819150"/>
            <a:ext cx="1828800" cy="304800"/>
          </a:xfrm>
          <a:prstGeom prst="rect">
            <a:avLst/>
          </a:prstGeom>
          <a:solidFill>
            <a:srgbClr val="FFC000"/>
          </a:solidFill>
        </p:spPr>
        <p:txBody>
          <a:bodyPr wrap="square" lIns="0" tIns="21590" rIns="0" bIns="0" rtlCol="0" vert="horz">
            <a:spAutoFit/>
          </a:bodyPr>
          <a:lstStyle/>
          <a:p>
            <a:pPr marL="225425">
              <a:lnSpc>
                <a:spcPct val="100000"/>
              </a:lnSpc>
              <a:spcBef>
                <a:spcPts val="170"/>
              </a:spcBef>
            </a:pPr>
            <a:r>
              <a:rPr dirty="0" sz="1800" spc="-10">
                <a:solidFill>
                  <a:srgbClr val="FFFFFF"/>
                </a:solidFill>
                <a:latin typeface="SimSun"/>
                <a:cs typeface="SimSun"/>
              </a:rPr>
              <a:t>供电主要问题</a:t>
            </a:r>
            <a:endParaRPr sz="1800">
              <a:latin typeface="SimSun"/>
              <a:cs typeface="SimSun"/>
            </a:endParaRPr>
          </a:p>
        </p:txBody>
      </p:sp>
      <p:sp>
        <p:nvSpPr>
          <p:cNvPr id="3" name="object 3" descr=""/>
          <p:cNvSpPr/>
          <p:nvPr/>
        </p:nvSpPr>
        <p:spPr>
          <a:xfrm>
            <a:off x="323532" y="3202089"/>
            <a:ext cx="3916679" cy="1754505"/>
          </a:xfrm>
          <a:custGeom>
            <a:avLst/>
            <a:gdLst/>
            <a:ahLst/>
            <a:cxnLst/>
            <a:rect l="l" t="t" r="r" b="b"/>
            <a:pathLst>
              <a:path w="3916679" h="1754504">
                <a:moveTo>
                  <a:pt x="0" y="0"/>
                </a:moveTo>
                <a:lnTo>
                  <a:pt x="3916578" y="0"/>
                </a:lnTo>
                <a:lnTo>
                  <a:pt x="3916578" y="1754327"/>
                </a:lnTo>
                <a:lnTo>
                  <a:pt x="0" y="1754327"/>
                </a:lnTo>
                <a:lnTo>
                  <a:pt x="0" y="0"/>
                </a:lnTo>
                <a:close/>
              </a:path>
            </a:pathLst>
          </a:custGeom>
          <a:ln w="9525">
            <a:solidFill>
              <a:srgbClr val="000000"/>
            </a:solidFill>
            <a:prstDash val="sysDash"/>
          </a:ln>
        </p:spPr>
        <p:txBody>
          <a:bodyPr wrap="square" lIns="0" tIns="0" rIns="0" bIns="0" rtlCol="0"/>
          <a:lstStyle/>
          <a:p/>
        </p:txBody>
      </p:sp>
      <p:sp>
        <p:nvSpPr>
          <p:cNvPr id="4" name="object 4" descr=""/>
          <p:cNvSpPr/>
          <p:nvPr/>
        </p:nvSpPr>
        <p:spPr>
          <a:xfrm>
            <a:off x="5715000" y="819150"/>
            <a:ext cx="1905000" cy="275590"/>
          </a:xfrm>
          <a:custGeom>
            <a:avLst/>
            <a:gdLst/>
            <a:ahLst/>
            <a:cxnLst/>
            <a:rect l="l" t="t" r="r" b="b"/>
            <a:pathLst>
              <a:path w="1905000" h="275590">
                <a:moveTo>
                  <a:pt x="1905000" y="0"/>
                </a:moveTo>
                <a:lnTo>
                  <a:pt x="0" y="0"/>
                </a:lnTo>
                <a:lnTo>
                  <a:pt x="0" y="274967"/>
                </a:lnTo>
                <a:lnTo>
                  <a:pt x="1905000" y="274967"/>
                </a:lnTo>
                <a:lnTo>
                  <a:pt x="1905000" y="0"/>
                </a:lnTo>
                <a:close/>
              </a:path>
            </a:pathLst>
          </a:custGeom>
          <a:solidFill>
            <a:srgbClr val="FFC000"/>
          </a:solidFill>
        </p:spPr>
        <p:txBody>
          <a:bodyPr wrap="square" lIns="0" tIns="0" rIns="0" bIns="0" rtlCol="0"/>
          <a:lstStyle/>
          <a:p/>
        </p:txBody>
      </p:sp>
      <p:sp>
        <p:nvSpPr>
          <p:cNvPr id="5" name="object 5" descr=""/>
          <p:cNvSpPr txBox="1"/>
          <p:nvPr/>
        </p:nvSpPr>
        <p:spPr>
          <a:xfrm>
            <a:off x="5966142" y="813633"/>
            <a:ext cx="1401445" cy="29972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FFFFFF"/>
                </a:solidFill>
                <a:latin typeface="SimSun"/>
                <a:cs typeface="SimSun"/>
              </a:rPr>
              <a:t>供电应对措施</a:t>
            </a:r>
            <a:endParaRPr sz="1800">
              <a:latin typeface="SimSun"/>
              <a:cs typeface="SimSun"/>
            </a:endParaRPr>
          </a:p>
        </p:txBody>
      </p:sp>
      <p:sp>
        <p:nvSpPr>
          <p:cNvPr id="6" name="object 6"/>
          <p:cNvSpPr txBox="1">
            <a:spLocks noGrp="1"/>
          </p:cNvSpPr>
          <p:nvPr>
            <p:ph type="title"/>
          </p:nvPr>
        </p:nvSpPr>
        <p:spPr>
          <a:xfrm>
            <a:off x="1453292" y="138968"/>
            <a:ext cx="6846570" cy="513080"/>
          </a:xfrm>
          <a:prstGeom prst="rect"/>
        </p:spPr>
        <p:txBody>
          <a:bodyPr wrap="square" lIns="0" tIns="12065" rIns="0" bIns="0" rtlCol="0" vert="horz">
            <a:spAutoFit/>
          </a:bodyPr>
          <a:lstStyle/>
          <a:p>
            <a:pPr marL="12700">
              <a:lnSpc>
                <a:spcPct val="100000"/>
              </a:lnSpc>
              <a:spcBef>
                <a:spcPts val="95"/>
              </a:spcBef>
            </a:pPr>
            <a:r>
              <a:rPr dirty="0" spc="-35"/>
              <a:t>问题</a:t>
            </a:r>
            <a:r>
              <a:rPr dirty="0" spc="-30">
                <a:latin typeface="Times New Roman"/>
                <a:cs typeface="Times New Roman"/>
              </a:rPr>
              <a:t>4</a:t>
            </a:r>
            <a:r>
              <a:rPr dirty="0" spc="-30"/>
              <a:t>：</a:t>
            </a:r>
            <a:r>
              <a:rPr dirty="0" spc="-30">
                <a:latin typeface="Times New Roman"/>
                <a:cs typeface="Times New Roman"/>
              </a:rPr>
              <a:t>5G</a:t>
            </a:r>
            <a:r>
              <a:rPr dirty="0" spc="-45"/>
              <a:t>供电带来的挑战与应对措施</a:t>
            </a:r>
          </a:p>
        </p:txBody>
      </p:sp>
      <p:pic>
        <p:nvPicPr>
          <p:cNvPr id="7" name="object 7"/>
          <p:cNvPicPr/>
          <p:nvPr/>
        </p:nvPicPr>
        <p:blipFill>
          <a:blip r:embed="rId2" cstate="print"/>
          <a:stretch>
            <a:fillRect/>
          </a:stretch>
        </p:blipFill>
        <p:spPr>
          <a:xfrm>
            <a:off x="685800" y="1291021"/>
            <a:ext cx="3276600" cy="1752600"/>
          </a:xfrm>
          <a:prstGeom prst="rect">
            <a:avLst/>
          </a:prstGeom>
        </p:spPr>
      </p:pic>
      <p:sp>
        <p:nvSpPr>
          <p:cNvPr id="8" name="object 8" descr=""/>
          <p:cNvSpPr txBox="1"/>
          <p:nvPr/>
        </p:nvSpPr>
        <p:spPr>
          <a:xfrm>
            <a:off x="888771" y="2346920"/>
            <a:ext cx="623570" cy="299720"/>
          </a:xfrm>
          <a:prstGeom prst="rect">
            <a:avLst/>
          </a:prstGeom>
        </p:spPr>
        <p:txBody>
          <a:bodyPr wrap="square" lIns="0" tIns="12700" rIns="0" bIns="0" rtlCol="0" vert="horz">
            <a:spAutoFit/>
          </a:bodyPr>
          <a:lstStyle/>
          <a:p>
            <a:pPr marL="12700">
              <a:lnSpc>
                <a:spcPct val="100000"/>
              </a:lnSpc>
              <a:spcBef>
                <a:spcPts val="100"/>
              </a:spcBef>
            </a:pPr>
            <a:r>
              <a:rPr dirty="0" sz="1800" spc="-20" b="1">
                <a:solidFill>
                  <a:srgbClr val="FF0000"/>
                </a:solidFill>
                <a:latin typeface="Arial"/>
                <a:cs typeface="Arial"/>
              </a:rPr>
              <a:t>650W</a:t>
            </a:r>
            <a:endParaRPr sz="1800">
              <a:latin typeface="Arial"/>
              <a:cs typeface="Arial"/>
            </a:endParaRPr>
          </a:p>
        </p:txBody>
      </p:sp>
      <p:sp>
        <p:nvSpPr>
          <p:cNvPr id="9" name="object 9" descr=""/>
          <p:cNvSpPr txBox="1"/>
          <p:nvPr/>
        </p:nvSpPr>
        <p:spPr>
          <a:xfrm>
            <a:off x="2786837" y="2371380"/>
            <a:ext cx="623570" cy="299720"/>
          </a:xfrm>
          <a:prstGeom prst="rect">
            <a:avLst/>
          </a:prstGeom>
        </p:spPr>
        <p:txBody>
          <a:bodyPr wrap="square" lIns="0" tIns="12700" rIns="0" bIns="0" rtlCol="0" vert="horz">
            <a:spAutoFit/>
          </a:bodyPr>
          <a:lstStyle/>
          <a:p>
            <a:pPr marL="12700">
              <a:lnSpc>
                <a:spcPct val="100000"/>
              </a:lnSpc>
              <a:spcBef>
                <a:spcPts val="100"/>
              </a:spcBef>
            </a:pPr>
            <a:r>
              <a:rPr dirty="0" sz="1800" spc="-20" b="1">
                <a:solidFill>
                  <a:srgbClr val="FF0000"/>
                </a:solidFill>
                <a:latin typeface="Arial"/>
                <a:cs typeface="Arial"/>
              </a:rPr>
              <a:t>800W</a:t>
            </a:r>
            <a:endParaRPr sz="1800">
              <a:latin typeface="Arial"/>
              <a:cs typeface="Arial"/>
            </a:endParaRPr>
          </a:p>
        </p:txBody>
      </p:sp>
      <p:sp>
        <p:nvSpPr>
          <p:cNvPr id="10" name="object 10" descr=""/>
          <p:cNvSpPr txBox="1"/>
          <p:nvPr/>
        </p:nvSpPr>
        <p:spPr>
          <a:xfrm>
            <a:off x="921918" y="1160715"/>
            <a:ext cx="623570" cy="299720"/>
          </a:xfrm>
          <a:prstGeom prst="rect">
            <a:avLst/>
          </a:prstGeom>
        </p:spPr>
        <p:txBody>
          <a:bodyPr wrap="square" lIns="0" tIns="12700" rIns="0" bIns="0" rtlCol="0" vert="horz">
            <a:spAutoFit/>
          </a:bodyPr>
          <a:lstStyle/>
          <a:p>
            <a:pPr marL="12700">
              <a:lnSpc>
                <a:spcPct val="100000"/>
              </a:lnSpc>
              <a:spcBef>
                <a:spcPts val="100"/>
              </a:spcBef>
            </a:pPr>
            <a:r>
              <a:rPr dirty="0" sz="1800" spc="-20" b="1">
                <a:solidFill>
                  <a:srgbClr val="FF0000"/>
                </a:solidFill>
                <a:latin typeface="Arial"/>
                <a:cs typeface="Arial"/>
              </a:rPr>
              <a:t>450W</a:t>
            </a:r>
            <a:endParaRPr sz="1800">
              <a:latin typeface="Arial"/>
              <a:cs typeface="Arial"/>
            </a:endParaRPr>
          </a:p>
        </p:txBody>
      </p:sp>
      <p:sp>
        <p:nvSpPr>
          <p:cNvPr id="11" name="object 11" descr=""/>
          <p:cNvSpPr txBox="1"/>
          <p:nvPr/>
        </p:nvSpPr>
        <p:spPr>
          <a:xfrm>
            <a:off x="2663164" y="1177631"/>
            <a:ext cx="751205" cy="299720"/>
          </a:xfrm>
          <a:prstGeom prst="rect">
            <a:avLst/>
          </a:prstGeom>
        </p:spPr>
        <p:txBody>
          <a:bodyPr wrap="square" lIns="0" tIns="12700" rIns="0" bIns="0" rtlCol="0" vert="horz">
            <a:spAutoFit/>
          </a:bodyPr>
          <a:lstStyle/>
          <a:p>
            <a:pPr marL="12700">
              <a:lnSpc>
                <a:spcPct val="100000"/>
              </a:lnSpc>
              <a:spcBef>
                <a:spcPts val="100"/>
              </a:spcBef>
            </a:pPr>
            <a:r>
              <a:rPr dirty="0" sz="1800" spc="-10" b="1">
                <a:solidFill>
                  <a:srgbClr val="FF0000"/>
                </a:solidFill>
                <a:latin typeface="Arial"/>
                <a:cs typeface="Arial"/>
              </a:rPr>
              <a:t>1350W</a:t>
            </a:r>
            <a:endParaRPr sz="1800">
              <a:latin typeface="Arial"/>
              <a:cs typeface="Arial"/>
            </a:endParaRPr>
          </a:p>
        </p:txBody>
      </p:sp>
      <p:sp>
        <p:nvSpPr>
          <p:cNvPr id="12" name="object 12" descr=""/>
          <p:cNvSpPr/>
          <p:nvPr/>
        </p:nvSpPr>
        <p:spPr>
          <a:xfrm>
            <a:off x="4343400" y="1047750"/>
            <a:ext cx="4608830" cy="2308860"/>
          </a:xfrm>
          <a:custGeom>
            <a:avLst/>
            <a:gdLst/>
            <a:ahLst/>
            <a:cxnLst/>
            <a:rect l="l" t="t" r="r" b="b"/>
            <a:pathLst>
              <a:path w="4608830" h="2308860">
                <a:moveTo>
                  <a:pt x="0" y="0"/>
                </a:moveTo>
                <a:lnTo>
                  <a:pt x="4608690" y="0"/>
                </a:lnTo>
                <a:lnTo>
                  <a:pt x="4608690" y="2308326"/>
                </a:lnTo>
                <a:lnTo>
                  <a:pt x="0" y="2308326"/>
                </a:lnTo>
                <a:lnTo>
                  <a:pt x="0" y="0"/>
                </a:lnTo>
                <a:close/>
              </a:path>
            </a:pathLst>
          </a:custGeom>
          <a:ln w="9525">
            <a:solidFill>
              <a:srgbClr val="000000"/>
            </a:solidFill>
            <a:prstDash val="sysDash"/>
          </a:ln>
        </p:spPr>
        <p:txBody>
          <a:bodyPr wrap="square" lIns="0" tIns="0" rIns="0" bIns="0" rtlCol="0"/>
          <a:lstStyle/>
          <a:p/>
        </p:txBody>
      </p:sp>
      <p:sp>
        <p:nvSpPr>
          <p:cNvPr id="13" name="object 13" descr=""/>
          <p:cNvSpPr txBox="1"/>
          <p:nvPr/>
        </p:nvSpPr>
        <p:spPr>
          <a:xfrm>
            <a:off x="4422140" y="1042669"/>
            <a:ext cx="4455795" cy="1945639"/>
          </a:xfrm>
          <a:prstGeom prst="rect">
            <a:avLst/>
          </a:prstGeom>
        </p:spPr>
        <p:txBody>
          <a:bodyPr wrap="square" lIns="0" tIns="12700" rIns="0" bIns="0" rtlCol="0" vert="horz">
            <a:spAutoFit/>
          </a:bodyPr>
          <a:lstStyle/>
          <a:p>
            <a:pPr marL="183515" marR="10160" indent="-171450">
              <a:lnSpc>
                <a:spcPct val="150000"/>
              </a:lnSpc>
              <a:spcBef>
                <a:spcPts val="100"/>
              </a:spcBef>
              <a:buFont typeface="Arial MT"/>
              <a:buChar char="•"/>
              <a:tabLst>
                <a:tab pos="183515" algn="l"/>
              </a:tabLst>
            </a:pPr>
            <a:r>
              <a:rPr dirty="0" sz="1200">
                <a:latin typeface="SimSun"/>
                <a:cs typeface="SimSun"/>
              </a:rPr>
              <a:t>配发5G</a:t>
            </a:r>
            <a:r>
              <a:rPr dirty="0" sz="1200" spc="-5">
                <a:latin typeface="SimSun"/>
                <a:cs typeface="SimSun"/>
              </a:rPr>
              <a:t>专用机柜，提升设备散热能力，同时更换或增加空调，制冷量满足设备要求；</a:t>
            </a:r>
            <a:endParaRPr sz="1200">
              <a:latin typeface="SimSun"/>
              <a:cs typeface="SimSun"/>
            </a:endParaRPr>
          </a:p>
          <a:p>
            <a:pPr marL="183515" marR="5715" indent="-171450">
              <a:lnSpc>
                <a:spcPct val="150000"/>
              </a:lnSpc>
              <a:buFont typeface="Arial MT"/>
              <a:buChar char="•"/>
              <a:tabLst>
                <a:tab pos="183515" algn="l"/>
              </a:tabLst>
            </a:pPr>
            <a:r>
              <a:rPr dirty="0" sz="1200">
                <a:latin typeface="SimSun"/>
                <a:cs typeface="SimSun"/>
              </a:rPr>
              <a:t>改造机房配电能力，引入大功率电源和大容量（100A）</a:t>
            </a:r>
            <a:r>
              <a:rPr dirty="0" sz="1200" spc="-20">
                <a:latin typeface="SimSun"/>
                <a:cs typeface="SimSun"/>
              </a:rPr>
              <a:t>高效整</a:t>
            </a:r>
            <a:r>
              <a:rPr dirty="0" sz="1200">
                <a:latin typeface="SimSun"/>
                <a:cs typeface="SimSun"/>
              </a:rPr>
              <a:t>流系统，满足5G</a:t>
            </a:r>
            <a:r>
              <a:rPr dirty="0" sz="1200" spc="-10">
                <a:latin typeface="SimSun"/>
                <a:cs typeface="SimSun"/>
              </a:rPr>
              <a:t>设备供电需要；</a:t>
            </a:r>
            <a:endParaRPr sz="1200">
              <a:latin typeface="SimSun"/>
              <a:cs typeface="SimSun"/>
            </a:endParaRPr>
          </a:p>
          <a:p>
            <a:pPr marL="183515" marR="5080" indent="-171450">
              <a:lnSpc>
                <a:spcPct val="150000"/>
              </a:lnSpc>
              <a:buFont typeface="Arial MT"/>
              <a:buChar char="•"/>
              <a:tabLst>
                <a:tab pos="183515" algn="l"/>
              </a:tabLst>
            </a:pPr>
            <a:r>
              <a:rPr dirty="0" sz="1200" spc="40">
                <a:latin typeface="SimSun"/>
                <a:cs typeface="SimSun"/>
              </a:rPr>
              <a:t>备电扩容改造，支持更长备电时间和更长工作时间，保证站点</a:t>
            </a:r>
            <a:r>
              <a:rPr dirty="0" sz="1200">
                <a:latin typeface="SimSun"/>
                <a:cs typeface="SimSun"/>
              </a:rPr>
              <a:t>资产安全，设备运行和配备电鲁棒性；</a:t>
            </a:r>
            <a:endParaRPr sz="1200">
              <a:latin typeface="SimSun"/>
              <a:cs typeface="SimSun"/>
            </a:endParaRPr>
          </a:p>
          <a:p>
            <a:pPr marL="184785" indent="-172085">
              <a:lnSpc>
                <a:spcPct val="100000"/>
              </a:lnSpc>
              <a:spcBef>
                <a:spcPts val="720"/>
              </a:spcBef>
              <a:buFont typeface="Arial MT"/>
              <a:buChar char="•"/>
              <a:tabLst>
                <a:tab pos="184785" algn="l"/>
              </a:tabLst>
            </a:pPr>
            <a:r>
              <a:rPr dirty="0" sz="1200">
                <a:latin typeface="SimSun"/>
                <a:cs typeface="SimSun"/>
              </a:rPr>
              <a:t>配电柜扩容改造，更换或增加匹配的空开端子，满足5G</a:t>
            </a:r>
            <a:r>
              <a:rPr dirty="0" sz="1200" spc="-20">
                <a:latin typeface="SimSun"/>
                <a:cs typeface="SimSun"/>
              </a:rPr>
              <a:t>设备供</a:t>
            </a:r>
            <a:endParaRPr sz="1200">
              <a:latin typeface="SimSun"/>
              <a:cs typeface="SimSun"/>
            </a:endParaRPr>
          </a:p>
        </p:txBody>
      </p:sp>
      <p:sp>
        <p:nvSpPr>
          <p:cNvPr id="14" name="object 14" descr=""/>
          <p:cNvSpPr txBox="1"/>
          <p:nvPr/>
        </p:nvSpPr>
        <p:spPr>
          <a:xfrm>
            <a:off x="402267" y="3003134"/>
            <a:ext cx="4826635" cy="1865630"/>
          </a:xfrm>
          <a:prstGeom prst="rect">
            <a:avLst/>
          </a:prstGeom>
        </p:spPr>
        <p:txBody>
          <a:bodyPr wrap="square" lIns="0" tIns="63500" rIns="0" bIns="0" rtlCol="0" vert="horz">
            <a:spAutoFit/>
          </a:bodyPr>
          <a:lstStyle/>
          <a:p>
            <a:pPr marL="4203700">
              <a:lnSpc>
                <a:spcPct val="100000"/>
              </a:lnSpc>
              <a:spcBef>
                <a:spcPts val="500"/>
              </a:spcBef>
            </a:pPr>
            <a:r>
              <a:rPr dirty="0" sz="1200" spc="-15">
                <a:latin typeface="SimSun"/>
                <a:cs typeface="SimSun"/>
              </a:rPr>
              <a:t>电需要。</a:t>
            </a:r>
            <a:endParaRPr sz="1200">
              <a:latin typeface="SimSun"/>
              <a:cs typeface="SimSun"/>
            </a:endParaRPr>
          </a:p>
          <a:p>
            <a:pPr marL="12700">
              <a:lnSpc>
                <a:spcPct val="100000"/>
              </a:lnSpc>
              <a:spcBef>
                <a:spcPts val="405"/>
              </a:spcBef>
            </a:pPr>
            <a:r>
              <a:rPr dirty="0" sz="1200" spc="40">
                <a:latin typeface="SimSun"/>
                <a:cs typeface="SimSun"/>
              </a:rPr>
              <a:t>典型配置下，</a:t>
            </a:r>
            <a:r>
              <a:rPr dirty="0" sz="1200">
                <a:latin typeface="SimSun"/>
                <a:cs typeface="SimSun"/>
              </a:rPr>
              <a:t>5G</a:t>
            </a:r>
            <a:r>
              <a:rPr dirty="0" sz="1200" spc="50">
                <a:latin typeface="SimSun"/>
                <a:cs typeface="SimSun"/>
              </a:rPr>
              <a:t>整站功耗是</a:t>
            </a:r>
            <a:r>
              <a:rPr dirty="0" sz="1200">
                <a:latin typeface="SimSun"/>
                <a:cs typeface="SimSun"/>
              </a:rPr>
              <a:t>4G</a:t>
            </a:r>
            <a:r>
              <a:rPr dirty="0" sz="1200" spc="50">
                <a:latin typeface="SimSun"/>
                <a:cs typeface="SimSun"/>
              </a:rPr>
              <a:t>整站功耗的</a:t>
            </a:r>
            <a:r>
              <a:rPr dirty="0" sz="1200">
                <a:latin typeface="SimSun"/>
                <a:cs typeface="SimSun"/>
              </a:rPr>
              <a:t>2~3</a:t>
            </a:r>
            <a:r>
              <a:rPr dirty="0" sz="1200" spc="35">
                <a:latin typeface="SimSun"/>
                <a:cs typeface="SimSun"/>
              </a:rPr>
              <a:t>倍，对机</a:t>
            </a:r>
            <a:endParaRPr sz="1200">
              <a:latin typeface="SimSun"/>
              <a:cs typeface="SimSun"/>
            </a:endParaRPr>
          </a:p>
          <a:p>
            <a:pPr marL="12700">
              <a:lnSpc>
                <a:spcPct val="100000"/>
              </a:lnSpc>
              <a:spcBef>
                <a:spcPts val="720"/>
              </a:spcBef>
            </a:pPr>
            <a:r>
              <a:rPr dirty="0" sz="1200" spc="-5">
                <a:latin typeface="SimSun"/>
                <a:cs typeface="SimSun"/>
              </a:rPr>
              <a:t>房供电、制冷等配套带来较多问题：</a:t>
            </a:r>
            <a:endParaRPr sz="1200">
              <a:latin typeface="SimSun"/>
              <a:cs typeface="SimSun"/>
            </a:endParaRPr>
          </a:p>
          <a:p>
            <a:pPr marL="184785" indent="-172085">
              <a:lnSpc>
                <a:spcPct val="100000"/>
              </a:lnSpc>
              <a:spcBef>
                <a:spcPts val="720"/>
              </a:spcBef>
              <a:buFont typeface="Arial MT"/>
              <a:buChar char="•"/>
              <a:tabLst>
                <a:tab pos="184785" algn="l"/>
              </a:tabLst>
            </a:pPr>
            <a:r>
              <a:rPr dirty="0" sz="1200" spc="-5">
                <a:latin typeface="SimSun"/>
                <a:cs typeface="SimSun"/>
              </a:rPr>
              <a:t>机柜散热能力不足，空调制冷能力不足或故障；</a:t>
            </a:r>
            <a:endParaRPr sz="1200">
              <a:latin typeface="SimSun"/>
              <a:cs typeface="SimSun"/>
            </a:endParaRPr>
          </a:p>
          <a:p>
            <a:pPr marL="184785" indent="-172085">
              <a:lnSpc>
                <a:spcPct val="100000"/>
              </a:lnSpc>
              <a:spcBef>
                <a:spcPts val="720"/>
              </a:spcBef>
              <a:buFont typeface="Arial MT"/>
              <a:buChar char="•"/>
              <a:tabLst>
                <a:tab pos="184785" algn="l"/>
              </a:tabLst>
            </a:pPr>
            <a:r>
              <a:rPr dirty="0" sz="1200">
                <a:latin typeface="SimSun"/>
                <a:cs typeface="SimSun"/>
              </a:rPr>
              <a:t>机房配电、备电容量不足，无法支撑5G</a:t>
            </a:r>
            <a:r>
              <a:rPr dirty="0" sz="1200" spc="-10">
                <a:latin typeface="SimSun"/>
                <a:cs typeface="SimSun"/>
              </a:rPr>
              <a:t>设备正常运行；</a:t>
            </a:r>
            <a:endParaRPr sz="1200">
              <a:latin typeface="SimSun"/>
              <a:cs typeface="SimSun"/>
            </a:endParaRPr>
          </a:p>
          <a:p>
            <a:pPr marL="184150" marR="1073150" indent="-171450">
              <a:lnSpc>
                <a:spcPct val="150000"/>
              </a:lnSpc>
              <a:buFont typeface="Arial MT"/>
              <a:buChar char="•"/>
              <a:tabLst>
                <a:tab pos="184150" algn="l"/>
              </a:tabLst>
            </a:pPr>
            <a:r>
              <a:rPr dirty="0" sz="1200">
                <a:latin typeface="SimSun"/>
                <a:cs typeface="SimSun"/>
              </a:rPr>
              <a:t>配电柜容量和剩余空开端子数量不足，无法支撑5G</a:t>
            </a:r>
            <a:r>
              <a:rPr dirty="0" sz="1200" spc="-50">
                <a:latin typeface="SimSun"/>
                <a:cs typeface="SimSun"/>
              </a:rPr>
              <a:t>设</a:t>
            </a:r>
            <a:r>
              <a:rPr dirty="0" sz="1200" spc="-10">
                <a:latin typeface="SimSun"/>
                <a:cs typeface="SimSun"/>
              </a:rPr>
              <a:t>备正常运行。</a:t>
            </a:r>
            <a:endParaRPr sz="1200">
              <a:latin typeface="SimSun"/>
              <a:cs typeface="SimSun"/>
            </a:endParaRPr>
          </a:p>
        </p:txBody>
      </p:sp>
      <p:grpSp>
        <p:nvGrpSpPr>
          <p:cNvPr id="15" name="object 15" descr=""/>
          <p:cNvGrpSpPr/>
          <p:nvPr/>
        </p:nvGrpSpPr>
        <p:grpSpPr>
          <a:xfrm>
            <a:off x="4418457" y="3192564"/>
            <a:ext cx="4627880" cy="1773555"/>
            <a:chOff x="4418457" y="3192564"/>
            <a:chExt cx="4627880" cy="1773555"/>
          </a:xfrm>
        </p:grpSpPr>
        <p:pic>
          <p:nvPicPr>
            <p:cNvPr id="16" name="object 16"/>
            <p:cNvPicPr/>
            <p:nvPr/>
          </p:nvPicPr>
          <p:blipFill>
            <a:blip r:embed="rId3" cstate="print"/>
            <a:stretch>
              <a:fillRect/>
            </a:stretch>
          </p:blipFill>
          <p:spPr>
            <a:xfrm>
              <a:off x="4427983" y="3202089"/>
              <a:ext cx="2298825" cy="1754322"/>
            </a:xfrm>
            <a:prstGeom prst="rect">
              <a:avLst/>
            </a:prstGeom>
          </p:spPr>
        </p:pic>
        <p:sp>
          <p:nvSpPr>
            <p:cNvPr id="17" name="object 17" descr=""/>
            <p:cNvSpPr/>
            <p:nvPr/>
          </p:nvSpPr>
          <p:spPr>
            <a:xfrm>
              <a:off x="4423219" y="3197326"/>
              <a:ext cx="2308860" cy="1764030"/>
            </a:xfrm>
            <a:custGeom>
              <a:avLst/>
              <a:gdLst/>
              <a:ahLst/>
              <a:cxnLst/>
              <a:rect l="l" t="t" r="r" b="b"/>
              <a:pathLst>
                <a:path w="2308859" h="1764029">
                  <a:moveTo>
                    <a:pt x="0" y="0"/>
                  </a:moveTo>
                  <a:lnTo>
                    <a:pt x="2308352" y="0"/>
                  </a:lnTo>
                  <a:lnTo>
                    <a:pt x="2308352" y="1763852"/>
                  </a:lnTo>
                  <a:lnTo>
                    <a:pt x="0" y="1763852"/>
                  </a:lnTo>
                  <a:lnTo>
                    <a:pt x="0" y="0"/>
                  </a:lnTo>
                  <a:close/>
                </a:path>
              </a:pathLst>
            </a:custGeom>
            <a:ln w="9525">
              <a:solidFill>
                <a:srgbClr val="000000"/>
              </a:solidFill>
            </a:ln>
          </p:spPr>
          <p:txBody>
            <a:bodyPr wrap="square" lIns="0" tIns="0" rIns="0" bIns="0" rtlCol="0"/>
            <a:lstStyle/>
            <a:p/>
          </p:txBody>
        </p:sp>
        <p:pic>
          <p:nvPicPr>
            <p:cNvPr id="18" name="object 18"/>
            <p:cNvPicPr/>
            <p:nvPr/>
          </p:nvPicPr>
          <p:blipFill>
            <a:blip r:embed="rId4" cstate="print"/>
            <a:stretch>
              <a:fillRect/>
            </a:stretch>
          </p:blipFill>
          <p:spPr>
            <a:xfrm>
              <a:off x="6804246" y="3202089"/>
              <a:ext cx="2232412" cy="1754322"/>
            </a:xfrm>
            <a:prstGeom prst="rect">
              <a:avLst/>
            </a:prstGeom>
          </p:spPr>
        </p:pic>
        <p:sp>
          <p:nvSpPr>
            <p:cNvPr id="19" name="object 19" descr=""/>
            <p:cNvSpPr/>
            <p:nvPr/>
          </p:nvSpPr>
          <p:spPr>
            <a:xfrm>
              <a:off x="6799491" y="3197326"/>
              <a:ext cx="2242185" cy="1764030"/>
            </a:xfrm>
            <a:custGeom>
              <a:avLst/>
              <a:gdLst/>
              <a:ahLst/>
              <a:cxnLst/>
              <a:rect l="l" t="t" r="r" b="b"/>
              <a:pathLst>
                <a:path w="2242184" h="1764029">
                  <a:moveTo>
                    <a:pt x="0" y="0"/>
                  </a:moveTo>
                  <a:lnTo>
                    <a:pt x="2241943" y="0"/>
                  </a:lnTo>
                  <a:lnTo>
                    <a:pt x="2241943" y="1763852"/>
                  </a:lnTo>
                  <a:lnTo>
                    <a:pt x="0" y="1763852"/>
                  </a:lnTo>
                  <a:lnTo>
                    <a:pt x="0" y="0"/>
                  </a:lnTo>
                  <a:close/>
                </a:path>
              </a:pathLst>
            </a:custGeom>
            <a:ln w="9525">
              <a:solidFill>
                <a:srgbClr val="000000"/>
              </a:solidFill>
            </a:ln>
          </p:spPr>
          <p:txBody>
            <a:bodyPr wrap="square" lIns="0" tIns="0" rIns="0" bIns="0" rtlCol="0"/>
            <a:lstStyle/>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429000" y="971550"/>
            <a:ext cx="45720" cy="3759200"/>
          </a:xfrm>
          <a:custGeom>
            <a:avLst/>
            <a:gdLst/>
            <a:ahLst/>
            <a:cxnLst/>
            <a:rect l="l" t="t" r="r" b="b"/>
            <a:pathLst>
              <a:path w="45720" h="3759200">
                <a:moveTo>
                  <a:pt x="0" y="0"/>
                </a:moveTo>
                <a:lnTo>
                  <a:pt x="45720" y="3758806"/>
                </a:lnTo>
              </a:path>
            </a:pathLst>
          </a:custGeom>
          <a:ln w="34924">
            <a:solidFill>
              <a:srgbClr val="000000"/>
            </a:solidFill>
          </a:ln>
        </p:spPr>
        <p:txBody>
          <a:bodyPr wrap="square" lIns="0" tIns="0" rIns="0" bIns="0" rtlCol="0"/>
          <a:lstStyle/>
          <a:p/>
        </p:txBody>
      </p:sp>
      <p:grpSp>
        <p:nvGrpSpPr>
          <p:cNvPr id="3" name="object 3" descr=""/>
          <p:cNvGrpSpPr/>
          <p:nvPr/>
        </p:nvGrpSpPr>
        <p:grpSpPr>
          <a:xfrm>
            <a:off x="3727450" y="1614091"/>
            <a:ext cx="4660900" cy="498475"/>
            <a:chOff x="3727450" y="1614091"/>
            <a:chExt cx="4660900" cy="498475"/>
          </a:xfrm>
        </p:grpSpPr>
        <p:pic>
          <p:nvPicPr>
            <p:cNvPr id="4" name="object 4" descr=""/>
            <p:cNvPicPr/>
            <p:nvPr/>
          </p:nvPicPr>
          <p:blipFill>
            <a:blip r:embed="rId2" cstate="print"/>
            <a:stretch>
              <a:fillRect/>
            </a:stretch>
          </p:blipFill>
          <p:spPr>
            <a:xfrm>
              <a:off x="3733800" y="1620441"/>
              <a:ext cx="4648200" cy="485775"/>
            </a:xfrm>
            <a:prstGeom prst="rect">
              <a:avLst/>
            </a:prstGeom>
          </p:spPr>
        </p:pic>
        <p:sp>
          <p:nvSpPr>
            <p:cNvPr id="5" name="object 5" descr=""/>
            <p:cNvSpPr/>
            <p:nvPr/>
          </p:nvSpPr>
          <p:spPr>
            <a:xfrm>
              <a:off x="3733800" y="16204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727450" y="2261791"/>
            <a:ext cx="4660900" cy="498475"/>
            <a:chOff x="3727450" y="2261791"/>
            <a:chExt cx="4660900" cy="498475"/>
          </a:xfrm>
        </p:grpSpPr>
        <p:pic>
          <p:nvPicPr>
            <p:cNvPr id="7" name="object 7" descr=""/>
            <p:cNvPicPr/>
            <p:nvPr/>
          </p:nvPicPr>
          <p:blipFill>
            <a:blip r:embed="rId3" cstate="print"/>
            <a:stretch>
              <a:fillRect/>
            </a:stretch>
          </p:blipFill>
          <p:spPr>
            <a:xfrm>
              <a:off x="3733800" y="2268141"/>
              <a:ext cx="4648200" cy="485775"/>
            </a:xfrm>
            <a:prstGeom prst="rect">
              <a:avLst/>
            </a:prstGeom>
          </p:spPr>
        </p:pic>
        <p:sp>
          <p:nvSpPr>
            <p:cNvPr id="8" name="object 8" descr=""/>
            <p:cNvSpPr/>
            <p:nvPr/>
          </p:nvSpPr>
          <p:spPr>
            <a:xfrm>
              <a:off x="3733800" y="22681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727450" y="965200"/>
            <a:ext cx="4660900" cy="498475"/>
            <a:chOff x="3727450" y="965200"/>
            <a:chExt cx="4660900" cy="498475"/>
          </a:xfrm>
        </p:grpSpPr>
        <p:pic>
          <p:nvPicPr>
            <p:cNvPr id="10" name="object 10" descr=""/>
            <p:cNvPicPr/>
            <p:nvPr/>
          </p:nvPicPr>
          <p:blipFill>
            <a:blip r:embed="rId4" cstate="print"/>
            <a:stretch>
              <a:fillRect/>
            </a:stretch>
          </p:blipFill>
          <p:spPr>
            <a:xfrm>
              <a:off x="3733800" y="971550"/>
              <a:ext cx="4648200" cy="485775"/>
            </a:xfrm>
            <a:prstGeom prst="rect">
              <a:avLst/>
            </a:prstGeom>
          </p:spPr>
        </p:pic>
        <p:sp>
          <p:nvSpPr>
            <p:cNvPr id="11" name="object 11" descr=""/>
            <p:cNvSpPr/>
            <p:nvPr/>
          </p:nvSpPr>
          <p:spPr>
            <a:xfrm>
              <a:off x="3733800" y="971550"/>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174619" y="39229"/>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主</a:t>
            </a:r>
            <a:r>
              <a:rPr dirty="0" sz="4400"/>
              <a:t>	</a:t>
            </a:r>
            <a:r>
              <a:rPr dirty="0" sz="4400" spc="-50"/>
              <a:t>要</a:t>
            </a:r>
            <a:r>
              <a:rPr dirty="0" sz="4400"/>
              <a:t>	</a:t>
            </a:r>
            <a:r>
              <a:rPr dirty="0" sz="4400" spc="-50"/>
              <a:t>内</a:t>
            </a:r>
            <a:r>
              <a:rPr dirty="0" sz="4400"/>
              <a:t>	</a:t>
            </a:r>
            <a:r>
              <a:rPr dirty="0" sz="4400" spc="-50"/>
              <a:t>容</a:t>
            </a:r>
            <a:endParaRPr sz="4400"/>
          </a:p>
        </p:txBody>
      </p:sp>
      <p:grpSp>
        <p:nvGrpSpPr>
          <p:cNvPr id="13" name="object 13" descr=""/>
          <p:cNvGrpSpPr/>
          <p:nvPr/>
        </p:nvGrpSpPr>
        <p:grpSpPr>
          <a:xfrm>
            <a:off x="3727450" y="2909491"/>
            <a:ext cx="4660900" cy="498475"/>
            <a:chOff x="3727450" y="2909491"/>
            <a:chExt cx="4660900" cy="498475"/>
          </a:xfrm>
        </p:grpSpPr>
        <p:pic>
          <p:nvPicPr>
            <p:cNvPr id="14" name="object 14" descr=""/>
            <p:cNvPicPr/>
            <p:nvPr/>
          </p:nvPicPr>
          <p:blipFill>
            <a:blip r:embed="rId3" cstate="print"/>
            <a:stretch>
              <a:fillRect/>
            </a:stretch>
          </p:blipFill>
          <p:spPr>
            <a:xfrm>
              <a:off x="3733800" y="2915841"/>
              <a:ext cx="4648200" cy="485775"/>
            </a:xfrm>
            <a:prstGeom prst="rect">
              <a:avLst/>
            </a:prstGeom>
          </p:spPr>
        </p:pic>
        <p:sp>
          <p:nvSpPr>
            <p:cNvPr id="15" name="object 15" descr=""/>
            <p:cNvSpPr/>
            <p:nvPr/>
          </p:nvSpPr>
          <p:spPr>
            <a:xfrm>
              <a:off x="3733800" y="29158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6" name="object 16" descr=""/>
          <p:cNvGrpSpPr/>
          <p:nvPr/>
        </p:nvGrpSpPr>
        <p:grpSpPr>
          <a:xfrm>
            <a:off x="3727450" y="3557189"/>
            <a:ext cx="4660900" cy="498475"/>
            <a:chOff x="3727450" y="3557189"/>
            <a:chExt cx="4660900" cy="498475"/>
          </a:xfrm>
        </p:grpSpPr>
        <p:pic>
          <p:nvPicPr>
            <p:cNvPr id="17" name="object 17" descr=""/>
            <p:cNvPicPr/>
            <p:nvPr/>
          </p:nvPicPr>
          <p:blipFill>
            <a:blip r:embed="rId5" cstate="print"/>
            <a:stretch>
              <a:fillRect/>
            </a:stretch>
          </p:blipFill>
          <p:spPr>
            <a:xfrm>
              <a:off x="3733800" y="3563539"/>
              <a:ext cx="4648200" cy="485775"/>
            </a:xfrm>
            <a:prstGeom prst="rect">
              <a:avLst/>
            </a:prstGeom>
          </p:spPr>
        </p:pic>
        <p:sp>
          <p:nvSpPr>
            <p:cNvPr id="18" name="object 18" descr=""/>
            <p:cNvSpPr/>
            <p:nvPr/>
          </p:nvSpPr>
          <p:spPr>
            <a:xfrm>
              <a:off x="3733800" y="3563539"/>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4"/>
                  </a:lnTo>
                  <a:lnTo>
                    <a:pt x="80962" y="485774"/>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9" name="object 19" descr=""/>
          <p:cNvGrpSpPr/>
          <p:nvPr/>
        </p:nvGrpSpPr>
        <p:grpSpPr>
          <a:xfrm>
            <a:off x="3727450" y="4238228"/>
            <a:ext cx="4660900" cy="498475"/>
            <a:chOff x="3727450" y="4238228"/>
            <a:chExt cx="4660900" cy="498475"/>
          </a:xfrm>
        </p:grpSpPr>
        <p:pic>
          <p:nvPicPr>
            <p:cNvPr id="20" name="object 20" descr=""/>
            <p:cNvPicPr/>
            <p:nvPr/>
          </p:nvPicPr>
          <p:blipFill>
            <a:blip r:embed="rId6" cstate="print"/>
            <a:stretch>
              <a:fillRect/>
            </a:stretch>
          </p:blipFill>
          <p:spPr>
            <a:xfrm>
              <a:off x="3733800" y="4244578"/>
              <a:ext cx="4648200" cy="485775"/>
            </a:xfrm>
            <a:prstGeom prst="rect">
              <a:avLst/>
            </a:prstGeom>
          </p:spPr>
        </p:pic>
        <p:sp>
          <p:nvSpPr>
            <p:cNvPr id="21" name="object 21" descr=""/>
            <p:cNvSpPr/>
            <p:nvPr/>
          </p:nvSpPr>
          <p:spPr>
            <a:xfrm>
              <a:off x="3733800" y="4244578"/>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3836253" y="1007427"/>
            <a:ext cx="4072890" cy="3664585"/>
          </a:xfrm>
          <a:prstGeom prst="rect">
            <a:avLst/>
          </a:prstGeom>
        </p:spPr>
        <p:txBody>
          <a:bodyPr wrap="square" lIns="0" tIns="12700" rIns="0" bIns="0" rtlCol="0" vert="horz">
            <a:spAutoFit/>
          </a:bodyPr>
          <a:lstStyle/>
          <a:p>
            <a:pPr marL="12700">
              <a:lnSpc>
                <a:spcPct val="100000"/>
              </a:lnSpc>
              <a:spcBef>
                <a:spcPts val="100"/>
              </a:spcBef>
            </a:pPr>
            <a:r>
              <a:rPr dirty="0" sz="2400">
                <a:latin typeface="Microsoft YaHei"/>
                <a:cs typeface="Microsoft YaHei"/>
              </a:rPr>
              <a:t>一、</a:t>
            </a:r>
            <a:r>
              <a:rPr dirty="0" sz="2400" spc="-20">
                <a:latin typeface="Times New Roman"/>
                <a:cs typeface="Times New Roman"/>
              </a:rPr>
              <a:t>5G</a:t>
            </a:r>
            <a:r>
              <a:rPr dirty="0" sz="2400" spc="-5">
                <a:latin typeface="Microsoft YaHei"/>
                <a:cs typeface="Microsoft YaHei"/>
              </a:rPr>
              <a:t>系统无线网络规划概述</a:t>
            </a:r>
            <a:endParaRPr sz="2400">
              <a:latin typeface="Microsoft YaHei"/>
              <a:cs typeface="Microsoft YaHei"/>
            </a:endParaRPr>
          </a:p>
          <a:p>
            <a:pPr algn="just" marL="12700" marR="5080">
              <a:lnSpc>
                <a:spcPct val="177100"/>
              </a:lnSpc>
              <a:spcBef>
                <a:spcPts val="5"/>
              </a:spcBef>
            </a:pPr>
            <a:r>
              <a:rPr dirty="0" sz="2400">
                <a:latin typeface="Microsoft YaHei"/>
                <a:cs typeface="Microsoft YaHei"/>
              </a:rPr>
              <a:t>二、</a:t>
            </a:r>
            <a:r>
              <a:rPr dirty="0" sz="2400" spc="-20">
                <a:latin typeface="Times New Roman"/>
                <a:cs typeface="Times New Roman"/>
              </a:rPr>
              <a:t>5G</a:t>
            </a:r>
            <a:r>
              <a:rPr dirty="0" sz="2400" spc="-5">
                <a:latin typeface="Microsoft YaHei"/>
                <a:cs typeface="Microsoft YaHei"/>
              </a:rPr>
              <a:t>系统无线网络规划过程</a:t>
            </a:r>
            <a:r>
              <a:rPr dirty="0" sz="2400">
                <a:latin typeface="Microsoft YaHei"/>
                <a:cs typeface="Microsoft YaHei"/>
              </a:rPr>
              <a:t>三、</a:t>
            </a:r>
            <a:r>
              <a:rPr dirty="0" sz="2400" spc="-20">
                <a:latin typeface="Times New Roman"/>
                <a:cs typeface="Times New Roman"/>
              </a:rPr>
              <a:t>5G</a:t>
            </a:r>
            <a:r>
              <a:rPr dirty="0" sz="2400" spc="-5">
                <a:latin typeface="Microsoft YaHei"/>
                <a:cs typeface="Microsoft YaHei"/>
              </a:rPr>
              <a:t>无线网络宏站组网策略</a:t>
            </a:r>
            <a:r>
              <a:rPr dirty="0" sz="2400" b="1">
                <a:solidFill>
                  <a:srgbClr val="FF0000"/>
                </a:solidFill>
                <a:latin typeface="Microsoft YaHei"/>
                <a:cs typeface="Microsoft YaHei"/>
              </a:rPr>
              <a:t>四、</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无线网络微站组网策略</a:t>
            </a:r>
            <a:r>
              <a:rPr dirty="0" sz="2400">
                <a:latin typeface="Microsoft YaHei"/>
                <a:cs typeface="Microsoft YaHei"/>
              </a:rPr>
              <a:t>五、</a:t>
            </a:r>
            <a:r>
              <a:rPr dirty="0" sz="2400" spc="-20">
                <a:latin typeface="Times New Roman"/>
                <a:cs typeface="Times New Roman"/>
              </a:rPr>
              <a:t>5G</a:t>
            </a:r>
            <a:r>
              <a:rPr dirty="0" sz="2400" spc="-5">
                <a:latin typeface="Microsoft YaHei"/>
                <a:cs typeface="Microsoft YaHei"/>
              </a:rPr>
              <a:t>无线网络室分组网策略</a:t>
            </a:r>
            <a:endParaRPr sz="2400">
              <a:latin typeface="Microsoft YaHei"/>
              <a:cs typeface="Microsoft YaHei"/>
            </a:endParaRPr>
          </a:p>
          <a:p>
            <a:pPr marL="12700">
              <a:lnSpc>
                <a:spcPct val="100000"/>
              </a:lnSpc>
              <a:spcBef>
                <a:spcPts val="2485"/>
              </a:spcBef>
            </a:pPr>
            <a:r>
              <a:rPr dirty="0" sz="2400">
                <a:latin typeface="Microsoft YaHei"/>
                <a:cs typeface="Microsoft YaHei"/>
              </a:rPr>
              <a:t>六、</a:t>
            </a:r>
            <a:r>
              <a:rPr dirty="0" sz="2400" spc="-20">
                <a:latin typeface="Times New Roman"/>
                <a:cs typeface="Times New Roman"/>
              </a:rPr>
              <a:t>5G</a:t>
            </a:r>
            <a:r>
              <a:rPr dirty="0" sz="2400" spc="-5">
                <a:latin typeface="Microsoft YaHei"/>
                <a:cs typeface="Microsoft YaHei"/>
              </a:rPr>
              <a:t>无线网络现场测试分享</a:t>
            </a:r>
            <a:endParaRPr sz="2400">
              <a:latin typeface="Microsoft YaHei"/>
              <a:cs typeface="Microsoft YaHei"/>
            </a:endParaRPr>
          </a:p>
        </p:txBody>
      </p:sp>
      <p:pic>
        <p:nvPicPr>
          <p:cNvPr id="23" name="object 23"/>
          <p:cNvPicPr/>
          <p:nvPr/>
        </p:nvPicPr>
        <p:blipFill>
          <a:blip r:embed="rId7" cstate="print"/>
          <a:stretch>
            <a:fillRect/>
          </a:stretch>
        </p:blipFill>
        <p:spPr>
          <a:xfrm>
            <a:off x="179400" y="971550"/>
            <a:ext cx="3097199" cy="378621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2700" y="806450"/>
            <a:ext cx="9169400" cy="4140200"/>
            <a:chOff x="-12700" y="806450"/>
            <a:chExt cx="9169400" cy="4140200"/>
          </a:xfrm>
        </p:grpSpPr>
        <p:sp>
          <p:nvSpPr>
            <p:cNvPr id="3" name="object 3" descr=""/>
            <p:cNvSpPr/>
            <p:nvPr/>
          </p:nvSpPr>
          <p:spPr>
            <a:xfrm>
              <a:off x="0" y="819150"/>
              <a:ext cx="9144000" cy="4114800"/>
            </a:xfrm>
            <a:custGeom>
              <a:avLst/>
              <a:gdLst/>
              <a:ahLst/>
              <a:cxnLst/>
              <a:rect l="l" t="t" r="r" b="b"/>
              <a:pathLst>
                <a:path w="9144000" h="4114800">
                  <a:moveTo>
                    <a:pt x="9144000" y="0"/>
                  </a:moveTo>
                  <a:lnTo>
                    <a:pt x="0" y="0"/>
                  </a:lnTo>
                  <a:lnTo>
                    <a:pt x="0" y="4114800"/>
                  </a:lnTo>
                  <a:lnTo>
                    <a:pt x="9144000" y="4114800"/>
                  </a:lnTo>
                  <a:lnTo>
                    <a:pt x="9144000" y="0"/>
                  </a:lnTo>
                  <a:close/>
                </a:path>
              </a:pathLst>
            </a:custGeom>
            <a:solidFill>
              <a:srgbClr val="0070C0"/>
            </a:solidFill>
          </p:spPr>
          <p:txBody>
            <a:bodyPr wrap="square" lIns="0" tIns="0" rIns="0" bIns="0" rtlCol="0"/>
            <a:lstStyle/>
            <a:p/>
          </p:txBody>
        </p:sp>
        <p:sp>
          <p:nvSpPr>
            <p:cNvPr id="4" name="object 4" descr=""/>
            <p:cNvSpPr/>
            <p:nvPr/>
          </p:nvSpPr>
          <p:spPr>
            <a:xfrm>
              <a:off x="0" y="819150"/>
              <a:ext cx="9144000" cy="4114800"/>
            </a:xfrm>
            <a:custGeom>
              <a:avLst/>
              <a:gdLst/>
              <a:ahLst/>
              <a:cxnLst/>
              <a:rect l="l" t="t" r="r" b="b"/>
              <a:pathLst>
                <a:path w="9144000" h="4114800">
                  <a:moveTo>
                    <a:pt x="0" y="0"/>
                  </a:moveTo>
                  <a:lnTo>
                    <a:pt x="9144000" y="0"/>
                  </a:lnTo>
                  <a:lnTo>
                    <a:pt x="9144000" y="4114800"/>
                  </a:lnTo>
                  <a:lnTo>
                    <a:pt x="0" y="4114800"/>
                  </a:lnTo>
                  <a:lnTo>
                    <a:pt x="0" y="0"/>
                  </a:lnTo>
                  <a:close/>
                </a:path>
              </a:pathLst>
            </a:custGeom>
            <a:ln w="25400">
              <a:solidFill>
                <a:srgbClr val="89A4A7"/>
              </a:solidFill>
            </a:ln>
          </p:spPr>
          <p:txBody>
            <a:bodyPr wrap="square" lIns="0" tIns="0" rIns="0" bIns="0" rtlCol="0"/>
            <a:lstStyle/>
            <a:p/>
          </p:txBody>
        </p:sp>
        <p:sp>
          <p:nvSpPr>
            <p:cNvPr id="5" name="object 5" descr=""/>
            <p:cNvSpPr/>
            <p:nvPr/>
          </p:nvSpPr>
          <p:spPr>
            <a:xfrm>
              <a:off x="1885847" y="1852291"/>
              <a:ext cx="1109980" cy="612775"/>
            </a:xfrm>
            <a:custGeom>
              <a:avLst/>
              <a:gdLst/>
              <a:ahLst/>
              <a:cxnLst/>
              <a:rect l="l" t="t" r="r" b="b"/>
              <a:pathLst>
                <a:path w="1109980" h="612775">
                  <a:moveTo>
                    <a:pt x="0" y="0"/>
                  </a:moveTo>
                  <a:lnTo>
                    <a:pt x="40795" y="28320"/>
                  </a:lnTo>
                  <a:lnTo>
                    <a:pt x="87821" y="59481"/>
                  </a:lnTo>
                  <a:lnTo>
                    <a:pt x="141598" y="93699"/>
                  </a:lnTo>
                  <a:lnTo>
                    <a:pt x="202644" y="131190"/>
                  </a:lnTo>
                  <a:lnTo>
                    <a:pt x="236056" y="151230"/>
                  </a:lnTo>
                  <a:lnTo>
                    <a:pt x="308982" y="194034"/>
                  </a:lnTo>
                  <a:lnTo>
                    <a:pt x="390477" y="240650"/>
                  </a:lnTo>
                  <a:lnTo>
                    <a:pt x="481060" y="291294"/>
                  </a:lnTo>
                  <a:lnTo>
                    <a:pt x="581251" y="346181"/>
                  </a:lnTo>
                  <a:lnTo>
                    <a:pt x="691571" y="405528"/>
                  </a:lnTo>
                  <a:lnTo>
                    <a:pt x="812537" y="469550"/>
                  </a:lnTo>
                  <a:lnTo>
                    <a:pt x="944671" y="538463"/>
                  </a:lnTo>
                  <a:lnTo>
                    <a:pt x="1088491" y="612482"/>
                  </a:lnTo>
                  <a:lnTo>
                    <a:pt x="1109484" y="561695"/>
                  </a:lnTo>
                  <a:lnTo>
                    <a:pt x="1090784" y="553331"/>
                  </a:lnTo>
                  <a:lnTo>
                    <a:pt x="1066506" y="542138"/>
                  </a:lnTo>
                  <a:lnTo>
                    <a:pt x="1002954" y="512095"/>
                  </a:lnTo>
                  <a:lnTo>
                    <a:pt x="922302" y="473225"/>
                  </a:lnTo>
                  <a:lnTo>
                    <a:pt x="776859" y="401999"/>
                  </a:lnTo>
                  <a:lnTo>
                    <a:pt x="612478" y="320247"/>
                  </a:lnTo>
                  <a:lnTo>
                    <a:pt x="498157" y="262665"/>
                  </a:lnTo>
                  <a:lnTo>
                    <a:pt x="384102" y="204552"/>
                  </a:lnTo>
                  <a:lnTo>
                    <a:pt x="273785" y="147570"/>
                  </a:lnTo>
                  <a:lnTo>
                    <a:pt x="170681" y="93378"/>
                  </a:lnTo>
                  <a:lnTo>
                    <a:pt x="122918" y="67846"/>
                  </a:lnTo>
                  <a:lnTo>
                    <a:pt x="78261" y="43634"/>
                  </a:lnTo>
                  <a:lnTo>
                    <a:pt x="37143" y="20950"/>
                  </a:lnTo>
                  <a:lnTo>
                    <a:pt x="0" y="0"/>
                  </a:lnTo>
                  <a:close/>
                </a:path>
              </a:pathLst>
            </a:custGeom>
            <a:solidFill>
              <a:srgbClr val="C00000"/>
            </a:solidFill>
          </p:spPr>
          <p:txBody>
            <a:bodyPr wrap="square" lIns="0" tIns="0" rIns="0" bIns="0" rtlCol="0"/>
            <a:lstStyle/>
            <a:p/>
          </p:txBody>
        </p:sp>
        <p:pic>
          <p:nvPicPr>
            <p:cNvPr id="6" name="object 6" descr=""/>
            <p:cNvPicPr/>
            <p:nvPr/>
          </p:nvPicPr>
          <p:blipFill>
            <a:blip r:embed="rId2" cstate="print"/>
            <a:stretch>
              <a:fillRect/>
            </a:stretch>
          </p:blipFill>
          <p:spPr>
            <a:xfrm>
              <a:off x="3231351" y="2434809"/>
              <a:ext cx="1149197" cy="609765"/>
            </a:xfrm>
            <a:prstGeom prst="rect">
              <a:avLst/>
            </a:prstGeom>
          </p:spPr>
        </p:pic>
        <p:sp>
          <p:nvSpPr>
            <p:cNvPr id="7" name="object 7" descr=""/>
            <p:cNvSpPr/>
            <p:nvPr/>
          </p:nvSpPr>
          <p:spPr>
            <a:xfrm>
              <a:off x="4488612" y="3015271"/>
              <a:ext cx="1948180" cy="722630"/>
            </a:xfrm>
            <a:custGeom>
              <a:avLst/>
              <a:gdLst/>
              <a:ahLst/>
              <a:cxnLst/>
              <a:rect l="l" t="t" r="r" b="b"/>
              <a:pathLst>
                <a:path w="1948179" h="722629">
                  <a:moveTo>
                    <a:pt x="1948129" y="722058"/>
                  </a:moveTo>
                  <a:lnTo>
                    <a:pt x="1944128" y="700773"/>
                  </a:lnTo>
                  <a:lnTo>
                    <a:pt x="1873110" y="651383"/>
                  </a:lnTo>
                  <a:lnTo>
                    <a:pt x="1873110" y="678700"/>
                  </a:lnTo>
                  <a:lnTo>
                    <a:pt x="1863217" y="678561"/>
                  </a:lnTo>
                  <a:lnTo>
                    <a:pt x="1864194" y="677976"/>
                  </a:lnTo>
                  <a:lnTo>
                    <a:pt x="1865871" y="673671"/>
                  </a:lnTo>
                  <a:lnTo>
                    <a:pt x="1873110" y="678700"/>
                  </a:lnTo>
                  <a:lnTo>
                    <a:pt x="1873110" y="651383"/>
                  </a:lnTo>
                  <a:lnTo>
                    <a:pt x="1621282" y="476211"/>
                  </a:lnTo>
                  <a:lnTo>
                    <a:pt x="1582064" y="457492"/>
                  </a:lnTo>
                  <a:lnTo>
                    <a:pt x="1618361" y="501396"/>
                  </a:lnTo>
                  <a:lnTo>
                    <a:pt x="1811845" y="636066"/>
                  </a:lnTo>
                  <a:lnTo>
                    <a:pt x="1795754" y="631774"/>
                  </a:lnTo>
                  <a:lnTo>
                    <a:pt x="1741703" y="616800"/>
                  </a:lnTo>
                  <a:lnTo>
                    <a:pt x="1682038" y="599694"/>
                  </a:lnTo>
                  <a:lnTo>
                    <a:pt x="1616811" y="580415"/>
                  </a:lnTo>
                  <a:lnTo>
                    <a:pt x="1546072" y="558901"/>
                  </a:lnTo>
                  <a:lnTo>
                    <a:pt x="1469885" y="535139"/>
                  </a:lnTo>
                  <a:lnTo>
                    <a:pt x="1388300" y="509054"/>
                  </a:lnTo>
                  <a:lnTo>
                    <a:pt x="1301394" y="480618"/>
                  </a:lnTo>
                  <a:lnTo>
                    <a:pt x="1209205" y="449783"/>
                  </a:lnTo>
                  <a:lnTo>
                    <a:pt x="1111783" y="416521"/>
                  </a:lnTo>
                  <a:lnTo>
                    <a:pt x="1009205" y="380758"/>
                  </a:lnTo>
                  <a:lnTo>
                    <a:pt x="901522" y="342480"/>
                  </a:lnTo>
                  <a:lnTo>
                    <a:pt x="788784" y="301625"/>
                  </a:lnTo>
                  <a:lnTo>
                    <a:pt x="671055" y="258140"/>
                  </a:lnTo>
                  <a:lnTo>
                    <a:pt x="548398" y="212013"/>
                  </a:lnTo>
                  <a:lnTo>
                    <a:pt x="420852" y="163169"/>
                  </a:lnTo>
                  <a:lnTo>
                    <a:pt x="288480" y="111582"/>
                  </a:lnTo>
                  <a:lnTo>
                    <a:pt x="151358" y="57213"/>
                  </a:lnTo>
                  <a:lnTo>
                    <a:pt x="9512" y="0"/>
                  </a:lnTo>
                  <a:lnTo>
                    <a:pt x="6464" y="8318"/>
                  </a:lnTo>
                  <a:lnTo>
                    <a:pt x="1612" y="18669"/>
                  </a:lnTo>
                  <a:lnTo>
                    <a:pt x="0" y="31343"/>
                  </a:lnTo>
                  <a:lnTo>
                    <a:pt x="6692" y="46609"/>
                  </a:lnTo>
                  <a:lnTo>
                    <a:pt x="59309" y="66738"/>
                  </a:lnTo>
                  <a:lnTo>
                    <a:pt x="527888" y="250228"/>
                  </a:lnTo>
                  <a:lnTo>
                    <a:pt x="676579" y="307098"/>
                  </a:lnTo>
                  <a:lnTo>
                    <a:pt x="780618" y="346176"/>
                  </a:lnTo>
                  <a:lnTo>
                    <a:pt x="887907" y="385749"/>
                  </a:lnTo>
                  <a:lnTo>
                    <a:pt x="997851" y="425462"/>
                  </a:lnTo>
                  <a:lnTo>
                    <a:pt x="1109865" y="464947"/>
                  </a:lnTo>
                  <a:lnTo>
                    <a:pt x="1166456" y="484492"/>
                  </a:lnTo>
                  <a:lnTo>
                    <a:pt x="1223340" y="503847"/>
                  </a:lnTo>
                  <a:lnTo>
                    <a:pt x="1280452" y="522947"/>
                  </a:lnTo>
                  <a:lnTo>
                    <a:pt x="1337716" y="541782"/>
                  </a:lnTo>
                  <a:lnTo>
                    <a:pt x="1395044" y="560285"/>
                  </a:lnTo>
                  <a:lnTo>
                    <a:pt x="1452384" y="578408"/>
                  </a:lnTo>
                  <a:lnTo>
                    <a:pt x="1509636" y="596112"/>
                  </a:lnTo>
                  <a:lnTo>
                    <a:pt x="1566748" y="613359"/>
                  </a:lnTo>
                  <a:lnTo>
                    <a:pt x="1623631" y="630085"/>
                  </a:lnTo>
                  <a:lnTo>
                    <a:pt x="1680222" y="646252"/>
                  </a:lnTo>
                  <a:lnTo>
                    <a:pt x="1736445" y="661822"/>
                  </a:lnTo>
                  <a:lnTo>
                    <a:pt x="1792236" y="676744"/>
                  </a:lnTo>
                  <a:lnTo>
                    <a:pt x="1795297" y="677545"/>
                  </a:lnTo>
                  <a:lnTo>
                    <a:pt x="1562773" y="674052"/>
                  </a:lnTo>
                  <a:lnTo>
                    <a:pt x="1551127" y="694207"/>
                  </a:lnTo>
                  <a:lnTo>
                    <a:pt x="1948129" y="722058"/>
                  </a:lnTo>
                  <a:close/>
                </a:path>
              </a:pathLst>
            </a:custGeom>
            <a:solidFill>
              <a:srgbClr val="C00000"/>
            </a:solidFill>
          </p:spPr>
          <p:txBody>
            <a:bodyPr wrap="square" lIns="0" tIns="0" rIns="0" bIns="0" rtlCol="0"/>
            <a:lstStyle/>
            <a:p/>
          </p:txBody>
        </p:sp>
        <p:sp>
          <p:nvSpPr>
            <p:cNvPr id="8" name="object 8" descr=""/>
            <p:cNvSpPr/>
            <p:nvPr/>
          </p:nvSpPr>
          <p:spPr>
            <a:xfrm>
              <a:off x="7057326" y="4160469"/>
              <a:ext cx="897890" cy="313055"/>
            </a:xfrm>
            <a:custGeom>
              <a:avLst/>
              <a:gdLst/>
              <a:ahLst/>
              <a:cxnLst/>
              <a:rect l="l" t="t" r="r" b="b"/>
              <a:pathLst>
                <a:path w="897890" h="313054">
                  <a:moveTo>
                    <a:pt x="897521" y="0"/>
                  </a:moveTo>
                  <a:lnTo>
                    <a:pt x="0" y="0"/>
                  </a:lnTo>
                  <a:lnTo>
                    <a:pt x="0" y="312851"/>
                  </a:lnTo>
                  <a:lnTo>
                    <a:pt x="897521" y="312851"/>
                  </a:lnTo>
                  <a:lnTo>
                    <a:pt x="897521" y="0"/>
                  </a:lnTo>
                  <a:close/>
                </a:path>
              </a:pathLst>
            </a:custGeom>
            <a:solidFill>
              <a:srgbClr val="8EB4E3"/>
            </a:solidFill>
          </p:spPr>
          <p:txBody>
            <a:bodyPr wrap="square" lIns="0" tIns="0" rIns="0" bIns="0" rtlCol="0"/>
            <a:lstStyle/>
            <a:p/>
          </p:txBody>
        </p:sp>
        <p:pic>
          <p:nvPicPr>
            <p:cNvPr id="9" name="object 9" descr=""/>
            <p:cNvPicPr/>
            <p:nvPr/>
          </p:nvPicPr>
          <p:blipFill>
            <a:blip r:embed="rId3" cstate="print"/>
            <a:stretch>
              <a:fillRect/>
            </a:stretch>
          </p:blipFill>
          <p:spPr>
            <a:xfrm>
              <a:off x="5819228" y="3892321"/>
              <a:ext cx="1216545" cy="579564"/>
            </a:xfrm>
            <a:prstGeom prst="rect">
              <a:avLst/>
            </a:prstGeom>
          </p:spPr>
        </p:pic>
        <p:pic>
          <p:nvPicPr>
            <p:cNvPr id="10" name="object 10"/>
            <p:cNvPicPr/>
            <p:nvPr/>
          </p:nvPicPr>
          <p:blipFill>
            <a:blip r:embed="rId4" cstate="print"/>
            <a:stretch>
              <a:fillRect/>
            </a:stretch>
          </p:blipFill>
          <p:spPr>
            <a:xfrm>
              <a:off x="6419951" y="4308652"/>
              <a:ext cx="220306" cy="130450"/>
            </a:xfrm>
            <a:prstGeom prst="rect">
              <a:avLst/>
            </a:prstGeom>
          </p:spPr>
        </p:pic>
        <p:pic>
          <p:nvPicPr>
            <p:cNvPr id="11" name="object 11"/>
            <p:cNvPicPr/>
            <p:nvPr/>
          </p:nvPicPr>
          <p:blipFill>
            <a:blip r:embed="rId5" cstate="print"/>
            <a:stretch>
              <a:fillRect/>
            </a:stretch>
          </p:blipFill>
          <p:spPr>
            <a:xfrm>
              <a:off x="6008903" y="4311231"/>
              <a:ext cx="209321" cy="123945"/>
            </a:xfrm>
            <a:prstGeom prst="rect">
              <a:avLst/>
            </a:prstGeom>
          </p:spPr>
        </p:pic>
        <p:pic>
          <p:nvPicPr>
            <p:cNvPr id="12" name="object 12"/>
            <p:cNvPicPr/>
            <p:nvPr/>
          </p:nvPicPr>
          <p:blipFill>
            <a:blip r:embed="rId6" cstate="print"/>
            <a:stretch>
              <a:fillRect/>
            </a:stretch>
          </p:blipFill>
          <p:spPr>
            <a:xfrm>
              <a:off x="7120204" y="3805506"/>
              <a:ext cx="779027" cy="660309"/>
            </a:xfrm>
            <a:prstGeom prst="rect">
              <a:avLst/>
            </a:prstGeom>
          </p:spPr>
        </p:pic>
        <p:pic>
          <p:nvPicPr>
            <p:cNvPr id="13" name="object 13"/>
            <p:cNvPicPr/>
            <p:nvPr/>
          </p:nvPicPr>
          <p:blipFill>
            <a:blip r:embed="rId7" cstate="print"/>
            <a:stretch>
              <a:fillRect/>
            </a:stretch>
          </p:blipFill>
          <p:spPr>
            <a:xfrm>
              <a:off x="7174992" y="3895344"/>
              <a:ext cx="566928" cy="594360"/>
            </a:xfrm>
            <a:prstGeom prst="rect">
              <a:avLst/>
            </a:prstGeom>
          </p:spPr>
        </p:pic>
        <p:sp>
          <p:nvSpPr>
            <p:cNvPr id="14" name="object 14" descr=""/>
            <p:cNvSpPr/>
            <p:nvPr/>
          </p:nvSpPr>
          <p:spPr>
            <a:xfrm>
              <a:off x="7305802" y="4112449"/>
              <a:ext cx="285750" cy="1270"/>
            </a:xfrm>
            <a:custGeom>
              <a:avLst/>
              <a:gdLst/>
              <a:ahLst/>
              <a:cxnLst/>
              <a:rect l="l" t="t" r="r" b="b"/>
              <a:pathLst>
                <a:path w="285750" h="1270">
                  <a:moveTo>
                    <a:pt x="0" y="0"/>
                  </a:moveTo>
                  <a:lnTo>
                    <a:pt x="285242" y="1092"/>
                  </a:lnTo>
                </a:path>
              </a:pathLst>
            </a:custGeom>
            <a:ln w="12700">
              <a:solidFill>
                <a:srgbClr val="937BB0"/>
              </a:solidFill>
            </a:ln>
          </p:spPr>
          <p:txBody>
            <a:bodyPr wrap="square" lIns="0" tIns="0" rIns="0" bIns="0" rtlCol="0"/>
            <a:lstStyle/>
            <a:p/>
          </p:txBody>
        </p:sp>
        <p:sp>
          <p:nvSpPr>
            <p:cNvPr id="15" name="object 15" descr=""/>
            <p:cNvSpPr/>
            <p:nvPr/>
          </p:nvSpPr>
          <p:spPr>
            <a:xfrm>
              <a:off x="7259941" y="3985290"/>
              <a:ext cx="313055" cy="106045"/>
            </a:xfrm>
            <a:custGeom>
              <a:avLst/>
              <a:gdLst/>
              <a:ahLst/>
              <a:cxnLst/>
              <a:rect l="l" t="t" r="r" b="b"/>
              <a:pathLst>
                <a:path w="313054" h="106045">
                  <a:moveTo>
                    <a:pt x="32448" y="105918"/>
                  </a:moveTo>
                  <a:lnTo>
                    <a:pt x="0" y="105918"/>
                  </a:lnTo>
                  <a:lnTo>
                    <a:pt x="0" y="0"/>
                  </a:lnTo>
                  <a:lnTo>
                    <a:pt x="312623" y="0"/>
                  </a:lnTo>
                </a:path>
              </a:pathLst>
            </a:custGeom>
            <a:ln w="12700">
              <a:solidFill>
                <a:srgbClr val="937BB0"/>
              </a:solidFill>
            </a:ln>
          </p:spPr>
          <p:txBody>
            <a:bodyPr wrap="square" lIns="0" tIns="0" rIns="0" bIns="0" rtlCol="0"/>
            <a:lstStyle/>
            <a:p/>
          </p:txBody>
        </p:sp>
        <p:sp>
          <p:nvSpPr>
            <p:cNvPr id="16" name="object 16" descr=""/>
            <p:cNvSpPr/>
            <p:nvPr/>
          </p:nvSpPr>
          <p:spPr>
            <a:xfrm>
              <a:off x="7278419" y="4252179"/>
              <a:ext cx="319405" cy="103505"/>
            </a:xfrm>
            <a:custGeom>
              <a:avLst/>
              <a:gdLst/>
              <a:ahLst/>
              <a:cxnLst/>
              <a:rect l="l" t="t" r="r" b="b"/>
              <a:pathLst>
                <a:path w="319404" h="103504">
                  <a:moveTo>
                    <a:pt x="13970" y="103390"/>
                  </a:moveTo>
                  <a:lnTo>
                    <a:pt x="0" y="103390"/>
                  </a:lnTo>
                  <a:lnTo>
                    <a:pt x="0" y="0"/>
                  </a:lnTo>
                  <a:lnTo>
                    <a:pt x="318782" y="0"/>
                  </a:lnTo>
                </a:path>
              </a:pathLst>
            </a:custGeom>
            <a:ln w="12700">
              <a:solidFill>
                <a:srgbClr val="937BB0"/>
              </a:solidFill>
            </a:ln>
          </p:spPr>
          <p:txBody>
            <a:bodyPr wrap="square" lIns="0" tIns="0" rIns="0" bIns="0" rtlCol="0"/>
            <a:lstStyle/>
            <a:p/>
          </p:txBody>
        </p:sp>
        <p:pic>
          <p:nvPicPr>
            <p:cNvPr id="17" name="object 17"/>
            <p:cNvPicPr/>
            <p:nvPr/>
          </p:nvPicPr>
          <p:blipFill>
            <a:blip r:embed="rId8" cstate="print"/>
            <a:stretch>
              <a:fillRect/>
            </a:stretch>
          </p:blipFill>
          <p:spPr>
            <a:xfrm>
              <a:off x="7200899" y="4261865"/>
              <a:ext cx="183641" cy="141731"/>
            </a:xfrm>
            <a:prstGeom prst="rect">
              <a:avLst/>
            </a:prstGeom>
          </p:spPr>
        </p:pic>
        <p:sp>
          <p:nvSpPr>
            <p:cNvPr id="18" name="object 18" descr=""/>
            <p:cNvSpPr/>
            <p:nvPr/>
          </p:nvSpPr>
          <p:spPr>
            <a:xfrm>
              <a:off x="7225538" y="4286859"/>
              <a:ext cx="80645" cy="38100"/>
            </a:xfrm>
            <a:custGeom>
              <a:avLst/>
              <a:gdLst/>
              <a:ahLst/>
              <a:cxnLst/>
              <a:rect l="l" t="t" r="r" b="b"/>
              <a:pathLst>
                <a:path w="80645" h="38100">
                  <a:moveTo>
                    <a:pt x="80264" y="0"/>
                  </a:moveTo>
                  <a:lnTo>
                    <a:pt x="0" y="0"/>
                  </a:lnTo>
                  <a:lnTo>
                    <a:pt x="0" y="37922"/>
                  </a:lnTo>
                  <a:lnTo>
                    <a:pt x="80264" y="37922"/>
                  </a:lnTo>
                  <a:lnTo>
                    <a:pt x="80264" y="0"/>
                  </a:lnTo>
                  <a:close/>
                </a:path>
              </a:pathLst>
            </a:custGeom>
            <a:solidFill>
              <a:srgbClr val="0070C0"/>
            </a:solidFill>
          </p:spPr>
          <p:txBody>
            <a:bodyPr wrap="square" lIns="0" tIns="0" rIns="0" bIns="0" rtlCol="0"/>
            <a:lstStyle/>
            <a:p/>
          </p:txBody>
        </p:sp>
        <p:pic>
          <p:nvPicPr>
            <p:cNvPr id="19" name="object 19"/>
            <p:cNvPicPr/>
            <p:nvPr/>
          </p:nvPicPr>
          <p:blipFill>
            <a:blip r:embed="rId9" cstate="print"/>
            <a:stretch>
              <a:fillRect/>
            </a:stretch>
          </p:blipFill>
          <p:spPr>
            <a:xfrm>
              <a:off x="7200899" y="4068317"/>
              <a:ext cx="183641" cy="141731"/>
            </a:xfrm>
            <a:prstGeom prst="rect">
              <a:avLst/>
            </a:prstGeom>
          </p:spPr>
        </p:pic>
        <p:sp>
          <p:nvSpPr>
            <p:cNvPr id="20" name="object 20" descr=""/>
            <p:cNvSpPr/>
            <p:nvPr/>
          </p:nvSpPr>
          <p:spPr>
            <a:xfrm>
              <a:off x="7225538" y="4093489"/>
              <a:ext cx="80645" cy="38100"/>
            </a:xfrm>
            <a:custGeom>
              <a:avLst/>
              <a:gdLst/>
              <a:ahLst/>
              <a:cxnLst/>
              <a:rect l="l" t="t" r="r" b="b"/>
              <a:pathLst>
                <a:path w="80645" h="38100">
                  <a:moveTo>
                    <a:pt x="80264" y="0"/>
                  </a:moveTo>
                  <a:lnTo>
                    <a:pt x="0" y="0"/>
                  </a:lnTo>
                  <a:lnTo>
                    <a:pt x="0" y="37922"/>
                  </a:lnTo>
                  <a:lnTo>
                    <a:pt x="80264" y="37922"/>
                  </a:lnTo>
                  <a:lnTo>
                    <a:pt x="80264" y="0"/>
                  </a:lnTo>
                  <a:close/>
                </a:path>
              </a:pathLst>
            </a:custGeom>
            <a:solidFill>
              <a:srgbClr val="0070C0"/>
            </a:solidFill>
          </p:spPr>
          <p:txBody>
            <a:bodyPr wrap="square" lIns="0" tIns="0" rIns="0" bIns="0" rtlCol="0"/>
            <a:lstStyle/>
            <a:p/>
          </p:txBody>
        </p:sp>
        <p:pic>
          <p:nvPicPr>
            <p:cNvPr id="21" name="object 21" descr=""/>
            <p:cNvPicPr/>
            <p:nvPr/>
          </p:nvPicPr>
          <p:blipFill>
            <a:blip r:embed="rId10" cstate="print"/>
            <a:stretch>
              <a:fillRect/>
            </a:stretch>
          </p:blipFill>
          <p:spPr>
            <a:xfrm>
              <a:off x="7538542" y="3978832"/>
              <a:ext cx="70815" cy="47358"/>
            </a:xfrm>
            <a:prstGeom prst="rect">
              <a:avLst/>
            </a:prstGeom>
          </p:spPr>
        </p:pic>
        <p:pic>
          <p:nvPicPr>
            <p:cNvPr id="22" name="object 22" descr=""/>
            <p:cNvPicPr/>
            <p:nvPr/>
          </p:nvPicPr>
          <p:blipFill>
            <a:blip r:embed="rId11" cstate="print"/>
            <a:stretch>
              <a:fillRect/>
            </a:stretch>
          </p:blipFill>
          <p:spPr>
            <a:xfrm>
              <a:off x="7357173" y="3978832"/>
              <a:ext cx="70815" cy="47358"/>
            </a:xfrm>
            <a:prstGeom prst="rect">
              <a:avLst/>
            </a:prstGeom>
          </p:spPr>
        </p:pic>
        <p:sp>
          <p:nvSpPr>
            <p:cNvPr id="23" name="object 23" descr=""/>
            <p:cNvSpPr/>
            <p:nvPr/>
          </p:nvSpPr>
          <p:spPr>
            <a:xfrm>
              <a:off x="7350087" y="4023283"/>
              <a:ext cx="266065" cy="59055"/>
            </a:xfrm>
            <a:custGeom>
              <a:avLst/>
              <a:gdLst/>
              <a:ahLst/>
              <a:cxnLst/>
              <a:rect l="l" t="t" r="r" b="b"/>
              <a:pathLst>
                <a:path w="266065" h="59054">
                  <a:moveTo>
                    <a:pt x="46291" y="18288"/>
                  </a:moveTo>
                  <a:lnTo>
                    <a:pt x="31229" y="0"/>
                  </a:lnTo>
                  <a:lnTo>
                    <a:pt x="27711" y="431"/>
                  </a:lnTo>
                  <a:lnTo>
                    <a:pt x="24511" y="2146"/>
                  </a:lnTo>
                  <a:lnTo>
                    <a:pt x="22923" y="5410"/>
                  </a:lnTo>
                  <a:lnTo>
                    <a:pt x="22631" y="8953"/>
                  </a:lnTo>
                  <a:lnTo>
                    <a:pt x="24904" y="13042"/>
                  </a:lnTo>
                  <a:lnTo>
                    <a:pt x="28473" y="17424"/>
                  </a:lnTo>
                  <a:lnTo>
                    <a:pt x="32981" y="20815"/>
                  </a:lnTo>
                  <a:lnTo>
                    <a:pt x="37172" y="22923"/>
                  </a:lnTo>
                  <a:lnTo>
                    <a:pt x="41503" y="23266"/>
                  </a:lnTo>
                  <a:lnTo>
                    <a:pt x="44704" y="21551"/>
                  </a:lnTo>
                  <a:lnTo>
                    <a:pt x="46291" y="18288"/>
                  </a:lnTo>
                  <a:close/>
                </a:path>
                <a:path w="266065" h="59054">
                  <a:moveTo>
                    <a:pt x="66929" y="32385"/>
                  </a:moveTo>
                  <a:lnTo>
                    <a:pt x="64655" y="28282"/>
                  </a:lnTo>
                  <a:lnTo>
                    <a:pt x="61760" y="26454"/>
                  </a:lnTo>
                  <a:lnTo>
                    <a:pt x="59664" y="25400"/>
                  </a:lnTo>
                  <a:lnTo>
                    <a:pt x="57899" y="25615"/>
                  </a:lnTo>
                  <a:lnTo>
                    <a:pt x="56946" y="26606"/>
                  </a:lnTo>
                  <a:lnTo>
                    <a:pt x="53263" y="28816"/>
                  </a:lnTo>
                  <a:lnTo>
                    <a:pt x="48780" y="30251"/>
                  </a:lnTo>
                  <a:lnTo>
                    <a:pt x="43980" y="30403"/>
                  </a:lnTo>
                  <a:lnTo>
                    <a:pt x="39636" y="30060"/>
                  </a:lnTo>
                  <a:lnTo>
                    <a:pt x="33693" y="28168"/>
                  </a:lnTo>
                  <a:lnTo>
                    <a:pt x="28219" y="25781"/>
                  </a:lnTo>
                  <a:lnTo>
                    <a:pt x="23698" y="22402"/>
                  </a:lnTo>
                  <a:lnTo>
                    <a:pt x="18376" y="18237"/>
                  </a:lnTo>
                  <a:lnTo>
                    <a:pt x="15481" y="16408"/>
                  </a:lnTo>
                  <a:lnTo>
                    <a:pt x="13385" y="15354"/>
                  </a:lnTo>
                  <a:lnTo>
                    <a:pt x="11620" y="15570"/>
                  </a:lnTo>
                  <a:lnTo>
                    <a:pt x="9232" y="18059"/>
                  </a:lnTo>
                  <a:lnTo>
                    <a:pt x="9080" y="19824"/>
                  </a:lnTo>
                  <a:lnTo>
                    <a:pt x="10223" y="21869"/>
                  </a:lnTo>
                  <a:lnTo>
                    <a:pt x="49517" y="42430"/>
                  </a:lnTo>
                  <a:lnTo>
                    <a:pt x="56095" y="42049"/>
                  </a:lnTo>
                  <a:lnTo>
                    <a:pt x="61531" y="39624"/>
                  </a:lnTo>
                  <a:lnTo>
                    <a:pt x="66636" y="35928"/>
                  </a:lnTo>
                  <a:lnTo>
                    <a:pt x="66929" y="32385"/>
                  </a:lnTo>
                  <a:close/>
                </a:path>
                <a:path w="266065" h="59054">
                  <a:moveTo>
                    <a:pt x="82283" y="47142"/>
                  </a:moveTo>
                  <a:lnTo>
                    <a:pt x="79997" y="43040"/>
                  </a:lnTo>
                  <a:lnTo>
                    <a:pt x="77101" y="41211"/>
                  </a:lnTo>
                  <a:lnTo>
                    <a:pt x="75006" y="40157"/>
                  </a:lnTo>
                  <a:lnTo>
                    <a:pt x="73240" y="40373"/>
                  </a:lnTo>
                  <a:lnTo>
                    <a:pt x="72288" y="41363"/>
                  </a:lnTo>
                  <a:lnTo>
                    <a:pt x="66700" y="45554"/>
                  </a:lnTo>
                  <a:lnTo>
                    <a:pt x="59982" y="47701"/>
                  </a:lnTo>
                  <a:lnTo>
                    <a:pt x="51638" y="48298"/>
                  </a:lnTo>
                  <a:lnTo>
                    <a:pt x="43446" y="47117"/>
                  </a:lnTo>
                  <a:lnTo>
                    <a:pt x="34925" y="44665"/>
                  </a:lnTo>
                  <a:lnTo>
                    <a:pt x="26555" y="40449"/>
                  </a:lnTo>
                  <a:lnTo>
                    <a:pt x="17856" y="34950"/>
                  </a:lnTo>
                  <a:lnTo>
                    <a:pt x="9296" y="27686"/>
                  </a:lnTo>
                  <a:lnTo>
                    <a:pt x="6400" y="25857"/>
                  </a:lnTo>
                  <a:lnTo>
                    <a:pt x="4305" y="24803"/>
                  </a:lnTo>
                  <a:lnTo>
                    <a:pt x="2540" y="25019"/>
                  </a:lnTo>
                  <a:lnTo>
                    <a:pt x="152" y="27508"/>
                  </a:lnTo>
                  <a:lnTo>
                    <a:pt x="0" y="29273"/>
                  </a:lnTo>
                  <a:lnTo>
                    <a:pt x="1143" y="31318"/>
                  </a:lnTo>
                  <a:lnTo>
                    <a:pt x="35801" y="55079"/>
                  </a:lnTo>
                  <a:lnTo>
                    <a:pt x="56857" y="59042"/>
                  </a:lnTo>
                  <a:lnTo>
                    <a:pt x="66471" y="58724"/>
                  </a:lnTo>
                  <a:lnTo>
                    <a:pt x="70954" y="57302"/>
                  </a:lnTo>
                  <a:lnTo>
                    <a:pt x="74968" y="56362"/>
                  </a:lnTo>
                  <a:lnTo>
                    <a:pt x="78638" y="54165"/>
                  </a:lnTo>
                  <a:lnTo>
                    <a:pt x="81978" y="50685"/>
                  </a:lnTo>
                  <a:lnTo>
                    <a:pt x="82283" y="47142"/>
                  </a:lnTo>
                  <a:close/>
                </a:path>
                <a:path w="266065" h="59054">
                  <a:moveTo>
                    <a:pt x="229958" y="18288"/>
                  </a:moveTo>
                  <a:lnTo>
                    <a:pt x="214896" y="0"/>
                  </a:lnTo>
                  <a:lnTo>
                    <a:pt x="211378" y="431"/>
                  </a:lnTo>
                  <a:lnTo>
                    <a:pt x="208178" y="2146"/>
                  </a:lnTo>
                  <a:lnTo>
                    <a:pt x="206590" y="5410"/>
                  </a:lnTo>
                  <a:lnTo>
                    <a:pt x="206298" y="8953"/>
                  </a:lnTo>
                  <a:lnTo>
                    <a:pt x="208572" y="13042"/>
                  </a:lnTo>
                  <a:lnTo>
                    <a:pt x="212140" y="17424"/>
                  </a:lnTo>
                  <a:lnTo>
                    <a:pt x="216649" y="20815"/>
                  </a:lnTo>
                  <a:lnTo>
                    <a:pt x="220840" y="22923"/>
                  </a:lnTo>
                  <a:lnTo>
                    <a:pt x="225171" y="23266"/>
                  </a:lnTo>
                  <a:lnTo>
                    <a:pt x="228371" y="21551"/>
                  </a:lnTo>
                  <a:lnTo>
                    <a:pt x="229958" y="18288"/>
                  </a:lnTo>
                  <a:close/>
                </a:path>
                <a:path w="266065" h="59054">
                  <a:moveTo>
                    <a:pt x="250583" y="32385"/>
                  </a:moveTo>
                  <a:lnTo>
                    <a:pt x="248310" y="28282"/>
                  </a:lnTo>
                  <a:lnTo>
                    <a:pt x="245414" y="26454"/>
                  </a:lnTo>
                  <a:lnTo>
                    <a:pt x="243319" y="25400"/>
                  </a:lnTo>
                  <a:lnTo>
                    <a:pt x="241554" y="25615"/>
                  </a:lnTo>
                  <a:lnTo>
                    <a:pt x="240601" y="26606"/>
                  </a:lnTo>
                  <a:lnTo>
                    <a:pt x="236918" y="28816"/>
                  </a:lnTo>
                  <a:lnTo>
                    <a:pt x="232435" y="30251"/>
                  </a:lnTo>
                  <a:lnTo>
                    <a:pt x="227634" y="30403"/>
                  </a:lnTo>
                  <a:lnTo>
                    <a:pt x="223291" y="30060"/>
                  </a:lnTo>
                  <a:lnTo>
                    <a:pt x="217347" y="28168"/>
                  </a:lnTo>
                  <a:lnTo>
                    <a:pt x="211874" y="25781"/>
                  </a:lnTo>
                  <a:lnTo>
                    <a:pt x="207352" y="22402"/>
                  </a:lnTo>
                  <a:lnTo>
                    <a:pt x="202031" y="18237"/>
                  </a:lnTo>
                  <a:lnTo>
                    <a:pt x="199136" y="16408"/>
                  </a:lnTo>
                  <a:lnTo>
                    <a:pt x="197040" y="15354"/>
                  </a:lnTo>
                  <a:lnTo>
                    <a:pt x="195275" y="15570"/>
                  </a:lnTo>
                  <a:lnTo>
                    <a:pt x="192887" y="18059"/>
                  </a:lnTo>
                  <a:lnTo>
                    <a:pt x="192735" y="19824"/>
                  </a:lnTo>
                  <a:lnTo>
                    <a:pt x="193878" y="21869"/>
                  </a:lnTo>
                  <a:lnTo>
                    <a:pt x="233172" y="42430"/>
                  </a:lnTo>
                  <a:lnTo>
                    <a:pt x="239750" y="42049"/>
                  </a:lnTo>
                  <a:lnTo>
                    <a:pt x="245186" y="39624"/>
                  </a:lnTo>
                  <a:lnTo>
                    <a:pt x="250291" y="35928"/>
                  </a:lnTo>
                  <a:lnTo>
                    <a:pt x="250583" y="32385"/>
                  </a:lnTo>
                  <a:close/>
                </a:path>
                <a:path w="266065" h="59054">
                  <a:moveTo>
                    <a:pt x="265938" y="47142"/>
                  </a:moveTo>
                  <a:lnTo>
                    <a:pt x="263652" y="43040"/>
                  </a:lnTo>
                  <a:lnTo>
                    <a:pt x="260756" y="41211"/>
                  </a:lnTo>
                  <a:lnTo>
                    <a:pt x="258660" y="40157"/>
                  </a:lnTo>
                  <a:lnTo>
                    <a:pt x="256895" y="40373"/>
                  </a:lnTo>
                  <a:lnTo>
                    <a:pt x="255943" y="41363"/>
                  </a:lnTo>
                  <a:lnTo>
                    <a:pt x="250355" y="45554"/>
                  </a:lnTo>
                  <a:lnTo>
                    <a:pt x="243636" y="47701"/>
                  </a:lnTo>
                  <a:lnTo>
                    <a:pt x="235292" y="48298"/>
                  </a:lnTo>
                  <a:lnTo>
                    <a:pt x="227101" y="47117"/>
                  </a:lnTo>
                  <a:lnTo>
                    <a:pt x="218579" y="44665"/>
                  </a:lnTo>
                  <a:lnTo>
                    <a:pt x="210210" y="40449"/>
                  </a:lnTo>
                  <a:lnTo>
                    <a:pt x="201510" y="34950"/>
                  </a:lnTo>
                  <a:lnTo>
                    <a:pt x="192951" y="27686"/>
                  </a:lnTo>
                  <a:lnTo>
                    <a:pt x="190055" y="25857"/>
                  </a:lnTo>
                  <a:lnTo>
                    <a:pt x="187960" y="24803"/>
                  </a:lnTo>
                  <a:lnTo>
                    <a:pt x="186194" y="25019"/>
                  </a:lnTo>
                  <a:lnTo>
                    <a:pt x="183807" y="27508"/>
                  </a:lnTo>
                  <a:lnTo>
                    <a:pt x="183654" y="29273"/>
                  </a:lnTo>
                  <a:lnTo>
                    <a:pt x="184797" y="31318"/>
                  </a:lnTo>
                  <a:lnTo>
                    <a:pt x="219456" y="55079"/>
                  </a:lnTo>
                  <a:lnTo>
                    <a:pt x="240512" y="59042"/>
                  </a:lnTo>
                  <a:lnTo>
                    <a:pt x="250126" y="58724"/>
                  </a:lnTo>
                  <a:lnTo>
                    <a:pt x="254609" y="57302"/>
                  </a:lnTo>
                  <a:lnTo>
                    <a:pt x="258622" y="56362"/>
                  </a:lnTo>
                  <a:lnTo>
                    <a:pt x="262293" y="54165"/>
                  </a:lnTo>
                  <a:lnTo>
                    <a:pt x="265633" y="50685"/>
                  </a:lnTo>
                  <a:lnTo>
                    <a:pt x="265938" y="47142"/>
                  </a:lnTo>
                  <a:close/>
                </a:path>
              </a:pathLst>
            </a:custGeom>
            <a:solidFill>
              <a:srgbClr val="0070C0"/>
            </a:solidFill>
          </p:spPr>
          <p:txBody>
            <a:bodyPr wrap="square" lIns="0" tIns="0" rIns="0" bIns="0" rtlCol="0"/>
            <a:lstStyle/>
            <a:p/>
          </p:txBody>
        </p:sp>
        <p:pic>
          <p:nvPicPr>
            <p:cNvPr id="24" name="object 24" descr=""/>
            <p:cNvPicPr/>
            <p:nvPr/>
          </p:nvPicPr>
          <p:blipFill>
            <a:blip r:embed="rId12" cstate="print"/>
            <a:stretch>
              <a:fillRect/>
            </a:stretch>
          </p:blipFill>
          <p:spPr>
            <a:xfrm>
              <a:off x="7545120" y="4109562"/>
              <a:ext cx="70815" cy="47358"/>
            </a:xfrm>
            <a:prstGeom prst="rect">
              <a:avLst/>
            </a:prstGeom>
          </p:spPr>
        </p:pic>
        <p:pic>
          <p:nvPicPr>
            <p:cNvPr id="25" name="object 25" descr=""/>
            <p:cNvPicPr/>
            <p:nvPr/>
          </p:nvPicPr>
          <p:blipFill>
            <a:blip r:embed="rId13" cstate="print"/>
            <a:stretch>
              <a:fillRect/>
            </a:stretch>
          </p:blipFill>
          <p:spPr>
            <a:xfrm>
              <a:off x="7363752" y="4109562"/>
              <a:ext cx="70815" cy="47358"/>
            </a:xfrm>
            <a:prstGeom prst="rect">
              <a:avLst/>
            </a:prstGeom>
          </p:spPr>
        </p:pic>
        <p:sp>
          <p:nvSpPr>
            <p:cNvPr id="26" name="object 26" descr=""/>
            <p:cNvSpPr/>
            <p:nvPr/>
          </p:nvSpPr>
          <p:spPr>
            <a:xfrm>
              <a:off x="7356665" y="4154017"/>
              <a:ext cx="266065" cy="59055"/>
            </a:xfrm>
            <a:custGeom>
              <a:avLst/>
              <a:gdLst/>
              <a:ahLst/>
              <a:cxnLst/>
              <a:rect l="l" t="t" r="r" b="b"/>
              <a:pathLst>
                <a:path w="266065" h="59054">
                  <a:moveTo>
                    <a:pt x="46278" y="18288"/>
                  </a:moveTo>
                  <a:lnTo>
                    <a:pt x="31229" y="0"/>
                  </a:lnTo>
                  <a:lnTo>
                    <a:pt x="27711" y="431"/>
                  </a:lnTo>
                  <a:lnTo>
                    <a:pt x="24511" y="2146"/>
                  </a:lnTo>
                  <a:lnTo>
                    <a:pt x="22923" y="5410"/>
                  </a:lnTo>
                  <a:lnTo>
                    <a:pt x="22631" y="8953"/>
                  </a:lnTo>
                  <a:lnTo>
                    <a:pt x="24904" y="13042"/>
                  </a:lnTo>
                  <a:lnTo>
                    <a:pt x="28473" y="17424"/>
                  </a:lnTo>
                  <a:lnTo>
                    <a:pt x="32981" y="20815"/>
                  </a:lnTo>
                  <a:lnTo>
                    <a:pt x="37172" y="22923"/>
                  </a:lnTo>
                  <a:lnTo>
                    <a:pt x="41503" y="23266"/>
                  </a:lnTo>
                  <a:lnTo>
                    <a:pt x="44704" y="21551"/>
                  </a:lnTo>
                  <a:lnTo>
                    <a:pt x="46278" y="18288"/>
                  </a:lnTo>
                  <a:close/>
                </a:path>
                <a:path w="266065" h="59054">
                  <a:moveTo>
                    <a:pt x="66929" y="32385"/>
                  </a:moveTo>
                  <a:lnTo>
                    <a:pt x="64655" y="28282"/>
                  </a:lnTo>
                  <a:lnTo>
                    <a:pt x="61760" y="26454"/>
                  </a:lnTo>
                  <a:lnTo>
                    <a:pt x="59664" y="25400"/>
                  </a:lnTo>
                  <a:lnTo>
                    <a:pt x="57899" y="25615"/>
                  </a:lnTo>
                  <a:lnTo>
                    <a:pt x="56946" y="26606"/>
                  </a:lnTo>
                  <a:lnTo>
                    <a:pt x="53263" y="28816"/>
                  </a:lnTo>
                  <a:lnTo>
                    <a:pt x="48793" y="30251"/>
                  </a:lnTo>
                  <a:lnTo>
                    <a:pt x="43980" y="30403"/>
                  </a:lnTo>
                  <a:lnTo>
                    <a:pt x="39636" y="30060"/>
                  </a:lnTo>
                  <a:lnTo>
                    <a:pt x="33693" y="28168"/>
                  </a:lnTo>
                  <a:lnTo>
                    <a:pt x="28219" y="25781"/>
                  </a:lnTo>
                  <a:lnTo>
                    <a:pt x="23698" y="22402"/>
                  </a:lnTo>
                  <a:lnTo>
                    <a:pt x="18376" y="18237"/>
                  </a:lnTo>
                  <a:lnTo>
                    <a:pt x="15481" y="16408"/>
                  </a:lnTo>
                  <a:lnTo>
                    <a:pt x="13385" y="15354"/>
                  </a:lnTo>
                  <a:lnTo>
                    <a:pt x="11620" y="15570"/>
                  </a:lnTo>
                  <a:lnTo>
                    <a:pt x="9232" y="18059"/>
                  </a:lnTo>
                  <a:lnTo>
                    <a:pt x="9080" y="19824"/>
                  </a:lnTo>
                  <a:lnTo>
                    <a:pt x="10223" y="21869"/>
                  </a:lnTo>
                  <a:lnTo>
                    <a:pt x="49517" y="42430"/>
                  </a:lnTo>
                  <a:lnTo>
                    <a:pt x="56095" y="42049"/>
                  </a:lnTo>
                  <a:lnTo>
                    <a:pt x="61531" y="39624"/>
                  </a:lnTo>
                  <a:lnTo>
                    <a:pt x="66636" y="35928"/>
                  </a:lnTo>
                  <a:lnTo>
                    <a:pt x="66929" y="32385"/>
                  </a:lnTo>
                  <a:close/>
                </a:path>
                <a:path w="266065" h="59054">
                  <a:moveTo>
                    <a:pt x="82283" y="47142"/>
                  </a:moveTo>
                  <a:lnTo>
                    <a:pt x="79997" y="43040"/>
                  </a:lnTo>
                  <a:lnTo>
                    <a:pt x="77101" y="41211"/>
                  </a:lnTo>
                  <a:lnTo>
                    <a:pt x="75006" y="40157"/>
                  </a:lnTo>
                  <a:lnTo>
                    <a:pt x="73240" y="40373"/>
                  </a:lnTo>
                  <a:lnTo>
                    <a:pt x="72288" y="41363"/>
                  </a:lnTo>
                  <a:lnTo>
                    <a:pt x="66700" y="45554"/>
                  </a:lnTo>
                  <a:lnTo>
                    <a:pt x="59982" y="47701"/>
                  </a:lnTo>
                  <a:lnTo>
                    <a:pt x="51638" y="48298"/>
                  </a:lnTo>
                  <a:lnTo>
                    <a:pt x="43446" y="47117"/>
                  </a:lnTo>
                  <a:lnTo>
                    <a:pt x="34925" y="44665"/>
                  </a:lnTo>
                  <a:lnTo>
                    <a:pt x="26555" y="40449"/>
                  </a:lnTo>
                  <a:lnTo>
                    <a:pt x="17856" y="34950"/>
                  </a:lnTo>
                  <a:lnTo>
                    <a:pt x="9296" y="27686"/>
                  </a:lnTo>
                  <a:lnTo>
                    <a:pt x="6400" y="25857"/>
                  </a:lnTo>
                  <a:lnTo>
                    <a:pt x="4305" y="24803"/>
                  </a:lnTo>
                  <a:lnTo>
                    <a:pt x="2540" y="25019"/>
                  </a:lnTo>
                  <a:lnTo>
                    <a:pt x="152" y="27508"/>
                  </a:lnTo>
                  <a:lnTo>
                    <a:pt x="0" y="29273"/>
                  </a:lnTo>
                  <a:lnTo>
                    <a:pt x="1143" y="31318"/>
                  </a:lnTo>
                  <a:lnTo>
                    <a:pt x="35801" y="55079"/>
                  </a:lnTo>
                  <a:lnTo>
                    <a:pt x="56857" y="59042"/>
                  </a:lnTo>
                  <a:lnTo>
                    <a:pt x="66471" y="58724"/>
                  </a:lnTo>
                  <a:lnTo>
                    <a:pt x="70954" y="57302"/>
                  </a:lnTo>
                  <a:lnTo>
                    <a:pt x="74968" y="56362"/>
                  </a:lnTo>
                  <a:lnTo>
                    <a:pt x="78638" y="54165"/>
                  </a:lnTo>
                  <a:lnTo>
                    <a:pt x="81978" y="50685"/>
                  </a:lnTo>
                  <a:lnTo>
                    <a:pt x="82283" y="47142"/>
                  </a:lnTo>
                  <a:close/>
                </a:path>
                <a:path w="266065" h="59054">
                  <a:moveTo>
                    <a:pt x="229946" y="18288"/>
                  </a:moveTo>
                  <a:lnTo>
                    <a:pt x="214896" y="0"/>
                  </a:lnTo>
                  <a:lnTo>
                    <a:pt x="211378" y="431"/>
                  </a:lnTo>
                  <a:lnTo>
                    <a:pt x="208178" y="2146"/>
                  </a:lnTo>
                  <a:lnTo>
                    <a:pt x="206590" y="5410"/>
                  </a:lnTo>
                  <a:lnTo>
                    <a:pt x="206298" y="8953"/>
                  </a:lnTo>
                  <a:lnTo>
                    <a:pt x="208572" y="13042"/>
                  </a:lnTo>
                  <a:lnTo>
                    <a:pt x="212140" y="17424"/>
                  </a:lnTo>
                  <a:lnTo>
                    <a:pt x="216649" y="20815"/>
                  </a:lnTo>
                  <a:lnTo>
                    <a:pt x="220840" y="22923"/>
                  </a:lnTo>
                  <a:lnTo>
                    <a:pt x="225171" y="23266"/>
                  </a:lnTo>
                  <a:lnTo>
                    <a:pt x="228371" y="21551"/>
                  </a:lnTo>
                  <a:lnTo>
                    <a:pt x="229946" y="18288"/>
                  </a:lnTo>
                  <a:close/>
                </a:path>
                <a:path w="266065" h="59054">
                  <a:moveTo>
                    <a:pt x="250583" y="32385"/>
                  </a:moveTo>
                  <a:lnTo>
                    <a:pt x="248310" y="28282"/>
                  </a:lnTo>
                  <a:lnTo>
                    <a:pt x="245414" y="26454"/>
                  </a:lnTo>
                  <a:lnTo>
                    <a:pt x="243319" y="25400"/>
                  </a:lnTo>
                  <a:lnTo>
                    <a:pt x="241554" y="25615"/>
                  </a:lnTo>
                  <a:lnTo>
                    <a:pt x="240601" y="26606"/>
                  </a:lnTo>
                  <a:lnTo>
                    <a:pt x="236918" y="28816"/>
                  </a:lnTo>
                  <a:lnTo>
                    <a:pt x="232448" y="30251"/>
                  </a:lnTo>
                  <a:lnTo>
                    <a:pt x="227634" y="30403"/>
                  </a:lnTo>
                  <a:lnTo>
                    <a:pt x="223291" y="30060"/>
                  </a:lnTo>
                  <a:lnTo>
                    <a:pt x="217347" y="28168"/>
                  </a:lnTo>
                  <a:lnTo>
                    <a:pt x="211874" y="25781"/>
                  </a:lnTo>
                  <a:lnTo>
                    <a:pt x="207352" y="22402"/>
                  </a:lnTo>
                  <a:lnTo>
                    <a:pt x="202031" y="18237"/>
                  </a:lnTo>
                  <a:lnTo>
                    <a:pt x="199136" y="16408"/>
                  </a:lnTo>
                  <a:lnTo>
                    <a:pt x="197040" y="15354"/>
                  </a:lnTo>
                  <a:lnTo>
                    <a:pt x="195275" y="15570"/>
                  </a:lnTo>
                  <a:lnTo>
                    <a:pt x="192887" y="18059"/>
                  </a:lnTo>
                  <a:lnTo>
                    <a:pt x="192735" y="19824"/>
                  </a:lnTo>
                  <a:lnTo>
                    <a:pt x="193878" y="21869"/>
                  </a:lnTo>
                  <a:lnTo>
                    <a:pt x="233172" y="42430"/>
                  </a:lnTo>
                  <a:lnTo>
                    <a:pt x="239750" y="42049"/>
                  </a:lnTo>
                  <a:lnTo>
                    <a:pt x="245186" y="39624"/>
                  </a:lnTo>
                  <a:lnTo>
                    <a:pt x="250291" y="35928"/>
                  </a:lnTo>
                  <a:lnTo>
                    <a:pt x="250583" y="32385"/>
                  </a:lnTo>
                  <a:close/>
                </a:path>
                <a:path w="266065" h="59054">
                  <a:moveTo>
                    <a:pt x="265938" y="47142"/>
                  </a:moveTo>
                  <a:lnTo>
                    <a:pt x="263652" y="43040"/>
                  </a:lnTo>
                  <a:lnTo>
                    <a:pt x="260756" y="41211"/>
                  </a:lnTo>
                  <a:lnTo>
                    <a:pt x="258660" y="40157"/>
                  </a:lnTo>
                  <a:lnTo>
                    <a:pt x="256895" y="40373"/>
                  </a:lnTo>
                  <a:lnTo>
                    <a:pt x="255943" y="41363"/>
                  </a:lnTo>
                  <a:lnTo>
                    <a:pt x="250355" y="45554"/>
                  </a:lnTo>
                  <a:lnTo>
                    <a:pt x="243636" y="47701"/>
                  </a:lnTo>
                  <a:lnTo>
                    <a:pt x="235292" y="48298"/>
                  </a:lnTo>
                  <a:lnTo>
                    <a:pt x="227101" y="47117"/>
                  </a:lnTo>
                  <a:lnTo>
                    <a:pt x="218579" y="44665"/>
                  </a:lnTo>
                  <a:lnTo>
                    <a:pt x="210210" y="40449"/>
                  </a:lnTo>
                  <a:lnTo>
                    <a:pt x="201510" y="34950"/>
                  </a:lnTo>
                  <a:lnTo>
                    <a:pt x="192951" y="27686"/>
                  </a:lnTo>
                  <a:lnTo>
                    <a:pt x="190055" y="25857"/>
                  </a:lnTo>
                  <a:lnTo>
                    <a:pt x="187960" y="24803"/>
                  </a:lnTo>
                  <a:lnTo>
                    <a:pt x="186194" y="25019"/>
                  </a:lnTo>
                  <a:lnTo>
                    <a:pt x="183807" y="27508"/>
                  </a:lnTo>
                  <a:lnTo>
                    <a:pt x="183654" y="29273"/>
                  </a:lnTo>
                  <a:lnTo>
                    <a:pt x="184797" y="31318"/>
                  </a:lnTo>
                  <a:lnTo>
                    <a:pt x="219456" y="55079"/>
                  </a:lnTo>
                  <a:lnTo>
                    <a:pt x="240512" y="59042"/>
                  </a:lnTo>
                  <a:lnTo>
                    <a:pt x="250126" y="58724"/>
                  </a:lnTo>
                  <a:lnTo>
                    <a:pt x="254609" y="57302"/>
                  </a:lnTo>
                  <a:lnTo>
                    <a:pt x="258622" y="56362"/>
                  </a:lnTo>
                  <a:lnTo>
                    <a:pt x="262293" y="54165"/>
                  </a:lnTo>
                  <a:lnTo>
                    <a:pt x="265633" y="50685"/>
                  </a:lnTo>
                  <a:lnTo>
                    <a:pt x="265938" y="47142"/>
                  </a:lnTo>
                  <a:close/>
                </a:path>
              </a:pathLst>
            </a:custGeom>
            <a:solidFill>
              <a:srgbClr val="0070C0"/>
            </a:solidFill>
          </p:spPr>
          <p:txBody>
            <a:bodyPr wrap="square" lIns="0" tIns="0" rIns="0" bIns="0" rtlCol="0"/>
            <a:lstStyle/>
            <a:p/>
          </p:txBody>
        </p:sp>
        <p:pic>
          <p:nvPicPr>
            <p:cNvPr id="27" name="object 27" descr=""/>
            <p:cNvPicPr/>
            <p:nvPr/>
          </p:nvPicPr>
          <p:blipFill>
            <a:blip r:embed="rId14" cstate="print"/>
            <a:stretch>
              <a:fillRect/>
            </a:stretch>
          </p:blipFill>
          <p:spPr>
            <a:xfrm>
              <a:off x="7551699" y="4240291"/>
              <a:ext cx="70815" cy="47358"/>
            </a:xfrm>
            <a:prstGeom prst="rect">
              <a:avLst/>
            </a:prstGeom>
          </p:spPr>
        </p:pic>
        <p:pic>
          <p:nvPicPr>
            <p:cNvPr id="28" name="object 28" descr=""/>
            <p:cNvPicPr/>
            <p:nvPr/>
          </p:nvPicPr>
          <p:blipFill>
            <a:blip r:embed="rId15" cstate="print"/>
            <a:stretch>
              <a:fillRect/>
            </a:stretch>
          </p:blipFill>
          <p:spPr>
            <a:xfrm>
              <a:off x="7370330" y="4240291"/>
              <a:ext cx="70815" cy="47358"/>
            </a:xfrm>
            <a:prstGeom prst="rect">
              <a:avLst/>
            </a:prstGeom>
          </p:spPr>
        </p:pic>
        <p:sp>
          <p:nvSpPr>
            <p:cNvPr id="29" name="object 29" descr=""/>
            <p:cNvSpPr/>
            <p:nvPr/>
          </p:nvSpPr>
          <p:spPr>
            <a:xfrm>
              <a:off x="7363244" y="4284751"/>
              <a:ext cx="266065" cy="59055"/>
            </a:xfrm>
            <a:custGeom>
              <a:avLst/>
              <a:gdLst/>
              <a:ahLst/>
              <a:cxnLst/>
              <a:rect l="l" t="t" r="r" b="b"/>
              <a:pathLst>
                <a:path w="266065" h="59054">
                  <a:moveTo>
                    <a:pt x="46291" y="18288"/>
                  </a:moveTo>
                  <a:lnTo>
                    <a:pt x="31229" y="0"/>
                  </a:lnTo>
                  <a:lnTo>
                    <a:pt x="27711" y="431"/>
                  </a:lnTo>
                  <a:lnTo>
                    <a:pt x="24511" y="2146"/>
                  </a:lnTo>
                  <a:lnTo>
                    <a:pt x="22923" y="5410"/>
                  </a:lnTo>
                  <a:lnTo>
                    <a:pt x="22631" y="8953"/>
                  </a:lnTo>
                  <a:lnTo>
                    <a:pt x="24904" y="13042"/>
                  </a:lnTo>
                  <a:lnTo>
                    <a:pt x="28473" y="17424"/>
                  </a:lnTo>
                  <a:lnTo>
                    <a:pt x="32981" y="20815"/>
                  </a:lnTo>
                  <a:lnTo>
                    <a:pt x="37172" y="22923"/>
                  </a:lnTo>
                  <a:lnTo>
                    <a:pt x="41503" y="23266"/>
                  </a:lnTo>
                  <a:lnTo>
                    <a:pt x="44704" y="21551"/>
                  </a:lnTo>
                  <a:lnTo>
                    <a:pt x="46291" y="18288"/>
                  </a:lnTo>
                  <a:close/>
                </a:path>
                <a:path w="266065" h="59054">
                  <a:moveTo>
                    <a:pt x="66929" y="32372"/>
                  </a:moveTo>
                  <a:lnTo>
                    <a:pt x="64655" y="28270"/>
                  </a:lnTo>
                  <a:lnTo>
                    <a:pt x="61760" y="26441"/>
                  </a:lnTo>
                  <a:lnTo>
                    <a:pt x="59664" y="25387"/>
                  </a:lnTo>
                  <a:lnTo>
                    <a:pt x="57899" y="25603"/>
                  </a:lnTo>
                  <a:lnTo>
                    <a:pt x="56946" y="26593"/>
                  </a:lnTo>
                  <a:lnTo>
                    <a:pt x="53263" y="28803"/>
                  </a:lnTo>
                  <a:lnTo>
                    <a:pt x="48780" y="30238"/>
                  </a:lnTo>
                  <a:lnTo>
                    <a:pt x="43980" y="30391"/>
                  </a:lnTo>
                  <a:lnTo>
                    <a:pt x="39636" y="30048"/>
                  </a:lnTo>
                  <a:lnTo>
                    <a:pt x="33693" y="28155"/>
                  </a:lnTo>
                  <a:lnTo>
                    <a:pt x="28219" y="25768"/>
                  </a:lnTo>
                  <a:lnTo>
                    <a:pt x="23698" y="22390"/>
                  </a:lnTo>
                  <a:lnTo>
                    <a:pt x="18376" y="18224"/>
                  </a:lnTo>
                  <a:lnTo>
                    <a:pt x="15481" y="16395"/>
                  </a:lnTo>
                  <a:lnTo>
                    <a:pt x="13385" y="15341"/>
                  </a:lnTo>
                  <a:lnTo>
                    <a:pt x="11620" y="15557"/>
                  </a:lnTo>
                  <a:lnTo>
                    <a:pt x="9232" y="18046"/>
                  </a:lnTo>
                  <a:lnTo>
                    <a:pt x="9080" y="19812"/>
                  </a:lnTo>
                  <a:lnTo>
                    <a:pt x="10223" y="21856"/>
                  </a:lnTo>
                  <a:lnTo>
                    <a:pt x="49517" y="42418"/>
                  </a:lnTo>
                  <a:lnTo>
                    <a:pt x="56095" y="42037"/>
                  </a:lnTo>
                  <a:lnTo>
                    <a:pt x="61531" y="39611"/>
                  </a:lnTo>
                  <a:lnTo>
                    <a:pt x="66636" y="35915"/>
                  </a:lnTo>
                  <a:lnTo>
                    <a:pt x="66929" y="32372"/>
                  </a:lnTo>
                  <a:close/>
                </a:path>
                <a:path w="266065" h="59054">
                  <a:moveTo>
                    <a:pt x="82283" y="47129"/>
                  </a:moveTo>
                  <a:lnTo>
                    <a:pt x="79997" y="43027"/>
                  </a:lnTo>
                  <a:lnTo>
                    <a:pt x="77101" y="41198"/>
                  </a:lnTo>
                  <a:lnTo>
                    <a:pt x="75006" y="40144"/>
                  </a:lnTo>
                  <a:lnTo>
                    <a:pt x="73240" y="40360"/>
                  </a:lnTo>
                  <a:lnTo>
                    <a:pt x="72288" y="41351"/>
                  </a:lnTo>
                  <a:lnTo>
                    <a:pt x="66700" y="45542"/>
                  </a:lnTo>
                  <a:lnTo>
                    <a:pt x="59982" y="47688"/>
                  </a:lnTo>
                  <a:lnTo>
                    <a:pt x="51638" y="48285"/>
                  </a:lnTo>
                  <a:lnTo>
                    <a:pt x="43446" y="47104"/>
                  </a:lnTo>
                  <a:lnTo>
                    <a:pt x="34925" y="44653"/>
                  </a:lnTo>
                  <a:lnTo>
                    <a:pt x="26555" y="40436"/>
                  </a:lnTo>
                  <a:lnTo>
                    <a:pt x="17856" y="34937"/>
                  </a:lnTo>
                  <a:lnTo>
                    <a:pt x="9296" y="27673"/>
                  </a:lnTo>
                  <a:lnTo>
                    <a:pt x="6400" y="25844"/>
                  </a:lnTo>
                  <a:lnTo>
                    <a:pt x="4305" y="24790"/>
                  </a:lnTo>
                  <a:lnTo>
                    <a:pt x="2540" y="25006"/>
                  </a:lnTo>
                  <a:lnTo>
                    <a:pt x="152" y="27495"/>
                  </a:lnTo>
                  <a:lnTo>
                    <a:pt x="0" y="29260"/>
                  </a:lnTo>
                  <a:lnTo>
                    <a:pt x="1143" y="31305"/>
                  </a:lnTo>
                  <a:lnTo>
                    <a:pt x="35801" y="55067"/>
                  </a:lnTo>
                  <a:lnTo>
                    <a:pt x="56857" y="59029"/>
                  </a:lnTo>
                  <a:lnTo>
                    <a:pt x="66471" y="58712"/>
                  </a:lnTo>
                  <a:lnTo>
                    <a:pt x="70954" y="57289"/>
                  </a:lnTo>
                  <a:lnTo>
                    <a:pt x="74968" y="56349"/>
                  </a:lnTo>
                  <a:lnTo>
                    <a:pt x="78638" y="54152"/>
                  </a:lnTo>
                  <a:lnTo>
                    <a:pt x="81978" y="50673"/>
                  </a:lnTo>
                  <a:lnTo>
                    <a:pt x="82283" y="47129"/>
                  </a:lnTo>
                  <a:close/>
                </a:path>
                <a:path w="266065" h="59054">
                  <a:moveTo>
                    <a:pt x="229958" y="18288"/>
                  </a:moveTo>
                  <a:lnTo>
                    <a:pt x="214896" y="0"/>
                  </a:lnTo>
                  <a:lnTo>
                    <a:pt x="211378" y="431"/>
                  </a:lnTo>
                  <a:lnTo>
                    <a:pt x="208178" y="2146"/>
                  </a:lnTo>
                  <a:lnTo>
                    <a:pt x="206590" y="5410"/>
                  </a:lnTo>
                  <a:lnTo>
                    <a:pt x="206298" y="8953"/>
                  </a:lnTo>
                  <a:lnTo>
                    <a:pt x="208572" y="13042"/>
                  </a:lnTo>
                  <a:lnTo>
                    <a:pt x="212140" y="17424"/>
                  </a:lnTo>
                  <a:lnTo>
                    <a:pt x="216649" y="20815"/>
                  </a:lnTo>
                  <a:lnTo>
                    <a:pt x="220840" y="22923"/>
                  </a:lnTo>
                  <a:lnTo>
                    <a:pt x="225171" y="23266"/>
                  </a:lnTo>
                  <a:lnTo>
                    <a:pt x="228371" y="21551"/>
                  </a:lnTo>
                  <a:lnTo>
                    <a:pt x="229958" y="18288"/>
                  </a:lnTo>
                  <a:close/>
                </a:path>
                <a:path w="266065" h="59054">
                  <a:moveTo>
                    <a:pt x="250583" y="32372"/>
                  </a:moveTo>
                  <a:lnTo>
                    <a:pt x="248310" y="28270"/>
                  </a:lnTo>
                  <a:lnTo>
                    <a:pt x="245414" y="26441"/>
                  </a:lnTo>
                  <a:lnTo>
                    <a:pt x="243319" y="25387"/>
                  </a:lnTo>
                  <a:lnTo>
                    <a:pt x="241554" y="25603"/>
                  </a:lnTo>
                  <a:lnTo>
                    <a:pt x="240601" y="26593"/>
                  </a:lnTo>
                  <a:lnTo>
                    <a:pt x="236918" y="28803"/>
                  </a:lnTo>
                  <a:lnTo>
                    <a:pt x="232435" y="30238"/>
                  </a:lnTo>
                  <a:lnTo>
                    <a:pt x="227634" y="30391"/>
                  </a:lnTo>
                  <a:lnTo>
                    <a:pt x="223291" y="30048"/>
                  </a:lnTo>
                  <a:lnTo>
                    <a:pt x="217347" y="28155"/>
                  </a:lnTo>
                  <a:lnTo>
                    <a:pt x="211874" y="25768"/>
                  </a:lnTo>
                  <a:lnTo>
                    <a:pt x="207352" y="22390"/>
                  </a:lnTo>
                  <a:lnTo>
                    <a:pt x="202031" y="18224"/>
                  </a:lnTo>
                  <a:lnTo>
                    <a:pt x="199136" y="16395"/>
                  </a:lnTo>
                  <a:lnTo>
                    <a:pt x="197040" y="15341"/>
                  </a:lnTo>
                  <a:lnTo>
                    <a:pt x="195275" y="15557"/>
                  </a:lnTo>
                  <a:lnTo>
                    <a:pt x="192887" y="18046"/>
                  </a:lnTo>
                  <a:lnTo>
                    <a:pt x="192735" y="19812"/>
                  </a:lnTo>
                  <a:lnTo>
                    <a:pt x="193878" y="21856"/>
                  </a:lnTo>
                  <a:lnTo>
                    <a:pt x="233172" y="42418"/>
                  </a:lnTo>
                  <a:lnTo>
                    <a:pt x="239750" y="42037"/>
                  </a:lnTo>
                  <a:lnTo>
                    <a:pt x="245186" y="39611"/>
                  </a:lnTo>
                  <a:lnTo>
                    <a:pt x="250291" y="35915"/>
                  </a:lnTo>
                  <a:lnTo>
                    <a:pt x="250583" y="32372"/>
                  </a:lnTo>
                  <a:close/>
                </a:path>
                <a:path w="266065" h="59054">
                  <a:moveTo>
                    <a:pt x="265938" y="47129"/>
                  </a:moveTo>
                  <a:lnTo>
                    <a:pt x="263652" y="43027"/>
                  </a:lnTo>
                  <a:lnTo>
                    <a:pt x="260756" y="41198"/>
                  </a:lnTo>
                  <a:lnTo>
                    <a:pt x="258660" y="40144"/>
                  </a:lnTo>
                  <a:lnTo>
                    <a:pt x="256895" y="40360"/>
                  </a:lnTo>
                  <a:lnTo>
                    <a:pt x="255943" y="41351"/>
                  </a:lnTo>
                  <a:lnTo>
                    <a:pt x="250355" y="45542"/>
                  </a:lnTo>
                  <a:lnTo>
                    <a:pt x="243636" y="47688"/>
                  </a:lnTo>
                  <a:lnTo>
                    <a:pt x="235292" y="48285"/>
                  </a:lnTo>
                  <a:lnTo>
                    <a:pt x="227101" y="47104"/>
                  </a:lnTo>
                  <a:lnTo>
                    <a:pt x="218579" y="44653"/>
                  </a:lnTo>
                  <a:lnTo>
                    <a:pt x="210210" y="40436"/>
                  </a:lnTo>
                  <a:lnTo>
                    <a:pt x="201510" y="34937"/>
                  </a:lnTo>
                  <a:lnTo>
                    <a:pt x="192951" y="27673"/>
                  </a:lnTo>
                  <a:lnTo>
                    <a:pt x="190055" y="25844"/>
                  </a:lnTo>
                  <a:lnTo>
                    <a:pt x="187960" y="24790"/>
                  </a:lnTo>
                  <a:lnTo>
                    <a:pt x="186194" y="25006"/>
                  </a:lnTo>
                  <a:lnTo>
                    <a:pt x="183807" y="27495"/>
                  </a:lnTo>
                  <a:lnTo>
                    <a:pt x="183654" y="29260"/>
                  </a:lnTo>
                  <a:lnTo>
                    <a:pt x="184797" y="31305"/>
                  </a:lnTo>
                  <a:lnTo>
                    <a:pt x="219456" y="55067"/>
                  </a:lnTo>
                  <a:lnTo>
                    <a:pt x="240512" y="59029"/>
                  </a:lnTo>
                  <a:lnTo>
                    <a:pt x="250126" y="58712"/>
                  </a:lnTo>
                  <a:lnTo>
                    <a:pt x="254609" y="57289"/>
                  </a:lnTo>
                  <a:lnTo>
                    <a:pt x="258622" y="56349"/>
                  </a:lnTo>
                  <a:lnTo>
                    <a:pt x="262293" y="54152"/>
                  </a:lnTo>
                  <a:lnTo>
                    <a:pt x="265633" y="50673"/>
                  </a:lnTo>
                  <a:lnTo>
                    <a:pt x="265938" y="47129"/>
                  </a:lnTo>
                  <a:close/>
                </a:path>
              </a:pathLst>
            </a:custGeom>
            <a:solidFill>
              <a:srgbClr val="0070C0"/>
            </a:solidFill>
          </p:spPr>
          <p:txBody>
            <a:bodyPr wrap="square" lIns="0" tIns="0" rIns="0" bIns="0" rtlCol="0"/>
            <a:lstStyle/>
            <a:p/>
          </p:txBody>
        </p:sp>
        <p:sp>
          <p:nvSpPr>
            <p:cNvPr id="30" name="object 30" descr=""/>
            <p:cNvSpPr/>
            <p:nvPr/>
          </p:nvSpPr>
          <p:spPr>
            <a:xfrm>
              <a:off x="7254288" y="4112257"/>
              <a:ext cx="0" cy="177800"/>
            </a:xfrm>
            <a:custGeom>
              <a:avLst/>
              <a:gdLst/>
              <a:ahLst/>
              <a:cxnLst/>
              <a:rect l="l" t="t" r="r" b="b"/>
              <a:pathLst>
                <a:path w="0" h="177800">
                  <a:moveTo>
                    <a:pt x="0" y="0"/>
                  </a:moveTo>
                  <a:lnTo>
                    <a:pt x="0" y="177457"/>
                  </a:lnTo>
                </a:path>
              </a:pathLst>
            </a:custGeom>
            <a:ln w="9525">
              <a:solidFill>
                <a:srgbClr val="000000"/>
              </a:solidFill>
            </a:ln>
          </p:spPr>
          <p:txBody>
            <a:bodyPr wrap="square" lIns="0" tIns="0" rIns="0" bIns="0" rtlCol="0"/>
            <a:lstStyle/>
            <a:p/>
          </p:txBody>
        </p:sp>
        <p:pic>
          <p:nvPicPr>
            <p:cNvPr id="31" name="object 31"/>
            <p:cNvPicPr/>
            <p:nvPr/>
          </p:nvPicPr>
          <p:blipFill>
            <a:blip r:embed="rId16" cstate="print"/>
            <a:stretch>
              <a:fillRect/>
            </a:stretch>
          </p:blipFill>
          <p:spPr>
            <a:xfrm>
              <a:off x="6288776" y="3784563"/>
              <a:ext cx="499309" cy="369567"/>
            </a:xfrm>
            <a:prstGeom prst="rect">
              <a:avLst/>
            </a:prstGeom>
          </p:spPr>
        </p:pic>
        <p:pic>
          <p:nvPicPr>
            <p:cNvPr id="32" name="object 32"/>
            <p:cNvPicPr/>
            <p:nvPr/>
          </p:nvPicPr>
          <p:blipFill>
            <a:blip r:embed="rId17" cstate="print"/>
            <a:stretch>
              <a:fillRect/>
            </a:stretch>
          </p:blipFill>
          <p:spPr>
            <a:xfrm>
              <a:off x="6187139" y="3910101"/>
              <a:ext cx="176373" cy="164612"/>
            </a:xfrm>
            <a:prstGeom prst="rect">
              <a:avLst/>
            </a:prstGeom>
          </p:spPr>
        </p:pic>
        <p:sp>
          <p:nvSpPr>
            <p:cNvPr id="33" name="object 33" descr=""/>
            <p:cNvSpPr/>
            <p:nvPr/>
          </p:nvSpPr>
          <p:spPr>
            <a:xfrm>
              <a:off x="1386154" y="2093505"/>
              <a:ext cx="2132965" cy="2412365"/>
            </a:xfrm>
            <a:custGeom>
              <a:avLst/>
              <a:gdLst/>
              <a:ahLst/>
              <a:cxnLst/>
              <a:rect l="l" t="t" r="r" b="b"/>
              <a:pathLst>
                <a:path w="2132965" h="2412365">
                  <a:moveTo>
                    <a:pt x="877493" y="0"/>
                  </a:moveTo>
                  <a:lnTo>
                    <a:pt x="0" y="0"/>
                  </a:lnTo>
                  <a:lnTo>
                    <a:pt x="0" y="2387028"/>
                  </a:lnTo>
                  <a:lnTo>
                    <a:pt x="877493" y="2387028"/>
                  </a:lnTo>
                  <a:lnTo>
                    <a:pt x="877493" y="0"/>
                  </a:lnTo>
                  <a:close/>
                </a:path>
                <a:path w="2132965" h="2412365">
                  <a:moveTo>
                    <a:pt x="2132685" y="763333"/>
                  </a:moveTo>
                  <a:lnTo>
                    <a:pt x="900595" y="763333"/>
                  </a:lnTo>
                  <a:lnTo>
                    <a:pt x="900595" y="2411958"/>
                  </a:lnTo>
                  <a:lnTo>
                    <a:pt x="2132685" y="2411958"/>
                  </a:lnTo>
                  <a:lnTo>
                    <a:pt x="2132685" y="763333"/>
                  </a:lnTo>
                  <a:close/>
                </a:path>
              </a:pathLst>
            </a:custGeom>
            <a:solidFill>
              <a:srgbClr val="B6DF89"/>
            </a:solidFill>
          </p:spPr>
          <p:txBody>
            <a:bodyPr wrap="square" lIns="0" tIns="0" rIns="0" bIns="0" rtlCol="0"/>
            <a:lstStyle/>
            <a:p/>
          </p:txBody>
        </p:sp>
        <p:sp>
          <p:nvSpPr>
            <p:cNvPr id="34" name="object 34" descr=""/>
            <p:cNvSpPr/>
            <p:nvPr/>
          </p:nvSpPr>
          <p:spPr>
            <a:xfrm>
              <a:off x="3550475" y="3552532"/>
              <a:ext cx="2249805" cy="919480"/>
            </a:xfrm>
            <a:custGeom>
              <a:avLst/>
              <a:gdLst/>
              <a:ahLst/>
              <a:cxnLst/>
              <a:rect l="l" t="t" r="r" b="b"/>
              <a:pathLst>
                <a:path w="2249804" h="919479">
                  <a:moveTo>
                    <a:pt x="2249741" y="0"/>
                  </a:moveTo>
                  <a:lnTo>
                    <a:pt x="0" y="0"/>
                  </a:lnTo>
                  <a:lnTo>
                    <a:pt x="0" y="919353"/>
                  </a:lnTo>
                  <a:lnTo>
                    <a:pt x="2249741" y="919353"/>
                  </a:lnTo>
                  <a:lnTo>
                    <a:pt x="2249741" y="0"/>
                  </a:lnTo>
                  <a:close/>
                </a:path>
              </a:pathLst>
            </a:custGeom>
            <a:solidFill>
              <a:srgbClr val="99CCFF"/>
            </a:solidFill>
          </p:spPr>
          <p:txBody>
            <a:bodyPr wrap="square" lIns="0" tIns="0" rIns="0" bIns="0" rtlCol="0"/>
            <a:lstStyle/>
            <a:p/>
          </p:txBody>
        </p:sp>
      </p:grpSp>
      <p:sp>
        <p:nvSpPr>
          <p:cNvPr id="35" name="object 35"/>
          <p:cNvSpPr txBox="1">
            <a:spLocks noGrp="1"/>
          </p:cNvSpPr>
          <p:nvPr>
            <p:ph type="title"/>
          </p:nvPr>
        </p:nvSpPr>
        <p:spPr>
          <a:xfrm>
            <a:off x="1245997" y="184692"/>
            <a:ext cx="7336790" cy="452755"/>
          </a:xfrm>
          <a:prstGeom prst="rect"/>
        </p:spPr>
        <p:txBody>
          <a:bodyPr wrap="square" lIns="0" tIns="12700" rIns="0" bIns="0" rtlCol="0" vert="horz">
            <a:spAutoFit/>
          </a:bodyPr>
          <a:lstStyle/>
          <a:p>
            <a:pPr marL="12700">
              <a:lnSpc>
                <a:spcPct val="100000"/>
              </a:lnSpc>
              <a:spcBef>
                <a:spcPts val="100"/>
              </a:spcBef>
            </a:pPr>
            <a:r>
              <a:rPr dirty="0" sz="2800" spc="-10">
                <a:latin typeface="Times New Roman"/>
                <a:cs typeface="Times New Roman"/>
              </a:rPr>
              <a:t>5G</a:t>
            </a:r>
            <a:r>
              <a:rPr dirty="0" sz="2800"/>
              <a:t>小微站</a:t>
            </a:r>
            <a:r>
              <a:rPr dirty="0" sz="2800" spc="-10">
                <a:latin typeface="Times New Roman"/>
                <a:cs typeface="Times New Roman"/>
              </a:rPr>
              <a:t>/</a:t>
            </a:r>
            <a:r>
              <a:rPr dirty="0" sz="2800" spc="-15"/>
              <a:t>杆站数量急剧增长站点离人越来越近</a:t>
            </a:r>
            <a:endParaRPr sz="2800">
              <a:latin typeface="Times New Roman"/>
              <a:cs typeface="Times New Roman"/>
            </a:endParaRPr>
          </a:p>
        </p:txBody>
      </p:sp>
      <p:sp>
        <p:nvSpPr>
          <p:cNvPr id="36" name="object 36" descr=""/>
          <p:cNvSpPr txBox="1"/>
          <p:nvPr/>
        </p:nvSpPr>
        <p:spPr>
          <a:xfrm>
            <a:off x="2286749" y="2918868"/>
            <a:ext cx="1232535" cy="193040"/>
          </a:xfrm>
          <a:prstGeom prst="rect">
            <a:avLst/>
          </a:prstGeom>
        </p:spPr>
        <p:txBody>
          <a:bodyPr wrap="square" lIns="0" tIns="12065" rIns="0" bIns="0" rtlCol="0" vert="horz">
            <a:spAutoFit/>
          </a:bodyPr>
          <a:lstStyle/>
          <a:p>
            <a:pPr marL="155575">
              <a:lnSpc>
                <a:spcPct val="100000"/>
              </a:lnSpc>
              <a:spcBef>
                <a:spcPts val="95"/>
              </a:spcBef>
            </a:pPr>
            <a:r>
              <a:rPr dirty="0" sz="1100" spc="-20">
                <a:solidFill>
                  <a:srgbClr val="FFFFFF"/>
                </a:solidFill>
                <a:latin typeface="Microsoft YaHei"/>
                <a:cs typeface="Microsoft YaHei"/>
              </a:rPr>
              <a:t>720P</a:t>
            </a:r>
            <a:r>
              <a:rPr dirty="0" sz="1100" spc="-10">
                <a:solidFill>
                  <a:srgbClr val="FFFFFF"/>
                </a:solidFill>
                <a:latin typeface="Microsoft YaHei"/>
                <a:cs typeface="Microsoft YaHei"/>
              </a:rPr>
              <a:t>、1080P</a:t>
            </a:r>
            <a:endParaRPr sz="1100">
              <a:latin typeface="Microsoft YaHei"/>
              <a:cs typeface="Microsoft YaHei"/>
            </a:endParaRPr>
          </a:p>
        </p:txBody>
      </p:sp>
      <p:grpSp>
        <p:nvGrpSpPr>
          <p:cNvPr id="37" name="object 37" descr=""/>
          <p:cNvGrpSpPr/>
          <p:nvPr/>
        </p:nvGrpSpPr>
        <p:grpSpPr>
          <a:xfrm>
            <a:off x="1322103" y="4415726"/>
            <a:ext cx="7040245" cy="128905"/>
            <a:chOff x="1322103" y="4415726"/>
            <a:chExt cx="7040245" cy="128905"/>
          </a:xfrm>
        </p:grpSpPr>
        <p:sp>
          <p:nvSpPr>
            <p:cNvPr id="38" name="object 38" descr=""/>
            <p:cNvSpPr/>
            <p:nvPr/>
          </p:nvSpPr>
          <p:spPr>
            <a:xfrm>
              <a:off x="1336390" y="4479935"/>
              <a:ext cx="7011670" cy="7620"/>
            </a:xfrm>
            <a:custGeom>
              <a:avLst/>
              <a:gdLst/>
              <a:ahLst/>
              <a:cxnLst/>
              <a:rect l="l" t="t" r="r" b="b"/>
              <a:pathLst>
                <a:path w="7011670" h="7620">
                  <a:moveTo>
                    <a:pt x="0" y="7264"/>
                  </a:moveTo>
                  <a:lnTo>
                    <a:pt x="7011212" y="0"/>
                  </a:lnTo>
                </a:path>
              </a:pathLst>
            </a:custGeom>
            <a:ln w="28575">
              <a:solidFill>
                <a:srgbClr val="0070C0"/>
              </a:solidFill>
            </a:ln>
          </p:spPr>
          <p:txBody>
            <a:bodyPr wrap="square" lIns="0" tIns="0" rIns="0" bIns="0" rtlCol="0"/>
            <a:lstStyle/>
            <a:p/>
          </p:txBody>
        </p:sp>
        <p:sp>
          <p:nvSpPr>
            <p:cNvPr id="39" name="object 39" descr=""/>
            <p:cNvSpPr/>
            <p:nvPr/>
          </p:nvSpPr>
          <p:spPr>
            <a:xfrm>
              <a:off x="8261829" y="4430014"/>
              <a:ext cx="86360" cy="100330"/>
            </a:xfrm>
            <a:custGeom>
              <a:avLst/>
              <a:gdLst/>
              <a:ahLst/>
              <a:cxnLst/>
              <a:rect l="l" t="t" r="r" b="b"/>
              <a:pathLst>
                <a:path w="86359" h="100329">
                  <a:moveTo>
                    <a:pt x="0" y="0"/>
                  </a:moveTo>
                  <a:lnTo>
                    <a:pt x="85775" y="49923"/>
                  </a:lnTo>
                  <a:lnTo>
                    <a:pt x="101" y="100012"/>
                  </a:lnTo>
                </a:path>
              </a:pathLst>
            </a:custGeom>
            <a:ln w="28575">
              <a:solidFill>
                <a:srgbClr val="0070C0"/>
              </a:solidFill>
            </a:ln>
          </p:spPr>
          <p:txBody>
            <a:bodyPr wrap="square" lIns="0" tIns="0" rIns="0" bIns="0" rtlCol="0"/>
            <a:lstStyle/>
            <a:p/>
          </p:txBody>
        </p:sp>
      </p:grpSp>
      <p:sp>
        <p:nvSpPr>
          <p:cNvPr id="40" name="object 40" descr=""/>
          <p:cNvSpPr txBox="1"/>
          <p:nvPr/>
        </p:nvSpPr>
        <p:spPr>
          <a:xfrm>
            <a:off x="6861069" y="4527513"/>
            <a:ext cx="266700" cy="162560"/>
          </a:xfrm>
          <a:prstGeom prst="rect">
            <a:avLst/>
          </a:prstGeom>
        </p:spPr>
        <p:txBody>
          <a:bodyPr wrap="square" lIns="0" tIns="12700" rIns="0" bIns="0" rtlCol="0" vert="horz">
            <a:spAutoFit/>
          </a:bodyPr>
          <a:lstStyle/>
          <a:p>
            <a:pPr marL="12700">
              <a:lnSpc>
                <a:spcPct val="100000"/>
              </a:lnSpc>
              <a:spcBef>
                <a:spcPts val="100"/>
              </a:spcBef>
            </a:pPr>
            <a:r>
              <a:rPr dirty="0" sz="900" spc="-25">
                <a:solidFill>
                  <a:srgbClr val="FFFFFF"/>
                </a:solidFill>
                <a:latin typeface="Microsoft YaHei"/>
                <a:cs typeface="Microsoft YaHei"/>
              </a:rPr>
              <a:t>50m</a:t>
            </a:r>
            <a:endParaRPr sz="900">
              <a:latin typeface="Microsoft YaHei"/>
              <a:cs typeface="Microsoft YaHei"/>
            </a:endParaRPr>
          </a:p>
        </p:txBody>
      </p:sp>
      <p:sp>
        <p:nvSpPr>
          <p:cNvPr id="41" name="object 41" descr=""/>
          <p:cNvSpPr txBox="1"/>
          <p:nvPr/>
        </p:nvSpPr>
        <p:spPr>
          <a:xfrm>
            <a:off x="5606055" y="4527513"/>
            <a:ext cx="334010" cy="162560"/>
          </a:xfrm>
          <a:prstGeom prst="rect">
            <a:avLst/>
          </a:prstGeom>
        </p:spPr>
        <p:txBody>
          <a:bodyPr wrap="square" lIns="0" tIns="12700" rIns="0" bIns="0" rtlCol="0" vert="horz">
            <a:spAutoFit/>
          </a:bodyPr>
          <a:lstStyle/>
          <a:p>
            <a:pPr marL="12700">
              <a:lnSpc>
                <a:spcPct val="100000"/>
              </a:lnSpc>
              <a:spcBef>
                <a:spcPts val="100"/>
              </a:spcBef>
            </a:pPr>
            <a:r>
              <a:rPr dirty="0" sz="900" spc="-20">
                <a:solidFill>
                  <a:srgbClr val="FFFFFF"/>
                </a:solidFill>
                <a:latin typeface="Microsoft YaHei"/>
                <a:cs typeface="Microsoft YaHei"/>
              </a:rPr>
              <a:t>100m</a:t>
            </a:r>
            <a:endParaRPr sz="900">
              <a:latin typeface="Microsoft YaHei"/>
              <a:cs typeface="Microsoft YaHei"/>
            </a:endParaRPr>
          </a:p>
        </p:txBody>
      </p:sp>
      <p:sp>
        <p:nvSpPr>
          <p:cNvPr id="42" name="object 42" descr=""/>
          <p:cNvSpPr txBox="1"/>
          <p:nvPr/>
        </p:nvSpPr>
        <p:spPr>
          <a:xfrm>
            <a:off x="3352402" y="4527513"/>
            <a:ext cx="334010" cy="162560"/>
          </a:xfrm>
          <a:prstGeom prst="rect">
            <a:avLst/>
          </a:prstGeom>
        </p:spPr>
        <p:txBody>
          <a:bodyPr wrap="square" lIns="0" tIns="12700" rIns="0" bIns="0" rtlCol="0" vert="horz">
            <a:spAutoFit/>
          </a:bodyPr>
          <a:lstStyle/>
          <a:p>
            <a:pPr marL="12700">
              <a:lnSpc>
                <a:spcPct val="100000"/>
              </a:lnSpc>
              <a:spcBef>
                <a:spcPts val="100"/>
              </a:spcBef>
            </a:pPr>
            <a:r>
              <a:rPr dirty="0" sz="900" spc="-20">
                <a:solidFill>
                  <a:srgbClr val="FFFFFF"/>
                </a:solidFill>
                <a:latin typeface="Microsoft YaHei"/>
                <a:cs typeface="Microsoft YaHei"/>
              </a:rPr>
              <a:t>300m</a:t>
            </a:r>
            <a:endParaRPr sz="900">
              <a:latin typeface="Microsoft YaHei"/>
              <a:cs typeface="Microsoft YaHei"/>
            </a:endParaRPr>
          </a:p>
        </p:txBody>
      </p:sp>
      <p:sp>
        <p:nvSpPr>
          <p:cNvPr id="43" name="object 43" descr=""/>
          <p:cNvSpPr txBox="1"/>
          <p:nvPr/>
        </p:nvSpPr>
        <p:spPr>
          <a:xfrm>
            <a:off x="2160482" y="4527513"/>
            <a:ext cx="262255" cy="162560"/>
          </a:xfrm>
          <a:prstGeom prst="rect">
            <a:avLst/>
          </a:prstGeom>
        </p:spPr>
        <p:txBody>
          <a:bodyPr wrap="square" lIns="0" tIns="12700" rIns="0" bIns="0" rtlCol="0" vert="horz">
            <a:spAutoFit/>
          </a:bodyPr>
          <a:lstStyle/>
          <a:p>
            <a:pPr marL="12700">
              <a:lnSpc>
                <a:spcPct val="100000"/>
              </a:lnSpc>
              <a:spcBef>
                <a:spcPts val="100"/>
              </a:spcBef>
            </a:pPr>
            <a:r>
              <a:rPr dirty="0" sz="900" spc="-25">
                <a:solidFill>
                  <a:srgbClr val="FFFFFF"/>
                </a:solidFill>
                <a:latin typeface="Microsoft YaHei"/>
                <a:cs typeface="Microsoft YaHei"/>
              </a:rPr>
              <a:t>1km</a:t>
            </a:r>
            <a:endParaRPr sz="900">
              <a:latin typeface="Microsoft YaHei"/>
              <a:cs typeface="Microsoft YaHei"/>
            </a:endParaRPr>
          </a:p>
        </p:txBody>
      </p:sp>
      <p:sp>
        <p:nvSpPr>
          <p:cNvPr id="44" name="object 44" descr=""/>
          <p:cNvSpPr txBox="1"/>
          <p:nvPr/>
        </p:nvSpPr>
        <p:spPr>
          <a:xfrm>
            <a:off x="8131847" y="4521466"/>
            <a:ext cx="443865" cy="193040"/>
          </a:xfrm>
          <a:prstGeom prst="rect">
            <a:avLst/>
          </a:prstGeom>
        </p:spPr>
        <p:txBody>
          <a:bodyPr wrap="square" lIns="0" tIns="12065" rIns="0" bIns="0" rtlCol="0" vert="horz">
            <a:spAutoFit/>
          </a:bodyPr>
          <a:lstStyle/>
          <a:p>
            <a:pPr marL="12700">
              <a:lnSpc>
                <a:spcPct val="100000"/>
              </a:lnSpc>
              <a:spcBef>
                <a:spcPts val="95"/>
              </a:spcBef>
            </a:pPr>
            <a:r>
              <a:rPr dirty="0" sz="1100" spc="-35">
                <a:solidFill>
                  <a:srgbClr val="FFFFFF"/>
                </a:solidFill>
                <a:latin typeface="Microsoft YaHei"/>
                <a:cs typeface="Microsoft YaHei"/>
              </a:rPr>
              <a:t>站间距</a:t>
            </a:r>
            <a:endParaRPr sz="1100">
              <a:latin typeface="Microsoft YaHei"/>
              <a:cs typeface="Microsoft YaHei"/>
            </a:endParaRPr>
          </a:p>
        </p:txBody>
      </p:sp>
      <p:sp>
        <p:nvSpPr>
          <p:cNvPr id="45" name="object 45" descr=""/>
          <p:cNvSpPr txBox="1"/>
          <p:nvPr/>
        </p:nvSpPr>
        <p:spPr>
          <a:xfrm>
            <a:off x="4373499" y="3309959"/>
            <a:ext cx="474345" cy="193040"/>
          </a:xfrm>
          <a:prstGeom prst="rect">
            <a:avLst/>
          </a:prstGeom>
        </p:spPr>
        <p:txBody>
          <a:bodyPr wrap="square" lIns="0" tIns="12065" rIns="0" bIns="0" rtlCol="0" vert="horz">
            <a:spAutoFit/>
          </a:bodyPr>
          <a:lstStyle/>
          <a:p>
            <a:pPr marL="12700">
              <a:lnSpc>
                <a:spcPct val="100000"/>
              </a:lnSpc>
              <a:spcBef>
                <a:spcPts val="95"/>
              </a:spcBef>
            </a:pPr>
            <a:r>
              <a:rPr dirty="0" sz="1100" spc="-20">
                <a:solidFill>
                  <a:srgbClr val="FFFFFF"/>
                </a:solidFill>
                <a:latin typeface="Microsoft YaHei"/>
                <a:cs typeface="Microsoft YaHei"/>
              </a:rPr>
              <a:t>4K</a:t>
            </a:r>
            <a:r>
              <a:rPr dirty="0" sz="1100" spc="-35">
                <a:solidFill>
                  <a:srgbClr val="FFFFFF"/>
                </a:solidFill>
                <a:latin typeface="Microsoft YaHei"/>
                <a:cs typeface="Microsoft YaHei"/>
              </a:rPr>
              <a:t>视频</a:t>
            </a:r>
            <a:endParaRPr sz="1100">
              <a:latin typeface="Microsoft YaHei"/>
              <a:cs typeface="Microsoft YaHei"/>
            </a:endParaRPr>
          </a:p>
        </p:txBody>
      </p:sp>
      <p:sp>
        <p:nvSpPr>
          <p:cNvPr id="46" name="object 46" descr=""/>
          <p:cNvSpPr txBox="1"/>
          <p:nvPr/>
        </p:nvSpPr>
        <p:spPr>
          <a:xfrm>
            <a:off x="6031651" y="3689113"/>
            <a:ext cx="762000" cy="193040"/>
          </a:xfrm>
          <a:prstGeom prst="rect">
            <a:avLst/>
          </a:prstGeom>
        </p:spPr>
        <p:txBody>
          <a:bodyPr wrap="square" lIns="0" tIns="12065" rIns="0" bIns="0" rtlCol="0" vert="horz">
            <a:spAutoFit/>
          </a:bodyPr>
          <a:lstStyle/>
          <a:p>
            <a:pPr marL="12700">
              <a:lnSpc>
                <a:spcPct val="100000"/>
              </a:lnSpc>
              <a:spcBef>
                <a:spcPts val="95"/>
              </a:spcBef>
            </a:pPr>
            <a:r>
              <a:rPr dirty="0" sz="1100" spc="-10">
                <a:solidFill>
                  <a:srgbClr val="FFFFFF"/>
                </a:solidFill>
                <a:latin typeface="Microsoft YaHei"/>
                <a:cs typeface="Microsoft YaHei"/>
              </a:rPr>
              <a:t>AR</a:t>
            </a:r>
            <a:r>
              <a:rPr dirty="0" sz="1100" spc="-20">
                <a:solidFill>
                  <a:srgbClr val="FFFFFF"/>
                </a:solidFill>
                <a:latin typeface="Microsoft YaHei"/>
                <a:cs typeface="Microsoft YaHei"/>
              </a:rPr>
              <a:t>、</a:t>
            </a:r>
            <a:r>
              <a:rPr dirty="0" sz="1100" spc="-10">
                <a:solidFill>
                  <a:srgbClr val="FFFFFF"/>
                </a:solidFill>
                <a:latin typeface="Microsoft YaHei"/>
                <a:cs typeface="Microsoft YaHei"/>
              </a:rPr>
              <a:t>1/2VR</a:t>
            </a:r>
            <a:endParaRPr sz="1100">
              <a:latin typeface="Microsoft YaHei"/>
              <a:cs typeface="Microsoft YaHei"/>
            </a:endParaRPr>
          </a:p>
        </p:txBody>
      </p:sp>
      <p:sp>
        <p:nvSpPr>
          <p:cNvPr id="47" name="object 47" descr=""/>
          <p:cNvSpPr txBox="1"/>
          <p:nvPr/>
        </p:nvSpPr>
        <p:spPr>
          <a:xfrm>
            <a:off x="767147" y="1392158"/>
            <a:ext cx="922019" cy="193040"/>
          </a:xfrm>
          <a:prstGeom prst="rect">
            <a:avLst/>
          </a:prstGeom>
        </p:spPr>
        <p:txBody>
          <a:bodyPr wrap="square" lIns="0" tIns="12065" rIns="0" bIns="0" rtlCol="0" vert="horz">
            <a:spAutoFit/>
          </a:bodyPr>
          <a:lstStyle/>
          <a:p>
            <a:pPr marL="12700">
              <a:lnSpc>
                <a:spcPct val="100000"/>
              </a:lnSpc>
              <a:spcBef>
                <a:spcPts val="95"/>
              </a:spcBef>
            </a:pPr>
            <a:r>
              <a:rPr dirty="0" sz="1100" spc="-25">
                <a:solidFill>
                  <a:srgbClr val="FFFFFF"/>
                </a:solidFill>
                <a:latin typeface="Microsoft YaHei"/>
                <a:cs typeface="Microsoft YaHei"/>
              </a:rPr>
              <a:t>站高/覆盖人口</a:t>
            </a:r>
            <a:endParaRPr sz="1100">
              <a:latin typeface="Microsoft YaHei"/>
              <a:cs typeface="Microsoft YaHei"/>
            </a:endParaRPr>
          </a:p>
        </p:txBody>
      </p:sp>
      <p:sp>
        <p:nvSpPr>
          <p:cNvPr id="48" name="object 48" descr=""/>
          <p:cNvSpPr txBox="1"/>
          <p:nvPr/>
        </p:nvSpPr>
        <p:spPr>
          <a:xfrm>
            <a:off x="560348" y="3421377"/>
            <a:ext cx="666115" cy="193040"/>
          </a:xfrm>
          <a:prstGeom prst="rect">
            <a:avLst/>
          </a:prstGeom>
        </p:spPr>
        <p:txBody>
          <a:bodyPr wrap="square" lIns="0" tIns="12065" rIns="0" bIns="0" rtlCol="0" vert="horz">
            <a:spAutoFit/>
          </a:bodyPr>
          <a:lstStyle/>
          <a:p>
            <a:pPr marL="12700">
              <a:lnSpc>
                <a:spcPct val="100000"/>
              </a:lnSpc>
              <a:spcBef>
                <a:spcPts val="95"/>
              </a:spcBef>
            </a:pPr>
            <a:r>
              <a:rPr dirty="0" sz="1100" spc="-10">
                <a:solidFill>
                  <a:srgbClr val="FFFFFF"/>
                </a:solidFill>
                <a:latin typeface="Microsoft YaHei"/>
                <a:cs typeface="Microsoft YaHei"/>
              </a:rPr>
              <a:t>15m/85%</a:t>
            </a:r>
            <a:endParaRPr sz="1100">
              <a:latin typeface="Microsoft YaHei"/>
              <a:cs typeface="Microsoft YaHei"/>
            </a:endParaRPr>
          </a:p>
        </p:txBody>
      </p:sp>
      <p:sp>
        <p:nvSpPr>
          <p:cNvPr id="49" name="object 49" descr=""/>
          <p:cNvSpPr txBox="1"/>
          <p:nvPr/>
        </p:nvSpPr>
        <p:spPr>
          <a:xfrm>
            <a:off x="652641" y="2792740"/>
            <a:ext cx="574040" cy="193040"/>
          </a:xfrm>
          <a:prstGeom prst="rect">
            <a:avLst/>
          </a:prstGeom>
        </p:spPr>
        <p:txBody>
          <a:bodyPr wrap="square" lIns="0" tIns="12065" rIns="0" bIns="0" rtlCol="0" vert="horz">
            <a:spAutoFit/>
          </a:bodyPr>
          <a:lstStyle/>
          <a:p>
            <a:pPr marL="12700">
              <a:lnSpc>
                <a:spcPct val="100000"/>
              </a:lnSpc>
              <a:spcBef>
                <a:spcPts val="95"/>
              </a:spcBef>
            </a:pPr>
            <a:r>
              <a:rPr dirty="0" sz="900" spc="-10">
                <a:solidFill>
                  <a:srgbClr val="FFFFFF"/>
                </a:solidFill>
                <a:latin typeface="Microsoft YaHei"/>
                <a:cs typeface="Microsoft YaHei"/>
              </a:rPr>
              <a:t>25m/90</a:t>
            </a:r>
            <a:r>
              <a:rPr dirty="0" sz="1100" spc="-10">
                <a:solidFill>
                  <a:srgbClr val="FFFFFF"/>
                </a:solidFill>
                <a:latin typeface="Microsoft YaHei"/>
                <a:cs typeface="Microsoft YaHei"/>
              </a:rPr>
              <a:t>%</a:t>
            </a:r>
            <a:endParaRPr sz="1100">
              <a:latin typeface="Microsoft YaHei"/>
              <a:cs typeface="Microsoft YaHei"/>
            </a:endParaRPr>
          </a:p>
        </p:txBody>
      </p:sp>
      <p:sp>
        <p:nvSpPr>
          <p:cNvPr id="50" name="object 50" descr=""/>
          <p:cNvSpPr txBox="1"/>
          <p:nvPr/>
        </p:nvSpPr>
        <p:spPr>
          <a:xfrm>
            <a:off x="670275" y="2210489"/>
            <a:ext cx="551815" cy="162560"/>
          </a:xfrm>
          <a:prstGeom prst="rect">
            <a:avLst/>
          </a:prstGeom>
        </p:spPr>
        <p:txBody>
          <a:bodyPr wrap="square" lIns="0" tIns="12700" rIns="0" bIns="0" rtlCol="0" vert="horz">
            <a:spAutoFit/>
          </a:bodyPr>
          <a:lstStyle/>
          <a:p>
            <a:pPr marL="12700">
              <a:lnSpc>
                <a:spcPct val="100000"/>
              </a:lnSpc>
              <a:spcBef>
                <a:spcPts val="100"/>
              </a:spcBef>
            </a:pPr>
            <a:r>
              <a:rPr dirty="0" sz="900" spc="-10">
                <a:solidFill>
                  <a:srgbClr val="FFFFFF"/>
                </a:solidFill>
                <a:latin typeface="Microsoft YaHei"/>
                <a:cs typeface="Microsoft YaHei"/>
              </a:rPr>
              <a:t>35m/95%</a:t>
            </a:r>
            <a:endParaRPr sz="900">
              <a:latin typeface="Microsoft YaHei"/>
              <a:cs typeface="Microsoft YaHei"/>
            </a:endParaRPr>
          </a:p>
        </p:txBody>
      </p:sp>
      <p:sp>
        <p:nvSpPr>
          <p:cNvPr id="51" name="object 51" descr=""/>
          <p:cNvSpPr txBox="1"/>
          <p:nvPr/>
        </p:nvSpPr>
        <p:spPr>
          <a:xfrm>
            <a:off x="731083" y="4040661"/>
            <a:ext cx="484505" cy="162560"/>
          </a:xfrm>
          <a:prstGeom prst="rect">
            <a:avLst/>
          </a:prstGeom>
        </p:spPr>
        <p:txBody>
          <a:bodyPr wrap="square" lIns="0" tIns="12700" rIns="0" bIns="0" rtlCol="0" vert="horz">
            <a:spAutoFit/>
          </a:bodyPr>
          <a:lstStyle/>
          <a:p>
            <a:pPr marL="12700">
              <a:lnSpc>
                <a:spcPct val="100000"/>
              </a:lnSpc>
              <a:spcBef>
                <a:spcPts val="100"/>
              </a:spcBef>
            </a:pPr>
            <a:r>
              <a:rPr dirty="0" sz="900" spc="-10">
                <a:solidFill>
                  <a:srgbClr val="FFFFFF"/>
                </a:solidFill>
                <a:latin typeface="Microsoft YaHei"/>
                <a:cs typeface="Microsoft YaHei"/>
              </a:rPr>
              <a:t>5m/70%</a:t>
            </a:r>
            <a:endParaRPr sz="900">
              <a:latin typeface="Microsoft YaHei"/>
              <a:cs typeface="Microsoft YaHei"/>
            </a:endParaRPr>
          </a:p>
        </p:txBody>
      </p:sp>
      <p:grpSp>
        <p:nvGrpSpPr>
          <p:cNvPr id="52" name="object 52" descr=""/>
          <p:cNvGrpSpPr/>
          <p:nvPr/>
        </p:nvGrpSpPr>
        <p:grpSpPr>
          <a:xfrm>
            <a:off x="1280485" y="1598094"/>
            <a:ext cx="128905" cy="2914015"/>
            <a:chOff x="1280485" y="1598094"/>
            <a:chExt cx="128905" cy="2914015"/>
          </a:xfrm>
        </p:grpSpPr>
        <p:sp>
          <p:nvSpPr>
            <p:cNvPr id="53" name="object 53" descr=""/>
            <p:cNvSpPr/>
            <p:nvPr/>
          </p:nvSpPr>
          <p:spPr>
            <a:xfrm>
              <a:off x="1341748" y="1612388"/>
              <a:ext cx="3175" cy="2885440"/>
            </a:xfrm>
            <a:custGeom>
              <a:avLst/>
              <a:gdLst/>
              <a:ahLst/>
              <a:cxnLst/>
              <a:rect l="l" t="t" r="r" b="b"/>
              <a:pathLst>
                <a:path w="3175" h="2885440">
                  <a:moveTo>
                    <a:pt x="0" y="2884970"/>
                  </a:moveTo>
                  <a:lnTo>
                    <a:pt x="3124" y="0"/>
                  </a:lnTo>
                </a:path>
              </a:pathLst>
            </a:custGeom>
            <a:ln w="28575">
              <a:solidFill>
                <a:srgbClr val="0070C0"/>
              </a:solidFill>
            </a:ln>
          </p:spPr>
          <p:txBody>
            <a:bodyPr wrap="square" lIns="0" tIns="0" rIns="0" bIns="0" rtlCol="0"/>
            <a:lstStyle/>
            <a:p/>
          </p:txBody>
        </p:sp>
        <p:sp>
          <p:nvSpPr>
            <p:cNvPr id="54" name="object 54" descr=""/>
            <p:cNvSpPr/>
            <p:nvPr/>
          </p:nvSpPr>
          <p:spPr>
            <a:xfrm>
              <a:off x="1294772" y="1612381"/>
              <a:ext cx="100330" cy="86360"/>
            </a:xfrm>
            <a:custGeom>
              <a:avLst/>
              <a:gdLst/>
              <a:ahLst/>
              <a:cxnLst/>
              <a:rect l="l" t="t" r="r" b="b"/>
              <a:pathLst>
                <a:path w="100330" h="86360">
                  <a:moveTo>
                    <a:pt x="0" y="85674"/>
                  </a:moveTo>
                  <a:lnTo>
                    <a:pt x="50101" y="0"/>
                  </a:lnTo>
                  <a:lnTo>
                    <a:pt x="100012" y="85788"/>
                  </a:lnTo>
                </a:path>
              </a:pathLst>
            </a:custGeom>
            <a:ln w="28575">
              <a:solidFill>
                <a:srgbClr val="0070C0"/>
              </a:solidFill>
            </a:ln>
          </p:spPr>
          <p:txBody>
            <a:bodyPr wrap="square" lIns="0" tIns="0" rIns="0" bIns="0" rtlCol="0"/>
            <a:lstStyle/>
            <a:p/>
          </p:txBody>
        </p:sp>
        <p:sp>
          <p:nvSpPr>
            <p:cNvPr id="55" name="object 55" descr=""/>
            <p:cNvSpPr/>
            <p:nvPr/>
          </p:nvSpPr>
          <p:spPr>
            <a:xfrm>
              <a:off x="1289342" y="2262187"/>
              <a:ext cx="85090" cy="1876425"/>
            </a:xfrm>
            <a:custGeom>
              <a:avLst/>
              <a:gdLst/>
              <a:ahLst/>
              <a:cxnLst/>
              <a:rect l="l" t="t" r="r" b="b"/>
              <a:pathLst>
                <a:path w="85090" h="1876425">
                  <a:moveTo>
                    <a:pt x="71183" y="23660"/>
                  </a:moveTo>
                  <a:lnTo>
                    <a:pt x="68389" y="14452"/>
                  </a:lnTo>
                  <a:lnTo>
                    <a:pt x="60756" y="6934"/>
                  </a:lnTo>
                  <a:lnTo>
                    <a:pt x="49441" y="1854"/>
                  </a:lnTo>
                  <a:lnTo>
                    <a:pt x="35585" y="0"/>
                  </a:lnTo>
                  <a:lnTo>
                    <a:pt x="21742" y="1854"/>
                  </a:lnTo>
                  <a:lnTo>
                    <a:pt x="10426" y="6934"/>
                  </a:lnTo>
                  <a:lnTo>
                    <a:pt x="2806" y="14452"/>
                  </a:lnTo>
                  <a:lnTo>
                    <a:pt x="0" y="23660"/>
                  </a:lnTo>
                  <a:lnTo>
                    <a:pt x="2806" y="32867"/>
                  </a:lnTo>
                  <a:lnTo>
                    <a:pt x="10426" y="40386"/>
                  </a:lnTo>
                  <a:lnTo>
                    <a:pt x="21742" y="45466"/>
                  </a:lnTo>
                  <a:lnTo>
                    <a:pt x="35585" y="47320"/>
                  </a:lnTo>
                  <a:lnTo>
                    <a:pt x="49441" y="45466"/>
                  </a:lnTo>
                  <a:lnTo>
                    <a:pt x="60756" y="40386"/>
                  </a:lnTo>
                  <a:lnTo>
                    <a:pt x="68389" y="32867"/>
                  </a:lnTo>
                  <a:lnTo>
                    <a:pt x="71183" y="23660"/>
                  </a:lnTo>
                  <a:close/>
                </a:path>
                <a:path w="85090" h="1876425">
                  <a:moveTo>
                    <a:pt x="76123" y="618324"/>
                  </a:moveTo>
                  <a:lnTo>
                    <a:pt x="73329" y="609117"/>
                  </a:lnTo>
                  <a:lnTo>
                    <a:pt x="65697" y="601599"/>
                  </a:lnTo>
                  <a:lnTo>
                    <a:pt x="54381" y="596519"/>
                  </a:lnTo>
                  <a:lnTo>
                    <a:pt x="40525" y="594664"/>
                  </a:lnTo>
                  <a:lnTo>
                    <a:pt x="26670" y="596519"/>
                  </a:lnTo>
                  <a:lnTo>
                    <a:pt x="15367" y="601599"/>
                  </a:lnTo>
                  <a:lnTo>
                    <a:pt x="7734" y="609117"/>
                  </a:lnTo>
                  <a:lnTo>
                    <a:pt x="4940" y="618324"/>
                  </a:lnTo>
                  <a:lnTo>
                    <a:pt x="7734" y="627532"/>
                  </a:lnTo>
                  <a:lnTo>
                    <a:pt x="15367" y="635050"/>
                  </a:lnTo>
                  <a:lnTo>
                    <a:pt x="26670" y="640130"/>
                  </a:lnTo>
                  <a:lnTo>
                    <a:pt x="40525" y="641985"/>
                  </a:lnTo>
                  <a:lnTo>
                    <a:pt x="54381" y="640130"/>
                  </a:lnTo>
                  <a:lnTo>
                    <a:pt x="65697" y="635050"/>
                  </a:lnTo>
                  <a:lnTo>
                    <a:pt x="73329" y="627532"/>
                  </a:lnTo>
                  <a:lnTo>
                    <a:pt x="76123" y="618324"/>
                  </a:lnTo>
                  <a:close/>
                </a:path>
                <a:path w="85090" h="1876425">
                  <a:moveTo>
                    <a:pt x="84988" y="1852434"/>
                  </a:moveTo>
                  <a:lnTo>
                    <a:pt x="82194" y="1843227"/>
                  </a:lnTo>
                  <a:lnTo>
                    <a:pt x="74561" y="1835708"/>
                  </a:lnTo>
                  <a:lnTo>
                    <a:pt x="63246" y="1830641"/>
                  </a:lnTo>
                  <a:lnTo>
                    <a:pt x="49390" y="1828774"/>
                  </a:lnTo>
                  <a:lnTo>
                    <a:pt x="35534" y="1830641"/>
                  </a:lnTo>
                  <a:lnTo>
                    <a:pt x="24231" y="1835708"/>
                  </a:lnTo>
                  <a:lnTo>
                    <a:pt x="16598" y="1843227"/>
                  </a:lnTo>
                  <a:lnTo>
                    <a:pt x="13804" y="1852434"/>
                  </a:lnTo>
                  <a:lnTo>
                    <a:pt x="16598" y="1861654"/>
                  </a:lnTo>
                  <a:lnTo>
                    <a:pt x="24231" y="1869173"/>
                  </a:lnTo>
                  <a:lnTo>
                    <a:pt x="35534" y="1874240"/>
                  </a:lnTo>
                  <a:lnTo>
                    <a:pt x="49390" y="1876094"/>
                  </a:lnTo>
                  <a:lnTo>
                    <a:pt x="63246" y="1874240"/>
                  </a:lnTo>
                  <a:lnTo>
                    <a:pt x="74561" y="1869173"/>
                  </a:lnTo>
                  <a:lnTo>
                    <a:pt x="82194" y="1861654"/>
                  </a:lnTo>
                  <a:lnTo>
                    <a:pt x="84988" y="1852434"/>
                  </a:lnTo>
                  <a:close/>
                </a:path>
                <a:path w="85090" h="1876425">
                  <a:moveTo>
                    <a:pt x="84988" y="1260322"/>
                  </a:moveTo>
                  <a:lnTo>
                    <a:pt x="82194" y="1251102"/>
                  </a:lnTo>
                  <a:lnTo>
                    <a:pt x="74561" y="1243584"/>
                  </a:lnTo>
                  <a:lnTo>
                    <a:pt x="63246" y="1238516"/>
                  </a:lnTo>
                  <a:lnTo>
                    <a:pt x="49390" y="1236662"/>
                  </a:lnTo>
                  <a:lnTo>
                    <a:pt x="35534" y="1238516"/>
                  </a:lnTo>
                  <a:lnTo>
                    <a:pt x="24231" y="1243584"/>
                  </a:lnTo>
                  <a:lnTo>
                    <a:pt x="16598" y="1251102"/>
                  </a:lnTo>
                  <a:lnTo>
                    <a:pt x="13804" y="1260322"/>
                  </a:lnTo>
                  <a:lnTo>
                    <a:pt x="16598" y="1269530"/>
                  </a:lnTo>
                  <a:lnTo>
                    <a:pt x="24231" y="1277048"/>
                  </a:lnTo>
                  <a:lnTo>
                    <a:pt x="35534" y="1282115"/>
                  </a:lnTo>
                  <a:lnTo>
                    <a:pt x="49390" y="1283982"/>
                  </a:lnTo>
                  <a:lnTo>
                    <a:pt x="63246" y="1282115"/>
                  </a:lnTo>
                  <a:lnTo>
                    <a:pt x="74561" y="1277048"/>
                  </a:lnTo>
                  <a:lnTo>
                    <a:pt x="82194" y="1269530"/>
                  </a:lnTo>
                  <a:lnTo>
                    <a:pt x="84988" y="1260322"/>
                  </a:lnTo>
                  <a:close/>
                </a:path>
              </a:pathLst>
            </a:custGeom>
            <a:solidFill>
              <a:srgbClr val="7030A0"/>
            </a:solidFill>
          </p:spPr>
          <p:txBody>
            <a:bodyPr wrap="square" lIns="0" tIns="0" rIns="0" bIns="0" rtlCol="0"/>
            <a:lstStyle/>
            <a:p/>
          </p:txBody>
        </p:sp>
      </p:grpSp>
      <p:sp>
        <p:nvSpPr>
          <p:cNvPr id="56" name="object 56" descr=""/>
          <p:cNvSpPr txBox="1"/>
          <p:nvPr/>
        </p:nvSpPr>
        <p:spPr>
          <a:xfrm>
            <a:off x="1359160" y="1950570"/>
            <a:ext cx="904875" cy="528320"/>
          </a:xfrm>
          <a:prstGeom prst="rect">
            <a:avLst/>
          </a:prstGeom>
        </p:spPr>
        <p:txBody>
          <a:bodyPr wrap="square" lIns="0" tIns="96520" rIns="0" bIns="0" rtlCol="0" vert="horz">
            <a:spAutoFit/>
          </a:bodyPr>
          <a:lstStyle/>
          <a:p>
            <a:pPr marL="264160">
              <a:lnSpc>
                <a:spcPct val="100000"/>
              </a:lnSpc>
              <a:spcBef>
                <a:spcPts val="760"/>
              </a:spcBef>
            </a:pPr>
            <a:r>
              <a:rPr dirty="0" sz="1100" spc="-35">
                <a:solidFill>
                  <a:srgbClr val="FFFFFF"/>
                </a:solidFill>
                <a:latin typeface="Microsoft YaHei"/>
                <a:cs typeface="Microsoft YaHei"/>
              </a:rPr>
              <a:t>语音、</a:t>
            </a:r>
            <a:endParaRPr sz="1100">
              <a:latin typeface="Microsoft YaHei"/>
              <a:cs typeface="Microsoft YaHei"/>
            </a:endParaRPr>
          </a:p>
          <a:p>
            <a:pPr marL="308610">
              <a:lnSpc>
                <a:spcPct val="100000"/>
              </a:lnSpc>
              <a:spcBef>
                <a:spcPts val="660"/>
              </a:spcBef>
            </a:pPr>
            <a:r>
              <a:rPr dirty="0" sz="1100" spc="-20">
                <a:solidFill>
                  <a:srgbClr val="FFFFFF"/>
                </a:solidFill>
                <a:latin typeface="Microsoft YaHei"/>
                <a:cs typeface="Microsoft YaHei"/>
              </a:rPr>
              <a:t>360P</a:t>
            </a:r>
            <a:endParaRPr sz="1100">
              <a:latin typeface="Microsoft YaHei"/>
              <a:cs typeface="Microsoft YaHei"/>
            </a:endParaRPr>
          </a:p>
        </p:txBody>
      </p:sp>
      <p:grpSp>
        <p:nvGrpSpPr>
          <p:cNvPr id="57" name="object 57" descr=""/>
          <p:cNvGrpSpPr/>
          <p:nvPr/>
        </p:nvGrpSpPr>
        <p:grpSpPr>
          <a:xfrm>
            <a:off x="1359150" y="2386000"/>
            <a:ext cx="6689090" cy="2124710"/>
            <a:chOff x="1359150" y="2386000"/>
            <a:chExt cx="6689090" cy="2124710"/>
          </a:xfrm>
        </p:grpSpPr>
        <p:sp>
          <p:nvSpPr>
            <p:cNvPr id="58" name="object 58" descr=""/>
            <p:cNvSpPr/>
            <p:nvPr/>
          </p:nvSpPr>
          <p:spPr>
            <a:xfrm>
              <a:off x="1363912" y="3505772"/>
              <a:ext cx="6679565" cy="0"/>
            </a:xfrm>
            <a:custGeom>
              <a:avLst/>
              <a:gdLst/>
              <a:ahLst/>
              <a:cxnLst/>
              <a:rect l="l" t="t" r="r" b="b"/>
              <a:pathLst>
                <a:path w="6679565" h="0">
                  <a:moveTo>
                    <a:pt x="0" y="0"/>
                  </a:moveTo>
                  <a:lnTo>
                    <a:pt x="6679260" y="0"/>
                  </a:lnTo>
                </a:path>
              </a:pathLst>
            </a:custGeom>
            <a:ln w="9525">
              <a:solidFill>
                <a:srgbClr val="000000"/>
              </a:solidFill>
              <a:prstDash val="sysDash"/>
            </a:ln>
          </p:spPr>
          <p:txBody>
            <a:bodyPr wrap="square" lIns="0" tIns="0" rIns="0" bIns="0" rtlCol="0"/>
            <a:lstStyle/>
            <a:p/>
          </p:txBody>
        </p:sp>
        <p:pic>
          <p:nvPicPr>
            <p:cNvPr id="59" name="object 59"/>
            <p:cNvPicPr/>
            <p:nvPr/>
          </p:nvPicPr>
          <p:blipFill>
            <a:blip r:embed="rId18" cstate="print"/>
            <a:stretch>
              <a:fillRect/>
            </a:stretch>
          </p:blipFill>
          <p:spPr>
            <a:xfrm>
              <a:off x="2430183" y="3319907"/>
              <a:ext cx="939495" cy="1151976"/>
            </a:xfrm>
            <a:prstGeom prst="rect">
              <a:avLst/>
            </a:prstGeom>
          </p:spPr>
        </p:pic>
        <p:pic>
          <p:nvPicPr>
            <p:cNvPr id="60" name="object 60"/>
            <p:cNvPicPr/>
            <p:nvPr/>
          </p:nvPicPr>
          <p:blipFill>
            <a:blip r:embed="rId19" cstate="print"/>
            <a:stretch>
              <a:fillRect/>
            </a:stretch>
          </p:blipFill>
          <p:spPr>
            <a:xfrm>
              <a:off x="2837209" y="3241269"/>
              <a:ext cx="164118" cy="285252"/>
            </a:xfrm>
            <a:prstGeom prst="rect">
              <a:avLst/>
            </a:prstGeom>
          </p:spPr>
        </p:pic>
        <p:pic>
          <p:nvPicPr>
            <p:cNvPr id="61" name="object 61"/>
            <p:cNvPicPr/>
            <p:nvPr/>
          </p:nvPicPr>
          <p:blipFill>
            <a:blip r:embed="rId19" cstate="print"/>
            <a:stretch>
              <a:fillRect/>
            </a:stretch>
          </p:blipFill>
          <p:spPr>
            <a:xfrm>
              <a:off x="2625778" y="3141333"/>
              <a:ext cx="164119" cy="285252"/>
            </a:xfrm>
            <a:prstGeom prst="rect">
              <a:avLst/>
            </a:prstGeom>
          </p:spPr>
        </p:pic>
        <p:pic>
          <p:nvPicPr>
            <p:cNvPr id="62" name="object 62"/>
            <p:cNvPicPr/>
            <p:nvPr/>
          </p:nvPicPr>
          <p:blipFill>
            <a:blip r:embed="rId19" cstate="print"/>
            <a:stretch>
              <a:fillRect/>
            </a:stretch>
          </p:blipFill>
          <p:spPr>
            <a:xfrm>
              <a:off x="3048647" y="3141336"/>
              <a:ext cx="164117" cy="285250"/>
            </a:xfrm>
            <a:prstGeom prst="rect">
              <a:avLst/>
            </a:prstGeom>
          </p:spPr>
        </p:pic>
        <p:sp>
          <p:nvSpPr>
            <p:cNvPr id="63" name="object 63" descr=""/>
            <p:cNvSpPr/>
            <p:nvPr/>
          </p:nvSpPr>
          <p:spPr>
            <a:xfrm>
              <a:off x="3623145" y="3901249"/>
              <a:ext cx="2071370" cy="556895"/>
            </a:xfrm>
            <a:custGeom>
              <a:avLst/>
              <a:gdLst/>
              <a:ahLst/>
              <a:cxnLst/>
              <a:rect l="l" t="t" r="r" b="b"/>
              <a:pathLst>
                <a:path w="2071370" h="556895">
                  <a:moveTo>
                    <a:pt x="273850" y="406996"/>
                  </a:moveTo>
                  <a:lnTo>
                    <a:pt x="271475" y="395605"/>
                  </a:lnTo>
                  <a:lnTo>
                    <a:pt x="134708" y="424065"/>
                  </a:lnTo>
                  <a:lnTo>
                    <a:pt x="137071" y="435457"/>
                  </a:lnTo>
                  <a:lnTo>
                    <a:pt x="273850" y="406996"/>
                  </a:lnTo>
                  <a:close/>
                </a:path>
                <a:path w="2071370" h="556895">
                  <a:moveTo>
                    <a:pt x="278587" y="429793"/>
                  </a:moveTo>
                  <a:lnTo>
                    <a:pt x="276225" y="418388"/>
                  </a:lnTo>
                  <a:lnTo>
                    <a:pt x="139446" y="446862"/>
                  </a:lnTo>
                  <a:lnTo>
                    <a:pt x="141820" y="458254"/>
                  </a:lnTo>
                  <a:lnTo>
                    <a:pt x="278587" y="429793"/>
                  </a:lnTo>
                  <a:close/>
                </a:path>
                <a:path w="2071370" h="556895">
                  <a:moveTo>
                    <a:pt x="513194" y="357187"/>
                  </a:moveTo>
                  <a:lnTo>
                    <a:pt x="510819" y="345795"/>
                  </a:lnTo>
                  <a:lnTo>
                    <a:pt x="374053" y="374256"/>
                  </a:lnTo>
                  <a:lnTo>
                    <a:pt x="376428" y="385648"/>
                  </a:lnTo>
                  <a:lnTo>
                    <a:pt x="513194" y="357187"/>
                  </a:lnTo>
                  <a:close/>
                </a:path>
                <a:path w="2071370" h="556895">
                  <a:moveTo>
                    <a:pt x="517944" y="379984"/>
                  </a:moveTo>
                  <a:lnTo>
                    <a:pt x="515569" y="368592"/>
                  </a:lnTo>
                  <a:lnTo>
                    <a:pt x="378802" y="397052"/>
                  </a:lnTo>
                  <a:lnTo>
                    <a:pt x="381165" y="408444"/>
                  </a:lnTo>
                  <a:lnTo>
                    <a:pt x="517944" y="379984"/>
                  </a:lnTo>
                  <a:close/>
                </a:path>
                <a:path w="2071370" h="556895">
                  <a:moveTo>
                    <a:pt x="752538" y="307378"/>
                  </a:moveTo>
                  <a:lnTo>
                    <a:pt x="750176" y="295986"/>
                  </a:lnTo>
                  <a:lnTo>
                    <a:pt x="613397" y="324446"/>
                  </a:lnTo>
                  <a:lnTo>
                    <a:pt x="615772" y="335838"/>
                  </a:lnTo>
                  <a:lnTo>
                    <a:pt x="752538" y="307378"/>
                  </a:lnTo>
                  <a:close/>
                </a:path>
                <a:path w="2071370" h="556895">
                  <a:moveTo>
                    <a:pt x="757288" y="330174"/>
                  </a:moveTo>
                  <a:lnTo>
                    <a:pt x="754913" y="318782"/>
                  </a:lnTo>
                  <a:lnTo>
                    <a:pt x="618147" y="347243"/>
                  </a:lnTo>
                  <a:lnTo>
                    <a:pt x="620522" y="358635"/>
                  </a:lnTo>
                  <a:lnTo>
                    <a:pt x="757288" y="330174"/>
                  </a:lnTo>
                  <a:close/>
                </a:path>
                <a:path w="2071370" h="556895">
                  <a:moveTo>
                    <a:pt x="991895" y="257568"/>
                  </a:moveTo>
                  <a:lnTo>
                    <a:pt x="989520" y="246176"/>
                  </a:lnTo>
                  <a:lnTo>
                    <a:pt x="852754" y="274637"/>
                  </a:lnTo>
                  <a:lnTo>
                    <a:pt x="855116" y="286042"/>
                  </a:lnTo>
                  <a:lnTo>
                    <a:pt x="991895" y="257568"/>
                  </a:lnTo>
                  <a:close/>
                </a:path>
                <a:path w="2071370" h="556895">
                  <a:moveTo>
                    <a:pt x="996632" y="280365"/>
                  </a:moveTo>
                  <a:lnTo>
                    <a:pt x="994257" y="268973"/>
                  </a:lnTo>
                  <a:lnTo>
                    <a:pt x="857491" y="297434"/>
                  </a:lnTo>
                  <a:lnTo>
                    <a:pt x="859866" y="308825"/>
                  </a:lnTo>
                  <a:lnTo>
                    <a:pt x="996632" y="280365"/>
                  </a:lnTo>
                  <a:close/>
                </a:path>
                <a:path w="2071370" h="556895">
                  <a:moveTo>
                    <a:pt x="1231239" y="207772"/>
                  </a:moveTo>
                  <a:lnTo>
                    <a:pt x="1228864" y="196367"/>
                  </a:lnTo>
                  <a:lnTo>
                    <a:pt x="1092098" y="224828"/>
                  </a:lnTo>
                  <a:lnTo>
                    <a:pt x="1094473" y="236232"/>
                  </a:lnTo>
                  <a:lnTo>
                    <a:pt x="1231239" y="207772"/>
                  </a:lnTo>
                  <a:close/>
                </a:path>
                <a:path w="2071370" h="556895">
                  <a:moveTo>
                    <a:pt x="1235976" y="230568"/>
                  </a:moveTo>
                  <a:lnTo>
                    <a:pt x="1233614" y="219163"/>
                  </a:lnTo>
                  <a:lnTo>
                    <a:pt x="1096835" y="247624"/>
                  </a:lnTo>
                  <a:lnTo>
                    <a:pt x="1099210" y="259029"/>
                  </a:lnTo>
                  <a:lnTo>
                    <a:pt x="1235976" y="230568"/>
                  </a:lnTo>
                  <a:close/>
                </a:path>
                <a:path w="2071370" h="556895">
                  <a:moveTo>
                    <a:pt x="1470583" y="157962"/>
                  </a:moveTo>
                  <a:lnTo>
                    <a:pt x="1468208" y="146558"/>
                  </a:lnTo>
                  <a:lnTo>
                    <a:pt x="1331442" y="175018"/>
                  </a:lnTo>
                  <a:lnTo>
                    <a:pt x="1333817" y="186423"/>
                  </a:lnTo>
                  <a:lnTo>
                    <a:pt x="1470583" y="157962"/>
                  </a:lnTo>
                  <a:close/>
                </a:path>
                <a:path w="2071370" h="556895">
                  <a:moveTo>
                    <a:pt x="1475333" y="180759"/>
                  </a:moveTo>
                  <a:lnTo>
                    <a:pt x="1472958" y="169354"/>
                  </a:lnTo>
                  <a:lnTo>
                    <a:pt x="1336192" y="197815"/>
                  </a:lnTo>
                  <a:lnTo>
                    <a:pt x="1338554" y="209219"/>
                  </a:lnTo>
                  <a:lnTo>
                    <a:pt x="1475333" y="180759"/>
                  </a:lnTo>
                  <a:close/>
                </a:path>
                <a:path w="2071370" h="556895">
                  <a:moveTo>
                    <a:pt x="1709928" y="108153"/>
                  </a:moveTo>
                  <a:lnTo>
                    <a:pt x="1707565" y="96748"/>
                  </a:lnTo>
                  <a:lnTo>
                    <a:pt x="1570786" y="125222"/>
                  </a:lnTo>
                  <a:lnTo>
                    <a:pt x="1573161" y="136613"/>
                  </a:lnTo>
                  <a:lnTo>
                    <a:pt x="1709928" y="108153"/>
                  </a:lnTo>
                  <a:close/>
                </a:path>
                <a:path w="2071370" h="556895">
                  <a:moveTo>
                    <a:pt x="1714677" y="130949"/>
                  </a:moveTo>
                  <a:lnTo>
                    <a:pt x="1712302" y="119545"/>
                  </a:lnTo>
                  <a:lnTo>
                    <a:pt x="1575536" y="148005"/>
                  </a:lnTo>
                  <a:lnTo>
                    <a:pt x="1577911" y="159410"/>
                  </a:lnTo>
                  <a:lnTo>
                    <a:pt x="1714677" y="130949"/>
                  </a:lnTo>
                  <a:close/>
                </a:path>
                <a:path w="2071370" h="556895">
                  <a:moveTo>
                    <a:pt x="1887131" y="11480"/>
                  </a:moveTo>
                  <a:lnTo>
                    <a:pt x="1885238" y="0"/>
                  </a:lnTo>
                  <a:lnTo>
                    <a:pt x="0" y="310680"/>
                  </a:lnTo>
                  <a:lnTo>
                    <a:pt x="1892" y="322160"/>
                  </a:lnTo>
                  <a:lnTo>
                    <a:pt x="1887131" y="11480"/>
                  </a:lnTo>
                  <a:close/>
                </a:path>
                <a:path w="2071370" h="556895">
                  <a:moveTo>
                    <a:pt x="1890915" y="34455"/>
                  </a:moveTo>
                  <a:lnTo>
                    <a:pt x="1889023" y="22974"/>
                  </a:lnTo>
                  <a:lnTo>
                    <a:pt x="3784" y="333654"/>
                  </a:lnTo>
                  <a:lnTo>
                    <a:pt x="5676" y="345135"/>
                  </a:lnTo>
                  <a:lnTo>
                    <a:pt x="1890915" y="34455"/>
                  </a:lnTo>
                  <a:close/>
                </a:path>
                <a:path w="2071370" h="556895">
                  <a:moveTo>
                    <a:pt x="1949284" y="58343"/>
                  </a:moveTo>
                  <a:lnTo>
                    <a:pt x="1946910" y="46951"/>
                  </a:lnTo>
                  <a:lnTo>
                    <a:pt x="1810143" y="75412"/>
                  </a:lnTo>
                  <a:lnTo>
                    <a:pt x="1812505" y="86804"/>
                  </a:lnTo>
                  <a:lnTo>
                    <a:pt x="1949284" y="58343"/>
                  </a:lnTo>
                  <a:close/>
                </a:path>
                <a:path w="2071370" h="556895">
                  <a:moveTo>
                    <a:pt x="1954022" y="81140"/>
                  </a:moveTo>
                  <a:lnTo>
                    <a:pt x="1951647" y="69735"/>
                  </a:lnTo>
                  <a:lnTo>
                    <a:pt x="1814880" y="98209"/>
                  </a:lnTo>
                  <a:lnTo>
                    <a:pt x="1817255" y="109601"/>
                  </a:lnTo>
                  <a:lnTo>
                    <a:pt x="1954022" y="81140"/>
                  </a:lnTo>
                  <a:close/>
                </a:path>
                <a:path w="2071370" h="556895">
                  <a:moveTo>
                    <a:pt x="2065172" y="95110"/>
                  </a:moveTo>
                  <a:lnTo>
                    <a:pt x="2062378" y="83807"/>
                  </a:lnTo>
                  <a:lnTo>
                    <a:pt x="287413" y="522655"/>
                  </a:lnTo>
                  <a:lnTo>
                    <a:pt x="290207" y="533958"/>
                  </a:lnTo>
                  <a:lnTo>
                    <a:pt x="2065172" y="95110"/>
                  </a:lnTo>
                  <a:close/>
                </a:path>
                <a:path w="2071370" h="556895">
                  <a:moveTo>
                    <a:pt x="2070760" y="117703"/>
                  </a:moveTo>
                  <a:lnTo>
                    <a:pt x="2067966" y="106413"/>
                  </a:lnTo>
                  <a:lnTo>
                    <a:pt x="293001" y="545261"/>
                  </a:lnTo>
                  <a:lnTo>
                    <a:pt x="295795" y="556564"/>
                  </a:lnTo>
                  <a:lnTo>
                    <a:pt x="2070760" y="117703"/>
                  </a:lnTo>
                  <a:close/>
                </a:path>
              </a:pathLst>
            </a:custGeom>
            <a:solidFill>
              <a:srgbClr val="00B0F0"/>
            </a:solidFill>
          </p:spPr>
          <p:txBody>
            <a:bodyPr wrap="square" lIns="0" tIns="0" rIns="0" bIns="0" rtlCol="0"/>
            <a:lstStyle/>
            <a:p/>
          </p:txBody>
        </p:sp>
        <p:pic>
          <p:nvPicPr>
            <p:cNvPr id="64" name="object 64" descr=""/>
            <p:cNvPicPr/>
            <p:nvPr/>
          </p:nvPicPr>
          <p:blipFill>
            <a:blip r:embed="rId20" cstate="print"/>
            <a:stretch>
              <a:fillRect/>
            </a:stretch>
          </p:blipFill>
          <p:spPr>
            <a:xfrm>
              <a:off x="4792218" y="4146804"/>
              <a:ext cx="236981" cy="221741"/>
            </a:xfrm>
            <a:prstGeom prst="rect">
              <a:avLst/>
            </a:prstGeom>
          </p:spPr>
        </p:pic>
        <p:pic>
          <p:nvPicPr>
            <p:cNvPr id="65" name="object 65" descr=""/>
            <p:cNvPicPr/>
            <p:nvPr/>
          </p:nvPicPr>
          <p:blipFill>
            <a:blip r:embed="rId21" cstate="print"/>
            <a:stretch>
              <a:fillRect/>
            </a:stretch>
          </p:blipFill>
          <p:spPr>
            <a:xfrm>
              <a:off x="4727625" y="4074803"/>
              <a:ext cx="214096" cy="217068"/>
            </a:xfrm>
            <a:prstGeom prst="rect">
              <a:avLst/>
            </a:prstGeom>
          </p:spPr>
        </p:pic>
        <p:pic>
          <p:nvPicPr>
            <p:cNvPr id="66" name="object 66" descr=""/>
            <p:cNvPicPr/>
            <p:nvPr/>
          </p:nvPicPr>
          <p:blipFill>
            <a:blip r:embed="rId22" cstate="print"/>
            <a:stretch>
              <a:fillRect/>
            </a:stretch>
          </p:blipFill>
          <p:spPr>
            <a:xfrm>
              <a:off x="4379976" y="4219955"/>
              <a:ext cx="236219" cy="221741"/>
            </a:xfrm>
            <a:prstGeom prst="rect">
              <a:avLst/>
            </a:prstGeom>
          </p:spPr>
        </p:pic>
        <p:sp>
          <p:nvSpPr>
            <p:cNvPr id="67" name="object 67" descr=""/>
            <p:cNvSpPr/>
            <p:nvPr/>
          </p:nvSpPr>
          <p:spPr>
            <a:xfrm>
              <a:off x="4319584" y="4152693"/>
              <a:ext cx="205104" cy="207645"/>
            </a:xfrm>
            <a:custGeom>
              <a:avLst/>
              <a:gdLst/>
              <a:ahLst/>
              <a:cxnLst/>
              <a:rect l="l" t="t" r="r" b="b"/>
              <a:pathLst>
                <a:path w="205104" h="207645">
                  <a:moveTo>
                    <a:pt x="102285" y="0"/>
                  </a:moveTo>
                  <a:lnTo>
                    <a:pt x="58445" y="60528"/>
                  </a:lnTo>
                  <a:lnTo>
                    <a:pt x="87680" y="60528"/>
                  </a:lnTo>
                  <a:lnTo>
                    <a:pt x="29222" y="121069"/>
                  </a:lnTo>
                  <a:lnTo>
                    <a:pt x="87680" y="121069"/>
                  </a:lnTo>
                  <a:lnTo>
                    <a:pt x="0" y="181597"/>
                  </a:lnTo>
                  <a:lnTo>
                    <a:pt x="87680" y="181597"/>
                  </a:lnTo>
                  <a:lnTo>
                    <a:pt x="87680" y="207543"/>
                  </a:lnTo>
                  <a:lnTo>
                    <a:pt x="116903" y="207543"/>
                  </a:lnTo>
                  <a:lnTo>
                    <a:pt x="116903" y="181597"/>
                  </a:lnTo>
                  <a:lnTo>
                    <a:pt x="204571" y="181597"/>
                  </a:lnTo>
                  <a:lnTo>
                    <a:pt x="116903" y="121069"/>
                  </a:lnTo>
                  <a:lnTo>
                    <a:pt x="175348" y="121069"/>
                  </a:lnTo>
                  <a:lnTo>
                    <a:pt x="116903" y="60528"/>
                  </a:lnTo>
                  <a:lnTo>
                    <a:pt x="146126" y="60528"/>
                  </a:lnTo>
                  <a:lnTo>
                    <a:pt x="102285" y="0"/>
                  </a:lnTo>
                  <a:close/>
                </a:path>
              </a:pathLst>
            </a:custGeom>
            <a:solidFill>
              <a:srgbClr val="008000"/>
            </a:solidFill>
          </p:spPr>
          <p:txBody>
            <a:bodyPr wrap="square" lIns="0" tIns="0" rIns="0" bIns="0" rtlCol="0"/>
            <a:lstStyle/>
            <a:p/>
          </p:txBody>
        </p:sp>
        <p:sp>
          <p:nvSpPr>
            <p:cNvPr id="68" name="object 68" descr=""/>
            <p:cNvSpPr/>
            <p:nvPr/>
          </p:nvSpPr>
          <p:spPr>
            <a:xfrm>
              <a:off x="4319584" y="4152693"/>
              <a:ext cx="205104" cy="207645"/>
            </a:xfrm>
            <a:custGeom>
              <a:avLst/>
              <a:gdLst/>
              <a:ahLst/>
              <a:cxnLst/>
              <a:rect l="l" t="t" r="r" b="b"/>
              <a:pathLst>
                <a:path w="205104" h="207645">
                  <a:moveTo>
                    <a:pt x="0" y="181597"/>
                  </a:moveTo>
                  <a:lnTo>
                    <a:pt x="87680" y="181597"/>
                  </a:lnTo>
                  <a:lnTo>
                    <a:pt x="87680" y="207543"/>
                  </a:lnTo>
                  <a:lnTo>
                    <a:pt x="116903" y="207543"/>
                  </a:lnTo>
                  <a:lnTo>
                    <a:pt x="116903" y="181597"/>
                  </a:lnTo>
                  <a:lnTo>
                    <a:pt x="204571" y="181597"/>
                  </a:lnTo>
                  <a:lnTo>
                    <a:pt x="116903" y="121069"/>
                  </a:lnTo>
                  <a:lnTo>
                    <a:pt x="175348" y="121069"/>
                  </a:lnTo>
                  <a:lnTo>
                    <a:pt x="116903" y="60528"/>
                  </a:lnTo>
                  <a:lnTo>
                    <a:pt x="146126" y="60528"/>
                  </a:lnTo>
                  <a:lnTo>
                    <a:pt x="102285" y="0"/>
                  </a:lnTo>
                  <a:lnTo>
                    <a:pt x="58445" y="60528"/>
                  </a:lnTo>
                  <a:lnTo>
                    <a:pt x="87680" y="60528"/>
                  </a:lnTo>
                  <a:lnTo>
                    <a:pt x="29222" y="121069"/>
                  </a:lnTo>
                  <a:lnTo>
                    <a:pt x="87680" y="121069"/>
                  </a:lnTo>
                  <a:lnTo>
                    <a:pt x="0" y="181597"/>
                  </a:lnTo>
                  <a:close/>
                </a:path>
              </a:pathLst>
            </a:custGeom>
            <a:ln w="9524">
              <a:solidFill>
                <a:srgbClr val="000000"/>
              </a:solidFill>
            </a:ln>
          </p:spPr>
          <p:txBody>
            <a:bodyPr wrap="square" lIns="0" tIns="0" rIns="0" bIns="0" rtlCol="0"/>
            <a:lstStyle/>
            <a:p/>
          </p:txBody>
        </p:sp>
        <p:pic>
          <p:nvPicPr>
            <p:cNvPr id="69" name="object 69" descr=""/>
            <p:cNvPicPr/>
            <p:nvPr/>
          </p:nvPicPr>
          <p:blipFill>
            <a:blip r:embed="rId23" cstate="print"/>
            <a:stretch>
              <a:fillRect/>
            </a:stretch>
          </p:blipFill>
          <p:spPr>
            <a:xfrm>
              <a:off x="5188457" y="4058411"/>
              <a:ext cx="236219" cy="221741"/>
            </a:xfrm>
            <a:prstGeom prst="rect">
              <a:avLst/>
            </a:prstGeom>
          </p:spPr>
        </p:pic>
        <p:pic>
          <p:nvPicPr>
            <p:cNvPr id="70" name="object 70" descr=""/>
            <p:cNvPicPr/>
            <p:nvPr/>
          </p:nvPicPr>
          <p:blipFill>
            <a:blip r:embed="rId24" cstate="print"/>
            <a:stretch>
              <a:fillRect/>
            </a:stretch>
          </p:blipFill>
          <p:spPr>
            <a:xfrm>
              <a:off x="5123437" y="3986437"/>
              <a:ext cx="214096" cy="217068"/>
            </a:xfrm>
            <a:prstGeom prst="rect">
              <a:avLst/>
            </a:prstGeom>
          </p:spPr>
        </p:pic>
        <p:pic>
          <p:nvPicPr>
            <p:cNvPr id="71" name="object 71" descr=""/>
            <p:cNvPicPr/>
            <p:nvPr/>
          </p:nvPicPr>
          <p:blipFill>
            <a:blip r:embed="rId25" cstate="print"/>
            <a:stretch>
              <a:fillRect/>
            </a:stretch>
          </p:blipFill>
          <p:spPr>
            <a:xfrm>
              <a:off x="3842004" y="4288535"/>
              <a:ext cx="236219" cy="221741"/>
            </a:xfrm>
            <a:prstGeom prst="rect">
              <a:avLst/>
            </a:prstGeom>
          </p:spPr>
        </p:pic>
        <p:pic>
          <p:nvPicPr>
            <p:cNvPr id="72" name="object 72" descr=""/>
            <p:cNvPicPr/>
            <p:nvPr/>
          </p:nvPicPr>
          <p:blipFill>
            <a:blip r:embed="rId24" cstate="print"/>
            <a:stretch>
              <a:fillRect/>
            </a:stretch>
          </p:blipFill>
          <p:spPr>
            <a:xfrm>
              <a:off x="3776847" y="4216328"/>
              <a:ext cx="214096" cy="217068"/>
            </a:xfrm>
            <a:prstGeom prst="rect">
              <a:avLst/>
            </a:prstGeom>
          </p:spPr>
        </p:pic>
        <p:pic>
          <p:nvPicPr>
            <p:cNvPr id="73" name="object 73" descr=""/>
            <p:cNvPicPr/>
            <p:nvPr/>
          </p:nvPicPr>
          <p:blipFill>
            <a:blip r:embed="rId26" cstate="print"/>
            <a:stretch>
              <a:fillRect/>
            </a:stretch>
          </p:blipFill>
          <p:spPr>
            <a:xfrm>
              <a:off x="4136722" y="4126561"/>
              <a:ext cx="292438" cy="199407"/>
            </a:xfrm>
            <a:prstGeom prst="rect">
              <a:avLst/>
            </a:prstGeom>
          </p:spPr>
        </p:pic>
        <p:pic>
          <p:nvPicPr>
            <p:cNvPr id="74" name="object 74" descr=""/>
            <p:cNvPicPr/>
            <p:nvPr/>
          </p:nvPicPr>
          <p:blipFill>
            <a:blip r:embed="rId27" cstate="print"/>
            <a:stretch>
              <a:fillRect/>
            </a:stretch>
          </p:blipFill>
          <p:spPr>
            <a:xfrm>
              <a:off x="4739881" y="3970774"/>
              <a:ext cx="283897" cy="136660"/>
            </a:xfrm>
            <a:prstGeom prst="rect">
              <a:avLst/>
            </a:prstGeom>
          </p:spPr>
        </p:pic>
        <p:pic>
          <p:nvPicPr>
            <p:cNvPr id="75" name="object 75"/>
            <p:cNvPicPr/>
            <p:nvPr/>
          </p:nvPicPr>
          <p:blipFill>
            <a:blip r:embed="rId28" cstate="print"/>
            <a:stretch>
              <a:fillRect/>
            </a:stretch>
          </p:blipFill>
          <p:spPr>
            <a:xfrm>
              <a:off x="3823716" y="3802392"/>
              <a:ext cx="295655" cy="439660"/>
            </a:xfrm>
            <a:prstGeom prst="rect">
              <a:avLst/>
            </a:prstGeom>
          </p:spPr>
        </p:pic>
        <p:sp>
          <p:nvSpPr>
            <p:cNvPr id="76" name="object 76" descr=""/>
            <p:cNvSpPr/>
            <p:nvPr/>
          </p:nvSpPr>
          <p:spPr>
            <a:xfrm>
              <a:off x="3877583" y="3836186"/>
              <a:ext cx="187960" cy="344805"/>
            </a:xfrm>
            <a:custGeom>
              <a:avLst/>
              <a:gdLst/>
              <a:ahLst/>
              <a:cxnLst/>
              <a:rect l="l" t="t" r="r" b="b"/>
              <a:pathLst>
                <a:path w="187960" h="344804">
                  <a:moveTo>
                    <a:pt x="0" y="344538"/>
                  </a:moveTo>
                  <a:lnTo>
                    <a:pt x="666" y="290868"/>
                  </a:lnTo>
                  <a:lnTo>
                    <a:pt x="1333" y="237197"/>
                  </a:lnTo>
                  <a:lnTo>
                    <a:pt x="1998" y="183527"/>
                  </a:lnTo>
                  <a:lnTo>
                    <a:pt x="2663" y="129857"/>
                  </a:lnTo>
                  <a:lnTo>
                    <a:pt x="3326" y="76187"/>
                  </a:lnTo>
                  <a:lnTo>
                    <a:pt x="3987" y="22517"/>
                  </a:lnTo>
                  <a:lnTo>
                    <a:pt x="115823" y="6756"/>
                  </a:lnTo>
                  <a:lnTo>
                    <a:pt x="187706" y="0"/>
                  </a:lnTo>
                  <a:lnTo>
                    <a:pt x="187706" y="27025"/>
                  </a:lnTo>
                  <a:lnTo>
                    <a:pt x="91859" y="31534"/>
                  </a:lnTo>
                  <a:lnTo>
                    <a:pt x="87858" y="11264"/>
                  </a:lnTo>
                </a:path>
              </a:pathLst>
            </a:custGeom>
            <a:ln w="25400">
              <a:solidFill>
                <a:srgbClr val="0070C0"/>
              </a:solidFill>
            </a:ln>
          </p:spPr>
          <p:txBody>
            <a:bodyPr wrap="square" lIns="0" tIns="0" rIns="0" bIns="0" rtlCol="0"/>
            <a:lstStyle/>
            <a:p/>
          </p:txBody>
        </p:sp>
        <p:pic>
          <p:nvPicPr>
            <p:cNvPr id="77" name="object 77"/>
            <p:cNvPicPr/>
            <p:nvPr/>
          </p:nvPicPr>
          <p:blipFill>
            <a:blip r:embed="rId29" cstate="print"/>
            <a:stretch>
              <a:fillRect/>
            </a:stretch>
          </p:blipFill>
          <p:spPr>
            <a:xfrm>
              <a:off x="3940657" y="3876928"/>
              <a:ext cx="125220" cy="86012"/>
            </a:xfrm>
            <a:prstGeom prst="rect">
              <a:avLst/>
            </a:prstGeom>
          </p:spPr>
        </p:pic>
        <p:sp>
          <p:nvSpPr>
            <p:cNvPr id="78" name="object 78" descr=""/>
            <p:cNvSpPr/>
            <p:nvPr/>
          </p:nvSpPr>
          <p:spPr>
            <a:xfrm>
              <a:off x="3861841" y="3911091"/>
              <a:ext cx="38100" cy="52069"/>
            </a:xfrm>
            <a:custGeom>
              <a:avLst/>
              <a:gdLst/>
              <a:ahLst/>
              <a:cxnLst/>
              <a:rect l="l" t="t" r="r" b="b"/>
              <a:pathLst>
                <a:path w="38100" h="52070">
                  <a:moveTo>
                    <a:pt x="38061" y="0"/>
                  </a:moveTo>
                  <a:lnTo>
                    <a:pt x="0" y="0"/>
                  </a:lnTo>
                  <a:lnTo>
                    <a:pt x="0" y="51498"/>
                  </a:lnTo>
                  <a:lnTo>
                    <a:pt x="38061" y="51498"/>
                  </a:lnTo>
                  <a:lnTo>
                    <a:pt x="38061" y="0"/>
                  </a:lnTo>
                  <a:close/>
                </a:path>
              </a:pathLst>
            </a:custGeom>
            <a:solidFill>
              <a:srgbClr val="FFC000"/>
            </a:solidFill>
          </p:spPr>
          <p:txBody>
            <a:bodyPr wrap="square" lIns="0" tIns="0" rIns="0" bIns="0" rtlCol="0"/>
            <a:lstStyle/>
            <a:p/>
          </p:txBody>
        </p:sp>
        <p:sp>
          <p:nvSpPr>
            <p:cNvPr id="79" name="object 79" descr=""/>
            <p:cNvSpPr/>
            <p:nvPr/>
          </p:nvSpPr>
          <p:spPr>
            <a:xfrm>
              <a:off x="3861841" y="3911091"/>
              <a:ext cx="38100" cy="52069"/>
            </a:xfrm>
            <a:custGeom>
              <a:avLst/>
              <a:gdLst/>
              <a:ahLst/>
              <a:cxnLst/>
              <a:rect l="l" t="t" r="r" b="b"/>
              <a:pathLst>
                <a:path w="38100" h="52070">
                  <a:moveTo>
                    <a:pt x="0" y="0"/>
                  </a:moveTo>
                  <a:lnTo>
                    <a:pt x="38061" y="0"/>
                  </a:lnTo>
                  <a:lnTo>
                    <a:pt x="38061" y="51498"/>
                  </a:lnTo>
                  <a:lnTo>
                    <a:pt x="0" y="51498"/>
                  </a:lnTo>
                  <a:lnTo>
                    <a:pt x="0" y="0"/>
                  </a:lnTo>
                  <a:close/>
                </a:path>
              </a:pathLst>
            </a:custGeom>
            <a:ln w="9525">
              <a:solidFill>
                <a:srgbClr val="DCE6F2"/>
              </a:solidFill>
            </a:ln>
          </p:spPr>
          <p:txBody>
            <a:bodyPr wrap="square" lIns="0" tIns="0" rIns="0" bIns="0" rtlCol="0"/>
            <a:lstStyle/>
            <a:p/>
          </p:txBody>
        </p:sp>
        <p:pic>
          <p:nvPicPr>
            <p:cNvPr id="80" name="object 80"/>
            <p:cNvPicPr/>
            <p:nvPr/>
          </p:nvPicPr>
          <p:blipFill>
            <a:blip r:embed="rId30" cstate="print"/>
            <a:stretch>
              <a:fillRect/>
            </a:stretch>
          </p:blipFill>
          <p:spPr>
            <a:xfrm>
              <a:off x="4333494" y="3751325"/>
              <a:ext cx="283463" cy="409955"/>
            </a:xfrm>
            <a:prstGeom prst="rect">
              <a:avLst/>
            </a:prstGeom>
          </p:spPr>
        </p:pic>
        <p:sp>
          <p:nvSpPr>
            <p:cNvPr id="81" name="object 81" descr=""/>
            <p:cNvSpPr/>
            <p:nvPr/>
          </p:nvSpPr>
          <p:spPr>
            <a:xfrm>
              <a:off x="4387503" y="3785218"/>
              <a:ext cx="175895" cy="315595"/>
            </a:xfrm>
            <a:custGeom>
              <a:avLst/>
              <a:gdLst/>
              <a:ahLst/>
              <a:cxnLst/>
              <a:rect l="l" t="t" r="r" b="b"/>
              <a:pathLst>
                <a:path w="175895" h="315595">
                  <a:moveTo>
                    <a:pt x="0" y="315010"/>
                  </a:moveTo>
                  <a:lnTo>
                    <a:pt x="3733" y="20586"/>
                  </a:lnTo>
                  <a:lnTo>
                    <a:pt x="108267" y="6184"/>
                  </a:lnTo>
                  <a:lnTo>
                    <a:pt x="175475" y="0"/>
                  </a:lnTo>
                  <a:lnTo>
                    <a:pt x="175475" y="24714"/>
                  </a:lnTo>
                  <a:lnTo>
                    <a:pt x="85864" y="28829"/>
                  </a:lnTo>
                  <a:lnTo>
                    <a:pt x="82130" y="10299"/>
                  </a:lnTo>
                </a:path>
              </a:pathLst>
            </a:custGeom>
            <a:ln w="25400">
              <a:solidFill>
                <a:srgbClr val="0070C0"/>
              </a:solidFill>
            </a:ln>
          </p:spPr>
          <p:txBody>
            <a:bodyPr wrap="square" lIns="0" tIns="0" rIns="0" bIns="0" rtlCol="0"/>
            <a:lstStyle/>
            <a:p/>
          </p:txBody>
        </p:sp>
        <p:pic>
          <p:nvPicPr>
            <p:cNvPr id="82" name="object 82"/>
            <p:cNvPicPr/>
            <p:nvPr/>
          </p:nvPicPr>
          <p:blipFill>
            <a:blip r:embed="rId29" cstate="print"/>
            <a:stretch>
              <a:fillRect/>
            </a:stretch>
          </p:blipFill>
          <p:spPr>
            <a:xfrm>
              <a:off x="4446456" y="3822463"/>
              <a:ext cx="117059" cy="78645"/>
            </a:xfrm>
            <a:prstGeom prst="rect">
              <a:avLst/>
            </a:prstGeom>
          </p:spPr>
        </p:pic>
        <p:sp>
          <p:nvSpPr>
            <p:cNvPr id="83" name="object 83" descr=""/>
            <p:cNvSpPr/>
            <p:nvPr/>
          </p:nvSpPr>
          <p:spPr>
            <a:xfrm>
              <a:off x="4372787" y="3853700"/>
              <a:ext cx="36195" cy="47625"/>
            </a:xfrm>
            <a:custGeom>
              <a:avLst/>
              <a:gdLst/>
              <a:ahLst/>
              <a:cxnLst/>
              <a:rect l="l" t="t" r="r" b="b"/>
              <a:pathLst>
                <a:path w="36195" h="47625">
                  <a:moveTo>
                    <a:pt x="35585" y="0"/>
                  </a:moveTo>
                  <a:lnTo>
                    <a:pt x="0" y="0"/>
                  </a:lnTo>
                  <a:lnTo>
                    <a:pt x="0" y="47078"/>
                  </a:lnTo>
                  <a:lnTo>
                    <a:pt x="35585" y="47078"/>
                  </a:lnTo>
                  <a:lnTo>
                    <a:pt x="35585" y="0"/>
                  </a:lnTo>
                  <a:close/>
                </a:path>
              </a:pathLst>
            </a:custGeom>
            <a:solidFill>
              <a:srgbClr val="FFC000"/>
            </a:solidFill>
          </p:spPr>
          <p:txBody>
            <a:bodyPr wrap="square" lIns="0" tIns="0" rIns="0" bIns="0" rtlCol="0"/>
            <a:lstStyle/>
            <a:p/>
          </p:txBody>
        </p:sp>
        <p:sp>
          <p:nvSpPr>
            <p:cNvPr id="84" name="object 84" descr=""/>
            <p:cNvSpPr/>
            <p:nvPr/>
          </p:nvSpPr>
          <p:spPr>
            <a:xfrm>
              <a:off x="4372787" y="3853700"/>
              <a:ext cx="36195" cy="47625"/>
            </a:xfrm>
            <a:custGeom>
              <a:avLst/>
              <a:gdLst/>
              <a:ahLst/>
              <a:cxnLst/>
              <a:rect l="l" t="t" r="r" b="b"/>
              <a:pathLst>
                <a:path w="36195" h="47625">
                  <a:moveTo>
                    <a:pt x="0" y="0"/>
                  </a:moveTo>
                  <a:lnTo>
                    <a:pt x="35585" y="0"/>
                  </a:lnTo>
                  <a:lnTo>
                    <a:pt x="35585" y="47078"/>
                  </a:lnTo>
                  <a:lnTo>
                    <a:pt x="0" y="47078"/>
                  </a:lnTo>
                  <a:lnTo>
                    <a:pt x="0" y="0"/>
                  </a:lnTo>
                  <a:close/>
                </a:path>
              </a:pathLst>
            </a:custGeom>
            <a:ln w="9525">
              <a:solidFill>
                <a:srgbClr val="DCE6F2"/>
              </a:solidFill>
            </a:ln>
          </p:spPr>
          <p:txBody>
            <a:bodyPr wrap="square" lIns="0" tIns="0" rIns="0" bIns="0" rtlCol="0"/>
            <a:lstStyle/>
            <a:p/>
          </p:txBody>
        </p:sp>
        <p:pic>
          <p:nvPicPr>
            <p:cNvPr id="85" name="object 85"/>
            <p:cNvPicPr/>
            <p:nvPr/>
          </p:nvPicPr>
          <p:blipFill>
            <a:blip r:embed="rId31" cstate="print"/>
            <a:stretch>
              <a:fillRect/>
            </a:stretch>
          </p:blipFill>
          <p:spPr>
            <a:xfrm>
              <a:off x="4795265" y="3696461"/>
              <a:ext cx="297941" cy="406907"/>
            </a:xfrm>
            <a:prstGeom prst="rect">
              <a:avLst/>
            </a:prstGeom>
          </p:spPr>
        </p:pic>
        <p:sp>
          <p:nvSpPr>
            <p:cNvPr id="86" name="object 86" descr=""/>
            <p:cNvSpPr/>
            <p:nvPr/>
          </p:nvSpPr>
          <p:spPr>
            <a:xfrm>
              <a:off x="4848793" y="3730613"/>
              <a:ext cx="190500" cy="312420"/>
            </a:xfrm>
            <a:custGeom>
              <a:avLst/>
              <a:gdLst/>
              <a:ahLst/>
              <a:cxnLst/>
              <a:rect l="l" t="t" r="r" b="b"/>
              <a:pathLst>
                <a:path w="190500" h="312420">
                  <a:moveTo>
                    <a:pt x="0" y="311797"/>
                  </a:moveTo>
                  <a:lnTo>
                    <a:pt x="674" y="263227"/>
                  </a:lnTo>
                  <a:lnTo>
                    <a:pt x="1349" y="214658"/>
                  </a:lnTo>
                  <a:lnTo>
                    <a:pt x="2025" y="166090"/>
                  </a:lnTo>
                  <a:lnTo>
                    <a:pt x="2701" y="117522"/>
                  </a:lnTo>
                  <a:lnTo>
                    <a:pt x="3377" y="68953"/>
                  </a:lnTo>
                  <a:lnTo>
                    <a:pt x="4051" y="20383"/>
                  </a:lnTo>
                  <a:lnTo>
                    <a:pt x="117513" y="6121"/>
                  </a:lnTo>
                  <a:lnTo>
                    <a:pt x="190449" y="0"/>
                  </a:lnTo>
                  <a:lnTo>
                    <a:pt x="190449" y="24460"/>
                  </a:lnTo>
                  <a:lnTo>
                    <a:pt x="93205" y="28536"/>
                  </a:lnTo>
                  <a:lnTo>
                    <a:pt x="89154" y="10198"/>
                  </a:lnTo>
                </a:path>
              </a:pathLst>
            </a:custGeom>
            <a:ln w="25400">
              <a:solidFill>
                <a:srgbClr val="0070C0"/>
              </a:solidFill>
            </a:ln>
          </p:spPr>
          <p:txBody>
            <a:bodyPr wrap="square" lIns="0" tIns="0" rIns="0" bIns="0" rtlCol="0"/>
            <a:lstStyle/>
            <a:p/>
          </p:txBody>
        </p:sp>
        <p:pic>
          <p:nvPicPr>
            <p:cNvPr id="87" name="object 87"/>
            <p:cNvPicPr/>
            <p:nvPr/>
          </p:nvPicPr>
          <p:blipFill>
            <a:blip r:embed="rId29" cstate="print"/>
            <a:stretch>
              <a:fillRect/>
            </a:stretch>
          </p:blipFill>
          <p:spPr>
            <a:xfrm>
              <a:off x="4912781" y="3767480"/>
              <a:ext cx="127048" cy="77842"/>
            </a:xfrm>
            <a:prstGeom prst="rect">
              <a:avLst/>
            </a:prstGeom>
          </p:spPr>
        </p:pic>
        <p:sp>
          <p:nvSpPr>
            <p:cNvPr id="88" name="object 88" descr=""/>
            <p:cNvSpPr/>
            <p:nvPr/>
          </p:nvSpPr>
          <p:spPr>
            <a:xfrm>
              <a:off x="4832819" y="3798392"/>
              <a:ext cx="38735" cy="46990"/>
            </a:xfrm>
            <a:custGeom>
              <a:avLst/>
              <a:gdLst/>
              <a:ahLst/>
              <a:cxnLst/>
              <a:rect l="l" t="t" r="r" b="b"/>
              <a:pathLst>
                <a:path w="38735" h="46989">
                  <a:moveTo>
                    <a:pt x="38620" y="0"/>
                  </a:moveTo>
                  <a:lnTo>
                    <a:pt x="0" y="0"/>
                  </a:lnTo>
                  <a:lnTo>
                    <a:pt x="0" y="46596"/>
                  </a:lnTo>
                  <a:lnTo>
                    <a:pt x="38620" y="46596"/>
                  </a:lnTo>
                  <a:lnTo>
                    <a:pt x="38620" y="0"/>
                  </a:lnTo>
                  <a:close/>
                </a:path>
              </a:pathLst>
            </a:custGeom>
            <a:solidFill>
              <a:srgbClr val="FFC000"/>
            </a:solidFill>
          </p:spPr>
          <p:txBody>
            <a:bodyPr wrap="square" lIns="0" tIns="0" rIns="0" bIns="0" rtlCol="0"/>
            <a:lstStyle/>
            <a:p/>
          </p:txBody>
        </p:sp>
        <p:sp>
          <p:nvSpPr>
            <p:cNvPr id="89" name="object 89" descr=""/>
            <p:cNvSpPr/>
            <p:nvPr/>
          </p:nvSpPr>
          <p:spPr>
            <a:xfrm>
              <a:off x="4832819" y="3798392"/>
              <a:ext cx="38735" cy="46990"/>
            </a:xfrm>
            <a:custGeom>
              <a:avLst/>
              <a:gdLst/>
              <a:ahLst/>
              <a:cxnLst/>
              <a:rect l="l" t="t" r="r" b="b"/>
              <a:pathLst>
                <a:path w="38735" h="46989">
                  <a:moveTo>
                    <a:pt x="0" y="0"/>
                  </a:moveTo>
                  <a:lnTo>
                    <a:pt x="38620" y="0"/>
                  </a:lnTo>
                  <a:lnTo>
                    <a:pt x="38620" y="46596"/>
                  </a:lnTo>
                  <a:lnTo>
                    <a:pt x="0" y="46596"/>
                  </a:lnTo>
                  <a:lnTo>
                    <a:pt x="0" y="0"/>
                  </a:lnTo>
                  <a:close/>
                </a:path>
              </a:pathLst>
            </a:custGeom>
            <a:ln w="9525">
              <a:solidFill>
                <a:srgbClr val="DCE6F2"/>
              </a:solidFill>
            </a:ln>
          </p:spPr>
          <p:txBody>
            <a:bodyPr wrap="square" lIns="0" tIns="0" rIns="0" bIns="0" rtlCol="0"/>
            <a:lstStyle/>
            <a:p/>
          </p:txBody>
        </p:sp>
        <p:pic>
          <p:nvPicPr>
            <p:cNvPr id="90" name="object 90"/>
            <p:cNvPicPr/>
            <p:nvPr/>
          </p:nvPicPr>
          <p:blipFill>
            <a:blip r:embed="rId32" cstate="print"/>
            <a:stretch>
              <a:fillRect/>
            </a:stretch>
          </p:blipFill>
          <p:spPr>
            <a:xfrm>
              <a:off x="5282183" y="3624833"/>
              <a:ext cx="300227" cy="397001"/>
            </a:xfrm>
            <a:prstGeom prst="rect">
              <a:avLst/>
            </a:prstGeom>
          </p:spPr>
        </p:pic>
        <p:sp>
          <p:nvSpPr>
            <p:cNvPr id="91" name="object 91" descr=""/>
            <p:cNvSpPr/>
            <p:nvPr/>
          </p:nvSpPr>
          <p:spPr>
            <a:xfrm>
              <a:off x="5335823" y="3658435"/>
              <a:ext cx="193040" cy="302260"/>
            </a:xfrm>
            <a:custGeom>
              <a:avLst/>
              <a:gdLst/>
              <a:ahLst/>
              <a:cxnLst/>
              <a:rect l="l" t="t" r="r" b="b"/>
              <a:pathLst>
                <a:path w="193039" h="302260">
                  <a:moveTo>
                    <a:pt x="0" y="302107"/>
                  </a:moveTo>
                  <a:lnTo>
                    <a:pt x="4089" y="19748"/>
                  </a:lnTo>
                  <a:lnTo>
                    <a:pt x="118757" y="5930"/>
                  </a:lnTo>
                  <a:lnTo>
                    <a:pt x="192468" y="0"/>
                  </a:lnTo>
                  <a:lnTo>
                    <a:pt x="192468" y="23698"/>
                  </a:lnTo>
                  <a:lnTo>
                    <a:pt x="94183" y="27647"/>
                  </a:lnTo>
                  <a:lnTo>
                    <a:pt x="90093" y="9880"/>
                  </a:lnTo>
                </a:path>
              </a:pathLst>
            </a:custGeom>
            <a:ln w="25400">
              <a:solidFill>
                <a:srgbClr val="0070C0"/>
              </a:solidFill>
            </a:ln>
          </p:spPr>
          <p:txBody>
            <a:bodyPr wrap="square" lIns="0" tIns="0" rIns="0" bIns="0" rtlCol="0"/>
            <a:lstStyle/>
            <a:p/>
          </p:txBody>
        </p:sp>
        <p:pic>
          <p:nvPicPr>
            <p:cNvPr id="92" name="object 92"/>
            <p:cNvPicPr/>
            <p:nvPr/>
          </p:nvPicPr>
          <p:blipFill>
            <a:blip r:embed="rId29" cstate="print"/>
            <a:stretch>
              <a:fillRect/>
            </a:stretch>
          </p:blipFill>
          <p:spPr>
            <a:xfrm>
              <a:off x="5400486" y="3694154"/>
              <a:ext cx="128395" cy="75421"/>
            </a:xfrm>
            <a:prstGeom prst="rect">
              <a:avLst/>
            </a:prstGeom>
          </p:spPr>
        </p:pic>
        <p:sp>
          <p:nvSpPr>
            <p:cNvPr id="93" name="object 93" descr=""/>
            <p:cNvSpPr/>
            <p:nvPr/>
          </p:nvSpPr>
          <p:spPr>
            <a:xfrm>
              <a:off x="5319674" y="3724109"/>
              <a:ext cx="39370" cy="45720"/>
            </a:xfrm>
            <a:custGeom>
              <a:avLst/>
              <a:gdLst/>
              <a:ahLst/>
              <a:cxnLst/>
              <a:rect l="l" t="t" r="r" b="b"/>
              <a:pathLst>
                <a:path w="39370" h="45720">
                  <a:moveTo>
                    <a:pt x="39027" y="0"/>
                  </a:moveTo>
                  <a:lnTo>
                    <a:pt x="0" y="0"/>
                  </a:lnTo>
                  <a:lnTo>
                    <a:pt x="0" y="45148"/>
                  </a:lnTo>
                  <a:lnTo>
                    <a:pt x="39027" y="45148"/>
                  </a:lnTo>
                  <a:lnTo>
                    <a:pt x="39027" y="0"/>
                  </a:lnTo>
                  <a:close/>
                </a:path>
              </a:pathLst>
            </a:custGeom>
            <a:solidFill>
              <a:srgbClr val="FFC000"/>
            </a:solidFill>
          </p:spPr>
          <p:txBody>
            <a:bodyPr wrap="square" lIns="0" tIns="0" rIns="0" bIns="0" rtlCol="0"/>
            <a:lstStyle/>
            <a:p/>
          </p:txBody>
        </p:sp>
        <p:sp>
          <p:nvSpPr>
            <p:cNvPr id="94" name="object 94" descr=""/>
            <p:cNvSpPr/>
            <p:nvPr/>
          </p:nvSpPr>
          <p:spPr>
            <a:xfrm>
              <a:off x="5319674" y="3724109"/>
              <a:ext cx="39370" cy="45720"/>
            </a:xfrm>
            <a:custGeom>
              <a:avLst/>
              <a:gdLst/>
              <a:ahLst/>
              <a:cxnLst/>
              <a:rect l="l" t="t" r="r" b="b"/>
              <a:pathLst>
                <a:path w="39370" h="45720">
                  <a:moveTo>
                    <a:pt x="0" y="0"/>
                  </a:moveTo>
                  <a:lnTo>
                    <a:pt x="39027" y="0"/>
                  </a:lnTo>
                  <a:lnTo>
                    <a:pt x="39027" y="45148"/>
                  </a:lnTo>
                  <a:lnTo>
                    <a:pt x="0" y="45148"/>
                  </a:lnTo>
                  <a:lnTo>
                    <a:pt x="0" y="0"/>
                  </a:lnTo>
                  <a:close/>
                </a:path>
              </a:pathLst>
            </a:custGeom>
            <a:ln w="9525">
              <a:solidFill>
                <a:srgbClr val="DCE6F2"/>
              </a:solidFill>
            </a:ln>
          </p:spPr>
          <p:txBody>
            <a:bodyPr wrap="square" lIns="0" tIns="0" rIns="0" bIns="0" rtlCol="0"/>
            <a:lstStyle/>
            <a:p/>
          </p:txBody>
        </p:sp>
        <p:pic>
          <p:nvPicPr>
            <p:cNvPr id="95" name="object 95"/>
            <p:cNvPicPr/>
            <p:nvPr/>
          </p:nvPicPr>
          <p:blipFill>
            <a:blip r:embed="rId33" cstate="print"/>
            <a:stretch>
              <a:fillRect/>
            </a:stretch>
          </p:blipFill>
          <p:spPr>
            <a:xfrm>
              <a:off x="1540349" y="2386000"/>
              <a:ext cx="536582" cy="2094530"/>
            </a:xfrm>
            <a:prstGeom prst="rect">
              <a:avLst/>
            </a:prstGeom>
          </p:spPr>
        </p:pic>
        <p:pic>
          <p:nvPicPr>
            <p:cNvPr id="96" name="object 96"/>
            <p:cNvPicPr/>
            <p:nvPr/>
          </p:nvPicPr>
          <p:blipFill>
            <a:blip r:embed="rId34" cstate="print"/>
            <a:stretch>
              <a:fillRect/>
            </a:stretch>
          </p:blipFill>
          <p:spPr>
            <a:xfrm>
              <a:off x="1678774" y="2422122"/>
              <a:ext cx="93647" cy="477464"/>
            </a:xfrm>
            <a:prstGeom prst="rect">
              <a:avLst/>
            </a:prstGeom>
          </p:spPr>
        </p:pic>
        <p:pic>
          <p:nvPicPr>
            <p:cNvPr id="97" name="object 97"/>
            <p:cNvPicPr/>
            <p:nvPr/>
          </p:nvPicPr>
          <p:blipFill>
            <a:blip r:embed="rId35" cstate="print"/>
            <a:stretch>
              <a:fillRect/>
            </a:stretch>
          </p:blipFill>
          <p:spPr>
            <a:xfrm>
              <a:off x="1837359" y="2428941"/>
              <a:ext cx="93583" cy="477466"/>
            </a:xfrm>
            <a:prstGeom prst="rect">
              <a:avLst/>
            </a:prstGeom>
          </p:spPr>
        </p:pic>
        <p:pic>
          <p:nvPicPr>
            <p:cNvPr id="98" name="object 98"/>
            <p:cNvPicPr/>
            <p:nvPr/>
          </p:nvPicPr>
          <p:blipFill>
            <a:blip r:embed="rId36" cstate="print"/>
            <a:stretch>
              <a:fillRect/>
            </a:stretch>
          </p:blipFill>
          <p:spPr>
            <a:xfrm>
              <a:off x="1717903" y="2386000"/>
              <a:ext cx="151137" cy="533207"/>
            </a:xfrm>
            <a:prstGeom prst="rect">
              <a:avLst/>
            </a:prstGeom>
          </p:spPr>
        </p:pic>
        <p:pic>
          <p:nvPicPr>
            <p:cNvPr id="99" name="object 99"/>
            <p:cNvPicPr/>
            <p:nvPr/>
          </p:nvPicPr>
          <p:blipFill>
            <a:blip r:embed="rId37" cstate="print"/>
            <a:stretch>
              <a:fillRect/>
            </a:stretch>
          </p:blipFill>
          <p:spPr>
            <a:xfrm>
              <a:off x="1716570" y="2929015"/>
              <a:ext cx="83042" cy="230032"/>
            </a:xfrm>
            <a:prstGeom prst="rect">
              <a:avLst/>
            </a:prstGeom>
          </p:spPr>
        </p:pic>
        <p:pic>
          <p:nvPicPr>
            <p:cNvPr id="100" name="object 100"/>
            <p:cNvPicPr/>
            <p:nvPr/>
          </p:nvPicPr>
          <p:blipFill>
            <a:blip r:embed="rId37" cstate="print"/>
            <a:stretch>
              <a:fillRect/>
            </a:stretch>
          </p:blipFill>
          <p:spPr>
            <a:xfrm>
              <a:off x="1760250" y="2934055"/>
              <a:ext cx="83039" cy="230025"/>
            </a:xfrm>
            <a:prstGeom prst="rect">
              <a:avLst/>
            </a:prstGeom>
          </p:spPr>
        </p:pic>
        <p:pic>
          <p:nvPicPr>
            <p:cNvPr id="101" name="object 101"/>
            <p:cNvPicPr/>
            <p:nvPr/>
          </p:nvPicPr>
          <p:blipFill>
            <a:blip r:embed="rId37" cstate="print"/>
            <a:stretch>
              <a:fillRect/>
            </a:stretch>
          </p:blipFill>
          <p:spPr>
            <a:xfrm>
              <a:off x="1803145" y="2938906"/>
              <a:ext cx="83043" cy="230031"/>
            </a:xfrm>
            <a:prstGeom prst="rect">
              <a:avLst/>
            </a:prstGeom>
          </p:spPr>
        </p:pic>
        <p:sp>
          <p:nvSpPr>
            <p:cNvPr id="102" name="object 102" descr=""/>
            <p:cNvSpPr/>
            <p:nvPr/>
          </p:nvSpPr>
          <p:spPr>
            <a:xfrm>
              <a:off x="1452194" y="2517965"/>
              <a:ext cx="712470" cy="302895"/>
            </a:xfrm>
            <a:custGeom>
              <a:avLst/>
              <a:gdLst/>
              <a:ahLst/>
              <a:cxnLst/>
              <a:rect l="l" t="t" r="r" b="b"/>
              <a:pathLst>
                <a:path w="712469" h="302894">
                  <a:moveTo>
                    <a:pt x="110985" y="281940"/>
                  </a:moveTo>
                  <a:lnTo>
                    <a:pt x="79362" y="250190"/>
                  </a:lnTo>
                  <a:lnTo>
                    <a:pt x="56718" y="218440"/>
                  </a:lnTo>
                  <a:lnTo>
                    <a:pt x="51968" y="210820"/>
                  </a:lnTo>
                  <a:lnTo>
                    <a:pt x="47421" y="201930"/>
                  </a:lnTo>
                  <a:lnTo>
                    <a:pt x="43472" y="194310"/>
                  </a:lnTo>
                  <a:lnTo>
                    <a:pt x="40030" y="185420"/>
                  </a:lnTo>
                  <a:lnTo>
                    <a:pt x="36664" y="177800"/>
                  </a:lnTo>
                  <a:lnTo>
                    <a:pt x="33731" y="168910"/>
                  </a:lnTo>
                  <a:lnTo>
                    <a:pt x="31483" y="160020"/>
                  </a:lnTo>
                  <a:lnTo>
                    <a:pt x="29286" y="152400"/>
                  </a:lnTo>
                  <a:lnTo>
                    <a:pt x="27482" y="143510"/>
                  </a:lnTo>
                  <a:lnTo>
                    <a:pt x="26403" y="134620"/>
                  </a:lnTo>
                  <a:lnTo>
                    <a:pt x="25704" y="125730"/>
                  </a:lnTo>
                  <a:lnTo>
                    <a:pt x="25704" y="101600"/>
                  </a:lnTo>
                  <a:lnTo>
                    <a:pt x="26212" y="96520"/>
                  </a:lnTo>
                  <a:lnTo>
                    <a:pt x="26339" y="95250"/>
                  </a:lnTo>
                  <a:lnTo>
                    <a:pt x="27393" y="87630"/>
                  </a:lnTo>
                  <a:lnTo>
                    <a:pt x="29184" y="80010"/>
                  </a:lnTo>
                  <a:lnTo>
                    <a:pt x="31496" y="72390"/>
                  </a:lnTo>
                  <a:lnTo>
                    <a:pt x="33566" y="64770"/>
                  </a:lnTo>
                  <a:lnTo>
                    <a:pt x="36652" y="58420"/>
                  </a:lnTo>
                  <a:lnTo>
                    <a:pt x="40017" y="50800"/>
                  </a:lnTo>
                  <a:lnTo>
                    <a:pt x="43776" y="44450"/>
                  </a:lnTo>
                  <a:lnTo>
                    <a:pt x="47828" y="38100"/>
                  </a:lnTo>
                  <a:lnTo>
                    <a:pt x="52641" y="33020"/>
                  </a:lnTo>
                  <a:lnTo>
                    <a:pt x="57734" y="26670"/>
                  </a:lnTo>
                  <a:lnTo>
                    <a:pt x="61569" y="22860"/>
                  </a:lnTo>
                  <a:lnTo>
                    <a:pt x="65633" y="20320"/>
                  </a:lnTo>
                  <a:lnTo>
                    <a:pt x="44792" y="0"/>
                  </a:lnTo>
                  <a:lnTo>
                    <a:pt x="16687" y="35560"/>
                  </a:lnTo>
                  <a:lnTo>
                    <a:pt x="6807" y="59690"/>
                  </a:lnTo>
                  <a:lnTo>
                    <a:pt x="4318" y="67310"/>
                  </a:lnTo>
                  <a:lnTo>
                    <a:pt x="2590" y="76200"/>
                  </a:lnTo>
                  <a:lnTo>
                    <a:pt x="1117" y="85090"/>
                  </a:lnTo>
                  <a:lnTo>
                    <a:pt x="431" y="92710"/>
                  </a:lnTo>
                  <a:lnTo>
                    <a:pt x="317" y="93980"/>
                  </a:lnTo>
                  <a:lnTo>
                    <a:pt x="0" y="99060"/>
                  </a:lnTo>
                  <a:lnTo>
                    <a:pt x="88" y="118110"/>
                  </a:lnTo>
                  <a:lnTo>
                    <a:pt x="203" y="121920"/>
                  </a:lnTo>
                  <a:lnTo>
                    <a:pt x="1104" y="130810"/>
                  </a:lnTo>
                  <a:lnTo>
                    <a:pt x="4406" y="149860"/>
                  </a:lnTo>
                  <a:lnTo>
                    <a:pt x="6769" y="160020"/>
                  </a:lnTo>
                  <a:lnTo>
                    <a:pt x="9766" y="168910"/>
                  </a:lnTo>
                  <a:lnTo>
                    <a:pt x="13106" y="179070"/>
                  </a:lnTo>
                  <a:lnTo>
                    <a:pt x="20713" y="198120"/>
                  </a:lnTo>
                  <a:lnTo>
                    <a:pt x="25463" y="207010"/>
                  </a:lnTo>
                  <a:lnTo>
                    <a:pt x="30187" y="217170"/>
                  </a:lnTo>
                  <a:lnTo>
                    <a:pt x="35725" y="226060"/>
                  </a:lnTo>
                  <a:lnTo>
                    <a:pt x="41668" y="236220"/>
                  </a:lnTo>
                  <a:lnTo>
                    <a:pt x="47904" y="245110"/>
                  </a:lnTo>
                  <a:lnTo>
                    <a:pt x="54584" y="254000"/>
                  </a:lnTo>
                  <a:lnTo>
                    <a:pt x="61849" y="262890"/>
                  </a:lnTo>
                  <a:lnTo>
                    <a:pt x="69278" y="271780"/>
                  </a:lnTo>
                  <a:lnTo>
                    <a:pt x="77190" y="279400"/>
                  </a:lnTo>
                  <a:lnTo>
                    <a:pt x="85509" y="288290"/>
                  </a:lnTo>
                  <a:lnTo>
                    <a:pt x="90932" y="293370"/>
                  </a:lnTo>
                  <a:lnTo>
                    <a:pt x="96367" y="297180"/>
                  </a:lnTo>
                  <a:lnTo>
                    <a:pt x="110985" y="281940"/>
                  </a:lnTo>
                  <a:close/>
                </a:path>
                <a:path w="712469" h="302894">
                  <a:moveTo>
                    <a:pt x="136702" y="255270"/>
                  </a:moveTo>
                  <a:lnTo>
                    <a:pt x="125742" y="246380"/>
                  </a:lnTo>
                  <a:lnTo>
                    <a:pt x="115150" y="234950"/>
                  </a:lnTo>
                  <a:lnTo>
                    <a:pt x="110236" y="229870"/>
                  </a:lnTo>
                  <a:lnTo>
                    <a:pt x="105664" y="223520"/>
                  </a:lnTo>
                  <a:lnTo>
                    <a:pt x="101155" y="217170"/>
                  </a:lnTo>
                  <a:lnTo>
                    <a:pt x="97015" y="210820"/>
                  </a:lnTo>
                  <a:lnTo>
                    <a:pt x="92989" y="205740"/>
                  </a:lnTo>
                  <a:lnTo>
                    <a:pt x="89649" y="199390"/>
                  </a:lnTo>
                  <a:lnTo>
                    <a:pt x="86207" y="193040"/>
                  </a:lnTo>
                  <a:lnTo>
                    <a:pt x="83223" y="186690"/>
                  </a:lnTo>
                  <a:lnTo>
                    <a:pt x="78206" y="173990"/>
                  </a:lnTo>
                  <a:lnTo>
                    <a:pt x="76034" y="167640"/>
                  </a:lnTo>
                  <a:lnTo>
                    <a:pt x="74218" y="161290"/>
                  </a:lnTo>
                  <a:lnTo>
                    <a:pt x="72885" y="154940"/>
                  </a:lnTo>
                  <a:lnTo>
                    <a:pt x="71450" y="148590"/>
                  </a:lnTo>
                  <a:lnTo>
                    <a:pt x="70015" y="137160"/>
                  </a:lnTo>
                  <a:lnTo>
                    <a:pt x="69646" y="130810"/>
                  </a:lnTo>
                  <a:lnTo>
                    <a:pt x="69748" y="120650"/>
                  </a:lnTo>
                  <a:lnTo>
                    <a:pt x="80797" y="80010"/>
                  </a:lnTo>
                  <a:lnTo>
                    <a:pt x="86690" y="71120"/>
                  </a:lnTo>
                  <a:lnTo>
                    <a:pt x="90195" y="66040"/>
                  </a:lnTo>
                  <a:lnTo>
                    <a:pt x="93840" y="62230"/>
                  </a:lnTo>
                  <a:lnTo>
                    <a:pt x="97955" y="58420"/>
                  </a:lnTo>
                  <a:lnTo>
                    <a:pt x="102019" y="54610"/>
                  </a:lnTo>
                  <a:lnTo>
                    <a:pt x="81178" y="34290"/>
                  </a:lnTo>
                  <a:lnTo>
                    <a:pt x="77127" y="38100"/>
                  </a:lnTo>
                  <a:lnTo>
                    <a:pt x="73152" y="41910"/>
                  </a:lnTo>
                  <a:lnTo>
                    <a:pt x="68656" y="46990"/>
                  </a:lnTo>
                  <a:lnTo>
                    <a:pt x="64592" y="52070"/>
                  </a:lnTo>
                  <a:lnTo>
                    <a:pt x="60807" y="58420"/>
                  </a:lnTo>
                  <a:lnTo>
                    <a:pt x="57264" y="63500"/>
                  </a:lnTo>
                  <a:lnTo>
                    <a:pt x="45148" y="102870"/>
                  </a:lnTo>
                  <a:lnTo>
                    <a:pt x="44234" y="115570"/>
                  </a:lnTo>
                  <a:lnTo>
                    <a:pt x="44297" y="125730"/>
                  </a:lnTo>
                  <a:lnTo>
                    <a:pt x="44526" y="129540"/>
                  </a:lnTo>
                  <a:lnTo>
                    <a:pt x="44602" y="130810"/>
                  </a:lnTo>
                  <a:lnTo>
                    <a:pt x="54406" y="175260"/>
                  </a:lnTo>
                  <a:lnTo>
                    <a:pt x="57505" y="182880"/>
                  </a:lnTo>
                  <a:lnTo>
                    <a:pt x="60464" y="190500"/>
                  </a:lnTo>
                  <a:lnTo>
                    <a:pt x="64008" y="198120"/>
                  </a:lnTo>
                  <a:lnTo>
                    <a:pt x="68008" y="205740"/>
                  </a:lnTo>
                  <a:lnTo>
                    <a:pt x="72390" y="213360"/>
                  </a:lnTo>
                  <a:lnTo>
                    <a:pt x="76873" y="219710"/>
                  </a:lnTo>
                  <a:lnTo>
                    <a:pt x="81699" y="227330"/>
                  </a:lnTo>
                  <a:lnTo>
                    <a:pt x="86817" y="234950"/>
                  </a:lnTo>
                  <a:lnTo>
                    <a:pt x="92532" y="241300"/>
                  </a:lnTo>
                  <a:lnTo>
                    <a:pt x="98501" y="247650"/>
                  </a:lnTo>
                  <a:lnTo>
                    <a:pt x="104660" y="255270"/>
                  </a:lnTo>
                  <a:lnTo>
                    <a:pt x="111125" y="261620"/>
                  </a:lnTo>
                  <a:lnTo>
                    <a:pt x="116649" y="266700"/>
                  </a:lnTo>
                  <a:lnTo>
                    <a:pt x="122085" y="270510"/>
                  </a:lnTo>
                  <a:lnTo>
                    <a:pt x="136702" y="255270"/>
                  </a:lnTo>
                  <a:close/>
                </a:path>
                <a:path w="712469" h="302894">
                  <a:moveTo>
                    <a:pt x="162420" y="228600"/>
                  </a:moveTo>
                  <a:lnTo>
                    <a:pt x="156883" y="223520"/>
                  </a:lnTo>
                  <a:lnTo>
                    <a:pt x="147891" y="215900"/>
                  </a:lnTo>
                  <a:lnTo>
                    <a:pt x="144373" y="212090"/>
                  </a:lnTo>
                  <a:lnTo>
                    <a:pt x="123075" y="179070"/>
                  </a:lnTo>
                  <a:lnTo>
                    <a:pt x="121386" y="175260"/>
                  </a:lnTo>
                  <a:lnTo>
                    <a:pt x="114439" y="148590"/>
                  </a:lnTo>
                  <a:lnTo>
                    <a:pt x="114325" y="147320"/>
                  </a:lnTo>
                  <a:lnTo>
                    <a:pt x="114211" y="146050"/>
                  </a:lnTo>
                  <a:lnTo>
                    <a:pt x="114096" y="137160"/>
                  </a:lnTo>
                  <a:lnTo>
                    <a:pt x="114528" y="130810"/>
                  </a:lnTo>
                  <a:lnTo>
                    <a:pt x="115036" y="125730"/>
                  </a:lnTo>
                  <a:lnTo>
                    <a:pt x="115925" y="121920"/>
                  </a:lnTo>
                  <a:lnTo>
                    <a:pt x="117106" y="119380"/>
                  </a:lnTo>
                  <a:lnTo>
                    <a:pt x="118148" y="115570"/>
                  </a:lnTo>
                  <a:lnTo>
                    <a:pt x="119710" y="111760"/>
                  </a:lnTo>
                  <a:lnTo>
                    <a:pt x="121373" y="107950"/>
                  </a:lnTo>
                  <a:lnTo>
                    <a:pt x="123418" y="105410"/>
                  </a:lnTo>
                  <a:lnTo>
                    <a:pt x="125272" y="101600"/>
                  </a:lnTo>
                  <a:lnTo>
                    <a:pt x="127609" y="99060"/>
                  </a:lnTo>
                  <a:lnTo>
                    <a:pt x="134061" y="92710"/>
                  </a:lnTo>
                  <a:lnTo>
                    <a:pt x="138404" y="88900"/>
                  </a:lnTo>
                  <a:lnTo>
                    <a:pt x="117576" y="69850"/>
                  </a:lnTo>
                  <a:lnTo>
                    <a:pt x="98183" y="92710"/>
                  </a:lnTo>
                  <a:lnTo>
                    <a:pt x="95961" y="96520"/>
                  </a:lnTo>
                  <a:lnTo>
                    <a:pt x="94119" y="101600"/>
                  </a:lnTo>
                  <a:lnTo>
                    <a:pt x="92417" y="105410"/>
                  </a:lnTo>
                  <a:lnTo>
                    <a:pt x="91160" y="110490"/>
                  </a:lnTo>
                  <a:lnTo>
                    <a:pt x="90093" y="115570"/>
                  </a:lnTo>
                  <a:lnTo>
                    <a:pt x="88925" y="123190"/>
                  </a:lnTo>
                  <a:lnTo>
                    <a:pt x="88811" y="140970"/>
                  </a:lnTo>
                  <a:lnTo>
                    <a:pt x="89535" y="146050"/>
                  </a:lnTo>
                  <a:lnTo>
                    <a:pt x="90309" y="151130"/>
                  </a:lnTo>
                  <a:lnTo>
                    <a:pt x="91325" y="156210"/>
                  </a:lnTo>
                  <a:lnTo>
                    <a:pt x="92532" y="162560"/>
                  </a:lnTo>
                  <a:lnTo>
                    <a:pt x="94183" y="167640"/>
                  </a:lnTo>
                  <a:lnTo>
                    <a:pt x="97980" y="177800"/>
                  </a:lnTo>
                  <a:lnTo>
                    <a:pt x="100215" y="184150"/>
                  </a:lnTo>
                  <a:lnTo>
                    <a:pt x="115735" y="209550"/>
                  </a:lnTo>
                  <a:lnTo>
                    <a:pt x="119456" y="214630"/>
                  </a:lnTo>
                  <a:lnTo>
                    <a:pt x="147789" y="243840"/>
                  </a:lnTo>
                  <a:lnTo>
                    <a:pt x="162420" y="228600"/>
                  </a:lnTo>
                  <a:close/>
                </a:path>
                <a:path w="712469" h="302894">
                  <a:moveTo>
                    <a:pt x="188633" y="200660"/>
                  </a:moveTo>
                  <a:lnTo>
                    <a:pt x="185699" y="199390"/>
                  </a:lnTo>
                  <a:lnTo>
                    <a:pt x="182791" y="196850"/>
                  </a:lnTo>
                  <a:lnTo>
                    <a:pt x="179781" y="194310"/>
                  </a:lnTo>
                  <a:lnTo>
                    <a:pt x="177063" y="191770"/>
                  </a:lnTo>
                  <a:lnTo>
                    <a:pt x="173596" y="189230"/>
                  </a:lnTo>
                  <a:lnTo>
                    <a:pt x="170434" y="185420"/>
                  </a:lnTo>
                  <a:lnTo>
                    <a:pt x="167614" y="180340"/>
                  </a:lnTo>
                  <a:lnTo>
                    <a:pt x="165100" y="176530"/>
                  </a:lnTo>
                  <a:lnTo>
                    <a:pt x="162826" y="172720"/>
                  </a:lnTo>
                  <a:lnTo>
                    <a:pt x="161277" y="168910"/>
                  </a:lnTo>
                  <a:lnTo>
                    <a:pt x="159842" y="163830"/>
                  </a:lnTo>
                  <a:lnTo>
                    <a:pt x="159232" y="160020"/>
                  </a:lnTo>
                  <a:lnTo>
                    <a:pt x="158521" y="156210"/>
                  </a:lnTo>
                  <a:lnTo>
                    <a:pt x="158559" y="147320"/>
                  </a:lnTo>
                  <a:lnTo>
                    <a:pt x="159448" y="143510"/>
                  </a:lnTo>
                  <a:lnTo>
                    <a:pt x="160477" y="140970"/>
                  </a:lnTo>
                  <a:lnTo>
                    <a:pt x="162293" y="137160"/>
                  </a:lnTo>
                  <a:lnTo>
                    <a:pt x="163995" y="133350"/>
                  </a:lnTo>
                  <a:lnTo>
                    <a:pt x="166471" y="130810"/>
                  </a:lnTo>
                  <a:lnTo>
                    <a:pt x="168389" y="129540"/>
                  </a:lnTo>
                  <a:lnTo>
                    <a:pt x="172974" y="125730"/>
                  </a:lnTo>
                  <a:lnTo>
                    <a:pt x="175361" y="124460"/>
                  </a:lnTo>
                  <a:lnTo>
                    <a:pt x="154241" y="104140"/>
                  </a:lnTo>
                  <a:lnTo>
                    <a:pt x="149758" y="107950"/>
                  </a:lnTo>
                  <a:lnTo>
                    <a:pt x="147561" y="109220"/>
                  </a:lnTo>
                  <a:lnTo>
                    <a:pt x="145643" y="110490"/>
                  </a:lnTo>
                  <a:lnTo>
                    <a:pt x="143624" y="113030"/>
                  </a:lnTo>
                  <a:lnTo>
                    <a:pt x="142036" y="115570"/>
                  </a:lnTo>
                  <a:lnTo>
                    <a:pt x="140309" y="118110"/>
                  </a:lnTo>
                  <a:lnTo>
                    <a:pt x="133578" y="137160"/>
                  </a:lnTo>
                  <a:lnTo>
                    <a:pt x="133477" y="138430"/>
                  </a:lnTo>
                  <a:lnTo>
                    <a:pt x="133007" y="142240"/>
                  </a:lnTo>
                  <a:lnTo>
                    <a:pt x="133121" y="149860"/>
                  </a:lnTo>
                  <a:lnTo>
                    <a:pt x="133235" y="151130"/>
                  </a:lnTo>
                  <a:lnTo>
                    <a:pt x="133350" y="152400"/>
                  </a:lnTo>
                  <a:lnTo>
                    <a:pt x="143459" y="182880"/>
                  </a:lnTo>
                  <a:lnTo>
                    <a:pt x="145453" y="186690"/>
                  </a:lnTo>
                  <a:lnTo>
                    <a:pt x="147421" y="189230"/>
                  </a:lnTo>
                  <a:lnTo>
                    <a:pt x="149529" y="193040"/>
                  </a:lnTo>
                  <a:lnTo>
                    <a:pt x="151841" y="195580"/>
                  </a:lnTo>
                  <a:lnTo>
                    <a:pt x="154190" y="199390"/>
                  </a:lnTo>
                  <a:lnTo>
                    <a:pt x="156933" y="201930"/>
                  </a:lnTo>
                  <a:lnTo>
                    <a:pt x="159486" y="204470"/>
                  </a:lnTo>
                  <a:lnTo>
                    <a:pt x="165061" y="209550"/>
                  </a:lnTo>
                  <a:lnTo>
                    <a:pt x="167970" y="212090"/>
                  </a:lnTo>
                  <a:lnTo>
                    <a:pt x="173609" y="217170"/>
                  </a:lnTo>
                  <a:lnTo>
                    <a:pt x="188633" y="200660"/>
                  </a:lnTo>
                  <a:close/>
                </a:path>
                <a:path w="712469" h="302894">
                  <a:moveTo>
                    <a:pt x="228257" y="173990"/>
                  </a:moveTo>
                  <a:lnTo>
                    <a:pt x="227977" y="171450"/>
                  </a:lnTo>
                  <a:lnTo>
                    <a:pt x="227901" y="168910"/>
                  </a:lnTo>
                  <a:lnTo>
                    <a:pt x="226618" y="163830"/>
                  </a:lnTo>
                  <a:lnTo>
                    <a:pt x="225475" y="161290"/>
                  </a:lnTo>
                  <a:lnTo>
                    <a:pt x="224370" y="158750"/>
                  </a:lnTo>
                  <a:lnTo>
                    <a:pt x="222973" y="156210"/>
                  </a:lnTo>
                  <a:lnTo>
                    <a:pt x="221424" y="154940"/>
                  </a:lnTo>
                  <a:lnTo>
                    <a:pt x="219583" y="152400"/>
                  </a:lnTo>
                  <a:lnTo>
                    <a:pt x="215303" y="148590"/>
                  </a:lnTo>
                  <a:lnTo>
                    <a:pt x="213004" y="146050"/>
                  </a:lnTo>
                  <a:lnTo>
                    <a:pt x="205638" y="142240"/>
                  </a:lnTo>
                  <a:lnTo>
                    <a:pt x="203365" y="142240"/>
                  </a:lnTo>
                  <a:lnTo>
                    <a:pt x="200837" y="140970"/>
                  </a:lnTo>
                  <a:lnTo>
                    <a:pt x="189306" y="140970"/>
                  </a:lnTo>
                  <a:lnTo>
                    <a:pt x="187223" y="142240"/>
                  </a:lnTo>
                  <a:lnTo>
                    <a:pt x="185483" y="143510"/>
                  </a:lnTo>
                  <a:lnTo>
                    <a:pt x="183642" y="143510"/>
                  </a:lnTo>
                  <a:lnTo>
                    <a:pt x="182029" y="146050"/>
                  </a:lnTo>
                  <a:lnTo>
                    <a:pt x="180619" y="147320"/>
                  </a:lnTo>
                  <a:lnTo>
                    <a:pt x="179527" y="149860"/>
                  </a:lnTo>
                  <a:lnTo>
                    <a:pt x="178549" y="151130"/>
                  </a:lnTo>
                  <a:lnTo>
                    <a:pt x="177812" y="153670"/>
                  </a:lnTo>
                  <a:lnTo>
                    <a:pt x="177736" y="162560"/>
                  </a:lnTo>
                  <a:lnTo>
                    <a:pt x="178257" y="165100"/>
                  </a:lnTo>
                  <a:lnTo>
                    <a:pt x="179158" y="167640"/>
                  </a:lnTo>
                  <a:lnTo>
                    <a:pt x="179920" y="168910"/>
                  </a:lnTo>
                  <a:lnTo>
                    <a:pt x="181076" y="171450"/>
                  </a:lnTo>
                  <a:lnTo>
                    <a:pt x="182524" y="173990"/>
                  </a:lnTo>
                  <a:lnTo>
                    <a:pt x="184365" y="176530"/>
                  </a:lnTo>
                  <a:lnTo>
                    <a:pt x="186055" y="179070"/>
                  </a:lnTo>
                  <a:lnTo>
                    <a:pt x="187960" y="180340"/>
                  </a:lnTo>
                  <a:lnTo>
                    <a:pt x="190334" y="182880"/>
                  </a:lnTo>
                  <a:lnTo>
                    <a:pt x="192786" y="184150"/>
                  </a:lnTo>
                  <a:lnTo>
                    <a:pt x="194945" y="185420"/>
                  </a:lnTo>
                  <a:lnTo>
                    <a:pt x="197345" y="187960"/>
                  </a:lnTo>
                  <a:lnTo>
                    <a:pt x="199758" y="187960"/>
                  </a:lnTo>
                  <a:lnTo>
                    <a:pt x="202425" y="189230"/>
                  </a:lnTo>
                  <a:lnTo>
                    <a:pt x="207137" y="190500"/>
                  </a:lnTo>
                  <a:lnTo>
                    <a:pt x="214033" y="190500"/>
                  </a:lnTo>
                  <a:lnTo>
                    <a:pt x="216052" y="189230"/>
                  </a:lnTo>
                  <a:lnTo>
                    <a:pt x="218224" y="189230"/>
                  </a:lnTo>
                  <a:lnTo>
                    <a:pt x="220065" y="187960"/>
                  </a:lnTo>
                  <a:lnTo>
                    <a:pt x="221996" y="186690"/>
                  </a:lnTo>
                  <a:lnTo>
                    <a:pt x="225031" y="184150"/>
                  </a:lnTo>
                  <a:lnTo>
                    <a:pt x="226009" y="181610"/>
                  </a:lnTo>
                  <a:lnTo>
                    <a:pt x="226885" y="180340"/>
                  </a:lnTo>
                  <a:lnTo>
                    <a:pt x="227545" y="177800"/>
                  </a:lnTo>
                  <a:lnTo>
                    <a:pt x="227939" y="175260"/>
                  </a:lnTo>
                  <a:lnTo>
                    <a:pt x="228257" y="173990"/>
                  </a:lnTo>
                  <a:close/>
                </a:path>
                <a:path w="712469" h="302894">
                  <a:moveTo>
                    <a:pt x="531063" y="165531"/>
                  </a:moveTo>
                  <a:lnTo>
                    <a:pt x="526694" y="149021"/>
                  </a:lnTo>
                  <a:lnTo>
                    <a:pt x="525056" y="146481"/>
                  </a:lnTo>
                  <a:lnTo>
                    <a:pt x="523176" y="146481"/>
                  </a:lnTo>
                  <a:lnTo>
                    <a:pt x="521411" y="145211"/>
                  </a:lnTo>
                  <a:lnTo>
                    <a:pt x="519290" y="143941"/>
                  </a:lnTo>
                  <a:lnTo>
                    <a:pt x="512318" y="143941"/>
                  </a:lnTo>
                  <a:lnTo>
                    <a:pt x="509930" y="142671"/>
                  </a:lnTo>
                  <a:lnTo>
                    <a:pt x="507555" y="143941"/>
                  </a:lnTo>
                  <a:lnTo>
                    <a:pt x="504990" y="143941"/>
                  </a:lnTo>
                  <a:lnTo>
                    <a:pt x="502678" y="145211"/>
                  </a:lnTo>
                  <a:lnTo>
                    <a:pt x="495185" y="149021"/>
                  </a:lnTo>
                  <a:lnTo>
                    <a:pt x="492836" y="151561"/>
                  </a:lnTo>
                  <a:lnTo>
                    <a:pt x="488492" y="155371"/>
                  </a:lnTo>
                  <a:lnTo>
                    <a:pt x="486613" y="157911"/>
                  </a:lnTo>
                  <a:lnTo>
                    <a:pt x="485038" y="159181"/>
                  </a:lnTo>
                  <a:lnTo>
                    <a:pt x="483616" y="161721"/>
                  </a:lnTo>
                  <a:lnTo>
                    <a:pt x="482498" y="164261"/>
                  </a:lnTo>
                  <a:lnTo>
                    <a:pt x="481330" y="166801"/>
                  </a:lnTo>
                  <a:lnTo>
                    <a:pt x="480695" y="169341"/>
                  </a:lnTo>
                  <a:lnTo>
                    <a:pt x="480021" y="171881"/>
                  </a:lnTo>
                  <a:lnTo>
                    <a:pt x="479945" y="174421"/>
                  </a:lnTo>
                  <a:lnTo>
                    <a:pt x="479666" y="176961"/>
                  </a:lnTo>
                  <a:lnTo>
                    <a:pt x="479983" y="179501"/>
                  </a:lnTo>
                  <a:lnTo>
                    <a:pt x="480377" y="180771"/>
                  </a:lnTo>
                  <a:lnTo>
                    <a:pt x="481050" y="183311"/>
                  </a:lnTo>
                  <a:lnTo>
                    <a:pt x="481952" y="184581"/>
                  </a:lnTo>
                  <a:lnTo>
                    <a:pt x="482955" y="187121"/>
                  </a:lnTo>
                  <a:lnTo>
                    <a:pt x="486029" y="190931"/>
                  </a:lnTo>
                  <a:lnTo>
                    <a:pt x="487997" y="190931"/>
                  </a:lnTo>
                  <a:lnTo>
                    <a:pt x="489877" y="192201"/>
                  </a:lnTo>
                  <a:lnTo>
                    <a:pt x="492074" y="193471"/>
                  </a:lnTo>
                  <a:lnTo>
                    <a:pt x="494144" y="193471"/>
                  </a:lnTo>
                  <a:lnTo>
                    <a:pt x="496277" y="194741"/>
                  </a:lnTo>
                  <a:lnTo>
                    <a:pt x="498817" y="194741"/>
                  </a:lnTo>
                  <a:lnTo>
                    <a:pt x="501154" y="193471"/>
                  </a:lnTo>
                  <a:lnTo>
                    <a:pt x="505942" y="193471"/>
                  </a:lnTo>
                  <a:lnTo>
                    <a:pt x="508660" y="192201"/>
                  </a:lnTo>
                  <a:lnTo>
                    <a:pt x="513562" y="189661"/>
                  </a:lnTo>
                  <a:lnTo>
                    <a:pt x="515747" y="188391"/>
                  </a:lnTo>
                  <a:lnTo>
                    <a:pt x="518236" y="185851"/>
                  </a:lnTo>
                  <a:lnTo>
                    <a:pt x="520661" y="184581"/>
                  </a:lnTo>
                  <a:lnTo>
                    <a:pt x="522592" y="182041"/>
                  </a:lnTo>
                  <a:lnTo>
                    <a:pt x="526186" y="176961"/>
                  </a:lnTo>
                  <a:lnTo>
                    <a:pt x="527659" y="175691"/>
                  </a:lnTo>
                  <a:lnTo>
                    <a:pt x="528840" y="173151"/>
                  </a:lnTo>
                  <a:lnTo>
                    <a:pt x="529615" y="170611"/>
                  </a:lnTo>
                  <a:lnTo>
                    <a:pt x="530529" y="168071"/>
                  </a:lnTo>
                  <a:lnTo>
                    <a:pt x="531063" y="165531"/>
                  </a:lnTo>
                  <a:close/>
                </a:path>
                <a:path w="712469" h="302894">
                  <a:moveTo>
                    <a:pt x="576719" y="146481"/>
                  </a:moveTo>
                  <a:lnTo>
                    <a:pt x="576427" y="143941"/>
                  </a:lnTo>
                  <a:lnTo>
                    <a:pt x="576326" y="142671"/>
                  </a:lnTo>
                  <a:lnTo>
                    <a:pt x="576211" y="141401"/>
                  </a:lnTo>
                  <a:lnTo>
                    <a:pt x="567385" y="118541"/>
                  </a:lnTo>
                  <a:lnTo>
                    <a:pt x="565772" y="116001"/>
                  </a:lnTo>
                  <a:lnTo>
                    <a:pt x="563714" y="113461"/>
                  </a:lnTo>
                  <a:lnTo>
                    <a:pt x="561771" y="110921"/>
                  </a:lnTo>
                  <a:lnTo>
                    <a:pt x="559523" y="109651"/>
                  </a:lnTo>
                  <a:lnTo>
                    <a:pt x="554964" y="105841"/>
                  </a:lnTo>
                  <a:lnTo>
                    <a:pt x="533476" y="127431"/>
                  </a:lnTo>
                  <a:lnTo>
                    <a:pt x="535901" y="128701"/>
                  </a:lnTo>
                  <a:lnTo>
                    <a:pt x="538187" y="129971"/>
                  </a:lnTo>
                  <a:lnTo>
                    <a:pt x="540575" y="131241"/>
                  </a:lnTo>
                  <a:lnTo>
                    <a:pt x="542518" y="133781"/>
                  </a:lnTo>
                  <a:lnTo>
                    <a:pt x="545045" y="136321"/>
                  </a:lnTo>
                  <a:lnTo>
                    <a:pt x="546773" y="140131"/>
                  </a:lnTo>
                  <a:lnTo>
                    <a:pt x="548614" y="142671"/>
                  </a:lnTo>
                  <a:lnTo>
                    <a:pt x="549668" y="146481"/>
                  </a:lnTo>
                  <a:lnTo>
                    <a:pt x="550583" y="150291"/>
                  </a:lnTo>
                  <a:lnTo>
                    <a:pt x="550621" y="159181"/>
                  </a:lnTo>
                  <a:lnTo>
                    <a:pt x="549897" y="162991"/>
                  </a:lnTo>
                  <a:lnTo>
                    <a:pt x="549275" y="166801"/>
                  </a:lnTo>
                  <a:lnTo>
                    <a:pt x="547801" y="171881"/>
                  </a:lnTo>
                  <a:lnTo>
                    <a:pt x="546227" y="175691"/>
                  </a:lnTo>
                  <a:lnTo>
                    <a:pt x="543915" y="179501"/>
                  </a:lnTo>
                  <a:lnTo>
                    <a:pt x="541362" y="184581"/>
                  </a:lnTo>
                  <a:lnTo>
                    <a:pt x="525919" y="201091"/>
                  </a:lnTo>
                  <a:lnTo>
                    <a:pt x="522960" y="203631"/>
                  </a:lnTo>
                  <a:lnTo>
                    <a:pt x="519976" y="204901"/>
                  </a:lnTo>
                  <a:lnTo>
                    <a:pt x="535254" y="221411"/>
                  </a:lnTo>
                  <a:lnTo>
                    <a:pt x="540994" y="216331"/>
                  </a:lnTo>
                  <a:lnTo>
                    <a:pt x="543966" y="213791"/>
                  </a:lnTo>
                  <a:lnTo>
                    <a:pt x="549630" y="208711"/>
                  </a:lnTo>
                  <a:lnTo>
                    <a:pt x="552221" y="206171"/>
                  </a:lnTo>
                  <a:lnTo>
                    <a:pt x="555028" y="202361"/>
                  </a:lnTo>
                  <a:lnTo>
                    <a:pt x="557415" y="199821"/>
                  </a:lnTo>
                  <a:lnTo>
                    <a:pt x="559765" y="196011"/>
                  </a:lnTo>
                  <a:lnTo>
                    <a:pt x="561898" y="193471"/>
                  </a:lnTo>
                  <a:lnTo>
                    <a:pt x="563905" y="189661"/>
                  </a:lnTo>
                  <a:lnTo>
                    <a:pt x="565937" y="187121"/>
                  </a:lnTo>
                  <a:lnTo>
                    <a:pt x="567690" y="183311"/>
                  </a:lnTo>
                  <a:lnTo>
                    <a:pt x="570674" y="176961"/>
                  </a:lnTo>
                  <a:lnTo>
                    <a:pt x="572122" y="173151"/>
                  </a:lnTo>
                  <a:lnTo>
                    <a:pt x="573316" y="169341"/>
                  </a:lnTo>
                  <a:lnTo>
                    <a:pt x="574967" y="162991"/>
                  </a:lnTo>
                  <a:lnTo>
                    <a:pt x="575665" y="160451"/>
                  </a:lnTo>
                  <a:lnTo>
                    <a:pt x="576110" y="156641"/>
                  </a:lnTo>
                  <a:lnTo>
                    <a:pt x="576237" y="155371"/>
                  </a:lnTo>
                  <a:lnTo>
                    <a:pt x="576351" y="154101"/>
                  </a:lnTo>
                  <a:lnTo>
                    <a:pt x="576465" y="152831"/>
                  </a:lnTo>
                  <a:lnTo>
                    <a:pt x="576541" y="151561"/>
                  </a:lnTo>
                  <a:lnTo>
                    <a:pt x="576656" y="149021"/>
                  </a:lnTo>
                  <a:lnTo>
                    <a:pt x="576719" y="146481"/>
                  </a:lnTo>
                  <a:close/>
                </a:path>
                <a:path w="712469" h="302894">
                  <a:moveTo>
                    <a:pt x="621626" y="127431"/>
                  </a:moveTo>
                  <a:lnTo>
                    <a:pt x="612000" y="94411"/>
                  </a:lnTo>
                  <a:lnTo>
                    <a:pt x="609587" y="89331"/>
                  </a:lnTo>
                  <a:lnTo>
                    <a:pt x="592277" y="70281"/>
                  </a:lnTo>
                  <a:lnTo>
                    <a:pt x="571080" y="90601"/>
                  </a:lnTo>
                  <a:lnTo>
                    <a:pt x="575500" y="94411"/>
                  </a:lnTo>
                  <a:lnTo>
                    <a:pt x="582066" y="100761"/>
                  </a:lnTo>
                  <a:lnTo>
                    <a:pt x="584441" y="104571"/>
                  </a:lnTo>
                  <a:lnTo>
                    <a:pt x="586320" y="107111"/>
                  </a:lnTo>
                  <a:lnTo>
                    <a:pt x="588403" y="110921"/>
                  </a:lnTo>
                  <a:lnTo>
                    <a:pt x="590105" y="114731"/>
                  </a:lnTo>
                  <a:lnTo>
                    <a:pt x="591693" y="117271"/>
                  </a:lnTo>
                  <a:lnTo>
                    <a:pt x="592747" y="121081"/>
                  </a:lnTo>
                  <a:lnTo>
                    <a:pt x="593940" y="124891"/>
                  </a:lnTo>
                  <a:lnTo>
                    <a:pt x="594855" y="128701"/>
                  </a:lnTo>
                  <a:lnTo>
                    <a:pt x="595363" y="132511"/>
                  </a:lnTo>
                  <a:lnTo>
                    <a:pt x="595591" y="136321"/>
                  </a:lnTo>
                  <a:lnTo>
                    <a:pt x="595668" y="137591"/>
                  </a:lnTo>
                  <a:lnTo>
                    <a:pt x="595744" y="138861"/>
                  </a:lnTo>
                  <a:lnTo>
                    <a:pt x="595845" y="146481"/>
                  </a:lnTo>
                  <a:lnTo>
                    <a:pt x="595693" y="149021"/>
                  </a:lnTo>
                  <a:lnTo>
                    <a:pt x="595591" y="150291"/>
                  </a:lnTo>
                  <a:lnTo>
                    <a:pt x="595477" y="151561"/>
                  </a:lnTo>
                  <a:lnTo>
                    <a:pt x="595363" y="152831"/>
                  </a:lnTo>
                  <a:lnTo>
                    <a:pt x="593864" y="161721"/>
                  </a:lnTo>
                  <a:lnTo>
                    <a:pt x="592747" y="165531"/>
                  </a:lnTo>
                  <a:lnTo>
                    <a:pt x="591578" y="170611"/>
                  </a:lnTo>
                  <a:lnTo>
                    <a:pt x="589965" y="174421"/>
                  </a:lnTo>
                  <a:lnTo>
                    <a:pt x="588391" y="178231"/>
                  </a:lnTo>
                  <a:lnTo>
                    <a:pt x="586676" y="183311"/>
                  </a:lnTo>
                  <a:lnTo>
                    <a:pt x="584720" y="187121"/>
                  </a:lnTo>
                  <a:lnTo>
                    <a:pt x="582396" y="192201"/>
                  </a:lnTo>
                  <a:lnTo>
                    <a:pt x="579983" y="196011"/>
                  </a:lnTo>
                  <a:lnTo>
                    <a:pt x="577469" y="199821"/>
                  </a:lnTo>
                  <a:lnTo>
                    <a:pt x="574459" y="203631"/>
                  </a:lnTo>
                  <a:lnTo>
                    <a:pt x="571588" y="207441"/>
                  </a:lnTo>
                  <a:lnTo>
                    <a:pt x="568223" y="212521"/>
                  </a:lnTo>
                  <a:lnTo>
                    <a:pt x="564997" y="216331"/>
                  </a:lnTo>
                  <a:lnTo>
                    <a:pt x="561428" y="220141"/>
                  </a:lnTo>
                  <a:lnTo>
                    <a:pt x="552284" y="227761"/>
                  </a:lnTo>
                  <a:lnTo>
                    <a:pt x="546646" y="232841"/>
                  </a:lnTo>
                  <a:lnTo>
                    <a:pt x="561517" y="248081"/>
                  </a:lnTo>
                  <a:lnTo>
                    <a:pt x="567156" y="244271"/>
                  </a:lnTo>
                  <a:lnTo>
                    <a:pt x="577469" y="234111"/>
                  </a:lnTo>
                  <a:lnTo>
                    <a:pt x="582053" y="229031"/>
                  </a:lnTo>
                  <a:lnTo>
                    <a:pt x="586333" y="223951"/>
                  </a:lnTo>
                  <a:lnTo>
                    <a:pt x="590359" y="218871"/>
                  </a:lnTo>
                  <a:lnTo>
                    <a:pt x="594144" y="213791"/>
                  </a:lnTo>
                  <a:lnTo>
                    <a:pt x="597966" y="208711"/>
                  </a:lnTo>
                  <a:lnTo>
                    <a:pt x="601294" y="203631"/>
                  </a:lnTo>
                  <a:lnTo>
                    <a:pt x="604278" y="198551"/>
                  </a:lnTo>
                  <a:lnTo>
                    <a:pt x="607161" y="192201"/>
                  </a:lnTo>
                  <a:lnTo>
                    <a:pt x="609930" y="187121"/>
                  </a:lnTo>
                  <a:lnTo>
                    <a:pt x="612203" y="182041"/>
                  </a:lnTo>
                  <a:lnTo>
                    <a:pt x="616064" y="170611"/>
                  </a:lnTo>
                  <a:lnTo>
                    <a:pt x="617740" y="165531"/>
                  </a:lnTo>
                  <a:lnTo>
                    <a:pt x="618972" y="159181"/>
                  </a:lnTo>
                  <a:lnTo>
                    <a:pt x="620014" y="154101"/>
                  </a:lnTo>
                  <a:lnTo>
                    <a:pt x="620801" y="149021"/>
                  </a:lnTo>
                  <a:lnTo>
                    <a:pt x="621538" y="143941"/>
                  </a:lnTo>
                  <a:lnTo>
                    <a:pt x="621626" y="127431"/>
                  </a:lnTo>
                  <a:close/>
                </a:path>
                <a:path w="712469" h="302894">
                  <a:moveTo>
                    <a:pt x="666508" y="133781"/>
                  </a:moveTo>
                  <a:lnTo>
                    <a:pt x="666419" y="112191"/>
                  </a:lnTo>
                  <a:lnTo>
                    <a:pt x="666343" y="110921"/>
                  </a:lnTo>
                  <a:lnTo>
                    <a:pt x="666267" y="109651"/>
                  </a:lnTo>
                  <a:lnTo>
                    <a:pt x="666191" y="108381"/>
                  </a:lnTo>
                  <a:lnTo>
                    <a:pt x="666115" y="107111"/>
                  </a:lnTo>
                  <a:lnTo>
                    <a:pt x="666038" y="105841"/>
                  </a:lnTo>
                  <a:lnTo>
                    <a:pt x="665962" y="104571"/>
                  </a:lnTo>
                  <a:lnTo>
                    <a:pt x="663232" y="90601"/>
                  </a:lnTo>
                  <a:lnTo>
                    <a:pt x="646176" y="53771"/>
                  </a:lnTo>
                  <a:lnTo>
                    <a:pt x="642048" y="47421"/>
                  </a:lnTo>
                  <a:lnTo>
                    <a:pt x="637463" y="42341"/>
                  </a:lnTo>
                  <a:lnTo>
                    <a:pt x="633425" y="38531"/>
                  </a:lnTo>
                  <a:lnTo>
                    <a:pt x="629297" y="35991"/>
                  </a:lnTo>
                  <a:lnTo>
                    <a:pt x="608101" y="56311"/>
                  </a:lnTo>
                  <a:lnTo>
                    <a:pt x="612228" y="58851"/>
                  </a:lnTo>
                  <a:lnTo>
                    <a:pt x="616419" y="62661"/>
                  </a:lnTo>
                  <a:lnTo>
                    <a:pt x="620128" y="67741"/>
                  </a:lnTo>
                  <a:lnTo>
                    <a:pt x="623697" y="71551"/>
                  </a:lnTo>
                  <a:lnTo>
                    <a:pt x="626910" y="76631"/>
                  </a:lnTo>
                  <a:lnTo>
                    <a:pt x="640295" y="114731"/>
                  </a:lnTo>
                  <a:lnTo>
                    <a:pt x="640956" y="133781"/>
                  </a:lnTo>
                  <a:lnTo>
                    <a:pt x="640816" y="136321"/>
                  </a:lnTo>
                  <a:lnTo>
                    <a:pt x="640740" y="137591"/>
                  </a:lnTo>
                  <a:lnTo>
                    <a:pt x="640664" y="138861"/>
                  </a:lnTo>
                  <a:lnTo>
                    <a:pt x="639191" y="151561"/>
                  </a:lnTo>
                  <a:lnTo>
                    <a:pt x="637730" y="157911"/>
                  </a:lnTo>
                  <a:lnTo>
                    <a:pt x="636384" y="164261"/>
                  </a:lnTo>
                  <a:lnTo>
                    <a:pt x="632333" y="178231"/>
                  </a:lnTo>
                  <a:lnTo>
                    <a:pt x="627227" y="190931"/>
                  </a:lnTo>
                  <a:lnTo>
                    <a:pt x="624179" y="197281"/>
                  </a:lnTo>
                  <a:lnTo>
                    <a:pt x="620674" y="202361"/>
                  </a:lnTo>
                  <a:lnTo>
                    <a:pt x="617283" y="208711"/>
                  </a:lnTo>
                  <a:lnTo>
                    <a:pt x="594728" y="239191"/>
                  </a:lnTo>
                  <a:lnTo>
                    <a:pt x="583958" y="250621"/>
                  </a:lnTo>
                  <a:lnTo>
                    <a:pt x="572808" y="260781"/>
                  </a:lnTo>
                  <a:lnTo>
                    <a:pt x="587679" y="276021"/>
                  </a:lnTo>
                  <a:lnTo>
                    <a:pt x="593217" y="270941"/>
                  </a:lnTo>
                  <a:lnTo>
                    <a:pt x="598843" y="265861"/>
                  </a:lnTo>
                  <a:lnTo>
                    <a:pt x="605409" y="259511"/>
                  </a:lnTo>
                  <a:lnTo>
                    <a:pt x="611682" y="253161"/>
                  </a:lnTo>
                  <a:lnTo>
                    <a:pt x="617740" y="245541"/>
                  </a:lnTo>
                  <a:lnTo>
                    <a:pt x="623557" y="239191"/>
                  </a:lnTo>
                  <a:lnTo>
                    <a:pt x="628777" y="231571"/>
                  </a:lnTo>
                  <a:lnTo>
                    <a:pt x="633691" y="223951"/>
                  </a:lnTo>
                  <a:lnTo>
                    <a:pt x="638251" y="216331"/>
                  </a:lnTo>
                  <a:lnTo>
                    <a:pt x="642696" y="209981"/>
                  </a:lnTo>
                  <a:lnTo>
                    <a:pt x="646760" y="202361"/>
                  </a:lnTo>
                  <a:lnTo>
                    <a:pt x="650379" y="194741"/>
                  </a:lnTo>
                  <a:lnTo>
                    <a:pt x="653389" y="187121"/>
                  </a:lnTo>
                  <a:lnTo>
                    <a:pt x="656539" y="179501"/>
                  </a:lnTo>
                  <a:lnTo>
                    <a:pt x="665683" y="141401"/>
                  </a:lnTo>
                  <a:lnTo>
                    <a:pt x="666508" y="133781"/>
                  </a:lnTo>
                  <a:close/>
                </a:path>
                <a:path w="712469" h="302894">
                  <a:moveTo>
                    <a:pt x="712063" y="103301"/>
                  </a:moveTo>
                  <a:lnTo>
                    <a:pt x="711733" y="98221"/>
                  </a:lnTo>
                  <a:lnTo>
                    <a:pt x="711657" y="96951"/>
                  </a:lnTo>
                  <a:lnTo>
                    <a:pt x="711568" y="95681"/>
                  </a:lnTo>
                  <a:lnTo>
                    <a:pt x="702094" y="52501"/>
                  </a:lnTo>
                  <a:lnTo>
                    <a:pt x="698766" y="43611"/>
                  </a:lnTo>
                  <a:lnTo>
                    <a:pt x="674344" y="8051"/>
                  </a:lnTo>
                  <a:lnTo>
                    <a:pt x="666318" y="431"/>
                  </a:lnTo>
                  <a:lnTo>
                    <a:pt x="645121" y="20751"/>
                  </a:lnTo>
                  <a:lnTo>
                    <a:pt x="649249" y="23291"/>
                  </a:lnTo>
                  <a:lnTo>
                    <a:pt x="653148" y="28371"/>
                  </a:lnTo>
                  <a:lnTo>
                    <a:pt x="677748" y="66471"/>
                  </a:lnTo>
                  <a:lnTo>
                    <a:pt x="679843" y="74091"/>
                  </a:lnTo>
                  <a:lnTo>
                    <a:pt x="682205" y="81711"/>
                  </a:lnTo>
                  <a:lnTo>
                    <a:pt x="684022" y="89331"/>
                  </a:lnTo>
                  <a:lnTo>
                    <a:pt x="685088" y="96951"/>
                  </a:lnTo>
                  <a:lnTo>
                    <a:pt x="685876" y="104571"/>
                  </a:lnTo>
                  <a:lnTo>
                    <a:pt x="685850" y="127431"/>
                  </a:lnTo>
                  <a:lnTo>
                    <a:pt x="685139" y="136321"/>
                  </a:lnTo>
                  <a:lnTo>
                    <a:pt x="685038" y="137591"/>
                  </a:lnTo>
                  <a:lnTo>
                    <a:pt x="683933" y="146481"/>
                  </a:lnTo>
                  <a:lnTo>
                    <a:pt x="682091" y="155371"/>
                  </a:lnTo>
                  <a:lnTo>
                    <a:pt x="679869" y="162991"/>
                  </a:lnTo>
                  <a:lnTo>
                    <a:pt x="677570" y="171881"/>
                  </a:lnTo>
                  <a:lnTo>
                    <a:pt x="659015" y="215061"/>
                  </a:lnTo>
                  <a:lnTo>
                    <a:pt x="654189" y="222681"/>
                  </a:lnTo>
                  <a:lnTo>
                    <a:pt x="649249" y="231571"/>
                  </a:lnTo>
                  <a:lnTo>
                    <a:pt x="643470" y="239191"/>
                  </a:lnTo>
                  <a:lnTo>
                    <a:pt x="637489" y="246811"/>
                  </a:lnTo>
                  <a:lnTo>
                    <a:pt x="631151" y="255701"/>
                  </a:lnTo>
                  <a:lnTo>
                    <a:pt x="624459" y="263321"/>
                  </a:lnTo>
                  <a:lnTo>
                    <a:pt x="617220" y="270941"/>
                  </a:lnTo>
                  <a:lnTo>
                    <a:pt x="609917" y="277291"/>
                  </a:lnTo>
                  <a:lnTo>
                    <a:pt x="604405" y="282371"/>
                  </a:lnTo>
                  <a:lnTo>
                    <a:pt x="598970" y="287451"/>
                  </a:lnTo>
                  <a:lnTo>
                    <a:pt x="613841" y="302691"/>
                  </a:lnTo>
                  <a:lnTo>
                    <a:pt x="619379" y="298881"/>
                  </a:lnTo>
                  <a:lnTo>
                    <a:pt x="648970" y="267131"/>
                  </a:lnTo>
                  <a:lnTo>
                    <a:pt x="675538" y="230301"/>
                  </a:lnTo>
                  <a:lnTo>
                    <a:pt x="681189" y="221411"/>
                  </a:lnTo>
                  <a:lnTo>
                    <a:pt x="685977" y="211251"/>
                  </a:lnTo>
                  <a:lnTo>
                    <a:pt x="690816" y="201091"/>
                  </a:lnTo>
                  <a:lnTo>
                    <a:pt x="694956" y="192201"/>
                  </a:lnTo>
                  <a:lnTo>
                    <a:pt x="698563" y="182041"/>
                  </a:lnTo>
                  <a:lnTo>
                    <a:pt x="701954" y="171881"/>
                  </a:lnTo>
                  <a:lnTo>
                    <a:pt x="705002" y="162991"/>
                  </a:lnTo>
                  <a:lnTo>
                    <a:pt x="707402" y="152831"/>
                  </a:lnTo>
                  <a:lnTo>
                    <a:pt x="710768" y="133781"/>
                  </a:lnTo>
                  <a:lnTo>
                    <a:pt x="710882" y="132511"/>
                  </a:lnTo>
                  <a:lnTo>
                    <a:pt x="710996" y="131241"/>
                  </a:lnTo>
                  <a:lnTo>
                    <a:pt x="711682" y="123621"/>
                  </a:lnTo>
                  <a:lnTo>
                    <a:pt x="711784" y="121081"/>
                  </a:lnTo>
                  <a:lnTo>
                    <a:pt x="711873" y="118541"/>
                  </a:lnTo>
                  <a:lnTo>
                    <a:pt x="711962" y="116001"/>
                  </a:lnTo>
                  <a:lnTo>
                    <a:pt x="712063" y="103301"/>
                  </a:lnTo>
                  <a:close/>
                </a:path>
              </a:pathLst>
            </a:custGeom>
            <a:solidFill>
              <a:srgbClr val="92D050"/>
            </a:solidFill>
          </p:spPr>
          <p:txBody>
            <a:bodyPr wrap="square" lIns="0" tIns="0" rIns="0" bIns="0" rtlCol="0"/>
            <a:lstStyle/>
            <a:p/>
          </p:txBody>
        </p:sp>
      </p:grpSp>
      <p:sp>
        <p:nvSpPr>
          <p:cNvPr id="103" name="object 103" descr=""/>
          <p:cNvSpPr txBox="1"/>
          <p:nvPr/>
        </p:nvSpPr>
        <p:spPr>
          <a:xfrm>
            <a:off x="1470400" y="4519292"/>
            <a:ext cx="329565" cy="162560"/>
          </a:xfrm>
          <a:prstGeom prst="rect">
            <a:avLst/>
          </a:prstGeom>
        </p:spPr>
        <p:txBody>
          <a:bodyPr wrap="square" lIns="0" tIns="12700" rIns="0" bIns="0" rtlCol="0" vert="horz">
            <a:spAutoFit/>
          </a:bodyPr>
          <a:lstStyle/>
          <a:p>
            <a:pPr marL="12700">
              <a:lnSpc>
                <a:spcPct val="100000"/>
              </a:lnSpc>
              <a:spcBef>
                <a:spcPts val="100"/>
              </a:spcBef>
            </a:pPr>
            <a:r>
              <a:rPr dirty="0" sz="900" spc="-20">
                <a:solidFill>
                  <a:srgbClr val="FFFFFF"/>
                </a:solidFill>
                <a:latin typeface="Microsoft YaHei"/>
                <a:cs typeface="Microsoft YaHei"/>
              </a:rPr>
              <a:t>10km</a:t>
            </a:r>
            <a:endParaRPr sz="900">
              <a:latin typeface="Microsoft YaHei"/>
              <a:cs typeface="Microsoft YaHei"/>
            </a:endParaRPr>
          </a:p>
        </p:txBody>
      </p:sp>
      <p:sp>
        <p:nvSpPr>
          <p:cNvPr id="104" name="object 104" descr=""/>
          <p:cNvSpPr txBox="1"/>
          <p:nvPr/>
        </p:nvSpPr>
        <p:spPr>
          <a:xfrm>
            <a:off x="2325212" y="1227836"/>
            <a:ext cx="1318260" cy="692150"/>
          </a:xfrm>
          <a:prstGeom prst="rect">
            <a:avLst/>
          </a:prstGeom>
        </p:spPr>
        <p:txBody>
          <a:bodyPr wrap="square" lIns="0" tIns="12700" rIns="0" bIns="0" rtlCol="0" vert="horz">
            <a:spAutoFit/>
          </a:bodyPr>
          <a:lstStyle/>
          <a:p>
            <a:pPr algn="ctr" marR="27940">
              <a:lnSpc>
                <a:spcPct val="100000"/>
              </a:lnSpc>
              <a:spcBef>
                <a:spcPts val="100"/>
              </a:spcBef>
            </a:pPr>
            <a:r>
              <a:rPr dirty="0" sz="1000" spc="-10">
                <a:solidFill>
                  <a:srgbClr val="FFFFFF"/>
                </a:solidFill>
                <a:latin typeface="Microsoft YaHei"/>
                <a:cs typeface="Microsoft YaHei"/>
              </a:rPr>
              <a:t>基础覆盖层</a:t>
            </a:r>
            <a:endParaRPr sz="1000">
              <a:latin typeface="Microsoft YaHei"/>
              <a:cs typeface="Microsoft YaHei"/>
            </a:endParaRPr>
          </a:p>
          <a:p>
            <a:pPr algn="ctr" marR="27940">
              <a:lnSpc>
                <a:spcPct val="100000"/>
              </a:lnSpc>
            </a:pPr>
            <a:r>
              <a:rPr dirty="0" sz="1000" spc="-10">
                <a:solidFill>
                  <a:srgbClr val="FFFFFF"/>
                </a:solidFill>
                <a:latin typeface="Microsoft YaHei"/>
                <a:cs typeface="Microsoft YaHei"/>
              </a:rPr>
              <a:t>&gt;95</a:t>
            </a:r>
            <a:r>
              <a:rPr dirty="0" sz="1000" spc="-15">
                <a:solidFill>
                  <a:srgbClr val="FFFFFF"/>
                </a:solidFill>
                <a:latin typeface="Microsoft YaHei"/>
                <a:cs typeface="Microsoft YaHei"/>
              </a:rPr>
              <a:t>%人口覆盖</a:t>
            </a:r>
            <a:endParaRPr sz="1000">
              <a:latin typeface="Microsoft YaHei"/>
              <a:cs typeface="Microsoft YaHei"/>
            </a:endParaRPr>
          </a:p>
          <a:p>
            <a:pPr algn="ctr">
              <a:lnSpc>
                <a:spcPct val="100000"/>
              </a:lnSpc>
              <a:spcBef>
                <a:spcPts val="1165"/>
              </a:spcBef>
            </a:pPr>
            <a:r>
              <a:rPr dirty="0" sz="1400" spc="-20" b="1">
                <a:solidFill>
                  <a:srgbClr val="FFFFFF"/>
                </a:solidFill>
                <a:latin typeface="Microsoft YaHei"/>
                <a:cs typeface="Microsoft YaHei"/>
              </a:rPr>
              <a:t>宏站：绿地</a:t>
            </a:r>
            <a:r>
              <a:rPr dirty="0" sz="1400" b="1">
                <a:solidFill>
                  <a:srgbClr val="FFFFFF"/>
                </a:solidFill>
                <a:latin typeface="Arial"/>
                <a:cs typeface="Arial"/>
              </a:rPr>
              <a:t>/</a:t>
            </a:r>
            <a:r>
              <a:rPr dirty="0" sz="1400" spc="-35" b="1">
                <a:solidFill>
                  <a:srgbClr val="FFFFFF"/>
                </a:solidFill>
                <a:latin typeface="Microsoft YaHei"/>
                <a:cs typeface="Microsoft YaHei"/>
              </a:rPr>
              <a:t>屋顶</a:t>
            </a:r>
            <a:endParaRPr sz="1400">
              <a:latin typeface="Microsoft YaHei"/>
              <a:cs typeface="Microsoft YaHei"/>
            </a:endParaRPr>
          </a:p>
        </p:txBody>
      </p:sp>
      <p:sp>
        <p:nvSpPr>
          <p:cNvPr id="105" name="object 105" descr=""/>
          <p:cNvSpPr txBox="1"/>
          <p:nvPr/>
        </p:nvSpPr>
        <p:spPr>
          <a:xfrm>
            <a:off x="4723586" y="2386017"/>
            <a:ext cx="1722755" cy="682625"/>
          </a:xfrm>
          <a:prstGeom prst="rect">
            <a:avLst/>
          </a:prstGeom>
        </p:spPr>
        <p:txBody>
          <a:bodyPr wrap="square" lIns="0" tIns="12700" rIns="0" bIns="0" rtlCol="0" vert="horz">
            <a:spAutoFit/>
          </a:bodyPr>
          <a:lstStyle/>
          <a:p>
            <a:pPr algn="ctr" marR="758825">
              <a:lnSpc>
                <a:spcPct val="100000"/>
              </a:lnSpc>
              <a:spcBef>
                <a:spcPts val="100"/>
              </a:spcBef>
            </a:pPr>
            <a:r>
              <a:rPr dirty="0" sz="1000" spc="-10">
                <a:solidFill>
                  <a:srgbClr val="FFFFFF"/>
                </a:solidFill>
                <a:latin typeface="Microsoft YaHei"/>
                <a:cs typeface="Microsoft YaHei"/>
              </a:rPr>
              <a:t>深度覆盖层</a:t>
            </a:r>
            <a:endParaRPr sz="1000">
              <a:latin typeface="Microsoft YaHei"/>
              <a:cs typeface="Microsoft YaHei"/>
            </a:endParaRPr>
          </a:p>
          <a:p>
            <a:pPr algn="ctr" marR="756920">
              <a:lnSpc>
                <a:spcPct val="100000"/>
              </a:lnSpc>
            </a:pPr>
            <a:r>
              <a:rPr dirty="0" sz="1000" spc="-10">
                <a:solidFill>
                  <a:srgbClr val="FFFFFF"/>
                </a:solidFill>
                <a:latin typeface="Microsoft YaHei"/>
                <a:cs typeface="Microsoft YaHei"/>
              </a:rPr>
              <a:t>&gt;85</a:t>
            </a:r>
            <a:r>
              <a:rPr dirty="0" sz="1000" spc="-15">
                <a:solidFill>
                  <a:srgbClr val="FFFFFF"/>
                </a:solidFill>
                <a:latin typeface="Microsoft YaHei"/>
                <a:cs typeface="Microsoft YaHei"/>
              </a:rPr>
              <a:t>%数据连接</a:t>
            </a:r>
            <a:endParaRPr sz="1000">
              <a:latin typeface="Microsoft YaHei"/>
              <a:cs typeface="Microsoft YaHei"/>
            </a:endParaRPr>
          </a:p>
          <a:p>
            <a:pPr marL="12700">
              <a:lnSpc>
                <a:spcPct val="100000"/>
              </a:lnSpc>
              <a:spcBef>
                <a:spcPts val="1095"/>
              </a:spcBef>
            </a:pPr>
            <a:r>
              <a:rPr dirty="0" sz="1400" spc="-20" b="1">
                <a:solidFill>
                  <a:srgbClr val="FFFFFF"/>
                </a:solidFill>
                <a:latin typeface="Microsoft YaHei"/>
                <a:cs typeface="Microsoft YaHei"/>
              </a:rPr>
              <a:t>微站：杆站</a:t>
            </a:r>
            <a:r>
              <a:rPr dirty="0" sz="1400" b="1">
                <a:solidFill>
                  <a:srgbClr val="FFFFFF"/>
                </a:solidFill>
                <a:latin typeface="Arial"/>
                <a:cs typeface="Arial"/>
              </a:rPr>
              <a:t>/</a:t>
            </a:r>
            <a:r>
              <a:rPr dirty="0" sz="1400" spc="-20" b="1">
                <a:solidFill>
                  <a:srgbClr val="FFFFFF"/>
                </a:solidFill>
                <a:latin typeface="Microsoft YaHei"/>
                <a:cs typeface="Microsoft YaHei"/>
              </a:rPr>
              <a:t>挂墙</a:t>
            </a:r>
            <a:r>
              <a:rPr dirty="0" sz="1400" b="1">
                <a:solidFill>
                  <a:srgbClr val="FFFFFF"/>
                </a:solidFill>
                <a:latin typeface="Arial"/>
                <a:cs typeface="Arial"/>
              </a:rPr>
              <a:t>/</a:t>
            </a:r>
            <a:r>
              <a:rPr dirty="0" sz="1400" spc="-35" b="1">
                <a:solidFill>
                  <a:srgbClr val="FFFFFF"/>
                </a:solidFill>
                <a:latin typeface="Microsoft YaHei"/>
                <a:cs typeface="Microsoft YaHei"/>
              </a:rPr>
              <a:t>地面</a:t>
            </a:r>
            <a:endParaRPr sz="1400">
              <a:latin typeface="Microsoft YaHei"/>
              <a:cs typeface="Microsoft YaHei"/>
            </a:endParaRPr>
          </a:p>
        </p:txBody>
      </p:sp>
      <p:sp>
        <p:nvSpPr>
          <p:cNvPr id="106" name="object 106" descr=""/>
          <p:cNvSpPr txBox="1"/>
          <p:nvPr/>
        </p:nvSpPr>
        <p:spPr>
          <a:xfrm>
            <a:off x="7007432" y="3042859"/>
            <a:ext cx="892175" cy="330835"/>
          </a:xfrm>
          <a:prstGeom prst="rect">
            <a:avLst/>
          </a:prstGeom>
        </p:spPr>
        <p:txBody>
          <a:bodyPr wrap="square" lIns="0" tIns="12700" rIns="0" bIns="0" rtlCol="0" vert="horz">
            <a:spAutoFit/>
          </a:bodyPr>
          <a:lstStyle/>
          <a:p>
            <a:pPr algn="ctr">
              <a:lnSpc>
                <a:spcPct val="100000"/>
              </a:lnSpc>
              <a:spcBef>
                <a:spcPts val="100"/>
              </a:spcBef>
            </a:pPr>
            <a:r>
              <a:rPr dirty="0" sz="1000" spc="-10">
                <a:solidFill>
                  <a:srgbClr val="FFFFFF"/>
                </a:solidFill>
                <a:latin typeface="Microsoft YaHei"/>
                <a:cs typeface="Microsoft YaHei"/>
              </a:rPr>
              <a:t>热点覆盖层</a:t>
            </a:r>
            <a:endParaRPr sz="1000">
              <a:latin typeface="Microsoft YaHei"/>
              <a:cs typeface="Microsoft YaHei"/>
            </a:endParaRPr>
          </a:p>
          <a:p>
            <a:pPr algn="ctr">
              <a:lnSpc>
                <a:spcPct val="100000"/>
              </a:lnSpc>
            </a:pPr>
            <a:r>
              <a:rPr dirty="0" sz="1000" spc="-10">
                <a:solidFill>
                  <a:srgbClr val="FFFFFF"/>
                </a:solidFill>
                <a:latin typeface="Microsoft YaHei"/>
                <a:cs typeface="Microsoft YaHei"/>
              </a:rPr>
              <a:t>&gt;70</a:t>
            </a:r>
            <a:r>
              <a:rPr dirty="0" sz="1000" spc="-15">
                <a:solidFill>
                  <a:srgbClr val="FFFFFF"/>
                </a:solidFill>
                <a:latin typeface="Microsoft YaHei"/>
                <a:cs typeface="Microsoft YaHei"/>
              </a:rPr>
              <a:t>%流量承载</a:t>
            </a:r>
            <a:endParaRPr sz="1000">
              <a:latin typeface="Microsoft YaHei"/>
              <a:cs typeface="Microsoft YaHei"/>
            </a:endParaRPr>
          </a:p>
        </p:txBody>
      </p:sp>
      <p:sp>
        <p:nvSpPr>
          <p:cNvPr id="107" name="object 107" descr=""/>
          <p:cNvSpPr txBox="1"/>
          <p:nvPr/>
        </p:nvSpPr>
        <p:spPr>
          <a:xfrm>
            <a:off x="7275019" y="3487303"/>
            <a:ext cx="751205" cy="238760"/>
          </a:xfrm>
          <a:prstGeom prst="rect">
            <a:avLst/>
          </a:prstGeom>
        </p:spPr>
        <p:txBody>
          <a:bodyPr wrap="square" lIns="0" tIns="12065" rIns="0" bIns="0" rtlCol="0" vert="horz">
            <a:spAutoFit/>
          </a:bodyPr>
          <a:lstStyle/>
          <a:p>
            <a:pPr marL="12700">
              <a:lnSpc>
                <a:spcPct val="100000"/>
              </a:lnSpc>
              <a:spcBef>
                <a:spcPts val="95"/>
              </a:spcBef>
              <a:tabLst>
                <a:tab pos="552450" algn="l"/>
              </a:tabLst>
            </a:pPr>
            <a:r>
              <a:rPr dirty="0" baseline="1984" sz="2100" spc="-30" b="1">
                <a:solidFill>
                  <a:srgbClr val="FFFFFF"/>
                </a:solidFill>
                <a:latin typeface="Microsoft YaHei"/>
                <a:cs typeface="Microsoft YaHei"/>
              </a:rPr>
              <a:t>室</a:t>
            </a:r>
            <a:r>
              <a:rPr dirty="0" baseline="1984" sz="2100" spc="-75" b="1">
                <a:solidFill>
                  <a:srgbClr val="FFFFFF"/>
                </a:solidFill>
                <a:latin typeface="Microsoft YaHei"/>
                <a:cs typeface="Microsoft YaHei"/>
              </a:rPr>
              <a:t>内</a:t>
            </a:r>
            <a:r>
              <a:rPr dirty="0" baseline="1984" sz="2100" b="1">
                <a:solidFill>
                  <a:srgbClr val="FFFFFF"/>
                </a:solidFill>
                <a:latin typeface="Microsoft YaHei"/>
                <a:cs typeface="Microsoft YaHei"/>
              </a:rPr>
              <a:t>	</a:t>
            </a:r>
            <a:r>
              <a:rPr dirty="0" sz="1100" spc="-25">
                <a:solidFill>
                  <a:srgbClr val="FFFFFF"/>
                </a:solidFill>
                <a:latin typeface="Microsoft YaHei"/>
                <a:cs typeface="Microsoft YaHei"/>
              </a:rPr>
              <a:t>VR</a:t>
            </a:r>
            <a:endParaRPr sz="1100">
              <a:latin typeface="Microsoft YaHei"/>
              <a:cs typeface="Microsoft YaHei"/>
            </a:endParaRPr>
          </a:p>
        </p:txBody>
      </p:sp>
      <p:grpSp>
        <p:nvGrpSpPr>
          <p:cNvPr id="108" name="object 108" descr=""/>
          <p:cNvGrpSpPr/>
          <p:nvPr/>
        </p:nvGrpSpPr>
        <p:grpSpPr>
          <a:xfrm>
            <a:off x="4634067" y="1074154"/>
            <a:ext cx="4041775" cy="1045844"/>
            <a:chOff x="4634067" y="1074154"/>
            <a:chExt cx="4041775" cy="1045844"/>
          </a:xfrm>
        </p:grpSpPr>
        <p:pic>
          <p:nvPicPr>
            <p:cNvPr id="109" name="object 109" descr=""/>
            <p:cNvPicPr/>
            <p:nvPr/>
          </p:nvPicPr>
          <p:blipFill>
            <a:blip r:embed="rId38" cstate="print"/>
            <a:stretch>
              <a:fillRect/>
            </a:stretch>
          </p:blipFill>
          <p:spPr>
            <a:xfrm>
              <a:off x="5421486" y="1418286"/>
              <a:ext cx="164871" cy="242191"/>
            </a:xfrm>
            <a:prstGeom prst="rect">
              <a:avLst/>
            </a:prstGeom>
          </p:spPr>
        </p:pic>
        <p:sp>
          <p:nvSpPr>
            <p:cNvPr id="110" name="object 110" descr=""/>
            <p:cNvSpPr/>
            <p:nvPr/>
          </p:nvSpPr>
          <p:spPr>
            <a:xfrm>
              <a:off x="4646767" y="1086854"/>
              <a:ext cx="1714500" cy="905510"/>
            </a:xfrm>
            <a:custGeom>
              <a:avLst/>
              <a:gdLst/>
              <a:ahLst/>
              <a:cxnLst/>
              <a:rect l="l" t="t" r="r" b="b"/>
              <a:pathLst>
                <a:path w="1714500" h="905510">
                  <a:moveTo>
                    <a:pt x="0" y="452526"/>
                  </a:moveTo>
                  <a:lnTo>
                    <a:pt x="8512" y="388504"/>
                  </a:lnTo>
                  <a:lnTo>
                    <a:pt x="33274" y="327242"/>
                  </a:lnTo>
                  <a:lnTo>
                    <a:pt x="73127" y="269351"/>
                  </a:lnTo>
                  <a:lnTo>
                    <a:pt x="126910" y="215446"/>
                  </a:lnTo>
                  <a:lnTo>
                    <a:pt x="158662" y="190179"/>
                  </a:lnTo>
                  <a:lnTo>
                    <a:pt x="193462" y="166137"/>
                  </a:lnTo>
                  <a:lnTo>
                    <a:pt x="231164" y="143398"/>
                  </a:lnTo>
                  <a:lnTo>
                    <a:pt x="271623" y="122039"/>
                  </a:lnTo>
                  <a:lnTo>
                    <a:pt x="314694" y="102135"/>
                  </a:lnTo>
                  <a:lnTo>
                    <a:pt x="360232" y="83763"/>
                  </a:lnTo>
                  <a:lnTo>
                    <a:pt x="408093" y="67000"/>
                  </a:lnTo>
                  <a:lnTo>
                    <a:pt x="458130" y="51922"/>
                  </a:lnTo>
                  <a:lnTo>
                    <a:pt x="510199" y="38606"/>
                  </a:lnTo>
                  <a:lnTo>
                    <a:pt x="564155" y="27129"/>
                  </a:lnTo>
                  <a:lnTo>
                    <a:pt x="619853" y="17566"/>
                  </a:lnTo>
                  <a:lnTo>
                    <a:pt x="677147" y="9996"/>
                  </a:lnTo>
                  <a:lnTo>
                    <a:pt x="735893" y="4493"/>
                  </a:lnTo>
                  <a:lnTo>
                    <a:pt x="795946" y="1136"/>
                  </a:lnTo>
                  <a:lnTo>
                    <a:pt x="857161" y="0"/>
                  </a:lnTo>
                  <a:lnTo>
                    <a:pt x="918375" y="1136"/>
                  </a:lnTo>
                  <a:lnTo>
                    <a:pt x="978428" y="4493"/>
                  </a:lnTo>
                  <a:lnTo>
                    <a:pt x="1037173" y="9996"/>
                  </a:lnTo>
                  <a:lnTo>
                    <a:pt x="1094468" y="17566"/>
                  </a:lnTo>
                  <a:lnTo>
                    <a:pt x="1150165" y="27129"/>
                  </a:lnTo>
                  <a:lnTo>
                    <a:pt x="1204120" y="38606"/>
                  </a:lnTo>
                  <a:lnTo>
                    <a:pt x="1256189" y="51922"/>
                  </a:lnTo>
                  <a:lnTo>
                    <a:pt x="1306225" y="67000"/>
                  </a:lnTo>
                  <a:lnTo>
                    <a:pt x="1354085" y="83763"/>
                  </a:lnTo>
                  <a:lnTo>
                    <a:pt x="1399622" y="102135"/>
                  </a:lnTo>
                  <a:lnTo>
                    <a:pt x="1442692" y="122039"/>
                  </a:lnTo>
                  <a:lnTo>
                    <a:pt x="1483151" y="143398"/>
                  </a:lnTo>
                  <a:lnTo>
                    <a:pt x="1520852" y="166137"/>
                  </a:lnTo>
                  <a:lnTo>
                    <a:pt x="1555650" y="190179"/>
                  </a:lnTo>
                  <a:lnTo>
                    <a:pt x="1587402" y="215446"/>
                  </a:lnTo>
                  <a:lnTo>
                    <a:pt x="1615961" y="241862"/>
                  </a:lnTo>
                  <a:lnTo>
                    <a:pt x="1662923" y="297837"/>
                  </a:lnTo>
                  <a:lnTo>
                    <a:pt x="1695375" y="357490"/>
                  </a:lnTo>
                  <a:lnTo>
                    <a:pt x="1712157" y="420208"/>
                  </a:lnTo>
                  <a:lnTo>
                    <a:pt x="1714309" y="452526"/>
                  </a:lnTo>
                  <a:lnTo>
                    <a:pt x="1712157" y="484843"/>
                  </a:lnTo>
                  <a:lnTo>
                    <a:pt x="1705797" y="516548"/>
                  </a:lnTo>
                  <a:lnTo>
                    <a:pt x="1681035" y="577810"/>
                  </a:lnTo>
                  <a:lnTo>
                    <a:pt x="1641183" y="635700"/>
                  </a:lnTo>
                  <a:lnTo>
                    <a:pt x="1587402" y="689606"/>
                  </a:lnTo>
                  <a:lnTo>
                    <a:pt x="1555650" y="714873"/>
                  </a:lnTo>
                  <a:lnTo>
                    <a:pt x="1520852" y="738915"/>
                  </a:lnTo>
                  <a:lnTo>
                    <a:pt x="1483151" y="761653"/>
                  </a:lnTo>
                  <a:lnTo>
                    <a:pt x="1442692" y="783013"/>
                  </a:lnTo>
                  <a:lnTo>
                    <a:pt x="1399622" y="802917"/>
                  </a:lnTo>
                  <a:lnTo>
                    <a:pt x="1354085" y="821289"/>
                  </a:lnTo>
                  <a:lnTo>
                    <a:pt x="1306225" y="838052"/>
                  </a:lnTo>
                  <a:lnTo>
                    <a:pt x="1256189" y="853130"/>
                  </a:lnTo>
                  <a:lnTo>
                    <a:pt x="1204120" y="866446"/>
                  </a:lnTo>
                  <a:lnTo>
                    <a:pt x="1150165" y="877923"/>
                  </a:lnTo>
                  <a:lnTo>
                    <a:pt x="1094468" y="887485"/>
                  </a:lnTo>
                  <a:lnTo>
                    <a:pt x="1037173" y="895056"/>
                  </a:lnTo>
                  <a:lnTo>
                    <a:pt x="978428" y="900558"/>
                  </a:lnTo>
                  <a:lnTo>
                    <a:pt x="918375" y="903916"/>
                  </a:lnTo>
                  <a:lnTo>
                    <a:pt x="857161" y="905052"/>
                  </a:lnTo>
                  <a:lnTo>
                    <a:pt x="795946" y="903916"/>
                  </a:lnTo>
                  <a:lnTo>
                    <a:pt x="735893" y="900558"/>
                  </a:lnTo>
                  <a:lnTo>
                    <a:pt x="677147" y="895056"/>
                  </a:lnTo>
                  <a:lnTo>
                    <a:pt x="619853" y="887485"/>
                  </a:lnTo>
                  <a:lnTo>
                    <a:pt x="564155" y="877923"/>
                  </a:lnTo>
                  <a:lnTo>
                    <a:pt x="510199" y="866446"/>
                  </a:lnTo>
                  <a:lnTo>
                    <a:pt x="458130" y="853130"/>
                  </a:lnTo>
                  <a:lnTo>
                    <a:pt x="408093" y="838052"/>
                  </a:lnTo>
                  <a:lnTo>
                    <a:pt x="360232" y="821289"/>
                  </a:lnTo>
                  <a:lnTo>
                    <a:pt x="314694" y="802917"/>
                  </a:lnTo>
                  <a:lnTo>
                    <a:pt x="271623" y="783013"/>
                  </a:lnTo>
                  <a:lnTo>
                    <a:pt x="231164" y="761653"/>
                  </a:lnTo>
                  <a:lnTo>
                    <a:pt x="193462" y="738915"/>
                  </a:lnTo>
                  <a:lnTo>
                    <a:pt x="158662" y="714873"/>
                  </a:lnTo>
                  <a:lnTo>
                    <a:pt x="126910" y="689606"/>
                  </a:lnTo>
                  <a:lnTo>
                    <a:pt x="98350" y="663190"/>
                  </a:lnTo>
                  <a:lnTo>
                    <a:pt x="51387" y="607215"/>
                  </a:lnTo>
                  <a:lnTo>
                    <a:pt x="18934" y="547562"/>
                  </a:lnTo>
                  <a:lnTo>
                    <a:pt x="2152" y="484843"/>
                  </a:lnTo>
                  <a:lnTo>
                    <a:pt x="0" y="452526"/>
                  </a:lnTo>
                  <a:close/>
                </a:path>
              </a:pathLst>
            </a:custGeom>
            <a:ln w="25400">
              <a:solidFill>
                <a:srgbClr val="FFFFFF"/>
              </a:solidFill>
            </a:ln>
          </p:spPr>
          <p:txBody>
            <a:bodyPr wrap="square" lIns="0" tIns="0" rIns="0" bIns="0" rtlCol="0"/>
            <a:lstStyle/>
            <a:p/>
          </p:txBody>
        </p:sp>
        <p:pic>
          <p:nvPicPr>
            <p:cNvPr id="111" name="object 111" descr=""/>
            <p:cNvPicPr/>
            <p:nvPr/>
          </p:nvPicPr>
          <p:blipFill>
            <a:blip r:embed="rId39" cstate="print"/>
            <a:stretch>
              <a:fillRect/>
            </a:stretch>
          </p:blipFill>
          <p:spPr>
            <a:xfrm>
              <a:off x="6553292" y="1074726"/>
              <a:ext cx="2122234" cy="1044942"/>
            </a:xfrm>
            <a:prstGeom prst="rect">
              <a:avLst/>
            </a:prstGeom>
          </p:spPr>
        </p:pic>
      </p:grpSp>
      <p:sp>
        <p:nvSpPr>
          <p:cNvPr id="112" name="object 112" descr=""/>
          <p:cNvSpPr txBox="1"/>
          <p:nvPr/>
        </p:nvSpPr>
        <p:spPr>
          <a:xfrm>
            <a:off x="4662478" y="1416197"/>
            <a:ext cx="330835" cy="299720"/>
          </a:xfrm>
          <a:prstGeom prst="rect">
            <a:avLst/>
          </a:prstGeom>
        </p:spPr>
        <p:txBody>
          <a:bodyPr wrap="square" lIns="0" tIns="12700" rIns="0" bIns="0" rtlCol="0" vert="horz">
            <a:spAutoFit/>
          </a:bodyPr>
          <a:lstStyle/>
          <a:p>
            <a:pPr marL="12700">
              <a:lnSpc>
                <a:spcPct val="100000"/>
              </a:lnSpc>
              <a:spcBef>
                <a:spcPts val="100"/>
              </a:spcBef>
            </a:pPr>
            <a:r>
              <a:rPr dirty="0" sz="1800" spc="-25">
                <a:solidFill>
                  <a:srgbClr val="FFFFFF"/>
                </a:solidFill>
                <a:latin typeface="Arial MT"/>
                <a:cs typeface="Arial MT"/>
              </a:rPr>
              <a:t>4G</a:t>
            </a:r>
            <a:endParaRPr sz="1800">
              <a:latin typeface="Arial MT"/>
              <a:cs typeface="Arial MT"/>
            </a:endParaRPr>
          </a:p>
        </p:txBody>
      </p:sp>
      <p:sp>
        <p:nvSpPr>
          <p:cNvPr id="113" name="object 113" descr=""/>
          <p:cNvSpPr txBox="1"/>
          <p:nvPr/>
        </p:nvSpPr>
        <p:spPr>
          <a:xfrm>
            <a:off x="6491278" y="1134104"/>
            <a:ext cx="330835" cy="299720"/>
          </a:xfrm>
          <a:prstGeom prst="rect">
            <a:avLst/>
          </a:prstGeom>
        </p:spPr>
        <p:txBody>
          <a:bodyPr wrap="square" lIns="0" tIns="12700" rIns="0" bIns="0" rtlCol="0" vert="horz">
            <a:spAutoFit/>
          </a:bodyPr>
          <a:lstStyle/>
          <a:p>
            <a:pPr marL="12700">
              <a:lnSpc>
                <a:spcPct val="100000"/>
              </a:lnSpc>
              <a:spcBef>
                <a:spcPts val="100"/>
              </a:spcBef>
            </a:pPr>
            <a:r>
              <a:rPr dirty="0" sz="1800" spc="-25">
                <a:solidFill>
                  <a:srgbClr val="FFFFFF"/>
                </a:solidFill>
                <a:latin typeface="Arial MT"/>
                <a:cs typeface="Arial MT"/>
              </a:rPr>
              <a:t>5G</a:t>
            </a:r>
            <a:endParaRPr sz="1800">
              <a:latin typeface="Arial MT"/>
              <a:cs typeface="Arial MT"/>
            </a:endParaRPr>
          </a:p>
        </p:txBody>
      </p:sp>
    </p:spTree>
  </p:cSld>
  <p:clrMapOvr>
    <a:masterClrMapping/>
  </p:clrMapOvr>
  <p:transition spd="med">
    <p:fade thruBlk="0"/>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83438" y="884059"/>
            <a:ext cx="8448040" cy="941705"/>
            <a:chOff x="183438" y="884059"/>
            <a:chExt cx="8448040" cy="941705"/>
          </a:xfrm>
        </p:grpSpPr>
        <p:pic>
          <p:nvPicPr>
            <p:cNvPr id="3" name="object 3" descr=""/>
            <p:cNvPicPr/>
            <p:nvPr/>
          </p:nvPicPr>
          <p:blipFill>
            <a:blip r:embed="rId2" cstate="print"/>
            <a:stretch>
              <a:fillRect/>
            </a:stretch>
          </p:blipFill>
          <p:spPr>
            <a:xfrm>
              <a:off x="233172" y="934211"/>
              <a:ext cx="2734817" cy="305561"/>
            </a:xfrm>
            <a:prstGeom prst="rect">
              <a:avLst/>
            </a:prstGeom>
          </p:spPr>
        </p:pic>
        <p:pic>
          <p:nvPicPr>
            <p:cNvPr id="4" name="object 4" descr=""/>
            <p:cNvPicPr/>
            <p:nvPr/>
          </p:nvPicPr>
          <p:blipFill>
            <a:blip r:embed="rId3" cstate="print"/>
            <a:stretch>
              <a:fillRect/>
            </a:stretch>
          </p:blipFill>
          <p:spPr>
            <a:xfrm>
              <a:off x="398525" y="925829"/>
              <a:ext cx="2456687" cy="268223"/>
            </a:xfrm>
            <a:prstGeom prst="rect">
              <a:avLst/>
            </a:prstGeom>
          </p:spPr>
        </p:pic>
        <p:sp>
          <p:nvSpPr>
            <p:cNvPr id="5" name="object 5" descr=""/>
            <p:cNvSpPr/>
            <p:nvPr/>
          </p:nvSpPr>
          <p:spPr>
            <a:xfrm>
              <a:off x="183438" y="884059"/>
              <a:ext cx="2733040" cy="304165"/>
            </a:xfrm>
            <a:custGeom>
              <a:avLst/>
              <a:gdLst/>
              <a:ahLst/>
              <a:cxnLst/>
              <a:rect l="l" t="t" r="r" b="b"/>
              <a:pathLst>
                <a:path w="2733040" h="304165">
                  <a:moveTo>
                    <a:pt x="2732798" y="0"/>
                  </a:moveTo>
                  <a:lnTo>
                    <a:pt x="0" y="0"/>
                  </a:lnTo>
                  <a:lnTo>
                    <a:pt x="0" y="303784"/>
                  </a:lnTo>
                  <a:lnTo>
                    <a:pt x="2732798" y="303784"/>
                  </a:lnTo>
                  <a:lnTo>
                    <a:pt x="2732798" y="0"/>
                  </a:lnTo>
                  <a:close/>
                </a:path>
              </a:pathLst>
            </a:custGeom>
            <a:solidFill>
              <a:srgbClr val="333399"/>
            </a:solidFill>
          </p:spPr>
          <p:txBody>
            <a:bodyPr wrap="square" lIns="0" tIns="0" rIns="0" bIns="0" rtlCol="0"/>
            <a:lstStyle/>
            <a:p/>
          </p:txBody>
        </p:sp>
        <p:sp>
          <p:nvSpPr>
            <p:cNvPr id="6" name="object 6" descr=""/>
            <p:cNvSpPr/>
            <p:nvPr/>
          </p:nvSpPr>
          <p:spPr>
            <a:xfrm>
              <a:off x="253542" y="1202474"/>
              <a:ext cx="8378190" cy="623570"/>
            </a:xfrm>
            <a:custGeom>
              <a:avLst/>
              <a:gdLst/>
              <a:ahLst/>
              <a:cxnLst/>
              <a:rect l="l" t="t" r="r" b="b"/>
              <a:pathLst>
                <a:path w="8378190" h="623569">
                  <a:moveTo>
                    <a:pt x="8377936" y="0"/>
                  </a:moveTo>
                  <a:lnTo>
                    <a:pt x="0" y="0"/>
                  </a:lnTo>
                  <a:lnTo>
                    <a:pt x="0" y="623252"/>
                  </a:lnTo>
                  <a:lnTo>
                    <a:pt x="8377936" y="623252"/>
                  </a:lnTo>
                  <a:lnTo>
                    <a:pt x="8377936" y="0"/>
                  </a:lnTo>
                  <a:close/>
                </a:path>
              </a:pathLst>
            </a:custGeom>
            <a:solidFill>
              <a:srgbClr val="E7F3F4"/>
            </a:solidFill>
          </p:spPr>
          <p:txBody>
            <a:bodyPr wrap="square" lIns="0" tIns="0" rIns="0" bIns="0" rtlCol="0"/>
            <a:lstStyle/>
            <a:p/>
          </p:txBody>
        </p:sp>
      </p:grpSp>
      <p:sp>
        <p:nvSpPr>
          <p:cNvPr id="7" name="object 7" descr=""/>
          <p:cNvSpPr txBox="1"/>
          <p:nvPr/>
        </p:nvSpPr>
        <p:spPr>
          <a:xfrm>
            <a:off x="309417" y="910479"/>
            <a:ext cx="8265795" cy="849630"/>
          </a:xfrm>
          <a:prstGeom prst="rect">
            <a:avLst/>
          </a:prstGeom>
        </p:spPr>
        <p:txBody>
          <a:bodyPr wrap="square" lIns="0" tIns="12065" rIns="0" bIns="0" rtlCol="0" vert="horz">
            <a:spAutoFit/>
          </a:bodyPr>
          <a:lstStyle/>
          <a:p>
            <a:pPr marL="145415">
              <a:lnSpc>
                <a:spcPct val="100000"/>
              </a:lnSpc>
              <a:spcBef>
                <a:spcPts val="95"/>
              </a:spcBef>
            </a:pPr>
            <a:r>
              <a:rPr dirty="0" sz="1400" spc="-20">
                <a:solidFill>
                  <a:srgbClr val="FFFFFF"/>
                </a:solidFill>
                <a:latin typeface="Microsoft YaHei"/>
                <a:cs typeface="Microsoft YaHei"/>
              </a:rPr>
              <a:t>5G</a:t>
            </a:r>
            <a:r>
              <a:rPr dirty="0" sz="1400" spc="-25">
                <a:solidFill>
                  <a:srgbClr val="FFFFFF"/>
                </a:solidFill>
                <a:latin typeface="Microsoft YaHei"/>
                <a:cs typeface="Microsoft YaHei"/>
              </a:rPr>
              <a:t>无线网微站分层组网方式</a:t>
            </a:r>
            <a:endParaRPr sz="1400">
              <a:latin typeface="Microsoft YaHei"/>
              <a:cs typeface="Microsoft YaHei"/>
            </a:endParaRPr>
          </a:p>
          <a:p>
            <a:pPr marL="226060" marR="5080" indent="-213995">
              <a:lnSpc>
                <a:spcPct val="150000"/>
              </a:lnSpc>
              <a:spcBef>
                <a:spcPts val="495"/>
              </a:spcBef>
              <a:buFont typeface="Wingdings"/>
              <a:buChar char=""/>
              <a:tabLst>
                <a:tab pos="227329" algn="l"/>
              </a:tabLst>
            </a:pPr>
            <a:r>
              <a:rPr dirty="0" sz="1200" spc="-10">
                <a:solidFill>
                  <a:srgbClr val="3E3E3E"/>
                </a:solidFill>
                <a:latin typeface="Microsoft YaHei"/>
                <a:cs typeface="Microsoft YaHei"/>
              </a:rPr>
              <a:t>5G</a:t>
            </a:r>
            <a:r>
              <a:rPr dirty="0" sz="1200">
                <a:solidFill>
                  <a:srgbClr val="3E3E3E"/>
                </a:solidFill>
                <a:latin typeface="Microsoft YaHei"/>
                <a:cs typeface="Microsoft YaHei"/>
              </a:rPr>
              <a:t>网络可采用非独立组网及独立组网，前者可以现实快速部署</a:t>
            </a:r>
            <a:r>
              <a:rPr dirty="0" sz="1200" spc="-10">
                <a:solidFill>
                  <a:srgbClr val="3E3E3E"/>
                </a:solidFill>
                <a:latin typeface="Microsoft YaHei"/>
                <a:cs typeface="Microsoft YaHei"/>
              </a:rPr>
              <a:t>5G</a:t>
            </a:r>
            <a:r>
              <a:rPr dirty="0" sz="1200" spc="-5">
                <a:solidFill>
                  <a:srgbClr val="3E3E3E"/>
                </a:solidFill>
                <a:latin typeface="Microsoft YaHei"/>
                <a:cs typeface="Microsoft YaHei"/>
              </a:rPr>
              <a:t>需求，若要实现网络切片等功能还需独立组网标准，采</a:t>
            </a:r>
            <a:r>
              <a:rPr dirty="0" sz="1200" spc="-5">
                <a:solidFill>
                  <a:srgbClr val="3E3E3E"/>
                </a:solidFill>
                <a:latin typeface="Microsoft YaHei"/>
                <a:cs typeface="Microsoft YaHei"/>
              </a:rPr>
              <a:t>	</a:t>
            </a:r>
            <a:r>
              <a:rPr dirty="0" sz="1200">
                <a:solidFill>
                  <a:srgbClr val="3E3E3E"/>
                </a:solidFill>
                <a:latin typeface="Microsoft YaHei"/>
                <a:cs typeface="Microsoft YaHei"/>
              </a:rPr>
              <a:t>用全新的核心网。在无线接入侧，三层宏微、室内外协同组网整体形式与</a:t>
            </a:r>
            <a:r>
              <a:rPr dirty="0" sz="1200" spc="-10">
                <a:solidFill>
                  <a:srgbClr val="3E3E3E"/>
                </a:solidFill>
                <a:latin typeface="Microsoft YaHei"/>
                <a:cs typeface="Microsoft YaHei"/>
              </a:rPr>
              <a:t>4G</a:t>
            </a:r>
            <a:r>
              <a:rPr dirty="0" sz="1200" spc="-5">
                <a:solidFill>
                  <a:srgbClr val="3E3E3E"/>
                </a:solidFill>
                <a:latin typeface="Microsoft YaHei"/>
                <a:cs typeface="Microsoft YaHei"/>
              </a:rPr>
              <a:t>一致，但内部已经发生变化。</a:t>
            </a:r>
            <a:endParaRPr sz="1200">
              <a:latin typeface="Microsoft YaHei"/>
              <a:cs typeface="Microsoft YaHei"/>
            </a:endParaRPr>
          </a:p>
        </p:txBody>
      </p:sp>
      <p:pic>
        <p:nvPicPr>
          <p:cNvPr id="8" name="object 8"/>
          <p:cNvPicPr/>
          <p:nvPr/>
        </p:nvPicPr>
        <p:blipFill>
          <a:blip r:embed="rId4" cstate="print"/>
          <a:stretch>
            <a:fillRect/>
          </a:stretch>
        </p:blipFill>
        <p:spPr>
          <a:xfrm>
            <a:off x="3998523" y="1867230"/>
            <a:ext cx="4633361" cy="3081007"/>
          </a:xfrm>
          <a:prstGeom prst="rect">
            <a:avLst/>
          </a:prstGeom>
        </p:spPr>
      </p:pic>
      <p:sp>
        <p:nvSpPr>
          <p:cNvPr id="9" name="object 9"/>
          <p:cNvSpPr txBox="1">
            <a:spLocks noGrp="1"/>
          </p:cNvSpPr>
          <p:nvPr>
            <p:ph type="title"/>
          </p:nvPr>
        </p:nvSpPr>
        <p:spPr>
          <a:xfrm>
            <a:off x="3453193" y="177834"/>
            <a:ext cx="2467610" cy="513080"/>
          </a:xfrm>
          <a:prstGeom prst="rect"/>
        </p:spPr>
        <p:txBody>
          <a:bodyPr wrap="square" lIns="0" tIns="12065" rIns="0" bIns="0" rtlCol="0" vert="horz">
            <a:spAutoFit/>
          </a:bodyPr>
          <a:lstStyle/>
          <a:p>
            <a:pPr marL="12700">
              <a:lnSpc>
                <a:spcPct val="100000"/>
              </a:lnSpc>
              <a:spcBef>
                <a:spcPts val="95"/>
              </a:spcBef>
            </a:pPr>
            <a:r>
              <a:rPr dirty="0" spc="-40"/>
              <a:t>微站需求分析</a:t>
            </a:r>
          </a:p>
        </p:txBody>
      </p:sp>
      <p:graphicFrame>
        <p:nvGraphicFramePr>
          <p:cNvPr id="10" name="object 10" descr=""/>
          <p:cNvGraphicFramePr>
            <a:graphicFrameLocks noGrp="1"/>
          </p:cNvGraphicFramePr>
          <p:nvPr/>
        </p:nvGraphicFramePr>
        <p:xfrm>
          <a:off x="247187" y="1860875"/>
          <a:ext cx="3766185" cy="3076575"/>
        </p:xfrm>
        <a:graphic>
          <a:graphicData uri="http://schemas.openxmlformats.org/drawingml/2006/table">
            <a:tbl>
              <a:tblPr firstRow="1" bandRow="1">
                <a:tableStyleId>{2D5ABB26-0587-4C30-8999-92F81FD0307C}</a:tableStyleId>
              </a:tblPr>
              <a:tblGrid>
                <a:gridCol w="942340"/>
                <a:gridCol w="1451610"/>
                <a:gridCol w="1282700"/>
              </a:tblGrid>
              <a:tr h="361315">
                <a:tc>
                  <a:txBody>
                    <a:bodyPr/>
                    <a:lstStyle/>
                    <a:p>
                      <a:pPr algn="ctr">
                        <a:lnSpc>
                          <a:spcPct val="100000"/>
                        </a:lnSpc>
                        <a:spcBef>
                          <a:spcPts val="790"/>
                        </a:spcBef>
                      </a:pPr>
                      <a:r>
                        <a:rPr dirty="0" sz="1100" spc="-25" b="1">
                          <a:solidFill>
                            <a:srgbClr val="FFFFFF"/>
                          </a:solidFill>
                          <a:latin typeface="Microsoft YaHei"/>
                          <a:cs typeface="Microsoft YaHei"/>
                        </a:rPr>
                        <a:t>关键参数比较</a:t>
                      </a:r>
                      <a:endParaRPr sz="1100">
                        <a:latin typeface="Microsoft YaHei"/>
                        <a:cs typeface="Microsoft YaHei"/>
                      </a:endParaRPr>
                    </a:p>
                  </a:txBody>
                  <a:tcPr marL="0" marR="0" marB="0" marT="10033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333399"/>
                    </a:solidFill>
                  </a:tcPr>
                </a:tc>
                <a:tc>
                  <a:txBody>
                    <a:bodyPr/>
                    <a:lstStyle/>
                    <a:p>
                      <a:pPr algn="ctr">
                        <a:lnSpc>
                          <a:spcPct val="100000"/>
                        </a:lnSpc>
                        <a:spcBef>
                          <a:spcPts val="790"/>
                        </a:spcBef>
                      </a:pPr>
                      <a:r>
                        <a:rPr dirty="0" sz="1100" spc="-25" b="1">
                          <a:solidFill>
                            <a:srgbClr val="FFFFFF"/>
                          </a:solidFill>
                          <a:latin typeface="Microsoft YaHei"/>
                          <a:cs typeface="Microsoft YaHei"/>
                        </a:rPr>
                        <a:t>4G</a:t>
                      </a:r>
                      <a:endParaRPr sz="1100">
                        <a:latin typeface="Microsoft YaHei"/>
                        <a:cs typeface="Microsoft YaHei"/>
                      </a:endParaRPr>
                    </a:p>
                  </a:txBody>
                  <a:tcPr marL="0" marR="0" marB="0" marT="10033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333399"/>
                    </a:solidFill>
                  </a:tcPr>
                </a:tc>
                <a:tc>
                  <a:txBody>
                    <a:bodyPr/>
                    <a:lstStyle/>
                    <a:p>
                      <a:pPr algn="ctr">
                        <a:lnSpc>
                          <a:spcPct val="100000"/>
                        </a:lnSpc>
                        <a:spcBef>
                          <a:spcPts val="790"/>
                        </a:spcBef>
                      </a:pPr>
                      <a:r>
                        <a:rPr dirty="0" sz="1100" spc="-25" b="1">
                          <a:solidFill>
                            <a:srgbClr val="FFFFFF"/>
                          </a:solidFill>
                          <a:latin typeface="Microsoft YaHei"/>
                          <a:cs typeface="Microsoft YaHei"/>
                        </a:rPr>
                        <a:t>5G</a:t>
                      </a:r>
                      <a:endParaRPr sz="1100">
                        <a:latin typeface="Microsoft YaHei"/>
                        <a:cs typeface="Microsoft YaHei"/>
                      </a:endParaRPr>
                    </a:p>
                  </a:txBody>
                  <a:tcPr marL="0" marR="0" marB="0" marT="10033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333399"/>
                    </a:solidFill>
                  </a:tcPr>
                </a:tc>
              </a:tr>
              <a:tr h="346710">
                <a:tc>
                  <a:txBody>
                    <a:bodyPr/>
                    <a:lstStyle/>
                    <a:p>
                      <a:pPr algn="ctr">
                        <a:lnSpc>
                          <a:spcPct val="100000"/>
                        </a:lnSpc>
                        <a:spcBef>
                          <a:spcPts val="730"/>
                        </a:spcBef>
                      </a:pPr>
                      <a:r>
                        <a:rPr dirty="0" sz="1100" spc="-35">
                          <a:latin typeface="Microsoft YaHei"/>
                          <a:cs typeface="Microsoft YaHei"/>
                        </a:rPr>
                        <a:t>频段</a:t>
                      </a:r>
                      <a:endParaRPr sz="1100">
                        <a:latin typeface="Microsoft YaHei"/>
                        <a:cs typeface="Microsoft YaHei"/>
                      </a:endParaRPr>
                    </a:p>
                  </a:txBody>
                  <a:tcPr marL="0" marR="0" marB="0" marT="9271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FFECDE"/>
                    </a:solidFill>
                  </a:tcPr>
                </a:tc>
                <a:tc>
                  <a:txBody>
                    <a:bodyPr/>
                    <a:lstStyle/>
                    <a:p>
                      <a:pPr algn="ctr">
                        <a:lnSpc>
                          <a:spcPct val="100000"/>
                        </a:lnSpc>
                        <a:spcBef>
                          <a:spcPts val="730"/>
                        </a:spcBef>
                      </a:pPr>
                      <a:r>
                        <a:rPr dirty="0" sz="1100" spc="-20">
                          <a:latin typeface="Microsoft YaHei"/>
                          <a:cs typeface="Microsoft YaHei"/>
                        </a:rPr>
                        <a:t>中频：</a:t>
                      </a:r>
                      <a:r>
                        <a:rPr dirty="0" sz="1100" spc="-10">
                          <a:latin typeface="Microsoft YaHei"/>
                          <a:cs typeface="Microsoft YaHei"/>
                        </a:rPr>
                        <a:t>1.8G/2.3/2.6G</a:t>
                      </a:r>
                      <a:endParaRPr sz="1100">
                        <a:latin typeface="Microsoft YaHei"/>
                        <a:cs typeface="Microsoft YaHei"/>
                      </a:endParaRPr>
                    </a:p>
                  </a:txBody>
                  <a:tcPr marL="0" marR="0" marB="0" marT="9271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FFECDE"/>
                    </a:solidFill>
                  </a:tcPr>
                </a:tc>
                <a:tc>
                  <a:txBody>
                    <a:bodyPr/>
                    <a:lstStyle/>
                    <a:p>
                      <a:pPr algn="ctr">
                        <a:lnSpc>
                          <a:spcPct val="100000"/>
                        </a:lnSpc>
                        <a:spcBef>
                          <a:spcPts val="730"/>
                        </a:spcBef>
                      </a:pPr>
                      <a:r>
                        <a:rPr dirty="0" sz="1100" spc="-20">
                          <a:latin typeface="Microsoft YaHei"/>
                          <a:cs typeface="Microsoft YaHei"/>
                        </a:rPr>
                        <a:t>中频：</a:t>
                      </a:r>
                      <a:r>
                        <a:rPr dirty="0" sz="1100" spc="-10">
                          <a:latin typeface="Microsoft YaHei"/>
                          <a:cs typeface="Microsoft YaHei"/>
                        </a:rPr>
                        <a:t>3.5G/4.9G</a:t>
                      </a:r>
                      <a:endParaRPr sz="1100">
                        <a:latin typeface="Microsoft YaHei"/>
                        <a:cs typeface="Microsoft YaHei"/>
                      </a:endParaRPr>
                    </a:p>
                  </a:txBody>
                  <a:tcPr marL="0" marR="0" marB="0" marT="9271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FFECDE"/>
                    </a:solidFill>
                  </a:tcPr>
                </a:tc>
              </a:tr>
              <a:tr h="332105">
                <a:tc>
                  <a:txBody>
                    <a:bodyPr/>
                    <a:lstStyle/>
                    <a:p>
                      <a:pPr algn="ctr">
                        <a:lnSpc>
                          <a:spcPct val="100000"/>
                        </a:lnSpc>
                        <a:spcBef>
                          <a:spcPts val="675"/>
                        </a:spcBef>
                      </a:pPr>
                      <a:r>
                        <a:rPr dirty="0" sz="1100" spc="-30">
                          <a:latin typeface="Microsoft YaHei"/>
                          <a:cs typeface="Microsoft YaHei"/>
                        </a:rPr>
                        <a:t>站址布局</a:t>
                      </a:r>
                      <a:endParaRPr sz="1100">
                        <a:latin typeface="Microsoft YaHei"/>
                        <a:cs typeface="Microsoft YaHei"/>
                      </a:endParaRPr>
                    </a:p>
                  </a:txBody>
                  <a:tcPr marL="0" marR="0" marB="0" marT="85725">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FFF6EF"/>
                    </a:solidFill>
                  </a:tcPr>
                </a:tc>
                <a:tc>
                  <a:txBody>
                    <a:bodyPr/>
                    <a:lstStyle/>
                    <a:p>
                      <a:pPr algn="ctr">
                        <a:lnSpc>
                          <a:spcPct val="100000"/>
                        </a:lnSpc>
                        <a:spcBef>
                          <a:spcPts val="675"/>
                        </a:spcBef>
                      </a:pPr>
                      <a:r>
                        <a:rPr dirty="0" sz="1100" spc="-30">
                          <a:latin typeface="Microsoft YaHei"/>
                          <a:cs typeface="Microsoft YaHei"/>
                        </a:rPr>
                        <a:t>三层组网</a:t>
                      </a:r>
                      <a:endParaRPr sz="1100">
                        <a:latin typeface="Microsoft YaHei"/>
                        <a:cs typeface="Microsoft YaHei"/>
                      </a:endParaRPr>
                    </a:p>
                  </a:txBody>
                  <a:tcPr marL="0" marR="0" marB="0" marT="85725">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FFF6EF"/>
                    </a:solidFill>
                  </a:tcPr>
                </a:tc>
                <a:tc>
                  <a:txBody>
                    <a:bodyPr/>
                    <a:lstStyle/>
                    <a:p>
                      <a:pPr algn="ctr">
                        <a:lnSpc>
                          <a:spcPct val="100000"/>
                        </a:lnSpc>
                        <a:spcBef>
                          <a:spcPts val="675"/>
                        </a:spcBef>
                      </a:pPr>
                      <a:r>
                        <a:rPr dirty="0" sz="1100" spc="-30">
                          <a:latin typeface="Microsoft YaHei"/>
                          <a:cs typeface="Microsoft YaHei"/>
                        </a:rPr>
                        <a:t>三层组网</a:t>
                      </a:r>
                      <a:endParaRPr sz="1100">
                        <a:latin typeface="Microsoft YaHei"/>
                        <a:cs typeface="Microsoft YaHei"/>
                      </a:endParaRPr>
                    </a:p>
                  </a:txBody>
                  <a:tcPr marL="0" marR="0" marB="0" marT="85725">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FFF6EF"/>
                    </a:solidFill>
                  </a:tcPr>
                </a:tc>
              </a:tr>
              <a:tr h="346710">
                <a:tc>
                  <a:txBody>
                    <a:bodyPr/>
                    <a:lstStyle/>
                    <a:p>
                      <a:pPr algn="ctr">
                        <a:lnSpc>
                          <a:spcPct val="100000"/>
                        </a:lnSpc>
                        <a:spcBef>
                          <a:spcPts val="730"/>
                        </a:spcBef>
                      </a:pPr>
                      <a:r>
                        <a:rPr dirty="0" sz="1100" spc="-10">
                          <a:latin typeface="Microsoft YaHei"/>
                          <a:cs typeface="Microsoft YaHei"/>
                        </a:rPr>
                        <a:t>RRU/AAU</a:t>
                      </a:r>
                      <a:r>
                        <a:rPr dirty="0" sz="1100" spc="-35">
                          <a:latin typeface="Microsoft YaHei"/>
                          <a:cs typeface="Microsoft YaHei"/>
                        </a:rPr>
                        <a:t>功能</a:t>
                      </a:r>
                      <a:endParaRPr sz="1100">
                        <a:latin typeface="Microsoft YaHei"/>
                        <a:cs typeface="Microsoft YaHei"/>
                      </a:endParaRPr>
                    </a:p>
                  </a:txBody>
                  <a:tcPr marL="0" marR="0" marB="0" marT="9271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FFECDE"/>
                    </a:solidFill>
                  </a:tcPr>
                </a:tc>
                <a:tc>
                  <a:txBody>
                    <a:bodyPr/>
                    <a:lstStyle/>
                    <a:p>
                      <a:pPr algn="ctr">
                        <a:lnSpc>
                          <a:spcPct val="100000"/>
                        </a:lnSpc>
                        <a:spcBef>
                          <a:spcPts val="730"/>
                        </a:spcBef>
                      </a:pPr>
                      <a:r>
                        <a:rPr dirty="0" sz="1100" spc="-25">
                          <a:latin typeface="Microsoft YaHei"/>
                          <a:cs typeface="Microsoft YaHei"/>
                        </a:rPr>
                        <a:t>射频信号收发</a:t>
                      </a:r>
                      <a:endParaRPr sz="1100">
                        <a:latin typeface="Microsoft YaHei"/>
                        <a:cs typeface="Microsoft YaHei"/>
                      </a:endParaRPr>
                    </a:p>
                  </a:txBody>
                  <a:tcPr marL="0" marR="0" marB="0" marT="9271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FFECDE"/>
                    </a:solidFill>
                  </a:tcPr>
                </a:tc>
                <a:tc>
                  <a:txBody>
                    <a:bodyPr/>
                    <a:lstStyle/>
                    <a:p>
                      <a:pPr algn="ctr">
                        <a:lnSpc>
                          <a:spcPct val="100000"/>
                        </a:lnSpc>
                        <a:spcBef>
                          <a:spcPts val="730"/>
                        </a:spcBef>
                      </a:pPr>
                      <a:r>
                        <a:rPr dirty="0" sz="1100" spc="-25">
                          <a:latin typeface="Microsoft YaHei"/>
                          <a:cs typeface="Microsoft YaHei"/>
                        </a:rPr>
                        <a:t>基带处理能力</a:t>
                      </a:r>
                      <a:endParaRPr sz="1100">
                        <a:latin typeface="Microsoft YaHei"/>
                        <a:cs typeface="Microsoft YaHei"/>
                      </a:endParaRPr>
                    </a:p>
                  </a:txBody>
                  <a:tcPr marL="0" marR="0" marB="0" marT="9271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FFECDE"/>
                    </a:solidFill>
                  </a:tcPr>
                </a:tc>
              </a:tr>
              <a:tr h="332105">
                <a:tc>
                  <a:txBody>
                    <a:bodyPr/>
                    <a:lstStyle/>
                    <a:p>
                      <a:pPr algn="ctr">
                        <a:lnSpc>
                          <a:spcPct val="100000"/>
                        </a:lnSpc>
                        <a:spcBef>
                          <a:spcPts val="675"/>
                        </a:spcBef>
                      </a:pPr>
                      <a:r>
                        <a:rPr dirty="0" sz="1100" spc="-30">
                          <a:latin typeface="Microsoft YaHei"/>
                          <a:cs typeface="Microsoft YaHei"/>
                        </a:rPr>
                        <a:t>宏站天线</a:t>
                      </a:r>
                      <a:endParaRPr sz="1100">
                        <a:latin typeface="Microsoft YaHei"/>
                        <a:cs typeface="Microsoft YaHei"/>
                      </a:endParaRPr>
                    </a:p>
                  </a:txBody>
                  <a:tcPr marL="0" marR="0" marB="0" marT="85725">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FFF6EF"/>
                    </a:solidFill>
                  </a:tcPr>
                </a:tc>
                <a:tc>
                  <a:txBody>
                    <a:bodyPr/>
                    <a:lstStyle/>
                    <a:p>
                      <a:pPr algn="ctr" marL="635">
                        <a:lnSpc>
                          <a:spcPct val="100000"/>
                        </a:lnSpc>
                        <a:spcBef>
                          <a:spcPts val="675"/>
                        </a:spcBef>
                      </a:pPr>
                      <a:r>
                        <a:rPr dirty="0" sz="1100" spc="-20">
                          <a:latin typeface="Microsoft YaHei"/>
                          <a:cs typeface="Microsoft YaHei"/>
                        </a:rPr>
                        <a:t>8T8R</a:t>
                      </a:r>
                      <a:endParaRPr sz="1100">
                        <a:latin typeface="Microsoft YaHei"/>
                        <a:cs typeface="Microsoft YaHei"/>
                      </a:endParaRPr>
                    </a:p>
                  </a:txBody>
                  <a:tcPr marL="0" marR="0" marB="0" marT="85725">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FFF6EF"/>
                    </a:solidFill>
                  </a:tcPr>
                </a:tc>
                <a:tc>
                  <a:txBody>
                    <a:bodyPr/>
                    <a:lstStyle/>
                    <a:p>
                      <a:pPr algn="ctr">
                        <a:lnSpc>
                          <a:spcPct val="100000"/>
                        </a:lnSpc>
                        <a:spcBef>
                          <a:spcPts val="675"/>
                        </a:spcBef>
                      </a:pPr>
                      <a:r>
                        <a:rPr dirty="0" sz="1100" spc="-25">
                          <a:latin typeface="Microsoft YaHei"/>
                          <a:cs typeface="Microsoft YaHei"/>
                        </a:rPr>
                        <a:t>大规模天线阵列</a:t>
                      </a:r>
                      <a:endParaRPr sz="1100">
                        <a:latin typeface="Microsoft YaHei"/>
                        <a:cs typeface="Microsoft YaHei"/>
                      </a:endParaRPr>
                    </a:p>
                  </a:txBody>
                  <a:tcPr marL="0" marR="0" marB="0" marT="85725">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FFF6EF"/>
                    </a:solidFill>
                  </a:tcPr>
                </a:tc>
              </a:tr>
              <a:tr h="346710">
                <a:tc>
                  <a:txBody>
                    <a:bodyPr/>
                    <a:lstStyle/>
                    <a:p>
                      <a:pPr marL="262255" marR="45085" indent="-210185">
                        <a:lnSpc>
                          <a:spcPct val="100000"/>
                        </a:lnSpc>
                      </a:pPr>
                      <a:r>
                        <a:rPr dirty="0" sz="1100" spc="-25">
                          <a:latin typeface="Microsoft YaHei"/>
                          <a:cs typeface="Microsoft YaHei"/>
                        </a:rPr>
                        <a:t>城区宏微室分</a:t>
                      </a:r>
                      <a:r>
                        <a:rPr dirty="0" sz="1100" spc="-35">
                          <a:latin typeface="Microsoft YaHei"/>
                          <a:cs typeface="Microsoft YaHei"/>
                        </a:rPr>
                        <a:t>点位数</a:t>
                      </a:r>
                      <a:endParaRPr sz="1100">
                        <a:latin typeface="Microsoft YaHei"/>
                        <a:cs typeface="Microsoft YaHei"/>
                      </a:endParaRPr>
                    </a:p>
                  </a:txBody>
                  <a:tcPr marL="0" marR="0" marB="0" marT="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FFECDE"/>
                    </a:solidFill>
                  </a:tcPr>
                </a:tc>
                <a:tc>
                  <a:txBody>
                    <a:bodyPr/>
                    <a:lstStyle/>
                    <a:p>
                      <a:pPr algn="ctr">
                        <a:lnSpc>
                          <a:spcPct val="100000"/>
                        </a:lnSpc>
                        <a:spcBef>
                          <a:spcPts val="730"/>
                        </a:spcBef>
                      </a:pPr>
                      <a:r>
                        <a:rPr dirty="0" sz="1100" spc="-25">
                          <a:latin typeface="Microsoft YaHei"/>
                          <a:cs typeface="Microsoft YaHei"/>
                        </a:rPr>
                        <a:t>宏&gt;室分&gt;微</a:t>
                      </a:r>
                      <a:endParaRPr sz="1100">
                        <a:latin typeface="Microsoft YaHei"/>
                        <a:cs typeface="Microsoft YaHei"/>
                      </a:endParaRPr>
                    </a:p>
                  </a:txBody>
                  <a:tcPr marL="0" marR="0" marB="0" marT="9271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FFECDE"/>
                    </a:solidFill>
                  </a:tcPr>
                </a:tc>
                <a:tc>
                  <a:txBody>
                    <a:bodyPr/>
                    <a:lstStyle/>
                    <a:p>
                      <a:pPr algn="ctr">
                        <a:lnSpc>
                          <a:spcPct val="100000"/>
                        </a:lnSpc>
                        <a:spcBef>
                          <a:spcPts val="730"/>
                        </a:spcBef>
                      </a:pPr>
                      <a:r>
                        <a:rPr dirty="0" sz="1100" spc="-25">
                          <a:latin typeface="Microsoft YaHei"/>
                          <a:cs typeface="Microsoft YaHei"/>
                        </a:rPr>
                        <a:t>微&gt;宏站&gt;室分</a:t>
                      </a:r>
                      <a:endParaRPr sz="1100">
                        <a:latin typeface="Microsoft YaHei"/>
                        <a:cs typeface="Microsoft YaHei"/>
                      </a:endParaRPr>
                    </a:p>
                  </a:txBody>
                  <a:tcPr marL="0" marR="0" marB="0" marT="9271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FFECDE"/>
                    </a:solidFill>
                  </a:tcPr>
                </a:tc>
              </a:tr>
              <a:tr h="332105">
                <a:tc>
                  <a:txBody>
                    <a:bodyPr/>
                    <a:lstStyle/>
                    <a:p>
                      <a:pPr algn="ctr">
                        <a:lnSpc>
                          <a:spcPct val="100000"/>
                        </a:lnSpc>
                        <a:spcBef>
                          <a:spcPts val="675"/>
                        </a:spcBef>
                      </a:pPr>
                      <a:r>
                        <a:rPr dirty="0" sz="1100" spc="-30">
                          <a:latin typeface="Microsoft YaHei"/>
                          <a:cs typeface="Microsoft YaHei"/>
                        </a:rPr>
                        <a:t>微站频段</a:t>
                      </a:r>
                      <a:endParaRPr sz="1100">
                        <a:latin typeface="Microsoft YaHei"/>
                        <a:cs typeface="Microsoft YaHei"/>
                      </a:endParaRPr>
                    </a:p>
                  </a:txBody>
                  <a:tcPr marL="0" marR="0" marB="0" marT="85725">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FFF6EF"/>
                    </a:solidFill>
                  </a:tcPr>
                </a:tc>
                <a:tc>
                  <a:txBody>
                    <a:bodyPr/>
                    <a:lstStyle/>
                    <a:p>
                      <a:pPr algn="ctr">
                        <a:lnSpc>
                          <a:spcPct val="100000"/>
                        </a:lnSpc>
                        <a:spcBef>
                          <a:spcPts val="675"/>
                        </a:spcBef>
                      </a:pPr>
                      <a:r>
                        <a:rPr dirty="0" sz="1100" spc="-10">
                          <a:latin typeface="Microsoft YaHei"/>
                          <a:cs typeface="Microsoft YaHei"/>
                        </a:rPr>
                        <a:t>2.6G/1.8G</a:t>
                      </a:r>
                      <a:endParaRPr sz="1100">
                        <a:latin typeface="Microsoft YaHei"/>
                        <a:cs typeface="Microsoft YaHei"/>
                      </a:endParaRPr>
                    </a:p>
                  </a:txBody>
                  <a:tcPr marL="0" marR="0" marB="0" marT="85725">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FFF6EF"/>
                    </a:solidFill>
                  </a:tcPr>
                </a:tc>
                <a:tc>
                  <a:txBody>
                    <a:bodyPr/>
                    <a:lstStyle/>
                    <a:p>
                      <a:pPr algn="ctr">
                        <a:lnSpc>
                          <a:spcPct val="100000"/>
                        </a:lnSpc>
                        <a:spcBef>
                          <a:spcPts val="675"/>
                        </a:spcBef>
                      </a:pPr>
                      <a:r>
                        <a:rPr dirty="0" sz="1100" spc="-20">
                          <a:latin typeface="Microsoft YaHei"/>
                          <a:cs typeface="Microsoft YaHei"/>
                        </a:rPr>
                        <a:t>4.9G</a:t>
                      </a:r>
                      <a:endParaRPr sz="1100">
                        <a:latin typeface="Microsoft YaHei"/>
                        <a:cs typeface="Microsoft YaHei"/>
                      </a:endParaRPr>
                    </a:p>
                  </a:txBody>
                  <a:tcPr marL="0" marR="0" marB="0" marT="85725">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FFF6EF"/>
                    </a:solidFill>
                  </a:tcPr>
                </a:tc>
              </a:tr>
              <a:tr h="346710">
                <a:tc>
                  <a:txBody>
                    <a:bodyPr/>
                    <a:lstStyle/>
                    <a:p>
                      <a:pPr algn="ctr">
                        <a:lnSpc>
                          <a:spcPct val="100000"/>
                        </a:lnSpc>
                        <a:spcBef>
                          <a:spcPts val="735"/>
                        </a:spcBef>
                      </a:pPr>
                      <a:r>
                        <a:rPr dirty="0" sz="1100" spc="-30">
                          <a:latin typeface="Microsoft YaHei"/>
                          <a:cs typeface="Microsoft YaHei"/>
                        </a:rPr>
                        <a:t>微站作用</a:t>
                      </a:r>
                      <a:endParaRPr sz="1100">
                        <a:latin typeface="Microsoft YaHei"/>
                        <a:cs typeface="Microsoft YaHei"/>
                      </a:endParaRPr>
                    </a:p>
                  </a:txBody>
                  <a:tcPr marL="0" marR="0" marB="0" marT="93345">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FFECDE"/>
                    </a:solidFill>
                  </a:tcPr>
                </a:tc>
                <a:tc>
                  <a:txBody>
                    <a:bodyPr/>
                    <a:lstStyle/>
                    <a:p>
                      <a:pPr algn="ctr">
                        <a:lnSpc>
                          <a:spcPct val="100000"/>
                        </a:lnSpc>
                        <a:spcBef>
                          <a:spcPts val="730"/>
                        </a:spcBef>
                      </a:pPr>
                      <a:r>
                        <a:rPr dirty="0" sz="1100" spc="-20">
                          <a:latin typeface="Microsoft YaHei"/>
                          <a:cs typeface="Microsoft YaHei"/>
                        </a:rPr>
                        <a:t>覆盖为主（宏站替代</a:t>
                      </a:r>
                      <a:r>
                        <a:rPr dirty="0" sz="1100" spc="-50">
                          <a:latin typeface="Microsoft YaHei"/>
                          <a:cs typeface="Microsoft YaHei"/>
                        </a:rPr>
                        <a:t>）</a:t>
                      </a:r>
                      <a:endParaRPr sz="1100">
                        <a:latin typeface="Microsoft YaHei"/>
                        <a:cs typeface="Microsoft YaHei"/>
                      </a:endParaRPr>
                    </a:p>
                  </a:txBody>
                  <a:tcPr marL="0" marR="0" marB="0" marT="9271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FFECDE"/>
                    </a:solidFill>
                  </a:tcPr>
                </a:tc>
                <a:tc>
                  <a:txBody>
                    <a:bodyPr/>
                    <a:lstStyle/>
                    <a:p>
                      <a:pPr algn="ctr">
                        <a:lnSpc>
                          <a:spcPct val="100000"/>
                        </a:lnSpc>
                        <a:spcBef>
                          <a:spcPts val="730"/>
                        </a:spcBef>
                      </a:pPr>
                      <a:r>
                        <a:rPr dirty="0" sz="1100" spc="-25">
                          <a:latin typeface="Microsoft YaHei"/>
                          <a:cs typeface="Microsoft YaHei"/>
                        </a:rPr>
                        <a:t>容量为主，兼顾覆盖</a:t>
                      </a:r>
                      <a:endParaRPr sz="1100">
                        <a:latin typeface="Microsoft YaHei"/>
                        <a:cs typeface="Microsoft YaHei"/>
                      </a:endParaRPr>
                    </a:p>
                  </a:txBody>
                  <a:tcPr marL="0" marR="0" marB="0" marT="9271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solidFill>
                      <a:srgbClr val="FFECDE"/>
                    </a:solidFill>
                  </a:tcPr>
                </a:tc>
              </a:tr>
              <a:tr h="332105">
                <a:tc>
                  <a:txBody>
                    <a:bodyPr/>
                    <a:lstStyle/>
                    <a:p>
                      <a:pPr algn="ctr">
                        <a:lnSpc>
                          <a:spcPct val="100000"/>
                        </a:lnSpc>
                        <a:spcBef>
                          <a:spcPts val="675"/>
                        </a:spcBef>
                      </a:pPr>
                      <a:r>
                        <a:rPr dirty="0" sz="1100" spc="-25">
                          <a:latin typeface="Microsoft YaHei"/>
                          <a:cs typeface="Microsoft YaHei"/>
                        </a:rPr>
                        <a:t>微站有效范围</a:t>
                      </a:r>
                      <a:endParaRPr sz="1100">
                        <a:latin typeface="Microsoft YaHei"/>
                        <a:cs typeface="Microsoft YaHei"/>
                      </a:endParaRPr>
                    </a:p>
                  </a:txBody>
                  <a:tcPr marL="0" marR="0" marB="0" marT="8572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6EF"/>
                    </a:solidFill>
                  </a:tcPr>
                </a:tc>
                <a:tc>
                  <a:txBody>
                    <a:bodyPr/>
                    <a:lstStyle/>
                    <a:p>
                      <a:pPr algn="ctr">
                        <a:lnSpc>
                          <a:spcPct val="100000"/>
                        </a:lnSpc>
                        <a:spcBef>
                          <a:spcPts val="675"/>
                        </a:spcBef>
                      </a:pPr>
                      <a:r>
                        <a:rPr dirty="0" sz="1100" spc="-20">
                          <a:latin typeface="Microsoft YaHei"/>
                          <a:cs typeface="Microsoft YaHei"/>
                        </a:rPr>
                        <a:t>10米</a:t>
                      </a:r>
                      <a:r>
                        <a:rPr dirty="0" sz="1100" spc="-10">
                          <a:latin typeface="Microsoft YaHei"/>
                          <a:cs typeface="Microsoft YaHei"/>
                        </a:rPr>
                        <a:t>～200</a:t>
                      </a:r>
                      <a:r>
                        <a:rPr dirty="0" sz="1100" spc="-60">
                          <a:latin typeface="Microsoft YaHei"/>
                          <a:cs typeface="Microsoft YaHei"/>
                        </a:rPr>
                        <a:t>米</a:t>
                      </a:r>
                      <a:endParaRPr sz="1100">
                        <a:latin typeface="Microsoft YaHei"/>
                        <a:cs typeface="Microsoft YaHei"/>
                      </a:endParaRPr>
                    </a:p>
                  </a:txBody>
                  <a:tcPr marL="0" marR="0" marB="0" marT="8572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6EF"/>
                    </a:solidFill>
                  </a:tcPr>
                </a:tc>
                <a:tc>
                  <a:txBody>
                    <a:bodyPr/>
                    <a:lstStyle/>
                    <a:p>
                      <a:pPr algn="ctr">
                        <a:lnSpc>
                          <a:spcPct val="100000"/>
                        </a:lnSpc>
                        <a:spcBef>
                          <a:spcPts val="675"/>
                        </a:spcBef>
                      </a:pPr>
                      <a:r>
                        <a:rPr dirty="0" sz="1100" spc="-20">
                          <a:latin typeface="Microsoft YaHei"/>
                          <a:cs typeface="Microsoft YaHei"/>
                        </a:rPr>
                        <a:t>10米</a:t>
                      </a:r>
                      <a:r>
                        <a:rPr dirty="0" sz="1100" spc="-10">
                          <a:latin typeface="Microsoft YaHei"/>
                          <a:cs typeface="Microsoft YaHei"/>
                        </a:rPr>
                        <a:t>～100</a:t>
                      </a:r>
                      <a:r>
                        <a:rPr dirty="0" sz="1100" spc="-35">
                          <a:latin typeface="Microsoft YaHei"/>
                          <a:cs typeface="Microsoft YaHei"/>
                        </a:rPr>
                        <a:t>米？</a:t>
                      </a:r>
                      <a:endParaRPr sz="1100">
                        <a:latin typeface="Microsoft YaHei"/>
                        <a:cs typeface="Microsoft YaHei"/>
                      </a:endParaRPr>
                    </a:p>
                  </a:txBody>
                  <a:tcPr marL="0" marR="0" marB="0" marT="8572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6EF"/>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83438" y="884059"/>
            <a:ext cx="8676005" cy="1219200"/>
            <a:chOff x="183438" y="884059"/>
            <a:chExt cx="8676005" cy="1219200"/>
          </a:xfrm>
        </p:grpSpPr>
        <p:pic>
          <p:nvPicPr>
            <p:cNvPr id="3" name="object 3" descr=""/>
            <p:cNvPicPr/>
            <p:nvPr/>
          </p:nvPicPr>
          <p:blipFill>
            <a:blip r:embed="rId2" cstate="print"/>
            <a:stretch>
              <a:fillRect/>
            </a:stretch>
          </p:blipFill>
          <p:spPr>
            <a:xfrm>
              <a:off x="233171" y="934211"/>
              <a:ext cx="2432303" cy="305561"/>
            </a:xfrm>
            <a:prstGeom prst="rect">
              <a:avLst/>
            </a:prstGeom>
          </p:spPr>
        </p:pic>
        <p:pic>
          <p:nvPicPr>
            <p:cNvPr id="4" name="object 4" descr=""/>
            <p:cNvPicPr/>
            <p:nvPr/>
          </p:nvPicPr>
          <p:blipFill>
            <a:blip r:embed="rId3" cstate="print"/>
            <a:stretch>
              <a:fillRect/>
            </a:stretch>
          </p:blipFill>
          <p:spPr>
            <a:xfrm>
              <a:off x="415290" y="925829"/>
              <a:ext cx="2119883" cy="268223"/>
            </a:xfrm>
            <a:prstGeom prst="rect">
              <a:avLst/>
            </a:prstGeom>
          </p:spPr>
        </p:pic>
        <p:sp>
          <p:nvSpPr>
            <p:cNvPr id="5" name="object 5" descr=""/>
            <p:cNvSpPr/>
            <p:nvPr/>
          </p:nvSpPr>
          <p:spPr>
            <a:xfrm>
              <a:off x="183438" y="884059"/>
              <a:ext cx="2430780" cy="304165"/>
            </a:xfrm>
            <a:custGeom>
              <a:avLst/>
              <a:gdLst/>
              <a:ahLst/>
              <a:cxnLst/>
              <a:rect l="l" t="t" r="r" b="b"/>
              <a:pathLst>
                <a:path w="2430780" h="304165">
                  <a:moveTo>
                    <a:pt x="2430589" y="0"/>
                  </a:moveTo>
                  <a:lnTo>
                    <a:pt x="0" y="0"/>
                  </a:lnTo>
                  <a:lnTo>
                    <a:pt x="0" y="303784"/>
                  </a:lnTo>
                  <a:lnTo>
                    <a:pt x="2430589" y="303784"/>
                  </a:lnTo>
                  <a:lnTo>
                    <a:pt x="2430589" y="0"/>
                  </a:lnTo>
                  <a:close/>
                </a:path>
              </a:pathLst>
            </a:custGeom>
            <a:solidFill>
              <a:srgbClr val="333399"/>
            </a:solidFill>
          </p:spPr>
          <p:txBody>
            <a:bodyPr wrap="square" lIns="0" tIns="0" rIns="0" bIns="0" rtlCol="0"/>
            <a:lstStyle/>
            <a:p/>
          </p:txBody>
        </p:sp>
        <p:sp>
          <p:nvSpPr>
            <p:cNvPr id="6" name="object 6" descr=""/>
            <p:cNvSpPr/>
            <p:nvPr/>
          </p:nvSpPr>
          <p:spPr>
            <a:xfrm>
              <a:off x="253542" y="1202474"/>
              <a:ext cx="8606155" cy="900430"/>
            </a:xfrm>
            <a:custGeom>
              <a:avLst/>
              <a:gdLst/>
              <a:ahLst/>
              <a:cxnLst/>
              <a:rect l="l" t="t" r="r" b="b"/>
              <a:pathLst>
                <a:path w="8606155" h="900430">
                  <a:moveTo>
                    <a:pt x="8605748" y="0"/>
                  </a:moveTo>
                  <a:lnTo>
                    <a:pt x="0" y="0"/>
                  </a:lnTo>
                  <a:lnTo>
                    <a:pt x="0" y="900252"/>
                  </a:lnTo>
                  <a:lnTo>
                    <a:pt x="8605748" y="900252"/>
                  </a:lnTo>
                  <a:lnTo>
                    <a:pt x="8605748" y="0"/>
                  </a:lnTo>
                  <a:close/>
                </a:path>
              </a:pathLst>
            </a:custGeom>
            <a:solidFill>
              <a:srgbClr val="E7F3F4"/>
            </a:solidFill>
          </p:spPr>
          <p:txBody>
            <a:bodyPr wrap="square" lIns="0" tIns="0" rIns="0" bIns="0" rtlCol="0"/>
            <a:lstStyle/>
            <a:p/>
          </p:txBody>
        </p:sp>
      </p:grpSp>
      <p:sp>
        <p:nvSpPr>
          <p:cNvPr id="7" name="object 7" descr=""/>
          <p:cNvSpPr txBox="1"/>
          <p:nvPr/>
        </p:nvSpPr>
        <p:spPr>
          <a:xfrm>
            <a:off x="309417" y="910479"/>
            <a:ext cx="8470265" cy="1123950"/>
          </a:xfrm>
          <a:prstGeom prst="rect">
            <a:avLst/>
          </a:prstGeom>
        </p:spPr>
        <p:txBody>
          <a:bodyPr wrap="square" lIns="0" tIns="12065" rIns="0" bIns="0" rtlCol="0" vert="horz">
            <a:spAutoFit/>
          </a:bodyPr>
          <a:lstStyle/>
          <a:p>
            <a:pPr marL="162560">
              <a:lnSpc>
                <a:spcPct val="100000"/>
              </a:lnSpc>
              <a:spcBef>
                <a:spcPts val="95"/>
              </a:spcBef>
            </a:pPr>
            <a:r>
              <a:rPr dirty="0" sz="1400" spc="-25">
                <a:solidFill>
                  <a:srgbClr val="FFFFFF"/>
                </a:solidFill>
                <a:latin typeface="Microsoft YaHei"/>
                <a:cs typeface="Microsoft YaHei"/>
              </a:rPr>
              <a:t>微站需求分析-需求位置</a:t>
            </a:r>
            <a:endParaRPr sz="1400">
              <a:latin typeface="Microsoft YaHei"/>
              <a:cs typeface="Microsoft YaHei"/>
            </a:endParaRPr>
          </a:p>
          <a:p>
            <a:pPr marL="226060" marR="5080" indent="-213995">
              <a:lnSpc>
                <a:spcPct val="150000"/>
              </a:lnSpc>
              <a:spcBef>
                <a:spcPts val="495"/>
              </a:spcBef>
              <a:buFont typeface="Wingdings"/>
              <a:buChar char=""/>
              <a:tabLst>
                <a:tab pos="227329" algn="l"/>
              </a:tabLst>
            </a:pPr>
            <a:r>
              <a:rPr dirty="0" sz="1200" spc="-5">
                <a:solidFill>
                  <a:srgbClr val="3E3E3E"/>
                </a:solidFill>
                <a:latin typeface="Microsoft YaHei"/>
                <a:cs typeface="Microsoft YaHei"/>
              </a:rPr>
              <a:t>未来移动数据业务飞速发展，热点地区的用户体验一直是当前网络架构中存在的问题。由于低频段频谱资源稀缺，仅仅依靠	提升频谱效率无法满足移动数据流量增长的需求。</a:t>
            </a:r>
            <a:endParaRPr sz="1200">
              <a:latin typeface="Microsoft YaHei"/>
              <a:cs typeface="Microsoft YaHei"/>
            </a:endParaRPr>
          </a:p>
          <a:p>
            <a:pPr marL="226695" indent="-213995">
              <a:lnSpc>
                <a:spcPct val="100000"/>
              </a:lnSpc>
              <a:spcBef>
                <a:spcPts val="720"/>
              </a:spcBef>
              <a:buFont typeface="Wingdings"/>
              <a:buChar char=""/>
              <a:tabLst>
                <a:tab pos="226695" algn="l"/>
              </a:tabLst>
            </a:pPr>
            <a:r>
              <a:rPr dirty="0" sz="1200" spc="-5">
                <a:solidFill>
                  <a:srgbClr val="3E3E3E"/>
                </a:solidFill>
                <a:latin typeface="Microsoft YaHei"/>
                <a:cs typeface="Microsoft YaHei"/>
              </a:rPr>
              <a:t>超密集组网可在局部热点区域实现百倍量级的容量提升。但首先需要分析局部热点区域位置，场景特点及单位面积需求量。</a:t>
            </a:r>
            <a:endParaRPr sz="1200">
              <a:latin typeface="Microsoft YaHei"/>
              <a:cs typeface="Microsoft YaHei"/>
            </a:endParaRPr>
          </a:p>
        </p:txBody>
      </p:sp>
      <p:sp>
        <p:nvSpPr>
          <p:cNvPr id="8" name="object 8"/>
          <p:cNvSpPr txBox="1">
            <a:spLocks noGrp="1"/>
          </p:cNvSpPr>
          <p:nvPr>
            <p:ph type="title"/>
          </p:nvPr>
        </p:nvSpPr>
        <p:spPr>
          <a:xfrm>
            <a:off x="3529393" y="187706"/>
            <a:ext cx="2467610" cy="513080"/>
          </a:xfrm>
          <a:prstGeom prst="rect"/>
        </p:spPr>
        <p:txBody>
          <a:bodyPr wrap="square" lIns="0" tIns="12065" rIns="0" bIns="0" rtlCol="0" vert="horz">
            <a:spAutoFit/>
          </a:bodyPr>
          <a:lstStyle/>
          <a:p>
            <a:pPr marL="12700">
              <a:lnSpc>
                <a:spcPct val="100000"/>
              </a:lnSpc>
              <a:spcBef>
                <a:spcPts val="95"/>
              </a:spcBef>
            </a:pPr>
            <a:r>
              <a:rPr dirty="0" spc="-40"/>
              <a:t>微站需求分析</a:t>
            </a:r>
          </a:p>
        </p:txBody>
      </p:sp>
      <p:sp>
        <p:nvSpPr>
          <p:cNvPr id="9" name="object 9" descr=""/>
          <p:cNvSpPr txBox="1"/>
          <p:nvPr/>
        </p:nvSpPr>
        <p:spPr>
          <a:xfrm>
            <a:off x="341842" y="4070579"/>
            <a:ext cx="8622665" cy="848360"/>
          </a:xfrm>
          <a:prstGeom prst="rect">
            <a:avLst/>
          </a:prstGeom>
        </p:spPr>
        <p:txBody>
          <a:bodyPr wrap="square" lIns="0" tIns="12700" rIns="0" bIns="0" rtlCol="0" vert="horz">
            <a:spAutoFit/>
          </a:bodyPr>
          <a:lstStyle/>
          <a:p>
            <a:pPr marL="226060" marR="5080" indent="-213995">
              <a:lnSpc>
                <a:spcPct val="150000"/>
              </a:lnSpc>
              <a:spcBef>
                <a:spcPts val="100"/>
              </a:spcBef>
              <a:buFont typeface="Wingdings"/>
              <a:buChar char=""/>
              <a:tabLst>
                <a:tab pos="227329" algn="l"/>
              </a:tabLst>
            </a:pPr>
            <a:r>
              <a:rPr dirty="0" sz="1200" spc="-5">
                <a:solidFill>
                  <a:srgbClr val="3E3E3E"/>
                </a:solidFill>
                <a:latin typeface="Microsoft YaHei"/>
                <a:cs typeface="Microsoft YaHei"/>
              </a:rPr>
              <a:t>热点区域内人员集中，满足覆盖是基本，容量为主要需求，一般情况下办公室、大中型住宅区、密集街区、校园、大型集会、	体育场和地铁、高铁等交通枢纽等，某些场景容量解决需通过密集微站与室分解决。</a:t>
            </a:r>
            <a:endParaRPr sz="1200">
              <a:latin typeface="Microsoft YaHei"/>
              <a:cs typeface="Microsoft YaHei"/>
            </a:endParaRPr>
          </a:p>
          <a:p>
            <a:pPr marL="226695" indent="-213995">
              <a:lnSpc>
                <a:spcPct val="100000"/>
              </a:lnSpc>
              <a:spcBef>
                <a:spcPts val="720"/>
              </a:spcBef>
              <a:buFont typeface="Wingdings"/>
              <a:buChar char=""/>
              <a:tabLst>
                <a:tab pos="226695" algn="l"/>
              </a:tabLst>
            </a:pPr>
            <a:r>
              <a:rPr dirty="0" sz="1200" spc="-5">
                <a:solidFill>
                  <a:srgbClr val="3E3E3E"/>
                </a:solidFill>
                <a:latin typeface="Microsoft YaHei"/>
                <a:cs typeface="Microsoft YaHei"/>
              </a:rPr>
              <a:t>非热点区域覆盖需求，宏站无法解决的区域，同样可以通过微站和室分解决。</a:t>
            </a:r>
            <a:endParaRPr sz="1200">
              <a:latin typeface="Microsoft YaHei"/>
              <a:cs typeface="Microsoft YaHei"/>
            </a:endParaRPr>
          </a:p>
        </p:txBody>
      </p:sp>
      <p:grpSp>
        <p:nvGrpSpPr>
          <p:cNvPr id="10" name="object 10" descr=""/>
          <p:cNvGrpSpPr/>
          <p:nvPr/>
        </p:nvGrpSpPr>
        <p:grpSpPr>
          <a:xfrm>
            <a:off x="189893" y="2107556"/>
            <a:ext cx="8764270" cy="1833880"/>
            <a:chOff x="189893" y="2107556"/>
            <a:chExt cx="8764270" cy="1833880"/>
          </a:xfrm>
        </p:grpSpPr>
        <p:pic>
          <p:nvPicPr>
            <p:cNvPr id="11" name="object 11"/>
            <p:cNvPicPr/>
            <p:nvPr/>
          </p:nvPicPr>
          <p:blipFill>
            <a:blip r:embed="rId4" cstate="print"/>
            <a:stretch>
              <a:fillRect/>
            </a:stretch>
          </p:blipFill>
          <p:spPr>
            <a:xfrm>
              <a:off x="189893" y="2117001"/>
              <a:ext cx="2047884" cy="1824023"/>
            </a:xfrm>
            <a:prstGeom prst="rect">
              <a:avLst/>
            </a:prstGeom>
          </p:spPr>
        </p:pic>
        <p:pic>
          <p:nvPicPr>
            <p:cNvPr id="12" name="object 12"/>
            <p:cNvPicPr/>
            <p:nvPr/>
          </p:nvPicPr>
          <p:blipFill>
            <a:blip r:embed="rId5" cstate="print"/>
            <a:stretch>
              <a:fillRect/>
            </a:stretch>
          </p:blipFill>
          <p:spPr>
            <a:xfrm>
              <a:off x="2292311" y="2117001"/>
              <a:ext cx="2146858" cy="1817865"/>
            </a:xfrm>
            <a:prstGeom prst="rect">
              <a:avLst/>
            </a:prstGeom>
          </p:spPr>
        </p:pic>
        <p:pic>
          <p:nvPicPr>
            <p:cNvPr id="13" name="object 13"/>
            <p:cNvPicPr/>
            <p:nvPr/>
          </p:nvPicPr>
          <p:blipFill>
            <a:blip r:embed="rId6" cstate="print"/>
            <a:stretch>
              <a:fillRect/>
            </a:stretch>
          </p:blipFill>
          <p:spPr>
            <a:xfrm>
              <a:off x="4504804" y="2117001"/>
              <a:ext cx="2275554" cy="1817864"/>
            </a:xfrm>
            <a:prstGeom prst="rect">
              <a:avLst/>
            </a:prstGeom>
          </p:spPr>
        </p:pic>
        <p:pic>
          <p:nvPicPr>
            <p:cNvPr id="14" name="object 14"/>
            <p:cNvPicPr/>
            <p:nvPr/>
          </p:nvPicPr>
          <p:blipFill>
            <a:blip r:embed="rId7" cstate="print"/>
            <a:stretch>
              <a:fillRect/>
            </a:stretch>
          </p:blipFill>
          <p:spPr>
            <a:xfrm>
              <a:off x="6835241" y="2107556"/>
              <a:ext cx="2118864" cy="1817860"/>
            </a:xfrm>
            <a:prstGeom prst="rect">
              <a:avLst/>
            </a:prstGeom>
          </p:spPr>
        </p:pic>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800100"/>
          </a:xfrm>
          <a:custGeom>
            <a:avLst/>
            <a:gdLst/>
            <a:ahLst/>
            <a:cxnLst/>
            <a:rect l="l" t="t" r="r" b="b"/>
            <a:pathLst>
              <a:path w="9144000" h="800100">
                <a:moveTo>
                  <a:pt x="9144000" y="0"/>
                </a:moveTo>
                <a:lnTo>
                  <a:pt x="0" y="0"/>
                </a:lnTo>
                <a:lnTo>
                  <a:pt x="0" y="800100"/>
                </a:lnTo>
                <a:lnTo>
                  <a:pt x="9144000" y="800100"/>
                </a:lnTo>
                <a:lnTo>
                  <a:pt x="9144000" y="0"/>
                </a:lnTo>
                <a:close/>
              </a:path>
            </a:pathLst>
          </a:custGeom>
          <a:solidFill>
            <a:srgbClr val="0056AC"/>
          </a:solidFill>
        </p:spPr>
        <p:txBody>
          <a:bodyPr wrap="square" lIns="0" tIns="0" rIns="0" bIns="0" rtlCol="0"/>
          <a:lstStyle/>
          <a:p/>
        </p:txBody>
      </p:sp>
      <p:pic>
        <p:nvPicPr>
          <p:cNvPr id="3" name="object 3" descr=""/>
          <p:cNvPicPr/>
          <p:nvPr/>
        </p:nvPicPr>
        <p:blipFill>
          <a:blip r:embed="rId2" cstate="print"/>
          <a:stretch>
            <a:fillRect/>
          </a:stretch>
        </p:blipFill>
        <p:spPr>
          <a:xfrm>
            <a:off x="0" y="4972050"/>
            <a:ext cx="9144000" cy="171450"/>
          </a:xfrm>
          <a:prstGeom prst="rect">
            <a:avLst/>
          </a:prstGeom>
        </p:spPr>
      </p:pic>
      <p:sp>
        <p:nvSpPr>
          <p:cNvPr id="4" name="object 4" descr=""/>
          <p:cNvSpPr/>
          <p:nvPr/>
        </p:nvSpPr>
        <p:spPr>
          <a:xfrm>
            <a:off x="1066006" y="114894"/>
            <a:ext cx="1905" cy="571500"/>
          </a:xfrm>
          <a:custGeom>
            <a:avLst/>
            <a:gdLst/>
            <a:ahLst/>
            <a:cxnLst/>
            <a:rect l="l" t="t" r="r" b="b"/>
            <a:pathLst>
              <a:path w="1905" h="571500">
                <a:moveTo>
                  <a:pt x="1587" y="0"/>
                </a:moveTo>
                <a:lnTo>
                  <a:pt x="0" y="571500"/>
                </a:lnTo>
              </a:path>
            </a:pathLst>
          </a:custGeom>
          <a:ln w="9525">
            <a:solidFill>
              <a:srgbClr val="B6DCDF"/>
            </a:solidFill>
          </a:ln>
        </p:spPr>
        <p:txBody>
          <a:bodyPr wrap="square" lIns="0" tIns="0" rIns="0" bIns="0" rtlCol="0"/>
          <a:lstStyle/>
          <a:p/>
        </p:txBody>
      </p:sp>
      <p:pic>
        <p:nvPicPr>
          <p:cNvPr id="5" name="object 5" descr=""/>
          <p:cNvPicPr/>
          <p:nvPr/>
        </p:nvPicPr>
        <p:blipFill>
          <a:blip r:embed="rId3" cstate="print"/>
          <a:stretch>
            <a:fillRect/>
          </a:stretch>
        </p:blipFill>
        <p:spPr>
          <a:xfrm>
            <a:off x="152400" y="133350"/>
            <a:ext cx="804532" cy="576579"/>
          </a:xfrm>
          <a:prstGeom prst="rect">
            <a:avLst/>
          </a:prstGeom>
        </p:spPr>
      </p:pic>
      <p:grpSp>
        <p:nvGrpSpPr>
          <p:cNvPr id="6" name="object 6" descr=""/>
          <p:cNvGrpSpPr/>
          <p:nvPr/>
        </p:nvGrpSpPr>
        <p:grpSpPr>
          <a:xfrm>
            <a:off x="211836" y="842771"/>
            <a:ext cx="2475230" cy="314325"/>
            <a:chOff x="211836" y="842771"/>
            <a:chExt cx="2475230" cy="314325"/>
          </a:xfrm>
        </p:grpSpPr>
        <p:pic>
          <p:nvPicPr>
            <p:cNvPr id="7" name="object 7" descr=""/>
            <p:cNvPicPr/>
            <p:nvPr/>
          </p:nvPicPr>
          <p:blipFill>
            <a:blip r:embed="rId4" cstate="print"/>
            <a:stretch>
              <a:fillRect/>
            </a:stretch>
          </p:blipFill>
          <p:spPr>
            <a:xfrm>
              <a:off x="233934" y="851153"/>
              <a:ext cx="2379725" cy="305561"/>
            </a:xfrm>
            <a:prstGeom prst="rect">
              <a:avLst/>
            </a:prstGeom>
          </p:spPr>
        </p:pic>
        <p:pic>
          <p:nvPicPr>
            <p:cNvPr id="8" name="object 8" descr=""/>
            <p:cNvPicPr/>
            <p:nvPr/>
          </p:nvPicPr>
          <p:blipFill>
            <a:blip r:embed="rId5" cstate="print"/>
            <a:stretch>
              <a:fillRect/>
            </a:stretch>
          </p:blipFill>
          <p:spPr>
            <a:xfrm>
              <a:off x="211836" y="842771"/>
              <a:ext cx="2474975" cy="268223"/>
            </a:xfrm>
            <a:prstGeom prst="rect">
              <a:avLst/>
            </a:prstGeom>
          </p:spPr>
        </p:pic>
      </p:grpSp>
      <p:sp>
        <p:nvSpPr>
          <p:cNvPr id="9" name="object 9" descr=""/>
          <p:cNvSpPr txBox="1"/>
          <p:nvPr/>
        </p:nvSpPr>
        <p:spPr>
          <a:xfrm>
            <a:off x="183642" y="801090"/>
            <a:ext cx="2378710" cy="304165"/>
          </a:xfrm>
          <a:prstGeom prst="rect">
            <a:avLst/>
          </a:prstGeom>
          <a:solidFill>
            <a:srgbClr val="333399"/>
          </a:solidFill>
        </p:spPr>
        <p:txBody>
          <a:bodyPr wrap="square" lIns="0" tIns="38735" rIns="0" bIns="0" rtlCol="0" vert="horz">
            <a:spAutoFit/>
          </a:bodyPr>
          <a:lstStyle/>
          <a:p>
            <a:pPr marL="84455">
              <a:lnSpc>
                <a:spcPct val="100000"/>
              </a:lnSpc>
              <a:spcBef>
                <a:spcPts val="305"/>
              </a:spcBef>
            </a:pPr>
            <a:r>
              <a:rPr dirty="0" sz="1400" spc="-25">
                <a:solidFill>
                  <a:srgbClr val="FFFFFF"/>
                </a:solidFill>
                <a:latin typeface="Microsoft YaHei"/>
                <a:cs typeface="Microsoft YaHei"/>
              </a:rPr>
              <a:t>微站需求分析-主要场景特征</a:t>
            </a:r>
            <a:endParaRPr sz="1400">
              <a:latin typeface="Microsoft YaHei"/>
              <a:cs typeface="Microsoft YaHei"/>
            </a:endParaRPr>
          </a:p>
        </p:txBody>
      </p:sp>
      <p:sp>
        <p:nvSpPr>
          <p:cNvPr id="10" name="object 10" descr=""/>
          <p:cNvSpPr/>
          <p:nvPr/>
        </p:nvSpPr>
        <p:spPr>
          <a:xfrm>
            <a:off x="152400" y="1123950"/>
            <a:ext cx="8606155" cy="323215"/>
          </a:xfrm>
          <a:custGeom>
            <a:avLst/>
            <a:gdLst/>
            <a:ahLst/>
            <a:cxnLst/>
            <a:rect l="l" t="t" r="r" b="b"/>
            <a:pathLst>
              <a:path w="8606155" h="323215">
                <a:moveTo>
                  <a:pt x="8605748" y="0"/>
                </a:moveTo>
                <a:lnTo>
                  <a:pt x="0" y="0"/>
                </a:lnTo>
                <a:lnTo>
                  <a:pt x="0" y="323164"/>
                </a:lnTo>
                <a:lnTo>
                  <a:pt x="8605748" y="323164"/>
                </a:lnTo>
                <a:lnTo>
                  <a:pt x="8605748" y="0"/>
                </a:lnTo>
                <a:close/>
              </a:path>
            </a:pathLst>
          </a:custGeom>
          <a:solidFill>
            <a:srgbClr val="E7F3F4"/>
          </a:solidFill>
        </p:spPr>
        <p:txBody>
          <a:bodyPr wrap="square" lIns="0" tIns="0" rIns="0" bIns="0" rtlCol="0"/>
          <a:lstStyle/>
          <a:p/>
        </p:txBody>
      </p:sp>
      <p:sp>
        <p:nvSpPr>
          <p:cNvPr id="11" name="object 11" descr=""/>
          <p:cNvSpPr txBox="1"/>
          <p:nvPr/>
        </p:nvSpPr>
        <p:spPr>
          <a:xfrm>
            <a:off x="208279" y="1195069"/>
            <a:ext cx="5964555" cy="193040"/>
          </a:xfrm>
          <a:prstGeom prst="rect">
            <a:avLst/>
          </a:prstGeom>
        </p:spPr>
        <p:txBody>
          <a:bodyPr wrap="square" lIns="0" tIns="12065" rIns="0" bIns="0" rtlCol="0" vert="horz">
            <a:spAutoFit/>
          </a:bodyPr>
          <a:lstStyle/>
          <a:p>
            <a:pPr marL="226695" indent="-213995">
              <a:lnSpc>
                <a:spcPct val="100000"/>
              </a:lnSpc>
              <a:spcBef>
                <a:spcPts val="95"/>
              </a:spcBef>
              <a:buFont typeface="Wingdings"/>
              <a:buChar char=""/>
              <a:tabLst>
                <a:tab pos="226695" algn="l"/>
              </a:tabLst>
            </a:pPr>
            <a:r>
              <a:rPr dirty="0" sz="1100" spc="-25">
                <a:solidFill>
                  <a:srgbClr val="3E3E3E"/>
                </a:solidFill>
                <a:latin typeface="Microsoft YaHei"/>
                <a:cs typeface="Microsoft YaHei"/>
              </a:rPr>
              <a:t>微站的需求与场景特点密切相关，不同场景具有各自特征，对应微站需求的目的和数量不同。</a:t>
            </a:r>
            <a:endParaRPr sz="1100">
              <a:latin typeface="Microsoft YaHei"/>
              <a:cs typeface="Microsoft YaHei"/>
            </a:endParaRPr>
          </a:p>
        </p:txBody>
      </p:sp>
      <p:sp>
        <p:nvSpPr>
          <p:cNvPr id="12" name="object 12"/>
          <p:cNvSpPr txBox="1">
            <a:spLocks noGrp="1"/>
          </p:cNvSpPr>
          <p:nvPr>
            <p:ph type="title"/>
          </p:nvPr>
        </p:nvSpPr>
        <p:spPr>
          <a:xfrm>
            <a:off x="0" y="0"/>
            <a:ext cx="9144000" cy="800100"/>
          </a:xfrm>
          <a:prstGeom prst="rect"/>
          <a:ln w="9525">
            <a:solidFill>
              <a:srgbClr val="000000"/>
            </a:solidFill>
          </a:ln>
        </p:spPr>
        <p:txBody>
          <a:bodyPr wrap="square" lIns="0" tIns="189865" rIns="0" bIns="0" rtlCol="0" vert="horz">
            <a:spAutoFit/>
          </a:bodyPr>
          <a:lstStyle/>
          <a:p>
            <a:pPr algn="ctr" marL="229235">
              <a:lnSpc>
                <a:spcPct val="100000"/>
              </a:lnSpc>
              <a:spcBef>
                <a:spcPts val="1495"/>
              </a:spcBef>
            </a:pPr>
            <a:r>
              <a:rPr dirty="0" spc="-40"/>
              <a:t>微站需求分析</a:t>
            </a:r>
          </a:p>
        </p:txBody>
      </p:sp>
      <p:grpSp>
        <p:nvGrpSpPr>
          <p:cNvPr id="13" name="object 13" descr=""/>
          <p:cNvGrpSpPr/>
          <p:nvPr/>
        </p:nvGrpSpPr>
        <p:grpSpPr>
          <a:xfrm>
            <a:off x="1324686" y="1397192"/>
            <a:ext cx="6899275" cy="1071880"/>
            <a:chOff x="1324686" y="1397192"/>
            <a:chExt cx="6899275" cy="1071880"/>
          </a:xfrm>
        </p:grpSpPr>
        <p:pic>
          <p:nvPicPr>
            <p:cNvPr id="14" name="object 14"/>
            <p:cNvPicPr/>
            <p:nvPr/>
          </p:nvPicPr>
          <p:blipFill>
            <a:blip r:embed="rId6" cstate="print"/>
            <a:stretch>
              <a:fillRect/>
            </a:stretch>
          </p:blipFill>
          <p:spPr>
            <a:xfrm>
              <a:off x="1324686" y="1397192"/>
              <a:ext cx="1005216" cy="688525"/>
            </a:xfrm>
            <a:prstGeom prst="rect">
              <a:avLst/>
            </a:prstGeom>
          </p:spPr>
        </p:pic>
        <p:pic>
          <p:nvPicPr>
            <p:cNvPr id="15" name="object 15" descr=""/>
            <p:cNvPicPr/>
            <p:nvPr/>
          </p:nvPicPr>
          <p:blipFill>
            <a:blip r:embed="rId7" cstate="print"/>
            <a:stretch>
              <a:fillRect/>
            </a:stretch>
          </p:blipFill>
          <p:spPr>
            <a:xfrm>
              <a:off x="3170682" y="2109977"/>
              <a:ext cx="1059941" cy="329945"/>
            </a:xfrm>
            <a:prstGeom prst="rect">
              <a:avLst/>
            </a:prstGeom>
          </p:spPr>
        </p:pic>
        <p:pic>
          <p:nvPicPr>
            <p:cNvPr id="16" name="object 16" descr=""/>
            <p:cNvPicPr/>
            <p:nvPr/>
          </p:nvPicPr>
          <p:blipFill>
            <a:blip r:embed="rId8" cstate="print"/>
            <a:stretch>
              <a:fillRect/>
            </a:stretch>
          </p:blipFill>
          <p:spPr>
            <a:xfrm>
              <a:off x="3169920" y="2106929"/>
              <a:ext cx="1103375" cy="291845"/>
            </a:xfrm>
            <a:prstGeom prst="rect">
              <a:avLst/>
            </a:prstGeom>
          </p:spPr>
        </p:pic>
        <p:pic>
          <p:nvPicPr>
            <p:cNvPr id="17" name="object 17" descr=""/>
            <p:cNvPicPr/>
            <p:nvPr/>
          </p:nvPicPr>
          <p:blipFill>
            <a:blip r:embed="rId9" cstate="print"/>
            <a:stretch>
              <a:fillRect/>
            </a:stretch>
          </p:blipFill>
          <p:spPr>
            <a:xfrm>
              <a:off x="3216617" y="2135619"/>
              <a:ext cx="968248" cy="238531"/>
            </a:xfrm>
            <a:prstGeom prst="rect">
              <a:avLst/>
            </a:prstGeom>
          </p:spPr>
        </p:pic>
        <p:sp>
          <p:nvSpPr>
            <p:cNvPr id="18" name="object 18" descr=""/>
            <p:cNvSpPr/>
            <p:nvPr/>
          </p:nvSpPr>
          <p:spPr>
            <a:xfrm>
              <a:off x="3216621" y="2135614"/>
              <a:ext cx="968375" cy="238760"/>
            </a:xfrm>
            <a:custGeom>
              <a:avLst/>
              <a:gdLst/>
              <a:ahLst/>
              <a:cxnLst/>
              <a:rect l="l" t="t" r="r" b="b"/>
              <a:pathLst>
                <a:path w="968375" h="238760">
                  <a:moveTo>
                    <a:pt x="0" y="0"/>
                  </a:moveTo>
                  <a:lnTo>
                    <a:pt x="968247" y="0"/>
                  </a:lnTo>
                  <a:lnTo>
                    <a:pt x="968247" y="238531"/>
                  </a:lnTo>
                  <a:lnTo>
                    <a:pt x="0" y="238531"/>
                  </a:lnTo>
                  <a:lnTo>
                    <a:pt x="0" y="0"/>
                  </a:lnTo>
                  <a:close/>
                </a:path>
              </a:pathLst>
            </a:custGeom>
            <a:ln w="9525">
              <a:solidFill>
                <a:srgbClr val="D5E8EA"/>
              </a:solidFill>
            </a:ln>
          </p:spPr>
          <p:txBody>
            <a:bodyPr wrap="square" lIns="0" tIns="0" rIns="0" bIns="0" rtlCol="0"/>
            <a:lstStyle/>
            <a:p/>
          </p:txBody>
        </p:sp>
        <p:pic>
          <p:nvPicPr>
            <p:cNvPr id="19" name="object 19"/>
            <p:cNvPicPr/>
            <p:nvPr/>
          </p:nvPicPr>
          <p:blipFill>
            <a:blip r:embed="rId10" cstate="print"/>
            <a:stretch>
              <a:fillRect/>
            </a:stretch>
          </p:blipFill>
          <p:spPr>
            <a:xfrm>
              <a:off x="3225965" y="1407007"/>
              <a:ext cx="968243" cy="714969"/>
            </a:xfrm>
            <a:prstGeom prst="rect">
              <a:avLst/>
            </a:prstGeom>
          </p:spPr>
        </p:pic>
        <p:pic>
          <p:nvPicPr>
            <p:cNvPr id="20" name="object 20"/>
            <p:cNvPicPr/>
            <p:nvPr/>
          </p:nvPicPr>
          <p:blipFill>
            <a:blip r:embed="rId11" cstate="print"/>
            <a:stretch>
              <a:fillRect/>
            </a:stretch>
          </p:blipFill>
          <p:spPr>
            <a:xfrm>
              <a:off x="5080929" y="1407007"/>
              <a:ext cx="1120731" cy="738567"/>
            </a:xfrm>
            <a:prstGeom prst="rect">
              <a:avLst/>
            </a:prstGeom>
          </p:spPr>
        </p:pic>
        <p:pic>
          <p:nvPicPr>
            <p:cNvPr id="21" name="object 21" descr=""/>
            <p:cNvPicPr/>
            <p:nvPr/>
          </p:nvPicPr>
          <p:blipFill>
            <a:blip r:embed="rId12" cstate="print"/>
            <a:stretch>
              <a:fillRect/>
            </a:stretch>
          </p:blipFill>
          <p:spPr>
            <a:xfrm>
              <a:off x="7171944" y="2138172"/>
              <a:ext cx="1011161" cy="330707"/>
            </a:xfrm>
            <a:prstGeom prst="rect">
              <a:avLst/>
            </a:prstGeom>
          </p:spPr>
        </p:pic>
        <p:pic>
          <p:nvPicPr>
            <p:cNvPr id="22" name="object 22" descr=""/>
            <p:cNvPicPr/>
            <p:nvPr/>
          </p:nvPicPr>
          <p:blipFill>
            <a:blip r:embed="rId13" cstate="print"/>
            <a:stretch>
              <a:fillRect/>
            </a:stretch>
          </p:blipFill>
          <p:spPr>
            <a:xfrm>
              <a:off x="7216140" y="2135886"/>
              <a:ext cx="963929" cy="291845"/>
            </a:xfrm>
            <a:prstGeom prst="rect">
              <a:avLst/>
            </a:prstGeom>
          </p:spPr>
        </p:pic>
        <p:pic>
          <p:nvPicPr>
            <p:cNvPr id="23" name="object 23" descr=""/>
            <p:cNvPicPr/>
            <p:nvPr/>
          </p:nvPicPr>
          <p:blipFill>
            <a:blip r:embed="rId14" cstate="print"/>
            <a:stretch>
              <a:fillRect/>
            </a:stretch>
          </p:blipFill>
          <p:spPr>
            <a:xfrm>
              <a:off x="7218032" y="2164372"/>
              <a:ext cx="919429" cy="238531"/>
            </a:xfrm>
            <a:prstGeom prst="rect">
              <a:avLst/>
            </a:prstGeom>
          </p:spPr>
        </p:pic>
        <p:sp>
          <p:nvSpPr>
            <p:cNvPr id="24" name="object 24" descr=""/>
            <p:cNvSpPr/>
            <p:nvPr/>
          </p:nvSpPr>
          <p:spPr>
            <a:xfrm>
              <a:off x="7218035" y="2164378"/>
              <a:ext cx="919480" cy="238760"/>
            </a:xfrm>
            <a:custGeom>
              <a:avLst/>
              <a:gdLst/>
              <a:ahLst/>
              <a:cxnLst/>
              <a:rect l="l" t="t" r="r" b="b"/>
              <a:pathLst>
                <a:path w="919479" h="238760">
                  <a:moveTo>
                    <a:pt x="0" y="0"/>
                  </a:moveTo>
                  <a:lnTo>
                    <a:pt x="919429" y="0"/>
                  </a:lnTo>
                  <a:lnTo>
                    <a:pt x="919429" y="238531"/>
                  </a:lnTo>
                  <a:lnTo>
                    <a:pt x="0" y="238531"/>
                  </a:lnTo>
                  <a:lnTo>
                    <a:pt x="0" y="0"/>
                  </a:lnTo>
                  <a:close/>
                </a:path>
              </a:pathLst>
            </a:custGeom>
            <a:ln w="9525">
              <a:solidFill>
                <a:srgbClr val="D5E8EA"/>
              </a:solidFill>
            </a:ln>
          </p:spPr>
          <p:txBody>
            <a:bodyPr wrap="square" lIns="0" tIns="0" rIns="0" bIns="0" rtlCol="0"/>
            <a:lstStyle/>
            <a:p/>
          </p:txBody>
        </p:sp>
        <p:pic>
          <p:nvPicPr>
            <p:cNvPr id="25" name="object 25"/>
            <p:cNvPicPr/>
            <p:nvPr/>
          </p:nvPicPr>
          <p:blipFill>
            <a:blip r:embed="rId15" cstate="print"/>
            <a:stretch>
              <a:fillRect/>
            </a:stretch>
          </p:blipFill>
          <p:spPr>
            <a:xfrm>
              <a:off x="7022934" y="1425689"/>
              <a:ext cx="1200623" cy="728451"/>
            </a:xfrm>
            <a:prstGeom prst="rect">
              <a:avLst/>
            </a:prstGeom>
          </p:spPr>
        </p:pic>
      </p:grpSp>
      <p:grpSp>
        <p:nvGrpSpPr>
          <p:cNvPr id="26" name="object 26" descr=""/>
          <p:cNvGrpSpPr/>
          <p:nvPr/>
        </p:nvGrpSpPr>
        <p:grpSpPr>
          <a:xfrm>
            <a:off x="387210" y="2063495"/>
            <a:ext cx="8286115" cy="1039494"/>
            <a:chOff x="387210" y="2063495"/>
            <a:chExt cx="8286115" cy="1039494"/>
          </a:xfrm>
        </p:grpSpPr>
        <p:pic>
          <p:nvPicPr>
            <p:cNvPr id="27" name="object 27" descr=""/>
            <p:cNvPicPr/>
            <p:nvPr/>
          </p:nvPicPr>
          <p:blipFill>
            <a:blip r:embed="rId16" cstate="print"/>
            <a:stretch>
              <a:fillRect/>
            </a:stretch>
          </p:blipFill>
          <p:spPr>
            <a:xfrm>
              <a:off x="1336547" y="2066543"/>
              <a:ext cx="1011173" cy="330707"/>
            </a:xfrm>
            <a:prstGeom prst="rect">
              <a:avLst/>
            </a:prstGeom>
          </p:spPr>
        </p:pic>
        <p:pic>
          <p:nvPicPr>
            <p:cNvPr id="28" name="object 28" descr=""/>
            <p:cNvPicPr/>
            <p:nvPr/>
          </p:nvPicPr>
          <p:blipFill>
            <a:blip r:embed="rId13" cstate="print"/>
            <a:stretch>
              <a:fillRect/>
            </a:stretch>
          </p:blipFill>
          <p:spPr>
            <a:xfrm>
              <a:off x="1380744" y="2063495"/>
              <a:ext cx="963929" cy="291845"/>
            </a:xfrm>
            <a:prstGeom prst="rect">
              <a:avLst/>
            </a:prstGeom>
          </p:spPr>
        </p:pic>
        <p:pic>
          <p:nvPicPr>
            <p:cNvPr id="29" name="object 29" descr=""/>
            <p:cNvPicPr/>
            <p:nvPr/>
          </p:nvPicPr>
          <p:blipFill>
            <a:blip r:embed="rId17" cstate="print"/>
            <a:stretch>
              <a:fillRect/>
            </a:stretch>
          </p:blipFill>
          <p:spPr>
            <a:xfrm>
              <a:off x="1382712" y="2092540"/>
              <a:ext cx="919429" cy="238531"/>
            </a:xfrm>
            <a:prstGeom prst="rect">
              <a:avLst/>
            </a:prstGeom>
          </p:spPr>
        </p:pic>
        <p:sp>
          <p:nvSpPr>
            <p:cNvPr id="30" name="object 30" descr=""/>
            <p:cNvSpPr/>
            <p:nvPr/>
          </p:nvSpPr>
          <p:spPr>
            <a:xfrm>
              <a:off x="1382707" y="2092543"/>
              <a:ext cx="919480" cy="238760"/>
            </a:xfrm>
            <a:custGeom>
              <a:avLst/>
              <a:gdLst/>
              <a:ahLst/>
              <a:cxnLst/>
              <a:rect l="l" t="t" r="r" b="b"/>
              <a:pathLst>
                <a:path w="919480" h="238760">
                  <a:moveTo>
                    <a:pt x="0" y="0"/>
                  </a:moveTo>
                  <a:lnTo>
                    <a:pt x="919429" y="0"/>
                  </a:lnTo>
                  <a:lnTo>
                    <a:pt x="919429" y="238531"/>
                  </a:lnTo>
                  <a:lnTo>
                    <a:pt x="0" y="238531"/>
                  </a:lnTo>
                  <a:lnTo>
                    <a:pt x="0" y="0"/>
                  </a:lnTo>
                  <a:close/>
                </a:path>
              </a:pathLst>
            </a:custGeom>
            <a:ln w="9525">
              <a:solidFill>
                <a:srgbClr val="D5E8EA"/>
              </a:solidFill>
            </a:ln>
          </p:spPr>
          <p:txBody>
            <a:bodyPr wrap="square" lIns="0" tIns="0" rIns="0" bIns="0" rtlCol="0"/>
            <a:lstStyle/>
            <a:p/>
          </p:txBody>
        </p:sp>
        <p:pic>
          <p:nvPicPr>
            <p:cNvPr id="31" name="object 31" descr=""/>
            <p:cNvPicPr/>
            <p:nvPr/>
          </p:nvPicPr>
          <p:blipFill>
            <a:blip r:embed="rId18" cstate="print"/>
            <a:stretch>
              <a:fillRect/>
            </a:stretch>
          </p:blipFill>
          <p:spPr>
            <a:xfrm>
              <a:off x="5135880" y="2108453"/>
              <a:ext cx="1011173" cy="332993"/>
            </a:xfrm>
            <a:prstGeom prst="rect">
              <a:avLst/>
            </a:prstGeom>
          </p:spPr>
        </p:pic>
        <p:pic>
          <p:nvPicPr>
            <p:cNvPr id="32" name="object 32" descr=""/>
            <p:cNvPicPr/>
            <p:nvPr/>
          </p:nvPicPr>
          <p:blipFill>
            <a:blip r:embed="rId17" cstate="print"/>
            <a:stretch>
              <a:fillRect/>
            </a:stretch>
          </p:blipFill>
          <p:spPr>
            <a:xfrm>
              <a:off x="5181574" y="2136876"/>
              <a:ext cx="919429" cy="238531"/>
            </a:xfrm>
            <a:prstGeom prst="rect">
              <a:avLst/>
            </a:prstGeom>
          </p:spPr>
        </p:pic>
        <p:sp>
          <p:nvSpPr>
            <p:cNvPr id="33" name="object 33" descr=""/>
            <p:cNvSpPr/>
            <p:nvPr/>
          </p:nvSpPr>
          <p:spPr>
            <a:xfrm>
              <a:off x="5181579" y="2136881"/>
              <a:ext cx="919480" cy="238760"/>
            </a:xfrm>
            <a:custGeom>
              <a:avLst/>
              <a:gdLst/>
              <a:ahLst/>
              <a:cxnLst/>
              <a:rect l="l" t="t" r="r" b="b"/>
              <a:pathLst>
                <a:path w="919479" h="238760">
                  <a:moveTo>
                    <a:pt x="0" y="0"/>
                  </a:moveTo>
                  <a:lnTo>
                    <a:pt x="919429" y="0"/>
                  </a:lnTo>
                  <a:lnTo>
                    <a:pt x="919429" y="238531"/>
                  </a:lnTo>
                  <a:lnTo>
                    <a:pt x="0" y="238531"/>
                  </a:lnTo>
                  <a:lnTo>
                    <a:pt x="0" y="0"/>
                  </a:lnTo>
                  <a:close/>
                </a:path>
              </a:pathLst>
            </a:custGeom>
            <a:ln w="9525">
              <a:solidFill>
                <a:srgbClr val="D5E8EA"/>
              </a:solidFill>
            </a:ln>
          </p:spPr>
          <p:txBody>
            <a:bodyPr wrap="square" lIns="0" tIns="0" rIns="0" bIns="0" rtlCol="0"/>
            <a:lstStyle/>
            <a:p/>
          </p:txBody>
        </p:sp>
        <p:sp>
          <p:nvSpPr>
            <p:cNvPr id="34" name="object 34" descr=""/>
            <p:cNvSpPr/>
            <p:nvPr/>
          </p:nvSpPr>
          <p:spPr>
            <a:xfrm>
              <a:off x="399910" y="2368118"/>
              <a:ext cx="8260715" cy="293370"/>
            </a:xfrm>
            <a:custGeom>
              <a:avLst/>
              <a:gdLst/>
              <a:ahLst/>
              <a:cxnLst/>
              <a:rect l="l" t="t" r="r" b="b"/>
              <a:pathLst>
                <a:path w="8260715" h="293369">
                  <a:moveTo>
                    <a:pt x="6151092" y="0"/>
                  </a:moveTo>
                  <a:lnTo>
                    <a:pt x="4256824" y="0"/>
                  </a:lnTo>
                  <a:lnTo>
                    <a:pt x="2436914" y="0"/>
                  </a:lnTo>
                  <a:lnTo>
                    <a:pt x="762596" y="0"/>
                  </a:lnTo>
                  <a:lnTo>
                    <a:pt x="0" y="0"/>
                  </a:lnTo>
                  <a:lnTo>
                    <a:pt x="0" y="292900"/>
                  </a:lnTo>
                  <a:lnTo>
                    <a:pt x="762596" y="292900"/>
                  </a:lnTo>
                  <a:lnTo>
                    <a:pt x="2436914" y="292900"/>
                  </a:lnTo>
                  <a:lnTo>
                    <a:pt x="4256824" y="292900"/>
                  </a:lnTo>
                  <a:lnTo>
                    <a:pt x="6151092" y="292900"/>
                  </a:lnTo>
                  <a:lnTo>
                    <a:pt x="6151092" y="0"/>
                  </a:lnTo>
                  <a:close/>
                </a:path>
                <a:path w="8260715" h="293369">
                  <a:moveTo>
                    <a:pt x="8260639" y="0"/>
                  </a:moveTo>
                  <a:lnTo>
                    <a:pt x="6151105" y="0"/>
                  </a:lnTo>
                  <a:lnTo>
                    <a:pt x="6151105" y="292900"/>
                  </a:lnTo>
                  <a:lnTo>
                    <a:pt x="8260639" y="292900"/>
                  </a:lnTo>
                  <a:lnTo>
                    <a:pt x="8260639" y="0"/>
                  </a:lnTo>
                  <a:close/>
                </a:path>
              </a:pathLst>
            </a:custGeom>
            <a:solidFill>
              <a:srgbClr val="E9EDF4"/>
            </a:solidFill>
          </p:spPr>
          <p:txBody>
            <a:bodyPr wrap="square" lIns="0" tIns="0" rIns="0" bIns="0" rtlCol="0"/>
            <a:lstStyle/>
            <a:p/>
          </p:txBody>
        </p:sp>
        <p:sp>
          <p:nvSpPr>
            <p:cNvPr id="35" name="object 35" descr=""/>
            <p:cNvSpPr/>
            <p:nvPr/>
          </p:nvSpPr>
          <p:spPr>
            <a:xfrm>
              <a:off x="393560" y="2661009"/>
              <a:ext cx="8273415" cy="0"/>
            </a:xfrm>
            <a:custGeom>
              <a:avLst/>
              <a:gdLst/>
              <a:ahLst/>
              <a:cxnLst/>
              <a:rect l="l" t="t" r="r" b="b"/>
              <a:pathLst>
                <a:path w="8273415" h="0">
                  <a:moveTo>
                    <a:pt x="0" y="0"/>
                  </a:moveTo>
                  <a:lnTo>
                    <a:pt x="8273338" y="0"/>
                  </a:lnTo>
                </a:path>
              </a:pathLst>
            </a:custGeom>
            <a:ln w="12700">
              <a:solidFill>
                <a:srgbClr val="FFFFFF"/>
              </a:solidFill>
            </a:ln>
          </p:spPr>
          <p:txBody>
            <a:bodyPr wrap="square" lIns="0" tIns="0" rIns="0" bIns="0" rtlCol="0"/>
            <a:lstStyle/>
            <a:p/>
          </p:txBody>
        </p:sp>
        <p:sp>
          <p:nvSpPr>
            <p:cNvPr id="36" name="object 36" descr=""/>
            <p:cNvSpPr/>
            <p:nvPr/>
          </p:nvSpPr>
          <p:spPr>
            <a:xfrm>
              <a:off x="399910" y="2361765"/>
              <a:ext cx="0" cy="734695"/>
            </a:xfrm>
            <a:custGeom>
              <a:avLst/>
              <a:gdLst/>
              <a:ahLst/>
              <a:cxnLst/>
              <a:rect l="l" t="t" r="r" b="b"/>
              <a:pathLst>
                <a:path w="0" h="734694">
                  <a:moveTo>
                    <a:pt x="0" y="0"/>
                  </a:moveTo>
                  <a:lnTo>
                    <a:pt x="0" y="734529"/>
                  </a:lnTo>
                </a:path>
              </a:pathLst>
            </a:custGeom>
            <a:ln w="12700">
              <a:solidFill>
                <a:srgbClr val="FFFFFF"/>
              </a:solidFill>
            </a:ln>
          </p:spPr>
          <p:txBody>
            <a:bodyPr wrap="square" lIns="0" tIns="0" rIns="0" bIns="0" rtlCol="0"/>
            <a:lstStyle/>
            <a:p/>
          </p:txBody>
        </p:sp>
        <p:sp>
          <p:nvSpPr>
            <p:cNvPr id="37" name="object 37" descr=""/>
            <p:cNvSpPr/>
            <p:nvPr/>
          </p:nvSpPr>
          <p:spPr>
            <a:xfrm>
              <a:off x="8660545" y="2361765"/>
              <a:ext cx="0" cy="734695"/>
            </a:xfrm>
            <a:custGeom>
              <a:avLst/>
              <a:gdLst/>
              <a:ahLst/>
              <a:cxnLst/>
              <a:rect l="l" t="t" r="r" b="b"/>
              <a:pathLst>
                <a:path w="0" h="734694">
                  <a:moveTo>
                    <a:pt x="0" y="0"/>
                  </a:moveTo>
                  <a:lnTo>
                    <a:pt x="0" y="734529"/>
                  </a:lnTo>
                </a:path>
              </a:pathLst>
            </a:custGeom>
            <a:ln w="12700">
              <a:solidFill>
                <a:srgbClr val="FFFFFF"/>
              </a:solidFill>
            </a:ln>
          </p:spPr>
          <p:txBody>
            <a:bodyPr wrap="square" lIns="0" tIns="0" rIns="0" bIns="0" rtlCol="0"/>
            <a:lstStyle/>
            <a:p/>
          </p:txBody>
        </p:sp>
        <p:sp>
          <p:nvSpPr>
            <p:cNvPr id="38" name="object 38" descr=""/>
            <p:cNvSpPr/>
            <p:nvPr/>
          </p:nvSpPr>
          <p:spPr>
            <a:xfrm>
              <a:off x="393560" y="2368115"/>
              <a:ext cx="8273415" cy="0"/>
            </a:xfrm>
            <a:custGeom>
              <a:avLst/>
              <a:gdLst/>
              <a:ahLst/>
              <a:cxnLst/>
              <a:rect l="l" t="t" r="r" b="b"/>
              <a:pathLst>
                <a:path w="8273415" h="0">
                  <a:moveTo>
                    <a:pt x="0" y="0"/>
                  </a:moveTo>
                  <a:lnTo>
                    <a:pt x="8273338" y="0"/>
                  </a:lnTo>
                </a:path>
              </a:pathLst>
            </a:custGeom>
            <a:ln w="12700">
              <a:solidFill>
                <a:srgbClr val="FFFFFF"/>
              </a:solidFill>
            </a:ln>
          </p:spPr>
          <p:txBody>
            <a:bodyPr wrap="square" lIns="0" tIns="0" rIns="0" bIns="0" rtlCol="0"/>
            <a:lstStyle/>
            <a:p/>
          </p:txBody>
        </p:sp>
      </p:grpSp>
      <p:graphicFrame>
        <p:nvGraphicFramePr>
          <p:cNvPr id="39" name="object 39" descr=""/>
          <p:cNvGraphicFramePr>
            <a:graphicFrameLocks noGrp="1"/>
          </p:cNvGraphicFramePr>
          <p:nvPr/>
        </p:nvGraphicFramePr>
        <p:xfrm>
          <a:off x="399910" y="2086193"/>
          <a:ext cx="8336915" cy="996950"/>
        </p:xfrm>
        <a:graphic>
          <a:graphicData uri="http://schemas.openxmlformats.org/drawingml/2006/table">
            <a:tbl>
              <a:tblPr firstRow="1" bandRow="1">
                <a:tableStyleId>{2D5ABB26-0587-4C30-8999-92F81FD0307C}</a:tableStyleId>
              </a:tblPr>
              <a:tblGrid>
                <a:gridCol w="762635"/>
                <a:gridCol w="1674494"/>
                <a:gridCol w="1819910"/>
                <a:gridCol w="1894205"/>
                <a:gridCol w="2109470"/>
              </a:tblGrid>
              <a:tr h="568325">
                <a:tc>
                  <a:txBody>
                    <a:bodyPr/>
                    <a:lstStyle/>
                    <a:p>
                      <a:pPr>
                        <a:lnSpc>
                          <a:spcPct val="100000"/>
                        </a:lnSpc>
                      </a:pPr>
                      <a:endParaRPr sz="900">
                        <a:latin typeface="Times New Roman"/>
                        <a:cs typeface="Times New Roman"/>
                      </a:endParaRPr>
                    </a:p>
                    <a:p>
                      <a:pPr>
                        <a:lnSpc>
                          <a:spcPct val="100000"/>
                        </a:lnSpc>
                        <a:spcBef>
                          <a:spcPts val="605"/>
                        </a:spcBef>
                      </a:pPr>
                      <a:endParaRPr sz="900">
                        <a:latin typeface="Times New Roman"/>
                        <a:cs typeface="Times New Roman"/>
                      </a:endParaRPr>
                    </a:p>
                    <a:p>
                      <a:pPr marL="6985">
                        <a:lnSpc>
                          <a:spcPct val="100000"/>
                        </a:lnSpc>
                      </a:pPr>
                      <a:r>
                        <a:rPr dirty="0" sz="900" spc="-15" b="1">
                          <a:latin typeface="Microsoft YaHei"/>
                          <a:cs typeface="Microsoft YaHei"/>
                        </a:rPr>
                        <a:t>场景特征</a:t>
                      </a:r>
                      <a:endParaRPr sz="900">
                        <a:latin typeface="Microsoft YaHei"/>
                        <a:cs typeface="Microsoft YaHei"/>
                      </a:endParaRPr>
                    </a:p>
                  </a:txBody>
                  <a:tcPr marL="0" marR="0" marB="0" marT="0">
                    <a:lnR w="12700">
                      <a:solidFill>
                        <a:srgbClr val="FFFFFF"/>
                      </a:solidFill>
                      <a:prstDash val="solid"/>
                    </a:lnR>
                  </a:tcPr>
                </a:tc>
                <a:tc>
                  <a:txBody>
                    <a:bodyPr/>
                    <a:lstStyle/>
                    <a:p>
                      <a:pPr marL="342900">
                        <a:lnSpc>
                          <a:spcPct val="100000"/>
                        </a:lnSpc>
                        <a:spcBef>
                          <a:spcPts val="225"/>
                        </a:spcBef>
                      </a:pPr>
                      <a:r>
                        <a:rPr dirty="0" sz="1100" spc="-10">
                          <a:latin typeface="Microsoft YaHei"/>
                          <a:cs typeface="Microsoft YaHei"/>
                        </a:rPr>
                        <a:t>1</a:t>
                      </a:r>
                      <a:r>
                        <a:rPr dirty="0" sz="1100" spc="-30">
                          <a:latin typeface="Microsoft YaHei"/>
                          <a:cs typeface="Microsoft YaHei"/>
                        </a:rPr>
                        <a:t>.高层住宅</a:t>
                      </a:r>
                      <a:endParaRPr sz="1100">
                        <a:latin typeface="Microsoft YaHei"/>
                        <a:cs typeface="Microsoft YaHei"/>
                      </a:endParaRPr>
                    </a:p>
                    <a:p>
                      <a:pPr marL="6985" marR="19050">
                        <a:lnSpc>
                          <a:spcPct val="100000"/>
                        </a:lnSpc>
                        <a:spcBef>
                          <a:spcPts val="710"/>
                        </a:spcBef>
                      </a:pPr>
                      <a:r>
                        <a:rPr dirty="0" sz="800" spc="-10">
                          <a:latin typeface="Microsoft YaHei"/>
                          <a:cs typeface="Microsoft YaHei"/>
                        </a:rPr>
                        <a:t>楼层</a:t>
                      </a:r>
                      <a:r>
                        <a:rPr dirty="0" sz="800" spc="-20">
                          <a:latin typeface="Microsoft YaHei"/>
                          <a:cs typeface="Microsoft YaHei"/>
                        </a:rPr>
                        <a:t>10</a:t>
                      </a:r>
                      <a:r>
                        <a:rPr dirty="0" sz="800" spc="-15">
                          <a:latin typeface="Microsoft YaHei"/>
                          <a:cs typeface="Microsoft YaHei"/>
                        </a:rPr>
                        <a:t>层以上，住户集中、小区规模</a:t>
                      </a:r>
                      <a:r>
                        <a:rPr dirty="0" sz="800" spc="-20">
                          <a:latin typeface="Microsoft YaHei"/>
                          <a:cs typeface="Microsoft YaHei"/>
                        </a:rPr>
                        <a:t>大，覆盖为主</a:t>
                      </a:r>
                      <a:endParaRPr sz="800">
                        <a:latin typeface="Microsoft YaHei"/>
                        <a:cs typeface="Microsoft YaHei"/>
                      </a:endParaRPr>
                    </a:p>
                  </a:txBody>
                  <a:tcPr marL="0" marR="0" marB="0" marT="28575">
                    <a:lnL w="12700">
                      <a:solidFill>
                        <a:srgbClr val="FFFFFF"/>
                      </a:solidFill>
                      <a:prstDash val="solid"/>
                    </a:lnL>
                    <a:lnR w="12700">
                      <a:solidFill>
                        <a:srgbClr val="FFFFFF"/>
                      </a:solidFill>
                      <a:prstDash val="solid"/>
                    </a:lnR>
                  </a:tcPr>
                </a:tc>
                <a:tc>
                  <a:txBody>
                    <a:bodyPr/>
                    <a:lstStyle/>
                    <a:p>
                      <a:pPr algn="ctr" marR="83820">
                        <a:lnSpc>
                          <a:spcPct val="100000"/>
                        </a:lnSpc>
                        <a:spcBef>
                          <a:spcPts val="565"/>
                        </a:spcBef>
                      </a:pPr>
                      <a:r>
                        <a:rPr dirty="0" sz="1100" spc="-10">
                          <a:latin typeface="Microsoft YaHei"/>
                          <a:cs typeface="Microsoft YaHei"/>
                        </a:rPr>
                        <a:t>2</a:t>
                      </a:r>
                      <a:r>
                        <a:rPr dirty="0" sz="1100" spc="-25">
                          <a:latin typeface="Microsoft YaHei"/>
                          <a:cs typeface="Microsoft YaHei"/>
                        </a:rPr>
                        <a:t>.中低层住宅</a:t>
                      </a:r>
                      <a:endParaRPr sz="1100">
                        <a:latin typeface="Microsoft YaHei"/>
                        <a:cs typeface="Microsoft YaHei"/>
                      </a:endParaRPr>
                    </a:p>
                    <a:p>
                      <a:pPr algn="ctr" marR="55244">
                        <a:lnSpc>
                          <a:spcPct val="100000"/>
                        </a:lnSpc>
                        <a:spcBef>
                          <a:spcPts val="850"/>
                        </a:spcBef>
                      </a:pPr>
                      <a:r>
                        <a:rPr dirty="0" sz="800" spc="-10">
                          <a:latin typeface="Microsoft YaHei"/>
                          <a:cs typeface="Microsoft YaHei"/>
                        </a:rPr>
                        <a:t>楼层</a:t>
                      </a:r>
                      <a:r>
                        <a:rPr dirty="0" sz="800" spc="-20">
                          <a:latin typeface="Microsoft YaHei"/>
                          <a:cs typeface="Microsoft YaHei"/>
                        </a:rPr>
                        <a:t>10</a:t>
                      </a:r>
                      <a:r>
                        <a:rPr dirty="0" sz="800" spc="-15">
                          <a:latin typeface="Microsoft YaHei"/>
                          <a:cs typeface="Microsoft YaHei"/>
                        </a:rPr>
                        <a:t>层以下，小区规模大，覆盖为主</a:t>
                      </a:r>
                      <a:endParaRPr sz="800">
                        <a:latin typeface="Microsoft YaHei"/>
                        <a:cs typeface="Microsoft YaHei"/>
                      </a:endParaRPr>
                    </a:p>
                  </a:txBody>
                  <a:tcPr marL="0" marR="0" marB="0" marT="71755">
                    <a:lnL w="12700">
                      <a:solidFill>
                        <a:srgbClr val="FFFFFF"/>
                      </a:solidFill>
                      <a:prstDash val="solid"/>
                    </a:lnL>
                    <a:lnR w="12700">
                      <a:solidFill>
                        <a:srgbClr val="FFFFFF"/>
                      </a:solidFill>
                      <a:prstDash val="solid"/>
                    </a:lnR>
                  </a:tcPr>
                </a:tc>
                <a:tc>
                  <a:txBody>
                    <a:bodyPr/>
                    <a:lstStyle/>
                    <a:p>
                      <a:pPr algn="ctr" marL="73660">
                        <a:lnSpc>
                          <a:spcPct val="100000"/>
                        </a:lnSpc>
                        <a:spcBef>
                          <a:spcPts val="575"/>
                        </a:spcBef>
                      </a:pPr>
                      <a:r>
                        <a:rPr dirty="0" sz="1100" spc="-10">
                          <a:latin typeface="Microsoft YaHei"/>
                          <a:cs typeface="Microsoft YaHei"/>
                        </a:rPr>
                        <a:t>3</a:t>
                      </a:r>
                      <a:r>
                        <a:rPr dirty="0" sz="1100" spc="-30">
                          <a:latin typeface="Microsoft YaHei"/>
                          <a:cs typeface="Microsoft YaHei"/>
                        </a:rPr>
                        <a:t>.城中村</a:t>
                      </a:r>
                      <a:endParaRPr sz="1100">
                        <a:latin typeface="Microsoft YaHei"/>
                        <a:cs typeface="Microsoft YaHei"/>
                      </a:endParaRPr>
                    </a:p>
                    <a:p>
                      <a:pPr marL="6985" marR="53975">
                        <a:lnSpc>
                          <a:spcPct val="100000"/>
                        </a:lnSpc>
                        <a:spcBef>
                          <a:spcPts val="355"/>
                        </a:spcBef>
                      </a:pPr>
                      <a:r>
                        <a:rPr dirty="0" sz="800" spc="-15">
                          <a:latin typeface="Microsoft YaHei"/>
                          <a:cs typeface="Microsoft YaHei"/>
                        </a:rPr>
                        <a:t>建筑密集、基本无绿化、街道狭小、中心室内信号差，覆盖与容量兼具</a:t>
                      </a:r>
                      <a:endParaRPr sz="800">
                        <a:latin typeface="Microsoft YaHei"/>
                        <a:cs typeface="Microsoft YaHei"/>
                      </a:endParaRPr>
                    </a:p>
                  </a:txBody>
                  <a:tcPr marL="0" marR="0" marB="0" marT="73025">
                    <a:lnL w="12700">
                      <a:solidFill>
                        <a:srgbClr val="FFFFFF"/>
                      </a:solidFill>
                      <a:prstDash val="solid"/>
                    </a:lnL>
                    <a:lnR w="12700">
                      <a:solidFill>
                        <a:srgbClr val="FFFFFF"/>
                      </a:solidFill>
                      <a:prstDash val="solid"/>
                    </a:lnR>
                  </a:tcPr>
                </a:tc>
                <a:tc>
                  <a:txBody>
                    <a:bodyPr/>
                    <a:lstStyle/>
                    <a:p>
                      <a:pPr marL="789940">
                        <a:lnSpc>
                          <a:spcPct val="100000"/>
                        </a:lnSpc>
                        <a:spcBef>
                          <a:spcPts val="790"/>
                        </a:spcBef>
                      </a:pPr>
                      <a:r>
                        <a:rPr dirty="0" sz="1100" spc="-10">
                          <a:latin typeface="Microsoft YaHei"/>
                          <a:cs typeface="Microsoft YaHei"/>
                        </a:rPr>
                        <a:t>4</a:t>
                      </a:r>
                      <a:r>
                        <a:rPr dirty="0" sz="1100" spc="-30">
                          <a:latin typeface="Microsoft YaHei"/>
                          <a:cs typeface="Microsoft YaHei"/>
                        </a:rPr>
                        <a:t>.商业楼宇</a:t>
                      </a:r>
                      <a:endParaRPr sz="1100">
                        <a:latin typeface="Microsoft YaHei"/>
                        <a:cs typeface="Microsoft YaHei"/>
                      </a:endParaRPr>
                    </a:p>
                    <a:p>
                      <a:pPr marL="6985">
                        <a:lnSpc>
                          <a:spcPct val="100000"/>
                        </a:lnSpc>
                        <a:spcBef>
                          <a:spcPts val="620"/>
                        </a:spcBef>
                      </a:pPr>
                      <a:r>
                        <a:rPr dirty="0" sz="800" spc="-15">
                          <a:latin typeface="Microsoft YaHei"/>
                          <a:cs typeface="Microsoft YaHei"/>
                        </a:rPr>
                        <a:t>内部开阔、纵深较大、用户集中，容量需求大</a:t>
                      </a:r>
                      <a:endParaRPr sz="800">
                        <a:latin typeface="Microsoft YaHei"/>
                        <a:cs typeface="Microsoft YaHei"/>
                      </a:endParaRPr>
                    </a:p>
                  </a:txBody>
                  <a:tcPr marL="0" marR="0" marB="0" marT="100330">
                    <a:lnL w="12700">
                      <a:solidFill>
                        <a:srgbClr val="FFFFFF"/>
                      </a:solidFill>
                      <a:prstDash val="solid"/>
                    </a:lnL>
                  </a:tcPr>
                </a:tc>
              </a:tr>
              <a:tr h="428625">
                <a:tc>
                  <a:txBody>
                    <a:bodyPr/>
                    <a:lstStyle/>
                    <a:p>
                      <a:pPr>
                        <a:lnSpc>
                          <a:spcPct val="100000"/>
                        </a:lnSpc>
                        <a:spcBef>
                          <a:spcPts val="5"/>
                        </a:spcBef>
                      </a:pPr>
                      <a:endParaRPr sz="900">
                        <a:latin typeface="Times New Roman"/>
                        <a:cs typeface="Times New Roman"/>
                      </a:endParaRPr>
                    </a:p>
                    <a:p>
                      <a:pPr marL="6985">
                        <a:lnSpc>
                          <a:spcPct val="100000"/>
                        </a:lnSpc>
                      </a:pPr>
                      <a:r>
                        <a:rPr dirty="0" sz="900" spc="-15" b="1">
                          <a:latin typeface="Microsoft YaHei"/>
                          <a:cs typeface="Microsoft YaHei"/>
                        </a:rPr>
                        <a:t>覆盖难点</a:t>
                      </a:r>
                      <a:endParaRPr sz="900">
                        <a:latin typeface="Microsoft YaHei"/>
                        <a:cs typeface="Microsoft YaHei"/>
                      </a:endParaRPr>
                    </a:p>
                  </a:txBody>
                  <a:tcPr marL="0" marR="0" marB="0" marT="635">
                    <a:lnR w="12700">
                      <a:solidFill>
                        <a:srgbClr val="FFFFFF"/>
                      </a:solidFill>
                      <a:prstDash val="solid"/>
                    </a:lnR>
                    <a:lnB w="12700">
                      <a:solidFill>
                        <a:srgbClr val="FFFFFF"/>
                      </a:solidFill>
                      <a:prstDash val="solid"/>
                    </a:lnB>
                    <a:solidFill>
                      <a:srgbClr val="D0D8E8"/>
                    </a:solidFill>
                  </a:tcPr>
                </a:tc>
                <a:tc>
                  <a:txBody>
                    <a:bodyPr/>
                    <a:lstStyle/>
                    <a:p>
                      <a:pPr marL="6985" marR="37465">
                        <a:lnSpc>
                          <a:spcPct val="100000"/>
                        </a:lnSpc>
                        <a:spcBef>
                          <a:spcPts val="620"/>
                        </a:spcBef>
                      </a:pPr>
                      <a:r>
                        <a:rPr dirty="0" sz="800" spc="-15">
                          <a:latin typeface="Microsoft YaHei"/>
                          <a:cs typeface="Microsoft YaHei"/>
                        </a:rPr>
                        <a:t>宏站无法进入、室分覆盖效果一般、物业协调难、美化要求高</a:t>
                      </a:r>
                      <a:endParaRPr sz="800">
                        <a:latin typeface="Microsoft YaHei"/>
                        <a:cs typeface="Microsoft YaHei"/>
                      </a:endParaRPr>
                    </a:p>
                  </a:txBody>
                  <a:tcPr marL="0" marR="0" marB="0" marT="78740">
                    <a:lnL w="12700">
                      <a:solidFill>
                        <a:srgbClr val="FFFFFF"/>
                      </a:solidFill>
                      <a:prstDash val="solid"/>
                    </a:lnL>
                    <a:lnR w="12700">
                      <a:solidFill>
                        <a:srgbClr val="FFFFFF"/>
                      </a:solidFill>
                      <a:prstDash val="solid"/>
                    </a:lnR>
                    <a:lnB w="12700">
                      <a:solidFill>
                        <a:srgbClr val="FFFFFF"/>
                      </a:solidFill>
                      <a:prstDash val="solid"/>
                    </a:lnB>
                    <a:solidFill>
                      <a:srgbClr val="D0D8E8"/>
                    </a:solidFill>
                  </a:tcPr>
                </a:tc>
                <a:tc>
                  <a:txBody>
                    <a:bodyPr/>
                    <a:lstStyle/>
                    <a:p>
                      <a:pPr marL="6985" marR="81280">
                        <a:lnSpc>
                          <a:spcPct val="100000"/>
                        </a:lnSpc>
                        <a:spcBef>
                          <a:spcPts val="620"/>
                        </a:spcBef>
                      </a:pPr>
                      <a:r>
                        <a:rPr dirty="0" sz="800" spc="-15">
                          <a:latin typeface="Microsoft YaHei"/>
                          <a:cs typeface="Microsoft YaHei"/>
                        </a:rPr>
                        <a:t>周边宏站无法完全覆盖、室分站协调成</a:t>
                      </a:r>
                      <a:r>
                        <a:rPr dirty="0" sz="800" spc="-30">
                          <a:latin typeface="Microsoft YaHei"/>
                          <a:cs typeface="Microsoft YaHei"/>
                        </a:rPr>
                        <a:t>本高</a:t>
                      </a:r>
                      <a:endParaRPr sz="800">
                        <a:latin typeface="Microsoft YaHei"/>
                        <a:cs typeface="Microsoft YaHei"/>
                      </a:endParaRPr>
                    </a:p>
                  </a:txBody>
                  <a:tcPr marL="0" marR="0" marB="0" marT="78740">
                    <a:lnL w="12700">
                      <a:solidFill>
                        <a:srgbClr val="FFFFFF"/>
                      </a:solidFill>
                      <a:prstDash val="solid"/>
                    </a:lnL>
                    <a:lnR w="12700">
                      <a:solidFill>
                        <a:srgbClr val="FFFFFF"/>
                      </a:solidFill>
                      <a:prstDash val="solid"/>
                    </a:lnR>
                    <a:lnB w="12700">
                      <a:solidFill>
                        <a:srgbClr val="FFFFFF"/>
                      </a:solidFill>
                      <a:prstDash val="solid"/>
                    </a:lnB>
                    <a:solidFill>
                      <a:srgbClr val="D0D8E8"/>
                    </a:solidFill>
                  </a:tcPr>
                </a:tc>
                <a:tc>
                  <a:txBody>
                    <a:bodyPr/>
                    <a:lstStyle/>
                    <a:p>
                      <a:pPr marL="6985" marR="53975">
                        <a:lnSpc>
                          <a:spcPct val="100000"/>
                        </a:lnSpc>
                        <a:spcBef>
                          <a:spcPts val="620"/>
                        </a:spcBef>
                      </a:pPr>
                      <a:r>
                        <a:rPr dirty="0" sz="800" spc="-15">
                          <a:latin typeface="Microsoft YaHei"/>
                          <a:cs typeface="Microsoft YaHei"/>
                        </a:rPr>
                        <a:t>周边宏站无法完全覆盖、核心区域选址困</a:t>
                      </a:r>
                      <a:r>
                        <a:rPr dirty="0" sz="800" spc="-20">
                          <a:latin typeface="Microsoft YaHei"/>
                          <a:cs typeface="Microsoft YaHei"/>
                        </a:rPr>
                        <a:t>难、需小站多点覆盖</a:t>
                      </a:r>
                      <a:endParaRPr sz="800">
                        <a:latin typeface="Microsoft YaHei"/>
                        <a:cs typeface="Microsoft YaHei"/>
                      </a:endParaRPr>
                    </a:p>
                  </a:txBody>
                  <a:tcPr marL="0" marR="0" marB="0" marT="78740">
                    <a:lnL w="12700">
                      <a:solidFill>
                        <a:srgbClr val="FFFFFF"/>
                      </a:solidFill>
                      <a:prstDash val="solid"/>
                    </a:lnL>
                    <a:lnR w="12700">
                      <a:solidFill>
                        <a:srgbClr val="FFFFFF"/>
                      </a:solidFill>
                      <a:prstDash val="solid"/>
                    </a:lnR>
                    <a:lnB w="12700">
                      <a:solidFill>
                        <a:srgbClr val="FFFFFF"/>
                      </a:solidFill>
                      <a:prstDash val="solid"/>
                    </a:lnB>
                    <a:solidFill>
                      <a:srgbClr val="D0D8E8"/>
                    </a:solidFill>
                  </a:tcPr>
                </a:tc>
                <a:tc>
                  <a:txBody>
                    <a:bodyPr/>
                    <a:lstStyle/>
                    <a:p>
                      <a:pPr>
                        <a:lnSpc>
                          <a:spcPct val="100000"/>
                        </a:lnSpc>
                        <a:spcBef>
                          <a:spcPts val="175"/>
                        </a:spcBef>
                      </a:pPr>
                      <a:endParaRPr sz="800">
                        <a:latin typeface="Times New Roman"/>
                        <a:cs typeface="Times New Roman"/>
                      </a:endParaRPr>
                    </a:p>
                    <a:p>
                      <a:pPr marL="6985">
                        <a:lnSpc>
                          <a:spcPct val="100000"/>
                        </a:lnSpc>
                        <a:spcBef>
                          <a:spcPts val="5"/>
                        </a:spcBef>
                      </a:pPr>
                      <a:r>
                        <a:rPr dirty="0" sz="800" spc="-15">
                          <a:latin typeface="Microsoft YaHei"/>
                          <a:cs typeface="Microsoft YaHei"/>
                        </a:rPr>
                        <a:t>室外覆盖效果有限、需室内覆盖</a:t>
                      </a:r>
                      <a:endParaRPr sz="800">
                        <a:latin typeface="Microsoft YaHei"/>
                        <a:cs typeface="Microsoft YaHei"/>
                      </a:endParaRPr>
                    </a:p>
                  </a:txBody>
                  <a:tcPr marL="0" marR="0" marB="0" marT="22225">
                    <a:lnL w="12700">
                      <a:solidFill>
                        <a:srgbClr val="FFFFFF"/>
                      </a:solidFill>
                      <a:prstDash val="solid"/>
                    </a:lnL>
                    <a:lnB w="12700">
                      <a:solidFill>
                        <a:srgbClr val="FFFFFF"/>
                      </a:solidFill>
                      <a:prstDash val="solid"/>
                    </a:lnB>
                    <a:solidFill>
                      <a:srgbClr val="D0D8E8"/>
                    </a:solidFill>
                  </a:tcPr>
                </a:tc>
              </a:tr>
            </a:tbl>
          </a:graphicData>
        </a:graphic>
      </p:graphicFrame>
      <p:grpSp>
        <p:nvGrpSpPr>
          <p:cNvPr id="40" name="object 40" descr=""/>
          <p:cNvGrpSpPr/>
          <p:nvPr/>
        </p:nvGrpSpPr>
        <p:grpSpPr>
          <a:xfrm>
            <a:off x="1340446" y="3109535"/>
            <a:ext cx="6790055" cy="1162685"/>
            <a:chOff x="1340446" y="3109535"/>
            <a:chExt cx="6790055" cy="1162685"/>
          </a:xfrm>
        </p:grpSpPr>
        <p:pic>
          <p:nvPicPr>
            <p:cNvPr id="41" name="object 41"/>
            <p:cNvPicPr/>
            <p:nvPr/>
          </p:nvPicPr>
          <p:blipFill>
            <a:blip r:embed="rId19" cstate="print"/>
            <a:stretch>
              <a:fillRect/>
            </a:stretch>
          </p:blipFill>
          <p:spPr>
            <a:xfrm>
              <a:off x="1340446" y="3109535"/>
              <a:ext cx="1060600" cy="858490"/>
            </a:xfrm>
            <a:prstGeom prst="rect">
              <a:avLst/>
            </a:prstGeom>
          </p:spPr>
        </p:pic>
        <p:pic>
          <p:nvPicPr>
            <p:cNvPr id="42" name="object 42"/>
            <p:cNvPicPr/>
            <p:nvPr/>
          </p:nvPicPr>
          <p:blipFill>
            <a:blip r:embed="rId20" cstate="print"/>
            <a:stretch>
              <a:fillRect/>
            </a:stretch>
          </p:blipFill>
          <p:spPr>
            <a:xfrm>
              <a:off x="3274783" y="3150400"/>
              <a:ext cx="930076" cy="817626"/>
            </a:xfrm>
            <a:prstGeom prst="rect">
              <a:avLst/>
            </a:prstGeom>
          </p:spPr>
        </p:pic>
        <p:pic>
          <p:nvPicPr>
            <p:cNvPr id="43" name="object 43"/>
            <p:cNvPicPr/>
            <p:nvPr/>
          </p:nvPicPr>
          <p:blipFill>
            <a:blip r:embed="rId21" cstate="print"/>
            <a:stretch>
              <a:fillRect/>
            </a:stretch>
          </p:blipFill>
          <p:spPr>
            <a:xfrm>
              <a:off x="5154881" y="3125194"/>
              <a:ext cx="1060600" cy="842222"/>
            </a:xfrm>
            <a:prstGeom prst="rect">
              <a:avLst/>
            </a:prstGeom>
          </p:spPr>
        </p:pic>
        <p:pic>
          <p:nvPicPr>
            <p:cNvPr id="44" name="object 44" descr=""/>
            <p:cNvPicPr/>
            <p:nvPr/>
          </p:nvPicPr>
          <p:blipFill>
            <a:blip r:embed="rId22" cstate="print"/>
            <a:stretch>
              <a:fillRect/>
            </a:stretch>
          </p:blipFill>
          <p:spPr>
            <a:xfrm>
              <a:off x="7015733" y="3938777"/>
              <a:ext cx="1011173" cy="332993"/>
            </a:xfrm>
            <a:prstGeom prst="rect">
              <a:avLst/>
            </a:prstGeom>
          </p:spPr>
        </p:pic>
        <p:pic>
          <p:nvPicPr>
            <p:cNvPr id="45" name="object 45" descr=""/>
            <p:cNvPicPr/>
            <p:nvPr/>
          </p:nvPicPr>
          <p:blipFill>
            <a:blip r:embed="rId17" cstate="print"/>
            <a:stretch>
              <a:fillRect/>
            </a:stretch>
          </p:blipFill>
          <p:spPr>
            <a:xfrm>
              <a:off x="7061327" y="3967416"/>
              <a:ext cx="919429" cy="238531"/>
            </a:xfrm>
            <a:prstGeom prst="rect">
              <a:avLst/>
            </a:prstGeom>
          </p:spPr>
        </p:pic>
        <p:sp>
          <p:nvSpPr>
            <p:cNvPr id="46" name="object 46" descr=""/>
            <p:cNvSpPr/>
            <p:nvPr/>
          </p:nvSpPr>
          <p:spPr>
            <a:xfrm>
              <a:off x="7061321" y="3967421"/>
              <a:ext cx="919480" cy="238760"/>
            </a:xfrm>
            <a:custGeom>
              <a:avLst/>
              <a:gdLst/>
              <a:ahLst/>
              <a:cxnLst/>
              <a:rect l="l" t="t" r="r" b="b"/>
              <a:pathLst>
                <a:path w="919479" h="238760">
                  <a:moveTo>
                    <a:pt x="0" y="0"/>
                  </a:moveTo>
                  <a:lnTo>
                    <a:pt x="919429" y="0"/>
                  </a:lnTo>
                  <a:lnTo>
                    <a:pt x="919429" y="238531"/>
                  </a:lnTo>
                  <a:lnTo>
                    <a:pt x="0" y="238531"/>
                  </a:lnTo>
                  <a:lnTo>
                    <a:pt x="0" y="0"/>
                  </a:lnTo>
                  <a:close/>
                </a:path>
              </a:pathLst>
            </a:custGeom>
            <a:ln w="9525">
              <a:solidFill>
                <a:srgbClr val="D5E8EA"/>
              </a:solidFill>
            </a:ln>
          </p:spPr>
          <p:txBody>
            <a:bodyPr wrap="square" lIns="0" tIns="0" rIns="0" bIns="0" rtlCol="0"/>
            <a:lstStyle/>
            <a:p/>
          </p:txBody>
        </p:sp>
        <p:pic>
          <p:nvPicPr>
            <p:cNvPr id="47" name="object 47"/>
            <p:cNvPicPr/>
            <p:nvPr/>
          </p:nvPicPr>
          <p:blipFill>
            <a:blip r:embed="rId23" cstate="print"/>
            <a:stretch>
              <a:fillRect/>
            </a:stretch>
          </p:blipFill>
          <p:spPr>
            <a:xfrm>
              <a:off x="7017575" y="3150400"/>
              <a:ext cx="1112405" cy="800099"/>
            </a:xfrm>
            <a:prstGeom prst="rect">
              <a:avLst/>
            </a:prstGeom>
          </p:spPr>
        </p:pic>
      </p:grpSp>
      <p:grpSp>
        <p:nvGrpSpPr>
          <p:cNvPr id="48" name="object 48" descr=""/>
          <p:cNvGrpSpPr/>
          <p:nvPr/>
        </p:nvGrpSpPr>
        <p:grpSpPr>
          <a:xfrm>
            <a:off x="458307" y="3941826"/>
            <a:ext cx="8258175" cy="998855"/>
            <a:chOff x="458307" y="3941826"/>
            <a:chExt cx="8258175" cy="998855"/>
          </a:xfrm>
        </p:grpSpPr>
        <p:pic>
          <p:nvPicPr>
            <p:cNvPr id="49" name="object 49" descr=""/>
            <p:cNvPicPr/>
            <p:nvPr/>
          </p:nvPicPr>
          <p:blipFill>
            <a:blip r:embed="rId24" cstate="print"/>
            <a:stretch>
              <a:fillRect/>
            </a:stretch>
          </p:blipFill>
          <p:spPr>
            <a:xfrm>
              <a:off x="1379981" y="3968496"/>
              <a:ext cx="1011173" cy="330707"/>
            </a:xfrm>
            <a:prstGeom prst="rect">
              <a:avLst/>
            </a:prstGeom>
          </p:spPr>
        </p:pic>
        <p:pic>
          <p:nvPicPr>
            <p:cNvPr id="50" name="object 50" descr=""/>
            <p:cNvPicPr/>
            <p:nvPr/>
          </p:nvPicPr>
          <p:blipFill>
            <a:blip r:embed="rId13" cstate="print"/>
            <a:stretch>
              <a:fillRect/>
            </a:stretch>
          </p:blipFill>
          <p:spPr>
            <a:xfrm>
              <a:off x="1424178" y="3966210"/>
              <a:ext cx="963929" cy="291845"/>
            </a:xfrm>
            <a:prstGeom prst="rect">
              <a:avLst/>
            </a:prstGeom>
          </p:spPr>
        </p:pic>
        <p:pic>
          <p:nvPicPr>
            <p:cNvPr id="51" name="object 51" descr=""/>
            <p:cNvPicPr/>
            <p:nvPr/>
          </p:nvPicPr>
          <p:blipFill>
            <a:blip r:embed="rId17" cstate="print"/>
            <a:stretch>
              <a:fillRect/>
            </a:stretch>
          </p:blipFill>
          <p:spPr>
            <a:xfrm>
              <a:off x="1425625" y="3994645"/>
              <a:ext cx="919429" cy="238531"/>
            </a:xfrm>
            <a:prstGeom prst="rect">
              <a:avLst/>
            </a:prstGeom>
          </p:spPr>
        </p:pic>
        <p:sp>
          <p:nvSpPr>
            <p:cNvPr id="52" name="object 52" descr=""/>
            <p:cNvSpPr/>
            <p:nvPr/>
          </p:nvSpPr>
          <p:spPr>
            <a:xfrm>
              <a:off x="1425624" y="3994642"/>
              <a:ext cx="919480" cy="238760"/>
            </a:xfrm>
            <a:custGeom>
              <a:avLst/>
              <a:gdLst/>
              <a:ahLst/>
              <a:cxnLst/>
              <a:rect l="l" t="t" r="r" b="b"/>
              <a:pathLst>
                <a:path w="919480" h="238760">
                  <a:moveTo>
                    <a:pt x="0" y="0"/>
                  </a:moveTo>
                  <a:lnTo>
                    <a:pt x="919429" y="0"/>
                  </a:lnTo>
                  <a:lnTo>
                    <a:pt x="919429" y="238531"/>
                  </a:lnTo>
                  <a:lnTo>
                    <a:pt x="0" y="238531"/>
                  </a:lnTo>
                  <a:lnTo>
                    <a:pt x="0" y="0"/>
                  </a:lnTo>
                  <a:close/>
                </a:path>
              </a:pathLst>
            </a:custGeom>
            <a:ln w="9525">
              <a:solidFill>
                <a:srgbClr val="D5E8EA"/>
              </a:solidFill>
            </a:ln>
          </p:spPr>
          <p:txBody>
            <a:bodyPr wrap="square" lIns="0" tIns="0" rIns="0" bIns="0" rtlCol="0"/>
            <a:lstStyle/>
            <a:p/>
          </p:txBody>
        </p:sp>
        <p:pic>
          <p:nvPicPr>
            <p:cNvPr id="53" name="object 53" descr=""/>
            <p:cNvPicPr/>
            <p:nvPr/>
          </p:nvPicPr>
          <p:blipFill>
            <a:blip r:embed="rId25" cstate="print"/>
            <a:stretch>
              <a:fillRect/>
            </a:stretch>
          </p:blipFill>
          <p:spPr>
            <a:xfrm>
              <a:off x="3227070" y="3944874"/>
              <a:ext cx="1011173" cy="329945"/>
            </a:xfrm>
            <a:prstGeom prst="rect">
              <a:avLst/>
            </a:prstGeom>
          </p:spPr>
        </p:pic>
        <p:pic>
          <p:nvPicPr>
            <p:cNvPr id="54" name="object 54" descr=""/>
            <p:cNvPicPr/>
            <p:nvPr/>
          </p:nvPicPr>
          <p:blipFill>
            <a:blip r:embed="rId13" cstate="print"/>
            <a:stretch>
              <a:fillRect/>
            </a:stretch>
          </p:blipFill>
          <p:spPr>
            <a:xfrm>
              <a:off x="3271265" y="3941826"/>
              <a:ext cx="963929" cy="291845"/>
            </a:xfrm>
            <a:prstGeom prst="rect">
              <a:avLst/>
            </a:prstGeom>
          </p:spPr>
        </p:pic>
        <p:pic>
          <p:nvPicPr>
            <p:cNvPr id="55" name="object 55" descr=""/>
            <p:cNvPicPr/>
            <p:nvPr/>
          </p:nvPicPr>
          <p:blipFill>
            <a:blip r:embed="rId17" cstate="print"/>
            <a:stretch>
              <a:fillRect/>
            </a:stretch>
          </p:blipFill>
          <p:spPr>
            <a:xfrm>
              <a:off x="3273031" y="3970705"/>
              <a:ext cx="919429" cy="238531"/>
            </a:xfrm>
            <a:prstGeom prst="rect">
              <a:avLst/>
            </a:prstGeom>
          </p:spPr>
        </p:pic>
        <p:sp>
          <p:nvSpPr>
            <p:cNvPr id="56" name="object 56" descr=""/>
            <p:cNvSpPr/>
            <p:nvPr/>
          </p:nvSpPr>
          <p:spPr>
            <a:xfrm>
              <a:off x="3273036" y="3970702"/>
              <a:ext cx="919480" cy="238760"/>
            </a:xfrm>
            <a:custGeom>
              <a:avLst/>
              <a:gdLst/>
              <a:ahLst/>
              <a:cxnLst/>
              <a:rect l="l" t="t" r="r" b="b"/>
              <a:pathLst>
                <a:path w="919479" h="238760">
                  <a:moveTo>
                    <a:pt x="0" y="0"/>
                  </a:moveTo>
                  <a:lnTo>
                    <a:pt x="919429" y="0"/>
                  </a:lnTo>
                  <a:lnTo>
                    <a:pt x="919429" y="238531"/>
                  </a:lnTo>
                  <a:lnTo>
                    <a:pt x="0" y="238531"/>
                  </a:lnTo>
                  <a:lnTo>
                    <a:pt x="0" y="0"/>
                  </a:lnTo>
                  <a:close/>
                </a:path>
              </a:pathLst>
            </a:custGeom>
            <a:ln w="9525">
              <a:solidFill>
                <a:srgbClr val="D5E8EA"/>
              </a:solidFill>
            </a:ln>
          </p:spPr>
          <p:txBody>
            <a:bodyPr wrap="square" lIns="0" tIns="0" rIns="0" bIns="0" rtlCol="0"/>
            <a:lstStyle/>
            <a:p/>
          </p:txBody>
        </p:sp>
        <p:pic>
          <p:nvPicPr>
            <p:cNvPr id="57" name="object 57" descr=""/>
            <p:cNvPicPr/>
            <p:nvPr/>
          </p:nvPicPr>
          <p:blipFill>
            <a:blip r:embed="rId26" cstate="print"/>
            <a:stretch>
              <a:fillRect/>
            </a:stretch>
          </p:blipFill>
          <p:spPr>
            <a:xfrm>
              <a:off x="5148071" y="3944874"/>
              <a:ext cx="1011172" cy="333755"/>
            </a:xfrm>
            <a:prstGeom prst="rect">
              <a:avLst/>
            </a:prstGeom>
          </p:spPr>
        </p:pic>
        <p:pic>
          <p:nvPicPr>
            <p:cNvPr id="58" name="object 58" descr=""/>
            <p:cNvPicPr/>
            <p:nvPr/>
          </p:nvPicPr>
          <p:blipFill>
            <a:blip r:embed="rId14" cstate="print"/>
            <a:stretch>
              <a:fillRect/>
            </a:stretch>
          </p:blipFill>
          <p:spPr>
            <a:xfrm>
              <a:off x="5194020" y="3973918"/>
              <a:ext cx="919429" cy="238531"/>
            </a:xfrm>
            <a:prstGeom prst="rect">
              <a:avLst/>
            </a:prstGeom>
          </p:spPr>
        </p:pic>
        <p:sp>
          <p:nvSpPr>
            <p:cNvPr id="59" name="object 59" descr=""/>
            <p:cNvSpPr/>
            <p:nvPr/>
          </p:nvSpPr>
          <p:spPr>
            <a:xfrm>
              <a:off x="5194020" y="3973925"/>
              <a:ext cx="919480" cy="238760"/>
            </a:xfrm>
            <a:custGeom>
              <a:avLst/>
              <a:gdLst/>
              <a:ahLst/>
              <a:cxnLst/>
              <a:rect l="l" t="t" r="r" b="b"/>
              <a:pathLst>
                <a:path w="919479" h="238760">
                  <a:moveTo>
                    <a:pt x="0" y="0"/>
                  </a:moveTo>
                  <a:lnTo>
                    <a:pt x="919429" y="0"/>
                  </a:lnTo>
                  <a:lnTo>
                    <a:pt x="919429" y="238531"/>
                  </a:lnTo>
                  <a:lnTo>
                    <a:pt x="0" y="238531"/>
                  </a:lnTo>
                  <a:lnTo>
                    <a:pt x="0" y="0"/>
                  </a:lnTo>
                  <a:close/>
                </a:path>
              </a:pathLst>
            </a:custGeom>
            <a:ln w="9525">
              <a:solidFill>
                <a:srgbClr val="D5E8EA"/>
              </a:solidFill>
            </a:ln>
          </p:spPr>
          <p:txBody>
            <a:bodyPr wrap="square" lIns="0" tIns="0" rIns="0" bIns="0" rtlCol="0"/>
            <a:lstStyle/>
            <a:p/>
          </p:txBody>
        </p:sp>
        <p:sp>
          <p:nvSpPr>
            <p:cNvPr id="60" name="object 60" descr=""/>
            <p:cNvSpPr/>
            <p:nvPr/>
          </p:nvSpPr>
          <p:spPr>
            <a:xfrm>
              <a:off x="1178695" y="4203202"/>
              <a:ext cx="0" cy="737235"/>
            </a:xfrm>
            <a:custGeom>
              <a:avLst/>
              <a:gdLst/>
              <a:ahLst/>
              <a:cxnLst/>
              <a:rect l="l" t="t" r="r" b="b"/>
              <a:pathLst>
                <a:path w="0" h="737235">
                  <a:moveTo>
                    <a:pt x="0" y="0"/>
                  </a:moveTo>
                  <a:lnTo>
                    <a:pt x="0" y="737095"/>
                  </a:lnTo>
                </a:path>
              </a:pathLst>
            </a:custGeom>
            <a:ln w="12700">
              <a:solidFill>
                <a:srgbClr val="FFFFFF"/>
              </a:solidFill>
            </a:ln>
          </p:spPr>
          <p:txBody>
            <a:bodyPr wrap="square" lIns="0" tIns="0" rIns="0" bIns="0" rtlCol="0"/>
            <a:lstStyle/>
            <a:p/>
          </p:txBody>
        </p:sp>
        <p:sp>
          <p:nvSpPr>
            <p:cNvPr id="61" name="object 61" descr=""/>
            <p:cNvSpPr/>
            <p:nvPr/>
          </p:nvSpPr>
          <p:spPr>
            <a:xfrm>
              <a:off x="2892386" y="4203202"/>
              <a:ext cx="0" cy="737235"/>
            </a:xfrm>
            <a:custGeom>
              <a:avLst/>
              <a:gdLst/>
              <a:ahLst/>
              <a:cxnLst/>
              <a:rect l="l" t="t" r="r" b="b"/>
              <a:pathLst>
                <a:path w="0" h="737235">
                  <a:moveTo>
                    <a:pt x="0" y="0"/>
                  </a:moveTo>
                  <a:lnTo>
                    <a:pt x="0" y="737095"/>
                  </a:lnTo>
                </a:path>
              </a:pathLst>
            </a:custGeom>
            <a:ln w="12700">
              <a:solidFill>
                <a:srgbClr val="FFFFFF"/>
              </a:solidFill>
            </a:ln>
          </p:spPr>
          <p:txBody>
            <a:bodyPr wrap="square" lIns="0" tIns="0" rIns="0" bIns="0" rtlCol="0"/>
            <a:lstStyle/>
            <a:p/>
          </p:txBody>
        </p:sp>
        <p:sp>
          <p:nvSpPr>
            <p:cNvPr id="62" name="object 62" descr=""/>
            <p:cNvSpPr/>
            <p:nvPr/>
          </p:nvSpPr>
          <p:spPr>
            <a:xfrm>
              <a:off x="4820288" y="4203202"/>
              <a:ext cx="0" cy="737235"/>
            </a:xfrm>
            <a:custGeom>
              <a:avLst/>
              <a:gdLst/>
              <a:ahLst/>
              <a:cxnLst/>
              <a:rect l="l" t="t" r="r" b="b"/>
              <a:pathLst>
                <a:path w="0" h="737235">
                  <a:moveTo>
                    <a:pt x="0" y="0"/>
                  </a:moveTo>
                  <a:lnTo>
                    <a:pt x="0" y="737095"/>
                  </a:lnTo>
                </a:path>
              </a:pathLst>
            </a:custGeom>
            <a:ln w="12700">
              <a:solidFill>
                <a:srgbClr val="FFFFFF"/>
              </a:solidFill>
            </a:ln>
          </p:spPr>
          <p:txBody>
            <a:bodyPr wrap="square" lIns="0" tIns="0" rIns="0" bIns="0" rtlCol="0"/>
            <a:lstStyle/>
            <a:p/>
          </p:txBody>
        </p:sp>
        <p:sp>
          <p:nvSpPr>
            <p:cNvPr id="63" name="object 63" descr=""/>
            <p:cNvSpPr/>
            <p:nvPr/>
          </p:nvSpPr>
          <p:spPr>
            <a:xfrm>
              <a:off x="6676787" y="4203202"/>
              <a:ext cx="0" cy="737235"/>
            </a:xfrm>
            <a:custGeom>
              <a:avLst/>
              <a:gdLst/>
              <a:ahLst/>
              <a:cxnLst/>
              <a:rect l="l" t="t" r="r" b="b"/>
              <a:pathLst>
                <a:path w="0" h="737235">
                  <a:moveTo>
                    <a:pt x="0" y="0"/>
                  </a:moveTo>
                  <a:lnTo>
                    <a:pt x="0" y="737095"/>
                  </a:lnTo>
                </a:path>
              </a:pathLst>
            </a:custGeom>
            <a:ln w="12700">
              <a:solidFill>
                <a:srgbClr val="FFFFFF"/>
              </a:solidFill>
            </a:ln>
          </p:spPr>
          <p:txBody>
            <a:bodyPr wrap="square" lIns="0" tIns="0" rIns="0" bIns="0" rtlCol="0"/>
            <a:lstStyle/>
            <a:p/>
          </p:txBody>
        </p:sp>
        <p:sp>
          <p:nvSpPr>
            <p:cNvPr id="64" name="object 64" descr=""/>
            <p:cNvSpPr/>
            <p:nvPr/>
          </p:nvSpPr>
          <p:spPr>
            <a:xfrm>
              <a:off x="464657" y="4203202"/>
              <a:ext cx="0" cy="737235"/>
            </a:xfrm>
            <a:custGeom>
              <a:avLst/>
              <a:gdLst/>
              <a:ahLst/>
              <a:cxnLst/>
              <a:rect l="l" t="t" r="r" b="b"/>
              <a:pathLst>
                <a:path w="0" h="737235">
                  <a:moveTo>
                    <a:pt x="0" y="0"/>
                  </a:moveTo>
                  <a:lnTo>
                    <a:pt x="0" y="737095"/>
                  </a:lnTo>
                </a:path>
              </a:pathLst>
            </a:custGeom>
            <a:ln w="12700">
              <a:solidFill>
                <a:srgbClr val="FFFFFF"/>
              </a:solidFill>
            </a:ln>
          </p:spPr>
          <p:txBody>
            <a:bodyPr wrap="square" lIns="0" tIns="0" rIns="0" bIns="0" rtlCol="0"/>
            <a:lstStyle/>
            <a:p/>
          </p:txBody>
        </p:sp>
        <p:sp>
          <p:nvSpPr>
            <p:cNvPr id="65" name="object 65" descr=""/>
            <p:cNvSpPr/>
            <p:nvPr/>
          </p:nvSpPr>
          <p:spPr>
            <a:xfrm>
              <a:off x="8710066" y="4203202"/>
              <a:ext cx="0" cy="737235"/>
            </a:xfrm>
            <a:custGeom>
              <a:avLst/>
              <a:gdLst/>
              <a:ahLst/>
              <a:cxnLst/>
              <a:rect l="l" t="t" r="r" b="b"/>
              <a:pathLst>
                <a:path w="0" h="737235">
                  <a:moveTo>
                    <a:pt x="0" y="0"/>
                  </a:moveTo>
                  <a:lnTo>
                    <a:pt x="0" y="737095"/>
                  </a:lnTo>
                </a:path>
              </a:pathLst>
            </a:custGeom>
            <a:ln w="12700">
              <a:solidFill>
                <a:srgbClr val="FFFFFF"/>
              </a:solidFill>
            </a:ln>
          </p:spPr>
          <p:txBody>
            <a:bodyPr wrap="square" lIns="0" tIns="0" rIns="0" bIns="0" rtlCol="0"/>
            <a:lstStyle/>
            <a:p/>
          </p:txBody>
        </p:sp>
        <p:sp>
          <p:nvSpPr>
            <p:cNvPr id="66" name="object 66" descr=""/>
            <p:cNvSpPr/>
            <p:nvPr/>
          </p:nvSpPr>
          <p:spPr>
            <a:xfrm>
              <a:off x="458307" y="4209552"/>
              <a:ext cx="8258175" cy="0"/>
            </a:xfrm>
            <a:custGeom>
              <a:avLst/>
              <a:gdLst/>
              <a:ahLst/>
              <a:cxnLst/>
              <a:rect l="l" t="t" r="r" b="b"/>
              <a:pathLst>
                <a:path w="8258175" h="0">
                  <a:moveTo>
                    <a:pt x="0" y="0"/>
                  </a:moveTo>
                  <a:lnTo>
                    <a:pt x="8258111" y="0"/>
                  </a:lnTo>
                </a:path>
              </a:pathLst>
            </a:custGeom>
            <a:ln w="12700">
              <a:solidFill>
                <a:srgbClr val="FFFFFF"/>
              </a:solidFill>
            </a:ln>
          </p:spPr>
          <p:txBody>
            <a:bodyPr wrap="square" lIns="0" tIns="0" rIns="0" bIns="0" rtlCol="0"/>
            <a:lstStyle/>
            <a:p/>
          </p:txBody>
        </p:sp>
      </p:grpSp>
      <p:graphicFrame>
        <p:nvGraphicFramePr>
          <p:cNvPr id="67" name="object 67" descr=""/>
          <p:cNvGraphicFramePr>
            <a:graphicFrameLocks noGrp="1"/>
          </p:cNvGraphicFramePr>
          <p:nvPr/>
        </p:nvGraphicFramePr>
        <p:xfrm>
          <a:off x="464657" y="3964740"/>
          <a:ext cx="8321675" cy="962025"/>
        </p:xfrm>
        <a:graphic>
          <a:graphicData uri="http://schemas.openxmlformats.org/drawingml/2006/table">
            <a:tbl>
              <a:tblPr firstRow="1" bandRow="1">
                <a:tableStyleId>{2D5ABB26-0587-4C30-8999-92F81FD0307C}</a:tableStyleId>
              </a:tblPr>
              <a:tblGrid>
                <a:gridCol w="592455"/>
                <a:gridCol w="1795780"/>
                <a:gridCol w="1922144"/>
                <a:gridCol w="1891664"/>
                <a:gridCol w="2041524"/>
              </a:tblGrid>
              <a:tr h="238125">
                <a:tc>
                  <a:txBody>
                    <a:bodyPr/>
                    <a:lstStyle/>
                    <a:p>
                      <a:pPr>
                        <a:lnSpc>
                          <a:spcPct val="100000"/>
                        </a:lnSpc>
                      </a:pPr>
                      <a:endParaRPr sz="900">
                        <a:latin typeface="Times New Roman"/>
                        <a:cs typeface="Times New Roman"/>
                      </a:endParaRPr>
                    </a:p>
                  </a:txBody>
                  <a:tcPr marL="0" marR="0" marB="0" marT="0"/>
                </a:tc>
                <a:tc>
                  <a:txBody>
                    <a:bodyPr/>
                    <a:lstStyle/>
                    <a:p>
                      <a:pPr marL="491490">
                        <a:lnSpc>
                          <a:spcPct val="100000"/>
                        </a:lnSpc>
                        <a:spcBef>
                          <a:spcPts val="409"/>
                        </a:spcBef>
                      </a:pPr>
                      <a:r>
                        <a:rPr dirty="0" sz="1100" spc="-10">
                          <a:latin typeface="Microsoft YaHei"/>
                          <a:cs typeface="Microsoft YaHei"/>
                        </a:rPr>
                        <a:t>5</a:t>
                      </a:r>
                      <a:r>
                        <a:rPr dirty="0" sz="1100" spc="-30">
                          <a:latin typeface="Microsoft YaHei"/>
                          <a:cs typeface="Microsoft YaHei"/>
                        </a:rPr>
                        <a:t>.办公楼宇</a:t>
                      </a:r>
                      <a:endParaRPr sz="1100">
                        <a:latin typeface="Microsoft YaHei"/>
                        <a:cs typeface="Microsoft YaHei"/>
                      </a:endParaRPr>
                    </a:p>
                  </a:txBody>
                  <a:tcPr marL="0" marR="0" marB="0" marT="52069"/>
                </a:tc>
                <a:tc>
                  <a:txBody>
                    <a:bodyPr/>
                    <a:lstStyle/>
                    <a:p>
                      <a:pPr marL="542290">
                        <a:lnSpc>
                          <a:spcPct val="100000"/>
                        </a:lnSpc>
                        <a:spcBef>
                          <a:spcPts val="220"/>
                        </a:spcBef>
                      </a:pPr>
                      <a:r>
                        <a:rPr dirty="0" sz="1100" spc="-10">
                          <a:latin typeface="Microsoft YaHei"/>
                          <a:cs typeface="Microsoft YaHei"/>
                        </a:rPr>
                        <a:t>6</a:t>
                      </a:r>
                      <a:r>
                        <a:rPr dirty="0" sz="1100" spc="-30">
                          <a:latin typeface="Microsoft YaHei"/>
                          <a:cs typeface="Microsoft YaHei"/>
                        </a:rPr>
                        <a:t>.大型场馆</a:t>
                      </a:r>
                      <a:endParaRPr sz="1100">
                        <a:latin typeface="Microsoft YaHei"/>
                        <a:cs typeface="Microsoft YaHei"/>
                      </a:endParaRPr>
                    </a:p>
                  </a:txBody>
                  <a:tcPr marL="0" marR="0" marB="0" marT="27940"/>
                </a:tc>
                <a:tc>
                  <a:txBody>
                    <a:bodyPr/>
                    <a:lstStyle/>
                    <a:p>
                      <a:pPr marL="610235">
                        <a:lnSpc>
                          <a:spcPct val="100000"/>
                        </a:lnSpc>
                        <a:spcBef>
                          <a:spcPts val="245"/>
                        </a:spcBef>
                      </a:pPr>
                      <a:r>
                        <a:rPr dirty="0" sz="1100" spc="-10">
                          <a:latin typeface="Microsoft YaHei"/>
                          <a:cs typeface="Microsoft YaHei"/>
                        </a:rPr>
                        <a:t>7</a:t>
                      </a:r>
                      <a:r>
                        <a:rPr dirty="0" sz="1100" spc="-30">
                          <a:latin typeface="Microsoft YaHei"/>
                          <a:cs typeface="Microsoft YaHei"/>
                        </a:rPr>
                        <a:t>.商业街</a:t>
                      </a:r>
                      <a:endParaRPr sz="1100">
                        <a:latin typeface="Microsoft YaHei"/>
                        <a:cs typeface="Microsoft YaHei"/>
                      </a:endParaRPr>
                    </a:p>
                  </a:txBody>
                  <a:tcPr marL="0" marR="0" marB="0" marT="31115"/>
                </a:tc>
                <a:tc>
                  <a:txBody>
                    <a:bodyPr/>
                    <a:lstStyle/>
                    <a:p>
                      <a:pPr marL="585470">
                        <a:lnSpc>
                          <a:spcPct val="100000"/>
                        </a:lnSpc>
                        <a:spcBef>
                          <a:spcPts val="195"/>
                        </a:spcBef>
                      </a:pPr>
                      <a:r>
                        <a:rPr dirty="0" sz="1100" spc="-10">
                          <a:latin typeface="Microsoft YaHei"/>
                          <a:cs typeface="Microsoft YaHei"/>
                        </a:rPr>
                        <a:t>8</a:t>
                      </a:r>
                      <a:r>
                        <a:rPr dirty="0" sz="1100" spc="-30">
                          <a:latin typeface="Microsoft YaHei"/>
                          <a:cs typeface="Microsoft YaHei"/>
                        </a:rPr>
                        <a:t>.隧道类</a:t>
                      </a:r>
                      <a:endParaRPr sz="1100">
                        <a:latin typeface="Microsoft YaHei"/>
                        <a:cs typeface="Microsoft YaHei"/>
                      </a:endParaRPr>
                    </a:p>
                  </a:txBody>
                  <a:tcPr marL="0" marR="0" marB="0" marT="24765"/>
                </a:tc>
              </a:tr>
              <a:tr h="290830">
                <a:tc>
                  <a:txBody>
                    <a:bodyPr/>
                    <a:lstStyle/>
                    <a:p>
                      <a:pPr marL="6985">
                        <a:lnSpc>
                          <a:spcPct val="100000"/>
                        </a:lnSpc>
                        <a:spcBef>
                          <a:spcPts val="500"/>
                        </a:spcBef>
                      </a:pPr>
                      <a:r>
                        <a:rPr dirty="0" sz="900" spc="-15" b="1">
                          <a:latin typeface="Microsoft YaHei"/>
                          <a:cs typeface="Microsoft YaHei"/>
                        </a:rPr>
                        <a:t>场景特征</a:t>
                      </a:r>
                      <a:endParaRPr sz="900">
                        <a:latin typeface="Microsoft YaHei"/>
                        <a:cs typeface="Microsoft YaHei"/>
                      </a:endParaRPr>
                    </a:p>
                  </a:txBody>
                  <a:tcPr marL="0" marR="0" marB="0" marT="63500">
                    <a:lnB w="12700">
                      <a:solidFill>
                        <a:srgbClr val="FFFFFF"/>
                      </a:solidFill>
                      <a:prstDash val="solid"/>
                    </a:lnB>
                    <a:solidFill>
                      <a:srgbClr val="E9EDF4"/>
                    </a:solidFill>
                  </a:tcPr>
                </a:tc>
                <a:tc>
                  <a:txBody>
                    <a:bodyPr/>
                    <a:lstStyle/>
                    <a:p>
                      <a:pPr marL="128270" marR="38100">
                        <a:lnSpc>
                          <a:spcPct val="100000"/>
                        </a:lnSpc>
                        <a:spcBef>
                          <a:spcPts val="75"/>
                        </a:spcBef>
                      </a:pPr>
                      <a:r>
                        <a:rPr dirty="0" sz="800" spc="-15">
                          <a:latin typeface="Microsoft YaHei"/>
                          <a:cs typeface="Microsoft YaHei"/>
                        </a:rPr>
                        <a:t>墙体厚、大空间、玻璃外墙，容量需</a:t>
                      </a:r>
                      <a:r>
                        <a:rPr dirty="0" sz="800" spc="-30">
                          <a:latin typeface="Microsoft YaHei"/>
                          <a:cs typeface="Microsoft YaHei"/>
                        </a:rPr>
                        <a:t>求大</a:t>
                      </a:r>
                      <a:endParaRPr sz="800">
                        <a:latin typeface="Microsoft YaHei"/>
                        <a:cs typeface="Microsoft YaHei"/>
                      </a:endParaRPr>
                    </a:p>
                  </a:txBody>
                  <a:tcPr marL="0" marR="0" marB="0" marT="9525">
                    <a:lnB w="12700">
                      <a:solidFill>
                        <a:srgbClr val="FFFFFF"/>
                      </a:solidFill>
                      <a:prstDash val="solid"/>
                    </a:lnB>
                    <a:solidFill>
                      <a:srgbClr val="E9EDF4"/>
                    </a:solidFill>
                  </a:tcPr>
                </a:tc>
                <a:tc>
                  <a:txBody>
                    <a:bodyPr/>
                    <a:lstStyle/>
                    <a:p>
                      <a:pPr marL="45720" marR="43815">
                        <a:lnSpc>
                          <a:spcPct val="100000"/>
                        </a:lnSpc>
                        <a:spcBef>
                          <a:spcPts val="75"/>
                        </a:spcBef>
                      </a:pPr>
                      <a:r>
                        <a:rPr dirty="0" sz="800" spc="-15">
                          <a:latin typeface="Microsoft YaHei"/>
                          <a:cs typeface="Microsoft YaHei"/>
                        </a:rPr>
                        <a:t>钢架结构、大空间、用户多、潮汐效应显</a:t>
                      </a:r>
                      <a:r>
                        <a:rPr dirty="0" sz="800" spc="-20">
                          <a:latin typeface="Microsoft YaHei"/>
                          <a:cs typeface="Microsoft YaHei"/>
                        </a:rPr>
                        <a:t>著，容量需求大</a:t>
                      </a:r>
                      <a:endParaRPr sz="800">
                        <a:latin typeface="Microsoft YaHei"/>
                        <a:cs typeface="Microsoft YaHei"/>
                      </a:endParaRPr>
                    </a:p>
                  </a:txBody>
                  <a:tcPr marL="0" marR="0" marB="0" marT="9525">
                    <a:lnB w="12700">
                      <a:solidFill>
                        <a:srgbClr val="FFFFFF"/>
                      </a:solidFill>
                      <a:prstDash val="solid"/>
                    </a:lnB>
                    <a:solidFill>
                      <a:srgbClr val="E9EDF4"/>
                    </a:solidFill>
                  </a:tcPr>
                </a:tc>
                <a:tc>
                  <a:txBody>
                    <a:bodyPr/>
                    <a:lstStyle/>
                    <a:p>
                      <a:pPr algn="r" marR="7620">
                        <a:lnSpc>
                          <a:spcPct val="100000"/>
                        </a:lnSpc>
                        <a:spcBef>
                          <a:spcPts val="555"/>
                        </a:spcBef>
                      </a:pPr>
                      <a:r>
                        <a:rPr dirty="0" sz="800" spc="-15">
                          <a:latin typeface="Microsoft YaHei"/>
                          <a:cs typeface="Microsoft YaHei"/>
                        </a:rPr>
                        <a:t>底层商户密集、街道用户多，容量需求大</a:t>
                      </a:r>
                      <a:endParaRPr sz="800">
                        <a:latin typeface="Microsoft YaHei"/>
                        <a:cs typeface="Microsoft YaHei"/>
                      </a:endParaRPr>
                    </a:p>
                  </a:txBody>
                  <a:tcPr marL="0" marR="0" marB="0" marT="70485">
                    <a:lnB w="12700">
                      <a:solidFill>
                        <a:srgbClr val="FFFFFF"/>
                      </a:solidFill>
                      <a:prstDash val="solid"/>
                    </a:lnB>
                    <a:solidFill>
                      <a:srgbClr val="E9EDF4"/>
                    </a:solidFill>
                  </a:tcPr>
                </a:tc>
                <a:tc>
                  <a:txBody>
                    <a:bodyPr/>
                    <a:lstStyle/>
                    <a:p>
                      <a:pPr marL="15240">
                        <a:lnSpc>
                          <a:spcPct val="100000"/>
                        </a:lnSpc>
                        <a:spcBef>
                          <a:spcPts val="555"/>
                        </a:spcBef>
                      </a:pPr>
                      <a:r>
                        <a:rPr dirty="0" sz="800" spc="-15">
                          <a:latin typeface="Microsoft YaHei"/>
                          <a:cs typeface="Microsoft YaHei"/>
                        </a:rPr>
                        <a:t>狭长、内部封闭、双向独立通道，覆盖为主</a:t>
                      </a:r>
                      <a:endParaRPr sz="800">
                        <a:latin typeface="Microsoft YaHei"/>
                        <a:cs typeface="Microsoft YaHei"/>
                      </a:endParaRPr>
                    </a:p>
                  </a:txBody>
                  <a:tcPr marL="0" marR="0" marB="0" marT="70485">
                    <a:lnB w="12700">
                      <a:solidFill>
                        <a:srgbClr val="FFFFFF"/>
                      </a:solidFill>
                      <a:prstDash val="solid"/>
                    </a:lnB>
                    <a:solidFill>
                      <a:srgbClr val="E9EDF4"/>
                    </a:solidFill>
                  </a:tcPr>
                </a:tc>
              </a:tr>
              <a:tr h="433070">
                <a:tc>
                  <a:txBody>
                    <a:bodyPr/>
                    <a:lstStyle/>
                    <a:p>
                      <a:pPr>
                        <a:lnSpc>
                          <a:spcPct val="100000"/>
                        </a:lnSpc>
                        <a:spcBef>
                          <a:spcPts val="20"/>
                        </a:spcBef>
                      </a:pPr>
                      <a:endParaRPr sz="900">
                        <a:latin typeface="Times New Roman"/>
                        <a:cs typeface="Times New Roman"/>
                      </a:endParaRPr>
                    </a:p>
                    <a:p>
                      <a:pPr marL="6985">
                        <a:lnSpc>
                          <a:spcPct val="100000"/>
                        </a:lnSpc>
                        <a:spcBef>
                          <a:spcPts val="5"/>
                        </a:spcBef>
                      </a:pPr>
                      <a:r>
                        <a:rPr dirty="0" sz="900" spc="-15" b="1">
                          <a:latin typeface="Microsoft YaHei"/>
                          <a:cs typeface="Microsoft YaHei"/>
                        </a:rPr>
                        <a:t>覆盖难点</a:t>
                      </a:r>
                      <a:endParaRPr sz="900">
                        <a:latin typeface="Microsoft YaHei"/>
                        <a:cs typeface="Microsoft YaHei"/>
                      </a:endParaRPr>
                    </a:p>
                  </a:txBody>
                  <a:tcPr marL="0" marR="0" marB="0" marT="2540">
                    <a:lnT w="12700">
                      <a:solidFill>
                        <a:srgbClr val="FFFFFF"/>
                      </a:solidFill>
                      <a:prstDash val="solid"/>
                    </a:lnT>
                    <a:lnB w="12700">
                      <a:solidFill>
                        <a:srgbClr val="FFFFFF"/>
                      </a:solidFill>
                      <a:prstDash val="solid"/>
                    </a:lnB>
                    <a:solidFill>
                      <a:srgbClr val="D0D8E8"/>
                    </a:solidFill>
                  </a:tcPr>
                </a:tc>
                <a:tc>
                  <a:txBody>
                    <a:bodyPr/>
                    <a:lstStyle/>
                    <a:p>
                      <a:pPr>
                        <a:lnSpc>
                          <a:spcPct val="100000"/>
                        </a:lnSpc>
                        <a:spcBef>
                          <a:spcPts val="195"/>
                        </a:spcBef>
                      </a:pPr>
                      <a:endParaRPr sz="800">
                        <a:latin typeface="Times New Roman"/>
                        <a:cs typeface="Times New Roman"/>
                      </a:endParaRPr>
                    </a:p>
                    <a:p>
                      <a:pPr marL="128270">
                        <a:lnSpc>
                          <a:spcPct val="100000"/>
                        </a:lnSpc>
                      </a:pPr>
                      <a:r>
                        <a:rPr dirty="0" sz="800" spc="-15">
                          <a:latin typeface="Microsoft YaHei"/>
                          <a:cs typeface="Microsoft YaHei"/>
                        </a:rPr>
                        <a:t>室外信号覆盖受限、室内覆盖容易</a:t>
                      </a:r>
                      <a:endParaRPr sz="800">
                        <a:latin typeface="Microsoft YaHei"/>
                        <a:cs typeface="Microsoft YaHei"/>
                      </a:endParaRPr>
                    </a:p>
                  </a:txBody>
                  <a:tcPr marL="0" marR="0" marB="0" marT="24765">
                    <a:lnT w="12700">
                      <a:solidFill>
                        <a:srgbClr val="FFFFFF"/>
                      </a:solidFill>
                      <a:prstDash val="solid"/>
                    </a:lnT>
                    <a:lnB w="12700">
                      <a:solidFill>
                        <a:srgbClr val="FFFFFF"/>
                      </a:solidFill>
                      <a:prstDash val="solid"/>
                    </a:lnB>
                    <a:solidFill>
                      <a:srgbClr val="D0D8E8"/>
                    </a:solidFill>
                  </a:tcPr>
                </a:tc>
                <a:tc>
                  <a:txBody>
                    <a:bodyPr/>
                    <a:lstStyle/>
                    <a:p>
                      <a:pPr marL="45720" marR="43815">
                        <a:lnSpc>
                          <a:spcPct val="100000"/>
                        </a:lnSpc>
                        <a:spcBef>
                          <a:spcPts val="635"/>
                        </a:spcBef>
                      </a:pPr>
                      <a:r>
                        <a:rPr dirty="0" sz="800" spc="-15">
                          <a:latin typeface="Microsoft YaHei"/>
                          <a:cs typeface="Microsoft YaHei"/>
                        </a:rPr>
                        <a:t>需要准确覆盖控制、需室内外协同覆盖，</a:t>
                      </a:r>
                      <a:r>
                        <a:rPr dirty="0" sz="800" spc="-20">
                          <a:latin typeface="Microsoft YaHei"/>
                          <a:cs typeface="Microsoft YaHei"/>
                        </a:rPr>
                        <a:t>容量需求大</a:t>
                      </a:r>
                      <a:endParaRPr sz="800">
                        <a:latin typeface="Microsoft YaHei"/>
                        <a:cs typeface="Microsoft YaHei"/>
                      </a:endParaRPr>
                    </a:p>
                  </a:txBody>
                  <a:tcPr marL="0" marR="0" marB="0" marT="80645">
                    <a:lnT w="12700">
                      <a:solidFill>
                        <a:srgbClr val="FFFFFF"/>
                      </a:solidFill>
                      <a:prstDash val="solid"/>
                    </a:lnT>
                    <a:lnB w="12700">
                      <a:solidFill>
                        <a:srgbClr val="FFFFFF"/>
                      </a:solidFill>
                      <a:prstDash val="solid"/>
                    </a:lnB>
                    <a:solidFill>
                      <a:srgbClr val="D0D8E8"/>
                    </a:solidFill>
                  </a:tcPr>
                </a:tc>
                <a:tc>
                  <a:txBody>
                    <a:bodyPr/>
                    <a:lstStyle/>
                    <a:p>
                      <a:pPr>
                        <a:lnSpc>
                          <a:spcPct val="100000"/>
                        </a:lnSpc>
                        <a:spcBef>
                          <a:spcPts val="195"/>
                        </a:spcBef>
                      </a:pPr>
                      <a:endParaRPr sz="800">
                        <a:latin typeface="Times New Roman"/>
                        <a:cs typeface="Times New Roman"/>
                      </a:endParaRPr>
                    </a:p>
                    <a:p>
                      <a:pPr algn="r" marR="7620">
                        <a:lnSpc>
                          <a:spcPct val="100000"/>
                        </a:lnSpc>
                      </a:pPr>
                      <a:r>
                        <a:rPr dirty="0" sz="800" spc="-15">
                          <a:latin typeface="Microsoft YaHei"/>
                          <a:cs typeface="Microsoft YaHei"/>
                        </a:rPr>
                        <a:t>宏站无法很好商户内部、室分协调难度大</a:t>
                      </a:r>
                      <a:endParaRPr sz="800">
                        <a:latin typeface="Microsoft YaHei"/>
                        <a:cs typeface="Microsoft YaHei"/>
                      </a:endParaRPr>
                    </a:p>
                  </a:txBody>
                  <a:tcPr marL="0" marR="0" marB="0" marT="24765">
                    <a:lnT w="12700">
                      <a:solidFill>
                        <a:srgbClr val="FFFFFF"/>
                      </a:solidFill>
                      <a:prstDash val="solid"/>
                    </a:lnT>
                    <a:lnB w="12700">
                      <a:solidFill>
                        <a:srgbClr val="FFFFFF"/>
                      </a:solidFill>
                      <a:prstDash val="solid"/>
                    </a:lnB>
                    <a:solidFill>
                      <a:srgbClr val="D0D8E8"/>
                    </a:solidFill>
                  </a:tcPr>
                </a:tc>
                <a:tc>
                  <a:txBody>
                    <a:bodyPr/>
                    <a:lstStyle/>
                    <a:p>
                      <a:pPr>
                        <a:lnSpc>
                          <a:spcPct val="100000"/>
                        </a:lnSpc>
                        <a:spcBef>
                          <a:spcPts val="195"/>
                        </a:spcBef>
                      </a:pPr>
                      <a:endParaRPr sz="800">
                        <a:latin typeface="Times New Roman"/>
                        <a:cs typeface="Times New Roman"/>
                      </a:endParaRPr>
                    </a:p>
                    <a:p>
                      <a:pPr marL="15240">
                        <a:lnSpc>
                          <a:spcPct val="100000"/>
                        </a:lnSpc>
                      </a:pPr>
                      <a:r>
                        <a:rPr dirty="0" sz="800" spc="-15">
                          <a:latin typeface="Microsoft YaHei"/>
                          <a:cs typeface="Microsoft YaHei"/>
                        </a:rPr>
                        <a:t>宏站无法覆盖、室分投资大</a:t>
                      </a:r>
                      <a:endParaRPr sz="800">
                        <a:latin typeface="Microsoft YaHei"/>
                        <a:cs typeface="Microsoft YaHei"/>
                      </a:endParaRPr>
                    </a:p>
                  </a:txBody>
                  <a:tcPr marL="0" marR="0" marB="0" marT="24765">
                    <a:lnT w="12700">
                      <a:solidFill>
                        <a:srgbClr val="FFFFFF"/>
                      </a:solidFill>
                      <a:prstDash val="solid"/>
                    </a:lnT>
                    <a:lnB w="12700">
                      <a:solidFill>
                        <a:srgbClr val="FFFFFF"/>
                      </a:solidFill>
                      <a:prstDash val="solid"/>
                    </a:lnB>
                    <a:solidFill>
                      <a:srgbClr val="D0D8E8"/>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217931" y="881633"/>
            <a:ext cx="3695065" cy="314325"/>
            <a:chOff x="217931" y="881633"/>
            <a:chExt cx="3695065" cy="314325"/>
          </a:xfrm>
        </p:grpSpPr>
        <p:pic>
          <p:nvPicPr>
            <p:cNvPr id="3" name="object 3" descr=""/>
            <p:cNvPicPr/>
            <p:nvPr/>
          </p:nvPicPr>
          <p:blipFill>
            <a:blip r:embed="rId2" cstate="print"/>
            <a:stretch>
              <a:fillRect/>
            </a:stretch>
          </p:blipFill>
          <p:spPr>
            <a:xfrm>
              <a:off x="217931" y="890015"/>
              <a:ext cx="3681983" cy="305561"/>
            </a:xfrm>
            <a:prstGeom prst="rect">
              <a:avLst/>
            </a:prstGeom>
          </p:spPr>
        </p:pic>
        <p:pic>
          <p:nvPicPr>
            <p:cNvPr id="4" name="object 4" descr=""/>
            <p:cNvPicPr/>
            <p:nvPr/>
          </p:nvPicPr>
          <p:blipFill>
            <a:blip r:embed="rId3" cstate="print"/>
            <a:stretch>
              <a:fillRect/>
            </a:stretch>
          </p:blipFill>
          <p:spPr>
            <a:xfrm>
              <a:off x="256794" y="881633"/>
              <a:ext cx="3656063" cy="268223"/>
            </a:xfrm>
            <a:prstGeom prst="rect">
              <a:avLst/>
            </a:prstGeom>
          </p:spPr>
        </p:pic>
      </p:grpSp>
      <p:sp>
        <p:nvSpPr>
          <p:cNvPr id="5" name="object 5" descr=""/>
          <p:cNvSpPr txBox="1"/>
          <p:nvPr/>
        </p:nvSpPr>
        <p:spPr>
          <a:xfrm>
            <a:off x="168275" y="840092"/>
            <a:ext cx="3680460" cy="304165"/>
          </a:xfrm>
          <a:prstGeom prst="rect">
            <a:avLst/>
          </a:prstGeom>
          <a:solidFill>
            <a:srgbClr val="333399"/>
          </a:solidFill>
        </p:spPr>
        <p:txBody>
          <a:bodyPr wrap="square" lIns="0" tIns="38735" rIns="0" bIns="0" rtlCol="0" vert="horz">
            <a:spAutoFit/>
          </a:bodyPr>
          <a:lstStyle/>
          <a:p>
            <a:pPr marL="144780">
              <a:lnSpc>
                <a:spcPct val="100000"/>
              </a:lnSpc>
              <a:spcBef>
                <a:spcPts val="305"/>
              </a:spcBef>
            </a:pPr>
            <a:r>
              <a:rPr dirty="0" sz="1400" spc="-20">
                <a:solidFill>
                  <a:srgbClr val="FFFFFF"/>
                </a:solidFill>
                <a:latin typeface="Microsoft YaHei"/>
                <a:cs typeface="Microsoft YaHei"/>
              </a:rPr>
              <a:t>微站需求分析-规划方法</a:t>
            </a:r>
            <a:r>
              <a:rPr dirty="0" sz="1400" spc="-10">
                <a:solidFill>
                  <a:srgbClr val="FFFFFF"/>
                </a:solidFill>
                <a:latin typeface="Microsoft YaHei"/>
                <a:cs typeface="Microsoft YaHei"/>
              </a:rPr>
              <a:t>1</a:t>
            </a:r>
            <a:r>
              <a:rPr dirty="0" sz="1400" spc="-20">
                <a:solidFill>
                  <a:srgbClr val="FFFFFF"/>
                </a:solidFill>
                <a:latin typeface="Microsoft YaHei"/>
                <a:cs typeface="Microsoft YaHei"/>
              </a:rPr>
              <a:t>-可获取</a:t>
            </a:r>
            <a:r>
              <a:rPr dirty="0" sz="1400" spc="-10">
                <a:solidFill>
                  <a:srgbClr val="FFFFFF"/>
                </a:solidFill>
                <a:latin typeface="Microsoft YaHei"/>
                <a:cs typeface="Microsoft YaHei"/>
              </a:rPr>
              <a:t>MR</a:t>
            </a:r>
            <a:r>
              <a:rPr dirty="0" sz="1400" spc="-30">
                <a:solidFill>
                  <a:srgbClr val="FFFFFF"/>
                </a:solidFill>
                <a:latin typeface="Microsoft YaHei"/>
                <a:cs typeface="Microsoft YaHei"/>
              </a:rPr>
              <a:t>等数据</a:t>
            </a:r>
            <a:endParaRPr sz="1400">
              <a:latin typeface="Microsoft YaHei"/>
              <a:cs typeface="Microsoft YaHei"/>
            </a:endParaRPr>
          </a:p>
        </p:txBody>
      </p:sp>
      <p:sp>
        <p:nvSpPr>
          <p:cNvPr id="6" name="object 6" descr=""/>
          <p:cNvSpPr/>
          <p:nvPr/>
        </p:nvSpPr>
        <p:spPr>
          <a:xfrm>
            <a:off x="168275" y="1174775"/>
            <a:ext cx="8724265" cy="577215"/>
          </a:xfrm>
          <a:custGeom>
            <a:avLst/>
            <a:gdLst/>
            <a:ahLst/>
            <a:cxnLst/>
            <a:rect l="l" t="t" r="r" b="b"/>
            <a:pathLst>
              <a:path w="8724265" h="577214">
                <a:moveTo>
                  <a:pt x="8724201" y="0"/>
                </a:moveTo>
                <a:lnTo>
                  <a:pt x="0" y="0"/>
                </a:lnTo>
                <a:lnTo>
                  <a:pt x="0" y="577075"/>
                </a:lnTo>
                <a:lnTo>
                  <a:pt x="8724201" y="577075"/>
                </a:lnTo>
                <a:lnTo>
                  <a:pt x="8724201" y="0"/>
                </a:lnTo>
                <a:close/>
              </a:path>
            </a:pathLst>
          </a:custGeom>
          <a:solidFill>
            <a:srgbClr val="E7F3F4"/>
          </a:solidFill>
        </p:spPr>
        <p:txBody>
          <a:bodyPr wrap="square" lIns="0" tIns="0" rIns="0" bIns="0" rtlCol="0"/>
          <a:lstStyle/>
          <a:p/>
        </p:txBody>
      </p:sp>
      <p:sp>
        <p:nvSpPr>
          <p:cNvPr id="7" name="object 7" descr=""/>
          <p:cNvSpPr txBox="1"/>
          <p:nvPr/>
        </p:nvSpPr>
        <p:spPr>
          <a:xfrm>
            <a:off x="224154" y="1161804"/>
            <a:ext cx="8712200" cy="528320"/>
          </a:xfrm>
          <a:prstGeom prst="rect">
            <a:avLst/>
          </a:prstGeom>
        </p:spPr>
        <p:txBody>
          <a:bodyPr wrap="square" lIns="0" tIns="12700" rIns="0" bIns="0" rtlCol="0" vert="horz">
            <a:spAutoFit/>
          </a:bodyPr>
          <a:lstStyle/>
          <a:p>
            <a:pPr marL="226060" marR="5080" indent="-213995">
              <a:lnSpc>
                <a:spcPct val="150000"/>
              </a:lnSpc>
              <a:spcBef>
                <a:spcPts val="100"/>
              </a:spcBef>
              <a:buFont typeface="Wingdings"/>
              <a:buChar char=""/>
              <a:tabLst>
                <a:tab pos="227329" algn="l"/>
              </a:tabLst>
            </a:pPr>
            <a:r>
              <a:rPr dirty="0" sz="1100" spc="-20">
                <a:solidFill>
                  <a:srgbClr val="3E3E3E"/>
                </a:solidFill>
                <a:latin typeface="Microsoft YaHei"/>
                <a:cs typeface="Microsoft YaHei"/>
              </a:rPr>
              <a:t>基于现有的</a:t>
            </a:r>
            <a:r>
              <a:rPr dirty="0" sz="1100" spc="-10">
                <a:solidFill>
                  <a:srgbClr val="3E3E3E"/>
                </a:solidFill>
                <a:latin typeface="Microsoft YaHei"/>
                <a:cs typeface="Microsoft YaHei"/>
              </a:rPr>
              <a:t>MR</a:t>
            </a:r>
            <a:r>
              <a:rPr dirty="0" sz="1100" spc="-25">
                <a:solidFill>
                  <a:srgbClr val="3E3E3E"/>
                </a:solidFill>
                <a:latin typeface="Microsoft YaHei"/>
                <a:cs typeface="Microsoft YaHei"/>
              </a:rPr>
              <a:t>、路测、投诉等多维度大数据分析，通过先进的地理栅格定位和室内外区分技术，评估深度覆盖问题，精准站址规划方法，结	合高精度仿真技术，从结构、覆盖等多个角度评估站址的合理性，严格把控站址规划质量。</a:t>
            </a:r>
            <a:endParaRPr sz="1100">
              <a:latin typeface="Microsoft YaHei"/>
              <a:cs typeface="Microsoft YaHei"/>
            </a:endParaRPr>
          </a:p>
        </p:txBody>
      </p:sp>
      <p:sp>
        <p:nvSpPr>
          <p:cNvPr id="8" name="object 8"/>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0"/>
              <a:t>微站需求分析</a:t>
            </a:r>
          </a:p>
        </p:txBody>
      </p:sp>
      <p:grpSp>
        <p:nvGrpSpPr>
          <p:cNvPr id="9" name="object 9" descr=""/>
          <p:cNvGrpSpPr/>
          <p:nvPr/>
        </p:nvGrpSpPr>
        <p:grpSpPr>
          <a:xfrm>
            <a:off x="161925" y="1737360"/>
            <a:ext cx="6605270" cy="3221990"/>
            <a:chOff x="161925" y="1737360"/>
            <a:chExt cx="6605270" cy="3221990"/>
          </a:xfrm>
        </p:grpSpPr>
        <p:sp>
          <p:nvSpPr>
            <p:cNvPr id="10" name="object 10" descr=""/>
            <p:cNvSpPr/>
            <p:nvPr/>
          </p:nvSpPr>
          <p:spPr>
            <a:xfrm>
              <a:off x="258673" y="1796427"/>
              <a:ext cx="1621155" cy="3103245"/>
            </a:xfrm>
            <a:custGeom>
              <a:avLst/>
              <a:gdLst/>
              <a:ahLst/>
              <a:cxnLst/>
              <a:rect l="l" t="t" r="r" b="b"/>
              <a:pathLst>
                <a:path w="1621155" h="3103245">
                  <a:moveTo>
                    <a:pt x="1620774" y="558"/>
                  </a:moveTo>
                  <a:lnTo>
                    <a:pt x="1619592" y="558"/>
                  </a:lnTo>
                  <a:lnTo>
                    <a:pt x="1619592" y="0"/>
                  </a:lnTo>
                  <a:lnTo>
                    <a:pt x="1619300" y="558"/>
                  </a:lnTo>
                  <a:lnTo>
                    <a:pt x="1237361" y="558"/>
                  </a:lnTo>
                  <a:lnTo>
                    <a:pt x="0" y="2369147"/>
                  </a:lnTo>
                  <a:lnTo>
                    <a:pt x="0" y="3101352"/>
                  </a:lnTo>
                  <a:lnTo>
                    <a:pt x="0" y="3103080"/>
                  </a:lnTo>
                  <a:lnTo>
                    <a:pt x="901" y="3101352"/>
                  </a:lnTo>
                  <a:lnTo>
                    <a:pt x="1619592" y="3101352"/>
                  </a:lnTo>
                  <a:lnTo>
                    <a:pt x="1619592" y="2832"/>
                  </a:lnTo>
                  <a:lnTo>
                    <a:pt x="1620774" y="558"/>
                  </a:lnTo>
                  <a:close/>
                </a:path>
              </a:pathLst>
            </a:custGeom>
            <a:solidFill>
              <a:srgbClr val="C0E399"/>
            </a:solidFill>
          </p:spPr>
          <p:txBody>
            <a:bodyPr wrap="square" lIns="0" tIns="0" rIns="0" bIns="0" rtlCol="0"/>
            <a:lstStyle/>
            <a:p/>
          </p:txBody>
        </p:sp>
        <p:sp>
          <p:nvSpPr>
            <p:cNvPr id="11" name="object 11" descr=""/>
            <p:cNvSpPr/>
            <p:nvPr/>
          </p:nvSpPr>
          <p:spPr>
            <a:xfrm>
              <a:off x="168275" y="1743710"/>
              <a:ext cx="6567805" cy="3209290"/>
            </a:xfrm>
            <a:custGeom>
              <a:avLst/>
              <a:gdLst/>
              <a:ahLst/>
              <a:cxnLst/>
              <a:rect l="l" t="t" r="r" b="b"/>
              <a:pathLst>
                <a:path w="6567805" h="3209290">
                  <a:moveTo>
                    <a:pt x="0" y="0"/>
                  </a:moveTo>
                  <a:lnTo>
                    <a:pt x="6567309" y="0"/>
                  </a:lnTo>
                  <a:lnTo>
                    <a:pt x="6567309" y="3208858"/>
                  </a:lnTo>
                  <a:lnTo>
                    <a:pt x="0" y="3208858"/>
                  </a:lnTo>
                  <a:lnTo>
                    <a:pt x="0" y="0"/>
                  </a:lnTo>
                  <a:close/>
                </a:path>
              </a:pathLst>
            </a:custGeom>
            <a:ln w="12700">
              <a:solidFill>
                <a:srgbClr val="1F7FC1"/>
              </a:solidFill>
            </a:ln>
          </p:spPr>
          <p:txBody>
            <a:bodyPr wrap="square" lIns="0" tIns="0" rIns="0" bIns="0" rtlCol="0"/>
            <a:lstStyle/>
            <a:p/>
          </p:txBody>
        </p:sp>
        <p:pic>
          <p:nvPicPr>
            <p:cNvPr id="12" name="object 12" descr=""/>
            <p:cNvPicPr/>
            <p:nvPr/>
          </p:nvPicPr>
          <p:blipFill>
            <a:blip r:embed="rId4" cstate="print"/>
            <a:stretch>
              <a:fillRect/>
            </a:stretch>
          </p:blipFill>
          <p:spPr>
            <a:xfrm>
              <a:off x="1879650" y="1795272"/>
              <a:ext cx="4887048" cy="3101060"/>
            </a:xfrm>
            <a:prstGeom prst="rect">
              <a:avLst/>
            </a:prstGeom>
          </p:spPr>
        </p:pic>
        <p:sp>
          <p:nvSpPr>
            <p:cNvPr id="13" name="object 13" descr=""/>
            <p:cNvSpPr/>
            <p:nvPr/>
          </p:nvSpPr>
          <p:spPr>
            <a:xfrm>
              <a:off x="256341" y="4890673"/>
              <a:ext cx="6400800" cy="15240"/>
            </a:xfrm>
            <a:custGeom>
              <a:avLst/>
              <a:gdLst/>
              <a:ahLst/>
              <a:cxnLst/>
              <a:rect l="l" t="t" r="r" b="b"/>
              <a:pathLst>
                <a:path w="6400800" h="15239">
                  <a:moveTo>
                    <a:pt x="0" y="14808"/>
                  </a:moveTo>
                  <a:lnTo>
                    <a:pt x="6400215" y="0"/>
                  </a:lnTo>
                </a:path>
              </a:pathLst>
            </a:custGeom>
            <a:ln w="12700">
              <a:solidFill>
                <a:srgbClr val="000000"/>
              </a:solidFill>
              <a:prstDash val="sysDot"/>
            </a:ln>
          </p:spPr>
          <p:txBody>
            <a:bodyPr wrap="square" lIns="0" tIns="0" rIns="0" bIns="0" rtlCol="0"/>
            <a:lstStyle/>
            <a:p/>
          </p:txBody>
        </p:sp>
        <p:sp>
          <p:nvSpPr>
            <p:cNvPr id="14" name="object 14" descr=""/>
            <p:cNvSpPr/>
            <p:nvPr/>
          </p:nvSpPr>
          <p:spPr>
            <a:xfrm>
              <a:off x="944184" y="3789561"/>
              <a:ext cx="5708650" cy="11430"/>
            </a:xfrm>
            <a:custGeom>
              <a:avLst/>
              <a:gdLst/>
              <a:ahLst/>
              <a:cxnLst/>
              <a:rect l="l" t="t" r="r" b="b"/>
              <a:pathLst>
                <a:path w="5708650" h="11429">
                  <a:moveTo>
                    <a:pt x="0" y="11430"/>
                  </a:moveTo>
                  <a:lnTo>
                    <a:pt x="5708040" y="0"/>
                  </a:lnTo>
                </a:path>
              </a:pathLst>
            </a:custGeom>
            <a:ln w="12700">
              <a:solidFill>
                <a:srgbClr val="B28C2C"/>
              </a:solidFill>
              <a:prstDash val="sysDot"/>
            </a:ln>
          </p:spPr>
          <p:txBody>
            <a:bodyPr wrap="square" lIns="0" tIns="0" rIns="0" bIns="0" rtlCol="0"/>
            <a:lstStyle/>
            <a:p/>
          </p:txBody>
        </p:sp>
        <p:sp>
          <p:nvSpPr>
            <p:cNvPr id="15" name="object 15" descr=""/>
            <p:cNvSpPr/>
            <p:nvPr/>
          </p:nvSpPr>
          <p:spPr>
            <a:xfrm>
              <a:off x="1262432" y="3121456"/>
              <a:ext cx="5420360" cy="14604"/>
            </a:xfrm>
            <a:custGeom>
              <a:avLst/>
              <a:gdLst/>
              <a:ahLst/>
              <a:cxnLst/>
              <a:rect l="l" t="t" r="r" b="b"/>
              <a:pathLst>
                <a:path w="5420359" h="14605">
                  <a:moveTo>
                    <a:pt x="0" y="14097"/>
                  </a:moveTo>
                  <a:lnTo>
                    <a:pt x="5420042" y="0"/>
                  </a:lnTo>
                </a:path>
              </a:pathLst>
            </a:custGeom>
            <a:ln w="12700">
              <a:solidFill>
                <a:srgbClr val="B28C2C"/>
              </a:solidFill>
              <a:prstDash val="sysDot"/>
            </a:ln>
          </p:spPr>
          <p:txBody>
            <a:bodyPr wrap="square" lIns="0" tIns="0" rIns="0" bIns="0" rtlCol="0"/>
            <a:lstStyle/>
            <a:p/>
          </p:txBody>
        </p:sp>
        <p:sp>
          <p:nvSpPr>
            <p:cNvPr id="16" name="object 16" descr=""/>
            <p:cNvSpPr/>
            <p:nvPr/>
          </p:nvSpPr>
          <p:spPr>
            <a:xfrm>
              <a:off x="1624379" y="2452665"/>
              <a:ext cx="5032375" cy="10795"/>
            </a:xfrm>
            <a:custGeom>
              <a:avLst/>
              <a:gdLst/>
              <a:ahLst/>
              <a:cxnLst/>
              <a:rect l="l" t="t" r="r" b="b"/>
              <a:pathLst>
                <a:path w="5032375" h="10794">
                  <a:moveTo>
                    <a:pt x="0" y="10591"/>
                  </a:moveTo>
                  <a:lnTo>
                    <a:pt x="5032184" y="0"/>
                  </a:lnTo>
                </a:path>
              </a:pathLst>
            </a:custGeom>
            <a:ln w="12700">
              <a:solidFill>
                <a:srgbClr val="B28C2C"/>
              </a:solidFill>
              <a:prstDash val="sysDot"/>
            </a:ln>
          </p:spPr>
          <p:txBody>
            <a:bodyPr wrap="square" lIns="0" tIns="0" rIns="0" bIns="0" rtlCol="0"/>
            <a:lstStyle/>
            <a:p/>
          </p:txBody>
        </p:sp>
        <p:pic>
          <p:nvPicPr>
            <p:cNvPr id="17" name="object 17" descr=""/>
            <p:cNvPicPr/>
            <p:nvPr/>
          </p:nvPicPr>
          <p:blipFill>
            <a:blip r:embed="rId5" cstate="print"/>
            <a:stretch>
              <a:fillRect/>
            </a:stretch>
          </p:blipFill>
          <p:spPr>
            <a:xfrm>
              <a:off x="630720" y="3798709"/>
              <a:ext cx="2865564" cy="396303"/>
            </a:xfrm>
            <a:prstGeom prst="rect">
              <a:avLst/>
            </a:prstGeom>
          </p:spPr>
        </p:pic>
        <p:sp>
          <p:nvSpPr>
            <p:cNvPr id="18" name="object 18" descr=""/>
            <p:cNvSpPr/>
            <p:nvPr/>
          </p:nvSpPr>
          <p:spPr>
            <a:xfrm>
              <a:off x="2759576" y="3130984"/>
              <a:ext cx="670560" cy="956944"/>
            </a:xfrm>
            <a:custGeom>
              <a:avLst/>
              <a:gdLst/>
              <a:ahLst/>
              <a:cxnLst/>
              <a:rect l="l" t="t" r="r" b="b"/>
              <a:pathLst>
                <a:path w="670560" h="956945">
                  <a:moveTo>
                    <a:pt x="202971" y="0"/>
                  </a:moveTo>
                  <a:lnTo>
                    <a:pt x="0" y="263093"/>
                  </a:lnTo>
                  <a:lnTo>
                    <a:pt x="382524" y="956830"/>
                  </a:lnTo>
                  <a:lnTo>
                    <a:pt x="670064" y="581164"/>
                  </a:lnTo>
                  <a:lnTo>
                    <a:pt x="202971" y="0"/>
                  </a:lnTo>
                  <a:close/>
                </a:path>
              </a:pathLst>
            </a:custGeom>
            <a:solidFill>
              <a:srgbClr val="33CCCC"/>
            </a:solidFill>
          </p:spPr>
          <p:txBody>
            <a:bodyPr wrap="square" lIns="0" tIns="0" rIns="0" bIns="0" rtlCol="0"/>
            <a:lstStyle/>
            <a:p/>
          </p:txBody>
        </p:sp>
        <p:pic>
          <p:nvPicPr>
            <p:cNvPr id="19" name="object 19" descr=""/>
            <p:cNvPicPr/>
            <p:nvPr/>
          </p:nvPicPr>
          <p:blipFill>
            <a:blip r:embed="rId6" cstate="print"/>
            <a:stretch>
              <a:fillRect/>
            </a:stretch>
          </p:blipFill>
          <p:spPr>
            <a:xfrm>
              <a:off x="682548" y="3137839"/>
              <a:ext cx="2471877" cy="944257"/>
            </a:xfrm>
            <a:prstGeom prst="rect">
              <a:avLst/>
            </a:prstGeom>
          </p:spPr>
        </p:pic>
        <p:pic>
          <p:nvPicPr>
            <p:cNvPr id="20" name="object 20" descr=""/>
            <p:cNvPicPr/>
            <p:nvPr/>
          </p:nvPicPr>
          <p:blipFill>
            <a:blip r:embed="rId7" cstate="print"/>
            <a:stretch>
              <a:fillRect/>
            </a:stretch>
          </p:blipFill>
          <p:spPr>
            <a:xfrm>
              <a:off x="1091044" y="1797824"/>
              <a:ext cx="1606765" cy="1505635"/>
            </a:xfrm>
            <a:prstGeom prst="rect">
              <a:avLst/>
            </a:prstGeom>
          </p:spPr>
        </p:pic>
        <p:sp>
          <p:nvSpPr>
            <p:cNvPr id="21" name="object 21" descr=""/>
            <p:cNvSpPr/>
            <p:nvPr/>
          </p:nvSpPr>
          <p:spPr>
            <a:xfrm>
              <a:off x="2316525" y="2462110"/>
              <a:ext cx="568960" cy="835660"/>
            </a:xfrm>
            <a:custGeom>
              <a:avLst/>
              <a:gdLst/>
              <a:ahLst/>
              <a:cxnLst/>
              <a:rect l="l" t="t" r="r" b="b"/>
              <a:pathLst>
                <a:path w="568960" h="835660">
                  <a:moveTo>
                    <a:pt x="102603" y="0"/>
                  </a:moveTo>
                  <a:lnTo>
                    <a:pt x="0" y="125933"/>
                  </a:lnTo>
                  <a:lnTo>
                    <a:pt x="375348" y="835634"/>
                  </a:lnTo>
                  <a:lnTo>
                    <a:pt x="568871" y="578523"/>
                  </a:lnTo>
                  <a:lnTo>
                    <a:pt x="102603" y="0"/>
                  </a:lnTo>
                  <a:close/>
                </a:path>
              </a:pathLst>
            </a:custGeom>
            <a:solidFill>
              <a:srgbClr val="33CCCC"/>
            </a:solidFill>
          </p:spPr>
          <p:txBody>
            <a:bodyPr wrap="square" lIns="0" tIns="0" rIns="0" bIns="0" rtlCol="0"/>
            <a:lstStyle/>
            <a:p/>
          </p:txBody>
        </p:sp>
        <p:pic>
          <p:nvPicPr>
            <p:cNvPr id="22" name="object 22" descr=""/>
            <p:cNvPicPr/>
            <p:nvPr/>
          </p:nvPicPr>
          <p:blipFill>
            <a:blip r:embed="rId8" cstate="print"/>
            <a:stretch>
              <a:fillRect/>
            </a:stretch>
          </p:blipFill>
          <p:spPr>
            <a:xfrm>
              <a:off x="260477" y="4190885"/>
              <a:ext cx="3317265" cy="704138"/>
            </a:xfrm>
            <a:prstGeom prst="rect">
              <a:avLst/>
            </a:prstGeom>
          </p:spPr>
        </p:pic>
        <p:sp>
          <p:nvSpPr>
            <p:cNvPr id="23" name="object 23" descr=""/>
            <p:cNvSpPr/>
            <p:nvPr/>
          </p:nvSpPr>
          <p:spPr>
            <a:xfrm>
              <a:off x="1875942" y="1797837"/>
              <a:ext cx="2109470" cy="3097530"/>
            </a:xfrm>
            <a:custGeom>
              <a:avLst/>
              <a:gdLst/>
              <a:ahLst/>
              <a:cxnLst/>
              <a:rect l="l" t="t" r="r" b="b"/>
              <a:pathLst>
                <a:path w="2109470" h="3097529">
                  <a:moveTo>
                    <a:pt x="468909" y="582968"/>
                  </a:moveTo>
                  <a:lnTo>
                    <a:pt x="0" y="0"/>
                  </a:lnTo>
                  <a:lnTo>
                    <a:pt x="382358" y="699566"/>
                  </a:lnTo>
                  <a:lnTo>
                    <a:pt x="468909" y="582968"/>
                  </a:lnTo>
                  <a:close/>
                </a:path>
                <a:path w="2109470" h="3097529">
                  <a:moveTo>
                    <a:pt x="2109051" y="2627325"/>
                  </a:moveTo>
                  <a:lnTo>
                    <a:pt x="1609852" y="2004314"/>
                  </a:lnTo>
                  <a:lnTo>
                    <a:pt x="1316812" y="2399588"/>
                  </a:lnTo>
                  <a:lnTo>
                    <a:pt x="1708391" y="3097199"/>
                  </a:lnTo>
                  <a:lnTo>
                    <a:pt x="2109051" y="2627325"/>
                  </a:lnTo>
                  <a:close/>
                </a:path>
              </a:pathLst>
            </a:custGeom>
            <a:solidFill>
              <a:srgbClr val="33CCCC"/>
            </a:solidFill>
          </p:spPr>
          <p:txBody>
            <a:bodyPr wrap="square" lIns="0" tIns="0" rIns="0" bIns="0" rtlCol="0"/>
            <a:lstStyle/>
            <a:p/>
          </p:txBody>
        </p:sp>
      </p:grpSp>
      <p:sp>
        <p:nvSpPr>
          <p:cNvPr id="24" name="object 24" descr=""/>
          <p:cNvSpPr txBox="1"/>
          <p:nvPr/>
        </p:nvSpPr>
        <p:spPr>
          <a:xfrm>
            <a:off x="4232874" y="3987727"/>
            <a:ext cx="1269365" cy="564515"/>
          </a:xfrm>
          <a:prstGeom prst="rect">
            <a:avLst/>
          </a:prstGeom>
        </p:spPr>
        <p:txBody>
          <a:bodyPr wrap="square" lIns="0" tIns="50800" rIns="0" bIns="0" rtlCol="0" vert="horz">
            <a:spAutoFit/>
          </a:bodyPr>
          <a:lstStyle/>
          <a:p>
            <a:pPr marL="12700">
              <a:lnSpc>
                <a:spcPct val="100000"/>
              </a:lnSpc>
              <a:spcBef>
                <a:spcPts val="400"/>
              </a:spcBef>
            </a:pPr>
            <a:r>
              <a:rPr dirty="0" sz="1100" spc="-30">
                <a:latin typeface="Microsoft YaHei"/>
                <a:cs typeface="Microsoft YaHei"/>
              </a:rPr>
              <a:t>数据采集</a:t>
            </a:r>
            <a:endParaRPr sz="1100">
              <a:latin typeface="Microsoft YaHei"/>
              <a:cs typeface="Microsoft YaHei"/>
            </a:endParaRPr>
          </a:p>
          <a:p>
            <a:pPr marL="227329" indent="-214629">
              <a:lnSpc>
                <a:spcPct val="100000"/>
              </a:lnSpc>
              <a:spcBef>
                <a:spcPts val="250"/>
              </a:spcBef>
              <a:buFont typeface="Wingdings"/>
              <a:buChar char=""/>
              <a:tabLst>
                <a:tab pos="227329" algn="l"/>
              </a:tabLst>
            </a:pPr>
            <a:r>
              <a:rPr dirty="0" sz="900" spc="-10">
                <a:latin typeface="Microsoft YaHei"/>
                <a:cs typeface="Microsoft YaHei"/>
              </a:rPr>
              <a:t>数据格式转换标准化</a:t>
            </a:r>
            <a:endParaRPr sz="900">
              <a:latin typeface="Microsoft YaHei"/>
              <a:cs typeface="Microsoft YaHei"/>
            </a:endParaRPr>
          </a:p>
          <a:p>
            <a:pPr marL="227329" indent="-214629">
              <a:lnSpc>
                <a:spcPct val="100000"/>
              </a:lnSpc>
              <a:spcBef>
                <a:spcPts val="215"/>
              </a:spcBef>
              <a:buFont typeface="Wingdings"/>
              <a:buChar char=""/>
              <a:tabLst>
                <a:tab pos="227329" algn="l"/>
              </a:tabLst>
            </a:pPr>
            <a:r>
              <a:rPr dirty="0" sz="900" spc="-10">
                <a:latin typeface="Microsoft YaHei"/>
                <a:cs typeface="Microsoft YaHei"/>
              </a:rPr>
              <a:t>实时采集、在线处理</a:t>
            </a:r>
            <a:endParaRPr sz="900">
              <a:latin typeface="Microsoft YaHei"/>
              <a:cs typeface="Microsoft YaHei"/>
            </a:endParaRPr>
          </a:p>
        </p:txBody>
      </p:sp>
      <p:sp>
        <p:nvSpPr>
          <p:cNvPr id="25" name="object 25" descr=""/>
          <p:cNvSpPr txBox="1"/>
          <p:nvPr/>
        </p:nvSpPr>
        <p:spPr>
          <a:xfrm>
            <a:off x="678666" y="4306437"/>
            <a:ext cx="181610" cy="241935"/>
          </a:xfrm>
          <a:prstGeom prst="rect">
            <a:avLst/>
          </a:prstGeom>
        </p:spPr>
        <p:txBody>
          <a:bodyPr wrap="square" lIns="0" tIns="0" rIns="0" bIns="0" rtlCol="0" vert="vert">
            <a:spAutoFit/>
          </a:bodyPr>
          <a:lstStyle/>
          <a:p>
            <a:pPr marL="12700">
              <a:lnSpc>
                <a:spcPts val="1315"/>
              </a:lnSpc>
            </a:pPr>
            <a:r>
              <a:rPr dirty="0" sz="1100" spc="-25">
                <a:solidFill>
                  <a:srgbClr val="FFFFFF"/>
                </a:solidFill>
                <a:latin typeface="Arial MT"/>
                <a:cs typeface="Arial MT"/>
              </a:rPr>
              <a:t>MR</a:t>
            </a:r>
            <a:endParaRPr sz="1100">
              <a:latin typeface="Arial MT"/>
              <a:cs typeface="Arial MT"/>
            </a:endParaRPr>
          </a:p>
        </p:txBody>
      </p:sp>
      <p:sp>
        <p:nvSpPr>
          <p:cNvPr id="26" name="object 26" descr=""/>
          <p:cNvSpPr txBox="1"/>
          <p:nvPr/>
        </p:nvSpPr>
        <p:spPr>
          <a:xfrm>
            <a:off x="685311" y="4522846"/>
            <a:ext cx="165100" cy="304800"/>
          </a:xfrm>
          <a:prstGeom prst="rect">
            <a:avLst/>
          </a:prstGeom>
        </p:spPr>
        <p:txBody>
          <a:bodyPr wrap="square" lIns="0" tIns="0" rIns="0" bIns="0" rtlCol="0" vert="eaVert">
            <a:spAutoFit/>
          </a:bodyPr>
          <a:lstStyle/>
          <a:p>
            <a:pPr marL="12700">
              <a:lnSpc>
                <a:spcPct val="65000"/>
              </a:lnSpc>
            </a:pPr>
            <a:r>
              <a:rPr dirty="0" sz="1100">
                <a:solidFill>
                  <a:srgbClr val="FFFFFF"/>
                </a:solidFill>
                <a:latin typeface="Microsoft YaHei"/>
                <a:cs typeface="Microsoft YaHei"/>
              </a:rPr>
              <a:t>数据</a:t>
            </a:r>
            <a:endParaRPr sz="1100">
              <a:latin typeface="Microsoft YaHei"/>
              <a:cs typeface="Microsoft YaHei"/>
            </a:endParaRPr>
          </a:p>
        </p:txBody>
      </p:sp>
      <p:sp>
        <p:nvSpPr>
          <p:cNvPr id="27" name="object 27" descr=""/>
          <p:cNvSpPr/>
          <p:nvPr/>
        </p:nvSpPr>
        <p:spPr>
          <a:xfrm>
            <a:off x="682548" y="4268698"/>
            <a:ext cx="219710" cy="575945"/>
          </a:xfrm>
          <a:custGeom>
            <a:avLst/>
            <a:gdLst/>
            <a:ahLst/>
            <a:cxnLst/>
            <a:rect l="l" t="t" r="r" b="b"/>
            <a:pathLst>
              <a:path w="219709" h="575945">
                <a:moveTo>
                  <a:pt x="0" y="0"/>
                </a:moveTo>
                <a:lnTo>
                  <a:pt x="219138" y="0"/>
                </a:lnTo>
                <a:lnTo>
                  <a:pt x="219138" y="575830"/>
                </a:lnTo>
                <a:lnTo>
                  <a:pt x="0" y="575830"/>
                </a:lnTo>
                <a:lnTo>
                  <a:pt x="0" y="0"/>
                </a:lnTo>
                <a:close/>
              </a:path>
            </a:pathLst>
          </a:custGeom>
          <a:ln w="12700">
            <a:solidFill>
              <a:srgbClr val="FFFFFF"/>
            </a:solidFill>
          </a:ln>
        </p:spPr>
        <p:txBody>
          <a:bodyPr wrap="square" lIns="0" tIns="0" rIns="0" bIns="0" rtlCol="0"/>
          <a:lstStyle/>
          <a:p/>
        </p:txBody>
      </p:sp>
      <p:sp>
        <p:nvSpPr>
          <p:cNvPr id="28" name="object 28" descr=""/>
          <p:cNvSpPr txBox="1"/>
          <p:nvPr/>
        </p:nvSpPr>
        <p:spPr>
          <a:xfrm>
            <a:off x="1428860" y="4306437"/>
            <a:ext cx="165100" cy="583565"/>
          </a:xfrm>
          <a:prstGeom prst="rect">
            <a:avLst/>
          </a:prstGeom>
        </p:spPr>
        <p:txBody>
          <a:bodyPr wrap="square" lIns="0" tIns="0" rIns="0" bIns="0" rtlCol="0" vert="eaVert">
            <a:spAutoFit/>
          </a:bodyPr>
          <a:lstStyle/>
          <a:p>
            <a:pPr marL="12700">
              <a:lnSpc>
                <a:spcPct val="65000"/>
              </a:lnSpc>
            </a:pPr>
            <a:r>
              <a:rPr dirty="0" sz="1100">
                <a:solidFill>
                  <a:srgbClr val="FFFFFF"/>
                </a:solidFill>
                <a:latin typeface="Microsoft YaHei"/>
                <a:cs typeface="Microsoft YaHei"/>
              </a:rPr>
              <a:t>路测数据</a:t>
            </a:r>
            <a:endParaRPr sz="1100">
              <a:latin typeface="Microsoft YaHei"/>
              <a:cs typeface="Microsoft YaHei"/>
            </a:endParaRPr>
          </a:p>
        </p:txBody>
      </p:sp>
      <p:sp>
        <p:nvSpPr>
          <p:cNvPr id="29" name="object 29" descr=""/>
          <p:cNvSpPr/>
          <p:nvPr/>
        </p:nvSpPr>
        <p:spPr>
          <a:xfrm>
            <a:off x="1426095" y="4268698"/>
            <a:ext cx="219710" cy="575945"/>
          </a:xfrm>
          <a:custGeom>
            <a:avLst/>
            <a:gdLst/>
            <a:ahLst/>
            <a:cxnLst/>
            <a:rect l="l" t="t" r="r" b="b"/>
            <a:pathLst>
              <a:path w="219710" h="575945">
                <a:moveTo>
                  <a:pt x="0" y="0"/>
                </a:moveTo>
                <a:lnTo>
                  <a:pt x="219138" y="0"/>
                </a:lnTo>
                <a:lnTo>
                  <a:pt x="219138" y="575830"/>
                </a:lnTo>
                <a:lnTo>
                  <a:pt x="0" y="575830"/>
                </a:lnTo>
                <a:lnTo>
                  <a:pt x="0" y="0"/>
                </a:lnTo>
                <a:close/>
              </a:path>
            </a:pathLst>
          </a:custGeom>
          <a:ln w="12700">
            <a:solidFill>
              <a:srgbClr val="FFFFFF"/>
            </a:solidFill>
          </a:ln>
        </p:spPr>
        <p:txBody>
          <a:bodyPr wrap="square" lIns="0" tIns="0" rIns="0" bIns="0" rtlCol="0"/>
          <a:lstStyle/>
          <a:p/>
        </p:txBody>
      </p:sp>
      <p:sp>
        <p:nvSpPr>
          <p:cNvPr id="30" name="object 30" descr=""/>
          <p:cNvSpPr txBox="1"/>
          <p:nvPr/>
        </p:nvSpPr>
        <p:spPr>
          <a:xfrm>
            <a:off x="1800636" y="4306437"/>
            <a:ext cx="165100" cy="583565"/>
          </a:xfrm>
          <a:prstGeom prst="rect">
            <a:avLst/>
          </a:prstGeom>
        </p:spPr>
        <p:txBody>
          <a:bodyPr wrap="square" lIns="0" tIns="0" rIns="0" bIns="0" rtlCol="0" vert="eaVert">
            <a:spAutoFit/>
          </a:bodyPr>
          <a:lstStyle/>
          <a:p>
            <a:pPr marL="12700">
              <a:lnSpc>
                <a:spcPct val="65000"/>
              </a:lnSpc>
            </a:pPr>
            <a:r>
              <a:rPr dirty="0" sz="1100">
                <a:solidFill>
                  <a:srgbClr val="FFFFFF"/>
                </a:solidFill>
                <a:latin typeface="Microsoft YaHei"/>
                <a:cs typeface="Microsoft YaHei"/>
              </a:rPr>
              <a:t>用户投诉</a:t>
            </a:r>
            <a:endParaRPr sz="1100">
              <a:latin typeface="Microsoft YaHei"/>
              <a:cs typeface="Microsoft YaHei"/>
            </a:endParaRPr>
          </a:p>
        </p:txBody>
      </p:sp>
      <p:sp>
        <p:nvSpPr>
          <p:cNvPr id="31" name="object 31" descr=""/>
          <p:cNvSpPr/>
          <p:nvPr/>
        </p:nvSpPr>
        <p:spPr>
          <a:xfrm>
            <a:off x="1797875" y="4268698"/>
            <a:ext cx="219710" cy="575945"/>
          </a:xfrm>
          <a:custGeom>
            <a:avLst/>
            <a:gdLst/>
            <a:ahLst/>
            <a:cxnLst/>
            <a:rect l="l" t="t" r="r" b="b"/>
            <a:pathLst>
              <a:path w="219710" h="575945">
                <a:moveTo>
                  <a:pt x="0" y="0"/>
                </a:moveTo>
                <a:lnTo>
                  <a:pt x="219138" y="0"/>
                </a:lnTo>
                <a:lnTo>
                  <a:pt x="219138" y="575830"/>
                </a:lnTo>
                <a:lnTo>
                  <a:pt x="0" y="575830"/>
                </a:lnTo>
                <a:lnTo>
                  <a:pt x="0" y="0"/>
                </a:lnTo>
                <a:close/>
              </a:path>
            </a:pathLst>
          </a:custGeom>
          <a:ln w="12700">
            <a:solidFill>
              <a:srgbClr val="FFFFFF"/>
            </a:solidFill>
          </a:ln>
        </p:spPr>
        <p:txBody>
          <a:bodyPr wrap="square" lIns="0" tIns="0" rIns="0" bIns="0" rtlCol="0"/>
          <a:lstStyle/>
          <a:p/>
        </p:txBody>
      </p:sp>
      <p:sp>
        <p:nvSpPr>
          <p:cNvPr id="32" name="object 32" descr=""/>
          <p:cNvSpPr txBox="1"/>
          <p:nvPr/>
        </p:nvSpPr>
        <p:spPr>
          <a:xfrm>
            <a:off x="2172411" y="4306437"/>
            <a:ext cx="165100" cy="583565"/>
          </a:xfrm>
          <a:prstGeom prst="rect">
            <a:avLst/>
          </a:prstGeom>
        </p:spPr>
        <p:txBody>
          <a:bodyPr wrap="square" lIns="0" tIns="0" rIns="0" bIns="0" rtlCol="0" vert="eaVert">
            <a:spAutoFit/>
          </a:bodyPr>
          <a:lstStyle/>
          <a:p>
            <a:pPr marL="12700">
              <a:lnSpc>
                <a:spcPct val="65000"/>
              </a:lnSpc>
            </a:pPr>
            <a:r>
              <a:rPr dirty="0" sz="1100">
                <a:solidFill>
                  <a:srgbClr val="FFFFFF"/>
                </a:solidFill>
                <a:latin typeface="Microsoft YaHei"/>
                <a:cs typeface="Microsoft YaHei"/>
              </a:rPr>
              <a:t>工参数据</a:t>
            </a:r>
            <a:endParaRPr sz="1100">
              <a:latin typeface="Microsoft YaHei"/>
              <a:cs typeface="Microsoft YaHei"/>
            </a:endParaRPr>
          </a:p>
        </p:txBody>
      </p:sp>
      <p:sp>
        <p:nvSpPr>
          <p:cNvPr id="33" name="object 33" descr=""/>
          <p:cNvSpPr/>
          <p:nvPr/>
        </p:nvSpPr>
        <p:spPr>
          <a:xfrm>
            <a:off x="2169655" y="4268698"/>
            <a:ext cx="219710" cy="575945"/>
          </a:xfrm>
          <a:custGeom>
            <a:avLst/>
            <a:gdLst/>
            <a:ahLst/>
            <a:cxnLst/>
            <a:rect l="l" t="t" r="r" b="b"/>
            <a:pathLst>
              <a:path w="219710" h="575945">
                <a:moveTo>
                  <a:pt x="0" y="0"/>
                </a:moveTo>
                <a:lnTo>
                  <a:pt x="219138" y="0"/>
                </a:lnTo>
                <a:lnTo>
                  <a:pt x="219138" y="575830"/>
                </a:lnTo>
                <a:lnTo>
                  <a:pt x="0" y="575830"/>
                </a:lnTo>
                <a:lnTo>
                  <a:pt x="0" y="0"/>
                </a:lnTo>
                <a:close/>
              </a:path>
            </a:pathLst>
          </a:custGeom>
          <a:ln w="12700">
            <a:solidFill>
              <a:srgbClr val="FFFFFF"/>
            </a:solidFill>
          </a:ln>
        </p:spPr>
        <p:txBody>
          <a:bodyPr wrap="square" lIns="0" tIns="0" rIns="0" bIns="0" rtlCol="0"/>
          <a:lstStyle/>
          <a:p/>
        </p:txBody>
      </p:sp>
      <p:sp>
        <p:nvSpPr>
          <p:cNvPr id="34" name="object 34" descr=""/>
          <p:cNvSpPr txBox="1"/>
          <p:nvPr/>
        </p:nvSpPr>
        <p:spPr>
          <a:xfrm>
            <a:off x="2544187" y="4306437"/>
            <a:ext cx="165100" cy="583565"/>
          </a:xfrm>
          <a:prstGeom prst="rect">
            <a:avLst/>
          </a:prstGeom>
        </p:spPr>
        <p:txBody>
          <a:bodyPr wrap="square" lIns="0" tIns="0" rIns="0" bIns="0" rtlCol="0" vert="eaVert">
            <a:spAutoFit/>
          </a:bodyPr>
          <a:lstStyle/>
          <a:p>
            <a:pPr marL="12700">
              <a:lnSpc>
                <a:spcPct val="65000"/>
              </a:lnSpc>
            </a:pPr>
            <a:r>
              <a:rPr dirty="0" sz="1100">
                <a:solidFill>
                  <a:srgbClr val="FFFFFF"/>
                </a:solidFill>
                <a:latin typeface="Microsoft YaHei"/>
                <a:cs typeface="Microsoft YaHei"/>
              </a:rPr>
              <a:t>电子地图</a:t>
            </a:r>
            <a:endParaRPr sz="1100">
              <a:latin typeface="Microsoft YaHei"/>
              <a:cs typeface="Microsoft YaHei"/>
            </a:endParaRPr>
          </a:p>
        </p:txBody>
      </p:sp>
      <p:sp>
        <p:nvSpPr>
          <p:cNvPr id="35" name="object 35" descr=""/>
          <p:cNvSpPr/>
          <p:nvPr/>
        </p:nvSpPr>
        <p:spPr>
          <a:xfrm>
            <a:off x="2541422" y="4268698"/>
            <a:ext cx="219710" cy="575945"/>
          </a:xfrm>
          <a:custGeom>
            <a:avLst/>
            <a:gdLst/>
            <a:ahLst/>
            <a:cxnLst/>
            <a:rect l="l" t="t" r="r" b="b"/>
            <a:pathLst>
              <a:path w="219710" h="575945">
                <a:moveTo>
                  <a:pt x="0" y="0"/>
                </a:moveTo>
                <a:lnTo>
                  <a:pt x="219138" y="0"/>
                </a:lnTo>
                <a:lnTo>
                  <a:pt x="219138" y="575830"/>
                </a:lnTo>
                <a:lnTo>
                  <a:pt x="0" y="575830"/>
                </a:lnTo>
                <a:lnTo>
                  <a:pt x="0" y="0"/>
                </a:lnTo>
                <a:close/>
              </a:path>
            </a:pathLst>
          </a:custGeom>
          <a:ln w="12700">
            <a:solidFill>
              <a:srgbClr val="FFFFFF"/>
            </a:solidFill>
          </a:ln>
        </p:spPr>
        <p:txBody>
          <a:bodyPr wrap="square" lIns="0" tIns="0" rIns="0" bIns="0" rtlCol="0"/>
          <a:lstStyle/>
          <a:p/>
        </p:txBody>
      </p:sp>
      <p:sp>
        <p:nvSpPr>
          <p:cNvPr id="36" name="object 36" descr=""/>
          <p:cNvSpPr txBox="1"/>
          <p:nvPr/>
        </p:nvSpPr>
        <p:spPr>
          <a:xfrm>
            <a:off x="2915963" y="4306437"/>
            <a:ext cx="165100" cy="583565"/>
          </a:xfrm>
          <a:prstGeom prst="rect">
            <a:avLst/>
          </a:prstGeom>
        </p:spPr>
        <p:txBody>
          <a:bodyPr wrap="square" lIns="0" tIns="0" rIns="0" bIns="0" rtlCol="0" vert="eaVert">
            <a:spAutoFit/>
          </a:bodyPr>
          <a:lstStyle/>
          <a:p>
            <a:pPr marL="12700">
              <a:lnSpc>
                <a:spcPct val="65000"/>
              </a:lnSpc>
            </a:pPr>
            <a:r>
              <a:rPr dirty="0" sz="1100">
                <a:solidFill>
                  <a:srgbClr val="FFFFFF"/>
                </a:solidFill>
                <a:latin typeface="Microsoft YaHei"/>
                <a:cs typeface="Microsoft YaHei"/>
              </a:rPr>
              <a:t>市场价值</a:t>
            </a:r>
            <a:endParaRPr sz="1100">
              <a:latin typeface="Microsoft YaHei"/>
              <a:cs typeface="Microsoft YaHei"/>
            </a:endParaRPr>
          </a:p>
        </p:txBody>
      </p:sp>
      <p:sp>
        <p:nvSpPr>
          <p:cNvPr id="37" name="object 37" descr=""/>
          <p:cNvSpPr/>
          <p:nvPr/>
        </p:nvSpPr>
        <p:spPr>
          <a:xfrm>
            <a:off x="2913202" y="4268698"/>
            <a:ext cx="219710" cy="575945"/>
          </a:xfrm>
          <a:custGeom>
            <a:avLst/>
            <a:gdLst/>
            <a:ahLst/>
            <a:cxnLst/>
            <a:rect l="l" t="t" r="r" b="b"/>
            <a:pathLst>
              <a:path w="219710" h="575945">
                <a:moveTo>
                  <a:pt x="0" y="0"/>
                </a:moveTo>
                <a:lnTo>
                  <a:pt x="219138" y="0"/>
                </a:lnTo>
                <a:lnTo>
                  <a:pt x="219138" y="575830"/>
                </a:lnTo>
                <a:lnTo>
                  <a:pt x="0" y="575830"/>
                </a:lnTo>
                <a:lnTo>
                  <a:pt x="0" y="0"/>
                </a:lnTo>
                <a:close/>
              </a:path>
            </a:pathLst>
          </a:custGeom>
          <a:ln w="12700">
            <a:solidFill>
              <a:srgbClr val="FFFFFF"/>
            </a:solidFill>
          </a:ln>
        </p:spPr>
        <p:txBody>
          <a:bodyPr wrap="square" lIns="0" tIns="0" rIns="0" bIns="0" rtlCol="0"/>
          <a:lstStyle/>
          <a:p/>
        </p:txBody>
      </p:sp>
      <p:sp>
        <p:nvSpPr>
          <p:cNvPr id="38" name="object 38" descr=""/>
          <p:cNvSpPr txBox="1"/>
          <p:nvPr/>
        </p:nvSpPr>
        <p:spPr>
          <a:xfrm>
            <a:off x="1057085" y="4306437"/>
            <a:ext cx="165100" cy="583565"/>
          </a:xfrm>
          <a:prstGeom prst="rect">
            <a:avLst/>
          </a:prstGeom>
        </p:spPr>
        <p:txBody>
          <a:bodyPr wrap="square" lIns="0" tIns="0" rIns="0" bIns="0" rtlCol="0" vert="eaVert">
            <a:spAutoFit/>
          </a:bodyPr>
          <a:lstStyle/>
          <a:p>
            <a:pPr marL="12700">
              <a:lnSpc>
                <a:spcPct val="65000"/>
              </a:lnSpc>
            </a:pPr>
            <a:r>
              <a:rPr dirty="0" sz="1100">
                <a:solidFill>
                  <a:srgbClr val="FFFFFF"/>
                </a:solidFill>
                <a:latin typeface="Microsoft YaHei"/>
                <a:cs typeface="Microsoft YaHei"/>
              </a:rPr>
              <a:t>网管性能</a:t>
            </a:r>
            <a:endParaRPr sz="1100">
              <a:latin typeface="Microsoft YaHei"/>
              <a:cs typeface="Microsoft YaHei"/>
            </a:endParaRPr>
          </a:p>
        </p:txBody>
      </p:sp>
      <p:sp>
        <p:nvSpPr>
          <p:cNvPr id="39" name="object 39" descr=""/>
          <p:cNvSpPr/>
          <p:nvPr/>
        </p:nvSpPr>
        <p:spPr>
          <a:xfrm>
            <a:off x="1054328" y="4268698"/>
            <a:ext cx="219710" cy="575945"/>
          </a:xfrm>
          <a:custGeom>
            <a:avLst/>
            <a:gdLst/>
            <a:ahLst/>
            <a:cxnLst/>
            <a:rect l="l" t="t" r="r" b="b"/>
            <a:pathLst>
              <a:path w="219709" h="575945">
                <a:moveTo>
                  <a:pt x="0" y="0"/>
                </a:moveTo>
                <a:lnTo>
                  <a:pt x="219138" y="0"/>
                </a:lnTo>
                <a:lnTo>
                  <a:pt x="219138" y="575830"/>
                </a:lnTo>
                <a:lnTo>
                  <a:pt x="0" y="575830"/>
                </a:lnTo>
                <a:lnTo>
                  <a:pt x="0" y="0"/>
                </a:lnTo>
                <a:close/>
              </a:path>
            </a:pathLst>
          </a:custGeom>
          <a:ln w="12700">
            <a:solidFill>
              <a:srgbClr val="FFFFFF"/>
            </a:solidFill>
          </a:ln>
        </p:spPr>
        <p:txBody>
          <a:bodyPr wrap="square" lIns="0" tIns="0" rIns="0" bIns="0" rtlCol="0"/>
          <a:lstStyle/>
          <a:p/>
        </p:txBody>
      </p:sp>
      <p:sp>
        <p:nvSpPr>
          <p:cNvPr id="40" name="object 40" descr=""/>
          <p:cNvSpPr txBox="1"/>
          <p:nvPr/>
        </p:nvSpPr>
        <p:spPr>
          <a:xfrm>
            <a:off x="3706637" y="3187714"/>
            <a:ext cx="1840864" cy="564515"/>
          </a:xfrm>
          <a:prstGeom prst="rect">
            <a:avLst/>
          </a:prstGeom>
        </p:spPr>
        <p:txBody>
          <a:bodyPr wrap="square" lIns="0" tIns="50800" rIns="0" bIns="0" rtlCol="0" vert="horz">
            <a:spAutoFit/>
          </a:bodyPr>
          <a:lstStyle/>
          <a:p>
            <a:pPr marL="12700">
              <a:lnSpc>
                <a:spcPct val="100000"/>
              </a:lnSpc>
              <a:spcBef>
                <a:spcPts val="400"/>
              </a:spcBef>
            </a:pPr>
            <a:r>
              <a:rPr dirty="0" sz="1100" spc="-30">
                <a:latin typeface="Microsoft YaHei"/>
                <a:cs typeface="Microsoft YaHei"/>
              </a:rPr>
              <a:t>地理定位</a:t>
            </a:r>
            <a:endParaRPr sz="1100">
              <a:latin typeface="Microsoft YaHei"/>
              <a:cs typeface="Microsoft YaHei"/>
            </a:endParaRPr>
          </a:p>
          <a:p>
            <a:pPr marL="227329" indent="-214629">
              <a:lnSpc>
                <a:spcPct val="100000"/>
              </a:lnSpc>
              <a:spcBef>
                <a:spcPts val="250"/>
              </a:spcBef>
              <a:buFont typeface="Wingdings"/>
              <a:buChar char=""/>
              <a:tabLst>
                <a:tab pos="227329" algn="l"/>
              </a:tabLst>
            </a:pPr>
            <a:r>
              <a:rPr dirty="0" sz="900">
                <a:latin typeface="Microsoft YaHei"/>
                <a:cs typeface="Microsoft YaHei"/>
              </a:rPr>
              <a:t>基于</a:t>
            </a:r>
            <a:r>
              <a:rPr dirty="0" sz="900">
                <a:solidFill>
                  <a:srgbClr val="FF0000"/>
                </a:solidFill>
                <a:latin typeface="Microsoft YaHei"/>
                <a:cs typeface="Microsoft YaHei"/>
              </a:rPr>
              <a:t>特征库</a:t>
            </a:r>
            <a:r>
              <a:rPr dirty="0" sz="900" spc="-10">
                <a:latin typeface="Microsoft YaHei"/>
                <a:cs typeface="Microsoft YaHei"/>
              </a:rPr>
              <a:t>的神经网络定位算法</a:t>
            </a:r>
            <a:endParaRPr sz="900">
              <a:latin typeface="Microsoft YaHei"/>
              <a:cs typeface="Microsoft YaHei"/>
            </a:endParaRPr>
          </a:p>
          <a:p>
            <a:pPr marL="227329" indent="-214629">
              <a:lnSpc>
                <a:spcPct val="100000"/>
              </a:lnSpc>
              <a:spcBef>
                <a:spcPts val="215"/>
              </a:spcBef>
              <a:buFont typeface="Wingdings"/>
              <a:buChar char=""/>
              <a:tabLst>
                <a:tab pos="227329" algn="l"/>
              </a:tabLst>
            </a:pPr>
            <a:r>
              <a:rPr dirty="0" sz="900" spc="-10">
                <a:latin typeface="Microsoft YaHei"/>
                <a:cs typeface="Microsoft YaHei"/>
              </a:rPr>
              <a:t>室内外区分</a:t>
            </a:r>
            <a:endParaRPr sz="900">
              <a:latin typeface="Microsoft YaHei"/>
              <a:cs typeface="Microsoft YaHei"/>
            </a:endParaRPr>
          </a:p>
        </p:txBody>
      </p:sp>
      <p:sp>
        <p:nvSpPr>
          <p:cNvPr id="41" name="object 41" descr=""/>
          <p:cNvSpPr txBox="1"/>
          <p:nvPr/>
        </p:nvSpPr>
        <p:spPr>
          <a:xfrm>
            <a:off x="1445557" y="3489149"/>
            <a:ext cx="862330" cy="193040"/>
          </a:xfrm>
          <a:prstGeom prst="rect">
            <a:avLst/>
          </a:prstGeom>
        </p:spPr>
        <p:txBody>
          <a:bodyPr wrap="square" lIns="0" tIns="12065" rIns="0" bIns="0" rtlCol="0" vert="horz">
            <a:spAutoFit/>
          </a:bodyPr>
          <a:lstStyle/>
          <a:p>
            <a:pPr marL="12700">
              <a:lnSpc>
                <a:spcPct val="100000"/>
              </a:lnSpc>
              <a:spcBef>
                <a:spcPts val="95"/>
              </a:spcBef>
            </a:pPr>
            <a:r>
              <a:rPr dirty="0" sz="1100" spc="-25">
                <a:solidFill>
                  <a:srgbClr val="FFFFFF"/>
                </a:solidFill>
                <a:latin typeface="Microsoft YaHei"/>
                <a:cs typeface="Microsoft YaHei"/>
              </a:rPr>
              <a:t>地理栅格定位</a:t>
            </a:r>
            <a:endParaRPr sz="1100">
              <a:latin typeface="Microsoft YaHei"/>
              <a:cs typeface="Microsoft YaHei"/>
            </a:endParaRPr>
          </a:p>
        </p:txBody>
      </p:sp>
      <p:sp>
        <p:nvSpPr>
          <p:cNvPr id="42" name="object 42" descr=""/>
          <p:cNvSpPr/>
          <p:nvPr/>
        </p:nvSpPr>
        <p:spPr>
          <a:xfrm>
            <a:off x="1262430" y="3469843"/>
            <a:ext cx="1229360" cy="218440"/>
          </a:xfrm>
          <a:custGeom>
            <a:avLst/>
            <a:gdLst/>
            <a:ahLst/>
            <a:cxnLst/>
            <a:rect l="l" t="t" r="r" b="b"/>
            <a:pathLst>
              <a:path w="1229360" h="218439">
                <a:moveTo>
                  <a:pt x="0" y="0"/>
                </a:moveTo>
                <a:lnTo>
                  <a:pt x="1229334" y="0"/>
                </a:lnTo>
                <a:lnTo>
                  <a:pt x="1229334" y="217982"/>
                </a:lnTo>
                <a:lnTo>
                  <a:pt x="0" y="217982"/>
                </a:lnTo>
                <a:lnTo>
                  <a:pt x="0" y="0"/>
                </a:lnTo>
                <a:close/>
              </a:path>
            </a:pathLst>
          </a:custGeom>
          <a:ln w="12699">
            <a:solidFill>
              <a:srgbClr val="FFFFFF"/>
            </a:solidFill>
          </a:ln>
        </p:spPr>
        <p:txBody>
          <a:bodyPr wrap="square" lIns="0" tIns="0" rIns="0" bIns="0" rtlCol="0"/>
          <a:lstStyle/>
          <a:p/>
        </p:txBody>
      </p:sp>
      <p:sp>
        <p:nvSpPr>
          <p:cNvPr id="43" name="object 43" descr=""/>
          <p:cNvSpPr txBox="1"/>
          <p:nvPr/>
        </p:nvSpPr>
        <p:spPr>
          <a:xfrm>
            <a:off x="1376215" y="3791997"/>
            <a:ext cx="1002030" cy="193040"/>
          </a:xfrm>
          <a:prstGeom prst="rect">
            <a:avLst/>
          </a:prstGeom>
        </p:spPr>
        <p:txBody>
          <a:bodyPr wrap="square" lIns="0" tIns="12065" rIns="0" bIns="0" rtlCol="0" vert="horz">
            <a:spAutoFit/>
          </a:bodyPr>
          <a:lstStyle/>
          <a:p>
            <a:pPr marL="12700">
              <a:lnSpc>
                <a:spcPct val="100000"/>
              </a:lnSpc>
              <a:spcBef>
                <a:spcPts val="95"/>
              </a:spcBef>
            </a:pPr>
            <a:r>
              <a:rPr dirty="0" sz="1100" spc="-25">
                <a:solidFill>
                  <a:srgbClr val="FFFFFF"/>
                </a:solidFill>
                <a:latin typeface="Microsoft YaHei"/>
                <a:cs typeface="Microsoft YaHei"/>
              </a:rPr>
              <a:t>室内外业务区分</a:t>
            </a:r>
            <a:endParaRPr sz="1100">
              <a:latin typeface="Microsoft YaHei"/>
              <a:cs typeface="Microsoft YaHei"/>
            </a:endParaRPr>
          </a:p>
        </p:txBody>
      </p:sp>
      <p:sp>
        <p:nvSpPr>
          <p:cNvPr id="44" name="object 44" descr=""/>
          <p:cNvSpPr/>
          <p:nvPr/>
        </p:nvSpPr>
        <p:spPr>
          <a:xfrm>
            <a:off x="1262430" y="3772699"/>
            <a:ext cx="1229360" cy="218440"/>
          </a:xfrm>
          <a:custGeom>
            <a:avLst/>
            <a:gdLst/>
            <a:ahLst/>
            <a:cxnLst/>
            <a:rect l="l" t="t" r="r" b="b"/>
            <a:pathLst>
              <a:path w="1229360" h="218439">
                <a:moveTo>
                  <a:pt x="0" y="0"/>
                </a:moveTo>
                <a:lnTo>
                  <a:pt x="1229334" y="0"/>
                </a:lnTo>
                <a:lnTo>
                  <a:pt x="1229334" y="217982"/>
                </a:lnTo>
                <a:lnTo>
                  <a:pt x="0" y="217982"/>
                </a:lnTo>
                <a:lnTo>
                  <a:pt x="0" y="0"/>
                </a:lnTo>
                <a:close/>
              </a:path>
            </a:pathLst>
          </a:custGeom>
          <a:ln w="12699">
            <a:solidFill>
              <a:srgbClr val="FFFFFF"/>
            </a:solidFill>
          </a:ln>
        </p:spPr>
        <p:txBody>
          <a:bodyPr wrap="square" lIns="0" tIns="0" rIns="0" bIns="0" rtlCol="0"/>
          <a:lstStyle/>
          <a:p/>
        </p:txBody>
      </p:sp>
      <p:sp>
        <p:nvSpPr>
          <p:cNvPr id="45" name="object 45" descr=""/>
          <p:cNvSpPr txBox="1"/>
          <p:nvPr/>
        </p:nvSpPr>
        <p:spPr>
          <a:xfrm>
            <a:off x="1728086" y="2115687"/>
            <a:ext cx="304800" cy="360680"/>
          </a:xfrm>
          <a:prstGeom prst="rect">
            <a:avLst/>
          </a:prstGeom>
        </p:spPr>
        <p:txBody>
          <a:bodyPr wrap="square" lIns="0" tIns="12065" rIns="0" bIns="0" rtlCol="0" vert="horz">
            <a:spAutoFit/>
          </a:bodyPr>
          <a:lstStyle/>
          <a:p>
            <a:pPr marL="12700" marR="5080">
              <a:lnSpc>
                <a:spcPct val="100000"/>
              </a:lnSpc>
              <a:spcBef>
                <a:spcPts val="95"/>
              </a:spcBef>
            </a:pPr>
            <a:r>
              <a:rPr dirty="0" sz="1100" spc="-35">
                <a:solidFill>
                  <a:srgbClr val="FFFFFF"/>
                </a:solidFill>
                <a:latin typeface="Microsoft YaHei"/>
                <a:cs typeface="Microsoft YaHei"/>
              </a:rPr>
              <a:t>智能规划</a:t>
            </a:r>
            <a:endParaRPr sz="1100">
              <a:latin typeface="Microsoft YaHei"/>
              <a:cs typeface="Microsoft YaHei"/>
            </a:endParaRPr>
          </a:p>
        </p:txBody>
      </p:sp>
      <p:sp>
        <p:nvSpPr>
          <p:cNvPr id="46" name="object 46" descr=""/>
          <p:cNvSpPr/>
          <p:nvPr/>
        </p:nvSpPr>
        <p:spPr>
          <a:xfrm>
            <a:off x="1432852" y="2108847"/>
            <a:ext cx="699135" cy="1124585"/>
          </a:xfrm>
          <a:custGeom>
            <a:avLst/>
            <a:gdLst/>
            <a:ahLst/>
            <a:cxnLst/>
            <a:rect l="l" t="t" r="r" b="b"/>
            <a:pathLst>
              <a:path w="699135" h="1124585">
                <a:moveTo>
                  <a:pt x="262813" y="0"/>
                </a:moveTo>
                <a:lnTo>
                  <a:pt x="625703" y="0"/>
                </a:lnTo>
                <a:lnTo>
                  <a:pt x="625703" y="325627"/>
                </a:lnTo>
                <a:lnTo>
                  <a:pt x="262813" y="325627"/>
                </a:lnTo>
                <a:lnTo>
                  <a:pt x="262813" y="0"/>
                </a:lnTo>
                <a:close/>
              </a:path>
              <a:path w="699135" h="1124585">
                <a:moveTo>
                  <a:pt x="0" y="548449"/>
                </a:moveTo>
                <a:lnTo>
                  <a:pt x="219138" y="548449"/>
                </a:lnTo>
                <a:lnTo>
                  <a:pt x="219138" y="1124280"/>
                </a:lnTo>
                <a:lnTo>
                  <a:pt x="0" y="1124280"/>
                </a:lnTo>
                <a:lnTo>
                  <a:pt x="0" y="548449"/>
                </a:lnTo>
                <a:close/>
              </a:path>
              <a:path w="699135" h="1124585">
                <a:moveTo>
                  <a:pt x="479996" y="548449"/>
                </a:moveTo>
                <a:lnTo>
                  <a:pt x="699135" y="548449"/>
                </a:lnTo>
                <a:lnTo>
                  <a:pt x="699135" y="1124280"/>
                </a:lnTo>
                <a:lnTo>
                  <a:pt x="479996" y="1124280"/>
                </a:lnTo>
                <a:lnTo>
                  <a:pt x="479996" y="548449"/>
                </a:lnTo>
                <a:close/>
              </a:path>
              <a:path w="699135" h="1124585">
                <a:moveTo>
                  <a:pt x="240944" y="548449"/>
                </a:moveTo>
                <a:lnTo>
                  <a:pt x="460082" y="548449"/>
                </a:lnTo>
                <a:lnTo>
                  <a:pt x="460082" y="1124280"/>
                </a:lnTo>
                <a:lnTo>
                  <a:pt x="240944" y="1124280"/>
                </a:lnTo>
                <a:lnTo>
                  <a:pt x="240944" y="548449"/>
                </a:lnTo>
                <a:close/>
              </a:path>
            </a:pathLst>
          </a:custGeom>
          <a:ln w="12700">
            <a:solidFill>
              <a:srgbClr val="FFFFFF"/>
            </a:solidFill>
          </a:ln>
        </p:spPr>
        <p:txBody>
          <a:bodyPr wrap="square" lIns="0" tIns="0" rIns="0" bIns="0" rtlCol="0"/>
          <a:lstStyle/>
          <a:p/>
        </p:txBody>
      </p:sp>
      <p:sp>
        <p:nvSpPr>
          <p:cNvPr id="47" name="object 47" descr=""/>
          <p:cNvSpPr txBox="1"/>
          <p:nvPr/>
        </p:nvSpPr>
        <p:spPr>
          <a:xfrm>
            <a:off x="2566809" y="1887891"/>
            <a:ext cx="583565"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精准规划</a:t>
            </a:r>
            <a:endParaRPr sz="1100">
              <a:latin typeface="Microsoft YaHei"/>
              <a:cs typeface="Microsoft YaHei"/>
            </a:endParaRPr>
          </a:p>
        </p:txBody>
      </p:sp>
      <p:sp>
        <p:nvSpPr>
          <p:cNvPr id="48" name="object 48" descr=""/>
          <p:cNvSpPr txBox="1"/>
          <p:nvPr/>
        </p:nvSpPr>
        <p:spPr>
          <a:xfrm>
            <a:off x="2566809" y="2059341"/>
            <a:ext cx="2412365" cy="354965"/>
          </a:xfrm>
          <a:prstGeom prst="rect">
            <a:avLst/>
          </a:prstGeom>
        </p:spPr>
        <p:txBody>
          <a:bodyPr wrap="square" lIns="0" tIns="40005" rIns="0" bIns="0" rtlCol="0" vert="horz">
            <a:spAutoFit/>
          </a:bodyPr>
          <a:lstStyle/>
          <a:p>
            <a:pPr marL="227329" indent="-214629">
              <a:lnSpc>
                <a:spcPct val="100000"/>
              </a:lnSpc>
              <a:spcBef>
                <a:spcPts val="315"/>
              </a:spcBef>
              <a:buFont typeface="Wingdings"/>
              <a:buChar char=""/>
              <a:tabLst>
                <a:tab pos="227329" algn="l"/>
              </a:tabLst>
            </a:pPr>
            <a:r>
              <a:rPr dirty="0" sz="900" spc="-5">
                <a:latin typeface="Microsoft YaHei"/>
                <a:cs typeface="Microsoft YaHei"/>
              </a:rPr>
              <a:t>精准选址，最大化投资效益</a:t>
            </a:r>
            <a:endParaRPr sz="900">
              <a:latin typeface="Microsoft YaHei"/>
              <a:cs typeface="Microsoft YaHei"/>
            </a:endParaRPr>
          </a:p>
          <a:p>
            <a:pPr marL="227329" indent="-214629">
              <a:lnSpc>
                <a:spcPct val="100000"/>
              </a:lnSpc>
              <a:spcBef>
                <a:spcPts val="215"/>
              </a:spcBef>
              <a:buFont typeface="Wingdings"/>
              <a:buChar char=""/>
              <a:tabLst>
                <a:tab pos="227329" algn="l"/>
              </a:tabLst>
            </a:pPr>
            <a:r>
              <a:rPr dirty="0" sz="900" spc="-5">
                <a:latin typeface="Microsoft YaHei"/>
                <a:cs typeface="Microsoft YaHei"/>
              </a:rPr>
              <a:t>高精度仿真，评估规划效果，保障规划质量</a:t>
            </a:r>
            <a:endParaRPr sz="900">
              <a:latin typeface="Microsoft YaHei"/>
              <a:cs typeface="Microsoft YaHei"/>
            </a:endParaRPr>
          </a:p>
        </p:txBody>
      </p:sp>
      <p:sp>
        <p:nvSpPr>
          <p:cNvPr id="49" name="object 49" descr=""/>
          <p:cNvSpPr txBox="1"/>
          <p:nvPr/>
        </p:nvSpPr>
        <p:spPr>
          <a:xfrm>
            <a:off x="3117896" y="2528360"/>
            <a:ext cx="3212465" cy="564515"/>
          </a:xfrm>
          <a:prstGeom prst="rect">
            <a:avLst/>
          </a:prstGeom>
        </p:spPr>
        <p:txBody>
          <a:bodyPr wrap="square" lIns="0" tIns="50800" rIns="0" bIns="0" rtlCol="0" vert="horz">
            <a:spAutoFit/>
          </a:bodyPr>
          <a:lstStyle/>
          <a:p>
            <a:pPr marL="12700">
              <a:lnSpc>
                <a:spcPct val="100000"/>
              </a:lnSpc>
              <a:spcBef>
                <a:spcPts val="400"/>
              </a:spcBef>
            </a:pPr>
            <a:r>
              <a:rPr dirty="0" sz="1100" spc="-30">
                <a:latin typeface="Microsoft YaHei"/>
                <a:cs typeface="Microsoft YaHei"/>
              </a:rPr>
              <a:t>价值分析</a:t>
            </a:r>
            <a:endParaRPr sz="1100">
              <a:latin typeface="Microsoft YaHei"/>
              <a:cs typeface="Microsoft YaHei"/>
            </a:endParaRPr>
          </a:p>
          <a:p>
            <a:pPr marL="227329" marR="5080" indent="-215265">
              <a:lnSpc>
                <a:spcPct val="120000"/>
              </a:lnSpc>
              <a:spcBef>
                <a:spcPts val="30"/>
              </a:spcBef>
              <a:buFont typeface="Wingdings"/>
              <a:buChar char=""/>
              <a:tabLst>
                <a:tab pos="227329" algn="l"/>
              </a:tabLst>
            </a:pPr>
            <a:r>
              <a:rPr dirty="0" sz="900" spc="-5">
                <a:latin typeface="Microsoft YaHei"/>
                <a:cs typeface="Microsoft YaHei"/>
              </a:rPr>
              <a:t>深度挖掘海量数据，实现室内外弱覆盖区域、用户感知差等</a:t>
            </a:r>
            <a:r>
              <a:rPr dirty="0" sz="900" spc="-15">
                <a:latin typeface="Microsoft YaHei"/>
                <a:cs typeface="Microsoft YaHei"/>
              </a:rPr>
              <a:t>区域识别</a:t>
            </a:r>
            <a:endParaRPr sz="900">
              <a:latin typeface="Microsoft YaHei"/>
              <a:cs typeface="Microsoft YaHei"/>
            </a:endParaRPr>
          </a:p>
        </p:txBody>
      </p:sp>
      <p:sp>
        <p:nvSpPr>
          <p:cNvPr id="50" name="object 50" descr=""/>
          <p:cNvSpPr txBox="1"/>
          <p:nvPr/>
        </p:nvSpPr>
        <p:spPr>
          <a:xfrm>
            <a:off x="1435615" y="2695036"/>
            <a:ext cx="884555" cy="584200"/>
          </a:xfrm>
          <a:prstGeom prst="rect">
            <a:avLst/>
          </a:prstGeom>
        </p:spPr>
        <p:txBody>
          <a:bodyPr wrap="square" lIns="0" tIns="0" rIns="0" bIns="0" rtlCol="0" vert="eaVert">
            <a:spAutoFit/>
          </a:bodyPr>
          <a:lstStyle/>
          <a:p>
            <a:pPr marL="13335">
              <a:lnSpc>
                <a:spcPct val="65000"/>
              </a:lnSpc>
            </a:pPr>
            <a:r>
              <a:rPr dirty="0" sz="1100">
                <a:solidFill>
                  <a:srgbClr val="FFFFFF"/>
                </a:solidFill>
                <a:latin typeface="Microsoft YaHei"/>
                <a:cs typeface="Microsoft YaHei"/>
              </a:rPr>
              <a:t>用户感知</a:t>
            </a:r>
            <a:endParaRPr sz="1100">
              <a:latin typeface="Microsoft YaHei"/>
              <a:cs typeface="Microsoft YaHei"/>
            </a:endParaRPr>
          </a:p>
          <a:p>
            <a:pPr marL="12700" marR="5715">
              <a:lnSpc>
                <a:spcPct val="142600"/>
              </a:lnSpc>
            </a:pPr>
            <a:r>
              <a:rPr dirty="0" sz="1100">
                <a:solidFill>
                  <a:srgbClr val="FFFFFF"/>
                </a:solidFill>
                <a:latin typeface="Microsoft YaHei"/>
                <a:cs typeface="Microsoft YaHei"/>
              </a:rPr>
              <a:t>容量负荷竞对覆盖</a:t>
            </a:r>
            <a:endParaRPr sz="1100">
              <a:latin typeface="Microsoft YaHei"/>
              <a:cs typeface="Microsoft YaHei"/>
            </a:endParaRPr>
          </a:p>
          <a:p>
            <a:pPr marL="12700">
              <a:lnSpc>
                <a:spcPct val="100000"/>
              </a:lnSpc>
              <a:spcBef>
                <a:spcPts val="575"/>
              </a:spcBef>
            </a:pPr>
            <a:r>
              <a:rPr dirty="0" sz="1100">
                <a:solidFill>
                  <a:srgbClr val="FFFFFF"/>
                </a:solidFill>
                <a:latin typeface="Microsoft YaHei"/>
                <a:cs typeface="Microsoft YaHei"/>
              </a:rPr>
              <a:t>深度覆盖</a:t>
            </a:r>
            <a:endParaRPr sz="1100">
              <a:latin typeface="Microsoft YaHei"/>
              <a:cs typeface="Microsoft YaHei"/>
            </a:endParaRPr>
          </a:p>
        </p:txBody>
      </p:sp>
      <p:grpSp>
        <p:nvGrpSpPr>
          <p:cNvPr id="51" name="object 51" descr=""/>
          <p:cNvGrpSpPr/>
          <p:nvPr/>
        </p:nvGrpSpPr>
        <p:grpSpPr>
          <a:xfrm>
            <a:off x="396099" y="1779663"/>
            <a:ext cx="8496935" cy="3228340"/>
            <a:chOff x="396099" y="1779663"/>
            <a:chExt cx="8496935" cy="3228340"/>
          </a:xfrm>
        </p:grpSpPr>
        <p:sp>
          <p:nvSpPr>
            <p:cNvPr id="52" name="object 52" descr=""/>
            <p:cNvSpPr/>
            <p:nvPr/>
          </p:nvSpPr>
          <p:spPr>
            <a:xfrm>
              <a:off x="2151976" y="2658109"/>
              <a:ext cx="219710" cy="575945"/>
            </a:xfrm>
            <a:custGeom>
              <a:avLst/>
              <a:gdLst/>
              <a:ahLst/>
              <a:cxnLst/>
              <a:rect l="l" t="t" r="r" b="b"/>
              <a:pathLst>
                <a:path w="219710" h="575944">
                  <a:moveTo>
                    <a:pt x="0" y="0"/>
                  </a:moveTo>
                  <a:lnTo>
                    <a:pt x="219138" y="0"/>
                  </a:lnTo>
                  <a:lnTo>
                    <a:pt x="219138" y="575830"/>
                  </a:lnTo>
                  <a:lnTo>
                    <a:pt x="0" y="575830"/>
                  </a:lnTo>
                  <a:lnTo>
                    <a:pt x="0" y="0"/>
                  </a:lnTo>
                  <a:close/>
                </a:path>
              </a:pathLst>
            </a:custGeom>
            <a:ln w="12700">
              <a:solidFill>
                <a:srgbClr val="FFFFFF"/>
              </a:solidFill>
            </a:ln>
          </p:spPr>
          <p:txBody>
            <a:bodyPr wrap="square" lIns="0" tIns="0" rIns="0" bIns="0" rtlCol="0"/>
            <a:lstStyle/>
            <a:p/>
          </p:txBody>
        </p:sp>
        <p:sp>
          <p:nvSpPr>
            <p:cNvPr id="53" name="object 53" descr=""/>
            <p:cNvSpPr/>
            <p:nvPr/>
          </p:nvSpPr>
          <p:spPr>
            <a:xfrm>
              <a:off x="396099" y="2270537"/>
              <a:ext cx="1059180" cy="1955800"/>
            </a:xfrm>
            <a:custGeom>
              <a:avLst/>
              <a:gdLst/>
              <a:ahLst/>
              <a:cxnLst/>
              <a:rect l="l" t="t" r="r" b="b"/>
              <a:pathLst>
                <a:path w="1059180" h="1955800">
                  <a:moveTo>
                    <a:pt x="106276" y="1905000"/>
                  </a:moveTo>
                  <a:lnTo>
                    <a:pt x="93611" y="1905000"/>
                  </a:lnTo>
                  <a:lnTo>
                    <a:pt x="97712" y="1917700"/>
                  </a:lnTo>
                  <a:lnTo>
                    <a:pt x="100641" y="1930400"/>
                  </a:lnTo>
                  <a:lnTo>
                    <a:pt x="102398" y="1943100"/>
                  </a:lnTo>
                  <a:lnTo>
                    <a:pt x="102984" y="1955800"/>
                  </a:lnTo>
                  <a:lnTo>
                    <a:pt x="116751" y="1955800"/>
                  </a:lnTo>
                  <a:lnTo>
                    <a:pt x="116014" y="1943100"/>
                  </a:lnTo>
                  <a:lnTo>
                    <a:pt x="114871" y="1943100"/>
                  </a:lnTo>
                  <a:lnTo>
                    <a:pt x="113318" y="1930400"/>
                  </a:lnTo>
                  <a:lnTo>
                    <a:pt x="111353" y="1917700"/>
                  </a:lnTo>
                  <a:lnTo>
                    <a:pt x="108684" y="1917700"/>
                  </a:lnTo>
                  <a:lnTo>
                    <a:pt x="106276" y="1905000"/>
                  </a:lnTo>
                  <a:close/>
                </a:path>
                <a:path w="1059180" h="1955800">
                  <a:moveTo>
                    <a:pt x="167417" y="1892300"/>
                  </a:moveTo>
                  <a:lnTo>
                    <a:pt x="154444" y="1892300"/>
                  </a:lnTo>
                  <a:lnTo>
                    <a:pt x="124752" y="1955800"/>
                  </a:lnTo>
                  <a:lnTo>
                    <a:pt x="134874" y="1955800"/>
                  </a:lnTo>
                  <a:lnTo>
                    <a:pt x="167417" y="1892300"/>
                  </a:lnTo>
                  <a:close/>
                </a:path>
                <a:path w="1059180" h="1955800">
                  <a:moveTo>
                    <a:pt x="97047" y="1803400"/>
                  </a:moveTo>
                  <a:lnTo>
                    <a:pt x="76149" y="1803400"/>
                  </a:lnTo>
                  <a:lnTo>
                    <a:pt x="43573" y="1879600"/>
                  </a:lnTo>
                  <a:lnTo>
                    <a:pt x="26974" y="1879600"/>
                  </a:lnTo>
                  <a:lnTo>
                    <a:pt x="79184" y="1905000"/>
                  </a:lnTo>
                  <a:lnTo>
                    <a:pt x="64071" y="1943100"/>
                  </a:lnTo>
                  <a:lnTo>
                    <a:pt x="74206" y="1943100"/>
                  </a:lnTo>
                  <a:lnTo>
                    <a:pt x="93611" y="1905000"/>
                  </a:lnTo>
                  <a:lnTo>
                    <a:pt x="106276" y="1905000"/>
                  </a:lnTo>
                  <a:lnTo>
                    <a:pt x="103568" y="1892300"/>
                  </a:lnTo>
                  <a:lnTo>
                    <a:pt x="64147" y="1892300"/>
                  </a:lnTo>
                  <a:lnTo>
                    <a:pt x="53238" y="1879600"/>
                  </a:lnTo>
                  <a:lnTo>
                    <a:pt x="85813" y="1816100"/>
                  </a:lnTo>
                  <a:lnTo>
                    <a:pt x="123151" y="1816100"/>
                  </a:lnTo>
                  <a:lnTo>
                    <a:pt x="97047" y="1803400"/>
                  </a:lnTo>
                  <a:close/>
                </a:path>
                <a:path w="1059180" h="1955800">
                  <a:moveTo>
                    <a:pt x="199961" y="1828800"/>
                  </a:moveTo>
                  <a:lnTo>
                    <a:pt x="189826" y="1828800"/>
                  </a:lnTo>
                  <a:lnTo>
                    <a:pt x="160134" y="1879600"/>
                  </a:lnTo>
                  <a:lnTo>
                    <a:pt x="128409" y="1879600"/>
                  </a:lnTo>
                  <a:lnTo>
                    <a:pt x="110794" y="1917700"/>
                  </a:lnTo>
                  <a:lnTo>
                    <a:pt x="111353" y="1917700"/>
                  </a:lnTo>
                  <a:lnTo>
                    <a:pt x="119849" y="1930400"/>
                  </a:lnTo>
                  <a:lnTo>
                    <a:pt x="138226" y="1892300"/>
                  </a:lnTo>
                  <a:lnTo>
                    <a:pt x="167417" y="1892300"/>
                  </a:lnTo>
                  <a:lnTo>
                    <a:pt x="199961" y="1828800"/>
                  </a:lnTo>
                  <a:close/>
                </a:path>
                <a:path w="1059180" h="1955800">
                  <a:moveTo>
                    <a:pt x="83693" y="1765300"/>
                  </a:moveTo>
                  <a:lnTo>
                    <a:pt x="73571" y="1765300"/>
                  </a:lnTo>
                  <a:lnTo>
                    <a:pt x="60807" y="1790700"/>
                  </a:lnTo>
                  <a:lnTo>
                    <a:pt x="38277" y="1790700"/>
                  </a:lnTo>
                  <a:lnTo>
                    <a:pt x="55118" y="1803400"/>
                  </a:lnTo>
                  <a:lnTo>
                    <a:pt x="22529" y="1866900"/>
                  </a:lnTo>
                  <a:lnTo>
                    <a:pt x="0" y="1866900"/>
                  </a:lnTo>
                  <a:lnTo>
                    <a:pt x="16840" y="1879600"/>
                  </a:lnTo>
                  <a:lnTo>
                    <a:pt x="4076" y="1905000"/>
                  </a:lnTo>
                  <a:lnTo>
                    <a:pt x="14211" y="1905000"/>
                  </a:lnTo>
                  <a:lnTo>
                    <a:pt x="26974" y="1879600"/>
                  </a:lnTo>
                  <a:lnTo>
                    <a:pt x="43573" y="1879600"/>
                  </a:lnTo>
                  <a:lnTo>
                    <a:pt x="32664" y="1866900"/>
                  </a:lnTo>
                  <a:lnTo>
                    <a:pt x="22529" y="1866900"/>
                  </a:lnTo>
                  <a:lnTo>
                    <a:pt x="5702" y="1854200"/>
                  </a:lnTo>
                  <a:lnTo>
                    <a:pt x="39179" y="1854200"/>
                  </a:lnTo>
                  <a:lnTo>
                    <a:pt x="65239" y="1803400"/>
                  </a:lnTo>
                  <a:lnTo>
                    <a:pt x="97047" y="1803400"/>
                  </a:lnTo>
                  <a:lnTo>
                    <a:pt x="70942" y="1790700"/>
                  </a:lnTo>
                  <a:lnTo>
                    <a:pt x="60807" y="1790700"/>
                  </a:lnTo>
                  <a:lnTo>
                    <a:pt x="43980" y="1778000"/>
                  </a:lnTo>
                  <a:lnTo>
                    <a:pt x="77317" y="1778000"/>
                  </a:lnTo>
                  <a:lnTo>
                    <a:pt x="83693" y="1765300"/>
                  </a:lnTo>
                  <a:close/>
                </a:path>
                <a:path w="1059180" h="1955800">
                  <a:moveTo>
                    <a:pt x="148170" y="1790700"/>
                  </a:moveTo>
                  <a:lnTo>
                    <a:pt x="138036" y="1790700"/>
                  </a:lnTo>
                  <a:lnTo>
                    <a:pt x="123151" y="1816100"/>
                  </a:lnTo>
                  <a:lnTo>
                    <a:pt x="96735" y="1816100"/>
                  </a:lnTo>
                  <a:lnTo>
                    <a:pt x="64147" y="1892300"/>
                  </a:lnTo>
                  <a:lnTo>
                    <a:pt x="73812" y="1892300"/>
                  </a:lnTo>
                  <a:lnTo>
                    <a:pt x="106387" y="1828800"/>
                  </a:lnTo>
                  <a:lnTo>
                    <a:pt x="128193" y="1828800"/>
                  </a:lnTo>
                  <a:lnTo>
                    <a:pt x="148170" y="1790700"/>
                  </a:lnTo>
                  <a:close/>
                </a:path>
                <a:path w="1059180" h="1955800">
                  <a:moveTo>
                    <a:pt x="161048" y="1828800"/>
                  </a:moveTo>
                  <a:lnTo>
                    <a:pt x="117462" y="1828800"/>
                  </a:lnTo>
                  <a:lnTo>
                    <a:pt x="84886" y="1892300"/>
                  </a:lnTo>
                  <a:lnTo>
                    <a:pt x="100558" y="1892300"/>
                  </a:lnTo>
                  <a:lnTo>
                    <a:pt x="121475" y="1841500"/>
                  </a:lnTo>
                  <a:lnTo>
                    <a:pt x="153504" y="1841500"/>
                  </a:lnTo>
                  <a:lnTo>
                    <a:pt x="161048" y="1828800"/>
                  </a:lnTo>
                  <a:close/>
                </a:path>
                <a:path w="1059180" h="1955800">
                  <a:moveTo>
                    <a:pt x="162077" y="1841500"/>
                  </a:moveTo>
                  <a:lnTo>
                    <a:pt x="151498" y="1841500"/>
                  </a:lnTo>
                  <a:lnTo>
                    <a:pt x="134112" y="1866900"/>
                  </a:lnTo>
                  <a:lnTo>
                    <a:pt x="118986" y="1866900"/>
                  </a:lnTo>
                  <a:lnTo>
                    <a:pt x="113296" y="1879600"/>
                  </a:lnTo>
                  <a:lnTo>
                    <a:pt x="143929" y="1879600"/>
                  </a:lnTo>
                  <a:lnTo>
                    <a:pt x="162077" y="1841500"/>
                  </a:lnTo>
                  <a:close/>
                </a:path>
                <a:path w="1059180" h="1955800">
                  <a:moveTo>
                    <a:pt x="175570" y="1816100"/>
                  </a:moveTo>
                  <a:lnTo>
                    <a:pt x="153004" y="1816100"/>
                  </a:lnTo>
                  <a:lnTo>
                    <a:pt x="140897" y="1828800"/>
                  </a:lnTo>
                  <a:lnTo>
                    <a:pt x="168403" y="1828800"/>
                  </a:lnTo>
                  <a:lnTo>
                    <a:pt x="175570" y="1816100"/>
                  </a:lnTo>
                  <a:close/>
                </a:path>
                <a:path w="1059180" h="1955800">
                  <a:moveTo>
                    <a:pt x="178015" y="1803400"/>
                  </a:moveTo>
                  <a:lnTo>
                    <a:pt x="175425" y="1803400"/>
                  </a:lnTo>
                  <a:lnTo>
                    <a:pt x="164514" y="1816100"/>
                  </a:lnTo>
                  <a:lnTo>
                    <a:pt x="180390" y="1816100"/>
                  </a:lnTo>
                  <a:lnTo>
                    <a:pt x="178015" y="1803400"/>
                  </a:lnTo>
                  <a:close/>
                </a:path>
                <a:path w="1059180" h="1955800">
                  <a:moveTo>
                    <a:pt x="148075" y="1676400"/>
                  </a:moveTo>
                  <a:lnTo>
                    <a:pt x="121589" y="1676400"/>
                  </a:lnTo>
                  <a:lnTo>
                    <a:pt x="161810" y="1701800"/>
                  </a:lnTo>
                  <a:lnTo>
                    <a:pt x="126492" y="1778000"/>
                  </a:lnTo>
                  <a:lnTo>
                    <a:pt x="138811" y="1778000"/>
                  </a:lnTo>
                  <a:lnTo>
                    <a:pt x="174117" y="1701800"/>
                  </a:lnTo>
                  <a:lnTo>
                    <a:pt x="200681" y="1701800"/>
                  </a:lnTo>
                  <a:lnTo>
                    <a:pt x="180505" y="1689100"/>
                  </a:lnTo>
                  <a:lnTo>
                    <a:pt x="168186" y="1689100"/>
                  </a:lnTo>
                  <a:lnTo>
                    <a:pt x="148075" y="1676400"/>
                  </a:lnTo>
                  <a:close/>
                </a:path>
                <a:path w="1059180" h="1955800">
                  <a:moveTo>
                    <a:pt x="248818" y="1739900"/>
                  </a:moveTo>
                  <a:lnTo>
                    <a:pt x="232194" y="1739900"/>
                  </a:lnTo>
                  <a:lnTo>
                    <a:pt x="229908" y="1752600"/>
                  </a:lnTo>
                  <a:lnTo>
                    <a:pt x="224947" y="1752600"/>
                  </a:lnTo>
                  <a:lnTo>
                    <a:pt x="221248" y="1765300"/>
                  </a:lnTo>
                  <a:lnTo>
                    <a:pt x="216738" y="1765300"/>
                  </a:lnTo>
                  <a:lnTo>
                    <a:pt x="221970" y="1778000"/>
                  </a:lnTo>
                  <a:lnTo>
                    <a:pt x="232143" y="1778000"/>
                  </a:lnTo>
                  <a:lnTo>
                    <a:pt x="245135" y="1752600"/>
                  </a:lnTo>
                  <a:lnTo>
                    <a:pt x="248818" y="1739900"/>
                  </a:lnTo>
                  <a:close/>
                </a:path>
                <a:path w="1059180" h="1955800">
                  <a:moveTo>
                    <a:pt x="142913" y="1600199"/>
                  </a:moveTo>
                  <a:lnTo>
                    <a:pt x="80035" y="1739900"/>
                  </a:lnTo>
                  <a:lnTo>
                    <a:pt x="92354" y="1739900"/>
                  </a:lnTo>
                  <a:lnTo>
                    <a:pt x="121589" y="1676400"/>
                  </a:lnTo>
                  <a:lnTo>
                    <a:pt x="148075" y="1676400"/>
                  </a:lnTo>
                  <a:lnTo>
                    <a:pt x="127965" y="1663700"/>
                  </a:lnTo>
                  <a:lnTo>
                    <a:pt x="155232" y="1612899"/>
                  </a:lnTo>
                  <a:lnTo>
                    <a:pt x="142913" y="1600199"/>
                  </a:lnTo>
                  <a:close/>
                </a:path>
                <a:path w="1059180" h="1955800">
                  <a:moveTo>
                    <a:pt x="200681" y="1701800"/>
                  </a:moveTo>
                  <a:lnTo>
                    <a:pt x="174117" y="1701800"/>
                  </a:lnTo>
                  <a:lnTo>
                    <a:pt x="228155" y="1727200"/>
                  </a:lnTo>
                  <a:lnTo>
                    <a:pt x="231076" y="1739900"/>
                  </a:lnTo>
                  <a:lnTo>
                    <a:pt x="249555" y="1739900"/>
                  </a:lnTo>
                  <a:lnTo>
                    <a:pt x="247345" y="1727200"/>
                  </a:lnTo>
                  <a:lnTo>
                    <a:pt x="241033" y="1727200"/>
                  </a:lnTo>
                  <a:lnTo>
                    <a:pt x="200681" y="1701800"/>
                  </a:lnTo>
                  <a:close/>
                </a:path>
                <a:path w="1059180" h="1955800">
                  <a:moveTo>
                    <a:pt x="213537" y="1625599"/>
                  </a:moveTo>
                  <a:lnTo>
                    <a:pt x="201218" y="1625599"/>
                  </a:lnTo>
                  <a:lnTo>
                    <a:pt x="168186" y="1689100"/>
                  </a:lnTo>
                  <a:lnTo>
                    <a:pt x="180505" y="1689100"/>
                  </a:lnTo>
                  <a:lnTo>
                    <a:pt x="213537" y="1625599"/>
                  </a:lnTo>
                  <a:close/>
                </a:path>
                <a:path w="1059180" h="1955800">
                  <a:moveTo>
                    <a:pt x="251625" y="1574799"/>
                  </a:moveTo>
                  <a:lnTo>
                    <a:pt x="199999" y="1574799"/>
                  </a:lnTo>
                  <a:lnTo>
                    <a:pt x="236639" y="1600199"/>
                  </a:lnTo>
                  <a:lnTo>
                    <a:pt x="234562" y="1612899"/>
                  </a:lnTo>
                  <a:lnTo>
                    <a:pt x="232410" y="1625599"/>
                  </a:lnTo>
                  <a:lnTo>
                    <a:pt x="246799" y="1638300"/>
                  </a:lnTo>
                  <a:lnTo>
                    <a:pt x="248140" y="1612899"/>
                  </a:lnTo>
                  <a:lnTo>
                    <a:pt x="249491" y="1600199"/>
                  </a:lnTo>
                  <a:lnTo>
                    <a:pt x="281882" y="1600199"/>
                  </a:lnTo>
                  <a:lnTo>
                    <a:pt x="250825" y="1587499"/>
                  </a:lnTo>
                  <a:lnTo>
                    <a:pt x="251625" y="1574799"/>
                  </a:lnTo>
                  <a:close/>
                </a:path>
                <a:path w="1059180" h="1955800">
                  <a:moveTo>
                    <a:pt x="281882" y="1600199"/>
                  </a:moveTo>
                  <a:lnTo>
                    <a:pt x="249491" y="1600199"/>
                  </a:lnTo>
                  <a:lnTo>
                    <a:pt x="307238" y="1625599"/>
                  </a:lnTo>
                  <a:lnTo>
                    <a:pt x="312940" y="1612899"/>
                  </a:lnTo>
                  <a:lnTo>
                    <a:pt x="281882" y="1600199"/>
                  </a:lnTo>
                  <a:close/>
                </a:path>
                <a:path w="1059180" h="1955800">
                  <a:moveTo>
                    <a:pt x="179044" y="1574799"/>
                  </a:moveTo>
                  <a:lnTo>
                    <a:pt x="159727" y="1574799"/>
                  </a:lnTo>
                  <a:lnTo>
                    <a:pt x="173615" y="1587499"/>
                  </a:lnTo>
                  <a:lnTo>
                    <a:pt x="185866" y="1600199"/>
                  </a:lnTo>
                  <a:lnTo>
                    <a:pt x="196480" y="1612899"/>
                  </a:lnTo>
                  <a:lnTo>
                    <a:pt x="217335" y="1612899"/>
                  </a:lnTo>
                  <a:lnTo>
                    <a:pt x="212098" y="1600199"/>
                  </a:lnTo>
                  <a:lnTo>
                    <a:pt x="200434" y="1600199"/>
                  </a:lnTo>
                  <a:lnTo>
                    <a:pt x="194005" y="1587499"/>
                  </a:lnTo>
                  <a:lnTo>
                    <a:pt x="184505" y="1587499"/>
                  </a:lnTo>
                  <a:lnTo>
                    <a:pt x="179044" y="1574799"/>
                  </a:lnTo>
                  <a:close/>
                </a:path>
                <a:path w="1059180" h="1955800">
                  <a:moveTo>
                    <a:pt x="160337" y="1536699"/>
                  </a:moveTo>
                  <a:lnTo>
                    <a:pt x="154647" y="1549399"/>
                  </a:lnTo>
                  <a:lnTo>
                    <a:pt x="189560" y="1574799"/>
                  </a:lnTo>
                  <a:lnTo>
                    <a:pt x="184505" y="1587499"/>
                  </a:lnTo>
                  <a:lnTo>
                    <a:pt x="194005" y="1587499"/>
                  </a:lnTo>
                  <a:lnTo>
                    <a:pt x="199999" y="1574799"/>
                  </a:lnTo>
                  <a:lnTo>
                    <a:pt x="238277" y="1574799"/>
                  </a:lnTo>
                  <a:lnTo>
                    <a:pt x="205701" y="1562099"/>
                  </a:lnTo>
                  <a:lnTo>
                    <a:pt x="195262" y="1562099"/>
                  </a:lnTo>
                  <a:lnTo>
                    <a:pt x="160337" y="1536699"/>
                  </a:lnTo>
                  <a:close/>
                </a:path>
                <a:path w="1059180" h="1955800">
                  <a:moveTo>
                    <a:pt x="253225" y="1562099"/>
                  </a:moveTo>
                  <a:lnTo>
                    <a:pt x="240550" y="1562099"/>
                  </a:lnTo>
                  <a:lnTo>
                    <a:pt x="239064" y="1574799"/>
                  </a:lnTo>
                  <a:lnTo>
                    <a:pt x="252425" y="1574799"/>
                  </a:lnTo>
                  <a:lnTo>
                    <a:pt x="253225" y="1562099"/>
                  </a:lnTo>
                  <a:close/>
                </a:path>
                <a:path w="1059180" h="1955800">
                  <a:moveTo>
                    <a:pt x="313029" y="1473199"/>
                  </a:moveTo>
                  <a:lnTo>
                    <a:pt x="302425" y="1473199"/>
                  </a:lnTo>
                  <a:lnTo>
                    <a:pt x="291338" y="1498599"/>
                  </a:lnTo>
                  <a:lnTo>
                    <a:pt x="268897" y="1498599"/>
                  </a:lnTo>
                  <a:lnTo>
                    <a:pt x="285419" y="1511299"/>
                  </a:lnTo>
                  <a:lnTo>
                    <a:pt x="254889" y="1562099"/>
                  </a:lnTo>
                  <a:lnTo>
                    <a:pt x="265493" y="1574799"/>
                  </a:lnTo>
                  <a:lnTo>
                    <a:pt x="296024" y="1511299"/>
                  </a:lnTo>
                  <a:lnTo>
                    <a:pt x="336232" y="1511299"/>
                  </a:lnTo>
                  <a:lnTo>
                    <a:pt x="301942" y="1498599"/>
                  </a:lnTo>
                  <a:lnTo>
                    <a:pt x="291338" y="1498599"/>
                  </a:lnTo>
                  <a:lnTo>
                    <a:pt x="274815" y="1485899"/>
                  </a:lnTo>
                  <a:lnTo>
                    <a:pt x="307486" y="1485899"/>
                  </a:lnTo>
                  <a:lnTo>
                    <a:pt x="313029" y="1473199"/>
                  </a:lnTo>
                  <a:close/>
                </a:path>
                <a:path w="1059180" h="1955800">
                  <a:moveTo>
                    <a:pt x="309600" y="1549399"/>
                  </a:moveTo>
                  <a:lnTo>
                    <a:pt x="286392" y="1549399"/>
                  </a:lnTo>
                  <a:lnTo>
                    <a:pt x="277736" y="1562099"/>
                  </a:lnTo>
                  <a:lnTo>
                    <a:pt x="280492" y="1574799"/>
                  </a:lnTo>
                  <a:lnTo>
                    <a:pt x="288314" y="1562099"/>
                  </a:lnTo>
                  <a:lnTo>
                    <a:pt x="312369" y="1562099"/>
                  </a:lnTo>
                  <a:lnTo>
                    <a:pt x="309600" y="1549399"/>
                  </a:lnTo>
                  <a:close/>
                </a:path>
                <a:path w="1059180" h="1955800">
                  <a:moveTo>
                    <a:pt x="204749" y="1536699"/>
                  </a:moveTo>
                  <a:lnTo>
                    <a:pt x="195262" y="1562099"/>
                  </a:lnTo>
                  <a:lnTo>
                    <a:pt x="205701" y="1562099"/>
                  </a:lnTo>
                  <a:lnTo>
                    <a:pt x="215188" y="1549399"/>
                  </a:lnTo>
                  <a:lnTo>
                    <a:pt x="204749" y="1536699"/>
                  </a:lnTo>
                  <a:close/>
                </a:path>
                <a:path w="1059180" h="1955800">
                  <a:moveTo>
                    <a:pt x="281012" y="1460499"/>
                  </a:moveTo>
                  <a:lnTo>
                    <a:pt x="270408" y="1460499"/>
                  </a:lnTo>
                  <a:lnTo>
                    <a:pt x="248462" y="1498599"/>
                  </a:lnTo>
                  <a:lnTo>
                    <a:pt x="219468" y="1498599"/>
                  </a:lnTo>
                  <a:lnTo>
                    <a:pt x="242544" y="1511299"/>
                  </a:lnTo>
                  <a:lnTo>
                    <a:pt x="221653" y="1549399"/>
                  </a:lnTo>
                  <a:lnTo>
                    <a:pt x="232257" y="1562099"/>
                  </a:lnTo>
                  <a:lnTo>
                    <a:pt x="281012" y="1460499"/>
                  </a:lnTo>
                  <a:close/>
                </a:path>
                <a:path w="1059180" h="1955800">
                  <a:moveTo>
                    <a:pt x="344131" y="1549399"/>
                  </a:moveTo>
                  <a:lnTo>
                    <a:pt x="326110" y="1549399"/>
                  </a:lnTo>
                  <a:lnTo>
                    <a:pt x="321271" y="1562099"/>
                  </a:lnTo>
                  <a:lnTo>
                    <a:pt x="340639" y="1562099"/>
                  </a:lnTo>
                  <a:lnTo>
                    <a:pt x="344131" y="1549399"/>
                  </a:lnTo>
                  <a:close/>
                </a:path>
                <a:path w="1059180" h="1955800">
                  <a:moveTo>
                    <a:pt x="336232" y="1511299"/>
                  </a:moveTo>
                  <a:lnTo>
                    <a:pt x="296024" y="1511299"/>
                  </a:lnTo>
                  <a:lnTo>
                    <a:pt x="333997" y="1523999"/>
                  </a:lnTo>
                  <a:lnTo>
                    <a:pt x="336042" y="1536699"/>
                  </a:lnTo>
                  <a:lnTo>
                    <a:pt x="329971" y="1549399"/>
                  </a:lnTo>
                  <a:lnTo>
                    <a:pt x="346303" y="1549399"/>
                  </a:lnTo>
                  <a:lnTo>
                    <a:pt x="349203" y="1536699"/>
                  </a:lnTo>
                  <a:lnTo>
                    <a:pt x="348492" y="1523999"/>
                  </a:lnTo>
                  <a:lnTo>
                    <a:pt x="344169" y="1523999"/>
                  </a:lnTo>
                  <a:lnTo>
                    <a:pt x="336232" y="1511299"/>
                  </a:lnTo>
                  <a:close/>
                </a:path>
                <a:path w="1059180" h="1955800">
                  <a:moveTo>
                    <a:pt x="243852" y="1447799"/>
                  </a:moveTo>
                  <a:lnTo>
                    <a:pt x="233248" y="1447799"/>
                  </a:lnTo>
                  <a:lnTo>
                    <a:pt x="214795" y="1485899"/>
                  </a:lnTo>
                  <a:lnTo>
                    <a:pt x="187210" y="1485899"/>
                  </a:lnTo>
                  <a:lnTo>
                    <a:pt x="208876" y="1498599"/>
                  </a:lnTo>
                  <a:lnTo>
                    <a:pt x="191173" y="1536699"/>
                  </a:lnTo>
                  <a:lnTo>
                    <a:pt x="201777" y="1536699"/>
                  </a:lnTo>
                  <a:lnTo>
                    <a:pt x="219468" y="1498599"/>
                  </a:lnTo>
                  <a:lnTo>
                    <a:pt x="248462" y="1498599"/>
                  </a:lnTo>
                  <a:lnTo>
                    <a:pt x="225386" y="1485899"/>
                  </a:lnTo>
                  <a:lnTo>
                    <a:pt x="214795" y="1485899"/>
                  </a:lnTo>
                  <a:lnTo>
                    <a:pt x="193128" y="1473199"/>
                  </a:lnTo>
                  <a:lnTo>
                    <a:pt x="231542" y="1473199"/>
                  </a:lnTo>
                  <a:lnTo>
                    <a:pt x="243852" y="1447799"/>
                  </a:lnTo>
                  <a:close/>
                </a:path>
                <a:path w="1059180" h="1955800">
                  <a:moveTo>
                    <a:pt x="288886" y="1384299"/>
                  </a:moveTo>
                  <a:lnTo>
                    <a:pt x="276872" y="1396999"/>
                  </a:lnTo>
                  <a:lnTo>
                    <a:pt x="288864" y="1409699"/>
                  </a:lnTo>
                  <a:lnTo>
                    <a:pt x="298567" y="1435099"/>
                  </a:lnTo>
                  <a:lnTo>
                    <a:pt x="305979" y="1447799"/>
                  </a:lnTo>
                  <a:lnTo>
                    <a:pt x="311099" y="1473199"/>
                  </a:lnTo>
                  <a:lnTo>
                    <a:pt x="326377" y="1473199"/>
                  </a:lnTo>
                  <a:lnTo>
                    <a:pt x="324236" y="1460499"/>
                  </a:lnTo>
                  <a:lnTo>
                    <a:pt x="321832" y="1460499"/>
                  </a:lnTo>
                  <a:lnTo>
                    <a:pt x="319163" y="1447799"/>
                  </a:lnTo>
                  <a:lnTo>
                    <a:pt x="316230" y="1435099"/>
                  </a:lnTo>
                  <a:lnTo>
                    <a:pt x="334094" y="1435099"/>
                  </a:lnTo>
                  <a:lnTo>
                    <a:pt x="306476" y="1422399"/>
                  </a:lnTo>
                  <a:lnTo>
                    <a:pt x="302470" y="1409699"/>
                  </a:lnTo>
                  <a:lnTo>
                    <a:pt x="298205" y="1409699"/>
                  </a:lnTo>
                  <a:lnTo>
                    <a:pt x="293678" y="1396999"/>
                  </a:lnTo>
                  <a:lnTo>
                    <a:pt x="288886" y="1384299"/>
                  </a:lnTo>
                  <a:close/>
                </a:path>
                <a:path w="1059180" h="1955800">
                  <a:moveTo>
                    <a:pt x="334094" y="1435099"/>
                  </a:moveTo>
                  <a:lnTo>
                    <a:pt x="316230" y="1435099"/>
                  </a:lnTo>
                  <a:lnTo>
                    <a:pt x="383019" y="1473199"/>
                  </a:lnTo>
                  <a:lnTo>
                    <a:pt x="389331" y="1460499"/>
                  </a:lnTo>
                  <a:lnTo>
                    <a:pt x="334094" y="1435099"/>
                  </a:lnTo>
                  <a:close/>
                </a:path>
                <a:path w="1059180" h="1955800">
                  <a:moveTo>
                    <a:pt x="309194" y="1371599"/>
                  </a:moveTo>
                  <a:lnTo>
                    <a:pt x="303263" y="1384299"/>
                  </a:lnTo>
                  <a:lnTo>
                    <a:pt x="383070" y="1422399"/>
                  </a:lnTo>
                  <a:lnTo>
                    <a:pt x="375246" y="1435099"/>
                  </a:lnTo>
                  <a:lnTo>
                    <a:pt x="386778" y="1447799"/>
                  </a:lnTo>
                  <a:lnTo>
                    <a:pt x="406176" y="1409699"/>
                  </a:lnTo>
                  <a:lnTo>
                    <a:pt x="389001" y="1409699"/>
                  </a:lnTo>
                  <a:lnTo>
                    <a:pt x="309194" y="1371599"/>
                  </a:lnTo>
                  <a:close/>
                </a:path>
                <a:path w="1059180" h="1955800">
                  <a:moveTo>
                    <a:pt x="251536" y="1371599"/>
                  </a:moveTo>
                  <a:lnTo>
                    <a:pt x="239217" y="1384299"/>
                  </a:lnTo>
                  <a:lnTo>
                    <a:pt x="245155" y="1396999"/>
                  </a:lnTo>
                  <a:lnTo>
                    <a:pt x="250302" y="1409699"/>
                  </a:lnTo>
                  <a:lnTo>
                    <a:pt x="254656" y="1422399"/>
                  </a:lnTo>
                  <a:lnTo>
                    <a:pt x="258216" y="1435099"/>
                  </a:lnTo>
                  <a:lnTo>
                    <a:pt x="273253" y="1435099"/>
                  </a:lnTo>
                  <a:lnTo>
                    <a:pt x="269152" y="1422399"/>
                  </a:lnTo>
                  <a:lnTo>
                    <a:pt x="264166" y="1409699"/>
                  </a:lnTo>
                  <a:lnTo>
                    <a:pt x="258294" y="1396999"/>
                  </a:lnTo>
                  <a:lnTo>
                    <a:pt x="251536" y="1371599"/>
                  </a:lnTo>
                  <a:close/>
                </a:path>
                <a:path w="1059180" h="1955800">
                  <a:moveTo>
                    <a:pt x="319208" y="1333499"/>
                  </a:moveTo>
                  <a:lnTo>
                    <a:pt x="289674" y="1333499"/>
                  </a:lnTo>
                  <a:lnTo>
                    <a:pt x="402209" y="1384299"/>
                  </a:lnTo>
                  <a:lnTo>
                    <a:pt x="389001" y="1409699"/>
                  </a:lnTo>
                  <a:lnTo>
                    <a:pt x="406176" y="1409699"/>
                  </a:lnTo>
                  <a:lnTo>
                    <a:pt x="425573" y="1371599"/>
                  </a:lnTo>
                  <a:lnTo>
                    <a:pt x="408127" y="1371599"/>
                  </a:lnTo>
                  <a:lnTo>
                    <a:pt x="354355" y="1346199"/>
                  </a:lnTo>
                  <a:lnTo>
                    <a:pt x="342823" y="1346199"/>
                  </a:lnTo>
                  <a:lnTo>
                    <a:pt x="319208" y="1333499"/>
                  </a:lnTo>
                  <a:close/>
                </a:path>
                <a:path w="1059180" h="1955800">
                  <a:moveTo>
                    <a:pt x="301599" y="1269999"/>
                  </a:moveTo>
                  <a:lnTo>
                    <a:pt x="256184" y="1371599"/>
                  </a:lnTo>
                  <a:lnTo>
                    <a:pt x="267881" y="1371599"/>
                  </a:lnTo>
                  <a:lnTo>
                    <a:pt x="289674" y="1333499"/>
                  </a:lnTo>
                  <a:lnTo>
                    <a:pt x="319208" y="1333499"/>
                  </a:lnTo>
                  <a:lnTo>
                    <a:pt x="295592" y="1320799"/>
                  </a:lnTo>
                  <a:lnTo>
                    <a:pt x="313283" y="1282699"/>
                  </a:lnTo>
                  <a:lnTo>
                    <a:pt x="301599" y="1269999"/>
                  </a:lnTo>
                  <a:close/>
                </a:path>
                <a:path w="1059180" h="1955800">
                  <a:moveTo>
                    <a:pt x="426961" y="1333499"/>
                  </a:moveTo>
                  <a:lnTo>
                    <a:pt x="408127" y="1371599"/>
                  </a:lnTo>
                  <a:lnTo>
                    <a:pt x="425573" y="1371599"/>
                  </a:lnTo>
                  <a:lnTo>
                    <a:pt x="438505" y="1346199"/>
                  </a:lnTo>
                  <a:lnTo>
                    <a:pt x="426961" y="1333499"/>
                  </a:lnTo>
                  <a:close/>
                </a:path>
                <a:path w="1059180" h="1955800">
                  <a:moveTo>
                    <a:pt x="370535" y="1308099"/>
                  </a:moveTo>
                  <a:lnTo>
                    <a:pt x="359003" y="1308099"/>
                  </a:lnTo>
                  <a:lnTo>
                    <a:pt x="342823" y="1346199"/>
                  </a:lnTo>
                  <a:lnTo>
                    <a:pt x="354355" y="1346199"/>
                  </a:lnTo>
                  <a:lnTo>
                    <a:pt x="370535" y="1308099"/>
                  </a:lnTo>
                  <a:close/>
                </a:path>
                <a:path w="1059180" h="1955800">
                  <a:moveTo>
                    <a:pt x="388531" y="1117599"/>
                  </a:moveTo>
                  <a:lnTo>
                    <a:pt x="357136" y="1181099"/>
                  </a:lnTo>
                  <a:lnTo>
                    <a:pt x="333184" y="1181099"/>
                  </a:lnTo>
                  <a:lnTo>
                    <a:pt x="335572" y="1193799"/>
                  </a:lnTo>
                  <a:lnTo>
                    <a:pt x="354253" y="1193799"/>
                  </a:lnTo>
                  <a:lnTo>
                    <a:pt x="321335" y="1257299"/>
                  </a:lnTo>
                  <a:lnTo>
                    <a:pt x="379158" y="1282699"/>
                  </a:lnTo>
                  <a:lnTo>
                    <a:pt x="399977" y="1295399"/>
                  </a:lnTo>
                  <a:lnTo>
                    <a:pt x="416850" y="1308099"/>
                  </a:lnTo>
                  <a:lnTo>
                    <a:pt x="429777" y="1320799"/>
                  </a:lnTo>
                  <a:lnTo>
                    <a:pt x="438759" y="1333499"/>
                  </a:lnTo>
                  <a:lnTo>
                    <a:pt x="453682" y="1333499"/>
                  </a:lnTo>
                  <a:lnTo>
                    <a:pt x="442916" y="1320799"/>
                  </a:lnTo>
                  <a:lnTo>
                    <a:pt x="427555" y="1295399"/>
                  </a:lnTo>
                  <a:lnTo>
                    <a:pt x="407597" y="1282699"/>
                  </a:lnTo>
                  <a:lnTo>
                    <a:pt x="383044" y="1269999"/>
                  </a:lnTo>
                  <a:lnTo>
                    <a:pt x="338632" y="1244599"/>
                  </a:lnTo>
                  <a:lnTo>
                    <a:pt x="399757" y="1130299"/>
                  </a:lnTo>
                  <a:lnTo>
                    <a:pt x="388531" y="1117599"/>
                  </a:lnTo>
                  <a:close/>
                </a:path>
                <a:path w="1059180" h="1955800">
                  <a:moveTo>
                    <a:pt x="494538" y="1168399"/>
                  </a:moveTo>
                  <a:lnTo>
                    <a:pt x="483311" y="1168399"/>
                  </a:lnTo>
                  <a:lnTo>
                    <a:pt x="458774" y="1219199"/>
                  </a:lnTo>
                  <a:lnTo>
                    <a:pt x="436181" y="1219199"/>
                  </a:lnTo>
                  <a:lnTo>
                    <a:pt x="452704" y="1231899"/>
                  </a:lnTo>
                  <a:lnTo>
                    <a:pt x="423926" y="1282699"/>
                  </a:lnTo>
                  <a:lnTo>
                    <a:pt x="435152" y="1295399"/>
                  </a:lnTo>
                  <a:lnTo>
                    <a:pt x="463931" y="1231899"/>
                  </a:lnTo>
                  <a:lnTo>
                    <a:pt x="498843" y="1231899"/>
                  </a:lnTo>
                  <a:lnTo>
                    <a:pt x="470001" y="1219199"/>
                  </a:lnTo>
                  <a:lnTo>
                    <a:pt x="494538" y="1168399"/>
                  </a:lnTo>
                  <a:close/>
                </a:path>
                <a:path w="1059180" h="1955800">
                  <a:moveTo>
                    <a:pt x="451840" y="1155699"/>
                  </a:moveTo>
                  <a:lnTo>
                    <a:pt x="431038" y="1206499"/>
                  </a:lnTo>
                  <a:lnTo>
                    <a:pt x="405168" y="1206499"/>
                  </a:lnTo>
                  <a:lnTo>
                    <a:pt x="424954" y="1219199"/>
                  </a:lnTo>
                  <a:lnTo>
                    <a:pt x="408711" y="1244599"/>
                  </a:lnTo>
                  <a:lnTo>
                    <a:pt x="393192" y="1244599"/>
                  </a:lnTo>
                  <a:lnTo>
                    <a:pt x="397573" y="1257299"/>
                  </a:lnTo>
                  <a:lnTo>
                    <a:pt x="401637" y="1257299"/>
                  </a:lnTo>
                  <a:lnTo>
                    <a:pt x="413016" y="1269999"/>
                  </a:lnTo>
                  <a:lnTo>
                    <a:pt x="436181" y="1219199"/>
                  </a:lnTo>
                  <a:lnTo>
                    <a:pt x="458774" y="1219199"/>
                  </a:lnTo>
                  <a:lnTo>
                    <a:pt x="442264" y="1206499"/>
                  </a:lnTo>
                  <a:lnTo>
                    <a:pt x="431038" y="1206499"/>
                  </a:lnTo>
                  <a:lnTo>
                    <a:pt x="411238" y="1193799"/>
                  </a:lnTo>
                  <a:lnTo>
                    <a:pt x="449199" y="1193799"/>
                  </a:lnTo>
                  <a:lnTo>
                    <a:pt x="463067" y="1168399"/>
                  </a:lnTo>
                  <a:lnTo>
                    <a:pt x="451840" y="1155699"/>
                  </a:lnTo>
                  <a:close/>
                </a:path>
                <a:path w="1059180" h="1955800">
                  <a:moveTo>
                    <a:pt x="426046" y="1142999"/>
                  </a:moveTo>
                  <a:lnTo>
                    <a:pt x="414832" y="1142999"/>
                  </a:lnTo>
                  <a:lnTo>
                    <a:pt x="381596" y="1206499"/>
                  </a:lnTo>
                  <a:lnTo>
                    <a:pt x="361226" y="1206499"/>
                  </a:lnTo>
                  <a:lnTo>
                    <a:pt x="366064" y="1219199"/>
                  </a:lnTo>
                  <a:lnTo>
                    <a:pt x="374916" y="1219199"/>
                  </a:lnTo>
                  <a:lnTo>
                    <a:pt x="361213" y="1257299"/>
                  </a:lnTo>
                  <a:lnTo>
                    <a:pt x="372440" y="1257299"/>
                  </a:lnTo>
                  <a:lnTo>
                    <a:pt x="383489" y="1231899"/>
                  </a:lnTo>
                  <a:lnTo>
                    <a:pt x="395148" y="1231899"/>
                  </a:lnTo>
                  <a:lnTo>
                    <a:pt x="390093" y="1219199"/>
                  </a:lnTo>
                  <a:lnTo>
                    <a:pt x="396085" y="1206499"/>
                  </a:lnTo>
                  <a:lnTo>
                    <a:pt x="374624" y="1206499"/>
                  </a:lnTo>
                  <a:lnTo>
                    <a:pt x="370878" y="1193799"/>
                  </a:lnTo>
                  <a:lnTo>
                    <a:pt x="402077" y="1193799"/>
                  </a:lnTo>
                  <a:lnTo>
                    <a:pt x="426046" y="1142999"/>
                  </a:lnTo>
                  <a:close/>
                </a:path>
                <a:path w="1059180" h="1955800">
                  <a:moveTo>
                    <a:pt x="399935" y="1231899"/>
                  </a:moveTo>
                  <a:lnTo>
                    <a:pt x="383489" y="1231899"/>
                  </a:lnTo>
                  <a:lnTo>
                    <a:pt x="388496" y="1244599"/>
                  </a:lnTo>
                  <a:lnTo>
                    <a:pt x="404455" y="1244599"/>
                  </a:lnTo>
                  <a:lnTo>
                    <a:pt x="399935" y="1231899"/>
                  </a:lnTo>
                  <a:close/>
                </a:path>
                <a:path w="1059180" h="1955800">
                  <a:moveTo>
                    <a:pt x="498843" y="1231899"/>
                  </a:moveTo>
                  <a:lnTo>
                    <a:pt x="463931" y="1231899"/>
                  </a:lnTo>
                  <a:lnTo>
                    <a:pt x="492759" y="1244599"/>
                  </a:lnTo>
                  <a:lnTo>
                    <a:pt x="498843" y="1231899"/>
                  </a:lnTo>
                  <a:close/>
                </a:path>
                <a:path w="1059180" h="1955800">
                  <a:moveTo>
                    <a:pt x="355536" y="1168399"/>
                  </a:moveTo>
                  <a:lnTo>
                    <a:pt x="347840" y="1181099"/>
                  </a:lnTo>
                  <a:lnTo>
                    <a:pt x="357136" y="1181099"/>
                  </a:lnTo>
                  <a:lnTo>
                    <a:pt x="355536" y="1168399"/>
                  </a:lnTo>
                  <a:close/>
                </a:path>
                <a:path w="1059180" h="1955800">
                  <a:moveTo>
                    <a:pt x="431558" y="1054099"/>
                  </a:moveTo>
                  <a:lnTo>
                    <a:pt x="416369" y="1079499"/>
                  </a:lnTo>
                  <a:lnTo>
                    <a:pt x="398994" y="1079499"/>
                  </a:lnTo>
                  <a:lnTo>
                    <a:pt x="404400" y="1092199"/>
                  </a:lnTo>
                  <a:lnTo>
                    <a:pt x="409994" y="1092199"/>
                  </a:lnTo>
                  <a:lnTo>
                    <a:pt x="402323" y="1104899"/>
                  </a:lnTo>
                  <a:lnTo>
                    <a:pt x="527481" y="1168399"/>
                  </a:lnTo>
                  <a:lnTo>
                    <a:pt x="533565" y="1155699"/>
                  </a:lnTo>
                  <a:lnTo>
                    <a:pt x="520306" y="1155699"/>
                  </a:lnTo>
                  <a:lnTo>
                    <a:pt x="526004" y="1142999"/>
                  </a:lnTo>
                  <a:lnTo>
                    <a:pt x="508622" y="1142999"/>
                  </a:lnTo>
                  <a:lnTo>
                    <a:pt x="469188" y="1130299"/>
                  </a:lnTo>
                  <a:lnTo>
                    <a:pt x="474882" y="1117599"/>
                  </a:lnTo>
                  <a:lnTo>
                    <a:pt x="457962" y="1117599"/>
                  </a:lnTo>
                  <a:lnTo>
                    <a:pt x="420090" y="1104899"/>
                  </a:lnTo>
                  <a:lnTo>
                    <a:pt x="437172" y="1066799"/>
                  </a:lnTo>
                  <a:lnTo>
                    <a:pt x="462575" y="1066799"/>
                  </a:lnTo>
                  <a:lnTo>
                    <a:pt x="431558" y="1054099"/>
                  </a:lnTo>
                  <a:close/>
                </a:path>
                <a:path w="1059180" h="1955800">
                  <a:moveTo>
                    <a:pt x="524608" y="1092199"/>
                  </a:moveTo>
                  <a:lnTo>
                    <a:pt x="486270" y="1092199"/>
                  </a:lnTo>
                  <a:lnTo>
                    <a:pt x="525703" y="1117599"/>
                  </a:lnTo>
                  <a:lnTo>
                    <a:pt x="508622" y="1142999"/>
                  </a:lnTo>
                  <a:lnTo>
                    <a:pt x="526004" y="1142999"/>
                  </a:lnTo>
                  <a:lnTo>
                    <a:pt x="537400" y="1117599"/>
                  </a:lnTo>
                  <a:lnTo>
                    <a:pt x="549554" y="1117599"/>
                  </a:lnTo>
                  <a:lnTo>
                    <a:pt x="555625" y="1104899"/>
                  </a:lnTo>
                  <a:lnTo>
                    <a:pt x="524608" y="1092199"/>
                  </a:lnTo>
                  <a:close/>
                </a:path>
                <a:path w="1059180" h="1955800">
                  <a:moveTo>
                    <a:pt x="462575" y="1066799"/>
                  </a:moveTo>
                  <a:lnTo>
                    <a:pt x="437172" y="1066799"/>
                  </a:lnTo>
                  <a:lnTo>
                    <a:pt x="475043" y="1092199"/>
                  </a:lnTo>
                  <a:lnTo>
                    <a:pt x="457962" y="1117599"/>
                  </a:lnTo>
                  <a:lnTo>
                    <a:pt x="474882" y="1117599"/>
                  </a:lnTo>
                  <a:lnTo>
                    <a:pt x="486270" y="1092199"/>
                  </a:lnTo>
                  <a:lnTo>
                    <a:pt x="524608" y="1092199"/>
                  </a:lnTo>
                  <a:lnTo>
                    <a:pt x="462575" y="1066799"/>
                  </a:lnTo>
                  <a:close/>
                </a:path>
                <a:path w="1059180" h="1955800">
                  <a:moveTo>
                    <a:pt x="408009" y="1066799"/>
                  </a:moveTo>
                  <a:lnTo>
                    <a:pt x="388747" y="1066799"/>
                  </a:lnTo>
                  <a:lnTo>
                    <a:pt x="393776" y="1079499"/>
                  </a:lnTo>
                  <a:lnTo>
                    <a:pt x="412288" y="1079499"/>
                  </a:lnTo>
                  <a:lnTo>
                    <a:pt x="408009" y="1066799"/>
                  </a:lnTo>
                  <a:close/>
                </a:path>
                <a:path w="1059180" h="1955800">
                  <a:moveTo>
                    <a:pt x="586213" y="1041399"/>
                  </a:moveTo>
                  <a:lnTo>
                    <a:pt x="570815" y="1041399"/>
                  </a:lnTo>
                  <a:lnTo>
                    <a:pt x="568693" y="1054099"/>
                  </a:lnTo>
                  <a:lnTo>
                    <a:pt x="565323" y="1054099"/>
                  </a:lnTo>
                  <a:lnTo>
                    <a:pt x="561520" y="1066799"/>
                  </a:lnTo>
                  <a:lnTo>
                    <a:pt x="557284" y="1079499"/>
                  </a:lnTo>
                  <a:lnTo>
                    <a:pt x="571439" y="1079499"/>
                  </a:lnTo>
                  <a:lnTo>
                    <a:pt x="575257" y="1066799"/>
                  </a:lnTo>
                  <a:lnTo>
                    <a:pt x="578930" y="1066799"/>
                  </a:lnTo>
                  <a:lnTo>
                    <a:pt x="582460" y="1054099"/>
                  </a:lnTo>
                  <a:lnTo>
                    <a:pt x="586213" y="1041399"/>
                  </a:lnTo>
                  <a:close/>
                </a:path>
                <a:path w="1059180" h="1955800">
                  <a:moveTo>
                    <a:pt x="438008" y="1003299"/>
                  </a:moveTo>
                  <a:lnTo>
                    <a:pt x="428548" y="1003299"/>
                  </a:lnTo>
                  <a:lnTo>
                    <a:pt x="418896" y="1015999"/>
                  </a:lnTo>
                  <a:lnTo>
                    <a:pt x="432879" y="1028699"/>
                  </a:lnTo>
                  <a:lnTo>
                    <a:pt x="445166" y="1041399"/>
                  </a:lnTo>
                  <a:lnTo>
                    <a:pt x="455758" y="1054099"/>
                  </a:lnTo>
                  <a:lnTo>
                    <a:pt x="464654" y="1066799"/>
                  </a:lnTo>
                  <a:lnTo>
                    <a:pt x="468642" y="1054099"/>
                  </a:lnTo>
                  <a:lnTo>
                    <a:pt x="471452" y="1054099"/>
                  </a:lnTo>
                  <a:lnTo>
                    <a:pt x="466775" y="1041399"/>
                  </a:lnTo>
                  <a:lnTo>
                    <a:pt x="461622" y="1041399"/>
                  </a:lnTo>
                  <a:lnTo>
                    <a:pt x="455993" y="1028699"/>
                  </a:lnTo>
                  <a:lnTo>
                    <a:pt x="462779" y="1015999"/>
                  </a:lnTo>
                  <a:lnTo>
                    <a:pt x="442463" y="1015999"/>
                  </a:lnTo>
                  <a:lnTo>
                    <a:pt x="438008" y="1003299"/>
                  </a:lnTo>
                  <a:close/>
                </a:path>
                <a:path w="1059180" h="1955800">
                  <a:moveTo>
                    <a:pt x="528370" y="1028699"/>
                  </a:moveTo>
                  <a:lnTo>
                    <a:pt x="517831" y="1028699"/>
                  </a:lnTo>
                  <a:lnTo>
                    <a:pt x="506180" y="1041399"/>
                  </a:lnTo>
                  <a:lnTo>
                    <a:pt x="479552" y="1041399"/>
                  </a:lnTo>
                  <a:lnTo>
                    <a:pt x="481926" y="1054099"/>
                  </a:lnTo>
                  <a:lnTo>
                    <a:pt x="519001" y="1054099"/>
                  </a:lnTo>
                  <a:lnTo>
                    <a:pt x="530860" y="1041399"/>
                  </a:lnTo>
                  <a:lnTo>
                    <a:pt x="528370" y="1028699"/>
                  </a:lnTo>
                  <a:close/>
                </a:path>
                <a:path w="1059180" h="1955800">
                  <a:moveTo>
                    <a:pt x="507094" y="990599"/>
                  </a:moveTo>
                  <a:lnTo>
                    <a:pt x="476351" y="990599"/>
                  </a:lnTo>
                  <a:lnTo>
                    <a:pt x="505062" y="1003299"/>
                  </a:lnTo>
                  <a:lnTo>
                    <a:pt x="528769" y="1015999"/>
                  </a:lnTo>
                  <a:lnTo>
                    <a:pt x="547472" y="1028699"/>
                  </a:lnTo>
                  <a:lnTo>
                    <a:pt x="561174" y="1028699"/>
                  </a:lnTo>
                  <a:lnTo>
                    <a:pt x="567053" y="1041399"/>
                  </a:lnTo>
                  <a:lnTo>
                    <a:pt x="585473" y="1041399"/>
                  </a:lnTo>
                  <a:lnTo>
                    <a:pt x="580241" y="1028699"/>
                  </a:lnTo>
                  <a:lnTo>
                    <a:pt x="570522" y="1015999"/>
                  </a:lnTo>
                  <a:lnTo>
                    <a:pt x="556763" y="1015999"/>
                  </a:lnTo>
                  <a:lnTo>
                    <a:pt x="535620" y="1003299"/>
                  </a:lnTo>
                  <a:lnTo>
                    <a:pt x="507094" y="990599"/>
                  </a:lnTo>
                  <a:close/>
                </a:path>
                <a:path w="1059180" h="1955800">
                  <a:moveTo>
                    <a:pt x="471182" y="965199"/>
                  </a:moveTo>
                  <a:lnTo>
                    <a:pt x="446735" y="1015999"/>
                  </a:lnTo>
                  <a:lnTo>
                    <a:pt x="462779" y="1015999"/>
                  </a:lnTo>
                  <a:lnTo>
                    <a:pt x="476351" y="990599"/>
                  </a:lnTo>
                  <a:lnTo>
                    <a:pt x="507094" y="990599"/>
                  </a:lnTo>
                  <a:lnTo>
                    <a:pt x="471182" y="965199"/>
                  </a:lnTo>
                  <a:close/>
                </a:path>
                <a:path w="1059180" h="1955800">
                  <a:moveTo>
                    <a:pt x="557961" y="952499"/>
                  </a:moveTo>
                  <a:lnTo>
                    <a:pt x="529742" y="952499"/>
                  </a:lnTo>
                  <a:lnTo>
                    <a:pt x="541031" y="965199"/>
                  </a:lnTo>
                  <a:lnTo>
                    <a:pt x="551316" y="977899"/>
                  </a:lnTo>
                  <a:lnTo>
                    <a:pt x="560596" y="990599"/>
                  </a:lnTo>
                  <a:lnTo>
                    <a:pt x="568871" y="1003299"/>
                  </a:lnTo>
                  <a:lnTo>
                    <a:pt x="583844" y="1003299"/>
                  </a:lnTo>
                  <a:lnTo>
                    <a:pt x="576822" y="990599"/>
                  </a:lnTo>
                  <a:lnTo>
                    <a:pt x="569072" y="977899"/>
                  </a:lnTo>
                  <a:lnTo>
                    <a:pt x="560596" y="977899"/>
                  </a:lnTo>
                  <a:lnTo>
                    <a:pt x="551395" y="965199"/>
                  </a:lnTo>
                  <a:lnTo>
                    <a:pt x="589991" y="965199"/>
                  </a:lnTo>
                  <a:lnTo>
                    <a:pt x="557961" y="952499"/>
                  </a:lnTo>
                  <a:close/>
                </a:path>
                <a:path w="1059180" h="1955800">
                  <a:moveTo>
                    <a:pt x="589991" y="965199"/>
                  </a:moveTo>
                  <a:lnTo>
                    <a:pt x="551395" y="965199"/>
                  </a:lnTo>
                  <a:lnTo>
                    <a:pt x="617016" y="990599"/>
                  </a:lnTo>
                  <a:lnTo>
                    <a:pt x="622020" y="977899"/>
                  </a:lnTo>
                  <a:lnTo>
                    <a:pt x="589991" y="965199"/>
                  </a:lnTo>
                  <a:close/>
                </a:path>
                <a:path w="1059180" h="1955800">
                  <a:moveTo>
                    <a:pt x="535178" y="914399"/>
                  </a:moveTo>
                  <a:lnTo>
                    <a:pt x="525386" y="939799"/>
                  </a:lnTo>
                  <a:lnTo>
                    <a:pt x="504990" y="939799"/>
                  </a:lnTo>
                  <a:lnTo>
                    <a:pt x="504857" y="942082"/>
                  </a:lnTo>
                  <a:lnTo>
                    <a:pt x="520369" y="952499"/>
                  </a:lnTo>
                  <a:lnTo>
                    <a:pt x="508762" y="965199"/>
                  </a:lnTo>
                  <a:lnTo>
                    <a:pt x="518731" y="977899"/>
                  </a:lnTo>
                  <a:lnTo>
                    <a:pt x="529742" y="952499"/>
                  </a:lnTo>
                  <a:lnTo>
                    <a:pt x="554685" y="952499"/>
                  </a:lnTo>
                  <a:lnTo>
                    <a:pt x="535368" y="939799"/>
                  </a:lnTo>
                  <a:lnTo>
                    <a:pt x="545160" y="927099"/>
                  </a:lnTo>
                  <a:lnTo>
                    <a:pt x="535178" y="914399"/>
                  </a:lnTo>
                  <a:close/>
                </a:path>
                <a:path w="1059180" h="1955800">
                  <a:moveTo>
                    <a:pt x="501459" y="939799"/>
                  </a:moveTo>
                  <a:lnTo>
                    <a:pt x="468185" y="939799"/>
                  </a:lnTo>
                  <a:lnTo>
                    <a:pt x="466979" y="952499"/>
                  </a:lnTo>
                  <a:lnTo>
                    <a:pt x="504253" y="952499"/>
                  </a:lnTo>
                  <a:lnTo>
                    <a:pt x="504857" y="942082"/>
                  </a:lnTo>
                  <a:lnTo>
                    <a:pt x="501459" y="939799"/>
                  </a:lnTo>
                  <a:close/>
                </a:path>
                <a:path w="1059180" h="1955800">
                  <a:moveTo>
                    <a:pt x="584740" y="927391"/>
                  </a:moveTo>
                  <a:lnTo>
                    <a:pt x="577992" y="939799"/>
                  </a:lnTo>
                  <a:lnTo>
                    <a:pt x="552818" y="939799"/>
                  </a:lnTo>
                  <a:lnTo>
                    <a:pt x="554685" y="952499"/>
                  </a:lnTo>
                  <a:lnTo>
                    <a:pt x="580230" y="952499"/>
                  </a:lnTo>
                  <a:lnTo>
                    <a:pt x="588429" y="939799"/>
                  </a:lnTo>
                  <a:lnTo>
                    <a:pt x="585016" y="927524"/>
                  </a:lnTo>
                  <a:lnTo>
                    <a:pt x="584740" y="927391"/>
                  </a:lnTo>
                  <a:close/>
                </a:path>
                <a:path w="1059180" h="1955800">
                  <a:moveTo>
                    <a:pt x="663681" y="863599"/>
                  </a:moveTo>
                  <a:lnTo>
                    <a:pt x="631977" y="863599"/>
                  </a:lnTo>
                  <a:lnTo>
                    <a:pt x="604723" y="927099"/>
                  </a:lnTo>
                  <a:lnTo>
                    <a:pt x="584898" y="927099"/>
                  </a:lnTo>
                  <a:lnTo>
                    <a:pt x="585016" y="927524"/>
                  </a:lnTo>
                  <a:lnTo>
                    <a:pt x="636816" y="952499"/>
                  </a:lnTo>
                  <a:lnTo>
                    <a:pt x="642289" y="939799"/>
                  </a:lnTo>
                  <a:lnTo>
                    <a:pt x="614387" y="927099"/>
                  </a:lnTo>
                  <a:lnTo>
                    <a:pt x="641642" y="876299"/>
                  </a:lnTo>
                  <a:lnTo>
                    <a:pt x="667394" y="876299"/>
                  </a:lnTo>
                  <a:lnTo>
                    <a:pt x="663681" y="863599"/>
                  </a:lnTo>
                  <a:close/>
                </a:path>
                <a:path w="1059180" h="1955800">
                  <a:moveTo>
                    <a:pt x="468655" y="914399"/>
                  </a:moveTo>
                  <a:lnTo>
                    <a:pt x="463638" y="914399"/>
                  </a:lnTo>
                  <a:lnTo>
                    <a:pt x="504857" y="942082"/>
                  </a:lnTo>
                  <a:lnTo>
                    <a:pt x="504990" y="939799"/>
                  </a:lnTo>
                  <a:lnTo>
                    <a:pt x="525386" y="939799"/>
                  </a:lnTo>
                  <a:lnTo>
                    <a:pt x="468655" y="914399"/>
                  </a:lnTo>
                  <a:close/>
                </a:path>
                <a:path w="1059180" h="1955800">
                  <a:moveTo>
                    <a:pt x="584898" y="927099"/>
                  </a:moveTo>
                  <a:lnTo>
                    <a:pt x="584740" y="927391"/>
                  </a:lnTo>
                  <a:lnTo>
                    <a:pt x="585016" y="927524"/>
                  </a:lnTo>
                  <a:lnTo>
                    <a:pt x="584898" y="927099"/>
                  </a:lnTo>
                  <a:close/>
                </a:path>
                <a:path w="1059180" h="1955800">
                  <a:moveTo>
                    <a:pt x="595985" y="838199"/>
                  </a:moveTo>
                  <a:lnTo>
                    <a:pt x="557796" y="914399"/>
                  </a:lnTo>
                  <a:lnTo>
                    <a:pt x="584740" y="927391"/>
                  </a:lnTo>
                  <a:lnTo>
                    <a:pt x="584898" y="927099"/>
                  </a:lnTo>
                  <a:lnTo>
                    <a:pt x="604723" y="927099"/>
                  </a:lnTo>
                  <a:lnTo>
                    <a:pt x="593813" y="914399"/>
                  </a:lnTo>
                  <a:lnTo>
                    <a:pt x="584149" y="914399"/>
                  </a:lnTo>
                  <a:lnTo>
                    <a:pt x="573239" y="901699"/>
                  </a:lnTo>
                  <a:lnTo>
                    <a:pt x="600494" y="850899"/>
                  </a:lnTo>
                  <a:lnTo>
                    <a:pt x="626383" y="850899"/>
                  </a:lnTo>
                  <a:lnTo>
                    <a:pt x="595985" y="838199"/>
                  </a:lnTo>
                  <a:close/>
                </a:path>
                <a:path w="1059180" h="1955800">
                  <a:moveTo>
                    <a:pt x="522109" y="914399"/>
                  </a:moveTo>
                  <a:lnTo>
                    <a:pt x="507519" y="914399"/>
                  </a:lnTo>
                  <a:lnTo>
                    <a:pt x="513575" y="927099"/>
                  </a:lnTo>
                  <a:lnTo>
                    <a:pt x="522109" y="914399"/>
                  </a:lnTo>
                  <a:close/>
                </a:path>
                <a:path w="1059180" h="1955800">
                  <a:moveTo>
                    <a:pt x="509601" y="901699"/>
                  </a:moveTo>
                  <a:lnTo>
                    <a:pt x="494394" y="901699"/>
                  </a:lnTo>
                  <a:lnTo>
                    <a:pt x="501126" y="914399"/>
                  </a:lnTo>
                  <a:lnTo>
                    <a:pt x="516020" y="914399"/>
                  </a:lnTo>
                  <a:lnTo>
                    <a:pt x="509601" y="901699"/>
                  </a:lnTo>
                  <a:close/>
                </a:path>
                <a:path w="1059180" h="1955800">
                  <a:moveTo>
                    <a:pt x="581139" y="812799"/>
                  </a:moveTo>
                  <a:lnTo>
                    <a:pt x="560108" y="863599"/>
                  </a:lnTo>
                  <a:lnTo>
                    <a:pt x="543890" y="863599"/>
                  </a:lnTo>
                  <a:lnTo>
                    <a:pt x="554634" y="876299"/>
                  </a:lnTo>
                  <a:lnTo>
                    <a:pt x="535049" y="914399"/>
                  </a:lnTo>
                  <a:lnTo>
                    <a:pt x="544791" y="914399"/>
                  </a:lnTo>
                  <a:lnTo>
                    <a:pt x="590956" y="825499"/>
                  </a:lnTo>
                  <a:lnTo>
                    <a:pt x="581139" y="812799"/>
                  </a:lnTo>
                  <a:close/>
                </a:path>
                <a:path w="1059180" h="1955800">
                  <a:moveTo>
                    <a:pt x="626383" y="850899"/>
                  </a:moveTo>
                  <a:lnTo>
                    <a:pt x="611403" y="850899"/>
                  </a:lnTo>
                  <a:lnTo>
                    <a:pt x="584149" y="914399"/>
                  </a:lnTo>
                  <a:lnTo>
                    <a:pt x="593813" y="914399"/>
                  </a:lnTo>
                  <a:lnTo>
                    <a:pt x="621068" y="863599"/>
                  </a:lnTo>
                  <a:lnTo>
                    <a:pt x="656780" y="863599"/>
                  </a:lnTo>
                  <a:lnTo>
                    <a:pt x="626383" y="850899"/>
                  </a:lnTo>
                  <a:close/>
                </a:path>
                <a:path w="1059180" h="1955800">
                  <a:moveTo>
                    <a:pt x="667921" y="876299"/>
                  </a:moveTo>
                  <a:lnTo>
                    <a:pt x="655586" y="876299"/>
                  </a:lnTo>
                  <a:lnTo>
                    <a:pt x="652297" y="888999"/>
                  </a:lnTo>
                  <a:lnTo>
                    <a:pt x="649804" y="888999"/>
                  </a:lnTo>
                  <a:lnTo>
                    <a:pt x="646880" y="901699"/>
                  </a:lnTo>
                  <a:lnTo>
                    <a:pt x="643528" y="901699"/>
                  </a:lnTo>
                  <a:lnTo>
                    <a:pt x="639749" y="914399"/>
                  </a:lnTo>
                  <a:lnTo>
                    <a:pt x="652881" y="914399"/>
                  </a:lnTo>
                  <a:lnTo>
                    <a:pt x="665264" y="888999"/>
                  </a:lnTo>
                  <a:lnTo>
                    <a:pt x="667921" y="876299"/>
                  </a:lnTo>
                  <a:close/>
                </a:path>
                <a:path w="1059180" h="1955800">
                  <a:moveTo>
                    <a:pt x="495769" y="888999"/>
                  </a:moveTo>
                  <a:lnTo>
                    <a:pt x="487324" y="901699"/>
                  </a:lnTo>
                  <a:lnTo>
                    <a:pt x="502851" y="901699"/>
                  </a:lnTo>
                  <a:lnTo>
                    <a:pt x="495769" y="888999"/>
                  </a:lnTo>
                  <a:close/>
                </a:path>
                <a:path w="1059180" h="1955800">
                  <a:moveTo>
                    <a:pt x="567042" y="812799"/>
                  </a:moveTo>
                  <a:lnTo>
                    <a:pt x="557225" y="812799"/>
                  </a:lnTo>
                  <a:lnTo>
                    <a:pt x="539534" y="850899"/>
                  </a:lnTo>
                  <a:lnTo>
                    <a:pt x="523621" y="850899"/>
                  </a:lnTo>
                  <a:lnTo>
                    <a:pt x="534060" y="863599"/>
                  </a:lnTo>
                  <a:lnTo>
                    <a:pt x="517588" y="888999"/>
                  </a:lnTo>
                  <a:lnTo>
                    <a:pt x="527405" y="901699"/>
                  </a:lnTo>
                  <a:lnTo>
                    <a:pt x="543890" y="863599"/>
                  </a:lnTo>
                  <a:lnTo>
                    <a:pt x="560108" y="863599"/>
                  </a:lnTo>
                  <a:lnTo>
                    <a:pt x="549351" y="850899"/>
                  </a:lnTo>
                  <a:lnTo>
                    <a:pt x="567042" y="812799"/>
                  </a:lnTo>
                  <a:close/>
                </a:path>
                <a:path w="1059180" h="1955800">
                  <a:moveTo>
                    <a:pt x="549059" y="800099"/>
                  </a:moveTo>
                  <a:lnTo>
                    <a:pt x="539242" y="800099"/>
                  </a:lnTo>
                  <a:lnTo>
                    <a:pt x="519264" y="838199"/>
                  </a:lnTo>
                  <a:lnTo>
                    <a:pt x="499770" y="838199"/>
                  </a:lnTo>
                  <a:lnTo>
                    <a:pt x="513803" y="850899"/>
                  </a:lnTo>
                  <a:lnTo>
                    <a:pt x="495350" y="888999"/>
                  </a:lnTo>
                  <a:lnTo>
                    <a:pt x="505167" y="888999"/>
                  </a:lnTo>
                  <a:lnTo>
                    <a:pt x="523621" y="850899"/>
                  </a:lnTo>
                  <a:lnTo>
                    <a:pt x="529094" y="850899"/>
                  </a:lnTo>
                  <a:lnTo>
                    <a:pt x="549059" y="800099"/>
                  </a:lnTo>
                  <a:close/>
                </a:path>
                <a:path w="1059180" h="1955800">
                  <a:moveTo>
                    <a:pt x="636308" y="774699"/>
                  </a:moveTo>
                  <a:lnTo>
                    <a:pt x="617791" y="774699"/>
                  </a:lnTo>
                  <a:lnTo>
                    <a:pt x="668604" y="800099"/>
                  </a:lnTo>
                  <a:lnTo>
                    <a:pt x="660857" y="812799"/>
                  </a:lnTo>
                  <a:lnTo>
                    <a:pt x="622655" y="812799"/>
                  </a:lnTo>
                  <a:lnTo>
                    <a:pt x="623451" y="815120"/>
                  </a:lnTo>
                  <a:lnTo>
                    <a:pt x="677976" y="838199"/>
                  </a:lnTo>
                  <a:lnTo>
                    <a:pt x="682993" y="825499"/>
                  </a:lnTo>
                  <a:lnTo>
                    <a:pt x="671144" y="825499"/>
                  </a:lnTo>
                  <a:lnTo>
                    <a:pt x="683907" y="800099"/>
                  </a:lnTo>
                  <a:lnTo>
                    <a:pt x="636308" y="774699"/>
                  </a:lnTo>
                  <a:close/>
                </a:path>
                <a:path w="1059180" h="1955800">
                  <a:moveTo>
                    <a:pt x="592975" y="774699"/>
                  </a:moveTo>
                  <a:lnTo>
                    <a:pt x="566305" y="774699"/>
                  </a:lnTo>
                  <a:lnTo>
                    <a:pt x="581710" y="787399"/>
                  </a:lnTo>
                  <a:lnTo>
                    <a:pt x="595556" y="800099"/>
                  </a:lnTo>
                  <a:lnTo>
                    <a:pt x="607846" y="812799"/>
                  </a:lnTo>
                  <a:lnTo>
                    <a:pt x="618578" y="825499"/>
                  </a:lnTo>
                  <a:lnTo>
                    <a:pt x="627011" y="825499"/>
                  </a:lnTo>
                  <a:lnTo>
                    <a:pt x="623451" y="815120"/>
                  </a:lnTo>
                  <a:lnTo>
                    <a:pt x="617969" y="812799"/>
                  </a:lnTo>
                  <a:lnTo>
                    <a:pt x="660857" y="812799"/>
                  </a:lnTo>
                  <a:lnTo>
                    <a:pt x="610044" y="787399"/>
                  </a:lnTo>
                  <a:lnTo>
                    <a:pt x="599490" y="787399"/>
                  </a:lnTo>
                  <a:lnTo>
                    <a:pt x="592975" y="774699"/>
                  </a:lnTo>
                  <a:close/>
                </a:path>
                <a:path w="1059180" h="1955800">
                  <a:moveTo>
                    <a:pt x="622655" y="812799"/>
                  </a:moveTo>
                  <a:lnTo>
                    <a:pt x="617969" y="812799"/>
                  </a:lnTo>
                  <a:lnTo>
                    <a:pt x="623451" y="815120"/>
                  </a:lnTo>
                  <a:lnTo>
                    <a:pt x="622655" y="812799"/>
                  </a:lnTo>
                  <a:close/>
                </a:path>
                <a:path w="1059180" h="1955800">
                  <a:moveTo>
                    <a:pt x="583361" y="736599"/>
                  </a:moveTo>
                  <a:lnTo>
                    <a:pt x="572757" y="736599"/>
                  </a:lnTo>
                  <a:lnTo>
                    <a:pt x="545566" y="787399"/>
                  </a:lnTo>
                  <a:lnTo>
                    <a:pt x="556171" y="800099"/>
                  </a:lnTo>
                  <a:lnTo>
                    <a:pt x="566305" y="774699"/>
                  </a:lnTo>
                  <a:lnTo>
                    <a:pt x="586173" y="774699"/>
                  </a:lnTo>
                  <a:lnTo>
                    <a:pt x="579082" y="761999"/>
                  </a:lnTo>
                  <a:lnTo>
                    <a:pt x="571703" y="761999"/>
                  </a:lnTo>
                  <a:lnTo>
                    <a:pt x="583361" y="736599"/>
                  </a:lnTo>
                  <a:close/>
                </a:path>
                <a:path w="1059180" h="1955800">
                  <a:moveTo>
                    <a:pt x="706561" y="787399"/>
                  </a:moveTo>
                  <a:lnTo>
                    <a:pt x="690802" y="787399"/>
                  </a:lnTo>
                  <a:lnTo>
                    <a:pt x="698360" y="800099"/>
                  </a:lnTo>
                  <a:lnTo>
                    <a:pt x="712114" y="800099"/>
                  </a:lnTo>
                  <a:lnTo>
                    <a:pt x="706561" y="787399"/>
                  </a:lnTo>
                  <a:close/>
                </a:path>
                <a:path w="1059180" h="1955800">
                  <a:moveTo>
                    <a:pt x="612508" y="761999"/>
                  </a:moveTo>
                  <a:lnTo>
                    <a:pt x="599490" y="787399"/>
                  </a:lnTo>
                  <a:lnTo>
                    <a:pt x="610044" y="787399"/>
                  </a:lnTo>
                  <a:lnTo>
                    <a:pt x="617791" y="774699"/>
                  </a:lnTo>
                  <a:lnTo>
                    <a:pt x="636308" y="774699"/>
                  </a:lnTo>
                  <a:lnTo>
                    <a:pt x="612508" y="761999"/>
                  </a:lnTo>
                  <a:close/>
                </a:path>
                <a:path w="1059180" h="1955800">
                  <a:moveTo>
                    <a:pt x="673523" y="673099"/>
                  </a:moveTo>
                  <a:lnTo>
                    <a:pt x="647814" y="673099"/>
                  </a:lnTo>
                  <a:lnTo>
                    <a:pt x="669010" y="685799"/>
                  </a:lnTo>
                  <a:lnTo>
                    <a:pt x="656488" y="711199"/>
                  </a:lnTo>
                  <a:lnTo>
                    <a:pt x="629894" y="711199"/>
                  </a:lnTo>
                  <a:lnTo>
                    <a:pt x="651090" y="723899"/>
                  </a:lnTo>
                  <a:lnTo>
                    <a:pt x="639622" y="736599"/>
                  </a:lnTo>
                  <a:lnTo>
                    <a:pt x="606412" y="736599"/>
                  </a:lnTo>
                  <a:lnTo>
                    <a:pt x="647954" y="761999"/>
                  </a:lnTo>
                  <a:lnTo>
                    <a:pt x="665599" y="774699"/>
                  </a:lnTo>
                  <a:lnTo>
                    <a:pt x="679881" y="787399"/>
                  </a:lnTo>
                  <a:lnTo>
                    <a:pt x="699335" y="787399"/>
                  </a:lnTo>
                  <a:lnTo>
                    <a:pt x="690436" y="774699"/>
                  </a:lnTo>
                  <a:lnTo>
                    <a:pt x="679869" y="761999"/>
                  </a:lnTo>
                  <a:lnTo>
                    <a:pt x="670534" y="761999"/>
                  </a:lnTo>
                  <a:lnTo>
                    <a:pt x="659079" y="749299"/>
                  </a:lnTo>
                  <a:lnTo>
                    <a:pt x="649605" y="749299"/>
                  </a:lnTo>
                  <a:lnTo>
                    <a:pt x="661073" y="723899"/>
                  </a:lnTo>
                  <a:lnTo>
                    <a:pt x="687819" y="723899"/>
                  </a:lnTo>
                  <a:lnTo>
                    <a:pt x="666457" y="711199"/>
                  </a:lnTo>
                  <a:lnTo>
                    <a:pt x="678992" y="685799"/>
                  </a:lnTo>
                  <a:lnTo>
                    <a:pt x="704439" y="685799"/>
                  </a:lnTo>
                  <a:lnTo>
                    <a:pt x="673523" y="673099"/>
                  </a:lnTo>
                  <a:close/>
                </a:path>
                <a:path w="1059180" h="1955800">
                  <a:moveTo>
                    <a:pt x="618490" y="660399"/>
                  </a:moveTo>
                  <a:lnTo>
                    <a:pt x="608672" y="660399"/>
                  </a:lnTo>
                  <a:lnTo>
                    <a:pt x="586574" y="698499"/>
                  </a:lnTo>
                  <a:lnTo>
                    <a:pt x="568706" y="698499"/>
                  </a:lnTo>
                  <a:lnTo>
                    <a:pt x="577935" y="711199"/>
                  </a:lnTo>
                  <a:lnTo>
                    <a:pt x="586138" y="723899"/>
                  </a:lnTo>
                  <a:lnTo>
                    <a:pt x="593314" y="736599"/>
                  </a:lnTo>
                  <a:lnTo>
                    <a:pt x="599465" y="761999"/>
                  </a:lnTo>
                  <a:lnTo>
                    <a:pt x="604037" y="761999"/>
                  </a:lnTo>
                  <a:lnTo>
                    <a:pt x="608139" y="749299"/>
                  </a:lnTo>
                  <a:lnTo>
                    <a:pt x="608291" y="749299"/>
                  </a:lnTo>
                  <a:lnTo>
                    <a:pt x="606412" y="736599"/>
                  </a:lnTo>
                  <a:lnTo>
                    <a:pt x="603999" y="736599"/>
                  </a:lnTo>
                  <a:lnTo>
                    <a:pt x="600798" y="723899"/>
                  </a:lnTo>
                  <a:lnTo>
                    <a:pt x="597293" y="723899"/>
                  </a:lnTo>
                  <a:lnTo>
                    <a:pt x="593471" y="711199"/>
                  </a:lnTo>
                  <a:lnTo>
                    <a:pt x="599583" y="698499"/>
                  </a:lnTo>
                  <a:lnTo>
                    <a:pt x="580123" y="698499"/>
                  </a:lnTo>
                  <a:lnTo>
                    <a:pt x="576656" y="685799"/>
                  </a:lnTo>
                  <a:lnTo>
                    <a:pt x="605696" y="685799"/>
                  </a:lnTo>
                  <a:lnTo>
                    <a:pt x="611809" y="673099"/>
                  </a:lnTo>
                  <a:lnTo>
                    <a:pt x="623544" y="673099"/>
                  </a:lnTo>
                  <a:lnTo>
                    <a:pt x="618490" y="660399"/>
                  </a:lnTo>
                  <a:close/>
                </a:path>
                <a:path w="1059180" h="1955800">
                  <a:moveTo>
                    <a:pt x="704439" y="685799"/>
                  </a:moveTo>
                  <a:lnTo>
                    <a:pt x="678992" y="685799"/>
                  </a:lnTo>
                  <a:lnTo>
                    <a:pt x="700341" y="698499"/>
                  </a:lnTo>
                  <a:lnTo>
                    <a:pt x="687819" y="723899"/>
                  </a:lnTo>
                  <a:lnTo>
                    <a:pt x="661073" y="723899"/>
                  </a:lnTo>
                  <a:lnTo>
                    <a:pt x="682421" y="736599"/>
                  </a:lnTo>
                  <a:lnTo>
                    <a:pt x="670534" y="761999"/>
                  </a:lnTo>
                  <a:lnTo>
                    <a:pt x="679869" y="761999"/>
                  </a:lnTo>
                  <a:lnTo>
                    <a:pt x="692404" y="736599"/>
                  </a:lnTo>
                  <a:lnTo>
                    <a:pt x="715168" y="736599"/>
                  </a:lnTo>
                  <a:lnTo>
                    <a:pt x="697788" y="723899"/>
                  </a:lnTo>
                  <a:lnTo>
                    <a:pt x="710323" y="698499"/>
                  </a:lnTo>
                  <a:lnTo>
                    <a:pt x="735355" y="698499"/>
                  </a:lnTo>
                  <a:lnTo>
                    <a:pt x="704439" y="685799"/>
                  </a:lnTo>
                  <a:close/>
                </a:path>
                <a:path w="1059180" h="1955800">
                  <a:moveTo>
                    <a:pt x="715168" y="736599"/>
                  </a:moveTo>
                  <a:lnTo>
                    <a:pt x="692404" y="736599"/>
                  </a:lnTo>
                  <a:lnTo>
                    <a:pt x="727163" y="761999"/>
                  </a:lnTo>
                  <a:lnTo>
                    <a:pt x="732548" y="749299"/>
                  </a:lnTo>
                  <a:lnTo>
                    <a:pt x="715168" y="736599"/>
                  </a:lnTo>
                  <a:close/>
                </a:path>
                <a:path w="1059180" h="1955800">
                  <a:moveTo>
                    <a:pt x="623544" y="673099"/>
                  </a:moveTo>
                  <a:lnTo>
                    <a:pt x="611809" y="673099"/>
                  </a:lnTo>
                  <a:lnTo>
                    <a:pt x="622223" y="698499"/>
                  </a:lnTo>
                  <a:lnTo>
                    <a:pt x="603999" y="736599"/>
                  </a:lnTo>
                  <a:lnTo>
                    <a:pt x="618426" y="736599"/>
                  </a:lnTo>
                  <a:lnTo>
                    <a:pt x="629894" y="711199"/>
                  </a:lnTo>
                  <a:lnTo>
                    <a:pt x="656488" y="711199"/>
                  </a:lnTo>
                  <a:lnTo>
                    <a:pt x="635292" y="698499"/>
                  </a:lnTo>
                  <a:lnTo>
                    <a:pt x="641553" y="685799"/>
                  </a:lnTo>
                  <a:lnTo>
                    <a:pt x="628599" y="685799"/>
                  </a:lnTo>
                  <a:lnTo>
                    <a:pt x="623544" y="673099"/>
                  </a:lnTo>
                  <a:close/>
                </a:path>
                <a:path w="1059180" h="1955800">
                  <a:moveTo>
                    <a:pt x="742365" y="723899"/>
                  </a:moveTo>
                  <a:lnTo>
                    <a:pt x="728611" y="723899"/>
                  </a:lnTo>
                  <a:lnTo>
                    <a:pt x="725309" y="736599"/>
                  </a:lnTo>
                  <a:lnTo>
                    <a:pt x="739952" y="736599"/>
                  </a:lnTo>
                  <a:lnTo>
                    <a:pt x="742365" y="723899"/>
                  </a:lnTo>
                  <a:close/>
                </a:path>
                <a:path w="1059180" h="1955800">
                  <a:moveTo>
                    <a:pt x="747117" y="711199"/>
                  </a:moveTo>
                  <a:lnTo>
                    <a:pt x="734720" y="711199"/>
                  </a:lnTo>
                  <a:lnTo>
                    <a:pt x="730973" y="723899"/>
                  </a:lnTo>
                  <a:lnTo>
                    <a:pt x="745045" y="723899"/>
                  </a:lnTo>
                  <a:lnTo>
                    <a:pt x="747117" y="711199"/>
                  </a:lnTo>
                  <a:close/>
                </a:path>
                <a:path w="1059180" h="1955800">
                  <a:moveTo>
                    <a:pt x="735355" y="698499"/>
                  </a:moveTo>
                  <a:lnTo>
                    <a:pt x="710323" y="698499"/>
                  </a:lnTo>
                  <a:lnTo>
                    <a:pt x="733336" y="711199"/>
                  </a:lnTo>
                  <a:lnTo>
                    <a:pt x="742270" y="711199"/>
                  </a:lnTo>
                  <a:lnTo>
                    <a:pt x="735355" y="698499"/>
                  </a:lnTo>
                  <a:close/>
                </a:path>
                <a:path w="1059180" h="1955800">
                  <a:moveTo>
                    <a:pt x="753351" y="673099"/>
                  </a:moveTo>
                  <a:lnTo>
                    <a:pt x="739079" y="673099"/>
                  </a:lnTo>
                  <a:lnTo>
                    <a:pt x="744728" y="698499"/>
                  </a:lnTo>
                  <a:lnTo>
                    <a:pt x="760780" y="698499"/>
                  </a:lnTo>
                  <a:lnTo>
                    <a:pt x="756680" y="685799"/>
                  </a:lnTo>
                  <a:lnTo>
                    <a:pt x="753351" y="673099"/>
                  </a:lnTo>
                  <a:close/>
                </a:path>
                <a:path w="1059180" h="1955800">
                  <a:moveTo>
                    <a:pt x="642607" y="660399"/>
                  </a:moveTo>
                  <a:lnTo>
                    <a:pt x="628599" y="685799"/>
                  </a:lnTo>
                  <a:lnTo>
                    <a:pt x="641553" y="685799"/>
                  </a:lnTo>
                  <a:lnTo>
                    <a:pt x="647814" y="673099"/>
                  </a:lnTo>
                  <a:lnTo>
                    <a:pt x="673523" y="673099"/>
                  </a:lnTo>
                  <a:lnTo>
                    <a:pt x="642607" y="660399"/>
                  </a:lnTo>
                  <a:close/>
                </a:path>
                <a:path w="1059180" h="1955800">
                  <a:moveTo>
                    <a:pt x="710533" y="634999"/>
                  </a:moveTo>
                  <a:lnTo>
                    <a:pt x="682904" y="634999"/>
                  </a:lnTo>
                  <a:lnTo>
                    <a:pt x="735355" y="660399"/>
                  </a:lnTo>
                  <a:lnTo>
                    <a:pt x="736977" y="673099"/>
                  </a:lnTo>
                  <a:lnTo>
                    <a:pt x="750793" y="673099"/>
                  </a:lnTo>
                  <a:lnTo>
                    <a:pt x="749007" y="660399"/>
                  </a:lnTo>
                  <a:lnTo>
                    <a:pt x="770031" y="660399"/>
                  </a:lnTo>
                  <a:lnTo>
                    <a:pt x="778938" y="647699"/>
                  </a:lnTo>
                  <a:lnTo>
                    <a:pt x="743851" y="647699"/>
                  </a:lnTo>
                  <a:lnTo>
                    <a:pt x="710533" y="634999"/>
                  </a:lnTo>
                  <a:close/>
                </a:path>
                <a:path w="1059180" h="1955800">
                  <a:moveTo>
                    <a:pt x="677214" y="622299"/>
                  </a:moveTo>
                  <a:lnTo>
                    <a:pt x="662330" y="647699"/>
                  </a:lnTo>
                  <a:lnTo>
                    <a:pt x="673874" y="660399"/>
                  </a:lnTo>
                  <a:lnTo>
                    <a:pt x="682904" y="634999"/>
                  </a:lnTo>
                  <a:lnTo>
                    <a:pt x="710533" y="634999"/>
                  </a:lnTo>
                  <a:lnTo>
                    <a:pt x="677214" y="622299"/>
                  </a:lnTo>
                  <a:close/>
                </a:path>
                <a:path w="1059180" h="1955800">
                  <a:moveTo>
                    <a:pt x="818807" y="533399"/>
                  </a:moveTo>
                  <a:lnTo>
                    <a:pt x="791946" y="596899"/>
                  </a:lnTo>
                  <a:lnTo>
                    <a:pt x="775766" y="622299"/>
                  </a:lnTo>
                  <a:lnTo>
                    <a:pt x="769313" y="634999"/>
                  </a:lnTo>
                  <a:lnTo>
                    <a:pt x="761842" y="647699"/>
                  </a:lnTo>
                  <a:lnTo>
                    <a:pt x="778938" y="647699"/>
                  </a:lnTo>
                  <a:lnTo>
                    <a:pt x="786777" y="634999"/>
                  </a:lnTo>
                  <a:lnTo>
                    <a:pt x="803148" y="596899"/>
                  </a:lnTo>
                  <a:lnTo>
                    <a:pt x="828992" y="546099"/>
                  </a:lnTo>
                  <a:lnTo>
                    <a:pt x="821677" y="546099"/>
                  </a:lnTo>
                  <a:lnTo>
                    <a:pt x="818807" y="533399"/>
                  </a:lnTo>
                  <a:close/>
                </a:path>
                <a:path w="1059180" h="1955800">
                  <a:moveTo>
                    <a:pt x="734542" y="584199"/>
                  </a:moveTo>
                  <a:lnTo>
                    <a:pt x="716330" y="584199"/>
                  </a:lnTo>
                  <a:lnTo>
                    <a:pt x="721550" y="596899"/>
                  </a:lnTo>
                  <a:lnTo>
                    <a:pt x="728687" y="596899"/>
                  </a:lnTo>
                  <a:lnTo>
                    <a:pt x="737674" y="609599"/>
                  </a:lnTo>
                  <a:lnTo>
                    <a:pt x="743810" y="609599"/>
                  </a:lnTo>
                  <a:lnTo>
                    <a:pt x="747093" y="622299"/>
                  </a:lnTo>
                  <a:lnTo>
                    <a:pt x="747522" y="634999"/>
                  </a:lnTo>
                  <a:lnTo>
                    <a:pt x="761771" y="634999"/>
                  </a:lnTo>
                  <a:lnTo>
                    <a:pt x="760619" y="622299"/>
                  </a:lnTo>
                  <a:lnTo>
                    <a:pt x="755696" y="609599"/>
                  </a:lnTo>
                  <a:lnTo>
                    <a:pt x="747003" y="596899"/>
                  </a:lnTo>
                  <a:lnTo>
                    <a:pt x="734542" y="584199"/>
                  </a:lnTo>
                  <a:close/>
                </a:path>
                <a:path w="1059180" h="1955800">
                  <a:moveTo>
                    <a:pt x="658863" y="596899"/>
                  </a:moveTo>
                  <a:lnTo>
                    <a:pt x="646399" y="596899"/>
                  </a:lnTo>
                  <a:lnTo>
                    <a:pt x="635563" y="609599"/>
                  </a:lnTo>
                  <a:lnTo>
                    <a:pt x="618769" y="609599"/>
                  </a:lnTo>
                  <a:lnTo>
                    <a:pt x="620610" y="622299"/>
                  </a:lnTo>
                  <a:lnTo>
                    <a:pt x="648993" y="622299"/>
                  </a:lnTo>
                  <a:lnTo>
                    <a:pt x="661263" y="609599"/>
                  </a:lnTo>
                  <a:lnTo>
                    <a:pt x="658863" y="596899"/>
                  </a:lnTo>
                  <a:close/>
                </a:path>
                <a:path w="1059180" h="1955800">
                  <a:moveTo>
                    <a:pt x="756081" y="507999"/>
                  </a:moveTo>
                  <a:lnTo>
                    <a:pt x="745337" y="507999"/>
                  </a:lnTo>
                  <a:lnTo>
                    <a:pt x="721868" y="546099"/>
                  </a:lnTo>
                  <a:lnTo>
                    <a:pt x="689914" y="546099"/>
                  </a:lnTo>
                  <a:lnTo>
                    <a:pt x="715949" y="558799"/>
                  </a:lnTo>
                  <a:lnTo>
                    <a:pt x="690803" y="609599"/>
                  </a:lnTo>
                  <a:lnTo>
                    <a:pt x="701560" y="622299"/>
                  </a:lnTo>
                  <a:lnTo>
                    <a:pt x="716330" y="584199"/>
                  </a:lnTo>
                  <a:lnTo>
                    <a:pt x="722109" y="584199"/>
                  </a:lnTo>
                  <a:lnTo>
                    <a:pt x="732320" y="558799"/>
                  </a:lnTo>
                  <a:lnTo>
                    <a:pt x="777024" y="558799"/>
                  </a:lnTo>
                  <a:lnTo>
                    <a:pt x="738162" y="546099"/>
                  </a:lnTo>
                  <a:lnTo>
                    <a:pt x="756081" y="507999"/>
                  </a:lnTo>
                  <a:close/>
                </a:path>
                <a:path w="1059180" h="1955800">
                  <a:moveTo>
                    <a:pt x="663460" y="558799"/>
                  </a:moveTo>
                  <a:lnTo>
                    <a:pt x="644067" y="558799"/>
                  </a:lnTo>
                  <a:lnTo>
                    <a:pt x="655157" y="571499"/>
                  </a:lnTo>
                  <a:lnTo>
                    <a:pt x="665281" y="584199"/>
                  </a:lnTo>
                  <a:lnTo>
                    <a:pt x="674441" y="596899"/>
                  </a:lnTo>
                  <a:lnTo>
                    <a:pt x="682637" y="609599"/>
                  </a:lnTo>
                  <a:lnTo>
                    <a:pt x="686841" y="596899"/>
                  </a:lnTo>
                  <a:lnTo>
                    <a:pt x="689959" y="596899"/>
                  </a:lnTo>
                  <a:lnTo>
                    <a:pt x="686014" y="584199"/>
                  </a:lnTo>
                  <a:lnTo>
                    <a:pt x="681733" y="584199"/>
                  </a:lnTo>
                  <a:lnTo>
                    <a:pt x="677113" y="571499"/>
                  </a:lnTo>
                  <a:lnTo>
                    <a:pt x="668261" y="571499"/>
                  </a:lnTo>
                  <a:lnTo>
                    <a:pt x="663460" y="558799"/>
                  </a:lnTo>
                  <a:close/>
                </a:path>
                <a:path w="1059180" h="1955800">
                  <a:moveTo>
                    <a:pt x="715657" y="495299"/>
                  </a:moveTo>
                  <a:lnTo>
                    <a:pt x="704900" y="495299"/>
                  </a:lnTo>
                  <a:lnTo>
                    <a:pt x="685076" y="533399"/>
                  </a:lnTo>
                  <a:lnTo>
                    <a:pt x="652030" y="533399"/>
                  </a:lnTo>
                  <a:lnTo>
                    <a:pt x="679157" y="546099"/>
                  </a:lnTo>
                  <a:lnTo>
                    <a:pt x="668261" y="571499"/>
                  </a:lnTo>
                  <a:lnTo>
                    <a:pt x="677113" y="571499"/>
                  </a:lnTo>
                  <a:lnTo>
                    <a:pt x="689914" y="546099"/>
                  </a:lnTo>
                  <a:lnTo>
                    <a:pt x="721868" y="546099"/>
                  </a:lnTo>
                  <a:lnTo>
                    <a:pt x="695833" y="533399"/>
                  </a:lnTo>
                  <a:lnTo>
                    <a:pt x="685076" y="533399"/>
                  </a:lnTo>
                  <a:lnTo>
                    <a:pt x="657961" y="520699"/>
                  </a:lnTo>
                  <a:lnTo>
                    <a:pt x="702441" y="520699"/>
                  </a:lnTo>
                  <a:lnTo>
                    <a:pt x="715657" y="495299"/>
                  </a:lnTo>
                  <a:close/>
                </a:path>
                <a:path w="1059180" h="1955800">
                  <a:moveTo>
                    <a:pt x="797905" y="533399"/>
                  </a:moveTo>
                  <a:lnTo>
                    <a:pt x="783310" y="533399"/>
                  </a:lnTo>
                  <a:lnTo>
                    <a:pt x="787946" y="546099"/>
                  </a:lnTo>
                  <a:lnTo>
                    <a:pt x="789101" y="546099"/>
                  </a:lnTo>
                  <a:lnTo>
                    <a:pt x="780897" y="558799"/>
                  </a:lnTo>
                  <a:lnTo>
                    <a:pt x="732320" y="558799"/>
                  </a:lnTo>
                  <a:lnTo>
                    <a:pt x="766914" y="571499"/>
                  </a:lnTo>
                  <a:lnTo>
                    <a:pt x="792429" y="571499"/>
                  </a:lnTo>
                  <a:lnTo>
                    <a:pt x="798055" y="558799"/>
                  </a:lnTo>
                  <a:lnTo>
                    <a:pt x="800515" y="546099"/>
                  </a:lnTo>
                  <a:lnTo>
                    <a:pt x="797905" y="533399"/>
                  </a:lnTo>
                  <a:close/>
                </a:path>
                <a:path w="1059180" h="1955800">
                  <a:moveTo>
                    <a:pt x="788403" y="520699"/>
                  </a:moveTo>
                  <a:lnTo>
                    <a:pt x="768781" y="520699"/>
                  </a:lnTo>
                  <a:lnTo>
                    <a:pt x="765759" y="533399"/>
                  </a:lnTo>
                  <a:lnTo>
                    <a:pt x="792835" y="533399"/>
                  </a:lnTo>
                  <a:lnTo>
                    <a:pt x="788403" y="520699"/>
                  </a:lnTo>
                  <a:close/>
                </a:path>
                <a:path w="1059180" h="1955800">
                  <a:moveTo>
                    <a:pt x="769797" y="431799"/>
                  </a:moveTo>
                  <a:lnTo>
                    <a:pt x="789235" y="469899"/>
                  </a:lnTo>
                  <a:lnTo>
                    <a:pt x="820229" y="495299"/>
                  </a:lnTo>
                  <a:lnTo>
                    <a:pt x="817693" y="495299"/>
                  </a:lnTo>
                  <a:lnTo>
                    <a:pt x="812549" y="520699"/>
                  </a:lnTo>
                  <a:lnTo>
                    <a:pt x="809942" y="520699"/>
                  </a:lnTo>
                  <a:lnTo>
                    <a:pt x="823696" y="533399"/>
                  </a:lnTo>
                  <a:lnTo>
                    <a:pt x="827709" y="507999"/>
                  </a:lnTo>
                  <a:lnTo>
                    <a:pt x="831938" y="495299"/>
                  </a:lnTo>
                  <a:lnTo>
                    <a:pt x="836387" y="482599"/>
                  </a:lnTo>
                  <a:lnTo>
                    <a:pt x="823849" y="482599"/>
                  </a:lnTo>
                  <a:lnTo>
                    <a:pt x="783190" y="444499"/>
                  </a:lnTo>
                  <a:lnTo>
                    <a:pt x="769797" y="431799"/>
                  </a:lnTo>
                  <a:close/>
                </a:path>
                <a:path w="1059180" h="1955800">
                  <a:moveTo>
                    <a:pt x="804316" y="482599"/>
                  </a:moveTo>
                  <a:lnTo>
                    <a:pt x="759452" y="482599"/>
                  </a:lnTo>
                  <a:lnTo>
                    <a:pt x="773582" y="495299"/>
                  </a:lnTo>
                  <a:lnTo>
                    <a:pt x="801814" y="495299"/>
                  </a:lnTo>
                  <a:lnTo>
                    <a:pt x="804316" y="482599"/>
                  </a:lnTo>
                  <a:close/>
                </a:path>
                <a:path w="1059180" h="1955800">
                  <a:moveTo>
                    <a:pt x="760768" y="419099"/>
                  </a:moveTo>
                  <a:lnTo>
                    <a:pt x="749858" y="419099"/>
                  </a:lnTo>
                  <a:lnTo>
                    <a:pt x="718566" y="482599"/>
                  </a:lnTo>
                  <a:lnTo>
                    <a:pt x="729475" y="482599"/>
                  </a:lnTo>
                  <a:lnTo>
                    <a:pt x="760768" y="419099"/>
                  </a:lnTo>
                  <a:close/>
                </a:path>
                <a:path w="1059180" h="1955800">
                  <a:moveTo>
                    <a:pt x="747750" y="469899"/>
                  </a:moveTo>
                  <a:lnTo>
                    <a:pt x="745312" y="482599"/>
                  </a:lnTo>
                  <a:lnTo>
                    <a:pt x="761537" y="482599"/>
                  </a:lnTo>
                  <a:lnTo>
                    <a:pt x="747750" y="469899"/>
                  </a:lnTo>
                  <a:close/>
                </a:path>
                <a:path w="1059180" h="1955800">
                  <a:moveTo>
                    <a:pt x="841057" y="457199"/>
                  </a:moveTo>
                  <a:lnTo>
                    <a:pt x="827405" y="457199"/>
                  </a:lnTo>
                  <a:lnTo>
                    <a:pt x="823849" y="482599"/>
                  </a:lnTo>
                  <a:lnTo>
                    <a:pt x="836387" y="482599"/>
                  </a:lnTo>
                  <a:lnTo>
                    <a:pt x="841057" y="457199"/>
                  </a:lnTo>
                  <a:close/>
                </a:path>
                <a:path w="1059180" h="1955800">
                  <a:moveTo>
                    <a:pt x="803973" y="330199"/>
                  </a:moveTo>
                  <a:lnTo>
                    <a:pt x="792137" y="330199"/>
                  </a:lnTo>
                  <a:lnTo>
                    <a:pt x="771017" y="368299"/>
                  </a:lnTo>
                  <a:lnTo>
                    <a:pt x="732840" y="368299"/>
                  </a:lnTo>
                  <a:lnTo>
                    <a:pt x="811237" y="406399"/>
                  </a:lnTo>
                  <a:lnTo>
                    <a:pt x="796810" y="431799"/>
                  </a:lnTo>
                  <a:lnTo>
                    <a:pt x="871474" y="469899"/>
                  </a:lnTo>
                  <a:lnTo>
                    <a:pt x="877239" y="457199"/>
                  </a:lnTo>
                  <a:lnTo>
                    <a:pt x="868044" y="457199"/>
                  </a:lnTo>
                  <a:lnTo>
                    <a:pt x="874499" y="444499"/>
                  </a:lnTo>
                  <a:lnTo>
                    <a:pt x="857135" y="444499"/>
                  </a:lnTo>
                  <a:lnTo>
                    <a:pt x="813498" y="431799"/>
                  </a:lnTo>
                  <a:lnTo>
                    <a:pt x="828989" y="393699"/>
                  </a:lnTo>
                  <a:lnTo>
                    <a:pt x="817308" y="393699"/>
                  </a:lnTo>
                  <a:lnTo>
                    <a:pt x="782866" y="380999"/>
                  </a:lnTo>
                  <a:lnTo>
                    <a:pt x="788142" y="368299"/>
                  </a:lnTo>
                  <a:lnTo>
                    <a:pt x="771017" y="368299"/>
                  </a:lnTo>
                  <a:lnTo>
                    <a:pt x="738911" y="355599"/>
                  </a:lnTo>
                  <a:lnTo>
                    <a:pt x="793419" y="355599"/>
                  </a:lnTo>
                  <a:lnTo>
                    <a:pt x="803973" y="330199"/>
                  </a:lnTo>
                  <a:close/>
                </a:path>
                <a:path w="1059180" h="1955800">
                  <a:moveTo>
                    <a:pt x="729805" y="431799"/>
                  </a:moveTo>
                  <a:lnTo>
                    <a:pt x="697788" y="431799"/>
                  </a:lnTo>
                  <a:lnTo>
                    <a:pt x="697230" y="444499"/>
                  </a:lnTo>
                  <a:lnTo>
                    <a:pt x="729411" y="444499"/>
                  </a:lnTo>
                  <a:lnTo>
                    <a:pt x="729805" y="431799"/>
                  </a:lnTo>
                  <a:close/>
                </a:path>
                <a:path w="1059180" h="1955800">
                  <a:moveTo>
                    <a:pt x="859061" y="368299"/>
                  </a:moveTo>
                  <a:lnTo>
                    <a:pt x="839317" y="368299"/>
                  </a:lnTo>
                  <a:lnTo>
                    <a:pt x="882954" y="393699"/>
                  </a:lnTo>
                  <a:lnTo>
                    <a:pt x="857135" y="444499"/>
                  </a:lnTo>
                  <a:lnTo>
                    <a:pt x="874499" y="444499"/>
                  </a:lnTo>
                  <a:lnTo>
                    <a:pt x="893864" y="406399"/>
                  </a:lnTo>
                  <a:lnTo>
                    <a:pt x="903058" y="406399"/>
                  </a:lnTo>
                  <a:lnTo>
                    <a:pt x="908837" y="393699"/>
                  </a:lnTo>
                  <a:lnTo>
                    <a:pt x="859061" y="368299"/>
                  </a:lnTo>
                  <a:close/>
                </a:path>
                <a:path w="1059180" h="1955800">
                  <a:moveTo>
                    <a:pt x="834174" y="355599"/>
                  </a:moveTo>
                  <a:lnTo>
                    <a:pt x="817308" y="393699"/>
                  </a:lnTo>
                  <a:lnTo>
                    <a:pt x="828989" y="393699"/>
                  </a:lnTo>
                  <a:lnTo>
                    <a:pt x="839317" y="368299"/>
                  </a:lnTo>
                  <a:lnTo>
                    <a:pt x="859061" y="368299"/>
                  </a:lnTo>
                  <a:lnTo>
                    <a:pt x="834174" y="355599"/>
                  </a:lnTo>
                  <a:close/>
                </a:path>
                <a:path w="1059180" h="1955800">
                  <a:moveTo>
                    <a:pt x="901331" y="317499"/>
                  </a:moveTo>
                  <a:lnTo>
                    <a:pt x="888441" y="317499"/>
                  </a:lnTo>
                  <a:lnTo>
                    <a:pt x="892791" y="330199"/>
                  </a:lnTo>
                  <a:lnTo>
                    <a:pt x="896470" y="342899"/>
                  </a:lnTo>
                  <a:lnTo>
                    <a:pt x="899478" y="355599"/>
                  </a:lnTo>
                  <a:lnTo>
                    <a:pt x="901814" y="380999"/>
                  </a:lnTo>
                  <a:lnTo>
                    <a:pt x="906716" y="368299"/>
                  </a:lnTo>
                  <a:lnTo>
                    <a:pt x="915504" y="368299"/>
                  </a:lnTo>
                  <a:lnTo>
                    <a:pt x="912375" y="355599"/>
                  </a:lnTo>
                  <a:lnTo>
                    <a:pt x="908970" y="342899"/>
                  </a:lnTo>
                  <a:lnTo>
                    <a:pt x="905289" y="330199"/>
                  </a:lnTo>
                  <a:lnTo>
                    <a:pt x="901331" y="317499"/>
                  </a:lnTo>
                  <a:close/>
                </a:path>
                <a:path w="1059180" h="1955800">
                  <a:moveTo>
                    <a:pt x="870887" y="253999"/>
                  </a:moveTo>
                  <a:lnTo>
                    <a:pt x="859142" y="253999"/>
                  </a:lnTo>
                  <a:lnTo>
                    <a:pt x="859978" y="266699"/>
                  </a:lnTo>
                  <a:lnTo>
                    <a:pt x="860583" y="292099"/>
                  </a:lnTo>
                  <a:lnTo>
                    <a:pt x="860960" y="304799"/>
                  </a:lnTo>
                  <a:lnTo>
                    <a:pt x="861110" y="317499"/>
                  </a:lnTo>
                  <a:lnTo>
                    <a:pt x="860932" y="317499"/>
                  </a:lnTo>
                  <a:lnTo>
                    <a:pt x="859790" y="330199"/>
                  </a:lnTo>
                  <a:lnTo>
                    <a:pt x="857694" y="342899"/>
                  </a:lnTo>
                  <a:lnTo>
                    <a:pt x="873607" y="342899"/>
                  </a:lnTo>
                  <a:lnTo>
                    <a:pt x="875411" y="330199"/>
                  </a:lnTo>
                  <a:lnTo>
                    <a:pt x="877595" y="330199"/>
                  </a:lnTo>
                  <a:lnTo>
                    <a:pt x="880160" y="317499"/>
                  </a:lnTo>
                  <a:lnTo>
                    <a:pt x="888485" y="304799"/>
                  </a:lnTo>
                  <a:lnTo>
                    <a:pt x="871969" y="304799"/>
                  </a:lnTo>
                  <a:lnTo>
                    <a:pt x="871888" y="292099"/>
                  </a:lnTo>
                  <a:lnTo>
                    <a:pt x="871807" y="279399"/>
                  </a:lnTo>
                  <a:lnTo>
                    <a:pt x="870887" y="253999"/>
                  </a:lnTo>
                  <a:close/>
                </a:path>
                <a:path w="1059180" h="1955800">
                  <a:moveTo>
                    <a:pt x="943279" y="317499"/>
                  </a:moveTo>
                  <a:lnTo>
                    <a:pt x="927074" y="317499"/>
                  </a:lnTo>
                  <a:lnTo>
                    <a:pt x="921893" y="330199"/>
                  </a:lnTo>
                  <a:lnTo>
                    <a:pt x="939914" y="330199"/>
                  </a:lnTo>
                  <a:lnTo>
                    <a:pt x="943279" y="317499"/>
                  </a:lnTo>
                  <a:close/>
                </a:path>
                <a:path w="1059180" h="1955800">
                  <a:moveTo>
                    <a:pt x="828896" y="253999"/>
                  </a:moveTo>
                  <a:lnTo>
                    <a:pt x="815581" y="253999"/>
                  </a:lnTo>
                  <a:lnTo>
                    <a:pt x="817993" y="266699"/>
                  </a:lnTo>
                  <a:lnTo>
                    <a:pt x="819913" y="279399"/>
                  </a:lnTo>
                  <a:lnTo>
                    <a:pt x="821340" y="292099"/>
                  </a:lnTo>
                  <a:lnTo>
                    <a:pt x="822274" y="304799"/>
                  </a:lnTo>
                  <a:lnTo>
                    <a:pt x="822540" y="304799"/>
                  </a:lnTo>
                  <a:lnTo>
                    <a:pt x="822083" y="317499"/>
                  </a:lnTo>
                  <a:lnTo>
                    <a:pt x="838593" y="317499"/>
                  </a:lnTo>
                  <a:lnTo>
                    <a:pt x="840714" y="304799"/>
                  </a:lnTo>
                  <a:lnTo>
                    <a:pt x="844610" y="292099"/>
                  </a:lnTo>
                  <a:lnTo>
                    <a:pt x="832446" y="292099"/>
                  </a:lnTo>
                  <a:lnTo>
                    <a:pt x="831677" y="279399"/>
                  </a:lnTo>
                  <a:lnTo>
                    <a:pt x="830494" y="266699"/>
                  </a:lnTo>
                  <a:lnTo>
                    <a:pt x="828896" y="253999"/>
                  </a:lnTo>
                  <a:close/>
                </a:path>
                <a:path w="1059180" h="1955800">
                  <a:moveTo>
                    <a:pt x="937107" y="279399"/>
                  </a:moveTo>
                  <a:lnTo>
                    <a:pt x="896734" y="279399"/>
                  </a:lnTo>
                  <a:lnTo>
                    <a:pt x="934453" y="304799"/>
                  </a:lnTo>
                  <a:lnTo>
                    <a:pt x="935875" y="304799"/>
                  </a:lnTo>
                  <a:lnTo>
                    <a:pt x="930808" y="317499"/>
                  </a:lnTo>
                  <a:lnTo>
                    <a:pt x="945769" y="317499"/>
                  </a:lnTo>
                  <a:lnTo>
                    <a:pt x="948642" y="304799"/>
                  </a:lnTo>
                  <a:lnTo>
                    <a:pt x="948158" y="292099"/>
                  </a:lnTo>
                  <a:lnTo>
                    <a:pt x="944313" y="292099"/>
                  </a:lnTo>
                  <a:lnTo>
                    <a:pt x="937107" y="279399"/>
                  </a:lnTo>
                  <a:close/>
                </a:path>
                <a:path w="1059180" h="1955800">
                  <a:moveTo>
                    <a:pt x="847750" y="165100"/>
                  </a:moveTo>
                  <a:lnTo>
                    <a:pt x="835545" y="165100"/>
                  </a:lnTo>
                  <a:lnTo>
                    <a:pt x="823689" y="203199"/>
                  </a:lnTo>
                  <a:lnTo>
                    <a:pt x="810447" y="228599"/>
                  </a:lnTo>
                  <a:lnTo>
                    <a:pt x="795819" y="266699"/>
                  </a:lnTo>
                  <a:lnTo>
                    <a:pt x="779805" y="304799"/>
                  </a:lnTo>
                  <a:lnTo>
                    <a:pt x="792073" y="304799"/>
                  </a:lnTo>
                  <a:lnTo>
                    <a:pt x="798086" y="292099"/>
                  </a:lnTo>
                  <a:lnTo>
                    <a:pt x="804008" y="279399"/>
                  </a:lnTo>
                  <a:lnTo>
                    <a:pt x="809840" y="266699"/>
                  </a:lnTo>
                  <a:lnTo>
                    <a:pt x="815581" y="253999"/>
                  </a:lnTo>
                  <a:lnTo>
                    <a:pt x="828896" y="253999"/>
                  </a:lnTo>
                  <a:lnTo>
                    <a:pt x="826884" y="241299"/>
                  </a:lnTo>
                  <a:lnTo>
                    <a:pt x="819365" y="241299"/>
                  </a:lnTo>
                  <a:lnTo>
                    <a:pt x="826654" y="228599"/>
                  </a:lnTo>
                  <a:lnTo>
                    <a:pt x="833815" y="203199"/>
                  </a:lnTo>
                  <a:lnTo>
                    <a:pt x="840847" y="190499"/>
                  </a:lnTo>
                  <a:lnTo>
                    <a:pt x="847750" y="165100"/>
                  </a:lnTo>
                  <a:close/>
                </a:path>
                <a:path w="1059180" h="1955800">
                  <a:moveTo>
                    <a:pt x="920750" y="228599"/>
                  </a:moveTo>
                  <a:lnTo>
                    <a:pt x="905332" y="228599"/>
                  </a:lnTo>
                  <a:lnTo>
                    <a:pt x="895995" y="253999"/>
                  </a:lnTo>
                  <a:lnTo>
                    <a:pt x="887322" y="266699"/>
                  </a:lnTo>
                  <a:lnTo>
                    <a:pt x="879312" y="292099"/>
                  </a:lnTo>
                  <a:lnTo>
                    <a:pt x="871969" y="304799"/>
                  </a:lnTo>
                  <a:lnTo>
                    <a:pt x="888485" y="304799"/>
                  </a:lnTo>
                  <a:lnTo>
                    <a:pt x="896734" y="279399"/>
                  </a:lnTo>
                  <a:lnTo>
                    <a:pt x="937107" y="279399"/>
                  </a:lnTo>
                  <a:lnTo>
                    <a:pt x="902042" y="266699"/>
                  </a:lnTo>
                  <a:lnTo>
                    <a:pt x="911425" y="241299"/>
                  </a:lnTo>
                  <a:lnTo>
                    <a:pt x="916094" y="241299"/>
                  </a:lnTo>
                  <a:lnTo>
                    <a:pt x="920750" y="228599"/>
                  </a:lnTo>
                  <a:close/>
                </a:path>
                <a:path w="1059180" h="1955800">
                  <a:moveTo>
                    <a:pt x="864019" y="190499"/>
                  </a:moveTo>
                  <a:lnTo>
                    <a:pt x="850823" y="203199"/>
                  </a:lnTo>
                  <a:lnTo>
                    <a:pt x="852581" y="203199"/>
                  </a:lnTo>
                  <a:lnTo>
                    <a:pt x="854176" y="215899"/>
                  </a:lnTo>
                  <a:lnTo>
                    <a:pt x="855610" y="228599"/>
                  </a:lnTo>
                  <a:lnTo>
                    <a:pt x="856881" y="241299"/>
                  </a:lnTo>
                  <a:lnTo>
                    <a:pt x="851840" y="253999"/>
                  </a:lnTo>
                  <a:lnTo>
                    <a:pt x="846088" y="266699"/>
                  </a:lnTo>
                  <a:lnTo>
                    <a:pt x="839624" y="279399"/>
                  </a:lnTo>
                  <a:lnTo>
                    <a:pt x="832446" y="292099"/>
                  </a:lnTo>
                  <a:lnTo>
                    <a:pt x="844610" y="292099"/>
                  </a:lnTo>
                  <a:lnTo>
                    <a:pt x="848980" y="279399"/>
                  </a:lnTo>
                  <a:lnTo>
                    <a:pt x="853825" y="266699"/>
                  </a:lnTo>
                  <a:lnTo>
                    <a:pt x="859142" y="253999"/>
                  </a:lnTo>
                  <a:lnTo>
                    <a:pt x="870887" y="253999"/>
                  </a:lnTo>
                  <a:lnTo>
                    <a:pt x="870427" y="241299"/>
                  </a:lnTo>
                  <a:lnTo>
                    <a:pt x="867831" y="215899"/>
                  </a:lnTo>
                  <a:lnTo>
                    <a:pt x="864019" y="190499"/>
                  </a:lnTo>
                  <a:close/>
                </a:path>
                <a:path w="1059180" h="1955800">
                  <a:moveTo>
                    <a:pt x="965759" y="241299"/>
                  </a:moveTo>
                  <a:lnTo>
                    <a:pt x="933622" y="241299"/>
                  </a:lnTo>
                  <a:lnTo>
                    <a:pt x="921854" y="253999"/>
                  </a:lnTo>
                  <a:lnTo>
                    <a:pt x="926388" y="266699"/>
                  </a:lnTo>
                  <a:lnTo>
                    <a:pt x="939018" y="253999"/>
                  </a:lnTo>
                  <a:lnTo>
                    <a:pt x="952142" y="253999"/>
                  </a:lnTo>
                  <a:lnTo>
                    <a:pt x="965759" y="241299"/>
                  </a:lnTo>
                  <a:close/>
                </a:path>
                <a:path w="1059180" h="1955800">
                  <a:moveTo>
                    <a:pt x="933386" y="215899"/>
                  </a:moveTo>
                  <a:lnTo>
                    <a:pt x="892863" y="215899"/>
                  </a:lnTo>
                  <a:lnTo>
                    <a:pt x="879754" y="228599"/>
                  </a:lnTo>
                  <a:lnTo>
                    <a:pt x="883678" y="241299"/>
                  </a:lnTo>
                  <a:lnTo>
                    <a:pt x="890803" y="241299"/>
                  </a:lnTo>
                  <a:lnTo>
                    <a:pt x="898017" y="228599"/>
                  </a:lnTo>
                  <a:lnTo>
                    <a:pt x="927049" y="228599"/>
                  </a:lnTo>
                  <a:lnTo>
                    <a:pt x="933386" y="215899"/>
                  </a:lnTo>
                  <a:close/>
                </a:path>
                <a:path w="1059180" h="1955800">
                  <a:moveTo>
                    <a:pt x="974217" y="215899"/>
                  </a:moveTo>
                  <a:lnTo>
                    <a:pt x="959806" y="228599"/>
                  </a:lnTo>
                  <a:lnTo>
                    <a:pt x="946273" y="241299"/>
                  </a:lnTo>
                  <a:lnTo>
                    <a:pt x="979868" y="241299"/>
                  </a:lnTo>
                  <a:lnTo>
                    <a:pt x="974217" y="215899"/>
                  </a:lnTo>
                  <a:close/>
                </a:path>
                <a:path w="1059180" h="1955800">
                  <a:moveTo>
                    <a:pt x="936523" y="203199"/>
                  </a:moveTo>
                  <a:lnTo>
                    <a:pt x="934872" y="203199"/>
                  </a:lnTo>
                  <a:lnTo>
                    <a:pt x="920420" y="215899"/>
                  </a:lnTo>
                  <a:lnTo>
                    <a:pt x="938149" y="215899"/>
                  </a:lnTo>
                  <a:lnTo>
                    <a:pt x="936523" y="203199"/>
                  </a:lnTo>
                  <a:close/>
                </a:path>
                <a:path w="1059180" h="1955800">
                  <a:moveTo>
                    <a:pt x="992619" y="152400"/>
                  </a:moveTo>
                  <a:lnTo>
                    <a:pt x="981697" y="152400"/>
                  </a:lnTo>
                  <a:lnTo>
                    <a:pt x="978063" y="165100"/>
                  </a:lnTo>
                  <a:lnTo>
                    <a:pt x="974380" y="177799"/>
                  </a:lnTo>
                  <a:lnTo>
                    <a:pt x="970647" y="190499"/>
                  </a:lnTo>
                  <a:lnTo>
                    <a:pt x="966863" y="203199"/>
                  </a:lnTo>
                  <a:lnTo>
                    <a:pt x="980465" y="215899"/>
                  </a:lnTo>
                  <a:lnTo>
                    <a:pt x="982960" y="203199"/>
                  </a:lnTo>
                  <a:lnTo>
                    <a:pt x="985818" y="190499"/>
                  </a:lnTo>
                  <a:lnTo>
                    <a:pt x="989037" y="165100"/>
                  </a:lnTo>
                  <a:lnTo>
                    <a:pt x="992619" y="152400"/>
                  </a:lnTo>
                  <a:close/>
                </a:path>
                <a:path w="1059180" h="1955800">
                  <a:moveTo>
                    <a:pt x="965669" y="139700"/>
                  </a:moveTo>
                  <a:lnTo>
                    <a:pt x="954900" y="139700"/>
                  </a:lnTo>
                  <a:lnTo>
                    <a:pt x="951768" y="152400"/>
                  </a:lnTo>
                  <a:lnTo>
                    <a:pt x="948909" y="152400"/>
                  </a:lnTo>
                  <a:lnTo>
                    <a:pt x="946320" y="165100"/>
                  </a:lnTo>
                  <a:lnTo>
                    <a:pt x="944003" y="177799"/>
                  </a:lnTo>
                  <a:lnTo>
                    <a:pt x="934934" y="177799"/>
                  </a:lnTo>
                  <a:lnTo>
                    <a:pt x="938225" y="190499"/>
                  </a:lnTo>
                  <a:lnTo>
                    <a:pt x="950658" y="190499"/>
                  </a:lnTo>
                  <a:lnTo>
                    <a:pt x="954661" y="177799"/>
                  </a:lnTo>
                  <a:lnTo>
                    <a:pt x="958497" y="165100"/>
                  </a:lnTo>
                  <a:lnTo>
                    <a:pt x="962167" y="152400"/>
                  </a:lnTo>
                  <a:lnTo>
                    <a:pt x="965669" y="139700"/>
                  </a:lnTo>
                  <a:close/>
                </a:path>
                <a:path w="1059180" h="1955800">
                  <a:moveTo>
                    <a:pt x="864946" y="101600"/>
                  </a:moveTo>
                  <a:lnTo>
                    <a:pt x="854494" y="114300"/>
                  </a:lnTo>
                  <a:lnTo>
                    <a:pt x="868048" y="127000"/>
                  </a:lnTo>
                  <a:lnTo>
                    <a:pt x="879355" y="152400"/>
                  </a:lnTo>
                  <a:lnTo>
                    <a:pt x="888417" y="165100"/>
                  </a:lnTo>
                  <a:lnTo>
                    <a:pt x="895235" y="177799"/>
                  </a:lnTo>
                  <a:lnTo>
                    <a:pt x="907288" y="177799"/>
                  </a:lnTo>
                  <a:lnTo>
                    <a:pt x="911164" y="165100"/>
                  </a:lnTo>
                  <a:lnTo>
                    <a:pt x="917003" y="152400"/>
                  </a:lnTo>
                  <a:lnTo>
                    <a:pt x="893605" y="152400"/>
                  </a:lnTo>
                  <a:lnTo>
                    <a:pt x="885096" y="139700"/>
                  </a:lnTo>
                  <a:lnTo>
                    <a:pt x="875542" y="127000"/>
                  </a:lnTo>
                  <a:lnTo>
                    <a:pt x="864946" y="101600"/>
                  </a:lnTo>
                  <a:close/>
                </a:path>
                <a:path w="1059180" h="1955800">
                  <a:moveTo>
                    <a:pt x="907097" y="114300"/>
                  </a:moveTo>
                  <a:lnTo>
                    <a:pt x="896264" y="127000"/>
                  </a:lnTo>
                  <a:lnTo>
                    <a:pt x="901090" y="127000"/>
                  </a:lnTo>
                  <a:lnTo>
                    <a:pt x="905522" y="139700"/>
                  </a:lnTo>
                  <a:lnTo>
                    <a:pt x="907110" y="139700"/>
                  </a:lnTo>
                  <a:lnTo>
                    <a:pt x="904278" y="152400"/>
                  </a:lnTo>
                  <a:lnTo>
                    <a:pt x="917003" y="152400"/>
                  </a:lnTo>
                  <a:lnTo>
                    <a:pt x="924323" y="165100"/>
                  </a:lnTo>
                  <a:lnTo>
                    <a:pt x="930300" y="177799"/>
                  </a:lnTo>
                  <a:lnTo>
                    <a:pt x="944003" y="177799"/>
                  </a:lnTo>
                  <a:lnTo>
                    <a:pt x="936245" y="152400"/>
                  </a:lnTo>
                  <a:lnTo>
                    <a:pt x="927507" y="139700"/>
                  </a:lnTo>
                  <a:lnTo>
                    <a:pt x="917791" y="127000"/>
                  </a:lnTo>
                  <a:lnTo>
                    <a:pt x="907097" y="114300"/>
                  </a:lnTo>
                  <a:close/>
                </a:path>
                <a:path w="1059180" h="1955800">
                  <a:moveTo>
                    <a:pt x="1004201" y="127000"/>
                  </a:moveTo>
                  <a:lnTo>
                    <a:pt x="987170" y="127000"/>
                  </a:lnTo>
                  <a:lnTo>
                    <a:pt x="992644" y="139700"/>
                  </a:lnTo>
                  <a:lnTo>
                    <a:pt x="997455" y="139700"/>
                  </a:lnTo>
                  <a:lnTo>
                    <a:pt x="1000629" y="152400"/>
                  </a:lnTo>
                  <a:lnTo>
                    <a:pt x="1002170" y="165100"/>
                  </a:lnTo>
                  <a:lnTo>
                    <a:pt x="1002080" y="177799"/>
                  </a:lnTo>
                  <a:lnTo>
                    <a:pt x="1016393" y="177799"/>
                  </a:lnTo>
                  <a:lnTo>
                    <a:pt x="1015867" y="165100"/>
                  </a:lnTo>
                  <a:lnTo>
                    <a:pt x="1013660" y="152400"/>
                  </a:lnTo>
                  <a:lnTo>
                    <a:pt x="1009771" y="139700"/>
                  </a:lnTo>
                  <a:lnTo>
                    <a:pt x="1004201" y="127000"/>
                  </a:lnTo>
                  <a:close/>
                </a:path>
                <a:path w="1059180" h="1955800">
                  <a:moveTo>
                    <a:pt x="953274" y="114300"/>
                  </a:moveTo>
                  <a:lnTo>
                    <a:pt x="934046" y="114300"/>
                  </a:lnTo>
                  <a:lnTo>
                    <a:pt x="934796" y="127000"/>
                  </a:lnTo>
                  <a:lnTo>
                    <a:pt x="951522" y="127000"/>
                  </a:lnTo>
                  <a:lnTo>
                    <a:pt x="953274" y="114300"/>
                  </a:lnTo>
                  <a:close/>
                </a:path>
                <a:path w="1059180" h="1955800">
                  <a:moveTo>
                    <a:pt x="976326" y="101600"/>
                  </a:moveTo>
                  <a:lnTo>
                    <a:pt x="927919" y="101600"/>
                  </a:lnTo>
                  <a:lnTo>
                    <a:pt x="932243" y="114300"/>
                  </a:lnTo>
                  <a:lnTo>
                    <a:pt x="968868" y="114300"/>
                  </a:lnTo>
                  <a:lnTo>
                    <a:pt x="979244" y="127000"/>
                  </a:lnTo>
                  <a:lnTo>
                    <a:pt x="997853" y="127000"/>
                  </a:lnTo>
                  <a:lnTo>
                    <a:pt x="988561" y="114300"/>
                  </a:lnTo>
                  <a:lnTo>
                    <a:pt x="976326" y="101600"/>
                  </a:lnTo>
                  <a:close/>
                </a:path>
                <a:path w="1059180" h="1955800">
                  <a:moveTo>
                    <a:pt x="934758" y="0"/>
                  </a:moveTo>
                  <a:lnTo>
                    <a:pt x="911631" y="50800"/>
                  </a:lnTo>
                  <a:lnTo>
                    <a:pt x="909167" y="50800"/>
                  </a:lnTo>
                  <a:lnTo>
                    <a:pt x="884936" y="101600"/>
                  </a:lnTo>
                  <a:lnTo>
                    <a:pt x="896010" y="114300"/>
                  </a:lnTo>
                  <a:lnTo>
                    <a:pt x="912558" y="76200"/>
                  </a:lnTo>
                  <a:lnTo>
                    <a:pt x="914996" y="76200"/>
                  </a:lnTo>
                  <a:lnTo>
                    <a:pt x="945819" y="12700"/>
                  </a:lnTo>
                  <a:lnTo>
                    <a:pt x="934758" y="0"/>
                  </a:lnTo>
                  <a:close/>
                </a:path>
                <a:path w="1059180" h="1955800">
                  <a:moveTo>
                    <a:pt x="922909" y="63500"/>
                  </a:moveTo>
                  <a:lnTo>
                    <a:pt x="914996" y="76200"/>
                  </a:lnTo>
                  <a:lnTo>
                    <a:pt x="912558" y="76200"/>
                  </a:lnTo>
                  <a:lnTo>
                    <a:pt x="918075" y="88900"/>
                  </a:lnTo>
                  <a:lnTo>
                    <a:pt x="923196" y="101600"/>
                  </a:lnTo>
                  <a:lnTo>
                    <a:pt x="938191" y="101600"/>
                  </a:lnTo>
                  <a:lnTo>
                    <a:pt x="933419" y="88900"/>
                  </a:lnTo>
                  <a:lnTo>
                    <a:pt x="928326" y="76200"/>
                  </a:lnTo>
                  <a:lnTo>
                    <a:pt x="922909" y="63500"/>
                  </a:lnTo>
                  <a:close/>
                </a:path>
                <a:path w="1059180" h="1955800">
                  <a:moveTo>
                    <a:pt x="978395" y="50800"/>
                  </a:moveTo>
                  <a:lnTo>
                    <a:pt x="966851" y="50800"/>
                  </a:lnTo>
                  <a:lnTo>
                    <a:pt x="961245" y="63500"/>
                  </a:lnTo>
                  <a:lnTo>
                    <a:pt x="955343" y="76200"/>
                  </a:lnTo>
                  <a:lnTo>
                    <a:pt x="949143" y="88900"/>
                  </a:lnTo>
                  <a:lnTo>
                    <a:pt x="942644" y="101600"/>
                  </a:lnTo>
                  <a:lnTo>
                    <a:pt x="961148" y="101600"/>
                  </a:lnTo>
                  <a:lnTo>
                    <a:pt x="963764" y="88900"/>
                  </a:lnTo>
                  <a:lnTo>
                    <a:pt x="966343" y="88900"/>
                  </a:lnTo>
                  <a:lnTo>
                    <a:pt x="968870" y="76200"/>
                  </a:lnTo>
                  <a:lnTo>
                    <a:pt x="1003598" y="76200"/>
                  </a:lnTo>
                  <a:lnTo>
                    <a:pt x="974013" y="63500"/>
                  </a:lnTo>
                  <a:lnTo>
                    <a:pt x="976261" y="63500"/>
                  </a:lnTo>
                  <a:lnTo>
                    <a:pt x="978395" y="50800"/>
                  </a:lnTo>
                  <a:close/>
                </a:path>
                <a:path w="1059180" h="1955800">
                  <a:moveTo>
                    <a:pt x="1003598" y="76200"/>
                  </a:moveTo>
                  <a:lnTo>
                    <a:pt x="968870" y="76200"/>
                  </a:lnTo>
                  <a:lnTo>
                    <a:pt x="1022096" y="101600"/>
                  </a:lnTo>
                  <a:lnTo>
                    <a:pt x="1049858" y="101600"/>
                  </a:lnTo>
                  <a:lnTo>
                    <a:pt x="1056386" y="88900"/>
                  </a:lnTo>
                  <a:lnTo>
                    <a:pt x="1033183" y="88900"/>
                  </a:lnTo>
                  <a:lnTo>
                    <a:pt x="1003598" y="76200"/>
                  </a:lnTo>
                  <a:close/>
                </a:path>
                <a:path w="1059180" h="1955800">
                  <a:moveTo>
                    <a:pt x="1058629" y="76200"/>
                  </a:moveTo>
                  <a:lnTo>
                    <a:pt x="1045972" y="76200"/>
                  </a:lnTo>
                  <a:lnTo>
                    <a:pt x="1037501" y="88900"/>
                  </a:lnTo>
                  <a:lnTo>
                    <a:pt x="1056386" y="88900"/>
                  </a:lnTo>
                  <a:lnTo>
                    <a:pt x="1058629" y="76200"/>
                  </a:lnTo>
                  <a:close/>
                </a:path>
                <a:path w="1059180" h="1955800">
                  <a:moveTo>
                    <a:pt x="1055834" y="63500"/>
                  </a:moveTo>
                  <a:lnTo>
                    <a:pt x="1039952" y="63500"/>
                  </a:lnTo>
                  <a:lnTo>
                    <a:pt x="1044790" y="76200"/>
                  </a:lnTo>
                  <a:lnTo>
                    <a:pt x="1058444" y="76200"/>
                  </a:lnTo>
                  <a:lnTo>
                    <a:pt x="1055834" y="63500"/>
                  </a:lnTo>
                  <a:close/>
                </a:path>
                <a:path w="1059180" h="1955800">
                  <a:moveTo>
                    <a:pt x="909167" y="50800"/>
                  </a:moveTo>
                  <a:lnTo>
                    <a:pt x="886498" y="50800"/>
                  </a:lnTo>
                  <a:lnTo>
                    <a:pt x="887869" y="63500"/>
                  </a:lnTo>
                  <a:lnTo>
                    <a:pt x="901293" y="63500"/>
                  </a:lnTo>
                  <a:lnTo>
                    <a:pt x="909167" y="50800"/>
                  </a:lnTo>
                  <a:close/>
                </a:path>
                <a:path w="1059180" h="1955800">
                  <a:moveTo>
                    <a:pt x="1046264" y="50800"/>
                  </a:moveTo>
                  <a:lnTo>
                    <a:pt x="1023581" y="50800"/>
                  </a:lnTo>
                  <a:lnTo>
                    <a:pt x="1020457" y="63500"/>
                  </a:lnTo>
                  <a:lnTo>
                    <a:pt x="1050798" y="63500"/>
                  </a:lnTo>
                  <a:lnTo>
                    <a:pt x="1046264" y="50800"/>
                  </a:lnTo>
                  <a:close/>
                </a:path>
                <a:path w="1059180" h="1955800">
                  <a:moveTo>
                    <a:pt x="910412" y="38100"/>
                  </a:moveTo>
                  <a:lnTo>
                    <a:pt x="901268" y="38100"/>
                  </a:lnTo>
                  <a:lnTo>
                    <a:pt x="893305" y="50800"/>
                  </a:lnTo>
                  <a:lnTo>
                    <a:pt x="911631" y="50800"/>
                  </a:lnTo>
                  <a:lnTo>
                    <a:pt x="910412" y="38100"/>
                  </a:lnTo>
                  <a:close/>
                </a:path>
                <a:path w="1059180" h="1955800">
                  <a:moveTo>
                    <a:pt x="996162" y="38100"/>
                  </a:moveTo>
                  <a:lnTo>
                    <a:pt x="942594" y="38100"/>
                  </a:lnTo>
                  <a:lnTo>
                    <a:pt x="943965" y="50800"/>
                  </a:lnTo>
                  <a:lnTo>
                    <a:pt x="996797" y="50800"/>
                  </a:lnTo>
                  <a:lnTo>
                    <a:pt x="996162" y="38100"/>
                  </a:lnTo>
                  <a:close/>
                </a:path>
              </a:pathLst>
            </a:custGeom>
            <a:solidFill>
              <a:srgbClr val="FF0000"/>
            </a:solidFill>
          </p:spPr>
          <p:txBody>
            <a:bodyPr wrap="square" lIns="0" tIns="0" rIns="0" bIns="0" rtlCol="0"/>
            <a:lstStyle/>
            <a:p/>
          </p:txBody>
        </p:sp>
        <p:sp>
          <p:nvSpPr>
            <p:cNvPr id="54" name="object 54" descr=""/>
            <p:cNvSpPr/>
            <p:nvPr/>
          </p:nvSpPr>
          <p:spPr>
            <a:xfrm>
              <a:off x="6804253" y="1779663"/>
              <a:ext cx="2088514" cy="3228340"/>
            </a:xfrm>
            <a:custGeom>
              <a:avLst/>
              <a:gdLst/>
              <a:ahLst/>
              <a:cxnLst/>
              <a:rect l="l" t="t" r="r" b="b"/>
              <a:pathLst>
                <a:path w="2088515" h="3228340">
                  <a:moveTo>
                    <a:pt x="2088235" y="0"/>
                  </a:moveTo>
                  <a:lnTo>
                    <a:pt x="0" y="0"/>
                  </a:lnTo>
                  <a:lnTo>
                    <a:pt x="0" y="3228340"/>
                  </a:lnTo>
                  <a:lnTo>
                    <a:pt x="2088235" y="3228340"/>
                  </a:lnTo>
                  <a:lnTo>
                    <a:pt x="2088235" y="0"/>
                  </a:lnTo>
                  <a:close/>
                </a:path>
              </a:pathLst>
            </a:custGeom>
            <a:solidFill>
              <a:srgbClr val="E7F3F4"/>
            </a:solidFill>
          </p:spPr>
          <p:txBody>
            <a:bodyPr wrap="square" lIns="0" tIns="0" rIns="0" bIns="0" rtlCol="0"/>
            <a:lstStyle/>
            <a:p/>
          </p:txBody>
        </p:sp>
      </p:grpSp>
      <p:sp>
        <p:nvSpPr>
          <p:cNvPr id="55" name="object 55" descr=""/>
          <p:cNvSpPr txBox="1"/>
          <p:nvPr/>
        </p:nvSpPr>
        <p:spPr>
          <a:xfrm>
            <a:off x="6860127" y="1766696"/>
            <a:ext cx="1913889" cy="2288540"/>
          </a:xfrm>
          <a:prstGeom prst="rect">
            <a:avLst/>
          </a:prstGeom>
        </p:spPr>
        <p:txBody>
          <a:bodyPr wrap="square" lIns="0" tIns="12700" rIns="0" bIns="0" rtlCol="0" vert="horz">
            <a:spAutoFit/>
          </a:bodyPr>
          <a:lstStyle/>
          <a:p>
            <a:pPr algn="just" marL="226060" marR="5080" indent="-213995">
              <a:lnSpc>
                <a:spcPct val="150000"/>
              </a:lnSpc>
              <a:spcBef>
                <a:spcPts val="100"/>
              </a:spcBef>
              <a:buFont typeface="Wingdings"/>
              <a:buChar char=""/>
              <a:tabLst>
                <a:tab pos="227329" algn="l"/>
              </a:tabLst>
            </a:pPr>
            <a:r>
              <a:rPr dirty="0" sz="1100" spc="-25">
                <a:solidFill>
                  <a:srgbClr val="3E3E3E"/>
                </a:solidFill>
                <a:latin typeface="Microsoft YaHei"/>
                <a:cs typeface="Microsoft YaHei"/>
              </a:rPr>
              <a:t>现阶段覆盖规划兼顾容量规	划，宏站规划延伸微站及室</a:t>
            </a:r>
            <a:r>
              <a:rPr dirty="0" sz="1100" spc="-25">
                <a:solidFill>
                  <a:srgbClr val="3E3E3E"/>
                </a:solidFill>
                <a:latin typeface="Microsoft YaHei"/>
                <a:cs typeface="Microsoft YaHei"/>
              </a:rPr>
              <a:t>	</a:t>
            </a:r>
            <a:r>
              <a:rPr dirty="0" sz="1100" spc="-30">
                <a:solidFill>
                  <a:srgbClr val="3E3E3E"/>
                </a:solidFill>
                <a:latin typeface="Microsoft YaHei"/>
                <a:cs typeface="Microsoft YaHei"/>
              </a:rPr>
              <a:t>分规划。</a:t>
            </a:r>
            <a:endParaRPr sz="1100">
              <a:latin typeface="Microsoft YaHei"/>
              <a:cs typeface="Microsoft YaHei"/>
            </a:endParaRPr>
          </a:p>
          <a:p>
            <a:pPr algn="just" marL="226060" marR="5080" indent="-213995">
              <a:lnSpc>
                <a:spcPct val="150000"/>
              </a:lnSpc>
              <a:buFont typeface="Wingdings"/>
              <a:buChar char=""/>
              <a:tabLst>
                <a:tab pos="227329" algn="l"/>
              </a:tabLst>
            </a:pPr>
            <a:r>
              <a:rPr dirty="0" sz="1100" spc="-20">
                <a:solidFill>
                  <a:srgbClr val="3E3E3E"/>
                </a:solidFill>
                <a:latin typeface="Microsoft YaHei"/>
                <a:cs typeface="Microsoft YaHei"/>
              </a:rPr>
              <a:t>如</a:t>
            </a:r>
            <a:r>
              <a:rPr dirty="0" sz="1100" spc="-25">
                <a:solidFill>
                  <a:srgbClr val="FF0000"/>
                </a:solidFill>
                <a:latin typeface="Microsoft YaHei"/>
                <a:cs typeface="Microsoft YaHei"/>
              </a:rPr>
              <a:t>商业一条街、地铁、高校</a:t>
            </a:r>
            <a:r>
              <a:rPr dirty="0" sz="1100" spc="-25">
                <a:solidFill>
                  <a:srgbClr val="FF0000"/>
                </a:solidFill>
                <a:latin typeface="Microsoft YaHei"/>
                <a:cs typeface="Microsoft YaHei"/>
              </a:rPr>
              <a:t>	</a:t>
            </a:r>
            <a:r>
              <a:rPr dirty="0" sz="1100" spc="-25">
                <a:solidFill>
                  <a:srgbClr val="3E3E3E"/>
                </a:solidFill>
                <a:latin typeface="Microsoft YaHei"/>
                <a:cs typeface="Microsoft YaHei"/>
              </a:rPr>
              <a:t>等人员聚集区域特殊高容量	场景以及其他主交通要道等	高流量高可靠业务类线状、	面状有限区域内，可以摒弃	室外宏站影响，单独构建以</a:t>
            </a:r>
            <a:endParaRPr sz="1100">
              <a:latin typeface="Microsoft YaHei"/>
              <a:cs typeface="Microsoft YaHei"/>
            </a:endParaRPr>
          </a:p>
        </p:txBody>
      </p:sp>
      <p:sp>
        <p:nvSpPr>
          <p:cNvPr id="56" name="object 56" descr=""/>
          <p:cNvSpPr txBox="1"/>
          <p:nvPr/>
        </p:nvSpPr>
        <p:spPr>
          <a:xfrm>
            <a:off x="7075011" y="4113689"/>
            <a:ext cx="1841500" cy="193040"/>
          </a:xfrm>
          <a:prstGeom prst="rect">
            <a:avLst/>
          </a:prstGeom>
        </p:spPr>
        <p:txBody>
          <a:bodyPr wrap="square" lIns="0" tIns="12065" rIns="0" bIns="0" rtlCol="0" vert="horz">
            <a:spAutoFit/>
          </a:bodyPr>
          <a:lstStyle/>
          <a:p>
            <a:pPr marL="12700">
              <a:lnSpc>
                <a:spcPct val="100000"/>
              </a:lnSpc>
              <a:spcBef>
                <a:spcPts val="95"/>
              </a:spcBef>
            </a:pPr>
            <a:r>
              <a:rPr dirty="0" sz="1100" spc="-25">
                <a:solidFill>
                  <a:srgbClr val="3E3E3E"/>
                </a:solidFill>
                <a:latin typeface="Microsoft YaHei"/>
                <a:cs typeface="Microsoft YaHei"/>
              </a:rPr>
              <a:t>微站为单元的无线低层网络，</a:t>
            </a:r>
            <a:endParaRPr sz="1100">
              <a:latin typeface="Microsoft YaHei"/>
              <a:cs typeface="Microsoft YaHei"/>
            </a:endParaRPr>
          </a:p>
        </p:txBody>
      </p:sp>
      <p:sp>
        <p:nvSpPr>
          <p:cNvPr id="57" name="object 57" descr=""/>
          <p:cNvSpPr txBox="1"/>
          <p:nvPr/>
        </p:nvSpPr>
        <p:spPr>
          <a:xfrm>
            <a:off x="7075011" y="4281024"/>
            <a:ext cx="1699260" cy="528320"/>
          </a:xfrm>
          <a:prstGeom prst="rect">
            <a:avLst/>
          </a:prstGeom>
        </p:spPr>
        <p:txBody>
          <a:bodyPr wrap="square" lIns="0" tIns="12700" rIns="0" bIns="0" rtlCol="0" vert="horz">
            <a:spAutoFit/>
          </a:bodyPr>
          <a:lstStyle/>
          <a:p>
            <a:pPr marL="12700" marR="5080">
              <a:lnSpc>
                <a:spcPct val="150000"/>
              </a:lnSpc>
              <a:spcBef>
                <a:spcPts val="100"/>
              </a:spcBef>
            </a:pPr>
            <a:r>
              <a:rPr dirty="0" sz="1100" spc="-25">
                <a:solidFill>
                  <a:srgbClr val="3E3E3E"/>
                </a:solidFill>
                <a:latin typeface="Microsoft YaHei"/>
                <a:cs typeface="Microsoft YaHei"/>
              </a:rPr>
              <a:t>与现有宏站形成异构分层网</a:t>
            </a:r>
            <a:r>
              <a:rPr dirty="0" sz="1100" spc="-35">
                <a:solidFill>
                  <a:srgbClr val="3E3E3E"/>
                </a:solidFill>
                <a:latin typeface="Microsoft YaHei"/>
                <a:cs typeface="Microsoft YaHei"/>
              </a:rPr>
              <a:t>络。</a:t>
            </a:r>
            <a:endParaRPr sz="1100">
              <a:latin typeface="Microsoft YaHei"/>
              <a:cs typeface="Microsoft YaHe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50114" y="840092"/>
            <a:ext cx="8574405" cy="4017010"/>
            <a:chOff x="150114" y="840092"/>
            <a:chExt cx="8574405" cy="4017010"/>
          </a:xfrm>
        </p:grpSpPr>
        <p:pic>
          <p:nvPicPr>
            <p:cNvPr id="3" name="object 3" descr=""/>
            <p:cNvPicPr/>
            <p:nvPr/>
          </p:nvPicPr>
          <p:blipFill>
            <a:blip r:embed="rId2" cstate="print"/>
            <a:stretch>
              <a:fillRect/>
            </a:stretch>
          </p:blipFill>
          <p:spPr>
            <a:xfrm>
              <a:off x="217932" y="890016"/>
              <a:ext cx="4177271" cy="305561"/>
            </a:xfrm>
            <a:prstGeom prst="rect">
              <a:avLst/>
            </a:prstGeom>
          </p:spPr>
        </p:pic>
        <p:pic>
          <p:nvPicPr>
            <p:cNvPr id="4" name="object 4" descr=""/>
            <p:cNvPicPr/>
            <p:nvPr/>
          </p:nvPicPr>
          <p:blipFill>
            <a:blip r:embed="rId3" cstate="print"/>
            <a:stretch>
              <a:fillRect/>
            </a:stretch>
          </p:blipFill>
          <p:spPr>
            <a:xfrm>
              <a:off x="150114" y="881633"/>
              <a:ext cx="4366258" cy="268223"/>
            </a:xfrm>
            <a:prstGeom prst="rect">
              <a:avLst/>
            </a:prstGeom>
          </p:spPr>
        </p:pic>
        <p:sp>
          <p:nvSpPr>
            <p:cNvPr id="5" name="object 5" descr=""/>
            <p:cNvSpPr/>
            <p:nvPr/>
          </p:nvSpPr>
          <p:spPr>
            <a:xfrm>
              <a:off x="168275" y="840092"/>
              <a:ext cx="4175125" cy="304165"/>
            </a:xfrm>
            <a:custGeom>
              <a:avLst/>
              <a:gdLst/>
              <a:ahLst/>
              <a:cxnLst/>
              <a:rect l="l" t="t" r="r" b="b"/>
              <a:pathLst>
                <a:path w="4175125" h="304165">
                  <a:moveTo>
                    <a:pt x="4175125" y="0"/>
                  </a:moveTo>
                  <a:lnTo>
                    <a:pt x="0" y="0"/>
                  </a:lnTo>
                  <a:lnTo>
                    <a:pt x="0" y="303784"/>
                  </a:lnTo>
                  <a:lnTo>
                    <a:pt x="4175125" y="303784"/>
                  </a:lnTo>
                  <a:lnTo>
                    <a:pt x="4175125" y="0"/>
                  </a:lnTo>
                  <a:close/>
                </a:path>
              </a:pathLst>
            </a:custGeom>
            <a:solidFill>
              <a:srgbClr val="333399"/>
            </a:solidFill>
          </p:spPr>
          <p:txBody>
            <a:bodyPr wrap="square" lIns="0" tIns="0" rIns="0" bIns="0" rtlCol="0"/>
            <a:lstStyle/>
            <a:p/>
          </p:txBody>
        </p:sp>
        <p:sp>
          <p:nvSpPr>
            <p:cNvPr id="6" name="object 6" descr=""/>
            <p:cNvSpPr/>
            <p:nvPr/>
          </p:nvSpPr>
          <p:spPr>
            <a:xfrm>
              <a:off x="168275" y="1174775"/>
              <a:ext cx="8555990" cy="323215"/>
            </a:xfrm>
            <a:custGeom>
              <a:avLst/>
              <a:gdLst/>
              <a:ahLst/>
              <a:cxnLst/>
              <a:rect l="l" t="t" r="r" b="b"/>
              <a:pathLst>
                <a:path w="8555990" h="323215">
                  <a:moveTo>
                    <a:pt x="8555977" y="0"/>
                  </a:moveTo>
                  <a:lnTo>
                    <a:pt x="0" y="0"/>
                  </a:lnTo>
                  <a:lnTo>
                    <a:pt x="0" y="323164"/>
                  </a:lnTo>
                  <a:lnTo>
                    <a:pt x="8555977" y="323164"/>
                  </a:lnTo>
                  <a:lnTo>
                    <a:pt x="8555977" y="0"/>
                  </a:lnTo>
                  <a:close/>
                </a:path>
              </a:pathLst>
            </a:custGeom>
            <a:solidFill>
              <a:srgbClr val="E7F3F4"/>
            </a:solidFill>
          </p:spPr>
          <p:txBody>
            <a:bodyPr wrap="square" lIns="0" tIns="0" rIns="0" bIns="0" rtlCol="0"/>
            <a:lstStyle/>
            <a:p/>
          </p:txBody>
        </p:sp>
        <p:pic>
          <p:nvPicPr>
            <p:cNvPr id="7" name="object 7"/>
            <p:cNvPicPr/>
            <p:nvPr/>
          </p:nvPicPr>
          <p:blipFill>
            <a:blip r:embed="rId4" cstate="print"/>
            <a:stretch>
              <a:fillRect/>
            </a:stretch>
          </p:blipFill>
          <p:spPr>
            <a:xfrm>
              <a:off x="231648" y="1459992"/>
              <a:ext cx="4286999" cy="3396995"/>
            </a:xfrm>
            <a:prstGeom prst="rect">
              <a:avLst/>
            </a:prstGeom>
          </p:spPr>
        </p:pic>
        <p:sp>
          <p:nvSpPr>
            <p:cNvPr id="8" name="object 8" descr=""/>
            <p:cNvSpPr/>
            <p:nvPr/>
          </p:nvSpPr>
          <p:spPr>
            <a:xfrm>
              <a:off x="318474" y="1542641"/>
              <a:ext cx="4113529" cy="3232150"/>
            </a:xfrm>
            <a:custGeom>
              <a:avLst/>
              <a:gdLst/>
              <a:ahLst/>
              <a:cxnLst/>
              <a:rect l="l" t="t" r="r" b="b"/>
              <a:pathLst>
                <a:path w="4113529" h="3232150">
                  <a:moveTo>
                    <a:pt x="0" y="78917"/>
                  </a:moveTo>
                  <a:lnTo>
                    <a:pt x="6201" y="48198"/>
                  </a:lnTo>
                  <a:lnTo>
                    <a:pt x="23114" y="23113"/>
                  </a:lnTo>
                  <a:lnTo>
                    <a:pt x="48198" y="6201"/>
                  </a:lnTo>
                  <a:lnTo>
                    <a:pt x="78917" y="0"/>
                  </a:lnTo>
                  <a:lnTo>
                    <a:pt x="4034142" y="0"/>
                  </a:lnTo>
                  <a:lnTo>
                    <a:pt x="4064861" y="6201"/>
                  </a:lnTo>
                  <a:lnTo>
                    <a:pt x="4089946" y="23113"/>
                  </a:lnTo>
                  <a:lnTo>
                    <a:pt x="4106858" y="48198"/>
                  </a:lnTo>
                  <a:lnTo>
                    <a:pt x="4113060" y="78917"/>
                  </a:lnTo>
                  <a:lnTo>
                    <a:pt x="4113060" y="3152762"/>
                  </a:lnTo>
                  <a:lnTo>
                    <a:pt x="4106858" y="3183475"/>
                  </a:lnTo>
                  <a:lnTo>
                    <a:pt x="4089946" y="3208561"/>
                  </a:lnTo>
                  <a:lnTo>
                    <a:pt x="4064861" y="3225476"/>
                  </a:lnTo>
                  <a:lnTo>
                    <a:pt x="4034142" y="3231680"/>
                  </a:lnTo>
                  <a:lnTo>
                    <a:pt x="78917" y="3231680"/>
                  </a:lnTo>
                  <a:lnTo>
                    <a:pt x="48198" y="3225476"/>
                  </a:lnTo>
                  <a:lnTo>
                    <a:pt x="23114" y="3208561"/>
                  </a:lnTo>
                  <a:lnTo>
                    <a:pt x="6201" y="3183475"/>
                  </a:lnTo>
                  <a:lnTo>
                    <a:pt x="0" y="3152762"/>
                  </a:lnTo>
                  <a:lnTo>
                    <a:pt x="0" y="78917"/>
                  </a:lnTo>
                  <a:close/>
                </a:path>
              </a:pathLst>
            </a:custGeom>
            <a:ln w="3175">
              <a:solidFill>
                <a:srgbClr val="000000"/>
              </a:solidFill>
              <a:prstDash val="sysDash"/>
            </a:ln>
          </p:spPr>
          <p:txBody>
            <a:bodyPr wrap="square" lIns="0" tIns="0" rIns="0" bIns="0" rtlCol="0"/>
            <a:lstStyle/>
            <a:p/>
          </p:txBody>
        </p:sp>
        <p:pic>
          <p:nvPicPr>
            <p:cNvPr id="9" name="object 9"/>
            <p:cNvPicPr/>
            <p:nvPr/>
          </p:nvPicPr>
          <p:blipFill>
            <a:blip r:embed="rId5" cstate="print"/>
            <a:stretch>
              <a:fillRect/>
            </a:stretch>
          </p:blipFill>
          <p:spPr>
            <a:xfrm>
              <a:off x="389993" y="1783168"/>
              <a:ext cx="4046865" cy="2885960"/>
            </a:xfrm>
            <a:prstGeom prst="rect">
              <a:avLst/>
            </a:prstGeom>
          </p:spPr>
        </p:pic>
        <p:pic>
          <p:nvPicPr>
            <p:cNvPr id="10" name="object 10"/>
            <p:cNvPicPr/>
            <p:nvPr/>
          </p:nvPicPr>
          <p:blipFill>
            <a:blip r:embed="rId6" cstate="print"/>
            <a:stretch>
              <a:fillRect/>
            </a:stretch>
          </p:blipFill>
          <p:spPr>
            <a:xfrm>
              <a:off x="4422647" y="1454658"/>
              <a:ext cx="4287011" cy="3396233"/>
            </a:xfrm>
            <a:prstGeom prst="rect">
              <a:avLst/>
            </a:prstGeom>
          </p:spPr>
        </p:pic>
        <p:sp>
          <p:nvSpPr>
            <p:cNvPr id="11" name="object 11" descr=""/>
            <p:cNvSpPr/>
            <p:nvPr/>
          </p:nvSpPr>
          <p:spPr>
            <a:xfrm>
              <a:off x="4509912" y="1537022"/>
              <a:ext cx="4113529" cy="3232150"/>
            </a:xfrm>
            <a:custGeom>
              <a:avLst/>
              <a:gdLst/>
              <a:ahLst/>
              <a:cxnLst/>
              <a:rect l="l" t="t" r="r" b="b"/>
              <a:pathLst>
                <a:path w="4113529" h="3232150">
                  <a:moveTo>
                    <a:pt x="0" y="78917"/>
                  </a:moveTo>
                  <a:lnTo>
                    <a:pt x="6201" y="48198"/>
                  </a:lnTo>
                  <a:lnTo>
                    <a:pt x="23114" y="23113"/>
                  </a:lnTo>
                  <a:lnTo>
                    <a:pt x="48198" y="6201"/>
                  </a:lnTo>
                  <a:lnTo>
                    <a:pt x="78917" y="0"/>
                  </a:lnTo>
                  <a:lnTo>
                    <a:pt x="4034142" y="0"/>
                  </a:lnTo>
                  <a:lnTo>
                    <a:pt x="4064861" y="6201"/>
                  </a:lnTo>
                  <a:lnTo>
                    <a:pt x="4089946" y="23113"/>
                  </a:lnTo>
                  <a:lnTo>
                    <a:pt x="4106858" y="48198"/>
                  </a:lnTo>
                  <a:lnTo>
                    <a:pt x="4113060" y="78917"/>
                  </a:lnTo>
                  <a:lnTo>
                    <a:pt x="4113060" y="3152762"/>
                  </a:lnTo>
                  <a:lnTo>
                    <a:pt x="4106858" y="3183475"/>
                  </a:lnTo>
                  <a:lnTo>
                    <a:pt x="4089946" y="3208561"/>
                  </a:lnTo>
                  <a:lnTo>
                    <a:pt x="4064861" y="3225476"/>
                  </a:lnTo>
                  <a:lnTo>
                    <a:pt x="4034142" y="3231680"/>
                  </a:lnTo>
                  <a:lnTo>
                    <a:pt x="78917" y="3231680"/>
                  </a:lnTo>
                  <a:lnTo>
                    <a:pt x="48198" y="3225476"/>
                  </a:lnTo>
                  <a:lnTo>
                    <a:pt x="23114" y="3208561"/>
                  </a:lnTo>
                  <a:lnTo>
                    <a:pt x="6201" y="3183475"/>
                  </a:lnTo>
                  <a:lnTo>
                    <a:pt x="0" y="3152762"/>
                  </a:lnTo>
                  <a:lnTo>
                    <a:pt x="0" y="78917"/>
                  </a:lnTo>
                  <a:close/>
                </a:path>
              </a:pathLst>
            </a:custGeom>
            <a:ln w="3175">
              <a:solidFill>
                <a:srgbClr val="000000"/>
              </a:solidFill>
              <a:prstDash val="sysDash"/>
            </a:ln>
          </p:spPr>
          <p:txBody>
            <a:bodyPr wrap="square" lIns="0" tIns="0" rIns="0" bIns="0" rtlCol="0"/>
            <a:lstStyle/>
            <a:p/>
          </p:txBody>
        </p:sp>
      </p:grpSp>
      <p:sp>
        <p:nvSpPr>
          <p:cNvPr id="12" name="object 12" descr=""/>
          <p:cNvSpPr txBox="1"/>
          <p:nvPr/>
        </p:nvSpPr>
        <p:spPr>
          <a:xfrm>
            <a:off x="193992" y="866505"/>
            <a:ext cx="6614795" cy="897255"/>
          </a:xfrm>
          <a:prstGeom prst="rect">
            <a:avLst/>
          </a:prstGeom>
        </p:spPr>
        <p:txBody>
          <a:bodyPr wrap="square" lIns="0" tIns="12065" rIns="0" bIns="0" rtlCol="0" vert="horz">
            <a:spAutoFit/>
          </a:bodyPr>
          <a:lstStyle/>
          <a:p>
            <a:pPr marL="12700">
              <a:lnSpc>
                <a:spcPct val="100000"/>
              </a:lnSpc>
              <a:spcBef>
                <a:spcPts val="95"/>
              </a:spcBef>
            </a:pPr>
            <a:r>
              <a:rPr dirty="0" sz="1400" spc="-20">
                <a:solidFill>
                  <a:srgbClr val="FFFFFF"/>
                </a:solidFill>
                <a:latin typeface="Microsoft YaHei"/>
                <a:cs typeface="Microsoft YaHei"/>
              </a:rPr>
              <a:t>微站需求分析-规划方法</a:t>
            </a:r>
            <a:r>
              <a:rPr dirty="0" sz="1400" spc="-10">
                <a:solidFill>
                  <a:srgbClr val="FFFFFF"/>
                </a:solidFill>
                <a:latin typeface="Microsoft YaHei"/>
                <a:cs typeface="Microsoft YaHei"/>
              </a:rPr>
              <a:t>1</a:t>
            </a:r>
            <a:r>
              <a:rPr dirty="0" sz="1400" spc="-20">
                <a:solidFill>
                  <a:srgbClr val="FFFFFF"/>
                </a:solidFill>
                <a:latin typeface="Microsoft YaHei"/>
                <a:cs typeface="Microsoft YaHei"/>
              </a:rPr>
              <a:t>-可获取运营商企业</a:t>
            </a:r>
            <a:r>
              <a:rPr dirty="0" sz="1400" spc="-10">
                <a:solidFill>
                  <a:srgbClr val="FFFFFF"/>
                </a:solidFill>
                <a:latin typeface="Microsoft YaHei"/>
                <a:cs typeface="Microsoft YaHei"/>
              </a:rPr>
              <a:t>MR</a:t>
            </a:r>
            <a:r>
              <a:rPr dirty="0" sz="1400" spc="-35">
                <a:solidFill>
                  <a:srgbClr val="FFFFFF"/>
                </a:solidFill>
                <a:latin typeface="Microsoft YaHei"/>
                <a:cs typeface="Microsoft YaHei"/>
              </a:rPr>
              <a:t>数据</a:t>
            </a:r>
            <a:endParaRPr sz="1400">
              <a:latin typeface="Microsoft YaHei"/>
              <a:cs typeface="Microsoft YaHei"/>
            </a:endParaRPr>
          </a:p>
          <a:p>
            <a:pPr marL="256540" indent="-213995">
              <a:lnSpc>
                <a:spcPct val="100000"/>
              </a:lnSpc>
              <a:spcBef>
                <a:spcPts val="1310"/>
              </a:spcBef>
              <a:buFont typeface="Wingdings"/>
              <a:buChar char=""/>
              <a:tabLst>
                <a:tab pos="256540" algn="l"/>
              </a:tabLst>
            </a:pPr>
            <a:r>
              <a:rPr dirty="0" sz="1100" spc="-25">
                <a:solidFill>
                  <a:srgbClr val="3E3E3E"/>
                </a:solidFill>
                <a:latin typeface="Microsoft YaHei"/>
                <a:cs typeface="Microsoft YaHei"/>
              </a:rPr>
              <a:t>通过详细的数据分析完成定位需求区域，形成可以实施宏微协同、室内外协同的站址规划。</a:t>
            </a:r>
            <a:endParaRPr sz="1100">
              <a:latin typeface="Microsoft YaHei"/>
              <a:cs typeface="Microsoft YaHei"/>
            </a:endParaRPr>
          </a:p>
          <a:p>
            <a:pPr marL="226695">
              <a:lnSpc>
                <a:spcPct val="100000"/>
              </a:lnSpc>
              <a:spcBef>
                <a:spcPts val="1235"/>
              </a:spcBef>
              <a:tabLst>
                <a:tab pos="4417695" algn="l"/>
              </a:tabLst>
            </a:pPr>
            <a:r>
              <a:rPr dirty="0" baseline="2525" sz="1650" spc="-15" b="1">
                <a:solidFill>
                  <a:srgbClr val="FF0000"/>
                </a:solidFill>
                <a:latin typeface="Microsoft YaHei"/>
                <a:cs typeface="Microsoft YaHei"/>
              </a:rPr>
              <a:t>1：</a:t>
            </a:r>
            <a:r>
              <a:rPr dirty="0" baseline="3472" sz="1200" spc="-15" b="1">
                <a:latin typeface="Microsoft YaHei"/>
                <a:cs typeface="Microsoft YaHei"/>
              </a:rPr>
              <a:t>通过“特征库”MR定位算法等技术，</a:t>
            </a:r>
            <a:r>
              <a:rPr dirty="0" baseline="3086" sz="1350" b="1">
                <a:solidFill>
                  <a:srgbClr val="FF0000"/>
                </a:solidFill>
                <a:latin typeface="Microsoft YaHei"/>
                <a:cs typeface="Microsoft YaHei"/>
              </a:rPr>
              <a:t>精准定位需求区</a:t>
            </a:r>
            <a:r>
              <a:rPr dirty="0" baseline="3086" sz="1350" spc="-75" b="1">
                <a:solidFill>
                  <a:srgbClr val="FF0000"/>
                </a:solidFill>
                <a:latin typeface="Microsoft YaHei"/>
                <a:cs typeface="Microsoft YaHei"/>
              </a:rPr>
              <a:t>域</a:t>
            </a:r>
            <a:r>
              <a:rPr dirty="0" baseline="3086" sz="1350" b="1">
                <a:solidFill>
                  <a:srgbClr val="FF0000"/>
                </a:solidFill>
                <a:latin typeface="Microsoft YaHei"/>
                <a:cs typeface="Microsoft YaHei"/>
              </a:rPr>
              <a:t>	</a:t>
            </a:r>
            <a:r>
              <a:rPr dirty="0" sz="1100" spc="-10" b="1">
                <a:solidFill>
                  <a:srgbClr val="FF0000"/>
                </a:solidFill>
                <a:latin typeface="Microsoft YaHei"/>
                <a:cs typeface="Microsoft YaHei"/>
              </a:rPr>
              <a:t>2：</a:t>
            </a:r>
            <a:r>
              <a:rPr dirty="0" sz="800" spc="-10" b="1">
                <a:latin typeface="Microsoft YaHei"/>
                <a:cs typeface="Microsoft YaHei"/>
              </a:rPr>
              <a:t>通过对</a:t>
            </a:r>
            <a:r>
              <a:rPr dirty="0" sz="800" spc="-10" b="1">
                <a:latin typeface="Arial"/>
                <a:cs typeface="Arial"/>
              </a:rPr>
              <a:t>MR</a:t>
            </a:r>
            <a:r>
              <a:rPr dirty="0" sz="800" spc="-10" b="1">
                <a:latin typeface="Microsoft YaHei"/>
                <a:cs typeface="Microsoft YaHei"/>
              </a:rPr>
              <a:t>栅格的价值评估，</a:t>
            </a:r>
            <a:r>
              <a:rPr dirty="0" sz="900" b="1">
                <a:solidFill>
                  <a:srgbClr val="FF0000"/>
                </a:solidFill>
                <a:latin typeface="Microsoft YaHei"/>
                <a:cs typeface="Microsoft YaHei"/>
              </a:rPr>
              <a:t>精确规划站</a:t>
            </a:r>
            <a:r>
              <a:rPr dirty="0" sz="900" spc="-50" b="1">
                <a:solidFill>
                  <a:srgbClr val="FF0000"/>
                </a:solidFill>
                <a:latin typeface="Microsoft YaHei"/>
                <a:cs typeface="Microsoft YaHei"/>
              </a:rPr>
              <a:t>址</a:t>
            </a:r>
            <a:endParaRPr sz="900">
              <a:latin typeface="Microsoft YaHei"/>
              <a:cs typeface="Microsoft YaHei"/>
            </a:endParaRPr>
          </a:p>
        </p:txBody>
      </p:sp>
      <p:sp>
        <p:nvSpPr>
          <p:cNvPr id="13" name="object 13"/>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0"/>
              <a:t>微站需求分析</a:t>
            </a:r>
          </a:p>
        </p:txBody>
      </p:sp>
      <p:pic>
        <p:nvPicPr>
          <p:cNvPr id="14" name="object 14"/>
          <p:cNvPicPr/>
          <p:nvPr/>
        </p:nvPicPr>
        <p:blipFill>
          <a:blip r:embed="rId7" cstate="print"/>
          <a:stretch>
            <a:fillRect/>
          </a:stretch>
        </p:blipFill>
        <p:spPr>
          <a:xfrm>
            <a:off x="4594429" y="1819795"/>
            <a:ext cx="4038992" cy="2849331"/>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75260" y="881633"/>
            <a:ext cx="4544060" cy="314325"/>
            <a:chOff x="175260" y="881633"/>
            <a:chExt cx="4544060" cy="314325"/>
          </a:xfrm>
        </p:grpSpPr>
        <p:pic>
          <p:nvPicPr>
            <p:cNvPr id="3" name="object 3" descr=""/>
            <p:cNvPicPr/>
            <p:nvPr/>
          </p:nvPicPr>
          <p:blipFill>
            <a:blip r:embed="rId2" cstate="print"/>
            <a:stretch>
              <a:fillRect/>
            </a:stretch>
          </p:blipFill>
          <p:spPr>
            <a:xfrm>
              <a:off x="217932" y="890015"/>
              <a:ext cx="4405871" cy="305561"/>
            </a:xfrm>
            <a:prstGeom prst="rect">
              <a:avLst/>
            </a:prstGeom>
          </p:spPr>
        </p:pic>
        <p:pic>
          <p:nvPicPr>
            <p:cNvPr id="4" name="object 4" descr=""/>
            <p:cNvPicPr/>
            <p:nvPr/>
          </p:nvPicPr>
          <p:blipFill>
            <a:blip r:embed="rId3" cstate="print"/>
            <a:stretch>
              <a:fillRect/>
            </a:stretch>
          </p:blipFill>
          <p:spPr>
            <a:xfrm>
              <a:off x="175260" y="881633"/>
              <a:ext cx="4543805" cy="268223"/>
            </a:xfrm>
            <a:prstGeom prst="rect">
              <a:avLst/>
            </a:prstGeom>
          </p:spPr>
        </p:pic>
      </p:grpSp>
      <p:sp>
        <p:nvSpPr>
          <p:cNvPr id="5" name="object 5" descr=""/>
          <p:cNvSpPr txBox="1"/>
          <p:nvPr/>
        </p:nvSpPr>
        <p:spPr>
          <a:xfrm>
            <a:off x="168275" y="840092"/>
            <a:ext cx="4403725" cy="304165"/>
          </a:xfrm>
          <a:prstGeom prst="rect">
            <a:avLst/>
          </a:prstGeom>
          <a:solidFill>
            <a:srgbClr val="333399"/>
          </a:solidFill>
        </p:spPr>
        <p:txBody>
          <a:bodyPr wrap="square" lIns="0" tIns="38735" rIns="0" bIns="0" rtlCol="0" vert="horz">
            <a:spAutoFit/>
          </a:bodyPr>
          <a:lstStyle/>
          <a:p>
            <a:pPr marL="63500">
              <a:lnSpc>
                <a:spcPct val="100000"/>
              </a:lnSpc>
              <a:spcBef>
                <a:spcPts val="305"/>
              </a:spcBef>
            </a:pPr>
            <a:r>
              <a:rPr dirty="0" sz="1400" spc="-20">
                <a:solidFill>
                  <a:srgbClr val="FFFFFF"/>
                </a:solidFill>
                <a:latin typeface="Microsoft YaHei"/>
                <a:cs typeface="Microsoft YaHei"/>
              </a:rPr>
              <a:t>微站需求分析-规划方法</a:t>
            </a:r>
            <a:r>
              <a:rPr dirty="0" sz="1400" spc="-10">
                <a:solidFill>
                  <a:srgbClr val="FFFFFF"/>
                </a:solidFill>
                <a:latin typeface="Microsoft YaHei"/>
                <a:cs typeface="Microsoft YaHei"/>
              </a:rPr>
              <a:t>2</a:t>
            </a:r>
            <a:r>
              <a:rPr dirty="0" sz="1400" spc="-20">
                <a:solidFill>
                  <a:srgbClr val="FFFFFF"/>
                </a:solidFill>
                <a:latin typeface="Microsoft YaHei"/>
                <a:cs typeface="Microsoft YaHei"/>
              </a:rPr>
              <a:t>-无法获取运营商企业</a:t>
            </a:r>
            <a:r>
              <a:rPr dirty="0" sz="1400" spc="-10">
                <a:solidFill>
                  <a:srgbClr val="FFFFFF"/>
                </a:solidFill>
                <a:latin typeface="Microsoft YaHei"/>
                <a:cs typeface="Microsoft YaHei"/>
              </a:rPr>
              <a:t>MR</a:t>
            </a:r>
            <a:r>
              <a:rPr dirty="0" sz="1400" spc="-35">
                <a:solidFill>
                  <a:srgbClr val="FFFFFF"/>
                </a:solidFill>
                <a:latin typeface="Microsoft YaHei"/>
                <a:cs typeface="Microsoft YaHei"/>
              </a:rPr>
              <a:t>数据</a:t>
            </a:r>
            <a:endParaRPr sz="1400">
              <a:latin typeface="Microsoft YaHei"/>
              <a:cs typeface="Microsoft YaHei"/>
            </a:endParaRPr>
          </a:p>
        </p:txBody>
      </p:sp>
      <p:sp>
        <p:nvSpPr>
          <p:cNvPr id="6" name="object 6" descr=""/>
          <p:cNvSpPr txBox="1"/>
          <p:nvPr/>
        </p:nvSpPr>
        <p:spPr>
          <a:xfrm>
            <a:off x="7054036" y="1174775"/>
            <a:ext cx="1820545" cy="3878579"/>
          </a:xfrm>
          <a:prstGeom prst="rect">
            <a:avLst/>
          </a:prstGeom>
          <a:solidFill>
            <a:srgbClr val="E7F3F4"/>
          </a:solidFill>
        </p:spPr>
        <p:txBody>
          <a:bodyPr wrap="square" lIns="0" tIns="21590" rIns="0" bIns="0" rtlCol="0" vert="horz">
            <a:spAutoFit/>
          </a:bodyPr>
          <a:lstStyle/>
          <a:p>
            <a:pPr algn="just" marL="281940" marR="134620" indent="-213995">
              <a:lnSpc>
                <a:spcPts val="1980"/>
              </a:lnSpc>
              <a:spcBef>
                <a:spcPts val="170"/>
              </a:spcBef>
              <a:buFont typeface="Wingdings"/>
              <a:buChar char=""/>
              <a:tabLst>
                <a:tab pos="283210" algn="l"/>
              </a:tabLst>
            </a:pPr>
            <a:r>
              <a:rPr dirty="0" sz="1100" spc="-25">
                <a:solidFill>
                  <a:srgbClr val="3E3E3E"/>
                </a:solidFill>
                <a:latin typeface="Microsoft YaHei"/>
                <a:cs typeface="Microsoft YaHei"/>
              </a:rPr>
              <a:t>依托仿真工具，定位区</a:t>
            </a:r>
            <a:r>
              <a:rPr dirty="0" sz="1100" spc="-25">
                <a:solidFill>
                  <a:srgbClr val="3E3E3E"/>
                </a:solidFill>
                <a:latin typeface="Microsoft YaHei"/>
                <a:cs typeface="Microsoft YaHei"/>
              </a:rPr>
              <a:t>	</a:t>
            </a:r>
            <a:r>
              <a:rPr dirty="0" sz="1100" spc="-30">
                <a:solidFill>
                  <a:srgbClr val="3E3E3E"/>
                </a:solidFill>
                <a:latin typeface="Microsoft YaHei"/>
                <a:cs typeface="Microsoft YaHei"/>
              </a:rPr>
              <a:t>域内问题点。</a:t>
            </a:r>
            <a:endParaRPr sz="1100">
              <a:latin typeface="Microsoft YaHei"/>
              <a:cs typeface="Microsoft YaHei"/>
            </a:endParaRPr>
          </a:p>
          <a:p>
            <a:pPr algn="just" marL="281940" marR="134620" indent="-213995">
              <a:lnSpc>
                <a:spcPct val="150000"/>
              </a:lnSpc>
              <a:spcBef>
                <a:spcPts val="1805"/>
              </a:spcBef>
              <a:buFont typeface="Wingdings"/>
              <a:buChar char=""/>
              <a:tabLst>
                <a:tab pos="283210" algn="l"/>
              </a:tabLst>
            </a:pPr>
            <a:r>
              <a:rPr dirty="0" sz="1100" spc="-25">
                <a:solidFill>
                  <a:srgbClr val="3E3E3E"/>
                </a:solidFill>
                <a:latin typeface="Microsoft YaHei"/>
                <a:cs typeface="Microsoft YaHei"/>
              </a:rPr>
              <a:t>结合地图软件，分析区	域场景特点，获取覆盖	容量需求，特殊场景需</a:t>
            </a:r>
            <a:r>
              <a:rPr dirty="0" sz="1100" spc="-25">
                <a:solidFill>
                  <a:srgbClr val="3E3E3E"/>
                </a:solidFill>
                <a:latin typeface="Microsoft YaHei"/>
                <a:cs typeface="Microsoft YaHei"/>
              </a:rPr>
              <a:t>	</a:t>
            </a:r>
            <a:r>
              <a:rPr dirty="0" sz="1100" spc="-30">
                <a:solidFill>
                  <a:srgbClr val="3E3E3E"/>
                </a:solidFill>
                <a:latin typeface="Microsoft YaHei"/>
                <a:cs typeface="Microsoft YaHei"/>
              </a:rPr>
              <a:t>实地初勘</a:t>
            </a:r>
            <a:endParaRPr sz="1100">
              <a:latin typeface="Microsoft YaHei"/>
              <a:cs typeface="Microsoft YaHei"/>
            </a:endParaRPr>
          </a:p>
          <a:p>
            <a:pPr algn="just" marL="281940" marR="134620" indent="-213995">
              <a:lnSpc>
                <a:spcPct val="150000"/>
              </a:lnSpc>
              <a:spcBef>
                <a:spcPts val="1980"/>
              </a:spcBef>
              <a:buFont typeface="Wingdings"/>
              <a:buChar char=""/>
              <a:tabLst>
                <a:tab pos="283210" algn="l"/>
              </a:tabLst>
            </a:pPr>
            <a:r>
              <a:rPr dirty="0" sz="1100" spc="-25">
                <a:solidFill>
                  <a:srgbClr val="3E3E3E"/>
                </a:solidFill>
                <a:latin typeface="Microsoft YaHei"/>
                <a:cs typeface="Microsoft YaHei"/>
              </a:rPr>
              <a:t>区域内解决方案需以优	先宏站、其次微站、最	后室分站的顺序解决特	殊场景弱覆盖及容量需	求，并灵活运用组合方	式形成场景协同规划，	最终形成区域规划。</a:t>
            </a:r>
            <a:endParaRPr sz="1100">
              <a:latin typeface="Microsoft YaHei"/>
              <a:cs typeface="Microsoft YaHei"/>
            </a:endParaRPr>
          </a:p>
        </p:txBody>
      </p:sp>
      <p:sp>
        <p:nvSpPr>
          <p:cNvPr id="7" name="object 7"/>
          <p:cNvSpPr txBox="1">
            <a:spLocks noGrp="1"/>
          </p:cNvSpPr>
          <p:nvPr>
            <p:ph type="title"/>
          </p:nvPr>
        </p:nvSpPr>
        <p:spPr>
          <a:xfrm>
            <a:off x="3376993" y="177834"/>
            <a:ext cx="2467610" cy="513080"/>
          </a:xfrm>
          <a:prstGeom prst="rect"/>
        </p:spPr>
        <p:txBody>
          <a:bodyPr wrap="square" lIns="0" tIns="12065" rIns="0" bIns="0" rtlCol="0" vert="horz">
            <a:spAutoFit/>
          </a:bodyPr>
          <a:lstStyle/>
          <a:p>
            <a:pPr marL="12700">
              <a:lnSpc>
                <a:spcPct val="100000"/>
              </a:lnSpc>
              <a:spcBef>
                <a:spcPts val="95"/>
              </a:spcBef>
            </a:pPr>
            <a:r>
              <a:rPr dirty="0" spc="-40"/>
              <a:t>微站需求分析</a:t>
            </a:r>
          </a:p>
        </p:txBody>
      </p:sp>
      <p:grpSp>
        <p:nvGrpSpPr>
          <p:cNvPr id="8" name="object 8"/>
          <p:cNvGrpSpPr/>
          <p:nvPr/>
        </p:nvGrpSpPr>
        <p:grpSpPr>
          <a:xfrm>
            <a:off x="331203" y="3188208"/>
            <a:ext cx="1687195" cy="1694814"/>
            <a:chOff x="331203" y="3188208"/>
            <a:chExt cx="1687195" cy="1694814"/>
          </a:xfrm>
        </p:grpSpPr>
        <p:pic>
          <p:nvPicPr>
            <p:cNvPr id="9" name="object 9"/>
            <p:cNvPicPr/>
            <p:nvPr/>
          </p:nvPicPr>
          <p:blipFill>
            <a:blip r:embed="rId4" cstate="print"/>
            <a:stretch>
              <a:fillRect/>
            </a:stretch>
          </p:blipFill>
          <p:spPr>
            <a:xfrm>
              <a:off x="335280" y="3188208"/>
              <a:ext cx="1682496" cy="1694688"/>
            </a:xfrm>
            <a:prstGeom prst="rect">
              <a:avLst/>
            </a:prstGeom>
          </p:spPr>
        </p:pic>
        <p:sp>
          <p:nvSpPr>
            <p:cNvPr id="10" name="object 10" descr=""/>
            <p:cNvSpPr/>
            <p:nvPr/>
          </p:nvSpPr>
          <p:spPr>
            <a:xfrm>
              <a:off x="331203" y="3193643"/>
              <a:ext cx="657860" cy="261620"/>
            </a:xfrm>
            <a:custGeom>
              <a:avLst/>
              <a:gdLst/>
              <a:ahLst/>
              <a:cxnLst/>
              <a:rect l="l" t="t" r="r" b="b"/>
              <a:pathLst>
                <a:path w="657860" h="261620">
                  <a:moveTo>
                    <a:pt x="657326" y="0"/>
                  </a:moveTo>
                  <a:lnTo>
                    <a:pt x="0" y="0"/>
                  </a:lnTo>
                  <a:lnTo>
                    <a:pt x="0" y="261607"/>
                  </a:lnTo>
                  <a:lnTo>
                    <a:pt x="657326" y="261607"/>
                  </a:lnTo>
                  <a:lnTo>
                    <a:pt x="657326" y="0"/>
                  </a:lnTo>
                  <a:close/>
                </a:path>
              </a:pathLst>
            </a:custGeom>
            <a:solidFill>
              <a:srgbClr val="C00000"/>
            </a:solidFill>
          </p:spPr>
          <p:txBody>
            <a:bodyPr wrap="square" lIns="0" tIns="0" rIns="0" bIns="0" rtlCol="0"/>
            <a:lstStyle/>
            <a:p/>
          </p:txBody>
        </p:sp>
      </p:grpSp>
      <p:grpSp>
        <p:nvGrpSpPr>
          <p:cNvPr id="11" name="object 11" descr=""/>
          <p:cNvGrpSpPr/>
          <p:nvPr/>
        </p:nvGrpSpPr>
        <p:grpSpPr>
          <a:xfrm>
            <a:off x="2212848" y="3250692"/>
            <a:ext cx="3161030" cy="1701800"/>
            <a:chOff x="2212848" y="3250692"/>
            <a:chExt cx="3161030" cy="1701800"/>
          </a:xfrm>
        </p:grpSpPr>
        <p:pic>
          <p:nvPicPr>
            <p:cNvPr id="12" name="object 12"/>
            <p:cNvPicPr/>
            <p:nvPr/>
          </p:nvPicPr>
          <p:blipFill>
            <a:blip r:embed="rId5" cstate="print"/>
            <a:stretch>
              <a:fillRect/>
            </a:stretch>
          </p:blipFill>
          <p:spPr>
            <a:xfrm>
              <a:off x="3204972" y="3371087"/>
              <a:ext cx="292607" cy="1581149"/>
            </a:xfrm>
            <a:prstGeom prst="rect">
              <a:avLst/>
            </a:prstGeom>
          </p:spPr>
        </p:pic>
        <p:sp>
          <p:nvSpPr>
            <p:cNvPr id="13" name="object 13" descr=""/>
            <p:cNvSpPr/>
            <p:nvPr/>
          </p:nvSpPr>
          <p:spPr>
            <a:xfrm>
              <a:off x="3246426" y="3404628"/>
              <a:ext cx="197485" cy="1473835"/>
            </a:xfrm>
            <a:custGeom>
              <a:avLst/>
              <a:gdLst/>
              <a:ahLst/>
              <a:cxnLst/>
              <a:rect l="l" t="t" r="r" b="b"/>
              <a:pathLst>
                <a:path w="197485" h="1473835">
                  <a:moveTo>
                    <a:pt x="0" y="0"/>
                  </a:moveTo>
                  <a:lnTo>
                    <a:pt x="76851" y="1292"/>
                  </a:lnTo>
                  <a:lnTo>
                    <a:pt x="139607" y="4818"/>
                  </a:lnTo>
                  <a:lnTo>
                    <a:pt x="181919" y="10045"/>
                  </a:lnTo>
                  <a:lnTo>
                    <a:pt x="197434" y="16446"/>
                  </a:lnTo>
                  <a:lnTo>
                    <a:pt x="197434" y="1457185"/>
                  </a:lnTo>
                  <a:lnTo>
                    <a:pt x="181919" y="1463585"/>
                  </a:lnTo>
                  <a:lnTo>
                    <a:pt x="139607" y="1468813"/>
                  </a:lnTo>
                  <a:lnTo>
                    <a:pt x="76851" y="1472338"/>
                  </a:lnTo>
                  <a:lnTo>
                    <a:pt x="0" y="1473631"/>
                  </a:lnTo>
                </a:path>
              </a:pathLst>
            </a:custGeom>
            <a:ln w="25400">
              <a:solidFill>
                <a:srgbClr val="333399"/>
              </a:solidFill>
            </a:ln>
          </p:spPr>
          <p:txBody>
            <a:bodyPr wrap="square" lIns="0" tIns="0" rIns="0" bIns="0" rtlCol="0"/>
            <a:lstStyle/>
            <a:p/>
          </p:txBody>
        </p:sp>
        <p:pic>
          <p:nvPicPr>
            <p:cNvPr id="14" name="object 14" descr=""/>
            <p:cNvPicPr/>
            <p:nvPr/>
          </p:nvPicPr>
          <p:blipFill>
            <a:blip r:embed="rId6" cstate="print"/>
            <a:stretch>
              <a:fillRect/>
            </a:stretch>
          </p:blipFill>
          <p:spPr>
            <a:xfrm>
              <a:off x="4541888" y="3646672"/>
              <a:ext cx="784618" cy="395153"/>
            </a:xfrm>
            <a:prstGeom prst="rect">
              <a:avLst/>
            </a:prstGeom>
          </p:spPr>
        </p:pic>
        <p:pic>
          <p:nvPicPr>
            <p:cNvPr id="15" name="object 15" descr=""/>
            <p:cNvPicPr/>
            <p:nvPr/>
          </p:nvPicPr>
          <p:blipFill>
            <a:blip r:embed="rId7" cstate="print"/>
            <a:stretch>
              <a:fillRect/>
            </a:stretch>
          </p:blipFill>
          <p:spPr>
            <a:xfrm>
              <a:off x="4494276" y="3432810"/>
              <a:ext cx="879347" cy="300227"/>
            </a:xfrm>
            <a:prstGeom prst="rect">
              <a:avLst/>
            </a:prstGeom>
          </p:spPr>
        </p:pic>
        <p:pic>
          <p:nvPicPr>
            <p:cNvPr id="16" name="object 16" descr=""/>
            <p:cNvPicPr/>
            <p:nvPr/>
          </p:nvPicPr>
          <p:blipFill>
            <a:blip r:embed="rId8" cstate="print"/>
            <a:stretch>
              <a:fillRect/>
            </a:stretch>
          </p:blipFill>
          <p:spPr>
            <a:xfrm>
              <a:off x="4540351" y="3456025"/>
              <a:ext cx="787031" cy="207746"/>
            </a:xfrm>
            <a:prstGeom prst="rect">
              <a:avLst/>
            </a:prstGeom>
          </p:spPr>
        </p:pic>
        <p:pic>
          <p:nvPicPr>
            <p:cNvPr id="17" name="object 17" descr=""/>
            <p:cNvPicPr/>
            <p:nvPr/>
          </p:nvPicPr>
          <p:blipFill>
            <a:blip r:embed="rId9" cstate="print"/>
            <a:stretch>
              <a:fillRect/>
            </a:stretch>
          </p:blipFill>
          <p:spPr>
            <a:xfrm>
              <a:off x="2284869" y="4044569"/>
              <a:ext cx="987856" cy="338556"/>
            </a:xfrm>
            <a:prstGeom prst="rect">
              <a:avLst/>
            </a:prstGeom>
          </p:spPr>
        </p:pic>
        <p:pic>
          <p:nvPicPr>
            <p:cNvPr id="18" name="object 18" descr=""/>
            <p:cNvPicPr/>
            <p:nvPr/>
          </p:nvPicPr>
          <p:blipFill>
            <a:blip r:embed="rId10" cstate="print"/>
            <a:stretch>
              <a:fillRect/>
            </a:stretch>
          </p:blipFill>
          <p:spPr>
            <a:xfrm>
              <a:off x="2238756" y="3818394"/>
              <a:ext cx="1079741" cy="300214"/>
            </a:xfrm>
            <a:prstGeom prst="rect">
              <a:avLst/>
            </a:prstGeom>
          </p:spPr>
        </p:pic>
        <p:pic>
          <p:nvPicPr>
            <p:cNvPr id="19" name="object 19" descr=""/>
            <p:cNvPicPr/>
            <p:nvPr/>
          </p:nvPicPr>
          <p:blipFill>
            <a:blip r:embed="rId11" cstate="print"/>
            <a:stretch>
              <a:fillRect/>
            </a:stretch>
          </p:blipFill>
          <p:spPr>
            <a:xfrm>
              <a:off x="2284869" y="3841584"/>
              <a:ext cx="987856" cy="207746"/>
            </a:xfrm>
            <a:prstGeom prst="rect">
              <a:avLst/>
            </a:prstGeom>
          </p:spPr>
        </p:pic>
        <p:sp>
          <p:nvSpPr>
            <p:cNvPr id="20" name="object 20" descr=""/>
            <p:cNvSpPr/>
            <p:nvPr/>
          </p:nvSpPr>
          <p:spPr>
            <a:xfrm>
              <a:off x="2284867" y="3841588"/>
              <a:ext cx="988060" cy="208279"/>
            </a:xfrm>
            <a:custGeom>
              <a:avLst/>
              <a:gdLst/>
              <a:ahLst/>
              <a:cxnLst/>
              <a:rect l="l" t="t" r="r" b="b"/>
              <a:pathLst>
                <a:path w="988060" h="208279">
                  <a:moveTo>
                    <a:pt x="0" y="0"/>
                  </a:moveTo>
                  <a:lnTo>
                    <a:pt x="987856" y="0"/>
                  </a:lnTo>
                  <a:lnTo>
                    <a:pt x="987856" y="207746"/>
                  </a:lnTo>
                  <a:lnTo>
                    <a:pt x="0" y="207746"/>
                  </a:lnTo>
                  <a:lnTo>
                    <a:pt x="0" y="0"/>
                  </a:lnTo>
                  <a:close/>
                </a:path>
              </a:pathLst>
            </a:custGeom>
            <a:ln w="9525">
              <a:solidFill>
                <a:srgbClr val="F9F9F9"/>
              </a:solidFill>
            </a:ln>
          </p:spPr>
          <p:txBody>
            <a:bodyPr wrap="square" lIns="0" tIns="0" rIns="0" bIns="0" rtlCol="0"/>
            <a:lstStyle/>
            <a:p/>
          </p:txBody>
        </p:sp>
        <p:pic>
          <p:nvPicPr>
            <p:cNvPr id="21" name="object 21" descr=""/>
            <p:cNvPicPr/>
            <p:nvPr/>
          </p:nvPicPr>
          <p:blipFill>
            <a:blip r:embed="rId12" cstate="print"/>
            <a:stretch>
              <a:fillRect/>
            </a:stretch>
          </p:blipFill>
          <p:spPr>
            <a:xfrm>
              <a:off x="2283333" y="4485284"/>
              <a:ext cx="990015" cy="460743"/>
            </a:xfrm>
            <a:prstGeom prst="rect">
              <a:avLst/>
            </a:prstGeom>
          </p:spPr>
        </p:pic>
        <p:pic>
          <p:nvPicPr>
            <p:cNvPr id="22" name="object 22" descr=""/>
            <p:cNvPicPr/>
            <p:nvPr/>
          </p:nvPicPr>
          <p:blipFill>
            <a:blip r:embed="rId13" cstate="print"/>
            <a:stretch>
              <a:fillRect/>
            </a:stretch>
          </p:blipFill>
          <p:spPr>
            <a:xfrm>
              <a:off x="2238756" y="4347210"/>
              <a:ext cx="1080515" cy="299465"/>
            </a:xfrm>
            <a:prstGeom prst="rect">
              <a:avLst/>
            </a:prstGeom>
          </p:spPr>
        </p:pic>
        <p:pic>
          <p:nvPicPr>
            <p:cNvPr id="23" name="object 23" descr=""/>
            <p:cNvPicPr/>
            <p:nvPr/>
          </p:nvPicPr>
          <p:blipFill>
            <a:blip r:embed="rId14" cstate="print"/>
            <a:stretch>
              <a:fillRect/>
            </a:stretch>
          </p:blipFill>
          <p:spPr>
            <a:xfrm>
              <a:off x="2284869" y="4369879"/>
              <a:ext cx="988479" cy="207746"/>
            </a:xfrm>
            <a:prstGeom prst="rect">
              <a:avLst/>
            </a:prstGeom>
          </p:spPr>
        </p:pic>
        <p:sp>
          <p:nvSpPr>
            <p:cNvPr id="24" name="object 24" descr=""/>
            <p:cNvSpPr/>
            <p:nvPr/>
          </p:nvSpPr>
          <p:spPr>
            <a:xfrm>
              <a:off x="2284867" y="4369875"/>
              <a:ext cx="988694" cy="208279"/>
            </a:xfrm>
            <a:custGeom>
              <a:avLst/>
              <a:gdLst/>
              <a:ahLst/>
              <a:cxnLst/>
              <a:rect l="l" t="t" r="r" b="b"/>
              <a:pathLst>
                <a:path w="988695" h="208279">
                  <a:moveTo>
                    <a:pt x="0" y="0"/>
                  </a:moveTo>
                  <a:lnTo>
                    <a:pt x="988479" y="0"/>
                  </a:lnTo>
                  <a:lnTo>
                    <a:pt x="988479" y="207746"/>
                  </a:lnTo>
                  <a:lnTo>
                    <a:pt x="0" y="207746"/>
                  </a:lnTo>
                  <a:lnTo>
                    <a:pt x="0" y="0"/>
                  </a:lnTo>
                  <a:close/>
                </a:path>
              </a:pathLst>
            </a:custGeom>
            <a:ln w="9525">
              <a:solidFill>
                <a:srgbClr val="F9F9F9"/>
              </a:solidFill>
            </a:ln>
          </p:spPr>
          <p:txBody>
            <a:bodyPr wrap="square" lIns="0" tIns="0" rIns="0" bIns="0" rtlCol="0"/>
            <a:lstStyle/>
            <a:p/>
          </p:txBody>
        </p:sp>
        <p:pic>
          <p:nvPicPr>
            <p:cNvPr id="25" name="object 25" descr=""/>
            <p:cNvPicPr/>
            <p:nvPr/>
          </p:nvPicPr>
          <p:blipFill>
            <a:blip r:embed="rId15" cstate="print"/>
            <a:stretch>
              <a:fillRect/>
            </a:stretch>
          </p:blipFill>
          <p:spPr>
            <a:xfrm>
              <a:off x="2271725" y="3465855"/>
              <a:ext cx="1001001" cy="376237"/>
            </a:xfrm>
            <a:prstGeom prst="rect">
              <a:avLst/>
            </a:prstGeom>
          </p:spPr>
        </p:pic>
        <p:pic>
          <p:nvPicPr>
            <p:cNvPr id="26" name="object 26" descr=""/>
            <p:cNvPicPr/>
            <p:nvPr/>
          </p:nvPicPr>
          <p:blipFill>
            <a:blip r:embed="rId16" cstate="print"/>
            <a:stretch>
              <a:fillRect/>
            </a:stretch>
          </p:blipFill>
          <p:spPr>
            <a:xfrm>
              <a:off x="2212848" y="3250692"/>
              <a:ext cx="1105661" cy="299465"/>
            </a:xfrm>
            <a:prstGeom prst="rect">
              <a:avLst/>
            </a:prstGeom>
          </p:spPr>
        </p:pic>
        <p:pic>
          <p:nvPicPr>
            <p:cNvPr id="27" name="object 27" descr=""/>
            <p:cNvPicPr/>
            <p:nvPr/>
          </p:nvPicPr>
          <p:blipFill>
            <a:blip r:embed="rId17" cstate="print"/>
            <a:stretch>
              <a:fillRect/>
            </a:stretch>
          </p:blipFill>
          <p:spPr>
            <a:xfrm>
              <a:off x="2258568" y="3273259"/>
              <a:ext cx="1014145" cy="207746"/>
            </a:xfrm>
            <a:prstGeom prst="rect">
              <a:avLst/>
            </a:prstGeom>
          </p:spPr>
        </p:pic>
        <p:sp>
          <p:nvSpPr>
            <p:cNvPr id="28" name="object 28" descr=""/>
            <p:cNvSpPr/>
            <p:nvPr/>
          </p:nvSpPr>
          <p:spPr>
            <a:xfrm>
              <a:off x="2258573" y="3273262"/>
              <a:ext cx="1014730" cy="208279"/>
            </a:xfrm>
            <a:custGeom>
              <a:avLst/>
              <a:gdLst/>
              <a:ahLst/>
              <a:cxnLst/>
              <a:rect l="l" t="t" r="r" b="b"/>
              <a:pathLst>
                <a:path w="1014729" h="208279">
                  <a:moveTo>
                    <a:pt x="0" y="0"/>
                  </a:moveTo>
                  <a:lnTo>
                    <a:pt x="1014145" y="0"/>
                  </a:lnTo>
                  <a:lnTo>
                    <a:pt x="1014145" y="207746"/>
                  </a:lnTo>
                  <a:lnTo>
                    <a:pt x="0" y="207746"/>
                  </a:lnTo>
                  <a:lnTo>
                    <a:pt x="0" y="0"/>
                  </a:lnTo>
                  <a:close/>
                </a:path>
              </a:pathLst>
            </a:custGeom>
            <a:ln w="9525">
              <a:solidFill>
                <a:srgbClr val="F9F9F9"/>
              </a:solidFill>
            </a:ln>
          </p:spPr>
          <p:txBody>
            <a:bodyPr wrap="square" lIns="0" tIns="0" rIns="0" bIns="0" rtlCol="0"/>
            <a:lstStyle/>
            <a:p/>
          </p:txBody>
        </p:sp>
        <p:pic>
          <p:nvPicPr>
            <p:cNvPr id="29" name="object 29" descr=""/>
            <p:cNvPicPr/>
            <p:nvPr/>
          </p:nvPicPr>
          <p:blipFill>
            <a:blip r:embed="rId18" cstate="print"/>
            <a:stretch>
              <a:fillRect/>
            </a:stretch>
          </p:blipFill>
          <p:spPr>
            <a:xfrm>
              <a:off x="3553206" y="3586734"/>
              <a:ext cx="685799" cy="299465"/>
            </a:xfrm>
            <a:prstGeom prst="rect">
              <a:avLst/>
            </a:prstGeom>
          </p:spPr>
        </p:pic>
        <p:pic>
          <p:nvPicPr>
            <p:cNvPr id="30" name="object 30" descr=""/>
            <p:cNvPicPr/>
            <p:nvPr/>
          </p:nvPicPr>
          <p:blipFill>
            <a:blip r:embed="rId19" cstate="print"/>
            <a:stretch>
              <a:fillRect/>
            </a:stretch>
          </p:blipFill>
          <p:spPr>
            <a:xfrm>
              <a:off x="3599078" y="3609771"/>
              <a:ext cx="594144" cy="207746"/>
            </a:xfrm>
            <a:prstGeom prst="rect">
              <a:avLst/>
            </a:prstGeom>
          </p:spPr>
        </p:pic>
        <p:sp>
          <p:nvSpPr>
            <p:cNvPr id="31" name="object 31" descr=""/>
            <p:cNvSpPr/>
            <p:nvPr/>
          </p:nvSpPr>
          <p:spPr>
            <a:xfrm>
              <a:off x="3599084" y="3609771"/>
              <a:ext cx="594360" cy="208279"/>
            </a:xfrm>
            <a:custGeom>
              <a:avLst/>
              <a:gdLst/>
              <a:ahLst/>
              <a:cxnLst/>
              <a:rect l="l" t="t" r="r" b="b"/>
              <a:pathLst>
                <a:path w="594360" h="208279">
                  <a:moveTo>
                    <a:pt x="0" y="0"/>
                  </a:moveTo>
                  <a:lnTo>
                    <a:pt x="594144" y="0"/>
                  </a:lnTo>
                  <a:lnTo>
                    <a:pt x="594144" y="207746"/>
                  </a:lnTo>
                  <a:lnTo>
                    <a:pt x="0" y="207746"/>
                  </a:lnTo>
                  <a:lnTo>
                    <a:pt x="0" y="0"/>
                  </a:lnTo>
                  <a:close/>
                </a:path>
              </a:pathLst>
            </a:custGeom>
            <a:ln w="9525">
              <a:solidFill>
                <a:srgbClr val="F9F9F9"/>
              </a:solidFill>
            </a:ln>
          </p:spPr>
          <p:txBody>
            <a:bodyPr wrap="square" lIns="0" tIns="0" rIns="0" bIns="0" rtlCol="0"/>
            <a:lstStyle/>
            <a:p/>
          </p:txBody>
        </p:sp>
        <p:pic>
          <p:nvPicPr>
            <p:cNvPr id="32" name="object 32" descr=""/>
            <p:cNvPicPr/>
            <p:nvPr/>
          </p:nvPicPr>
          <p:blipFill>
            <a:blip r:embed="rId20" cstate="print"/>
            <a:stretch>
              <a:fillRect/>
            </a:stretch>
          </p:blipFill>
          <p:spPr>
            <a:xfrm>
              <a:off x="3553206" y="4018788"/>
              <a:ext cx="685799" cy="299465"/>
            </a:xfrm>
            <a:prstGeom prst="rect">
              <a:avLst/>
            </a:prstGeom>
          </p:spPr>
        </p:pic>
        <p:pic>
          <p:nvPicPr>
            <p:cNvPr id="33" name="object 33" descr=""/>
            <p:cNvPicPr/>
            <p:nvPr/>
          </p:nvPicPr>
          <p:blipFill>
            <a:blip r:embed="rId21" cstate="print"/>
            <a:stretch>
              <a:fillRect/>
            </a:stretch>
          </p:blipFill>
          <p:spPr>
            <a:xfrm>
              <a:off x="3598900" y="4041825"/>
              <a:ext cx="594334" cy="207746"/>
            </a:xfrm>
            <a:prstGeom prst="rect">
              <a:avLst/>
            </a:prstGeom>
          </p:spPr>
        </p:pic>
        <p:sp>
          <p:nvSpPr>
            <p:cNvPr id="34" name="object 34" descr=""/>
            <p:cNvSpPr/>
            <p:nvPr/>
          </p:nvSpPr>
          <p:spPr>
            <a:xfrm>
              <a:off x="3598895" y="4041819"/>
              <a:ext cx="594360" cy="208279"/>
            </a:xfrm>
            <a:custGeom>
              <a:avLst/>
              <a:gdLst/>
              <a:ahLst/>
              <a:cxnLst/>
              <a:rect l="l" t="t" r="r" b="b"/>
              <a:pathLst>
                <a:path w="594360" h="208279">
                  <a:moveTo>
                    <a:pt x="0" y="0"/>
                  </a:moveTo>
                  <a:lnTo>
                    <a:pt x="594334" y="0"/>
                  </a:lnTo>
                  <a:lnTo>
                    <a:pt x="594334" y="207746"/>
                  </a:lnTo>
                  <a:lnTo>
                    <a:pt x="0" y="207746"/>
                  </a:lnTo>
                  <a:lnTo>
                    <a:pt x="0" y="0"/>
                  </a:lnTo>
                  <a:close/>
                </a:path>
              </a:pathLst>
            </a:custGeom>
            <a:ln w="9525">
              <a:solidFill>
                <a:srgbClr val="F9F9F9"/>
              </a:solidFill>
            </a:ln>
          </p:spPr>
          <p:txBody>
            <a:bodyPr wrap="square" lIns="0" tIns="0" rIns="0" bIns="0" rtlCol="0"/>
            <a:lstStyle/>
            <a:p/>
          </p:txBody>
        </p:sp>
        <p:pic>
          <p:nvPicPr>
            <p:cNvPr id="35" name="object 35"/>
            <p:cNvPicPr/>
            <p:nvPr/>
          </p:nvPicPr>
          <p:blipFill>
            <a:blip r:embed="rId22" cstate="print"/>
            <a:stretch>
              <a:fillRect/>
            </a:stretch>
          </p:blipFill>
          <p:spPr>
            <a:xfrm>
              <a:off x="4540356" y="4395753"/>
              <a:ext cx="786150" cy="402141"/>
            </a:xfrm>
            <a:prstGeom prst="rect">
              <a:avLst/>
            </a:prstGeom>
          </p:spPr>
        </p:pic>
        <p:pic>
          <p:nvPicPr>
            <p:cNvPr id="36" name="object 36" descr=""/>
            <p:cNvPicPr/>
            <p:nvPr/>
          </p:nvPicPr>
          <p:blipFill>
            <a:blip r:embed="rId23" cstate="print"/>
            <a:stretch>
              <a:fillRect/>
            </a:stretch>
          </p:blipFill>
          <p:spPr>
            <a:xfrm>
              <a:off x="4494276" y="4165854"/>
              <a:ext cx="877823" cy="299465"/>
            </a:xfrm>
            <a:prstGeom prst="rect">
              <a:avLst/>
            </a:prstGeom>
          </p:spPr>
        </p:pic>
        <p:pic>
          <p:nvPicPr>
            <p:cNvPr id="37" name="object 37" descr=""/>
            <p:cNvPicPr/>
            <p:nvPr/>
          </p:nvPicPr>
          <p:blipFill>
            <a:blip r:embed="rId24" cstate="print"/>
            <a:stretch>
              <a:fillRect/>
            </a:stretch>
          </p:blipFill>
          <p:spPr>
            <a:xfrm>
              <a:off x="4540351" y="4188587"/>
              <a:ext cx="786155" cy="207746"/>
            </a:xfrm>
            <a:prstGeom prst="rect">
              <a:avLst/>
            </a:prstGeom>
          </p:spPr>
        </p:pic>
        <p:pic>
          <p:nvPicPr>
            <p:cNvPr id="38" name="object 38" descr=""/>
            <p:cNvPicPr/>
            <p:nvPr/>
          </p:nvPicPr>
          <p:blipFill>
            <a:blip r:embed="rId25" cstate="print"/>
            <a:stretch>
              <a:fillRect/>
            </a:stretch>
          </p:blipFill>
          <p:spPr>
            <a:xfrm>
              <a:off x="3553206" y="4413504"/>
              <a:ext cx="685799" cy="299465"/>
            </a:xfrm>
            <a:prstGeom prst="rect">
              <a:avLst/>
            </a:prstGeom>
          </p:spPr>
        </p:pic>
        <p:pic>
          <p:nvPicPr>
            <p:cNvPr id="39" name="object 39" descr=""/>
            <p:cNvPicPr/>
            <p:nvPr/>
          </p:nvPicPr>
          <p:blipFill>
            <a:blip r:embed="rId26" cstate="print"/>
            <a:stretch>
              <a:fillRect/>
            </a:stretch>
          </p:blipFill>
          <p:spPr>
            <a:xfrm>
              <a:off x="3614928" y="4417314"/>
              <a:ext cx="595883" cy="254507"/>
            </a:xfrm>
            <a:prstGeom prst="rect">
              <a:avLst/>
            </a:prstGeom>
          </p:spPr>
        </p:pic>
        <p:pic>
          <p:nvPicPr>
            <p:cNvPr id="40" name="object 40" descr=""/>
            <p:cNvPicPr/>
            <p:nvPr/>
          </p:nvPicPr>
          <p:blipFill>
            <a:blip r:embed="rId27" cstate="print"/>
            <a:stretch>
              <a:fillRect/>
            </a:stretch>
          </p:blipFill>
          <p:spPr>
            <a:xfrm>
              <a:off x="3598900" y="4436122"/>
              <a:ext cx="594334" cy="207746"/>
            </a:xfrm>
            <a:prstGeom prst="rect">
              <a:avLst/>
            </a:prstGeom>
          </p:spPr>
        </p:pic>
        <p:sp>
          <p:nvSpPr>
            <p:cNvPr id="41" name="object 41" descr=""/>
            <p:cNvSpPr/>
            <p:nvPr/>
          </p:nvSpPr>
          <p:spPr>
            <a:xfrm>
              <a:off x="3598895" y="4436118"/>
              <a:ext cx="594360" cy="208279"/>
            </a:xfrm>
            <a:custGeom>
              <a:avLst/>
              <a:gdLst/>
              <a:ahLst/>
              <a:cxnLst/>
              <a:rect l="l" t="t" r="r" b="b"/>
              <a:pathLst>
                <a:path w="594360" h="208279">
                  <a:moveTo>
                    <a:pt x="0" y="0"/>
                  </a:moveTo>
                  <a:lnTo>
                    <a:pt x="594334" y="0"/>
                  </a:lnTo>
                  <a:lnTo>
                    <a:pt x="594334" y="207746"/>
                  </a:lnTo>
                  <a:lnTo>
                    <a:pt x="0" y="207746"/>
                  </a:lnTo>
                  <a:lnTo>
                    <a:pt x="0" y="0"/>
                  </a:lnTo>
                  <a:close/>
                </a:path>
              </a:pathLst>
            </a:custGeom>
            <a:ln w="9525">
              <a:solidFill>
                <a:srgbClr val="F9F9F9"/>
              </a:solidFill>
            </a:ln>
          </p:spPr>
          <p:txBody>
            <a:bodyPr wrap="square" lIns="0" tIns="0" rIns="0" bIns="0" rtlCol="0"/>
            <a:lstStyle/>
            <a:p/>
          </p:txBody>
        </p:sp>
        <p:pic>
          <p:nvPicPr>
            <p:cNvPr id="42" name="object 42"/>
            <p:cNvPicPr/>
            <p:nvPr/>
          </p:nvPicPr>
          <p:blipFill>
            <a:blip r:embed="rId28" cstate="print"/>
            <a:stretch>
              <a:fillRect/>
            </a:stretch>
          </p:blipFill>
          <p:spPr>
            <a:xfrm>
              <a:off x="3777995" y="3796283"/>
              <a:ext cx="236219" cy="383285"/>
            </a:xfrm>
            <a:prstGeom prst="rect">
              <a:avLst/>
            </a:prstGeom>
          </p:spPr>
        </p:pic>
        <p:sp>
          <p:nvSpPr>
            <p:cNvPr id="43" name="object 43" descr=""/>
            <p:cNvSpPr/>
            <p:nvPr/>
          </p:nvSpPr>
          <p:spPr>
            <a:xfrm>
              <a:off x="3896093" y="3817521"/>
              <a:ext cx="635" cy="161290"/>
            </a:xfrm>
            <a:custGeom>
              <a:avLst/>
              <a:gdLst/>
              <a:ahLst/>
              <a:cxnLst/>
              <a:rect l="l" t="t" r="r" b="b"/>
              <a:pathLst>
                <a:path w="635" h="161289">
                  <a:moveTo>
                    <a:pt x="63" y="0"/>
                  </a:moveTo>
                  <a:lnTo>
                    <a:pt x="0" y="160794"/>
                  </a:lnTo>
                </a:path>
              </a:pathLst>
            </a:custGeom>
            <a:ln w="25400">
              <a:solidFill>
                <a:srgbClr val="333399"/>
              </a:solidFill>
            </a:ln>
          </p:spPr>
          <p:txBody>
            <a:bodyPr wrap="square" lIns="0" tIns="0" rIns="0" bIns="0" rtlCol="0"/>
            <a:lstStyle/>
            <a:p/>
          </p:txBody>
        </p:sp>
        <p:sp>
          <p:nvSpPr>
            <p:cNvPr id="44" name="object 44" descr=""/>
            <p:cNvSpPr/>
            <p:nvPr/>
          </p:nvSpPr>
          <p:spPr>
            <a:xfrm>
              <a:off x="3857990" y="3965609"/>
              <a:ext cx="76200" cy="76835"/>
            </a:xfrm>
            <a:custGeom>
              <a:avLst/>
              <a:gdLst/>
              <a:ahLst/>
              <a:cxnLst/>
              <a:rect l="l" t="t" r="r" b="b"/>
              <a:pathLst>
                <a:path w="76200" h="76835">
                  <a:moveTo>
                    <a:pt x="76200" y="25"/>
                  </a:moveTo>
                  <a:lnTo>
                    <a:pt x="0" y="0"/>
                  </a:lnTo>
                  <a:lnTo>
                    <a:pt x="38074" y="76212"/>
                  </a:lnTo>
                  <a:lnTo>
                    <a:pt x="76200" y="25"/>
                  </a:lnTo>
                  <a:close/>
                </a:path>
              </a:pathLst>
            </a:custGeom>
            <a:solidFill>
              <a:srgbClr val="333399"/>
            </a:solidFill>
          </p:spPr>
          <p:txBody>
            <a:bodyPr wrap="square" lIns="0" tIns="0" rIns="0" bIns="0" rtlCol="0"/>
            <a:lstStyle/>
            <a:p/>
          </p:txBody>
        </p:sp>
        <p:pic>
          <p:nvPicPr>
            <p:cNvPr id="45" name="object 45"/>
            <p:cNvPicPr/>
            <p:nvPr/>
          </p:nvPicPr>
          <p:blipFill>
            <a:blip r:embed="rId29" cstate="print"/>
            <a:stretch>
              <a:fillRect/>
            </a:stretch>
          </p:blipFill>
          <p:spPr>
            <a:xfrm>
              <a:off x="3777995" y="4228337"/>
              <a:ext cx="236219" cy="345947"/>
            </a:xfrm>
            <a:prstGeom prst="rect">
              <a:avLst/>
            </a:prstGeom>
          </p:spPr>
        </p:pic>
        <p:sp>
          <p:nvSpPr>
            <p:cNvPr id="46" name="object 46" descr=""/>
            <p:cNvSpPr/>
            <p:nvPr/>
          </p:nvSpPr>
          <p:spPr>
            <a:xfrm>
              <a:off x="3896062" y="4249568"/>
              <a:ext cx="0" cy="123189"/>
            </a:xfrm>
            <a:custGeom>
              <a:avLst/>
              <a:gdLst/>
              <a:ahLst/>
              <a:cxnLst/>
              <a:rect l="l" t="t" r="r" b="b"/>
              <a:pathLst>
                <a:path w="0" h="123189">
                  <a:moveTo>
                    <a:pt x="0" y="0"/>
                  </a:moveTo>
                  <a:lnTo>
                    <a:pt x="0" y="123050"/>
                  </a:lnTo>
                </a:path>
              </a:pathLst>
            </a:custGeom>
            <a:ln w="25400">
              <a:solidFill>
                <a:srgbClr val="333399"/>
              </a:solidFill>
            </a:ln>
          </p:spPr>
          <p:txBody>
            <a:bodyPr wrap="square" lIns="0" tIns="0" rIns="0" bIns="0" rtlCol="0"/>
            <a:lstStyle/>
            <a:p/>
          </p:txBody>
        </p:sp>
        <p:sp>
          <p:nvSpPr>
            <p:cNvPr id="47" name="object 47" descr=""/>
            <p:cNvSpPr/>
            <p:nvPr/>
          </p:nvSpPr>
          <p:spPr>
            <a:xfrm>
              <a:off x="3857962" y="4359918"/>
              <a:ext cx="76200" cy="76200"/>
            </a:xfrm>
            <a:custGeom>
              <a:avLst/>
              <a:gdLst/>
              <a:ahLst/>
              <a:cxnLst/>
              <a:rect l="l" t="t" r="r" b="b"/>
              <a:pathLst>
                <a:path w="76200" h="76200">
                  <a:moveTo>
                    <a:pt x="76200" y="0"/>
                  </a:moveTo>
                  <a:lnTo>
                    <a:pt x="0" y="0"/>
                  </a:lnTo>
                  <a:lnTo>
                    <a:pt x="38100" y="76199"/>
                  </a:lnTo>
                  <a:lnTo>
                    <a:pt x="76200" y="0"/>
                  </a:lnTo>
                  <a:close/>
                </a:path>
              </a:pathLst>
            </a:custGeom>
            <a:solidFill>
              <a:srgbClr val="333399"/>
            </a:solidFill>
          </p:spPr>
          <p:txBody>
            <a:bodyPr wrap="square" lIns="0" tIns="0" rIns="0" bIns="0" rtlCol="0"/>
            <a:lstStyle/>
            <a:p/>
          </p:txBody>
        </p:sp>
        <p:pic>
          <p:nvPicPr>
            <p:cNvPr id="48" name="object 48"/>
            <p:cNvPicPr/>
            <p:nvPr/>
          </p:nvPicPr>
          <p:blipFill>
            <a:blip r:embed="rId30" cstate="print"/>
            <a:stretch>
              <a:fillRect/>
            </a:stretch>
          </p:blipFill>
          <p:spPr>
            <a:xfrm>
              <a:off x="3403091" y="4043933"/>
              <a:ext cx="313943" cy="235457"/>
            </a:xfrm>
            <a:prstGeom prst="rect">
              <a:avLst/>
            </a:prstGeom>
          </p:spPr>
        </p:pic>
        <p:sp>
          <p:nvSpPr>
            <p:cNvPr id="49" name="object 49" descr=""/>
            <p:cNvSpPr/>
            <p:nvPr/>
          </p:nvSpPr>
          <p:spPr>
            <a:xfrm>
              <a:off x="3443862" y="4141445"/>
              <a:ext cx="92075" cy="0"/>
            </a:xfrm>
            <a:custGeom>
              <a:avLst/>
              <a:gdLst/>
              <a:ahLst/>
              <a:cxnLst/>
              <a:rect l="l" t="t" r="r" b="b"/>
              <a:pathLst>
                <a:path w="92075" h="0">
                  <a:moveTo>
                    <a:pt x="0" y="0"/>
                  </a:moveTo>
                  <a:lnTo>
                    <a:pt x="91719" y="0"/>
                  </a:lnTo>
                </a:path>
              </a:pathLst>
            </a:custGeom>
            <a:ln w="25400">
              <a:solidFill>
                <a:srgbClr val="333399"/>
              </a:solidFill>
            </a:ln>
          </p:spPr>
          <p:txBody>
            <a:bodyPr wrap="square" lIns="0" tIns="0" rIns="0" bIns="0" rtlCol="0"/>
            <a:lstStyle/>
            <a:p/>
          </p:txBody>
        </p:sp>
        <p:sp>
          <p:nvSpPr>
            <p:cNvPr id="50" name="object 50" descr=""/>
            <p:cNvSpPr/>
            <p:nvPr/>
          </p:nvSpPr>
          <p:spPr>
            <a:xfrm>
              <a:off x="3522887" y="4103342"/>
              <a:ext cx="76200" cy="76200"/>
            </a:xfrm>
            <a:custGeom>
              <a:avLst/>
              <a:gdLst/>
              <a:ahLst/>
              <a:cxnLst/>
              <a:rect l="l" t="t" r="r" b="b"/>
              <a:pathLst>
                <a:path w="76200" h="76200">
                  <a:moveTo>
                    <a:pt x="0" y="0"/>
                  </a:moveTo>
                  <a:lnTo>
                    <a:pt x="0" y="76200"/>
                  </a:lnTo>
                  <a:lnTo>
                    <a:pt x="76200" y="38100"/>
                  </a:lnTo>
                  <a:lnTo>
                    <a:pt x="0" y="0"/>
                  </a:lnTo>
                  <a:close/>
                </a:path>
              </a:pathLst>
            </a:custGeom>
            <a:solidFill>
              <a:srgbClr val="333399"/>
            </a:solidFill>
          </p:spPr>
          <p:txBody>
            <a:bodyPr wrap="square" lIns="0" tIns="0" rIns="0" bIns="0" rtlCol="0"/>
            <a:lstStyle/>
            <a:p/>
          </p:txBody>
        </p:sp>
        <p:pic>
          <p:nvPicPr>
            <p:cNvPr id="51" name="object 51"/>
            <p:cNvPicPr/>
            <p:nvPr/>
          </p:nvPicPr>
          <p:blipFill>
            <a:blip r:embed="rId31" cstate="print"/>
            <a:stretch>
              <a:fillRect/>
            </a:stretch>
          </p:blipFill>
          <p:spPr>
            <a:xfrm>
              <a:off x="4301489" y="3521964"/>
              <a:ext cx="279653" cy="1267967"/>
            </a:xfrm>
            <a:prstGeom prst="rect">
              <a:avLst/>
            </a:prstGeom>
          </p:spPr>
        </p:pic>
        <p:sp>
          <p:nvSpPr>
            <p:cNvPr id="52" name="object 52" descr=""/>
            <p:cNvSpPr/>
            <p:nvPr/>
          </p:nvSpPr>
          <p:spPr>
            <a:xfrm>
              <a:off x="4355152" y="3555767"/>
              <a:ext cx="185420" cy="1160780"/>
            </a:xfrm>
            <a:custGeom>
              <a:avLst/>
              <a:gdLst/>
              <a:ahLst/>
              <a:cxnLst/>
              <a:rect l="l" t="t" r="r" b="b"/>
              <a:pathLst>
                <a:path w="185420" h="1160779">
                  <a:moveTo>
                    <a:pt x="185204" y="1160576"/>
                  </a:moveTo>
                  <a:lnTo>
                    <a:pt x="113114" y="1159364"/>
                  </a:lnTo>
                  <a:lnTo>
                    <a:pt x="54244" y="1156057"/>
                  </a:lnTo>
                  <a:lnTo>
                    <a:pt x="14554" y="1151152"/>
                  </a:lnTo>
                  <a:lnTo>
                    <a:pt x="0" y="1145146"/>
                  </a:lnTo>
                  <a:lnTo>
                    <a:pt x="0" y="15430"/>
                  </a:lnTo>
                  <a:lnTo>
                    <a:pt x="14554" y="9424"/>
                  </a:lnTo>
                  <a:lnTo>
                    <a:pt x="54244" y="4519"/>
                  </a:lnTo>
                  <a:lnTo>
                    <a:pt x="113114" y="1212"/>
                  </a:lnTo>
                  <a:lnTo>
                    <a:pt x="185204" y="0"/>
                  </a:lnTo>
                </a:path>
              </a:pathLst>
            </a:custGeom>
            <a:ln w="25400">
              <a:solidFill>
                <a:srgbClr val="333399"/>
              </a:solidFill>
            </a:ln>
          </p:spPr>
          <p:txBody>
            <a:bodyPr wrap="square" lIns="0" tIns="0" rIns="0" bIns="0" rtlCol="0"/>
            <a:lstStyle/>
            <a:p/>
          </p:txBody>
        </p:sp>
        <p:pic>
          <p:nvPicPr>
            <p:cNvPr id="53" name="object 53"/>
            <p:cNvPicPr/>
            <p:nvPr/>
          </p:nvPicPr>
          <p:blipFill>
            <a:blip r:embed="rId32" cstate="print"/>
            <a:stretch>
              <a:fillRect/>
            </a:stretch>
          </p:blipFill>
          <p:spPr>
            <a:xfrm>
              <a:off x="4075175" y="3620261"/>
              <a:ext cx="320801" cy="235457"/>
            </a:xfrm>
            <a:prstGeom prst="rect">
              <a:avLst/>
            </a:prstGeom>
          </p:spPr>
        </p:pic>
        <p:sp>
          <p:nvSpPr>
            <p:cNvPr id="54" name="object 54" descr=""/>
            <p:cNvSpPr/>
            <p:nvPr/>
          </p:nvSpPr>
          <p:spPr>
            <a:xfrm>
              <a:off x="4256730" y="3717782"/>
              <a:ext cx="98425" cy="0"/>
            </a:xfrm>
            <a:custGeom>
              <a:avLst/>
              <a:gdLst/>
              <a:ahLst/>
              <a:cxnLst/>
              <a:rect l="l" t="t" r="r" b="b"/>
              <a:pathLst>
                <a:path w="98425" h="0">
                  <a:moveTo>
                    <a:pt x="98425" y="0"/>
                  </a:moveTo>
                  <a:lnTo>
                    <a:pt x="0" y="0"/>
                  </a:lnTo>
                </a:path>
              </a:pathLst>
            </a:custGeom>
            <a:ln w="25400">
              <a:solidFill>
                <a:srgbClr val="333399"/>
              </a:solidFill>
            </a:ln>
          </p:spPr>
          <p:txBody>
            <a:bodyPr wrap="square" lIns="0" tIns="0" rIns="0" bIns="0" rtlCol="0"/>
            <a:lstStyle/>
            <a:p/>
          </p:txBody>
        </p:sp>
        <p:sp>
          <p:nvSpPr>
            <p:cNvPr id="55" name="object 55" descr=""/>
            <p:cNvSpPr/>
            <p:nvPr/>
          </p:nvSpPr>
          <p:spPr>
            <a:xfrm>
              <a:off x="4193230" y="3679680"/>
              <a:ext cx="76200" cy="76200"/>
            </a:xfrm>
            <a:custGeom>
              <a:avLst/>
              <a:gdLst/>
              <a:ahLst/>
              <a:cxnLst/>
              <a:rect l="l" t="t" r="r" b="b"/>
              <a:pathLst>
                <a:path w="76200" h="76200">
                  <a:moveTo>
                    <a:pt x="76200" y="0"/>
                  </a:moveTo>
                  <a:lnTo>
                    <a:pt x="0" y="38099"/>
                  </a:lnTo>
                  <a:lnTo>
                    <a:pt x="76200" y="76199"/>
                  </a:lnTo>
                  <a:lnTo>
                    <a:pt x="76200" y="0"/>
                  </a:lnTo>
                  <a:close/>
                </a:path>
              </a:pathLst>
            </a:custGeom>
            <a:solidFill>
              <a:srgbClr val="333399"/>
            </a:solidFill>
          </p:spPr>
          <p:txBody>
            <a:bodyPr wrap="square" lIns="0" tIns="0" rIns="0" bIns="0" rtlCol="0"/>
            <a:lstStyle/>
            <a:p/>
          </p:txBody>
        </p:sp>
      </p:grpSp>
      <p:sp>
        <p:nvSpPr>
          <p:cNvPr id="56" name="object 56" descr=""/>
          <p:cNvSpPr txBox="1"/>
          <p:nvPr/>
        </p:nvSpPr>
        <p:spPr>
          <a:xfrm>
            <a:off x="507395" y="3221327"/>
            <a:ext cx="304800" cy="193040"/>
          </a:xfrm>
          <a:prstGeom prst="rect">
            <a:avLst/>
          </a:prstGeom>
        </p:spPr>
        <p:txBody>
          <a:bodyPr wrap="square" lIns="0" tIns="12065" rIns="0" bIns="0" rtlCol="0" vert="horz">
            <a:spAutoFit/>
          </a:bodyPr>
          <a:lstStyle/>
          <a:p>
            <a:pPr marL="12700">
              <a:lnSpc>
                <a:spcPct val="100000"/>
              </a:lnSpc>
              <a:spcBef>
                <a:spcPts val="95"/>
              </a:spcBef>
            </a:pPr>
            <a:r>
              <a:rPr dirty="0" sz="1100" spc="-35">
                <a:solidFill>
                  <a:srgbClr val="FFFFFF"/>
                </a:solidFill>
                <a:latin typeface="Microsoft YaHei"/>
                <a:cs typeface="Microsoft YaHei"/>
              </a:rPr>
              <a:t>地图</a:t>
            </a:r>
            <a:endParaRPr sz="1100">
              <a:latin typeface="Microsoft YaHei"/>
              <a:cs typeface="Microsoft YaHei"/>
            </a:endParaRPr>
          </a:p>
        </p:txBody>
      </p:sp>
      <p:sp>
        <p:nvSpPr>
          <p:cNvPr id="57" name="object 57" descr=""/>
          <p:cNvSpPr/>
          <p:nvPr/>
        </p:nvSpPr>
        <p:spPr>
          <a:xfrm>
            <a:off x="281533" y="1197152"/>
            <a:ext cx="1137285" cy="261620"/>
          </a:xfrm>
          <a:custGeom>
            <a:avLst/>
            <a:gdLst/>
            <a:ahLst/>
            <a:cxnLst/>
            <a:rect l="l" t="t" r="r" b="b"/>
            <a:pathLst>
              <a:path w="1137285" h="261619">
                <a:moveTo>
                  <a:pt x="1136751" y="0"/>
                </a:moveTo>
                <a:lnTo>
                  <a:pt x="0" y="0"/>
                </a:lnTo>
                <a:lnTo>
                  <a:pt x="0" y="261607"/>
                </a:lnTo>
                <a:lnTo>
                  <a:pt x="1136751" y="261607"/>
                </a:lnTo>
                <a:lnTo>
                  <a:pt x="1136751" y="0"/>
                </a:lnTo>
                <a:close/>
              </a:path>
            </a:pathLst>
          </a:custGeom>
          <a:solidFill>
            <a:srgbClr val="C00000"/>
          </a:solidFill>
        </p:spPr>
        <p:txBody>
          <a:bodyPr wrap="square" lIns="0" tIns="0" rIns="0" bIns="0" rtlCol="0"/>
          <a:lstStyle/>
          <a:p/>
        </p:txBody>
      </p:sp>
      <p:sp>
        <p:nvSpPr>
          <p:cNvPr id="58" name="object 58" descr=""/>
          <p:cNvSpPr txBox="1"/>
          <p:nvPr/>
        </p:nvSpPr>
        <p:spPr>
          <a:xfrm>
            <a:off x="558312" y="1224838"/>
            <a:ext cx="583565" cy="193040"/>
          </a:xfrm>
          <a:prstGeom prst="rect">
            <a:avLst/>
          </a:prstGeom>
        </p:spPr>
        <p:txBody>
          <a:bodyPr wrap="square" lIns="0" tIns="12065" rIns="0" bIns="0" rtlCol="0" vert="horz">
            <a:spAutoFit/>
          </a:bodyPr>
          <a:lstStyle/>
          <a:p>
            <a:pPr marL="12700">
              <a:lnSpc>
                <a:spcPct val="100000"/>
              </a:lnSpc>
              <a:spcBef>
                <a:spcPts val="95"/>
              </a:spcBef>
            </a:pPr>
            <a:r>
              <a:rPr dirty="0" sz="1100" spc="-30">
                <a:solidFill>
                  <a:srgbClr val="FFFFFF"/>
                </a:solidFill>
                <a:latin typeface="Microsoft YaHei"/>
                <a:cs typeface="Microsoft YaHei"/>
              </a:rPr>
              <a:t>仿真结果</a:t>
            </a:r>
            <a:endParaRPr sz="1100">
              <a:latin typeface="Microsoft YaHei"/>
              <a:cs typeface="Microsoft YaHei"/>
            </a:endParaRPr>
          </a:p>
        </p:txBody>
      </p:sp>
      <p:grpSp>
        <p:nvGrpSpPr>
          <p:cNvPr id="59" name="object 59" descr=""/>
          <p:cNvGrpSpPr/>
          <p:nvPr/>
        </p:nvGrpSpPr>
        <p:grpSpPr>
          <a:xfrm>
            <a:off x="263194" y="1155191"/>
            <a:ext cx="5067935" cy="3797300"/>
            <a:chOff x="263194" y="1155191"/>
            <a:chExt cx="5067935" cy="3797300"/>
          </a:xfrm>
        </p:grpSpPr>
        <p:sp>
          <p:nvSpPr>
            <p:cNvPr id="60" name="object 60" descr=""/>
            <p:cNvSpPr/>
            <p:nvPr/>
          </p:nvSpPr>
          <p:spPr>
            <a:xfrm>
              <a:off x="269544" y="1174775"/>
              <a:ext cx="1783080" cy="3771265"/>
            </a:xfrm>
            <a:custGeom>
              <a:avLst/>
              <a:gdLst/>
              <a:ahLst/>
              <a:cxnLst/>
              <a:rect l="l" t="t" r="r" b="b"/>
              <a:pathLst>
                <a:path w="1783080" h="3771265">
                  <a:moveTo>
                    <a:pt x="0" y="0"/>
                  </a:moveTo>
                  <a:lnTo>
                    <a:pt x="1782597" y="0"/>
                  </a:lnTo>
                  <a:lnTo>
                    <a:pt x="1782597" y="3771265"/>
                  </a:lnTo>
                  <a:lnTo>
                    <a:pt x="0" y="3771265"/>
                  </a:lnTo>
                  <a:lnTo>
                    <a:pt x="0" y="0"/>
                  </a:lnTo>
                  <a:close/>
                </a:path>
              </a:pathLst>
            </a:custGeom>
            <a:ln w="12700">
              <a:solidFill>
                <a:srgbClr val="C00000"/>
              </a:solidFill>
              <a:prstDash val="sysDash"/>
            </a:ln>
          </p:spPr>
          <p:txBody>
            <a:bodyPr wrap="square" lIns="0" tIns="0" rIns="0" bIns="0" rtlCol="0"/>
            <a:lstStyle/>
            <a:p/>
          </p:txBody>
        </p:sp>
        <p:pic>
          <p:nvPicPr>
            <p:cNvPr id="61" name="object 61" descr=""/>
            <p:cNvPicPr/>
            <p:nvPr/>
          </p:nvPicPr>
          <p:blipFill>
            <a:blip r:embed="rId33" cstate="print"/>
            <a:stretch>
              <a:fillRect/>
            </a:stretch>
          </p:blipFill>
          <p:spPr>
            <a:xfrm>
              <a:off x="2124456" y="1155191"/>
              <a:ext cx="3206496" cy="283464"/>
            </a:xfrm>
            <a:prstGeom prst="rect">
              <a:avLst/>
            </a:prstGeom>
          </p:spPr>
        </p:pic>
      </p:grpSp>
      <p:sp>
        <p:nvSpPr>
          <p:cNvPr id="62" name="object 62" descr=""/>
          <p:cNvSpPr txBox="1"/>
          <p:nvPr/>
        </p:nvSpPr>
        <p:spPr>
          <a:xfrm>
            <a:off x="3410789" y="1187730"/>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spc="-15" b="1">
                <a:solidFill>
                  <a:srgbClr val="FFFFFF"/>
                </a:solidFill>
                <a:latin typeface="Microsoft YaHei"/>
                <a:cs typeface="Microsoft YaHei"/>
              </a:rPr>
              <a:t>规划方法</a:t>
            </a:r>
            <a:endParaRPr sz="1200">
              <a:latin typeface="Microsoft YaHei"/>
              <a:cs typeface="Microsoft YaHei"/>
            </a:endParaRPr>
          </a:p>
        </p:txBody>
      </p:sp>
      <p:grpSp>
        <p:nvGrpSpPr>
          <p:cNvPr id="63" name="object 63" descr=""/>
          <p:cNvGrpSpPr/>
          <p:nvPr/>
        </p:nvGrpSpPr>
        <p:grpSpPr>
          <a:xfrm>
            <a:off x="2205989" y="1696973"/>
            <a:ext cx="3046095" cy="1276350"/>
            <a:chOff x="2205989" y="1696973"/>
            <a:chExt cx="3046095" cy="1276350"/>
          </a:xfrm>
        </p:grpSpPr>
        <p:pic>
          <p:nvPicPr>
            <p:cNvPr id="64" name="object 64" descr=""/>
            <p:cNvPicPr/>
            <p:nvPr/>
          </p:nvPicPr>
          <p:blipFill>
            <a:blip r:embed="rId34" cstate="print"/>
            <a:stretch>
              <a:fillRect/>
            </a:stretch>
          </p:blipFill>
          <p:spPr>
            <a:xfrm>
              <a:off x="2212847" y="1696973"/>
              <a:ext cx="1014221" cy="299465"/>
            </a:xfrm>
            <a:prstGeom prst="rect">
              <a:avLst/>
            </a:prstGeom>
          </p:spPr>
        </p:pic>
        <p:pic>
          <p:nvPicPr>
            <p:cNvPr id="65" name="object 65" descr=""/>
            <p:cNvPicPr/>
            <p:nvPr/>
          </p:nvPicPr>
          <p:blipFill>
            <a:blip r:embed="rId35" cstate="print"/>
            <a:stretch>
              <a:fillRect/>
            </a:stretch>
          </p:blipFill>
          <p:spPr>
            <a:xfrm>
              <a:off x="2258567" y="1719567"/>
              <a:ext cx="922375" cy="207746"/>
            </a:xfrm>
            <a:prstGeom prst="rect">
              <a:avLst/>
            </a:prstGeom>
          </p:spPr>
        </p:pic>
        <p:sp>
          <p:nvSpPr>
            <p:cNvPr id="66" name="object 66" descr=""/>
            <p:cNvSpPr/>
            <p:nvPr/>
          </p:nvSpPr>
          <p:spPr>
            <a:xfrm>
              <a:off x="2258574" y="1719562"/>
              <a:ext cx="922655" cy="208279"/>
            </a:xfrm>
            <a:custGeom>
              <a:avLst/>
              <a:gdLst/>
              <a:ahLst/>
              <a:cxnLst/>
              <a:rect l="l" t="t" r="r" b="b"/>
              <a:pathLst>
                <a:path w="922655" h="208280">
                  <a:moveTo>
                    <a:pt x="0" y="0"/>
                  </a:moveTo>
                  <a:lnTo>
                    <a:pt x="922375" y="0"/>
                  </a:lnTo>
                  <a:lnTo>
                    <a:pt x="922375" y="207746"/>
                  </a:lnTo>
                  <a:lnTo>
                    <a:pt x="0" y="207746"/>
                  </a:lnTo>
                  <a:lnTo>
                    <a:pt x="0" y="0"/>
                  </a:lnTo>
                  <a:close/>
                </a:path>
              </a:pathLst>
            </a:custGeom>
            <a:ln w="9525">
              <a:solidFill>
                <a:srgbClr val="F9F9F9"/>
              </a:solidFill>
            </a:ln>
          </p:spPr>
          <p:txBody>
            <a:bodyPr wrap="square" lIns="0" tIns="0" rIns="0" bIns="0" rtlCol="0"/>
            <a:lstStyle/>
            <a:p/>
          </p:txBody>
        </p:sp>
        <p:pic>
          <p:nvPicPr>
            <p:cNvPr id="67" name="object 67" descr=""/>
            <p:cNvPicPr/>
            <p:nvPr/>
          </p:nvPicPr>
          <p:blipFill>
            <a:blip r:embed="rId36" cstate="print"/>
            <a:stretch>
              <a:fillRect/>
            </a:stretch>
          </p:blipFill>
          <p:spPr>
            <a:xfrm>
              <a:off x="2212847" y="2173223"/>
              <a:ext cx="1014221" cy="345185"/>
            </a:xfrm>
            <a:prstGeom prst="rect">
              <a:avLst/>
            </a:prstGeom>
          </p:spPr>
        </p:pic>
        <p:pic>
          <p:nvPicPr>
            <p:cNvPr id="68" name="object 68" descr=""/>
            <p:cNvPicPr/>
            <p:nvPr/>
          </p:nvPicPr>
          <p:blipFill>
            <a:blip r:embed="rId37" cstate="print"/>
            <a:stretch>
              <a:fillRect/>
            </a:stretch>
          </p:blipFill>
          <p:spPr>
            <a:xfrm>
              <a:off x="2205989" y="2165616"/>
              <a:ext cx="1072133" cy="311645"/>
            </a:xfrm>
            <a:prstGeom prst="rect">
              <a:avLst/>
            </a:prstGeom>
          </p:spPr>
        </p:pic>
        <p:pic>
          <p:nvPicPr>
            <p:cNvPr id="69" name="object 69" descr=""/>
            <p:cNvPicPr/>
            <p:nvPr/>
          </p:nvPicPr>
          <p:blipFill>
            <a:blip r:embed="rId38" cstate="print"/>
            <a:stretch>
              <a:fillRect/>
            </a:stretch>
          </p:blipFill>
          <p:spPr>
            <a:xfrm>
              <a:off x="2258567" y="2195817"/>
              <a:ext cx="922375" cy="253911"/>
            </a:xfrm>
            <a:prstGeom prst="rect">
              <a:avLst/>
            </a:prstGeom>
          </p:spPr>
        </p:pic>
        <p:sp>
          <p:nvSpPr>
            <p:cNvPr id="70" name="object 70" descr=""/>
            <p:cNvSpPr/>
            <p:nvPr/>
          </p:nvSpPr>
          <p:spPr>
            <a:xfrm>
              <a:off x="2258574" y="2195819"/>
              <a:ext cx="922655" cy="254000"/>
            </a:xfrm>
            <a:custGeom>
              <a:avLst/>
              <a:gdLst/>
              <a:ahLst/>
              <a:cxnLst/>
              <a:rect l="l" t="t" r="r" b="b"/>
              <a:pathLst>
                <a:path w="922655" h="254000">
                  <a:moveTo>
                    <a:pt x="0" y="0"/>
                  </a:moveTo>
                  <a:lnTo>
                    <a:pt x="922375" y="0"/>
                  </a:lnTo>
                  <a:lnTo>
                    <a:pt x="922375" y="253911"/>
                  </a:lnTo>
                  <a:lnTo>
                    <a:pt x="0" y="253911"/>
                  </a:lnTo>
                  <a:lnTo>
                    <a:pt x="0" y="0"/>
                  </a:lnTo>
                  <a:close/>
                </a:path>
              </a:pathLst>
            </a:custGeom>
            <a:ln w="9525">
              <a:solidFill>
                <a:srgbClr val="F9F9F9"/>
              </a:solidFill>
            </a:ln>
          </p:spPr>
          <p:txBody>
            <a:bodyPr wrap="square" lIns="0" tIns="0" rIns="0" bIns="0" rtlCol="0"/>
            <a:lstStyle/>
            <a:p/>
          </p:txBody>
        </p:sp>
        <p:pic>
          <p:nvPicPr>
            <p:cNvPr id="71" name="object 71"/>
            <p:cNvPicPr/>
            <p:nvPr/>
          </p:nvPicPr>
          <p:blipFill>
            <a:blip r:embed="rId39" cstate="print"/>
            <a:stretch>
              <a:fillRect/>
            </a:stretch>
          </p:blipFill>
          <p:spPr>
            <a:xfrm>
              <a:off x="2564891" y="1921014"/>
              <a:ext cx="296417" cy="288784"/>
            </a:xfrm>
            <a:prstGeom prst="rect">
              <a:avLst/>
            </a:prstGeom>
          </p:spPr>
        </p:pic>
        <p:pic>
          <p:nvPicPr>
            <p:cNvPr id="72" name="object 72" descr=""/>
            <p:cNvPicPr/>
            <p:nvPr/>
          </p:nvPicPr>
          <p:blipFill>
            <a:blip r:embed="rId40" cstate="print"/>
            <a:stretch>
              <a:fillRect/>
            </a:stretch>
          </p:blipFill>
          <p:spPr>
            <a:xfrm>
              <a:off x="2610510" y="1944268"/>
              <a:ext cx="204774" cy="196875"/>
            </a:xfrm>
            <a:prstGeom prst="rect">
              <a:avLst/>
            </a:prstGeom>
          </p:spPr>
        </p:pic>
        <p:sp>
          <p:nvSpPr>
            <p:cNvPr id="73" name="object 73" descr=""/>
            <p:cNvSpPr/>
            <p:nvPr/>
          </p:nvSpPr>
          <p:spPr>
            <a:xfrm>
              <a:off x="2610504" y="1944277"/>
              <a:ext cx="205104" cy="197485"/>
            </a:xfrm>
            <a:custGeom>
              <a:avLst/>
              <a:gdLst/>
              <a:ahLst/>
              <a:cxnLst/>
              <a:rect l="l" t="t" r="r" b="b"/>
              <a:pathLst>
                <a:path w="205105" h="197485">
                  <a:moveTo>
                    <a:pt x="0" y="66929"/>
                  </a:moveTo>
                  <a:lnTo>
                    <a:pt x="70878" y="66929"/>
                  </a:lnTo>
                  <a:lnTo>
                    <a:pt x="70878" y="0"/>
                  </a:lnTo>
                  <a:lnTo>
                    <a:pt x="133896" y="0"/>
                  </a:lnTo>
                  <a:lnTo>
                    <a:pt x="133896" y="66929"/>
                  </a:lnTo>
                  <a:lnTo>
                    <a:pt x="204774" y="66929"/>
                  </a:lnTo>
                  <a:lnTo>
                    <a:pt x="204774" y="129933"/>
                  </a:lnTo>
                  <a:lnTo>
                    <a:pt x="133896" y="129933"/>
                  </a:lnTo>
                  <a:lnTo>
                    <a:pt x="133896" y="196862"/>
                  </a:lnTo>
                  <a:lnTo>
                    <a:pt x="70878" y="196862"/>
                  </a:lnTo>
                  <a:lnTo>
                    <a:pt x="70878" y="129933"/>
                  </a:lnTo>
                  <a:lnTo>
                    <a:pt x="0" y="129933"/>
                  </a:lnTo>
                  <a:lnTo>
                    <a:pt x="0" y="66929"/>
                  </a:lnTo>
                  <a:close/>
                </a:path>
              </a:pathLst>
            </a:custGeom>
            <a:ln w="9525">
              <a:solidFill>
                <a:srgbClr val="F9F9F9"/>
              </a:solidFill>
            </a:ln>
          </p:spPr>
          <p:txBody>
            <a:bodyPr wrap="square" lIns="0" tIns="0" rIns="0" bIns="0" rtlCol="0"/>
            <a:lstStyle/>
            <a:p/>
          </p:txBody>
        </p:sp>
        <p:pic>
          <p:nvPicPr>
            <p:cNvPr id="74" name="object 74" descr=""/>
            <p:cNvPicPr/>
            <p:nvPr/>
          </p:nvPicPr>
          <p:blipFill>
            <a:blip r:embed="rId41" cstate="print"/>
            <a:stretch>
              <a:fillRect/>
            </a:stretch>
          </p:blipFill>
          <p:spPr>
            <a:xfrm>
              <a:off x="4494276" y="1713737"/>
              <a:ext cx="740663" cy="299465"/>
            </a:xfrm>
            <a:prstGeom prst="rect">
              <a:avLst/>
            </a:prstGeom>
          </p:spPr>
        </p:pic>
        <p:pic>
          <p:nvPicPr>
            <p:cNvPr id="75" name="object 75" descr=""/>
            <p:cNvPicPr/>
            <p:nvPr/>
          </p:nvPicPr>
          <p:blipFill>
            <a:blip r:embed="rId42" cstate="print"/>
            <a:stretch>
              <a:fillRect/>
            </a:stretch>
          </p:blipFill>
          <p:spPr>
            <a:xfrm>
              <a:off x="4540351" y="1736623"/>
              <a:ext cx="648462" cy="207911"/>
            </a:xfrm>
            <a:prstGeom prst="rect">
              <a:avLst/>
            </a:prstGeom>
          </p:spPr>
        </p:pic>
        <p:sp>
          <p:nvSpPr>
            <p:cNvPr id="76" name="object 76" descr=""/>
            <p:cNvSpPr/>
            <p:nvPr/>
          </p:nvSpPr>
          <p:spPr>
            <a:xfrm>
              <a:off x="4540356" y="1736616"/>
              <a:ext cx="648970" cy="208279"/>
            </a:xfrm>
            <a:custGeom>
              <a:avLst/>
              <a:gdLst/>
              <a:ahLst/>
              <a:cxnLst/>
              <a:rect l="l" t="t" r="r" b="b"/>
              <a:pathLst>
                <a:path w="648970" h="208280">
                  <a:moveTo>
                    <a:pt x="0" y="0"/>
                  </a:moveTo>
                  <a:lnTo>
                    <a:pt x="648462" y="0"/>
                  </a:lnTo>
                  <a:lnTo>
                    <a:pt x="648462" y="207911"/>
                  </a:lnTo>
                  <a:lnTo>
                    <a:pt x="0" y="207911"/>
                  </a:lnTo>
                  <a:lnTo>
                    <a:pt x="0" y="0"/>
                  </a:lnTo>
                  <a:close/>
                </a:path>
              </a:pathLst>
            </a:custGeom>
            <a:ln w="9524">
              <a:solidFill>
                <a:srgbClr val="F9F9F9"/>
              </a:solidFill>
            </a:ln>
          </p:spPr>
          <p:txBody>
            <a:bodyPr wrap="square" lIns="0" tIns="0" rIns="0" bIns="0" rtlCol="0"/>
            <a:lstStyle/>
            <a:p/>
          </p:txBody>
        </p:sp>
        <p:pic>
          <p:nvPicPr>
            <p:cNvPr id="77" name="object 77" descr=""/>
            <p:cNvPicPr/>
            <p:nvPr/>
          </p:nvPicPr>
          <p:blipFill>
            <a:blip r:embed="rId43" cstate="print"/>
            <a:stretch>
              <a:fillRect/>
            </a:stretch>
          </p:blipFill>
          <p:spPr>
            <a:xfrm>
              <a:off x="4511801" y="2170937"/>
              <a:ext cx="736091" cy="299465"/>
            </a:xfrm>
            <a:prstGeom prst="rect">
              <a:avLst/>
            </a:prstGeom>
          </p:spPr>
        </p:pic>
        <p:pic>
          <p:nvPicPr>
            <p:cNvPr id="78" name="object 78" descr=""/>
            <p:cNvPicPr/>
            <p:nvPr/>
          </p:nvPicPr>
          <p:blipFill>
            <a:blip r:embed="rId44" cstate="print"/>
            <a:stretch>
              <a:fillRect/>
            </a:stretch>
          </p:blipFill>
          <p:spPr>
            <a:xfrm>
              <a:off x="4541520" y="2174760"/>
              <a:ext cx="710183" cy="254494"/>
            </a:xfrm>
            <a:prstGeom prst="rect">
              <a:avLst/>
            </a:prstGeom>
          </p:spPr>
        </p:pic>
        <p:pic>
          <p:nvPicPr>
            <p:cNvPr id="79" name="object 79" descr=""/>
            <p:cNvPicPr/>
            <p:nvPr/>
          </p:nvPicPr>
          <p:blipFill>
            <a:blip r:embed="rId45" cstate="print"/>
            <a:stretch>
              <a:fillRect/>
            </a:stretch>
          </p:blipFill>
          <p:spPr>
            <a:xfrm>
              <a:off x="4558004" y="2193785"/>
              <a:ext cx="644169" cy="207911"/>
            </a:xfrm>
            <a:prstGeom prst="rect">
              <a:avLst/>
            </a:prstGeom>
          </p:spPr>
        </p:pic>
        <p:sp>
          <p:nvSpPr>
            <p:cNvPr id="80" name="object 80" descr=""/>
            <p:cNvSpPr/>
            <p:nvPr/>
          </p:nvSpPr>
          <p:spPr>
            <a:xfrm>
              <a:off x="4558007" y="2193786"/>
              <a:ext cx="644525" cy="208279"/>
            </a:xfrm>
            <a:custGeom>
              <a:avLst/>
              <a:gdLst/>
              <a:ahLst/>
              <a:cxnLst/>
              <a:rect l="l" t="t" r="r" b="b"/>
              <a:pathLst>
                <a:path w="644525" h="208280">
                  <a:moveTo>
                    <a:pt x="0" y="0"/>
                  </a:moveTo>
                  <a:lnTo>
                    <a:pt x="644169" y="0"/>
                  </a:lnTo>
                  <a:lnTo>
                    <a:pt x="644169" y="207911"/>
                  </a:lnTo>
                  <a:lnTo>
                    <a:pt x="0" y="207911"/>
                  </a:lnTo>
                  <a:lnTo>
                    <a:pt x="0" y="0"/>
                  </a:lnTo>
                  <a:close/>
                </a:path>
              </a:pathLst>
            </a:custGeom>
            <a:ln w="9525">
              <a:solidFill>
                <a:srgbClr val="F9F9F9"/>
              </a:solidFill>
            </a:ln>
          </p:spPr>
          <p:txBody>
            <a:bodyPr wrap="square" lIns="0" tIns="0" rIns="0" bIns="0" rtlCol="0"/>
            <a:lstStyle/>
            <a:p/>
          </p:txBody>
        </p:sp>
        <p:pic>
          <p:nvPicPr>
            <p:cNvPr id="81" name="object 81" descr=""/>
            <p:cNvPicPr/>
            <p:nvPr/>
          </p:nvPicPr>
          <p:blipFill>
            <a:blip r:embed="rId46" cstate="print"/>
            <a:stretch>
              <a:fillRect/>
            </a:stretch>
          </p:blipFill>
          <p:spPr>
            <a:xfrm>
              <a:off x="2212847" y="2627388"/>
              <a:ext cx="1014221" cy="345934"/>
            </a:xfrm>
            <a:prstGeom prst="rect">
              <a:avLst/>
            </a:prstGeom>
          </p:spPr>
        </p:pic>
        <p:pic>
          <p:nvPicPr>
            <p:cNvPr id="82" name="object 82" descr=""/>
            <p:cNvPicPr/>
            <p:nvPr/>
          </p:nvPicPr>
          <p:blipFill>
            <a:blip r:embed="rId47" cstate="print"/>
            <a:stretch>
              <a:fillRect/>
            </a:stretch>
          </p:blipFill>
          <p:spPr>
            <a:xfrm>
              <a:off x="2282189" y="2620517"/>
              <a:ext cx="919733" cy="311657"/>
            </a:xfrm>
            <a:prstGeom prst="rect">
              <a:avLst/>
            </a:prstGeom>
          </p:spPr>
        </p:pic>
        <p:pic>
          <p:nvPicPr>
            <p:cNvPr id="83" name="object 83" descr=""/>
            <p:cNvPicPr/>
            <p:nvPr/>
          </p:nvPicPr>
          <p:blipFill>
            <a:blip r:embed="rId38" cstate="print"/>
            <a:stretch>
              <a:fillRect/>
            </a:stretch>
          </p:blipFill>
          <p:spPr>
            <a:xfrm>
              <a:off x="2258567" y="2650540"/>
              <a:ext cx="922375" cy="253911"/>
            </a:xfrm>
            <a:prstGeom prst="rect">
              <a:avLst/>
            </a:prstGeom>
          </p:spPr>
        </p:pic>
        <p:sp>
          <p:nvSpPr>
            <p:cNvPr id="84" name="object 84" descr=""/>
            <p:cNvSpPr/>
            <p:nvPr/>
          </p:nvSpPr>
          <p:spPr>
            <a:xfrm>
              <a:off x="2258574" y="2650536"/>
              <a:ext cx="922655" cy="254000"/>
            </a:xfrm>
            <a:custGeom>
              <a:avLst/>
              <a:gdLst/>
              <a:ahLst/>
              <a:cxnLst/>
              <a:rect l="l" t="t" r="r" b="b"/>
              <a:pathLst>
                <a:path w="922655" h="254000">
                  <a:moveTo>
                    <a:pt x="0" y="0"/>
                  </a:moveTo>
                  <a:lnTo>
                    <a:pt x="922375" y="0"/>
                  </a:lnTo>
                  <a:lnTo>
                    <a:pt x="922375" y="253911"/>
                  </a:lnTo>
                  <a:lnTo>
                    <a:pt x="0" y="253911"/>
                  </a:lnTo>
                  <a:lnTo>
                    <a:pt x="0" y="0"/>
                  </a:lnTo>
                  <a:close/>
                </a:path>
              </a:pathLst>
            </a:custGeom>
            <a:ln w="9525">
              <a:solidFill>
                <a:srgbClr val="F9F9F9"/>
              </a:solidFill>
            </a:ln>
          </p:spPr>
          <p:txBody>
            <a:bodyPr wrap="square" lIns="0" tIns="0" rIns="0" bIns="0" rtlCol="0"/>
            <a:lstStyle/>
            <a:p/>
          </p:txBody>
        </p:sp>
        <p:pic>
          <p:nvPicPr>
            <p:cNvPr id="85" name="object 85"/>
            <p:cNvPicPr/>
            <p:nvPr/>
          </p:nvPicPr>
          <p:blipFill>
            <a:blip r:embed="rId48" cstate="print"/>
            <a:stretch>
              <a:fillRect/>
            </a:stretch>
          </p:blipFill>
          <p:spPr>
            <a:xfrm>
              <a:off x="2570987" y="2398013"/>
              <a:ext cx="296417" cy="288797"/>
            </a:xfrm>
            <a:prstGeom prst="rect">
              <a:avLst/>
            </a:prstGeom>
          </p:spPr>
        </p:pic>
        <p:pic>
          <p:nvPicPr>
            <p:cNvPr id="86" name="object 86" descr=""/>
            <p:cNvPicPr/>
            <p:nvPr/>
          </p:nvPicPr>
          <p:blipFill>
            <a:blip r:embed="rId40" cstate="print"/>
            <a:stretch>
              <a:fillRect/>
            </a:stretch>
          </p:blipFill>
          <p:spPr>
            <a:xfrm>
              <a:off x="2616733" y="2420823"/>
              <a:ext cx="204774" cy="196875"/>
            </a:xfrm>
            <a:prstGeom prst="rect">
              <a:avLst/>
            </a:prstGeom>
          </p:spPr>
        </p:pic>
        <p:sp>
          <p:nvSpPr>
            <p:cNvPr id="87" name="object 87" descr=""/>
            <p:cNvSpPr/>
            <p:nvPr/>
          </p:nvSpPr>
          <p:spPr>
            <a:xfrm>
              <a:off x="2616737" y="2420824"/>
              <a:ext cx="205104" cy="197485"/>
            </a:xfrm>
            <a:custGeom>
              <a:avLst/>
              <a:gdLst/>
              <a:ahLst/>
              <a:cxnLst/>
              <a:rect l="l" t="t" r="r" b="b"/>
              <a:pathLst>
                <a:path w="205105" h="197485">
                  <a:moveTo>
                    <a:pt x="0" y="66929"/>
                  </a:moveTo>
                  <a:lnTo>
                    <a:pt x="70878" y="66929"/>
                  </a:lnTo>
                  <a:lnTo>
                    <a:pt x="70878" y="0"/>
                  </a:lnTo>
                  <a:lnTo>
                    <a:pt x="133896" y="0"/>
                  </a:lnTo>
                  <a:lnTo>
                    <a:pt x="133896" y="66929"/>
                  </a:lnTo>
                  <a:lnTo>
                    <a:pt x="204774" y="66929"/>
                  </a:lnTo>
                  <a:lnTo>
                    <a:pt x="204774" y="129933"/>
                  </a:lnTo>
                  <a:lnTo>
                    <a:pt x="133896" y="129933"/>
                  </a:lnTo>
                  <a:lnTo>
                    <a:pt x="133896" y="196875"/>
                  </a:lnTo>
                  <a:lnTo>
                    <a:pt x="70878" y="196875"/>
                  </a:lnTo>
                  <a:lnTo>
                    <a:pt x="70878" y="129933"/>
                  </a:lnTo>
                  <a:lnTo>
                    <a:pt x="0" y="129933"/>
                  </a:lnTo>
                  <a:lnTo>
                    <a:pt x="0" y="66929"/>
                  </a:lnTo>
                  <a:close/>
                </a:path>
              </a:pathLst>
            </a:custGeom>
            <a:ln w="9525">
              <a:solidFill>
                <a:srgbClr val="F9F9F9"/>
              </a:solidFill>
            </a:ln>
          </p:spPr>
          <p:txBody>
            <a:bodyPr wrap="square" lIns="0" tIns="0" rIns="0" bIns="0" rtlCol="0"/>
            <a:lstStyle/>
            <a:p/>
          </p:txBody>
        </p:sp>
        <p:pic>
          <p:nvPicPr>
            <p:cNvPr id="88" name="object 88"/>
            <p:cNvPicPr/>
            <p:nvPr/>
          </p:nvPicPr>
          <p:blipFill>
            <a:blip r:embed="rId49" cstate="print"/>
            <a:stretch>
              <a:fillRect/>
            </a:stretch>
          </p:blipFill>
          <p:spPr>
            <a:xfrm>
              <a:off x="3139439" y="2199893"/>
              <a:ext cx="1536191" cy="235457"/>
            </a:xfrm>
            <a:prstGeom prst="rect">
              <a:avLst/>
            </a:prstGeom>
          </p:spPr>
        </p:pic>
        <p:sp>
          <p:nvSpPr>
            <p:cNvPr id="89" name="object 89" descr=""/>
            <p:cNvSpPr/>
            <p:nvPr/>
          </p:nvSpPr>
          <p:spPr>
            <a:xfrm>
              <a:off x="3180952" y="2298901"/>
              <a:ext cx="1313815" cy="24130"/>
            </a:xfrm>
            <a:custGeom>
              <a:avLst/>
              <a:gdLst/>
              <a:ahLst/>
              <a:cxnLst/>
              <a:rect l="l" t="t" r="r" b="b"/>
              <a:pathLst>
                <a:path w="1313814" h="24130">
                  <a:moveTo>
                    <a:pt x="0" y="23875"/>
                  </a:moveTo>
                  <a:lnTo>
                    <a:pt x="1313561" y="0"/>
                  </a:lnTo>
                </a:path>
              </a:pathLst>
            </a:custGeom>
            <a:ln w="25400">
              <a:solidFill>
                <a:srgbClr val="333399"/>
              </a:solidFill>
            </a:ln>
          </p:spPr>
          <p:txBody>
            <a:bodyPr wrap="square" lIns="0" tIns="0" rIns="0" bIns="0" rtlCol="0"/>
            <a:lstStyle/>
            <a:p/>
          </p:txBody>
        </p:sp>
        <p:sp>
          <p:nvSpPr>
            <p:cNvPr id="90" name="object 90" descr=""/>
            <p:cNvSpPr/>
            <p:nvPr/>
          </p:nvSpPr>
          <p:spPr>
            <a:xfrm>
              <a:off x="4481128" y="2261033"/>
              <a:ext cx="77470" cy="76200"/>
            </a:xfrm>
            <a:custGeom>
              <a:avLst/>
              <a:gdLst/>
              <a:ahLst/>
              <a:cxnLst/>
              <a:rect l="l" t="t" r="r" b="b"/>
              <a:pathLst>
                <a:path w="77470" h="76200">
                  <a:moveTo>
                    <a:pt x="0" y="0"/>
                  </a:moveTo>
                  <a:lnTo>
                    <a:pt x="1384" y="76187"/>
                  </a:lnTo>
                  <a:lnTo>
                    <a:pt x="76873" y="36715"/>
                  </a:lnTo>
                  <a:lnTo>
                    <a:pt x="0" y="0"/>
                  </a:lnTo>
                  <a:close/>
                </a:path>
              </a:pathLst>
            </a:custGeom>
            <a:solidFill>
              <a:srgbClr val="333399"/>
            </a:solidFill>
          </p:spPr>
          <p:txBody>
            <a:bodyPr wrap="square" lIns="0" tIns="0" rIns="0" bIns="0" rtlCol="0"/>
            <a:lstStyle/>
            <a:p/>
          </p:txBody>
        </p:sp>
        <p:pic>
          <p:nvPicPr>
            <p:cNvPr id="91" name="object 91" descr=""/>
            <p:cNvPicPr/>
            <p:nvPr/>
          </p:nvPicPr>
          <p:blipFill>
            <a:blip r:embed="rId50" cstate="print"/>
            <a:stretch>
              <a:fillRect/>
            </a:stretch>
          </p:blipFill>
          <p:spPr>
            <a:xfrm>
              <a:off x="4494275" y="2641091"/>
              <a:ext cx="736091" cy="299465"/>
            </a:xfrm>
            <a:prstGeom prst="rect">
              <a:avLst/>
            </a:prstGeom>
          </p:spPr>
        </p:pic>
        <p:pic>
          <p:nvPicPr>
            <p:cNvPr id="92" name="object 92" descr=""/>
            <p:cNvPicPr/>
            <p:nvPr/>
          </p:nvPicPr>
          <p:blipFill>
            <a:blip r:embed="rId51" cstate="print"/>
            <a:stretch>
              <a:fillRect/>
            </a:stretch>
          </p:blipFill>
          <p:spPr>
            <a:xfrm>
              <a:off x="4540351" y="2663736"/>
              <a:ext cx="644169" cy="207746"/>
            </a:xfrm>
            <a:prstGeom prst="rect">
              <a:avLst/>
            </a:prstGeom>
          </p:spPr>
        </p:pic>
        <p:sp>
          <p:nvSpPr>
            <p:cNvPr id="93" name="object 93" descr=""/>
            <p:cNvSpPr/>
            <p:nvPr/>
          </p:nvSpPr>
          <p:spPr>
            <a:xfrm>
              <a:off x="4540356" y="2663733"/>
              <a:ext cx="644525" cy="208279"/>
            </a:xfrm>
            <a:custGeom>
              <a:avLst/>
              <a:gdLst/>
              <a:ahLst/>
              <a:cxnLst/>
              <a:rect l="l" t="t" r="r" b="b"/>
              <a:pathLst>
                <a:path w="644525" h="208280">
                  <a:moveTo>
                    <a:pt x="0" y="0"/>
                  </a:moveTo>
                  <a:lnTo>
                    <a:pt x="644169" y="0"/>
                  </a:lnTo>
                  <a:lnTo>
                    <a:pt x="644169" y="207746"/>
                  </a:lnTo>
                  <a:lnTo>
                    <a:pt x="0" y="207746"/>
                  </a:lnTo>
                  <a:lnTo>
                    <a:pt x="0" y="0"/>
                  </a:lnTo>
                  <a:close/>
                </a:path>
              </a:pathLst>
            </a:custGeom>
            <a:ln w="9525">
              <a:solidFill>
                <a:srgbClr val="F9F9F9"/>
              </a:solidFill>
            </a:ln>
          </p:spPr>
          <p:txBody>
            <a:bodyPr wrap="square" lIns="0" tIns="0" rIns="0" bIns="0" rtlCol="0"/>
            <a:lstStyle/>
            <a:p/>
          </p:txBody>
        </p:sp>
        <p:pic>
          <p:nvPicPr>
            <p:cNvPr id="94" name="object 94"/>
            <p:cNvPicPr/>
            <p:nvPr/>
          </p:nvPicPr>
          <p:blipFill>
            <a:blip r:embed="rId52" cstate="print"/>
            <a:stretch>
              <a:fillRect/>
            </a:stretch>
          </p:blipFill>
          <p:spPr>
            <a:xfrm>
              <a:off x="3139439" y="1776983"/>
              <a:ext cx="259841" cy="1101090"/>
            </a:xfrm>
            <a:prstGeom prst="rect">
              <a:avLst/>
            </a:prstGeom>
          </p:spPr>
        </p:pic>
        <p:sp>
          <p:nvSpPr>
            <p:cNvPr id="95" name="object 95" descr=""/>
            <p:cNvSpPr/>
            <p:nvPr/>
          </p:nvSpPr>
          <p:spPr>
            <a:xfrm>
              <a:off x="3180951" y="1811185"/>
              <a:ext cx="164465" cy="993140"/>
            </a:xfrm>
            <a:custGeom>
              <a:avLst/>
              <a:gdLst/>
              <a:ahLst/>
              <a:cxnLst/>
              <a:rect l="l" t="t" r="r" b="b"/>
              <a:pathLst>
                <a:path w="164464" h="993139">
                  <a:moveTo>
                    <a:pt x="0" y="0"/>
                  </a:moveTo>
                  <a:lnTo>
                    <a:pt x="63910" y="1074"/>
                  </a:lnTo>
                  <a:lnTo>
                    <a:pt x="116103" y="4005"/>
                  </a:lnTo>
                  <a:lnTo>
                    <a:pt x="151293" y="8352"/>
                  </a:lnTo>
                  <a:lnTo>
                    <a:pt x="164198" y="13677"/>
                  </a:lnTo>
                  <a:lnTo>
                    <a:pt x="164198" y="979246"/>
                  </a:lnTo>
                  <a:lnTo>
                    <a:pt x="151293" y="984571"/>
                  </a:lnTo>
                  <a:lnTo>
                    <a:pt x="116103" y="988918"/>
                  </a:lnTo>
                  <a:lnTo>
                    <a:pt x="63910" y="991849"/>
                  </a:lnTo>
                  <a:lnTo>
                    <a:pt x="0" y="992924"/>
                  </a:lnTo>
                </a:path>
              </a:pathLst>
            </a:custGeom>
            <a:ln w="25400">
              <a:solidFill>
                <a:srgbClr val="333399"/>
              </a:solidFill>
            </a:ln>
          </p:spPr>
          <p:txBody>
            <a:bodyPr wrap="square" lIns="0" tIns="0" rIns="0" bIns="0" rtlCol="0"/>
            <a:lstStyle/>
            <a:p/>
          </p:txBody>
        </p:sp>
        <p:pic>
          <p:nvPicPr>
            <p:cNvPr id="96" name="object 96"/>
            <p:cNvPicPr/>
            <p:nvPr/>
          </p:nvPicPr>
          <p:blipFill>
            <a:blip r:embed="rId53" cstate="print"/>
            <a:stretch>
              <a:fillRect/>
            </a:stretch>
          </p:blipFill>
          <p:spPr>
            <a:xfrm>
              <a:off x="4301489" y="1789937"/>
              <a:ext cx="279653" cy="1088135"/>
            </a:xfrm>
            <a:prstGeom prst="rect">
              <a:avLst/>
            </a:prstGeom>
          </p:spPr>
        </p:pic>
        <p:sp>
          <p:nvSpPr>
            <p:cNvPr id="97" name="object 97" descr=""/>
            <p:cNvSpPr/>
            <p:nvPr/>
          </p:nvSpPr>
          <p:spPr>
            <a:xfrm>
              <a:off x="4355152" y="1823515"/>
              <a:ext cx="185420" cy="981075"/>
            </a:xfrm>
            <a:custGeom>
              <a:avLst/>
              <a:gdLst/>
              <a:ahLst/>
              <a:cxnLst/>
              <a:rect l="l" t="t" r="r" b="b"/>
              <a:pathLst>
                <a:path w="185420" h="981075">
                  <a:moveTo>
                    <a:pt x="185204" y="980592"/>
                  </a:moveTo>
                  <a:lnTo>
                    <a:pt x="113114" y="979379"/>
                  </a:lnTo>
                  <a:lnTo>
                    <a:pt x="54244" y="976072"/>
                  </a:lnTo>
                  <a:lnTo>
                    <a:pt x="14554" y="971168"/>
                  </a:lnTo>
                  <a:lnTo>
                    <a:pt x="0" y="965161"/>
                  </a:lnTo>
                  <a:lnTo>
                    <a:pt x="0" y="15430"/>
                  </a:lnTo>
                  <a:lnTo>
                    <a:pt x="14554" y="9424"/>
                  </a:lnTo>
                  <a:lnTo>
                    <a:pt x="54244" y="4519"/>
                  </a:lnTo>
                  <a:lnTo>
                    <a:pt x="113114" y="1212"/>
                  </a:lnTo>
                  <a:lnTo>
                    <a:pt x="185204" y="0"/>
                  </a:lnTo>
                </a:path>
              </a:pathLst>
            </a:custGeom>
            <a:ln w="25400">
              <a:solidFill>
                <a:srgbClr val="333399"/>
              </a:solidFill>
            </a:ln>
          </p:spPr>
          <p:txBody>
            <a:bodyPr wrap="square" lIns="0" tIns="0" rIns="0" bIns="0" rtlCol="0"/>
            <a:lstStyle/>
            <a:p/>
          </p:txBody>
        </p:sp>
        <p:sp>
          <p:nvSpPr>
            <p:cNvPr id="98" name="object 98" descr=""/>
            <p:cNvSpPr/>
            <p:nvPr/>
          </p:nvSpPr>
          <p:spPr>
            <a:xfrm>
              <a:off x="3387153" y="1785251"/>
              <a:ext cx="919480" cy="1085215"/>
            </a:xfrm>
            <a:custGeom>
              <a:avLst/>
              <a:gdLst/>
              <a:ahLst/>
              <a:cxnLst/>
              <a:rect l="l" t="t" r="r" b="b"/>
              <a:pathLst>
                <a:path w="919479" h="1085214">
                  <a:moveTo>
                    <a:pt x="0" y="0"/>
                  </a:moveTo>
                  <a:lnTo>
                    <a:pt x="919480" y="0"/>
                  </a:lnTo>
                  <a:lnTo>
                    <a:pt x="919480" y="1084910"/>
                  </a:lnTo>
                  <a:lnTo>
                    <a:pt x="0" y="1084910"/>
                  </a:lnTo>
                  <a:lnTo>
                    <a:pt x="0" y="0"/>
                  </a:lnTo>
                  <a:close/>
                </a:path>
              </a:pathLst>
            </a:custGeom>
            <a:ln w="9525">
              <a:solidFill>
                <a:srgbClr val="990000"/>
              </a:solidFill>
              <a:prstDash val="sysDash"/>
            </a:ln>
          </p:spPr>
          <p:txBody>
            <a:bodyPr wrap="square" lIns="0" tIns="0" rIns="0" bIns="0" rtlCol="0"/>
            <a:lstStyle/>
            <a:p/>
          </p:txBody>
        </p:sp>
      </p:grpSp>
      <p:graphicFrame>
        <p:nvGraphicFramePr>
          <p:cNvPr id="99" name="object 99" descr=""/>
          <p:cNvGraphicFramePr>
            <a:graphicFrameLocks noGrp="1"/>
          </p:cNvGraphicFramePr>
          <p:nvPr/>
        </p:nvGraphicFramePr>
        <p:xfrm>
          <a:off x="2165337" y="1443177"/>
          <a:ext cx="4884420" cy="3496309"/>
        </p:xfrm>
        <a:graphic>
          <a:graphicData uri="http://schemas.openxmlformats.org/drawingml/2006/table">
            <a:tbl>
              <a:tblPr firstRow="1" bandRow="1">
                <a:tableStyleId>{2D5ABB26-0587-4C30-8999-92F81FD0307C}</a:tableStyleId>
              </a:tblPr>
              <a:tblGrid>
                <a:gridCol w="3214370"/>
                <a:gridCol w="1580515"/>
              </a:tblGrid>
              <a:tr h="1598295">
                <a:tc>
                  <a:txBody>
                    <a:bodyPr/>
                    <a:lstStyle/>
                    <a:p>
                      <a:pPr marL="41910">
                        <a:lnSpc>
                          <a:spcPct val="100000"/>
                        </a:lnSpc>
                        <a:spcBef>
                          <a:spcPts val="245"/>
                        </a:spcBef>
                      </a:pPr>
                      <a:r>
                        <a:rPr dirty="0" sz="1200">
                          <a:latin typeface="Microsoft YaHei"/>
                          <a:cs typeface="Microsoft YaHei"/>
                        </a:rPr>
                        <a:t>室外弱覆盖规划（街道、城中村等</a:t>
                      </a:r>
                      <a:r>
                        <a:rPr dirty="0" sz="1200" spc="-50">
                          <a:latin typeface="Microsoft YaHei"/>
                          <a:cs typeface="Microsoft YaHei"/>
                        </a:rPr>
                        <a:t>）</a:t>
                      </a:r>
                      <a:endParaRPr sz="1200">
                        <a:latin typeface="Microsoft YaHei"/>
                        <a:cs typeface="Microsoft YaHei"/>
                      </a:endParaRPr>
                    </a:p>
                    <a:p>
                      <a:pPr marL="261620">
                        <a:lnSpc>
                          <a:spcPts val="1010"/>
                        </a:lnSpc>
                        <a:spcBef>
                          <a:spcPts val="675"/>
                        </a:spcBef>
                        <a:tabLst>
                          <a:tab pos="2578100" algn="l"/>
                        </a:tabLst>
                      </a:pPr>
                      <a:r>
                        <a:rPr dirty="0" sz="900">
                          <a:latin typeface="Microsoft YaHei"/>
                          <a:cs typeface="Microsoft YaHei"/>
                        </a:rPr>
                        <a:t>弱覆盖区</a:t>
                      </a:r>
                      <a:r>
                        <a:rPr dirty="0" sz="900" spc="-50">
                          <a:latin typeface="Microsoft YaHei"/>
                          <a:cs typeface="Microsoft YaHei"/>
                        </a:rPr>
                        <a:t>域</a:t>
                      </a:r>
                      <a:r>
                        <a:rPr dirty="0" sz="900">
                          <a:latin typeface="Microsoft YaHei"/>
                          <a:cs typeface="Microsoft YaHei"/>
                        </a:rPr>
                        <a:t>	</a:t>
                      </a:r>
                      <a:r>
                        <a:rPr dirty="0" baseline="-9259" sz="1350">
                          <a:latin typeface="Microsoft YaHei"/>
                          <a:cs typeface="Microsoft YaHei"/>
                        </a:rPr>
                        <a:t>宏</a:t>
                      </a:r>
                      <a:r>
                        <a:rPr dirty="0" baseline="-9259" sz="1350" spc="-75">
                          <a:latin typeface="Microsoft YaHei"/>
                          <a:cs typeface="Microsoft YaHei"/>
                        </a:rPr>
                        <a:t>站</a:t>
                      </a:r>
                      <a:endParaRPr baseline="-9259" sz="1350">
                        <a:latin typeface="Microsoft YaHei"/>
                        <a:cs typeface="Microsoft YaHei"/>
                      </a:endParaRPr>
                    </a:p>
                    <a:p>
                      <a:pPr marL="1497965" indent="-213995">
                        <a:lnSpc>
                          <a:spcPts val="1250"/>
                        </a:lnSpc>
                        <a:buFont typeface="Wingdings"/>
                        <a:buChar char=""/>
                        <a:tabLst>
                          <a:tab pos="1497965" algn="l"/>
                        </a:tabLst>
                      </a:pPr>
                      <a:r>
                        <a:rPr dirty="0" sz="1100" spc="-30">
                          <a:solidFill>
                            <a:srgbClr val="FF0000"/>
                          </a:solidFill>
                          <a:latin typeface="Microsoft YaHei"/>
                          <a:cs typeface="Microsoft YaHei"/>
                        </a:rPr>
                        <a:t>协调难度</a:t>
                      </a:r>
                      <a:endParaRPr sz="1100">
                        <a:latin typeface="Microsoft YaHei"/>
                        <a:cs typeface="Microsoft YaHei"/>
                      </a:endParaRPr>
                    </a:p>
                    <a:p>
                      <a:pPr marL="166370">
                        <a:lnSpc>
                          <a:spcPct val="100000"/>
                        </a:lnSpc>
                        <a:spcBef>
                          <a:spcPts val="560"/>
                        </a:spcBef>
                        <a:tabLst>
                          <a:tab pos="1283970" algn="l"/>
                          <a:tab pos="2479040" algn="l"/>
                        </a:tabLst>
                      </a:pPr>
                      <a:r>
                        <a:rPr dirty="0" baseline="-41666" sz="1800">
                          <a:latin typeface="Microsoft YaHei"/>
                          <a:cs typeface="Microsoft YaHei"/>
                        </a:rPr>
                        <a:t>宏站站间</a:t>
                      </a:r>
                      <a:r>
                        <a:rPr dirty="0" baseline="-41666" sz="1800" spc="-75">
                          <a:latin typeface="Microsoft YaHei"/>
                          <a:cs typeface="Microsoft YaHei"/>
                        </a:rPr>
                        <a:t>距</a:t>
                      </a:r>
                      <a:r>
                        <a:rPr dirty="0" baseline="-41666" sz="1800">
                          <a:latin typeface="Microsoft YaHei"/>
                          <a:cs typeface="Microsoft YaHei"/>
                        </a:rPr>
                        <a:t>	</a:t>
                      </a:r>
                      <a:r>
                        <a:rPr dirty="0" sz="1100">
                          <a:solidFill>
                            <a:srgbClr val="FF0000"/>
                          </a:solidFill>
                          <a:latin typeface="Wingdings"/>
                          <a:cs typeface="Wingdings"/>
                        </a:rPr>
                        <a:t></a:t>
                      </a:r>
                      <a:r>
                        <a:rPr dirty="0" sz="1100" spc="165">
                          <a:solidFill>
                            <a:srgbClr val="FF0000"/>
                          </a:solidFill>
                          <a:latin typeface="Times New Roman"/>
                          <a:cs typeface="Times New Roman"/>
                        </a:rPr>
                        <a:t>  </a:t>
                      </a:r>
                      <a:r>
                        <a:rPr dirty="0" sz="1100" spc="-20">
                          <a:solidFill>
                            <a:srgbClr val="FF0000"/>
                          </a:solidFill>
                          <a:latin typeface="Microsoft YaHei"/>
                          <a:cs typeface="Microsoft YaHei"/>
                        </a:rPr>
                        <a:t>覆盖效</a:t>
                      </a:r>
                      <a:r>
                        <a:rPr dirty="0" sz="1100" spc="-50">
                          <a:solidFill>
                            <a:srgbClr val="FF0000"/>
                          </a:solidFill>
                          <a:latin typeface="Microsoft YaHei"/>
                          <a:cs typeface="Microsoft YaHei"/>
                        </a:rPr>
                        <a:t>果</a:t>
                      </a:r>
                      <a:r>
                        <a:rPr dirty="0" sz="1100">
                          <a:solidFill>
                            <a:srgbClr val="FF0000"/>
                          </a:solidFill>
                          <a:latin typeface="Microsoft YaHei"/>
                          <a:cs typeface="Microsoft YaHei"/>
                        </a:rPr>
                        <a:t>	</a:t>
                      </a:r>
                      <a:r>
                        <a:rPr dirty="0" baseline="-37037" sz="1350">
                          <a:latin typeface="Microsoft YaHei"/>
                          <a:cs typeface="Microsoft YaHei"/>
                        </a:rPr>
                        <a:t>宏微协</a:t>
                      </a:r>
                      <a:r>
                        <a:rPr dirty="0" baseline="-37037" sz="1350" spc="-75">
                          <a:latin typeface="Microsoft YaHei"/>
                          <a:cs typeface="Microsoft YaHei"/>
                        </a:rPr>
                        <a:t>同</a:t>
                      </a:r>
                      <a:endParaRPr baseline="-37037" sz="1350">
                        <a:latin typeface="Microsoft YaHei"/>
                        <a:cs typeface="Microsoft YaHei"/>
                      </a:endParaRPr>
                    </a:p>
                    <a:p>
                      <a:pPr marL="1497965" indent="-213995">
                        <a:lnSpc>
                          <a:spcPct val="100000"/>
                        </a:lnSpc>
                        <a:spcBef>
                          <a:spcPts val="640"/>
                        </a:spcBef>
                        <a:buFont typeface="Wingdings"/>
                        <a:buChar char=""/>
                        <a:tabLst>
                          <a:tab pos="1497965" algn="l"/>
                        </a:tabLst>
                      </a:pPr>
                      <a:r>
                        <a:rPr dirty="0" sz="1100" spc="-30">
                          <a:solidFill>
                            <a:srgbClr val="FF0000"/>
                          </a:solidFill>
                          <a:latin typeface="Microsoft YaHei"/>
                          <a:cs typeface="Microsoft YaHei"/>
                        </a:rPr>
                        <a:t>建设成本</a:t>
                      </a:r>
                      <a:endParaRPr sz="1100">
                        <a:latin typeface="Microsoft YaHei"/>
                        <a:cs typeface="Microsoft YaHei"/>
                      </a:endParaRPr>
                    </a:p>
                    <a:p>
                      <a:pPr marL="242570">
                        <a:lnSpc>
                          <a:spcPct val="100000"/>
                        </a:lnSpc>
                        <a:spcBef>
                          <a:spcPts val="560"/>
                        </a:spcBef>
                        <a:tabLst>
                          <a:tab pos="1283970" algn="l"/>
                          <a:tab pos="2575560" algn="l"/>
                        </a:tabLst>
                      </a:pPr>
                      <a:r>
                        <a:rPr dirty="0" baseline="-25462" sz="1800">
                          <a:latin typeface="Microsoft YaHei"/>
                          <a:cs typeface="Microsoft YaHei"/>
                        </a:rPr>
                        <a:t>场景特</a:t>
                      </a:r>
                      <a:r>
                        <a:rPr dirty="0" baseline="-25462" sz="1800" spc="-75">
                          <a:latin typeface="Microsoft YaHei"/>
                          <a:cs typeface="Microsoft YaHei"/>
                        </a:rPr>
                        <a:t>征</a:t>
                      </a:r>
                      <a:r>
                        <a:rPr dirty="0" baseline="-25462" sz="1800">
                          <a:latin typeface="Microsoft YaHei"/>
                          <a:cs typeface="Microsoft YaHei"/>
                        </a:rPr>
                        <a:t>	</a:t>
                      </a:r>
                      <a:r>
                        <a:rPr dirty="0" sz="1100">
                          <a:solidFill>
                            <a:srgbClr val="FF0000"/>
                          </a:solidFill>
                          <a:latin typeface="Wingdings"/>
                          <a:cs typeface="Wingdings"/>
                        </a:rPr>
                        <a:t></a:t>
                      </a:r>
                      <a:r>
                        <a:rPr dirty="0" sz="1100" spc="165">
                          <a:solidFill>
                            <a:srgbClr val="FF0000"/>
                          </a:solidFill>
                          <a:latin typeface="Times New Roman"/>
                          <a:cs typeface="Times New Roman"/>
                        </a:rPr>
                        <a:t>  </a:t>
                      </a:r>
                      <a:r>
                        <a:rPr dirty="0" sz="1100" spc="-20">
                          <a:solidFill>
                            <a:srgbClr val="FF0000"/>
                          </a:solidFill>
                          <a:latin typeface="Microsoft YaHei"/>
                          <a:cs typeface="Microsoft YaHei"/>
                        </a:rPr>
                        <a:t>站址稳</a:t>
                      </a:r>
                      <a:r>
                        <a:rPr dirty="0" sz="1100" spc="-50">
                          <a:solidFill>
                            <a:srgbClr val="FF0000"/>
                          </a:solidFill>
                          <a:latin typeface="Microsoft YaHei"/>
                          <a:cs typeface="Microsoft YaHei"/>
                        </a:rPr>
                        <a:t>定</a:t>
                      </a:r>
                      <a:r>
                        <a:rPr dirty="0" sz="1100">
                          <a:solidFill>
                            <a:srgbClr val="FF0000"/>
                          </a:solidFill>
                          <a:latin typeface="Microsoft YaHei"/>
                          <a:cs typeface="Microsoft YaHei"/>
                        </a:rPr>
                        <a:t>	</a:t>
                      </a:r>
                      <a:r>
                        <a:rPr dirty="0" baseline="-21604" sz="1350">
                          <a:latin typeface="Microsoft YaHei"/>
                          <a:cs typeface="Microsoft YaHei"/>
                        </a:rPr>
                        <a:t>微</a:t>
                      </a:r>
                      <a:r>
                        <a:rPr dirty="0" baseline="-21604" sz="1350" spc="-75">
                          <a:latin typeface="Microsoft YaHei"/>
                          <a:cs typeface="Microsoft YaHei"/>
                        </a:rPr>
                        <a:t>站</a:t>
                      </a:r>
                      <a:endParaRPr baseline="-21604" sz="1350">
                        <a:latin typeface="Microsoft YaHei"/>
                        <a:cs typeface="Microsoft YaHei"/>
                      </a:endParaRPr>
                    </a:p>
                    <a:p>
                      <a:pPr algn="ctr" marL="248285">
                        <a:lnSpc>
                          <a:spcPct val="100000"/>
                        </a:lnSpc>
                        <a:spcBef>
                          <a:spcPts val="175"/>
                        </a:spcBef>
                      </a:pPr>
                      <a:r>
                        <a:rPr dirty="0" sz="1200" spc="-15">
                          <a:latin typeface="Microsoft YaHei"/>
                          <a:cs typeface="Microsoft YaHei"/>
                        </a:rPr>
                        <a:t>考虑因数</a:t>
                      </a:r>
                      <a:endParaRPr sz="1200">
                        <a:latin typeface="Microsoft YaHei"/>
                        <a:cs typeface="Microsoft YaHei"/>
                      </a:endParaRPr>
                    </a:p>
                  </a:txBody>
                  <a:tcPr marL="0" marR="0" marB="0" marT="31115">
                    <a:lnL w="9525">
                      <a:solidFill>
                        <a:srgbClr val="990000"/>
                      </a:solidFill>
                      <a:prstDash val="sysDash"/>
                    </a:lnL>
                    <a:lnR w="9525">
                      <a:solidFill>
                        <a:srgbClr val="990000"/>
                      </a:solidFill>
                      <a:prstDash val="sysDash"/>
                    </a:lnR>
                    <a:lnT w="9525">
                      <a:solidFill>
                        <a:srgbClr val="990000"/>
                      </a:solidFill>
                      <a:prstDash val="sysDash"/>
                    </a:lnT>
                    <a:lnB w="12700">
                      <a:solidFill>
                        <a:srgbClr val="C00000"/>
                      </a:solidFill>
                      <a:prstDash val="sysDash"/>
                    </a:lnB>
                  </a:tcPr>
                </a:tc>
                <a:tc rowSpan="2">
                  <a:txBody>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905"/>
                        </a:spcBef>
                      </a:pPr>
                      <a:endParaRPr sz="1200">
                        <a:latin typeface="Times New Roman"/>
                        <a:cs typeface="Times New Roman"/>
                      </a:endParaRPr>
                    </a:p>
                    <a:p>
                      <a:pPr marL="509270">
                        <a:lnSpc>
                          <a:spcPct val="100000"/>
                        </a:lnSpc>
                      </a:pPr>
                      <a:r>
                        <a:rPr dirty="0" sz="1200" spc="-15">
                          <a:latin typeface="Microsoft YaHei"/>
                          <a:cs typeface="Microsoft YaHei"/>
                        </a:rPr>
                        <a:t>场景规划</a:t>
                      </a:r>
                      <a:endParaRPr sz="1200">
                        <a:latin typeface="Microsoft YaHei"/>
                        <a:cs typeface="Microsoft YaHei"/>
                      </a:endParaRPr>
                    </a:p>
                  </a:txBody>
                  <a:tcPr marL="0" marR="0" marB="0" marT="0">
                    <a:lnL w="12700">
                      <a:solidFill>
                        <a:srgbClr val="C00000"/>
                      </a:solidFill>
                      <a:prstDash val="sysDash"/>
                    </a:lnL>
                    <a:lnR w="9525">
                      <a:solidFill>
                        <a:srgbClr val="990000"/>
                      </a:solidFill>
                      <a:prstDash val="sysDash"/>
                    </a:lnR>
                    <a:lnT w="9525">
                      <a:solidFill>
                        <a:srgbClr val="990000"/>
                      </a:solidFill>
                      <a:prstDash val="sysDash"/>
                    </a:lnT>
                    <a:lnB w="9525">
                      <a:solidFill>
                        <a:srgbClr val="990000"/>
                      </a:solidFill>
                      <a:prstDash val="sysDash"/>
                    </a:lnB>
                  </a:tcPr>
                </a:tc>
              </a:tr>
              <a:tr h="1898014">
                <a:tc>
                  <a:txBody>
                    <a:bodyPr/>
                    <a:lstStyle/>
                    <a:p>
                      <a:pPr marL="88265">
                        <a:lnSpc>
                          <a:spcPct val="100000"/>
                        </a:lnSpc>
                        <a:spcBef>
                          <a:spcPts val="150"/>
                        </a:spcBef>
                      </a:pPr>
                      <a:r>
                        <a:rPr dirty="0" sz="1200">
                          <a:latin typeface="Microsoft YaHei"/>
                          <a:cs typeface="Microsoft YaHei"/>
                        </a:rPr>
                        <a:t>室内弱覆盖规划（住宅、场馆等</a:t>
                      </a:r>
                      <a:r>
                        <a:rPr dirty="0" sz="1200" spc="-50">
                          <a:latin typeface="Microsoft YaHei"/>
                          <a:cs typeface="Microsoft YaHei"/>
                        </a:rPr>
                        <a:t>）</a:t>
                      </a:r>
                      <a:endParaRPr sz="1200">
                        <a:latin typeface="Microsoft YaHei"/>
                        <a:cs typeface="Microsoft YaHei"/>
                      </a:endParaRPr>
                    </a:p>
                    <a:p>
                      <a:pPr marL="307975">
                        <a:lnSpc>
                          <a:spcPct val="100000"/>
                        </a:lnSpc>
                        <a:spcBef>
                          <a:spcPts val="415"/>
                        </a:spcBef>
                      </a:pPr>
                      <a:r>
                        <a:rPr dirty="0" sz="900" spc="-10">
                          <a:latin typeface="Microsoft YaHei"/>
                          <a:cs typeface="Microsoft YaHei"/>
                        </a:rPr>
                        <a:t>大型建筑物</a:t>
                      </a:r>
                      <a:endParaRPr sz="900">
                        <a:latin typeface="Microsoft YaHei"/>
                        <a:cs typeface="Microsoft YaHei"/>
                      </a:endParaRPr>
                    </a:p>
                    <a:p>
                      <a:pPr marL="2533015">
                        <a:lnSpc>
                          <a:spcPct val="100000"/>
                        </a:lnSpc>
                        <a:spcBef>
                          <a:spcPts val="360"/>
                        </a:spcBef>
                      </a:pPr>
                      <a:r>
                        <a:rPr dirty="0" sz="900" spc="-15">
                          <a:latin typeface="Microsoft YaHei"/>
                          <a:cs typeface="Microsoft YaHei"/>
                        </a:rPr>
                        <a:t>多栋多层</a:t>
                      </a:r>
                      <a:endParaRPr sz="900">
                        <a:latin typeface="Microsoft YaHei"/>
                        <a:cs typeface="Microsoft YaHei"/>
                      </a:endParaRPr>
                    </a:p>
                    <a:p>
                      <a:pPr marL="1609725">
                        <a:lnSpc>
                          <a:spcPct val="100000"/>
                        </a:lnSpc>
                        <a:spcBef>
                          <a:spcPts val="130"/>
                        </a:spcBef>
                      </a:pPr>
                      <a:r>
                        <a:rPr dirty="0" sz="900" spc="-25">
                          <a:latin typeface="Microsoft YaHei"/>
                          <a:cs typeface="Microsoft YaHei"/>
                        </a:rPr>
                        <a:t>宏站</a:t>
                      </a:r>
                      <a:endParaRPr sz="900">
                        <a:latin typeface="Microsoft YaHei"/>
                        <a:cs typeface="Microsoft YaHei"/>
                      </a:endParaRPr>
                    </a:p>
                    <a:p>
                      <a:pPr marL="377825">
                        <a:lnSpc>
                          <a:spcPct val="100000"/>
                        </a:lnSpc>
                        <a:spcBef>
                          <a:spcPts val="745"/>
                        </a:spcBef>
                      </a:pPr>
                      <a:r>
                        <a:rPr dirty="0" sz="900" spc="-15">
                          <a:latin typeface="Microsoft YaHei"/>
                          <a:cs typeface="Microsoft YaHei"/>
                        </a:rPr>
                        <a:t>多栋高层</a:t>
                      </a:r>
                      <a:endParaRPr sz="900">
                        <a:latin typeface="Microsoft YaHei"/>
                        <a:cs typeface="Microsoft YaHei"/>
                      </a:endParaRPr>
                    </a:p>
                    <a:p>
                      <a:pPr marL="1609725">
                        <a:lnSpc>
                          <a:spcPct val="100000"/>
                        </a:lnSpc>
                        <a:spcBef>
                          <a:spcPts val="500"/>
                        </a:spcBef>
                      </a:pPr>
                      <a:r>
                        <a:rPr dirty="0" sz="900" spc="-25">
                          <a:latin typeface="Microsoft YaHei"/>
                          <a:cs typeface="Microsoft YaHei"/>
                        </a:rPr>
                        <a:t>微站</a:t>
                      </a:r>
                      <a:endParaRPr sz="900">
                        <a:latin typeface="Microsoft YaHei"/>
                        <a:cs typeface="Microsoft YaHei"/>
                      </a:endParaRPr>
                    </a:p>
                    <a:p>
                      <a:pPr marL="2533015">
                        <a:lnSpc>
                          <a:spcPct val="100000"/>
                        </a:lnSpc>
                        <a:spcBef>
                          <a:spcPts val="75"/>
                        </a:spcBef>
                      </a:pPr>
                      <a:r>
                        <a:rPr dirty="0" sz="900" spc="-15">
                          <a:latin typeface="Microsoft YaHei"/>
                          <a:cs typeface="Microsoft YaHei"/>
                        </a:rPr>
                        <a:t>大型场馆</a:t>
                      </a:r>
                      <a:endParaRPr sz="900">
                        <a:latin typeface="Microsoft YaHei"/>
                        <a:cs typeface="Microsoft YaHei"/>
                      </a:endParaRPr>
                    </a:p>
                    <a:p>
                      <a:pPr marL="378460">
                        <a:lnSpc>
                          <a:spcPct val="100000"/>
                        </a:lnSpc>
                        <a:spcBef>
                          <a:spcPts val="345"/>
                        </a:spcBef>
                        <a:tabLst>
                          <a:tab pos="1552575" algn="l"/>
                        </a:tabLst>
                      </a:pPr>
                      <a:r>
                        <a:rPr dirty="0" sz="900">
                          <a:latin typeface="Microsoft YaHei"/>
                          <a:cs typeface="Microsoft YaHei"/>
                        </a:rPr>
                        <a:t>独栋高</a:t>
                      </a:r>
                      <a:r>
                        <a:rPr dirty="0" sz="900" spc="-50">
                          <a:latin typeface="Microsoft YaHei"/>
                          <a:cs typeface="Microsoft YaHei"/>
                        </a:rPr>
                        <a:t>层</a:t>
                      </a:r>
                      <a:r>
                        <a:rPr dirty="0" sz="900">
                          <a:latin typeface="Microsoft YaHei"/>
                          <a:cs typeface="Microsoft YaHei"/>
                        </a:rPr>
                        <a:t>	</a:t>
                      </a:r>
                      <a:r>
                        <a:rPr dirty="0" baseline="-30864" sz="1350">
                          <a:latin typeface="Microsoft YaHei"/>
                          <a:cs typeface="Microsoft YaHei"/>
                        </a:rPr>
                        <a:t>室分</a:t>
                      </a:r>
                      <a:r>
                        <a:rPr dirty="0" baseline="-30864" sz="1350" spc="-75">
                          <a:latin typeface="Microsoft YaHei"/>
                          <a:cs typeface="Microsoft YaHei"/>
                        </a:rPr>
                        <a:t>站</a:t>
                      </a:r>
                      <a:endParaRPr baseline="-30864" sz="1350">
                        <a:latin typeface="Microsoft YaHei"/>
                        <a:cs typeface="Microsoft YaHei"/>
                      </a:endParaRPr>
                    </a:p>
                  </a:txBody>
                  <a:tcPr marL="0" marR="0" marB="0" marT="19050">
                    <a:lnL w="12700">
                      <a:solidFill>
                        <a:srgbClr val="C00000"/>
                      </a:solidFill>
                      <a:prstDash val="sysDash"/>
                    </a:lnL>
                    <a:lnR w="12700">
                      <a:solidFill>
                        <a:srgbClr val="C00000"/>
                      </a:solidFill>
                      <a:prstDash val="sysDash"/>
                    </a:lnR>
                    <a:lnT w="12700">
                      <a:solidFill>
                        <a:srgbClr val="C00000"/>
                      </a:solidFill>
                      <a:prstDash val="sysDash"/>
                    </a:lnT>
                    <a:lnB w="12700">
                      <a:solidFill>
                        <a:srgbClr val="C00000"/>
                      </a:solidFill>
                      <a:prstDash val="sysDash"/>
                    </a:lnB>
                  </a:tcPr>
                </a:tc>
                <a:tc vMerge="1">
                  <a:txBody>
                    <a:bodyPr/>
                    <a:lstStyle/>
                    <a:p>
                      <a:pPr/>
                    </a:p>
                  </a:txBody>
                  <a:tcPr marL="0" marR="0" marB="0" marT="0">
                    <a:lnL w="12700">
                      <a:solidFill>
                        <a:srgbClr val="C00000"/>
                      </a:solidFill>
                      <a:prstDash val="sysDash"/>
                    </a:lnL>
                    <a:lnR w="9525">
                      <a:solidFill>
                        <a:srgbClr val="990000"/>
                      </a:solidFill>
                      <a:prstDash val="sysDash"/>
                    </a:lnR>
                    <a:lnT w="9525">
                      <a:solidFill>
                        <a:srgbClr val="990000"/>
                      </a:solidFill>
                      <a:prstDash val="sysDash"/>
                    </a:lnT>
                    <a:lnB w="9525">
                      <a:solidFill>
                        <a:srgbClr val="990000"/>
                      </a:solidFill>
                      <a:prstDash val="sysDash"/>
                    </a:lnB>
                  </a:tcPr>
                </a:tc>
              </a:tr>
            </a:tbl>
          </a:graphicData>
        </a:graphic>
      </p:graphicFrame>
      <p:pic>
        <p:nvPicPr>
          <p:cNvPr id="100" name="object 100" descr=""/>
          <p:cNvPicPr/>
          <p:nvPr/>
        </p:nvPicPr>
        <p:blipFill>
          <a:blip r:embed="rId54" cstate="print"/>
          <a:stretch>
            <a:fillRect/>
          </a:stretch>
        </p:blipFill>
        <p:spPr>
          <a:xfrm>
            <a:off x="5401055" y="1155191"/>
            <a:ext cx="1572768" cy="283464"/>
          </a:xfrm>
          <a:prstGeom prst="rect">
            <a:avLst/>
          </a:prstGeom>
        </p:spPr>
      </p:pic>
      <p:sp>
        <p:nvSpPr>
          <p:cNvPr id="101" name="object 101" descr=""/>
          <p:cNvSpPr txBox="1"/>
          <p:nvPr/>
        </p:nvSpPr>
        <p:spPr>
          <a:xfrm>
            <a:off x="5718935" y="1187730"/>
            <a:ext cx="93980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FFFFFF"/>
                </a:solidFill>
                <a:latin typeface="Microsoft YaHei"/>
                <a:cs typeface="Microsoft YaHei"/>
              </a:rPr>
              <a:t>输出站址信息</a:t>
            </a:r>
            <a:endParaRPr sz="1200">
              <a:latin typeface="Microsoft YaHei"/>
              <a:cs typeface="Microsoft YaHei"/>
            </a:endParaRPr>
          </a:p>
        </p:txBody>
      </p:sp>
      <p:sp>
        <p:nvSpPr>
          <p:cNvPr id="102" name="object 102" descr=""/>
          <p:cNvSpPr/>
          <p:nvPr/>
        </p:nvSpPr>
        <p:spPr>
          <a:xfrm>
            <a:off x="5489074" y="3326003"/>
            <a:ext cx="1438275" cy="1473200"/>
          </a:xfrm>
          <a:custGeom>
            <a:avLst/>
            <a:gdLst/>
            <a:ahLst/>
            <a:cxnLst/>
            <a:rect l="l" t="t" r="r" b="b"/>
            <a:pathLst>
              <a:path w="1438275" h="1473200">
                <a:moveTo>
                  <a:pt x="1438030" y="1472708"/>
                </a:moveTo>
                <a:lnTo>
                  <a:pt x="0" y="1472708"/>
                </a:lnTo>
                <a:lnTo>
                  <a:pt x="0" y="0"/>
                </a:lnTo>
                <a:lnTo>
                  <a:pt x="1438030" y="0"/>
                </a:lnTo>
                <a:lnTo>
                  <a:pt x="1438030" y="1472708"/>
                </a:lnTo>
                <a:close/>
              </a:path>
            </a:pathLst>
          </a:custGeom>
          <a:solidFill>
            <a:srgbClr val="E9EDF4"/>
          </a:solidFill>
        </p:spPr>
        <p:txBody>
          <a:bodyPr wrap="square" lIns="0" tIns="0" rIns="0" bIns="0" rtlCol="0"/>
          <a:lstStyle/>
          <a:p/>
        </p:txBody>
      </p:sp>
      <p:graphicFrame>
        <p:nvGraphicFramePr>
          <p:cNvPr id="103" name="object 103" descr=""/>
          <p:cNvGraphicFramePr>
            <a:graphicFrameLocks noGrp="1"/>
          </p:cNvGraphicFramePr>
          <p:nvPr/>
        </p:nvGraphicFramePr>
        <p:xfrm>
          <a:off x="5483060" y="3316984"/>
          <a:ext cx="2078990" cy="1468120"/>
        </p:xfrm>
        <a:graphic>
          <a:graphicData uri="http://schemas.openxmlformats.org/drawingml/2006/table">
            <a:tbl>
              <a:tblPr firstRow="1" bandRow="1">
                <a:tableStyleId>{2D5ABB26-0587-4C30-8999-92F81FD0307C}</a:tableStyleId>
              </a:tblPr>
              <a:tblGrid>
                <a:gridCol w="220345"/>
                <a:gridCol w="488315"/>
                <a:gridCol w="162559"/>
                <a:gridCol w="419100"/>
                <a:gridCol w="162560"/>
                <a:gridCol w="322579"/>
                <a:gridCol w="220344"/>
              </a:tblGrid>
              <a:tr h="291465">
                <a:tc>
                  <a:txBody>
                    <a:bodyPr/>
                    <a:lstStyle/>
                    <a:p>
                      <a:pPr marL="14604">
                        <a:lnSpc>
                          <a:spcPct val="100000"/>
                        </a:lnSpc>
                        <a:spcBef>
                          <a:spcPts val="75"/>
                        </a:spcBef>
                      </a:pPr>
                      <a:r>
                        <a:rPr dirty="0" sz="750" spc="-390" b="1">
                          <a:latin typeface="Microsoft YaHei"/>
                          <a:cs typeface="Microsoft YaHei"/>
                        </a:rPr>
                        <a:t>特殊场景</a:t>
                      </a:r>
                      <a:endParaRPr sz="750">
                        <a:latin typeface="Microsoft YaHei"/>
                        <a:cs typeface="Microsoft YaHei"/>
                      </a:endParaRPr>
                    </a:p>
                    <a:p>
                      <a:pPr marL="62865">
                        <a:lnSpc>
                          <a:spcPct val="100000"/>
                        </a:lnSpc>
                        <a:spcBef>
                          <a:spcPts val="240"/>
                        </a:spcBef>
                      </a:pPr>
                      <a:r>
                        <a:rPr dirty="0" sz="750" spc="-400" b="1">
                          <a:latin typeface="Microsoft YaHei"/>
                          <a:cs typeface="Microsoft YaHei"/>
                        </a:rPr>
                        <a:t>名称</a:t>
                      </a:r>
                      <a:endParaRPr sz="750">
                        <a:latin typeface="Microsoft YaHei"/>
                        <a:cs typeface="Microsoft YaHei"/>
                      </a:endParaRPr>
                    </a:p>
                  </a:txBody>
                  <a:tcPr marL="0" marR="0" marB="0" marT="9525">
                    <a:lnR w="6350">
                      <a:solidFill>
                        <a:srgbClr val="FFFFFF"/>
                      </a:solidFill>
                      <a:prstDash val="solid"/>
                    </a:lnR>
                    <a:lnT w="6350">
                      <a:solidFill>
                        <a:srgbClr val="FFFFFF"/>
                      </a:solidFill>
                      <a:prstDash val="solid"/>
                    </a:lnT>
                    <a:lnB w="12700">
                      <a:solidFill>
                        <a:srgbClr val="FFFFFF"/>
                      </a:solidFill>
                      <a:prstDash val="solid"/>
                    </a:lnB>
                    <a:solidFill>
                      <a:srgbClr val="E9EDF4"/>
                    </a:solidFill>
                  </a:tcPr>
                </a:tc>
                <a:tc>
                  <a:txBody>
                    <a:bodyPr/>
                    <a:lstStyle/>
                    <a:p>
                      <a:pPr marL="11430" marR="267970">
                        <a:lnSpc>
                          <a:spcPct val="100000"/>
                        </a:lnSpc>
                        <a:spcBef>
                          <a:spcPts val="75"/>
                        </a:spcBef>
                      </a:pPr>
                      <a:r>
                        <a:rPr dirty="0" sz="750" spc="-390" b="1">
                          <a:latin typeface="Microsoft YaHei"/>
                          <a:cs typeface="Microsoft YaHei"/>
                        </a:rPr>
                        <a:t>规划基站</a:t>
                      </a:r>
                      <a:endParaRPr sz="750">
                        <a:latin typeface="Microsoft YaHei"/>
                        <a:cs typeface="Microsoft YaHei"/>
                      </a:endParaRPr>
                    </a:p>
                    <a:p>
                      <a:pPr marL="59690" marR="267970">
                        <a:lnSpc>
                          <a:spcPct val="100000"/>
                        </a:lnSpc>
                        <a:spcBef>
                          <a:spcPts val="240"/>
                        </a:spcBef>
                      </a:pPr>
                      <a:r>
                        <a:rPr dirty="0" sz="750" spc="-400" b="1">
                          <a:latin typeface="Microsoft YaHei"/>
                          <a:cs typeface="Microsoft YaHei"/>
                        </a:rPr>
                        <a:t>类型</a:t>
                      </a:r>
                      <a:endParaRPr sz="750">
                        <a:latin typeface="Microsoft YaHei"/>
                        <a:cs typeface="Microsoft YaHei"/>
                      </a:endParaRPr>
                    </a:p>
                  </a:txBody>
                  <a:tcPr marL="0" marR="0" marB="0" marT="9525">
                    <a:lnL w="6350">
                      <a:solidFill>
                        <a:srgbClr val="FFFFFF"/>
                      </a:solidFill>
                      <a:prstDash val="solid"/>
                    </a:lnL>
                    <a:lnR w="6350">
                      <a:solidFill>
                        <a:srgbClr val="FFFFFF"/>
                      </a:solidFill>
                      <a:prstDash val="solid"/>
                    </a:lnR>
                    <a:lnT w="6350">
                      <a:solidFill>
                        <a:srgbClr val="FFFFFF"/>
                      </a:solidFill>
                      <a:prstDash val="solid"/>
                    </a:lnT>
                    <a:lnB w="12700">
                      <a:solidFill>
                        <a:srgbClr val="FFFFFF"/>
                      </a:solidFill>
                      <a:prstDash val="solid"/>
                    </a:lnB>
                    <a:solidFill>
                      <a:srgbClr val="E9EDF4"/>
                    </a:solidFill>
                  </a:tcPr>
                </a:tc>
                <a:tc>
                  <a:txBody>
                    <a:bodyPr/>
                    <a:lstStyle/>
                    <a:p>
                      <a:pPr marL="33020">
                        <a:lnSpc>
                          <a:spcPct val="100000"/>
                        </a:lnSpc>
                        <a:spcBef>
                          <a:spcPts val="75"/>
                        </a:spcBef>
                      </a:pPr>
                      <a:r>
                        <a:rPr dirty="0" sz="750" spc="-400" b="1">
                          <a:latin typeface="Microsoft YaHei"/>
                          <a:cs typeface="Microsoft YaHei"/>
                        </a:rPr>
                        <a:t>规划</a:t>
                      </a:r>
                      <a:endParaRPr sz="750">
                        <a:latin typeface="Microsoft YaHei"/>
                        <a:cs typeface="Microsoft YaHei"/>
                      </a:endParaRPr>
                    </a:p>
                    <a:p>
                      <a:pPr marL="33020">
                        <a:lnSpc>
                          <a:spcPct val="100000"/>
                        </a:lnSpc>
                        <a:spcBef>
                          <a:spcPts val="240"/>
                        </a:spcBef>
                      </a:pPr>
                      <a:r>
                        <a:rPr dirty="0" sz="750" spc="-400" b="1">
                          <a:latin typeface="Microsoft YaHei"/>
                          <a:cs typeface="Microsoft YaHei"/>
                        </a:rPr>
                        <a:t>站名</a:t>
                      </a:r>
                      <a:endParaRPr sz="750">
                        <a:latin typeface="Microsoft YaHei"/>
                        <a:cs typeface="Microsoft YaHei"/>
                      </a:endParaRPr>
                    </a:p>
                  </a:txBody>
                  <a:tcPr marL="0" marR="0" marB="0" marT="9525">
                    <a:lnL w="6350">
                      <a:solidFill>
                        <a:srgbClr val="FFFFFF"/>
                      </a:solidFill>
                      <a:prstDash val="solid"/>
                    </a:lnL>
                    <a:lnR w="6350">
                      <a:solidFill>
                        <a:srgbClr val="FFFFFF"/>
                      </a:solidFill>
                      <a:prstDash val="solid"/>
                    </a:lnR>
                    <a:lnT w="6350">
                      <a:solidFill>
                        <a:srgbClr val="FFFFFF"/>
                      </a:solidFill>
                      <a:prstDash val="solid"/>
                    </a:lnT>
                    <a:lnB w="12700">
                      <a:solidFill>
                        <a:srgbClr val="FFFFFF"/>
                      </a:solidFill>
                      <a:prstDash val="solid"/>
                    </a:lnB>
                    <a:solidFill>
                      <a:srgbClr val="E9EDF4"/>
                    </a:solidFill>
                  </a:tcPr>
                </a:tc>
                <a:tc>
                  <a:txBody>
                    <a:bodyPr/>
                    <a:lstStyle/>
                    <a:p>
                      <a:pPr marL="20955" marR="277495">
                        <a:lnSpc>
                          <a:spcPct val="100000"/>
                        </a:lnSpc>
                        <a:spcBef>
                          <a:spcPts val="75"/>
                        </a:spcBef>
                      </a:pPr>
                      <a:r>
                        <a:rPr dirty="0" sz="750" spc="-400" b="1">
                          <a:latin typeface="Microsoft YaHei"/>
                          <a:cs typeface="Microsoft YaHei"/>
                        </a:rPr>
                        <a:t>规划</a:t>
                      </a:r>
                      <a:endParaRPr sz="750">
                        <a:latin typeface="Microsoft YaHei"/>
                        <a:cs typeface="Microsoft YaHei"/>
                      </a:endParaRPr>
                    </a:p>
                    <a:p>
                      <a:pPr marL="20955" marR="277495">
                        <a:lnSpc>
                          <a:spcPct val="100000"/>
                        </a:lnSpc>
                        <a:spcBef>
                          <a:spcPts val="240"/>
                        </a:spcBef>
                      </a:pPr>
                      <a:r>
                        <a:rPr dirty="0" sz="750" spc="-400" b="1">
                          <a:latin typeface="Microsoft YaHei"/>
                          <a:cs typeface="Microsoft YaHei"/>
                        </a:rPr>
                        <a:t>经度</a:t>
                      </a:r>
                      <a:endParaRPr sz="750">
                        <a:latin typeface="Microsoft YaHei"/>
                        <a:cs typeface="Microsoft YaHei"/>
                      </a:endParaRPr>
                    </a:p>
                  </a:txBody>
                  <a:tcPr marL="0" marR="0" marB="0" marT="9525">
                    <a:lnL w="6350">
                      <a:solidFill>
                        <a:srgbClr val="FFFFFF"/>
                      </a:solidFill>
                      <a:prstDash val="solid"/>
                    </a:lnL>
                    <a:lnR w="6350">
                      <a:solidFill>
                        <a:srgbClr val="FFFFFF"/>
                      </a:solidFill>
                      <a:prstDash val="solid"/>
                    </a:lnR>
                    <a:lnT w="6350">
                      <a:solidFill>
                        <a:srgbClr val="FFFFFF"/>
                      </a:solidFill>
                      <a:prstDash val="solid"/>
                    </a:lnT>
                    <a:lnB w="12700">
                      <a:solidFill>
                        <a:srgbClr val="FFFFFF"/>
                      </a:solidFill>
                      <a:prstDash val="solid"/>
                    </a:lnB>
                    <a:solidFill>
                      <a:srgbClr val="E9EDF4"/>
                    </a:solidFill>
                  </a:tcPr>
                </a:tc>
                <a:tc>
                  <a:txBody>
                    <a:bodyPr/>
                    <a:lstStyle/>
                    <a:p>
                      <a:pPr marL="33020">
                        <a:lnSpc>
                          <a:spcPct val="100000"/>
                        </a:lnSpc>
                        <a:spcBef>
                          <a:spcPts val="75"/>
                        </a:spcBef>
                      </a:pPr>
                      <a:r>
                        <a:rPr dirty="0" sz="750" spc="-400" b="1">
                          <a:latin typeface="Microsoft YaHei"/>
                          <a:cs typeface="Microsoft YaHei"/>
                        </a:rPr>
                        <a:t>规划</a:t>
                      </a:r>
                      <a:endParaRPr sz="750">
                        <a:latin typeface="Microsoft YaHei"/>
                        <a:cs typeface="Microsoft YaHei"/>
                      </a:endParaRPr>
                    </a:p>
                    <a:p>
                      <a:pPr marL="33020">
                        <a:lnSpc>
                          <a:spcPct val="100000"/>
                        </a:lnSpc>
                        <a:spcBef>
                          <a:spcPts val="240"/>
                        </a:spcBef>
                      </a:pPr>
                      <a:r>
                        <a:rPr dirty="0" sz="750" spc="-400" b="1">
                          <a:latin typeface="Microsoft YaHei"/>
                          <a:cs typeface="Microsoft YaHei"/>
                        </a:rPr>
                        <a:t>纬度</a:t>
                      </a:r>
                      <a:endParaRPr sz="750">
                        <a:latin typeface="Microsoft YaHei"/>
                        <a:cs typeface="Microsoft YaHei"/>
                      </a:endParaRPr>
                    </a:p>
                  </a:txBody>
                  <a:tcPr marL="0" marR="0" marB="0" marT="9525">
                    <a:lnL w="6350">
                      <a:solidFill>
                        <a:srgbClr val="FFFFFF"/>
                      </a:solidFill>
                      <a:prstDash val="solid"/>
                    </a:lnL>
                    <a:lnR w="6350">
                      <a:solidFill>
                        <a:srgbClr val="FFFFFF"/>
                      </a:solidFill>
                      <a:prstDash val="solid"/>
                    </a:lnR>
                    <a:lnT w="6350">
                      <a:solidFill>
                        <a:srgbClr val="FFFFFF"/>
                      </a:solidFill>
                      <a:prstDash val="solid"/>
                    </a:lnT>
                    <a:lnB w="12700">
                      <a:solidFill>
                        <a:srgbClr val="FFFFFF"/>
                      </a:solidFill>
                      <a:prstDash val="solid"/>
                    </a:lnB>
                    <a:solidFill>
                      <a:srgbClr val="E9EDF4"/>
                    </a:solidFill>
                  </a:tcPr>
                </a:tc>
                <a:tc>
                  <a:txBody>
                    <a:bodyPr/>
                    <a:lstStyle/>
                    <a:p>
                      <a:pPr algn="ctr" marL="2540">
                        <a:lnSpc>
                          <a:spcPct val="100000"/>
                        </a:lnSpc>
                        <a:spcBef>
                          <a:spcPts val="645"/>
                        </a:spcBef>
                      </a:pPr>
                      <a:r>
                        <a:rPr dirty="0" sz="750" spc="-385" b="1">
                          <a:latin typeface="Microsoft YaHei"/>
                          <a:cs typeface="Microsoft YaHei"/>
                        </a:rPr>
                        <a:t>规划建设位置</a:t>
                      </a:r>
                      <a:endParaRPr sz="750">
                        <a:latin typeface="Microsoft YaHei"/>
                        <a:cs typeface="Microsoft YaHei"/>
                      </a:endParaRPr>
                    </a:p>
                  </a:txBody>
                  <a:tcPr marL="0" marR="0" marB="0" marT="81915">
                    <a:lnL w="6350">
                      <a:solidFill>
                        <a:srgbClr val="FFFFFF"/>
                      </a:solidFill>
                      <a:prstDash val="solid"/>
                    </a:lnL>
                    <a:lnR w="6350">
                      <a:solidFill>
                        <a:srgbClr val="FFFFFF"/>
                      </a:solidFill>
                      <a:prstDash val="solid"/>
                    </a:lnR>
                    <a:lnT w="6350">
                      <a:solidFill>
                        <a:srgbClr val="FFFFFF"/>
                      </a:solidFill>
                      <a:prstDash val="solid"/>
                    </a:lnT>
                    <a:lnB w="12700">
                      <a:solidFill>
                        <a:srgbClr val="FFFFFF"/>
                      </a:solidFill>
                      <a:prstDash val="solid"/>
                    </a:lnB>
                    <a:solidFill>
                      <a:srgbClr val="E9EDF4"/>
                    </a:solidFill>
                  </a:tcPr>
                </a:tc>
                <a:tc>
                  <a:txBody>
                    <a:bodyPr/>
                    <a:lstStyle/>
                    <a:p>
                      <a:pPr algn="ctr" marL="2540">
                        <a:lnSpc>
                          <a:spcPct val="100000"/>
                        </a:lnSpc>
                        <a:spcBef>
                          <a:spcPts val="645"/>
                        </a:spcBef>
                      </a:pPr>
                      <a:r>
                        <a:rPr dirty="0" sz="750" spc="-390" b="1">
                          <a:latin typeface="Microsoft YaHei"/>
                          <a:cs typeface="Microsoft YaHei"/>
                        </a:rPr>
                        <a:t>覆盖目标</a:t>
                      </a:r>
                      <a:endParaRPr sz="750">
                        <a:latin typeface="Microsoft YaHei"/>
                        <a:cs typeface="Microsoft YaHei"/>
                      </a:endParaRPr>
                    </a:p>
                  </a:txBody>
                  <a:tcPr marL="0" marR="0" marB="0" marT="81915">
                    <a:lnL w="6350">
                      <a:solidFill>
                        <a:srgbClr val="FFFFFF"/>
                      </a:solidFill>
                      <a:prstDash val="solid"/>
                    </a:lnL>
                    <a:lnR w="6350">
                      <a:solidFill>
                        <a:srgbClr val="FFFFFF"/>
                      </a:solidFill>
                      <a:prstDash val="solid"/>
                    </a:lnR>
                    <a:lnT w="6350">
                      <a:solidFill>
                        <a:srgbClr val="FFFFFF"/>
                      </a:solidFill>
                      <a:prstDash val="solid"/>
                    </a:lnT>
                    <a:lnB w="12700">
                      <a:solidFill>
                        <a:srgbClr val="FFFFFF"/>
                      </a:solidFill>
                      <a:prstDash val="solid"/>
                    </a:lnB>
                    <a:solidFill>
                      <a:srgbClr val="E9EDF4"/>
                    </a:solidFill>
                  </a:tcPr>
                </a:tc>
              </a:tr>
              <a:tr h="149860">
                <a:tc rowSpan="4">
                  <a:txBody>
                    <a:bodyPr/>
                    <a:lstStyle/>
                    <a:p>
                      <a:pPr>
                        <a:lnSpc>
                          <a:spcPct val="100000"/>
                        </a:lnSpc>
                      </a:pPr>
                      <a:endParaRPr sz="750">
                        <a:latin typeface="Times New Roman"/>
                        <a:cs typeface="Times New Roman"/>
                      </a:endParaRPr>
                    </a:p>
                    <a:p>
                      <a:pPr>
                        <a:lnSpc>
                          <a:spcPct val="100000"/>
                        </a:lnSpc>
                      </a:pPr>
                      <a:endParaRPr sz="750">
                        <a:latin typeface="Times New Roman"/>
                        <a:cs typeface="Times New Roman"/>
                      </a:endParaRPr>
                    </a:p>
                    <a:p>
                      <a:pPr>
                        <a:lnSpc>
                          <a:spcPct val="100000"/>
                        </a:lnSpc>
                      </a:pPr>
                      <a:endParaRPr sz="750">
                        <a:latin typeface="Times New Roman"/>
                        <a:cs typeface="Times New Roman"/>
                      </a:endParaRPr>
                    </a:p>
                    <a:p>
                      <a:pPr>
                        <a:lnSpc>
                          <a:spcPct val="100000"/>
                        </a:lnSpc>
                        <a:spcBef>
                          <a:spcPts val="675"/>
                        </a:spcBef>
                      </a:pPr>
                      <a:endParaRPr sz="750">
                        <a:latin typeface="Times New Roman"/>
                        <a:cs typeface="Times New Roman"/>
                      </a:endParaRPr>
                    </a:p>
                    <a:p>
                      <a:pPr marL="29845">
                        <a:lnSpc>
                          <a:spcPct val="100000"/>
                        </a:lnSpc>
                      </a:pPr>
                      <a:r>
                        <a:rPr dirty="0" sz="750" spc="-270" b="1">
                          <a:latin typeface="Microsoft YaHei"/>
                          <a:cs typeface="Microsoft YaHei"/>
                        </a:rPr>
                        <a:t>XX</a:t>
                      </a:r>
                      <a:r>
                        <a:rPr dirty="0" sz="750" spc="-400" b="1">
                          <a:latin typeface="Microsoft YaHei"/>
                          <a:cs typeface="Microsoft YaHei"/>
                        </a:rPr>
                        <a:t>小区</a:t>
                      </a:r>
                      <a:endParaRPr sz="750">
                        <a:latin typeface="Microsoft YaHei"/>
                        <a:cs typeface="Microsoft YaHei"/>
                      </a:endParaRPr>
                    </a:p>
                  </a:txBody>
                  <a:tcPr marL="0" marR="0" marB="0" marT="0">
                    <a:lnR w="6350">
                      <a:solidFill>
                        <a:srgbClr val="FFFFFF"/>
                      </a:solidFill>
                      <a:prstDash val="solid"/>
                    </a:lnR>
                    <a:lnT w="12700">
                      <a:solidFill>
                        <a:srgbClr val="FFFFFF"/>
                      </a:solidFill>
                      <a:prstDash val="solid"/>
                    </a:lnT>
                    <a:solidFill>
                      <a:srgbClr val="E9EDF4"/>
                    </a:solidFill>
                  </a:tcPr>
                </a:tc>
                <a:tc>
                  <a:txBody>
                    <a:bodyPr/>
                    <a:lstStyle/>
                    <a:p>
                      <a:pPr algn="ctr" marL="2540" marR="267970">
                        <a:lnSpc>
                          <a:spcPct val="100000"/>
                        </a:lnSpc>
                        <a:spcBef>
                          <a:spcPts val="100"/>
                        </a:spcBef>
                      </a:pPr>
                      <a:r>
                        <a:rPr dirty="0" sz="750" spc="-400" b="1">
                          <a:latin typeface="Microsoft YaHei"/>
                          <a:cs typeface="Microsoft YaHei"/>
                        </a:rPr>
                        <a:t>宏站</a:t>
                      </a:r>
                      <a:endParaRPr sz="750">
                        <a:latin typeface="Microsoft YaHei"/>
                        <a:cs typeface="Microsoft YaHei"/>
                      </a:endParaRPr>
                    </a:p>
                  </a:txBody>
                  <a:tcPr marL="0" marR="0" marB="0" marT="1270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gn="ctr" marL="2540">
                        <a:lnSpc>
                          <a:spcPct val="100000"/>
                        </a:lnSpc>
                        <a:spcBef>
                          <a:spcPts val="100"/>
                        </a:spcBef>
                      </a:pPr>
                      <a:r>
                        <a:rPr dirty="0" sz="750" spc="-50" b="1">
                          <a:latin typeface="Microsoft YaHei"/>
                          <a:cs typeface="Microsoft YaHei"/>
                        </a:rPr>
                        <a:t>-</a:t>
                      </a:r>
                      <a:endParaRPr sz="750">
                        <a:latin typeface="Microsoft YaHei"/>
                        <a:cs typeface="Microsoft YaHei"/>
                      </a:endParaRPr>
                    </a:p>
                  </a:txBody>
                  <a:tcPr marL="0" marR="0" marB="0" marT="1270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gn="ctr" marR="277495">
                        <a:lnSpc>
                          <a:spcPct val="100000"/>
                        </a:lnSpc>
                        <a:spcBef>
                          <a:spcPts val="100"/>
                        </a:spcBef>
                      </a:pPr>
                      <a:r>
                        <a:rPr dirty="0" sz="750" spc="-50" b="1">
                          <a:latin typeface="Microsoft YaHei"/>
                          <a:cs typeface="Microsoft YaHei"/>
                        </a:rPr>
                        <a:t>-</a:t>
                      </a:r>
                      <a:endParaRPr sz="750">
                        <a:latin typeface="Microsoft YaHei"/>
                        <a:cs typeface="Microsoft YaHei"/>
                      </a:endParaRPr>
                    </a:p>
                  </a:txBody>
                  <a:tcPr marL="0" marR="0" marB="0" marT="1270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gn="ctr" marL="2540">
                        <a:lnSpc>
                          <a:spcPct val="100000"/>
                        </a:lnSpc>
                        <a:spcBef>
                          <a:spcPts val="100"/>
                        </a:spcBef>
                      </a:pPr>
                      <a:r>
                        <a:rPr dirty="0" sz="750" spc="-50" b="1">
                          <a:latin typeface="Microsoft YaHei"/>
                          <a:cs typeface="Microsoft YaHei"/>
                        </a:rPr>
                        <a:t>-</a:t>
                      </a:r>
                      <a:endParaRPr sz="750">
                        <a:latin typeface="Microsoft YaHei"/>
                        <a:cs typeface="Microsoft YaHei"/>
                      </a:endParaRPr>
                    </a:p>
                  </a:txBody>
                  <a:tcPr marL="0" marR="0" marB="0" marT="1270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gn="ctr" marR="97790">
                        <a:lnSpc>
                          <a:spcPct val="100000"/>
                        </a:lnSpc>
                        <a:spcBef>
                          <a:spcPts val="100"/>
                        </a:spcBef>
                      </a:pPr>
                      <a:r>
                        <a:rPr dirty="0" sz="750" spc="-390" b="1">
                          <a:latin typeface="Microsoft YaHei"/>
                          <a:cs typeface="Microsoft YaHei"/>
                        </a:rPr>
                        <a:t>小区外围</a:t>
                      </a:r>
                      <a:endParaRPr sz="750">
                        <a:latin typeface="Microsoft YaHei"/>
                        <a:cs typeface="Microsoft YaHei"/>
                      </a:endParaRPr>
                    </a:p>
                  </a:txBody>
                  <a:tcPr marL="0" marR="0" marB="0" marT="1270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gn="ctr" marL="2540">
                        <a:lnSpc>
                          <a:spcPct val="100000"/>
                        </a:lnSpc>
                        <a:spcBef>
                          <a:spcPts val="100"/>
                        </a:spcBef>
                      </a:pPr>
                      <a:r>
                        <a:rPr dirty="0" sz="750" spc="-390" b="1">
                          <a:latin typeface="Microsoft YaHei"/>
                          <a:cs typeface="Microsoft YaHei"/>
                        </a:rPr>
                        <a:t>整体覆盖</a:t>
                      </a:r>
                      <a:endParaRPr sz="750">
                        <a:latin typeface="Microsoft YaHei"/>
                        <a:cs typeface="Microsoft YaHei"/>
                      </a:endParaRPr>
                    </a:p>
                  </a:txBody>
                  <a:tcPr marL="0" marR="0" marB="0" marT="1270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r>
              <a:tr h="294005">
                <a:tc vMerge="1">
                  <a:txBody>
                    <a:bodyPr/>
                    <a:lstStyle/>
                    <a:p>
                      <a:pPr/>
                    </a:p>
                  </a:txBody>
                  <a:tcPr marL="0" marR="0" marB="0" marT="0">
                    <a:lnR w="6350">
                      <a:solidFill>
                        <a:srgbClr val="FFFFFF"/>
                      </a:solidFill>
                      <a:prstDash val="solid"/>
                    </a:lnR>
                    <a:lnT w="12700">
                      <a:solidFill>
                        <a:srgbClr val="FFFFFF"/>
                      </a:solidFill>
                      <a:prstDash val="solid"/>
                    </a:lnT>
                    <a:solidFill>
                      <a:srgbClr val="E9EDF4"/>
                    </a:solidFill>
                  </a:tcPr>
                </a:tc>
                <a:tc>
                  <a:txBody>
                    <a:bodyPr/>
                    <a:lstStyle/>
                    <a:p>
                      <a:pPr algn="ctr" marL="2540" marR="267970">
                        <a:lnSpc>
                          <a:spcPct val="100000"/>
                        </a:lnSpc>
                        <a:spcBef>
                          <a:spcPts val="670"/>
                        </a:spcBef>
                      </a:pPr>
                      <a:r>
                        <a:rPr dirty="0" sz="750" spc="-400" b="1">
                          <a:latin typeface="Microsoft YaHei"/>
                          <a:cs typeface="Microsoft YaHei"/>
                        </a:rPr>
                        <a:t>微站</a:t>
                      </a:r>
                      <a:endParaRPr sz="750">
                        <a:latin typeface="Microsoft YaHei"/>
                        <a:cs typeface="Microsoft YaHei"/>
                      </a:endParaRPr>
                    </a:p>
                  </a:txBody>
                  <a:tcPr marL="0" marR="0" marB="0" marT="8509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gn="ctr" marL="2540">
                        <a:lnSpc>
                          <a:spcPct val="100000"/>
                        </a:lnSpc>
                        <a:spcBef>
                          <a:spcPts val="670"/>
                        </a:spcBef>
                      </a:pPr>
                      <a:r>
                        <a:rPr dirty="0" sz="750" spc="-50" b="1">
                          <a:latin typeface="Microsoft YaHei"/>
                          <a:cs typeface="Microsoft YaHei"/>
                        </a:rPr>
                        <a:t>-</a:t>
                      </a:r>
                      <a:endParaRPr sz="750">
                        <a:latin typeface="Microsoft YaHei"/>
                        <a:cs typeface="Microsoft YaHei"/>
                      </a:endParaRPr>
                    </a:p>
                  </a:txBody>
                  <a:tcPr marL="0" marR="0" marB="0" marT="8509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gn="ctr" marR="277495">
                        <a:lnSpc>
                          <a:spcPct val="100000"/>
                        </a:lnSpc>
                        <a:spcBef>
                          <a:spcPts val="670"/>
                        </a:spcBef>
                      </a:pPr>
                      <a:r>
                        <a:rPr dirty="0" sz="750" spc="-50" b="1">
                          <a:latin typeface="Microsoft YaHei"/>
                          <a:cs typeface="Microsoft YaHei"/>
                        </a:rPr>
                        <a:t>-</a:t>
                      </a:r>
                      <a:endParaRPr sz="750">
                        <a:latin typeface="Microsoft YaHei"/>
                        <a:cs typeface="Microsoft YaHei"/>
                      </a:endParaRPr>
                    </a:p>
                  </a:txBody>
                  <a:tcPr marL="0" marR="0" marB="0" marT="8509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gn="ctr" marL="2540">
                        <a:lnSpc>
                          <a:spcPct val="100000"/>
                        </a:lnSpc>
                        <a:spcBef>
                          <a:spcPts val="670"/>
                        </a:spcBef>
                      </a:pPr>
                      <a:r>
                        <a:rPr dirty="0" sz="750" spc="-50" b="1">
                          <a:latin typeface="Microsoft YaHei"/>
                          <a:cs typeface="Microsoft YaHei"/>
                        </a:rPr>
                        <a:t>-</a:t>
                      </a:r>
                      <a:endParaRPr sz="750">
                        <a:latin typeface="Microsoft YaHei"/>
                        <a:cs typeface="Microsoft YaHei"/>
                      </a:endParaRPr>
                    </a:p>
                  </a:txBody>
                  <a:tcPr marL="0" marR="0" marB="0" marT="8509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gn="ctr" marR="49530">
                        <a:lnSpc>
                          <a:spcPct val="100000"/>
                        </a:lnSpc>
                        <a:spcBef>
                          <a:spcPts val="670"/>
                        </a:spcBef>
                      </a:pPr>
                      <a:r>
                        <a:rPr dirty="0" sz="750" spc="-385" b="1">
                          <a:latin typeface="Microsoft YaHei"/>
                          <a:cs typeface="Microsoft YaHei"/>
                        </a:rPr>
                        <a:t>小区监控杆</a:t>
                      </a:r>
                      <a:endParaRPr sz="750">
                        <a:latin typeface="Microsoft YaHei"/>
                        <a:cs typeface="Microsoft YaHei"/>
                      </a:endParaRPr>
                    </a:p>
                  </a:txBody>
                  <a:tcPr marL="0" marR="0" marB="0" marT="8509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marL="14604">
                        <a:lnSpc>
                          <a:spcPct val="100000"/>
                        </a:lnSpc>
                        <a:spcBef>
                          <a:spcPts val="100"/>
                        </a:spcBef>
                      </a:pPr>
                      <a:r>
                        <a:rPr dirty="0" sz="750" spc="-390" b="1">
                          <a:latin typeface="Microsoft YaHei"/>
                          <a:cs typeface="Microsoft YaHei"/>
                        </a:rPr>
                        <a:t>小区低层</a:t>
                      </a:r>
                      <a:endParaRPr sz="750">
                        <a:latin typeface="Microsoft YaHei"/>
                        <a:cs typeface="Microsoft YaHei"/>
                      </a:endParaRPr>
                    </a:p>
                    <a:p>
                      <a:pPr marL="62865">
                        <a:lnSpc>
                          <a:spcPct val="100000"/>
                        </a:lnSpc>
                        <a:spcBef>
                          <a:spcPts val="235"/>
                        </a:spcBef>
                      </a:pPr>
                      <a:r>
                        <a:rPr dirty="0" sz="750" spc="-400" b="1">
                          <a:latin typeface="Microsoft YaHei"/>
                          <a:cs typeface="Microsoft YaHei"/>
                        </a:rPr>
                        <a:t>覆盖</a:t>
                      </a:r>
                      <a:endParaRPr sz="750">
                        <a:latin typeface="Microsoft YaHei"/>
                        <a:cs typeface="Microsoft YaHei"/>
                      </a:endParaRPr>
                    </a:p>
                  </a:txBody>
                  <a:tcPr marL="0" marR="0" marB="0" marT="1270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r>
              <a:tr h="294005">
                <a:tc vMerge="1">
                  <a:txBody>
                    <a:bodyPr/>
                    <a:lstStyle/>
                    <a:p>
                      <a:pPr/>
                    </a:p>
                  </a:txBody>
                  <a:tcPr marL="0" marR="0" marB="0" marT="0">
                    <a:lnR w="6350">
                      <a:solidFill>
                        <a:srgbClr val="FFFFFF"/>
                      </a:solidFill>
                      <a:prstDash val="solid"/>
                    </a:lnR>
                    <a:lnT w="12700">
                      <a:solidFill>
                        <a:srgbClr val="FFFFFF"/>
                      </a:solidFill>
                      <a:prstDash val="solid"/>
                    </a:lnT>
                    <a:solidFill>
                      <a:srgbClr val="E9EDF4"/>
                    </a:solidFill>
                  </a:tcPr>
                </a:tc>
                <a:tc>
                  <a:txBody>
                    <a:bodyPr/>
                    <a:lstStyle/>
                    <a:p>
                      <a:pPr algn="ctr" marL="2540" marR="267970">
                        <a:lnSpc>
                          <a:spcPct val="100000"/>
                        </a:lnSpc>
                        <a:spcBef>
                          <a:spcPts val="670"/>
                        </a:spcBef>
                      </a:pPr>
                      <a:r>
                        <a:rPr dirty="0" sz="750" spc="-400" b="1">
                          <a:latin typeface="Microsoft YaHei"/>
                          <a:cs typeface="Microsoft YaHei"/>
                        </a:rPr>
                        <a:t>微站</a:t>
                      </a:r>
                      <a:endParaRPr sz="750">
                        <a:latin typeface="Microsoft YaHei"/>
                        <a:cs typeface="Microsoft YaHei"/>
                      </a:endParaRPr>
                    </a:p>
                  </a:txBody>
                  <a:tcPr marL="0" marR="0" marB="0" marT="8509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gn="ctr" marL="2540">
                        <a:lnSpc>
                          <a:spcPct val="100000"/>
                        </a:lnSpc>
                        <a:spcBef>
                          <a:spcPts val="670"/>
                        </a:spcBef>
                      </a:pPr>
                      <a:r>
                        <a:rPr dirty="0" sz="750" spc="-50" b="1">
                          <a:latin typeface="Microsoft YaHei"/>
                          <a:cs typeface="Microsoft YaHei"/>
                        </a:rPr>
                        <a:t>-</a:t>
                      </a:r>
                      <a:endParaRPr sz="750">
                        <a:latin typeface="Microsoft YaHei"/>
                        <a:cs typeface="Microsoft YaHei"/>
                      </a:endParaRPr>
                    </a:p>
                  </a:txBody>
                  <a:tcPr marL="0" marR="0" marB="0" marT="8509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gn="ctr" marR="277495">
                        <a:lnSpc>
                          <a:spcPct val="100000"/>
                        </a:lnSpc>
                        <a:spcBef>
                          <a:spcPts val="670"/>
                        </a:spcBef>
                      </a:pPr>
                      <a:r>
                        <a:rPr dirty="0" sz="750" spc="-50" b="1">
                          <a:latin typeface="Microsoft YaHei"/>
                          <a:cs typeface="Microsoft YaHei"/>
                        </a:rPr>
                        <a:t>-</a:t>
                      </a:r>
                      <a:endParaRPr sz="750">
                        <a:latin typeface="Microsoft YaHei"/>
                        <a:cs typeface="Microsoft YaHei"/>
                      </a:endParaRPr>
                    </a:p>
                  </a:txBody>
                  <a:tcPr marL="0" marR="0" marB="0" marT="8509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gn="ctr" marL="2540">
                        <a:lnSpc>
                          <a:spcPct val="100000"/>
                        </a:lnSpc>
                        <a:spcBef>
                          <a:spcPts val="670"/>
                        </a:spcBef>
                      </a:pPr>
                      <a:r>
                        <a:rPr dirty="0" sz="750" spc="-50" b="1">
                          <a:latin typeface="Microsoft YaHei"/>
                          <a:cs typeface="Microsoft YaHei"/>
                        </a:rPr>
                        <a:t>-</a:t>
                      </a:r>
                      <a:endParaRPr sz="750">
                        <a:latin typeface="Microsoft YaHei"/>
                        <a:cs typeface="Microsoft YaHei"/>
                      </a:endParaRPr>
                    </a:p>
                  </a:txBody>
                  <a:tcPr marL="0" marR="0" marB="0" marT="8509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marL="11430">
                        <a:lnSpc>
                          <a:spcPct val="100000"/>
                        </a:lnSpc>
                        <a:spcBef>
                          <a:spcPts val="100"/>
                        </a:spcBef>
                      </a:pPr>
                      <a:r>
                        <a:rPr dirty="0" sz="750" spc="-385" b="1">
                          <a:latin typeface="Microsoft YaHei"/>
                          <a:cs typeface="Microsoft YaHei"/>
                        </a:rPr>
                        <a:t>楼顶对打、楼</a:t>
                      </a:r>
                      <a:endParaRPr sz="750">
                        <a:latin typeface="Microsoft YaHei"/>
                        <a:cs typeface="Microsoft YaHei"/>
                      </a:endParaRPr>
                    </a:p>
                    <a:p>
                      <a:pPr marL="11430">
                        <a:lnSpc>
                          <a:spcPct val="100000"/>
                        </a:lnSpc>
                        <a:spcBef>
                          <a:spcPts val="235"/>
                        </a:spcBef>
                      </a:pPr>
                      <a:r>
                        <a:rPr dirty="0" sz="750" spc="-395" b="1">
                          <a:latin typeface="Microsoft YaHei"/>
                          <a:cs typeface="Microsoft YaHei"/>
                        </a:rPr>
                        <a:t>面安装</a:t>
                      </a:r>
                      <a:endParaRPr sz="750">
                        <a:latin typeface="Microsoft YaHei"/>
                        <a:cs typeface="Microsoft YaHei"/>
                      </a:endParaRPr>
                    </a:p>
                  </a:txBody>
                  <a:tcPr marL="0" marR="0" marB="0" marT="1270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marL="14604">
                        <a:lnSpc>
                          <a:spcPct val="100000"/>
                        </a:lnSpc>
                        <a:spcBef>
                          <a:spcPts val="100"/>
                        </a:spcBef>
                      </a:pPr>
                      <a:r>
                        <a:rPr dirty="0" sz="750" spc="-390" b="1">
                          <a:latin typeface="Microsoft YaHei"/>
                          <a:cs typeface="Microsoft YaHei"/>
                        </a:rPr>
                        <a:t>房间内部</a:t>
                      </a:r>
                      <a:endParaRPr sz="750">
                        <a:latin typeface="Microsoft YaHei"/>
                        <a:cs typeface="Microsoft YaHei"/>
                      </a:endParaRPr>
                    </a:p>
                    <a:p>
                      <a:pPr marL="14604">
                        <a:lnSpc>
                          <a:spcPct val="100000"/>
                        </a:lnSpc>
                        <a:spcBef>
                          <a:spcPts val="235"/>
                        </a:spcBef>
                      </a:pPr>
                      <a:r>
                        <a:rPr dirty="0" sz="750" spc="-390" b="1">
                          <a:latin typeface="Microsoft YaHei"/>
                          <a:cs typeface="Microsoft YaHei"/>
                        </a:rPr>
                        <a:t>信号补盲</a:t>
                      </a:r>
                      <a:endParaRPr sz="750">
                        <a:latin typeface="Microsoft YaHei"/>
                        <a:cs typeface="Microsoft YaHei"/>
                      </a:endParaRPr>
                    </a:p>
                  </a:txBody>
                  <a:tcPr marL="0" marR="0" marB="0" marT="1270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r>
              <a:tr h="438784">
                <a:tc vMerge="1">
                  <a:txBody>
                    <a:bodyPr/>
                    <a:lstStyle/>
                    <a:p>
                      <a:pPr/>
                    </a:p>
                  </a:txBody>
                  <a:tcPr marL="0" marR="0" marB="0" marT="0">
                    <a:lnR w="6350">
                      <a:solidFill>
                        <a:srgbClr val="FFFFFF"/>
                      </a:solidFill>
                      <a:prstDash val="solid"/>
                    </a:lnR>
                    <a:lnT w="12700">
                      <a:solidFill>
                        <a:srgbClr val="FFFFFF"/>
                      </a:solidFill>
                      <a:prstDash val="solid"/>
                    </a:lnT>
                    <a:solidFill>
                      <a:srgbClr val="E9EDF4"/>
                    </a:solidFill>
                  </a:tcPr>
                </a:tc>
                <a:tc>
                  <a:txBody>
                    <a:bodyPr/>
                    <a:lstStyle/>
                    <a:p>
                      <a:pPr marR="267970">
                        <a:lnSpc>
                          <a:spcPct val="100000"/>
                        </a:lnSpc>
                        <a:spcBef>
                          <a:spcPts val="375"/>
                        </a:spcBef>
                      </a:pPr>
                      <a:endParaRPr sz="750">
                        <a:latin typeface="Times New Roman"/>
                        <a:cs typeface="Times New Roman"/>
                      </a:endParaRPr>
                    </a:p>
                    <a:p>
                      <a:pPr marL="35560" marR="267970">
                        <a:lnSpc>
                          <a:spcPct val="100000"/>
                        </a:lnSpc>
                      </a:pPr>
                      <a:r>
                        <a:rPr dirty="0" sz="750" spc="-395" b="1">
                          <a:latin typeface="Microsoft YaHei"/>
                          <a:cs typeface="Microsoft YaHei"/>
                        </a:rPr>
                        <a:t>室分站</a:t>
                      </a:r>
                      <a:endParaRPr sz="750">
                        <a:latin typeface="Microsoft YaHei"/>
                        <a:cs typeface="Microsoft YaHei"/>
                      </a:endParaRPr>
                    </a:p>
                    <a:p>
                      <a:pPr algn="r">
                        <a:lnSpc>
                          <a:spcPts val="670"/>
                        </a:lnSpc>
                        <a:spcBef>
                          <a:spcPts val="545"/>
                        </a:spcBef>
                      </a:pPr>
                      <a:r>
                        <a:rPr dirty="0" sz="1200" spc="-25">
                          <a:latin typeface="Microsoft YaHei"/>
                          <a:cs typeface="Microsoft YaHei"/>
                        </a:rPr>
                        <a:t>站址</a:t>
                      </a:r>
                      <a:endParaRPr sz="1200">
                        <a:latin typeface="Microsoft YaHei"/>
                        <a:cs typeface="Microsoft YaHei"/>
                      </a:endParaRPr>
                    </a:p>
                  </a:txBody>
                  <a:tcPr marL="0" marR="0" marB="0" marT="47625">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nSpc>
                          <a:spcPct val="100000"/>
                        </a:lnSpc>
                        <a:spcBef>
                          <a:spcPts val="375"/>
                        </a:spcBef>
                      </a:pPr>
                      <a:endParaRPr sz="750">
                        <a:latin typeface="Times New Roman"/>
                        <a:cs typeface="Times New Roman"/>
                      </a:endParaRPr>
                    </a:p>
                    <a:p>
                      <a:pPr algn="ctr" marL="2540">
                        <a:lnSpc>
                          <a:spcPct val="100000"/>
                        </a:lnSpc>
                      </a:pPr>
                      <a:r>
                        <a:rPr dirty="0" sz="750" spc="-50" b="1">
                          <a:latin typeface="Microsoft YaHei"/>
                          <a:cs typeface="Microsoft YaHei"/>
                        </a:rPr>
                        <a:t>-</a:t>
                      </a:r>
                      <a:endParaRPr sz="750">
                        <a:latin typeface="Microsoft YaHei"/>
                        <a:cs typeface="Microsoft YaHei"/>
                      </a:endParaRPr>
                    </a:p>
                  </a:txBody>
                  <a:tcPr marL="0" marR="0" marB="0" marT="47625">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marR="277495">
                        <a:lnSpc>
                          <a:spcPct val="100000"/>
                        </a:lnSpc>
                        <a:spcBef>
                          <a:spcPts val="375"/>
                        </a:spcBef>
                      </a:pPr>
                      <a:endParaRPr sz="750">
                        <a:latin typeface="Times New Roman"/>
                        <a:cs typeface="Times New Roman"/>
                      </a:endParaRPr>
                    </a:p>
                    <a:p>
                      <a:pPr marL="57150" marR="277495">
                        <a:lnSpc>
                          <a:spcPct val="100000"/>
                        </a:lnSpc>
                      </a:pPr>
                      <a:r>
                        <a:rPr dirty="0" sz="750" spc="-50" b="1">
                          <a:latin typeface="Microsoft YaHei"/>
                          <a:cs typeface="Microsoft YaHei"/>
                        </a:rPr>
                        <a:t>-</a:t>
                      </a:r>
                      <a:endParaRPr sz="750">
                        <a:latin typeface="Microsoft YaHei"/>
                        <a:cs typeface="Microsoft YaHei"/>
                      </a:endParaRPr>
                    </a:p>
                    <a:p>
                      <a:pPr marL="106045">
                        <a:lnSpc>
                          <a:spcPts val="670"/>
                        </a:lnSpc>
                        <a:spcBef>
                          <a:spcPts val="545"/>
                        </a:spcBef>
                      </a:pPr>
                      <a:r>
                        <a:rPr dirty="0" sz="1200" spc="-25">
                          <a:latin typeface="Microsoft YaHei"/>
                          <a:cs typeface="Microsoft YaHei"/>
                        </a:rPr>
                        <a:t>信息</a:t>
                      </a:r>
                      <a:endParaRPr sz="1200">
                        <a:latin typeface="Microsoft YaHei"/>
                        <a:cs typeface="Microsoft YaHei"/>
                      </a:endParaRPr>
                    </a:p>
                  </a:txBody>
                  <a:tcPr marL="0" marR="0" marB="0" marT="47625">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a:lnSpc>
                          <a:spcPct val="100000"/>
                        </a:lnSpc>
                        <a:spcBef>
                          <a:spcPts val="375"/>
                        </a:spcBef>
                      </a:pPr>
                      <a:endParaRPr sz="750">
                        <a:latin typeface="Times New Roman"/>
                        <a:cs typeface="Times New Roman"/>
                      </a:endParaRPr>
                    </a:p>
                    <a:p>
                      <a:pPr algn="ctr" marL="2540">
                        <a:lnSpc>
                          <a:spcPct val="100000"/>
                        </a:lnSpc>
                      </a:pPr>
                      <a:r>
                        <a:rPr dirty="0" sz="750" spc="-50" b="1">
                          <a:latin typeface="Microsoft YaHei"/>
                          <a:cs typeface="Microsoft YaHei"/>
                        </a:rPr>
                        <a:t>-</a:t>
                      </a:r>
                      <a:endParaRPr sz="750">
                        <a:latin typeface="Microsoft YaHei"/>
                        <a:cs typeface="Microsoft YaHei"/>
                      </a:endParaRPr>
                    </a:p>
                  </a:txBody>
                  <a:tcPr marL="0" marR="0" marB="0" marT="47625">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marL="11430" marR="13335">
                        <a:lnSpc>
                          <a:spcPct val="126200"/>
                        </a:lnSpc>
                        <a:spcBef>
                          <a:spcPts val="434"/>
                        </a:spcBef>
                      </a:pPr>
                      <a:r>
                        <a:rPr dirty="0" sz="750" spc="-385" b="1">
                          <a:latin typeface="Microsoft YaHei"/>
                          <a:cs typeface="Microsoft YaHei"/>
                        </a:rPr>
                        <a:t>室内电梯及走</a:t>
                      </a:r>
                      <a:r>
                        <a:rPr dirty="0" sz="750" spc="-425" b="1">
                          <a:latin typeface="Microsoft YaHei"/>
                          <a:cs typeface="Microsoft YaHei"/>
                        </a:rPr>
                        <a:t>廊</a:t>
                      </a:r>
                      <a:endParaRPr sz="750">
                        <a:latin typeface="Microsoft YaHei"/>
                        <a:cs typeface="Microsoft YaHei"/>
                      </a:endParaRPr>
                    </a:p>
                  </a:txBody>
                  <a:tcPr marL="0" marR="0" marB="0" marT="55244">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c>
                  <a:txBody>
                    <a:bodyPr/>
                    <a:lstStyle/>
                    <a:p>
                      <a:pPr marL="14604">
                        <a:lnSpc>
                          <a:spcPct val="100000"/>
                        </a:lnSpc>
                        <a:spcBef>
                          <a:spcPts val="100"/>
                        </a:spcBef>
                      </a:pPr>
                      <a:r>
                        <a:rPr dirty="0" sz="750" spc="-390" b="1">
                          <a:latin typeface="Microsoft YaHei"/>
                          <a:cs typeface="Microsoft YaHei"/>
                        </a:rPr>
                        <a:t>电梯、走</a:t>
                      </a:r>
                      <a:endParaRPr sz="750">
                        <a:latin typeface="Microsoft YaHei"/>
                        <a:cs typeface="Microsoft YaHei"/>
                      </a:endParaRPr>
                    </a:p>
                    <a:p>
                      <a:pPr marL="14604" marR="5080">
                        <a:lnSpc>
                          <a:spcPct val="126200"/>
                        </a:lnSpc>
                      </a:pPr>
                      <a:r>
                        <a:rPr dirty="0" sz="750" spc="-390" b="1">
                          <a:latin typeface="Microsoft YaHei"/>
                          <a:cs typeface="Microsoft YaHei"/>
                        </a:rPr>
                        <a:t>廊、房屋入口附近</a:t>
                      </a:r>
                      <a:endParaRPr sz="750">
                        <a:latin typeface="Microsoft YaHei"/>
                        <a:cs typeface="Microsoft YaHei"/>
                      </a:endParaRPr>
                    </a:p>
                  </a:txBody>
                  <a:tcPr marL="0" marR="0" marB="0" marT="12700">
                    <a:lnL w="6350">
                      <a:solidFill>
                        <a:srgbClr val="FFFFFF"/>
                      </a:solidFill>
                      <a:prstDash val="solid"/>
                    </a:lnL>
                    <a:lnR w="6350">
                      <a:solidFill>
                        <a:srgbClr val="FFFFFF"/>
                      </a:solidFill>
                      <a:prstDash val="solid"/>
                    </a:lnR>
                    <a:lnT w="12700">
                      <a:solidFill>
                        <a:srgbClr val="FFFFFF"/>
                      </a:solidFill>
                      <a:prstDash val="solid"/>
                    </a:lnT>
                    <a:lnB w="12700">
                      <a:solidFill>
                        <a:srgbClr val="FFFFFF"/>
                      </a:solidFill>
                      <a:prstDash val="solid"/>
                    </a:lnB>
                    <a:solidFill>
                      <a:srgbClr val="E9EDF4"/>
                    </a:solidFill>
                  </a:tcPr>
                </a:tc>
              </a:tr>
            </a:tbl>
          </a:graphicData>
        </a:graphic>
      </p:graphicFrame>
      <p:grpSp>
        <p:nvGrpSpPr>
          <p:cNvPr id="104" name="object 104" descr=""/>
          <p:cNvGrpSpPr/>
          <p:nvPr/>
        </p:nvGrpSpPr>
        <p:grpSpPr>
          <a:xfrm>
            <a:off x="329958" y="1428991"/>
            <a:ext cx="1708150" cy="1933575"/>
            <a:chOff x="329958" y="1428991"/>
            <a:chExt cx="1708150" cy="1933575"/>
          </a:xfrm>
        </p:grpSpPr>
        <p:pic>
          <p:nvPicPr>
            <p:cNvPr id="105" name="object 105"/>
            <p:cNvPicPr/>
            <p:nvPr/>
          </p:nvPicPr>
          <p:blipFill>
            <a:blip r:embed="rId55" cstate="print"/>
            <a:stretch>
              <a:fillRect/>
            </a:stretch>
          </p:blipFill>
          <p:spPr>
            <a:xfrm>
              <a:off x="329958" y="1428991"/>
              <a:ext cx="1707632" cy="1513280"/>
            </a:xfrm>
            <a:prstGeom prst="rect">
              <a:avLst/>
            </a:prstGeom>
          </p:spPr>
        </p:pic>
        <p:sp>
          <p:nvSpPr>
            <p:cNvPr id="106" name="object 106" descr=""/>
            <p:cNvSpPr/>
            <p:nvPr/>
          </p:nvSpPr>
          <p:spPr>
            <a:xfrm>
              <a:off x="1571308" y="1601415"/>
              <a:ext cx="393700" cy="307340"/>
            </a:xfrm>
            <a:custGeom>
              <a:avLst/>
              <a:gdLst/>
              <a:ahLst/>
              <a:cxnLst/>
              <a:rect l="l" t="t" r="r" b="b"/>
              <a:pathLst>
                <a:path w="393700" h="307339">
                  <a:moveTo>
                    <a:pt x="0" y="153466"/>
                  </a:moveTo>
                  <a:lnTo>
                    <a:pt x="7022" y="112668"/>
                  </a:lnTo>
                  <a:lnTo>
                    <a:pt x="26839" y="76008"/>
                  </a:lnTo>
                  <a:lnTo>
                    <a:pt x="57578" y="44948"/>
                  </a:lnTo>
                  <a:lnTo>
                    <a:pt x="97366" y="20952"/>
                  </a:lnTo>
                  <a:lnTo>
                    <a:pt x="144330" y="5481"/>
                  </a:lnTo>
                  <a:lnTo>
                    <a:pt x="196596" y="0"/>
                  </a:lnTo>
                  <a:lnTo>
                    <a:pt x="248856" y="5481"/>
                  </a:lnTo>
                  <a:lnTo>
                    <a:pt x="295816" y="20952"/>
                  </a:lnTo>
                  <a:lnTo>
                    <a:pt x="335602" y="44948"/>
                  </a:lnTo>
                  <a:lnTo>
                    <a:pt x="366340" y="76008"/>
                  </a:lnTo>
                  <a:lnTo>
                    <a:pt x="386157" y="112668"/>
                  </a:lnTo>
                  <a:lnTo>
                    <a:pt x="393179" y="153466"/>
                  </a:lnTo>
                  <a:lnTo>
                    <a:pt x="386157" y="194265"/>
                  </a:lnTo>
                  <a:lnTo>
                    <a:pt x="366340" y="230925"/>
                  </a:lnTo>
                  <a:lnTo>
                    <a:pt x="335602" y="261985"/>
                  </a:lnTo>
                  <a:lnTo>
                    <a:pt x="295816" y="285981"/>
                  </a:lnTo>
                  <a:lnTo>
                    <a:pt x="248856" y="301451"/>
                  </a:lnTo>
                  <a:lnTo>
                    <a:pt x="196596" y="306933"/>
                  </a:lnTo>
                  <a:lnTo>
                    <a:pt x="144330" y="301451"/>
                  </a:lnTo>
                  <a:lnTo>
                    <a:pt x="97366" y="285981"/>
                  </a:lnTo>
                  <a:lnTo>
                    <a:pt x="57578" y="261985"/>
                  </a:lnTo>
                  <a:lnTo>
                    <a:pt x="26839" y="230925"/>
                  </a:lnTo>
                  <a:lnTo>
                    <a:pt x="7022" y="194265"/>
                  </a:lnTo>
                  <a:lnTo>
                    <a:pt x="0" y="153466"/>
                  </a:lnTo>
                  <a:close/>
                </a:path>
              </a:pathLst>
            </a:custGeom>
            <a:ln w="25400">
              <a:solidFill>
                <a:srgbClr val="FF0000"/>
              </a:solidFill>
            </a:ln>
          </p:spPr>
          <p:txBody>
            <a:bodyPr wrap="square" lIns="0" tIns="0" rIns="0" bIns="0" rtlCol="0"/>
            <a:lstStyle/>
            <a:p/>
          </p:txBody>
        </p:sp>
        <p:sp>
          <p:nvSpPr>
            <p:cNvPr id="107" name="object 107" descr=""/>
            <p:cNvSpPr/>
            <p:nvPr/>
          </p:nvSpPr>
          <p:spPr>
            <a:xfrm>
              <a:off x="1422971" y="2453082"/>
              <a:ext cx="523240" cy="374650"/>
            </a:xfrm>
            <a:custGeom>
              <a:avLst/>
              <a:gdLst/>
              <a:ahLst/>
              <a:cxnLst/>
              <a:rect l="l" t="t" r="r" b="b"/>
              <a:pathLst>
                <a:path w="523239" h="374650">
                  <a:moveTo>
                    <a:pt x="0" y="187032"/>
                  </a:moveTo>
                  <a:lnTo>
                    <a:pt x="20535" y="114233"/>
                  </a:lnTo>
                  <a:lnTo>
                    <a:pt x="44628" y="82463"/>
                  </a:lnTo>
                  <a:lnTo>
                    <a:pt x="76538" y="54783"/>
                  </a:lnTo>
                  <a:lnTo>
                    <a:pt x="115213" y="31943"/>
                  </a:lnTo>
                  <a:lnTo>
                    <a:pt x="159603" y="14698"/>
                  </a:lnTo>
                  <a:lnTo>
                    <a:pt x="208658" y="3800"/>
                  </a:lnTo>
                  <a:lnTo>
                    <a:pt x="261327" y="0"/>
                  </a:lnTo>
                  <a:lnTo>
                    <a:pt x="313992" y="3800"/>
                  </a:lnTo>
                  <a:lnTo>
                    <a:pt x="363044" y="14698"/>
                  </a:lnTo>
                  <a:lnTo>
                    <a:pt x="407432" y="31943"/>
                  </a:lnTo>
                  <a:lnTo>
                    <a:pt x="446106" y="54783"/>
                  </a:lnTo>
                  <a:lnTo>
                    <a:pt x="478015" y="82463"/>
                  </a:lnTo>
                  <a:lnTo>
                    <a:pt x="502107" y="114233"/>
                  </a:lnTo>
                  <a:lnTo>
                    <a:pt x="517334" y="149341"/>
                  </a:lnTo>
                  <a:lnTo>
                    <a:pt x="522643" y="187032"/>
                  </a:lnTo>
                  <a:lnTo>
                    <a:pt x="517334" y="224724"/>
                  </a:lnTo>
                  <a:lnTo>
                    <a:pt x="502107" y="259831"/>
                  </a:lnTo>
                  <a:lnTo>
                    <a:pt x="478015" y="291601"/>
                  </a:lnTo>
                  <a:lnTo>
                    <a:pt x="446106" y="319282"/>
                  </a:lnTo>
                  <a:lnTo>
                    <a:pt x="407432" y="342121"/>
                  </a:lnTo>
                  <a:lnTo>
                    <a:pt x="363044" y="359366"/>
                  </a:lnTo>
                  <a:lnTo>
                    <a:pt x="313992" y="370265"/>
                  </a:lnTo>
                  <a:lnTo>
                    <a:pt x="261327" y="374065"/>
                  </a:lnTo>
                  <a:lnTo>
                    <a:pt x="208658" y="370265"/>
                  </a:lnTo>
                  <a:lnTo>
                    <a:pt x="159603" y="359366"/>
                  </a:lnTo>
                  <a:lnTo>
                    <a:pt x="115213" y="342121"/>
                  </a:lnTo>
                  <a:lnTo>
                    <a:pt x="76538" y="319282"/>
                  </a:lnTo>
                  <a:lnTo>
                    <a:pt x="44628" y="291601"/>
                  </a:lnTo>
                  <a:lnTo>
                    <a:pt x="20535" y="259831"/>
                  </a:lnTo>
                  <a:lnTo>
                    <a:pt x="5308" y="224724"/>
                  </a:lnTo>
                  <a:lnTo>
                    <a:pt x="0" y="187032"/>
                  </a:lnTo>
                  <a:close/>
                </a:path>
              </a:pathLst>
            </a:custGeom>
            <a:ln w="25400">
              <a:solidFill>
                <a:srgbClr val="FF0000"/>
              </a:solidFill>
            </a:ln>
          </p:spPr>
          <p:txBody>
            <a:bodyPr wrap="square" lIns="0" tIns="0" rIns="0" bIns="0" rtlCol="0"/>
            <a:lstStyle/>
            <a:p/>
          </p:txBody>
        </p:sp>
        <p:sp>
          <p:nvSpPr>
            <p:cNvPr id="108" name="object 108" descr=""/>
            <p:cNvSpPr/>
            <p:nvPr/>
          </p:nvSpPr>
          <p:spPr>
            <a:xfrm>
              <a:off x="976754" y="1627433"/>
              <a:ext cx="300990" cy="307340"/>
            </a:xfrm>
            <a:custGeom>
              <a:avLst/>
              <a:gdLst/>
              <a:ahLst/>
              <a:cxnLst/>
              <a:rect l="l" t="t" r="r" b="b"/>
              <a:pathLst>
                <a:path w="300990" h="307339">
                  <a:moveTo>
                    <a:pt x="0" y="153466"/>
                  </a:moveTo>
                  <a:lnTo>
                    <a:pt x="7657" y="104958"/>
                  </a:lnTo>
                  <a:lnTo>
                    <a:pt x="28979" y="62830"/>
                  </a:lnTo>
                  <a:lnTo>
                    <a:pt x="61491" y="29609"/>
                  </a:lnTo>
                  <a:lnTo>
                    <a:pt x="102720" y="7823"/>
                  </a:lnTo>
                  <a:lnTo>
                    <a:pt x="150190" y="0"/>
                  </a:lnTo>
                  <a:lnTo>
                    <a:pt x="197660" y="7823"/>
                  </a:lnTo>
                  <a:lnTo>
                    <a:pt x="238888" y="29609"/>
                  </a:lnTo>
                  <a:lnTo>
                    <a:pt x="271401" y="62830"/>
                  </a:lnTo>
                  <a:lnTo>
                    <a:pt x="292723" y="104958"/>
                  </a:lnTo>
                  <a:lnTo>
                    <a:pt x="300380" y="153466"/>
                  </a:lnTo>
                  <a:lnTo>
                    <a:pt x="292723" y="201975"/>
                  </a:lnTo>
                  <a:lnTo>
                    <a:pt x="271401" y="244103"/>
                  </a:lnTo>
                  <a:lnTo>
                    <a:pt x="238888" y="277324"/>
                  </a:lnTo>
                  <a:lnTo>
                    <a:pt x="197660" y="299109"/>
                  </a:lnTo>
                  <a:lnTo>
                    <a:pt x="150190" y="306933"/>
                  </a:lnTo>
                  <a:lnTo>
                    <a:pt x="102720" y="299109"/>
                  </a:lnTo>
                  <a:lnTo>
                    <a:pt x="61491" y="277324"/>
                  </a:lnTo>
                  <a:lnTo>
                    <a:pt x="28979" y="244103"/>
                  </a:lnTo>
                  <a:lnTo>
                    <a:pt x="7657" y="201975"/>
                  </a:lnTo>
                  <a:lnTo>
                    <a:pt x="0" y="153466"/>
                  </a:lnTo>
                  <a:close/>
                </a:path>
              </a:pathLst>
            </a:custGeom>
            <a:ln w="25399">
              <a:solidFill>
                <a:srgbClr val="FF0000"/>
              </a:solidFill>
            </a:ln>
          </p:spPr>
          <p:txBody>
            <a:bodyPr wrap="square" lIns="0" tIns="0" rIns="0" bIns="0" rtlCol="0"/>
            <a:lstStyle/>
            <a:p/>
          </p:txBody>
        </p:sp>
        <p:pic>
          <p:nvPicPr>
            <p:cNvPr id="109" name="object 109"/>
            <p:cNvPicPr/>
            <p:nvPr/>
          </p:nvPicPr>
          <p:blipFill>
            <a:blip r:embed="rId56" cstate="print"/>
            <a:stretch>
              <a:fillRect/>
            </a:stretch>
          </p:blipFill>
          <p:spPr>
            <a:xfrm>
              <a:off x="914400" y="2880360"/>
              <a:ext cx="432816" cy="481584"/>
            </a:xfrm>
            <a:prstGeom prst="rect">
              <a:avLst/>
            </a:prstGeom>
          </p:spPr>
        </p:pic>
      </p:grpSp>
      <p:pic>
        <p:nvPicPr>
          <p:cNvPr id="110" name="object 110"/>
          <p:cNvPicPr/>
          <p:nvPr/>
        </p:nvPicPr>
        <p:blipFill>
          <a:blip r:embed="rId57" cstate="print"/>
          <a:stretch>
            <a:fillRect/>
          </a:stretch>
        </p:blipFill>
        <p:spPr>
          <a:xfrm>
            <a:off x="5418125" y="1506933"/>
            <a:ext cx="1529383" cy="155836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80720" y="879221"/>
            <a:ext cx="4705985" cy="355600"/>
            <a:chOff x="180720" y="879221"/>
            <a:chExt cx="4705985" cy="355600"/>
          </a:xfrm>
        </p:grpSpPr>
        <p:pic>
          <p:nvPicPr>
            <p:cNvPr id="3" name="object 3" descr=""/>
            <p:cNvPicPr/>
            <p:nvPr/>
          </p:nvPicPr>
          <p:blipFill>
            <a:blip r:embed="rId2" cstate="print"/>
            <a:stretch>
              <a:fillRect/>
            </a:stretch>
          </p:blipFill>
          <p:spPr>
            <a:xfrm>
              <a:off x="230885" y="929640"/>
              <a:ext cx="4655819" cy="304799"/>
            </a:xfrm>
            <a:prstGeom prst="rect">
              <a:avLst/>
            </a:prstGeom>
          </p:spPr>
        </p:pic>
        <p:pic>
          <p:nvPicPr>
            <p:cNvPr id="4" name="object 4" descr=""/>
            <p:cNvPicPr/>
            <p:nvPr/>
          </p:nvPicPr>
          <p:blipFill>
            <a:blip r:embed="rId3" cstate="print"/>
            <a:stretch>
              <a:fillRect/>
            </a:stretch>
          </p:blipFill>
          <p:spPr>
            <a:xfrm>
              <a:off x="469391" y="921258"/>
              <a:ext cx="4230623" cy="268223"/>
            </a:xfrm>
            <a:prstGeom prst="rect">
              <a:avLst/>
            </a:prstGeom>
          </p:spPr>
        </p:pic>
        <p:sp>
          <p:nvSpPr>
            <p:cNvPr id="5" name="object 5" descr=""/>
            <p:cNvSpPr/>
            <p:nvPr/>
          </p:nvSpPr>
          <p:spPr>
            <a:xfrm>
              <a:off x="180720" y="879221"/>
              <a:ext cx="4655185" cy="304165"/>
            </a:xfrm>
            <a:custGeom>
              <a:avLst/>
              <a:gdLst/>
              <a:ahLst/>
              <a:cxnLst/>
              <a:rect l="l" t="t" r="r" b="b"/>
              <a:pathLst>
                <a:path w="4655185" h="304165">
                  <a:moveTo>
                    <a:pt x="4654575" y="0"/>
                  </a:moveTo>
                  <a:lnTo>
                    <a:pt x="0" y="0"/>
                  </a:lnTo>
                  <a:lnTo>
                    <a:pt x="0" y="303784"/>
                  </a:lnTo>
                  <a:lnTo>
                    <a:pt x="4654575" y="303784"/>
                  </a:lnTo>
                  <a:lnTo>
                    <a:pt x="4654575" y="0"/>
                  </a:lnTo>
                  <a:close/>
                </a:path>
              </a:pathLst>
            </a:custGeom>
            <a:solidFill>
              <a:srgbClr val="333399"/>
            </a:solidFill>
          </p:spPr>
          <p:txBody>
            <a:bodyPr wrap="square" lIns="0" tIns="0" rIns="0" bIns="0" rtlCol="0"/>
            <a:lstStyle/>
            <a:p/>
          </p:txBody>
        </p:sp>
      </p:grpSp>
      <p:sp>
        <p:nvSpPr>
          <p:cNvPr id="6" name="object 6" descr=""/>
          <p:cNvSpPr txBox="1"/>
          <p:nvPr/>
        </p:nvSpPr>
        <p:spPr>
          <a:xfrm>
            <a:off x="180720" y="879221"/>
            <a:ext cx="4655185" cy="304165"/>
          </a:xfrm>
          <a:prstGeom prst="rect">
            <a:avLst/>
          </a:prstGeom>
        </p:spPr>
        <p:txBody>
          <a:bodyPr wrap="square" lIns="0" tIns="38735" rIns="0" bIns="0" rtlCol="0" vert="horz">
            <a:spAutoFit/>
          </a:bodyPr>
          <a:lstStyle/>
          <a:p>
            <a:pPr marL="345440">
              <a:lnSpc>
                <a:spcPct val="100000"/>
              </a:lnSpc>
              <a:spcBef>
                <a:spcPts val="305"/>
              </a:spcBef>
            </a:pPr>
            <a:r>
              <a:rPr dirty="0" sz="1400" spc="-20">
                <a:solidFill>
                  <a:srgbClr val="FFFFFF"/>
                </a:solidFill>
                <a:latin typeface="Microsoft YaHei"/>
                <a:cs typeface="Microsoft YaHei"/>
              </a:rPr>
              <a:t>微站需求分析-借鉴4G常用微站设备能力-</a:t>
            </a:r>
            <a:r>
              <a:rPr dirty="0" sz="1400" spc="-10">
                <a:solidFill>
                  <a:srgbClr val="FFFFFF"/>
                </a:solidFill>
                <a:latin typeface="Microsoft YaHei"/>
                <a:cs typeface="Microsoft YaHei"/>
              </a:rPr>
              <a:t>A</a:t>
            </a:r>
            <a:r>
              <a:rPr dirty="0" sz="1400" spc="-15">
                <a:solidFill>
                  <a:srgbClr val="FFFFFF"/>
                </a:solidFill>
                <a:latin typeface="Microsoft YaHei"/>
                <a:cs typeface="Microsoft YaHei"/>
              </a:rPr>
              <a:t>微站</a:t>
            </a:r>
            <a:r>
              <a:rPr dirty="0" sz="1400" spc="-25">
                <a:solidFill>
                  <a:srgbClr val="FFFFFF"/>
                </a:solidFill>
                <a:latin typeface="Microsoft YaHei"/>
                <a:cs typeface="Microsoft YaHei"/>
              </a:rPr>
              <a:t>1.0</a:t>
            </a:r>
            <a:endParaRPr sz="1400">
              <a:latin typeface="Microsoft YaHei"/>
              <a:cs typeface="Microsoft YaHei"/>
            </a:endParaRPr>
          </a:p>
        </p:txBody>
      </p:sp>
      <p:sp>
        <p:nvSpPr>
          <p:cNvPr id="7" name="object 7"/>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0"/>
              <a:t>微站需求分析</a:t>
            </a:r>
          </a:p>
        </p:txBody>
      </p:sp>
      <p:pic>
        <p:nvPicPr>
          <p:cNvPr id="8" name="object 8"/>
          <p:cNvPicPr/>
          <p:nvPr/>
        </p:nvPicPr>
        <p:blipFill>
          <a:blip r:embed="rId4" cstate="print"/>
          <a:stretch>
            <a:fillRect/>
          </a:stretch>
        </p:blipFill>
        <p:spPr>
          <a:xfrm>
            <a:off x="385991" y="1190053"/>
            <a:ext cx="8101953" cy="3743897"/>
          </a:xfrm>
          <a:prstGeom prst="rect">
            <a:avLst/>
          </a:prstGeom>
        </p:spPr>
      </p:pic>
      <p:sp>
        <p:nvSpPr>
          <p:cNvPr id="9" name="object 9" descr=""/>
          <p:cNvSpPr txBox="1"/>
          <p:nvPr/>
        </p:nvSpPr>
        <p:spPr>
          <a:xfrm>
            <a:off x="457200" y="1276350"/>
            <a:ext cx="2438400" cy="228600"/>
          </a:xfrm>
          <a:prstGeom prst="rect">
            <a:avLst/>
          </a:prstGeom>
          <a:solidFill>
            <a:srgbClr val="C00000"/>
          </a:solidFill>
          <a:ln w="25400">
            <a:solidFill>
              <a:srgbClr val="C00000"/>
            </a:solidFill>
          </a:ln>
        </p:spPr>
        <p:txBody>
          <a:bodyPr wrap="square" lIns="0" tIns="0" rIns="0" bIns="0" rtlCol="0" vert="horz">
            <a:spAutoFit/>
          </a:bodyPr>
          <a:lstStyle/>
          <a:p>
            <a:pPr marL="472440">
              <a:lnSpc>
                <a:spcPts val="1485"/>
              </a:lnSpc>
            </a:pPr>
            <a:r>
              <a:rPr dirty="0" sz="1400" spc="-25">
                <a:solidFill>
                  <a:srgbClr val="FFFFFF"/>
                </a:solidFill>
                <a:latin typeface="SimSun"/>
                <a:cs typeface="SimSun"/>
              </a:rPr>
              <a:t>覆盖能力说明</a:t>
            </a:r>
            <a:endParaRPr sz="1400">
              <a:latin typeface="SimSun"/>
              <a:cs typeface="SimSu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58991" y="840092"/>
            <a:ext cx="4706620" cy="355600"/>
            <a:chOff x="158991" y="840092"/>
            <a:chExt cx="4706620" cy="355600"/>
          </a:xfrm>
        </p:grpSpPr>
        <p:pic>
          <p:nvPicPr>
            <p:cNvPr id="3" name="object 3" descr=""/>
            <p:cNvPicPr/>
            <p:nvPr/>
          </p:nvPicPr>
          <p:blipFill>
            <a:blip r:embed="rId2" cstate="print"/>
            <a:stretch>
              <a:fillRect/>
            </a:stretch>
          </p:blipFill>
          <p:spPr>
            <a:xfrm>
              <a:off x="208787" y="890015"/>
              <a:ext cx="4656581" cy="305561"/>
            </a:xfrm>
            <a:prstGeom prst="rect">
              <a:avLst/>
            </a:prstGeom>
          </p:spPr>
        </p:pic>
        <p:pic>
          <p:nvPicPr>
            <p:cNvPr id="4" name="object 4" descr=""/>
            <p:cNvPicPr/>
            <p:nvPr/>
          </p:nvPicPr>
          <p:blipFill>
            <a:blip r:embed="rId3" cstate="print"/>
            <a:stretch>
              <a:fillRect/>
            </a:stretch>
          </p:blipFill>
          <p:spPr>
            <a:xfrm>
              <a:off x="448055" y="881633"/>
              <a:ext cx="4230623" cy="268223"/>
            </a:xfrm>
            <a:prstGeom prst="rect">
              <a:avLst/>
            </a:prstGeom>
          </p:spPr>
        </p:pic>
        <p:sp>
          <p:nvSpPr>
            <p:cNvPr id="5" name="object 5" descr=""/>
            <p:cNvSpPr/>
            <p:nvPr/>
          </p:nvSpPr>
          <p:spPr>
            <a:xfrm>
              <a:off x="158991" y="840092"/>
              <a:ext cx="4655185" cy="304165"/>
            </a:xfrm>
            <a:custGeom>
              <a:avLst/>
              <a:gdLst/>
              <a:ahLst/>
              <a:cxnLst/>
              <a:rect l="l" t="t" r="r" b="b"/>
              <a:pathLst>
                <a:path w="4655185" h="304165">
                  <a:moveTo>
                    <a:pt x="4654575" y="0"/>
                  </a:moveTo>
                  <a:lnTo>
                    <a:pt x="0" y="0"/>
                  </a:lnTo>
                  <a:lnTo>
                    <a:pt x="0" y="303784"/>
                  </a:lnTo>
                  <a:lnTo>
                    <a:pt x="4654575" y="303784"/>
                  </a:lnTo>
                  <a:lnTo>
                    <a:pt x="4654575" y="0"/>
                  </a:lnTo>
                  <a:close/>
                </a:path>
              </a:pathLst>
            </a:custGeom>
            <a:solidFill>
              <a:srgbClr val="333399"/>
            </a:solidFill>
          </p:spPr>
          <p:txBody>
            <a:bodyPr wrap="square" lIns="0" tIns="0" rIns="0" bIns="0" rtlCol="0"/>
            <a:lstStyle/>
            <a:p/>
          </p:txBody>
        </p:sp>
      </p:grpSp>
      <p:sp>
        <p:nvSpPr>
          <p:cNvPr id="6" name="object 6" descr=""/>
          <p:cNvSpPr txBox="1"/>
          <p:nvPr/>
        </p:nvSpPr>
        <p:spPr>
          <a:xfrm>
            <a:off x="158991" y="840092"/>
            <a:ext cx="4655185" cy="304165"/>
          </a:xfrm>
          <a:prstGeom prst="rect">
            <a:avLst/>
          </a:prstGeom>
        </p:spPr>
        <p:txBody>
          <a:bodyPr wrap="square" lIns="0" tIns="38735" rIns="0" bIns="0" rtlCol="0" vert="horz">
            <a:spAutoFit/>
          </a:bodyPr>
          <a:lstStyle/>
          <a:p>
            <a:pPr marL="345440">
              <a:lnSpc>
                <a:spcPct val="100000"/>
              </a:lnSpc>
              <a:spcBef>
                <a:spcPts val="305"/>
              </a:spcBef>
            </a:pPr>
            <a:r>
              <a:rPr dirty="0" sz="1400" spc="-20">
                <a:solidFill>
                  <a:srgbClr val="FFFFFF"/>
                </a:solidFill>
                <a:latin typeface="Microsoft YaHei"/>
                <a:cs typeface="Microsoft YaHei"/>
              </a:rPr>
              <a:t>微站需求分析-借鉴4G常用微站设备能力-</a:t>
            </a:r>
            <a:r>
              <a:rPr dirty="0" sz="1400" spc="-10">
                <a:solidFill>
                  <a:srgbClr val="FFFFFF"/>
                </a:solidFill>
                <a:latin typeface="Microsoft YaHei"/>
                <a:cs typeface="Microsoft YaHei"/>
              </a:rPr>
              <a:t>A</a:t>
            </a:r>
            <a:r>
              <a:rPr dirty="0" sz="1400" spc="-15">
                <a:solidFill>
                  <a:srgbClr val="FFFFFF"/>
                </a:solidFill>
                <a:latin typeface="Microsoft YaHei"/>
                <a:cs typeface="Microsoft YaHei"/>
              </a:rPr>
              <a:t>微站</a:t>
            </a:r>
            <a:r>
              <a:rPr dirty="0" sz="1400" spc="-25">
                <a:solidFill>
                  <a:srgbClr val="FFFFFF"/>
                </a:solidFill>
                <a:latin typeface="Microsoft YaHei"/>
                <a:cs typeface="Microsoft YaHei"/>
              </a:rPr>
              <a:t>2.0</a:t>
            </a:r>
            <a:endParaRPr sz="1400">
              <a:latin typeface="Microsoft YaHei"/>
              <a:cs typeface="Microsoft YaHei"/>
            </a:endParaRPr>
          </a:p>
        </p:txBody>
      </p:sp>
      <p:sp>
        <p:nvSpPr>
          <p:cNvPr id="7" name="object 7"/>
          <p:cNvSpPr txBox="1">
            <a:spLocks noGrp="1"/>
          </p:cNvSpPr>
          <p:nvPr>
            <p:ph type="title"/>
          </p:nvPr>
        </p:nvSpPr>
        <p:spPr>
          <a:xfrm>
            <a:off x="3376993" y="177834"/>
            <a:ext cx="2467610" cy="513080"/>
          </a:xfrm>
          <a:prstGeom prst="rect"/>
        </p:spPr>
        <p:txBody>
          <a:bodyPr wrap="square" lIns="0" tIns="12065" rIns="0" bIns="0" rtlCol="0" vert="horz">
            <a:spAutoFit/>
          </a:bodyPr>
          <a:lstStyle/>
          <a:p>
            <a:pPr marL="12700">
              <a:lnSpc>
                <a:spcPct val="100000"/>
              </a:lnSpc>
              <a:spcBef>
                <a:spcPts val="95"/>
              </a:spcBef>
            </a:pPr>
            <a:r>
              <a:rPr dirty="0" spc="-40"/>
              <a:t>微站需求分析</a:t>
            </a:r>
          </a:p>
        </p:txBody>
      </p:sp>
      <p:pic>
        <p:nvPicPr>
          <p:cNvPr id="8" name="object 8"/>
          <p:cNvPicPr/>
          <p:nvPr/>
        </p:nvPicPr>
        <p:blipFill>
          <a:blip r:embed="rId4" cstate="print"/>
          <a:stretch>
            <a:fillRect/>
          </a:stretch>
        </p:blipFill>
        <p:spPr>
          <a:xfrm>
            <a:off x="762000" y="1123950"/>
            <a:ext cx="7630703" cy="380608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58991" y="840092"/>
            <a:ext cx="4706620" cy="355600"/>
            <a:chOff x="158991" y="840092"/>
            <a:chExt cx="4706620" cy="355600"/>
          </a:xfrm>
        </p:grpSpPr>
        <p:pic>
          <p:nvPicPr>
            <p:cNvPr id="3" name="object 3" descr=""/>
            <p:cNvPicPr/>
            <p:nvPr/>
          </p:nvPicPr>
          <p:blipFill>
            <a:blip r:embed="rId2" cstate="print"/>
            <a:stretch>
              <a:fillRect/>
            </a:stretch>
          </p:blipFill>
          <p:spPr>
            <a:xfrm>
              <a:off x="208787" y="890015"/>
              <a:ext cx="4656581" cy="305561"/>
            </a:xfrm>
            <a:prstGeom prst="rect">
              <a:avLst/>
            </a:prstGeom>
          </p:spPr>
        </p:pic>
        <p:pic>
          <p:nvPicPr>
            <p:cNvPr id="4" name="object 4" descr=""/>
            <p:cNvPicPr/>
            <p:nvPr/>
          </p:nvPicPr>
          <p:blipFill>
            <a:blip r:embed="rId3" cstate="print"/>
            <a:stretch>
              <a:fillRect/>
            </a:stretch>
          </p:blipFill>
          <p:spPr>
            <a:xfrm>
              <a:off x="393954" y="881634"/>
              <a:ext cx="4339577" cy="268223"/>
            </a:xfrm>
            <a:prstGeom prst="rect">
              <a:avLst/>
            </a:prstGeom>
          </p:spPr>
        </p:pic>
        <p:sp>
          <p:nvSpPr>
            <p:cNvPr id="5" name="object 5" descr=""/>
            <p:cNvSpPr/>
            <p:nvPr/>
          </p:nvSpPr>
          <p:spPr>
            <a:xfrm>
              <a:off x="158991" y="840092"/>
              <a:ext cx="4655185" cy="304165"/>
            </a:xfrm>
            <a:custGeom>
              <a:avLst/>
              <a:gdLst/>
              <a:ahLst/>
              <a:cxnLst/>
              <a:rect l="l" t="t" r="r" b="b"/>
              <a:pathLst>
                <a:path w="4655185" h="304165">
                  <a:moveTo>
                    <a:pt x="4654575" y="0"/>
                  </a:moveTo>
                  <a:lnTo>
                    <a:pt x="0" y="0"/>
                  </a:lnTo>
                  <a:lnTo>
                    <a:pt x="0" y="303784"/>
                  </a:lnTo>
                  <a:lnTo>
                    <a:pt x="4654575" y="303784"/>
                  </a:lnTo>
                  <a:lnTo>
                    <a:pt x="4654575" y="0"/>
                  </a:lnTo>
                  <a:close/>
                </a:path>
              </a:pathLst>
            </a:custGeom>
            <a:solidFill>
              <a:srgbClr val="333399"/>
            </a:solidFill>
          </p:spPr>
          <p:txBody>
            <a:bodyPr wrap="square" lIns="0" tIns="0" rIns="0" bIns="0" rtlCol="0"/>
            <a:lstStyle/>
            <a:p/>
          </p:txBody>
        </p:sp>
      </p:grpSp>
      <p:sp>
        <p:nvSpPr>
          <p:cNvPr id="6" name="object 6" descr=""/>
          <p:cNvSpPr txBox="1"/>
          <p:nvPr/>
        </p:nvSpPr>
        <p:spPr>
          <a:xfrm>
            <a:off x="158991" y="840092"/>
            <a:ext cx="4655185" cy="304165"/>
          </a:xfrm>
          <a:prstGeom prst="rect">
            <a:avLst/>
          </a:prstGeom>
        </p:spPr>
        <p:txBody>
          <a:bodyPr wrap="square" lIns="0" tIns="38735" rIns="0" bIns="0" rtlCol="0" vert="horz">
            <a:spAutoFit/>
          </a:bodyPr>
          <a:lstStyle/>
          <a:p>
            <a:pPr marL="290830">
              <a:lnSpc>
                <a:spcPct val="100000"/>
              </a:lnSpc>
              <a:spcBef>
                <a:spcPts val="305"/>
              </a:spcBef>
            </a:pPr>
            <a:r>
              <a:rPr dirty="0" sz="1400" spc="-20">
                <a:solidFill>
                  <a:srgbClr val="FFFFFF"/>
                </a:solidFill>
                <a:latin typeface="Microsoft YaHei"/>
                <a:cs typeface="Microsoft YaHei"/>
              </a:rPr>
              <a:t>微站需求分析-借鉴4G常用微站设备能力-</a:t>
            </a:r>
            <a:r>
              <a:rPr dirty="0" sz="1400">
                <a:solidFill>
                  <a:srgbClr val="FFFFFF"/>
                </a:solidFill>
                <a:latin typeface="Microsoft YaHei"/>
                <a:cs typeface="Microsoft YaHei"/>
              </a:rPr>
              <a:t>MINI</a:t>
            </a:r>
            <a:r>
              <a:rPr dirty="0" sz="1400" spc="100">
                <a:solidFill>
                  <a:srgbClr val="FFFFFF"/>
                </a:solidFill>
                <a:latin typeface="Microsoft YaHei"/>
                <a:cs typeface="Microsoft YaHei"/>
              </a:rPr>
              <a:t> </a:t>
            </a:r>
            <a:r>
              <a:rPr dirty="0" sz="1400" spc="-25">
                <a:solidFill>
                  <a:srgbClr val="FFFFFF"/>
                </a:solidFill>
                <a:latin typeface="Microsoft YaHei"/>
                <a:cs typeface="Microsoft YaHei"/>
              </a:rPr>
              <a:t>RRU</a:t>
            </a:r>
            <a:endParaRPr sz="1400">
              <a:latin typeface="Microsoft YaHei"/>
              <a:cs typeface="Microsoft YaHei"/>
            </a:endParaRPr>
          </a:p>
        </p:txBody>
      </p:sp>
      <p:sp>
        <p:nvSpPr>
          <p:cNvPr id="7" name="object 7"/>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0"/>
              <a:t>微站需求分析</a:t>
            </a:r>
          </a:p>
        </p:txBody>
      </p:sp>
      <p:pic>
        <p:nvPicPr>
          <p:cNvPr id="8" name="object 8"/>
          <p:cNvPicPr/>
          <p:nvPr/>
        </p:nvPicPr>
        <p:blipFill>
          <a:blip r:embed="rId4" cstate="print"/>
          <a:stretch>
            <a:fillRect/>
          </a:stretch>
        </p:blipFill>
        <p:spPr>
          <a:xfrm>
            <a:off x="533400" y="1123950"/>
            <a:ext cx="7820761" cy="3781907"/>
          </a:xfrm>
          <a:prstGeom prst="rect">
            <a:avLst/>
          </a:prstGeom>
        </p:spPr>
      </p:pic>
      <p:sp>
        <p:nvSpPr>
          <p:cNvPr id="9" name="object 9" descr=""/>
          <p:cNvSpPr txBox="1"/>
          <p:nvPr/>
        </p:nvSpPr>
        <p:spPr>
          <a:xfrm>
            <a:off x="533400" y="1200150"/>
            <a:ext cx="2438400" cy="228600"/>
          </a:xfrm>
          <a:prstGeom prst="rect">
            <a:avLst/>
          </a:prstGeom>
          <a:solidFill>
            <a:srgbClr val="C00000"/>
          </a:solidFill>
          <a:ln w="25400">
            <a:solidFill>
              <a:srgbClr val="C00000"/>
            </a:solidFill>
          </a:ln>
        </p:spPr>
        <p:txBody>
          <a:bodyPr wrap="square" lIns="0" tIns="0" rIns="0" bIns="0" rtlCol="0" vert="horz">
            <a:spAutoFit/>
          </a:bodyPr>
          <a:lstStyle/>
          <a:p>
            <a:pPr marL="472440">
              <a:lnSpc>
                <a:spcPts val="1485"/>
              </a:lnSpc>
            </a:pPr>
            <a:r>
              <a:rPr dirty="0" sz="1400" spc="-25">
                <a:solidFill>
                  <a:srgbClr val="FFFFFF"/>
                </a:solidFill>
                <a:latin typeface="SimSun"/>
                <a:cs typeface="SimSun"/>
              </a:rPr>
              <a:t>覆盖能力说明</a:t>
            </a:r>
            <a:endParaRPr sz="1400">
              <a:latin typeface="SimSun"/>
              <a:cs typeface="SimSu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83438" y="884059"/>
            <a:ext cx="8378190" cy="943610"/>
            <a:chOff x="183438" y="884059"/>
            <a:chExt cx="8378190" cy="943610"/>
          </a:xfrm>
        </p:grpSpPr>
        <p:pic>
          <p:nvPicPr>
            <p:cNvPr id="3" name="object 3" descr=""/>
            <p:cNvPicPr/>
            <p:nvPr/>
          </p:nvPicPr>
          <p:blipFill>
            <a:blip r:embed="rId2" cstate="print"/>
            <a:stretch>
              <a:fillRect/>
            </a:stretch>
          </p:blipFill>
          <p:spPr>
            <a:xfrm>
              <a:off x="267461" y="934211"/>
              <a:ext cx="1993391" cy="305561"/>
            </a:xfrm>
            <a:prstGeom prst="rect">
              <a:avLst/>
            </a:prstGeom>
          </p:spPr>
        </p:pic>
        <p:pic>
          <p:nvPicPr>
            <p:cNvPr id="4" name="object 4" descr=""/>
            <p:cNvPicPr/>
            <p:nvPr/>
          </p:nvPicPr>
          <p:blipFill>
            <a:blip r:embed="rId3" cstate="print"/>
            <a:stretch>
              <a:fillRect/>
            </a:stretch>
          </p:blipFill>
          <p:spPr>
            <a:xfrm>
              <a:off x="445769" y="925829"/>
              <a:ext cx="1687829" cy="268223"/>
            </a:xfrm>
            <a:prstGeom prst="rect">
              <a:avLst/>
            </a:prstGeom>
          </p:spPr>
        </p:pic>
        <p:sp>
          <p:nvSpPr>
            <p:cNvPr id="5" name="object 5" descr=""/>
            <p:cNvSpPr/>
            <p:nvPr/>
          </p:nvSpPr>
          <p:spPr>
            <a:xfrm>
              <a:off x="217195" y="884059"/>
              <a:ext cx="1991995" cy="304165"/>
            </a:xfrm>
            <a:custGeom>
              <a:avLst/>
              <a:gdLst/>
              <a:ahLst/>
              <a:cxnLst/>
              <a:rect l="l" t="t" r="r" b="b"/>
              <a:pathLst>
                <a:path w="1991995" h="304165">
                  <a:moveTo>
                    <a:pt x="1991728" y="0"/>
                  </a:moveTo>
                  <a:lnTo>
                    <a:pt x="0" y="0"/>
                  </a:lnTo>
                  <a:lnTo>
                    <a:pt x="0" y="303784"/>
                  </a:lnTo>
                  <a:lnTo>
                    <a:pt x="1991728" y="303784"/>
                  </a:lnTo>
                  <a:lnTo>
                    <a:pt x="1991728" y="0"/>
                  </a:lnTo>
                  <a:close/>
                </a:path>
              </a:pathLst>
            </a:custGeom>
            <a:solidFill>
              <a:srgbClr val="333399"/>
            </a:solidFill>
          </p:spPr>
          <p:txBody>
            <a:bodyPr wrap="square" lIns="0" tIns="0" rIns="0" bIns="0" rtlCol="0"/>
            <a:lstStyle/>
            <a:p/>
          </p:txBody>
        </p:sp>
        <p:sp>
          <p:nvSpPr>
            <p:cNvPr id="6" name="object 6" descr=""/>
            <p:cNvSpPr/>
            <p:nvPr/>
          </p:nvSpPr>
          <p:spPr>
            <a:xfrm>
              <a:off x="183438" y="1204391"/>
              <a:ext cx="8378190" cy="623570"/>
            </a:xfrm>
            <a:custGeom>
              <a:avLst/>
              <a:gdLst/>
              <a:ahLst/>
              <a:cxnLst/>
              <a:rect l="l" t="t" r="r" b="b"/>
              <a:pathLst>
                <a:path w="8378190" h="623569">
                  <a:moveTo>
                    <a:pt x="8377935" y="0"/>
                  </a:moveTo>
                  <a:lnTo>
                    <a:pt x="0" y="0"/>
                  </a:lnTo>
                  <a:lnTo>
                    <a:pt x="0" y="623252"/>
                  </a:lnTo>
                  <a:lnTo>
                    <a:pt x="8377935" y="623252"/>
                  </a:lnTo>
                  <a:lnTo>
                    <a:pt x="8377935" y="0"/>
                  </a:lnTo>
                  <a:close/>
                </a:path>
              </a:pathLst>
            </a:custGeom>
            <a:solidFill>
              <a:srgbClr val="E7F3F4"/>
            </a:solidFill>
          </p:spPr>
          <p:txBody>
            <a:bodyPr wrap="square" lIns="0" tIns="0" rIns="0" bIns="0" rtlCol="0"/>
            <a:lstStyle/>
            <a:p/>
          </p:txBody>
        </p:sp>
      </p:grpSp>
      <p:sp>
        <p:nvSpPr>
          <p:cNvPr id="7" name="object 7" descr=""/>
          <p:cNvSpPr txBox="1"/>
          <p:nvPr/>
        </p:nvSpPr>
        <p:spPr>
          <a:xfrm>
            <a:off x="239321" y="910479"/>
            <a:ext cx="8165465" cy="851535"/>
          </a:xfrm>
          <a:prstGeom prst="rect">
            <a:avLst/>
          </a:prstGeom>
        </p:spPr>
        <p:txBody>
          <a:bodyPr wrap="square" lIns="0" tIns="12065" rIns="0" bIns="0" rtlCol="0" vert="horz">
            <a:spAutoFit/>
          </a:bodyPr>
          <a:lstStyle/>
          <a:p>
            <a:pPr marL="262890">
              <a:lnSpc>
                <a:spcPct val="100000"/>
              </a:lnSpc>
              <a:spcBef>
                <a:spcPts val="95"/>
              </a:spcBef>
            </a:pPr>
            <a:r>
              <a:rPr dirty="0" sz="1400" spc="-25" b="1">
                <a:solidFill>
                  <a:srgbClr val="FFFFFF"/>
                </a:solidFill>
                <a:latin typeface="Microsoft YaHei"/>
                <a:cs typeface="Microsoft YaHei"/>
              </a:rPr>
              <a:t>微站主要建设特点</a:t>
            </a:r>
            <a:endParaRPr sz="1400">
              <a:latin typeface="Microsoft YaHei"/>
              <a:cs typeface="Microsoft YaHei"/>
            </a:endParaRPr>
          </a:p>
          <a:p>
            <a:pPr marL="226695" indent="-213995">
              <a:lnSpc>
                <a:spcPct val="100000"/>
              </a:lnSpc>
              <a:spcBef>
                <a:spcPts val="1230"/>
              </a:spcBef>
              <a:buFont typeface="Wingdings"/>
              <a:buChar char=""/>
              <a:tabLst>
                <a:tab pos="226695" algn="l"/>
              </a:tabLst>
            </a:pPr>
            <a:r>
              <a:rPr dirty="0" sz="1200">
                <a:solidFill>
                  <a:srgbClr val="3E3E3E"/>
                </a:solidFill>
                <a:latin typeface="Microsoft YaHei"/>
                <a:cs typeface="Microsoft YaHei"/>
              </a:rPr>
              <a:t>预计</a:t>
            </a:r>
            <a:r>
              <a:rPr dirty="0" sz="1200" spc="-10">
                <a:solidFill>
                  <a:srgbClr val="3E3E3E"/>
                </a:solidFill>
                <a:latin typeface="Microsoft YaHei"/>
                <a:cs typeface="Microsoft YaHei"/>
              </a:rPr>
              <a:t>5G</a:t>
            </a:r>
            <a:r>
              <a:rPr dirty="0" sz="1200">
                <a:solidFill>
                  <a:srgbClr val="3E3E3E"/>
                </a:solidFill>
                <a:latin typeface="Microsoft YaHei"/>
                <a:cs typeface="Microsoft YaHei"/>
              </a:rPr>
              <a:t>网络微站建设方式与</a:t>
            </a:r>
            <a:r>
              <a:rPr dirty="0" sz="1200" spc="-10">
                <a:solidFill>
                  <a:srgbClr val="3E3E3E"/>
                </a:solidFill>
                <a:latin typeface="Microsoft YaHei"/>
                <a:cs typeface="Microsoft YaHei"/>
              </a:rPr>
              <a:t>4G</a:t>
            </a:r>
            <a:r>
              <a:rPr dirty="0" sz="1200">
                <a:solidFill>
                  <a:srgbClr val="3E3E3E"/>
                </a:solidFill>
                <a:latin typeface="Microsoft YaHei"/>
                <a:cs typeface="Microsoft YaHei"/>
              </a:rPr>
              <a:t>微站设备结构尺寸相当，但</a:t>
            </a:r>
            <a:r>
              <a:rPr dirty="0" sz="1200" spc="-10">
                <a:solidFill>
                  <a:srgbClr val="3E3E3E"/>
                </a:solidFill>
                <a:latin typeface="Microsoft YaHei"/>
                <a:cs typeface="Microsoft YaHei"/>
              </a:rPr>
              <a:t>5G</a:t>
            </a:r>
            <a:r>
              <a:rPr dirty="0" sz="1200">
                <a:solidFill>
                  <a:srgbClr val="3E3E3E"/>
                </a:solidFill>
                <a:latin typeface="Microsoft YaHei"/>
                <a:cs typeface="Microsoft YaHei"/>
              </a:rPr>
              <a:t>分布式微站需要大量光纤资源，可能会增加</a:t>
            </a:r>
            <a:r>
              <a:rPr dirty="0" sz="1200" spc="-10">
                <a:solidFill>
                  <a:srgbClr val="3E3E3E"/>
                </a:solidFill>
                <a:latin typeface="Microsoft YaHei"/>
                <a:cs typeface="Microsoft YaHei"/>
              </a:rPr>
              <a:t>relay</a:t>
            </a:r>
            <a:r>
              <a:rPr dirty="0" sz="1200" spc="-20">
                <a:solidFill>
                  <a:srgbClr val="3E3E3E"/>
                </a:solidFill>
                <a:latin typeface="Microsoft YaHei"/>
                <a:cs typeface="Microsoft YaHei"/>
              </a:rPr>
              <a:t>设备。</a:t>
            </a:r>
            <a:endParaRPr sz="1200">
              <a:latin typeface="Microsoft YaHei"/>
              <a:cs typeface="Microsoft YaHei"/>
            </a:endParaRPr>
          </a:p>
          <a:p>
            <a:pPr marL="226695" indent="-213995">
              <a:lnSpc>
                <a:spcPct val="100000"/>
              </a:lnSpc>
              <a:spcBef>
                <a:spcPts val="720"/>
              </a:spcBef>
              <a:buFont typeface="Wingdings"/>
              <a:buChar char=""/>
              <a:tabLst>
                <a:tab pos="226695" algn="l"/>
              </a:tabLst>
            </a:pPr>
            <a:r>
              <a:rPr dirty="0" sz="1200" spc="-5">
                <a:solidFill>
                  <a:srgbClr val="3E3E3E"/>
                </a:solidFill>
                <a:latin typeface="Microsoft YaHei"/>
                <a:cs typeface="Microsoft YaHei"/>
              </a:rPr>
              <a:t>微站设备产品多样，建设方式灵活，样式多变，适应能力强，可以充分利用自有杆塔及利旧社会资源，促进建设落地。</a:t>
            </a:r>
            <a:endParaRPr sz="1200">
              <a:latin typeface="Microsoft YaHei"/>
              <a:cs typeface="Microsoft YaHei"/>
            </a:endParaRPr>
          </a:p>
        </p:txBody>
      </p:sp>
      <p:sp>
        <p:nvSpPr>
          <p:cNvPr id="8" name="object 8"/>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0"/>
              <a:t>微站建设策略</a:t>
            </a:r>
          </a:p>
        </p:txBody>
      </p:sp>
      <p:grpSp>
        <p:nvGrpSpPr>
          <p:cNvPr id="9" name="object 9" descr=""/>
          <p:cNvGrpSpPr/>
          <p:nvPr/>
        </p:nvGrpSpPr>
        <p:grpSpPr>
          <a:xfrm>
            <a:off x="821436" y="1696211"/>
            <a:ext cx="5299710" cy="1465580"/>
            <a:chOff x="821436" y="1696211"/>
            <a:chExt cx="5299710" cy="1465580"/>
          </a:xfrm>
        </p:grpSpPr>
        <p:pic>
          <p:nvPicPr>
            <p:cNvPr id="10" name="object 10"/>
            <p:cNvPicPr/>
            <p:nvPr/>
          </p:nvPicPr>
          <p:blipFill>
            <a:blip r:embed="rId4" cstate="print"/>
            <a:stretch>
              <a:fillRect/>
            </a:stretch>
          </p:blipFill>
          <p:spPr>
            <a:xfrm>
              <a:off x="821436" y="1706130"/>
              <a:ext cx="1654301" cy="1445500"/>
            </a:xfrm>
            <a:prstGeom prst="rect">
              <a:avLst/>
            </a:prstGeom>
          </p:spPr>
        </p:pic>
        <p:pic>
          <p:nvPicPr>
            <p:cNvPr id="11" name="object 11" descr=""/>
            <p:cNvPicPr/>
            <p:nvPr/>
          </p:nvPicPr>
          <p:blipFill>
            <a:blip r:embed="rId5" cstate="print"/>
            <a:stretch>
              <a:fillRect/>
            </a:stretch>
          </p:blipFill>
          <p:spPr>
            <a:xfrm>
              <a:off x="1015906" y="1900807"/>
              <a:ext cx="1067396" cy="858519"/>
            </a:xfrm>
            <a:prstGeom prst="rect">
              <a:avLst/>
            </a:prstGeom>
          </p:spPr>
        </p:pic>
        <p:pic>
          <p:nvPicPr>
            <p:cNvPr id="12" name="object 12"/>
            <p:cNvPicPr/>
            <p:nvPr/>
          </p:nvPicPr>
          <p:blipFill>
            <a:blip r:embed="rId6" cstate="print"/>
            <a:stretch>
              <a:fillRect/>
            </a:stretch>
          </p:blipFill>
          <p:spPr>
            <a:xfrm>
              <a:off x="2670809" y="1696211"/>
              <a:ext cx="1654301" cy="1465325"/>
            </a:xfrm>
            <a:prstGeom prst="rect">
              <a:avLst/>
            </a:prstGeom>
          </p:spPr>
        </p:pic>
        <p:pic>
          <p:nvPicPr>
            <p:cNvPr id="13" name="object 13" descr=""/>
            <p:cNvPicPr/>
            <p:nvPr/>
          </p:nvPicPr>
          <p:blipFill>
            <a:blip r:embed="rId7" cstate="print"/>
            <a:stretch>
              <a:fillRect/>
            </a:stretch>
          </p:blipFill>
          <p:spPr>
            <a:xfrm>
              <a:off x="2865275" y="1891021"/>
              <a:ext cx="1067396" cy="878103"/>
            </a:xfrm>
            <a:prstGeom prst="rect">
              <a:avLst/>
            </a:prstGeom>
          </p:spPr>
        </p:pic>
        <p:pic>
          <p:nvPicPr>
            <p:cNvPr id="14" name="object 14" descr=""/>
            <p:cNvPicPr/>
            <p:nvPr/>
          </p:nvPicPr>
          <p:blipFill>
            <a:blip r:embed="rId8" cstate="print"/>
            <a:stretch>
              <a:fillRect/>
            </a:stretch>
          </p:blipFill>
          <p:spPr>
            <a:xfrm>
              <a:off x="3250691" y="2150363"/>
              <a:ext cx="164591" cy="176783"/>
            </a:xfrm>
            <a:prstGeom prst="rect">
              <a:avLst/>
            </a:prstGeom>
          </p:spPr>
        </p:pic>
        <p:pic>
          <p:nvPicPr>
            <p:cNvPr id="15" name="object 15"/>
            <p:cNvPicPr/>
            <p:nvPr/>
          </p:nvPicPr>
          <p:blipFill>
            <a:blip r:embed="rId9" cstate="print"/>
            <a:stretch>
              <a:fillRect/>
            </a:stretch>
          </p:blipFill>
          <p:spPr>
            <a:xfrm>
              <a:off x="4466843" y="1696211"/>
              <a:ext cx="1654301" cy="1465325"/>
            </a:xfrm>
            <a:prstGeom prst="rect">
              <a:avLst/>
            </a:prstGeom>
          </p:spPr>
        </p:pic>
        <p:pic>
          <p:nvPicPr>
            <p:cNvPr id="16" name="object 16" descr=""/>
            <p:cNvPicPr/>
            <p:nvPr/>
          </p:nvPicPr>
          <p:blipFill>
            <a:blip r:embed="rId10" cstate="print"/>
            <a:stretch>
              <a:fillRect/>
            </a:stretch>
          </p:blipFill>
          <p:spPr>
            <a:xfrm>
              <a:off x="4661805" y="1891014"/>
              <a:ext cx="1067396" cy="878103"/>
            </a:xfrm>
            <a:prstGeom prst="rect">
              <a:avLst/>
            </a:prstGeom>
          </p:spPr>
        </p:pic>
      </p:grpSp>
      <p:sp>
        <p:nvSpPr>
          <p:cNvPr id="17" name="object 17" descr=""/>
          <p:cNvSpPr txBox="1"/>
          <p:nvPr/>
        </p:nvSpPr>
        <p:spPr>
          <a:xfrm>
            <a:off x="4832543" y="2961553"/>
            <a:ext cx="787400" cy="254000"/>
          </a:xfrm>
          <a:prstGeom prst="rect">
            <a:avLst/>
          </a:prstGeom>
        </p:spPr>
        <p:txBody>
          <a:bodyPr wrap="square" lIns="0" tIns="12700" rIns="0" bIns="0" rtlCol="0" vert="horz">
            <a:spAutoFit/>
          </a:bodyPr>
          <a:lstStyle/>
          <a:p>
            <a:pPr marL="12700">
              <a:lnSpc>
                <a:spcPct val="100000"/>
              </a:lnSpc>
              <a:spcBef>
                <a:spcPts val="100"/>
              </a:spcBef>
            </a:pPr>
            <a:r>
              <a:rPr dirty="0" sz="1500" spc="-15">
                <a:latin typeface="Microsoft YaHei"/>
                <a:cs typeface="Microsoft YaHei"/>
              </a:rPr>
              <a:t>进得小区</a:t>
            </a:r>
            <a:endParaRPr sz="1500">
              <a:latin typeface="Microsoft YaHei"/>
              <a:cs typeface="Microsoft YaHei"/>
            </a:endParaRPr>
          </a:p>
        </p:txBody>
      </p:sp>
      <p:sp>
        <p:nvSpPr>
          <p:cNvPr id="18" name="object 18" descr=""/>
          <p:cNvSpPr txBox="1"/>
          <p:nvPr/>
        </p:nvSpPr>
        <p:spPr>
          <a:xfrm>
            <a:off x="1139509" y="2961553"/>
            <a:ext cx="787400" cy="254000"/>
          </a:xfrm>
          <a:prstGeom prst="rect">
            <a:avLst/>
          </a:prstGeom>
        </p:spPr>
        <p:txBody>
          <a:bodyPr wrap="square" lIns="0" tIns="12700" rIns="0" bIns="0" rtlCol="0" vert="horz">
            <a:spAutoFit/>
          </a:bodyPr>
          <a:lstStyle/>
          <a:p>
            <a:pPr marL="12700">
              <a:lnSpc>
                <a:spcPct val="100000"/>
              </a:lnSpc>
              <a:spcBef>
                <a:spcPts val="100"/>
              </a:spcBef>
            </a:pPr>
            <a:r>
              <a:rPr dirty="0" sz="1500" spc="-15">
                <a:latin typeface="Microsoft YaHei"/>
                <a:cs typeface="Microsoft YaHei"/>
              </a:rPr>
              <a:t>上得了杆</a:t>
            </a:r>
            <a:endParaRPr sz="1500">
              <a:latin typeface="Microsoft YaHei"/>
              <a:cs typeface="Microsoft YaHei"/>
            </a:endParaRPr>
          </a:p>
        </p:txBody>
      </p:sp>
      <p:sp>
        <p:nvSpPr>
          <p:cNvPr id="19" name="object 19" descr=""/>
          <p:cNvSpPr txBox="1"/>
          <p:nvPr/>
        </p:nvSpPr>
        <p:spPr>
          <a:xfrm>
            <a:off x="2956308" y="2961553"/>
            <a:ext cx="787400" cy="254000"/>
          </a:xfrm>
          <a:prstGeom prst="rect">
            <a:avLst/>
          </a:prstGeom>
        </p:spPr>
        <p:txBody>
          <a:bodyPr wrap="square" lIns="0" tIns="12700" rIns="0" bIns="0" rtlCol="0" vert="horz">
            <a:spAutoFit/>
          </a:bodyPr>
          <a:lstStyle/>
          <a:p>
            <a:pPr marL="12700">
              <a:lnSpc>
                <a:spcPct val="100000"/>
              </a:lnSpc>
              <a:spcBef>
                <a:spcPts val="100"/>
              </a:spcBef>
            </a:pPr>
            <a:r>
              <a:rPr dirty="0" sz="1500" spc="-15">
                <a:latin typeface="Microsoft YaHei"/>
                <a:cs typeface="Microsoft YaHei"/>
              </a:rPr>
              <a:t>挂得了墙</a:t>
            </a:r>
            <a:endParaRPr sz="1500">
              <a:latin typeface="Microsoft YaHei"/>
              <a:cs typeface="Microsoft YaHei"/>
            </a:endParaRPr>
          </a:p>
        </p:txBody>
      </p:sp>
      <p:sp>
        <p:nvSpPr>
          <p:cNvPr id="20" name="object 20" descr=""/>
          <p:cNvSpPr txBox="1"/>
          <p:nvPr/>
        </p:nvSpPr>
        <p:spPr>
          <a:xfrm>
            <a:off x="6801550" y="2951838"/>
            <a:ext cx="787400" cy="254000"/>
          </a:xfrm>
          <a:prstGeom prst="rect">
            <a:avLst/>
          </a:prstGeom>
        </p:spPr>
        <p:txBody>
          <a:bodyPr wrap="square" lIns="0" tIns="12700" rIns="0" bIns="0" rtlCol="0" vert="horz">
            <a:spAutoFit/>
          </a:bodyPr>
          <a:lstStyle/>
          <a:p>
            <a:pPr marL="12700">
              <a:lnSpc>
                <a:spcPct val="100000"/>
              </a:lnSpc>
              <a:spcBef>
                <a:spcPts val="100"/>
              </a:spcBef>
            </a:pPr>
            <a:r>
              <a:rPr dirty="0" sz="1500" spc="-15">
                <a:latin typeface="Microsoft YaHei"/>
                <a:cs typeface="Microsoft YaHei"/>
              </a:rPr>
              <a:t>入得楼宇</a:t>
            </a:r>
            <a:endParaRPr sz="1500">
              <a:latin typeface="Microsoft YaHei"/>
              <a:cs typeface="Microsoft YaHei"/>
            </a:endParaRPr>
          </a:p>
        </p:txBody>
      </p:sp>
      <p:sp>
        <p:nvSpPr>
          <p:cNvPr id="21" name="object 21" descr=""/>
          <p:cNvSpPr txBox="1"/>
          <p:nvPr/>
        </p:nvSpPr>
        <p:spPr>
          <a:xfrm>
            <a:off x="1105410" y="4561753"/>
            <a:ext cx="787400" cy="254000"/>
          </a:xfrm>
          <a:prstGeom prst="rect">
            <a:avLst/>
          </a:prstGeom>
        </p:spPr>
        <p:txBody>
          <a:bodyPr wrap="square" lIns="0" tIns="12700" rIns="0" bIns="0" rtlCol="0" vert="horz">
            <a:spAutoFit/>
          </a:bodyPr>
          <a:lstStyle/>
          <a:p>
            <a:pPr marL="12700">
              <a:lnSpc>
                <a:spcPct val="100000"/>
              </a:lnSpc>
              <a:spcBef>
                <a:spcPts val="100"/>
              </a:spcBef>
            </a:pPr>
            <a:r>
              <a:rPr dirty="0" sz="1500" spc="-15">
                <a:latin typeface="Microsoft YaHei"/>
                <a:cs typeface="Microsoft YaHei"/>
              </a:rPr>
              <a:t>灵活取电</a:t>
            </a:r>
            <a:endParaRPr sz="1500">
              <a:latin typeface="Microsoft YaHei"/>
              <a:cs typeface="Microsoft YaHei"/>
            </a:endParaRPr>
          </a:p>
        </p:txBody>
      </p:sp>
      <p:sp>
        <p:nvSpPr>
          <p:cNvPr id="22" name="object 22" descr=""/>
          <p:cNvSpPr txBox="1"/>
          <p:nvPr/>
        </p:nvSpPr>
        <p:spPr>
          <a:xfrm>
            <a:off x="2954784" y="4541751"/>
            <a:ext cx="787400" cy="254000"/>
          </a:xfrm>
          <a:prstGeom prst="rect">
            <a:avLst/>
          </a:prstGeom>
        </p:spPr>
        <p:txBody>
          <a:bodyPr wrap="square" lIns="0" tIns="12700" rIns="0" bIns="0" rtlCol="0" vert="horz">
            <a:spAutoFit/>
          </a:bodyPr>
          <a:lstStyle/>
          <a:p>
            <a:pPr marL="12700">
              <a:lnSpc>
                <a:spcPct val="100000"/>
              </a:lnSpc>
              <a:spcBef>
                <a:spcPts val="100"/>
              </a:spcBef>
            </a:pPr>
            <a:r>
              <a:rPr dirty="0" sz="1500" spc="-15">
                <a:latin typeface="Microsoft YaHei"/>
                <a:cs typeface="Microsoft YaHei"/>
              </a:rPr>
              <a:t>轻松回传</a:t>
            </a:r>
            <a:endParaRPr sz="1500">
              <a:latin typeface="Microsoft YaHei"/>
              <a:cs typeface="Microsoft YaHei"/>
            </a:endParaRPr>
          </a:p>
        </p:txBody>
      </p:sp>
      <p:sp>
        <p:nvSpPr>
          <p:cNvPr id="23" name="object 23" descr=""/>
          <p:cNvSpPr txBox="1"/>
          <p:nvPr/>
        </p:nvSpPr>
        <p:spPr>
          <a:xfrm>
            <a:off x="6899849" y="4561753"/>
            <a:ext cx="787400" cy="254000"/>
          </a:xfrm>
          <a:prstGeom prst="rect">
            <a:avLst/>
          </a:prstGeom>
        </p:spPr>
        <p:txBody>
          <a:bodyPr wrap="square" lIns="0" tIns="12700" rIns="0" bIns="0" rtlCol="0" vert="horz">
            <a:spAutoFit/>
          </a:bodyPr>
          <a:lstStyle/>
          <a:p>
            <a:pPr marL="12700">
              <a:lnSpc>
                <a:spcPct val="100000"/>
              </a:lnSpc>
              <a:spcBef>
                <a:spcPts val="100"/>
              </a:spcBef>
            </a:pPr>
            <a:r>
              <a:rPr dirty="0" sz="1500" spc="-15">
                <a:latin typeface="Microsoft YaHei"/>
                <a:cs typeface="Microsoft YaHei"/>
              </a:rPr>
              <a:t>绿色环保</a:t>
            </a:r>
            <a:endParaRPr sz="1500">
              <a:latin typeface="Microsoft YaHei"/>
              <a:cs typeface="Microsoft YaHei"/>
            </a:endParaRPr>
          </a:p>
        </p:txBody>
      </p:sp>
      <p:sp>
        <p:nvSpPr>
          <p:cNvPr id="24" name="object 24" descr=""/>
          <p:cNvSpPr txBox="1"/>
          <p:nvPr/>
        </p:nvSpPr>
        <p:spPr>
          <a:xfrm>
            <a:off x="4832733" y="4552609"/>
            <a:ext cx="787400" cy="254000"/>
          </a:xfrm>
          <a:prstGeom prst="rect">
            <a:avLst/>
          </a:prstGeom>
        </p:spPr>
        <p:txBody>
          <a:bodyPr wrap="square" lIns="0" tIns="12700" rIns="0" bIns="0" rtlCol="0" vert="horz">
            <a:spAutoFit/>
          </a:bodyPr>
          <a:lstStyle/>
          <a:p>
            <a:pPr marL="12700">
              <a:lnSpc>
                <a:spcPct val="100000"/>
              </a:lnSpc>
              <a:spcBef>
                <a:spcPts val="100"/>
              </a:spcBef>
            </a:pPr>
            <a:r>
              <a:rPr dirty="0" sz="1500" spc="-15">
                <a:latin typeface="Microsoft YaHei"/>
                <a:cs typeface="Microsoft YaHei"/>
              </a:rPr>
              <a:t>辐射无忧</a:t>
            </a:r>
            <a:endParaRPr sz="1500">
              <a:latin typeface="Microsoft YaHei"/>
              <a:cs typeface="Microsoft YaHei"/>
            </a:endParaRPr>
          </a:p>
        </p:txBody>
      </p:sp>
      <p:grpSp>
        <p:nvGrpSpPr>
          <p:cNvPr id="25" name="object 25" descr=""/>
          <p:cNvGrpSpPr/>
          <p:nvPr/>
        </p:nvGrpSpPr>
        <p:grpSpPr>
          <a:xfrm>
            <a:off x="6422135" y="1737359"/>
            <a:ext cx="1654810" cy="1445260"/>
            <a:chOff x="6422135" y="1737359"/>
            <a:chExt cx="1654810" cy="1445260"/>
          </a:xfrm>
        </p:grpSpPr>
        <p:pic>
          <p:nvPicPr>
            <p:cNvPr id="26" name="object 26"/>
            <p:cNvPicPr/>
            <p:nvPr/>
          </p:nvPicPr>
          <p:blipFill>
            <a:blip r:embed="rId11" cstate="print"/>
            <a:stretch>
              <a:fillRect/>
            </a:stretch>
          </p:blipFill>
          <p:spPr>
            <a:xfrm>
              <a:off x="6422135" y="1737359"/>
              <a:ext cx="1654301" cy="1444751"/>
            </a:xfrm>
            <a:prstGeom prst="rect">
              <a:avLst/>
            </a:prstGeom>
          </p:spPr>
        </p:pic>
        <p:pic>
          <p:nvPicPr>
            <p:cNvPr id="27" name="object 27" descr=""/>
            <p:cNvPicPr/>
            <p:nvPr/>
          </p:nvPicPr>
          <p:blipFill>
            <a:blip r:embed="rId12" cstate="print"/>
            <a:stretch>
              <a:fillRect/>
            </a:stretch>
          </p:blipFill>
          <p:spPr>
            <a:xfrm>
              <a:off x="6617023" y="1931708"/>
              <a:ext cx="1067231" cy="858202"/>
            </a:xfrm>
            <a:prstGeom prst="rect">
              <a:avLst/>
            </a:prstGeom>
          </p:spPr>
        </p:pic>
      </p:grpSp>
      <p:grpSp>
        <p:nvGrpSpPr>
          <p:cNvPr id="28" name="object 28" descr=""/>
          <p:cNvGrpSpPr/>
          <p:nvPr/>
        </p:nvGrpSpPr>
        <p:grpSpPr>
          <a:xfrm>
            <a:off x="2681477" y="3310902"/>
            <a:ext cx="1653539" cy="1445895"/>
            <a:chOff x="2681477" y="3310902"/>
            <a:chExt cx="1653539" cy="1445895"/>
          </a:xfrm>
        </p:grpSpPr>
        <p:pic>
          <p:nvPicPr>
            <p:cNvPr id="29" name="object 29"/>
            <p:cNvPicPr/>
            <p:nvPr/>
          </p:nvPicPr>
          <p:blipFill>
            <a:blip r:embed="rId13" cstate="print"/>
            <a:stretch>
              <a:fillRect/>
            </a:stretch>
          </p:blipFill>
          <p:spPr>
            <a:xfrm>
              <a:off x="2681477" y="3310902"/>
              <a:ext cx="1653539" cy="1445500"/>
            </a:xfrm>
            <a:prstGeom prst="rect">
              <a:avLst/>
            </a:prstGeom>
          </p:spPr>
        </p:pic>
        <p:pic>
          <p:nvPicPr>
            <p:cNvPr id="30" name="object 30" descr=""/>
            <p:cNvPicPr/>
            <p:nvPr/>
          </p:nvPicPr>
          <p:blipFill>
            <a:blip r:embed="rId14" cstate="print"/>
            <a:stretch>
              <a:fillRect/>
            </a:stretch>
          </p:blipFill>
          <p:spPr>
            <a:xfrm>
              <a:off x="2875895" y="3505794"/>
              <a:ext cx="1067231" cy="858202"/>
            </a:xfrm>
            <a:prstGeom prst="rect">
              <a:avLst/>
            </a:prstGeom>
          </p:spPr>
        </p:pic>
      </p:grpSp>
      <p:grpSp>
        <p:nvGrpSpPr>
          <p:cNvPr id="31" name="object 31" descr=""/>
          <p:cNvGrpSpPr/>
          <p:nvPr/>
        </p:nvGrpSpPr>
        <p:grpSpPr>
          <a:xfrm>
            <a:off x="821436" y="3310902"/>
            <a:ext cx="1653539" cy="1445895"/>
            <a:chOff x="821436" y="3310902"/>
            <a:chExt cx="1653539" cy="1445895"/>
          </a:xfrm>
        </p:grpSpPr>
        <p:pic>
          <p:nvPicPr>
            <p:cNvPr id="32" name="object 32"/>
            <p:cNvPicPr/>
            <p:nvPr/>
          </p:nvPicPr>
          <p:blipFill>
            <a:blip r:embed="rId13" cstate="print"/>
            <a:stretch>
              <a:fillRect/>
            </a:stretch>
          </p:blipFill>
          <p:spPr>
            <a:xfrm>
              <a:off x="821436" y="3310902"/>
              <a:ext cx="1653527" cy="1445500"/>
            </a:xfrm>
            <a:prstGeom prst="rect">
              <a:avLst/>
            </a:prstGeom>
          </p:spPr>
        </p:pic>
        <p:pic>
          <p:nvPicPr>
            <p:cNvPr id="33" name="object 33" descr=""/>
            <p:cNvPicPr/>
            <p:nvPr/>
          </p:nvPicPr>
          <p:blipFill>
            <a:blip r:embed="rId15" cstate="print"/>
            <a:stretch>
              <a:fillRect/>
            </a:stretch>
          </p:blipFill>
          <p:spPr>
            <a:xfrm>
              <a:off x="1015906" y="3505794"/>
              <a:ext cx="1067231" cy="858202"/>
            </a:xfrm>
            <a:prstGeom prst="rect">
              <a:avLst/>
            </a:prstGeom>
          </p:spPr>
        </p:pic>
      </p:grpSp>
      <p:grpSp>
        <p:nvGrpSpPr>
          <p:cNvPr id="34" name="object 34" descr=""/>
          <p:cNvGrpSpPr/>
          <p:nvPr/>
        </p:nvGrpSpPr>
        <p:grpSpPr>
          <a:xfrm>
            <a:off x="4477511" y="3310902"/>
            <a:ext cx="1654810" cy="1445895"/>
            <a:chOff x="4477511" y="3310902"/>
            <a:chExt cx="1654810" cy="1445895"/>
          </a:xfrm>
        </p:grpSpPr>
        <p:pic>
          <p:nvPicPr>
            <p:cNvPr id="35" name="object 35"/>
            <p:cNvPicPr/>
            <p:nvPr/>
          </p:nvPicPr>
          <p:blipFill>
            <a:blip r:embed="rId16" cstate="print"/>
            <a:stretch>
              <a:fillRect/>
            </a:stretch>
          </p:blipFill>
          <p:spPr>
            <a:xfrm>
              <a:off x="4477511" y="3310902"/>
              <a:ext cx="1654301" cy="1445500"/>
            </a:xfrm>
            <a:prstGeom prst="rect">
              <a:avLst/>
            </a:prstGeom>
          </p:spPr>
        </p:pic>
        <p:pic>
          <p:nvPicPr>
            <p:cNvPr id="36" name="object 36" descr=""/>
            <p:cNvPicPr/>
            <p:nvPr/>
          </p:nvPicPr>
          <p:blipFill>
            <a:blip r:embed="rId17" cstate="print"/>
            <a:stretch>
              <a:fillRect/>
            </a:stretch>
          </p:blipFill>
          <p:spPr>
            <a:xfrm>
              <a:off x="4672426" y="3505794"/>
              <a:ext cx="1067231" cy="858202"/>
            </a:xfrm>
            <a:prstGeom prst="rect">
              <a:avLst/>
            </a:prstGeom>
          </p:spPr>
        </p:pic>
      </p:grpSp>
      <p:grpSp>
        <p:nvGrpSpPr>
          <p:cNvPr id="37" name="object 37" descr=""/>
          <p:cNvGrpSpPr/>
          <p:nvPr/>
        </p:nvGrpSpPr>
        <p:grpSpPr>
          <a:xfrm>
            <a:off x="6528054" y="3310902"/>
            <a:ext cx="1654810" cy="1445895"/>
            <a:chOff x="6528054" y="3310902"/>
            <a:chExt cx="1654810" cy="1445895"/>
          </a:xfrm>
        </p:grpSpPr>
        <p:pic>
          <p:nvPicPr>
            <p:cNvPr id="38" name="object 38"/>
            <p:cNvPicPr/>
            <p:nvPr/>
          </p:nvPicPr>
          <p:blipFill>
            <a:blip r:embed="rId18" cstate="print"/>
            <a:stretch>
              <a:fillRect/>
            </a:stretch>
          </p:blipFill>
          <p:spPr>
            <a:xfrm>
              <a:off x="6528054" y="3310902"/>
              <a:ext cx="1654301" cy="1445500"/>
            </a:xfrm>
            <a:prstGeom prst="rect">
              <a:avLst/>
            </a:prstGeom>
          </p:spPr>
        </p:pic>
        <p:pic>
          <p:nvPicPr>
            <p:cNvPr id="39" name="object 39" descr=""/>
            <p:cNvPicPr/>
            <p:nvPr/>
          </p:nvPicPr>
          <p:blipFill>
            <a:blip r:embed="rId19" cstate="print"/>
            <a:stretch>
              <a:fillRect/>
            </a:stretch>
          </p:blipFill>
          <p:spPr>
            <a:xfrm>
              <a:off x="6722703" y="3505794"/>
              <a:ext cx="1067231" cy="858202"/>
            </a:xfrm>
            <a:prstGeom prst="rect">
              <a:avLst/>
            </a:prstGeom>
          </p:spPr>
        </p:pic>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6348996" y="2704845"/>
            <a:ext cx="1840864" cy="1431925"/>
          </a:xfrm>
          <a:custGeom>
            <a:avLst/>
            <a:gdLst/>
            <a:ahLst/>
            <a:cxnLst/>
            <a:rect l="l" t="t" r="r" b="b"/>
            <a:pathLst>
              <a:path w="1840865" h="1431925">
                <a:moveTo>
                  <a:pt x="1840547" y="1335214"/>
                </a:moveTo>
                <a:lnTo>
                  <a:pt x="1000747" y="28130"/>
                </a:lnTo>
                <a:lnTo>
                  <a:pt x="960653" y="469"/>
                </a:lnTo>
                <a:lnTo>
                  <a:pt x="936256" y="0"/>
                </a:lnTo>
                <a:lnTo>
                  <a:pt x="912736" y="9271"/>
                </a:lnTo>
                <a:lnTo>
                  <a:pt x="894664" y="26924"/>
                </a:lnTo>
                <a:lnTo>
                  <a:pt x="885088" y="49364"/>
                </a:lnTo>
                <a:lnTo>
                  <a:pt x="884936" y="57226"/>
                </a:lnTo>
                <a:lnTo>
                  <a:pt x="877493" y="41452"/>
                </a:lnTo>
                <a:lnTo>
                  <a:pt x="859739" y="25400"/>
                </a:lnTo>
                <a:lnTo>
                  <a:pt x="837158" y="17487"/>
                </a:lnTo>
                <a:lnTo>
                  <a:pt x="814082" y="18796"/>
                </a:lnTo>
                <a:lnTo>
                  <a:pt x="793203" y="28663"/>
                </a:lnTo>
                <a:lnTo>
                  <a:pt x="777138" y="46418"/>
                </a:lnTo>
                <a:lnTo>
                  <a:pt x="7912" y="1340815"/>
                </a:lnTo>
                <a:lnTo>
                  <a:pt x="0" y="1363395"/>
                </a:lnTo>
                <a:lnTo>
                  <a:pt x="1320" y="1386471"/>
                </a:lnTo>
                <a:lnTo>
                  <a:pt x="11188" y="1407350"/>
                </a:lnTo>
                <a:lnTo>
                  <a:pt x="28943" y="1423416"/>
                </a:lnTo>
                <a:lnTo>
                  <a:pt x="51523" y="1431328"/>
                </a:lnTo>
                <a:lnTo>
                  <a:pt x="74587" y="1430007"/>
                </a:lnTo>
                <a:lnTo>
                  <a:pt x="95478" y="1420139"/>
                </a:lnTo>
                <a:lnTo>
                  <a:pt x="111531" y="1402397"/>
                </a:lnTo>
                <a:lnTo>
                  <a:pt x="880757" y="108000"/>
                </a:lnTo>
                <a:lnTo>
                  <a:pt x="888669" y="85407"/>
                </a:lnTo>
                <a:lnTo>
                  <a:pt x="888568" y="83807"/>
                </a:lnTo>
                <a:lnTo>
                  <a:pt x="893876" y="97282"/>
                </a:lnTo>
                <a:lnTo>
                  <a:pt x="1724418" y="1380858"/>
                </a:lnTo>
                <a:lnTo>
                  <a:pt x="1742084" y="1398930"/>
                </a:lnTo>
                <a:lnTo>
                  <a:pt x="1764525" y="1408506"/>
                </a:lnTo>
                <a:lnTo>
                  <a:pt x="1788922" y="1408963"/>
                </a:lnTo>
                <a:lnTo>
                  <a:pt x="1812429" y="1399717"/>
                </a:lnTo>
                <a:lnTo>
                  <a:pt x="1830514" y="1382052"/>
                </a:lnTo>
                <a:lnTo>
                  <a:pt x="1840090" y="1359611"/>
                </a:lnTo>
                <a:lnTo>
                  <a:pt x="1840547" y="1335214"/>
                </a:lnTo>
                <a:close/>
              </a:path>
            </a:pathLst>
          </a:custGeom>
          <a:solidFill>
            <a:srgbClr val="808080"/>
          </a:solidFill>
        </p:spPr>
        <p:txBody>
          <a:bodyPr wrap="square" lIns="0" tIns="0" rIns="0" bIns="0" rtlCol="0"/>
          <a:lstStyle/>
          <a:p/>
        </p:txBody>
      </p:sp>
      <p:sp>
        <p:nvSpPr>
          <p:cNvPr id="3" name="object 3" descr=""/>
          <p:cNvSpPr/>
          <p:nvPr/>
        </p:nvSpPr>
        <p:spPr>
          <a:xfrm>
            <a:off x="6814286" y="4222404"/>
            <a:ext cx="884555" cy="120014"/>
          </a:xfrm>
          <a:custGeom>
            <a:avLst/>
            <a:gdLst/>
            <a:ahLst/>
            <a:cxnLst/>
            <a:rect l="l" t="t" r="r" b="b"/>
            <a:pathLst>
              <a:path w="884554" h="120014">
                <a:moveTo>
                  <a:pt x="824166" y="0"/>
                </a:moveTo>
                <a:lnTo>
                  <a:pt x="59855" y="0"/>
                </a:lnTo>
                <a:lnTo>
                  <a:pt x="36556" y="4703"/>
                </a:lnTo>
                <a:lnTo>
                  <a:pt x="17530" y="17530"/>
                </a:lnTo>
                <a:lnTo>
                  <a:pt x="4703" y="36556"/>
                </a:lnTo>
                <a:lnTo>
                  <a:pt x="0" y="59855"/>
                </a:lnTo>
                <a:lnTo>
                  <a:pt x="4703" y="83153"/>
                </a:lnTo>
                <a:lnTo>
                  <a:pt x="17530" y="102179"/>
                </a:lnTo>
                <a:lnTo>
                  <a:pt x="36556" y="115006"/>
                </a:lnTo>
                <a:lnTo>
                  <a:pt x="59855" y="119710"/>
                </a:lnTo>
                <a:lnTo>
                  <a:pt x="824166" y="119710"/>
                </a:lnTo>
                <a:lnTo>
                  <a:pt x="847465" y="115006"/>
                </a:lnTo>
                <a:lnTo>
                  <a:pt x="866490" y="102179"/>
                </a:lnTo>
                <a:lnTo>
                  <a:pt x="879318" y="83153"/>
                </a:lnTo>
                <a:lnTo>
                  <a:pt x="884021" y="59855"/>
                </a:lnTo>
                <a:lnTo>
                  <a:pt x="879318" y="36556"/>
                </a:lnTo>
                <a:lnTo>
                  <a:pt x="866490" y="17530"/>
                </a:lnTo>
                <a:lnTo>
                  <a:pt x="847465" y="4703"/>
                </a:lnTo>
                <a:lnTo>
                  <a:pt x="824166" y="0"/>
                </a:lnTo>
                <a:close/>
              </a:path>
            </a:pathLst>
          </a:custGeom>
          <a:solidFill>
            <a:srgbClr val="808080"/>
          </a:solidFill>
        </p:spPr>
        <p:txBody>
          <a:bodyPr wrap="square" lIns="0" tIns="0" rIns="0" bIns="0" rtlCol="0"/>
          <a:lstStyle/>
          <a:p/>
        </p:txBody>
      </p:sp>
      <p:grpSp>
        <p:nvGrpSpPr>
          <p:cNvPr id="4" name="object 4" descr=""/>
          <p:cNvGrpSpPr/>
          <p:nvPr/>
        </p:nvGrpSpPr>
        <p:grpSpPr>
          <a:xfrm>
            <a:off x="179514" y="699541"/>
            <a:ext cx="2043430" cy="355600"/>
            <a:chOff x="179514" y="699541"/>
            <a:chExt cx="2043430" cy="355600"/>
          </a:xfrm>
        </p:grpSpPr>
        <p:pic>
          <p:nvPicPr>
            <p:cNvPr id="5" name="object 5" descr=""/>
            <p:cNvPicPr/>
            <p:nvPr/>
          </p:nvPicPr>
          <p:blipFill>
            <a:blip r:embed="rId2" cstate="print"/>
            <a:stretch>
              <a:fillRect/>
            </a:stretch>
          </p:blipFill>
          <p:spPr>
            <a:xfrm>
              <a:off x="229361" y="749808"/>
              <a:ext cx="1993391" cy="304799"/>
            </a:xfrm>
            <a:prstGeom prst="rect">
              <a:avLst/>
            </a:prstGeom>
          </p:spPr>
        </p:pic>
        <p:pic>
          <p:nvPicPr>
            <p:cNvPr id="6" name="object 6" descr=""/>
            <p:cNvPicPr/>
            <p:nvPr/>
          </p:nvPicPr>
          <p:blipFill>
            <a:blip r:embed="rId3" cstate="print"/>
            <a:stretch>
              <a:fillRect/>
            </a:stretch>
          </p:blipFill>
          <p:spPr>
            <a:xfrm>
              <a:off x="585216" y="741438"/>
              <a:ext cx="1332737" cy="268211"/>
            </a:xfrm>
            <a:prstGeom prst="rect">
              <a:avLst/>
            </a:prstGeom>
          </p:spPr>
        </p:pic>
        <p:sp>
          <p:nvSpPr>
            <p:cNvPr id="7" name="object 7" descr=""/>
            <p:cNvSpPr/>
            <p:nvPr/>
          </p:nvSpPr>
          <p:spPr>
            <a:xfrm>
              <a:off x="179514" y="699541"/>
              <a:ext cx="1991995" cy="304165"/>
            </a:xfrm>
            <a:custGeom>
              <a:avLst/>
              <a:gdLst/>
              <a:ahLst/>
              <a:cxnLst/>
              <a:rect l="l" t="t" r="r" b="b"/>
              <a:pathLst>
                <a:path w="1991995" h="304165">
                  <a:moveTo>
                    <a:pt x="1991728" y="0"/>
                  </a:moveTo>
                  <a:lnTo>
                    <a:pt x="0" y="0"/>
                  </a:lnTo>
                  <a:lnTo>
                    <a:pt x="0" y="303784"/>
                  </a:lnTo>
                  <a:lnTo>
                    <a:pt x="1991728" y="303784"/>
                  </a:lnTo>
                  <a:lnTo>
                    <a:pt x="1991728" y="0"/>
                  </a:lnTo>
                  <a:close/>
                </a:path>
              </a:pathLst>
            </a:custGeom>
            <a:solidFill>
              <a:srgbClr val="333399"/>
            </a:solidFill>
          </p:spPr>
          <p:txBody>
            <a:bodyPr wrap="square" lIns="0" tIns="0" rIns="0" bIns="0" rtlCol="0"/>
            <a:lstStyle/>
            <a:p/>
          </p:txBody>
        </p:sp>
      </p:grpSp>
      <p:sp>
        <p:nvSpPr>
          <p:cNvPr id="8" name="object 8" descr=""/>
          <p:cNvSpPr txBox="1"/>
          <p:nvPr/>
        </p:nvSpPr>
        <p:spPr>
          <a:xfrm>
            <a:off x="179514" y="699541"/>
            <a:ext cx="1991995" cy="304165"/>
          </a:xfrm>
          <a:prstGeom prst="rect">
            <a:avLst/>
          </a:prstGeom>
        </p:spPr>
        <p:txBody>
          <a:bodyPr wrap="square" lIns="0" tIns="38735" rIns="0" bIns="0" rtlCol="0" vert="horz">
            <a:spAutoFit/>
          </a:bodyPr>
          <a:lstStyle/>
          <a:p>
            <a:pPr marL="462280">
              <a:lnSpc>
                <a:spcPct val="100000"/>
              </a:lnSpc>
              <a:spcBef>
                <a:spcPts val="305"/>
              </a:spcBef>
            </a:pPr>
            <a:r>
              <a:rPr dirty="0" sz="1400" spc="-25" b="1">
                <a:solidFill>
                  <a:srgbClr val="FFFFFF"/>
                </a:solidFill>
                <a:latin typeface="Microsoft YaHei"/>
                <a:cs typeface="Microsoft YaHei"/>
              </a:rPr>
              <a:t>微站建设原则</a:t>
            </a:r>
            <a:endParaRPr sz="1400">
              <a:latin typeface="Microsoft YaHei"/>
              <a:cs typeface="Microsoft YaHei"/>
            </a:endParaRPr>
          </a:p>
        </p:txBody>
      </p:sp>
      <p:sp>
        <p:nvSpPr>
          <p:cNvPr id="9" name="object 9"/>
          <p:cNvSpPr txBox="1">
            <a:spLocks noGrp="1"/>
          </p:cNvSpPr>
          <p:nvPr>
            <p:ph type="title"/>
          </p:nvPr>
        </p:nvSpPr>
        <p:spPr>
          <a:xfrm>
            <a:off x="3376993" y="187706"/>
            <a:ext cx="2467610" cy="513080"/>
          </a:xfrm>
          <a:prstGeom prst="rect"/>
        </p:spPr>
        <p:txBody>
          <a:bodyPr wrap="square" lIns="0" tIns="12065" rIns="0" bIns="0" rtlCol="0" vert="horz">
            <a:spAutoFit/>
          </a:bodyPr>
          <a:lstStyle/>
          <a:p>
            <a:pPr marL="12700">
              <a:lnSpc>
                <a:spcPct val="100000"/>
              </a:lnSpc>
              <a:spcBef>
                <a:spcPts val="95"/>
              </a:spcBef>
            </a:pPr>
            <a:r>
              <a:rPr dirty="0" spc="-40"/>
              <a:t>微站建设策略</a:t>
            </a:r>
          </a:p>
        </p:txBody>
      </p:sp>
      <p:sp>
        <p:nvSpPr>
          <p:cNvPr id="10" name="object 10" descr=""/>
          <p:cNvSpPr/>
          <p:nvPr/>
        </p:nvSpPr>
        <p:spPr>
          <a:xfrm>
            <a:off x="183438" y="1074343"/>
            <a:ext cx="8709660" cy="900430"/>
          </a:xfrm>
          <a:custGeom>
            <a:avLst/>
            <a:gdLst/>
            <a:ahLst/>
            <a:cxnLst/>
            <a:rect l="l" t="t" r="r" b="b"/>
            <a:pathLst>
              <a:path w="8709660" h="900430">
                <a:moveTo>
                  <a:pt x="8709596" y="0"/>
                </a:moveTo>
                <a:lnTo>
                  <a:pt x="0" y="0"/>
                </a:lnTo>
                <a:lnTo>
                  <a:pt x="0" y="900252"/>
                </a:lnTo>
                <a:lnTo>
                  <a:pt x="8709596" y="900252"/>
                </a:lnTo>
                <a:lnTo>
                  <a:pt x="8709596" y="0"/>
                </a:lnTo>
                <a:close/>
              </a:path>
            </a:pathLst>
          </a:custGeom>
          <a:solidFill>
            <a:srgbClr val="E7F3F4"/>
          </a:solidFill>
        </p:spPr>
        <p:txBody>
          <a:bodyPr wrap="square" lIns="0" tIns="0" rIns="0" bIns="0" rtlCol="0"/>
          <a:lstStyle/>
          <a:p/>
        </p:txBody>
      </p:sp>
      <p:sp>
        <p:nvSpPr>
          <p:cNvPr id="11" name="object 11" descr=""/>
          <p:cNvSpPr txBox="1"/>
          <p:nvPr/>
        </p:nvSpPr>
        <p:spPr>
          <a:xfrm>
            <a:off x="239321" y="1057833"/>
            <a:ext cx="8520430" cy="848360"/>
          </a:xfrm>
          <a:prstGeom prst="rect">
            <a:avLst/>
          </a:prstGeom>
        </p:spPr>
        <p:txBody>
          <a:bodyPr wrap="square" lIns="0" tIns="12700" rIns="0" bIns="0" rtlCol="0" vert="horz">
            <a:spAutoFit/>
          </a:bodyPr>
          <a:lstStyle/>
          <a:p>
            <a:pPr marL="226060" marR="5080" indent="-213995">
              <a:lnSpc>
                <a:spcPct val="150000"/>
              </a:lnSpc>
              <a:spcBef>
                <a:spcPts val="100"/>
              </a:spcBef>
              <a:buFont typeface="Wingdings"/>
              <a:buChar char=""/>
              <a:tabLst>
                <a:tab pos="227329" algn="l"/>
              </a:tabLst>
            </a:pPr>
            <a:r>
              <a:rPr dirty="0" sz="1200" spc="-10">
                <a:solidFill>
                  <a:srgbClr val="3E3E3E"/>
                </a:solidFill>
                <a:latin typeface="Microsoft YaHei"/>
                <a:cs typeface="Microsoft YaHei"/>
              </a:rPr>
              <a:t>5G</a:t>
            </a:r>
            <a:r>
              <a:rPr dirty="0" sz="1200" spc="-5">
                <a:solidFill>
                  <a:srgbClr val="3E3E3E"/>
                </a:solidFill>
                <a:latin typeface="Microsoft YaHei"/>
                <a:cs typeface="Microsoft YaHei"/>
              </a:rPr>
              <a:t>超密集组网可以带来可观的容量增长，但在实际部署中，站址的获取和成本是超密集小区需要解决的首要问题，需要秉持</a:t>
            </a:r>
            <a:r>
              <a:rPr dirty="0" sz="1200" spc="-5">
                <a:solidFill>
                  <a:srgbClr val="3E3E3E"/>
                </a:solidFill>
                <a:latin typeface="Microsoft YaHei"/>
                <a:cs typeface="Microsoft YaHei"/>
              </a:rPr>
              <a:t>	</a:t>
            </a:r>
            <a:r>
              <a:rPr dirty="0" sz="1200">
                <a:solidFill>
                  <a:srgbClr val="3E3E3E"/>
                </a:solidFill>
                <a:latin typeface="Microsoft YaHei"/>
                <a:cs typeface="Microsoft YaHei"/>
              </a:rPr>
              <a:t>利旧为主、新建为辅、实现方案标准化、产品化、简美化，同时充分利用政策优势，</a:t>
            </a:r>
            <a:r>
              <a:rPr dirty="0" sz="1200">
                <a:solidFill>
                  <a:srgbClr val="FF0000"/>
                </a:solidFill>
                <a:latin typeface="Microsoft YaHei"/>
                <a:cs typeface="Microsoft YaHei"/>
              </a:rPr>
              <a:t>批量获取社会资源</a:t>
            </a:r>
            <a:r>
              <a:rPr dirty="0" sz="1200" spc="-10">
                <a:solidFill>
                  <a:srgbClr val="3E3E3E"/>
                </a:solidFill>
                <a:latin typeface="Microsoft YaHei"/>
                <a:cs typeface="Microsoft YaHei"/>
              </a:rPr>
              <a:t>，实现部署成本控制</a:t>
            </a:r>
            <a:endParaRPr sz="1200">
              <a:latin typeface="Microsoft YaHei"/>
              <a:cs typeface="Microsoft YaHei"/>
            </a:endParaRPr>
          </a:p>
          <a:p>
            <a:pPr marL="226695" indent="-213995">
              <a:lnSpc>
                <a:spcPct val="100000"/>
              </a:lnSpc>
              <a:spcBef>
                <a:spcPts val="720"/>
              </a:spcBef>
              <a:buFont typeface="Wingdings"/>
              <a:buChar char=""/>
              <a:tabLst>
                <a:tab pos="226695" algn="l"/>
              </a:tabLst>
            </a:pPr>
            <a:r>
              <a:rPr dirty="0" sz="1200" spc="-5">
                <a:solidFill>
                  <a:srgbClr val="3E3E3E"/>
                </a:solidFill>
                <a:latin typeface="Microsoft YaHei"/>
                <a:cs typeface="Microsoft YaHei"/>
              </a:rPr>
              <a:t>利旧资源均要从杆塔、外电、配套三方面入手，提高微站建设可靠性、安全性。</a:t>
            </a:r>
            <a:endParaRPr sz="1200">
              <a:latin typeface="Microsoft YaHei"/>
              <a:cs typeface="Microsoft YaHei"/>
            </a:endParaRPr>
          </a:p>
        </p:txBody>
      </p:sp>
      <p:sp>
        <p:nvSpPr>
          <p:cNvPr id="12" name="object 12" descr=""/>
          <p:cNvSpPr/>
          <p:nvPr/>
        </p:nvSpPr>
        <p:spPr>
          <a:xfrm>
            <a:off x="1111185" y="2190753"/>
            <a:ext cx="3736340" cy="1328420"/>
          </a:xfrm>
          <a:custGeom>
            <a:avLst/>
            <a:gdLst/>
            <a:ahLst/>
            <a:cxnLst/>
            <a:rect l="l" t="t" r="r" b="b"/>
            <a:pathLst>
              <a:path w="3736340" h="1328420">
                <a:moveTo>
                  <a:pt x="2938335" y="0"/>
                </a:moveTo>
                <a:lnTo>
                  <a:pt x="797725" y="0"/>
                </a:lnTo>
                <a:lnTo>
                  <a:pt x="797725" y="494131"/>
                </a:lnTo>
                <a:lnTo>
                  <a:pt x="0" y="494131"/>
                </a:lnTo>
                <a:lnTo>
                  <a:pt x="1868030" y="1328178"/>
                </a:lnTo>
                <a:lnTo>
                  <a:pt x="3736060" y="494131"/>
                </a:lnTo>
                <a:lnTo>
                  <a:pt x="2938335" y="494131"/>
                </a:lnTo>
                <a:lnTo>
                  <a:pt x="2938335" y="0"/>
                </a:lnTo>
                <a:close/>
              </a:path>
            </a:pathLst>
          </a:custGeom>
          <a:solidFill>
            <a:srgbClr val="FFC000"/>
          </a:solidFill>
        </p:spPr>
        <p:txBody>
          <a:bodyPr wrap="square" lIns="0" tIns="0" rIns="0" bIns="0" rtlCol="0"/>
          <a:lstStyle/>
          <a:p/>
        </p:txBody>
      </p:sp>
      <p:grpSp>
        <p:nvGrpSpPr>
          <p:cNvPr id="13" name="object 13" descr=""/>
          <p:cNvGrpSpPr/>
          <p:nvPr/>
        </p:nvGrpSpPr>
        <p:grpSpPr>
          <a:xfrm>
            <a:off x="228600" y="3756368"/>
            <a:ext cx="5371465" cy="443865"/>
            <a:chOff x="228600" y="3756368"/>
            <a:chExt cx="5371465" cy="443865"/>
          </a:xfrm>
        </p:grpSpPr>
        <p:pic>
          <p:nvPicPr>
            <p:cNvPr id="14" name="object 14" descr=""/>
            <p:cNvPicPr/>
            <p:nvPr/>
          </p:nvPicPr>
          <p:blipFill>
            <a:blip r:embed="rId4" cstate="print"/>
            <a:stretch>
              <a:fillRect/>
            </a:stretch>
          </p:blipFill>
          <p:spPr>
            <a:xfrm>
              <a:off x="1686572" y="3756368"/>
              <a:ext cx="259803" cy="432765"/>
            </a:xfrm>
            <a:prstGeom prst="rect">
              <a:avLst/>
            </a:prstGeom>
          </p:spPr>
        </p:pic>
        <p:pic>
          <p:nvPicPr>
            <p:cNvPr id="15" name="object 15" descr=""/>
            <p:cNvPicPr/>
            <p:nvPr/>
          </p:nvPicPr>
          <p:blipFill>
            <a:blip r:embed="rId5" cstate="print"/>
            <a:stretch>
              <a:fillRect/>
            </a:stretch>
          </p:blipFill>
          <p:spPr>
            <a:xfrm>
              <a:off x="1763966" y="3756380"/>
              <a:ext cx="1026591" cy="432752"/>
            </a:xfrm>
            <a:prstGeom prst="rect">
              <a:avLst/>
            </a:prstGeom>
          </p:spPr>
        </p:pic>
        <p:pic>
          <p:nvPicPr>
            <p:cNvPr id="16" name="object 16" descr=""/>
            <p:cNvPicPr/>
            <p:nvPr/>
          </p:nvPicPr>
          <p:blipFill>
            <a:blip r:embed="rId6" cstate="print"/>
            <a:stretch>
              <a:fillRect/>
            </a:stretch>
          </p:blipFill>
          <p:spPr>
            <a:xfrm>
              <a:off x="228600" y="3762108"/>
              <a:ext cx="259803" cy="432752"/>
            </a:xfrm>
            <a:prstGeom prst="rect">
              <a:avLst/>
            </a:prstGeom>
          </p:spPr>
        </p:pic>
        <p:pic>
          <p:nvPicPr>
            <p:cNvPr id="17" name="object 17" descr=""/>
            <p:cNvPicPr/>
            <p:nvPr/>
          </p:nvPicPr>
          <p:blipFill>
            <a:blip r:embed="rId7" cstate="print"/>
            <a:stretch>
              <a:fillRect/>
            </a:stretch>
          </p:blipFill>
          <p:spPr>
            <a:xfrm>
              <a:off x="305993" y="3762108"/>
              <a:ext cx="1026579" cy="432752"/>
            </a:xfrm>
            <a:prstGeom prst="rect">
              <a:avLst/>
            </a:prstGeom>
          </p:spPr>
        </p:pic>
        <p:pic>
          <p:nvPicPr>
            <p:cNvPr id="18" name="object 18" descr=""/>
            <p:cNvPicPr/>
            <p:nvPr/>
          </p:nvPicPr>
          <p:blipFill>
            <a:blip r:embed="rId8" cstate="print"/>
            <a:stretch>
              <a:fillRect/>
            </a:stretch>
          </p:blipFill>
          <p:spPr>
            <a:xfrm>
              <a:off x="4495558" y="3758400"/>
              <a:ext cx="259816" cy="432765"/>
            </a:xfrm>
            <a:prstGeom prst="rect">
              <a:avLst/>
            </a:prstGeom>
          </p:spPr>
        </p:pic>
        <p:pic>
          <p:nvPicPr>
            <p:cNvPr id="19" name="object 19" descr=""/>
            <p:cNvPicPr/>
            <p:nvPr/>
          </p:nvPicPr>
          <p:blipFill>
            <a:blip r:embed="rId9" cstate="print"/>
            <a:stretch>
              <a:fillRect/>
            </a:stretch>
          </p:blipFill>
          <p:spPr>
            <a:xfrm>
              <a:off x="4572952" y="3758400"/>
              <a:ext cx="1026579" cy="432765"/>
            </a:xfrm>
            <a:prstGeom prst="rect">
              <a:avLst/>
            </a:prstGeom>
          </p:spPr>
        </p:pic>
        <p:pic>
          <p:nvPicPr>
            <p:cNvPr id="20" name="object 20" descr=""/>
            <p:cNvPicPr/>
            <p:nvPr/>
          </p:nvPicPr>
          <p:blipFill>
            <a:blip r:embed="rId10" cstate="print"/>
            <a:stretch>
              <a:fillRect/>
            </a:stretch>
          </p:blipFill>
          <p:spPr>
            <a:xfrm>
              <a:off x="3130740" y="3767340"/>
              <a:ext cx="259816" cy="432765"/>
            </a:xfrm>
            <a:prstGeom prst="rect">
              <a:avLst/>
            </a:prstGeom>
          </p:spPr>
        </p:pic>
        <p:pic>
          <p:nvPicPr>
            <p:cNvPr id="21" name="object 21" descr=""/>
            <p:cNvPicPr/>
            <p:nvPr/>
          </p:nvPicPr>
          <p:blipFill>
            <a:blip r:embed="rId11" cstate="print"/>
            <a:stretch>
              <a:fillRect/>
            </a:stretch>
          </p:blipFill>
          <p:spPr>
            <a:xfrm>
              <a:off x="3208134" y="3767340"/>
              <a:ext cx="1026604" cy="432765"/>
            </a:xfrm>
            <a:prstGeom prst="rect">
              <a:avLst/>
            </a:prstGeom>
          </p:spPr>
        </p:pic>
      </p:grpSp>
      <p:sp>
        <p:nvSpPr>
          <p:cNvPr id="22" name="object 22" descr=""/>
          <p:cNvSpPr txBox="1"/>
          <p:nvPr/>
        </p:nvSpPr>
        <p:spPr>
          <a:xfrm>
            <a:off x="1966454" y="3752716"/>
            <a:ext cx="635000" cy="391160"/>
          </a:xfrm>
          <a:prstGeom prst="rect">
            <a:avLst/>
          </a:prstGeom>
        </p:spPr>
        <p:txBody>
          <a:bodyPr wrap="square" lIns="0" tIns="12700" rIns="0" bIns="0" rtlCol="0" vert="horz">
            <a:spAutoFit/>
          </a:bodyPr>
          <a:lstStyle/>
          <a:p>
            <a:pPr marL="12700" marR="5080">
              <a:lnSpc>
                <a:spcPct val="100000"/>
              </a:lnSpc>
              <a:spcBef>
                <a:spcPts val="100"/>
              </a:spcBef>
            </a:pPr>
            <a:r>
              <a:rPr dirty="0" sz="1200" spc="-15" b="1">
                <a:solidFill>
                  <a:srgbClr val="FFFFFF"/>
                </a:solidFill>
                <a:latin typeface="Microsoft YaHei"/>
                <a:cs typeface="Microsoft YaHei"/>
              </a:rPr>
              <a:t>利用社会杆塔资源</a:t>
            </a:r>
            <a:endParaRPr sz="1200">
              <a:latin typeface="Microsoft YaHei"/>
              <a:cs typeface="Microsoft YaHei"/>
            </a:endParaRPr>
          </a:p>
        </p:txBody>
      </p:sp>
      <p:sp>
        <p:nvSpPr>
          <p:cNvPr id="23" name="object 23" descr=""/>
          <p:cNvSpPr txBox="1"/>
          <p:nvPr/>
        </p:nvSpPr>
        <p:spPr>
          <a:xfrm>
            <a:off x="3360151" y="3747534"/>
            <a:ext cx="787400" cy="391160"/>
          </a:xfrm>
          <a:prstGeom prst="rect">
            <a:avLst/>
          </a:prstGeom>
        </p:spPr>
        <p:txBody>
          <a:bodyPr wrap="square" lIns="0" tIns="12700" rIns="0" bIns="0" rtlCol="0" vert="horz">
            <a:spAutoFit/>
          </a:bodyPr>
          <a:lstStyle/>
          <a:p>
            <a:pPr marL="12700" marR="5080" indent="76200">
              <a:lnSpc>
                <a:spcPct val="100000"/>
              </a:lnSpc>
              <a:spcBef>
                <a:spcPts val="100"/>
              </a:spcBef>
            </a:pPr>
            <a:r>
              <a:rPr dirty="0" sz="1200" spc="-15" b="1">
                <a:solidFill>
                  <a:srgbClr val="FFFFFF"/>
                </a:solidFill>
                <a:latin typeface="Microsoft YaHei"/>
                <a:cs typeface="Microsoft YaHei"/>
              </a:rPr>
              <a:t>利用社会</a:t>
            </a:r>
            <a:r>
              <a:rPr dirty="0" sz="1200" spc="-10" b="1">
                <a:solidFill>
                  <a:srgbClr val="FFFFFF"/>
                </a:solidFill>
                <a:latin typeface="Microsoft YaHei"/>
                <a:cs typeface="Microsoft YaHei"/>
              </a:rPr>
              <a:t>建筑物资源</a:t>
            </a:r>
            <a:endParaRPr sz="1200">
              <a:latin typeface="Microsoft YaHei"/>
              <a:cs typeface="Microsoft YaHei"/>
            </a:endParaRPr>
          </a:p>
        </p:txBody>
      </p:sp>
      <p:sp>
        <p:nvSpPr>
          <p:cNvPr id="24" name="object 24" descr=""/>
          <p:cNvSpPr txBox="1"/>
          <p:nvPr/>
        </p:nvSpPr>
        <p:spPr>
          <a:xfrm>
            <a:off x="357719" y="3818705"/>
            <a:ext cx="939800" cy="391160"/>
          </a:xfrm>
          <a:prstGeom prst="rect">
            <a:avLst/>
          </a:prstGeom>
        </p:spPr>
        <p:txBody>
          <a:bodyPr wrap="square" lIns="0" tIns="12700" rIns="0" bIns="0" rtlCol="0" vert="horz">
            <a:spAutoFit/>
          </a:bodyPr>
          <a:lstStyle/>
          <a:p>
            <a:pPr marL="317500" marR="5080" indent="-304800">
              <a:lnSpc>
                <a:spcPct val="100000"/>
              </a:lnSpc>
              <a:spcBef>
                <a:spcPts val="100"/>
              </a:spcBef>
            </a:pPr>
            <a:r>
              <a:rPr dirty="0" sz="1200" spc="-10" b="1">
                <a:solidFill>
                  <a:srgbClr val="FFFFFF"/>
                </a:solidFill>
                <a:latin typeface="Microsoft YaHei"/>
                <a:cs typeface="Microsoft YaHei"/>
              </a:rPr>
              <a:t>利用自有站址</a:t>
            </a:r>
            <a:r>
              <a:rPr dirty="0" sz="1200" spc="-25" b="1">
                <a:solidFill>
                  <a:srgbClr val="FFFFFF"/>
                </a:solidFill>
                <a:latin typeface="Microsoft YaHei"/>
                <a:cs typeface="Microsoft YaHei"/>
              </a:rPr>
              <a:t>资源</a:t>
            </a:r>
            <a:endParaRPr sz="1200">
              <a:latin typeface="Microsoft YaHei"/>
              <a:cs typeface="Microsoft YaHei"/>
            </a:endParaRPr>
          </a:p>
        </p:txBody>
      </p:sp>
      <p:sp>
        <p:nvSpPr>
          <p:cNvPr id="25" name="object 25" descr=""/>
          <p:cNvSpPr txBox="1"/>
          <p:nvPr/>
        </p:nvSpPr>
        <p:spPr>
          <a:xfrm>
            <a:off x="4749887" y="3873265"/>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spc="-15" b="1">
                <a:solidFill>
                  <a:srgbClr val="FFFFFF"/>
                </a:solidFill>
                <a:latin typeface="Microsoft YaHei"/>
                <a:cs typeface="Microsoft YaHei"/>
              </a:rPr>
              <a:t>新建杆塔</a:t>
            </a:r>
            <a:endParaRPr sz="1200">
              <a:latin typeface="Microsoft YaHei"/>
              <a:cs typeface="Microsoft YaHei"/>
            </a:endParaRPr>
          </a:p>
        </p:txBody>
      </p:sp>
      <p:sp>
        <p:nvSpPr>
          <p:cNvPr id="26" name="object 26" descr=""/>
          <p:cNvSpPr txBox="1"/>
          <p:nvPr/>
        </p:nvSpPr>
        <p:spPr>
          <a:xfrm>
            <a:off x="1952698" y="2406905"/>
            <a:ext cx="20828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Microsoft YaHei"/>
                <a:cs typeface="Microsoft YaHei"/>
              </a:rPr>
              <a:t>主要常见的建设方式</a:t>
            </a:r>
            <a:endParaRPr sz="1800">
              <a:latin typeface="Microsoft YaHei"/>
              <a:cs typeface="Microsoft YaHei"/>
            </a:endParaRPr>
          </a:p>
        </p:txBody>
      </p:sp>
      <p:grpSp>
        <p:nvGrpSpPr>
          <p:cNvPr id="27" name="object 27"/>
          <p:cNvGrpSpPr/>
          <p:nvPr/>
        </p:nvGrpSpPr>
        <p:grpSpPr>
          <a:xfrm>
            <a:off x="930402" y="4152900"/>
            <a:ext cx="4083050" cy="635635"/>
            <a:chOff x="930402" y="4152900"/>
            <a:chExt cx="4083050" cy="635635"/>
          </a:xfrm>
        </p:grpSpPr>
        <p:pic>
          <p:nvPicPr>
            <p:cNvPr id="28" name="object 28"/>
            <p:cNvPicPr/>
            <p:nvPr/>
          </p:nvPicPr>
          <p:blipFill>
            <a:blip r:embed="rId12" cstate="print"/>
            <a:stretch>
              <a:fillRect/>
            </a:stretch>
          </p:blipFill>
          <p:spPr>
            <a:xfrm>
              <a:off x="930402" y="4153661"/>
              <a:ext cx="4082794" cy="634745"/>
            </a:xfrm>
            <a:prstGeom prst="rect">
              <a:avLst/>
            </a:prstGeom>
          </p:spPr>
        </p:pic>
        <p:sp>
          <p:nvSpPr>
            <p:cNvPr id="29" name="object 29" descr=""/>
            <p:cNvSpPr/>
            <p:nvPr/>
          </p:nvSpPr>
          <p:spPr>
            <a:xfrm>
              <a:off x="990600" y="4171950"/>
              <a:ext cx="3962400" cy="533400"/>
            </a:xfrm>
            <a:custGeom>
              <a:avLst/>
              <a:gdLst/>
              <a:ahLst/>
              <a:cxnLst/>
              <a:rect l="l" t="t" r="r" b="b"/>
              <a:pathLst>
                <a:path w="3962400" h="533400">
                  <a:moveTo>
                    <a:pt x="2037537" y="266700"/>
                  </a:moveTo>
                  <a:lnTo>
                    <a:pt x="1948637" y="266700"/>
                  </a:lnTo>
                  <a:lnTo>
                    <a:pt x="1960453" y="276226"/>
                  </a:lnTo>
                  <a:lnTo>
                    <a:pt x="1971071" y="303112"/>
                  </a:lnTo>
                  <a:lnTo>
                    <a:pt x="1980068" y="344814"/>
                  </a:lnTo>
                  <a:lnTo>
                    <a:pt x="1987018" y="398791"/>
                  </a:lnTo>
                  <a:lnTo>
                    <a:pt x="1991499" y="462500"/>
                  </a:lnTo>
                  <a:lnTo>
                    <a:pt x="1993087" y="533400"/>
                  </a:lnTo>
                  <a:lnTo>
                    <a:pt x="1994674" y="462500"/>
                  </a:lnTo>
                  <a:lnTo>
                    <a:pt x="1999155" y="398791"/>
                  </a:lnTo>
                  <a:lnTo>
                    <a:pt x="2006106" y="344814"/>
                  </a:lnTo>
                  <a:lnTo>
                    <a:pt x="2015102" y="303112"/>
                  </a:lnTo>
                  <a:lnTo>
                    <a:pt x="2025720" y="276226"/>
                  </a:lnTo>
                  <a:lnTo>
                    <a:pt x="2037537" y="266700"/>
                  </a:lnTo>
                  <a:close/>
                </a:path>
                <a:path w="3962400" h="533400">
                  <a:moveTo>
                    <a:pt x="3962400" y="0"/>
                  </a:moveTo>
                  <a:lnTo>
                    <a:pt x="0" y="0"/>
                  </a:lnTo>
                  <a:lnTo>
                    <a:pt x="1587" y="70899"/>
                  </a:lnTo>
                  <a:lnTo>
                    <a:pt x="6068" y="134608"/>
                  </a:lnTo>
                  <a:lnTo>
                    <a:pt x="13019" y="188585"/>
                  </a:lnTo>
                  <a:lnTo>
                    <a:pt x="22015" y="230287"/>
                  </a:lnTo>
                  <a:lnTo>
                    <a:pt x="44450" y="266700"/>
                  </a:lnTo>
                  <a:lnTo>
                    <a:pt x="3917950" y="266700"/>
                  </a:lnTo>
                  <a:lnTo>
                    <a:pt x="3940384" y="230287"/>
                  </a:lnTo>
                  <a:lnTo>
                    <a:pt x="3949380" y="188585"/>
                  </a:lnTo>
                  <a:lnTo>
                    <a:pt x="3956331" y="134608"/>
                  </a:lnTo>
                  <a:lnTo>
                    <a:pt x="3960812" y="70899"/>
                  </a:lnTo>
                  <a:lnTo>
                    <a:pt x="3962400" y="0"/>
                  </a:lnTo>
                  <a:close/>
                </a:path>
              </a:pathLst>
            </a:custGeom>
            <a:solidFill>
              <a:srgbClr val="FFFFFF"/>
            </a:solidFill>
          </p:spPr>
          <p:txBody>
            <a:bodyPr wrap="square" lIns="0" tIns="0" rIns="0" bIns="0" rtlCol="0"/>
            <a:lstStyle/>
            <a:p/>
          </p:txBody>
        </p:sp>
        <p:sp>
          <p:nvSpPr>
            <p:cNvPr id="30" name="object 30" descr=""/>
            <p:cNvSpPr/>
            <p:nvPr/>
          </p:nvSpPr>
          <p:spPr>
            <a:xfrm>
              <a:off x="990600" y="4171950"/>
              <a:ext cx="3962400" cy="533400"/>
            </a:xfrm>
            <a:custGeom>
              <a:avLst/>
              <a:gdLst/>
              <a:ahLst/>
              <a:cxnLst/>
              <a:rect l="l" t="t" r="r" b="b"/>
              <a:pathLst>
                <a:path w="3962400" h="533400">
                  <a:moveTo>
                    <a:pt x="3962400" y="0"/>
                  </a:moveTo>
                  <a:lnTo>
                    <a:pt x="3960812" y="70899"/>
                  </a:lnTo>
                  <a:lnTo>
                    <a:pt x="3956331" y="134608"/>
                  </a:lnTo>
                  <a:lnTo>
                    <a:pt x="3949380" y="188585"/>
                  </a:lnTo>
                  <a:lnTo>
                    <a:pt x="3940384" y="230287"/>
                  </a:lnTo>
                  <a:lnTo>
                    <a:pt x="3917950" y="266700"/>
                  </a:lnTo>
                  <a:lnTo>
                    <a:pt x="2037537" y="266700"/>
                  </a:lnTo>
                  <a:lnTo>
                    <a:pt x="2025720" y="276226"/>
                  </a:lnTo>
                  <a:lnTo>
                    <a:pt x="2015102" y="303112"/>
                  </a:lnTo>
                  <a:lnTo>
                    <a:pt x="2006106" y="344814"/>
                  </a:lnTo>
                  <a:lnTo>
                    <a:pt x="1999155" y="398791"/>
                  </a:lnTo>
                  <a:lnTo>
                    <a:pt x="1994674" y="462500"/>
                  </a:lnTo>
                  <a:lnTo>
                    <a:pt x="1993087" y="533400"/>
                  </a:lnTo>
                  <a:lnTo>
                    <a:pt x="1991499" y="462500"/>
                  </a:lnTo>
                  <a:lnTo>
                    <a:pt x="1987018" y="398791"/>
                  </a:lnTo>
                  <a:lnTo>
                    <a:pt x="1980068" y="344814"/>
                  </a:lnTo>
                  <a:lnTo>
                    <a:pt x="1971071" y="303112"/>
                  </a:lnTo>
                  <a:lnTo>
                    <a:pt x="1948637" y="266700"/>
                  </a:lnTo>
                  <a:lnTo>
                    <a:pt x="44450" y="266700"/>
                  </a:lnTo>
                  <a:lnTo>
                    <a:pt x="32633" y="257173"/>
                  </a:lnTo>
                  <a:lnTo>
                    <a:pt x="22015" y="230287"/>
                  </a:lnTo>
                  <a:lnTo>
                    <a:pt x="13019" y="188585"/>
                  </a:lnTo>
                  <a:lnTo>
                    <a:pt x="6068" y="134608"/>
                  </a:lnTo>
                  <a:lnTo>
                    <a:pt x="1587" y="70899"/>
                  </a:lnTo>
                  <a:lnTo>
                    <a:pt x="0" y="0"/>
                  </a:lnTo>
                </a:path>
              </a:pathLst>
            </a:custGeom>
            <a:ln w="38100">
              <a:solidFill>
                <a:srgbClr val="FF0000"/>
              </a:solidFill>
            </a:ln>
          </p:spPr>
          <p:txBody>
            <a:bodyPr wrap="square" lIns="0" tIns="0" rIns="0" bIns="0" rtlCol="0"/>
            <a:lstStyle/>
            <a:p/>
          </p:txBody>
        </p:sp>
      </p:grpSp>
      <p:sp>
        <p:nvSpPr>
          <p:cNvPr id="31" name="object 31" descr=""/>
          <p:cNvSpPr txBox="1"/>
          <p:nvPr/>
        </p:nvSpPr>
        <p:spPr>
          <a:xfrm>
            <a:off x="1688548" y="4720044"/>
            <a:ext cx="2669540" cy="269875"/>
          </a:xfrm>
          <a:prstGeom prst="rect">
            <a:avLst/>
          </a:prstGeom>
        </p:spPr>
        <p:txBody>
          <a:bodyPr wrap="square" lIns="0" tIns="12700" rIns="0" bIns="0" rtlCol="0" vert="horz">
            <a:spAutoFit/>
          </a:bodyPr>
          <a:lstStyle/>
          <a:p>
            <a:pPr marL="12700">
              <a:lnSpc>
                <a:spcPct val="100000"/>
              </a:lnSpc>
              <a:spcBef>
                <a:spcPts val="100"/>
              </a:spcBef>
            </a:pPr>
            <a:r>
              <a:rPr dirty="0" sz="1600" spc="-10" b="1">
                <a:solidFill>
                  <a:srgbClr val="FF0000"/>
                </a:solidFill>
                <a:latin typeface="Microsoft YaHei"/>
                <a:cs typeface="Microsoft YaHei"/>
              </a:rPr>
              <a:t>利旧社会资源与新建杆塔协同</a:t>
            </a:r>
            <a:endParaRPr sz="1600">
              <a:latin typeface="Microsoft YaHei"/>
              <a:cs typeface="Microsoft YaHei"/>
            </a:endParaRPr>
          </a:p>
        </p:txBody>
      </p:sp>
      <p:grpSp>
        <p:nvGrpSpPr>
          <p:cNvPr id="32" name="object 32" descr=""/>
          <p:cNvGrpSpPr/>
          <p:nvPr/>
        </p:nvGrpSpPr>
        <p:grpSpPr>
          <a:xfrm>
            <a:off x="5710252" y="1961032"/>
            <a:ext cx="3049270" cy="3023235"/>
            <a:chOff x="5710252" y="1961032"/>
            <a:chExt cx="3049270" cy="3023235"/>
          </a:xfrm>
        </p:grpSpPr>
        <p:sp>
          <p:nvSpPr>
            <p:cNvPr id="33" name="object 33" descr=""/>
            <p:cNvSpPr/>
            <p:nvPr/>
          </p:nvSpPr>
          <p:spPr>
            <a:xfrm>
              <a:off x="5719777" y="1961032"/>
              <a:ext cx="0" cy="3023235"/>
            </a:xfrm>
            <a:custGeom>
              <a:avLst/>
              <a:gdLst/>
              <a:ahLst/>
              <a:cxnLst/>
              <a:rect l="l" t="t" r="r" b="b"/>
              <a:pathLst>
                <a:path w="0" h="3023235">
                  <a:moveTo>
                    <a:pt x="0" y="0"/>
                  </a:moveTo>
                  <a:lnTo>
                    <a:pt x="0" y="3022981"/>
                  </a:lnTo>
                </a:path>
              </a:pathLst>
            </a:custGeom>
            <a:ln w="19050">
              <a:solidFill>
                <a:srgbClr val="979797"/>
              </a:solidFill>
              <a:prstDash val="sysDash"/>
            </a:ln>
          </p:spPr>
          <p:txBody>
            <a:bodyPr wrap="square" lIns="0" tIns="0" rIns="0" bIns="0" rtlCol="0"/>
            <a:lstStyle/>
            <a:p/>
          </p:txBody>
        </p:sp>
        <p:sp>
          <p:nvSpPr>
            <p:cNvPr id="34" name="object 34" descr=""/>
            <p:cNvSpPr/>
            <p:nvPr/>
          </p:nvSpPr>
          <p:spPr>
            <a:xfrm>
              <a:off x="6737088" y="2278316"/>
              <a:ext cx="1112520" cy="556260"/>
            </a:xfrm>
            <a:custGeom>
              <a:avLst/>
              <a:gdLst/>
              <a:ahLst/>
              <a:cxnLst/>
              <a:rect l="l" t="t" r="r" b="b"/>
              <a:pathLst>
                <a:path w="1112520" h="556260">
                  <a:moveTo>
                    <a:pt x="1019505" y="0"/>
                  </a:moveTo>
                  <a:lnTo>
                    <a:pt x="92684" y="0"/>
                  </a:lnTo>
                  <a:lnTo>
                    <a:pt x="56605" y="7282"/>
                  </a:lnTo>
                  <a:lnTo>
                    <a:pt x="27144" y="27143"/>
                  </a:lnTo>
                  <a:lnTo>
                    <a:pt x="7282" y="56599"/>
                  </a:lnTo>
                  <a:lnTo>
                    <a:pt x="0" y="92671"/>
                  </a:lnTo>
                  <a:lnTo>
                    <a:pt x="0" y="463346"/>
                  </a:lnTo>
                  <a:lnTo>
                    <a:pt x="7282" y="499418"/>
                  </a:lnTo>
                  <a:lnTo>
                    <a:pt x="27144" y="528875"/>
                  </a:lnTo>
                  <a:lnTo>
                    <a:pt x="56605" y="548736"/>
                  </a:lnTo>
                  <a:lnTo>
                    <a:pt x="92684" y="556018"/>
                  </a:lnTo>
                  <a:lnTo>
                    <a:pt x="1019505" y="556018"/>
                  </a:lnTo>
                  <a:lnTo>
                    <a:pt x="1055579" y="548736"/>
                  </a:lnTo>
                  <a:lnTo>
                    <a:pt x="1085040" y="528875"/>
                  </a:lnTo>
                  <a:lnTo>
                    <a:pt x="1104905" y="499418"/>
                  </a:lnTo>
                  <a:lnTo>
                    <a:pt x="1112189" y="463346"/>
                  </a:lnTo>
                  <a:lnTo>
                    <a:pt x="1112189" y="431914"/>
                  </a:lnTo>
                  <a:lnTo>
                    <a:pt x="182257" y="431914"/>
                  </a:lnTo>
                  <a:lnTo>
                    <a:pt x="159818" y="427384"/>
                  </a:lnTo>
                  <a:lnTo>
                    <a:pt x="141495" y="415032"/>
                  </a:lnTo>
                  <a:lnTo>
                    <a:pt x="129142" y="396713"/>
                  </a:lnTo>
                  <a:lnTo>
                    <a:pt x="124612" y="374281"/>
                  </a:lnTo>
                  <a:lnTo>
                    <a:pt x="124612" y="183870"/>
                  </a:lnTo>
                  <a:lnTo>
                    <a:pt x="129142" y="161438"/>
                  </a:lnTo>
                  <a:lnTo>
                    <a:pt x="141495" y="143119"/>
                  </a:lnTo>
                  <a:lnTo>
                    <a:pt x="159818" y="130767"/>
                  </a:lnTo>
                  <a:lnTo>
                    <a:pt x="182257" y="126237"/>
                  </a:lnTo>
                  <a:lnTo>
                    <a:pt x="1112189" y="126237"/>
                  </a:lnTo>
                  <a:lnTo>
                    <a:pt x="1112189" y="92671"/>
                  </a:lnTo>
                  <a:lnTo>
                    <a:pt x="1104905" y="56599"/>
                  </a:lnTo>
                  <a:lnTo>
                    <a:pt x="1085040" y="27143"/>
                  </a:lnTo>
                  <a:lnTo>
                    <a:pt x="1055579" y="7282"/>
                  </a:lnTo>
                  <a:lnTo>
                    <a:pt x="1019505" y="0"/>
                  </a:lnTo>
                  <a:close/>
                </a:path>
                <a:path w="1112520" h="556260">
                  <a:moveTo>
                    <a:pt x="1112189" y="126237"/>
                  </a:moveTo>
                  <a:lnTo>
                    <a:pt x="922921" y="126237"/>
                  </a:lnTo>
                  <a:lnTo>
                    <a:pt x="945360" y="130767"/>
                  </a:lnTo>
                  <a:lnTo>
                    <a:pt x="963683" y="143119"/>
                  </a:lnTo>
                  <a:lnTo>
                    <a:pt x="976037" y="161438"/>
                  </a:lnTo>
                  <a:lnTo>
                    <a:pt x="980567" y="183870"/>
                  </a:lnTo>
                  <a:lnTo>
                    <a:pt x="980567" y="374281"/>
                  </a:lnTo>
                  <a:lnTo>
                    <a:pt x="976037" y="396713"/>
                  </a:lnTo>
                  <a:lnTo>
                    <a:pt x="963683" y="415032"/>
                  </a:lnTo>
                  <a:lnTo>
                    <a:pt x="945360" y="427384"/>
                  </a:lnTo>
                  <a:lnTo>
                    <a:pt x="922921" y="431914"/>
                  </a:lnTo>
                  <a:lnTo>
                    <a:pt x="1112189" y="431914"/>
                  </a:lnTo>
                  <a:lnTo>
                    <a:pt x="1112189" y="126237"/>
                  </a:lnTo>
                  <a:close/>
                </a:path>
              </a:pathLst>
            </a:custGeom>
            <a:solidFill>
              <a:srgbClr val="DC3D2A"/>
            </a:solidFill>
          </p:spPr>
          <p:txBody>
            <a:bodyPr wrap="square" lIns="0" tIns="0" rIns="0" bIns="0" rtlCol="0"/>
            <a:lstStyle/>
            <a:p/>
          </p:txBody>
        </p:sp>
        <p:sp>
          <p:nvSpPr>
            <p:cNvPr id="35" name="object 35" descr=""/>
            <p:cNvSpPr/>
            <p:nvPr/>
          </p:nvSpPr>
          <p:spPr>
            <a:xfrm>
              <a:off x="5777996" y="4015333"/>
              <a:ext cx="1111250" cy="556260"/>
            </a:xfrm>
            <a:custGeom>
              <a:avLst/>
              <a:gdLst/>
              <a:ahLst/>
              <a:cxnLst/>
              <a:rect l="l" t="t" r="r" b="b"/>
              <a:pathLst>
                <a:path w="1111250" h="556260">
                  <a:moveTo>
                    <a:pt x="1018413" y="0"/>
                  </a:moveTo>
                  <a:lnTo>
                    <a:pt x="92583" y="0"/>
                  </a:lnTo>
                  <a:lnTo>
                    <a:pt x="56546" y="7282"/>
                  </a:lnTo>
                  <a:lnTo>
                    <a:pt x="27117" y="27143"/>
                  </a:lnTo>
                  <a:lnTo>
                    <a:pt x="7275" y="56599"/>
                  </a:lnTo>
                  <a:lnTo>
                    <a:pt x="0" y="92671"/>
                  </a:lnTo>
                  <a:lnTo>
                    <a:pt x="0" y="463346"/>
                  </a:lnTo>
                  <a:lnTo>
                    <a:pt x="7275" y="499418"/>
                  </a:lnTo>
                  <a:lnTo>
                    <a:pt x="27117" y="528875"/>
                  </a:lnTo>
                  <a:lnTo>
                    <a:pt x="56546" y="548736"/>
                  </a:lnTo>
                  <a:lnTo>
                    <a:pt x="92583" y="556018"/>
                  </a:lnTo>
                  <a:lnTo>
                    <a:pt x="1018413" y="556018"/>
                  </a:lnTo>
                  <a:lnTo>
                    <a:pt x="1054449" y="548736"/>
                  </a:lnTo>
                  <a:lnTo>
                    <a:pt x="1083878" y="528875"/>
                  </a:lnTo>
                  <a:lnTo>
                    <a:pt x="1103720" y="499418"/>
                  </a:lnTo>
                  <a:lnTo>
                    <a:pt x="1110996" y="463346"/>
                  </a:lnTo>
                  <a:lnTo>
                    <a:pt x="1110996" y="431914"/>
                  </a:lnTo>
                  <a:lnTo>
                    <a:pt x="189052" y="431914"/>
                  </a:lnTo>
                  <a:lnTo>
                    <a:pt x="166639" y="427384"/>
                  </a:lnTo>
                  <a:lnTo>
                    <a:pt x="148336" y="415032"/>
                  </a:lnTo>
                  <a:lnTo>
                    <a:pt x="135995" y="396713"/>
                  </a:lnTo>
                  <a:lnTo>
                    <a:pt x="131470" y="374281"/>
                  </a:lnTo>
                  <a:lnTo>
                    <a:pt x="131470" y="183870"/>
                  </a:lnTo>
                  <a:lnTo>
                    <a:pt x="135995" y="161438"/>
                  </a:lnTo>
                  <a:lnTo>
                    <a:pt x="148336" y="143119"/>
                  </a:lnTo>
                  <a:lnTo>
                    <a:pt x="166639" y="130767"/>
                  </a:lnTo>
                  <a:lnTo>
                    <a:pt x="189052" y="126237"/>
                  </a:lnTo>
                  <a:lnTo>
                    <a:pt x="1110996" y="126237"/>
                  </a:lnTo>
                  <a:lnTo>
                    <a:pt x="1110996" y="92671"/>
                  </a:lnTo>
                  <a:lnTo>
                    <a:pt x="1103720" y="56599"/>
                  </a:lnTo>
                  <a:lnTo>
                    <a:pt x="1083878" y="27143"/>
                  </a:lnTo>
                  <a:lnTo>
                    <a:pt x="1054449" y="7282"/>
                  </a:lnTo>
                  <a:lnTo>
                    <a:pt x="1018413" y="0"/>
                  </a:lnTo>
                  <a:close/>
                </a:path>
                <a:path w="1111250" h="556260">
                  <a:moveTo>
                    <a:pt x="1110996" y="126237"/>
                  </a:moveTo>
                  <a:lnTo>
                    <a:pt x="928928" y="126237"/>
                  </a:lnTo>
                  <a:lnTo>
                    <a:pt x="951341" y="130767"/>
                  </a:lnTo>
                  <a:lnTo>
                    <a:pt x="969645" y="143119"/>
                  </a:lnTo>
                  <a:lnTo>
                    <a:pt x="981985" y="161438"/>
                  </a:lnTo>
                  <a:lnTo>
                    <a:pt x="986510" y="183870"/>
                  </a:lnTo>
                  <a:lnTo>
                    <a:pt x="986510" y="374281"/>
                  </a:lnTo>
                  <a:lnTo>
                    <a:pt x="981985" y="396713"/>
                  </a:lnTo>
                  <a:lnTo>
                    <a:pt x="969645" y="415032"/>
                  </a:lnTo>
                  <a:lnTo>
                    <a:pt x="951341" y="427384"/>
                  </a:lnTo>
                  <a:lnTo>
                    <a:pt x="928928" y="431914"/>
                  </a:lnTo>
                  <a:lnTo>
                    <a:pt x="1110996" y="431914"/>
                  </a:lnTo>
                  <a:lnTo>
                    <a:pt x="1110996" y="126237"/>
                  </a:lnTo>
                  <a:close/>
                </a:path>
              </a:pathLst>
            </a:custGeom>
            <a:solidFill>
              <a:srgbClr val="DCC12A"/>
            </a:solidFill>
          </p:spPr>
          <p:txBody>
            <a:bodyPr wrap="square" lIns="0" tIns="0" rIns="0" bIns="0" rtlCol="0"/>
            <a:lstStyle/>
            <a:p/>
          </p:txBody>
        </p:sp>
        <p:sp>
          <p:nvSpPr>
            <p:cNvPr id="36" name="object 36" descr=""/>
            <p:cNvSpPr/>
            <p:nvPr/>
          </p:nvSpPr>
          <p:spPr>
            <a:xfrm>
              <a:off x="7646775" y="4026395"/>
              <a:ext cx="1112520" cy="556260"/>
            </a:xfrm>
            <a:custGeom>
              <a:avLst/>
              <a:gdLst/>
              <a:ahLst/>
              <a:cxnLst/>
              <a:rect l="l" t="t" r="r" b="b"/>
              <a:pathLst>
                <a:path w="1112520" h="556260">
                  <a:moveTo>
                    <a:pt x="1019505" y="0"/>
                  </a:moveTo>
                  <a:lnTo>
                    <a:pt x="92684" y="0"/>
                  </a:lnTo>
                  <a:lnTo>
                    <a:pt x="56605" y="7282"/>
                  </a:lnTo>
                  <a:lnTo>
                    <a:pt x="27144" y="27143"/>
                  </a:lnTo>
                  <a:lnTo>
                    <a:pt x="7282" y="56599"/>
                  </a:lnTo>
                  <a:lnTo>
                    <a:pt x="0" y="92671"/>
                  </a:lnTo>
                  <a:lnTo>
                    <a:pt x="0" y="463346"/>
                  </a:lnTo>
                  <a:lnTo>
                    <a:pt x="7282" y="499418"/>
                  </a:lnTo>
                  <a:lnTo>
                    <a:pt x="27144" y="528875"/>
                  </a:lnTo>
                  <a:lnTo>
                    <a:pt x="56605" y="548736"/>
                  </a:lnTo>
                  <a:lnTo>
                    <a:pt x="92684" y="556018"/>
                  </a:lnTo>
                  <a:lnTo>
                    <a:pt x="1019505" y="556018"/>
                  </a:lnTo>
                  <a:lnTo>
                    <a:pt x="1055579" y="548736"/>
                  </a:lnTo>
                  <a:lnTo>
                    <a:pt x="1085040" y="528875"/>
                  </a:lnTo>
                  <a:lnTo>
                    <a:pt x="1104905" y="499418"/>
                  </a:lnTo>
                  <a:lnTo>
                    <a:pt x="1112189" y="463346"/>
                  </a:lnTo>
                  <a:lnTo>
                    <a:pt x="1112189" y="431914"/>
                  </a:lnTo>
                  <a:lnTo>
                    <a:pt x="182257" y="431914"/>
                  </a:lnTo>
                  <a:lnTo>
                    <a:pt x="159818" y="427384"/>
                  </a:lnTo>
                  <a:lnTo>
                    <a:pt x="141495" y="415032"/>
                  </a:lnTo>
                  <a:lnTo>
                    <a:pt x="129142" y="396713"/>
                  </a:lnTo>
                  <a:lnTo>
                    <a:pt x="124612" y="374281"/>
                  </a:lnTo>
                  <a:lnTo>
                    <a:pt x="124612" y="183870"/>
                  </a:lnTo>
                  <a:lnTo>
                    <a:pt x="129142" y="161438"/>
                  </a:lnTo>
                  <a:lnTo>
                    <a:pt x="141495" y="143119"/>
                  </a:lnTo>
                  <a:lnTo>
                    <a:pt x="159818" y="130767"/>
                  </a:lnTo>
                  <a:lnTo>
                    <a:pt x="182257" y="126238"/>
                  </a:lnTo>
                  <a:lnTo>
                    <a:pt x="1112189" y="126238"/>
                  </a:lnTo>
                  <a:lnTo>
                    <a:pt x="1112189" y="92671"/>
                  </a:lnTo>
                  <a:lnTo>
                    <a:pt x="1104905" y="56599"/>
                  </a:lnTo>
                  <a:lnTo>
                    <a:pt x="1085040" y="27143"/>
                  </a:lnTo>
                  <a:lnTo>
                    <a:pt x="1055579" y="7282"/>
                  </a:lnTo>
                  <a:lnTo>
                    <a:pt x="1019505" y="0"/>
                  </a:lnTo>
                  <a:close/>
                </a:path>
                <a:path w="1112520" h="556260">
                  <a:moveTo>
                    <a:pt x="1112189" y="126238"/>
                  </a:moveTo>
                  <a:lnTo>
                    <a:pt x="922921" y="126238"/>
                  </a:lnTo>
                  <a:lnTo>
                    <a:pt x="945360" y="130767"/>
                  </a:lnTo>
                  <a:lnTo>
                    <a:pt x="963683" y="143119"/>
                  </a:lnTo>
                  <a:lnTo>
                    <a:pt x="976037" y="161438"/>
                  </a:lnTo>
                  <a:lnTo>
                    <a:pt x="980567" y="183870"/>
                  </a:lnTo>
                  <a:lnTo>
                    <a:pt x="980567" y="374281"/>
                  </a:lnTo>
                  <a:lnTo>
                    <a:pt x="976037" y="396713"/>
                  </a:lnTo>
                  <a:lnTo>
                    <a:pt x="963683" y="415032"/>
                  </a:lnTo>
                  <a:lnTo>
                    <a:pt x="945360" y="427384"/>
                  </a:lnTo>
                  <a:lnTo>
                    <a:pt x="922921" y="431914"/>
                  </a:lnTo>
                  <a:lnTo>
                    <a:pt x="1112189" y="431914"/>
                  </a:lnTo>
                  <a:lnTo>
                    <a:pt x="1112189" y="126238"/>
                  </a:lnTo>
                  <a:close/>
                </a:path>
              </a:pathLst>
            </a:custGeom>
            <a:solidFill>
              <a:srgbClr val="4FA331"/>
            </a:solidFill>
          </p:spPr>
          <p:txBody>
            <a:bodyPr wrap="square" lIns="0" tIns="0" rIns="0" bIns="0" rtlCol="0"/>
            <a:lstStyle/>
            <a:p/>
          </p:txBody>
        </p:sp>
      </p:grpSp>
      <p:sp>
        <p:nvSpPr>
          <p:cNvPr id="37" name="object 37" descr=""/>
          <p:cNvSpPr txBox="1"/>
          <p:nvPr/>
        </p:nvSpPr>
        <p:spPr>
          <a:xfrm>
            <a:off x="6223292" y="1913226"/>
            <a:ext cx="1978660" cy="870585"/>
          </a:xfrm>
          <a:prstGeom prst="rect">
            <a:avLst/>
          </a:prstGeom>
        </p:spPr>
        <p:txBody>
          <a:bodyPr wrap="square" lIns="0" tIns="110490" rIns="0" bIns="0" rtlCol="0" vert="horz">
            <a:spAutoFit/>
          </a:bodyPr>
          <a:lstStyle/>
          <a:p>
            <a:pPr marL="12700">
              <a:lnSpc>
                <a:spcPct val="100000"/>
              </a:lnSpc>
              <a:spcBef>
                <a:spcPts val="870"/>
              </a:spcBef>
            </a:pPr>
            <a:r>
              <a:rPr dirty="0" sz="1400" spc="-25">
                <a:solidFill>
                  <a:srgbClr val="1EA185"/>
                </a:solidFill>
                <a:latin typeface="Microsoft YaHei"/>
                <a:cs typeface="Microsoft YaHei"/>
              </a:rPr>
              <a:t>杆体复核：符合承重要求</a:t>
            </a:r>
            <a:endParaRPr sz="1400">
              <a:latin typeface="Microsoft YaHei"/>
              <a:cs typeface="Microsoft YaHei"/>
            </a:endParaRPr>
          </a:p>
          <a:p>
            <a:pPr algn="ctr" marL="173990">
              <a:lnSpc>
                <a:spcPct val="100000"/>
              </a:lnSpc>
              <a:spcBef>
                <a:spcPts val="1320"/>
              </a:spcBef>
            </a:pPr>
            <a:r>
              <a:rPr dirty="0" sz="2400" spc="220">
                <a:solidFill>
                  <a:srgbClr val="DC3D2A"/>
                </a:solidFill>
                <a:latin typeface="Microsoft Sans Serif"/>
                <a:cs typeface="Microsoft Sans Serif"/>
              </a:rPr>
              <a:t>A</a:t>
            </a:r>
            <a:endParaRPr sz="2400">
              <a:latin typeface="Microsoft Sans Serif"/>
              <a:cs typeface="Microsoft Sans Serif"/>
            </a:endParaRPr>
          </a:p>
        </p:txBody>
      </p:sp>
      <p:sp>
        <p:nvSpPr>
          <p:cNvPr id="38" name="object 38" descr=""/>
          <p:cNvSpPr txBox="1"/>
          <p:nvPr/>
        </p:nvSpPr>
        <p:spPr>
          <a:xfrm>
            <a:off x="5782267" y="4135851"/>
            <a:ext cx="3296920" cy="823594"/>
          </a:xfrm>
          <a:prstGeom prst="rect">
            <a:avLst/>
          </a:prstGeom>
        </p:spPr>
        <p:txBody>
          <a:bodyPr wrap="square" lIns="0" tIns="12700" rIns="0" bIns="0" rtlCol="0" vert="horz">
            <a:spAutoFit/>
          </a:bodyPr>
          <a:lstStyle/>
          <a:p>
            <a:pPr marL="460375">
              <a:lnSpc>
                <a:spcPct val="100000"/>
              </a:lnSpc>
              <a:spcBef>
                <a:spcPts val="100"/>
              </a:spcBef>
              <a:tabLst>
                <a:tab pos="2359025" algn="l"/>
              </a:tabLst>
            </a:pPr>
            <a:r>
              <a:rPr dirty="0" baseline="1157" sz="3600" spc="89">
                <a:solidFill>
                  <a:srgbClr val="DCC12A"/>
                </a:solidFill>
                <a:latin typeface="Microsoft Sans Serif"/>
                <a:cs typeface="Microsoft Sans Serif"/>
              </a:rPr>
              <a:t>B</a:t>
            </a:r>
            <a:r>
              <a:rPr dirty="0" baseline="1157" sz="3600">
                <a:solidFill>
                  <a:srgbClr val="DCC12A"/>
                </a:solidFill>
                <a:latin typeface="Microsoft Sans Serif"/>
                <a:cs typeface="Microsoft Sans Serif"/>
              </a:rPr>
              <a:t>	</a:t>
            </a:r>
            <a:r>
              <a:rPr dirty="0" sz="2400" spc="-50">
                <a:solidFill>
                  <a:srgbClr val="4FA331"/>
                </a:solidFill>
                <a:latin typeface="Microsoft Sans Serif"/>
                <a:cs typeface="Microsoft Sans Serif"/>
              </a:rPr>
              <a:t>C</a:t>
            </a:r>
            <a:endParaRPr sz="2400">
              <a:latin typeface="Microsoft Sans Serif"/>
              <a:cs typeface="Microsoft Sans Serif"/>
            </a:endParaRPr>
          </a:p>
          <a:p>
            <a:pPr marL="12700">
              <a:lnSpc>
                <a:spcPct val="100000"/>
              </a:lnSpc>
              <a:spcBef>
                <a:spcPts val="1720"/>
              </a:spcBef>
            </a:pPr>
            <a:r>
              <a:rPr dirty="0" baseline="1984" sz="2100" spc="7" b="1">
                <a:solidFill>
                  <a:srgbClr val="809CA8"/>
                </a:solidFill>
                <a:latin typeface="Microsoft YaHei"/>
                <a:cs typeface="Microsoft YaHei"/>
              </a:rPr>
              <a:t>外电引入：取电方便 </a:t>
            </a:r>
            <a:r>
              <a:rPr dirty="0" sz="1400" spc="-25" b="1">
                <a:solidFill>
                  <a:srgbClr val="F29B26"/>
                </a:solidFill>
                <a:latin typeface="Microsoft YaHei"/>
                <a:cs typeface="Microsoft YaHei"/>
              </a:rPr>
              <a:t>配套建设：简洁高效</a:t>
            </a:r>
            <a:endParaRPr sz="1400">
              <a:latin typeface="Microsoft YaHei"/>
              <a:cs typeface="Microsoft YaHe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70688" y="866394"/>
            <a:ext cx="2120900" cy="313690"/>
            <a:chOff x="170688" y="866394"/>
            <a:chExt cx="2120900" cy="313690"/>
          </a:xfrm>
        </p:grpSpPr>
        <p:pic>
          <p:nvPicPr>
            <p:cNvPr id="3" name="object 3" descr=""/>
            <p:cNvPicPr/>
            <p:nvPr/>
          </p:nvPicPr>
          <p:blipFill>
            <a:blip r:embed="rId2" cstate="print"/>
            <a:stretch>
              <a:fillRect/>
            </a:stretch>
          </p:blipFill>
          <p:spPr>
            <a:xfrm>
              <a:off x="208788" y="874776"/>
              <a:ext cx="1993391" cy="304799"/>
            </a:xfrm>
            <a:prstGeom prst="rect">
              <a:avLst/>
            </a:prstGeom>
          </p:spPr>
        </p:pic>
        <p:pic>
          <p:nvPicPr>
            <p:cNvPr id="4" name="object 4" descr=""/>
            <p:cNvPicPr/>
            <p:nvPr/>
          </p:nvPicPr>
          <p:blipFill>
            <a:blip r:embed="rId3" cstate="print"/>
            <a:stretch>
              <a:fillRect/>
            </a:stretch>
          </p:blipFill>
          <p:spPr>
            <a:xfrm>
              <a:off x="170688" y="866394"/>
              <a:ext cx="2120645" cy="268223"/>
            </a:xfrm>
            <a:prstGeom prst="rect">
              <a:avLst/>
            </a:prstGeom>
          </p:spPr>
        </p:pic>
      </p:grpSp>
      <p:sp>
        <p:nvSpPr>
          <p:cNvPr id="5" name="object 5" descr=""/>
          <p:cNvSpPr txBox="1"/>
          <p:nvPr/>
        </p:nvSpPr>
        <p:spPr>
          <a:xfrm>
            <a:off x="158750" y="824496"/>
            <a:ext cx="1991995" cy="304165"/>
          </a:xfrm>
          <a:prstGeom prst="rect">
            <a:avLst/>
          </a:prstGeom>
          <a:solidFill>
            <a:srgbClr val="333399"/>
          </a:solidFill>
        </p:spPr>
        <p:txBody>
          <a:bodyPr wrap="square" lIns="0" tIns="38735" rIns="0" bIns="0" rtlCol="0" vert="horz">
            <a:spAutoFit/>
          </a:bodyPr>
          <a:lstStyle/>
          <a:p>
            <a:pPr marL="68580">
              <a:lnSpc>
                <a:spcPct val="100000"/>
              </a:lnSpc>
              <a:spcBef>
                <a:spcPts val="305"/>
              </a:spcBef>
            </a:pPr>
            <a:r>
              <a:rPr dirty="0" sz="1400" spc="-25" b="1">
                <a:solidFill>
                  <a:srgbClr val="FFFFFF"/>
                </a:solidFill>
                <a:latin typeface="Microsoft YaHei"/>
                <a:cs typeface="Microsoft YaHei"/>
              </a:rPr>
              <a:t>微站建设-获取社会资源</a:t>
            </a:r>
            <a:endParaRPr sz="1400">
              <a:latin typeface="Microsoft YaHei"/>
              <a:cs typeface="Microsoft YaHei"/>
            </a:endParaRPr>
          </a:p>
        </p:txBody>
      </p:sp>
      <p:sp>
        <p:nvSpPr>
          <p:cNvPr id="6" name="object 6"/>
          <p:cNvSpPr txBox="1">
            <a:spLocks noGrp="1"/>
          </p:cNvSpPr>
          <p:nvPr>
            <p:ph type="title"/>
          </p:nvPr>
        </p:nvSpPr>
        <p:spPr>
          <a:xfrm>
            <a:off x="3453193" y="177834"/>
            <a:ext cx="2467610" cy="513080"/>
          </a:xfrm>
          <a:prstGeom prst="rect"/>
        </p:spPr>
        <p:txBody>
          <a:bodyPr wrap="square" lIns="0" tIns="12065" rIns="0" bIns="0" rtlCol="0" vert="horz">
            <a:spAutoFit/>
          </a:bodyPr>
          <a:lstStyle/>
          <a:p>
            <a:pPr marL="12700">
              <a:lnSpc>
                <a:spcPct val="100000"/>
              </a:lnSpc>
              <a:spcBef>
                <a:spcPts val="95"/>
              </a:spcBef>
            </a:pPr>
            <a:r>
              <a:rPr dirty="0" spc="-40"/>
              <a:t>微站建设策略</a:t>
            </a:r>
          </a:p>
        </p:txBody>
      </p:sp>
      <p:sp>
        <p:nvSpPr>
          <p:cNvPr id="7" name="object 7" descr=""/>
          <p:cNvSpPr txBox="1"/>
          <p:nvPr/>
        </p:nvSpPr>
        <p:spPr>
          <a:xfrm>
            <a:off x="158750" y="1221600"/>
            <a:ext cx="8709660" cy="623570"/>
          </a:xfrm>
          <a:prstGeom prst="rect">
            <a:avLst/>
          </a:prstGeom>
          <a:solidFill>
            <a:srgbClr val="E7F3F4"/>
          </a:solidFill>
        </p:spPr>
        <p:txBody>
          <a:bodyPr wrap="square" lIns="0" tIns="87630" rIns="0" bIns="0" rtlCol="0" vert="horz">
            <a:spAutoFit/>
          </a:bodyPr>
          <a:lstStyle/>
          <a:p>
            <a:pPr marL="281940" indent="-213995">
              <a:lnSpc>
                <a:spcPct val="100000"/>
              </a:lnSpc>
              <a:spcBef>
                <a:spcPts val="690"/>
              </a:spcBef>
              <a:buFont typeface="Wingdings"/>
              <a:buChar char=""/>
              <a:tabLst>
                <a:tab pos="281940" algn="l"/>
              </a:tabLst>
            </a:pPr>
            <a:r>
              <a:rPr dirty="0" sz="1200" spc="-5">
                <a:solidFill>
                  <a:srgbClr val="3E3E3E"/>
                </a:solidFill>
                <a:latin typeface="Microsoft YaHei"/>
                <a:cs typeface="Microsoft YaHei"/>
              </a:rPr>
              <a:t>社会资源定义：指社会杆塔、公共建筑物以及公共用地，具备能批量获取、公有产权属性。</a:t>
            </a:r>
            <a:endParaRPr sz="1200">
              <a:latin typeface="Microsoft YaHei"/>
              <a:cs typeface="Microsoft YaHei"/>
            </a:endParaRPr>
          </a:p>
          <a:p>
            <a:pPr marL="281940" indent="-213995">
              <a:lnSpc>
                <a:spcPct val="100000"/>
              </a:lnSpc>
              <a:spcBef>
                <a:spcPts val="720"/>
              </a:spcBef>
              <a:buFont typeface="Wingdings"/>
              <a:buChar char=""/>
              <a:tabLst>
                <a:tab pos="281940" algn="l"/>
              </a:tabLst>
            </a:pPr>
            <a:r>
              <a:rPr dirty="0" sz="1200" spc="-5">
                <a:solidFill>
                  <a:srgbClr val="3E3E3E"/>
                </a:solidFill>
                <a:latin typeface="Microsoft YaHei"/>
                <a:cs typeface="Microsoft YaHei"/>
              </a:rPr>
              <a:t>通过社会资源利用，可以有效降低建设成本，难点在批量获取资源及协作。</a:t>
            </a:r>
            <a:endParaRPr sz="1200">
              <a:latin typeface="Microsoft YaHei"/>
              <a:cs typeface="Microsoft YaHei"/>
            </a:endParaRPr>
          </a:p>
        </p:txBody>
      </p:sp>
      <p:grpSp>
        <p:nvGrpSpPr>
          <p:cNvPr id="8" name="object 8" descr=""/>
          <p:cNvGrpSpPr/>
          <p:nvPr/>
        </p:nvGrpSpPr>
        <p:grpSpPr>
          <a:xfrm>
            <a:off x="133236" y="1961419"/>
            <a:ext cx="8312150" cy="2844165"/>
            <a:chOff x="133236" y="1961419"/>
            <a:chExt cx="8312150" cy="2844165"/>
          </a:xfrm>
        </p:grpSpPr>
        <p:pic>
          <p:nvPicPr>
            <p:cNvPr id="9" name="object 9"/>
            <p:cNvPicPr/>
            <p:nvPr/>
          </p:nvPicPr>
          <p:blipFill>
            <a:blip r:embed="rId4" cstate="print"/>
            <a:stretch>
              <a:fillRect/>
            </a:stretch>
          </p:blipFill>
          <p:spPr>
            <a:xfrm>
              <a:off x="133236" y="1961419"/>
              <a:ext cx="5256918" cy="2772563"/>
            </a:xfrm>
            <a:prstGeom prst="rect">
              <a:avLst/>
            </a:prstGeom>
          </p:spPr>
        </p:pic>
        <p:pic>
          <p:nvPicPr>
            <p:cNvPr id="10" name="object 10"/>
            <p:cNvPicPr/>
            <p:nvPr/>
          </p:nvPicPr>
          <p:blipFill>
            <a:blip r:embed="rId5" cstate="print"/>
            <a:stretch>
              <a:fillRect/>
            </a:stretch>
          </p:blipFill>
          <p:spPr>
            <a:xfrm>
              <a:off x="5652261" y="1975710"/>
              <a:ext cx="2792718" cy="2829373"/>
            </a:xfrm>
            <a:prstGeom prst="rect">
              <a:avLst/>
            </a:prstGeom>
          </p:spPr>
        </p:pic>
        <p:sp>
          <p:nvSpPr>
            <p:cNvPr id="11" name="object 11" descr=""/>
            <p:cNvSpPr/>
            <p:nvPr/>
          </p:nvSpPr>
          <p:spPr>
            <a:xfrm>
              <a:off x="5364086" y="1995690"/>
              <a:ext cx="504190" cy="576580"/>
            </a:xfrm>
            <a:custGeom>
              <a:avLst/>
              <a:gdLst/>
              <a:ahLst/>
              <a:cxnLst/>
              <a:rect l="l" t="t" r="r" b="b"/>
              <a:pathLst>
                <a:path w="504189" h="576580">
                  <a:moveTo>
                    <a:pt x="504050" y="0"/>
                  </a:moveTo>
                  <a:lnTo>
                    <a:pt x="0" y="0"/>
                  </a:lnTo>
                  <a:lnTo>
                    <a:pt x="0" y="576059"/>
                  </a:lnTo>
                  <a:lnTo>
                    <a:pt x="504050" y="576059"/>
                  </a:lnTo>
                  <a:lnTo>
                    <a:pt x="504050" y="0"/>
                  </a:lnTo>
                  <a:close/>
                </a:path>
              </a:pathLst>
            </a:custGeom>
            <a:solidFill>
              <a:srgbClr val="FFFFFF"/>
            </a:solidFill>
          </p:spPr>
          <p:txBody>
            <a:bodyPr wrap="square" lIns="0" tIns="0" rIns="0" bIns="0" rtlCol="0"/>
            <a:lstStyle/>
            <a:p/>
          </p:txBody>
        </p:sp>
        <p:sp>
          <p:nvSpPr>
            <p:cNvPr id="12" name="object 12" descr=""/>
            <p:cNvSpPr/>
            <p:nvPr/>
          </p:nvSpPr>
          <p:spPr>
            <a:xfrm>
              <a:off x="5364086" y="1995690"/>
              <a:ext cx="504190" cy="576580"/>
            </a:xfrm>
            <a:custGeom>
              <a:avLst/>
              <a:gdLst/>
              <a:ahLst/>
              <a:cxnLst/>
              <a:rect l="l" t="t" r="r" b="b"/>
              <a:pathLst>
                <a:path w="504189" h="576580">
                  <a:moveTo>
                    <a:pt x="0" y="0"/>
                  </a:moveTo>
                  <a:lnTo>
                    <a:pt x="504050" y="0"/>
                  </a:lnTo>
                  <a:lnTo>
                    <a:pt x="504050" y="576059"/>
                  </a:lnTo>
                  <a:lnTo>
                    <a:pt x="0" y="576059"/>
                  </a:lnTo>
                  <a:lnTo>
                    <a:pt x="0" y="0"/>
                  </a:lnTo>
                  <a:close/>
                </a:path>
              </a:pathLst>
            </a:custGeom>
            <a:ln w="25400">
              <a:solidFill>
                <a:srgbClr val="FFFFFF"/>
              </a:solidFill>
            </a:ln>
          </p:spPr>
          <p:txBody>
            <a:bodyPr wrap="square" lIns="0" tIns="0" rIns="0" bIns="0" rtlCol="0"/>
            <a:lstStyle/>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04800" y="1047750"/>
            <a:ext cx="8450580" cy="623570"/>
          </a:xfrm>
          <a:custGeom>
            <a:avLst/>
            <a:gdLst/>
            <a:ahLst/>
            <a:cxnLst/>
            <a:rect l="l" t="t" r="r" b="b"/>
            <a:pathLst>
              <a:path w="8450580" h="623569">
                <a:moveTo>
                  <a:pt x="8450275" y="0"/>
                </a:moveTo>
                <a:lnTo>
                  <a:pt x="0" y="0"/>
                </a:lnTo>
                <a:lnTo>
                  <a:pt x="0" y="623252"/>
                </a:lnTo>
                <a:lnTo>
                  <a:pt x="8450275" y="623252"/>
                </a:lnTo>
                <a:lnTo>
                  <a:pt x="8450275" y="0"/>
                </a:lnTo>
                <a:close/>
              </a:path>
            </a:pathLst>
          </a:custGeom>
          <a:solidFill>
            <a:srgbClr val="E7F3F4"/>
          </a:solidFill>
        </p:spPr>
        <p:txBody>
          <a:bodyPr wrap="square" lIns="0" tIns="0" rIns="0" bIns="0" rtlCol="0"/>
          <a:lstStyle/>
          <a:p/>
        </p:txBody>
      </p:sp>
      <p:sp>
        <p:nvSpPr>
          <p:cNvPr id="3" name="object 3" descr=""/>
          <p:cNvSpPr txBox="1"/>
          <p:nvPr/>
        </p:nvSpPr>
        <p:spPr>
          <a:xfrm>
            <a:off x="360679" y="1031239"/>
            <a:ext cx="6946265" cy="574040"/>
          </a:xfrm>
          <a:prstGeom prst="rect">
            <a:avLst/>
          </a:prstGeom>
        </p:spPr>
        <p:txBody>
          <a:bodyPr wrap="square" lIns="0" tIns="104139" rIns="0" bIns="0" rtlCol="0" vert="horz">
            <a:spAutoFit/>
          </a:bodyPr>
          <a:lstStyle/>
          <a:p>
            <a:pPr marL="226695" indent="-213995">
              <a:lnSpc>
                <a:spcPct val="100000"/>
              </a:lnSpc>
              <a:spcBef>
                <a:spcPts val="819"/>
              </a:spcBef>
              <a:buClr>
                <a:srgbClr val="3E3E3E"/>
              </a:buClr>
              <a:buFont typeface="Wingdings"/>
              <a:buChar char=""/>
              <a:tabLst>
                <a:tab pos="226695" algn="l"/>
              </a:tabLst>
            </a:pPr>
            <a:r>
              <a:rPr dirty="0" sz="1200" spc="-5">
                <a:solidFill>
                  <a:srgbClr val="3E3E3E"/>
                </a:solidFill>
                <a:latin typeface="Microsoft YaHei"/>
                <a:cs typeface="Microsoft YaHei"/>
              </a:rPr>
              <a:t>微站若通过新建杆塔资源进行建设，投入成本高，但是可以发展共享业务发展，加快投入资金回流。</a:t>
            </a:r>
            <a:endParaRPr sz="1200">
              <a:latin typeface="Microsoft YaHei"/>
              <a:cs typeface="Microsoft YaHei"/>
            </a:endParaRPr>
          </a:p>
          <a:p>
            <a:pPr marL="226695" indent="-213995">
              <a:lnSpc>
                <a:spcPct val="100000"/>
              </a:lnSpc>
              <a:spcBef>
                <a:spcPts val="720"/>
              </a:spcBef>
              <a:buFont typeface="Wingdings"/>
              <a:buChar char=""/>
              <a:tabLst>
                <a:tab pos="226695" algn="l"/>
              </a:tabLst>
            </a:pPr>
            <a:r>
              <a:rPr dirty="0" sz="1200" spc="-5">
                <a:solidFill>
                  <a:srgbClr val="3E3E3E"/>
                </a:solidFill>
                <a:latin typeface="Microsoft YaHei"/>
                <a:cs typeface="Microsoft YaHei"/>
              </a:rPr>
              <a:t>加强新建杆塔与市政工程相结合的新型智慧灯杆建设，促进监控、广告等增值业务协同发展。</a:t>
            </a:r>
            <a:endParaRPr sz="1200">
              <a:latin typeface="Microsoft YaHei"/>
              <a:cs typeface="Microsoft YaHei"/>
            </a:endParaRPr>
          </a:p>
        </p:txBody>
      </p:sp>
      <p:grpSp>
        <p:nvGrpSpPr>
          <p:cNvPr id="4" name="object 4" descr=""/>
          <p:cNvGrpSpPr/>
          <p:nvPr/>
        </p:nvGrpSpPr>
        <p:grpSpPr>
          <a:xfrm>
            <a:off x="266930" y="1638392"/>
            <a:ext cx="8621395" cy="3149600"/>
            <a:chOff x="266930" y="1638392"/>
            <a:chExt cx="8621395" cy="3149600"/>
          </a:xfrm>
        </p:grpSpPr>
        <p:pic>
          <p:nvPicPr>
            <p:cNvPr id="5" name="object 5"/>
            <p:cNvPicPr/>
            <p:nvPr/>
          </p:nvPicPr>
          <p:blipFill>
            <a:blip r:embed="rId2" cstate="print"/>
            <a:stretch>
              <a:fillRect/>
            </a:stretch>
          </p:blipFill>
          <p:spPr>
            <a:xfrm>
              <a:off x="6279213" y="1705266"/>
              <a:ext cx="2608868" cy="3041673"/>
            </a:xfrm>
            <a:prstGeom prst="rect">
              <a:avLst/>
            </a:prstGeom>
          </p:spPr>
        </p:pic>
        <p:pic>
          <p:nvPicPr>
            <p:cNvPr id="6" name="object 6"/>
            <p:cNvPicPr/>
            <p:nvPr/>
          </p:nvPicPr>
          <p:blipFill>
            <a:blip r:embed="rId3" cstate="print"/>
            <a:stretch>
              <a:fillRect/>
            </a:stretch>
          </p:blipFill>
          <p:spPr>
            <a:xfrm>
              <a:off x="1922221" y="1661401"/>
              <a:ext cx="2420059" cy="3125990"/>
            </a:xfrm>
            <a:prstGeom prst="rect">
              <a:avLst/>
            </a:prstGeom>
          </p:spPr>
        </p:pic>
        <p:pic>
          <p:nvPicPr>
            <p:cNvPr id="7" name="object 7"/>
            <p:cNvPicPr/>
            <p:nvPr/>
          </p:nvPicPr>
          <p:blipFill>
            <a:blip r:embed="rId4" cstate="print"/>
            <a:stretch>
              <a:fillRect/>
            </a:stretch>
          </p:blipFill>
          <p:spPr>
            <a:xfrm>
              <a:off x="4223170" y="1660261"/>
              <a:ext cx="2041839" cy="3095520"/>
            </a:xfrm>
            <a:prstGeom prst="rect">
              <a:avLst/>
            </a:prstGeom>
          </p:spPr>
        </p:pic>
        <p:pic>
          <p:nvPicPr>
            <p:cNvPr id="8" name="object 8"/>
            <p:cNvPicPr/>
            <p:nvPr/>
          </p:nvPicPr>
          <p:blipFill>
            <a:blip r:embed="rId5" cstate="print"/>
            <a:stretch>
              <a:fillRect/>
            </a:stretch>
          </p:blipFill>
          <p:spPr>
            <a:xfrm>
              <a:off x="293159" y="1638392"/>
              <a:ext cx="1629061" cy="1798070"/>
            </a:xfrm>
            <a:prstGeom prst="rect">
              <a:avLst/>
            </a:prstGeom>
          </p:spPr>
        </p:pic>
        <p:pic>
          <p:nvPicPr>
            <p:cNvPr id="9" name="object 9"/>
            <p:cNvPicPr/>
            <p:nvPr/>
          </p:nvPicPr>
          <p:blipFill>
            <a:blip r:embed="rId6" cstate="print"/>
            <a:stretch>
              <a:fillRect/>
            </a:stretch>
          </p:blipFill>
          <p:spPr>
            <a:xfrm>
              <a:off x="266930" y="3435036"/>
              <a:ext cx="1689846" cy="1311904"/>
            </a:xfrm>
            <a:prstGeom prst="rect">
              <a:avLst/>
            </a:prstGeom>
          </p:spPr>
        </p:pic>
      </p:grpSp>
      <p:sp>
        <p:nvSpPr>
          <p:cNvPr id="10" name="object 10" descr=""/>
          <p:cNvSpPr txBox="1"/>
          <p:nvPr/>
        </p:nvSpPr>
        <p:spPr>
          <a:xfrm>
            <a:off x="1349754" y="3634505"/>
            <a:ext cx="482600" cy="299720"/>
          </a:xfrm>
          <a:prstGeom prst="rect">
            <a:avLst/>
          </a:prstGeom>
        </p:spPr>
        <p:txBody>
          <a:bodyPr wrap="square" lIns="0" tIns="12700" rIns="0" bIns="0" rtlCol="0" vert="horz">
            <a:spAutoFit/>
          </a:bodyPr>
          <a:lstStyle/>
          <a:p>
            <a:pPr marL="12700">
              <a:lnSpc>
                <a:spcPct val="100000"/>
              </a:lnSpc>
              <a:spcBef>
                <a:spcPts val="100"/>
              </a:spcBef>
            </a:pPr>
            <a:r>
              <a:rPr dirty="0" sz="1800" spc="-25">
                <a:solidFill>
                  <a:srgbClr val="FF0000"/>
                </a:solidFill>
                <a:latin typeface="Microsoft YaHei"/>
                <a:cs typeface="Microsoft YaHei"/>
              </a:rPr>
              <a:t>监控</a:t>
            </a:r>
            <a:endParaRPr sz="1800">
              <a:latin typeface="Microsoft YaHei"/>
              <a:cs typeface="Microsoft YaHei"/>
            </a:endParaRPr>
          </a:p>
        </p:txBody>
      </p:sp>
      <p:sp>
        <p:nvSpPr>
          <p:cNvPr id="11" name="object 11" descr=""/>
          <p:cNvSpPr txBox="1"/>
          <p:nvPr/>
        </p:nvSpPr>
        <p:spPr>
          <a:xfrm>
            <a:off x="1421535" y="1798846"/>
            <a:ext cx="482600" cy="299720"/>
          </a:xfrm>
          <a:prstGeom prst="rect">
            <a:avLst/>
          </a:prstGeom>
        </p:spPr>
        <p:txBody>
          <a:bodyPr wrap="square" lIns="0" tIns="12700" rIns="0" bIns="0" rtlCol="0" vert="horz">
            <a:spAutoFit/>
          </a:bodyPr>
          <a:lstStyle/>
          <a:p>
            <a:pPr marL="12700">
              <a:lnSpc>
                <a:spcPct val="100000"/>
              </a:lnSpc>
              <a:spcBef>
                <a:spcPts val="100"/>
              </a:spcBef>
            </a:pPr>
            <a:r>
              <a:rPr dirty="0" sz="1800" spc="-25">
                <a:solidFill>
                  <a:srgbClr val="FF0000"/>
                </a:solidFill>
                <a:latin typeface="Microsoft YaHei"/>
                <a:cs typeface="Microsoft YaHei"/>
              </a:rPr>
              <a:t>广播</a:t>
            </a:r>
            <a:endParaRPr sz="1800">
              <a:latin typeface="Microsoft YaHei"/>
              <a:cs typeface="Microsoft YaHei"/>
            </a:endParaRPr>
          </a:p>
        </p:txBody>
      </p:sp>
      <p:sp>
        <p:nvSpPr>
          <p:cNvPr id="12" name="object 12" descr=""/>
          <p:cNvSpPr txBox="1"/>
          <p:nvPr/>
        </p:nvSpPr>
        <p:spPr>
          <a:xfrm>
            <a:off x="5889522" y="2075910"/>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solidFill>
                  <a:srgbClr val="FF0000"/>
                </a:solidFill>
                <a:latin typeface="Microsoft YaHei"/>
                <a:cs typeface="Microsoft YaHei"/>
              </a:rPr>
              <a:t>智慧路灯</a:t>
            </a:r>
            <a:endParaRPr sz="1800">
              <a:latin typeface="Microsoft YaHei"/>
              <a:cs typeface="Microsoft YaHei"/>
            </a:endParaRPr>
          </a:p>
        </p:txBody>
      </p:sp>
      <p:sp>
        <p:nvSpPr>
          <p:cNvPr id="13" name="object 13"/>
          <p:cNvSpPr txBox="1">
            <a:spLocks noGrp="1"/>
          </p:cNvSpPr>
          <p:nvPr>
            <p:ph type="title"/>
          </p:nvPr>
        </p:nvSpPr>
        <p:spPr>
          <a:xfrm>
            <a:off x="3376993" y="124016"/>
            <a:ext cx="2390140" cy="498475"/>
          </a:xfrm>
          <a:prstGeom prst="rect"/>
        </p:spPr>
        <p:txBody>
          <a:bodyPr wrap="square" lIns="0" tIns="12700" rIns="0" bIns="0" rtlCol="0" vert="horz">
            <a:spAutoFit/>
          </a:bodyPr>
          <a:lstStyle/>
          <a:p>
            <a:pPr marL="12700">
              <a:lnSpc>
                <a:spcPct val="100000"/>
              </a:lnSpc>
              <a:spcBef>
                <a:spcPts val="100"/>
              </a:spcBef>
            </a:pPr>
            <a:r>
              <a:rPr dirty="0" sz="3100" spc="-15"/>
              <a:t>微站建设策略</a:t>
            </a:r>
            <a:endParaRPr sz="31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0" y="815149"/>
            <a:ext cx="2901950" cy="355600"/>
            <a:chOff x="0" y="815149"/>
            <a:chExt cx="2901950" cy="355600"/>
          </a:xfrm>
        </p:grpSpPr>
        <p:pic>
          <p:nvPicPr>
            <p:cNvPr id="3" name="object 3" descr=""/>
            <p:cNvPicPr/>
            <p:nvPr/>
          </p:nvPicPr>
          <p:blipFill>
            <a:blip r:embed="rId2" cstate="print"/>
            <a:stretch>
              <a:fillRect/>
            </a:stretch>
          </p:blipFill>
          <p:spPr>
            <a:xfrm>
              <a:off x="50292" y="864869"/>
              <a:ext cx="2851403" cy="305561"/>
            </a:xfrm>
            <a:prstGeom prst="rect">
              <a:avLst/>
            </a:prstGeom>
          </p:spPr>
        </p:pic>
        <p:pic>
          <p:nvPicPr>
            <p:cNvPr id="4" name="object 4" descr=""/>
            <p:cNvPicPr/>
            <p:nvPr/>
          </p:nvPicPr>
          <p:blipFill>
            <a:blip r:embed="rId3" cstate="print"/>
            <a:stretch>
              <a:fillRect/>
            </a:stretch>
          </p:blipFill>
          <p:spPr>
            <a:xfrm>
              <a:off x="265175" y="857249"/>
              <a:ext cx="2474975" cy="268223"/>
            </a:xfrm>
            <a:prstGeom prst="rect">
              <a:avLst/>
            </a:prstGeom>
          </p:spPr>
        </p:pic>
        <p:sp>
          <p:nvSpPr>
            <p:cNvPr id="5" name="object 5" descr=""/>
            <p:cNvSpPr/>
            <p:nvPr/>
          </p:nvSpPr>
          <p:spPr>
            <a:xfrm>
              <a:off x="0" y="815149"/>
              <a:ext cx="2850515" cy="304165"/>
            </a:xfrm>
            <a:custGeom>
              <a:avLst/>
              <a:gdLst/>
              <a:ahLst/>
              <a:cxnLst/>
              <a:rect l="l" t="t" r="r" b="b"/>
              <a:pathLst>
                <a:path w="2850515" h="304165">
                  <a:moveTo>
                    <a:pt x="2850261" y="0"/>
                  </a:moveTo>
                  <a:lnTo>
                    <a:pt x="0" y="0"/>
                  </a:lnTo>
                  <a:lnTo>
                    <a:pt x="0" y="303784"/>
                  </a:lnTo>
                  <a:lnTo>
                    <a:pt x="2850261" y="303784"/>
                  </a:lnTo>
                  <a:lnTo>
                    <a:pt x="2850261" y="0"/>
                  </a:lnTo>
                  <a:close/>
                </a:path>
              </a:pathLst>
            </a:custGeom>
            <a:solidFill>
              <a:srgbClr val="333399"/>
            </a:solidFill>
          </p:spPr>
          <p:txBody>
            <a:bodyPr wrap="square" lIns="0" tIns="0" rIns="0" bIns="0" rtlCol="0"/>
            <a:lstStyle/>
            <a:p/>
          </p:txBody>
        </p:sp>
      </p:grpSp>
      <p:sp>
        <p:nvSpPr>
          <p:cNvPr id="6" name="object 6" descr=""/>
          <p:cNvSpPr txBox="1"/>
          <p:nvPr/>
        </p:nvSpPr>
        <p:spPr>
          <a:xfrm>
            <a:off x="0" y="815149"/>
            <a:ext cx="2850515" cy="304165"/>
          </a:xfrm>
          <a:prstGeom prst="rect">
            <a:avLst/>
          </a:prstGeom>
        </p:spPr>
        <p:txBody>
          <a:bodyPr wrap="square" lIns="0" tIns="38735" rIns="0" bIns="0" rtlCol="0" vert="horz">
            <a:spAutoFit/>
          </a:bodyPr>
          <a:lstStyle/>
          <a:p>
            <a:pPr marL="321310">
              <a:lnSpc>
                <a:spcPct val="100000"/>
              </a:lnSpc>
              <a:spcBef>
                <a:spcPts val="305"/>
              </a:spcBef>
            </a:pPr>
            <a:r>
              <a:rPr dirty="0" sz="1400" spc="-25">
                <a:solidFill>
                  <a:srgbClr val="FFFFFF"/>
                </a:solidFill>
                <a:latin typeface="Microsoft YaHei"/>
                <a:cs typeface="Microsoft YaHei"/>
              </a:rPr>
              <a:t>微站利旧社会资源-杆塔资源</a:t>
            </a:r>
            <a:endParaRPr sz="1400">
              <a:latin typeface="Microsoft YaHei"/>
              <a:cs typeface="Microsoft YaHei"/>
            </a:endParaRPr>
          </a:p>
        </p:txBody>
      </p:sp>
      <p:grpSp>
        <p:nvGrpSpPr>
          <p:cNvPr id="7" name="object 7" descr=""/>
          <p:cNvGrpSpPr/>
          <p:nvPr/>
        </p:nvGrpSpPr>
        <p:grpSpPr>
          <a:xfrm>
            <a:off x="4869599" y="3097669"/>
            <a:ext cx="1659255" cy="1804035"/>
            <a:chOff x="4869599" y="3097669"/>
            <a:chExt cx="1659255" cy="1804035"/>
          </a:xfrm>
        </p:grpSpPr>
        <p:sp>
          <p:nvSpPr>
            <p:cNvPr id="8" name="object 8" descr=""/>
            <p:cNvSpPr/>
            <p:nvPr/>
          </p:nvSpPr>
          <p:spPr>
            <a:xfrm>
              <a:off x="5036025" y="4645426"/>
              <a:ext cx="1303655" cy="256540"/>
            </a:xfrm>
            <a:custGeom>
              <a:avLst/>
              <a:gdLst/>
              <a:ahLst/>
              <a:cxnLst/>
              <a:rect l="l" t="t" r="r" b="b"/>
              <a:pathLst>
                <a:path w="1303654" h="256539">
                  <a:moveTo>
                    <a:pt x="1260487" y="0"/>
                  </a:moveTo>
                  <a:lnTo>
                    <a:pt x="42697" y="0"/>
                  </a:lnTo>
                  <a:lnTo>
                    <a:pt x="26076" y="3354"/>
                  </a:lnTo>
                  <a:lnTo>
                    <a:pt x="12504" y="12504"/>
                  </a:lnTo>
                  <a:lnTo>
                    <a:pt x="3354" y="26076"/>
                  </a:lnTo>
                  <a:lnTo>
                    <a:pt x="0" y="42697"/>
                  </a:lnTo>
                  <a:lnTo>
                    <a:pt x="0" y="213474"/>
                  </a:lnTo>
                  <a:lnTo>
                    <a:pt x="3354" y="230095"/>
                  </a:lnTo>
                  <a:lnTo>
                    <a:pt x="12504" y="243666"/>
                  </a:lnTo>
                  <a:lnTo>
                    <a:pt x="26076" y="252816"/>
                  </a:lnTo>
                  <a:lnTo>
                    <a:pt x="42697" y="256171"/>
                  </a:lnTo>
                  <a:lnTo>
                    <a:pt x="1260487" y="256171"/>
                  </a:lnTo>
                  <a:lnTo>
                    <a:pt x="1277108" y="252816"/>
                  </a:lnTo>
                  <a:lnTo>
                    <a:pt x="1290680" y="243666"/>
                  </a:lnTo>
                  <a:lnTo>
                    <a:pt x="1299830" y="230095"/>
                  </a:lnTo>
                  <a:lnTo>
                    <a:pt x="1303185" y="213474"/>
                  </a:lnTo>
                  <a:lnTo>
                    <a:pt x="1303185" y="42697"/>
                  </a:lnTo>
                  <a:lnTo>
                    <a:pt x="1299830" y="26076"/>
                  </a:lnTo>
                  <a:lnTo>
                    <a:pt x="1290680" y="12504"/>
                  </a:lnTo>
                  <a:lnTo>
                    <a:pt x="1277108" y="3354"/>
                  </a:lnTo>
                  <a:lnTo>
                    <a:pt x="1260487" y="0"/>
                  </a:lnTo>
                  <a:close/>
                </a:path>
              </a:pathLst>
            </a:custGeom>
            <a:solidFill>
              <a:srgbClr val="FFAA00"/>
            </a:solidFill>
          </p:spPr>
          <p:txBody>
            <a:bodyPr wrap="square" lIns="0" tIns="0" rIns="0" bIns="0" rtlCol="0"/>
            <a:lstStyle/>
            <a:p/>
          </p:txBody>
        </p:sp>
        <p:pic>
          <p:nvPicPr>
            <p:cNvPr id="9" name="object 9"/>
            <p:cNvPicPr/>
            <p:nvPr/>
          </p:nvPicPr>
          <p:blipFill>
            <a:blip r:embed="rId4" cstate="print"/>
            <a:stretch>
              <a:fillRect/>
            </a:stretch>
          </p:blipFill>
          <p:spPr>
            <a:xfrm>
              <a:off x="4869599" y="3097669"/>
              <a:ext cx="1658988" cy="1533519"/>
            </a:xfrm>
            <a:prstGeom prst="rect">
              <a:avLst/>
            </a:prstGeom>
          </p:spPr>
        </p:pic>
      </p:grpSp>
      <p:sp>
        <p:nvSpPr>
          <p:cNvPr id="10" name="object 10" descr=""/>
          <p:cNvSpPr/>
          <p:nvPr/>
        </p:nvSpPr>
        <p:spPr>
          <a:xfrm>
            <a:off x="7129030" y="4662053"/>
            <a:ext cx="1303655" cy="256540"/>
          </a:xfrm>
          <a:custGeom>
            <a:avLst/>
            <a:gdLst/>
            <a:ahLst/>
            <a:cxnLst/>
            <a:rect l="l" t="t" r="r" b="b"/>
            <a:pathLst>
              <a:path w="1303654" h="256539">
                <a:moveTo>
                  <a:pt x="1260500" y="0"/>
                </a:moveTo>
                <a:lnTo>
                  <a:pt x="42697" y="0"/>
                </a:lnTo>
                <a:lnTo>
                  <a:pt x="26076" y="3354"/>
                </a:lnTo>
                <a:lnTo>
                  <a:pt x="12504" y="12504"/>
                </a:lnTo>
                <a:lnTo>
                  <a:pt x="3354" y="26076"/>
                </a:lnTo>
                <a:lnTo>
                  <a:pt x="0" y="42697"/>
                </a:lnTo>
                <a:lnTo>
                  <a:pt x="0" y="213474"/>
                </a:lnTo>
                <a:lnTo>
                  <a:pt x="3354" y="230095"/>
                </a:lnTo>
                <a:lnTo>
                  <a:pt x="12504" y="243666"/>
                </a:lnTo>
                <a:lnTo>
                  <a:pt x="26076" y="252816"/>
                </a:lnTo>
                <a:lnTo>
                  <a:pt x="42697" y="256171"/>
                </a:lnTo>
                <a:lnTo>
                  <a:pt x="1260500" y="256171"/>
                </a:lnTo>
                <a:lnTo>
                  <a:pt x="1277113" y="252816"/>
                </a:lnTo>
                <a:lnTo>
                  <a:pt x="1290681" y="243666"/>
                </a:lnTo>
                <a:lnTo>
                  <a:pt x="1299830" y="230095"/>
                </a:lnTo>
                <a:lnTo>
                  <a:pt x="1303185" y="213474"/>
                </a:lnTo>
                <a:lnTo>
                  <a:pt x="1303185" y="42697"/>
                </a:lnTo>
                <a:lnTo>
                  <a:pt x="1299830" y="26076"/>
                </a:lnTo>
                <a:lnTo>
                  <a:pt x="1290681" y="12504"/>
                </a:lnTo>
                <a:lnTo>
                  <a:pt x="1277113" y="3354"/>
                </a:lnTo>
                <a:lnTo>
                  <a:pt x="1260500" y="0"/>
                </a:lnTo>
                <a:close/>
              </a:path>
            </a:pathLst>
          </a:custGeom>
          <a:solidFill>
            <a:srgbClr val="FFAA00"/>
          </a:solidFill>
        </p:spPr>
        <p:txBody>
          <a:bodyPr wrap="square" lIns="0" tIns="0" rIns="0" bIns="0" rtlCol="0"/>
          <a:lstStyle/>
          <a:p/>
        </p:txBody>
      </p:sp>
      <p:grpSp>
        <p:nvGrpSpPr>
          <p:cNvPr id="11" name="object 11" descr=""/>
          <p:cNvGrpSpPr/>
          <p:nvPr/>
        </p:nvGrpSpPr>
        <p:grpSpPr>
          <a:xfrm>
            <a:off x="2803829" y="3097669"/>
            <a:ext cx="1614170" cy="1831339"/>
            <a:chOff x="2803829" y="3097669"/>
            <a:chExt cx="1614170" cy="1831339"/>
          </a:xfrm>
        </p:grpSpPr>
        <p:sp>
          <p:nvSpPr>
            <p:cNvPr id="12" name="object 12" descr=""/>
            <p:cNvSpPr/>
            <p:nvPr/>
          </p:nvSpPr>
          <p:spPr>
            <a:xfrm>
              <a:off x="2911848" y="4672441"/>
              <a:ext cx="1303655" cy="256540"/>
            </a:xfrm>
            <a:custGeom>
              <a:avLst/>
              <a:gdLst/>
              <a:ahLst/>
              <a:cxnLst/>
              <a:rect l="l" t="t" r="r" b="b"/>
              <a:pathLst>
                <a:path w="1303654" h="256539">
                  <a:moveTo>
                    <a:pt x="1260500" y="0"/>
                  </a:moveTo>
                  <a:lnTo>
                    <a:pt x="42697" y="0"/>
                  </a:lnTo>
                  <a:lnTo>
                    <a:pt x="26076" y="3354"/>
                  </a:lnTo>
                  <a:lnTo>
                    <a:pt x="12504" y="12504"/>
                  </a:lnTo>
                  <a:lnTo>
                    <a:pt x="3354" y="26076"/>
                  </a:lnTo>
                  <a:lnTo>
                    <a:pt x="0" y="42697"/>
                  </a:lnTo>
                  <a:lnTo>
                    <a:pt x="0" y="213474"/>
                  </a:lnTo>
                  <a:lnTo>
                    <a:pt x="3354" y="230095"/>
                  </a:lnTo>
                  <a:lnTo>
                    <a:pt x="12504" y="243666"/>
                  </a:lnTo>
                  <a:lnTo>
                    <a:pt x="26076" y="252816"/>
                  </a:lnTo>
                  <a:lnTo>
                    <a:pt x="42697" y="256171"/>
                  </a:lnTo>
                  <a:lnTo>
                    <a:pt x="1260500" y="256171"/>
                  </a:lnTo>
                  <a:lnTo>
                    <a:pt x="1277113" y="252816"/>
                  </a:lnTo>
                  <a:lnTo>
                    <a:pt x="1290681" y="243666"/>
                  </a:lnTo>
                  <a:lnTo>
                    <a:pt x="1299830" y="230095"/>
                  </a:lnTo>
                  <a:lnTo>
                    <a:pt x="1303185" y="213474"/>
                  </a:lnTo>
                  <a:lnTo>
                    <a:pt x="1303185" y="42697"/>
                  </a:lnTo>
                  <a:lnTo>
                    <a:pt x="1299830" y="26076"/>
                  </a:lnTo>
                  <a:lnTo>
                    <a:pt x="1290681" y="12504"/>
                  </a:lnTo>
                  <a:lnTo>
                    <a:pt x="1277113" y="3354"/>
                  </a:lnTo>
                  <a:lnTo>
                    <a:pt x="1260500" y="0"/>
                  </a:lnTo>
                  <a:close/>
                </a:path>
              </a:pathLst>
            </a:custGeom>
            <a:solidFill>
              <a:srgbClr val="FFAA00"/>
            </a:solidFill>
          </p:spPr>
          <p:txBody>
            <a:bodyPr wrap="square" lIns="0" tIns="0" rIns="0" bIns="0" rtlCol="0"/>
            <a:lstStyle/>
            <a:p/>
          </p:txBody>
        </p:sp>
        <p:pic>
          <p:nvPicPr>
            <p:cNvPr id="13" name="object 13"/>
            <p:cNvPicPr/>
            <p:nvPr/>
          </p:nvPicPr>
          <p:blipFill>
            <a:blip r:embed="rId5" cstate="print"/>
            <a:stretch>
              <a:fillRect/>
            </a:stretch>
          </p:blipFill>
          <p:spPr>
            <a:xfrm>
              <a:off x="2803829" y="3097669"/>
              <a:ext cx="1613743" cy="1533518"/>
            </a:xfrm>
            <a:prstGeom prst="rect">
              <a:avLst/>
            </a:prstGeom>
          </p:spPr>
        </p:pic>
      </p:grpSp>
      <p:grpSp>
        <p:nvGrpSpPr>
          <p:cNvPr id="14" name="object 14" descr=""/>
          <p:cNvGrpSpPr/>
          <p:nvPr/>
        </p:nvGrpSpPr>
        <p:grpSpPr>
          <a:xfrm>
            <a:off x="365759" y="3075444"/>
            <a:ext cx="1901189" cy="1876425"/>
            <a:chOff x="365759" y="3075444"/>
            <a:chExt cx="1901189" cy="1876425"/>
          </a:xfrm>
        </p:grpSpPr>
        <p:sp>
          <p:nvSpPr>
            <p:cNvPr id="15" name="object 15" descr=""/>
            <p:cNvSpPr/>
            <p:nvPr/>
          </p:nvSpPr>
          <p:spPr>
            <a:xfrm>
              <a:off x="602687" y="4695301"/>
              <a:ext cx="1303655" cy="256540"/>
            </a:xfrm>
            <a:custGeom>
              <a:avLst/>
              <a:gdLst/>
              <a:ahLst/>
              <a:cxnLst/>
              <a:rect l="l" t="t" r="r" b="b"/>
              <a:pathLst>
                <a:path w="1303655" h="256539">
                  <a:moveTo>
                    <a:pt x="1260487" y="0"/>
                  </a:moveTo>
                  <a:lnTo>
                    <a:pt x="42697" y="0"/>
                  </a:lnTo>
                  <a:lnTo>
                    <a:pt x="26076" y="3354"/>
                  </a:lnTo>
                  <a:lnTo>
                    <a:pt x="12504" y="12504"/>
                  </a:lnTo>
                  <a:lnTo>
                    <a:pt x="3354" y="26076"/>
                  </a:lnTo>
                  <a:lnTo>
                    <a:pt x="0" y="42697"/>
                  </a:lnTo>
                  <a:lnTo>
                    <a:pt x="0" y="213474"/>
                  </a:lnTo>
                  <a:lnTo>
                    <a:pt x="3354" y="230095"/>
                  </a:lnTo>
                  <a:lnTo>
                    <a:pt x="12504" y="243666"/>
                  </a:lnTo>
                  <a:lnTo>
                    <a:pt x="26076" y="252816"/>
                  </a:lnTo>
                  <a:lnTo>
                    <a:pt x="42697" y="256171"/>
                  </a:lnTo>
                  <a:lnTo>
                    <a:pt x="1260487" y="256171"/>
                  </a:lnTo>
                  <a:lnTo>
                    <a:pt x="1277108" y="252816"/>
                  </a:lnTo>
                  <a:lnTo>
                    <a:pt x="1290680" y="243666"/>
                  </a:lnTo>
                  <a:lnTo>
                    <a:pt x="1299830" y="230095"/>
                  </a:lnTo>
                  <a:lnTo>
                    <a:pt x="1303185" y="213474"/>
                  </a:lnTo>
                  <a:lnTo>
                    <a:pt x="1303185" y="42697"/>
                  </a:lnTo>
                  <a:lnTo>
                    <a:pt x="1299830" y="26076"/>
                  </a:lnTo>
                  <a:lnTo>
                    <a:pt x="1290680" y="12504"/>
                  </a:lnTo>
                  <a:lnTo>
                    <a:pt x="1277108" y="3354"/>
                  </a:lnTo>
                  <a:lnTo>
                    <a:pt x="1260487" y="0"/>
                  </a:lnTo>
                  <a:close/>
                </a:path>
              </a:pathLst>
            </a:custGeom>
            <a:solidFill>
              <a:srgbClr val="FFAA00"/>
            </a:solidFill>
          </p:spPr>
          <p:txBody>
            <a:bodyPr wrap="square" lIns="0" tIns="0" rIns="0" bIns="0" rtlCol="0"/>
            <a:lstStyle/>
            <a:p/>
          </p:txBody>
        </p:sp>
        <p:pic>
          <p:nvPicPr>
            <p:cNvPr id="16" name="object 16"/>
            <p:cNvPicPr/>
            <p:nvPr/>
          </p:nvPicPr>
          <p:blipFill>
            <a:blip r:embed="rId6" cstate="print"/>
            <a:stretch>
              <a:fillRect/>
            </a:stretch>
          </p:blipFill>
          <p:spPr>
            <a:xfrm>
              <a:off x="365759" y="3075444"/>
              <a:ext cx="1901189" cy="1692388"/>
            </a:xfrm>
            <a:prstGeom prst="rect">
              <a:avLst/>
            </a:prstGeom>
          </p:spPr>
        </p:pic>
        <p:pic>
          <p:nvPicPr>
            <p:cNvPr id="17" name="object 17" descr=""/>
            <p:cNvPicPr/>
            <p:nvPr/>
          </p:nvPicPr>
          <p:blipFill>
            <a:blip r:embed="rId7" cstate="print"/>
            <a:stretch>
              <a:fillRect/>
            </a:stretch>
          </p:blipFill>
          <p:spPr>
            <a:xfrm>
              <a:off x="444665" y="3134588"/>
              <a:ext cx="1742730" cy="1533690"/>
            </a:xfrm>
            <a:prstGeom prst="rect">
              <a:avLst/>
            </a:prstGeom>
          </p:spPr>
        </p:pic>
        <p:sp>
          <p:nvSpPr>
            <p:cNvPr id="18" name="object 18" descr=""/>
            <p:cNvSpPr/>
            <p:nvPr/>
          </p:nvSpPr>
          <p:spPr>
            <a:xfrm>
              <a:off x="425615" y="3115538"/>
              <a:ext cx="1781175" cy="1572260"/>
            </a:xfrm>
            <a:custGeom>
              <a:avLst/>
              <a:gdLst/>
              <a:ahLst/>
              <a:cxnLst/>
              <a:rect l="l" t="t" r="r" b="b"/>
              <a:pathLst>
                <a:path w="1781175" h="1572260">
                  <a:moveTo>
                    <a:pt x="0" y="0"/>
                  </a:moveTo>
                  <a:lnTo>
                    <a:pt x="1780819" y="0"/>
                  </a:lnTo>
                  <a:lnTo>
                    <a:pt x="1780819" y="1571790"/>
                  </a:lnTo>
                  <a:lnTo>
                    <a:pt x="0" y="1571790"/>
                  </a:lnTo>
                  <a:lnTo>
                    <a:pt x="0" y="0"/>
                  </a:lnTo>
                  <a:close/>
                </a:path>
              </a:pathLst>
            </a:custGeom>
            <a:ln w="38100">
              <a:solidFill>
                <a:srgbClr val="FFFFFF"/>
              </a:solidFill>
            </a:ln>
          </p:spPr>
          <p:txBody>
            <a:bodyPr wrap="square" lIns="0" tIns="0" rIns="0" bIns="0" rtlCol="0"/>
            <a:lstStyle/>
            <a:p/>
          </p:txBody>
        </p:sp>
      </p:grpSp>
      <p:grpSp>
        <p:nvGrpSpPr>
          <p:cNvPr id="19" name="object 19" descr=""/>
          <p:cNvGrpSpPr/>
          <p:nvPr/>
        </p:nvGrpSpPr>
        <p:grpSpPr>
          <a:xfrm>
            <a:off x="7041850" y="1175473"/>
            <a:ext cx="1614170" cy="3430904"/>
            <a:chOff x="7041850" y="1175473"/>
            <a:chExt cx="1614170" cy="3430904"/>
          </a:xfrm>
        </p:grpSpPr>
        <p:sp>
          <p:nvSpPr>
            <p:cNvPr id="20" name="object 20" descr=""/>
            <p:cNvSpPr/>
            <p:nvPr/>
          </p:nvSpPr>
          <p:spPr>
            <a:xfrm>
              <a:off x="7123934" y="2783149"/>
              <a:ext cx="1303655" cy="256540"/>
            </a:xfrm>
            <a:custGeom>
              <a:avLst/>
              <a:gdLst/>
              <a:ahLst/>
              <a:cxnLst/>
              <a:rect l="l" t="t" r="r" b="b"/>
              <a:pathLst>
                <a:path w="1303654" h="256539">
                  <a:moveTo>
                    <a:pt x="1260487" y="0"/>
                  </a:moveTo>
                  <a:lnTo>
                    <a:pt x="42697" y="0"/>
                  </a:lnTo>
                  <a:lnTo>
                    <a:pt x="26076" y="3354"/>
                  </a:lnTo>
                  <a:lnTo>
                    <a:pt x="12504" y="12504"/>
                  </a:lnTo>
                  <a:lnTo>
                    <a:pt x="3354" y="26076"/>
                  </a:lnTo>
                  <a:lnTo>
                    <a:pt x="0" y="42697"/>
                  </a:lnTo>
                  <a:lnTo>
                    <a:pt x="0" y="213474"/>
                  </a:lnTo>
                  <a:lnTo>
                    <a:pt x="3354" y="230095"/>
                  </a:lnTo>
                  <a:lnTo>
                    <a:pt x="12504" y="243666"/>
                  </a:lnTo>
                  <a:lnTo>
                    <a:pt x="26076" y="252816"/>
                  </a:lnTo>
                  <a:lnTo>
                    <a:pt x="42697" y="256171"/>
                  </a:lnTo>
                  <a:lnTo>
                    <a:pt x="1260487" y="256171"/>
                  </a:lnTo>
                  <a:lnTo>
                    <a:pt x="1277108" y="252816"/>
                  </a:lnTo>
                  <a:lnTo>
                    <a:pt x="1290680" y="243666"/>
                  </a:lnTo>
                  <a:lnTo>
                    <a:pt x="1299830" y="230095"/>
                  </a:lnTo>
                  <a:lnTo>
                    <a:pt x="1303185" y="213474"/>
                  </a:lnTo>
                  <a:lnTo>
                    <a:pt x="1303185" y="42697"/>
                  </a:lnTo>
                  <a:lnTo>
                    <a:pt x="1299830" y="26076"/>
                  </a:lnTo>
                  <a:lnTo>
                    <a:pt x="1290680" y="12504"/>
                  </a:lnTo>
                  <a:lnTo>
                    <a:pt x="1277108" y="3354"/>
                  </a:lnTo>
                  <a:lnTo>
                    <a:pt x="1260487" y="0"/>
                  </a:lnTo>
                  <a:close/>
                </a:path>
              </a:pathLst>
            </a:custGeom>
            <a:solidFill>
              <a:srgbClr val="99CCFF"/>
            </a:solidFill>
          </p:spPr>
          <p:txBody>
            <a:bodyPr wrap="square" lIns="0" tIns="0" rIns="0" bIns="0" rtlCol="0"/>
            <a:lstStyle/>
            <a:p/>
          </p:txBody>
        </p:sp>
        <p:pic>
          <p:nvPicPr>
            <p:cNvPr id="21" name="object 21"/>
            <p:cNvPicPr/>
            <p:nvPr/>
          </p:nvPicPr>
          <p:blipFill>
            <a:blip r:embed="rId8" cstate="print"/>
            <a:stretch>
              <a:fillRect/>
            </a:stretch>
          </p:blipFill>
          <p:spPr>
            <a:xfrm>
              <a:off x="7042660" y="3077237"/>
              <a:ext cx="1613269" cy="1528705"/>
            </a:xfrm>
            <a:prstGeom prst="rect">
              <a:avLst/>
            </a:prstGeom>
          </p:spPr>
        </p:pic>
        <p:pic>
          <p:nvPicPr>
            <p:cNvPr id="22" name="object 22"/>
            <p:cNvPicPr/>
            <p:nvPr/>
          </p:nvPicPr>
          <p:blipFill>
            <a:blip r:embed="rId9" cstate="print"/>
            <a:stretch>
              <a:fillRect/>
            </a:stretch>
          </p:blipFill>
          <p:spPr>
            <a:xfrm>
              <a:off x="7041850" y="1175473"/>
              <a:ext cx="1572305" cy="1603056"/>
            </a:xfrm>
            <a:prstGeom prst="rect">
              <a:avLst/>
            </a:prstGeom>
          </p:spPr>
        </p:pic>
      </p:grpSp>
      <p:grpSp>
        <p:nvGrpSpPr>
          <p:cNvPr id="23" name="object 23" descr=""/>
          <p:cNvGrpSpPr/>
          <p:nvPr/>
        </p:nvGrpSpPr>
        <p:grpSpPr>
          <a:xfrm>
            <a:off x="4928933" y="1175473"/>
            <a:ext cx="1659255" cy="1866264"/>
            <a:chOff x="4928933" y="1175473"/>
            <a:chExt cx="1659255" cy="1866264"/>
          </a:xfrm>
        </p:grpSpPr>
        <p:sp>
          <p:nvSpPr>
            <p:cNvPr id="24" name="object 24" descr=""/>
            <p:cNvSpPr/>
            <p:nvPr/>
          </p:nvSpPr>
          <p:spPr>
            <a:xfrm>
              <a:off x="5030929" y="2785226"/>
              <a:ext cx="1303655" cy="256540"/>
            </a:xfrm>
            <a:custGeom>
              <a:avLst/>
              <a:gdLst/>
              <a:ahLst/>
              <a:cxnLst/>
              <a:rect l="l" t="t" r="r" b="b"/>
              <a:pathLst>
                <a:path w="1303654" h="256539">
                  <a:moveTo>
                    <a:pt x="1260487" y="0"/>
                  </a:moveTo>
                  <a:lnTo>
                    <a:pt x="42697" y="0"/>
                  </a:lnTo>
                  <a:lnTo>
                    <a:pt x="26076" y="3354"/>
                  </a:lnTo>
                  <a:lnTo>
                    <a:pt x="12504" y="12504"/>
                  </a:lnTo>
                  <a:lnTo>
                    <a:pt x="3354" y="26076"/>
                  </a:lnTo>
                  <a:lnTo>
                    <a:pt x="0" y="42697"/>
                  </a:lnTo>
                  <a:lnTo>
                    <a:pt x="0" y="213474"/>
                  </a:lnTo>
                  <a:lnTo>
                    <a:pt x="3354" y="230095"/>
                  </a:lnTo>
                  <a:lnTo>
                    <a:pt x="12504" y="243666"/>
                  </a:lnTo>
                  <a:lnTo>
                    <a:pt x="26076" y="252816"/>
                  </a:lnTo>
                  <a:lnTo>
                    <a:pt x="42697" y="256171"/>
                  </a:lnTo>
                  <a:lnTo>
                    <a:pt x="1260487" y="256171"/>
                  </a:lnTo>
                  <a:lnTo>
                    <a:pt x="1277108" y="252816"/>
                  </a:lnTo>
                  <a:lnTo>
                    <a:pt x="1290680" y="243666"/>
                  </a:lnTo>
                  <a:lnTo>
                    <a:pt x="1299830" y="230095"/>
                  </a:lnTo>
                  <a:lnTo>
                    <a:pt x="1303185" y="213474"/>
                  </a:lnTo>
                  <a:lnTo>
                    <a:pt x="1303185" y="42697"/>
                  </a:lnTo>
                  <a:lnTo>
                    <a:pt x="1299830" y="26076"/>
                  </a:lnTo>
                  <a:lnTo>
                    <a:pt x="1290680" y="12504"/>
                  </a:lnTo>
                  <a:lnTo>
                    <a:pt x="1277108" y="3354"/>
                  </a:lnTo>
                  <a:lnTo>
                    <a:pt x="1260487" y="0"/>
                  </a:lnTo>
                  <a:close/>
                </a:path>
              </a:pathLst>
            </a:custGeom>
            <a:solidFill>
              <a:srgbClr val="99CCFF"/>
            </a:solidFill>
          </p:spPr>
          <p:txBody>
            <a:bodyPr wrap="square" lIns="0" tIns="0" rIns="0" bIns="0" rtlCol="0"/>
            <a:lstStyle/>
            <a:p/>
          </p:txBody>
        </p:sp>
        <p:pic>
          <p:nvPicPr>
            <p:cNvPr id="25" name="object 25"/>
            <p:cNvPicPr/>
            <p:nvPr/>
          </p:nvPicPr>
          <p:blipFill>
            <a:blip r:embed="rId10" cstate="print"/>
            <a:stretch>
              <a:fillRect/>
            </a:stretch>
          </p:blipFill>
          <p:spPr>
            <a:xfrm>
              <a:off x="4928933" y="1175473"/>
              <a:ext cx="1658991" cy="1603533"/>
            </a:xfrm>
            <a:prstGeom prst="rect">
              <a:avLst/>
            </a:prstGeom>
          </p:spPr>
        </p:pic>
      </p:grpSp>
      <p:sp>
        <p:nvSpPr>
          <p:cNvPr id="26" name="object 26" descr=""/>
          <p:cNvSpPr/>
          <p:nvPr/>
        </p:nvSpPr>
        <p:spPr>
          <a:xfrm>
            <a:off x="722299" y="2766522"/>
            <a:ext cx="1303655" cy="256540"/>
          </a:xfrm>
          <a:custGeom>
            <a:avLst/>
            <a:gdLst/>
            <a:ahLst/>
            <a:cxnLst/>
            <a:rect l="l" t="t" r="r" b="b"/>
            <a:pathLst>
              <a:path w="1303655" h="256539">
                <a:moveTo>
                  <a:pt x="1260487" y="0"/>
                </a:moveTo>
                <a:lnTo>
                  <a:pt x="42697" y="0"/>
                </a:lnTo>
                <a:lnTo>
                  <a:pt x="26076" y="3354"/>
                </a:lnTo>
                <a:lnTo>
                  <a:pt x="12504" y="12504"/>
                </a:lnTo>
                <a:lnTo>
                  <a:pt x="3354" y="26076"/>
                </a:lnTo>
                <a:lnTo>
                  <a:pt x="0" y="42697"/>
                </a:lnTo>
                <a:lnTo>
                  <a:pt x="0" y="213474"/>
                </a:lnTo>
                <a:lnTo>
                  <a:pt x="3354" y="230095"/>
                </a:lnTo>
                <a:lnTo>
                  <a:pt x="12504" y="243666"/>
                </a:lnTo>
                <a:lnTo>
                  <a:pt x="26076" y="252816"/>
                </a:lnTo>
                <a:lnTo>
                  <a:pt x="42697" y="256171"/>
                </a:lnTo>
                <a:lnTo>
                  <a:pt x="1260487" y="256171"/>
                </a:lnTo>
                <a:lnTo>
                  <a:pt x="1277108" y="252816"/>
                </a:lnTo>
                <a:lnTo>
                  <a:pt x="1290680" y="243666"/>
                </a:lnTo>
                <a:lnTo>
                  <a:pt x="1299830" y="230095"/>
                </a:lnTo>
                <a:lnTo>
                  <a:pt x="1303185" y="213474"/>
                </a:lnTo>
                <a:lnTo>
                  <a:pt x="1303185" y="42697"/>
                </a:lnTo>
                <a:lnTo>
                  <a:pt x="1299830" y="26076"/>
                </a:lnTo>
                <a:lnTo>
                  <a:pt x="1290680" y="12504"/>
                </a:lnTo>
                <a:lnTo>
                  <a:pt x="1277108" y="3354"/>
                </a:lnTo>
                <a:lnTo>
                  <a:pt x="1260487" y="0"/>
                </a:lnTo>
                <a:close/>
              </a:path>
            </a:pathLst>
          </a:custGeom>
          <a:solidFill>
            <a:srgbClr val="99CCFF"/>
          </a:solidFill>
        </p:spPr>
        <p:txBody>
          <a:bodyPr wrap="square" lIns="0" tIns="0" rIns="0" bIns="0" rtlCol="0"/>
          <a:lstStyle/>
          <a:p/>
        </p:txBody>
      </p:sp>
      <p:grpSp>
        <p:nvGrpSpPr>
          <p:cNvPr id="27" name="object 27" descr=""/>
          <p:cNvGrpSpPr/>
          <p:nvPr/>
        </p:nvGrpSpPr>
        <p:grpSpPr>
          <a:xfrm>
            <a:off x="2851690" y="1195901"/>
            <a:ext cx="1599565" cy="1816735"/>
            <a:chOff x="2851690" y="1195901"/>
            <a:chExt cx="1599565" cy="1816735"/>
          </a:xfrm>
        </p:grpSpPr>
        <p:sp>
          <p:nvSpPr>
            <p:cNvPr id="28" name="object 28" descr=""/>
            <p:cNvSpPr/>
            <p:nvPr/>
          </p:nvSpPr>
          <p:spPr>
            <a:xfrm>
              <a:off x="2956634" y="2756131"/>
              <a:ext cx="1303655" cy="256540"/>
            </a:xfrm>
            <a:custGeom>
              <a:avLst/>
              <a:gdLst/>
              <a:ahLst/>
              <a:cxnLst/>
              <a:rect l="l" t="t" r="r" b="b"/>
              <a:pathLst>
                <a:path w="1303654" h="256539">
                  <a:moveTo>
                    <a:pt x="1260487" y="0"/>
                  </a:moveTo>
                  <a:lnTo>
                    <a:pt x="42697" y="0"/>
                  </a:lnTo>
                  <a:lnTo>
                    <a:pt x="26076" y="3354"/>
                  </a:lnTo>
                  <a:lnTo>
                    <a:pt x="12504" y="12504"/>
                  </a:lnTo>
                  <a:lnTo>
                    <a:pt x="3354" y="26076"/>
                  </a:lnTo>
                  <a:lnTo>
                    <a:pt x="0" y="42697"/>
                  </a:lnTo>
                  <a:lnTo>
                    <a:pt x="0" y="213474"/>
                  </a:lnTo>
                  <a:lnTo>
                    <a:pt x="3354" y="230095"/>
                  </a:lnTo>
                  <a:lnTo>
                    <a:pt x="12504" y="243666"/>
                  </a:lnTo>
                  <a:lnTo>
                    <a:pt x="26076" y="252816"/>
                  </a:lnTo>
                  <a:lnTo>
                    <a:pt x="42697" y="256171"/>
                  </a:lnTo>
                  <a:lnTo>
                    <a:pt x="1260487" y="256171"/>
                  </a:lnTo>
                  <a:lnTo>
                    <a:pt x="1277108" y="252816"/>
                  </a:lnTo>
                  <a:lnTo>
                    <a:pt x="1290680" y="243666"/>
                  </a:lnTo>
                  <a:lnTo>
                    <a:pt x="1299830" y="230095"/>
                  </a:lnTo>
                  <a:lnTo>
                    <a:pt x="1303185" y="213474"/>
                  </a:lnTo>
                  <a:lnTo>
                    <a:pt x="1303185" y="42697"/>
                  </a:lnTo>
                  <a:lnTo>
                    <a:pt x="1299830" y="26076"/>
                  </a:lnTo>
                  <a:lnTo>
                    <a:pt x="1290680" y="12504"/>
                  </a:lnTo>
                  <a:lnTo>
                    <a:pt x="1277108" y="3354"/>
                  </a:lnTo>
                  <a:lnTo>
                    <a:pt x="1260487" y="0"/>
                  </a:lnTo>
                  <a:close/>
                </a:path>
              </a:pathLst>
            </a:custGeom>
            <a:solidFill>
              <a:srgbClr val="99CCFF"/>
            </a:solidFill>
          </p:spPr>
          <p:txBody>
            <a:bodyPr wrap="square" lIns="0" tIns="0" rIns="0" bIns="0" rtlCol="0"/>
            <a:lstStyle/>
            <a:p/>
          </p:txBody>
        </p:sp>
        <p:pic>
          <p:nvPicPr>
            <p:cNvPr id="29" name="object 29"/>
            <p:cNvPicPr/>
            <p:nvPr/>
          </p:nvPicPr>
          <p:blipFill>
            <a:blip r:embed="rId11" cstate="print"/>
            <a:stretch>
              <a:fillRect/>
            </a:stretch>
          </p:blipFill>
          <p:spPr>
            <a:xfrm>
              <a:off x="2851690" y="1195901"/>
              <a:ext cx="1599455" cy="1533519"/>
            </a:xfrm>
            <a:prstGeom prst="rect">
              <a:avLst/>
            </a:prstGeom>
          </p:spPr>
        </p:pic>
      </p:grpSp>
      <p:sp>
        <p:nvSpPr>
          <p:cNvPr id="30" name="object 30" descr=""/>
          <p:cNvSpPr txBox="1"/>
          <p:nvPr/>
        </p:nvSpPr>
        <p:spPr>
          <a:xfrm>
            <a:off x="7351893" y="4691235"/>
            <a:ext cx="862330" cy="193040"/>
          </a:xfrm>
          <a:prstGeom prst="rect">
            <a:avLst/>
          </a:prstGeom>
        </p:spPr>
        <p:txBody>
          <a:bodyPr wrap="square" lIns="0" tIns="12065" rIns="0" bIns="0" rtlCol="0" vert="horz">
            <a:spAutoFit/>
          </a:bodyPr>
          <a:lstStyle/>
          <a:p>
            <a:pPr marL="12700">
              <a:lnSpc>
                <a:spcPct val="100000"/>
              </a:lnSpc>
              <a:spcBef>
                <a:spcPts val="95"/>
              </a:spcBef>
            </a:pPr>
            <a:r>
              <a:rPr dirty="0" sz="1100" spc="-25">
                <a:latin typeface="Microsoft YaHei"/>
                <a:cs typeface="Microsoft YaHei"/>
              </a:rPr>
              <a:t>附挂小灵通杆</a:t>
            </a:r>
            <a:endParaRPr sz="1100">
              <a:latin typeface="Microsoft YaHei"/>
              <a:cs typeface="Microsoft YaHei"/>
            </a:endParaRPr>
          </a:p>
        </p:txBody>
      </p:sp>
      <p:sp>
        <p:nvSpPr>
          <p:cNvPr id="31" name="object 31" descr=""/>
          <p:cNvSpPr txBox="1"/>
          <p:nvPr/>
        </p:nvSpPr>
        <p:spPr>
          <a:xfrm>
            <a:off x="5399788" y="2814431"/>
            <a:ext cx="583565"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附挂水塔</a:t>
            </a:r>
            <a:endParaRPr sz="1100">
              <a:latin typeface="Microsoft YaHei"/>
              <a:cs typeface="Microsoft YaHei"/>
            </a:endParaRPr>
          </a:p>
        </p:txBody>
      </p:sp>
      <p:sp>
        <p:nvSpPr>
          <p:cNvPr id="32" name="object 32" descr=""/>
          <p:cNvSpPr txBox="1"/>
          <p:nvPr/>
        </p:nvSpPr>
        <p:spPr>
          <a:xfrm>
            <a:off x="7428309" y="2814431"/>
            <a:ext cx="722630"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附挂广告牌</a:t>
            </a:r>
            <a:endParaRPr sz="1100">
              <a:latin typeface="Microsoft YaHei"/>
              <a:cs typeface="Microsoft YaHei"/>
            </a:endParaRPr>
          </a:p>
        </p:txBody>
      </p:sp>
      <p:sp>
        <p:nvSpPr>
          <p:cNvPr id="33" name="object 33" descr=""/>
          <p:cNvSpPr txBox="1"/>
          <p:nvPr/>
        </p:nvSpPr>
        <p:spPr>
          <a:xfrm>
            <a:off x="3113710" y="4702390"/>
            <a:ext cx="1002030" cy="193040"/>
          </a:xfrm>
          <a:prstGeom prst="rect">
            <a:avLst/>
          </a:prstGeom>
        </p:spPr>
        <p:txBody>
          <a:bodyPr wrap="square" lIns="0" tIns="12065" rIns="0" bIns="0" rtlCol="0" vert="horz">
            <a:spAutoFit/>
          </a:bodyPr>
          <a:lstStyle/>
          <a:p>
            <a:pPr marL="12700">
              <a:lnSpc>
                <a:spcPct val="100000"/>
              </a:lnSpc>
              <a:spcBef>
                <a:spcPts val="95"/>
              </a:spcBef>
            </a:pPr>
            <a:r>
              <a:rPr dirty="0" sz="1100" spc="-25">
                <a:latin typeface="Microsoft YaHei"/>
                <a:cs typeface="Microsoft YaHei"/>
              </a:rPr>
              <a:t>附挂轻轨门形杆</a:t>
            </a:r>
            <a:endParaRPr sz="1100">
              <a:latin typeface="Microsoft YaHei"/>
              <a:cs typeface="Microsoft YaHei"/>
            </a:endParaRPr>
          </a:p>
        </p:txBody>
      </p:sp>
      <p:sp>
        <p:nvSpPr>
          <p:cNvPr id="34" name="object 34" descr=""/>
          <p:cNvSpPr txBox="1"/>
          <p:nvPr/>
        </p:nvSpPr>
        <p:spPr>
          <a:xfrm>
            <a:off x="5366181" y="4702390"/>
            <a:ext cx="722630"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附挂监控杆</a:t>
            </a:r>
            <a:endParaRPr sz="1100">
              <a:latin typeface="Microsoft YaHei"/>
              <a:cs typeface="Microsoft YaHei"/>
            </a:endParaRPr>
          </a:p>
        </p:txBody>
      </p:sp>
      <p:sp>
        <p:nvSpPr>
          <p:cNvPr id="35" name="object 35" descr=""/>
          <p:cNvSpPr txBox="1"/>
          <p:nvPr/>
        </p:nvSpPr>
        <p:spPr>
          <a:xfrm>
            <a:off x="3145225" y="2800626"/>
            <a:ext cx="1002030" cy="193040"/>
          </a:xfrm>
          <a:prstGeom prst="rect">
            <a:avLst/>
          </a:prstGeom>
        </p:spPr>
        <p:txBody>
          <a:bodyPr wrap="square" lIns="0" tIns="12065" rIns="0" bIns="0" rtlCol="0" vert="horz">
            <a:spAutoFit/>
          </a:bodyPr>
          <a:lstStyle/>
          <a:p>
            <a:pPr marL="12700">
              <a:lnSpc>
                <a:spcPct val="100000"/>
              </a:lnSpc>
              <a:spcBef>
                <a:spcPts val="95"/>
              </a:spcBef>
            </a:pPr>
            <a:r>
              <a:rPr dirty="0" sz="1100" spc="-25">
                <a:latin typeface="Microsoft YaHei"/>
                <a:cs typeface="Microsoft YaHei"/>
              </a:rPr>
              <a:t>附挂道路路灯杆</a:t>
            </a:r>
            <a:endParaRPr sz="1100">
              <a:latin typeface="Microsoft YaHei"/>
              <a:cs typeface="Microsoft YaHei"/>
            </a:endParaRPr>
          </a:p>
        </p:txBody>
      </p:sp>
      <p:pic>
        <p:nvPicPr>
          <p:cNvPr id="36" name="object 36"/>
          <p:cNvPicPr/>
          <p:nvPr/>
        </p:nvPicPr>
        <p:blipFill>
          <a:blip r:embed="rId12" cstate="print"/>
          <a:stretch>
            <a:fillRect/>
          </a:stretch>
        </p:blipFill>
        <p:spPr>
          <a:xfrm>
            <a:off x="526897" y="1194015"/>
            <a:ext cx="1744776" cy="1510164"/>
          </a:xfrm>
          <a:prstGeom prst="rect">
            <a:avLst/>
          </a:prstGeom>
        </p:spPr>
      </p:pic>
      <p:sp>
        <p:nvSpPr>
          <p:cNvPr id="37" name="object 37" descr=""/>
          <p:cNvSpPr txBox="1"/>
          <p:nvPr/>
        </p:nvSpPr>
        <p:spPr>
          <a:xfrm>
            <a:off x="875798" y="2815093"/>
            <a:ext cx="1002030" cy="193040"/>
          </a:xfrm>
          <a:prstGeom prst="rect">
            <a:avLst/>
          </a:prstGeom>
        </p:spPr>
        <p:txBody>
          <a:bodyPr wrap="square" lIns="0" tIns="12065" rIns="0" bIns="0" rtlCol="0" vert="horz">
            <a:spAutoFit/>
          </a:bodyPr>
          <a:lstStyle/>
          <a:p>
            <a:pPr marL="12700">
              <a:lnSpc>
                <a:spcPct val="100000"/>
              </a:lnSpc>
              <a:spcBef>
                <a:spcPts val="95"/>
              </a:spcBef>
            </a:pPr>
            <a:r>
              <a:rPr dirty="0" sz="1100" spc="-25">
                <a:latin typeface="Microsoft YaHei"/>
                <a:cs typeface="Microsoft YaHei"/>
              </a:rPr>
              <a:t>附挂小区路灯杆</a:t>
            </a:r>
            <a:endParaRPr sz="1100">
              <a:latin typeface="Microsoft YaHei"/>
              <a:cs typeface="Microsoft YaHei"/>
            </a:endParaRPr>
          </a:p>
        </p:txBody>
      </p:sp>
      <p:sp>
        <p:nvSpPr>
          <p:cNvPr id="38" name="object 38" descr=""/>
          <p:cNvSpPr txBox="1"/>
          <p:nvPr/>
        </p:nvSpPr>
        <p:spPr>
          <a:xfrm>
            <a:off x="968251" y="4731360"/>
            <a:ext cx="722630"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附挂电力杆</a:t>
            </a:r>
            <a:endParaRPr sz="1100">
              <a:latin typeface="Microsoft YaHei"/>
              <a:cs typeface="Microsoft YaHei"/>
            </a:endParaRPr>
          </a:p>
        </p:txBody>
      </p:sp>
      <p:sp>
        <p:nvSpPr>
          <p:cNvPr id="39" name="object 39" descr=""/>
          <p:cNvSpPr txBox="1"/>
          <p:nvPr/>
        </p:nvSpPr>
        <p:spPr>
          <a:xfrm>
            <a:off x="2920873" y="819150"/>
            <a:ext cx="3845560" cy="346710"/>
          </a:xfrm>
          <a:prstGeom prst="rect">
            <a:avLst/>
          </a:prstGeom>
          <a:solidFill>
            <a:srgbClr val="E7F3F4"/>
          </a:solidFill>
        </p:spPr>
        <p:txBody>
          <a:bodyPr wrap="square" lIns="0" tIns="87630" rIns="0" bIns="0" rtlCol="0" vert="horz">
            <a:spAutoFit/>
          </a:bodyPr>
          <a:lstStyle/>
          <a:p>
            <a:pPr marL="68580">
              <a:lnSpc>
                <a:spcPct val="100000"/>
              </a:lnSpc>
              <a:spcBef>
                <a:spcPts val="690"/>
              </a:spcBef>
            </a:pPr>
            <a:r>
              <a:rPr dirty="0" sz="1200">
                <a:solidFill>
                  <a:srgbClr val="3E3E3E"/>
                </a:solidFill>
                <a:latin typeface="Microsoft YaHei"/>
                <a:cs typeface="Microsoft YaHei"/>
              </a:rPr>
              <a:t>安全为第一要素，不满足承重要求，可以考虑</a:t>
            </a:r>
            <a:r>
              <a:rPr dirty="0" sz="1200" spc="-15">
                <a:solidFill>
                  <a:srgbClr val="FF0000"/>
                </a:solidFill>
                <a:latin typeface="Microsoft YaHei"/>
                <a:cs typeface="Microsoft YaHei"/>
              </a:rPr>
              <a:t>原貌重建</a:t>
            </a:r>
            <a:endParaRPr sz="1200">
              <a:latin typeface="Microsoft YaHei"/>
              <a:cs typeface="Microsoft YaHei"/>
            </a:endParaRPr>
          </a:p>
        </p:txBody>
      </p:sp>
      <p:sp>
        <p:nvSpPr>
          <p:cNvPr id="40" name="object 40"/>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0"/>
              <a:t>微站建设策略</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68859" y="901700"/>
            <a:ext cx="2902585" cy="355600"/>
            <a:chOff x="168859" y="901700"/>
            <a:chExt cx="2902585" cy="355600"/>
          </a:xfrm>
        </p:grpSpPr>
        <p:pic>
          <p:nvPicPr>
            <p:cNvPr id="3" name="object 3" descr=""/>
            <p:cNvPicPr/>
            <p:nvPr/>
          </p:nvPicPr>
          <p:blipFill>
            <a:blip r:embed="rId2" cstate="print"/>
            <a:stretch>
              <a:fillRect/>
            </a:stretch>
          </p:blipFill>
          <p:spPr>
            <a:xfrm>
              <a:off x="218694" y="951738"/>
              <a:ext cx="2852165" cy="305561"/>
            </a:xfrm>
            <a:prstGeom prst="rect">
              <a:avLst/>
            </a:prstGeom>
          </p:spPr>
        </p:pic>
        <p:pic>
          <p:nvPicPr>
            <p:cNvPr id="4" name="object 4" descr=""/>
            <p:cNvPicPr/>
            <p:nvPr/>
          </p:nvPicPr>
          <p:blipFill>
            <a:blip r:embed="rId3" cstate="print"/>
            <a:stretch>
              <a:fillRect/>
            </a:stretch>
          </p:blipFill>
          <p:spPr>
            <a:xfrm>
              <a:off x="344424" y="943355"/>
              <a:ext cx="2652521" cy="268223"/>
            </a:xfrm>
            <a:prstGeom prst="rect">
              <a:avLst/>
            </a:prstGeom>
          </p:spPr>
        </p:pic>
        <p:sp>
          <p:nvSpPr>
            <p:cNvPr id="5" name="object 5" descr=""/>
            <p:cNvSpPr/>
            <p:nvPr/>
          </p:nvSpPr>
          <p:spPr>
            <a:xfrm>
              <a:off x="168859" y="901700"/>
              <a:ext cx="2850515" cy="304165"/>
            </a:xfrm>
            <a:custGeom>
              <a:avLst/>
              <a:gdLst/>
              <a:ahLst/>
              <a:cxnLst/>
              <a:rect l="l" t="t" r="r" b="b"/>
              <a:pathLst>
                <a:path w="2850515" h="304165">
                  <a:moveTo>
                    <a:pt x="2850261" y="0"/>
                  </a:moveTo>
                  <a:lnTo>
                    <a:pt x="0" y="0"/>
                  </a:lnTo>
                  <a:lnTo>
                    <a:pt x="0" y="303784"/>
                  </a:lnTo>
                  <a:lnTo>
                    <a:pt x="2850261" y="303784"/>
                  </a:lnTo>
                  <a:lnTo>
                    <a:pt x="2850261" y="0"/>
                  </a:lnTo>
                  <a:close/>
                </a:path>
              </a:pathLst>
            </a:custGeom>
            <a:solidFill>
              <a:srgbClr val="333399"/>
            </a:solidFill>
          </p:spPr>
          <p:txBody>
            <a:bodyPr wrap="square" lIns="0" tIns="0" rIns="0" bIns="0" rtlCol="0"/>
            <a:lstStyle/>
            <a:p/>
          </p:txBody>
        </p:sp>
      </p:grpSp>
      <p:sp>
        <p:nvSpPr>
          <p:cNvPr id="6" name="object 6" descr=""/>
          <p:cNvSpPr txBox="1"/>
          <p:nvPr/>
        </p:nvSpPr>
        <p:spPr>
          <a:xfrm>
            <a:off x="168859" y="901700"/>
            <a:ext cx="2850515" cy="304165"/>
          </a:xfrm>
          <a:prstGeom prst="rect">
            <a:avLst/>
          </a:prstGeom>
        </p:spPr>
        <p:txBody>
          <a:bodyPr wrap="square" lIns="0" tIns="38735" rIns="0" bIns="0" rtlCol="0" vert="horz">
            <a:spAutoFit/>
          </a:bodyPr>
          <a:lstStyle/>
          <a:p>
            <a:pPr marL="231775">
              <a:lnSpc>
                <a:spcPct val="100000"/>
              </a:lnSpc>
              <a:spcBef>
                <a:spcPts val="305"/>
              </a:spcBef>
            </a:pPr>
            <a:r>
              <a:rPr dirty="0" sz="1400" spc="-25">
                <a:solidFill>
                  <a:srgbClr val="FFFFFF"/>
                </a:solidFill>
                <a:latin typeface="Microsoft YaHei"/>
                <a:cs typeface="Microsoft YaHei"/>
              </a:rPr>
              <a:t>微站利旧社会资源-建筑物资源</a:t>
            </a:r>
            <a:endParaRPr sz="1400">
              <a:latin typeface="Microsoft YaHei"/>
              <a:cs typeface="Microsoft YaHei"/>
            </a:endParaRPr>
          </a:p>
        </p:txBody>
      </p:sp>
      <p:sp>
        <p:nvSpPr>
          <p:cNvPr id="7" name="object 7" descr=""/>
          <p:cNvSpPr txBox="1"/>
          <p:nvPr/>
        </p:nvSpPr>
        <p:spPr>
          <a:xfrm>
            <a:off x="3080715" y="926122"/>
            <a:ext cx="3314700" cy="346710"/>
          </a:xfrm>
          <a:prstGeom prst="rect">
            <a:avLst/>
          </a:prstGeom>
          <a:solidFill>
            <a:srgbClr val="E7F3F4"/>
          </a:solidFill>
        </p:spPr>
        <p:txBody>
          <a:bodyPr wrap="square" lIns="0" tIns="87630" rIns="0" bIns="0" rtlCol="0" vert="horz">
            <a:spAutoFit/>
          </a:bodyPr>
          <a:lstStyle/>
          <a:p>
            <a:pPr marL="67945">
              <a:lnSpc>
                <a:spcPct val="100000"/>
              </a:lnSpc>
              <a:spcBef>
                <a:spcPts val="690"/>
              </a:spcBef>
            </a:pPr>
            <a:r>
              <a:rPr dirty="0" sz="1200" spc="-5">
                <a:solidFill>
                  <a:srgbClr val="3E3E3E"/>
                </a:solidFill>
                <a:latin typeface="Microsoft YaHei"/>
                <a:cs typeface="Microsoft YaHei"/>
              </a:rPr>
              <a:t>建筑物资源丰富，根据无线环境，灵活部署</a:t>
            </a:r>
            <a:endParaRPr sz="1200">
              <a:latin typeface="Microsoft YaHei"/>
              <a:cs typeface="Microsoft YaHei"/>
            </a:endParaRPr>
          </a:p>
        </p:txBody>
      </p:sp>
      <p:sp>
        <p:nvSpPr>
          <p:cNvPr id="8" name="object 8"/>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0"/>
              <a:t>微站建设策略</a:t>
            </a:r>
          </a:p>
        </p:txBody>
      </p:sp>
      <p:grpSp>
        <p:nvGrpSpPr>
          <p:cNvPr id="9" name="object 9" descr=""/>
          <p:cNvGrpSpPr/>
          <p:nvPr/>
        </p:nvGrpSpPr>
        <p:grpSpPr>
          <a:xfrm>
            <a:off x="3965270" y="1284973"/>
            <a:ext cx="1767205" cy="2589530"/>
            <a:chOff x="3965270" y="1284973"/>
            <a:chExt cx="1767205" cy="2589530"/>
          </a:xfrm>
        </p:grpSpPr>
        <p:pic>
          <p:nvPicPr>
            <p:cNvPr id="10" name="object 10"/>
            <p:cNvPicPr/>
            <p:nvPr/>
          </p:nvPicPr>
          <p:blipFill>
            <a:blip r:embed="rId4" cstate="print"/>
            <a:stretch>
              <a:fillRect/>
            </a:stretch>
          </p:blipFill>
          <p:spPr>
            <a:xfrm>
              <a:off x="3977970" y="1297678"/>
              <a:ext cx="1741804" cy="2105680"/>
            </a:xfrm>
            <a:prstGeom prst="rect">
              <a:avLst/>
            </a:prstGeom>
          </p:spPr>
        </p:pic>
        <p:sp>
          <p:nvSpPr>
            <p:cNvPr id="11" name="object 11" descr=""/>
            <p:cNvSpPr/>
            <p:nvPr/>
          </p:nvSpPr>
          <p:spPr>
            <a:xfrm>
              <a:off x="3977970" y="1297673"/>
              <a:ext cx="1741805" cy="2106295"/>
            </a:xfrm>
            <a:custGeom>
              <a:avLst/>
              <a:gdLst/>
              <a:ahLst/>
              <a:cxnLst/>
              <a:rect l="l" t="t" r="r" b="b"/>
              <a:pathLst>
                <a:path w="1741804" h="2106295">
                  <a:moveTo>
                    <a:pt x="0" y="0"/>
                  </a:moveTo>
                  <a:lnTo>
                    <a:pt x="1741804" y="0"/>
                  </a:lnTo>
                  <a:lnTo>
                    <a:pt x="1741804" y="2105685"/>
                  </a:lnTo>
                  <a:lnTo>
                    <a:pt x="0" y="2105685"/>
                  </a:lnTo>
                  <a:lnTo>
                    <a:pt x="0" y="0"/>
                  </a:lnTo>
                  <a:close/>
                </a:path>
              </a:pathLst>
            </a:custGeom>
            <a:ln w="25399">
              <a:solidFill>
                <a:srgbClr val="808080"/>
              </a:solidFill>
            </a:ln>
          </p:spPr>
          <p:txBody>
            <a:bodyPr wrap="square" lIns="0" tIns="0" rIns="0" bIns="0" rtlCol="0"/>
            <a:lstStyle/>
            <a:p/>
          </p:txBody>
        </p:sp>
        <p:pic>
          <p:nvPicPr>
            <p:cNvPr id="12" name="object 12" descr=""/>
            <p:cNvPicPr/>
            <p:nvPr/>
          </p:nvPicPr>
          <p:blipFill>
            <a:blip r:embed="rId5" cstate="print"/>
            <a:stretch>
              <a:fillRect/>
            </a:stretch>
          </p:blipFill>
          <p:spPr>
            <a:xfrm>
              <a:off x="4156710" y="3458717"/>
              <a:ext cx="1338833" cy="415289"/>
            </a:xfrm>
            <a:prstGeom prst="rect">
              <a:avLst/>
            </a:prstGeom>
          </p:spPr>
        </p:pic>
        <p:pic>
          <p:nvPicPr>
            <p:cNvPr id="13" name="object 13" descr=""/>
            <p:cNvPicPr/>
            <p:nvPr/>
          </p:nvPicPr>
          <p:blipFill>
            <a:blip r:embed="rId6" cstate="print"/>
            <a:stretch>
              <a:fillRect/>
            </a:stretch>
          </p:blipFill>
          <p:spPr>
            <a:xfrm>
              <a:off x="4202773" y="3481666"/>
              <a:ext cx="1246504" cy="323164"/>
            </a:xfrm>
            <a:prstGeom prst="rect">
              <a:avLst/>
            </a:prstGeom>
          </p:spPr>
        </p:pic>
      </p:grpSp>
      <p:grpSp>
        <p:nvGrpSpPr>
          <p:cNvPr id="14" name="object 14" descr=""/>
          <p:cNvGrpSpPr/>
          <p:nvPr/>
        </p:nvGrpSpPr>
        <p:grpSpPr>
          <a:xfrm>
            <a:off x="563880" y="1297686"/>
            <a:ext cx="3020695" cy="2542540"/>
            <a:chOff x="563880" y="1297686"/>
            <a:chExt cx="3020695" cy="2542540"/>
          </a:xfrm>
        </p:grpSpPr>
        <p:pic>
          <p:nvPicPr>
            <p:cNvPr id="15" name="object 15"/>
            <p:cNvPicPr/>
            <p:nvPr/>
          </p:nvPicPr>
          <p:blipFill>
            <a:blip r:embed="rId7" cstate="print"/>
            <a:stretch>
              <a:fillRect/>
            </a:stretch>
          </p:blipFill>
          <p:spPr>
            <a:xfrm>
              <a:off x="2292984" y="1297686"/>
              <a:ext cx="1291120" cy="2105683"/>
            </a:xfrm>
            <a:prstGeom prst="rect">
              <a:avLst/>
            </a:prstGeom>
          </p:spPr>
        </p:pic>
        <p:pic>
          <p:nvPicPr>
            <p:cNvPr id="16" name="object 16" descr=""/>
            <p:cNvPicPr/>
            <p:nvPr/>
          </p:nvPicPr>
          <p:blipFill>
            <a:blip r:embed="rId8" cstate="print"/>
            <a:stretch>
              <a:fillRect/>
            </a:stretch>
          </p:blipFill>
          <p:spPr>
            <a:xfrm>
              <a:off x="563880" y="3424428"/>
              <a:ext cx="1338833" cy="415289"/>
            </a:xfrm>
            <a:prstGeom prst="rect">
              <a:avLst/>
            </a:prstGeom>
          </p:spPr>
        </p:pic>
        <p:pic>
          <p:nvPicPr>
            <p:cNvPr id="17" name="object 17" descr=""/>
            <p:cNvPicPr/>
            <p:nvPr/>
          </p:nvPicPr>
          <p:blipFill>
            <a:blip r:embed="rId6" cstate="print"/>
            <a:stretch>
              <a:fillRect/>
            </a:stretch>
          </p:blipFill>
          <p:spPr>
            <a:xfrm>
              <a:off x="610133" y="3447402"/>
              <a:ext cx="1246505" cy="323164"/>
            </a:xfrm>
            <a:prstGeom prst="rect">
              <a:avLst/>
            </a:prstGeom>
          </p:spPr>
        </p:pic>
      </p:grpSp>
      <p:sp>
        <p:nvSpPr>
          <p:cNvPr id="18" name="object 18" descr=""/>
          <p:cNvSpPr txBox="1"/>
          <p:nvPr/>
        </p:nvSpPr>
        <p:spPr>
          <a:xfrm>
            <a:off x="610134" y="3447408"/>
            <a:ext cx="1246505" cy="323215"/>
          </a:xfrm>
          <a:prstGeom prst="rect">
            <a:avLst/>
          </a:prstGeom>
          <a:ln w="9525">
            <a:solidFill>
              <a:srgbClr val="D5E8EA"/>
            </a:solidFill>
          </a:ln>
        </p:spPr>
        <p:txBody>
          <a:bodyPr wrap="square" lIns="0" tIns="83185" rIns="0" bIns="0" rtlCol="0" vert="horz">
            <a:spAutoFit/>
          </a:bodyPr>
          <a:lstStyle/>
          <a:p>
            <a:pPr marL="344170">
              <a:lnSpc>
                <a:spcPct val="100000"/>
              </a:lnSpc>
              <a:spcBef>
                <a:spcPts val="655"/>
              </a:spcBef>
            </a:pPr>
            <a:r>
              <a:rPr dirty="0" sz="1100" spc="-30">
                <a:latin typeface="Microsoft YaHei"/>
                <a:cs typeface="Microsoft YaHei"/>
              </a:rPr>
              <a:t>挂墙安装</a:t>
            </a:r>
            <a:endParaRPr sz="1100">
              <a:latin typeface="Microsoft YaHei"/>
              <a:cs typeface="Microsoft YaHei"/>
            </a:endParaRPr>
          </a:p>
        </p:txBody>
      </p:sp>
      <p:grpSp>
        <p:nvGrpSpPr>
          <p:cNvPr id="19" name="object 19" descr=""/>
          <p:cNvGrpSpPr/>
          <p:nvPr/>
        </p:nvGrpSpPr>
        <p:grpSpPr>
          <a:xfrm>
            <a:off x="2251710" y="3432809"/>
            <a:ext cx="1338580" cy="415290"/>
            <a:chOff x="2251710" y="3432809"/>
            <a:chExt cx="1338580" cy="415290"/>
          </a:xfrm>
        </p:grpSpPr>
        <p:pic>
          <p:nvPicPr>
            <p:cNvPr id="20" name="object 20" descr=""/>
            <p:cNvPicPr/>
            <p:nvPr/>
          </p:nvPicPr>
          <p:blipFill>
            <a:blip r:embed="rId9" cstate="print"/>
            <a:stretch>
              <a:fillRect/>
            </a:stretch>
          </p:blipFill>
          <p:spPr>
            <a:xfrm>
              <a:off x="2251710" y="3432809"/>
              <a:ext cx="1338071" cy="415289"/>
            </a:xfrm>
            <a:prstGeom prst="rect">
              <a:avLst/>
            </a:prstGeom>
          </p:spPr>
        </p:pic>
        <p:pic>
          <p:nvPicPr>
            <p:cNvPr id="21" name="object 21" descr=""/>
            <p:cNvPicPr/>
            <p:nvPr/>
          </p:nvPicPr>
          <p:blipFill>
            <a:blip r:embed="rId6" cstate="print"/>
            <a:stretch>
              <a:fillRect/>
            </a:stretch>
          </p:blipFill>
          <p:spPr>
            <a:xfrm>
              <a:off x="2297264" y="3455987"/>
              <a:ext cx="1246505" cy="323164"/>
            </a:xfrm>
            <a:prstGeom prst="rect">
              <a:avLst/>
            </a:prstGeom>
          </p:spPr>
        </p:pic>
      </p:grpSp>
      <p:sp>
        <p:nvSpPr>
          <p:cNvPr id="22" name="object 22" descr=""/>
          <p:cNvSpPr txBox="1"/>
          <p:nvPr/>
        </p:nvSpPr>
        <p:spPr>
          <a:xfrm>
            <a:off x="2297268" y="3455991"/>
            <a:ext cx="1246505" cy="323215"/>
          </a:xfrm>
          <a:prstGeom prst="rect">
            <a:avLst/>
          </a:prstGeom>
          <a:ln w="9525">
            <a:solidFill>
              <a:srgbClr val="D5E8EA"/>
            </a:solidFill>
          </a:ln>
        </p:spPr>
        <p:txBody>
          <a:bodyPr wrap="square" lIns="0" tIns="83185" rIns="0" bIns="0" rtlCol="0" vert="horz">
            <a:spAutoFit/>
          </a:bodyPr>
          <a:lstStyle/>
          <a:p>
            <a:pPr marL="344170">
              <a:lnSpc>
                <a:spcPct val="100000"/>
              </a:lnSpc>
              <a:spcBef>
                <a:spcPts val="655"/>
              </a:spcBef>
            </a:pPr>
            <a:r>
              <a:rPr dirty="0" sz="1100" spc="-30">
                <a:latin typeface="Microsoft YaHei"/>
                <a:cs typeface="Microsoft YaHei"/>
              </a:rPr>
              <a:t>楼面安装</a:t>
            </a:r>
            <a:endParaRPr sz="1100">
              <a:latin typeface="Microsoft YaHei"/>
              <a:cs typeface="Microsoft YaHei"/>
            </a:endParaRPr>
          </a:p>
        </p:txBody>
      </p:sp>
      <p:sp>
        <p:nvSpPr>
          <p:cNvPr id="23" name="object 23" descr=""/>
          <p:cNvSpPr txBox="1"/>
          <p:nvPr/>
        </p:nvSpPr>
        <p:spPr>
          <a:xfrm>
            <a:off x="4202766" y="3481665"/>
            <a:ext cx="1246505" cy="323215"/>
          </a:xfrm>
          <a:prstGeom prst="rect">
            <a:avLst/>
          </a:prstGeom>
          <a:ln w="9525">
            <a:solidFill>
              <a:srgbClr val="D5E8EA"/>
            </a:solidFill>
          </a:ln>
        </p:spPr>
        <p:txBody>
          <a:bodyPr wrap="square" lIns="0" tIns="83185" rIns="0" bIns="0" rtlCol="0" vert="horz">
            <a:spAutoFit/>
          </a:bodyPr>
          <a:lstStyle/>
          <a:p>
            <a:pPr marL="344170">
              <a:lnSpc>
                <a:spcPct val="100000"/>
              </a:lnSpc>
              <a:spcBef>
                <a:spcPts val="655"/>
              </a:spcBef>
            </a:pPr>
            <a:r>
              <a:rPr dirty="0" sz="1100" spc="-30">
                <a:latin typeface="Microsoft YaHei"/>
                <a:cs typeface="Microsoft YaHei"/>
              </a:rPr>
              <a:t>伪装安装</a:t>
            </a:r>
            <a:endParaRPr sz="1100">
              <a:latin typeface="Microsoft YaHei"/>
              <a:cs typeface="Microsoft YaHei"/>
            </a:endParaRPr>
          </a:p>
        </p:txBody>
      </p:sp>
      <p:sp>
        <p:nvSpPr>
          <p:cNvPr id="24" name="object 24" descr=""/>
          <p:cNvSpPr txBox="1"/>
          <p:nvPr/>
        </p:nvSpPr>
        <p:spPr>
          <a:xfrm>
            <a:off x="521990" y="3958644"/>
            <a:ext cx="8232140" cy="666115"/>
          </a:xfrm>
          <a:prstGeom prst="rect">
            <a:avLst/>
          </a:prstGeom>
        </p:spPr>
        <p:txBody>
          <a:bodyPr wrap="square" lIns="0" tIns="12700" rIns="0" bIns="0" rtlCol="0" vert="horz">
            <a:spAutoFit/>
          </a:bodyPr>
          <a:lstStyle/>
          <a:p>
            <a:pPr marL="12700" marR="5080" indent="208279">
              <a:lnSpc>
                <a:spcPct val="150000"/>
              </a:lnSpc>
              <a:spcBef>
                <a:spcPts val="100"/>
              </a:spcBef>
            </a:pPr>
            <a:r>
              <a:rPr dirty="0" sz="1400" spc="-20">
                <a:latin typeface="Microsoft YaHei"/>
                <a:cs typeface="Microsoft YaHei"/>
              </a:rPr>
              <a:t>利用社会建筑物资源分为</a:t>
            </a:r>
            <a:r>
              <a:rPr dirty="0" sz="1400" spc="-20" b="1">
                <a:solidFill>
                  <a:srgbClr val="FF0000"/>
                </a:solidFill>
                <a:latin typeface="Microsoft YaHei"/>
                <a:cs typeface="Microsoft YaHei"/>
              </a:rPr>
              <a:t>建筑物楼面</a:t>
            </a:r>
            <a:r>
              <a:rPr dirty="0" sz="1400" spc="-20">
                <a:latin typeface="Microsoft YaHei"/>
                <a:cs typeface="Microsoft YaHei"/>
              </a:rPr>
              <a:t>、</a:t>
            </a:r>
            <a:r>
              <a:rPr dirty="0" sz="1400" spc="-20" b="1">
                <a:solidFill>
                  <a:srgbClr val="FF0000"/>
                </a:solidFill>
                <a:latin typeface="Microsoft YaHei"/>
                <a:cs typeface="Microsoft YaHei"/>
              </a:rPr>
              <a:t>外立面两种</a:t>
            </a:r>
            <a:r>
              <a:rPr dirty="0" sz="1400" spc="-20">
                <a:latin typeface="Microsoft YaHei"/>
                <a:cs typeface="Microsoft YaHei"/>
              </a:rPr>
              <a:t>，一般覆盖</a:t>
            </a:r>
            <a:r>
              <a:rPr dirty="0" sz="1400" spc="-20" b="1">
                <a:solidFill>
                  <a:srgbClr val="FF0000"/>
                </a:solidFill>
                <a:latin typeface="Microsoft YaHei"/>
                <a:cs typeface="Microsoft YaHei"/>
              </a:rPr>
              <a:t>密集小区</a:t>
            </a:r>
            <a:r>
              <a:rPr dirty="0" sz="1400" spc="-20">
                <a:latin typeface="Microsoft YaHei"/>
                <a:cs typeface="Microsoft YaHei"/>
              </a:rPr>
              <a:t>、</a:t>
            </a:r>
            <a:r>
              <a:rPr dirty="0" sz="1400" spc="-15" b="1">
                <a:solidFill>
                  <a:srgbClr val="FF0000"/>
                </a:solidFill>
                <a:latin typeface="Microsoft YaHei"/>
                <a:cs typeface="Microsoft YaHei"/>
              </a:rPr>
              <a:t>道路</a:t>
            </a:r>
            <a:r>
              <a:rPr dirty="0" sz="1400" spc="-25">
                <a:latin typeface="Microsoft YaHei"/>
                <a:cs typeface="Microsoft YaHei"/>
              </a:rPr>
              <a:t>等场景；对有隐蔽或美化</a:t>
            </a:r>
            <a:r>
              <a:rPr dirty="0" sz="1400" spc="-20">
                <a:latin typeface="Microsoft YaHei"/>
                <a:cs typeface="Microsoft YaHei"/>
              </a:rPr>
              <a:t>要求的区域，可采用</a:t>
            </a:r>
            <a:r>
              <a:rPr dirty="0" sz="1400" spc="-20" b="1">
                <a:solidFill>
                  <a:srgbClr val="FF0000"/>
                </a:solidFill>
                <a:latin typeface="Microsoft YaHei"/>
                <a:cs typeface="Microsoft YaHei"/>
              </a:rPr>
              <a:t>美化及伪装</a:t>
            </a:r>
            <a:r>
              <a:rPr dirty="0" sz="1400" spc="-20">
                <a:latin typeface="Microsoft YaHei"/>
                <a:cs typeface="Microsoft YaHei"/>
              </a:rPr>
              <a:t>方式进行建设，如</a:t>
            </a:r>
            <a:r>
              <a:rPr dirty="0" sz="1400" spc="-20" b="1">
                <a:solidFill>
                  <a:srgbClr val="FF0000"/>
                </a:solidFill>
                <a:latin typeface="Microsoft YaHei"/>
                <a:cs typeface="Microsoft YaHei"/>
              </a:rPr>
              <a:t>射灯、天线涂装</a:t>
            </a:r>
            <a:r>
              <a:rPr dirty="0" sz="1400" spc="-30">
                <a:latin typeface="Microsoft YaHei"/>
                <a:cs typeface="Microsoft YaHei"/>
              </a:rPr>
              <a:t>等形式。</a:t>
            </a:r>
            <a:endParaRPr sz="1400">
              <a:latin typeface="Microsoft YaHei"/>
              <a:cs typeface="Microsoft YaHei"/>
            </a:endParaRPr>
          </a:p>
        </p:txBody>
      </p:sp>
      <p:grpSp>
        <p:nvGrpSpPr>
          <p:cNvPr id="25" name="object 25"/>
          <p:cNvGrpSpPr/>
          <p:nvPr/>
        </p:nvGrpSpPr>
        <p:grpSpPr>
          <a:xfrm>
            <a:off x="302513" y="3993641"/>
            <a:ext cx="8625840" cy="745490"/>
            <a:chOff x="302513" y="3993641"/>
            <a:chExt cx="8625840" cy="745490"/>
          </a:xfrm>
        </p:grpSpPr>
        <p:pic>
          <p:nvPicPr>
            <p:cNvPr id="26" name="object 26"/>
            <p:cNvPicPr/>
            <p:nvPr/>
          </p:nvPicPr>
          <p:blipFill>
            <a:blip r:embed="rId10" cstate="print"/>
            <a:stretch>
              <a:fillRect/>
            </a:stretch>
          </p:blipFill>
          <p:spPr>
            <a:xfrm>
              <a:off x="302513" y="3993641"/>
              <a:ext cx="8625827" cy="745235"/>
            </a:xfrm>
            <a:prstGeom prst="rect">
              <a:avLst/>
            </a:prstGeom>
          </p:spPr>
        </p:pic>
        <p:sp>
          <p:nvSpPr>
            <p:cNvPr id="27" name="object 27" descr=""/>
            <p:cNvSpPr/>
            <p:nvPr/>
          </p:nvSpPr>
          <p:spPr>
            <a:xfrm>
              <a:off x="348738" y="4016446"/>
              <a:ext cx="8534400" cy="654050"/>
            </a:xfrm>
            <a:custGeom>
              <a:avLst/>
              <a:gdLst/>
              <a:ahLst/>
              <a:cxnLst/>
              <a:rect l="l" t="t" r="r" b="b"/>
              <a:pathLst>
                <a:path w="8534400" h="654050">
                  <a:moveTo>
                    <a:pt x="0" y="108927"/>
                  </a:moveTo>
                  <a:lnTo>
                    <a:pt x="8559" y="66527"/>
                  </a:lnTo>
                  <a:lnTo>
                    <a:pt x="31903" y="31903"/>
                  </a:lnTo>
                  <a:lnTo>
                    <a:pt x="66527" y="8559"/>
                  </a:lnTo>
                  <a:lnTo>
                    <a:pt x="108927" y="0"/>
                  </a:lnTo>
                  <a:lnTo>
                    <a:pt x="8425129" y="0"/>
                  </a:lnTo>
                  <a:lnTo>
                    <a:pt x="8467529" y="8559"/>
                  </a:lnTo>
                  <a:lnTo>
                    <a:pt x="8502153" y="31903"/>
                  </a:lnTo>
                  <a:lnTo>
                    <a:pt x="8525497" y="66527"/>
                  </a:lnTo>
                  <a:lnTo>
                    <a:pt x="8534057" y="108927"/>
                  </a:lnTo>
                  <a:lnTo>
                    <a:pt x="8534057" y="544614"/>
                  </a:lnTo>
                  <a:lnTo>
                    <a:pt x="8525497" y="587006"/>
                  </a:lnTo>
                  <a:lnTo>
                    <a:pt x="8502153" y="621626"/>
                  </a:lnTo>
                  <a:lnTo>
                    <a:pt x="8467529" y="644969"/>
                  </a:lnTo>
                  <a:lnTo>
                    <a:pt x="8425129" y="653529"/>
                  </a:lnTo>
                  <a:lnTo>
                    <a:pt x="108927" y="653529"/>
                  </a:lnTo>
                  <a:lnTo>
                    <a:pt x="66527" y="644969"/>
                  </a:lnTo>
                  <a:lnTo>
                    <a:pt x="31903" y="621626"/>
                  </a:lnTo>
                  <a:lnTo>
                    <a:pt x="8559" y="587006"/>
                  </a:lnTo>
                  <a:lnTo>
                    <a:pt x="0" y="544614"/>
                  </a:lnTo>
                  <a:lnTo>
                    <a:pt x="0" y="108927"/>
                  </a:lnTo>
                  <a:close/>
                </a:path>
              </a:pathLst>
            </a:custGeom>
            <a:ln w="9525">
              <a:solidFill>
                <a:srgbClr val="948A54"/>
              </a:solidFill>
              <a:prstDash val="sysDash"/>
            </a:ln>
          </p:spPr>
          <p:txBody>
            <a:bodyPr wrap="square" lIns="0" tIns="0" rIns="0" bIns="0" rtlCol="0"/>
            <a:lstStyle/>
            <a:p/>
          </p:txBody>
        </p:sp>
      </p:grpSp>
      <p:pic>
        <p:nvPicPr>
          <p:cNvPr id="28" name="object 28"/>
          <p:cNvPicPr/>
          <p:nvPr/>
        </p:nvPicPr>
        <p:blipFill>
          <a:blip r:embed="rId11" cstate="print"/>
          <a:stretch>
            <a:fillRect/>
          </a:stretch>
        </p:blipFill>
        <p:spPr>
          <a:xfrm>
            <a:off x="5945409" y="1311973"/>
            <a:ext cx="1158449" cy="2091392"/>
          </a:xfrm>
          <a:prstGeom prst="rect">
            <a:avLst/>
          </a:prstGeom>
        </p:spPr>
      </p:pic>
      <p:grpSp>
        <p:nvGrpSpPr>
          <p:cNvPr id="29" name="object 29" descr=""/>
          <p:cNvGrpSpPr/>
          <p:nvPr/>
        </p:nvGrpSpPr>
        <p:grpSpPr>
          <a:xfrm>
            <a:off x="5855208" y="3448811"/>
            <a:ext cx="1339215" cy="414655"/>
            <a:chOff x="5855208" y="3448811"/>
            <a:chExt cx="1339215" cy="414655"/>
          </a:xfrm>
        </p:grpSpPr>
        <p:pic>
          <p:nvPicPr>
            <p:cNvPr id="30" name="object 30" descr=""/>
            <p:cNvPicPr/>
            <p:nvPr/>
          </p:nvPicPr>
          <p:blipFill>
            <a:blip r:embed="rId12" cstate="print"/>
            <a:stretch>
              <a:fillRect/>
            </a:stretch>
          </p:blipFill>
          <p:spPr>
            <a:xfrm>
              <a:off x="5855208" y="3448811"/>
              <a:ext cx="1338832" cy="414527"/>
            </a:xfrm>
            <a:prstGeom prst="rect">
              <a:avLst/>
            </a:prstGeom>
          </p:spPr>
        </p:pic>
        <p:pic>
          <p:nvPicPr>
            <p:cNvPr id="31" name="object 31" descr=""/>
            <p:cNvPicPr/>
            <p:nvPr/>
          </p:nvPicPr>
          <p:blipFill>
            <a:blip r:embed="rId6" cstate="print"/>
            <a:stretch>
              <a:fillRect/>
            </a:stretch>
          </p:blipFill>
          <p:spPr>
            <a:xfrm>
              <a:off x="5901385" y="3471532"/>
              <a:ext cx="1246505" cy="323164"/>
            </a:xfrm>
            <a:prstGeom prst="rect">
              <a:avLst/>
            </a:prstGeom>
          </p:spPr>
        </p:pic>
      </p:grpSp>
      <p:sp>
        <p:nvSpPr>
          <p:cNvPr id="32" name="object 32" descr=""/>
          <p:cNvSpPr txBox="1"/>
          <p:nvPr/>
        </p:nvSpPr>
        <p:spPr>
          <a:xfrm>
            <a:off x="5901378" y="3471529"/>
            <a:ext cx="1246505" cy="323215"/>
          </a:xfrm>
          <a:prstGeom prst="rect">
            <a:avLst/>
          </a:prstGeom>
          <a:ln w="9525">
            <a:solidFill>
              <a:srgbClr val="D5E8EA"/>
            </a:solidFill>
          </a:ln>
        </p:spPr>
        <p:txBody>
          <a:bodyPr wrap="square" lIns="0" tIns="83185" rIns="0" bIns="0" rtlCol="0" vert="horz">
            <a:spAutoFit/>
          </a:bodyPr>
          <a:lstStyle/>
          <a:p>
            <a:pPr marL="204470">
              <a:lnSpc>
                <a:spcPct val="100000"/>
              </a:lnSpc>
              <a:spcBef>
                <a:spcPts val="655"/>
              </a:spcBef>
            </a:pPr>
            <a:r>
              <a:rPr dirty="0" sz="1100" spc="-25">
                <a:latin typeface="Microsoft YaHei"/>
                <a:cs typeface="Microsoft YaHei"/>
              </a:rPr>
              <a:t>楼面抱杆安装</a:t>
            </a:r>
            <a:endParaRPr sz="1100">
              <a:latin typeface="Microsoft YaHei"/>
              <a:cs typeface="Microsoft YaHei"/>
            </a:endParaRPr>
          </a:p>
        </p:txBody>
      </p:sp>
      <p:pic>
        <p:nvPicPr>
          <p:cNvPr id="33" name="object 33"/>
          <p:cNvPicPr/>
          <p:nvPr/>
        </p:nvPicPr>
        <p:blipFill>
          <a:blip r:embed="rId13" cstate="print"/>
          <a:stretch>
            <a:fillRect/>
          </a:stretch>
        </p:blipFill>
        <p:spPr>
          <a:xfrm>
            <a:off x="422173" y="1288732"/>
            <a:ext cx="1589181" cy="2105685"/>
          </a:xfrm>
          <a:prstGeom prst="rect">
            <a:avLst/>
          </a:prstGeom>
        </p:spPr>
      </p:pic>
      <p:grpSp>
        <p:nvGrpSpPr>
          <p:cNvPr id="34" name="object 34" descr=""/>
          <p:cNvGrpSpPr/>
          <p:nvPr/>
        </p:nvGrpSpPr>
        <p:grpSpPr>
          <a:xfrm>
            <a:off x="7184135" y="1084326"/>
            <a:ext cx="1960245" cy="2745740"/>
            <a:chOff x="7184135" y="1084326"/>
            <a:chExt cx="1960245" cy="2745740"/>
          </a:xfrm>
        </p:grpSpPr>
        <p:pic>
          <p:nvPicPr>
            <p:cNvPr id="35" name="object 35"/>
            <p:cNvPicPr/>
            <p:nvPr/>
          </p:nvPicPr>
          <p:blipFill>
            <a:blip r:embed="rId14" cstate="print"/>
            <a:stretch>
              <a:fillRect/>
            </a:stretch>
          </p:blipFill>
          <p:spPr>
            <a:xfrm>
              <a:off x="7184135" y="1084326"/>
              <a:ext cx="1959863" cy="2678429"/>
            </a:xfrm>
            <a:prstGeom prst="rect">
              <a:avLst/>
            </a:prstGeom>
          </p:spPr>
        </p:pic>
        <p:pic>
          <p:nvPicPr>
            <p:cNvPr id="36" name="object 36" descr=""/>
            <p:cNvPicPr/>
            <p:nvPr/>
          </p:nvPicPr>
          <p:blipFill>
            <a:blip r:embed="rId15" cstate="print"/>
            <a:stretch>
              <a:fillRect/>
            </a:stretch>
          </p:blipFill>
          <p:spPr>
            <a:xfrm>
              <a:off x="7378569" y="1279112"/>
              <a:ext cx="1475092" cy="2091385"/>
            </a:xfrm>
            <a:prstGeom prst="rect">
              <a:avLst/>
            </a:prstGeom>
          </p:spPr>
        </p:pic>
        <p:pic>
          <p:nvPicPr>
            <p:cNvPr id="37" name="object 37" descr=""/>
            <p:cNvPicPr/>
            <p:nvPr/>
          </p:nvPicPr>
          <p:blipFill>
            <a:blip r:embed="rId16" cstate="print"/>
            <a:stretch>
              <a:fillRect/>
            </a:stretch>
          </p:blipFill>
          <p:spPr>
            <a:xfrm>
              <a:off x="7456170" y="3415283"/>
              <a:ext cx="1338832" cy="414527"/>
            </a:xfrm>
            <a:prstGeom prst="rect">
              <a:avLst/>
            </a:prstGeom>
          </p:spPr>
        </p:pic>
        <p:pic>
          <p:nvPicPr>
            <p:cNvPr id="38" name="object 38" descr=""/>
            <p:cNvPicPr/>
            <p:nvPr/>
          </p:nvPicPr>
          <p:blipFill>
            <a:blip r:embed="rId6" cstate="print"/>
            <a:stretch>
              <a:fillRect/>
            </a:stretch>
          </p:blipFill>
          <p:spPr>
            <a:xfrm>
              <a:off x="7502258" y="3437864"/>
              <a:ext cx="1246504" cy="323164"/>
            </a:xfrm>
            <a:prstGeom prst="rect">
              <a:avLst/>
            </a:prstGeom>
          </p:spPr>
        </p:pic>
      </p:grpSp>
      <p:sp>
        <p:nvSpPr>
          <p:cNvPr id="39" name="object 39" descr=""/>
          <p:cNvSpPr txBox="1"/>
          <p:nvPr/>
        </p:nvSpPr>
        <p:spPr>
          <a:xfrm>
            <a:off x="7502262" y="3437859"/>
            <a:ext cx="1246505" cy="323215"/>
          </a:xfrm>
          <a:prstGeom prst="rect">
            <a:avLst/>
          </a:prstGeom>
          <a:ln w="9525">
            <a:solidFill>
              <a:srgbClr val="D5E8EA"/>
            </a:solidFill>
          </a:ln>
        </p:spPr>
        <p:txBody>
          <a:bodyPr wrap="square" lIns="0" tIns="83185" rIns="0" bIns="0" rtlCol="0" vert="horz">
            <a:spAutoFit/>
          </a:bodyPr>
          <a:lstStyle/>
          <a:p>
            <a:pPr marL="344170">
              <a:lnSpc>
                <a:spcPct val="100000"/>
              </a:lnSpc>
              <a:spcBef>
                <a:spcPts val="655"/>
              </a:spcBef>
            </a:pPr>
            <a:r>
              <a:rPr dirty="0" sz="1100" spc="-30">
                <a:latin typeface="Microsoft YaHei"/>
                <a:cs typeface="Microsoft YaHei"/>
              </a:rPr>
              <a:t>隐藏安装</a:t>
            </a:r>
            <a:endParaRPr sz="1100">
              <a:latin typeface="Microsoft YaHei"/>
              <a:cs typeface="Microsoft YaHe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68859" y="901700"/>
            <a:ext cx="2192655" cy="355600"/>
            <a:chOff x="168859" y="901700"/>
            <a:chExt cx="2192655" cy="355600"/>
          </a:xfrm>
        </p:grpSpPr>
        <p:pic>
          <p:nvPicPr>
            <p:cNvPr id="3" name="object 3" descr=""/>
            <p:cNvPicPr/>
            <p:nvPr/>
          </p:nvPicPr>
          <p:blipFill>
            <a:blip r:embed="rId2" cstate="print"/>
            <a:stretch>
              <a:fillRect/>
            </a:stretch>
          </p:blipFill>
          <p:spPr>
            <a:xfrm>
              <a:off x="218693" y="951738"/>
              <a:ext cx="2142743" cy="305561"/>
            </a:xfrm>
            <a:prstGeom prst="rect">
              <a:avLst/>
            </a:prstGeom>
          </p:spPr>
        </p:pic>
        <p:pic>
          <p:nvPicPr>
            <p:cNvPr id="4" name="object 4" descr=""/>
            <p:cNvPicPr/>
            <p:nvPr/>
          </p:nvPicPr>
          <p:blipFill>
            <a:blip r:embed="rId3" cstate="print"/>
            <a:stretch>
              <a:fillRect/>
            </a:stretch>
          </p:blipFill>
          <p:spPr>
            <a:xfrm>
              <a:off x="472439" y="943355"/>
              <a:ext cx="1687829" cy="268223"/>
            </a:xfrm>
            <a:prstGeom prst="rect">
              <a:avLst/>
            </a:prstGeom>
          </p:spPr>
        </p:pic>
        <p:sp>
          <p:nvSpPr>
            <p:cNvPr id="5" name="object 5" descr=""/>
            <p:cNvSpPr/>
            <p:nvPr/>
          </p:nvSpPr>
          <p:spPr>
            <a:xfrm>
              <a:off x="168859" y="901700"/>
              <a:ext cx="2141855" cy="304165"/>
            </a:xfrm>
            <a:custGeom>
              <a:avLst/>
              <a:gdLst/>
              <a:ahLst/>
              <a:cxnLst/>
              <a:rect l="l" t="t" r="r" b="b"/>
              <a:pathLst>
                <a:path w="2141855" h="304165">
                  <a:moveTo>
                    <a:pt x="2141347" y="0"/>
                  </a:moveTo>
                  <a:lnTo>
                    <a:pt x="0" y="0"/>
                  </a:lnTo>
                  <a:lnTo>
                    <a:pt x="0" y="303784"/>
                  </a:lnTo>
                  <a:lnTo>
                    <a:pt x="2141347" y="303784"/>
                  </a:lnTo>
                  <a:lnTo>
                    <a:pt x="2141347" y="0"/>
                  </a:lnTo>
                  <a:close/>
                </a:path>
              </a:pathLst>
            </a:custGeom>
            <a:solidFill>
              <a:srgbClr val="333399"/>
            </a:solidFill>
          </p:spPr>
          <p:txBody>
            <a:bodyPr wrap="square" lIns="0" tIns="0" rIns="0" bIns="0" rtlCol="0"/>
            <a:lstStyle/>
            <a:p/>
          </p:txBody>
        </p:sp>
      </p:grpSp>
      <p:sp>
        <p:nvSpPr>
          <p:cNvPr id="6" name="object 6" descr=""/>
          <p:cNvSpPr txBox="1"/>
          <p:nvPr/>
        </p:nvSpPr>
        <p:spPr>
          <a:xfrm>
            <a:off x="168859" y="901700"/>
            <a:ext cx="2141855" cy="304165"/>
          </a:xfrm>
          <a:prstGeom prst="rect">
            <a:avLst/>
          </a:prstGeom>
        </p:spPr>
        <p:txBody>
          <a:bodyPr wrap="square" lIns="0" tIns="38735" rIns="0" bIns="0" rtlCol="0" vert="horz">
            <a:spAutoFit/>
          </a:bodyPr>
          <a:lstStyle/>
          <a:p>
            <a:pPr marL="360045">
              <a:lnSpc>
                <a:spcPct val="100000"/>
              </a:lnSpc>
              <a:spcBef>
                <a:spcPts val="305"/>
              </a:spcBef>
            </a:pPr>
            <a:r>
              <a:rPr dirty="0" sz="1400" spc="-25">
                <a:solidFill>
                  <a:srgbClr val="FFFFFF"/>
                </a:solidFill>
                <a:latin typeface="Microsoft YaHei"/>
                <a:cs typeface="Microsoft YaHei"/>
              </a:rPr>
              <a:t>微站自有杆塔资源</a:t>
            </a:r>
            <a:endParaRPr sz="1400">
              <a:latin typeface="Microsoft YaHei"/>
              <a:cs typeface="Microsoft YaHei"/>
            </a:endParaRPr>
          </a:p>
        </p:txBody>
      </p:sp>
      <p:sp>
        <p:nvSpPr>
          <p:cNvPr id="7" name="object 7" descr=""/>
          <p:cNvSpPr/>
          <p:nvPr/>
        </p:nvSpPr>
        <p:spPr>
          <a:xfrm>
            <a:off x="2441994" y="928001"/>
            <a:ext cx="4459605" cy="346710"/>
          </a:xfrm>
          <a:custGeom>
            <a:avLst/>
            <a:gdLst/>
            <a:ahLst/>
            <a:cxnLst/>
            <a:rect l="l" t="t" r="r" b="b"/>
            <a:pathLst>
              <a:path w="4459605" h="346709">
                <a:moveTo>
                  <a:pt x="4459312" y="0"/>
                </a:moveTo>
                <a:lnTo>
                  <a:pt x="0" y="0"/>
                </a:lnTo>
                <a:lnTo>
                  <a:pt x="0" y="346252"/>
                </a:lnTo>
                <a:lnTo>
                  <a:pt x="4459312" y="346252"/>
                </a:lnTo>
                <a:lnTo>
                  <a:pt x="4459312" y="0"/>
                </a:lnTo>
                <a:close/>
              </a:path>
            </a:pathLst>
          </a:custGeom>
          <a:solidFill>
            <a:srgbClr val="E7F3F4"/>
          </a:solidFill>
        </p:spPr>
        <p:txBody>
          <a:bodyPr wrap="square" lIns="0" tIns="0" rIns="0" bIns="0" rtlCol="0"/>
          <a:lstStyle/>
          <a:p/>
        </p:txBody>
      </p:sp>
      <p:sp>
        <p:nvSpPr>
          <p:cNvPr id="8" name="object 8" descr=""/>
          <p:cNvSpPr txBox="1"/>
          <p:nvPr/>
        </p:nvSpPr>
        <p:spPr>
          <a:xfrm>
            <a:off x="2497880" y="1002929"/>
            <a:ext cx="42926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3E3E3E"/>
                </a:solidFill>
                <a:latin typeface="Microsoft YaHei"/>
                <a:cs typeface="Microsoft YaHei"/>
              </a:rPr>
              <a:t>充分利用好自有杆塔，能够快速满足提升区域内容量一个方法。</a:t>
            </a:r>
            <a:endParaRPr sz="1200">
              <a:latin typeface="Microsoft YaHei"/>
              <a:cs typeface="Microsoft YaHei"/>
            </a:endParaRPr>
          </a:p>
        </p:txBody>
      </p:sp>
      <p:sp>
        <p:nvSpPr>
          <p:cNvPr id="9" name="object 9"/>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0"/>
              <a:t>微站建设策略</a:t>
            </a:r>
          </a:p>
        </p:txBody>
      </p:sp>
      <p:grpSp>
        <p:nvGrpSpPr>
          <p:cNvPr id="10" name="object 10" descr=""/>
          <p:cNvGrpSpPr/>
          <p:nvPr/>
        </p:nvGrpSpPr>
        <p:grpSpPr>
          <a:xfrm>
            <a:off x="167271" y="1224533"/>
            <a:ext cx="8537575" cy="3002915"/>
            <a:chOff x="167271" y="1224533"/>
            <a:chExt cx="8537575" cy="3002915"/>
          </a:xfrm>
        </p:grpSpPr>
        <p:sp>
          <p:nvSpPr>
            <p:cNvPr id="11" name="object 11" descr=""/>
            <p:cNvSpPr/>
            <p:nvPr/>
          </p:nvSpPr>
          <p:spPr>
            <a:xfrm>
              <a:off x="168859" y="1404683"/>
              <a:ext cx="8534400" cy="2821305"/>
            </a:xfrm>
            <a:custGeom>
              <a:avLst/>
              <a:gdLst/>
              <a:ahLst/>
              <a:cxnLst/>
              <a:rect l="l" t="t" r="r" b="b"/>
              <a:pathLst>
                <a:path w="8534400" h="2821304">
                  <a:moveTo>
                    <a:pt x="8534057" y="0"/>
                  </a:moveTo>
                  <a:lnTo>
                    <a:pt x="0" y="0"/>
                  </a:lnTo>
                  <a:lnTo>
                    <a:pt x="0" y="2821000"/>
                  </a:lnTo>
                  <a:lnTo>
                    <a:pt x="8534057" y="2821000"/>
                  </a:lnTo>
                  <a:lnTo>
                    <a:pt x="8534057" y="0"/>
                  </a:lnTo>
                  <a:close/>
                </a:path>
              </a:pathLst>
            </a:custGeom>
            <a:solidFill>
              <a:srgbClr val="F2F2F2">
                <a:alpha val="81961"/>
              </a:srgbClr>
            </a:solidFill>
          </p:spPr>
          <p:txBody>
            <a:bodyPr wrap="square" lIns="0" tIns="0" rIns="0" bIns="0" rtlCol="0"/>
            <a:lstStyle/>
            <a:p/>
          </p:txBody>
        </p:sp>
        <p:sp>
          <p:nvSpPr>
            <p:cNvPr id="12" name="object 12" descr=""/>
            <p:cNvSpPr/>
            <p:nvPr/>
          </p:nvSpPr>
          <p:spPr>
            <a:xfrm>
              <a:off x="168859" y="1404683"/>
              <a:ext cx="8534400" cy="2821305"/>
            </a:xfrm>
            <a:custGeom>
              <a:avLst/>
              <a:gdLst/>
              <a:ahLst/>
              <a:cxnLst/>
              <a:rect l="l" t="t" r="r" b="b"/>
              <a:pathLst>
                <a:path w="8534400" h="2821304">
                  <a:moveTo>
                    <a:pt x="0" y="0"/>
                  </a:moveTo>
                  <a:lnTo>
                    <a:pt x="8534057" y="0"/>
                  </a:lnTo>
                  <a:lnTo>
                    <a:pt x="8534057" y="2821000"/>
                  </a:lnTo>
                  <a:lnTo>
                    <a:pt x="0" y="2821000"/>
                  </a:lnTo>
                  <a:lnTo>
                    <a:pt x="0" y="0"/>
                  </a:lnTo>
                  <a:close/>
                </a:path>
              </a:pathLst>
            </a:custGeom>
            <a:ln w="3175">
              <a:solidFill>
                <a:srgbClr val="C00000"/>
              </a:solidFill>
            </a:ln>
          </p:spPr>
          <p:txBody>
            <a:bodyPr wrap="square" lIns="0" tIns="0" rIns="0" bIns="0" rtlCol="0"/>
            <a:lstStyle/>
            <a:p/>
          </p:txBody>
        </p:sp>
        <p:pic>
          <p:nvPicPr>
            <p:cNvPr id="13" name="object 13"/>
            <p:cNvPicPr/>
            <p:nvPr/>
          </p:nvPicPr>
          <p:blipFill>
            <a:blip r:embed="rId4" cstate="print"/>
            <a:stretch>
              <a:fillRect/>
            </a:stretch>
          </p:blipFill>
          <p:spPr>
            <a:xfrm>
              <a:off x="654978" y="1718170"/>
              <a:ext cx="1998481" cy="2420427"/>
            </a:xfrm>
            <a:prstGeom prst="rect">
              <a:avLst/>
            </a:prstGeom>
          </p:spPr>
        </p:pic>
        <p:pic>
          <p:nvPicPr>
            <p:cNvPr id="14" name="object 14"/>
            <p:cNvPicPr/>
            <p:nvPr/>
          </p:nvPicPr>
          <p:blipFill>
            <a:blip r:embed="rId5" cstate="print"/>
            <a:stretch>
              <a:fillRect/>
            </a:stretch>
          </p:blipFill>
          <p:spPr>
            <a:xfrm>
              <a:off x="3313772" y="1721205"/>
              <a:ext cx="2094352" cy="2450049"/>
            </a:xfrm>
            <a:prstGeom prst="rect">
              <a:avLst/>
            </a:prstGeom>
          </p:spPr>
        </p:pic>
        <p:pic>
          <p:nvPicPr>
            <p:cNvPr id="15" name="object 15"/>
            <p:cNvPicPr/>
            <p:nvPr/>
          </p:nvPicPr>
          <p:blipFill>
            <a:blip r:embed="rId6" cstate="print"/>
            <a:stretch>
              <a:fillRect/>
            </a:stretch>
          </p:blipFill>
          <p:spPr>
            <a:xfrm>
              <a:off x="6124654" y="1718170"/>
              <a:ext cx="2038130" cy="2431312"/>
            </a:xfrm>
            <a:prstGeom prst="rect">
              <a:avLst/>
            </a:prstGeom>
          </p:spPr>
        </p:pic>
        <p:pic>
          <p:nvPicPr>
            <p:cNvPr id="16" name="object 16" descr=""/>
            <p:cNvPicPr/>
            <p:nvPr/>
          </p:nvPicPr>
          <p:blipFill>
            <a:blip r:embed="rId7" cstate="print"/>
            <a:stretch>
              <a:fillRect/>
            </a:stretch>
          </p:blipFill>
          <p:spPr>
            <a:xfrm>
              <a:off x="3383280" y="1224533"/>
              <a:ext cx="1888997" cy="430529"/>
            </a:xfrm>
            <a:prstGeom prst="rect">
              <a:avLst/>
            </a:prstGeom>
          </p:spPr>
        </p:pic>
        <p:pic>
          <p:nvPicPr>
            <p:cNvPr id="17" name="object 17" descr=""/>
            <p:cNvPicPr/>
            <p:nvPr/>
          </p:nvPicPr>
          <p:blipFill>
            <a:blip r:embed="rId8" cstate="print"/>
            <a:stretch>
              <a:fillRect/>
            </a:stretch>
          </p:blipFill>
          <p:spPr>
            <a:xfrm>
              <a:off x="3458718" y="1226819"/>
              <a:ext cx="1789937" cy="392429"/>
            </a:xfrm>
            <a:prstGeom prst="rect">
              <a:avLst/>
            </a:prstGeom>
          </p:spPr>
        </p:pic>
        <p:pic>
          <p:nvPicPr>
            <p:cNvPr id="18" name="object 18" descr=""/>
            <p:cNvPicPr/>
            <p:nvPr/>
          </p:nvPicPr>
          <p:blipFill>
            <a:blip r:embed="rId9" cstate="print"/>
            <a:stretch>
              <a:fillRect/>
            </a:stretch>
          </p:blipFill>
          <p:spPr>
            <a:xfrm>
              <a:off x="3409645" y="1250784"/>
              <a:ext cx="1782432" cy="324040"/>
            </a:xfrm>
            <a:prstGeom prst="rect">
              <a:avLst/>
            </a:prstGeom>
          </p:spPr>
        </p:pic>
        <p:sp>
          <p:nvSpPr>
            <p:cNvPr id="19" name="object 19" descr=""/>
            <p:cNvSpPr/>
            <p:nvPr/>
          </p:nvSpPr>
          <p:spPr>
            <a:xfrm>
              <a:off x="3409643" y="1250789"/>
              <a:ext cx="1782445" cy="324485"/>
            </a:xfrm>
            <a:custGeom>
              <a:avLst/>
              <a:gdLst/>
              <a:ahLst/>
              <a:cxnLst/>
              <a:rect l="l" t="t" r="r" b="b"/>
              <a:pathLst>
                <a:path w="1782445" h="324484">
                  <a:moveTo>
                    <a:pt x="0" y="0"/>
                  </a:moveTo>
                  <a:lnTo>
                    <a:pt x="1782432" y="0"/>
                  </a:lnTo>
                  <a:lnTo>
                    <a:pt x="1782432" y="324040"/>
                  </a:lnTo>
                  <a:lnTo>
                    <a:pt x="0" y="324040"/>
                  </a:lnTo>
                  <a:lnTo>
                    <a:pt x="0" y="0"/>
                  </a:lnTo>
                  <a:close/>
                </a:path>
              </a:pathLst>
            </a:custGeom>
            <a:ln w="3175">
              <a:solidFill>
                <a:srgbClr val="D8D8D8"/>
              </a:solidFill>
            </a:ln>
          </p:spPr>
          <p:txBody>
            <a:bodyPr wrap="square" lIns="0" tIns="0" rIns="0" bIns="0" rtlCol="0"/>
            <a:lstStyle/>
            <a:p/>
          </p:txBody>
        </p:sp>
      </p:grpSp>
      <p:sp>
        <p:nvSpPr>
          <p:cNvPr id="20" name="object 20" descr=""/>
          <p:cNvSpPr txBox="1"/>
          <p:nvPr/>
        </p:nvSpPr>
        <p:spPr>
          <a:xfrm>
            <a:off x="3577847" y="1286569"/>
            <a:ext cx="1445895" cy="238760"/>
          </a:xfrm>
          <a:prstGeom prst="rect">
            <a:avLst/>
          </a:prstGeom>
        </p:spPr>
        <p:txBody>
          <a:bodyPr wrap="square" lIns="0" tIns="12065" rIns="0" bIns="0" rtlCol="0" vert="horz">
            <a:spAutoFit/>
          </a:bodyPr>
          <a:lstStyle/>
          <a:p>
            <a:pPr marL="12700">
              <a:lnSpc>
                <a:spcPct val="100000"/>
              </a:lnSpc>
              <a:spcBef>
                <a:spcPts val="95"/>
              </a:spcBef>
            </a:pPr>
            <a:r>
              <a:rPr dirty="0" sz="1400" spc="-25">
                <a:solidFill>
                  <a:srgbClr val="4C4C4C"/>
                </a:solidFill>
                <a:latin typeface="Microsoft YaHei"/>
                <a:cs typeface="Microsoft YaHei"/>
              </a:rPr>
              <a:t>利用自有站址杆塔</a:t>
            </a:r>
            <a:endParaRPr sz="1400">
              <a:latin typeface="Microsoft YaHei"/>
              <a:cs typeface="Microsoft YaHei"/>
            </a:endParaRPr>
          </a:p>
        </p:txBody>
      </p:sp>
      <p:grpSp>
        <p:nvGrpSpPr>
          <p:cNvPr id="21" name="object 21" descr=""/>
          <p:cNvGrpSpPr/>
          <p:nvPr/>
        </p:nvGrpSpPr>
        <p:grpSpPr>
          <a:xfrm>
            <a:off x="2693962" y="2796451"/>
            <a:ext cx="3356610" cy="222885"/>
            <a:chOff x="2693962" y="2796451"/>
            <a:chExt cx="3356610" cy="222885"/>
          </a:xfrm>
        </p:grpSpPr>
        <p:pic>
          <p:nvPicPr>
            <p:cNvPr id="22" name="object 22" descr=""/>
            <p:cNvPicPr/>
            <p:nvPr/>
          </p:nvPicPr>
          <p:blipFill>
            <a:blip r:embed="rId10" cstate="print"/>
            <a:stretch>
              <a:fillRect/>
            </a:stretch>
          </p:blipFill>
          <p:spPr>
            <a:xfrm>
              <a:off x="2693962" y="2796451"/>
              <a:ext cx="596163" cy="195630"/>
            </a:xfrm>
            <a:prstGeom prst="rect">
              <a:avLst/>
            </a:prstGeom>
          </p:spPr>
        </p:pic>
        <p:pic>
          <p:nvPicPr>
            <p:cNvPr id="23" name="object 23" descr=""/>
            <p:cNvPicPr/>
            <p:nvPr/>
          </p:nvPicPr>
          <p:blipFill>
            <a:blip r:embed="rId11" cstate="print"/>
            <a:stretch>
              <a:fillRect/>
            </a:stretch>
          </p:blipFill>
          <p:spPr>
            <a:xfrm>
              <a:off x="5453849" y="2823667"/>
              <a:ext cx="596163" cy="195630"/>
            </a:xfrm>
            <a:prstGeom prst="rect">
              <a:avLst/>
            </a:prstGeom>
          </p:spPr>
        </p:pic>
      </p:grpSp>
      <p:sp>
        <p:nvSpPr>
          <p:cNvPr id="24" name="object 24" descr=""/>
          <p:cNvSpPr txBox="1"/>
          <p:nvPr/>
        </p:nvSpPr>
        <p:spPr>
          <a:xfrm>
            <a:off x="614049" y="4376506"/>
            <a:ext cx="6067425" cy="238760"/>
          </a:xfrm>
          <a:prstGeom prst="rect">
            <a:avLst/>
          </a:prstGeom>
        </p:spPr>
        <p:txBody>
          <a:bodyPr wrap="square" lIns="0" tIns="12065" rIns="0" bIns="0" rtlCol="0" vert="horz">
            <a:spAutoFit/>
          </a:bodyPr>
          <a:lstStyle/>
          <a:p>
            <a:pPr marL="12700">
              <a:lnSpc>
                <a:spcPct val="100000"/>
              </a:lnSpc>
              <a:spcBef>
                <a:spcPts val="95"/>
              </a:spcBef>
            </a:pPr>
            <a:r>
              <a:rPr dirty="0" sz="1400" spc="-25">
                <a:latin typeface="Microsoft YaHei"/>
                <a:cs typeface="Microsoft YaHei"/>
              </a:rPr>
              <a:t>现网可用资源丰富，但同样需要加强杆塔资源能力评估，加强风险评估意思。</a:t>
            </a:r>
            <a:endParaRPr sz="1400">
              <a:latin typeface="Microsoft YaHei"/>
              <a:cs typeface="Microsoft YaHei"/>
            </a:endParaRPr>
          </a:p>
        </p:txBody>
      </p:sp>
      <p:grpSp>
        <p:nvGrpSpPr>
          <p:cNvPr id="25" name="object 25"/>
          <p:cNvGrpSpPr/>
          <p:nvPr/>
        </p:nvGrpSpPr>
        <p:grpSpPr>
          <a:xfrm>
            <a:off x="214884" y="4279391"/>
            <a:ext cx="8625840" cy="493395"/>
            <a:chOff x="214884" y="4279391"/>
            <a:chExt cx="8625840" cy="493395"/>
          </a:xfrm>
        </p:grpSpPr>
        <p:pic>
          <p:nvPicPr>
            <p:cNvPr id="26" name="object 26"/>
            <p:cNvPicPr/>
            <p:nvPr/>
          </p:nvPicPr>
          <p:blipFill>
            <a:blip r:embed="rId12" cstate="print"/>
            <a:stretch>
              <a:fillRect/>
            </a:stretch>
          </p:blipFill>
          <p:spPr>
            <a:xfrm>
              <a:off x="214884" y="4279391"/>
              <a:ext cx="8625839" cy="493013"/>
            </a:xfrm>
            <a:prstGeom prst="rect">
              <a:avLst/>
            </a:prstGeom>
          </p:spPr>
        </p:pic>
        <p:sp>
          <p:nvSpPr>
            <p:cNvPr id="27" name="object 27" descr=""/>
            <p:cNvSpPr/>
            <p:nvPr/>
          </p:nvSpPr>
          <p:spPr>
            <a:xfrm>
              <a:off x="260564" y="4301926"/>
              <a:ext cx="8534400" cy="401955"/>
            </a:xfrm>
            <a:custGeom>
              <a:avLst/>
              <a:gdLst/>
              <a:ahLst/>
              <a:cxnLst/>
              <a:rect l="l" t="t" r="r" b="b"/>
              <a:pathLst>
                <a:path w="8534400" h="401954">
                  <a:moveTo>
                    <a:pt x="0" y="66903"/>
                  </a:moveTo>
                  <a:lnTo>
                    <a:pt x="5258" y="40858"/>
                  </a:lnTo>
                  <a:lnTo>
                    <a:pt x="19597" y="19592"/>
                  </a:lnTo>
                  <a:lnTo>
                    <a:pt x="40864" y="5256"/>
                  </a:lnTo>
                  <a:lnTo>
                    <a:pt x="66903" y="0"/>
                  </a:lnTo>
                  <a:lnTo>
                    <a:pt x="8467153" y="0"/>
                  </a:lnTo>
                  <a:lnTo>
                    <a:pt x="8493193" y="5256"/>
                  </a:lnTo>
                  <a:lnTo>
                    <a:pt x="8514459" y="19592"/>
                  </a:lnTo>
                  <a:lnTo>
                    <a:pt x="8528798" y="40858"/>
                  </a:lnTo>
                  <a:lnTo>
                    <a:pt x="8534057" y="66903"/>
                  </a:lnTo>
                  <a:lnTo>
                    <a:pt x="8534057" y="334530"/>
                  </a:lnTo>
                  <a:lnTo>
                    <a:pt x="8528798" y="360570"/>
                  </a:lnTo>
                  <a:lnTo>
                    <a:pt x="8514459" y="381836"/>
                  </a:lnTo>
                  <a:lnTo>
                    <a:pt x="8493193" y="396175"/>
                  </a:lnTo>
                  <a:lnTo>
                    <a:pt x="8467153" y="401434"/>
                  </a:lnTo>
                  <a:lnTo>
                    <a:pt x="66903" y="401434"/>
                  </a:lnTo>
                  <a:lnTo>
                    <a:pt x="40864" y="396175"/>
                  </a:lnTo>
                  <a:lnTo>
                    <a:pt x="19597" y="381836"/>
                  </a:lnTo>
                  <a:lnTo>
                    <a:pt x="5258" y="360570"/>
                  </a:lnTo>
                  <a:lnTo>
                    <a:pt x="0" y="334530"/>
                  </a:lnTo>
                  <a:lnTo>
                    <a:pt x="0" y="66903"/>
                  </a:lnTo>
                  <a:close/>
                </a:path>
              </a:pathLst>
            </a:custGeom>
            <a:ln w="9525">
              <a:solidFill>
                <a:srgbClr val="948A54"/>
              </a:solidFill>
              <a:prstDash val="sysDash"/>
            </a:ln>
          </p:spPr>
          <p:txBody>
            <a:bodyPr wrap="square" lIns="0" tIns="0" rIns="0" bIns="0" rtlCol="0"/>
            <a:lstStyle/>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3957633" y="814386"/>
            <a:ext cx="2155825" cy="683260"/>
            <a:chOff x="3957633" y="814386"/>
            <a:chExt cx="2155825" cy="683260"/>
          </a:xfrm>
        </p:grpSpPr>
        <p:sp>
          <p:nvSpPr>
            <p:cNvPr id="3" name="object 3" descr=""/>
            <p:cNvSpPr/>
            <p:nvPr/>
          </p:nvSpPr>
          <p:spPr>
            <a:xfrm>
              <a:off x="3962396" y="819148"/>
              <a:ext cx="2146300" cy="673735"/>
            </a:xfrm>
            <a:custGeom>
              <a:avLst/>
              <a:gdLst/>
              <a:ahLst/>
              <a:cxnLst/>
              <a:rect l="l" t="t" r="r" b="b"/>
              <a:pathLst>
                <a:path w="2146300" h="673735">
                  <a:moveTo>
                    <a:pt x="1469275" y="0"/>
                  </a:moveTo>
                  <a:lnTo>
                    <a:pt x="1138669" y="135343"/>
                  </a:lnTo>
                  <a:lnTo>
                    <a:pt x="965809" y="58826"/>
                  </a:lnTo>
                  <a:lnTo>
                    <a:pt x="849388" y="198932"/>
                  </a:lnTo>
                  <a:lnTo>
                    <a:pt x="447243" y="112991"/>
                  </a:lnTo>
                  <a:lnTo>
                    <a:pt x="533666" y="243662"/>
                  </a:lnTo>
                  <a:lnTo>
                    <a:pt x="116433" y="257784"/>
                  </a:lnTo>
                  <a:lnTo>
                    <a:pt x="390918" y="361327"/>
                  </a:lnTo>
                  <a:lnTo>
                    <a:pt x="0" y="401383"/>
                  </a:lnTo>
                  <a:lnTo>
                    <a:pt x="330809" y="479094"/>
                  </a:lnTo>
                  <a:lnTo>
                    <a:pt x="127660" y="555612"/>
                  </a:lnTo>
                  <a:lnTo>
                    <a:pt x="477342" y="568553"/>
                  </a:lnTo>
                  <a:lnTo>
                    <a:pt x="488467" y="673290"/>
                  </a:lnTo>
                  <a:lnTo>
                    <a:pt x="747750" y="564972"/>
                  </a:lnTo>
                  <a:lnTo>
                    <a:pt x="864285" y="614438"/>
                  </a:lnTo>
                  <a:lnTo>
                    <a:pt x="980719" y="541439"/>
                  </a:lnTo>
                  <a:lnTo>
                    <a:pt x="1153566" y="587311"/>
                  </a:lnTo>
                  <a:lnTo>
                    <a:pt x="1209992" y="496709"/>
                  </a:lnTo>
                  <a:lnTo>
                    <a:pt x="1484376" y="541439"/>
                  </a:lnTo>
                  <a:lnTo>
                    <a:pt x="1454378" y="447293"/>
                  </a:lnTo>
                  <a:lnTo>
                    <a:pt x="1875294" y="487260"/>
                  </a:lnTo>
                  <a:lnTo>
                    <a:pt x="1627238" y="383705"/>
                  </a:lnTo>
                  <a:lnTo>
                    <a:pt x="1814995" y="351916"/>
                  </a:lnTo>
                  <a:lnTo>
                    <a:pt x="1687334" y="293065"/>
                  </a:lnTo>
                  <a:lnTo>
                    <a:pt x="2145804" y="207124"/>
                  </a:lnTo>
                  <a:lnTo>
                    <a:pt x="1627238" y="203606"/>
                  </a:lnTo>
                  <a:lnTo>
                    <a:pt x="1788871" y="98869"/>
                  </a:lnTo>
                  <a:lnTo>
                    <a:pt x="1442961" y="180073"/>
                  </a:lnTo>
                  <a:lnTo>
                    <a:pt x="1469275" y="0"/>
                  </a:lnTo>
                  <a:close/>
                </a:path>
              </a:pathLst>
            </a:custGeom>
            <a:solidFill>
              <a:srgbClr val="BBE0E3"/>
            </a:solidFill>
          </p:spPr>
          <p:txBody>
            <a:bodyPr wrap="square" lIns="0" tIns="0" rIns="0" bIns="0" rtlCol="0"/>
            <a:lstStyle/>
            <a:p/>
          </p:txBody>
        </p:sp>
        <p:sp>
          <p:nvSpPr>
            <p:cNvPr id="4" name="object 4" descr=""/>
            <p:cNvSpPr/>
            <p:nvPr/>
          </p:nvSpPr>
          <p:spPr>
            <a:xfrm>
              <a:off x="3962396" y="819148"/>
              <a:ext cx="2146300" cy="673735"/>
            </a:xfrm>
            <a:custGeom>
              <a:avLst/>
              <a:gdLst/>
              <a:ahLst/>
              <a:cxnLst/>
              <a:rect l="l" t="t" r="r" b="b"/>
              <a:pathLst>
                <a:path w="2146300" h="673735">
                  <a:moveTo>
                    <a:pt x="1138669" y="135343"/>
                  </a:moveTo>
                  <a:lnTo>
                    <a:pt x="1469275" y="0"/>
                  </a:lnTo>
                  <a:lnTo>
                    <a:pt x="1442961" y="180073"/>
                  </a:lnTo>
                  <a:lnTo>
                    <a:pt x="1788871" y="98869"/>
                  </a:lnTo>
                  <a:lnTo>
                    <a:pt x="1627238" y="203606"/>
                  </a:lnTo>
                  <a:lnTo>
                    <a:pt x="2145804" y="207124"/>
                  </a:lnTo>
                  <a:lnTo>
                    <a:pt x="1687334" y="293065"/>
                  </a:lnTo>
                  <a:lnTo>
                    <a:pt x="1814995" y="351916"/>
                  </a:lnTo>
                  <a:lnTo>
                    <a:pt x="1627238" y="383705"/>
                  </a:lnTo>
                  <a:lnTo>
                    <a:pt x="1875294" y="487260"/>
                  </a:lnTo>
                  <a:lnTo>
                    <a:pt x="1454378" y="447293"/>
                  </a:lnTo>
                  <a:lnTo>
                    <a:pt x="1484376" y="541439"/>
                  </a:lnTo>
                  <a:lnTo>
                    <a:pt x="1209992" y="496709"/>
                  </a:lnTo>
                  <a:lnTo>
                    <a:pt x="1153566" y="587311"/>
                  </a:lnTo>
                  <a:lnTo>
                    <a:pt x="980719" y="541439"/>
                  </a:lnTo>
                  <a:lnTo>
                    <a:pt x="864285" y="614438"/>
                  </a:lnTo>
                  <a:lnTo>
                    <a:pt x="747750" y="564972"/>
                  </a:lnTo>
                  <a:lnTo>
                    <a:pt x="488467" y="673290"/>
                  </a:lnTo>
                  <a:lnTo>
                    <a:pt x="477342" y="568553"/>
                  </a:lnTo>
                  <a:lnTo>
                    <a:pt x="127660" y="555612"/>
                  </a:lnTo>
                  <a:lnTo>
                    <a:pt x="330809" y="479094"/>
                  </a:lnTo>
                  <a:lnTo>
                    <a:pt x="0" y="401383"/>
                  </a:lnTo>
                  <a:lnTo>
                    <a:pt x="390918" y="361327"/>
                  </a:lnTo>
                  <a:lnTo>
                    <a:pt x="116433" y="257784"/>
                  </a:lnTo>
                  <a:lnTo>
                    <a:pt x="533666" y="243662"/>
                  </a:lnTo>
                  <a:lnTo>
                    <a:pt x="447243" y="112991"/>
                  </a:lnTo>
                  <a:lnTo>
                    <a:pt x="849388" y="198932"/>
                  </a:lnTo>
                  <a:lnTo>
                    <a:pt x="965809" y="58826"/>
                  </a:lnTo>
                  <a:lnTo>
                    <a:pt x="1138669" y="135343"/>
                  </a:lnTo>
                  <a:close/>
                </a:path>
              </a:pathLst>
            </a:custGeom>
            <a:ln w="9525">
              <a:solidFill>
                <a:srgbClr val="000000"/>
              </a:solidFill>
            </a:ln>
          </p:spPr>
          <p:txBody>
            <a:bodyPr wrap="square" lIns="0" tIns="0" rIns="0" bIns="0" rtlCol="0"/>
            <a:lstStyle/>
            <a:p/>
          </p:txBody>
        </p:sp>
      </p:grpSp>
      <p:sp>
        <p:nvSpPr>
          <p:cNvPr id="5" name="object 5" descr=""/>
          <p:cNvSpPr txBox="1"/>
          <p:nvPr/>
        </p:nvSpPr>
        <p:spPr>
          <a:xfrm>
            <a:off x="231140" y="763778"/>
            <a:ext cx="3583940" cy="452755"/>
          </a:xfrm>
          <a:prstGeom prst="rect">
            <a:avLst/>
          </a:prstGeom>
        </p:spPr>
        <p:txBody>
          <a:bodyPr wrap="square" lIns="0" tIns="12700" rIns="0" bIns="0" rtlCol="0" vert="horz">
            <a:spAutoFit/>
          </a:bodyPr>
          <a:lstStyle/>
          <a:p>
            <a:pPr marL="12700">
              <a:lnSpc>
                <a:spcPct val="100000"/>
              </a:lnSpc>
              <a:spcBef>
                <a:spcPts val="100"/>
              </a:spcBef>
            </a:pPr>
            <a:r>
              <a:rPr dirty="0" sz="2800" spc="-15" b="1">
                <a:solidFill>
                  <a:srgbClr val="1C4885"/>
                </a:solidFill>
                <a:latin typeface="Microsoft JhengHei"/>
                <a:cs typeface="Microsoft JhengHei"/>
              </a:rPr>
              <a:t>面对密集基站部署难题</a:t>
            </a:r>
            <a:endParaRPr sz="2800">
              <a:latin typeface="Microsoft JhengHei"/>
              <a:cs typeface="Microsoft JhengHei"/>
            </a:endParaRPr>
          </a:p>
        </p:txBody>
      </p:sp>
      <p:sp>
        <p:nvSpPr>
          <p:cNvPr id="6" name="object 6" descr=""/>
          <p:cNvSpPr txBox="1"/>
          <p:nvPr/>
        </p:nvSpPr>
        <p:spPr>
          <a:xfrm>
            <a:off x="4422140" y="1000759"/>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solidFill>
                  <a:srgbClr val="FF0000"/>
                </a:solidFill>
                <a:latin typeface="SimSun"/>
                <a:cs typeface="SimSun"/>
              </a:rPr>
              <a:t>他山之石</a:t>
            </a:r>
            <a:endParaRPr sz="1800">
              <a:latin typeface="SimSun"/>
              <a:cs typeface="SimSun"/>
            </a:endParaRPr>
          </a:p>
        </p:txBody>
      </p:sp>
      <p:pic>
        <p:nvPicPr>
          <p:cNvPr id="7" name="object 7"/>
          <p:cNvPicPr/>
          <p:nvPr/>
        </p:nvPicPr>
        <p:blipFill>
          <a:blip r:embed="rId2" cstate="print"/>
          <a:stretch>
            <a:fillRect/>
          </a:stretch>
        </p:blipFill>
        <p:spPr>
          <a:xfrm>
            <a:off x="6248400" y="971550"/>
            <a:ext cx="2709201" cy="1523923"/>
          </a:xfrm>
          <a:prstGeom prst="rect">
            <a:avLst/>
          </a:prstGeom>
        </p:spPr>
      </p:pic>
      <p:pic>
        <p:nvPicPr>
          <p:cNvPr id="8" name="object 8"/>
          <p:cNvPicPr/>
          <p:nvPr/>
        </p:nvPicPr>
        <p:blipFill>
          <a:blip r:embed="rId3" cstate="print"/>
          <a:stretch>
            <a:fillRect/>
          </a:stretch>
        </p:blipFill>
        <p:spPr>
          <a:xfrm>
            <a:off x="228600" y="1352550"/>
            <a:ext cx="2588742" cy="1162441"/>
          </a:xfrm>
          <a:prstGeom prst="rect">
            <a:avLst/>
          </a:prstGeom>
        </p:spPr>
      </p:pic>
      <p:pic>
        <p:nvPicPr>
          <p:cNvPr id="9" name="object 9"/>
          <p:cNvPicPr/>
          <p:nvPr/>
        </p:nvPicPr>
        <p:blipFill>
          <a:blip r:embed="rId4" cstate="print"/>
          <a:stretch>
            <a:fillRect/>
          </a:stretch>
        </p:blipFill>
        <p:spPr>
          <a:xfrm>
            <a:off x="3106753" y="1481125"/>
            <a:ext cx="2797438" cy="1934730"/>
          </a:xfrm>
          <a:prstGeom prst="rect">
            <a:avLst/>
          </a:prstGeom>
        </p:spPr>
      </p:pic>
      <p:pic>
        <p:nvPicPr>
          <p:cNvPr id="10" name="object 10"/>
          <p:cNvPicPr/>
          <p:nvPr/>
        </p:nvPicPr>
        <p:blipFill>
          <a:blip r:embed="rId5" cstate="print"/>
          <a:stretch>
            <a:fillRect/>
          </a:stretch>
        </p:blipFill>
        <p:spPr>
          <a:xfrm>
            <a:off x="6298196" y="2570403"/>
            <a:ext cx="2646180" cy="2184145"/>
          </a:xfrm>
          <a:prstGeom prst="rect">
            <a:avLst/>
          </a:prstGeom>
        </p:spPr>
      </p:pic>
      <p:pic>
        <p:nvPicPr>
          <p:cNvPr id="11" name="object 11"/>
          <p:cNvPicPr/>
          <p:nvPr/>
        </p:nvPicPr>
        <p:blipFill>
          <a:blip r:embed="rId6" cstate="print"/>
          <a:stretch>
            <a:fillRect/>
          </a:stretch>
        </p:blipFill>
        <p:spPr>
          <a:xfrm>
            <a:off x="241465" y="2797221"/>
            <a:ext cx="2516113" cy="2048374"/>
          </a:xfrm>
          <a:prstGeom prst="rect">
            <a:avLst/>
          </a:prstGeom>
        </p:spPr>
      </p:pic>
      <p:sp>
        <p:nvSpPr>
          <p:cNvPr id="12" name="object 12" descr=""/>
          <p:cNvSpPr txBox="1"/>
          <p:nvPr/>
        </p:nvSpPr>
        <p:spPr>
          <a:xfrm>
            <a:off x="3001733" y="3470226"/>
            <a:ext cx="3086100" cy="1245235"/>
          </a:xfrm>
          <a:prstGeom prst="rect">
            <a:avLst/>
          </a:prstGeom>
        </p:spPr>
        <p:txBody>
          <a:bodyPr wrap="square" lIns="0" tIns="12700" rIns="0" bIns="0" rtlCol="0" vert="horz">
            <a:spAutoFit/>
          </a:bodyPr>
          <a:lstStyle/>
          <a:p>
            <a:pPr algn="just" marL="12700" marR="5080">
              <a:lnSpc>
                <a:spcPct val="100000"/>
              </a:lnSpc>
              <a:spcBef>
                <a:spcPts val="100"/>
              </a:spcBef>
            </a:pPr>
            <a:r>
              <a:rPr dirty="0" sz="1600" spc="105">
                <a:latin typeface="SimSun"/>
                <a:cs typeface="SimSun"/>
              </a:rPr>
              <a:t>为应对</a:t>
            </a:r>
            <a:r>
              <a:rPr dirty="0" sz="1600" spc="-10">
                <a:latin typeface="SimSun"/>
                <a:cs typeface="SimSun"/>
              </a:rPr>
              <a:t>5</a:t>
            </a:r>
            <a:r>
              <a:rPr dirty="0" sz="1600" spc="110">
                <a:latin typeface="SimSun"/>
                <a:cs typeface="SimSun"/>
              </a:rPr>
              <a:t>G</a:t>
            </a:r>
            <a:r>
              <a:rPr dirty="0" sz="1600" spc="105">
                <a:latin typeface="SimSun"/>
                <a:cs typeface="SimSun"/>
              </a:rPr>
              <a:t>基站（尤其是</a:t>
            </a:r>
            <a:r>
              <a:rPr dirty="0" sz="1600" spc="-5">
                <a:latin typeface="SimSun"/>
                <a:cs typeface="SimSun"/>
              </a:rPr>
              <a:t>5</a:t>
            </a:r>
            <a:r>
              <a:rPr dirty="0" sz="1600" spc="110">
                <a:latin typeface="SimSun"/>
                <a:cs typeface="SimSun"/>
              </a:rPr>
              <a:t>G</a:t>
            </a:r>
            <a:r>
              <a:rPr dirty="0" sz="1600" spc="105">
                <a:latin typeface="SimSun"/>
                <a:cs typeface="SimSun"/>
              </a:rPr>
              <a:t>微站</a:t>
            </a:r>
            <a:r>
              <a:rPr dirty="0" sz="1600">
                <a:latin typeface="SimSun"/>
                <a:cs typeface="SimSun"/>
              </a:rPr>
              <a:t>）之密集部署， </a:t>
            </a:r>
            <a:r>
              <a:rPr dirty="0" sz="1600" spc="-10">
                <a:latin typeface="SimSun"/>
                <a:cs typeface="SimSun"/>
              </a:rPr>
              <a:t>N</a:t>
            </a:r>
            <a:r>
              <a:rPr dirty="0" sz="1600">
                <a:latin typeface="SimSun"/>
                <a:cs typeface="SimSun"/>
              </a:rPr>
              <a:t>TT</a:t>
            </a:r>
            <a:r>
              <a:rPr dirty="0" sz="1600" spc="135">
                <a:latin typeface="SimSun"/>
                <a:cs typeface="SimSun"/>
              </a:rPr>
              <a:t> </a:t>
            </a:r>
            <a:r>
              <a:rPr dirty="0" sz="1600">
                <a:latin typeface="SimSun"/>
                <a:cs typeface="SimSun"/>
              </a:rPr>
              <a:t>D</a:t>
            </a:r>
            <a:r>
              <a:rPr dirty="0" sz="1600" spc="-5">
                <a:latin typeface="SimSun"/>
                <a:cs typeface="SimSun"/>
              </a:rPr>
              <a:t>oco</a:t>
            </a:r>
            <a:r>
              <a:rPr dirty="0" sz="1600">
                <a:latin typeface="SimSun"/>
                <a:cs typeface="SimSun"/>
              </a:rPr>
              <a:t>m</a:t>
            </a:r>
            <a:r>
              <a:rPr dirty="0" sz="1600" spc="140">
                <a:latin typeface="SimSun"/>
                <a:cs typeface="SimSun"/>
              </a:rPr>
              <a:t>o</a:t>
            </a:r>
            <a:r>
              <a:rPr dirty="0" sz="1600" spc="135">
                <a:latin typeface="SimSun"/>
                <a:cs typeface="SimSun"/>
              </a:rPr>
              <a:t>研发出</a:t>
            </a:r>
            <a:r>
              <a:rPr dirty="0" sz="1600" spc="250">
                <a:latin typeface="SimSun"/>
                <a:cs typeface="SimSun"/>
              </a:rPr>
              <a:t>了可以部署于广泛分布于城市 </a:t>
            </a:r>
            <a:r>
              <a:rPr dirty="0" sz="1600" spc="40">
                <a:latin typeface="SimSun"/>
                <a:cs typeface="SimSun"/>
              </a:rPr>
              <a:t>“人孔”（窨井</a:t>
            </a:r>
            <a:r>
              <a:rPr dirty="0" sz="1600" spc="45">
                <a:latin typeface="SimSun"/>
                <a:cs typeface="SimSun"/>
              </a:rPr>
              <a:t>）</a:t>
            </a:r>
            <a:r>
              <a:rPr dirty="0" sz="1600" spc="-5">
                <a:latin typeface="SimSun"/>
                <a:cs typeface="SimSun"/>
              </a:rPr>
              <a:t>5</a:t>
            </a:r>
            <a:r>
              <a:rPr dirty="0" sz="1600" spc="35">
                <a:latin typeface="SimSun"/>
                <a:cs typeface="SimSun"/>
              </a:rPr>
              <a:t>G</a:t>
            </a:r>
            <a:r>
              <a:rPr dirty="0" sz="1600" spc="30">
                <a:latin typeface="SimSun"/>
                <a:cs typeface="SimSun"/>
              </a:rPr>
              <a:t>微站/天线产</a:t>
            </a:r>
            <a:r>
              <a:rPr dirty="0" sz="1600" spc="-10">
                <a:latin typeface="SimSun"/>
                <a:cs typeface="SimSun"/>
              </a:rPr>
              <a:t>品以及相关解决方案。</a:t>
            </a:r>
            <a:endParaRPr sz="1600">
              <a:latin typeface="SimSun"/>
              <a:cs typeface="SimSun"/>
            </a:endParaRPr>
          </a:p>
        </p:txBody>
      </p:sp>
      <p:sp>
        <p:nvSpPr>
          <p:cNvPr id="13" name="object 13"/>
          <p:cNvSpPr txBox="1">
            <a:spLocks noGrp="1"/>
          </p:cNvSpPr>
          <p:nvPr>
            <p:ph type="title"/>
          </p:nvPr>
        </p:nvSpPr>
        <p:spPr>
          <a:xfrm>
            <a:off x="3450596" y="189264"/>
            <a:ext cx="2467610" cy="513080"/>
          </a:xfrm>
          <a:prstGeom prst="rect"/>
        </p:spPr>
        <p:txBody>
          <a:bodyPr wrap="square" lIns="0" tIns="12065" rIns="0" bIns="0" rtlCol="0" vert="horz">
            <a:spAutoFit/>
          </a:bodyPr>
          <a:lstStyle/>
          <a:p>
            <a:pPr marL="12700">
              <a:lnSpc>
                <a:spcPct val="100000"/>
              </a:lnSpc>
              <a:spcBef>
                <a:spcPts val="95"/>
              </a:spcBef>
            </a:pPr>
            <a:r>
              <a:rPr dirty="0" spc="-40"/>
              <a:t>微站建设策略</a:t>
            </a:r>
          </a:p>
        </p:txBody>
      </p:sp>
    </p:spTree>
  </p:cSld>
  <p:clrMapOvr>
    <a:masterClrMapping/>
  </p:clrMapOvr>
  <p:transition spd="med">
    <p:fade thruBlk="0"/>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29235" y="884059"/>
            <a:ext cx="2263140" cy="356235"/>
            <a:chOff x="129235" y="884059"/>
            <a:chExt cx="2263140" cy="356235"/>
          </a:xfrm>
        </p:grpSpPr>
        <p:pic>
          <p:nvPicPr>
            <p:cNvPr id="3" name="object 3" descr=""/>
            <p:cNvPicPr/>
            <p:nvPr/>
          </p:nvPicPr>
          <p:blipFill>
            <a:blip r:embed="rId2" cstate="print"/>
            <a:stretch>
              <a:fillRect/>
            </a:stretch>
          </p:blipFill>
          <p:spPr>
            <a:xfrm>
              <a:off x="179069" y="934211"/>
              <a:ext cx="2212847" cy="305561"/>
            </a:xfrm>
            <a:prstGeom prst="rect">
              <a:avLst/>
            </a:prstGeom>
          </p:spPr>
        </p:pic>
        <p:pic>
          <p:nvPicPr>
            <p:cNvPr id="4" name="object 4" descr=""/>
            <p:cNvPicPr/>
            <p:nvPr/>
          </p:nvPicPr>
          <p:blipFill>
            <a:blip r:embed="rId3" cstate="print"/>
            <a:stretch>
              <a:fillRect/>
            </a:stretch>
          </p:blipFill>
          <p:spPr>
            <a:xfrm>
              <a:off x="438150" y="916685"/>
              <a:ext cx="1747265" cy="277367"/>
            </a:xfrm>
            <a:prstGeom prst="rect">
              <a:avLst/>
            </a:prstGeom>
          </p:spPr>
        </p:pic>
        <p:sp>
          <p:nvSpPr>
            <p:cNvPr id="5" name="object 5" descr=""/>
            <p:cNvSpPr/>
            <p:nvPr/>
          </p:nvSpPr>
          <p:spPr>
            <a:xfrm>
              <a:off x="129235" y="884059"/>
              <a:ext cx="2211070" cy="304165"/>
            </a:xfrm>
            <a:custGeom>
              <a:avLst/>
              <a:gdLst/>
              <a:ahLst/>
              <a:cxnLst/>
              <a:rect l="l" t="t" r="r" b="b"/>
              <a:pathLst>
                <a:path w="2211070" h="304165">
                  <a:moveTo>
                    <a:pt x="2210854" y="0"/>
                  </a:moveTo>
                  <a:lnTo>
                    <a:pt x="0" y="0"/>
                  </a:lnTo>
                  <a:lnTo>
                    <a:pt x="0" y="303784"/>
                  </a:lnTo>
                  <a:lnTo>
                    <a:pt x="2210854" y="303784"/>
                  </a:lnTo>
                  <a:lnTo>
                    <a:pt x="2210854" y="0"/>
                  </a:lnTo>
                  <a:close/>
                </a:path>
              </a:pathLst>
            </a:custGeom>
            <a:solidFill>
              <a:srgbClr val="333399"/>
            </a:solidFill>
          </p:spPr>
          <p:txBody>
            <a:bodyPr wrap="square" lIns="0" tIns="0" rIns="0" bIns="0" rtlCol="0"/>
            <a:lstStyle/>
            <a:p/>
          </p:txBody>
        </p:sp>
      </p:grpSp>
      <p:sp>
        <p:nvSpPr>
          <p:cNvPr id="6" name="object 6" descr=""/>
          <p:cNvSpPr txBox="1"/>
          <p:nvPr/>
        </p:nvSpPr>
        <p:spPr>
          <a:xfrm>
            <a:off x="129235" y="884059"/>
            <a:ext cx="2211070" cy="304165"/>
          </a:xfrm>
          <a:prstGeom prst="rect">
            <a:avLst/>
          </a:prstGeom>
        </p:spPr>
        <p:txBody>
          <a:bodyPr wrap="square" lIns="0" tIns="41275" rIns="0" bIns="0" rtlCol="0" vert="horz">
            <a:spAutoFit/>
          </a:bodyPr>
          <a:lstStyle/>
          <a:p>
            <a:pPr marL="365125">
              <a:lnSpc>
                <a:spcPct val="100000"/>
              </a:lnSpc>
              <a:spcBef>
                <a:spcPts val="325"/>
              </a:spcBef>
            </a:pPr>
            <a:r>
              <a:rPr dirty="0" sz="1400" spc="-20">
                <a:solidFill>
                  <a:srgbClr val="FFFFFF"/>
                </a:solidFill>
                <a:latin typeface="SimSun"/>
                <a:cs typeface="SimSun"/>
              </a:rPr>
              <a:t>微站建设保障</a:t>
            </a:r>
            <a:r>
              <a:rPr dirty="0" sz="1400">
                <a:solidFill>
                  <a:srgbClr val="FFFFFF"/>
                </a:solidFill>
                <a:latin typeface="Arial MT"/>
                <a:cs typeface="Arial MT"/>
              </a:rPr>
              <a:t>-</a:t>
            </a:r>
            <a:r>
              <a:rPr dirty="0" sz="1400" spc="-35">
                <a:solidFill>
                  <a:srgbClr val="FFFFFF"/>
                </a:solidFill>
                <a:latin typeface="SimSun"/>
                <a:cs typeface="SimSun"/>
              </a:rPr>
              <a:t>电源</a:t>
            </a:r>
            <a:endParaRPr sz="1400">
              <a:latin typeface="SimSun"/>
              <a:cs typeface="SimSun"/>
            </a:endParaRPr>
          </a:p>
        </p:txBody>
      </p:sp>
      <p:sp>
        <p:nvSpPr>
          <p:cNvPr id="7" name="object 7" descr=""/>
          <p:cNvSpPr txBox="1"/>
          <p:nvPr/>
        </p:nvSpPr>
        <p:spPr>
          <a:xfrm>
            <a:off x="6830284" y="3196634"/>
            <a:ext cx="1371600" cy="302260"/>
          </a:xfrm>
          <a:prstGeom prst="rect">
            <a:avLst/>
          </a:prstGeom>
        </p:spPr>
        <p:txBody>
          <a:bodyPr wrap="square" lIns="0" tIns="13335" rIns="0" bIns="0" rtlCol="0" vert="horz">
            <a:spAutoFit/>
          </a:bodyPr>
          <a:lstStyle/>
          <a:p>
            <a:pPr>
              <a:lnSpc>
                <a:spcPct val="100000"/>
              </a:lnSpc>
              <a:spcBef>
                <a:spcPts val="105"/>
              </a:spcBef>
            </a:pPr>
            <a:r>
              <a:rPr dirty="0" sz="1800" spc="-10">
                <a:solidFill>
                  <a:srgbClr val="3E3E3E"/>
                </a:solidFill>
                <a:latin typeface="Microsoft YaHei"/>
                <a:cs typeface="Microsoft YaHei"/>
              </a:rPr>
              <a:t>配套资源需求</a:t>
            </a:r>
            <a:endParaRPr sz="1800">
              <a:latin typeface="Microsoft YaHei"/>
              <a:cs typeface="Microsoft YaHei"/>
            </a:endParaRPr>
          </a:p>
        </p:txBody>
      </p:sp>
      <p:sp>
        <p:nvSpPr>
          <p:cNvPr id="8" name="object 8" descr=""/>
          <p:cNvSpPr txBox="1"/>
          <p:nvPr/>
        </p:nvSpPr>
        <p:spPr>
          <a:xfrm>
            <a:off x="144106" y="1250327"/>
            <a:ext cx="8451850" cy="346710"/>
          </a:xfrm>
          <a:prstGeom prst="rect">
            <a:avLst/>
          </a:prstGeom>
          <a:solidFill>
            <a:srgbClr val="E7F3F4"/>
          </a:solidFill>
        </p:spPr>
        <p:txBody>
          <a:bodyPr wrap="square" lIns="0" tIns="87630" rIns="0" bIns="0" rtlCol="0" vert="horz">
            <a:spAutoFit/>
          </a:bodyPr>
          <a:lstStyle/>
          <a:p>
            <a:pPr marL="282575" indent="-213995">
              <a:lnSpc>
                <a:spcPct val="100000"/>
              </a:lnSpc>
              <a:spcBef>
                <a:spcPts val="690"/>
              </a:spcBef>
              <a:buFont typeface="Wingdings"/>
              <a:buChar char=""/>
              <a:tabLst>
                <a:tab pos="282575" algn="l"/>
              </a:tabLst>
            </a:pPr>
            <a:r>
              <a:rPr dirty="0" sz="1200" spc="-10">
                <a:solidFill>
                  <a:srgbClr val="3E3E3E"/>
                </a:solidFill>
                <a:latin typeface="Microsoft YaHei"/>
                <a:cs typeface="Microsoft YaHei"/>
              </a:rPr>
              <a:t>5G</a:t>
            </a:r>
            <a:r>
              <a:rPr dirty="0" sz="1200">
                <a:solidFill>
                  <a:srgbClr val="3E3E3E"/>
                </a:solidFill>
                <a:latin typeface="Microsoft YaHei"/>
                <a:cs typeface="Microsoft YaHei"/>
              </a:rPr>
              <a:t>时代微站</a:t>
            </a:r>
            <a:r>
              <a:rPr dirty="0" sz="1200" spc="-20">
                <a:solidFill>
                  <a:srgbClr val="3E3E3E"/>
                </a:solidFill>
                <a:latin typeface="Microsoft YaHei"/>
                <a:cs typeface="Microsoft YaHei"/>
              </a:rPr>
              <a:t>RRU/AAU</a:t>
            </a:r>
            <a:r>
              <a:rPr dirty="0" sz="1200">
                <a:solidFill>
                  <a:srgbClr val="3E3E3E"/>
                </a:solidFill>
                <a:latin typeface="Microsoft YaHei"/>
                <a:cs typeface="Microsoft YaHei"/>
              </a:rPr>
              <a:t>将起到更多的作用，有别于</a:t>
            </a:r>
            <a:r>
              <a:rPr dirty="0" sz="1200" spc="-10">
                <a:solidFill>
                  <a:srgbClr val="3E3E3E"/>
                </a:solidFill>
                <a:latin typeface="Microsoft YaHei"/>
                <a:cs typeface="Microsoft YaHei"/>
              </a:rPr>
              <a:t>4G</a:t>
            </a:r>
            <a:r>
              <a:rPr dirty="0" sz="1200" spc="-5">
                <a:solidFill>
                  <a:srgbClr val="3E3E3E"/>
                </a:solidFill>
                <a:latin typeface="Microsoft YaHei"/>
                <a:cs typeface="Microsoft YaHei"/>
              </a:rPr>
              <a:t>微站绝大部分无后备电源保障的建设方式，可靠性要求更高。</a:t>
            </a:r>
            <a:endParaRPr sz="1200">
              <a:latin typeface="Microsoft YaHei"/>
              <a:cs typeface="Microsoft YaHei"/>
            </a:endParaRPr>
          </a:p>
        </p:txBody>
      </p:sp>
      <p:sp>
        <p:nvSpPr>
          <p:cNvPr id="9" name="object 9"/>
          <p:cNvSpPr txBox="1">
            <a:spLocks noGrp="1"/>
          </p:cNvSpPr>
          <p:nvPr>
            <p:ph type="title"/>
          </p:nvPr>
        </p:nvSpPr>
        <p:spPr>
          <a:xfrm>
            <a:off x="3338893" y="187706"/>
            <a:ext cx="2467610" cy="513080"/>
          </a:xfrm>
          <a:prstGeom prst="rect"/>
        </p:spPr>
        <p:txBody>
          <a:bodyPr wrap="square" lIns="0" tIns="12065" rIns="0" bIns="0" rtlCol="0" vert="horz">
            <a:spAutoFit/>
          </a:bodyPr>
          <a:lstStyle/>
          <a:p>
            <a:pPr marL="12700">
              <a:lnSpc>
                <a:spcPct val="100000"/>
              </a:lnSpc>
              <a:spcBef>
                <a:spcPts val="95"/>
              </a:spcBef>
            </a:pPr>
            <a:r>
              <a:rPr dirty="0" spc="-40"/>
              <a:t>微站建设策略</a:t>
            </a:r>
          </a:p>
        </p:txBody>
      </p:sp>
      <p:pic>
        <p:nvPicPr>
          <p:cNvPr id="10" name="object 10"/>
          <p:cNvPicPr/>
          <p:nvPr/>
        </p:nvPicPr>
        <p:blipFill>
          <a:blip r:embed="rId4" cstate="print"/>
          <a:stretch>
            <a:fillRect/>
          </a:stretch>
        </p:blipFill>
        <p:spPr>
          <a:xfrm>
            <a:off x="4326343" y="1626463"/>
            <a:ext cx="4227302" cy="3048596"/>
          </a:xfrm>
          <a:prstGeom prst="rect">
            <a:avLst/>
          </a:prstGeom>
        </p:spPr>
      </p:pic>
      <p:sp>
        <p:nvSpPr>
          <p:cNvPr id="11" name="object 11" descr=""/>
          <p:cNvSpPr/>
          <p:nvPr/>
        </p:nvSpPr>
        <p:spPr>
          <a:xfrm>
            <a:off x="528971" y="1705417"/>
            <a:ext cx="238760" cy="2298065"/>
          </a:xfrm>
          <a:custGeom>
            <a:avLst/>
            <a:gdLst/>
            <a:ahLst/>
            <a:cxnLst/>
            <a:rect l="l" t="t" r="r" b="b"/>
            <a:pathLst>
              <a:path w="238759" h="2298065">
                <a:moveTo>
                  <a:pt x="238417" y="2297912"/>
                </a:moveTo>
                <a:lnTo>
                  <a:pt x="192016" y="2296352"/>
                </a:lnTo>
                <a:lnTo>
                  <a:pt x="154127" y="2292096"/>
                </a:lnTo>
                <a:lnTo>
                  <a:pt x="128581" y="2285782"/>
                </a:lnTo>
                <a:lnTo>
                  <a:pt x="119214" y="2278049"/>
                </a:lnTo>
                <a:lnTo>
                  <a:pt x="119214" y="1168819"/>
                </a:lnTo>
                <a:lnTo>
                  <a:pt x="109845" y="1161086"/>
                </a:lnTo>
                <a:lnTo>
                  <a:pt x="84296" y="1154772"/>
                </a:lnTo>
                <a:lnTo>
                  <a:pt x="46402" y="1150516"/>
                </a:lnTo>
                <a:lnTo>
                  <a:pt x="0" y="1148956"/>
                </a:lnTo>
                <a:lnTo>
                  <a:pt x="46402" y="1147395"/>
                </a:lnTo>
                <a:lnTo>
                  <a:pt x="84296" y="1143139"/>
                </a:lnTo>
                <a:lnTo>
                  <a:pt x="109845" y="1136826"/>
                </a:lnTo>
                <a:lnTo>
                  <a:pt x="119214" y="1129093"/>
                </a:lnTo>
                <a:lnTo>
                  <a:pt x="119214" y="19862"/>
                </a:lnTo>
                <a:lnTo>
                  <a:pt x="128581" y="12130"/>
                </a:lnTo>
                <a:lnTo>
                  <a:pt x="154127" y="5816"/>
                </a:lnTo>
                <a:lnTo>
                  <a:pt x="192016" y="1560"/>
                </a:lnTo>
                <a:lnTo>
                  <a:pt x="238417" y="0"/>
                </a:lnTo>
              </a:path>
            </a:pathLst>
          </a:custGeom>
          <a:ln w="9525">
            <a:solidFill>
              <a:srgbClr val="292989"/>
            </a:solidFill>
          </a:ln>
        </p:spPr>
        <p:txBody>
          <a:bodyPr wrap="square" lIns="0" tIns="0" rIns="0" bIns="0" rtlCol="0"/>
          <a:lstStyle/>
          <a:p/>
        </p:txBody>
      </p:sp>
      <p:sp>
        <p:nvSpPr>
          <p:cNvPr id="12" name="object 12" descr=""/>
          <p:cNvSpPr txBox="1"/>
          <p:nvPr/>
        </p:nvSpPr>
        <p:spPr>
          <a:xfrm>
            <a:off x="100042" y="2742954"/>
            <a:ext cx="381000" cy="238760"/>
          </a:xfrm>
          <a:prstGeom prst="rect">
            <a:avLst/>
          </a:prstGeom>
        </p:spPr>
        <p:txBody>
          <a:bodyPr wrap="square" lIns="0" tIns="12065" rIns="0" bIns="0" rtlCol="0" vert="horz">
            <a:spAutoFit/>
          </a:bodyPr>
          <a:lstStyle/>
          <a:p>
            <a:pPr marL="12700">
              <a:lnSpc>
                <a:spcPct val="100000"/>
              </a:lnSpc>
              <a:spcBef>
                <a:spcPts val="95"/>
              </a:spcBef>
            </a:pPr>
            <a:r>
              <a:rPr dirty="0" sz="1400" spc="-35">
                <a:latin typeface="Microsoft YaHei"/>
                <a:cs typeface="Microsoft YaHei"/>
              </a:rPr>
              <a:t>电源</a:t>
            </a:r>
            <a:endParaRPr sz="1400">
              <a:latin typeface="Microsoft YaHei"/>
              <a:cs typeface="Microsoft YaHei"/>
            </a:endParaRPr>
          </a:p>
        </p:txBody>
      </p:sp>
      <p:grpSp>
        <p:nvGrpSpPr>
          <p:cNvPr id="13" name="object 13" descr=""/>
          <p:cNvGrpSpPr/>
          <p:nvPr/>
        </p:nvGrpSpPr>
        <p:grpSpPr>
          <a:xfrm>
            <a:off x="1578917" y="1857844"/>
            <a:ext cx="531495" cy="76200"/>
            <a:chOff x="1578917" y="1857844"/>
            <a:chExt cx="531495" cy="76200"/>
          </a:xfrm>
        </p:grpSpPr>
        <p:sp>
          <p:nvSpPr>
            <p:cNvPr id="14" name="object 14" descr=""/>
            <p:cNvSpPr/>
            <p:nvPr/>
          </p:nvSpPr>
          <p:spPr>
            <a:xfrm>
              <a:off x="1588442" y="1895854"/>
              <a:ext cx="458470" cy="3810"/>
            </a:xfrm>
            <a:custGeom>
              <a:avLst/>
              <a:gdLst/>
              <a:ahLst/>
              <a:cxnLst/>
              <a:rect l="l" t="t" r="r" b="b"/>
              <a:pathLst>
                <a:path w="458469" h="3810">
                  <a:moveTo>
                    <a:pt x="0" y="3378"/>
                  </a:moveTo>
                  <a:lnTo>
                    <a:pt x="458228" y="0"/>
                  </a:lnTo>
                </a:path>
              </a:pathLst>
            </a:custGeom>
            <a:ln w="19050">
              <a:solidFill>
                <a:srgbClr val="979797"/>
              </a:solidFill>
            </a:ln>
          </p:spPr>
          <p:txBody>
            <a:bodyPr wrap="square" lIns="0" tIns="0" rIns="0" bIns="0" rtlCol="0"/>
            <a:lstStyle/>
            <a:p/>
          </p:txBody>
        </p:sp>
        <p:sp>
          <p:nvSpPr>
            <p:cNvPr id="15" name="object 15" descr=""/>
            <p:cNvSpPr/>
            <p:nvPr/>
          </p:nvSpPr>
          <p:spPr>
            <a:xfrm>
              <a:off x="2033686" y="1857844"/>
              <a:ext cx="76835" cy="76200"/>
            </a:xfrm>
            <a:custGeom>
              <a:avLst/>
              <a:gdLst/>
              <a:ahLst/>
              <a:cxnLst/>
              <a:rect l="l" t="t" r="r" b="b"/>
              <a:pathLst>
                <a:path w="76835" h="76200">
                  <a:moveTo>
                    <a:pt x="0" y="0"/>
                  </a:moveTo>
                  <a:lnTo>
                    <a:pt x="558" y="76200"/>
                  </a:lnTo>
                  <a:lnTo>
                    <a:pt x="76479" y="37541"/>
                  </a:lnTo>
                  <a:lnTo>
                    <a:pt x="0" y="0"/>
                  </a:lnTo>
                  <a:close/>
                </a:path>
              </a:pathLst>
            </a:custGeom>
            <a:solidFill>
              <a:srgbClr val="979797"/>
            </a:solidFill>
          </p:spPr>
          <p:txBody>
            <a:bodyPr wrap="square" lIns="0" tIns="0" rIns="0" bIns="0" rtlCol="0"/>
            <a:lstStyle/>
            <a:p/>
          </p:txBody>
        </p:sp>
      </p:grpSp>
      <p:sp>
        <p:nvSpPr>
          <p:cNvPr id="16" name="object 16" descr=""/>
          <p:cNvSpPr txBox="1"/>
          <p:nvPr/>
        </p:nvSpPr>
        <p:spPr>
          <a:xfrm>
            <a:off x="787678" y="1772311"/>
            <a:ext cx="3354070" cy="238760"/>
          </a:xfrm>
          <a:prstGeom prst="rect">
            <a:avLst/>
          </a:prstGeom>
        </p:spPr>
        <p:txBody>
          <a:bodyPr wrap="square" lIns="0" tIns="12065" rIns="0" bIns="0" rtlCol="0" vert="horz">
            <a:spAutoFit/>
          </a:bodyPr>
          <a:lstStyle/>
          <a:p>
            <a:pPr marL="12700">
              <a:lnSpc>
                <a:spcPct val="100000"/>
              </a:lnSpc>
              <a:spcBef>
                <a:spcPts val="95"/>
              </a:spcBef>
              <a:tabLst>
                <a:tab pos="1388110" algn="l"/>
              </a:tabLst>
            </a:pPr>
            <a:r>
              <a:rPr dirty="0" sz="1400" spc="-20">
                <a:latin typeface="Microsoft YaHei"/>
                <a:cs typeface="Microsoft YaHei"/>
              </a:rPr>
              <a:t>交流引</a:t>
            </a:r>
            <a:r>
              <a:rPr dirty="0" sz="1400" spc="-50">
                <a:latin typeface="Microsoft YaHei"/>
                <a:cs typeface="Microsoft YaHei"/>
              </a:rPr>
              <a:t>入</a:t>
            </a:r>
            <a:r>
              <a:rPr dirty="0" sz="1400">
                <a:latin typeface="Microsoft YaHei"/>
                <a:cs typeface="Microsoft YaHei"/>
              </a:rPr>
              <a:t>	</a:t>
            </a:r>
            <a:r>
              <a:rPr dirty="0" sz="1400" spc="-20">
                <a:latin typeface="Microsoft YaHei"/>
                <a:cs typeface="Microsoft YaHei"/>
              </a:rPr>
              <a:t>直供（协调布线难度大</a:t>
            </a:r>
            <a:r>
              <a:rPr dirty="0" sz="1400" spc="-50">
                <a:latin typeface="Microsoft YaHei"/>
                <a:cs typeface="Microsoft YaHei"/>
              </a:rPr>
              <a:t>）</a:t>
            </a:r>
            <a:endParaRPr sz="1400">
              <a:latin typeface="Microsoft YaHei"/>
              <a:cs typeface="Microsoft YaHei"/>
            </a:endParaRPr>
          </a:p>
        </p:txBody>
      </p:sp>
      <p:sp>
        <p:nvSpPr>
          <p:cNvPr id="17" name="object 17" descr=""/>
          <p:cNvSpPr txBox="1"/>
          <p:nvPr/>
        </p:nvSpPr>
        <p:spPr>
          <a:xfrm>
            <a:off x="801622" y="2848131"/>
            <a:ext cx="735965" cy="238760"/>
          </a:xfrm>
          <a:prstGeom prst="rect">
            <a:avLst/>
          </a:prstGeom>
        </p:spPr>
        <p:txBody>
          <a:bodyPr wrap="square" lIns="0" tIns="12065" rIns="0" bIns="0" rtlCol="0" vert="horz">
            <a:spAutoFit/>
          </a:bodyPr>
          <a:lstStyle/>
          <a:p>
            <a:pPr marL="12700">
              <a:lnSpc>
                <a:spcPct val="100000"/>
              </a:lnSpc>
              <a:spcBef>
                <a:spcPts val="95"/>
              </a:spcBef>
            </a:pPr>
            <a:r>
              <a:rPr dirty="0" sz="1400" spc="-30">
                <a:latin typeface="Microsoft YaHei"/>
                <a:cs typeface="Microsoft YaHei"/>
              </a:rPr>
              <a:t>电源保障</a:t>
            </a:r>
            <a:endParaRPr sz="1400">
              <a:latin typeface="Microsoft YaHei"/>
              <a:cs typeface="Microsoft YaHei"/>
            </a:endParaRPr>
          </a:p>
        </p:txBody>
      </p:sp>
      <p:sp>
        <p:nvSpPr>
          <p:cNvPr id="18" name="object 18" descr=""/>
          <p:cNvSpPr/>
          <p:nvPr/>
        </p:nvSpPr>
        <p:spPr>
          <a:xfrm>
            <a:off x="1529518" y="2070649"/>
            <a:ext cx="163830" cy="1794510"/>
          </a:xfrm>
          <a:custGeom>
            <a:avLst/>
            <a:gdLst/>
            <a:ahLst/>
            <a:cxnLst/>
            <a:rect l="l" t="t" r="r" b="b"/>
            <a:pathLst>
              <a:path w="163830" h="1794510">
                <a:moveTo>
                  <a:pt x="163347" y="1794179"/>
                </a:moveTo>
                <a:lnTo>
                  <a:pt x="131554" y="1793109"/>
                </a:lnTo>
                <a:lnTo>
                  <a:pt x="105594" y="1790192"/>
                </a:lnTo>
                <a:lnTo>
                  <a:pt x="88091" y="1785864"/>
                </a:lnTo>
                <a:lnTo>
                  <a:pt x="81673" y="1780565"/>
                </a:lnTo>
                <a:lnTo>
                  <a:pt x="81673" y="910704"/>
                </a:lnTo>
                <a:lnTo>
                  <a:pt x="75255" y="905405"/>
                </a:lnTo>
                <a:lnTo>
                  <a:pt x="57753" y="901077"/>
                </a:lnTo>
                <a:lnTo>
                  <a:pt x="31792" y="898159"/>
                </a:lnTo>
                <a:lnTo>
                  <a:pt x="0" y="897089"/>
                </a:lnTo>
                <a:lnTo>
                  <a:pt x="31792" y="896019"/>
                </a:lnTo>
                <a:lnTo>
                  <a:pt x="57753" y="893102"/>
                </a:lnTo>
                <a:lnTo>
                  <a:pt x="75255" y="888774"/>
                </a:lnTo>
                <a:lnTo>
                  <a:pt x="81673" y="883475"/>
                </a:lnTo>
                <a:lnTo>
                  <a:pt x="81673" y="13614"/>
                </a:lnTo>
                <a:lnTo>
                  <a:pt x="88091" y="8315"/>
                </a:lnTo>
                <a:lnTo>
                  <a:pt x="105594" y="3987"/>
                </a:lnTo>
                <a:lnTo>
                  <a:pt x="131554" y="1069"/>
                </a:lnTo>
                <a:lnTo>
                  <a:pt x="163347" y="0"/>
                </a:lnTo>
              </a:path>
            </a:pathLst>
          </a:custGeom>
          <a:ln w="9525">
            <a:solidFill>
              <a:srgbClr val="292989"/>
            </a:solidFill>
          </a:ln>
        </p:spPr>
        <p:txBody>
          <a:bodyPr wrap="square" lIns="0" tIns="0" rIns="0" bIns="0" rtlCol="0"/>
          <a:lstStyle/>
          <a:p/>
        </p:txBody>
      </p:sp>
      <p:sp>
        <p:nvSpPr>
          <p:cNvPr id="19" name="object 19" descr=""/>
          <p:cNvSpPr txBox="1"/>
          <p:nvPr/>
        </p:nvSpPr>
        <p:spPr>
          <a:xfrm>
            <a:off x="1718518" y="1985489"/>
            <a:ext cx="2164080" cy="688340"/>
          </a:xfrm>
          <a:prstGeom prst="rect">
            <a:avLst/>
          </a:prstGeom>
        </p:spPr>
        <p:txBody>
          <a:bodyPr wrap="square" lIns="0" tIns="12700" rIns="0" bIns="0" rtlCol="0" vert="horz">
            <a:spAutoFit/>
          </a:bodyPr>
          <a:lstStyle/>
          <a:p>
            <a:pPr marL="12700" marR="5080" indent="7620">
              <a:lnSpc>
                <a:spcPct val="155300"/>
              </a:lnSpc>
              <a:spcBef>
                <a:spcPts val="100"/>
              </a:spcBef>
            </a:pPr>
            <a:r>
              <a:rPr dirty="0" sz="1400" spc="-20">
                <a:latin typeface="Microsoft YaHei"/>
                <a:cs typeface="Microsoft YaHei"/>
              </a:rPr>
              <a:t>电源远供（投资相对较大</a:t>
            </a:r>
            <a:r>
              <a:rPr dirty="0" sz="1400" spc="-50">
                <a:latin typeface="Microsoft YaHei"/>
                <a:cs typeface="Microsoft YaHei"/>
              </a:rPr>
              <a:t>）</a:t>
            </a:r>
            <a:r>
              <a:rPr dirty="0" sz="1400" spc="-20">
                <a:latin typeface="Microsoft YaHei"/>
                <a:cs typeface="Microsoft YaHei"/>
              </a:rPr>
              <a:t>室外机柜（投入相对较大</a:t>
            </a:r>
            <a:r>
              <a:rPr dirty="0" sz="1400" spc="-50">
                <a:latin typeface="Microsoft YaHei"/>
                <a:cs typeface="Microsoft YaHei"/>
              </a:rPr>
              <a:t>）</a:t>
            </a:r>
            <a:endParaRPr sz="1400">
              <a:latin typeface="Microsoft YaHei"/>
              <a:cs typeface="Microsoft YaHei"/>
            </a:endParaRPr>
          </a:p>
        </p:txBody>
      </p:sp>
      <p:sp>
        <p:nvSpPr>
          <p:cNvPr id="20" name="object 20" descr=""/>
          <p:cNvSpPr txBox="1"/>
          <p:nvPr/>
        </p:nvSpPr>
        <p:spPr>
          <a:xfrm>
            <a:off x="4128922" y="1829816"/>
            <a:ext cx="2565400" cy="2871470"/>
          </a:xfrm>
          <a:prstGeom prst="rect">
            <a:avLst/>
          </a:prstGeom>
          <a:ln w="19050">
            <a:solidFill>
              <a:srgbClr val="161645"/>
            </a:solidFill>
          </a:ln>
        </p:spPr>
        <p:txBody>
          <a:bodyPr wrap="square" lIns="0" tIns="156210" rIns="0" bIns="0" rtlCol="0" vert="horz">
            <a:spAutoFit/>
          </a:bodyPr>
          <a:lstStyle/>
          <a:p>
            <a:pPr marL="319405">
              <a:lnSpc>
                <a:spcPct val="100000"/>
              </a:lnSpc>
              <a:spcBef>
                <a:spcPts val="1230"/>
              </a:spcBef>
            </a:pPr>
            <a:r>
              <a:rPr dirty="0" sz="1500" spc="-5">
                <a:solidFill>
                  <a:srgbClr val="3E3E3E"/>
                </a:solidFill>
                <a:latin typeface="Microsoft YaHei"/>
                <a:cs typeface="Microsoft YaHei"/>
              </a:rPr>
              <a:t>微站成为低层网络核心</a:t>
            </a:r>
            <a:endParaRPr sz="1500">
              <a:latin typeface="Microsoft YaHei"/>
              <a:cs typeface="Microsoft YaHei"/>
            </a:endParaRPr>
          </a:p>
          <a:p>
            <a:pPr>
              <a:lnSpc>
                <a:spcPct val="100000"/>
              </a:lnSpc>
            </a:pPr>
            <a:endParaRPr sz="1500">
              <a:latin typeface="Microsoft YaHei"/>
              <a:cs typeface="Microsoft YaHei"/>
            </a:endParaRPr>
          </a:p>
          <a:p>
            <a:pPr>
              <a:lnSpc>
                <a:spcPct val="100000"/>
              </a:lnSpc>
            </a:pPr>
            <a:endParaRPr sz="1500">
              <a:latin typeface="Microsoft YaHei"/>
              <a:cs typeface="Microsoft YaHei"/>
            </a:endParaRPr>
          </a:p>
          <a:p>
            <a:pPr>
              <a:lnSpc>
                <a:spcPct val="100000"/>
              </a:lnSpc>
            </a:pPr>
            <a:endParaRPr sz="1500">
              <a:latin typeface="Microsoft YaHei"/>
              <a:cs typeface="Microsoft YaHei"/>
            </a:endParaRPr>
          </a:p>
          <a:p>
            <a:pPr>
              <a:lnSpc>
                <a:spcPct val="100000"/>
              </a:lnSpc>
              <a:spcBef>
                <a:spcPts val="1060"/>
              </a:spcBef>
            </a:pPr>
            <a:endParaRPr sz="1500">
              <a:latin typeface="Microsoft YaHei"/>
              <a:cs typeface="Microsoft YaHei"/>
            </a:endParaRPr>
          </a:p>
          <a:p>
            <a:pPr>
              <a:lnSpc>
                <a:spcPct val="100000"/>
              </a:lnSpc>
            </a:pPr>
            <a:r>
              <a:rPr dirty="0" sz="1400" spc="-50">
                <a:latin typeface="Microsoft YaHei"/>
                <a:cs typeface="Microsoft YaHei"/>
              </a:rPr>
              <a:t>）</a:t>
            </a:r>
            <a:endParaRPr sz="1400">
              <a:latin typeface="Microsoft YaHei"/>
              <a:cs typeface="Microsoft YaHei"/>
            </a:endParaRPr>
          </a:p>
        </p:txBody>
      </p:sp>
      <p:sp>
        <p:nvSpPr>
          <p:cNvPr id="21" name="object 21" descr=""/>
          <p:cNvSpPr txBox="1"/>
          <p:nvPr/>
        </p:nvSpPr>
        <p:spPr>
          <a:xfrm>
            <a:off x="1664544" y="3741773"/>
            <a:ext cx="232410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后备电源设备UPS（</a:t>
            </a:r>
            <a:r>
              <a:rPr dirty="0" sz="1400" spc="-30">
                <a:latin typeface="Microsoft YaHei"/>
                <a:cs typeface="Microsoft YaHei"/>
              </a:rPr>
              <a:t>空间受限</a:t>
            </a:r>
            <a:endParaRPr sz="1400">
              <a:latin typeface="Microsoft YaHei"/>
              <a:cs typeface="Microsoft YaHei"/>
            </a:endParaRPr>
          </a:p>
        </p:txBody>
      </p:sp>
      <p:sp>
        <p:nvSpPr>
          <p:cNvPr id="22" name="object 22" descr=""/>
          <p:cNvSpPr/>
          <p:nvPr/>
        </p:nvSpPr>
        <p:spPr>
          <a:xfrm>
            <a:off x="1352966" y="4005380"/>
            <a:ext cx="831215" cy="304800"/>
          </a:xfrm>
          <a:custGeom>
            <a:avLst/>
            <a:gdLst/>
            <a:ahLst/>
            <a:cxnLst/>
            <a:rect l="l" t="t" r="r" b="b"/>
            <a:pathLst>
              <a:path w="831214" h="304800">
                <a:moveTo>
                  <a:pt x="0" y="152158"/>
                </a:moveTo>
                <a:lnTo>
                  <a:pt x="207772" y="152158"/>
                </a:lnTo>
                <a:lnTo>
                  <a:pt x="207772" y="0"/>
                </a:lnTo>
                <a:lnTo>
                  <a:pt x="623328" y="0"/>
                </a:lnTo>
                <a:lnTo>
                  <a:pt x="623328" y="152158"/>
                </a:lnTo>
                <a:lnTo>
                  <a:pt x="831100" y="152158"/>
                </a:lnTo>
                <a:lnTo>
                  <a:pt x="415556" y="304317"/>
                </a:lnTo>
                <a:lnTo>
                  <a:pt x="0" y="152158"/>
                </a:lnTo>
                <a:close/>
              </a:path>
            </a:pathLst>
          </a:custGeom>
          <a:ln w="19050">
            <a:solidFill>
              <a:srgbClr val="979797"/>
            </a:solidFill>
          </a:ln>
        </p:spPr>
        <p:txBody>
          <a:bodyPr wrap="square" lIns="0" tIns="0" rIns="0" bIns="0" rtlCol="0"/>
          <a:lstStyle/>
          <a:p/>
        </p:txBody>
      </p:sp>
      <p:sp>
        <p:nvSpPr>
          <p:cNvPr id="23" name="object 23" descr=""/>
          <p:cNvSpPr txBox="1"/>
          <p:nvPr/>
        </p:nvSpPr>
        <p:spPr>
          <a:xfrm>
            <a:off x="340594" y="4284671"/>
            <a:ext cx="3578225" cy="665480"/>
          </a:xfrm>
          <a:prstGeom prst="rect">
            <a:avLst/>
          </a:prstGeom>
        </p:spPr>
        <p:txBody>
          <a:bodyPr wrap="square" lIns="0" tIns="12065" rIns="0" bIns="0" rtlCol="0" vert="horz">
            <a:spAutoFit/>
          </a:bodyPr>
          <a:lstStyle/>
          <a:p>
            <a:pPr algn="just" marL="12700" marR="5080">
              <a:lnSpc>
                <a:spcPct val="100000"/>
              </a:lnSpc>
              <a:spcBef>
                <a:spcPts val="95"/>
              </a:spcBef>
            </a:pPr>
            <a:r>
              <a:rPr dirty="0" sz="1400" spc="-25">
                <a:latin typeface="Microsoft YaHei"/>
                <a:cs typeface="Microsoft YaHei"/>
              </a:rPr>
              <a:t>根据场景及环境要求及站点在组网中的位置，综合评估，确定是否需要备电，若备电选取合理的后备电源方案。</a:t>
            </a:r>
            <a:endParaRPr sz="1400">
              <a:latin typeface="Microsoft YaHei"/>
              <a:cs typeface="Microsoft YaHei"/>
            </a:endParaRPr>
          </a:p>
        </p:txBody>
      </p:sp>
      <p:pic>
        <p:nvPicPr>
          <p:cNvPr id="24" name="object 24"/>
          <p:cNvPicPr/>
          <p:nvPr/>
        </p:nvPicPr>
        <p:blipFill>
          <a:blip r:embed="rId5" cstate="print"/>
          <a:stretch>
            <a:fillRect/>
          </a:stretch>
        </p:blipFill>
        <p:spPr>
          <a:xfrm>
            <a:off x="2012524" y="2665564"/>
            <a:ext cx="1356392" cy="110238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29235" y="884059"/>
            <a:ext cx="2263140" cy="356235"/>
            <a:chOff x="129235" y="884059"/>
            <a:chExt cx="2263140" cy="356235"/>
          </a:xfrm>
        </p:grpSpPr>
        <p:pic>
          <p:nvPicPr>
            <p:cNvPr id="3" name="object 3" descr=""/>
            <p:cNvPicPr/>
            <p:nvPr/>
          </p:nvPicPr>
          <p:blipFill>
            <a:blip r:embed="rId2" cstate="print"/>
            <a:stretch>
              <a:fillRect/>
            </a:stretch>
          </p:blipFill>
          <p:spPr>
            <a:xfrm>
              <a:off x="179069" y="934211"/>
              <a:ext cx="2212847" cy="305561"/>
            </a:xfrm>
            <a:prstGeom prst="rect">
              <a:avLst/>
            </a:prstGeom>
          </p:spPr>
        </p:pic>
        <p:pic>
          <p:nvPicPr>
            <p:cNvPr id="4" name="object 4" descr=""/>
            <p:cNvPicPr/>
            <p:nvPr/>
          </p:nvPicPr>
          <p:blipFill>
            <a:blip r:embed="rId3" cstate="print"/>
            <a:stretch>
              <a:fillRect/>
            </a:stretch>
          </p:blipFill>
          <p:spPr>
            <a:xfrm>
              <a:off x="438150" y="916685"/>
              <a:ext cx="1747265" cy="277367"/>
            </a:xfrm>
            <a:prstGeom prst="rect">
              <a:avLst/>
            </a:prstGeom>
          </p:spPr>
        </p:pic>
        <p:sp>
          <p:nvSpPr>
            <p:cNvPr id="5" name="object 5" descr=""/>
            <p:cNvSpPr/>
            <p:nvPr/>
          </p:nvSpPr>
          <p:spPr>
            <a:xfrm>
              <a:off x="129235" y="884059"/>
              <a:ext cx="2211070" cy="304165"/>
            </a:xfrm>
            <a:custGeom>
              <a:avLst/>
              <a:gdLst/>
              <a:ahLst/>
              <a:cxnLst/>
              <a:rect l="l" t="t" r="r" b="b"/>
              <a:pathLst>
                <a:path w="2211070" h="304165">
                  <a:moveTo>
                    <a:pt x="2210854" y="0"/>
                  </a:moveTo>
                  <a:lnTo>
                    <a:pt x="0" y="0"/>
                  </a:lnTo>
                  <a:lnTo>
                    <a:pt x="0" y="303784"/>
                  </a:lnTo>
                  <a:lnTo>
                    <a:pt x="2210854" y="303784"/>
                  </a:lnTo>
                  <a:lnTo>
                    <a:pt x="2210854" y="0"/>
                  </a:lnTo>
                  <a:close/>
                </a:path>
              </a:pathLst>
            </a:custGeom>
            <a:solidFill>
              <a:srgbClr val="333399"/>
            </a:solidFill>
          </p:spPr>
          <p:txBody>
            <a:bodyPr wrap="square" lIns="0" tIns="0" rIns="0" bIns="0" rtlCol="0"/>
            <a:lstStyle/>
            <a:p/>
          </p:txBody>
        </p:sp>
      </p:grpSp>
      <p:sp>
        <p:nvSpPr>
          <p:cNvPr id="6" name="object 6" descr=""/>
          <p:cNvSpPr txBox="1"/>
          <p:nvPr/>
        </p:nvSpPr>
        <p:spPr>
          <a:xfrm>
            <a:off x="129235" y="884059"/>
            <a:ext cx="2211070" cy="304165"/>
          </a:xfrm>
          <a:prstGeom prst="rect">
            <a:avLst/>
          </a:prstGeom>
        </p:spPr>
        <p:txBody>
          <a:bodyPr wrap="square" lIns="0" tIns="41275" rIns="0" bIns="0" rtlCol="0" vert="horz">
            <a:spAutoFit/>
          </a:bodyPr>
          <a:lstStyle/>
          <a:p>
            <a:pPr marL="365125">
              <a:lnSpc>
                <a:spcPct val="100000"/>
              </a:lnSpc>
              <a:spcBef>
                <a:spcPts val="325"/>
              </a:spcBef>
            </a:pPr>
            <a:r>
              <a:rPr dirty="0" sz="1400" spc="-20">
                <a:solidFill>
                  <a:srgbClr val="FFFFFF"/>
                </a:solidFill>
                <a:latin typeface="SimSun"/>
                <a:cs typeface="SimSun"/>
              </a:rPr>
              <a:t>微站建设保障</a:t>
            </a:r>
            <a:r>
              <a:rPr dirty="0" sz="1400">
                <a:solidFill>
                  <a:srgbClr val="FFFFFF"/>
                </a:solidFill>
                <a:latin typeface="Arial MT"/>
                <a:cs typeface="Arial MT"/>
              </a:rPr>
              <a:t>-</a:t>
            </a:r>
            <a:r>
              <a:rPr dirty="0" sz="1400" spc="-35">
                <a:solidFill>
                  <a:srgbClr val="FFFFFF"/>
                </a:solidFill>
                <a:latin typeface="SimSun"/>
                <a:cs typeface="SimSun"/>
              </a:rPr>
              <a:t>远供</a:t>
            </a:r>
            <a:endParaRPr sz="1400">
              <a:latin typeface="SimSun"/>
              <a:cs typeface="SimSun"/>
            </a:endParaRPr>
          </a:p>
        </p:txBody>
      </p:sp>
      <p:sp>
        <p:nvSpPr>
          <p:cNvPr id="7" name="object 7" descr=""/>
          <p:cNvSpPr txBox="1"/>
          <p:nvPr/>
        </p:nvSpPr>
        <p:spPr>
          <a:xfrm>
            <a:off x="144106" y="1250327"/>
            <a:ext cx="8884285" cy="623570"/>
          </a:xfrm>
          <a:prstGeom prst="rect">
            <a:avLst/>
          </a:prstGeom>
          <a:solidFill>
            <a:srgbClr val="E7F3F4"/>
          </a:solidFill>
        </p:spPr>
        <p:txBody>
          <a:bodyPr wrap="square" lIns="0" tIns="87630" rIns="0" bIns="0" rtlCol="0" vert="horz">
            <a:spAutoFit/>
          </a:bodyPr>
          <a:lstStyle/>
          <a:p>
            <a:pPr marL="282575" indent="-213995">
              <a:lnSpc>
                <a:spcPct val="100000"/>
              </a:lnSpc>
              <a:spcBef>
                <a:spcPts val="690"/>
              </a:spcBef>
              <a:buFont typeface="Wingdings"/>
              <a:buChar char=""/>
              <a:tabLst>
                <a:tab pos="282575" algn="l"/>
              </a:tabLst>
            </a:pPr>
            <a:r>
              <a:rPr dirty="0" sz="1200" spc="-10">
                <a:solidFill>
                  <a:srgbClr val="3E3E3E"/>
                </a:solidFill>
                <a:latin typeface="Microsoft YaHei"/>
                <a:cs typeface="Microsoft YaHei"/>
              </a:rPr>
              <a:t>5G</a:t>
            </a:r>
            <a:r>
              <a:rPr dirty="0" sz="1200">
                <a:solidFill>
                  <a:srgbClr val="3E3E3E"/>
                </a:solidFill>
                <a:latin typeface="Microsoft YaHei"/>
                <a:cs typeface="Microsoft YaHei"/>
              </a:rPr>
              <a:t>时代超密集的微站给集中供电带来了应用场景，目前远供有</a:t>
            </a:r>
            <a:r>
              <a:rPr dirty="0" sz="1200">
                <a:solidFill>
                  <a:srgbClr val="FF0000"/>
                </a:solidFill>
                <a:latin typeface="Microsoft YaHei"/>
                <a:cs typeface="Microsoft YaHei"/>
              </a:rPr>
              <a:t>直流远供及交流远供</a:t>
            </a:r>
            <a:r>
              <a:rPr dirty="0" sz="1200" spc="-50">
                <a:solidFill>
                  <a:srgbClr val="3E3E3E"/>
                </a:solidFill>
                <a:latin typeface="Microsoft YaHei"/>
                <a:cs typeface="Microsoft YaHei"/>
              </a:rPr>
              <a:t>。</a:t>
            </a:r>
            <a:endParaRPr sz="1200">
              <a:latin typeface="Microsoft YaHei"/>
              <a:cs typeface="Microsoft YaHei"/>
            </a:endParaRPr>
          </a:p>
          <a:p>
            <a:pPr marL="282575" indent="-213995">
              <a:lnSpc>
                <a:spcPct val="100000"/>
              </a:lnSpc>
              <a:spcBef>
                <a:spcPts val="720"/>
              </a:spcBef>
              <a:buFont typeface="Wingdings"/>
              <a:buChar char=""/>
              <a:tabLst>
                <a:tab pos="282575" algn="l"/>
              </a:tabLst>
            </a:pPr>
            <a:r>
              <a:rPr dirty="0" sz="1200" spc="-10">
                <a:solidFill>
                  <a:srgbClr val="3E3E3E"/>
                </a:solidFill>
                <a:latin typeface="Microsoft YaHei"/>
                <a:cs typeface="Microsoft YaHei"/>
              </a:rPr>
              <a:t>以共享市政路灯杆为例，一般其线状均匀分布，可以通过现网机房或新建机柜/机房进行集中电源管理，并合理配置管辖范围。</a:t>
            </a:r>
            <a:endParaRPr sz="1200">
              <a:latin typeface="Microsoft YaHei"/>
              <a:cs typeface="Microsoft YaHei"/>
            </a:endParaRPr>
          </a:p>
        </p:txBody>
      </p:sp>
      <p:sp>
        <p:nvSpPr>
          <p:cNvPr id="8" name="object 8"/>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0"/>
              <a:t>微站建设策略</a:t>
            </a:r>
          </a:p>
        </p:txBody>
      </p:sp>
      <p:pic>
        <p:nvPicPr>
          <p:cNvPr id="9" name="object 9"/>
          <p:cNvPicPr/>
          <p:nvPr/>
        </p:nvPicPr>
        <p:blipFill>
          <a:blip r:embed="rId4" cstate="print"/>
          <a:stretch>
            <a:fillRect/>
          </a:stretch>
        </p:blipFill>
        <p:spPr>
          <a:xfrm>
            <a:off x="5070478" y="2039038"/>
            <a:ext cx="3770862" cy="2493730"/>
          </a:xfrm>
          <a:prstGeom prst="rect">
            <a:avLst/>
          </a:prstGeom>
        </p:spPr>
      </p:pic>
      <p:sp>
        <p:nvSpPr>
          <p:cNvPr id="10" name="object 10" descr=""/>
          <p:cNvSpPr txBox="1"/>
          <p:nvPr/>
        </p:nvSpPr>
        <p:spPr>
          <a:xfrm>
            <a:off x="5201767" y="4246317"/>
            <a:ext cx="787400" cy="254000"/>
          </a:xfrm>
          <a:prstGeom prst="rect">
            <a:avLst/>
          </a:prstGeom>
        </p:spPr>
        <p:txBody>
          <a:bodyPr wrap="square" lIns="0" tIns="12700" rIns="0" bIns="0" rtlCol="0" vert="horz">
            <a:spAutoFit/>
          </a:bodyPr>
          <a:lstStyle/>
          <a:p>
            <a:pPr marL="12700">
              <a:lnSpc>
                <a:spcPct val="100000"/>
              </a:lnSpc>
              <a:spcBef>
                <a:spcPts val="100"/>
              </a:spcBef>
            </a:pPr>
            <a:r>
              <a:rPr dirty="0" sz="1500" spc="-15">
                <a:solidFill>
                  <a:srgbClr val="3E3E3E"/>
                </a:solidFill>
                <a:latin typeface="Microsoft YaHei"/>
                <a:cs typeface="Microsoft YaHei"/>
              </a:rPr>
              <a:t>交流远供</a:t>
            </a:r>
            <a:endParaRPr sz="1500">
              <a:latin typeface="Microsoft YaHei"/>
              <a:cs typeface="Microsoft YaHei"/>
            </a:endParaRPr>
          </a:p>
        </p:txBody>
      </p:sp>
      <p:pic>
        <p:nvPicPr>
          <p:cNvPr id="11" name="object 11"/>
          <p:cNvPicPr/>
          <p:nvPr/>
        </p:nvPicPr>
        <p:blipFill>
          <a:blip r:embed="rId5" cstate="print"/>
          <a:stretch>
            <a:fillRect/>
          </a:stretch>
        </p:blipFill>
        <p:spPr>
          <a:xfrm>
            <a:off x="505610" y="2102144"/>
            <a:ext cx="4177109" cy="2404949"/>
          </a:xfrm>
          <a:prstGeom prst="rect">
            <a:avLst/>
          </a:prstGeom>
        </p:spPr>
      </p:pic>
      <p:sp>
        <p:nvSpPr>
          <p:cNvPr id="12" name="object 12" descr=""/>
          <p:cNvSpPr txBox="1"/>
          <p:nvPr/>
        </p:nvSpPr>
        <p:spPr>
          <a:xfrm>
            <a:off x="413692" y="4274168"/>
            <a:ext cx="787400" cy="254000"/>
          </a:xfrm>
          <a:prstGeom prst="rect">
            <a:avLst/>
          </a:prstGeom>
        </p:spPr>
        <p:txBody>
          <a:bodyPr wrap="square" lIns="0" tIns="12700" rIns="0" bIns="0" rtlCol="0" vert="horz">
            <a:spAutoFit/>
          </a:bodyPr>
          <a:lstStyle/>
          <a:p>
            <a:pPr marL="12700">
              <a:lnSpc>
                <a:spcPct val="100000"/>
              </a:lnSpc>
              <a:spcBef>
                <a:spcPts val="100"/>
              </a:spcBef>
            </a:pPr>
            <a:r>
              <a:rPr dirty="0" sz="1500" spc="-15">
                <a:solidFill>
                  <a:srgbClr val="3E3E3E"/>
                </a:solidFill>
                <a:latin typeface="Microsoft YaHei"/>
                <a:cs typeface="Microsoft YaHei"/>
              </a:rPr>
              <a:t>直流远供</a:t>
            </a:r>
            <a:endParaRPr sz="1500">
              <a:latin typeface="Microsoft YaHei"/>
              <a:cs typeface="Microsoft YaHe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79069" y="916685"/>
            <a:ext cx="2263140" cy="323215"/>
            <a:chOff x="179069" y="916685"/>
            <a:chExt cx="2263140" cy="323215"/>
          </a:xfrm>
        </p:grpSpPr>
        <p:pic>
          <p:nvPicPr>
            <p:cNvPr id="3" name="object 3" descr=""/>
            <p:cNvPicPr/>
            <p:nvPr/>
          </p:nvPicPr>
          <p:blipFill>
            <a:blip r:embed="rId2" cstate="print"/>
            <a:stretch>
              <a:fillRect/>
            </a:stretch>
          </p:blipFill>
          <p:spPr>
            <a:xfrm>
              <a:off x="179069" y="934211"/>
              <a:ext cx="2212847" cy="305561"/>
            </a:xfrm>
            <a:prstGeom prst="rect">
              <a:avLst/>
            </a:prstGeom>
          </p:spPr>
        </p:pic>
        <p:pic>
          <p:nvPicPr>
            <p:cNvPr id="4" name="object 4" descr=""/>
            <p:cNvPicPr/>
            <p:nvPr/>
          </p:nvPicPr>
          <p:blipFill>
            <a:blip r:embed="rId3" cstate="print"/>
            <a:stretch>
              <a:fillRect/>
            </a:stretch>
          </p:blipFill>
          <p:spPr>
            <a:xfrm>
              <a:off x="181356" y="916685"/>
              <a:ext cx="2260853" cy="277367"/>
            </a:xfrm>
            <a:prstGeom prst="rect">
              <a:avLst/>
            </a:prstGeom>
          </p:spPr>
        </p:pic>
      </p:grpSp>
      <p:sp>
        <p:nvSpPr>
          <p:cNvPr id="5" name="object 5" descr=""/>
          <p:cNvSpPr txBox="1"/>
          <p:nvPr/>
        </p:nvSpPr>
        <p:spPr>
          <a:xfrm>
            <a:off x="129235" y="884059"/>
            <a:ext cx="2211070" cy="304165"/>
          </a:xfrm>
          <a:prstGeom prst="rect">
            <a:avLst/>
          </a:prstGeom>
          <a:solidFill>
            <a:srgbClr val="333399"/>
          </a:solidFill>
        </p:spPr>
        <p:txBody>
          <a:bodyPr wrap="square" lIns="0" tIns="41275" rIns="0" bIns="0" rtlCol="0" vert="horz">
            <a:spAutoFit/>
          </a:bodyPr>
          <a:lstStyle/>
          <a:p>
            <a:pPr marL="107950">
              <a:lnSpc>
                <a:spcPct val="100000"/>
              </a:lnSpc>
              <a:spcBef>
                <a:spcPts val="325"/>
              </a:spcBef>
            </a:pPr>
            <a:r>
              <a:rPr dirty="0" sz="1400" spc="-20">
                <a:solidFill>
                  <a:srgbClr val="FFFFFF"/>
                </a:solidFill>
                <a:latin typeface="SimSun"/>
                <a:cs typeface="SimSun"/>
              </a:rPr>
              <a:t>微站建设保障</a:t>
            </a:r>
            <a:r>
              <a:rPr dirty="0" sz="1400">
                <a:solidFill>
                  <a:srgbClr val="FFFFFF"/>
                </a:solidFill>
                <a:latin typeface="Arial MT"/>
                <a:cs typeface="Arial MT"/>
              </a:rPr>
              <a:t>-</a:t>
            </a:r>
            <a:r>
              <a:rPr dirty="0" sz="1400" spc="-20">
                <a:solidFill>
                  <a:srgbClr val="FFFFFF"/>
                </a:solidFill>
                <a:latin typeface="SimSun"/>
                <a:cs typeface="SimSun"/>
              </a:rPr>
              <a:t>铁锂电池</a:t>
            </a:r>
            <a:r>
              <a:rPr dirty="0" sz="1400">
                <a:solidFill>
                  <a:srgbClr val="FFFFFF"/>
                </a:solidFill>
                <a:latin typeface="Arial MT"/>
                <a:cs typeface="Arial MT"/>
              </a:rPr>
              <a:t>-</a:t>
            </a:r>
            <a:r>
              <a:rPr dirty="0" sz="1400" spc="-50">
                <a:solidFill>
                  <a:srgbClr val="FFFFFF"/>
                </a:solidFill>
                <a:latin typeface="Arial MT"/>
                <a:cs typeface="Arial MT"/>
              </a:rPr>
              <a:t>1</a:t>
            </a:r>
            <a:endParaRPr sz="1400">
              <a:latin typeface="Arial MT"/>
              <a:cs typeface="Arial MT"/>
            </a:endParaRPr>
          </a:p>
        </p:txBody>
      </p:sp>
      <p:sp>
        <p:nvSpPr>
          <p:cNvPr id="6" name="object 6" descr=""/>
          <p:cNvSpPr txBox="1"/>
          <p:nvPr/>
        </p:nvSpPr>
        <p:spPr>
          <a:xfrm>
            <a:off x="144106" y="1250327"/>
            <a:ext cx="8614410" cy="900430"/>
          </a:xfrm>
          <a:prstGeom prst="rect">
            <a:avLst/>
          </a:prstGeom>
          <a:solidFill>
            <a:srgbClr val="E7F3F4"/>
          </a:solidFill>
        </p:spPr>
        <p:txBody>
          <a:bodyPr wrap="square" lIns="0" tIns="20320" rIns="0" bIns="0" rtlCol="0" vert="horz">
            <a:spAutoFit/>
          </a:bodyPr>
          <a:lstStyle/>
          <a:p>
            <a:pPr marL="281940" marR="92710" indent="-213995">
              <a:lnSpc>
                <a:spcPts val="2160"/>
              </a:lnSpc>
              <a:spcBef>
                <a:spcPts val="160"/>
              </a:spcBef>
              <a:buFont typeface="Wingdings"/>
              <a:buChar char=""/>
              <a:tabLst>
                <a:tab pos="283210" algn="l"/>
              </a:tabLst>
            </a:pPr>
            <a:r>
              <a:rPr dirty="0" sz="1200" spc="-5">
                <a:solidFill>
                  <a:srgbClr val="3E3E3E"/>
                </a:solidFill>
                <a:latin typeface="Microsoft YaHei"/>
                <a:cs typeface="Microsoft YaHei"/>
              </a:rPr>
              <a:t>铁锂电池可以根据实际需求进行封装样式，其尺寸小，地理环境适应性强，容量配置灵活，安装方便，能够很好满足多类型	微站后备电源保障需要。</a:t>
            </a:r>
            <a:endParaRPr sz="1200">
              <a:latin typeface="Microsoft YaHei"/>
              <a:cs typeface="Microsoft YaHei"/>
            </a:endParaRPr>
          </a:p>
          <a:p>
            <a:pPr marL="282575" indent="-213995">
              <a:lnSpc>
                <a:spcPct val="100000"/>
              </a:lnSpc>
              <a:spcBef>
                <a:spcPts val="530"/>
              </a:spcBef>
              <a:buFont typeface="Wingdings"/>
              <a:buChar char=""/>
              <a:tabLst>
                <a:tab pos="282575" algn="l"/>
              </a:tabLst>
            </a:pPr>
            <a:r>
              <a:rPr dirty="0" sz="1200" spc="-5">
                <a:solidFill>
                  <a:srgbClr val="3E3E3E"/>
                </a:solidFill>
                <a:latin typeface="Microsoft YaHei"/>
                <a:cs typeface="Microsoft YaHei"/>
              </a:rPr>
              <a:t>该片状铁锂电池可以很好的用于楼顶、楼面、室分、拉远站等远端的备电。</a:t>
            </a:r>
            <a:endParaRPr sz="1200">
              <a:latin typeface="Microsoft YaHei"/>
              <a:cs typeface="Microsoft YaHei"/>
            </a:endParaRPr>
          </a:p>
        </p:txBody>
      </p:sp>
      <p:sp>
        <p:nvSpPr>
          <p:cNvPr id="7" name="object 7"/>
          <p:cNvSpPr txBox="1">
            <a:spLocks noGrp="1"/>
          </p:cNvSpPr>
          <p:nvPr>
            <p:ph type="title"/>
          </p:nvPr>
        </p:nvSpPr>
        <p:spPr>
          <a:xfrm>
            <a:off x="3529393" y="187706"/>
            <a:ext cx="2467610" cy="513080"/>
          </a:xfrm>
          <a:prstGeom prst="rect"/>
        </p:spPr>
        <p:txBody>
          <a:bodyPr wrap="square" lIns="0" tIns="12065" rIns="0" bIns="0" rtlCol="0" vert="horz">
            <a:spAutoFit/>
          </a:bodyPr>
          <a:lstStyle/>
          <a:p>
            <a:pPr marL="12700">
              <a:lnSpc>
                <a:spcPct val="100000"/>
              </a:lnSpc>
              <a:spcBef>
                <a:spcPts val="95"/>
              </a:spcBef>
            </a:pPr>
            <a:r>
              <a:rPr dirty="0" spc="-40"/>
              <a:t>微站建设策略</a:t>
            </a:r>
          </a:p>
        </p:txBody>
      </p:sp>
      <p:pic>
        <p:nvPicPr>
          <p:cNvPr id="8" name="object 8"/>
          <p:cNvPicPr/>
          <p:nvPr/>
        </p:nvPicPr>
        <p:blipFill>
          <a:blip r:embed="rId4" cstate="print"/>
          <a:stretch>
            <a:fillRect/>
          </a:stretch>
        </p:blipFill>
        <p:spPr>
          <a:xfrm>
            <a:off x="446968" y="2143266"/>
            <a:ext cx="7803861" cy="1560561"/>
          </a:xfrm>
          <a:prstGeom prst="rect">
            <a:avLst/>
          </a:prstGeom>
        </p:spPr>
      </p:pic>
      <p:sp>
        <p:nvSpPr>
          <p:cNvPr id="9" name="object 9" descr=""/>
          <p:cNvSpPr txBox="1"/>
          <p:nvPr/>
        </p:nvSpPr>
        <p:spPr>
          <a:xfrm>
            <a:off x="3954754" y="2127519"/>
            <a:ext cx="787400" cy="254000"/>
          </a:xfrm>
          <a:prstGeom prst="rect">
            <a:avLst/>
          </a:prstGeom>
        </p:spPr>
        <p:txBody>
          <a:bodyPr wrap="square" lIns="0" tIns="12700" rIns="0" bIns="0" rtlCol="0" vert="horz">
            <a:spAutoFit/>
          </a:bodyPr>
          <a:lstStyle/>
          <a:p>
            <a:pPr marL="12700">
              <a:lnSpc>
                <a:spcPct val="100000"/>
              </a:lnSpc>
              <a:spcBef>
                <a:spcPts val="100"/>
              </a:spcBef>
            </a:pPr>
            <a:r>
              <a:rPr dirty="0" sz="1500" spc="-15">
                <a:solidFill>
                  <a:srgbClr val="FF0000"/>
                </a:solidFill>
                <a:latin typeface="Microsoft YaHei"/>
                <a:cs typeface="Microsoft YaHei"/>
              </a:rPr>
              <a:t>末端备电</a:t>
            </a:r>
            <a:endParaRPr sz="1500">
              <a:latin typeface="Microsoft YaHei"/>
              <a:cs typeface="Microsoft YaHei"/>
            </a:endParaRPr>
          </a:p>
        </p:txBody>
      </p:sp>
      <p:pic>
        <p:nvPicPr>
          <p:cNvPr id="10" name="object 10"/>
          <p:cNvPicPr/>
          <p:nvPr/>
        </p:nvPicPr>
        <p:blipFill>
          <a:blip r:embed="rId5" cstate="print"/>
          <a:stretch>
            <a:fillRect/>
          </a:stretch>
        </p:blipFill>
        <p:spPr>
          <a:xfrm>
            <a:off x="586193" y="3657271"/>
            <a:ext cx="4872858" cy="1303094"/>
          </a:xfrm>
          <a:prstGeom prst="rect">
            <a:avLst/>
          </a:prstGeom>
        </p:spPr>
      </p:pic>
      <p:sp>
        <p:nvSpPr>
          <p:cNvPr id="11" name="object 11" descr=""/>
          <p:cNvSpPr txBox="1"/>
          <p:nvPr/>
        </p:nvSpPr>
        <p:spPr>
          <a:xfrm>
            <a:off x="5604609" y="3951226"/>
            <a:ext cx="2569210" cy="711200"/>
          </a:xfrm>
          <a:prstGeom prst="rect">
            <a:avLst/>
          </a:prstGeom>
        </p:spPr>
        <p:txBody>
          <a:bodyPr wrap="square" lIns="0" tIns="127000" rIns="0" bIns="0" rtlCol="0" vert="horz">
            <a:spAutoFit/>
          </a:bodyPr>
          <a:lstStyle/>
          <a:p>
            <a:pPr marL="269240" indent="-256540">
              <a:lnSpc>
                <a:spcPct val="100000"/>
              </a:lnSpc>
              <a:spcBef>
                <a:spcPts val="1000"/>
              </a:spcBef>
              <a:buFont typeface="Wingdings"/>
              <a:buChar char=""/>
              <a:tabLst>
                <a:tab pos="269240" algn="l"/>
              </a:tabLst>
            </a:pPr>
            <a:r>
              <a:rPr dirty="0" sz="1500" spc="-5">
                <a:solidFill>
                  <a:srgbClr val="3E3E3E"/>
                </a:solidFill>
                <a:latin typeface="Microsoft YaHei"/>
                <a:cs typeface="Microsoft YaHei"/>
              </a:rPr>
              <a:t>电池容量根据需要配置</a:t>
            </a:r>
            <a:endParaRPr sz="1500">
              <a:latin typeface="Microsoft YaHei"/>
              <a:cs typeface="Microsoft YaHei"/>
            </a:endParaRPr>
          </a:p>
          <a:p>
            <a:pPr marL="269240" indent="-256540">
              <a:lnSpc>
                <a:spcPct val="100000"/>
              </a:lnSpc>
              <a:spcBef>
                <a:spcPts val="900"/>
              </a:spcBef>
              <a:buFont typeface="Wingdings"/>
              <a:buChar char=""/>
              <a:tabLst>
                <a:tab pos="269240" algn="l"/>
              </a:tabLst>
            </a:pPr>
            <a:r>
              <a:rPr dirty="0" sz="1500" spc="-5">
                <a:solidFill>
                  <a:srgbClr val="3E3E3E"/>
                </a:solidFill>
                <a:latin typeface="Microsoft YaHei"/>
                <a:cs typeface="Microsoft YaHei"/>
              </a:rPr>
              <a:t>即可提供直流也可提供交流</a:t>
            </a:r>
            <a:endParaRPr sz="1500">
              <a:latin typeface="Microsoft YaHei"/>
              <a:cs typeface="Microsoft YaHe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29235" y="884059"/>
            <a:ext cx="8633460" cy="1200785"/>
            <a:chOff x="129235" y="884059"/>
            <a:chExt cx="8633460" cy="1200785"/>
          </a:xfrm>
        </p:grpSpPr>
        <p:pic>
          <p:nvPicPr>
            <p:cNvPr id="3" name="object 3" descr=""/>
            <p:cNvPicPr/>
            <p:nvPr/>
          </p:nvPicPr>
          <p:blipFill>
            <a:blip r:embed="rId2" cstate="print"/>
            <a:stretch>
              <a:fillRect/>
            </a:stretch>
          </p:blipFill>
          <p:spPr>
            <a:xfrm>
              <a:off x="179069" y="934211"/>
              <a:ext cx="2212847" cy="305561"/>
            </a:xfrm>
            <a:prstGeom prst="rect">
              <a:avLst/>
            </a:prstGeom>
          </p:spPr>
        </p:pic>
        <p:pic>
          <p:nvPicPr>
            <p:cNvPr id="4" name="object 4" descr=""/>
            <p:cNvPicPr/>
            <p:nvPr/>
          </p:nvPicPr>
          <p:blipFill>
            <a:blip r:embed="rId3" cstate="print"/>
            <a:stretch>
              <a:fillRect/>
            </a:stretch>
          </p:blipFill>
          <p:spPr>
            <a:xfrm>
              <a:off x="181356" y="916685"/>
              <a:ext cx="2260853" cy="277367"/>
            </a:xfrm>
            <a:prstGeom prst="rect">
              <a:avLst/>
            </a:prstGeom>
          </p:spPr>
        </p:pic>
        <p:sp>
          <p:nvSpPr>
            <p:cNvPr id="5" name="object 5" descr=""/>
            <p:cNvSpPr/>
            <p:nvPr/>
          </p:nvSpPr>
          <p:spPr>
            <a:xfrm>
              <a:off x="129235" y="884059"/>
              <a:ext cx="2211070" cy="304165"/>
            </a:xfrm>
            <a:custGeom>
              <a:avLst/>
              <a:gdLst/>
              <a:ahLst/>
              <a:cxnLst/>
              <a:rect l="l" t="t" r="r" b="b"/>
              <a:pathLst>
                <a:path w="2211070" h="304165">
                  <a:moveTo>
                    <a:pt x="2210854" y="0"/>
                  </a:moveTo>
                  <a:lnTo>
                    <a:pt x="0" y="0"/>
                  </a:lnTo>
                  <a:lnTo>
                    <a:pt x="0" y="303784"/>
                  </a:lnTo>
                  <a:lnTo>
                    <a:pt x="2210854" y="303784"/>
                  </a:lnTo>
                  <a:lnTo>
                    <a:pt x="2210854" y="0"/>
                  </a:lnTo>
                  <a:close/>
                </a:path>
              </a:pathLst>
            </a:custGeom>
            <a:solidFill>
              <a:srgbClr val="333399"/>
            </a:solidFill>
          </p:spPr>
          <p:txBody>
            <a:bodyPr wrap="square" lIns="0" tIns="0" rIns="0" bIns="0" rtlCol="0"/>
            <a:lstStyle/>
            <a:p/>
          </p:txBody>
        </p:sp>
        <p:sp>
          <p:nvSpPr>
            <p:cNvPr id="6" name="object 6" descr=""/>
            <p:cNvSpPr/>
            <p:nvPr/>
          </p:nvSpPr>
          <p:spPr>
            <a:xfrm>
              <a:off x="148272" y="1184389"/>
              <a:ext cx="8614410" cy="900430"/>
            </a:xfrm>
            <a:custGeom>
              <a:avLst/>
              <a:gdLst/>
              <a:ahLst/>
              <a:cxnLst/>
              <a:rect l="l" t="t" r="r" b="b"/>
              <a:pathLst>
                <a:path w="8614410" h="900430">
                  <a:moveTo>
                    <a:pt x="8613902" y="0"/>
                  </a:moveTo>
                  <a:lnTo>
                    <a:pt x="0" y="0"/>
                  </a:lnTo>
                  <a:lnTo>
                    <a:pt x="0" y="900252"/>
                  </a:lnTo>
                  <a:lnTo>
                    <a:pt x="8613902" y="900252"/>
                  </a:lnTo>
                  <a:lnTo>
                    <a:pt x="8613902" y="0"/>
                  </a:lnTo>
                  <a:close/>
                </a:path>
              </a:pathLst>
            </a:custGeom>
            <a:solidFill>
              <a:srgbClr val="E7F3F4"/>
            </a:solidFill>
          </p:spPr>
          <p:txBody>
            <a:bodyPr wrap="square" lIns="0" tIns="0" rIns="0" bIns="0" rtlCol="0"/>
            <a:lstStyle/>
            <a:p/>
          </p:txBody>
        </p:sp>
      </p:grpSp>
      <p:sp>
        <p:nvSpPr>
          <p:cNvPr id="7" name="object 7" descr=""/>
          <p:cNvSpPr txBox="1"/>
          <p:nvPr/>
        </p:nvSpPr>
        <p:spPr>
          <a:xfrm>
            <a:off x="204149" y="912765"/>
            <a:ext cx="8470265" cy="1103630"/>
          </a:xfrm>
          <a:prstGeom prst="rect">
            <a:avLst/>
          </a:prstGeom>
        </p:spPr>
        <p:txBody>
          <a:bodyPr wrap="square" lIns="0" tIns="12065" rIns="0" bIns="0" rtlCol="0" vert="horz">
            <a:spAutoFit/>
          </a:bodyPr>
          <a:lstStyle/>
          <a:p>
            <a:pPr marL="33020">
              <a:lnSpc>
                <a:spcPct val="100000"/>
              </a:lnSpc>
              <a:spcBef>
                <a:spcPts val="95"/>
              </a:spcBef>
            </a:pPr>
            <a:r>
              <a:rPr dirty="0" sz="1400" spc="-20">
                <a:solidFill>
                  <a:srgbClr val="FFFFFF"/>
                </a:solidFill>
                <a:latin typeface="SimSun"/>
                <a:cs typeface="SimSun"/>
              </a:rPr>
              <a:t>微站建设保障</a:t>
            </a:r>
            <a:r>
              <a:rPr dirty="0" sz="1400">
                <a:solidFill>
                  <a:srgbClr val="FFFFFF"/>
                </a:solidFill>
                <a:latin typeface="Arial MT"/>
                <a:cs typeface="Arial MT"/>
              </a:rPr>
              <a:t>-</a:t>
            </a:r>
            <a:r>
              <a:rPr dirty="0" sz="1400" spc="-20">
                <a:solidFill>
                  <a:srgbClr val="FFFFFF"/>
                </a:solidFill>
                <a:latin typeface="SimSun"/>
                <a:cs typeface="SimSun"/>
              </a:rPr>
              <a:t>铁锂电池</a:t>
            </a:r>
            <a:r>
              <a:rPr dirty="0" sz="1400">
                <a:solidFill>
                  <a:srgbClr val="FFFFFF"/>
                </a:solidFill>
                <a:latin typeface="Arial MT"/>
                <a:cs typeface="Arial MT"/>
              </a:rPr>
              <a:t>-</a:t>
            </a:r>
            <a:r>
              <a:rPr dirty="0" sz="1400" spc="-50">
                <a:solidFill>
                  <a:srgbClr val="FFFFFF"/>
                </a:solidFill>
                <a:latin typeface="Arial MT"/>
                <a:cs typeface="Arial MT"/>
              </a:rPr>
              <a:t>1</a:t>
            </a:r>
            <a:endParaRPr sz="1400">
              <a:latin typeface="Arial MT"/>
              <a:cs typeface="Arial MT"/>
            </a:endParaRPr>
          </a:p>
          <a:p>
            <a:pPr marL="226060" marR="5080" indent="-213995">
              <a:lnSpc>
                <a:spcPct val="150000"/>
              </a:lnSpc>
              <a:spcBef>
                <a:spcPts val="330"/>
              </a:spcBef>
              <a:buFont typeface="Wingdings"/>
              <a:buChar char=""/>
              <a:tabLst>
                <a:tab pos="227329" algn="l"/>
              </a:tabLst>
            </a:pPr>
            <a:r>
              <a:rPr dirty="0" sz="1200" spc="-5">
                <a:solidFill>
                  <a:srgbClr val="3E3E3E"/>
                </a:solidFill>
                <a:latin typeface="Microsoft YaHei"/>
                <a:cs typeface="Microsoft YaHei"/>
              </a:rPr>
              <a:t>在公共基础设施当着微站的建设的公共资源的同时，根据其结构特点，将铁锂电池进行隐藏封装，用于后备供电，同时发展	物联网等其他拓展业务。</a:t>
            </a:r>
            <a:endParaRPr sz="1200">
              <a:latin typeface="Microsoft YaHei"/>
              <a:cs typeface="Microsoft YaHei"/>
            </a:endParaRPr>
          </a:p>
          <a:p>
            <a:pPr marL="226695" indent="-213995">
              <a:lnSpc>
                <a:spcPct val="100000"/>
              </a:lnSpc>
              <a:spcBef>
                <a:spcPts val="720"/>
              </a:spcBef>
              <a:buFont typeface="Wingdings"/>
              <a:buChar char=""/>
              <a:tabLst>
                <a:tab pos="226695" algn="l"/>
              </a:tabLst>
            </a:pPr>
            <a:r>
              <a:rPr dirty="0" sz="1200" spc="-5">
                <a:solidFill>
                  <a:srgbClr val="3E3E3E"/>
                </a:solidFill>
                <a:latin typeface="Microsoft YaHei"/>
                <a:cs typeface="Microsoft YaHei"/>
              </a:rPr>
              <a:t>可能铁锂电池场景应用会和微站一样广泛而多样。</a:t>
            </a:r>
            <a:endParaRPr sz="1200">
              <a:latin typeface="Microsoft YaHei"/>
              <a:cs typeface="Microsoft YaHei"/>
            </a:endParaRPr>
          </a:p>
        </p:txBody>
      </p:sp>
      <p:sp>
        <p:nvSpPr>
          <p:cNvPr id="8" name="object 8"/>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0"/>
              <a:t>微站建设策略</a:t>
            </a:r>
          </a:p>
        </p:txBody>
      </p:sp>
      <p:grpSp>
        <p:nvGrpSpPr>
          <p:cNvPr id="9" name="object 9" descr=""/>
          <p:cNvGrpSpPr/>
          <p:nvPr/>
        </p:nvGrpSpPr>
        <p:grpSpPr>
          <a:xfrm>
            <a:off x="393893" y="2074371"/>
            <a:ext cx="8161655" cy="2930525"/>
            <a:chOff x="393893" y="2074371"/>
            <a:chExt cx="8161655" cy="2930525"/>
          </a:xfrm>
        </p:grpSpPr>
        <p:pic>
          <p:nvPicPr>
            <p:cNvPr id="10" name="object 10"/>
            <p:cNvPicPr/>
            <p:nvPr/>
          </p:nvPicPr>
          <p:blipFill>
            <a:blip r:embed="rId4" cstate="print"/>
            <a:stretch>
              <a:fillRect/>
            </a:stretch>
          </p:blipFill>
          <p:spPr>
            <a:xfrm>
              <a:off x="393893" y="2074371"/>
              <a:ext cx="6100009" cy="2930507"/>
            </a:xfrm>
            <a:prstGeom prst="rect">
              <a:avLst/>
            </a:prstGeom>
          </p:spPr>
        </p:pic>
        <p:sp>
          <p:nvSpPr>
            <p:cNvPr id="11" name="object 11" descr=""/>
            <p:cNvSpPr/>
            <p:nvPr/>
          </p:nvSpPr>
          <p:spPr>
            <a:xfrm>
              <a:off x="3443903" y="2753840"/>
              <a:ext cx="400050" cy="342900"/>
            </a:xfrm>
            <a:custGeom>
              <a:avLst/>
              <a:gdLst/>
              <a:ahLst/>
              <a:cxnLst/>
              <a:rect l="l" t="t" r="r" b="b"/>
              <a:pathLst>
                <a:path w="400050" h="342900">
                  <a:moveTo>
                    <a:pt x="0" y="171450"/>
                  </a:moveTo>
                  <a:lnTo>
                    <a:pt x="7134" y="125871"/>
                  </a:lnTo>
                  <a:lnTo>
                    <a:pt x="27268" y="84915"/>
                  </a:lnTo>
                  <a:lnTo>
                    <a:pt x="58497" y="50215"/>
                  </a:lnTo>
                  <a:lnTo>
                    <a:pt x="98918" y="23407"/>
                  </a:lnTo>
                  <a:lnTo>
                    <a:pt x="146627" y="6124"/>
                  </a:lnTo>
                  <a:lnTo>
                    <a:pt x="199720" y="0"/>
                  </a:lnTo>
                  <a:lnTo>
                    <a:pt x="252812" y="6124"/>
                  </a:lnTo>
                  <a:lnTo>
                    <a:pt x="300521" y="23407"/>
                  </a:lnTo>
                  <a:lnTo>
                    <a:pt x="340942" y="50215"/>
                  </a:lnTo>
                  <a:lnTo>
                    <a:pt x="372172" y="84915"/>
                  </a:lnTo>
                  <a:lnTo>
                    <a:pt x="392305" y="125871"/>
                  </a:lnTo>
                  <a:lnTo>
                    <a:pt x="399440" y="171450"/>
                  </a:lnTo>
                  <a:lnTo>
                    <a:pt x="392305" y="217028"/>
                  </a:lnTo>
                  <a:lnTo>
                    <a:pt x="372172" y="257984"/>
                  </a:lnTo>
                  <a:lnTo>
                    <a:pt x="340942" y="292684"/>
                  </a:lnTo>
                  <a:lnTo>
                    <a:pt x="300521" y="319492"/>
                  </a:lnTo>
                  <a:lnTo>
                    <a:pt x="252812" y="336775"/>
                  </a:lnTo>
                  <a:lnTo>
                    <a:pt x="199720" y="342900"/>
                  </a:lnTo>
                  <a:lnTo>
                    <a:pt x="146627" y="336775"/>
                  </a:lnTo>
                  <a:lnTo>
                    <a:pt x="98918" y="319492"/>
                  </a:lnTo>
                  <a:lnTo>
                    <a:pt x="58497" y="292684"/>
                  </a:lnTo>
                  <a:lnTo>
                    <a:pt x="27268" y="257984"/>
                  </a:lnTo>
                  <a:lnTo>
                    <a:pt x="7134" y="217028"/>
                  </a:lnTo>
                  <a:lnTo>
                    <a:pt x="0" y="171450"/>
                  </a:lnTo>
                  <a:close/>
                </a:path>
              </a:pathLst>
            </a:custGeom>
            <a:ln w="19050">
              <a:solidFill>
                <a:srgbClr val="CC0000"/>
              </a:solidFill>
            </a:ln>
          </p:spPr>
          <p:txBody>
            <a:bodyPr wrap="square" lIns="0" tIns="0" rIns="0" bIns="0" rtlCol="0"/>
            <a:lstStyle/>
            <a:p/>
          </p:txBody>
        </p:sp>
        <p:pic>
          <p:nvPicPr>
            <p:cNvPr id="12" name="object 12"/>
            <p:cNvPicPr/>
            <p:nvPr/>
          </p:nvPicPr>
          <p:blipFill>
            <a:blip r:embed="rId5" cstate="print"/>
            <a:stretch>
              <a:fillRect/>
            </a:stretch>
          </p:blipFill>
          <p:spPr>
            <a:xfrm>
              <a:off x="6650401" y="2074371"/>
              <a:ext cx="1904992" cy="2891824"/>
            </a:xfrm>
            <a:prstGeom prst="rect">
              <a:avLst/>
            </a:prstGeom>
          </p:spPr>
        </p:pic>
        <p:sp>
          <p:nvSpPr>
            <p:cNvPr id="13" name="object 13" descr=""/>
            <p:cNvSpPr/>
            <p:nvPr/>
          </p:nvSpPr>
          <p:spPr>
            <a:xfrm>
              <a:off x="7103860" y="4428208"/>
              <a:ext cx="473075" cy="477520"/>
            </a:xfrm>
            <a:custGeom>
              <a:avLst/>
              <a:gdLst/>
              <a:ahLst/>
              <a:cxnLst/>
              <a:rect l="l" t="t" r="r" b="b"/>
              <a:pathLst>
                <a:path w="473075" h="477520">
                  <a:moveTo>
                    <a:pt x="0" y="238467"/>
                  </a:moveTo>
                  <a:lnTo>
                    <a:pt x="4801" y="190409"/>
                  </a:lnTo>
                  <a:lnTo>
                    <a:pt x="18570" y="145646"/>
                  </a:lnTo>
                  <a:lnTo>
                    <a:pt x="40359" y="105139"/>
                  </a:lnTo>
                  <a:lnTo>
                    <a:pt x="69215" y="69846"/>
                  </a:lnTo>
                  <a:lnTo>
                    <a:pt x="104188" y="40727"/>
                  </a:lnTo>
                  <a:lnTo>
                    <a:pt x="144328" y="18740"/>
                  </a:lnTo>
                  <a:lnTo>
                    <a:pt x="188685" y="4844"/>
                  </a:lnTo>
                  <a:lnTo>
                    <a:pt x="236308" y="0"/>
                  </a:lnTo>
                  <a:lnTo>
                    <a:pt x="283932" y="4844"/>
                  </a:lnTo>
                  <a:lnTo>
                    <a:pt x="328289" y="18740"/>
                  </a:lnTo>
                  <a:lnTo>
                    <a:pt x="368429" y="40727"/>
                  </a:lnTo>
                  <a:lnTo>
                    <a:pt x="403402" y="69846"/>
                  </a:lnTo>
                  <a:lnTo>
                    <a:pt x="432258" y="105139"/>
                  </a:lnTo>
                  <a:lnTo>
                    <a:pt x="454046" y="145646"/>
                  </a:lnTo>
                  <a:lnTo>
                    <a:pt x="467816" y="190409"/>
                  </a:lnTo>
                  <a:lnTo>
                    <a:pt x="472617" y="238467"/>
                  </a:lnTo>
                  <a:lnTo>
                    <a:pt x="467816" y="286526"/>
                  </a:lnTo>
                  <a:lnTo>
                    <a:pt x="454046" y="331289"/>
                  </a:lnTo>
                  <a:lnTo>
                    <a:pt x="432258" y="371796"/>
                  </a:lnTo>
                  <a:lnTo>
                    <a:pt x="403402" y="407088"/>
                  </a:lnTo>
                  <a:lnTo>
                    <a:pt x="368429" y="436208"/>
                  </a:lnTo>
                  <a:lnTo>
                    <a:pt x="328289" y="458195"/>
                  </a:lnTo>
                  <a:lnTo>
                    <a:pt x="283932" y="472090"/>
                  </a:lnTo>
                  <a:lnTo>
                    <a:pt x="236308" y="476935"/>
                  </a:lnTo>
                  <a:lnTo>
                    <a:pt x="188685" y="472090"/>
                  </a:lnTo>
                  <a:lnTo>
                    <a:pt x="144328" y="458195"/>
                  </a:lnTo>
                  <a:lnTo>
                    <a:pt x="104188" y="436208"/>
                  </a:lnTo>
                  <a:lnTo>
                    <a:pt x="69215" y="407088"/>
                  </a:lnTo>
                  <a:lnTo>
                    <a:pt x="40359" y="371796"/>
                  </a:lnTo>
                  <a:lnTo>
                    <a:pt x="18570" y="331289"/>
                  </a:lnTo>
                  <a:lnTo>
                    <a:pt x="4801" y="286526"/>
                  </a:lnTo>
                  <a:lnTo>
                    <a:pt x="0" y="238467"/>
                  </a:lnTo>
                  <a:close/>
                </a:path>
              </a:pathLst>
            </a:custGeom>
            <a:ln w="19049">
              <a:solidFill>
                <a:srgbClr val="CC0000"/>
              </a:solidFill>
            </a:ln>
          </p:spPr>
          <p:txBody>
            <a:bodyPr wrap="square" lIns="0" tIns="0" rIns="0" bIns="0" rtlCol="0"/>
            <a:lstStyle/>
            <a:p/>
          </p:txBody>
        </p:sp>
        <p:sp>
          <p:nvSpPr>
            <p:cNvPr id="14" name="object 14" descr=""/>
            <p:cNvSpPr/>
            <p:nvPr/>
          </p:nvSpPr>
          <p:spPr>
            <a:xfrm>
              <a:off x="3843342" y="2652876"/>
              <a:ext cx="1240790" cy="272415"/>
            </a:xfrm>
            <a:custGeom>
              <a:avLst/>
              <a:gdLst/>
              <a:ahLst/>
              <a:cxnLst/>
              <a:rect l="l" t="t" r="r" b="b"/>
              <a:pathLst>
                <a:path w="1240789" h="272414">
                  <a:moveTo>
                    <a:pt x="0" y="272414"/>
                  </a:moveTo>
                  <a:lnTo>
                    <a:pt x="1240523" y="0"/>
                  </a:lnTo>
                </a:path>
              </a:pathLst>
            </a:custGeom>
            <a:ln w="12699">
              <a:solidFill>
                <a:srgbClr val="2F2F98"/>
              </a:solidFill>
            </a:ln>
          </p:spPr>
          <p:txBody>
            <a:bodyPr wrap="square" lIns="0" tIns="0" rIns="0" bIns="0" rtlCol="0"/>
            <a:lstStyle/>
            <a:p/>
          </p:txBody>
        </p:sp>
        <p:sp>
          <p:nvSpPr>
            <p:cNvPr id="15" name="object 15" descr=""/>
            <p:cNvSpPr/>
            <p:nvPr/>
          </p:nvSpPr>
          <p:spPr>
            <a:xfrm>
              <a:off x="5063290" y="2618384"/>
              <a:ext cx="83185" cy="74930"/>
            </a:xfrm>
            <a:custGeom>
              <a:avLst/>
              <a:gdLst/>
              <a:ahLst/>
              <a:cxnLst/>
              <a:rect l="l" t="t" r="r" b="b"/>
              <a:pathLst>
                <a:path w="83185" h="74930">
                  <a:moveTo>
                    <a:pt x="0" y="0"/>
                  </a:moveTo>
                  <a:lnTo>
                    <a:pt x="16344" y="74422"/>
                  </a:lnTo>
                  <a:lnTo>
                    <a:pt x="82600" y="20878"/>
                  </a:lnTo>
                  <a:lnTo>
                    <a:pt x="0" y="0"/>
                  </a:lnTo>
                  <a:close/>
                </a:path>
              </a:pathLst>
            </a:custGeom>
            <a:solidFill>
              <a:srgbClr val="2F2F98"/>
            </a:solidFill>
          </p:spPr>
          <p:txBody>
            <a:bodyPr wrap="square" lIns="0" tIns="0" rIns="0" bIns="0" rtlCol="0"/>
            <a:lstStyle/>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429000" y="971550"/>
            <a:ext cx="45720" cy="3759200"/>
          </a:xfrm>
          <a:custGeom>
            <a:avLst/>
            <a:gdLst/>
            <a:ahLst/>
            <a:cxnLst/>
            <a:rect l="l" t="t" r="r" b="b"/>
            <a:pathLst>
              <a:path w="45720" h="3759200">
                <a:moveTo>
                  <a:pt x="0" y="0"/>
                </a:moveTo>
                <a:lnTo>
                  <a:pt x="45720" y="3758806"/>
                </a:lnTo>
              </a:path>
            </a:pathLst>
          </a:custGeom>
          <a:ln w="34924">
            <a:solidFill>
              <a:srgbClr val="000000"/>
            </a:solidFill>
          </a:ln>
        </p:spPr>
        <p:txBody>
          <a:bodyPr wrap="square" lIns="0" tIns="0" rIns="0" bIns="0" rtlCol="0"/>
          <a:lstStyle/>
          <a:p/>
        </p:txBody>
      </p:sp>
      <p:grpSp>
        <p:nvGrpSpPr>
          <p:cNvPr id="3" name="object 3" descr=""/>
          <p:cNvGrpSpPr/>
          <p:nvPr/>
        </p:nvGrpSpPr>
        <p:grpSpPr>
          <a:xfrm>
            <a:off x="3727450" y="1614091"/>
            <a:ext cx="4660900" cy="498475"/>
            <a:chOff x="3727450" y="1614091"/>
            <a:chExt cx="4660900" cy="498475"/>
          </a:xfrm>
        </p:grpSpPr>
        <p:pic>
          <p:nvPicPr>
            <p:cNvPr id="4" name="object 4" descr=""/>
            <p:cNvPicPr/>
            <p:nvPr/>
          </p:nvPicPr>
          <p:blipFill>
            <a:blip r:embed="rId2" cstate="print"/>
            <a:stretch>
              <a:fillRect/>
            </a:stretch>
          </p:blipFill>
          <p:spPr>
            <a:xfrm>
              <a:off x="3733800" y="1620441"/>
              <a:ext cx="4648200" cy="485775"/>
            </a:xfrm>
            <a:prstGeom prst="rect">
              <a:avLst/>
            </a:prstGeom>
          </p:spPr>
        </p:pic>
        <p:sp>
          <p:nvSpPr>
            <p:cNvPr id="5" name="object 5" descr=""/>
            <p:cNvSpPr/>
            <p:nvPr/>
          </p:nvSpPr>
          <p:spPr>
            <a:xfrm>
              <a:off x="3733800" y="16204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727450" y="2261791"/>
            <a:ext cx="4660900" cy="498475"/>
            <a:chOff x="3727450" y="2261791"/>
            <a:chExt cx="4660900" cy="498475"/>
          </a:xfrm>
        </p:grpSpPr>
        <p:pic>
          <p:nvPicPr>
            <p:cNvPr id="7" name="object 7" descr=""/>
            <p:cNvPicPr/>
            <p:nvPr/>
          </p:nvPicPr>
          <p:blipFill>
            <a:blip r:embed="rId3" cstate="print"/>
            <a:stretch>
              <a:fillRect/>
            </a:stretch>
          </p:blipFill>
          <p:spPr>
            <a:xfrm>
              <a:off x="3733800" y="2268141"/>
              <a:ext cx="4648200" cy="485775"/>
            </a:xfrm>
            <a:prstGeom prst="rect">
              <a:avLst/>
            </a:prstGeom>
          </p:spPr>
        </p:pic>
        <p:sp>
          <p:nvSpPr>
            <p:cNvPr id="8" name="object 8" descr=""/>
            <p:cNvSpPr/>
            <p:nvPr/>
          </p:nvSpPr>
          <p:spPr>
            <a:xfrm>
              <a:off x="3733800" y="22681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727450" y="965200"/>
            <a:ext cx="4660900" cy="498475"/>
            <a:chOff x="3727450" y="965200"/>
            <a:chExt cx="4660900" cy="498475"/>
          </a:xfrm>
        </p:grpSpPr>
        <p:pic>
          <p:nvPicPr>
            <p:cNvPr id="10" name="object 10" descr=""/>
            <p:cNvPicPr/>
            <p:nvPr/>
          </p:nvPicPr>
          <p:blipFill>
            <a:blip r:embed="rId4" cstate="print"/>
            <a:stretch>
              <a:fillRect/>
            </a:stretch>
          </p:blipFill>
          <p:spPr>
            <a:xfrm>
              <a:off x="3733800" y="971550"/>
              <a:ext cx="4648200" cy="485775"/>
            </a:xfrm>
            <a:prstGeom prst="rect">
              <a:avLst/>
            </a:prstGeom>
          </p:spPr>
        </p:pic>
        <p:sp>
          <p:nvSpPr>
            <p:cNvPr id="11" name="object 11" descr=""/>
            <p:cNvSpPr/>
            <p:nvPr/>
          </p:nvSpPr>
          <p:spPr>
            <a:xfrm>
              <a:off x="3733800" y="971550"/>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174619" y="39229"/>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主</a:t>
            </a:r>
            <a:r>
              <a:rPr dirty="0" sz="4400"/>
              <a:t>	</a:t>
            </a:r>
            <a:r>
              <a:rPr dirty="0" sz="4400" spc="-50"/>
              <a:t>要</a:t>
            </a:r>
            <a:r>
              <a:rPr dirty="0" sz="4400"/>
              <a:t>	</a:t>
            </a:r>
            <a:r>
              <a:rPr dirty="0" sz="4400" spc="-50"/>
              <a:t>内</a:t>
            </a:r>
            <a:r>
              <a:rPr dirty="0" sz="4400"/>
              <a:t>	</a:t>
            </a:r>
            <a:r>
              <a:rPr dirty="0" sz="4400" spc="-50"/>
              <a:t>容</a:t>
            </a:r>
            <a:endParaRPr sz="4400"/>
          </a:p>
        </p:txBody>
      </p:sp>
      <p:grpSp>
        <p:nvGrpSpPr>
          <p:cNvPr id="13" name="object 13" descr=""/>
          <p:cNvGrpSpPr/>
          <p:nvPr/>
        </p:nvGrpSpPr>
        <p:grpSpPr>
          <a:xfrm>
            <a:off x="3727450" y="2909491"/>
            <a:ext cx="4660900" cy="498475"/>
            <a:chOff x="3727450" y="2909491"/>
            <a:chExt cx="4660900" cy="498475"/>
          </a:xfrm>
        </p:grpSpPr>
        <p:pic>
          <p:nvPicPr>
            <p:cNvPr id="14" name="object 14" descr=""/>
            <p:cNvPicPr/>
            <p:nvPr/>
          </p:nvPicPr>
          <p:blipFill>
            <a:blip r:embed="rId3" cstate="print"/>
            <a:stretch>
              <a:fillRect/>
            </a:stretch>
          </p:blipFill>
          <p:spPr>
            <a:xfrm>
              <a:off x="3733800" y="2915841"/>
              <a:ext cx="4648200" cy="485775"/>
            </a:xfrm>
            <a:prstGeom prst="rect">
              <a:avLst/>
            </a:prstGeom>
          </p:spPr>
        </p:pic>
        <p:sp>
          <p:nvSpPr>
            <p:cNvPr id="15" name="object 15" descr=""/>
            <p:cNvSpPr/>
            <p:nvPr/>
          </p:nvSpPr>
          <p:spPr>
            <a:xfrm>
              <a:off x="3733800" y="29158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6" name="object 16" descr=""/>
          <p:cNvGrpSpPr/>
          <p:nvPr/>
        </p:nvGrpSpPr>
        <p:grpSpPr>
          <a:xfrm>
            <a:off x="3727450" y="3557189"/>
            <a:ext cx="4660900" cy="498475"/>
            <a:chOff x="3727450" y="3557189"/>
            <a:chExt cx="4660900" cy="498475"/>
          </a:xfrm>
        </p:grpSpPr>
        <p:pic>
          <p:nvPicPr>
            <p:cNvPr id="17" name="object 17" descr=""/>
            <p:cNvPicPr/>
            <p:nvPr/>
          </p:nvPicPr>
          <p:blipFill>
            <a:blip r:embed="rId5" cstate="print"/>
            <a:stretch>
              <a:fillRect/>
            </a:stretch>
          </p:blipFill>
          <p:spPr>
            <a:xfrm>
              <a:off x="3733800" y="3563539"/>
              <a:ext cx="4648200" cy="485775"/>
            </a:xfrm>
            <a:prstGeom prst="rect">
              <a:avLst/>
            </a:prstGeom>
          </p:spPr>
        </p:pic>
        <p:sp>
          <p:nvSpPr>
            <p:cNvPr id="18" name="object 18" descr=""/>
            <p:cNvSpPr/>
            <p:nvPr/>
          </p:nvSpPr>
          <p:spPr>
            <a:xfrm>
              <a:off x="3733800" y="3563539"/>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4"/>
                  </a:lnTo>
                  <a:lnTo>
                    <a:pt x="80962" y="485774"/>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9" name="object 19" descr=""/>
          <p:cNvGrpSpPr/>
          <p:nvPr/>
        </p:nvGrpSpPr>
        <p:grpSpPr>
          <a:xfrm>
            <a:off x="3727450" y="4238228"/>
            <a:ext cx="4660900" cy="498475"/>
            <a:chOff x="3727450" y="4238228"/>
            <a:chExt cx="4660900" cy="498475"/>
          </a:xfrm>
        </p:grpSpPr>
        <p:pic>
          <p:nvPicPr>
            <p:cNvPr id="20" name="object 20" descr=""/>
            <p:cNvPicPr/>
            <p:nvPr/>
          </p:nvPicPr>
          <p:blipFill>
            <a:blip r:embed="rId6" cstate="print"/>
            <a:stretch>
              <a:fillRect/>
            </a:stretch>
          </p:blipFill>
          <p:spPr>
            <a:xfrm>
              <a:off x="3733800" y="4244578"/>
              <a:ext cx="4648200" cy="485775"/>
            </a:xfrm>
            <a:prstGeom prst="rect">
              <a:avLst/>
            </a:prstGeom>
          </p:spPr>
        </p:pic>
        <p:sp>
          <p:nvSpPr>
            <p:cNvPr id="21" name="object 21" descr=""/>
            <p:cNvSpPr/>
            <p:nvPr/>
          </p:nvSpPr>
          <p:spPr>
            <a:xfrm>
              <a:off x="3733800" y="4244578"/>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3836253" y="1007427"/>
            <a:ext cx="4072890" cy="3664585"/>
          </a:xfrm>
          <a:prstGeom prst="rect">
            <a:avLst/>
          </a:prstGeom>
        </p:spPr>
        <p:txBody>
          <a:bodyPr wrap="square" lIns="0" tIns="12700" rIns="0" bIns="0" rtlCol="0" vert="horz">
            <a:spAutoFit/>
          </a:bodyPr>
          <a:lstStyle/>
          <a:p>
            <a:pPr marL="12700">
              <a:lnSpc>
                <a:spcPct val="100000"/>
              </a:lnSpc>
              <a:spcBef>
                <a:spcPts val="100"/>
              </a:spcBef>
            </a:pPr>
            <a:r>
              <a:rPr dirty="0" sz="2400">
                <a:latin typeface="Microsoft YaHei"/>
                <a:cs typeface="Microsoft YaHei"/>
              </a:rPr>
              <a:t>一、</a:t>
            </a:r>
            <a:r>
              <a:rPr dirty="0" sz="2400" spc="-20">
                <a:latin typeface="Times New Roman"/>
                <a:cs typeface="Times New Roman"/>
              </a:rPr>
              <a:t>5G</a:t>
            </a:r>
            <a:r>
              <a:rPr dirty="0" sz="2400" spc="-5">
                <a:latin typeface="Microsoft YaHei"/>
                <a:cs typeface="Microsoft YaHei"/>
              </a:rPr>
              <a:t>系统无线网络规划概述</a:t>
            </a:r>
            <a:endParaRPr sz="2400">
              <a:latin typeface="Microsoft YaHei"/>
              <a:cs typeface="Microsoft YaHei"/>
            </a:endParaRPr>
          </a:p>
          <a:p>
            <a:pPr algn="just" marL="12700" marR="5080">
              <a:lnSpc>
                <a:spcPct val="177100"/>
              </a:lnSpc>
              <a:spcBef>
                <a:spcPts val="5"/>
              </a:spcBef>
            </a:pPr>
            <a:r>
              <a:rPr dirty="0" sz="2400">
                <a:latin typeface="Microsoft YaHei"/>
                <a:cs typeface="Microsoft YaHei"/>
              </a:rPr>
              <a:t>二、</a:t>
            </a:r>
            <a:r>
              <a:rPr dirty="0" sz="2400" spc="-20">
                <a:latin typeface="Times New Roman"/>
                <a:cs typeface="Times New Roman"/>
              </a:rPr>
              <a:t>5G</a:t>
            </a:r>
            <a:r>
              <a:rPr dirty="0" sz="2400" spc="-5">
                <a:latin typeface="Microsoft YaHei"/>
                <a:cs typeface="Microsoft YaHei"/>
              </a:rPr>
              <a:t>系统无线网络规划过程</a:t>
            </a:r>
            <a:r>
              <a:rPr dirty="0" sz="2400">
                <a:latin typeface="Microsoft YaHei"/>
                <a:cs typeface="Microsoft YaHei"/>
              </a:rPr>
              <a:t>三、</a:t>
            </a:r>
            <a:r>
              <a:rPr dirty="0" sz="2400" spc="-20">
                <a:latin typeface="Times New Roman"/>
                <a:cs typeface="Times New Roman"/>
              </a:rPr>
              <a:t>5G</a:t>
            </a:r>
            <a:r>
              <a:rPr dirty="0" sz="2400" spc="-5">
                <a:latin typeface="Microsoft YaHei"/>
                <a:cs typeface="Microsoft YaHei"/>
              </a:rPr>
              <a:t>无线网络宏站组网策略</a:t>
            </a:r>
            <a:r>
              <a:rPr dirty="0" sz="2400">
                <a:latin typeface="Microsoft YaHei"/>
                <a:cs typeface="Microsoft YaHei"/>
              </a:rPr>
              <a:t>四、</a:t>
            </a:r>
            <a:r>
              <a:rPr dirty="0" sz="2400" spc="-20">
                <a:latin typeface="Times New Roman"/>
                <a:cs typeface="Times New Roman"/>
              </a:rPr>
              <a:t>5G</a:t>
            </a:r>
            <a:r>
              <a:rPr dirty="0" sz="2400" spc="-5">
                <a:latin typeface="Microsoft YaHei"/>
                <a:cs typeface="Microsoft YaHei"/>
              </a:rPr>
              <a:t>无线网络微站组网策略</a:t>
            </a:r>
            <a:r>
              <a:rPr dirty="0" sz="2400" b="1">
                <a:solidFill>
                  <a:srgbClr val="FF0000"/>
                </a:solidFill>
                <a:latin typeface="Microsoft YaHei"/>
                <a:cs typeface="Microsoft YaHei"/>
              </a:rPr>
              <a:t>五、</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无线网络室分组网策略</a:t>
            </a:r>
            <a:endParaRPr sz="2400">
              <a:latin typeface="Microsoft YaHei"/>
              <a:cs typeface="Microsoft YaHei"/>
            </a:endParaRPr>
          </a:p>
          <a:p>
            <a:pPr marL="12700">
              <a:lnSpc>
                <a:spcPct val="100000"/>
              </a:lnSpc>
              <a:spcBef>
                <a:spcPts val="2485"/>
              </a:spcBef>
            </a:pPr>
            <a:r>
              <a:rPr dirty="0" sz="2400">
                <a:latin typeface="Microsoft YaHei"/>
                <a:cs typeface="Microsoft YaHei"/>
              </a:rPr>
              <a:t>六、</a:t>
            </a:r>
            <a:r>
              <a:rPr dirty="0" sz="2400" spc="-20">
                <a:latin typeface="Times New Roman"/>
                <a:cs typeface="Times New Roman"/>
              </a:rPr>
              <a:t>5G</a:t>
            </a:r>
            <a:r>
              <a:rPr dirty="0" sz="2400" spc="-5">
                <a:latin typeface="Microsoft YaHei"/>
                <a:cs typeface="Microsoft YaHei"/>
              </a:rPr>
              <a:t>无线网络现场测试分享</a:t>
            </a:r>
            <a:endParaRPr sz="2400">
              <a:latin typeface="Microsoft YaHei"/>
              <a:cs typeface="Microsoft YaHei"/>
            </a:endParaRPr>
          </a:p>
        </p:txBody>
      </p:sp>
      <p:pic>
        <p:nvPicPr>
          <p:cNvPr id="23" name="object 23"/>
          <p:cNvPicPr/>
          <p:nvPr/>
        </p:nvPicPr>
        <p:blipFill>
          <a:blip r:embed="rId7" cstate="print"/>
          <a:stretch>
            <a:fillRect/>
          </a:stretch>
        </p:blipFill>
        <p:spPr>
          <a:xfrm>
            <a:off x="179400" y="971550"/>
            <a:ext cx="3097199" cy="3786212"/>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73161" y="904984"/>
          <a:ext cx="5970270" cy="2952750"/>
        </p:xfrm>
        <a:graphic>
          <a:graphicData uri="http://schemas.openxmlformats.org/drawingml/2006/table">
            <a:tbl>
              <a:tblPr firstRow="1" bandRow="1">
                <a:tableStyleId>{2D5ABB26-0587-4C30-8999-92F81FD0307C}</a:tableStyleId>
              </a:tblPr>
              <a:tblGrid>
                <a:gridCol w="732790"/>
                <a:gridCol w="732790"/>
                <a:gridCol w="2345055"/>
                <a:gridCol w="1191259"/>
                <a:gridCol w="879475"/>
              </a:tblGrid>
              <a:tr h="395605">
                <a:tc>
                  <a:txBody>
                    <a:bodyPr/>
                    <a:lstStyle/>
                    <a:p>
                      <a:pPr marL="91440" marR="123189">
                        <a:lnSpc>
                          <a:spcPts val="1150"/>
                        </a:lnSpc>
                        <a:spcBef>
                          <a:spcPts val="470"/>
                        </a:spcBef>
                      </a:pPr>
                      <a:r>
                        <a:rPr dirty="0" sz="1000" spc="-15">
                          <a:solidFill>
                            <a:srgbClr val="FFFFFF"/>
                          </a:solidFill>
                          <a:latin typeface="SimSun"/>
                          <a:cs typeface="SimSun"/>
                        </a:rPr>
                        <a:t>典型业务</a:t>
                      </a:r>
                      <a:r>
                        <a:rPr dirty="0" sz="1000" spc="-25">
                          <a:solidFill>
                            <a:srgbClr val="FFFFFF"/>
                          </a:solidFill>
                          <a:latin typeface="SimSun"/>
                          <a:cs typeface="SimSun"/>
                        </a:rPr>
                        <a:t>描述</a:t>
                      </a:r>
                      <a:endParaRPr sz="1000">
                        <a:latin typeface="SimSun"/>
                        <a:cs typeface="SimSun"/>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50"/>
                    </a:solidFill>
                  </a:tcPr>
                </a:tc>
                <a:tc>
                  <a:txBody>
                    <a:bodyPr/>
                    <a:lstStyle/>
                    <a:p>
                      <a:pPr marL="90805">
                        <a:lnSpc>
                          <a:spcPct val="100000"/>
                        </a:lnSpc>
                        <a:spcBef>
                          <a:spcPts val="345"/>
                        </a:spcBef>
                      </a:pPr>
                      <a:r>
                        <a:rPr dirty="0" sz="1000" spc="-15">
                          <a:solidFill>
                            <a:srgbClr val="FFFFFF"/>
                          </a:solidFill>
                          <a:latin typeface="SimSun"/>
                          <a:cs typeface="SimSun"/>
                        </a:rPr>
                        <a:t>不同阶段</a:t>
                      </a:r>
                      <a:endParaRPr sz="1000">
                        <a:latin typeface="SimSun"/>
                        <a:cs typeface="SimSun"/>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50"/>
                    </a:solidFill>
                  </a:tcPr>
                </a:tc>
                <a:tc>
                  <a:txBody>
                    <a:bodyPr/>
                    <a:lstStyle/>
                    <a:p>
                      <a:pPr marL="91440">
                        <a:lnSpc>
                          <a:spcPct val="100000"/>
                        </a:lnSpc>
                        <a:spcBef>
                          <a:spcPts val="345"/>
                        </a:spcBef>
                      </a:pPr>
                      <a:r>
                        <a:rPr dirty="0" sz="1000" spc="-15">
                          <a:solidFill>
                            <a:srgbClr val="FFFFFF"/>
                          </a:solidFill>
                          <a:latin typeface="SimSun"/>
                          <a:cs typeface="SimSun"/>
                        </a:rPr>
                        <a:t>典型能力</a:t>
                      </a:r>
                      <a:endParaRPr sz="1000">
                        <a:latin typeface="SimSun"/>
                        <a:cs typeface="SimSun"/>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50"/>
                    </a:solidFill>
                  </a:tcPr>
                </a:tc>
                <a:tc>
                  <a:txBody>
                    <a:bodyPr/>
                    <a:lstStyle/>
                    <a:p>
                      <a:pPr marL="90805">
                        <a:lnSpc>
                          <a:spcPct val="100000"/>
                        </a:lnSpc>
                        <a:spcBef>
                          <a:spcPts val="345"/>
                        </a:spcBef>
                      </a:pPr>
                      <a:r>
                        <a:rPr dirty="0" sz="1000" spc="-5">
                          <a:solidFill>
                            <a:srgbClr val="FFFFFF"/>
                          </a:solidFill>
                          <a:latin typeface="SimSun"/>
                          <a:cs typeface="SimSun"/>
                        </a:rPr>
                        <a:t>速率要求</a:t>
                      </a:r>
                      <a:r>
                        <a:rPr dirty="0" sz="1000" spc="-10">
                          <a:solidFill>
                            <a:srgbClr val="FFFFFF"/>
                          </a:solidFill>
                          <a:latin typeface="SimSun"/>
                          <a:cs typeface="SimSun"/>
                        </a:rPr>
                        <a:t>（</a:t>
                      </a:r>
                      <a:r>
                        <a:rPr dirty="0" sz="1000" spc="-10" b="1">
                          <a:solidFill>
                            <a:srgbClr val="FFFFFF"/>
                          </a:solidFill>
                          <a:latin typeface="Arial"/>
                          <a:cs typeface="Arial"/>
                        </a:rPr>
                        <a:t>Mbps</a:t>
                      </a:r>
                      <a:r>
                        <a:rPr dirty="0" sz="1000" spc="-10">
                          <a:solidFill>
                            <a:srgbClr val="FFFFFF"/>
                          </a:solidFill>
                          <a:latin typeface="SimSun"/>
                          <a:cs typeface="SimSun"/>
                        </a:rPr>
                        <a:t>）</a:t>
                      </a:r>
                      <a:endParaRPr sz="1000">
                        <a:latin typeface="SimSun"/>
                        <a:cs typeface="SimSun"/>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50"/>
                    </a:solidFill>
                  </a:tcPr>
                </a:tc>
                <a:tc>
                  <a:txBody>
                    <a:bodyPr/>
                    <a:lstStyle/>
                    <a:p>
                      <a:pPr marL="90805">
                        <a:lnSpc>
                          <a:spcPct val="100000"/>
                        </a:lnSpc>
                        <a:spcBef>
                          <a:spcPts val="345"/>
                        </a:spcBef>
                      </a:pPr>
                      <a:r>
                        <a:rPr dirty="0" sz="1000">
                          <a:solidFill>
                            <a:srgbClr val="FFFFFF"/>
                          </a:solidFill>
                          <a:latin typeface="SimSun"/>
                          <a:cs typeface="SimSun"/>
                        </a:rPr>
                        <a:t>时延</a:t>
                      </a:r>
                      <a:r>
                        <a:rPr dirty="0" sz="1000" spc="-20">
                          <a:solidFill>
                            <a:srgbClr val="FFFFFF"/>
                          </a:solidFill>
                          <a:latin typeface="SimSun"/>
                          <a:cs typeface="SimSun"/>
                        </a:rPr>
                        <a:t>（</a:t>
                      </a:r>
                      <a:r>
                        <a:rPr dirty="0" sz="1000" spc="-20" b="1">
                          <a:solidFill>
                            <a:srgbClr val="FFFFFF"/>
                          </a:solidFill>
                          <a:latin typeface="Arial"/>
                          <a:cs typeface="Arial"/>
                        </a:rPr>
                        <a:t>ms</a:t>
                      </a:r>
                      <a:r>
                        <a:rPr dirty="0" sz="1000" spc="-20">
                          <a:solidFill>
                            <a:srgbClr val="FFFFFF"/>
                          </a:solidFill>
                          <a:latin typeface="SimSun"/>
                          <a:cs typeface="SimSun"/>
                        </a:rPr>
                        <a:t>）</a:t>
                      </a:r>
                      <a:endParaRPr sz="1000">
                        <a:latin typeface="SimSun"/>
                        <a:cs typeface="SimSun"/>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50"/>
                    </a:solidFill>
                  </a:tcPr>
                </a:tc>
              </a:tr>
              <a:tr h="243204">
                <a:tc>
                  <a:txBody>
                    <a:bodyPr/>
                    <a:lstStyle/>
                    <a:p>
                      <a:pPr marL="91440">
                        <a:lnSpc>
                          <a:spcPct val="100000"/>
                        </a:lnSpc>
                        <a:spcBef>
                          <a:spcPts val="340"/>
                        </a:spcBef>
                      </a:pPr>
                      <a:r>
                        <a:rPr dirty="0" sz="1000" spc="-15">
                          <a:solidFill>
                            <a:srgbClr val="FFFFFF"/>
                          </a:solidFill>
                          <a:latin typeface="SimSun"/>
                          <a:cs typeface="SimSun"/>
                        </a:rPr>
                        <a:t>视频会话</a:t>
                      </a:r>
                      <a:endParaRPr sz="1000">
                        <a:latin typeface="SimSun"/>
                        <a:cs typeface="SimSun"/>
                      </a:endParaRPr>
                    </a:p>
                  </a:txBody>
                  <a:tcPr marL="0" marR="0" marB="0" marT="4318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B050"/>
                    </a:solidFill>
                  </a:tcPr>
                </a:tc>
                <a:tc>
                  <a:txBody>
                    <a:bodyPr/>
                    <a:lstStyle/>
                    <a:p>
                      <a:pPr marL="90805">
                        <a:lnSpc>
                          <a:spcPct val="100000"/>
                        </a:lnSpc>
                        <a:spcBef>
                          <a:spcPts val="330"/>
                        </a:spcBef>
                      </a:pPr>
                      <a:r>
                        <a:rPr dirty="0" sz="1000" spc="-20">
                          <a:latin typeface="Arial MT"/>
                          <a:cs typeface="Arial MT"/>
                        </a:rPr>
                        <a:t>1080P</a:t>
                      </a:r>
                      <a:endParaRPr sz="1000">
                        <a:latin typeface="Arial MT"/>
                        <a:cs typeface="Arial MT"/>
                      </a:endParaRPr>
                    </a:p>
                  </a:txBody>
                  <a:tcPr marL="0" marR="0" marB="0" marT="4191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8F9"/>
                    </a:solidFill>
                  </a:tcPr>
                </a:tc>
                <a:tc>
                  <a:txBody>
                    <a:bodyPr/>
                    <a:lstStyle/>
                    <a:p>
                      <a:pPr marL="90805">
                        <a:lnSpc>
                          <a:spcPct val="100000"/>
                        </a:lnSpc>
                        <a:spcBef>
                          <a:spcPts val="345"/>
                        </a:spcBef>
                      </a:pPr>
                      <a:r>
                        <a:rPr dirty="0" sz="1000">
                          <a:latin typeface="SimSun"/>
                          <a:cs typeface="SimSun"/>
                        </a:rPr>
                        <a:t>支持上行</a:t>
                      </a:r>
                      <a:r>
                        <a:rPr dirty="0" sz="1000" spc="-10">
                          <a:latin typeface="Arial MT"/>
                          <a:cs typeface="Arial MT"/>
                        </a:rPr>
                        <a:t>1080P</a:t>
                      </a:r>
                      <a:r>
                        <a:rPr dirty="0" sz="1000" spc="-30">
                          <a:latin typeface="SimSun"/>
                          <a:cs typeface="SimSun"/>
                        </a:rPr>
                        <a:t>传输</a:t>
                      </a:r>
                      <a:endParaRPr sz="1000">
                        <a:latin typeface="SimSun"/>
                        <a:cs typeface="SimSun"/>
                      </a:endParaRPr>
                    </a:p>
                  </a:txBody>
                  <a:tcPr marL="0" marR="0" marB="0" marT="4381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8F9"/>
                    </a:solidFill>
                  </a:tcPr>
                </a:tc>
                <a:tc>
                  <a:txBody>
                    <a:bodyPr/>
                    <a:lstStyle/>
                    <a:p>
                      <a:pPr marL="90805" marR="12065">
                        <a:lnSpc>
                          <a:spcPct val="100000"/>
                        </a:lnSpc>
                        <a:spcBef>
                          <a:spcPts val="345"/>
                        </a:spcBef>
                      </a:pPr>
                      <a:r>
                        <a:rPr dirty="0" sz="1000" spc="-10">
                          <a:latin typeface="Arial MT"/>
                          <a:cs typeface="Arial MT"/>
                        </a:rPr>
                        <a:t>UL&amp;DL</a:t>
                      </a:r>
                      <a:r>
                        <a:rPr dirty="0" sz="1000" spc="-10">
                          <a:latin typeface="SimSun"/>
                          <a:cs typeface="SimSun"/>
                        </a:rPr>
                        <a:t>：</a:t>
                      </a:r>
                      <a:r>
                        <a:rPr dirty="0" sz="1000" spc="-10">
                          <a:latin typeface="Arial MT"/>
                          <a:cs typeface="Arial MT"/>
                        </a:rPr>
                        <a:t>5Mbps</a:t>
                      </a:r>
                      <a:endParaRPr sz="1000">
                        <a:latin typeface="Arial MT"/>
                        <a:cs typeface="Arial MT"/>
                      </a:endParaRPr>
                    </a:p>
                  </a:txBody>
                  <a:tcPr marL="0" marR="0" marB="0" marT="4381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8F9"/>
                    </a:solidFill>
                  </a:tcPr>
                </a:tc>
                <a:tc>
                  <a:txBody>
                    <a:bodyPr/>
                    <a:lstStyle/>
                    <a:p>
                      <a:pPr marL="90805">
                        <a:lnSpc>
                          <a:spcPct val="100000"/>
                        </a:lnSpc>
                        <a:spcBef>
                          <a:spcPts val="330"/>
                        </a:spcBef>
                      </a:pPr>
                      <a:r>
                        <a:rPr dirty="0" sz="1000">
                          <a:latin typeface="Arial MT"/>
                          <a:cs typeface="Arial MT"/>
                        </a:rPr>
                        <a:t>50-</a:t>
                      </a:r>
                      <a:r>
                        <a:rPr dirty="0" sz="1000" spc="-10">
                          <a:latin typeface="Arial MT"/>
                          <a:cs typeface="Arial MT"/>
                        </a:rPr>
                        <a:t>100ms</a:t>
                      </a:r>
                      <a:endParaRPr sz="1000">
                        <a:latin typeface="Arial MT"/>
                        <a:cs typeface="Arial MT"/>
                      </a:endParaRPr>
                    </a:p>
                  </a:txBody>
                  <a:tcPr marL="0" marR="0" marB="0" marT="4191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8F9"/>
                    </a:solidFill>
                  </a:tcPr>
                </a:tc>
              </a:tr>
              <a:tr h="243840">
                <a:tc>
                  <a:txBody>
                    <a:bodyPr/>
                    <a:lstStyle/>
                    <a:p>
                      <a:pPr marL="91440">
                        <a:lnSpc>
                          <a:spcPct val="100000"/>
                        </a:lnSpc>
                        <a:spcBef>
                          <a:spcPts val="345"/>
                        </a:spcBef>
                      </a:pPr>
                      <a:r>
                        <a:rPr dirty="0" sz="1000" spc="-15">
                          <a:solidFill>
                            <a:srgbClr val="FFFFFF"/>
                          </a:solidFill>
                          <a:latin typeface="SimSun"/>
                          <a:cs typeface="SimSun"/>
                        </a:rPr>
                        <a:t>视频分享</a:t>
                      </a:r>
                      <a:endParaRPr sz="1000">
                        <a:latin typeface="SimSun"/>
                        <a:cs typeface="SimSun"/>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marL="90805">
                        <a:lnSpc>
                          <a:spcPct val="100000"/>
                        </a:lnSpc>
                        <a:spcBef>
                          <a:spcPts val="345"/>
                        </a:spcBef>
                      </a:pPr>
                      <a:r>
                        <a:rPr dirty="0" sz="1000">
                          <a:latin typeface="Arial MT"/>
                          <a:cs typeface="Arial MT"/>
                        </a:rPr>
                        <a:t>4K</a:t>
                      </a:r>
                      <a:r>
                        <a:rPr dirty="0" sz="1000" spc="-25">
                          <a:latin typeface="SimSun"/>
                          <a:cs typeface="SimSun"/>
                        </a:rPr>
                        <a:t>高清</a:t>
                      </a:r>
                      <a:endParaRPr sz="1000">
                        <a:latin typeface="SimSun"/>
                        <a:cs typeface="SimSun"/>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c>
                  <a:txBody>
                    <a:bodyPr/>
                    <a:lstStyle/>
                    <a:p>
                      <a:pPr marL="91440">
                        <a:lnSpc>
                          <a:spcPct val="100000"/>
                        </a:lnSpc>
                        <a:spcBef>
                          <a:spcPts val="345"/>
                        </a:spcBef>
                      </a:pPr>
                      <a:r>
                        <a:rPr dirty="0" sz="1000">
                          <a:latin typeface="SimSun"/>
                          <a:cs typeface="SimSun"/>
                        </a:rPr>
                        <a:t>支持上行</a:t>
                      </a:r>
                      <a:r>
                        <a:rPr dirty="0" sz="1000">
                          <a:latin typeface="Arial MT"/>
                          <a:cs typeface="Arial MT"/>
                        </a:rPr>
                        <a:t>4K</a:t>
                      </a:r>
                      <a:r>
                        <a:rPr dirty="0" sz="1000" spc="-30">
                          <a:latin typeface="SimSun"/>
                          <a:cs typeface="SimSun"/>
                        </a:rPr>
                        <a:t>传输</a:t>
                      </a:r>
                      <a:endParaRPr sz="1000">
                        <a:latin typeface="SimSun"/>
                        <a:cs typeface="SimSun"/>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c>
                  <a:txBody>
                    <a:bodyPr/>
                    <a:lstStyle/>
                    <a:p>
                      <a:pPr marL="91440" marR="12065">
                        <a:lnSpc>
                          <a:spcPct val="100000"/>
                        </a:lnSpc>
                        <a:spcBef>
                          <a:spcPts val="345"/>
                        </a:spcBef>
                      </a:pPr>
                      <a:r>
                        <a:rPr dirty="0" sz="1000" spc="-10">
                          <a:latin typeface="Arial MT"/>
                          <a:cs typeface="Arial MT"/>
                        </a:rPr>
                        <a:t>UL</a:t>
                      </a:r>
                      <a:r>
                        <a:rPr dirty="0" sz="1000" spc="-10">
                          <a:latin typeface="SimSun"/>
                          <a:cs typeface="SimSun"/>
                        </a:rPr>
                        <a:t>：</a:t>
                      </a:r>
                      <a:r>
                        <a:rPr dirty="0" sz="1000" spc="-10">
                          <a:latin typeface="Arial MT"/>
                          <a:cs typeface="Arial MT"/>
                        </a:rPr>
                        <a:t>20Mbps</a:t>
                      </a:r>
                      <a:endParaRPr sz="1000">
                        <a:latin typeface="Arial MT"/>
                        <a:cs typeface="Arial MT"/>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c>
                  <a:txBody>
                    <a:bodyPr/>
                    <a:lstStyle/>
                    <a:p>
                      <a:pPr marL="91440">
                        <a:lnSpc>
                          <a:spcPct val="100000"/>
                        </a:lnSpc>
                        <a:spcBef>
                          <a:spcPts val="330"/>
                        </a:spcBef>
                      </a:pPr>
                      <a:r>
                        <a:rPr dirty="0" sz="1000">
                          <a:latin typeface="Arial MT"/>
                          <a:cs typeface="Arial MT"/>
                        </a:rPr>
                        <a:t>50-</a:t>
                      </a:r>
                      <a:r>
                        <a:rPr dirty="0" sz="1000" spc="-10">
                          <a:latin typeface="Arial MT"/>
                          <a:cs typeface="Arial MT"/>
                        </a:rPr>
                        <a:t>100ms</a:t>
                      </a:r>
                      <a:endParaRPr sz="1000">
                        <a:latin typeface="Arial MT"/>
                        <a:cs typeface="Arial MT"/>
                      </a:endParaRPr>
                    </a:p>
                  </a:txBody>
                  <a:tcPr marL="0" marR="0" marB="0" marT="419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r>
              <a:tr h="243204">
                <a:tc rowSpan="2">
                  <a:txBody>
                    <a:bodyPr/>
                    <a:lstStyle/>
                    <a:p>
                      <a:pPr marL="91440" marR="123189">
                        <a:lnSpc>
                          <a:spcPts val="1150"/>
                        </a:lnSpc>
                        <a:spcBef>
                          <a:spcPts val="470"/>
                        </a:spcBef>
                      </a:pPr>
                      <a:r>
                        <a:rPr dirty="0" sz="1000" spc="-15">
                          <a:solidFill>
                            <a:srgbClr val="FFFFFF"/>
                          </a:solidFill>
                          <a:latin typeface="SimSun"/>
                          <a:cs typeface="SimSun"/>
                        </a:rPr>
                        <a:t>高清视频</a:t>
                      </a:r>
                      <a:r>
                        <a:rPr dirty="0" sz="1000" spc="-50">
                          <a:solidFill>
                            <a:srgbClr val="FFFFFF"/>
                          </a:solidFill>
                          <a:latin typeface="SimSun"/>
                          <a:cs typeface="SimSun"/>
                        </a:rPr>
                        <a:t>流</a:t>
                      </a:r>
                      <a:endParaRPr sz="1000">
                        <a:latin typeface="SimSun"/>
                        <a:cs typeface="SimSun"/>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marL="90805">
                        <a:lnSpc>
                          <a:spcPct val="100000"/>
                        </a:lnSpc>
                        <a:spcBef>
                          <a:spcPts val="340"/>
                        </a:spcBef>
                      </a:pPr>
                      <a:r>
                        <a:rPr dirty="0" sz="1000">
                          <a:latin typeface="Arial MT"/>
                          <a:cs typeface="Arial MT"/>
                        </a:rPr>
                        <a:t>4K</a:t>
                      </a:r>
                      <a:r>
                        <a:rPr dirty="0" sz="1000" spc="-25">
                          <a:latin typeface="SimSun"/>
                          <a:cs typeface="SimSun"/>
                        </a:rPr>
                        <a:t>高清</a:t>
                      </a:r>
                      <a:endParaRPr sz="1000">
                        <a:latin typeface="SimSun"/>
                        <a:cs typeface="SimSun"/>
                      </a:endParaRPr>
                    </a:p>
                  </a:txBody>
                  <a:tcPr marL="0" marR="0" marB="0" marT="431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8F9"/>
                    </a:solidFill>
                  </a:tcPr>
                </a:tc>
                <a:tc>
                  <a:txBody>
                    <a:bodyPr/>
                    <a:lstStyle/>
                    <a:p>
                      <a:pPr marL="91440">
                        <a:lnSpc>
                          <a:spcPct val="100000"/>
                        </a:lnSpc>
                        <a:spcBef>
                          <a:spcPts val="340"/>
                        </a:spcBef>
                      </a:pPr>
                      <a:r>
                        <a:rPr dirty="0" sz="1000">
                          <a:latin typeface="Arial MT"/>
                          <a:cs typeface="Arial MT"/>
                        </a:rPr>
                        <a:t>4K</a:t>
                      </a:r>
                      <a:r>
                        <a:rPr dirty="0" sz="1000" spc="-15">
                          <a:latin typeface="SimSun"/>
                          <a:cs typeface="SimSun"/>
                        </a:rPr>
                        <a:t>视频传输</a:t>
                      </a:r>
                      <a:endParaRPr sz="1000">
                        <a:latin typeface="SimSun"/>
                        <a:cs typeface="SimSun"/>
                      </a:endParaRPr>
                    </a:p>
                  </a:txBody>
                  <a:tcPr marL="0" marR="0" marB="0" marT="431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8F9"/>
                    </a:solidFill>
                  </a:tcPr>
                </a:tc>
                <a:tc>
                  <a:txBody>
                    <a:bodyPr/>
                    <a:lstStyle/>
                    <a:p>
                      <a:pPr marL="91440" marR="12065">
                        <a:lnSpc>
                          <a:spcPct val="100000"/>
                        </a:lnSpc>
                        <a:spcBef>
                          <a:spcPts val="340"/>
                        </a:spcBef>
                      </a:pPr>
                      <a:r>
                        <a:rPr dirty="0" sz="1000" spc="-10">
                          <a:latin typeface="Arial MT"/>
                          <a:cs typeface="Arial MT"/>
                        </a:rPr>
                        <a:t>DL</a:t>
                      </a:r>
                      <a:r>
                        <a:rPr dirty="0" sz="1000" spc="-10">
                          <a:latin typeface="SimSun"/>
                          <a:cs typeface="SimSun"/>
                        </a:rPr>
                        <a:t>：</a:t>
                      </a:r>
                      <a:r>
                        <a:rPr dirty="0" sz="1000" spc="-10">
                          <a:latin typeface="Arial MT"/>
                          <a:cs typeface="Arial MT"/>
                        </a:rPr>
                        <a:t>20Mbps</a:t>
                      </a:r>
                      <a:endParaRPr sz="1000">
                        <a:latin typeface="Arial MT"/>
                        <a:cs typeface="Arial MT"/>
                      </a:endParaRPr>
                    </a:p>
                  </a:txBody>
                  <a:tcPr marL="0" marR="0" marB="0" marT="431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8F9"/>
                    </a:solidFill>
                  </a:tcPr>
                </a:tc>
                <a:tc>
                  <a:txBody>
                    <a:bodyPr/>
                    <a:lstStyle/>
                    <a:p>
                      <a:pPr marL="91440">
                        <a:lnSpc>
                          <a:spcPct val="100000"/>
                        </a:lnSpc>
                        <a:spcBef>
                          <a:spcPts val="330"/>
                        </a:spcBef>
                      </a:pPr>
                      <a:r>
                        <a:rPr dirty="0" sz="1000">
                          <a:latin typeface="Arial MT"/>
                          <a:cs typeface="Arial MT"/>
                        </a:rPr>
                        <a:t>50-</a:t>
                      </a:r>
                      <a:r>
                        <a:rPr dirty="0" sz="1000" spc="-10">
                          <a:latin typeface="Arial MT"/>
                          <a:cs typeface="Arial MT"/>
                        </a:rPr>
                        <a:t>100ms</a:t>
                      </a:r>
                      <a:endParaRPr sz="1000">
                        <a:latin typeface="Arial MT"/>
                        <a:cs typeface="Arial MT"/>
                      </a:endParaRPr>
                    </a:p>
                  </a:txBody>
                  <a:tcPr marL="0" marR="0" marB="0" marT="419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8F9"/>
                    </a:solidFill>
                  </a:tcPr>
                </a:tc>
              </a:tr>
              <a:tr h="243204">
                <a:tc vMerge="1">
                  <a:txBody>
                    <a:bodyPr/>
                    <a:lstStyle/>
                    <a:p>
                      <a:p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marL="90805">
                        <a:lnSpc>
                          <a:spcPct val="100000"/>
                        </a:lnSpc>
                        <a:spcBef>
                          <a:spcPts val="340"/>
                        </a:spcBef>
                      </a:pPr>
                      <a:r>
                        <a:rPr dirty="0" sz="1000">
                          <a:latin typeface="Arial MT"/>
                          <a:cs typeface="Arial MT"/>
                        </a:rPr>
                        <a:t>8K</a:t>
                      </a:r>
                      <a:r>
                        <a:rPr dirty="0" sz="1000" spc="-25">
                          <a:latin typeface="SimSun"/>
                          <a:cs typeface="SimSun"/>
                        </a:rPr>
                        <a:t>高清</a:t>
                      </a:r>
                      <a:endParaRPr sz="1000">
                        <a:latin typeface="SimSun"/>
                        <a:cs typeface="SimSun"/>
                      </a:endParaRPr>
                    </a:p>
                  </a:txBody>
                  <a:tcPr marL="0" marR="0" marB="0" marT="431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c>
                  <a:txBody>
                    <a:bodyPr/>
                    <a:lstStyle/>
                    <a:p>
                      <a:pPr marL="91440">
                        <a:lnSpc>
                          <a:spcPct val="100000"/>
                        </a:lnSpc>
                        <a:spcBef>
                          <a:spcPts val="340"/>
                        </a:spcBef>
                      </a:pPr>
                      <a:r>
                        <a:rPr dirty="0" sz="1000">
                          <a:latin typeface="Arial MT"/>
                          <a:cs typeface="Arial MT"/>
                        </a:rPr>
                        <a:t>8K</a:t>
                      </a:r>
                      <a:r>
                        <a:rPr dirty="0" sz="1000" spc="-15">
                          <a:latin typeface="SimSun"/>
                          <a:cs typeface="SimSun"/>
                        </a:rPr>
                        <a:t>视频传输</a:t>
                      </a:r>
                      <a:endParaRPr sz="1000">
                        <a:latin typeface="SimSun"/>
                        <a:cs typeface="SimSun"/>
                      </a:endParaRPr>
                    </a:p>
                  </a:txBody>
                  <a:tcPr marL="0" marR="0" marB="0" marT="431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c>
                  <a:txBody>
                    <a:bodyPr/>
                    <a:lstStyle/>
                    <a:p>
                      <a:pPr marL="91440" marR="12065">
                        <a:lnSpc>
                          <a:spcPct val="100000"/>
                        </a:lnSpc>
                        <a:spcBef>
                          <a:spcPts val="340"/>
                        </a:spcBef>
                      </a:pPr>
                      <a:r>
                        <a:rPr dirty="0" sz="1000" spc="-10">
                          <a:latin typeface="Arial MT"/>
                          <a:cs typeface="Arial MT"/>
                        </a:rPr>
                        <a:t>DL</a:t>
                      </a:r>
                      <a:r>
                        <a:rPr dirty="0" sz="1000" spc="-10">
                          <a:latin typeface="SimSun"/>
                          <a:cs typeface="SimSun"/>
                        </a:rPr>
                        <a:t>：</a:t>
                      </a:r>
                      <a:r>
                        <a:rPr dirty="0" sz="1000" spc="-10">
                          <a:latin typeface="Arial MT"/>
                          <a:cs typeface="Arial MT"/>
                        </a:rPr>
                        <a:t>80Mbps</a:t>
                      </a:r>
                      <a:endParaRPr sz="1000">
                        <a:latin typeface="Arial MT"/>
                        <a:cs typeface="Arial MT"/>
                      </a:endParaRPr>
                    </a:p>
                  </a:txBody>
                  <a:tcPr marL="0" marR="0" marB="0" marT="431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c>
                  <a:txBody>
                    <a:bodyPr/>
                    <a:lstStyle/>
                    <a:p>
                      <a:pPr marL="91440">
                        <a:lnSpc>
                          <a:spcPct val="100000"/>
                        </a:lnSpc>
                        <a:spcBef>
                          <a:spcPts val="330"/>
                        </a:spcBef>
                      </a:pPr>
                      <a:r>
                        <a:rPr dirty="0" sz="1000">
                          <a:latin typeface="Arial MT"/>
                          <a:cs typeface="Arial MT"/>
                        </a:rPr>
                        <a:t>50-</a:t>
                      </a:r>
                      <a:r>
                        <a:rPr dirty="0" sz="1000" spc="-10">
                          <a:latin typeface="Arial MT"/>
                          <a:cs typeface="Arial MT"/>
                        </a:rPr>
                        <a:t>100ms</a:t>
                      </a:r>
                      <a:endParaRPr sz="1000">
                        <a:latin typeface="Arial MT"/>
                        <a:cs typeface="Arial MT"/>
                      </a:endParaRPr>
                    </a:p>
                  </a:txBody>
                  <a:tcPr marL="0" marR="0" marB="0" marT="419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r>
              <a:tr h="395605">
                <a:tc rowSpan="3">
                  <a:txBody>
                    <a:bodyPr/>
                    <a:lstStyle/>
                    <a:p>
                      <a:pPr marL="91440">
                        <a:lnSpc>
                          <a:spcPct val="100000"/>
                        </a:lnSpc>
                        <a:spcBef>
                          <a:spcPts val="330"/>
                        </a:spcBef>
                      </a:pPr>
                      <a:r>
                        <a:rPr dirty="0" sz="1000" spc="-25" b="1">
                          <a:solidFill>
                            <a:srgbClr val="FFFFFF"/>
                          </a:solidFill>
                          <a:latin typeface="Arial"/>
                          <a:cs typeface="Arial"/>
                        </a:rPr>
                        <a:t>VR</a:t>
                      </a:r>
                      <a:endParaRPr sz="1000">
                        <a:latin typeface="Arial"/>
                        <a:cs typeface="Arial"/>
                      </a:endParaRPr>
                    </a:p>
                  </a:txBody>
                  <a:tcPr marL="0" marR="0" marB="0" marT="419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marL="91440">
                        <a:lnSpc>
                          <a:spcPct val="100000"/>
                        </a:lnSpc>
                        <a:spcBef>
                          <a:spcPts val="340"/>
                        </a:spcBef>
                      </a:pPr>
                      <a:r>
                        <a:rPr dirty="0" sz="1000" spc="-15">
                          <a:latin typeface="SimSun"/>
                          <a:cs typeface="SimSun"/>
                        </a:rPr>
                        <a:t>入门体验</a:t>
                      </a:r>
                      <a:endParaRPr sz="1000">
                        <a:latin typeface="SimSun"/>
                        <a:cs typeface="SimSun"/>
                      </a:endParaRPr>
                    </a:p>
                  </a:txBody>
                  <a:tcPr marL="0" marR="0" marB="0" marT="431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8F9"/>
                    </a:solidFill>
                  </a:tcPr>
                </a:tc>
                <a:tc>
                  <a:txBody>
                    <a:bodyPr/>
                    <a:lstStyle/>
                    <a:p>
                      <a:pPr marL="91440" marR="114300">
                        <a:lnSpc>
                          <a:spcPct val="100000"/>
                        </a:lnSpc>
                        <a:spcBef>
                          <a:spcPts val="340"/>
                        </a:spcBef>
                      </a:pPr>
                      <a:r>
                        <a:rPr dirty="0" sz="1000">
                          <a:latin typeface="SimSun"/>
                          <a:cs typeface="SimSun"/>
                        </a:rPr>
                        <a:t>全视角</a:t>
                      </a:r>
                      <a:r>
                        <a:rPr dirty="0" sz="1000">
                          <a:latin typeface="Arial MT"/>
                          <a:cs typeface="Arial MT"/>
                        </a:rPr>
                        <a:t>8K</a:t>
                      </a:r>
                      <a:r>
                        <a:rPr dirty="0" sz="1000" spc="-70">
                          <a:latin typeface="Arial MT"/>
                          <a:cs typeface="Arial MT"/>
                        </a:rPr>
                        <a:t> </a:t>
                      </a:r>
                      <a:r>
                        <a:rPr dirty="0" sz="1000">
                          <a:latin typeface="Arial MT"/>
                          <a:cs typeface="Arial MT"/>
                        </a:rPr>
                        <a:t>2D</a:t>
                      </a:r>
                      <a:r>
                        <a:rPr dirty="0" sz="1000" spc="-10">
                          <a:latin typeface="SimSun"/>
                          <a:cs typeface="SimSun"/>
                        </a:rPr>
                        <a:t>视频，用户看到的画面质</a:t>
                      </a:r>
                      <a:r>
                        <a:rPr dirty="0" sz="1000">
                          <a:latin typeface="SimSun"/>
                          <a:cs typeface="SimSun"/>
                        </a:rPr>
                        <a:t>量接近于在</a:t>
                      </a:r>
                      <a:r>
                        <a:rPr dirty="0" sz="1000" spc="-10">
                          <a:latin typeface="Arial MT"/>
                          <a:cs typeface="Arial MT"/>
                        </a:rPr>
                        <a:t>PC</a:t>
                      </a:r>
                      <a:r>
                        <a:rPr dirty="0" sz="1000" spc="-5">
                          <a:latin typeface="SimSun"/>
                          <a:cs typeface="SimSun"/>
                        </a:rPr>
                        <a:t>上观看</a:t>
                      </a:r>
                      <a:r>
                        <a:rPr dirty="0" sz="1000" spc="-10">
                          <a:latin typeface="Arial MT"/>
                          <a:cs typeface="Arial MT"/>
                        </a:rPr>
                        <a:t>480P</a:t>
                      </a:r>
                      <a:r>
                        <a:rPr dirty="0" sz="1000" spc="-20">
                          <a:latin typeface="SimSun"/>
                          <a:cs typeface="SimSun"/>
                        </a:rPr>
                        <a:t>的效果</a:t>
                      </a:r>
                      <a:endParaRPr sz="1000">
                        <a:latin typeface="SimSun"/>
                        <a:cs typeface="SimSun"/>
                      </a:endParaRPr>
                    </a:p>
                  </a:txBody>
                  <a:tcPr marL="0" marR="0" marB="0" marT="431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8F9"/>
                    </a:solidFill>
                  </a:tcPr>
                </a:tc>
                <a:tc>
                  <a:txBody>
                    <a:bodyPr/>
                    <a:lstStyle/>
                    <a:p>
                      <a:pPr marL="91440" marR="12065">
                        <a:lnSpc>
                          <a:spcPct val="100000"/>
                        </a:lnSpc>
                        <a:spcBef>
                          <a:spcPts val="340"/>
                        </a:spcBef>
                      </a:pPr>
                      <a:r>
                        <a:rPr dirty="0" sz="1000" spc="-10">
                          <a:latin typeface="Arial MT"/>
                          <a:cs typeface="Arial MT"/>
                        </a:rPr>
                        <a:t>DL</a:t>
                      </a:r>
                      <a:r>
                        <a:rPr dirty="0" sz="1000" spc="-10">
                          <a:latin typeface="SimSun"/>
                          <a:cs typeface="SimSun"/>
                        </a:rPr>
                        <a:t>：</a:t>
                      </a:r>
                      <a:r>
                        <a:rPr dirty="0" sz="1000" spc="-10">
                          <a:latin typeface="Arial MT"/>
                          <a:cs typeface="Arial MT"/>
                        </a:rPr>
                        <a:t>61.5Mbps</a:t>
                      </a:r>
                      <a:endParaRPr sz="1000">
                        <a:latin typeface="Arial MT"/>
                        <a:cs typeface="Arial MT"/>
                      </a:endParaRPr>
                    </a:p>
                  </a:txBody>
                  <a:tcPr marL="0" marR="0" marB="0" marT="431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8F9"/>
                    </a:solidFill>
                  </a:tcPr>
                </a:tc>
                <a:tc>
                  <a:txBody>
                    <a:bodyPr/>
                    <a:lstStyle/>
                    <a:p>
                      <a:pPr marL="91440">
                        <a:lnSpc>
                          <a:spcPct val="100000"/>
                        </a:lnSpc>
                        <a:spcBef>
                          <a:spcPts val="330"/>
                        </a:spcBef>
                      </a:pPr>
                      <a:r>
                        <a:rPr dirty="0" sz="1000" spc="-20">
                          <a:latin typeface="Arial MT"/>
                          <a:cs typeface="Arial MT"/>
                        </a:rPr>
                        <a:t>30ms</a:t>
                      </a:r>
                      <a:endParaRPr sz="1000">
                        <a:latin typeface="Arial MT"/>
                        <a:cs typeface="Arial MT"/>
                      </a:endParaRPr>
                    </a:p>
                  </a:txBody>
                  <a:tcPr marL="0" marR="0" marB="0" marT="419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8F9"/>
                    </a:solidFill>
                  </a:tcPr>
                </a:tc>
              </a:tr>
              <a:tr h="396240">
                <a:tc vMerge="1">
                  <a:txBody>
                    <a:bodyPr/>
                    <a:lstStyle/>
                    <a:p>
                      <a:pPr/>
                    </a:p>
                  </a:txBody>
                  <a:tcPr marL="0" marR="0" marB="0" marT="419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marL="90805">
                        <a:lnSpc>
                          <a:spcPct val="100000"/>
                        </a:lnSpc>
                        <a:spcBef>
                          <a:spcPts val="340"/>
                        </a:spcBef>
                      </a:pPr>
                      <a:r>
                        <a:rPr dirty="0" sz="1000" spc="-15">
                          <a:latin typeface="SimSun"/>
                          <a:cs typeface="SimSun"/>
                        </a:rPr>
                        <a:t>进阶体验</a:t>
                      </a:r>
                      <a:endParaRPr sz="1000">
                        <a:latin typeface="SimSun"/>
                        <a:cs typeface="SimSun"/>
                      </a:endParaRPr>
                    </a:p>
                  </a:txBody>
                  <a:tcPr marL="0" marR="0" marB="0" marT="431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c>
                  <a:txBody>
                    <a:bodyPr/>
                    <a:lstStyle/>
                    <a:p>
                      <a:pPr marL="91440" marR="171450">
                        <a:lnSpc>
                          <a:spcPct val="100000"/>
                        </a:lnSpc>
                        <a:spcBef>
                          <a:spcPts val="340"/>
                        </a:spcBef>
                      </a:pPr>
                      <a:r>
                        <a:rPr dirty="0" sz="1000">
                          <a:latin typeface="SimSun"/>
                          <a:cs typeface="SimSun"/>
                        </a:rPr>
                        <a:t>全视角</a:t>
                      </a:r>
                      <a:r>
                        <a:rPr dirty="0" sz="1000">
                          <a:latin typeface="Arial MT"/>
                          <a:cs typeface="Arial MT"/>
                        </a:rPr>
                        <a:t>12K</a:t>
                      </a:r>
                      <a:r>
                        <a:rPr dirty="0" sz="1000" spc="-70">
                          <a:latin typeface="Arial MT"/>
                          <a:cs typeface="Arial MT"/>
                        </a:rPr>
                        <a:t> </a:t>
                      </a:r>
                      <a:r>
                        <a:rPr dirty="0" sz="1000">
                          <a:latin typeface="Arial MT"/>
                          <a:cs typeface="Arial MT"/>
                        </a:rPr>
                        <a:t>2D</a:t>
                      </a:r>
                      <a:r>
                        <a:rPr dirty="0" sz="1000" spc="-10">
                          <a:latin typeface="SimSun"/>
                          <a:cs typeface="SimSun"/>
                        </a:rPr>
                        <a:t>视频，用户看到的画面</a:t>
                      </a:r>
                      <a:r>
                        <a:rPr dirty="0" sz="1000">
                          <a:latin typeface="SimSun"/>
                          <a:cs typeface="SimSun"/>
                        </a:rPr>
                        <a:t>质量接近于在</a:t>
                      </a:r>
                      <a:r>
                        <a:rPr dirty="0" sz="1000" spc="-10">
                          <a:latin typeface="Arial MT"/>
                          <a:cs typeface="Arial MT"/>
                        </a:rPr>
                        <a:t>PC</a:t>
                      </a:r>
                      <a:r>
                        <a:rPr dirty="0" sz="1000" spc="-5">
                          <a:latin typeface="SimSun"/>
                          <a:cs typeface="SimSun"/>
                        </a:rPr>
                        <a:t>上观看</a:t>
                      </a:r>
                      <a:r>
                        <a:rPr dirty="0" sz="1000" spc="-10">
                          <a:latin typeface="Arial MT"/>
                          <a:cs typeface="Arial MT"/>
                        </a:rPr>
                        <a:t>2K</a:t>
                      </a:r>
                      <a:r>
                        <a:rPr dirty="0" sz="1000" spc="-20">
                          <a:latin typeface="SimSun"/>
                          <a:cs typeface="SimSun"/>
                        </a:rPr>
                        <a:t>的效果</a:t>
                      </a:r>
                      <a:endParaRPr sz="1000">
                        <a:latin typeface="SimSun"/>
                        <a:cs typeface="SimSun"/>
                      </a:endParaRPr>
                    </a:p>
                  </a:txBody>
                  <a:tcPr marL="0" marR="0" marB="0" marT="431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c>
                  <a:txBody>
                    <a:bodyPr/>
                    <a:lstStyle/>
                    <a:p>
                      <a:pPr marL="91440" marR="12065">
                        <a:lnSpc>
                          <a:spcPct val="100000"/>
                        </a:lnSpc>
                        <a:spcBef>
                          <a:spcPts val="340"/>
                        </a:spcBef>
                      </a:pPr>
                      <a:r>
                        <a:rPr dirty="0" sz="1000" spc="-10">
                          <a:latin typeface="Arial MT"/>
                          <a:cs typeface="Arial MT"/>
                        </a:rPr>
                        <a:t>DL</a:t>
                      </a:r>
                      <a:r>
                        <a:rPr dirty="0" sz="1000" spc="-10">
                          <a:latin typeface="SimSun"/>
                          <a:cs typeface="SimSun"/>
                        </a:rPr>
                        <a:t>：</a:t>
                      </a:r>
                      <a:r>
                        <a:rPr dirty="0" sz="1000" spc="-10">
                          <a:latin typeface="Arial MT"/>
                          <a:cs typeface="Arial MT"/>
                        </a:rPr>
                        <a:t>265.5Mbps</a:t>
                      </a:r>
                      <a:endParaRPr sz="1000">
                        <a:latin typeface="Arial MT"/>
                        <a:cs typeface="Arial MT"/>
                      </a:endParaRPr>
                    </a:p>
                  </a:txBody>
                  <a:tcPr marL="0" marR="0" marB="0" marT="431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c>
                  <a:txBody>
                    <a:bodyPr/>
                    <a:lstStyle/>
                    <a:p>
                      <a:pPr marL="91440">
                        <a:lnSpc>
                          <a:spcPct val="100000"/>
                        </a:lnSpc>
                        <a:spcBef>
                          <a:spcPts val="330"/>
                        </a:spcBef>
                      </a:pPr>
                      <a:r>
                        <a:rPr dirty="0" sz="1000" spc="-20">
                          <a:latin typeface="Arial MT"/>
                          <a:cs typeface="Arial MT"/>
                        </a:rPr>
                        <a:t>20ms</a:t>
                      </a:r>
                      <a:endParaRPr sz="1000">
                        <a:latin typeface="Arial MT"/>
                        <a:cs typeface="Arial MT"/>
                      </a:endParaRPr>
                    </a:p>
                  </a:txBody>
                  <a:tcPr marL="0" marR="0" marB="0" marT="419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r>
              <a:tr h="395605">
                <a:tc vMerge="1">
                  <a:txBody>
                    <a:bodyPr/>
                    <a:lstStyle/>
                    <a:p>
                      <a:pPr/>
                    </a:p>
                  </a:txBody>
                  <a:tcPr marL="0" marR="0" marB="0" marT="419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marL="90805">
                        <a:lnSpc>
                          <a:spcPct val="100000"/>
                        </a:lnSpc>
                        <a:spcBef>
                          <a:spcPts val="345"/>
                        </a:spcBef>
                      </a:pPr>
                      <a:r>
                        <a:rPr dirty="0" sz="1000" spc="-15">
                          <a:latin typeface="SimSun"/>
                          <a:cs typeface="SimSun"/>
                        </a:rPr>
                        <a:t>终极体验</a:t>
                      </a:r>
                      <a:endParaRPr sz="1000">
                        <a:latin typeface="SimSun"/>
                        <a:cs typeface="SimSun"/>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8F9"/>
                    </a:solidFill>
                  </a:tcPr>
                </a:tc>
                <a:tc>
                  <a:txBody>
                    <a:bodyPr/>
                    <a:lstStyle/>
                    <a:p>
                      <a:pPr marL="91440" marR="171450">
                        <a:lnSpc>
                          <a:spcPct val="100000"/>
                        </a:lnSpc>
                        <a:spcBef>
                          <a:spcPts val="345"/>
                        </a:spcBef>
                      </a:pPr>
                      <a:r>
                        <a:rPr dirty="0" sz="1000">
                          <a:latin typeface="SimSun"/>
                          <a:cs typeface="SimSun"/>
                        </a:rPr>
                        <a:t>全视角</a:t>
                      </a:r>
                      <a:r>
                        <a:rPr dirty="0" sz="1000">
                          <a:latin typeface="Arial MT"/>
                          <a:cs typeface="Arial MT"/>
                        </a:rPr>
                        <a:t>24K</a:t>
                      </a:r>
                      <a:r>
                        <a:rPr dirty="0" sz="1000" spc="-70">
                          <a:latin typeface="Arial MT"/>
                          <a:cs typeface="Arial MT"/>
                        </a:rPr>
                        <a:t> </a:t>
                      </a:r>
                      <a:r>
                        <a:rPr dirty="0" sz="1000">
                          <a:latin typeface="Arial MT"/>
                          <a:cs typeface="Arial MT"/>
                        </a:rPr>
                        <a:t>3D</a:t>
                      </a:r>
                      <a:r>
                        <a:rPr dirty="0" sz="1000" spc="-10">
                          <a:latin typeface="SimSun"/>
                          <a:cs typeface="SimSun"/>
                        </a:rPr>
                        <a:t>视频，用户看到的画面</a:t>
                      </a:r>
                      <a:r>
                        <a:rPr dirty="0" sz="1000">
                          <a:latin typeface="SimSun"/>
                          <a:cs typeface="SimSun"/>
                        </a:rPr>
                        <a:t>质量接近于在</a:t>
                      </a:r>
                      <a:r>
                        <a:rPr dirty="0" sz="1000" spc="-10">
                          <a:latin typeface="Arial MT"/>
                          <a:cs typeface="Arial MT"/>
                        </a:rPr>
                        <a:t>PC</a:t>
                      </a:r>
                      <a:r>
                        <a:rPr dirty="0" sz="1000" spc="-5">
                          <a:latin typeface="SimSun"/>
                          <a:cs typeface="SimSun"/>
                        </a:rPr>
                        <a:t>上观看</a:t>
                      </a:r>
                      <a:r>
                        <a:rPr dirty="0" sz="1000">
                          <a:latin typeface="Arial MT"/>
                          <a:cs typeface="Arial MT"/>
                        </a:rPr>
                        <a:t>4K</a:t>
                      </a:r>
                      <a:r>
                        <a:rPr dirty="0" sz="1000" spc="-10">
                          <a:latin typeface="Arial MT"/>
                          <a:cs typeface="Arial MT"/>
                        </a:rPr>
                        <a:t> 3D</a:t>
                      </a:r>
                      <a:r>
                        <a:rPr dirty="0" sz="1000" spc="-20">
                          <a:latin typeface="SimSun"/>
                          <a:cs typeface="SimSun"/>
                        </a:rPr>
                        <a:t>的效果</a:t>
                      </a:r>
                      <a:endParaRPr sz="1000">
                        <a:latin typeface="SimSun"/>
                        <a:cs typeface="SimSun"/>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8F9"/>
                    </a:solidFill>
                  </a:tcPr>
                </a:tc>
                <a:tc>
                  <a:txBody>
                    <a:bodyPr/>
                    <a:lstStyle/>
                    <a:p>
                      <a:pPr marL="91440" marR="12065">
                        <a:lnSpc>
                          <a:spcPct val="100000"/>
                        </a:lnSpc>
                        <a:spcBef>
                          <a:spcPts val="345"/>
                        </a:spcBef>
                      </a:pPr>
                      <a:r>
                        <a:rPr dirty="0" sz="1000" spc="-10">
                          <a:latin typeface="Arial MT"/>
                          <a:cs typeface="Arial MT"/>
                        </a:rPr>
                        <a:t>DL</a:t>
                      </a:r>
                      <a:r>
                        <a:rPr dirty="0" sz="1000" spc="-10">
                          <a:latin typeface="SimSun"/>
                          <a:cs typeface="SimSun"/>
                        </a:rPr>
                        <a:t>：</a:t>
                      </a:r>
                      <a:r>
                        <a:rPr dirty="0" sz="1000" spc="-10">
                          <a:latin typeface="Arial MT"/>
                          <a:cs typeface="Arial MT"/>
                        </a:rPr>
                        <a:t>1.39Gbps</a:t>
                      </a:r>
                      <a:endParaRPr sz="1000">
                        <a:latin typeface="Arial MT"/>
                        <a:cs typeface="Arial MT"/>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8F9"/>
                    </a:solidFill>
                  </a:tcPr>
                </a:tc>
                <a:tc>
                  <a:txBody>
                    <a:bodyPr/>
                    <a:lstStyle/>
                    <a:p>
                      <a:pPr marL="91440">
                        <a:lnSpc>
                          <a:spcPct val="100000"/>
                        </a:lnSpc>
                        <a:spcBef>
                          <a:spcPts val="330"/>
                        </a:spcBef>
                      </a:pPr>
                      <a:r>
                        <a:rPr dirty="0" sz="1000" spc="-20">
                          <a:latin typeface="Arial MT"/>
                          <a:cs typeface="Arial MT"/>
                        </a:rPr>
                        <a:t>10ms</a:t>
                      </a:r>
                      <a:endParaRPr sz="1000">
                        <a:latin typeface="Arial MT"/>
                        <a:cs typeface="Arial MT"/>
                      </a:endParaRPr>
                    </a:p>
                  </a:txBody>
                  <a:tcPr marL="0" marR="0" marB="0" marT="419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8F9"/>
                    </a:solidFill>
                  </a:tcPr>
                </a:tc>
              </a:tr>
              <a:tr h="396240">
                <a:tc>
                  <a:txBody>
                    <a:bodyPr/>
                    <a:lstStyle/>
                    <a:p>
                      <a:pPr marL="91440">
                        <a:lnSpc>
                          <a:spcPct val="100000"/>
                        </a:lnSpc>
                        <a:spcBef>
                          <a:spcPts val="330"/>
                        </a:spcBef>
                      </a:pPr>
                      <a:r>
                        <a:rPr dirty="0" sz="1000" spc="-25" b="1">
                          <a:solidFill>
                            <a:srgbClr val="FFFFFF"/>
                          </a:solidFill>
                          <a:latin typeface="Arial"/>
                          <a:cs typeface="Arial"/>
                        </a:rPr>
                        <a:t>AR</a:t>
                      </a:r>
                      <a:endParaRPr sz="1000">
                        <a:latin typeface="Arial"/>
                        <a:cs typeface="Arial"/>
                      </a:endParaRPr>
                    </a:p>
                  </a:txBody>
                  <a:tcPr marL="0" marR="0" marB="0" marT="419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marL="91440">
                        <a:lnSpc>
                          <a:spcPct val="100000"/>
                        </a:lnSpc>
                        <a:spcBef>
                          <a:spcPts val="330"/>
                        </a:spcBef>
                      </a:pPr>
                      <a:r>
                        <a:rPr dirty="0" sz="1000" spc="-20">
                          <a:latin typeface="Arial MT"/>
                          <a:cs typeface="Arial MT"/>
                        </a:rPr>
                        <a:t>1080P</a:t>
                      </a:r>
                      <a:endParaRPr sz="1000">
                        <a:latin typeface="Arial MT"/>
                        <a:cs typeface="Arial MT"/>
                      </a:endParaRPr>
                    </a:p>
                  </a:txBody>
                  <a:tcPr marL="0" marR="0" marB="0" marT="419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c>
                  <a:txBody>
                    <a:bodyPr/>
                    <a:lstStyle/>
                    <a:p>
                      <a:pPr marL="91440">
                        <a:lnSpc>
                          <a:spcPct val="100000"/>
                        </a:lnSpc>
                        <a:spcBef>
                          <a:spcPts val="345"/>
                        </a:spcBef>
                      </a:pPr>
                      <a:r>
                        <a:rPr dirty="0" sz="1000">
                          <a:latin typeface="Arial MT"/>
                          <a:cs typeface="Arial MT"/>
                        </a:rPr>
                        <a:t>1080P</a:t>
                      </a:r>
                      <a:r>
                        <a:rPr dirty="0" sz="1000" spc="-25">
                          <a:latin typeface="SimSun"/>
                          <a:cs typeface="SimSun"/>
                        </a:rPr>
                        <a:t>图传</a:t>
                      </a:r>
                      <a:endParaRPr sz="1000">
                        <a:latin typeface="SimSun"/>
                        <a:cs typeface="SimSun"/>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c>
                  <a:txBody>
                    <a:bodyPr/>
                    <a:lstStyle/>
                    <a:p>
                      <a:pPr marL="91440" marR="535305">
                        <a:lnSpc>
                          <a:spcPts val="1190"/>
                        </a:lnSpc>
                        <a:spcBef>
                          <a:spcPts val="390"/>
                        </a:spcBef>
                      </a:pPr>
                      <a:r>
                        <a:rPr dirty="0" sz="1000" spc="-10">
                          <a:latin typeface="Arial MT"/>
                          <a:cs typeface="Arial MT"/>
                        </a:rPr>
                        <a:t>UL&amp;DL</a:t>
                      </a:r>
                      <a:r>
                        <a:rPr dirty="0" sz="1000" spc="-10">
                          <a:latin typeface="SimSun"/>
                          <a:cs typeface="SimSun"/>
                        </a:rPr>
                        <a:t>： </a:t>
                      </a:r>
                      <a:r>
                        <a:rPr dirty="0" sz="1000" spc="-10">
                          <a:latin typeface="Arial MT"/>
                          <a:cs typeface="Arial MT"/>
                        </a:rPr>
                        <a:t>3.05Mbps</a:t>
                      </a:r>
                      <a:endParaRPr sz="1000">
                        <a:latin typeface="Arial MT"/>
                        <a:cs typeface="Arial MT"/>
                      </a:endParaRPr>
                    </a:p>
                  </a:txBody>
                  <a:tcPr marL="0" marR="0" marB="0" marT="4953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c>
                  <a:txBody>
                    <a:bodyPr/>
                    <a:lstStyle/>
                    <a:p>
                      <a:pPr marL="90805">
                        <a:lnSpc>
                          <a:spcPct val="100000"/>
                        </a:lnSpc>
                        <a:spcBef>
                          <a:spcPts val="330"/>
                        </a:spcBef>
                      </a:pPr>
                      <a:r>
                        <a:rPr dirty="0" sz="1000" spc="-10">
                          <a:latin typeface="Arial MT"/>
                          <a:cs typeface="Arial MT"/>
                        </a:rPr>
                        <a:t>5-</a:t>
                      </a:r>
                      <a:r>
                        <a:rPr dirty="0" sz="1000" spc="-20">
                          <a:latin typeface="Arial MT"/>
                          <a:cs typeface="Arial MT"/>
                        </a:rPr>
                        <a:t>10ms</a:t>
                      </a:r>
                      <a:endParaRPr sz="1000">
                        <a:latin typeface="Arial MT"/>
                        <a:cs typeface="Arial MT"/>
                      </a:endParaRPr>
                    </a:p>
                  </a:txBody>
                  <a:tcPr marL="0" marR="0" marB="0" marT="4191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8FCFC"/>
                    </a:solidFill>
                  </a:tcPr>
                </a:tc>
              </a:tr>
            </a:tbl>
          </a:graphicData>
        </a:graphic>
      </p:graphicFrame>
      <p:grpSp>
        <p:nvGrpSpPr>
          <p:cNvPr id="3" name="object 3" descr=""/>
          <p:cNvGrpSpPr/>
          <p:nvPr/>
        </p:nvGrpSpPr>
        <p:grpSpPr>
          <a:xfrm>
            <a:off x="0" y="3715511"/>
            <a:ext cx="6370320" cy="1428115"/>
            <a:chOff x="0" y="3715511"/>
            <a:chExt cx="6370320" cy="1428115"/>
          </a:xfrm>
        </p:grpSpPr>
        <p:pic>
          <p:nvPicPr>
            <p:cNvPr id="4" name="object 4"/>
            <p:cNvPicPr/>
            <p:nvPr/>
          </p:nvPicPr>
          <p:blipFill>
            <a:blip r:embed="rId2" cstate="print"/>
            <a:stretch>
              <a:fillRect/>
            </a:stretch>
          </p:blipFill>
          <p:spPr>
            <a:xfrm>
              <a:off x="0" y="3715511"/>
              <a:ext cx="1703832" cy="1427988"/>
            </a:xfrm>
            <a:prstGeom prst="rect">
              <a:avLst/>
            </a:prstGeom>
          </p:spPr>
        </p:pic>
        <p:pic>
          <p:nvPicPr>
            <p:cNvPr id="5" name="object 5"/>
            <p:cNvPicPr/>
            <p:nvPr/>
          </p:nvPicPr>
          <p:blipFill>
            <a:blip r:embed="rId3" cstate="print"/>
            <a:stretch>
              <a:fillRect/>
            </a:stretch>
          </p:blipFill>
          <p:spPr>
            <a:xfrm>
              <a:off x="1380744" y="3715511"/>
              <a:ext cx="1944623" cy="1427988"/>
            </a:xfrm>
            <a:prstGeom prst="rect">
              <a:avLst/>
            </a:prstGeom>
          </p:spPr>
        </p:pic>
        <p:pic>
          <p:nvPicPr>
            <p:cNvPr id="6" name="object 6"/>
            <p:cNvPicPr/>
            <p:nvPr/>
          </p:nvPicPr>
          <p:blipFill>
            <a:blip r:embed="rId4" cstate="print"/>
            <a:stretch>
              <a:fillRect/>
            </a:stretch>
          </p:blipFill>
          <p:spPr>
            <a:xfrm>
              <a:off x="2916936" y="3715511"/>
              <a:ext cx="1929383" cy="1427988"/>
            </a:xfrm>
            <a:prstGeom prst="rect">
              <a:avLst/>
            </a:prstGeom>
          </p:spPr>
        </p:pic>
        <p:pic>
          <p:nvPicPr>
            <p:cNvPr id="7" name="object 7"/>
            <p:cNvPicPr/>
            <p:nvPr/>
          </p:nvPicPr>
          <p:blipFill>
            <a:blip r:embed="rId5" cstate="print"/>
            <a:stretch>
              <a:fillRect/>
            </a:stretch>
          </p:blipFill>
          <p:spPr>
            <a:xfrm>
              <a:off x="4440935" y="3715511"/>
              <a:ext cx="1929384" cy="1427988"/>
            </a:xfrm>
            <a:prstGeom prst="rect">
              <a:avLst/>
            </a:prstGeom>
          </p:spPr>
        </p:pic>
      </p:grpSp>
      <p:grpSp>
        <p:nvGrpSpPr>
          <p:cNvPr id="8" name="object 8" descr=""/>
          <p:cNvGrpSpPr/>
          <p:nvPr/>
        </p:nvGrpSpPr>
        <p:grpSpPr>
          <a:xfrm>
            <a:off x="176784" y="4512563"/>
            <a:ext cx="1062355" cy="391160"/>
            <a:chOff x="176784" y="4512563"/>
            <a:chExt cx="1062355" cy="391160"/>
          </a:xfrm>
        </p:grpSpPr>
        <p:pic>
          <p:nvPicPr>
            <p:cNvPr id="9" name="object 9" descr=""/>
            <p:cNvPicPr/>
            <p:nvPr/>
          </p:nvPicPr>
          <p:blipFill>
            <a:blip r:embed="rId6" cstate="print"/>
            <a:stretch>
              <a:fillRect/>
            </a:stretch>
          </p:blipFill>
          <p:spPr>
            <a:xfrm>
              <a:off x="176784" y="4527041"/>
              <a:ext cx="603503" cy="376427"/>
            </a:xfrm>
            <a:prstGeom prst="rect">
              <a:avLst/>
            </a:prstGeom>
          </p:spPr>
        </p:pic>
        <p:pic>
          <p:nvPicPr>
            <p:cNvPr id="10" name="object 10" descr=""/>
            <p:cNvPicPr/>
            <p:nvPr/>
          </p:nvPicPr>
          <p:blipFill>
            <a:blip r:embed="rId7" cstate="print"/>
            <a:stretch>
              <a:fillRect/>
            </a:stretch>
          </p:blipFill>
          <p:spPr>
            <a:xfrm>
              <a:off x="469391" y="4512563"/>
              <a:ext cx="769619" cy="390905"/>
            </a:xfrm>
            <a:prstGeom prst="rect">
              <a:avLst/>
            </a:prstGeom>
          </p:spPr>
        </p:pic>
      </p:grpSp>
      <p:sp>
        <p:nvSpPr>
          <p:cNvPr id="11" name="object 11" descr=""/>
          <p:cNvSpPr txBox="1"/>
          <p:nvPr/>
        </p:nvSpPr>
        <p:spPr>
          <a:xfrm>
            <a:off x="307340" y="4582159"/>
            <a:ext cx="776605" cy="299720"/>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FF0000"/>
                </a:solidFill>
                <a:latin typeface="Arial"/>
                <a:cs typeface="Arial"/>
              </a:rPr>
              <a:t>4K</a:t>
            </a:r>
            <a:r>
              <a:rPr dirty="0" sz="1800" spc="-25">
                <a:solidFill>
                  <a:srgbClr val="FF0000"/>
                </a:solidFill>
                <a:latin typeface="SimSun"/>
                <a:cs typeface="SimSun"/>
              </a:rPr>
              <a:t>视频</a:t>
            </a:r>
            <a:endParaRPr sz="1800">
              <a:latin typeface="SimSun"/>
              <a:cs typeface="SimSun"/>
            </a:endParaRPr>
          </a:p>
        </p:txBody>
      </p:sp>
      <p:grpSp>
        <p:nvGrpSpPr>
          <p:cNvPr id="12" name="object 12" descr=""/>
          <p:cNvGrpSpPr/>
          <p:nvPr/>
        </p:nvGrpSpPr>
        <p:grpSpPr>
          <a:xfrm>
            <a:off x="1853183" y="4512563"/>
            <a:ext cx="1062355" cy="391160"/>
            <a:chOff x="1853183" y="4512563"/>
            <a:chExt cx="1062355" cy="391160"/>
          </a:xfrm>
        </p:grpSpPr>
        <p:pic>
          <p:nvPicPr>
            <p:cNvPr id="13" name="object 13" descr=""/>
            <p:cNvPicPr/>
            <p:nvPr/>
          </p:nvPicPr>
          <p:blipFill>
            <a:blip r:embed="rId8" cstate="print"/>
            <a:stretch>
              <a:fillRect/>
            </a:stretch>
          </p:blipFill>
          <p:spPr>
            <a:xfrm>
              <a:off x="1853183" y="4527041"/>
              <a:ext cx="438149" cy="376427"/>
            </a:xfrm>
            <a:prstGeom prst="rect">
              <a:avLst/>
            </a:prstGeom>
          </p:spPr>
        </p:pic>
        <p:pic>
          <p:nvPicPr>
            <p:cNvPr id="14" name="object 14" descr=""/>
            <p:cNvPicPr/>
            <p:nvPr/>
          </p:nvPicPr>
          <p:blipFill>
            <a:blip r:embed="rId9" cstate="print"/>
            <a:stretch>
              <a:fillRect/>
            </a:stretch>
          </p:blipFill>
          <p:spPr>
            <a:xfrm>
              <a:off x="1980437" y="4527042"/>
              <a:ext cx="476237" cy="376427"/>
            </a:xfrm>
            <a:prstGeom prst="rect">
              <a:avLst/>
            </a:prstGeom>
          </p:spPr>
        </p:pic>
        <p:pic>
          <p:nvPicPr>
            <p:cNvPr id="15" name="object 15" descr=""/>
            <p:cNvPicPr/>
            <p:nvPr/>
          </p:nvPicPr>
          <p:blipFill>
            <a:blip r:embed="rId7" cstate="print"/>
            <a:stretch>
              <a:fillRect/>
            </a:stretch>
          </p:blipFill>
          <p:spPr>
            <a:xfrm>
              <a:off x="2145791" y="4512563"/>
              <a:ext cx="769619" cy="390905"/>
            </a:xfrm>
            <a:prstGeom prst="rect">
              <a:avLst/>
            </a:prstGeom>
          </p:spPr>
        </p:pic>
      </p:grpSp>
      <p:sp>
        <p:nvSpPr>
          <p:cNvPr id="16" name="object 16" descr=""/>
          <p:cNvSpPr txBox="1"/>
          <p:nvPr/>
        </p:nvSpPr>
        <p:spPr>
          <a:xfrm>
            <a:off x="1983739" y="4582159"/>
            <a:ext cx="776605" cy="299720"/>
          </a:xfrm>
          <a:prstGeom prst="rect">
            <a:avLst/>
          </a:prstGeom>
        </p:spPr>
        <p:txBody>
          <a:bodyPr wrap="square" lIns="0" tIns="12700" rIns="0" bIns="0" rtlCol="0" vert="horz">
            <a:spAutoFit/>
          </a:bodyPr>
          <a:lstStyle/>
          <a:p>
            <a:pPr marL="12700">
              <a:lnSpc>
                <a:spcPct val="100000"/>
              </a:lnSpc>
              <a:spcBef>
                <a:spcPts val="100"/>
              </a:spcBef>
            </a:pPr>
            <a:r>
              <a:rPr dirty="0" sz="1800" spc="-10" b="1">
                <a:solidFill>
                  <a:srgbClr val="FF0000"/>
                </a:solidFill>
                <a:latin typeface="Arial"/>
                <a:cs typeface="Arial"/>
              </a:rPr>
              <a:t>8K</a:t>
            </a:r>
            <a:r>
              <a:rPr dirty="0" sz="1800" spc="-25">
                <a:solidFill>
                  <a:srgbClr val="FF0000"/>
                </a:solidFill>
                <a:latin typeface="SimSun"/>
                <a:cs typeface="SimSun"/>
              </a:rPr>
              <a:t>视频</a:t>
            </a:r>
            <a:endParaRPr sz="1800">
              <a:latin typeface="SimSun"/>
              <a:cs typeface="SimSun"/>
            </a:endParaRPr>
          </a:p>
        </p:txBody>
      </p:sp>
      <p:grpSp>
        <p:nvGrpSpPr>
          <p:cNvPr id="17" name="object 17" descr=""/>
          <p:cNvGrpSpPr/>
          <p:nvPr/>
        </p:nvGrpSpPr>
        <p:grpSpPr>
          <a:xfrm>
            <a:off x="3148583" y="4588764"/>
            <a:ext cx="1633220" cy="391160"/>
            <a:chOff x="3148583" y="4588764"/>
            <a:chExt cx="1633220" cy="391160"/>
          </a:xfrm>
        </p:grpSpPr>
        <p:pic>
          <p:nvPicPr>
            <p:cNvPr id="18" name="object 18" descr=""/>
            <p:cNvPicPr/>
            <p:nvPr/>
          </p:nvPicPr>
          <p:blipFill>
            <a:blip r:embed="rId10" cstate="print"/>
            <a:stretch>
              <a:fillRect/>
            </a:stretch>
          </p:blipFill>
          <p:spPr>
            <a:xfrm>
              <a:off x="3148583" y="4603241"/>
              <a:ext cx="1085849" cy="376427"/>
            </a:xfrm>
            <a:prstGeom prst="rect">
              <a:avLst/>
            </a:prstGeom>
          </p:spPr>
        </p:pic>
        <p:pic>
          <p:nvPicPr>
            <p:cNvPr id="19" name="object 19" descr=""/>
            <p:cNvPicPr/>
            <p:nvPr/>
          </p:nvPicPr>
          <p:blipFill>
            <a:blip r:embed="rId11" cstate="print"/>
            <a:stretch>
              <a:fillRect/>
            </a:stretch>
          </p:blipFill>
          <p:spPr>
            <a:xfrm>
              <a:off x="3923537" y="4588764"/>
              <a:ext cx="540245" cy="390905"/>
            </a:xfrm>
            <a:prstGeom prst="rect">
              <a:avLst/>
            </a:prstGeom>
          </p:spPr>
        </p:pic>
        <p:pic>
          <p:nvPicPr>
            <p:cNvPr id="20" name="object 20" descr=""/>
            <p:cNvPicPr/>
            <p:nvPr/>
          </p:nvPicPr>
          <p:blipFill>
            <a:blip r:embed="rId12" cstate="print"/>
            <a:stretch>
              <a:fillRect/>
            </a:stretch>
          </p:blipFill>
          <p:spPr>
            <a:xfrm>
              <a:off x="4152899" y="4603241"/>
              <a:ext cx="628649" cy="376427"/>
            </a:xfrm>
            <a:prstGeom prst="rect">
              <a:avLst/>
            </a:prstGeom>
          </p:spPr>
        </p:pic>
      </p:grpSp>
      <p:sp>
        <p:nvSpPr>
          <p:cNvPr id="21" name="object 21" descr=""/>
          <p:cNvSpPr txBox="1"/>
          <p:nvPr/>
        </p:nvSpPr>
        <p:spPr>
          <a:xfrm>
            <a:off x="3279140" y="4658359"/>
            <a:ext cx="1347470" cy="299720"/>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FF0000"/>
                </a:solidFill>
                <a:latin typeface="Arial"/>
                <a:cs typeface="Arial"/>
              </a:rPr>
              <a:t>HD</a:t>
            </a:r>
            <a:r>
              <a:rPr dirty="0" sz="1800" spc="-40" b="1">
                <a:solidFill>
                  <a:srgbClr val="FF0000"/>
                </a:solidFill>
                <a:latin typeface="Arial"/>
                <a:cs typeface="Arial"/>
              </a:rPr>
              <a:t> </a:t>
            </a:r>
            <a:r>
              <a:rPr dirty="0" sz="1800" spc="-10" b="1">
                <a:solidFill>
                  <a:srgbClr val="FF0000"/>
                </a:solidFill>
                <a:latin typeface="Arial"/>
                <a:cs typeface="Arial"/>
              </a:rPr>
              <a:t>360</a:t>
            </a:r>
            <a:r>
              <a:rPr dirty="0" sz="1800" spc="-10">
                <a:solidFill>
                  <a:srgbClr val="FF0000"/>
                </a:solidFill>
                <a:latin typeface="SimSun"/>
                <a:cs typeface="SimSun"/>
              </a:rPr>
              <a:t>°</a:t>
            </a:r>
            <a:r>
              <a:rPr dirty="0" sz="1800" spc="-10" b="1">
                <a:solidFill>
                  <a:srgbClr val="FF0000"/>
                </a:solidFill>
                <a:latin typeface="Arial"/>
                <a:cs typeface="Arial"/>
              </a:rPr>
              <a:t>VR</a:t>
            </a:r>
            <a:endParaRPr sz="1800">
              <a:latin typeface="Arial"/>
              <a:cs typeface="Arial"/>
            </a:endParaRPr>
          </a:p>
        </p:txBody>
      </p:sp>
      <p:pic>
        <p:nvPicPr>
          <p:cNvPr id="22" name="object 22" descr=""/>
          <p:cNvPicPr/>
          <p:nvPr/>
        </p:nvPicPr>
        <p:blipFill>
          <a:blip r:embed="rId13" cstate="print"/>
          <a:stretch>
            <a:fillRect/>
          </a:stretch>
        </p:blipFill>
        <p:spPr>
          <a:xfrm>
            <a:off x="5129783" y="4524755"/>
            <a:ext cx="641603" cy="378713"/>
          </a:xfrm>
          <a:prstGeom prst="rect">
            <a:avLst/>
          </a:prstGeom>
        </p:spPr>
      </p:pic>
      <p:sp>
        <p:nvSpPr>
          <p:cNvPr id="23" name="object 23" descr=""/>
          <p:cNvSpPr txBox="1"/>
          <p:nvPr/>
        </p:nvSpPr>
        <p:spPr>
          <a:xfrm>
            <a:off x="5260340" y="4579873"/>
            <a:ext cx="356235" cy="299720"/>
          </a:xfrm>
          <a:prstGeom prst="rect">
            <a:avLst/>
          </a:prstGeom>
        </p:spPr>
        <p:txBody>
          <a:bodyPr wrap="square" lIns="0" tIns="12700" rIns="0" bIns="0" rtlCol="0" vert="horz">
            <a:spAutoFit/>
          </a:bodyPr>
          <a:lstStyle/>
          <a:p>
            <a:pPr marL="12700">
              <a:lnSpc>
                <a:spcPct val="100000"/>
              </a:lnSpc>
              <a:spcBef>
                <a:spcPts val="100"/>
              </a:spcBef>
            </a:pPr>
            <a:r>
              <a:rPr dirty="0" sz="1800" spc="-25" b="1">
                <a:solidFill>
                  <a:srgbClr val="FF0000"/>
                </a:solidFill>
                <a:latin typeface="Arial"/>
                <a:cs typeface="Arial"/>
              </a:rPr>
              <a:t>AR</a:t>
            </a:r>
            <a:endParaRPr sz="1800">
              <a:latin typeface="Arial"/>
              <a:cs typeface="Arial"/>
            </a:endParaRPr>
          </a:p>
        </p:txBody>
      </p:sp>
      <p:sp>
        <p:nvSpPr>
          <p:cNvPr id="24" name="object 24"/>
          <p:cNvSpPr txBox="1">
            <a:spLocks noGrp="1"/>
          </p:cNvSpPr>
          <p:nvPr>
            <p:ph type="title"/>
          </p:nvPr>
        </p:nvSpPr>
        <p:spPr>
          <a:xfrm>
            <a:off x="1686736" y="135718"/>
            <a:ext cx="58299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时代对室内场景覆盖要求较高</a:t>
            </a:r>
          </a:p>
        </p:txBody>
      </p:sp>
      <p:sp>
        <p:nvSpPr>
          <p:cNvPr id="25" name="object 25" descr=""/>
          <p:cNvSpPr/>
          <p:nvPr/>
        </p:nvSpPr>
        <p:spPr>
          <a:xfrm>
            <a:off x="6163995" y="1076286"/>
            <a:ext cx="928369" cy="457200"/>
          </a:xfrm>
          <a:custGeom>
            <a:avLst/>
            <a:gdLst/>
            <a:ahLst/>
            <a:cxnLst/>
            <a:rect l="l" t="t" r="r" b="b"/>
            <a:pathLst>
              <a:path w="928370" h="457200">
                <a:moveTo>
                  <a:pt x="928281" y="0"/>
                </a:moveTo>
                <a:lnTo>
                  <a:pt x="0" y="0"/>
                </a:lnTo>
                <a:lnTo>
                  <a:pt x="0" y="457200"/>
                </a:lnTo>
                <a:lnTo>
                  <a:pt x="928281" y="457200"/>
                </a:lnTo>
                <a:lnTo>
                  <a:pt x="928281" y="0"/>
                </a:lnTo>
                <a:close/>
              </a:path>
            </a:pathLst>
          </a:custGeom>
          <a:solidFill>
            <a:srgbClr val="0070C0"/>
          </a:solidFill>
        </p:spPr>
        <p:txBody>
          <a:bodyPr wrap="square" lIns="0" tIns="0" rIns="0" bIns="0" rtlCol="0"/>
          <a:lstStyle/>
          <a:p/>
        </p:txBody>
      </p:sp>
      <p:sp>
        <p:nvSpPr>
          <p:cNvPr id="26" name="object 26" descr=""/>
          <p:cNvSpPr txBox="1"/>
          <p:nvPr/>
        </p:nvSpPr>
        <p:spPr>
          <a:xfrm>
            <a:off x="6291014" y="1148937"/>
            <a:ext cx="674370" cy="299720"/>
          </a:xfrm>
          <a:prstGeom prst="rect">
            <a:avLst/>
          </a:prstGeom>
        </p:spPr>
        <p:txBody>
          <a:bodyPr wrap="square" lIns="0" tIns="12700" rIns="0" bIns="0" rtlCol="0" vert="horz">
            <a:spAutoFit/>
          </a:bodyPr>
          <a:lstStyle/>
          <a:p>
            <a:pPr marL="12700">
              <a:lnSpc>
                <a:spcPct val="100000"/>
              </a:lnSpc>
              <a:spcBef>
                <a:spcPts val="100"/>
              </a:spcBef>
            </a:pPr>
            <a:r>
              <a:rPr dirty="0" sz="1800" spc="-20" b="1">
                <a:solidFill>
                  <a:srgbClr val="FFFFFF"/>
                </a:solidFill>
                <a:latin typeface="Arial"/>
                <a:cs typeface="Arial"/>
              </a:rPr>
              <a:t>eMBB</a:t>
            </a:r>
            <a:endParaRPr sz="1800">
              <a:latin typeface="Arial"/>
              <a:cs typeface="Arial"/>
            </a:endParaRPr>
          </a:p>
        </p:txBody>
      </p:sp>
      <p:sp>
        <p:nvSpPr>
          <p:cNvPr id="27" name="object 27" descr=""/>
          <p:cNvSpPr/>
          <p:nvPr/>
        </p:nvSpPr>
        <p:spPr>
          <a:xfrm>
            <a:off x="7032063" y="1079005"/>
            <a:ext cx="482600" cy="485140"/>
          </a:xfrm>
          <a:custGeom>
            <a:avLst/>
            <a:gdLst/>
            <a:ahLst/>
            <a:cxnLst/>
            <a:rect l="l" t="t" r="r" b="b"/>
            <a:pathLst>
              <a:path w="482600" h="485140">
                <a:moveTo>
                  <a:pt x="241046" y="0"/>
                </a:moveTo>
                <a:lnTo>
                  <a:pt x="241046" y="121158"/>
                </a:lnTo>
                <a:lnTo>
                  <a:pt x="0" y="121158"/>
                </a:lnTo>
                <a:lnTo>
                  <a:pt x="0" y="363474"/>
                </a:lnTo>
                <a:lnTo>
                  <a:pt x="241046" y="363474"/>
                </a:lnTo>
                <a:lnTo>
                  <a:pt x="241046" y="484632"/>
                </a:lnTo>
                <a:lnTo>
                  <a:pt x="482092" y="242316"/>
                </a:lnTo>
                <a:lnTo>
                  <a:pt x="241046" y="0"/>
                </a:lnTo>
                <a:close/>
              </a:path>
            </a:pathLst>
          </a:custGeom>
          <a:solidFill>
            <a:srgbClr val="0070C0"/>
          </a:solidFill>
        </p:spPr>
        <p:txBody>
          <a:bodyPr wrap="square" lIns="0" tIns="0" rIns="0" bIns="0" rtlCol="0"/>
          <a:lstStyle/>
          <a:p/>
        </p:txBody>
      </p:sp>
      <p:sp>
        <p:nvSpPr>
          <p:cNvPr id="28" name="object 28" descr=""/>
          <p:cNvSpPr txBox="1"/>
          <p:nvPr/>
        </p:nvSpPr>
        <p:spPr>
          <a:xfrm>
            <a:off x="7514158" y="1070991"/>
            <a:ext cx="1450340" cy="492759"/>
          </a:xfrm>
          <a:prstGeom prst="rect">
            <a:avLst/>
          </a:prstGeom>
          <a:solidFill>
            <a:srgbClr val="0070C0"/>
          </a:solidFill>
        </p:spPr>
        <p:txBody>
          <a:bodyPr wrap="square" lIns="0" tIns="52705" rIns="0" bIns="0" rtlCol="0" vert="horz">
            <a:spAutoFit/>
          </a:bodyPr>
          <a:lstStyle/>
          <a:p>
            <a:pPr marL="190500" marR="94615" indent="-89535">
              <a:lnSpc>
                <a:spcPts val="1610"/>
              </a:lnSpc>
              <a:spcBef>
                <a:spcPts val="415"/>
              </a:spcBef>
            </a:pPr>
            <a:r>
              <a:rPr dirty="0" sz="1400" spc="-20">
                <a:solidFill>
                  <a:srgbClr val="FFFFFF"/>
                </a:solidFill>
                <a:latin typeface="SimSun"/>
                <a:cs typeface="SimSun"/>
              </a:rPr>
              <a:t>民居、办公楼内高速移动业务</a:t>
            </a:r>
            <a:endParaRPr sz="1400">
              <a:latin typeface="SimSun"/>
              <a:cs typeface="SimSun"/>
            </a:endParaRPr>
          </a:p>
        </p:txBody>
      </p:sp>
      <p:sp>
        <p:nvSpPr>
          <p:cNvPr id="29" name="object 29" descr=""/>
          <p:cNvSpPr/>
          <p:nvPr/>
        </p:nvSpPr>
        <p:spPr>
          <a:xfrm>
            <a:off x="6106760" y="1995681"/>
            <a:ext cx="2858135" cy="2858135"/>
          </a:xfrm>
          <a:custGeom>
            <a:avLst/>
            <a:gdLst/>
            <a:ahLst/>
            <a:cxnLst/>
            <a:rect l="l" t="t" r="r" b="b"/>
            <a:pathLst>
              <a:path w="2858134" h="2858135">
                <a:moveTo>
                  <a:pt x="0" y="476300"/>
                </a:moveTo>
                <a:lnTo>
                  <a:pt x="2459" y="427601"/>
                </a:lnTo>
                <a:lnTo>
                  <a:pt x="9676" y="380309"/>
                </a:lnTo>
                <a:lnTo>
                  <a:pt x="21413" y="334662"/>
                </a:lnTo>
                <a:lnTo>
                  <a:pt x="37429" y="290902"/>
                </a:lnTo>
                <a:lnTo>
                  <a:pt x="57486" y="249266"/>
                </a:lnTo>
                <a:lnTo>
                  <a:pt x="81344" y="209995"/>
                </a:lnTo>
                <a:lnTo>
                  <a:pt x="108763" y="173328"/>
                </a:lnTo>
                <a:lnTo>
                  <a:pt x="139504" y="139504"/>
                </a:lnTo>
                <a:lnTo>
                  <a:pt x="173328" y="108763"/>
                </a:lnTo>
                <a:lnTo>
                  <a:pt x="209995" y="81344"/>
                </a:lnTo>
                <a:lnTo>
                  <a:pt x="249266" y="57486"/>
                </a:lnTo>
                <a:lnTo>
                  <a:pt x="290902" y="37429"/>
                </a:lnTo>
                <a:lnTo>
                  <a:pt x="334662" y="21413"/>
                </a:lnTo>
                <a:lnTo>
                  <a:pt x="380309" y="9676"/>
                </a:lnTo>
                <a:lnTo>
                  <a:pt x="427601" y="2459"/>
                </a:lnTo>
                <a:lnTo>
                  <a:pt x="476300" y="0"/>
                </a:lnTo>
                <a:lnTo>
                  <a:pt x="2381427" y="0"/>
                </a:lnTo>
                <a:lnTo>
                  <a:pt x="2430127" y="2459"/>
                </a:lnTo>
                <a:lnTo>
                  <a:pt x="2477419" y="9676"/>
                </a:lnTo>
                <a:lnTo>
                  <a:pt x="2523065" y="21413"/>
                </a:lnTo>
                <a:lnTo>
                  <a:pt x="2566826" y="37429"/>
                </a:lnTo>
                <a:lnTo>
                  <a:pt x="2608461" y="57486"/>
                </a:lnTo>
                <a:lnTo>
                  <a:pt x="2647732" y="81344"/>
                </a:lnTo>
                <a:lnTo>
                  <a:pt x="2684399" y="108763"/>
                </a:lnTo>
                <a:lnTo>
                  <a:pt x="2718223" y="139504"/>
                </a:lnTo>
                <a:lnTo>
                  <a:pt x="2748965" y="173328"/>
                </a:lnTo>
                <a:lnTo>
                  <a:pt x="2776384" y="209995"/>
                </a:lnTo>
                <a:lnTo>
                  <a:pt x="2800241" y="249266"/>
                </a:lnTo>
                <a:lnTo>
                  <a:pt x="2820298" y="290902"/>
                </a:lnTo>
                <a:lnTo>
                  <a:pt x="2836315" y="334662"/>
                </a:lnTo>
                <a:lnTo>
                  <a:pt x="2848051" y="380309"/>
                </a:lnTo>
                <a:lnTo>
                  <a:pt x="2855269" y="427601"/>
                </a:lnTo>
                <a:lnTo>
                  <a:pt x="2857728" y="476300"/>
                </a:lnTo>
                <a:lnTo>
                  <a:pt x="2857728" y="2381745"/>
                </a:lnTo>
                <a:lnTo>
                  <a:pt x="2855269" y="2430444"/>
                </a:lnTo>
                <a:lnTo>
                  <a:pt x="2848051" y="2477736"/>
                </a:lnTo>
                <a:lnTo>
                  <a:pt x="2836315" y="2523383"/>
                </a:lnTo>
                <a:lnTo>
                  <a:pt x="2820298" y="2567143"/>
                </a:lnTo>
                <a:lnTo>
                  <a:pt x="2800241" y="2608779"/>
                </a:lnTo>
                <a:lnTo>
                  <a:pt x="2776384" y="2648050"/>
                </a:lnTo>
                <a:lnTo>
                  <a:pt x="2748965" y="2684717"/>
                </a:lnTo>
                <a:lnTo>
                  <a:pt x="2718223" y="2718541"/>
                </a:lnTo>
                <a:lnTo>
                  <a:pt x="2684399" y="2749282"/>
                </a:lnTo>
                <a:lnTo>
                  <a:pt x="2647732" y="2776701"/>
                </a:lnTo>
                <a:lnTo>
                  <a:pt x="2608461" y="2800559"/>
                </a:lnTo>
                <a:lnTo>
                  <a:pt x="2566826" y="2820616"/>
                </a:lnTo>
                <a:lnTo>
                  <a:pt x="2523065" y="2836632"/>
                </a:lnTo>
                <a:lnTo>
                  <a:pt x="2477419" y="2848369"/>
                </a:lnTo>
                <a:lnTo>
                  <a:pt x="2430127" y="2855587"/>
                </a:lnTo>
                <a:lnTo>
                  <a:pt x="2381427" y="2858046"/>
                </a:lnTo>
                <a:lnTo>
                  <a:pt x="476300" y="2858046"/>
                </a:lnTo>
                <a:lnTo>
                  <a:pt x="427601" y="2855587"/>
                </a:lnTo>
                <a:lnTo>
                  <a:pt x="380309" y="2848369"/>
                </a:lnTo>
                <a:lnTo>
                  <a:pt x="334662" y="2836632"/>
                </a:lnTo>
                <a:lnTo>
                  <a:pt x="290902" y="2820616"/>
                </a:lnTo>
                <a:lnTo>
                  <a:pt x="249266" y="2800559"/>
                </a:lnTo>
                <a:lnTo>
                  <a:pt x="209995" y="2776701"/>
                </a:lnTo>
                <a:lnTo>
                  <a:pt x="173328" y="2749282"/>
                </a:lnTo>
                <a:lnTo>
                  <a:pt x="139504" y="2718541"/>
                </a:lnTo>
                <a:lnTo>
                  <a:pt x="108763" y="2684717"/>
                </a:lnTo>
                <a:lnTo>
                  <a:pt x="81344" y="2648050"/>
                </a:lnTo>
                <a:lnTo>
                  <a:pt x="57486" y="2608779"/>
                </a:lnTo>
                <a:lnTo>
                  <a:pt x="37429" y="2567143"/>
                </a:lnTo>
                <a:lnTo>
                  <a:pt x="21413" y="2523383"/>
                </a:lnTo>
                <a:lnTo>
                  <a:pt x="9676" y="2477736"/>
                </a:lnTo>
                <a:lnTo>
                  <a:pt x="2459" y="2430444"/>
                </a:lnTo>
                <a:lnTo>
                  <a:pt x="0" y="2381745"/>
                </a:lnTo>
                <a:lnTo>
                  <a:pt x="0" y="476300"/>
                </a:lnTo>
                <a:close/>
              </a:path>
            </a:pathLst>
          </a:custGeom>
          <a:ln w="25400">
            <a:solidFill>
              <a:srgbClr val="89A4A7"/>
            </a:solidFill>
          </a:ln>
        </p:spPr>
        <p:txBody>
          <a:bodyPr wrap="square" lIns="0" tIns="0" rIns="0" bIns="0" rtlCol="0"/>
          <a:lstStyle/>
          <a:p/>
        </p:txBody>
      </p:sp>
      <p:sp>
        <p:nvSpPr>
          <p:cNvPr id="30" name="object 30" descr=""/>
          <p:cNvSpPr txBox="1"/>
          <p:nvPr/>
        </p:nvSpPr>
        <p:spPr>
          <a:xfrm>
            <a:off x="6234915" y="2179580"/>
            <a:ext cx="2482850" cy="2451100"/>
          </a:xfrm>
          <a:prstGeom prst="rect">
            <a:avLst/>
          </a:prstGeom>
        </p:spPr>
        <p:txBody>
          <a:bodyPr wrap="square" lIns="0" tIns="12700" rIns="0" bIns="0" rtlCol="0" vert="horz">
            <a:spAutoFit/>
          </a:bodyPr>
          <a:lstStyle/>
          <a:p>
            <a:pPr marL="126364">
              <a:lnSpc>
                <a:spcPct val="100000"/>
              </a:lnSpc>
              <a:spcBef>
                <a:spcPts val="100"/>
              </a:spcBef>
            </a:pPr>
            <a:r>
              <a:rPr dirty="0" sz="1800">
                <a:solidFill>
                  <a:srgbClr val="FF0000"/>
                </a:solidFill>
                <a:latin typeface="SimSun"/>
                <a:cs typeface="SimSun"/>
              </a:rPr>
              <a:t>5G</a:t>
            </a:r>
            <a:r>
              <a:rPr dirty="0" sz="1800" spc="-10">
                <a:solidFill>
                  <a:srgbClr val="FF0000"/>
                </a:solidFill>
                <a:latin typeface="SimSun"/>
                <a:cs typeface="SimSun"/>
              </a:rPr>
              <a:t>室内目标网</a:t>
            </a:r>
            <a:endParaRPr sz="1800">
              <a:latin typeface="SimSun"/>
              <a:cs typeface="SimSun"/>
            </a:endParaRPr>
          </a:p>
          <a:p>
            <a:pPr marL="184150" marR="5080" indent="-171450">
              <a:lnSpc>
                <a:spcPct val="150000"/>
              </a:lnSpc>
              <a:spcBef>
                <a:spcPts val="735"/>
              </a:spcBef>
              <a:buFont typeface="Arial MT"/>
              <a:buChar char="•"/>
              <a:tabLst>
                <a:tab pos="184150" algn="l"/>
              </a:tabLst>
            </a:pPr>
            <a:r>
              <a:rPr dirty="0" sz="1800" spc="-5">
                <a:latin typeface="SimSun"/>
                <a:cs typeface="SimSun"/>
              </a:rPr>
              <a:t>保证室内外同等体验，</a:t>
            </a:r>
            <a:r>
              <a:rPr dirty="0" sz="1800" spc="-10">
                <a:latin typeface="SimSun"/>
                <a:cs typeface="SimSun"/>
              </a:rPr>
              <a:t>高流量价值区目标高</a:t>
            </a:r>
            <a:r>
              <a:rPr dirty="0" sz="1800" spc="-50">
                <a:latin typeface="SimSun"/>
                <a:cs typeface="SimSun"/>
              </a:rPr>
              <a:t> </a:t>
            </a:r>
            <a:r>
              <a:rPr dirty="0" sz="1800" spc="-15">
                <a:latin typeface="SimSun"/>
                <a:cs typeface="SimSun"/>
              </a:rPr>
              <a:t>于室外；</a:t>
            </a:r>
            <a:endParaRPr sz="1800">
              <a:latin typeface="SimSun"/>
              <a:cs typeface="SimSun"/>
            </a:endParaRPr>
          </a:p>
          <a:p>
            <a:pPr marL="183515" indent="-170815">
              <a:lnSpc>
                <a:spcPct val="100000"/>
              </a:lnSpc>
              <a:spcBef>
                <a:spcPts val="1080"/>
              </a:spcBef>
              <a:buFont typeface="Arial MT"/>
              <a:buChar char="•"/>
              <a:tabLst>
                <a:tab pos="183515" algn="l"/>
              </a:tabLst>
            </a:pPr>
            <a:r>
              <a:rPr dirty="0" sz="1800" spc="-10">
                <a:latin typeface="SimSun"/>
                <a:cs typeface="SimSun"/>
              </a:rPr>
              <a:t>室内边缘速率建议</a:t>
            </a:r>
            <a:endParaRPr sz="1800">
              <a:latin typeface="SimSun"/>
              <a:cs typeface="SimSun"/>
            </a:endParaRPr>
          </a:p>
          <a:p>
            <a:pPr marL="184150">
              <a:lnSpc>
                <a:spcPct val="100000"/>
              </a:lnSpc>
              <a:spcBef>
                <a:spcPts val="1080"/>
              </a:spcBef>
            </a:pPr>
            <a:r>
              <a:rPr dirty="0" sz="1800">
                <a:latin typeface="SimSun"/>
                <a:cs typeface="SimSun"/>
              </a:rPr>
              <a:t>100Mbps（DL）</a:t>
            </a:r>
            <a:r>
              <a:rPr dirty="0" sz="1800" spc="-50">
                <a:latin typeface="SimSun"/>
                <a:cs typeface="SimSun"/>
              </a:rPr>
              <a:t>。</a:t>
            </a:r>
            <a:endParaRPr sz="1800">
              <a:latin typeface="SimSun"/>
              <a:cs typeface="SimSu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14057" y="99559"/>
            <a:ext cx="4498975" cy="513080"/>
          </a:xfrm>
          <a:prstGeom prst="rect"/>
        </p:spPr>
        <p:txBody>
          <a:bodyPr wrap="square" lIns="0" tIns="12065" rIns="0" bIns="0" rtlCol="0" vert="horz">
            <a:spAutoFit/>
          </a:bodyPr>
          <a:lstStyle/>
          <a:p>
            <a:pPr marL="12700">
              <a:lnSpc>
                <a:spcPct val="100000"/>
              </a:lnSpc>
              <a:spcBef>
                <a:spcPts val="95"/>
              </a:spcBef>
            </a:pPr>
            <a:r>
              <a:rPr dirty="0" spc="-45"/>
              <a:t>室内网络角色定位的变化</a:t>
            </a:r>
          </a:p>
        </p:txBody>
      </p:sp>
      <p:grpSp>
        <p:nvGrpSpPr>
          <p:cNvPr id="3" name="object 3" descr=""/>
          <p:cNvGrpSpPr/>
          <p:nvPr/>
        </p:nvGrpSpPr>
        <p:grpSpPr>
          <a:xfrm>
            <a:off x="1203162" y="4626921"/>
            <a:ext cx="7188834" cy="228600"/>
            <a:chOff x="1203162" y="4626921"/>
            <a:chExt cx="7188834" cy="228600"/>
          </a:xfrm>
        </p:grpSpPr>
        <p:sp>
          <p:nvSpPr>
            <p:cNvPr id="4" name="object 4" descr=""/>
            <p:cNvSpPr/>
            <p:nvPr/>
          </p:nvSpPr>
          <p:spPr>
            <a:xfrm>
              <a:off x="1241262" y="4741231"/>
              <a:ext cx="6960234" cy="0"/>
            </a:xfrm>
            <a:custGeom>
              <a:avLst/>
              <a:gdLst/>
              <a:ahLst/>
              <a:cxnLst/>
              <a:rect l="l" t="t" r="r" b="b"/>
              <a:pathLst>
                <a:path w="6960234" h="0">
                  <a:moveTo>
                    <a:pt x="0" y="0"/>
                  </a:moveTo>
                  <a:lnTo>
                    <a:pt x="6959841" y="0"/>
                  </a:lnTo>
                </a:path>
              </a:pathLst>
            </a:custGeom>
            <a:ln w="76200">
              <a:solidFill>
                <a:srgbClr val="C00000"/>
              </a:solidFill>
            </a:ln>
          </p:spPr>
          <p:txBody>
            <a:bodyPr wrap="square" lIns="0" tIns="0" rIns="0" bIns="0" rtlCol="0"/>
            <a:lstStyle/>
            <a:p/>
          </p:txBody>
        </p:sp>
        <p:sp>
          <p:nvSpPr>
            <p:cNvPr id="5" name="object 5" descr=""/>
            <p:cNvSpPr/>
            <p:nvPr/>
          </p:nvSpPr>
          <p:spPr>
            <a:xfrm>
              <a:off x="8162998" y="4626921"/>
              <a:ext cx="229235" cy="228600"/>
            </a:xfrm>
            <a:custGeom>
              <a:avLst/>
              <a:gdLst/>
              <a:ahLst/>
              <a:cxnLst/>
              <a:rect l="l" t="t" r="r" b="b"/>
              <a:pathLst>
                <a:path w="229234" h="228600">
                  <a:moveTo>
                    <a:pt x="12" y="0"/>
                  </a:moveTo>
                  <a:lnTo>
                    <a:pt x="0" y="228600"/>
                  </a:lnTo>
                  <a:lnTo>
                    <a:pt x="228612" y="114312"/>
                  </a:lnTo>
                  <a:lnTo>
                    <a:pt x="12" y="0"/>
                  </a:lnTo>
                  <a:close/>
                </a:path>
              </a:pathLst>
            </a:custGeom>
            <a:solidFill>
              <a:srgbClr val="C00000"/>
            </a:solidFill>
          </p:spPr>
          <p:txBody>
            <a:bodyPr wrap="square" lIns="0" tIns="0" rIns="0" bIns="0" rtlCol="0"/>
            <a:lstStyle/>
            <a:p/>
          </p:txBody>
        </p:sp>
      </p:grpSp>
      <p:sp>
        <p:nvSpPr>
          <p:cNvPr id="6" name="object 6" descr=""/>
          <p:cNvSpPr txBox="1"/>
          <p:nvPr/>
        </p:nvSpPr>
        <p:spPr>
          <a:xfrm>
            <a:off x="1931917" y="4817886"/>
            <a:ext cx="210820" cy="193040"/>
          </a:xfrm>
          <a:prstGeom prst="rect">
            <a:avLst/>
          </a:prstGeom>
        </p:spPr>
        <p:txBody>
          <a:bodyPr wrap="square" lIns="0" tIns="12065" rIns="0" bIns="0" rtlCol="0" vert="horz">
            <a:spAutoFit/>
          </a:bodyPr>
          <a:lstStyle/>
          <a:p>
            <a:pPr marL="12700">
              <a:lnSpc>
                <a:spcPct val="100000"/>
              </a:lnSpc>
              <a:spcBef>
                <a:spcPts val="95"/>
              </a:spcBef>
            </a:pPr>
            <a:r>
              <a:rPr dirty="0" sz="1100" spc="-25">
                <a:latin typeface="Microsoft YaHei"/>
                <a:cs typeface="Microsoft YaHei"/>
              </a:rPr>
              <a:t>2G</a:t>
            </a:r>
            <a:endParaRPr sz="1100">
              <a:latin typeface="Microsoft YaHei"/>
              <a:cs typeface="Microsoft YaHei"/>
            </a:endParaRPr>
          </a:p>
        </p:txBody>
      </p:sp>
      <p:sp>
        <p:nvSpPr>
          <p:cNvPr id="7" name="object 7" descr=""/>
          <p:cNvSpPr txBox="1"/>
          <p:nvPr/>
        </p:nvSpPr>
        <p:spPr>
          <a:xfrm>
            <a:off x="4429116" y="4817886"/>
            <a:ext cx="517525"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Microsoft YaHei"/>
                <a:cs typeface="Microsoft YaHei"/>
              </a:rPr>
              <a:t>3G&amp;4G</a:t>
            </a:r>
            <a:endParaRPr sz="1100">
              <a:latin typeface="Microsoft YaHei"/>
              <a:cs typeface="Microsoft YaHei"/>
            </a:endParaRPr>
          </a:p>
        </p:txBody>
      </p:sp>
      <p:sp>
        <p:nvSpPr>
          <p:cNvPr id="8" name="object 8" descr=""/>
          <p:cNvSpPr txBox="1"/>
          <p:nvPr/>
        </p:nvSpPr>
        <p:spPr>
          <a:xfrm>
            <a:off x="6805196" y="4780838"/>
            <a:ext cx="297180" cy="269875"/>
          </a:xfrm>
          <a:prstGeom prst="rect">
            <a:avLst/>
          </a:prstGeom>
        </p:spPr>
        <p:txBody>
          <a:bodyPr wrap="square" lIns="0" tIns="12700" rIns="0" bIns="0" rtlCol="0" vert="horz">
            <a:spAutoFit/>
          </a:bodyPr>
          <a:lstStyle/>
          <a:p>
            <a:pPr marL="12700">
              <a:lnSpc>
                <a:spcPct val="100000"/>
              </a:lnSpc>
              <a:spcBef>
                <a:spcPts val="100"/>
              </a:spcBef>
            </a:pPr>
            <a:r>
              <a:rPr dirty="0" sz="1600" spc="-25">
                <a:solidFill>
                  <a:srgbClr val="C00000"/>
                </a:solidFill>
                <a:latin typeface="Microsoft YaHei"/>
                <a:cs typeface="Microsoft YaHei"/>
              </a:rPr>
              <a:t>5G</a:t>
            </a:r>
            <a:endParaRPr sz="1600">
              <a:latin typeface="Microsoft YaHei"/>
              <a:cs typeface="Microsoft YaHei"/>
            </a:endParaRPr>
          </a:p>
        </p:txBody>
      </p:sp>
      <p:grpSp>
        <p:nvGrpSpPr>
          <p:cNvPr id="9" name="object 9" descr=""/>
          <p:cNvGrpSpPr/>
          <p:nvPr/>
        </p:nvGrpSpPr>
        <p:grpSpPr>
          <a:xfrm>
            <a:off x="1126982" y="1690590"/>
            <a:ext cx="228600" cy="3111500"/>
            <a:chOff x="1126982" y="1690590"/>
            <a:chExt cx="228600" cy="3111500"/>
          </a:xfrm>
        </p:grpSpPr>
        <p:sp>
          <p:nvSpPr>
            <p:cNvPr id="10" name="object 10" descr=""/>
            <p:cNvSpPr/>
            <p:nvPr/>
          </p:nvSpPr>
          <p:spPr>
            <a:xfrm>
              <a:off x="1241262" y="1881096"/>
              <a:ext cx="0" cy="2882900"/>
            </a:xfrm>
            <a:custGeom>
              <a:avLst/>
              <a:gdLst/>
              <a:ahLst/>
              <a:cxnLst/>
              <a:rect l="l" t="t" r="r" b="b"/>
              <a:pathLst>
                <a:path w="0" h="2882900">
                  <a:moveTo>
                    <a:pt x="0" y="2882277"/>
                  </a:moveTo>
                  <a:lnTo>
                    <a:pt x="0" y="0"/>
                  </a:lnTo>
                </a:path>
              </a:pathLst>
            </a:custGeom>
            <a:ln w="76200">
              <a:solidFill>
                <a:srgbClr val="C00000"/>
              </a:solidFill>
            </a:ln>
          </p:spPr>
          <p:txBody>
            <a:bodyPr wrap="square" lIns="0" tIns="0" rIns="0" bIns="0" rtlCol="0"/>
            <a:lstStyle/>
            <a:p/>
          </p:txBody>
        </p:sp>
        <p:sp>
          <p:nvSpPr>
            <p:cNvPr id="11" name="object 11" descr=""/>
            <p:cNvSpPr/>
            <p:nvPr/>
          </p:nvSpPr>
          <p:spPr>
            <a:xfrm>
              <a:off x="1126982" y="1690590"/>
              <a:ext cx="228600" cy="229235"/>
            </a:xfrm>
            <a:custGeom>
              <a:avLst/>
              <a:gdLst/>
              <a:ahLst/>
              <a:cxnLst/>
              <a:rect l="l" t="t" r="r" b="b"/>
              <a:pathLst>
                <a:path w="228600" h="229235">
                  <a:moveTo>
                    <a:pt x="114274" y="0"/>
                  </a:moveTo>
                  <a:lnTo>
                    <a:pt x="0" y="228612"/>
                  </a:lnTo>
                  <a:lnTo>
                    <a:pt x="228600" y="228587"/>
                  </a:lnTo>
                  <a:lnTo>
                    <a:pt x="114274" y="0"/>
                  </a:lnTo>
                  <a:close/>
                </a:path>
              </a:pathLst>
            </a:custGeom>
            <a:solidFill>
              <a:srgbClr val="C00000"/>
            </a:solidFill>
          </p:spPr>
          <p:txBody>
            <a:bodyPr wrap="square" lIns="0" tIns="0" rIns="0" bIns="0" rtlCol="0"/>
            <a:lstStyle/>
            <a:p/>
          </p:txBody>
        </p:sp>
      </p:grpSp>
      <p:sp>
        <p:nvSpPr>
          <p:cNvPr id="12" name="object 12" descr=""/>
          <p:cNvSpPr txBox="1"/>
          <p:nvPr/>
        </p:nvSpPr>
        <p:spPr>
          <a:xfrm>
            <a:off x="696035" y="1579751"/>
            <a:ext cx="374650" cy="133985"/>
          </a:xfrm>
          <a:prstGeom prst="rect">
            <a:avLst/>
          </a:prstGeom>
        </p:spPr>
        <p:txBody>
          <a:bodyPr wrap="square" lIns="0" tIns="5715" rIns="0" bIns="0" rtlCol="0" vert="horz">
            <a:spAutoFit/>
          </a:bodyPr>
          <a:lstStyle/>
          <a:p>
            <a:pPr>
              <a:lnSpc>
                <a:spcPct val="100000"/>
              </a:lnSpc>
              <a:spcBef>
                <a:spcPts val="45"/>
              </a:spcBef>
            </a:pPr>
            <a:r>
              <a:rPr dirty="0" sz="800" spc="-20">
                <a:latin typeface="Microsoft YaHei"/>
                <a:cs typeface="Microsoft YaHei"/>
              </a:rPr>
              <a:t>频率/</a:t>
            </a:r>
            <a:r>
              <a:rPr dirty="0" sz="800" spc="-25">
                <a:latin typeface="Microsoft YaHei"/>
                <a:cs typeface="Microsoft YaHei"/>
              </a:rPr>
              <a:t>Hz</a:t>
            </a:r>
            <a:endParaRPr sz="800">
              <a:latin typeface="Microsoft YaHei"/>
              <a:cs typeface="Microsoft YaHei"/>
            </a:endParaRPr>
          </a:p>
        </p:txBody>
      </p:sp>
      <p:sp>
        <p:nvSpPr>
          <p:cNvPr id="13" name="object 13" descr=""/>
          <p:cNvSpPr txBox="1"/>
          <p:nvPr/>
        </p:nvSpPr>
        <p:spPr>
          <a:xfrm>
            <a:off x="858461" y="1915996"/>
            <a:ext cx="304165" cy="2660015"/>
          </a:xfrm>
          <a:prstGeom prst="rect">
            <a:avLst/>
          </a:prstGeom>
        </p:spPr>
        <p:txBody>
          <a:bodyPr wrap="square" lIns="0" tIns="12065" rIns="0" bIns="0" rtlCol="0" vert="horz">
            <a:spAutoFit/>
          </a:bodyPr>
          <a:lstStyle/>
          <a:p>
            <a:pPr marL="96520">
              <a:lnSpc>
                <a:spcPct val="100000"/>
              </a:lnSpc>
              <a:spcBef>
                <a:spcPts val="95"/>
              </a:spcBef>
            </a:pPr>
            <a:r>
              <a:rPr dirty="0" sz="800" spc="-25">
                <a:latin typeface="Microsoft YaHei"/>
                <a:cs typeface="Microsoft YaHei"/>
              </a:rPr>
              <a:t>60G</a:t>
            </a:r>
            <a:endParaRPr sz="800">
              <a:latin typeface="Microsoft YaHei"/>
              <a:cs typeface="Microsoft YaHei"/>
            </a:endParaRPr>
          </a:p>
          <a:p>
            <a:pPr marL="96520">
              <a:lnSpc>
                <a:spcPct val="100000"/>
              </a:lnSpc>
              <a:spcBef>
                <a:spcPts val="690"/>
              </a:spcBef>
            </a:pPr>
            <a:r>
              <a:rPr dirty="0" sz="800" spc="-25">
                <a:latin typeface="Microsoft YaHei"/>
                <a:cs typeface="Microsoft YaHei"/>
              </a:rPr>
              <a:t>30G</a:t>
            </a:r>
            <a:endParaRPr sz="800">
              <a:latin typeface="Microsoft YaHei"/>
              <a:cs typeface="Microsoft YaHei"/>
            </a:endParaRPr>
          </a:p>
          <a:p>
            <a:pPr marL="96520">
              <a:lnSpc>
                <a:spcPct val="100000"/>
              </a:lnSpc>
              <a:spcBef>
                <a:spcPts val="690"/>
              </a:spcBef>
            </a:pPr>
            <a:r>
              <a:rPr dirty="0" sz="800" spc="-25">
                <a:latin typeface="Microsoft YaHei"/>
                <a:cs typeface="Microsoft YaHei"/>
              </a:rPr>
              <a:t>28G</a:t>
            </a:r>
            <a:endParaRPr sz="800">
              <a:latin typeface="Microsoft YaHei"/>
              <a:cs typeface="Microsoft YaHei"/>
            </a:endParaRPr>
          </a:p>
          <a:p>
            <a:pPr marL="96520">
              <a:lnSpc>
                <a:spcPct val="100000"/>
              </a:lnSpc>
              <a:spcBef>
                <a:spcPts val="690"/>
              </a:spcBef>
            </a:pPr>
            <a:r>
              <a:rPr dirty="0" sz="800" spc="-25">
                <a:latin typeface="Microsoft YaHei"/>
                <a:cs typeface="Microsoft YaHei"/>
              </a:rPr>
              <a:t>26G</a:t>
            </a:r>
            <a:endParaRPr sz="800">
              <a:latin typeface="Microsoft YaHei"/>
              <a:cs typeface="Microsoft YaHei"/>
            </a:endParaRPr>
          </a:p>
          <a:p>
            <a:pPr marL="96520">
              <a:lnSpc>
                <a:spcPct val="100000"/>
              </a:lnSpc>
              <a:spcBef>
                <a:spcPts val="685"/>
              </a:spcBef>
            </a:pPr>
            <a:r>
              <a:rPr dirty="0" sz="800" spc="-25">
                <a:latin typeface="Microsoft YaHei"/>
                <a:cs typeface="Microsoft YaHei"/>
              </a:rPr>
              <a:t>20G</a:t>
            </a:r>
            <a:endParaRPr sz="800">
              <a:latin typeface="Microsoft YaHei"/>
              <a:cs typeface="Microsoft YaHei"/>
            </a:endParaRPr>
          </a:p>
          <a:p>
            <a:pPr marL="154940">
              <a:lnSpc>
                <a:spcPct val="100000"/>
              </a:lnSpc>
              <a:spcBef>
                <a:spcPts val="690"/>
              </a:spcBef>
            </a:pPr>
            <a:r>
              <a:rPr dirty="0" sz="800" spc="-25">
                <a:latin typeface="Microsoft YaHei"/>
                <a:cs typeface="Microsoft YaHei"/>
              </a:rPr>
              <a:t>6G</a:t>
            </a:r>
            <a:endParaRPr sz="800">
              <a:latin typeface="Microsoft YaHei"/>
              <a:cs typeface="Microsoft YaHei"/>
            </a:endParaRPr>
          </a:p>
          <a:p>
            <a:pPr marL="71755">
              <a:lnSpc>
                <a:spcPct val="100000"/>
              </a:lnSpc>
              <a:spcBef>
                <a:spcPts val="690"/>
              </a:spcBef>
            </a:pPr>
            <a:r>
              <a:rPr dirty="0" sz="800" spc="-20">
                <a:latin typeface="Microsoft YaHei"/>
                <a:cs typeface="Microsoft YaHei"/>
              </a:rPr>
              <a:t>3.8G</a:t>
            </a:r>
            <a:endParaRPr sz="800">
              <a:latin typeface="Microsoft YaHei"/>
              <a:cs typeface="Microsoft YaHei"/>
            </a:endParaRPr>
          </a:p>
          <a:p>
            <a:pPr marL="71755">
              <a:lnSpc>
                <a:spcPct val="100000"/>
              </a:lnSpc>
              <a:spcBef>
                <a:spcPts val="685"/>
              </a:spcBef>
            </a:pPr>
            <a:r>
              <a:rPr dirty="0" sz="800" spc="-20">
                <a:latin typeface="Microsoft YaHei"/>
                <a:cs typeface="Microsoft YaHei"/>
              </a:rPr>
              <a:t>3.5G</a:t>
            </a:r>
            <a:endParaRPr sz="800">
              <a:latin typeface="Microsoft YaHei"/>
              <a:cs typeface="Microsoft YaHei"/>
            </a:endParaRPr>
          </a:p>
          <a:p>
            <a:pPr marL="71755">
              <a:lnSpc>
                <a:spcPct val="100000"/>
              </a:lnSpc>
              <a:spcBef>
                <a:spcPts val="690"/>
              </a:spcBef>
            </a:pPr>
            <a:r>
              <a:rPr dirty="0" sz="800" spc="-20">
                <a:latin typeface="Microsoft YaHei"/>
                <a:cs typeface="Microsoft YaHei"/>
              </a:rPr>
              <a:t>2.6G</a:t>
            </a:r>
            <a:endParaRPr sz="800">
              <a:latin typeface="Microsoft YaHei"/>
              <a:cs typeface="Microsoft YaHei"/>
            </a:endParaRPr>
          </a:p>
          <a:p>
            <a:pPr marL="71755">
              <a:lnSpc>
                <a:spcPct val="100000"/>
              </a:lnSpc>
              <a:spcBef>
                <a:spcPts val="690"/>
              </a:spcBef>
            </a:pPr>
            <a:r>
              <a:rPr dirty="0" sz="800" spc="-20">
                <a:latin typeface="Microsoft YaHei"/>
                <a:cs typeface="Microsoft YaHei"/>
              </a:rPr>
              <a:t>2.1G</a:t>
            </a:r>
            <a:endParaRPr sz="800">
              <a:latin typeface="Microsoft YaHei"/>
              <a:cs typeface="Microsoft YaHei"/>
            </a:endParaRPr>
          </a:p>
          <a:p>
            <a:pPr marL="71755">
              <a:lnSpc>
                <a:spcPct val="100000"/>
              </a:lnSpc>
              <a:spcBef>
                <a:spcPts val="690"/>
              </a:spcBef>
            </a:pPr>
            <a:r>
              <a:rPr dirty="0" sz="800" spc="-20">
                <a:latin typeface="Microsoft YaHei"/>
                <a:cs typeface="Microsoft YaHei"/>
              </a:rPr>
              <a:t>1.8G</a:t>
            </a:r>
            <a:endParaRPr sz="800">
              <a:latin typeface="Microsoft YaHei"/>
              <a:cs typeface="Microsoft YaHei"/>
            </a:endParaRPr>
          </a:p>
          <a:p>
            <a:pPr marL="12700">
              <a:lnSpc>
                <a:spcPct val="100000"/>
              </a:lnSpc>
              <a:spcBef>
                <a:spcPts val="685"/>
              </a:spcBef>
            </a:pPr>
            <a:r>
              <a:rPr dirty="0" sz="800" spc="-20">
                <a:latin typeface="Microsoft YaHei"/>
                <a:cs typeface="Microsoft YaHei"/>
              </a:rPr>
              <a:t>900M</a:t>
            </a:r>
            <a:endParaRPr sz="800">
              <a:latin typeface="Microsoft YaHei"/>
              <a:cs typeface="Microsoft YaHei"/>
            </a:endParaRPr>
          </a:p>
          <a:p>
            <a:pPr marL="12700">
              <a:lnSpc>
                <a:spcPct val="100000"/>
              </a:lnSpc>
              <a:spcBef>
                <a:spcPts val="690"/>
              </a:spcBef>
            </a:pPr>
            <a:r>
              <a:rPr dirty="0" sz="800" spc="-20">
                <a:latin typeface="Microsoft YaHei"/>
                <a:cs typeface="Microsoft YaHei"/>
              </a:rPr>
              <a:t>800M</a:t>
            </a:r>
            <a:endParaRPr sz="800">
              <a:latin typeface="Microsoft YaHei"/>
              <a:cs typeface="Microsoft YaHei"/>
            </a:endParaRPr>
          </a:p>
        </p:txBody>
      </p:sp>
      <p:sp>
        <p:nvSpPr>
          <p:cNvPr id="14" name="object 14" descr=""/>
          <p:cNvSpPr txBox="1"/>
          <p:nvPr/>
        </p:nvSpPr>
        <p:spPr>
          <a:xfrm>
            <a:off x="1366634" y="4159488"/>
            <a:ext cx="1299210" cy="527685"/>
          </a:xfrm>
          <a:prstGeom prst="rect">
            <a:avLst/>
          </a:prstGeom>
        </p:spPr>
        <p:txBody>
          <a:bodyPr wrap="square" lIns="0" tIns="12065" rIns="0" bIns="0" rtlCol="0" vert="horz">
            <a:spAutoFit/>
          </a:bodyPr>
          <a:lstStyle/>
          <a:p>
            <a:pPr algn="r" marR="87630">
              <a:lnSpc>
                <a:spcPct val="100000"/>
              </a:lnSpc>
              <a:spcBef>
                <a:spcPts val="95"/>
              </a:spcBef>
            </a:pPr>
            <a:r>
              <a:rPr dirty="0" sz="800" spc="-15">
                <a:latin typeface="Microsoft YaHei"/>
                <a:cs typeface="Microsoft YaHei"/>
              </a:rPr>
              <a:t>业务：语音+低速数据业务</a:t>
            </a:r>
            <a:endParaRPr sz="800">
              <a:latin typeface="Microsoft YaHei"/>
              <a:cs typeface="Microsoft YaHei"/>
            </a:endParaRPr>
          </a:p>
          <a:p>
            <a:pPr algn="r" marR="62230">
              <a:lnSpc>
                <a:spcPct val="100000"/>
              </a:lnSpc>
              <a:spcBef>
                <a:spcPts val="869"/>
              </a:spcBef>
            </a:pPr>
            <a:r>
              <a:rPr dirty="0" sz="800" spc="-15">
                <a:latin typeface="Microsoft YaHei"/>
                <a:cs typeface="Microsoft YaHei"/>
              </a:rPr>
              <a:t>方案：室外覆盖室内为主，</a:t>
            </a:r>
            <a:endParaRPr sz="800">
              <a:latin typeface="Microsoft YaHei"/>
              <a:cs typeface="Microsoft YaHei"/>
            </a:endParaRPr>
          </a:p>
          <a:p>
            <a:pPr algn="r" marR="5080">
              <a:lnSpc>
                <a:spcPct val="100000"/>
              </a:lnSpc>
              <a:spcBef>
                <a:spcPts val="204"/>
              </a:spcBef>
            </a:pPr>
            <a:r>
              <a:rPr dirty="0" sz="800" spc="-10">
                <a:latin typeface="Microsoft YaHei"/>
                <a:cs typeface="Microsoft YaHei"/>
              </a:rPr>
              <a:t>VIP</a:t>
            </a:r>
            <a:r>
              <a:rPr dirty="0" sz="800" spc="-20">
                <a:latin typeface="Microsoft YaHei"/>
                <a:cs typeface="Microsoft YaHei"/>
              </a:rPr>
              <a:t>区域室内专门覆盖</a:t>
            </a:r>
            <a:endParaRPr sz="800">
              <a:latin typeface="Microsoft YaHei"/>
              <a:cs typeface="Microsoft YaHei"/>
            </a:endParaRPr>
          </a:p>
        </p:txBody>
      </p:sp>
      <p:sp>
        <p:nvSpPr>
          <p:cNvPr id="15" name="object 15" descr=""/>
          <p:cNvSpPr txBox="1"/>
          <p:nvPr/>
        </p:nvSpPr>
        <p:spPr>
          <a:xfrm>
            <a:off x="3550310" y="3670542"/>
            <a:ext cx="2487295" cy="685800"/>
          </a:xfrm>
          <a:prstGeom prst="rect">
            <a:avLst/>
          </a:prstGeom>
        </p:spPr>
        <p:txBody>
          <a:bodyPr wrap="square" lIns="0" tIns="12065" rIns="0" bIns="0" rtlCol="0" vert="horz">
            <a:spAutoFit/>
          </a:bodyPr>
          <a:lstStyle/>
          <a:p>
            <a:pPr marL="12700">
              <a:lnSpc>
                <a:spcPct val="100000"/>
              </a:lnSpc>
              <a:spcBef>
                <a:spcPts val="95"/>
              </a:spcBef>
            </a:pPr>
            <a:r>
              <a:rPr dirty="0" sz="800" spc="-15">
                <a:latin typeface="Microsoft YaHei"/>
                <a:cs typeface="Microsoft YaHei"/>
              </a:rPr>
              <a:t>业务：</a:t>
            </a:r>
            <a:r>
              <a:rPr dirty="0" sz="800" spc="-20">
                <a:latin typeface="Microsoft YaHei"/>
                <a:cs typeface="Microsoft YaHei"/>
              </a:rPr>
              <a:t>Web、视频、游戏</a:t>
            </a:r>
            <a:endParaRPr sz="800">
              <a:latin typeface="Microsoft YaHei"/>
              <a:cs typeface="Microsoft YaHei"/>
            </a:endParaRPr>
          </a:p>
          <a:p>
            <a:pPr marL="314960" marR="5080" indent="-302895">
              <a:lnSpc>
                <a:spcPct val="121300"/>
              </a:lnSpc>
              <a:spcBef>
                <a:spcPts val="755"/>
              </a:spcBef>
            </a:pPr>
            <a:r>
              <a:rPr dirty="0" sz="800" spc="-10">
                <a:latin typeface="Microsoft YaHei"/>
                <a:cs typeface="Microsoft YaHei"/>
              </a:rPr>
              <a:t>方案：热点室内容量方案（交通枢纽/场馆/地铁/校园</a:t>
            </a:r>
            <a:r>
              <a:rPr dirty="0" sz="800" spc="-50">
                <a:latin typeface="Microsoft YaHei"/>
                <a:cs typeface="Microsoft YaHei"/>
              </a:rPr>
              <a:t>）</a:t>
            </a:r>
            <a:r>
              <a:rPr dirty="0" sz="800" spc="-10">
                <a:latin typeface="Microsoft YaHei"/>
                <a:cs typeface="Microsoft YaHei"/>
              </a:rPr>
              <a:t>普通室内独立覆盖提升体验（商务楼</a:t>
            </a:r>
            <a:r>
              <a:rPr dirty="0" sz="800" spc="-50">
                <a:latin typeface="Microsoft YaHei"/>
                <a:cs typeface="Microsoft YaHei"/>
              </a:rPr>
              <a:t>）</a:t>
            </a:r>
            <a:endParaRPr sz="800">
              <a:latin typeface="Microsoft YaHei"/>
              <a:cs typeface="Microsoft YaHei"/>
            </a:endParaRPr>
          </a:p>
          <a:p>
            <a:pPr marL="314960">
              <a:lnSpc>
                <a:spcPct val="100000"/>
              </a:lnSpc>
              <a:spcBef>
                <a:spcPts val="200"/>
              </a:spcBef>
            </a:pPr>
            <a:r>
              <a:rPr dirty="0" sz="800" spc="-10">
                <a:latin typeface="Microsoft YaHei"/>
                <a:cs typeface="Microsoft YaHei"/>
              </a:rPr>
              <a:t>室外覆盖室内为辅（居民区</a:t>
            </a:r>
            <a:r>
              <a:rPr dirty="0" sz="800" spc="-50">
                <a:latin typeface="Microsoft YaHei"/>
                <a:cs typeface="Microsoft YaHei"/>
              </a:rPr>
              <a:t>）</a:t>
            </a:r>
            <a:endParaRPr sz="800">
              <a:latin typeface="Microsoft YaHei"/>
              <a:cs typeface="Microsoft YaHei"/>
            </a:endParaRPr>
          </a:p>
        </p:txBody>
      </p:sp>
      <p:sp>
        <p:nvSpPr>
          <p:cNvPr id="16" name="object 16" descr=""/>
          <p:cNvSpPr/>
          <p:nvPr/>
        </p:nvSpPr>
        <p:spPr>
          <a:xfrm>
            <a:off x="3513899" y="3208616"/>
            <a:ext cx="2447925" cy="415925"/>
          </a:xfrm>
          <a:custGeom>
            <a:avLst/>
            <a:gdLst/>
            <a:ahLst/>
            <a:cxnLst/>
            <a:rect l="l" t="t" r="r" b="b"/>
            <a:pathLst>
              <a:path w="2447925" h="415925">
                <a:moveTo>
                  <a:pt x="2447531" y="0"/>
                </a:moveTo>
                <a:lnTo>
                  <a:pt x="0" y="0"/>
                </a:lnTo>
                <a:lnTo>
                  <a:pt x="0" y="415493"/>
                </a:lnTo>
                <a:lnTo>
                  <a:pt x="2447531" y="415493"/>
                </a:lnTo>
                <a:lnTo>
                  <a:pt x="2447531" y="0"/>
                </a:lnTo>
                <a:close/>
              </a:path>
            </a:pathLst>
          </a:custGeom>
          <a:solidFill>
            <a:srgbClr val="00B0F0">
              <a:alpha val="50195"/>
            </a:srgbClr>
          </a:solidFill>
        </p:spPr>
        <p:txBody>
          <a:bodyPr wrap="square" lIns="0" tIns="0" rIns="0" bIns="0" rtlCol="0"/>
          <a:lstStyle/>
          <a:p/>
        </p:txBody>
      </p:sp>
      <p:sp>
        <p:nvSpPr>
          <p:cNvPr id="17" name="object 17" descr=""/>
          <p:cNvSpPr txBox="1"/>
          <p:nvPr/>
        </p:nvSpPr>
        <p:spPr>
          <a:xfrm>
            <a:off x="3666670" y="3199298"/>
            <a:ext cx="2142490" cy="382270"/>
          </a:xfrm>
          <a:prstGeom prst="rect">
            <a:avLst/>
          </a:prstGeom>
        </p:spPr>
        <p:txBody>
          <a:bodyPr wrap="square" lIns="0" tIns="12700" rIns="0" bIns="0" rtlCol="0" vert="horz">
            <a:spAutoFit/>
          </a:bodyPr>
          <a:lstStyle/>
          <a:p>
            <a:pPr marL="561975" marR="5080" indent="-549910">
              <a:lnSpc>
                <a:spcPct val="117000"/>
              </a:lnSpc>
              <a:spcBef>
                <a:spcPts val="100"/>
              </a:spcBef>
            </a:pPr>
            <a:r>
              <a:rPr dirty="0" sz="1000">
                <a:solidFill>
                  <a:srgbClr val="002060"/>
                </a:solidFill>
                <a:latin typeface="Microsoft YaHei"/>
                <a:cs typeface="Microsoft YaHei"/>
              </a:rPr>
              <a:t>3G4G</a:t>
            </a:r>
            <a:r>
              <a:rPr dirty="0" sz="1000" spc="-15">
                <a:solidFill>
                  <a:srgbClr val="002060"/>
                </a:solidFill>
                <a:latin typeface="Microsoft YaHei"/>
                <a:cs typeface="Microsoft YaHei"/>
              </a:rPr>
              <a:t>时代，室内成为数据业务重载区</a:t>
            </a:r>
            <a:r>
              <a:rPr dirty="0" sz="1000">
                <a:solidFill>
                  <a:srgbClr val="002060"/>
                </a:solidFill>
                <a:latin typeface="Microsoft YaHei"/>
                <a:cs typeface="Microsoft YaHei"/>
              </a:rPr>
              <a:t>是</a:t>
            </a:r>
            <a:r>
              <a:rPr dirty="0" sz="1000" spc="-10">
                <a:solidFill>
                  <a:srgbClr val="C00000"/>
                </a:solidFill>
                <a:latin typeface="Microsoft YaHei"/>
                <a:cs typeface="Microsoft YaHei"/>
              </a:rPr>
              <a:t>宏网的补热分流</a:t>
            </a:r>
            <a:endParaRPr sz="1000">
              <a:latin typeface="Microsoft YaHei"/>
              <a:cs typeface="Microsoft YaHei"/>
            </a:endParaRPr>
          </a:p>
        </p:txBody>
      </p:sp>
      <p:sp>
        <p:nvSpPr>
          <p:cNvPr id="18" name="object 18" descr=""/>
          <p:cNvSpPr/>
          <p:nvPr/>
        </p:nvSpPr>
        <p:spPr>
          <a:xfrm>
            <a:off x="6121400" y="2130983"/>
            <a:ext cx="2135505" cy="377190"/>
          </a:xfrm>
          <a:custGeom>
            <a:avLst/>
            <a:gdLst/>
            <a:ahLst/>
            <a:cxnLst/>
            <a:rect l="l" t="t" r="r" b="b"/>
            <a:pathLst>
              <a:path w="2135504" h="377189">
                <a:moveTo>
                  <a:pt x="2135238" y="0"/>
                </a:moveTo>
                <a:lnTo>
                  <a:pt x="0" y="0"/>
                </a:lnTo>
                <a:lnTo>
                  <a:pt x="0" y="377024"/>
                </a:lnTo>
                <a:lnTo>
                  <a:pt x="2135238" y="377024"/>
                </a:lnTo>
                <a:lnTo>
                  <a:pt x="2135238" y="0"/>
                </a:lnTo>
                <a:close/>
              </a:path>
            </a:pathLst>
          </a:custGeom>
          <a:solidFill>
            <a:srgbClr val="666666">
              <a:alpha val="50195"/>
            </a:srgbClr>
          </a:solidFill>
        </p:spPr>
        <p:txBody>
          <a:bodyPr wrap="square" lIns="0" tIns="0" rIns="0" bIns="0" rtlCol="0"/>
          <a:lstStyle/>
          <a:p/>
        </p:txBody>
      </p:sp>
      <p:sp>
        <p:nvSpPr>
          <p:cNvPr id="19" name="object 19" descr=""/>
          <p:cNvSpPr txBox="1"/>
          <p:nvPr/>
        </p:nvSpPr>
        <p:spPr>
          <a:xfrm>
            <a:off x="6202166" y="2147241"/>
            <a:ext cx="1974850" cy="330835"/>
          </a:xfrm>
          <a:prstGeom prst="rect">
            <a:avLst/>
          </a:prstGeom>
        </p:spPr>
        <p:txBody>
          <a:bodyPr wrap="square" lIns="0" tIns="12700" rIns="0" bIns="0" rtlCol="0" vert="horz">
            <a:spAutoFit/>
          </a:bodyPr>
          <a:lstStyle/>
          <a:p>
            <a:pPr marL="223520" marR="5080" indent="-211454">
              <a:lnSpc>
                <a:spcPct val="100000"/>
              </a:lnSpc>
              <a:spcBef>
                <a:spcPts val="100"/>
              </a:spcBef>
            </a:pPr>
            <a:r>
              <a:rPr dirty="0" sz="1000">
                <a:solidFill>
                  <a:srgbClr val="C00000"/>
                </a:solidFill>
                <a:latin typeface="Microsoft YaHei"/>
                <a:cs typeface="Microsoft YaHei"/>
              </a:rPr>
              <a:t>5G</a:t>
            </a:r>
            <a:r>
              <a:rPr dirty="0" sz="1000" spc="-15">
                <a:solidFill>
                  <a:srgbClr val="C00000"/>
                </a:solidFill>
                <a:latin typeface="Microsoft YaHei"/>
                <a:cs typeface="Microsoft YaHei"/>
              </a:rPr>
              <a:t>时代，室内将成为丰富应用的出</a:t>
            </a:r>
            <a:r>
              <a:rPr dirty="0" sz="1000" spc="-10">
                <a:solidFill>
                  <a:srgbClr val="C00000"/>
                </a:solidFill>
                <a:latin typeface="Microsoft YaHei"/>
                <a:cs typeface="Microsoft YaHei"/>
              </a:rPr>
              <a:t>口是整体网络的高价值核心</a:t>
            </a:r>
            <a:endParaRPr sz="1000">
              <a:latin typeface="Microsoft YaHei"/>
              <a:cs typeface="Microsoft YaHei"/>
            </a:endParaRPr>
          </a:p>
        </p:txBody>
      </p:sp>
      <p:sp>
        <p:nvSpPr>
          <p:cNvPr id="20" name="object 20" descr=""/>
          <p:cNvSpPr/>
          <p:nvPr/>
        </p:nvSpPr>
        <p:spPr>
          <a:xfrm>
            <a:off x="1282839" y="3666172"/>
            <a:ext cx="2112010" cy="415925"/>
          </a:xfrm>
          <a:custGeom>
            <a:avLst/>
            <a:gdLst/>
            <a:ahLst/>
            <a:cxnLst/>
            <a:rect l="l" t="t" r="r" b="b"/>
            <a:pathLst>
              <a:path w="2112010" h="415925">
                <a:moveTo>
                  <a:pt x="2111451" y="0"/>
                </a:moveTo>
                <a:lnTo>
                  <a:pt x="0" y="0"/>
                </a:lnTo>
                <a:lnTo>
                  <a:pt x="0" y="415493"/>
                </a:lnTo>
                <a:lnTo>
                  <a:pt x="2111451" y="415493"/>
                </a:lnTo>
                <a:lnTo>
                  <a:pt x="2111451" y="0"/>
                </a:lnTo>
                <a:close/>
              </a:path>
            </a:pathLst>
          </a:custGeom>
          <a:solidFill>
            <a:srgbClr val="92D050">
              <a:alpha val="50195"/>
            </a:srgbClr>
          </a:solidFill>
        </p:spPr>
        <p:txBody>
          <a:bodyPr wrap="square" lIns="0" tIns="0" rIns="0" bIns="0" rtlCol="0"/>
          <a:lstStyle/>
          <a:p/>
        </p:txBody>
      </p:sp>
      <p:sp>
        <p:nvSpPr>
          <p:cNvPr id="21" name="object 21" descr=""/>
          <p:cNvSpPr txBox="1"/>
          <p:nvPr/>
        </p:nvSpPr>
        <p:spPr>
          <a:xfrm>
            <a:off x="1605005" y="3656850"/>
            <a:ext cx="1466850" cy="382270"/>
          </a:xfrm>
          <a:prstGeom prst="rect">
            <a:avLst/>
          </a:prstGeom>
        </p:spPr>
        <p:txBody>
          <a:bodyPr wrap="square" lIns="0" tIns="12700" rIns="0" bIns="0" rtlCol="0" vert="horz">
            <a:spAutoFit/>
          </a:bodyPr>
          <a:lstStyle/>
          <a:p>
            <a:pPr marL="224154" marR="5080" indent="-212090">
              <a:lnSpc>
                <a:spcPct val="117000"/>
              </a:lnSpc>
              <a:spcBef>
                <a:spcPts val="100"/>
              </a:spcBef>
            </a:pPr>
            <a:r>
              <a:rPr dirty="0" sz="1000">
                <a:solidFill>
                  <a:srgbClr val="002060"/>
                </a:solidFill>
                <a:latin typeface="Microsoft YaHei"/>
                <a:cs typeface="Microsoft YaHei"/>
              </a:rPr>
              <a:t>2G</a:t>
            </a:r>
            <a:r>
              <a:rPr dirty="0" sz="1000" spc="-10">
                <a:solidFill>
                  <a:srgbClr val="002060"/>
                </a:solidFill>
                <a:latin typeface="Microsoft YaHei"/>
                <a:cs typeface="Microsoft YaHei"/>
              </a:rPr>
              <a:t>时代，室内为补盲而生</a:t>
            </a:r>
            <a:r>
              <a:rPr dirty="0" sz="1000">
                <a:solidFill>
                  <a:srgbClr val="002060"/>
                </a:solidFill>
                <a:latin typeface="Microsoft YaHei"/>
                <a:cs typeface="Microsoft YaHei"/>
              </a:rPr>
              <a:t>是</a:t>
            </a:r>
            <a:r>
              <a:rPr dirty="0" sz="1000" spc="-10">
                <a:solidFill>
                  <a:srgbClr val="C00000"/>
                </a:solidFill>
                <a:latin typeface="Microsoft YaHei"/>
                <a:cs typeface="Microsoft YaHei"/>
              </a:rPr>
              <a:t>宏网的覆盖延伸</a:t>
            </a:r>
            <a:endParaRPr sz="1000">
              <a:latin typeface="Microsoft YaHei"/>
              <a:cs typeface="Microsoft YaHei"/>
            </a:endParaRPr>
          </a:p>
        </p:txBody>
      </p:sp>
      <p:sp>
        <p:nvSpPr>
          <p:cNvPr id="22" name="object 22" descr=""/>
          <p:cNvSpPr txBox="1"/>
          <p:nvPr/>
        </p:nvSpPr>
        <p:spPr>
          <a:xfrm>
            <a:off x="681939" y="1934019"/>
            <a:ext cx="160020" cy="932180"/>
          </a:xfrm>
          <a:prstGeom prst="rect">
            <a:avLst/>
          </a:prstGeom>
          <a:solidFill>
            <a:srgbClr val="808080"/>
          </a:solidFill>
        </p:spPr>
        <p:txBody>
          <a:bodyPr wrap="square" lIns="0" tIns="85725" rIns="0" bIns="0" rtlCol="0" vert="horz">
            <a:spAutoFit/>
          </a:bodyPr>
          <a:lstStyle/>
          <a:p>
            <a:pPr>
              <a:lnSpc>
                <a:spcPct val="100000"/>
              </a:lnSpc>
              <a:spcBef>
                <a:spcPts val="675"/>
              </a:spcBef>
            </a:pPr>
            <a:endParaRPr sz="1000">
              <a:latin typeface="Times New Roman"/>
              <a:cs typeface="Times New Roman"/>
            </a:endParaRPr>
          </a:p>
          <a:p>
            <a:pPr algn="just" marL="15875" marR="8255">
              <a:lnSpc>
                <a:spcPct val="100000"/>
              </a:lnSpc>
            </a:pPr>
            <a:r>
              <a:rPr dirty="0" sz="1000" spc="-50">
                <a:solidFill>
                  <a:srgbClr val="FFFFFF"/>
                </a:solidFill>
                <a:latin typeface="Microsoft YaHei"/>
                <a:cs typeface="Microsoft YaHei"/>
              </a:rPr>
              <a:t>毫米波</a:t>
            </a:r>
            <a:endParaRPr sz="1000">
              <a:latin typeface="Microsoft YaHei"/>
              <a:cs typeface="Microsoft YaHei"/>
            </a:endParaRPr>
          </a:p>
        </p:txBody>
      </p:sp>
      <p:sp>
        <p:nvSpPr>
          <p:cNvPr id="23" name="object 23" descr=""/>
          <p:cNvSpPr/>
          <p:nvPr/>
        </p:nvSpPr>
        <p:spPr>
          <a:xfrm>
            <a:off x="681939" y="2943771"/>
            <a:ext cx="167640" cy="572770"/>
          </a:xfrm>
          <a:custGeom>
            <a:avLst/>
            <a:gdLst/>
            <a:ahLst/>
            <a:cxnLst/>
            <a:rect l="l" t="t" r="r" b="b"/>
            <a:pathLst>
              <a:path w="167640" h="572770">
                <a:moveTo>
                  <a:pt x="167525" y="0"/>
                </a:moveTo>
                <a:lnTo>
                  <a:pt x="0" y="0"/>
                </a:lnTo>
                <a:lnTo>
                  <a:pt x="0" y="572338"/>
                </a:lnTo>
                <a:lnTo>
                  <a:pt x="167525" y="572338"/>
                </a:lnTo>
                <a:lnTo>
                  <a:pt x="167525" y="0"/>
                </a:lnTo>
                <a:close/>
              </a:path>
            </a:pathLst>
          </a:custGeom>
          <a:solidFill>
            <a:srgbClr val="808080"/>
          </a:solidFill>
        </p:spPr>
        <p:txBody>
          <a:bodyPr wrap="square" lIns="0" tIns="0" rIns="0" bIns="0" rtlCol="0"/>
          <a:lstStyle/>
          <a:p/>
        </p:txBody>
      </p:sp>
      <p:sp>
        <p:nvSpPr>
          <p:cNvPr id="24" name="object 24" descr=""/>
          <p:cNvSpPr txBox="1"/>
          <p:nvPr/>
        </p:nvSpPr>
        <p:spPr>
          <a:xfrm>
            <a:off x="681939" y="2943771"/>
            <a:ext cx="167640" cy="205104"/>
          </a:xfrm>
          <a:prstGeom prst="rect">
            <a:avLst/>
          </a:prstGeom>
          <a:solidFill>
            <a:srgbClr val="808080"/>
          </a:solidFill>
        </p:spPr>
        <p:txBody>
          <a:bodyPr wrap="square" lIns="0" tIns="52069" rIns="0" bIns="0" rtlCol="0" vert="horz">
            <a:spAutoFit/>
          </a:bodyPr>
          <a:lstStyle/>
          <a:p>
            <a:pPr marL="19685">
              <a:lnSpc>
                <a:spcPct val="100000"/>
              </a:lnSpc>
              <a:spcBef>
                <a:spcPts val="409"/>
              </a:spcBef>
            </a:pPr>
            <a:r>
              <a:rPr dirty="0" sz="1000" spc="-50">
                <a:solidFill>
                  <a:srgbClr val="FFFFFF"/>
                </a:solidFill>
                <a:latin typeface="Microsoft YaHei"/>
                <a:cs typeface="Microsoft YaHei"/>
              </a:rPr>
              <a:t>C</a:t>
            </a:r>
            <a:endParaRPr sz="1000">
              <a:latin typeface="Microsoft YaHei"/>
              <a:cs typeface="Microsoft YaHei"/>
            </a:endParaRPr>
          </a:p>
        </p:txBody>
      </p:sp>
      <p:sp>
        <p:nvSpPr>
          <p:cNvPr id="25" name="object 25" descr=""/>
          <p:cNvSpPr txBox="1"/>
          <p:nvPr/>
        </p:nvSpPr>
        <p:spPr>
          <a:xfrm>
            <a:off x="681939" y="3148814"/>
            <a:ext cx="167640" cy="153035"/>
          </a:xfrm>
          <a:prstGeom prst="rect">
            <a:avLst/>
          </a:prstGeom>
          <a:solidFill>
            <a:srgbClr val="808080"/>
          </a:solidFill>
        </p:spPr>
        <p:txBody>
          <a:bodyPr wrap="square" lIns="0" tIns="0" rIns="0" bIns="0" rtlCol="0" vert="horz">
            <a:spAutoFit/>
          </a:bodyPr>
          <a:lstStyle/>
          <a:p>
            <a:pPr marL="19685">
              <a:lnSpc>
                <a:spcPct val="100000"/>
              </a:lnSpc>
            </a:pPr>
            <a:r>
              <a:rPr dirty="0" sz="1000" spc="-50">
                <a:solidFill>
                  <a:srgbClr val="FFFFFF"/>
                </a:solidFill>
                <a:latin typeface="Microsoft YaHei"/>
                <a:cs typeface="Microsoft YaHei"/>
              </a:rPr>
              <a:t>波</a:t>
            </a:r>
            <a:endParaRPr sz="1000">
              <a:latin typeface="Microsoft YaHei"/>
              <a:cs typeface="Microsoft YaHei"/>
            </a:endParaRPr>
          </a:p>
        </p:txBody>
      </p:sp>
      <p:sp>
        <p:nvSpPr>
          <p:cNvPr id="26" name="object 26" descr=""/>
          <p:cNvSpPr txBox="1"/>
          <p:nvPr/>
        </p:nvSpPr>
        <p:spPr>
          <a:xfrm>
            <a:off x="681939" y="3301265"/>
            <a:ext cx="167640" cy="215265"/>
          </a:xfrm>
          <a:prstGeom prst="rect">
            <a:avLst/>
          </a:prstGeom>
          <a:solidFill>
            <a:srgbClr val="808080"/>
          </a:solidFill>
        </p:spPr>
        <p:txBody>
          <a:bodyPr wrap="square" lIns="0" tIns="0" rIns="0" bIns="0" rtlCol="0" vert="horz">
            <a:spAutoFit/>
          </a:bodyPr>
          <a:lstStyle/>
          <a:p>
            <a:pPr marL="19685">
              <a:lnSpc>
                <a:spcPct val="100000"/>
              </a:lnSpc>
            </a:pPr>
            <a:r>
              <a:rPr dirty="0" sz="1000" spc="-50">
                <a:solidFill>
                  <a:srgbClr val="FFFFFF"/>
                </a:solidFill>
                <a:latin typeface="Microsoft YaHei"/>
                <a:cs typeface="Microsoft YaHei"/>
              </a:rPr>
              <a:t>段</a:t>
            </a:r>
            <a:endParaRPr sz="1000">
              <a:latin typeface="Microsoft YaHei"/>
              <a:cs typeface="Microsoft YaHei"/>
            </a:endParaRPr>
          </a:p>
        </p:txBody>
      </p:sp>
      <p:sp>
        <p:nvSpPr>
          <p:cNvPr id="27" name="object 27" descr=""/>
          <p:cNvSpPr/>
          <p:nvPr/>
        </p:nvSpPr>
        <p:spPr>
          <a:xfrm>
            <a:off x="681939" y="3624859"/>
            <a:ext cx="167640" cy="955040"/>
          </a:xfrm>
          <a:custGeom>
            <a:avLst/>
            <a:gdLst/>
            <a:ahLst/>
            <a:cxnLst/>
            <a:rect l="l" t="t" r="r" b="b"/>
            <a:pathLst>
              <a:path w="167640" h="955039">
                <a:moveTo>
                  <a:pt x="167525" y="0"/>
                </a:moveTo>
                <a:lnTo>
                  <a:pt x="0" y="0"/>
                </a:lnTo>
                <a:lnTo>
                  <a:pt x="0" y="954887"/>
                </a:lnTo>
                <a:lnTo>
                  <a:pt x="167525" y="954887"/>
                </a:lnTo>
                <a:lnTo>
                  <a:pt x="167525" y="0"/>
                </a:lnTo>
                <a:close/>
              </a:path>
            </a:pathLst>
          </a:custGeom>
          <a:solidFill>
            <a:srgbClr val="808080"/>
          </a:solidFill>
        </p:spPr>
        <p:txBody>
          <a:bodyPr wrap="square" lIns="0" tIns="0" rIns="0" bIns="0" rtlCol="0"/>
          <a:lstStyle/>
          <a:p/>
        </p:txBody>
      </p:sp>
      <p:sp>
        <p:nvSpPr>
          <p:cNvPr id="28" name="object 28" descr=""/>
          <p:cNvSpPr txBox="1"/>
          <p:nvPr/>
        </p:nvSpPr>
        <p:spPr>
          <a:xfrm>
            <a:off x="669405" y="3842548"/>
            <a:ext cx="193675" cy="519430"/>
          </a:xfrm>
          <a:prstGeom prst="rect">
            <a:avLst/>
          </a:prstGeom>
        </p:spPr>
        <p:txBody>
          <a:bodyPr wrap="square" lIns="0" tIns="20320" rIns="0" bIns="0" rtlCol="0" vert="vert">
            <a:spAutoFit/>
          </a:bodyPr>
          <a:lstStyle/>
          <a:p>
            <a:pPr marL="12700">
              <a:lnSpc>
                <a:spcPct val="100000"/>
              </a:lnSpc>
              <a:spcBef>
                <a:spcPts val="160"/>
              </a:spcBef>
            </a:pPr>
            <a:r>
              <a:rPr dirty="0" sz="1000">
                <a:solidFill>
                  <a:srgbClr val="FFFFFF"/>
                </a:solidFill>
                <a:latin typeface="Microsoft YaHei"/>
                <a:cs typeface="Microsoft YaHei"/>
              </a:rPr>
              <a:t>Sub-</a:t>
            </a:r>
            <a:r>
              <a:rPr dirty="0" sz="1000" spc="-20">
                <a:solidFill>
                  <a:srgbClr val="FFFFFF"/>
                </a:solidFill>
                <a:latin typeface="Microsoft YaHei"/>
                <a:cs typeface="Microsoft YaHei"/>
              </a:rPr>
              <a:t> </a:t>
            </a:r>
            <a:r>
              <a:rPr dirty="0" sz="1000" spc="-35">
                <a:solidFill>
                  <a:srgbClr val="FFFFFF"/>
                </a:solidFill>
                <a:latin typeface="Microsoft YaHei"/>
                <a:cs typeface="Microsoft YaHei"/>
              </a:rPr>
              <a:t>3G</a:t>
            </a:r>
            <a:endParaRPr sz="1000">
              <a:latin typeface="Microsoft YaHei"/>
              <a:cs typeface="Microsoft YaHei"/>
            </a:endParaRPr>
          </a:p>
        </p:txBody>
      </p:sp>
      <p:sp>
        <p:nvSpPr>
          <p:cNvPr id="29" name="object 29" descr=""/>
          <p:cNvSpPr txBox="1"/>
          <p:nvPr/>
        </p:nvSpPr>
        <p:spPr>
          <a:xfrm>
            <a:off x="6260732" y="2616915"/>
            <a:ext cx="1943735" cy="792480"/>
          </a:xfrm>
          <a:prstGeom prst="rect">
            <a:avLst/>
          </a:prstGeom>
        </p:spPr>
        <p:txBody>
          <a:bodyPr wrap="square" lIns="0" tIns="12065" rIns="0" bIns="0" rtlCol="0" vert="horz">
            <a:spAutoFit/>
          </a:bodyPr>
          <a:lstStyle/>
          <a:p>
            <a:pPr marL="12700">
              <a:lnSpc>
                <a:spcPct val="100000"/>
              </a:lnSpc>
              <a:spcBef>
                <a:spcPts val="95"/>
              </a:spcBef>
            </a:pPr>
            <a:r>
              <a:rPr dirty="0" sz="800" spc="-15">
                <a:latin typeface="Microsoft YaHei"/>
                <a:cs typeface="Microsoft YaHei"/>
              </a:rPr>
              <a:t>业务：</a:t>
            </a:r>
            <a:r>
              <a:rPr dirty="0" sz="800" spc="-20">
                <a:latin typeface="Microsoft YaHei"/>
                <a:cs typeface="Microsoft YaHei"/>
              </a:rPr>
              <a:t>4K</a:t>
            </a:r>
            <a:r>
              <a:rPr dirty="0" sz="800" spc="-10">
                <a:latin typeface="Microsoft YaHei"/>
                <a:cs typeface="Microsoft YaHei"/>
              </a:rPr>
              <a:t>、8K、VR、360VR、AR、</a:t>
            </a:r>
            <a:r>
              <a:rPr dirty="0" sz="800">
                <a:latin typeface="Microsoft YaHei"/>
                <a:cs typeface="Microsoft YaHei"/>
              </a:rPr>
              <a:t>IoT</a:t>
            </a:r>
            <a:r>
              <a:rPr dirty="0" sz="800" spc="25">
                <a:latin typeface="Microsoft YaHei"/>
                <a:cs typeface="Microsoft YaHei"/>
              </a:rPr>
              <a:t> …</a:t>
            </a:r>
            <a:endParaRPr sz="800">
              <a:latin typeface="Microsoft YaHei"/>
              <a:cs typeface="Microsoft YaHei"/>
            </a:endParaRPr>
          </a:p>
          <a:p>
            <a:pPr marL="314960" marR="100330" indent="-302895">
              <a:lnSpc>
                <a:spcPct val="121300"/>
              </a:lnSpc>
              <a:spcBef>
                <a:spcPts val="635"/>
              </a:spcBef>
            </a:pPr>
            <a:r>
              <a:rPr dirty="0" sz="800" spc="-10">
                <a:latin typeface="Microsoft YaHei"/>
                <a:cs typeface="Microsoft YaHei"/>
              </a:rPr>
              <a:t>方案：超级热点：</a:t>
            </a:r>
            <a:r>
              <a:rPr dirty="0" sz="800" spc="-10">
                <a:solidFill>
                  <a:srgbClr val="FF0000"/>
                </a:solidFill>
                <a:latin typeface="Microsoft YaHei"/>
                <a:cs typeface="Microsoft YaHei"/>
              </a:rPr>
              <a:t>毫米波“点式” </a:t>
            </a:r>
            <a:r>
              <a:rPr dirty="0" sz="800" spc="-30">
                <a:latin typeface="Microsoft YaHei"/>
                <a:cs typeface="Microsoft YaHei"/>
              </a:rPr>
              <a:t>覆盖</a:t>
            </a:r>
            <a:r>
              <a:rPr dirty="0" sz="800" spc="-10">
                <a:latin typeface="Microsoft YaHei"/>
                <a:cs typeface="Microsoft YaHei"/>
              </a:rPr>
              <a:t>热点：3.5G</a:t>
            </a:r>
            <a:r>
              <a:rPr dirty="0" sz="800" spc="-15">
                <a:latin typeface="Microsoft YaHei"/>
                <a:cs typeface="Microsoft YaHei"/>
              </a:rPr>
              <a:t>“滴灌式”连续覆盖</a:t>
            </a:r>
            <a:endParaRPr sz="800">
              <a:latin typeface="Microsoft YaHei"/>
              <a:cs typeface="Microsoft YaHei"/>
            </a:endParaRPr>
          </a:p>
          <a:p>
            <a:pPr marL="314960" marR="100330">
              <a:lnSpc>
                <a:spcPct val="100000"/>
              </a:lnSpc>
              <a:spcBef>
                <a:spcPts val="200"/>
              </a:spcBef>
            </a:pPr>
            <a:r>
              <a:rPr dirty="0" sz="800" spc="-10">
                <a:latin typeface="Microsoft YaHei"/>
                <a:cs typeface="Microsoft YaHei"/>
              </a:rPr>
              <a:t>毫米波不可穿墙，</a:t>
            </a:r>
            <a:r>
              <a:rPr dirty="0" sz="800" spc="-20">
                <a:solidFill>
                  <a:srgbClr val="FF0000"/>
                </a:solidFill>
                <a:latin typeface="Microsoft YaHei"/>
                <a:cs typeface="Microsoft YaHei"/>
              </a:rPr>
              <a:t>室外覆盖室内已</a:t>
            </a:r>
            <a:r>
              <a:rPr dirty="0" sz="800" spc="-25">
                <a:solidFill>
                  <a:srgbClr val="FF0000"/>
                </a:solidFill>
                <a:latin typeface="Microsoft YaHei"/>
                <a:cs typeface="Microsoft YaHei"/>
              </a:rPr>
              <a:t>不可能</a:t>
            </a:r>
            <a:endParaRPr sz="800">
              <a:latin typeface="Microsoft YaHei"/>
              <a:cs typeface="Microsoft YaHei"/>
            </a:endParaRPr>
          </a:p>
        </p:txBody>
      </p:sp>
      <p:grpSp>
        <p:nvGrpSpPr>
          <p:cNvPr id="30" name="object 30" descr=""/>
          <p:cNvGrpSpPr/>
          <p:nvPr/>
        </p:nvGrpSpPr>
        <p:grpSpPr>
          <a:xfrm>
            <a:off x="215900" y="806450"/>
            <a:ext cx="8646160" cy="889635"/>
            <a:chOff x="215900" y="806450"/>
            <a:chExt cx="8646160" cy="889635"/>
          </a:xfrm>
        </p:grpSpPr>
        <p:sp>
          <p:nvSpPr>
            <p:cNvPr id="31" name="object 31" descr=""/>
            <p:cNvSpPr/>
            <p:nvPr/>
          </p:nvSpPr>
          <p:spPr>
            <a:xfrm>
              <a:off x="228600" y="819150"/>
              <a:ext cx="8620760" cy="864235"/>
            </a:xfrm>
            <a:custGeom>
              <a:avLst/>
              <a:gdLst/>
              <a:ahLst/>
              <a:cxnLst/>
              <a:rect l="l" t="t" r="r" b="b"/>
              <a:pathLst>
                <a:path w="8620760" h="864235">
                  <a:moveTo>
                    <a:pt x="8620721" y="0"/>
                  </a:moveTo>
                  <a:lnTo>
                    <a:pt x="0" y="0"/>
                  </a:lnTo>
                  <a:lnTo>
                    <a:pt x="0" y="864095"/>
                  </a:lnTo>
                  <a:lnTo>
                    <a:pt x="8620721" y="864095"/>
                  </a:lnTo>
                  <a:lnTo>
                    <a:pt x="8620721" y="0"/>
                  </a:lnTo>
                  <a:close/>
                </a:path>
              </a:pathLst>
            </a:custGeom>
            <a:solidFill>
              <a:srgbClr val="92D050"/>
            </a:solidFill>
          </p:spPr>
          <p:txBody>
            <a:bodyPr wrap="square" lIns="0" tIns="0" rIns="0" bIns="0" rtlCol="0"/>
            <a:lstStyle/>
            <a:p/>
          </p:txBody>
        </p:sp>
        <p:sp>
          <p:nvSpPr>
            <p:cNvPr id="32" name="object 32" descr=""/>
            <p:cNvSpPr/>
            <p:nvPr/>
          </p:nvSpPr>
          <p:spPr>
            <a:xfrm>
              <a:off x="228600" y="819150"/>
              <a:ext cx="8620760" cy="864235"/>
            </a:xfrm>
            <a:custGeom>
              <a:avLst/>
              <a:gdLst/>
              <a:ahLst/>
              <a:cxnLst/>
              <a:rect l="l" t="t" r="r" b="b"/>
              <a:pathLst>
                <a:path w="8620760" h="864235">
                  <a:moveTo>
                    <a:pt x="0" y="0"/>
                  </a:moveTo>
                  <a:lnTo>
                    <a:pt x="8620721" y="0"/>
                  </a:lnTo>
                  <a:lnTo>
                    <a:pt x="8620721" y="864095"/>
                  </a:lnTo>
                  <a:lnTo>
                    <a:pt x="0" y="864095"/>
                  </a:lnTo>
                  <a:lnTo>
                    <a:pt x="0" y="0"/>
                  </a:lnTo>
                  <a:close/>
                </a:path>
              </a:pathLst>
            </a:custGeom>
            <a:ln w="25400">
              <a:solidFill>
                <a:srgbClr val="FFFFFF"/>
              </a:solidFill>
            </a:ln>
          </p:spPr>
          <p:txBody>
            <a:bodyPr wrap="square" lIns="0" tIns="0" rIns="0" bIns="0" rtlCol="0"/>
            <a:lstStyle/>
            <a:p/>
          </p:txBody>
        </p:sp>
      </p:grpSp>
      <p:sp>
        <p:nvSpPr>
          <p:cNvPr id="33" name="object 33" descr=""/>
          <p:cNvSpPr txBox="1"/>
          <p:nvPr/>
        </p:nvSpPr>
        <p:spPr>
          <a:xfrm>
            <a:off x="228600" y="819150"/>
            <a:ext cx="8620760" cy="864235"/>
          </a:xfrm>
          <a:prstGeom prst="rect">
            <a:avLst/>
          </a:prstGeom>
        </p:spPr>
        <p:txBody>
          <a:bodyPr wrap="square" lIns="0" tIns="33020" rIns="0" bIns="0" rtlCol="0" vert="horz">
            <a:spAutoFit/>
          </a:bodyPr>
          <a:lstStyle/>
          <a:p>
            <a:pPr marL="414655" indent="-233045">
              <a:lnSpc>
                <a:spcPct val="100000"/>
              </a:lnSpc>
              <a:spcBef>
                <a:spcPts val="260"/>
              </a:spcBef>
              <a:buClr>
                <a:srgbClr val="FF0000"/>
              </a:buClr>
              <a:buFont typeface="Wingdings"/>
              <a:buChar char=""/>
              <a:tabLst>
                <a:tab pos="414655" algn="l"/>
              </a:tabLst>
            </a:pPr>
            <a:r>
              <a:rPr dirty="0" sz="1400" spc="-20">
                <a:latin typeface="Microsoft YaHei"/>
                <a:cs typeface="Microsoft YaHei"/>
              </a:rPr>
              <a:t>5G</a:t>
            </a:r>
            <a:r>
              <a:rPr dirty="0" sz="1400" spc="-25">
                <a:latin typeface="Microsoft YaHei"/>
                <a:cs typeface="Microsoft YaHei"/>
              </a:rPr>
              <a:t>更高的频段和更高的流量需求，将驱动 “宏网补热分流”的传统建设方式向新的网络建设方式转变。</a:t>
            </a:r>
            <a:endParaRPr sz="1400">
              <a:latin typeface="Microsoft YaHei"/>
              <a:cs typeface="Microsoft YaHei"/>
            </a:endParaRPr>
          </a:p>
          <a:p>
            <a:pPr marL="414655" marR="83185" indent="-233045">
              <a:lnSpc>
                <a:spcPct val="130000"/>
              </a:lnSpc>
              <a:spcBef>
                <a:spcPts val="200"/>
              </a:spcBef>
              <a:buClr>
                <a:srgbClr val="FF0000"/>
              </a:buClr>
              <a:buFont typeface="Wingdings"/>
              <a:buChar char=""/>
              <a:tabLst>
                <a:tab pos="414655" algn="l"/>
              </a:tabLst>
            </a:pPr>
            <a:r>
              <a:rPr dirty="0" sz="1400" spc="-20">
                <a:latin typeface="Microsoft YaHei"/>
                <a:cs typeface="Microsoft YaHei"/>
              </a:rPr>
              <a:t>室内网络在</a:t>
            </a:r>
            <a:r>
              <a:rPr dirty="0" sz="1400" spc="-20">
                <a:solidFill>
                  <a:srgbClr val="C00000"/>
                </a:solidFill>
                <a:latin typeface="Microsoft YaHei"/>
                <a:cs typeface="Microsoft YaHei"/>
              </a:rPr>
              <a:t>5G时代</a:t>
            </a:r>
            <a:r>
              <a:rPr dirty="0" sz="1400" spc="-20">
                <a:latin typeface="Microsoft YaHei"/>
                <a:cs typeface="Microsoft YaHei"/>
              </a:rPr>
              <a:t>将成为</a:t>
            </a:r>
            <a:r>
              <a:rPr dirty="0" sz="1400" spc="-20">
                <a:solidFill>
                  <a:srgbClr val="C00000"/>
                </a:solidFill>
                <a:latin typeface="Microsoft YaHei"/>
                <a:cs typeface="Microsoft YaHei"/>
              </a:rPr>
              <a:t>网络</a:t>
            </a:r>
            <a:r>
              <a:rPr dirty="0" sz="1400" spc="-20">
                <a:latin typeface="Microsoft YaHei"/>
                <a:cs typeface="Microsoft YaHei"/>
              </a:rPr>
              <a:t>的高价值</a:t>
            </a:r>
            <a:r>
              <a:rPr dirty="0" sz="1400" spc="-15">
                <a:solidFill>
                  <a:srgbClr val="C00000"/>
                </a:solidFill>
                <a:latin typeface="Microsoft YaHei"/>
                <a:cs typeface="Microsoft YaHei"/>
              </a:rPr>
              <a:t>核心</a:t>
            </a:r>
            <a:r>
              <a:rPr dirty="0" sz="1400" spc="-20">
                <a:latin typeface="Microsoft YaHei"/>
                <a:cs typeface="Microsoft YaHei"/>
              </a:rPr>
              <a:t>。大量数据业务发生在室内，而这部分业务又不能像4G</a:t>
            </a:r>
            <a:r>
              <a:rPr dirty="0" sz="1400" spc="-35">
                <a:latin typeface="Microsoft YaHei"/>
                <a:cs typeface="Microsoft YaHei"/>
              </a:rPr>
              <a:t>那样</a:t>
            </a:r>
            <a:r>
              <a:rPr dirty="0" sz="1400" spc="-20">
                <a:latin typeface="Microsoft YaHei"/>
                <a:cs typeface="Microsoft YaHei"/>
              </a:rPr>
              <a:t>被室外宏站信号大量吸收，5G在室内的建设需求相比</a:t>
            </a:r>
            <a:r>
              <a:rPr dirty="0" sz="1400" spc="-10">
                <a:latin typeface="Microsoft YaHei"/>
                <a:cs typeface="Microsoft YaHei"/>
              </a:rPr>
              <a:t>4G</a:t>
            </a:r>
            <a:r>
              <a:rPr dirty="0" sz="1400" spc="-25">
                <a:latin typeface="Microsoft YaHei"/>
                <a:cs typeface="Microsoft YaHei"/>
              </a:rPr>
              <a:t>会更为迫切。</a:t>
            </a:r>
            <a:endParaRPr sz="1400">
              <a:latin typeface="Microsoft YaHei"/>
              <a:cs typeface="Microsoft YaHei"/>
            </a:endParaRPr>
          </a:p>
        </p:txBody>
      </p:sp>
      <p:pic>
        <p:nvPicPr>
          <p:cNvPr id="34" name="object 34"/>
          <p:cNvPicPr/>
          <p:nvPr/>
        </p:nvPicPr>
        <p:blipFill>
          <a:blip r:embed="rId2" cstate="print"/>
          <a:stretch>
            <a:fillRect/>
          </a:stretch>
        </p:blipFill>
        <p:spPr>
          <a:xfrm>
            <a:off x="2218944" y="2746248"/>
            <a:ext cx="1557528" cy="1069848"/>
          </a:xfrm>
          <a:prstGeom prst="rect">
            <a:avLst/>
          </a:prstGeom>
        </p:spPr>
      </p:pic>
      <p:pic>
        <p:nvPicPr>
          <p:cNvPr id="35" name="object 35"/>
          <p:cNvPicPr/>
          <p:nvPr/>
        </p:nvPicPr>
        <p:blipFill>
          <a:blip r:embed="rId3" cstate="print"/>
          <a:stretch>
            <a:fillRect/>
          </a:stretch>
        </p:blipFill>
        <p:spPr>
          <a:xfrm>
            <a:off x="4541520" y="2267711"/>
            <a:ext cx="1615440" cy="1024128"/>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52400" y="133350"/>
            <a:ext cx="8660765" cy="1460500"/>
            <a:chOff x="152400" y="133350"/>
            <a:chExt cx="8660765" cy="1460500"/>
          </a:xfrm>
        </p:grpSpPr>
        <p:sp>
          <p:nvSpPr>
            <p:cNvPr id="3" name="object 3" descr=""/>
            <p:cNvSpPr/>
            <p:nvPr/>
          </p:nvSpPr>
          <p:spPr>
            <a:xfrm>
              <a:off x="179514" y="703414"/>
              <a:ext cx="8620760" cy="877569"/>
            </a:xfrm>
            <a:custGeom>
              <a:avLst/>
              <a:gdLst/>
              <a:ahLst/>
              <a:cxnLst/>
              <a:rect l="l" t="t" r="r" b="b"/>
              <a:pathLst>
                <a:path w="8620760" h="877569">
                  <a:moveTo>
                    <a:pt x="8620721" y="0"/>
                  </a:moveTo>
                  <a:lnTo>
                    <a:pt x="0" y="0"/>
                  </a:lnTo>
                  <a:lnTo>
                    <a:pt x="0" y="877252"/>
                  </a:lnTo>
                  <a:lnTo>
                    <a:pt x="8620721" y="877252"/>
                  </a:lnTo>
                  <a:lnTo>
                    <a:pt x="8620721" y="0"/>
                  </a:lnTo>
                  <a:close/>
                </a:path>
              </a:pathLst>
            </a:custGeom>
            <a:solidFill>
              <a:srgbClr val="92D050"/>
            </a:solidFill>
          </p:spPr>
          <p:txBody>
            <a:bodyPr wrap="square" lIns="0" tIns="0" rIns="0" bIns="0" rtlCol="0"/>
            <a:lstStyle/>
            <a:p/>
          </p:txBody>
        </p:sp>
        <p:sp>
          <p:nvSpPr>
            <p:cNvPr id="4" name="object 4" descr=""/>
            <p:cNvSpPr/>
            <p:nvPr/>
          </p:nvSpPr>
          <p:spPr>
            <a:xfrm>
              <a:off x="179514" y="703414"/>
              <a:ext cx="8620760" cy="877569"/>
            </a:xfrm>
            <a:custGeom>
              <a:avLst/>
              <a:gdLst/>
              <a:ahLst/>
              <a:cxnLst/>
              <a:rect l="l" t="t" r="r" b="b"/>
              <a:pathLst>
                <a:path w="8620760" h="877569">
                  <a:moveTo>
                    <a:pt x="0" y="0"/>
                  </a:moveTo>
                  <a:lnTo>
                    <a:pt x="8620721" y="0"/>
                  </a:lnTo>
                  <a:lnTo>
                    <a:pt x="8620721" y="877252"/>
                  </a:lnTo>
                  <a:lnTo>
                    <a:pt x="0" y="877252"/>
                  </a:lnTo>
                  <a:lnTo>
                    <a:pt x="0" y="0"/>
                  </a:lnTo>
                  <a:close/>
                </a:path>
              </a:pathLst>
            </a:custGeom>
            <a:ln w="25399">
              <a:solidFill>
                <a:srgbClr val="FFFFFF"/>
              </a:solidFill>
            </a:ln>
          </p:spPr>
          <p:txBody>
            <a:bodyPr wrap="square" lIns="0" tIns="0" rIns="0" bIns="0" rtlCol="0"/>
            <a:lstStyle/>
            <a:p/>
          </p:txBody>
        </p:sp>
      </p:grpSp>
      <p:sp>
        <p:nvSpPr>
          <p:cNvPr id="5" name="object 5"/>
          <p:cNvSpPr txBox="1">
            <a:spLocks noGrp="1"/>
          </p:cNvSpPr>
          <p:nvPr>
            <p:ph type="title"/>
          </p:nvPr>
        </p:nvSpPr>
        <p:spPr>
          <a:xfrm>
            <a:off x="2247444" y="121472"/>
            <a:ext cx="46107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频段对室内覆盖的影响</a:t>
            </a:r>
          </a:p>
        </p:txBody>
      </p:sp>
      <p:sp>
        <p:nvSpPr>
          <p:cNvPr id="6" name="object 6" descr=""/>
          <p:cNvSpPr txBox="1"/>
          <p:nvPr/>
        </p:nvSpPr>
        <p:spPr>
          <a:xfrm>
            <a:off x="179514" y="703414"/>
            <a:ext cx="8620760" cy="877569"/>
          </a:xfrm>
          <a:prstGeom prst="rect">
            <a:avLst/>
          </a:prstGeom>
        </p:spPr>
        <p:txBody>
          <a:bodyPr wrap="square" lIns="0" tIns="40005" rIns="0" bIns="0" rtlCol="0" vert="horz">
            <a:spAutoFit/>
          </a:bodyPr>
          <a:lstStyle/>
          <a:p>
            <a:pPr marL="414020" indent="-232410">
              <a:lnSpc>
                <a:spcPct val="100000"/>
              </a:lnSpc>
              <a:spcBef>
                <a:spcPts val="315"/>
              </a:spcBef>
              <a:buClr>
                <a:srgbClr val="FF0000"/>
              </a:buClr>
              <a:buFont typeface="Wingdings"/>
              <a:buChar char=""/>
              <a:tabLst>
                <a:tab pos="414020" algn="l"/>
              </a:tabLst>
            </a:pPr>
            <a:r>
              <a:rPr dirty="0" sz="1400" spc="-10">
                <a:latin typeface="Microsoft YaHei"/>
                <a:cs typeface="Microsoft YaHei"/>
              </a:rPr>
              <a:t>3.5GHz</a:t>
            </a:r>
            <a:r>
              <a:rPr dirty="0" sz="1400" spc="-20">
                <a:latin typeface="Microsoft YaHei"/>
                <a:cs typeface="Microsoft YaHei"/>
              </a:rPr>
              <a:t>增加</a:t>
            </a:r>
            <a:r>
              <a:rPr dirty="0" sz="1400">
                <a:latin typeface="Microsoft YaHei"/>
                <a:cs typeface="Microsoft YaHei"/>
              </a:rPr>
              <a:t>Massive</a:t>
            </a:r>
            <a:r>
              <a:rPr dirty="0" sz="1400" spc="190">
                <a:latin typeface="Microsoft YaHei"/>
                <a:cs typeface="Microsoft YaHei"/>
              </a:rPr>
              <a:t> </a:t>
            </a:r>
            <a:r>
              <a:rPr dirty="0" sz="1400" spc="-10">
                <a:latin typeface="Microsoft YaHei"/>
                <a:cs typeface="Microsoft YaHei"/>
              </a:rPr>
              <a:t>MIMO</a:t>
            </a:r>
            <a:r>
              <a:rPr dirty="0" sz="1400" spc="-20">
                <a:latin typeface="Microsoft YaHei"/>
                <a:cs typeface="Microsoft YaHei"/>
              </a:rPr>
              <a:t>功能后，室外下行覆盖能力与</a:t>
            </a:r>
            <a:r>
              <a:rPr dirty="0" sz="1400" spc="-40">
                <a:latin typeface="Microsoft YaHei"/>
                <a:cs typeface="Microsoft YaHei"/>
              </a:rPr>
              <a:t>LTE</a:t>
            </a:r>
            <a:r>
              <a:rPr dirty="0" sz="1400" spc="-25">
                <a:latin typeface="Microsoft YaHei"/>
                <a:cs typeface="Microsoft YaHei"/>
              </a:rPr>
              <a:t>相当，上行能力略差，但室内穿透损耗相</a:t>
            </a:r>
            <a:endParaRPr sz="1400">
              <a:latin typeface="Microsoft YaHei"/>
              <a:cs typeface="Microsoft YaHei"/>
            </a:endParaRPr>
          </a:p>
          <a:p>
            <a:pPr marL="414655">
              <a:lnSpc>
                <a:spcPct val="100000"/>
              </a:lnSpc>
              <a:spcBef>
                <a:spcPts val="505"/>
              </a:spcBef>
            </a:pPr>
            <a:r>
              <a:rPr dirty="0" sz="1400" spc="-20">
                <a:latin typeface="Microsoft YaHei"/>
                <a:cs typeface="Microsoft YaHei"/>
              </a:rPr>
              <a:t>对</a:t>
            </a:r>
            <a:r>
              <a:rPr dirty="0" sz="1400" spc="-10">
                <a:latin typeface="Microsoft YaHei"/>
                <a:cs typeface="Microsoft YaHei"/>
              </a:rPr>
              <a:t>Sub-3GHz</a:t>
            </a:r>
            <a:r>
              <a:rPr dirty="0" sz="1400" spc="-20">
                <a:latin typeface="Microsoft YaHei"/>
                <a:cs typeface="Microsoft YaHei"/>
              </a:rPr>
              <a:t>更大。</a:t>
            </a:r>
            <a:r>
              <a:rPr dirty="0" sz="1400" spc="-10">
                <a:solidFill>
                  <a:srgbClr val="C00000"/>
                </a:solidFill>
                <a:latin typeface="Microsoft YaHei"/>
                <a:cs typeface="Microsoft YaHei"/>
              </a:rPr>
              <a:t>20GHz</a:t>
            </a:r>
            <a:r>
              <a:rPr dirty="0" sz="1400" spc="-20">
                <a:solidFill>
                  <a:srgbClr val="C00000"/>
                </a:solidFill>
                <a:latin typeface="Microsoft YaHei"/>
                <a:cs typeface="Microsoft YaHei"/>
              </a:rPr>
              <a:t>以上高频在承重墙、水泥墙、空心砖墙场景的穿透损耗达</a:t>
            </a:r>
            <a:r>
              <a:rPr dirty="0" sz="1400" spc="-10">
                <a:solidFill>
                  <a:srgbClr val="C00000"/>
                </a:solidFill>
                <a:latin typeface="Microsoft YaHei"/>
                <a:cs typeface="Microsoft YaHei"/>
              </a:rPr>
              <a:t>30~90dB</a:t>
            </a:r>
            <a:r>
              <a:rPr dirty="0" sz="1400" spc="-50">
                <a:latin typeface="Microsoft YaHei"/>
                <a:cs typeface="Microsoft YaHei"/>
              </a:rPr>
              <a:t>。</a:t>
            </a:r>
            <a:endParaRPr sz="1400">
              <a:latin typeface="Microsoft YaHei"/>
              <a:cs typeface="Microsoft YaHei"/>
            </a:endParaRPr>
          </a:p>
          <a:p>
            <a:pPr marL="414020" indent="-232410">
              <a:lnSpc>
                <a:spcPct val="100000"/>
              </a:lnSpc>
              <a:spcBef>
                <a:spcPts val="700"/>
              </a:spcBef>
              <a:buClr>
                <a:srgbClr val="FF0000"/>
              </a:buClr>
              <a:buFont typeface="Wingdings"/>
              <a:buChar char=""/>
              <a:tabLst>
                <a:tab pos="414020" algn="l"/>
              </a:tabLst>
            </a:pPr>
            <a:r>
              <a:rPr dirty="0" sz="1400" spc="-20">
                <a:latin typeface="Microsoft YaHei"/>
                <a:cs typeface="Microsoft YaHei"/>
              </a:rPr>
              <a:t>5G</a:t>
            </a:r>
            <a:r>
              <a:rPr dirty="0" sz="1400" spc="-25">
                <a:latin typeface="Microsoft YaHei"/>
                <a:cs typeface="Microsoft YaHei"/>
              </a:rPr>
              <a:t>室外信号覆盖室内难度相比现有网络要大得多。也意味着目前承建的商务楼宇，未来共享潜力上升。</a:t>
            </a:r>
            <a:endParaRPr sz="1400">
              <a:latin typeface="Microsoft YaHei"/>
              <a:cs typeface="Microsoft YaHei"/>
            </a:endParaRPr>
          </a:p>
        </p:txBody>
      </p:sp>
      <p:grpSp>
        <p:nvGrpSpPr>
          <p:cNvPr id="7" name="object 7" descr=""/>
          <p:cNvGrpSpPr/>
          <p:nvPr/>
        </p:nvGrpSpPr>
        <p:grpSpPr>
          <a:xfrm>
            <a:off x="960691" y="2129789"/>
            <a:ext cx="2838450" cy="484505"/>
            <a:chOff x="960691" y="2129789"/>
            <a:chExt cx="2838450" cy="484505"/>
          </a:xfrm>
        </p:grpSpPr>
        <p:sp>
          <p:nvSpPr>
            <p:cNvPr id="8" name="object 8" descr=""/>
            <p:cNvSpPr/>
            <p:nvPr/>
          </p:nvSpPr>
          <p:spPr>
            <a:xfrm>
              <a:off x="1139190" y="2129789"/>
              <a:ext cx="2280285" cy="479425"/>
            </a:xfrm>
            <a:custGeom>
              <a:avLst/>
              <a:gdLst/>
              <a:ahLst/>
              <a:cxnLst/>
              <a:rect l="l" t="t" r="r" b="b"/>
              <a:pathLst>
                <a:path w="2280285" h="479425">
                  <a:moveTo>
                    <a:pt x="158496" y="0"/>
                  </a:moveTo>
                  <a:lnTo>
                    <a:pt x="0" y="0"/>
                  </a:lnTo>
                  <a:lnTo>
                    <a:pt x="0" y="479298"/>
                  </a:lnTo>
                  <a:lnTo>
                    <a:pt x="158496" y="479298"/>
                  </a:lnTo>
                  <a:lnTo>
                    <a:pt x="158496" y="0"/>
                  </a:lnTo>
                  <a:close/>
                </a:path>
                <a:path w="2280285" h="479425">
                  <a:moveTo>
                    <a:pt x="865619" y="213360"/>
                  </a:moveTo>
                  <a:lnTo>
                    <a:pt x="707136" y="213360"/>
                  </a:lnTo>
                  <a:lnTo>
                    <a:pt x="707136" y="479298"/>
                  </a:lnTo>
                  <a:lnTo>
                    <a:pt x="865619" y="479298"/>
                  </a:lnTo>
                  <a:lnTo>
                    <a:pt x="865619" y="213360"/>
                  </a:lnTo>
                  <a:close/>
                </a:path>
                <a:path w="2280285" h="479425">
                  <a:moveTo>
                    <a:pt x="1572768" y="180594"/>
                  </a:moveTo>
                  <a:lnTo>
                    <a:pt x="1414272" y="180594"/>
                  </a:lnTo>
                  <a:lnTo>
                    <a:pt x="1414272" y="479298"/>
                  </a:lnTo>
                  <a:lnTo>
                    <a:pt x="1572768" y="479298"/>
                  </a:lnTo>
                  <a:lnTo>
                    <a:pt x="1572768" y="180594"/>
                  </a:lnTo>
                  <a:close/>
                </a:path>
                <a:path w="2280285" h="479425">
                  <a:moveTo>
                    <a:pt x="2279904" y="159258"/>
                  </a:moveTo>
                  <a:lnTo>
                    <a:pt x="2121408" y="159258"/>
                  </a:lnTo>
                  <a:lnTo>
                    <a:pt x="2121408" y="479298"/>
                  </a:lnTo>
                  <a:lnTo>
                    <a:pt x="2279904" y="479298"/>
                  </a:lnTo>
                  <a:lnTo>
                    <a:pt x="2279904" y="159258"/>
                  </a:lnTo>
                  <a:close/>
                </a:path>
              </a:pathLst>
            </a:custGeom>
            <a:solidFill>
              <a:srgbClr val="00B050"/>
            </a:solidFill>
          </p:spPr>
          <p:txBody>
            <a:bodyPr wrap="square" lIns="0" tIns="0" rIns="0" bIns="0" rtlCol="0"/>
            <a:lstStyle/>
            <a:p/>
          </p:txBody>
        </p:sp>
        <p:sp>
          <p:nvSpPr>
            <p:cNvPr id="9" name="object 9" descr=""/>
            <p:cNvSpPr/>
            <p:nvPr/>
          </p:nvSpPr>
          <p:spPr>
            <a:xfrm>
              <a:off x="1340358" y="2280665"/>
              <a:ext cx="2280920" cy="328930"/>
            </a:xfrm>
            <a:custGeom>
              <a:avLst/>
              <a:gdLst/>
              <a:ahLst/>
              <a:cxnLst/>
              <a:rect l="l" t="t" r="r" b="b"/>
              <a:pathLst>
                <a:path w="2280920" h="328930">
                  <a:moveTo>
                    <a:pt x="158496" y="0"/>
                  </a:moveTo>
                  <a:lnTo>
                    <a:pt x="0" y="0"/>
                  </a:lnTo>
                  <a:lnTo>
                    <a:pt x="0" y="328422"/>
                  </a:lnTo>
                  <a:lnTo>
                    <a:pt x="158496" y="328422"/>
                  </a:lnTo>
                  <a:lnTo>
                    <a:pt x="158496" y="0"/>
                  </a:lnTo>
                  <a:close/>
                </a:path>
                <a:path w="2280920" h="328930">
                  <a:moveTo>
                    <a:pt x="865632" y="190500"/>
                  </a:moveTo>
                  <a:lnTo>
                    <a:pt x="707136" y="190500"/>
                  </a:lnTo>
                  <a:lnTo>
                    <a:pt x="707136" y="328422"/>
                  </a:lnTo>
                  <a:lnTo>
                    <a:pt x="865632" y="328422"/>
                  </a:lnTo>
                  <a:lnTo>
                    <a:pt x="865632" y="190500"/>
                  </a:lnTo>
                  <a:close/>
                </a:path>
                <a:path w="2280920" h="328930">
                  <a:moveTo>
                    <a:pt x="1573530" y="37338"/>
                  </a:moveTo>
                  <a:lnTo>
                    <a:pt x="1414272" y="37338"/>
                  </a:lnTo>
                  <a:lnTo>
                    <a:pt x="1414272" y="328422"/>
                  </a:lnTo>
                  <a:lnTo>
                    <a:pt x="1573530" y="328422"/>
                  </a:lnTo>
                  <a:lnTo>
                    <a:pt x="1573530" y="37338"/>
                  </a:lnTo>
                  <a:close/>
                </a:path>
                <a:path w="2280920" h="328930">
                  <a:moveTo>
                    <a:pt x="2280666" y="16764"/>
                  </a:moveTo>
                  <a:lnTo>
                    <a:pt x="2121408" y="16764"/>
                  </a:lnTo>
                  <a:lnTo>
                    <a:pt x="2121408" y="328422"/>
                  </a:lnTo>
                  <a:lnTo>
                    <a:pt x="2280666" y="328422"/>
                  </a:lnTo>
                  <a:lnTo>
                    <a:pt x="2280666" y="16764"/>
                  </a:lnTo>
                  <a:close/>
                </a:path>
              </a:pathLst>
            </a:custGeom>
            <a:solidFill>
              <a:srgbClr val="00B0F0"/>
            </a:solidFill>
          </p:spPr>
          <p:txBody>
            <a:bodyPr wrap="square" lIns="0" tIns="0" rIns="0" bIns="0" rtlCol="0"/>
            <a:lstStyle/>
            <a:p/>
          </p:txBody>
        </p:sp>
        <p:sp>
          <p:nvSpPr>
            <p:cNvPr id="10" name="object 10" descr=""/>
            <p:cNvSpPr/>
            <p:nvPr/>
          </p:nvSpPr>
          <p:spPr>
            <a:xfrm>
              <a:off x="965453" y="2609087"/>
              <a:ext cx="2828925" cy="0"/>
            </a:xfrm>
            <a:custGeom>
              <a:avLst/>
              <a:gdLst/>
              <a:ahLst/>
              <a:cxnLst/>
              <a:rect l="l" t="t" r="r" b="b"/>
              <a:pathLst>
                <a:path w="2828925" h="0">
                  <a:moveTo>
                    <a:pt x="0" y="0"/>
                  </a:moveTo>
                  <a:lnTo>
                    <a:pt x="2828544" y="0"/>
                  </a:lnTo>
                </a:path>
              </a:pathLst>
            </a:custGeom>
            <a:ln w="9144">
              <a:solidFill>
                <a:srgbClr val="DADADA"/>
              </a:solidFill>
            </a:ln>
          </p:spPr>
          <p:txBody>
            <a:bodyPr wrap="square" lIns="0" tIns="0" rIns="0" bIns="0" rtlCol="0"/>
            <a:lstStyle/>
            <a:p/>
          </p:txBody>
        </p:sp>
      </p:grpSp>
      <p:sp>
        <p:nvSpPr>
          <p:cNvPr id="11" name="object 11" descr=""/>
          <p:cNvSpPr txBox="1"/>
          <p:nvPr/>
        </p:nvSpPr>
        <p:spPr>
          <a:xfrm>
            <a:off x="1032396" y="1880660"/>
            <a:ext cx="415290" cy="178435"/>
          </a:xfrm>
          <a:prstGeom prst="rect">
            <a:avLst/>
          </a:prstGeom>
        </p:spPr>
        <p:txBody>
          <a:bodyPr wrap="square" lIns="0" tIns="12700" rIns="0" bIns="0" rtlCol="0" vert="horz">
            <a:spAutoFit/>
          </a:bodyPr>
          <a:lstStyle/>
          <a:p>
            <a:pPr marL="12700">
              <a:lnSpc>
                <a:spcPct val="100000"/>
              </a:lnSpc>
              <a:spcBef>
                <a:spcPts val="100"/>
              </a:spcBef>
            </a:pPr>
            <a:r>
              <a:rPr dirty="0" sz="1000" spc="-10">
                <a:latin typeface="Arial MT"/>
                <a:cs typeface="Arial MT"/>
              </a:rPr>
              <a:t>142.62</a:t>
            </a:r>
            <a:endParaRPr sz="1000">
              <a:latin typeface="Arial MT"/>
              <a:cs typeface="Arial MT"/>
            </a:endParaRPr>
          </a:p>
        </p:txBody>
      </p:sp>
      <p:sp>
        <p:nvSpPr>
          <p:cNvPr id="12" name="object 12" descr=""/>
          <p:cNvSpPr txBox="1"/>
          <p:nvPr/>
        </p:nvSpPr>
        <p:spPr>
          <a:xfrm>
            <a:off x="1244371" y="2060002"/>
            <a:ext cx="1090295" cy="373380"/>
          </a:xfrm>
          <a:prstGeom prst="rect">
            <a:avLst/>
          </a:prstGeom>
        </p:spPr>
        <p:txBody>
          <a:bodyPr wrap="square" lIns="0" tIns="34290" rIns="0" bIns="0" rtlCol="0" vert="horz">
            <a:spAutoFit/>
          </a:bodyPr>
          <a:lstStyle/>
          <a:p>
            <a:pPr marL="12700">
              <a:lnSpc>
                <a:spcPct val="100000"/>
              </a:lnSpc>
              <a:spcBef>
                <a:spcPts val="270"/>
              </a:spcBef>
            </a:pPr>
            <a:r>
              <a:rPr dirty="0" sz="1000">
                <a:latin typeface="Arial MT"/>
                <a:cs typeface="Arial MT"/>
              </a:rPr>
              <a:t>129.18</a:t>
            </a:r>
            <a:r>
              <a:rPr dirty="0" sz="1000" spc="114">
                <a:latin typeface="Arial MT"/>
                <a:cs typeface="Arial MT"/>
              </a:rPr>
              <a:t>  </a:t>
            </a:r>
            <a:r>
              <a:rPr dirty="0" sz="1000" spc="-10">
                <a:latin typeface="Arial MT"/>
                <a:cs typeface="Arial MT"/>
              </a:rPr>
              <a:t>123.65</a:t>
            </a:r>
            <a:endParaRPr sz="1000">
              <a:latin typeface="Arial MT"/>
              <a:cs typeface="Arial MT"/>
            </a:endParaRPr>
          </a:p>
          <a:p>
            <a:pPr marL="687705">
              <a:lnSpc>
                <a:spcPct val="100000"/>
              </a:lnSpc>
              <a:spcBef>
                <a:spcPts val="170"/>
              </a:spcBef>
            </a:pPr>
            <a:r>
              <a:rPr dirty="0" sz="1000" spc="-10">
                <a:latin typeface="Arial MT"/>
                <a:cs typeface="Arial MT"/>
              </a:rPr>
              <a:t>112.24</a:t>
            </a:r>
            <a:endParaRPr sz="1000">
              <a:latin typeface="Arial MT"/>
              <a:cs typeface="Arial MT"/>
            </a:endParaRPr>
          </a:p>
        </p:txBody>
      </p:sp>
      <p:sp>
        <p:nvSpPr>
          <p:cNvPr id="13" name="object 13" descr=""/>
          <p:cNvSpPr txBox="1"/>
          <p:nvPr/>
        </p:nvSpPr>
        <p:spPr>
          <a:xfrm>
            <a:off x="2402158" y="1920932"/>
            <a:ext cx="671830" cy="360045"/>
          </a:xfrm>
          <a:prstGeom prst="rect">
            <a:avLst/>
          </a:prstGeom>
        </p:spPr>
        <p:txBody>
          <a:bodyPr wrap="square" lIns="0" tIns="27305" rIns="0" bIns="0" rtlCol="0" vert="horz">
            <a:spAutoFit/>
          </a:bodyPr>
          <a:lstStyle/>
          <a:p>
            <a:pPr marL="12700">
              <a:lnSpc>
                <a:spcPct val="100000"/>
              </a:lnSpc>
              <a:spcBef>
                <a:spcPts val="215"/>
              </a:spcBef>
            </a:pPr>
            <a:r>
              <a:rPr dirty="0" sz="1000" spc="-10">
                <a:latin typeface="Arial MT"/>
                <a:cs typeface="Arial MT"/>
              </a:rPr>
              <a:t>126.52</a:t>
            </a:r>
            <a:endParaRPr sz="1000">
              <a:latin typeface="Arial MT"/>
              <a:cs typeface="Arial MT"/>
            </a:endParaRPr>
          </a:p>
          <a:p>
            <a:pPr marL="268605">
              <a:lnSpc>
                <a:spcPct val="100000"/>
              </a:lnSpc>
              <a:spcBef>
                <a:spcPts val="115"/>
              </a:spcBef>
            </a:pPr>
            <a:r>
              <a:rPr dirty="0" sz="1000" spc="-10">
                <a:latin typeface="Arial MT"/>
                <a:cs typeface="Arial MT"/>
              </a:rPr>
              <a:t>125.89</a:t>
            </a:r>
            <a:endParaRPr sz="1000">
              <a:latin typeface="Arial MT"/>
              <a:cs typeface="Arial MT"/>
            </a:endParaRPr>
          </a:p>
        </p:txBody>
      </p:sp>
      <p:sp>
        <p:nvSpPr>
          <p:cNvPr id="14" name="object 14" descr=""/>
          <p:cNvSpPr txBox="1"/>
          <p:nvPr/>
        </p:nvSpPr>
        <p:spPr>
          <a:xfrm>
            <a:off x="3081822" y="1963375"/>
            <a:ext cx="709930" cy="288290"/>
          </a:xfrm>
          <a:prstGeom prst="rect">
            <a:avLst/>
          </a:prstGeom>
        </p:spPr>
        <p:txBody>
          <a:bodyPr wrap="square" lIns="0" tIns="12700" rIns="0" bIns="0" rtlCol="0" vert="horz">
            <a:spAutoFit/>
          </a:bodyPr>
          <a:lstStyle/>
          <a:p>
            <a:pPr marL="12700">
              <a:lnSpc>
                <a:spcPts val="1035"/>
              </a:lnSpc>
              <a:spcBef>
                <a:spcPts val="100"/>
              </a:spcBef>
            </a:pPr>
            <a:r>
              <a:rPr dirty="0" sz="1000" spc="-10">
                <a:latin typeface="Arial MT"/>
                <a:cs typeface="Arial MT"/>
              </a:rPr>
              <a:t>128.42</a:t>
            </a:r>
            <a:endParaRPr sz="1000">
              <a:latin typeface="Arial MT"/>
              <a:cs typeface="Arial MT"/>
            </a:endParaRPr>
          </a:p>
          <a:p>
            <a:pPr marL="307340">
              <a:lnSpc>
                <a:spcPts val="1035"/>
              </a:lnSpc>
            </a:pPr>
            <a:r>
              <a:rPr dirty="0" sz="1000" spc="-10">
                <a:latin typeface="Arial MT"/>
                <a:cs typeface="Arial MT"/>
              </a:rPr>
              <a:t>127.68</a:t>
            </a:r>
            <a:endParaRPr sz="1000">
              <a:latin typeface="Arial MT"/>
              <a:cs typeface="Arial MT"/>
            </a:endParaRPr>
          </a:p>
        </p:txBody>
      </p:sp>
      <p:sp>
        <p:nvSpPr>
          <p:cNvPr id="15" name="object 15" descr=""/>
          <p:cNvSpPr txBox="1"/>
          <p:nvPr/>
        </p:nvSpPr>
        <p:spPr>
          <a:xfrm>
            <a:off x="568721" y="1777803"/>
            <a:ext cx="279400" cy="925194"/>
          </a:xfrm>
          <a:prstGeom prst="rect">
            <a:avLst/>
          </a:prstGeom>
        </p:spPr>
        <p:txBody>
          <a:bodyPr wrap="square" lIns="0" tIns="54610" rIns="0" bIns="0" rtlCol="0" vert="horz">
            <a:spAutoFit/>
          </a:bodyPr>
          <a:lstStyle/>
          <a:p>
            <a:pPr marL="12700">
              <a:lnSpc>
                <a:spcPct val="100000"/>
              </a:lnSpc>
              <a:spcBef>
                <a:spcPts val="430"/>
              </a:spcBef>
            </a:pPr>
            <a:r>
              <a:rPr dirty="0" sz="1200" spc="-25">
                <a:latin typeface="Arial MT"/>
                <a:cs typeface="Arial MT"/>
              </a:rPr>
              <a:t>160</a:t>
            </a:r>
            <a:endParaRPr sz="1200">
              <a:latin typeface="Arial MT"/>
              <a:cs typeface="Arial MT"/>
            </a:endParaRPr>
          </a:p>
          <a:p>
            <a:pPr marL="12700">
              <a:lnSpc>
                <a:spcPct val="100000"/>
              </a:lnSpc>
              <a:spcBef>
                <a:spcPts val="330"/>
              </a:spcBef>
            </a:pPr>
            <a:r>
              <a:rPr dirty="0" sz="1200" spc="-25">
                <a:latin typeface="Arial MT"/>
                <a:cs typeface="Arial MT"/>
              </a:rPr>
              <a:t>140</a:t>
            </a:r>
            <a:endParaRPr sz="1200">
              <a:latin typeface="Arial MT"/>
              <a:cs typeface="Arial MT"/>
            </a:endParaRPr>
          </a:p>
          <a:p>
            <a:pPr marL="12700">
              <a:lnSpc>
                <a:spcPct val="100000"/>
              </a:lnSpc>
              <a:spcBef>
                <a:spcPts val="330"/>
              </a:spcBef>
            </a:pPr>
            <a:r>
              <a:rPr dirty="0" sz="1200" spc="-25">
                <a:latin typeface="Arial MT"/>
                <a:cs typeface="Arial MT"/>
              </a:rPr>
              <a:t>120</a:t>
            </a:r>
            <a:endParaRPr sz="1200">
              <a:latin typeface="Arial MT"/>
              <a:cs typeface="Arial MT"/>
            </a:endParaRPr>
          </a:p>
          <a:p>
            <a:pPr marL="12700">
              <a:lnSpc>
                <a:spcPct val="100000"/>
              </a:lnSpc>
              <a:spcBef>
                <a:spcPts val="334"/>
              </a:spcBef>
            </a:pPr>
            <a:r>
              <a:rPr dirty="0" sz="1200" spc="-25">
                <a:latin typeface="Arial MT"/>
                <a:cs typeface="Arial MT"/>
              </a:rPr>
              <a:t>100</a:t>
            </a:r>
            <a:endParaRPr sz="1200">
              <a:latin typeface="Arial MT"/>
              <a:cs typeface="Arial MT"/>
            </a:endParaRPr>
          </a:p>
        </p:txBody>
      </p:sp>
      <p:sp>
        <p:nvSpPr>
          <p:cNvPr id="16" name="object 16" descr=""/>
          <p:cNvSpPr/>
          <p:nvPr/>
        </p:nvSpPr>
        <p:spPr>
          <a:xfrm>
            <a:off x="891539" y="3041142"/>
            <a:ext cx="77470" cy="77470"/>
          </a:xfrm>
          <a:custGeom>
            <a:avLst/>
            <a:gdLst/>
            <a:ahLst/>
            <a:cxnLst/>
            <a:rect l="l" t="t" r="r" b="b"/>
            <a:pathLst>
              <a:path w="77469" h="77469">
                <a:moveTo>
                  <a:pt x="76962" y="0"/>
                </a:moveTo>
                <a:lnTo>
                  <a:pt x="0" y="0"/>
                </a:lnTo>
                <a:lnTo>
                  <a:pt x="0" y="76962"/>
                </a:lnTo>
                <a:lnTo>
                  <a:pt x="76962" y="76962"/>
                </a:lnTo>
                <a:lnTo>
                  <a:pt x="76962" y="0"/>
                </a:lnTo>
                <a:close/>
              </a:path>
            </a:pathLst>
          </a:custGeom>
          <a:solidFill>
            <a:srgbClr val="00B050"/>
          </a:solidFill>
        </p:spPr>
        <p:txBody>
          <a:bodyPr wrap="square" lIns="0" tIns="0" rIns="0" bIns="0" rtlCol="0"/>
          <a:lstStyle/>
          <a:p/>
        </p:txBody>
      </p:sp>
      <p:sp>
        <p:nvSpPr>
          <p:cNvPr id="17" name="object 17" descr=""/>
          <p:cNvSpPr txBox="1"/>
          <p:nvPr/>
        </p:nvSpPr>
        <p:spPr>
          <a:xfrm>
            <a:off x="988561" y="2678656"/>
            <a:ext cx="1316355" cy="497840"/>
          </a:xfrm>
          <a:prstGeom prst="rect">
            <a:avLst/>
          </a:prstGeom>
        </p:spPr>
        <p:txBody>
          <a:bodyPr wrap="square" lIns="0" tIns="11430" rIns="0" bIns="0" rtlCol="0" vert="horz">
            <a:spAutoFit/>
          </a:bodyPr>
          <a:lstStyle/>
          <a:p>
            <a:pPr marL="59690">
              <a:lnSpc>
                <a:spcPct val="100000"/>
              </a:lnSpc>
              <a:spcBef>
                <a:spcPts val="90"/>
              </a:spcBef>
              <a:tabLst>
                <a:tab pos="771525" algn="l"/>
              </a:tabLst>
            </a:pPr>
            <a:r>
              <a:rPr dirty="0" sz="1200" spc="-10">
                <a:latin typeface="Arial MT"/>
                <a:cs typeface="Arial MT"/>
              </a:rPr>
              <a:t>PUCCH</a:t>
            </a:r>
            <a:r>
              <a:rPr dirty="0" sz="1200">
                <a:latin typeface="Arial MT"/>
                <a:cs typeface="Arial MT"/>
              </a:rPr>
              <a:t>	</a:t>
            </a:r>
            <a:r>
              <a:rPr dirty="0" sz="1200" spc="-20">
                <a:latin typeface="Arial MT"/>
                <a:cs typeface="Arial MT"/>
              </a:rPr>
              <a:t>PUSCH</a:t>
            </a:r>
            <a:endParaRPr sz="1200">
              <a:latin typeface="Arial MT"/>
              <a:cs typeface="Arial MT"/>
            </a:endParaRPr>
          </a:p>
          <a:p>
            <a:pPr marL="12700">
              <a:lnSpc>
                <a:spcPct val="100000"/>
              </a:lnSpc>
              <a:spcBef>
                <a:spcPts val="844"/>
              </a:spcBef>
            </a:pPr>
            <a:r>
              <a:rPr dirty="0" sz="1200">
                <a:latin typeface="Arial MT"/>
                <a:cs typeface="Arial MT"/>
              </a:rPr>
              <a:t>FDD</a:t>
            </a:r>
            <a:r>
              <a:rPr dirty="0" sz="1200" spc="-40">
                <a:latin typeface="Arial MT"/>
                <a:cs typeface="Arial MT"/>
              </a:rPr>
              <a:t> </a:t>
            </a:r>
            <a:r>
              <a:rPr dirty="0" sz="1200">
                <a:latin typeface="Arial MT"/>
                <a:cs typeface="Arial MT"/>
              </a:rPr>
              <a:t>1.8G</a:t>
            </a:r>
            <a:r>
              <a:rPr dirty="0" sz="1200" spc="-35">
                <a:latin typeface="Arial MT"/>
                <a:cs typeface="Arial MT"/>
              </a:rPr>
              <a:t> </a:t>
            </a:r>
            <a:r>
              <a:rPr dirty="0" sz="1200" spc="-20">
                <a:latin typeface="Arial MT"/>
                <a:cs typeface="Arial MT"/>
              </a:rPr>
              <a:t>4T4R</a:t>
            </a:r>
            <a:endParaRPr sz="1200">
              <a:latin typeface="Arial MT"/>
              <a:cs typeface="Arial MT"/>
            </a:endParaRPr>
          </a:p>
        </p:txBody>
      </p:sp>
      <p:sp>
        <p:nvSpPr>
          <p:cNvPr id="18" name="object 18" descr=""/>
          <p:cNvSpPr/>
          <p:nvPr/>
        </p:nvSpPr>
        <p:spPr>
          <a:xfrm>
            <a:off x="2311907" y="3041142"/>
            <a:ext cx="77470" cy="77470"/>
          </a:xfrm>
          <a:custGeom>
            <a:avLst/>
            <a:gdLst/>
            <a:ahLst/>
            <a:cxnLst/>
            <a:rect l="l" t="t" r="r" b="b"/>
            <a:pathLst>
              <a:path w="77469" h="77469">
                <a:moveTo>
                  <a:pt x="76962" y="0"/>
                </a:moveTo>
                <a:lnTo>
                  <a:pt x="0" y="0"/>
                </a:lnTo>
                <a:lnTo>
                  <a:pt x="0" y="76962"/>
                </a:lnTo>
                <a:lnTo>
                  <a:pt x="76962" y="76962"/>
                </a:lnTo>
                <a:lnTo>
                  <a:pt x="76962" y="0"/>
                </a:lnTo>
                <a:close/>
              </a:path>
            </a:pathLst>
          </a:custGeom>
          <a:solidFill>
            <a:srgbClr val="00B0F0"/>
          </a:solidFill>
        </p:spPr>
        <p:txBody>
          <a:bodyPr wrap="square" lIns="0" tIns="0" rIns="0" bIns="0" rtlCol="0"/>
          <a:lstStyle/>
          <a:p/>
        </p:txBody>
      </p:sp>
      <p:sp>
        <p:nvSpPr>
          <p:cNvPr id="19" name="object 19" descr=""/>
          <p:cNvSpPr txBox="1"/>
          <p:nvPr/>
        </p:nvSpPr>
        <p:spPr>
          <a:xfrm>
            <a:off x="2409070" y="2678656"/>
            <a:ext cx="1315085" cy="497840"/>
          </a:xfrm>
          <a:prstGeom prst="rect">
            <a:avLst/>
          </a:prstGeom>
        </p:spPr>
        <p:txBody>
          <a:bodyPr wrap="square" lIns="0" tIns="11430" rIns="0" bIns="0" rtlCol="0" vert="horz">
            <a:spAutoFit/>
          </a:bodyPr>
          <a:lstStyle/>
          <a:p>
            <a:pPr marL="58419">
              <a:lnSpc>
                <a:spcPct val="100000"/>
              </a:lnSpc>
              <a:spcBef>
                <a:spcPts val="90"/>
              </a:spcBef>
              <a:tabLst>
                <a:tab pos="760730" algn="l"/>
              </a:tabLst>
            </a:pPr>
            <a:r>
              <a:rPr dirty="0" sz="1200" spc="-10">
                <a:latin typeface="Arial MT"/>
                <a:cs typeface="Arial MT"/>
              </a:rPr>
              <a:t>PDSCH</a:t>
            </a:r>
            <a:r>
              <a:rPr dirty="0" sz="1200">
                <a:latin typeface="Arial MT"/>
                <a:cs typeface="Arial MT"/>
              </a:rPr>
              <a:t>	</a:t>
            </a:r>
            <a:r>
              <a:rPr dirty="0" sz="1200" spc="-10">
                <a:latin typeface="Arial MT"/>
                <a:cs typeface="Arial MT"/>
              </a:rPr>
              <a:t>PDCCH</a:t>
            </a:r>
            <a:endParaRPr sz="1200">
              <a:latin typeface="Arial MT"/>
              <a:cs typeface="Arial MT"/>
            </a:endParaRPr>
          </a:p>
          <a:p>
            <a:pPr marL="12700">
              <a:lnSpc>
                <a:spcPct val="100000"/>
              </a:lnSpc>
              <a:spcBef>
                <a:spcPts val="844"/>
              </a:spcBef>
            </a:pPr>
            <a:r>
              <a:rPr dirty="0" sz="1200">
                <a:latin typeface="Arial MT"/>
                <a:cs typeface="Arial MT"/>
              </a:rPr>
              <a:t>NR</a:t>
            </a:r>
            <a:r>
              <a:rPr dirty="0" sz="1200" spc="-35">
                <a:latin typeface="Arial MT"/>
                <a:cs typeface="Arial MT"/>
              </a:rPr>
              <a:t> </a:t>
            </a:r>
            <a:r>
              <a:rPr dirty="0" sz="1200">
                <a:latin typeface="Arial MT"/>
                <a:cs typeface="Arial MT"/>
              </a:rPr>
              <a:t>3.5G</a:t>
            </a:r>
            <a:r>
              <a:rPr dirty="0" sz="1200" spc="-30">
                <a:latin typeface="Arial MT"/>
                <a:cs typeface="Arial MT"/>
              </a:rPr>
              <a:t> </a:t>
            </a:r>
            <a:r>
              <a:rPr dirty="0" sz="1200" spc="-10">
                <a:latin typeface="Arial MT"/>
                <a:cs typeface="Arial MT"/>
              </a:rPr>
              <a:t>64T64R</a:t>
            </a:r>
            <a:endParaRPr sz="1200">
              <a:latin typeface="Arial MT"/>
              <a:cs typeface="Arial MT"/>
            </a:endParaRPr>
          </a:p>
        </p:txBody>
      </p:sp>
      <p:grpSp>
        <p:nvGrpSpPr>
          <p:cNvPr id="20" name="object 20" descr=""/>
          <p:cNvGrpSpPr/>
          <p:nvPr/>
        </p:nvGrpSpPr>
        <p:grpSpPr>
          <a:xfrm>
            <a:off x="895315" y="2193559"/>
            <a:ext cx="3103880" cy="852805"/>
            <a:chOff x="895315" y="2193559"/>
            <a:chExt cx="3103880" cy="852805"/>
          </a:xfrm>
        </p:grpSpPr>
        <p:sp>
          <p:nvSpPr>
            <p:cNvPr id="21" name="object 21" descr=""/>
            <p:cNvSpPr/>
            <p:nvPr/>
          </p:nvSpPr>
          <p:spPr>
            <a:xfrm>
              <a:off x="895315" y="2378938"/>
              <a:ext cx="2764790" cy="0"/>
            </a:xfrm>
            <a:custGeom>
              <a:avLst/>
              <a:gdLst/>
              <a:ahLst/>
              <a:cxnLst/>
              <a:rect l="l" t="t" r="r" b="b"/>
              <a:pathLst>
                <a:path w="2764790" h="0">
                  <a:moveTo>
                    <a:pt x="0" y="0"/>
                  </a:moveTo>
                  <a:lnTo>
                    <a:pt x="2764409" y="0"/>
                  </a:lnTo>
                </a:path>
              </a:pathLst>
            </a:custGeom>
            <a:ln w="25400">
              <a:solidFill>
                <a:srgbClr val="C00000"/>
              </a:solidFill>
              <a:prstDash val="sysDash"/>
            </a:ln>
          </p:spPr>
          <p:txBody>
            <a:bodyPr wrap="square" lIns="0" tIns="0" rIns="0" bIns="0" rtlCol="0"/>
            <a:lstStyle/>
            <a:p/>
          </p:txBody>
        </p:sp>
        <p:sp>
          <p:nvSpPr>
            <p:cNvPr id="22" name="object 22" descr=""/>
            <p:cNvSpPr/>
            <p:nvPr/>
          </p:nvSpPr>
          <p:spPr>
            <a:xfrm>
              <a:off x="2184492" y="2206259"/>
              <a:ext cx="1802130" cy="827405"/>
            </a:xfrm>
            <a:custGeom>
              <a:avLst/>
              <a:gdLst/>
              <a:ahLst/>
              <a:cxnLst/>
              <a:rect l="l" t="t" r="r" b="b"/>
              <a:pathLst>
                <a:path w="1802129" h="827405">
                  <a:moveTo>
                    <a:pt x="0" y="413626"/>
                  </a:moveTo>
                  <a:lnTo>
                    <a:pt x="8947" y="355108"/>
                  </a:lnTo>
                  <a:lnTo>
                    <a:pt x="34975" y="299113"/>
                  </a:lnTo>
                  <a:lnTo>
                    <a:pt x="76864" y="246199"/>
                  </a:lnTo>
                  <a:lnTo>
                    <a:pt x="133395" y="196927"/>
                  </a:lnTo>
                  <a:lnTo>
                    <a:pt x="166770" y="173832"/>
                  </a:lnTo>
                  <a:lnTo>
                    <a:pt x="203349" y="151858"/>
                  </a:lnTo>
                  <a:lnTo>
                    <a:pt x="242977" y="131073"/>
                  </a:lnTo>
                  <a:lnTo>
                    <a:pt x="285504" y="111550"/>
                  </a:lnTo>
                  <a:lnTo>
                    <a:pt x="330777" y="93356"/>
                  </a:lnTo>
                  <a:lnTo>
                    <a:pt x="378643" y="76564"/>
                  </a:lnTo>
                  <a:lnTo>
                    <a:pt x="428949" y="61241"/>
                  </a:lnTo>
                  <a:lnTo>
                    <a:pt x="481544" y="47459"/>
                  </a:lnTo>
                  <a:lnTo>
                    <a:pt x="536275" y="35288"/>
                  </a:lnTo>
                  <a:lnTo>
                    <a:pt x="592989" y="24797"/>
                  </a:lnTo>
                  <a:lnTo>
                    <a:pt x="651534" y="16057"/>
                  </a:lnTo>
                  <a:lnTo>
                    <a:pt x="711758" y="9137"/>
                  </a:lnTo>
                  <a:lnTo>
                    <a:pt x="773508" y="4107"/>
                  </a:lnTo>
                  <a:lnTo>
                    <a:pt x="836631" y="1038"/>
                  </a:lnTo>
                  <a:lnTo>
                    <a:pt x="900976" y="0"/>
                  </a:lnTo>
                  <a:lnTo>
                    <a:pt x="965318" y="1038"/>
                  </a:lnTo>
                  <a:lnTo>
                    <a:pt x="1028440" y="4107"/>
                  </a:lnTo>
                  <a:lnTo>
                    <a:pt x="1090189" y="9137"/>
                  </a:lnTo>
                  <a:lnTo>
                    <a:pt x="1150411" y="16057"/>
                  </a:lnTo>
                  <a:lnTo>
                    <a:pt x="1208955" y="24797"/>
                  </a:lnTo>
                  <a:lnTo>
                    <a:pt x="1265669" y="35288"/>
                  </a:lnTo>
                  <a:lnTo>
                    <a:pt x="1320399" y="47459"/>
                  </a:lnTo>
                  <a:lnTo>
                    <a:pt x="1372993" y="61241"/>
                  </a:lnTo>
                  <a:lnTo>
                    <a:pt x="1423299" y="76564"/>
                  </a:lnTo>
                  <a:lnTo>
                    <a:pt x="1471164" y="93356"/>
                  </a:lnTo>
                  <a:lnTo>
                    <a:pt x="1516436" y="111550"/>
                  </a:lnTo>
                  <a:lnTo>
                    <a:pt x="1558963" y="131073"/>
                  </a:lnTo>
                  <a:lnTo>
                    <a:pt x="1598591" y="151858"/>
                  </a:lnTo>
                  <a:lnTo>
                    <a:pt x="1635169" y="173832"/>
                  </a:lnTo>
                  <a:lnTo>
                    <a:pt x="1668544" y="196927"/>
                  </a:lnTo>
                  <a:lnTo>
                    <a:pt x="1698563" y="221073"/>
                  </a:lnTo>
                  <a:lnTo>
                    <a:pt x="1747926" y="272236"/>
                  </a:lnTo>
                  <a:lnTo>
                    <a:pt x="1782037" y="326760"/>
                  </a:lnTo>
                  <a:lnTo>
                    <a:pt x="1799677" y="384087"/>
                  </a:lnTo>
                  <a:lnTo>
                    <a:pt x="1801939" y="413626"/>
                  </a:lnTo>
                  <a:lnTo>
                    <a:pt x="1799677" y="443166"/>
                  </a:lnTo>
                  <a:lnTo>
                    <a:pt x="1792992" y="472146"/>
                  </a:lnTo>
                  <a:lnTo>
                    <a:pt x="1766964" y="528143"/>
                  </a:lnTo>
                  <a:lnTo>
                    <a:pt x="1725075" y="581058"/>
                  </a:lnTo>
                  <a:lnTo>
                    <a:pt x="1668544" y="630330"/>
                  </a:lnTo>
                  <a:lnTo>
                    <a:pt x="1635169" y="653425"/>
                  </a:lnTo>
                  <a:lnTo>
                    <a:pt x="1598591" y="675399"/>
                  </a:lnTo>
                  <a:lnTo>
                    <a:pt x="1558963" y="696183"/>
                  </a:lnTo>
                  <a:lnTo>
                    <a:pt x="1516436" y="715707"/>
                  </a:lnTo>
                  <a:lnTo>
                    <a:pt x="1471164" y="733899"/>
                  </a:lnTo>
                  <a:lnTo>
                    <a:pt x="1423299" y="750692"/>
                  </a:lnTo>
                  <a:lnTo>
                    <a:pt x="1372993" y="766013"/>
                  </a:lnTo>
                  <a:lnTo>
                    <a:pt x="1320399" y="779795"/>
                  </a:lnTo>
                  <a:lnTo>
                    <a:pt x="1265669" y="791966"/>
                  </a:lnTo>
                  <a:lnTo>
                    <a:pt x="1208955" y="802456"/>
                  </a:lnTo>
                  <a:lnTo>
                    <a:pt x="1150411" y="811196"/>
                  </a:lnTo>
                  <a:lnTo>
                    <a:pt x="1090189" y="818116"/>
                  </a:lnTo>
                  <a:lnTo>
                    <a:pt x="1028440" y="823145"/>
                  </a:lnTo>
                  <a:lnTo>
                    <a:pt x="965318" y="826214"/>
                  </a:lnTo>
                  <a:lnTo>
                    <a:pt x="900976" y="827252"/>
                  </a:lnTo>
                  <a:lnTo>
                    <a:pt x="836631" y="826214"/>
                  </a:lnTo>
                  <a:lnTo>
                    <a:pt x="773508" y="823145"/>
                  </a:lnTo>
                  <a:lnTo>
                    <a:pt x="711758" y="818116"/>
                  </a:lnTo>
                  <a:lnTo>
                    <a:pt x="651534" y="811196"/>
                  </a:lnTo>
                  <a:lnTo>
                    <a:pt x="592989" y="802456"/>
                  </a:lnTo>
                  <a:lnTo>
                    <a:pt x="536275" y="791966"/>
                  </a:lnTo>
                  <a:lnTo>
                    <a:pt x="481544" y="779795"/>
                  </a:lnTo>
                  <a:lnTo>
                    <a:pt x="428949" y="766013"/>
                  </a:lnTo>
                  <a:lnTo>
                    <a:pt x="378643" y="750692"/>
                  </a:lnTo>
                  <a:lnTo>
                    <a:pt x="330777" y="733899"/>
                  </a:lnTo>
                  <a:lnTo>
                    <a:pt x="285504" y="715707"/>
                  </a:lnTo>
                  <a:lnTo>
                    <a:pt x="242977" y="696183"/>
                  </a:lnTo>
                  <a:lnTo>
                    <a:pt x="203349" y="675399"/>
                  </a:lnTo>
                  <a:lnTo>
                    <a:pt x="166770" y="653425"/>
                  </a:lnTo>
                  <a:lnTo>
                    <a:pt x="133395" y="630330"/>
                  </a:lnTo>
                  <a:lnTo>
                    <a:pt x="103376" y="606184"/>
                  </a:lnTo>
                  <a:lnTo>
                    <a:pt x="54013" y="555021"/>
                  </a:lnTo>
                  <a:lnTo>
                    <a:pt x="19902" y="500495"/>
                  </a:lnTo>
                  <a:lnTo>
                    <a:pt x="2262" y="443166"/>
                  </a:lnTo>
                  <a:lnTo>
                    <a:pt x="0" y="413626"/>
                  </a:lnTo>
                  <a:close/>
                </a:path>
              </a:pathLst>
            </a:custGeom>
            <a:ln w="25399">
              <a:solidFill>
                <a:srgbClr val="FF0000"/>
              </a:solidFill>
            </a:ln>
          </p:spPr>
          <p:txBody>
            <a:bodyPr wrap="square" lIns="0" tIns="0" rIns="0" bIns="0" rtlCol="0"/>
            <a:lstStyle/>
            <a:p/>
          </p:txBody>
        </p:sp>
      </p:grpSp>
      <p:sp>
        <p:nvSpPr>
          <p:cNvPr id="23" name="object 23" descr=""/>
          <p:cNvSpPr txBox="1"/>
          <p:nvPr/>
        </p:nvSpPr>
        <p:spPr>
          <a:xfrm>
            <a:off x="578055" y="1600934"/>
            <a:ext cx="420370" cy="147320"/>
          </a:xfrm>
          <a:prstGeom prst="rect">
            <a:avLst/>
          </a:prstGeom>
        </p:spPr>
        <p:txBody>
          <a:bodyPr wrap="square" lIns="0" tIns="12065" rIns="0" bIns="0" rtlCol="0" vert="horz">
            <a:spAutoFit/>
          </a:bodyPr>
          <a:lstStyle/>
          <a:p>
            <a:pPr marL="12700">
              <a:lnSpc>
                <a:spcPct val="100000"/>
              </a:lnSpc>
              <a:spcBef>
                <a:spcPts val="95"/>
              </a:spcBef>
            </a:pPr>
            <a:r>
              <a:rPr dirty="0" sz="800">
                <a:latin typeface="Arial MT"/>
                <a:cs typeface="Arial MT"/>
              </a:rPr>
              <a:t>MCL:</a:t>
            </a:r>
            <a:r>
              <a:rPr dirty="0" sz="800" spc="-20">
                <a:latin typeface="Arial MT"/>
                <a:cs typeface="Arial MT"/>
              </a:rPr>
              <a:t> </a:t>
            </a:r>
            <a:r>
              <a:rPr dirty="0" sz="800" spc="-25">
                <a:latin typeface="Arial MT"/>
                <a:cs typeface="Arial MT"/>
              </a:rPr>
              <a:t>dB</a:t>
            </a:r>
            <a:endParaRPr sz="800">
              <a:latin typeface="Arial MT"/>
              <a:cs typeface="Arial MT"/>
            </a:endParaRPr>
          </a:p>
        </p:txBody>
      </p:sp>
      <p:sp>
        <p:nvSpPr>
          <p:cNvPr id="24" name="object 24" descr=""/>
          <p:cNvSpPr txBox="1"/>
          <p:nvPr/>
        </p:nvSpPr>
        <p:spPr>
          <a:xfrm>
            <a:off x="1607778" y="3412402"/>
            <a:ext cx="762000" cy="147320"/>
          </a:xfrm>
          <a:prstGeom prst="rect">
            <a:avLst/>
          </a:prstGeom>
        </p:spPr>
        <p:txBody>
          <a:bodyPr wrap="square" lIns="0" tIns="12065" rIns="0" bIns="0" rtlCol="0" vert="horz">
            <a:spAutoFit/>
          </a:bodyPr>
          <a:lstStyle/>
          <a:p>
            <a:pPr marL="12700">
              <a:lnSpc>
                <a:spcPct val="100000"/>
              </a:lnSpc>
              <a:spcBef>
                <a:spcPts val="95"/>
              </a:spcBef>
            </a:pPr>
            <a:r>
              <a:rPr dirty="0" sz="800" spc="-10">
                <a:latin typeface="Microsoft YaHei"/>
                <a:cs typeface="Microsoft YaHei"/>
              </a:rPr>
              <a:t>穿透损耗</a:t>
            </a:r>
            <a:r>
              <a:rPr dirty="0" sz="800" spc="-20">
                <a:latin typeface="Microsoft YaHei"/>
                <a:cs typeface="Microsoft YaHei"/>
              </a:rPr>
              <a:t>（dB）</a:t>
            </a:r>
            <a:endParaRPr sz="800">
              <a:latin typeface="Microsoft YaHei"/>
              <a:cs typeface="Microsoft YaHei"/>
            </a:endParaRPr>
          </a:p>
        </p:txBody>
      </p:sp>
      <p:grpSp>
        <p:nvGrpSpPr>
          <p:cNvPr id="25" name="object 25" descr=""/>
          <p:cNvGrpSpPr/>
          <p:nvPr/>
        </p:nvGrpSpPr>
        <p:grpSpPr>
          <a:xfrm>
            <a:off x="4570272" y="1678495"/>
            <a:ext cx="3707129" cy="3220085"/>
            <a:chOff x="4570272" y="1678495"/>
            <a:chExt cx="3707129" cy="3220085"/>
          </a:xfrm>
        </p:grpSpPr>
        <p:sp>
          <p:nvSpPr>
            <p:cNvPr id="26" name="object 26" descr=""/>
            <p:cNvSpPr/>
            <p:nvPr/>
          </p:nvSpPr>
          <p:spPr>
            <a:xfrm>
              <a:off x="4575035" y="1802091"/>
              <a:ext cx="3697604" cy="3091815"/>
            </a:xfrm>
            <a:custGeom>
              <a:avLst/>
              <a:gdLst/>
              <a:ahLst/>
              <a:cxnLst/>
              <a:rect l="l" t="t" r="r" b="b"/>
              <a:pathLst>
                <a:path w="3697604" h="3091815">
                  <a:moveTo>
                    <a:pt x="3697604" y="0"/>
                  </a:moveTo>
                  <a:lnTo>
                    <a:pt x="0" y="0"/>
                  </a:lnTo>
                  <a:lnTo>
                    <a:pt x="0" y="3091688"/>
                  </a:lnTo>
                  <a:lnTo>
                    <a:pt x="3697604" y="3091688"/>
                  </a:lnTo>
                  <a:lnTo>
                    <a:pt x="3697604" y="0"/>
                  </a:lnTo>
                  <a:close/>
                </a:path>
              </a:pathLst>
            </a:custGeom>
            <a:solidFill>
              <a:srgbClr val="F7F7F7"/>
            </a:solidFill>
          </p:spPr>
          <p:txBody>
            <a:bodyPr wrap="square" lIns="0" tIns="0" rIns="0" bIns="0" rtlCol="0"/>
            <a:lstStyle/>
            <a:p/>
          </p:txBody>
        </p:sp>
        <p:sp>
          <p:nvSpPr>
            <p:cNvPr id="27" name="object 27" descr=""/>
            <p:cNvSpPr/>
            <p:nvPr/>
          </p:nvSpPr>
          <p:spPr>
            <a:xfrm>
              <a:off x="4575035" y="1802091"/>
              <a:ext cx="3697604" cy="3091815"/>
            </a:xfrm>
            <a:custGeom>
              <a:avLst/>
              <a:gdLst/>
              <a:ahLst/>
              <a:cxnLst/>
              <a:rect l="l" t="t" r="r" b="b"/>
              <a:pathLst>
                <a:path w="3697604" h="3091815">
                  <a:moveTo>
                    <a:pt x="0" y="0"/>
                  </a:moveTo>
                  <a:lnTo>
                    <a:pt x="3697604" y="0"/>
                  </a:lnTo>
                  <a:lnTo>
                    <a:pt x="3697604" y="3091688"/>
                  </a:lnTo>
                  <a:lnTo>
                    <a:pt x="0" y="3091688"/>
                  </a:lnTo>
                  <a:lnTo>
                    <a:pt x="0" y="0"/>
                  </a:lnTo>
                  <a:close/>
                </a:path>
              </a:pathLst>
            </a:custGeom>
            <a:ln w="9525">
              <a:solidFill>
                <a:srgbClr val="DADADA"/>
              </a:solidFill>
            </a:ln>
          </p:spPr>
          <p:txBody>
            <a:bodyPr wrap="square" lIns="0" tIns="0" rIns="0" bIns="0" rtlCol="0"/>
            <a:lstStyle/>
            <a:p/>
          </p:txBody>
        </p:sp>
        <p:sp>
          <p:nvSpPr>
            <p:cNvPr id="28" name="object 28" descr=""/>
            <p:cNvSpPr/>
            <p:nvPr/>
          </p:nvSpPr>
          <p:spPr>
            <a:xfrm>
              <a:off x="5183124" y="1683257"/>
              <a:ext cx="2186305" cy="2473960"/>
            </a:xfrm>
            <a:custGeom>
              <a:avLst/>
              <a:gdLst/>
              <a:ahLst/>
              <a:cxnLst/>
              <a:rect l="l" t="t" r="r" b="b"/>
              <a:pathLst>
                <a:path w="2186304" h="2473960">
                  <a:moveTo>
                    <a:pt x="0" y="2473452"/>
                  </a:moveTo>
                  <a:lnTo>
                    <a:pt x="2186178" y="2473452"/>
                  </a:lnTo>
                </a:path>
                <a:path w="2186304" h="2473960">
                  <a:moveTo>
                    <a:pt x="0" y="2198370"/>
                  </a:moveTo>
                  <a:lnTo>
                    <a:pt x="2186178" y="2198370"/>
                  </a:lnTo>
                </a:path>
                <a:path w="2186304" h="2473960">
                  <a:moveTo>
                    <a:pt x="0" y="1923288"/>
                  </a:moveTo>
                  <a:lnTo>
                    <a:pt x="2186178" y="1923288"/>
                  </a:lnTo>
                </a:path>
                <a:path w="2186304" h="2473960">
                  <a:moveTo>
                    <a:pt x="0" y="1648967"/>
                  </a:moveTo>
                  <a:lnTo>
                    <a:pt x="2186178" y="1648967"/>
                  </a:lnTo>
                </a:path>
                <a:path w="2186304" h="2473960">
                  <a:moveTo>
                    <a:pt x="0" y="1373886"/>
                  </a:moveTo>
                  <a:lnTo>
                    <a:pt x="2186178" y="1373886"/>
                  </a:lnTo>
                </a:path>
                <a:path w="2186304" h="2473960">
                  <a:moveTo>
                    <a:pt x="0" y="1099565"/>
                  </a:moveTo>
                  <a:lnTo>
                    <a:pt x="2186178" y="1099565"/>
                  </a:lnTo>
                </a:path>
                <a:path w="2186304" h="2473960">
                  <a:moveTo>
                    <a:pt x="0" y="824483"/>
                  </a:moveTo>
                  <a:lnTo>
                    <a:pt x="2186178" y="824483"/>
                  </a:lnTo>
                </a:path>
                <a:path w="2186304" h="2473960">
                  <a:moveTo>
                    <a:pt x="0" y="549401"/>
                  </a:moveTo>
                  <a:lnTo>
                    <a:pt x="2186178" y="549401"/>
                  </a:lnTo>
                </a:path>
                <a:path w="2186304" h="2473960">
                  <a:moveTo>
                    <a:pt x="0" y="275081"/>
                  </a:moveTo>
                  <a:lnTo>
                    <a:pt x="2186178" y="275081"/>
                  </a:lnTo>
                </a:path>
                <a:path w="2186304" h="2473960">
                  <a:moveTo>
                    <a:pt x="0" y="0"/>
                  </a:moveTo>
                  <a:lnTo>
                    <a:pt x="2186178" y="0"/>
                  </a:lnTo>
                </a:path>
              </a:pathLst>
            </a:custGeom>
            <a:ln w="9144">
              <a:solidFill>
                <a:srgbClr val="DADADA"/>
              </a:solidFill>
            </a:ln>
          </p:spPr>
          <p:txBody>
            <a:bodyPr wrap="square" lIns="0" tIns="0" rIns="0" bIns="0" rtlCol="0"/>
            <a:lstStyle/>
            <a:p/>
          </p:txBody>
        </p:sp>
        <p:sp>
          <p:nvSpPr>
            <p:cNvPr id="29" name="object 29" descr=""/>
            <p:cNvSpPr/>
            <p:nvPr/>
          </p:nvSpPr>
          <p:spPr>
            <a:xfrm>
              <a:off x="5183124" y="4431029"/>
              <a:ext cx="2186305" cy="0"/>
            </a:xfrm>
            <a:custGeom>
              <a:avLst/>
              <a:gdLst/>
              <a:ahLst/>
              <a:cxnLst/>
              <a:rect l="l" t="t" r="r" b="b"/>
              <a:pathLst>
                <a:path w="2186304" h="0">
                  <a:moveTo>
                    <a:pt x="0" y="0"/>
                  </a:moveTo>
                  <a:lnTo>
                    <a:pt x="2186178" y="0"/>
                  </a:lnTo>
                </a:path>
              </a:pathLst>
            </a:custGeom>
            <a:ln w="9144">
              <a:solidFill>
                <a:srgbClr val="DADADA"/>
              </a:solidFill>
            </a:ln>
          </p:spPr>
          <p:txBody>
            <a:bodyPr wrap="square" lIns="0" tIns="0" rIns="0" bIns="0" rtlCol="0"/>
            <a:lstStyle/>
            <a:p/>
          </p:txBody>
        </p:sp>
        <p:sp>
          <p:nvSpPr>
            <p:cNvPr id="30" name="object 30" descr=""/>
            <p:cNvSpPr/>
            <p:nvPr/>
          </p:nvSpPr>
          <p:spPr>
            <a:xfrm>
              <a:off x="5547741" y="3618356"/>
              <a:ext cx="1457325" cy="173355"/>
            </a:xfrm>
            <a:custGeom>
              <a:avLst/>
              <a:gdLst/>
              <a:ahLst/>
              <a:cxnLst/>
              <a:rect l="l" t="t" r="r" b="b"/>
              <a:pathLst>
                <a:path w="1457325" h="173354">
                  <a:moveTo>
                    <a:pt x="0" y="172974"/>
                  </a:moveTo>
                  <a:lnTo>
                    <a:pt x="728472" y="0"/>
                  </a:lnTo>
                  <a:lnTo>
                    <a:pt x="1456944" y="41148"/>
                  </a:lnTo>
                </a:path>
              </a:pathLst>
            </a:custGeom>
            <a:ln w="28194">
              <a:solidFill>
                <a:srgbClr val="4D3B62"/>
              </a:solidFill>
            </a:ln>
          </p:spPr>
          <p:txBody>
            <a:bodyPr wrap="square" lIns="0" tIns="0" rIns="0" bIns="0" rtlCol="0"/>
            <a:lstStyle/>
            <a:p/>
          </p:txBody>
        </p:sp>
        <p:sp>
          <p:nvSpPr>
            <p:cNvPr id="31" name="object 31" descr=""/>
            <p:cNvSpPr/>
            <p:nvPr/>
          </p:nvSpPr>
          <p:spPr>
            <a:xfrm>
              <a:off x="5547741" y="4213478"/>
              <a:ext cx="1457325" cy="125095"/>
            </a:xfrm>
            <a:custGeom>
              <a:avLst/>
              <a:gdLst/>
              <a:ahLst/>
              <a:cxnLst/>
              <a:rect l="l" t="t" r="r" b="b"/>
              <a:pathLst>
                <a:path w="1457325" h="125095">
                  <a:moveTo>
                    <a:pt x="0" y="124968"/>
                  </a:moveTo>
                  <a:lnTo>
                    <a:pt x="728472" y="30480"/>
                  </a:lnTo>
                  <a:lnTo>
                    <a:pt x="1456944" y="0"/>
                  </a:lnTo>
                </a:path>
              </a:pathLst>
            </a:custGeom>
            <a:ln w="28194">
              <a:solidFill>
                <a:srgbClr val="772C2A"/>
              </a:solidFill>
            </a:ln>
          </p:spPr>
          <p:txBody>
            <a:bodyPr wrap="square" lIns="0" tIns="0" rIns="0" bIns="0" rtlCol="0"/>
            <a:lstStyle/>
            <a:p/>
          </p:txBody>
        </p:sp>
        <p:sp>
          <p:nvSpPr>
            <p:cNvPr id="32" name="object 32" descr=""/>
            <p:cNvSpPr/>
            <p:nvPr/>
          </p:nvSpPr>
          <p:spPr>
            <a:xfrm>
              <a:off x="5547741" y="4282820"/>
              <a:ext cx="1457325" cy="87630"/>
            </a:xfrm>
            <a:custGeom>
              <a:avLst/>
              <a:gdLst/>
              <a:ahLst/>
              <a:cxnLst/>
              <a:rect l="l" t="t" r="r" b="b"/>
              <a:pathLst>
                <a:path w="1457325" h="87629">
                  <a:moveTo>
                    <a:pt x="0" y="87629"/>
                  </a:moveTo>
                  <a:lnTo>
                    <a:pt x="728472" y="63245"/>
                  </a:lnTo>
                  <a:lnTo>
                    <a:pt x="1456944" y="0"/>
                  </a:lnTo>
                </a:path>
              </a:pathLst>
            </a:custGeom>
            <a:ln w="28193">
              <a:solidFill>
                <a:srgbClr val="5F7530"/>
              </a:solidFill>
            </a:ln>
          </p:spPr>
          <p:txBody>
            <a:bodyPr wrap="square" lIns="0" tIns="0" rIns="0" bIns="0" rtlCol="0"/>
            <a:lstStyle/>
            <a:p/>
          </p:txBody>
        </p:sp>
        <p:sp>
          <p:nvSpPr>
            <p:cNvPr id="33" name="object 33" descr=""/>
            <p:cNvSpPr/>
            <p:nvPr/>
          </p:nvSpPr>
          <p:spPr>
            <a:xfrm>
              <a:off x="5547741" y="4264532"/>
              <a:ext cx="1457325" cy="52069"/>
            </a:xfrm>
            <a:custGeom>
              <a:avLst/>
              <a:gdLst/>
              <a:ahLst/>
              <a:cxnLst/>
              <a:rect l="l" t="t" r="r" b="b"/>
              <a:pathLst>
                <a:path w="1457325" h="52070">
                  <a:moveTo>
                    <a:pt x="0" y="51815"/>
                  </a:moveTo>
                  <a:lnTo>
                    <a:pt x="728472" y="23621"/>
                  </a:lnTo>
                  <a:lnTo>
                    <a:pt x="1456944" y="0"/>
                  </a:lnTo>
                </a:path>
              </a:pathLst>
            </a:custGeom>
            <a:ln w="28194">
              <a:solidFill>
                <a:srgbClr val="2C4D75"/>
              </a:solidFill>
            </a:ln>
          </p:spPr>
          <p:txBody>
            <a:bodyPr wrap="square" lIns="0" tIns="0" rIns="0" bIns="0" rtlCol="0"/>
            <a:lstStyle/>
            <a:p/>
          </p:txBody>
        </p:sp>
        <p:sp>
          <p:nvSpPr>
            <p:cNvPr id="34" name="object 34" descr=""/>
            <p:cNvSpPr/>
            <p:nvPr/>
          </p:nvSpPr>
          <p:spPr>
            <a:xfrm>
              <a:off x="5547741" y="2021204"/>
              <a:ext cx="1457325" cy="906144"/>
            </a:xfrm>
            <a:custGeom>
              <a:avLst/>
              <a:gdLst/>
              <a:ahLst/>
              <a:cxnLst/>
              <a:rect l="l" t="t" r="r" b="b"/>
              <a:pathLst>
                <a:path w="1457325" h="906144">
                  <a:moveTo>
                    <a:pt x="0" y="906018"/>
                  </a:moveTo>
                  <a:lnTo>
                    <a:pt x="728472" y="21336"/>
                  </a:lnTo>
                  <a:lnTo>
                    <a:pt x="1456944" y="0"/>
                  </a:lnTo>
                </a:path>
              </a:pathLst>
            </a:custGeom>
            <a:ln w="28194">
              <a:solidFill>
                <a:srgbClr val="4F81BD"/>
              </a:solidFill>
            </a:ln>
          </p:spPr>
          <p:txBody>
            <a:bodyPr wrap="square" lIns="0" tIns="0" rIns="0" bIns="0" rtlCol="0"/>
            <a:lstStyle/>
            <a:p/>
          </p:txBody>
        </p:sp>
        <p:sp>
          <p:nvSpPr>
            <p:cNvPr id="35" name="object 35" descr=""/>
            <p:cNvSpPr/>
            <p:nvPr/>
          </p:nvSpPr>
          <p:spPr>
            <a:xfrm>
              <a:off x="5547741" y="3025520"/>
              <a:ext cx="1457325" cy="1068070"/>
            </a:xfrm>
            <a:custGeom>
              <a:avLst/>
              <a:gdLst/>
              <a:ahLst/>
              <a:cxnLst/>
              <a:rect l="l" t="t" r="r" b="b"/>
              <a:pathLst>
                <a:path w="1457325" h="1068070">
                  <a:moveTo>
                    <a:pt x="0" y="1067561"/>
                  </a:moveTo>
                  <a:lnTo>
                    <a:pt x="728472" y="294893"/>
                  </a:lnTo>
                  <a:lnTo>
                    <a:pt x="1456944" y="0"/>
                  </a:lnTo>
                </a:path>
              </a:pathLst>
            </a:custGeom>
            <a:ln w="28194">
              <a:solidFill>
                <a:srgbClr val="C0504D"/>
              </a:solidFill>
            </a:ln>
          </p:spPr>
          <p:txBody>
            <a:bodyPr wrap="square" lIns="0" tIns="0" rIns="0" bIns="0" rtlCol="0"/>
            <a:lstStyle/>
            <a:p/>
          </p:txBody>
        </p:sp>
        <p:sp>
          <p:nvSpPr>
            <p:cNvPr id="36" name="object 36" descr=""/>
            <p:cNvSpPr/>
            <p:nvPr/>
          </p:nvSpPr>
          <p:spPr>
            <a:xfrm>
              <a:off x="5547741" y="2831972"/>
              <a:ext cx="1457325" cy="1249045"/>
            </a:xfrm>
            <a:custGeom>
              <a:avLst/>
              <a:gdLst/>
              <a:ahLst/>
              <a:cxnLst/>
              <a:rect l="l" t="t" r="r" b="b"/>
              <a:pathLst>
                <a:path w="1457325" h="1249045">
                  <a:moveTo>
                    <a:pt x="0" y="1248917"/>
                  </a:moveTo>
                  <a:lnTo>
                    <a:pt x="728472" y="264413"/>
                  </a:lnTo>
                  <a:lnTo>
                    <a:pt x="1456944" y="0"/>
                  </a:lnTo>
                </a:path>
              </a:pathLst>
            </a:custGeom>
            <a:ln w="28193">
              <a:solidFill>
                <a:srgbClr val="9BBB59"/>
              </a:solidFill>
            </a:ln>
          </p:spPr>
          <p:txBody>
            <a:bodyPr wrap="square" lIns="0" tIns="0" rIns="0" bIns="0" rtlCol="0"/>
            <a:lstStyle/>
            <a:p/>
          </p:txBody>
        </p:sp>
        <p:sp>
          <p:nvSpPr>
            <p:cNvPr id="37" name="object 37" descr=""/>
            <p:cNvSpPr/>
            <p:nvPr/>
          </p:nvSpPr>
          <p:spPr>
            <a:xfrm>
              <a:off x="5547741" y="4282820"/>
              <a:ext cx="1457325" cy="97790"/>
            </a:xfrm>
            <a:custGeom>
              <a:avLst/>
              <a:gdLst/>
              <a:ahLst/>
              <a:cxnLst/>
              <a:rect l="l" t="t" r="r" b="b"/>
              <a:pathLst>
                <a:path w="1457325" h="97789">
                  <a:moveTo>
                    <a:pt x="0" y="97535"/>
                  </a:moveTo>
                  <a:lnTo>
                    <a:pt x="728472" y="41909"/>
                  </a:lnTo>
                  <a:lnTo>
                    <a:pt x="1456944" y="0"/>
                  </a:lnTo>
                </a:path>
              </a:pathLst>
            </a:custGeom>
            <a:ln w="28194">
              <a:solidFill>
                <a:srgbClr val="8064A2"/>
              </a:solidFill>
            </a:ln>
          </p:spPr>
          <p:txBody>
            <a:bodyPr wrap="square" lIns="0" tIns="0" rIns="0" bIns="0" rtlCol="0"/>
            <a:lstStyle/>
            <a:p/>
          </p:txBody>
        </p:sp>
        <p:sp>
          <p:nvSpPr>
            <p:cNvPr id="38" name="object 38" descr=""/>
            <p:cNvSpPr/>
            <p:nvPr/>
          </p:nvSpPr>
          <p:spPr>
            <a:xfrm>
              <a:off x="5547741" y="3914012"/>
              <a:ext cx="1457325" cy="329565"/>
            </a:xfrm>
            <a:custGeom>
              <a:avLst/>
              <a:gdLst/>
              <a:ahLst/>
              <a:cxnLst/>
              <a:rect l="l" t="t" r="r" b="b"/>
              <a:pathLst>
                <a:path w="1457325" h="329564">
                  <a:moveTo>
                    <a:pt x="0" y="329184"/>
                  </a:moveTo>
                  <a:lnTo>
                    <a:pt x="728472" y="188214"/>
                  </a:lnTo>
                  <a:lnTo>
                    <a:pt x="1456944" y="0"/>
                  </a:lnTo>
                </a:path>
              </a:pathLst>
            </a:custGeom>
            <a:ln w="28194">
              <a:solidFill>
                <a:srgbClr val="4BACC6"/>
              </a:solidFill>
            </a:ln>
          </p:spPr>
          <p:txBody>
            <a:bodyPr wrap="square" lIns="0" tIns="0" rIns="0" bIns="0" rtlCol="0"/>
            <a:lstStyle/>
            <a:p/>
          </p:txBody>
        </p:sp>
        <p:sp>
          <p:nvSpPr>
            <p:cNvPr id="39" name="object 39" descr=""/>
            <p:cNvSpPr/>
            <p:nvPr/>
          </p:nvSpPr>
          <p:spPr>
            <a:xfrm>
              <a:off x="5547741" y="4064888"/>
              <a:ext cx="1457325" cy="283210"/>
            </a:xfrm>
            <a:custGeom>
              <a:avLst/>
              <a:gdLst/>
              <a:ahLst/>
              <a:cxnLst/>
              <a:rect l="l" t="t" r="r" b="b"/>
              <a:pathLst>
                <a:path w="1457325" h="283210">
                  <a:moveTo>
                    <a:pt x="0" y="282702"/>
                  </a:moveTo>
                  <a:lnTo>
                    <a:pt x="728472" y="50292"/>
                  </a:lnTo>
                  <a:lnTo>
                    <a:pt x="1456944" y="0"/>
                  </a:lnTo>
                </a:path>
              </a:pathLst>
            </a:custGeom>
            <a:ln w="28193">
              <a:solidFill>
                <a:srgbClr val="F79646"/>
              </a:solidFill>
            </a:ln>
          </p:spPr>
          <p:txBody>
            <a:bodyPr wrap="square" lIns="0" tIns="0" rIns="0" bIns="0" rtlCol="0"/>
            <a:lstStyle/>
            <a:p/>
          </p:txBody>
        </p:sp>
      </p:grpSp>
      <p:sp>
        <p:nvSpPr>
          <p:cNvPr id="40" name="object 40" descr=""/>
          <p:cNvSpPr txBox="1"/>
          <p:nvPr/>
        </p:nvSpPr>
        <p:spPr>
          <a:xfrm>
            <a:off x="4722662" y="3779857"/>
            <a:ext cx="358775" cy="735330"/>
          </a:xfrm>
          <a:prstGeom prst="rect">
            <a:avLst/>
          </a:prstGeom>
        </p:spPr>
        <p:txBody>
          <a:bodyPr wrap="square" lIns="0" tIns="12700" rIns="0" bIns="0" rtlCol="0" vert="horz">
            <a:spAutoFit/>
          </a:bodyPr>
          <a:lstStyle/>
          <a:p>
            <a:pPr marL="12700">
              <a:lnSpc>
                <a:spcPct val="100000"/>
              </a:lnSpc>
              <a:spcBef>
                <a:spcPts val="100"/>
              </a:spcBef>
            </a:pPr>
            <a:r>
              <a:rPr dirty="0" sz="1050" spc="-10">
                <a:latin typeface="Arial MT"/>
                <a:cs typeface="Arial MT"/>
              </a:rPr>
              <a:t>20.00</a:t>
            </a:r>
            <a:endParaRPr sz="1050">
              <a:latin typeface="Arial MT"/>
              <a:cs typeface="Arial MT"/>
            </a:endParaRPr>
          </a:p>
          <a:p>
            <a:pPr marL="12700">
              <a:lnSpc>
                <a:spcPct val="100000"/>
              </a:lnSpc>
              <a:spcBef>
                <a:spcPts val="905"/>
              </a:spcBef>
            </a:pPr>
            <a:r>
              <a:rPr dirty="0" sz="1050" spc="-10">
                <a:latin typeface="Arial MT"/>
                <a:cs typeface="Arial MT"/>
              </a:rPr>
              <a:t>10.00</a:t>
            </a:r>
            <a:endParaRPr sz="1050">
              <a:latin typeface="Arial MT"/>
              <a:cs typeface="Arial MT"/>
            </a:endParaRPr>
          </a:p>
          <a:p>
            <a:pPr marL="85725">
              <a:lnSpc>
                <a:spcPct val="100000"/>
              </a:lnSpc>
              <a:spcBef>
                <a:spcPts val="900"/>
              </a:spcBef>
            </a:pPr>
            <a:r>
              <a:rPr dirty="0" sz="1050" spc="-20">
                <a:latin typeface="Arial MT"/>
                <a:cs typeface="Arial MT"/>
              </a:rPr>
              <a:t>0.00</a:t>
            </a:r>
            <a:endParaRPr sz="1050">
              <a:latin typeface="Arial MT"/>
              <a:cs typeface="Arial MT"/>
            </a:endParaRPr>
          </a:p>
        </p:txBody>
      </p:sp>
      <p:sp>
        <p:nvSpPr>
          <p:cNvPr id="41" name="object 41" descr=""/>
          <p:cNvSpPr txBox="1"/>
          <p:nvPr/>
        </p:nvSpPr>
        <p:spPr>
          <a:xfrm>
            <a:off x="4722662" y="2955354"/>
            <a:ext cx="358775" cy="735330"/>
          </a:xfrm>
          <a:prstGeom prst="rect">
            <a:avLst/>
          </a:prstGeom>
        </p:spPr>
        <p:txBody>
          <a:bodyPr wrap="square" lIns="0" tIns="12700" rIns="0" bIns="0" rtlCol="0" vert="horz">
            <a:spAutoFit/>
          </a:bodyPr>
          <a:lstStyle/>
          <a:p>
            <a:pPr marL="12700">
              <a:lnSpc>
                <a:spcPct val="100000"/>
              </a:lnSpc>
              <a:spcBef>
                <a:spcPts val="100"/>
              </a:spcBef>
            </a:pPr>
            <a:r>
              <a:rPr dirty="0" sz="1050" spc="-10">
                <a:latin typeface="Arial MT"/>
                <a:cs typeface="Arial MT"/>
              </a:rPr>
              <a:t>50.00</a:t>
            </a:r>
            <a:endParaRPr sz="1050">
              <a:latin typeface="Arial MT"/>
              <a:cs typeface="Arial MT"/>
            </a:endParaRPr>
          </a:p>
          <a:p>
            <a:pPr marL="12700">
              <a:lnSpc>
                <a:spcPct val="100000"/>
              </a:lnSpc>
              <a:spcBef>
                <a:spcPts val="905"/>
              </a:spcBef>
            </a:pPr>
            <a:r>
              <a:rPr dirty="0" sz="1050" spc="-10">
                <a:latin typeface="Arial MT"/>
                <a:cs typeface="Arial MT"/>
              </a:rPr>
              <a:t>40.00</a:t>
            </a:r>
            <a:endParaRPr sz="1050">
              <a:latin typeface="Arial MT"/>
              <a:cs typeface="Arial MT"/>
            </a:endParaRPr>
          </a:p>
          <a:p>
            <a:pPr marL="12700">
              <a:lnSpc>
                <a:spcPct val="100000"/>
              </a:lnSpc>
              <a:spcBef>
                <a:spcPts val="900"/>
              </a:spcBef>
            </a:pPr>
            <a:r>
              <a:rPr dirty="0" sz="1050" spc="-10">
                <a:latin typeface="Arial MT"/>
                <a:cs typeface="Arial MT"/>
              </a:rPr>
              <a:t>30.00</a:t>
            </a:r>
            <a:endParaRPr sz="1050">
              <a:latin typeface="Arial MT"/>
              <a:cs typeface="Arial MT"/>
            </a:endParaRPr>
          </a:p>
        </p:txBody>
      </p:sp>
      <p:sp>
        <p:nvSpPr>
          <p:cNvPr id="42" name="object 42" descr=""/>
          <p:cNvSpPr txBox="1"/>
          <p:nvPr/>
        </p:nvSpPr>
        <p:spPr>
          <a:xfrm>
            <a:off x="4722662" y="2130851"/>
            <a:ext cx="358775" cy="735330"/>
          </a:xfrm>
          <a:prstGeom prst="rect">
            <a:avLst/>
          </a:prstGeom>
        </p:spPr>
        <p:txBody>
          <a:bodyPr wrap="square" lIns="0" tIns="12700" rIns="0" bIns="0" rtlCol="0" vert="horz">
            <a:spAutoFit/>
          </a:bodyPr>
          <a:lstStyle/>
          <a:p>
            <a:pPr marL="12700">
              <a:lnSpc>
                <a:spcPct val="100000"/>
              </a:lnSpc>
              <a:spcBef>
                <a:spcPts val="100"/>
              </a:spcBef>
            </a:pPr>
            <a:r>
              <a:rPr dirty="0" sz="1050" spc="-10">
                <a:latin typeface="Arial MT"/>
                <a:cs typeface="Arial MT"/>
              </a:rPr>
              <a:t>80.00</a:t>
            </a:r>
            <a:endParaRPr sz="1050">
              <a:latin typeface="Arial MT"/>
              <a:cs typeface="Arial MT"/>
            </a:endParaRPr>
          </a:p>
          <a:p>
            <a:pPr marL="12700">
              <a:lnSpc>
                <a:spcPct val="100000"/>
              </a:lnSpc>
              <a:spcBef>
                <a:spcPts val="905"/>
              </a:spcBef>
            </a:pPr>
            <a:r>
              <a:rPr dirty="0" sz="1050" spc="-10">
                <a:latin typeface="Arial MT"/>
                <a:cs typeface="Arial MT"/>
              </a:rPr>
              <a:t>70.00</a:t>
            </a:r>
            <a:endParaRPr sz="1050">
              <a:latin typeface="Arial MT"/>
              <a:cs typeface="Arial MT"/>
            </a:endParaRPr>
          </a:p>
          <a:p>
            <a:pPr marL="12700">
              <a:lnSpc>
                <a:spcPct val="100000"/>
              </a:lnSpc>
              <a:spcBef>
                <a:spcPts val="900"/>
              </a:spcBef>
            </a:pPr>
            <a:r>
              <a:rPr dirty="0" sz="1050" spc="-10">
                <a:latin typeface="Arial MT"/>
                <a:cs typeface="Arial MT"/>
              </a:rPr>
              <a:t>60.00</a:t>
            </a:r>
            <a:endParaRPr sz="1050">
              <a:latin typeface="Arial MT"/>
              <a:cs typeface="Arial MT"/>
            </a:endParaRPr>
          </a:p>
        </p:txBody>
      </p:sp>
      <p:sp>
        <p:nvSpPr>
          <p:cNvPr id="43" name="object 43" descr=""/>
          <p:cNvSpPr txBox="1"/>
          <p:nvPr/>
        </p:nvSpPr>
        <p:spPr>
          <a:xfrm>
            <a:off x="4722662" y="1856017"/>
            <a:ext cx="358775" cy="185420"/>
          </a:xfrm>
          <a:prstGeom prst="rect">
            <a:avLst/>
          </a:prstGeom>
        </p:spPr>
        <p:txBody>
          <a:bodyPr wrap="square" lIns="0" tIns="12700" rIns="0" bIns="0" rtlCol="0" vert="horz">
            <a:spAutoFit/>
          </a:bodyPr>
          <a:lstStyle/>
          <a:p>
            <a:pPr marL="12700">
              <a:lnSpc>
                <a:spcPct val="100000"/>
              </a:lnSpc>
              <a:spcBef>
                <a:spcPts val="100"/>
              </a:spcBef>
            </a:pPr>
            <a:r>
              <a:rPr dirty="0" sz="1050" spc="-10">
                <a:latin typeface="Arial MT"/>
                <a:cs typeface="Arial MT"/>
              </a:rPr>
              <a:t>90.00</a:t>
            </a:r>
            <a:endParaRPr sz="1050">
              <a:latin typeface="Arial MT"/>
              <a:cs typeface="Arial MT"/>
            </a:endParaRPr>
          </a:p>
        </p:txBody>
      </p:sp>
      <p:sp>
        <p:nvSpPr>
          <p:cNvPr id="44" name="object 44" descr=""/>
          <p:cNvSpPr txBox="1"/>
          <p:nvPr/>
        </p:nvSpPr>
        <p:spPr>
          <a:xfrm>
            <a:off x="4648253" y="1581182"/>
            <a:ext cx="432434" cy="185420"/>
          </a:xfrm>
          <a:prstGeom prst="rect">
            <a:avLst/>
          </a:prstGeom>
        </p:spPr>
        <p:txBody>
          <a:bodyPr wrap="square" lIns="0" tIns="12700" rIns="0" bIns="0" rtlCol="0" vert="horz">
            <a:spAutoFit/>
          </a:bodyPr>
          <a:lstStyle/>
          <a:p>
            <a:pPr marL="12700">
              <a:lnSpc>
                <a:spcPct val="100000"/>
              </a:lnSpc>
              <a:spcBef>
                <a:spcPts val="100"/>
              </a:spcBef>
            </a:pPr>
            <a:r>
              <a:rPr dirty="0" sz="1050" spc="-10">
                <a:latin typeface="Arial MT"/>
                <a:cs typeface="Arial MT"/>
              </a:rPr>
              <a:t>100.00</a:t>
            </a:r>
            <a:endParaRPr sz="1050">
              <a:latin typeface="Arial MT"/>
              <a:cs typeface="Arial MT"/>
            </a:endParaRPr>
          </a:p>
        </p:txBody>
      </p:sp>
      <p:sp>
        <p:nvSpPr>
          <p:cNvPr id="45" name="object 45" descr=""/>
          <p:cNvSpPr txBox="1"/>
          <p:nvPr/>
        </p:nvSpPr>
        <p:spPr>
          <a:xfrm>
            <a:off x="5308810" y="4490582"/>
            <a:ext cx="476884" cy="185420"/>
          </a:xfrm>
          <a:prstGeom prst="rect">
            <a:avLst/>
          </a:prstGeom>
        </p:spPr>
        <p:txBody>
          <a:bodyPr wrap="square" lIns="0" tIns="12700" rIns="0" bIns="0" rtlCol="0" vert="horz">
            <a:spAutoFit/>
          </a:bodyPr>
          <a:lstStyle/>
          <a:p>
            <a:pPr marL="12700">
              <a:lnSpc>
                <a:spcPct val="100000"/>
              </a:lnSpc>
              <a:spcBef>
                <a:spcPts val="100"/>
              </a:spcBef>
            </a:pPr>
            <a:r>
              <a:rPr dirty="0" sz="1050" spc="-10">
                <a:latin typeface="Arial MT"/>
                <a:cs typeface="Arial MT"/>
              </a:rPr>
              <a:t>3.5GHz</a:t>
            </a:r>
            <a:endParaRPr sz="1050">
              <a:latin typeface="Arial MT"/>
              <a:cs typeface="Arial MT"/>
            </a:endParaRPr>
          </a:p>
        </p:txBody>
      </p:sp>
      <p:sp>
        <p:nvSpPr>
          <p:cNvPr id="46" name="object 46" descr=""/>
          <p:cNvSpPr txBox="1"/>
          <p:nvPr/>
        </p:nvSpPr>
        <p:spPr>
          <a:xfrm>
            <a:off x="6784854" y="4490582"/>
            <a:ext cx="439420" cy="185420"/>
          </a:xfrm>
          <a:prstGeom prst="rect">
            <a:avLst/>
          </a:prstGeom>
        </p:spPr>
        <p:txBody>
          <a:bodyPr wrap="square" lIns="0" tIns="12700" rIns="0" bIns="0" rtlCol="0" vert="horz">
            <a:spAutoFit/>
          </a:bodyPr>
          <a:lstStyle/>
          <a:p>
            <a:pPr marL="12700">
              <a:lnSpc>
                <a:spcPct val="100000"/>
              </a:lnSpc>
              <a:spcBef>
                <a:spcPts val="100"/>
              </a:spcBef>
            </a:pPr>
            <a:r>
              <a:rPr dirty="0" sz="1050" spc="-10">
                <a:latin typeface="Arial MT"/>
                <a:cs typeface="Arial MT"/>
              </a:rPr>
              <a:t>39GHz</a:t>
            </a:r>
            <a:endParaRPr sz="1050">
              <a:latin typeface="Arial MT"/>
              <a:cs typeface="Arial MT"/>
            </a:endParaRPr>
          </a:p>
        </p:txBody>
      </p:sp>
      <p:sp>
        <p:nvSpPr>
          <p:cNvPr id="47" name="object 47" descr=""/>
          <p:cNvSpPr txBox="1"/>
          <p:nvPr/>
        </p:nvSpPr>
        <p:spPr>
          <a:xfrm>
            <a:off x="4561145" y="2829994"/>
            <a:ext cx="174625" cy="1061085"/>
          </a:xfrm>
          <a:prstGeom prst="rect">
            <a:avLst/>
          </a:prstGeom>
        </p:spPr>
        <p:txBody>
          <a:bodyPr wrap="square" lIns="0" tIns="0" rIns="0" bIns="0" rtlCol="0" vert="vert270">
            <a:spAutoFit/>
          </a:bodyPr>
          <a:lstStyle/>
          <a:p>
            <a:pPr marL="12700">
              <a:lnSpc>
                <a:spcPct val="100000"/>
              </a:lnSpc>
            </a:pPr>
            <a:r>
              <a:rPr dirty="0" sz="1050" b="1">
                <a:latin typeface="Arial"/>
                <a:cs typeface="Arial"/>
              </a:rPr>
              <a:t>Penetration</a:t>
            </a:r>
            <a:r>
              <a:rPr dirty="0" sz="1050" spc="-50" b="1">
                <a:latin typeface="Arial"/>
                <a:cs typeface="Arial"/>
              </a:rPr>
              <a:t> </a:t>
            </a:r>
            <a:r>
              <a:rPr dirty="0" sz="1050" spc="-20" b="1">
                <a:latin typeface="Arial"/>
                <a:cs typeface="Arial"/>
              </a:rPr>
              <a:t>(dB)</a:t>
            </a:r>
            <a:endParaRPr sz="1050">
              <a:latin typeface="Arial"/>
              <a:cs typeface="Arial"/>
            </a:endParaRPr>
          </a:p>
        </p:txBody>
      </p:sp>
      <p:sp>
        <p:nvSpPr>
          <p:cNvPr id="48" name="object 48" descr=""/>
          <p:cNvSpPr txBox="1"/>
          <p:nvPr/>
        </p:nvSpPr>
        <p:spPr>
          <a:xfrm>
            <a:off x="5927469" y="4459149"/>
            <a:ext cx="699770" cy="408305"/>
          </a:xfrm>
          <a:prstGeom prst="rect">
            <a:avLst/>
          </a:prstGeom>
        </p:spPr>
        <p:txBody>
          <a:bodyPr wrap="square" lIns="0" tIns="43815" rIns="0" bIns="0" rtlCol="0" vert="horz">
            <a:spAutoFit/>
          </a:bodyPr>
          <a:lstStyle/>
          <a:p>
            <a:pPr algn="ctr">
              <a:lnSpc>
                <a:spcPct val="100000"/>
              </a:lnSpc>
              <a:spcBef>
                <a:spcPts val="345"/>
              </a:spcBef>
            </a:pPr>
            <a:r>
              <a:rPr dirty="0" sz="1050" spc="-10">
                <a:latin typeface="Arial MT"/>
                <a:cs typeface="Arial MT"/>
              </a:rPr>
              <a:t>28GHz</a:t>
            </a:r>
            <a:endParaRPr sz="1050">
              <a:latin typeface="Arial MT"/>
              <a:cs typeface="Arial MT"/>
            </a:endParaRPr>
          </a:p>
          <a:p>
            <a:pPr algn="ctr">
              <a:lnSpc>
                <a:spcPct val="100000"/>
              </a:lnSpc>
              <a:spcBef>
                <a:spcPts val="250"/>
              </a:spcBef>
            </a:pPr>
            <a:r>
              <a:rPr dirty="0" sz="1050" spc="-10" b="1">
                <a:latin typeface="Arial"/>
                <a:cs typeface="Arial"/>
              </a:rPr>
              <a:t>Frequency</a:t>
            </a:r>
            <a:endParaRPr sz="1050">
              <a:latin typeface="Arial"/>
              <a:cs typeface="Arial"/>
            </a:endParaRPr>
          </a:p>
        </p:txBody>
      </p:sp>
      <p:sp>
        <p:nvSpPr>
          <p:cNvPr id="49" name="object 49" descr=""/>
          <p:cNvSpPr/>
          <p:nvPr/>
        </p:nvSpPr>
        <p:spPr>
          <a:xfrm>
            <a:off x="7373493" y="1636395"/>
            <a:ext cx="243840" cy="0"/>
          </a:xfrm>
          <a:custGeom>
            <a:avLst/>
            <a:gdLst/>
            <a:ahLst/>
            <a:cxnLst/>
            <a:rect l="l" t="t" r="r" b="b"/>
            <a:pathLst>
              <a:path w="243840" h="0">
                <a:moveTo>
                  <a:pt x="0" y="0"/>
                </a:moveTo>
                <a:lnTo>
                  <a:pt x="243840" y="0"/>
                </a:lnTo>
              </a:path>
            </a:pathLst>
          </a:custGeom>
          <a:ln w="28194">
            <a:solidFill>
              <a:srgbClr val="4D3B62"/>
            </a:solidFill>
          </a:ln>
        </p:spPr>
        <p:txBody>
          <a:bodyPr wrap="square" lIns="0" tIns="0" rIns="0" bIns="0" rtlCol="0"/>
          <a:lstStyle/>
          <a:p/>
        </p:txBody>
      </p:sp>
      <p:sp>
        <p:nvSpPr>
          <p:cNvPr id="50" name="object 50" descr=""/>
          <p:cNvSpPr txBox="1"/>
          <p:nvPr/>
        </p:nvSpPr>
        <p:spPr>
          <a:xfrm>
            <a:off x="7630074" y="1536620"/>
            <a:ext cx="557530" cy="339090"/>
          </a:xfrm>
          <a:prstGeom prst="rect">
            <a:avLst/>
          </a:prstGeom>
        </p:spPr>
        <p:txBody>
          <a:bodyPr wrap="square" lIns="0" tIns="22860" rIns="0" bIns="0" rtlCol="0" vert="horz">
            <a:spAutoFit/>
          </a:bodyPr>
          <a:lstStyle/>
          <a:p>
            <a:pPr marL="12700" marR="5080">
              <a:lnSpc>
                <a:spcPts val="1210"/>
              </a:lnSpc>
              <a:spcBef>
                <a:spcPts val="180"/>
              </a:spcBef>
            </a:pPr>
            <a:r>
              <a:rPr dirty="0" sz="1050">
                <a:latin typeface="Arial MT"/>
                <a:cs typeface="Arial MT"/>
              </a:rPr>
              <a:t>two</a:t>
            </a:r>
            <a:r>
              <a:rPr dirty="0" sz="1050" spc="-30">
                <a:latin typeface="Arial MT"/>
                <a:cs typeface="Arial MT"/>
              </a:rPr>
              <a:t> </a:t>
            </a:r>
            <a:r>
              <a:rPr dirty="0" sz="1050" spc="-20">
                <a:latin typeface="Arial MT"/>
                <a:cs typeface="Arial MT"/>
              </a:rPr>
              <a:t>layer </a:t>
            </a:r>
            <a:r>
              <a:rPr dirty="0" sz="1050" spc="-10">
                <a:latin typeface="Arial MT"/>
                <a:cs typeface="Arial MT"/>
              </a:rPr>
              <a:t>glass</a:t>
            </a:r>
            <a:endParaRPr sz="1050">
              <a:latin typeface="Arial MT"/>
              <a:cs typeface="Arial MT"/>
            </a:endParaRPr>
          </a:p>
        </p:txBody>
      </p:sp>
      <p:grpSp>
        <p:nvGrpSpPr>
          <p:cNvPr id="51" name="object 51" descr=""/>
          <p:cNvGrpSpPr/>
          <p:nvPr/>
        </p:nvGrpSpPr>
        <p:grpSpPr>
          <a:xfrm>
            <a:off x="7359205" y="2037397"/>
            <a:ext cx="272415" cy="2106930"/>
            <a:chOff x="7359205" y="2037397"/>
            <a:chExt cx="272415" cy="2106930"/>
          </a:xfrm>
        </p:grpSpPr>
        <p:sp>
          <p:nvSpPr>
            <p:cNvPr id="52" name="object 52" descr=""/>
            <p:cNvSpPr/>
            <p:nvPr/>
          </p:nvSpPr>
          <p:spPr>
            <a:xfrm>
              <a:off x="7373493" y="2051685"/>
              <a:ext cx="243840" cy="0"/>
            </a:xfrm>
            <a:custGeom>
              <a:avLst/>
              <a:gdLst/>
              <a:ahLst/>
              <a:cxnLst/>
              <a:rect l="l" t="t" r="r" b="b"/>
              <a:pathLst>
                <a:path w="243840" h="0">
                  <a:moveTo>
                    <a:pt x="0" y="0"/>
                  </a:moveTo>
                  <a:lnTo>
                    <a:pt x="243840" y="0"/>
                  </a:lnTo>
                </a:path>
              </a:pathLst>
            </a:custGeom>
            <a:ln w="28194">
              <a:solidFill>
                <a:srgbClr val="772C2A"/>
              </a:solidFill>
            </a:ln>
          </p:spPr>
          <p:txBody>
            <a:bodyPr wrap="square" lIns="0" tIns="0" rIns="0" bIns="0" rtlCol="0"/>
            <a:lstStyle/>
            <a:p/>
          </p:txBody>
        </p:sp>
        <p:sp>
          <p:nvSpPr>
            <p:cNvPr id="53" name="object 53" descr=""/>
            <p:cNvSpPr/>
            <p:nvPr/>
          </p:nvSpPr>
          <p:spPr>
            <a:xfrm>
              <a:off x="7373493" y="2466975"/>
              <a:ext cx="243840" cy="0"/>
            </a:xfrm>
            <a:custGeom>
              <a:avLst/>
              <a:gdLst/>
              <a:ahLst/>
              <a:cxnLst/>
              <a:rect l="l" t="t" r="r" b="b"/>
              <a:pathLst>
                <a:path w="243840" h="0">
                  <a:moveTo>
                    <a:pt x="0" y="0"/>
                  </a:moveTo>
                  <a:lnTo>
                    <a:pt x="243840" y="0"/>
                  </a:lnTo>
                </a:path>
              </a:pathLst>
            </a:custGeom>
            <a:ln w="28194">
              <a:solidFill>
                <a:srgbClr val="5F7530"/>
              </a:solidFill>
            </a:ln>
          </p:spPr>
          <p:txBody>
            <a:bodyPr wrap="square" lIns="0" tIns="0" rIns="0" bIns="0" rtlCol="0"/>
            <a:lstStyle/>
            <a:p/>
          </p:txBody>
        </p:sp>
        <p:sp>
          <p:nvSpPr>
            <p:cNvPr id="54" name="object 54" descr=""/>
            <p:cNvSpPr/>
            <p:nvPr/>
          </p:nvSpPr>
          <p:spPr>
            <a:xfrm>
              <a:off x="7373493" y="2883027"/>
              <a:ext cx="243840" cy="0"/>
            </a:xfrm>
            <a:custGeom>
              <a:avLst/>
              <a:gdLst/>
              <a:ahLst/>
              <a:cxnLst/>
              <a:rect l="l" t="t" r="r" b="b"/>
              <a:pathLst>
                <a:path w="243840" h="0">
                  <a:moveTo>
                    <a:pt x="0" y="0"/>
                  </a:moveTo>
                  <a:lnTo>
                    <a:pt x="243840" y="0"/>
                  </a:lnTo>
                </a:path>
              </a:pathLst>
            </a:custGeom>
            <a:ln w="28194">
              <a:solidFill>
                <a:srgbClr val="2C4D75"/>
              </a:solidFill>
            </a:ln>
          </p:spPr>
          <p:txBody>
            <a:bodyPr wrap="square" lIns="0" tIns="0" rIns="0" bIns="0" rtlCol="0"/>
            <a:lstStyle/>
            <a:p/>
          </p:txBody>
        </p:sp>
        <p:sp>
          <p:nvSpPr>
            <p:cNvPr id="55" name="object 55" descr=""/>
            <p:cNvSpPr/>
            <p:nvPr/>
          </p:nvSpPr>
          <p:spPr>
            <a:xfrm>
              <a:off x="7373493" y="3298317"/>
              <a:ext cx="243840" cy="0"/>
            </a:xfrm>
            <a:custGeom>
              <a:avLst/>
              <a:gdLst/>
              <a:ahLst/>
              <a:cxnLst/>
              <a:rect l="l" t="t" r="r" b="b"/>
              <a:pathLst>
                <a:path w="243840" h="0">
                  <a:moveTo>
                    <a:pt x="0" y="0"/>
                  </a:moveTo>
                  <a:lnTo>
                    <a:pt x="243840" y="0"/>
                  </a:lnTo>
                </a:path>
              </a:pathLst>
            </a:custGeom>
            <a:ln w="28194">
              <a:solidFill>
                <a:srgbClr val="4F81BD"/>
              </a:solidFill>
            </a:ln>
          </p:spPr>
          <p:txBody>
            <a:bodyPr wrap="square" lIns="0" tIns="0" rIns="0" bIns="0" rtlCol="0"/>
            <a:lstStyle/>
            <a:p/>
          </p:txBody>
        </p:sp>
        <p:sp>
          <p:nvSpPr>
            <p:cNvPr id="56" name="object 56" descr=""/>
            <p:cNvSpPr/>
            <p:nvPr/>
          </p:nvSpPr>
          <p:spPr>
            <a:xfrm>
              <a:off x="7373493" y="3714369"/>
              <a:ext cx="243840" cy="0"/>
            </a:xfrm>
            <a:custGeom>
              <a:avLst/>
              <a:gdLst/>
              <a:ahLst/>
              <a:cxnLst/>
              <a:rect l="l" t="t" r="r" b="b"/>
              <a:pathLst>
                <a:path w="243840" h="0">
                  <a:moveTo>
                    <a:pt x="0" y="0"/>
                  </a:moveTo>
                  <a:lnTo>
                    <a:pt x="243840" y="0"/>
                  </a:lnTo>
                </a:path>
              </a:pathLst>
            </a:custGeom>
            <a:ln w="28194">
              <a:solidFill>
                <a:srgbClr val="C0504D"/>
              </a:solidFill>
            </a:ln>
          </p:spPr>
          <p:txBody>
            <a:bodyPr wrap="square" lIns="0" tIns="0" rIns="0" bIns="0" rtlCol="0"/>
            <a:lstStyle/>
            <a:p/>
          </p:txBody>
        </p:sp>
        <p:sp>
          <p:nvSpPr>
            <p:cNvPr id="57" name="object 57" descr=""/>
            <p:cNvSpPr/>
            <p:nvPr/>
          </p:nvSpPr>
          <p:spPr>
            <a:xfrm>
              <a:off x="7373493" y="4129658"/>
              <a:ext cx="243840" cy="0"/>
            </a:xfrm>
            <a:custGeom>
              <a:avLst/>
              <a:gdLst/>
              <a:ahLst/>
              <a:cxnLst/>
              <a:rect l="l" t="t" r="r" b="b"/>
              <a:pathLst>
                <a:path w="243840" h="0">
                  <a:moveTo>
                    <a:pt x="0" y="0"/>
                  </a:moveTo>
                  <a:lnTo>
                    <a:pt x="243840" y="0"/>
                  </a:lnTo>
                </a:path>
              </a:pathLst>
            </a:custGeom>
            <a:ln w="28194">
              <a:solidFill>
                <a:srgbClr val="9BBB59"/>
              </a:solidFill>
            </a:ln>
          </p:spPr>
          <p:txBody>
            <a:bodyPr wrap="square" lIns="0" tIns="0" rIns="0" bIns="0" rtlCol="0"/>
            <a:lstStyle/>
            <a:p/>
          </p:txBody>
        </p:sp>
      </p:grpSp>
      <p:sp>
        <p:nvSpPr>
          <p:cNvPr id="58" name="object 58" descr=""/>
          <p:cNvSpPr txBox="1"/>
          <p:nvPr/>
        </p:nvSpPr>
        <p:spPr>
          <a:xfrm>
            <a:off x="7630074" y="1952200"/>
            <a:ext cx="529590" cy="2263775"/>
          </a:xfrm>
          <a:prstGeom prst="rect">
            <a:avLst/>
          </a:prstGeom>
        </p:spPr>
        <p:txBody>
          <a:bodyPr wrap="square" lIns="0" tIns="22860" rIns="0" bIns="0" rtlCol="0" vert="horz">
            <a:spAutoFit/>
          </a:bodyPr>
          <a:lstStyle/>
          <a:p>
            <a:pPr marL="12700" marR="152400">
              <a:lnSpc>
                <a:spcPts val="1210"/>
              </a:lnSpc>
              <a:spcBef>
                <a:spcPts val="180"/>
              </a:spcBef>
            </a:pPr>
            <a:r>
              <a:rPr dirty="0" sz="1050" spc="-10">
                <a:latin typeface="Arial MT"/>
                <a:cs typeface="Arial MT"/>
              </a:rPr>
              <a:t>clamp glass</a:t>
            </a:r>
            <a:endParaRPr sz="1050">
              <a:latin typeface="Arial MT"/>
              <a:cs typeface="Arial MT"/>
            </a:endParaRPr>
          </a:p>
          <a:p>
            <a:pPr marL="12700" marR="220979">
              <a:lnSpc>
                <a:spcPts val="1210"/>
              </a:lnSpc>
              <a:spcBef>
                <a:spcPts val="855"/>
              </a:spcBef>
            </a:pPr>
            <a:r>
              <a:rPr dirty="0" sz="1050" spc="-10">
                <a:latin typeface="Arial MT"/>
                <a:cs typeface="Arial MT"/>
              </a:rPr>
              <a:t>sigle </a:t>
            </a:r>
            <a:r>
              <a:rPr dirty="0" sz="1050" spc="-20">
                <a:latin typeface="Arial MT"/>
                <a:cs typeface="Arial MT"/>
              </a:rPr>
              <a:t>layer</a:t>
            </a:r>
            <a:endParaRPr sz="1050">
              <a:latin typeface="Arial MT"/>
              <a:cs typeface="Arial MT"/>
            </a:endParaRPr>
          </a:p>
          <a:p>
            <a:pPr marL="12700" marR="5080">
              <a:lnSpc>
                <a:spcPct val="67800"/>
              </a:lnSpc>
              <a:spcBef>
                <a:spcPts val="320"/>
              </a:spcBef>
            </a:pPr>
            <a:r>
              <a:rPr dirty="0" sz="1050" spc="-10">
                <a:latin typeface="Arial MT"/>
                <a:cs typeface="Arial MT"/>
              </a:rPr>
              <a:t>glass laminate</a:t>
            </a:r>
            <a:endParaRPr sz="1050">
              <a:latin typeface="Arial MT"/>
              <a:cs typeface="Arial MT"/>
            </a:endParaRPr>
          </a:p>
          <a:p>
            <a:pPr marL="12700">
              <a:lnSpc>
                <a:spcPts val="1205"/>
              </a:lnSpc>
            </a:pPr>
            <a:r>
              <a:rPr dirty="0" sz="1050">
                <a:latin typeface="Arial MT"/>
                <a:cs typeface="Arial MT"/>
              </a:rPr>
              <a:t>d</a:t>
            </a:r>
            <a:r>
              <a:rPr dirty="0" sz="1050" spc="-20">
                <a:latin typeface="Arial MT"/>
                <a:cs typeface="Arial MT"/>
              </a:rPr>
              <a:t> glass</a:t>
            </a:r>
            <a:endParaRPr sz="1050">
              <a:latin typeface="Arial MT"/>
              <a:cs typeface="Arial MT"/>
            </a:endParaRPr>
          </a:p>
          <a:p>
            <a:pPr marL="12700" marR="65405">
              <a:lnSpc>
                <a:spcPts val="1210"/>
              </a:lnSpc>
              <a:spcBef>
                <a:spcPts val="885"/>
              </a:spcBef>
            </a:pPr>
            <a:r>
              <a:rPr dirty="0" sz="1050" spc="-10">
                <a:latin typeface="Arial MT"/>
                <a:cs typeface="Arial MT"/>
              </a:rPr>
              <a:t>bearing </a:t>
            </a:r>
            <a:r>
              <a:rPr dirty="0" sz="1050" spc="-20">
                <a:latin typeface="Arial MT"/>
                <a:cs typeface="Arial MT"/>
              </a:rPr>
              <a:t>wall</a:t>
            </a:r>
            <a:endParaRPr sz="1050">
              <a:latin typeface="Arial MT"/>
              <a:cs typeface="Arial MT"/>
            </a:endParaRPr>
          </a:p>
          <a:p>
            <a:pPr marL="12700" marR="71755">
              <a:lnSpc>
                <a:spcPts val="1210"/>
              </a:lnSpc>
              <a:spcBef>
                <a:spcPts val="855"/>
              </a:spcBef>
            </a:pPr>
            <a:r>
              <a:rPr dirty="0" sz="1050" spc="-10">
                <a:latin typeface="Arial MT"/>
                <a:cs typeface="Arial MT"/>
              </a:rPr>
              <a:t>cement </a:t>
            </a:r>
            <a:r>
              <a:rPr dirty="0" sz="1050" spc="-20">
                <a:latin typeface="Arial MT"/>
                <a:cs typeface="Arial MT"/>
              </a:rPr>
              <a:t>wall</a:t>
            </a:r>
            <a:endParaRPr sz="1050">
              <a:latin typeface="Arial MT"/>
              <a:cs typeface="Arial MT"/>
            </a:endParaRPr>
          </a:p>
          <a:p>
            <a:pPr marL="12700">
              <a:lnSpc>
                <a:spcPct val="100000"/>
              </a:lnSpc>
              <a:spcBef>
                <a:spcPts val="770"/>
              </a:spcBef>
            </a:pPr>
            <a:r>
              <a:rPr dirty="0" sz="1050">
                <a:latin typeface="Arial MT"/>
                <a:cs typeface="Arial MT"/>
              </a:rPr>
              <a:t>tile</a:t>
            </a:r>
            <a:r>
              <a:rPr dirty="0" sz="1050" spc="-30">
                <a:latin typeface="Arial MT"/>
                <a:cs typeface="Arial MT"/>
              </a:rPr>
              <a:t> </a:t>
            </a:r>
            <a:r>
              <a:rPr dirty="0" sz="1050" spc="-20">
                <a:latin typeface="Arial MT"/>
                <a:cs typeface="Arial MT"/>
              </a:rPr>
              <a:t>wall</a:t>
            </a:r>
            <a:endParaRPr sz="1050">
              <a:latin typeface="Arial MT"/>
              <a:cs typeface="Arial MT"/>
            </a:endParaRPr>
          </a:p>
        </p:txBody>
      </p:sp>
      <p:sp>
        <p:nvSpPr>
          <p:cNvPr id="59" name="object 59" descr=""/>
          <p:cNvSpPr/>
          <p:nvPr/>
        </p:nvSpPr>
        <p:spPr>
          <a:xfrm>
            <a:off x="7373493" y="4544948"/>
            <a:ext cx="243840" cy="0"/>
          </a:xfrm>
          <a:custGeom>
            <a:avLst/>
            <a:gdLst/>
            <a:ahLst/>
            <a:cxnLst/>
            <a:rect l="l" t="t" r="r" b="b"/>
            <a:pathLst>
              <a:path w="243840" h="0">
                <a:moveTo>
                  <a:pt x="0" y="0"/>
                </a:moveTo>
                <a:lnTo>
                  <a:pt x="243840" y="0"/>
                </a:lnTo>
              </a:path>
            </a:pathLst>
          </a:custGeom>
          <a:ln w="28194">
            <a:solidFill>
              <a:srgbClr val="8064A2"/>
            </a:solidFill>
          </a:ln>
        </p:spPr>
        <p:txBody>
          <a:bodyPr wrap="square" lIns="0" tIns="0" rIns="0" bIns="0" rtlCol="0"/>
          <a:lstStyle/>
          <a:p/>
        </p:txBody>
      </p:sp>
      <p:sp>
        <p:nvSpPr>
          <p:cNvPr id="60" name="object 60" descr=""/>
          <p:cNvSpPr txBox="1"/>
          <p:nvPr/>
        </p:nvSpPr>
        <p:spPr>
          <a:xfrm>
            <a:off x="7630074" y="4445687"/>
            <a:ext cx="343535" cy="185420"/>
          </a:xfrm>
          <a:prstGeom prst="rect">
            <a:avLst/>
          </a:prstGeom>
        </p:spPr>
        <p:txBody>
          <a:bodyPr wrap="square" lIns="0" tIns="12700" rIns="0" bIns="0" rtlCol="0" vert="horz">
            <a:spAutoFit/>
          </a:bodyPr>
          <a:lstStyle/>
          <a:p>
            <a:pPr marL="12700">
              <a:lnSpc>
                <a:spcPct val="100000"/>
              </a:lnSpc>
              <a:spcBef>
                <a:spcPts val="100"/>
              </a:spcBef>
            </a:pPr>
            <a:r>
              <a:rPr dirty="0" sz="1050" spc="-20">
                <a:latin typeface="Arial MT"/>
                <a:cs typeface="Arial MT"/>
              </a:rPr>
              <a:t>wood</a:t>
            </a:r>
            <a:endParaRPr sz="1050">
              <a:latin typeface="Arial MT"/>
              <a:cs typeface="Arial MT"/>
            </a:endParaRPr>
          </a:p>
        </p:txBody>
      </p:sp>
      <p:sp>
        <p:nvSpPr>
          <p:cNvPr id="61" name="object 61" descr=""/>
          <p:cNvSpPr/>
          <p:nvPr/>
        </p:nvSpPr>
        <p:spPr>
          <a:xfrm>
            <a:off x="5770155" y="1745056"/>
            <a:ext cx="1431925" cy="2098675"/>
          </a:xfrm>
          <a:custGeom>
            <a:avLst/>
            <a:gdLst/>
            <a:ahLst/>
            <a:cxnLst/>
            <a:rect l="l" t="t" r="r" b="b"/>
            <a:pathLst>
              <a:path w="1431925" h="2098675">
                <a:moveTo>
                  <a:pt x="0" y="0"/>
                </a:moveTo>
                <a:lnTo>
                  <a:pt x="1431925" y="0"/>
                </a:lnTo>
                <a:lnTo>
                  <a:pt x="1431925" y="2098294"/>
                </a:lnTo>
                <a:lnTo>
                  <a:pt x="0" y="2098294"/>
                </a:lnTo>
                <a:lnTo>
                  <a:pt x="0" y="0"/>
                </a:lnTo>
                <a:close/>
              </a:path>
            </a:pathLst>
          </a:custGeom>
          <a:ln w="28574">
            <a:solidFill>
              <a:srgbClr val="FF0000"/>
            </a:solidFill>
            <a:prstDash val="sysDash"/>
          </a:ln>
        </p:spPr>
        <p:txBody>
          <a:bodyPr wrap="square" lIns="0" tIns="0" rIns="0" bIns="0" rtlCol="0"/>
          <a:lstStyle/>
          <a:p/>
        </p:txBody>
      </p:sp>
      <p:sp>
        <p:nvSpPr>
          <p:cNvPr id="62" name="object 62" descr=""/>
          <p:cNvSpPr txBox="1"/>
          <p:nvPr/>
        </p:nvSpPr>
        <p:spPr>
          <a:xfrm>
            <a:off x="5784443" y="1806854"/>
            <a:ext cx="1403350" cy="147320"/>
          </a:xfrm>
          <a:prstGeom prst="rect">
            <a:avLst/>
          </a:prstGeom>
          <a:solidFill>
            <a:srgbClr val="F7F7F7"/>
          </a:solidFill>
        </p:spPr>
        <p:txBody>
          <a:bodyPr wrap="square" lIns="0" tIns="26669" rIns="0" bIns="0" rtlCol="0" vert="horz">
            <a:spAutoFit/>
          </a:bodyPr>
          <a:lstStyle/>
          <a:p>
            <a:pPr algn="r" marR="62230">
              <a:lnSpc>
                <a:spcPct val="100000"/>
              </a:lnSpc>
              <a:spcBef>
                <a:spcPts val="209"/>
              </a:spcBef>
            </a:pPr>
            <a:r>
              <a:rPr dirty="0" sz="700" spc="-20">
                <a:latin typeface="Microsoft YaHei"/>
                <a:cs typeface="Microsoft YaHei"/>
              </a:rPr>
              <a:t>承重墙</a:t>
            </a:r>
            <a:endParaRPr sz="700">
              <a:latin typeface="Microsoft YaHei"/>
              <a:cs typeface="Microsoft YaHei"/>
            </a:endParaRPr>
          </a:p>
        </p:txBody>
      </p:sp>
      <p:sp>
        <p:nvSpPr>
          <p:cNvPr id="63" name="object 63" descr=""/>
          <p:cNvSpPr txBox="1"/>
          <p:nvPr/>
        </p:nvSpPr>
        <p:spPr>
          <a:xfrm>
            <a:off x="5784443" y="2598276"/>
            <a:ext cx="1403350" cy="132715"/>
          </a:xfrm>
          <a:prstGeom prst="rect">
            <a:avLst/>
          </a:prstGeom>
        </p:spPr>
        <p:txBody>
          <a:bodyPr wrap="square" lIns="0" tIns="12700" rIns="0" bIns="0" rtlCol="0" vert="horz">
            <a:spAutoFit/>
          </a:bodyPr>
          <a:lstStyle/>
          <a:p>
            <a:pPr algn="r" marR="74930">
              <a:lnSpc>
                <a:spcPct val="100000"/>
              </a:lnSpc>
              <a:spcBef>
                <a:spcPts val="100"/>
              </a:spcBef>
            </a:pPr>
            <a:r>
              <a:rPr dirty="0" sz="700" spc="-15">
                <a:latin typeface="Microsoft YaHei"/>
                <a:cs typeface="Microsoft YaHei"/>
              </a:rPr>
              <a:t>空心砖墙</a:t>
            </a:r>
            <a:endParaRPr sz="700">
              <a:latin typeface="Microsoft YaHei"/>
              <a:cs typeface="Microsoft YaHei"/>
            </a:endParaRPr>
          </a:p>
        </p:txBody>
      </p:sp>
      <p:sp>
        <p:nvSpPr>
          <p:cNvPr id="64" name="object 64" descr=""/>
          <p:cNvSpPr txBox="1"/>
          <p:nvPr/>
        </p:nvSpPr>
        <p:spPr>
          <a:xfrm>
            <a:off x="5784443" y="2905768"/>
            <a:ext cx="1403350" cy="132715"/>
          </a:xfrm>
          <a:prstGeom prst="rect">
            <a:avLst/>
          </a:prstGeom>
        </p:spPr>
        <p:txBody>
          <a:bodyPr wrap="square" lIns="0" tIns="12700" rIns="0" bIns="0" rtlCol="0" vert="horz">
            <a:spAutoFit/>
          </a:bodyPr>
          <a:lstStyle/>
          <a:p>
            <a:pPr algn="r" marR="62230">
              <a:lnSpc>
                <a:spcPct val="100000"/>
              </a:lnSpc>
              <a:spcBef>
                <a:spcPts val="100"/>
              </a:spcBef>
            </a:pPr>
            <a:r>
              <a:rPr dirty="0" sz="700" spc="-20">
                <a:latin typeface="Microsoft YaHei"/>
                <a:cs typeface="Microsoft YaHei"/>
              </a:rPr>
              <a:t>水泥墙</a:t>
            </a:r>
            <a:endParaRPr sz="700">
              <a:latin typeface="Microsoft YaHei"/>
              <a:cs typeface="Microsoft YaHei"/>
            </a:endParaRPr>
          </a:p>
        </p:txBody>
      </p:sp>
      <p:sp>
        <p:nvSpPr>
          <p:cNvPr id="65" name="object 65" descr=""/>
          <p:cNvSpPr txBox="1"/>
          <p:nvPr/>
        </p:nvSpPr>
        <p:spPr>
          <a:xfrm>
            <a:off x="5784443" y="3485893"/>
            <a:ext cx="1403350" cy="132715"/>
          </a:xfrm>
          <a:prstGeom prst="rect">
            <a:avLst/>
          </a:prstGeom>
        </p:spPr>
        <p:txBody>
          <a:bodyPr wrap="square" lIns="0" tIns="12700" rIns="0" bIns="0" rtlCol="0" vert="horz">
            <a:spAutoFit/>
          </a:bodyPr>
          <a:lstStyle/>
          <a:p>
            <a:pPr algn="r" marR="74295">
              <a:lnSpc>
                <a:spcPct val="100000"/>
              </a:lnSpc>
              <a:spcBef>
                <a:spcPts val="100"/>
              </a:spcBef>
            </a:pPr>
            <a:r>
              <a:rPr dirty="0" sz="700" spc="-15">
                <a:latin typeface="Microsoft YaHei"/>
                <a:cs typeface="Microsoft YaHei"/>
              </a:rPr>
              <a:t>双层玻璃</a:t>
            </a:r>
            <a:endParaRPr sz="700">
              <a:latin typeface="Microsoft YaHei"/>
              <a:cs typeface="Microsoft YaHei"/>
            </a:endParaRPr>
          </a:p>
        </p:txBody>
      </p:sp>
      <p:grpSp>
        <p:nvGrpSpPr>
          <p:cNvPr id="66" name="object 66" descr=""/>
          <p:cNvGrpSpPr/>
          <p:nvPr/>
        </p:nvGrpSpPr>
        <p:grpSpPr>
          <a:xfrm>
            <a:off x="639889" y="3352609"/>
            <a:ext cx="3021965" cy="1692275"/>
            <a:chOff x="639889" y="3352609"/>
            <a:chExt cx="3021965" cy="1692275"/>
          </a:xfrm>
        </p:grpSpPr>
        <p:sp>
          <p:nvSpPr>
            <p:cNvPr id="67" name="object 67" descr=""/>
            <p:cNvSpPr/>
            <p:nvPr/>
          </p:nvSpPr>
          <p:spPr>
            <a:xfrm>
              <a:off x="683513" y="3357371"/>
              <a:ext cx="2973705" cy="1119505"/>
            </a:xfrm>
            <a:custGeom>
              <a:avLst/>
              <a:gdLst/>
              <a:ahLst/>
              <a:cxnLst/>
              <a:rect l="l" t="t" r="r" b="b"/>
              <a:pathLst>
                <a:path w="2973704" h="1119504">
                  <a:moveTo>
                    <a:pt x="0" y="1119377"/>
                  </a:moveTo>
                  <a:lnTo>
                    <a:pt x="2973324" y="1119377"/>
                  </a:lnTo>
                </a:path>
                <a:path w="2973704" h="1119504">
                  <a:moveTo>
                    <a:pt x="0" y="895349"/>
                  </a:moveTo>
                  <a:lnTo>
                    <a:pt x="2973324" y="895349"/>
                  </a:lnTo>
                </a:path>
                <a:path w="2973704" h="1119504">
                  <a:moveTo>
                    <a:pt x="0" y="671321"/>
                  </a:moveTo>
                  <a:lnTo>
                    <a:pt x="2973324" y="671321"/>
                  </a:lnTo>
                </a:path>
                <a:path w="2973704" h="1119504">
                  <a:moveTo>
                    <a:pt x="0" y="447293"/>
                  </a:moveTo>
                  <a:lnTo>
                    <a:pt x="2973324" y="447293"/>
                  </a:lnTo>
                </a:path>
                <a:path w="2973704" h="1119504">
                  <a:moveTo>
                    <a:pt x="0" y="224027"/>
                  </a:moveTo>
                  <a:lnTo>
                    <a:pt x="2973324" y="224027"/>
                  </a:lnTo>
                </a:path>
                <a:path w="2973704" h="1119504">
                  <a:moveTo>
                    <a:pt x="0" y="0"/>
                  </a:moveTo>
                  <a:lnTo>
                    <a:pt x="2973324" y="0"/>
                  </a:lnTo>
                </a:path>
              </a:pathLst>
            </a:custGeom>
            <a:ln w="9144">
              <a:solidFill>
                <a:srgbClr val="878787"/>
              </a:solidFill>
            </a:ln>
          </p:spPr>
          <p:txBody>
            <a:bodyPr wrap="square" lIns="0" tIns="0" rIns="0" bIns="0" rtlCol="0"/>
            <a:lstStyle/>
            <a:p/>
          </p:txBody>
        </p:sp>
        <p:pic>
          <p:nvPicPr>
            <p:cNvPr id="68" name="object 68" descr=""/>
            <p:cNvPicPr/>
            <p:nvPr/>
          </p:nvPicPr>
          <p:blipFill>
            <a:blip r:embed="rId2" cstate="print"/>
            <a:stretch>
              <a:fillRect/>
            </a:stretch>
          </p:blipFill>
          <p:spPr>
            <a:xfrm>
              <a:off x="697229" y="3943349"/>
              <a:ext cx="155447" cy="769543"/>
            </a:xfrm>
            <a:prstGeom prst="rect">
              <a:avLst/>
            </a:prstGeom>
          </p:spPr>
        </p:pic>
        <p:pic>
          <p:nvPicPr>
            <p:cNvPr id="69" name="object 69" descr=""/>
            <p:cNvPicPr/>
            <p:nvPr/>
          </p:nvPicPr>
          <p:blipFill>
            <a:blip r:embed="rId3" cstate="print"/>
            <a:stretch>
              <a:fillRect/>
            </a:stretch>
          </p:blipFill>
          <p:spPr>
            <a:xfrm>
              <a:off x="1027937" y="4502657"/>
              <a:ext cx="155447" cy="210236"/>
            </a:xfrm>
            <a:prstGeom prst="rect">
              <a:avLst/>
            </a:prstGeom>
          </p:spPr>
        </p:pic>
        <p:pic>
          <p:nvPicPr>
            <p:cNvPr id="70" name="object 70" descr=""/>
            <p:cNvPicPr/>
            <p:nvPr/>
          </p:nvPicPr>
          <p:blipFill>
            <a:blip r:embed="rId4" cstate="print"/>
            <a:stretch>
              <a:fillRect/>
            </a:stretch>
          </p:blipFill>
          <p:spPr>
            <a:xfrm>
              <a:off x="1357883" y="4547615"/>
              <a:ext cx="155447" cy="165277"/>
            </a:xfrm>
            <a:prstGeom prst="rect">
              <a:avLst/>
            </a:prstGeom>
          </p:spPr>
        </p:pic>
        <p:pic>
          <p:nvPicPr>
            <p:cNvPr id="71" name="object 71" descr=""/>
            <p:cNvPicPr/>
            <p:nvPr/>
          </p:nvPicPr>
          <p:blipFill>
            <a:blip r:embed="rId5" cstate="print"/>
            <a:stretch>
              <a:fillRect/>
            </a:stretch>
          </p:blipFill>
          <p:spPr>
            <a:xfrm>
              <a:off x="1688591" y="4413503"/>
              <a:ext cx="155447" cy="299389"/>
            </a:xfrm>
            <a:prstGeom prst="rect">
              <a:avLst/>
            </a:prstGeom>
          </p:spPr>
        </p:pic>
        <p:pic>
          <p:nvPicPr>
            <p:cNvPr id="72" name="object 72" descr=""/>
            <p:cNvPicPr/>
            <p:nvPr/>
          </p:nvPicPr>
          <p:blipFill>
            <a:blip r:embed="rId6" cstate="print"/>
            <a:stretch>
              <a:fillRect/>
            </a:stretch>
          </p:blipFill>
          <p:spPr>
            <a:xfrm>
              <a:off x="2018537" y="4657343"/>
              <a:ext cx="156209" cy="55549"/>
            </a:xfrm>
            <a:prstGeom prst="rect">
              <a:avLst/>
            </a:prstGeom>
          </p:spPr>
        </p:pic>
        <p:pic>
          <p:nvPicPr>
            <p:cNvPr id="73" name="object 73" descr=""/>
            <p:cNvPicPr/>
            <p:nvPr/>
          </p:nvPicPr>
          <p:blipFill>
            <a:blip r:embed="rId7" cstate="print"/>
            <a:stretch>
              <a:fillRect/>
            </a:stretch>
          </p:blipFill>
          <p:spPr>
            <a:xfrm>
              <a:off x="2349245" y="4610099"/>
              <a:ext cx="155447" cy="102794"/>
            </a:xfrm>
            <a:prstGeom prst="rect">
              <a:avLst/>
            </a:prstGeom>
          </p:spPr>
        </p:pic>
        <p:pic>
          <p:nvPicPr>
            <p:cNvPr id="74" name="object 74" descr=""/>
            <p:cNvPicPr/>
            <p:nvPr/>
          </p:nvPicPr>
          <p:blipFill>
            <a:blip r:embed="rId8" cstate="print"/>
            <a:stretch>
              <a:fillRect/>
            </a:stretch>
          </p:blipFill>
          <p:spPr>
            <a:xfrm>
              <a:off x="2679953" y="4659629"/>
              <a:ext cx="155447" cy="53263"/>
            </a:xfrm>
            <a:prstGeom prst="rect">
              <a:avLst/>
            </a:prstGeom>
          </p:spPr>
        </p:pic>
        <p:pic>
          <p:nvPicPr>
            <p:cNvPr id="75" name="object 75" descr=""/>
            <p:cNvPicPr/>
            <p:nvPr/>
          </p:nvPicPr>
          <p:blipFill>
            <a:blip r:embed="rId9" cstate="print"/>
            <a:stretch>
              <a:fillRect/>
            </a:stretch>
          </p:blipFill>
          <p:spPr>
            <a:xfrm>
              <a:off x="3009900" y="4635245"/>
              <a:ext cx="156209" cy="77648"/>
            </a:xfrm>
            <a:prstGeom prst="rect">
              <a:avLst/>
            </a:prstGeom>
          </p:spPr>
        </p:pic>
        <p:pic>
          <p:nvPicPr>
            <p:cNvPr id="76" name="object 76" descr=""/>
            <p:cNvPicPr/>
            <p:nvPr/>
          </p:nvPicPr>
          <p:blipFill>
            <a:blip r:embed="rId10" cstate="print"/>
            <a:stretch>
              <a:fillRect/>
            </a:stretch>
          </p:blipFill>
          <p:spPr>
            <a:xfrm>
              <a:off x="3340608" y="4637531"/>
              <a:ext cx="155447" cy="75362"/>
            </a:xfrm>
            <a:prstGeom prst="rect">
              <a:avLst/>
            </a:prstGeom>
          </p:spPr>
        </p:pic>
        <p:pic>
          <p:nvPicPr>
            <p:cNvPr id="77" name="object 77" descr=""/>
            <p:cNvPicPr/>
            <p:nvPr/>
          </p:nvPicPr>
          <p:blipFill>
            <a:blip r:embed="rId11" cstate="print"/>
            <a:stretch>
              <a:fillRect/>
            </a:stretch>
          </p:blipFill>
          <p:spPr>
            <a:xfrm>
              <a:off x="770381" y="3675125"/>
              <a:ext cx="156209" cy="1037768"/>
            </a:xfrm>
            <a:prstGeom prst="rect">
              <a:avLst/>
            </a:prstGeom>
          </p:spPr>
        </p:pic>
        <p:pic>
          <p:nvPicPr>
            <p:cNvPr id="78" name="object 78" descr=""/>
            <p:cNvPicPr/>
            <p:nvPr/>
          </p:nvPicPr>
          <p:blipFill>
            <a:blip r:embed="rId12" cstate="print"/>
            <a:stretch>
              <a:fillRect/>
            </a:stretch>
          </p:blipFill>
          <p:spPr>
            <a:xfrm>
              <a:off x="1101089" y="4346447"/>
              <a:ext cx="155447" cy="366445"/>
            </a:xfrm>
            <a:prstGeom prst="rect">
              <a:avLst/>
            </a:prstGeom>
          </p:spPr>
        </p:pic>
        <p:pic>
          <p:nvPicPr>
            <p:cNvPr id="79" name="object 79" descr=""/>
            <p:cNvPicPr/>
            <p:nvPr/>
          </p:nvPicPr>
          <p:blipFill>
            <a:blip r:embed="rId13" cstate="print"/>
            <a:stretch>
              <a:fillRect/>
            </a:stretch>
          </p:blipFill>
          <p:spPr>
            <a:xfrm>
              <a:off x="1431035" y="4502657"/>
              <a:ext cx="156209" cy="210236"/>
            </a:xfrm>
            <a:prstGeom prst="rect">
              <a:avLst/>
            </a:prstGeom>
          </p:spPr>
        </p:pic>
        <p:pic>
          <p:nvPicPr>
            <p:cNvPr id="80" name="object 80" descr=""/>
            <p:cNvPicPr/>
            <p:nvPr/>
          </p:nvPicPr>
          <p:blipFill>
            <a:blip r:embed="rId14" cstate="print"/>
            <a:stretch>
              <a:fillRect/>
            </a:stretch>
          </p:blipFill>
          <p:spPr>
            <a:xfrm>
              <a:off x="1761743" y="4406645"/>
              <a:ext cx="155447" cy="306248"/>
            </a:xfrm>
            <a:prstGeom prst="rect">
              <a:avLst/>
            </a:prstGeom>
          </p:spPr>
        </p:pic>
        <p:pic>
          <p:nvPicPr>
            <p:cNvPr id="81" name="object 81" descr=""/>
            <p:cNvPicPr/>
            <p:nvPr/>
          </p:nvPicPr>
          <p:blipFill>
            <a:blip r:embed="rId15" cstate="print"/>
            <a:stretch>
              <a:fillRect/>
            </a:stretch>
          </p:blipFill>
          <p:spPr>
            <a:xfrm>
              <a:off x="2092451" y="4570475"/>
              <a:ext cx="155447" cy="142417"/>
            </a:xfrm>
            <a:prstGeom prst="rect">
              <a:avLst/>
            </a:prstGeom>
          </p:spPr>
        </p:pic>
        <p:pic>
          <p:nvPicPr>
            <p:cNvPr id="82" name="object 82" descr=""/>
            <p:cNvPicPr/>
            <p:nvPr/>
          </p:nvPicPr>
          <p:blipFill>
            <a:blip r:embed="rId16" cstate="print"/>
            <a:stretch>
              <a:fillRect/>
            </a:stretch>
          </p:blipFill>
          <p:spPr>
            <a:xfrm>
              <a:off x="2422397" y="4581143"/>
              <a:ext cx="156209" cy="131749"/>
            </a:xfrm>
            <a:prstGeom prst="rect">
              <a:avLst/>
            </a:prstGeom>
          </p:spPr>
        </p:pic>
        <p:pic>
          <p:nvPicPr>
            <p:cNvPr id="83" name="object 83" descr=""/>
            <p:cNvPicPr/>
            <p:nvPr/>
          </p:nvPicPr>
          <p:blipFill>
            <a:blip r:embed="rId17" cstate="print"/>
            <a:stretch>
              <a:fillRect/>
            </a:stretch>
          </p:blipFill>
          <p:spPr>
            <a:xfrm>
              <a:off x="2753106" y="4632959"/>
              <a:ext cx="155447" cy="79933"/>
            </a:xfrm>
            <a:prstGeom prst="rect">
              <a:avLst/>
            </a:prstGeom>
          </p:spPr>
        </p:pic>
        <p:pic>
          <p:nvPicPr>
            <p:cNvPr id="84" name="object 84" descr=""/>
            <p:cNvPicPr/>
            <p:nvPr/>
          </p:nvPicPr>
          <p:blipFill>
            <a:blip r:embed="rId18" cstate="print"/>
            <a:stretch>
              <a:fillRect/>
            </a:stretch>
          </p:blipFill>
          <p:spPr>
            <a:xfrm>
              <a:off x="3083813" y="4626101"/>
              <a:ext cx="155447" cy="86792"/>
            </a:xfrm>
            <a:prstGeom prst="rect">
              <a:avLst/>
            </a:prstGeom>
          </p:spPr>
        </p:pic>
        <p:pic>
          <p:nvPicPr>
            <p:cNvPr id="85" name="object 85" descr=""/>
            <p:cNvPicPr/>
            <p:nvPr/>
          </p:nvPicPr>
          <p:blipFill>
            <a:blip r:embed="rId19" cstate="print"/>
            <a:stretch>
              <a:fillRect/>
            </a:stretch>
          </p:blipFill>
          <p:spPr>
            <a:xfrm>
              <a:off x="3413759" y="4637531"/>
              <a:ext cx="156197" cy="75362"/>
            </a:xfrm>
            <a:prstGeom prst="rect">
              <a:avLst/>
            </a:prstGeom>
          </p:spPr>
        </p:pic>
        <p:pic>
          <p:nvPicPr>
            <p:cNvPr id="86" name="object 86" descr=""/>
            <p:cNvPicPr/>
            <p:nvPr/>
          </p:nvPicPr>
          <p:blipFill>
            <a:blip r:embed="rId20" cstate="print"/>
            <a:stretch>
              <a:fillRect/>
            </a:stretch>
          </p:blipFill>
          <p:spPr>
            <a:xfrm>
              <a:off x="844295" y="3451097"/>
              <a:ext cx="155447" cy="1261796"/>
            </a:xfrm>
            <a:prstGeom prst="rect">
              <a:avLst/>
            </a:prstGeom>
          </p:spPr>
        </p:pic>
        <p:pic>
          <p:nvPicPr>
            <p:cNvPr id="87" name="object 87" descr=""/>
            <p:cNvPicPr/>
            <p:nvPr/>
          </p:nvPicPr>
          <p:blipFill>
            <a:blip r:embed="rId21" cstate="print"/>
            <a:stretch>
              <a:fillRect/>
            </a:stretch>
          </p:blipFill>
          <p:spPr>
            <a:xfrm>
              <a:off x="1174241" y="4160519"/>
              <a:ext cx="156209" cy="552373"/>
            </a:xfrm>
            <a:prstGeom prst="rect">
              <a:avLst/>
            </a:prstGeom>
          </p:spPr>
        </p:pic>
        <p:pic>
          <p:nvPicPr>
            <p:cNvPr id="88" name="object 88" descr=""/>
            <p:cNvPicPr/>
            <p:nvPr/>
          </p:nvPicPr>
          <p:blipFill>
            <a:blip r:embed="rId22" cstate="print"/>
            <a:stretch>
              <a:fillRect/>
            </a:stretch>
          </p:blipFill>
          <p:spPr>
            <a:xfrm>
              <a:off x="1504949" y="4402073"/>
              <a:ext cx="155447" cy="310820"/>
            </a:xfrm>
            <a:prstGeom prst="rect">
              <a:avLst/>
            </a:prstGeom>
          </p:spPr>
        </p:pic>
        <p:pic>
          <p:nvPicPr>
            <p:cNvPr id="89" name="object 89" descr=""/>
            <p:cNvPicPr/>
            <p:nvPr/>
          </p:nvPicPr>
          <p:blipFill>
            <a:blip r:embed="rId23" cstate="print"/>
            <a:stretch>
              <a:fillRect/>
            </a:stretch>
          </p:blipFill>
          <p:spPr>
            <a:xfrm>
              <a:off x="1834895" y="4234433"/>
              <a:ext cx="156209" cy="478459"/>
            </a:xfrm>
            <a:prstGeom prst="rect">
              <a:avLst/>
            </a:prstGeom>
          </p:spPr>
        </p:pic>
        <p:pic>
          <p:nvPicPr>
            <p:cNvPr id="90" name="object 90" descr=""/>
            <p:cNvPicPr/>
            <p:nvPr/>
          </p:nvPicPr>
          <p:blipFill>
            <a:blip r:embed="rId24" cstate="print"/>
            <a:stretch>
              <a:fillRect/>
            </a:stretch>
          </p:blipFill>
          <p:spPr>
            <a:xfrm>
              <a:off x="2165604" y="4525517"/>
              <a:ext cx="155447" cy="187376"/>
            </a:xfrm>
            <a:prstGeom prst="rect">
              <a:avLst/>
            </a:prstGeom>
          </p:spPr>
        </p:pic>
        <p:pic>
          <p:nvPicPr>
            <p:cNvPr id="91" name="object 91" descr=""/>
            <p:cNvPicPr/>
            <p:nvPr/>
          </p:nvPicPr>
          <p:blipFill>
            <a:blip r:embed="rId25" cstate="print"/>
            <a:stretch>
              <a:fillRect/>
            </a:stretch>
          </p:blipFill>
          <p:spPr>
            <a:xfrm>
              <a:off x="2496312" y="4458461"/>
              <a:ext cx="155447" cy="254431"/>
            </a:xfrm>
            <a:prstGeom prst="rect">
              <a:avLst/>
            </a:prstGeom>
          </p:spPr>
        </p:pic>
        <p:pic>
          <p:nvPicPr>
            <p:cNvPr id="92" name="object 92" descr=""/>
            <p:cNvPicPr/>
            <p:nvPr/>
          </p:nvPicPr>
          <p:blipFill>
            <a:blip r:embed="rId26" cstate="print"/>
            <a:stretch>
              <a:fillRect/>
            </a:stretch>
          </p:blipFill>
          <p:spPr>
            <a:xfrm>
              <a:off x="2826257" y="4614671"/>
              <a:ext cx="156197" cy="98221"/>
            </a:xfrm>
            <a:prstGeom prst="rect">
              <a:avLst/>
            </a:prstGeom>
          </p:spPr>
        </p:pic>
        <p:pic>
          <p:nvPicPr>
            <p:cNvPr id="93" name="object 93" descr=""/>
            <p:cNvPicPr/>
            <p:nvPr/>
          </p:nvPicPr>
          <p:blipFill>
            <a:blip r:embed="rId27" cstate="print"/>
            <a:stretch>
              <a:fillRect/>
            </a:stretch>
          </p:blipFill>
          <p:spPr>
            <a:xfrm>
              <a:off x="3156966" y="4536947"/>
              <a:ext cx="155447" cy="175946"/>
            </a:xfrm>
            <a:prstGeom prst="rect">
              <a:avLst/>
            </a:prstGeom>
          </p:spPr>
        </p:pic>
        <p:pic>
          <p:nvPicPr>
            <p:cNvPr id="94" name="object 94" descr=""/>
            <p:cNvPicPr/>
            <p:nvPr/>
          </p:nvPicPr>
          <p:blipFill>
            <a:blip r:embed="rId28" cstate="print"/>
            <a:stretch>
              <a:fillRect/>
            </a:stretch>
          </p:blipFill>
          <p:spPr>
            <a:xfrm>
              <a:off x="3487673" y="4570475"/>
              <a:ext cx="155447" cy="142417"/>
            </a:xfrm>
            <a:prstGeom prst="rect">
              <a:avLst/>
            </a:prstGeom>
          </p:spPr>
        </p:pic>
        <p:pic>
          <p:nvPicPr>
            <p:cNvPr id="95" name="object 95" descr=""/>
            <p:cNvPicPr/>
            <p:nvPr/>
          </p:nvPicPr>
          <p:blipFill>
            <a:blip r:embed="rId29" cstate="print"/>
            <a:stretch>
              <a:fillRect/>
            </a:stretch>
          </p:blipFill>
          <p:spPr>
            <a:xfrm>
              <a:off x="738289" y="3469233"/>
              <a:ext cx="220281" cy="1230960"/>
            </a:xfrm>
            <a:prstGeom prst="rect">
              <a:avLst/>
            </a:prstGeom>
          </p:spPr>
        </p:pic>
        <p:pic>
          <p:nvPicPr>
            <p:cNvPr id="96" name="object 96" descr=""/>
            <p:cNvPicPr/>
            <p:nvPr/>
          </p:nvPicPr>
          <p:blipFill>
            <a:blip r:embed="rId30" cstate="print"/>
            <a:stretch>
              <a:fillRect/>
            </a:stretch>
          </p:blipFill>
          <p:spPr>
            <a:xfrm>
              <a:off x="1068704" y="4178718"/>
              <a:ext cx="220294" cy="521474"/>
            </a:xfrm>
            <a:prstGeom prst="rect">
              <a:avLst/>
            </a:prstGeom>
          </p:spPr>
        </p:pic>
        <p:pic>
          <p:nvPicPr>
            <p:cNvPr id="97" name="object 97" descr=""/>
            <p:cNvPicPr/>
            <p:nvPr/>
          </p:nvPicPr>
          <p:blipFill>
            <a:blip r:embed="rId31" cstate="print"/>
            <a:stretch>
              <a:fillRect/>
            </a:stretch>
          </p:blipFill>
          <p:spPr>
            <a:xfrm>
              <a:off x="1729562" y="4252569"/>
              <a:ext cx="220281" cy="447624"/>
            </a:xfrm>
            <a:prstGeom prst="rect">
              <a:avLst/>
            </a:prstGeom>
          </p:spPr>
        </p:pic>
        <p:pic>
          <p:nvPicPr>
            <p:cNvPr id="98" name="object 98" descr=""/>
            <p:cNvPicPr/>
            <p:nvPr/>
          </p:nvPicPr>
          <p:blipFill>
            <a:blip r:embed="rId32" cstate="print"/>
            <a:stretch>
              <a:fillRect/>
            </a:stretch>
          </p:blipFill>
          <p:spPr>
            <a:xfrm>
              <a:off x="1399133" y="4420438"/>
              <a:ext cx="220294" cy="279768"/>
            </a:xfrm>
            <a:prstGeom prst="rect">
              <a:avLst/>
            </a:prstGeom>
          </p:spPr>
        </p:pic>
        <p:pic>
          <p:nvPicPr>
            <p:cNvPr id="99" name="object 99" descr=""/>
            <p:cNvPicPr/>
            <p:nvPr/>
          </p:nvPicPr>
          <p:blipFill>
            <a:blip r:embed="rId33" cstate="print"/>
            <a:stretch>
              <a:fillRect/>
            </a:stretch>
          </p:blipFill>
          <p:spPr>
            <a:xfrm>
              <a:off x="2720835" y="4633048"/>
              <a:ext cx="220281" cy="67144"/>
            </a:xfrm>
            <a:prstGeom prst="rect">
              <a:avLst/>
            </a:prstGeom>
          </p:spPr>
        </p:pic>
        <p:pic>
          <p:nvPicPr>
            <p:cNvPr id="100" name="object 100" descr=""/>
            <p:cNvPicPr/>
            <p:nvPr/>
          </p:nvPicPr>
          <p:blipFill>
            <a:blip r:embed="rId34" cstate="print"/>
            <a:stretch>
              <a:fillRect/>
            </a:stretch>
          </p:blipFill>
          <p:spPr>
            <a:xfrm>
              <a:off x="2390406" y="4476381"/>
              <a:ext cx="220281" cy="223812"/>
            </a:xfrm>
            <a:prstGeom prst="rect">
              <a:avLst/>
            </a:prstGeom>
          </p:spPr>
        </p:pic>
        <p:pic>
          <p:nvPicPr>
            <p:cNvPr id="101" name="object 101" descr=""/>
            <p:cNvPicPr/>
            <p:nvPr/>
          </p:nvPicPr>
          <p:blipFill>
            <a:blip r:embed="rId35" cstate="print"/>
            <a:stretch>
              <a:fillRect/>
            </a:stretch>
          </p:blipFill>
          <p:spPr>
            <a:xfrm>
              <a:off x="2059978" y="4543526"/>
              <a:ext cx="220294" cy="156667"/>
            </a:xfrm>
            <a:prstGeom prst="rect">
              <a:avLst/>
            </a:prstGeom>
          </p:spPr>
        </p:pic>
        <p:pic>
          <p:nvPicPr>
            <p:cNvPr id="102" name="object 102" descr=""/>
            <p:cNvPicPr/>
            <p:nvPr/>
          </p:nvPicPr>
          <p:blipFill>
            <a:blip r:embed="rId36" cstate="print"/>
            <a:stretch>
              <a:fillRect/>
            </a:stretch>
          </p:blipFill>
          <p:spPr>
            <a:xfrm>
              <a:off x="3381679" y="4588293"/>
              <a:ext cx="220281" cy="111912"/>
            </a:xfrm>
            <a:prstGeom prst="rect">
              <a:avLst/>
            </a:prstGeom>
          </p:spPr>
        </p:pic>
        <p:pic>
          <p:nvPicPr>
            <p:cNvPr id="103" name="object 103" descr=""/>
            <p:cNvPicPr/>
            <p:nvPr/>
          </p:nvPicPr>
          <p:blipFill>
            <a:blip r:embed="rId37" cstate="print"/>
            <a:stretch>
              <a:fillRect/>
            </a:stretch>
          </p:blipFill>
          <p:spPr>
            <a:xfrm>
              <a:off x="3051251" y="4554715"/>
              <a:ext cx="220294" cy="145478"/>
            </a:xfrm>
            <a:prstGeom prst="rect">
              <a:avLst/>
            </a:prstGeom>
          </p:spPr>
        </p:pic>
        <p:sp>
          <p:nvSpPr>
            <p:cNvPr id="104" name="object 104" descr=""/>
            <p:cNvSpPr/>
            <p:nvPr/>
          </p:nvSpPr>
          <p:spPr>
            <a:xfrm>
              <a:off x="683513" y="3357371"/>
              <a:ext cx="0" cy="1343025"/>
            </a:xfrm>
            <a:custGeom>
              <a:avLst/>
              <a:gdLst/>
              <a:ahLst/>
              <a:cxnLst/>
              <a:rect l="l" t="t" r="r" b="b"/>
              <a:pathLst>
                <a:path w="0" h="1343025">
                  <a:moveTo>
                    <a:pt x="0" y="1342643"/>
                  </a:moveTo>
                  <a:lnTo>
                    <a:pt x="0" y="0"/>
                  </a:lnTo>
                </a:path>
              </a:pathLst>
            </a:custGeom>
            <a:ln w="9144">
              <a:solidFill>
                <a:srgbClr val="878787"/>
              </a:solidFill>
            </a:ln>
          </p:spPr>
          <p:txBody>
            <a:bodyPr wrap="square" lIns="0" tIns="0" rIns="0" bIns="0" rtlCol="0"/>
            <a:lstStyle/>
            <a:p/>
          </p:txBody>
        </p:sp>
        <p:sp>
          <p:nvSpPr>
            <p:cNvPr id="105" name="object 105" descr=""/>
            <p:cNvSpPr/>
            <p:nvPr/>
          </p:nvSpPr>
          <p:spPr>
            <a:xfrm>
              <a:off x="644651" y="3357371"/>
              <a:ext cx="39370" cy="1343025"/>
            </a:xfrm>
            <a:custGeom>
              <a:avLst/>
              <a:gdLst/>
              <a:ahLst/>
              <a:cxnLst/>
              <a:rect l="l" t="t" r="r" b="b"/>
              <a:pathLst>
                <a:path w="39370" h="1343025">
                  <a:moveTo>
                    <a:pt x="0" y="1342643"/>
                  </a:moveTo>
                  <a:lnTo>
                    <a:pt x="38862" y="1342643"/>
                  </a:lnTo>
                </a:path>
                <a:path w="39370" h="1343025">
                  <a:moveTo>
                    <a:pt x="0" y="1119377"/>
                  </a:moveTo>
                  <a:lnTo>
                    <a:pt x="38862" y="1119377"/>
                  </a:lnTo>
                </a:path>
                <a:path w="39370" h="1343025">
                  <a:moveTo>
                    <a:pt x="0" y="895349"/>
                  </a:moveTo>
                  <a:lnTo>
                    <a:pt x="38862" y="895349"/>
                  </a:lnTo>
                </a:path>
                <a:path w="39370" h="1343025">
                  <a:moveTo>
                    <a:pt x="0" y="671321"/>
                  </a:moveTo>
                  <a:lnTo>
                    <a:pt x="38862" y="671321"/>
                  </a:lnTo>
                </a:path>
                <a:path w="39370" h="1343025">
                  <a:moveTo>
                    <a:pt x="0" y="447293"/>
                  </a:moveTo>
                  <a:lnTo>
                    <a:pt x="38862" y="447293"/>
                  </a:lnTo>
                </a:path>
                <a:path w="39370" h="1343025">
                  <a:moveTo>
                    <a:pt x="0" y="224027"/>
                  </a:moveTo>
                  <a:lnTo>
                    <a:pt x="38862" y="224027"/>
                  </a:lnTo>
                </a:path>
                <a:path w="39370" h="1343025">
                  <a:moveTo>
                    <a:pt x="0" y="0"/>
                  </a:moveTo>
                  <a:lnTo>
                    <a:pt x="38862" y="0"/>
                  </a:lnTo>
                </a:path>
              </a:pathLst>
            </a:custGeom>
            <a:ln w="9144">
              <a:solidFill>
                <a:srgbClr val="878787"/>
              </a:solidFill>
            </a:ln>
          </p:spPr>
          <p:txBody>
            <a:bodyPr wrap="square" lIns="0" tIns="0" rIns="0" bIns="0" rtlCol="0"/>
            <a:lstStyle/>
            <a:p/>
          </p:txBody>
        </p:sp>
        <p:sp>
          <p:nvSpPr>
            <p:cNvPr id="106" name="object 106" descr=""/>
            <p:cNvSpPr/>
            <p:nvPr/>
          </p:nvSpPr>
          <p:spPr>
            <a:xfrm>
              <a:off x="683513" y="4700015"/>
              <a:ext cx="2973705" cy="39370"/>
            </a:xfrm>
            <a:custGeom>
              <a:avLst/>
              <a:gdLst/>
              <a:ahLst/>
              <a:cxnLst/>
              <a:rect l="l" t="t" r="r" b="b"/>
              <a:pathLst>
                <a:path w="2973704" h="39370">
                  <a:moveTo>
                    <a:pt x="0" y="0"/>
                  </a:moveTo>
                  <a:lnTo>
                    <a:pt x="2973324" y="0"/>
                  </a:lnTo>
                </a:path>
                <a:path w="2973704" h="39370">
                  <a:moveTo>
                    <a:pt x="0" y="0"/>
                  </a:moveTo>
                  <a:lnTo>
                    <a:pt x="0" y="38862"/>
                  </a:lnTo>
                </a:path>
                <a:path w="2973704" h="39370">
                  <a:moveTo>
                    <a:pt x="329946" y="0"/>
                  </a:moveTo>
                  <a:lnTo>
                    <a:pt x="329946" y="38862"/>
                  </a:lnTo>
                </a:path>
                <a:path w="2973704" h="39370">
                  <a:moveTo>
                    <a:pt x="660654" y="0"/>
                  </a:moveTo>
                  <a:lnTo>
                    <a:pt x="660654" y="38862"/>
                  </a:lnTo>
                </a:path>
                <a:path w="2973704" h="39370">
                  <a:moveTo>
                    <a:pt x="990600" y="0"/>
                  </a:moveTo>
                  <a:lnTo>
                    <a:pt x="990600" y="38862"/>
                  </a:lnTo>
                </a:path>
                <a:path w="2973704" h="39370">
                  <a:moveTo>
                    <a:pt x="1321308" y="0"/>
                  </a:moveTo>
                  <a:lnTo>
                    <a:pt x="1321308" y="38862"/>
                  </a:lnTo>
                </a:path>
                <a:path w="2973704" h="39370">
                  <a:moveTo>
                    <a:pt x="1652016" y="0"/>
                  </a:moveTo>
                  <a:lnTo>
                    <a:pt x="1652016" y="38862"/>
                  </a:lnTo>
                </a:path>
                <a:path w="2973704" h="39370">
                  <a:moveTo>
                    <a:pt x="1981962" y="0"/>
                  </a:moveTo>
                  <a:lnTo>
                    <a:pt x="1981962" y="38862"/>
                  </a:lnTo>
                </a:path>
                <a:path w="2973704" h="39370">
                  <a:moveTo>
                    <a:pt x="2312670" y="0"/>
                  </a:moveTo>
                  <a:lnTo>
                    <a:pt x="2312670" y="38862"/>
                  </a:lnTo>
                </a:path>
                <a:path w="2973704" h="39370">
                  <a:moveTo>
                    <a:pt x="2643378" y="0"/>
                  </a:moveTo>
                  <a:lnTo>
                    <a:pt x="2643378" y="38862"/>
                  </a:lnTo>
                </a:path>
                <a:path w="2973704" h="39370">
                  <a:moveTo>
                    <a:pt x="2973324" y="0"/>
                  </a:moveTo>
                  <a:lnTo>
                    <a:pt x="2973324" y="38862"/>
                  </a:lnTo>
                </a:path>
              </a:pathLst>
            </a:custGeom>
            <a:ln w="9144">
              <a:solidFill>
                <a:srgbClr val="878787"/>
              </a:solidFill>
            </a:ln>
          </p:spPr>
          <p:txBody>
            <a:bodyPr wrap="square" lIns="0" tIns="0" rIns="0" bIns="0" rtlCol="0"/>
            <a:lstStyle/>
            <a:p/>
          </p:txBody>
        </p:sp>
        <p:pic>
          <p:nvPicPr>
            <p:cNvPr id="107" name="object 107" descr=""/>
            <p:cNvPicPr/>
            <p:nvPr/>
          </p:nvPicPr>
          <p:blipFill>
            <a:blip r:embed="rId38" cstate="print"/>
            <a:stretch>
              <a:fillRect/>
            </a:stretch>
          </p:blipFill>
          <p:spPr>
            <a:xfrm>
              <a:off x="742001" y="4780013"/>
              <a:ext cx="161098" cy="175686"/>
            </a:xfrm>
            <a:prstGeom prst="rect">
              <a:avLst/>
            </a:prstGeom>
          </p:spPr>
        </p:pic>
        <p:pic>
          <p:nvPicPr>
            <p:cNvPr id="108" name="object 108" descr=""/>
            <p:cNvPicPr/>
            <p:nvPr/>
          </p:nvPicPr>
          <p:blipFill>
            <a:blip r:embed="rId39" cstate="print"/>
            <a:stretch>
              <a:fillRect/>
            </a:stretch>
          </p:blipFill>
          <p:spPr>
            <a:xfrm>
              <a:off x="1066450" y="4780013"/>
              <a:ext cx="167072" cy="173922"/>
            </a:xfrm>
            <a:prstGeom prst="rect">
              <a:avLst/>
            </a:prstGeom>
          </p:spPr>
        </p:pic>
        <p:pic>
          <p:nvPicPr>
            <p:cNvPr id="109" name="object 109" descr=""/>
            <p:cNvPicPr/>
            <p:nvPr/>
          </p:nvPicPr>
          <p:blipFill>
            <a:blip r:embed="rId40" cstate="print"/>
            <a:stretch>
              <a:fillRect/>
            </a:stretch>
          </p:blipFill>
          <p:spPr>
            <a:xfrm>
              <a:off x="1403903" y="4780013"/>
              <a:ext cx="160042" cy="173219"/>
            </a:xfrm>
            <a:prstGeom prst="rect">
              <a:avLst/>
            </a:prstGeom>
          </p:spPr>
        </p:pic>
        <p:pic>
          <p:nvPicPr>
            <p:cNvPr id="110" name="object 110" descr=""/>
            <p:cNvPicPr/>
            <p:nvPr/>
          </p:nvPicPr>
          <p:blipFill>
            <a:blip r:embed="rId41" cstate="print"/>
            <a:stretch>
              <a:fillRect/>
            </a:stretch>
          </p:blipFill>
          <p:spPr>
            <a:xfrm>
              <a:off x="1742053" y="4780013"/>
              <a:ext cx="152316" cy="174269"/>
            </a:xfrm>
            <a:prstGeom prst="rect">
              <a:avLst/>
            </a:prstGeom>
          </p:spPr>
        </p:pic>
        <p:pic>
          <p:nvPicPr>
            <p:cNvPr id="111" name="object 111" descr=""/>
            <p:cNvPicPr/>
            <p:nvPr/>
          </p:nvPicPr>
          <p:blipFill>
            <a:blip r:embed="rId42" cstate="print"/>
            <a:stretch>
              <a:fillRect/>
            </a:stretch>
          </p:blipFill>
          <p:spPr>
            <a:xfrm>
              <a:off x="1965100" y="4813299"/>
              <a:ext cx="225666" cy="231139"/>
            </a:xfrm>
            <a:prstGeom prst="rect">
              <a:avLst/>
            </a:prstGeom>
          </p:spPr>
        </p:pic>
        <p:pic>
          <p:nvPicPr>
            <p:cNvPr id="112" name="object 112" descr=""/>
            <p:cNvPicPr/>
            <p:nvPr/>
          </p:nvPicPr>
          <p:blipFill>
            <a:blip r:embed="rId43" cstate="print"/>
            <a:stretch>
              <a:fillRect/>
            </a:stretch>
          </p:blipFill>
          <p:spPr>
            <a:xfrm>
              <a:off x="2396234" y="4780013"/>
              <a:ext cx="158982" cy="181658"/>
            </a:xfrm>
            <a:prstGeom prst="rect">
              <a:avLst/>
            </a:prstGeom>
          </p:spPr>
        </p:pic>
        <p:pic>
          <p:nvPicPr>
            <p:cNvPr id="113" name="object 113" descr=""/>
            <p:cNvPicPr/>
            <p:nvPr/>
          </p:nvPicPr>
          <p:blipFill>
            <a:blip r:embed="rId44" cstate="print"/>
            <a:stretch>
              <a:fillRect/>
            </a:stretch>
          </p:blipFill>
          <p:spPr>
            <a:xfrm>
              <a:off x="2729820" y="4780013"/>
              <a:ext cx="155820" cy="181310"/>
            </a:xfrm>
            <a:prstGeom prst="rect">
              <a:avLst/>
            </a:prstGeom>
          </p:spPr>
        </p:pic>
        <p:pic>
          <p:nvPicPr>
            <p:cNvPr id="114" name="object 114" descr=""/>
            <p:cNvPicPr/>
            <p:nvPr/>
          </p:nvPicPr>
          <p:blipFill>
            <a:blip r:embed="rId45" cstate="print"/>
            <a:stretch>
              <a:fillRect/>
            </a:stretch>
          </p:blipFill>
          <p:spPr>
            <a:xfrm>
              <a:off x="3056375" y="4780013"/>
              <a:ext cx="159689" cy="158464"/>
            </a:xfrm>
            <a:prstGeom prst="rect">
              <a:avLst/>
            </a:prstGeom>
          </p:spPr>
        </p:pic>
        <p:pic>
          <p:nvPicPr>
            <p:cNvPr id="115" name="object 115" descr=""/>
            <p:cNvPicPr/>
            <p:nvPr/>
          </p:nvPicPr>
          <p:blipFill>
            <a:blip r:embed="rId46" cstate="print"/>
            <a:stretch>
              <a:fillRect/>
            </a:stretch>
          </p:blipFill>
          <p:spPr>
            <a:xfrm>
              <a:off x="3300863" y="4812459"/>
              <a:ext cx="222491" cy="229882"/>
            </a:xfrm>
            <a:prstGeom prst="rect">
              <a:avLst/>
            </a:prstGeom>
          </p:spPr>
        </p:pic>
        <p:pic>
          <p:nvPicPr>
            <p:cNvPr id="116" name="object 116" descr=""/>
            <p:cNvPicPr/>
            <p:nvPr/>
          </p:nvPicPr>
          <p:blipFill>
            <a:blip r:embed="rId47" cstate="print"/>
            <a:stretch>
              <a:fillRect/>
            </a:stretch>
          </p:blipFill>
          <p:spPr>
            <a:xfrm>
              <a:off x="3483203" y="3958145"/>
              <a:ext cx="63868" cy="63868"/>
            </a:xfrm>
            <a:prstGeom prst="rect">
              <a:avLst/>
            </a:prstGeom>
          </p:spPr>
        </p:pic>
      </p:grpSp>
      <p:sp>
        <p:nvSpPr>
          <p:cNvPr id="117" name="object 117" descr=""/>
          <p:cNvSpPr txBox="1"/>
          <p:nvPr/>
        </p:nvSpPr>
        <p:spPr>
          <a:xfrm>
            <a:off x="419538" y="3188550"/>
            <a:ext cx="167640" cy="1591945"/>
          </a:xfrm>
          <a:prstGeom prst="rect">
            <a:avLst/>
          </a:prstGeom>
        </p:spPr>
        <p:txBody>
          <a:bodyPr wrap="square" lIns="0" tIns="83820" rIns="0" bIns="0" rtlCol="0" vert="horz">
            <a:spAutoFit/>
          </a:bodyPr>
          <a:lstStyle/>
          <a:p>
            <a:pPr algn="r" marR="5080">
              <a:lnSpc>
                <a:spcPct val="100000"/>
              </a:lnSpc>
              <a:spcBef>
                <a:spcPts val="660"/>
              </a:spcBef>
            </a:pPr>
            <a:r>
              <a:rPr dirty="0" sz="1000" spc="-25">
                <a:latin typeface="Arial MT"/>
                <a:cs typeface="Arial MT"/>
              </a:rPr>
              <a:t>60</a:t>
            </a:r>
            <a:endParaRPr sz="1000">
              <a:latin typeface="Arial MT"/>
              <a:cs typeface="Arial MT"/>
            </a:endParaRPr>
          </a:p>
          <a:p>
            <a:pPr algn="r" marR="5080">
              <a:lnSpc>
                <a:spcPct val="100000"/>
              </a:lnSpc>
              <a:spcBef>
                <a:spcPts val="560"/>
              </a:spcBef>
            </a:pPr>
            <a:r>
              <a:rPr dirty="0" sz="1000" spc="-25">
                <a:latin typeface="Arial MT"/>
                <a:cs typeface="Arial MT"/>
              </a:rPr>
              <a:t>50</a:t>
            </a:r>
            <a:endParaRPr sz="1000">
              <a:latin typeface="Arial MT"/>
              <a:cs typeface="Arial MT"/>
            </a:endParaRPr>
          </a:p>
          <a:p>
            <a:pPr algn="r" marR="5080">
              <a:lnSpc>
                <a:spcPct val="100000"/>
              </a:lnSpc>
              <a:spcBef>
                <a:spcPts val="565"/>
              </a:spcBef>
            </a:pPr>
            <a:r>
              <a:rPr dirty="0" sz="1000" spc="-25">
                <a:latin typeface="Arial MT"/>
                <a:cs typeface="Arial MT"/>
              </a:rPr>
              <a:t>40</a:t>
            </a:r>
            <a:endParaRPr sz="1000">
              <a:latin typeface="Arial MT"/>
              <a:cs typeface="Arial MT"/>
            </a:endParaRPr>
          </a:p>
          <a:p>
            <a:pPr algn="r" marR="5080">
              <a:lnSpc>
                <a:spcPct val="100000"/>
              </a:lnSpc>
              <a:spcBef>
                <a:spcPts val="560"/>
              </a:spcBef>
            </a:pPr>
            <a:r>
              <a:rPr dirty="0" sz="1000" spc="-25">
                <a:latin typeface="Arial MT"/>
                <a:cs typeface="Arial MT"/>
              </a:rPr>
              <a:t>30</a:t>
            </a:r>
            <a:endParaRPr sz="1000">
              <a:latin typeface="Arial MT"/>
              <a:cs typeface="Arial MT"/>
            </a:endParaRPr>
          </a:p>
          <a:p>
            <a:pPr algn="r" marR="5080">
              <a:lnSpc>
                <a:spcPct val="100000"/>
              </a:lnSpc>
              <a:spcBef>
                <a:spcPts val="565"/>
              </a:spcBef>
            </a:pPr>
            <a:r>
              <a:rPr dirty="0" sz="1000" spc="-25">
                <a:latin typeface="Arial MT"/>
                <a:cs typeface="Arial MT"/>
              </a:rPr>
              <a:t>20</a:t>
            </a:r>
            <a:endParaRPr sz="1000">
              <a:latin typeface="Arial MT"/>
              <a:cs typeface="Arial MT"/>
            </a:endParaRPr>
          </a:p>
          <a:p>
            <a:pPr algn="r" marR="5080">
              <a:lnSpc>
                <a:spcPct val="100000"/>
              </a:lnSpc>
              <a:spcBef>
                <a:spcPts val="560"/>
              </a:spcBef>
            </a:pPr>
            <a:r>
              <a:rPr dirty="0" sz="1000" spc="-25">
                <a:latin typeface="Arial MT"/>
                <a:cs typeface="Arial MT"/>
              </a:rPr>
              <a:t>10</a:t>
            </a:r>
            <a:endParaRPr sz="1000">
              <a:latin typeface="Arial MT"/>
              <a:cs typeface="Arial MT"/>
            </a:endParaRPr>
          </a:p>
          <a:p>
            <a:pPr algn="r" marR="5080">
              <a:lnSpc>
                <a:spcPct val="100000"/>
              </a:lnSpc>
              <a:spcBef>
                <a:spcPts val="565"/>
              </a:spcBef>
            </a:pPr>
            <a:r>
              <a:rPr dirty="0" sz="1000" spc="-50">
                <a:latin typeface="Arial MT"/>
                <a:cs typeface="Arial MT"/>
              </a:rPr>
              <a:t>0</a:t>
            </a:r>
            <a:endParaRPr sz="1000">
              <a:latin typeface="Arial MT"/>
              <a:cs typeface="Arial MT"/>
            </a:endParaRPr>
          </a:p>
        </p:txBody>
      </p:sp>
      <p:sp>
        <p:nvSpPr>
          <p:cNvPr id="118" name="object 118" descr=""/>
          <p:cNvSpPr txBox="1"/>
          <p:nvPr/>
        </p:nvSpPr>
        <p:spPr>
          <a:xfrm>
            <a:off x="3561542" y="3894325"/>
            <a:ext cx="457200" cy="178435"/>
          </a:xfrm>
          <a:prstGeom prst="rect">
            <a:avLst/>
          </a:prstGeom>
        </p:spPr>
        <p:txBody>
          <a:bodyPr wrap="square" lIns="0" tIns="12700" rIns="0" bIns="0" rtlCol="0" vert="horz">
            <a:spAutoFit/>
          </a:bodyPr>
          <a:lstStyle/>
          <a:p>
            <a:pPr marL="12700">
              <a:lnSpc>
                <a:spcPct val="100000"/>
              </a:lnSpc>
              <a:spcBef>
                <a:spcPts val="100"/>
              </a:spcBef>
            </a:pPr>
            <a:r>
              <a:rPr dirty="0" sz="1000" spc="-10">
                <a:latin typeface="Arial MT"/>
                <a:cs typeface="Arial MT"/>
              </a:rPr>
              <a:t>1.8GHz</a:t>
            </a:r>
            <a:endParaRPr sz="1000">
              <a:latin typeface="Arial MT"/>
              <a:cs typeface="Arial MT"/>
            </a:endParaRPr>
          </a:p>
        </p:txBody>
      </p:sp>
      <p:pic>
        <p:nvPicPr>
          <p:cNvPr id="119" name="object 119" descr=""/>
          <p:cNvPicPr/>
          <p:nvPr/>
        </p:nvPicPr>
        <p:blipFill>
          <a:blip r:embed="rId48" cstate="print"/>
          <a:stretch>
            <a:fillRect/>
          </a:stretch>
        </p:blipFill>
        <p:spPr>
          <a:xfrm>
            <a:off x="3483203" y="4174858"/>
            <a:ext cx="63868" cy="63868"/>
          </a:xfrm>
          <a:prstGeom prst="rect">
            <a:avLst/>
          </a:prstGeom>
        </p:spPr>
      </p:pic>
      <p:sp>
        <p:nvSpPr>
          <p:cNvPr id="120" name="object 120" descr=""/>
          <p:cNvSpPr txBox="1"/>
          <p:nvPr/>
        </p:nvSpPr>
        <p:spPr>
          <a:xfrm>
            <a:off x="3561542" y="4111028"/>
            <a:ext cx="457200" cy="178435"/>
          </a:xfrm>
          <a:prstGeom prst="rect">
            <a:avLst/>
          </a:prstGeom>
        </p:spPr>
        <p:txBody>
          <a:bodyPr wrap="square" lIns="0" tIns="12700" rIns="0" bIns="0" rtlCol="0" vert="horz">
            <a:spAutoFit/>
          </a:bodyPr>
          <a:lstStyle/>
          <a:p>
            <a:pPr marL="12700">
              <a:lnSpc>
                <a:spcPct val="100000"/>
              </a:lnSpc>
              <a:spcBef>
                <a:spcPts val="100"/>
              </a:spcBef>
            </a:pPr>
            <a:r>
              <a:rPr dirty="0" sz="1000" spc="-10">
                <a:latin typeface="Arial MT"/>
                <a:cs typeface="Arial MT"/>
              </a:rPr>
              <a:t>2.6GHz</a:t>
            </a:r>
            <a:endParaRPr sz="1000">
              <a:latin typeface="Arial MT"/>
              <a:cs typeface="Arial MT"/>
            </a:endParaRPr>
          </a:p>
        </p:txBody>
      </p:sp>
      <p:pic>
        <p:nvPicPr>
          <p:cNvPr id="121" name="object 121" descr=""/>
          <p:cNvPicPr/>
          <p:nvPr/>
        </p:nvPicPr>
        <p:blipFill>
          <a:blip r:embed="rId49" cstate="print"/>
          <a:stretch>
            <a:fillRect/>
          </a:stretch>
        </p:blipFill>
        <p:spPr>
          <a:xfrm>
            <a:off x="3483203" y="4391558"/>
            <a:ext cx="63868" cy="63868"/>
          </a:xfrm>
          <a:prstGeom prst="rect">
            <a:avLst/>
          </a:prstGeom>
        </p:spPr>
      </p:pic>
      <p:sp>
        <p:nvSpPr>
          <p:cNvPr id="122" name="object 122" descr=""/>
          <p:cNvSpPr txBox="1"/>
          <p:nvPr/>
        </p:nvSpPr>
        <p:spPr>
          <a:xfrm>
            <a:off x="3561542" y="4327730"/>
            <a:ext cx="457200" cy="178435"/>
          </a:xfrm>
          <a:prstGeom prst="rect">
            <a:avLst/>
          </a:prstGeom>
        </p:spPr>
        <p:txBody>
          <a:bodyPr wrap="square" lIns="0" tIns="12700" rIns="0" bIns="0" rtlCol="0" vert="horz">
            <a:spAutoFit/>
          </a:bodyPr>
          <a:lstStyle/>
          <a:p>
            <a:pPr marL="12700">
              <a:lnSpc>
                <a:spcPct val="100000"/>
              </a:lnSpc>
              <a:spcBef>
                <a:spcPts val="100"/>
              </a:spcBef>
            </a:pPr>
            <a:r>
              <a:rPr dirty="0" sz="1000" spc="-10">
                <a:latin typeface="Arial MT"/>
                <a:cs typeface="Arial MT"/>
              </a:rPr>
              <a:t>3.5GHz</a:t>
            </a:r>
            <a:endParaRPr sz="1000">
              <a:latin typeface="Arial MT"/>
              <a:cs typeface="Arial MT"/>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1693" y="227006"/>
            <a:ext cx="6237605" cy="513080"/>
          </a:xfrm>
          <a:prstGeom prst="rect"/>
        </p:spPr>
        <p:txBody>
          <a:bodyPr wrap="square" lIns="0" tIns="12065" rIns="0" bIns="0" rtlCol="0" vert="horz">
            <a:spAutoFit/>
          </a:bodyPr>
          <a:lstStyle/>
          <a:p>
            <a:pPr marL="12700">
              <a:lnSpc>
                <a:spcPct val="100000"/>
              </a:lnSpc>
              <a:spcBef>
                <a:spcPts val="95"/>
              </a:spcBef>
            </a:pPr>
            <a:r>
              <a:rPr dirty="0" spc="-40"/>
              <a:t>现有室内网络向</a:t>
            </a:r>
            <a:r>
              <a:rPr dirty="0" spc="-30">
                <a:latin typeface="Times New Roman"/>
                <a:cs typeface="Times New Roman"/>
              </a:rPr>
              <a:t>5G</a:t>
            </a:r>
            <a:r>
              <a:rPr dirty="0" spc="-45"/>
              <a:t>演进的主要问题</a:t>
            </a:r>
          </a:p>
        </p:txBody>
      </p:sp>
      <p:sp>
        <p:nvSpPr>
          <p:cNvPr id="3" name="object 3" descr=""/>
          <p:cNvSpPr txBox="1"/>
          <p:nvPr/>
        </p:nvSpPr>
        <p:spPr>
          <a:xfrm>
            <a:off x="996904" y="3780454"/>
            <a:ext cx="3143250" cy="269875"/>
          </a:xfrm>
          <a:prstGeom prst="rect">
            <a:avLst/>
          </a:prstGeom>
        </p:spPr>
        <p:txBody>
          <a:bodyPr wrap="square" lIns="0" tIns="12700" rIns="0" bIns="0" rtlCol="0" vert="horz">
            <a:spAutoFit/>
          </a:bodyPr>
          <a:lstStyle/>
          <a:p>
            <a:pPr marL="12700">
              <a:lnSpc>
                <a:spcPct val="100000"/>
              </a:lnSpc>
              <a:spcBef>
                <a:spcPts val="100"/>
              </a:spcBef>
            </a:pPr>
            <a:r>
              <a:rPr dirty="0" sz="1600" spc="-5">
                <a:latin typeface="Microsoft YaHei"/>
                <a:cs typeface="Microsoft YaHei"/>
              </a:rPr>
              <a:t>现有室内网络硬件不兼容</a:t>
            </a:r>
            <a:r>
              <a:rPr dirty="0" sz="1600" spc="-10">
                <a:latin typeface="Microsoft YaHei"/>
                <a:cs typeface="Microsoft YaHei"/>
              </a:rPr>
              <a:t>5G</a:t>
            </a:r>
            <a:r>
              <a:rPr dirty="0" sz="1600" spc="-20">
                <a:latin typeface="Microsoft YaHei"/>
                <a:cs typeface="Microsoft YaHei"/>
              </a:rPr>
              <a:t>频段。</a:t>
            </a:r>
            <a:endParaRPr sz="1600">
              <a:latin typeface="Microsoft YaHei"/>
              <a:cs typeface="Microsoft YaHei"/>
            </a:endParaRPr>
          </a:p>
        </p:txBody>
      </p:sp>
      <p:pic>
        <p:nvPicPr>
          <p:cNvPr id="4" name="object 4"/>
          <p:cNvPicPr/>
          <p:nvPr/>
        </p:nvPicPr>
        <p:blipFill>
          <a:blip r:embed="rId2" cstate="print"/>
          <a:stretch>
            <a:fillRect/>
          </a:stretch>
        </p:blipFill>
        <p:spPr>
          <a:xfrm>
            <a:off x="5958541" y="1428750"/>
            <a:ext cx="1585608" cy="1554314"/>
          </a:xfrm>
          <a:prstGeom prst="rect">
            <a:avLst/>
          </a:prstGeom>
        </p:spPr>
      </p:pic>
      <p:sp>
        <p:nvSpPr>
          <p:cNvPr id="5" name="object 5" descr=""/>
          <p:cNvSpPr txBox="1"/>
          <p:nvPr/>
        </p:nvSpPr>
        <p:spPr>
          <a:xfrm>
            <a:off x="5965455" y="3374364"/>
            <a:ext cx="2263775" cy="976630"/>
          </a:xfrm>
          <a:prstGeom prst="rect">
            <a:avLst/>
          </a:prstGeom>
        </p:spPr>
        <p:txBody>
          <a:bodyPr wrap="square" lIns="0" tIns="12700" rIns="0" bIns="0" rtlCol="0" vert="horz">
            <a:spAutoFit/>
          </a:bodyPr>
          <a:lstStyle/>
          <a:p>
            <a:pPr algn="just" marL="12700" marR="5080">
              <a:lnSpc>
                <a:spcPct val="130000"/>
              </a:lnSpc>
              <a:spcBef>
                <a:spcPts val="100"/>
              </a:spcBef>
            </a:pPr>
            <a:r>
              <a:rPr dirty="0" sz="1600" spc="-5">
                <a:latin typeface="Microsoft YaHei"/>
                <a:cs typeface="Microsoft YaHei"/>
              </a:rPr>
              <a:t>现有室内网络存在多系统干扰，存在干扰风险，对</a:t>
            </a:r>
            <a:r>
              <a:rPr dirty="0" sz="1600" spc="-10">
                <a:latin typeface="Microsoft YaHei"/>
                <a:cs typeface="Microsoft YaHei"/>
              </a:rPr>
              <a:t>施工工艺要求高。</a:t>
            </a:r>
            <a:endParaRPr sz="1600">
              <a:latin typeface="Microsoft YaHei"/>
              <a:cs typeface="Microsoft YaHei"/>
            </a:endParaRPr>
          </a:p>
        </p:txBody>
      </p:sp>
      <p:sp>
        <p:nvSpPr>
          <p:cNvPr id="6" name="object 6" descr=""/>
          <p:cNvSpPr txBox="1"/>
          <p:nvPr/>
        </p:nvSpPr>
        <p:spPr>
          <a:xfrm>
            <a:off x="2189552" y="980932"/>
            <a:ext cx="5022850" cy="269875"/>
          </a:xfrm>
          <a:prstGeom prst="rect">
            <a:avLst/>
          </a:prstGeom>
        </p:spPr>
        <p:txBody>
          <a:bodyPr wrap="square" lIns="0" tIns="12700" rIns="0" bIns="0" rtlCol="0" vert="horz">
            <a:spAutoFit/>
          </a:bodyPr>
          <a:lstStyle/>
          <a:p>
            <a:pPr marL="12700">
              <a:lnSpc>
                <a:spcPct val="100000"/>
              </a:lnSpc>
              <a:spcBef>
                <a:spcPts val="100"/>
              </a:spcBef>
              <a:tabLst>
                <a:tab pos="4279265" algn="l"/>
              </a:tabLst>
            </a:pPr>
            <a:r>
              <a:rPr dirty="0" sz="1600">
                <a:solidFill>
                  <a:srgbClr val="FF0000"/>
                </a:solidFill>
                <a:latin typeface="Microsoft YaHei"/>
                <a:cs typeface="Microsoft YaHei"/>
              </a:rPr>
              <a:t>问题</a:t>
            </a:r>
            <a:r>
              <a:rPr dirty="0" sz="1600" spc="-25">
                <a:solidFill>
                  <a:srgbClr val="FF0000"/>
                </a:solidFill>
                <a:latin typeface="Microsoft YaHei"/>
                <a:cs typeface="Microsoft YaHei"/>
              </a:rPr>
              <a:t>1：</a:t>
            </a:r>
            <a:r>
              <a:rPr dirty="0" sz="1600">
                <a:solidFill>
                  <a:srgbClr val="FF0000"/>
                </a:solidFill>
                <a:latin typeface="Microsoft YaHei"/>
                <a:cs typeface="Microsoft YaHei"/>
              </a:rPr>
              <a:t>	问题</a:t>
            </a:r>
            <a:r>
              <a:rPr dirty="0" sz="1600" spc="-25">
                <a:solidFill>
                  <a:srgbClr val="FF0000"/>
                </a:solidFill>
                <a:latin typeface="Microsoft YaHei"/>
                <a:cs typeface="Microsoft YaHei"/>
              </a:rPr>
              <a:t>2：</a:t>
            </a:r>
            <a:endParaRPr sz="1600">
              <a:latin typeface="Microsoft YaHei"/>
              <a:cs typeface="Microsoft YaHei"/>
            </a:endParaRPr>
          </a:p>
        </p:txBody>
      </p:sp>
      <p:grpSp>
        <p:nvGrpSpPr>
          <p:cNvPr id="7" name="object 7" descr=""/>
          <p:cNvGrpSpPr/>
          <p:nvPr/>
        </p:nvGrpSpPr>
        <p:grpSpPr>
          <a:xfrm>
            <a:off x="772989" y="1960740"/>
            <a:ext cx="1715770" cy="1234440"/>
            <a:chOff x="772989" y="1960740"/>
            <a:chExt cx="1715770" cy="1234440"/>
          </a:xfrm>
        </p:grpSpPr>
        <p:pic>
          <p:nvPicPr>
            <p:cNvPr id="8" name="object 8"/>
            <p:cNvPicPr/>
            <p:nvPr/>
          </p:nvPicPr>
          <p:blipFill>
            <a:blip r:embed="rId3" cstate="print"/>
            <a:stretch>
              <a:fillRect/>
            </a:stretch>
          </p:blipFill>
          <p:spPr>
            <a:xfrm>
              <a:off x="977291" y="2696459"/>
              <a:ext cx="1032076" cy="498543"/>
            </a:xfrm>
            <a:prstGeom prst="rect">
              <a:avLst/>
            </a:prstGeom>
          </p:spPr>
        </p:pic>
        <p:pic>
          <p:nvPicPr>
            <p:cNvPr id="9" name="object 9"/>
            <p:cNvPicPr/>
            <p:nvPr/>
          </p:nvPicPr>
          <p:blipFill>
            <a:blip r:embed="rId4" cstate="print"/>
            <a:stretch>
              <a:fillRect/>
            </a:stretch>
          </p:blipFill>
          <p:spPr>
            <a:xfrm>
              <a:off x="772989" y="1960740"/>
              <a:ext cx="774047" cy="735195"/>
            </a:xfrm>
            <a:prstGeom prst="rect">
              <a:avLst/>
            </a:prstGeom>
          </p:spPr>
        </p:pic>
        <p:pic>
          <p:nvPicPr>
            <p:cNvPr id="10" name="object 10"/>
            <p:cNvPicPr/>
            <p:nvPr/>
          </p:nvPicPr>
          <p:blipFill>
            <a:blip r:embed="rId5" cstate="print"/>
            <a:stretch>
              <a:fillRect/>
            </a:stretch>
          </p:blipFill>
          <p:spPr>
            <a:xfrm>
              <a:off x="1603913" y="1969655"/>
              <a:ext cx="884626" cy="668357"/>
            </a:xfrm>
            <a:prstGeom prst="rect">
              <a:avLst/>
            </a:prstGeom>
          </p:spPr>
        </p:pic>
      </p:grpSp>
      <p:grpSp>
        <p:nvGrpSpPr>
          <p:cNvPr id="11" name="object 11" descr=""/>
          <p:cNvGrpSpPr/>
          <p:nvPr/>
        </p:nvGrpSpPr>
        <p:grpSpPr>
          <a:xfrm>
            <a:off x="3424026" y="1986936"/>
            <a:ext cx="1819910" cy="1287780"/>
            <a:chOff x="3424026" y="1986936"/>
            <a:chExt cx="1819910" cy="1287780"/>
          </a:xfrm>
        </p:grpSpPr>
        <p:pic>
          <p:nvPicPr>
            <p:cNvPr id="12" name="object 12"/>
            <p:cNvPicPr/>
            <p:nvPr/>
          </p:nvPicPr>
          <p:blipFill>
            <a:blip r:embed="rId6" cstate="print"/>
            <a:stretch>
              <a:fillRect/>
            </a:stretch>
          </p:blipFill>
          <p:spPr>
            <a:xfrm>
              <a:off x="4354132" y="2179739"/>
              <a:ext cx="889659" cy="906753"/>
            </a:xfrm>
            <a:prstGeom prst="rect">
              <a:avLst/>
            </a:prstGeom>
          </p:spPr>
        </p:pic>
        <p:pic>
          <p:nvPicPr>
            <p:cNvPr id="13" name="object 13"/>
            <p:cNvPicPr/>
            <p:nvPr/>
          </p:nvPicPr>
          <p:blipFill>
            <a:blip r:embed="rId7" cstate="print"/>
            <a:stretch>
              <a:fillRect/>
            </a:stretch>
          </p:blipFill>
          <p:spPr>
            <a:xfrm>
              <a:off x="3424026" y="1986936"/>
              <a:ext cx="973437" cy="597932"/>
            </a:xfrm>
            <a:prstGeom prst="rect">
              <a:avLst/>
            </a:prstGeom>
          </p:spPr>
        </p:pic>
        <p:pic>
          <p:nvPicPr>
            <p:cNvPr id="14" name="object 14"/>
            <p:cNvPicPr/>
            <p:nvPr/>
          </p:nvPicPr>
          <p:blipFill>
            <a:blip r:embed="rId8" cstate="print"/>
            <a:stretch>
              <a:fillRect/>
            </a:stretch>
          </p:blipFill>
          <p:spPr>
            <a:xfrm>
              <a:off x="3424034" y="2585063"/>
              <a:ext cx="812669" cy="689465"/>
            </a:xfrm>
            <a:prstGeom prst="rect">
              <a:avLst/>
            </a:prstGeom>
          </p:spPr>
        </p:pic>
      </p:grpSp>
      <p:pic>
        <p:nvPicPr>
          <p:cNvPr id="15" name="object 15"/>
          <p:cNvPicPr/>
          <p:nvPr/>
        </p:nvPicPr>
        <p:blipFill>
          <a:blip r:embed="rId9" cstate="print"/>
          <a:stretch>
            <a:fillRect/>
          </a:stretch>
        </p:blipFill>
        <p:spPr>
          <a:xfrm>
            <a:off x="2788920" y="2407920"/>
            <a:ext cx="417576" cy="618744"/>
          </a:xfrm>
          <a:prstGeom prst="rect">
            <a:avLst/>
          </a:prstGeom>
        </p:spPr>
      </p:pic>
      <p:sp>
        <p:nvSpPr>
          <p:cNvPr id="16" name="object 16" descr=""/>
          <p:cNvSpPr txBox="1"/>
          <p:nvPr/>
        </p:nvSpPr>
        <p:spPr>
          <a:xfrm>
            <a:off x="533400" y="1428750"/>
            <a:ext cx="2137410" cy="1868805"/>
          </a:xfrm>
          <a:prstGeom prst="rect">
            <a:avLst/>
          </a:prstGeom>
          <a:ln w="12700">
            <a:solidFill>
              <a:srgbClr val="33CCCC"/>
            </a:solidFill>
          </a:ln>
        </p:spPr>
        <p:txBody>
          <a:bodyPr wrap="square" lIns="0" tIns="78740" rIns="0" bIns="0" rtlCol="0" vert="horz">
            <a:spAutoFit/>
          </a:bodyPr>
          <a:lstStyle/>
          <a:p>
            <a:pPr marL="451484">
              <a:lnSpc>
                <a:spcPct val="100000"/>
              </a:lnSpc>
              <a:spcBef>
                <a:spcPts val="620"/>
              </a:spcBef>
            </a:pPr>
            <a:r>
              <a:rPr dirty="0" sz="1000" spc="-10">
                <a:solidFill>
                  <a:srgbClr val="FF0000"/>
                </a:solidFill>
                <a:latin typeface="Microsoft YaHei"/>
                <a:cs typeface="Microsoft YaHei"/>
              </a:rPr>
              <a:t>800M~2700MHz</a:t>
            </a:r>
            <a:endParaRPr sz="1000">
              <a:latin typeface="Microsoft YaHei"/>
              <a:cs typeface="Microsoft YaHei"/>
            </a:endParaRPr>
          </a:p>
        </p:txBody>
      </p:sp>
      <p:sp>
        <p:nvSpPr>
          <p:cNvPr id="17" name="object 17" descr=""/>
          <p:cNvSpPr txBox="1"/>
          <p:nvPr/>
        </p:nvSpPr>
        <p:spPr>
          <a:xfrm>
            <a:off x="3237204" y="1428750"/>
            <a:ext cx="2097405" cy="1905000"/>
          </a:xfrm>
          <a:prstGeom prst="rect">
            <a:avLst/>
          </a:prstGeom>
          <a:ln w="12700">
            <a:solidFill>
              <a:srgbClr val="33CCCC"/>
            </a:solidFill>
          </a:ln>
        </p:spPr>
        <p:txBody>
          <a:bodyPr wrap="square" lIns="0" tIns="121920" rIns="0" bIns="0" rtlCol="0" vert="horz">
            <a:spAutoFit/>
          </a:bodyPr>
          <a:lstStyle/>
          <a:p>
            <a:pPr marL="408305">
              <a:lnSpc>
                <a:spcPct val="100000"/>
              </a:lnSpc>
              <a:spcBef>
                <a:spcPts val="960"/>
              </a:spcBef>
            </a:pPr>
            <a:r>
              <a:rPr dirty="0" sz="1000" spc="-10">
                <a:solidFill>
                  <a:srgbClr val="FF0000"/>
                </a:solidFill>
                <a:latin typeface="Microsoft YaHei"/>
                <a:cs typeface="Microsoft YaHei"/>
              </a:rPr>
              <a:t>800M~3500MHz</a:t>
            </a:r>
            <a:endParaRPr sz="1000">
              <a:latin typeface="Microsoft YaHei"/>
              <a:cs typeface="Microsoft YaHe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4855" y="154134"/>
            <a:ext cx="5829935" cy="513080"/>
          </a:xfrm>
          <a:prstGeom prst="rect"/>
        </p:spPr>
        <p:txBody>
          <a:bodyPr wrap="square" lIns="0" tIns="12065" rIns="0" bIns="0" rtlCol="0" vert="horz">
            <a:spAutoFit/>
          </a:bodyPr>
          <a:lstStyle/>
          <a:p>
            <a:pPr marL="12700">
              <a:lnSpc>
                <a:spcPct val="100000"/>
              </a:lnSpc>
              <a:spcBef>
                <a:spcPts val="95"/>
              </a:spcBef>
            </a:pPr>
            <a:r>
              <a:rPr dirty="0" spc="-40"/>
              <a:t>现有室内网络硬件不兼容</a:t>
            </a:r>
            <a:r>
              <a:rPr dirty="0" spc="-30">
                <a:latin typeface="Times New Roman"/>
                <a:cs typeface="Times New Roman"/>
              </a:rPr>
              <a:t>5G</a:t>
            </a:r>
            <a:r>
              <a:rPr dirty="0" spc="-45"/>
              <a:t>频段</a:t>
            </a:r>
          </a:p>
        </p:txBody>
      </p:sp>
      <p:sp>
        <p:nvSpPr>
          <p:cNvPr id="3" name="object 3" descr=""/>
          <p:cNvSpPr txBox="1"/>
          <p:nvPr/>
        </p:nvSpPr>
        <p:spPr>
          <a:xfrm>
            <a:off x="896680" y="2676809"/>
            <a:ext cx="559435" cy="369570"/>
          </a:xfrm>
          <a:prstGeom prst="rect">
            <a:avLst/>
          </a:prstGeom>
        </p:spPr>
        <p:txBody>
          <a:bodyPr wrap="square" lIns="0" tIns="16510" rIns="0" bIns="0" rtlCol="0" vert="horz">
            <a:spAutoFit/>
          </a:bodyPr>
          <a:lstStyle/>
          <a:p>
            <a:pPr>
              <a:lnSpc>
                <a:spcPct val="100000"/>
              </a:lnSpc>
              <a:spcBef>
                <a:spcPts val="130"/>
              </a:spcBef>
            </a:pPr>
            <a:r>
              <a:rPr dirty="0" sz="2200" spc="-25">
                <a:latin typeface="Microsoft YaHei"/>
                <a:cs typeface="Microsoft YaHei"/>
              </a:rPr>
              <a:t>干扰</a:t>
            </a:r>
            <a:endParaRPr sz="2200">
              <a:latin typeface="Microsoft YaHei"/>
              <a:cs typeface="Microsoft YaHei"/>
            </a:endParaRPr>
          </a:p>
        </p:txBody>
      </p:sp>
      <p:grpSp>
        <p:nvGrpSpPr>
          <p:cNvPr id="4" name="object 4" descr=""/>
          <p:cNvGrpSpPr/>
          <p:nvPr/>
        </p:nvGrpSpPr>
        <p:grpSpPr>
          <a:xfrm>
            <a:off x="4149089" y="847674"/>
            <a:ext cx="4994910" cy="4156710"/>
            <a:chOff x="4149089" y="847674"/>
            <a:chExt cx="4994910" cy="4156710"/>
          </a:xfrm>
        </p:grpSpPr>
        <p:pic>
          <p:nvPicPr>
            <p:cNvPr id="5" name="object 5" descr=""/>
            <p:cNvPicPr/>
            <p:nvPr/>
          </p:nvPicPr>
          <p:blipFill>
            <a:blip r:embed="rId2" cstate="print"/>
            <a:stretch>
              <a:fillRect/>
            </a:stretch>
          </p:blipFill>
          <p:spPr>
            <a:xfrm>
              <a:off x="4149089" y="3912107"/>
              <a:ext cx="4994909" cy="1091945"/>
            </a:xfrm>
            <a:prstGeom prst="rect">
              <a:avLst/>
            </a:prstGeom>
          </p:spPr>
        </p:pic>
        <p:sp>
          <p:nvSpPr>
            <p:cNvPr id="6" name="object 6" descr=""/>
            <p:cNvSpPr/>
            <p:nvPr/>
          </p:nvSpPr>
          <p:spPr>
            <a:xfrm>
              <a:off x="4229138" y="852436"/>
              <a:ext cx="4457700" cy="4070350"/>
            </a:xfrm>
            <a:custGeom>
              <a:avLst/>
              <a:gdLst/>
              <a:ahLst/>
              <a:cxnLst/>
              <a:rect l="l" t="t" r="r" b="b"/>
              <a:pathLst>
                <a:path w="4457700" h="4070350">
                  <a:moveTo>
                    <a:pt x="0" y="0"/>
                  </a:moveTo>
                  <a:lnTo>
                    <a:pt x="4457395" y="0"/>
                  </a:lnTo>
                  <a:lnTo>
                    <a:pt x="4457395" y="4070070"/>
                  </a:lnTo>
                  <a:lnTo>
                    <a:pt x="0" y="4070070"/>
                  </a:lnTo>
                  <a:lnTo>
                    <a:pt x="0" y="0"/>
                  </a:lnTo>
                  <a:close/>
                </a:path>
              </a:pathLst>
            </a:custGeom>
            <a:ln w="9525">
              <a:solidFill>
                <a:srgbClr val="C00000"/>
              </a:solidFill>
            </a:ln>
          </p:spPr>
          <p:txBody>
            <a:bodyPr wrap="square" lIns="0" tIns="0" rIns="0" bIns="0" rtlCol="0"/>
            <a:lstStyle/>
            <a:p/>
          </p:txBody>
        </p:sp>
      </p:grpSp>
      <p:sp>
        <p:nvSpPr>
          <p:cNvPr id="7" name="object 7" descr=""/>
          <p:cNvSpPr txBox="1"/>
          <p:nvPr/>
        </p:nvSpPr>
        <p:spPr>
          <a:xfrm>
            <a:off x="4285018" y="831591"/>
            <a:ext cx="4330065" cy="3896995"/>
          </a:xfrm>
          <a:prstGeom prst="rect">
            <a:avLst/>
          </a:prstGeom>
        </p:spPr>
        <p:txBody>
          <a:bodyPr wrap="square" lIns="0" tIns="108585" rIns="0" bIns="0" rtlCol="0" vert="horz">
            <a:spAutoFit/>
          </a:bodyPr>
          <a:lstStyle/>
          <a:p>
            <a:pPr marL="245110" indent="-232410">
              <a:lnSpc>
                <a:spcPct val="100000"/>
              </a:lnSpc>
              <a:spcBef>
                <a:spcPts val="855"/>
              </a:spcBef>
              <a:buFont typeface="Wingdings"/>
              <a:buChar char=""/>
              <a:tabLst>
                <a:tab pos="245110" algn="l"/>
              </a:tabLst>
            </a:pPr>
            <a:r>
              <a:rPr dirty="0" sz="1200" spc="-10">
                <a:solidFill>
                  <a:srgbClr val="C00000"/>
                </a:solidFill>
                <a:latin typeface="Microsoft YaHei"/>
                <a:cs typeface="Microsoft YaHei"/>
              </a:rPr>
              <a:t>器件频段不支持</a:t>
            </a:r>
            <a:endParaRPr sz="1200">
              <a:latin typeface="Microsoft YaHei"/>
              <a:cs typeface="Microsoft YaHei"/>
            </a:endParaRPr>
          </a:p>
          <a:p>
            <a:pPr marL="260350" marR="10795">
              <a:lnSpc>
                <a:spcPct val="150000"/>
              </a:lnSpc>
              <a:spcBef>
                <a:spcPts val="25"/>
              </a:spcBef>
            </a:pPr>
            <a:r>
              <a:rPr dirty="0" sz="1100" spc="-20">
                <a:latin typeface="Microsoft YaHei"/>
                <a:cs typeface="Microsoft YaHei"/>
              </a:rPr>
              <a:t>目前室分的无源器件和天线最多只能支持到 </a:t>
            </a:r>
            <a:r>
              <a:rPr dirty="0" sz="1100">
                <a:latin typeface="Microsoft YaHei"/>
                <a:cs typeface="Microsoft YaHei"/>
              </a:rPr>
              <a:t>2.7GHz</a:t>
            </a:r>
            <a:r>
              <a:rPr dirty="0" sz="1100" spc="-25">
                <a:latin typeface="Microsoft YaHei"/>
                <a:cs typeface="Microsoft YaHei"/>
              </a:rPr>
              <a:t> ，如果要支持</a:t>
            </a:r>
            <a:r>
              <a:rPr dirty="0" sz="1100" spc="-20">
                <a:latin typeface="Microsoft YaHei"/>
                <a:cs typeface="Microsoft YaHei"/>
              </a:rPr>
              <a:t>到</a:t>
            </a:r>
            <a:r>
              <a:rPr dirty="0" sz="1100">
                <a:latin typeface="Microsoft YaHei"/>
                <a:cs typeface="Microsoft YaHei"/>
              </a:rPr>
              <a:t>3.5GHz</a:t>
            </a:r>
            <a:r>
              <a:rPr dirty="0" sz="1100" spc="-25">
                <a:latin typeface="Microsoft YaHei"/>
                <a:cs typeface="Microsoft YaHei"/>
              </a:rPr>
              <a:t> 的频段，需要更换现有的无源器件和天线。</a:t>
            </a:r>
            <a:endParaRPr sz="1100">
              <a:latin typeface="Microsoft YaHei"/>
              <a:cs typeface="Microsoft YaHei"/>
            </a:endParaRPr>
          </a:p>
          <a:p>
            <a:pPr marL="245110" indent="-232410">
              <a:lnSpc>
                <a:spcPct val="100000"/>
              </a:lnSpc>
              <a:spcBef>
                <a:spcPts val="695"/>
              </a:spcBef>
              <a:buFont typeface="Wingdings"/>
              <a:buChar char=""/>
              <a:tabLst>
                <a:tab pos="245110" algn="l"/>
              </a:tabLst>
            </a:pPr>
            <a:r>
              <a:rPr dirty="0" sz="1200" spc="-10">
                <a:solidFill>
                  <a:srgbClr val="C00000"/>
                </a:solidFill>
                <a:latin typeface="Microsoft YaHei"/>
                <a:cs typeface="Microsoft YaHei"/>
              </a:rPr>
              <a:t>单天线覆盖范围下降</a:t>
            </a:r>
            <a:endParaRPr sz="1200">
              <a:latin typeface="Microsoft YaHei"/>
              <a:cs typeface="Microsoft YaHei"/>
            </a:endParaRPr>
          </a:p>
          <a:p>
            <a:pPr marL="259715" marR="69850">
              <a:lnSpc>
                <a:spcPct val="150000"/>
              </a:lnSpc>
              <a:spcBef>
                <a:spcPts val="25"/>
              </a:spcBef>
            </a:pPr>
            <a:r>
              <a:rPr dirty="0" sz="1100" spc="-20">
                <a:latin typeface="Microsoft YaHei"/>
                <a:cs typeface="Microsoft YaHei"/>
              </a:rPr>
              <a:t>目前</a:t>
            </a:r>
            <a:r>
              <a:rPr dirty="0" sz="1100">
                <a:latin typeface="Microsoft YaHei"/>
                <a:cs typeface="Microsoft YaHei"/>
              </a:rPr>
              <a:t>LTE</a:t>
            </a:r>
            <a:r>
              <a:rPr dirty="0" sz="1100" spc="-20">
                <a:latin typeface="Microsoft YaHei"/>
                <a:cs typeface="Microsoft YaHei"/>
              </a:rPr>
              <a:t>使用频段最大为</a:t>
            </a:r>
            <a:r>
              <a:rPr dirty="0" sz="1100" spc="-10">
                <a:latin typeface="Microsoft YaHei"/>
                <a:cs typeface="Microsoft YaHei"/>
              </a:rPr>
              <a:t>2.6GHz</a:t>
            </a:r>
            <a:r>
              <a:rPr dirty="0" sz="1100" spc="-25">
                <a:latin typeface="Microsoft YaHei"/>
                <a:cs typeface="Microsoft YaHei"/>
              </a:rPr>
              <a:t>，单天线的覆盖范围已经缩小到</a:t>
            </a:r>
            <a:r>
              <a:rPr dirty="0" sz="1100" spc="-50">
                <a:latin typeface="Microsoft YaHei"/>
                <a:cs typeface="Microsoft YaHei"/>
              </a:rPr>
              <a:t> </a:t>
            </a:r>
            <a:r>
              <a:rPr dirty="0" sz="1100" spc="-20">
                <a:latin typeface="Microsoft YaHei"/>
                <a:cs typeface="Microsoft YaHei"/>
              </a:rPr>
              <a:t>10米，未来使用到</a:t>
            </a:r>
            <a:r>
              <a:rPr dirty="0" sz="1100" spc="-10">
                <a:latin typeface="Microsoft YaHei"/>
                <a:cs typeface="Microsoft YaHei"/>
              </a:rPr>
              <a:t>3.5GHz</a:t>
            </a:r>
            <a:r>
              <a:rPr dirty="0" sz="1100" spc="-25">
                <a:latin typeface="Microsoft YaHei"/>
                <a:cs typeface="Microsoft YaHei"/>
              </a:rPr>
              <a:t>以上的频段，频段损耗更大，因此单天线的覆盖范围会进一步减小。</a:t>
            </a:r>
            <a:endParaRPr sz="1100">
              <a:latin typeface="Microsoft YaHei"/>
              <a:cs typeface="Microsoft YaHei"/>
            </a:endParaRPr>
          </a:p>
          <a:p>
            <a:pPr marL="245110" indent="-232410">
              <a:lnSpc>
                <a:spcPct val="100000"/>
              </a:lnSpc>
              <a:spcBef>
                <a:spcPts val="695"/>
              </a:spcBef>
              <a:buFont typeface="Wingdings"/>
              <a:buChar char=""/>
              <a:tabLst>
                <a:tab pos="245110" algn="l"/>
              </a:tabLst>
            </a:pPr>
            <a:r>
              <a:rPr dirty="0" sz="1200" spc="-5">
                <a:solidFill>
                  <a:srgbClr val="C00000"/>
                </a:solidFill>
                <a:latin typeface="Microsoft YaHei"/>
                <a:cs typeface="Microsoft YaHei"/>
              </a:rPr>
              <a:t>频段跨度大，多网覆盖不均衡</a:t>
            </a:r>
            <a:endParaRPr sz="1200">
              <a:latin typeface="Microsoft YaHei"/>
              <a:cs typeface="Microsoft YaHei"/>
            </a:endParaRPr>
          </a:p>
          <a:p>
            <a:pPr marL="260350" marR="13970">
              <a:lnSpc>
                <a:spcPct val="150000"/>
              </a:lnSpc>
              <a:spcBef>
                <a:spcPts val="25"/>
              </a:spcBef>
            </a:pPr>
            <a:r>
              <a:rPr dirty="0" sz="1100" spc="-15">
                <a:latin typeface="Microsoft YaHei"/>
                <a:cs typeface="Microsoft YaHei"/>
              </a:rPr>
              <a:t>现网室内普遍使用</a:t>
            </a:r>
            <a:r>
              <a:rPr dirty="0" sz="1100" spc="-10">
                <a:latin typeface="Microsoft YaHei"/>
                <a:cs typeface="Microsoft YaHei"/>
              </a:rPr>
              <a:t>900MHz-2300MHz</a:t>
            </a:r>
            <a:r>
              <a:rPr dirty="0" sz="1100" spc="-15">
                <a:latin typeface="Microsoft YaHei"/>
                <a:cs typeface="Microsoft YaHei"/>
              </a:rPr>
              <a:t>频段，与</a:t>
            </a:r>
            <a:r>
              <a:rPr dirty="0" sz="1100" spc="-5">
                <a:latin typeface="Microsoft YaHei"/>
                <a:cs typeface="Microsoft YaHei"/>
              </a:rPr>
              <a:t>3.5G</a:t>
            </a:r>
            <a:r>
              <a:rPr dirty="0" sz="1100" spc="-15">
                <a:latin typeface="Microsoft YaHei"/>
                <a:cs typeface="Microsoft YaHei"/>
              </a:rPr>
              <a:t>频段相比频段跨度大，射频电缆对不同频段的损耗相差较大，所以多网共建覆盖在边缘场强的平衡上很难取舍。</a:t>
            </a:r>
            <a:endParaRPr sz="1100">
              <a:latin typeface="Microsoft YaHei"/>
              <a:cs typeface="Microsoft YaHei"/>
            </a:endParaRPr>
          </a:p>
          <a:p>
            <a:pPr marL="245110" indent="-232410">
              <a:lnSpc>
                <a:spcPct val="100000"/>
              </a:lnSpc>
              <a:spcBef>
                <a:spcPts val="695"/>
              </a:spcBef>
              <a:buFont typeface="Wingdings"/>
              <a:buChar char=""/>
              <a:tabLst>
                <a:tab pos="245110" algn="l"/>
              </a:tabLst>
            </a:pPr>
            <a:r>
              <a:rPr dirty="0" sz="1200">
                <a:solidFill>
                  <a:srgbClr val="C00000"/>
                </a:solidFill>
                <a:latin typeface="Microsoft YaHei"/>
                <a:cs typeface="Microsoft YaHei"/>
              </a:rPr>
              <a:t>支持</a:t>
            </a:r>
            <a:r>
              <a:rPr dirty="0" sz="1200" spc="-10">
                <a:solidFill>
                  <a:srgbClr val="C00000"/>
                </a:solidFill>
                <a:latin typeface="Microsoft YaHei"/>
                <a:cs typeface="Microsoft YaHei"/>
              </a:rPr>
              <a:t>MIMO的能力有限</a:t>
            </a:r>
            <a:endParaRPr sz="1200">
              <a:latin typeface="Microsoft YaHei"/>
              <a:cs typeface="Microsoft YaHei"/>
            </a:endParaRPr>
          </a:p>
          <a:p>
            <a:pPr algn="just" marL="259715" marR="5080">
              <a:lnSpc>
                <a:spcPct val="150000"/>
              </a:lnSpc>
              <a:spcBef>
                <a:spcPts val="25"/>
              </a:spcBef>
            </a:pPr>
            <a:r>
              <a:rPr dirty="0" sz="1100" spc="-20">
                <a:latin typeface="Microsoft YaHei"/>
                <a:cs typeface="Microsoft YaHei"/>
              </a:rPr>
              <a:t>未来将有可能使用更多通道的</a:t>
            </a:r>
            <a:r>
              <a:rPr dirty="0" sz="1100" spc="-10">
                <a:latin typeface="Microsoft YaHei"/>
                <a:cs typeface="Microsoft YaHei"/>
              </a:rPr>
              <a:t>MIMO</a:t>
            </a:r>
            <a:r>
              <a:rPr dirty="0" sz="1100" spc="-25">
                <a:latin typeface="Microsoft YaHei"/>
                <a:cs typeface="Microsoft YaHei"/>
              </a:rPr>
              <a:t>技术，对多路平衡和非相关性要求更高，室内分布系统受布线数量和天线点位所限，一般只能支</a:t>
            </a:r>
            <a:r>
              <a:rPr dirty="0" sz="1100" spc="-20">
                <a:latin typeface="Microsoft YaHei"/>
                <a:cs typeface="Microsoft YaHei"/>
              </a:rPr>
              <a:t>持2*2</a:t>
            </a:r>
            <a:r>
              <a:rPr dirty="0" sz="1100" spc="-60">
                <a:latin typeface="Microsoft YaHei"/>
                <a:cs typeface="Microsoft YaHei"/>
              </a:rPr>
              <a:t>。</a:t>
            </a:r>
            <a:endParaRPr sz="1100">
              <a:latin typeface="Microsoft YaHei"/>
              <a:cs typeface="Microsoft YaHei"/>
            </a:endParaRPr>
          </a:p>
        </p:txBody>
      </p:sp>
      <p:grpSp>
        <p:nvGrpSpPr>
          <p:cNvPr id="8" name="object 8" descr=""/>
          <p:cNvGrpSpPr/>
          <p:nvPr/>
        </p:nvGrpSpPr>
        <p:grpSpPr>
          <a:xfrm>
            <a:off x="674179" y="1446657"/>
            <a:ext cx="2797810" cy="363855"/>
            <a:chOff x="674179" y="1446657"/>
            <a:chExt cx="2797810" cy="363855"/>
          </a:xfrm>
        </p:grpSpPr>
        <p:sp>
          <p:nvSpPr>
            <p:cNvPr id="9" name="object 9" descr=""/>
            <p:cNvSpPr/>
            <p:nvPr/>
          </p:nvSpPr>
          <p:spPr>
            <a:xfrm>
              <a:off x="678941" y="1640586"/>
              <a:ext cx="2680335" cy="0"/>
            </a:xfrm>
            <a:custGeom>
              <a:avLst/>
              <a:gdLst/>
              <a:ahLst/>
              <a:cxnLst/>
              <a:rect l="l" t="t" r="r" b="b"/>
              <a:pathLst>
                <a:path w="2680335" h="0">
                  <a:moveTo>
                    <a:pt x="0" y="0"/>
                  </a:moveTo>
                  <a:lnTo>
                    <a:pt x="2679954" y="0"/>
                  </a:lnTo>
                </a:path>
              </a:pathLst>
            </a:custGeom>
            <a:ln w="9144">
              <a:solidFill>
                <a:srgbClr val="DADADA"/>
              </a:solidFill>
            </a:ln>
          </p:spPr>
          <p:txBody>
            <a:bodyPr wrap="square" lIns="0" tIns="0" rIns="0" bIns="0" rtlCol="0"/>
            <a:lstStyle/>
            <a:p/>
          </p:txBody>
        </p:sp>
        <p:sp>
          <p:nvSpPr>
            <p:cNvPr id="10" name="object 10" descr=""/>
            <p:cNvSpPr/>
            <p:nvPr/>
          </p:nvSpPr>
          <p:spPr>
            <a:xfrm>
              <a:off x="678941" y="1805178"/>
              <a:ext cx="2680335" cy="0"/>
            </a:xfrm>
            <a:custGeom>
              <a:avLst/>
              <a:gdLst/>
              <a:ahLst/>
              <a:cxnLst/>
              <a:rect l="l" t="t" r="r" b="b"/>
              <a:pathLst>
                <a:path w="2680335" h="0">
                  <a:moveTo>
                    <a:pt x="0" y="0"/>
                  </a:moveTo>
                  <a:lnTo>
                    <a:pt x="2679954" y="0"/>
                  </a:lnTo>
                </a:path>
              </a:pathLst>
            </a:custGeom>
            <a:ln w="9144">
              <a:solidFill>
                <a:srgbClr val="DADADA"/>
              </a:solidFill>
            </a:ln>
          </p:spPr>
          <p:txBody>
            <a:bodyPr wrap="square" lIns="0" tIns="0" rIns="0" bIns="0" rtlCol="0"/>
            <a:lstStyle/>
            <a:p/>
          </p:txBody>
        </p:sp>
        <p:pic>
          <p:nvPicPr>
            <p:cNvPr id="11" name="object 11" descr=""/>
            <p:cNvPicPr/>
            <p:nvPr/>
          </p:nvPicPr>
          <p:blipFill>
            <a:blip r:embed="rId3" cstate="print"/>
            <a:stretch>
              <a:fillRect/>
            </a:stretch>
          </p:blipFill>
          <p:spPr>
            <a:xfrm>
              <a:off x="697356" y="1446657"/>
              <a:ext cx="2774149" cy="297653"/>
            </a:xfrm>
            <a:prstGeom prst="rect">
              <a:avLst/>
            </a:prstGeom>
          </p:spPr>
        </p:pic>
      </p:grpSp>
      <p:sp>
        <p:nvSpPr>
          <p:cNvPr id="12" name="object 12" descr=""/>
          <p:cNvSpPr txBox="1"/>
          <p:nvPr/>
        </p:nvSpPr>
        <p:spPr>
          <a:xfrm>
            <a:off x="504678" y="1523787"/>
            <a:ext cx="89535" cy="356235"/>
          </a:xfrm>
          <a:prstGeom prst="rect">
            <a:avLst/>
          </a:prstGeom>
        </p:spPr>
        <p:txBody>
          <a:bodyPr wrap="square" lIns="0" tIns="40640" rIns="0" bIns="0" rtlCol="0" vert="horz">
            <a:spAutoFit/>
          </a:bodyPr>
          <a:lstStyle/>
          <a:p>
            <a:pPr marL="12700">
              <a:lnSpc>
                <a:spcPct val="100000"/>
              </a:lnSpc>
              <a:spcBef>
                <a:spcPts val="320"/>
              </a:spcBef>
            </a:pPr>
            <a:r>
              <a:rPr dirty="0" sz="900" spc="-50">
                <a:solidFill>
                  <a:srgbClr val="595958"/>
                </a:solidFill>
                <a:latin typeface="Arial MT"/>
                <a:cs typeface="Arial MT"/>
              </a:rPr>
              <a:t>4</a:t>
            </a:r>
            <a:endParaRPr sz="900">
              <a:latin typeface="Arial MT"/>
              <a:cs typeface="Arial MT"/>
            </a:endParaRPr>
          </a:p>
          <a:p>
            <a:pPr marL="12700">
              <a:lnSpc>
                <a:spcPct val="100000"/>
              </a:lnSpc>
              <a:spcBef>
                <a:spcPts val="220"/>
              </a:spcBef>
            </a:pPr>
            <a:r>
              <a:rPr dirty="0" sz="900" spc="-50">
                <a:solidFill>
                  <a:srgbClr val="595958"/>
                </a:solidFill>
                <a:latin typeface="Arial MT"/>
                <a:cs typeface="Arial MT"/>
              </a:rPr>
              <a:t>2</a:t>
            </a:r>
            <a:endParaRPr sz="900">
              <a:latin typeface="Arial MT"/>
              <a:cs typeface="Arial MT"/>
            </a:endParaRPr>
          </a:p>
        </p:txBody>
      </p:sp>
      <p:pic>
        <p:nvPicPr>
          <p:cNvPr id="13" name="object 13" descr=""/>
          <p:cNvPicPr/>
          <p:nvPr/>
        </p:nvPicPr>
        <p:blipFill>
          <a:blip r:embed="rId4" cstate="print"/>
          <a:stretch>
            <a:fillRect/>
          </a:stretch>
        </p:blipFill>
        <p:spPr>
          <a:xfrm>
            <a:off x="662100" y="1907780"/>
            <a:ext cx="74269" cy="74561"/>
          </a:xfrm>
          <a:prstGeom prst="rect">
            <a:avLst/>
          </a:prstGeom>
        </p:spPr>
      </p:pic>
      <p:pic>
        <p:nvPicPr>
          <p:cNvPr id="14" name="object 14" descr=""/>
          <p:cNvPicPr/>
          <p:nvPr/>
        </p:nvPicPr>
        <p:blipFill>
          <a:blip r:embed="rId5" cstate="print"/>
          <a:stretch>
            <a:fillRect/>
          </a:stretch>
        </p:blipFill>
        <p:spPr>
          <a:xfrm>
            <a:off x="838262" y="1907409"/>
            <a:ext cx="64884" cy="65189"/>
          </a:xfrm>
          <a:prstGeom prst="rect">
            <a:avLst/>
          </a:prstGeom>
        </p:spPr>
      </p:pic>
      <p:pic>
        <p:nvPicPr>
          <p:cNvPr id="15" name="object 15" descr=""/>
          <p:cNvPicPr/>
          <p:nvPr/>
        </p:nvPicPr>
        <p:blipFill>
          <a:blip r:embed="rId5" cstate="print"/>
          <a:stretch>
            <a:fillRect/>
          </a:stretch>
        </p:blipFill>
        <p:spPr>
          <a:xfrm>
            <a:off x="1005730" y="1907409"/>
            <a:ext cx="64884" cy="65189"/>
          </a:xfrm>
          <a:prstGeom prst="rect">
            <a:avLst/>
          </a:prstGeom>
        </p:spPr>
      </p:pic>
      <p:pic>
        <p:nvPicPr>
          <p:cNvPr id="16" name="object 16" descr=""/>
          <p:cNvPicPr/>
          <p:nvPr/>
        </p:nvPicPr>
        <p:blipFill>
          <a:blip r:embed="rId5" cstate="print"/>
          <a:stretch>
            <a:fillRect/>
          </a:stretch>
        </p:blipFill>
        <p:spPr>
          <a:xfrm>
            <a:off x="1173200" y="1907409"/>
            <a:ext cx="64884" cy="65189"/>
          </a:xfrm>
          <a:prstGeom prst="rect">
            <a:avLst/>
          </a:prstGeom>
        </p:spPr>
      </p:pic>
      <p:pic>
        <p:nvPicPr>
          <p:cNvPr id="17" name="object 17" descr=""/>
          <p:cNvPicPr/>
          <p:nvPr/>
        </p:nvPicPr>
        <p:blipFill>
          <a:blip r:embed="rId6" cstate="print"/>
          <a:stretch>
            <a:fillRect/>
          </a:stretch>
        </p:blipFill>
        <p:spPr>
          <a:xfrm>
            <a:off x="1340670" y="1907409"/>
            <a:ext cx="64884" cy="65189"/>
          </a:xfrm>
          <a:prstGeom prst="rect">
            <a:avLst/>
          </a:prstGeom>
        </p:spPr>
      </p:pic>
      <p:pic>
        <p:nvPicPr>
          <p:cNvPr id="18" name="object 18" descr=""/>
          <p:cNvPicPr/>
          <p:nvPr/>
        </p:nvPicPr>
        <p:blipFill>
          <a:blip r:embed="rId6" cstate="print"/>
          <a:stretch>
            <a:fillRect/>
          </a:stretch>
        </p:blipFill>
        <p:spPr>
          <a:xfrm>
            <a:off x="1508138" y="1907409"/>
            <a:ext cx="64884" cy="65189"/>
          </a:xfrm>
          <a:prstGeom prst="rect">
            <a:avLst/>
          </a:prstGeom>
        </p:spPr>
      </p:pic>
      <p:pic>
        <p:nvPicPr>
          <p:cNvPr id="19" name="object 19" descr=""/>
          <p:cNvPicPr/>
          <p:nvPr/>
        </p:nvPicPr>
        <p:blipFill>
          <a:blip r:embed="rId7" cstate="print"/>
          <a:stretch>
            <a:fillRect/>
          </a:stretch>
        </p:blipFill>
        <p:spPr>
          <a:xfrm>
            <a:off x="1665590" y="1906224"/>
            <a:ext cx="85483" cy="86944"/>
          </a:xfrm>
          <a:prstGeom prst="rect">
            <a:avLst/>
          </a:prstGeom>
        </p:spPr>
      </p:pic>
      <p:pic>
        <p:nvPicPr>
          <p:cNvPr id="20" name="object 20" descr=""/>
          <p:cNvPicPr/>
          <p:nvPr/>
        </p:nvPicPr>
        <p:blipFill>
          <a:blip r:embed="rId8" cstate="print"/>
          <a:stretch>
            <a:fillRect/>
          </a:stretch>
        </p:blipFill>
        <p:spPr>
          <a:xfrm>
            <a:off x="1833059" y="1906224"/>
            <a:ext cx="85483" cy="86944"/>
          </a:xfrm>
          <a:prstGeom prst="rect">
            <a:avLst/>
          </a:prstGeom>
        </p:spPr>
      </p:pic>
      <p:pic>
        <p:nvPicPr>
          <p:cNvPr id="21" name="object 21" descr=""/>
          <p:cNvPicPr/>
          <p:nvPr/>
        </p:nvPicPr>
        <p:blipFill>
          <a:blip r:embed="rId9" cstate="print"/>
          <a:stretch>
            <a:fillRect/>
          </a:stretch>
        </p:blipFill>
        <p:spPr>
          <a:xfrm>
            <a:off x="2000528" y="1906224"/>
            <a:ext cx="85483" cy="86944"/>
          </a:xfrm>
          <a:prstGeom prst="rect">
            <a:avLst/>
          </a:prstGeom>
        </p:spPr>
      </p:pic>
      <p:pic>
        <p:nvPicPr>
          <p:cNvPr id="22" name="object 22" descr=""/>
          <p:cNvPicPr/>
          <p:nvPr/>
        </p:nvPicPr>
        <p:blipFill>
          <a:blip r:embed="rId9" cstate="print"/>
          <a:stretch>
            <a:fillRect/>
          </a:stretch>
        </p:blipFill>
        <p:spPr>
          <a:xfrm>
            <a:off x="2167997" y="1906224"/>
            <a:ext cx="85483" cy="86944"/>
          </a:xfrm>
          <a:prstGeom prst="rect">
            <a:avLst/>
          </a:prstGeom>
        </p:spPr>
      </p:pic>
      <p:pic>
        <p:nvPicPr>
          <p:cNvPr id="23" name="object 23" descr=""/>
          <p:cNvPicPr/>
          <p:nvPr/>
        </p:nvPicPr>
        <p:blipFill>
          <a:blip r:embed="rId10" cstate="print"/>
          <a:stretch>
            <a:fillRect/>
          </a:stretch>
        </p:blipFill>
        <p:spPr>
          <a:xfrm>
            <a:off x="2335466" y="1906224"/>
            <a:ext cx="85483" cy="86944"/>
          </a:xfrm>
          <a:prstGeom prst="rect">
            <a:avLst/>
          </a:prstGeom>
        </p:spPr>
      </p:pic>
      <p:pic>
        <p:nvPicPr>
          <p:cNvPr id="24" name="object 24" descr=""/>
          <p:cNvPicPr/>
          <p:nvPr/>
        </p:nvPicPr>
        <p:blipFill>
          <a:blip r:embed="rId11" cstate="print"/>
          <a:stretch>
            <a:fillRect/>
          </a:stretch>
        </p:blipFill>
        <p:spPr>
          <a:xfrm>
            <a:off x="2503119" y="1907830"/>
            <a:ext cx="76288" cy="75463"/>
          </a:xfrm>
          <a:prstGeom prst="rect">
            <a:avLst/>
          </a:prstGeom>
        </p:spPr>
      </p:pic>
      <p:pic>
        <p:nvPicPr>
          <p:cNvPr id="25" name="object 25" descr=""/>
          <p:cNvPicPr/>
          <p:nvPr/>
        </p:nvPicPr>
        <p:blipFill>
          <a:blip r:embed="rId11" cstate="print"/>
          <a:stretch>
            <a:fillRect/>
          </a:stretch>
        </p:blipFill>
        <p:spPr>
          <a:xfrm>
            <a:off x="2670588" y="1907830"/>
            <a:ext cx="76288" cy="75463"/>
          </a:xfrm>
          <a:prstGeom prst="rect">
            <a:avLst/>
          </a:prstGeom>
        </p:spPr>
      </p:pic>
      <p:pic>
        <p:nvPicPr>
          <p:cNvPr id="26" name="object 26" descr=""/>
          <p:cNvPicPr/>
          <p:nvPr/>
        </p:nvPicPr>
        <p:blipFill>
          <a:blip r:embed="rId11" cstate="print"/>
          <a:stretch>
            <a:fillRect/>
          </a:stretch>
        </p:blipFill>
        <p:spPr>
          <a:xfrm>
            <a:off x="2838057" y="1907830"/>
            <a:ext cx="76288" cy="75463"/>
          </a:xfrm>
          <a:prstGeom prst="rect">
            <a:avLst/>
          </a:prstGeom>
        </p:spPr>
      </p:pic>
      <p:pic>
        <p:nvPicPr>
          <p:cNvPr id="27" name="object 27" descr=""/>
          <p:cNvPicPr/>
          <p:nvPr/>
        </p:nvPicPr>
        <p:blipFill>
          <a:blip r:embed="rId11" cstate="print"/>
          <a:stretch>
            <a:fillRect/>
          </a:stretch>
        </p:blipFill>
        <p:spPr>
          <a:xfrm>
            <a:off x="3005527" y="1907830"/>
            <a:ext cx="76288" cy="75463"/>
          </a:xfrm>
          <a:prstGeom prst="rect">
            <a:avLst/>
          </a:prstGeom>
        </p:spPr>
      </p:pic>
      <p:pic>
        <p:nvPicPr>
          <p:cNvPr id="28" name="object 28" descr=""/>
          <p:cNvPicPr/>
          <p:nvPr/>
        </p:nvPicPr>
        <p:blipFill>
          <a:blip r:embed="rId11" cstate="print"/>
          <a:stretch>
            <a:fillRect/>
          </a:stretch>
        </p:blipFill>
        <p:spPr>
          <a:xfrm>
            <a:off x="3172995" y="1907830"/>
            <a:ext cx="76288" cy="75463"/>
          </a:xfrm>
          <a:prstGeom prst="rect">
            <a:avLst/>
          </a:prstGeom>
        </p:spPr>
      </p:pic>
      <p:sp>
        <p:nvSpPr>
          <p:cNvPr id="29" name="object 29" descr=""/>
          <p:cNvSpPr txBox="1"/>
          <p:nvPr/>
        </p:nvSpPr>
        <p:spPr>
          <a:xfrm>
            <a:off x="1336763" y="1312369"/>
            <a:ext cx="1887855" cy="208279"/>
          </a:xfrm>
          <a:prstGeom prst="rect">
            <a:avLst/>
          </a:prstGeom>
        </p:spPr>
        <p:txBody>
          <a:bodyPr wrap="square" lIns="0" tIns="12700" rIns="0" bIns="0" rtlCol="0" vert="horz">
            <a:spAutoFit/>
          </a:bodyPr>
          <a:lstStyle/>
          <a:p>
            <a:pPr marL="12700">
              <a:lnSpc>
                <a:spcPct val="100000"/>
              </a:lnSpc>
              <a:spcBef>
                <a:spcPts val="100"/>
              </a:spcBef>
            </a:pPr>
            <a:r>
              <a:rPr dirty="0" sz="1200">
                <a:solidFill>
                  <a:srgbClr val="595958"/>
                </a:solidFill>
                <a:latin typeface="Microsoft YaHei"/>
                <a:cs typeface="Microsoft YaHei"/>
              </a:rPr>
              <a:t>功分器插损实测结果</a:t>
            </a:r>
            <a:r>
              <a:rPr dirty="0" sz="1200" spc="-20">
                <a:solidFill>
                  <a:srgbClr val="595958"/>
                </a:solidFill>
                <a:latin typeface="Microsoft YaHei"/>
                <a:cs typeface="Microsoft YaHei"/>
              </a:rPr>
              <a:t>（</a:t>
            </a:r>
            <a:r>
              <a:rPr dirty="0" sz="1200" spc="-20">
                <a:solidFill>
                  <a:srgbClr val="595958"/>
                </a:solidFill>
                <a:latin typeface="Arial MT"/>
                <a:cs typeface="Arial MT"/>
              </a:rPr>
              <a:t>dB</a:t>
            </a:r>
            <a:r>
              <a:rPr dirty="0" sz="1200" spc="-20">
                <a:solidFill>
                  <a:srgbClr val="595958"/>
                </a:solidFill>
                <a:latin typeface="Microsoft YaHei"/>
                <a:cs typeface="Microsoft YaHei"/>
              </a:rPr>
              <a:t>）</a:t>
            </a:r>
            <a:endParaRPr sz="1200">
              <a:latin typeface="Microsoft YaHei"/>
              <a:cs typeface="Microsoft YaHei"/>
            </a:endParaRPr>
          </a:p>
        </p:txBody>
      </p:sp>
      <p:grpSp>
        <p:nvGrpSpPr>
          <p:cNvPr id="30" name="object 30" descr=""/>
          <p:cNvGrpSpPr/>
          <p:nvPr/>
        </p:nvGrpSpPr>
        <p:grpSpPr>
          <a:xfrm>
            <a:off x="959738" y="2172461"/>
            <a:ext cx="243840" cy="47625"/>
            <a:chOff x="959738" y="2172461"/>
            <a:chExt cx="243840" cy="47625"/>
          </a:xfrm>
        </p:grpSpPr>
        <p:sp>
          <p:nvSpPr>
            <p:cNvPr id="31" name="object 31" descr=""/>
            <p:cNvSpPr/>
            <p:nvPr/>
          </p:nvSpPr>
          <p:spPr>
            <a:xfrm>
              <a:off x="959738" y="2196464"/>
              <a:ext cx="243840" cy="0"/>
            </a:xfrm>
            <a:custGeom>
              <a:avLst/>
              <a:gdLst/>
              <a:ahLst/>
              <a:cxnLst/>
              <a:rect l="l" t="t" r="r" b="b"/>
              <a:pathLst>
                <a:path w="243840" h="0">
                  <a:moveTo>
                    <a:pt x="0" y="0"/>
                  </a:moveTo>
                  <a:lnTo>
                    <a:pt x="243840" y="0"/>
                  </a:lnTo>
                </a:path>
              </a:pathLst>
            </a:custGeom>
            <a:ln w="19050">
              <a:solidFill>
                <a:srgbClr val="4F81BD"/>
              </a:solidFill>
            </a:ln>
          </p:spPr>
          <p:txBody>
            <a:bodyPr wrap="square" lIns="0" tIns="0" rIns="0" bIns="0" rtlCol="0"/>
            <a:lstStyle/>
            <a:p/>
          </p:txBody>
        </p:sp>
        <p:sp>
          <p:nvSpPr>
            <p:cNvPr id="32" name="object 32" descr=""/>
            <p:cNvSpPr/>
            <p:nvPr/>
          </p:nvSpPr>
          <p:spPr>
            <a:xfrm>
              <a:off x="1062227" y="2177033"/>
              <a:ext cx="38100" cy="38100"/>
            </a:xfrm>
            <a:custGeom>
              <a:avLst/>
              <a:gdLst/>
              <a:ahLst/>
              <a:cxnLst/>
              <a:rect l="l" t="t" r="r" b="b"/>
              <a:pathLst>
                <a:path w="38100" h="38100">
                  <a:moveTo>
                    <a:pt x="19050" y="0"/>
                  </a:moveTo>
                  <a:lnTo>
                    <a:pt x="11610" y="1488"/>
                  </a:lnTo>
                  <a:lnTo>
                    <a:pt x="5557" y="5557"/>
                  </a:lnTo>
                  <a:lnTo>
                    <a:pt x="1488" y="11610"/>
                  </a:lnTo>
                  <a:lnTo>
                    <a:pt x="0" y="19050"/>
                  </a:lnTo>
                  <a:lnTo>
                    <a:pt x="1488" y="26489"/>
                  </a:lnTo>
                  <a:lnTo>
                    <a:pt x="5557" y="32542"/>
                  </a:lnTo>
                  <a:lnTo>
                    <a:pt x="11610" y="36611"/>
                  </a:lnTo>
                  <a:lnTo>
                    <a:pt x="19050" y="38100"/>
                  </a:lnTo>
                  <a:lnTo>
                    <a:pt x="26489" y="36611"/>
                  </a:lnTo>
                  <a:lnTo>
                    <a:pt x="32542" y="32542"/>
                  </a:lnTo>
                  <a:lnTo>
                    <a:pt x="36611" y="26489"/>
                  </a:lnTo>
                  <a:lnTo>
                    <a:pt x="38100" y="19050"/>
                  </a:lnTo>
                  <a:lnTo>
                    <a:pt x="36611" y="11610"/>
                  </a:lnTo>
                  <a:lnTo>
                    <a:pt x="32542" y="5557"/>
                  </a:lnTo>
                  <a:lnTo>
                    <a:pt x="26489" y="1488"/>
                  </a:lnTo>
                  <a:lnTo>
                    <a:pt x="19050" y="0"/>
                  </a:lnTo>
                  <a:close/>
                </a:path>
              </a:pathLst>
            </a:custGeom>
            <a:solidFill>
              <a:srgbClr val="4F81BD"/>
            </a:solidFill>
          </p:spPr>
          <p:txBody>
            <a:bodyPr wrap="square" lIns="0" tIns="0" rIns="0" bIns="0" rtlCol="0"/>
            <a:lstStyle/>
            <a:p/>
          </p:txBody>
        </p:sp>
        <p:sp>
          <p:nvSpPr>
            <p:cNvPr id="33" name="object 33" descr=""/>
            <p:cNvSpPr/>
            <p:nvPr/>
          </p:nvSpPr>
          <p:spPr>
            <a:xfrm>
              <a:off x="1062227" y="2177033"/>
              <a:ext cx="38100" cy="38100"/>
            </a:xfrm>
            <a:custGeom>
              <a:avLst/>
              <a:gdLst/>
              <a:ahLst/>
              <a:cxnLst/>
              <a:rect l="l" t="t" r="r" b="b"/>
              <a:pathLst>
                <a:path w="38100" h="38100">
                  <a:moveTo>
                    <a:pt x="0" y="19050"/>
                  </a:moveTo>
                  <a:lnTo>
                    <a:pt x="1488" y="11610"/>
                  </a:lnTo>
                  <a:lnTo>
                    <a:pt x="5557" y="5557"/>
                  </a:lnTo>
                  <a:lnTo>
                    <a:pt x="11610" y="1488"/>
                  </a:lnTo>
                  <a:lnTo>
                    <a:pt x="19050" y="0"/>
                  </a:lnTo>
                  <a:lnTo>
                    <a:pt x="26489" y="1488"/>
                  </a:lnTo>
                  <a:lnTo>
                    <a:pt x="32542" y="5557"/>
                  </a:lnTo>
                  <a:lnTo>
                    <a:pt x="36611" y="11610"/>
                  </a:lnTo>
                  <a:lnTo>
                    <a:pt x="38100" y="19050"/>
                  </a:lnTo>
                  <a:lnTo>
                    <a:pt x="36611" y="26489"/>
                  </a:lnTo>
                  <a:lnTo>
                    <a:pt x="32542" y="32542"/>
                  </a:lnTo>
                  <a:lnTo>
                    <a:pt x="26489" y="36611"/>
                  </a:lnTo>
                  <a:lnTo>
                    <a:pt x="19050" y="38100"/>
                  </a:lnTo>
                  <a:lnTo>
                    <a:pt x="11610" y="36611"/>
                  </a:lnTo>
                  <a:lnTo>
                    <a:pt x="5557" y="32542"/>
                  </a:lnTo>
                  <a:lnTo>
                    <a:pt x="1488" y="26489"/>
                  </a:lnTo>
                  <a:lnTo>
                    <a:pt x="0" y="19050"/>
                  </a:lnTo>
                  <a:close/>
                </a:path>
              </a:pathLst>
            </a:custGeom>
            <a:ln w="9144">
              <a:solidFill>
                <a:srgbClr val="4F81BD"/>
              </a:solidFill>
            </a:ln>
          </p:spPr>
          <p:txBody>
            <a:bodyPr wrap="square" lIns="0" tIns="0" rIns="0" bIns="0" rtlCol="0"/>
            <a:lstStyle/>
            <a:p/>
          </p:txBody>
        </p:sp>
      </p:grpSp>
      <p:grpSp>
        <p:nvGrpSpPr>
          <p:cNvPr id="34" name="object 34" descr=""/>
          <p:cNvGrpSpPr/>
          <p:nvPr/>
        </p:nvGrpSpPr>
        <p:grpSpPr>
          <a:xfrm>
            <a:off x="2096642" y="2172461"/>
            <a:ext cx="243840" cy="47625"/>
            <a:chOff x="2096642" y="2172461"/>
            <a:chExt cx="243840" cy="47625"/>
          </a:xfrm>
        </p:grpSpPr>
        <p:sp>
          <p:nvSpPr>
            <p:cNvPr id="35" name="object 35" descr=""/>
            <p:cNvSpPr/>
            <p:nvPr/>
          </p:nvSpPr>
          <p:spPr>
            <a:xfrm>
              <a:off x="2096642" y="2196464"/>
              <a:ext cx="243840" cy="0"/>
            </a:xfrm>
            <a:custGeom>
              <a:avLst/>
              <a:gdLst/>
              <a:ahLst/>
              <a:cxnLst/>
              <a:rect l="l" t="t" r="r" b="b"/>
              <a:pathLst>
                <a:path w="243839" h="0">
                  <a:moveTo>
                    <a:pt x="0" y="0"/>
                  </a:moveTo>
                  <a:lnTo>
                    <a:pt x="243840" y="0"/>
                  </a:lnTo>
                </a:path>
              </a:pathLst>
            </a:custGeom>
            <a:ln w="19050">
              <a:solidFill>
                <a:srgbClr val="C0504D"/>
              </a:solidFill>
            </a:ln>
          </p:spPr>
          <p:txBody>
            <a:bodyPr wrap="square" lIns="0" tIns="0" rIns="0" bIns="0" rtlCol="0"/>
            <a:lstStyle/>
            <a:p/>
          </p:txBody>
        </p:sp>
        <p:sp>
          <p:nvSpPr>
            <p:cNvPr id="36" name="object 36" descr=""/>
            <p:cNvSpPr/>
            <p:nvPr/>
          </p:nvSpPr>
          <p:spPr>
            <a:xfrm>
              <a:off x="2199893" y="2177033"/>
              <a:ext cx="38100" cy="38100"/>
            </a:xfrm>
            <a:custGeom>
              <a:avLst/>
              <a:gdLst/>
              <a:ahLst/>
              <a:cxnLst/>
              <a:rect l="l" t="t" r="r" b="b"/>
              <a:pathLst>
                <a:path w="38100" h="38100">
                  <a:moveTo>
                    <a:pt x="19050" y="0"/>
                  </a:moveTo>
                  <a:lnTo>
                    <a:pt x="11610" y="1488"/>
                  </a:lnTo>
                  <a:lnTo>
                    <a:pt x="5557" y="5557"/>
                  </a:lnTo>
                  <a:lnTo>
                    <a:pt x="1488" y="11610"/>
                  </a:lnTo>
                  <a:lnTo>
                    <a:pt x="0" y="19050"/>
                  </a:lnTo>
                  <a:lnTo>
                    <a:pt x="1488" y="26489"/>
                  </a:lnTo>
                  <a:lnTo>
                    <a:pt x="5557" y="32542"/>
                  </a:lnTo>
                  <a:lnTo>
                    <a:pt x="11610" y="36611"/>
                  </a:lnTo>
                  <a:lnTo>
                    <a:pt x="19050" y="38100"/>
                  </a:lnTo>
                  <a:lnTo>
                    <a:pt x="26489" y="36611"/>
                  </a:lnTo>
                  <a:lnTo>
                    <a:pt x="32542" y="32542"/>
                  </a:lnTo>
                  <a:lnTo>
                    <a:pt x="36611" y="26489"/>
                  </a:lnTo>
                  <a:lnTo>
                    <a:pt x="38100" y="19050"/>
                  </a:lnTo>
                  <a:lnTo>
                    <a:pt x="36611" y="11610"/>
                  </a:lnTo>
                  <a:lnTo>
                    <a:pt x="32542" y="5557"/>
                  </a:lnTo>
                  <a:lnTo>
                    <a:pt x="26489" y="1488"/>
                  </a:lnTo>
                  <a:lnTo>
                    <a:pt x="19050" y="0"/>
                  </a:lnTo>
                  <a:close/>
                </a:path>
              </a:pathLst>
            </a:custGeom>
            <a:solidFill>
              <a:srgbClr val="C0504D"/>
            </a:solidFill>
          </p:spPr>
          <p:txBody>
            <a:bodyPr wrap="square" lIns="0" tIns="0" rIns="0" bIns="0" rtlCol="0"/>
            <a:lstStyle/>
            <a:p/>
          </p:txBody>
        </p:sp>
        <p:sp>
          <p:nvSpPr>
            <p:cNvPr id="37" name="object 37" descr=""/>
            <p:cNvSpPr/>
            <p:nvPr/>
          </p:nvSpPr>
          <p:spPr>
            <a:xfrm>
              <a:off x="2199893" y="2177033"/>
              <a:ext cx="38100" cy="38100"/>
            </a:xfrm>
            <a:custGeom>
              <a:avLst/>
              <a:gdLst/>
              <a:ahLst/>
              <a:cxnLst/>
              <a:rect l="l" t="t" r="r" b="b"/>
              <a:pathLst>
                <a:path w="38100" h="38100">
                  <a:moveTo>
                    <a:pt x="0" y="19050"/>
                  </a:moveTo>
                  <a:lnTo>
                    <a:pt x="1488" y="11610"/>
                  </a:lnTo>
                  <a:lnTo>
                    <a:pt x="5557" y="5557"/>
                  </a:lnTo>
                  <a:lnTo>
                    <a:pt x="11610" y="1488"/>
                  </a:lnTo>
                  <a:lnTo>
                    <a:pt x="19050" y="0"/>
                  </a:lnTo>
                  <a:lnTo>
                    <a:pt x="26489" y="1488"/>
                  </a:lnTo>
                  <a:lnTo>
                    <a:pt x="32542" y="5557"/>
                  </a:lnTo>
                  <a:lnTo>
                    <a:pt x="36611" y="11610"/>
                  </a:lnTo>
                  <a:lnTo>
                    <a:pt x="38100" y="19050"/>
                  </a:lnTo>
                  <a:lnTo>
                    <a:pt x="36611" y="26489"/>
                  </a:lnTo>
                  <a:lnTo>
                    <a:pt x="32542" y="32542"/>
                  </a:lnTo>
                  <a:lnTo>
                    <a:pt x="26489" y="36611"/>
                  </a:lnTo>
                  <a:lnTo>
                    <a:pt x="19050" y="38100"/>
                  </a:lnTo>
                  <a:lnTo>
                    <a:pt x="11610" y="36611"/>
                  </a:lnTo>
                  <a:lnTo>
                    <a:pt x="5557" y="32542"/>
                  </a:lnTo>
                  <a:lnTo>
                    <a:pt x="1488" y="26489"/>
                  </a:lnTo>
                  <a:lnTo>
                    <a:pt x="0" y="19050"/>
                  </a:lnTo>
                  <a:close/>
                </a:path>
              </a:pathLst>
            </a:custGeom>
            <a:ln w="9144">
              <a:solidFill>
                <a:srgbClr val="C0504D"/>
              </a:solidFill>
            </a:ln>
          </p:spPr>
          <p:txBody>
            <a:bodyPr wrap="square" lIns="0" tIns="0" rIns="0" bIns="0" rtlCol="0"/>
            <a:lstStyle/>
            <a:p/>
          </p:txBody>
        </p:sp>
      </p:grpSp>
      <p:sp>
        <p:nvSpPr>
          <p:cNvPr id="38" name="object 38" descr=""/>
          <p:cNvSpPr txBox="1"/>
          <p:nvPr/>
        </p:nvSpPr>
        <p:spPr>
          <a:xfrm>
            <a:off x="284479" y="2108245"/>
            <a:ext cx="3347085" cy="353060"/>
          </a:xfrm>
          <a:prstGeom prst="rect">
            <a:avLst/>
          </a:prstGeom>
        </p:spPr>
        <p:txBody>
          <a:bodyPr wrap="square" lIns="0" tIns="30480" rIns="0" bIns="0" rtlCol="0" vert="horz">
            <a:spAutoFit/>
          </a:bodyPr>
          <a:lstStyle/>
          <a:p>
            <a:pPr marL="944244">
              <a:lnSpc>
                <a:spcPct val="100000"/>
              </a:lnSpc>
              <a:spcBef>
                <a:spcPts val="240"/>
              </a:spcBef>
              <a:tabLst>
                <a:tab pos="2081530" algn="l"/>
              </a:tabLst>
            </a:pPr>
            <a:r>
              <a:rPr dirty="0" sz="900" spc="-20">
                <a:solidFill>
                  <a:srgbClr val="595958"/>
                </a:solidFill>
                <a:latin typeface="Arial MT"/>
                <a:cs typeface="Arial MT"/>
              </a:rPr>
              <a:t>N</a:t>
            </a:r>
            <a:r>
              <a:rPr dirty="0" sz="900">
                <a:solidFill>
                  <a:srgbClr val="595958"/>
                </a:solidFill>
                <a:latin typeface="Microsoft YaHei"/>
                <a:cs typeface="Microsoft YaHei"/>
              </a:rPr>
              <a:t>型二功分</a:t>
            </a:r>
            <a:r>
              <a:rPr dirty="0" sz="900" spc="-20">
                <a:solidFill>
                  <a:srgbClr val="595958"/>
                </a:solidFill>
                <a:latin typeface="Microsoft YaHei"/>
                <a:cs typeface="Microsoft YaHei"/>
              </a:rPr>
              <a:t> </a:t>
            </a:r>
            <a:r>
              <a:rPr dirty="0" sz="900" spc="-25">
                <a:solidFill>
                  <a:srgbClr val="595958"/>
                </a:solidFill>
                <a:latin typeface="Arial MT"/>
                <a:cs typeface="Arial MT"/>
              </a:rPr>
              <a:t>1#</a:t>
            </a:r>
            <a:r>
              <a:rPr dirty="0" sz="900">
                <a:solidFill>
                  <a:srgbClr val="595958"/>
                </a:solidFill>
                <a:latin typeface="Arial MT"/>
                <a:cs typeface="Arial MT"/>
              </a:rPr>
              <a:t>	</a:t>
            </a:r>
            <a:r>
              <a:rPr dirty="0" sz="900" spc="-20">
                <a:solidFill>
                  <a:srgbClr val="595958"/>
                </a:solidFill>
                <a:latin typeface="Arial MT"/>
                <a:cs typeface="Arial MT"/>
              </a:rPr>
              <a:t>N</a:t>
            </a:r>
            <a:r>
              <a:rPr dirty="0" sz="900">
                <a:solidFill>
                  <a:srgbClr val="595958"/>
                </a:solidFill>
                <a:latin typeface="Microsoft YaHei"/>
                <a:cs typeface="Microsoft YaHei"/>
              </a:rPr>
              <a:t>型二功分</a:t>
            </a:r>
            <a:r>
              <a:rPr dirty="0" sz="900" spc="-20">
                <a:solidFill>
                  <a:srgbClr val="595958"/>
                </a:solidFill>
                <a:latin typeface="Microsoft YaHei"/>
                <a:cs typeface="Microsoft YaHei"/>
              </a:rPr>
              <a:t> </a:t>
            </a:r>
            <a:r>
              <a:rPr dirty="0" sz="900" spc="-25">
                <a:solidFill>
                  <a:srgbClr val="595958"/>
                </a:solidFill>
                <a:latin typeface="Arial MT"/>
                <a:cs typeface="Arial MT"/>
              </a:rPr>
              <a:t>2#</a:t>
            </a:r>
            <a:endParaRPr sz="900">
              <a:latin typeface="Arial MT"/>
              <a:cs typeface="Arial MT"/>
            </a:endParaRPr>
          </a:p>
          <a:p>
            <a:pPr marL="192405" indent="-179705">
              <a:lnSpc>
                <a:spcPct val="100000"/>
              </a:lnSpc>
              <a:spcBef>
                <a:spcPts val="160"/>
              </a:spcBef>
              <a:buFont typeface="Wingdings"/>
              <a:buChar char=""/>
              <a:tabLst>
                <a:tab pos="192405" algn="l"/>
              </a:tabLst>
            </a:pPr>
            <a:r>
              <a:rPr dirty="0" sz="1000">
                <a:solidFill>
                  <a:srgbClr val="0070C0"/>
                </a:solidFill>
                <a:latin typeface="Microsoft YaHei"/>
                <a:cs typeface="Microsoft YaHei"/>
              </a:rPr>
              <a:t>现网耦合器： </a:t>
            </a:r>
            <a:r>
              <a:rPr dirty="0" sz="1000" spc="-10">
                <a:latin typeface="Microsoft YaHei"/>
                <a:cs typeface="Microsoft YaHei"/>
              </a:rPr>
              <a:t>3.5GHz耦合度变大到不可接受，</a:t>
            </a:r>
            <a:r>
              <a:rPr dirty="0" sz="1000" spc="-20">
                <a:solidFill>
                  <a:srgbClr val="0070C0"/>
                </a:solidFill>
                <a:latin typeface="Microsoft YaHei"/>
                <a:cs typeface="Microsoft YaHei"/>
              </a:rPr>
              <a:t>已不可用</a:t>
            </a:r>
            <a:endParaRPr sz="1000">
              <a:latin typeface="Microsoft YaHei"/>
              <a:cs typeface="Microsoft YaHei"/>
            </a:endParaRPr>
          </a:p>
        </p:txBody>
      </p:sp>
      <p:graphicFrame>
        <p:nvGraphicFramePr>
          <p:cNvPr id="39" name="object 39" descr=""/>
          <p:cNvGraphicFramePr>
            <a:graphicFrameLocks noGrp="1"/>
          </p:cNvGraphicFramePr>
          <p:nvPr/>
        </p:nvGraphicFramePr>
        <p:xfrm>
          <a:off x="438607" y="4086771"/>
          <a:ext cx="3185795" cy="771525"/>
        </p:xfrm>
        <a:graphic>
          <a:graphicData uri="http://schemas.openxmlformats.org/drawingml/2006/table">
            <a:tbl>
              <a:tblPr firstRow="1" bandRow="1">
                <a:tableStyleId>{2D5ABB26-0587-4C30-8999-92F81FD0307C}</a:tableStyleId>
              </a:tblPr>
              <a:tblGrid>
                <a:gridCol w="1010919"/>
                <a:gridCol w="306069"/>
                <a:gridCol w="274955"/>
                <a:gridCol w="274955"/>
                <a:gridCol w="274955"/>
                <a:gridCol w="479425"/>
                <a:gridCol w="479425"/>
              </a:tblGrid>
              <a:tr h="198120">
                <a:tc>
                  <a:txBody>
                    <a:bodyPr/>
                    <a:lstStyle/>
                    <a:p>
                      <a:pPr algn="ctr">
                        <a:lnSpc>
                          <a:spcPct val="100000"/>
                        </a:lnSpc>
                        <a:spcBef>
                          <a:spcPts val="340"/>
                        </a:spcBef>
                      </a:pPr>
                      <a:r>
                        <a:rPr dirty="0" sz="700" b="1">
                          <a:latin typeface="Microsoft YaHei"/>
                          <a:cs typeface="Microsoft YaHei"/>
                        </a:rPr>
                        <a:t>传输损耗</a:t>
                      </a:r>
                      <a:r>
                        <a:rPr dirty="0" sz="700" spc="-10" b="1">
                          <a:latin typeface="Microsoft YaHei"/>
                          <a:cs typeface="Microsoft YaHei"/>
                        </a:rPr>
                        <a:t>（</a:t>
                      </a:r>
                      <a:r>
                        <a:rPr dirty="0" sz="700" spc="-10" b="1">
                          <a:latin typeface="Arial"/>
                          <a:cs typeface="Arial"/>
                        </a:rPr>
                        <a:t>dB/100m</a:t>
                      </a:r>
                      <a:r>
                        <a:rPr dirty="0" sz="700" spc="-10" b="1">
                          <a:latin typeface="Microsoft YaHei"/>
                          <a:cs typeface="Microsoft YaHei"/>
                        </a:rPr>
                        <a:t>）</a:t>
                      </a:r>
                      <a:endParaRPr sz="700">
                        <a:latin typeface="Microsoft YaHei"/>
                        <a:cs typeface="Microsoft YaHei"/>
                      </a:endParaRPr>
                    </a:p>
                  </a:txBody>
                  <a:tcPr marL="0" marR="0" marB="0" marT="4318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40640">
                        <a:lnSpc>
                          <a:spcPct val="100000"/>
                        </a:lnSpc>
                        <a:spcBef>
                          <a:spcPts val="340"/>
                        </a:spcBef>
                      </a:pPr>
                      <a:r>
                        <a:rPr dirty="0" sz="700" spc="-20" b="1">
                          <a:latin typeface="Arial"/>
                          <a:cs typeface="Arial"/>
                        </a:rPr>
                        <a:t>960M</a:t>
                      </a:r>
                      <a:endParaRPr sz="700">
                        <a:latin typeface="Arial"/>
                        <a:cs typeface="Arial"/>
                      </a:endParaRPr>
                    </a:p>
                  </a:txBody>
                  <a:tcPr marL="0" marR="0" marB="0" marT="4318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340"/>
                        </a:spcBef>
                      </a:pPr>
                      <a:r>
                        <a:rPr dirty="0" sz="700" spc="-20" b="1">
                          <a:latin typeface="Arial"/>
                          <a:cs typeface="Arial"/>
                        </a:rPr>
                        <a:t>1.8G</a:t>
                      </a:r>
                      <a:endParaRPr sz="700">
                        <a:latin typeface="Arial"/>
                        <a:cs typeface="Arial"/>
                      </a:endParaRPr>
                    </a:p>
                  </a:txBody>
                  <a:tcPr marL="0" marR="0" marB="0" marT="4318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340"/>
                        </a:spcBef>
                      </a:pPr>
                      <a:r>
                        <a:rPr dirty="0" sz="700" spc="-20" b="1">
                          <a:latin typeface="Arial"/>
                          <a:cs typeface="Arial"/>
                        </a:rPr>
                        <a:t>2.1G</a:t>
                      </a:r>
                      <a:endParaRPr sz="700">
                        <a:latin typeface="Arial"/>
                        <a:cs typeface="Arial"/>
                      </a:endParaRPr>
                    </a:p>
                  </a:txBody>
                  <a:tcPr marL="0" marR="0" marB="0" marT="4318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340"/>
                        </a:spcBef>
                      </a:pPr>
                      <a:r>
                        <a:rPr dirty="0" sz="700" spc="-20" b="1">
                          <a:latin typeface="Arial"/>
                          <a:cs typeface="Arial"/>
                        </a:rPr>
                        <a:t>3.5G</a:t>
                      </a:r>
                      <a:endParaRPr sz="700">
                        <a:latin typeface="Arial"/>
                        <a:cs typeface="Arial"/>
                      </a:endParaRPr>
                    </a:p>
                  </a:txBody>
                  <a:tcPr marL="0" marR="0" marB="0" marT="4318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340"/>
                        </a:spcBef>
                      </a:pPr>
                      <a:r>
                        <a:rPr dirty="0" sz="700" spc="-25" b="1">
                          <a:latin typeface="Arial"/>
                          <a:cs typeface="Arial"/>
                        </a:rPr>
                        <a:t>5G</a:t>
                      </a:r>
                      <a:endParaRPr sz="700">
                        <a:latin typeface="Arial"/>
                        <a:cs typeface="Arial"/>
                      </a:endParaRPr>
                    </a:p>
                  </a:txBody>
                  <a:tcPr marL="0" marR="0" marB="0" marT="4318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340"/>
                        </a:spcBef>
                      </a:pPr>
                      <a:r>
                        <a:rPr dirty="0" sz="700" spc="-10" b="1">
                          <a:latin typeface="Arial"/>
                          <a:cs typeface="Arial"/>
                        </a:rPr>
                        <a:t>mmWave</a:t>
                      </a:r>
                      <a:endParaRPr sz="700">
                        <a:latin typeface="Arial"/>
                        <a:cs typeface="Arial"/>
                      </a:endParaRPr>
                    </a:p>
                  </a:txBody>
                  <a:tcPr marL="0" marR="0" marB="0" marT="4318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155575">
                <a:tc>
                  <a:txBody>
                    <a:bodyPr/>
                    <a:lstStyle/>
                    <a:p>
                      <a:pPr algn="ctr">
                        <a:lnSpc>
                          <a:spcPct val="100000"/>
                        </a:lnSpc>
                        <a:spcBef>
                          <a:spcPts val="170"/>
                        </a:spcBef>
                      </a:pPr>
                      <a:r>
                        <a:rPr dirty="0" sz="700" spc="-10" b="1">
                          <a:latin typeface="Arial"/>
                          <a:cs typeface="Arial"/>
                        </a:rPr>
                        <a:t>7/8′′</a:t>
                      </a:r>
                      <a:r>
                        <a:rPr dirty="0" sz="700" spc="-25" b="1">
                          <a:latin typeface="Microsoft YaHei"/>
                          <a:cs typeface="Microsoft YaHei"/>
                        </a:rPr>
                        <a:t>馈线</a:t>
                      </a:r>
                      <a:endParaRPr sz="700">
                        <a:latin typeface="Microsoft YaHei"/>
                        <a:cs typeface="Microsoft YaHei"/>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6040">
                        <a:lnSpc>
                          <a:spcPct val="100000"/>
                        </a:lnSpc>
                        <a:spcBef>
                          <a:spcPts val="170"/>
                        </a:spcBef>
                      </a:pPr>
                      <a:r>
                        <a:rPr dirty="0" sz="700" spc="-20">
                          <a:latin typeface="Arial MT"/>
                          <a:cs typeface="Arial MT"/>
                        </a:rPr>
                        <a:t>3.84</a:t>
                      </a:r>
                      <a:endParaRPr sz="700">
                        <a:latin typeface="Arial MT"/>
                        <a:cs typeface="Arial MT"/>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170"/>
                        </a:spcBef>
                      </a:pPr>
                      <a:r>
                        <a:rPr dirty="0" sz="700" spc="-20">
                          <a:latin typeface="Arial MT"/>
                          <a:cs typeface="Arial MT"/>
                        </a:rPr>
                        <a:t>5.44</a:t>
                      </a:r>
                      <a:endParaRPr sz="700">
                        <a:latin typeface="Arial MT"/>
                        <a:cs typeface="Arial MT"/>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170"/>
                        </a:spcBef>
                      </a:pPr>
                      <a:r>
                        <a:rPr dirty="0" sz="700" spc="-20">
                          <a:latin typeface="Arial MT"/>
                          <a:cs typeface="Arial MT"/>
                        </a:rPr>
                        <a:t>5.93</a:t>
                      </a:r>
                      <a:endParaRPr sz="700">
                        <a:latin typeface="Arial MT"/>
                        <a:cs typeface="Arial MT"/>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170"/>
                        </a:spcBef>
                      </a:pPr>
                      <a:r>
                        <a:rPr dirty="0" sz="700" spc="-20">
                          <a:latin typeface="Arial MT"/>
                          <a:cs typeface="Arial MT"/>
                        </a:rPr>
                        <a:t>7.82</a:t>
                      </a:r>
                      <a:endParaRPr sz="700">
                        <a:latin typeface="Arial MT"/>
                        <a:cs typeface="Arial MT"/>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170"/>
                        </a:spcBef>
                      </a:pPr>
                      <a:r>
                        <a:rPr dirty="0" sz="700" spc="-10">
                          <a:latin typeface="Arial MT"/>
                          <a:cs typeface="Arial MT"/>
                        </a:rPr>
                        <a:t>10.00</a:t>
                      </a:r>
                      <a:endParaRPr sz="700">
                        <a:latin typeface="Arial MT"/>
                        <a:cs typeface="Arial MT"/>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170"/>
                        </a:spcBef>
                      </a:pPr>
                      <a:r>
                        <a:rPr dirty="0" sz="700" spc="-20" b="1">
                          <a:solidFill>
                            <a:srgbClr val="C00000"/>
                          </a:solidFill>
                          <a:latin typeface="Microsoft YaHei"/>
                          <a:cs typeface="Microsoft YaHei"/>
                        </a:rPr>
                        <a:t>不可用</a:t>
                      </a:r>
                      <a:endParaRPr sz="700">
                        <a:latin typeface="Microsoft YaHei"/>
                        <a:cs typeface="Microsoft YaHei"/>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155575">
                <a:tc>
                  <a:txBody>
                    <a:bodyPr/>
                    <a:lstStyle/>
                    <a:p>
                      <a:pPr algn="ctr">
                        <a:lnSpc>
                          <a:spcPct val="100000"/>
                        </a:lnSpc>
                        <a:spcBef>
                          <a:spcPts val="170"/>
                        </a:spcBef>
                      </a:pPr>
                      <a:r>
                        <a:rPr dirty="0" sz="700" spc="-10" b="1">
                          <a:latin typeface="Arial"/>
                          <a:cs typeface="Arial"/>
                        </a:rPr>
                        <a:t>1/2′′</a:t>
                      </a:r>
                      <a:r>
                        <a:rPr dirty="0" sz="700" b="1">
                          <a:latin typeface="Microsoft YaHei"/>
                          <a:cs typeface="Microsoft YaHei"/>
                        </a:rPr>
                        <a:t>馈线（</a:t>
                      </a:r>
                      <a:r>
                        <a:rPr dirty="0" sz="700" spc="-5" b="1">
                          <a:latin typeface="Microsoft YaHei"/>
                          <a:cs typeface="Microsoft YaHei"/>
                        </a:rPr>
                        <a:t>低损</a:t>
                      </a:r>
                      <a:r>
                        <a:rPr dirty="0" sz="700" spc="-50" b="1">
                          <a:latin typeface="Microsoft YaHei"/>
                          <a:cs typeface="Microsoft YaHei"/>
                        </a:rPr>
                        <a:t>）</a:t>
                      </a:r>
                      <a:endParaRPr sz="700">
                        <a:latin typeface="Microsoft YaHei"/>
                        <a:cs typeface="Microsoft YaHei"/>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6040">
                        <a:lnSpc>
                          <a:spcPct val="100000"/>
                        </a:lnSpc>
                        <a:spcBef>
                          <a:spcPts val="170"/>
                        </a:spcBef>
                      </a:pPr>
                      <a:r>
                        <a:rPr dirty="0" sz="700" spc="-20">
                          <a:latin typeface="Arial MT"/>
                          <a:cs typeface="Arial MT"/>
                        </a:rPr>
                        <a:t>7.04</a:t>
                      </a:r>
                      <a:endParaRPr sz="700">
                        <a:latin typeface="Arial MT"/>
                        <a:cs typeface="Arial MT"/>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170"/>
                        </a:spcBef>
                      </a:pPr>
                      <a:r>
                        <a:rPr dirty="0" sz="700" spc="-20">
                          <a:latin typeface="Arial MT"/>
                          <a:cs typeface="Arial MT"/>
                        </a:rPr>
                        <a:t>9.91</a:t>
                      </a:r>
                      <a:endParaRPr sz="700">
                        <a:latin typeface="Arial MT"/>
                        <a:cs typeface="Arial MT"/>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170"/>
                        </a:spcBef>
                      </a:pPr>
                      <a:r>
                        <a:rPr dirty="0" sz="700" spc="-20">
                          <a:latin typeface="Arial MT"/>
                          <a:cs typeface="Arial MT"/>
                        </a:rPr>
                        <a:t>10.8</a:t>
                      </a:r>
                      <a:endParaRPr sz="700">
                        <a:latin typeface="Arial MT"/>
                        <a:cs typeface="Arial MT"/>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170"/>
                        </a:spcBef>
                      </a:pPr>
                      <a:r>
                        <a:rPr dirty="0" sz="700" spc="-20">
                          <a:latin typeface="Arial MT"/>
                          <a:cs typeface="Arial MT"/>
                        </a:rPr>
                        <a:t>14.4</a:t>
                      </a:r>
                      <a:endParaRPr sz="700">
                        <a:latin typeface="Arial MT"/>
                        <a:cs typeface="Arial MT"/>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170"/>
                        </a:spcBef>
                      </a:pPr>
                      <a:r>
                        <a:rPr dirty="0" sz="700" spc="-10">
                          <a:latin typeface="Arial MT"/>
                          <a:cs typeface="Arial MT"/>
                        </a:rPr>
                        <a:t>17.60</a:t>
                      </a:r>
                      <a:endParaRPr sz="700">
                        <a:latin typeface="Arial MT"/>
                        <a:cs typeface="Arial MT"/>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170"/>
                        </a:spcBef>
                      </a:pPr>
                      <a:r>
                        <a:rPr dirty="0" sz="700" spc="-20" b="1">
                          <a:solidFill>
                            <a:srgbClr val="C00000"/>
                          </a:solidFill>
                          <a:latin typeface="Microsoft YaHei"/>
                          <a:cs typeface="Microsoft YaHei"/>
                        </a:rPr>
                        <a:t>不可用</a:t>
                      </a:r>
                      <a:endParaRPr sz="700">
                        <a:latin typeface="Microsoft YaHei"/>
                        <a:cs typeface="Microsoft YaHei"/>
                      </a:endParaRPr>
                    </a:p>
                  </a:txBody>
                  <a:tcPr marL="0" marR="0" marB="0" marT="2159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262255">
                <a:tc>
                  <a:txBody>
                    <a:bodyPr/>
                    <a:lstStyle/>
                    <a:p>
                      <a:pPr algn="ctr">
                        <a:lnSpc>
                          <a:spcPct val="100000"/>
                        </a:lnSpc>
                        <a:spcBef>
                          <a:spcPts val="590"/>
                        </a:spcBef>
                      </a:pPr>
                      <a:r>
                        <a:rPr dirty="0" sz="700" spc="-10" b="1">
                          <a:latin typeface="Arial"/>
                          <a:cs typeface="Arial"/>
                        </a:rPr>
                        <a:t>13/8′</a:t>
                      </a:r>
                      <a:r>
                        <a:rPr dirty="0" sz="700" spc="-25" b="1">
                          <a:latin typeface="Microsoft YaHei"/>
                          <a:cs typeface="Microsoft YaHei"/>
                        </a:rPr>
                        <a:t>漏缆</a:t>
                      </a:r>
                      <a:endParaRPr sz="700">
                        <a:latin typeface="Microsoft YaHei"/>
                        <a:cs typeface="Microsoft YaHei"/>
                      </a:endParaRPr>
                    </a:p>
                  </a:txBody>
                  <a:tcPr marL="0" marR="0" marB="0" marT="7493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6040">
                        <a:lnSpc>
                          <a:spcPct val="100000"/>
                        </a:lnSpc>
                        <a:spcBef>
                          <a:spcPts val="590"/>
                        </a:spcBef>
                      </a:pPr>
                      <a:r>
                        <a:rPr dirty="0" sz="700" spc="-20">
                          <a:latin typeface="Arial MT"/>
                          <a:cs typeface="Arial MT"/>
                        </a:rPr>
                        <a:t>2.30</a:t>
                      </a:r>
                      <a:endParaRPr sz="700">
                        <a:latin typeface="Arial MT"/>
                        <a:cs typeface="Arial MT"/>
                      </a:endParaRPr>
                    </a:p>
                  </a:txBody>
                  <a:tcPr marL="0" marR="0" marB="0" marT="7493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590"/>
                        </a:spcBef>
                      </a:pPr>
                      <a:r>
                        <a:rPr dirty="0" sz="700" spc="-20">
                          <a:latin typeface="Arial MT"/>
                          <a:cs typeface="Arial MT"/>
                        </a:rPr>
                        <a:t>3.85</a:t>
                      </a:r>
                      <a:endParaRPr sz="700">
                        <a:latin typeface="Arial MT"/>
                        <a:cs typeface="Arial MT"/>
                      </a:endParaRPr>
                    </a:p>
                  </a:txBody>
                  <a:tcPr marL="0" marR="0" marB="0" marT="7493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590"/>
                        </a:spcBef>
                      </a:pPr>
                      <a:r>
                        <a:rPr dirty="0" sz="700" spc="-20">
                          <a:latin typeface="Arial MT"/>
                          <a:cs typeface="Arial MT"/>
                        </a:rPr>
                        <a:t>4.50</a:t>
                      </a:r>
                      <a:endParaRPr sz="700">
                        <a:latin typeface="Arial MT"/>
                        <a:cs typeface="Arial MT"/>
                      </a:endParaRPr>
                    </a:p>
                  </a:txBody>
                  <a:tcPr marL="0" marR="0" marB="0" marT="7493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48260" marR="40640">
                        <a:lnSpc>
                          <a:spcPts val="810"/>
                        </a:lnSpc>
                        <a:spcBef>
                          <a:spcPts val="265"/>
                        </a:spcBef>
                      </a:pPr>
                      <a:r>
                        <a:rPr dirty="0" sz="700" spc="-25">
                          <a:solidFill>
                            <a:srgbClr val="C00000"/>
                          </a:solidFill>
                          <a:latin typeface="SimSun"/>
                          <a:cs typeface="SimSun"/>
                        </a:rPr>
                        <a:t>截止波长</a:t>
                      </a:r>
                      <a:endParaRPr sz="700">
                        <a:latin typeface="SimSun"/>
                        <a:cs typeface="SimSun"/>
                      </a:endParaRPr>
                    </a:p>
                  </a:txBody>
                  <a:tcPr marL="0" marR="0" marB="0" marT="33655">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590"/>
                        </a:spcBef>
                      </a:pPr>
                      <a:r>
                        <a:rPr dirty="0" sz="700" spc="-20" b="1">
                          <a:solidFill>
                            <a:srgbClr val="C00000"/>
                          </a:solidFill>
                          <a:latin typeface="Microsoft YaHei"/>
                          <a:cs typeface="Microsoft YaHei"/>
                        </a:rPr>
                        <a:t>不可用</a:t>
                      </a:r>
                      <a:endParaRPr sz="700">
                        <a:latin typeface="Microsoft YaHei"/>
                        <a:cs typeface="Microsoft YaHei"/>
                      </a:endParaRPr>
                    </a:p>
                  </a:txBody>
                  <a:tcPr marL="0" marR="0" marB="0" marT="7493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ct val="100000"/>
                        </a:lnSpc>
                        <a:spcBef>
                          <a:spcPts val="590"/>
                        </a:spcBef>
                      </a:pPr>
                      <a:r>
                        <a:rPr dirty="0" sz="700" spc="-20" b="1">
                          <a:solidFill>
                            <a:srgbClr val="C00000"/>
                          </a:solidFill>
                          <a:latin typeface="Microsoft YaHei"/>
                          <a:cs typeface="Microsoft YaHei"/>
                        </a:rPr>
                        <a:t>不可用</a:t>
                      </a:r>
                      <a:endParaRPr sz="700">
                        <a:latin typeface="Microsoft YaHei"/>
                        <a:cs typeface="Microsoft YaHei"/>
                      </a:endParaRPr>
                    </a:p>
                  </a:txBody>
                  <a:tcPr marL="0" marR="0" marB="0" marT="7493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bl>
          </a:graphicData>
        </a:graphic>
      </p:graphicFrame>
      <p:pic>
        <p:nvPicPr>
          <p:cNvPr id="40" name="object 40"/>
          <p:cNvPicPr/>
          <p:nvPr/>
        </p:nvPicPr>
        <p:blipFill>
          <a:blip r:embed="rId12" cstate="print"/>
          <a:stretch>
            <a:fillRect/>
          </a:stretch>
        </p:blipFill>
        <p:spPr>
          <a:xfrm>
            <a:off x="434890" y="2581605"/>
            <a:ext cx="1433190" cy="1174528"/>
          </a:xfrm>
          <a:prstGeom prst="rect">
            <a:avLst/>
          </a:prstGeom>
        </p:spPr>
      </p:pic>
      <p:graphicFrame>
        <p:nvGraphicFramePr>
          <p:cNvPr id="41" name="object 41" descr=""/>
          <p:cNvGraphicFramePr>
            <a:graphicFrameLocks noGrp="1"/>
          </p:cNvGraphicFramePr>
          <p:nvPr/>
        </p:nvGraphicFramePr>
        <p:xfrm>
          <a:off x="1861873" y="2576659"/>
          <a:ext cx="1762760" cy="1165860"/>
        </p:xfrm>
        <a:graphic>
          <a:graphicData uri="http://schemas.openxmlformats.org/drawingml/2006/table">
            <a:tbl>
              <a:tblPr firstRow="1" bandRow="1">
                <a:tableStyleId>{2D5ABB26-0587-4C30-8999-92F81FD0307C}</a:tableStyleId>
              </a:tblPr>
              <a:tblGrid>
                <a:gridCol w="404495"/>
                <a:gridCol w="474345"/>
                <a:gridCol w="347345"/>
                <a:gridCol w="452119"/>
              </a:tblGrid>
              <a:tr h="68580">
                <a:tc>
                  <a:txBody>
                    <a:bodyPr/>
                    <a:lstStyle/>
                    <a:p>
                      <a:pPr>
                        <a:lnSpc>
                          <a:spcPct val="100000"/>
                        </a:lnSpc>
                      </a:pPr>
                      <a:endParaRPr sz="200">
                        <a:latin typeface="Times New Roman"/>
                        <a:cs typeface="Times New Roman"/>
                      </a:endParaRPr>
                    </a:p>
                  </a:txBody>
                  <a:tcPr marL="0" marR="0" marB="0" marT="0">
                    <a:lnL w="6350">
                      <a:solidFill>
                        <a:srgbClr val="808080"/>
                      </a:solidFill>
                      <a:prstDash val="solid"/>
                    </a:lnL>
                    <a:lnT w="6350">
                      <a:solidFill>
                        <a:srgbClr val="808080"/>
                      </a:solidFill>
                      <a:prstDash val="solid"/>
                    </a:lnT>
                    <a:lnB w="6350">
                      <a:solidFill>
                        <a:srgbClr val="808080"/>
                      </a:solidFill>
                      <a:prstDash val="solid"/>
                    </a:lnB>
                  </a:tcPr>
                </a:tc>
                <a:tc>
                  <a:txBody>
                    <a:bodyPr/>
                    <a:lstStyle/>
                    <a:p>
                      <a:pPr marL="132715">
                        <a:lnSpc>
                          <a:spcPts val="390"/>
                        </a:lnSpc>
                        <a:spcBef>
                          <a:spcPts val="50"/>
                        </a:spcBef>
                      </a:pPr>
                      <a:r>
                        <a:rPr dirty="0" sz="400" spc="-10">
                          <a:latin typeface="Arial MT"/>
                          <a:cs typeface="Arial MT"/>
                        </a:rPr>
                        <a:t>N</a:t>
                      </a:r>
                      <a:r>
                        <a:rPr dirty="0" sz="400">
                          <a:latin typeface="Microsoft YaHei"/>
                          <a:cs typeface="Microsoft YaHei"/>
                        </a:rPr>
                        <a:t>型</a:t>
                      </a:r>
                      <a:r>
                        <a:rPr dirty="0" sz="400" spc="-10">
                          <a:latin typeface="Arial MT"/>
                          <a:cs typeface="Arial MT"/>
                        </a:rPr>
                        <a:t>5dB</a:t>
                      </a:r>
                      <a:r>
                        <a:rPr dirty="0" sz="400" spc="-20">
                          <a:latin typeface="Microsoft YaHei"/>
                          <a:cs typeface="Microsoft YaHei"/>
                        </a:rPr>
                        <a:t>耦合器</a:t>
                      </a:r>
                      <a:endParaRPr sz="400">
                        <a:latin typeface="Microsoft YaHei"/>
                        <a:cs typeface="Microsoft YaHei"/>
                      </a:endParaRPr>
                    </a:p>
                  </a:txBody>
                  <a:tcPr marL="0" marR="0" marB="0" marT="6350">
                    <a:lnT w="6350">
                      <a:solidFill>
                        <a:srgbClr val="808080"/>
                      </a:solidFill>
                      <a:prstDash val="solid"/>
                    </a:lnT>
                    <a:lnB w="6350">
                      <a:solidFill>
                        <a:srgbClr val="808080"/>
                      </a:solidFill>
                      <a:prstDash val="solid"/>
                    </a:lnB>
                  </a:tcPr>
                </a:tc>
                <a:tc>
                  <a:txBody>
                    <a:bodyPr/>
                    <a:lstStyle/>
                    <a:p>
                      <a:pPr>
                        <a:lnSpc>
                          <a:spcPts val="390"/>
                        </a:lnSpc>
                        <a:spcBef>
                          <a:spcPts val="50"/>
                        </a:spcBef>
                      </a:pPr>
                      <a:r>
                        <a:rPr dirty="0" sz="400">
                          <a:latin typeface="Arial MT"/>
                          <a:cs typeface="Arial MT"/>
                        </a:rPr>
                        <a:t>1</a:t>
                      </a:r>
                      <a:r>
                        <a:rPr dirty="0" sz="400" spc="-15">
                          <a:latin typeface="Arial MT"/>
                          <a:cs typeface="Arial MT"/>
                        </a:rPr>
                        <a:t># </a:t>
                      </a:r>
                      <a:r>
                        <a:rPr dirty="0" sz="400" spc="-15">
                          <a:latin typeface="Microsoft YaHei"/>
                          <a:cs typeface="Microsoft YaHei"/>
                        </a:rPr>
                        <a:t>实测结果</a:t>
                      </a:r>
                      <a:endParaRPr sz="400">
                        <a:latin typeface="Microsoft YaHei"/>
                        <a:cs typeface="Microsoft YaHei"/>
                      </a:endParaRPr>
                    </a:p>
                  </a:txBody>
                  <a:tcPr marL="0" marR="0" marB="0" marT="6350">
                    <a:lnT w="6350">
                      <a:solidFill>
                        <a:srgbClr val="808080"/>
                      </a:solidFill>
                      <a:prstDash val="solid"/>
                    </a:lnT>
                    <a:lnB w="6350">
                      <a:solidFill>
                        <a:srgbClr val="808080"/>
                      </a:solidFill>
                      <a:prstDash val="solid"/>
                    </a:lnB>
                  </a:tcPr>
                </a:tc>
                <a:tc>
                  <a:txBody>
                    <a:bodyPr/>
                    <a:lstStyle/>
                    <a:p>
                      <a:pPr>
                        <a:lnSpc>
                          <a:spcPct val="100000"/>
                        </a:lnSpc>
                      </a:pPr>
                      <a:endParaRPr sz="200">
                        <a:latin typeface="Times New Roman"/>
                        <a:cs typeface="Times New Roman"/>
                      </a:endParaRPr>
                    </a:p>
                  </a:txBody>
                  <a:tcPr marL="0" marR="0" marB="0" marT="0">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390"/>
                        </a:lnSpc>
                        <a:spcBef>
                          <a:spcPts val="50"/>
                        </a:spcBef>
                      </a:pPr>
                      <a:r>
                        <a:rPr dirty="0" sz="400">
                          <a:latin typeface="Microsoft YaHei"/>
                          <a:cs typeface="Microsoft YaHei"/>
                        </a:rPr>
                        <a:t>频率</a:t>
                      </a:r>
                      <a:r>
                        <a:rPr dirty="0" sz="400" spc="-10">
                          <a:latin typeface="Arial MT"/>
                          <a:cs typeface="Arial MT"/>
                        </a:rPr>
                        <a:t>(GHz)</a:t>
                      </a:r>
                      <a:endParaRPr sz="400">
                        <a:latin typeface="Arial MT"/>
                        <a:cs typeface="Arial MT"/>
                      </a:endParaRPr>
                    </a:p>
                  </a:txBody>
                  <a:tcPr marL="0" marR="0" marB="0" marT="635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137795">
                        <a:lnSpc>
                          <a:spcPts val="390"/>
                        </a:lnSpc>
                        <a:spcBef>
                          <a:spcPts val="50"/>
                        </a:spcBef>
                      </a:pPr>
                      <a:r>
                        <a:rPr dirty="0" sz="400">
                          <a:latin typeface="Microsoft YaHei"/>
                          <a:cs typeface="Microsoft YaHei"/>
                        </a:rPr>
                        <a:t>插损</a:t>
                      </a:r>
                      <a:r>
                        <a:rPr dirty="0" sz="400" spc="-20">
                          <a:latin typeface="Arial MT"/>
                          <a:cs typeface="Arial MT"/>
                        </a:rPr>
                        <a:t>(dB)</a:t>
                      </a:r>
                      <a:endParaRPr sz="400">
                        <a:latin typeface="Arial MT"/>
                        <a:cs typeface="Arial MT"/>
                      </a:endParaRPr>
                    </a:p>
                  </a:txBody>
                  <a:tcPr marL="0" marR="0" marB="0" marT="635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48895">
                        <a:lnSpc>
                          <a:spcPts val="390"/>
                        </a:lnSpc>
                        <a:spcBef>
                          <a:spcPts val="50"/>
                        </a:spcBef>
                      </a:pPr>
                      <a:r>
                        <a:rPr dirty="0" sz="400">
                          <a:latin typeface="Microsoft YaHei"/>
                          <a:cs typeface="Microsoft YaHei"/>
                        </a:rPr>
                        <a:t>耦合度</a:t>
                      </a:r>
                      <a:r>
                        <a:rPr dirty="0" sz="400" spc="-20">
                          <a:latin typeface="Arial MT"/>
                          <a:cs typeface="Arial MT"/>
                        </a:rPr>
                        <a:t>(dB)</a:t>
                      </a:r>
                      <a:endParaRPr sz="400">
                        <a:latin typeface="Arial MT"/>
                        <a:cs typeface="Arial MT"/>
                      </a:endParaRPr>
                    </a:p>
                  </a:txBody>
                  <a:tcPr marL="0" marR="0" marB="0" marT="635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390"/>
                        </a:lnSpc>
                        <a:spcBef>
                          <a:spcPts val="50"/>
                        </a:spcBef>
                      </a:pPr>
                      <a:r>
                        <a:rPr dirty="0" sz="400">
                          <a:latin typeface="Microsoft YaHei"/>
                          <a:cs typeface="Microsoft YaHei"/>
                        </a:rPr>
                        <a:t>隔离度</a:t>
                      </a:r>
                      <a:r>
                        <a:rPr dirty="0" sz="400" spc="-20">
                          <a:latin typeface="Arial MT"/>
                          <a:cs typeface="Arial MT"/>
                        </a:rPr>
                        <a:t>(dB)</a:t>
                      </a:r>
                      <a:endParaRPr sz="400">
                        <a:latin typeface="Arial MT"/>
                        <a:cs typeface="Arial MT"/>
                      </a:endParaRPr>
                    </a:p>
                  </a:txBody>
                  <a:tcPr marL="0" marR="0" marB="0" marT="635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800-2700MHz</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≤2.3</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104775">
                        <a:lnSpc>
                          <a:spcPts val="390"/>
                        </a:lnSpc>
                        <a:spcBef>
                          <a:spcPts val="50"/>
                        </a:spcBef>
                      </a:pPr>
                      <a:r>
                        <a:rPr dirty="0" sz="400" spc="-10">
                          <a:latin typeface="Arial MT"/>
                          <a:cs typeface="Arial MT"/>
                        </a:rPr>
                        <a:t>5</a:t>
                      </a:r>
                      <a:r>
                        <a:rPr dirty="0" sz="400" spc="-10">
                          <a:latin typeface="Microsoft YaHei"/>
                          <a:cs typeface="Microsoft YaHei"/>
                        </a:rPr>
                        <a:t>±</a:t>
                      </a:r>
                      <a:r>
                        <a:rPr dirty="0" sz="400" spc="-10">
                          <a:latin typeface="Arial MT"/>
                          <a:cs typeface="Arial MT"/>
                        </a:rPr>
                        <a:t>0.8</a:t>
                      </a:r>
                      <a:endParaRPr sz="400">
                        <a:latin typeface="Arial MT"/>
                        <a:cs typeface="Arial MT"/>
                      </a:endParaRPr>
                    </a:p>
                  </a:txBody>
                  <a:tcPr marL="0" marR="0" marB="0" marT="635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390"/>
                        </a:lnSpc>
                        <a:spcBef>
                          <a:spcPts val="50"/>
                        </a:spcBef>
                      </a:pPr>
                      <a:r>
                        <a:rPr dirty="0" sz="400" spc="-10">
                          <a:latin typeface="Arial MT"/>
                          <a:cs typeface="Arial MT"/>
                        </a:rPr>
                        <a:t>≥23(</a:t>
                      </a:r>
                      <a:r>
                        <a:rPr dirty="0" sz="400">
                          <a:latin typeface="Microsoft YaHei"/>
                          <a:cs typeface="Microsoft YaHei"/>
                        </a:rPr>
                        <a:t>含分配损耗</a:t>
                      </a:r>
                      <a:r>
                        <a:rPr dirty="0" sz="400" spc="-50">
                          <a:latin typeface="Arial MT"/>
                          <a:cs typeface="Arial MT"/>
                        </a:rPr>
                        <a:t>)</a:t>
                      </a:r>
                      <a:endParaRPr sz="400">
                        <a:latin typeface="Arial MT"/>
                        <a:cs typeface="Arial MT"/>
                      </a:endParaRPr>
                    </a:p>
                  </a:txBody>
                  <a:tcPr marL="0" marR="0" marB="0" marT="635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0.8-</a:t>
                      </a:r>
                      <a:r>
                        <a:rPr dirty="0" sz="400" spc="-25">
                          <a:latin typeface="Arial MT"/>
                          <a:cs typeface="Arial MT"/>
                        </a:rPr>
                        <a:t>2.7</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1.87</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latin typeface="Arial MT"/>
                          <a:cs typeface="Arial MT"/>
                        </a:rPr>
                        <a:t>4.61-</a:t>
                      </a:r>
                      <a:r>
                        <a:rPr dirty="0" sz="400" spc="-20">
                          <a:latin typeface="Arial MT"/>
                          <a:cs typeface="Arial MT"/>
                        </a:rPr>
                        <a:t>5.37</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26.8</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2.7-</a:t>
                      </a:r>
                      <a:r>
                        <a:rPr dirty="0" sz="400" spc="-25">
                          <a:latin typeface="Arial MT"/>
                          <a:cs typeface="Arial MT"/>
                        </a:rPr>
                        <a:t>2.8</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1.66</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latin typeface="Arial MT"/>
                          <a:cs typeface="Arial MT"/>
                        </a:rPr>
                        <a:t>5.22-</a:t>
                      </a:r>
                      <a:r>
                        <a:rPr dirty="0" sz="400" spc="-20">
                          <a:latin typeface="Arial MT"/>
                          <a:cs typeface="Arial MT"/>
                        </a:rPr>
                        <a:t>5.63</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rowSpan="13">
                  <a:txBody>
                    <a:bodyPr/>
                    <a:lstStyle/>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spcBef>
                          <a:spcPts val="30"/>
                        </a:spcBef>
                      </a:pPr>
                      <a:endParaRPr sz="500">
                        <a:latin typeface="Times New Roman"/>
                        <a:cs typeface="Times New Roman"/>
                      </a:endParaRPr>
                    </a:p>
                    <a:p>
                      <a:pPr marL="6350" marR="124460">
                        <a:lnSpc>
                          <a:spcPct val="100000"/>
                        </a:lnSpc>
                      </a:pPr>
                      <a:r>
                        <a:rPr dirty="0" sz="500" spc="-20">
                          <a:latin typeface="Arial MT"/>
                          <a:cs typeface="Arial MT"/>
                        </a:rPr>
                        <a:t>19.1</a:t>
                      </a:r>
                      <a:r>
                        <a:rPr dirty="0" sz="500" spc="500">
                          <a:latin typeface="Arial MT"/>
                          <a:cs typeface="Arial MT"/>
                        </a:rPr>
                        <a:t> </a:t>
                      </a:r>
                      <a:r>
                        <a:rPr dirty="0" sz="500" spc="-10">
                          <a:latin typeface="Arial MT"/>
                          <a:cs typeface="Arial MT"/>
                        </a:rPr>
                        <a:t>@3.78GHz</a:t>
                      </a:r>
                      <a:endParaRPr sz="500">
                        <a:latin typeface="Arial MT"/>
                        <a:cs typeface="Arial MT"/>
                      </a:endParaR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2.8-</a:t>
                      </a:r>
                      <a:r>
                        <a:rPr dirty="0" sz="400" spc="-25">
                          <a:latin typeface="Arial MT"/>
                          <a:cs typeface="Arial MT"/>
                        </a:rPr>
                        <a:t>2.9</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5">
                          <a:latin typeface="Arial MT"/>
                          <a:cs typeface="Arial MT"/>
                        </a:rPr>
                        <a:t>1.5</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latin typeface="Arial MT"/>
                          <a:cs typeface="Arial MT"/>
                        </a:rPr>
                        <a:t>5.63-</a:t>
                      </a:r>
                      <a:r>
                        <a:rPr dirty="0" sz="400" spc="-20">
                          <a:latin typeface="Arial MT"/>
                          <a:cs typeface="Arial MT"/>
                        </a:rPr>
                        <a:t>6.25</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vMerge="1">
                  <a:txBody>
                    <a:bodyPr/>
                    <a:lstStyle/>
                    <a:p>
                      <a:p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2.9-</a:t>
                      </a:r>
                      <a:r>
                        <a:rPr dirty="0" sz="400" spc="-25">
                          <a:latin typeface="Arial MT"/>
                          <a:cs typeface="Arial MT"/>
                        </a:rPr>
                        <a:t>3.0</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5">
                          <a:latin typeface="Arial MT"/>
                          <a:cs typeface="Arial MT"/>
                        </a:rPr>
                        <a:t>1.3</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latin typeface="Arial MT"/>
                          <a:cs typeface="Arial MT"/>
                        </a:rPr>
                        <a:t>6.25-</a:t>
                      </a:r>
                      <a:r>
                        <a:rPr dirty="0" sz="400" spc="-20">
                          <a:latin typeface="Arial MT"/>
                          <a:cs typeface="Arial MT"/>
                        </a:rPr>
                        <a:t>7.32</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vMerge="1">
                  <a:txBody>
                    <a:bodyPr/>
                    <a:lstStyle/>
                    <a:p>
                      <a:p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3.0-</a:t>
                      </a:r>
                      <a:r>
                        <a:rPr dirty="0" sz="400" spc="-25">
                          <a:latin typeface="Arial MT"/>
                          <a:cs typeface="Arial MT"/>
                        </a:rPr>
                        <a:t>3.1</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1.05</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latin typeface="Arial MT"/>
                          <a:cs typeface="Arial MT"/>
                        </a:rPr>
                        <a:t>7.12-</a:t>
                      </a:r>
                      <a:r>
                        <a:rPr dirty="0" sz="400" spc="-20">
                          <a:latin typeface="Arial MT"/>
                          <a:cs typeface="Arial MT"/>
                        </a:rPr>
                        <a:t>8.20</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vMerge="1">
                  <a:txBody>
                    <a:bodyPr/>
                    <a:lstStyle/>
                    <a:p>
                      <a:p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3.1-</a:t>
                      </a:r>
                      <a:r>
                        <a:rPr dirty="0" sz="400" spc="-25">
                          <a:latin typeface="Arial MT"/>
                          <a:cs typeface="Arial MT"/>
                        </a:rPr>
                        <a:t>3.2</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0.87</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latin typeface="Arial MT"/>
                          <a:cs typeface="Arial MT"/>
                        </a:rPr>
                        <a:t>8.19-10.22</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vMerge="1">
                  <a:txBody>
                    <a:bodyPr/>
                    <a:lstStyle/>
                    <a:p>
                      <a:p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3.2-</a:t>
                      </a:r>
                      <a:r>
                        <a:rPr dirty="0" sz="400" spc="-25">
                          <a:latin typeface="Arial MT"/>
                          <a:cs typeface="Arial MT"/>
                        </a:rPr>
                        <a:t>3.3</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0.56</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solidFill>
                            <a:srgbClr val="FF0000"/>
                          </a:solidFill>
                          <a:latin typeface="Arial MT"/>
                          <a:cs typeface="Arial MT"/>
                        </a:rPr>
                        <a:t>10.22-13.18</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vMerge="1">
                  <a:txBody>
                    <a:bodyPr/>
                    <a:lstStyle/>
                    <a:p>
                      <a:p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3.3-</a:t>
                      </a:r>
                      <a:r>
                        <a:rPr dirty="0" sz="400" spc="-25">
                          <a:latin typeface="Arial MT"/>
                          <a:cs typeface="Arial MT"/>
                        </a:rPr>
                        <a:t>3.4</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0.33</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solidFill>
                            <a:srgbClr val="FF0000"/>
                          </a:solidFill>
                          <a:latin typeface="Arial MT"/>
                          <a:cs typeface="Arial MT"/>
                        </a:rPr>
                        <a:t>13.17-18.26</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vMerge="1">
                  <a:txBody>
                    <a:bodyPr/>
                    <a:lstStyle/>
                    <a:p>
                      <a:p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3.4-</a:t>
                      </a:r>
                      <a:r>
                        <a:rPr dirty="0" sz="400" spc="-25">
                          <a:latin typeface="Arial MT"/>
                          <a:cs typeface="Arial MT"/>
                        </a:rPr>
                        <a:t>3.5</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0.18</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solidFill>
                            <a:srgbClr val="FF0000"/>
                          </a:solidFill>
                          <a:latin typeface="Arial MT"/>
                          <a:cs typeface="Arial MT"/>
                        </a:rPr>
                        <a:t>18.26-33.00</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vMerge="1">
                  <a:txBody>
                    <a:bodyPr/>
                    <a:lstStyle/>
                    <a:p>
                      <a:p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3.5-</a:t>
                      </a:r>
                      <a:r>
                        <a:rPr dirty="0" sz="400" spc="-25">
                          <a:latin typeface="Arial MT"/>
                          <a:cs typeface="Arial MT"/>
                        </a:rPr>
                        <a:t>3.6</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0.14</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solidFill>
                            <a:srgbClr val="FF0000"/>
                          </a:solidFill>
                          <a:latin typeface="Arial MT"/>
                          <a:cs typeface="Arial MT"/>
                        </a:rPr>
                        <a:t>21.05-37.00</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vMerge="1">
                  <a:txBody>
                    <a:bodyPr/>
                    <a:lstStyle/>
                    <a:p>
                      <a:p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3.6-</a:t>
                      </a:r>
                      <a:r>
                        <a:rPr dirty="0" sz="400" spc="-25">
                          <a:latin typeface="Arial MT"/>
                          <a:cs typeface="Arial MT"/>
                        </a:rPr>
                        <a:t>3.7</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0.26</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solidFill>
                            <a:srgbClr val="FF0000"/>
                          </a:solidFill>
                          <a:latin typeface="Arial MT"/>
                          <a:cs typeface="Arial MT"/>
                        </a:rPr>
                        <a:t>11.45-17.29</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vMerge="1">
                  <a:txBody>
                    <a:bodyPr/>
                    <a:lstStyle/>
                    <a:p>
                      <a:p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3.7-</a:t>
                      </a:r>
                      <a:r>
                        <a:rPr dirty="0" sz="400" spc="-25">
                          <a:latin typeface="Arial MT"/>
                          <a:cs typeface="Arial MT"/>
                        </a:rPr>
                        <a:t>3.8</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0.75</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solidFill>
                            <a:srgbClr val="FF0000"/>
                          </a:solidFill>
                          <a:latin typeface="Arial MT"/>
                          <a:cs typeface="Arial MT"/>
                        </a:rPr>
                        <a:t>10.14-14.53</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vMerge="1">
                  <a:txBody>
                    <a:bodyPr/>
                    <a:lstStyle/>
                    <a:p>
                      <a:p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3.8-</a:t>
                      </a:r>
                      <a:r>
                        <a:rPr dirty="0" sz="400" spc="-25">
                          <a:latin typeface="Arial MT"/>
                          <a:cs typeface="Arial MT"/>
                        </a:rPr>
                        <a:t>3.9</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20">
                          <a:latin typeface="Arial MT"/>
                          <a:cs typeface="Arial MT"/>
                        </a:rPr>
                        <a:t>0.73</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solidFill>
                            <a:srgbClr val="FF0000"/>
                          </a:solidFill>
                          <a:latin typeface="Arial MT"/>
                          <a:cs typeface="Arial MT"/>
                        </a:rPr>
                        <a:t>8.81-10.62</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vMerge="1">
                  <a:txBody>
                    <a:bodyPr/>
                    <a:lstStyle/>
                    <a:p>
                      <a:p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r h="68580">
                <a:tc>
                  <a:txBody>
                    <a:bodyPr/>
                    <a:lstStyle/>
                    <a:p>
                      <a:pPr algn="ctr">
                        <a:lnSpc>
                          <a:spcPts val="405"/>
                        </a:lnSpc>
                        <a:spcBef>
                          <a:spcPts val="30"/>
                        </a:spcBef>
                      </a:pPr>
                      <a:r>
                        <a:rPr dirty="0" sz="400" spc="-10">
                          <a:latin typeface="Arial MT"/>
                          <a:cs typeface="Arial MT"/>
                        </a:rPr>
                        <a:t>3.9-</a:t>
                      </a:r>
                      <a:r>
                        <a:rPr dirty="0" sz="400" spc="-25">
                          <a:latin typeface="Arial MT"/>
                          <a:cs typeface="Arial MT"/>
                        </a:rPr>
                        <a:t>4.0</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algn="ctr">
                        <a:lnSpc>
                          <a:spcPts val="405"/>
                        </a:lnSpc>
                        <a:spcBef>
                          <a:spcPts val="30"/>
                        </a:spcBef>
                      </a:pPr>
                      <a:r>
                        <a:rPr dirty="0" sz="400" spc="-50">
                          <a:latin typeface="Arial MT"/>
                          <a:cs typeface="Arial MT"/>
                        </a:rPr>
                        <a:t>1</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a:txBody>
                    <a:bodyPr/>
                    <a:lstStyle/>
                    <a:p>
                      <a:pPr marL="6350">
                        <a:lnSpc>
                          <a:spcPts val="405"/>
                        </a:lnSpc>
                        <a:spcBef>
                          <a:spcPts val="30"/>
                        </a:spcBef>
                      </a:pPr>
                      <a:r>
                        <a:rPr dirty="0" sz="400" spc="-10">
                          <a:solidFill>
                            <a:srgbClr val="FF0000"/>
                          </a:solidFill>
                          <a:latin typeface="Arial MT"/>
                          <a:cs typeface="Arial MT"/>
                        </a:rPr>
                        <a:t>7.34-</a:t>
                      </a:r>
                      <a:r>
                        <a:rPr dirty="0" sz="400" spc="-20">
                          <a:solidFill>
                            <a:srgbClr val="FF0000"/>
                          </a:solidFill>
                          <a:latin typeface="Arial MT"/>
                          <a:cs typeface="Arial MT"/>
                        </a:rPr>
                        <a:t>8.81</a:t>
                      </a:r>
                      <a:endParaRPr sz="400">
                        <a:latin typeface="Arial MT"/>
                        <a:cs typeface="Arial MT"/>
                      </a:endParaRPr>
                    </a:p>
                  </a:txBody>
                  <a:tcPr marL="0" marR="0" marB="0" marT="381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c vMerge="1">
                  <a:txBody>
                    <a:bodyPr/>
                    <a:lstStyle/>
                    <a:p>
                      <a:pPr/>
                    </a:p>
                  </a:txBody>
                  <a:tcPr marL="0" marR="0" marB="0" marT="0">
                    <a:lnL w="6350">
                      <a:solidFill>
                        <a:srgbClr val="808080"/>
                      </a:solidFill>
                      <a:prstDash val="solid"/>
                    </a:lnL>
                    <a:lnR w="6350">
                      <a:solidFill>
                        <a:srgbClr val="808080"/>
                      </a:solidFill>
                      <a:prstDash val="solid"/>
                    </a:lnR>
                    <a:lnT w="6350">
                      <a:solidFill>
                        <a:srgbClr val="808080"/>
                      </a:solidFill>
                      <a:prstDash val="solid"/>
                    </a:lnT>
                    <a:lnB w="6350">
                      <a:solidFill>
                        <a:srgbClr val="808080"/>
                      </a:solidFill>
                      <a:prstDash val="solid"/>
                    </a:lnB>
                  </a:tcPr>
                </a:tc>
              </a:tr>
            </a:tbl>
          </a:graphicData>
        </a:graphic>
      </p:graphicFrame>
      <p:sp>
        <p:nvSpPr>
          <p:cNvPr id="42" name="object 42" descr=""/>
          <p:cNvSpPr txBox="1"/>
          <p:nvPr/>
        </p:nvSpPr>
        <p:spPr>
          <a:xfrm>
            <a:off x="284479" y="3807205"/>
            <a:ext cx="3436620" cy="178435"/>
          </a:xfrm>
          <a:prstGeom prst="rect">
            <a:avLst/>
          </a:prstGeom>
        </p:spPr>
        <p:txBody>
          <a:bodyPr wrap="square" lIns="0" tIns="12700" rIns="0" bIns="0" rtlCol="0" vert="horz">
            <a:spAutoFit/>
          </a:bodyPr>
          <a:lstStyle/>
          <a:p>
            <a:pPr marL="192405" indent="-179705">
              <a:lnSpc>
                <a:spcPct val="100000"/>
              </a:lnSpc>
              <a:spcBef>
                <a:spcPts val="100"/>
              </a:spcBef>
              <a:buFont typeface="Wingdings"/>
              <a:buChar char=""/>
              <a:tabLst>
                <a:tab pos="192405" algn="l"/>
              </a:tabLst>
            </a:pPr>
            <a:r>
              <a:rPr dirty="0" sz="1000">
                <a:solidFill>
                  <a:srgbClr val="0070C0"/>
                </a:solidFill>
                <a:latin typeface="Microsoft YaHei"/>
                <a:cs typeface="Microsoft YaHei"/>
              </a:rPr>
              <a:t>现网馈线：</a:t>
            </a:r>
            <a:r>
              <a:rPr dirty="0" sz="1000">
                <a:latin typeface="Microsoft YaHei"/>
                <a:cs typeface="Microsoft YaHei"/>
              </a:rPr>
              <a:t>超规格馈入</a:t>
            </a:r>
            <a:r>
              <a:rPr dirty="0" sz="1000" spc="-10">
                <a:solidFill>
                  <a:srgbClr val="0070C0"/>
                </a:solidFill>
                <a:latin typeface="Microsoft YaHei"/>
                <a:cs typeface="Microsoft YaHei"/>
              </a:rPr>
              <a:t>3.5GHz</a:t>
            </a:r>
            <a:r>
              <a:rPr dirty="0" sz="1000" spc="-5">
                <a:solidFill>
                  <a:srgbClr val="0070C0"/>
                </a:solidFill>
                <a:latin typeface="Microsoft YaHei"/>
                <a:cs typeface="Microsoft YaHei"/>
              </a:rPr>
              <a:t>基本可用</a:t>
            </a:r>
            <a:r>
              <a:rPr dirty="0" sz="1000" spc="-5">
                <a:latin typeface="Microsoft YaHei"/>
                <a:cs typeface="Microsoft YaHei"/>
              </a:rPr>
              <a:t>，但</a:t>
            </a:r>
            <a:r>
              <a:rPr dirty="0" sz="1000" spc="-15">
                <a:solidFill>
                  <a:srgbClr val="0070C0"/>
                </a:solidFill>
                <a:latin typeface="Microsoft YaHei"/>
                <a:cs typeface="Microsoft YaHei"/>
              </a:rPr>
              <a:t>毫米波不可用</a:t>
            </a:r>
            <a:endParaRPr sz="1000">
              <a:latin typeface="Microsoft YaHei"/>
              <a:cs typeface="Microsoft YaHei"/>
            </a:endParaRPr>
          </a:p>
        </p:txBody>
      </p:sp>
      <p:sp>
        <p:nvSpPr>
          <p:cNvPr id="43" name="object 43" descr=""/>
          <p:cNvSpPr txBox="1"/>
          <p:nvPr/>
        </p:nvSpPr>
        <p:spPr>
          <a:xfrm>
            <a:off x="219643" y="1069812"/>
            <a:ext cx="3780790" cy="178435"/>
          </a:xfrm>
          <a:prstGeom prst="rect">
            <a:avLst/>
          </a:prstGeom>
        </p:spPr>
        <p:txBody>
          <a:bodyPr wrap="square" lIns="0" tIns="12700" rIns="0" bIns="0" rtlCol="0" vert="horz">
            <a:spAutoFit/>
          </a:bodyPr>
          <a:lstStyle/>
          <a:p>
            <a:pPr marL="192405" indent="-179705">
              <a:lnSpc>
                <a:spcPct val="100000"/>
              </a:lnSpc>
              <a:spcBef>
                <a:spcPts val="100"/>
              </a:spcBef>
              <a:buFont typeface="Wingdings"/>
              <a:buChar char=""/>
              <a:tabLst>
                <a:tab pos="192405" algn="l"/>
              </a:tabLst>
            </a:pPr>
            <a:r>
              <a:rPr dirty="0" sz="1000" spc="-5">
                <a:solidFill>
                  <a:srgbClr val="0070C0"/>
                </a:solidFill>
                <a:latin typeface="Microsoft YaHei"/>
                <a:cs typeface="Microsoft YaHei"/>
              </a:rPr>
              <a:t>现网功分器：</a:t>
            </a:r>
            <a:r>
              <a:rPr dirty="0" sz="1000" spc="-10">
                <a:latin typeface="Microsoft YaHei"/>
                <a:cs typeface="Microsoft YaHei"/>
              </a:rPr>
              <a:t>3.5GHz频段插损恶化0.5dB</a:t>
            </a:r>
            <a:r>
              <a:rPr dirty="0" sz="1000" spc="-5">
                <a:latin typeface="Microsoft YaHei"/>
                <a:cs typeface="Microsoft YaHei"/>
              </a:rPr>
              <a:t>左右，</a:t>
            </a:r>
            <a:r>
              <a:rPr dirty="0" sz="1000" spc="-10">
                <a:solidFill>
                  <a:srgbClr val="0070C0"/>
                </a:solidFill>
                <a:latin typeface="Microsoft YaHei"/>
                <a:cs typeface="Microsoft YaHei"/>
              </a:rPr>
              <a:t>对DAS</a:t>
            </a:r>
            <a:r>
              <a:rPr dirty="0" sz="1000" spc="-20">
                <a:solidFill>
                  <a:srgbClr val="0070C0"/>
                </a:solidFill>
                <a:latin typeface="Microsoft YaHei"/>
                <a:cs typeface="Microsoft YaHei"/>
              </a:rPr>
              <a:t>系统影响</a:t>
            </a:r>
            <a:endParaRPr sz="1000">
              <a:latin typeface="Microsoft YaHei"/>
              <a:cs typeface="Microsoft YaHei"/>
            </a:endParaRPr>
          </a:p>
        </p:txBody>
      </p:sp>
      <p:sp>
        <p:nvSpPr>
          <p:cNvPr id="44" name="object 44" descr=""/>
          <p:cNvSpPr txBox="1"/>
          <p:nvPr/>
        </p:nvSpPr>
        <p:spPr>
          <a:xfrm>
            <a:off x="400237" y="1222262"/>
            <a:ext cx="280035" cy="178435"/>
          </a:xfrm>
          <a:prstGeom prst="rect">
            <a:avLst/>
          </a:prstGeom>
        </p:spPr>
        <p:txBody>
          <a:bodyPr wrap="square" lIns="0" tIns="12700" rIns="0" bIns="0" rtlCol="0" vert="horz">
            <a:spAutoFit/>
          </a:bodyPr>
          <a:lstStyle/>
          <a:p>
            <a:pPr marL="12700">
              <a:lnSpc>
                <a:spcPct val="100000"/>
              </a:lnSpc>
              <a:spcBef>
                <a:spcPts val="100"/>
              </a:spcBef>
            </a:pPr>
            <a:r>
              <a:rPr dirty="0" sz="1000" spc="-25">
                <a:solidFill>
                  <a:srgbClr val="0070C0"/>
                </a:solidFill>
                <a:latin typeface="Microsoft YaHei"/>
                <a:cs typeface="Microsoft YaHei"/>
              </a:rPr>
              <a:t>较小</a:t>
            </a:r>
            <a:endParaRPr sz="1000">
              <a:latin typeface="Microsoft YaHei"/>
              <a:cs typeface="Microsoft YaHei"/>
            </a:endParaRPr>
          </a:p>
        </p:txBody>
      </p:sp>
      <p:pic>
        <p:nvPicPr>
          <p:cNvPr id="45" name="object 45" descr=""/>
          <p:cNvPicPr/>
          <p:nvPr/>
        </p:nvPicPr>
        <p:blipFill>
          <a:blip r:embed="rId13" cstate="print"/>
          <a:stretch>
            <a:fillRect/>
          </a:stretch>
        </p:blipFill>
        <p:spPr>
          <a:xfrm>
            <a:off x="754379" y="1319783"/>
            <a:ext cx="2066543" cy="504443"/>
          </a:xfrm>
          <a:prstGeom prst="rect">
            <a:avLst/>
          </a:prstGeom>
        </p:spPr>
      </p:pic>
      <p:sp>
        <p:nvSpPr>
          <p:cNvPr id="46" name="object 46" descr=""/>
          <p:cNvSpPr txBox="1"/>
          <p:nvPr/>
        </p:nvSpPr>
        <p:spPr>
          <a:xfrm>
            <a:off x="1225550" y="840740"/>
            <a:ext cx="1245870" cy="269875"/>
          </a:xfrm>
          <a:prstGeom prst="rect">
            <a:avLst/>
          </a:prstGeom>
        </p:spPr>
        <p:txBody>
          <a:bodyPr wrap="square" lIns="0" tIns="12700" rIns="0" bIns="0" rtlCol="0" vert="horz">
            <a:spAutoFit/>
          </a:bodyPr>
          <a:lstStyle/>
          <a:p>
            <a:pPr marL="12700">
              <a:lnSpc>
                <a:spcPct val="100000"/>
              </a:lnSpc>
              <a:spcBef>
                <a:spcPts val="100"/>
              </a:spcBef>
            </a:pPr>
            <a:r>
              <a:rPr dirty="0" sz="1600" spc="-15">
                <a:solidFill>
                  <a:srgbClr val="CC3300"/>
                </a:solidFill>
                <a:latin typeface="SimSun"/>
                <a:cs typeface="SimSun"/>
              </a:rPr>
              <a:t>硬件支持情况</a:t>
            </a:r>
            <a:endParaRPr sz="1600">
              <a:latin typeface="SimSun"/>
              <a:cs typeface="SimSun"/>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5013662" y="1117601"/>
          <a:ext cx="4004945" cy="3834129"/>
        </p:xfrm>
        <a:graphic>
          <a:graphicData uri="http://schemas.openxmlformats.org/drawingml/2006/table">
            <a:tbl>
              <a:tblPr firstRow="1" bandRow="1">
                <a:tableStyleId>{2D5ABB26-0587-4C30-8999-92F81FD0307C}</a:tableStyleId>
              </a:tblPr>
              <a:tblGrid>
                <a:gridCol w="848360"/>
                <a:gridCol w="1593850"/>
                <a:gridCol w="1473835"/>
              </a:tblGrid>
              <a:tr h="205104">
                <a:tc>
                  <a:txBody>
                    <a:bodyPr/>
                    <a:lstStyle/>
                    <a:p>
                      <a:pPr algn="ctr">
                        <a:lnSpc>
                          <a:spcPct val="100000"/>
                        </a:lnSpc>
                        <a:spcBef>
                          <a:spcPts val="120"/>
                        </a:spcBef>
                      </a:pPr>
                      <a:r>
                        <a:rPr dirty="0" sz="1100" spc="-35" b="1">
                          <a:solidFill>
                            <a:srgbClr val="FFFFFF"/>
                          </a:solidFill>
                          <a:latin typeface="Microsoft YaHei"/>
                          <a:cs typeface="Microsoft YaHei"/>
                        </a:rPr>
                        <a:t>序号</a:t>
                      </a:r>
                      <a:endParaRPr sz="1100">
                        <a:latin typeface="Microsoft YaHei"/>
                        <a:cs typeface="Microsoft YaHei"/>
                      </a:endParaRPr>
                    </a:p>
                  </a:txBody>
                  <a:tcPr marL="0" marR="0" marB="0" marT="1524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0000"/>
                    </a:solidFill>
                  </a:tcPr>
                </a:tc>
                <a:tc>
                  <a:txBody>
                    <a:bodyPr/>
                    <a:lstStyle/>
                    <a:p>
                      <a:pPr marL="168910">
                        <a:lnSpc>
                          <a:spcPct val="100000"/>
                        </a:lnSpc>
                        <a:spcBef>
                          <a:spcPts val="120"/>
                        </a:spcBef>
                      </a:pPr>
                      <a:r>
                        <a:rPr dirty="0" sz="1100" spc="-25" b="1">
                          <a:solidFill>
                            <a:srgbClr val="FFFFFF"/>
                          </a:solidFill>
                          <a:latin typeface="Microsoft YaHei"/>
                          <a:cs typeface="Microsoft YaHei"/>
                        </a:rPr>
                        <a:t>加载系统产生阶互调</a:t>
                      </a:r>
                      <a:endParaRPr sz="1100">
                        <a:latin typeface="Microsoft YaHei"/>
                        <a:cs typeface="Microsoft YaHei"/>
                      </a:endParaRPr>
                    </a:p>
                  </a:txBody>
                  <a:tcPr marL="0" marR="0" marB="0" marT="1524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0000"/>
                    </a:solidFill>
                  </a:tcPr>
                </a:tc>
                <a:tc>
                  <a:txBody>
                    <a:bodyPr/>
                    <a:lstStyle/>
                    <a:p>
                      <a:pPr marL="229870" marR="30480">
                        <a:lnSpc>
                          <a:spcPct val="100000"/>
                        </a:lnSpc>
                        <a:spcBef>
                          <a:spcPts val="120"/>
                        </a:spcBef>
                      </a:pPr>
                      <a:r>
                        <a:rPr dirty="0" sz="1100" spc="-25" b="1">
                          <a:solidFill>
                            <a:srgbClr val="FFFFFF"/>
                          </a:solidFill>
                          <a:latin typeface="Microsoft YaHei"/>
                          <a:cs typeface="Microsoft YaHei"/>
                        </a:rPr>
                        <a:t>主要被干扰系统</a:t>
                      </a:r>
                      <a:endParaRPr sz="1100">
                        <a:latin typeface="Microsoft YaHei"/>
                        <a:cs typeface="Microsoft YaHei"/>
                      </a:endParaRPr>
                    </a:p>
                  </a:txBody>
                  <a:tcPr marL="0" marR="0" marB="0" marT="1524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0000"/>
                    </a:solidFill>
                  </a:tcPr>
                </a:tc>
              </a:tr>
              <a:tr h="290830">
                <a:tc rowSpan="9">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155"/>
                        </a:spcBef>
                      </a:pPr>
                      <a:endParaRPr sz="900">
                        <a:latin typeface="Times New Roman"/>
                        <a:cs typeface="Times New Roman"/>
                      </a:endParaRPr>
                    </a:p>
                    <a:p>
                      <a:pPr marL="194945">
                        <a:lnSpc>
                          <a:spcPct val="100000"/>
                        </a:lnSpc>
                      </a:pPr>
                      <a:r>
                        <a:rPr dirty="0" sz="900" spc="-15" b="1">
                          <a:solidFill>
                            <a:srgbClr val="FFFFFF"/>
                          </a:solidFill>
                          <a:latin typeface="Microsoft YaHei"/>
                          <a:cs typeface="Microsoft YaHei"/>
                        </a:rPr>
                        <a:t>三阶互调</a:t>
                      </a:r>
                      <a:endParaRPr sz="900">
                        <a:latin typeface="Microsoft YaHei"/>
                        <a:cs typeface="Microsoft YaHei"/>
                      </a:endParaRPr>
                    </a:p>
                  </a:txBody>
                  <a:tcPr marL="0" marR="0" marB="0" marT="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00000"/>
                    </a:solidFill>
                  </a:tcPr>
                </a:tc>
                <a:tc>
                  <a:txBody>
                    <a:bodyPr/>
                    <a:lstStyle/>
                    <a:p>
                      <a:pPr marL="4445">
                        <a:lnSpc>
                          <a:spcPct val="100000"/>
                        </a:lnSpc>
                        <a:spcBef>
                          <a:spcPts val="585"/>
                        </a:spcBef>
                      </a:pPr>
                      <a:r>
                        <a:rPr dirty="0" sz="900">
                          <a:latin typeface="Microsoft YaHei"/>
                          <a:cs typeface="Microsoft YaHei"/>
                        </a:rPr>
                        <a:t>移动</a:t>
                      </a:r>
                      <a:r>
                        <a:rPr dirty="0" sz="900" spc="-10">
                          <a:latin typeface="Microsoft YaHei"/>
                          <a:cs typeface="Microsoft YaHei"/>
                        </a:rPr>
                        <a:t>DCS</a:t>
                      </a:r>
                      <a:r>
                        <a:rPr dirty="0" sz="900">
                          <a:latin typeface="Microsoft YaHei"/>
                          <a:cs typeface="Microsoft YaHei"/>
                        </a:rPr>
                        <a:t>、联通</a:t>
                      </a:r>
                      <a:r>
                        <a:rPr dirty="0" sz="900" spc="-10">
                          <a:latin typeface="Microsoft YaHei"/>
                          <a:cs typeface="Microsoft YaHei"/>
                        </a:rPr>
                        <a:t>FDD1800</a:t>
                      </a:r>
                      <a:endParaRPr sz="900">
                        <a:latin typeface="Microsoft YaHei"/>
                        <a:cs typeface="Microsoft YaHei"/>
                      </a:endParaRPr>
                    </a:p>
                  </a:txBody>
                  <a:tcPr marL="0" marR="0" marB="0" marT="7429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CDDE"/>
                    </a:solidFill>
                  </a:tcPr>
                </a:tc>
                <a:tc>
                  <a:txBody>
                    <a:bodyPr/>
                    <a:lstStyle/>
                    <a:p>
                      <a:pPr marL="4445" marR="30480">
                        <a:lnSpc>
                          <a:spcPct val="100000"/>
                        </a:lnSpc>
                        <a:spcBef>
                          <a:spcPts val="45"/>
                        </a:spcBef>
                      </a:pPr>
                      <a:r>
                        <a:rPr dirty="0" sz="900">
                          <a:latin typeface="Microsoft YaHei"/>
                          <a:cs typeface="Microsoft YaHei"/>
                        </a:rPr>
                        <a:t>移动</a:t>
                      </a:r>
                      <a:r>
                        <a:rPr dirty="0" sz="900" spc="-10">
                          <a:latin typeface="Microsoft YaHei"/>
                          <a:cs typeface="Microsoft YaHei"/>
                        </a:rPr>
                        <a:t>TD-</a:t>
                      </a:r>
                      <a:r>
                        <a:rPr dirty="0" sz="900" spc="-15">
                          <a:latin typeface="Microsoft YaHei"/>
                          <a:cs typeface="Microsoft YaHei"/>
                        </a:rPr>
                        <a:t>LTE(F频段)、联通</a:t>
                      </a:r>
                      <a:endParaRPr sz="900">
                        <a:latin typeface="Microsoft YaHei"/>
                        <a:cs typeface="Microsoft YaHei"/>
                      </a:endParaRPr>
                    </a:p>
                    <a:p>
                      <a:pPr marL="4445" marR="30480">
                        <a:lnSpc>
                          <a:spcPts val="1065"/>
                        </a:lnSpc>
                      </a:pPr>
                      <a:r>
                        <a:rPr dirty="0" sz="900" spc="-10">
                          <a:latin typeface="Microsoft YaHei"/>
                          <a:cs typeface="Microsoft YaHei"/>
                        </a:rPr>
                        <a:t>FDD1800</a:t>
                      </a:r>
                      <a:r>
                        <a:rPr dirty="0" sz="900">
                          <a:latin typeface="Microsoft YaHei"/>
                          <a:cs typeface="Microsoft YaHei"/>
                        </a:rPr>
                        <a:t>、电信</a:t>
                      </a:r>
                      <a:r>
                        <a:rPr dirty="0" sz="900" spc="-10">
                          <a:latin typeface="Microsoft YaHei"/>
                          <a:cs typeface="Microsoft YaHei"/>
                        </a:rPr>
                        <a:t>FDD1800</a:t>
                      </a:r>
                      <a:endParaRPr sz="900">
                        <a:latin typeface="Microsoft YaHei"/>
                        <a:cs typeface="Microsoft YaHei"/>
                      </a:endParaRPr>
                    </a:p>
                  </a:txBody>
                  <a:tcPr marL="0" marR="0" marB="0" marT="571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CDDE"/>
                    </a:solidFill>
                  </a:tcPr>
                </a:tc>
              </a:tr>
              <a:tr h="673735">
                <a:tc vMerge="1">
                  <a:txBody>
                    <a:bodyPr/>
                    <a:lstStyle/>
                    <a:p>
                      <a:pPr/>
                    </a:p>
                  </a:txBody>
                  <a:tcPr marL="0" marR="0" marB="0" marT="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00000"/>
                    </a:solidFill>
                  </a:tcPr>
                </a:tc>
                <a:tc>
                  <a:txBody>
                    <a:bodyPr/>
                    <a:lstStyle/>
                    <a:p>
                      <a:pPr>
                        <a:lnSpc>
                          <a:spcPct val="100000"/>
                        </a:lnSpc>
                      </a:pPr>
                      <a:endParaRPr sz="900">
                        <a:latin typeface="Times New Roman"/>
                        <a:cs typeface="Times New Roman"/>
                      </a:endParaRPr>
                    </a:p>
                    <a:p>
                      <a:pPr>
                        <a:lnSpc>
                          <a:spcPct val="100000"/>
                        </a:lnSpc>
                        <a:spcBef>
                          <a:spcPts val="25"/>
                        </a:spcBef>
                      </a:pPr>
                      <a:endParaRPr sz="900">
                        <a:latin typeface="Times New Roman"/>
                        <a:cs typeface="Times New Roman"/>
                      </a:endParaRPr>
                    </a:p>
                    <a:p>
                      <a:pPr marL="4445">
                        <a:lnSpc>
                          <a:spcPct val="100000"/>
                        </a:lnSpc>
                      </a:pPr>
                      <a:r>
                        <a:rPr dirty="0" sz="900">
                          <a:latin typeface="Microsoft YaHei"/>
                          <a:cs typeface="Microsoft YaHei"/>
                        </a:rPr>
                        <a:t>移动</a:t>
                      </a:r>
                      <a:r>
                        <a:rPr dirty="0" sz="900" spc="-10">
                          <a:latin typeface="Microsoft YaHei"/>
                          <a:cs typeface="Microsoft YaHei"/>
                        </a:rPr>
                        <a:t>DCS</a:t>
                      </a:r>
                      <a:r>
                        <a:rPr dirty="0" sz="900">
                          <a:latin typeface="Microsoft YaHei"/>
                          <a:cs typeface="Microsoft YaHei"/>
                        </a:rPr>
                        <a:t>、电信</a:t>
                      </a:r>
                      <a:r>
                        <a:rPr dirty="0" sz="900" spc="-10">
                          <a:latin typeface="Microsoft YaHei"/>
                          <a:cs typeface="Microsoft YaHei"/>
                        </a:rPr>
                        <a:t>FDD1800</a:t>
                      </a:r>
                      <a:endParaRPr sz="9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F"/>
                    </a:solidFill>
                  </a:tcPr>
                </a:tc>
                <a:tc>
                  <a:txBody>
                    <a:bodyPr/>
                    <a:lstStyle/>
                    <a:p>
                      <a:pPr marL="4445" marR="30480">
                        <a:lnSpc>
                          <a:spcPct val="100000"/>
                        </a:lnSpc>
                        <a:spcBef>
                          <a:spcPts val="475"/>
                        </a:spcBef>
                      </a:pPr>
                      <a:r>
                        <a:rPr dirty="0" sz="900">
                          <a:latin typeface="Microsoft YaHei"/>
                          <a:cs typeface="Microsoft YaHei"/>
                        </a:rPr>
                        <a:t>移动</a:t>
                      </a:r>
                      <a:r>
                        <a:rPr dirty="0" sz="900" spc="-10">
                          <a:latin typeface="Microsoft YaHei"/>
                          <a:cs typeface="Microsoft YaHei"/>
                        </a:rPr>
                        <a:t>TD-</a:t>
                      </a:r>
                      <a:r>
                        <a:rPr dirty="0" sz="900" spc="-15">
                          <a:latin typeface="Microsoft YaHei"/>
                          <a:cs typeface="Microsoft YaHei"/>
                        </a:rPr>
                        <a:t>LTE(F频段)、联通</a:t>
                      </a:r>
                      <a:endParaRPr sz="900">
                        <a:latin typeface="Microsoft YaHei"/>
                        <a:cs typeface="Microsoft YaHei"/>
                      </a:endParaRPr>
                    </a:p>
                    <a:p>
                      <a:pPr marL="4445">
                        <a:lnSpc>
                          <a:spcPct val="100000"/>
                        </a:lnSpc>
                      </a:pPr>
                      <a:r>
                        <a:rPr dirty="0" sz="900" spc="-10">
                          <a:latin typeface="Microsoft YaHei"/>
                          <a:cs typeface="Microsoft YaHei"/>
                        </a:rPr>
                        <a:t>FDD1800</a:t>
                      </a:r>
                      <a:r>
                        <a:rPr dirty="0" sz="900" spc="-5">
                          <a:latin typeface="Microsoft YaHei"/>
                          <a:cs typeface="Microsoft YaHei"/>
                        </a:rPr>
                        <a:t>、电信</a:t>
                      </a:r>
                      <a:r>
                        <a:rPr dirty="0" sz="900" spc="-10">
                          <a:latin typeface="Microsoft YaHei"/>
                          <a:cs typeface="Microsoft YaHei"/>
                        </a:rPr>
                        <a:t>FDD1800</a:t>
                      </a:r>
                      <a:r>
                        <a:rPr dirty="0" sz="900" spc="-50">
                          <a:latin typeface="Microsoft YaHei"/>
                          <a:cs typeface="Microsoft YaHei"/>
                        </a:rPr>
                        <a:t>、</a:t>
                      </a:r>
                      <a:endParaRPr sz="900">
                        <a:latin typeface="Microsoft YaHei"/>
                        <a:cs typeface="Microsoft YaHei"/>
                      </a:endParaRPr>
                    </a:p>
                    <a:p>
                      <a:pPr marL="4445" marR="30480">
                        <a:lnSpc>
                          <a:spcPct val="100000"/>
                        </a:lnSpc>
                      </a:pPr>
                      <a:r>
                        <a:rPr dirty="0" sz="900">
                          <a:latin typeface="Microsoft YaHei"/>
                          <a:cs typeface="Microsoft YaHei"/>
                        </a:rPr>
                        <a:t>电信</a:t>
                      </a:r>
                      <a:r>
                        <a:rPr dirty="0" sz="900" spc="-10">
                          <a:latin typeface="Microsoft YaHei"/>
                          <a:cs typeface="Microsoft YaHei"/>
                        </a:rPr>
                        <a:t>FDD2100</a:t>
                      </a:r>
                      <a:r>
                        <a:rPr dirty="0" sz="900" spc="-20">
                          <a:latin typeface="Microsoft YaHei"/>
                          <a:cs typeface="Microsoft YaHei"/>
                        </a:rPr>
                        <a:t>、联通</a:t>
                      </a:r>
                      <a:endParaRPr sz="900">
                        <a:latin typeface="Microsoft YaHei"/>
                        <a:cs typeface="Microsoft YaHei"/>
                      </a:endParaRPr>
                    </a:p>
                    <a:p>
                      <a:pPr marL="4445" marR="30480">
                        <a:lnSpc>
                          <a:spcPct val="100000"/>
                        </a:lnSpc>
                      </a:pPr>
                      <a:r>
                        <a:rPr dirty="0" sz="900" spc="-10">
                          <a:latin typeface="Microsoft YaHei"/>
                          <a:cs typeface="Microsoft YaHei"/>
                        </a:rPr>
                        <a:t>WCDMA2100</a:t>
                      </a:r>
                      <a:endParaRPr sz="900">
                        <a:latin typeface="Microsoft YaHei"/>
                        <a:cs typeface="Microsoft YaHei"/>
                      </a:endParaRPr>
                    </a:p>
                  </a:txBody>
                  <a:tcPr marL="0" marR="0" marB="0" marT="6032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F"/>
                    </a:solidFill>
                  </a:tcPr>
                </a:tc>
              </a:tr>
              <a:tr h="673735">
                <a:tc vMerge="1">
                  <a:txBody>
                    <a:bodyPr/>
                    <a:lstStyle/>
                    <a:p>
                      <a:pPr/>
                    </a:p>
                  </a:txBody>
                  <a:tcPr marL="0" marR="0" marB="0" marT="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00000"/>
                    </a:solidFill>
                  </a:tcPr>
                </a:tc>
                <a:tc>
                  <a:txBody>
                    <a:bodyPr/>
                    <a:lstStyle/>
                    <a:p>
                      <a:pPr>
                        <a:lnSpc>
                          <a:spcPct val="100000"/>
                        </a:lnSpc>
                        <a:spcBef>
                          <a:spcPts val="520"/>
                        </a:spcBef>
                      </a:pPr>
                      <a:endParaRPr sz="900">
                        <a:latin typeface="Times New Roman"/>
                        <a:cs typeface="Times New Roman"/>
                      </a:endParaRPr>
                    </a:p>
                    <a:p>
                      <a:pPr marL="4445">
                        <a:lnSpc>
                          <a:spcPct val="100000"/>
                        </a:lnSpc>
                      </a:pPr>
                      <a:r>
                        <a:rPr dirty="0" sz="900">
                          <a:latin typeface="Microsoft YaHei"/>
                          <a:cs typeface="Microsoft YaHei"/>
                        </a:rPr>
                        <a:t>移动</a:t>
                      </a:r>
                      <a:r>
                        <a:rPr dirty="0" sz="900" spc="-10">
                          <a:latin typeface="Microsoft YaHei"/>
                          <a:cs typeface="Microsoft YaHei"/>
                        </a:rPr>
                        <a:t>DCS</a:t>
                      </a:r>
                      <a:r>
                        <a:rPr dirty="0" sz="900">
                          <a:latin typeface="Microsoft YaHei"/>
                          <a:cs typeface="Microsoft YaHei"/>
                        </a:rPr>
                        <a:t>、联通</a:t>
                      </a:r>
                      <a:r>
                        <a:rPr dirty="0" sz="900" spc="-10">
                          <a:latin typeface="Microsoft YaHei"/>
                          <a:cs typeface="Microsoft YaHei"/>
                        </a:rPr>
                        <a:t>DCS</a:t>
                      </a:r>
                      <a:r>
                        <a:rPr dirty="0" sz="900" spc="-20">
                          <a:latin typeface="Microsoft YaHei"/>
                          <a:cs typeface="Microsoft YaHei"/>
                        </a:rPr>
                        <a:t>、电信</a:t>
                      </a:r>
                      <a:endParaRPr sz="900">
                        <a:latin typeface="Microsoft YaHei"/>
                        <a:cs typeface="Microsoft YaHei"/>
                      </a:endParaRPr>
                    </a:p>
                    <a:p>
                      <a:pPr marL="4445">
                        <a:lnSpc>
                          <a:spcPct val="100000"/>
                        </a:lnSpc>
                      </a:pPr>
                      <a:r>
                        <a:rPr dirty="0" sz="900" spc="-10">
                          <a:latin typeface="Microsoft YaHei"/>
                          <a:cs typeface="Microsoft YaHei"/>
                        </a:rPr>
                        <a:t>FDD1800</a:t>
                      </a:r>
                      <a:endParaRPr sz="900">
                        <a:latin typeface="Microsoft YaHei"/>
                        <a:cs typeface="Microsoft YaHei"/>
                      </a:endParaRPr>
                    </a:p>
                  </a:txBody>
                  <a:tcPr marL="0" marR="0" marB="0" marT="660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CDDE"/>
                    </a:solidFill>
                  </a:tcPr>
                </a:tc>
                <a:tc>
                  <a:txBody>
                    <a:bodyPr/>
                    <a:lstStyle/>
                    <a:p>
                      <a:pPr marL="4445" marR="30480">
                        <a:lnSpc>
                          <a:spcPct val="100000"/>
                        </a:lnSpc>
                        <a:spcBef>
                          <a:spcPts val="475"/>
                        </a:spcBef>
                      </a:pPr>
                      <a:r>
                        <a:rPr dirty="0" sz="900">
                          <a:latin typeface="Microsoft YaHei"/>
                          <a:cs typeface="Microsoft YaHei"/>
                        </a:rPr>
                        <a:t>移动</a:t>
                      </a:r>
                      <a:r>
                        <a:rPr dirty="0" sz="900" spc="-10">
                          <a:latin typeface="Microsoft YaHei"/>
                          <a:cs typeface="Microsoft YaHei"/>
                        </a:rPr>
                        <a:t>TD-</a:t>
                      </a:r>
                      <a:r>
                        <a:rPr dirty="0" sz="900" spc="-15">
                          <a:latin typeface="Microsoft YaHei"/>
                          <a:cs typeface="Microsoft YaHei"/>
                        </a:rPr>
                        <a:t>LTE(F频段)、联通</a:t>
                      </a:r>
                      <a:endParaRPr sz="900">
                        <a:latin typeface="Microsoft YaHei"/>
                        <a:cs typeface="Microsoft YaHei"/>
                      </a:endParaRPr>
                    </a:p>
                    <a:p>
                      <a:pPr marL="4445">
                        <a:lnSpc>
                          <a:spcPct val="100000"/>
                        </a:lnSpc>
                      </a:pPr>
                      <a:r>
                        <a:rPr dirty="0" sz="900" spc="-10">
                          <a:latin typeface="Microsoft YaHei"/>
                          <a:cs typeface="Microsoft YaHei"/>
                        </a:rPr>
                        <a:t>FDD1800</a:t>
                      </a:r>
                      <a:r>
                        <a:rPr dirty="0" sz="900" spc="-5">
                          <a:latin typeface="Microsoft YaHei"/>
                          <a:cs typeface="Microsoft YaHei"/>
                        </a:rPr>
                        <a:t>、电信</a:t>
                      </a:r>
                      <a:r>
                        <a:rPr dirty="0" sz="900" spc="-10">
                          <a:latin typeface="Microsoft YaHei"/>
                          <a:cs typeface="Microsoft YaHei"/>
                        </a:rPr>
                        <a:t>FDD1800</a:t>
                      </a:r>
                      <a:r>
                        <a:rPr dirty="0" sz="900" spc="-50">
                          <a:latin typeface="Microsoft YaHei"/>
                          <a:cs typeface="Microsoft YaHei"/>
                        </a:rPr>
                        <a:t>、</a:t>
                      </a:r>
                      <a:endParaRPr sz="900">
                        <a:latin typeface="Microsoft YaHei"/>
                        <a:cs typeface="Microsoft YaHei"/>
                      </a:endParaRPr>
                    </a:p>
                    <a:p>
                      <a:pPr marL="4445" marR="30480">
                        <a:lnSpc>
                          <a:spcPct val="100000"/>
                        </a:lnSpc>
                      </a:pPr>
                      <a:r>
                        <a:rPr dirty="0" sz="900">
                          <a:latin typeface="Microsoft YaHei"/>
                          <a:cs typeface="Microsoft YaHei"/>
                        </a:rPr>
                        <a:t>电信</a:t>
                      </a:r>
                      <a:r>
                        <a:rPr dirty="0" sz="900" spc="-10">
                          <a:latin typeface="Microsoft YaHei"/>
                          <a:cs typeface="Microsoft YaHei"/>
                        </a:rPr>
                        <a:t>FDD2100</a:t>
                      </a:r>
                      <a:r>
                        <a:rPr dirty="0" sz="900" spc="-20">
                          <a:latin typeface="Microsoft YaHei"/>
                          <a:cs typeface="Microsoft YaHei"/>
                        </a:rPr>
                        <a:t>、联通</a:t>
                      </a:r>
                      <a:endParaRPr sz="900">
                        <a:latin typeface="Microsoft YaHei"/>
                        <a:cs typeface="Microsoft YaHei"/>
                      </a:endParaRPr>
                    </a:p>
                    <a:p>
                      <a:pPr marL="4445" marR="30480">
                        <a:lnSpc>
                          <a:spcPct val="100000"/>
                        </a:lnSpc>
                      </a:pPr>
                      <a:r>
                        <a:rPr dirty="0" sz="900" spc="-10">
                          <a:latin typeface="Microsoft YaHei"/>
                          <a:cs typeface="Microsoft YaHei"/>
                        </a:rPr>
                        <a:t>WCDMA2100</a:t>
                      </a:r>
                      <a:endParaRPr sz="900">
                        <a:latin typeface="Microsoft YaHei"/>
                        <a:cs typeface="Microsoft YaHei"/>
                      </a:endParaRPr>
                    </a:p>
                  </a:txBody>
                  <a:tcPr marL="0" marR="0" marB="0" marT="6032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CDDE"/>
                    </a:solidFill>
                  </a:tcPr>
                </a:tc>
              </a:tr>
              <a:tr h="278765">
                <a:tc vMerge="1">
                  <a:txBody>
                    <a:bodyPr/>
                    <a:lstStyle/>
                    <a:p>
                      <a:pPr/>
                    </a:p>
                  </a:txBody>
                  <a:tcPr marL="0" marR="0" marB="0" marT="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00000"/>
                    </a:solidFill>
                  </a:tcPr>
                </a:tc>
                <a:tc>
                  <a:txBody>
                    <a:bodyPr/>
                    <a:lstStyle/>
                    <a:p>
                      <a:pPr marL="4445">
                        <a:lnSpc>
                          <a:spcPct val="100000"/>
                        </a:lnSpc>
                      </a:pPr>
                      <a:r>
                        <a:rPr dirty="0" sz="900">
                          <a:latin typeface="Microsoft YaHei"/>
                          <a:cs typeface="Microsoft YaHei"/>
                        </a:rPr>
                        <a:t>移动</a:t>
                      </a:r>
                      <a:r>
                        <a:rPr dirty="0" sz="900" spc="-10">
                          <a:latin typeface="Microsoft YaHei"/>
                          <a:cs typeface="Microsoft YaHei"/>
                        </a:rPr>
                        <a:t>TD-</a:t>
                      </a:r>
                      <a:r>
                        <a:rPr dirty="0" sz="900" spc="-25">
                          <a:latin typeface="Microsoft YaHei"/>
                          <a:cs typeface="Microsoft YaHei"/>
                        </a:rPr>
                        <a:t>LTE（E</a:t>
                      </a:r>
                      <a:r>
                        <a:rPr dirty="0" sz="900">
                          <a:latin typeface="Microsoft YaHei"/>
                          <a:cs typeface="Microsoft YaHei"/>
                        </a:rPr>
                        <a:t>频段）</a:t>
                      </a:r>
                      <a:r>
                        <a:rPr dirty="0" sz="900" spc="-20">
                          <a:latin typeface="Microsoft YaHei"/>
                          <a:cs typeface="Microsoft YaHei"/>
                        </a:rPr>
                        <a:t>、联通</a:t>
                      </a:r>
                      <a:endParaRPr sz="900">
                        <a:latin typeface="Microsoft YaHei"/>
                        <a:cs typeface="Microsoft YaHei"/>
                      </a:endParaRPr>
                    </a:p>
                    <a:p>
                      <a:pPr marL="4445">
                        <a:lnSpc>
                          <a:spcPts val="1015"/>
                        </a:lnSpc>
                      </a:pPr>
                      <a:r>
                        <a:rPr dirty="0" sz="900" spc="-10">
                          <a:latin typeface="Microsoft YaHei"/>
                          <a:cs typeface="Microsoft YaHei"/>
                        </a:rPr>
                        <a:t>WCDMA2100</a:t>
                      </a:r>
                      <a:endParaRPr sz="9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F"/>
                    </a:solidFill>
                  </a:tcPr>
                </a:tc>
                <a:tc>
                  <a:txBody>
                    <a:bodyPr/>
                    <a:lstStyle/>
                    <a:p>
                      <a:pPr marL="4445" marR="30480">
                        <a:lnSpc>
                          <a:spcPct val="100000"/>
                        </a:lnSpc>
                        <a:spcBef>
                          <a:spcPts val="540"/>
                        </a:spcBef>
                      </a:pPr>
                      <a:r>
                        <a:rPr dirty="0" sz="900">
                          <a:latin typeface="Microsoft YaHei"/>
                          <a:cs typeface="Microsoft YaHei"/>
                        </a:rPr>
                        <a:t>联通</a:t>
                      </a:r>
                      <a:r>
                        <a:rPr dirty="0" sz="900" spc="-10">
                          <a:latin typeface="Microsoft YaHei"/>
                          <a:cs typeface="Microsoft YaHei"/>
                        </a:rPr>
                        <a:t>WCDMA2100</a:t>
                      </a:r>
                      <a:endParaRPr sz="900">
                        <a:latin typeface="Microsoft YaHei"/>
                        <a:cs typeface="Microsoft YaHei"/>
                      </a:endParaRPr>
                    </a:p>
                  </a:txBody>
                  <a:tcPr marL="0" marR="0" marB="0" marT="685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F"/>
                    </a:solidFill>
                  </a:tcPr>
                </a:tc>
              </a:tr>
              <a:tr h="290830">
                <a:tc vMerge="1">
                  <a:txBody>
                    <a:bodyPr/>
                    <a:lstStyle/>
                    <a:p>
                      <a:pPr/>
                    </a:p>
                  </a:txBody>
                  <a:tcPr marL="0" marR="0" marB="0" marT="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00000"/>
                    </a:solidFill>
                  </a:tcPr>
                </a:tc>
                <a:tc>
                  <a:txBody>
                    <a:bodyPr/>
                    <a:lstStyle/>
                    <a:p>
                      <a:pPr marL="4445">
                        <a:lnSpc>
                          <a:spcPct val="100000"/>
                        </a:lnSpc>
                        <a:spcBef>
                          <a:spcPts val="585"/>
                        </a:spcBef>
                      </a:pPr>
                      <a:r>
                        <a:rPr dirty="0" sz="900">
                          <a:latin typeface="Microsoft YaHei"/>
                          <a:cs typeface="Microsoft YaHei"/>
                        </a:rPr>
                        <a:t>移动</a:t>
                      </a:r>
                      <a:r>
                        <a:rPr dirty="0" sz="900" spc="-10">
                          <a:latin typeface="Microsoft YaHei"/>
                          <a:cs typeface="Microsoft YaHei"/>
                        </a:rPr>
                        <a:t>TD-</a:t>
                      </a:r>
                      <a:r>
                        <a:rPr dirty="0" sz="900" spc="-15">
                          <a:latin typeface="Microsoft YaHei"/>
                          <a:cs typeface="Microsoft YaHei"/>
                        </a:rPr>
                        <a:t>LTE(F</a:t>
                      </a:r>
                      <a:r>
                        <a:rPr dirty="0" sz="900" spc="-5">
                          <a:latin typeface="Microsoft YaHei"/>
                          <a:cs typeface="Microsoft YaHei"/>
                        </a:rPr>
                        <a:t>频段)、联通</a:t>
                      </a:r>
                      <a:r>
                        <a:rPr dirty="0" sz="900" spc="-25">
                          <a:latin typeface="Microsoft YaHei"/>
                          <a:cs typeface="Microsoft YaHei"/>
                        </a:rPr>
                        <a:t>DCS</a:t>
                      </a:r>
                      <a:endParaRPr sz="900">
                        <a:latin typeface="Microsoft YaHei"/>
                        <a:cs typeface="Microsoft YaHei"/>
                      </a:endParaRPr>
                    </a:p>
                  </a:txBody>
                  <a:tcPr marL="0" marR="0" marB="0" marT="7429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CDDE"/>
                    </a:solidFill>
                  </a:tcPr>
                </a:tc>
                <a:tc>
                  <a:txBody>
                    <a:bodyPr/>
                    <a:lstStyle/>
                    <a:p>
                      <a:pPr marL="4445" marR="30480">
                        <a:lnSpc>
                          <a:spcPct val="100000"/>
                        </a:lnSpc>
                        <a:spcBef>
                          <a:spcPts val="45"/>
                        </a:spcBef>
                      </a:pPr>
                      <a:r>
                        <a:rPr dirty="0" sz="900">
                          <a:latin typeface="Microsoft YaHei"/>
                          <a:cs typeface="Microsoft YaHei"/>
                        </a:rPr>
                        <a:t>联通</a:t>
                      </a:r>
                      <a:r>
                        <a:rPr dirty="0" sz="900" spc="-10">
                          <a:latin typeface="Microsoft YaHei"/>
                          <a:cs typeface="Microsoft YaHei"/>
                        </a:rPr>
                        <a:t>WCDMA2100</a:t>
                      </a:r>
                      <a:r>
                        <a:rPr dirty="0" sz="900" spc="-20">
                          <a:latin typeface="Microsoft YaHei"/>
                          <a:cs typeface="Microsoft YaHei"/>
                        </a:rPr>
                        <a:t>、联通</a:t>
                      </a:r>
                      <a:endParaRPr sz="900">
                        <a:latin typeface="Microsoft YaHei"/>
                        <a:cs typeface="Microsoft YaHei"/>
                      </a:endParaRPr>
                    </a:p>
                    <a:p>
                      <a:pPr marL="4445" marR="30480">
                        <a:lnSpc>
                          <a:spcPts val="1065"/>
                        </a:lnSpc>
                      </a:pPr>
                      <a:r>
                        <a:rPr dirty="0" sz="900" spc="-10">
                          <a:latin typeface="Microsoft YaHei"/>
                          <a:cs typeface="Microsoft YaHei"/>
                        </a:rPr>
                        <a:t>FDD1800</a:t>
                      </a:r>
                      <a:r>
                        <a:rPr dirty="0" sz="900">
                          <a:latin typeface="Microsoft YaHei"/>
                          <a:cs typeface="Microsoft YaHei"/>
                        </a:rPr>
                        <a:t>、电信</a:t>
                      </a:r>
                      <a:r>
                        <a:rPr dirty="0" sz="900" spc="-10">
                          <a:latin typeface="Microsoft YaHei"/>
                          <a:cs typeface="Microsoft YaHei"/>
                        </a:rPr>
                        <a:t>FDD1800</a:t>
                      </a:r>
                      <a:endParaRPr sz="900">
                        <a:latin typeface="Microsoft YaHei"/>
                        <a:cs typeface="Microsoft YaHei"/>
                      </a:endParaRPr>
                    </a:p>
                  </a:txBody>
                  <a:tcPr marL="0" marR="0" marB="0" marT="57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CDDE"/>
                    </a:solidFill>
                  </a:tcPr>
                </a:tc>
              </a:tr>
              <a:tr h="147320">
                <a:tc vMerge="1">
                  <a:txBody>
                    <a:bodyPr/>
                    <a:lstStyle/>
                    <a:p>
                      <a:pPr/>
                    </a:p>
                  </a:txBody>
                  <a:tcPr marL="0" marR="0" marB="0" marT="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00000"/>
                    </a:solidFill>
                  </a:tcPr>
                </a:tc>
                <a:tc>
                  <a:txBody>
                    <a:bodyPr/>
                    <a:lstStyle/>
                    <a:p>
                      <a:pPr marL="4445">
                        <a:lnSpc>
                          <a:spcPts val="1040"/>
                        </a:lnSpc>
                        <a:spcBef>
                          <a:spcPts val="20"/>
                        </a:spcBef>
                      </a:pPr>
                      <a:r>
                        <a:rPr dirty="0" sz="900">
                          <a:latin typeface="Microsoft YaHei"/>
                          <a:cs typeface="Microsoft YaHei"/>
                        </a:rPr>
                        <a:t>电信</a:t>
                      </a:r>
                      <a:r>
                        <a:rPr dirty="0" sz="900" spc="-10">
                          <a:latin typeface="Microsoft YaHei"/>
                          <a:cs typeface="Microsoft YaHei"/>
                        </a:rPr>
                        <a:t>FDD1800</a:t>
                      </a:r>
                      <a:r>
                        <a:rPr dirty="0" sz="900">
                          <a:latin typeface="Microsoft YaHei"/>
                          <a:cs typeface="Microsoft YaHei"/>
                        </a:rPr>
                        <a:t>、电信</a:t>
                      </a:r>
                      <a:r>
                        <a:rPr dirty="0" sz="900" spc="-10">
                          <a:latin typeface="Microsoft YaHei"/>
                          <a:cs typeface="Microsoft YaHei"/>
                        </a:rPr>
                        <a:t>FDD2100</a:t>
                      </a:r>
                      <a:endParaRPr sz="900">
                        <a:latin typeface="Microsoft YaHei"/>
                        <a:cs typeface="Microsoft YaHei"/>
                      </a:endParaRPr>
                    </a:p>
                  </a:txBody>
                  <a:tcPr marL="0" marR="0" marB="0" marT="25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F"/>
                    </a:solidFill>
                  </a:tcPr>
                </a:tc>
                <a:tc>
                  <a:txBody>
                    <a:bodyPr/>
                    <a:lstStyle/>
                    <a:p>
                      <a:pPr marL="4445" marR="30480">
                        <a:lnSpc>
                          <a:spcPts val="1040"/>
                        </a:lnSpc>
                        <a:spcBef>
                          <a:spcPts val="20"/>
                        </a:spcBef>
                      </a:pPr>
                      <a:r>
                        <a:rPr dirty="0" sz="900">
                          <a:latin typeface="Microsoft YaHei"/>
                          <a:cs typeface="Microsoft YaHei"/>
                        </a:rPr>
                        <a:t>移动</a:t>
                      </a:r>
                      <a:r>
                        <a:rPr dirty="0" sz="900" spc="-10">
                          <a:latin typeface="Microsoft YaHei"/>
                          <a:cs typeface="Microsoft YaHei"/>
                        </a:rPr>
                        <a:t>TD-</a:t>
                      </a:r>
                      <a:r>
                        <a:rPr dirty="0" sz="900" spc="-25">
                          <a:latin typeface="Microsoft YaHei"/>
                          <a:cs typeface="Microsoft YaHei"/>
                        </a:rPr>
                        <a:t>LTE(E</a:t>
                      </a:r>
                      <a:r>
                        <a:rPr dirty="0" sz="900" spc="-20">
                          <a:latin typeface="Microsoft YaHei"/>
                          <a:cs typeface="Microsoft YaHei"/>
                        </a:rPr>
                        <a:t>频段)</a:t>
                      </a:r>
                      <a:endParaRPr sz="900">
                        <a:latin typeface="Microsoft YaHei"/>
                        <a:cs typeface="Microsoft YaHei"/>
                      </a:endParaRPr>
                    </a:p>
                  </a:txBody>
                  <a:tcPr marL="0" marR="0" marB="0" marT="25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F"/>
                    </a:solidFill>
                  </a:tcPr>
                </a:tc>
              </a:tr>
              <a:tr h="147320">
                <a:tc vMerge="1">
                  <a:txBody>
                    <a:bodyPr/>
                    <a:lstStyle/>
                    <a:p>
                      <a:pPr/>
                    </a:p>
                  </a:txBody>
                  <a:tcPr marL="0" marR="0" marB="0" marT="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00000"/>
                    </a:solidFill>
                  </a:tcPr>
                </a:tc>
                <a:tc>
                  <a:txBody>
                    <a:bodyPr/>
                    <a:lstStyle/>
                    <a:p>
                      <a:pPr marL="4445">
                        <a:lnSpc>
                          <a:spcPts val="1040"/>
                        </a:lnSpc>
                        <a:spcBef>
                          <a:spcPts val="20"/>
                        </a:spcBef>
                      </a:pPr>
                      <a:r>
                        <a:rPr dirty="0" sz="900">
                          <a:latin typeface="Microsoft YaHei"/>
                          <a:cs typeface="Microsoft YaHei"/>
                        </a:rPr>
                        <a:t>联通</a:t>
                      </a:r>
                      <a:r>
                        <a:rPr dirty="0" sz="900" spc="-10">
                          <a:latin typeface="Microsoft YaHei"/>
                          <a:cs typeface="Microsoft YaHei"/>
                        </a:rPr>
                        <a:t>FDD1800</a:t>
                      </a:r>
                      <a:r>
                        <a:rPr dirty="0" sz="900">
                          <a:latin typeface="Microsoft YaHei"/>
                          <a:cs typeface="Microsoft YaHei"/>
                        </a:rPr>
                        <a:t>、电信</a:t>
                      </a:r>
                      <a:r>
                        <a:rPr dirty="0" sz="900" spc="-10">
                          <a:latin typeface="Microsoft YaHei"/>
                          <a:cs typeface="Microsoft YaHei"/>
                        </a:rPr>
                        <a:t>FDD1800</a:t>
                      </a:r>
                      <a:endParaRPr sz="900">
                        <a:latin typeface="Microsoft YaHei"/>
                        <a:cs typeface="Microsoft YaHei"/>
                      </a:endParaRPr>
                    </a:p>
                  </a:txBody>
                  <a:tcPr marL="0" marR="0" marB="0" marT="25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CDDE"/>
                    </a:solidFill>
                  </a:tcPr>
                </a:tc>
                <a:tc>
                  <a:txBody>
                    <a:bodyPr/>
                    <a:lstStyle/>
                    <a:p>
                      <a:pPr marL="4445" marR="30480">
                        <a:lnSpc>
                          <a:spcPts val="1040"/>
                        </a:lnSpc>
                        <a:spcBef>
                          <a:spcPts val="20"/>
                        </a:spcBef>
                      </a:pPr>
                      <a:r>
                        <a:rPr dirty="0" sz="900">
                          <a:latin typeface="Microsoft YaHei"/>
                          <a:cs typeface="Microsoft YaHei"/>
                        </a:rPr>
                        <a:t>移动</a:t>
                      </a:r>
                      <a:r>
                        <a:rPr dirty="0" sz="900" spc="-10">
                          <a:latin typeface="Microsoft YaHei"/>
                          <a:cs typeface="Microsoft YaHei"/>
                        </a:rPr>
                        <a:t>TD-LTE1900</a:t>
                      </a:r>
                      <a:endParaRPr sz="900">
                        <a:latin typeface="Microsoft YaHei"/>
                        <a:cs typeface="Microsoft YaHei"/>
                      </a:endParaRPr>
                    </a:p>
                  </a:txBody>
                  <a:tcPr marL="0" marR="0" marB="0" marT="25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CDDE"/>
                    </a:solidFill>
                  </a:tcPr>
                </a:tc>
              </a:tr>
              <a:tr h="553085">
                <a:tc vMerge="1">
                  <a:txBody>
                    <a:bodyPr/>
                    <a:lstStyle/>
                    <a:p>
                      <a:pPr/>
                    </a:p>
                  </a:txBody>
                  <a:tcPr marL="0" marR="0" marB="0" marT="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00000"/>
                    </a:solidFill>
                  </a:tcPr>
                </a:tc>
                <a:tc>
                  <a:txBody>
                    <a:bodyPr/>
                    <a:lstStyle/>
                    <a:p>
                      <a:pPr>
                        <a:lnSpc>
                          <a:spcPct val="100000"/>
                        </a:lnSpc>
                        <a:spcBef>
                          <a:spcPts val="580"/>
                        </a:spcBef>
                      </a:pPr>
                      <a:endParaRPr sz="900">
                        <a:latin typeface="Times New Roman"/>
                        <a:cs typeface="Times New Roman"/>
                      </a:endParaRPr>
                    </a:p>
                    <a:p>
                      <a:pPr marL="4445">
                        <a:lnSpc>
                          <a:spcPct val="100000"/>
                        </a:lnSpc>
                        <a:spcBef>
                          <a:spcPts val="5"/>
                        </a:spcBef>
                      </a:pPr>
                      <a:r>
                        <a:rPr dirty="0" sz="900">
                          <a:latin typeface="Microsoft YaHei"/>
                          <a:cs typeface="Microsoft YaHei"/>
                        </a:rPr>
                        <a:t>移动</a:t>
                      </a:r>
                      <a:r>
                        <a:rPr dirty="0" sz="900" spc="-10">
                          <a:latin typeface="Microsoft YaHei"/>
                          <a:cs typeface="Microsoft YaHei"/>
                        </a:rPr>
                        <a:t>DCS</a:t>
                      </a:r>
                      <a:r>
                        <a:rPr dirty="0" sz="900">
                          <a:latin typeface="Microsoft YaHei"/>
                          <a:cs typeface="Microsoft YaHei"/>
                        </a:rPr>
                        <a:t>、移动</a:t>
                      </a:r>
                      <a:r>
                        <a:rPr dirty="0" sz="900" spc="-10">
                          <a:latin typeface="Microsoft YaHei"/>
                          <a:cs typeface="Microsoft YaHei"/>
                        </a:rPr>
                        <a:t>TD-</a:t>
                      </a:r>
                      <a:r>
                        <a:rPr dirty="0" sz="900" spc="-15">
                          <a:latin typeface="Microsoft YaHei"/>
                          <a:cs typeface="Microsoft YaHei"/>
                        </a:rPr>
                        <a:t>LTE(F</a:t>
                      </a:r>
                      <a:r>
                        <a:rPr dirty="0" sz="900" spc="-20">
                          <a:latin typeface="Microsoft YaHei"/>
                          <a:cs typeface="Microsoft YaHei"/>
                        </a:rPr>
                        <a:t>频段)</a:t>
                      </a:r>
                      <a:endParaRPr sz="900">
                        <a:latin typeface="Microsoft YaHei"/>
                        <a:cs typeface="Microsoft YaHei"/>
                      </a:endParaRPr>
                    </a:p>
                  </a:txBody>
                  <a:tcPr marL="0" marR="0" marB="0" marT="736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F"/>
                    </a:solidFill>
                  </a:tcPr>
                </a:tc>
                <a:tc>
                  <a:txBody>
                    <a:bodyPr/>
                    <a:lstStyle/>
                    <a:p>
                      <a:pPr marL="4445" marR="30480">
                        <a:lnSpc>
                          <a:spcPct val="100000"/>
                        </a:lnSpc>
                      </a:pPr>
                      <a:r>
                        <a:rPr dirty="0" sz="900">
                          <a:latin typeface="Microsoft YaHei"/>
                          <a:cs typeface="Microsoft YaHei"/>
                        </a:rPr>
                        <a:t>移动</a:t>
                      </a:r>
                      <a:r>
                        <a:rPr dirty="0" sz="900" spc="-10">
                          <a:latin typeface="Microsoft YaHei"/>
                          <a:cs typeface="Microsoft YaHei"/>
                        </a:rPr>
                        <a:t>TD-</a:t>
                      </a:r>
                      <a:r>
                        <a:rPr dirty="0" sz="900" spc="-15">
                          <a:latin typeface="Microsoft YaHei"/>
                          <a:cs typeface="Microsoft YaHei"/>
                        </a:rPr>
                        <a:t>LTE(F频段)、联通</a:t>
                      </a:r>
                      <a:endParaRPr sz="900">
                        <a:latin typeface="Microsoft YaHei"/>
                        <a:cs typeface="Microsoft YaHei"/>
                      </a:endParaRPr>
                    </a:p>
                    <a:p>
                      <a:pPr marL="4445">
                        <a:lnSpc>
                          <a:spcPct val="100000"/>
                        </a:lnSpc>
                      </a:pPr>
                      <a:r>
                        <a:rPr dirty="0" sz="900" spc="-10">
                          <a:latin typeface="Microsoft YaHei"/>
                          <a:cs typeface="Microsoft YaHei"/>
                        </a:rPr>
                        <a:t>FDD1800</a:t>
                      </a:r>
                      <a:r>
                        <a:rPr dirty="0" sz="900" spc="-5">
                          <a:latin typeface="Microsoft YaHei"/>
                          <a:cs typeface="Microsoft YaHei"/>
                        </a:rPr>
                        <a:t>、电信</a:t>
                      </a:r>
                      <a:r>
                        <a:rPr dirty="0" sz="900" spc="-10">
                          <a:latin typeface="Microsoft YaHei"/>
                          <a:cs typeface="Microsoft YaHei"/>
                        </a:rPr>
                        <a:t>FDD1800</a:t>
                      </a:r>
                      <a:r>
                        <a:rPr dirty="0" sz="900" spc="-50">
                          <a:latin typeface="Microsoft YaHei"/>
                          <a:cs typeface="Microsoft YaHei"/>
                        </a:rPr>
                        <a:t>、</a:t>
                      </a:r>
                      <a:endParaRPr sz="900">
                        <a:latin typeface="Microsoft YaHei"/>
                        <a:cs typeface="Microsoft YaHei"/>
                      </a:endParaRPr>
                    </a:p>
                    <a:p>
                      <a:pPr marL="4445" marR="30480">
                        <a:lnSpc>
                          <a:spcPct val="100000"/>
                        </a:lnSpc>
                      </a:pPr>
                      <a:r>
                        <a:rPr dirty="0" sz="900">
                          <a:latin typeface="Microsoft YaHei"/>
                          <a:cs typeface="Microsoft YaHei"/>
                        </a:rPr>
                        <a:t>电信</a:t>
                      </a:r>
                      <a:r>
                        <a:rPr dirty="0" sz="900" spc="-10">
                          <a:latin typeface="Microsoft YaHei"/>
                          <a:cs typeface="Microsoft YaHei"/>
                        </a:rPr>
                        <a:t>FDD2100</a:t>
                      </a:r>
                      <a:r>
                        <a:rPr dirty="0" sz="900" spc="-20">
                          <a:latin typeface="Microsoft YaHei"/>
                          <a:cs typeface="Microsoft YaHei"/>
                        </a:rPr>
                        <a:t>、联通</a:t>
                      </a:r>
                      <a:endParaRPr sz="900">
                        <a:latin typeface="Microsoft YaHei"/>
                        <a:cs typeface="Microsoft YaHei"/>
                      </a:endParaRPr>
                    </a:p>
                    <a:p>
                      <a:pPr marL="4445" marR="30480">
                        <a:lnSpc>
                          <a:spcPts val="1015"/>
                        </a:lnSpc>
                      </a:pPr>
                      <a:r>
                        <a:rPr dirty="0" sz="900" spc="-10">
                          <a:latin typeface="Microsoft YaHei"/>
                          <a:cs typeface="Microsoft YaHei"/>
                        </a:rPr>
                        <a:t>WCDMA2100</a:t>
                      </a:r>
                      <a:endParaRPr sz="9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F"/>
                    </a:solidFill>
                  </a:tcPr>
                </a:tc>
              </a:tr>
              <a:tr h="278765">
                <a:tc vMerge="1">
                  <a:txBody>
                    <a:bodyPr/>
                    <a:lstStyle/>
                    <a:p>
                      <a:pPr/>
                    </a:p>
                  </a:txBody>
                  <a:tcPr marL="0" marR="0" marB="0" marT="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00000"/>
                    </a:solidFill>
                  </a:tcPr>
                </a:tc>
                <a:tc>
                  <a:txBody>
                    <a:bodyPr/>
                    <a:lstStyle/>
                    <a:p>
                      <a:pPr marL="4445" marR="101600">
                        <a:lnSpc>
                          <a:spcPct val="100000"/>
                        </a:lnSpc>
                      </a:pPr>
                      <a:r>
                        <a:rPr dirty="0" sz="900">
                          <a:latin typeface="Microsoft YaHei"/>
                          <a:cs typeface="Microsoft YaHei"/>
                        </a:rPr>
                        <a:t>电信800、联通900</a:t>
                      </a:r>
                      <a:r>
                        <a:rPr dirty="0" sz="900" spc="-15">
                          <a:latin typeface="Microsoft YaHei"/>
                          <a:cs typeface="Microsoft YaHei"/>
                        </a:rPr>
                        <a:t>、联通/电</a:t>
                      </a:r>
                      <a:r>
                        <a:rPr dirty="0" sz="900">
                          <a:latin typeface="Microsoft YaHei"/>
                          <a:cs typeface="Microsoft YaHei"/>
                        </a:rPr>
                        <a:t>信</a:t>
                      </a:r>
                      <a:r>
                        <a:rPr dirty="0" sz="900" spc="-10">
                          <a:latin typeface="Microsoft YaHei"/>
                          <a:cs typeface="Microsoft YaHei"/>
                        </a:rPr>
                        <a:t>1.8GHz</a:t>
                      </a:r>
                      <a:endParaRPr sz="9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CDDE"/>
                    </a:solidFill>
                  </a:tcPr>
                </a:tc>
                <a:tc>
                  <a:txBody>
                    <a:bodyPr/>
                    <a:lstStyle/>
                    <a:p>
                      <a:pPr marL="4445" marR="30480">
                        <a:lnSpc>
                          <a:spcPct val="100000"/>
                        </a:lnSpc>
                      </a:pPr>
                      <a:r>
                        <a:rPr dirty="0" sz="900">
                          <a:latin typeface="Microsoft YaHei"/>
                          <a:cs typeface="Microsoft YaHei"/>
                        </a:rPr>
                        <a:t>电信</a:t>
                      </a:r>
                      <a:r>
                        <a:rPr dirty="0" sz="900" spc="-10">
                          <a:latin typeface="Microsoft YaHei"/>
                          <a:cs typeface="Microsoft YaHei"/>
                        </a:rPr>
                        <a:t>FDD2100</a:t>
                      </a:r>
                      <a:r>
                        <a:rPr dirty="0" sz="900" spc="-20">
                          <a:latin typeface="Microsoft YaHei"/>
                          <a:cs typeface="Microsoft YaHei"/>
                        </a:rPr>
                        <a:t>、联通</a:t>
                      </a:r>
                      <a:endParaRPr sz="900">
                        <a:latin typeface="Microsoft YaHei"/>
                        <a:cs typeface="Microsoft YaHei"/>
                      </a:endParaRPr>
                    </a:p>
                    <a:p>
                      <a:pPr marL="4445" marR="30480">
                        <a:lnSpc>
                          <a:spcPts val="1015"/>
                        </a:lnSpc>
                      </a:pPr>
                      <a:r>
                        <a:rPr dirty="0" sz="900" spc="-10">
                          <a:latin typeface="Microsoft YaHei"/>
                          <a:cs typeface="Microsoft YaHei"/>
                        </a:rPr>
                        <a:t>WCDMA2100</a:t>
                      </a:r>
                      <a:endParaRPr sz="9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CDDE"/>
                    </a:solidFill>
                  </a:tcPr>
                </a:tc>
              </a:tr>
              <a:tr h="147320">
                <a:tc rowSpan="2">
                  <a:txBody>
                    <a:bodyPr/>
                    <a:lstStyle/>
                    <a:p>
                      <a:pPr marL="194945">
                        <a:lnSpc>
                          <a:spcPct val="100000"/>
                        </a:lnSpc>
                        <a:spcBef>
                          <a:spcPts val="600"/>
                        </a:spcBef>
                      </a:pPr>
                      <a:r>
                        <a:rPr dirty="0" sz="900" spc="-15" b="1">
                          <a:solidFill>
                            <a:srgbClr val="FFFFFF"/>
                          </a:solidFill>
                          <a:latin typeface="Microsoft YaHei"/>
                          <a:cs typeface="Microsoft YaHei"/>
                        </a:rPr>
                        <a:t>二阶互调</a:t>
                      </a:r>
                      <a:endParaRPr sz="900">
                        <a:latin typeface="Microsoft YaHei"/>
                        <a:cs typeface="Microsoft YaHei"/>
                      </a:endParaRPr>
                    </a:p>
                  </a:txBody>
                  <a:tcPr marL="0" marR="0" marB="0" marT="762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00000"/>
                    </a:solidFill>
                  </a:tcPr>
                </a:tc>
                <a:tc>
                  <a:txBody>
                    <a:bodyPr/>
                    <a:lstStyle/>
                    <a:p>
                      <a:pPr marL="4445">
                        <a:lnSpc>
                          <a:spcPts val="1040"/>
                        </a:lnSpc>
                        <a:spcBef>
                          <a:spcPts val="20"/>
                        </a:spcBef>
                      </a:pPr>
                      <a:r>
                        <a:rPr dirty="0" sz="900">
                          <a:latin typeface="Microsoft YaHei"/>
                          <a:cs typeface="Microsoft YaHei"/>
                        </a:rPr>
                        <a:t>电信CDMA</a:t>
                      </a:r>
                      <a:r>
                        <a:rPr dirty="0" sz="900" spc="-40">
                          <a:latin typeface="Microsoft YaHei"/>
                          <a:cs typeface="Microsoft YaHei"/>
                        </a:rPr>
                        <a:t> </a:t>
                      </a:r>
                      <a:r>
                        <a:rPr dirty="0" sz="900" spc="-10">
                          <a:latin typeface="Microsoft YaHei"/>
                          <a:cs typeface="Microsoft YaHei"/>
                        </a:rPr>
                        <a:t>800MHz</a:t>
                      </a:r>
                      <a:endParaRPr sz="900">
                        <a:latin typeface="Microsoft YaHei"/>
                        <a:cs typeface="Microsoft YaHei"/>
                      </a:endParaRPr>
                    </a:p>
                  </a:txBody>
                  <a:tcPr marL="0" marR="0" marB="0" marT="25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F"/>
                    </a:solidFill>
                  </a:tcPr>
                </a:tc>
                <a:tc>
                  <a:txBody>
                    <a:bodyPr/>
                    <a:lstStyle/>
                    <a:p>
                      <a:pPr marL="4445" marR="30480">
                        <a:lnSpc>
                          <a:spcPts val="1040"/>
                        </a:lnSpc>
                        <a:spcBef>
                          <a:spcPts val="20"/>
                        </a:spcBef>
                      </a:pPr>
                      <a:r>
                        <a:rPr dirty="0" sz="900">
                          <a:latin typeface="Microsoft YaHei"/>
                          <a:cs typeface="Microsoft YaHei"/>
                        </a:rPr>
                        <a:t>联通</a:t>
                      </a:r>
                      <a:r>
                        <a:rPr dirty="0" sz="900" spc="-10">
                          <a:latin typeface="Microsoft YaHei"/>
                          <a:cs typeface="Microsoft YaHei"/>
                        </a:rPr>
                        <a:t>1.8GHz</a:t>
                      </a:r>
                      <a:r>
                        <a:rPr dirty="0" sz="900" spc="-25">
                          <a:latin typeface="Microsoft YaHei"/>
                          <a:cs typeface="Microsoft YaHei"/>
                        </a:rPr>
                        <a:t>上行</a:t>
                      </a:r>
                      <a:endParaRPr sz="900">
                        <a:latin typeface="Microsoft YaHei"/>
                        <a:cs typeface="Microsoft YaHei"/>
                      </a:endParaRPr>
                    </a:p>
                  </a:txBody>
                  <a:tcPr marL="0" marR="0" marB="0" marT="25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F"/>
                    </a:solidFill>
                  </a:tcPr>
                </a:tc>
              </a:tr>
              <a:tr h="147320">
                <a:tc vMerge="1">
                  <a:txBody>
                    <a:bodyPr/>
                    <a:lstStyle/>
                    <a:p>
                      <a:pPr/>
                    </a:p>
                  </a:txBody>
                  <a:tcPr marL="0" marR="0" marB="0" marT="762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00000"/>
                    </a:solidFill>
                  </a:tcPr>
                </a:tc>
                <a:tc>
                  <a:txBody>
                    <a:bodyPr/>
                    <a:lstStyle/>
                    <a:p>
                      <a:pPr marL="4445">
                        <a:lnSpc>
                          <a:spcPts val="1040"/>
                        </a:lnSpc>
                        <a:spcBef>
                          <a:spcPts val="20"/>
                        </a:spcBef>
                      </a:pPr>
                      <a:r>
                        <a:rPr dirty="0" sz="900" spc="-10">
                          <a:latin typeface="Microsoft YaHei"/>
                          <a:cs typeface="Microsoft YaHei"/>
                        </a:rPr>
                        <a:t>GSM900Mhz</a:t>
                      </a:r>
                      <a:endParaRPr sz="900">
                        <a:latin typeface="Microsoft YaHei"/>
                        <a:cs typeface="Microsoft YaHei"/>
                      </a:endParaRPr>
                    </a:p>
                  </a:txBody>
                  <a:tcPr marL="0" marR="0" marB="0" marT="25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CDDE"/>
                    </a:solidFill>
                  </a:tcPr>
                </a:tc>
                <a:tc>
                  <a:txBody>
                    <a:bodyPr/>
                    <a:lstStyle/>
                    <a:p>
                      <a:pPr marL="4445" marR="30480">
                        <a:lnSpc>
                          <a:spcPts val="1040"/>
                        </a:lnSpc>
                        <a:spcBef>
                          <a:spcPts val="20"/>
                        </a:spcBef>
                      </a:pPr>
                      <a:r>
                        <a:rPr dirty="0" sz="900">
                          <a:latin typeface="Microsoft YaHei"/>
                          <a:cs typeface="Microsoft YaHei"/>
                        </a:rPr>
                        <a:t>移动</a:t>
                      </a:r>
                      <a:r>
                        <a:rPr dirty="0" sz="900" spc="-10">
                          <a:latin typeface="Microsoft YaHei"/>
                          <a:cs typeface="Microsoft YaHei"/>
                        </a:rPr>
                        <a:t>TD-</a:t>
                      </a:r>
                      <a:r>
                        <a:rPr dirty="0" sz="900" spc="-15">
                          <a:latin typeface="Microsoft YaHei"/>
                          <a:cs typeface="Microsoft YaHei"/>
                        </a:rPr>
                        <a:t>LTE(F</a:t>
                      </a:r>
                      <a:r>
                        <a:rPr dirty="0" sz="900" spc="-20">
                          <a:latin typeface="Microsoft YaHei"/>
                          <a:cs typeface="Microsoft YaHei"/>
                        </a:rPr>
                        <a:t>频段)</a:t>
                      </a:r>
                      <a:endParaRPr sz="900">
                        <a:latin typeface="Microsoft YaHei"/>
                        <a:cs typeface="Microsoft YaHei"/>
                      </a:endParaRPr>
                    </a:p>
                  </a:txBody>
                  <a:tcPr marL="0" marR="0" marB="0" marT="25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CDDE"/>
                    </a:solidFill>
                  </a:tcPr>
                </a:tc>
              </a:tr>
            </a:tbl>
          </a:graphicData>
        </a:graphic>
      </p:graphicFrame>
      <p:sp>
        <p:nvSpPr>
          <p:cNvPr id="3" name="object 3" descr=""/>
          <p:cNvSpPr txBox="1"/>
          <p:nvPr/>
        </p:nvSpPr>
        <p:spPr>
          <a:xfrm>
            <a:off x="6260142" y="862867"/>
            <a:ext cx="1447800" cy="238760"/>
          </a:xfrm>
          <a:prstGeom prst="rect">
            <a:avLst/>
          </a:prstGeom>
        </p:spPr>
        <p:txBody>
          <a:bodyPr wrap="square" lIns="0" tIns="12065" rIns="0" bIns="0" rtlCol="0" vert="horz">
            <a:spAutoFit/>
          </a:bodyPr>
          <a:lstStyle/>
          <a:p>
            <a:pPr marL="12700">
              <a:lnSpc>
                <a:spcPct val="100000"/>
              </a:lnSpc>
              <a:spcBef>
                <a:spcPts val="95"/>
              </a:spcBef>
            </a:pPr>
            <a:r>
              <a:rPr dirty="0" sz="1400" spc="-25" b="1">
                <a:solidFill>
                  <a:srgbClr val="C00000"/>
                </a:solidFill>
                <a:latin typeface="Microsoft JhengHei"/>
                <a:cs typeface="Microsoft JhengHei"/>
              </a:rPr>
              <a:t>主要互调干扰场景</a:t>
            </a:r>
            <a:endParaRPr sz="1400">
              <a:latin typeface="Microsoft JhengHei"/>
              <a:cs typeface="Microsoft JhengHei"/>
            </a:endParaRPr>
          </a:p>
        </p:txBody>
      </p:sp>
      <p:sp>
        <p:nvSpPr>
          <p:cNvPr id="4" name="object 4" descr=""/>
          <p:cNvSpPr txBox="1"/>
          <p:nvPr/>
        </p:nvSpPr>
        <p:spPr>
          <a:xfrm>
            <a:off x="107505" y="1105674"/>
            <a:ext cx="4768850" cy="2447290"/>
          </a:xfrm>
          <a:prstGeom prst="rect">
            <a:avLst/>
          </a:prstGeom>
          <a:ln w="25400">
            <a:solidFill>
              <a:srgbClr val="C00000"/>
            </a:solidFill>
          </a:ln>
        </p:spPr>
        <p:txBody>
          <a:bodyPr wrap="square" lIns="0" tIns="19050" rIns="0" bIns="0" rtlCol="0" vert="horz">
            <a:spAutoFit/>
          </a:bodyPr>
          <a:lstStyle/>
          <a:p>
            <a:pPr algn="just" marL="262255" marR="170815" indent="-171450">
              <a:lnSpc>
                <a:spcPct val="130000"/>
              </a:lnSpc>
              <a:spcBef>
                <a:spcPts val="150"/>
              </a:spcBef>
              <a:buClr>
                <a:srgbClr val="FF0000"/>
              </a:buClr>
              <a:buFont typeface="Wingdings"/>
              <a:buChar char=""/>
              <a:tabLst>
                <a:tab pos="262255" algn="l"/>
              </a:tabLst>
            </a:pPr>
            <a:r>
              <a:rPr dirty="0" sz="1100" spc="-25">
                <a:latin typeface="Microsoft YaHei"/>
                <a:cs typeface="Microsoft YaHei"/>
              </a:rPr>
              <a:t>干扰成因：多个无线通信系统共存时，由于发射和接收频段的重叠、邻</a:t>
            </a:r>
            <a:r>
              <a:rPr dirty="0" sz="1100" spc="-20">
                <a:latin typeface="Microsoft YaHei"/>
                <a:cs typeface="Microsoft YaHei"/>
              </a:rPr>
              <a:t>近，发射机和接收机的非理想化（</a:t>
            </a:r>
            <a:r>
              <a:rPr dirty="0" sz="1100" spc="-25">
                <a:latin typeface="Microsoft YaHei"/>
                <a:cs typeface="Microsoft YaHei"/>
              </a:rPr>
              <a:t>无法将信号范围完美局限于设定的频</a:t>
            </a:r>
            <a:r>
              <a:rPr dirty="0" sz="1100" spc="-20">
                <a:latin typeface="Microsoft YaHei"/>
                <a:cs typeface="Microsoft YaHei"/>
              </a:rPr>
              <a:t>段内），</a:t>
            </a:r>
            <a:r>
              <a:rPr dirty="0" sz="1100" spc="-25">
                <a:latin typeface="Microsoft YaHei"/>
                <a:cs typeface="Microsoft YaHei"/>
              </a:rPr>
              <a:t>以及多个不同频率作用在非线性器件会产生谐波和组合频率分量等因素，常常造成系统间的干扰问题。</a:t>
            </a:r>
            <a:endParaRPr sz="1100">
              <a:latin typeface="Microsoft YaHei"/>
              <a:cs typeface="Microsoft YaHei"/>
            </a:endParaRPr>
          </a:p>
          <a:p>
            <a:pPr algn="just" marL="261620" indent="-170815">
              <a:lnSpc>
                <a:spcPct val="100000"/>
              </a:lnSpc>
              <a:spcBef>
                <a:spcPts val="700"/>
              </a:spcBef>
              <a:buClr>
                <a:srgbClr val="FF0000"/>
              </a:buClr>
              <a:buFont typeface="Wingdings"/>
              <a:buChar char=""/>
              <a:tabLst>
                <a:tab pos="261620" algn="l"/>
              </a:tabLst>
            </a:pPr>
            <a:r>
              <a:rPr dirty="0" sz="1100" spc="-20">
                <a:latin typeface="Microsoft YaHei"/>
                <a:cs typeface="Microsoft YaHei"/>
              </a:rPr>
              <a:t>干扰分类：杂散干扰、</a:t>
            </a:r>
            <a:r>
              <a:rPr dirty="0" sz="1100" spc="-20">
                <a:solidFill>
                  <a:srgbClr val="FF0000"/>
                </a:solidFill>
                <a:latin typeface="Microsoft YaHei"/>
                <a:cs typeface="Microsoft YaHei"/>
              </a:rPr>
              <a:t>互调干扰</a:t>
            </a:r>
            <a:r>
              <a:rPr dirty="0" sz="1100" spc="-25">
                <a:latin typeface="Microsoft YaHei"/>
                <a:cs typeface="Microsoft YaHei"/>
              </a:rPr>
              <a:t>、阻塞干扰。</a:t>
            </a:r>
            <a:endParaRPr sz="1100">
              <a:latin typeface="Microsoft YaHei"/>
              <a:cs typeface="Microsoft YaHei"/>
            </a:endParaRPr>
          </a:p>
          <a:p>
            <a:pPr marL="261620" indent="-170815">
              <a:lnSpc>
                <a:spcPct val="100000"/>
              </a:lnSpc>
              <a:spcBef>
                <a:spcPts val="695"/>
              </a:spcBef>
              <a:buClr>
                <a:srgbClr val="FF0000"/>
              </a:buClr>
              <a:buFont typeface="Wingdings"/>
              <a:buChar char=""/>
              <a:tabLst>
                <a:tab pos="261620" algn="l"/>
              </a:tabLst>
            </a:pPr>
            <a:r>
              <a:rPr dirty="0" sz="1100" spc="-30">
                <a:latin typeface="Microsoft YaHei"/>
                <a:cs typeface="Microsoft YaHei"/>
              </a:rPr>
              <a:t>实际危害</a:t>
            </a:r>
            <a:endParaRPr sz="1100">
              <a:latin typeface="Microsoft YaHei"/>
              <a:cs typeface="Microsoft YaHei"/>
            </a:endParaRPr>
          </a:p>
          <a:p>
            <a:pPr lvl="1" marL="262255" marR="197485" indent="-1905">
              <a:lnSpc>
                <a:spcPct val="130000"/>
              </a:lnSpc>
              <a:spcBef>
                <a:spcPts val="300"/>
              </a:spcBef>
              <a:buClr>
                <a:srgbClr val="FF0000"/>
              </a:buClr>
              <a:buSzPct val="90909"/>
              <a:buFont typeface="Wingdings"/>
              <a:buChar char=""/>
              <a:tabLst>
                <a:tab pos="374650" algn="l"/>
              </a:tabLst>
            </a:pPr>
            <a:r>
              <a:rPr dirty="0" sz="1100" spc="-25">
                <a:latin typeface="Microsoft YaHei"/>
                <a:cs typeface="Microsoft YaHei"/>
              </a:rPr>
              <a:t>	</a:t>
            </a:r>
            <a:r>
              <a:rPr dirty="0" sz="1100" spc="-25">
                <a:latin typeface="Microsoft YaHei"/>
                <a:cs typeface="Microsoft YaHei"/>
              </a:rPr>
              <a:t>杂散和阻塞干扰：在标准制定时，就对各系统发射机和接收机性能提出严格限制，以尽量规避相互间可能产生的杂散和互调干扰。</a:t>
            </a:r>
            <a:endParaRPr sz="1100">
              <a:latin typeface="Microsoft YaHei"/>
              <a:cs typeface="Microsoft YaHei"/>
            </a:endParaRPr>
          </a:p>
          <a:p>
            <a:pPr lvl="1" marL="262255" marR="197485" indent="-1905">
              <a:lnSpc>
                <a:spcPct val="130000"/>
              </a:lnSpc>
              <a:spcBef>
                <a:spcPts val="300"/>
              </a:spcBef>
              <a:buClr>
                <a:srgbClr val="FF0000"/>
              </a:buClr>
              <a:buSzPct val="90909"/>
              <a:buFont typeface="Wingdings"/>
              <a:buChar char=""/>
              <a:tabLst>
                <a:tab pos="374650" algn="l"/>
              </a:tabLst>
            </a:pPr>
            <a:r>
              <a:rPr dirty="0" sz="1100" spc="-25">
                <a:latin typeface="Microsoft YaHei"/>
                <a:cs typeface="Microsoft YaHei"/>
              </a:rPr>
              <a:t>	</a:t>
            </a:r>
            <a:r>
              <a:rPr dirty="0" sz="1100" spc="-25">
                <a:latin typeface="Microsoft YaHei"/>
                <a:cs typeface="Microsoft YaHei"/>
              </a:rPr>
              <a:t>互调干扰：产生于信号传输的整个媒介器件系统，是多系统共享室分享时的主要干扰来源，且难以控制。</a:t>
            </a:r>
            <a:endParaRPr sz="1100">
              <a:latin typeface="Microsoft YaHei"/>
              <a:cs typeface="Microsoft YaHei"/>
            </a:endParaRPr>
          </a:p>
        </p:txBody>
      </p:sp>
      <p:pic>
        <p:nvPicPr>
          <p:cNvPr id="5" name="object 5"/>
          <p:cNvPicPr/>
          <p:nvPr/>
        </p:nvPicPr>
        <p:blipFill>
          <a:blip r:embed="rId2" cstate="print"/>
          <a:stretch>
            <a:fillRect/>
          </a:stretch>
        </p:blipFill>
        <p:spPr>
          <a:xfrm>
            <a:off x="612953" y="3690552"/>
            <a:ext cx="1798802" cy="1102715"/>
          </a:xfrm>
          <a:prstGeom prst="rect">
            <a:avLst/>
          </a:prstGeom>
        </p:spPr>
      </p:pic>
      <p:pic>
        <p:nvPicPr>
          <p:cNvPr id="6" name="object 6"/>
          <p:cNvPicPr/>
          <p:nvPr/>
        </p:nvPicPr>
        <p:blipFill>
          <a:blip r:embed="rId3" cstate="print"/>
          <a:stretch>
            <a:fillRect/>
          </a:stretch>
        </p:blipFill>
        <p:spPr>
          <a:xfrm>
            <a:off x="2537523" y="3562350"/>
            <a:ext cx="1962467" cy="1363687"/>
          </a:xfrm>
          <a:prstGeom prst="rect">
            <a:avLst/>
          </a:prstGeom>
        </p:spPr>
      </p:pic>
      <p:sp>
        <p:nvSpPr>
          <p:cNvPr id="7" name="object 7" descr=""/>
          <p:cNvSpPr txBox="1"/>
          <p:nvPr/>
        </p:nvSpPr>
        <p:spPr>
          <a:xfrm>
            <a:off x="763734" y="4734159"/>
            <a:ext cx="1170940" cy="178435"/>
          </a:xfrm>
          <a:prstGeom prst="rect">
            <a:avLst/>
          </a:prstGeom>
        </p:spPr>
        <p:txBody>
          <a:bodyPr wrap="square" lIns="0" tIns="12700" rIns="0" bIns="0" rtlCol="0" vert="horz">
            <a:spAutoFit/>
          </a:bodyPr>
          <a:lstStyle/>
          <a:p>
            <a:pPr marL="12700">
              <a:lnSpc>
                <a:spcPct val="100000"/>
              </a:lnSpc>
              <a:spcBef>
                <a:spcPts val="100"/>
              </a:spcBef>
            </a:pPr>
            <a:r>
              <a:rPr dirty="0" sz="1000" spc="-10">
                <a:latin typeface="Microsoft YaHei"/>
                <a:cs typeface="Microsoft YaHei"/>
              </a:rPr>
              <a:t>信号发射机射频特征</a:t>
            </a:r>
            <a:endParaRPr sz="1000">
              <a:latin typeface="Microsoft YaHei"/>
              <a:cs typeface="Microsoft YaHei"/>
            </a:endParaRPr>
          </a:p>
        </p:txBody>
      </p:sp>
      <p:sp>
        <p:nvSpPr>
          <p:cNvPr id="8" name="object 8" descr=""/>
          <p:cNvSpPr txBox="1"/>
          <p:nvPr/>
        </p:nvSpPr>
        <p:spPr>
          <a:xfrm>
            <a:off x="2897274" y="4734159"/>
            <a:ext cx="1170940" cy="178435"/>
          </a:xfrm>
          <a:prstGeom prst="rect">
            <a:avLst/>
          </a:prstGeom>
        </p:spPr>
        <p:txBody>
          <a:bodyPr wrap="square" lIns="0" tIns="12700" rIns="0" bIns="0" rtlCol="0" vert="horz">
            <a:spAutoFit/>
          </a:bodyPr>
          <a:lstStyle/>
          <a:p>
            <a:pPr marL="12700">
              <a:lnSpc>
                <a:spcPct val="100000"/>
              </a:lnSpc>
              <a:spcBef>
                <a:spcPts val="100"/>
              </a:spcBef>
            </a:pPr>
            <a:r>
              <a:rPr dirty="0" sz="1000" spc="-10">
                <a:latin typeface="Microsoft YaHei"/>
                <a:cs typeface="Microsoft YaHei"/>
              </a:rPr>
              <a:t>信号接收机性能特征</a:t>
            </a:r>
            <a:endParaRPr sz="1000">
              <a:latin typeface="Microsoft YaHei"/>
              <a:cs typeface="Microsoft YaHei"/>
            </a:endParaRPr>
          </a:p>
        </p:txBody>
      </p:sp>
      <p:sp>
        <p:nvSpPr>
          <p:cNvPr id="9" name="object 9"/>
          <p:cNvSpPr txBox="1">
            <a:spLocks noGrp="1"/>
          </p:cNvSpPr>
          <p:nvPr>
            <p:ph type="title"/>
          </p:nvPr>
        </p:nvSpPr>
        <p:spPr>
          <a:xfrm>
            <a:off x="1994195" y="179529"/>
            <a:ext cx="5312410" cy="513080"/>
          </a:xfrm>
          <a:prstGeom prst="rect"/>
        </p:spPr>
        <p:txBody>
          <a:bodyPr wrap="square" lIns="0" tIns="12065" rIns="0" bIns="0" rtlCol="0" vert="horz">
            <a:spAutoFit/>
          </a:bodyPr>
          <a:lstStyle/>
          <a:p>
            <a:pPr marL="12700">
              <a:lnSpc>
                <a:spcPct val="100000"/>
              </a:lnSpc>
              <a:spcBef>
                <a:spcPts val="95"/>
              </a:spcBef>
            </a:pPr>
            <a:r>
              <a:rPr dirty="0" spc="-45"/>
              <a:t>现有室内网络存在多系统干扰</a:t>
            </a:r>
          </a:p>
        </p:txBody>
      </p:sp>
      <p:sp>
        <p:nvSpPr>
          <p:cNvPr id="10" name="object 10" descr=""/>
          <p:cNvSpPr txBox="1"/>
          <p:nvPr/>
        </p:nvSpPr>
        <p:spPr>
          <a:xfrm>
            <a:off x="1003330" y="846522"/>
            <a:ext cx="2691765" cy="238760"/>
          </a:xfrm>
          <a:prstGeom prst="rect">
            <a:avLst/>
          </a:prstGeom>
        </p:spPr>
        <p:txBody>
          <a:bodyPr wrap="square" lIns="0" tIns="12065" rIns="0" bIns="0" rtlCol="0" vert="horz">
            <a:spAutoFit/>
          </a:bodyPr>
          <a:lstStyle/>
          <a:p>
            <a:pPr marL="12700">
              <a:lnSpc>
                <a:spcPct val="100000"/>
              </a:lnSpc>
              <a:spcBef>
                <a:spcPts val="95"/>
              </a:spcBef>
            </a:pPr>
            <a:r>
              <a:rPr dirty="0" sz="1400" spc="-25" b="1">
                <a:solidFill>
                  <a:srgbClr val="CC3300"/>
                </a:solidFill>
                <a:latin typeface="Microsoft JhengHei"/>
                <a:cs typeface="Microsoft JhengHei"/>
              </a:rPr>
              <a:t>现有室内网络多系统干扰情况分析</a:t>
            </a:r>
            <a:endParaRPr sz="1400">
              <a:latin typeface="Microsoft JhengHei"/>
              <a:cs typeface="Microsoft JhengHe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8857" y="154134"/>
            <a:ext cx="3686810" cy="513080"/>
          </a:xfrm>
          <a:prstGeom prst="rect"/>
        </p:spPr>
        <p:txBody>
          <a:bodyPr wrap="square" lIns="0" tIns="12065" rIns="0" bIns="0" rtlCol="0" vert="horz">
            <a:spAutoFit/>
          </a:bodyPr>
          <a:lstStyle/>
          <a:p>
            <a:pPr marL="12700">
              <a:lnSpc>
                <a:spcPct val="100000"/>
              </a:lnSpc>
              <a:spcBef>
                <a:spcPts val="95"/>
              </a:spcBef>
            </a:pPr>
            <a:r>
              <a:rPr dirty="0" spc="-45"/>
              <a:t>室内干扰的规避措施</a:t>
            </a:r>
          </a:p>
        </p:txBody>
      </p:sp>
      <p:sp>
        <p:nvSpPr>
          <p:cNvPr id="3" name="object 3" descr=""/>
          <p:cNvSpPr/>
          <p:nvPr/>
        </p:nvSpPr>
        <p:spPr>
          <a:xfrm>
            <a:off x="3469957" y="1102525"/>
            <a:ext cx="2536190" cy="3860165"/>
          </a:xfrm>
          <a:custGeom>
            <a:avLst/>
            <a:gdLst/>
            <a:ahLst/>
            <a:cxnLst/>
            <a:rect l="l" t="t" r="r" b="b"/>
            <a:pathLst>
              <a:path w="2536190" h="3860165">
                <a:moveTo>
                  <a:pt x="0" y="0"/>
                </a:moveTo>
                <a:lnTo>
                  <a:pt x="2535758" y="0"/>
                </a:lnTo>
                <a:lnTo>
                  <a:pt x="2535758" y="3860063"/>
                </a:lnTo>
                <a:lnTo>
                  <a:pt x="0" y="3860063"/>
                </a:lnTo>
                <a:lnTo>
                  <a:pt x="0" y="0"/>
                </a:lnTo>
                <a:close/>
              </a:path>
            </a:pathLst>
          </a:custGeom>
          <a:ln w="25399">
            <a:solidFill>
              <a:srgbClr val="00B050"/>
            </a:solidFill>
          </a:ln>
        </p:spPr>
        <p:txBody>
          <a:bodyPr wrap="square" lIns="0" tIns="0" rIns="0" bIns="0" rtlCol="0"/>
          <a:lstStyle/>
          <a:p/>
        </p:txBody>
      </p:sp>
      <p:sp>
        <p:nvSpPr>
          <p:cNvPr id="4" name="object 4" descr=""/>
          <p:cNvSpPr txBox="1"/>
          <p:nvPr/>
        </p:nvSpPr>
        <p:spPr>
          <a:xfrm>
            <a:off x="3548679" y="1111450"/>
            <a:ext cx="2376170" cy="3782060"/>
          </a:xfrm>
          <a:prstGeom prst="rect">
            <a:avLst/>
          </a:prstGeom>
        </p:spPr>
        <p:txBody>
          <a:bodyPr wrap="square" lIns="0" tIns="12700" rIns="0" bIns="0" rtlCol="0" vert="horz">
            <a:spAutoFit/>
          </a:bodyPr>
          <a:lstStyle/>
          <a:p>
            <a:pPr marL="184150" marR="5080" indent="-171450">
              <a:lnSpc>
                <a:spcPct val="130000"/>
              </a:lnSpc>
              <a:spcBef>
                <a:spcPts val="100"/>
              </a:spcBef>
              <a:buClr>
                <a:srgbClr val="FF0000"/>
              </a:buClr>
              <a:buFont typeface="Wingdings"/>
              <a:buChar char=""/>
              <a:tabLst>
                <a:tab pos="184150" algn="l"/>
              </a:tabLst>
            </a:pPr>
            <a:r>
              <a:rPr dirty="0" sz="1000" spc="-10">
                <a:latin typeface="Microsoft YaHei"/>
                <a:cs typeface="Microsoft YaHei"/>
              </a:rPr>
              <a:t>POI：互调抑制指标达到≤-150dBc@ 2*43dBm；POI</a:t>
            </a:r>
            <a:r>
              <a:rPr dirty="0" sz="1000" spc="-15">
                <a:latin typeface="Microsoft YaHei"/>
                <a:cs typeface="Microsoft YaHei"/>
              </a:rPr>
              <a:t>输出空余端口应接假负</a:t>
            </a:r>
            <a:r>
              <a:rPr dirty="0" sz="1000">
                <a:latin typeface="Microsoft YaHei"/>
                <a:cs typeface="Microsoft YaHei"/>
              </a:rPr>
              <a:t>载</a:t>
            </a:r>
            <a:r>
              <a:rPr dirty="0" sz="1000" spc="-10">
                <a:latin typeface="Microsoft YaHei"/>
                <a:cs typeface="Microsoft YaHei"/>
              </a:rPr>
              <a:t>（200W，PIM≤-150dBc@2*43 dBm）</a:t>
            </a:r>
            <a:r>
              <a:rPr dirty="0" sz="1000" spc="-50">
                <a:latin typeface="Microsoft YaHei"/>
                <a:cs typeface="Microsoft YaHei"/>
              </a:rPr>
              <a:t>。</a:t>
            </a:r>
            <a:endParaRPr sz="1000">
              <a:latin typeface="Microsoft YaHei"/>
              <a:cs typeface="Microsoft YaHei"/>
            </a:endParaRPr>
          </a:p>
          <a:p>
            <a:pPr marL="184150" marR="43815" indent="-171450">
              <a:lnSpc>
                <a:spcPct val="130000"/>
              </a:lnSpc>
              <a:spcBef>
                <a:spcPts val="300"/>
              </a:spcBef>
              <a:buClr>
                <a:srgbClr val="FF0000"/>
              </a:buClr>
              <a:buFont typeface="Wingdings"/>
              <a:buChar char=""/>
              <a:tabLst>
                <a:tab pos="184150" algn="l"/>
              </a:tabLst>
            </a:pPr>
            <a:r>
              <a:rPr dirty="0" sz="1000" spc="-10">
                <a:latin typeface="Microsoft YaHei"/>
                <a:cs typeface="Microsoft YaHei"/>
              </a:rPr>
              <a:t>无源器件： 分布系统前三级采用</a:t>
            </a:r>
            <a:r>
              <a:rPr dirty="0" sz="1000" spc="-50">
                <a:latin typeface="Microsoft YaHei"/>
                <a:cs typeface="Microsoft YaHei"/>
              </a:rPr>
              <a:t> </a:t>
            </a:r>
            <a:r>
              <a:rPr dirty="0" sz="1000" spc="-10">
                <a:latin typeface="Microsoft YaHei"/>
                <a:cs typeface="Microsoft YaHei"/>
              </a:rPr>
              <a:t>500W/-</a:t>
            </a:r>
            <a:r>
              <a:rPr dirty="0" sz="1000">
                <a:latin typeface="Microsoft YaHei"/>
                <a:cs typeface="Microsoft YaHei"/>
              </a:rPr>
              <a:t>150dBc</a:t>
            </a:r>
            <a:r>
              <a:rPr dirty="0" sz="1000" spc="-20">
                <a:latin typeface="Microsoft YaHei"/>
                <a:cs typeface="Microsoft YaHei"/>
              </a:rPr>
              <a:t>高品质器件(含负载)；</a:t>
            </a:r>
            <a:r>
              <a:rPr dirty="0" sz="1000">
                <a:latin typeface="Microsoft YaHei"/>
                <a:cs typeface="Microsoft YaHei"/>
              </a:rPr>
              <a:t>三级以后可采用</a:t>
            </a:r>
            <a:r>
              <a:rPr dirty="0" sz="1000" spc="-10">
                <a:latin typeface="Microsoft YaHei"/>
                <a:cs typeface="Microsoft YaHei"/>
              </a:rPr>
              <a:t>300W/-140dBc</a:t>
            </a:r>
            <a:r>
              <a:rPr dirty="0" sz="1000" spc="-50">
                <a:latin typeface="Microsoft YaHei"/>
                <a:cs typeface="Microsoft YaHei"/>
              </a:rPr>
              <a:t>。</a:t>
            </a:r>
            <a:endParaRPr sz="1000">
              <a:latin typeface="Microsoft YaHei"/>
              <a:cs typeface="Microsoft YaHei"/>
            </a:endParaRPr>
          </a:p>
          <a:p>
            <a:pPr marL="184150" marR="22225" indent="-171450">
              <a:lnSpc>
                <a:spcPct val="130000"/>
              </a:lnSpc>
              <a:spcBef>
                <a:spcPts val="300"/>
              </a:spcBef>
              <a:buClr>
                <a:srgbClr val="FF0000"/>
              </a:buClr>
              <a:buFont typeface="Wingdings"/>
              <a:buChar char=""/>
              <a:tabLst>
                <a:tab pos="184150" algn="l"/>
              </a:tabLst>
            </a:pPr>
            <a:r>
              <a:rPr dirty="0" sz="1000" spc="-5">
                <a:latin typeface="Microsoft YaHei"/>
                <a:cs typeface="Microsoft YaHei"/>
              </a:rPr>
              <a:t>馈线接头：普通楼宇类室分</a:t>
            </a:r>
            <a:r>
              <a:rPr dirty="0" sz="1000" spc="-20">
                <a:latin typeface="Microsoft YaHei"/>
                <a:cs typeface="Microsoft YaHei"/>
              </a:rPr>
              <a:t>PIM≤- </a:t>
            </a:r>
            <a:r>
              <a:rPr dirty="0" sz="1000" spc="-10">
                <a:latin typeface="Microsoft YaHei"/>
                <a:cs typeface="Microsoft YaHei"/>
              </a:rPr>
              <a:t>150dBc@2*43dBm</a:t>
            </a:r>
            <a:r>
              <a:rPr dirty="0" sz="1000" spc="-15">
                <a:latin typeface="Microsoft YaHei"/>
                <a:cs typeface="Microsoft YaHei"/>
              </a:rPr>
              <a:t>，高铁/地铁/机场</a:t>
            </a:r>
            <a:r>
              <a:rPr dirty="0" sz="1000">
                <a:latin typeface="Microsoft YaHei"/>
                <a:cs typeface="Microsoft YaHei"/>
              </a:rPr>
              <a:t>等项目PIM</a:t>
            </a:r>
            <a:r>
              <a:rPr dirty="0" sz="1000" spc="-20">
                <a:latin typeface="Microsoft YaHei"/>
                <a:cs typeface="Microsoft YaHei"/>
              </a:rPr>
              <a:t> ≤-</a:t>
            </a:r>
            <a:r>
              <a:rPr dirty="0" sz="1000">
                <a:latin typeface="Microsoft YaHei"/>
                <a:cs typeface="Microsoft YaHei"/>
              </a:rPr>
              <a:t>155dBc@2*43dBm</a:t>
            </a:r>
            <a:r>
              <a:rPr dirty="0" sz="1000" spc="-50">
                <a:latin typeface="Microsoft YaHei"/>
                <a:cs typeface="Microsoft YaHei"/>
              </a:rPr>
              <a:t> ；</a:t>
            </a:r>
            <a:r>
              <a:rPr dirty="0" sz="1000" spc="-5">
                <a:latin typeface="Microsoft YaHei"/>
                <a:cs typeface="Microsoft YaHei"/>
              </a:rPr>
              <a:t>谨慎采用“直角弯头”</a:t>
            </a:r>
            <a:r>
              <a:rPr dirty="0" sz="1000" spc="-10">
                <a:latin typeface="Microsoft YaHei"/>
                <a:cs typeface="Microsoft YaHei"/>
              </a:rPr>
              <a:t>（</a:t>
            </a:r>
            <a:r>
              <a:rPr dirty="0" sz="1000" spc="-15">
                <a:latin typeface="Microsoft YaHei"/>
                <a:cs typeface="Microsoft YaHei"/>
              </a:rPr>
              <a:t>实际产品互调</a:t>
            </a:r>
            <a:r>
              <a:rPr dirty="0" sz="1000">
                <a:latin typeface="Microsoft YaHei"/>
                <a:cs typeface="Microsoft YaHei"/>
              </a:rPr>
              <a:t>指标较差，尽量少</a:t>
            </a:r>
            <a:r>
              <a:rPr dirty="0" sz="1000" spc="-50">
                <a:latin typeface="Microsoft YaHei"/>
                <a:cs typeface="Microsoft YaHei"/>
              </a:rPr>
              <a:t>）</a:t>
            </a:r>
            <a:endParaRPr sz="1000">
              <a:latin typeface="Microsoft YaHei"/>
              <a:cs typeface="Microsoft YaHei"/>
            </a:endParaRPr>
          </a:p>
          <a:p>
            <a:pPr marL="184150" marR="1031875" indent="-171450">
              <a:lnSpc>
                <a:spcPct val="130000"/>
              </a:lnSpc>
              <a:spcBef>
                <a:spcPts val="295"/>
              </a:spcBef>
              <a:buClr>
                <a:srgbClr val="FF0000"/>
              </a:buClr>
              <a:buFont typeface="Wingdings"/>
              <a:buChar char=""/>
              <a:tabLst>
                <a:tab pos="184150" algn="l"/>
              </a:tabLst>
            </a:pPr>
            <a:r>
              <a:rPr dirty="0" sz="1000" spc="-5">
                <a:latin typeface="Microsoft YaHei"/>
                <a:cs typeface="Microsoft YaHei"/>
              </a:rPr>
              <a:t>直流阻断器：</a:t>
            </a:r>
            <a:r>
              <a:rPr dirty="0" sz="1000" spc="-10">
                <a:latin typeface="Microsoft YaHei"/>
                <a:cs typeface="Microsoft YaHei"/>
              </a:rPr>
              <a:t>PIM≤- 150dBc@2*43dBm</a:t>
            </a:r>
            <a:endParaRPr sz="1000">
              <a:latin typeface="Microsoft YaHei"/>
              <a:cs typeface="Microsoft YaHei"/>
            </a:endParaRPr>
          </a:p>
          <a:p>
            <a:pPr marL="184150" marR="615315" indent="-171450">
              <a:lnSpc>
                <a:spcPct val="130000"/>
              </a:lnSpc>
              <a:spcBef>
                <a:spcPts val="300"/>
              </a:spcBef>
              <a:buClr>
                <a:srgbClr val="FF0000"/>
              </a:buClr>
              <a:buFont typeface="Wingdings"/>
              <a:buChar char=""/>
              <a:tabLst>
                <a:tab pos="184150" algn="l"/>
              </a:tabLst>
            </a:pPr>
            <a:r>
              <a:rPr dirty="0" sz="1000" spc="-5">
                <a:latin typeface="Microsoft YaHei"/>
                <a:cs typeface="Microsoft YaHei"/>
              </a:rPr>
              <a:t>隧道漏缆连接跳线： </a:t>
            </a:r>
            <a:r>
              <a:rPr dirty="0" sz="1000" spc="-20">
                <a:latin typeface="Microsoft YaHei"/>
                <a:cs typeface="Microsoft YaHei"/>
              </a:rPr>
              <a:t>PIM≤- </a:t>
            </a:r>
            <a:r>
              <a:rPr dirty="0" sz="1000" spc="-10">
                <a:latin typeface="Microsoft YaHei"/>
                <a:cs typeface="Microsoft YaHei"/>
              </a:rPr>
              <a:t>160dBc@2*43dBm</a:t>
            </a:r>
            <a:endParaRPr sz="1000">
              <a:latin typeface="Microsoft YaHei"/>
              <a:cs typeface="Microsoft YaHei"/>
            </a:endParaRPr>
          </a:p>
          <a:p>
            <a:pPr marL="12700" marR="67945">
              <a:lnSpc>
                <a:spcPct val="130000"/>
              </a:lnSpc>
              <a:spcBef>
                <a:spcPts val="300"/>
              </a:spcBef>
            </a:pPr>
            <a:r>
              <a:rPr dirty="0" sz="1000" spc="-15">
                <a:solidFill>
                  <a:srgbClr val="FF0000"/>
                </a:solidFill>
                <a:latin typeface="Microsoft YaHei"/>
                <a:cs typeface="Microsoft YaHei"/>
              </a:rPr>
              <a:t>大型项目，建议对前三级的馈线接头、器件和直流阻断器等进行全量到货检测。</a:t>
            </a:r>
            <a:endParaRPr sz="1000">
              <a:latin typeface="Microsoft YaHei"/>
              <a:cs typeface="Microsoft YaHei"/>
            </a:endParaRPr>
          </a:p>
        </p:txBody>
      </p:sp>
      <p:grpSp>
        <p:nvGrpSpPr>
          <p:cNvPr id="5" name="object 5" descr=""/>
          <p:cNvGrpSpPr/>
          <p:nvPr/>
        </p:nvGrpSpPr>
        <p:grpSpPr>
          <a:xfrm>
            <a:off x="3457257" y="806450"/>
            <a:ext cx="2561590" cy="288290"/>
            <a:chOff x="3457257" y="806450"/>
            <a:chExt cx="2561590" cy="288290"/>
          </a:xfrm>
        </p:grpSpPr>
        <p:sp>
          <p:nvSpPr>
            <p:cNvPr id="6" name="object 6" descr=""/>
            <p:cNvSpPr/>
            <p:nvPr/>
          </p:nvSpPr>
          <p:spPr>
            <a:xfrm>
              <a:off x="3469957" y="819150"/>
              <a:ext cx="2536190" cy="262890"/>
            </a:xfrm>
            <a:custGeom>
              <a:avLst/>
              <a:gdLst/>
              <a:ahLst/>
              <a:cxnLst/>
              <a:rect l="l" t="t" r="r" b="b"/>
              <a:pathLst>
                <a:path w="2536190" h="262890">
                  <a:moveTo>
                    <a:pt x="2535758" y="0"/>
                  </a:moveTo>
                  <a:lnTo>
                    <a:pt x="0" y="0"/>
                  </a:lnTo>
                  <a:lnTo>
                    <a:pt x="0" y="262318"/>
                  </a:lnTo>
                  <a:lnTo>
                    <a:pt x="2535758" y="262318"/>
                  </a:lnTo>
                  <a:lnTo>
                    <a:pt x="2535758" y="0"/>
                  </a:lnTo>
                  <a:close/>
                </a:path>
              </a:pathLst>
            </a:custGeom>
            <a:solidFill>
              <a:srgbClr val="00B050"/>
            </a:solidFill>
          </p:spPr>
          <p:txBody>
            <a:bodyPr wrap="square" lIns="0" tIns="0" rIns="0" bIns="0" rtlCol="0"/>
            <a:lstStyle/>
            <a:p/>
          </p:txBody>
        </p:sp>
        <p:sp>
          <p:nvSpPr>
            <p:cNvPr id="7" name="object 7" descr=""/>
            <p:cNvSpPr/>
            <p:nvPr/>
          </p:nvSpPr>
          <p:spPr>
            <a:xfrm>
              <a:off x="3469957" y="819150"/>
              <a:ext cx="2536190" cy="262890"/>
            </a:xfrm>
            <a:custGeom>
              <a:avLst/>
              <a:gdLst/>
              <a:ahLst/>
              <a:cxnLst/>
              <a:rect l="l" t="t" r="r" b="b"/>
              <a:pathLst>
                <a:path w="2536190" h="262890">
                  <a:moveTo>
                    <a:pt x="0" y="0"/>
                  </a:moveTo>
                  <a:lnTo>
                    <a:pt x="2535758" y="0"/>
                  </a:lnTo>
                  <a:lnTo>
                    <a:pt x="2535758" y="262318"/>
                  </a:lnTo>
                  <a:lnTo>
                    <a:pt x="0" y="262318"/>
                  </a:lnTo>
                  <a:lnTo>
                    <a:pt x="0" y="0"/>
                  </a:lnTo>
                  <a:close/>
                </a:path>
              </a:pathLst>
            </a:custGeom>
            <a:ln w="25399">
              <a:solidFill>
                <a:srgbClr val="BDBDBD"/>
              </a:solidFill>
            </a:ln>
          </p:spPr>
          <p:txBody>
            <a:bodyPr wrap="square" lIns="0" tIns="0" rIns="0" bIns="0" rtlCol="0"/>
            <a:lstStyle/>
            <a:p/>
          </p:txBody>
        </p:sp>
      </p:grpSp>
      <p:sp>
        <p:nvSpPr>
          <p:cNvPr id="8" name="object 8" descr=""/>
          <p:cNvSpPr txBox="1"/>
          <p:nvPr/>
        </p:nvSpPr>
        <p:spPr>
          <a:xfrm>
            <a:off x="4420523" y="846066"/>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spc="-15" b="1">
                <a:solidFill>
                  <a:srgbClr val="FFFFFF"/>
                </a:solidFill>
                <a:latin typeface="Microsoft YaHei"/>
                <a:cs typeface="Microsoft YaHei"/>
              </a:rPr>
              <a:t>器件选型</a:t>
            </a:r>
            <a:endParaRPr sz="1200">
              <a:latin typeface="Microsoft YaHei"/>
              <a:cs typeface="Microsoft YaHei"/>
            </a:endParaRPr>
          </a:p>
        </p:txBody>
      </p:sp>
      <p:sp>
        <p:nvSpPr>
          <p:cNvPr id="9" name="object 9" descr=""/>
          <p:cNvSpPr/>
          <p:nvPr/>
        </p:nvSpPr>
        <p:spPr>
          <a:xfrm>
            <a:off x="6116535" y="1102436"/>
            <a:ext cx="2607310" cy="3831590"/>
          </a:xfrm>
          <a:custGeom>
            <a:avLst/>
            <a:gdLst/>
            <a:ahLst/>
            <a:cxnLst/>
            <a:rect l="l" t="t" r="r" b="b"/>
            <a:pathLst>
              <a:path w="2607309" h="3831590">
                <a:moveTo>
                  <a:pt x="0" y="0"/>
                </a:moveTo>
                <a:lnTo>
                  <a:pt x="2607170" y="0"/>
                </a:lnTo>
                <a:lnTo>
                  <a:pt x="2607170" y="3831513"/>
                </a:lnTo>
                <a:lnTo>
                  <a:pt x="0" y="3831513"/>
                </a:lnTo>
                <a:lnTo>
                  <a:pt x="0" y="0"/>
                </a:lnTo>
                <a:close/>
              </a:path>
            </a:pathLst>
          </a:custGeom>
          <a:ln w="25400">
            <a:solidFill>
              <a:srgbClr val="BBE0E3"/>
            </a:solidFill>
          </a:ln>
        </p:spPr>
        <p:txBody>
          <a:bodyPr wrap="square" lIns="0" tIns="0" rIns="0" bIns="0" rtlCol="0"/>
          <a:lstStyle/>
          <a:p/>
        </p:txBody>
      </p:sp>
      <p:sp>
        <p:nvSpPr>
          <p:cNvPr id="10" name="object 10" descr=""/>
          <p:cNvSpPr txBox="1"/>
          <p:nvPr/>
        </p:nvSpPr>
        <p:spPr>
          <a:xfrm>
            <a:off x="6195255" y="1145349"/>
            <a:ext cx="2577465" cy="178435"/>
          </a:xfrm>
          <a:prstGeom prst="rect">
            <a:avLst/>
          </a:prstGeom>
        </p:spPr>
        <p:txBody>
          <a:bodyPr wrap="square" lIns="0" tIns="12700" rIns="0" bIns="0" rtlCol="0" vert="horz">
            <a:spAutoFit/>
          </a:bodyPr>
          <a:lstStyle/>
          <a:p>
            <a:pPr marL="183515" indent="-170815">
              <a:lnSpc>
                <a:spcPct val="100000"/>
              </a:lnSpc>
              <a:spcBef>
                <a:spcPts val="100"/>
              </a:spcBef>
              <a:buClr>
                <a:srgbClr val="1F497D"/>
              </a:buClr>
              <a:buFont typeface="Wingdings"/>
              <a:buChar char=""/>
              <a:tabLst>
                <a:tab pos="183515" algn="l"/>
              </a:tabLst>
            </a:pPr>
            <a:r>
              <a:rPr dirty="0" sz="1000" spc="-10">
                <a:latin typeface="Microsoft YaHei"/>
                <a:cs typeface="Microsoft YaHei"/>
              </a:rPr>
              <a:t>分布系统驻波比≤1.3，双路不平衡≤3dB</a:t>
            </a:r>
            <a:r>
              <a:rPr dirty="0" sz="1000" spc="-50">
                <a:latin typeface="Microsoft YaHei"/>
                <a:cs typeface="Microsoft YaHei"/>
              </a:rPr>
              <a:t>。</a:t>
            </a:r>
            <a:endParaRPr sz="1000">
              <a:latin typeface="Microsoft YaHei"/>
              <a:cs typeface="Microsoft YaHei"/>
            </a:endParaRPr>
          </a:p>
        </p:txBody>
      </p:sp>
      <p:sp>
        <p:nvSpPr>
          <p:cNvPr id="11" name="object 11" descr=""/>
          <p:cNvSpPr txBox="1"/>
          <p:nvPr/>
        </p:nvSpPr>
        <p:spPr>
          <a:xfrm>
            <a:off x="6195255" y="1298989"/>
            <a:ext cx="2484120" cy="3133725"/>
          </a:xfrm>
          <a:prstGeom prst="rect">
            <a:avLst/>
          </a:prstGeom>
        </p:spPr>
        <p:txBody>
          <a:bodyPr wrap="square" lIns="0" tIns="41910" rIns="0" bIns="0" rtlCol="0" vert="horz">
            <a:spAutoFit/>
          </a:bodyPr>
          <a:lstStyle/>
          <a:p>
            <a:pPr marL="183515" indent="-170815">
              <a:lnSpc>
                <a:spcPct val="100000"/>
              </a:lnSpc>
              <a:spcBef>
                <a:spcPts val="330"/>
              </a:spcBef>
              <a:buClr>
                <a:srgbClr val="1F497D"/>
              </a:buClr>
              <a:buFont typeface="Wingdings"/>
              <a:buChar char=""/>
              <a:tabLst>
                <a:tab pos="183515" algn="l"/>
              </a:tabLst>
            </a:pPr>
            <a:r>
              <a:rPr dirty="0" sz="1000" spc="-15">
                <a:latin typeface="Microsoft YaHei"/>
                <a:cs typeface="Microsoft YaHei"/>
              </a:rPr>
              <a:t>避免器件直连，尽量减少馈线弯曲度。</a:t>
            </a:r>
            <a:endParaRPr sz="1000">
              <a:latin typeface="Microsoft YaHei"/>
              <a:cs typeface="Microsoft YaHei"/>
            </a:endParaRPr>
          </a:p>
          <a:p>
            <a:pPr marL="183515" marR="5080" indent="-171450">
              <a:lnSpc>
                <a:spcPct val="120000"/>
              </a:lnSpc>
              <a:buClr>
                <a:srgbClr val="1F497D"/>
              </a:buClr>
              <a:buFont typeface="Wingdings"/>
              <a:buChar char=""/>
              <a:tabLst>
                <a:tab pos="183515" algn="l"/>
              </a:tabLst>
            </a:pPr>
            <a:r>
              <a:rPr dirty="0" sz="1000" spc="-15">
                <a:latin typeface="Microsoft YaHei"/>
                <a:cs typeface="Microsoft YaHei"/>
              </a:rPr>
              <a:t>严格把关前三级的施工质量，严控互调</a:t>
            </a:r>
            <a:r>
              <a:rPr dirty="0" sz="1000">
                <a:latin typeface="Microsoft YaHei"/>
                <a:cs typeface="Microsoft YaHei"/>
              </a:rPr>
              <a:t> 指标。出</a:t>
            </a:r>
            <a:r>
              <a:rPr dirty="0" sz="1000" spc="-20">
                <a:latin typeface="Microsoft YaHei"/>
                <a:cs typeface="Microsoft YaHei"/>
              </a:rPr>
              <a:t>POI</a:t>
            </a:r>
            <a:r>
              <a:rPr dirty="0" sz="1000" spc="-15">
                <a:latin typeface="Microsoft YaHei"/>
                <a:cs typeface="Microsoft YaHei"/>
              </a:rPr>
              <a:t>第一根连接漏缆的馈线+接</a:t>
            </a:r>
            <a:r>
              <a:rPr dirty="0" sz="1000" spc="-5">
                <a:latin typeface="Microsoft YaHei"/>
                <a:cs typeface="Microsoft YaHei"/>
              </a:rPr>
              <a:t>头要达到-</a:t>
            </a:r>
            <a:r>
              <a:rPr dirty="0" sz="1000" spc="-10">
                <a:latin typeface="Microsoft YaHei"/>
                <a:cs typeface="Microsoft YaHei"/>
              </a:rPr>
              <a:t>160dBc@2*43dBm（</a:t>
            </a:r>
            <a:r>
              <a:rPr dirty="0" sz="1000" spc="-20">
                <a:latin typeface="Microsoft YaHei"/>
                <a:cs typeface="Microsoft YaHei"/>
              </a:rPr>
              <a:t>最好使</a:t>
            </a:r>
            <a:r>
              <a:rPr dirty="0" sz="1000" spc="-10">
                <a:latin typeface="Microsoft YaHei"/>
                <a:cs typeface="Microsoft YaHei"/>
              </a:rPr>
              <a:t>用成品跳线，或者采用接头焊接工艺</a:t>
            </a:r>
            <a:r>
              <a:rPr dirty="0" sz="1000">
                <a:latin typeface="Microsoft YaHei"/>
                <a:cs typeface="Microsoft YaHei"/>
              </a:rPr>
              <a:t>）</a:t>
            </a:r>
            <a:r>
              <a:rPr dirty="0" sz="1000" spc="-50">
                <a:latin typeface="Microsoft YaHei"/>
                <a:cs typeface="Microsoft YaHei"/>
              </a:rPr>
              <a:t>。</a:t>
            </a:r>
            <a:endParaRPr sz="1000">
              <a:latin typeface="Microsoft YaHei"/>
              <a:cs typeface="Microsoft YaHei"/>
            </a:endParaRPr>
          </a:p>
          <a:p>
            <a:pPr marL="184150" marR="129539" indent="-171450">
              <a:lnSpc>
                <a:spcPct val="120000"/>
              </a:lnSpc>
              <a:buClr>
                <a:srgbClr val="1F497D"/>
              </a:buClr>
              <a:buFont typeface="Wingdings"/>
              <a:buChar char=""/>
              <a:tabLst>
                <a:tab pos="184150" algn="l"/>
              </a:tabLst>
            </a:pPr>
            <a:r>
              <a:rPr dirty="0" sz="1000" spc="-15">
                <a:latin typeface="Microsoft YaHei"/>
                <a:cs typeface="Microsoft YaHei"/>
              </a:rPr>
              <a:t>电缆截断应采用专业刀具或截管器，避</a:t>
            </a:r>
            <a:r>
              <a:rPr dirty="0" sz="1000">
                <a:latin typeface="Microsoft YaHei"/>
                <a:cs typeface="Microsoft YaHei"/>
              </a:rPr>
              <a:t>免使用不规范的工具（</a:t>
            </a:r>
            <a:r>
              <a:rPr dirty="0" sz="1000" spc="-10">
                <a:latin typeface="Microsoft YaHei"/>
                <a:cs typeface="Microsoft YaHei"/>
              </a:rPr>
              <a:t>如小钢锯等</a:t>
            </a:r>
            <a:r>
              <a:rPr dirty="0" sz="1000">
                <a:latin typeface="Microsoft YaHei"/>
                <a:cs typeface="Microsoft YaHei"/>
              </a:rPr>
              <a:t>）</a:t>
            </a:r>
            <a:r>
              <a:rPr dirty="0" sz="1000" spc="-50">
                <a:latin typeface="Microsoft YaHei"/>
                <a:cs typeface="Microsoft YaHei"/>
              </a:rPr>
              <a:t>。</a:t>
            </a:r>
            <a:endParaRPr sz="1000">
              <a:latin typeface="Microsoft YaHei"/>
              <a:cs typeface="Microsoft YaHei"/>
            </a:endParaRPr>
          </a:p>
          <a:p>
            <a:pPr marL="183515" indent="-170815">
              <a:lnSpc>
                <a:spcPct val="100000"/>
              </a:lnSpc>
              <a:spcBef>
                <a:spcPts val="240"/>
              </a:spcBef>
              <a:buClr>
                <a:srgbClr val="1F497D"/>
              </a:buClr>
              <a:buFont typeface="Wingdings"/>
              <a:buChar char=""/>
              <a:tabLst>
                <a:tab pos="183515" algn="l"/>
              </a:tabLst>
            </a:pPr>
            <a:r>
              <a:rPr dirty="0" sz="1000" spc="-10">
                <a:latin typeface="Microsoft YaHei"/>
                <a:cs typeface="Microsoft YaHei"/>
              </a:rPr>
              <a:t>采用力矩扳手进行接头紧固。</a:t>
            </a:r>
            <a:endParaRPr sz="1000">
              <a:latin typeface="Microsoft YaHei"/>
              <a:cs typeface="Microsoft YaHei"/>
            </a:endParaRPr>
          </a:p>
          <a:p>
            <a:pPr marL="183515" indent="-170815">
              <a:lnSpc>
                <a:spcPct val="100000"/>
              </a:lnSpc>
              <a:spcBef>
                <a:spcPts val="240"/>
              </a:spcBef>
              <a:buClr>
                <a:srgbClr val="1F497D"/>
              </a:buClr>
              <a:buFont typeface="Wingdings"/>
              <a:buChar char=""/>
              <a:tabLst>
                <a:tab pos="183515" algn="l"/>
              </a:tabLst>
            </a:pPr>
            <a:r>
              <a:rPr dirty="0" sz="1000" spc="-10">
                <a:latin typeface="Microsoft YaHei"/>
                <a:cs typeface="Microsoft YaHei"/>
              </a:rPr>
              <a:t>DAS系统互调指标：</a:t>
            </a:r>
            <a:endParaRPr sz="1000">
              <a:latin typeface="Microsoft YaHei"/>
              <a:cs typeface="Microsoft YaHei"/>
            </a:endParaRPr>
          </a:p>
          <a:p>
            <a:pPr lvl="1" marL="183515" marR="186055" indent="138430">
              <a:lnSpc>
                <a:spcPct val="120000"/>
              </a:lnSpc>
              <a:buClr>
                <a:srgbClr val="1F497D"/>
              </a:buClr>
              <a:buFont typeface="Wingdings"/>
              <a:buChar char=""/>
              <a:tabLst>
                <a:tab pos="321945" algn="l"/>
              </a:tabLst>
            </a:pPr>
            <a:r>
              <a:rPr dirty="0" sz="1000" spc="-15">
                <a:latin typeface="Microsoft YaHei"/>
                <a:cs typeface="Microsoft YaHei"/>
              </a:rPr>
              <a:t>普通室分：低互调风险频率组合≤ -</a:t>
            </a:r>
            <a:r>
              <a:rPr dirty="0" sz="1000" spc="-50">
                <a:latin typeface="Microsoft YaHei"/>
                <a:cs typeface="Microsoft YaHei"/>
              </a:rPr>
              <a:t> </a:t>
            </a:r>
            <a:r>
              <a:rPr dirty="0" sz="1000" spc="-10">
                <a:latin typeface="Microsoft YaHei"/>
                <a:cs typeface="Microsoft YaHei"/>
              </a:rPr>
              <a:t>110dBc@2*43dBm，</a:t>
            </a:r>
            <a:endParaRPr sz="1000">
              <a:latin typeface="Microsoft YaHei"/>
              <a:cs typeface="Microsoft YaHei"/>
            </a:endParaRPr>
          </a:p>
          <a:p>
            <a:pPr marL="183515" marR="162560" indent="798830">
              <a:lnSpc>
                <a:spcPct val="120000"/>
              </a:lnSpc>
            </a:pPr>
            <a:r>
              <a:rPr dirty="0" sz="1000" spc="-10">
                <a:latin typeface="Microsoft YaHei"/>
                <a:cs typeface="Microsoft YaHei"/>
              </a:rPr>
              <a:t>高互调风险频率组合≤ -</a:t>
            </a:r>
            <a:r>
              <a:rPr dirty="0" sz="1000" spc="-50">
                <a:latin typeface="Microsoft YaHei"/>
                <a:cs typeface="Microsoft YaHei"/>
              </a:rPr>
              <a:t> </a:t>
            </a:r>
            <a:r>
              <a:rPr dirty="0" sz="1000" spc="-10">
                <a:latin typeface="Microsoft YaHei"/>
                <a:cs typeface="Microsoft YaHei"/>
              </a:rPr>
              <a:t>120dBc@2*43dBm；</a:t>
            </a:r>
            <a:endParaRPr sz="1000">
              <a:latin typeface="Microsoft YaHei"/>
              <a:cs typeface="Microsoft YaHei"/>
            </a:endParaRPr>
          </a:p>
          <a:p>
            <a:pPr lvl="1" marL="322580" indent="-138430">
              <a:lnSpc>
                <a:spcPct val="100000"/>
              </a:lnSpc>
              <a:spcBef>
                <a:spcPts val="240"/>
              </a:spcBef>
              <a:buClr>
                <a:srgbClr val="1F497D"/>
              </a:buClr>
              <a:buFont typeface="Wingdings"/>
              <a:buChar char=""/>
              <a:tabLst>
                <a:tab pos="322580" algn="l"/>
              </a:tabLst>
            </a:pPr>
            <a:r>
              <a:rPr dirty="0" sz="1000" spc="-10">
                <a:latin typeface="Microsoft YaHei"/>
                <a:cs typeface="Microsoft YaHei"/>
              </a:rPr>
              <a:t>地铁/高铁站、候机厅分布系统等</a:t>
            </a:r>
            <a:r>
              <a:rPr dirty="0" sz="1000" spc="-50">
                <a:latin typeface="SimSun"/>
                <a:cs typeface="SimSun"/>
              </a:rPr>
              <a:t>：</a:t>
            </a:r>
            <a:endParaRPr sz="1000">
              <a:latin typeface="SimSun"/>
              <a:cs typeface="SimSun"/>
            </a:endParaRPr>
          </a:p>
          <a:p>
            <a:pPr marL="183515">
              <a:lnSpc>
                <a:spcPct val="100000"/>
              </a:lnSpc>
              <a:spcBef>
                <a:spcPts val="240"/>
              </a:spcBef>
            </a:pPr>
            <a:r>
              <a:rPr dirty="0" sz="1000" spc="-10">
                <a:latin typeface="Microsoft YaHei"/>
                <a:cs typeface="Microsoft YaHei"/>
              </a:rPr>
              <a:t>≤-120dBc@2*43dBm</a:t>
            </a:r>
            <a:endParaRPr sz="1000">
              <a:latin typeface="Microsoft YaHei"/>
              <a:cs typeface="Microsoft YaHei"/>
            </a:endParaRPr>
          </a:p>
          <a:p>
            <a:pPr lvl="1" marL="322580" indent="-138430">
              <a:lnSpc>
                <a:spcPct val="100000"/>
              </a:lnSpc>
              <a:spcBef>
                <a:spcPts val="240"/>
              </a:spcBef>
              <a:buClr>
                <a:srgbClr val="1F497D"/>
              </a:buClr>
              <a:buFont typeface="Wingdings"/>
              <a:buChar char=""/>
              <a:tabLst>
                <a:tab pos="322580" algn="l"/>
              </a:tabLst>
            </a:pPr>
            <a:r>
              <a:rPr dirty="0" sz="1000" spc="-10">
                <a:latin typeface="Microsoft YaHei"/>
                <a:cs typeface="Microsoft YaHei"/>
              </a:rPr>
              <a:t>地铁/高铁隧道漏缆分布系统同：</a:t>
            </a:r>
            <a:endParaRPr sz="1000">
              <a:latin typeface="Microsoft YaHei"/>
              <a:cs typeface="Microsoft YaHei"/>
            </a:endParaRPr>
          </a:p>
          <a:p>
            <a:pPr marL="183515">
              <a:lnSpc>
                <a:spcPct val="100000"/>
              </a:lnSpc>
              <a:spcBef>
                <a:spcPts val="240"/>
              </a:spcBef>
            </a:pPr>
            <a:r>
              <a:rPr dirty="0" sz="1000" spc="-10">
                <a:latin typeface="Microsoft YaHei"/>
                <a:cs typeface="Microsoft YaHei"/>
              </a:rPr>
              <a:t>≤-140dBc@2*43dBm</a:t>
            </a:r>
            <a:endParaRPr sz="1000">
              <a:latin typeface="Microsoft YaHei"/>
              <a:cs typeface="Microsoft YaHei"/>
            </a:endParaRPr>
          </a:p>
        </p:txBody>
      </p:sp>
      <p:grpSp>
        <p:nvGrpSpPr>
          <p:cNvPr id="12" name="object 12" descr=""/>
          <p:cNvGrpSpPr/>
          <p:nvPr/>
        </p:nvGrpSpPr>
        <p:grpSpPr>
          <a:xfrm>
            <a:off x="6103823" y="806450"/>
            <a:ext cx="2632710" cy="302895"/>
            <a:chOff x="6103823" y="806450"/>
            <a:chExt cx="2632710" cy="302895"/>
          </a:xfrm>
        </p:grpSpPr>
        <p:sp>
          <p:nvSpPr>
            <p:cNvPr id="13" name="object 13" descr=""/>
            <p:cNvSpPr/>
            <p:nvPr/>
          </p:nvSpPr>
          <p:spPr>
            <a:xfrm>
              <a:off x="6116523" y="819150"/>
              <a:ext cx="2607310" cy="277495"/>
            </a:xfrm>
            <a:custGeom>
              <a:avLst/>
              <a:gdLst/>
              <a:ahLst/>
              <a:cxnLst/>
              <a:rect l="l" t="t" r="r" b="b"/>
              <a:pathLst>
                <a:path w="2607309" h="277494">
                  <a:moveTo>
                    <a:pt x="2607170" y="0"/>
                  </a:moveTo>
                  <a:lnTo>
                    <a:pt x="0" y="0"/>
                  </a:lnTo>
                  <a:lnTo>
                    <a:pt x="0" y="276987"/>
                  </a:lnTo>
                  <a:lnTo>
                    <a:pt x="2607170" y="276987"/>
                  </a:lnTo>
                  <a:lnTo>
                    <a:pt x="2607170" y="0"/>
                  </a:lnTo>
                  <a:close/>
                </a:path>
              </a:pathLst>
            </a:custGeom>
            <a:solidFill>
              <a:srgbClr val="8AC6CD"/>
            </a:solidFill>
          </p:spPr>
          <p:txBody>
            <a:bodyPr wrap="square" lIns="0" tIns="0" rIns="0" bIns="0" rtlCol="0"/>
            <a:lstStyle/>
            <a:p/>
          </p:txBody>
        </p:sp>
        <p:sp>
          <p:nvSpPr>
            <p:cNvPr id="14" name="object 14" descr=""/>
            <p:cNvSpPr/>
            <p:nvPr/>
          </p:nvSpPr>
          <p:spPr>
            <a:xfrm>
              <a:off x="6116523" y="819150"/>
              <a:ext cx="2607310" cy="277495"/>
            </a:xfrm>
            <a:custGeom>
              <a:avLst/>
              <a:gdLst/>
              <a:ahLst/>
              <a:cxnLst/>
              <a:rect l="l" t="t" r="r" b="b"/>
              <a:pathLst>
                <a:path w="2607309" h="277494">
                  <a:moveTo>
                    <a:pt x="0" y="0"/>
                  </a:moveTo>
                  <a:lnTo>
                    <a:pt x="2607170" y="0"/>
                  </a:lnTo>
                  <a:lnTo>
                    <a:pt x="2607170" y="276987"/>
                  </a:lnTo>
                  <a:lnTo>
                    <a:pt x="0" y="276987"/>
                  </a:lnTo>
                  <a:lnTo>
                    <a:pt x="0" y="0"/>
                  </a:lnTo>
                  <a:close/>
                </a:path>
              </a:pathLst>
            </a:custGeom>
            <a:ln w="25400">
              <a:solidFill>
                <a:srgbClr val="BBE0E3"/>
              </a:solidFill>
            </a:ln>
          </p:spPr>
          <p:txBody>
            <a:bodyPr wrap="square" lIns="0" tIns="0" rIns="0" bIns="0" rtlCol="0"/>
            <a:lstStyle/>
            <a:p/>
          </p:txBody>
        </p:sp>
      </p:grpSp>
      <p:sp>
        <p:nvSpPr>
          <p:cNvPr id="15" name="object 15" descr=""/>
          <p:cNvSpPr txBox="1"/>
          <p:nvPr/>
        </p:nvSpPr>
        <p:spPr>
          <a:xfrm>
            <a:off x="7102740" y="846066"/>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spc="-15" b="1">
                <a:solidFill>
                  <a:srgbClr val="FFFFFF"/>
                </a:solidFill>
                <a:latin typeface="Microsoft YaHei"/>
                <a:cs typeface="Microsoft YaHei"/>
              </a:rPr>
              <a:t>施工工艺</a:t>
            </a:r>
            <a:endParaRPr sz="1200">
              <a:latin typeface="Microsoft YaHei"/>
              <a:cs typeface="Microsoft YaHei"/>
            </a:endParaRPr>
          </a:p>
        </p:txBody>
      </p:sp>
      <p:sp>
        <p:nvSpPr>
          <p:cNvPr id="16" name="object 16" descr=""/>
          <p:cNvSpPr/>
          <p:nvPr/>
        </p:nvSpPr>
        <p:spPr>
          <a:xfrm>
            <a:off x="653567" y="1102436"/>
            <a:ext cx="2713355" cy="3860165"/>
          </a:xfrm>
          <a:custGeom>
            <a:avLst/>
            <a:gdLst/>
            <a:ahLst/>
            <a:cxnLst/>
            <a:rect l="l" t="t" r="r" b="b"/>
            <a:pathLst>
              <a:path w="2713354" h="3860165">
                <a:moveTo>
                  <a:pt x="0" y="0"/>
                </a:moveTo>
                <a:lnTo>
                  <a:pt x="2713037" y="0"/>
                </a:lnTo>
                <a:lnTo>
                  <a:pt x="2713037" y="3860165"/>
                </a:lnTo>
                <a:lnTo>
                  <a:pt x="0" y="3860165"/>
                </a:lnTo>
                <a:lnTo>
                  <a:pt x="0" y="0"/>
                </a:lnTo>
                <a:close/>
              </a:path>
            </a:pathLst>
          </a:custGeom>
          <a:ln w="25400">
            <a:solidFill>
              <a:srgbClr val="333399"/>
            </a:solidFill>
          </a:ln>
        </p:spPr>
        <p:txBody>
          <a:bodyPr wrap="square" lIns="0" tIns="0" rIns="0" bIns="0" rtlCol="0"/>
          <a:lstStyle/>
          <a:p/>
        </p:txBody>
      </p:sp>
      <p:sp>
        <p:nvSpPr>
          <p:cNvPr id="17" name="object 17" descr=""/>
          <p:cNvSpPr txBox="1"/>
          <p:nvPr/>
        </p:nvSpPr>
        <p:spPr>
          <a:xfrm>
            <a:off x="732293" y="1743520"/>
            <a:ext cx="2669540" cy="178435"/>
          </a:xfrm>
          <a:prstGeom prst="rect">
            <a:avLst/>
          </a:prstGeom>
        </p:spPr>
        <p:txBody>
          <a:bodyPr wrap="square" lIns="0" tIns="12700" rIns="0" bIns="0" rtlCol="0" vert="horz">
            <a:spAutoFit/>
          </a:bodyPr>
          <a:lstStyle/>
          <a:p>
            <a:pPr marL="206375" indent="-193675">
              <a:lnSpc>
                <a:spcPct val="100000"/>
              </a:lnSpc>
              <a:spcBef>
                <a:spcPts val="100"/>
              </a:spcBef>
              <a:buClr>
                <a:srgbClr val="FF0000"/>
              </a:buClr>
              <a:buFont typeface="Wingdings"/>
              <a:buChar char=""/>
              <a:tabLst>
                <a:tab pos="206375" algn="l"/>
              </a:tabLst>
            </a:pPr>
            <a:r>
              <a:rPr dirty="0" sz="1000" spc="-10">
                <a:latin typeface="Microsoft YaHei"/>
                <a:cs typeface="Microsoft YaHei"/>
              </a:rPr>
              <a:t>协调中国移动GSM优先采用900MHz</a:t>
            </a:r>
            <a:r>
              <a:rPr dirty="0" sz="1000" spc="-20">
                <a:latin typeface="Microsoft YaHei"/>
                <a:cs typeface="Microsoft YaHei"/>
              </a:rPr>
              <a:t>频段，</a:t>
            </a:r>
            <a:endParaRPr sz="1000">
              <a:latin typeface="Microsoft YaHei"/>
              <a:cs typeface="Microsoft YaHei"/>
            </a:endParaRPr>
          </a:p>
        </p:txBody>
      </p:sp>
      <p:sp>
        <p:nvSpPr>
          <p:cNvPr id="18" name="object 18" descr=""/>
          <p:cNvSpPr txBox="1"/>
          <p:nvPr/>
        </p:nvSpPr>
        <p:spPr>
          <a:xfrm>
            <a:off x="732293" y="1896225"/>
            <a:ext cx="2558415" cy="1069340"/>
          </a:xfrm>
          <a:prstGeom prst="rect">
            <a:avLst/>
          </a:prstGeom>
        </p:spPr>
        <p:txBody>
          <a:bodyPr wrap="square" lIns="0" tIns="12700" rIns="0" bIns="0" rtlCol="0" vert="horz">
            <a:spAutoFit/>
          </a:bodyPr>
          <a:lstStyle/>
          <a:p>
            <a:pPr marL="206375" marR="55244">
              <a:lnSpc>
                <a:spcPct val="110000"/>
              </a:lnSpc>
              <a:spcBef>
                <a:spcPts val="100"/>
              </a:spcBef>
            </a:pPr>
            <a:r>
              <a:rPr dirty="0" sz="1000">
                <a:latin typeface="Microsoft YaHei"/>
                <a:cs typeface="Microsoft YaHei"/>
              </a:rPr>
              <a:t>尽量不采用</a:t>
            </a:r>
            <a:r>
              <a:rPr dirty="0" sz="1000" spc="-10">
                <a:latin typeface="Microsoft YaHei"/>
                <a:cs typeface="Microsoft YaHei"/>
              </a:rPr>
              <a:t>1.8GHz</a:t>
            </a:r>
            <a:r>
              <a:rPr dirty="0" sz="1000" spc="-5">
                <a:latin typeface="Microsoft YaHei"/>
                <a:cs typeface="Microsoft YaHei"/>
              </a:rPr>
              <a:t>频段</a:t>
            </a:r>
            <a:r>
              <a:rPr dirty="0" sz="1000">
                <a:latin typeface="Microsoft YaHei"/>
                <a:cs typeface="Microsoft YaHei"/>
              </a:rPr>
              <a:t>（</a:t>
            </a:r>
            <a:r>
              <a:rPr dirty="0" sz="1000" spc="-20">
                <a:latin typeface="Microsoft YaHei"/>
                <a:cs typeface="Microsoft YaHei"/>
              </a:rPr>
              <a:t>如移动坚持引</a:t>
            </a:r>
            <a:r>
              <a:rPr dirty="0" sz="1000" spc="-15">
                <a:latin typeface="Microsoft YaHei"/>
                <a:cs typeface="Microsoft YaHei"/>
              </a:rPr>
              <a:t>入该频段，建议由高到低使用该频段，尽</a:t>
            </a:r>
            <a:r>
              <a:rPr dirty="0" sz="1000">
                <a:latin typeface="Microsoft YaHei"/>
                <a:cs typeface="Microsoft YaHei"/>
              </a:rPr>
              <a:t>量规避低频段）</a:t>
            </a:r>
            <a:r>
              <a:rPr dirty="0" sz="1000" spc="-50">
                <a:latin typeface="Microsoft YaHei"/>
                <a:cs typeface="Microsoft YaHei"/>
              </a:rPr>
              <a:t>。</a:t>
            </a:r>
            <a:endParaRPr sz="1000">
              <a:latin typeface="Microsoft YaHei"/>
              <a:cs typeface="Microsoft YaHei"/>
            </a:endParaRPr>
          </a:p>
          <a:p>
            <a:pPr marL="206375" marR="5080" indent="-194310">
              <a:lnSpc>
                <a:spcPct val="110000"/>
              </a:lnSpc>
              <a:spcBef>
                <a:spcPts val="300"/>
              </a:spcBef>
              <a:buClr>
                <a:srgbClr val="FF0000"/>
              </a:buClr>
              <a:buFont typeface="Wingdings"/>
              <a:buChar char=""/>
              <a:tabLst>
                <a:tab pos="206375" algn="l"/>
              </a:tabLst>
            </a:pPr>
            <a:r>
              <a:rPr dirty="0" sz="1000" spc="-10">
                <a:latin typeface="Microsoft YaHei"/>
                <a:cs typeface="Microsoft YaHei"/>
              </a:rPr>
              <a:t>如果无法避免三个1.8GHz</a:t>
            </a:r>
            <a:r>
              <a:rPr dirty="0" sz="1000" spc="-20">
                <a:latin typeface="Microsoft YaHei"/>
                <a:cs typeface="Microsoft YaHei"/>
              </a:rPr>
              <a:t>频段同时使用，</a:t>
            </a:r>
            <a:r>
              <a:rPr dirty="0" sz="1000">
                <a:latin typeface="Microsoft YaHei"/>
                <a:cs typeface="Microsoft YaHei"/>
              </a:rPr>
              <a:t>则尽量进行上下行分缆</a:t>
            </a:r>
            <a:r>
              <a:rPr dirty="0" sz="1000" spc="-10">
                <a:latin typeface="Microsoft YaHei"/>
                <a:cs typeface="Microsoft YaHei"/>
              </a:rPr>
              <a:t>（</a:t>
            </a:r>
            <a:r>
              <a:rPr dirty="0" sz="1000" spc="-20">
                <a:latin typeface="Microsoft YaHei"/>
                <a:cs typeface="Microsoft YaHei"/>
              </a:rPr>
              <a:t>楼宇类室分联通</a:t>
            </a:r>
            <a:r>
              <a:rPr dirty="0" sz="1000">
                <a:latin typeface="Microsoft YaHei"/>
                <a:cs typeface="Microsoft YaHei"/>
              </a:rPr>
              <a:t>和电信</a:t>
            </a:r>
            <a:r>
              <a:rPr dirty="0" sz="1000" spc="-20">
                <a:latin typeface="Microsoft YaHei"/>
                <a:cs typeface="Microsoft YaHei"/>
              </a:rPr>
              <a:t>LTE</a:t>
            </a:r>
            <a:r>
              <a:rPr dirty="0" sz="1000">
                <a:latin typeface="Microsoft YaHei"/>
                <a:cs typeface="Microsoft YaHei"/>
              </a:rPr>
              <a:t>只做</a:t>
            </a:r>
            <a:r>
              <a:rPr dirty="0" sz="1000" spc="-10">
                <a:latin typeface="Microsoft YaHei"/>
                <a:cs typeface="Microsoft YaHei"/>
              </a:rPr>
              <a:t>SISO）</a:t>
            </a:r>
            <a:endParaRPr sz="1000">
              <a:latin typeface="Microsoft YaHei"/>
              <a:cs typeface="Microsoft YaHei"/>
            </a:endParaRPr>
          </a:p>
        </p:txBody>
      </p:sp>
      <p:sp>
        <p:nvSpPr>
          <p:cNvPr id="19" name="object 19" descr=""/>
          <p:cNvSpPr txBox="1"/>
          <p:nvPr/>
        </p:nvSpPr>
        <p:spPr>
          <a:xfrm>
            <a:off x="732293" y="2933799"/>
            <a:ext cx="2508250" cy="2036445"/>
          </a:xfrm>
          <a:prstGeom prst="rect">
            <a:avLst/>
          </a:prstGeom>
        </p:spPr>
        <p:txBody>
          <a:bodyPr wrap="square" lIns="0" tIns="95250" rIns="0" bIns="0" rtlCol="0" vert="horz">
            <a:spAutoFit/>
          </a:bodyPr>
          <a:lstStyle/>
          <a:p>
            <a:pPr marL="183515" indent="-170815">
              <a:lnSpc>
                <a:spcPct val="100000"/>
              </a:lnSpc>
              <a:spcBef>
                <a:spcPts val="750"/>
              </a:spcBef>
              <a:buClr>
                <a:srgbClr val="FF0000"/>
              </a:buClr>
              <a:buFont typeface="Wingdings"/>
              <a:buChar char=""/>
              <a:tabLst>
                <a:tab pos="183515" algn="l"/>
              </a:tabLst>
            </a:pPr>
            <a:r>
              <a:rPr dirty="0" sz="1000">
                <a:latin typeface="Microsoft YaHei"/>
                <a:cs typeface="Microsoft YaHei"/>
              </a:rPr>
              <a:t>协调</a:t>
            </a:r>
            <a:r>
              <a:rPr dirty="0" sz="1000" spc="-10">
                <a:latin typeface="Microsoft YaHei"/>
                <a:cs typeface="Microsoft YaHei"/>
              </a:rPr>
              <a:t>2.1G</a:t>
            </a:r>
            <a:r>
              <a:rPr dirty="0" sz="1000" spc="-15">
                <a:latin typeface="Microsoft YaHei"/>
                <a:cs typeface="Microsoft YaHei"/>
              </a:rPr>
              <a:t>频段使用：</a:t>
            </a:r>
            <a:endParaRPr sz="1000">
              <a:latin typeface="Microsoft YaHei"/>
              <a:cs typeface="Microsoft YaHei"/>
            </a:endParaRPr>
          </a:p>
          <a:p>
            <a:pPr marL="207010" marR="9525" indent="-194310">
              <a:lnSpc>
                <a:spcPct val="130000"/>
              </a:lnSpc>
              <a:spcBef>
                <a:spcPts val="300"/>
              </a:spcBef>
              <a:buClr>
                <a:srgbClr val="FF0000"/>
              </a:buClr>
              <a:buFont typeface="Wingdings"/>
              <a:buChar char=""/>
              <a:tabLst>
                <a:tab pos="207010" algn="l"/>
              </a:tabLst>
            </a:pPr>
            <a:r>
              <a:rPr dirty="0" sz="1000">
                <a:latin typeface="Microsoft YaHei"/>
                <a:cs typeface="Microsoft YaHei"/>
              </a:rPr>
              <a:t>移动E频段和联通</a:t>
            </a:r>
            <a:r>
              <a:rPr dirty="0" sz="1000" spc="-10">
                <a:latin typeface="Microsoft YaHei"/>
                <a:cs typeface="Microsoft YaHei"/>
              </a:rPr>
              <a:t>2.1GHz</a:t>
            </a:r>
            <a:r>
              <a:rPr dirty="0" sz="1000" spc="-20">
                <a:latin typeface="Microsoft YaHei"/>
                <a:cs typeface="Microsoft YaHei"/>
              </a:rPr>
              <a:t>同时存在时，建</a:t>
            </a:r>
            <a:r>
              <a:rPr dirty="0" sz="1000">
                <a:latin typeface="Microsoft YaHei"/>
                <a:cs typeface="Microsoft YaHei"/>
              </a:rPr>
              <a:t>议联通将</a:t>
            </a:r>
            <a:r>
              <a:rPr dirty="0" sz="1000" spc="-10">
                <a:latin typeface="Microsoft YaHei"/>
                <a:cs typeface="Microsoft YaHei"/>
              </a:rPr>
              <a:t>2.1GHz</a:t>
            </a:r>
            <a:r>
              <a:rPr dirty="0" sz="1000" spc="-15">
                <a:latin typeface="Microsoft YaHei"/>
                <a:cs typeface="Microsoft YaHei"/>
              </a:rPr>
              <a:t>系统进行上下行分缆。</a:t>
            </a:r>
            <a:endParaRPr sz="1000">
              <a:latin typeface="Microsoft YaHei"/>
              <a:cs typeface="Microsoft YaHei"/>
            </a:endParaRPr>
          </a:p>
          <a:p>
            <a:pPr marL="206375" indent="-193675">
              <a:lnSpc>
                <a:spcPct val="100000"/>
              </a:lnSpc>
              <a:spcBef>
                <a:spcPts val="480"/>
              </a:spcBef>
              <a:buClr>
                <a:srgbClr val="FF0000"/>
              </a:buClr>
              <a:buFont typeface="Wingdings"/>
              <a:buChar char=""/>
              <a:tabLst>
                <a:tab pos="206375" algn="l"/>
              </a:tabLst>
            </a:pPr>
            <a:r>
              <a:rPr dirty="0" sz="1000" spc="-15">
                <a:latin typeface="Microsoft YaHei"/>
                <a:cs typeface="Microsoft YaHei"/>
              </a:rPr>
              <a:t>如单缆场景无法上下行分缆，应建议联通</a:t>
            </a:r>
            <a:endParaRPr sz="1000">
              <a:latin typeface="Microsoft YaHei"/>
              <a:cs typeface="Microsoft YaHei"/>
            </a:endParaRPr>
          </a:p>
          <a:p>
            <a:pPr marL="206375">
              <a:lnSpc>
                <a:spcPct val="100000"/>
              </a:lnSpc>
              <a:spcBef>
                <a:spcPts val="120"/>
              </a:spcBef>
            </a:pPr>
            <a:r>
              <a:rPr dirty="0" sz="1000" spc="-10">
                <a:latin typeface="Microsoft YaHei"/>
                <a:cs typeface="Microsoft YaHei"/>
              </a:rPr>
              <a:t>2.1GHz尽量优先采用较高频点（2150-</a:t>
            </a:r>
            <a:endParaRPr sz="1000">
              <a:latin typeface="Microsoft YaHei"/>
              <a:cs typeface="Microsoft YaHei"/>
            </a:endParaRPr>
          </a:p>
          <a:p>
            <a:pPr marL="207010" marR="56515">
              <a:lnSpc>
                <a:spcPct val="110000"/>
              </a:lnSpc>
            </a:pPr>
            <a:r>
              <a:rPr dirty="0" sz="1000" spc="-10">
                <a:latin typeface="Microsoft YaHei"/>
                <a:cs typeface="Microsoft YaHei"/>
              </a:rPr>
              <a:t>2170MHz）</a:t>
            </a:r>
            <a:r>
              <a:rPr dirty="0" sz="1000" spc="-15">
                <a:latin typeface="Microsoft YaHei"/>
                <a:cs typeface="Microsoft YaHei"/>
              </a:rPr>
              <a:t>进行配置，并尽量提升分布</a:t>
            </a:r>
            <a:r>
              <a:rPr dirty="0" sz="1000" spc="-10">
                <a:latin typeface="Microsoft YaHei"/>
                <a:cs typeface="Microsoft YaHei"/>
              </a:rPr>
              <a:t>系统的互调指标。</a:t>
            </a:r>
            <a:endParaRPr sz="1000">
              <a:latin typeface="Microsoft YaHei"/>
              <a:cs typeface="Microsoft YaHei"/>
            </a:endParaRPr>
          </a:p>
          <a:p>
            <a:pPr algn="just" marL="184150" marR="14604" indent="-171450">
              <a:lnSpc>
                <a:spcPct val="130000"/>
              </a:lnSpc>
              <a:spcBef>
                <a:spcPts val="240"/>
              </a:spcBef>
              <a:buClr>
                <a:srgbClr val="FF0000"/>
              </a:buClr>
              <a:buFont typeface="Wingdings"/>
              <a:buChar char=""/>
              <a:tabLst>
                <a:tab pos="184150" algn="l"/>
              </a:tabLst>
            </a:pPr>
            <a:r>
              <a:rPr dirty="0" sz="1000" spc="-10">
                <a:latin typeface="Microsoft YaHei"/>
                <a:cs typeface="Microsoft YaHei"/>
              </a:rPr>
              <a:t>TDD</a:t>
            </a:r>
            <a:r>
              <a:rPr dirty="0" sz="1000" spc="-15">
                <a:latin typeface="Microsoft YaHei"/>
                <a:cs typeface="Microsoft YaHei"/>
              </a:rPr>
              <a:t>系统应保持时钟同步、上下行时隙配比一致：以实现系统间的上下行分离，减</a:t>
            </a:r>
            <a:r>
              <a:rPr dirty="0" sz="1000" spc="-10">
                <a:latin typeface="Microsoft YaHei"/>
                <a:cs typeface="Microsoft YaHei"/>
              </a:rPr>
              <a:t>小互调干扰风险。</a:t>
            </a:r>
            <a:endParaRPr sz="1000">
              <a:latin typeface="Microsoft YaHei"/>
              <a:cs typeface="Microsoft YaHei"/>
            </a:endParaRPr>
          </a:p>
        </p:txBody>
      </p:sp>
      <p:grpSp>
        <p:nvGrpSpPr>
          <p:cNvPr id="20" name="object 20" descr=""/>
          <p:cNvGrpSpPr/>
          <p:nvPr/>
        </p:nvGrpSpPr>
        <p:grpSpPr>
          <a:xfrm>
            <a:off x="640867" y="806450"/>
            <a:ext cx="2738755" cy="309245"/>
            <a:chOff x="640867" y="806450"/>
            <a:chExt cx="2738755" cy="309245"/>
          </a:xfrm>
        </p:grpSpPr>
        <p:sp>
          <p:nvSpPr>
            <p:cNvPr id="21" name="object 21" descr=""/>
            <p:cNvSpPr/>
            <p:nvPr/>
          </p:nvSpPr>
          <p:spPr>
            <a:xfrm>
              <a:off x="653567" y="819150"/>
              <a:ext cx="2713355" cy="283845"/>
            </a:xfrm>
            <a:custGeom>
              <a:avLst/>
              <a:gdLst/>
              <a:ahLst/>
              <a:cxnLst/>
              <a:rect l="l" t="t" r="r" b="b"/>
              <a:pathLst>
                <a:path w="2713354" h="283844">
                  <a:moveTo>
                    <a:pt x="2713037" y="0"/>
                  </a:moveTo>
                  <a:lnTo>
                    <a:pt x="0" y="0"/>
                  </a:lnTo>
                  <a:lnTo>
                    <a:pt x="0" y="283286"/>
                  </a:lnTo>
                  <a:lnTo>
                    <a:pt x="2713037" y="283286"/>
                  </a:lnTo>
                  <a:lnTo>
                    <a:pt x="2713037" y="0"/>
                  </a:lnTo>
                  <a:close/>
                </a:path>
              </a:pathLst>
            </a:custGeom>
            <a:solidFill>
              <a:srgbClr val="C00000"/>
            </a:solidFill>
          </p:spPr>
          <p:txBody>
            <a:bodyPr wrap="square" lIns="0" tIns="0" rIns="0" bIns="0" rtlCol="0"/>
            <a:lstStyle/>
            <a:p/>
          </p:txBody>
        </p:sp>
        <p:sp>
          <p:nvSpPr>
            <p:cNvPr id="22" name="object 22" descr=""/>
            <p:cNvSpPr/>
            <p:nvPr/>
          </p:nvSpPr>
          <p:spPr>
            <a:xfrm>
              <a:off x="653567" y="819150"/>
              <a:ext cx="2713355" cy="283845"/>
            </a:xfrm>
            <a:custGeom>
              <a:avLst/>
              <a:gdLst/>
              <a:ahLst/>
              <a:cxnLst/>
              <a:rect l="l" t="t" r="r" b="b"/>
              <a:pathLst>
                <a:path w="2713354" h="283844">
                  <a:moveTo>
                    <a:pt x="0" y="0"/>
                  </a:moveTo>
                  <a:lnTo>
                    <a:pt x="2713037" y="0"/>
                  </a:lnTo>
                  <a:lnTo>
                    <a:pt x="2713037" y="283286"/>
                  </a:lnTo>
                  <a:lnTo>
                    <a:pt x="0" y="283286"/>
                  </a:lnTo>
                  <a:lnTo>
                    <a:pt x="0" y="0"/>
                  </a:lnTo>
                  <a:close/>
                </a:path>
              </a:pathLst>
            </a:custGeom>
            <a:ln w="25400">
              <a:solidFill>
                <a:srgbClr val="C00000"/>
              </a:solidFill>
            </a:ln>
          </p:spPr>
          <p:txBody>
            <a:bodyPr wrap="square" lIns="0" tIns="0" rIns="0" bIns="0" rtlCol="0"/>
            <a:lstStyle/>
            <a:p/>
          </p:txBody>
        </p:sp>
      </p:grpSp>
      <p:sp>
        <p:nvSpPr>
          <p:cNvPr id="23" name="object 23" descr=""/>
          <p:cNvSpPr txBox="1"/>
          <p:nvPr/>
        </p:nvSpPr>
        <p:spPr>
          <a:xfrm>
            <a:off x="1539737" y="846066"/>
            <a:ext cx="93980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FFFFFF"/>
                </a:solidFill>
                <a:latin typeface="Microsoft YaHei"/>
                <a:cs typeface="Microsoft YaHei"/>
              </a:rPr>
              <a:t>信源频段协调</a:t>
            </a:r>
            <a:endParaRPr sz="1200">
              <a:latin typeface="Microsoft YaHei"/>
              <a:cs typeface="Microsoft YaHei"/>
            </a:endParaRPr>
          </a:p>
        </p:txBody>
      </p:sp>
      <p:sp>
        <p:nvSpPr>
          <p:cNvPr id="24" name="object 24" descr=""/>
          <p:cNvSpPr txBox="1"/>
          <p:nvPr/>
        </p:nvSpPr>
        <p:spPr>
          <a:xfrm>
            <a:off x="335219" y="1116757"/>
            <a:ext cx="2877185" cy="1877060"/>
          </a:xfrm>
          <a:prstGeom prst="rect">
            <a:avLst/>
          </a:prstGeom>
        </p:spPr>
        <p:txBody>
          <a:bodyPr wrap="square" lIns="0" tIns="34925" rIns="0" bIns="0" rtlCol="0" vert="horz">
            <a:spAutoFit/>
          </a:bodyPr>
          <a:lstStyle/>
          <a:p>
            <a:pPr marL="38100">
              <a:lnSpc>
                <a:spcPct val="100000"/>
              </a:lnSpc>
              <a:spcBef>
                <a:spcPts val="275"/>
              </a:spcBef>
              <a:tabLst>
                <a:tab pos="409575" algn="l"/>
              </a:tabLst>
            </a:pPr>
            <a:r>
              <a:rPr dirty="0" sz="1200" spc="-50">
                <a:solidFill>
                  <a:srgbClr val="FF0000"/>
                </a:solidFill>
                <a:latin typeface="Microsoft YaHei"/>
                <a:cs typeface="Microsoft YaHei"/>
              </a:rPr>
              <a:t>现</a:t>
            </a:r>
            <a:r>
              <a:rPr dirty="0" sz="1200">
                <a:solidFill>
                  <a:srgbClr val="FF0000"/>
                </a:solidFill>
                <a:latin typeface="Microsoft YaHei"/>
                <a:cs typeface="Microsoft YaHei"/>
              </a:rPr>
              <a:t>	</a:t>
            </a:r>
            <a:r>
              <a:rPr dirty="0" baseline="2777" sz="1500">
                <a:solidFill>
                  <a:srgbClr val="FF0000"/>
                </a:solidFill>
                <a:latin typeface="Wingdings"/>
                <a:cs typeface="Wingdings"/>
              </a:rPr>
              <a:t></a:t>
            </a:r>
            <a:r>
              <a:rPr dirty="0" baseline="2777" sz="1500" spc="375">
                <a:solidFill>
                  <a:srgbClr val="FF0000"/>
                </a:solidFill>
                <a:latin typeface="Times New Roman"/>
                <a:cs typeface="Times New Roman"/>
              </a:rPr>
              <a:t> </a:t>
            </a:r>
            <a:r>
              <a:rPr dirty="0" baseline="2777" sz="1500">
                <a:latin typeface="Microsoft YaHei"/>
                <a:cs typeface="Microsoft YaHei"/>
              </a:rPr>
              <a:t>尽量不采用</a:t>
            </a:r>
            <a:r>
              <a:rPr dirty="0" baseline="2777" sz="1500" spc="-15">
                <a:latin typeface="Microsoft YaHei"/>
                <a:cs typeface="Microsoft YaHei"/>
              </a:rPr>
              <a:t>1.8GHz</a:t>
            </a:r>
            <a:r>
              <a:rPr dirty="0" baseline="2777" sz="1500">
                <a:latin typeface="Microsoft YaHei"/>
                <a:cs typeface="Microsoft YaHei"/>
              </a:rPr>
              <a:t>频</a:t>
            </a:r>
            <a:r>
              <a:rPr dirty="0" baseline="2777" sz="1500" spc="-15">
                <a:latin typeface="Microsoft YaHei"/>
                <a:cs typeface="Microsoft YaHei"/>
              </a:rPr>
              <a:t>段</a:t>
            </a:r>
            <a:r>
              <a:rPr dirty="0" baseline="2777" sz="1500" spc="-75">
                <a:latin typeface="Microsoft YaHei"/>
                <a:cs typeface="Microsoft YaHei"/>
              </a:rPr>
              <a:t>：</a:t>
            </a:r>
            <a:endParaRPr baseline="2777" sz="1500">
              <a:latin typeface="Microsoft YaHei"/>
              <a:cs typeface="Microsoft YaHei"/>
            </a:endParaRPr>
          </a:p>
          <a:p>
            <a:pPr marL="38100">
              <a:lnSpc>
                <a:spcPts val="1380"/>
              </a:lnSpc>
              <a:spcBef>
                <a:spcPts val="180"/>
              </a:spcBef>
              <a:tabLst>
                <a:tab pos="409575" algn="l"/>
              </a:tabLst>
            </a:pPr>
            <a:r>
              <a:rPr dirty="0" baseline="9259" sz="1800" spc="-75">
                <a:solidFill>
                  <a:srgbClr val="FF0000"/>
                </a:solidFill>
                <a:latin typeface="Microsoft YaHei"/>
                <a:cs typeface="Microsoft YaHei"/>
              </a:rPr>
              <a:t>有</a:t>
            </a:r>
            <a:r>
              <a:rPr dirty="0" baseline="9259" sz="1800">
                <a:solidFill>
                  <a:srgbClr val="FF0000"/>
                </a:solidFill>
                <a:latin typeface="Microsoft YaHei"/>
                <a:cs typeface="Microsoft YaHei"/>
              </a:rPr>
              <a:t>	</a:t>
            </a:r>
            <a:r>
              <a:rPr dirty="0" sz="1000">
                <a:solidFill>
                  <a:srgbClr val="FF0000"/>
                </a:solidFill>
                <a:latin typeface="Wingdings"/>
                <a:cs typeface="Wingdings"/>
              </a:rPr>
              <a:t></a:t>
            </a:r>
            <a:r>
              <a:rPr dirty="0" sz="1000" spc="475">
                <a:solidFill>
                  <a:srgbClr val="FF0000"/>
                </a:solidFill>
                <a:latin typeface="Times New Roman"/>
                <a:cs typeface="Times New Roman"/>
              </a:rPr>
              <a:t> </a:t>
            </a:r>
            <a:r>
              <a:rPr dirty="0" sz="1000">
                <a:latin typeface="Microsoft YaHei"/>
                <a:cs typeface="Microsoft YaHei"/>
              </a:rPr>
              <a:t>在容量满足的情况下，</a:t>
            </a:r>
            <a:r>
              <a:rPr dirty="0" sz="1000" spc="-10">
                <a:latin typeface="Microsoft YaHei"/>
                <a:cs typeface="Microsoft YaHei"/>
              </a:rPr>
              <a:t>协</a:t>
            </a:r>
            <a:r>
              <a:rPr dirty="0" sz="1000">
                <a:latin typeface="Microsoft YaHei"/>
                <a:cs typeface="Microsoft YaHei"/>
              </a:rPr>
              <a:t>调中</a:t>
            </a:r>
            <a:r>
              <a:rPr dirty="0" sz="1000" spc="-10">
                <a:latin typeface="Microsoft YaHei"/>
                <a:cs typeface="Microsoft YaHei"/>
              </a:rPr>
              <a:t>国</a:t>
            </a:r>
            <a:r>
              <a:rPr dirty="0" sz="1000">
                <a:latin typeface="Microsoft YaHei"/>
                <a:cs typeface="Microsoft YaHei"/>
              </a:rPr>
              <a:t>电信</a:t>
            </a:r>
            <a:r>
              <a:rPr dirty="0" sz="1000" spc="-25">
                <a:latin typeface="Microsoft YaHei"/>
                <a:cs typeface="Microsoft YaHei"/>
              </a:rPr>
              <a:t>LTE</a:t>
            </a:r>
            <a:endParaRPr sz="1000">
              <a:latin typeface="Microsoft YaHei"/>
              <a:cs typeface="Microsoft YaHei"/>
            </a:endParaRPr>
          </a:p>
          <a:p>
            <a:pPr marL="38100">
              <a:lnSpc>
                <a:spcPts val="1350"/>
              </a:lnSpc>
              <a:tabLst>
                <a:tab pos="603885" algn="l"/>
              </a:tabLst>
            </a:pPr>
            <a:r>
              <a:rPr dirty="0" baseline="2314" sz="1800" spc="-75">
                <a:solidFill>
                  <a:srgbClr val="FF0000"/>
                </a:solidFill>
                <a:latin typeface="Microsoft YaHei"/>
                <a:cs typeface="Microsoft YaHei"/>
              </a:rPr>
              <a:t>网</a:t>
            </a:r>
            <a:r>
              <a:rPr dirty="0" baseline="2314" sz="1800">
                <a:solidFill>
                  <a:srgbClr val="FF0000"/>
                </a:solidFill>
                <a:latin typeface="Microsoft YaHei"/>
                <a:cs typeface="Microsoft YaHei"/>
              </a:rPr>
              <a:t>	</a:t>
            </a:r>
            <a:r>
              <a:rPr dirty="0" sz="1000">
                <a:latin typeface="Microsoft YaHei"/>
                <a:cs typeface="Microsoft YaHei"/>
              </a:rPr>
              <a:t>优先使用</a:t>
            </a:r>
            <a:r>
              <a:rPr dirty="0" sz="1000" spc="-10">
                <a:latin typeface="Microsoft YaHei"/>
                <a:cs typeface="Microsoft YaHei"/>
              </a:rPr>
              <a:t>2.1GHz</a:t>
            </a:r>
            <a:r>
              <a:rPr dirty="0" sz="1000">
                <a:latin typeface="Microsoft YaHei"/>
                <a:cs typeface="Microsoft YaHei"/>
              </a:rPr>
              <a:t>频段</a:t>
            </a:r>
            <a:r>
              <a:rPr dirty="0" sz="1000" spc="-25">
                <a:latin typeface="Microsoft YaHei"/>
                <a:cs typeface="Microsoft YaHei"/>
              </a:rPr>
              <a:t>，；</a:t>
            </a:r>
            <a:endParaRPr sz="1000">
              <a:latin typeface="Microsoft YaHei"/>
              <a:cs typeface="Microsoft YaHei"/>
            </a:endParaRPr>
          </a:p>
          <a:p>
            <a:pPr algn="just" marL="38100" marR="2678430">
              <a:lnSpc>
                <a:spcPts val="1440"/>
              </a:lnSpc>
              <a:spcBef>
                <a:spcPts val="20"/>
              </a:spcBef>
            </a:pPr>
            <a:r>
              <a:rPr dirty="0" sz="1200" spc="-50">
                <a:solidFill>
                  <a:srgbClr val="FF0000"/>
                </a:solidFill>
                <a:latin typeface="Microsoft YaHei"/>
                <a:cs typeface="Microsoft YaHei"/>
              </a:rPr>
              <a:t>络干扰管控举措</a:t>
            </a:r>
            <a:endParaRPr sz="1200">
              <a:latin typeface="Microsoft YaHei"/>
              <a:cs typeface="Microsoft YaHe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67639" y="784859"/>
            <a:ext cx="3024505" cy="4162425"/>
            <a:chOff x="167639" y="784859"/>
            <a:chExt cx="3024505" cy="4162425"/>
          </a:xfrm>
        </p:grpSpPr>
        <p:pic>
          <p:nvPicPr>
            <p:cNvPr id="3" name="object 3"/>
            <p:cNvPicPr/>
            <p:nvPr/>
          </p:nvPicPr>
          <p:blipFill>
            <a:blip r:embed="rId2" cstate="print"/>
            <a:stretch>
              <a:fillRect/>
            </a:stretch>
          </p:blipFill>
          <p:spPr>
            <a:xfrm>
              <a:off x="167639" y="2846831"/>
              <a:ext cx="1487423" cy="2100071"/>
            </a:xfrm>
            <a:prstGeom prst="rect">
              <a:avLst/>
            </a:prstGeom>
          </p:spPr>
        </p:pic>
        <p:sp>
          <p:nvSpPr>
            <p:cNvPr id="4" name="object 4" descr=""/>
            <p:cNvSpPr/>
            <p:nvPr/>
          </p:nvSpPr>
          <p:spPr>
            <a:xfrm>
              <a:off x="221500" y="2877870"/>
              <a:ext cx="1380490" cy="1992630"/>
            </a:xfrm>
            <a:custGeom>
              <a:avLst/>
              <a:gdLst/>
              <a:ahLst/>
              <a:cxnLst/>
              <a:rect l="l" t="t" r="r" b="b"/>
              <a:pathLst>
                <a:path w="1380490" h="1992629">
                  <a:moveTo>
                    <a:pt x="1380007" y="0"/>
                  </a:moveTo>
                  <a:lnTo>
                    <a:pt x="0" y="0"/>
                  </a:lnTo>
                  <a:lnTo>
                    <a:pt x="0" y="1992185"/>
                  </a:lnTo>
                  <a:lnTo>
                    <a:pt x="1380007" y="1992185"/>
                  </a:lnTo>
                  <a:lnTo>
                    <a:pt x="1380007" y="0"/>
                  </a:lnTo>
                  <a:close/>
                </a:path>
              </a:pathLst>
            </a:custGeom>
            <a:solidFill>
              <a:srgbClr val="FFFFFF"/>
            </a:solidFill>
          </p:spPr>
          <p:txBody>
            <a:bodyPr wrap="square" lIns="0" tIns="0" rIns="0" bIns="0" rtlCol="0"/>
            <a:lstStyle/>
            <a:p/>
          </p:txBody>
        </p:sp>
        <p:sp>
          <p:nvSpPr>
            <p:cNvPr id="5" name="object 5" descr=""/>
            <p:cNvSpPr/>
            <p:nvPr/>
          </p:nvSpPr>
          <p:spPr>
            <a:xfrm>
              <a:off x="221500" y="2877870"/>
              <a:ext cx="1380490" cy="1992630"/>
            </a:xfrm>
            <a:custGeom>
              <a:avLst/>
              <a:gdLst/>
              <a:ahLst/>
              <a:cxnLst/>
              <a:rect l="l" t="t" r="r" b="b"/>
              <a:pathLst>
                <a:path w="1380490" h="1992629">
                  <a:moveTo>
                    <a:pt x="0" y="0"/>
                  </a:moveTo>
                  <a:lnTo>
                    <a:pt x="1380007" y="0"/>
                  </a:lnTo>
                  <a:lnTo>
                    <a:pt x="1380007" y="1992185"/>
                  </a:lnTo>
                  <a:lnTo>
                    <a:pt x="0" y="1992185"/>
                  </a:lnTo>
                  <a:lnTo>
                    <a:pt x="0" y="0"/>
                  </a:lnTo>
                  <a:close/>
                </a:path>
              </a:pathLst>
            </a:custGeom>
            <a:ln w="25400">
              <a:solidFill>
                <a:srgbClr val="2F2F98"/>
              </a:solidFill>
            </a:ln>
          </p:spPr>
          <p:txBody>
            <a:bodyPr wrap="square" lIns="0" tIns="0" rIns="0" bIns="0" rtlCol="0"/>
            <a:lstStyle/>
            <a:p/>
          </p:txBody>
        </p:sp>
        <p:pic>
          <p:nvPicPr>
            <p:cNvPr id="6" name="object 6"/>
            <p:cNvPicPr/>
            <p:nvPr/>
          </p:nvPicPr>
          <p:blipFill>
            <a:blip r:embed="rId3" cstate="print"/>
            <a:stretch>
              <a:fillRect/>
            </a:stretch>
          </p:blipFill>
          <p:spPr>
            <a:xfrm>
              <a:off x="1569720" y="2846070"/>
              <a:ext cx="1622297" cy="2100071"/>
            </a:xfrm>
            <a:prstGeom prst="rect">
              <a:avLst/>
            </a:prstGeom>
          </p:spPr>
        </p:pic>
        <p:sp>
          <p:nvSpPr>
            <p:cNvPr id="7" name="object 7" descr=""/>
            <p:cNvSpPr/>
            <p:nvPr/>
          </p:nvSpPr>
          <p:spPr>
            <a:xfrm>
              <a:off x="1623250" y="2877007"/>
              <a:ext cx="1515745" cy="1992630"/>
            </a:xfrm>
            <a:custGeom>
              <a:avLst/>
              <a:gdLst/>
              <a:ahLst/>
              <a:cxnLst/>
              <a:rect l="l" t="t" r="r" b="b"/>
              <a:pathLst>
                <a:path w="1515745" h="1992629">
                  <a:moveTo>
                    <a:pt x="1515186" y="0"/>
                  </a:moveTo>
                  <a:lnTo>
                    <a:pt x="0" y="0"/>
                  </a:lnTo>
                  <a:lnTo>
                    <a:pt x="0" y="1992185"/>
                  </a:lnTo>
                  <a:lnTo>
                    <a:pt x="1515186" y="1992185"/>
                  </a:lnTo>
                  <a:lnTo>
                    <a:pt x="1515186" y="0"/>
                  </a:lnTo>
                  <a:close/>
                </a:path>
              </a:pathLst>
            </a:custGeom>
            <a:solidFill>
              <a:srgbClr val="FFFFFF"/>
            </a:solidFill>
          </p:spPr>
          <p:txBody>
            <a:bodyPr wrap="square" lIns="0" tIns="0" rIns="0" bIns="0" rtlCol="0"/>
            <a:lstStyle/>
            <a:p/>
          </p:txBody>
        </p:sp>
        <p:sp>
          <p:nvSpPr>
            <p:cNvPr id="8" name="object 8" descr=""/>
            <p:cNvSpPr/>
            <p:nvPr/>
          </p:nvSpPr>
          <p:spPr>
            <a:xfrm>
              <a:off x="1623250" y="2877007"/>
              <a:ext cx="1515745" cy="1992630"/>
            </a:xfrm>
            <a:custGeom>
              <a:avLst/>
              <a:gdLst/>
              <a:ahLst/>
              <a:cxnLst/>
              <a:rect l="l" t="t" r="r" b="b"/>
              <a:pathLst>
                <a:path w="1515745" h="1992629">
                  <a:moveTo>
                    <a:pt x="0" y="0"/>
                  </a:moveTo>
                  <a:lnTo>
                    <a:pt x="1515186" y="0"/>
                  </a:lnTo>
                  <a:lnTo>
                    <a:pt x="1515186" y="1992185"/>
                  </a:lnTo>
                  <a:lnTo>
                    <a:pt x="0" y="1992185"/>
                  </a:lnTo>
                  <a:lnTo>
                    <a:pt x="0" y="0"/>
                  </a:lnTo>
                  <a:close/>
                </a:path>
              </a:pathLst>
            </a:custGeom>
            <a:ln w="25400">
              <a:solidFill>
                <a:srgbClr val="2F2F98"/>
              </a:solidFill>
            </a:ln>
          </p:spPr>
          <p:txBody>
            <a:bodyPr wrap="square" lIns="0" tIns="0" rIns="0" bIns="0" rtlCol="0"/>
            <a:lstStyle/>
            <a:p/>
          </p:txBody>
        </p:sp>
        <p:pic>
          <p:nvPicPr>
            <p:cNvPr id="9" name="object 9"/>
            <p:cNvPicPr/>
            <p:nvPr/>
          </p:nvPicPr>
          <p:blipFill>
            <a:blip r:embed="rId3" cstate="print"/>
            <a:stretch>
              <a:fillRect/>
            </a:stretch>
          </p:blipFill>
          <p:spPr>
            <a:xfrm>
              <a:off x="1569720" y="784859"/>
              <a:ext cx="1622297" cy="2100071"/>
            </a:xfrm>
            <a:prstGeom prst="rect">
              <a:avLst/>
            </a:prstGeom>
          </p:spPr>
        </p:pic>
        <p:sp>
          <p:nvSpPr>
            <p:cNvPr id="10" name="object 10" descr=""/>
            <p:cNvSpPr/>
            <p:nvPr/>
          </p:nvSpPr>
          <p:spPr>
            <a:xfrm>
              <a:off x="1623250" y="815771"/>
              <a:ext cx="1515745" cy="1992630"/>
            </a:xfrm>
            <a:custGeom>
              <a:avLst/>
              <a:gdLst/>
              <a:ahLst/>
              <a:cxnLst/>
              <a:rect l="l" t="t" r="r" b="b"/>
              <a:pathLst>
                <a:path w="1515745" h="1992630">
                  <a:moveTo>
                    <a:pt x="1515186" y="0"/>
                  </a:moveTo>
                  <a:lnTo>
                    <a:pt x="0" y="0"/>
                  </a:lnTo>
                  <a:lnTo>
                    <a:pt x="0" y="1992185"/>
                  </a:lnTo>
                  <a:lnTo>
                    <a:pt x="1515186" y="1992185"/>
                  </a:lnTo>
                  <a:lnTo>
                    <a:pt x="1515186" y="0"/>
                  </a:lnTo>
                  <a:close/>
                </a:path>
              </a:pathLst>
            </a:custGeom>
            <a:solidFill>
              <a:srgbClr val="FFFFFF"/>
            </a:solidFill>
          </p:spPr>
          <p:txBody>
            <a:bodyPr wrap="square" lIns="0" tIns="0" rIns="0" bIns="0" rtlCol="0"/>
            <a:lstStyle/>
            <a:p/>
          </p:txBody>
        </p:sp>
        <p:sp>
          <p:nvSpPr>
            <p:cNvPr id="11" name="object 11" descr=""/>
            <p:cNvSpPr/>
            <p:nvPr/>
          </p:nvSpPr>
          <p:spPr>
            <a:xfrm>
              <a:off x="1623250" y="815771"/>
              <a:ext cx="1515745" cy="1992630"/>
            </a:xfrm>
            <a:custGeom>
              <a:avLst/>
              <a:gdLst/>
              <a:ahLst/>
              <a:cxnLst/>
              <a:rect l="l" t="t" r="r" b="b"/>
              <a:pathLst>
                <a:path w="1515745" h="1992630">
                  <a:moveTo>
                    <a:pt x="0" y="0"/>
                  </a:moveTo>
                  <a:lnTo>
                    <a:pt x="1515186" y="0"/>
                  </a:lnTo>
                  <a:lnTo>
                    <a:pt x="1515186" y="1992185"/>
                  </a:lnTo>
                  <a:lnTo>
                    <a:pt x="0" y="1992185"/>
                  </a:lnTo>
                  <a:lnTo>
                    <a:pt x="0" y="0"/>
                  </a:lnTo>
                  <a:close/>
                </a:path>
              </a:pathLst>
            </a:custGeom>
            <a:ln w="25400">
              <a:solidFill>
                <a:srgbClr val="2F2F98"/>
              </a:solidFill>
            </a:ln>
          </p:spPr>
          <p:txBody>
            <a:bodyPr wrap="square" lIns="0" tIns="0" rIns="0" bIns="0" rtlCol="0"/>
            <a:lstStyle/>
            <a:p/>
          </p:txBody>
        </p:sp>
        <p:pic>
          <p:nvPicPr>
            <p:cNvPr id="12" name="object 12"/>
            <p:cNvPicPr/>
            <p:nvPr/>
          </p:nvPicPr>
          <p:blipFill>
            <a:blip r:embed="rId4" cstate="print"/>
            <a:stretch>
              <a:fillRect/>
            </a:stretch>
          </p:blipFill>
          <p:spPr>
            <a:xfrm>
              <a:off x="171449" y="784859"/>
              <a:ext cx="1487423" cy="2100071"/>
            </a:xfrm>
            <a:prstGeom prst="rect">
              <a:avLst/>
            </a:prstGeom>
          </p:spPr>
        </p:pic>
        <p:sp>
          <p:nvSpPr>
            <p:cNvPr id="13" name="object 13" descr=""/>
            <p:cNvSpPr/>
            <p:nvPr/>
          </p:nvSpPr>
          <p:spPr>
            <a:xfrm>
              <a:off x="225348" y="815771"/>
              <a:ext cx="1380490" cy="1992630"/>
            </a:xfrm>
            <a:custGeom>
              <a:avLst/>
              <a:gdLst/>
              <a:ahLst/>
              <a:cxnLst/>
              <a:rect l="l" t="t" r="r" b="b"/>
              <a:pathLst>
                <a:path w="1380490" h="1992630">
                  <a:moveTo>
                    <a:pt x="1380007" y="0"/>
                  </a:moveTo>
                  <a:lnTo>
                    <a:pt x="0" y="0"/>
                  </a:lnTo>
                  <a:lnTo>
                    <a:pt x="0" y="1992185"/>
                  </a:lnTo>
                  <a:lnTo>
                    <a:pt x="1380007" y="1992185"/>
                  </a:lnTo>
                  <a:lnTo>
                    <a:pt x="1380007" y="0"/>
                  </a:lnTo>
                  <a:close/>
                </a:path>
              </a:pathLst>
            </a:custGeom>
            <a:solidFill>
              <a:srgbClr val="FFFFFF"/>
            </a:solidFill>
          </p:spPr>
          <p:txBody>
            <a:bodyPr wrap="square" lIns="0" tIns="0" rIns="0" bIns="0" rtlCol="0"/>
            <a:lstStyle/>
            <a:p/>
          </p:txBody>
        </p:sp>
        <p:sp>
          <p:nvSpPr>
            <p:cNvPr id="14" name="object 14" descr=""/>
            <p:cNvSpPr/>
            <p:nvPr/>
          </p:nvSpPr>
          <p:spPr>
            <a:xfrm>
              <a:off x="225348" y="815771"/>
              <a:ext cx="1380490" cy="1992630"/>
            </a:xfrm>
            <a:custGeom>
              <a:avLst/>
              <a:gdLst/>
              <a:ahLst/>
              <a:cxnLst/>
              <a:rect l="l" t="t" r="r" b="b"/>
              <a:pathLst>
                <a:path w="1380490" h="1992630">
                  <a:moveTo>
                    <a:pt x="0" y="0"/>
                  </a:moveTo>
                  <a:lnTo>
                    <a:pt x="1380007" y="0"/>
                  </a:lnTo>
                  <a:lnTo>
                    <a:pt x="1380007" y="1992185"/>
                  </a:lnTo>
                  <a:lnTo>
                    <a:pt x="0" y="1992185"/>
                  </a:lnTo>
                  <a:lnTo>
                    <a:pt x="0" y="0"/>
                  </a:lnTo>
                  <a:close/>
                </a:path>
              </a:pathLst>
            </a:custGeom>
            <a:ln w="25400">
              <a:solidFill>
                <a:srgbClr val="2F2F98"/>
              </a:solidFill>
            </a:ln>
          </p:spPr>
          <p:txBody>
            <a:bodyPr wrap="square" lIns="0" tIns="0" rIns="0" bIns="0" rtlCol="0"/>
            <a:lstStyle/>
            <a:p/>
          </p:txBody>
        </p:sp>
      </p:grpSp>
      <p:grpSp>
        <p:nvGrpSpPr>
          <p:cNvPr id="15" name="object 15" descr=""/>
          <p:cNvGrpSpPr/>
          <p:nvPr/>
        </p:nvGrpSpPr>
        <p:grpSpPr>
          <a:xfrm>
            <a:off x="3890009" y="1093470"/>
            <a:ext cx="5063490" cy="3822700"/>
            <a:chOff x="3890009" y="1093470"/>
            <a:chExt cx="5063490" cy="3822700"/>
          </a:xfrm>
        </p:grpSpPr>
        <p:pic>
          <p:nvPicPr>
            <p:cNvPr id="16" name="object 16"/>
            <p:cNvPicPr/>
            <p:nvPr/>
          </p:nvPicPr>
          <p:blipFill>
            <a:blip r:embed="rId5" cstate="print"/>
            <a:stretch>
              <a:fillRect/>
            </a:stretch>
          </p:blipFill>
          <p:spPr>
            <a:xfrm>
              <a:off x="4517897" y="1093470"/>
              <a:ext cx="4435589" cy="3822191"/>
            </a:xfrm>
            <a:prstGeom prst="rect">
              <a:avLst/>
            </a:prstGeom>
          </p:spPr>
        </p:pic>
        <p:sp>
          <p:nvSpPr>
            <p:cNvPr id="17" name="object 17" descr=""/>
            <p:cNvSpPr/>
            <p:nvPr/>
          </p:nvSpPr>
          <p:spPr>
            <a:xfrm>
              <a:off x="4571999" y="1123950"/>
              <a:ext cx="4327525" cy="3715385"/>
            </a:xfrm>
            <a:custGeom>
              <a:avLst/>
              <a:gdLst/>
              <a:ahLst/>
              <a:cxnLst/>
              <a:rect l="l" t="t" r="r" b="b"/>
              <a:pathLst>
                <a:path w="4327525" h="3715385">
                  <a:moveTo>
                    <a:pt x="4327385" y="0"/>
                  </a:moveTo>
                  <a:lnTo>
                    <a:pt x="0" y="0"/>
                  </a:lnTo>
                  <a:lnTo>
                    <a:pt x="0" y="3715143"/>
                  </a:lnTo>
                  <a:lnTo>
                    <a:pt x="4327385" y="3715143"/>
                  </a:lnTo>
                  <a:lnTo>
                    <a:pt x="4327385" y="0"/>
                  </a:lnTo>
                  <a:close/>
                </a:path>
              </a:pathLst>
            </a:custGeom>
            <a:solidFill>
              <a:srgbClr val="FFFFFF"/>
            </a:solidFill>
          </p:spPr>
          <p:txBody>
            <a:bodyPr wrap="square" lIns="0" tIns="0" rIns="0" bIns="0" rtlCol="0"/>
            <a:lstStyle/>
            <a:p/>
          </p:txBody>
        </p:sp>
        <p:sp>
          <p:nvSpPr>
            <p:cNvPr id="18" name="object 18" descr=""/>
            <p:cNvSpPr/>
            <p:nvPr/>
          </p:nvSpPr>
          <p:spPr>
            <a:xfrm>
              <a:off x="4571999" y="1123950"/>
              <a:ext cx="4327525" cy="3715385"/>
            </a:xfrm>
            <a:custGeom>
              <a:avLst/>
              <a:gdLst/>
              <a:ahLst/>
              <a:cxnLst/>
              <a:rect l="l" t="t" r="r" b="b"/>
              <a:pathLst>
                <a:path w="4327525" h="3715385">
                  <a:moveTo>
                    <a:pt x="0" y="0"/>
                  </a:moveTo>
                  <a:lnTo>
                    <a:pt x="4327385" y="0"/>
                  </a:lnTo>
                  <a:lnTo>
                    <a:pt x="4327385" y="3715143"/>
                  </a:lnTo>
                  <a:lnTo>
                    <a:pt x="0" y="3715143"/>
                  </a:lnTo>
                  <a:lnTo>
                    <a:pt x="0" y="0"/>
                  </a:lnTo>
                  <a:close/>
                </a:path>
              </a:pathLst>
            </a:custGeom>
            <a:ln w="25400">
              <a:solidFill>
                <a:srgbClr val="2F2F98"/>
              </a:solidFill>
            </a:ln>
          </p:spPr>
          <p:txBody>
            <a:bodyPr wrap="square" lIns="0" tIns="0" rIns="0" bIns="0" rtlCol="0"/>
            <a:lstStyle/>
            <a:p/>
          </p:txBody>
        </p:sp>
        <p:pic>
          <p:nvPicPr>
            <p:cNvPr id="19" name="object 19"/>
            <p:cNvPicPr/>
            <p:nvPr/>
          </p:nvPicPr>
          <p:blipFill>
            <a:blip r:embed="rId6" cstate="print"/>
            <a:stretch>
              <a:fillRect/>
            </a:stretch>
          </p:blipFill>
          <p:spPr>
            <a:xfrm>
              <a:off x="3890009" y="1693164"/>
              <a:ext cx="1487423" cy="2249423"/>
            </a:xfrm>
            <a:prstGeom prst="rect">
              <a:avLst/>
            </a:prstGeom>
          </p:spPr>
        </p:pic>
        <p:sp>
          <p:nvSpPr>
            <p:cNvPr id="20" name="object 20" descr=""/>
            <p:cNvSpPr/>
            <p:nvPr/>
          </p:nvSpPr>
          <p:spPr>
            <a:xfrm>
              <a:off x="3943807" y="1723796"/>
              <a:ext cx="1380490" cy="2142490"/>
            </a:xfrm>
            <a:custGeom>
              <a:avLst/>
              <a:gdLst/>
              <a:ahLst/>
              <a:cxnLst/>
              <a:rect l="l" t="t" r="r" b="b"/>
              <a:pathLst>
                <a:path w="1380489" h="2142490">
                  <a:moveTo>
                    <a:pt x="1380007" y="0"/>
                  </a:moveTo>
                  <a:lnTo>
                    <a:pt x="0" y="0"/>
                  </a:lnTo>
                  <a:lnTo>
                    <a:pt x="0" y="2141880"/>
                  </a:lnTo>
                  <a:lnTo>
                    <a:pt x="1380007" y="2141880"/>
                  </a:lnTo>
                  <a:lnTo>
                    <a:pt x="1380007" y="0"/>
                  </a:lnTo>
                  <a:close/>
                </a:path>
              </a:pathLst>
            </a:custGeom>
            <a:solidFill>
              <a:srgbClr val="FFFFFF"/>
            </a:solidFill>
          </p:spPr>
          <p:txBody>
            <a:bodyPr wrap="square" lIns="0" tIns="0" rIns="0" bIns="0" rtlCol="0"/>
            <a:lstStyle/>
            <a:p/>
          </p:txBody>
        </p:sp>
        <p:sp>
          <p:nvSpPr>
            <p:cNvPr id="21" name="object 21" descr=""/>
            <p:cNvSpPr/>
            <p:nvPr/>
          </p:nvSpPr>
          <p:spPr>
            <a:xfrm>
              <a:off x="3943807" y="1723796"/>
              <a:ext cx="1380490" cy="2142490"/>
            </a:xfrm>
            <a:custGeom>
              <a:avLst/>
              <a:gdLst/>
              <a:ahLst/>
              <a:cxnLst/>
              <a:rect l="l" t="t" r="r" b="b"/>
              <a:pathLst>
                <a:path w="1380489" h="2142490">
                  <a:moveTo>
                    <a:pt x="0" y="0"/>
                  </a:moveTo>
                  <a:lnTo>
                    <a:pt x="1380007" y="0"/>
                  </a:lnTo>
                  <a:lnTo>
                    <a:pt x="1380007" y="2141880"/>
                  </a:lnTo>
                  <a:lnTo>
                    <a:pt x="0" y="2141880"/>
                  </a:lnTo>
                  <a:lnTo>
                    <a:pt x="0" y="0"/>
                  </a:lnTo>
                  <a:close/>
                </a:path>
              </a:pathLst>
            </a:custGeom>
            <a:ln w="25400">
              <a:solidFill>
                <a:srgbClr val="2F2F98"/>
              </a:solidFill>
            </a:ln>
          </p:spPr>
          <p:txBody>
            <a:bodyPr wrap="square" lIns="0" tIns="0" rIns="0" bIns="0" rtlCol="0"/>
            <a:lstStyle/>
            <a:p/>
          </p:txBody>
        </p:sp>
        <p:pic>
          <p:nvPicPr>
            <p:cNvPr id="22" name="object 22" descr=""/>
            <p:cNvPicPr/>
            <p:nvPr/>
          </p:nvPicPr>
          <p:blipFill>
            <a:blip r:embed="rId7" cstate="print"/>
            <a:stretch>
              <a:fillRect/>
            </a:stretch>
          </p:blipFill>
          <p:spPr>
            <a:xfrm>
              <a:off x="4227575" y="2383536"/>
              <a:ext cx="743699" cy="737615"/>
            </a:xfrm>
            <a:prstGeom prst="rect">
              <a:avLst/>
            </a:prstGeom>
          </p:spPr>
        </p:pic>
      </p:grpSp>
      <p:sp>
        <p:nvSpPr>
          <p:cNvPr id="23" name="object 23"/>
          <p:cNvSpPr txBox="1">
            <a:spLocks noGrp="1"/>
          </p:cNvSpPr>
          <p:nvPr>
            <p:ph type="title"/>
          </p:nvPr>
        </p:nvSpPr>
        <p:spPr>
          <a:xfrm>
            <a:off x="2256355" y="154134"/>
            <a:ext cx="4610735" cy="513080"/>
          </a:xfrm>
          <a:prstGeom prst="rect"/>
        </p:spPr>
        <p:txBody>
          <a:bodyPr wrap="square" lIns="0" tIns="12065" rIns="0" bIns="0" rtlCol="0" vert="horz">
            <a:spAutoFit/>
          </a:bodyPr>
          <a:lstStyle/>
          <a:p>
            <a:pPr marL="12700">
              <a:lnSpc>
                <a:spcPct val="100000"/>
              </a:lnSpc>
              <a:spcBef>
                <a:spcPts val="95"/>
              </a:spcBef>
            </a:pPr>
            <a:r>
              <a:rPr dirty="0" spc="-40"/>
              <a:t>室分系统向</a:t>
            </a:r>
            <a:r>
              <a:rPr dirty="0" spc="-30">
                <a:latin typeface="Times New Roman"/>
                <a:cs typeface="Times New Roman"/>
              </a:rPr>
              <a:t>5G</a:t>
            </a:r>
            <a:r>
              <a:rPr dirty="0" spc="-45"/>
              <a:t>演进的策略</a:t>
            </a:r>
          </a:p>
        </p:txBody>
      </p:sp>
      <p:grpSp>
        <p:nvGrpSpPr>
          <p:cNvPr id="24" name="object 24" descr=""/>
          <p:cNvGrpSpPr/>
          <p:nvPr/>
        </p:nvGrpSpPr>
        <p:grpSpPr>
          <a:xfrm>
            <a:off x="1799081" y="3282695"/>
            <a:ext cx="1111250" cy="824230"/>
            <a:chOff x="1799081" y="3282695"/>
            <a:chExt cx="1111250" cy="824230"/>
          </a:xfrm>
        </p:grpSpPr>
        <p:pic>
          <p:nvPicPr>
            <p:cNvPr id="25" name="object 25" descr=""/>
            <p:cNvPicPr/>
            <p:nvPr/>
          </p:nvPicPr>
          <p:blipFill>
            <a:blip r:embed="rId8" cstate="print"/>
            <a:stretch>
              <a:fillRect/>
            </a:stretch>
          </p:blipFill>
          <p:spPr>
            <a:xfrm>
              <a:off x="1799081" y="3282695"/>
              <a:ext cx="1110995" cy="823721"/>
            </a:xfrm>
            <a:prstGeom prst="rect">
              <a:avLst/>
            </a:prstGeom>
          </p:spPr>
        </p:pic>
        <p:sp>
          <p:nvSpPr>
            <p:cNvPr id="26" name="object 26" descr=""/>
            <p:cNvSpPr/>
            <p:nvPr/>
          </p:nvSpPr>
          <p:spPr>
            <a:xfrm>
              <a:off x="2430526" y="3546868"/>
              <a:ext cx="428625" cy="418465"/>
            </a:xfrm>
            <a:custGeom>
              <a:avLst/>
              <a:gdLst/>
              <a:ahLst/>
              <a:cxnLst/>
              <a:rect l="l" t="t" r="r" b="b"/>
              <a:pathLst>
                <a:path w="428625" h="418464">
                  <a:moveTo>
                    <a:pt x="370078" y="224891"/>
                  </a:moveTo>
                  <a:lnTo>
                    <a:pt x="368261" y="223989"/>
                  </a:lnTo>
                  <a:lnTo>
                    <a:pt x="368261" y="222364"/>
                  </a:lnTo>
                  <a:lnTo>
                    <a:pt x="362153" y="219303"/>
                  </a:lnTo>
                  <a:lnTo>
                    <a:pt x="361302" y="219303"/>
                  </a:lnTo>
                  <a:lnTo>
                    <a:pt x="343852" y="202857"/>
                  </a:lnTo>
                  <a:lnTo>
                    <a:pt x="343852" y="238315"/>
                  </a:lnTo>
                  <a:lnTo>
                    <a:pt x="343852" y="393827"/>
                  </a:lnTo>
                  <a:lnTo>
                    <a:pt x="84556" y="393827"/>
                  </a:lnTo>
                  <a:lnTo>
                    <a:pt x="84556" y="237185"/>
                  </a:lnTo>
                  <a:lnTo>
                    <a:pt x="215112" y="111683"/>
                  </a:lnTo>
                  <a:lnTo>
                    <a:pt x="343852" y="238315"/>
                  </a:lnTo>
                  <a:lnTo>
                    <a:pt x="343852" y="202857"/>
                  </a:lnTo>
                  <a:lnTo>
                    <a:pt x="221195" y="87210"/>
                  </a:lnTo>
                  <a:lnTo>
                    <a:pt x="218160" y="81089"/>
                  </a:lnTo>
                  <a:lnTo>
                    <a:pt x="209042" y="81089"/>
                  </a:lnTo>
                  <a:lnTo>
                    <a:pt x="206006" y="87210"/>
                  </a:lnTo>
                  <a:lnTo>
                    <a:pt x="65468" y="219697"/>
                  </a:lnTo>
                  <a:lnTo>
                    <a:pt x="60159" y="222364"/>
                  </a:lnTo>
                  <a:lnTo>
                    <a:pt x="60159" y="224891"/>
                  </a:lnTo>
                  <a:lnTo>
                    <a:pt x="60159" y="234073"/>
                  </a:lnTo>
                  <a:lnTo>
                    <a:pt x="60159" y="415264"/>
                  </a:lnTo>
                  <a:lnTo>
                    <a:pt x="66255" y="418325"/>
                  </a:lnTo>
                  <a:lnTo>
                    <a:pt x="356057" y="418325"/>
                  </a:lnTo>
                  <a:lnTo>
                    <a:pt x="362153" y="418325"/>
                  </a:lnTo>
                  <a:lnTo>
                    <a:pt x="368261" y="415264"/>
                  </a:lnTo>
                  <a:lnTo>
                    <a:pt x="368261" y="235915"/>
                  </a:lnTo>
                  <a:lnTo>
                    <a:pt x="370078" y="234073"/>
                  </a:lnTo>
                  <a:lnTo>
                    <a:pt x="370078" y="224891"/>
                  </a:lnTo>
                  <a:close/>
                </a:path>
                <a:path w="428625" h="418464">
                  <a:moveTo>
                    <a:pt x="428421" y="200761"/>
                  </a:moveTo>
                  <a:lnTo>
                    <a:pt x="422351" y="197675"/>
                  </a:lnTo>
                  <a:lnTo>
                    <a:pt x="218770" y="0"/>
                  </a:lnTo>
                  <a:lnTo>
                    <a:pt x="209651" y="0"/>
                  </a:lnTo>
                  <a:lnTo>
                    <a:pt x="6070" y="197675"/>
                  </a:lnTo>
                  <a:lnTo>
                    <a:pt x="0" y="200761"/>
                  </a:lnTo>
                  <a:lnTo>
                    <a:pt x="0" y="210032"/>
                  </a:lnTo>
                  <a:lnTo>
                    <a:pt x="6070" y="213118"/>
                  </a:lnTo>
                  <a:lnTo>
                    <a:pt x="9105" y="219290"/>
                  </a:lnTo>
                  <a:lnTo>
                    <a:pt x="18224" y="219290"/>
                  </a:lnTo>
                  <a:lnTo>
                    <a:pt x="21259" y="213118"/>
                  </a:lnTo>
                  <a:lnTo>
                    <a:pt x="215722" y="30886"/>
                  </a:lnTo>
                  <a:lnTo>
                    <a:pt x="407149" y="213118"/>
                  </a:lnTo>
                  <a:lnTo>
                    <a:pt x="410184" y="216204"/>
                  </a:lnTo>
                  <a:lnTo>
                    <a:pt x="416267" y="216204"/>
                  </a:lnTo>
                  <a:lnTo>
                    <a:pt x="422351" y="216204"/>
                  </a:lnTo>
                  <a:lnTo>
                    <a:pt x="428421" y="210032"/>
                  </a:lnTo>
                  <a:lnTo>
                    <a:pt x="428421" y="200761"/>
                  </a:lnTo>
                  <a:close/>
                </a:path>
              </a:pathLst>
            </a:custGeom>
            <a:solidFill>
              <a:srgbClr val="C00000"/>
            </a:solidFill>
          </p:spPr>
          <p:txBody>
            <a:bodyPr wrap="square" lIns="0" tIns="0" rIns="0" bIns="0" rtlCol="0"/>
            <a:lstStyle/>
            <a:p/>
          </p:txBody>
        </p:sp>
        <p:pic>
          <p:nvPicPr>
            <p:cNvPr id="27" name="object 27" descr=""/>
            <p:cNvPicPr/>
            <p:nvPr/>
          </p:nvPicPr>
          <p:blipFill>
            <a:blip r:embed="rId9" cstate="print"/>
            <a:stretch>
              <a:fillRect/>
            </a:stretch>
          </p:blipFill>
          <p:spPr>
            <a:xfrm>
              <a:off x="2583663" y="3804864"/>
              <a:ext cx="123964" cy="160324"/>
            </a:xfrm>
            <a:prstGeom prst="rect">
              <a:avLst/>
            </a:prstGeom>
          </p:spPr>
        </p:pic>
        <p:sp>
          <p:nvSpPr>
            <p:cNvPr id="28" name="object 28" descr=""/>
            <p:cNvSpPr/>
            <p:nvPr/>
          </p:nvSpPr>
          <p:spPr>
            <a:xfrm>
              <a:off x="1850771" y="3325723"/>
              <a:ext cx="594995" cy="691515"/>
            </a:xfrm>
            <a:custGeom>
              <a:avLst/>
              <a:gdLst/>
              <a:ahLst/>
              <a:cxnLst/>
              <a:rect l="l" t="t" r="r" b="b"/>
              <a:pathLst>
                <a:path w="594994" h="691514">
                  <a:moveTo>
                    <a:pt x="100418" y="350037"/>
                  </a:moveTo>
                  <a:lnTo>
                    <a:pt x="65544" y="307975"/>
                  </a:lnTo>
                  <a:lnTo>
                    <a:pt x="41529" y="264464"/>
                  </a:lnTo>
                  <a:lnTo>
                    <a:pt x="27647" y="220954"/>
                  </a:lnTo>
                  <a:lnTo>
                    <a:pt x="23177" y="178904"/>
                  </a:lnTo>
                  <a:lnTo>
                    <a:pt x="27406" y="138303"/>
                  </a:lnTo>
                  <a:lnTo>
                    <a:pt x="39585" y="99174"/>
                  </a:lnTo>
                  <a:lnTo>
                    <a:pt x="59016" y="62953"/>
                  </a:lnTo>
                  <a:lnTo>
                    <a:pt x="84963" y="31102"/>
                  </a:lnTo>
                  <a:lnTo>
                    <a:pt x="89319" y="25273"/>
                  </a:lnTo>
                  <a:lnTo>
                    <a:pt x="90766" y="19443"/>
                  </a:lnTo>
                  <a:lnTo>
                    <a:pt x="89319" y="13614"/>
                  </a:lnTo>
                  <a:lnTo>
                    <a:pt x="84963" y="7772"/>
                  </a:lnTo>
                  <a:lnTo>
                    <a:pt x="77241" y="0"/>
                  </a:lnTo>
                  <a:lnTo>
                    <a:pt x="69519" y="0"/>
                  </a:lnTo>
                  <a:lnTo>
                    <a:pt x="69519" y="7772"/>
                  </a:lnTo>
                  <a:lnTo>
                    <a:pt x="39116" y="45453"/>
                  </a:lnTo>
                  <a:lnTo>
                    <a:pt x="17386" y="87503"/>
                  </a:lnTo>
                  <a:lnTo>
                    <a:pt x="4343" y="132473"/>
                  </a:lnTo>
                  <a:lnTo>
                    <a:pt x="0" y="178904"/>
                  </a:lnTo>
                  <a:lnTo>
                    <a:pt x="4470" y="226669"/>
                  </a:lnTo>
                  <a:lnTo>
                    <a:pt x="18351" y="275170"/>
                  </a:lnTo>
                  <a:lnTo>
                    <a:pt x="42367" y="322199"/>
                  </a:lnTo>
                  <a:lnTo>
                    <a:pt x="77241" y="365594"/>
                  </a:lnTo>
                  <a:lnTo>
                    <a:pt x="88836" y="371424"/>
                  </a:lnTo>
                  <a:lnTo>
                    <a:pt x="94627" y="369963"/>
                  </a:lnTo>
                  <a:lnTo>
                    <a:pt x="100418" y="365594"/>
                  </a:lnTo>
                  <a:lnTo>
                    <a:pt x="100418" y="350037"/>
                  </a:lnTo>
                  <a:close/>
                </a:path>
                <a:path w="594994" h="691514">
                  <a:moveTo>
                    <a:pt x="174929" y="327050"/>
                  </a:moveTo>
                  <a:lnTo>
                    <a:pt x="167462" y="327050"/>
                  </a:lnTo>
                  <a:lnTo>
                    <a:pt x="142341" y="291833"/>
                  </a:lnTo>
                  <a:lnTo>
                    <a:pt x="123532" y="255892"/>
                  </a:lnTo>
                  <a:lnTo>
                    <a:pt x="111747" y="218490"/>
                  </a:lnTo>
                  <a:lnTo>
                    <a:pt x="107657" y="178892"/>
                  </a:lnTo>
                  <a:lnTo>
                    <a:pt x="110578" y="144043"/>
                  </a:lnTo>
                  <a:lnTo>
                    <a:pt x="119799" y="110655"/>
                  </a:lnTo>
                  <a:lnTo>
                    <a:pt x="136042" y="80187"/>
                  </a:lnTo>
                  <a:lnTo>
                    <a:pt x="159981" y="54114"/>
                  </a:lnTo>
                  <a:lnTo>
                    <a:pt x="159981" y="30721"/>
                  </a:lnTo>
                  <a:lnTo>
                    <a:pt x="154368" y="26339"/>
                  </a:lnTo>
                  <a:lnTo>
                    <a:pt x="148767" y="24866"/>
                  </a:lnTo>
                  <a:lnTo>
                    <a:pt x="143154" y="26339"/>
                  </a:lnTo>
                  <a:lnTo>
                    <a:pt x="112445" y="62649"/>
                  </a:lnTo>
                  <a:lnTo>
                    <a:pt x="93637" y="98958"/>
                  </a:lnTo>
                  <a:lnTo>
                    <a:pt x="81838" y="138188"/>
                  </a:lnTo>
                  <a:lnTo>
                    <a:pt x="77749" y="178892"/>
                  </a:lnTo>
                  <a:lnTo>
                    <a:pt x="81953" y="220929"/>
                  </a:lnTo>
                  <a:lnTo>
                    <a:pt x="94564" y="263690"/>
                  </a:lnTo>
                  <a:lnTo>
                    <a:pt x="115595" y="305003"/>
                  </a:lnTo>
                  <a:lnTo>
                    <a:pt x="145034" y="342646"/>
                  </a:lnTo>
                  <a:lnTo>
                    <a:pt x="156248" y="348488"/>
                  </a:lnTo>
                  <a:lnTo>
                    <a:pt x="161848" y="347027"/>
                  </a:lnTo>
                  <a:lnTo>
                    <a:pt x="167462" y="342646"/>
                  </a:lnTo>
                  <a:lnTo>
                    <a:pt x="174929" y="334848"/>
                  </a:lnTo>
                  <a:lnTo>
                    <a:pt x="174929" y="327050"/>
                  </a:lnTo>
                  <a:close/>
                </a:path>
                <a:path w="594994" h="691514">
                  <a:moveTo>
                    <a:pt x="244284" y="308102"/>
                  </a:moveTo>
                  <a:lnTo>
                    <a:pt x="242849" y="302272"/>
                  </a:lnTo>
                  <a:lnTo>
                    <a:pt x="238544" y="296456"/>
                  </a:lnTo>
                  <a:lnTo>
                    <a:pt x="218440" y="271703"/>
                  </a:lnTo>
                  <a:lnTo>
                    <a:pt x="204089" y="244030"/>
                  </a:lnTo>
                  <a:lnTo>
                    <a:pt x="195465" y="213448"/>
                  </a:lnTo>
                  <a:lnTo>
                    <a:pt x="192595" y="179946"/>
                  </a:lnTo>
                  <a:lnTo>
                    <a:pt x="194271" y="151053"/>
                  </a:lnTo>
                  <a:lnTo>
                    <a:pt x="200253" y="123634"/>
                  </a:lnTo>
                  <a:lnTo>
                    <a:pt x="211975" y="99123"/>
                  </a:lnTo>
                  <a:lnTo>
                    <a:pt x="230886" y="78981"/>
                  </a:lnTo>
                  <a:lnTo>
                    <a:pt x="235191" y="73152"/>
                  </a:lnTo>
                  <a:lnTo>
                    <a:pt x="236626" y="67322"/>
                  </a:lnTo>
                  <a:lnTo>
                    <a:pt x="235191" y="61506"/>
                  </a:lnTo>
                  <a:lnTo>
                    <a:pt x="230886" y="55676"/>
                  </a:lnTo>
                  <a:lnTo>
                    <a:pt x="207911" y="55676"/>
                  </a:lnTo>
                  <a:lnTo>
                    <a:pt x="187807" y="84924"/>
                  </a:lnTo>
                  <a:lnTo>
                    <a:pt x="173456" y="114896"/>
                  </a:lnTo>
                  <a:lnTo>
                    <a:pt x="164846" y="146329"/>
                  </a:lnTo>
                  <a:lnTo>
                    <a:pt x="161975" y="179946"/>
                  </a:lnTo>
                  <a:lnTo>
                    <a:pt x="166166" y="215988"/>
                  </a:lnTo>
                  <a:lnTo>
                    <a:pt x="178244" y="252768"/>
                  </a:lnTo>
                  <a:lnTo>
                    <a:pt x="197497" y="288086"/>
                  </a:lnTo>
                  <a:lnTo>
                    <a:pt x="223227" y="319760"/>
                  </a:lnTo>
                  <a:lnTo>
                    <a:pt x="223227" y="327520"/>
                  </a:lnTo>
                  <a:lnTo>
                    <a:pt x="230886" y="327520"/>
                  </a:lnTo>
                  <a:lnTo>
                    <a:pt x="238544" y="319760"/>
                  </a:lnTo>
                  <a:lnTo>
                    <a:pt x="242849" y="313931"/>
                  </a:lnTo>
                  <a:lnTo>
                    <a:pt x="244284" y="308102"/>
                  </a:lnTo>
                  <a:close/>
                </a:path>
                <a:path w="594994" h="691514">
                  <a:moveTo>
                    <a:pt x="594728" y="681228"/>
                  </a:moveTo>
                  <a:lnTo>
                    <a:pt x="591591" y="675525"/>
                  </a:lnTo>
                  <a:lnTo>
                    <a:pt x="580517" y="644436"/>
                  </a:lnTo>
                  <a:lnTo>
                    <a:pt x="558355" y="582244"/>
                  </a:lnTo>
                  <a:lnTo>
                    <a:pt x="514045" y="457873"/>
                  </a:lnTo>
                  <a:lnTo>
                    <a:pt x="502970" y="426783"/>
                  </a:lnTo>
                  <a:lnTo>
                    <a:pt x="476186" y="351624"/>
                  </a:lnTo>
                  <a:lnTo>
                    <a:pt x="476186" y="520065"/>
                  </a:lnTo>
                  <a:lnTo>
                    <a:pt x="470903" y="542899"/>
                  </a:lnTo>
                  <a:lnTo>
                    <a:pt x="456958" y="562813"/>
                  </a:lnTo>
                  <a:lnTo>
                    <a:pt x="437248" y="576897"/>
                  </a:lnTo>
                  <a:lnTo>
                    <a:pt x="414642" y="582244"/>
                  </a:lnTo>
                  <a:lnTo>
                    <a:pt x="392049" y="576897"/>
                  </a:lnTo>
                  <a:lnTo>
                    <a:pt x="372325" y="562813"/>
                  </a:lnTo>
                  <a:lnTo>
                    <a:pt x="358381" y="542899"/>
                  </a:lnTo>
                  <a:lnTo>
                    <a:pt x="353085" y="520065"/>
                  </a:lnTo>
                  <a:lnTo>
                    <a:pt x="358381" y="493941"/>
                  </a:lnTo>
                  <a:lnTo>
                    <a:pt x="392049" y="462127"/>
                  </a:lnTo>
                  <a:lnTo>
                    <a:pt x="437248" y="462127"/>
                  </a:lnTo>
                  <a:lnTo>
                    <a:pt x="470903" y="493941"/>
                  </a:lnTo>
                  <a:lnTo>
                    <a:pt x="476186" y="520065"/>
                  </a:lnTo>
                  <a:lnTo>
                    <a:pt x="476186" y="351624"/>
                  </a:lnTo>
                  <a:lnTo>
                    <a:pt x="475272" y="349046"/>
                  </a:lnTo>
                  <a:lnTo>
                    <a:pt x="453110" y="286867"/>
                  </a:lnTo>
                  <a:lnTo>
                    <a:pt x="453110" y="387921"/>
                  </a:lnTo>
                  <a:lnTo>
                    <a:pt x="450354" y="403834"/>
                  </a:lnTo>
                  <a:lnTo>
                    <a:pt x="442531" y="416090"/>
                  </a:lnTo>
                  <a:lnTo>
                    <a:pt x="430390" y="423989"/>
                  </a:lnTo>
                  <a:lnTo>
                    <a:pt x="414642" y="426783"/>
                  </a:lnTo>
                  <a:lnTo>
                    <a:pt x="398894" y="423989"/>
                  </a:lnTo>
                  <a:lnTo>
                    <a:pt x="386753" y="416090"/>
                  </a:lnTo>
                  <a:lnTo>
                    <a:pt x="378942" y="403834"/>
                  </a:lnTo>
                  <a:lnTo>
                    <a:pt x="376174" y="387921"/>
                  </a:lnTo>
                  <a:lnTo>
                    <a:pt x="378942" y="372008"/>
                  </a:lnTo>
                  <a:lnTo>
                    <a:pt x="386753" y="359740"/>
                  </a:lnTo>
                  <a:lnTo>
                    <a:pt x="398894" y="351840"/>
                  </a:lnTo>
                  <a:lnTo>
                    <a:pt x="414642" y="349046"/>
                  </a:lnTo>
                  <a:lnTo>
                    <a:pt x="430390" y="351840"/>
                  </a:lnTo>
                  <a:lnTo>
                    <a:pt x="442531" y="359740"/>
                  </a:lnTo>
                  <a:lnTo>
                    <a:pt x="450354" y="372008"/>
                  </a:lnTo>
                  <a:lnTo>
                    <a:pt x="453110" y="387921"/>
                  </a:lnTo>
                  <a:lnTo>
                    <a:pt x="453110" y="286867"/>
                  </a:lnTo>
                  <a:lnTo>
                    <a:pt x="483044" y="237299"/>
                  </a:lnTo>
                  <a:lnTo>
                    <a:pt x="494461" y="224675"/>
                  </a:lnTo>
                  <a:lnTo>
                    <a:pt x="498665" y="212039"/>
                  </a:lnTo>
                  <a:lnTo>
                    <a:pt x="499262" y="193586"/>
                  </a:lnTo>
                  <a:lnTo>
                    <a:pt x="492531" y="160540"/>
                  </a:lnTo>
                  <a:lnTo>
                    <a:pt x="474268" y="133337"/>
                  </a:lnTo>
                  <a:lnTo>
                    <a:pt x="447344" y="114884"/>
                  </a:lnTo>
                  <a:lnTo>
                    <a:pt x="414642" y="108077"/>
                  </a:lnTo>
                  <a:lnTo>
                    <a:pt x="381952" y="114884"/>
                  </a:lnTo>
                  <a:lnTo>
                    <a:pt x="355015" y="133337"/>
                  </a:lnTo>
                  <a:lnTo>
                    <a:pt x="336740" y="160540"/>
                  </a:lnTo>
                  <a:lnTo>
                    <a:pt x="330009" y="193586"/>
                  </a:lnTo>
                  <a:lnTo>
                    <a:pt x="336029" y="216420"/>
                  </a:lnTo>
                  <a:lnTo>
                    <a:pt x="349250" y="236334"/>
                  </a:lnTo>
                  <a:lnTo>
                    <a:pt x="362470" y="250418"/>
                  </a:lnTo>
                  <a:lnTo>
                    <a:pt x="368477" y="255765"/>
                  </a:lnTo>
                  <a:lnTo>
                    <a:pt x="372935" y="262813"/>
                  </a:lnTo>
                  <a:lnTo>
                    <a:pt x="375221" y="271310"/>
                  </a:lnTo>
                  <a:lnTo>
                    <a:pt x="376059" y="279819"/>
                  </a:lnTo>
                  <a:lnTo>
                    <a:pt x="376174" y="286867"/>
                  </a:lnTo>
                  <a:lnTo>
                    <a:pt x="237693" y="675525"/>
                  </a:lnTo>
                  <a:lnTo>
                    <a:pt x="234569" y="681228"/>
                  </a:lnTo>
                  <a:lnTo>
                    <a:pt x="235775" y="686206"/>
                  </a:lnTo>
                  <a:lnTo>
                    <a:pt x="239852" y="689737"/>
                  </a:lnTo>
                  <a:lnTo>
                    <a:pt x="245376" y="691070"/>
                  </a:lnTo>
                  <a:lnTo>
                    <a:pt x="304292" y="664108"/>
                  </a:lnTo>
                  <a:lnTo>
                    <a:pt x="341553" y="650265"/>
                  </a:lnTo>
                  <a:lnTo>
                    <a:pt x="373049" y="645160"/>
                  </a:lnTo>
                  <a:lnTo>
                    <a:pt x="414642" y="644436"/>
                  </a:lnTo>
                  <a:lnTo>
                    <a:pt x="470306" y="651725"/>
                  </a:lnTo>
                  <a:lnTo>
                    <a:pt x="525233" y="667753"/>
                  </a:lnTo>
                  <a:lnTo>
                    <a:pt x="567194" y="683780"/>
                  </a:lnTo>
                  <a:lnTo>
                    <a:pt x="583895" y="691070"/>
                  </a:lnTo>
                  <a:lnTo>
                    <a:pt x="589432" y="689737"/>
                  </a:lnTo>
                  <a:lnTo>
                    <a:pt x="593521" y="686206"/>
                  </a:lnTo>
                  <a:lnTo>
                    <a:pt x="594728" y="681228"/>
                  </a:lnTo>
                  <a:close/>
                </a:path>
              </a:pathLst>
            </a:custGeom>
            <a:solidFill>
              <a:srgbClr val="C00000"/>
            </a:solidFill>
          </p:spPr>
          <p:txBody>
            <a:bodyPr wrap="square" lIns="0" tIns="0" rIns="0" bIns="0" rtlCol="0"/>
            <a:lstStyle/>
            <a:p/>
          </p:txBody>
        </p:sp>
        <p:pic>
          <p:nvPicPr>
            <p:cNvPr id="29" name="object 29" descr=""/>
            <p:cNvPicPr/>
            <p:nvPr/>
          </p:nvPicPr>
          <p:blipFill>
            <a:blip r:embed="rId10" cstate="print"/>
            <a:stretch>
              <a:fillRect/>
            </a:stretch>
          </p:blipFill>
          <p:spPr>
            <a:xfrm>
              <a:off x="2096970" y="3404317"/>
              <a:ext cx="66141" cy="216166"/>
            </a:xfrm>
            <a:prstGeom prst="rect">
              <a:avLst/>
            </a:prstGeom>
          </p:spPr>
        </p:pic>
        <p:pic>
          <p:nvPicPr>
            <p:cNvPr id="30" name="object 30" descr=""/>
            <p:cNvPicPr/>
            <p:nvPr/>
          </p:nvPicPr>
          <p:blipFill>
            <a:blip r:embed="rId11" cstate="print"/>
            <a:stretch>
              <a:fillRect/>
            </a:stretch>
          </p:blipFill>
          <p:spPr>
            <a:xfrm>
              <a:off x="2265415" y="3296241"/>
              <a:ext cx="236481" cy="222708"/>
            </a:xfrm>
            <a:prstGeom prst="rect">
              <a:avLst/>
            </a:prstGeom>
          </p:spPr>
        </p:pic>
      </p:grpSp>
      <p:pic>
        <p:nvPicPr>
          <p:cNvPr id="31" name="object 31"/>
          <p:cNvPicPr/>
          <p:nvPr/>
        </p:nvPicPr>
        <p:blipFill>
          <a:blip r:embed="rId12" cstate="print"/>
          <a:stretch>
            <a:fillRect/>
          </a:stretch>
        </p:blipFill>
        <p:spPr>
          <a:xfrm>
            <a:off x="2045538" y="1409119"/>
            <a:ext cx="618654" cy="761928"/>
          </a:xfrm>
          <a:prstGeom prst="rect">
            <a:avLst/>
          </a:prstGeom>
        </p:spPr>
      </p:pic>
      <p:sp>
        <p:nvSpPr>
          <p:cNvPr id="32" name="object 32" descr=""/>
          <p:cNvSpPr txBox="1"/>
          <p:nvPr/>
        </p:nvSpPr>
        <p:spPr>
          <a:xfrm>
            <a:off x="307399" y="2268132"/>
            <a:ext cx="1242060" cy="389890"/>
          </a:xfrm>
          <a:prstGeom prst="rect">
            <a:avLst/>
          </a:prstGeom>
        </p:spPr>
        <p:txBody>
          <a:bodyPr wrap="square" lIns="0" tIns="12700" rIns="0" bIns="0" rtlCol="0" vert="horz">
            <a:spAutoFit/>
          </a:bodyPr>
          <a:lstStyle/>
          <a:p>
            <a:pPr marL="12700" marR="5080">
              <a:lnSpc>
                <a:spcPct val="99400"/>
              </a:lnSpc>
              <a:spcBef>
                <a:spcPts val="100"/>
              </a:spcBef>
            </a:pPr>
            <a:r>
              <a:rPr dirty="0" sz="800" spc="-10">
                <a:latin typeface="Microsoft YaHei"/>
                <a:cs typeface="Microsoft YaHei"/>
              </a:rPr>
              <a:t>有源化部署逐步加大，兼顾成本；存量超过</a:t>
            </a:r>
            <a:r>
              <a:rPr dirty="0" sz="800" spc="-15">
                <a:latin typeface="Microsoft YaHei"/>
                <a:cs typeface="Microsoft YaHei"/>
              </a:rPr>
              <a:t>70</a:t>
            </a:r>
            <a:r>
              <a:rPr dirty="0" sz="800" spc="-10">
                <a:latin typeface="Microsoft YaHei"/>
                <a:cs typeface="Microsoft YaHei"/>
              </a:rPr>
              <a:t>万站点的无源分布面临演进决策</a:t>
            </a:r>
            <a:endParaRPr sz="800">
              <a:latin typeface="Microsoft YaHei"/>
              <a:cs typeface="Microsoft YaHei"/>
            </a:endParaRPr>
          </a:p>
        </p:txBody>
      </p:sp>
      <p:sp>
        <p:nvSpPr>
          <p:cNvPr id="33" name="object 33" descr=""/>
          <p:cNvSpPr txBox="1"/>
          <p:nvPr/>
        </p:nvSpPr>
        <p:spPr>
          <a:xfrm>
            <a:off x="4423759" y="2586852"/>
            <a:ext cx="296545" cy="269875"/>
          </a:xfrm>
          <a:prstGeom prst="rect">
            <a:avLst/>
          </a:prstGeom>
        </p:spPr>
        <p:txBody>
          <a:bodyPr wrap="square" lIns="0" tIns="12700" rIns="0" bIns="0" rtlCol="0" vert="horz">
            <a:spAutoFit/>
          </a:bodyPr>
          <a:lstStyle/>
          <a:p>
            <a:pPr marL="12700">
              <a:lnSpc>
                <a:spcPct val="100000"/>
              </a:lnSpc>
              <a:spcBef>
                <a:spcPts val="100"/>
              </a:spcBef>
            </a:pPr>
            <a:r>
              <a:rPr dirty="0" sz="1600" spc="-25" b="1">
                <a:solidFill>
                  <a:srgbClr val="FFFFFF"/>
                </a:solidFill>
                <a:latin typeface="Arial"/>
                <a:cs typeface="Arial"/>
              </a:rPr>
              <a:t>5G</a:t>
            </a:r>
            <a:endParaRPr sz="1600">
              <a:latin typeface="Arial"/>
              <a:cs typeface="Arial"/>
            </a:endParaRPr>
          </a:p>
        </p:txBody>
      </p:sp>
      <p:sp>
        <p:nvSpPr>
          <p:cNvPr id="34" name="object 34" descr=""/>
          <p:cNvSpPr txBox="1"/>
          <p:nvPr/>
        </p:nvSpPr>
        <p:spPr>
          <a:xfrm>
            <a:off x="1627171" y="2271233"/>
            <a:ext cx="1548765" cy="147320"/>
          </a:xfrm>
          <a:prstGeom prst="rect">
            <a:avLst/>
          </a:prstGeom>
        </p:spPr>
        <p:txBody>
          <a:bodyPr wrap="square" lIns="0" tIns="12065" rIns="0" bIns="0" rtlCol="0" vert="horz">
            <a:spAutoFit/>
          </a:bodyPr>
          <a:lstStyle/>
          <a:p>
            <a:pPr marL="12700">
              <a:lnSpc>
                <a:spcPct val="100000"/>
              </a:lnSpc>
              <a:spcBef>
                <a:spcPts val="95"/>
              </a:spcBef>
            </a:pPr>
            <a:r>
              <a:rPr dirty="0" sz="800" spc="-15">
                <a:latin typeface="Microsoft YaHei"/>
                <a:cs typeface="Microsoft YaHei"/>
              </a:rPr>
              <a:t>目前有源化微站只支持单运营商，</a:t>
            </a:r>
            <a:endParaRPr sz="800">
              <a:latin typeface="Microsoft YaHei"/>
              <a:cs typeface="Microsoft YaHei"/>
            </a:endParaRPr>
          </a:p>
        </p:txBody>
      </p:sp>
      <p:sp>
        <p:nvSpPr>
          <p:cNvPr id="35" name="object 35" descr=""/>
          <p:cNvSpPr txBox="1"/>
          <p:nvPr/>
        </p:nvSpPr>
        <p:spPr>
          <a:xfrm>
            <a:off x="1627171" y="2393152"/>
            <a:ext cx="1444625" cy="389890"/>
          </a:xfrm>
          <a:prstGeom prst="rect">
            <a:avLst/>
          </a:prstGeom>
        </p:spPr>
        <p:txBody>
          <a:bodyPr wrap="square" lIns="0" tIns="12700" rIns="0" bIns="0" rtlCol="0" vert="horz">
            <a:spAutoFit/>
          </a:bodyPr>
          <a:lstStyle/>
          <a:p>
            <a:pPr algn="just" marL="12700" marR="5080">
              <a:lnSpc>
                <a:spcPct val="99400"/>
              </a:lnSpc>
              <a:spcBef>
                <a:spcPts val="100"/>
              </a:spcBef>
            </a:pPr>
            <a:r>
              <a:rPr dirty="0" sz="800" spc="-15">
                <a:latin typeface="Microsoft YaHei"/>
                <a:cs typeface="Microsoft YaHei"/>
              </a:rPr>
              <a:t>无法兼顾共享；方案以传统分布系统为主，后续引入光纤分布系</a:t>
            </a:r>
            <a:r>
              <a:rPr dirty="0" sz="800" spc="-20">
                <a:latin typeface="Microsoft YaHei"/>
                <a:cs typeface="Microsoft YaHei"/>
              </a:rPr>
              <a:t>统向有源化转型</a:t>
            </a:r>
            <a:endParaRPr sz="800">
              <a:latin typeface="Microsoft YaHei"/>
              <a:cs typeface="Microsoft YaHei"/>
            </a:endParaRPr>
          </a:p>
        </p:txBody>
      </p:sp>
      <p:sp>
        <p:nvSpPr>
          <p:cNvPr id="36" name="object 36" descr=""/>
          <p:cNvSpPr txBox="1"/>
          <p:nvPr/>
        </p:nvSpPr>
        <p:spPr>
          <a:xfrm>
            <a:off x="349501" y="4321666"/>
            <a:ext cx="1140460" cy="511809"/>
          </a:xfrm>
          <a:prstGeom prst="rect">
            <a:avLst/>
          </a:prstGeom>
        </p:spPr>
        <p:txBody>
          <a:bodyPr wrap="square" lIns="0" tIns="12700" rIns="0" bIns="0" rtlCol="0" vert="horz">
            <a:spAutoFit/>
          </a:bodyPr>
          <a:lstStyle/>
          <a:p>
            <a:pPr algn="just" marL="12700" marR="5080">
              <a:lnSpc>
                <a:spcPct val="99600"/>
              </a:lnSpc>
              <a:spcBef>
                <a:spcPts val="100"/>
              </a:spcBef>
            </a:pPr>
            <a:r>
              <a:rPr dirty="0" sz="800" spc="-15">
                <a:latin typeface="Microsoft YaHei"/>
                <a:cs typeface="Microsoft YaHei"/>
              </a:rPr>
              <a:t>力推室内设备和解决方案有源化，逐步侵蚀传统室分厂家市场。目前无多家共享有源设备研发计划</a:t>
            </a:r>
            <a:endParaRPr sz="800">
              <a:latin typeface="Microsoft YaHei"/>
              <a:cs typeface="Microsoft YaHei"/>
            </a:endParaRPr>
          </a:p>
        </p:txBody>
      </p:sp>
      <p:sp>
        <p:nvSpPr>
          <p:cNvPr id="37" name="object 37" descr=""/>
          <p:cNvSpPr txBox="1"/>
          <p:nvPr/>
        </p:nvSpPr>
        <p:spPr>
          <a:xfrm>
            <a:off x="1771386" y="4166099"/>
            <a:ext cx="1261745" cy="633730"/>
          </a:xfrm>
          <a:prstGeom prst="rect">
            <a:avLst/>
          </a:prstGeom>
        </p:spPr>
        <p:txBody>
          <a:bodyPr wrap="square" lIns="0" tIns="12700" rIns="0" bIns="0" rtlCol="0" vert="horz">
            <a:spAutoFit/>
          </a:bodyPr>
          <a:lstStyle/>
          <a:p>
            <a:pPr marL="12700" marR="5080">
              <a:lnSpc>
                <a:spcPct val="99700"/>
              </a:lnSpc>
              <a:spcBef>
                <a:spcPts val="100"/>
              </a:spcBef>
            </a:pPr>
            <a:r>
              <a:rPr dirty="0" sz="800" spc="-10">
                <a:latin typeface="Microsoft YaHei"/>
                <a:cs typeface="Microsoft YaHei"/>
              </a:rPr>
              <a:t>研发支持3.5G</a:t>
            </a:r>
            <a:r>
              <a:rPr dirty="0" sz="800" spc="-20">
                <a:latin typeface="Microsoft YaHei"/>
                <a:cs typeface="Microsoft YaHei"/>
              </a:rPr>
              <a:t>器件及天线，</a:t>
            </a:r>
            <a:r>
              <a:rPr dirty="0" sz="800" spc="-15">
                <a:latin typeface="Microsoft YaHei"/>
                <a:cs typeface="Microsoft YaHei"/>
              </a:rPr>
              <a:t>延长无源分布系统使用寿</a:t>
            </a:r>
            <a:r>
              <a:rPr dirty="0" sz="800" spc="500">
                <a:latin typeface="Microsoft YaHei"/>
                <a:cs typeface="Microsoft YaHei"/>
              </a:rPr>
              <a:t> </a:t>
            </a:r>
            <a:r>
              <a:rPr dirty="0" sz="800" spc="-15">
                <a:latin typeface="Microsoft YaHei"/>
                <a:cs typeface="Microsoft YaHei"/>
              </a:rPr>
              <a:t>命；研发微站和光分等有源设备，与主设备商在室内展</a:t>
            </a:r>
            <a:r>
              <a:rPr dirty="0" sz="800" spc="-25">
                <a:latin typeface="Microsoft YaHei"/>
                <a:cs typeface="Microsoft YaHei"/>
              </a:rPr>
              <a:t>开竞争</a:t>
            </a:r>
            <a:endParaRPr sz="800">
              <a:latin typeface="Microsoft YaHei"/>
              <a:cs typeface="Microsoft YaHei"/>
            </a:endParaRPr>
          </a:p>
        </p:txBody>
      </p:sp>
      <p:sp>
        <p:nvSpPr>
          <p:cNvPr id="38" name="object 38" descr=""/>
          <p:cNvSpPr txBox="1"/>
          <p:nvPr/>
        </p:nvSpPr>
        <p:spPr>
          <a:xfrm>
            <a:off x="4048401" y="3345944"/>
            <a:ext cx="1170940" cy="481330"/>
          </a:xfrm>
          <a:prstGeom prst="rect">
            <a:avLst/>
          </a:prstGeom>
        </p:spPr>
        <p:txBody>
          <a:bodyPr wrap="square" lIns="0" tIns="13970" rIns="0" bIns="0" rtlCol="0" vert="horz">
            <a:spAutoFit/>
          </a:bodyPr>
          <a:lstStyle/>
          <a:p>
            <a:pPr algn="ctr" marL="12700" marR="5080">
              <a:lnSpc>
                <a:spcPct val="99300"/>
              </a:lnSpc>
              <a:spcBef>
                <a:spcPts val="110"/>
              </a:spcBef>
            </a:pPr>
            <a:r>
              <a:rPr dirty="0" sz="1000" spc="-10">
                <a:latin typeface="Microsoft YaHei"/>
                <a:cs typeface="Microsoft YaHei"/>
              </a:rPr>
              <a:t>室内也是分层组网，面覆盖与热点覆盖共</a:t>
            </a:r>
            <a:r>
              <a:rPr dirty="0" sz="1000" spc="-50">
                <a:latin typeface="Microsoft YaHei"/>
                <a:cs typeface="Microsoft YaHei"/>
              </a:rPr>
              <a:t>存</a:t>
            </a:r>
            <a:endParaRPr sz="1000">
              <a:latin typeface="Microsoft YaHei"/>
              <a:cs typeface="Microsoft YaHei"/>
            </a:endParaRPr>
          </a:p>
        </p:txBody>
      </p:sp>
      <p:sp>
        <p:nvSpPr>
          <p:cNvPr id="39" name="object 39" descr=""/>
          <p:cNvSpPr txBox="1"/>
          <p:nvPr/>
        </p:nvSpPr>
        <p:spPr>
          <a:xfrm>
            <a:off x="615120" y="955592"/>
            <a:ext cx="636270" cy="269875"/>
          </a:xfrm>
          <a:prstGeom prst="rect">
            <a:avLst/>
          </a:prstGeom>
        </p:spPr>
        <p:txBody>
          <a:bodyPr wrap="square" lIns="0" tIns="12700" rIns="0" bIns="0" rtlCol="0" vert="horz">
            <a:spAutoFit/>
          </a:bodyPr>
          <a:lstStyle/>
          <a:p>
            <a:pPr marL="12700">
              <a:lnSpc>
                <a:spcPct val="100000"/>
              </a:lnSpc>
              <a:spcBef>
                <a:spcPts val="100"/>
              </a:spcBef>
            </a:pPr>
            <a:r>
              <a:rPr dirty="0" sz="1600" spc="-20">
                <a:latin typeface="Microsoft YaHei"/>
                <a:cs typeface="Microsoft YaHei"/>
              </a:rPr>
              <a:t>运营商</a:t>
            </a:r>
            <a:endParaRPr sz="1600">
              <a:latin typeface="Microsoft YaHei"/>
              <a:cs typeface="Microsoft YaHei"/>
            </a:endParaRPr>
          </a:p>
        </p:txBody>
      </p:sp>
      <p:sp>
        <p:nvSpPr>
          <p:cNvPr id="40" name="object 40" descr=""/>
          <p:cNvSpPr txBox="1"/>
          <p:nvPr/>
        </p:nvSpPr>
        <p:spPr>
          <a:xfrm>
            <a:off x="513190" y="2876605"/>
            <a:ext cx="839469" cy="269875"/>
          </a:xfrm>
          <a:prstGeom prst="rect">
            <a:avLst/>
          </a:prstGeom>
        </p:spPr>
        <p:txBody>
          <a:bodyPr wrap="square" lIns="0" tIns="12700" rIns="0" bIns="0" rtlCol="0" vert="horz">
            <a:spAutoFit/>
          </a:bodyPr>
          <a:lstStyle/>
          <a:p>
            <a:pPr marL="12700">
              <a:lnSpc>
                <a:spcPct val="100000"/>
              </a:lnSpc>
              <a:spcBef>
                <a:spcPts val="100"/>
              </a:spcBef>
            </a:pPr>
            <a:r>
              <a:rPr dirty="0" sz="1600" spc="-15">
                <a:latin typeface="Microsoft YaHei"/>
                <a:cs typeface="Microsoft YaHei"/>
              </a:rPr>
              <a:t>主设备商</a:t>
            </a:r>
            <a:endParaRPr sz="1600">
              <a:latin typeface="Microsoft YaHei"/>
              <a:cs typeface="Microsoft YaHei"/>
            </a:endParaRPr>
          </a:p>
        </p:txBody>
      </p:sp>
      <p:sp>
        <p:nvSpPr>
          <p:cNvPr id="41" name="object 41" descr=""/>
          <p:cNvSpPr txBox="1"/>
          <p:nvPr/>
        </p:nvSpPr>
        <p:spPr>
          <a:xfrm>
            <a:off x="1935130" y="955592"/>
            <a:ext cx="839469" cy="269875"/>
          </a:xfrm>
          <a:prstGeom prst="rect">
            <a:avLst/>
          </a:prstGeom>
        </p:spPr>
        <p:txBody>
          <a:bodyPr wrap="square" lIns="0" tIns="12700" rIns="0" bIns="0" rtlCol="0" vert="horz">
            <a:spAutoFit/>
          </a:bodyPr>
          <a:lstStyle/>
          <a:p>
            <a:pPr marL="12700">
              <a:lnSpc>
                <a:spcPct val="100000"/>
              </a:lnSpc>
              <a:spcBef>
                <a:spcPts val="100"/>
              </a:spcBef>
            </a:pPr>
            <a:r>
              <a:rPr dirty="0" sz="1600" spc="-15">
                <a:latin typeface="Microsoft YaHei"/>
                <a:cs typeface="Microsoft YaHei"/>
              </a:rPr>
              <a:t>铁塔公司</a:t>
            </a:r>
            <a:endParaRPr sz="1600">
              <a:latin typeface="Microsoft YaHei"/>
              <a:cs typeface="Microsoft YaHei"/>
            </a:endParaRPr>
          </a:p>
        </p:txBody>
      </p:sp>
      <p:sp>
        <p:nvSpPr>
          <p:cNvPr id="42" name="object 42" descr=""/>
          <p:cNvSpPr txBox="1"/>
          <p:nvPr/>
        </p:nvSpPr>
        <p:spPr>
          <a:xfrm>
            <a:off x="1731676" y="2925230"/>
            <a:ext cx="1246505" cy="269875"/>
          </a:xfrm>
          <a:prstGeom prst="rect">
            <a:avLst/>
          </a:prstGeom>
        </p:spPr>
        <p:txBody>
          <a:bodyPr wrap="square" lIns="0" tIns="12700" rIns="0" bIns="0" rtlCol="0" vert="horz">
            <a:spAutoFit/>
          </a:bodyPr>
          <a:lstStyle/>
          <a:p>
            <a:pPr marL="12700">
              <a:lnSpc>
                <a:spcPct val="100000"/>
              </a:lnSpc>
              <a:spcBef>
                <a:spcPts val="100"/>
              </a:spcBef>
            </a:pPr>
            <a:r>
              <a:rPr dirty="0" sz="1600" spc="-10">
                <a:latin typeface="Microsoft YaHei"/>
                <a:cs typeface="Microsoft YaHei"/>
              </a:rPr>
              <a:t>传统室分厂家</a:t>
            </a:r>
            <a:endParaRPr sz="1600">
              <a:latin typeface="Microsoft YaHei"/>
              <a:cs typeface="Microsoft YaHei"/>
            </a:endParaRPr>
          </a:p>
        </p:txBody>
      </p:sp>
      <p:pic>
        <p:nvPicPr>
          <p:cNvPr id="43" name="object 43" descr=""/>
          <p:cNvPicPr/>
          <p:nvPr/>
        </p:nvPicPr>
        <p:blipFill>
          <a:blip r:embed="rId13" cstate="print"/>
          <a:stretch>
            <a:fillRect/>
          </a:stretch>
        </p:blipFill>
        <p:spPr>
          <a:xfrm>
            <a:off x="3918965" y="1701545"/>
            <a:ext cx="1492757" cy="408431"/>
          </a:xfrm>
          <a:prstGeom prst="rect">
            <a:avLst/>
          </a:prstGeom>
        </p:spPr>
      </p:pic>
      <p:sp>
        <p:nvSpPr>
          <p:cNvPr id="44" name="object 44" descr=""/>
          <p:cNvSpPr txBox="1"/>
          <p:nvPr/>
        </p:nvSpPr>
        <p:spPr>
          <a:xfrm>
            <a:off x="4053074" y="1767211"/>
            <a:ext cx="1110615" cy="269875"/>
          </a:xfrm>
          <a:prstGeom prst="rect">
            <a:avLst/>
          </a:prstGeom>
        </p:spPr>
        <p:txBody>
          <a:bodyPr wrap="square" lIns="0" tIns="12700" rIns="0" bIns="0" rtlCol="0" vert="horz">
            <a:spAutoFit/>
          </a:bodyPr>
          <a:lstStyle/>
          <a:p>
            <a:pPr marL="12700">
              <a:lnSpc>
                <a:spcPct val="100000"/>
              </a:lnSpc>
              <a:spcBef>
                <a:spcPts val="100"/>
              </a:spcBef>
            </a:pPr>
            <a:r>
              <a:rPr dirty="0" sz="1600">
                <a:latin typeface="Microsoft YaHei"/>
                <a:cs typeface="Microsoft YaHei"/>
              </a:rPr>
              <a:t>5G</a:t>
            </a:r>
            <a:r>
              <a:rPr dirty="0" sz="1600" spc="-15">
                <a:latin typeface="Microsoft YaHei"/>
                <a:cs typeface="Microsoft YaHei"/>
              </a:rPr>
              <a:t>室分系统</a:t>
            </a:r>
            <a:endParaRPr sz="1600">
              <a:latin typeface="Microsoft YaHei"/>
              <a:cs typeface="Microsoft YaHei"/>
            </a:endParaRPr>
          </a:p>
        </p:txBody>
      </p:sp>
      <p:grpSp>
        <p:nvGrpSpPr>
          <p:cNvPr id="45" name="object 45" descr=""/>
          <p:cNvGrpSpPr/>
          <p:nvPr/>
        </p:nvGrpSpPr>
        <p:grpSpPr>
          <a:xfrm>
            <a:off x="3301331" y="2621503"/>
            <a:ext cx="556260" cy="421005"/>
            <a:chOff x="3301331" y="2621503"/>
            <a:chExt cx="556260" cy="421005"/>
          </a:xfrm>
        </p:grpSpPr>
        <p:sp>
          <p:nvSpPr>
            <p:cNvPr id="46" name="object 46" descr=""/>
            <p:cNvSpPr/>
            <p:nvPr/>
          </p:nvSpPr>
          <p:spPr>
            <a:xfrm>
              <a:off x="3315619" y="2635791"/>
              <a:ext cx="527685" cy="392430"/>
            </a:xfrm>
            <a:custGeom>
              <a:avLst/>
              <a:gdLst/>
              <a:ahLst/>
              <a:cxnLst/>
              <a:rect l="l" t="t" r="r" b="b"/>
              <a:pathLst>
                <a:path w="527685" h="392430">
                  <a:moveTo>
                    <a:pt x="268287" y="0"/>
                  </a:moveTo>
                  <a:lnTo>
                    <a:pt x="268287" y="54254"/>
                  </a:lnTo>
                  <a:lnTo>
                    <a:pt x="0" y="54254"/>
                  </a:lnTo>
                  <a:lnTo>
                    <a:pt x="0" y="337819"/>
                  </a:lnTo>
                  <a:lnTo>
                    <a:pt x="268287" y="337819"/>
                  </a:lnTo>
                  <a:lnTo>
                    <a:pt x="268287" y="392074"/>
                  </a:lnTo>
                  <a:lnTo>
                    <a:pt x="527202" y="196037"/>
                  </a:lnTo>
                  <a:lnTo>
                    <a:pt x="268287" y="0"/>
                  </a:lnTo>
                  <a:close/>
                </a:path>
              </a:pathLst>
            </a:custGeom>
            <a:solidFill>
              <a:srgbClr val="C00000"/>
            </a:solidFill>
          </p:spPr>
          <p:txBody>
            <a:bodyPr wrap="square" lIns="0" tIns="0" rIns="0" bIns="0" rtlCol="0"/>
            <a:lstStyle/>
            <a:p/>
          </p:txBody>
        </p:sp>
        <p:sp>
          <p:nvSpPr>
            <p:cNvPr id="47" name="object 47" descr=""/>
            <p:cNvSpPr/>
            <p:nvPr/>
          </p:nvSpPr>
          <p:spPr>
            <a:xfrm>
              <a:off x="3315619" y="2635791"/>
              <a:ext cx="527685" cy="392430"/>
            </a:xfrm>
            <a:custGeom>
              <a:avLst/>
              <a:gdLst/>
              <a:ahLst/>
              <a:cxnLst/>
              <a:rect l="l" t="t" r="r" b="b"/>
              <a:pathLst>
                <a:path w="527685" h="392430">
                  <a:moveTo>
                    <a:pt x="0" y="54254"/>
                  </a:moveTo>
                  <a:lnTo>
                    <a:pt x="268287" y="54254"/>
                  </a:lnTo>
                  <a:lnTo>
                    <a:pt x="268287" y="0"/>
                  </a:lnTo>
                  <a:lnTo>
                    <a:pt x="527202" y="196037"/>
                  </a:lnTo>
                  <a:lnTo>
                    <a:pt x="268287" y="392074"/>
                  </a:lnTo>
                  <a:lnTo>
                    <a:pt x="268287" y="337819"/>
                  </a:lnTo>
                  <a:lnTo>
                    <a:pt x="0" y="337819"/>
                  </a:lnTo>
                  <a:lnTo>
                    <a:pt x="0" y="54254"/>
                  </a:lnTo>
                  <a:close/>
                </a:path>
              </a:pathLst>
            </a:custGeom>
            <a:ln w="28575">
              <a:solidFill>
                <a:srgbClr val="C00000"/>
              </a:solidFill>
            </a:ln>
          </p:spPr>
          <p:txBody>
            <a:bodyPr wrap="square" lIns="0" tIns="0" rIns="0" bIns="0" rtlCol="0"/>
            <a:lstStyle/>
            <a:p/>
          </p:txBody>
        </p:sp>
      </p:grpSp>
      <p:sp>
        <p:nvSpPr>
          <p:cNvPr id="48" name="object 48" descr=""/>
          <p:cNvSpPr txBox="1"/>
          <p:nvPr/>
        </p:nvSpPr>
        <p:spPr>
          <a:xfrm>
            <a:off x="5752167" y="2925493"/>
            <a:ext cx="2966085" cy="998219"/>
          </a:xfrm>
          <a:prstGeom prst="rect">
            <a:avLst/>
          </a:prstGeom>
        </p:spPr>
        <p:txBody>
          <a:bodyPr wrap="square" lIns="0" tIns="12065" rIns="0" bIns="0" rtlCol="0" vert="horz">
            <a:spAutoFit/>
          </a:bodyPr>
          <a:lstStyle/>
          <a:p>
            <a:pPr marL="245110" indent="-232410">
              <a:lnSpc>
                <a:spcPct val="100000"/>
              </a:lnSpc>
              <a:spcBef>
                <a:spcPts val="95"/>
              </a:spcBef>
              <a:buClr>
                <a:srgbClr val="FF0000"/>
              </a:buClr>
              <a:buFont typeface="Wingdings"/>
              <a:buChar char=""/>
              <a:tabLst>
                <a:tab pos="245110" algn="l"/>
              </a:tabLst>
            </a:pPr>
            <a:r>
              <a:rPr dirty="0" sz="1100" spc="-20">
                <a:solidFill>
                  <a:srgbClr val="C00000"/>
                </a:solidFill>
                <a:latin typeface="Microsoft YaHei"/>
                <a:cs typeface="Microsoft YaHei"/>
              </a:rPr>
              <a:t>演进路径1</a:t>
            </a:r>
            <a:r>
              <a:rPr dirty="0" sz="1100" spc="-20">
                <a:latin typeface="Microsoft YaHei"/>
                <a:cs typeface="Microsoft YaHei"/>
              </a:rPr>
              <a:t>：改造现有分布系统，支持3.5G</a:t>
            </a:r>
            <a:endParaRPr sz="1100">
              <a:latin typeface="Microsoft YaHei"/>
              <a:cs typeface="Microsoft YaHei"/>
            </a:endParaRPr>
          </a:p>
          <a:p>
            <a:pPr marL="244475" marR="13335" indent="-232410">
              <a:lnSpc>
                <a:spcPct val="150000"/>
              </a:lnSpc>
              <a:spcBef>
                <a:spcPts val="200"/>
              </a:spcBef>
              <a:buClr>
                <a:srgbClr val="FF0000"/>
              </a:buClr>
              <a:buFont typeface="Wingdings"/>
              <a:buChar char=""/>
              <a:tabLst>
                <a:tab pos="245745" algn="l"/>
              </a:tabLst>
            </a:pPr>
            <a:r>
              <a:rPr dirty="0" sz="1100" spc="-20">
                <a:solidFill>
                  <a:srgbClr val="C00000"/>
                </a:solidFill>
                <a:latin typeface="Microsoft YaHei"/>
                <a:cs typeface="Microsoft YaHei"/>
              </a:rPr>
              <a:t>演进路径2</a:t>
            </a:r>
            <a:r>
              <a:rPr dirty="0" sz="1100" spc="-20">
                <a:latin typeface="Microsoft YaHei"/>
                <a:cs typeface="Microsoft YaHei"/>
              </a:rPr>
              <a:t>：现有分布系统只承载</a:t>
            </a:r>
            <a:r>
              <a:rPr dirty="0" sz="1100" spc="-10">
                <a:latin typeface="Microsoft YaHei"/>
                <a:cs typeface="Microsoft YaHei"/>
              </a:rPr>
              <a:t>2、</a:t>
            </a:r>
            <a:r>
              <a:rPr dirty="0" sz="1100" spc="-20">
                <a:latin typeface="Microsoft YaHei"/>
                <a:cs typeface="Microsoft YaHei"/>
              </a:rPr>
              <a:t>3</a:t>
            </a:r>
            <a:r>
              <a:rPr dirty="0" sz="1100" spc="-10">
                <a:latin typeface="Microsoft YaHei"/>
                <a:cs typeface="Microsoft YaHei"/>
              </a:rPr>
              <a:t>、</a:t>
            </a:r>
            <a:r>
              <a:rPr dirty="0" sz="1100" spc="-25">
                <a:latin typeface="Microsoft YaHei"/>
                <a:cs typeface="Microsoft YaHei"/>
              </a:rPr>
              <a:t>4G,</a:t>
            </a:r>
            <a:r>
              <a:rPr dirty="0" sz="1100" spc="-25">
                <a:latin typeface="Microsoft YaHei"/>
                <a:cs typeface="Microsoft YaHei"/>
              </a:rPr>
              <a:t>	</a:t>
            </a:r>
            <a:r>
              <a:rPr dirty="0" sz="1100" spc="-20">
                <a:latin typeface="Microsoft YaHei"/>
                <a:cs typeface="Microsoft YaHei"/>
              </a:rPr>
              <a:t>单独建设</a:t>
            </a:r>
            <a:r>
              <a:rPr dirty="0" sz="1100" spc="-10">
                <a:latin typeface="Microsoft YaHei"/>
                <a:cs typeface="Microsoft YaHei"/>
              </a:rPr>
              <a:t>5G</a:t>
            </a:r>
            <a:r>
              <a:rPr dirty="0" sz="1100" spc="-30">
                <a:latin typeface="Microsoft YaHei"/>
                <a:cs typeface="Microsoft YaHei"/>
              </a:rPr>
              <a:t>分布系统</a:t>
            </a:r>
            <a:endParaRPr sz="1100">
              <a:latin typeface="Microsoft YaHei"/>
              <a:cs typeface="Microsoft YaHei"/>
            </a:endParaRPr>
          </a:p>
          <a:p>
            <a:pPr marL="245110" indent="-232410">
              <a:lnSpc>
                <a:spcPct val="100000"/>
              </a:lnSpc>
              <a:spcBef>
                <a:spcPts val="865"/>
              </a:spcBef>
              <a:buClr>
                <a:srgbClr val="FF0000"/>
              </a:buClr>
              <a:buFont typeface="Wingdings"/>
              <a:buChar char=""/>
              <a:tabLst>
                <a:tab pos="245110" algn="l"/>
              </a:tabLst>
            </a:pPr>
            <a:r>
              <a:rPr dirty="0" sz="1100" spc="-20">
                <a:solidFill>
                  <a:srgbClr val="C00000"/>
                </a:solidFill>
                <a:latin typeface="Microsoft YaHei"/>
                <a:cs typeface="Microsoft YaHei"/>
              </a:rPr>
              <a:t>演进路径3</a:t>
            </a:r>
            <a:r>
              <a:rPr dirty="0" sz="1100" spc="-20">
                <a:latin typeface="Microsoft YaHei"/>
                <a:cs typeface="Microsoft YaHei"/>
              </a:rPr>
              <a:t>：通过</a:t>
            </a:r>
            <a:r>
              <a:rPr dirty="0" sz="1100" spc="-10">
                <a:latin typeface="Microsoft YaHei"/>
                <a:cs typeface="Microsoft YaHei"/>
              </a:rPr>
              <a:t>5G</a:t>
            </a:r>
            <a:r>
              <a:rPr dirty="0" sz="1100" spc="-20">
                <a:latin typeface="Microsoft YaHei"/>
                <a:cs typeface="Microsoft YaHei"/>
              </a:rPr>
              <a:t>新空口技术</a:t>
            </a:r>
            <a:r>
              <a:rPr dirty="0" sz="1100">
                <a:latin typeface="Microsoft YaHei"/>
                <a:cs typeface="Microsoft YaHei"/>
              </a:rPr>
              <a:t>Cloud</a:t>
            </a:r>
            <a:r>
              <a:rPr dirty="0" sz="1100" spc="100">
                <a:latin typeface="Microsoft YaHei"/>
                <a:cs typeface="Microsoft YaHei"/>
              </a:rPr>
              <a:t> </a:t>
            </a:r>
            <a:r>
              <a:rPr dirty="0" sz="1100" spc="-20">
                <a:latin typeface="Microsoft YaHei"/>
                <a:cs typeface="Microsoft YaHei"/>
              </a:rPr>
              <a:t>Air，</a:t>
            </a:r>
            <a:endParaRPr sz="1100">
              <a:latin typeface="Microsoft YaHei"/>
              <a:cs typeface="Microsoft YaHei"/>
            </a:endParaRPr>
          </a:p>
        </p:txBody>
      </p:sp>
      <p:sp>
        <p:nvSpPr>
          <p:cNvPr id="49" name="object 49" descr=""/>
          <p:cNvSpPr txBox="1"/>
          <p:nvPr/>
        </p:nvSpPr>
        <p:spPr>
          <a:xfrm>
            <a:off x="5985479" y="3898262"/>
            <a:ext cx="2735580" cy="528320"/>
          </a:xfrm>
          <a:prstGeom prst="rect">
            <a:avLst/>
          </a:prstGeom>
        </p:spPr>
        <p:txBody>
          <a:bodyPr wrap="square" lIns="0" tIns="12700" rIns="0" bIns="0" rtlCol="0" vert="horz">
            <a:spAutoFit/>
          </a:bodyPr>
          <a:lstStyle/>
          <a:p>
            <a:pPr marL="12700" marR="5080">
              <a:lnSpc>
                <a:spcPct val="150000"/>
              </a:lnSpc>
              <a:spcBef>
                <a:spcPts val="100"/>
              </a:spcBef>
            </a:pPr>
            <a:r>
              <a:rPr dirty="0" sz="1100" spc="-20">
                <a:latin typeface="Microsoft YaHei"/>
                <a:cs typeface="Microsoft YaHei"/>
              </a:rPr>
              <a:t>使&lt;</a:t>
            </a:r>
            <a:r>
              <a:rPr dirty="0" sz="1100" spc="-10">
                <a:latin typeface="Microsoft YaHei"/>
                <a:cs typeface="Microsoft YaHei"/>
              </a:rPr>
              <a:t>3GHz</a:t>
            </a:r>
            <a:r>
              <a:rPr dirty="0" sz="1100" spc="-20">
                <a:latin typeface="Microsoft YaHei"/>
                <a:cs typeface="Microsoft YaHei"/>
              </a:rPr>
              <a:t>未来与</a:t>
            </a:r>
            <a:r>
              <a:rPr dirty="0" sz="1100">
                <a:latin typeface="Microsoft YaHei"/>
                <a:cs typeface="Microsoft YaHei"/>
              </a:rPr>
              <a:t>5G </a:t>
            </a:r>
            <a:r>
              <a:rPr dirty="0" sz="1100" spc="-10">
                <a:latin typeface="Microsoft YaHei"/>
                <a:cs typeface="Microsoft YaHei"/>
              </a:rPr>
              <a:t>NR</a:t>
            </a:r>
            <a:r>
              <a:rPr dirty="0" sz="1100" spc="-25">
                <a:latin typeface="Microsoft YaHei"/>
                <a:cs typeface="Microsoft YaHei"/>
              </a:rPr>
              <a:t>平滑共存，即通过翻</a:t>
            </a:r>
            <a:r>
              <a:rPr dirty="0" sz="1100" spc="-20">
                <a:latin typeface="Microsoft YaHei"/>
                <a:cs typeface="Microsoft YaHei"/>
              </a:rPr>
              <a:t>频现有频段支持室内</a:t>
            </a:r>
            <a:r>
              <a:rPr dirty="0" sz="1100" spc="-10">
                <a:latin typeface="Microsoft YaHei"/>
                <a:cs typeface="Microsoft YaHei"/>
              </a:rPr>
              <a:t>5G</a:t>
            </a:r>
            <a:r>
              <a:rPr dirty="0" sz="1100" spc="-35">
                <a:latin typeface="Microsoft YaHei"/>
                <a:cs typeface="Microsoft YaHei"/>
              </a:rPr>
              <a:t>部署</a:t>
            </a:r>
            <a:endParaRPr sz="1100">
              <a:latin typeface="Microsoft YaHei"/>
              <a:cs typeface="Microsoft YaHei"/>
            </a:endParaRPr>
          </a:p>
        </p:txBody>
      </p:sp>
      <p:sp>
        <p:nvSpPr>
          <p:cNvPr id="50" name="object 50" descr=""/>
          <p:cNvSpPr txBox="1"/>
          <p:nvPr/>
        </p:nvSpPr>
        <p:spPr>
          <a:xfrm>
            <a:off x="5397839" y="1345837"/>
            <a:ext cx="3287395" cy="528320"/>
          </a:xfrm>
          <a:prstGeom prst="rect">
            <a:avLst/>
          </a:prstGeom>
        </p:spPr>
        <p:txBody>
          <a:bodyPr wrap="square" lIns="0" tIns="12700" rIns="0" bIns="0" rtlCol="0" vert="horz">
            <a:spAutoFit/>
          </a:bodyPr>
          <a:lstStyle/>
          <a:p>
            <a:pPr marL="244475" marR="5080" indent="-232410">
              <a:lnSpc>
                <a:spcPct val="150000"/>
              </a:lnSpc>
              <a:spcBef>
                <a:spcPts val="100"/>
              </a:spcBef>
              <a:buClr>
                <a:srgbClr val="FF0000"/>
              </a:buClr>
              <a:buFont typeface="Wingdings"/>
              <a:buChar char=""/>
              <a:tabLst>
                <a:tab pos="245745" algn="l"/>
              </a:tabLst>
            </a:pPr>
            <a:r>
              <a:rPr dirty="0" sz="1100" spc="-20">
                <a:latin typeface="Microsoft YaHei"/>
                <a:cs typeface="Microsoft YaHei"/>
              </a:rPr>
              <a:t>通过</a:t>
            </a:r>
            <a:r>
              <a:rPr dirty="0" sz="1100" spc="-10">
                <a:latin typeface="Microsoft YaHei"/>
                <a:cs typeface="Microsoft YaHei"/>
              </a:rPr>
              <a:t>3.5G</a:t>
            </a:r>
            <a:r>
              <a:rPr dirty="0" sz="1100" spc="-25">
                <a:latin typeface="Microsoft YaHei"/>
                <a:cs typeface="Microsoft YaHei"/>
              </a:rPr>
              <a:t>或者更高频段的室内有源微站对热点进</a:t>
            </a:r>
            <a:r>
              <a:rPr dirty="0" sz="1100" spc="-20">
                <a:latin typeface="Microsoft YaHei"/>
                <a:cs typeface="Microsoft YaHei"/>
              </a:rPr>
              <a:t>行	覆盖，通过4*4以上高阶</a:t>
            </a:r>
            <a:r>
              <a:rPr dirty="0" sz="1100" spc="-10">
                <a:latin typeface="Microsoft YaHei"/>
                <a:cs typeface="Microsoft YaHei"/>
              </a:rPr>
              <a:t>MIMO</a:t>
            </a:r>
            <a:r>
              <a:rPr dirty="0" sz="1100" spc="-25">
                <a:latin typeface="Microsoft YaHei"/>
                <a:cs typeface="Microsoft YaHei"/>
              </a:rPr>
              <a:t>等技术提供更高</a:t>
            </a:r>
            <a:endParaRPr sz="1100">
              <a:latin typeface="Microsoft YaHei"/>
              <a:cs typeface="Microsoft YaHei"/>
            </a:endParaRPr>
          </a:p>
        </p:txBody>
      </p:sp>
      <p:sp>
        <p:nvSpPr>
          <p:cNvPr id="51" name="object 51" descr=""/>
          <p:cNvSpPr txBox="1"/>
          <p:nvPr/>
        </p:nvSpPr>
        <p:spPr>
          <a:xfrm>
            <a:off x="5397837" y="1886899"/>
            <a:ext cx="3328035" cy="955040"/>
          </a:xfrm>
          <a:prstGeom prst="rect">
            <a:avLst/>
          </a:prstGeom>
        </p:spPr>
        <p:txBody>
          <a:bodyPr wrap="square" lIns="0" tIns="58419" rIns="0" bIns="0" rtlCol="0" vert="horz">
            <a:spAutoFit/>
          </a:bodyPr>
          <a:lstStyle/>
          <a:p>
            <a:pPr marL="245745">
              <a:lnSpc>
                <a:spcPct val="100000"/>
              </a:lnSpc>
              <a:spcBef>
                <a:spcPts val="459"/>
              </a:spcBef>
            </a:pPr>
            <a:r>
              <a:rPr dirty="0" sz="1100" spc="-35">
                <a:latin typeface="Microsoft YaHei"/>
                <a:cs typeface="Microsoft YaHei"/>
              </a:rPr>
              <a:t>带宽</a:t>
            </a:r>
            <a:endParaRPr sz="1100">
              <a:latin typeface="Microsoft YaHei"/>
              <a:cs typeface="Microsoft YaHei"/>
            </a:endParaRPr>
          </a:p>
          <a:p>
            <a:pPr marL="245110" indent="-232410">
              <a:lnSpc>
                <a:spcPct val="100000"/>
              </a:lnSpc>
              <a:spcBef>
                <a:spcPts val="355"/>
              </a:spcBef>
              <a:buClr>
                <a:srgbClr val="FF0000"/>
              </a:buClr>
              <a:buFont typeface="Wingdings"/>
              <a:buChar char=""/>
              <a:tabLst>
                <a:tab pos="245110" algn="l"/>
              </a:tabLst>
            </a:pPr>
            <a:r>
              <a:rPr dirty="0" sz="1100" spc="-25">
                <a:latin typeface="Microsoft YaHei"/>
                <a:cs typeface="Microsoft YaHei"/>
              </a:rPr>
              <a:t>无源系统在一定时间内还将继续发挥作用，解决方</a:t>
            </a:r>
            <a:endParaRPr sz="1100">
              <a:latin typeface="Microsoft YaHei"/>
              <a:cs typeface="Microsoft YaHei"/>
            </a:endParaRPr>
          </a:p>
          <a:p>
            <a:pPr marL="245745" marR="41275">
              <a:lnSpc>
                <a:spcPct val="150000"/>
              </a:lnSpc>
            </a:pPr>
            <a:r>
              <a:rPr dirty="0" sz="1100" spc="-25">
                <a:latin typeface="Microsoft YaHei"/>
                <a:cs typeface="Microsoft YaHei"/>
              </a:rPr>
              <a:t>案逐步向有源+无源方向演进，毫米波频段只能有</a:t>
            </a:r>
            <a:r>
              <a:rPr dirty="0" sz="1100" spc="-35">
                <a:latin typeface="Microsoft YaHei"/>
                <a:cs typeface="Microsoft YaHei"/>
              </a:rPr>
              <a:t>源化</a:t>
            </a:r>
            <a:endParaRPr sz="1100">
              <a:latin typeface="Microsoft YaHei"/>
              <a:cs typeface="Microsoft YaHei"/>
            </a:endParaRPr>
          </a:p>
        </p:txBody>
      </p:sp>
      <p:pic>
        <p:nvPicPr>
          <p:cNvPr id="52" name="object 52"/>
          <p:cNvPicPr/>
          <p:nvPr/>
        </p:nvPicPr>
        <p:blipFill>
          <a:blip r:embed="rId14" cstate="print"/>
          <a:stretch>
            <a:fillRect/>
          </a:stretch>
        </p:blipFill>
        <p:spPr>
          <a:xfrm>
            <a:off x="293691" y="1255610"/>
            <a:ext cx="1277590" cy="967726"/>
          </a:xfrm>
          <a:prstGeom prst="rect">
            <a:avLst/>
          </a:prstGeom>
        </p:spPr>
      </p:pic>
      <p:pic>
        <p:nvPicPr>
          <p:cNvPr id="53" name="object 53"/>
          <p:cNvPicPr/>
          <p:nvPr/>
        </p:nvPicPr>
        <p:blipFill>
          <a:blip r:embed="rId15" cstate="print"/>
          <a:stretch>
            <a:fillRect/>
          </a:stretch>
        </p:blipFill>
        <p:spPr>
          <a:xfrm>
            <a:off x="866597" y="3228670"/>
            <a:ext cx="616401" cy="351299"/>
          </a:xfrm>
          <a:prstGeom prst="rect">
            <a:avLst/>
          </a:prstGeom>
        </p:spPr>
      </p:pic>
      <p:grpSp>
        <p:nvGrpSpPr>
          <p:cNvPr id="54" name="object 54" descr=""/>
          <p:cNvGrpSpPr/>
          <p:nvPr/>
        </p:nvGrpSpPr>
        <p:grpSpPr>
          <a:xfrm>
            <a:off x="228600" y="3199853"/>
            <a:ext cx="1401445" cy="1125855"/>
            <a:chOff x="228600" y="3199853"/>
            <a:chExt cx="1401445" cy="1125855"/>
          </a:xfrm>
        </p:grpSpPr>
        <p:pic>
          <p:nvPicPr>
            <p:cNvPr id="55" name="object 55"/>
            <p:cNvPicPr/>
            <p:nvPr/>
          </p:nvPicPr>
          <p:blipFill>
            <a:blip r:embed="rId16" cstate="print"/>
            <a:stretch>
              <a:fillRect/>
            </a:stretch>
          </p:blipFill>
          <p:spPr>
            <a:xfrm>
              <a:off x="293692" y="3199853"/>
              <a:ext cx="522587" cy="420632"/>
            </a:xfrm>
            <a:prstGeom prst="rect">
              <a:avLst/>
            </a:prstGeom>
          </p:spPr>
        </p:pic>
        <p:pic>
          <p:nvPicPr>
            <p:cNvPr id="56" name="object 56"/>
            <p:cNvPicPr/>
            <p:nvPr/>
          </p:nvPicPr>
          <p:blipFill>
            <a:blip r:embed="rId17" cstate="print"/>
            <a:stretch>
              <a:fillRect/>
            </a:stretch>
          </p:blipFill>
          <p:spPr>
            <a:xfrm>
              <a:off x="228600" y="3867150"/>
              <a:ext cx="590931" cy="458063"/>
            </a:xfrm>
            <a:prstGeom prst="rect">
              <a:avLst/>
            </a:prstGeom>
          </p:spPr>
        </p:pic>
        <p:pic>
          <p:nvPicPr>
            <p:cNvPr id="57" name="object 57"/>
            <p:cNvPicPr/>
            <p:nvPr/>
          </p:nvPicPr>
          <p:blipFill>
            <a:blip r:embed="rId18" cstate="print"/>
            <a:stretch>
              <a:fillRect/>
            </a:stretch>
          </p:blipFill>
          <p:spPr>
            <a:xfrm>
              <a:off x="670929" y="3943350"/>
              <a:ext cx="959011" cy="229994"/>
            </a:xfrm>
            <a:prstGeom prst="rect">
              <a:avLst/>
            </a:prstGeom>
          </p:spPr>
        </p:pic>
        <p:pic>
          <p:nvPicPr>
            <p:cNvPr id="58" name="object 58" descr=""/>
            <p:cNvPicPr/>
            <p:nvPr/>
          </p:nvPicPr>
          <p:blipFill>
            <a:blip r:embed="rId19" cstate="print"/>
            <a:stretch>
              <a:fillRect/>
            </a:stretch>
          </p:blipFill>
          <p:spPr>
            <a:xfrm>
              <a:off x="533400" y="3638550"/>
              <a:ext cx="609600" cy="220522"/>
            </a:xfrm>
            <a:prstGeom prst="rect">
              <a:avLst/>
            </a:prstGeom>
          </p:spPr>
        </p:pic>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7215" y="150009"/>
            <a:ext cx="7579359" cy="513080"/>
          </a:xfrm>
          <a:prstGeom prst="rect"/>
        </p:spPr>
        <p:txBody>
          <a:bodyPr wrap="square" lIns="0" tIns="12065" rIns="0" bIns="0" rtlCol="0" vert="horz">
            <a:spAutoFit/>
          </a:bodyPr>
          <a:lstStyle/>
          <a:p>
            <a:pPr marL="12700">
              <a:lnSpc>
                <a:spcPct val="100000"/>
              </a:lnSpc>
              <a:spcBef>
                <a:spcPts val="95"/>
              </a:spcBef>
            </a:pPr>
            <a:r>
              <a:rPr dirty="0" spc="-40"/>
              <a:t>分布系统在</a:t>
            </a:r>
            <a:r>
              <a:rPr dirty="0" spc="-30">
                <a:latin typeface="Times New Roman"/>
                <a:cs typeface="Times New Roman"/>
              </a:rPr>
              <a:t>3.5GH</a:t>
            </a:r>
            <a:r>
              <a:rPr dirty="0" spc="-30" b="0">
                <a:latin typeface="Arial MT"/>
                <a:cs typeface="Arial MT"/>
              </a:rPr>
              <a:t>z</a:t>
            </a:r>
            <a:r>
              <a:rPr dirty="0" spc="-40"/>
              <a:t>频段的演进方案</a:t>
            </a:r>
            <a:r>
              <a:rPr dirty="0" spc="-10"/>
              <a:t>（</a:t>
            </a:r>
            <a:r>
              <a:rPr dirty="0" spc="-10">
                <a:latin typeface="Times New Roman"/>
                <a:cs typeface="Times New Roman"/>
              </a:rPr>
              <a:t>1/2</a:t>
            </a:r>
            <a:r>
              <a:rPr dirty="0" spc="-10"/>
              <a:t>）</a:t>
            </a:r>
          </a:p>
        </p:txBody>
      </p:sp>
      <p:sp>
        <p:nvSpPr>
          <p:cNvPr id="3" name="object 3" descr=""/>
          <p:cNvSpPr txBox="1"/>
          <p:nvPr/>
        </p:nvSpPr>
        <p:spPr>
          <a:xfrm>
            <a:off x="149161" y="819150"/>
            <a:ext cx="8843010" cy="1214120"/>
          </a:xfrm>
          <a:prstGeom prst="rect">
            <a:avLst/>
          </a:prstGeom>
          <a:solidFill>
            <a:srgbClr val="92D050"/>
          </a:solidFill>
        </p:spPr>
        <p:txBody>
          <a:bodyPr wrap="square" lIns="0" tIns="132080" rIns="0" bIns="0" rtlCol="0" vert="horz">
            <a:spAutoFit/>
          </a:bodyPr>
          <a:lstStyle/>
          <a:p>
            <a:pPr marL="414020" indent="-232410">
              <a:lnSpc>
                <a:spcPct val="100000"/>
              </a:lnSpc>
              <a:spcBef>
                <a:spcPts val="1040"/>
              </a:spcBef>
              <a:buClr>
                <a:srgbClr val="FF0000"/>
              </a:buClr>
              <a:buFont typeface="Wingdings"/>
              <a:buChar char=""/>
              <a:tabLst>
                <a:tab pos="414020" algn="l"/>
              </a:tabLst>
            </a:pPr>
            <a:r>
              <a:rPr dirty="0" sz="1200">
                <a:solidFill>
                  <a:srgbClr val="C00000"/>
                </a:solidFill>
                <a:latin typeface="Microsoft YaHei"/>
                <a:cs typeface="Microsoft YaHei"/>
              </a:rPr>
              <a:t>存量改造方案，存量分布系统向</a:t>
            </a:r>
            <a:r>
              <a:rPr dirty="0" sz="1200" spc="-10">
                <a:solidFill>
                  <a:srgbClr val="C00000"/>
                </a:solidFill>
                <a:latin typeface="Microsoft YaHei"/>
                <a:cs typeface="Microsoft YaHei"/>
              </a:rPr>
              <a:t>3.5GHz</a:t>
            </a:r>
            <a:r>
              <a:rPr dirty="0" sz="1200" spc="-5">
                <a:solidFill>
                  <a:srgbClr val="C00000"/>
                </a:solidFill>
                <a:latin typeface="Microsoft YaHei"/>
                <a:cs typeface="Microsoft YaHei"/>
              </a:rPr>
              <a:t>频段演进将面临两个关键障碍</a:t>
            </a:r>
            <a:endParaRPr sz="1200">
              <a:latin typeface="Microsoft YaHei"/>
              <a:cs typeface="Microsoft YaHei"/>
            </a:endParaRPr>
          </a:p>
          <a:p>
            <a:pPr lvl="1" marL="767715" marR="140335" indent="-232410">
              <a:lnSpc>
                <a:spcPct val="130000"/>
              </a:lnSpc>
              <a:spcBef>
                <a:spcPts val="195"/>
              </a:spcBef>
              <a:buClr>
                <a:srgbClr val="FF0000"/>
              </a:buClr>
              <a:buFont typeface="Wingdings"/>
              <a:buChar char=""/>
              <a:tabLst>
                <a:tab pos="768985" algn="l"/>
              </a:tabLst>
            </a:pPr>
            <a:r>
              <a:rPr dirty="0" sz="1200" spc="-5">
                <a:latin typeface="Microsoft YaHei"/>
                <a:cs typeface="Microsoft YaHei"/>
              </a:rPr>
              <a:t>施工难：器件多为天花内安装，天线存在隐蔽安装问题，国内实际安装位置和数量与设计多不相符，难寻、难换，仅在	具备改造条件的场景可行</a:t>
            </a:r>
            <a:endParaRPr sz="1200">
              <a:latin typeface="Microsoft YaHei"/>
              <a:cs typeface="Microsoft YaHei"/>
            </a:endParaRPr>
          </a:p>
          <a:p>
            <a:pPr lvl="1" marL="768350" indent="-232410">
              <a:lnSpc>
                <a:spcPct val="100000"/>
              </a:lnSpc>
              <a:spcBef>
                <a:spcPts val="635"/>
              </a:spcBef>
              <a:buClr>
                <a:srgbClr val="FF0000"/>
              </a:buClr>
              <a:buFont typeface="Wingdings"/>
              <a:buChar char=""/>
              <a:tabLst>
                <a:tab pos="768350" algn="l"/>
              </a:tabLst>
            </a:pPr>
            <a:r>
              <a:rPr dirty="0" sz="1200">
                <a:latin typeface="Microsoft YaHei"/>
                <a:cs typeface="Microsoft YaHei"/>
              </a:rPr>
              <a:t>生命周期受限：中国分布系统 </a:t>
            </a:r>
            <a:r>
              <a:rPr dirty="0" sz="1200" spc="-10">
                <a:latin typeface="Microsoft YaHei"/>
                <a:cs typeface="Microsoft YaHei"/>
              </a:rPr>
              <a:t>2000</a:t>
            </a:r>
            <a:r>
              <a:rPr dirty="0" sz="1200" spc="-5">
                <a:latin typeface="Microsoft YaHei"/>
                <a:cs typeface="Microsoft YaHei"/>
              </a:rPr>
              <a:t>年起步，多数已进入后生命周期阶段，尤其是运营商自建的系统，多数无法改造。</a:t>
            </a:r>
            <a:endParaRPr sz="1200">
              <a:latin typeface="Microsoft YaHei"/>
              <a:cs typeface="Microsoft YaHei"/>
            </a:endParaRPr>
          </a:p>
        </p:txBody>
      </p:sp>
      <p:grpSp>
        <p:nvGrpSpPr>
          <p:cNvPr id="4" name="object 4" descr=""/>
          <p:cNvGrpSpPr/>
          <p:nvPr/>
        </p:nvGrpSpPr>
        <p:grpSpPr>
          <a:xfrm>
            <a:off x="971880" y="2268804"/>
            <a:ext cx="2151380" cy="1225550"/>
            <a:chOff x="971880" y="2268804"/>
            <a:chExt cx="2151380" cy="1225550"/>
          </a:xfrm>
        </p:grpSpPr>
        <p:sp>
          <p:nvSpPr>
            <p:cNvPr id="5" name="object 5" descr=""/>
            <p:cNvSpPr/>
            <p:nvPr/>
          </p:nvSpPr>
          <p:spPr>
            <a:xfrm>
              <a:off x="1822589" y="2675064"/>
              <a:ext cx="81280" cy="252729"/>
            </a:xfrm>
            <a:custGeom>
              <a:avLst/>
              <a:gdLst/>
              <a:ahLst/>
              <a:cxnLst/>
              <a:rect l="l" t="t" r="r" b="b"/>
              <a:pathLst>
                <a:path w="81280" h="252730">
                  <a:moveTo>
                    <a:pt x="80657" y="0"/>
                  </a:moveTo>
                  <a:lnTo>
                    <a:pt x="0" y="0"/>
                  </a:lnTo>
                  <a:lnTo>
                    <a:pt x="0" y="252387"/>
                  </a:lnTo>
                  <a:lnTo>
                    <a:pt x="80657" y="252387"/>
                  </a:lnTo>
                  <a:lnTo>
                    <a:pt x="80657" y="0"/>
                  </a:lnTo>
                  <a:close/>
                </a:path>
              </a:pathLst>
            </a:custGeom>
            <a:solidFill>
              <a:srgbClr val="FF0000"/>
            </a:solidFill>
          </p:spPr>
          <p:txBody>
            <a:bodyPr wrap="square" lIns="0" tIns="0" rIns="0" bIns="0" rtlCol="0"/>
            <a:lstStyle/>
            <a:p/>
          </p:txBody>
        </p:sp>
        <p:sp>
          <p:nvSpPr>
            <p:cNvPr id="6" name="object 6" descr=""/>
            <p:cNvSpPr/>
            <p:nvPr/>
          </p:nvSpPr>
          <p:spPr>
            <a:xfrm>
              <a:off x="1839823" y="2365603"/>
              <a:ext cx="646430" cy="593090"/>
            </a:xfrm>
            <a:custGeom>
              <a:avLst/>
              <a:gdLst/>
              <a:ahLst/>
              <a:cxnLst/>
              <a:rect l="l" t="t" r="r" b="b"/>
              <a:pathLst>
                <a:path w="646430" h="593089">
                  <a:moveTo>
                    <a:pt x="43497" y="561378"/>
                  </a:moveTo>
                  <a:lnTo>
                    <a:pt x="0" y="561378"/>
                  </a:lnTo>
                  <a:lnTo>
                    <a:pt x="0" y="592658"/>
                  </a:lnTo>
                  <a:lnTo>
                    <a:pt x="43497" y="592658"/>
                  </a:lnTo>
                  <a:lnTo>
                    <a:pt x="43497" y="561378"/>
                  </a:lnTo>
                  <a:close/>
                </a:path>
                <a:path w="646430" h="593089">
                  <a:moveTo>
                    <a:pt x="43954" y="278523"/>
                  </a:moveTo>
                  <a:lnTo>
                    <a:pt x="457" y="278523"/>
                  </a:lnTo>
                  <a:lnTo>
                    <a:pt x="457" y="309803"/>
                  </a:lnTo>
                  <a:lnTo>
                    <a:pt x="43954" y="309803"/>
                  </a:lnTo>
                  <a:lnTo>
                    <a:pt x="43954" y="278523"/>
                  </a:lnTo>
                  <a:close/>
                </a:path>
                <a:path w="646430" h="593089">
                  <a:moveTo>
                    <a:pt x="103746" y="448627"/>
                  </a:moveTo>
                  <a:lnTo>
                    <a:pt x="63423" y="448627"/>
                  </a:lnTo>
                  <a:lnTo>
                    <a:pt x="63423" y="504888"/>
                  </a:lnTo>
                  <a:lnTo>
                    <a:pt x="103746" y="504888"/>
                  </a:lnTo>
                  <a:lnTo>
                    <a:pt x="103746" y="448627"/>
                  </a:lnTo>
                  <a:close/>
                </a:path>
                <a:path w="646430" h="593089">
                  <a:moveTo>
                    <a:pt x="645871" y="23215"/>
                  </a:moveTo>
                  <a:lnTo>
                    <a:pt x="603923" y="23215"/>
                  </a:lnTo>
                  <a:lnTo>
                    <a:pt x="603923" y="0"/>
                  </a:lnTo>
                  <a:lnTo>
                    <a:pt x="499071" y="0"/>
                  </a:lnTo>
                  <a:lnTo>
                    <a:pt x="499071" y="56311"/>
                  </a:lnTo>
                  <a:lnTo>
                    <a:pt x="457123" y="56311"/>
                  </a:lnTo>
                  <a:lnTo>
                    <a:pt x="457123" y="90678"/>
                  </a:lnTo>
                  <a:lnTo>
                    <a:pt x="499071" y="90678"/>
                  </a:lnTo>
                  <a:lnTo>
                    <a:pt x="499071" y="141224"/>
                  </a:lnTo>
                  <a:lnTo>
                    <a:pt x="603923" y="141224"/>
                  </a:lnTo>
                  <a:lnTo>
                    <a:pt x="603923" y="125044"/>
                  </a:lnTo>
                  <a:lnTo>
                    <a:pt x="645871" y="125044"/>
                  </a:lnTo>
                  <a:lnTo>
                    <a:pt x="645871" y="90678"/>
                  </a:lnTo>
                  <a:lnTo>
                    <a:pt x="603923" y="90678"/>
                  </a:lnTo>
                  <a:lnTo>
                    <a:pt x="603923" y="57581"/>
                  </a:lnTo>
                  <a:lnTo>
                    <a:pt x="645871" y="57581"/>
                  </a:lnTo>
                  <a:lnTo>
                    <a:pt x="645871" y="23215"/>
                  </a:lnTo>
                  <a:close/>
                </a:path>
              </a:pathLst>
            </a:custGeom>
            <a:solidFill>
              <a:srgbClr val="0070C0"/>
            </a:solidFill>
          </p:spPr>
          <p:txBody>
            <a:bodyPr wrap="square" lIns="0" tIns="0" rIns="0" bIns="0" rtlCol="0"/>
            <a:lstStyle/>
            <a:p/>
          </p:txBody>
        </p:sp>
        <p:sp>
          <p:nvSpPr>
            <p:cNvPr id="7" name="object 7" descr=""/>
            <p:cNvSpPr/>
            <p:nvPr/>
          </p:nvSpPr>
          <p:spPr>
            <a:xfrm>
              <a:off x="1820176" y="3123780"/>
              <a:ext cx="81280" cy="252729"/>
            </a:xfrm>
            <a:custGeom>
              <a:avLst/>
              <a:gdLst/>
              <a:ahLst/>
              <a:cxnLst/>
              <a:rect l="l" t="t" r="r" b="b"/>
              <a:pathLst>
                <a:path w="81280" h="252729">
                  <a:moveTo>
                    <a:pt x="80657" y="0"/>
                  </a:moveTo>
                  <a:lnTo>
                    <a:pt x="0" y="0"/>
                  </a:lnTo>
                  <a:lnTo>
                    <a:pt x="0" y="252387"/>
                  </a:lnTo>
                  <a:lnTo>
                    <a:pt x="80657" y="252387"/>
                  </a:lnTo>
                  <a:lnTo>
                    <a:pt x="80657" y="0"/>
                  </a:lnTo>
                  <a:close/>
                </a:path>
              </a:pathLst>
            </a:custGeom>
            <a:solidFill>
              <a:srgbClr val="FF0000"/>
            </a:solidFill>
          </p:spPr>
          <p:txBody>
            <a:bodyPr wrap="square" lIns="0" tIns="0" rIns="0" bIns="0" rtlCol="0"/>
            <a:lstStyle/>
            <a:p/>
          </p:txBody>
        </p:sp>
        <p:sp>
          <p:nvSpPr>
            <p:cNvPr id="8" name="object 8" descr=""/>
            <p:cNvSpPr/>
            <p:nvPr/>
          </p:nvSpPr>
          <p:spPr>
            <a:xfrm>
              <a:off x="1837410" y="3092843"/>
              <a:ext cx="104139" cy="314325"/>
            </a:xfrm>
            <a:custGeom>
              <a:avLst/>
              <a:gdLst/>
              <a:ahLst/>
              <a:cxnLst/>
              <a:rect l="l" t="t" r="r" b="b"/>
              <a:pathLst>
                <a:path w="104139" h="314325">
                  <a:moveTo>
                    <a:pt x="43497" y="282841"/>
                  </a:moveTo>
                  <a:lnTo>
                    <a:pt x="0" y="282841"/>
                  </a:lnTo>
                  <a:lnTo>
                    <a:pt x="0" y="314121"/>
                  </a:lnTo>
                  <a:lnTo>
                    <a:pt x="43497" y="314121"/>
                  </a:lnTo>
                  <a:lnTo>
                    <a:pt x="43497" y="282841"/>
                  </a:lnTo>
                  <a:close/>
                </a:path>
                <a:path w="104139" h="314325">
                  <a:moveTo>
                    <a:pt x="43954" y="0"/>
                  </a:moveTo>
                  <a:lnTo>
                    <a:pt x="457" y="0"/>
                  </a:lnTo>
                  <a:lnTo>
                    <a:pt x="457" y="31280"/>
                  </a:lnTo>
                  <a:lnTo>
                    <a:pt x="43954" y="31280"/>
                  </a:lnTo>
                  <a:lnTo>
                    <a:pt x="43954" y="0"/>
                  </a:lnTo>
                  <a:close/>
                </a:path>
                <a:path w="104139" h="314325">
                  <a:moveTo>
                    <a:pt x="103771" y="170091"/>
                  </a:moveTo>
                  <a:lnTo>
                    <a:pt x="63436" y="170091"/>
                  </a:lnTo>
                  <a:lnTo>
                    <a:pt x="63436" y="226352"/>
                  </a:lnTo>
                  <a:lnTo>
                    <a:pt x="103771" y="226352"/>
                  </a:lnTo>
                  <a:lnTo>
                    <a:pt x="103771" y="170091"/>
                  </a:lnTo>
                  <a:close/>
                </a:path>
              </a:pathLst>
            </a:custGeom>
            <a:solidFill>
              <a:srgbClr val="0070C0"/>
            </a:solidFill>
          </p:spPr>
          <p:txBody>
            <a:bodyPr wrap="square" lIns="0" tIns="0" rIns="0" bIns="0" rtlCol="0"/>
            <a:lstStyle/>
            <a:p/>
          </p:txBody>
        </p:sp>
        <p:sp>
          <p:nvSpPr>
            <p:cNvPr id="9" name="object 9" descr=""/>
            <p:cNvSpPr/>
            <p:nvPr/>
          </p:nvSpPr>
          <p:spPr>
            <a:xfrm>
              <a:off x="1858464" y="2884625"/>
              <a:ext cx="1270" cy="208279"/>
            </a:xfrm>
            <a:custGeom>
              <a:avLst/>
              <a:gdLst/>
              <a:ahLst/>
              <a:cxnLst/>
              <a:rect l="l" t="t" r="r" b="b"/>
              <a:pathLst>
                <a:path w="1269" h="208280">
                  <a:moveTo>
                    <a:pt x="1155" y="208216"/>
                  </a:moveTo>
                  <a:lnTo>
                    <a:pt x="0" y="0"/>
                  </a:lnTo>
                </a:path>
              </a:pathLst>
            </a:custGeom>
            <a:ln w="9525">
              <a:solidFill>
                <a:srgbClr val="808080"/>
              </a:solidFill>
            </a:ln>
          </p:spPr>
          <p:txBody>
            <a:bodyPr wrap="square" lIns="0" tIns="0" rIns="0" bIns="0" rtlCol="0"/>
            <a:lstStyle/>
            <a:p/>
          </p:txBody>
        </p:sp>
        <p:sp>
          <p:nvSpPr>
            <p:cNvPr id="10" name="object 10" descr=""/>
            <p:cNvSpPr/>
            <p:nvPr/>
          </p:nvSpPr>
          <p:spPr>
            <a:xfrm>
              <a:off x="2295080" y="2769031"/>
              <a:ext cx="191135" cy="590550"/>
            </a:xfrm>
            <a:custGeom>
              <a:avLst/>
              <a:gdLst/>
              <a:ahLst/>
              <a:cxnLst/>
              <a:rect l="l" t="t" r="r" b="b"/>
              <a:pathLst>
                <a:path w="191135" h="590550">
                  <a:moveTo>
                    <a:pt x="146786" y="0"/>
                  </a:moveTo>
                  <a:lnTo>
                    <a:pt x="41935" y="0"/>
                  </a:lnTo>
                  <a:lnTo>
                    <a:pt x="41935" y="56324"/>
                  </a:lnTo>
                  <a:lnTo>
                    <a:pt x="0" y="56324"/>
                  </a:lnTo>
                  <a:lnTo>
                    <a:pt x="0" y="90690"/>
                  </a:lnTo>
                  <a:lnTo>
                    <a:pt x="41935" y="90690"/>
                  </a:lnTo>
                  <a:lnTo>
                    <a:pt x="41935" y="141224"/>
                  </a:lnTo>
                  <a:lnTo>
                    <a:pt x="146786" y="141224"/>
                  </a:lnTo>
                  <a:lnTo>
                    <a:pt x="146786" y="0"/>
                  </a:lnTo>
                  <a:close/>
                </a:path>
                <a:path w="191135" h="590550">
                  <a:moveTo>
                    <a:pt x="188747" y="90690"/>
                  </a:moveTo>
                  <a:lnTo>
                    <a:pt x="146799" y="90690"/>
                  </a:lnTo>
                  <a:lnTo>
                    <a:pt x="146799" y="125056"/>
                  </a:lnTo>
                  <a:lnTo>
                    <a:pt x="188747" y="125056"/>
                  </a:lnTo>
                  <a:lnTo>
                    <a:pt x="188747" y="90690"/>
                  </a:lnTo>
                  <a:close/>
                </a:path>
                <a:path w="191135" h="590550">
                  <a:moveTo>
                    <a:pt x="188747" y="23228"/>
                  </a:moveTo>
                  <a:lnTo>
                    <a:pt x="146799" y="23228"/>
                  </a:lnTo>
                  <a:lnTo>
                    <a:pt x="146799" y="57594"/>
                  </a:lnTo>
                  <a:lnTo>
                    <a:pt x="188747" y="57594"/>
                  </a:lnTo>
                  <a:lnTo>
                    <a:pt x="188747" y="23228"/>
                  </a:lnTo>
                  <a:close/>
                </a:path>
                <a:path w="191135" h="590550">
                  <a:moveTo>
                    <a:pt x="190614" y="471982"/>
                  </a:moveTo>
                  <a:lnTo>
                    <a:pt x="148666" y="471982"/>
                  </a:lnTo>
                  <a:lnTo>
                    <a:pt x="148666" y="448767"/>
                  </a:lnTo>
                  <a:lnTo>
                    <a:pt x="43815" y="448767"/>
                  </a:lnTo>
                  <a:lnTo>
                    <a:pt x="43815" y="505079"/>
                  </a:lnTo>
                  <a:lnTo>
                    <a:pt x="1866" y="505079"/>
                  </a:lnTo>
                  <a:lnTo>
                    <a:pt x="1866" y="539445"/>
                  </a:lnTo>
                  <a:lnTo>
                    <a:pt x="43815" y="539445"/>
                  </a:lnTo>
                  <a:lnTo>
                    <a:pt x="43815" y="589991"/>
                  </a:lnTo>
                  <a:lnTo>
                    <a:pt x="148666" y="589991"/>
                  </a:lnTo>
                  <a:lnTo>
                    <a:pt x="148666" y="573811"/>
                  </a:lnTo>
                  <a:lnTo>
                    <a:pt x="190614" y="573811"/>
                  </a:lnTo>
                  <a:lnTo>
                    <a:pt x="190614" y="539445"/>
                  </a:lnTo>
                  <a:lnTo>
                    <a:pt x="148666" y="539445"/>
                  </a:lnTo>
                  <a:lnTo>
                    <a:pt x="148666" y="506349"/>
                  </a:lnTo>
                  <a:lnTo>
                    <a:pt x="190614" y="506349"/>
                  </a:lnTo>
                  <a:lnTo>
                    <a:pt x="190614" y="471982"/>
                  </a:lnTo>
                  <a:close/>
                </a:path>
              </a:pathLst>
            </a:custGeom>
            <a:solidFill>
              <a:srgbClr val="0070C0"/>
            </a:solidFill>
          </p:spPr>
          <p:txBody>
            <a:bodyPr wrap="square" lIns="0" tIns="0" rIns="0" bIns="0" rtlCol="0"/>
            <a:lstStyle/>
            <a:p/>
          </p:txBody>
        </p:sp>
        <p:sp>
          <p:nvSpPr>
            <p:cNvPr id="11" name="object 11" descr=""/>
            <p:cNvSpPr/>
            <p:nvPr/>
          </p:nvSpPr>
          <p:spPr>
            <a:xfrm>
              <a:off x="1941174" y="3291070"/>
              <a:ext cx="356235" cy="635"/>
            </a:xfrm>
            <a:custGeom>
              <a:avLst/>
              <a:gdLst/>
              <a:ahLst/>
              <a:cxnLst/>
              <a:rect l="l" t="t" r="r" b="b"/>
              <a:pathLst>
                <a:path w="356235" h="635">
                  <a:moveTo>
                    <a:pt x="0" y="0"/>
                  </a:moveTo>
                  <a:lnTo>
                    <a:pt x="355777" y="228"/>
                  </a:lnTo>
                </a:path>
              </a:pathLst>
            </a:custGeom>
            <a:ln w="9525">
              <a:solidFill>
                <a:srgbClr val="808080"/>
              </a:solidFill>
            </a:ln>
          </p:spPr>
          <p:txBody>
            <a:bodyPr wrap="square" lIns="0" tIns="0" rIns="0" bIns="0" rtlCol="0"/>
            <a:lstStyle/>
            <a:p/>
          </p:txBody>
        </p:sp>
        <p:sp>
          <p:nvSpPr>
            <p:cNvPr id="12" name="object 12" descr=""/>
            <p:cNvSpPr/>
            <p:nvPr/>
          </p:nvSpPr>
          <p:spPr>
            <a:xfrm>
              <a:off x="1943581" y="2842356"/>
              <a:ext cx="351790" cy="635"/>
            </a:xfrm>
            <a:custGeom>
              <a:avLst/>
              <a:gdLst/>
              <a:ahLst/>
              <a:cxnLst/>
              <a:rect l="l" t="t" r="r" b="b"/>
              <a:pathLst>
                <a:path w="351789" h="635">
                  <a:moveTo>
                    <a:pt x="0" y="0"/>
                  </a:moveTo>
                  <a:lnTo>
                    <a:pt x="351497" y="177"/>
                  </a:lnTo>
                </a:path>
              </a:pathLst>
            </a:custGeom>
            <a:ln w="9525">
              <a:solidFill>
                <a:srgbClr val="808080"/>
              </a:solidFill>
            </a:ln>
          </p:spPr>
          <p:txBody>
            <a:bodyPr wrap="square" lIns="0" tIns="0" rIns="0" bIns="0" rtlCol="0"/>
            <a:lstStyle/>
            <a:p/>
          </p:txBody>
        </p:sp>
        <p:sp>
          <p:nvSpPr>
            <p:cNvPr id="13" name="object 13" descr=""/>
            <p:cNvSpPr/>
            <p:nvPr/>
          </p:nvSpPr>
          <p:spPr>
            <a:xfrm>
              <a:off x="1862027" y="2439103"/>
              <a:ext cx="434975" cy="205104"/>
            </a:xfrm>
            <a:custGeom>
              <a:avLst/>
              <a:gdLst/>
              <a:ahLst/>
              <a:cxnLst/>
              <a:rect l="l" t="t" r="r" b="b"/>
              <a:pathLst>
                <a:path w="434975" h="205105">
                  <a:moveTo>
                    <a:pt x="0" y="205028"/>
                  </a:moveTo>
                  <a:lnTo>
                    <a:pt x="0" y="0"/>
                  </a:lnTo>
                  <a:lnTo>
                    <a:pt x="434924" y="0"/>
                  </a:lnTo>
                </a:path>
              </a:pathLst>
            </a:custGeom>
            <a:ln w="9525">
              <a:solidFill>
                <a:srgbClr val="808080"/>
              </a:solidFill>
            </a:ln>
          </p:spPr>
          <p:txBody>
            <a:bodyPr wrap="square" lIns="0" tIns="0" rIns="0" bIns="0" rtlCol="0"/>
            <a:lstStyle/>
            <a:p/>
          </p:txBody>
        </p:sp>
        <p:sp>
          <p:nvSpPr>
            <p:cNvPr id="14" name="object 14" descr=""/>
            <p:cNvSpPr/>
            <p:nvPr/>
          </p:nvSpPr>
          <p:spPr>
            <a:xfrm>
              <a:off x="2485689" y="2329108"/>
              <a:ext cx="527050" cy="77470"/>
            </a:xfrm>
            <a:custGeom>
              <a:avLst/>
              <a:gdLst/>
              <a:ahLst/>
              <a:cxnLst/>
              <a:rect l="l" t="t" r="r" b="b"/>
              <a:pathLst>
                <a:path w="527050" h="77469">
                  <a:moveTo>
                    <a:pt x="0" y="76898"/>
                  </a:moveTo>
                  <a:lnTo>
                    <a:pt x="263359" y="76898"/>
                  </a:lnTo>
                  <a:lnTo>
                    <a:pt x="263359" y="0"/>
                  </a:lnTo>
                  <a:lnTo>
                    <a:pt x="526719" y="0"/>
                  </a:lnTo>
                </a:path>
              </a:pathLst>
            </a:custGeom>
            <a:ln w="9525">
              <a:solidFill>
                <a:srgbClr val="808080"/>
              </a:solidFill>
            </a:ln>
          </p:spPr>
          <p:txBody>
            <a:bodyPr wrap="square" lIns="0" tIns="0" rIns="0" bIns="0" rtlCol="0"/>
            <a:lstStyle/>
            <a:p/>
          </p:txBody>
        </p:sp>
        <p:sp>
          <p:nvSpPr>
            <p:cNvPr id="15" name="object 15" descr=""/>
            <p:cNvSpPr/>
            <p:nvPr/>
          </p:nvSpPr>
          <p:spPr>
            <a:xfrm>
              <a:off x="2485689" y="2473470"/>
              <a:ext cx="530860" cy="71120"/>
            </a:xfrm>
            <a:custGeom>
              <a:avLst/>
              <a:gdLst/>
              <a:ahLst/>
              <a:cxnLst/>
              <a:rect l="l" t="t" r="r" b="b"/>
              <a:pathLst>
                <a:path w="530860" h="71119">
                  <a:moveTo>
                    <a:pt x="0" y="0"/>
                  </a:moveTo>
                  <a:lnTo>
                    <a:pt x="265163" y="0"/>
                  </a:lnTo>
                  <a:lnTo>
                    <a:pt x="265163" y="70497"/>
                  </a:lnTo>
                  <a:lnTo>
                    <a:pt x="530313" y="70497"/>
                  </a:lnTo>
                </a:path>
              </a:pathLst>
            </a:custGeom>
            <a:ln w="9525">
              <a:solidFill>
                <a:srgbClr val="808080"/>
              </a:solidFill>
            </a:ln>
          </p:spPr>
          <p:txBody>
            <a:bodyPr wrap="square" lIns="0" tIns="0" rIns="0" bIns="0" rtlCol="0"/>
            <a:lstStyle/>
            <a:p/>
          </p:txBody>
        </p:sp>
        <p:sp>
          <p:nvSpPr>
            <p:cNvPr id="16" name="object 16" descr=""/>
            <p:cNvSpPr/>
            <p:nvPr/>
          </p:nvSpPr>
          <p:spPr>
            <a:xfrm>
              <a:off x="2483816" y="2737571"/>
              <a:ext cx="532765" cy="67945"/>
            </a:xfrm>
            <a:custGeom>
              <a:avLst/>
              <a:gdLst/>
              <a:ahLst/>
              <a:cxnLst/>
              <a:rect l="l" t="t" r="r" b="b"/>
              <a:pathLst>
                <a:path w="532764" h="67944">
                  <a:moveTo>
                    <a:pt x="0" y="67741"/>
                  </a:moveTo>
                  <a:lnTo>
                    <a:pt x="266103" y="67741"/>
                  </a:lnTo>
                  <a:lnTo>
                    <a:pt x="266103" y="0"/>
                  </a:lnTo>
                  <a:lnTo>
                    <a:pt x="532193" y="0"/>
                  </a:lnTo>
                </a:path>
              </a:pathLst>
            </a:custGeom>
            <a:ln w="9525">
              <a:solidFill>
                <a:srgbClr val="808080"/>
              </a:solidFill>
            </a:ln>
          </p:spPr>
          <p:txBody>
            <a:bodyPr wrap="square" lIns="0" tIns="0" rIns="0" bIns="0" rtlCol="0"/>
            <a:lstStyle/>
            <a:p/>
          </p:txBody>
        </p:sp>
        <p:sp>
          <p:nvSpPr>
            <p:cNvPr id="17" name="object 17" descr=""/>
            <p:cNvSpPr/>
            <p:nvPr/>
          </p:nvSpPr>
          <p:spPr>
            <a:xfrm>
              <a:off x="2483816" y="2872774"/>
              <a:ext cx="532765" cy="42545"/>
            </a:xfrm>
            <a:custGeom>
              <a:avLst/>
              <a:gdLst/>
              <a:ahLst/>
              <a:cxnLst/>
              <a:rect l="l" t="t" r="r" b="b"/>
              <a:pathLst>
                <a:path w="532764" h="42544">
                  <a:moveTo>
                    <a:pt x="0" y="0"/>
                  </a:moveTo>
                  <a:lnTo>
                    <a:pt x="266103" y="0"/>
                  </a:lnTo>
                  <a:lnTo>
                    <a:pt x="266103" y="41998"/>
                  </a:lnTo>
                  <a:lnTo>
                    <a:pt x="532193" y="41998"/>
                  </a:lnTo>
                </a:path>
              </a:pathLst>
            </a:custGeom>
            <a:ln w="9524">
              <a:solidFill>
                <a:srgbClr val="808080"/>
              </a:solidFill>
            </a:ln>
          </p:spPr>
          <p:txBody>
            <a:bodyPr wrap="square" lIns="0" tIns="0" rIns="0" bIns="0" rtlCol="0"/>
            <a:lstStyle/>
            <a:p/>
          </p:txBody>
        </p:sp>
        <p:sp>
          <p:nvSpPr>
            <p:cNvPr id="18" name="object 18" descr=""/>
            <p:cNvSpPr/>
            <p:nvPr/>
          </p:nvSpPr>
          <p:spPr>
            <a:xfrm>
              <a:off x="2485015" y="3168046"/>
              <a:ext cx="531495" cy="88900"/>
            </a:xfrm>
            <a:custGeom>
              <a:avLst/>
              <a:gdLst/>
              <a:ahLst/>
              <a:cxnLst/>
              <a:rect l="l" t="t" r="r" b="b"/>
              <a:pathLst>
                <a:path w="531494" h="88900">
                  <a:moveTo>
                    <a:pt x="0" y="88747"/>
                  </a:moveTo>
                  <a:lnTo>
                    <a:pt x="265493" y="88747"/>
                  </a:lnTo>
                  <a:lnTo>
                    <a:pt x="265493" y="0"/>
                  </a:lnTo>
                  <a:lnTo>
                    <a:pt x="530999" y="0"/>
                  </a:lnTo>
                </a:path>
              </a:pathLst>
            </a:custGeom>
            <a:ln w="9525">
              <a:solidFill>
                <a:srgbClr val="808080"/>
              </a:solidFill>
            </a:ln>
          </p:spPr>
          <p:txBody>
            <a:bodyPr wrap="square" lIns="0" tIns="0" rIns="0" bIns="0" rtlCol="0"/>
            <a:lstStyle/>
            <a:p/>
          </p:txBody>
        </p:sp>
        <p:sp>
          <p:nvSpPr>
            <p:cNvPr id="19" name="object 19" descr=""/>
            <p:cNvSpPr/>
            <p:nvPr/>
          </p:nvSpPr>
          <p:spPr>
            <a:xfrm>
              <a:off x="2485015" y="3324254"/>
              <a:ext cx="531495" cy="57785"/>
            </a:xfrm>
            <a:custGeom>
              <a:avLst/>
              <a:gdLst/>
              <a:ahLst/>
              <a:cxnLst/>
              <a:rect l="l" t="t" r="r" b="b"/>
              <a:pathLst>
                <a:path w="531494" h="57785">
                  <a:moveTo>
                    <a:pt x="0" y="0"/>
                  </a:moveTo>
                  <a:lnTo>
                    <a:pt x="265493" y="0"/>
                  </a:lnTo>
                  <a:lnTo>
                    <a:pt x="265493" y="57581"/>
                  </a:lnTo>
                  <a:lnTo>
                    <a:pt x="530999" y="57581"/>
                  </a:lnTo>
                </a:path>
              </a:pathLst>
            </a:custGeom>
            <a:ln w="9525">
              <a:solidFill>
                <a:srgbClr val="808080"/>
              </a:solidFill>
            </a:ln>
          </p:spPr>
          <p:txBody>
            <a:bodyPr wrap="square" lIns="0" tIns="0" rIns="0" bIns="0" rtlCol="0"/>
            <a:lstStyle/>
            <a:p/>
          </p:txBody>
        </p:sp>
        <p:pic>
          <p:nvPicPr>
            <p:cNvPr id="20" name="object 20" descr=""/>
            <p:cNvPicPr/>
            <p:nvPr/>
          </p:nvPicPr>
          <p:blipFill>
            <a:blip r:embed="rId2" cstate="print"/>
            <a:stretch>
              <a:fillRect/>
            </a:stretch>
          </p:blipFill>
          <p:spPr>
            <a:xfrm>
              <a:off x="971880" y="3179415"/>
              <a:ext cx="246316" cy="248919"/>
            </a:xfrm>
            <a:prstGeom prst="rect">
              <a:avLst/>
            </a:prstGeom>
          </p:spPr>
        </p:pic>
        <p:sp>
          <p:nvSpPr>
            <p:cNvPr id="21" name="object 21" descr=""/>
            <p:cNvSpPr/>
            <p:nvPr/>
          </p:nvSpPr>
          <p:spPr>
            <a:xfrm>
              <a:off x="1218460" y="3274111"/>
              <a:ext cx="640715" cy="215900"/>
            </a:xfrm>
            <a:custGeom>
              <a:avLst/>
              <a:gdLst/>
              <a:ahLst/>
              <a:cxnLst/>
              <a:rect l="l" t="t" r="r" b="b"/>
              <a:pathLst>
                <a:path w="640714" h="215900">
                  <a:moveTo>
                    <a:pt x="640702" y="132854"/>
                  </a:moveTo>
                  <a:lnTo>
                    <a:pt x="640702" y="215341"/>
                  </a:lnTo>
                  <a:lnTo>
                    <a:pt x="309486" y="215341"/>
                  </a:lnTo>
                  <a:lnTo>
                    <a:pt x="309486" y="0"/>
                  </a:lnTo>
                  <a:lnTo>
                    <a:pt x="0" y="0"/>
                  </a:lnTo>
                </a:path>
              </a:pathLst>
            </a:custGeom>
            <a:ln w="9525">
              <a:solidFill>
                <a:srgbClr val="808080"/>
              </a:solidFill>
            </a:ln>
          </p:spPr>
          <p:txBody>
            <a:bodyPr wrap="square" lIns="0" tIns="0" rIns="0" bIns="0" rtlCol="0"/>
            <a:lstStyle/>
            <a:p/>
          </p:txBody>
        </p:sp>
        <p:pic>
          <p:nvPicPr>
            <p:cNvPr id="22" name="object 22" descr=""/>
            <p:cNvPicPr/>
            <p:nvPr/>
          </p:nvPicPr>
          <p:blipFill>
            <a:blip r:embed="rId3" cstate="print"/>
            <a:stretch>
              <a:fillRect/>
            </a:stretch>
          </p:blipFill>
          <p:spPr>
            <a:xfrm>
              <a:off x="3016008" y="2268804"/>
              <a:ext cx="106667" cy="110096"/>
            </a:xfrm>
            <a:prstGeom prst="rect">
              <a:avLst/>
            </a:prstGeom>
          </p:spPr>
        </p:pic>
        <p:pic>
          <p:nvPicPr>
            <p:cNvPr id="23" name="object 23" descr=""/>
            <p:cNvPicPr/>
            <p:nvPr/>
          </p:nvPicPr>
          <p:blipFill>
            <a:blip r:embed="rId4" cstate="print"/>
            <a:stretch>
              <a:fillRect/>
            </a:stretch>
          </p:blipFill>
          <p:spPr>
            <a:xfrm>
              <a:off x="3016008" y="2488920"/>
              <a:ext cx="106667" cy="110096"/>
            </a:xfrm>
            <a:prstGeom prst="rect">
              <a:avLst/>
            </a:prstGeom>
          </p:spPr>
        </p:pic>
        <p:pic>
          <p:nvPicPr>
            <p:cNvPr id="24" name="object 24" descr=""/>
            <p:cNvPicPr/>
            <p:nvPr/>
          </p:nvPicPr>
          <p:blipFill>
            <a:blip r:embed="rId4" cstate="print"/>
            <a:stretch>
              <a:fillRect/>
            </a:stretch>
          </p:blipFill>
          <p:spPr>
            <a:xfrm>
              <a:off x="3016008" y="2682532"/>
              <a:ext cx="106667" cy="110096"/>
            </a:xfrm>
            <a:prstGeom prst="rect">
              <a:avLst/>
            </a:prstGeom>
          </p:spPr>
        </p:pic>
        <p:pic>
          <p:nvPicPr>
            <p:cNvPr id="25" name="object 25" descr=""/>
            <p:cNvPicPr/>
            <p:nvPr/>
          </p:nvPicPr>
          <p:blipFill>
            <a:blip r:embed="rId3" cstate="print"/>
            <a:stretch>
              <a:fillRect/>
            </a:stretch>
          </p:blipFill>
          <p:spPr>
            <a:xfrm>
              <a:off x="3016008" y="2859722"/>
              <a:ext cx="106667" cy="110096"/>
            </a:xfrm>
            <a:prstGeom prst="rect">
              <a:avLst/>
            </a:prstGeom>
          </p:spPr>
        </p:pic>
        <p:pic>
          <p:nvPicPr>
            <p:cNvPr id="26" name="object 26" descr=""/>
            <p:cNvPicPr/>
            <p:nvPr/>
          </p:nvPicPr>
          <p:blipFill>
            <a:blip r:embed="rId5" cstate="print"/>
            <a:stretch>
              <a:fillRect/>
            </a:stretch>
          </p:blipFill>
          <p:spPr>
            <a:xfrm>
              <a:off x="3016008" y="3112998"/>
              <a:ext cx="106667" cy="110096"/>
            </a:xfrm>
            <a:prstGeom prst="rect">
              <a:avLst/>
            </a:prstGeom>
          </p:spPr>
        </p:pic>
        <p:pic>
          <p:nvPicPr>
            <p:cNvPr id="27" name="object 27" descr=""/>
            <p:cNvPicPr/>
            <p:nvPr/>
          </p:nvPicPr>
          <p:blipFill>
            <a:blip r:embed="rId4" cstate="print"/>
            <a:stretch>
              <a:fillRect/>
            </a:stretch>
          </p:blipFill>
          <p:spPr>
            <a:xfrm>
              <a:off x="3016008" y="3326790"/>
              <a:ext cx="106667" cy="110096"/>
            </a:xfrm>
            <a:prstGeom prst="rect">
              <a:avLst/>
            </a:prstGeom>
          </p:spPr>
        </p:pic>
      </p:grpSp>
      <p:sp>
        <p:nvSpPr>
          <p:cNvPr id="28" name="object 28" descr=""/>
          <p:cNvSpPr txBox="1"/>
          <p:nvPr/>
        </p:nvSpPr>
        <p:spPr>
          <a:xfrm>
            <a:off x="629066" y="3118411"/>
            <a:ext cx="228600" cy="147320"/>
          </a:xfrm>
          <a:prstGeom prst="rect">
            <a:avLst/>
          </a:prstGeom>
        </p:spPr>
        <p:txBody>
          <a:bodyPr wrap="square" lIns="0" tIns="12065" rIns="0" bIns="0" rtlCol="0" vert="horz">
            <a:spAutoFit/>
          </a:bodyPr>
          <a:lstStyle/>
          <a:p>
            <a:pPr marL="12700">
              <a:lnSpc>
                <a:spcPct val="100000"/>
              </a:lnSpc>
              <a:spcBef>
                <a:spcPts val="95"/>
              </a:spcBef>
            </a:pPr>
            <a:r>
              <a:rPr dirty="0" sz="800" spc="-30">
                <a:latin typeface="Microsoft YaHei"/>
                <a:cs typeface="Microsoft YaHei"/>
              </a:rPr>
              <a:t>信源</a:t>
            </a:r>
            <a:endParaRPr sz="800">
              <a:latin typeface="Microsoft YaHei"/>
              <a:cs typeface="Microsoft YaHei"/>
            </a:endParaRPr>
          </a:p>
        </p:txBody>
      </p:sp>
      <p:sp>
        <p:nvSpPr>
          <p:cNvPr id="29" name="object 29" descr=""/>
          <p:cNvSpPr txBox="1"/>
          <p:nvPr/>
        </p:nvSpPr>
        <p:spPr>
          <a:xfrm>
            <a:off x="1472062" y="2634078"/>
            <a:ext cx="329565" cy="147320"/>
          </a:xfrm>
          <a:prstGeom prst="rect">
            <a:avLst/>
          </a:prstGeom>
        </p:spPr>
        <p:txBody>
          <a:bodyPr wrap="square" lIns="0" tIns="12065" rIns="0" bIns="0" rtlCol="0" vert="horz">
            <a:spAutoFit/>
          </a:bodyPr>
          <a:lstStyle/>
          <a:p>
            <a:pPr marL="12700">
              <a:lnSpc>
                <a:spcPct val="100000"/>
              </a:lnSpc>
              <a:spcBef>
                <a:spcPts val="95"/>
              </a:spcBef>
            </a:pPr>
            <a:r>
              <a:rPr dirty="0" sz="800" spc="-25">
                <a:latin typeface="Microsoft YaHei"/>
                <a:cs typeface="Microsoft YaHei"/>
              </a:rPr>
              <a:t>耦合器</a:t>
            </a:r>
            <a:endParaRPr sz="800">
              <a:latin typeface="Microsoft YaHei"/>
              <a:cs typeface="Microsoft YaHei"/>
            </a:endParaRPr>
          </a:p>
        </p:txBody>
      </p:sp>
      <p:sp>
        <p:nvSpPr>
          <p:cNvPr id="30" name="object 30" descr=""/>
          <p:cNvSpPr txBox="1"/>
          <p:nvPr/>
        </p:nvSpPr>
        <p:spPr>
          <a:xfrm>
            <a:off x="2247663" y="2062183"/>
            <a:ext cx="329565" cy="147320"/>
          </a:xfrm>
          <a:prstGeom prst="rect">
            <a:avLst/>
          </a:prstGeom>
        </p:spPr>
        <p:txBody>
          <a:bodyPr wrap="square" lIns="0" tIns="12065" rIns="0" bIns="0" rtlCol="0" vert="horz">
            <a:spAutoFit/>
          </a:bodyPr>
          <a:lstStyle/>
          <a:p>
            <a:pPr marL="12700">
              <a:lnSpc>
                <a:spcPct val="100000"/>
              </a:lnSpc>
              <a:spcBef>
                <a:spcPts val="95"/>
              </a:spcBef>
            </a:pPr>
            <a:r>
              <a:rPr dirty="0" sz="800" spc="-25">
                <a:latin typeface="Microsoft YaHei"/>
                <a:cs typeface="Microsoft YaHei"/>
              </a:rPr>
              <a:t>功分器</a:t>
            </a:r>
            <a:endParaRPr sz="800">
              <a:latin typeface="Microsoft YaHei"/>
              <a:cs typeface="Microsoft YaHei"/>
            </a:endParaRPr>
          </a:p>
        </p:txBody>
      </p:sp>
      <p:sp>
        <p:nvSpPr>
          <p:cNvPr id="31" name="object 31" descr=""/>
          <p:cNvSpPr txBox="1"/>
          <p:nvPr/>
        </p:nvSpPr>
        <p:spPr>
          <a:xfrm>
            <a:off x="1268762" y="3027301"/>
            <a:ext cx="442595" cy="147320"/>
          </a:xfrm>
          <a:prstGeom prst="rect">
            <a:avLst/>
          </a:prstGeom>
        </p:spPr>
        <p:txBody>
          <a:bodyPr wrap="square" lIns="0" tIns="12065" rIns="0" bIns="0" rtlCol="0" vert="horz">
            <a:spAutoFit/>
          </a:bodyPr>
          <a:lstStyle/>
          <a:p>
            <a:pPr marL="12700">
              <a:lnSpc>
                <a:spcPct val="100000"/>
              </a:lnSpc>
              <a:spcBef>
                <a:spcPts val="95"/>
              </a:spcBef>
            </a:pPr>
            <a:r>
              <a:rPr dirty="0" sz="800" spc="-10">
                <a:latin typeface="Microsoft YaHei"/>
                <a:cs typeface="Microsoft YaHei"/>
              </a:rPr>
              <a:t>7/8</a:t>
            </a:r>
            <a:r>
              <a:rPr dirty="0" sz="800" spc="-20">
                <a:latin typeface="Microsoft YaHei"/>
                <a:cs typeface="Microsoft YaHei"/>
              </a:rPr>
              <a:t>′′馈线</a:t>
            </a:r>
            <a:endParaRPr sz="800">
              <a:latin typeface="Microsoft YaHei"/>
              <a:cs typeface="Microsoft YaHei"/>
            </a:endParaRPr>
          </a:p>
        </p:txBody>
      </p:sp>
      <p:sp>
        <p:nvSpPr>
          <p:cNvPr id="32" name="object 32" descr=""/>
          <p:cNvSpPr txBox="1"/>
          <p:nvPr/>
        </p:nvSpPr>
        <p:spPr>
          <a:xfrm>
            <a:off x="2525858" y="2891092"/>
            <a:ext cx="442595" cy="147320"/>
          </a:xfrm>
          <a:prstGeom prst="rect">
            <a:avLst/>
          </a:prstGeom>
        </p:spPr>
        <p:txBody>
          <a:bodyPr wrap="square" lIns="0" tIns="12065" rIns="0" bIns="0" rtlCol="0" vert="horz">
            <a:spAutoFit/>
          </a:bodyPr>
          <a:lstStyle/>
          <a:p>
            <a:pPr marL="12700">
              <a:lnSpc>
                <a:spcPct val="100000"/>
              </a:lnSpc>
              <a:spcBef>
                <a:spcPts val="95"/>
              </a:spcBef>
            </a:pPr>
            <a:r>
              <a:rPr dirty="0" sz="800" spc="-10">
                <a:latin typeface="Microsoft YaHei"/>
                <a:cs typeface="Microsoft YaHei"/>
              </a:rPr>
              <a:t>1/2</a:t>
            </a:r>
            <a:r>
              <a:rPr dirty="0" sz="800" spc="-20">
                <a:latin typeface="Microsoft YaHei"/>
                <a:cs typeface="Microsoft YaHei"/>
              </a:rPr>
              <a:t>′′馈线</a:t>
            </a:r>
            <a:endParaRPr sz="800">
              <a:latin typeface="Microsoft YaHei"/>
              <a:cs typeface="Microsoft YaHei"/>
            </a:endParaRPr>
          </a:p>
        </p:txBody>
      </p:sp>
      <p:sp>
        <p:nvSpPr>
          <p:cNvPr id="33" name="object 33" descr=""/>
          <p:cNvSpPr txBox="1"/>
          <p:nvPr/>
        </p:nvSpPr>
        <p:spPr>
          <a:xfrm>
            <a:off x="3167885" y="2589385"/>
            <a:ext cx="431165" cy="147320"/>
          </a:xfrm>
          <a:prstGeom prst="rect">
            <a:avLst/>
          </a:prstGeom>
        </p:spPr>
        <p:txBody>
          <a:bodyPr wrap="square" lIns="0" tIns="12065" rIns="0" bIns="0" rtlCol="0" vert="horz">
            <a:spAutoFit/>
          </a:bodyPr>
          <a:lstStyle/>
          <a:p>
            <a:pPr marL="12700">
              <a:lnSpc>
                <a:spcPct val="100000"/>
              </a:lnSpc>
              <a:spcBef>
                <a:spcPts val="95"/>
              </a:spcBef>
            </a:pPr>
            <a:r>
              <a:rPr dirty="0" sz="800" spc="-20">
                <a:latin typeface="Microsoft YaHei"/>
                <a:cs typeface="Microsoft YaHei"/>
              </a:rPr>
              <a:t>室分天线</a:t>
            </a:r>
            <a:endParaRPr sz="800">
              <a:latin typeface="Microsoft YaHei"/>
              <a:cs typeface="Microsoft YaHei"/>
            </a:endParaRPr>
          </a:p>
        </p:txBody>
      </p:sp>
      <p:sp>
        <p:nvSpPr>
          <p:cNvPr id="34" name="object 34" descr=""/>
          <p:cNvSpPr txBox="1"/>
          <p:nvPr/>
        </p:nvSpPr>
        <p:spPr>
          <a:xfrm>
            <a:off x="3388563" y="3122891"/>
            <a:ext cx="742950" cy="315595"/>
          </a:xfrm>
          <a:prstGeom prst="rect">
            <a:avLst/>
          </a:prstGeom>
          <a:ln w="9525">
            <a:solidFill>
              <a:srgbClr val="FF0000"/>
            </a:solidFill>
          </a:ln>
        </p:spPr>
        <p:txBody>
          <a:bodyPr wrap="square" lIns="0" tIns="29845" rIns="0" bIns="0" rtlCol="0" vert="horz">
            <a:spAutoFit/>
          </a:bodyPr>
          <a:lstStyle/>
          <a:p>
            <a:pPr marL="114300">
              <a:lnSpc>
                <a:spcPct val="100000"/>
              </a:lnSpc>
              <a:spcBef>
                <a:spcPts val="235"/>
              </a:spcBef>
            </a:pPr>
            <a:r>
              <a:rPr dirty="0" sz="800">
                <a:latin typeface="Microsoft YaHei"/>
                <a:cs typeface="Microsoft YaHei"/>
              </a:rPr>
              <a:t>5G</a:t>
            </a:r>
            <a:r>
              <a:rPr dirty="0" sz="800" spc="-20">
                <a:latin typeface="Microsoft YaHei"/>
                <a:cs typeface="Microsoft YaHei"/>
              </a:rPr>
              <a:t> </a:t>
            </a:r>
            <a:r>
              <a:rPr dirty="0" sz="800" spc="-10">
                <a:latin typeface="Microsoft YaHei"/>
                <a:cs typeface="Microsoft YaHei"/>
              </a:rPr>
              <a:t>3.5GHz</a:t>
            </a:r>
            <a:endParaRPr sz="800">
              <a:latin typeface="Microsoft YaHei"/>
              <a:cs typeface="Microsoft YaHei"/>
            </a:endParaRPr>
          </a:p>
          <a:p>
            <a:pPr marL="117475">
              <a:lnSpc>
                <a:spcPct val="100000"/>
              </a:lnSpc>
            </a:pPr>
            <a:r>
              <a:rPr dirty="0" sz="800" spc="-20">
                <a:latin typeface="Microsoft YaHei"/>
                <a:cs typeface="Microsoft YaHei"/>
              </a:rPr>
              <a:t>演进需替换</a:t>
            </a:r>
            <a:endParaRPr sz="800">
              <a:latin typeface="Microsoft YaHei"/>
              <a:cs typeface="Microsoft YaHei"/>
            </a:endParaRPr>
          </a:p>
        </p:txBody>
      </p:sp>
      <p:grpSp>
        <p:nvGrpSpPr>
          <p:cNvPr id="35" name="object 35" descr=""/>
          <p:cNvGrpSpPr/>
          <p:nvPr/>
        </p:nvGrpSpPr>
        <p:grpSpPr>
          <a:xfrm>
            <a:off x="1880910" y="3274282"/>
            <a:ext cx="1514475" cy="149860"/>
            <a:chOff x="1880910" y="3274282"/>
            <a:chExt cx="1514475" cy="149860"/>
          </a:xfrm>
        </p:grpSpPr>
        <p:sp>
          <p:nvSpPr>
            <p:cNvPr id="36" name="object 36" descr=""/>
            <p:cNvSpPr/>
            <p:nvPr/>
          </p:nvSpPr>
          <p:spPr>
            <a:xfrm>
              <a:off x="3182029" y="3280632"/>
              <a:ext cx="207010" cy="78740"/>
            </a:xfrm>
            <a:custGeom>
              <a:avLst/>
              <a:gdLst/>
              <a:ahLst/>
              <a:cxnLst/>
              <a:rect l="l" t="t" r="r" b="b"/>
              <a:pathLst>
                <a:path w="207010" h="78739">
                  <a:moveTo>
                    <a:pt x="206540" y="0"/>
                  </a:moveTo>
                  <a:lnTo>
                    <a:pt x="0" y="78613"/>
                  </a:lnTo>
                </a:path>
              </a:pathLst>
            </a:custGeom>
            <a:ln w="12700">
              <a:solidFill>
                <a:srgbClr val="FF0000"/>
              </a:solidFill>
            </a:ln>
          </p:spPr>
          <p:txBody>
            <a:bodyPr wrap="square" lIns="0" tIns="0" rIns="0" bIns="0" rtlCol="0"/>
            <a:lstStyle/>
            <a:p/>
          </p:txBody>
        </p:sp>
        <p:sp>
          <p:nvSpPr>
            <p:cNvPr id="37" name="object 37" descr=""/>
            <p:cNvSpPr/>
            <p:nvPr/>
          </p:nvSpPr>
          <p:spPr>
            <a:xfrm>
              <a:off x="3122674" y="3319126"/>
              <a:ext cx="85090" cy="71755"/>
            </a:xfrm>
            <a:custGeom>
              <a:avLst/>
              <a:gdLst/>
              <a:ahLst/>
              <a:cxnLst/>
              <a:rect l="l" t="t" r="r" b="b"/>
              <a:pathLst>
                <a:path w="85089" h="71754">
                  <a:moveTo>
                    <a:pt x="57658" y="0"/>
                  </a:moveTo>
                  <a:lnTo>
                    <a:pt x="0" y="62712"/>
                  </a:lnTo>
                  <a:lnTo>
                    <a:pt x="84772" y="71208"/>
                  </a:lnTo>
                  <a:lnTo>
                    <a:pt x="57658" y="0"/>
                  </a:lnTo>
                  <a:close/>
                </a:path>
              </a:pathLst>
            </a:custGeom>
            <a:solidFill>
              <a:srgbClr val="FF0000"/>
            </a:solidFill>
          </p:spPr>
          <p:txBody>
            <a:bodyPr wrap="square" lIns="0" tIns="0" rIns="0" bIns="0" rtlCol="0"/>
            <a:lstStyle/>
            <a:p/>
          </p:txBody>
        </p:sp>
        <p:sp>
          <p:nvSpPr>
            <p:cNvPr id="38" name="object 38" descr=""/>
            <p:cNvSpPr/>
            <p:nvPr/>
          </p:nvSpPr>
          <p:spPr>
            <a:xfrm>
              <a:off x="1944249" y="3280632"/>
              <a:ext cx="1444625" cy="106045"/>
            </a:xfrm>
            <a:custGeom>
              <a:avLst/>
              <a:gdLst/>
              <a:ahLst/>
              <a:cxnLst/>
              <a:rect l="l" t="t" r="r" b="b"/>
              <a:pathLst>
                <a:path w="1444625" h="106045">
                  <a:moveTo>
                    <a:pt x="1444320" y="0"/>
                  </a:moveTo>
                  <a:lnTo>
                    <a:pt x="0" y="106045"/>
                  </a:lnTo>
                </a:path>
              </a:pathLst>
            </a:custGeom>
            <a:ln w="12700">
              <a:solidFill>
                <a:srgbClr val="FF0000"/>
              </a:solidFill>
            </a:ln>
          </p:spPr>
          <p:txBody>
            <a:bodyPr wrap="square" lIns="0" tIns="0" rIns="0" bIns="0" rtlCol="0"/>
            <a:lstStyle/>
            <a:p/>
          </p:txBody>
        </p:sp>
        <p:sp>
          <p:nvSpPr>
            <p:cNvPr id="39" name="object 39" descr=""/>
            <p:cNvSpPr/>
            <p:nvPr/>
          </p:nvSpPr>
          <p:spPr>
            <a:xfrm>
              <a:off x="1880910" y="3347745"/>
              <a:ext cx="79375" cy="76200"/>
            </a:xfrm>
            <a:custGeom>
              <a:avLst/>
              <a:gdLst/>
              <a:ahLst/>
              <a:cxnLst/>
              <a:rect l="l" t="t" r="r" b="b"/>
              <a:pathLst>
                <a:path w="79375" h="76200">
                  <a:moveTo>
                    <a:pt x="73202" y="0"/>
                  </a:moveTo>
                  <a:lnTo>
                    <a:pt x="0" y="43586"/>
                  </a:lnTo>
                  <a:lnTo>
                    <a:pt x="78790" y="75996"/>
                  </a:lnTo>
                  <a:lnTo>
                    <a:pt x="73202" y="0"/>
                  </a:lnTo>
                  <a:close/>
                </a:path>
              </a:pathLst>
            </a:custGeom>
            <a:solidFill>
              <a:srgbClr val="FF0000"/>
            </a:solidFill>
          </p:spPr>
          <p:txBody>
            <a:bodyPr wrap="square" lIns="0" tIns="0" rIns="0" bIns="0" rtlCol="0"/>
            <a:lstStyle/>
            <a:p/>
          </p:txBody>
        </p:sp>
      </p:grpSp>
      <p:grpSp>
        <p:nvGrpSpPr>
          <p:cNvPr id="40" name="object 40" descr=""/>
          <p:cNvGrpSpPr/>
          <p:nvPr/>
        </p:nvGrpSpPr>
        <p:grpSpPr>
          <a:xfrm>
            <a:off x="392665" y="3740636"/>
            <a:ext cx="3790315" cy="1081405"/>
            <a:chOff x="392665" y="3740636"/>
            <a:chExt cx="3790315" cy="1081405"/>
          </a:xfrm>
        </p:grpSpPr>
        <p:sp>
          <p:nvSpPr>
            <p:cNvPr id="41" name="object 41" descr=""/>
            <p:cNvSpPr/>
            <p:nvPr/>
          </p:nvSpPr>
          <p:spPr>
            <a:xfrm>
              <a:off x="429082" y="3818889"/>
              <a:ext cx="1684020" cy="713740"/>
            </a:xfrm>
            <a:custGeom>
              <a:avLst/>
              <a:gdLst/>
              <a:ahLst/>
              <a:cxnLst/>
              <a:rect l="l" t="t" r="r" b="b"/>
              <a:pathLst>
                <a:path w="1684020" h="713739">
                  <a:moveTo>
                    <a:pt x="0" y="0"/>
                  </a:moveTo>
                  <a:lnTo>
                    <a:pt x="1683537" y="0"/>
                  </a:lnTo>
                  <a:lnTo>
                    <a:pt x="1683537" y="713320"/>
                  </a:lnTo>
                  <a:lnTo>
                    <a:pt x="0" y="713320"/>
                  </a:lnTo>
                  <a:lnTo>
                    <a:pt x="0" y="0"/>
                  </a:lnTo>
                  <a:close/>
                </a:path>
              </a:pathLst>
            </a:custGeom>
            <a:ln w="38100">
              <a:solidFill>
                <a:srgbClr val="000000"/>
              </a:solidFill>
            </a:ln>
          </p:spPr>
          <p:txBody>
            <a:bodyPr wrap="square" lIns="0" tIns="0" rIns="0" bIns="0" rtlCol="0"/>
            <a:lstStyle/>
            <a:p/>
          </p:txBody>
        </p:sp>
        <p:pic>
          <p:nvPicPr>
            <p:cNvPr id="42" name="object 42"/>
            <p:cNvPicPr/>
            <p:nvPr/>
          </p:nvPicPr>
          <p:blipFill>
            <a:blip r:embed="rId6" cstate="print"/>
            <a:stretch>
              <a:fillRect/>
            </a:stretch>
          </p:blipFill>
          <p:spPr>
            <a:xfrm>
              <a:off x="1470100" y="4074960"/>
              <a:ext cx="310782" cy="201188"/>
            </a:xfrm>
            <a:prstGeom prst="rect">
              <a:avLst/>
            </a:prstGeom>
          </p:spPr>
        </p:pic>
        <p:sp>
          <p:nvSpPr>
            <p:cNvPr id="43" name="object 43" descr=""/>
            <p:cNvSpPr/>
            <p:nvPr/>
          </p:nvSpPr>
          <p:spPr>
            <a:xfrm>
              <a:off x="633680" y="3968261"/>
              <a:ext cx="1270000" cy="0"/>
            </a:xfrm>
            <a:custGeom>
              <a:avLst/>
              <a:gdLst/>
              <a:ahLst/>
              <a:cxnLst/>
              <a:rect l="l" t="t" r="r" b="b"/>
              <a:pathLst>
                <a:path w="1270000" h="0">
                  <a:moveTo>
                    <a:pt x="0" y="0"/>
                  </a:moveTo>
                  <a:lnTo>
                    <a:pt x="1269961" y="0"/>
                  </a:lnTo>
                </a:path>
              </a:pathLst>
            </a:custGeom>
            <a:ln w="28575">
              <a:solidFill>
                <a:srgbClr val="000000"/>
              </a:solidFill>
            </a:ln>
          </p:spPr>
          <p:txBody>
            <a:bodyPr wrap="square" lIns="0" tIns="0" rIns="0" bIns="0" rtlCol="0"/>
            <a:lstStyle/>
            <a:p/>
          </p:txBody>
        </p:sp>
        <p:sp>
          <p:nvSpPr>
            <p:cNvPr id="44" name="object 44" descr=""/>
            <p:cNvSpPr/>
            <p:nvPr/>
          </p:nvSpPr>
          <p:spPr>
            <a:xfrm>
              <a:off x="634655" y="4383224"/>
              <a:ext cx="1270000" cy="0"/>
            </a:xfrm>
            <a:custGeom>
              <a:avLst/>
              <a:gdLst/>
              <a:ahLst/>
              <a:cxnLst/>
              <a:rect l="l" t="t" r="r" b="b"/>
              <a:pathLst>
                <a:path w="1270000" h="0">
                  <a:moveTo>
                    <a:pt x="0" y="0"/>
                  </a:moveTo>
                  <a:lnTo>
                    <a:pt x="1269961" y="0"/>
                  </a:lnTo>
                </a:path>
              </a:pathLst>
            </a:custGeom>
            <a:ln w="28575">
              <a:solidFill>
                <a:srgbClr val="000000"/>
              </a:solidFill>
            </a:ln>
          </p:spPr>
          <p:txBody>
            <a:bodyPr wrap="square" lIns="0" tIns="0" rIns="0" bIns="0" rtlCol="0"/>
            <a:lstStyle/>
            <a:p/>
          </p:txBody>
        </p:sp>
        <p:sp>
          <p:nvSpPr>
            <p:cNvPr id="45" name="object 45" descr=""/>
            <p:cNvSpPr/>
            <p:nvPr/>
          </p:nvSpPr>
          <p:spPr>
            <a:xfrm>
              <a:off x="784148" y="4056443"/>
              <a:ext cx="553085" cy="238760"/>
            </a:xfrm>
            <a:custGeom>
              <a:avLst/>
              <a:gdLst/>
              <a:ahLst/>
              <a:cxnLst/>
              <a:rect l="l" t="t" r="r" b="b"/>
              <a:pathLst>
                <a:path w="553085" h="238760">
                  <a:moveTo>
                    <a:pt x="527113" y="25400"/>
                  </a:moveTo>
                  <a:lnTo>
                    <a:pt x="514413" y="25400"/>
                  </a:lnTo>
                  <a:lnTo>
                    <a:pt x="514413" y="38100"/>
                  </a:lnTo>
                  <a:lnTo>
                    <a:pt x="514413" y="200660"/>
                  </a:lnTo>
                  <a:lnTo>
                    <a:pt x="38100" y="200660"/>
                  </a:lnTo>
                  <a:lnTo>
                    <a:pt x="38100" y="38100"/>
                  </a:lnTo>
                  <a:lnTo>
                    <a:pt x="514413" y="38100"/>
                  </a:lnTo>
                  <a:lnTo>
                    <a:pt x="514413" y="25400"/>
                  </a:lnTo>
                  <a:lnTo>
                    <a:pt x="25400" y="25400"/>
                  </a:lnTo>
                  <a:lnTo>
                    <a:pt x="25400" y="38100"/>
                  </a:lnTo>
                  <a:lnTo>
                    <a:pt x="25400" y="200660"/>
                  </a:lnTo>
                  <a:lnTo>
                    <a:pt x="25400" y="213360"/>
                  </a:lnTo>
                  <a:lnTo>
                    <a:pt x="527113" y="213360"/>
                  </a:lnTo>
                  <a:lnTo>
                    <a:pt x="527113" y="200660"/>
                  </a:lnTo>
                  <a:lnTo>
                    <a:pt x="527113" y="38100"/>
                  </a:lnTo>
                  <a:lnTo>
                    <a:pt x="527113" y="37566"/>
                  </a:lnTo>
                  <a:lnTo>
                    <a:pt x="527113" y="25400"/>
                  </a:lnTo>
                  <a:close/>
                </a:path>
                <a:path w="553085" h="238760">
                  <a:moveTo>
                    <a:pt x="552513" y="0"/>
                  </a:moveTo>
                  <a:lnTo>
                    <a:pt x="539813" y="0"/>
                  </a:lnTo>
                  <a:lnTo>
                    <a:pt x="539813" y="12700"/>
                  </a:lnTo>
                  <a:lnTo>
                    <a:pt x="539813" y="226060"/>
                  </a:lnTo>
                  <a:lnTo>
                    <a:pt x="19050" y="226060"/>
                  </a:lnTo>
                  <a:lnTo>
                    <a:pt x="12700" y="226060"/>
                  </a:lnTo>
                  <a:lnTo>
                    <a:pt x="12700" y="12700"/>
                  </a:lnTo>
                  <a:lnTo>
                    <a:pt x="539813" y="12700"/>
                  </a:lnTo>
                  <a:lnTo>
                    <a:pt x="539813" y="0"/>
                  </a:lnTo>
                  <a:lnTo>
                    <a:pt x="0" y="0"/>
                  </a:lnTo>
                  <a:lnTo>
                    <a:pt x="0" y="12700"/>
                  </a:lnTo>
                  <a:lnTo>
                    <a:pt x="0" y="226060"/>
                  </a:lnTo>
                  <a:lnTo>
                    <a:pt x="0" y="238760"/>
                  </a:lnTo>
                  <a:lnTo>
                    <a:pt x="19050" y="238760"/>
                  </a:lnTo>
                  <a:lnTo>
                    <a:pt x="552513" y="238760"/>
                  </a:lnTo>
                  <a:lnTo>
                    <a:pt x="552513" y="226060"/>
                  </a:lnTo>
                  <a:lnTo>
                    <a:pt x="552513" y="12700"/>
                  </a:lnTo>
                  <a:lnTo>
                    <a:pt x="552513" y="0"/>
                  </a:lnTo>
                  <a:close/>
                </a:path>
              </a:pathLst>
            </a:custGeom>
            <a:solidFill>
              <a:srgbClr val="000000"/>
            </a:solidFill>
          </p:spPr>
          <p:txBody>
            <a:bodyPr wrap="square" lIns="0" tIns="0" rIns="0" bIns="0" rtlCol="0"/>
            <a:lstStyle/>
            <a:p/>
          </p:txBody>
        </p:sp>
        <p:sp>
          <p:nvSpPr>
            <p:cNvPr id="46" name="object 46" descr=""/>
            <p:cNvSpPr/>
            <p:nvPr/>
          </p:nvSpPr>
          <p:spPr>
            <a:xfrm>
              <a:off x="639527" y="3965975"/>
              <a:ext cx="0" cy="419100"/>
            </a:xfrm>
            <a:custGeom>
              <a:avLst/>
              <a:gdLst/>
              <a:ahLst/>
              <a:cxnLst/>
              <a:rect l="l" t="t" r="r" b="b"/>
              <a:pathLst>
                <a:path w="0" h="419100">
                  <a:moveTo>
                    <a:pt x="0" y="0"/>
                  </a:moveTo>
                  <a:lnTo>
                    <a:pt x="0" y="418769"/>
                  </a:lnTo>
                </a:path>
              </a:pathLst>
            </a:custGeom>
            <a:ln w="28575">
              <a:solidFill>
                <a:srgbClr val="000000"/>
              </a:solidFill>
            </a:ln>
          </p:spPr>
          <p:txBody>
            <a:bodyPr wrap="square" lIns="0" tIns="0" rIns="0" bIns="0" rtlCol="0"/>
            <a:lstStyle/>
            <a:p/>
          </p:txBody>
        </p:sp>
        <p:sp>
          <p:nvSpPr>
            <p:cNvPr id="47" name="object 47" descr=""/>
            <p:cNvSpPr/>
            <p:nvPr/>
          </p:nvSpPr>
          <p:spPr>
            <a:xfrm>
              <a:off x="1904127" y="3965975"/>
              <a:ext cx="0" cy="419100"/>
            </a:xfrm>
            <a:custGeom>
              <a:avLst/>
              <a:gdLst/>
              <a:ahLst/>
              <a:cxnLst/>
              <a:rect l="l" t="t" r="r" b="b"/>
              <a:pathLst>
                <a:path w="0" h="419100">
                  <a:moveTo>
                    <a:pt x="0" y="0"/>
                  </a:moveTo>
                  <a:lnTo>
                    <a:pt x="0" y="418769"/>
                  </a:lnTo>
                </a:path>
              </a:pathLst>
            </a:custGeom>
            <a:ln w="28575">
              <a:solidFill>
                <a:srgbClr val="000000"/>
              </a:solidFill>
            </a:ln>
          </p:spPr>
          <p:txBody>
            <a:bodyPr wrap="square" lIns="0" tIns="0" rIns="0" bIns="0" rtlCol="0"/>
            <a:lstStyle/>
            <a:p/>
          </p:txBody>
        </p:sp>
        <p:sp>
          <p:nvSpPr>
            <p:cNvPr id="48" name="object 48" descr=""/>
            <p:cNvSpPr/>
            <p:nvPr/>
          </p:nvSpPr>
          <p:spPr>
            <a:xfrm>
              <a:off x="429082" y="3818889"/>
              <a:ext cx="1684020" cy="713740"/>
            </a:xfrm>
            <a:custGeom>
              <a:avLst/>
              <a:gdLst/>
              <a:ahLst/>
              <a:cxnLst/>
              <a:rect l="l" t="t" r="r" b="b"/>
              <a:pathLst>
                <a:path w="1684020" h="713739">
                  <a:moveTo>
                    <a:pt x="205066" y="567004"/>
                  </a:moveTo>
                  <a:lnTo>
                    <a:pt x="192366" y="567004"/>
                  </a:lnTo>
                  <a:lnTo>
                    <a:pt x="192366" y="713320"/>
                  </a:lnTo>
                  <a:lnTo>
                    <a:pt x="205066" y="713320"/>
                  </a:lnTo>
                  <a:lnTo>
                    <a:pt x="205066" y="567004"/>
                  </a:lnTo>
                  <a:close/>
                </a:path>
                <a:path w="1684020" h="713739">
                  <a:moveTo>
                    <a:pt x="206032" y="0"/>
                  </a:moveTo>
                  <a:lnTo>
                    <a:pt x="193332" y="0"/>
                  </a:lnTo>
                  <a:lnTo>
                    <a:pt x="193332" y="146329"/>
                  </a:lnTo>
                  <a:lnTo>
                    <a:pt x="206032" y="146329"/>
                  </a:lnTo>
                  <a:lnTo>
                    <a:pt x="206032" y="0"/>
                  </a:lnTo>
                  <a:close/>
                </a:path>
                <a:path w="1684020" h="713739">
                  <a:moveTo>
                    <a:pt x="210439" y="500189"/>
                  </a:moveTo>
                  <a:lnTo>
                    <a:pt x="0" y="500189"/>
                  </a:lnTo>
                  <a:lnTo>
                    <a:pt x="0" y="512889"/>
                  </a:lnTo>
                  <a:lnTo>
                    <a:pt x="210439" y="512889"/>
                  </a:lnTo>
                  <a:lnTo>
                    <a:pt x="210439" y="500189"/>
                  </a:lnTo>
                  <a:close/>
                </a:path>
                <a:path w="1684020" h="713739">
                  <a:moveTo>
                    <a:pt x="210439" y="474789"/>
                  </a:moveTo>
                  <a:lnTo>
                    <a:pt x="0" y="474789"/>
                  </a:lnTo>
                  <a:lnTo>
                    <a:pt x="0" y="487489"/>
                  </a:lnTo>
                  <a:lnTo>
                    <a:pt x="210439" y="487489"/>
                  </a:lnTo>
                  <a:lnTo>
                    <a:pt x="210439" y="474789"/>
                  </a:lnTo>
                  <a:close/>
                </a:path>
                <a:path w="1684020" h="713739">
                  <a:moveTo>
                    <a:pt x="210439" y="353872"/>
                  </a:moveTo>
                  <a:lnTo>
                    <a:pt x="0" y="353872"/>
                  </a:lnTo>
                  <a:lnTo>
                    <a:pt x="0" y="366572"/>
                  </a:lnTo>
                  <a:lnTo>
                    <a:pt x="210439" y="366572"/>
                  </a:lnTo>
                  <a:lnTo>
                    <a:pt x="210439" y="353872"/>
                  </a:lnTo>
                  <a:close/>
                </a:path>
                <a:path w="1684020" h="713739">
                  <a:moveTo>
                    <a:pt x="210439" y="328472"/>
                  </a:moveTo>
                  <a:lnTo>
                    <a:pt x="0" y="328472"/>
                  </a:lnTo>
                  <a:lnTo>
                    <a:pt x="0" y="341172"/>
                  </a:lnTo>
                  <a:lnTo>
                    <a:pt x="210439" y="341172"/>
                  </a:lnTo>
                  <a:lnTo>
                    <a:pt x="210439" y="328472"/>
                  </a:lnTo>
                  <a:close/>
                </a:path>
                <a:path w="1684020" h="713739">
                  <a:moveTo>
                    <a:pt x="210439" y="225844"/>
                  </a:moveTo>
                  <a:lnTo>
                    <a:pt x="0" y="225844"/>
                  </a:lnTo>
                  <a:lnTo>
                    <a:pt x="0" y="238544"/>
                  </a:lnTo>
                  <a:lnTo>
                    <a:pt x="210439" y="238544"/>
                  </a:lnTo>
                  <a:lnTo>
                    <a:pt x="210439" y="225844"/>
                  </a:lnTo>
                  <a:close/>
                </a:path>
                <a:path w="1684020" h="713739">
                  <a:moveTo>
                    <a:pt x="210439" y="200444"/>
                  </a:moveTo>
                  <a:lnTo>
                    <a:pt x="0" y="200444"/>
                  </a:lnTo>
                  <a:lnTo>
                    <a:pt x="0" y="213144"/>
                  </a:lnTo>
                  <a:lnTo>
                    <a:pt x="210439" y="213144"/>
                  </a:lnTo>
                  <a:lnTo>
                    <a:pt x="210439" y="200444"/>
                  </a:lnTo>
                  <a:close/>
                </a:path>
                <a:path w="1684020" h="713739">
                  <a:moveTo>
                    <a:pt x="230466" y="567004"/>
                  </a:moveTo>
                  <a:lnTo>
                    <a:pt x="217766" y="567004"/>
                  </a:lnTo>
                  <a:lnTo>
                    <a:pt x="217766" y="713320"/>
                  </a:lnTo>
                  <a:lnTo>
                    <a:pt x="230466" y="713320"/>
                  </a:lnTo>
                  <a:lnTo>
                    <a:pt x="230466" y="567004"/>
                  </a:lnTo>
                  <a:close/>
                </a:path>
                <a:path w="1684020" h="713739">
                  <a:moveTo>
                    <a:pt x="231432" y="0"/>
                  </a:moveTo>
                  <a:lnTo>
                    <a:pt x="218732" y="0"/>
                  </a:lnTo>
                  <a:lnTo>
                    <a:pt x="218732" y="146329"/>
                  </a:lnTo>
                  <a:lnTo>
                    <a:pt x="231432" y="146329"/>
                  </a:lnTo>
                  <a:lnTo>
                    <a:pt x="231432" y="0"/>
                  </a:lnTo>
                  <a:close/>
                </a:path>
                <a:path w="1684020" h="713739">
                  <a:moveTo>
                    <a:pt x="456425" y="567004"/>
                  </a:moveTo>
                  <a:lnTo>
                    <a:pt x="443725" y="567004"/>
                  </a:lnTo>
                  <a:lnTo>
                    <a:pt x="443725" y="713320"/>
                  </a:lnTo>
                  <a:lnTo>
                    <a:pt x="456425" y="713320"/>
                  </a:lnTo>
                  <a:lnTo>
                    <a:pt x="456425" y="567004"/>
                  </a:lnTo>
                  <a:close/>
                </a:path>
                <a:path w="1684020" h="713739">
                  <a:moveTo>
                    <a:pt x="481825" y="567004"/>
                  </a:moveTo>
                  <a:lnTo>
                    <a:pt x="469125" y="567004"/>
                  </a:lnTo>
                  <a:lnTo>
                    <a:pt x="469125" y="713320"/>
                  </a:lnTo>
                  <a:lnTo>
                    <a:pt x="481825" y="713320"/>
                  </a:lnTo>
                  <a:lnTo>
                    <a:pt x="481825" y="567004"/>
                  </a:lnTo>
                  <a:close/>
                </a:path>
                <a:path w="1684020" h="713739">
                  <a:moveTo>
                    <a:pt x="554824" y="257594"/>
                  </a:moveTo>
                  <a:lnTo>
                    <a:pt x="542124" y="257594"/>
                  </a:lnTo>
                  <a:lnTo>
                    <a:pt x="542124" y="349046"/>
                  </a:lnTo>
                  <a:lnTo>
                    <a:pt x="554824" y="349046"/>
                  </a:lnTo>
                  <a:lnTo>
                    <a:pt x="554824" y="257594"/>
                  </a:lnTo>
                  <a:close/>
                </a:path>
                <a:path w="1684020" h="713739">
                  <a:moveTo>
                    <a:pt x="580224" y="257594"/>
                  </a:moveTo>
                  <a:lnTo>
                    <a:pt x="567524" y="257594"/>
                  </a:lnTo>
                  <a:lnTo>
                    <a:pt x="567524" y="349046"/>
                  </a:lnTo>
                  <a:lnTo>
                    <a:pt x="580224" y="349046"/>
                  </a:lnTo>
                  <a:lnTo>
                    <a:pt x="580224" y="257594"/>
                  </a:lnTo>
                  <a:close/>
                </a:path>
                <a:path w="1684020" h="713739">
                  <a:moveTo>
                    <a:pt x="624967" y="0"/>
                  </a:moveTo>
                  <a:lnTo>
                    <a:pt x="612267" y="0"/>
                  </a:lnTo>
                  <a:lnTo>
                    <a:pt x="612267" y="146329"/>
                  </a:lnTo>
                  <a:lnTo>
                    <a:pt x="624967" y="146329"/>
                  </a:lnTo>
                  <a:lnTo>
                    <a:pt x="624967" y="0"/>
                  </a:lnTo>
                  <a:close/>
                </a:path>
                <a:path w="1684020" h="713739">
                  <a:moveTo>
                    <a:pt x="650367" y="0"/>
                  </a:moveTo>
                  <a:lnTo>
                    <a:pt x="637667" y="0"/>
                  </a:lnTo>
                  <a:lnTo>
                    <a:pt x="637667" y="146329"/>
                  </a:lnTo>
                  <a:lnTo>
                    <a:pt x="650367" y="146329"/>
                  </a:lnTo>
                  <a:lnTo>
                    <a:pt x="650367" y="0"/>
                  </a:lnTo>
                  <a:close/>
                </a:path>
                <a:path w="1684020" h="713739">
                  <a:moveTo>
                    <a:pt x="708761" y="567004"/>
                  </a:moveTo>
                  <a:lnTo>
                    <a:pt x="696061" y="567004"/>
                  </a:lnTo>
                  <a:lnTo>
                    <a:pt x="696061" y="713320"/>
                  </a:lnTo>
                  <a:lnTo>
                    <a:pt x="708761" y="713320"/>
                  </a:lnTo>
                  <a:lnTo>
                    <a:pt x="708761" y="567004"/>
                  </a:lnTo>
                  <a:close/>
                </a:path>
                <a:path w="1684020" h="713739">
                  <a:moveTo>
                    <a:pt x="734161" y="567004"/>
                  </a:moveTo>
                  <a:lnTo>
                    <a:pt x="721461" y="567004"/>
                  </a:lnTo>
                  <a:lnTo>
                    <a:pt x="721461" y="713320"/>
                  </a:lnTo>
                  <a:lnTo>
                    <a:pt x="734161" y="713320"/>
                  </a:lnTo>
                  <a:lnTo>
                    <a:pt x="734161" y="567004"/>
                  </a:lnTo>
                  <a:close/>
                </a:path>
                <a:path w="1684020" h="713739">
                  <a:moveTo>
                    <a:pt x="835418" y="0"/>
                  </a:moveTo>
                  <a:lnTo>
                    <a:pt x="822718" y="0"/>
                  </a:lnTo>
                  <a:lnTo>
                    <a:pt x="822718" y="146329"/>
                  </a:lnTo>
                  <a:lnTo>
                    <a:pt x="835418" y="146329"/>
                  </a:lnTo>
                  <a:lnTo>
                    <a:pt x="835418" y="0"/>
                  </a:lnTo>
                  <a:close/>
                </a:path>
                <a:path w="1684020" h="713739">
                  <a:moveTo>
                    <a:pt x="860818" y="0"/>
                  </a:moveTo>
                  <a:lnTo>
                    <a:pt x="848118" y="0"/>
                  </a:lnTo>
                  <a:lnTo>
                    <a:pt x="848118" y="146329"/>
                  </a:lnTo>
                  <a:lnTo>
                    <a:pt x="860818" y="146329"/>
                  </a:lnTo>
                  <a:lnTo>
                    <a:pt x="860818" y="0"/>
                  </a:lnTo>
                  <a:close/>
                </a:path>
                <a:path w="1684020" h="713739">
                  <a:moveTo>
                    <a:pt x="961580" y="567004"/>
                  </a:moveTo>
                  <a:lnTo>
                    <a:pt x="948880" y="567004"/>
                  </a:lnTo>
                  <a:lnTo>
                    <a:pt x="948880" y="713320"/>
                  </a:lnTo>
                  <a:lnTo>
                    <a:pt x="961580" y="713320"/>
                  </a:lnTo>
                  <a:lnTo>
                    <a:pt x="961580" y="567004"/>
                  </a:lnTo>
                  <a:close/>
                </a:path>
                <a:path w="1684020" h="713739">
                  <a:moveTo>
                    <a:pt x="986980" y="567004"/>
                  </a:moveTo>
                  <a:lnTo>
                    <a:pt x="974280" y="567004"/>
                  </a:lnTo>
                  <a:lnTo>
                    <a:pt x="974280" y="713320"/>
                  </a:lnTo>
                  <a:lnTo>
                    <a:pt x="986980" y="713320"/>
                  </a:lnTo>
                  <a:lnTo>
                    <a:pt x="986980" y="567004"/>
                  </a:lnTo>
                  <a:close/>
                </a:path>
                <a:path w="1684020" h="713739">
                  <a:moveTo>
                    <a:pt x="1045857" y="0"/>
                  </a:moveTo>
                  <a:lnTo>
                    <a:pt x="1033157" y="0"/>
                  </a:lnTo>
                  <a:lnTo>
                    <a:pt x="1033157" y="146329"/>
                  </a:lnTo>
                  <a:lnTo>
                    <a:pt x="1045857" y="146329"/>
                  </a:lnTo>
                  <a:lnTo>
                    <a:pt x="1045857" y="0"/>
                  </a:lnTo>
                  <a:close/>
                </a:path>
                <a:path w="1684020" h="713739">
                  <a:moveTo>
                    <a:pt x="1071257" y="0"/>
                  </a:moveTo>
                  <a:lnTo>
                    <a:pt x="1058557" y="0"/>
                  </a:lnTo>
                  <a:lnTo>
                    <a:pt x="1058557" y="146329"/>
                  </a:lnTo>
                  <a:lnTo>
                    <a:pt x="1071257" y="146329"/>
                  </a:lnTo>
                  <a:lnTo>
                    <a:pt x="1071257" y="0"/>
                  </a:lnTo>
                  <a:close/>
                </a:path>
                <a:path w="1684020" h="713739">
                  <a:moveTo>
                    <a:pt x="1213916" y="567004"/>
                  </a:moveTo>
                  <a:lnTo>
                    <a:pt x="1201216" y="567004"/>
                  </a:lnTo>
                  <a:lnTo>
                    <a:pt x="1201216" y="713320"/>
                  </a:lnTo>
                  <a:lnTo>
                    <a:pt x="1213916" y="713320"/>
                  </a:lnTo>
                  <a:lnTo>
                    <a:pt x="1213916" y="567004"/>
                  </a:lnTo>
                  <a:close/>
                </a:path>
                <a:path w="1684020" h="713739">
                  <a:moveTo>
                    <a:pt x="1239316" y="567004"/>
                  </a:moveTo>
                  <a:lnTo>
                    <a:pt x="1226616" y="567004"/>
                  </a:lnTo>
                  <a:lnTo>
                    <a:pt x="1226616" y="713320"/>
                  </a:lnTo>
                  <a:lnTo>
                    <a:pt x="1239316" y="713320"/>
                  </a:lnTo>
                  <a:lnTo>
                    <a:pt x="1239316" y="567004"/>
                  </a:lnTo>
                  <a:close/>
                </a:path>
                <a:path w="1684020" h="713739">
                  <a:moveTo>
                    <a:pt x="1256296" y="0"/>
                  </a:moveTo>
                  <a:lnTo>
                    <a:pt x="1243596" y="0"/>
                  </a:lnTo>
                  <a:lnTo>
                    <a:pt x="1243596" y="146329"/>
                  </a:lnTo>
                  <a:lnTo>
                    <a:pt x="1256296" y="146329"/>
                  </a:lnTo>
                  <a:lnTo>
                    <a:pt x="1256296" y="0"/>
                  </a:lnTo>
                  <a:close/>
                </a:path>
                <a:path w="1684020" h="713739">
                  <a:moveTo>
                    <a:pt x="1281696" y="0"/>
                  </a:moveTo>
                  <a:lnTo>
                    <a:pt x="1268996" y="0"/>
                  </a:lnTo>
                  <a:lnTo>
                    <a:pt x="1268996" y="146329"/>
                  </a:lnTo>
                  <a:lnTo>
                    <a:pt x="1281696" y="146329"/>
                  </a:lnTo>
                  <a:lnTo>
                    <a:pt x="1281696" y="0"/>
                  </a:lnTo>
                  <a:close/>
                </a:path>
                <a:path w="1684020" h="713739">
                  <a:moveTo>
                    <a:pt x="1466735" y="567004"/>
                  </a:moveTo>
                  <a:lnTo>
                    <a:pt x="1454035" y="567004"/>
                  </a:lnTo>
                  <a:lnTo>
                    <a:pt x="1454035" y="713320"/>
                  </a:lnTo>
                  <a:lnTo>
                    <a:pt x="1466735" y="713320"/>
                  </a:lnTo>
                  <a:lnTo>
                    <a:pt x="1466735" y="567004"/>
                  </a:lnTo>
                  <a:close/>
                </a:path>
                <a:path w="1684020" h="713739">
                  <a:moveTo>
                    <a:pt x="1466735" y="0"/>
                  </a:moveTo>
                  <a:lnTo>
                    <a:pt x="1454035" y="0"/>
                  </a:lnTo>
                  <a:lnTo>
                    <a:pt x="1454035" y="146329"/>
                  </a:lnTo>
                  <a:lnTo>
                    <a:pt x="1466735" y="146329"/>
                  </a:lnTo>
                  <a:lnTo>
                    <a:pt x="1466735" y="0"/>
                  </a:lnTo>
                  <a:close/>
                </a:path>
                <a:path w="1684020" h="713739">
                  <a:moveTo>
                    <a:pt x="1492135" y="567004"/>
                  </a:moveTo>
                  <a:lnTo>
                    <a:pt x="1479435" y="567004"/>
                  </a:lnTo>
                  <a:lnTo>
                    <a:pt x="1479435" y="713320"/>
                  </a:lnTo>
                  <a:lnTo>
                    <a:pt x="1492135" y="713320"/>
                  </a:lnTo>
                  <a:lnTo>
                    <a:pt x="1492135" y="567004"/>
                  </a:lnTo>
                  <a:close/>
                </a:path>
                <a:path w="1684020" h="713739">
                  <a:moveTo>
                    <a:pt x="1492135" y="0"/>
                  </a:moveTo>
                  <a:lnTo>
                    <a:pt x="1479435" y="0"/>
                  </a:lnTo>
                  <a:lnTo>
                    <a:pt x="1479435" y="146329"/>
                  </a:lnTo>
                  <a:lnTo>
                    <a:pt x="1492135" y="146329"/>
                  </a:lnTo>
                  <a:lnTo>
                    <a:pt x="1492135" y="0"/>
                  </a:lnTo>
                  <a:close/>
                </a:path>
                <a:path w="1684020" h="713739">
                  <a:moveTo>
                    <a:pt x="1683524" y="500189"/>
                  </a:moveTo>
                  <a:lnTo>
                    <a:pt x="1473085" y="500189"/>
                  </a:lnTo>
                  <a:lnTo>
                    <a:pt x="1473085" y="512889"/>
                  </a:lnTo>
                  <a:lnTo>
                    <a:pt x="1683524" y="512889"/>
                  </a:lnTo>
                  <a:lnTo>
                    <a:pt x="1683524" y="500189"/>
                  </a:lnTo>
                  <a:close/>
                </a:path>
                <a:path w="1684020" h="713739">
                  <a:moveTo>
                    <a:pt x="1683524" y="474789"/>
                  </a:moveTo>
                  <a:lnTo>
                    <a:pt x="1473085" y="474789"/>
                  </a:lnTo>
                  <a:lnTo>
                    <a:pt x="1473085" y="487489"/>
                  </a:lnTo>
                  <a:lnTo>
                    <a:pt x="1683524" y="487489"/>
                  </a:lnTo>
                  <a:lnTo>
                    <a:pt x="1683524" y="474789"/>
                  </a:lnTo>
                  <a:close/>
                </a:path>
                <a:path w="1684020" h="713739">
                  <a:moveTo>
                    <a:pt x="1683524" y="353872"/>
                  </a:moveTo>
                  <a:lnTo>
                    <a:pt x="1473085" y="353872"/>
                  </a:lnTo>
                  <a:lnTo>
                    <a:pt x="1473085" y="366572"/>
                  </a:lnTo>
                  <a:lnTo>
                    <a:pt x="1683524" y="366572"/>
                  </a:lnTo>
                  <a:lnTo>
                    <a:pt x="1683524" y="353872"/>
                  </a:lnTo>
                  <a:close/>
                </a:path>
                <a:path w="1684020" h="713739">
                  <a:moveTo>
                    <a:pt x="1683524" y="328472"/>
                  </a:moveTo>
                  <a:lnTo>
                    <a:pt x="1473085" y="328472"/>
                  </a:lnTo>
                  <a:lnTo>
                    <a:pt x="1473085" y="341172"/>
                  </a:lnTo>
                  <a:lnTo>
                    <a:pt x="1683524" y="341172"/>
                  </a:lnTo>
                  <a:lnTo>
                    <a:pt x="1683524" y="328472"/>
                  </a:lnTo>
                  <a:close/>
                </a:path>
                <a:path w="1684020" h="713739">
                  <a:moveTo>
                    <a:pt x="1683524" y="225844"/>
                  </a:moveTo>
                  <a:lnTo>
                    <a:pt x="1473085" y="225844"/>
                  </a:lnTo>
                  <a:lnTo>
                    <a:pt x="1473085" y="238544"/>
                  </a:lnTo>
                  <a:lnTo>
                    <a:pt x="1683524" y="238544"/>
                  </a:lnTo>
                  <a:lnTo>
                    <a:pt x="1683524" y="225844"/>
                  </a:lnTo>
                  <a:close/>
                </a:path>
                <a:path w="1684020" h="713739">
                  <a:moveTo>
                    <a:pt x="1683524" y="200444"/>
                  </a:moveTo>
                  <a:lnTo>
                    <a:pt x="1473085" y="200444"/>
                  </a:lnTo>
                  <a:lnTo>
                    <a:pt x="1473085" y="213144"/>
                  </a:lnTo>
                  <a:lnTo>
                    <a:pt x="1683524" y="213144"/>
                  </a:lnTo>
                  <a:lnTo>
                    <a:pt x="1683524" y="200444"/>
                  </a:lnTo>
                  <a:close/>
                </a:path>
              </a:pathLst>
            </a:custGeom>
            <a:solidFill>
              <a:srgbClr val="000000"/>
            </a:solidFill>
          </p:spPr>
          <p:txBody>
            <a:bodyPr wrap="square" lIns="0" tIns="0" rIns="0" bIns="0" rtlCol="0"/>
            <a:lstStyle/>
            <a:p/>
          </p:txBody>
        </p:sp>
        <p:sp>
          <p:nvSpPr>
            <p:cNvPr id="49" name="object 49" descr=""/>
            <p:cNvSpPr/>
            <p:nvPr/>
          </p:nvSpPr>
          <p:spPr>
            <a:xfrm>
              <a:off x="628319" y="3958348"/>
              <a:ext cx="1290320" cy="433705"/>
            </a:xfrm>
            <a:custGeom>
              <a:avLst/>
              <a:gdLst/>
              <a:ahLst/>
              <a:cxnLst/>
              <a:rect l="l" t="t" r="r" b="b"/>
              <a:pathLst>
                <a:path w="1290320" h="433704">
                  <a:moveTo>
                    <a:pt x="23380" y="372668"/>
                  </a:moveTo>
                  <a:lnTo>
                    <a:pt x="0" y="372668"/>
                  </a:lnTo>
                  <a:lnTo>
                    <a:pt x="0" y="409244"/>
                  </a:lnTo>
                  <a:lnTo>
                    <a:pt x="23380" y="409244"/>
                  </a:lnTo>
                  <a:lnTo>
                    <a:pt x="23380" y="372668"/>
                  </a:lnTo>
                  <a:close/>
                </a:path>
                <a:path w="1290320" h="433704">
                  <a:moveTo>
                    <a:pt x="23380" y="281216"/>
                  </a:moveTo>
                  <a:lnTo>
                    <a:pt x="0" y="281216"/>
                  </a:lnTo>
                  <a:lnTo>
                    <a:pt x="0" y="317792"/>
                  </a:lnTo>
                  <a:lnTo>
                    <a:pt x="23380" y="317792"/>
                  </a:lnTo>
                  <a:lnTo>
                    <a:pt x="23380" y="281216"/>
                  </a:lnTo>
                  <a:close/>
                </a:path>
                <a:path w="1290320" h="433704">
                  <a:moveTo>
                    <a:pt x="23380" y="134899"/>
                  </a:moveTo>
                  <a:lnTo>
                    <a:pt x="0" y="134899"/>
                  </a:lnTo>
                  <a:lnTo>
                    <a:pt x="0" y="171475"/>
                  </a:lnTo>
                  <a:lnTo>
                    <a:pt x="23380" y="171475"/>
                  </a:lnTo>
                  <a:lnTo>
                    <a:pt x="23380" y="134899"/>
                  </a:lnTo>
                  <a:close/>
                </a:path>
                <a:path w="1290320" h="433704">
                  <a:moveTo>
                    <a:pt x="23380" y="25158"/>
                  </a:moveTo>
                  <a:lnTo>
                    <a:pt x="0" y="25158"/>
                  </a:lnTo>
                  <a:lnTo>
                    <a:pt x="0" y="61734"/>
                  </a:lnTo>
                  <a:lnTo>
                    <a:pt x="23380" y="61734"/>
                  </a:lnTo>
                  <a:lnTo>
                    <a:pt x="23380" y="25158"/>
                  </a:lnTo>
                  <a:close/>
                </a:path>
                <a:path w="1290320" h="433704">
                  <a:moveTo>
                    <a:pt x="128117" y="0"/>
                  </a:moveTo>
                  <a:lnTo>
                    <a:pt x="81356" y="0"/>
                  </a:lnTo>
                  <a:lnTo>
                    <a:pt x="81356" y="18288"/>
                  </a:lnTo>
                  <a:lnTo>
                    <a:pt x="128117" y="18288"/>
                  </a:lnTo>
                  <a:lnTo>
                    <a:pt x="128117" y="0"/>
                  </a:lnTo>
                  <a:close/>
                </a:path>
                <a:path w="1290320" h="433704">
                  <a:moveTo>
                    <a:pt x="221640" y="414972"/>
                  </a:moveTo>
                  <a:lnTo>
                    <a:pt x="174879" y="414972"/>
                  </a:lnTo>
                  <a:lnTo>
                    <a:pt x="174879" y="433260"/>
                  </a:lnTo>
                  <a:lnTo>
                    <a:pt x="221640" y="433260"/>
                  </a:lnTo>
                  <a:lnTo>
                    <a:pt x="221640" y="414972"/>
                  </a:lnTo>
                  <a:close/>
                </a:path>
                <a:path w="1290320" h="433704">
                  <a:moveTo>
                    <a:pt x="315175" y="0"/>
                  </a:moveTo>
                  <a:lnTo>
                    <a:pt x="268414" y="0"/>
                  </a:lnTo>
                  <a:lnTo>
                    <a:pt x="268414" y="18288"/>
                  </a:lnTo>
                  <a:lnTo>
                    <a:pt x="315175" y="18288"/>
                  </a:lnTo>
                  <a:lnTo>
                    <a:pt x="315175" y="0"/>
                  </a:lnTo>
                  <a:close/>
                </a:path>
                <a:path w="1290320" h="433704">
                  <a:moveTo>
                    <a:pt x="478853" y="414972"/>
                  </a:moveTo>
                  <a:lnTo>
                    <a:pt x="432092" y="414972"/>
                  </a:lnTo>
                  <a:lnTo>
                    <a:pt x="432092" y="433260"/>
                  </a:lnTo>
                  <a:lnTo>
                    <a:pt x="478853" y="433260"/>
                  </a:lnTo>
                  <a:lnTo>
                    <a:pt x="478853" y="414972"/>
                  </a:lnTo>
                  <a:close/>
                </a:path>
                <a:path w="1290320" h="433704">
                  <a:moveTo>
                    <a:pt x="502234" y="0"/>
                  </a:moveTo>
                  <a:lnTo>
                    <a:pt x="455472" y="0"/>
                  </a:lnTo>
                  <a:lnTo>
                    <a:pt x="455472" y="18288"/>
                  </a:lnTo>
                  <a:lnTo>
                    <a:pt x="502234" y="18288"/>
                  </a:lnTo>
                  <a:lnTo>
                    <a:pt x="502234" y="0"/>
                  </a:lnTo>
                  <a:close/>
                </a:path>
                <a:path w="1290320" h="433704">
                  <a:moveTo>
                    <a:pt x="736053" y="414972"/>
                  </a:moveTo>
                  <a:lnTo>
                    <a:pt x="689292" y="414972"/>
                  </a:lnTo>
                  <a:lnTo>
                    <a:pt x="689292" y="433260"/>
                  </a:lnTo>
                  <a:lnTo>
                    <a:pt x="736053" y="433260"/>
                  </a:lnTo>
                  <a:lnTo>
                    <a:pt x="736053" y="414972"/>
                  </a:lnTo>
                  <a:close/>
                </a:path>
                <a:path w="1290320" h="433704">
                  <a:moveTo>
                    <a:pt x="736053" y="0"/>
                  </a:moveTo>
                  <a:lnTo>
                    <a:pt x="689292" y="0"/>
                  </a:lnTo>
                  <a:lnTo>
                    <a:pt x="689292" y="18288"/>
                  </a:lnTo>
                  <a:lnTo>
                    <a:pt x="736053" y="18288"/>
                  </a:lnTo>
                  <a:lnTo>
                    <a:pt x="736053" y="0"/>
                  </a:lnTo>
                  <a:close/>
                </a:path>
                <a:path w="1290320" h="433704">
                  <a:moveTo>
                    <a:pt x="946505" y="0"/>
                  </a:moveTo>
                  <a:lnTo>
                    <a:pt x="899744" y="0"/>
                  </a:lnTo>
                  <a:lnTo>
                    <a:pt x="899744" y="18288"/>
                  </a:lnTo>
                  <a:lnTo>
                    <a:pt x="946505" y="18288"/>
                  </a:lnTo>
                  <a:lnTo>
                    <a:pt x="946505" y="0"/>
                  </a:lnTo>
                  <a:close/>
                </a:path>
                <a:path w="1290320" h="433704">
                  <a:moveTo>
                    <a:pt x="969886" y="414972"/>
                  </a:moveTo>
                  <a:lnTo>
                    <a:pt x="923124" y="414972"/>
                  </a:lnTo>
                  <a:lnTo>
                    <a:pt x="923124" y="433260"/>
                  </a:lnTo>
                  <a:lnTo>
                    <a:pt x="969886" y="433260"/>
                  </a:lnTo>
                  <a:lnTo>
                    <a:pt x="969886" y="414972"/>
                  </a:lnTo>
                  <a:close/>
                </a:path>
                <a:path w="1290320" h="433704">
                  <a:moveTo>
                    <a:pt x="1133563" y="0"/>
                  </a:moveTo>
                  <a:lnTo>
                    <a:pt x="1086802" y="0"/>
                  </a:lnTo>
                  <a:lnTo>
                    <a:pt x="1086802" y="18288"/>
                  </a:lnTo>
                  <a:lnTo>
                    <a:pt x="1133563" y="18288"/>
                  </a:lnTo>
                  <a:lnTo>
                    <a:pt x="1133563" y="0"/>
                  </a:lnTo>
                  <a:close/>
                </a:path>
                <a:path w="1290320" h="433704">
                  <a:moveTo>
                    <a:pt x="1227086" y="414972"/>
                  </a:moveTo>
                  <a:lnTo>
                    <a:pt x="1180325" y="414972"/>
                  </a:lnTo>
                  <a:lnTo>
                    <a:pt x="1180325" y="433260"/>
                  </a:lnTo>
                  <a:lnTo>
                    <a:pt x="1227086" y="433260"/>
                  </a:lnTo>
                  <a:lnTo>
                    <a:pt x="1227086" y="414972"/>
                  </a:lnTo>
                  <a:close/>
                </a:path>
                <a:path w="1290320" h="433704">
                  <a:moveTo>
                    <a:pt x="1289939" y="281216"/>
                  </a:moveTo>
                  <a:lnTo>
                    <a:pt x="1266558" y="281216"/>
                  </a:lnTo>
                  <a:lnTo>
                    <a:pt x="1266558" y="317792"/>
                  </a:lnTo>
                  <a:lnTo>
                    <a:pt x="1289939" y="317792"/>
                  </a:lnTo>
                  <a:lnTo>
                    <a:pt x="1289939" y="281216"/>
                  </a:lnTo>
                  <a:close/>
                </a:path>
                <a:path w="1290320" h="433704">
                  <a:moveTo>
                    <a:pt x="1289939" y="134899"/>
                  </a:moveTo>
                  <a:lnTo>
                    <a:pt x="1266558" y="134899"/>
                  </a:lnTo>
                  <a:lnTo>
                    <a:pt x="1266558" y="171475"/>
                  </a:lnTo>
                  <a:lnTo>
                    <a:pt x="1289939" y="171475"/>
                  </a:lnTo>
                  <a:lnTo>
                    <a:pt x="1289939" y="134899"/>
                  </a:lnTo>
                  <a:close/>
                </a:path>
                <a:path w="1290320" h="433704">
                  <a:moveTo>
                    <a:pt x="1289939" y="25158"/>
                  </a:moveTo>
                  <a:lnTo>
                    <a:pt x="1266558" y="25158"/>
                  </a:lnTo>
                  <a:lnTo>
                    <a:pt x="1266558" y="61734"/>
                  </a:lnTo>
                  <a:lnTo>
                    <a:pt x="1289939" y="61734"/>
                  </a:lnTo>
                  <a:lnTo>
                    <a:pt x="1289939" y="25158"/>
                  </a:lnTo>
                  <a:close/>
                </a:path>
              </a:pathLst>
            </a:custGeom>
            <a:solidFill>
              <a:srgbClr val="FFFFFF"/>
            </a:solidFill>
          </p:spPr>
          <p:txBody>
            <a:bodyPr wrap="square" lIns="0" tIns="0" rIns="0" bIns="0" rtlCol="0"/>
            <a:lstStyle/>
            <a:p/>
          </p:txBody>
        </p:sp>
        <p:sp>
          <p:nvSpPr>
            <p:cNvPr id="50" name="object 50" descr=""/>
            <p:cNvSpPr/>
            <p:nvPr/>
          </p:nvSpPr>
          <p:spPr>
            <a:xfrm>
              <a:off x="803198" y="3818889"/>
              <a:ext cx="514984" cy="452755"/>
            </a:xfrm>
            <a:custGeom>
              <a:avLst/>
              <a:gdLst/>
              <a:ahLst/>
              <a:cxnLst/>
              <a:rect l="l" t="t" r="r" b="b"/>
              <a:pathLst>
                <a:path w="514984" h="452754">
                  <a:moveTo>
                    <a:pt x="24828" y="0"/>
                  </a:moveTo>
                  <a:lnTo>
                    <a:pt x="12128" y="0"/>
                  </a:lnTo>
                  <a:lnTo>
                    <a:pt x="12128" y="146329"/>
                  </a:lnTo>
                  <a:lnTo>
                    <a:pt x="24828" y="146329"/>
                  </a:lnTo>
                  <a:lnTo>
                    <a:pt x="24828" y="0"/>
                  </a:lnTo>
                  <a:close/>
                </a:path>
                <a:path w="514984" h="452754">
                  <a:moveTo>
                    <a:pt x="50228" y="0"/>
                  </a:moveTo>
                  <a:lnTo>
                    <a:pt x="37528" y="0"/>
                  </a:lnTo>
                  <a:lnTo>
                    <a:pt x="37528" y="146329"/>
                  </a:lnTo>
                  <a:lnTo>
                    <a:pt x="50228" y="146329"/>
                  </a:lnTo>
                  <a:lnTo>
                    <a:pt x="50228" y="0"/>
                  </a:lnTo>
                  <a:close/>
                </a:path>
                <a:path w="514984" h="452754">
                  <a:moveTo>
                    <a:pt x="514413" y="361492"/>
                  </a:moveTo>
                  <a:lnTo>
                    <a:pt x="276250" y="361492"/>
                  </a:lnTo>
                  <a:lnTo>
                    <a:pt x="276250" y="361238"/>
                  </a:lnTo>
                  <a:lnTo>
                    <a:pt x="263550" y="361238"/>
                  </a:lnTo>
                  <a:lnTo>
                    <a:pt x="263550" y="361492"/>
                  </a:lnTo>
                  <a:lnTo>
                    <a:pt x="250850" y="361492"/>
                  </a:lnTo>
                  <a:lnTo>
                    <a:pt x="250850" y="361238"/>
                  </a:lnTo>
                  <a:lnTo>
                    <a:pt x="238150" y="361238"/>
                  </a:lnTo>
                  <a:lnTo>
                    <a:pt x="238150" y="361492"/>
                  </a:lnTo>
                  <a:lnTo>
                    <a:pt x="0" y="361492"/>
                  </a:lnTo>
                  <a:lnTo>
                    <a:pt x="0" y="374192"/>
                  </a:lnTo>
                  <a:lnTo>
                    <a:pt x="238150" y="374192"/>
                  </a:lnTo>
                  <a:lnTo>
                    <a:pt x="238150" y="452691"/>
                  </a:lnTo>
                  <a:lnTo>
                    <a:pt x="250850" y="452691"/>
                  </a:lnTo>
                  <a:lnTo>
                    <a:pt x="250850" y="374192"/>
                  </a:lnTo>
                  <a:lnTo>
                    <a:pt x="263550" y="374192"/>
                  </a:lnTo>
                  <a:lnTo>
                    <a:pt x="263550" y="452691"/>
                  </a:lnTo>
                  <a:lnTo>
                    <a:pt x="276250" y="452691"/>
                  </a:lnTo>
                  <a:lnTo>
                    <a:pt x="276250" y="374192"/>
                  </a:lnTo>
                  <a:lnTo>
                    <a:pt x="514413" y="374192"/>
                  </a:lnTo>
                  <a:lnTo>
                    <a:pt x="514413" y="361492"/>
                  </a:lnTo>
                  <a:close/>
                </a:path>
                <a:path w="514984" h="452754">
                  <a:moveTo>
                    <a:pt x="514413" y="336092"/>
                  </a:moveTo>
                  <a:lnTo>
                    <a:pt x="463321" y="336092"/>
                  </a:lnTo>
                  <a:lnTo>
                    <a:pt x="463321" y="257594"/>
                  </a:lnTo>
                  <a:lnTo>
                    <a:pt x="450621" y="257594"/>
                  </a:lnTo>
                  <a:lnTo>
                    <a:pt x="450621" y="336092"/>
                  </a:lnTo>
                  <a:lnTo>
                    <a:pt x="437921" y="336092"/>
                  </a:lnTo>
                  <a:lnTo>
                    <a:pt x="437921" y="257594"/>
                  </a:lnTo>
                  <a:lnTo>
                    <a:pt x="425221" y="257594"/>
                  </a:lnTo>
                  <a:lnTo>
                    <a:pt x="425221" y="336092"/>
                  </a:lnTo>
                  <a:lnTo>
                    <a:pt x="0" y="336092"/>
                  </a:lnTo>
                  <a:lnTo>
                    <a:pt x="0" y="348792"/>
                  </a:lnTo>
                  <a:lnTo>
                    <a:pt x="425221" y="348792"/>
                  </a:lnTo>
                  <a:lnTo>
                    <a:pt x="425221" y="349046"/>
                  </a:lnTo>
                  <a:lnTo>
                    <a:pt x="437921" y="349046"/>
                  </a:lnTo>
                  <a:lnTo>
                    <a:pt x="437921" y="348792"/>
                  </a:lnTo>
                  <a:lnTo>
                    <a:pt x="450621" y="348792"/>
                  </a:lnTo>
                  <a:lnTo>
                    <a:pt x="450621" y="349046"/>
                  </a:lnTo>
                  <a:lnTo>
                    <a:pt x="463321" y="349046"/>
                  </a:lnTo>
                  <a:lnTo>
                    <a:pt x="463321" y="348792"/>
                  </a:lnTo>
                  <a:lnTo>
                    <a:pt x="514413" y="348792"/>
                  </a:lnTo>
                  <a:lnTo>
                    <a:pt x="514413" y="336092"/>
                  </a:lnTo>
                  <a:close/>
                </a:path>
              </a:pathLst>
            </a:custGeom>
            <a:solidFill>
              <a:srgbClr val="000000"/>
            </a:solidFill>
          </p:spPr>
          <p:txBody>
            <a:bodyPr wrap="square" lIns="0" tIns="0" rIns="0" bIns="0" rtlCol="0"/>
            <a:lstStyle/>
            <a:p/>
          </p:txBody>
        </p:sp>
        <p:sp>
          <p:nvSpPr>
            <p:cNvPr id="51" name="object 51" descr=""/>
            <p:cNvSpPr/>
            <p:nvPr/>
          </p:nvSpPr>
          <p:spPr>
            <a:xfrm>
              <a:off x="1763494" y="3982972"/>
              <a:ext cx="57785" cy="45085"/>
            </a:xfrm>
            <a:custGeom>
              <a:avLst/>
              <a:gdLst/>
              <a:ahLst/>
              <a:cxnLst/>
              <a:rect l="l" t="t" r="r" b="b"/>
              <a:pathLst>
                <a:path w="57785" h="45085">
                  <a:moveTo>
                    <a:pt x="28740" y="0"/>
                  </a:moveTo>
                  <a:lnTo>
                    <a:pt x="17552" y="1765"/>
                  </a:lnTo>
                  <a:lnTo>
                    <a:pt x="8416" y="6581"/>
                  </a:lnTo>
                  <a:lnTo>
                    <a:pt x="2258" y="13726"/>
                  </a:lnTo>
                  <a:lnTo>
                    <a:pt x="0" y="22478"/>
                  </a:lnTo>
                  <a:lnTo>
                    <a:pt x="2258" y="31231"/>
                  </a:lnTo>
                  <a:lnTo>
                    <a:pt x="8416" y="38376"/>
                  </a:lnTo>
                  <a:lnTo>
                    <a:pt x="17552" y="43192"/>
                  </a:lnTo>
                  <a:lnTo>
                    <a:pt x="28740" y="44957"/>
                  </a:lnTo>
                  <a:lnTo>
                    <a:pt x="39928" y="43192"/>
                  </a:lnTo>
                  <a:lnTo>
                    <a:pt x="49063" y="38376"/>
                  </a:lnTo>
                  <a:lnTo>
                    <a:pt x="55221" y="31231"/>
                  </a:lnTo>
                  <a:lnTo>
                    <a:pt x="57480" y="22478"/>
                  </a:lnTo>
                  <a:lnTo>
                    <a:pt x="55221" y="13726"/>
                  </a:lnTo>
                  <a:lnTo>
                    <a:pt x="49063" y="6581"/>
                  </a:lnTo>
                  <a:lnTo>
                    <a:pt x="39928" y="1765"/>
                  </a:lnTo>
                  <a:lnTo>
                    <a:pt x="28740" y="0"/>
                  </a:lnTo>
                  <a:close/>
                </a:path>
              </a:pathLst>
            </a:custGeom>
            <a:solidFill>
              <a:srgbClr val="00FFFF"/>
            </a:solidFill>
          </p:spPr>
          <p:txBody>
            <a:bodyPr wrap="square" lIns="0" tIns="0" rIns="0" bIns="0" rtlCol="0"/>
            <a:lstStyle/>
            <a:p/>
          </p:txBody>
        </p:sp>
        <p:sp>
          <p:nvSpPr>
            <p:cNvPr id="52" name="object 52" descr=""/>
            <p:cNvSpPr/>
            <p:nvPr/>
          </p:nvSpPr>
          <p:spPr>
            <a:xfrm>
              <a:off x="1763494" y="3982972"/>
              <a:ext cx="57785" cy="45085"/>
            </a:xfrm>
            <a:custGeom>
              <a:avLst/>
              <a:gdLst/>
              <a:ahLst/>
              <a:cxnLst/>
              <a:rect l="l" t="t" r="r" b="b"/>
              <a:pathLst>
                <a:path w="57785" h="45085">
                  <a:moveTo>
                    <a:pt x="0" y="22478"/>
                  </a:moveTo>
                  <a:lnTo>
                    <a:pt x="2258" y="13726"/>
                  </a:lnTo>
                  <a:lnTo>
                    <a:pt x="8416" y="6581"/>
                  </a:lnTo>
                  <a:lnTo>
                    <a:pt x="17552" y="1765"/>
                  </a:lnTo>
                  <a:lnTo>
                    <a:pt x="28740" y="0"/>
                  </a:lnTo>
                  <a:lnTo>
                    <a:pt x="39928" y="1765"/>
                  </a:lnTo>
                  <a:lnTo>
                    <a:pt x="49063" y="6581"/>
                  </a:lnTo>
                  <a:lnTo>
                    <a:pt x="55221" y="13726"/>
                  </a:lnTo>
                  <a:lnTo>
                    <a:pt x="57480" y="22478"/>
                  </a:lnTo>
                  <a:lnTo>
                    <a:pt x="55221" y="31231"/>
                  </a:lnTo>
                  <a:lnTo>
                    <a:pt x="49063" y="38376"/>
                  </a:lnTo>
                  <a:lnTo>
                    <a:pt x="39928" y="43192"/>
                  </a:lnTo>
                  <a:lnTo>
                    <a:pt x="28740" y="44957"/>
                  </a:lnTo>
                  <a:lnTo>
                    <a:pt x="17552" y="43192"/>
                  </a:lnTo>
                  <a:lnTo>
                    <a:pt x="8416" y="38376"/>
                  </a:lnTo>
                  <a:lnTo>
                    <a:pt x="2258" y="31231"/>
                  </a:lnTo>
                  <a:lnTo>
                    <a:pt x="0" y="22478"/>
                  </a:lnTo>
                  <a:close/>
                </a:path>
              </a:pathLst>
            </a:custGeom>
            <a:ln w="12700">
              <a:solidFill>
                <a:srgbClr val="000000"/>
              </a:solidFill>
            </a:ln>
          </p:spPr>
          <p:txBody>
            <a:bodyPr wrap="square" lIns="0" tIns="0" rIns="0" bIns="0" rtlCol="0"/>
            <a:lstStyle/>
            <a:p/>
          </p:txBody>
        </p:sp>
        <p:sp>
          <p:nvSpPr>
            <p:cNvPr id="53" name="object 53" descr=""/>
            <p:cNvSpPr/>
            <p:nvPr/>
          </p:nvSpPr>
          <p:spPr>
            <a:xfrm>
              <a:off x="1768524" y="3991961"/>
              <a:ext cx="46990" cy="27940"/>
            </a:xfrm>
            <a:custGeom>
              <a:avLst/>
              <a:gdLst/>
              <a:ahLst/>
              <a:cxnLst/>
              <a:rect l="l" t="t" r="r" b="b"/>
              <a:pathLst>
                <a:path w="46989" h="27939">
                  <a:moveTo>
                    <a:pt x="0" y="0"/>
                  </a:moveTo>
                  <a:lnTo>
                    <a:pt x="46697" y="27914"/>
                  </a:lnTo>
                </a:path>
              </a:pathLst>
            </a:custGeom>
            <a:ln w="12700">
              <a:solidFill>
                <a:srgbClr val="000000"/>
              </a:solidFill>
            </a:ln>
          </p:spPr>
          <p:txBody>
            <a:bodyPr wrap="square" lIns="0" tIns="0" rIns="0" bIns="0" rtlCol="0"/>
            <a:lstStyle/>
            <a:p/>
          </p:txBody>
        </p:sp>
        <p:sp>
          <p:nvSpPr>
            <p:cNvPr id="54" name="object 54" descr=""/>
            <p:cNvSpPr/>
            <p:nvPr/>
          </p:nvSpPr>
          <p:spPr>
            <a:xfrm>
              <a:off x="1769242" y="3991963"/>
              <a:ext cx="45085" cy="27940"/>
            </a:xfrm>
            <a:custGeom>
              <a:avLst/>
              <a:gdLst/>
              <a:ahLst/>
              <a:cxnLst/>
              <a:rect l="l" t="t" r="r" b="b"/>
              <a:pathLst>
                <a:path w="45085" h="27939">
                  <a:moveTo>
                    <a:pt x="0" y="27914"/>
                  </a:moveTo>
                  <a:lnTo>
                    <a:pt x="44792" y="0"/>
                  </a:lnTo>
                </a:path>
              </a:pathLst>
            </a:custGeom>
            <a:ln w="12700">
              <a:solidFill>
                <a:srgbClr val="000000"/>
              </a:solidFill>
            </a:ln>
          </p:spPr>
          <p:txBody>
            <a:bodyPr wrap="square" lIns="0" tIns="0" rIns="0" bIns="0" rtlCol="0"/>
            <a:lstStyle/>
            <a:p/>
          </p:txBody>
        </p:sp>
        <p:sp>
          <p:nvSpPr>
            <p:cNvPr id="55" name="object 55" descr=""/>
            <p:cNvSpPr/>
            <p:nvPr/>
          </p:nvSpPr>
          <p:spPr>
            <a:xfrm>
              <a:off x="1399362" y="4014787"/>
              <a:ext cx="27940" cy="52069"/>
            </a:xfrm>
            <a:custGeom>
              <a:avLst/>
              <a:gdLst/>
              <a:ahLst/>
              <a:cxnLst/>
              <a:rect l="l" t="t" r="r" b="b"/>
              <a:pathLst>
                <a:path w="27940" h="52070">
                  <a:moveTo>
                    <a:pt x="27762" y="0"/>
                  </a:moveTo>
                  <a:lnTo>
                    <a:pt x="0" y="0"/>
                  </a:lnTo>
                  <a:lnTo>
                    <a:pt x="0" y="51828"/>
                  </a:lnTo>
                  <a:lnTo>
                    <a:pt x="27762" y="51828"/>
                  </a:lnTo>
                  <a:lnTo>
                    <a:pt x="27762" y="0"/>
                  </a:lnTo>
                  <a:close/>
                </a:path>
              </a:pathLst>
            </a:custGeom>
            <a:solidFill>
              <a:srgbClr val="00FFFF"/>
            </a:solidFill>
          </p:spPr>
          <p:txBody>
            <a:bodyPr wrap="square" lIns="0" tIns="0" rIns="0" bIns="0" rtlCol="0"/>
            <a:lstStyle/>
            <a:p/>
          </p:txBody>
        </p:sp>
        <p:sp>
          <p:nvSpPr>
            <p:cNvPr id="56" name="object 56" descr=""/>
            <p:cNvSpPr/>
            <p:nvPr/>
          </p:nvSpPr>
          <p:spPr>
            <a:xfrm>
              <a:off x="1399362" y="4014787"/>
              <a:ext cx="27940" cy="52069"/>
            </a:xfrm>
            <a:custGeom>
              <a:avLst/>
              <a:gdLst/>
              <a:ahLst/>
              <a:cxnLst/>
              <a:rect l="l" t="t" r="r" b="b"/>
              <a:pathLst>
                <a:path w="27940" h="52070">
                  <a:moveTo>
                    <a:pt x="0" y="0"/>
                  </a:moveTo>
                  <a:lnTo>
                    <a:pt x="27762" y="0"/>
                  </a:lnTo>
                  <a:lnTo>
                    <a:pt x="27762" y="51828"/>
                  </a:lnTo>
                  <a:lnTo>
                    <a:pt x="0" y="51828"/>
                  </a:lnTo>
                  <a:lnTo>
                    <a:pt x="0" y="0"/>
                  </a:lnTo>
                  <a:close/>
                </a:path>
              </a:pathLst>
            </a:custGeom>
            <a:ln w="9525">
              <a:solidFill>
                <a:srgbClr val="000000"/>
              </a:solidFill>
            </a:ln>
          </p:spPr>
          <p:txBody>
            <a:bodyPr wrap="square" lIns="0" tIns="0" rIns="0" bIns="0" rtlCol="0"/>
            <a:lstStyle/>
            <a:p/>
          </p:txBody>
        </p:sp>
        <p:sp>
          <p:nvSpPr>
            <p:cNvPr id="57" name="object 57" descr=""/>
            <p:cNvSpPr/>
            <p:nvPr/>
          </p:nvSpPr>
          <p:spPr>
            <a:xfrm>
              <a:off x="1284154" y="4101856"/>
              <a:ext cx="46990" cy="0"/>
            </a:xfrm>
            <a:custGeom>
              <a:avLst/>
              <a:gdLst/>
              <a:ahLst/>
              <a:cxnLst/>
              <a:rect l="l" t="t" r="r" b="b"/>
              <a:pathLst>
                <a:path w="46990" h="0">
                  <a:moveTo>
                    <a:pt x="0" y="0"/>
                  </a:moveTo>
                  <a:lnTo>
                    <a:pt x="39217" y="0"/>
                  </a:lnTo>
                  <a:lnTo>
                    <a:pt x="46761" y="0"/>
                  </a:lnTo>
                </a:path>
              </a:pathLst>
            </a:custGeom>
            <a:ln w="19050">
              <a:solidFill>
                <a:srgbClr val="0000FF"/>
              </a:solidFill>
            </a:ln>
          </p:spPr>
          <p:txBody>
            <a:bodyPr wrap="square" lIns="0" tIns="0" rIns="0" bIns="0" rtlCol="0"/>
            <a:lstStyle/>
            <a:p/>
          </p:txBody>
        </p:sp>
        <p:sp>
          <p:nvSpPr>
            <p:cNvPr id="58" name="object 58" descr=""/>
            <p:cNvSpPr/>
            <p:nvPr/>
          </p:nvSpPr>
          <p:spPr>
            <a:xfrm>
              <a:off x="1412758" y="4008884"/>
              <a:ext cx="351155" cy="27940"/>
            </a:xfrm>
            <a:custGeom>
              <a:avLst/>
              <a:gdLst/>
              <a:ahLst/>
              <a:cxnLst/>
              <a:rect l="l" t="t" r="r" b="b"/>
              <a:pathLst>
                <a:path w="351155" h="27939">
                  <a:moveTo>
                    <a:pt x="0" y="27431"/>
                  </a:moveTo>
                  <a:lnTo>
                    <a:pt x="101320" y="27431"/>
                  </a:lnTo>
                  <a:lnTo>
                    <a:pt x="99377" y="0"/>
                  </a:lnTo>
                  <a:lnTo>
                    <a:pt x="350735" y="0"/>
                  </a:lnTo>
                </a:path>
              </a:pathLst>
            </a:custGeom>
            <a:ln w="19049">
              <a:solidFill>
                <a:srgbClr val="0000FF"/>
              </a:solidFill>
            </a:ln>
          </p:spPr>
          <p:txBody>
            <a:bodyPr wrap="square" lIns="0" tIns="0" rIns="0" bIns="0" rtlCol="0"/>
            <a:lstStyle/>
            <a:p/>
          </p:txBody>
        </p:sp>
        <p:sp>
          <p:nvSpPr>
            <p:cNvPr id="59" name="object 59" descr=""/>
            <p:cNvSpPr/>
            <p:nvPr/>
          </p:nvSpPr>
          <p:spPr>
            <a:xfrm>
              <a:off x="734667" y="4001259"/>
              <a:ext cx="678180" cy="84455"/>
            </a:xfrm>
            <a:custGeom>
              <a:avLst/>
              <a:gdLst/>
              <a:ahLst/>
              <a:cxnLst/>
              <a:rect l="l" t="t" r="r" b="b"/>
              <a:pathLst>
                <a:path w="678180" h="84454">
                  <a:moveTo>
                    <a:pt x="0" y="0"/>
                  </a:moveTo>
                  <a:lnTo>
                    <a:pt x="678091" y="0"/>
                  </a:lnTo>
                  <a:lnTo>
                    <a:pt x="678091" y="83832"/>
                  </a:lnTo>
                  <a:lnTo>
                    <a:pt x="619633" y="83832"/>
                  </a:lnTo>
                </a:path>
              </a:pathLst>
            </a:custGeom>
            <a:ln w="19049">
              <a:solidFill>
                <a:srgbClr val="0000FF"/>
              </a:solidFill>
            </a:ln>
          </p:spPr>
          <p:txBody>
            <a:bodyPr wrap="square" lIns="0" tIns="0" rIns="0" bIns="0" rtlCol="0"/>
            <a:lstStyle/>
            <a:p/>
          </p:txBody>
        </p:sp>
        <p:sp>
          <p:nvSpPr>
            <p:cNvPr id="60" name="object 60" descr=""/>
            <p:cNvSpPr/>
            <p:nvPr/>
          </p:nvSpPr>
          <p:spPr>
            <a:xfrm>
              <a:off x="1331163" y="4074236"/>
              <a:ext cx="27940" cy="52069"/>
            </a:xfrm>
            <a:custGeom>
              <a:avLst/>
              <a:gdLst/>
              <a:ahLst/>
              <a:cxnLst/>
              <a:rect l="l" t="t" r="r" b="b"/>
              <a:pathLst>
                <a:path w="27940" h="52070">
                  <a:moveTo>
                    <a:pt x="27762" y="0"/>
                  </a:moveTo>
                  <a:lnTo>
                    <a:pt x="0" y="0"/>
                  </a:lnTo>
                  <a:lnTo>
                    <a:pt x="0" y="51828"/>
                  </a:lnTo>
                  <a:lnTo>
                    <a:pt x="27762" y="51828"/>
                  </a:lnTo>
                  <a:lnTo>
                    <a:pt x="27762" y="0"/>
                  </a:lnTo>
                  <a:close/>
                </a:path>
              </a:pathLst>
            </a:custGeom>
            <a:solidFill>
              <a:srgbClr val="00FFFF"/>
            </a:solidFill>
          </p:spPr>
          <p:txBody>
            <a:bodyPr wrap="square" lIns="0" tIns="0" rIns="0" bIns="0" rtlCol="0"/>
            <a:lstStyle/>
            <a:p/>
          </p:txBody>
        </p:sp>
        <p:sp>
          <p:nvSpPr>
            <p:cNvPr id="61" name="object 61" descr=""/>
            <p:cNvSpPr/>
            <p:nvPr/>
          </p:nvSpPr>
          <p:spPr>
            <a:xfrm>
              <a:off x="1331163" y="4074236"/>
              <a:ext cx="27940" cy="52069"/>
            </a:xfrm>
            <a:custGeom>
              <a:avLst/>
              <a:gdLst/>
              <a:ahLst/>
              <a:cxnLst/>
              <a:rect l="l" t="t" r="r" b="b"/>
              <a:pathLst>
                <a:path w="27940" h="52070">
                  <a:moveTo>
                    <a:pt x="0" y="0"/>
                  </a:moveTo>
                  <a:lnTo>
                    <a:pt x="27762" y="0"/>
                  </a:lnTo>
                  <a:lnTo>
                    <a:pt x="27762" y="51828"/>
                  </a:lnTo>
                  <a:lnTo>
                    <a:pt x="0" y="51828"/>
                  </a:lnTo>
                  <a:lnTo>
                    <a:pt x="0" y="0"/>
                  </a:lnTo>
                  <a:close/>
                </a:path>
              </a:pathLst>
            </a:custGeom>
            <a:ln w="9525">
              <a:solidFill>
                <a:srgbClr val="000000"/>
              </a:solidFill>
            </a:ln>
          </p:spPr>
          <p:txBody>
            <a:bodyPr wrap="square" lIns="0" tIns="0" rIns="0" bIns="0" rtlCol="0"/>
            <a:lstStyle/>
            <a:p/>
          </p:txBody>
        </p:sp>
        <p:sp>
          <p:nvSpPr>
            <p:cNvPr id="62" name="object 62" descr=""/>
            <p:cNvSpPr/>
            <p:nvPr/>
          </p:nvSpPr>
          <p:spPr>
            <a:xfrm>
              <a:off x="687901" y="3982972"/>
              <a:ext cx="57785" cy="45085"/>
            </a:xfrm>
            <a:custGeom>
              <a:avLst/>
              <a:gdLst/>
              <a:ahLst/>
              <a:cxnLst/>
              <a:rect l="l" t="t" r="r" b="b"/>
              <a:pathLst>
                <a:path w="57784" h="45085">
                  <a:moveTo>
                    <a:pt x="28740" y="0"/>
                  </a:moveTo>
                  <a:lnTo>
                    <a:pt x="17552" y="1765"/>
                  </a:lnTo>
                  <a:lnTo>
                    <a:pt x="8416" y="6581"/>
                  </a:lnTo>
                  <a:lnTo>
                    <a:pt x="2258" y="13726"/>
                  </a:lnTo>
                  <a:lnTo>
                    <a:pt x="0" y="22478"/>
                  </a:lnTo>
                  <a:lnTo>
                    <a:pt x="2258" y="31231"/>
                  </a:lnTo>
                  <a:lnTo>
                    <a:pt x="8416" y="38376"/>
                  </a:lnTo>
                  <a:lnTo>
                    <a:pt x="17552" y="43192"/>
                  </a:lnTo>
                  <a:lnTo>
                    <a:pt x="28740" y="44957"/>
                  </a:lnTo>
                  <a:lnTo>
                    <a:pt x="39928" y="43192"/>
                  </a:lnTo>
                  <a:lnTo>
                    <a:pt x="49063" y="38376"/>
                  </a:lnTo>
                  <a:lnTo>
                    <a:pt x="55221" y="31231"/>
                  </a:lnTo>
                  <a:lnTo>
                    <a:pt x="57480" y="22478"/>
                  </a:lnTo>
                  <a:lnTo>
                    <a:pt x="55221" y="13726"/>
                  </a:lnTo>
                  <a:lnTo>
                    <a:pt x="49063" y="6581"/>
                  </a:lnTo>
                  <a:lnTo>
                    <a:pt x="39928" y="1765"/>
                  </a:lnTo>
                  <a:lnTo>
                    <a:pt x="28740" y="0"/>
                  </a:lnTo>
                  <a:close/>
                </a:path>
              </a:pathLst>
            </a:custGeom>
            <a:solidFill>
              <a:srgbClr val="00FFFF"/>
            </a:solidFill>
          </p:spPr>
          <p:txBody>
            <a:bodyPr wrap="square" lIns="0" tIns="0" rIns="0" bIns="0" rtlCol="0"/>
            <a:lstStyle/>
            <a:p/>
          </p:txBody>
        </p:sp>
        <p:sp>
          <p:nvSpPr>
            <p:cNvPr id="63" name="object 63" descr=""/>
            <p:cNvSpPr/>
            <p:nvPr/>
          </p:nvSpPr>
          <p:spPr>
            <a:xfrm>
              <a:off x="687901" y="3982972"/>
              <a:ext cx="57785" cy="45085"/>
            </a:xfrm>
            <a:custGeom>
              <a:avLst/>
              <a:gdLst/>
              <a:ahLst/>
              <a:cxnLst/>
              <a:rect l="l" t="t" r="r" b="b"/>
              <a:pathLst>
                <a:path w="57784" h="45085">
                  <a:moveTo>
                    <a:pt x="0" y="22478"/>
                  </a:moveTo>
                  <a:lnTo>
                    <a:pt x="2258" y="13726"/>
                  </a:lnTo>
                  <a:lnTo>
                    <a:pt x="8416" y="6581"/>
                  </a:lnTo>
                  <a:lnTo>
                    <a:pt x="17552" y="1765"/>
                  </a:lnTo>
                  <a:lnTo>
                    <a:pt x="28740" y="0"/>
                  </a:lnTo>
                  <a:lnTo>
                    <a:pt x="39928" y="1765"/>
                  </a:lnTo>
                  <a:lnTo>
                    <a:pt x="49063" y="6581"/>
                  </a:lnTo>
                  <a:lnTo>
                    <a:pt x="55221" y="13726"/>
                  </a:lnTo>
                  <a:lnTo>
                    <a:pt x="57480" y="22478"/>
                  </a:lnTo>
                  <a:lnTo>
                    <a:pt x="55221" y="31231"/>
                  </a:lnTo>
                  <a:lnTo>
                    <a:pt x="49063" y="38376"/>
                  </a:lnTo>
                  <a:lnTo>
                    <a:pt x="39928" y="43192"/>
                  </a:lnTo>
                  <a:lnTo>
                    <a:pt x="28740" y="44957"/>
                  </a:lnTo>
                  <a:lnTo>
                    <a:pt x="17552" y="43192"/>
                  </a:lnTo>
                  <a:lnTo>
                    <a:pt x="8416" y="38376"/>
                  </a:lnTo>
                  <a:lnTo>
                    <a:pt x="2258" y="31231"/>
                  </a:lnTo>
                  <a:lnTo>
                    <a:pt x="0" y="22478"/>
                  </a:lnTo>
                  <a:close/>
                </a:path>
              </a:pathLst>
            </a:custGeom>
            <a:ln w="12700">
              <a:solidFill>
                <a:srgbClr val="000000"/>
              </a:solidFill>
            </a:ln>
          </p:spPr>
          <p:txBody>
            <a:bodyPr wrap="square" lIns="0" tIns="0" rIns="0" bIns="0" rtlCol="0"/>
            <a:lstStyle/>
            <a:p/>
          </p:txBody>
        </p:sp>
        <p:sp>
          <p:nvSpPr>
            <p:cNvPr id="64" name="object 64" descr=""/>
            <p:cNvSpPr/>
            <p:nvPr/>
          </p:nvSpPr>
          <p:spPr>
            <a:xfrm>
              <a:off x="692932" y="3991961"/>
              <a:ext cx="46990" cy="27940"/>
            </a:xfrm>
            <a:custGeom>
              <a:avLst/>
              <a:gdLst/>
              <a:ahLst/>
              <a:cxnLst/>
              <a:rect l="l" t="t" r="r" b="b"/>
              <a:pathLst>
                <a:path w="46990" h="27939">
                  <a:moveTo>
                    <a:pt x="0" y="0"/>
                  </a:moveTo>
                  <a:lnTo>
                    <a:pt x="46697" y="27914"/>
                  </a:lnTo>
                </a:path>
              </a:pathLst>
            </a:custGeom>
            <a:ln w="12700">
              <a:solidFill>
                <a:srgbClr val="000000"/>
              </a:solidFill>
            </a:ln>
          </p:spPr>
          <p:txBody>
            <a:bodyPr wrap="square" lIns="0" tIns="0" rIns="0" bIns="0" rtlCol="0"/>
            <a:lstStyle/>
            <a:p/>
          </p:txBody>
        </p:sp>
        <p:sp>
          <p:nvSpPr>
            <p:cNvPr id="65" name="object 65" descr=""/>
            <p:cNvSpPr/>
            <p:nvPr/>
          </p:nvSpPr>
          <p:spPr>
            <a:xfrm>
              <a:off x="693649" y="3991963"/>
              <a:ext cx="45085" cy="27940"/>
            </a:xfrm>
            <a:custGeom>
              <a:avLst/>
              <a:gdLst/>
              <a:ahLst/>
              <a:cxnLst/>
              <a:rect l="l" t="t" r="r" b="b"/>
              <a:pathLst>
                <a:path w="45084" h="27939">
                  <a:moveTo>
                    <a:pt x="0" y="27914"/>
                  </a:moveTo>
                  <a:lnTo>
                    <a:pt x="44792" y="0"/>
                  </a:lnTo>
                </a:path>
              </a:pathLst>
            </a:custGeom>
            <a:ln w="12700">
              <a:solidFill>
                <a:srgbClr val="000000"/>
              </a:solidFill>
            </a:ln>
          </p:spPr>
          <p:txBody>
            <a:bodyPr wrap="square" lIns="0" tIns="0" rIns="0" bIns="0" rtlCol="0"/>
            <a:lstStyle/>
            <a:p/>
          </p:txBody>
        </p:sp>
        <p:sp>
          <p:nvSpPr>
            <p:cNvPr id="66" name="object 66" descr=""/>
            <p:cNvSpPr/>
            <p:nvPr/>
          </p:nvSpPr>
          <p:spPr>
            <a:xfrm>
              <a:off x="1399362" y="4260176"/>
              <a:ext cx="27940" cy="52069"/>
            </a:xfrm>
            <a:custGeom>
              <a:avLst/>
              <a:gdLst/>
              <a:ahLst/>
              <a:cxnLst/>
              <a:rect l="l" t="t" r="r" b="b"/>
              <a:pathLst>
                <a:path w="27940" h="52070">
                  <a:moveTo>
                    <a:pt x="27762" y="0"/>
                  </a:moveTo>
                  <a:lnTo>
                    <a:pt x="0" y="0"/>
                  </a:lnTo>
                  <a:lnTo>
                    <a:pt x="0" y="51828"/>
                  </a:lnTo>
                  <a:lnTo>
                    <a:pt x="27762" y="51828"/>
                  </a:lnTo>
                  <a:lnTo>
                    <a:pt x="27762" y="0"/>
                  </a:lnTo>
                  <a:close/>
                </a:path>
              </a:pathLst>
            </a:custGeom>
            <a:solidFill>
              <a:srgbClr val="00FFFF"/>
            </a:solidFill>
          </p:spPr>
          <p:txBody>
            <a:bodyPr wrap="square" lIns="0" tIns="0" rIns="0" bIns="0" rtlCol="0"/>
            <a:lstStyle/>
            <a:p/>
          </p:txBody>
        </p:sp>
        <p:sp>
          <p:nvSpPr>
            <p:cNvPr id="67" name="object 67" descr=""/>
            <p:cNvSpPr/>
            <p:nvPr/>
          </p:nvSpPr>
          <p:spPr>
            <a:xfrm>
              <a:off x="1399362" y="4260176"/>
              <a:ext cx="27940" cy="52069"/>
            </a:xfrm>
            <a:custGeom>
              <a:avLst/>
              <a:gdLst/>
              <a:ahLst/>
              <a:cxnLst/>
              <a:rect l="l" t="t" r="r" b="b"/>
              <a:pathLst>
                <a:path w="27940" h="52070">
                  <a:moveTo>
                    <a:pt x="0" y="51828"/>
                  </a:moveTo>
                  <a:lnTo>
                    <a:pt x="27762" y="51828"/>
                  </a:lnTo>
                  <a:lnTo>
                    <a:pt x="27762" y="0"/>
                  </a:lnTo>
                  <a:lnTo>
                    <a:pt x="0" y="0"/>
                  </a:lnTo>
                  <a:lnTo>
                    <a:pt x="0" y="51828"/>
                  </a:lnTo>
                  <a:close/>
                </a:path>
              </a:pathLst>
            </a:custGeom>
            <a:ln w="9525">
              <a:solidFill>
                <a:srgbClr val="000000"/>
              </a:solidFill>
            </a:ln>
          </p:spPr>
          <p:txBody>
            <a:bodyPr wrap="square" lIns="0" tIns="0" rIns="0" bIns="0" rtlCol="0"/>
            <a:lstStyle/>
            <a:p/>
          </p:txBody>
        </p:sp>
        <p:sp>
          <p:nvSpPr>
            <p:cNvPr id="68" name="object 68" descr=""/>
            <p:cNvSpPr/>
            <p:nvPr/>
          </p:nvSpPr>
          <p:spPr>
            <a:xfrm>
              <a:off x="1412758" y="4289333"/>
              <a:ext cx="351155" cy="27940"/>
            </a:xfrm>
            <a:custGeom>
              <a:avLst/>
              <a:gdLst/>
              <a:ahLst/>
              <a:cxnLst/>
              <a:rect l="l" t="t" r="r" b="b"/>
              <a:pathLst>
                <a:path w="351155" h="27939">
                  <a:moveTo>
                    <a:pt x="0" y="0"/>
                  </a:moveTo>
                  <a:lnTo>
                    <a:pt x="101320" y="0"/>
                  </a:lnTo>
                  <a:lnTo>
                    <a:pt x="99377" y="27432"/>
                  </a:lnTo>
                  <a:lnTo>
                    <a:pt x="350735" y="27432"/>
                  </a:lnTo>
                </a:path>
              </a:pathLst>
            </a:custGeom>
            <a:ln w="19049">
              <a:solidFill>
                <a:srgbClr val="0000FF"/>
              </a:solidFill>
            </a:ln>
          </p:spPr>
          <p:txBody>
            <a:bodyPr wrap="square" lIns="0" tIns="0" rIns="0" bIns="0" rtlCol="0"/>
            <a:lstStyle/>
            <a:p/>
          </p:txBody>
        </p:sp>
        <p:sp>
          <p:nvSpPr>
            <p:cNvPr id="69" name="object 69" descr=""/>
            <p:cNvSpPr/>
            <p:nvPr/>
          </p:nvSpPr>
          <p:spPr>
            <a:xfrm>
              <a:off x="734667" y="4114051"/>
              <a:ext cx="678180" cy="208915"/>
            </a:xfrm>
            <a:custGeom>
              <a:avLst/>
              <a:gdLst/>
              <a:ahLst/>
              <a:cxnLst/>
              <a:rect l="l" t="t" r="r" b="b"/>
              <a:pathLst>
                <a:path w="678180" h="208914">
                  <a:moveTo>
                    <a:pt x="0" y="208813"/>
                  </a:moveTo>
                  <a:lnTo>
                    <a:pt x="678091" y="208813"/>
                  </a:lnTo>
                  <a:lnTo>
                    <a:pt x="676148" y="0"/>
                  </a:lnTo>
                  <a:lnTo>
                    <a:pt x="623531" y="0"/>
                  </a:lnTo>
                </a:path>
              </a:pathLst>
            </a:custGeom>
            <a:ln w="19050">
              <a:solidFill>
                <a:srgbClr val="0000FF"/>
              </a:solidFill>
            </a:ln>
          </p:spPr>
          <p:txBody>
            <a:bodyPr wrap="square" lIns="0" tIns="0" rIns="0" bIns="0" rtlCol="0"/>
            <a:lstStyle/>
            <a:p/>
          </p:txBody>
        </p:sp>
        <p:sp>
          <p:nvSpPr>
            <p:cNvPr id="70" name="object 70" descr=""/>
            <p:cNvSpPr/>
            <p:nvPr/>
          </p:nvSpPr>
          <p:spPr>
            <a:xfrm>
              <a:off x="1763494" y="4293908"/>
              <a:ext cx="57785" cy="45085"/>
            </a:xfrm>
            <a:custGeom>
              <a:avLst/>
              <a:gdLst/>
              <a:ahLst/>
              <a:cxnLst/>
              <a:rect l="l" t="t" r="r" b="b"/>
              <a:pathLst>
                <a:path w="57785" h="45085">
                  <a:moveTo>
                    <a:pt x="28740" y="0"/>
                  </a:moveTo>
                  <a:lnTo>
                    <a:pt x="17552" y="1765"/>
                  </a:lnTo>
                  <a:lnTo>
                    <a:pt x="8416" y="6581"/>
                  </a:lnTo>
                  <a:lnTo>
                    <a:pt x="2258" y="13726"/>
                  </a:lnTo>
                  <a:lnTo>
                    <a:pt x="0" y="22478"/>
                  </a:lnTo>
                  <a:lnTo>
                    <a:pt x="2258" y="31231"/>
                  </a:lnTo>
                  <a:lnTo>
                    <a:pt x="8416" y="38376"/>
                  </a:lnTo>
                  <a:lnTo>
                    <a:pt x="17552" y="43192"/>
                  </a:lnTo>
                  <a:lnTo>
                    <a:pt x="28740" y="44957"/>
                  </a:lnTo>
                  <a:lnTo>
                    <a:pt x="39928" y="43192"/>
                  </a:lnTo>
                  <a:lnTo>
                    <a:pt x="49063" y="38376"/>
                  </a:lnTo>
                  <a:lnTo>
                    <a:pt x="55221" y="31231"/>
                  </a:lnTo>
                  <a:lnTo>
                    <a:pt x="57480" y="22478"/>
                  </a:lnTo>
                  <a:lnTo>
                    <a:pt x="55221" y="13726"/>
                  </a:lnTo>
                  <a:lnTo>
                    <a:pt x="49063" y="6581"/>
                  </a:lnTo>
                  <a:lnTo>
                    <a:pt x="39928" y="1765"/>
                  </a:lnTo>
                  <a:lnTo>
                    <a:pt x="28740" y="0"/>
                  </a:lnTo>
                  <a:close/>
                </a:path>
              </a:pathLst>
            </a:custGeom>
            <a:solidFill>
              <a:srgbClr val="00FFFF"/>
            </a:solidFill>
          </p:spPr>
          <p:txBody>
            <a:bodyPr wrap="square" lIns="0" tIns="0" rIns="0" bIns="0" rtlCol="0"/>
            <a:lstStyle/>
            <a:p/>
          </p:txBody>
        </p:sp>
        <p:sp>
          <p:nvSpPr>
            <p:cNvPr id="71" name="object 71" descr=""/>
            <p:cNvSpPr/>
            <p:nvPr/>
          </p:nvSpPr>
          <p:spPr>
            <a:xfrm>
              <a:off x="1763494" y="4293908"/>
              <a:ext cx="57785" cy="45085"/>
            </a:xfrm>
            <a:custGeom>
              <a:avLst/>
              <a:gdLst/>
              <a:ahLst/>
              <a:cxnLst/>
              <a:rect l="l" t="t" r="r" b="b"/>
              <a:pathLst>
                <a:path w="57785" h="45085">
                  <a:moveTo>
                    <a:pt x="0" y="22478"/>
                  </a:moveTo>
                  <a:lnTo>
                    <a:pt x="2258" y="13726"/>
                  </a:lnTo>
                  <a:lnTo>
                    <a:pt x="8416" y="6581"/>
                  </a:lnTo>
                  <a:lnTo>
                    <a:pt x="17552" y="1765"/>
                  </a:lnTo>
                  <a:lnTo>
                    <a:pt x="28740" y="0"/>
                  </a:lnTo>
                  <a:lnTo>
                    <a:pt x="39928" y="1765"/>
                  </a:lnTo>
                  <a:lnTo>
                    <a:pt x="49063" y="6581"/>
                  </a:lnTo>
                  <a:lnTo>
                    <a:pt x="55221" y="13726"/>
                  </a:lnTo>
                  <a:lnTo>
                    <a:pt x="57480" y="22478"/>
                  </a:lnTo>
                  <a:lnTo>
                    <a:pt x="55221" y="31231"/>
                  </a:lnTo>
                  <a:lnTo>
                    <a:pt x="49063" y="38376"/>
                  </a:lnTo>
                  <a:lnTo>
                    <a:pt x="39928" y="43192"/>
                  </a:lnTo>
                  <a:lnTo>
                    <a:pt x="28740" y="44957"/>
                  </a:lnTo>
                  <a:lnTo>
                    <a:pt x="17552" y="43192"/>
                  </a:lnTo>
                  <a:lnTo>
                    <a:pt x="8416" y="38376"/>
                  </a:lnTo>
                  <a:lnTo>
                    <a:pt x="2258" y="31231"/>
                  </a:lnTo>
                  <a:lnTo>
                    <a:pt x="0" y="22478"/>
                  </a:lnTo>
                  <a:close/>
                </a:path>
              </a:pathLst>
            </a:custGeom>
            <a:ln w="12700">
              <a:solidFill>
                <a:srgbClr val="000000"/>
              </a:solidFill>
            </a:ln>
          </p:spPr>
          <p:txBody>
            <a:bodyPr wrap="square" lIns="0" tIns="0" rIns="0" bIns="0" rtlCol="0"/>
            <a:lstStyle/>
            <a:p/>
          </p:txBody>
        </p:sp>
        <p:sp>
          <p:nvSpPr>
            <p:cNvPr id="72" name="object 72" descr=""/>
            <p:cNvSpPr/>
            <p:nvPr/>
          </p:nvSpPr>
          <p:spPr>
            <a:xfrm>
              <a:off x="1768524" y="4302898"/>
              <a:ext cx="46990" cy="27940"/>
            </a:xfrm>
            <a:custGeom>
              <a:avLst/>
              <a:gdLst/>
              <a:ahLst/>
              <a:cxnLst/>
              <a:rect l="l" t="t" r="r" b="b"/>
              <a:pathLst>
                <a:path w="46989" h="27939">
                  <a:moveTo>
                    <a:pt x="0" y="0"/>
                  </a:moveTo>
                  <a:lnTo>
                    <a:pt x="46697" y="27914"/>
                  </a:lnTo>
                </a:path>
              </a:pathLst>
            </a:custGeom>
            <a:ln w="12700">
              <a:solidFill>
                <a:srgbClr val="000000"/>
              </a:solidFill>
            </a:ln>
          </p:spPr>
          <p:txBody>
            <a:bodyPr wrap="square" lIns="0" tIns="0" rIns="0" bIns="0" rtlCol="0"/>
            <a:lstStyle/>
            <a:p/>
          </p:txBody>
        </p:sp>
        <p:sp>
          <p:nvSpPr>
            <p:cNvPr id="73" name="object 73" descr=""/>
            <p:cNvSpPr/>
            <p:nvPr/>
          </p:nvSpPr>
          <p:spPr>
            <a:xfrm>
              <a:off x="1769242" y="4302898"/>
              <a:ext cx="45085" cy="27940"/>
            </a:xfrm>
            <a:custGeom>
              <a:avLst/>
              <a:gdLst/>
              <a:ahLst/>
              <a:cxnLst/>
              <a:rect l="l" t="t" r="r" b="b"/>
              <a:pathLst>
                <a:path w="45085" h="27939">
                  <a:moveTo>
                    <a:pt x="0" y="27914"/>
                  </a:moveTo>
                  <a:lnTo>
                    <a:pt x="44792" y="0"/>
                  </a:lnTo>
                </a:path>
              </a:pathLst>
            </a:custGeom>
            <a:ln w="12700">
              <a:solidFill>
                <a:srgbClr val="000000"/>
              </a:solidFill>
            </a:ln>
          </p:spPr>
          <p:txBody>
            <a:bodyPr wrap="square" lIns="0" tIns="0" rIns="0" bIns="0" rtlCol="0"/>
            <a:lstStyle/>
            <a:p/>
          </p:txBody>
        </p:sp>
        <p:sp>
          <p:nvSpPr>
            <p:cNvPr id="74" name="object 74" descr=""/>
            <p:cNvSpPr/>
            <p:nvPr/>
          </p:nvSpPr>
          <p:spPr>
            <a:xfrm>
              <a:off x="687901" y="4293908"/>
              <a:ext cx="57785" cy="45085"/>
            </a:xfrm>
            <a:custGeom>
              <a:avLst/>
              <a:gdLst/>
              <a:ahLst/>
              <a:cxnLst/>
              <a:rect l="l" t="t" r="r" b="b"/>
              <a:pathLst>
                <a:path w="57784" h="45085">
                  <a:moveTo>
                    <a:pt x="28740" y="0"/>
                  </a:moveTo>
                  <a:lnTo>
                    <a:pt x="17552" y="1765"/>
                  </a:lnTo>
                  <a:lnTo>
                    <a:pt x="8416" y="6581"/>
                  </a:lnTo>
                  <a:lnTo>
                    <a:pt x="2258" y="13726"/>
                  </a:lnTo>
                  <a:lnTo>
                    <a:pt x="0" y="22478"/>
                  </a:lnTo>
                  <a:lnTo>
                    <a:pt x="2258" y="31231"/>
                  </a:lnTo>
                  <a:lnTo>
                    <a:pt x="8416" y="38376"/>
                  </a:lnTo>
                  <a:lnTo>
                    <a:pt x="17552" y="43192"/>
                  </a:lnTo>
                  <a:lnTo>
                    <a:pt x="28740" y="44957"/>
                  </a:lnTo>
                  <a:lnTo>
                    <a:pt x="39928" y="43192"/>
                  </a:lnTo>
                  <a:lnTo>
                    <a:pt x="49063" y="38376"/>
                  </a:lnTo>
                  <a:lnTo>
                    <a:pt x="55221" y="31231"/>
                  </a:lnTo>
                  <a:lnTo>
                    <a:pt x="57480" y="22478"/>
                  </a:lnTo>
                  <a:lnTo>
                    <a:pt x="55221" y="13726"/>
                  </a:lnTo>
                  <a:lnTo>
                    <a:pt x="49063" y="6581"/>
                  </a:lnTo>
                  <a:lnTo>
                    <a:pt x="39928" y="1765"/>
                  </a:lnTo>
                  <a:lnTo>
                    <a:pt x="28740" y="0"/>
                  </a:lnTo>
                  <a:close/>
                </a:path>
              </a:pathLst>
            </a:custGeom>
            <a:solidFill>
              <a:srgbClr val="00FFFF"/>
            </a:solidFill>
          </p:spPr>
          <p:txBody>
            <a:bodyPr wrap="square" lIns="0" tIns="0" rIns="0" bIns="0" rtlCol="0"/>
            <a:lstStyle/>
            <a:p/>
          </p:txBody>
        </p:sp>
        <p:sp>
          <p:nvSpPr>
            <p:cNvPr id="75" name="object 75" descr=""/>
            <p:cNvSpPr/>
            <p:nvPr/>
          </p:nvSpPr>
          <p:spPr>
            <a:xfrm>
              <a:off x="687901" y="4293908"/>
              <a:ext cx="57785" cy="45085"/>
            </a:xfrm>
            <a:custGeom>
              <a:avLst/>
              <a:gdLst/>
              <a:ahLst/>
              <a:cxnLst/>
              <a:rect l="l" t="t" r="r" b="b"/>
              <a:pathLst>
                <a:path w="57784" h="45085">
                  <a:moveTo>
                    <a:pt x="0" y="22478"/>
                  </a:moveTo>
                  <a:lnTo>
                    <a:pt x="2258" y="13726"/>
                  </a:lnTo>
                  <a:lnTo>
                    <a:pt x="8416" y="6581"/>
                  </a:lnTo>
                  <a:lnTo>
                    <a:pt x="17552" y="1765"/>
                  </a:lnTo>
                  <a:lnTo>
                    <a:pt x="28740" y="0"/>
                  </a:lnTo>
                  <a:lnTo>
                    <a:pt x="39928" y="1765"/>
                  </a:lnTo>
                  <a:lnTo>
                    <a:pt x="49063" y="6581"/>
                  </a:lnTo>
                  <a:lnTo>
                    <a:pt x="55221" y="13726"/>
                  </a:lnTo>
                  <a:lnTo>
                    <a:pt x="57480" y="22478"/>
                  </a:lnTo>
                  <a:lnTo>
                    <a:pt x="55221" y="31231"/>
                  </a:lnTo>
                  <a:lnTo>
                    <a:pt x="49063" y="38376"/>
                  </a:lnTo>
                  <a:lnTo>
                    <a:pt x="39928" y="43192"/>
                  </a:lnTo>
                  <a:lnTo>
                    <a:pt x="28740" y="44957"/>
                  </a:lnTo>
                  <a:lnTo>
                    <a:pt x="17552" y="43192"/>
                  </a:lnTo>
                  <a:lnTo>
                    <a:pt x="8416" y="38376"/>
                  </a:lnTo>
                  <a:lnTo>
                    <a:pt x="2258" y="31231"/>
                  </a:lnTo>
                  <a:lnTo>
                    <a:pt x="0" y="22478"/>
                  </a:lnTo>
                  <a:close/>
                </a:path>
              </a:pathLst>
            </a:custGeom>
            <a:ln w="12700">
              <a:solidFill>
                <a:srgbClr val="000000"/>
              </a:solidFill>
            </a:ln>
          </p:spPr>
          <p:txBody>
            <a:bodyPr wrap="square" lIns="0" tIns="0" rIns="0" bIns="0" rtlCol="0"/>
            <a:lstStyle/>
            <a:p/>
          </p:txBody>
        </p:sp>
        <p:sp>
          <p:nvSpPr>
            <p:cNvPr id="76" name="object 76" descr=""/>
            <p:cNvSpPr/>
            <p:nvPr/>
          </p:nvSpPr>
          <p:spPr>
            <a:xfrm>
              <a:off x="692932" y="4302898"/>
              <a:ext cx="46990" cy="27940"/>
            </a:xfrm>
            <a:custGeom>
              <a:avLst/>
              <a:gdLst/>
              <a:ahLst/>
              <a:cxnLst/>
              <a:rect l="l" t="t" r="r" b="b"/>
              <a:pathLst>
                <a:path w="46990" h="27939">
                  <a:moveTo>
                    <a:pt x="0" y="0"/>
                  </a:moveTo>
                  <a:lnTo>
                    <a:pt x="46697" y="27914"/>
                  </a:lnTo>
                </a:path>
              </a:pathLst>
            </a:custGeom>
            <a:ln w="12700">
              <a:solidFill>
                <a:srgbClr val="000000"/>
              </a:solidFill>
            </a:ln>
          </p:spPr>
          <p:txBody>
            <a:bodyPr wrap="square" lIns="0" tIns="0" rIns="0" bIns="0" rtlCol="0"/>
            <a:lstStyle/>
            <a:p/>
          </p:txBody>
        </p:sp>
        <p:sp>
          <p:nvSpPr>
            <p:cNvPr id="77" name="object 77" descr=""/>
            <p:cNvSpPr/>
            <p:nvPr/>
          </p:nvSpPr>
          <p:spPr>
            <a:xfrm>
              <a:off x="693649" y="4302898"/>
              <a:ext cx="45085" cy="27940"/>
            </a:xfrm>
            <a:custGeom>
              <a:avLst/>
              <a:gdLst/>
              <a:ahLst/>
              <a:cxnLst/>
              <a:rect l="l" t="t" r="r" b="b"/>
              <a:pathLst>
                <a:path w="45084" h="27939">
                  <a:moveTo>
                    <a:pt x="0" y="27914"/>
                  </a:moveTo>
                  <a:lnTo>
                    <a:pt x="44792" y="0"/>
                  </a:lnTo>
                </a:path>
              </a:pathLst>
            </a:custGeom>
            <a:ln w="12700">
              <a:solidFill>
                <a:srgbClr val="000000"/>
              </a:solidFill>
            </a:ln>
          </p:spPr>
          <p:txBody>
            <a:bodyPr wrap="square" lIns="0" tIns="0" rIns="0" bIns="0" rtlCol="0"/>
            <a:lstStyle/>
            <a:p/>
          </p:txBody>
        </p:sp>
        <p:sp>
          <p:nvSpPr>
            <p:cNvPr id="78" name="object 78" descr=""/>
            <p:cNvSpPr/>
            <p:nvPr/>
          </p:nvSpPr>
          <p:spPr>
            <a:xfrm>
              <a:off x="392665" y="3812353"/>
              <a:ext cx="1685925" cy="705485"/>
            </a:xfrm>
            <a:custGeom>
              <a:avLst/>
              <a:gdLst/>
              <a:ahLst/>
              <a:cxnLst/>
              <a:rect l="l" t="t" r="r" b="b"/>
              <a:pathLst>
                <a:path w="1685925" h="705485">
                  <a:moveTo>
                    <a:pt x="304717" y="0"/>
                  </a:moveTo>
                  <a:lnTo>
                    <a:pt x="255114" y="177"/>
                  </a:lnTo>
                  <a:lnTo>
                    <a:pt x="202164" y="8406"/>
                  </a:lnTo>
                  <a:lnTo>
                    <a:pt x="145575" y="22364"/>
                  </a:lnTo>
                  <a:lnTo>
                    <a:pt x="93460" y="44075"/>
                  </a:lnTo>
                  <a:lnTo>
                    <a:pt x="53933" y="75564"/>
                  </a:lnTo>
                  <a:lnTo>
                    <a:pt x="34827" y="112505"/>
                  </a:lnTo>
                  <a:lnTo>
                    <a:pt x="24256" y="159650"/>
                  </a:lnTo>
                  <a:lnTo>
                    <a:pt x="19075" y="210428"/>
                  </a:lnTo>
                  <a:lnTo>
                    <a:pt x="16139" y="258271"/>
                  </a:lnTo>
                  <a:lnTo>
                    <a:pt x="12303" y="296608"/>
                  </a:lnTo>
                  <a:lnTo>
                    <a:pt x="6271" y="328569"/>
                  </a:lnTo>
                  <a:lnTo>
                    <a:pt x="1951" y="350270"/>
                  </a:lnTo>
                  <a:lnTo>
                    <a:pt x="0" y="368197"/>
                  </a:lnTo>
                  <a:lnTo>
                    <a:pt x="1076" y="388835"/>
                  </a:lnTo>
                  <a:lnTo>
                    <a:pt x="6467" y="412955"/>
                  </a:lnTo>
                  <a:lnTo>
                    <a:pt x="15459" y="437417"/>
                  </a:lnTo>
                  <a:lnTo>
                    <a:pt x="25679" y="462839"/>
                  </a:lnTo>
                  <a:lnTo>
                    <a:pt x="34756" y="489838"/>
                  </a:lnTo>
                  <a:lnTo>
                    <a:pt x="36824" y="520184"/>
                  </a:lnTo>
                  <a:lnTo>
                    <a:pt x="34815" y="553105"/>
                  </a:lnTo>
                  <a:lnTo>
                    <a:pt x="39562" y="585409"/>
                  </a:lnTo>
                  <a:lnTo>
                    <a:pt x="98399" y="634463"/>
                  </a:lnTo>
                  <a:lnTo>
                    <a:pt x="148104" y="654265"/>
                  </a:lnTo>
                  <a:lnTo>
                    <a:pt x="204682" y="671765"/>
                  </a:lnTo>
                  <a:lnTo>
                    <a:pt x="261800" y="685416"/>
                  </a:lnTo>
                  <a:lnTo>
                    <a:pt x="313128" y="693673"/>
                  </a:lnTo>
                  <a:lnTo>
                    <a:pt x="367220" y="693624"/>
                  </a:lnTo>
                  <a:lnTo>
                    <a:pt x="417104" y="684758"/>
                  </a:lnTo>
                  <a:lnTo>
                    <a:pt x="467867" y="672939"/>
                  </a:lnTo>
                  <a:lnTo>
                    <a:pt x="524595" y="664032"/>
                  </a:lnTo>
                  <a:lnTo>
                    <a:pt x="566891" y="660358"/>
                  </a:lnTo>
                  <a:lnTo>
                    <a:pt x="611592" y="656837"/>
                  </a:lnTo>
                  <a:lnTo>
                    <a:pt x="658218" y="653743"/>
                  </a:lnTo>
                  <a:lnTo>
                    <a:pt x="706288" y="651350"/>
                  </a:lnTo>
                  <a:lnTo>
                    <a:pt x="755320" y="649934"/>
                  </a:lnTo>
                  <a:lnTo>
                    <a:pt x="804834" y="649769"/>
                  </a:lnTo>
                  <a:lnTo>
                    <a:pt x="856256" y="651031"/>
                  </a:lnTo>
                  <a:lnTo>
                    <a:pt x="910266" y="653534"/>
                  </a:lnTo>
                  <a:lnTo>
                    <a:pt x="965239" y="656993"/>
                  </a:lnTo>
                  <a:lnTo>
                    <a:pt x="1019551" y="661122"/>
                  </a:lnTo>
                  <a:lnTo>
                    <a:pt x="1071577" y="665638"/>
                  </a:lnTo>
                  <a:lnTo>
                    <a:pt x="1119692" y="670255"/>
                  </a:lnTo>
                  <a:lnTo>
                    <a:pt x="1170423" y="678125"/>
                  </a:lnTo>
                  <a:lnTo>
                    <a:pt x="1258639" y="698744"/>
                  </a:lnTo>
                  <a:lnTo>
                    <a:pt x="1303309" y="705240"/>
                  </a:lnTo>
                  <a:lnTo>
                    <a:pt x="1353143" y="705027"/>
                  </a:lnTo>
                  <a:lnTo>
                    <a:pt x="1402884" y="699997"/>
                  </a:lnTo>
                  <a:lnTo>
                    <a:pt x="1459449" y="692232"/>
                  </a:lnTo>
                  <a:lnTo>
                    <a:pt x="1517885" y="681192"/>
                  </a:lnTo>
                  <a:lnTo>
                    <a:pt x="1573241" y="666341"/>
                  </a:lnTo>
                  <a:lnTo>
                    <a:pt x="1620566" y="647139"/>
                  </a:lnTo>
                  <a:lnTo>
                    <a:pt x="1654908" y="623049"/>
                  </a:lnTo>
                  <a:lnTo>
                    <a:pt x="1675992" y="585305"/>
                  </a:lnTo>
                  <a:lnTo>
                    <a:pt x="1680973" y="538742"/>
                  </a:lnTo>
                  <a:lnTo>
                    <a:pt x="1676770" y="487191"/>
                  </a:lnTo>
                  <a:lnTo>
                    <a:pt x="1670297" y="434480"/>
                  </a:lnTo>
                  <a:lnTo>
                    <a:pt x="1668472" y="384441"/>
                  </a:lnTo>
                  <a:lnTo>
                    <a:pt x="1672633" y="335228"/>
                  </a:lnTo>
                  <a:lnTo>
                    <a:pt x="1678162" y="284257"/>
                  </a:lnTo>
                  <a:lnTo>
                    <a:pt x="1683060" y="234252"/>
                  </a:lnTo>
                  <a:lnTo>
                    <a:pt x="1685330" y="187935"/>
                  </a:lnTo>
                  <a:lnTo>
                    <a:pt x="1682975" y="148031"/>
                  </a:lnTo>
                  <a:lnTo>
                    <a:pt x="1675132" y="106899"/>
                  </a:lnTo>
                  <a:lnTo>
                    <a:pt x="1643835" y="45773"/>
                  </a:lnTo>
                  <a:lnTo>
                    <a:pt x="1567984" y="14273"/>
                  </a:lnTo>
                  <a:lnTo>
                    <a:pt x="1507479" y="11620"/>
                  </a:lnTo>
                  <a:lnTo>
                    <a:pt x="1447238" y="12672"/>
                  </a:lnTo>
                  <a:lnTo>
                    <a:pt x="1401340" y="12623"/>
                  </a:lnTo>
                  <a:lnTo>
                    <a:pt x="1380348" y="9000"/>
                  </a:lnTo>
                  <a:lnTo>
                    <a:pt x="1374492" y="4755"/>
                  </a:lnTo>
                  <a:lnTo>
                    <a:pt x="1367321" y="3254"/>
                  </a:lnTo>
                  <a:lnTo>
                    <a:pt x="1342387" y="7861"/>
                  </a:lnTo>
                  <a:lnTo>
                    <a:pt x="1302264" y="19246"/>
                  </a:lnTo>
                  <a:lnTo>
                    <a:pt x="1191479" y="55589"/>
                  </a:lnTo>
                  <a:lnTo>
                    <a:pt x="1135188" y="72184"/>
                  </a:lnTo>
                  <a:lnTo>
                    <a:pt x="1087879" y="82156"/>
                  </a:lnTo>
                  <a:lnTo>
                    <a:pt x="1043447" y="82684"/>
                  </a:lnTo>
                  <a:lnTo>
                    <a:pt x="1007526" y="75112"/>
                  </a:lnTo>
                  <a:lnTo>
                    <a:pt x="974586" y="65480"/>
                  </a:lnTo>
                  <a:lnTo>
                    <a:pt x="939098" y="59829"/>
                  </a:lnTo>
                  <a:lnTo>
                    <a:pt x="898755" y="60287"/>
                  </a:lnTo>
                  <a:lnTo>
                    <a:pt x="856702" y="63491"/>
                  </a:lnTo>
                  <a:lnTo>
                    <a:pt x="815613" y="67246"/>
                  </a:lnTo>
                  <a:lnTo>
                    <a:pt x="778164" y="69354"/>
                  </a:lnTo>
                  <a:lnTo>
                    <a:pt x="717404" y="68340"/>
                  </a:lnTo>
                  <a:lnTo>
                    <a:pt x="629904" y="62227"/>
                  </a:lnTo>
                  <a:lnTo>
                    <a:pt x="565742" y="55992"/>
                  </a:lnTo>
                  <a:lnTo>
                    <a:pt x="512289" y="46682"/>
                  </a:lnTo>
                  <a:lnTo>
                    <a:pt x="469907" y="34696"/>
                  </a:lnTo>
                  <a:lnTo>
                    <a:pt x="440382" y="28358"/>
                  </a:lnTo>
                  <a:lnTo>
                    <a:pt x="400773" y="19271"/>
                  </a:lnTo>
                  <a:lnTo>
                    <a:pt x="354411" y="8091"/>
                  </a:lnTo>
                  <a:lnTo>
                    <a:pt x="304717" y="0"/>
                  </a:lnTo>
                  <a:close/>
                </a:path>
              </a:pathLst>
            </a:custGeom>
            <a:solidFill>
              <a:srgbClr val="FF99CC">
                <a:alpha val="39999"/>
              </a:srgbClr>
            </a:solidFill>
          </p:spPr>
          <p:txBody>
            <a:bodyPr wrap="square" lIns="0" tIns="0" rIns="0" bIns="0" rtlCol="0"/>
            <a:lstStyle/>
            <a:p/>
          </p:txBody>
        </p:sp>
        <p:pic>
          <p:nvPicPr>
            <p:cNvPr id="79" name="object 79" descr=""/>
            <p:cNvPicPr/>
            <p:nvPr/>
          </p:nvPicPr>
          <p:blipFill>
            <a:blip r:embed="rId7" cstate="print"/>
            <a:stretch>
              <a:fillRect/>
            </a:stretch>
          </p:blipFill>
          <p:spPr>
            <a:xfrm>
              <a:off x="1524062" y="4095155"/>
              <a:ext cx="223068" cy="149497"/>
            </a:xfrm>
            <a:prstGeom prst="rect">
              <a:avLst/>
            </a:prstGeom>
          </p:spPr>
        </p:pic>
        <p:sp>
          <p:nvSpPr>
            <p:cNvPr id="80" name="object 80" descr=""/>
            <p:cNvSpPr/>
            <p:nvPr/>
          </p:nvSpPr>
          <p:spPr>
            <a:xfrm>
              <a:off x="2403944" y="3740636"/>
              <a:ext cx="1773555" cy="843915"/>
            </a:xfrm>
            <a:custGeom>
              <a:avLst/>
              <a:gdLst/>
              <a:ahLst/>
              <a:cxnLst/>
              <a:rect l="l" t="t" r="r" b="b"/>
              <a:pathLst>
                <a:path w="1773554" h="843914">
                  <a:moveTo>
                    <a:pt x="1555127" y="0"/>
                  </a:moveTo>
                  <a:lnTo>
                    <a:pt x="1503482" y="136"/>
                  </a:lnTo>
                  <a:lnTo>
                    <a:pt x="1456471" y="4115"/>
                  </a:lnTo>
                  <a:lnTo>
                    <a:pt x="1410506" y="12656"/>
                  </a:lnTo>
                  <a:lnTo>
                    <a:pt x="1364308" y="23415"/>
                  </a:lnTo>
                  <a:lnTo>
                    <a:pt x="1316597" y="34045"/>
                  </a:lnTo>
                  <a:lnTo>
                    <a:pt x="1266093" y="42199"/>
                  </a:lnTo>
                  <a:lnTo>
                    <a:pt x="1219583" y="47108"/>
                  </a:lnTo>
                  <a:lnTo>
                    <a:pt x="1169009" y="51522"/>
                  </a:lnTo>
                  <a:lnTo>
                    <a:pt x="1117008" y="55326"/>
                  </a:lnTo>
                  <a:lnTo>
                    <a:pt x="1066218" y="58402"/>
                  </a:lnTo>
                  <a:lnTo>
                    <a:pt x="1019276" y="60635"/>
                  </a:lnTo>
                  <a:lnTo>
                    <a:pt x="978819" y="61909"/>
                  </a:lnTo>
                  <a:lnTo>
                    <a:pt x="931169" y="61279"/>
                  </a:lnTo>
                  <a:lnTo>
                    <a:pt x="893739" y="58305"/>
                  </a:lnTo>
                  <a:lnTo>
                    <a:pt x="861305" y="54765"/>
                  </a:lnTo>
                  <a:lnTo>
                    <a:pt x="828642" y="52435"/>
                  </a:lnTo>
                  <a:lnTo>
                    <a:pt x="796440" y="51744"/>
                  </a:lnTo>
                  <a:lnTo>
                    <a:pt x="766874" y="51725"/>
                  </a:lnTo>
                  <a:lnTo>
                    <a:pt x="703648" y="52435"/>
                  </a:lnTo>
                  <a:lnTo>
                    <a:pt x="664940" y="53390"/>
                  </a:lnTo>
                  <a:lnTo>
                    <a:pt x="622870" y="54948"/>
                  </a:lnTo>
                  <a:lnTo>
                    <a:pt x="580619" y="56009"/>
                  </a:lnTo>
                  <a:lnTo>
                    <a:pt x="541368" y="55470"/>
                  </a:lnTo>
                  <a:lnTo>
                    <a:pt x="507613" y="52184"/>
                  </a:lnTo>
                  <a:lnTo>
                    <a:pt x="476993" y="47085"/>
                  </a:lnTo>
                  <a:lnTo>
                    <a:pt x="445376" y="42201"/>
                  </a:lnTo>
                  <a:lnTo>
                    <a:pt x="408627" y="39557"/>
                  </a:lnTo>
                  <a:lnTo>
                    <a:pt x="364614" y="39217"/>
                  </a:lnTo>
                  <a:lnTo>
                    <a:pt x="315971" y="40265"/>
                  </a:lnTo>
                  <a:lnTo>
                    <a:pt x="265695" y="43233"/>
                  </a:lnTo>
                  <a:lnTo>
                    <a:pt x="216781" y="48650"/>
                  </a:lnTo>
                  <a:lnTo>
                    <a:pt x="165369" y="51491"/>
                  </a:lnTo>
                  <a:lnTo>
                    <a:pt x="111413" y="53195"/>
                  </a:lnTo>
                  <a:lnTo>
                    <a:pt x="63634" y="63993"/>
                  </a:lnTo>
                  <a:lnTo>
                    <a:pt x="30752" y="94116"/>
                  </a:lnTo>
                  <a:lnTo>
                    <a:pt x="20854" y="131114"/>
                  </a:lnTo>
                  <a:lnTo>
                    <a:pt x="19232" y="180774"/>
                  </a:lnTo>
                  <a:lnTo>
                    <a:pt x="22940" y="237507"/>
                  </a:lnTo>
                  <a:lnTo>
                    <a:pt x="34554" y="349831"/>
                  </a:lnTo>
                  <a:lnTo>
                    <a:pt x="36568" y="394243"/>
                  </a:lnTo>
                  <a:lnTo>
                    <a:pt x="33931" y="445563"/>
                  </a:lnTo>
                  <a:lnTo>
                    <a:pt x="29298" y="487327"/>
                  </a:lnTo>
                  <a:lnTo>
                    <a:pt x="24302" y="520919"/>
                  </a:lnTo>
                  <a:lnTo>
                    <a:pt x="20579" y="547722"/>
                  </a:lnTo>
                  <a:lnTo>
                    <a:pt x="16628" y="593616"/>
                  </a:lnTo>
                  <a:lnTo>
                    <a:pt x="7326" y="647022"/>
                  </a:lnTo>
                  <a:lnTo>
                    <a:pt x="0" y="700899"/>
                  </a:lnTo>
                  <a:lnTo>
                    <a:pt x="1975" y="748208"/>
                  </a:lnTo>
                  <a:lnTo>
                    <a:pt x="20579" y="781910"/>
                  </a:lnTo>
                  <a:lnTo>
                    <a:pt x="53638" y="796338"/>
                  </a:lnTo>
                  <a:lnTo>
                    <a:pt x="100301" y="801071"/>
                  </a:lnTo>
                  <a:lnTo>
                    <a:pt x="155199" y="799676"/>
                  </a:lnTo>
                  <a:lnTo>
                    <a:pt x="212963" y="795723"/>
                  </a:lnTo>
                  <a:lnTo>
                    <a:pt x="268224" y="792781"/>
                  </a:lnTo>
                  <a:lnTo>
                    <a:pt x="315613" y="794420"/>
                  </a:lnTo>
                  <a:lnTo>
                    <a:pt x="369976" y="806057"/>
                  </a:lnTo>
                  <a:lnTo>
                    <a:pt x="415165" y="821890"/>
                  </a:lnTo>
                  <a:lnTo>
                    <a:pt x="461806" y="836303"/>
                  </a:lnTo>
                  <a:lnTo>
                    <a:pt x="520527" y="843683"/>
                  </a:lnTo>
                  <a:lnTo>
                    <a:pt x="561643" y="842873"/>
                  </a:lnTo>
                  <a:lnTo>
                    <a:pt x="606462" y="838914"/>
                  </a:lnTo>
                  <a:lnTo>
                    <a:pt x="654296" y="832927"/>
                  </a:lnTo>
                  <a:lnTo>
                    <a:pt x="704460" y="826031"/>
                  </a:lnTo>
                  <a:lnTo>
                    <a:pt x="756268" y="819347"/>
                  </a:lnTo>
                  <a:lnTo>
                    <a:pt x="809032" y="813995"/>
                  </a:lnTo>
                  <a:lnTo>
                    <a:pt x="862068" y="811095"/>
                  </a:lnTo>
                  <a:lnTo>
                    <a:pt x="910480" y="810828"/>
                  </a:lnTo>
                  <a:lnTo>
                    <a:pt x="962144" y="812023"/>
                  </a:lnTo>
                  <a:lnTo>
                    <a:pt x="1015682" y="814257"/>
                  </a:lnTo>
                  <a:lnTo>
                    <a:pt x="1173739" y="822975"/>
                  </a:lnTo>
                  <a:lnTo>
                    <a:pt x="1220975" y="825146"/>
                  </a:lnTo>
                  <a:lnTo>
                    <a:pt x="1263185" y="826246"/>
                  </a:lnTo>
                  <a:lnTo>
                    <a:pt x="1331179" y="826373"/>
                  </a:lnTo>
                  <a:lnTo>
                    <a:pt x="1384910" y="824971"/>
                  </a:lnTo>
                  <a:lnTo>
                    <a:pt x="1434462" y="821933"/>
                  </a:lnTo>
                  <a:lnTo>
                    <a:pt x="1489918" y="817153"/>
                  </a:lnTo>
                  <a:lnTo>
                    <a:pt x="1535358" y="816194"/>
                  </a:lnTo>
                  <a:lnTo>
                    <a:pt x="1586371" y="818331"/>
                  </a:lnTo>
                  <a:lnTo>
                    <a:pt x="1638516" y="819712"/>
                  </a:lnTo>
                  <a:lnTo>
                    <a:pt x="1687351" y="816482"/>
                  </a:lnTo>
                  <a:lnTo>
                    <a:pt x="1728436" y="804789"/>
                  </a:lnTo>
                  <a:lnTo>
                    <a:pt x="1757329" y="780780"/>
                  </a:lnTo>
                  <a:lnTo>
                    <a:pt x="1770058" y="747288"/>
                  </a:lnTo>
                  <a:lnTo>
                    <a:pt x="1773499" y="703019"/>
                  </a:lnTo>
                  <a:lnTo>
                    <a:pt x="1770347" y="651393"/>
                  </a:lnTo>
                  <a:lnTo>
                    <a:pt x="1763296" y="595831"/>
                  </a:lnTo>
                  <a:lnTo>
                    <a:pt x="1755043" y="539751"/>
                  </a:lnTo>
                  <a:lnTo>
                    <a:pt x="1748282" y="486575"/>
                  </a:lnTo>
                  <a:lnTo>
                    <a:pt x="1745709" y="439721"/>
                  </a:lnTo>
                  <a:lnTo>
                    <a:pt x="1747893" y="381623"/>
                  </a:lnTo>
                  <a:lnTo>
                    <a:pt x="1752264" y="326728"/>
                  </a:lnTo>
                  <a:lnTo>
                    <a:pt x="1757286" y="275417"/>
                  </a:lnTo>
                  <a:lnTo>
                    <a:pt x="1761425" y="228072"/>
                  </a:lnTo>
                  <a:lnTo>
                    <a:pt x="1763146" y="185074"/>
                  </a:lnTo>
                  <a:lnTo>
                    <a:pt x="1766332" y="136964"/>
                  </a:lnTo>
                  <a:lnTo>
                    <a:pt x="1770107" y="94969"/>
                  </a:lnTo>
                  <a:lnTo>
                    <a:pt x="1765798" y="59938"/>
                  </a:lnTo>
                  <a:lnTo>
                    <a:pt x="1744731" y="32724"/>
                  </a:lnTo>
                  <a:lnTo>
                    <a:pt x="1710758" y="17408"/>
                  </a:lnTo>
                  <a:lnTo>
                    <a:pt x="1664206" y="7563"/>
                  </a:lnTo>
                  <a:lnTo>
                    <a:pt x="1610515" y="2118"/>
                  </a:lnTo>
                  <a:lnTo>
                    <a:pt x="1555127" y="0"/>
                  </a:lnTo>
                  <a:close/>
                </a:path>
              </a:pathLst>
            </a:custGeom>
            <a:solidFill>
              <a:srgbClr val="99CCFF">
                <a:alpha val="39999"/>
              </a:srgbClr>
            </a:solidFill>
          </p:spPr>
          <p:txBody>
            <a:bodyPr wrap="square" lIns="0" tIns="0" rIns="0" bIns="0" rtlCol="0"/>
            <a:lstStyle/>
            <a:p/>
          </p:txBody>
        </p:sp>
        <p:sp>
          <p:nvSpPr>
            <p:cNvPr id="81" name="object 81" descr=""/>
            <p:cNvSpPr/>
            <p:nvPr/>
          </p:nvSpPr>
          <p:spPr>
            <a:xfrm>
              <a:off x="2416742" y="3786350"/>
              <a:ext cx="1737360" cy="780415"/>
            </a:xfrm>
            <a:custGeom>
              <a:avLst/>
              <a:gdLst/>
              <a:ahLst/>
              <a:cxnLst/>
              <a:rect l="l" t="t" r="r" b="b"/>
              <a:pathLst>
                <a:path w="1737360" h="780414">
                  <a:moveTo>
                    <a:pt x="1625266" y="0"/>
                  </a:moveTo>
                  <a:lnTo>
                    <a:pt x="1565661" y="137"/>
                  </a:lnTo>
                  <a:lnTo>
                    <a:pt x="1514164" y="1106"/>
                  </a:lnTo>
                  <a:lnTo>
                    <a:pt x="1475994" y="3637"/>
                  </a:lnTo>
                  <a:lnTo>
                    <a:pt x="1411170" y="15770"/>
                  </a:lnTo>
                  <a:lnTo>
                    <a:pt x="1371936" y="19965"/>
                  </a:lnTo>
                  <a:lnTo>
                    <a:pt x="1321996" y="21139"/>
                  </a:lnTo>
                  <a:lnTo>
                    <a:pt x="1265499" y="20793"/>
                  </a:lnTo>
                  <a:lnTo>
                    <a:pt x="1156938" y="18848"/>
                  </a:lnTo>
                  <a:lnTo>
                    <a:pt x="1113659" y="17741"/>
                  </a:lnTo>
                  <a:lnTo>
                    <a:pt x="1037732" y="14694"/>
                  </a:lnTo>
                  <a:lnTo>
                    <a:pt x="998175" y="14416"/>
                  </a:lnTo>
                  <a:lnTo>
                    <a:pt x="956885" y="16424"/>
                  </a:lnTo>
                  <a:lnTo>
                    <a:pt x="915243" y="19959"/>
                  </a:lnTo>
                  <a:lnTo>
                    <a:pt x="871122" y="22942"/>
                  </a:lnTo>
                  <a:lnTo>
                    <a:pt x="822395" y="23293"/>
                  </a:lnTo>
                  <a:lnTo>
                    <a:pt x="776897" y="19849"/>
                  </a:lnTo>
                  <a:lnTo>
                    <a:pt x="726046" y="13674"/>
                  </a:lnTo>
                  <a:lnTo>
                    <a:pt x="674128" y="7003"/>
                  </a:lnTo>
                  <a:lnTo>
                    <a:pt x="625432" y="2069"/>
                  </a:lnTo>
                  <a:lnTo>
                    <a:pt x="584244" y="1106"/>
                  </a:lnTo>
                  <a:lnTo>
                    <a:pt x="546902" y="8275"/>
                  </a:lnTo>
                  <a:lnTo>
                    <a:pt x="519393" y="21299"/>
                  </a:lnTo>
                  <a:lnTo>
                    <a:pt x="493478" y="34114"/>
                  </a:lnTo>
                  <a:lnTo>
                    <a:pt x="460915" y="40654"/>
                  </a:lnTo>
                  <a:lnTo>
                    <a:pt x="420451" y="36885"/>
                  </a:lnTo>
                  <a:lnTo>
                    <a:pt x="376042" y="26843"/>
                  </a:lnTo>
                  <a:lnTo>
                    <a:pt x="327293" y="16590"/>
                  </a:lnTo>
                  <a:lnTo>
                    <a:pt x="273806" y="12193"/>
                  </a:lnTo>
                  <a:lnTo>
                    <a:pt x="231145" y="11606"/>
                  </a:lnTo>
                  <a:lnTo>
                    <a:pt x="181240" y="10555"/>
                  </a:lnTo>
                  <a:lnTo>
                    <a:pt x="129210" y="11228"/>
                  </a:lnTo>
                  <a:lnTo>
                    <a:pt x="80172" y="15812"/>
                  </a:lnTo>
                  <a:lnTo>
                    <a:pt x="39246" y="26496"/>
                  </a:lnTo>
                  <a:lnTo>
                    <a:pt x="0" y="76692"/>
                  </a:lnTo>
                  <a:lnTo>
                    <a:pt x="1049" y="119223"/>
                  </a:lnTo>
                  <a:lnTo>
                    <a:pt x="10131" y="167852"/>
                  </a:lnTo>
                  <a:lnTo>
                    <a:pt x="34123" y="262589"/>
                  </a:lnTo>
                  <a:lnTo>
                    <a:pt x="39897" y="298286"/>
                  </a:lnTo>
                  <a:lnTo>
                    <a:pt x="39725" y="332138"/>
                  </a:lnTo>
                  <a:lnTo>
                    <a:pt x="36360" y="352893"/>
                  </a:lnTo>
                  <a:lnTo>
                    <a:pt x="31928" y="370738"/>
                  </a:lnTo>
                  <a:lnTo>
                    <a:pt x="28556" y="395860"/>
                  </a:lnTo>
                  <a:lnTo>
                    <a:pt x="26608" y="434220"/>
                  </a:lnTo>
                  <a:lnTo>
                    <a:pt x="25014" y="479304"/>
                  </a:lnTo>
                  <a:lnTo>
                    <a:pt x="22892" y="555537"/>
                  </a:lnTo>
                  <a:lnTo>
                    <a:pt x="33344" y="604809"/>
                  </a:lnTo>
                  <a:lnTo>
                    <a:pt x="46279" y="658656"/>
                  </a:lnTo>
                  <a:lnTo>
                    <a:pt x="65947" y="707515"/>
                  </a:lnTo>
                  <a:lnTo>
                    <a:pt x="96602" y="741821"/>
                  </a:lnTo>
                  <a:lnTo>
                    <a:pt x="175759" y="756266"/>
                  </a:lnTo>
                  <a:lnTo>
                    <a:pt x="224522" y="752578"/>
                  </a:lnTo>
                  <a:lnTo>
                    <a:pt x="274874" y="747719"/>
                  </a:lnTo>
                  <a:lnTo>
                    <a:pt x="323412" y="746266"/>
                  </a:lnTo>
                  <a:lnTo>
                    <a:pt x="369954" y="748851"/>
                  </a:lnTo>
                  <a:lnTo>
                    <a:pt x="464127" y="756049"/>
                  </a:lnTo>
                  <a:lnTo>
                    <a:pt x="512301" y="758746"/>
                  </a:lnTo>
                  <a:lnTo>
                    <a:pt x="561562" y="759563"/>
                  </a:lnTo>
                  <a:lnTo>
                    <a:pt x="612003" y="757151"/>
                  </a:lnTo>
                  <a:lnTo>
                    <a:pt x="663445" y="752147"/>
                  </a:lnTo>
                  <a:lnTo>
                    <a:pt x="715748" y="746575"/>
                  </a:lnTo>
                  <a:lnTo>
                    <a:pt x="768777" y="742459"/>
                  </a:lnTo>
                  <a:lnTo>
                    <a:pt x="822395" y="741821"/>
                  </a:lnTo>
                  <a:lnTo>
                    <a:pt x="867848" y="745118"/>
                  </a:lnTo>
                  <a:lnTo>
                    <a:pt x="914168" y="751187"/>
                  </a:lnTo>
                  <a:lnTo>
                    <a:pt x="1007833" y="766465"/>
                  </a:lnTo>
                  <a:lnTo>
                    <a:pt x="1054388" y="773087"/>
                  </a:lnTo>
                  <a:lnTo>
                    <a:pt x="1100233" y="777305"/>
                  </a:lnTo>
                  <a:lnTo>
                    <a:pt x="1153172" y="779472"/>
                  </a:lnTo>
                  <a:lnTo>
                    <a:pt x="1204388" y="779899"/>
                  </a:lnTo>
                  <a:lnTo>
                    <a:pt x="1255784" y="778800"/>
                  </a:lnTo>
                  <a:lnTo>
                    <a:pt x="1309267" y="776386"/>
                  </a:lnTo>
                  <a:lnTo>
                    <a:pt x="1366742" y="772872"/>
                  </a:lnTo>
                  <a:lnTo>
                    <a:pt x="1413638" y="772109"/>
                  </a:lnTo>
                  <a:lnTo>
                    <a:pt x="1521419" y="775899"/>
                  </a:lnTo>
                  <a:lnTo>
                    <a:pt x="1575757" y="775641"/>
                  </a:lnTo>
                  <a:lnTo>
                    <a:pt x="1626030" y="770740"/>
                  </a:lnTo>
                  <a:lnTo>
                    <a:pt x="1668964" y="758791"/>
                  </a:lnTo>
                  <a:lnTo>
                    <a:pt x="1701286" y="737388"/>
                  </a:lnTo>
                  <a:lnTo>
                    <a:pt x="1721774" y="703727"/>
                  </a:lnTo>
                  <a:lnTo>
                    <a:pt x="1732940" y="659010"/>
                  </a:lnTo>
                  <a:lnTo>
                    <a:pt x="1737088" y="606845"/>
                  </a:lnTo>
                  <a:lnTo>
                    <a:pt x="1736526" y="550840"/>
                  </a:lnTo>
                  <a:lnTo>
                    <a:pt x="1733558" y="494603"/>
                  </a:lnTo>
                  <a:lnTo>
                    <a:pt x="1730492" y="441740"/>
                  </a:lnTo>
                  <a:lnTo>
                    <a:pt x="1729632" y="395860"/>
                  </a:lnTo>
                  <a:lnTo>
                    <a:pt x="1729296" y="340619"/>
                  </a:lnTo>
                  <a:lnTo>
                    <a:pt x="1726374" y="289954"/>
                  </a:lnTo>
                  <a:lnTo>
                    <a:pt x="1718307" y="200796"/>
                  </a:lnTo>
                  <a:lnTo>
                    <a:pt x="1715929" y="161520"/>
                  </a:lnTo>
                  <a:lnTo>
                    <a:pt x="1720218" y="116465"/>
                  </a:lnTo>
                  <a:lnTo>
                    <a:pt x="1728983" y="76606"/>
                  </a:lnTo>
                  <a:lnTo>
                    <a:pt x="1731811" y="43535"/>
                  </a:lnTo>
                  <a:lnTo>
                    <a:pt x="1718291" y="18848"/>
                  </a:lnTo>
                  <a:lnTo>
                    <a:pt x="1680352" y="4851"/>
                  </a:lnTo>
                  <a:lnTo>
                    <a:pt x="1625266" y="0"/>
                  </a:lnTo>
                  <a:close/>
                </a:path>
              </a:pathLst>
            </a:custGeom>
            <a:solidFill>
              <a:srgbClr val="FF99CC">
                <a:alpha val="39999"/>
              </a:srgbClr>
            </a:solidFill>
          </p:spPr>
          <p:txBody>
            <a:bodyPr wrap="square" lIns="0" tIns="0" rIns="0" bIns="0" rtlCol="0"/>
            <a:lstStyle/>
            <a:p/>
          </p:txBody>
        </p:sp>
        <p:sp>
          <p:nvSpPr>
            <p:cNvPr id="82" name="object 82" descr=""/>
            <p:cNvSpPr/>
            <p:nvPr/>
          </p:nvSpPr>
          <p:spPr>
            <a:xfrm>
              <a:off x="2475357" y="3830370"/>
              <a:ext cx="1688464" cy="697230"/>
            </a:xfrm>
            <a:custGeom>
              <a:avLst/>
              <a:gdLst/>
              <a:ahLst/>
              <a:cxnLst/>
              <a:rect l="l" t="t" r="r" b="b"/>
              <a:pathLst>
                <a:path w="1688464" h="697229">
                  <a:moveTo>
                    <a:pt x="0" y="0"/>
                  </a:moveTo>
                  <a:lnTo>
                    <a:pt x="1688147" y="0"/>
                  </a:lnTo>
                  <a:lnTo>
                    <a:pt x="1688147" y="696798"/>
                  </a:lnTo>
                  <a:lnTo>
                    <a:pt x="0" y="696798"/>
                  </a:lnTo>
                  <a:lnTo>
                    <a:pt x="0" y="0"/>
                  </a:lnTo>
                  <a:close/>
                </a:path>
              </a:pathLst>
            </a:custGeom>
            <a:ln w="38099">
              <a:solidFill>
                <a:srgbClr val="000000"/>
              </a:solidFill>
            </a:ln>
          </p:spPr>
          <p:txBody>
            <a:bodyPr wrap="square" lIns="0" tIns="0" rIns="0" bIns="0" rtlCol="0"/>
            <a:lstStyle/>
            <a:p/>
          </p:txBody>
        </p:sp>
        <p:pic>
          <p:nvPicPr>
            <p:cNvPr id="83" name="object 83"/>
            <p:cNvPicPr/>
            <p:nvPr/>
          </p:nvPicPr>
          <p:blipFill>
            <a:blip r:embed="rId8" cstate="print"/>
            <a:stretch>
              <a:fillRect/>
            </a:stretch>
          </p:blipFill>
          <p:spPr>
            <a:xfrm>
              <a:off x="3506997" y="4080508"/>
              <a:ext cx="323855" cy="196532"/>
            </a:xfrm>
            <a:prstGeom prst="rect">
              <a:avLst/>
            </a:prstGeom>
          </p:spPr>
        </p:pic>
        <p:sp>
          <p:nvSpPr>
            <p:cNvPr id="84" name="object 84" descr=""/>
            <p:cNvSpPr/>
            <p:nvPr/>
          </p:nvSpPr>
          <p:spPr>
            <a:xfrm>
              <a:off x="2680509" y="3976287"/>
              <a:ext cx="1273810" cy="0"/>
            </a:xfrm>
            <a:custGeom>
              <a:avLst/>
              <a:gdLst/>
              <a:ahLst/>
              <a:cxnLst/>
              <a:rect l="l" t="t" r="r" b="b"/>
              <a:pathLst>
                <a:path w="1273810" h="0">
                  <a:moveTo>
                    <a:pt x="0" y="0"/>
                  </a:moveTo>
                  <a:lnTo>
                    <a:pt x="1273441" y="0"/>
                  </a:lnTo>
                </a:path>
              </a:pathLst>
            </a:custGeom>
            <a:ln w="28575">
              <a:solidFill>
                <a:srgbClr val="000000"/>
              </a:solidFill>
            </a:ln>
          </p:spPr>
          <p:txBody>
            <a:bodyPr wrap="square" lIns="0" tIns="0" rIns="0" bIns="0" rtlCol="0"/>
            <a:lstStyle/>
            <a:p/>
          </p:txBody>
        </p:sp>
        <p:sp>
          <p:nvSpPr>
            <p:cNvPr id="85" name="object 85" descr=""/>
            <p:cNvSpPr/>
            <p:nvPr/>
          </p:nvSpPr>
          <p:spPr>
            <a:xfrm>
              <a:off x="2681485" y="4381634"/>
              <a:ext cx="1273810" cy="0"/>
            </a:xfrm>
            <a:custGeom>
              <a:avLst/>
              <a:gdLst/>
              <a:ahLst/>
              <a:cxnLst/>
              <a:rect l="l" t="t" r="r" b="b"/>
              <a:pathLst>
                <a:path w="1273810" h="0">
                  <a:moveTo>
                    <a:pt x="0" y="0"/>
                  </a:moveTo>
                  <a:lnTo>
                    <a:pt x="1273441" y="0"/>
                  </a:lnTo>
                </a:path>
              </a:pathLst>
            </a:custGeom>
            <a:ln w="28575">
              <a:solidFill>
                <a:srgbClr val="000000"/>
              </a:solidFill>
            </a:ln>
          </p:spPr>
          <p:txBody>
            <a:bodyPr wrap="square" lIns="0" tIns="0" rIns="0" bIns="0" rtlCol="0"/>
            <a:lstStyle/>
            <a:p/>
          </p:txBody>
        </p:sp>
        <p:sp>
          <p:nvSpPr>
            <p:cNvPr id="86" name="object 86" descr=""/>
            <p:cNvSpPr/>
            <p:nvPr/>
          </p:nvSpPr>
          <p:spPr>
            <a:xfrm>
              <a:off x="2831439" y="4061142"/>
              <a:ext cx="554355" cy="234950"/>
            </a:xfrm>
            <a:custGeom>
              <a:avLst/>
              <a:gdLst/>
              <a:ahLst/>
              <a:cxnLst/>
              <a:rect l="l" t="t" r="r" b="b"/>
              <a:pathLst>
                <a:path w="554354" h="234950">
                  <a:moveTo>
                    <a:pt x="528523" y="25400"/>
                  </a:moveTo>
                  <a:lnTo>
                    <a:pt x="25400" y="25400"/>
                  </a:lnTo>
                  <a:lnTo>
                    <a:pt x="25400" y="38100"/>
                  </a:lnTo>
                  <a:lnTo>
                    <a:pt x="25400" y="196850"/>
                  </a:lnTo>
                  <a:lnTo>
                    <a:pt x="25400" y="209550"/>
                  </a:lnTo>
                  <a:lnTo>
                    <a:pt x="528523" y="209550"/>
                  </a:lnTo>
                  <a:lnTo>
                    <a:pt x="528523" y="196850"/>
                  </a:lnTo>
                  <a:lnTo>
                    <a:pt x="528523" y="38417"/>
                  </a:lnTo>
                  <a:lnTo>
                    <a:pt x="515823" y="38417"/>
                  </a:lnTo>
                  <a:lnTo>
                    <a:pt x="515823" y="196850"/>
                  </a:lnTo>
                  <a:lnTo>
                    <a:pt x="38100" y="196850"/>
                  </a:lnTo>
                  <a:lnTo>
                    <a:pt x="38100" y="38100"/>
                  </a:lnTo>
                  <a:lnTo>
                    <a:pt x="528523" y="38100"/>
                  </a:lnTo>
                  <a:lnTo>
                    <a:pt x="528523" y="25400"/>
                  </a:lnTo>
                  <a:close/>
                </a:path>
                <a:path w="554354" h="234950">
                  <a:moveTo>
                    <a:pt x="553923" y="0"/>
                  </a:moveTo>
                  <a:lnTo>
                    <a:pt x="541223" y="0"/>
                  </a:lnTo>
                  <a:lnTo>
                    <a:pt x="541223" y="12700"/>
                  </a:lnTo>
                  <a:lnTo>
                    <a:pt x="541223" y="222250"/>
                  </a:lnTo>
                  <a:lnTo>
                    <a:pt x="19050" y="222250"/>
                  </a:lnTo>
                  <a:lnTo>
                    <a:pt x="12700" y="222250"/>
                  </a:lnTo>
                  <a:lnTo>
                    <a:pt x="12700" y="12700"/>
                  </a:lnTo>
                  <a:lnTo>
                    <a:pt x="541223" y="12700"/>
                  </a:lnTo>
                  <a:lnTo>
                    <a:pt x="541223" y="0"/>
                  </a:lnTo>
                  <a:lnTo>
                    <a:pt x="0" y="0"/>
                  </a:lnTo>
                  <a:lnTo>
                    <a:pt x="0" y="12700"/>
                  </a:lnTo>
                  <a:lnTo>
                    <a:pt x="0" y="222250"/>
                  </a:lnTo>
                  <a:lnTo>
                    <a:pt x="0" y="234950"/>
                  </a:lnTo>
                  <a:lnTo>
                    <a:pt x="19050" y="234950"/>
                  </a:lnTo>
                  <a:lnTo>
                    <a:pt x="553923" y="234950"/>
                  </a:lnTo>
                  <a:lnTo>
                    <a:pt x="553923" y="222250"/>
                  </a:lnTo>
                  <a:lnTo>
                    <a:pt x="553923" y="12700"/>
                  </a:lnTo>
                  <a:lnTo>
                    <a:pt x="553923" y="0"/>
                  </a:lnTo>
                  <a:close/>
                </a:path>
              </a:pathLst>
            </a:custGeom>
            <a:solidFill>
              <a:srgbClr val="000000"/>
            </a:solidFill>
          </p:spPr>
          <p:txBody>
            <a:bodyPr wrap="square" lIns="0" tIns="0" rIns="0" bIns="0" rtlCol="0"/>
            <a:lstStyle/>
            <a:p/>
          </p:txBody>
        </p:sp>
        <p:sp>
          <p:nvSpPr>
            <p:cNvPr id="87" name="object 87" descr=""/>
            <p:cNvSpPr/>
            <p:nvPr/>
          </p:nvSpPr>
          <p:spPr>
            <a:xfrm>
              <a:off x="2686369" y="3974053"/>
              <a:ext cx="0" cy="409575"/>
            </a:xfrm>
            <a:custGeom>
              <a:avLst/>
              <a:gdLst/>
              <a:ahLst/>
              <a:cxnLst/>
              <a:rect l="l" t="t" r="r" b="b"/>
              <a:pathLst>
                <a:path w="0" h="409575">
                  <a:moveTo>
                    <a:pt x="0" y="0"/>
                  </a:moveTo>
                  <a:lnTo>
                    <a:pt x="0" y="409067"/>
                  </a:lnTo>
                </a:path>
              </a:pathLst>
            </a:custGeom>
            <a:ln w="28575">
              <a:solidFill>
                <a:srgbClr val="000000"/>
              </a:solidFill>
            </a:ln>
          </p:spPr>
          <p:txBody>
            <a:bodyPr wrap="square" lIns="0" tIns="0" rIns="0" bIns="0" rtlCol="0"/>
            <a:lstStyle/>
            <a:p/>
          </p:txBody>
        </p:sp>
        <p:sp>
          <p:nvSpPr>
            <p:cNvPr id="88" name="object 88" descr=""/>
            <p:cNvSpPr/>
            <p:nvPr/>
          </p:nvSpPr>
          <p:spPr>
            <a:xfrm>
              <a:off x="3954434" y="3974053"/>
              <a:ext cx="0" cy="409575"/>
            </a:xfrm>
            <a:custGeom>
              <a:avLst/>
              <a:gdLst/>
              <a:ahLst/>
              <a:cxnLst/>
              <a:rect l="l" t="t" r="r" b="b"/>
              <a:pathLst>
                <a:path w="0" h="409575">
                  <a:moveTo>
                    <a:pt x="0" y="0"/>
                  </a:moveTo>
                  <a:lnTo>
                    <a:pt x="0" y="409067"/>
                  </a:lnTo>
                </a:path>
              </a:pathLst>
            </a:custGeom>
            <a:ln w="28575">
              <a:solidFill>
                <a:srgbClr val="000000"/>
              </a:solidFill>
            </a:ln>
          </p:spPr>
          <p:txBody>
            <a:bodyPr wrap="square" lIns="0" tIns="0" rIns="0" bIns="0" rtlCol="0"/>
            <a:lstStyle/>
            <a:p/>
          </p:txBody>
        </p:sp>
        <p:sp>
          <p:nvSpPr>
            <p:cNvPr id="89" name="object 89" descr=""/>
            <p:cNvSpPr/>
            <p:nvPr/>
          </p:nvSpPr>
          <p:spPr>
            <a:xfrm>
              <a:off x="2475344" y="3830383"/>
              <a:ext cx="1688464" cy="697230"/>
            </a:xfrm>
            <a:custGeom>
              <a:avLst/>
              <a:gdLst/>
              <a:ahLst/>
              <a:cxnLst/>
              <a:rect l="l" t="t" r="r" b="b"/>
              <a:pathLst>
                <a:path w="1688464" h="697229">
                  <a:moveTo>
                    <a:pt x="205651" y="553859"/>
                  </a:moveTo>
                  <a:lnTo>
                    <a:pt x="192951" y="553859"/>
                  </a:lnTo>
                  <a:lnTo>
                    <a:pt x="192951" y="696798"/>
                  </a:lnTo>
                  <a:lnTo>
                    <a:pt x="205651" y="696798"/>
                  </a:lnTo>
                  <a:lnTo>
                    <a:pt x="205651" y="553859"/>
                  </a:lnTo>
                  <a:close/>
                </a:path>
                <a:path w="1688464" h="697229">
                  <a:moveTo>
                    <a:pt x="206629" y="0"/>
                  </a:moveTo>
                  <a:lnTo>
                    <a:pt x="193929" y="0"/>
                  </a:lnTo>
                  <a:lnTo>
                    <a:pt x="193929" y="142938"/>
                  </a:lnTo>
                  <a:lnTo>
                    <a:pt x="206629" y="142938"/>
                  </a:lnTo>
                  <a:lnTo>
                    <a:pt x="206629" y="0"/>
                  </a:lnTo>
                  <a:close/>
                </a:path>
                <a:path w="1688464" h="697229">
                  <a:moveTo>
                    <a:pt x="211023" y="488746"/>
                  </a:moveTo>
                  <a:lnTo>
                    <a:pt x="0" y="488746"/>
                  </a:lnTo>
                  <a:lnTo>
                    <a:pt x="0" y="501446"/>
                  </a:lnTo>
                  <a:lnTo>
                    <a:pt x="211023" y="501446"/>
                  </a:lnTo>
                  <a:lnTo>
                    <a:pt x="211023" y="488746"/>
                  </a:lnTo>
                  <a:close/>
                </a:path>
                <a:path w="1688464" h="697229">
                  <a:moveTo>
                    <a:pt x="211023" y="463346"/>
                  </a:moveTo>
                  <a:lnTo>
                    <a:pt x="0" y="463346"/>
                  </a:lnTo>
                  <a:lnTo>
                    <a:pt x="0" y="476046"/>
                  </a:lnTo>
                  <a:lnTo>
                    <a:pt x="211023" y="476046"/>
                  </a:lnTo>
                  <a:lnTo>
                    <a:pt x="211023" y="463346"/>
                  </a:lnTo>
                  <a:close/>
                </a:path>
                <a:path w="1688464" h="697229">
                  <a:moveTo>
                    <a:pt x="211023" y="345808"/>
                  </a:moveTo>
                  <a:lnTo>
                    <a:pt x="0" y="345808"/>
                  </a:lnTo>
                  <a:lnTo>
                    <a:pt x="0" y="358508"/>
                  </a:lnTo>
                  <a:lnTo>
                    <a:pt x="211023" y="358508"/>
                  </a:lnTo>
                  <a:lnTo>
                    <a:pt x="211023" y="345808"/>
                  </a:lnTo>
                  <a:close/>
                </a:path>
                <a:path w="1688464" h="697229">
                  <a:moveTo>
                    <a:pt x="211023" y="320408"/>
                  </a:moveTo>
                  <a:lnTo>
                    <a:pt x="0" y="320408"/>
                  </a:lnTo>
                  <a:lnTo>
                    <a:pt x="0" y="333108"/>
                  </a:lnTo>
                  <a:lnTo>
                    <a:pt x="211023" y="333108"/>
                  </a:lnTo>
                  <a:lnTo>
                    <a:pt x="211023" y="320408"/>
                  </a:lnTo>
                  <a:close/>
                </a:path>
                <a:path w="1688464" h="697229">
                  <a:moveTo>
                    <a:pt x="211023" y="220751"/>
                  </a:moveTo>
                  <a:lnTo>
                    <a:pt x="0" y="220751"/>
                  </a:lnTo>
                  <a:lnTo>
                    <a:pt x="0" y="233451"/>
                  </a:lnTo>
                  <a:lnTo>
                    <a:pt x="211023" y="233451"/>
                  </a:lnTo>
                  <a:lnTo>
                    <a:pt x="211023" y="220751"/>
                  </a:lnTo>
                  <a:close/>
                </a:path>
                <a:path w="1688464" h="697229">
                  <a:moveTo>
                    <a:pt x="211023" y="195351"/>
                  </a:moveTo>
                  <a:lnTo>
                    <a:pt x="0" y="195351"/>
                  </a:lnTo>
                  <a:lnTo>
                    <a:pt x="0" y="208051"/>
                  </a:lnTo>
                  <a:lnTo>
                    <a:pt x="211023" y="208051"/>
                  </a:lnTo>
                  <a:lnTo>
                    <a:pt x="211023" y="195351"/>
                  </a:lnTo>
                  <a:close/>
                </a:path>
                <a:path w="1688464" h="697229">
                  <a:moveTo>
                    <a:pt x="231051" y="553859"/>
                  </a:moveTo>
                  <a:lnTo>
                    <a:pt x="218351" y="553859"/>
                  </a:lnTo>
                  <a:lnTo>
                    <a:pt x="218351" y="696798"/>
                  </a:lnTo>
                  <a:lnTo>
                    <a:pt x="231051" y="696798"/>
                  </a:lnTo>
                  <a:lnTo>
                    <a:pt x="231051" y="553859"/>
                  </a:lnTo>
                  <a:close/>
                </a:path>
                <a:path w="1688464" h="697229">
                  <a:moveTo>
                    <a:pt x="232029" y="0"/>
                  </a:moveTo>
                  <a:lnTo>
                    <a:pt x="219329" y="0"/>
                  </a:lnTo>
                  <a:lnTo>
                    <a:pt x="219329" y="142938"/>
                  </a:lnTo>
                  <a:lnTo>
                    <a:pt x="232029" y="142938"/>
                  </a:lnTo>
                  <a:lnTo>
                    <a:pt x="232029" y="0"/>
                  </a:lnTo>
                  <a:close/>
                </a:path>
                <a:path w="1688464" h="697229">
                  <a:moveTo>
                    <a:pt x="457695" y="553859"/>
                  </a:moveTo>
                  <a:lnTo>
                    <a:pt x="444995" y="553859"/>
                  </a:lnTo>
                  <a:lnTo>
                    <a:pt x="444995" y="696798"/>
                  </a:lnTo>
                  <a:lnTo>
                    <a:pt x="457695" y="696798"/>
                  </a:lnTo>
                  <a:lnTo>
                    <a:pt x="457695" y="553859"/>
                  </a:lnTo>
                  <a:close/>
                </a:path>
                <a:path w="1688464" h="697229">
                  <a:moveTo>
                    <a:pt x="483095" y="553859"/>
                  </a:moveTo>
                  <a:lnTo>
                    <a:pt x="470395" y="553859"/>
                  </a:lnTo>
                  <a:lnTo>
                    <a:pt x="470395" y="696798"/>
                  </a:lnTo>
                  <a:lnTo>
                    <a:pt x="483095" y="696798"/>
                  </a:lnTo>
                  <a:lnTo>
                    <a:pt x="483095" y="553859"/>
                  </a:lnTo>
                  <a:close/>
                </a:path>
                <a:path w="1688464" h="697229">
                  <a:moveTo>
                    <a:pt x="556374" y="251625"/>
                  </a:moveTo>
                  <a:lnTo>
                    <a:pt x="543674" y="251625"/>
                  </a:lnTo>
                  <a:lnTo>
                    <a:pt x="543674" y="340956"/>
                  </a:lnTo>
                  <a:lnTo>
                    <a:pt x="556374" y="340956"/>
                  </a:lnTo>
                  <a:lnTo>
                    <a:pt x="556374" y="251625"/>
                  </a:lnTo>
                  <a:close/>
                </a:path>
                <a:path w="1688464" h="697229">
                  <a:moveTo>
                    <a:pt x="581774" y="251625"/>
                  </a:moveTo>
                  <a:lnTo>
                    <a:pt x="569074" y="251625"/>
                  </a:lnTo>
                  <a:lnTo>
                    <a:pt x="569074" y="340956"/>
                  </a:lnTo>
                  <a:lnTo>
                    <a:pt x="581774" y="340956"/>
                  </a:lnTo>
                  <a:lnTo>
                    <a:pt x="581774" y="251625"/>
                  </a:lnTo>
                  <a:close/>
                </a:path>
                <a:path w="1688464" h="697229">
                  <a:moveTo>
                    <a:pt x="626706" y="0"/>
                  </a:moveTo>
                  <a:lnTo>
                    <a:pt x="614006" y="0"/>
                  </a:lnTo>
                  <a:lnTo>
                    <a:pt x="614006" y="142938"/>
                  </a:lnTo>
                  <a:lnTo>
                    <a:pt x="626706" y="142938"/>
                  </a:lnTo>
                  <a:lnTo>
                    <a:pt x="626706" y="0"/>
                  </a:lnTo>
                  <a:close/>
                </a:path>
                <a:path w="1688464" h="697229">
                  <a:moveTo>
                    <a:pt x="652106" y="0"/>
                  </a:moveTo>
                  <a:lnTo>
                    <a:pt x="639406" y="0"/>
                  </a:lnTo>
                  <a:lnTo>
                    <a:pt x="639406" y="142938"/>
                  </a:lnTo>
                  <a:lnTo>
                    <a:pt x="652106" y="142938"/>
                  </a:lnTo>
                  <a:lnTo>
                    <a:pt x="652106" y="0"/>
                  </a:lnTo>
                  <a:close/>
                </a:path>
                <a:path w="1688464" h="697229">
                  <a:moveTo>
                    <a:pt x="710730" y="553859"/>
                  </a:moveTo>
                  <a:lnTo>
                    <a:pt x="698030" y="553859"/>
                  </a:lnTo>
                  <a:lnTo>
                    <a:pt x="698030" y="696798"/>
                  </a:lnTo>
                  <a:lnTo>
                    <a:pt x="710730" y="696798"/>
                  </a:lnTo>
                  <a:lnTo>
                    <a:pt x="710730" y="553859"/>
                  </a:lnTo>
                  <a:close/>
                </a:path>
                <a:path w="1688464" h="697229">
                  <a:moveTo>
                    <a:pt x="736130" y="553859"/>
                  </a:moveTo>
                  <a:lnTo>
                    <a:pt x="723430" y="553859"/>
                  </a:lnTo>
                  <a:lnTo>
                    <a:pt x="723430" y="696798"/>
                  </a:lnTo>
                  <a:lnTo>
                    <a:pt x="736130" y="696798"/>
                  </a:lnTo>
                  <a:lnTo>
                    <a:pt x="736130" y="553859"/>
                  </a:lnTo>
                  <a:close/>
                </a:path>
                <a:path w="1688464" h="697229">
                  <a:moveTo>
                    <a:pt x="837730" y="0"/>
                  </a:moveTo>
                  <a:lnTo>
                    <a:pt x="825030" y="0"/>
                  </a:lnTo>
                  <a:lnTo>
                    <a:pt x="825030" y="142938"/>
                  </a:lnTo>
                  <a:lnTo>
                    <a:pt x="837730" y="142938"/>
                  </a:lnTo>
                  <a:lnTo>
                    <a:pt x="837730" y="0"/>
                  </a:lnTo>
                  <a:close/>
                </a:path>
                <a:path w="1688464" h="697229">
                  <a:moveTo>
                    <a:pt x="863130" y="0"/>
                  </a:moveTo>
                  <a:lnTo>
                    <a:pt x="850430" y="0"/>
                  </a:lnTo>
                  <a:lnTo>
                    <a:pt x="850430" y="142938"/>
                  </a:lnTo>
                  <a:lnTo>
                    <a:pt x="863130" y="142938"/>
                  </a:lnTo>
                  <a:lnTo>
                    <a:pt x="863130" y="0"/>
                  </a:lnTo>
                  <a:close/>
                </a:path>
                <a:path w="1688464" h="697229">
                  <a:moveTo>
                    <a:pt x="964234" y="553859"/>
                  </a:moveTo>
                  <a:lnTo>
                    <a:pt x="951534" y="553859"/>
                  </a:lnTo>
                  <a:lnTo>
                    <a:pt x="951534" y="696798"/>
                  </a:lnTo>
                  <a:lnTo>
                    <a:pt x="964234" y="696798"/>
                  </a:lnTo>
                  <a:lnTo>
                    <a:pt x="964234" y="553859"/>
                  </a:lnTo>
                  <a:close/>
                </a:path>
                <a:path w="1688464" h="697229">
                  <a:moveTo>
                    <a:pt x="989634" y="553859"/>
                  </a:moveTo>
                  <a:lnTo>
                    <a:pt x="976934" y="553859"/>
                  </a:lnTo>
                  <a:lnTo>
                    <a:pt x="976934" y="696798"/>
                  </a:lnTo>
                  <a:lnTo>
                    <a:pt x="989634" y="696798"/>
                  </a:lnTo>
                  <a:lnTo>
                    <a:pt x="989634" y="553859"/>
                  </a:lnTo>
                  <a:close/>
                </a:path>
                <a:path w="1688464" h="697229">
                  <a:moveTo>
                    <a:pt x="1048740" y="0"/>
                  </a:moveTo>
                  <a:lnTo>
                    <a:pt x="1036040" y="0"/>
                  </a:lnTo>
                  <a:lnTo>
                    <a:pt x="1036040" y="142938"/>
                  </a:lnTo>
                  <a:lnTo>
                    <a:pt x="1048740" y="142938"/>
                  </a:lnTo>
                  <a:lnTo>
                    <a:pt x="1048740" y="0"/>
                  </a:lnTo>
                  <a:close/>
                </a:path>
                <a:path w="1688464" h="697229">
                  <a:moveTo>
                    <a:pt x="1074140" y="0"/>
                  </a:moveTo>
                  <a:lnTo>
                    <a:pt x="1061440" y="0"/>
                  </a:lnTo>
                  <a:lnTo>
                    <a:pt x="1061440" y="142938"/>
                  </a:lnTo>
                  <a:lnTo>
                    <a:pt x="1074140" y="142938"/>
                  </a:lnTo>
                  <a:lnTo>
                    <a:pt x="1074140" y="0"/>
                  </a:lnTo>
                  <a:close/>
                </a:path>
                <a:path w="1688464" h="697229">
                  <a:moveTo>
                    <a:pt x="1217269" y="553859"/>
                  </a:moveTo>
                  <a:lnTo>
                    <a:pt x="1204569" y="553859"/>
                  </a:lnTo>
                  <a:lnTo>
                    <a:pt x="1204569" y="696798"/>
                  </a:lnTo>
                  <a:lnTo>
                    <a:pt x="1217269" y="696798"/>
                  </a:lnTo>
                  <a:lnTo>
                    <a:pt x="1217269" y="553859"/>
                  </a:lnTo>
                  <a:close/>
                </a:path>
                <a:path w="1688464" h="697229">
                  <a:moveTo>
                    <a:pt x="1242669" y="553859"/>
                  </a:moveTo>
                  <a:lnTo>
                    <a:pt x="1229969" y="553859"/>
                  </a:lnTo>
                  <a:lnTo>
                    <a:pt x="1229969" y="696798"/>
                  </a:lnTo>
                  <a:lnTo>
                    <a:pt x="1242669" y="696798"/>
                  </a:lnTo>
                  <a:lnTo>
                    <a:pt x="1242669" y="553859"/>
                  </a:lnTo>
                  <a:close/>
                </a:path>
                <a:path w="1688464" h="697229">
                  <a:moveTo>
                    <a:pt x="1259763" y="0"/>
                  </a:moveTo>
                  <a:lnTo>
                    <a:pt x="1247063" y="0"/>
                  </a:lnTo>
                  <a:lnTo>
                    <a:pt x="1247063" y="142938"/>
                  </a:lnTo>
                  <a:lnTo>
                    <a:pt x="1259763" y="142938"/>
                  </a:lnTo>
                  <a:lnTo>
                    <a:pt x="1259763" y="0"/>
                  </a:lnTo>
                  <a:close/>
                </a:path>
                <a:path w="1688464" h="697229">
                  <a:moveTo>
                    <a:pt x="1285163" y="0"/>
                  </a:moveTo>
                  <a:lnTo>
                    <a:pt x="1272463" y="0"/>
                  </a:lnTo>
                  <a:lnTo>
                    <a:pt x="1272463" y="142938"/>
                  </a:lnTo>
                  <a:lnTo>
                    <a:pt x="1285163" y="142938"/>
                  </a:lnTo>
                  <a:lnTo>
                    <a:pt x="1285163" y="0"/>
                  </a:lnTo>
                  <a:close/>
                </a:path>
                <a:path w="1688464" h="697229">
                  <a:moveTo>
                    <a:pt x="1470787" y="553859"/>
                  </a:moveTo>
                  <a:lnTo>
                    <a:pt x="1458087" y="553859"/>
                  </a:lnTo>
                  <a:lnTo>
                    <a:pt x="1458087" y="696798"/>
                  </a:lnTo>
                  <a:lnTo>
                    <a:pt x="1470787" y="696798"/>
                  </a:lnTo>
                  <a:lnTo>
                    <a:pt x="1470787" y="553859"/>
                  </a:lnTo>
                  <a:close/>
                </a:path>
                <a:path w="1688464" h="697229">
                  <a:moveTo>
                    <a:pt x="1470787" y="0"/>
                  </a:moveTo>
                  <a:lnTo>
                    <a:pt x="1458087" y="0"/>
                  </a:lnTo>
                  <a:lnTo>
                    <a:pt x="1458087" y="142938"/>
                  </a:lnTo>
                  <a:lnTo>
                    <a:pt x="1470787" y="142938"/>
                  </a:lnTo>
                  <a:lnTo>
                    <a:pt x="1470787" y="0"/>
                  </a:lnTo>
                  <a:close/>
                </a:path>
                <a:path w="1688464" h="697229">
                  <a:moveTo>
                    <a:pt x="1496187" y="553859"/>
                  </a:moveTo>
                  <a:lnTo>
                    <a:pt x="1483487" y="553859"/>
                  </a:lnTo>
                  <a:lnTo>
                    <a:pt x="1483487" y="696798"/>
                  </a:lnTo>
                  <a:lnTo>
                    <a:pt x="1496187" y="696798"/>
                  </a:lnTo>
                  <a:lnTo>
                    <a:pt x="1496187" y="553859"/>
                  </a:lnTo>
                  <a:close/>
                </a:path>
                <a:path w="1688464" h="697229">
                  <a:moveTo>
                    <a:pt x="1496187" y="0"/>
                  </a:moveTo>
                  <a:lnTo>
                    <a:pt x="1483487" y="0"/>
                  </a:lnTo>
                  <a:lnTo>
                    <a:pt x="1483487" y="142938"/>
                  </a:lnTo>
                  <a:lnTo>
                    <a:pt x="1496187" y="142938"/>
                  </a:lnTo>
                  <a:lnTo>
                    <a:pt x="1496187" y="0"/>
                  </a:lnTo>
                  <a:close/>
                </a:path>
                <a:path w="1688464" h="697229">
                  <a:moveTo>
                    <a:pt x="1688160" y="488746"/>
                  </a:moveTo>
                  <a:lnTo>
                    <a:pt x="1477137" y="488746"/>
                  </a:lnTo>
                  <a:lnTo>
                    <a:pt x="1477137" y="501446"/>
                  </a:lnTo>
                  <a:lnTo>
                    <a:pt x="1688160" y="501446"/>
                  </a:lnTo>
                  <a:lnTo>
                    <a:pt x="1688160" y="488746"/>
                  </a:lnTo>
                  <a:close/>
                </a:path>
                <a:path w="1688464" h="697229">
                  <a:moveTo>
                    <a:pt x="1688160" y="463346"/>
                  </a:moveTo>
                  <a:lnTo>
                    <a:pt x="1477137" y="463346"/>
                  </a:lnTo>
                  <a:lnTo>
                    <a:pt x="1477137" y="476046"/>
                  </a:lnTo>
                  <a:lnTo>
                    <a:pt x="1688160" y="476046"/>
                  </a:lnTo>
                  <a:lnTo>
                    <a:pt x="1688160" y="463346"/>
                  </a:lnTo>
                  <a:close/>
                </a:path>
                <a:path w="1688464" h="697229">
                  <a:moveTo>
                    <a:pt x="1688160" y="345808"/>
                  </a:moveTo>
                  <a:lnTo>
                    <a:pt x="1477137" y="345808"/>
                  </a:lnTo>
                  <a:lnTo>
                    <a:pt x="1477137" y="358508"/>
                  </a:lnTo>
                  <a:lnTo>
                    <a:pt x="1688160" y="358508"/>
                  </a:lnTo>
                  <a:lnTo>
                    <a:pt x="1688160" y="345808"/>
                  </a:lnTo>
                  <a:close/>
                </a:path>
                <a:path w="1688464" h="697229">
                  <a:moveTo>
                    <a:pt x="1688160" y="320408"/>
                  </a:moveTo>
                  <a:lnTo>
                    <a:pt x="1477137" y="320408"/>
                  </a:lnTo>
                  <a:lnTo>
                    <a:pt x="1477137" y="333108"/>
                  </a:lnTo>
                  <a:lnTo>
                    <a:pt x="1688160" y="333108"/>
                  </a:lnTo>
                  <a:lnTo>
                    <a:pt x="1688160" y="320408"/>
                  </a:lnTo>
                  <a:close/>
                </a:path>
                <a:path w="1688464" h="697229">
                  <a:moveTo>
                    <a:pt x="1688160" y="220751"/>
                  </a:moveTo>
                  <a:lnTo>
                    <a:pt x="1477137" y="220751"/>
                  </a:lnTo>
                  <a:lnTo>
                    <a:pt x="1477137" y="233451"/>
                  </a:lnTo>
                  <a:lnTo>
                    <a:pt x="1688160" y="233451"/>
                  </a:lnTo>
                  <a:lnTo>
                    <a:pt x="1688160" y="220751"/>
                  </a:lnTo>
                  <a:close/>
                </a:path>
                <a:path w="1688464" h="697229">
                  <a:moveTo>
                    <a:pt x="1688160" y="195351"/>
                  </a:moveTo>
                  <a:lnTo>
                    <a:pt x="1477137" y="195351"/>
                  </a:lnTo>
                  <a:lnTo>
                    <a:pt x="1477137" y="208051"/>
                  </a:lnTo>
                  <a:lnTo>
                    <a:pt x="1688160" y="208051"/>
                  </a:lnTo>
                  <a:lnTo>
                    <a:pt x="1688160" y="195351"/>
                  </a:lnTo>
                  <a:close/>
                </a:path>
              </a:pathLst>
            </a:custGeom>
            <a:solidFill>
              <a:srgbClr val="000000"/>
            </a:solidFill>
          </p:spPr>
          <p:txBody>
            <a:bodyPr wrap="square" lIns="0" tIns="0" rIns="0" bIns="0" rtlCol="0"/>
            <a:lstStyle/>
            <a:p/>
          </p:txBody>
        </p:sp>
        <p:sp>
          <p:nvSpPr>
            <p:cNvPr id="90" name="object 90" descr=""/>
            <p:cNvSpPr/>
            <p:nvPr/>
          </p:nvSpPr>
          <p:spPr>
            <a:xfrm>
              <a:off x="2675140" y="3966603"/>
              <a:ext cx="1293495" cy="423545"/>
            </a:xfrm>
            <a:custGeom>
              <a:avLst/>
              <a:gdLst/>
              <a:ahLst/>
              <a:cxnLst/>
              <a:rect l="l" t="t" r="r" b="b"/>
              <a:pathLst>
                <a:path w="1293495" h="423545">
                  <a:moveTo>
                    <a:pt x="23444" y="364045"/>
                  </a:moveTo>
                  <a:lnTo>
                    <a:pt x="0" y="364045"/>
                  </a:lnTo>
                  <a:lnTo>
                    <a:pt x="0" y="399783"/>
                  </a:lnTo>
                  <a:lnTo>
                    <a:pt x="23444" y="399783"/>
                  </a:lnTo>
                  <a:lnTo>
                    <a:pt x="23444" y="364045"/>
                  </a:lnTo>
                  <a:close/>
                </a:path>
                <a:path w="1293495" h="423545">
                  <a:moveTo>
                    <a:pt x="23444" y="274701"/>
                  </a:moveTo>
                  <a:lnTo>
                    <a:pt x="0" y="274701"/>
                  </a:lnTo>
                  <a:lnTo>
                    <a:pt x="0" y="310438"/>
                  </a:lnTo>
                  <a:lnTo>
                    <a:pt x="23444" y="310438"/>
                  </a:lnTo>
                  <a:lnTo>
                    <a:pt x="23444" y="274701"/>
                  </a:lnTo>
                  <a:close/>
                </a:path>
                <a:path w="1293495" h="423545">
                  <a:moveTo>
                    <a:pt x="23444" y="131775"/>
                  </a:moveTo>
                  <a:lnTo>
                    <a:pt x="0" y="131775"/>
                  </a:lnTo>
                  <a:lnTo>
                    <a:pt x="0" y="167513"/>
                  </a:lnTo>
                  <a:lnTo>
                    <a:pt x="23444" y="167513"/>
                  </a:lnTo>
                  <a:lnTo>
                    <a:pt x="23444" y="131775"/>
                  </a:lnTo>
                  <a:close/>
                </a:path>
                <a:path w="1293495" h="423545">
                  <a:moveTo>
                    <a:pt x="23444" y="24574"/>
                  </a:moveTo>
                  <a:lnTo>
                    <a:pt x="0" y="24574"/>
                  </a:lnTo>
                  <a:lnTo>
                    <a:pt x="0" y="60325"/>
                  </a:lnTo>
                  <a:lnTo>
                    <a:pt x="23444" y="60325"/>
                  </a:lnTo>
                  <a:lnTo>
                    <a:pt x="23444" y="24574"/>
                  </a:lnTo>
                  <a:close/>
                </a:path>
                <a:path w="1293495" h="423545">
                  <a:moveTo>
                    <a:pt x="128460" y="0"/>
                  </a:moveTo>
                  <a:lnTo>
                    <a:pt x="81572" y="0"/>
                  </a:lnTo>
                  <a:lnTo>
                    <a:pt x="81572" y="17868"/>
                  </a:lnTo>
                  <a:lnTo>
                    <a:pt x="128460" y="17868"/>
                  </a:lnTo>
                  <a:lnTo>
                    <a:pt x="128460" y="0"/>
                  </a:lnTo>
                  <a:close/>
                </a:path>
                <a:path w="1293495" h="423545">
                  <a:moveTo>
                    <a:pt x="222250" y="405358"/>
                  </a:moveTo>
                  <a:lnTo>
                    <a:pt x="175361" y="405358"/>
                  </a:lnTo>
                  <a:lnTo>
                    <a:pt x="175361" y="423240"/>
                  </a:lnTo>
                  <a:lnTo>
                    <a:pt x="222250" y="423240"/>
                  </a:lnTo>
                  <a:lnTo>
                    <a:pt x="222250" y="405358"/>
                  </a:lnTo>
                  <a:close/>
                </a:path>
                <a:path w="1293495" h="423545">
                  <a:moveTo>
                    <a:pt x="316026" y="0"/>
                  </a:moveTo>
                  <a:lnTo>
                    <a:pt x="269138" y="0"/>
                  </a:lnTo>
                  <a:lnTo>
                    <a:pt x="269138" y="17868"/>
                  </a:lnTo>
                  <a:lnTo>
                    <a:pt x="316026" y="17868"/>
                  </a:lnTo>
                  <a:lnTo>
                    <a:pt x="316026" y="0"/>
                  </a:lnTo>
                  <a:close/>
                </a:path>
                <a:path w="1293495" h="423545">
                  <a:moveTo>
                    <a:pt x="480148" y="405358"/>
                  </a:moveTo>
                  <a:lnTo>
                    <a:pt x="433260" y="405358"/>
                  </a:lnTo>
                  <a:lnTo>
                    <a:pt x="433260" y="423240"/>
                  </a:lnTo>
                  <a:lnTo>
                    <a:pt x="480148" y="423240"/>
                  </a:lnTo>
                  <a:lnTo>
                    <a:pt x="480148" y="405358"/>
                  </a:lnTo>
                  <a:close/>
                </a:path>
                <a:path w="1293495" h="423545">
                  <a:moveTo>
                    <a:pt x="503605" y="0"/>
                  </a:moveTo>
                  <a:lnTo>
                    <a:pt x="456717" y="0"/>
                  </a:lnTo>
                  <a:lnTo>
                    <a:pt x="456717" y="17868"/>
                  </a:lnTo>
                  <a:lnTo>
                    <a:pt x="503605" y="17868"/>
                  </a:lnTo>
                  <a:lnTo>
                    <a:pt x="503605" y="0"/>
                  </a:lnTo>
                  <a:close/>
                </a:path>
                <a:path w="1293495" h="423545">
                  <a:moveTo>
                    <a:pt x="738060" y="405358"/>
                  </a:moveTo>
                  <a:lnTo>
                    <a:pt x="691172" y="405358"/>
                  </a:lnTo>
                  <a:lnTo>
                    <a:pt x="691172" y="423240"/>
                  </a:lnTo>
                  <a:lnTo>
                    <a:pt x="738060" y="423240"/>
                  </a:lnTo>
                  <a:lnTo>
                    <a:pt x="738060" y="405358"/>
                  </a:lnTo>
                  <a:close/>
                </a:path>
                <a:path w="1293495" h="423545">
                  <a:moveTo>
                    <a:pt x="738060" y="0"/>
                  </a:moveTo>
                  <a:lnTo>
                    <a:pt x="691172" y="0"/>
                  </a:lnTo>
                  <a:lnTo>
                    <a:pt x="691172" y="17868"/>
                  </a:lnTo>
                  <a:lnTo>
                    <a:pt x="738060" y="17868"/>
                  </a:lnTo>
                  <a:lnTo>
                    <a:pt x="738060" y="0"/>
                  </a:lnTo>
                  <a:close/>
                </a:path>
                <a:path w="1293495" h="423545">
                  <a:moveTo>
                    <a:pt x="949083" y="0"/>
                  </a:moveTo>
                  <a:lnTo>
                    <a:pt x="902195" y="0"/>
                  </a:lnTo>
                  <a:lnTo>
                    <a:pt x="902195" y="17868"/>
                  </a:lnTo>
                  <a:lnTo>
                    <a:pt x="949083" y="17868"/>
                  </a:lnTo>
                  <a:lnTo>
                    <a:pt x="949083" y="0"/>
                  </a:lnTo>
                  <a:close/>
                </a:path>
                <a:path w="1293495" h="423545">
                  <a:moveTo>
                    <a:pt x="972527" y="405358"/>
                  </a:moveTo>
                  <a:lnTo>
                    <a:pt x="925639" y="405358"/>
                  </a:lnTo>
                  <a:lnTo>
                    <a:pt x="925639" y="423240"/>
                  </a:lnTo>
                  <a:lnTo>
                    <a:pt x="972527" y="423240"/>
                  </a:lnTo>
                  <a:lnTo>
                    <a:pt x="972527" y="405358"/>
                  </a:lnTo>
                  <a:close/>
                </a:path>
                <a:path w="1293495" h="423545">
                  <a:moveTo>
                    <a:pt x="1136662" y="0"/>
                  </a:moveTo>
                  <a:lnTo>
                    <a:pt x="1089774" y="0"/>
                  </a:lnTo>
                  <a:lnTo>
                    <a:pt x="1089774" y="17868"/>
                  </a:lnTo>
                  <a:lnTo>
                    <a:pt x="1136662" y="17868"/>
                  </a:lnTo>
                  <a:lnTo>
                    <a:pt x="1136662" y="0"/>
                  </a:lnTo>
                  <a:close/>
                </a:path>
                <a:path w="1293495" h="423545">
                  <a:moveTo>
                    <a:pt x="1230439" y="405358"/>
                  </a:moveTo>
                  <a:lnTo>
                    <a:pt x="1183551" y="405358"/>
                  </a:lnTo>
                  <a:lnTo>
                    <a:pt x="1183551" y="423240"/>
                  </a:lnTo>
                  <a:lnTo>
                    <a:pt x="1230439" y="423240"/>
                  </a:lnTo>
                  <a:lnTo>
                    <a:pt x="1230439" y="405358"/>
                  </a:lnTo>
                  <a:close/>
                </a:path>
                <a:path w="1293495" h="423545">
                  <a:moveTo>
                    <a:pt x="1293456" y="274701"/>
                  </a:moveTo>
                  <a:lnTo>
                    <a:pt x="1270012" y="274701"/>
                  </a:lnTo>
                  <a:lnTo>
                    <a:pt x="1270012" y="310438"/>
                  </a:lnTo>
                  <a:lnTo>
                    <a:pt x="1293456" y="310438"/>
                  </a:lnTo>
                  <a:lnTo>
                    <a:pt x="1293456" y="274701"/>
                  </a:lnTo>
                  <a:close/>
                </a:path>
                <a:path w="1293495" h="423545">
                  <a:moveTo>
                    <a:pt x="1293456" y="131775"/>
                  </a:moveTo>
                  <a:lnTo>
                    <a:pt x="1270012" y="131775"/>
                  </a:lnTo>
                  <a:lnTo>
                    <a:pt x="1270012" y="167513"/>
                  </a:lnTo>
                  <a:lnTo>
                    <a:pt x="1293456" y="167513"/>
                  </a:lnTo>
                  <a:lnTo>
                    <a:pt x="1293456" y="131775"/>
                  </a:lnTo>
                  <a:close/>
                </a:path>
                <a:path w="1293495" h="423545">
                  <a:moveTo>
                    <a:pt x="1293456" y="24574"/>
                  </a:moveTo>
                  <a:lnTo>
                    <a:pt x="1270012" y="24574"/>
                  </a:lnTo>
                  <a:lnTo>
                    <a:pt x="1270012" y="60325"/>
                  </a:lnTo>
                  <a:lnTo>
                    <a:pt x="1293456" y="60325"/>
                  </a:lnTo>
                  <a:lnTo>
                    <a:pt x="1293456" y="24574"/>
                  </a:lnTo>
                  <a:close/>
                </a:path>
              </a:pathLst>
            </a:custGeom>
            <a:solidFill>
              <a:srgbClr val="FFFFFF"/>
            </a:solidFill>
          </p:spPr>
          <p:txBody>
            <a:bodyPr wrap="square" lIns="0" tIns="0" rIns="0" bIns="0" rtlCol="0"/>
            <a:lstStyle/>
            <a:p/>
          </p:txBody>
        </p:sp>
        <p:sp>
          <p:nvSpPr>
            <p:cNvPr id="91" name="object 91" descr=""/>
            <p:cNvSpPr/>
            <p:nvPr/>
          </p:nvSpPr>
          <p:spPr>
            <a:xfrm>
              <a:off x="2850489" y="4158246"/>
              <a:ext cx="516255" cy="114935"/>
            </a:xfrm>
            <a:custGeom>
              <a:avLst/>
              <a:gdLst/>
              <a:ahLst/>
              <a:cxnLst/>
              <a:rect l="l" t="t" r="r" b="b"/>
              <a:pathLst>
                <a:path w="516254" h="114935">
                  <a:moveTo>
                    <a:pt x="515823" y="25400"/>
                  </a:moveTo>
                  <a:lnTo>
                    <a:pt x="276961" y="25400"/>
                  </a:lnTo>
                  <a:lnTo>
                    <a:pt x="276961" y="25006"/>
                  </a:lnTo>
                  <a:lnTo>
                    <a:pt x="264261" y="25006"/>
                  </a:lnTo>
                  <a:lnTo>
                    <a:pt x="264261" y="25400"/>
                  </a:lnTo>
                  <a:lnTo>
                    <a:pt x="251561" y="25400"/>
                  </a:lnTo>
                  <a:lnTo>
                    <a:pt x="251561" y="25006"/>
                  </a:lnTo>
                  <a:lnTo>
                    <a:pt x="238861" y="25006"/>
                  </a:lnTo>
                  <a:lnTo>
                    <a:pt x="238861" y="25400"/>
                  </a:lnTo>
                  <a:lnTo>
                    <a:pt x="0" y="25400"/>
                  </a:lnTo>
                  <a:lnTo>
                    <a:pt x="0" y="38100"/>
                  </a:lnTo>
                  <a:lnTo>
                    <a:pt x="238861" y="38100"/>
                  </a:lnTo>
                  <a:lnTo>
                    <a:pt x="238861" y="114338"/>
                  </a:lnTo>
                  <a:lnTo>
                    <a:pt x="251561" y="114338"/>
                  </a:lnTo>
                  <a:lnTo>
                    <a:pt x="251561" y="38100"/>
                  </a:lnTo>
                  <a:lnTo>
                    <a:pt x="264261" y="38100"/>
                  </a:lnTo>
                  <a:lnTo>
                    <a:pt x="264261" y="114338"/>
                  </a:lnTo>
                  <a:lnTo>
                    <a:pt x="276961" y="114338"/>
                  </a:lnTo>
                  <a:lnTo>
                    <a:pt x="276961" y="38100"/>
                  </a:lnTo>
                  <a:lnTo>
                    <a:pt x="515823" y="38100"/>
                  </a:lnTo>
                  <a:lnTo>
                    <a:pt x="515823" y="25400"/>
                  </a:lnTo>
                  <a:close/>
                </a:path>
                <a:path w="516254" h="114935">
                  <a:moveTo>
                    <a:pt x="515823" y="0"/>
                  </a:moveTo>
                  <a:lnTo>
                    <a:pt x="0" y="0"/>
                  </a:lnTo>
                  <a:lnTo>
                    <a:pt x="0" y="12700"/>
                  </a:lnTo>
                  <a:lnTo>
                    <a:pt x="515823" y="12700"/>
                  </a:lnTo>
                  <a:lnTo>
                    <a:pt x="515823" y="0"/>
                  </a:lnTo>
                  <a:close/>
                </a:path>
              </a:pathLst>
            </a:custGeom>
            <a:solidFill>
              <a:srgbClr val="000000"/>
            </a:solidFill>
          </p:spPr>
          <p:txBody>
            <a:bodyPr wrap="square" lIns="0" tIns="0" rIns="0" bIns="0" rtlCol="0"/>
            <a:lstStyle/>
            <a:p/>
          </p:txBody>
        </p:sp>
        <p:sp>
          <p:nvSpPr>
            <p:cNvPr id="92" name="object 92" descr=""/>
            <p:cNvSpPr/>
            <p:nvPr/>
          </p:nvSpPr>
          <p:spPr>
            <a:xfrm>
              <a:off x="2873946" y="4069346"/>
              <a:ext cx="328295" cy="211454"/>
            </a:xfrm>
            <a:custGeom>
              <a:avLst/>
              <a:gdLst/>
              <a:ahLst/>
              <a:cxnLst/>
              <a:rect l="l" t="t" r="r" b="b"/>
              <a:pathLst>
                <a:path w="328294" h="211454">
                  <a:moveTo>
                    <a:pt x="46888" y="0"/>
                  </a:moveTo>
                  <a:lnTo>
                    <a:pt x="0" y="0"/>
                  </a:lnTo>
                  <a:lnTo>
                    <a:pt x="0" y="17868"/>
                  </a:lnTo>
                  <a:lnTo>
                    <a:pt x="46888" y="17868"/>
                  </a:lnTo>
                  <a:lnTo>
                    <a:pt x="46888" y="0"/>
                  </a:lnTo>
                  <a:close/>
                </a:path>
                <a:path w="328294" h="211454">
                  <a:moveTo>
                    <a:pt x="70332" y="193548"/>
                  </a:moveTo>
                  <a:lnTo>
                    <a:pt x="23444" y="193548"/>
                  </a:lnTo>
                  <a:lnTo>
                    <a:pt x="23444" y="211416"/>
                  </a:lnTo>
                  <a:lnTo>
                    <a:pt x="70332" y="211416"/>
                  </a:lnTo>
                  <a:lnTo>
                    <a:pt x="70332" y="193548"/>
                  </a:lnTo>
                  <a:close/>
                </a:path>
                <a:path w="328294" h="211454">
                  <a:moveTo>
                    <a:pt x="281343" y="0"/>
                  </a:moveTo>
                  <a:lnTo>
                    <a:pt x="234454" y="0"/>
                  </a:lnTo>
                  <a:lnTo>
                    <a:pt x="234454" y="17868"/>
                  </a:lnTo>
                  <a:lnTo>
                    <a:pt x="281343" y="17868"/>
                  </a:lnTo>
                  <a:lnTo>
                    <a:pt x="281343" y="0"/>
                  </a:lnTo>
                  <a:close/>
                </a:path>
                <a:path w="328294" h="211454">
                  <a:moveTo>
                    <a:pt x="328244" y="193548"/>
                  </a:moveTo>
                  <a:lnTo>
                    <a:pt x="281355" y="193548"/>
                  </a:lnTo>
                  <a:lnTo>
                    <a:pt x="281355" y="211416"/>
                  </a:lnTo>
                  <a:lnTo>
                    <a:pt x="328244" y="211416"/>
                  </a:lnTo>
                  <a:lnTo>
                    <a:pt x="328244" y="193548"/>
                  </a:lnTo>
                  <a:close/>
                </a:path>
              </a:pathLst>
            </a:custGeom>
            <a:solidFill>
              <a:srgbClr val="FFFFFF"/>
            </a:solidFill>
          </p:spPr>
          <p:txBody>
            <a:bodyPr wrap="square" lIns="0" tIns="0" rIns="0" bIns="0" rtlCol="0"/>
            <a:lstStyle/>
            <a:p/>
          </p:txBody>
        </p:sp>
        <p:sp>
          <p:nvSpPr>
            <p:cNvPr id="93" name="object 93" descr=""/>
            <p:cNvSpPr/>
            <p:nvPr/>
          </p:nvSpPr>
          <p:spPr>
            <a:xfrm>
              <a:off x="2862707" y="3830383"/>
              <a:ext cx="452755" cy="340995"/>
            </a:xfrm>
            <a:custGeom>
              <a:avLst/>
              <a:gdLst/>
              <a:ahLst/>
              <a:cxnLst/>
              <a:rect l="l" t="t" r="r" b="b"/>
              <a:pathLst>
                <a:path w="452754" h="340995">
                  <a:moveTo>
                    <a:pt x="12700" y="0"/>
                  </a:moveTo>
                  <a:lnTo>
                    <a:pt x="0" y="0"/>
                  </a:lnTo>
                  <a:lnTo>
                    <a:pt x="0" y="142938"/>
                  </a:lnTo>
                  <a:lnTo>
                    <a:pt x="12700" y="142938"/>
                  </a:lnTo>
                  <a:lnTo>
                    <a:pt x="12700" y="0"/>
                  </a:lnTo>
                  <a:close/>
                </a:path>
                <a:path w="452754" h="340995">
                  <a:moveTo>
                    <a:pt x="38100" y="0"/>
                  </a:moveTo>
                  <a:lnTo>
                    <a:pt x="25400" y="0"/>
                  </a:lnTo>
                  <a:lnTo>
                    <a:pt x="25400" y="142938"/>
                  </a:lnTo>
                  <a:lnTo>
                    <a:pt x="38100" y="142938"/>
                  </a:lnTo>
                  <a:lnTo>
                    <a:pt x="38100" y="0"/>
                  </a:lnTo>
                  <a:close/>
                </a:path>
                <a:path w="452754" h="340995">
                  <a:moveTo>
                    <a:pt x="426910" y="251625"/>
                  </a:moveTo>
                  <a:lnTo>
                    <a:pt x="414210" y="251625"/>
                  </a:lnTo>
                  <a:lnTo>
                    <a:pt x="414210" y="340956"/>
                  </a:lnTo>
                  <a:lnTo>
                    <a:pt x="426910" y="340956"/>
                  </a:lnTo>
                  <a:lnTo>
                    <a:pt x="426910" y="251625"/>
                  </a:lnTo>
                  <a:close/>
                </a:path>
                <a:path w="452754" h="340995">
                  <a:moveTo>
                    <a:pt x="452310" y="251625"/>
                  </a:moveTo>
                  <a:lnTo>
                    <a:pt x="439610" y="251625"/>
                  </a:lnTo>
                  <a:lnTo>
                    <a:pt x="439610" y="340956"/>
                  </a:lnTo>
                  <a:lnTo>
                    <a:pt x="452310" y="340956"/>
                  </a:lnTo>
                  <a:lnTo>
                    <a:pt x="452310" y="251625"/>
                  </a:lnTo>
                  <a:close/>
                </a:path>
              </a:pathLst>
            </a:custGeom>
            <a:solidFill>
              <a:srgbClr val="000000"/>
            </a:solidFill>
          </p:spPr>
          <p:txBody>
            <a:bodyPr wrap="square" lIns="0" tIns="0" rIns="0" bIns="0" rtlCol="0"/>
            <a:lstStyle/>
            <a:p/>
          </p:txBody>
        </p:sp>
        <p:sp>
          <p:nvSpPr>
            <p:cNvPr id="94" name="object 94" descr=""/>
            <p:cNvSpPr/>
            <p:nvPr/>
          </p:nvSpPr>
          <p:spPr>
            <a:xfrm>
              <a:off x="3350691" y="4104335"/>
              <a:ext cx="23495" cy="36195"/>
            </a:xfrm>
            <a:custGeom>
              <a:avLst/>
              <a:gdLst/>
              <a:ahLst/>
              <a:cxnLst/>
              <a:rect l="l" t="t" r="r" b="b"/>
              <a:pathLst>
                <a:path w="23495" h="36195">
                  <a:moveTo>
                    <a:pt x="23444" y="0"/>
                  </a:moveTo>
                  <a:lnTo>
                    <a:pt x="0" y="0"/>
                  </a:lnTo>
                  <a:lnTo>
                    <a:pt x="0" y="35737"/>
                  </a:lnTo>
                  <a:lnTo>
                    <a:pt x="23444" y="35737"/>
                  </a:lnTo>
                  <a:lnTo>
                    <a:pt x="23444" y="0"/>
                  </a:lnTo>
                  <a:close/>
                </a:path>
              </a:pathLst>
            </a:custGeom>
            <a:solidFill>
              <a:srgbClr val="FFFFFF"/>
            </a:solidFill>
          </p:spPr>
          <p:txBody>
            <a:bodyPr wrap="square" lIns="0" tIns="0" rIns="0" bIns="0" rtlCol="0"/>
            <a:lstStyle/>
            <a:p/>
          </p:txBody>
        </p:sp>
        <p:sp>
          <p:nvSpPr>
            <p:cNvPr id="95" name="object 95" descr=""/>
            <p:cNvSpPr/>
            <p:nvPr/>
          </p:nvSpPr>
          <p:spPr>
            <a:xfrm>
              <a:off x="3816685" y="4004391"/>
              <a:ext cx="57785" cy="44450"/>
            </a:xfrm>
            <a:custGeom>
              <a:avLst/>
              <a:gdLst/>
              <a:ahLst/>
              <a:cxnLst/>
              <a:rect l="l" t="t" r="r" b="b"/>
              <a:pathLst>
                <a:path w="57785" h="44450">
                  <a:moveTo>
                    <a:pt x="28816" y="0"/>
                  </a:moveTo>
                  <a:lnTo>
                    <a:pt x="17600" y="1725"/>
                  </a:lnTo>
                  <a:lnTo>
                    <a:pt x="8440" y="6430"/>
                  </a:lnTo>
                  <a:lnTo>
                    <a:pt x="2264" y="13410"/>
                  </a:lnTo>
                  <a:lnTo>
                    <a:pt x="0" y="21958"/>
                  </a:lnTo>
                  <a:lnTo>
                    <a:pt x="2264" y="30505"/>
                  </a:lnTo>
                  <a:lnTo>
                    <a:pt x="8440" y="37485"/>
                  </a:lnTo>
                  <a:lnTo>
                    <a:pt x="17600" y="42191"/>
                  </a:lnTo>
                  <a:lnTo>
                    <a:pt x="28816" y="43916"/>
                  </a:lnTo>
                  <a:lnTo>
                    <a:pt x="40039" y="42191"/>
                  </a:lnTo>
                  <a:lnTo>
                    <a:pt x="49202" y="37485"/>
                  </a:lnTo>
                  <a:lnTo>
                    <a:pt x="55380" y="30505"/>
                  </a:lnTo>
                  <a:lnTo>
                    <a:pt x="57645" y="21958"/>
                  </a:lnTo>
                  <a:lnTo>
                    <a:pt x="55380" y="13410"/>
                  </a:lnTo>
                  <a:lnTo>
                    <a:pt x="49202" y="6430"/>
                  </a:lnTo>
                  <a:lnTo>
                    <a:pt x="40039" y="1725"/>
                  </a:lnTo>
                  <a:lnTo>
                    <a:pt x="28816" y="0"/>
                  </a:lnTo>
                  <a:close/>
                </a:path>
              </a:pathLst>
            </a:custGeom>
            <a:solidFill>
              <a:srgbClr val="00FFFF"/>
            </a:solidFill>
          </p:spPr>
          <p:txBody>
            <a:bodyPr wrap="square" lIns="0" tIns="0" rIns="0" bIns="0" rtlCol="0"/>
            <a:lstStyle/>
            <a:p/>
          </p:txBody>
        </p:sp>
        <p:sp>
          <p:nvSpPr>
            <p:cNvPr id="96" name="object 96" descr=""/>
            <p:cNvSpPr/>
            <p:nvPr/>
          </p:nvSpPr>
          <p:spPr>
            <a:xfrm>
              <a:off x="3816685" y="4004391"/>
              <a:ext cx="57785" cy="44450"/>
            </a:xfrm>
            <a:custGeom>
              <a:avLst/>
              <a:gdLst/>
              <a:ahLst/>
              <a:cxnLst/>
              <a:rect l="l" t="t" r="r" b="b"/>
              <a:pathLst>
                <a:path w="57785" h="44450">
                  <a:moveTo>
                    <a:pt x="0" y="21958"/>
                  </a:moveTo>
                  <a:lnTo>
                    <a:pt x="2264" y="13410"/>
                  </a:lnTo>
                  <a:lnTo>
                    <a:pt x="8440" y="6430"/>
                  </a:lnTo>
                  <a:lnTo>
                    <a:pt x="17600" y="1725"/>
                  </a:lnTo>
                  <a:lnTo>
                    <a:pt x="28816" y="0"/>
                  </a:lnTo>
                  <a:lnTo>
                    <a:pt x="40039" y="1725"/>
                  </a:lnTo>
                  <a:lnTo>
                    <a:pt x="49202" y="6430"/>
                  </a:lnTo>
                  <a:lnTo>
                    <a:pt x="55380" y="13410"/>
                  </a:lnTo>
                  <a:lnTo>
                    <a:pt x="57645" y="21958"/>
                  </a:lnTo>
                  <a:lnTo>
                    <a:pt x="55380" y="30505"/>
                  </a:lnTo>
                  <a:lnTo>
                    <a:pt x="49202" y="37485"/>
                  </a:lnTo>
                  <a:lnTo>
                    <a:pt x="40039" y="42191"/>
                  </a:lnTo>
                  <a:lnTo>
                    <a:pt x="28816" y="43916"/>
                  </a:lnTo>
                  <a:lnTo>
                    <a:pt x="17600" y="42191"/>
                  </a:lnTo>
                  <a:lnTo>
                    <a:pt x="8440" y="37485"/>
                  </a:lnTo>
                  <a:lnTo>
                    <a:pt x="2264" y="30505"/>
                  </a:lnTo>
                  <a:lnTo>
                    <a:pt x="0" y="21958"/>
                  </a:lnTo>
                  <a:close/>
                </a:path>
              </a:pathLst>
            </a:custGeom>
            <a:ln w="12700">
              <a:solidFill>
                <a:srgbClr val="000000"/>
              </a:solidFill>
            </a:ln>
          </p:spPr>
          <p:txBody>
            <a:bodyPr wrap="square" lIns="0" tIns="0" rIns="0" bIns="0" rtlCol="0"/>
            <a:lstStyle/>
            <a:p/>
          </p:txBody>
        </p:sp>
        <p:sp>
          <p:nvSpPr>
            <p:cNvPr id="97" name="object 97" descr=""/>
            <p:cNvSpPr/>
            <p:nvPr/>
          </p:nvSpPr>
          <p:spPr>
            <a:xfrm>
              <a:off x="3821728" y="4013173"/>
              <a:ext cx="46990" cy="27305"/>
            </a:xfrm>
            <a:custGeom>
              <a:avLst/>
              <a:gdLst/>
              <a:ahLst/>
              <a:cxnLst/>
              <a:rect l="l" t="t" r="r" b="b"/>
              <a:pathLst>
                <a:path w="46989" h="27304">
                  <a:moveTo>
                    <a:pt x="0" y="0"/>
                  </a:moveTo>
                  <a:lnTo>
                    <a:pt x="46837" y="27266"/>
                  </a:lnTo>
                </a:path>
              </a:pathLst>
            </a:custGeom>
            <a:ln w="12700">
              <a:solidFill>
                <a:srgbClr val="000000"/>
              </a:solidFill>
            </a:ln>
          </p:spPr>
          <p:txBody>
            <a:bodyPr wrap="square" lIns="0" tIns="0" rIns="0" bIns="0" rtlCol="0"/>
            <a:lstStyle/>
            <a:p/>
          </p:txBody>
        </p:sp>
        <p:sp>
          <p:nvSpPr>
            <p:cNvPr id="98" name="object 98" descr=""/>
            <p:cNvSpPr/>
            <p:nvPr/>
          </p:nvSpPr>
          <p:spPr>
            <a:xfrm>
              <a:off x="3822449" y="4013174"/>
              <a:ext cx="45085" cy="27305"/>
            </a:xfrm>
            <a:custGeom>
              <a:avLst/>
              <a:gdLst/>
              <a:ahLst/>
              <a:cxnLst/>
              <a:rect l="l" t="t" r="r" b="b"/>
              <a:pathLst>
                <a:path w="45085" h="27304">
                  <a:moveTo>
                    <a:pt x="0" y="27266"/>
                  </a:moveTo>
                  <a:lnTo>
                    <a:pt x="44907" y="0"/>
                  </a:lnTo>
                </a:path>
              </a:pathLst>
            </a:custGeom>
            <a:ln w="12700">
              <a:solidFill>
                <a:srgbClr val="000000"/>
              </a:solidFill>
            </a:ln>
          </p:spPr>
          <p:txBody>
            <a:bodyPr wrap="square" lIns="0" tIns="0" rIns="0" bIns="0" rtlCol="0"/>
            <a:lstStyle/>
            <a:p/>
          </p:txBody>
        </p:sp>
        <p:sp>
          <p:nvSpPr>
            <p:cNvPr id="99" name="object 99" descr=""/>
            <p:cNvSpPr/>
            <p:nvPr/>
          </p:nvSpPr>
          <p:spPr>
            <a:xfrm>
              <a:off x="3451555" y="4035475"/>
              <a:ext cx="27940" cy="50800"/>
            </a:xfrm>
            <a:custGeom>
              <a:avLst/>
              <a:gdLst/>
              <a:ahLst/>
              <a:cxnLst/>
              <a:rect l="l" t="t" r="r" b="b"/>
              <a:pathLst>
                <a:path w="27939" h="50800">
                  <a:moveTo>
                    <a:pt x="27838" y="0"/>
                  </a:moveTo>
                  <a:lnTo>
                    <a:pt x="0" y="0"/>
                  </a:lnTo>
                  <a:lnTo>
                    <a:pt x="0" y="50622"/>
                  </a:lnTo>
                  <a:lnTo>
                    <a:pt x="27838" y="50622"/>
                  </a:lnTo>
                  <a:lnTo>
                    <a:pt x="27838" y="0"/>
                  </a:lnTo>
                  <a:close/>
                </a:path>
              </a:pathLst>
            </a:custGeom>
            <a:solidFill>
              <a:srgbClr val="00FFFF"/>
            </a:solidFill>
          </p:spPr>
          <p:txBody>
            <a:bodyPr wrap="square" lIns="0" tIns="0" rIns="0" bIns="0" rtlCol="0"/>
            <a:lstStyle/>
            <a:p/>
          </p:txBody>
        </p:sp>
        <p:sp>
          <p:nvSpPr>
            <p:cNvPr id="100" name="object 100" descr=""/>
            <p:cNvSpPr/>
            <p:nvPr/>
          </p:nvSpPr>
          <p:spPr>
            <a:xfrm>
              <a:off x="3451555" y="4035475"/>
              <a:ext cx="27940" cy="50800"/>
            </a:xfrm>
            <a:custGeom>
              <a:avLst/>
              <a:gdLst/>
              <a:ahLst/>
              <a:cxnLst/>
              <a:rect l="l" t="t" r="r" b="b"/>
              <a:pathLst>
                <a:path w="27939" h="50800">
                  <a:moveTo>
                    <a:pt x="0" y="0"/>
                  </a:moveTo>
                  <a:lnTo>
                    <a:pt x="27838" y="0"/>
                  </a:lnTo>
                  <a:lnTo>
                    <a:pt x="27838" y="50622"/>
                  </a:lnTo>
                  <a:lnTo>
                    <a:pt x="0" y="50622"/>
                  </a:lnTo>
                  <a:lnTo>
                    <a:pt x="0" y="0"/>
                  </a:lnTo>
                  <a:close/>
                </a:path>
              </a:pathLst>
            </a:custGeom>
            <a:ln w="9525">
              <a:solidFill>
                <a:srgbClr val="000000"/>
              </a:solidFill>
            </a:ln>
          </p:spPr>
          <p:txBody>
            <a:bodyPr wrap="square" lIns="0" tIns="0" rIns="0" bIns="0" rtlCol="0"/>
            <a:lstStyle/>
            <a:p/>
          </p:txBody>
        </p:sp>
        <p:sp>
          <p:nvSpPr>
            <p:cNvPr id="101" name="object 101" descr=""/>
            <p:cNvSpPr/>
            <p:nvPr/>
          </p:nvSpPr>
          <p:spPr>
            <a:xfrm>
              <a:off x="3336032" y="4120521"/>
              <a:ext cx="46990" cy="0"/>
            </a:xfrm>
            <a:custGeom>
              <a:avLst/>
              <a:gdLst/>
              <a:ahLst/>
              <a:cxnLst/>
              <a:rect l="l" t="t" r="r" b="b"/>
              <a:pathLst>
                <a:path w="46989" h="0">
                  <a:moveTo>
                    <a:pt x="0" y="0"/>
                  </a:moveTo>
                  <a:lnTo>
                    <a:pt x="39331" y="0"/>
                  </a:lnTo>
                  <a:lnTo>
                    <a:pt x="46888" y="0"/>
                  </a:lnTo>
                </a:path>
              </a:pathLst>
            </a:custGeom>
            <a:ln w="19050">
              <a:solidFill>
                <a:srgbClr val="0000FF"/>
              </a:solidFill>
            </a:ln>
          </p:spPr>
          <p:txBody>
            <a:bodyPr wrap="square" lIns="0" tIns="0" rIns="0" bIns="0" rtlCol="0"/>
            <a:lstStyle/>
            <a:p/>
          </p:txBody>
        </p:sp>
        <p:sp>
          <p:nvSpPr>
            <p:cNvPr id="102" name="object 102" descr=""/>
            <p:cNvSpPr/>
            <p:nvPr/>
          </p:nvSpPr>
          <p:spPr>
            <a:xfrm>
              <a:off x="3464986" y="4029703"/>
              <a:ext cx="351790" cy="27305"/>
            </a:xfrm>
            <a:custGeom>
              <a:avLst/>
              <a:gdLst/>
              <a:ahLst/>
              <a:cxnLst/>
              <a:rect l="l" t="t" r="r" b="b"/>
              <a:pathLst>
                <a:path w="351789" h="27304">
                  <a:moveTo>
                    <a:pt x="0" y="26797"/>
                  </a:moveTo>
                  <a:lnTo>
                    <a:pt x="101600" y="26797"/>
                  </a:lnTo>
                  <a:lnTo>
                    <a:pt x="99644" y="0"/>
                  </a:lnTo>
                  <a:lnTo>
                    <a:pt x="351701" y="0"/>
                  </a:lnTo>
                </a:path>
              </a:pathLst>
            </a:custGeom>
            <a:ln w="19050">
              <a:solidFill>
                <a:srgbClr val="0000FF"/>
              </a:solidFill>
            </a:ln>
          </p:spPr>
          <p:txBody>
            <a:bodyPr wrap="square" lIns="0" tIns="0" rIns="0" bIns="0" rtlCol="0"/>
            <a:lstStyle/>
            <a:p/>
          </p:txBody>
        </p:sp>
        <p:sp>
          <p:nvSpPr>
            <p:cNvPr id="103" name="object 103" descr=""/>
            <p:cNvSpPr/>
            <p:nvPr/>
          </p:nvSpPr>
          <p:spPr>
            <a:xfrm>
              <a:off x="2785038" y="4022256"/>
              <a:ext cx="680085" cy="81915"/>
            </a:xfrm>
            <a:custGeom>
              <a:avLst/>
              <a:gdLst/>
              <a:ahLst/>
              <a:cxnLst/>
              <a:rect l="l" t="t" r="r" b="b"/>
              <a:pathLst>
                <a:path w="680085" h="81914">
                  <a:moveTo>
                    <a:pt x="0" y="0"/>
                  </a:moveTo>
                  <a:lnTo>
                    <a:pt x="679945" y="0"/>
                  </a:lnTo>
                  <a:lnTo>
                    <a:pt x="679945" y="81889"/>
                  </a:lnTo>
                  <a:lnTo>
                    <a:pt x="621334" y="81889"/>
                  </a:lnTo>
                </a:path>
              </a:pathLst>
            </a:custGeom>
            <a:ln w="19050">
              <a:solidFill>
                <a:srgbClr val="0000FF"/>
              </a:solidFill>
            </a:ln>
          </p:spPr>
          <p:txBody>
            <a:bodyPr wrap="square" lIns="0" tIns="0" rIns="0" bIns="0" rtlCol="0"/>
            <a:lstStyle/>
            <a:p/>
          </p:txBody>
        </p:sp>
        <p:sp>
          <p:nvSpPr>
            <p:cNvPr id="104" name="object 104" descr=""/>
            <p:cNvSpPr/>
            <p:nvPr/>
          </p:nvSpPr>
          <p:spPr>
            <a:xfrm>
              <a:off x="3383165" y="4093540"/>
              <a:ext cx="27940" cy="50800"/>
            </a:xfrm>
            <a:custGeom>
              <a:avLst/>
              <a:gdLst/>
              <a:ahLst/>
              <a:cxnLst/>
              <a:rect l="l" t="t" r="r" b="b"/>
              <a:pathLst>
                <a:path w="27939" h="50800">
                  <a:moveTo>
                    <a:pt x="27838" y="0"/>
                  </a:moveTo>
                  <a:lnTo>
                    <a:pt x="0" y="0"/>
                  </a:lnTo>
                  <a:lnTo>
                    <a:pt x="0" y="50622"/>
                  </a:lnTo>
                  <a:lnTo>
                    <a:pt x="27838" y="50622"/>
                  </a:lnTo>
                  <a:lnTo>
                    <a:pt x="27838" y="0"/>
                  </a:lnTo>
                  <a:close/>
                </a:path>
              </a:pathLst>
            </a:custGeom>
            <a:solidFill>
              <a:srgbClr val="00FFFF"/>
            </a:solidFill>
          </p:spPr>
          <p:txBody>
            <a:bodyPr wrap="square" lIns="0" tIns="0" rIns="0" bIns="0" rtlCol="0"/>
            <a:lstStyle/>
            <a:p/>
          </p:txBody>
        </p:sp>
        <p:sp>
          <p:nvSpPr>
            <p:cNvPr id="105" name="object 105" descr=""/>
            <p:cNvSpPr/>
            <p:nvPr/>
          </p:nvSpPr>
          <p:spPr>
            <a:xfrm>
              <a:off x="3383165" y="4093540"/>
              <a:ext cx="27940" cy="50800"/>
            </a:xfrm>
            <a:custGeom>
              <a:avLst/>
              <a:gdLst/>
              <a:ahLst/>
              <a:cxnLst/>
              <a:rect l="l" t="t" r="r" b="b"/>
              <a:pathLst>
                <a:path w="27939" h="50800">
                  <a:moveTo>
                    <a:pt x="0" y="0"/>
                  </a:moveTo>
                  <a:lnTo>
                    <a:pt x="27838" y="0"/>
                  </a:lnTo>
                  <a:lnTo>
                    <a:pt x="27838" y="50622"/>
                  </a:lnTo>
                  <a:lnTo>
                    <a:pt x="0" y="50622"/>
                  </a:lnTo>
                  <a:lnTo>
                    <a:pt x="0" y="0"/>
                  </a:lnTo>
                  <a:close/>
                </a:path>
              </a:pathLst>
            </a:custGeom>
            <a:ln w="9525">
              <a:solidFill>
                <a:srgbClr val="000000"/>
              </a:solidFill>
            </a:ln>
          </p:spPr>
          <p:txBody>
            <a:bodyPr wrap="square" lIns="0" tIns="0" rIns="0" bIns="0" rtlCol="0"/>
            <a:lstStyle/>
            <a:p/>
          </p:txBody>
        </p:sp>
        <p:sp>
          <p:nvSpPr>
            <p:cNvPr id="106" name="object 106" descr=""/>
            <p:cNvSpPr/>
            <p:nvPr/>
          </p:nvSpPr>
          <p:spPr>
            <a:xfrm>
              <a:off x="2738146" y="4004391"/>
              <a:ext cx="57785" cy="44450"/>
            </a:xfrm>
            <a:custGeom>
              <a:avLst/>
              <a:gdLst/>
              <a:ahLst/>
              <a:cxnLst/>
              <a:rect l="l" t="t" r="r" b="b"/>
              <a:pathLst>
                <a:path w="57785" h="44450">
                  <a:moveTo>
                    <a:pt x="28816" y="0"/>
                  </a:moveTo>
                  <a:lnTo>
                    <a:pt x="17600" y="1725"/>
                  </a:lnTo>
                  <a:lnTo>
                    <a:pt x="8440" y="6430"/>
                  </a:lnTo>
                  <a:lnTo>
                    <a:pt x="2264" y="13410"/>
                  </a:lnTo>
                  <a:lnTo>
                    <a:pt x="0" y="21958"/>
                  </a:lnTo>
                  <a:lnTo>
                    <a:pt x="2264" y="30505"/>
                  </a:lnTo>
                  <a:lnTo>
                    <a:pt x="8440" y="37485"/>
                  </a:lnTo>
                  <a:lnTo>
                    <a:pt x="17600" y="42191"/>
                  </a:lnTo>
                  <a:lnTo>
                    <a:pt x="28816" y="43916"/>
                  </a:lnTo>
                  <a:lnTo>
                    <a:pt x="40039" y="42191"/>
                  </a:lnTo>
                  <a:lnTo>
                    <a:pt x="49202" y="37485"/>
                  </a:lnTo>
                  <a:lnTo>
                    <a:pt x="55380" y="30505"/>
                  </a:lnTo>
                  <a:lnTo>
                    <a:pt x="57645" y="21958"/>
                  </a:lnTo>
                  <a:lnTo>
                    <a:pt x="55380" y="13410"/>
                  </a:lnTo>
                  <a:lnTo>
                    <a:pt x="49202" y="6430"/>
                  </a:lnTo>
                  <a:lnTo>
                    <a:pt x="40039" y="1725"/>
                  </a:lnTo>
                  <a:lnTo>
                    <a:pt x="28816" y="0"/>
                  </a:lnTo>
                  <a:close/>
                </a:path>
              </a:pathLst>
            </a:custGeom>
            <a:solidFill>
              <a:srgbClr val="00FFFF"/>
            </a:solidFill>
          </p:spPr>
          <p:txBody>
            <a:bodyPr wrap="square" lIns="0" tIns="0" rIns="0" bIns="0" rtlCol="0"/>
            <a:lstStyle/>
            <a:p/>
          </p:txBody>
        </p:sp>
        <p:sp>
          <p:nvSpPr>
            <p:cNvPr id="107" name="object 107" descr=""/>
            <p:cNvSpPr/>
            <p:nvPr/>
          </p:nvSpPr>
          <p:spPr>
            <a:xfrm>
              <a:off x="2738146" y="4004391"/>
              <a:ext cx="57785" cy="44450"/>
            </a:xfrm>
            <a:custGeom>
              <a:avLst/>
              <a:gdLst/>
              <a:ahLst/>
              <a:cxnLst/>
              <a:rect l="l" t="t" r="r" b="b"/>
              <a:pathLst>
                <a:path w="57785" h="44450">
                  <a:moveTo>
                    <a:pt x="0" y="21958"/>
                  </a:moveTo>
                  <a:lnTo>
                    <a:pt x="2264" y="13410"/>
                  </a:lnTo>
                  <a:lnTo>
                    <a:pt x="8440" y="6430"/>
                  </a:lnTo>
                  <a:lnTo>
                    <a:pt x="17600" y="1725"/>
                  </a:lnTo>
                  <a:lnTo>
                    <a:pt x="28816" y="0"/>
                  </a:lnTo>
                  <a:lnTo>
                    <a:pt x="40039" y="1725"/>
                  </a:lnTo>
                  <a:lnTo>
                    <a:pt x="49202" y="6430"/>
                  </a:lnTo>
                  <a:lnTo>
                    <a:pt x="55380" y="13410"/>
                  </a:lnTo>
                  <a:lnTo>
                    <a:pt x="57645" y="21958"/>
                  </a:lnTo>
                  <a:lnTo>
                    <a:pt x="55380" y="30505"/>
                  </a:lnTo>
                  <a:lnTo>
                    <a:pt x="49202" y="37485"/>
                  </a:lnTo>
                  <a:lnTo>
                    <a:pt x="40039" y="42191"/>
                  </a:lnTo>
                  <a:lnTo>
                    <a:pt x="28816" y="43916"/>
                  </a:lnTo>
                  <a:lnTo>
                    <a:pt x="17600" y="42191"/>
                  </a:lnTo>
                  <a:lnTo>
                    <a:pt x="8440" y="37485"/>
                  </a:lnTo>
                  <a:lnTo>
                    <a:pt x="2264" y="30505"/>
                  </a:lnTo>
                  <a:lnTo>
                    <a:pt x="0" y="21958"/>
                  </a:lnTo>
                  <a:close/>
                </a:path>
              </a:pathLst>
            </a:custGeom>
            <a:ln w="12700">
              <a:solidFill>
                <a:srgbClr val="000000"/>
              </a:solidFill>
            </a:ln>
          </p:spPr>
          <p:txBody>
            <a:bodyPr wrap="square" lIns="0" tIns="0" rIns="0" bIns="0" rtlCol="0"/>
            <a:lstStyle/>
            <a:p/>
          </p:txBody>
        </p:sp>
        <p:sp>
          <p:nvSpPr>
            <p:cNvPr id="108" name="object 108" descr=""/>
            <p:cNvSpPr/>
            <p:nvPr/>
          </p:nvSpPr>
          <p:spPr>
            <a:xfrm>
              <a:off x="2743188" y="4013173"/>
              <a:ext cx="46990" cy="27305"/>
            </a:xfrm>
            <a:custGeom>
              <a:avLst/>
              <a:gdLst/>
              <a:ahLst/>
              <a:cxnLst/>
              <a:rect l="l" t="t" r="r" b="b"/>
              <a:pathLst>
                <a:path w="46989" h="27304">
                  <a:moveTo>
                    <a:pt x="0" y="0"/>
                  </a:moveTo>
                  <a:lnTo>
                    <a:pt x="46837" y="27266"/>
                  </a:lnTo>
                </a:path>
              </a:pathLst>
            </a:custGeom>
            <a:ln w="12700">
              <a:solidFill>
                <a:srgbClr val="000000"/>
              </a:solidFill>
            </a:ln>
          </p:spPr>
          <p:txBody>
            <a:bodyPr wrap="square" lIns="0" tIns="0" rIns="0" bIns="0" rtlCol="0"/>
            <a:lstStyle/>
            <a:p/>
          </p:txBody>
        </p:sp>
        <p:sp>
          <p:nvSpPr>
            <p:cNvPr id="109" name="object 109" descr=""/>
            <p:cNvSpPr/>
            <p:nvPr/>
          </p:nvSpPr>
          <p:spPr>
            <a:xfrm>
              <a:off x="2743909" y="4013174"/>
              <a:ext cx="45085" cy="27305"/>
            </a:xfrm>
            <a:custGeom>
              <a:avLst/>
              <a:gdLst/>
              <a:ahLst/>
              <a:cxnLst/>
              <a:rect l="l" t="t" r="r" b="b"/>
              <a:pathLst>
                <a:path w="45085" h="27304">
                  <a:moveTo>
                    <a:pt x="0" y="27266"/>
                  </a:moveTo>
                  <a:lnTo>
                    <a:pt x="44907" y="0"/>
                  </a:lnTo>
                </a:path>
              </a:pathLst>
            </a:custGeom>
            <a:ln w="12700">
              <a:solidFill>
                <a:srgbClr val="000000"/>
              </a:solidFill>
            </a:ln>
          </p:spPr>
          <p:txBody>
            <a:bodyPr wrap="square" lIns="0" tIns="0" rIns="0" bIns="0" rtlCol="0"/>
            <a:lstStyle/>
            <a:p/>
          </p:txBody>
        </p:sp>
        <p:sp>
          <p:nvSpPr>
            <p:cNvPr id="110" name="object 110" descr=""/>
            <p:cNvSpPr/>
            <p:nvPr/>
          </p:nvSpPr>
          <p:spPr>
            <a:xfrm>
              <a:off x="3451555" y="4275175"/>
              <a:ext cx="27940" cy="50800"/>
            </a:xfrm>
            <a:custGeom>
              <a:avLst/>
              <a:gdLst/>
              <a:ahLst/>
              <a:cxnLst/>
              <a:rect l="l" t="t" r="r" b="b"/>
              <a:pathLst>
                <a:path w="27939" h="50800">
                  <a:moveTo>
                    <a:pt x="27838" y="0"/>
                  </a:moveTo>
                  <a:lnTo>
                    <a:pt x="0" y="0"/>
                  </a:lnTo>
                  <a:lnTo>
                    <a:pt x="0" y="50622"/>
                  </a:lnTo>
                  <a:lnTo>
                    <a:pt x="27838" y="50622"/>
                  </a:lnTo>
                  <a:lnTo>
                    <a:pt x="27838" y="0"/>
                  </a:lnTo>
                  <a:close/>
                </a:path>
              </a:pathLst>
            </a:custGeom>
            <a:solidFill>
              <a:srgbClr val="00FFFF"/>
            </a:solidFill>
          </p:spPr>
          <p:txBody>
            <a:bodyPr wrap="square" lIns="0" tIns="0" rIns="0" bIns="0" rtlCol="0"/>
            <a:lstStyle/>
            <a:p/>
          </p:txBody>
        </p:sp>
        <p:sp>
          <p:nvSpPr>
            <p:cNvPr id="111" name="object 111" descr=""/>
            <p:cNvSpPr/>
            <p:nvPr/>
          </p:nvSpPr>
          <p:spPr>
            <a:xfrm>
              <a:off x="3451555" y="4275175"/>
              <a:ext cx="27940" cy="50800"/>
            </a:xfrm>
            <a:custGeom>
              <a:avLst/>
              <a:gdLst/>
              <a:ahLst/>
              <a:cxnLst/>
              <a:rect l="l" t="t" r="r" b="b"/>
              <a:pathLst>
                <a:path w="27939" h="50800">
                  <a:moveTo>
                    <a:pt x="0" y="50622"/>
                  </a:moveTo>
                  <a:lnTo>
                    <a:pt x="27838" y="50622"/>
                  </a:lnTo>
                  <a:lnTo>
                    <a:pt x="27838" y="0"/>
                  </a:lnTo>
                  <a:lnTo>
                    <a:pt x="0" y="0"/>
                  </a:lnTo>
                  <a:lnTo>
                    <a:pt x="0" y="50622"/>
                  </a:lnTo>
                  <a:close/>
                </a:path>
              </a:pathLst>
            </a:custGeom>
            <a:ln w="9525">
              <a:solidFill>
                <a:srgbClr val="000000"/>
              </a:solidFill>
            </a:ln>
          </p:spPr>
          <p:txBody>
            <a:bodyPr wrap="square" lIns="0" tIns="0" rIns="0" bIns="0" rtlCol="0"/>
            <a:lstStyle/>
            <a:p/>
          </p:txBody>
        </p:sp>
        <p:sp>
          <p:nvSpPr>
            <p:cNvPr id="112" name="object 112" descr=""/>
            <p:cNvSpPr/>
            <p:nvPr/>
          </p:nvSpPr>
          <p:spPr>
            <a:xfrm>
              <a:off x="3464986" y="4303652"/>
              <a:ext cx="351790" cy="27305"/>
            </a:xfrm>
            <a:custGeom>
              <a:avLst/>
              <a:gdLst/>
              <a:ahLst/>
              <a:cxnLst/>
              <a:rect l="l" t="t" r="r" b="b"/>
              <a:pathLst>
                <a:path w="351789" h="27304">
                  <a:moveTo>
                    <a:pt x="0" y="0"/>
                  </a:moveTo>
                  <a:lnTo>
                    <a:pt x="101600" y="0"/>
                  </a:lnTo>
                  <a:lnTo>
                    <a:pt x="99644" y="26797"/>
                  </a:lnTo>
                  <a:lnTo>
                    <a:pt x="351701" y="26797"/>
                  </a:lnTo>
                </a:path>
              </a:pathLst>
            </a:custGeom>
            <a:ln w="19050">
              <a:solidFill>
                <a:srgbClr val="0000FF"/>
              </a:solidFill>
            </a:ln>
          </p:spPr>
          <p:txBody>
            <a:bodyPr wrap="square" lIns="0" tIns="0" rIns="0" bIns="0" rtlCol="0"/>
            <a:lstStyle/>
            <a:p/>
          </p:txBody>
        </p:sp>
        <p:sp>
          <p:nvSpPr>
            <p:cNvPr id="113" name="object 113" descr=""/>
            <p:cNvSpPr/>
            <p:nvPr/>
          </p:nvSpPr>
          <p:spPr>
            <a:xfrm>
              <a:off x="2785038" y="4132433"/>
              <a:ext cx="680085" cy="204470"/>
            </a:xfrm>
            <a:custGeom>
              <a:avLst/>
              <a:gdLst/>
              <a:ahLst/>
              <a:cxnLst/>
              <a:rect l="l" t="t" r="r" b="b"/>
              <a:pathLst>
                <a:path w="680085" h="204470">
                  <a:moveTo>
                    <a:pt x="0" y="203974"/>
                  </a:moveTo>
                  <a:lnTo>
                    <a:pt x="679945" y="203974"/>
                  </a:lnTo>
                  <a:lnTo>
                    <a:pt x="677989" y="0"/>
                  </a:lnTo>
                  <a:lnTo>
                    <a:pt x="625233" y="0"/>
                  </a:lnTo>
                </a:path>
              </a:pathLst>
            </a:custGeom>
            <a:ln w="19050">
              <a:solidFill>
                <a:srgbClr val="0000FF"/>
              </a:solidFill>
            </a:ln>
          </p:spPr>
          <p:txBody>
            <a:bodyPr wrap="square" lIns="0" tIns="0" rIns="0" bIns="0" rtlCol="0"/>
            <a:lstStyle/>
            <a:p/>
          </p:txBody>
        </p:sp>
        <p:sp>
          <p:nvSpPr>
            <p:cNvPr id="114" name="object 114" descr=""/>
            <p:cNvSpPr/>
            <p:nvPr/>
          </p:nvSpPr>
          <p:spPr>
            <a:xfrm>
              <a:off x="3816685" y="4308123"/>
              <a:ext cx="57785" cy="44450"/>
            </a:xfrm>
            <a:custGeom>
              <a:avLst/>
              <a:gdLst/>
              <a:ahLst/>
              <a:cxnLst/>
              <a:rect l="l" t="t" r="r" b="b"/>
              <a:pathLst>
                <a:path w="57785" h="44450">
                  <a:moveTo>
                    <a:pt x="28816" y="0"/>
                  </a:moveTo>
                  <a:lnTo>
                    <a:pt x="17600" y="1725"/>
                  </a:lnTo>
                  <a:lnTo>
                    <a:pt x="8440" y="6430"/>
                  </a:lnTo>
                  <a:lnTo>
                    <a:pt x="2264" y="13410"/>
                  </a:lnTo>
                  <a:lnTo>
                    <a:pt x="0" y="21958"/>
                  </a:lnTo>
                  <a:lnTo>
                    <a:pt x="2264" y="30505"/>
                  </a:lnTo>
                  <a:lnTo>
                    <a:pt x="8440" y="37485"/>
                  </a:lnTo>
                  <a:lnTo>
                    <a:pt x="17600" y="42191"/>
                  </a:lnTo>
                  <a:lnTo>
                    <a:pt x="28816" y="43916"/>
                  </a:lnTo>
                  <a:lnTo>
                    <a:pt x="40039" y="42191"/>
                  </a:lnTo>
                  <a:lnTo>
                    <a:pt x="49202" y="37485"/>
                  </a:lnTo>
                  <a:lnTo>
                    <a:pt x="55380" y="30505"/>
                  </a:lnTo>
                  <a:lnTo>
                    <a:pt x="57645" y="21958"/>
                  </a:lnTo>
                  <a:lnTo>
                    <a:pt x="55380" y="13410"/>
                  </a:lnTo>
                  <a:lnTo>
                    <a:pt x="49202" y="6430"/>
                  </a:lnTo>
                  <a:lnTo>
                    <a:pt x="40039" y="1725"/>
                  </a:lnTo>
                  <a:lnTo>
                    <a:pt x="28816" y="0"/>
                  </a:lnTo>
                  <a:close/>
                </a:path>
              </a:pathLst>
            </a:custGeom>
            <a:solidFill>
              <a:srgbClr val="00FFFF"/>
            </a:solidFill>
          </p:spPr>
          <p:txBody>
            <a:bodyPr wrap="square" lIns="0" tIns="0" rIns="0" bIns="0" rtlCol="0"/>
            <a:lstStyle/>
            <a:p/>
          </p:txBody>
        </p:sp>
        <p:sp>
          <p:nvSpPr>
            <p:cNvPr id="115" name="object 115" descr=""/>
            <p:cNvSpPr/>
            <p:nvPr/>
          </p:nvSpPr>
          <p:spPr>
            <a:xfrm>
              <a:off x="3816685" y="4308123"/>
              <a:ext cx="57785" cy="44450"/>
            </a:xfrm>
            <a:custGeom>
              <a:avLst/>
              <a:gdLst/>
              <a:ahLst/>
              <a:cxnLst/>
              <a:rect l="l" t="t" r="r" b="b"/>
              <a:pathLst>
                <a:path w="57785" h="44450">
                  <a:moveTo>
                    <a:pt x="0" y="21958"/>
                  </a:moveTo>
                  <a:lnTo>
                    <a:pt x="2264" y="13410"/>
                  </a:lnTo>
                  <a:lnTo>
                    <a:pt x="8440" y="6430"/>
                  </a:lnTo>
                  <a:lnTo>
                    <a:pt x="17600" y="1725"/>
                  </a:lnTo>
                  <a:lnTo>
                    <a:pt x="28816" y="0"/>
                  </a:lnTo>
                  <a:lnTo>
                    <a:pt x="40039" y="1725"/>
                  </a:lnTo>
                  <a:lnTo>
                    <a:pt x="49202" y="6430"/>
                  </a:lnTo>
                  <a:lnTo>
                    <a:pt x="55380" y="13410"/>
                  </a:lnTo>
                  <a:lnTo>
                    <a:pt x="57645" y="21958"/>
                  </a:lnTo>
                  <a:lnTo>
                    <a:pt x="55380" y="30505"/>
                  </a:lnTo>
                  <a:lnTo>
                    <a:pt x="49202" y="37485"/>
                  </a:lnTo>
                  <a:lnTo>
                    <a:pt x="40039" y="42191"/>
                  </a:lnTo>
                  <a:lnTo>
                    <a:pt x="28816" y="43916"/>
                  </a:lnTo>
                  <a:lnTo>
                    <a:pt x="17600" y="42191"/>
                  </a:lnTo>
                  <a:lnTo>
                    <a:pt x="8440" y="37485"/>
                  </a:lnTo>
                  <a:lnTo>
                    <a:pt x="2264" y="30505"/>
                  </a:lnTo>
                  <a:lnTo>
                    <a:pt x="0" y="21958"/>
                  </a:lnTo>
                  <a:close/>
                </a:path>
              </a:pathLst>
            </a:custGeom>
            <a:ln w="12700">
              <a:solidFill>
                <a:srgbClr val="000000"/>
              </a:solidFill>
            </a:ln>
          </p:spPr>
          <p:txBody>
            <a:bodyPr wrap="square" lIns="0" tIns="0" rIns="0" bIns="0" rtlCol="0"/>
            <a:lstStyle/>
            <a:p/>
          </p:txBody>
        </p:sp>
        <p:sp>
          <p:nvSpPr>
            <p:cNvPr id="116" name="object 116" descr=""/>
            <p:cNvSpPr/>
            <p:nvPr/>
          </p:nvSpPr>
          <p:spPr>
            <a:xfrm>
              <a:off x="3821728" y="4316903"/>
              <a:ext cx="46990" cy="27305"/>
            </a:xfrm>
            <a:custGeom>
              <a:avLst/>
              <a:gdLst/>
              <a:ahLst/>
              <a:cxnLst/>
              <a:rect l="l" t="t" r="r" b="b"/>
              <a:pathLst>
                <a:path w="46989" h="27304">
                  <a:moveTo>
                    <a:pt x="0" y="0"/>
                  </a:moveTo>
                  <a:lnTo>
                    <a:pt x="46837" y="27266"/>
                  </a:lnTo>
                </a:path>
              </a:pathLst>
            </a:custGeom>
            <a:ln w="12700">
              <a:solidFill>
                <a:srgbClr val="000000"/>
              </a:solidFill>
            </a:ln>
          </p:spPr>
          <p:txBody>
            <a:bodyPr wrap="square" lIns="0" tIns="0" rIns="0" bIns="0" rtlCol="0"/>
            <a:lstStyle/>
            <a:p/>
          </p:txBody>
        </p:sp>
        <p:sp>
          <p:nvSpPr>
            <p:cNvPr id="117" name="object 117" descr=""/>
            <p:cNvSpPr/>
            <p:nvPr/>
          </p:nvSpPr>
          <p:spPr>
            <a:xfrm>
              <a:off x="3822449" y="4316905"/>
              <a:ext cx="45085" cy="27305"/>
            </a:xfrm>
            <a:custGeom>
              <a:avLst/>
              <a:gdLst/>
              <a:ahLst/>
              <a:cxnLst/>
              <a:rect l="l" t="t" r="r" b="b"/>
              <a:pathLst>
                <a:path w="45085" h="27304">
                  <a:moveTo>
                    <a:pt x="0" y="27266"/>
                  </a:moveTo>
                  <a:lnTo>
                    <a:pt x="44907" y="0"/>
                  </a:lnTo>
                </a:path>
              </a:pathLst>
            </a:custGeom>
            <a:ln w="12700">
              <a:solidFill>
                <a:srgbClr val="000000"/>
              </a:solidFill>
            </a:ln>
          </p:spPr>
          <p:txBody>
            <a:bodyPr wrap="square" lIns="0" tIns="0" rIns="0" bIns="0" rtlCol="0"/>
            <a:lstStyle/>
            <a:p/>
          </p:txBody>
        </p:sp>
        <p:sp>
          <p:nvSpPr>
            <p:cNvPr id="118" name="object 118" descr=""/>
            <p:cNvSpPr/>
            <p:nvPr/>
          </p:nvSpPr>
          <p:spPr>
            <a:xfrm>
              <a:off x="2738146" y="4308123"/>
              <a:ext cx="57785" cy="44450"/>
            </a:xfrm>
            <a:custGeom>
              <a:avLst/>
              <a:gdLst/>
              <a:ahLst/>
              <a:cxnLst/>
              <a:rect l="l" t="t" r="r" b="b"/>
              <a:pathLst>
                <a:path w="57785" h="44450">
                  <a:moveTo>
                    <a:pt x="28816" y="0"/>
                  </a:moveTo>
                  <a:lnTo>
                    <a:pt x="17600" y="1725"/>
                  </a:lnTo>
                  <a:lnTo>
                    <a:pt x="8440" y="6430"/>
                  </a:lnTo>
                  <a:lnTo>
                    <a:pt x="2264" y="13410"/>
                  </a:lnTo>
                  <a:lnTo>
                    <a:pt x="0" y="21958"/>
                  </a:lnTo>
                  <a:lnTo>
                    <a:pt x="2264" y="30505"/>
                  </a:lnTo>
                  <a:lnTo>
                    <a:pt x="8440" y="37485"/>
                  </a:lnTo>
                  <a:lnTo>
                    <a:pt x="17600" y="42191"/>
                  </a:lnTo>
                  <a:lnTo>
                    <a:pt x="28816" y="43916"/>
                  </a:lnTo>
                  <a:lnTo>
                    <a:pt x="40039" y="42191"/>
                  </a:lnTo>
                  <a:lnTo>
                    <a:pt x="49202" y="37485"/>
                  </a:lnTo>
                  <a:lnTo>
                    <a:pt x="55380" y="30505"/>
                  </a:lnTo>
                  <a:lnTo>
                    <a:pt x="57645" y="21958"/>
                  </a:lnTo>
                  <a:lnTo>
                    <a:pt x="55380" y="13410"/>
                  </a:lnTo>
                  <a:lnTo>
                    <a:pt x="49202" y="6430"/>
                  </a:lnTo>
                  <a:lnTo>
                    <a:pt x="40039" y="1725"/>
                  </a:lnTo>
                  <a:lnTo>
                    <a:pt x="28816" y="0"/>
                  </a:lnTo>
                  <a:close/>
                </a:path>
              </a:pathLst>
            </a:custGeom>
            <a:solidFill>
              <a:srgbClr val="00FFFF"/>
            </a:solidFill>
          </p:spPr>
          <p:txBody>
            <a:bodyPr wrap="square" lIns="0" tIns="0" rIns="0" bIns="0" rtlCol="0"/>
            <a:lstStyle/>
            <a:p/>
          </p:txBody>
        </p:sp>
        <p:sp>
          <p:nvSpPr>
            <p:cNvPr id="119" name="object 119" descr=""/>
            <p:cNvSpPr/>
            <p:nvPr/>
          </p:nvSpPr>
          <p:spPr>
            <a:xfrm>
              <a:off x="2738146" y="4308123"/>
              <a:ext cx="57785" cy="44450"/>
            </a:xfrm>
            <a:custGeom>
              <a:avLst/>
              <a:gdLst/>
              <a:ahLst/>
              <a:cxnLst/>
              <a:rect l="l" t="t" r="r" b="b"/>
              <a:pathLst>
                <a:path w="57785" h="44450">
                  <a:moveTo>
                    <a:pt x="0" y="21958"/>
                  </a:moveTo>
                  <a:lnTo>
                    <a:pt x="2264" y="13410"/>
                  </a:lnTo>
                  <a:lnTo>
                    <a:pt x="8440" y="6430"/>
                  </a:lnTo>
                  <a:lnTo>
                    <a:pt x="17600" y="1725"/>
                  </a:lnTo>
                  <a:lnTo>
                    <a:pt x="28816" y="0"/>
                  </a:lnTo>
                  <a:lnTo>
                    <a:pt x="40039" y="1725"/>
                  </a:lnTo>
                  <a:lnTo>
                    <a:pt x="49202" y="6430"/>
                  </a:lnTo>
                  <a:lnTo>
                    <a:pt x="55380" y="13410"/>
                  </a:lnTo>
                  <a:lnTo>
                    <a:pt x="57645" y="21958"/>
                  </a:lnTo>
                  <a:lnTo>
                    <a:pt x="55380" y="30505"/>
                  </a:lnTo>
                  <a:lnTo>
                    <a:pt x="49202" y="37485"/>
                  </a:lnTo>
                  <a:lnTo>
                    <a:pt x="40039" y="42191"/>
                  </a:lnTo>
                  <a:lnTo>
                    <a:pt x="28816" y="43916"/>
                  </a:lnTo>
                  <a:lnTo>
                    <a:pt x="17600" y="42191"/>
                  </a:lnTo>
                  <a:lnTo>
                    <a:pt x="8440" y="37485"/>
                  </a:lnTo>
                  <a:lnTo>
                    <a:pt x="2264" y="30505"/>
                  </a:lnTo>
                  <a:lnTo>
                    <a:pt x="0" y="21958"/>
                  </a:lnTo>
                  <a:close/>
                </a:path>
              </a:pathLst>
            </a:custGeom>
            <a:ln w="12700">
              <a:solidFill>
                <a:srgbClr val="000000"/>
              </a:solidFill>
            </a:ln>
          </p:spPr>
          <p:txBody>
            <a:bodyPr wrap="square" lIns="0" tIns="0" rIns="0" bIns="0" rtlCol="0"/>
            <a:lstStyle/>
            <a:p/>
          </p:txBody>
        </p:sp>
        <p:sp>
          <p:nvSpPr>
            <p:cNvPr id="120" name="object 120" descr=""/>
            <p:cNvSpPr/>
            <p:nvPr/>
          </p:nvSpPr>
          <p:spPr>
            <a:xfrm>
              <a:off x="2743188" y="4316903"/>
              <a:ext cx="46990" cy="27305"/>
            </a:xfrm>
            <a:custGeom>
              <a:avLst/>
              <a:gdLst/>
              <a:ahLst/>
              <a:cxnLst/>
              <a:rect l="l" t="t" r="r" b="b"/>
              <a:pathLst>
                <a:path w="46989" h="27304">
                  <a:moveTo>
                    <a:pt x="0" y="0"/>
                  </a:moveTo>
                  <a:lnTo>
                    <a:pt x="46837" y="27266"/>
                  </a:lnTo>
                </a:path>
              </a:pathLst>
            </a:custGeom>
            <a:ln w="12700">
              <a:solidFill>
                <a:srgbClr val="000000"/>
              </a:solidFill>
            </a:ln>
          </p:spPr>
          <p:txBody>
            <a:bodyPr wrap="square" lIns="0" tIns="0" rIns="0" bIns="0" rtlCol="0"/>
            <a:lstStyle/>
            <a:p/>
          </p:txBody>
        </p:sp>
        <p:sp>
          <p:nvSpPr>
            <p:cNvPr id="121" name="object 121" descr=""/>
            <p:cNvSpPr/>
            <p:nvPr/>
          </p:nvSpPr>
          <p:spPr>
            <a:xfrm>
              <a:off x="2743909" y="4316905"/>
              <a:ext cx="45085" cy="27305"/>
            </a:xfrm>
            <a:custGeom>
              <a:avLst/>
              <a:gdLst/>
              <a:ahLst/>
              <a:cxnLst/>
              <a:rect l="l" t="t" r="r" b="b"/>
              <a:pathLst>
                <a:path w="45085" h="27304">
                  <a:moveTo>
                    <a:pt x="0" y="27266"/>
                  </a:moveTo>
                  <a:lnTo>
                    <a:pt x="44907" y="0"/>
                  </a:lnTo>
                </a:path>
              </a:pathLst>
            </a:custGeom>
            <a:ln w="12700">
              <a:solidFill>
                <a:srgbClr val="000000"/>
              </a:solidFill>
            </a:ln>
          </p:spPr>
          <p:txBody>
            <a:bodyPr wrap="square" lIns="0" tIns="0" rIns="0" bIns="0" rtlCol="0"/>
            <a:lstStyle/>
            <a:p/>
          </p:txBody>
        </p:sp>
        <p:sp>
          <p:nvSpPr>
            <p:cNvPr id="122" name="object 122" descr=""/>
            <p:cNvSpPr/>
            <p:nvPr/>
          </p:nvSpPr>
          <p:spPr>
            <a:xfrm>
              <a:off x="3233453" y="4304121"/>
              <a:ext cx="0" cy="36195"/>
            </a:xfrm>
            <a:custGeom>
              <a:avLst/>
              <a:gdLst/>
              <a:ahLst/>
              <a:cxnLst/>
              <a:rect l="l" t="t" r="r" b="b"/>
              <a:pathLst>
                <a:path w="0" h="36195">
                  <a:moveTo>
                    <a:pt x="0" y="0"/>
                  </a:moveTo>
                  <a:lnTo>
                    <a:pt x="0" y="35737"/>
                  </a:lnTo>
                </a:path>
              </a:pathLst>
            </a:custGeom>
            <a:ln w="19050">
              <a:solidFill>
                <a:srgbClr val="FF0000"/>
              </a:solidFill>
            </a:ln>
          </p:spPr>
          <p:txBody>
            <a:bodyPr wrap="square" lIns="0" tIns="0" rIns="0" bIns="0" rtlCol="0"/>
            <a:lstStyle/>
            <a:p/>
          </p:txBody>
        </p:sp>
        <p:sp>
          <p:nvSpPr>
            <p:cNvPr id="123" name="object 123" descr=""/>
            <p:cNvSpPr/>
            <p:nvPr/>
          </p:nvSpPr>
          <p:spPr>
            <a:xfrm>
              <a:off x="3230521" y="4002622"/>
              <a:ext cx="0" cy="36195"/>
            </a:xfrm>
            <a:custGeom>
              <a:avLst/>
              <a:gdLst/>
              <a:ahLst/>
              <a:cxnLst/>
              <a:rect l="l" t="t" r="r" b="b"/>
              <a:pathLst>
                <a:path w="0" h="36195">
                  <a:moveTo>
                    <a:pt x="0" y="0"/>
                  </a:moveTo>
                  <a:lnTo>
                    <a:pt x="0" y="35737"/>
                  </a:lnTo>
                </a:path>
              </a:pathLst>
            </a:custGeom>
            <a:ln w="19050">
              <a:solidFill>
                <a:srgbClr val="FF0000"/>
              </a:solidFill>
            </a:ln>
          </p:spPr>
          <p:txBody>
            <a:bodyPr wrap="square" lIns="0" tIns="0" rIns="0" bIns="0" rtlCol="0"/>
            <a:lstStyle/>
            <a:p/>
          </p:txBody>
        </p:sp>
        <p:sp>
          <p:nvSpPr>
            <p:cNvPr id="124" name="object 124" descr=""/>
            <p:cNvSpPr/>
            <p:nvPr/>
          </p:nvSpPr>
          <p:spPr>
            <a:xfrm>
              <a:off x="3816685" y="4002624"/>
              <a:ext cx="57785" cy="44450"/>
            </a:xfrm>
            <a:custGeom>
              <a:avLst/>
              <a:gdLst/>
              <a:ahLst/>
              <a:cxnLst/>
              <a:rect l="l" t="t" r="r" b="b"/>
              <a:pathLst>
                <a:path w="57785" h="44450">
                  <a:moveTo>
                    <a:pt x="28816" y="0"/>
                  </a:moveTo>
                  <a:lnTo>
                    <a:pt x="17600" y="1725"/>
                  </a:lnTo>
                  <a:lnTo>
                    <a:pt x="8440" y="6430"/>
                  </a:lnTo>
                  <a:lnTo>
                    <a:pt x="2264" y="13410"/>
                  </a:lnTo>
                  <a:lnTo>
                    <a:pt x="0" y="21958"/>
                  </a:lnTo>
                  <a:lnTo>
                    <a:pt x="2264" y="30505"/>
                  </a:lnTo>
                  <a:lnTo>
                    <a:pt x="8440" y="37485"/>
                  </a:lnTo>
                  <a:lnTo>
                    <a:pt x="17600" y="42191"/>
                  </a:lnTo>
                  <a:lnTo>
                    <a:pt x="28816" y="43916"/>
                  </a:lnTo>
                  <a:lnTo>
                    <a:pt x="40039" y="42191"/>
                  </a:lnTo>
                  <a:lnTo>
                    <a:pt x="49202" y="37485"/>
                  </a:lnTo>
                  <a:lnTo>
                    <a:pt x="55380" y="30505"/>
                  </a:lnTo>
                  <a:lnTo>
                    <a:pt x="57645" y="21958"/>
                  </a:lnTo>
                  <a:lnTo>
                    <a:pt x="55380" y="13410"/>
                  </a:lnTo>
                  <a:lnTo>
                    <a:pt x="49202" y="6430"/>
                  </a:lnTo>
                  <a:lnTo>
                    <a:pt x="40039" y="1725"/>
                  </a:lnTo>
                  <a:lnTo>
                    <a:pt x="28816" y="0"/>
                  </a:lnTo>
                  <a:close/>
                </a:path>
              </a:pathLst>
            </a:custGeom>
            <a:solidFill>
              <a:srgbClr val="00FFFF"/>
            </a:solidFill>
          </p:spPr>
          <p:txBody>
            <a:bodyPr wrap="square" lIns="0" tIns="0" rIns="0" bIns="0" rtlCol="0"/>
            <a:lstStyle/>
            <a:p/>
          </p:txBody>
        </p:sp>
        <p:sp>
          <p:nvSpPr>
            <p:cNvPr id="125" name="object 125" descr=""/>
            <p:cNvSpPr/>
            <p:nvPr/>
          </p:nvSpPr>
          <p:spPr>
            <a:xfrm>
              <a:off x="3816685" y="4002624"/>
              <a:ext cx="57785" cy="44450"/>
            </a:xfrm>
            <a:custGeom>
              <a:avLst/>
              <a:gdLst/>
              <a:ahLst/>
              <a:cxnLst/>
              <a:rect l="l" t="t" r="r" b="b"/>
              <a:pathLst>
                <a:path w="57785" h="44450">
                  <a:moveTo>
                    <a:pt x="0" y="21958"/>
                  </a:moveTo>
                  <a:lnTo>
                    <a:pt x="2264" y="13410"/>
                  </a:lnTo>
                  <a:lnTo>
                    <a:pt x="8440" y="6430"/>
                  </a:lnTo>
                  <a:lnTo>
                    <a:pt x="17600" y="1725"/>
                  </a:lnTo>
                  <a:lnTo>
                    <a:pt x="28816" y="0"/>
                  </a:lnTo>
                  <a:lnTo>
                    <a:pt x="40039" y="1725"/>
                  </a:lnTo>
                  <a:lnTo>
                    <a:pt x="49202" y="6430"/>
                  </a:lnTo>
                  <a:lnTo>
                    <a:pt x="55380" y="13410"/>
                  </a:lnTo>
                  <a:lnTo>
                    <a:pt x="57645" y="21958"/>
                  </a:lnTo>
                  <a:lnTo>
                    <a:pt x="55380" y="30505"/>
                  </a:lnTo>
                  <a:lnTo>
                    <a:pt x="49202" y="37485"/>
                  </a:lnTo>
                  <a:lnTo>
                    <a:pt x="40039" y="42191"/>
                  </a:lnTo>
                  <a:lnTo>
                    <a:pt x="28816" y="43916"/>
                  </a:lnTo>
                  <a:lnTo>
                    <a:pt x="17600" y="42191"/>
                  </a:lnTo>
                  <a:lnTo>
                    <a:pt x="8440" y="37485"/>
                  </a:lnTo>
                  <a:lnTo>
                    <a:pt x="2264" y="30505"/>
                  </a:lnTo>
                  <a:lnTo>
                    <a:pt x="0" y="21958"/>
                  </a:lnTo>
                  <a:close/>
                </a:path>
              </a:pathLst>
            </a:custGeom>
            <a:ln w="12700">
              <a:solidFill>
                <a:srgbClr val="000000"/>
              </a:solidFill>
            </a:ln>
          </p:spPr>
          <p:txBody>
            <a:bodyPr wrap="square" lIns="0" tIns="0" rIns="0" bIns="0" rtlCol="0"/>
            <a:lstStyle/>
            <a:p/>
          </p:txBody>
        </p:sp>
        <p:sp>
          <p:nvSpPr>
            <p:cNvPr id="126" name="object 126" descr=""/>
            <p:cNvSpPr/>
            <p:nvPr/>
          </p:nvSpPr>
          <p:spPr>
            <a:xfrm>
              <a:off x="3821728" y="4011405"/>
              <a:ext cx="46990" cy="27305"/>
            </a:xfrm>
            <a:custGeom>
              <a:avLst/>
              <a:gdLst/>
              <a:ahLst/>
              <a:cxnLst/>
              <a:rect l="l" t="t" r="r" b="b"/>
              <a:pathLst>
                <a:path w="46989" h="27304">
                  <a:moveTo>
                    <a:pt x="0" y="0"/>
                  </a:moveTo>
                  <a:lnTo>
                    <a:pt x="46837" y="27266"/>
                  </a:lnTo>
                </a:path>
              </a:pathLst>
            </a:custGeom>
            <a:ln w="12700">
              <a:solidFill>
                <a:srgbClr val="000000"/>
              </a:solidFill>
            </a:ln>
          </p:spPr>
          <p:txBody>
            <a:bodyPr wrap="square" lIns="0" tIns="0" rIns="0" bIns="0" rtlCol="0"/>
            <a:lstStyle/>
            <a:p/>
          </p:txBody>
        </p:sp>
        <p:sp>
          <p:nvSpPr>
            <p:cNvPr id="127" name="object 127" descr=""/>
            <p:cNvSpPr/>
            <p:nvPr/>
          </p:nvSpPr>
          <p:spPr>
            <a:xfrm>
              <a:off x="3822449" y="4011406"/>
              <a:ext cx="45085" cy="27305"/>
            </a:xfrm>
            <a:custGeom>
              <a:avLst/>
              <a:gdLst/>
              <a:ahLst/>
              <a:cxnLst/>
              <a:rect l="l" t="t" r="r" b="b"/>
              <a:pathLst>
                <a:path w="45085" h="27304">
                  <a:moveTo>
                    <a:pt x="0" y="27266"/>
                  </a:moveTo>
                  <a:lnTo>
                    <a:pt x="44907" y="0"/>
                  </a:lnTo>
                </a:path>
              </a:pathLst>
            </a:custGeom>
            <a:ln w="12700">
              <a:solidFill>
                <a:srgbClr val="000000"/>
              </a:solidFill>
            </a:ln>
          </p:spPr>
          <p:txBody>
            <a:bodyPr wrap="square" lIns="0" tIns="0" rIns="0" bIns="0" rtlCol="0"/>
            <a:lstStyle/>
            <a:p/>
          </p:txBody>
        </p:sp>
        <p:sp>
          <p:nvSpPr>
            <p:cNvPr id="128" name="object 128" descr=""/>
            <p:cNvSpPr/>
            <p:nvPr/>
          </p:nvSpPr>
          <p:spPr>
            <a:xfrm>
              <a:off x="3451555" y="4033697"/>
              <a:ext cx="27940" cy="50800"/>
            </a:xfrm>
            <a:custGeom>
              <a:avLst/>
              <a:gdLst/>
              <a:ahLst/>
              <a:cxnLst/>
              <a:rect l="l" t="t" r="r" b="b"/>
              <a:pathLst>
                <a:path w="27939" h="50800">
                  <a:moveTo>
                    <a:pt x="27838" y="0"/>
                  </a:moveTo>
                  <a:lnTo>
                    <a:pt x="0" y="0"/>
                  </a:lnTo>
                  <a:lnTo>
                    <a:pt x="0" y="50622"/>
                  </a:lnTo>
                  <a:lnTo>
                    <a:pt x="27838" y="50622"/>
                  </a:lnTo>
                  <a:lnTo>
                    <a:pt x="27838" y="0"/>
                  </a:lnTo>
                  <a:close/>
                </a:path>
              </a:pathLst>
            </a:custGeom>
            <a:solidFill>
              <a:srgbClr val="00FFFF"/>
            </a:solidFill>
          </p:spPr>
          <p:txBody>
            <a:bodyPr wrap="square" lIns="0" tIns="0" rIns="0" bIns="0" rtlCol="0"/>
            <a:lstStyle/>
            <a:p/>
          </p:txBody>
        </p:sp>
        <p:sp>
          <p:nvSpPr>
            <p:cNvPr id="129" name="object 129" descr=""/>
            <p:cNvSpPr/>
            <p:nvPr/>
          </p:nvSpPr>
          <p:spPr>
            <a:xfrm>
              <a:off x="3451555" y="4033697"/>
              <a:ext cx="27940" cy="50800"/>
            </a:xfrm>
            <a:custGeom>
              <a:avLst/>
              <a:gdLst/>
              <a:ahLst/>
              <a:cxnLst/>
              <a:rect l="l" t="t" r="r" b="b"/>
              <a:pathLst>
                <a:path w="27939" h="50800">
                  <a:moveTo>
                    <a:pt x="0" y="0"/>
                  </a:moveTo>
                  <a:lnTo>
                    <a:pt x="27838" y="0"/>
                  </a:lnTo>
                  <a:lnTo>
                    <a:pt x="27838" y="50622"/>
                  </a:lnTo>
                  <a:lnTo>
                    <a:pt x="0" y="50622"/>
                  </a:lnTo>
                  <a:lnTo>
                    <a:pt x="0" y="0"/>
                  </a:lnTo>
                  <a:close/>
                </a:path>
              </a:pathLst>
            </a:custGeom>
            <a:ln w="9525">
              <a:solidFill>
                <a:srgbClr val="000000"/>
              </a:solidFill>
            </a:ln>
          </p:spPr>
          <p:txBody>
            <a:bodyPr wrap="square" lIns="0" tIns="0" rIns="0" bIns="0" rtlCol="0"/>
            <a:lstStyle/>
            <a:p/>
          </p:txBody>
        </p:sp>
        <p:sp>
          <p:nvSpPr>
            <p:cNvPr id="130" name="object 130" descr=""/>
            <p:cNvSpPr/>
            <p:nvPr/>
          </p:nvSpPr>
          <p:spPr>
            <a:xfrm>
              <a:off x="3292068" y="4118754"/>
              <a:ext cx="91440" cy="0"/>
            </a:xfrm>
            <a:custGeom>
              <a:avLst/>
              <a:gdLst/>
              <a:ahLst/>
              <a:cxnLst/>
              <a:rect l="l" t="t" r="r" b="b"/>
              <a:pathLst>
                <a:path w="91439" h="0">
                  <a:moveTo>
                    <a:pt x="0" y="0"/>
                  </a:moveTo>
                  <a:lnTo>
                    <a:pt x="90855" y="0"/>
                  </a:lnTo>
                </a:path>
              </a:pathLst>
            </a:custGeom>
            <a:ln w="19050">
              <a:solidFill>
                <a:srgbClr val="0000FF"/>
              </a:solidFill>
            </a:ln>
          </p:spPr>
          <p:txBody>
            <a:bodyPr wrap="square" lIns="0" tIns="0" rIns="0" bIns="0" rtlCol="0"/>
            <a:lstStyle/>
            <a:p/>
          </p:txBody>
        </p:sp>
        <p:sp>
          <p:nvSpPr>
            <p:cNvPr id="131" name="object 131" descr=""/>
            <p:cNvSpPr/>
            <p:nvPr/>
          </p:nvSpPr>
          <p:spPr>
            <a:xfrm>
              <a:off x="3464986" y="4027935"/>
              <a:ext cx="351790" cy="27305"/>
            </a:xfrm>
            <a:custGeom>
              <a:avLst/>
              <a:gdLst/>
              <a:ahLst/>
              <a:cxnLst/>
              <a:rect l="l" t="t" r="r" b="b"/>
              <a:pathLst>
                <a:path w="351789" h="27304">
                  <a:moveTo>
                    <a:pt x="0" y="26796"/>
                  </a:moveTo>
                  <a:lnTo>
                    <a:pt x="101600" y="26796"/>
                  </a:lnTo>
                  <a:lnTo>
                    <a:pt x="99644" y="0"/>
                  </a:lnTo>
                  <a:lnTo>
                    <a:pt x="351701" y="0"/>
                  </a:lnTo>
                </a:path>
              </a:pathLst>
            </a:custGeom>
            <a:ln w="19050">
              <a:solidFill>
                <a:srgbClr val="0000FF"/>
              </a:solidFill>
            </a:ln>
          </p:spPr>
          <p:txBody>
            <a:bodyPr wrap="square" lIns="0" tIns="0" rIns="0" bIns="0" rtlCol="0"/>
            <a:lstStyle/>
            <a:p/>
          </p:txBody>
        </p:sp>
        <p:sp>
          <p:nvSpPr>
            <p:cNvPr id="132" name="object 132" descr=""/>
            <p:cNvSpPr/>
            <p:nvPr/>
          </p:nvSpPr>
          <p:spPr>
            <a:xfrm>
              <a:off x="3212937" y="3976944"/>
              <a:ext cx="252095" cy="125730"/>
            </a:xfrm>
            <a:custGeom>
              <a:avLst/>
              <a:gdLst/>
              <a:ahLst/>
              <a:cxnLst/>
              <a:rect l="l" t="t" r="r" b="b"/>
              <a:pathLst>
                <a:path w="252095" h="125729">
                  <a:moveTo>
                    <a:pt x="0" y="8928"/>
                  </a:moveTo>
                  <a:lnTo>
                    <a:pt x="0" y="0"/>
                  </a:lnTo>
                  <a:lnTo>
                    <a:pt x="252044" y="0"/>
                  </a:lnTo>
                  <a:lnTo>
                    <a:pt x="252044" y="43548"/>
                  </a:lnTo>
                  <a:lnTo>
                    <a:pt x="252044" y="125437"/>
                  </a:lnTo>
                  <a:lnTo>
                    <a:pt x="193433" y="125437"/>
                  </a:lnTo>
                </a:path>
              </a:pathLst>
            </a:custGeom>
            <a:ln w="19050">
              <a:solidFill>
                <a:srgbClr val="0000FF"/>
              </a:solidFill>
            </a:ln>
          </p:spPr>
          <p:txBody>
            <a:bodyPr wrap="square" lIns="0" tIns="0" rIns="0" bIns="0" rtlCol="0"/>
            <a:lstStyle/>
            <a:p/>
          </p:txBody>
        </p:sp>
        <p:sp>
          <p:nvSpPr>
            <p:cNvPr id="133" name="object 133" descr=""/>
            <p:cNvSpPr/>
            <p:nvPr/>
          </p:nvSpPr>
          <p:spPr>
            <a:xfrm>
              <a:off x="3383165" y="4091774"/>
              <a:ext cx="27940" cy="50800"/>
            </a:xfrm>
            <a:custGeom>
              <a:avLst/>
              <a:gdLst/>
              <a:ahLst/>
              <a:cxnLst/>
              <a:rect l="l" t="t" r="r" b="b"/>
              <a:pathLst>
                <a:path w="27939" h="50800">
                  <a:moveTo>
                    <a:pt x="27838" y="0"/>
                  </a:moveTo>
                  <a:lnTo>
                    <a:pt x="0" y="0"/>
                  </a:lnTo>
                  <a:lnTo>
                    <a:pt x="0" y="50622"/>
                  </a:lnTo>
                  <a:lnTo>
                    <a:pt x="27838" y="50622"/>
                  </a:lnTo>
                  <a:lnTo>
                    <a:pt x="27838" y="0"/>
                  </a:lnTo>
                  <a:close/>
                </a:path>
              </a:pathLst>
            </a:custGeom>
            <a:solidFill>
              <a:srgbClr val="00FFFF"/>
            </a:solidFill>
          </p:spPr>
          <p:txBody>
            <a:bodyPr wrap="square" lIns="0" tIns="0" rIns="0" bIns="0" rtlCol="0"/>
            <a:lstStyle/>
            <a:p/>
          </p:txBody>
        </p:sp>
        <p:sp>
          <p:nvSpPr>
            <p:cNvPr id="134" name="object 134" descr=""/>
            <p:cNvSpPr/>
            <p:nvPr/>
          </p:nvSpPr>
          <p:spPr>
            <a:xfrm>
              <a:off x="3383165" y="4091774"/>
              <a:ext cx="27940" cy="50800"/>
            </a:xfrm>
            <a:custGeom>
              <a:avLst/>
              <a:gdLst/>
              <a:ahLst/>
              <a:cxnLst/>
              <a:rect l="l" t="t" r="r" b="b"/>
              <a:pathLst>
                <a:path w="27939" h="50800">
                  <a:moveTo>
                    <a:pt x="0" y="0"/>
                  </a:moveTo>
                  <a:lnTo>
                    <a:pt x="27838" y="0"/>
                  </a:lnTo>
                  <a:lnTo>
                    <a:pt x="27838" y="50622"/>
                  </a:lnTo>
                  <a:lnTo>
                    <a:pt x="0" y="50622"/>
                  </a:lnTo>
                  <a:lnTo>
                    <a:pt x="0" y="0"/>
                  </a:lnTo>
                  <a:close/>
                </a:path>
              </a:pathLst>
            </a:custGeom>
            <a:ln w="9525">
              <a:solidFill>
                <a:srgbClr val="000000"/>
              </a:solidFill>
            </a:ln>
          </p:spPr>
          <p:txBody>
            <a:bodyPr wrap="square" lIns="0" tIns="0" rIns="0" bIns="0" rtlCol="0"/>
            <a:lstStyle/>
            <a:p/>
          </p:txBody>
        </p:sp>
        <p:sp>
          <p:nvSpPr>
            <p:cNvPr id="135" name="object 135" descr=""/>
            <p:cNvSpPr/>
            <p:nvPr/>
          </p:nvSpPr>
          <p:spPr>
            <a:xfrm>
              <a:off x="3451555" y="4273410"/>
              <a:ext cx="27940" cy="50800"/>
            </a:xfrm>
            <a:custGeom>
              <a:avLst/>
              <a:gdLst/>
              <a:ahLst/>
              <a:cxnLst/>
              <a:rect l="l" t="t" r="r" b="b"/>
              <a:pathLst>
                <a:path w="27939" h="50800">
                  <a:moveTo>
                    <a:pt x="27838" y="0"/>
                  </a:moveTo>
                  <a:lnTo>
                    <a:pt x="0" y="0"/>
                  </a:lnTo>
                  <a:lnTo>
                    <a:pt x="0" y="50622"/>
                  </a:lnTo>
                  <a:lnTo>
                    <a:pt x="27838" y="50622"/>
                  </a:lnTo>
                  <a:lnTo>
                    <a:pt x="27838" y="0"/>
                  </a:lnTo>
                  <a:close/>
                </a:path>
              </a:pathLst>
            </a:custGeom>
            <a:solidFill>
              <a:srgbClr val="00FFFF"/>
            </a:solidFill>
          </p:spPr>
          <p:txBody>
            <a:bodyPr wrap="square" lIns="0" tIns="0" rIns="0" bIns="0" rtlCol="0"/>
            <a:lstStyle/>
            <a:p/>
          </p:txBody>
        </p:sp>
        <p:sp>
          <p:nvSpPr>
            <p:cNvPr id="136" name="object 136" descr=""/>
            <p:cNvSpPr/>
            <p:nvPr/>
          </p:nvSpPr>
          <p:spPr>
            <a:xfrm>
              <a:off x="3451555" y="4273410"/>
              <a:ext cx="27940" cy="50800"/>
            </a:xfrm>
            <a:custGeom>
              <a:avLst/>
              <a:gdLst/>
              <a:ahLst/>
              <a:cxnLst/>
              <a:rect l="l" t="t" r="r" b="b"/>
              <a:pathLst>
                <a:path w="27939" h="50800">
                  <a:moveTo>
                    <a:pt x="0" y="50622"/>
                  </a:moveTo>
                  <a:lnTo>
                    <a:pt x="27838" y="50622"/>
                  </a:lnTo>
                  <a:lnTo>
                    <a:pt x="27838" y="0"/>
                  </a:lnTo>
                  <a:lnTo>
                    <a:pt x="0" y="0"/>
                  </a:lnTo>
                  <a:lnTo>
                    <a:pt x="0" y="50622"/>
                  </a:lnTo>
                  <a:close/>
                </a:path>
              </a:pathLst>
            </a:custGeom>
            <a:ln w="9525">
              <a:solidFill>
                <a:srgbClr val="000000"/>
              </a:solidFill>
            </a:ln>
          </p:spPr>
          <p:txBody>
            <a:bodyPr wrap="square" lIns="0" tIns="0" rIns="0" bIns="0" rtlCol="0"/>
            <a:lstStyle/>
            <a:p/>
          </p:txBody>
        </p:sp>
        <p:sp>
          <p:nvSpPr>
            <p:cNvPr id="137" name="object 137" descr=""/>
            <p:cNvSpPr/>
            <p:nvPr/>
          </p:nvSpPr>
          <p:spPr>
            <a:xfrm>
              <a:off x="3464986" y="4301887"/>
              <a:ext cx="351790" cy="27305"/>
            </a:xfrm>
            <a:custGeom>
              <a:avLst/>
              <a:gdLst/>
              <a:ahLst/>
              <a:cxnLst/>
              <a:rect l="l" t="t" r="r" b="b"/>
              <a:pathLst>
                <a:path w="351789" h="27304">
                  <a:moveTo>
                    <a:pt x="0" y="0"/>
                  </a:moveTo>
                  <a:lnTo>
                    <a:pt x="101600" y="0"/>
                  </a:lnTo>
                  <a:lnTo>
                    <a:pt x="99644" y="26796"/>
                  </a:lnTo>
                  <a:lnTo>
                    <a:pt x="351701" y="26796"/>
                  </a:lnTo>
                </a:path>
              </a:pathLst>
            </a:custGeom>
            <a:ln w="19050">
              <a:solidFill>
                <a:srgbClr val="0000FF"/>
              </a:solidFill>
            </a:ln>
          </p:spPr>
          <p:txBody>
            <a:bodyPr wrap="square" lIns="0" tIns="0" rIns="0" bIns="0" rtlCol="0"/>
            <a:lstStyle/>
            <a:p/>
          </p:txBody>
        </p:sp>
        <p:sp>
          <p:nvSpPr>
            <p:cNvPr id="138" name="object 138" descr=""/>
            <p:cNvSpPr/>
            <p:nvPr/>
          </p:nvSpPr>
          <p:spPr>
            <a:xfrm>
              <a:off x="3210984" y="4130671"/>
              <a:ext cx="254000" cy="234950"/>
            </a:xfrm>
            <a:custGeom>
              <a:avLst/>
              <a:gdLst/>
              <a:ahLst/>
              <a:cxnLst/>
              <a:rect l="l" t="t" r="r" b="b"/>
              <a:pathLst>
                <a:path w="254000" h="234950">
                  <a:moveTo>
                    <a:pt x="0" y="215137"/>
                  </a:moveTo>
                  <a:lnTo>
                    <a:pt x="482" y="234861"/>
                  </a:lnTo>
                  <a:lnTo>
                    <a:pt x="254000" y="234861"/>
                  </a:lnTo>
                  <a:lnTo>
                    <a:pt x="254000" y="368"/>
                  </a:lnTo>
                  <a:lnTo>
                    <a:pt x="199301" y="0"/>
                  </a:lnTo>
                </a:path>
              </a:pathLst>
            </a:custGeom>
            <a:ln w="19050">
              <a:solidFill>
                <a:srgbClr val="0000FF"/>
              </a:solidFill>
            </a:ln>
          </p:spPr>
          <p:txBody>
            <a:bodyPr wrap="square" lIns="0" tIns="0" rIns="0" bIns="0" rtlCol="0"/>
            <a:lstStyle/>
            <a:p/>
          </p:txBody>
        </p:sp>
        <p:sp>
          <p:nvSpPr>
            <p:cNvPr id="139" name="object 139" descr=""/>
            <p:cNvSpPr/>
            <p:nvPr/>
          </p:nvSpPr>
          <p:spPr>
            <a:xfrm>
              <a:off x="3816685" y="4306356"/>
              <a:ext cx="57785" cy="44450"/>
            </a:xfrm>
            <a:custGeom>
              <a:avLst/>
              <a:gdLst/>
              <a:ahLst/>
              <a:cxnLst/>
              <a:rect l="l" t="t" r="r" b="b"/>
              <a:pathLst>
                <a:path w="57785" h="44450">
                  <a:moveTo>
                    <a:pt x="28816" y="0"/>
                  </a:moveTo>
                  <a:lnTo>
                    <a:pt x="17600" y="1725"/>
                  </a:lnTo>
                  <a:lnTo>
                    <a:pt x="8440" y="6430"/>
                  </a:lnTo>
                  <a:lnTo>
                    <a:pt x="2264" y="13410"/>
                  </a:lnTo>
                  <a:lnTo>
                    <a:pt x="0" y="21958"/>
                  </a:lnTo>
                  <a:lnTo>
                    <a:pt x="2264" y="30505"/>
                  </a:lnTo>
                  <a:lnTo>
                    <a:pt x="8440" y="37485"/>
                  </a:lnTo>
                  <a:lnTo>
                    <a:pt x="17600" y="42191"/>
                  </a:lnTo>
                  <a:lnTo>
                    <a:pt x="28816" y="43916"/>
                  </a:lnTo>
                  <a:lnTo>
                    <a:pt x="40039" y="42191"/>
                  </a:lnTo>
                  <a:lnTo>
                    <a:pt x="49202" y="37485"/>
                  </a:lnTo>
                  <a:lnTo>
                    <a:pt x="55380" y="30505"/>
                  </a:lnTo>
                  <a:lnTo>
                    <a:pt x="57645" y="21958"/>
                  </a:lnTo>
                  <a:lnTo>
                    <a:pt x="55380" y="13410"/>
                  </a:lnTo>
                  <a:lnTo>
                    <a:pt x="49202" y="6430"/>
                  </a:lnTo>
                  <a:lnTo>
                    <a:pt x="40039" y="1725"/>
                  </a:lnTo>
                  <a:lnTo>
                    <a:pt x="28816" y="0"/>
                  </a:lnTo>
                  <a:close/>
                </a:path>
              </a:pathLst>
            </a:custGeom>
            <a:solidFill>
              <a:srgbClr val="00FFFF"/>
            </a:solidFill>
          </p:spPr>
          <p:txBody>
            <a:bodyPr wrap="square" lIns="0" tIns="0" rIns="0" bIns="0" rtlCol="0"/>
            <a:lstStyle/>
            <a:p/>
          </p:txBody>
        </p:sp>
        <p:sp>
          <p:nvSpPr>
            <p:cNvPr id="140" name="object 140" descr=""/>
            <p:cNvSpPr/>
            <p:nvPr/>
          </p:nvSpPr>
          <p:spPr>
            <a:xfrm>
              <a:off x="3816685" y="4306356"/>
              <a:ext cx="57785" cy="44450"/>
            </a:xfrm>
            <a:custGeom>
              <a:avLst/>
              <a:gdLst/>
              <a:ahLst/>
              <a:cxnLst/>
              <a:rect l="l" t="t" r="r" b="b"/>
              <a:pathLst>
                <a:path w="57785" h="44450">
                  <a:moveTo>
                    <a:pt x="0" y="21958"/>
                  </a:moveTo>
                  <a:lnTo>
                    <a:pt x="2264" y="13410"/>
                  </a:lnTo>
                  <a:lnTo>
                    <a:pt x="8440" y="6430"/>
                  </a:lnTo>
                  <a:lnTo>
                    <a:pt x="17600" y="1725"/>
                  </a:lnTo>
                  <a:lnTo>
                    <a:pt x="28816" y="0"/>
                  </a:lnTo>
                  <a:lnTo>
                    <a:pt x="40039" y="1725"/>
                  </a:lnTo>
                  <a:lnTo>
                    <a:pt x="49202" y="6430"/>
                  </a:lnTo>
                  <a:lnTo>
                    <a:pt x="55380" y="13410"/>
                  </a:lnTo>
                  <a:lnTo>
                    <a:pt x="57645" y="21958"/>
                  </a:lnTo>
                  <a:lnTo>
                    <a:pt x="55380" y="30505"/>
                  </a:lnTo>
                  <a:lnTo>
                    <a:pt x="49202" y="37485"/>
                  </a:lnTo>
                  <a:lnTo>
                    <a:pt x="40039" y="42191"/>
                  </a:lnTo>
                  <a:lnTo>
                    <a:pt x="28816" y="43916"/>
                  </a:lnTo>
                  <a:lnTo>
                    <a:pt x="17600" y="42191"/>
                  </a:lnTo>
                  <a:lnTo>
                    <a:pt x="8440" y="37485"/>
                  </a:lnTo>
                  <a:lnTo>
                    <a:pt x="2264" y="30505"/>
                  </a:lnTo>
                  <a:lnTo>
                    <a:pt x="0" y="21958"/>
                  </a:lnTo>
                  <a:close/>
                </a:path>
              </a:pathLst>
            </a:custGeom>
            <a:ln w="12700">
              <a:solidFill>
                <a:srgbClr val="000000"/>
              </a:solidFill>
            </a:ln>
          </p:spPr>
          <p:txBody>
            <a:bodyPr wrap="square" lIns="0" tIns="0" rIns="0" bIns="0" rtlCol="0"/>
            <a:lstStyle/>
            <a:p/>
          </p:txBody>
        </p:sp>
        <p:sp>
          <p:nvSpPr>
            <p:cNvPr id="141" name="object 141" descr=""/>
            <p:cNvSpPr/>
            <p:nvPr/>
          </p:nvSpPr>
          <p:spPr>
            <a:xfrm>
              <a:off x="3821728" y="4315138"/>
              <a:ext cx="46990" cy="27305"/>
            </a:xfrm>
            <a:custGeom>
              <a:avLst/>
              <a:gdLst/>
              <a:ahLst/>
              <a:cxnLst/>
              <a:rect l="l" t="t" r="r" b="b"/>
              <a:pathLst>
                <a:path w="46989" h="27304">
                  <a:moveTo>
                    <a:pt x="0" y="0"/>
                  </a:moveTo>
                  <a:lnTo>
                    <a:pt x="46837" y="27266"/>
                  </a:lnTo>
                </a:path>
              </a:pathLst>
            </a:custGeom>
            <a:ln w="12700">
              <a:solidFill>
                <a:srgbClr val="000000"/>
              </a:solidFill>
            </a:ln>
          </p:spPr>
          <p:txBody>
            <a:bodyPr wrap="square" lIns="0" tIns="0" rIns="0" bIns="0" rtlCol="0"/>
            <a:lstStyle/>
            <a:p/>
          </p:txBody>
        </p:sp>
        <p:sp>
          <p:nvSpPr>
            <p:cNvPr id="142" name="object 142" descr=""/>
            <p:cNvSpPr/>
            <p:nvPr/>
          </p:nvSpPr>
          <p:spPr>
            <a:xfrm>
              <a:off x="3822449" y="4315138"/>
              <a:ext cx="45085" cy="27305"/>
            </a:xfrm>
            <a:custGeom>
              <a:avLst/>
              <a:gdLst/>
              <a:ahLst/>
              <a:cxnLst/>
              <a:rect l="l" t="t" r="r" b="b"/>
              <a:pathLst>
                <a:path w="45085" h="27304">
                  <a:moveTo>
                    <a:pt x="0" y="27266"/>
                  </a:moveTo>
                  <a:lnTo>
                    <a:pt x="44907" y="0"/>
                  </a:lnTo>
                </a:path>
              </a:pathLst>
            </a:custGeom>
            <a:ln w="12700">
              <a:solidFill>
                <a:srgbClr val="000000"/>
              </a:solidFill>
            </a:ln>
          </p:spPr>
          <p:txBody>
            <a:bodyPr wrap="square" lIns="0" tIns="0" rIns="0" bIns="0" rtlCol="0"/>
            <a:lstStyle/>
            <a:p/>
          </p:txBody>
        </p:sp>
        <p:sp>
          <p:nvSpPr>
            <p:cNvPr id="143" name="object 143" descr=""/>
            <p:cNvSpPr/>
            <p:nvPr/>
          </p:nvSpPr>
          <p:spPr>
            <a:xfrm>
              <a:off x="3207076" y="4015652"/>
              <a:ext cx="57785" cy="44450"/>
            </a:xfrm>
            <a:custGeom>
              <a:avLst/>
              <a:gdLst/>
              <a:ahLst/>
              <a:cxnLst/>
              <a:rect l="l" t="t" r="r" b="b"/>
              <a:pathLst>
                <a:path w="57785" h="44450">
                  <a:moveTo>
                    <a:pt x="28816" y="0"/>
                  </a:moveTo>
                  <a:lnTo>
                    <a:pt x="17600" y="1725"/>
                  </a:lnTo>
                  <a:lnTo>
                    <a:pt x="8440" y="6430"/>
                  </a:lnTo>
                  <a:lnTo>
                    <a:pt x="2264" y="13410"/>
                  </a:lnTo>
                  <a:lnTo>
                    <a:pt x="0" y="21958"/>
                  </a:lnTo>
                  <a:lnTo>
                    <a:pt x="2264" y="30505"/>
                  </a:lnTo>
                  <a:lnTo>
                    <a:pt x="8440" y="37485"/>
                  </a:lnTo>
                  <a:lnTo>
                    <a:pt x="17600" y="42191"/>
                  </a:lnTo>
                  <a:lnTo>
                    <a:pt x="28816" y="43916"/>
                  </a:lnTo>
                  <a:lnTo>
                    <a:pt x="40039" y="42191"/>
                  </a:lnTo>
                  <a:lnTo>
                    <a:pt x="49202" y="37485"/>
                  </a:lnTo>
                  <a:lnTo>
                    <a:pt x="55380" y="30505"/>
                  </a:lnTo>
                  <a:lnTo>
                    <a:pt x="57645" y="21958"/>
                  </a:lnTo>
                  <a:lnTo>
                    <a:pt x="55380" y="13410"/>
                  </a:lnTo>
                  <a:lnTo>
                    <a:pt x="49202" y="6430"/>
                  </a:lnTo>
                  <a:lnTo>
                    <a:pt x="40039" y="1725"/>
                  </a:lnTo>
                  <a:lnTo>
                    <a:pt x="28816" y="0"/>
                  </a:lnTo>
                  <a:close/>
                </a:path>
              </a:pathLst>
            </a:custGeom>
            <a:solidFill>
              <a:srgbClr val="FF0000"/>
            </a:solidFill>
          </p:spPr>
          <p:txBody>
            <a:bodyPr wrap="square" lIns="0" tIns="0" rIns="0" bIns="0" rtlCol="0"/>
            <a:lstStyle/>
            <a:p/>
          </p:txBody>
        </p:sp>
        <p:sp>
          <p:nvSpPr>
            <p:cNvPr id="144" name="object 144" descr=""/>
            <p:cNvSpPr/>
            <p:nvPr/>
          </p:nvSpPr>
          <p:spPr>
            <a:xfrm>
              <a:off x="3207076" y="4015652"/>
              <a:ext cx="57785" cy="44450"/>
            </a:xfrm>
            <a:custGeom>
              <a:avLst/>
              <a:gdLst/>
              <a:ahLst/>
              <a:cxnLst/>
              <a:rect l="l" t="t" r="r" b="b"/>
              <a:pathLst>
                <a:path w="57785" h="44450">
                  <a:moveTo>
                    <a:pt x="0" y="21958"/>
                  </a:moveTo>
                  <a:lnTo>
                    <a:pt x="2264" y="13410"/>
                  </a:lnTo>
                  <a:lnTo>
                    <a:pt x="8440" y="6430"/>
                  </a:lnTo>
                  <a:lnTo>
                    <a:pt x="17600" y="1725"/>
                  </a:lnTo>
                  <a:lnTo>
                    <a:pt x="28816" y="0"/>
                  </a:lnTo>
                  <a:lnTo>
                    <a:pt x="40039" y="1725"/>
                  </a:lnTo>
                  <a:lnTo>
                    <a:pt x="49202" y="6430"/>
                  </a:lnTo>
                  <a:lnTo>
                    <a:pt x="55380" y="13410"/>
                  </a:lnTo>
                  <a:lnTo>
                    <a:pt x="57645" y="21958"/>
                  </a:lnTo>
                  <a:lnTo>
                    <a:pt x="55380" y="30505"/>
                  </a:lnTo>
                  <a:lnTo>
                    <a:pt x="49202" y="37485"/>
                  </a:lnTo>
                  <a:lnTo>
                    <a:pt x="40039" y="42191"/>
                  </a:lnTo>
                  <a:lnTo>
                    <a:pt x="28816" y="43916"/>
                  </a:lnTo>
                  <a:lnTo>
                    <a:pt x="17600" y="42191"/>
                  </a:lnTo>
                  <a:lnTo>
                    <a:pt x="8440" y="37485"/>
                  </a:lnTo>
                  <a:lnTo>
                    <a:pt x="2264" y="30505"/>
                  </a:lnTo>
                  <a:lnTo>
                    <a:pt x="0" y="21958"/>
                  </a:lnTo>
                  <a:close/>
                </a:path>
              </a:pathLst>
            </a:custGeom>
            <a:ln w="12700">
              <a:solidFill>
                <a:srgbClr val="000000"/>
              </a:solidFill>
            </a:ln>
          </p:spPr>
          <p:txBody>
            <a:bodyPr wrap="square" lIns="0" tIns="0" rIns="0" bIns="0" rtlCol="0"/>
            <a:lstStyle/>
            <a:p/>
          </p:txBody>
        </p:sp>
        <p:sp>
          <p:nvSpPr>
            <p:cNvPr id="145" name="object 145" descr=""/>
            <p:cNvSpPr/>
            <p:nvPr/>
          </p:nvSpPr>
          <p:spPr>
            <a:xfrm>
              <a:off x="3212119" y="4024434"/>
              <a:ext cx="46990" cy="27305"/>
            </a:xfrm>
            <a:custGeom>
              <a:avLst/>
              <a:gdLst/>
              <a:ahLst/>
              <a:cxnLst/>
              <a:rect l="l" t="t" r="r" b="b"/>
              <a:pathLst>
                <a:path w="46989" h="27304">
                  <a:moveTo>
                    <a:pt x="0" y="0"/>
                  </a:moveTo>
                  <a:lnTo>
                    <a:pt x="46837" y="27266"/>
                  </a:lnTo>
                </a:path>
              </a:pathLst>
            </a:custGeom>
            <a:ln w="12700">
              <a:solidFill>
                <a:srgbClr val="000000"/>
              </a:solidFill>
            </a:ln>
          </p:spPr>
          <p:txBody>
            <a:bodyPr wrap="square" lIns="0" tIns="0" rIns="0" bIns="0" rtlCol="0"/>
            <a:lstStyle/>
            <a:p/>
          </p:txBody>
        </p:sp>
        <p:sp>
          <p:nvSpPr>
            <p:cNvPr id="146" name="object 146" descr=""/>
            <p:cNvSpPr/>
            <p:nvPr/>
          </p:nvSpPr>
          <p:spPr>
            <a:xfrm>
              <a:off x="3212839" y="4024434"/>
              <a:ext cx="45085" cy="27305"/>
            </a:xfrm>
            <a:custGeom>
              <a:avLst/>
              <a:gdLst/>
              <a:ahLst/>
              <a:cxnLst/>
              <a:rect l="l" t="t" r="r" b="b"/>
              <a:pathLst>
                <a:path w="45085" h="27304">
                  <a:moveTo>
                    <a:pt x="0" y="27266"/>
                  </a:moveTo>
                  <a:lnTo>
                    <a:pt x="44907" y="0"/>
                  </a:lnTo>
                </a:path>
              </a:pathLst>
            </a:custGeom>
            <a:ln w="12700">
              <a:solidFill>
                <a:srgbClr val="000000"/>
              </a:solidFill>
            </a:ln>
          </p:spPr>
          <p:txBody>
            <a:bodyPr wrap="square" lIns="0" tIns="0" rIns="0" bIns="0" rtlCol="0"/>
            <a:lstStyle/>
            <a:p/>
          </p:txBody>
        </p:sp>
        <p:sp>
          <p:nvSpPr>
            <p:cNvPr id="147" name="object 147" descr=""/>
            <p:cNvSpPr/>
            <p:nvPr/>
          </p:nvSpPr>
          <p:spPr>
            <a:xfrm>
              <a:off x="3207076" y="4280301"/>
              <a:ext cx="57785" cy="44450"/>
            </a:xfrm>
            <a:custGeom>
              <a:avLst/>
              <a:gdLst/>
              <a:ahLst/>
              <a:cxnLst/>
              <a:rect l="l" t="t" r="r" b="b"/>
              <a:pathLst>
                <a:path w="57785" h="44450">
                  <a:moveTo>
                    <a:pt x="28816" y="0"/>
                  </a:moveTo>
                  <a:lnTo>
                    <a:pt x="17600" y="1725"/>
                  </a:lnTo>
                  <a:lnTo>
                    <a:pt x="8440" y="6430"/>
                  </a:lnTo>
                  <a:lnTo>
                    <a:pt x="2264" y="13410"/>
                  </a:lnTo>
                  <a:lnTo>
                    <a:pt x="0" y="21958"/>
                  </a:lnTo>
                  <a:lnTo>
                    <a:pt x="2264" y="30505"/>
                  </a:lnTo>
                  <a:lnTo>
                    <a:pt x="8440" y="37485"/>
                  </a:lnTo>
                  <a:lnTo>
                    <a:pt x="17600" y="42191"/>
                  </a:lnTo>
                  <a:lnTo>
                    <a:pt x="28816" y="43916"/>
                  </a:lnTo>
                  <a:lnTo>
                    <a:pt x="40039" y="42191"/>
                  </a:lnTo>
                  <a:lnTo>
                    <a:pt x="49202" y="37485"/>
                  </a:lnTo>
                  <a:lnTo>
                    <a:pt x="55380" y="30505"/>
                  </a:lnTo>
                  <a:lnTo>
                    <a:pt x="57645" y="21958"/>
                  </a:lnTo>
                  <a:lnTo>
                    <a:pt x="55380" y="13410"/>
                  </a:lnTo>
                  <a:lnTo>
                    <a:pt x="49202" y="6430"/>
                  </a:lnTo>
                  <a:lnTo>
                    <a:pt x="40039" y="1725"/>
                  </a:lnTo>
                  <a:lnTo>
                    <a:pt x="28816" y="0"/>
                  </a:lnTo>
                  <a:close/>
                </a:path>
              </a:pathLst>
            </a:custGeom>
            <a:solidFill>
              <a:srgbClr val="FF0000"/>
            </a:solidFill>
          </p:spPr>
          <p:txBody>
            <a:bodyPr wrap="square" lIns="0" tIns="0" rIns="0" bIns="0" rtlCol="0"/>
            <a:lstStyle/>
            <a:p/>
          </p:txBody>
        </p:sp>
        <p:sp>
          <p:nvSpPr>
            <p:cNvPr id="148" name="object 148" descr=""/>
            <p:cNvSpPr/>
            <p:nvPr/>
          </p:nvSpPr>
          <p:spPr>
            <a:xfrm>
              <a:off x="3207076" y="4280301"/>
              <a:ext cx="57785" cy="44450"/>
            </a:xfrm>
            <a:custGeom>
              <a:avLst/>
              <a:gdLst/>
              <a:ahLst/>
              <a:cxnLst/>
              <a:rect l="l" t="t" r="r" b="b"/>
              <a:pathLst>
                <a:path w="57785" h="44450">
                  <a:moveTo>
                    <a:pt x="0" y="21958"/>
                  </a:moveTo>
                  <a:lnTo>
                    <a:pt x="2264" y="13410"/>
                  </a:lnTo>
                  <a:lnTo>
                    <a:pt x="8440" y="6430"/>
                  </a:lnTo>
                  <a:lnTo>
                    <a:pt x="17600" y="1725"/>
                  </a:lnTo>
                  <a:lnTo>
                    <a:pt x="28816" y="0"/>
                  </a:lnTo>
                  <a:lnTo>
                    <a:pt x="40039" y="1725"/>
                  </a:lnTo>
                  <a:lnTo>
                    <a:pt x="49202" y="6430"/>
                  </a:lnTo>
                  <a:lnTo>
                    <a:pt x="55380" y="13410"/>
                  </a:lnTo>
                  <a:lnTo>
                    <a:pt x="57645" y="21958"/>
                  </a:lnTo>
                  <a:lnTo>
                    <a:pt x="55380" y="30505"/>
                  </a:lnTo>
                  <a:lnTo>
                    <a:pt x="49202" y="37485"/>
                  </a:lnTo>
                  <a:lnTo>
                    <a:pt x="40039" y="42191"/>
                  </a:lnTo>
                  <a:lnTo>
                    <a:pt x="28816" y="43916"/>
                  </a:lnTo>
                  <a:lnTo>
                    <a:pt x="17600" y="42191"/>
                  </a:lnTo>
                  <a:lnTo>
                    <a:pt x="8440" y="37485"/>
                  </a:lnTo>
                  <a:lnTo>
                    <a:pt x="2264" y="30505"/>
                  </a:lnTo>
                  <a:lnTo>
                    <a:pt x="0" y="21958"/>
                  </a:lnTo>
                  <a:close/>
                </a:path>
              </a:pathLst>
            </a:custGeom>
            <a:ln w="12700">
              <a:solidFill>
                <a:srgbClr val="000000"/>
              </a:solidFill>
            </a:ln>
          </p:spPr>
          <p:txBody>
            <a:bodyPr wrap="square" lIns="0" tIns="0" rIns="0" bIns="0" rtlCol="0"/>
            <a:lstStyle/>
            <a:p/>
          </p:txBody>
        </p:sp>
        <p:sp>
          <p:nvSpPr>
            <p:cNvPr id="149" name="object 149" descr=""/>
            <p:cNvSpPr/>
            <p:nvPr/>
          </p:nvSpPr>
          <p:spPr>
            <a:xfrm>
              <a:off x="3212119" y="4289083"/>
              <a:ext cx="46990" cy="27305"/>
            </a:xfrm>
            <a:custGeom>
              <a:avLst/>
              <a:gdLst/>
              <a:ahLst/>
              <a:cxnLst/>
              <a:rect l="l" t="t" r="r" b="b"/>
              <a:pathLst>
                <a:path w="46989" h="27304">
                  <a:moveTo>
                    <a:pt x="0" y="0"/>
                  </a:moveTo>
                  <a:lnTo>
                    <a:pt x="46837" y="27266"/>
                  </a:lnTo>
                </a:path>
              </a:pathLst>
            </a:custGeom>
            <a:ln w="12700">
              <a:solidFill>
                <a:srgbClr val="000000"/>
              </a:solidFill>
            </a:ln>
          </p:spPr>
          <p:txBody>
            <a:bodyPr wrap="square" lIns="0" tIns="0" rIns="0" bIns="0" rtlCol="0"/>
            <a:lstStyle/>
            <a:p/>
          </p:txBody>
        </p:sp>
        <p:sp>
          <p:nvSpPr>
            <p:cNvPr id="150" name="object 150" descr=""/>
            <p:cNvSpPr/>
            <p:nvPr/>
          </p:nvSpPr>
          <p:spPr>
            <a:xfrm>
              <a:off x="3212839" y="4289083"/>
              <a:ext cx="45085" cy="27305"/>
            </a:xfrm>
            <a:custGeom>
              <a:avLst/>
              <a:gdLst/>
              <a:ahLst/>
              <a:cxnLst/>
              <a:rect l="l" t="t" r="r" b="b"/>
              <a:pathLst>
                <a:path w="45085" h="27304">
                  <a:moveTo>
                    <a:pt x="0" y="27266"/>
                  </a:moveTo>
                  <a:lnTo>
                    <a:pt x="44907" y="0"/>
                  </a:lnTo>
                </a:path>
              </a:pathLst>
            </a:custGeom>
            <a:ln w="12700">
              <a:solidFill>
                <a:srgbClr val="000000"/>
              </a:solidFill>
            </a:ln>
          </p:spPr>
          <p:txBody>
            <a:bodyPr wrap="square" lIns="0" tIns="0" rIns="0" bIns="0" rtlCol="0"/>
            <a:lstStyle/>
            <a:p/>
          </p:txBody>
        </p:sp>
        <p:sp>
          <p:nvSpPr>
            <p:cNvPr id="151" name="object 151" descr=""/>
            <p:cNvSpPr/>
            <p:nvPr/>
          </p:nvSpPr>
          <p:spPr>
            <a:xfrm>
              <a:off x="3327236" y="4123223"/>
              <a:ext cx="67945" cy="58419"/>
            </a:xfrm>
            <a:custGeom>
              <a:avLst/>
              <a:gdLst/>
              <a:ahLst/>
              <a:cxnLst/>
              <a:rect l="l" t="t" r="r" b="b"/>
              <a:pathLst>
                <a:path w="67945" h="58420">
                  <a:moveTo>
                    <a:pt x="67411" y="58064"/>
                  </a:moveTo>
                  <a:lnTo>
                    <a:pt x="0" y="58064"/>
                  </a:lnTo>
                  <a:lnTo>
                    <a:pt x="0" y="0"/>
                  </a:lnTo>
                </a:path>
              </a:pathLst>
            </a:custGeom>
            <a:ln w="19050">
              <a:solidFill>
                <a:srgbClr val="FF0000"/>
              </a:solidFill>
            </a:ln>
          </p:spPr>
          <p:txBody>
            <a:bodyPr wrap="square" lIns="0" tIns="0" rIns="0" bIns="0" rtlCol="0"/>
            <a:lstStyle/>
            <a:p/>
          </p:txBody>
        </p:sp>
        <p:sp>
          <p:nvSpPr>
            <p:cNvPr id="152" name="object 152" descr=""/>
            <p:cNvSpPr/>
            <p:nvPr/>
          </p:nvSpPr>
          <p:spPr>
            <a:xfrm>
              <a:off x="2795296" y="4323104"/>
              <a:ext cx="403225" cy="22860"/>
            </a:xfrm>
            <a:custGeom>
              <a:avLst/>
              <a:gdLst/>
              <a:ahLst/>
              <a:cxnLst/>
              <a:rect l="l" t="t" r="r" b="b"/>
              <a:pathLst>
                <a:path w="403225" h="22860">
                  <a:moveTo>
                    <a:pt x="0" y="0"/>
                  </a:moveTo>
                  <a:lnTo>
                    <a:pt x="402983" y="0"/>
                  </a:lnTo>
                  <a:lnTo>
                    <a:pt x="402983" y="22339"/>
                  </a:lnTo>
                </a:path>
              </a:pathLst>
            </a:custGeom>
            <a:ln w="19050">
              <a:solidFill>
                <a:srgbClr val="FF0000"/>
              </a:solidFill>
            </a:ln>
          </p:spPr>
          <p:txBody>
            <a:bodyPr wrap="square" lIns="0" tIns="0" rIns="0" bIns="0" rtlCol="0"/>
            <a:lstStyle/>
            <a:p/>
          </p:txBody>
        </p:sp>
        <p:sp>
          <p:nvSpPr>
            <p:cNvPr id="153" name="object 153" descr=""/>
            <p:cNvSpPr/>
            <p:nvPr/>
          </p:nvSpPr>
          <p:spPr>
            <a:xfrm>
              <a:off x="2738146" y="4306356"/>
              <a:ext cx="57785" cy="44450"/>
            </a:xfrm>
            <a:custGeom>
              <a:avLst/>
              <a:gdLst/>
              <a:ahLst/>
              <a:cxnLst/>
              <a:rect l="l" t="t" r="r" b="b"/>
              <a:pathLst>
                <a:path w="57785" h="44450">
                  <a:moveTo>
                    <a:pt x="28816" y="0"/>
                  </a:moveTo>
                  <a:lnTo>
                    <a:pt x="17600" y="1725"/>
                  </a:lnTo>
                  <a:lnTo>
                    <a:pt x="8440" y="6430"/>
                  </a:lnTo>
                  <a:lnTo>
                    <a:pt x="2264" y="13410"/>
                  </a:lnTo>
                  <a:lnTo>
                    <a:pt x="0" y="21958"/>
                  </a:lnTo>
                  <a:lnTo>
                    <a:pt x="2264" y="30505"/>
                  </a:lnTo>
                  <a:lnTo>
                    <a:pt x="8440" y="37485"/>
                  </a:lnTo>
                  <a:lnTo>
                    <a:pt x="17600" y="42191"/>
                  </a:lnTo>
                  <a:lnTo>
                    <a:pt x="28816" y="43916"/>
                  </a:lnTo>
                  <a:lnTo>
                    <a:pt x="40039" y="42191"/>
                  </a:lnTo>
                  <a:lnTo>
                    <a:pt x="49202" y="37485"/>
                  </a:lnTo>
                  <a:lnTo>
                    <a:pt x="55380" y="30505"/>
                  </a:lnTo>
                  <a:lnTo>
                    <a:pt x="57645" y="21958"/>
                  </a:lnTo>
                  <a:lnTo>
                    <a:pt x="55380" y="13410"/>
                  </a:lnTo>
                  <a:lnTo>
                    <a:pt x="49202" y="6430"/>
                  </a:lnTo>
                  <a:lnTo>
                    <a:pt x="40039" y="1725"/>
                  </a:lnTo>
                  <a:lnTo>
                    <a:pt x="28816" y="0"/>
                  </a:lnTo>
                  <a:close/>
                </a:path>
              </a:pathLst>
            </a:custGeom>
            <a:solidFill>
              <a:srgbClr val="00FFFF"/>
            </a:solidFill>
          </p:spPr>
          <p:txBody>
            <a:bodyPr wrap="square" lIns="0" tIns="0" rIns="0" bIns="0" rtlCol="0"/>
            <a:lstStyle/>
            <a:p/>
          </p:txBody>
        </p:sp>
        <p:sp>
          <p:nvSpPr>
            <p:cNvPr id="154" name="object 154" descr=""/>
            <p:cNvSpPr/>
            <p:nvPr/>
          </p:nvSpPr>
          <p:spPr>
            <a:xfrm>
              <a:off x="2738146" y="4306356"/>
              <a:ext cx="57785" cy="44450"/>
            </a:xfrm>
            <a:custGeom>
              <a:avLst/>
              <a:gdLst/>
              <a:ahLst/>
              <a:cxnLst/>
              <a:rect l="l" t="t" r="r" b="b"/>
              <a:pathLst>
                <a:path w="57785" h="44450">
                  <a:moveTo>
                    <a:pt x="0" y="21958"/>
                  </a:moveTo>
                  <a:lnTo>
                    <a:pt x="2264" y="13410"/>
                  </a:lnTo>
                  <a:lnTo>
                    <a:pt x="8440" y="6430"/>
                  </a:lnTo>
                  <a:lnTo>
                    <a:pt x="17600" y="1725"/>
                  </a:lnTo>
                  <a:lnTo>
                    <a:pt x="28816" y="0"/>
                  </a:lnTo>
                  <a:lnTo>
                    <a:pt x="40039" y="1725"/>
                  </a:lnTo>
                  <a:lnTo>
                    <a:pt x="49202" y="6430"/>
                  </a:lnTo>
                  <a:lnTo>
                    <a:pt x="55380" y="13410"/>
                  </a:lnTo>
                  <a:lnTo>
                    <a:pt x="57645" y="21958"/>
                  </a:lnTo>
                  <a:lnTo>
                    <a:pt x="55380" y="30505"/>
                  </a:lnTo>
                  <a:lnTo>
                    <a:pt x="49202" y="37485"/>
                  </a:lnTo>
                  <a:lnTo>
                    <a:pt x="40039" y="42191"/>
                  </a:lnTo>
                  <a:lnTo>
                    <a:pt x="28816" y="43916"/>
                  </a:lnTo>
                  <a:lnTo>
                    <a:pt x="17600" y="42191"/>
                  </a:lnTo>
                  <a:lnTo>
                    <a:pt x="8440" y="37485"/>
                  </a:lnTo>
                  <a:lnTo>
                    <a:pt x="2264" y="30505"/>
                  </a:lnTo>
                  <a:lnTo>
                    <a:pt x="0" y="21958"/>
                  </a:lnTo>
                  <a:close/>
                </a:path>
              </a:pathLst>
            </a:custGeom>
            <a:ln w="12700">
              <a:solidFill>
                <a:srgbClr val="000000"/>
              </a:solidFill>
            </a:ln>
          </p:spPr>
          <p:txBody>
            <a:bodyPr wrap="square" lIns="0" tIns="0" rIns="0" bIns="0" rtlCol="0"/>
            <a:lstStyle/>
            <a:p/>
          </p:txBody>
        </p:sp>
        <p:sp>
          <p:nvSpPr>
            <p:cNvPr id="155" name="object 155" descr=""/>
            <p:cNvSpPr/>
            <p:nvPr/>
          </p:nvSpPr>
          <p:spPr>
            <a:xfrm>
              <a:off x="2743188" y="4315138"/>
              <a:ext cx="46990" cy="27305"/>
            </a:xfrm>
            <a:custGeom>
              <a:avLst/>
              <a:gdLst/>
              <a:ahLst/>
              <a:cxnLst/>
              <a:rect l="l" t="t" r="r" b="b"/>
              <a:pathLst>
                <a:path w="46989" h="27304">
                  <a:moveTo>
                    <a:pt x="0" y="0"/>
                  </a:moveTo>
                  <a:lnTo>
                    <a:pt x="46837" y="27266"/>
                  </a:lnTo>
                </a:path>
              </a:pathLst>
            </a:custGeom>
            <a:ln w="12700">
              <a:solidFill>
                <a:srgbClr val="000000"/>
              </a:solidFill>
            </a:ln>
          </p:spPr>
          <p:txBody>
            <a:bodyPr wrap="square" lIns="0" tIns="0" rIns="0" bIns="0" rtlCol="0"/>
            <a:lstStyle/>
            <a:p/>
          </p:txBody>
        </p:sp>
        <p:sp>
          <p:nvSpPr>
            <p:cNvPr id="156" name="object 156" descr=""/>
            <p:cNvSpPr/>
            <p:nvPr/>
          </p:nvSpPr>
          <p:spPr>
            <a:xfrm>
              <a:off x="2743909" y="4315138"/>
              <a:ext cx="45085" cy="27305"/>
            </a:xfrm>
            <a:custGeom>
              <a:avLst/>
              <a:gdLst/>
              <a:ahLst/>
              <a:cxnLst/>
              <a:rect l="l" t="t" r="r" b="b"/>
              <a:pathLst>
                <a:path w="45085" h="27304">
                  <a:moveTo>
                    <a:pt x="0" y="27266"/>
                  </a:moveTo>
                  <a:lnTo>
                    <a:pt x="44907" y="0"/>
                  </a:lnTo>
                </a:path>
              </a:pathLst>
            </a:custGeom>
            <a:ln w="12700">
              <a:solidFill>
                <a:srgbClr val="000000"/>
              </a:solidFill>
            </a:ln>
          </p:spPr>
          <p:txBody>
            <a:bodyPr wrap="square" lIns="0" tIns="0" rIns="0" bIns="0" rtlCol="0"/>
            <a:lstStyle/>
            <a:p/>
          </p:txBody>
        </p:sp>
        <p:sp>
          <p:nvSpPr>
            <p:cNvPr id="157" name="object 157" descr=""/>
            <p:cNvSpPr/>
            <p:nvPr/>
          </p:nvSpPr>
          <p:spPr>
            <a:xfrm>
              <a:off x="3183623" y="4334268"/>
              <a:ext cx="66675" cy="21590"/>
            </a:xfrm>
            <a:custGeom>
              <a:avLst/>
              <a:gdLst/>
              <a:ahLst/>
              <a:cxnLst/>
              <a:rect l="l" t="t" r="r" b="b"/>
              <a:pathLst>
                <a:path w="66675" h="21589">
                  <a:moveTo>
                    <a:pt x="66433" y="0"/>
                  </a:moveTo>
                  <a:lnTo>
                    <a:pt x="0" y="0"/>
                  </a:lnTo>
                  <a:lnTo>
                    <a:pt x="0" y="21221"/>
                  </a:lnTo>
                  <a:lnTo>
                    <a:pt x="66433" y="21221"/>
                  </a:lnTo>
                  <a:lnTo>
                    <a:pt x="66433" y="0"/>
                  </a:lnTo>
                  <a:close/>
                </a:path>
              </a:pathLst>
            </a:custGeom>
            <a:solidFill>
              <a:srgbClr val="FF0000"/>
            </a:solidFill>
          </p:spPr>
          <p:txBody>
            <a:bodyPr wrap="square" lIns="0" tIns="0" rIns="0" bIns="0" rtlCol="0"/>
            <a:lstStyle/>
            <a:p/>
          </p:txBody>
        </p:sp>
        <p:sp>
          <p:nvSpPr>
            <p:cNvPr id="158" name="object 158" descr=""/>
            <p:cNvSpPr/>
            <p:nvPr/>
          </p:nvSpPr>
          <p:spPr>
            <a:xfrm>
              <a:off x="3183623" y="4334268"/>
              <a:ext cx="66675" cy="21590"/>
            </a:xfrm>
            <a:custGeom>
              <a:avLst/>
              <a:gdLst/>
              <a:ahLst/>
              <a:cxnLst/>
              <a:rect l="l" t="t" r="r" b="b"/>
              <a:pathLst>
                <a:path w="66675" h="21589">
                  <a:moveTo>
                    <a:pt x="0" y="0"/>
                  </a:moveTo>
                  <a:lnTo>
                    <a:pt x="66433" y="0"/>
                  </a:lnTo>
                  <a:lnTo>
                    <a:pt x="66433" y="21221"/>
                  </a:lnTo>
                  <a:lnTo>
                    <a:pt x="0" y="21221"/>
                  </a:lnTo>
                  <a:lnTo>
                    <a:pt x="0" y="0"/>
                  </a:lnTo>
                  <a:close/>
                </a:path>
              </a:pathLst>
            </a:custGeom>
            <a:ln w="9525">
              <a:solidFill>
                <a:srgbClr val="000000"/>
              </a:solidFill>
            </a:ln>
          </p:spPr>
          <p:txBody>
            <a:bodyPr wrap="square" lIns="0" tIns="0" rIns="0" bIns="0" rtlCol="0"/>
            <a:lstStyle/>
            <a:p/>
          </p:txBody>
        </p:sp>
        <p:sp>
          <p:nvSpPr>
            <p:cNvPr id="159" name="object 159" descr=""/>
            <p:cNvSpPr/>
            <p:nvPr/>
          </p:nvSpPr>
          <p:spPr>
            <a:xfrm>
              <a:off x="3303790" y="4107586"/>
              <a:ext cx="66675" cy="21590"/>
            </a:xfrm>
            <a:custGeom>
              <a:avLst/>
              <a:gdLst/>
              <a:ahLst/>
              <a:cxnLst/>
              <a:rect l="l" t="t" r="r" b="b"/>
              <a:pathLst>
                <a:path w="66675" h="21589">
                  <a:moveTo>
                    <a:pt x="66433" y="0"/>
                  </a:moveTo>
                  <a:lnTo>
                    <a:pt x="0" y="0"/>
                  </a:lnTo>
                  <a:lnTo>
                    <a:pt x="0" y="21221"/>
                  </a:lnTo>
                  <a:lnTo>
                    <a:pt x="66433" y="21221"/>
                  </a:lnTo>
                  <a:lnTo>
                    <a:pt x="66433" y="0"/>
                  </a:lnTo>
                  <a:close/>
                </a:path>
              </a:pathLst>
            </a:custGeom>
            <a:solidFill>
              <a:srgbClr val="FF0000"/>
            </a:solidFill>
          </p:spPr>
          <p:txBody>
            <a:bodyPr wrap="square" lIns="0" tIns="0" rIns="0" bIns="0" rtlCol="0"/>
            <a:lstStyle/>
            <a:p/>
          </p:txBody>
        </p:sp>
        <p:sp>
          <p:nvSpPr>
            <p:cNvPr id="160" name="object 160" descr=""/>
            <p:cNvSpPr/>
            <p:nvPr/>
          </p:nvSpPr>
          <p:spPr>
            <a:xfrm>
              <a:off x="3303790" y="4107586"/>
              <a:ext cx="66675" cy="21590"/>
            </a:xfrm>
            <a:custGeom>
              <a:avLst/>
              <a:gdLst/>
              <a:ahLst/>
              <a:cxnLst/>
              <a:rect l="l" t="t" r="r" b="b"/>
              <a:pathLst>
                <a:path w="66675" h="21589">
                  <a:moveTo>
                    <a:pt x="0" y="0"/>
                  </a:moveTo>
                  <a:lnTo>
                    <a:pt x="66433" y="0"/>
                  </a:lnTo>
                  <a:lnTo>
                    <a:pt x="66433" y="21221"/>
                  </a:lnTo>
                  <a:lnTo>
                    <a:pt x="0" y="21221"/>
                  </a:lnTo>
                  <a:lnTo>
                    <a:pt x="0" y="0"/>
                  </a:lnTo>
                  <a:close/>
                </a:path>
              </a:pathLst>
            </a:custGeom>
            <a:ln w="9524">
              <a:solidFill>
                <a:srgbClr val="000000"/>
              </a:solidFill>
            </a:ln>
          </p:spPr>
          <p:txBody>
            <a:bodyPr wrap="square" lIns="0" tIns="0" rIns="0" bIns="0" rtlCol="0"/>
            <a:lstStyle/>
            <a:p/>
          </p:txBody>
        </p:sp>
        <p:sp>
          <p:nvSpPr>
            <p:cNvPr id="161" name="object 161" descr=""/>
            <p:cNvSpPr/>
            <p:nvPr/>
          </p:nvSpPr>
          <p:spPr>
            <a:xfrm>
              <a:off x="3383902" y="4163423"/>
              <a:ext cx="57785" cy="44450"/>
            </a:xfrm>
            <a:custGeom>
              <a:avLst/>
              <a:gdLst/>
              <a:ahLst/>
              <a:cxnLst/>
              <a:rect l="l" t="t" r="r" b="b"/>
              <a:pathLst>
                <a:path w="57785" h="44450">
                  <a:moveTo>
                    <a:pt x="28816" y="0"/>
                  </a:moveTo>
                  <a:lnTo>
                    <a:pt x="17600" y="1725"/>
                  </a:lnTo>
                  <a:lnTo>
                    <a:pt x="8440" y="6430"/>
                  </a:lnTo>
                  <a:lnTo>
                    <a:pt x="2264" y="13410"/>
                  </a:lnTo>
                  <a:lnTo>
                    <a:pt x="0" y="21958"/>
                  </a:lnTo>
                  <a:lnTo>
                    <a:pt x="2264" y="30505"/>
                  </a:lnTo>
                  <a:lnTo>
                    <a:pt x="8440" y="37485"/>
                  </a:lnTo>
                  <a:lnTo>
                    <a:pt x="17600" y="42191"/>
                  </a:lnTo>
                  <a:lnTo>
                    <a:pt x="28816" y="43916"/>
                  </a:lnTo>
                  <a:lnTo>
                    <a:pt x="40039" y="42191"/>
                  </a:lnTo>
                  <a:lnTo>
                    <a:pt x="49202" y="37485"/>
                  </a:lnTo>
                  <a:lnTo>
                    <a:pt x="55380" y="30505"/>
                  </a:lnTo>
                  <a:lnTo>
                    <a:pt x="57645" y="21958"/>
                  </a:lnTo>
                  <a:lnTo>
                    <a:pt x="55380" y="13410"/>
                  </a:lnTo>
                  <a:lnTo>
                    <a:pt x="49202" y="6430"/>
                  </a:lnTo>
                  <a:lnTo>
                    <a:pt x="40039" y="1725"/>
                  </a:lnTo>
                  <a:lnTo>
                    <a:pt x="28816" y="0"/>
                  </a:lnTo>
                  <a:close/>
                </a:path>
              </a:pathLst>
            </a:custGeom>
            <a:solidFill>
              <a:srgbClr val="FF0000"/>
            </a:solidFill>
          </p:spPr>
          <p:txBody>
            <a:bodyPr wrap="square" lIns="0" tIns="0" rIns="0" bIns="0" rtlCol="0"/>
            <a:lstStyle/>
            <a:p/>
          </p:txBody>
        </p:sp>
        <p:sp>
          <p:nvSpPr>
            <p:cNvPr id="162" name="object 162" descr=""/>
            <p:cNvSpPr/>
            <p:nvPr/>
          </p:nvSpPr>
          <p:spPr>
            <a:xfrm>
              <a:off x="3383902" y="4163423"/>
              <a:ext cx="57785" cy="44450"/>
            </a:xfrm>
            <a:custGeom>
              <a:avLst/>
              <a:gdLst/>
              <a:ahLst/>
              <a:cxnLst/>
              <a:rect l="l" t="t" r="r" b="b"/>
              <a:pathLst>
                <a:path w="57785" h="44450">
                  <a:moveTo>
                    <a:pt x="0" y="21958"/>
                  </a:moveTo>
                  <a:lnTo>
                    <a:pt x="2264" y="13410"/>
                  </a:lnTo>
                  <a:lnTo>
                    <a:pt x="8440" y="6430"/>
                  </a:lnTo>
                  <a:lnTo>
                    <a:pt x="17600" y="1725"/>
                  </a:lnTo>
                  <a:lnTo>
                    <a:pt x="28816" y="0"/>
                  </a:lnTo>
                  <a:lnTo>
                    <a:pt x="40039" y="1725"/>
                  </a:lnTo>
                  <a:lnTo>
                    <a:pt x="49202" y="6430"/>
                  </a:lnTo>
                  <a:lnTo>
                    <a:pt x="55380" y="13410"/>
                  </a:lnTo>
                  <a:lnTo>
                    <a:pt x="57645" y="21958"/>
                  </a:lnTo>
                  <a:lnTo>
                    <a:pt x="55380" y="30505"/>
                  </a:lnTo>
                  <a:lnTo>
                    <a:pt x="49202" y="37485"/>
                  </a:lnTo>
                  <a:lnTo>
                    <a:pt x="40039" y="42191"/>
                  </a:lnTo>
                  <a:lnTo>
                    <a:pt x="28816" y="43916"/>
                  </a:lnTo>
                  <a:lnTo>
                    <a:pt x="17600" y="42191"/>
                  </a:lnTo>
                  <a:lnTo>
                    <a:pt x="8440" y="37485"/>
                  </a:lnTo>
                  <a:lnTo>
                    <a:pt x="2264" y="30505"/>
                  </a:lnTo>
                  <a:lnTo>
                    <a:pt x="0" y="21958"/>
                  </a:lnTo>
                  <a:close/>
                </a:path>
              </a:pathLst>
            </a:custGeom>
            <a:ln w="12700">
              <a:solidFill>
                <a:srgbClr val="000000"/>
              </a:solidFill>
            </a:ln>
          </p:spPr>
          <p:txBody>
            <a:bodyPr wrap="square" lIns="0" tIns="0" rIns="0" bIns="0" rtlCol="0"/>
            <a:lstStyle/>
            <a:p/>
          </p:txBody>
        </p:sp>
        <p:sp>
          <p:nvSpPr>
            <p:cNvPr id="163" name="object 163" descr=""/>
            <p:cNvSpPr/>
            <p:nvPr/>
          </p:nvSpPr>
          <p:spPr>
            <a:xfrm>
              <a:off x="3388945" y="4172205"/>
              <a:ext cx="46990" cy="27305"/>
            </a:xfrm>
            <a:custGeom>
              <a:avLst/>
              <a:gdLst/>
              <a:ahLst/>
              <a:cxnLst/>
              <a:rect l="l" t="t" r="r" b="b"/>
              <a:pathLst>
                <a:path w="46989" h="27304">
                  <a:moveTo>
                    <a:pt x="0" y="0"/>
                  </a:moveTo>
                  <a:lnTo>
                    <a:pt x="46837" y="27266"/>
                  </a:lnTo>
                </a:path>
              </a:pathLst>
            </a:custGeom>
            <a:ln w="12700">
              <a:solidFill>
                <a:srgbClr val="000000"/>
              </a:solidFill>
            </a:ln>
          </p:spPr>
          <p:txBody>
            <a:bodyPr wrap="square" lIns="0" tIns="0" rIns="0" bIns="0" rtlCol="0"/>
            <a:lstStyle/>
            <a:p/>
          </p:txBody>
        </p:sp>
        <p:sp>
          <p:nvSpPr>
            <p:cNvPr id="164" name="object 164" descr=""/>
            <p:cNvSpPr/>
            <p:nvPr/>
          </p:nvSpPr>
          <p:spPr>
            <a:xfrm>
              <a:off x="3389665" y="4172206"/>
              <a:ext cx="45085" cy="27305"/>
            </a:xfrm>
            <a:custGeom>
              <a:avLst/>
              <a:gdLst/>
              <a:ahLst/>
              <a:cxnLst/>
              <a:rect l="l" t="t" r="r" b="b"/>
              <a:pathLst>
                <a:path w="45085" h="27304">
                  <a:moveTo>
                    <a:pt x="0" y="27266"/>
                  </a:moveTo>
                  <a:lnTo>
                    <a:pt x="44907" y="0"/>
                  </a:lnTo>
                </a:path>
              </a:pathLst>
            </a:custGeom>
            <a:ln w="12700">
              <a:solidFill>
                <a:srgbClr val="000000"/>
              </a:solidFill>
            </a:ln>
          </p:spPr>
          <p:txBody>
            <a:bodyPr wrap="square" lIns="0" tIns="0" rIns="0" bIns="0" rtlCol="0"/>
            <a:lstStyle/>
            <a:p/>
          </p:txBody>
        </p:sp>
        <p:sp>
          <p:nvSpPr>
            <p:cNvPr id="165" name="object 165" descr=""/>
            <p:cNvSpPr/>
            <p:nvPr/>
          </p:nvSpPr>
          <p:spPr>
            <a:xfrm>
              <a:off x="2786504" y="4000395"/>
              <a:ext cx="403225" cy="22860"/>
            </a:xfrm>
            <a:custGeom>
              <a:avLst/>
              <a:gdLst/>
              <a:ahLst/>
              <a:cxnLst/>
              <a:rect l="l" t="t" r="r" b="b"/>
              <a:pathLst>
                <a:path w="403225" h="22860">
                  <a:moveTo>
                    <a:pt x="0" y="22326"/>
                  </a:moveTo>
                  <a:lnTo>
                    <a:pt x="402983" y="22326"/>
                  </a:lnTo>
                  <a:lnTo>
                    <a:pt x="402983" y="0"/>
                  </a:lnTo>
                </a:path>
              </a:pathLst>
            </a:custGeom>
            <a:ln w="19050">
              <a:solidFill>
                <a:srgbClr val="FF0000"/>
              </a:solidFill>
            </a:ln>
          </p:spPr>
          <p:txBody>
            <a:bodyPr wrap="square" lIns="0" tIns="0" rIns="0" bIns="0" rtlCol="0"/>
            <a:lstStyle/>
            <a:p/>
          </p:txBody>
        </p:sp>
        <p:sp>
          <p:nvSpPr>
            <p:cNvPr id="166" name="object 166" descr=""/>
            <p:cNvSpPr/>
            <p:nvPr/>
          </p:nvSpPr>
          <p:spPr>
            <a:xfrm>
              <a:off x="2738146" y="4002624"/>
              <a:ext cx="57785" cy="44450"/>
            </a:xfrm>
            <a:custGeom>
              <a:avLst/>
              <a:gdLst/>
              <a:ahLst/>
              <a:cxnLst/>
              <a:rect l="l" t="t" r="r" b="b"/>
              <a:pathLst>
                <a:path w="57785" h="44450">
                  <a:moveTo>
                    <a:pt x="28816" y="0"/>
                  </a:moveTo>
                  <a:lnTo>
                    <a:pt x="17600" y="1725"/>
                  </a:lnTo>
                  <a:lnTo>
                    <a:pt x="8440" y="6430"/>
                  </a:lnTo>
                  <a:lnTo>
                    <a:pt x="2264" y="13410"/>
                  </a:lnTo>
                  <a:lnTo>
                    <a:pt x="0" y="21958"/>
                  </a:lnTo>
                  <a:lnTo>
                    <a:pt x="2264" y="30505"/>
                  </a:lnTo>
                  <a:lnTo>
                    <a:pt x="8440" y="37485"/>
                  </a:lnTo>
                  <a:lnTo>
                    <a:pt x="17600" y="42191"/>
                  </a:lnTo>
                  <a:lnTo>
                    <a:pt x="28816" y="43916"/>
                  </a:lnTo>
                  <a:lnTo>
                    <a:pt x="40039" y="42191"/>
                  </a:lnTo>
                  <a:lnTo>
                    <a:pt x="49202" y="37485"/>
                  </a:lnTo>
                  <a:lnTo>
                    <a:pt x="55380" y="30505"/>
                  </a:lnTo>
                  <a:lnTo>
                    <a:pt x="57645" y="21958"/>
                  </a:lnTo>
                  <a:lnTo>
                    <a:pt x="55380" y="13410"/>
                  </a:lnTo>
                  <a:lnTo>
                    <a:pt x="49202" y="6430"/>
                  </a:lnTo>
                  <a:lnTo>
                    <a:pt x="40039" y="1725"/>
                  </a:lnTo>
                  <a:lnTo>
                    <a:pt x="28816" y="0"/>
                  </a:lnTo>
                  <a:close/>
                </a:path>
              </a:pathLst>
            </a:custGeom>
            <a:solidFill>
              <a:srgbClr val="00FFFF"/>
            </a:solidFill>
          </p:spPr>
          <p:txBody>
            <a:bodyPr wrap="square" lIns="0" tIns="0" rIns="0" bIns="0" rtlCol="0"/>
            <a:lstStyle/>
            <a:p/>
          </p:txBody>
        </p:sp>
        <p:sp>
          <p:nvSpPr>
            <p:cNvPr id="167" name="object 167" descr=""/>
            <p:cNvSpPr/>
            <p:nvPr/>
          </p:nvSpPr>
          <p:spPr>
            <a:xfrm>
              <a:off x="2738146" y="4002624"/>
              <a:ext cx="57785" cy="44450"/>
            </a:xfrm>
            <a:custGeom>
              <a:avLst/>
              <a:gdLst/>
              <a:ahLst/>
              <a:cxnLst/>
              <a:rect l="l" t="t" r="r" b="b"/>
              <a:pathLst>
                <a:path w="57785" h="44450">
                  <a:moveTo>
                    <a:pt x="0" y="21958"/>
                  </a:moveTo>
                  <a:lnTo>
                    <a:pt x="2264" y="13410"/>
                  </a:lnTo>
                  <a:lnTo>
                    <a:pt x="8440" y="6430"/>
                  </a:lnTo>
                  <a:lnTo>
                    <a:pt x="17600" y="1725"/>
                  </a:lnTo>
                  <a:lnTo>
                    <a:pt x="28816" y="0"/>
                  </a:lnTo>
                  <a:lnTo>
                    <a:pt x="40039" y="1725"/>
                  </a:lnTo>
                  <a:lnTo>
                    <a:pt x="49202" y="6430"/>
                  </a:lnTo>
                  <a:lnTo>
                    <a:pt x="55380" y="13410"/>
                  </a:lnTo>
                  <a:lnTo>
                    <a:pt x="57645" y="21958"/>
                  </a:lnTo>
                  <a:lnTo>
                    <a:pt x="55380" y="30505"/>
                  </a:lnTo>
                  <a:lnTo>
                    <a:pt x="49202" y="37485"/>
                  </a:lnTo>
                  <a:lnTo>
                    <a:pt x="40039" y="42191"/>
                  </a:lnTo>
                  <a:lnTo>
                    <a:pt x="28816" y="43916"/>
                  </a:lnTo>
                  <a:lnTo>
                    <a:pt x="17600" y="42191"/>
                  </a:lnTo>
                  <a:lnTo>
                    <a:pt x="8440" y="37485"/>
                  </a:lnTo>
                  <a:lnTo>
                    <a:pt x="2264" y="30505"/>
                  </a:lnTo>
                  <a:lnTo>
                    <a:pt x="0" y="21958"/>
                  </a:lnTo>
                  <a:close/>
                </a:path>
              </a:pathLst>
            </a:custGeom>
            <a:ln w="12700">
              <a:solidFill>
                <a:srgbClr val="000000"/>
              </a:solidFill>
            </a:ln>
          </p:spPr>
          <p:txBody>
            <a:bodyPr wrap="square" lIns="0" tIns="0" rIns="0" bIns="0" rtlCol="0"/>
            <a:lstStyle/>
            <a:p/>
          </p:txBody>
        </p:sp>
        <p:sp>
          <p:nvSpPr>
            <p:cNvPr id="168" name="object 168" descr=""/>
            <p:cNvSpPr/>
            <p:nvPr/>
          </p:nvSpPr>
          <p:spPr>
            <a:xfrm>
              <a:off x="2743188" y="4011405"/>
              <a:ext cx="46990" cy="27305"/>
            </a:xfrm>
            <a:custGeom>
              <a:avLst/>
              <a:gdLst/>
              <a:ahLst/>
              <a:cxnLst/>
              <a:rect l="l" t="t" r="r" b="b"/>
              <a:pathLst>
                <a:path w="46989" h="27304">
                  <a:moveTo>
                    <a:pt x="0" y="0"/>
                  </a:moveTo>
                  <a:lnTo>
                    <a:pt x="46837" y="27266"/>
                  </a:lnTo>
                </a:path>
              </a:pathLst>
            </a:custGeom>
            <a:ln w="12700">
              <a:solidFill>
                <a:srgbClr val="000000"/>
              </a:solidFill>
            </a:ln>
          </p:spPr>
          <p:txBody>
            <a:bodyPr wrap="square" lIns="0" tIns="0" rIns="0" bIns="0" rtlCol="0"/>
            <a:lstStyle/>
            <a:p/>
          </p:txBody>
        </p:sp>
        <p:sp>
          <p:nvSpPr>
            <p:cNvPr id="169" name="object 169" descr=""/>
            <p:cNvSpPr/>
            <p:nvPr/>
          </p:nvSpPr>
          <p:spPr>
            <a:xfrm>
              <a:off x="2743909" y="4011406"/>
              <a:ext cx="45085" cy="27305"/>
            </a:xfrm>
            <a:custGeom>
              <a:avLst/>
              <a:gdLst/>
              <a:ahLst/>
              <a:cxnLst/>
              <a:rect l="l" t="t" r="r" b="b"/>
              <a:pathLst>
                <a:path w="45085" h="27304">
                  <a:moveTo>
                    <a:pt x="0" y="27266"/>
                  </a:moveTo>
                  <a:lnTo>
                    <a:pt x="44907" y="0"/>
                  </a:lnTo>
                </a:path>
              </a:pathLst>
            </a:custGeom>
            <a:ln w="12700">
              <a:solidFill>
                <a:srgbClr val="000000"/>
              </a:solidFill>
            </a:ln>
          </p:spPr>
          <p:txBody>
            <a:bodyPr wrap="square" lIns="0" tIns="0" rIns="0" bIns="0" rtlCol="0"/>
            <a:lstStyle/>
            <a:p/>
          </p:txBody>
        </p:sp>
        <p:sp>
          <p:nvSpPr>
            <p:cNvPr id="170" name="object 170" descr=""/>
            <p:cNvSpPr/>
            <p:nvPr/>
          </p:nvSpPr>
          <p:spPr>
            <a:xfrm>
              <a:off x="3176308" y="3985869"/>
              <a:ext cx="66675" cy="21590"/>
            </a:xfrm>
            <a:custGeom>
              <a:avLst/>
              <a:gdLst/>
              <a:ahLst/>
              <a:cxnLst/>
              <a:rect l="l" t="t" r="r" b="b"/>
              <a:pathLst>
                <a:path w="66675" h="21589">
                  <a:moveTo>
                    <a:pt x="66433" y="0"/>
                  </a:moveTo>
                  <a:lnTo>
                    <a:pt x="0" y="0"/>
                  </a:lnTo>
                  <a:lnTo>
                    <a:pt x="0" y="21221"/>
                  </a:lnTo>
                  <a:lnTo>
                    <a:pt x="66433" y="21221"/>
                  </a:lnTo>
                  <a:lnTo>
                    <a:pt x="66433" y="0"/>
                  </a:lnTo>
                  <a:close/>
                </a:path>
              </a:pathLst>
            </a:custGeom>
            <a:solidFill>
              <a:srgbClr val="FF0000"/>
            </a:solidFill>
          </p:spPr>
          <p:txBody>
            <a:bodyPr wrap="square" lIns="0" tIns="0" rIns="0" bIns="0" rtlCol="0"/>
            <a:lstStyle/>
            <a:p/>
          </p:txBody>
        </p:sp>
        <p:sp>
          <p:nvSpPr>
            <p:cNvPr id="171" name="object 171" descr=""/>
            <p:cNvSpPr/>
            <p:nvPr/>
          </p:nvSpPr>
          <p:spPr>
            <a:xfrm>
              <a:off x="3176308" y="3985869"/>
              <a:ext cx="66675" cy="21590"/>
            </a:xfrm>
            <a:custGeom>
              <a:avLst/>
              <a:gdLst/>
              <a:ahLst/>
              <a:cxnLst/>
              <a:rect l="l" t="t" r="r" b="b"/>
              <a:pathLst>
                <a:path w="66675" h="21589">
                  <a:moveTo>
                    <a:pt x="0" y="0"/>
                  </a:moveTo>
                  <a:lnTo>
                    <a:pt x="66433" y="0"/>
                  </a:lnTo>
                  <a:lnTo>
                    <a:pt x="66433" y="21221"/>
                  </a:lnTo>
                  <a:lnTo>
                    <a:pt x="0" y="21221"/>
                  </a:lnTo>
                  <a:lnTo>
                    <a:pt x="0" y="0"/>
                  </a:lnTo>
                  <a:close/>
                </a:path>
              </a:pathLst>
            </a:custGeom>
            <a:ln w="9524">
              <a:solidFill>
                <a:srgbClr val="000000"/>
              </a:solidFill>
            </a:ln>
          </p:spPr>
          <p:txBody>
            <a:bodyPr wrap="square" lIns="0" tIns="0" rIns="0" bIns="0" rtlCol="0"/>
            <a:lstStyle/>
            <a:p/>
          </p:txBody>
        </p:sp>
        <p:sp>
          <p:nvSpPr>
            <p:cNvPr id="172" name="object 172" descr=""/>
            <p:cNvSpPr/>
            <p:nvPr/>
          </p:nvSpPr>
          <p:spPr>
            <a:xfrm>
              <a:off x="2959368" y="3944923"/>
              <a:ext cx="563245" cy="518159"/>
            </a:xfrm>
            <a:custGeom>
              <a:avLst/>
              <a:gdLst/>
              <a:ahLst/>
              <a:cxnLst/>
              <a:rect l="l" t="t" r="r" b="b"/>
              <a:pathLst>
                <a:path w="563245" h="518160">
                  <a:moveTo>
                    <a:pt x="0" y="259067"/>
                  </a:moveTo>
                  <a:lnTo>
                    <a:pt x="4533" y="212499"/>
                  </a:lnTo>
                  <a:lnTo>
                    <a:pt x="17602" y="168670"/>
                  </a:lnTo>
                  <a:lnTo>
                    <a:pt x="38414" y="128311"/>
                  </a:lnTo>
                  <a:lnTo>
                    <a:pt x="66172" y="92153"/>
                  </a:lnTo>
                  <a:lnTo>
                    <a:pt x="100083" y="60929"/>
                  </a:lnTo>
                  <a:lnTo>
                    <a:pt x="139351" y="35370"/>
                  </a:lnTo>
                  <a:lnTo>
                    <a:pt x="183183" y="16207"/>
                  </a:lnTo>
                  <a:lnTo>
                    <a:pt x="230782" y="4173"/>
                  </a:lnTo>
                  <a:lnTo>
                    <a:pt x="281355" y="0"/>
                  </a:lnTo>
                  <a:lnTo>
                    <a:pt x="331932" y="4173"/>
                  </a:lnTo>
                  <a:lnTo>
                    <a:pt x="379533" y="16207"/>
                  </a:lnTo>
                  <a:lnTo>
                    <a:pt x="423365" y="35370"/>
                  </a:lnTo>
                  <a:lnTo>
                    <a:pt x="462633" y="60929"/>
                  </a:lnTo>
                  <a:lnTo>
                    <a:pt x="496543" y="92153"/>
                  </a:lnTo>
                  <a:lnTo>
                    <a:pt x="524300" y="128311"/>
                  </a:lnTo>
                  <a:lnTo>
                    <a:pt x="545110" y="168670"/>
                  </a:lnTo>
                  <a:lnTo>
                    <a:pt x="558178" y="212499"/>
                  </a:lnTo>
                  <a:lnTo>
                    <a:pt x="562711" y="259067"/>
                  </a:lnTo>
                  <a:lnTo>
                    <a:pt x="558178" y="305634"/>
                  </a:lnTo>
                  <a:lnTo>
                    <a:pt x="545110" y="349463"/>
                  </a:lnTo>
                  <a:lnTo>
                    <a:pt x="524300" y="389823"/>
                  </a:lnTo>
                  <a:lnTo>
                    <a:pt x="496543" y="425980"/>
                  </a:lnTo>
                  <a:lnTo>
                    <a:pt x="462633" y="457204"/>
                  </a:lnTo>
                  <a:lnTo>
                    <a:pt x="423365" y="482764"/>
                  </a:lnTo>
                  <a:lnTo>
                    <a:pt x="379533" y="501926"/>
                  </a:lnTo>
                  <a:lnTo>
                    <a:pt x="331932" y="513960"/>
                  </a:lnTo>
                  <a:lnTo>
                    <a:pt x="281355" y="518134"/>
                  </a:lnTo>
                  <a:lnTo>
                    <a:pt x="230782" y="513960"/>
                  </a:lnTo>
                  <a:lnTo>
                    <a:pt x="183183" y="501926"/>
                  </a:lnTo>
                  <a:lnTo>
                    <a:pt x="139351" y="482764"/>
                  </a:lnTo>
                  <a:lnTo>
                    <a:pt x="100083" y="457204"/>
                  </a:lnTo>
                  <a:lnTo>
                    <a:pt x="66172" y="425980"/>
                  </a:lnTo>
                  <a:lnTo>
                    <a:pt x="38414" y="389823"/>
                  </a:lnTo>
                  <a:lnTo>
                    <a:pt x="17602" y="349463"/>
                  </a:lnTo>
                  <a:lnTo>
                    <a:pt x="4533" y="305634"/>
                  </a:lnTo>
                  <a:lnTo>
                    <a:pt x="0" y="259067"/>
                  </a:lnTo>
                  <a:close/>
                </a:path>
              </a:pathLst>
            </a:custGeom>
            <a:ln w="19050">
              <a:solidFill>
                <a:srgbClr val="FF0000"/>
              </a:solidFill>
              <a:prstDash val="sysDash"/>
            </a:ln>
          </p:spPr>
          <p:txBody>
            <a:bodyPr wrap="square" lIns="0" tIns="0" rIns="0" bIns="0" rtlCol="0"/>
            <a:lstStyle/>
            <a:p/>
          </p:txBody>
        </p:sp>
        <p:sp>
          <p:nvSpPr>
            <p:cNvPr id="173" name="object 173" descr=""/>
            <p:cNvSpPr/>
            <p:nvPr/>
          </p:nvSpPr>
          <p:spPr>
            <a:xfrm>
              <a:off x="2442249" y="4053398"/>
              <a:ext cx="962025" cy="763905"/>
            </a:xfrm>
            <a:custGeom>
              <a:avLst/>
              <a:gdLst/>
              <a:ahLst/>
              <a:cxnLst/>
              <a:rect l="l" t="t" r="r" b="b"/>
              <a:pathLst>
                <a:path w="962025" h="763904">
                  <a:moveTo>
                    <a:pt x="962025" y="0"/>
                  </a:moveTo>
                  <a:lnTo>
                    <a:pt x="429628" y="501967"/>
                  </a:lnTo>
                  <a:lnTo>
                    <a:pt x="0" y="501967"/>
                  </a:lnTo>
                  <a:lnTo>
                    <a:pt x="0" y="763574"/>
                  </a:lnTo>
                  <a:lnTo>
                    <a:pt x="736498" y="763574"/>
                  </a:lnTo>
                  <a:lnTo>
                    <a:pt x="736498" y="501967"/>
                  </a:lnTo>
                  <a:lnTo>
                    <a:pt x="613740" y="501967"/>
                  </a:lnTo>
                  <a:lnTo>
                    <a:pt x="962025" y="0"/>
                  </a:lnTo>
                  <a:close/>
                </a:path>
              </a:pathLst>
            </a:custGeom>
            <a:solidFill>
              <a:srgbClr val="FFFF00">
                <a:alpha val="30194"/>
              </a:srgbClr>
            </a:solidFill>
          </p:spPr>
          <p:txBody>
            <a:bodyPr wrap="square" lIns="0" tIns="0" rIns="0" bIns="0" rtlCol="0"/>
            <a:lstStyle/>
            <a:p/>
          </p:txBody>
        </p:sp>
        <p:sp>
          <p:nvSpPr>
            <p:cNvPr id="174" name="object 174" descr=""/>
            <p:cNvSpPr/>
            <p:nvPr/>
          </p:nvSpPr>
          <p:spPr>
            <a:xfrm>
              <a:off x="2442249" y="4053398"/>
              <a:ext cx="962025" cy="763905"/>
            </a:xfrm>
            <a:custGeom>
              <a:avLst/>
              <a:gdLst/>
              <a:ahLst/>
              <a:cxnLst/>
              <a:rect l="l" t="t" r="r" b="b"/>
              <a:pathLst>
                <a:path w="962025" h="763904">
                  <a:moveTo>
                    <a:pt x="0" y="501967"/>
                  </a:moveTo>
                  <a:lnTo>
                    <a:pt x="429628" y="501967"/>
                  </a:lnTo>
                  <a:lnTo>
                    <a:pt x="962025" y="0"/>
                  </a:lnTo>
                  <a:lnTo>
                    <a:pt x="613740" y="501967"/>
                  </a:lnTo>
                  <a:lnTo>
                    <a:pt x="736498" y="501967"/>
                  </a:lnTo>
                  <a:lnTo>
                    <a:pt x="736498" y="545566"/>
                  </a:lnTo>
                  <a:lnTo>
                    <a:pt x="736498" y="610971"/>
                  </a:lnTo>
                  <a:lnTo>
                    <a:pt x="736498" y="763574"/>
                  </a:lnTo>
                  <a:lnTo>
                    <a:pt x="613740" y="763574"/>
                  </a:lnTo>
                  <a:lnTo>
                    <a:pt x="429628" y="763574"/>
                  </a:lnTo>
                  <a:lnTo>
                    <a:pt x="0" y="763574"/>
                  </a:lnTo>
                  <a:lnTo>
                    <a:pt x="0" y="610971"/>
                  </a:lnTo>
                  <a:lnTo>
                    <a:pt x="0" y="545566"/>
                  </a:lnTo>
                  <a:lnTo>
                    <a:pt x="0" y="501967"/>
                  </a:lnTo>
                  <a:close/>
                </a:path>
              </a:pathLst>
            </a:custGeom>
            <a:ln w="9525">
              <a:solidFill>
                <a:srgbClr val="FF0000"/>
              </a:solidFill>
            </a:ln>
          </p:spPr>
          <p:txBody>
            <a:bodyPr wrap="square" lIns="0" tIns="0" rIns="0" bIns="0" rtlCol="0"/>
            <a:lstStyle/>
            <a:p/>
          </p:txBody>
        </p:sp>
      </p:grpSp>
      <p:sp>
        <p:nvSpPr>
          <p:cNvPr id="175" name="object 175" descr=""/>
          <p:cNvSpPr txBox="1"/>
          <p:nvPr/>
        </p:nvSpPr>
        <p:spPr>
          <a:xfrm>
            <a:off x="2518397" y="4583051"/>
            <a:ext cx="583565" cy="193040"/>
          </a:xfrm>
          <a:prstGeom prst="rect">
            <a:avLst/>
          </a:prstGeom>
        </p:spPr>
        <p:txBody>
          <a:bodyPr wrap="square" lIns="0" tIns="12065" rIns="0" bIns="0" rtlCol="0" vert="horz">
            <a:spAutoFit/>
          </a:bodyPr>
          <a:lstStyle/>
          <a:p>
            <a:pPr marL="12700">
              <a:lnSpc>
                <a:spcPct val="100000"/>
              </a:lnSpc>
              <a:spcBef>
                <a:spcPts val="95"/>
              </a:spcBef>
            </a:pPr>
            <a:r>
              <a:rPr dirty="0" sz="1100" spc="-30">
                <a:solidFill>
                  <a:srgbClr val="303030"/>
                </a:solidFill>
                <a:latin typeface="Microsoft YaHei"/>
                <a:cs typeface="Microsoft YaHei"/>
              </a:rPr>
              <a:t>天线分裂</a:t>
            </a:r>
            <a:endParaRPr sz="1100">
              <a:latin typeface="Microsoft YaHei"/>
              <a:cs typeface="Microsoft YaHei"/>
            </a:endParaRPr>
          </a:p>
        </p:txBody>
      </p:sp>
      <p:pic>
        <p:nvPicPr>
          <p:cNvPr id="176" name="object 176"/>
          <p:cNvPicPr/>
          <p:nvPr/>
        </p:nvPicPr>
        <p:blipFill>
          <a:blip r:embed="rId9" cstate="print"/>
          <a:stretch>
            <a:fillRect/>
          </a:stretch>
        </p:blipFill>
        <p:spPr>
          <a:xfrm>
            <a:off x="2127504" y="4090428"/>
            <a:ext cx="295655" cy="249923"/>
          </a:xfrm>
          <a:prstGeom prst="rect">
            <a:avLst/>
          </a:prstGeom>
        </p:spPr>
      </p:pic>
      <p:sp>
        <p:nvSpPr>
          <p:cNvPr id="177" name="object 177" descr=""/>
          <p:cNvSpPr txBox="1"/>
          <p:nvPr/>
        </p:nvSpPr>
        <p:spPr>
          <a:xfrm>
            <a:off x="4699887" y="2155958"/>
            <a:ext cx="1545590"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Microsoft YaHei"/>
                <a:cs typeface="Microsoft YaHei"/>
              </a:rPr>
              <a:t>800MHz~3.6G</a:t>
            </a:r>
            <a:r>
              <a:rPr dirty="0" sz="1100" spc="-30">
                <a:latin typeface="Microsoft YaHei"/>
                <a:cs typeface="Microsoft YaHei"/>
              </a:rPr>
              <a:t>室分产品</a:t>
            </a:r>
            <a:endParaRPr sz="1100">
              <a:latin typeface="Microsoft YaHei"/>
              <a:cs typeface="Microsoft YaHei"/>
            </a:endParaRPr>
          </a:p>
        </p:txBody>
      </p:sp>
      <p:graphicFrame>
        <p:nvGraphicFramePr>
          <p:cNvPr id="178" name="object 178" descr=""/>
          <p:cNvGraphicFramePr>
            <a:graphicFrameLocks noGrp="1"/>
          </p:cNvGraphicFramePr>
          <p:nvPr/>
        </p:nvGraphicFramePr>
        <p:xfrm>
          <a:off x="4640832" y="2424559"/>
          <a:ext cx="4234180" cy="2536825"/>
        </p:xfrm>
        <a:graphic>
          <a:graphicData uri="http://schemas.openxmlformats.org/drawingml/2006/table">
            <a:tbl>
              <a:tblPr firstRow="1" bandRow="1">
                <a:tableStyleId>{2D5ABB26-0587-4C30-8999-92F81FD0307C}</a:tableStyleId>
              </a:tblPr>
              <a:tblGrid>
                <a:gridCol w="678180"/>
                <a:gridCol w="675005"/>
                <a:gridCol w="779780"/>
                <a:gridCol w="743585"/>
                <a:gridCol w="1273810"/>
              </a:tblGrid>
              <a:tr h="300355">
                <a:tc>
                  <a:txBody>
                    <a:bodyPr/>
                    <a:lstStyle/>
                    <a:p>
                      <a:pPr marL="130810" marR="3175">
                        <a:lnSpc>
                          <a:spcPct val="100000"/>
                        </a:lnSpc>
                        <a:spcBef>
                          <a:spcPts val="725"/>
                        </a:spcBef>
                      </a:pPr>
                      <a:r>
                        <a:rPr dirty="0" sz="800" spc="-20" b="1">
                          <a:solidFill>
                            <a:srgbClr val="FFFFFF"/>
                          </a:solidFill>
                          <a:latin typeface="Microsoft YaHei"/>
                          <a:cs typeface="Microsoft YaHei"/>
                        </a:rPr>
                        <a:t>产品名称</a:t>
                      </a:r>
                      <a:endParaRPr sz="800">
                        <a:latin typeface="Microsoft YaHei"/>
                        <a:cs typeface="Microsoft YaHei"/>
                      </a:endParaRPr>
                    </a:p>
                  </a:txBody>
                  <a:tcPr marL="0" marR="0" marB="0" marT="920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666666"/>
                    </a:solidFill>
                  </a:tcPr>
                </a:tc>
                <a:tc>
                  <a:txBody>
                    <a:bodyPr/>
                    <a:lstStyle/>
                    <a:p>
                      <a:pPr algn="ctr">
                        <a:lnSpc>
                          <a:spcPct val="100000"/>
                        </a:lnSpc>
                        <a:spcBef>
                          <a:spcPts val="245"/>
                        </a:spcBef>
                      </a:pPr>
                      <a:r>
                        <a:rPr dirty="0" sz="800" spc="-20" b="1">
                          <a:solidFill>
                            <a:srgbClr val="FFFFFF"/>
                          </a:solidFill>
                          <a:latin typeface="Microsoft YaHei"/>
                          <a:cs typeface="Microsoft YaHei"/>
                        </a:rPr>
                        <a:t>尺寸信息</a:t>
                      </a:r>
                      <a:endParaRPr sz="800">
                        <a:latin typeface="Microsoft YaHei"/>
                        <a:cs typeface="Microsoft YaHei"/>
                      </a:endParaRPr>
                    </a:p>
                    <a:p>
                      <a:pPr algn="ctr">
                        <a:lnSpc>
                          <a:spcPct val="100000"/>
                        </a:lnSpc>
                      </a:pPr>
                      <a:r>
                        <a:rPr dirty="0" sz="800" spc="-10" b="1">
                          <a:solidFill>
                            <a:srgbClr val="FFFFFF"/>
                          </a:solidFill>
                          <a:latin typeface="Microsoft YaHei"/>
                          <a:cs typeface="Microsoft YaHei"/>
                        </a:rPr>
                        <a:t>（</a:t>
                      </a:r>
                      <a:r>
                        <a:rPr dirty="0" sz="800" spc="-15" b="1">
                          <a:solidFill>
                            <a:srgbClr val="FFFFFF"/>
                          </a:solidFill>
                          <a:latin typeface="Microsoft YaHei"/>
                          <a:cs typeface="Microsoft YaHei"/>
                        </a:rPr>
                        <a:t>单位：</a:t>
                      </a:r>
                      <a:r>
                        <a:rPr dirty="0" sz="800" spc="-20" b="1">
                          <a:solidFill>
                            <a:srgbClr val="FFFFFF"/>
                          </a:solidFill>
                          <a:latin typeface="Microsoft YaHei"/>
                          <a:cs typeface="Microsoft YaHei"/>
                        </a:rPr>
                        <a:t>mm)</a:t>
                      </a:r>
                      <a:endParaRPr sz="800">
                        <a:latin typeface="Microsoft YaHei"/>
                        <a:cs typeface="Microsoft YaHei"/>
                      </a:endParaRPr>
                    </a:p>
                  </a:txBody>
                  <a:tcPr marL="0" marR="0" marB="0" marT="311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666666"/>
                    </a:solidFill>
                  </a:tcPr>
                </a:tc>
                <a:tc>
                  <a:txBody>
                    <a:bodyPr/>
                    <a:lstStyle/>
                    <a:p>
                      <a:pPr marL="100330" marR="215900" indent="-51435">
                        <a:lnSpc>
                          <a:spcPct val="100000"/>
                        </a:lnSpc>
                        <a:spcBef>
                          <a:spcPts val="245"/>
                        </a:spcBef>
                      </a:pPr>
                      <a:r>
                        <a:rPr dirty="0" sz="800" spc="-20" b="1">
                          <a:solidFill>
                            <a:srgbClr val="FFFFFF"/>
                          </a:solidFill>
                          <a:latin typeface="Microsoft YaHei"/>
                          <a:cs typeface="Microsoft YaHei"/>
                        </a:rPr>
                        <a:t>与现有产品尺寸对比</a:t>
                      </a:r>
                      <a:endParaRPr sz="800">
                        <a:latin typeface="Microsoft YaHei"/>
                        <a:cs typeface="Microsoft YaHei"/>
                      </a:endParaRPr>
                    </a:p>
                  </a:txBody>
                  <a:tcPr marL="0" marR="0" marB="0" marT="311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666666"/>
                    </a:solidFill>
                  </a:tcPr>
                </a:tc>
                <a:tc>
                  <a:txBody>
                    <a:bodyPr/>
                    <a:lstStyle/>
                    <a:p>
                      <a:pPr marL="168910">
                        <a:lnSpc>
                          <a:spcPct val="100000"/>
                        </a:lnSpc>
                        <a:spcBef>
                          <a:spcPts val="725"/>
                        </a:spcBef>
                      </a:pPr>
                      <a:r>
                        <a:rPr dirty="0" sz="800" spc="-20" b="1">
                          <a:solidFill>
                            <a:srgbClr val="FFFFFF"/>
                          </a:solidFill>
                          <a:latin typeface="Microsoft YaHei"/>
                          <a:cs typeface="Microsoft YaHei"/>
                        </a:rPr>
                        <a:t>主要指标</a:t>
                      </a:r>
                      <a:endParaRPr sz="800">
                        <a:latin typeface="Microsoft YaHei"/>
                        <a:cs typeface="Microsoft YaHei"/>
                      </a:endParaRPr>
                    </a:p>
                  </a:txBody>
                  <a:tcPr marL="0" marR="0" marB="0" marT="920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666666"/>
                    </a:solidFill>
                  </a:tcPr>
                </a:tc>
                <a:tc>
                  <a:txBody>
                    <a:bodyPr/>
                    <a:lstStyle/>
                    <a:p>
                      <a:pPr algn="ctr">
                        <a:lnSpc>
                          <a:spcPct val="100000"/>
                        </a:lnSpc>
                        <a:spcBef>
                          <a:spcPts val="725"/>
                        </a:spcBef>
                      </a:pPr>
                      <a:r>
                        <a:rPr dirty="0" sz="800" spc="-20" b="1">
                          <a:solidFill>
                            <a:srgbClr val="FFFFFF"/>
                          </a:solidFill>
                          <a:latin typeface="Microsoft YaHei"/>
                          <a:cs typeface="Microsoft YaHei"/>
                        </a:rPr>
                        <a:t>方案说明</a:t>
                      </a:r>
                      <a:endParaRPr sz="800">
                        <a:latin typeface="Microsoft YaHei"/>
                        <a:cs typeface="Microsoft YaHei"/>
                      </a:endParaRPr>
                    </a:p>
                  </a:txBody>
                  <a:tcPr marL="0" marR="0" marB="0" marT="920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666666"/>
                    </a:solidFill>
                  </a:tcPr>
                </a:tc>
              </a:tr>
              <a:tr h="1287780">
                <a:tc>
                  <a:txBody>
                    <a:bodyPr/>
                    <a:lstStyle/>
                    <a:p>
                      <a:pPr marR="3175">
                        <a:lnSpc>
                          <a:spcPct val="100000"/>
                        </a:lnSpc>
                      </a:pPr>
                      <a:endParaRPr sz="800">
                        <a:latin typeface="Times New Roman"/>
                        <a:cs typeface="Times New Roman"/>
                      </a:endParaRPr>
                    </a:p>
                    <a:p>
                      <a:pPr marR="3175">
                        <a:lnSpc>
                          <a:spcPct val="100000"/>
                        </a:lnSpc>
                      </a:pPr>
                      <a:endParaRPr sz="800">
                        <a:latin typeface="Times New Roman"/>
                        <a:cs typeface="Times New Roman"/>
                      </a:endParaRPr>
                    </a:p>
                    <a:p>
                      <a:pPr marR="3175">
                        <a:lnSpc>
                          <a:spcPct val="100000"/>
                        </a:lnSpc>
                      </a:pPr>
                      <a:endParaRPr sz="800">
                        <a:latin typeface="Times New Roman"/>
                        <a:cs typeface="Times New Roman"/>
                      </a:endParaRPr>
                    </a:p>
                    <a:p>
                      <a:pPr marR="3175">
                        <a:lnSpc>
                          <a:spcPct val="100000"/>
                        </a:lnSpc>
                        <a:spcBef>
                          <a:spcPts val="455"/>
                        </a:spcBef>
                      </a:pPr>
                      <a:endParaRPr sz="800">
                        <a:latin typeface="Times New Roman"/>
                        <a:cs typeface="Times New Roman"/>
                      </a:endParaRPr>
                    </a:p>
                    <a:p>
                      <a:pPr marL="80645" marR="15875" indent="-67310">
                        <a:lnSpc>
                          <a:spcPct val="100000"/>
                        </a:lnSpc>
                      </a:pPr>
                      <a:r>
                        <a:rPr dirty="0" sz="800" spc="-10">
                          <a:latin typeface="Microsoft YaHei"/>
                          <a:cs typeface="Microsoft YaHei"/>
                        </a:rPr>
                        <a:t>0.8~3.6G</a:t>
                      </a:r>
                      <a:r>
                        <a:rPr dirty="0" sz="800" spc="-30">
                          <a:latin typeface="Microsoft YaHei"/>
                          <a:cs typeface="Microsoft YaHei"/>
                        </a:rPr>
                        <a:t>双极</a:t>
                      </a:r>
                      <a:r>
                        <a:rPr dirty="0" sz="800" spc="-20">
                          <a:latin typeface="Microsoft YaHei"/>
                          <a:cs typeface="Microsoft YaHei"/>
                        </a:rPr>
                        <a:t>化吸顶天线</a:t>
                      </a:r>
                      <a:endParaRPr sz="800">
                        <a:latin typeface="Microsoft YaHei"/>
                        <a:cs typeface="Microsoft YaHei"/>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15"/>
                        </a:spcBef>
                      </a:pPr>
                      <a:endParaRPr sz="800">
                        <a:latin typeface="Times New Roman"/>
                        <a:cs typeface="Times New Roman"/>
                      </a:endParaRPr>
                    </a:p>
                    <a:p>
                      <a:pPr algn="ctr" marL="635">
                        <a:lnSpc>
                          <a:spcPct val="100000"/>
                        </a:lnSpc>
                      </a:pPr>
                      <a:r>
                        <a:rPr dirty="0" sz="800" spc="-10">
                          <a:latin typeface="Microsoft YaHei"/>
                          <a:cs typeface="Microsoft YaHei"/>
                        </a:rPr>
                        <a:t>φ218×40</a:t>
                      </a:r>
                      <a:endParaRPr sz="800">
                        <a:latin typeface="Microsoft YaHei"/>
                        <a:cs typeface="Microsoft YaHei"/>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167640">
                        <a:lnSpc>
                          <a:spcPct val="100000"/>
                        </a:lnSpc>
                      </a:pPr>
                      <a:endParaRPr sz="800">
                        <a:latin typeface="Times New Roman"/>
                        <a:cs typeface="Times New Roman"/>
                      </a:endParaRPr>
                    </a:p>
                    <a:p>
                      <a:pPr marR="167640">
                        <a:lnSpc>
                          <a:spcPct val="100000"/>
                        </a:lnSpc>
                        <a:spcBef>
                          <a:spcPts val="370"/>
                        </a:spcBef>
                      </a:pPr>
                      <a:endParaRPr sz="800">
                        <a:latin typeface="Times New Roman"/>
                        <a:cs typeface="Times New Roman"/>
                      </a:endParaRPr>
                    </a:p>
                    <a:p>
                      <a:pPr marL="571500">
                        <a:lnSpc>
                          <a:spcPct val="100000"/>
                        </a:lnSpc>
                        <a:spcBef>
                          <a:spcPts val="5"/>
                        </a:spcBef>
                      </a:pPr>
                      <a:r>
                        <a:rPr dirty="0" sz="800" spc="-30">
                          <a:latin typeface="Microsoft YaHei"/>
                          <a:cs typeface="Microsoft YaHei"/>
                        </a:rPr>
                        <a:t>垂直</a:t>
                      </a:r>
                      <a:endParaRPr sz="800">
                        <a:latin typeface="Microsoft YaHei"/>
                        <a:cs typeface="Microsoft YaHei"/>
                      </a:endParaRPr>
                    </a:p>
                    <a:p>
                      <a:pPr marR="167640">
                        <a:lnSpc>
                          <a:spcPct val="100000"/>
                        </a:lnSpc>
                        <a:spcBef>
                          <a:spcPts val="40"/>
                        </a:spcBef>
                      </a:pPr>
                      <a:endParaRPr sz="800">
                        <a:latin typeface="Times New Roman"/>
                        <a:cs typeface="Times New Roman"/>
                      </a:endParaRPr>
                    </a:p>
                    <a:p>
                      <a:pPr marL="100330" marR="215900" indent="-51435">
                        <a:lnSpc>
                          <a:spcPct val="100000"/>
                        </a:lnSpc>
                      </a:pPr>
                      <a:r>
                        <a:rPr dirty="0" sz="800" spc="-20">
                          <a:latin typeface="Microsoft YaHei"/>
                          <a:cs typeface="Microsoft YaHei"/>
                        </a:rPr>
                        <a:t>与现有产品体积相当</a:t>
                      </a:r>
                      <a:endParaRPr sz="800">
                        <a:latin typeface="Microsoft YaHei"/>
                        <a:cs typeface="Microsoft YaHei"/>
                      </a:endParaRPr>
                    </a:p>
                    <a:p>
                      <a:pPr marL="572135">
                        <a:lnSpc>
                          <a:spcPct val="100000"/>
                        </a:lnSpc>
                      </a:pPr>
                      <a:r>
                        <a:rPr dirty="0" sz="800" spc="-30">
                          <a:latin typeface="Microsoft YaHei"/>
                          <a:cs typeface="Microsoft YaHei"/>
                        </a:rPr>
                        <a:t>不圆</a:t>
                      </a:r>
                      <a:endParaRPr sz="800">
                        <a:latin typeface="Microsoft YaHei"/>
                        <a:cs typeface="Microsoft YaHei"/>
                      </a:endParaRPr>
                    </a:p>
                    <a:p>
                      <a:pPr marR="167640">
                        <a:lnSpc>
                          <a:spcPct val="100000"/>
                        </a:lnSpc>
                        <a:spcBef>
                          <a:spcPts val="40"/>
                        </a:spcBef>
                      </a:pPr>
                      <a:endParaRPr sz="800">
                        <a:latin typeface="Times New Roman"/>
                        <a:cs typeface="Times New Roman"/>
                      </a:endParaRPr>
                    </a:p>
                    <a:p>
                      <a:pPr marL="570865">
                        <a:lnSpc>
                          <a:spcPct val="100000"/>
                        </a:lnSpc>
                      </a:pPr>
                      <a:r>
                        <a:rPr dirty="0" sz="800" spc="-30">
                          <a:latin typeface="Microsoft YaHei"/>
                          <a:cs typeface="Microsoft YaHei"/>
                        </a:rPr>
                        <a:t>水平</a:t>
                      </a:r>
                      <a:endParaRPr sz="800">
                        <a:latin typeface="Microsoft YaHei"/>
                        <a:cs typeface="Microsoft YaHei"/>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R="75565">
                        <a:lnSpc>
                          <a:spcPct val="100000"/>
                        </a:lnSpc>
                        <a:spcBef>
                          <a:spcPts val="295"/>
                        </a:spcBef>
                      </a:pPr>
                      <a:r>
                        <a:rPr dirty="0" sz="800" spc="-25">
                          <a:latin typeface="Microsoft YaHei"/>
                          <a:cs typeface="Microsoft YaHei"/>
                        </a:rPr>
                        <a:t>增益：</a:t>
                      </a:r>
                      <a:endParaRPr sz="800">
                        <a:latin typeface="Microsoft YaHei"/>
                        <a:cs typeface="Microsoft YaHei"/>
                      </a:endParaRPr>
                    </a:p>
                    <a:p>
                      <a:pPr algn="ctr" marR="106045">
                        <a:lnSpc>
                          <a:spcPct val="100000"/>
                        </a:lnSpc>
                      </a:pPr>
                      <a:r>
                        <a:rPr dirty="0" sz="800" spc="-10">
                          <a:latin typeface="Microsoft YaHei"/>
                          <a:cs typeface="Microsoft YaHei"/>
                        </a:rPr>
                        <a:t>3.5~5dBi</a:t>
                      </a:r>
                      <a:endParaRPr sz="800">
                        <a:latin typeface="Microsoft YaHei"/>
                        <a:cs typeface="Microsoft YaHei"/>
                      </a:endParaRPr>
                    </a:p>
                    <a:p>
                      <a:pPr marL="167640">
                        <a:lnSpc>
                          <a:spcPct val="100000"/>
                        </a:lnSpc>
                      </a:pPr>
                      <a:r>
                        <a:rPr dirty="0" sz="800" spc="-20">
                          <a:latin typeface="Microsoft YaHei"/>
                          <a:cs typeface="Microsoft YaHei"/>
                        </a:rPr>
                        <a:t>面波瓣宽度</a:t>
                      </a:r>
                      <a:endParaRPr sz="800">
                        <a:latin typeface="Microsoft YaHei"/>
                        <a:cs typeface="Microsoft YaHei"/>
                      </a:endParaRPr>
                    </a:p>
                    <a:p>
                      <a:pPr marL="132080">
                        <a:lnSpc>
                          <a:spcPct val="100000"/>
                        </a:lnSpc>
                      </a:pPr>
                      <a:r>
                        <a:rPr dirty="0" sz="800" spc="-10">
                          <a:latin typeface="Microsoft YaHei"/>
                          <a:cs typeface="Microsoft YaHei"/>
                        </a:rPr>
                        <a:t>85°~35°</a:t>
                      </a:r>
                      <a:endParaRPr sz="800">
                        <a:latin typeface="Microsoft YaHei"/>
                        <a:cs typeface="Microsoft YaHei"/>
                      </a:endParaRPr>
                    </a:p>
                    <a:p>
                      <a:pPr marL="229235">
                        <a:lnSpc>
                          <a:spcPct val="100000"/>
                        </a:lnSpc>
                      </a:pPr>
                      <a:r>
                        <a:rPr dirty="0" sz="800" spc="-30">
                          <a:latin typeface="Microsoft YaHei"/>
                          <a:cs typeface="Microsoft YaHei"/>
                        </a:rPr>
                        <a:t>隔离</a:t>
                      </a:r>
                      <a:endParaRPr sz="800">
                        <a:latin typeface="Microsoft YaHei"/>
                        <a:cs typeface="Microsoft YaHei"/>
                      </a:endParaRPr>
                    </a:p>
                    <a:p>
                      <a:pPr marL="168910" marR="41275" indent="-121920">
                        <a:lnSpc>
                          <a:spcPct val="100000"/>
                        </a:lnSpc>
                      </a:pPr>
                      <a:r>
                        <a:rPr dirty="0" sz="800" spc="-10">
                          <a:latin typeface="Microsoft YaHei"/>
                          <a:cs typeface="Microsoft YaHei"/>
                        </a:rPr>
                        <a:t>度:17~25dB度：2~3dB</a:t>
                      </a:r>
                      <a:endParaRPr sz="800">
                        <a:latin typeface="Microsoft YaHei"/>
                        <a:cs typeface="Microsoft YaHei"/>
                      </a:endParaRPr>
                    </a:p>
                    <a:p>
                      <a:pPr marL="167640" marR="60325" indent="-121285">
                        <a:lnSpc>
                          <a:spcPct val="100000"/>
                        </a:lnSpc>
                      </a:pPr>
                      <a:r>
                        <a:rPr dirty="0" sz="800" spc="-20">
                          <a:latin typeface="Microsoft YaHei"/>
                          <a:cs typeface="Microsoft YaHei"/>
                        </a:rPr>
                        <a:t>驻波比：＜</a:t>
                      </a:r>
                      <a:r>
                        <a:rPr dirty="0" sz="800" spc="-25">
                          <a:latin typeface="Microsoft YaHei"/>
                          <a:cs typeface="Microsoft YaHei"/>
                        </a:rPr>
                        <a:t>2</a:t>
                      </a:r>
                      <a:r>
                        <a:rPr dirty="0" sz="800" spc="-20">
                          <a:latin typeface="Microsoft YaHei"/>
                          <a:cs typeface="Microsoft YaHei"/>
                        </a:rPr>
                        <a:t>面波瓣宽度 360°</a:t>
                      </a:r>
                      <a:endParaRPr sz="800">
                        <a:latin typeface="Microsoft YaHei"/>
                        <a:cs typeface="Microsoft YaHei"/>
                      </a:endParaRPr>
                    </a:p>
                  </a:txBody>
                  <a:tcPr marL="0" marR="0" marB="0" marT="374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335"/>
                        </a:spcBef>
                      </a:pPr>
                      <a:endParaRPr sz="800">
                        <a:latin typeface="Times New Roman"/>
                        <a:cs typeface="Times New Roman"/>
                      </a:endParaRPr>
                    </a:p>
                    <a:p>
                      <a:pPr algn="ctr" marL="28575" marR="20955">
                        <a:lnSpc>
                          <a:spcPct val="100000"/>
                        </a:lnSpc>
                      </a:pPr>
                      <a:r>
                        <a:rPr dirty="0" sz="800" spc="-20">
                          <a:latin typeface="Microsoft YaHei"/>
                          <a:cs typeface="Microsoft YaHei"/>
                        </a:rPr>
                        <a:t>采用线极化方式：</a:t>
                      </a:r>
                      <a:r>
                        <a:rPr dirty="0" sz="800" spc="500">
                          <a:latin typeface="Microsoft YaHei"/>
                          <a:cs typeface="Microsoft YaHei"/>
                        </a:rPr>
                        <a:t>    </a:t>
                      </a:r>
                      <a:r>
                        <a:rPr dirty="0" sz="800" spc="-20">
                          <a:latin typeface="Microsoft YaHei"/>
                          <a:cs typeface="Microsoft YaHei"/>
                        </a:rPr>
                        <a:t>1）</a:t>
                      </a:r>
                      <a:r>
                        <a:rPr dirty="0" sz="800" spc="-15">
                          <a:latin typeface="Microsoft YaHei"/>
                          <a:cs typeface="Microsoft YaHei"/>
                        </a:rPr>
                        <a:t>该产品在海外市场有应用，通过忽略不圆度指标实现高度降低；目前不圆度指</a:t>
                      </a:r>
                      <a:r>
                        <a:rPr dirty="0" sz="800" spc="-10">
                          <a:latin typeface="Microsoft YaHei"/>
                          <a:cs typeface="Microsoft YaHei"/>
                        </a:rPr>
                        <a:t>标大约在10dB;</a:t>
                      </a:r>
                      <a:endParaRPr sz="800">
                        <a:latin typeface="Microsoft YaHei"/>
                        <a:cs typeface="Microsoft YaHei"/>
                      </a:endParaRPr>
                    </a:p>
                    <a:p>
                      <a:pPr marL="40640" marR="10160" indent="-24130">
                        <a:lnSpc>
                          <a:spcPct val="100000"/>
                        </a:lnSpc>
                      </a:pPr>
                      <a:r>
                        <a:rPr dirty="0" sz="800">
                          <a:latin typeface="Microsoft YaHei"/>
                          <a:cs typeface="Microsoft YaHei"/>
                        </a:rPr>
                        <a:t>2</a:t>
                      </a:r>
                      <a:r>
                        <a:rPr dirty="0" sz="800" spc="-30">
                          <a:latin typeface="Microsoft YaHei"/>
                          <a:cs typeface="Microsoft YaHei"/>
                        </a:rPr>
                        <a:t>) 如不圆度指标需要优化至</a:t>
                      </a:r>
                      <a:r>
                        <a:rPr dirty="0" sz="800" spc="-10">
                          <a:latin typeface="Microsoft YaHei"/>
                          <a:cs typeface="Microsoft YaHei"/>
                        </a:rPr>
                        <a:t>国内水平（2~3dB</a:t>
                      </a:r>
                      <a:r>
                        <a:rPr dirty="0" sz="800" spc="-20">
                          <a:latin typeface="Microsoft YaHei"/>
                          <a:cs typeface="Microsoft YaHei"/>
                        </a:rPr>
                        <a:t>),预计高</a:t>
                      </a:r>
                      <a:endParaRPr sz="800">
                        <a:latin typeface="Microsoft YaHei"/>
                        <a:cs typeface="Microsoft YaHei"/>
                      </a:endParaRPr>
                    </a:p>
                    <a:p>
                      <a:pPr marL="177800">
                        <a:lnSpc>
                          <a:spcPct val="100000"/>
                        </a:lnSpc>
                      </a:pPr>
                      <a:r>
                        <a:rPr dirty="0" sz="800" spc="-10">
                          <a:latin typeface="Microsoft YaHei"/>
                          <a:cs typeface="Microsoft YaHei"/>
                        </a:rPr>
                        <a:t>度会增加至80mm</a:t>
                      </a:r>
                      <a:r>
                        <a:rPr dirty="0" sz="800" spc="-50">
                          <a:latin typeface="Microsoft YaHei"/>
                          <a:cs typeface="Microsoft YaHei"/>
                        </a:rPr>
                        <a:t>。</a:t>
                      </a:r>
                      <a:endParaRPr sz="800">
                        <a:latin typeface="Microsoft YaHei"/>
                        <a:cs typeface="Microsoft YaHei"/>
                      </a:endParaRPr>
                    </a:p>
                  </a:txBody>
                  <a:tcPr marL="0" marR="0" marB="0" marT="4254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00380">
                <a:tc>
                  <a:txBody>
                    <a:bodyPr/>
                    <a:lstStyle/>
                    <a:p>
                      <a:pPr marL="273685" marR="26034" indent="-269875">
                        <a:lnSpc>
                          <a:spcPct val="100000"/>
                        </a:lnSpc>
                        <a:spcBef>
                          <a:spcPts val="555"/>
                        </a:spcBef>
                      </a:pPr>
                      <a:r>
                        <a:rPr dirty="0" sz="800" spc="-10">
                          <a:latin typeface="Microsoft YaHei"/>
                          <a:cs typeface="Microsoft YaHei"/>
                        </a:rPr>
                        <a:t>0.8~3.6G</a:t>
                      </a:r>
                      <a:r>
                        <a:rPr dirty="0" sz="800" spc="-30">
                          <a:latin typeface="Microsoft YaHei"/>
                          <a:cs typeface="Microsoft YaHei"/>
                        </a:rPr>
                        <a:t>功分</a:t>
                      </a:r>
                      <a:r>
                        <a:rPr dirty="0" sz="800" spc="-50">
                          <a:latin typeface="Microsoft YaHei"/>
                          <a:cs typeface="Microsoft YaHei"/>
                        </a:rPr>
                        <a:t>器</a:t>
                      </a:r>
                      <a:endParaRPr sz="800">
                        <a:latin typeface="Microsoft YaHei"/>
                        <a:cs typeface="Microsoft YaHei"/>
                      </a:endParaRPr>
                    </a:p>
                    <a:p>
                      <a:pPr>
                        <a:lnSpc>
                          <a:spcPct val="100000"/>
                        </a:lnSpc>
                      </a:pPr>
                      <a:r>
                        <a:rPr dirty="0" sz="800" spc="-20">
                          <a:latin typeface="Microsoft YaHei"/>
                          <a:cs typeface="Microsoft YaHei"/>
                        </a:rPr>
                        <a:t>(以二功分为例)</a:t>
                      </a:r>
                      <a:endParaRPr sz="800">
                        <a:latin typeface="Microsoft YaHei"/>
                        <a:cs typeface="Microsoft YaHei"/>
                      </a:endParaRPr>
                    </a:p>
                  </a:txBody>
                  <a:tcPr marL="0" marR="0" marB="0" marT="7048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95"/>
                        </a:spcBef>
                      </a:pPr>
                      <a:endParaRPr sz="800">
                        <a:latin typeface="Times New Roman"/>
                        <a:cs typeface="Times New Roman"/>
                      </a:endParaRPr>
                    </a:p>
                    <a:p>
                      <a:pPr algn="ctr" marL="635">
                        <a:lnSpc>
                          <a:spcPct val="100000"/>
                        </a:lnSpc>
                      </a:pPr>
                      <a:r>
                        <a:rPr dirty="0" sz="800" spc="-10">
                          <a:latin typeface="Microsoft YaHei"/>
                          <a:cs typeface="Microsoft YaHei"/>
                        </a:rPr>
                        <a:t>227.8×25×25</a:t>
                      </a:r>
                      <a:endParaRPr sz="800">
                        <a:latin typeface="Microsoft YaHei"/>
                        <a:cs typeface="Microsoft YaHei"/>
                      </a:endParaRPr>
                    </a:p>
                  </a:txBody>
                  <a:tcPr marL="0" marR="0" marB="0" marT="755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167640">
                        <a:lnSpc>
                          <a:spcPct val="100000"/>
                        </a:lnSpc>
                        <a:spcBef>
                          <a:spcPts val="595"/>
                        </a:spcBef>
                      </a:pPr>
                      <a:endParaRPr sz="800">
                        <a:latin typeface="Times New Roman"/>
                        <a:cs typeface="Times New Roman"/>
                      </a:endParaRPr>
                    </a:p>
                    <a:p>
                      <a:pPr marL="18415" marR="167640">
                        <a:lnSpc>
                          <a:spcPct val="100000"/>
                        </a:lnSpc>
                      </a:pPr>
                      <a:r>
                        <a:rPr dirty="0" sz="800" spc="-10">
                          <a:latin typeface="Microsoft YaHei"/>
                          <a:cs typeface="Microsoft YaHei"/>
                        </a:rPr>
                        <a:t>长度加长</a:t>
                      </a:r>
                      <a:r>
                        <a:rPr dirty="0" sz="800" spc="-25">
                          <a:latin typeface="Microsoft YaHei"/>
                          <a:cs typeface="Microsoft YaHei"/>
                        </a:rPr>
                        <a:t>1/5</a:t>
                      </a:r>
                      <a:endParaRPr sz="800">
                        <a:latin typeface="Microsoft YaHei"/>
                        <a:cs typeface="Microsoft YaHei"/>
                      </a:endParaRPr>
                    </a:p>
                  </a:txBody>
                  <a:tcPr marL="0" marR="0" marB="0" marT="755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14"/>
                        </a:spcBef>
                      </a:pPr>
                      <a:endParaRPr sz="800">
                        <a:latin typeface="Times New Roman"/>
                        <a:cs typeface="Times New Roman"/>
                      </a:endParaRPr>
                    </a:p>
                    <a:p>
                      <a:pPr marL="33020" marR="25400" indent="12700">
                        <a:lnSpc>
                          <a:spcPct val="100000"/>
                        </a:lnSpc>
                      </a:pPr>
                      <a:r>
                        <a:rPr dirty="0" sz="800" spc="-10">
                          <a:latin typeface="Microsoft YaHei"/>
                          <a:cs typeface="Microsoft YaHei"/>
                        </a:rPr>
                        <a:t>驻波比：＜1.2插损：＜3.3dB</a:t>
                      </a:r>
                      <a:endParaRPr sz="800">
                        <a:latin typeface="Microsoft YaHei"/>
                        <a:cs typeface="Microsoft YaHei"/>
                      </a:endParaRPr>
                    </a:p>
                  </a:txBody>
                  <a:tcPr marL="0" marR="0" marB="0" marT="14604">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14"/>
                        </a:spcBef>
                      </a:pPr>
                      <a:endParaRPr sz="800">
                        <a:latin typeface="Times New Roman"/>
                        <a:cs typeface="Times New Roman"/>
                      </a:endParaRPr>
                    </a:p>
                    <a:p>
                      <a:pPr marL="78740" marR="20955" indent="-50800">
                        <a:lnSpc>
                          <a:spcPct val="100000"/>
                        </a:lnSpc>
                      </a:pPr>
                      <a:r>
                        <a:rPr dirty="0" sz="800" spc="-15">
                          <a:latin typeface="Microsoft YaHei"/>
                          <a:cs typeface="Microsoft YaHei"/>
                        </a:rPr>
                        <a:t>采用六节阻抗变换级联推进方式实现，长度明显增加</a:t>
                      </a:r>
                      <a:endParaRPr sz="800">
                        <a:latin typeface="Microsoft YaHei"/>
                        <a:cs typeface="Microsoft YaHei"/>
                      </a:endParaRPr>
                    </a:p>
                  </a:txBody>
                  <a:tcPr marL="0" marR="0" marB="0" marT="14604">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48309">
                <a:tc>
                  <a:txBody>
                    <a:bodyPr/>
                    <a:lstStyle/>
                    <a:p>
                      <a:pPr marL="283210" marR="15875" indent="-269875">
                        <a:lnSpc>
                          <a:spcPct val="100000"/>
                        </a:lnSpc>
                        <a:spcBef>
                          <a:spcPts val="830"/>
                        </a:spcBef>
                      </a:pPr>
                      <a:r>
                        <a:rPr dirty="0" sz="800" spc="-10">
                          <a:latin typeface="Microsoft YaHei"/>
                          <a:cs typeface="Microsoft YaHei"/>
                        </a:rPr>
                        <a:t>0.8~3.6G</a:t>
                      </a:r>
                      <a:r>
                        <a:rPr dirty="0" sz="800" spc="-30">
                          <a:latin typeface="Microsoft YaHei"/>
                          <a:cs typeface="Microsoft YaHei"/>
                        </a:rPr>
                        <a:t>耦合</a:t>
                      </a:r>
                      <a:r>
                        <a:rPr dirty="0" sz="800" spc="-50">
                          <a:latin typeface="Microsoft YaHei"/>
                          <a:cs typeface="Microsoft YaHei"/>
                        </a:rPr>
                        <a:t>器</a:t>
                      </a:r>
                      <a:endParaRPr sz="800">
                        <a:latin typeface="Microsoft YaHei"/>
                        <a:cs typeface="Microsoft YaHei"/>
                      </a:endParaRPr>
                    </a:p>
                  </a:txBody>
                  <a:tcPr marL="0" marR="0" marB="0" marT="10541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635">
                        <a:lnSpc>
                          <a:spcPct val="100000"/>
                        </a:lnSpc>
                        <a:spcBef>
                          <a:spcPts val="830"/>
                        </a:spcBef>
                      </a:pPr>
                      <a:r>
                        <a:rPr dirty="0" sz="800" spc="-10">
                          <a:latin typeface="Microsoft YaHei"/>
                          <a:cs typeface="Microsoft YaHei"/>
                        </a:rPr>
                        <a:t>136×43.8×22</a:t>
                      </a:r>
                      <a:endParaRPr sz="800">
                        <a:latin typeface="Microsoft YaHei"/>
                        <a:cs typeface="Microsoft YaHei"/>
                      </a:endParaRPr>
                    </a:p>
                    <a:p>
                      <a:pPr algn="ctr">
                        <a:lnSpc>
                          <a:spcPct val="100000"/>
                        </a:lnSpc>
                      </a:pPr>
                      <a:r>
                        <a:rPr dirty="0" sz="800" spc="-25">
                          <a:latin typeface="Microsoft YaHei"/>
                          <a:cs typeface="Microsoft YaHei"/>
                        </a:rPr>
                        <a:t>.4</a:t>
                      </a:r>
                      <a:endParaRPr sz="800">
                        <a:latin typeface="Microsoft YaHei"/>
                        <a:cs typeface="Microsoft YaHei"/>
                      </a:endParaRPr>
                    </a:p>
                  </a:txBody>
                  <a:tcPr marL="0" marR="0" marB="0" marT="10541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00330" marR="215900" indent="-51435">
                        <a:lnSpc>
                          <a:spcPct val="100000"/>
                        </a:lnSpc>
                        <a:spcBef>
                          <a:spcPts val="830"/>
                        </a:spcBef>
                      </a:pPr>
                      <a:r>
                        <a:rPr dirty="0" sz="800" spc="-20">
                          <a:latin typeface="Microsoft YaHei"/>
                          <a:cs typeface="Microsoft YaHei"/>
                        </a:rPr>
                        <a:t>与现有产品体积相当</a:t>
                      </a:r>
                      <a:endParaRPr sz="800">
                        <a:latin typeface="Microsoft YaHei"/>
                        <a:cs typeface="Microsoft YaHei"/>
                      </a:endParaRPr>
                    </a:p>
                  </a:txBody>
                  <a:tcPr marL="0" marR="0" marB="0" marT="10541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7155" marR="90170" indent="121920">
                        <a:lnSpc>
                          <a:spcPct val="100000"/>
                        </a:lnSpc>
                        <a:spcBef>
                          <a:spcPts val="350"/>
                        </a:spcBef>
                      </a:pPr>
                      <a:r>
                        <a:rPr dirty="0" sz="800" spc="-25">
                          <a:latin typeface="Microsoft YaHei"/>
                          <a:cs typeface="Microsoft YaHei"/>
                        </a:rPr>
                        <a:t>耦合精</a:t>
                      </a:r>
                      <a:r>
                        <a:rPr dirty="0" sz="800" spc="500">
                          <a:latin typeface="Microsoft YaHei"/>
                          <a:cs typeface="Microsoft YaHei"/>
                        </a:rPr>
                        <a:t> </a:t>
                      </a:r>
                      <a:r>
                        <a:rPr dirty="0" sz="800" spc="-10">
                          <a:latin typeface="Microsoft YaHei"/>
                          <a:cs typeface="Microsoft YaHei"/>
                        </a:rPr>
                        <a:t>度:≤±0.8dB</a:t>
                      </a:r>
                      <a:endParaRPr sz="800">
                        <a:latin typeface="Microsoft YaHei"/>
                        <a:cs typeface="Microsoft YaHei"/>
                      </a:endParaRPr>
                    </a:p>
                    <a:p>
                      <a:pPr marL="46355">
                        <a:lnSpc>
                          <a:spcPct val="100000"/>
                        </a:lnSpc>
                      </a:pPr>
                      <a:r>
                        <a:rPr dirty="0" sz="800" spc="-15">
                          <a:latin typeface="Microsoft YaHei"/>
                          <a:cs typeface="Microsoft YaHei"/>
                        </a:rPr>
                        <a:t>驻波比：＜</a:t>
                      </a:r>
                      <a:r>
                        <a:rPr dirty="0" sz="800" spc="-20">
                          <a:latin typeface="Microsoft YaHei"/>
                          <a:cs typeface="Microsoft YaHei"/>
                        </a:rPr>
                        <a:t>1.2</a:t>
                      </a:r>
                      <a:endParaRPr sz="800">
                        <a:latin typeface="Microsoft YaHei"/>
                        <a:cs typeface="Microsoft YaHei"/>
                      </a:endParaRPr>
                    </a:p>
                  </a:txBody>
                  <a:tcPr marL="0" marR="0" marB="0" marT="4445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28575" marR="20955">
                        <a:lnSpc>
                          <a:spcPct val="100000"/>
                        </a:lnSpc>
                        <a:spcBef>
                          <a:spcPts val="350"/>
                        </a:spcBef>
                      </a:pPr>
                      <a:r>
                        <a:rPr dirty="0" sz="800" spc="-15">
                          <a:latin typeface="Microsoft YaHei"/>
                          <a:cs typeface="Microsoft YaHei"/>
                        </a:rPr>
                        <a:t>采用三节导带复用技术，器件体积可维持与现有产品相</a:t>
                      </a:r>
                      <a:r>
                        <a:rPr dirty="0" sz="800" spc="-50">
                          <a:latin typeface="Microsoft YaHei"/>
                          <a:cs typeface="Microsoft YaHei"/>
                        </a:rPr>
                        <a:t>当</a:t>
                      </a:r>
                      <a:endParaRPr sz="800">
                        <a:latin typeface="Microsoft YaHei"/>
                        <a:cs typeface="Microsoft YaHei"/>
                      </a:endParaRPr>
                    </a:p>
                  </a:txBody>
                  <a:tcPr marL="0" marR="0" marB="0" marT="4445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7215" y="124615"/>
            <a:ext cx="7579359" cy="513080"/>
          </a:xfrm>
          <a:prstGeom prst="rect"/>
        </p:spPr>
        <p:txBody>
          <a:bodyPr wrap="square" lIns="0" tIns="12065" rIns="0" bIns="0" rtlCol="0" vert="horz">
            <a:spAutoFit/>
          </a:bodyPr>
          <a:lstStyle/>
          <a:p>
            <a:pPr marL="12700">
              <a:lnSpc>
                <a:spcPct val="100000"/>
              </a:lnSpc>
              <a:spcBef>
                <a:spcPts val="95"/>
              </a:spcBef>
            </a:pPr>
            <a:r>
              <a:rPr dirty="0" spc="-40"/>
              <a:t>分布系统在</a:t>
            </a:r>
            <a:r>
              <a:rPr dirty="0" spc="-30">
                <a:latin typeface="Times New Roman"/>
                <a:cs typeface="Times New Roman"/>
              </a:rPr>
              <a:t>3.5GH</a:t>
            </a:r>
            <a:r>
              <a:rPr dirty="0" spc="-30" b="0">
                <a:latin typeface="Arial MT"/>
                <a:cs typeface="Arial MT"/>
              </a:rPr>
              <a:t>z</a:t>
            </a:r>
            <a:r>
              <a:rPr dirty="0" spc="-40"/>
              <a:t>频段的演进方案</a:t>
            </a:r>
            <a:r>
              <a:rPr dirty="0" spc="-10"/>
              <a:t>（</a:t>
            </a:r>
            <a:r>
              <a:rPr dirty="0" spc="-10">
                <a:latin typeface="Times New Roman"/>
                <a:cs typeface="Times New Roman"/>
              </a:rPr>
              <a:t>2/2</a:t>
            </a:r>
            <a:r>
              <a:rPr dirty="0" spc="-10"/>
              <a:t>）</a:t>
            </a:r>
          </a:p>
        </p:txBody>
      </p:sp>
      <p:grpSp>
        <p:nvGrpSpPr>
          <p:cNvPr id="3" name="object 3" descr=""/>
          <p:cNvGrpSpPr/>
          <p:nvPr/>
        </p:nvGrpSpPr>
        <p:grpSpPr>
          <a:xfrm>
            <a:off x="207213" y="637984"/>
            <a:ext cx="8562975" cy="363855"/>
            <a:chOff x="207213" y="637984"/>
            <a:chExt cx="8562975" cy="363855"/>
          </a:xfrm>
        </p:grpSpPr>
        <p:sp>
          <p:nvSpPr>
            <p:cNvPr id="4" name="object 4" descr=""/>
            <p:cNvSpPr/>
            <p:nvPr/>
          </p:nvSpPr>
          <p:spPr>
            <a:xfrm>
              <a:off x="219913" y="650684"/>
              <a:ext cx="8537575" cy="338455"/>
            </a:xfrm>
            <a:custGeom>
              <a:avLst/>
              <a:gdLst/>
              <a:ahLst/>
              <a:cxnLst/>
              <a:rect l="l" t="t" r="r" b="b"/>
              <a:pathLst>
                <a:path w="8537575" h="338455">
                  <a:moveTo>
                    <a:pt x="8537359" y="0"/>
                  </a:moveTo>
                  <a:lnTo>
                    <a:pt x="0" y="0"/>
                  </a:lnTo>
                  <a:lnTo>
                    <a:pt x="0" y="338074"/>
                  </a:lnTo>
                  <a:lnTo>
                    <a:pt x="8537359" y="338074"/>
                  </a:lnTo>
                  <a:lnTo>
                    <a:pt x="8537359" y="0"/>
                  </a:lnTo>
                  <a:close/>
                </a:path>
              </a:pathLst>
            </a:custGeom>
            <a:solidFill>
              <a:srgbClr val="92D050"/>
            </a:solidFill>
          </p:spPr>
          <p:txBody>
            <a:bodyPr wrap="square" lIns="0" tIns="0" rIns="0" bIns="0" rtlCol="0"/>
            <a:lstStyle/>
            <a:p/>
          </p:txBody>
        </p:sp>
        <p:sp>
          <p:nvSpPr>
            <p:cNvPr id="5" name="object 5" descr=""/>
            <p:cNvSpPr/>
            <p:nvPr/>
          </p:nvSpPr>
          <p:spPr>
            <a:xfrm>
              <a:off x="219913" y="650684"/>
              <a:ext cx="8537575" cy="338455"/>
            </a:xfrm>
            <a:custGeom>
              <a:avLst/>
              <a:gdLst/>
              <a:ahLst/>
              <a:cxnLst/>
              <a:rect l="l" t="t" r="r" b="b"/>
              <a:pathLst>
                <a:path w="8537575" h="338455">
                  <a:moveTo>
                    <a:pt x="0" y="0"/>
                  </a:moveTo>
                  <a:lnTo>
                    <a:pt x="8537359" y="0"/>
                  </a:lnTo>
                  <a:lnTo>
                    <a:pt x="8537359" y="338074"/>
                  </a:lnTo>
                  <a:lnTo>
                    <a:pt x="0" y="338074"/>
                  </a:lnTo>
                  <a:lnTo>
                    <a:pt x="0" y="0"/>
                  </a:lnTo>
                  <a:close/>
                </a:path>
              </a:pathLst>
            </a:custGeom>
            <a:ln w="25400">
              <a:solidFill>
                <a:srgbClr val="FFFFFF"/>
              </a:solidFill>
            </a:ln>
          </p:spPr>
          <p:txBody>
            <a:bodyPr wrap="square" lIns="0" tIns="0" rIns="0" bIns="0" rtlCol="0"/>
            <a:lstStyle/>
            <a:p/>
          </p:txBody>
        </p:sp>
      </p:grpSp>
      <p:sp>
        <p:nvSpPr>
          <p:cNvPr id="6" name="object 6" descr=""/>
          <p:cNvSpPr txBox="1"/>
          <p:nvPr/>
        </p:nvSpPr>
        <p:spPr>
          <a:xfrm>
            <a:off x="219913" y="650684"/>
            <a:ext cx="8537575" cy="338455"/>
          </a:xfrm>
          <a:prstGeom prst="rect">
            <a:avLst/>
          </a:prstGeom>
        </p:spPr>
        <p:txBody>
          <a:bodyPr wrap="square" lIns="0" tIns="76200" rIns="0" bIns="0" rtlCol="0" vert="horz">
            <a:spAutoFit/>
          </a:bodyPr>
          <a:lstStyle/>
          <a:p>
            <a:pPr marL="414020" indent="-232410">
              <a:lnSpc>
                <a:spcPct val="100000"/>
              </a:lnSpc>
              <a:spcBef>
                <a:spcPts val="600"/>
              </a:spcBef>
              <a:buClr>
                <a:srgbClr val="FF0000"/>
              </a:buClr>
              <a:buFont typeface="Wingdings"/>
              <a:buChar char=""/>
              <a:tabLst>
                <a:tab pos="414020" algn="l"/>
              </a:tabLst>
            </a:pPr>
            <a:r>
              <a:rPr dirty="0" sz="1200">
                <a:solidFill>
                  <a:srgbClr val="C00000"/>
                </a:solidFill>
                <a:latin typeface="Microsoft YaHei"/>
                <a:cs typeface="Microsoft YaHei"/>
              </a:rPr>
              <a:t>不具备改造条件存量站址，新建3.5GHz</a:t>
            </a:r>
            <a:r>
              <a:rPr dirty="0" sz="1200" spc="-15">
                <a:solidFill>
                  <a:srgbClr val="C00000"/>
                </a:solidFill>
                <a:latin typeface="Microsoft YaHei"/>
                <a:cs typeface="Microsoft YaHei"/>
              </a:rPr>
              <a:t> 分布系统支持</a:t>
            </a:r>
            <a:r>
              <a:rPr dirty="0" sz="1200" spc="-10">
                <a:solidFill>
                  <a:srgbClr val="C00000"/>
                </a:solidFill>
                <a:latin typeface="Microsoft YaHei"/>
                <a:cs typeface="Microsoft YaHei"/>
              </a:rPr>
              <a:t>5G</a:t>
            </a:r>
            <a:r>
              <a:rPr dirty="0" sz="1200" spc="-5">
                <a:solidFill>
                  <a:srgbClr val="C00000"/>
                </a:solidFill>
                <a:latin typeface="Microsoft YaHei"/>
                <a:cs typeface="Microsoft YaHei"/>
              </a:rPr>
              <a:t>业务，但无法向高频演进， 无源系统无法支持毫米波段</a:t>
            </a:r>
            <a:r>
              <a:rPr dirty="0" sz="1200" spc="-50">
                <a:latin typeface="Microsoft YaHei"/>
                <a:cs typeface="Microsoft YaHei"/>
              </a:rPr>
              <a:t>。</a:t>
            </a:r>
            <a:endParaRPr sz="1200">
              <a:latin typeface="Microsoft YaHei"/>
              <a:cs typeface="Microsoft YaHei"/>
            </a:endParaRPr>
          </a:p>
        </p:txBody>
      </p:sp>
      <p:grpSp>
        <p:nvGrpSpPr>
          <p:cNvPr id="7" name="object 7" descr=""/>
          <p:cNvGrpSpPr/>
          <p:nvPr/>
        </p:nvGrpSpPr>
        <p:grpSpPr>
          <a:xfrm>
            <a:off x="850493" y="993495"/>
            <a:ext cx="2911475" cy="1264920"/>
            <a:chOff x="850493" y="993495"/>
            <a:chExt cx="2911475" cy="1264920"/>
          </a:xfrm>
        </p:grpSpPr>
        <p:sp>
          <p:nvSpPr>
            <p:cNvPr id="8" name="object 8" descr=""/>
            <p:cNvSpPr/>
            <p:nvPr/>
          </p:nvSpPr>
          <p:spPr>
            <a:xfrm>
              <a:off x="850493" y="993495"/>
              <a:ext cx="2911475" cy="1264920"/>
            </a:xfrm>
            <a:custGeom>
              <a:avLst/>
              <a:gdLst/>
              <a:ahLst/>
              <a:cxnLst/>
              <a:rect l="l" t="t" r="r" b="b"/>
              <a:pathLst>
                <a:path w="2911475" h="1264920">
                  <a:moveTo>
                    <a:pt x="2910954" y="0"/>
                  </a:moveTo>
                  <a:lnTo>
                    <a:pt x="0" y="0"/>
                  </a:lnTo>
                  <a:lnTo>
                    <a:pt x="0" y="1264297"/>
                  </a:lnTo>
                  <a:lnTo>
                    <a:pt x="2910954" y="1264297"/>
                  </a:lnTo>
                  <a:lnTo>
                    <a:pt x="2910954" y="0"/>
                  </a:lnTo>
                  <a:close/>
                </a:path>
              </a:pathLst>
            </a:custGeom>
            <a:solidFill>
              <a:srgbClr val="F2F2F2"/>
            </a:solidFill>
          </p:spPr>
          <p:txBody>
            <a:bodyPr wrap="square" lIns="0" tIns="0" rIns="0" bIns="0" rtlCol="0"/>
            <a:lstStyle/>
            <a:p/>
          </p:txBody>
        </p:sp>
        <p:sp>
          <p:nvSpPr>
            <p:cNvPr id="9" name="object 9" descr=""/>
            <p:cNvSpPr/>
            <p:nvPr/>
          </p:nvSpPr>
          <p:spPr>
            <a:xfrm>
              <a:off x="2024926" y="1181861"/>
              <a:ext cx="931544" cy="719455"/>
            </a:xfrm>
            <a:custGeom>
              <a:avLst/>
              <a:gdLst/>
              <a:ahLst/>
              <a:cxnLst/>
              <a:rect l="l" t="t" r="r" b="b"/>
              <a:pathLst>
                <a:path w="931544" h="719455">
                  <a:moveTo>
                    <a:pt x="169316" y="619950"/>
                  </a:moveTo>
                  <a:lnTo>
                    <a:pt x="112890" y="619950"/>
                  </a:lnTo>
                  <a:lnTo>
                    <a:pt x="112890" y="523811"/>
                  </a:lnTo>
                  <a:lnTo>
                    <a:pt x="85636" y="523811"/>
                  </a:lnTo>
                  <a:lnTo>
                    <a:pt x="85636" y="502437"/>
                  </a:lnTo>
                  <a:lnTo>
                    <a:pt x="24752" y="502437"/>
                  </a:lnTo>
                  <a:lnTo>
                    <a:pt x="24752" y="523811"/>
                  </a:lnTo>
                  <a:lnTo>
                    <a:pt x="0" y="523811"/>
                  </a:lnTo>
                  <a:lnTo>
                    <a:pt x="0" y="698195"/>
                  </a:lnTo>
                  <a:lnTo>
                    <a:pt x="24117" y="698195"/>
                  </a:lnTo>
                  <a:lnTo>
                    <a:pt x="24117" y="719455"/>
                  </a:lnTo>
                  <a:lnTo>
                    <a:pt x="85001" y="719455"/>
                  </a:lnTo>
                  <a:lnTo>
                    <a:pt x="85001" y="698195"/>
                  </a:lnTo>
                  <a:lnTo>
                    <a:pt x="112890" y="698195"/>
                  </a:lnTo>
                  <a:lnTo>
                    <a:pt x="112890" y="658812"/>
                  </a:lnTo>
                  <a:lnTo>
                    <a:pt x="169316" y="658812"/>
                  </a:lnTo>
                  <a:lnTo>
                    <a:pt x="169316" y="619950"/>
                  </a:lnTo>
                  <a:close/>
                </a:path>
                <a:path w="931544" h="719455">
                  <a:moveTo>
                    <a:pt x="172694" y="309956"/>
                  </a:moveTo>
                  <a:lnTo>
                    <a:pt x="116255" y="309956"/>
                  </a:lnTo>
                  <a:lnTo>
                    <a:pt x="116255" y="213804"/>
                  </a:lnTo>
                  <a:lnTo>
                    <a:pt x="89014" y="213804"/>
                  </a:lnTo>
                  <a:lnTo>
                    <a:pt x="89014" y="192430"/>
                  </a:lnTo>
                  <a:lnTo>
                    <a:pt x="28130" y="192430"/>
                  </a:lnTo>
                  <a:lnTo>
                    <a:pt x="28130" y="213804"/>
                  </a:lnTo>
                  <a:lnTo>
                    <a:pt x="3365" y="213804"/>
                  </a:lnTo>
                  <a:lnTo>
                    <a:pt x="3365" y="388175"/>
                  </a:lnTo>
                  <a:lnTo>
                    <a:pt x="27482" y="388175"/>
                  </a:lnTo>
                  <a:lnTo>
                    <a:pt x="27482" y="409448"/>
                  </a:lnTo>
                  <a:lnTo>
                    <a:pt x="88366" y="409448"/>
                  </a:lnTo>
                  <a:lnTo>
                    <a:pt x="88366" y="388175"/>
                  </a:lnTo>
                  <a:lnTo>
                    <a:pt x="116255" y="388175"/>
                  </a:lnTo>
                  <a:lnTo>
                    <a:pt x="116255" y="348818"/>
                  </a:lnTo>
                  <a:lnTo>
                    <a:pt x="172694" y="348818"/>
                  </a:lnTo>
                  <a:lnTo>
                    <a:pt x="172694" y="309956"/>
                  </a:lnTo>
                  <a:close/>
                </a:path>
                <a:path w="931544" h="719455">
                  <a:moveTo>
                    <a:pt x="931392" y="16052"/>
                  </a:moveTo>
                  <a:lnTo>
                    <a:pt x="872705" y="16052"/>
                  </a:lnTo>
                  <a:lnTo>
                    <a:pt x="872705" y="0"/>
                  </a:lnTo>
                  <a:lnTo>
                    <a:pt x="725957" y="0"/>
                  </a:lnTo>
                  <a:lnTo>
                    <a:pt x="725957" y="38912"/>
                  </a:lnTo>
                  <a:lnTo>
                    <a:pt x="667258" y="38912"/>
                  </a:lnTo>
                  <a:lnTo>
                    <a:pt x="667258" y="62661"/>
                  </a:lnTo>
                  <a:lnTo>
                    <a:pt x="725957" y="62661"/>
                  </a:lnTo>
                  <a:lnTo>
                    <a:pt x="725957" y="97574"/>
                  </a:lnTo>
                  <a:lnTo>
                    <a:pt x="872705" y="97574"/>
                  </a:lnTo>
                  <a:lnTo>
                    <a:pt x="872705" y="86423"/>
                  </a:lnTo>
                  <a:lnTo>
                    <a:pt x="931392" y="86423"/>
                  </a:lnTo>
                  <a:lnTo>
                    <a:pt x="931392" y="62661"/>
                  </a:lnTo>
                  <a:lnTo>
                    <a:pt x="872705" y="62661"/>
                  </a:lnTo>
                  <a:lnTo>
                    <a:pt x="872705" y="39801"/>
                  </a:lnTo>
                  <a:lnTo>
                    <a:pt x="931392" y="39801"/>
                  </a:lnTo>
                  <a:lnTo>
                    <a:pt x="931392" y="16052"/>
                  </a:lnTo>
                  <a:close/>
                </a:path>
              </a:pathLst>
            </a:custGeom>
            <a:solidFill>
              <a:srgbClr val="A7A8A7"/>
            </a:solidFill>
          </p:spPr>
          <p:txBody>
            <a:bodyPr wrap="square" lIns="0" tIns="0" rIns="0" bIns="0" rtlCol="0"/>
            <a:lstStyle/>
            <a:p/>
          </p:txBody>
        </p:sp>
        <p:sp>
          <p:nvSpPr>
            <p:cNvPr id="10" name="object 10" descr=""/>
            <p:cNvSpPr/>
            <p:nvPr/>
          </p:nvSpPr>
          <p:spPr>
            <a:xfrm>
              <a:off x="2078512" y="1540447"/>
              <a:ext cx="1905" cy="144145"/>
            </a:xfrm>
            <a:custGeom>
              <a:avLst/>
              <a:gdLst/>
              <a:ahLst/>
              <a:cxnLst/>
              <a:rect l="l" t="t" r="r" b="b"/>
              <a:pathLst>
                <a:path w="1905" h="144144">
                  <a:moveTo>
                    <a:pt x="1612" y="143852"/>
                  </a:moveTo>
                  <a:lnTo>
                    <a:pt x="0" y="0"/>
                  </a:lnTo>
                </a:path>
              </a:pathLst>
            </a:custGeom>
            <a:ln w="9525">
              <a:solidFill>
                <a:srgbClr val="808080"/>
              </a:solidFill>
            </a:ln>
          </p:spPr>
          <p:txBody>
            <a:bodyPr wrap="square" lIns="0" tIns="0" rIns="0" bIns="0" rtlCol="0"/>
            <a:lstStyle/>
            <a:p/>
          </p:txBody>
        </p:sp>
        <p:sp>
          <p:nvSpPr>
            <p:cNvPr id="11" name="object 11" descr=""/>
            <p:cNvSpPr/>
            <p:nvPr/>
          </p:nvSpPr>
          <p:spPr>
            <a:xfrm>
              <a:off x="2689555" y="1460588"/>
              <a:ext cx="267335" cy="407670"/>
            </a:xfrm>
            <a:custGeom>
              <a:avLst/>
              <a:gdLst/>
              <a:ahLst/>
              <a:cxnLst/>
              <a:rect l="l" t="t" r="r" b="b"/>
              <a:pathLst>
                <a:path w="267335" h="407669">
                  <a:moveTo>
                    <a:pt x="58699" y="38912"/>
                  </a:moveTo>
                  <a:lnTo>
                    <a:pt x="0" y="38912"/>
                  </a:lnTo>
                  <a:lnTo>
                    <a:pt x="0" y="62674"/>
                  </a:lnTo>
                  <a:lnTo>
                    <a:pt x="58699" y="62674"/>
                  </a:lnTo>
                  <a:lnTo>
                    <a:pt x="58699" y="38912"/>
                  </a:lnTo>
                  <a:close/>
                </a:path>
                <a:path w="267335" h="407669">
                  <a:moveTo>
                    <a:pt x="264160" y="16052"/>
                  </a:moveTo>
                  <a:lnTo>
                    <a:pt x="205460" y="16052"/>
                  </a:lnTo>
                  <a:lnTo>
                    <a:pt x="205460" y="0"/>
                  </a:lnTo>
                  <a:lnTo>
                    <a:pt x="58712" y="0"/>
                  </a:lnTo>
                  <a:lnTo>
                    <a:pt x="58712" y="97574"/>
                  </a:lnTo>
                  <a:lnTo>
                    <a:pt x="205460" y="97574"/>
                  </a:lnTo>
                  <a:lnTo>
                    <a:pt x="205460" y="86398"/>
                  </a:lnTo>
                  <a:lnTo>
                    <a:pt x="264160" y="86398"/>
                  </a:lnTo>
                  <a:lnTo>
                    <a:pt x="264160" y="62649"/>
                  </a:lnTo>
                  <a:lnTo>
                    <a:pt x="205460" y="62649"/>
                  </a:lnTo>
                  <a:lnTo>
                    <a:pt x="205460" y="39801"/>
                  </a:lnTo>
                  <a:lnTo>
                    <a:pt x="264160" y="39801"/>
                  </a:lnTo>
                  <a:lnTo>
                    <a:pt x="264160" y="16052"/>
                  </a:lnTo>
                  <a:close/>
                </a:path>
                <a:path w="267335" h="407669">
                  <a:moveTo>
                    <a:pt x="266763" y="326085"/>
                  </a:moveTo>
                  <a:lnTo>
                    <a:pt x="208076" y="326085"/>
                  </a:lnTo>
                  <a:lnTo>
                    <a:pt x="208076" y="310032"/>
                  </a:lnTo>
                  <a:lnTo>
                    <a:pt x="61328" y="310032"/>
                  </a:lnTo>
                  <a:lnTo>
                    <a:pt x="61328" y="348945"/>
                  </a:lnTo>
                  <a:lnTo>
                    <a:pt x="2628" y="348945"/>
                  </a:lnTo>
                  <a:lnTo>
                    <a:pt x="2628" y="372694"/>
                  </a:lnTo>
                  <a:lnTo>
                    <a:pt x="61328" y="372694"/>
                  </a:lnTo>
                  <a:lnTo>
                    <a:pt x="61328" y="407606"/>
                  </a:lnTo>
                  <a:lnTo>
                    <a:pt x="208076" y="407606"/>
                  </a:lnTo>
                  <a:lnTo>
                    <a:pt x="208076" y="396443"/>
                  </a:lnTo>
                  <a:lnTo>
                    <a:pt x="266763" y="396443"/>
                  </a:lnTo>
                  <a:lnTo>
                    <a:pt x="266763" y="372694"/>
                  </a:lnTo>
                  <a:lnTo>
                    <a:pt x="208076" y="372694"/>
                  </a:lnTo>
                  <a:lnTo>
                    <a:pt x="208076" y="349834"/>
                  </a:lnTo>
                  <a:lnTo>
                    <a:pt x="266763" y="349834"/>
                  </a:lnTo>
                  <a:lnTo>
                    <a:pt x="266763" y="326085"/>
                  </a:lnTo>
                  <a:close/>
                </a:path>
              </a:pathLst>
            </a:custGeom>
            <a:solidFill>
              <a:srgbClr val="A7A8A7"/>
            </a:solidFill>
          </p:spPr>
          <p:txBody>
            <a:bodyPr wrap="square" lIns="0" tIns="0" rIns="0" bIns="0" rtlCol="0"/>
            <a:lstStyle/>
            <a:p/>
          </p:txBody>
        </p:sp>
        <p:sp>
          <p:nvSpPr>
            <p:cNvPr id="12" name="object 12" descr=""/>
            <p:cNvSpPr/>
            <p:nvPr/>
          </p:nvSpPr>
          <p:spPr>
            <a:xfrm>
              <a:off x="2194262" y="1821249"/>
              <a:ext cx="498475" cy="635"/>
            </a:xfrm>
            <a:custGeom>
              <a:avLst/>
              <a:gdLst/>
              <a:ahLst/>
              <a:cxnLst/>
              <a:rect l="l" t="t" r="r" b="b"/>
              <a:pathLst>
                <a:path w="498475" h="635">
                  <a:moveTo>
                    <a:pt x="0" y="0"/>
                  </a:moveTo>
                  <a:lnTo>
                    <a:pt x="497916" y="165"/>
                  </a:lnTo>
                </a:path>
              </a:pathLst>
            </a:custGeom>
            <a:ln w="9525">
              <a:solidFill>
                <a:srgbClr val="808080"/>
              </a:solidFill>
            </a:ln>
          </p:spPr>
          <p:txBody>
            <a:bodyPr wrap="square" lIns="0" tIns="0" rIns="0" bIns="0" rtlCol="0"/>
            <a:lstStyle/>
            <a:p/>
          </p:txBody>
        </p:sp>
        <p:sp>
          <p:nvSpPr>
            <p:cNvPr id="13" name="object 13" descr=""/>
            <p:cNvSpPr/>
            <p:nvPr/>
          </p:nvSpPr>
          <p:spPr>
            <a:xfrm>
              <a:off x="2197630" y="1511246"/>
              <a:ext cx="492125" cy="635"/>
            </a:xfrm>
            <a:custGeom>
              <a:avLst/>
              <a:gdLst/>
              <a:ahLst/>
              <a:cxnLst/>
              <a:rect l="l" t="t" r="r" b="b"/>
              <a:pathLst>
                <a:path w="492125" h="634">
                  <a:moveTo>
                    <a:pt x="0" y="0"/>
                  </a:moveTo>
                  <a:lnTo>
                    <a:pt x="491934" y="127"/>
                  </a:lnTo>
                </a:path>
              </a:pathLst>
            </a:custGeom>
            <a:ln w="9525">
              <a:solidFill>
                <a:srgbClr val="808080"/>
              </a:solidFill>
            </a:ln>
          </p:spPr>
          <p:txBody>
            <a:bodyPr wrap="square" lIns="0" tIns="0" rIns="0" bIns="0" rtlCol="0"/>
            <a:lstStyle/>
            <a:p/>
          </p:txBody>
        </p:sp>
        <p:sp>
          <p:nvSpPr>
            <p:cNvPr id="14" name="object 14" descr=""/>
            <p:cNvSpPr/>
            <p:nvPr/>
          </p:nvSpPr>
          <p:spPr>
            <a:xfrm>
              <a:off x="2083490" y="1232654"/>
              <a:ext cx="608965" cy="142240"/>
            </a:xfrm>
            <a:custGeom>
              <a:avLst/>
              <a:gdLst/>
              <a:ahLst/>
              <a:cxnLst/>
              <a:rect l="l" t="t" r="r" b="b"/>
              <a:pathLst>
                <a:path w="608964" h="142240">
                  <a:moveTo>
                    <a:pt x="0" y="141643"/>
                  </a:moveTo>
                  <a:lnTo>
                    <a:pt x="0" y="0"/>
                  </a:lnTo>
                  <a:lnTo>
                    <a:pt x="608685" y="0"/>
                  </a:lnTo>
                </a:path>
              </a:pathLst>
            </a:custGeom>
            <a:ln w="9525">
              <a:solidFill>
                <a:srgbClr val="808080"/>
              </a:solidFill>
            </a:ln>
          </p:spPr>
          <p:txBody>
            <a:bodyPr wrap="square" lIns="0" tIns="0" rIns="0" bIns="0" rtlCol="0"/>
            <a:lstStyle/>
            <a:p/>
          </p:txBody>
        </p:sp>
        <p:sp>
          <p:nvSpPr>
            <p:cNvPr id="15" name="object 15" descr=""/>
            <p:cNvSpPr/>
            <p:nvPr/>
          </p:nvSpPr>
          <p:spPr>
            <a:xfrm>
              <a:off x="2956331" y="1156660"/>
              <a:ext cx="587375" cy="53340"/>
            </a:xfrm>
            <a:custGeom>
              <a:avLst/>
              <a:gdLst/>
              <a:ahLst/>
              <a:cxnLst/>
              <a:rect l="l" t="t" r="r" b="b"/>
              <a:pathLst>
                <a:path w="587375" h="53340">
                  <a:moveTo>
                    <a:pt x="0" y="53124"/>
                  </a:moveTo>
                  <a:lnTo>
                    <a:pt x="114350" y="53124"/>
                  </a:lnTo>
                  <a:lnTo>
                    <a:pt x="114350" y="0"/>
                  </a:lnTo>
                  <a:lnTo>
                    <a:pt x="587159" y="0"/>
                  </a:lnTo>
                </a:path>
              </a:pathLst>
            </a:custGeom>
            <a:ln w="9525">
              <a:solidFill>
                <a:srgbClr val="808080"/>
              </a:solidFill>
            </a:ln>
          </p:spPr>
          <p:txBody>
            <a:bodyPr wrap="square" lIns="0" tIns="0" rIns="0" bIns="0" rtlCol="0"/>
            <a:lstStyle/>
            <a:p/>
          </p:txBody>
        </p:sp>
        <p:sp>
          <p:nvSpPr>
            <p:cNvPr id="16" name="object 16" descr=""/>
            <p:cNvSpPr/>
            <p:nvPr/>
          </p:nvSpPr>
          <p:spPr>
            <a:xfrm>
              <a:off x="2956331" y="1256391"/>
              <a:ext cx="643890" cy="40640"/>
            </a:xfrm>
            <a:custGeom>
              <a:avLst/>
              <a:gdLst/>
              <a:ahLst/>
              <a:cxnLst/>
              <a:rect l="l" t="t" r="r" b="b"/>
              <a:pathLst>
                <a:path w="643889" h="40640">
                  <a:moveTo>
                    <a:pt x="0" y="0"/>
                  </a:moveTo>
                  <a:lnTo>
                    <a:pt x="127850" y="0"/>
                  </a:lnTo>
                  <a:lnTo>
                    <a:pt x="127850" y="40513"/>
                  </a:lnTo>
                  <a:lnTo>
                    <a:pt x="643788" y="40513"/>
                  </a:lnTo>
                </a:path>
              </a:pathLst>
            </a:custGeom>
            <a:ln w="9525">
              <a:solidFill>
                <a:srgbClr val="808080"/>
              </a:solidFill>
            </a:ln>
          </p:spPr>
          <p:txBody>
            <a:bodyPr wrap="square" lIns="0" tIns="0" rIns="0" bIns="0" rtlCol="0"/>
            <a:lstStyle/>
            <a:p/>
          </p:txBody>
        </p:sp>
        <p:sp>
          <p:nvSpPr>
            <p:cNvPr id="17" name="object 17" descr=""/>
            <p:cNvSpPr/>
            <p:nvPr/>
          </p:nvSpPr>
          <p:spPr>
            <a:xfrm>
              <a:off x="2953708" y="1432528"/>
              <a:ext cx="587375" cy="53340"/>
            </a:xfrm>
            <a:custGeom>
              <a:avLst/>
              <a:gdLst/>
              <a:ahLst/>
              <a:cxnLst/>
              <a:rect l="l" t="t" r="r" b="b"/>
              <a:pathLst>
                <a:path w="587375" h="53340">
                  <a:moveTo>
                    <a:pt x="0" y="53124"/>
                  </a:moveTo>
                  <a:lnTo>
                    <a:pt x="114350" y="53124"/>
                  </a:lnTo>
                  <a:lnTo>
                    <a:pt x="114350" y="0"/>
                  </a:lnTo>
                  <a:lnTo>
                    <a:pt x="587159" y="0"/>
                  </a:lnTo>
                </a:path>
              </a:pathLst>
            </a:custGeom>
            <a:ln w="9525">
              <a:solidFill>
                <a:srgbClr val="808080"/>
              </a:solidFill>
            </a:ln>
          </p:spPr>
          <p:txBody>
            <a:bodyPr wrap="square" lIns="0" tIns="0" rIns="0" bIns="0" rtlCol="0"/>
            <a:lstStyle/>
            <a:p/>
          </p:txBody>
        </p:sp>
        <p:sp>
          <p:nvSpPr>
            <p:cNvPr id="18" name="object 18" descr=""/>
            <p:cNvSpPr/>
            <p:nvPr/>
          </p:nvSpPr>
          <p:spPr>
            <a:xfrm>
              <a:off x="2953708" y="1532260"/>
              <a:ext cx="643890" cy="40640"/>
            </a:xfrm>
            <a:custGeom>
              <a:avLst/>
              <a:gdLst/>
              <a:ahLst/>
              <a:cxnLst/>
              <a:rect l="l" t="t" r="r" b="b"/>
              <a:pathLst>
                <a:path w="643889" h="40640">
                  <a:moveTo>
                    <a:pt x="0" y="0"/>
                  </a:moveTo>
                  <a:lnTo>
                    <a:pt x="127850" y="0"/>
                  </a:lnTo>
                  <a:lnTo>
                    <a:pt x="127850" y="40513"/>
                  </a:lnTo>
                  <a:lnTo>
                    <a:pt x="643788" y="40513"/>
                  </a:lnTo>
                </a:path>
              </a:pathLst>
            </a:custGeom>
            <a:ln w="9525">
              <a:solidFill>
                <a:srgbClr val="808080"/>
              </a:solidFill>
            </a:ln>
          </p:spPr>
          <p:txBody>
            <a:bodyPr wrap="square" lIns="0" tIns="0" rIns="0" bIns="0" rtlCol="0"/>
            <a:lstStyle/>
            <a:p/>
          </p:txBody>
        </p:sp>
        <p:sp>
          <p:nvSpPr>
            <p:cNvPr id="19" name="object 19" descr=""/>
            <p:cNvSpPr/>
            <p:nvPr/>
          </p:nvSpPr>
          <p:spPr>
            <a:xfrm>
              <a:off x="2955386" y="1744444"/>
              <a:ext cx="587375" cy="53340"/>
            </a:xfrm>
            <a:custGeom>
              <a:avLst/>
              <a:gdLst/>
              <a:ahLst/>
              <a:cxnLst/>
              <a:rect l="l" t="t" r="r" b="b"/>
              <a:pathLst>
                <a:path w="587375" h="53339">
                  <a:moveTo>
                    <a:pt x="0" y="53124"/>
                  </a:moveTo>
                  <a:lnTo>
                    <a:pt x="114350" y="53124"/>
                  </a:lnTo>
                  <a:lnTo>
                    <a:pt x="114350" y="0"/>
                  </a:lnTo>
                  <a:lnTo>
                    <a:pt x="587159" y="0"/>
                  </a:lnTo>
                </a:path>
              </a:pathLst>
            </a:custGeom>
            <a:ln w="9525">
              <a:solidFill>
                <a:srgbClr val="808080"/>
              </a:solidFill>
            </a:ln>
          </p:spPr>
          <p:txBody>
            <a:bodyPr wrap="square" lIns="0" tIns="0" rIns="0" bIns="0" rtlCol="0"/>
            <a:lstStyle/>
            <a:p/>
          </p:txBody>
        </p:sp>
        <p:sp>
          <p:nvSpPr>
            <p:cNvPr id="20" name="object 20" descr=""/>
            <p:cNvSpPr/>
            <p:nvPr/>
          </p:nvSpPr>
          <p:spPr>
            <a:xfrm>
              <a:off x="2955386" y="1844175"/>
              <a:ext cx="643890" cy="40640"/>
            </a:xfrm>
            <a:custGeom>
              <a:avLst/>
              <a:gdLst/>
              <a:ahLst/>
              <a:cxnLst/>
              <a:rect l="l" t="t" r="r" b="b"/>
              <a:pathLst>
                <a:path w="643889" h="40639">
                  <a:moveTo>
                    <a:pt x="0" y="0"/>
                  </a:moveTo>
                  <a:lnTo>
                    <a:pt x="127850" y="0"/>
                  </a:lnTo>
                  <a:lnTo>
                    <a:pt x="127850" y="40513"/>
                  </a:lnTo>
                  <a:lnTo>
                    <a:pt x="643788" y="40513"/>
                  </a:lnTo>
                </a:path>
              </a:pathLst>
            </a:custGeom>
            <a:ln w="9525">
              <a:solidFill>
                <a:srgbClr val="808080"/>
              </a:solidFill>
            </a:ln>
          </p:spPr>
          <p:txBody>
            <a:bodyPr wrap="square" lIns="0" tIns="0" rIns="0" bIns="0" rtlCol="0"/>
            <a:lstStyle/>
            <a:p/>
          </p:txBody>
        </p:sp>
        <p:sp>
          <p:nvSpPr>
            <p:cNvPr id="21" name="object 21" descr=""/>
            <p:cNvSpPr/>
            <p:nvPr/>
          </p:nvSpPr>
          <p:spPr>
            <a:xfrm>
              <a:off x="2363397" y="2011076"/>
              <a:ext cx="345440" cy="171450"/>
            </a:xfrm>
            <a:custGeom>
              <a:avLst/>
              <a:gdLst/>
              <a:ahLst/>
              <a:cxnLst/>
              <a:rect l="l" t="t" r="r" b="b"/>
              <a:pathLst>
                <a:path w="345439" h="171450">
                  <a:moveTo>
                    <a:pt x="343623" y="170180"/>
                  </a:moveTo>
                  <a:lnTo>
                    <a:pt x="1295" y="170180"/>
                  </a:lnTo>
                  <a:lnTo>
                    <a:pt x="2501" y="171450"/>
                  </a:lnTo>
                  <a:lnTo>
                    <a:pt x="342836" y="171450"/>
                  </a:lnTo>
                  <a:lnTo>
                    <a:pt x="343623" y="170180"/>
                  </a:lnTo>
                  <a:close/>
                </a:path>
                <a:path w="345439" h="171450">
                  <a:moveTo>
                    <a:pt x="345020" y="3810"/>
                  </a:moveTo>
                  <a:lnTo>
                    <a:pt x="0" y="3810"/>
                  </a:lnTo>
                  <a:lnTo>
                    <a:pt x="0" y="170180"/>
                  </a:lnTo>
                  <a:lnTo>
                    <a:pt x="344741" y="170180"/>
                  </a:lnTo>
                  <a:lnTo>
                    <a:pt x="345020" y="168910"/>
                  </a:lnTo>
                  <a:lnTo>
                    <a:pt x="345020" y="158750"/>
                  </a:lnTo>
                  <a:lnTo>
                    <a:pt x="155194" y="158750"/>
                  </a:lnTo>
                  <a:lnTo>
                    <a:pt x="153797" y="157480"/>
                  </a:lnTo>
                  <a:lnTo>
                    <a:pt x="150977" y="157480"/>
                  </a:lnTo>
                  <a:lnTo>
                    <a:pt x="150558" y="156210"/>
                  </a:lnTo>
                  <a:lnTo>
                    <a:pt x="149440" y="156210"/>
                  </a:lnTo>
                  <a:lnTo>
                    <a:pt x="149301" y="154940"/>
                  </a:lnTo>
                  <a:lnTo>
                    <a:pt x="149301" y="153670"/>
                  </a:lnTo>
                  <a:lnTo>
                    <a:pt x="150558" y="153670"/>
                  </a:lnTo>
                  <a:lnTo>
                    <a:pt x="150977" y="152400"/>
                  </a:lnTo>
                  <a:lnTo>
                    <a:pt x="153149" y="152400"/>
                  </a:lnTo>
                  <a:lnTo>
                    <a:pt x="154495" y="151130"/>
                  </a:lnTo>
                  <a:lnTo>
                    <a:pt x="159461" y="151130"/>
                  </a:lnTo>
                  <a:lnTo>
                    <a:pt x="161353" y="149860"/>
                  </a:lnTo>
                  <a:lnTo>
                    <a:pt x="345020" y="149860"/>
                  </a:lnTo>
                  <a:lnTo>
                    <a:pt x="345020" y="135890"/>
                  </a:lnTo>
                  <a:lnTo>
                    <a:pt x="53124" y="135890"/>
                  </a:lnTo>
                  <a:lnTo>
                    <a:pt x="53022" y="133350"/>
                  </a:lnTo>
                  <a:lnTo>
                    <a:pt x="56134" y="133350"/>
                  </a:lnTo>
                  <a:lnTo>
                    <a:pt x="57200" y="132080"/>
                  </a:lnTo>
                  <a:lnTo>
                    <a:pt x="345020" y="132080"/>
                  </a:lnTo>
                  <a:lnTo>
                    <a:pt x="345020" y="129539"/>
                  </a:lnTo>
                  <a:lnTo>
                    <a:pt x="53022" y="129539"/>
                  </a:lnTo>
                  <a:lnTo>
                    <a:pt x="52984" y="128270"/>
                  </a:lnTo>
                  <a:lnTo>
                    <a:pt x="53301" y="128270"/>
                  </a:lnTo>
                  <a:lnTo>
                    <a:pt x="53492" y="127000"/>
                  </a:lnTo>
                  <a:lnTo>
                    <a:pt x="345020" y="127000"/>
                  </a:lnTo>
                  <a:lnTo>
                    <a:pt x="345020" y="104139"/>
                  </a:lnTo>
                  <a:lnTo>
                    <a:pt x="53860" y="104139"/>
                  </a:lnTo>
                  <a:lnTo>
                    <a:pt x="53124" y="102870"/>
                  </a:lnTo>
                  <a:lnTo>
                    <a:pt x="51866" y="102870"/>
                  </a:lnTo>
                  <a:lnTo>
                    <a:pt x="51866" y="90170"/>
                  </a:lnTo>
                  <a:lnTo>
                    <a:pt x="53124" y="90170"/>
                  </a:lnTo>
                  <a:lnTo>
                    <a:pt x="53860" y="88900"/>
                  </a:lnTo>
                  <a:lnTo>
                    <a:pt x="58305" y="88900"/>
                  </a:lnTo>
                  <a:lnTo>
                    <a:pt x="59004" y="87630"/>
                  </a:lnTo>
                  <a:lnTo>
                    <a:pt x="345020" y="87629"/>
                  </a:lnTo>
                  <a:lnTo>
                    <a:pt x="345020" y="81280"/>
                  </a:lnTo>
                  <a:lnTo>
                    <a:pt x="55295" y="81280"/>
                  </a:lnTo>
                  <a:lnTo>
                    <a:pt x="53860" y="80010"/>
                  </a:lnTo>
                  <a:lnTo>
                    <a:pt x="52285" y="80010"/>
                  </a:lnTo>
                  <a:lnTo>
                    <a:pt x="52095" y="78740"/>
                  </a:lnTo>
                  <a:lnTo>
                    <a:pt x="51866" y="78740"/>
                  </a:lnTo>
                  <a:lnTo>
                    <a:pt x="51866" y="67310"/>
                  </a:lnTo>
                  <a:lnTo>
                    <a:pt x="52514" y="67310"/>
                  </a:lnTo>
                  <a:lnTo>
                    <a:pt x="53124" y="66039"/>
                  </a:lnTo>
                  <a:lnTo>
                    <a:pt x="54317" y="66039"/>
                  </a:lnTo>
                  <a:lnTo>
                    <a:pt x="56413" y="64769"/>
                  </a:lnTo>
                  <a:lnTo>
                    <a:pt x="65316" y="64769"/>
                  </a:lnTo>
                  <a:lnTo>
                    <a:pt x="69811" y="63500"/>
                  </a:lnTo>
                  <a:lnTo>
                    <a:pt x="345020" y="63499"/>
                  </a:lnTo>
                  <a:lnTo>
                    <a:pt x="345020" y="58419"/>
                  </a:lnTo>
                  <a:lnTo>
                    <a:pt x="57010" y="58419"/>
                  </a:lnTo>
                  <a:lnTo>
                    <a:pt x="55854" y="57150"/>
                  </a:lnTo>
                  <a:lnTo>
                    <a:pt x="53124" y="57150"/>
                  </a:lnTo>
                  <a:lnTo>
                    <a:pt x="52793" y="55880"/>
                  </a:lnTo>
                  <a:lnTo>
                    <a:pt x="51866" y="55880"/>
                  </a:lnTo>
                  <a:lnTo>
                    <a:pt x="51866" y="44450"/>
                  </a:lnTo>
                  <a:lnTo>
                    <a:pt x="52095" y="43180"/>
                  </a:lnTo>
                  <a:lnTo>
                    <a:pt x="53860" y="43180"/>
                  </a:lnTo>
                  <a:lnTo>
                    <a:pt x="54317" y="41910"/>
                  </a:lnTo>
                  <a:lnTo>
                    <a:pt x="59651" y="41910"/>
                  </a:lnTo>
                  <a:lnTo>
                    <a:pt x="60401" y="40639"/>
                  </a:lnTo>
                  <a:lnTo>
                    <a:pt x="345020" y="40639"/>
                  </a:lnTo>
                  <a:lnTo>
                    <a:pt x="345020" y="34289"/>
                  </a:lnTo>
                  <a:lnTo>
                    <a:pt x="55295" y="34289"/>
                  </a:lnTo>
                  <a:lnTo>
                    <a:pt x="53860" y="33019"/>
                  </a:lnTo>
                  <a:lnTo>
                    <a:pt x="52095" y="33019"/>
                  </a:lnTo>
                  <a:lnTo>
                    <a:pt x="51866" y="31750"/>
                  </a:lnTo>
                  <a:lnTo>
                    <a:pt x="51866" y="20319"/>
                  </a:lnTo>
                  <a:lnTo>
                    <a:pt x="52793" y="20319"/>
                  </a:lnTo>
                  <a:lnTo>
                    <a:pt x="53860" y="19050"/>
                  </a:lnTo>
                  <a:lnTo>
                    <a:pt x="57010" y="19050"/>
                  </a:lnTo>
                  <a:lnTo>
                    <a:pt x="57658" y="17780"/>
                  </a:lnTo>
                  <a:lnTo>
                    <a:pt x="345020" y="17780"/>
                  </a:lnTo>
                  <a:lnTo>
                    <a:pt x="345020" y="3810"/>
                  </a:lnTo>
                  <a:close/>
                </a:path>
                <a:path w="345439" h="171450">
                  <a:moveTo>
                    <a:pt x="345020" y="149860"/>
                  </a:moveTo>
                  <a:lnTo>
                    <a:pt x="183565" y="149860"/>
                  </a:lnTo>
                  <a:lnTo>
                    <a:pt x="185458" y="151130"/>
                  </a:lnTo>
                  <a:lnTo>
                    <a:pt x="190423" y="151130"/>
                  </a:lnTo>
                  <a:lnTo>
                    <a:pt x="191770" y="152400"/>
                  </a:lnTo>
                  <a:lnTo>
                    <a:pt x="193941" y="152400"/>
                  </a:lnTo>
                  <a:lnTo>
                    <a:pt x="195059" y="153670"/>
                  </a:lnTo>
                  <a:lnTo>
                    <a:pt x="195618" y="153670"/>
                  </a:lnTo>
                  <a:lnTo>
                    <a:pt x="195618" y="154940"/>
                  </a:lnTo>
                  <a:lnTo>
                    <a:pt x="195478" y="156210"/>
                  </a:lnTo>
                  <a:lnTo>
                    <a:pt x="195059" y="156210"/>
                  </a:lnTo>
                  <a:lnTo>
                    <a:pt x="193941" y="157480"/>
                  </a:lnTo>
                  <a:lnTo>
                    <a:pt x="191122" y="157480"/>
                  </a:lnTo>
                  <a:lnTo>
                    <a:pt x="188937" y="158750"/>
                  </a:lnTo>
                  <a:lnTo>
                    <a:pt x="345020" y="158750"/>
                  </a:lnTo>
                  <a:lnTo>
                    <a:pt x="345020" y="149860"/>
                  </a:lnTo>
                  <a:close/>
                </a:path>
                <a:path w="345439" h="171450">
                  <a:moveTo>
                    <a:pt x="345020" y="132080"/>
                  </a:moveTo>
                  <a:lnTo>
                    <a:pt x="288226" y="132080"/>
                  </a:lnTo>
                  <a:lnTo>
                    <a:pt x="289255" y="133350"/>
                  </a:lnTo>
                  <a:lnTo>
                    <a:pt x="291795" y="133350"/>
                  </a:lnTo>
                  <a:lnTo>
                    <a:pt x="291896" y="134620"/>
                  </a:lnTo>
                  <a:lnTo>
                    <a:pt x="291617" y="135890"/>
                  </a:lnTo>
                  <a:lnTo>
                    <a:pt x="345020" y="135890"/>
                  </a:lnTo>
                  <a:lnTo>
                    <a:pt x="345020" y="132080"/>
                  </a:lnTo>
                  <a:close/>
                </a:path>
                <a:path w="345439" h="171450">
                  <a:moveTo>
                    <a:pt x="345020" y="127000"/>
                  </a:moveTo>
                  <a:lnTo>
                    <a:pt x="291426" y="127000"/>
                  </a:lnTo>
                  <a:lnTo>
                    <a:pt x="291617" y="128270"/>
                  </a:lnTo>
                  <a:lnTo>
                    <a:pt x="291896" y="128270"/>
                  </a:lnTo>
                  <a:lnTo>
                    <a:pt x="291934" y="129539"/>
                  </a:lnTo>
                  <a:lnTo>
                    <a:pt x="345020" y="129539"/>
                  </a:lnTo>
                  <a:lnTo>
                    <a:pt x="345020" y="127000"/>
                  </a:lnTo>
                  <a:close/>
                </a:path>
                <a:path w="345439" h="171450">
                  <a:moveTo>
                    <a:pt x="345020" y="87629"/>
                  </a:moveTo>
                  <a:lnTo>
                    <a:pt x="285915" y="87630"/>
                  </a:lnTo>
                  <a:lnTo>
                    <a:pt x="286613" y="88900"/>
                  </a:lnTo>
                  <a:lnTo>
                    <a:pt x="290131" y="88900"/>
                  </a:lnTo>
                  <a:lnTo>
                    <a:pt x="291426" y="90170"/>
                  </a:lnTo>
                  <a:lnTo>
                    <a:pt x="292823" y="90170"/>
                  </a:lnTo>
                  <a:lnTo>
                    <a:pt x="293141" y="91440"/>
                  </a:lnTo>
                  <a:lnTo>
                    <a:pt x="293141" y="102870"/>
                  </a:lnTo>
                  <a:lnTo>
                    <a:pt x="292125" y="102870"/>
                  </a:lnTo>
                  <a:lnTo>
                    <a:pt x="291426" y="104139"/>
                  </a:lnTo>
                  <a:lnTo>
                    <a:pt x="345020" y="104139"/>
                  </a:lnTo>
                  <a:lnTo>
                    <a:pt x="345020" y="87629"/>
                  </a:lnTo>
                  <a:close/>
                </a:path>
                <a:path w="345439" h="171450">
                  <a:moveTo>
                    <a:pt x="345020" y="63499"/>
                  </a:moveTo>
                  <a:lnTo>
                    <a:pt x="69811" y="63500"/>
                  </a:lnTo>
                  <a:lnTo>
                    <a:pt x="279603" y="64769"/>
                  </a:lnTo>
                  <a:lnTo>
                    <a:pt x="288505" y="64769"/>
                  </a:lnTo>
                  <a:lnTo>
                    <a:pt x="290131" y="66039"/>
                  </a:lnTo>
                  <a:lnTo>
                    <a:pt x="291795" y="66039"/>
                  </a:lnTo>
                  <a:lnTo>
                    <a:pt x="292404" y="67310"/>
                  </a:lnTo>
                  <a:lnTo>
                    <a:pt x="293141" y="67310"/>
                  </a:lnTo>
                  <a:lnTo>
                    <a:pt x="293141" y="78740"/>
                  </a:lnTo>
                  <a:lnTo>
                    <a:pt x="293001" y="78740"/>
                  </a:lnTo>
                  <a:lnTo>
                    <a:pt x="292633" y="80010"/>
                  </a:lnTo>
                  <a:lnTo>
                    <a:pt x="291007" y="80010"/>
                  </a:lnTo>
                  <a:lnTo>
                    <a:pt x="290131" y="81280"/>
                  </a:lnTo>
                  <a:lnTo>
                    <a:pt x="345020" y="81280"/>
                  </a:lnTo>
                  <a:lnTo>
                    <a:pt x="345020" y="63499"/>
                  </a:lnTo>
                  <a:close/>
                </a:path>
                <a:path w="345439" h="171450">
                  <a:moveTo>
                    <a:pt x="345020" y="40639"/>
                  </a:moveTo>
                  <a:lnTo>
                    <a:pt x="284480" y="40639"/>
                  </a:lnTo>
                  <a:lnTo>
                    <a:pt x="285267" y="41910"/>
                  </a:lnTo>
                  <a:lnTo>
                    <a:pt x="290550" y="41910"/>
                  </a:lnTo>
                  <a:lnTo>
                    <a:pt x="291426" y="43180"/>
                  </a:lnTo>
                  <a:lnTo>
                    <a:pt x="292633" y="43180"/>
                  </a:lnTo>
                  <a:lnTo>
                    <a:pt x="293001" y="44450"/>
                  </a:lnTo>
                  <a:lnTo>
                    <a:pt x="293141" y="44450"/>
                  </a:lnTo>
                  <a:lnTo>
                    <a:pt x="293141" y="55880"/>
                  </a:lnTo>
                  <a:lnTo>
                    <a:pt x="292125" y="55880"/>
                  </a:lnTo>
                  <a:lnTo>
                    <a:pt x="291795" y="57150"/>
                  </a:lnTo>
                  <a:lnTo>
                    <a:pt x="288505" y="57150"/>
                  </a:lnTo>
                  <a:lnTo>
                    <a:pt x="286613" y="58419"/>
                  </a:lnTo>
                  <a:lnTo>
                    <a:pt x="345020" y="58419"/>
                  </a:lnTo>
                  <a:lnTo>
                    <a:pt x="345020" y="40639"/>
                  </a:lnTo>
                  <a:close/>
                </a:path>
                <a:path w="345439" h="171450">
                  <a:moveTo>
                    <a:pt x="345020" y="17780"/>
                  </a:moveTo>
                  <a:lnTo>
                    <a:pt x="287261" y="17780"/>
                  </a:lnTo>
                  <a:lnTo>
                    <a:pt x="289623" y="19050"/>
                  </a:lnTo>
                  <a:lnTo>
                    <a:pt x="291007" y="19050"/>
                  </a:lnTo>
                  <a:lnTo>
                    <a:pt x="292125" y="20319"/>
                  </a:lnTo>
                  <a:lnTo>
                    <a:pt x="293141" y="20319"/>
                  </a:lnTo>
                  <a:lnTo>
                    <a:pt x="293141" y="31750"/>
                  </a:lnTo>
                  <a:lnTo>
                    <a:pt x="293001" y="31750"/>
                  </a:lnTo>
                  <a:lnTo>
                    <a:pt x="292633" y="33019"/>
                  </a:lnTo>
                  <a:lnTo>
                    <a:pt x="291007" y="33019"/>
                  </a:lnTo>
                  <a:lnTo>
                    <a:pt x="290131" y="34289"/>
                  </a:lnTo>
                  <a:lnTo>
                    <a:pt x="345020" y="34289"/>
                  </a:lnTo>
                  <a:lnTo>
                    <a:pt x="345020" y="17780"/>
                  </a:lnTo>
                  <a:close/>
                </a:path>
                <a:path w="345439" h="171450">
                  <a:moveTo>
                    <a:pt x="343204" y="2539"/>
                  </a:moveTo>
                  <a:lnTo>
                    <a:pt x="1663" y="2539"/>
                  </a:lnTo>
                  <a:lnTo>
                    <a:pt x="965" y="3810"/>
                  </a:lnTo>
                  <a:lnTo>
                    <a:pt x="343623" y="3810"/>
                  </a:lnTo>
                  <a:lnTo>
                    <a:pt x="343204" y="2539"/>
                  </a:lnTo>
                  <a:close/>
                </a:path>
                <a:path w="345439" h="171450">
                  <a:moveTo>
                    <a:pt x="338899" y="1269"/>
                  </a:moveTo>
                  <a:lnTo>
                    <a:pt x="5321" y="1269"/>
                  </a:lnTo>
                  <a:lnTo>
                    <a:pt x="3517" y="2539"/>
                  </a:lnTo>
                  <a:lnTo>
                    <a:pt x="340791" y="2539"/>
                  </a:lnTo>
                  <a:lnTo>
                    <a:pt x="338899" y="1269"/>
                  </a:lnTo>
                  <a:close/>
                </a:path>
                <a:path w="345439" h="171450">
                  <a:moveTo>
                    <a:pt x="18630" y="0"/>
                  </a:moveTo>
                  <a:lnTo>
                    <a:pt x="17653" y="1269"/>
                  </a:lnTo>
                  <a:lnTo>
                    <a:pt x="330047" y="1269"/>
                  </a:lnTo>
                  <a:lnTo>
                    <a:pt x="18630" y="0"/>
                  </a:lnTo>
                  <a:close/>
                </a:path>
              </a:pathLst>
            </a:custGeom>
            <a:solidFill>
              <a:srgbClr val="A7A8A7"/>
            </a:solidFill>
          </p:spPr>
          <p:txBody>
            <a:bodyPr wrap="square" lIns="0" tIns="0" rIns="0" bIns="0" rtlCol="0"/>
            <a:lstStyle/>
            <a:p/>
          </p:txBody>
        </p:sp>
        <p:sp>
          <p:nvSpPr>
            <p:cNvPr id="22" name="object 22" descr=""/>
            <p:cNvSpPr/>
            <p:nvPr/>
          </p:nvSpPr>
          <p:spPr>
            <a:xfrm>
              <a:off x="2079486" y="1901316"/>
              <a:ext cx="283845" cy="227965"/>
            </a:xfrm>
            <a:custGeom>
              <a:avLst/>
              <a:gdLst/>
              <a:ahLst/>
              <a:cxnLst/>
              <a:rect l="l" t="t" r="r" b="b"/>
              <a:pathLst>
                <a:path w="283844" h="227964">
                  <a:moveTo>
                    <a:pt x="0" y="0"/>
                  </a:moveTo>
                  <a:lnTo>
                    <a:pt x="0" y="227609"/>
                  </a:lnTo>
                  <a:lnTo>
                    <a:pt x="283730" y="227609"/>
                  </a:lnTo>
                  <a:lnTo>
                    <a:pt x="283730" y="226974"/>
                  </a:lnTo>
                </a:path>
              </a:pathLst>
            </a:custGeom>
            <a:ln w="9524">
              <a:solidFill>
                <a:srgbClr val="808080"/>
              </a:solidFill>
            </a:ln>
          </p:spPr>
          <p:txBody>
            <a:bodyPr wrap="square" lIns="0" tIns="0" rIns="0" bIns="0" rtlCol="0"/>
            <a:lstStyle/>
            <a:p/>
          </p:txBody>
        </p:sp>
        <p:pic>
          <p:nvPicPr>
            <p:cNvPr id="23" name="object 23" descr=""/>
            <p:cNvPicPr/>
            <p:nvPr/>
          </p:nvPicPr>
          <p:blipFill>
            <a:blip r:embed="rId2" cstate="print"/>
            <a:stretch>
              <a:fillRect/>
            </a:stretch>
          </p:blipFill>
          <p:spPr>
            <a:xfrm>
              <a:off x="3498456" y="1114996"/>
              <a:ext cx="149288" cy="76060"/>
            </a:xfrm>
            <a:prstGeom prst="rect">
              <a:avLst/>
            </a:prstGeom>
          </p:spPr>
        </p:pic>
        <p:pic>
          <p:nvPicPr>
            <p:cNvPr id="24" name="object 24" descr=""/>
            <p:cNvPicPr/>
            <p:nvPr/>
          </p:nvPicPr>
          <p:blipFill>
            <a:blip r:embed="rId2" cstate="print"/>
            <a:stretch>
              <a:fillRect/>
            </a:stretch>
          </p:blipFill>
          <p:spPr>
            <a:xfrm>
              <a:off x="3498456" y="1267066"/>
              <a:ext cx="149288" cy="76060"/>
            </a:xfrm>
            <a:prstGeom prst="rect">
              <a:avLst/>
            </a:prstGeom>
          </p:spPr>
        </p:pic>
        <p:pic>
          <p:nvPicPr>
            <p:cNvPr id="25" name="object 25" descr=""/>
            <p:cNvPicPr/>
            <p:nvPr/>
          </p:nvPicPr>
          <p:blipFill>
            <a:blip r:embed="rId3" cstate="print"/>
            <a:stretch>
              <a:fillRect/>
            </a:stretch>
          </p:blipFill>
          <p:spPr>
            <a:xfrm>
              <a:off x="3492906" y="1400822"/>
              <a:ext cx="149288" cy="76060"/>
            </a:xfrm>
            <a:prstGeom prst="rect">
              <a:avLst/>
            </a:prstGeom>
          </p:spPr>
        </p:pic>
        <p:pic>
          <p:nvPicPr>
            <p:cNvPr id="26" name="object 26" descr=""/>
            <p:cNvPicPr/>
            <p:nvPr/>
          </p:nvPicPr>
          <p:blipFill>
            <a:blip r:embed="rId3" cstate="print"/>
            <a:stretch>
              <a:fillRect/>
            </a:stretch>
          </p:blipFill>
          <p:spPr>
            <a:xfrm>
              <a:off x="3492906" y="1523250"/>
              <a:ext cx="149288" cy="76060"/>
            </a:xfrm>
            <a:prstGeom prst="rect">
              <a:avLst/>
            </a:prstGeom>
          </p:spPr>
        </p:pic>
        <p:pic>
          <p:nvPicPr>
            <p:cNvPr id="27" name="object 27" descr=""/>
            <p:cNvPicPr/>
            <p:nvPr/>
          </p:nvPicPr>
          <p:blipFill>
            <a:blip r:embed="rId2" cstate="print"/>
            <a:stretch>
              <a:fillRect/>
            </a:stretch>
          </p:blipFill>
          <p:spPr>
            <a:xfrm>
              <a:off x="3498456" y="1698231"/>
              <a:ext cx="149288" cy="76060"/>
            </a:xfrm>
            <a:prstGeom prst="rect">
              <a:avLst/>
            </a:prstGeom>
          </p:spPr>
        </p:pic>
        <p:pic>
          <p:nvPicPr>
            <p:cNvPr id="28" name="object 28" descr=""/>
            <p:cNvPicPr/>
            <p:nvPr/>
          </p:nvPicPr>
          <p:blipFill>
            <a:blip r:embed="rId2" cstate="print"/>
            <a:stretch>
              <a:fillRect/>
            </a:stretch>
          </p:blipFill>
          <p:spPr>
            <a:xfrm>
              <a:off x="3498456" y="1845932"/>
              <a:ext cx="149288" cy="76060"/>
            </a:xfrm>
            <a:prstGeom prst="rect">
              <a:avLst/>
            </a:prstGeom>
          </p:spPr>
        </p:pic>
      </p:grpSp>
      <p:sp>
        <p:nvSpPr>
          <p:cNvPr id="29" name="object 29" descr=""/>
          <p:cNvSpPr txBox="1"/>
          <p:nvPr/>
        </p:nvSpPr>
        <p:spPr>
          <a:xfrm>
            <a:off x="850493" y="993495"/>
            <a:ext cx="2911475" cy="1264920"/>
          </a:xfrm>
          <a:prstGeom prst="rect">
            <a:avLst/>
          </a:prstGeom>
          <a:ln w="9525">
            <a:solidFill>
              <a:srgbClr val="808080"/>
            </a:solidFill>
          </a:ln>
        </p:spPr>
        <p:txBody>
          <a:bodyPr wrap="square" lIns="0" tIns="0" rIns="0" bIns="0" rtlCol="0" vert="horz">
            <a:spAutoFit/>
          </a:bodyPr>
          <a:lstStyle/>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spcBef>
                <a:spcPts val="180"/>
              </a:spcBef>
            </a:pPr>
            <a:endParaRPr sz="1100">
              <a:latin typeface="Times New Roman"/>
              <a:cs typeface="Times New Roman"/>
            </a:endParaRPr>
          </a:p>
          <a:p>
            <a:pPr marL="257810">
              <a:lnSpc>
                <a:spcPct val="100000"/>
              </a:lnSpc>
              <a:spcBef>
                <a:spcPts val="5"/>
              </a:spcBef>
            </a:pPr>
            <a:r>
              <a:rPr dirty="0" sz="1100" spc="-20">
                <a:latin typeface="Microsoft YaHei"/>
                <a:cs typeface="Microsoft YaHei"/>
              </a:rPr>
              <a:t>原有</a:t>
            </a:r>
            <a:r>
              <a:rPr dirty="0" sz="1100" spc="-25">
                <a:latin typeface="Microsoft YaHei"/>
                <a:cs typeface="Microsoft YaHei"/>
              </a:rPr>
              <a:t>DAS</a:t>
            </a:r>
            <a:endParaRPr sz="1100">
              <a:latin typeface="Microsoft YaHei"/>
              <a:cs typeface="Microsoft YaHei"/>
            </a:endParaRPr>
          </a:p>
          <a:p>
            <a:pPr>
              <a:lnSpc>
                <a:spcPct val="100000"/>
              </a:lnSpc>
              <a:spcBef>
                <a:spcPts val="1275"/>
              </a:spcBef>
            </a:pPr>
            <a:endParaRPr sz="1100">
              <a:latin typeface="Microsoft YaHei"/>
              <a:cs typeface="Microsoft YaHei"/>
            </a:endParaRPr>
          </a:p>
          <a:p>
            <a:pPr algn="r" marR="695325">
              <a:lnSpc>
                <a:spcPct val="100000"/>
              </a:lnSpc>
            </a:pPr>
            <a:r>
              <a:rPr dirty="0" sz="800" spc="-30">
                <a:latin typeface="Microsoft YaHei"/>
                <a:cs typeface="Microsoft YaHei"/>
              </a:rPr>
              <a:t>信源</a:t>
            </a:r>
            <a:endParaRPr sz="800">
              <a:latin typeface="Microsoft YaHei"/>
              <a:cs typeface="Microsoft YaHei"/>
            </a:endParaRPr>
          </a:p>
        </p:txBody>
      </p:sp>
      <p:grpSp>
        <p:nvGrpSpPr>
          <p:cNvPr id="30" name="object 30" descr=""/>
          <p:cNvGrpSpPr/>
          <p:nvPr/>
        </p:nvGrpSpPr>
        <p:grpSpPr>
          <a:xfrm>
            <a:off x="1274317" y="2342273"/>
            <a:ext cx="2422525" cy="1023619"/>
            <a:chOff x="1274317" y="2342273"/>
            <a:chExt cx="2422525" cy="1023619"/>
          </a:xfrm>
        </p:grpSpPr>
        <p:sp>
          <p:nvSpPr>
            <p:cNvPr id="31" name="object 31" descr=""/>
            <p:cNvSpPr/>
            <p:nvPr/>
          </p:nvSpPr>
          <p:spPr>
            <a:xfrm>
              <a:off x="1977821" y="2678861"/>
              <a:ext cx="119380" cy="197485"/>
            </a:xfrm>
            <a:custGeom>
              <a:avLst/>
              <a:gdLst/>
              <a:ahLst/>
              <a:cxnLst/>
              <a:rect l="l" t="t" r="r" b="b"/>
              <a:pathLst>
                <a:path w="119380" h="197485">
                  <a:moveTo>
                    <a:pt x="118871" y="0"/>
                  </a:moveTo>
                  <a:lnTo>
                    <a:pt x="0" y="0"/>
                  </a:lnTo>
                  <a:lnTo>
                    <a:pt x="0" y="197269"/>
                  </a:lnTo>
                  <a:lnTo>
                    <a:pt x="118871" y="197269"/>
                  </a:lnTo>
                  <a:lnTo>
                    <a:pt x="118871" y="0"/>
                  </a:lnTo>
                  <a:close/>
                </a:path>
              </a:pathLst>
            </a:custGeom>
            <a:solidFill>
              <a:srgbClr val="A7A8A7"/>
            </a:solidFill>
          </p:spPr>
          <p:txBody>
            <a:bodyPr wrap="square" lIns="0" tIns="0" rIns="0" bIns="0" rtlCol="0"/>
            <a:lstStyle/>
            <a:p/>
          </p:txBody>
        </p:sp>
        <p:sp>
          <p:nvSpPr>
            <p:cNvPr id="32" name="object 32" descr=""/>
            <p:cNvSpPr/>
            <p:nvPr/>
          </p:nvSpPr>
          <p:spPr>
            <a:xfrm>
              <a:off x="1977821" y="2678861"/>
              <a:ext cx="119380" cy="197485"/>
            </a:xfrm>
            <a:custGeom>
              <a:avLst/>
              <a:gdLst/>
              <a:ahLst/>
              <a:cxnLst/>
              <a:rect l="l" t="t" r="r" b="b"/>
              <a:pathLst>
                <a:path w="119380" h="197485">
                  <a:moveTo>
                    <a:pt x="0" y="0"/>
                  </a:moveTo>
                  <a:lnTo>
                    <a:pt x="118871" y="0"/>
                  </a:lnTo>
                  <a:lnTo>
                    <a:pt x="118871" y="197269"/>
                  </a:lnTo>
                  <a:lnTo>
                    <a:pt x="0" y="197269"/>
                  </a:lnTo>
                  <a:lnTo>
                    <a:pt x="0" y="0"/>
                  </a:lnTo>
                  <a:close/>
                </a:path>
              </a:pathLst>
            </a:custGeom>
            <a:ln w="25400">
              <a:solidFill>
                <a:srgbClr val="C00000"/>
              </a:solidFill>
            </a:ln>
          </p:spPr>
          <p:txBody>
            <a:bodyPr wrap="square" lIns="0" tIns="0" rIns="0" bIns="0" rtlCol="0"/>
            <a:lstStyle/>
            <a:p/>
          </p:txBody>
        </p:sp>
        <p:sp>
          <p:nvSpPr>
            <p:cNvPr id="33" name="object 33" descr=""/>
            <p:cNvSpPr/>
            <p:nvPr/>
          </p:nvSpPr>
          <p:spPr>
            <a:xfrm>
              <a:off x="2096693" y="2787624"/>
              <a:ext cx="59690" cy="44450"/>
            </a:xfrm>
            <a:custGeom>
              <a:avLst/>
              <a:gdLst/>
              <a:ahLst/>
              <a:cxnLst/>
              <a:rect l="l" t="t" r="r" b="b"/>
              <a:pathLst>
                <a:path w="59689" h="44450">
                  <a:moveTo>
                    <a:pt x="59436" y="0"/>
                  </a:moveTo>
                  <a:lnTo>
                    <a:pt x="0" y="0"/>
                  </a:lnTo>
                  <a:lnTo>
                    <a:pt x="0" y="43967"/>
                  </a:lnTo>
                  <a:lnTo>
                    <a:pt x="59436" y="43967"/>
                  </a:lnTo>
                  <a:lnTo>
                    <a:pt x="59436" y="0"/>
                  </a:lnTo>
                  <a:close/>
                </a:path>
              </a:pathLst>
            </a:custGeom>
            <a:solidFill>
              <a:srgbClr val="A7A8A7"/>
            </a:solidFill>
          </p:spPr>
          <p:txBody>
            <a:bodyPr wrap="square" lIns="0" tIns="0" rIns="0" bIns="0" rtlCol="0"/>
            <a:lstStyle/>
            <a:p/>
          </p:txBody>
        </p:sp>
        <p:sp>
          <p:nvSpPr>
            <p:cNvPr id="34" name="object 34" descr=""/>
            <p:cNvSpPr/>
            <p:nvPr/>
          </p:nvSpPr>
          <p:spPr>
            <a:xfrm>
              <a:off x="2096693" y="2787624"/>
              <a:ext cx="59690" cy="44450"/>
            </a:xfrm>
            <a:custGeom>
              <a:avLst/>
              <a:gdLst/>
              <a:ahLst/>
              <a:cxnLst/>
              <a:rect l="l" t="t" r="r" b="b"/>
              <a:pathLst>
                <a:path w="59689" h="44450">
                  <a:moveTo>
                    <a:pt x="0" y="0"/>
                  </a:moveTo>
                  <a:lnTo>
                    <a:pt x="59436" y="0"/>
                  </a:lnTo>
                  <a:lnTo>
                    <a:pt x="59436" y="43967"/>
                  </a:lnTo>
                  <a:lnTo>
                    <a:pt x="0" y="43967"/>
                  </a:lnTo>
                  <a:lnTo>
                    <a:pt x="0" y="0"/>
                  </a:lnTo>
                  <a:close/>
                </a:path>
              </a:pathLst>
            </a:custGeom>
            <a:ln w="25400">
              <a:solidFill>
                <a:srgbClr val="C00000"/>
              </a:solidFill>
            </a:ln>
          </p:spPr>
          <p:txBody>
            <a:bodyPr wrap="square" lIns="0" tIns="0" rIns="0" bIns="0" rtlCol="0"/>
            <a:lstStyle/>
            <a:p/>
          </p:txBody>
        </p:sp>
        <p:sp>
          <p:nvSpPr>
            <p:cNvPr id="35" name="object 35" descr=""/>
            <p:cNvSpPr/>
            <p:nvPr/>
          </p:nvSpPr>
          <p:spPr>
            <a:xfrm>
              <a:off x="2003221" y="2875762"/>
              <a:ext cx="64135" cy="24765"/>
            </a:xfrm>
            <a:custGeom>
              <a:avLst/>
              <a:gdLst/>
              <a:ahLst/>
              <a:cxnLst/>
              <a:rect l="l" t="t" r="r" b="b"/>
              <a:pathLst>
                <a:path w="64135" h="24764">
                  <a:moveTo>
                    <a:pt x="64109" y="0"/>
                  </a:moveTo>
                  <a:lnTo>
                    <a:pt x="0" y="0"/>
                  </a:lnTo>
                  <a:lnTo>
                    <a:pt x="0" y="24447"/>
                  </a:lnTo>
                  <a:lnTo>
                    <a:pt x="64109" y="24447"/>
                  </a:lnTo>
                  <a:lnTo>
                    <a:pt x="64109" y="0"/>
                  </a:lnTo>
                  <a:close/>
                </a:path>
              </a:pathLst>
            </a:custGeom>
            <a:solidFill>
              <a:srgbClr val="A7A8A7"/>
            </a:solidFill>
          </p:spPr>
          <p:txBody>
            <a:bodyPr wrap="square" lIns="0" tIns="0" rIns="0" bIns="0" rtlCol="0"/>
            <a:lstStyle/>
            <a:p/>
          </p:txBody>
        </p:sp>
        <p:sp>
          <p:nvSpPr>
            <p:cNvPr id="36" name="object 36" descr=""/>
            <p:cNvSpPr/>
            <p:nvPr/>
          </p:nvSpPr>
          <p:spPr>
            <a:xfrm>
              <a:off x="2003221" y="2875762"/>
              <a:ext cx="64135" cy="24765"/>
            </a:xfrm>
            <a:custGeom>
              <a:avLst/>
              <a:gdLst/>
              <a:ahLst/>
              <a:cxnLst/>
              <a:rect l="l" t="t" r="r" b="b"/>
              <a:pathLst>
                <a:path w="64135" h="24764">
                  <a:moveTo>
                    <a:pt x="0" y="0"/>
                  </a:moveTo>
                  <a:lnTo>
                    <a:pt x="64109" y="0"/>
                  </a:lnTo>
                  <a:lnTo>
                    <a:pt x="64109" y="24447"/>
                  </a:lnTo>
                  <a:lnTo>
                    <a:pt x="0" y="24447"/>
                  </a:lnTo>
                  <a:lnTo>
                    <a:pt x="0" y="0"/>
                  </a:lnTo>
                  <a:close/>
                </a:path>
              </a:pathLst>
            </a:custGeom>
            <a:ln w="25400">
              <a:solidFill>
                <a:srgbClr val="C00000"/>
              </a:solidFill>
            </a:ln>
          </p:spPr>
          <p:txBody>
            <a:bodyPr wrap="square" lIns="0" tIns="0" rIns="0" bIns="0" rtlCol="0"/>
            <a:lstStyle/>
            <a:p/>
          </p:txBody>
        </p:sp>
        <p:sp>
          <p:nvSpPr>
            <p:cNvPr id="37" name="object 37" descr=""/>
            <p:cNvSpPr/>
            <p:nvPr/>
          </p:nvSpPr>
          <p:spPr>
            <a:xfrm>
              <a:off x="2003894" y="2654681"/>
              <a:ext cx="64135" cy="24765"/>
            </a:xfrm>
            <a:custGeom>
              <a:avLst/>
              <a:gdLst/>
              <a:ahLst/>
              <a:cxnLst/>
              <a:rect l="l" t="t" r="r" b="b"/>
              <a:pathLst>
                <a:path w="64135" h="24764">
                  <a:moveTo>
                    <a:pt x="64109" y="0"/>
                  </a:moveTo>
                  <a:lnTo>
                    <a:pt x="0" y="0"/>
                  </a:lnTo>
                  <a:lnTo>
                    <a:pt x="0" y="24447"/>
                  </a:lnTo>
                  <a:lnTo>
                    <a:pt x="64109" y="24447"/>
                  </a:lnTo>
                  <a:lnTo>
                    <a:pt x="64109" y="0"/>
                  </a:lnTo>
                  <a:close/>
                </a:path>
              </a:pathLst>
            </a:custGeom>
            <a:solidFill>
              <a:srgbClr val="A7A8A7"/>
            </a:solidFill>
          </p:spPr>
          <p:txBody>
            <a:bodyPr wrap="square" lIns="0" tIns="0" rIns="0" bIns="0" rtlCol="0"/>
            <a:lstStyle/>
            <a:p/>
          </p:txBody>
        </p:sp>
        <p:sp>
          <p:nvSpPr>
            <p:cNvPr id="38" name="object 38" descr=""/>
            <p:cNvSpPr/>
            <p:nvPr/>
          </p:nvSpPr>
          <p:spPr>
            <a:xfrm>
              <a:off x="2003894" y="2654681"/>
              <a:ext cx="64135" cy="24765"/>
            </a:xfrm>
            <a:custGeom>
              <a:avLst/>
              <a:gdLst/>
              <a:ahLst/>
              <a:cxnLst/>
              <a:rect l="l" t="t" r="r" b="b"/>
              <a:pathLst>
                <a:path w="64135" h="24764">
                  <a:moveTo>
                    <a:pt x="0" y="0"/>
                  </a:moveTo>
                  <a:lnTo>
                    <a:pt x="64109" y="0"/>
                  </a:lnTo>
                  <a:lnTo>
                    <a:pt x="64109" y="24447"/>
                  </a:lnTo>
                  <a:lnTo>
                    <a:pt x="0" y="24447"/>
                  </a:lnTo>
                  <a:lnTo>
                    <a:pt x="0" y="0"/>
                  </a:lnTo>
                  <a:close/>
                </a:path>
              </a:pathLst>
            </a:custGeom>
            <a:ln w="25400">
              <a:solidFill>
                <a:srgbClr val="C00000"/>
              </a:solidFill>
            </a:ln>
          </p:spPr>
          <p:txBody>
            <a:bodyPr wrap="square" lIns="0" tIns="0" rIns="0" bIns="0" rtlCol="0"/>
            <a:lstStyle/>
            <a:p/>
          </p:txBody>
        </p:sp>
        <p:sp>
          <p:nvSpPr>
            <p:cNvPr id="39" name="object 39" descr=""/>
            <p:cNvSpPr/>
            <p:nvPr/>
          </p:nvSpPr>
          <p:spPr>
            <a:xfrm>
              <a:off x="2738716" y="2436977"/>
              <a:ext cx="154940" cy="110489"/>
            </a:xfrm>
            <a:custGeom>
              <a:avLst/>
              <a:gdLst/>
              <a:ahLst/>
              <a:cxnLst/>
              <a:rect l="l" t="t" r="r" b="b"/>
              <a:pathLst>
                <a:path w="154939" h="110489">
                  <a:moveTo>
                    <a:pt x="154520" y="0"/>
                  </a:moveTo>
                  <a:lnTo>
                    <a:pt x="0" y="0"/>
                  </a:lnTo>
                  <a:lnTo>
                    <a:pt x="0" y="110388"/>
                  </a:lnTo>
                  <a:lnTo>
                    <a:pt x="154520" y="110388"/>
                  </a:lnTo>
                  <a:lnTo>
                    <a:pt x="154520" y="0"/>
                  </a:lnTo>
                  <a:close/>
                </a:path>
              </a:pathLst>
            </a:custGeom>
            <a:solidFill>
              <a:srgbClr val="A7A8A7"/>
            </a:solidFill>
          </p:spPr>
          <p:txBody>
            <a:bodyPr wrap="square" lIns="0" tIns="0" rIns="0" bIns="0" rtlCol="0"/>
            <a:lstStyle/>
            <a:p/>
          </p:txBody>
        </p:sp>
        <p:sp>
          <p:nvSpPr>
            <p:cNvPr id="40" name="object 40" descr=""/>
            <p:cNvSpPr/>
            <p:nvPr/>
          </p:nvSpPr>
          <p:spPr>
            <a:xfrm>
              <a:off x="2676905" y="2436977"/>
              <a:ext cx="278765" cy="110489"/>
            </a:xfrm>
            <a:custGeom>
              <a:avLst/>
              <a:gdLst/>
              <a:ahLst/>
              <a:cxnLst/>
              <a:rect l="l" t="t" r="r" b="b"/>
              <a:pathLst>
                <a:path w="278764" h="110489">
                  <a:moveTo>
                    <a:pt x="61810" y="0"/>
                  </a:moveTo>
                  <a:lnTo>
                    <a:pt x="216331" y="0"/>
                  </a:lnTo>
                  <a:lnTo>
                    <a:pt x="216331" y="110388"/>
                  </a:lnTo>
                  <a:lnTo>
                    <a:pt x="61810" y="110388"/>
                  </a:lnTo>
                  <a:lnTo>
                    <a:pt x="61810" y="0"/>
                  </a:lnTo>
                  <a:close/>
                </a:path>
                <a:path w="278764" h="110489">
                  <a:moveTo>
                    <a:pt x="216331" y="18148"/>
                  </a:moveTo>
                  <a:lnTo>
                    <a:pt x="278142" y="18148"/>
                  </a:lnTo>
                  <a:lnTo>
                    <a:pt x="278142" y="45008"/>
                  </a:lnTo>
                  <a:lnTo>
                    <a:pt x="216331" y="45008"/>
                  </a:lnTo>
                  <a:lnTo>
                    <a:pt x="216331" y="18148"/>
                  </a:lnTo>
                  <a:close/>
                </a:path>
                <a:path w="278764" h="110489">
                  <a:moveTo>
                    <a:pt x="216331" y="70878"/>
                  </a:moveTo>
                  <a:lnTo>
                    <a:pt x="278142" y="70878"/>
                  </a:lnTo>
                  <a:lnTo>
                    <a:pt x="278142" y="97739"/>
                  </a:lnTo>
                  <a:lnTo>
                    <a:pt x="216331" y="97739"/>
                  </a:lnTo>
                  <a:lnTo>
                    <a:pt x="216331" y="70878"/>
                  </a:lnTo>
                  <a:close/>
                </a:path>
                <a:path w="278764" h="110489">
                  <a:moveTo>
                    <a:pt x="0" y="44018"/>
                  </a:moveTo>
                  <a:lnTo>
                    <a:pt x="61810" y="44018"/>
                  </a:lnTo>
                  <a:lnTo>
                    <a:pt x="61810" y="70878"/>
                  </a:lnTo>
                  <a:lnTo>
                    <a:pt x="0" y="70878"/>
                  </a:lnTo>
                  <a:lnTo>
                    <a:pt x="0" y="44018"/>
                  </a:lnTo>
                  <a:close/>
                </a:path>
              </a:pathLst>
            </a:custGeom>
            <a:ln w="25400">
              <a:solidFill>
                <a:srgbClr val="C00000"/>
              </a:solidFill>
            </a:ln>
          </p:spPr>
          <p:txBody>
            <a:bodyPr wrap="square" lIns="0" tIns="0" rIns="0" bIns="0" rtlCol="0"/>
            <a:lstStyle/>
            <a:p/>
          </p:txBody>
        </p:sp>
        <p:sp>
          <p:nvSpPr>
            <p:cNvPr id="41" name="object 41" descr=""/>
            <p:cNvSpPr/>
            <p:nvPr/>
          </p:nvSpPr>
          <p:spPr>
            <a:xfrm>
              <a:off x="1974278" y="3029584"/>
              <a:ext cx="119380" cy="197485"/>
            </a:xfrm>
            <a:custGeom>
              <a:avLst/>
              <a:gdLst/>
              <a:ahLst/>
              <a:cxnLst/>
              <a:rect l="l" t="t" r="r" b="b"/>
              <a:pathLst>
                <a:path w="119380" h="197485">
                  <a:moveTo>
                    <a:pt x="118871" y="0"/>
                  </a:moveTo>
                  <a:lnTo>
                    <a:pt x="0" y="0"/>
                  </a:lnTo>
                  <a:lnTo>
                    <a:pt x="0" y="197269"/>
                  </a:lnTo>
                  <a:lnTo>
                    <a:pt x="118871" y="197269"/>
                  </a:lnTo>
                  <a:lnTo>
                    <a:pt x="118871" y="0"/>
                  </a:lnTo>
                  <a:close/>
                </a:path>
              </a:pathLst>
            </a:custGeom>
            <a:solidFill>
              <a:srgbClr val="A7A8A7"/>
            </a:solidFill>
          </p:spPr>
          <p:txBody>
            <a:bodyPr wrap="square" lIns="0" tIns="0" rIns="0" bIns="0" rtlCol="0"/>
            <a:lstStyle/>
            <a:p/>
          </p:txBody>
        </p:sp>
        <p:sp>
          <p:nvSpPr>
            <p:cNvPr id="42" name="object 42" descr=""/>
            <p:cNvSpPr/>
            <p:nvPr/>
          </p:nvSpPr>
          <p:spPr>
            <a:xfrm>
              <a:off x="1974278" y="3029584"/>
              <a:ext cx="119380" cy="197485"/>
            </a:xfrm>
            <a:custGeom>
              <a:avLst/>
              <a:gdLst/>
              <a:ahLst/>
              <a:cxnLst/>
              <a:rect l="l" t="t" r="r" b="b"/>
              <a:pathLst>
                <a:path w="119380" h="197485">
                  <a:moveTo>
                    <a:pt x="0" y="0"/>
                  </a:moveTo>
                  <a:lnTo>
                    <a:pt x="118871" y="0"/>
                  </a:lnTo>
                  <a:lnTo>
                    <a:pt x="118871" y="197269"/>
                  </a:lnTo>
                  <a:lnTo>
                    <a:pt x="0" y="197269"/>
                  </a:lnTo>
                  <a:lnTo>
                    <a:pt x="0" y="0"/>
                  </a:lnTo>
                  <a:close/>
                </a:path>
              </a:pathLst>
            </a:custGeom>
            <a:ln w="25400">
              <a:solidFill>
                <a:srgbClr val="C00000"/>
              </a:solidFill>
            </a:ln>
          </p:spPr>
          <p:txBody>
            <a:bodyPr wrap="square" lIns="0" tIns="0" rIns="0" bIns="0" rtlCol="0"/>
            <a:lstStyle/>
            <a:p/>
          </p:txBody>
        </p:sp>
        <p:sp>
          <p:nvSpPr>
            <p:cNvPr id="43" name="object 43" descr=""/>
            <p:cNvSpPr/>
            <p:nvPr/>
          </p:nvSpPr>
          <p:spPr>
            <a:xfrm>
              <a:off x="2093150" y="3138347"/>
              <a:ext cx="59690" cy="44450"/>
            </a:xfrm>
            <a:custGeom>
              <a:avLst/>
              <a:gdLst/>
              <a:ahLst/>
              <a:cxnLst/>
              <a:rect l="l" t="t" r="r" b="b"/>
              <a:pathLst>
                <a:path w="59689" h="44450">
                  <a:moveTo>
                    <a:pt x="59436" y="0"/>
                  </a:moveTo>
                  <a:lnTo>
                    <a:pt x="0" y="0"/>
                  </a:lnTo>
                  <a:lnTo>
                    <a:pt x="0" y="43967"/>
                  </a:lnTo>
                  <a:lnTo>
                    <a:pt x="59436" y="43967"/>
                  </a:lnTo>
                  <a:lnTo>
                    <a:pt x="59436" y="0"/>
                  </a:lnTo>
                  <a:close/>
                </a:path>
              </a:pathLst>
            </a:custGeom>
            <a:solidFill>
              <a:srgbClr val="A7A8A7"/>
            </a:solidFill>
          </p:spPr>
          <p:txBody>
            <a:bodyPr wrap="square" lIns="0" tIns="0" rIns="0" bIns="0" rtlCol="0"/>
            <a:lstStyle/>
            <a:p/>
          </p:txBody>
        </p:sp>
        <p:sp>
          <p:nvSpPr>
            <p:cNvPr id="44" name="object 44" descr=""/>
            <p:cNvSpPr/>
            <p:nvPr/>
          </p:nvSpPr>
          <p:spPr>
            <a:xfrm>
              <a:off x="2093150" y="3138347"/>
              <a:ext cx="59690" cy="44450"/>
            </a:xfrm>
            <a:custGeom>
              <a:avLst/>
              <a:gdLst/>
              <a:ahLst/>
              <a:cxnLst/>
              <a:rect l="l" t="t" r="r" b="b"/>
              <a:pathLst>
                <a:path w="59689" h="44450">
                  <a:moveTo>
                    <a:pt x="0" y="0"/>
                  </a:moveTo>
                  <a:lnTo>
                    <a:pt x="59436" y="0"/>
                  </a:lnTo>
                  <a:lnTo>
                    <a:pt x="59436" y="43967"/>
                  </a:lnTo>
                  <a:lnTo>
                    <a:pt x="0" y="43967"/>
                  </a:lnTo>
                  <a:lnTo>
                    <a:pt x="0" y="0"/>
                  </a:lnTo>
                  <a:close/>
                </a:path>
              </a:pathLst>
            </a:custGeom>
            <a:ln w="25400">
              <a:solidFill>
                <a:srgbClr val="C00000"/>
              </a:solidFill>
            </a:ln>
          </p:spPr>
          <p:txBody>
            <a:bodyPr wrap="square" lIns="0" tIns="0" rIns="0" bIns="0" rtlCol="0"/>
            <a:lstStyle/>
            <a:p/>
          </p:txBody>
        </p:sp>
        <p:sp>
          <p:nvSpPr>
            <p:cNvPr id="45" name="object 45" descr=""/>
            <p:cNvSpPr/>
            <p:nvPr/>
          </p:nvSpPr>
          <p:spPr>
            <a:xfrm>
              <a:off x="1999665" y="3226473"/>
              <a:ext cx="64135" cy="24765"/>
            </a:xfrm>
            <a:custGeom>
              <a:avLst/>
              <a:gdLst/>
              <a:ahLst/>
              <a:cxnLst/>
              <a:rect l="l" t="t" r="r" b="b"/>
              <a:pathLst>
                <a:path w="64135" h="24764">
                  <a:moveTo>
                    <a:pt x="64109" y="0"/>
                  </a:moveTo>
                  <a:lnTo>
                    <a:pt x="0" y="0"/>
                  </a:lnTo>
                  <a:lnTo>
                    <a:pt x="0" y="24447"/>
                  </a:lnTo>
                  <a:lnTo>
                    <a:pt x="64109" y="24447"/>
                  </a:lnTo>
                  <a:lnTo>
                    <a:pt x="64109" y="0"/>
                  </a:lnTo>
                  <a:close/>
                </a:path>
              </a:pathLst>
            </a:custGeom>
            <a:solidFill>
              <a:srgbClr val="A7A8A7"/>
            </a:solidFill>
          </p:spPr>
          <p:txBody>
            <a:bodyPr wrap="square" lIns="0" tIns="0" rIns="0" bIns="0" rtlCol="0"/>
            <a:lstStyle/>
            <a:p/>
          </p:txBody>
        </p:sp>
        <p:sp>
          <p:nvSpPr>
            <p:cNvPr id="46" name="object 46" descr=""/>
            <p:cNvSpPr/>
            <p:nvPr/>
          </p:nvSpPr>
          <p:spPr>
            <a:xfrm>
              <a:off x="1999665" y="3226473"/>
              <a:ext cx="64135" cy="24765"/>
            </a:xfrm>
            <a:custGeom>
              <a:avLst/>
              <a:gdLst/>
              <a:ahLst/>
              <a:cxnLst/>
              <a:rect l="l" t="t" r="r" b="b"/>
              <a:pathLst>
                <a:path w="64135" h="24764">
                  <a:moveTo>
                    <a:pt x="0" y="0"/>
                  </a:moveTo>
                  <a:lnTo>
                    <a:pt x="64109" y="0"/>
                  </a:lnTo>
                  <a:lnTo>
                    <a:pt x="64109" y="24447"/>
                  </a:lnTo>
                  <a:lnTo>
                    <a:pt x="0" y="24447"/>
                  </a:lnTo>
                  <a:lnTo>
                    <a:pt x="0" y="0"/>
                  </a:lnTo>
                  <a:close/>
                </a:path>
              </a:pathLst>
            </a:custGeom>
            <a:ln w="25400">
              <a:solidFill>
                <a:srgbClr val="C00000"/>
              </a:solidFill>
            </a:ln>
          </p:spPr>
          <p:txBody>
            <a:bodyPr wrap="square" lIns="0" tIns="0" rIns="0" bIns="0" rtlCol="0"/>
            <a:lstStyle/>
            <a:p/>
          </p:txBody>
        </p:sp>
        <p:sp>
          <p:nvSpPr>
            <p:cNvPr id="47" name="object 47" descr=""/>
            <p:cNvSpPr/>
            <p:nvPr/>
          </p:nvSpPr>
          <p:spPr>
            <a:xfrm>
              <a:off x="2000351" y="3005404"/>
              <a:ext cx="64135" cy="24765"/>
            </a:xfrm>
            <a:custGeom>
              <a:avLst/>
              <a:gdLst/>
              <a:ahLst/>
              <a:cxnLst/>
              <a:rect l="l" t="t" r="r" b="b"/>
              <a:pathLst>
                <a:path w="64135" h="24764">
                  <a:moveTo>
                    <a:pt x="64109" y="0"/>
                  </a:moveTo>
                  <a:lnTo>
                    <a:pt x="0" y="0"/>
                  </a:lnTo>
                  <a:lnTo>
                    <a:pt x="0" y="24447"/>
                  </a:lnTo>
                  <a:lnTo>
                    <a:pt x="64109" y="24447"/>
                  </a:lnTo>
                  <a:lnTo>
                    <a:pt x="64109" y="0"/>
                  </a:lnTo>
                  <a:close/>
                </a:path>
              </a:pathLst>
            </a:custGeom>
            <a:solidFill>
              <a:srgbClr val="A7A8A7"/>
            </a:solidFill>
          </p:spPr>
          <p:txBody>
            <a:bodyPr wrap="square" lIns="0" tIns="0" rIns="0" bIns="0" rtlCol="0"/>
            <a:lstStyle/>
            <a:p/>
          </p:txBody>
        </p:sp>
        <p:sp>
          <p:nvSpPr>
            <p:cNvPr id="48" name="object 48" descr=""/>
            <p:cNvSpPr/>
            <p:nvPr/>
          </p:nvSpPr>
          <p:spPr>
            <a:xfrm>
              <a:off x="2000351" y="3005404"/>
              <a:ext cx="64135" cy="24765"/>
            </a:xfrm>
            <a:custGeom>
              <a:avLst/>
              <a:gdLst/>
              <a:ahLst/>
              <a:cxnLst/>
              <a:rect l="l" t="t" r="r" b="b"/>
              <a:pathLst>
                <a:path w="64135" h="24764">
                  <a:moveTo>
                    <a:pt x="0" y="0"/>
                  </a:moveTo>
                  <a:lnTo>
                    <a:pt x="64109" y="0"/>
                  </a:lnTo>
                  <a:lnTo>
                    <a:pt x="64109" y="24447"/>
                  </a:lnTo>
                  <a:lnTo>
                    <a:pt x="0" y="24447"/>
                  </a:lnTo>
                  <a:lnTo>
                    <a:pt x="0" y="0"/>
                  </a:lnTo>
                  <a:close/>
                </a:path>
              </a:pathLst>
            </a:custGeom>
            <a:ln w="25400">
              <a:solidFill>
                <a:srgbClr val="C00000"/>
              </a:solidFill>
            </a:ln>
          </p:spPr>
          <p:txBody>
            <a:bodyPr wrap="square" lIns="0" tIns="0" rIns="0" bIns="0" rtlCol="0"/>
            <a:lstStyle/>
            <a:p/>
          </p:txBody>
        </p:sp>
        <p:sp>
          <p:nvSpPr>
            <p:cNvPr id="49" name="object 49" descr=""/>
            <p:cNvSpPr/>
            <p:nvPr/>
          </p:nvSpPr>
          <p:spPr>
            <a:xfrm>
              <a:off x="2030700" y="2842648"/>
              <a:ext cx="1905" cy="163195"/>
            </a:xfrm>
            <a:custGeom>
              <a:avLst/>
              <a:gdLst/>
              <a:ahLst/>
              <a:cxnLst/>
              <a:rect l="l" t="t" r="r" b="b"/>
              <a:pathLst>
                <a:path w="1905" h="163194">
                  <a:moveTo>
                    <a:pt x="1701" y="162750"/>
                  </a:moveTo>
                  <a:lnTo>
                    <a:pt x="0" y="0"/>
                  </a:lnTo>
                </a:path>
              </a:pathLst>
            </a:custGeom>
            <a:ln w="9525">
              <a:solidFill>
                <a:srgbClr val="C00000"/>
              </a:solidFill>
            </a:ln>
          </p:spPr>
          <p:txBody>
            <a:bodyPr wrap="square" lIns="0" tIns="0" rIns="0" bIns="0" rtlCol="0"/>
            <a:lstStyle/>
            <a:p/>
          </p:txBody>
        </p:sp>
        <p:sp>
          <p:nvSpPr>
            <p:cNvPr id="50" name="object 50" descr=""/>
            <p:cNvSpPr/>
            <p:nvPr/>
          </p:nvSpPr>
          <p:spPr>
            <a:xfrm>
              <a:off x="2735948" y="2752305"/>
              <a:ext cx="154940" cy="110489"/>
            </a:xfrm>
            <a:custGeom>
              <a:avLst/>
              <a:gdLst/>
              <a:ahLst/>
              <a:cxnLst/>
              <a:rect l="l" t="t" r="r" b="b"/>
              <a:pathLst>
                <a:path w="154939" h="110489">
                  <a:moveTo>
                    <a:pt x="154520" y="0"/>
                  </a:moveTo>
                  <a:lnTo>
                    <a:pt x="0" y="0"/>
                  </a:lnTo>
                  <a:lnTo>
                    <a:pt x="0" y="110388"/>
                  </a:lnTo>
                  <a:lnTo>
                    <a:pt x="154520" y="110388"/>
                  </a:lnTo>
                  <a:lnTo>
                    <a:pt x="154520" y="0"/>
                  </a:lnTo>
                  <a:close/>
                </a:path>
              </a:pathLst>
            </a:custGeom>
            <a:solidFill>
              <a:srgbClr val="A7A8A7"/>
            </a:solidFill>
          </p:spPr>
          <p:txBody>
            <a:bodyPr wrap="square" lIns="0" tIns="0" rIns="0" bIns="0" rtlCol="0"/>
            <a:lstStyle/>
            <a:p/>
          </p:txBody>
        </p:sp>
        <p:sp>
          <p:nvSpPr>
            <p:cNvPr id="51" name="object 51" descr=""/>
            <p:cNvSpPr/>
            <p:nvPr/>
          </p:nvSpPr>
          <p:spPr>
            <a:xfrm>
              <a:off x="2674137" y="2752305"/>
              <a:ext cx="278765" cy="110489"/>
            </a:xfrm>
            <a:custGeom>
              <a:avLst/>
              <a:gdLst/>
              <a:ahLst/>
              <a:cxnLst/>
              <a:rect l="l" t="t" r="r" b="b"/>
              <a:pathLst>
                <a:path w="278764" h="110489">
                  <a:moveTo>
                    <a:pt x="61810" y="0"/>
                  </a:moveTo>
                  <a:lnTo>
                    <a:pt x="216331" y="0"/>
                  </a:lnTo>
                  <a:lnTo>
                    <a:pt x="216331" y="110388"/>
                  </a:lnTo>
                  <a:lnTo>
                    <a:pt x="61810" y="110388"/>
                  </a:lnTo>
                  <a:lnTo>
                    <a:pt x="61810" y="0"/>
                  </a:lnTo>
                  <a:close/>
                </a:path>
                <a:path w="278764" h="110489">
                  <a:moveTo>
                    <a:pt x="216344" y="18148"/>
                  </a:moveTo>
                  <a:lnTo>
                    <a:pt x="278155" y="18148"/>
                  </a:lnTo>
                  <a:lnTo>
                    <a:pt x="278155" y="45008"/>
                  </a:lnTo>
                  <a:lnTo>
                    <a:pt x="216344" y="45008"/>
                  </a:lnTo>
                  <a:lnTo>
                    <a:pt x="216344" y="18148"/>
                  </a:lnTo>
                  <a:close/>
                </a:path>
                <a:path w="278764" h="110489">
                  <a:moveTo>
                    <a:pt x="216344" y="70878"/>
                  </a:moveTo>
                  <a:lnTo>
                    <a:pt x="278155" y="70878"/>
                  </a:lnTo>
                  <a:lnTo>
                    <a:pt x="278155" y="97739"/>
                  </a:lnTo>
                  <a:lnTo>
                    <a:pt x="216344" y="97739"/>
                  </a:lnTo>
                  <a:lnTo>
                    <a:pt x="216344" y="70878"/>
                  </a:lnTo>
                  <a:close/>
                </a:path>
                <a:path w="278764" h="110489">
                  <a:moveTo>
                    <a:pt x="0" y="44018"/>
                  </a:moveTo>
                  <a:lnTo>
                    <a:pt x="61810" y="44018"/>
                  </a:lnTo>
                  <a:lnTo>
                    <a:pt x="61810" y="70878"/>
                  </a:lnTo>
                  <a:lnTo>
                    <a:pt x="0" y="70878"/>
                  </a:lnTo>
                  <a:lnTo>
                    <a:pt x="0" y="44018"/>
                  </a:lnTo>
                  <a:close/>
                </a:path>
              </a:pathLst>
            </a:custGeom>
            <a:ln w="25400">
              <a:solidFill>
                <a:srgbClr val="C00000"/>
              </a:solidFill>
            </a:ln>
          </p:spPr>
          <p:txBody>
            <a:bodyPr wrap="square" lIns="0" tIns="0" rIns="0" bIns="0" rtlCol="0"/>
            <a:lstStyle/>
            <a:p/>
          </p:txBody>
        </p:sp>
        <p:sp>
          <p:nvSpPr>
            <p:cNvPr id="52" name="object 52" descr=""/>
            <p:cNvSpPr/>
            <p:nvPr/>
          </p:nvSpPr>
          <p:spPr>
            <a:xfrm>
              <a:off x="2738716" y="3103067"/>
              <a:ext cx="154940" cy="110489"/>
            </a:xfrm>
            <a:custGeom>
              <a:avLst/>
              <a:gdLst/>
              <a:ahLst/>
              <a:cxnLst/>
              <a:rect l="l" t="t" r="r" b="b"/>
              <a:pathLst>
                <a:path w="154939" h="110489">
                  <a:moveTo>
                    <a:pt x="154520" y="0"/>
                  </a:moveTo>
                  <a:lnTo>
                    <a:pt x="0" y="0"/>
                  </a:lnTo>
                  <a:lnTo>
                    <a:pt x="0" y="110388"/>
                  </a:lnTo>
                  <a:lnTo>
                    <a:pt x="154520" y="110388"/>
                  </a:lnTo>
                  <a:lnTo>
                    <a:pt x="154520" y="0"/>
                  </a:lnTo>
                  <a:close/>
                </a:path>
              </a:pathLst>
            </a:custGeom>
            <a:solidFill>
              <a:srgbClr val="A7A8A7"/>
            </a:solidFill>
          </p:spPr>
          <p:txBody>
            <a:bodyPr wrap="square" lIns="0" tIns="0" rIns="0" bIns="0" rtlCol="0"/>
            <a:lstStyle/>
            <a:p/>
          </p:txBody>
        </p:sp>
        <p:sp>
          <p:nvSpPr>
            <p:cNvPr id="53" name="object 53" descr=""/>
            <p:cNvSpPr/>
            <p:nvPr/>
          </p:nvSpPr>
          <p:spPr>
            <a:xfrm>
              <a:off x="2676905" y="3103067"/>
              <a:ext cx="278765" cy="110489"/>
            </a:xfrm>
            <a:custGeom>
              <a:avLst/>
              <a:gdLst/>
              <a:ahLst/>
              <a:cxnLst/>
              <a:rect l="l" t="t" r="r" b="b"/>
              <a:pathLst>
                <a:path w="278764" h="110489">
                  <a:moveTo>
                    <a:pt x="61810" y="0"/>
                  </a:moveTo>
                  <a:lnTo>
                    <a:pt x="216331" y="0"/>
                  </a:lnTo>
                  <a:lnTo>
                    <a:pt x="216331" y="110388"/>
                  </a:lnTo>
                  <a:lnTo>
                    <a:pt x="61810" y="110388"/>
                  </a:lnTo>
                  <a:lnTo>
                    <a:pt x="61810" y="0"/>
                  </a:lnTo>
                  <a:close/>
                </a:path>
                <a:path w="278764" h="110489">
                  <a:moveTo>
                    <a:pt x="216331" y="18148"/>
                  </a:moveTo>
                  <a:lnTo>
                    <a:pt x="278142" y="18148"/>
                  </a:lnTo>
                  <a:lnTo>
                    <a:pt x="278142" y="45008"/>
                  </a:lnTo>
                  <a:lnTo>
                    <a:pt x="216331" y="45008"/>
                  </a:lnTo>
                  <a:lnTo>
                    <a:pt x="216331" y="18148"/>
                  </a:lnTo>
                  <a:close/>
                </a:path>
                <a:path w="278764" h="110489">
                  <a:moveTo>
                    <a:pt x="216331" y="70878"/>
                  </a:moveTo>
                  <a:lnTo>
                    <a:pt x="278142" y="70878"/>
                  </a:lnTo>
                  <a:lnTo>
                    <a:pt x="278142" y="97739"/>
                  </a:lnTo>
                  <a:lnTo>
                    <a:pt x="216331" y="97739"/>
                  </a:lnTo>
                  <a:lnTo>
                    <a:pt x="216331" y="70878"/>
                  </a:lnTo>
                  <a:close/>
                </a:path>
                <a:path w="278764" h="110489">
                  <a:moveTo>
                    <a:pt x="0" y="44018"/>
                  </a:moveTo>
                  <a:lnTo>
                    <a:pt x="61810" y="44018"/>
                  </a:lnTo>
                  <a:lnTo>
                    <a:pt x="61810" y="70878"/>
                  </a:lnTo>
                  <a:lnTo>
                    <a:pt x="0" y="70878"/>
                  </a:lnTo>
                  <a:lnTo>
                    <a:pt x="0" y="44018"/>
                  </a:lnTo>
                  <a:close/>
                </a:path>
              </a:pathLst>
            </a:custGeom>
            <a:ln w="25400">
              <a:solidFill>
                <a:srgbClr val="C00000"/>
              </a:solidFill>
            </a:ln>
          </p:spPr>
          <p:txBody>
            <a:bodyPr wrap="square" lIns="0" tIns="0" rIns="0" bIns="0" rtlCol="0"/>
            <a:lstStyle/>
            <a:p/>
          </p:txBody>
        </p:sp>
        <p:sp>
          <p:nvSpPr>
            <p:cNvPr id="54" name="object 54" descr=""/>
            <p:cNvSpPr/>
            <p:nvPr/>
          </p:nvSpPr>
          <p:spPr>
            <a:xfrm>
              <a:off x="2152590" y="3160336"/>
              <a:ext cx="524510" cy="635"/>
            </a:xfrm>
            <a:custGeom>
              <a:avLst/>
              <a:gdLst/>
              <a:ahLst/>
              <a:cxnLst/>
              <a:rect l="l" t="t" r="r" b="b"/>
              <a:pathLst>
                <a:path w="524510" h="635">
                  <a:moveTo>
                    <a:pt x="0" y="0"/>
                  </a:moveTo>
                  <a:lnTo>
                    <a:pt x="524306" y="177"/>
                  </a:lnTo>
                </a:path>
              </a:pathLst>
            </a:custGeom>
            <a:ln w="9525">
              <a:solidFill>
                <a:srgbClr val="808080"/>
              </a:solidFill>
            </a:ln>
          </p:spPr>
          <p:txBody>
            <a:bodyPr wrap="square" lIns="0" tIns="0" rIns="0" bIns="0" rtlCol="0"/>
            <a:lstStyle/>
            <a:p/>
          </p:txBody>
        </p:sp>
        <p:sp>
          <p:nvSpPr>
            <p:cNvPr id="55" name="object 55" descr=""/>
            <p:cNvSpPr/>
            <p:nvPr/>
          </p:nvSpPr>
          <p:spPr>
            <a:xfrm>
              <a:off x="2156136" y="2809615"/>
              <a:ext cx="518159" cy="635"/>
            </a:xfrm>
            <a:custGeom>
              <a:avLst/>
              <a:gdLst/>
              <a:ahLst/>
              <a:cxnLst/>
              <a:rect l="l" t="t" r="r" b="b"/>
              <a:pathLst>
                <a:path w="518160" h="635">
                  <a:moveTo>
                    <a:pt x="0" y="0"/>
                  </a:moveTo>
                  <a:lnTo>
                    <a:pt x="518007" y="139"/>
                  </a:lnTo>
                </a:path>
              </a:pathLst>
            </a:custGeom>
            <a:ln w="9525">
              <a:solidFill>
                <a:srgbClr val="808080"/>
              </a:solidFill>
            </a:ln>
          </p:spPr>
          <p:txBody>
            <a:bodyPr wrap="square" lIns="0" tIns="0" rIns="0" bIns="0" rtlCol="0"/>
            <a:lstStyle/>
            <a:p/>
          </p:txBody>
        </p:sp>
        <p:sp>
          <p:nvSpPr>
            <p:cNvPr id="56" name="object 56" descr=""/>
            <p:cNvSpPr/>
            <p:nvPr/>
          </p:nvSpPr>
          <p:spPr>
            <a:xfrm>
              <a:off x="2035945" y="2494431"/>
              <a:ext cx="641350" cy="160655"/>
            </a:xfrm>
            <a:custGeom>
              <a:avLst/>
              <a:gdLst/>
              <a:ahLst/>
              <a:cxnLst/>
              <a:rect l="l" t="t" r="r" b="b"/>
              <a:pathLst>
                <a:path w="641350" h="160655">
                  <a:moveTo>
                    <a:pt x="0" y="160248"/>
                  </a:moveTo>
                  <a:lnTo>
                    <a:pt x="0" y="0"/>
                  </a:lnTo>
                  <a:lnTo>
                    <a:pt x="640956" y="0"/>
                  </a:lnTo>
                </a:path>
              </a:pathLst>
            </a:custGeom>
            <a:ln w="9524">
              <a:solidFill>
                <a:srgbClr val="808080"/>
              </a:solidFill>
            </a:ln>
          </p:spPr>
          <p:txBody>
            <a:bodyPr wrap="square" lIns="0" tIns="0" rIns="0" bIns="0" rtlCol="0"/>
            <a:lstStyle/>
            <a:p/>
          </p:txBody>
        </p:sp>
        <p:sp>
          <p:nvSpPr>
            <p:cNvPr id="57" name="object 57" descr=""/>
            <p:cNvSpPr/>
            <p:nvPr/>
          </p:nvSpPr>
          <p:spPr>
            <a:xfrm>
              <a:off x="2955048" y="2408449"/>
              <a:ext cx="618490" cy="60325"/>
            </a:xfrm>
            <a:custGeom>
              <a:avLst/>
              <a:gdLst/>
              <a:ahLst/>
              <a:cxnLst/>
              <a:rect l="l" t="t" r="r" b="b"/>
              <a:pathLst>
                <a:path w="618489" h="60325">
                  <a:moveTo>
                    <a:pt x="0" y="60109"/>
                  </a:moveTo>
                  <a:lnTo>
                    <a:pt x="120408" y="60109"/>
                  </a:lnTo>
                  <a:lnTo>
                    <a:pt x="120408" y="0"/>
                  </a:lnTo>
                  <a:lnTo>
                    <a:pt x="618274" y="0"/>
                  </a:lnTo>
                </a:path>
              </a:pathLst>
            </a:custGeom>
            <a:ln w="9525">
              <a:solidFill>
                <a:srgbClr val="808080"/>
              </a:solidFill>
            </a:ln>
          </p:spPr>
          <p:txBody>
            <a:bodyPr wrap="square" lIns="0" tIns="0" rIns="0" bIns="0" rtlCol="0"/>
            <a:lstStyle/>
            <a:p/>
          </p:txBody>
        </p:sp>
        <p:sp>
          <p:nvSpPr>
            <p:cNvPr id="58" name="object 58" descr=""/>
            <p:cNvSpPr/>
            <p:nvPr/>
          </p:nvSpPr>
          <p:spPr>
            <a:xfrm>
              <a:off x="2955048" y="2521289"/>
              <a:ext cx="678180" cy="46355"/>
            </a:xfrm>
            <a:custGeom>
              <a:avLst/>
              <a:gdLst/>
              <a:ahLst/>
              <a:cxnLst/>
              <a:rect l="l" t="t" r="r" b="b"/>
              <a:pathLst>
                <a:path w="678179" h="46355">
                  <a:moveTo>
                    <a:pt x="0" y="0"/>
                  </a:moveTo>
                  <a:lnTo>
                    <a:pt x="134632" y="0"/>
                  </a:lnTo>
                  <a:lnTo>
                    <a:pt x="134632" y="45834"/>
                  </a:lnTo>
                  <a:lnTo>
                    <a:pt x="677913" y="45834"/>
                  </a:lnTo>
                </a:path>
              </a:pathLst>
            </a:custGeom>
            <a:ln w="9525">
              <a:solidFill>
                <a:srgbClr val="808080"/>
              </a:solidFill>
            </a:ln>
          </p:spPr>
          <p:txBody>
            <a:bodyPr wrap="square" lIns="0" tIns="0" rIns="0" bIns="0" rtlCol="0"/>
            <a:lstStyle/>
            <a:p/>
          </p:txBody>
        </p:sp>
        <p:sp>
          <p:nvSpPr>
            <p:cNvPr id="59" name="object 59" descr=""/>
            <p:cNvSpPr/>
            <p:nvPr/>
          </p:nvSpPr>
          <p:spPr>
            <a:xfrm>
              <a:off x="2952287" y="2720552"/>
              <a:ext cx="618490" cy="60325"/>
            </a:xfrm>
            <a:custGeom>
              <a:avLst/>
              <a:gdLst/>
              <a:ahLst/>
              <a:cxnLst/>
              <a:rect l="l" t="t" r="r" b="b"/>
              <a:pathLst>
                <a:path w="618489" h="60325">
                  <a:moveTo>
                    <a:pt x="0" y="60109"/>
                  </a:moveTo>
                  <a:lnTo>
                    <a:pt x="120408" y="60109"/>
                  </a:lnTo>
                  <a:lnTo>
                    <a:pt x="120408" y="0"/>
                  </a:lnTo>
                  <a:lnTo>
                    <a:pt x="618274" y="0"/>
                  </a:lnTo>
                </a:path>
              </a:pathLst>
            </a:custGeom>
            <a:ln w="9525">
              <a:solidFill>
                <a:srgbClr val="808080"/>
              </a:solidFill>
            </a:ln>
          </p:spPr>
          <p:txBody>
            <a:bodyPr wrap="square" lIns="0" tIns="0" rIns="0" bIns="0" rtlCol="0"/>
            <a:lstStyle/>
            <a:p/>
          </p:txBody>
        </p:sp>
        <p:sp>
          <p:nvSpPr>
            <p:cNvPr id="60" name="object 60" descr=""/>
            <p:cNvSpPr/>
            <p:nvPr/>
          </p:nvSpPr>
          <p:spPr>
            <a:xfrm>
              <a:off x="2952287" y="2833390"/>
              <a:ext cx="678180" cy="46355"/>
            </a:xfrm>
            <a:custGeom>
              <a:avLst/>
              <a:gdLst/>
              <a:ahLst/>
              <a:cxnLst/>
              <a:rect l="l" t="t" r="r" b="b"/>
              <a:pathLst>
                <a:path w="678179" h="46355">
                  <a:moveTo>
                    <a:pt x="0" y="0"/>
                  </a:moveTo>
                  <a:lnTo>
                    <a:pt x="134632" y="0"/>
                  </a:lnTo>
                  <a:lnTo>
                    <a:pt x="134632" y="45834"/>
                  </a:lnTo>
                  <a:lnTo>
                    <a:pt x="677913" y="45834"/>
                  </a:lnTo>
                </a:path>
              </a:pathLst>
            </a:custGeom>
            <a:ln w="9525">
              <a:solidFill>
                <a:srgbClr val="808080"/>
              </a:solidFill>
            </a:ln>
          </p:spPr>
          <p:txBody>
            <a:bodyPr wrap="square" lIns="0" tIns="0" rIns="0" bIns="0" rtlCol="0"/>
            <a:lstStyle/>
            <a:p/>
          </p:txBody>
        </p:sp>
        <p:sp>
          <p:nvSpPr>
            <p:cNvPr id="61" name="object 61" descr=""/>
            <p:cNvSpPr/>
            <p:nvPr/>
          </p:nvSpPr>
          <p:spPr>
            <a:xfrm>
              <a:off x="2954054" y="3073435"/>
              <a:ext cx="618490" cy="60325"/>
            </a:xfrm>
            <a:custGeom>
              <a:avLst/>
              <a:gdLst/>
              <a:ahLst/>
              <a:cxnLst/>
              <a:rect l="l" t="t" r="r" b="b"/>
              <a:pathLst>
                <a:path w="618489" h="60325">
                  <a:moveTo>
                    <a:pt x="0" y="60109"/>
                  </a:moveTo>
                  <a:lnTo>
                    <a:pt x="120408" y="60109"/>
                  </a:lnTo>
                  <a:lnTo>
                    <a:pt x="120408" y="0"/>
                  </a:lnTo>
                  <a:lnTo>
                    <a:pt x="618274" y="0"/>
                  </a:lnTo>
                </a:path>
              </a:pathLst>
            </a:custGeom>
            <a:ln w="9525">
              <a:solidFill>
                <a:srgbClr val="808080"/>
              </a:solidFill>
            </a:ln>
          </p:spPr>
          <p:txBody>
            <a:bodyPr wrap="square" lIns="0" tIns="0" rIns="0" bIns="0" rtlCol="0"/>
            <a:lstStyle/>
            <a:p/>
          </p:txBody>
        </p:sp>
        <p:sp>
          <p:nvSpPr>
            <p:cNvPr id="62" name="object 62" descr=""/>
            <p:cNvSpPr/>
            <p:nvPr/>
          </p:nvSpPr>
          <p:spPr>
            <a:xfrm>
              <a:off x="2954054" y="3186273"/>
              <a:ext cx="678180" cy="46355"/>
            </a:xfrm>
            <a:custGeom>
              <a:avLst/>
              <a:gdLst/>
              <a:ahLst/>
              <a:cxnLst/>
              <a:rect l="l" t="t" r="r" b="b"/>
              <a:pathLst>
                <a:path w="678179" h="46355">
                  <a:moveTo>
                    <a:pt x="0" y="0"/>
                  </a:moveTo>
                  <a:lnTo>
                    <a:pt x="134632" y="0"/>
                  </a:lnTo>
                  <a:lnTo>
                    <a:pt x="134632" y="45834"/>
                  </a:lnTo>
                  <a:lnTo>
                    <a:pt x="677913" y="45834"/>
                  </a:lnTo>
                </a:path>
              </a:pathLst>
            </a:custGeom>
            <a:ln w="9525">
              <a:solidFill>
                <a:srgbClr val="808080"/>
              </a:solidFill>
            </a:ln>
          </p:spPr>
          <p:txBody>
            <a:bodyPr wrap="square" lIns="0" tIns="0" rIns="0" bIns="0" rtlCol="0"/>
            <a:lstStyle/>
            <a:p/>
          </p:txBody>
        </p:sp>
        <p:sp>
          <p:nvSpPr>
            <p:cNvPr id="63" name="object 63" descr=""/>
            <p:cNvSpPr/>
            <p:nvPr/>
          </p:nvSpPr>
          <p:spPr>
            <a:xfrm>
              <a:off x="1279270" y="3102490"/>
              <a:ext cx="363855" cy="194310"/>
            </a:xfrm>
            <a:custGeom>
              <a:avLst/>
              <a:gdLst/>
              <a:ahLst/>
              <a:cxnLst/>
              <a:rect l="l" t="t" r="r" b="b"/>
              <a:pathLst>
                <a:path w="363855" h="194310">
                  <a:moveTo>
                    <a:pt x="361010" y="193040"/>
                  </a:moveTo>
                  <a:lnTo>
                    <a:pt x="3225" y="193040"/>
                  </a:lnTo>
                  <a:lnTo>
                    <a:pt x="3708" y="194310"/>
                  </a:lnTo>
                  <a:lnTo>
                    <a:pt x="359448" y="194310"/>
                  </a:lnTo>
                  <a:lnTo>
                    <a:pt x="361010" y="193040"/>
                  </a:lnTo>
                  <a:close/>
                </a:path>
                <a:path w="363855" h="194310">
                  <a:moveTo>
                    <a:pt x="363016" y="191770"/>
                  </a:moveTo>
                  <a:lnTo>
                    <a:pt x="190" y="191770"/>
                  </a:lnTo>
                  <a:lnTo>
                    <a:pt x="1028" y="193040"/>
                  </a:lnTo>
                  <a:lnTo>
                    <a:pt x="362178" y="193040"/>
                  </a:lnTo>
                  <a:lnTo>
                    <a:pt x="363016" y="191770"/>
                  </a:lnTo>
                  <a:close/>
                </a:path>
                <a:path w="363855" h="194310">
                  <a:moveTo>
                    <a:pt x="363016" y="3810"/>
                  </a:moveTo>
                  <a:lnTo>
                    <a:pt x="190" y="3810"/>
                  </a:lnTo>
                  <a:lnTo>
                    <a:pt x="0" y="5080"/>
                  </a:lnTo>
                  <a:lnTo>
                    <a:pt x="0" y="191770"/>
                  </a:lnTo>
                  <a:lnTo>
                    <a:pt x="363308" y="191770"/>
                  </a:lnTo>
                  <a:lnTo>
                    <a:pt x="363308" y="180340"/>
                  </a:lnTo>
                  <a:lnTo>
                    <a:pt x="167906" y="180340"/>
                  </a:lnTo>
                  <a:lnTo>
                    <a:pt x="166941" y="179070"/>
                  </a:lnTo>
                  <a:lnTo>
                    <a:pt x="163423" y="179070"/>
                  </a:lnTo>
                  <a:lnTo>
                    <a:pt x="161950" y="177800"/>
                  </a:lnTo>
                  <a:lnTo>
                    <a:pt x="160007" y="177800"/>
                  </a:lnTo>
                  <a:lnTo>
                    <a:pt x="158978" y="176530"/>
                  </a:lnTo>
                  <a:lnTo>
                    <a:pt x="157568" y="176530"/>
                  </a:lnTo>
                  <a:lnTo>
                    <a:pt x="157365" y="175260"/>
                  </a:lnTo>
                  <a:lnTo>
                    <a:pt x="157226" y="175260"/>
                  </a:lnTo>
                  <a:lnTo>
                    <a:pt x="157226" y="173990"/>
                  </a:lnTo>
                  <a:lnTo>
                    <a:pt x="157810" y="173990"/>
                  </a:lnTo>
                  <a:lnTo>
                    <a:pt x="158203" y="172720"/>
                  </a:lnTo>
                  <a:lnTo>
                    <a:pt x="160007" y="172720"/>
                  </a:lnTo>
                  <a:lnTo>
                    <a:pt x="161277" y="171450"/>
                  </a:lnTo>
                  <a:lnTo>
                    <a:pt x="163423" y="171450"/>
                  </a:lnTo>
                  <a:lnTo>
                    <a:pt x="165125" y="170180"/>
                  </a:lnTo>
                  <a:lnTo>
                    <a:pt x="170992" y="170180"/>
                  </a:lnTo>
                  <a:lnTo>
                    <a:pt x="172059" y="168910"/>
                  </a:lnTo>
                  <a:lnTo>
                    <a:pt x="363308" y="168910"/>
                  </a:lnTo>
                  <a:lnTo>
                    <a:pt x="363308" y="153670"/>
                  </a:lnTo>
                  <a:lnTo>
                    <a:pt x="56324" y="153670"/>
                  </a:lnTo>
                  <a:lnTo>
                    <a:pt x="55943" y="152400"/>
                  </a:lnTo>
                  <a:lnTo>
                    <a:pt x="55943" y="151130"/>
                  </a:lnTo>
                  <a:lnTo>
                    <a:pt x="56578" y="151130"/>
                  </a:lnTo>
                  <a:lnTo>
                    <a:pt x="56870" y="149860"/>
                  </a:lnTo>
                  <a:lnTo>
                    <a:pt x="363308" y="149860"/>
                  </a:lnTo>
                  <a:lnTo>
                    <a:pt x="363308" y="147320"/>
                  </a:lnTo>
                  <a:lnTo>
                    <a:pt x="56578" y="147320"/>
                  </a:lnTo>
                  <a:lnTo>
                    <a:pt x="56324" y="146050"/>
                  </a:lnTo>
                  <a:lnTo>
                    <a:pt x="55943" y="146050"/>
                  </a:lnTo>
                  <a:lnTo>
                    <a:pt x="55943" y="144780"/>
                  </a:lnTo>
                  <a:lnTo>
                    <a:pt x="56134" y="144780"/>
                  </a:lnTo>
                  <a:lnTo>
                    <a:pt x="56578" y="143510"/>
                  </a:lnTo>
                  <a:lnTo>
                    <a:pt x="363308" y="143510"/>
                  </a:lnTo>
                  <a:lnTo>
                    <a:pt x="363308" y="118110"/>
                  </a:lnTo>
                  <a:lnTo>
                    <a:pt x="59397" y="118110"/>
                  </a:lnTo>
                  <a:lnTo>
                    <a:pt x="57696" y="116840"/>
                  </a:lnTo>
                  <a:lnTo>
                    <a:pt x="55600" y="116840"/>
                  </a:lnTo>
                  <a:lnTo>
                    <a:pt x="55054" y="115570"/>
                  </a:lnTo>
                  <a:lnTo>
                    <a:pt x="54622" y="115570"/>
                  </a:lnTo>
                  <a:lnTo>
                    <a:pt x="54622" y="102870"/>
                  </a:lnTo>
                  <a:lnTo>
                    <a:pt x="55054" y="101600"/>
                  </a:lnTo>
                  <a:lnTo>
                    <a:pt x="55943" y="101600"/>
                  </a:lnTo>
                  <a:lnTo>
                    <a:pt x="56718" y="100330"/>
                  </a:lnTo>
                  <a:lnTo>
                    <a:pt x="60032" y="100330"/>
                  </a:lnTo>
                  <a:lnTo>
                    <a:pt x="61404" y="99060"/>
                  </a:lnTo>
                  <a:lnTo>
                    <a:pt x="363308" y="99060"/>
                  </a:lnTo>
                  <a:lnTo>
                    <a:pt x="363308" y="91440"/>
                  </a:lnTo>
                  <a:lnTo>
                    <a:pt x="57696" y="91440"/>
                  </a:lnTo>
                  <a:lnTo>
                    <a:pt x="56718" y="90170"/>
                  </a:lnTo>
                  <a:lnTo>
                    <a:pt x="55054" y="90170"/>
                  </a:lnTo>
                  <a:lnTo>
                    <a:pt x="54864" y="88900"/>
                  </a:lnTo>
                  <a:lnTo>
                    <a:pt x="54622" y="88900"/>
                  </a:lnTo>
                  <a:lnTo>
                    <a:pt x="54622" y="76200"/>
                  </a:lnTo>
                  <a:lnTo>
                    <a:pt x="54864" y="76200"/>
                  </a:lnTo>
                  <a:lnTo>
                    <a:pt x="55054" y="74930"/>
                  </a:lnTo>
                  <a:lnTo>
                    <a:pt x="57200" y="74930"/>
                  </a:lnTo>
                  <a:lnTo>
                    <a:pt x="58813" y="73660"/>
                  </a:lnTo>
                  <a:lnTo>
                    <a:pt x="62141" y="73660"/>
                  </a:lnTo>
                  <a:lnTo>
                    <a:pt x="62814" y="72390"/>
                  </a:lnTo>
                  <a:lnTo>
                    <a:pt x="363308" y="72390"/>
                  </a:lnTo>
                  <a:lnTo>
                    <a:pt x="363308" y="66040"/>
                  </a:lnTo>
                  <a:lnTo>
                    <a:pt x="61404" y="66040"/>
                  </a:lnTo>
                  <a:lnTo>
                    <a:pt x="59397" y="64770"/>
                  </a:lnTo>
                  <a:lnTo>
                    <a:pt x="56718" y="64770"/>
                  </a:lnTo>
                  <a:lnTo>
                    <a:pt x="55943" y="63500"/>
                  </a:lnTo>
                  <a:lnTo>
                    <a:pt x="54864" y="63500"/>
                  </a:lnTo>
                  <a:lnTo>
                    <a:pt x="54622" y="62230"/>
                  </a:lnTo>
                  <a:lnTo>
                    <a:pt x="54622" y="49530"/>
                  </a:lnTo>
                  <a:lnTo>
                    <a:pt x="55054" y="49530"/>
                  </a:lnTo>
                  <a:lnTo>
                    <a:pt x="55600" y="48260"/>
                  </a:lnTo>
                  <a:lnTo>
                    <a:pt x="57200" y="48260"/>
                  </a:lnTo>
                  <a:lnTo>
                    <a:pt x="58813" y="46990"/>
                  </a:lnTo>
                  <a:lnTo>
                    <a:pt x="63601" y="46990"/>
                  </a:lnTo>
                  <a:lnTo>
                    <a:pt x="64427" y="45720"/>
                  </a:lnTo>
                  <a:lnTo>
                    <a:pt x="363308" y="45720"/>
                  </a:lnTo>
                  <a:lnTo>
                    <a:pt x="363308" y="39370"/>
                  </a:lnTo>
                  <a:lnTo>
                    <a:pt x="61404" y="39370"/>
                  </a:lnTo>
                  <a:lnTo>
                    <a:pt x="59397" y="38100"/>
                  </a:lnTo>
                  <a:lnTo>
                    <a:pt x="56718" y="38100"/>
                  </a:lnTo>
                  <a:lnTo>
                    <a:pt x="55600" y="36830"/>
                  </a:lnTo>
                  <a:lnTo>
                    <a:pt x="54622" y="36830"/>
                  </a:lnTo>
                  <a:lnTo>
                    <a:pt x="54622" y="22860"/>
                  </a:lnTo>
                  <a:lnTo>
                    <a:pt x="55054" y="22860"/>
                  </a:lnTo>
                  <a:lnTo>
                    <a:pt x="55600" y="21590"/>
                  </a:lnTo>
                  <a:lnTo>
                    <a:pt x="58229" y="21590"/>
                  </a:lnTo>
                  <a:lnTo>
                    <a:pt x="60032" y="20320"/>
                  </a:lnTo>
                  <a:lnTo>
                    <a:pt x="65265" y="20320"/>
                  </a:lnTo>
                  <a:lnTo>
                    <a:pt x="66090" y="19050"/>
                  </a:lnTo>
                  <a:lnTo>
                    <a:pt x="363308" y="19050"/>
                  </a:lnTo>
                  <a:lnTo>
                    <a:pt x="363308" y="5080"/>
                  </a:lnTo>
                  <a:lnTo>
                    <a:pt x="363016" y="3810"/>
                  </a:lnTo>
                  <a:close/>
                </a:path>
                <a:path w="363855" h="194310">
                  <a:moveTo>
                    <a:pt x="363308" y="168910"/>
                  </a:moveTo>
                  <a:lnTo>
                    <a:pt x="191096" y="168910"/>
                  </a:lnTo>
                  <a:lnTo>
                    <a:pt x="192214" y="170180"/>
                  </a:lnTo>
                  <a:lnTo>
                    <a:pt x="198081" y="170180"/>
                  </a:lnTo>
                  <a:lnTo>
                    <a:pt x="199732" y="171450"/>
                  </a:lnTo>
                  <a:lnTo>
                    <a:pt x="202565" y="171450"/>
                  </a:lnTo>
                  <a:lnTo>
                    <a:pt x="204228" y="172720"/>
                  </a:lnTo>
                  <a:lnTo>
                    <a:pt x="205397" y="173990"/>
                  </a:lnTo>
                  <a:lnTo>
                    <a:pt x="205981" y="173990"/>
                  </a:lnTo>
                  <a:lnTo>
                    <a:pt x="205981" y="175260"/>
                  </a:lnTo>
                  <a:lnTo>
                    <a:pt x="205841" y="175260"/>
                  </a:lnTo>
                  <a:lnTo>
                    <a:pt x="205638" y="176530"/>
                  </a:lnTo>
                  <a:lnTo>
                    <a:pt x="204228" y="176530"/>
                  </a:lnTo>
                  <a:lnTo>
                    <a:pt x="202565" y="177800"/>
                  </a:lnTo>
                  <a:lnTo>
                    <a:pt x="201930" y="177800"/>
                  </a:lnTo>
                  <a:lnTo>
                    <a:pt x="200520" y="179070"/>
                  </a:lnTo>
                  <a:lnTo>
                    <a:pt x="196265" y="179070"/>
                  </a:lnTo>
                  <a:lnTo>
                    <a:pt x="194322" y="180340"/>
                  </a:lnTo>
                  <a:lnTo>
                    <a:pt x="363308" y="180340"/>
                  </a:lnTo>
                  <a:lnTo>
                    <a:pt x="363308" y="168910"/>
                  </a:lnTo>
                  <a:close/>
                </a:path>
                <a:path w="363855" h="194310">
                  <a:moveTo>
                    <a:pt x="363308" y="149860"/>
                  </a:moveTo>
                  <a:lnTo>
                    <a:pt x="306298" y="149860"/>
                  </a:lnTo>
                  <a:lnTo>
                    <a:pt x="306628" y="151130"/>
                  </a:lnTo>
                  <a:lnTo>
                    <a:pt x="307263" y="151130"/>
                  </a:lnTo>
                  <a:lnTo>
                    <a:pt x="307263" y="152400"/>
                  </a:lnTo>
                  <a:lnTo>
                    <a:pt x="306882" y="153670"/>
                  </a:lnTo>
                  <a:lnTo>
                    <a:pt x="363308" y="153670"/>
                  </a:lnTo>
                  <a:lnTo>
                    <a:pt x="363308" y="149860"/>
                  </a:lnTo>
                  <a:close/>
                </a:path>
                <a:path w="363855" h="194310">
                  <a:moveTo>
                    <a:pt x="363308" y="143510"/>
                  </a:moveTo>
                  <a:lnTo>
                    <a:pt x="306882" y="143510"/>
                  </a:lnTo>
                  <a:lnTo>
                    <a:pt x="307263" y="144780"/>
                  </a:lnTo>
                  <a:lnTo>
                    <a:pt x="307263" y="146050"/>
                  </a:lnTo>
                  <a:lnTo>
                    <a:pt x="306882" y="146050"/>
                  </a:lnTo>
                  <a:lnTo>
                    <a:pt x="306628" y="147320"/>
                  </a:lnTo>
                  <a:lnTo>
                    <a:pt x="363308" y="147320"/>
                  </a:lnTo>
                  <a:lnTo>
                    <a:pt x="363308" y="143510"/>
                  </a:lnTo>
                  <a:close/>
                </a:path>
                <a:path w="363855" h="194310">
                  <a:moveTo>
                    <a:pt x="363308" y="99060"/>
                  </a:moveTo>
                  <a:lnTo>
                    <a:pt x="300393" y="99060"/>
                  </a:lnTo>
                  <a:lnTo>
                    <a:pt x="303174" y="100330"/>
                  </a:lnTo>
                  <a:lnTo>
                    <a:pt x="305511" y="100330"/>
                  </a:lnTo>
                  <a:lnTo>
                    <a:pt x="306882" y="101600"/>
                  </a:lnTo>
                  <a:lnTo>
                    <a:pt x="308152" y="101600"/>
                  </a:lnTo>
                  <a:lnTo>
                    <a:pt x="308533" y="102870"/>
                  </a:lnTo>
                  <a:lnTo>
                    <a:pt x="308686" y="102870"/>
                  </a:lnTo>
                  <a:lnTo>
                    <a:pt x="308686" y="115570"/>
                  </a:lnTo>
                  <a:lnTo>
                    <a:pt x="308152" y="115570"/>
                  </a:lnTo>
                  <a:lnTo>
                    <a:pt x="307606" y="116840"/>
                  </a:lnTo>
                  <a:lnTo>
                    <a:pt x="305511" y="116840"/>
                  </a:lnTo>
                  <a:lnTo>
                    <a:pt x="304393" y="118110"/>
                  </a:lnTo>
                  <a:lnTo>
                    <a:pt x="363308" y="118110"/>
                  </a:lnTo>
                  <a:lnTo>
                    <a:pt x="363308" y="99060"/>
                  </a:lnTo>
                  <a:close/>
                </a:path>
                <a:path w="363855" h="194310">
                  <a:moveTo>
                    <a:pt x="363308" y="72390"/>
                  </a:moveTo>
                  <a:lnTo>
                    <a:pt x="300393" y="72390"/>
                  </a:lnTo>
                  <a:lnTo>
                    <a:pt x="301802" y="73660"/>
                  </a:lnTo>
                  <a:lnTo>
                    <a:pt x="305511" y="73660"/>
                  </a:lnTo>
                  <a:lnTo>
                    <a:pt x="306882" y="74930"/>
                  </a:lnTo>
                  <a:lnTo>
                    <a:pt x="308152" y="74930"/>
                  </a:lnTo>
                  <a:lnTo>
                    <a:pt x="308686" y="76200"/>
                  </a:lnTo>
                  <a:lnTo>
                    <a:pt x="308686" y="88900"/>
                  </a:lnTo>
                  <a:lnTo>
                    <a:pt x="308533" y="88900"/>
                  </a:lnTo>
                  <a:lnTo>
                    <a:pt x="308152" y="90170"/>
                  </a:lnTo>
                  <a:lnTo>
                    <a:pt x="305955" y="90170"/>
                  </a:lnTo>
                  <a:lnTo>
                    <a:pt x="305511" y="91440"/>
                  </a:lnTo>
                  <a:lnTo>
                    <a:pt x="363308" y="91440"/>
                  </a:lnTo>
                  <a:lnTo>
                    <a:pt x="363308" y="72390"/>
                  </a:lnTo>
                  <a:close/>
                </a:path>
                <a:path w="363855" h="194310">
                  <a:moveTo>
                    <a:pt x="363308" y="45720"/>
                  </a:moveTo>
                  <a:lnTo>
                    <a:pt x="298780" y="45720"/>
                  </a:lnTo>
                  <a:lnTo>
                    <a:pt x="299554" y="46990"/>
                  </a:lnTo>
                  <a:lnTo>
                    <a:pt x="304393" y="46990"/>
                  </a:lnTo>
                  <a:lnTo>
                    <a:pt x="305511" y="48260"/>
                  </a:lnTo>
                  <a:lnTo>
                    <a:pt x="307606" y="48260"/>
                  </a:lnTo>
                  <a:lnTo>
                    <a:pt x="308152" y="49530"/>
                  </a:lnTo>
                  <a:lnTo>
                    <a:pt x="308686" y="49530"/>
                  </a:lnTo>
                  <a:lnTo>
                    <a:pt x="308686" y="62230"/>
                  </a:lnTo>
                  <a:lnTo>
                    <a:pt x="308533" y="62230"/>
                  </a:lnTo>
                  <a:lnTo>
                    <a:pt x="308152" y="63500"/>
                  </a:lnTo>
                  <a:lnTo>
                    <a:pt x="307263" y="63500"/>
                  </a:lnTo>
                  <a:lnTo>
                    <a:pt x="306438" y="64770"/>
                  </a:lnTo>
                  <a:lnTo>
                    <a:pt x="303174" y="64770"/>
                  </a:lnTo>
                  <a:lnTo>
                    <a:pt x="301802" y="66040"/>
                  </a:lnTo>
                  <a:lnTo>
                    <a:pt x="363308" y="66040"/>
                  </a:lnTo>
                  <a:lnTo>
                    <a:pt x="363308" y="45720"/>
                  </a:lnTo>
                  <a:close/>
                </a:path>
                <a:path w="363855" h="194310">
                  <a:moveTo>
                    <a:pt x="363308" y="19050"/>
                  </a:moveTo>
                  <a:lnTo>
                    <a:pt x="297116" y="19050"/>
                  </a:lnTo>
                  <a:lnTo>
                    <a:pt x="297942" y="20320"/>
                  </a:lnTo>
                  <a:lnTo>
                    <a:pt x="303174" y="20320"/>
                  </a:lnTo>
                  <a:lnTo>
                    <a:pt x="304977" y="21590"/>
                  </a:lnTo>
                  <a:lnTo>
                    <a:pt x="307606" y="21590"/>
                  </a:lnTo>
                  <a:lnTo>
                    <a:pt x="308152" y="22860"/>
                  </a:lnTo>
                  <a:lnTo>
                    <a:pt x="308686" y="22860"/>
                  </a:lnTo>
                  <a:lnTo>
                    <a:pt x="308686" y="35560"/>
                  </a:lnTo>
                  <a:lnTo>
                    <a:pt x="308533" y="36830"/>
                  </a:lnTo>
                  <a:lnTo>
                    <a:pt x="307606" y="36830"/>
                  </a:lnTo>
                  <a:lnTo>
                    <a:pt x="306882" y="38100"/>
                  </a:lnTo>
                  <a:lnTo>
                    <a:pt x="303809" y="38100"/>
                  </a:lnTo>
                  <a:lnTo>
                    <a:pt x="301802" y="39370"/>
                  </a:lnTo>
                  <a:lnTo>
                    <a:pt x="363308" y="39370"/>
                  </a:lnTo>
                  <a:lnTo>
                    <a:pt x="363308" y="19050"/>
                  </a:lnTo>
                  <a:close/>
                </a:path>
                <a:path w="363855" h="194310">
                  <a:moveTo>
                    <a:pt x="361403" y="2540"/>
                  </a:moveTo>
                  <a:lnTo>
                    <a:pt x="2628" y="2540"/>
                  </a:lnTo>
                  <a:lnTo>
                    <a:pt x="1371" y="3810"/>
                  </a:lnTo>
                  <a:lnTo>
                    <a:pt x="361835" y="3810"/>
                  </a:lnTo>
                  <a:lnTo>
                    <a:pt x="361403" y="2540"/>
                  </a:lnTo>
                  <a:close/>
                </a:path>
                <a:path w="363855" h="194310">
                  <a:moveTo>
                    <a:pt x="357593" y="1270"/>
                  </a:moveTo>
                  <a:lnTo>
                    <a:pt x="5613" y="1270"/>
                  </a:lnTo>
                  <a:lnTo>
                    <a:pt x="4927" y="2540"/>
                  </a:lnTo>
                  <a:lnTo>
                    <a:pt x="358863" y="2540"/>
                  </a:lnTo>
                  <a:lnTo>
                    <a:pt x="357593" y="1270"/>
                  </a:lnTo>
                  <a:close/>
                </a:path>
                <a:path w="363855" h="194310">
                  <a:moveTo>
                    <a:pt x="348513" y="0"/>
                  </a:moveTo>
                  <a:lnTo>
                    <a:pt x="14693" y="0"/>
                  </a:lnTo>
                  <a:lnTo>
                    <a:pt x="13716" y="1270"/>
                  </a:lnTo>
                  <a:lnTo>
                    <a:pt x="349491" y="1270"/>
                  </a:lnTo>
                  <a:lnTo>
                    <a:pt x="348513" y="0"/>
                  </a:lnTo>
                  <a:close/>
                </a:path>
              </a:pathLst>
            </a:custGeom>
            <a:solidFill>
              <a:srgbClr val="A7A8A7"/>
            </a:solidFill>
          </p:spPr>
          <p:txBody>
            <a:bodyPr wrap="square" lIns="0" tIns="0" rIns="0" bIns="0" rtlCol="0"/>
            <a:lstStyle/>
            <a:p/>
          </p:txBody>
        </p:sp>
        <p:sp>
          <p:nvSpPr>
            <p:cNvPr id="64" name="object 64" descr=""/>
            <p:cNvSpPr/>
            <p:nvPr/>
          </p:nvSpPr>
          <p:spPr>
            <a:xfrm>
              <a:off x="1279080" y="3102287"/>
              <a:ext cx="363855" cy="195580"/>
            </a:xfrm>
            <a:custGeom>
              <a:avLst/>
              <a:gdLst/>
              <a:ahLst/>
              <a:cxnLst/>
              <a:rect l="l" t="t" r="r" b="b"/>
              <a:pathLst>
                <a:path w="363855" h="195579">
                  <a:moveTo>
                    <a:pt x="19812" y="0"/>
                  </a:moveTo>
                  <a:lnTo>
                    <a:pt x="343776" y="0"/>
                  </a:lnTo>
                  <a:lnTo>
                    <a:pt x="344805" y="12"/>
                  </a:lnTo>
                  <a:lnTo>
                    <a:pt x="345821" y="25"/>
                  </a:lnTo>
                  <a:lnTo>
                    <a:pt x="346748" y="63"/>
                  </a:lnTo>
                  <a:lnTo>
                    <a:pt x="347726" y="88"/>
                  </a:lnTo>
                  <a:lnTo>
                    <a:pt x="348703" y="152"/>
                  </a:lnTo>
                  <a:lnTo>
                    <a:pt x="349681" y="215"/>
                  </a:lnTo>
                  <a:lnTo>
                    <a:pt x="350608" y="292"/>
                  </a:lnTo>
                  <a:lnTo>
                    <a:pt x="351485" y="368"/>
                  </a:lnTo>
                  <a:lnTo>
                    <a:pt x="352323" y="482"/>
                  </a:lnTo>
                  <a:lnTo>
                    <a:pt x="353199" y="571"/>
                  </a:lnTo>
                  <a:lnTo>
                    <a:pt x="354025" y="698"/>
                  </a:lnTo>
                  <a:lnTo>
                    <a:pt x="354812" y="812"/>
                  </a:lnTo>
                  <a:lnTo>
                    <a:pt x="355587" y="952"/>
                  </a:lnTo>
                  <a:lnTo>
                    <a:pt x="356374" y="1092"/>
                  </a:lnTo>
                  <a:lnTo>
                    <a:pt x="357047" y="1231"/>
                  </a:lnTo>
                  <a:lnTo>
                    <a:pt x="357784" y="1384"/>
                  </a:lnTo>
                  <a:lnTo>
                    <a:pt x="361594" y="2705"/>
                  </a:lnTo>
                  <a:lnTo>
                    <a:pt x="362026" y="2895"/>
                  </a:lnTo>
                  <a:lnTo>
                    <a:pt x="363347" y="4025"/>
                  </a:lnTo>
                  <a:lnTo>
                    <a:pt x="363499" y="4254"/>
                  </a:lnTo>
                  <a:lnTo>
                    <a:pt x="363550" y="4495"/>
                  </a:lnTo>
                  <a:lnTo>
                    <a:pt x="363588" y="4749"/>
                  </a:lnTo>
                  <a:lnTo>
                    <a:pt x="363588" y="190449"/>
                  </a:lnTo>
                  <a:lnTo>
                    <a:pt x="363550" y="190690"/>
                  </a:lnTo>
                  <a:lnTo>
                    <a:pt x="363499" y="190944"/>
                  </a:lnTo>
                  <a:lnTo>
                    <a:pt x="363347" y="191185"/>
                  </a:lnTo>
                  <a:lnTo>
                    <a:pt x="363207" y="191414"/>
                  </a:lnTo>
                  <a:lnTo>
                    <a:pt x="362953" y="191630"/>
                  </a:lnTo>
                  <a:lnTo>
                    <a:pt x="362661" y="191858"/>
                  </a:lnTo>
                  <a:lnTo>
                    <a:pt x="362369" y="192087"/>
                  </a:lnTo>
                  <a:lnTo>
                    <a:pt x="362026" y="192290"/>
                  </a:lnTo>
                  <a:lnTo>
                    <a:pt x="361594" y="192506"/>
                  </a:lnTo>
                  <a:lnTo>
                    <a:pt x="361200" y="192709"/>
                  </a:lnTo>
                  <a:lnTo>
                    <a:pt x="360667" y="192913"/>
                  </a:lnTo>
                  <a:lnTo>
                    <a:pt x="360172" y="193090"/>
                  </a:lnTo>
                  <a:lnTo>
                    <a:pt x="359638" y="193294"/>
                  </a:lnTo>
                  <a:lnTo>
                    <a:pt x="359054" y="193459"/>
                  </a:lnTo>
                  <a:lnTo>
                    <a:pt x="358470" y="193624"/>
                  </a:lnTo>
                  <a:lnTo>
                    <a:pt x="357784" y="193802"/>
                  </a:lnTo>
                  <a:lnTo>
                    <a:pt x="357047" y="193967"/>
                  </a:lnTo>
                  <a:lnTo>
                    <a:pt x="356374" y="194106"/>
                  </a:lnTo>
                  <a:lnTo>
                    <a:pt x="355587" y="194259"/>
                  </a:lnTo>
                  <a:lnTo>
                    <a:pt x="354812" y="194373"/>
                  </a:lnTo>
                  <a:lnTo>
                    <a:pt x="354025" y="194513"/>
                  </a:lnTo>
                  <a:lnTo>
                    <a:pt x="349681" y="194970"/>
                  </a:lnTo>
                  <a:lnTo>
                    <a:pt x="348703" y="195046"/>
                  </a:lnTo>
                  <a:lnTo>
                    <a:pt x="347726" y="195097"/>
                  </a:lnTo>
                  <a:lnTo>
                    <a:pt x="346748" y="195148"/>
                  </a:lnTo>
                  <a:lnTo>
                    <a:pt x="345821" y="195173"/>
                  </a:lnTo>
                  <a:lnTo>
                    <a:pt x="344805" y="195199"/>
                  </a:lnTo>
                  <a:lnTo>
                    <a:pt x="343776" y="195199"/>
                  </a:lnTo>
                  <a:lnTo>
                    <a:pt x="19812" y="195199"/>
                  </a:lnTo>
                  <a:lnTo>
                    <a:pt x="18783" y="195199"/>
                  </a:lnTo>
                  <a:lnTo>
                    <a:pt x="17767" y="195173"/>
                  </a:lnTo>
                  <a:lnTo>
                    <a:pt x="16840" y="195148"/>
                  </a:lnTo>
                  <a:lnTo>
                    <a:pt x="15811" y="195097"/>
                  </a:lnTo>
                  <a:lnTo>
                    <a:pt x="14884" y="195046"/>
                  </a:lnTo>
                  <a:lnTo>
                    <a:pt x="13906" y="194970"/>
                  </a:lnTo>
                  <a:lnTo>
                    <a:pt x="12979" y="194906"/>
                  </a:lnTo>
                  <a:lnTo>
                    <a:pt x="12103" y="194818"/>
                  </a:lnTo>
                  <a:lnTo>
                    <a:pt x="11226" y="194729"/>
                  </a:lnTo>
                  <a:lnTo>
                    <a:pt x="10388" y="194627"/>
                  </a:lnTo>
                  <a:lnTo>
                    <a:pt x="9512" y="194513"/>
                  </a:lnTo>
                  <a:lnTo>
                    <a:pt x="8775" y="194373"/>
                  </a:lnTo>
                  <a:lnTo>
                    <a:pt x="7950" y="194259"/>
                  </a:lnTo>
                  <a:lnTo>
                    <a:pt x="4533" y="193459"/>
                  </a:lnTo>
                  <a:lnTo>
                    <a:pt x="3898" y="193294"/>
                  </a:lnTo>
                  <a:lnTo>
                    <a:pt x="3416" y="193090"/>
                  </a:lnTo>
                  <a:lnTo>
                    <a:pt x="2819" y="192913"/>
                  </a:lnTo>
                  <a:lnTo>
                    <a:pt x="2387" y="192709"/>
                  </a:lnTo>
                  <a:lnTo>
                    <a:pt x="1943" y="192506"/>
                  </a:lnTo>
                  <a:lnTo>
                    <a:pt x="1562" y="192290"/>
                  </a:lnTo>
                  <a:lnTo>
                    <a:pt x="1219" y="192087"/>
                  </a:lnTo>
                  <a:lnTo>
                    <a:pt x="927" y="191858"/>
                  </a:lnTo>
                  <a:lnTo>
                    <a:pt x="635" y="191630"/>
                  </a:lnTo>
                  <a:lnTo>
                    <a:pt x="381" y="191414"/>
                  </a:lnTo>
                  <a:lnTo>
                    <a:pt x="190" y="191185"/>
                  </a:lnTo>
                  <a:lnTo>
                    <a:pt x="88" y="190944"/>
                  </a:lnTo>
                  <a:lnTo>
                    <a:pt x="0" y="190690"/>
                  </a:lnTo>
                  <a:lnTo>
                    <a:pt x="0" y="190449"/>
                  </a:lnTo>
                  <a:lnTo>
                    <a:pt x="0" y="4749"/>
                  </a:lnTo>
                  <a:lnTo>
                    <a:pt x="0" y="4495"/>
                  </a:lnTo>
                  <a:lnTo>
                    <a:pt x="88" y="4254"/>
                  </a:lnTo>
                  <a:lnTo>
                    <a:pt x="3416" y="2108"/>
                  </a:lnTo>
                  <a:lnTo>
                    <a:pt x="3898" y="1917"/>
                  </a:lnTo>
                  <a:lnTo>
                    <a:pt x="4533" y="1727"/>
                  </a:lnTo>
                  <a:lnTo>
                    <a:pt x="5118" y="1562"/>
                  </a:lnTo>
                  <a:lnTo>
                    <a:pt x="5803" y="1384"/>
                  </a:lnTo>
                  <a:lnTo>
                    <a:pt x="6540" y="1231"/>
                  </a:lnTo>
                  <a:lnTo>
                    <a:pt x="7213" y="1092"/>
                  </a:lnTo>
                  <a:lnTo>
                    <a:pt x="11226" y="482"/>
                  </a:lnTo>
                  <a:lnTo>
                    <a:pt x="12103" y="368"/>
                  </a:lnTo>
                  <a:lnTo>
                    <a:pt x="12979" y="292"/>
                  </a:lnTo>
                  <a:lnTo>
                    <a:pt x="13906" y="215"/>
                  </a:lnTo>
                  <a:lnTo>
                    <a:pt x="14884" y="152"/>
                  </a:lnTo>
                  <a:lnTo>
                    <a:pt x="15811" y="88"/>
                  </a:lnTo>
                  <a:lnTo>
                    <a:pt x="16840" y="63"/>
                  </a:lnTo>
                  <a:lnTo>
                    <a:pt x="17767" y="25"/>
                  </a:lnTo>
                  <a:lnTo>
                    <a:pt x="18783" y="12"/>
                  </a:lnTo>
                  <a:lnTo>
                    <a:pt x="19812" y="0"/>
                  </a:lnTo>
                  <a:close/>
                </a:path>
                <a:path w="363855" h="195579">
                  <a:moveTo>
                    <a:pt x="73698" y="18846"/>
                  </a:moveTo>
                  <a:lnTo>
                    <a:pt x="289890" y="18846"/>
                  </a:lnTo>
                  <a:lnTo>
                    <a:pt x="290868" y="18846"/>
                  </a:lnTo>
                  <a:lnTo>
                    <a:pt x="291846" y="18872"/>
                  </a:lnTo>
                  <a:lnTo>
                    <a:pt x="292811" y="18897"/>
                  </a:lnTo>
                  <a:lnTo>
                    <a:pt x="293738" y="18923"/>
                  </a:lnTo>
                  <a:lnTo>
                    <a:pt x="294627" y="18986"/>
                  </a:lnTo>
                  <a:lnTo>
                    <a:pt x="295554" y="19050"/>
                  </a:lnTo>
                  <a:lnTo>
                    <a:pt x="296430" y="19113"/>
                  </a:lnTo>
                  <a:lnTo>
                    <a:pt x="297307" y="19189"/>
                  </a:lnTo>
                  <a:lnTo>
                    <a:pt x="298132" y="19278"/>
                  </a:lnTo>
                  <a:lnTo>
                    <a:pt x="298970" y="19367"/>
                  </a:lnTo>
                  <a:lnTo>
                    <a:pt x="299745" y="19481"/>
                  </a:lnTo>
                  <a:lnTo>
                    <a:pt x="300583" y="19608"/>
                  </a:lnTo>
                  <a:lnTo>
                    <a:pt x="301256" y="19723"/>
                  </a:lnTo>
                  <a:lnTo>
                    <a:pt x="301993" y="19862"/>
                  </a:lnTo>
                  <a:lnTo>
                    <a:pt x="302679" y="19989"/>
                  </a:lnTo>
                  <a:lnTo>
                    <a:pt x="303364" y="20142"/>
                  </a:lnTo>
                  <a:lnTo>
                    <a:pt x="303999" y="20294"/>
                  </a:lnTo>
                  <a:lnTo>
                    <a:pt x="304584" y="20459"/>
                  </a:lnTo>
                  <a:lnTo>
                    <a:pt x="305168" y="20612"/>
                  </a:lnTo>
                  <a:lnTo>
                    <a:pt x="305701" y="20802"/>
                  </a:lnTo>
                  <a:lnTo>
                    <a:pt x="306146" y="20980"/>
                  </a:lnTo>
                  <a:lnTo>
                    <a:pt x="306628" y="21145"/>
                  </a:lnTo>
                  <a:lnTo>
                    <a:pt x="308533" y="22377"/>
                  </a:lnTo>
                  <a:lnTo>
                    <a:pt x="308724" y="22593"/>
                  </a:lnTo>
                  <a:lnTo>
                    <a:pt x="308876" y="22809"/>
                  </a:lnTo>
                  <a:lnTo>
                    <a:pt x="308927" y="23025"/>
                  </a:lnTo>
                  <a:lnTo>
                    <a:pt x="308978" y="23253"/>
                  </a:lnTo>
                  <a:lnTo>
                    <a:pt x="308978" y="35179"/>
                  </a:lnTo>
                  <a:lnTo>
                    <a:pt x="308927" y="35407"/>
                  </a:lnTo>
                  <a:lnTo>
                    <a:pt x="308876" y="35623"/>
                  </a:lnTo>
                  <a:lnTo>
                    <a:pt x="308724" y="35852"/>
                  </a:lnTo>
                  <a:lnTo>
                    <a:pt x="308533" y="36055"/>
                  </a:lnTo>
                  <a:lnTo>
                    <a:pt x="308343" y="36283"/>
                  </a:lnTo>
                  <a:lnTo>
                    <a:pt x="306146" y="37465"/>
                  </a:lnTo>
                  <a:lnTo>
                    <a:pt x="305701" y="37642"/>
                  </a:lnTo>
                  <a:lnTo>
                    <a:pt x="305168" y="37820"/>
                  </a:lnTo>
                  <a:lnTo>
                    <a:pt x="304584" y="37973"/>
                  </a:lnTo>
                  <a:lnTo>
                    <a:pt x="303999" y="38150"/>
                  </a:lnTo>
                  <a:lnTo>
                    <a:pt x="303364" y="38290"/>
                  </a:lnTo>
                  <a:lnTo>
                    <a:pt x="302679" y="38442"/>
                  </a:lnTo>
                  <a:lnTo>
                    <a:pt x="301993" y="38582"/>
                  </a:lnTo>
                  <a:lnTo>
                    <a:pt x="298132" y="39154"/>
                  </a:lnTo>
                  <a:lnTo>
                    <a:pt x="297307" y="39243"/>
                  </a:lnTo>
                  <a:lnTo>
                    <a:pt x="296430" y="39319"/>
                  </a:lnTo>
                  <a:lnTo>
                    <a:pt x="295554" y="39395"/>
                  </a:lnTo>
                  <a:lnTo>
                    <a:pt x="294627" y="39446"/>
                  </a:lnTo>
                  <a:lnTo>
                    <a:pt x="293738" y="39509"/>
                  </a:lnTo>
                  <a:lnTo>
                    <a:pt x="292811" y="39535"/>
                  </a:lnTo>
                  <a:lnTo>
                    <a:pt x="291846" y="39573"/>
                  </a:lnTo>
                  <a:lnTo>
                    <a:pt x="290868" y="39585"/>
                  </a:lnTo>
                  <a:lnTo>
                    <a:pt x="289890" y="39585"/>
                  </a:lnTo>
                  <a:lnTo>
                    <a:pt x="73698" y="39585"/>
                  </a:lnTo>
                  <a:lnTo>
                    <a:pt x="72720" y="39585"/>
                  </a:lnTo>
                  <a:lnTo>
                    <a:pt x="71742" y="39573"/>
                  </a:lnTo>
                  <a:lnTo>
                    <a:pt x="70777" y="39535"/>
                  </a:lnTo>
                  <a:lnTo>
                    <a:pt x="69850" y="39509"/>
                  </a:lnTo>
                  <a:lnTo>
                    <a:pt x="68961" y="39446"/>
                  </a:lnTo>
                  <a:lnTo>
                    <a:pt x="68033" y="39395"/>
                  </a:lnTo>
                  <a:lnTo>
                    <a:pt x="67157" y="39319"/>
                  </a:lnTo>
                  <a:lnTo>
                    <a:pt x="66281" y="39243"/>
                  </a:lnTo>
                  <a:lnTo>
                    <a:pt x="65455" y="39154"/>
                  </a:lnTo>
                  <a:lnTo>
                    <a:pt x="64617" y="39065"/>
                  </a:lnTo>
                  <a:lnTo>
                    <a:pt x="60223" y="38290"/>
                  </a:lnTo>
                  <a:lnTo>
                    <a:pt x="59588" y="38150"/>
                  </a:lnTo>
                  <a:lnTo>
                    <a:pt x="59004" y="37973"/>
                  </a:lnTo>
                  <a:lnTo>
                    <a:pt x="58420" y="37820"/>
                  </a:lnTo>
                  <a:lnTo>
                    <a:pt x="57886" y="37642"/>
                  </a:lnTo>
                  <a:lnTo>
                    <a:pt x="57391" y="37465"/>
                  </a:lnTo>
                  <a:lnTo>
                    <a:pt x="56908" y="37287"/>
                  </a:lnTo>
                  <a:lnTo>
                    <a:pt x="56515" y="37084"/>
                  </a:lnTo>
                  <a:lnTo>
                    <a:pt x="56134" y="36893"/>
                  </a:lnTo>
                  <a:lnTo>
                    <a:pt x="55791" y="36703"/>
                  </a:lnTo>
                  <a:lnTo>
                    <a:pt x="55499" y="36487"/>
                  </a:lnTo>
                  <a:lnTo>
                    <a:pt x="55245" y="36283"/>
                  </a:lnTo>
                  <a:lnTo>
                    <a:pt x="55054" y="36055"/>
                  </a:lnTo>
                  <a:lnTo>
                    <a:pt x="54813" y="35852"/>
                  </a:lnTo>
                  <a:lnTo>
                    <a:pt x="54711" y="35623"/>
                  </a:lnTo>
                  <a:lnTo>
                    <a:pt x="54660" y="35407"/>
                  </a:lnTo>
                  <a:lnTo>
                    <a:pt x="54610" y="35179"/>
                  </a:lnTo>
                  <a:lnTo>
                    <a:pt x="54610" y="23253"/>
                  </a:lnTo>
                  <a:lnTo>
                    <a:pt x="54660" y="23025"/>
                  </a:lnTo>
                  <a:lnTo>
                    <a:pt x="54711" y="22809"/>
                  </a:lnTo>
                  <a:lnTo>
                    <a:pt x="54813" y="22593"/>
                  </a:lnTo>
                  <a:lnTo>
                    <a:pt x="55054" y="22377"/>
                  </a:lnTo>
                  <a:lnTo>
                    <a:pt x="55245" y="22148"/>
                  </a:lnTo>
                  <a:lnTo>
                    <a:pt x="57391" y="20980"/>
                  </a:lnTo>
                  <a:lnTo>
                    <a:pt x="57886" y="20802"/>
                  </a:lnTo>
                  <a:lnTo>
                    <a:pt x="58420" y="20612"/>
                  </a:lnTo>
                  <a:lnTo>
                    <a:pt x="59004" y="20459"/>
                  </a:lnTo>
                  <a:lnTo>
                    <a:pt x="59588" y="20294"/>
                  </a:lnTo>
                  <a:lnTo>
                    <a:pt x="60223" y="20142"/>
                  </a:lnTo>
                  <a:lnTo>
                    <a:pt x="60909" y="19989"/>
                  </a:lnTo>
                  <a:lnTo>
                    <a:pt x="61595" y="19862"/>
                  </a:lnTo>
                  <a:lnTo>
                    <a:pt x="62331" y="19723"/>
                  </a:lnTo>
                  <a:lnTo>
                    <a:pt x="63004" y="19608"/>
                  </a:lnTo>
                  <a:lnTo>
                    <a:pt x="63792" y="19481"/>
                  </a:lnTo>
                  <a:lnTo>
                    <a:pt x="64617" y="19367"/>
                  </a:lnTo>
                  <a:lnTo>
                    <a:pt x="65455" y="19278"/>
                  </a:lnTo>
                  <a:lnTo>
                    <a:pt x="66281" y="19189"/>
                  </a:lnTo>
                  <a:lnTo>
                    <a:pt x="67157" y="19113"/>
                  </a:lnTo>
                  <a:lnTo>
                    <a:pt x="68033" y="19050"/>
                  </a:lnTo>
                  <a:lnTo>
                    <a:pt x="68961" y="18986"/>
                  </a:lnTo>
                  <a:lnTo>
                    <a:pt x="69850" y="18923"/>
                  </a:lnTo>
                  <a:lnTo>
                    <a:pt x="70777" y="18897"/>
                  </a:lnTo>
                  <a:lnTo>
                    <a:pt x="71742" y="18872"/>
                  </a:lnTo>
                  <a:lnTo>
                    <a:pt x="72720" y="18846"/>
                  </a:lnTo>
                  <a:lnTo>
                    <a:pt x="73698" y="18846"/>
                  </a:lnTo>
                  <a:close/>
                </a:path>
                <a:path w="363855" h="195579">
                  <a:moveTo>
                    <a:pt x="73698" y="45300"/>
                  </a:moveTo>
                  <a:lnTo>
                    <a:pt x="289890" y="45300"/>
                  </a:lnTo>
                  <a:lnTo>
                    <a:pt x="290868" y="45300"/>
                  </a:lnTo>
                  <a:lnTo>
                    <a:pt x="291846" y="45326"/>
                  </a:lnTo>
                  <a:lnTo>
                    <a:pt x="296430" y="45567"/>
                  </a:lnTo>
                  <a:lnTo>
                    <a:pt x="297307" y="45643"/>
                  </a:lnTo>
                  <a:lnTo>
                    <a:pt x="301256" y="46177"/>
                  </a:lnTo>
                  <a:lnTo>
                    <a:pt x="301993" y="46304"/>
                  </a:lnTo>
                  <a:lnTo>
                    <a:pt x="302679" y="46443"/>
                  </a:lnTo>
                  <a:lnTo>
                    <a:pt x="303364" y="46583"/>
                  </a:lnTo>
                  <a:lnTo>
                    <a:pt x="303999" y="46748"/>
                  </a:lnTo>
                  <a:lnTo>
                    <a:pt x="308978" y="49720"/>
                  </a:lnTo>
                  <a:lnTo>
                    <a:pt x="308978" y="61633"/>
                  </a:lnTo>
                  <a:lnTo>
                    <a:pt x="308927" y="61849"/>
                  </a:lnTo>
                  <a:lnTo>
                    <a:pt x="308876" y="62077"/>
                  </a:lnTo>
                  <a:lnTo>
                    <a:pt x="308724" y="62306"/>
                  </a:lnTo>
                  <a:lnTo>
                    <a:pt x="308533" y="62509"/>
                  </a:lnTo>
                  <a:lnTo>
                    <a:pt x="308343" y="62737"/>
                  </a:lnTo>
                  <a:lnTo>
                    <a:pt x="306146" y="63919"/>
                  </a:lnTo>
                  <a:lnTo>
                    <a:pt x="305701" y="64096"/>
                  </a:lnTo>
                  <a:lnTo>
                    <a:pt x="302679" y="64884"/>
                  </a:lnTo>
                  <a:lnTo>
                    <a:pt x="301993" y="65036"/>
                  </a:lnTo>
                  <a:lnTo>
                    <a:pt x="301256" y="65151"/>
                  </a:lnTo>
                  <a:lnTo>
                    <a:pt x="300583" y="65290"/>
                  </a:lnTo>
                  <a:lnTo>
                    <a:pt x="299745" y="65405"/>
                  </a:lnTo>
                  <a:lnTo>
                    <a:pt x="298970" y="65519"/>
                  </a:lnTo>
                  <a:lnTo>
                    <a:pt x="298132" y="65608"/>
                  </a:lnTo>
                  <a:lnTo>
                    <a:pt x="297307" y="65697"/>
                  </a:lnTo>
                  <a:lnTo>
                    <a:pt x="296430" y="65786"/>
                  </a:lnTo>
                  <a:lnTo>
                    <a:pt x="295554" y="65849"/>
                  </a:lnTo>
                  <a:lnTo>
                    <a:pt x="294627" y="65900"/>
                  </a:lnTo>
                  <a:lnTo>
                    <a:pt x="293738" y="65951"/>
                  </a:lnTo>
                  <a:lnTo>
                    <a:pt x="292811" y="65989"/>
                  </a:lnTo>
                  <a:lnTo>
                    <a:pt x="291846" y="66014"/>
                  </a:lnTo>
                  <a:lnTo>
                    <a:pt x="290868" y="66040"/>
                  </a:lnTo>
                  <a:lnTo>
                    <a:pt x="289890" y="66052"/>
                  </a:lnTo>
                  <a:lnTo>
                    <a:pt x="73698" y="66052"/>
                  </a:lnTo>
                  <a:lnTo>
                    <a:pt x="68961" y="65900"/>
                  </a:lnTo>
                  <a:lnTo>
                    <a:pt x="68033" y="65849"/>
                  </a:lnTo>
                  <a:lnTo>
                    <a:pt x="67157" y="65786"/>
                  </a:lnTo>
                  <a:lnTo>
                    <a:pt x="66281" y="65697"/>
                  </a:lnTo>
                  <a:lnTo>
                    <a:pt x="65455" y="65608"/>
                  </a:lnTo>
                  <a:lnTo>
                    <a:pt x="64617" y="65519"/>
                  </a:lnTo>
                  <a:lnTo>
                    <a:pt x="63792" y="65405"/>
                  </a:lnTo>
                  <a:lnTo>
                    <a:pt x="63004" y="65290"/>
                  </a:lnTo>
                  <a:lnTo>
                    <a:pt x="62331" y="65151"/>
                  </a:lnTo>
                  <a:lnTo>
                    <a:pt x="61595" y="65036"/>
                  </a:lnTo>
                  <a:lnTo>
                    <a:pt x="60909" y="64884"/>
                  </a:lnTo>
                  <a:lnTo>
                    <a:pt x="60223" y="64744"/>
                  </a:lnTo>
                  <a:lnTo>
                    <a:pt x="59588" y="64592"/>
                  </a:lnTo>
                  <a:lnTo>
                    <a:pt x="56515" y="63525"/>
                  </a:lnTo>
                  <a:lnTo>
                    <a:pt x="56134" y="63347"/>
                  </a:lnTo>
                  <a:lnTo>
                    <a:pt x="55791" y="63144"/>
                  </a:lnTo>
                  <a:lnTo>
                    <a:pt x="55499" y="62928"/>
                  </a:lnTo>
                  <a:lnTo>
                    <a:pt x="55245" y="62737"/>
                  </a:lnTo>
                  <a:lnTo>
                    <a:pt x="55054" y="62509"/>
                  </a:lnTo>
                  <a:lnTo>
                    <a:pt x="54813" y="62306"/>
                  </a:lnTo>
                  <a:lnTo>
                    <a:pt x="54711" y="62077"/>
                  </a:lnTo>
                  <a:lnTo>
                    <a:pt x="54660" y="61849"/>
                  </a:lnTo>
                  <a:lnTo>
                    <a:pt x="54610" y="61633"/>
                  </a:lnTo>
                  <a:lnTo>
                    <a:pt x="54610" y="49720"/>
                  </a:lnTo>
                  <a:lnTo>
                    <a:pt x="54660" y="49479"/>
                  </a:lnTo>
                  <a:lnTo>
                    <a:pt x="54711" y="49263"/>
                  </a:lnTo>
                  <a:lnTo>
                    <a:pt x="54813" y="49034"/>
                  </a:lnTo>
                  <a:lnTo>
                    <a:pt x="55054" y="48818"/>
                  </a:lnTo>
                  <a:lnTo>
                    <a:pt x="55245" y="48602"/>
                  </a:lnTo>
                  <a:lnTo>
                    <a:pt x="57886" y="47256"/>
                  </a:lnTo>
                  <a:lnTo>
                    <a:pt x="58420" y="47078"/>
                  </a:lnTo>
                  <a:lnTo>
                    <a:pt x="62331" y="46177"/>
                  </a:lnTo>
                  <a:lnTo>
                    <a:pt x="63004" y="46050"/>
                  </a:lnTo>
                  <a:lnTo>
                    <a:pt x="67157" y="45567"/>
                  </a:lnTo>
                  <a:lnTo>
                    <a:pt x="68033" y="45491"/>
                  </a:lnTo>
                  <a:lnTo>
                    <a:pt x="72720" y="45300"/>
                  </a:lnTo>
                  <a:lnTo>
                    <a:pt x="73698" y="45300"/>
                  </a:lnTo>
                  <a:close/>
                </a:path>
                <a:path w="363855" h="195579">
                  <a:moveTo>
                    <a:pt x="73698" y="71742"/>
                  </a:moveTo>
                  <a:lnTo>
                    <a:pt x="289890" y="71742"/>
                  </a:lnTo>
                  <a:lnTo>
                    <a:pt x="290868" y="71742"/>
                  </a:lnTo>
                  <a:lnTo>
                    <a:pt x="291846" y="71767"/>
                  </a:lnTo>
                  <a:lnTo>
                    <a:pt x="298132" y="72186"/>
                  </a:lnTo>
                  <a:lnTo>
                    <a:pt x="298970" y="72275"/>
                  </a:lnTo>
                  <a:lnTo>
                    <a:pt x="299745" y="72377"/>
                  </a:lnTo>
                  <a:lnTo>
                    <a:pt x="300583" y="72504"/>
                  </a:lnTo>
                  <a:lnTo>
                    <a:pt x="301256" y="72618"/>
                  </a:lnTo>
                  <a:lnTo>
                    <a:pt x="301993" y="72758"/>
                  </a:lnTo>
                  <a:lnTo>
                    <a:pt x="302679" y="72885"/>
                  </a:lnTo>
                  <a:lnTo>
                    <a:pt x="306146" y="73875"/>
                  </a:lnTo>
                  <a:lnTo>
                    <a:pt x="306628" y="74066"/>
                  </a:lnTo>
                  <a:lnTo>
                    <a:pt x="308978" y="76161"/>
                  </a:lnTo>
                  <a:lnTo>
                    <a:pt x="308978" y="88074"/>
                  </a:lnTo>
                  <a:lnTo>
                    <a:pt x="308927" y="88303"/>
                  </a:lnTo>
                  <a:lnTo>
                    <a:pt x="308876" y="88531"/>
                  </a:lnTo>
                  <a:lnTo>
                    <a:pt x="308724" y="88760"/>
                  </a:lnTo>
                  <a:lnTo>
                    <a:pt x="308533" y="88963"/>
                  </a:lnTo>
                  <a:lnTo>
                    <a:pt x="308343" y="89179"/>
                  </a:lnTo>
                  <a:lnTo>
                    <a:pt x="306146" y="90360"/>
                  </a:lnTo>
                  <a:lnTo>
                    <a:pt x="305701" y="90551"/>
                  </a:lnTo>
                  <a:lnTo>
                    <a:pt x="305168" y="90716"/>
                  </a:lnTo>
                  <a:lnTo>
                    <a:pt x="304584" y="90881"/>
                  </a:lnTo>
                  <a:lnTo>
                    <a:pt x="303999" y="91046"/>
                  </a:lnTo>
                  <a:lnTo>
                    <a:pt x="303364" y="91186"/>
                  </a:lnTo>
                  <a:lnTo>
                    <a:pt x="302679" y="91338"/>
                  </a:lnTo>
                  <a:lnTo>
                    <a:pt x="301993" y="91478"/>
                  </a:lnTo>
                  <a:lnTo>
                    <a:pt x="298132" y="92049"/>
                  </a:lnTo>
                  <a:lnTo>
                    <a:pt x="297307" y="92151"/>
                  </a:lnTo>
                  <a:lnTo>
                    <a:pt x="290868" y="92481"/>
                  </a:lnTo>
                  <a:lnTo>
                    <a:pt x="289890" y="92494"/>
                  </a:lnTo>
                  <a:lnTo>
                    <a:pt x="73698" y="92494"/>
                  </a:lnTo>
                  <a:lnTo>
                    <a:pt x="72720" y="92481"/>
                  </a:lnTo>
                  <a:lnTo>
                    <a:pt x="71742" y="92468"/>
                  </a:lnTo>
                  <a:lnTo>
                    <a:pt x="65455" y="92049"/>
                  </a:lnTo>
                  <a:lnTo>
                    <a:pt x="64617" y="91960"/>
                  </a:lnTo>
                  <a:lnTo>
                    <a:pt x="60223" y="91186"/>
                  </a:lnTo>
                  <a:lnTo>
                    <a:pt x="59588" y="91046"/>
                  </a:lnTo>
                  <a:lnTo>
                    <a:pt x="59004" y="90881"/>
                  </a:lnTo>
                  <a:lnTo>
                    <a:pt x="58420" y="90716"/>
                  </a:lnTo>
                  <a:lnTo>
                    <a:pt x="57886" y="90551"/>
                  </a:lnTo>
                  <a:lnTo>
                    <a:pt x="57391" y="90360"/>
                  </a:lnTo>
                  <a:lnTo>
                    <a:pt x="56908" y="90182"/>
                  </a:lnTo>
                  <a:lnTo>
                    <a:pt x="56515" y="89979"/>
                  </a:lnTo>
                  <a:lnTo>
                    <a:pt x="55054" y="88963"/>
                  </a:lnTo>
                  <a:lnTo>
                    <a:pt x="54813" y="88760"/>
                  </a:lnTo>
                  <a:lnTo>
                    <a:pt x="54711" y="88531"/>
                  </a:lnTo>
                  <a:lnTo>
                    <a:pt x="54660" y="88303"/>
                  </a:lnTo>
                  <a:lnTo>
                    <a:pt x="54610" y="88074"/>
                  </a:lnTo>
                  <a:lnTo>
                    <a:pt x="54610" y="76161"/>
                  </a:lnTo>
                  <a:lnTo>
                    <a:pt x="54660" y="75933"/>
                  </a:lnTo>
                  <a:lnTo>
                    <a:pt x="54711" y="75704"/>
                  </a:lnTo>
                  <a:lnTo>
                    <a:pt x="54813" y="75501"/>
                  </a:lnTo>
                  <a:lnTo>
                    <a:pt x="55054" y="75272"/>
                  </a:lnTo>
                  <a:lnTo>
                    <a:pt x="55245" y="75057"/>
                  </a:lnTo>
                  <a:lnTo>
                    <a:pt x="61595" y="72758"/>
                  </a:lnTo>
                  <a:lnTo>
                    <a:pt x="62331" y="72618"/>
                  </a:lnTo>
                  <a:lnTo>
                    <a:pt x="63004" y="72504"/>
                  </a:lnTo>
                  <a:lnTo>
                    <a:pt x="63792" y="72377"/>
                  </a:lnTo>
                  <a:lnTo>
                    <a:pt x="64617" y="72275"/>
                  </a:lnTo>
                  <a:lnTo>
                    <a:pt x="65455" y="72186"/>
                  </a:lnTo>
                  <a:lnTo>
                    <a:pt x="66281" y="72085"/>
                  </a:lnTo>
                  <a:lnTo>
                    <a:pt x="72720" y="71742"/>
                  </a:lnTo>
                  <a:lnTo>
                    <a:pt x="73698" y="71742"/>
                  </a:lnTo>
                  <a:close/>
                </a:path>
                <a:path w="363855" h="195579">
                  <a:moveTo>
                    <a:pt x="73698" y="98196"/>
                  </a:moveTo>
                  <a:lnTo>
                    <a:pt x="289890" y="98196"/>
                  </a:lnTo>
                  <a:lnTo>
                    <a:pt x="290868" y="98196"/>
                  </a:lnTo>
                  <a:lnTo>
                    <a:pt x="291846" y="98221"/>
                  </a:lnTo>
                  <a:lnTo>
                    <a:pt x="296430" y="98463"/>
                  </a:lnTo>
                  <a:lnTo>
                    <a:pt x="297307" y="98539"/>
                  </a:lnTo>
                  <a:lnTo>
                    <a:pt x="298132" y="98628"/>
                  </a:lnTo>
                  <a:lnTo>
                    <a:pt x="298970" y="98742"/>
                  </a:lnTo>
                  <a:lnTo>
                    <a:pt x="299745" y="98844"/>
                  </a:lnTo>
                  <a:lnTo>
                    <a:pt x="300583" y="98945"/>
                  </a:lnTo>
                  <a:lnTo>
                    <a:pt x="301256" y="99072"/>
                  </a:lnTo>
                  <a:lnTo>
                    <a:pt x="301993" y="99199"/>
                  </a:lnTo>
                  <a:lnTo>
                    <a:pt x="302679" y="99339"/>
                  </a:lnTo>
                  <a:lnTo>
                    <a:pt x="303364" y="99479"/>
                  </a:lnTo>
                  <a:lnTo>
                    <a:pt x="303999" y="99644"/>
                  </a:lnTo>
                  <a:lnTo>
                    <a:pt x="304584" y="99796"/>
                  </a:lnTo>
                  <a:lnTo>
                    <a:pt x="305168" y="99974"/>
                  </a:lnTo>
                  <a:lnTo>
                    <a:pt x="305701" y="100152"/>
                  </a:lnTo>
                  <a:lnTo>
                    <a:pt x="306146" y="100330"/>
                  </a:lnTo>
                  <a:lnTo>
                    <a:pt x="306628" y="100507"/>
                  </a:lnTo>
                  <a:lnTo>
                    <a:pt x="308978" y="102616"/>
                  </a:lnTo>
                  <a:lnTo>
                    <a:pt x="308978" y="114528"/>
                  </a:lnTo>
                  <a:lnTo>
                    <a:pt x="308927" y="114744"/>
                  </a:lnTo>
                  <a:lnTo>
                    <a:pt x="308876" y="114973"/>
                  </a:lnTo>
                  <a:lnTo>
                    <a:pt x="306146" y="116814"/>
                  </a:lnTo>
                  <a:lnTo>
                    <a:pt x="305701" y="117005"/>
                  </a:lnTo>
                  <a:lnTo>
                    <a:pt x="305168" y="117157"/>
                  </a:lnTo>
                  <a:lnTo>
                    <a:pt x="304584" y="117335"/>
                  </a:lnTo>
                  <a:lnTo>
                    <a:pt x="303999" y="117487"/>
                  </a:lnTo>
                  <a:lnTo>
                    <a:pt x="303364" y="117640"/>
                  </a:lnTo>
                  <a:lnTo>
                    <a:pt x="302679" y="117792"/>
                  </a:lnTo>
                  <a:lnTo>
                    <a:pt x="301993" y="117932"/>
                  </a:lnTo>
                  <a:lnTo>
                    <a:pt x="301256" y="118059"/>
                  </a:lnTo>
                  <a:lnTo>
                    <a:pt x="300583" y="118186"/>
                  </a:lnTo>
                  <a:lnTo>
                    <a:pt x="299745" y="118300"/>
                  </a:lnTo>
                  <a:lnTo>
                    <a:pt x="298970" y="118414"/>
                  </a:lnTo>
                  <a:lnTo>
                    <a:pt x="298132" y="118503"/>
                  </a:lnTo>
                  <a:lnTo>
                    <a:pt x="297307" y="118592"/>
                  </a:lnTo>
                  <a:lnTo>
                    <a:pt x="296430" y="118681"/>
                  </a:lnTo>
                  <a:lnTo>
                    <a:pt x="295554" y="118745"/>
                  </a:lnTo>
                  <a:lnTo>
                    <a:pt x="294627" y="118795"/>
                  </a:lnTo>
                  <a:lnTo>
                    <a:pt x="293738" y="118846"/>
                  </a:lnTo>
                  <a:lnTo>
                    <a:pt x="292811" y="118897"/>
                  </a:lnTo>
                  <a:lnTo>
                    <a:pt x="291846" y="118922"/>
                  </a:lnTo>
                  <a:lnTo>
                    <a:pt x="290868" y="118935"/>
                  </a:lnTo>
                  <a:lnTo>
                    <a:pt x="289890" y="118948"/>
                  </a:lnTo>
                  <a:lnTo>
                    <a:pt x="73698" y="118948"/>
                  </a:lnTo>
                  <a:lnTo>
                    <a:pt x="72720" y="118935"/>
                  </a:lnTo>
                  <a:lnTo>
                    <a:pt x="71742" y="118922"/>
                  </a:lnTo>
                  <a:lnTo>
                    <a:pt x="70777" y="118897"/>
                  </a:lnTo>
                  <a:lnTo>
                    <a:pt x="69850" y="118846"/>
                  </a:lnTo>
                  <a:lnTo>
                    <a:pt x="68961" y="118795"/>
                  </a:lnTo>
                  <a:lnTo>
                    <a:pt x="68033" y="118745"/>
                  </a:lnTo>
                  <a:lnTo>
                    <a:pt x="67157" y="118681"/>
                  </a:lnTo>
                  <a:lnTo>
                    <a:pt x="66281" y="118592"/>
                  </a:lnTo>
                  <a:lnTo>
                    <a:pt x="65455" y="118503"/>
                  </a:lnTo>
                  <a:lnTo>
                    <a:pt x="64617" y="118414"/>
                  </a:lnTo>
                  <a:lnTo>
                    <a:pt x="63792" y="118300"/>
                  </a:lnTo>
                  <a:lnTo>
                    <a:pt x="63004" y="118186"/>
                  </a:lnTo>
                  <a:lnTo>
                    <a:pt x="62331" y="118059"/>
                  </a:lnTo>
                  <a:lnTo>
                    <a:pt x="61595" y="117932"/>
                  </a:lnTo>
                  <a:lnTo>
                    <a:pt x="58420" y="117157"/>
                  </a:lnTo>
                  <a:lnTo>
                    <a:pt x="57886" y="117005"/>
                  </a:lnTo>
                  <a:lnTo>
                    <a:pt x="55054" y="115417"/>
                  </a:lnTo>
                  <a:lnTo>
                    <a:pt x="54813" y="115201"/>
                  </a:lnTo>
                  <a:lnTo>
                    <a:pt x="54711" y="114973"/>
                  </a:lnTo>
                  <a:lnTo>
                    <a:pt x="54660" y="114744"/>
                  </a:lnTo>
                  <a:lnTo>
                    <a:pt x="54610" y="114528"/>
                  </a:lnTo>
                  <a:lnTo>
                    <a:pt x="54610" y="102616"/>
                  </a:lnTo>
                  <a:lnTo>
                    <a:pt x="54660" y="102387"/>
                  </a:lnTo>
                  <a:lnTo>
                    <a:pt x="54711" y="102158"/>
                  </a:lnTo>
                  <a:lnTo>
                    <a:pt x="54813" y="101942"/>
                  </a:lnTo>
                  <a:lnTo>
                    <a:pt x="55054" y="101714"/>
                  </a:lnTo>
                  <a:lnTo>
                    <a:pt x="55245" y="101511"/>
                  </a:lnTo>
                  <a:lnTo>
                    <a:pt x="62331" y="99072"/>
                  </a:lnTo>
                  <a:lnTo>
                    <a:pt x="63004" y="98945"/>
                  </a:lnTo>
                  <a:lnTo>
                    <a:pt x="63792" y="98844"/>
                  </a:lnTo>
                  <a:lnTo>
                    <a:pt x="64617" y="98742"/>
                  </a:lnTo>
                  <a:lnTo>
                    <a:pt x="65455" y="98628"/>
                  </a:lnTo>
                  <a:lnTo>
                    <a:pt x="72720" y="98196"/>
                  </a:lnTo>
                  <a:lnTo>
                    <a:pt x="73698" y="98196"/>
                  </a:lnTo>
                  <a:close/>
                </a:path>
                <a:path w="363855" h="195579">
                  <a:moveTo>
                    <a:pt x="181813" y="168592"/>
                  </a:moveTo>
                  <a:lnTo>
                    <a:pt x="183032" y="168592"/>
                  </a:lnTo>
                  <a:lnTo>
                    <a:pt x="184302" y="168605"/>
                  </a:lnTo>
                  <a:lnTo>
                    <a:pt x="185534" y="168643"/>
                  </a:lnTo>
                  <a:lnTo>
                    <a:pt x="186702" y="168706"/>
                  </a:lnTo>
                  <a:lnTo>
                    <a:pt x="187871" y="168770"/>
                  </a:lnTo>
                  <a:lnTo>
                    <a:pt x="189039" y="168859"/>
                  </a:lnTo>
                  <a:lnTo>
                    <a:pt x="190207" y="168935"/>
                  </a:lnTo>
                  <a:lnTo>
                    <a:pt x="191287" y="169049"/>
                  </a:lnTo>
                  <a:lnTo>
                    <a:pt x="206324" y="174459"/>
                  </a:lnTo>
                  <a:lnTo>
                    <a:pt x="206273" y="174752"/>
                  </a:lnTo>
                  <a:lnTo>
                    <a:pt x="199923" y="178396"/>
                  </a:lnTo>
                  <a:lnTo>
                    <a:pt x="199148" y="178600"/>
                  </a:lnTo>
                  <a:lnTo>
                    <a:pt x="198272" y="178803"/>
                  </a:lnTo>
                  <a:lnTo>
                    <a:pt x="197345" y="178981"/>
                  </a:lnTo>
                  <a:lnTo>
                    <a:pt x="196456" y="179158"/>
                  </a:lnTo>
                  <a:lnTo>
                    <a:pt x="191287" y="179857"/>
                  </a:lnTo>
                  <a:lnTo>
                    <a:pt x="190207" y="179971"/>
                  </a:lnTo>
                  <a:lnTo>
                    <a:pt x="183032" y="180314"/>
                  </a:lnTo>
                  <a:lnTo>
                    <a:pt x="181813" y="180314"/>
                  </a:lnTo>
                  <a:lnTo>
                    <a:pt x="180543" y="180314"/>
                  </a:lnTo>
                  <a:lnTo>
                    <a:pt x="174548" y="180060"/>
                  </a:lnTo>
                  <a:lnTo>
                    <a:pt x="173367" y="179971"/>
                  </a:lnTo>
                  <a:lnTo>
                    <a:pt x="166243" y="178981"/>
                  </a:lnTo>
                  <a:lnTo>
                    <a:pt x="165315" y="178803"/>
                  </a:lnTo>
                  <a:lnTo>
                    <a:pt x="159702" y="176987"/>
                  </a:lnTo>
                  <a:lnTo>
                    <a:pt x="159169" y="176733"/>
                  </a:lnTo>
                  <a:lnTo>
                    <a:pt x="158724" y="176466"/>
                  </a:lnTo>
                  <a:lnTo>
                    <a:pt x="158394" y="176199"/>
                  </a:lnTo>
                  <a:lnTo>
                    <a:pt x="158000" y="175920"/>
                  </a:lnTo>
                  <a:lnTo>
                    <a:pt x="157264" y="174459"/>
                  </a:lnTo>
                  <a:lnTo>
                    <a:pt x="157314" y="174155"/>
                  </a:lnTo>
                  <a:lnTo>
                    <a:pt x="158394" y="172707"/>
                  </a:lnTo>
                  <a:lnTo>
                    <a:pt x="158724" y="172440"/>
                  </a:lnTo>
                  <a:lnTo>
                    <a:pt x="159169" y="172173"/>
                  </a:lnTo>
                  <a:lnTo>
                    <a:pt x="159702" y="171919"/>
                  </a:lnTo>
                  <a:lnTo>
                    <a:pt x="160197" y="171665"/>
                  </a:lnTo>
                  <a:lnTo>
                    <a:pt x="174548" y="168859"/>
                  </a:lnTo>
                  <a:lnTo>
                    <a:pt x="175666" y="168770"/>
                  </a:lnTo>
                  <a:lnTo>
                    <a:pt x="176885" y="168706"/>
                  </a:lnTo>
                  <a:lnTo>
                    <a:pt x="178054" y="168643"/>
                  </a:lnTo>
                  <a:lnTo>
                    <a:pt x="179285" y="168605"/>
                  </a:lnTo>
                  <a:lnTo>
                    <a:pt x="180543" y="168592"/>
                  </a:lnTo>
                  <a:lnTo>
                    <a:pt x="181813" y="168592"/>
                  </a:lnTo>
                  <a:close/>
                </a:path>
                <a:path w="363855" h="195579">
                  <a:moveTo>
                    <a:pt x="62331" y="149301"/>
                  </a:moveTo>
                  <a:lnTo>
                    <a:pt x="301256" y="149301"/>
                  </a:lnTo>
                  <a:lnTo>
                    <a:pt x="301942" y="149301"/>
                  </a:lnTo>
                  <a:lnTo>
                    <a:pt x="302526" y="149313"/>
                  </a:lnTo>
                  <a:lnTo>
                    <a:pt x="303161" y="149352"/>
                  </a:lnTo>
                  <a:lnTo>
                    <a:pt x="303707" y="149415"/>
                  </a:lnTo>
                  <a:lnTo>
                    <a:pt x="304292" y="149479"/>
                  </a:lnTo>
                  <a:lnTo>
                    <a:pt x="304774" y="149555"/>
                  </a:lnTo>
                  <a:lnTo>
                    <a:pt x="305308" y="149631"/>
                  </a:lnTo>
                  <a:lnTo>
                    <a:pt x="305701" y="149745"/>
                  </a:lnTo>
                  <a:lnTo>
                    <a:pt x="307606" y="150799"/>
                  </a:lnTo>
                  <a:lnTo>
                    <a:pt x="307606" y="152146"/>
                  </a:lnTo>
                  <a:lnTo>
                    <a:pt x="301256" y="153657"/>
                  </a:lnTo>
                  <a:lnTo>
                    <a:pt x="62331" y="153657"/>
                  </a:lnTo>
                  <a:lnTo>
                    <a:pt x="55981" y="152146"/>
                  </a:lnTo>
                  <a:lnTo>
                    <a:pt x="55981" y="150799"/>
                  </a:lnTo>
                  <a:lnTo>
                    <a:pt x="57886" y="149745"/>
                  </a:lnTo>
                  <a:lnTo>
                    <a:pt x="58280" y="149631"/>
                  </a:lnTo>
                  <a:lnTo>
                    <a:pt x="58813" y="149555"/>
                  </a:lnTo>
                  <a:lnTo>
                    <a:pt x="59296" y="149479"/>
                  </a:lnTo>
                  <a:lnTo>
                    <a:pt x="59880" y="149415"/>
                  </a:lnTo>
                  <a:lnTo>
                    <a:pt x="60426" y="149352"/>
                  </a:lnTo>
                  <a:lnTo>
                    <a:pt x="61061" y="149313"/>
                  </a:lnTo>
                  <a:lnTo>
                    <a:pt x="61645" y="149301"/>
                  </a:lnTo>
                  <a:lnTo>
                    <a:pt x="62331" y="149301"/>
                  </a:lnTo>
                  <a:close/>
                </a:path>
                <a:path w="363855" h="195579">
                  <a:moveTo>
                    <a:pt x="62331" y="142748"/>
                  </a:moveTo>
                  <a:lnTo>
                    <a:pt x="301256" y="142748"/>
                  </a:lnTo>
                  <a:lnTo>
                    <a:pt x="301942" y="142760"/>
                  </a:lnTo>
                  <a:lnTo>
                    <a:pt x="302526" y="142786"/>
                  </a:lnTo>
                  <a:lnTo>
                    <a:pt x="303161" y="142824"/>
                  </a:lnTo>
                  <a:lnTo>
                    <a:pt x="303707" y="142875"/>
                  </a:lnTo>
                  <a:lnTo>
                    <a:pt x="304292" y="142925"/>
                  </a:lnTo>
                  <a:lnTo>
                    <a:pt x="304774" y="143027"/>
                  </a:lnTo>
                  <a:lnTo>
                    <a:pt x="305308" y="143103"/>
                  </a:lnTo>
                  <a:lnTo>
                    <a:pt x="305701" y="143192"/>
                  </a:lnTo>
                  <a:lnTo>
                    <a:pt x="306095" y="143319"/>
                  </a:lnTo>
                  <a:lnTo>
                    <a:pt x="306489" y="143421"/>
                  </a:lnTo>
                  <a:lnTo>
                    <a:pt x="306819" y="143535"/>
                  </a:lnTo>
                  <a:lnTo>
                    <a:pt x="307606" y="144259"/>
                  </a:lnTo>
                  <a:lnTo>
                    <a:pt x="307606" y="145605"/>
                  </a:lnTo>
                  <a:lnTo>
                    <a:pt x="306095" y="146558"/>
                  </a:lnTo>
                  <a:lnTo>
                    <a:pt x="305701" y="146672"/>
                  </a:lnTo>
                  <a:lnTo>
                    <a:pt x="305308" y="146773"/>
                  </a:lnTo>
                  <a:lnTo>
                    <a:pt x="304774" y="146850"/>
                  </a:lnTo>
                  <a:lnTo>
                    <a:pt x="304292" y="146939"/>
                  </a:lnTo>
                  <a:lnTo>
                    <a:pt x="303707" y="146989"/>
                  </a:lnTo>
                  <a:lnTo>
                    <a:pt x="303161" y="147040"/>
                  </a:lnTo>
                  <a:lnTo>
                    <a:pt x="302526" y="147078"/>
                  </a:lnTo>
                  <a:lnTo>
                    <a:pt x="301942" y="147104"/>
                  </a:lnTo>
                  <a:lnTo>
                    <a:pt x="301256" y="147116"/>
                  </a:lnTo>
                  <a:lnTo>
                    <a:pt x="62331" y="147116"/>
                  </a:lnTo>
                  <a:lnTo>
                    <a:pt x="61645" y="147104"/>
                  </a:lnTo>
                  <a:lnTo>
                    <a:pt x="61061" y="147078"/>
                  </a:lnTo>
                  <a:lnTo>
                    <a:pt x="60426" y="147040"/>
                  </a:lnTo>
                  <a:lnTo>
                    <a:pt x="59880" y="146989"/>
                  </a:lnTo>
                  <a:lnTo>
                    <a:pt x="59296" y="146939"/>
                  </a:lnTo>
                  <a:lnTo>
                    <a:pt x="58813" y="146850"/>
                  </a:lnTo>
                  <a:lnTo>
                    <a:pt x="58280" y="146773"/>
                  </a:lnTo>
                  <a:lnTo>
                    <a:pt x="57886" y="146672"/>
                  </a:lnTo>
                  <a:lnTo>
                    <a:pt x="57492" y="146558"/>
                  </a:lnTo>
                  <a:lnTo>
                    <a:pt x="57061" y="146443"/>
                  </a:lnTo>
                  <a:lnTo>
                    <a:pt x="56769" y="146316"/>
                  </a:lnTo>
                  <a:lnTo>
                    <a:pt x="55981" y="145605"/>
                  </a:lnTo>
                  <a:lnTo>
                    <a:pt x="55981" y="144259"/>
                  </a:lnTo>
                  <a:lnTo>
                    <a:pt x="57492" y="143319"/>
                  </a:lnTo>
                  <a:lnTo>
                    <a:pt x="57886" y="143192"/>
                  </a:lnTo>
                  <a:lnTo>
                    <a:pt x="58280" y="143103"/>
                  </a:lnTo>
                  <a:lnTo>
                    <a:pt x="58813" y="143027"/>
                  </a:lnTo>
                  <a:lnTo>
                    <a:pt x="59296" y="142925"/>
                  </a:lnTo>
                  <a:lnTo>
                    <a:pt x="59880" y="142875"/>
                  </a:lnTo>
                  <a:lnTo>
                    <a:pt x="60426" y="142824"/>
                  </a:lnTo>
                  <a:lnTo>
                    <a:pt x="61061" y="142786"/>
                  </a:lnTo>
                  <a:lnTo>
                    <a:pt x="61645" y="142760"/>
                  </a:lnTo>
                  <a:lnTo>
                    <a:pt x="62331" y="142748"/>
                  </a:lnTo>
                  <a:close/>
                </a:path>
              </a:pathLst>
            </a:custGeom>
            <a:ln w="9525">
              <a:solidFill>
                <a:srgbClr val="C00000"/>
              </a:solidFill>
            </a:ln>
          </p:spPr>
          <p:txBody>
            <a:bodyPr wrap="square" lIns="0" tIns="0" rIns="0" bIns="0" rtlCol="0"/>
            <a:lstStyle/>
            <a:p/>
          </p:txBody>
        </p:sp>
        <p:sp>
          <p:nvSpPr>
            <p:cNvPr id="65" name="object 65" descr=""/>
            <p:cNvSpPr/>
            <p:nvPr/>
          </p:nvSpPr>
          <p:spPr>
            <a:xfrm>
              <a:off x="1507978" y="3199551"/>
              <a:ext cx="523875" cy="161925"/>
            </a:xfrm>
            <a:custGeom>
              <a:avLst/>
              <a:gdLst/>
              <a:ahLst/>
              <a:cxnLst/>
              <a:rect l="l" t="t" r="r" b="b"/>
              <a:pathLst>
                <a:path w="523875" h="161925">
                  <a:moveTo>
                    <a:pt x="523748" y="51371"/>
                  </a:moveTo>
                  <a:lnTo>
                    <a:pt x="523748" y="161353"/>
                  </a:lnTo>
                  <a:lnTo>
                    <a:pt x="245846" y="161353"/>
                  </a:lnTo>
                  <a:lnTo>
                    <a:pt x="245846" y="0"/>
                  </a:lnTo>
                  <a:lnTo>
                    <a:pt x="0" y="0"/>
                  </a:lnTo>
                </a:path>
              </a:pathLst>
            </a:custGeom>
            <a:ln w="9525">
              <a:solidFill>
                <a:srgbClr val="808080"/>
              </a:solidFill>
            </a:ln>
          </p:spPr>
          <p:txBody>
            <a:bodyPr wrap="square" lIns="0" tIns="0" rIns="0" bIns="0" rtlCol="0"/>
            <a:lstStyle/>
            <a:p/>
          </p:txBody>
        </p:sp>
        <p:pic>
          <p:nvPicPr>
            <p:cNvPr id="66" name="object 66" descr=""/>
            <p:cNvPicPr/>
            <p:nvPr/>
          </p:nvPicPr>
          <p:blipFill>
            <a:blip r:embed="rId4" cstate="print"/>
            <a:stretch>
              <a:fillRect/>
            </a:stretch>
          </p:blipFill>
          <p:spPr>
            <a:xfrm>
              <a:off x="3520058" y="2361323"/>
              <a:ext cx="157200" cy="86042"/>
            </a:xfrm>
            <a:prstGeom prst="rect">
              <a:avLst/>
            </a:prstGeom>
          </p:spPr>
        </p:pic>
        <p:sp>
          <p:nvSpPr>
            <p:cNvPr id="67" name="object 67" descr=""/>
            <p:cNvSpPr/>
            <p:nvPr/>
          </p:nvSpPr>
          <p:spPr>
            <a:xfrm>
              <a:off x="3510533" y="2351798"/>
              <a:ext cx="176530" cy="105410"/>
            </a:xfrm>
            <a:custGeom>
              <a:avLst/>
              <a:gdLst/>
              <a:ahLst/>
              <a:cxnLst/>
              <a:rect l="l" t="t" r="r" b="b"/>
              <a:pathLst>
                <a:path w="176529" h="105410">
                  <a:moveTo>
                    <a:pt x="0" y="0"/>
                  </a:moveTo>
                  <a:lnTo>
                    <a:pt x="176250" y="0"/>
                  </a:lnTo>
                  <a:lnTo>
                    <a:pt x="176250" y="105092"/>
                  </a:lnTo>
                  <a:lnTo>
                    <a:pt x="0" y="105092"/>
                  </a:lnTo>
                  <a:lnTo>
                    <a:pt x="0" y="0"/>
                  </a:lnTo>
                  <a:close/>
                </a:path>
              </a:pathLst>
            </a:custGeom>
            <a:ln w="19050">
              <a:solidFill>
                <a:srgbClr val="C00000"/>
              </a:solidFill>
            </a:ln>
          </p:spPr>
          <p:txBody>
            <a:bodyPr wrap="square" lIns="0" tIns="0" rIns="0" bIns="0" rtlCol="0"/>
            <a:lstStyle/>
            <a:p/>
          </p:txBody>
        </p:sp>
        <p:pic>
          <p:nvPicPr>
            <p:cNvPr id="68" name="object 68" descr=""/>
            <p:cNvPicPr/>
            <p:nvPr/>
          </p:nvPicPr>
          <p:blipFill>
            <a:blip r:embed="rId4" cstate="print"/>
            <a:stretch>
              <a:fillRect/>
            </a:stretch>
          </p:blipFill>
          <p:spPr>
            <a:xfrm>
              <a:off x="3520058" y="2533357"/>
              <a:ext cx="157200" cy="86042"/>
            </a:xfrm>
            <a:prstGeom prst="rect">
              <a:avLst/>
            </a:prstGeom>
          </p:spPr>
        </p:pic>
        <p:sp>
          <p:nvSpPr>
            <p:cNvPr id="69" name="object 69" descr=""/>
            <p:cNvSpPr/>
            <p:nvPr/>
          </p:nvSpPr>
          <p:spPr>
            <a:xfrm>
              <a:off x="3510533" y="2523832"/>
              <a:ext cx="176530" cy="105410"/>
            </a:xfrm>
            <a:custGeom>
              <a:avLst/>
              <a:gdLst/>
              <a:ahLst/>
              <a:cxnLst/>
              <a:rect l="l" t="t" r="r" b="b"/>
              <a:pathLst>
                <a:path w="176529" h="105410">
                  <a:moveTo>
                    <a:pt x="0" y="0"/>
                  </a:moveTo>
                  <a:lnTo>
                    <a:pt x="176250" y="0"/>
                  </a:lnTo>
                  <a:lnTo>
                    <a:pt x="176250" y="105092"/>
                  </a:lnTo>
                  <a:lnTo>
                    <a:pt x="0" y="105092"/>
                  </a:lnTo>
                  <a:lnTo>
                    <a:pt x="0" y="0"/>
                  </a:lnTo>
                  <a:close/>
                </a:path>
              </a:pathLst>
            </a:custGeom>
            <a:ln w="19050">
              <a:solidFill>
                <a:srgbClr val="C00000"/>
              </a:solidFill>
            </a:ln>
          </p:spPr>
          <p:txBody>
            <a:bodyPr wrap="square" lIns="0" tIns="0" rIns="0" bIns="0" rtlCol="0"/>
            <a:lstStyle/>
            <a:p/>
          </p:txBody>
        </p:sp>
        <p:pic>
          <p:nvPicPr>
            <p:cNvPr id="70" name="object 70" descr=""/>
            <p:cNvPicPr/>
            <p:nvPr/>
          </p:nvPicPr>
          <p:blipFill>
            <a:blip r:embed="rId4" cstate="print"/>
            <a:stretch>
              <a:fillRect/>
            </a:stretch>
          </p:blipFill>
          <p:spPr>
            <a:xfrm>
              <a:off x="3520058" y="2684691"/>
              <a:ext cx="157200" cy="86042"/>
            </a:xfrm>
            <a:prstGeom prst="rect">
              <a:avLst/>
            </a:prstGeom>
          </p:spPr>
        </p:pic>
        <p:sp>
          <p:nvSpPr>
            <p:cNvPr id="71" name="object 71" descr=""/>
            <p:cNvSpPr/>
            <p:nvPr/>
          </p:nvSpPr>
          <p:spPr>
            <a:xfrm>
              <a:off x="3510533" y="2675166"/>
              <a:ext cx="176530" cy="105410"/>
            </a:xfrm>
            <a:custGeom>
              <a:avLst/>
              <a:gdLst/>
              <a:ahLst/>
              <a:cxnLst/>
              <a:rect l="l" t="t" r="r" b="b"/>
              <a:pathLst>
                <a:path w="176529" h="105410">
                  <a:moveTo>
                    <a:pt x="0" y="0"/>
                  </a:moveTo>
                  <a:lnTo>
                    <a:pt x="176250" y="0"/>
                  </a:lnTo>
                  <a:lnTo>
                    <a:pt x="176250" y="105092"/>
                  </a:lnTo>
                  <a:lnTo>
                    <a:pt x="0" y="105092"/>
                  </a:lnTo>
                  <a:lnTo>
                    <a:pt x="0" y="0"/>
                  </a:lnTo>
                  <a:close/>
                </a:path>
              </a:pathLst>
            </a:custGeom>
            <a:ln w="19050">
              <a:solidFill>
                <a:srgbClr val="C00000"/>
              </a:solidFill>
            </a:ln>
          </p:spPr>
          <p:txBody>
            <a:bodyPr wrap="square" lIns="0" tIns="0" rIns="0" bIns="0" rtlCol="0"/>
            <a:lstStyle/>
            <a:p/>
          </p:txBody>
        </p:sp>
        <p:pic>
          <p:nvPicPr>
            <p:cNvPr id="72" name="object 72" descr=""/>
            <p:cNvPicPr/>
            <p:nvPr/>
          </p:nvPicPr>
          <p:blipFill>
            <a:blip r:embed="rId4" cstate="print"/>
            <a:stretch>
              <a:fillRect/>
            </a:stretch>
          </p:blipFill>
          <p:spPr>
            <a:xfrm>
              <a:off x="3520058" y="2823184"/>
              <a:ext cx="157200" cy="86042"/>
            </a:xfrm>
            <a:prstGeom prst="rect">
              <a:avLst/>
            </a:prstGeom>
          </p:spPr>
        </p:pic>
        <p:sp>
          <p:nvSpPr>
            <p:cNvPr id="73" name="object 73" descr=""/>
            <p:cNvSpPr/>
            <p:nvPr/>
          </p:nvSpPr>
          <p:spPr>
            <a:xfrm>
              <a:off x="3510533" y="2813659"/>
              <a:ext cx="176530" cy="105410"/>
            </a:xfrm>
            <a:custGeom>
              <a:avLst/>
              <a:gdLst/>
              <a:ahLst/>
              <a:cxnLst/>
              <a:rect l="l" t="t" r="r" b="b"/>
              <a:pathLst>
                <a:path w="176529" h="105410">
                  <a:moveTo>
                    <a:pt x="0" y="0"/>
                  </a:moveTo>
                  <a:lnTo>
                    <a:pt x="176250" y="0"/>
                  </a:lnTo>
                  <a:lnTo>
                    <a:pt x="176250" y="105092"/>
                  </a:lnTo>
                  <a:lnTo>
                    <a:pt x="0" y="105092"/>
                  </a:lnTo>
                  <a:lnTo>
                    <a:pt x="0" y="0"/>
                  </a:lnTo>
                  <a:close/>
                </a:path>
              </a:pathLst>
            </a:custGeom>
            <a:ln w="19050">
              <a:solidFill>
                <a:srgbClr val="C00000"/>
              </a:solidFill>
            </a:ln>
          </p:spPr>
          <p:txBody>
            <a:bodyPr wrap="square" lIns="0" tIns="0" rIns="0" bIns="0" rtlCol="0"/>
            <a:lstStyle/>
            <a:p/>
          </p:txBody>
        </p:sp>
        <p:pic>
          <p:nvPicPr>
            <p:cNvPr id="74" name="object 74" descr=""/>
            <p:cNvPicPr/>
            <p:nvPr/>
          </p:nvPicPr>
          <p:blipFill>
            <a:blip r:embed="rId4" cstate="print"/>
            <a:stretch>
              <a:fillRect/>
            </a:stretch>
          </p:blipFill>
          <p:spPr>
            <a:xfrm>
              <a:off x="3520058" y="3021152"/>
              <a:ext cx="157200" cy="86042"/>
            </a:xfrm>
            <a:prstGeom prst="rect">
              <a:avLst/>
            </a:prstGeom>
          </p:spPr>
        </p:pic>
        <p:sp>
          <p:nvSpPr>
            <p:cNvPr id="75" name="object 75" descr=""/>
            <p:cNvSpPr/>
            <p:nvPr/>
          </p:nvSpPr>
          <p:spPr>
            <a:xfrm>
              <a:off x="3510533" y="3011627"/>
              <a:ext cx="176530" cy="105410"/>
            </a:xfrm>
            <a:custGeom>
              <a:avLst/>
              <a:gdLst/>
              <a:ahLst/>
              <a:cxnLst/>
              <a:rect l="l" t="t" r="r" b="b"/>
              <a:pathLst>
                <a:path w="176529" h="105410">
                  <a:moveTo>
                    <a:pt x="0" y="0"/>
                  </a:moveTo>
                  <a:lnTo>
                    <a:pt x="176250" y="0"/>
                  </a:lnTo>
                  <a:lnTo>
                    <a:pt x="176250" y="105092"/>
                  </a:lnTo>
                  <a:lnTo>
                    <a:pt x="0" y="105092"/>
                  </a:lnTo>
                  <a:lnTo>
                    <a:pt x="0" y="0"/>
                  </a:lnTo>
                  <a:close/>
                </a:path>
              </a:pathLst>
            </a:custGeom>
            <a:ln w="19050">
              <a:solidFill>
                <a:srgbClr val="C00000"/>
              </a:solidFill>
            </a:ln>
          </p:spPr>
          <p:txBody>
            <a:bodyPr wrap="square" lIns="0" tIns="0" rIns="0" bIns="0" rtlCol="0"/>
            <a:lstStyle/>
            <a:p/>
          </p:txBody>
        </p:sp>
        <p:pic>
          <p:nvPicPr>
            <p:cNvPr id="76" name="object 76" descr=""/>
            <p:cNvPicPr/>
            <p:nvPr/>
          </p:nvPicPr>
          <p:blipFill>
            <a:blip r:embed="rId5" cstate="print"/>
            <a:stretch>
              <a:fillRect/>
            </a:stretch>
          </p:blipFill>
          <p:spPr>
            <a:xfrm>
              <a:off x="3520058" y="3188258"/>
              <a:ext cx="157200" cy="86042"/>
            </a:xfrm>
            <a:prstGeom prst="rect">
              <a:avLst/>
            </a:prstGeom>
          </p:spPr>
        </p:pic>
        <p:sp>
          <p:nvSpPr>
            <p:cNvPr id="77" name="object 77" descr=""/>
            <p:cNvSpPr/>
            <p:nvPr/>
          </p:nvSpPr>
          <p:spPr>
            <a:xfrm>
              <a:off x="3510533" y="3178733"/>
              <a:ext cx="176530" cy="105410"/>
            </a:xfrm>
            <a:custGeom>
              <a:avLst/>
              <a:gdLst/>
              <a:ahLst/>
              <a:cxnLst/>
              <a:rect l="l" t="t" r="r" b="b"/>
              <a:pathLst>
                <a:path w="176529" h="105410">
                  <a:moveTo>
                    <a:pt x="0" y="0"/>
                  </a:moveTo>
                  <a:lnTo>
                    <a:pt x="176250" y="0"/>
                  </a:lnTo>
                  <a:lnTo>
                    <a:pt x="176250" y="105092"/>
                  </a:lnTo>
                  <a:lnTo>
                    <a:pt x="0" y="105092"/>
                  </a:lnTo>
                  <a:lnTo>
                    <a:pt x="0" y="0"/>
                  </a:lnTo>
                  <a:close/>
                </a:path>
              </a:pathLst>
            </a:custGeom>
            <a:ln w="19050">
              <a:solidFill>
                <a:srgbClr val="C00000"/>
              </a:solidFill>
            </a:ln>
          </p:spPr>
          <p:txBody>
            <a:bodyPr wrap="square" lIns="0" tIns="0" rIns="0" bIns="0" rtlCol="0"/>
            <a:lstStyle/>
            <a:p/>
          </p:txBody>
        </p:sp>
      </p:grpSp>
      <p:sp>
        <p:nvSpPr>
          <p:cNvPr id="78" name="object 78" descr=""/>
          <p:cNvSpPr txBox="1"/>
          <p:nvPr/>
        </p:nvSpPr>
        <p:spPr>
          <a:xfrm>
            <a:off x="1096182" y="2407159"/>
            <a:ext cx="720725" cy="589280"/>
          </a:xfrm>
          <a:prstGeom prst="rect">
            <a:avLst/>
          </a:prstGeom>
        </p:spPr>
        <p:txBody>
          <a:bodyPr wrap="square" lIns="0" tIns="12065" rIns="0" bIns="0" rtlCol="0" vert="horz">
            <a:spAutoFit/>
          </a:bodyPr>
          <a:lstStyle/>
          <a:p>
            <a:pPr marL="12700">
              <a:lnSpc>
                <a:spcPct val="100000"/>
              </a:lnSpc>
              <a:spcBef>
                <a:spcPts val="95"/>
              </a:spcBef>
            </a:pPr>
            <a:r>
              <a:rPr dirty="0" sz="1100" spc="-20">
                <a:latin typeface="Microsoft YaHei"/>
                <a:cs typeface="Microsoft YaHei"/>
              </a:rPr>
              <a:t>新增</a:t>
            </a:r>
            <a:r>
              <a:rPr dirty="0" sz="1100" spc="-25">
                <a:latin typeface="Microsoft YaHei"/>
                <a:cs typeface="Microsoft YaHei"/>
              </a:rPr>
              <a:t>DAS</a:t>
            </a:r>
            <a:endParaRPr sz="1100">
              <a:latin typeface="Microsoft YaHei"/>
              <a:cs typeface="Microsoft YaHei"/>
            </a:endParaRPr>
          </a:p>
          <a:p>
            <a:pPr>
              <a:lnSpc>
                <a:spcPct val="100000"/>
              </a:lnSpc>
              <a:spcBef>
                <a:spcPts val="130"/>
              </a:spcBef>
            </a:pPr>
            <a:endParaRPr sz="1100">
              <a:latin typeface="Microsoft YaHei"/>
              <a:cs typeface="Microsoft YaHei"/>
            </a:endParaRPr>
          </a:p>
          <a:p>
            <a:pPr marL="158115">
              <a:lnSpc>
                <a:spcPct val="100000"/>
              </a:lnSpc>
            </a:pPr>
            <a:r>
              <a:rPr dirty="0" sz="800" spc="-10">
                <a:latin typeface="Microsoft YaHei"/>
                <a:cs typeface="Microsoft YaHei"/>
              </a:rPr>
              <a:t>3.5GHz</a:t>
            </a:r>
            <a:r>
              <a:rPr dirty="0" sz="800" spc="-30">
                <a:latin typeface="Microsoft YaHei"/>
                <a:cs typeface="Microsoft YaHei"/>
              </a:rPr>
              <a:t>信源</a:t>
            </a:r>
            <a:endParaRPr sz="800">
              <a:latin typeface="Microsoft YaHei"/>
              <a:cs typeface="Microsoft YaHei"/>
            </a:endParaRPr>
          </a:p>
        </p:txBody>
      </p:sp>
      <p:sp>
        <p:nvSpPr>
          <p:cNvPr id="79" name="object 79" descr=""/>
          <p:cNvSpPr txBox="1"/>
          <p:nvPr/>
        </p:nvSpPr>
        <p:spPr>
          <a:xfrm>
            <a:off x="4816462" y="945904"/>
            <a:ext cx="1183640"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Microsoft YaHei"/>
                <a:cs typeface="Microsoft YaHei"/>
              </a:rPr>
              <a:t>3.4~3.6G</a:t>
            </a:r>
            <a:r>
              <a:rPr dirty="0" sz="1100" spc="-30">
                <a:latin typeface="Microsoft YaHei"/>
                <a:cs typeface="Microsoft YaHei"/>
              </a:rPr>
              <a:t>室分产品</a:t>
            </a:r>
            <a:endParaRPr sz="1100">
              <a:latin typeface="Microsoft YaHei"/>
              <a:cs typeface="Microsoft YaHei"/>
            </a:endParaRPr>
          </a:p>
        </p:txBody>
      </p:sp>
      <p:graphicFrame>
        <p:nvGraphicFramePr>
          <p:cNvPr id="80" name="object 80" descr=""/>
          <p:cNvGraphicFramePr>
            <a:graphicFrameLocks noGrp="1"/>
          </p:cNvGraphicFramePr>
          <p:nvPr/>
        </p:nvGraphicFramePr>
        <p:xfrm>
          <a:off x="4492625" y="1120775"/>
          <a:ext cx="4344035" cy="2240915"/>
        </p:xfrm>
        <a:graphic>
          <a:graphicData uri="http://schemas.openxmlformats.org/drawingml/2006/table">
            <a:tbl>
              <a:tblPr firstRow="1" bandRow="1">
                <a:tableStyleId>{2D5ABB26-0587-4C30-8999-92F81FD0307C}</a:tableStyleId>
              </a:tblPr>
              <a:tblGrid>
                <a:gridCol w="718185"/>
                <a:gridCol w="725170"/>
                <a:gridCol w="650875"/>
                <a:gridCol w="892809"/>
                <a:gridCol w="1273175"/>
              </a:tblGrid>
              <a:tr h="295910">
                <a:tc>
                  <a:txBody>
                    <a:bodyPr/>
                    <a:lstStyle/>
                    <a:p>
                      <a:pPr marL="155575">
                        <a:lnSpc>
                          <a:spcPct val="100000"/>
                        </a:lnSpc>
                        <a:spcBef>
                          <a:spcPts val="710"/>
                        </a:spcBef>
                      </a:pPr>
                      <a:r>
                        <a:rPr dirty="0" sz="800" spc="-20" b="1">
                          <a:solidFill>
                            <a:srgbClr val="FFFFFF"/>
                          </a:solidFill>
                          <a:latin typeface="Microsoft YaHei"/>
                          <a:cs typeface="Microsoft YaHei"/>
                        </a:rPr>
                        <a:t>产品名称</a:t>
                      </a:r>
                      <a:endParaRPr sz="800">
                        <a:latin typeface="Microsoft YaHei"/>
                        <a:cs typeface="Microsoft YaHei"/>
                      </a:endParaRPr>
                    </a:p>
                  </a:txBody>
                  <a:tcPr marL="0" marR="0" marB="0" marT="9017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333399"/>
                    </a:solidFill>
                  </a:tcPr>
                </a:tc>
                <a:tc>
                  <a:txBody>
                    <a:bodyPr/>
                    <a:lstStyle/>
                    <a:p>
                      <a:pPr algn="ctr">
                        <a:lnSpc>
                          <a:spcPct val="100000"/>
                        </a:lnSpc>
                        <a:spcBef>
                          <a:spcPts val="229"/>
                        </a:spcBef>
                      </a:pPr>
                      <a:r>
                        <a:rPr dirty="0" sz="800" spc="-20" b="1">
                          <a:solidFill>
                            <a:srgbClr val="FFFFFF"/>
                          </a:solidFill>
                          <a:latin typeface="Microsoft YaHei"/>
                          <a:cs typeface="Microsoft YaHei"/>
                        </a:rPr>
                        <a:t>尺寸信息</a:t>
                      </a:r>
                      <a:endParaRPr sz="800">
                        <a:latin typeface="Microsoft YaHei"/>
                        <a:cs typeface="Microsoft YaHei"/>
                      </a:endParaRPr>
                    </a:p>
                    <a:p>
                      <a:pPr algn="ctr">
                        <a:lnSpc>
                          <a:spcPct val="100000"/>
                        </a:lnSpc>
                      </a:pPr>
                      <a:r>
                        <a:rPr dirty="0" sz="800" spc="-10" b="1">
                          <a:solidFill>
                            <a:srgbClr val="FFFFFF"/>
                          </a:solidFill>
                          <a:latin typeface="Microsoft YaHei"/>
                          <a:cs typeface="Microsoft YaHei"/>
                        </a:rPr>
                        <a:t>（</a:t>
                      </a:r>
                      <a:r>
                        <a:rPr dirty="0" sz="800" spc="-15" b="1">
                          <a:solidFill>
                            <a:srgbClr val="FFFFFF"/>
                          </a:solidFill>
                          <a:latin typeface="Microsoft YaHei"/>
                          <a:cs typeface="Microsoft YaHei"/>
                        </a:rPr>
                        <a:t>单位：</a:t>
                      </a:r>
                      <a:r>
                        <a:rPr dirty="0" sz="800" spc="-20" b="1">
                          <a:solidFill>
                            <a:srgbClr val="FFFFFF"/>
                          </a:solidFill>
                          <a:latin typeface="Microsoft YaHei"/>
                          <a:cs typeface="Microsoft YaHei"/>
                        </a:rPr>
                        <a:t>mm)</a:t>
                      </a:r>
                      <a:endParaRPr sz="800">
                        <a:latin typeface="Microsoft YaHei"/>
                        <a:cs typeface="Microsoft YaHei"/>
                      </a:endParaRPr>
                    </a:p>
                  </a:txBody>
                  <a:tcPr marL="0" marR="0" marB="0" marT="29209">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333399"/>
                    </a:solidFill>
                  </a:tcPr>
                </a:tc>
                <a:tc>
                  <a:txBody>
                    <a:bodyPr/>
                    <a:lstStyle/>
                    <a:p>
                      <a:pPr marL="172720" marR="13335" indent="-151765">
                        <a:lnSpc>
                          <a:spcPct val="100000"/>
                        </a:lnSpc>
                        <a:spcBef>
                          <a:spcPts val="229"/>
                        </a:spcBef>
                      </a:pPr>
                      <a:r>
                        <a:rPr dirty="0" sz="800" spc="-20" b="1">
                          <a:solidFill>
                            <a:srgbClr val="FFFFFF"/>
                          </a:solidFill>
                          <a:latin typeface="Microsoft YaHei"/>
                          <a:cs typeface="Microsoft YaHei"/>
                        </a:rPr>
                        <a:t>与现有产品尺</a:t>
                      </a:r>
                      <a:r>
                        <a:rPr dirty="0" sz="800" spc="-25" b="1">
                          <a:solidFill>
                            <a:srgbClr val="FFFFFF"/>
                          </a:solidFill>
                          <a:latin typeface="Microsoft YaHei"/>
                          <a:cs typeface="Microsoft YaHei"/>
                        </a:rPr>
                        <a:t>寸对比</a:t>
                      </a:r>
                      <a:endParaRPr sz="800">
                        <a:latin typeface="Microsoft YaHei"/>
                        <a:cs typeface="Microsoft YaHei"/>
                      </a:endParaRPr>
                    </a:p>
                  </a:txBody>
                  <a:tcPr marL="0" marR="0" marB="0" marT="29209">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333399"/>
                    </a:solidFill>
                  </a:tcPr>
                </a:tc>
                <a:tc>
                  <a:txBody>
                    <a:bodyPr/>
                    <a:lstStyle/>
                    <a:p>
                      <a:pPr marL="243204">
                        <a:lnSpc>
                          <a:spcPct val="100000"/>
                        </a:lnSpc>
                        <a:spcBef>
                          <a:spcPts val="710"/>
                        </a:spcBef>
                      </a:pPr>
                      <a:r>
                        <a:rPr dirty="0" sz="800" spc="-20" b="1">
                          <a:solidFill>
                            <a:srgbClr val="FFFFFF"/>
                          </a:solidFill>
                          <a:latin typeface="Microsoft YaHei"/>
                          <a:cs typeface="Microsoft YaHei"/>
                        </a:rPr>
                        <a:t>主要指标</a:t>
                      </a:r>
                      <a:endParaRPr sz="800">
                        <a:latin typeface="Microsoft YaHei"/>
                        <a:cs typeface="Microsoft YaHei"/>
                      </a:endParaRPr>
                    </a:p>
                  </a:txBody>
                  <a:tcPr marL="0" marR="0" marB="0" marT="9017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333399"/>
                    </a:solidFill>
                  </a:tcPr>
                </a:tc>
                <a:tc>
                  <a:txBody>
                    <a:bodyPr/>
                    <a:lstStyle/>
                    <a:p>
                      <a:pPr algn="ctr">
                        <a:lnSpc>
                          <a:spcPct val="100000"/>
                        </a:lnSpc>
                        <a:spcBef>
                          <a:spcPts val="710"/>
                        </a:spcBef>
                      </a:pPr>
                      <a:r>
                        <a:rPr dirty="0" sz="800" spc="-20" b="1">
                          <a:solidFill>
                            <a:srgbClr val="FFFFFF"/>
                          </a:solidFill>
                          <a:latin typeface="Microsoft YaHei"/>
                          <a:cs typeface="Microsoft YaHei"/>
                        </a:rPr>
                        <a:t>方案说明</a:t>
                      </a:r>
                      <a:endParaRPr sz="800">
                        <a:latin typeface="Microsoft YaHei"/>
                        <a:cs typeface="Microsoft YaHei"/>
                      </a:endParaRPr>
                    </a:p>
                  </a:txBody>
                  <a:tcPr marL="0" marR="0" marB="0" marT="9017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333399"/>
                    </a:solidFill>
                  </a:tcPr>
                </a:tc>
              </a:tr>
              <a:tr h="1103630">
                <a:tc>
                  <a:txBody>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645"/>
                        </a:spcBef>
                      </a:pPr>
                      <a:endParaRPr sz="800">
                        <a:latin typeface="Times New Roman"/>
                        <a:cs typeface="Times New Roman"/>
                      </a:endParaRPr>
                    </a:p>
                    <a:p>
                      <a:pPr marL="105410" marR="31115" indent="-67310">
                        <a:lnSpc>
                          <a:spcPct val="100000"/>
                        </a:lnSpc>
                        <a:spcBef>
                          <a:spcPts val="5"/>
                        </a:spcBef>
                      </a:pPr>
                      <a:r>
                        <a:rPr dirty="0" sz="800" spc="-10">
                          <a:latin typeface="Microsoft YaHei"/>
                          <a:cs typeface="Microsoft YaHei"/>
                        </a:rPr>
                        <a:t>3.4~3.6G</a:t>
                      </a:r>
                      <a:r>
                        <a:rPr dirty="0" sz="800" spc="-30">
                          <a:latin typeface="Microsoft YaHei"/>
                          <a:cs typeface="Microsoft YaHei"/>
                        </a:rPr>
                        <a:t>双极</a:t>
                      </a:r>
                      <a:r>
                        <a:rPr dirty="0" sz="800" spc="-20">
                          <a:latin typeface="Microsoft YaHei"/>
                          <a:cs typeface="Microsoft YaHei"/>
                        </a:rPr>
                        <a:t>化吸顶天线</a:t>
                      </a:r>
                      <a:endParaRPr sz="800">
                        <a:latin typeface="Microsoft YaHei"/>
                        <a:cs typeface="Microsoft YaHei"/>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204"/>
                        </a:spcBef>
                      </a:pPr>
                      <a:endParaRPr sz="800">
                        <a:latin typeface="Times New Roman"/>
                        <a:cs typeface="Times New Roman"/>
                      </a:endParaRPr>
                    </a:p>
                    <a:p>
                      <a:pPr algn="ctr">
                        <a:lnSpc>
                          <a:spcPct val="100000"/>
                        </a:lnSpc>
                        <a:spcBef>
                          <a:spcPts val="5"/>
                        </a:spcBef>
                      </a:pPr>
                      <a:r>
                        <a:rPr dirty="0" sz="800" spc="-10">
                          <a:latin typeface="Microsoft YaHei"/>
                          <a:cs typeface="Microsoft YaHei"/>
                        </a:rPr>
                        <a:t>φ100×80</a:t>
                      </a:r>
                      <a:endParaRPr sz="800">
                        <a:latin typeface="Microsoft YaHei"/>
                        <a:cs typeface="Microsoft YaHei"/>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645"/>
                        </a:spcBef>
                      </a:pPr>
                      <a:endParaRPr sz="800">
                        <a:latin typeface="Times New Roman"/>
                        <a:cs typeface="Times New Roman"/>
                      </a:endParaRPr>
                    </a:p>
                    <a:p>
                      <a:pPr marL="92075" marR="13335" indent="-71120">
                        <a:lnSpc>
                          <a:spcPct val="100000"/>
                        </a:lnSpc>
                        <a:spcBef>
                          <a:spcPts val="5"/>
                        </a:spcBef>
                      </a:pPr>
                      <a:r>
                        <a:rPr dirty="0" sz="800" spc="-20">
                          <a:latin typeface="Microsoft YaHei"/>
                          <a:cs typeface="Microsoft YaHei"/>
                        </a:rPr>
                        <a:t>约是现有产品</a:t>
                      </a:r>
                      <a:r>
                        <a:rPr dirty="0" sz="800" spc="-10">
                          <a:latin typeface="Microsoft YaHei"/>
                          <a:cs typeface="Microsoft YaHei"/>
                        </a:rPr>
                        <a:t>体积的</a:t>
                      </a:r>
                      <a:r>
                        <a:rPr dirty="0" sz="800" spc="-25">
                          <a:latin typeface="Microsoft YaHei"/>
                          <a:cs typeface="Microsoft YaHei"/>
                        </a:rPr>
                        <a:t>1/2</a:t>
                      </a:r>
                      <a:endParaRPr sz="800">
                        <a:latin typeface="Microsoft YaHei"/>
                        <a:cs typeface="Microsoft YaHei"/>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0" marR="93980">
                        <a:lnSpc>
                          <a:spcPct val="100000"/>
                        </a:lnSpc>
                        <a:spcBef>
                          <a:spcPts val="45"/>
                        </a:spcBef>
                      </a:pPr>
                      <a:r>
                        <a:rPr dirty="0" sz="800" spc="-20">
                          <a:latin typeface="Microsoft YaHei"/>
                          <a:cs typeface="Microsoft YaHei"/>
                        </a:rPr>
                        <a:t>极化方式：垂直+</a:t>
                      </a:r>
                      <a:r>
                        <a:rPr dirty="0" sz="800" spc="-30">
                          <a:latin typeface="Microsoft YaHei"/>
                          <a:cs typeface="Microsoft YaHei"/>
                        </a:rPr>
                        <a:t>水平</a:t>
                      </a:r>
                      <a:endParaRPr sz="800">
                        <a:latin typeface="Microsoft YaHei"/>
                        <a:cs typeface="Microsoft YaHei"/>
                      </a:endParaRPr>
                    </a:p>
                    <a:p>
                      <a:pPr marL="6350">
                        <a:lnSpc>
                          <a:spcPct val="100000"/>
                        </a:lnSpc>
                      </a:pPr>
                      <a:r>
                        <a:rPr dirty="0" sz="800" spc="-20">
                          <a:latin typeface="Microsoft YaHei"/>
                          <a:cs typeface="Microsoft YaHei"/>
                        </a:rPr>
                        <a:t>垂直面波瓣宽度：</a:t>
                      </a:r>
                      <a:endParaRPr sz="800">
                        <a:latin typeface="Microsoft YaHei"/>
                        <a:cs typeface="Microsoft YaHei"/>
                      </a:endParaRPr>
                    </a:p>
                    <a:p>
                      <a:pPr marL="6350">
                        <a:lnSpc>
                          <a:spcPct val="100000"/>
                        </a:lnSpc>
                      </a:pPr>
                      <a:r>
                        <a:rPr dirty="0" sz="800" spc="-10">
                          <a:latin typeface="Microsoft YaHei"/>
                          <a:cs typeface="Microsoft YaHei"/>
                        </a:rPr>
                        <a:t>60°~90°</a:t>
                      </a:r>
                      <a:endParaRPr sz="800">
                        <a:latin typeface="Microsoft YaHei"/>
                        <a:cs typeface="Microsoft YaHei"/>
                      </a:endParaRPr>
                    </a:p>
                    <a:p>
                      <a:pPr algn="just" marL="6350" marR="150495">
                        <a:lnSpc>
                          <a:spcPct val="100000"/>
                        </a:lnSpc>
                      </a:pPr>
                      <a:r>
                        <a:rPr dirty="0" sz="800" spc="-10">
                          <a:latin typeface="Microsoft YaHei"/>
                          <a:cs typeface="Microsoft YaHei"/>
                        </a:rPr>
                        <a:t>隔离度：≥25dB不圆度：2~3dB</a:t>
                      </a:r>
                      <a:r>
                        <a:rPr dirty="0" sz="800" spc="-20">
                          <a:latin typeface="Microsoft YaHei"/>
                          <a:cs typeface="Microsoft YaHei"/>
                        </a:rPr>
                        <a:t>驻波比：＜</a:t>
                      </a:r>
                      <a:r>
                        <a:rPr dirty="0" sz="800" spc="-25">
                          <a:latin typeface="Microsoft YaHei"/>
                          <a:cs typeface="Microsoft YaHei"/>
                        </a:rPr>
                        <a:t>2</a:t>
                      </a:r>
                      <a:endParaRPr sz="800">
                        <a:latin typeface="Microsoft YaHei"/>
                        <a:cs typeface="Microsoft YaHei"/>
                      </a:endParaRPr>
                    </a:p>
                    <a:p>
                      <a:pPr marL="6350">
                        <a:lnSpc>
                          <a:spcPct val="100000"/>
                        </a:lnSpc>
                      </a:pPr>
                      <a:r>
                        <a:rPr dirty="0" sz="800" spc="-20">
                          <a:latin typeface="Microsoft YaHei"/>
                          <a:cs typeface="Microsoft YaHei"/>
                        </a:rPr>
                        <a:t>水平面波瓣宽度：</a:t>
                      </a:r>
                      <a:endParaRPr sz="800">
                        <a:latin typeface="Microsoft YaHei"/>
                        <a:cs typeface="Microsoft YaHei"/>
                      </a:endParaRPr>
                    </a:p>
                    <a:p>
                      <a:pPr marL="6350">
                        <a:lnSpc>
                          <a:spcPts val="860"/>
                        </a:lnSpc>
                      </a:pPr>
                      <a:r>
                        <a:rPr dirty="0" sz="800" spc="-20">
                          <a:latin typeface="Microsoft YaHei"/>
                          <a:cs typeface="Microsoft YaHei"/>
                        </a:rPr>
                        <a:t>360°</a:t>
                      </a:r>
                      <a:endParaRPr sz="800">
                        <a:latin typeface="Microsoft YaHei"/>
                        <a:cs typeface="Microsoft YaHei"/>
                      </a:endParaRPr>
                    </a:p>
                  </a:txBody>
                  <a:tcPr marL="0" marR="0" marB="0" marT="57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165"/>
                        </a:spcBef>
                      </a:pPr>
                      <a:endParaRPr sz="800">
                        <a:latin typeface="Times New Roman"/>
                        <a:cs typeface="Times New Roman"/>
                      </a:endParaRPr>
                    </a:p>
                    <a:p>
                      <a:pPr algn="just" marL="6350" marR="43180">
                        <a:lnSpc>
                          <a:spcPct val="100000"/>
                        </a:lnSpc>
                        <a:spcBef>
                          <a:spcPts val="5"/>
                        </a:spcBef>
                      </a:pPr>
                      <a:r>
                        <a:rPr dirty="0" sz="800" spc="-15">
                          <a:latin typeface="Microsoft YaHei"/>
                          <a:cs typeface="Microsoft YaHei"/>
                        </a:rPr>
                        <a:t>采用水平+垂直极化方式：优化不圆度指标，但将导致</a:t>
                      </a:r>
                      <a:r>
                        <a:rPr dirty="0" sz="800" spc="-20">
                          <a:latin typeface="Microsoft YaHei"/>
                          <a:cs typeface="Microsoft YaHei"/>
                        </a:rPr>
                        <a:t>吸顶天线的高度增加</a:t>
                      </a:r>
                      <a:endParaRPr sz="800">
                        <a:latin typeface="Microsoft YaHei"/>
                        <a:cs typeface="Microsoft YaHei"/>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17195">
                <a:tc>
                  <a:txBody>
                    <a:bodyPr/>
                    <a:lstStyle/>
                    <a:p>
                      <a:pPr marL="307975" marR="31115" indent="-269875">
                        <a:lnSpc>
                          <a:spcPct val="100000"/>
                        </a:lnSpc>
                        <a:spcBef>
                          <a:spcPts val="225"/>
                        </a:spcBef>
                      </a:pPr>
                      <a:r>
                        <a:rPr dirty="0" sz="800" spc="-10">
                          <a:latin typeface="Microsoft YaHei"/>
                          <a:cs typeface="Microsoft YaHei"/>
                        </a:rPr>
                        <a:t>3.4~3.6G</a:t>
                      </a:r>
                      <a:r>
                        <a:rPr dirty="0" sz="800" spc="-30">
                          <a:latin typeface="Microsoft YaHei"/>
                          <a:cs typeface="Microsoft YaHei"/>
                        </a:rPr>
                        <a:t>功分</a:t>
                      </a:r>
                      <a:r>
                        <a:rPr dirty="0" sz="800" spc="-50">
                          <a:latin typeface="Microsoft YaHei"/>
                          <a:cs typeface="Microsoft YaHei"/>
                        </a:rPr>
                        <a:t>器</a:t>
                      </a:r>
                      <a:endParaRPr sz="800">
                        <a:latin typeface="Microsoft YaHei"/>
                        <a:cs typeface="Microsoft YaHei"/>
                      </a:endParaRPr>
                    </a:p>
                    <a:p>
                      <a:pPr marL="20955">
                        <a:lnSpc>
                          <a:spcPct val="100000"/>
                        </a:lnSpc>
                      </a:pPr>
                      <a:r>
                        <a:rPr dirty="0" sz="800" spc="-20">
                          <a:latin typeface="Microsoft YaHei"/>
                          <a:cs typeface="Microsoft YaHei"/>
                        </a:rPr>
                        <a:t>(以二功分为例)</a:t>
                      </a:r>
                      <a:endParaRPr sz="800">
                        <a:latin typeface="Microsoft YaHei"/>
                        <a:cs typeface="Microsoft YaHei"/>
                      </a:endParaRPr>
                    </a:p>
                  </a:txBody>
                  <a:tcPr marL="0" marR="0" marB="0" marT="285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265"/>
                        </a:spcBef>
                      </a:pPr>
                      <a:endParaRPr sz="800">
                        <a:latin typeface="Times New Roman"/>
                        <a:cs typeface="Times New Roman"/>
                      </a:endParaRPr>
                    </a:p>
                    <a:p>
                      <a:pPr algn="ctr">
                        <a:lnSpc>
                          <a:spcPct val="100000"/>
                        </a:lnSpc>
                      </a:pPr>
                      <a:r>
                        <a:rPr dirty="0" sz="800" spc="-10">
                          <a:latin typeface="Microsoft YaHei"/>
                          <a:cs typeface="Microsoft YaHei"/>
                        </a:rPr>
                        <a:t>40×25×25</a:t>
                      </a:r>
                      <a:endParaRPr sz="8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2075" marR="13335" indent="-71120">
                        <a:lnSpc>
                          <a:spcPct val="100000"/>
                        </a:lnSpc>
                        <a:spcBef>
                          <a:spcPts val="705"/>
                        </a:spcBef>
                      </a:pPr>
                      <a:r>
                        <a:rPr dirty="0" sz="800" spc="-20">
                          <a:latin typeface="Microsoft YaHei"/>
                          <a:cs typeface="Microsoft YaHei"/>
                        </a:rPr>
                        <a:t>约是现有产品</a:t>
                      </a:r>
                      <a:r>
                        <a:rPr dirty="0" sz="800" spc="-10">
                          <a:latin typeface="Microsoft YaHei"/>
                          <a:cs typeface="Microsoft YaHei"/>
                        </a:rPr>
                        <a:t>体积的</a:t>
                      </a:r>
                      <a:r>
                        <a:rPr dirty="0" sz="800" spc="-25">
                          <a:latin typeface="Microsoft YaHei"/>
                          <a:cs typeface="Microsoft YaHei"/>
                        </a:rPr>
                        <a:t>1/4</a:t>
                      </a:r>
                      <a:endParaRPr sz="800">
                        <a:latin typeface="Microsoft YaHei"/>
                        <a:cs typeface="Microsoft YaHei"/>
                      </a:endParaRPr>
                    </a:p>
                  </a:txBody>
                  <a:tcPr marL="0" marR="0" marB="0" marT="895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0" marR="201930">
                        <a:lnSpc>
                          <a:spcPct val="100000"/>
                        </a:lnSpc>
                        <a:spcBef>
                          <a:spcPts val="705"/>
                        </a:spcBef>
                      </a:pPr>
                      <a:r>
                        <a:rPr dirty="0" sz="800" spc="-15">
                          <a:latin typeface="Microsoft YaHei"/>
                          <a:cs typeface="Microsoft YaHei"/>
                        </a:rPr>
                        <a:t>驻波比：＜</a:t>
                      </a:r>
                      <a:r>
                        <a:rPr dirty="0" sz="800" spc="-20">
                          <a:latin typeface="Microsoft YaHei"/>
                          <a:cs typeface="Microsoft YaHei"/>
                        </a:rPr>
                        <a:t>1.2</a:t>
                      </a:r>
                      <a:r>
                        <a:rPr dirty="0" sz="800" spc="-10">
                          <a:latin typeface="Microsoft YaHei"/>
                          <a:cs typeface="Microsoft YaHei"/>
                        </a:rPr>
                        <a:t>插损：＜3.3dB</a:t>
                      </a:r>
                      <a:endParaRPr sz="800">
                        <a:latin typeface="Microsoft YaHei"/>
                        <a:cs typeface="Microsoft YaHei"/>
                      </a:endParaRPr>
                    </a:p>
                  </a:txBody>
                  <a:tcPr marL="0" marR="0" marB="0" marT="895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0" marR="40640">
                        <a:lnSpc>
                          <a:spcPct val="100000"/>
                        </a:lnSpc>
                        <a:spcBef>
                          <a:spcPts val="705"/>
                        </a:spcBef>
                      </a:pPr>
                      <a:r>
                        <a:rPr dirty="0" sz="800" spc="-15">
                          <a:latin typeface="Microsoft YaHei"/>
                          <a:cs typeface="Microsoft YaHei"/>
                        </a:rPr>
                        <a:t>采用单节阻抗变换方式实现</a:t>
                      </a:r>
                      <a:r>
                        <a:rPr dirty="0" sz="800" spc="-20">
                          <a:latin typeface="Microsoft YaHei"/>
                          <a:cs typeface="Microsoft YaHei"/>
                        </a:rPr>
                        <a:t>长度可显著缩短</a:t>
                      </a:r>
                      <a:endParaRPr sz="800">
                        <a:latin typeface="Microsoft YaHei"/>
                        <a:cs typeface="Microsoft YaHei"/>
                      </a:endParaRPr>
                    </a:p>
                  </a:txBody>
                  <a:tcPr marL="0" marR="0" marB="0" marT="895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4180">
                <a:tc>
                  <a:txBody>
                    <a:bodyPr/>
                    <a:lstStyle/>
                    <a:p>
                      <a:pPr marL="307975" marR="31115" indent="-269875">
                        <a:lnSpc>
                          <a:spcPct val="100000"/>
                        </a:lnSpc>
                        <a:spcBef>
                          <a:spcPts val="735"/>
                        </a:spcBef>
                      </a:pPr>
                      <a:r>
                        <a:rPr dirty="0" sz="800" spc="-10">
                          <a:latin typeface="Microsoft YaHei"/>
                          <a:cs typeface="Microsoft YaHei"/>
                        </a:rPr>
                        <a:t>3.4~3.6G</a:t>
                      </a:r>
                      <a:r>
                        <a:rPr dirty="0" sz="800" spc="-30">
                          <a:latin typeface="Microsoft YaHei"/>
                          <a:cs typeface="Microsoft YaHei"/>
                        </a:rPr>
                        <a:t>耦合</a:t>
                      </a:r>
                      <a:r>
                        <a:rPr dirty="0" sz="800" spc="-50">
                          <a:latin typeface="Microsoft YaHei"/>
                          <a:cs typeface="Microsoft YaHei"/>
                        </a:rPr>
                        <a:t>器</a:t>
                      </a:r>
                      <a:endParaRPr sz="800">
                        <a:latin typeface="Microsoft YaHei"/>
                        <a:cs typeface="Microsoft YaHei"/>
                      </a:endParaRPr>
                    </a:p>
                  </a:txBody>
                  <a:tcPr marL="0" marR="0" marB="0" marT="9334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290"/>
                        </a:spcBef>
                      </a:pPr>
                      <a:endParaRPr sz="800">
                        <a:latin typeface="Times New Roman"/>
                        <a:cs typeface="Times New Roman"/>
                      </a:endParaRPr>
                    </a:p>
                    <a:p>
                      <a:pPr algn="ctr">
                        <a:lnSpc>
                          <a:spcPct val="100000"/>
                        </a:lnSpc>
                        <a:spcBef>
                          <a:spcPts val="5"/>
                        </a:spcBef>
                      </a:pPr>
                      <a:r>
                        <a:rPr dirty="0" sz="800" spc="-10">
                          <a:latin typeface="Microsoft YaHei"/>
                          <a:cs typeface="Microsoft YaHei"/>
                        </a:rPr>
                        <a:t>45×43.8×22.4</a:t>
                      </a:r>
                      <a:endParaRPr sz="800">
                        <a:latin typeface="Microsoft YaHei"/>
                        <a:cs typeface="Microsoft YaHei"/>
                      </a:endParaRPr>
                    </a:p>
                  </a:txBody>
                  <a:tcPr marL="0" marR="0" marB="0" marT="3683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2075" marR="13335" indent="-71120">
                        <a:lnSpc>
                          <a:spcPct val="100000"/>
                        </a:lnSpc>
                        <a:spcBef>
                          <a:spcPts val="735"/>
                        </a:spcBef>
                      </a:pPr>
                      <a:r>
                        <a:rPr dirty="0" sz="800" spc="-20">
                          <a:latin typeface="Microsoft YaHei"/>
                          <a:cs typeface="Microsoft YaHei"/>
                        </a:rPr>
                        <a:t>约是现有产品</a:t>
                      </a:r>
                      <a:r>
                        <a:rPr dirty="0" sz="800" spc="-10">
                          <a:latin typeface="Microsoft YaHei"/>
                          <a:cs typeface="Microsoft YaHei"/>
                        </a:rPr>
                        <a:t>体积的</a:t>
                      </a:r>
                      <a:r>
                        <a:rPr dirty="0" sz="800" spc="-25">
                          <a:latin typeface="Microsoft YaHei"/>
                          <a:cs typeface="Microsoft YaHei"/>
                        </a:rPr>
                        <a:t>1/2</a:t>
                      </a:r>
                      <a:endParaRPr sz="800">
                        <a:latin typeface="Microsoft YaHei"/>
                        <a:cs typeface="Microsoft YaHei"/>
                      </a:endParaRPr>
                    </a:p>
                  </a:txBody>
                  <a:tcPr marL="0" marR="0" marB="0" marT="9334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0" marR="26034">
                        <a:lnSpc>
                          <a:spcPct val="100000"/>
                        </a:lnSpc>
                        <a:spcBef>
                          <a:spcPts val="735"/>
                        </a:spcBef>
                      </a:pPr>
                      <a:r>
                        <a:rPr dirty="0" sz="800" spc="-10">
                          <a:latin typeface="Microsoft YaHei"/>
                          <a:cs typeface="Microsoft YaHei"/>
                        </a:rPr>
                        <a:t>耦合精度:≤±0.8dB</a:t>
                      </a:r>
                      <a:r>
                        <a:rPr dirty="0" sz="800" spc="-15">
                          <a:latin typeface="Microsoft YaHei"/>
                          <a:cs typeface="Microsoft YaHei"/>
                        </a:rPr>
                        <a:t>驻波比：＜</a:t>
                      </a:r>
                      <a:r>
                        <a:rPr dirty="0" sz="800" spc="-20">
                          <a:latin typeface="Microsoft YaHei"/>
                          <a:cs typeface="Microsoft YaHei"/>
                        </a:rPr>
                        <a:t>1.2</a:t>
                      </a:r>
                      <a:endParaRPr sz="800">
                        <a:latin typeface="Microsoft YaHei"/>
                        <a:cs typeface="Microsoft YaHei"/>
                      </a:endParaRPr>
                    </a:p>
                  </a:txBody>
                  <a:tcPr marL="0" marR="0" marB="0" marT="9334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0" marR="43180">
                        <a:lnSpc>
                          <a:spcPct val="100000"/>
                        </a:lnSpc>
                        <a:spcBef>
                          <a:spcPts val="735"/>
                        </a:spcBef>
                      </a:pPr>
                      <a:r>
                        <a:rPr dirty="0" sz="800" spc="-15">
                          <a:latin typeface="Microsoft YaHei"/>
                          <a:cs typeface="Microsoft YaHei"/>
                        </a:rPr>
                        <a:t>腔体内采用单节导带耦合，</a:t>
                      </a:r>
                      <a:r>
                        <a:rPr dirty="0" sz="800" spc="-20">
                          <a:latin typeface="Microsoft YaHei"/>
                          <a:cs typeface="Microsoft YaHei"/>
                        </a:rPr>
                        <a:t>体积可明显减少</a:t>
                      </a:r>
                      <a:endParaRPr sz="800">
                        <a:latin typeface="Microsoft YaHei"/>
                        <a:cs typeface="Microsoft YaHei"/>
                      </a:endParaRPr>
                    </a:p>
                  </a:txBody>
                  <a:tcPr marL="0" marR="0" marB="0" marT="9334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81" name="object 81" descr=""/>
          <p:cNvSpPr txBox="1"/>
          <p:nvPr/>
        </p:nvSpPr>
        <p:spPr>
          <a:xfrm>
            <a:off x="397920" y="3397849"/>
            <a:ext cx="8292465" cy="739140"/>
          </a:xfrm>
          <a:prstGeom prst="rect">
            <a:avLst/>
          </a:prstGeom>
        </p:spPr>
        <p:txBody>
          <a:bodyPr wrap="square" lIns="0" tIns="12700" rIns="0" bIns="0" rtlCol="0" vert="horz">
            <a:spAutoFit/>
          </a:bodyPr>
          <a:lstStyle/>
          <a:p>
            <a:pPr algn="just" marL="244475" marR="5080" indent="-232410">
              <a:lnSpc>
                <a:spcPct val="130000"/>
              </a:lnSpc>
              <a:spcBef>
                <a:spcPts val="100"/>
              </a:spcBef>
              <a:buClr>
                <a:srgbClr val="FF0000"/>
              </a:buClr>
              <a:buFont typeface="Wingdings"/>
              <a:buChar char=""/>
              <a:tabLst>
                <a:tab pos="245745" algn="l"/>
              </a:tabLst>
            </a:pPr>
            <a:r>
              <a:rPr dirty="0" sz="1200">
                <a:latin typeface="Microsoft YaHei"/>
                <a:cs typeface="Microsoft YaHei"/>
              </a:rPr>
              <a:t>运营商翻频现有频率供</a:t>
            </a:r>
            <a:r>
              <a:rPr dirty="0" sz="1200" spc="-10">
                <a:latin typeface="Microsoft YaHei"/>
                <a:cs typeface="Microsoft YaHei"/>
              </a:rPr>
              <a:t>5G</a:t>
            </a:r>
            <a:r>
              <a:rPr dirty="0" sz="1200" spc="-5">
                <a:latin typeface="Microsoft YaHei"/>
                <a:cs typeface="Microsoft YaHei"/>
              </a:rPr>
              <a:t>室内使用，从目前看</a:t>
            </a:r>
            <a:r>
              <a:rPr dirty="0" sz="1200">
                <a:solidFill>
                  <a:srgbClr val="C00000"/>
                </a:solidFill>
                <a:latin typeface="Microsoft YaHei"/>
                <a:cs typeface="Microsoft YaHei"/>
              </a:rPr>
              <a:t>联通</a:t>
            </a:r>
            <a:r>
              <a:rPr dirty="0" sz="1200" spc="-10">
                <a:latin typeface="Microsoft YaHei"/>
                <a:cs typeface="Microsoft YaHei"/>
              </a:rPr>
              <a:t>TD-</a:t>
            </a:r>
            <a:r>
              <a:rPr dirty="0" sz="1200" spc="-35">
                <a:latin typeface="Microsoft YaHei"/>
                <a:cs typeface="Microsoft YaHei"/>
              </a:rPr>
              <a:t>LTE</a:t>
            </a:r>
            <a:r>
              <a:rPr dirty="0" sz="1200">
                <a:latin typeface="Microsoft YaHei"/>
                <a:cs typeface="Microsoft YaHei"/>
              </a:rPr>
              <a:t>有</a:t>
            </a:r>
            <a:r>
              <a:rPr dirty="0" sz="1200" spc="-10">
                <a:latin typeface="Microsoft YaHei"/>
                <a:cs typeface="Microsoft YaHei"/>
              </a:rPr>
              <a:t>40M</a:t>
            </a:r>
            <a:r>
              <a:rPr dirty="0" sz="1200">
                <a:latin typeface="Microsoft YaHei"/>
                <a:cs typeface="Microsoft YaHei"/>
              </a:rPr>
              <a:t>带宽闲置，</a:t>
            </a:r>
            <a:r>
              <a:rPr dirty="0" sz="1200">
                <a:solidFill>
                  <a:srgbClr val="C00000"/>
                </a:solidFill>
                <a:latin typeface="Microsoft YaHei"/>
                <a:cs typeface="Microsoft YaHei"/>
              </a:rPr>
              <a:t>电信</a:t>
            </a:r>
            <a:r>
              <a:rPr dirty="0" sz="1200">
                <a:latin typeface="Microsoft YaHei"/>
                <a:cs typeface="Microsoft YaHei"/>
              </a:rPr>
              <a:t>有</a:t>
            </a:r>
            <a:r>
              <a:rPr dirty="0" sz="1200" spc="-10">
                <a:latin typeface="Microsoft YaHei"/>
                <a:cs typeface="Microsoft YaHei"/>
              </a:rPr>
              <a:t>20M</a:t>
            </a:r>
            <a:r>
              <a:rPr dirty="0" sz="1200">
                <a:latin typeface="Microsoft YaHei"/>
                <a:cs typeface="Microsoft YaHei"/>
              </a:rPr>
              <a:t>闲置，</a:t>
            </a:r>
            <a:r>
              <a:rPr dirty="0" sz="1200">
                <a:solidFill>
                  <a:srgbClr val="C00000"/>
                </a:solidFill>
                <a:latin typeface="Microsoft YaHei"/>
                <a:cs typeface="Microsoft YaHei"/>
              </a:rPr>
              <a:t>移动</a:t>
            </a:r>
            <a:r>
              <a:rPr dirty="0" sz="1200">
                <a:latin typeface="Microsoft YaHei"/>
                <a:cs typeface="Microsoft YaHei"/>
              </a:rPr>
              <a:t>如果后续启用</a:t>
            </a:r>
            <a:r>
              <a:rPr dirty="0" sz="1200" spc="-10">
                <a:latin typeface="Microsoft YaHei"/>
                <a:cs typeface="Microsoft YaHei"/>
              </a:rPr>
              <a:t>900</a:t>
            </a:r>
            <a:r>
              <a:rPr dirty="0" sz="1200" spc="-50">
                <a:latin typeface="Microsoft YaHei"/>
                <a:cs typeface="Microsoft YaHei"/>
              </a:rPr>
              <a:t>、 </a:t>
            </a:r>
            <a:r>
              <a:rPr dirty="0" sz="1200" spc="-50">
                <a:latin typeface="Microsoft YaHei"/>
                <a:cs typeface="Microsoft YaHei"/>
              </a:rPr>
              <a:t>	</a:t>
            </a:r>
            <a:r>
              <a:rPr dirty="0" sz="1200" spc="-10">
                <a:latin typeface="Microsoft YaHei"/>
                <a:cs typeface="Microsoft YaHei"/>
              </a:rPr>
              <a:t>1800LTE</a:t>
            </a:r>
            <a:r>
              <a:rPr dirty="0" sz="1200" spc="-30">
                <a:latin typeface="Microsoft YaHei"/>
                <a:cs typeface="Microsoft YaHei"/>
              </a:rPr>
              <a:t> </a:t>
            </a:r>
            <a:r>
              <a:rPr dirty="0" sz="1200" spc="-10">
                <a:latin typeface="Microsoft YaHei"/>
                <a:cs typeface="Microsoft YaHei"/>
              </a:rPr>
              <a:t>FDD</a:t>
            </a:r>
            <a:r>
              <a:rPr dirty="0" sz="1200">
                <a:latin typeface="Microsoft YaHei"/>
                <a:cs typeface="Microsoft YaHei"/>
              </a:rPr>
              <a:t>系统，可以释放现阶段</a:t>
            </a:r>
            <a:r>
              <a:rPr dirty="0" sz="1200" spc="-10">
                <a:latin typeface="Microsoft YaHei"/>
                <a:cs typeface="Microsoft YaHei"/>
              </a:rPr>
              <a:t>F/A/E</a:t>
            </a:r>
            <a:r>
              <a:rPr dirty="0" sz="1200">
                <a:latin typeface="Microsoft YaHei"/>
                <a:cs typeface="Microsoft YaHei"/>
              </a:rPr>
              <a:t>部分频段，且可将</a:t>
            </a:r>
            <a:r>
              <a:rPr dirty="0" sz="1200" spc="-10">
                <a:latin typeface="Microsoft YaHei"/>
                <a:cs typeface="Microsoft YaHei"/>
              </a:rPr>
              <a:t>D</a:t>
            </a:r>
            <a:r>
              <a:rPr dirty="0" sz="1200" spc="-5">
                <a:latin typeface="Microsoft YaHei"/>
                <a:cs typeface="Microsoft YaHei"/>
              </a:rPr>
              <a:t>频段引入室内，因此三家实际上都有翻频的资源。同时通</a:t>
            </a:r>
            <a:r>
              <a:rPr dirty="0" sz="1200" spc="-5">
                <a:latin typeface="Microsoft YaHei"/>
                <a:cs typeface="Microsoft YaHei"/>
              </a:rPr>
              <a:t>	</a:t>
            </a:r>
            <a:r>
              <a:rPr dirty="0" sz="1200">
                <a:latin typeface="Microsoft YaHei"/>
                <a:cs typeface="Microsoft YaHei"/>
              </a:rPr>
              <a:t>过</a:t>
            </a:r>
            <a:r>
              <a:rPr dirty="0" sz="1200" spc="-10">
                <a:solidFill>
                  <a:srgbClr val="C00000"/>
                </a:solidFill>
                <a:latin typeface="Microsoft YaHei"/>
                <a:cs typeface="Microsoft YaHei"/>
              </a:rPr>
              <a:t>5G</a:t>
            </a:r>
            <a:r>
              <a:rPr dirty="0" sz="1200">
                <a:solidFill>
                  <a:srgbClr val="C00000"/>
                </a:solidFill>
                <a:latin typeface="Microsoft YaHei"/>
                <a:cs typeface="Microsoft YaHei"/>
              </a:rPr>
              <a:t>新空口技术</a:t>
            </a:r>
            <a:r>
              <a:rPr dirty="0" sz="1200">
                <a:latin typeface="Microsoft YaHei"/>
                <a:cs typeface="Microsoft YaHei"/>
              </a:rPr>
              <a:t>，也可实现</a:t>
            </a:r>
            <a:r>
              <a:rPr dirty="0" sz="1200" spc="-10">
                <a:latin typeface="Microsoft YaHei"/>
                <a:cs typeface="Microsoft YaHei"/>
              </a:rPr>
              <a:t>4G/5G</a:t>
            </a:r>
            <a:r>
              <a:rPr dirty="0" sz="1200">
                <a:latin typeface="Microsoft YaHei"/>
                <a:cs typeface="Microsoft YaHei"/>
              </a:rPr>
              <a:t>共频使用，</a:t>
            </a:r>
            <a:r>
              <a:rPr dirty="0" sz="1200">
                <a:solidFill>
                  <a:srgbClr val="C00000"/>
                </a:solidFill>
                <a:latin typeface="Microsoft YaHei"/>
                <a:cs typeface="Microsoft YaHei"/>
              </a:rPr>
              <a:t>通过时域进行划分。</a:t>
            </a:r>
            <a:r>
              <a:rPr dirty="0" sz="1200">
                <a:latin typeface="Microsoft YaHei"/>
                <a:cs typeface="Microsoft YaHei"/>
              </a:rPr>
              <a:t>需要开发支持更多频段的</a:t>
            </a:r>
            <a:r>
              <a:rPr dirty="0" sz="1200" spc="-10">
                <a:latin typeface="Microsoft YaHei"/>
                <a:cs typeface="Microsoft YaHei"/>
              </a:rPr>
              <a:t>POI</a:t>
            </a:r>
            <a:r>
              <a:rPr dirty="0" sz="1200" spc="-50">
                <a:latin typeface="Microsoft YaHei"/>
                <a:cs typeface="Microsoft YaHei"/>
              </a:rPr>
              <a:t>。</a:t>
            </a:r>
            <a:endParaRPr sz="1200">
              <a:latin typeface="Microsoft YaHei"/>
              <a:cs typeface="Microsoft YaHei"/>
            </a:endParaRPr>
          </a:p>
        </p:txBody>
      </p:sp>
      <p:sp>
        <p:nvSpPr>
          <p:cNvPr id="82" name="object 82" descr=""/>
          <p:cNvSpPr txBox="1"/>
          <p:nvPr/>
        </p:nvSpPr>
        <p:spPr>
          <a:xfrm>
            <a:off x="3419403" y="4076809"/>
            <a:ext cx="2038350" cy="524510"/>
          </a:xfrm>
          <a:prstGeom prst="rect">
            <a:avLst/>
          </a:prstGeom>
        </p:spPr>
        <p:txBody>
          <a:bodyPr wrap="square" lIns="0" tIns="78740" rIns="0" bIns="0" rtlCol="0" vert="horz">
            <a:spAutoFit/>
          </a:bodyPr>
          <a:lstStyle/>
          <a:p>
            <a:pPr algn="ctr">
              <a:lnSpc>
                <a:spcPct val="100000"/>
              </a:lnSpc>
              <a:spcBef>
                <a:spcPts val="620"/>
              </a:spcBef>
            </a:pPr>
            <a:r>
              <a:rPr dirty="0" sz="1400">
                <a:latin typeface="Microsoft YaHei"/>
                <a:cs typeface="Microsoft YaHei"/>
              </a:rPr>
              <a:t>Cloud</a:t>
            </a:r>
            <a:r>
              <a:rPr dirty="0" sz="1400" spc="-50">
                <a:latin typeface="Microsoft YaHei"/>
                <a:cs typeface="Microsoft YaHei"/>
              </a:rPr>
              <a:t> </a:t>
            </a:r>
            <a:r>
              <a:rPr dirty="0" sz="1400" spc="-25">
                <a:latin typeface="Microsoft YaHei"/>
                <a:cs typeface="Microsoft YaHei"/>
              </a:rPr>
              <a:t>Air</a:t>
            </a:r>
            <a:endParaRPr sz="1400">
              <a:latin typeface="Microsoft YaHei"/>
              <a:cs typeface="Microsoft YaHei"/>
            </a:endParaRPr>
          </a:p>
          <a:p>
            <a:pPr algn="ctr">
              <a:lnSpc>
                <a:spcPct val="100000"/>
              </a:lnSpc>
              <a:spcBef>
                <a:spcPts val="405"/>
              </a:spcBef>
            </a:pPr>
            <a:r>
              <a:rPr dirty="0" sz="1100" spc="-20">
                <a:latin typeface="Microsoft YaHei"/>
                <a:cs typeface="Microsoft YaHei"/>
              </a:rPr>
              <a:t>使&lt;</a:t>
            </a:r>
            <a:r>
              <a:rPr dirty="0" sz="1100" spc="-10">
                <a:latin typeface="Microsoft YaHei"/>
                <a:cs typeface="Microsoft YaHei"/>
              </a:rPr>
              <a:t>3GHz</a:t>
            </a:r>
            <a:r>
              <a:rPr dirty="0" sz="1100" spc="-20">
                <a:latin typeface="Microsoft YaHei"/>
                <a:cs typeface="Microsoft YaHei"/>
              </a:rPr>
              <a:t>未来与</a:t>
            </a:r>
            <a:r>
              <a:rPr dirty="0" sz="1100">
                <a:latin typeface="Microsoft YaHei"/>
                <a:cs typeface="Microsoft YaHei"/>
              </a:rPr>
              <a:t>5G</a:t>
            </a:r>
            <a:r>
              <a:rPr dirty="0" sz="1100" spc="80">
                <a:latin typeface="Microsoft YaHei"/>
                <a:cs typeface="Microsoft YaHei"/>
              </a:rPr>
              <a:t> </a:t>
            </a:r>
            <a:r>
              <a:rPr dirty="0" sz="1100" spc="-10">
                <a:latin typeface="Microsoft YaHei"/>
                <a:cs typeface="Microsoft YaHei"/>
              </a:rPr>
              <a:t>NR</a:t>
            </a:r>
            <a:r>
              <a:rPr dirty="0" sz="1100" spc="-30">
                <a:latin typeface="Microsoft YaHei"/>
                <a:cs typeface="Microsoft YaHei"/>
              </a:rPr>
              <a:t>平滑共存</a:t>
            </a:r>
            <a:endParaRPr sz="1100">
              <a:latin typeface="Microsoft YaHei"/>
              <a:cs typeface="Microsoft YaHei"/>
            </a:endParaRPr>
          </a:p>
        </p:txBody>
      </p:sp>
      <p:sp>
        <p:nvSpPr>
          <p:cNvPr id="83" name="object 83" descr=""/>
          <p:cNvSpPr/>
          <p:nvPr/>
        </p:nvSpPr>
        <p:spPr>
          <a:xfrm>
            <a:off x="2162081" y="4414003"/>
            <a:ext cx="253365" cy="87630"/>
          </a:xfrm>
          <a:custGeom>
            <a:avLst/>
            <a:gdLst/>
            <a:ahLst/>
            <a:cxnLst/>
            <a:rect l="l" t="t" r="r" b="b"/>
            <a:pathLst>
              <a:path w="253364" h="87629">
                <a:moveTo>
                  <a:pt x="252818" y="0"/>
                </a:moveTo>
                <a:lnTo>
                  <a:pt x="0" y="0"/>
                </a:lnTo>
                <a:lnTo>
                  <a:pt x="0" y="87033"/>
                </a:lnTo>
                <a:lnTo>
                  <a:pt x="252818" y="87033"/>
                </a:lnTo>
                <a:lnTo>
                  <a:pt x="252818" y="0"/>
                </a:lnTo>
                <a:close/>
              </a:path>
            </a:pathLst>
          </a:custGeom>
          <a:solidFill>
            <a:srgbClr val="93CDDD"/>
          </a:solidFill>
        </p:spPr>
        <p:txBody>
          <a:bodyPr wrap="square" lIns="0" tIns="0" rIns="0" bIns="0" rtlCol="0"/>
          <a:lstStyle/>
          <a:p/>
        </p:txBody>
      </p:sp>
      <p:sp>
        <p:nvSpPr>
          <p:cNvPr id="84" name="object 84" descr=""/>
          <p:cNvSpPr/>
          <p:nvPr/>
        </p:nvSpPr>
        <p:spPr>
          <a:xfrm>
            <a:off x="2693129" y="4411822"/>
            <a:ext cx="253365" cy="87630"/>
          </a:xfrm>
          <a:custGeom>
            <a:avLst/>
            <a:gdLst/>
            <a:ahLst/>
            <a:cxnLst/>
            <a:rect l="l" t="t" r="r" b="b"/>
            <a:pathLst>
              <a:path w="253364" h="87629">
                <a:moveTo>
                  <a:pt x="252818" y="0"/>
                </a:moveTo>
                <a:lnTo>
                  <a:pt x="0" y="0"/>
                </a:lnTo>
                <a:lnTo>
                  <a:pt x="0" y="87033"/>
                </a:lnTo>
                <a:lnTo>
                  <a:pt x="252818" y="87033"/>
                </a:lnTo>
                <a:lnTo>
                  <a:pt x="252818" y="0"/>
                </a:lnTo>
                <a:close/>
              </a:path>
            </a:pathLst>
          </a:custGeom>
          <a:solidFill>
            <a:srgbClr val="FFC000"/>
          </a:solidFill>
        </p:spPr>
        <p:txBody>
          <a:bodyPr wrap="square" lIns="0" tIns="0" rIns="0" bIns="0" rtlCol="0"/>
          <a:lstStyle/>
          <a:p/>
        </p:txBody>
      </p:sp>
      <p:sp>
        <p:nvSpPr>
          <p:cNvPr id="85" name="object 85" descr=""/>
          <p:cNvSpPr txBox="1"/>
          <p:nvPr/>
        </p:nvSpPr>
        <p:spPr>
          <a:xfrm>
            <a:off x="1585709" y="4176237"/>
            <a:ext cx="1077595" cy="372110"/>
          </a:xfrm>
          <a:prstGeom prst="rect">
            <a:avLst/>
          </a:prstGeom>
        </p:spPr>
        <p:txBody>
          <a:bodyPr wrap="square" lIns="0" tIns="74930" rIns="0" bIns="0" rtlCol="0" vert="horz">
            <a:spAutoFit/>
          </a:bodyPr>
          <a:lstStyle/>
          <a:p>
            <a:pPr marL="12700">
              <a:lnSpc>
                <a:spcPct val="100000"/>
              </a:lnSpc>
              <a:spcBef>
                <a:spcPts val="590"/>
              </a:spcBef>
            </a:pPr>
            <a:r>
              <a:rPr dirty="0" sz="800" spc="-10">
                <a:latin typeface="Microsoft YaHei"/>
                <a:cs typeface="Microsoft YaHei"/>
              </a:rPr>
              <a:t>Traditional</a:t>
            </a:r>
            <a:r>
              <a:rPr dirty="0" sz="800" spc="45">
                <a:latin typeface="Microsoft YaHei"/>
                <a:cs typeface="Microsoft YaHei"/>
              </a:rPr>
              <a:t> </a:t>
            </a:r>
            <a:r>
              <a:rPr dirty="0" sz="800" spc="-10">
                <a:latin typeface="Microsoft YaHei"/>
                <a:cs typeface="Microsoft YaHei"/>
              </a:rPr>
              <a:t>Refarming</a:t>
            </a:r>
            <a:endParaRPr sz="800">
              <a:latin typeface="Microsoft YaHei"/>
              <a:cs typeface="Microsoft YaHei"/>
            </a:endParaRPr>
          </a:p>
          <a:p>
            <a:pPr algn="r" marR="69215">
              <a:lnSpc>
                <a:spcPct val="100000"/>
              </a:lnSpc>
              <a:spcBef>
                <a:spcPts val="434"/>
              </a:spcBef>
            </a:pPr>
            <a:r>
              <a:rPr dirty="0" sz="700" spc="-25">
                <a:latin typeface="Microsoft YaHei"/>
                <a:cs typeface="Microsoft YaHei"/>
              </a:rPr>
              <a:t>LTE</a:t>
            </a:r>
            <a:endParaRPr sz="700">
              <a:latin typeface="Microsoft YaHei"/>
              <a:cs typeface="Microsoft YaHei"/>
            </a:endParaRPr>
          </a:p>
        </p:txBody>
      </p:sp>
      <p:sp>
        <p:nvSpPr>
          <p:cNvPr id="86" name="object 86" descr=""/>
          <p:cNvSpPr txBox="1"/>
          <p:nvPr/>
        </p:nvSpPr>
        <p:spPr>
          <a:xfrm>
            <a:off x="3009442" y="4415368"/>
            <a:ext cx="301625" cy="132715"/>
          </a:xfrm>
          <a:prstGeom prst="rect">
            <a:avLst/>
          </a:prstGeom>
        </p:spPr>
        <p:txBody>
          <a:bodyPr wrap="square" lIns="0" tIns="12700" rIns="0" bIns="0" rtlCol="0" vert="horz">
            <a:spAutoFit/>
          </a:bodyPr>
          <a:lstStyle/>
          <a:p>
            <a:pPr marL="12700">
              <a:lnSpc>
                <a:spcPct val="100000"/>
              </a:lnSpc>
              <a:spcBef>
                <a:spcPts val="100"/>
              </a:spcBef>
            </a:pPr>
            <a:r>
              <a:rPr dirty="0" sz="700">
                <a:latin typeface="Microsoft YaHei"/>
                <a:cs typeface="Microsoft YaHei"/>
              </a:rPr>
              <a:t>5G</a:t>
            </a:r>
            <a:r>
              <a:rPr dirty="0" sz="700" spc="-10">
                <a:latin typeface="Microsoft YaHei"/>
                <a:cs typeface="Microsoft YaHei"/>
              </a:rPr>
              <a:t> </a:t>
            </a:r>
            <a:r>
              <a:rPr dirty="0" sz="700" spc="-25">
                <a:latin typeface="Microsoft YaHei"/>
                <a:cs typeface="Microsoft YaHei"/>
              </a:rPr>
              <a:t>NR</a:t>
            </a:r>
            <a:endParaRPr sz="700">
              <a:latin typeface="Microsoft YaHei"/>
              <a:cs typeface="Microsoft YaHei"/>
            </a:endParaRPr>
          </a:p>
        </p:txBody>
      </p:sp>
      <p:grpSp>
        <p:nvGrpSpPr>
          <p:cNvPr id="87" name="object 87" descr=""/>
          <p:cNvGrpSpPr/>
          <p:nvPr/>
        </p:nvGrpSpPr>
        <p:grpSpPr>
          <a:xfrm>
            <a:off x="910473" y="4578960"/>
            <a:ext cx="2017395" cy="388620"/>
            <a:chOff x="910473" y="4578960"/>
            <a:chExt cx="2017395" cy="388620"/>
          </a:xfrm>
        </p:grpSpPr>
        <p:sp>
          <p:nvSpPr>
            <p:cNvPr id="88" name="object 88" descr=""/>
            <p:cNvSpPr/>
            <p:nvPr/>
          </p:nvSpPr>
          <p:spPr>
            <a:xfrm>
              <a:off x="910473" y="4588493"/>
              <a:ext cx="1219835" cy="379095"/>
            </a:xfrm>
            <a:custGeom>
              <a:avLst/>
              <a:gdLst/>
              <a:ahLst/>
              <a:cxnLst/>
              <a:rect l="l" t="t" r="r" b="b"/>
              <a:pathLst>
                <a:path w="1219835" h="379095">
                  <a:moveTo>
                    <a:pt x="1124991" y="0"/>
                  </a:moveTo>
                  <a:lnTo>
                    <a:pt x="94691" y="0"/>
                  </a:lnTo>
                  <a:lnTo>
                    <a:pt x="0" y="378764"/>
                  </a:lnTo>
                  <a:lnTo>
                    <a:pt x="1219682" y="378764"/>
                  </a:lnTo>
                  <a:lnTo>
                    <a:pt x="1124991" y="0"/>
                  </a:lnTo>
                  <a:close/>
                </a:path>
              </a:pathLst>
            </a:custGeom>
            <a:solidFill>
              <a:srgbClr val="93CDDD"/>
            </a:solidFill>
          </p:spPr>
          <p:txBody>
            <a:bodyPr wrap="square" lIns="0" tIns="0" rIns="0" bIns="0" rtlCol="0"/>
            <a:lstStyle/>
            <a:p/>
          </p:txBody>
        </p:sp>
        <p:sp>
          <p:nvSpPr>
            <p:cNvPr id="89" name="object 89" descr=""/>
            <p:cNvSpPr/>
            <p:nvPr/>
          </p:nvSpPr>
          <p:spPr>
            <a:xfrm>
              <a:off x="2130159" y="4583723"/>
              <a:ext cx="793115" cy="379095"/>
            </a:xfrm>
            <a:custGeom>
              <a:avLst/>
              <a:gdLst/>
              <a:ahLst/>
              <a:cxnLst/>
              <a:rect l="l" t="t" r="r" b="b"/>
              <a:pathLst>
                <a:path w="793114" h="379095">
                  <a:moveTo>
                    <a:pt x="698106" y="0"/>
                  </a:moveTo>
                  <a:lnTo>
                    <a:pt x="94691" y="0"/>
                  </a:lnTo>
                  <a:lnTo>
                    <a:pt x="0" y="378764"/>
                  </a:lnTo>
                  <a:lnTo>
                    <a:pt x="792797" y="378764"/>
                  </a:lnTo>
                  <a:lnTo>
                    <a:pt x="698106" y="0"/>
                  </a:lnTo>
                  <a:close/>
                </a:path>
              </a:pathLst>
            </a:custGeom>
            <a:solidFill>
              <a:srgbClr val="FFC000"/>
            </a:solidFill>
          </p:spPr>
          <p:txBody>
            <a:bodyPr wrap="square" lIns="0" tIns="0" rIns="0" bIns="0" rtlCol="0"/>
            <a:lstStyle/>
            <a:p/>
          </p:txBody>
        </p:sp>
        <p:sp>
          <p:nvSpPr>
            <p:cNvPr id="90" name="object 90" descr=""/>
            <p:cNvSpPr/>
            <p:nvPr/>
          </p:nvSpPr>
          <p:spPr>
            <a:xfrm>
              <a:off x="2130159" y="4583723"/>
              <a:ext cx="793115" cy="379095"/>
            </a:xfrm>
            <a:custGeom>
              <a:avLst/>
              <a:gdLst/>
              <a:ahLst/>
              <a:cxnLst/>
              <a:rect l="l" t="t" r="r" b="b"/>
              <a:pathLst>
                <a:path w="793114" h="379095">
                  <a:moveTo>
                    <a:pt x="0" y="378764"/>
                  </a:moveTo>
                  <a:lnTo>
                    <a:pt x="94691" y="0"/>
                  </a:lnTo>
                  <a:lnTo>
                    <a:pt x="698106" y="0"/>
                  </a:lnTo>
                  <a:lnTo>
                    <a:pt x="792797" y="378764"/>
                  </a:lnTo>
                  <a:lnTo>
                    <a:pt x="0" y="378764"/>
                  </a:lnTo>
                  <a:close/>
                </a:path>
              </a:pathLst>
            </a:custGeom>
            <a:ln w="9524">
              <a:solidFill>
                <a:srgbClr val="FFFFFF"/>
              </a:solidFill>
            </a:ln>
          </p:spPr>
          <p:txBody>
            <a:bodyPr wrap="square" lIns="0" tIns="0" rIns="0" bIns="0" rtlCol="0"/>
            <a:lstStyle/>
            <a:p/>
          </p:txBody>
        </p:sp>
      </p:grpSp>
      <p:sp>
        <p:nvSpPr>
          <p:cNvPr id="91" name="object 91" descr=""/>
          <p:cNvSpPr txBox="1"/>
          <p:nvPr/>
        </p:nvSpPr>
        <p:spPr>
          <a:xfrm>
            <a:off x="1863943" y="4991698"/>
            <a:ext cx="466725" cy="132715"/>
          </a:xfrm>
          <a:prstGeom prst="rect">
            <a:avLst/>
          </a:prstGeom>
        </p:spPr>
        <p:txBody>
          <a:bodyPr wrap="square" lIns="0" tIns="12700" rIns="0" bIns="0" rtlCol="0" vert="horz">
            <a:spAutoFit/>
          </a:bodyPr>
          <a:lstStyle/>
          <a:p>
            <a:pPr marL="12700">
              <a:lnSpc>
                <a:spcPct val="100000"/>
              </a:lnSpc>
              <a:spcBef>
                <a:spcPts val="100"/>
              </a:spcBef>
            </a:pPr>
            <a:r>
              <a:rPr dirty="0" sz="700" spc="-10">
                <a:latin typeface="Microsoft YaHei"/>
                <a:cs typeface="Microsoft YaHei"/>
              </a:rPr>
              <a:t>Frequency</a:t>
            </a:r>
            <a:endParaRPr sz="700">
              <a:latin typeface="Microsoft YaHei"/>
              <a:cs typeface="Microsoft YaHei"/>
            </a:endParaRPr>
          </a:p>
        </p:txBody>
      </p:sp>
      <p:grpSp>
        <p:nvGrpSpPr>
          <p:cNvPr id="92" name="object 92" descr=""/>
          <p:cNvGrpSpPr/>
          <p:nvPr/>
        </p:nvGrpSpPr>
        <p:grpSpPr>
          <a:xfrm>
            <a:off x="849489" y="4910103"/>
            <a:ext cx="2270760" cy="114300"/>
            <a:chOff x="849489" y="4910103"/>
            <a:chExt cx="2270760" cy="114300"/>
          </a:xfrm>
        </p:grpSpPr>
        <p:sp>
          <p:nvSpPr>
            <p:cNvPr id="93" name="object 93" descr=""/>
            <p:cNvSpPr/>
            <p:nvPr/>
          </p:nvSpPr>
          <p:spPr>
            <a:xfrm>
              <a:off x="849489" y="4967258"/>
              <a:ext cx="2258060" cy="0"/>
            </a:xfrm>
            <a:custGeom>
              <a:avLst/>
              <a:gdLst/>
              <a:ahLst/>
              <a:cxnLst/>
              <a:rect l="l" t="t" r="r" b="b"/>
              <a:pathLst>
                <a:path w="2258060" h="0">
                  <a:moveTo>
                    <a:pt x="0" y="0"/>
                  </a:moveTo>
                  <a:lnTo>
                    <a:pt x="2257640" y="0"/>
                  </a:lnTo>
                </a:path>
              </a:pathLst>
            </a:custGeom>
            <a:ln w="25400">
              <a:solidFill>
                <a:srgbClr val="808080"/>
              </a:solidFill>
            </a:ln>
          </p:spPr>
          <p:txBody>
            <a:bodyPr wrap="square" lIns="0" tIns="0" rIns="0" bIns="0" rtlCol="0"/>
            <a:lstStyle/>
            <a:p/>
          </p:txBody>
        </p:sp>
        <p:sp>
          <p:nvSpPr>
            <p:cNvPr id="94" name="object 94" descr=""/>
            <p:cNvSpPr/>
            <p:nvPr/>
          </p:nvSpPr>
          <p:spPr>
            <a:xfrm>
              <a:off x="3030932" y="4922803"/>
              <a:ext cx="76200" cy="88900"/>
            </a:xfrm>
            <a:custGeom>
              <a:avLst/>
              <a:gdLst/>
              <a:ahLst/>
              <a:cxnLst/>
              <a:rect l="l" t="t" r="r" b="b"/>
              <a:pathLst>
                <a:path w="76200" h="88900">
                  <a:moveTo>
                    <a:pt x="0" y="0"/>
                  </a:moveTo>
                  <a:lnTo>
                    <a:pt x="76200" y="44450"/>
                  </a:lnTo>
                  <a:lnTo>
                    <a:pt x="0" y="88900"/>
                  </a:lnTo>
                </a:path>
              </a:pathLst>
            </a:custGeom>
            <a:ln w="25400">
              <a:solidFill>
                <a:srgbClr val="808080"/>
              </a:solidFill>
            </a:ln>
          </p:spPr>
          <p:txBody>
            <a:bodyPr wrap="square" lIns="0" tIns="0" rIns="0" bIns="0" rtlCol="0"/>
            <a:lstStyle/>
            <a:p/>
          </p:txBody>
        </p:sp>
      </p:grpSp>
      <p:grpSp>
        <p:nvGrpSpPr>
          <p:cNvPr id="95" name="object 95" descr=""/>
          <p:cNvGrpSpPr/>
          <p:nvPr/>
        </p:nvGrpSpPr>
        <p:grpSpPr>
          <a:xfrm>
            <a:off x="5579123" y="4278458"/>
            <a:ext cx="1786255" cy="662940"/>
            <a:chOff x="5579123" y="4278458"/>
            <a:chExt cx="1786255" cy="662940"/>
          </a:xfrm>
        </p:grpSpPr>
        <p:sp>
          <p:nvSpPr>
            <p:cNvPr id="96" name="object 96" descr=""/>
            <p:cNvSpPr/>
            <p:nvPr/>
          </p:nvSpPr>
          <p:spPr>
            <a:xfrm>
              <a:off x="5636263" y="4291161"/>
              <a:ext cx="0" cy="637540"/>
            </a:xfrm>
            <a:custGeom>
              <a:avLst/>
              <a:gdLst/>
              <a:ahLst/>
              <a:cxnLst/>
              <a:rect l="l" t="t" r="r" b="b"/>
              <a:pathLst>
                <a:path w="0" h="637539">
                  <a:moveTo>
                    <a:pt x="0" y="636955"/>
                  </a:moveTo>
                  <a:lnTo>
                    <a:pt x="0" y="0"/>
                  </a:lnTo>
                </a:path>
              </a:pathLst>
            </a:custGeom>
            <a:ln w="25400">
              <a:solidFill>
                <a:srgbClr val="808080"/>
              </a:solidFill>
            </a:ln>
          </p:spPr>
          <p:txBody>
            <a:bodyPr wrap="square" lIns="0" tIns="0" rIns="0" bIns="0" rtlCol="0"/>
            <a:lstStyle/>
            <a:p/>
          </p:txBody>
        </p:sp>
        <p:sp>
          <p:nvSpPr>
            <p:cNvPr id="97" name="object 97" descr=""/>
            <p:cNvSpPr/>
            <p:nvPr/>
          </p:nvSpPr>
          <p:spPr>
            <a:xfrm>
              <a:off x="5591823" y="4291158"/>
              <a:ext cx="88900" cy="76200"/>
            </a:xfrm>
            <a:custGeom>
              <a:avLst/>
              <a:gdLst/>
              <a:ahLst/>
              <a:cxnLst/>
              <a:rect l="l" t="t" r="r" b="b"/>
              <a:pathLst>
                <a:path w="88900" h="76200">
                  <a:moveTo>
                    <a:pt x="0" y="76199"/>
                  </a:moveTo>
                  <a:lnTo>
                    <a:pt x="44437" y="0"/>
                  </a:lnTo>
                  <a:lnTo>
                    <a:pt x="88900" y="76187"/>
                  </a:lnTo>
                </a:path>
              </a:pathLst>
            </a:custGeom>
            <a:ln w="25400">
              <a:solidFill>
                <a:srgbClr val="808080"/>
              </a:solidFill>
            </a:ln>
          </p:spPr>
          <p:txBody>
            <a:bodyPr wrap="square" lIns="0" tIns="0" rIns="0" bIns="0" rtlCol="0"/>
            <a:lstStyle/>
            <a:p/>
          </p:txBody>
        </p:sp>
        <p:sp>
          <p:nvSpPr>
            <p:cNvPr id="98" name="object 98" descr=""/>
            <p:cNvSpPr/>
            <p:nvPr/>
          </p:nvSpPr>
          <p:spPr>
            <a:xfrm>
              <a:off x="5685843" y="4421291"/>
              <a:ext cx="416559" cy="492125"/>
            </a:xfrm>
            <a:custGeom>
              <a:avLst/>
              <a:gdLst/>
              <a:ahLst/>
              <a:cxnLst/>
              <a:rect l="l" t="t" r="r" b="b"/>
              <a:pathLst>
                <a:path w="416560" h="492125">
                  <a:moveTo>
                    <a:pt x="416318" y="0"/>
                  </a:moveTo>
                  <a:lnTo>
                    <a:pt x="0" y="0"/>
                  </a:lnTo>
                  <a:lnTo>
                    <a:pt x="0" y="491896"/>
                  </a:lnTo>
                  <a:lnTo>
                    <a:pt x="416318" y="491896"/>
                  </a:lnTo>
                  <a:lnTo>
                    <a:pt x="416318" y="0"/>
                  </a:lnTo>
                  <a:close/>
                </a:path>
              </a:pathLst>
            </a:custGeom>
            <a:solidFill>
              <a:srgbClr val="93CDDD"/>
            </a:solidFill>
          </p:spPr>
          <p:txBody>
            <a:bodyPr wrap="square" lIns="0" tIns="0" rIns="0" bIns="0" rtlCol="0"/>
            <a:lstStyle/>
            <a:p/>
          </p:txBody>
        </p:sp>
        <p:sp>
          <p:nvSpPr>
            <p:cNvPr id="99" name="object 99" descr=""/>
            <p:cNvSpPr/>
            <p:nvPr/>
          </p:nvSpPr>
          <p:spPr>
            <a:xfrm>
              <a:off x="6522986" y="4422660"/>
              <a:ext cx="842010" cy="492125"/>
            </a:xfrm>
            <a:custGeom>
              <a:avLst/>
              <a:gdLst/>
              <a:ahLst/>
              <a:cxnLst/>
              <a:rect l="l" t="t" r="r" b="b"/>
              <a:pathLst>
                <a:path w="842009" h="492125">
                  <a:moveTo>
                    <a:pt x="416318" y="323735"/>
                  </a:moveTo>
                  <a:lnTo>
                    <a:pt x="0" y="323735"/>
                  </a:lnTo>
                  <a:lnTo>
                    <a:pt x="0" y="491363"/>
                  </a:lnTo>
                  <a:lnTo>
                    <a:pt x="416318" y="491363"/>
                  </a:lnTo>
                  <a:lnTo>
                    <a:pt x="416318" y="323735"/>
                  </a:lnTo>
                  <a:close/>
                </a:path>
                <a:path w="842009" h="492125">
                  <a:moveTo>
                    <a:pt x="841895" y="0"/>
                  </a:moveTo>
                  <a:lnTo>
                    <a:pt x="425577" y="0"/>
                  </a:lnTo>
                  <a:lnTo>
                    <a:pt x="425577" y="491896"/>
                  </a:lnTo>
                  <a:lnTo>
                    <a:pt x="841895" y="491896"/>
                  </a:lnTo>
                  <a:lnTo>
                    <a:pt x="841895" y="0"/>
                  </a:lnTo>
                  <a:close/>
                </a:path>
              </a:pathLst>
            </a:custGeom>
            <a:solidFill>
              <a:srgbClr val="FFC000"/>
            </a:solidFill>
          </p:spPr>
          <p:txBody>
            <a:bodyPr wrap="square" lIns="0" tIns="0" rIns="0" bIns="0" rtlCol="0"/>
            <a:lstStyle/>
            <a:p/>
          </p:txBody>
        </p:sp>
      </p:grpSp>
      <p:sp>
        <p:nvSpPr>
          <p:cNvPr id="100" name="object 100" descr=""/>
          <p:cNvSpPr txBox="1"/>
          <p:nvPr/>
        </p:nvSpPr>
        <p:spPr>
          <a:xfrm>
            <a:off x="5724229" y="4261685"/>
            <a:ext cx="466725" cy="132715"/>
          </a:xfrm>
          <a:prstGeom prst="rect">
            <a:avLst/>
          </a:prstGeom>
        </p:spPr>
        <p:txBody>
          <a:bodyPr wrap="square" lIns="0" tIns="12700" rIns="0" bIns="0" rtlCol="0" vert="horz">
            <a:spAutoFit/>
          </a:bodyPr>
          <a:lstStyle/>
          <a:p>
            <a:pPr marL="12700">
              <a:lnSpc>
                <a:spcPct val="100000"/>
              </a:lnSpc>
              <a:spcBef>
                <a:spcPts val="100"/>
              </a:spcBef>
            </a:pPr>
            <a:r>
              <a:rPr dirty="0" sz="700" spc="-10">
                <a:latin typeface="Microsoft YaHei"/>
                <a:cs typeface="Microsoft YaHei"/>
              </a:rPr>
              <a:t>Frequency</a:t>
            </a:r>
            <a:endParaRPr sz="700">
              <a:latin typeface="Microsoft YaHei"/>
              <a:cs typeface="Microsoft YaHei"/>
            </a:endParaRPr>
          </a:p>
        </p:txBody>
      </p:sp>
      <p:sp>
        <p:nvSpPr>
          <p:cNvPr id="101" name="object 101" descr=""/>
          <p:cNvSpPr txBox="1"/>
          <p:nvPr/>
        </p:nvSpPr>
        <p:spPr>
          <a:xfrm>
            <a:off x="7744191" y="4937473"/>
            <a:ext cx="234950" cy="132715"/>
          </a:xfrm>
          <a:prstGeom prst="rect">
            <a:avLst/>
          </a:prstGeom>
        </p:spPr>
        <p:txBody>
          <a:bodyPr wrap="square" lIns="0" tIns="12700" rIns="0" bIns="0" rtlCol="0" vert="horz">
            <a:spAutoFit/>
          </a:bodyPr>
          <a:lstStyle/>
          <a:p>
            <a:pPr marL="12700">
              <a:lnSpc>
                <a:spcPct val="100000"/>
              </a:lnSpc>
              <a:spcBef>
                <a:spcPts val="100"/>
              </a:spcBef>
            </a:pPr>
            <a:r>
              <a:rPr dirty="0" sz="700" spc="-20">
                <a:latin typeface="Microsoft YaHei"/>
                <a:cs typeface="Microsoft YaHei"/>
              </a:rPr>
              <a:t>Time</a:t>
            </a:r>
            <a:endParaRPr sz="700">
              <a:latin typeface="Microsoft YaHei"/>
              <a:cs typeface="Microsoft YaHei"/>
            </a:endParaRPr>
          </a:p>
        </p:txBody>
      </p:sp>
      <p:grpSp>
        <p:nvGrpSpPr>
          <p:cNvPr id="102" name="object 102" descr=""/>
          <p:cNvGrpSpPr/>
          <p:nvPr/>
        </p:nvGrpSpPr>
        <p:grpSpPr>
          <a:xfrm>
            <a:off x="6100167" y="4413380"/>
            <a:ext cx="1695450" cy="501015"/>
            <a:chOff x="6100167" y="4413380"/>
            <a:chExt cx="1695450" cy="501015"/>
          </a:xfrm>
        </p:grpSpPr>
        <p:sp>
          <p:nvSpPr>
            <p:cNvPr id="103" name="object 103" descr=""/>
            <p:cNvSpPr/>
            <p:nvPr/>
          </p:nvSpPr>
          <p:spPr>
            <a:xfrm>
              <a:off x="6522986" y="4419861"/>
              <a:ext cx="416559" cy="323850"/>
            </a:xfrm>
            <a:custGeom>
              <a:avLst/>
              <a:gdLst/>
              <a:ahLst/>
              <a:cxnLst/>
              <a:rect l="l" t="t" r="r" b="b"/>
              <a:pathLst>
                <a:path w="416559" h="323850">
                  <a:moveTo>
                    <a:pt x="416318" y="0"/>
                  </a:moveTo>
                  <a:lnTo>
                    <a:pt x="0" y="0"/>
                  </a:lnTo>
                  <a:lnTo>
                    <a:pt x="0" y="323621"/>
                  </a:lnTo>
                  <a:lnTo>
                    <a:pt x="416318" y="323621"/>
                  </a:lnTo>
                  <a:lnTo>
                    <a:pt x="416318" y="0"/>
                  </a:lnTo>
                  <a:close/>
                </a:path>
              </a:pathLst>
            </a:custGeom>
            <a:solidFill>
              <a:srgbClr val="93CDDD"/>
            </a:solidFill>
          </p:spPr>
          <p:txBody>
            <a:bodyPr wrap="square" lIns="0" tIns="0" rIns="0" bIns="0" rtlCol="0"/>
            <a:lstStyle/>
            <a:p/>
          </p:txBody>
        </p:sp>
        <p:sp>
          <p:nvSpPr>
            <p:cNvPr id="104" name="object 104" descr=""/>
            <p:cNvSpPr/>
            <p:nvPr/>
          </p:nvSpPr>
          <p:spPr>
            <a:xfrm>
              <a:off x="7374163" y="4541670"/>
              <a:ext cx="416559" cy="370840"/>
            </a:xfrm>
            <a:custGeom>
              <a:avLst/>
              <a:gdLst/>
              <a:ahLst/>
              <a:cxnLst/>
              <a:rect l="l" t="t" r="r" b="b"/>
              <a:pathLst>
                <a:path w="416559" h="370839">
                  <a:moveTo>
                    <a:pt x="416318" y="0"/>
                  </a:moveTo>
                  <a:lnTo>
                    <a:pt x="0" y="0"/>
                  </a:lnTo>
                  <a:lnTo>
                    <a:pt x="0" y="370814"/>
                  </a:lnTo>
                  <a:lnTo>
                    <a:pt x="416318" y="370814"/>
                  </a:lnTo>
                  <a:lnTo>
                    <a:pt x="416318" y="0"/>
                  </a:lnTo>
                  <a:close/>
                </a:path>
              </a:pathLst>
            </a:custGeom>
            <a:solidFill>
              <a:srgbClr val="FFC000"/>
            </a:solidFill>
          </p:spPr>
          <p:txBody>
            <a:bodyPr wrap="square" lIns="0" tIns="0" rIns="0" bIns="0" rtlCol="0"/>
            <a:lstStyle/>
            <a:p/>
          </p:txBody>
        </p:sp>
        <p:sp>
          <p:nvSpPr>
            <p:cNvPr id="105" name="object 105" descr=""/>
            <p:cNvSpPr/>
            <p:nvPr/>
          </p:nvSpPr>
          <p:spPr>
            <a:xfrm>
              <a:off x="7374163" y="4421246"/>
              <a:ext cx="416559" cy="120650"/>
            </a:xfrm>
            <a:custGeom>
              <a:avLst/>
              <a:gdLst/>
              <a:ahLst/>
              <a:cxnLst/>
              <a:rect l="l" t="t" r="r" b="b"/>
              <a:pathLst>
                <a:path w="416559" h="120650">
                  <a:moveTo>
                    <a:pt x="416318" y="0"/>
                  </a:moveTo>
                  <a:lnTo>
                    <a:pt x="0" y="0"/>
                  </a:lnTo>
                  <a:lnTo>
                    <a:pt x="0" y="120421"/>
                  </a:lnTo>
                  <a:lnTo>
                    <a:pt x="416318" y="120421"/>
                  </a:lnTo>
                  <a:lnTo>
                    <a:pt x="416318" y="0"/>
                  </a:lnTo>
                  <a:close/>
                </a:path>
              </a:pathLst>
            </a:custGeom>
            <a:solidFill>
              <a:srgbClr val="93CDDD"/>
            </a:solidFill>
          </p:spPr>
          <p:txBody>
            <a:bodyPr wrap="square" lIns="0" tIns="0" rIns="0" bIns="0" rtlCol="0"/>
            <a:lstStyle/>
            <a:p/>
          </p:txBody>
        </p:sp>
        <p:sp>
          <p:nvSpPr>
            <p:cNvPr id="106" name="object 106" descr=""/>
            <p:cNvSpPr/>
            <p:nvPr/>
          </p:nvSpPr>
          <p:spPr>
            <a:xfrm>
              <a:off x="7374163" y="4421246"/>
              <a:ext cx="416559" cy="120650"/>
            </a:xfrm>
            <a:custGeom>
              <a:avLst/>
              <a:gdLst/>
              <a:ahLst/>
              <a:cxnLst/>
              <a:rect l="l" t="t" r="r" b="b"/>
              <a:pathLst>
                <a:path w="416559" h="120650">
                  <a:moveTo>
                    <a:pt x="0" y="0"/>
                  </a:moveTo>
                  <a:lnTo>
                    <a:pt x="416318" y="0"/>
                  </a:lnTo>
                  <a:lnTo>
                    <a:pt x="416318" y="120421"/>
                  </a:lnTo>
                  <a:lnTo>
                    <a:pt x="0" y="120421"/>
                  </a:lnTo>
                  <a:lnTo>
                    <a:pt x="0" y="0"/>
                  </a:lnTo>
                  <a:close/>
                </a:path>
              </a:pathLst>
            </a:custGeom>
            <a:ln w="9525">
              <a:solidFill>
                <a:srgbClr val="FFFFFF"/>
              </a:solidFill>
            </a:ln>
          </p:spPr>
          <p:txBody>
            <a:bodyPr wrap="square" lIns="0" tIns="0" rIns="0" bIns="0" rtlCol="0"/>
            <a:lstStyle/>
            <a:p/>
          </p:txBody>
        </p:sp>
        <p:sp>
          <p:nvSpPr>
            <p:cNvPr id="107" name="object 107" descr=""/>
            <p:cNvSpPr/>
            <p:nvPr/>
          </p:nvSpPr>
          <p:spPr>
            <a:xfrm>
              <a:off x="6104930" y="4539001"/>
              <a:ext cx="416559" cy="370840"/>
            </a:xfrm>
            <a:custGeom>
              <a:avLst/>
              <a:gdLst/>
              <a:ahLst/>
              <a:cxnLst/>
              <a:rect l="l" t="t" r="r" b="b"/>
              <a:pathLst>
                <a:path w="416559" h="370839">
                  <a:moveTo>
                    <a:pt x="416318" y="0"/>
                  </a:moveTo>
                  <a:lnTo>
                    <a:pt x="0" y="0"/>
                  </a:lnTo>
                  <a:lnTo>
                    <a:pt x="0" y="370382"/>
                  </a:lnTo>
                  <a:lnTo>
                    <a:pt x="416318" y="370382"/>
                  </a:lnTo>
                  <a:lnTo>
                    <a:pt x="416318" y="0"/>
                  </a:lnTo>
                  <a:close/>
                </a:path>
              </a:pathLst>
            </a:custGeom>
            <a:solidFill>
              <a:srgbClr val="FFC000"/>
            </a:solidFill>
          </p:spPr>
          <p:txBody>
            <a:bodyPr wrap="square" lIns="0" tIns="0" rIns="0" bIns="0" rtlCol="0"/>
            <a:lstStyle/>
            <a:p/>
          </p:txBody>
        </p:sp>
        <p:sp>
          <p:nvSpPr>
            <p:cNvPr id="108" name="object 108" descr=""/>
            <p:cNvSpPr/>
            <p:nvPr/>
          </p:nvSpPr>
          <p:spPr>
            <a:xfrm>
              <a:off x="6104930" y="4539001"/>
              <a:ext cx="416559" cy="370840"/>
            </a:xfrm>
            <a:custGeom>
              <a:avLst/>
              <a:gdLst/>
              <a:ahLst/>
              <a:cxnLst/>
              <a:rect l="l" t="t" r="r" b="b"/>
              <a:pathLst>
                <a:path w="416559" h="370839">
                  <a:moveTo>
                    <a:pt x="0" y="0"/>
                  </a:moveTo>
                  <a:lnTo>
                    <a:pt x="416318" y="0"/>
                  </a:lnTo>
                  <a:lnTo>
                    <a:pt x="416318" y="370382"/>
                  </a:lnTo>
                  <a:lnTo>
                    <a:pt x="0" y="370382"/>
                  </a:lnTo>
                  <a:lnTo>
                    <a:pt x="0" y="0"/>
                  </a:lnTo>
                  <a:close/>
                </a:path>
              </a:pathLst>
            </a:custGeom>
            <a:ln w="9525">
              <a:solidFill>
                <a:srgbClr val="FFFFFF"/>
              </a:solidFill>
            </a:ln>
          </p:spPr>
          <p:txBody>
            <a:bodyPr wrap="square" lIns="0" tIns="0" rIns="0" bIns="0" rtlCol="0"/>
            <a:lstStyle/>
            <a:p/>
          </p:txBody>
        </p:sp>
        <p:sp>
          <p:nvSpPr>
            <p:cNvPr id="109" name="object 109" descr=""/>
            <p:cNvSpPr/>
            <p:nvPr/>
          </p:nvSpPr>
          <p:spPr>
            <a:xfrm>
              <a:off x="6104930" y="4418143"/>
              <a:ext cx="416559" cy="121285"/>
            </a:xfrm>
            <a:custGeom>
              <a:avLst/>
              <a:gdLst/>
              <a:ahLst/>
              <a:cxnLst/>
              <a:rect l="l" t="t" r="r" b="b"/>
              <a:pathLst>
                <a:path w="416559" h="121285">
                  <a:moveTo>
                    <a:pt x="416318" y="0"/>
                  </a:moveTo>
                  <a:lnTo>
                    <a:pt x="0" y="0"/>
                  </a:lnTo>
                  <a:lnTo>
                    <a:pt x="0" y="120853"/>
                  </a:lnTo>
                  <a:lnTo>
                    <a:pt x="416318" y="120853"/>
                  </a:lnTo>
                  <a:lnTo>
                    <a:pt x="416318" y="0"/>
                  </a:lnTo>
                  <a:close/>
                </a:path>
              </a:pathLst>
            </a:custGeom>
            <a:solidFill>
              <a:srgbClr val="93CDDD"/>
            </a:solidFill>
          </p:spPr>
          <p:txBody>
            <a:bodyPr wrap="square" lIns="0" tIns="0" rIns="0" bIns="0" rtlCol="0"/>
            <a:lstStyle/>
            <a:p/>
          </p:txBody>
        </p:sp>
        <p:sp>
          <p:nvSpPr>
            <p:cNvPr id="110" name="object 110" descr=""/>
            <p:cNvSpPr/>
            <p:nvPr/>
          </p:nvSpPr>
          <p:spPr>
            <a:xfrm>
              <a:off x="6104930" y="4418143"/>
              <a:ext cx="416559" cy="121285"/>
            </a:xfrm>
            <a:custGeom>
              <a:avLst/>
              <a:gdLst/>
              <a:ahLst/>
              <a:cxnLst/>
              <a:rect l="l" t="t" r="r" b="b"/>
              <a:pathLst>
                <a:path w="416559" h="121285">
                  <a:moveTo>
                    <a:pt x="0" y="0"/>
                  </a:moveTo>
                  <a:lnTo>
                    <a:pt x="416318" y="0"/>
                  </a:lnTo>
                  <a:lnTo>
                    <a:pt x="416318" y="120853"/>
                  </a:lnTo>
                  <a:lnTo>
                    <a:pt x="0" y="120853"/>
                  </a:lnTo>
                  <a:lnTo>
                    <a:pt x="0" y="0"/>
                  </a:lnTo>
                  <a:close/>
                </a:path>
              </a:pathLst>
            </a:custGeom>
            <a:ln w="9525">
              <a:solidFill>
                <a:srgbClr val="FFFFFF"/>
              </a:solidFill>
            </a:ln>
          </p:spPr>
          <p:txBody>
            <a:bodyPr wrap="square" lIns="0" tIns="0" rIns="0" bIns="0" rtlCol="0"/>
            <a:lstStyle/>
            <a:p/>
          </p:txBody>
        </p:sp>
      </p:grpSp>
      <p:sp>
        <p:nvSpPr>
          <p:cNvPr id="111" name="object 111" descr=""/>
          <p:cNvSpPr txBox="1"/>
          <p:nvPr/>
        </p:nvSpPr>
        <p:spPr>
          <a:xfrm>
            <a:off x="6322784" y="4165568"/>
            <a:ext cx="1017905" cy="147320"/>
          </a:xfrm>
          <a:prstGeom prst="rect">
            <a:avLst/>
          </a:prstGeom>
        </p:spPr>
        <p:txBody>
          <a:bodyPr wrap="square" lIns="0" tIns="12065" rIns="0" bIns="0" rtlCol="0" vert="horz">
            <a:spAutoFit/>
          </a:bodyPr>
          <a:lstStyle/>
          <a:p>
            <a:pPr marL="12700">
              <a:lnSpc>
                <a:spcPct val="100000"/>
              </a:lnSpc>
              <a:spcBef>
                <a:spcPts val="95"/>
              </a:spcBef>
            </a:pPr>
            <a:r>
              <a:rPr dirty="0" sz="800">
                <a:latin typeface="Microsoft YaHei"/>
                <a:cs typeface="Microsoft YaHei"/>
              </a:rPr>
              <a:t>LTE+NR</a:t>
            </a:r>
            <a:r>
              <a:rPr dirty="0" sz="800" spc="-30">
                <a:latin typeface="Microsoft YaHei"/>
                <a:cs typeface="Microsoft YaHei"/>
              </a:rPr>
              <a:t> </a:t>
            </a:r>
            <a:r>
              <a:rPr dirty="0" sz="800">
                <a:latin typeface="Microsoft YaHei"/>
                <a:cs typeface="Microsoft YaHei"/>
              </a:rPr>
              <a:t>by</a:t>
            </a:r>
            <a:r>
              <a:rPr dirty="0" sz="800" spc="-20">
                <a:latin typeface="Microsoft YaHei"/>
                <a:cs typeface="Microsoft YaHei"/>
              </a:rPr>
              <a:t> </a:t>
            </a:r>
            <a:r>
              <a:rPr dirty="0" sz="800" spc="-10">
                <a:latin typeface="Microsoft YaHei"/>
                <a:cs typeface="Microsoft YaHei"/>
              </a:rPr>
              <a:t>CloudAir</a:t>
            </a:r>
            <a:endParaRPr sz="800">
              <a:latin typeface="Microsoft YaHei"/>
              <a:cs typeface="Microsoft YaHei"/>
            </a:endParaRPr>
          </a:p>
        </p:txBody>
      </p:sp>
      <p:grpSp>
        <p:nvGrpSpPr>
          <p:cNvPr id="112" name="object 112" descr=""/>
          <p:cNvGrpSpPr/>
          <p:nvPr/>
        </p:nvGrpSpPr>
        <p:grpSpPr>
          <a:xfrm>
            <a:off x="5636263" y="4450552"/>
            <a:ext cx="2277110" cy="558800"/>
            <a:chOff x="5636263" y="4450552"/>
            <a:chExt cx="2277110" cy="558800"/>
          </a:xfrm>
        </p:grpSpPr>
        <p:sp>
          <p:nvSpPr>
            <p:cNvPr id="113" name="object 113" descr=""/>
            <p:cNvSpPr/>
            <p:nvPr/>
          </p:nvSpPr>
          <p:spPr>
            <a:xfrm>
              <a:off x="5636263" y="4926618"/>
              <a:ext cx="2178050" cy="0"/>
            </a:xfrm>
            <a:custGeom>
              <a:avLst/>
              <a:gdLst/>
              <a:ahLst/>
              <a:cxnLst/>
              <a:rect l="l" t="t" r="r" b="b"/>
              <a:pathLst>
                <a:path w="2178050" h="0">
                  <a:moveTo>
                    <a:pt x="0" y="0"/>
                  </a:moveTo>
                  <a:lnTo>
                    <a:pt x="2177503" y="0"/>
                  </a:lnTo>
                </a:path>
              </a:pathLst>
            </a:custGeom>
            <a:ln w="25400">
              <a:solidFill>
                <a:srgbClr val="808080"/>
              </a:solidFill>
            </a:ln>
          </p:spPr>
          <p:txBody>
            <a:bodyPr wrap="square" lIns="0" tIns="0" rIns="0" bIns="0" rtlCol="0"/>
            <a:lstStyle/>
            <a:p/>
          </p:txBody>
        </p:sp>
        <p:sp>
          <p:nvSpPr>
            <p:cNvPr id="114" name="object 114" descr=""/>
            <p:cNvSpPr/>
            <p:nvPr/>
          </p:nvSpPr>
          <p:spPr>
            <a:xfrm>
              <a:off x="7737574" y="4882164"/>
              <a:ext cx="76200" cy="88900"/>
            </a:xfrm>
            <a:custGeom>
              <a:avLst/>
              <a:gdLst/>
              <a:ahLst/>
              <a:cxnLst/>
              <a:rect l="l" t="t" r="r" b="b"/>
              <a:pathLst>
                <a:path w="76200" h="88900">
                  <a:moveTo>
                    <a:pt x="0" y="0"/>
                  </a:moveTo>
                  <a:lnTo>
                    <a:pt x="76200" y="44450"/>
                  </a:lnTo>
                  <a:lnTo>
                    <a:pt x="0" y="88900"/>
                  </a:lnTo>
                </a:path>
              </a:pathLst>
            </a:custGeom>
            <a:ln w="25400">
              <a:solidFill>
                <a:srgbClr val="808080"/>
              </a:solidFill>
            </a:ln>
          </p:spPr>
          <p:txBody>
            <a:bodyPr wrap="square" lIns="0" tIns="0" rIns="0" bIns="0" rtlCol="0"/>
            <a:lstStyle/>
            <a:p/>
          </p:txBody>
        </p:sp>
        <p:sp>
          <p:nvSpPr>
            <p:cNvPr id="115" name="object 115" descr=""/>
            <p:cNvSpPr/>
            <p:nvPr/>
          </p:nvSpPr>
          <p:spPr>
            <a:xfrm>
              <a:off x="6812732" y="4450552"/>
              <a:ext cx="1101090" cy="558800"/>
            </a:xfrm>
            <a:custGeom>
              <a:avLst/>
              <a:gdLst/>
              <a:ahLst/>
              <a:cxnLst/>
              <a:rect l="l" t="t" r="r" b="b"/>
              <a:pathLst>
                <a:path w="1101090" h="558800">
                  <a:moveTo>
                    <a:pt x="1042022" y="0"/>
                  </a:moveTo>
                  <a:lnTo>
                    <a:pt x="0" y="408965"/>
                  </a:lnTo>
                  <a:lnTo>
                    <a:pt x="58623" y="558330"/>
                  </a:lnTo>
                  <a:lnTo>
                    <a:pt x="1100645" y="149364"/>
                  </a:lnTo>
                  <a:lnTo>
                    <a:pt x="1042022" y="0"/>
                  </a:lnTo>
                  <a:close/>
                </a:path>
              </a:pathLst>
            </a:custGeom>
            <a:solidFill>
              <a:srgbClr val="FF0000">
                <a:alpha val="69020"/>
              </a:srgbClr>
            </a:solidFill>
          </p:spPr>
          <p:txBody>
            <a:bodyPr wrap="square" lIns="0" tIns="0" rIns="0" bIns="0" rtlCol="0"/>
            <a:lstStyle/>
            <a:p/>
          </p:txBody>
        </p:sp>
        <p:sp>
          <p:nvSpPr>
            <p:cNvPr id="116" name="object 116" descr=""/>
            <p:cNvSpPr/>
            <p:nvPr/>
          </p:nvSpPr>
          <p:spPr>
            <a:xfrm>
              <a:off x="6993751" y="4575803"/>
              <a:ext cx="739140" cy="327025"/>
            </a:xfrm>
            <a:custGeom>
              <a:avLst/>
              <a:gdLst/>
              <a:ahLst/>
              <a:cxnLst/>
              <a:rect l="l" t="t" r="r" b="b"/>
              <a:pathLst>
                <a:path w="739140" h="327025">
                  <a:moveTo>
                    <a:pt x="19443" y="316749"/>
                  </a:moveTo>
                  <a:lnTo>
                    <a:pt x="20894" y="320444"/>
                  </a:lnTo>
                  <a:lnTo>
                    <a:pt x="23187" y="326109"/>
                  </a:lnTo>
                  <a:lnTo>
                    <a:pt x="28244" y="326985"/>
                  </a:lnTo>
                  <a:lnTo>
                    <a:pt x="34188" y="326109"/>
                  </a:lnTo>
                  <a:lnTo>
                    <a:pt x="48628" y="320444"/>
                  </a:lnTo>
                  <a:lnTo>
                    <a:pt x="50870" y="318616"/>
                  </a:lnTo>
                  <a:lnTo>
                    <a:pt x="25806" y="318616"/>
                  </a:lnTo>
                  <a:lnTo>
                    <a:pt x="19443" y="316749"/>
                  </a:lnTo>
                  <a:close/>
                </a:path>
                <a:path w="739140" h="327025">
                  <a:moveTo>
                    <a:pt x="56296" y="287923"/>
                  </a:moveTo>
                  <a:lnTo>
                    <a:pt x="33072" y="287923"/>
                  </a:lnTo>
                  <a:lnTo>
                    <a:pt x="40127" y="288083"/>
                  </a:lnTo>
                  <a:lnTo>
                    <a:pt x="45422" y="290889"/>
                  </a:lnTo>
                  <a:lnTo>
                    <a:pt x="48958" y="296340"/>
                  </a:lnTo>
                  <a:lnTo>
                    <a:pt x="50558" y="300391"/>
                  </a:lnTo>
                  <a:lnTo>
                    <a:pt x="50393" y="304188"/>
                  </a:lnTo>
                  <a:lnTo>
                    <a:pt x="46532" y="311262"/>
                  </a:lnTo>
                  <a:lnTo>
                    <a:pt x="43116" y="313993"/>
                  </a:lnTo>
                  <a:lnTo>
                    <a:pt x="32067" y="318336"/>
                  </a:lnTo>
                  <a:lnTo>
                    <a:pt x="25806" y="318616"/>
                  </a:lnTo>
                  <a:lnTo>
                    <a:pt x="50870" y="318616"/>
                  </a:lnTo>
                  <a:lnTo>
                    <a:pt x="54000" y="316063"/>
                  </a:lnTo>
                  <a:lnTo>
                    <a:pt x="60159" y="304582"/>
                  </a:lnTo>
                  <a:lnTo>
                    <a:pt x="60352" y="300391"/>
                  </a:lnTo>
                  <a:lnTo>
                    <a:pt x="60439" y="298499"/>
                  </a:lnTo>
                  <a:lnTo>
                    <a:pt x="56359" y="288083"/>
                  </a:lnTo>
                  <a:lnTo>
                    <a:pt x="56296" y="287923"/>
                  </a:lnTo>
                  <a:close/>
                </a:path>
                <a:path w="739140" h="327025">
                  <a:moveTo>
                    <a:pt x="39995" y="253566"/>
                  </a:moveTo>
                  <a:lnTo>
                    <a:pt x="24256" y="253566"/>
                  </a:lnTo>
                  <a:lnTo>
                    <a:pt x="30162" y="255763"/>
                  </a:lnTo>
                  <a:lnTo>
                    <a:pt x="33235" y="263599"/>
                  </a:lnTo>
                  <a:lnTo>
                    <a:pt x="15379" y="285278"/>
                  </a:lnTo>
                  <a:lnTo>
                    <a:pt x="18313" y="292733"/>
                  </a:lnTo>
                  <a:lnTo>
                    <a:pt x="24256" y="290409"/>
                  </a:lnTo>
                  <a:lnTo>
                    <a:pt x="33072" y="287923"/>
                  </a:lnTo>
                  <a:lnTo>
                    <a:pt x="56296" y="287923"/>
                  </a:lnTo>
                  <a:lnTo>
                    <a:pt x="56121" y="287475"/>
                  </a:lnTo>
                  <a:lnTo>
                    <a:pt x="53111" y="284211"/>
                  </a:lnTo>
                  <a:lnTo>
                    <a:pt x="47469" y="281646"/>
                  </a:lnTo>
                  <a:lnTo>
                    <a:pt x="34531" y="281646"/>
                  </a:lnTo>
                  <a:lnTo>
                    <a:pt x="34455" y="281455"/>
                  </a:lnTo>
                  <a:lnTo>
                    <a:pt x="39672" y="276379"/>
                  </a:lnTo>
                  <a:lnTo>
                    <a:pt x="42614" y="270751"/>
                  </a:lnTo>
                  <a:lnTo>
                    <a:pt x="43281" y="264573"/>
                  </a:lnTo>
                  <a:lnTo>
                    <a:pt x="41668" y="257846"/>
                  </a:lnTo>
                  <a:lnTo>
                    <a:pt x="39995" y="253566"/>
                  </a:lnTo>
                  <a:close/>
                </a:path>
                <a:path w="739140" h="327025">
                  <a:moveTo>
                    <a:pt x="39903" y="280173"/>
                  </a:moveTo>
                  <a:lnTo>
                    <a:pt x="34531" y="281646"/>
                  </a:lnTo>
                  <a:lnTo>
                    <a:pt x="47469" y="281646"/>
                  </a:lnTo>
                  <a:lnTo>
                    <a:pt x="44703" y="280389"/>
                  </a:lnTo>
                  <a:lnTo>
                    <a:pt x="39903" y="280173"/>
                  </a:lnTo>
                  <a:close/>
                </a:path>
                <a:path w="739140" h="327025">
                  <a:moveTo>
                    <a:pt x="26352" y="245908"/>
                  </a:moveTo>
                  <a:lnTo>
                    <a:pt x="20853" y="246238"/>
                  </a:lnTo>
                  <a:lnTo>
                    <a:pt x="8534" y="251077"/>
                  </a:lnTo>
                  <a:lnTo>
                    <a:pt x="3606" y="254557"/>
                  </a:lnTo>
                  <a:lnTo>
                    <a:pt x="0" y="259091"/>
                  </a:lnTo>
                  <a:lnTo>
                    <a:pt x="3352" y="267625"/>
                  </a:lnTo>
                  <a:lnTo>
                    <a:pt x="6451" y="262507"/>
                  </a:lnTo>
                  <a:lnTo>
                    <a:pt x="10357" y="259091"/>
                  </a:lnTo>
                  <a:lnTo>
                    <a:pt x="10179" y="259091"/>
                  </a:lnTo>
                  <a:lnTo>
                    <a:pt x="24256" y="253566"/>
                  </a:lnTo>
                  <a:lnTo>
                    <a:pt x="39995" y="253566"/>
                  </a:lnTo>
                  <a:lnTo>
                    <a:pt x="39687" y="252779"/>
                  </a:lnTo>
                  <a:lnTo>
                    <a:pt x="36220" y="249375"/>
                  </a:lnTo>
                  <a:lnTo>
                    <a:pt x="26352" y="245908"/>
                  </a:lnTo>
                  <a:close/>
                </a:path>
                <a:path w="739140" h="327025">
                  <a:moveTo>
                    <a:pt x="100977" y="216203"/>
                  </a:moveTo>
                  <a:lnTo>
                    <a:pt x="67398" y="234877"/>
                  </a:lnTo>
                  <a:lnTo>
                    <a:pt x="60544" y="256922"/>
                  </a:lnTo>
                  <a:lnTo>
                    <a:pt x="61394" y="264854"/>
                  </a:lnTo>
                  <a:lnTo>
                    <a:pt x="90357" y="297717"/>
                  </a:lnTo>
                  <a:lnTo>
                    <a:pt x="97418" y="298476"/>
                  </a:lnTo>
                  <a:lnTo>
                    <a:pt x="104750" y="297717"/>
                  </a:lnTo>
                  <a:lnTo>
                    <a:pt x="112356" y="295438"/>
                  </a:lnTo>
                  <a:lnTo>
                    <a:pt x="118759" y="292486"/>
                  </a:lnTo>
                  <a:lnTo>
                    <a:pt x="122858" y="289939"/>
                  </a:lnTo>
                  <a:lnTo>
                    <a:pt x="95088" y="289939"/>
                  </a:lnTo>
                  <a:lnTo>
                    <a:pt x="81838" y="283602"/>
                  </a:lnTo>
                  <a:lnTo>
                    <a:pt x="76784" y="277556"/>
                  </a:lnTo>
                  <a:lnTo>
                    <a:pt x="69862" y="259929"/>
                  </a:lnTo>
                  <a:lnTo>
                    <a:pt x="69634" y="251928"/>
                  </a:lnTo>
                  <a:lnTo>
                    <a:pt x="75539" y="237348"/>
                  </a:lnTo>
                  <a:lnTo>
                    <a:pt x="80898" y="232179"/>
                  </a:lnTo>
                  <a:lnTo>
                    <a:pt x="96558" y="226033"/>
                  </a:lnTo>
                  <a:lnTo>
                    <a:pt x="104076" y="225169"/>
                  </a:lnTo>
                  <a:lnTo>
                    <a:pt x="110660" y="225169"/>
                  </a:lnTo>
                  <a:lnTo>
                    <a:pt x="107289" y="216571"/>
                  </a:lnTo>
                  <a:lnTo>
                    <a:pt x="100977" y="216203"/>
                  </a:lnTo>
                  <a:close/>
                </a:path>
                <a:path w="739140" h="327025">
                  <a:moveTo>
                    <a:pt x="125895" y="258964"/>
                  </a:moveTo>
                  <a:lnTo>
                    <a:pt x="115214" y="258964"/>
                  </a:lnTo>
                  <a:lnTo>
                    <a:pt x="122504" y="277556"/>
                  </a:lnTo>
                  <a:lnTo>
                    <a:pt x="122698" y="278369"/>
                  </a:lnTo>
                  <a:lnTo>
                    <a:pt x="119799" y="281849"/>
                  </a:lnTo>
                  <a:lnTo>
                    <a:pt x="115582" y="284707"/>
                  </a:lnTo>
                  <a:lnTo>
                    <a:pt x="102260" y="289939"/>
                  </a:lnTo>
                  <a:lnTo>
                    <a:pt x="122858" y="289939"/>
                  </a:lnTo>
                  <a:lnTo>
                    <a:pt x="124518" y="288907"/>
                  </a:lnTo>
                  <a:lnTo>
                    <a:pt x="129629" y="284707"/>
                  </a:lnTo>
                  <a:lnTo>
                    <a:pt x="134099" y="279881"/>
                  </a:lnTo>
                  <a:lnTo>
                    <a:pt x="125895" y="258964"/>
                  </a:lnTo>
                  <a:close/>
                </a:path>
                <a:path w="739140" h="327025">
                  <a:moveTo>
                    <a:pt x="158978" y="195553"/>
                  </a:moveTo>
                  <a:lnTo>
                    <a:pt x="152272" y="196035"/>
                  </a:lnTo>
                  <a:lnTo>
                    <a:pt x="124294" y="207021"/>
                  </a:lnTo>
                  <a:lnTo>
                    <a:pt x="152298" y="278369"/>
                  </a:lnTo>
                  <a:lnTo>
                    <a:pt x="161518" y="274762"/>
                  </a:lnTo>
                  <a:lnTo>
                    <a:pt x="151041" y="248092"/>
                  </a:lnTo>
                  <a:lnTo>
                    <a:pt x="160312" y="244448"/>
                  </a:lnTo>
                  <a:lnTo>
                    <a:pt x="167868" y="241768"/>
                  </a:lnTo>
                  <a:lnTo>
                    <a:pt x="170029" y="239977"/>
                  </a:lnTo>
                  <a:lnTo>
                    <a:pt x="147866" y="239977"/>
                  </a:lnTo>
                  <a:lnTo>
                    <a:pt x="136690" y="211516"/>
                  </a:lnTo>
                  <a:lnTo>
                    <a:pt x="146088" y="207821"/>
                  </a:lnTo>
                  <a:lnTo>
                    <a:pt x="153560" y="205882"/>
                  </a:lnTo>
                  <a:lnTo>
                    <a:pt x="175313" y="205882"/>
                  </a:lnTo>
                  <a:lnTo>
                    <a:pt x="174624" y="204125"/>
                  </a:lnTo>
                  <a:lnTo>
                    <a:pt x="170408" y="199642"/>
                  </a:lnTo>
                  <a:lnTo>
                    <a:pt x="158978" y="195553"/>
                  </a:lnTo>
                  <a:close/>
                </a:path>
                <a:path w="739140" h="327025">
                  <a:moveTo>
                    <a:pt x="121272" y="247178"/>
                  </a:moveTo>
                  <a:lnTo>
                    <a:pt x="96548" y="256922"/>
                  </a:lnTo>
                  <a:lnTo>
                    <a:pt x="99662" y="264854"/>
                  </a:lnTo>
                  <a:lnTo>
                    <a:pt x="99733" y="265034"/>
                  </a:lnTo>
                  <a:lnTo>
                    <a:pt x="115214" y="258964"/>
                  </a:lnTo>
                  <a:lnTo>
                    <a:pt x="125895" y="258964"/>
                  </a:lnTo>
                  <a:lnTo>
                    <a:pt x="121272" y="247178"/>
                  </a:lnTo>
                  <a:close/>
                </a:path>
                <a:path w="739140" h="327025">
                  <a:moveTo>
                    <a:pt x="175313" y="205882"/>
                  </a:moveTo>
                  <a:lnTo>
                    <a:pt x="153560" y="205882"/>
                  </a:lnTo>
                  <a:lnTo>
                    <a:pt x="159670" y="206467"/>
                  </a:lnTo>
                  <a:lnTo>
                    <a:pt x="164418" y="209573"/>
                  </a:lnTo>
                  <a:lnTo>
                    <a:pt x="167805" y="215199"/>
                  </a:lnTo>
                  <a:lnTo>
                    <a:pt x="169659" y="219924"/>
                  </a:lnTo>
                  <a:lnTo>
                    <a:pt x="169536" y="224290"/>
                  </a:lnTo>
                  <a:lnTo>
                    <a:pt x="165773" y="231481"/>
                  </a:lnTo>
                  <a:lnTo>
                    <a:pt x="162001" y="234427"/>
                  </a:lnTo>
                  <a:lnTo>
                    <a:pt x="147866" y="239977"/>
                  </a:lnTo>
                  <a:lnTo>
                    <a:pt x="170029" y="239977"/>
                  </a:lnTo>
                  <a:lnTo>
                    <a:pt x="173202" y="237348"/>
                  </a:lnTo>
                  <a:lnTo>
                    <a:pt x="174528" y="234877"/>
                  </a:lnTo>
                  <a:lnTo>
                    <a:pt x="179819" y="224686"/>
                  </a:lnTo>
                  <a:lnTo>
                    <a:pt x="179976" y="220559"/>
                  </a:lnTo>
                  <a:lnTo>
                    <a:pt x="180073" y="218032"/>
                  </a:lnTo>
                  <a:lnTo>
                    <a:pt x="175313" y="205882"/>
                  </a:lnTo>
                  <a:close/>
                </a:path>
                <a:path w="739140" h="327025">
                  <a:moveTo>
                    <a:pt x="110660" y="225169"/>
                  </a:moveTo>
                  <a:lnTo>
                    <a:pt x="104076" y="225169"/>
                  </a:lnTo>
                  <a:lnTo>
                    <a:pt x="111188" y="226515"/>
                  </a:lnTo>
                  <a:lnTo>
                    <a:pt x="110660" y="225169"/>
                  </a:lnTo>
                  <a:close/>
                </a:path>
                <a:path w="739140" h="327025">
                  <a:moveTo>
                    <a:pt x="216433" y="172997"/>
                  </a:moveTo>
                  <a:lnTo>
                    <a:pt x="209727" y="173493"/>
                  </a:lnTo>
                  <a:lnTo>
                    <a:pt x="181749" y="184465"/>
                  </a:lnTo>
                  <a:lnTo>
                    <a:pt x="209753" y="255827"/>
                  </a:lnTo>
                  <a:lnTo>
                    <a:pt x="218973" y="252207"/>
                  </a:lnTo>
                  <a:lnTo>
                    <a:pt x="208508" y="225537"/>
                  </a:lnTo>
                  <a:lnTo>
                    <a:pt x="217766" y="221905"/>
                  </a:lnTo>
                  <a:lnTo>
                    <a:pt x="225323" y="219225"/>
                  </a:lnTo>
                  <a:lnTo>
                    <a:pt x="227478" y="217435"/>
                  </a:lnTo>
                  <a:lnTo>
                    <a:pt x="205320" y="217435"/>
                  </a:lnTo>
                  <a:lnTo>
                    <a:pt x="194144" y="188961"/>
                  </a:lnTo>
                  <a:lnTo>
                    <a:pt x="203542" y="185278"/>
                  </a:lnTo>
                  <a:lnTo>
                    <a:pt x="211015" y="183338"/>
                  </a:lnTo>
                  <a:lnTo>
                    <a:pt x="232771" y="183338"/>
                  </a:lnTo>
                  <a:lnTo>
                    <a:pt x="232079" y="181570"/>
                  </a:lnTo>
                  <a:lnTo>
                    <a:pt x="227863" y="177099"/>
                  </a:lnTo>
                  <a:lnTo>
                    <a:pt x="216433" y="172997"/>
                  </a:lnTo>
                  <a:close/>
                </a:path>
                <a:path w="739140" h="327025">
                  <a:moveTo>
                    <a:pt x="232771" y="183338"/>
                  </a:moveTo>
                  <a:lnTo>
                    <a:pt x="211015" y="183338"/>
                  </a:lnTo>
                  <a:lnTo>
                    <a:pt x="217125" y="183918"/>
                  </a:lnTo>
                  <a:lnTo>
                    <a:pt x="221873" y="187020"/>
                  </a:lnTo>
                  <a:lnTo>
                    <a:pt x="225259" y="192644"/>
                  </a:lnTo>
                  <a:lnTo>
                    <a:pt x="227114" y="197381"/>
                  </a:lnTo>
                  <a:lnTo>
                    <a:pt x="227075" y="201585"/>
                  </a:lnTo>
                  <a:lnTo>
                    <a:pt x="223227" y="208938"/>
                  </a:lnTo>
                  <a:lnTo>
                    <a:pt x="219468" y="211885"/>
                  </a:lnTo>
                  <a:lnTo>
                    <a:pt x="205320" y="217435"/>
                  </a:lnTo>
                  <a:lnTo>
                    <a:pt x="227478" y="217435"/>
                  </a:lnTo>
                  <a:lnTo>
                    <a:pt x="230733" y="214730"/>
                  </a:lnTo>
                  <a:lnTo>
                    <a:pt x="237274" y="202131"/>
                  </a:lnTo>
                  <a:lnTo>
                    <a:pt x="237455" y="197381"/>
                  </a:lnTo>
                  <a:lnTo>
                    <a:pt x="237528" y="195489"/>
                  </a:lnTo>
                  <a:lnTo>
                    <a:pt x="232771" y="183338"/>
                  </a:lnTo>
                  <a:close/>
                </a:path>
                <a:path w="739140" h="327025">
                  <a:moveTo>
                    <a:pt x="317792" y="133349"/>
                  </a:moveTo>
                  <a:lnTo>
                    <a:pt x="312572" y="133349"/>
                  </a:lnTo>
                  <a:lnTo>
                    <a:pt x="306565" y="134619"/>
                  </a:lnTo>
                  <a:lnTo>
                    <a:pt x="275366" y="165099"/>
                  </a:lnTo>
                  <a:lnTo>
                    <a:pt x="274792" y="172719"/>
                  </a:lnTo>
                  <a:lnTo>
                    <a:pt x="274696" y="173989"/>
                  </a:lnTo>
                  <a:lnTo>
                    <a:pt x="291420" y="208279"/>
                  </a:lnTo>
                  <a:lnTo>
                    <a:pt x="304140" y="214629"/>
                  </a:lnTo>
                  <a:lnTo>
                    <a:pt x="318309" y="214629"/>
                  </a:lnTo>
                  <a:lnTo>
                    <a:pt x="325831" y="212089"/>
                  </a:lnTo>
                  <a:lnTo>
                    <a:pt x="333755" y="209549"/>
                  </a:lnTo>
                  <a:lnTo>
                    <a:pt x="337786" y="207009"/>
                  </a:lnTo>
                  <a:lnTo>
                    <a:pt x="309295" y="207009"/>
                  </a:lnTo>
                  <a:lnTo>
                    <a:pt x="296024" y="200659"/>
                  </a:lnTo>
                  <a:lnTo>
                    <a:pt x="291033" y="194309"/>
                  </a:lnTo>
                  <a:lnTo>
                    <a:pt x="284149" y="176529"/>
                  </a:lnTo>
                  <a:lnTo>
                    <a:pt x="284048" y="173989"/>
                  </a:lnTo>
                  <a:lnTo>
                    <a:pt x="283997" y="172719"/>
                  </a:lnTo>
                  <a:lnTo>
                    <a:pt x="283895" y="170179"/>
                  </a:lnTo>
                  <a:lnTo>
                    <a:pt x="283844" y="168909"/>
                  </a:lnTo>
                  <a:lnTo>
                    <a:pt x="289699" y="153669"/>
                  </a:lnTo>
                  <a:lnTo>
                    <a:pt x="295135" y="148589"/>
                  </a:lnTo>
                  <a:lnTo>
                    <a:pt x="309194" y="143509"/>
                  </a:lnTo>
                  <a:lnTo>
                    <a:pt x="315353" y="142239"/>
                  </a:lnTo>
                  <a:lnTo>
                    <a:pt x="321092" y="142239"/>
                  </a:lnTo>
                  <a:lnTo>
                    <a:pt x="317792" y="133349"/>
                  </a:lnTo>
                  <a:close/>
                </a:path>
                <a:path w="739140" h="327025">
                  <a:moveTo>
                    <a:pt x="340499" y="191769"/>
                  </a:moveTo>
                  <a:lnTo>
                    <a:pt x="336524" y="196849"/>
                  </a:lnTo>
                  <a:lnTo>
                    <a:pt x="331012" y="200659"/>
                  </a:lnTo>
                  <a:lnTo>
                    <a:pt x="316395" y="207009"/>
                  </a:lnTo>
                  <a:lnTo>
                    <a:pt x="337786" y="207009"/>
                  </a:lnTo>
                  <a:lnTo>
                    <a:pt x="339801" y="205739"/>
                  </a:lnTo>
                  <a:lnTo>
                    <a:pt x="343966" y="200659"/>
                  </a:lnTo>
                  <a:lnTo>
                    <a:pt x="340499" y="191769"/>
                  </a:lnTo>
                  <a:close/>
                </a:path>
                <a:path w="739140" h="327025">
                  <a:moveTo>
                    <a:pt x="378737" y="143509"/>
                  </a:moveTo>
                  <a:lnTo>
                    <a:pt x="365467" y="143509"/>
                  </a:lnTo>
                  <a:lnTo>
                    <a:pt x="370535" y="146049"/>
                  </a:lnTo>
                  <a:lnTo>
                    <a:pt x="373799" y="154939"/>
                  </a:lnTo>
                  <a:lnTo>
                    <a:pt x="359524" y="162559"/>
                  </a:lnTo>
                  <a:lnTo>
                    <a:pt x="352882" y="167639"/>
                  </a:lnTo>
                  <a:lnTo>
                    <a:pt x="348940" y="172719"/>
                  </a:lnTo>
                  <a:lnTo>
                    <a:pt x="347696" y="179069"/>
                  </a:lnTo>
                  <a:lnTo>
                    <a:pt x="349148" y="185419"/>
                  </a:lnTo>
                  <a:lnTo>
                    <a:pt x="350926" y="190499"/>
                  </a:lnTo>
                  <a:lnTo>
                    <a:pt x="353809" y="193039"/>
                  </a:lnTo>
                  <a:lnTo>
                    <a:pt x="361734" y="196849"/>
                  </a:lnTo>
                  <a:lnTo>
                    <a:pt x="366191" y="196849"/>
                  </a:lnTo>
                  <a:lnTo>
                    <a:pt x="378015" y="191769"/>
                  </a:lnTo>
                  <a:lnTo>
                    <a:pt x="381025" y="187959"/>
                  </a:lnTo>
                  <a:lnTo>
                    <a:pt x="365163" y="187959"/>
                  </a:lnTo>
                  <a:lnTo>
                    <a:pt x="360514" y="185419"/>
                  </a:lnTo>
                  <a:lnTo>
                    <a:pt x="358876" y="184149"/>
                  </a:lnTo>
                  <a:lnTo>
                    <a:pt x="356844" y="179069"/>
                  </a:lnTo>
                  <a:lnTo>
                    <a:pt x="356793" y="176529"/>
                  </a:lnTo>
                  <a:lnTo>
                    <a:pt x="358749" y="172719"/>
                  </a:lnTo>
                  <a:lnTo>
                    <a:pt x="361213" y="170179"/>
                  </a:lnTo>
                  <a:lnTo>
                    <a:pt x="365175" y="167639"/>
                  </a:lnTo>
                  <a:lnTo>
                    <a:pt x="376478" y="161289"/>
                  </a:lnTo>
                  <a:lnTo>
                    <a:pt x="386537" y="161289"/>
                  </a:lnTo>
                  <a:lnTo>
                    <a:pt x="382574" y="151129"/>
                  </a:lnTo>
                  <a:lnTo>
                    <a:pt x="378737" y="143509"/>
                  </a:lnTo>
                  <a:close/>
                </a:path>
                <a:path w="739140" h="327025">
                  <a:moveTo>
                    <a:pt x="386537" y="161289"/>
                  </a:moveTo>
                  <a:lnTo>
                    <a:pt x="376478" y="161289"/>
                  </a:lnTo>
                  <a:lnTo>
                    <a:pt x="380034" y="170179"/>
                  </a:lnTo>
                  <a:lnTo>
                    <a:pt x="380123" y="173989"/>
                  </a:lnTo>
                  <a:lnTo>
                    <a:pt x="377189" y="181609"/>
                  </a:lnTo>
                  <a:lnTo>
                    <a:pt x="374497" y="184149"/>
                  </a:lnTo>
                  <a:lnTo>
                    <a:pt x="367741" y="187959"/>
                  </a:lnTo>
                  <a:lnTo>
                    <a:pt x="381025" y="187959"/>
                  </a:lnTo>
                  <a:lnTo>
                    <a:pt x="382028" y="186689"/>
                  </a:lnTo>
                  <a:lnTo>
                    <a:pt x="383184" y="179069"/>
                  </a:lnTo>
                  <a:lnTo>
                    <a:pt x="393471" y="179069"/>
                  </a:lnTo>
                  <a:lnTo>
                    <a:pt x="386537" y="161289"/>
                  </a:lnTo>
                  <a:close/>
                </a:path>
                <a:path w="739140" h="327025">
                  <a:moveTo>
                    <a:pt x="393471" y="179069"/>
                  </a:moveTo>
                  <a:lnTo>
                    <a:pt x="383412" y="179069"/>
                  </a:lnTo>
                  <a:lnTo>
                    <a:pt x="386511" y="186689"/>
                  </a:lnTo>
                  <a:lnTo>
                    <a:pt x="395452" y="184149"/>
                  </a:lnTo>
                  <a:lnTo>
                    <a:pt x="393471" y="179069"/>
                  </a:lnTo>
                  <a:close/>
                </a:path>
                <a:path w="739140" h="327025">
                  <a:moveTo>
                    <a:pt x="399795" y="123189"/>
                  </a:moveTo>
                  <a:lnTo>
                    <a:pt x="390766" y="126999"/>
                  </a:lnTo>
                  <a:lnTo>
                    <a:pt x="410768" y="177799"/>
                  </a:lnTo>
                  <a:lnTo>
                    <a:pt x="419785" y="173989"/>
                  </a:lnTo>
                  <a:lnTo>
                    <a:pt x="406615" y="140969"/>
                  </a:lnTo>
                  <a:lnTo>
                    <a:pt x="406520" y="138429"/>
                  </a:lnTo>
                  <a:lnTo>
                    <a:pt x="406425" y="135889"/>
                  </a:lnTo>
                  <a:lnTo>
                    <a:pt x="407816" y="132079"/>
                  </a:lnTo>
                  <a:lnTo>
                    <a:pt x="403110" y="132079"/>
                  </a:lnTo>
                  <a:lnTo>
                    <a:pt x="399795" y="123189"/>
                  </a:lnTo>
                  <a:close/>
                </a:path>
                <a:path w="739140" h="327025">
                  <a:moveTo>
                    <a:pt x="437172" y="120649"/>
                  </a:moveTo>
                  <a:lnTo>
                    <a:pt x="423494" y="120649"/>
                  </a:lnTo>
                  <a:lnTo>
                    <a:pt x="429374" y="124459"/>
                  </a:lnTo>
                  <a:lnTo>
                    <a:pt x="444855" y="163829"/>
                  </a:lnTo>
                  <a:lnTo>
                    <a:pt x="453834" y="161289"/>
                  </a:lnTo>
                  <a:lnTo>
                    <a:pt x="438924" y="123189"/>
                  </a:lnTo>
                  <a:lnTo>
                    <a:pt x="437172" y="120649"/>
                  </a:lnTo>
                  <a:close/>
                </a:path>
                <a:path w="739140" h="327025">
                  <a:moveTo>
                    <a:pt x="365086" y="137159"/>
                  </a:moveTo>
                  <a:lnTo>
                    <a:pt x="356552" y="138429"/>
                  </a:lnTo>
                  <a:lnTo>
                    <a:pt x="349923" y="140969"/>
                  </a:lnTo>
                  <a:lnTo>
                    <a:pt x="344690" y="144779"/>
                  </a:lnTo>
                  <a:lnTo>
                    <a:pt x="340867" y="149859"/>
                  </a:lnTo>
                  <a:lnTo>
                    <a:pt x="344284" y="158749"/>
                  </a:lnTo>
                  <a:lnTo>
                    <a:pt x="347700" y="152399"/>
                  </a:lnTo>
                  <a:lnTo>
                    <a:pt x="352475" y="148589"/>
                  </a:lnTo>
                  <a:lnTo>
                    <a:pt x="365467" y="143509"/>
                  </a:lnTo>
                  <a:lnTo>
                    <a:pt x="378737" y="143509"/>
                  </a:lnTo>
                  <a:lnTo>
                    <a:pt x="378098" y="142239"/>
                  </a:lnTo>
                  <a:lnTo>
                    <a:pt x="372268" y="138429"/>
                  </a:lnTo>
                  <a:lnTo>
                    <a:pt x="365086" y="137159"/>
                  </a:lnTo>
                  <a:close/>
                </a:path>
                <a:path w="739140" h="327025">
                  <a:moveTo>
                    <a:pt x="475297" y="91439"/>
                  </a:moveTo>
                  <a:lnTo>
                    <a:pt x="461416" y="97789"/>
                  </a:lnTo>
                  <a:lnTo>
                    <a:pt x="456793" y="102869"/>
                  </a:lnTo>
                  <a:lnTo>
                    <a:pt x="452196" y="115569"/>
                  </a:lnTo>
                  <a:lnTo>
                    <a:pt x="452526" y="120649"/>
                  </a:lnTo>
                  <a:lnTo>
                    <a:pt x="452608" y="121919"/>
                  </a:lnTo>
                  <a:lnTo>
                    <a:pt x="452691" y="123189"/>
                  </a:lnTo>
                  <a:lnTo>
                    <a:pt x="459054" y="139699"/>
                  </a:lnTo>
                  <a:lnTo>
                    <a:pt x="463384" y="144779"/>
                  </a:lnTo>
                  <a:lnTo>
                    <a:pt x="474611" y="151129"/>
                  </a:lnTo>
                  <a:lnTo>
                    <a:pt x="480644" y="151129"/>
                  </a:lnTo>
                  <a:lnTo>
                    <a:pt x="494918" y="146049"/>
                  </a:lnTo>
                  <a:lnTo>
                    <a:pt x="498300" y="142239"/>
                  </a:lnTo>
                  <a:lnTo>
                    <a:pt x="478269" y="142239"/>
                  </a:lnTo>
                  <a:lnTo>
                    <a:pt x="470357" y="137159"/>
                  </a:lnTo>
                  <a:lnTo>
                    <a:pt x="467271" y="133349"/>
                  </a:lnTo>
                  <a:lnTo>
                    <a:pt x="462622" y="121919"/>
                  </a:lnTo>
                  <a:lnTo>
                    <a:pt x="462089" y="115569"/>
                  </a:lnTo>
                  <a:lnTo>
                    <a:pt x="464807" y="106679"/>
                  </a:lnTo>
                  <a:lnTo>
                    <a:pt x="467880" y="104139"/>
                  </a:lnTo>
                  <a:lnTo>
                    <a:pt x="476605" y="100329"/>
                  </a:lnTo>
                  <a:lnTo>
                    <a:pt x="498605" y="100329"/>
                  </a:lnTo>
                  <a:lnTo>
                    <a:pt x="497177" y="96715"/>
                  </a:lnTo>
                  <a:lnTo>
                    <a:pt x="486920" y="96715"/>
                  </a:lnTo>
                  <a:lnTo>
                    <a:pt x="481406" y="92709"/>
                  </a:lnTo>
                  <a:lnTo>
                    <a:pt x="475297" y="91439"/>
                  </a:lnTo>
                  <a:close/>
                </a:path>
                <a:path w="739140" h="327025">
                  <a:moveTo>
                    <a:pt x="321092" y="142239"/>
                  </a:moveTo>
                  <a:lnTo>
                    <a:pt x="315353" y="142239"/>
                  </a:lnTo>
                  <a:lnTo>
                    <a:pt x="321563" y="143509"/>
                  </a:lnTo>
                  <a:lnTo>
                    <a:pt x="321092" y="142239"/>
                  </a:lnTo>
                  <a:close/>
                </a:path>
                <a:path w="739140" h="327025">
                  <a:moveTo>
                    <a:pt x="498605" y="100329"/>
                  </a:moveTo>
                  <a:lnTo>
                    <a:pt x="480453" y="100329"/>
                  </a:lnTo>
                  <a:lnTo>
                    <a:pt x="487984" y="104139"/>
                  </a:lnTo>
                  <a:lnTo>
                    <a:pt x="490664" y="106679"/>
                  </a:lnTo>
                  <a:lnTo>
                    <a:pt x="492277" y="110489"/>
                  </a:lnTo>
                  <a:lnTo>
                    <a:pt x="496950" y="121919"/>
                  </a:lnTo>
                  <a:lnTo>
                    <a:pt x="497052" y="124459"/>
                  </a:lnTo>
                  <a:lnTo>
                    <a:pt x="497154" y="126999"/>
                  </a:lnTo>
                  <a:lnTo>
                    <a:pt x="494156" y="135889"/>
                  </a:lnTo>
                  <a:lnTo>
                    <a:pt x="491235" y="138429"/>
                  </a:lnTo>
                  <a:lnTo>
                    <a:pt x="482447" y="142239"/>
                  </a:lnTo>
                  <a:lnTo>
                    <a:pt x="498300" y="142239"/>
                  </a:lnTo>
                  <a:lnTo>
                    <a:pt x="499427" y="140969"/>
                  </a:lnTo>
                  <a:lnTo>
                    <a:pt x="500608" y="132079"/>
                  </a:lnTo>
                  <a:lnTo>
                    <a:pt x="511149" y="132079"/>
                  </a:lnTo>
                  <a:lnTo>
                    <a:pt x="498605" y="100329"/>
                  </a:lnTo>
                  <a:close/>
                </a:path>
                <a:path w="739140" h="327025">
                  <a:moveTo>
                    <a:pt x="511149" y="132079"/>
                  </a:moveTo>
                  <a:lnTo>
                    <a:pt x="500799" y="132079"/>
                  </a:lnTo>
                  <a:lnTo>
                    <a:pt x="504126" y="140969"/>
                  </a:lnTo>
                  <a:lnTo>
                    <a:pt x="513156" y="137159"/>
                  </a:lnTo>
                  <a:lnTo>
                    <a:pt x="511149" y="132079"/>
                  </a:lnTo>
                  <a:close/>
                </a:path>
                <a:path w="739140" h="327025">
                  <a:moveTo>
                    <a:pt x="426770" y="113029"/>
                  </a:moveTo>
                  <a:lnTo>
                    <a:pt x="421817" y="113029"/>
                  </a:lnTo>
                  <a:lnTo>
                    <a:pt x="408927" y="118109"/>
                  </a:lnTo>
                  <a:lnTo>
                    <a:pt x="404609" y="123189"/>
                  </a:lnTo>
                  <a:lnTo>
                    <a:pt x="403288" y="130809"/>
                  </a:lnTo>
                  <a:lnTo>
                    <a:pt x="403110" y="132079"/>
                  </a:lnTo>
                  <a:lnTo>
                    <a:pt x="407816" y="132079"/>
                  </a:lnTo>
                  <a:lnTo>
                    <a:pt x="409206" y="128269"/>
                  </a:lnTo>
                  <a:lnTo>
                    <a:pt x="411886" y="125729"/>
                  </a:lnTo>
                  <a:lnTo>
                    <a:pt x="423494" y="120649"/>
                  </a:lnTo>
                  <a:lnTo>
                    <a:pt x="437172" y="120649"/>
                  </a:lnTo>
                  <a:lnTo>
                    <a:pt x="435419" y="118109"/>
                  </a:lnTo>
                  <a:lnTo>
                    <a:pt x="426770" y="113029"/>
                  </a:lnTo>
                  <a:close/>
                </a:path>
                <a:path w="739140" h="327025">
                  <a:moveTo>
                    <a:pt x="518210" y="76199"/>
                  </a:moveTo>
                  <a:lnTo>
                    <a:pt x="509181" y="80009"/>
                  </a:lnTo>
                  <a:lnTo>
                    <a:pt x="529170" y="130809"/>
                  </a:lnTo>
                  <a:lnTo>
                    <a:pt x="538200" y="126999"/>
                  </a:lnTo>
                  <a:lnTo>
                    <a:pt x="518210" y="76199"/>
                  </a:lnTo>
                  <a:close/>
                </a:path>
                <a:path w="739140" h="327025">
                  <a:moveTo>
                    <a:pt x="560425" y="58419"/>
                  </a:moveTo>
                  <a:lnTo>
                    <a:pt x="546544" y="63499"/>
                  </a:lnTo>
                  <a:lnTo>
                    <a:pt x="541921" y="68579"/>
                  </a:lnTo>
                  <a:lnTo>
                    <a:pt x="537311" y="82549"/>
                  </a:lnTo>
                  <a:lnTo>
                    <a:pt x="537394" y="83819"/>
                  </a:lnTo>
                  <a:lnTo>
                    <a:pt x="537476" y="85089"/>
                  </a:lnTo>
                  <a:lnTo>
                    <a:pt x="537559" y="86359"/>
                  </a:lnTo>
                  <a:lnTo>
                    <a:pt x="537641" y="87629"/>
                  </a:lnTo>
                  <a:lnTo>
                    <a:pt x="537724" y="88899"/>
                  </a:lnTo>
                  <a:lnTo>
                    <a:pt x="537806" y="90169"/>
                  </a:lnTo>
                  <a:lnTo>
                    <a:pt x="544169" y="106679"/>
                  </a:lnTo>
                  <a:lnTo>
                    <a:pt x="548512" y="111759"/>
                  </a:lnTo>
                  <a:lnTo>
                    <a:pt x="559727" y="118109"/>
                  </a:lnTo>
                  <a:lnTo>
                    <a:pt x="565759" y="118109"/>
                  </a:lnTo>
                  <a:lnTo>
                    <a:pt x="580034" y="113029"/>
                  </a:lnTo>
                  <a:lnTo>
                    <a:pt x="582739" y="109219"/>
                  </a:lnTo>
                  <a:lnTo>
                    <a:pt x="567575" y="109219"/>
                  </a:lnTo>
                  <a:lnTo>
                    <a:pt x="563384" y="107949"/>
                  </a:lnTo>
                  <a:lnTo>
                    <a:pt x="555485" y="104139"/>
                  </a:lnTo>
                  <a:lnTo>
                    <a:pt x="552386" y="100329"/>
                  </a:lnTo>
                  <a:lnTo>
                    <a:pt x="547738" y="87629"/>
                  </a:lnTo>
                  <a:lnTo>
                    <a:pt x="547204" y="82549"/>
                  </a:lnTo>
                  <a:lnTo>
                    <a:pt x="549922" y="73659"/>
                  </a:lnTo>
                  <a:lnTo>
                    <a:pt x="552996" y="69849"/>
                  </a:lnTo>
                  <a:lnTo>
                    <a:pt x="561720" y="67309"/>
                  </a:lnTo>
                  <a:lnTo>
                    <a:pt x="583963" y="67309"/>
                  </a:lnTo>
                  <a:lnTo>
                    <a:pt x="582557" y="63692"/>
                  </a:lnTo>
                  <a:lnTo>
                    <a:pt x="572031" y="63692"/>
                  </a:lnTo>
                  <a:lnTo>
                    <a:pt x="566521" y="59689"/>
                  </a:lnTo>
                  <a:lnTo>
                    <a:pt x="560425" y="58419"/>
                  </a:lnTo>
                  <a:close/>
                </a:path>
                <a:path w="739140" h="327025">
                  <a:moveTo>
                    <a:pt x="583963" y="67309"/>
                  </a:moveTo>
                  <a:lnTo>
                    <a:pt x="565569" y="67309"/>
                  </a:lnTo>
                  <a:lnTo>
                    <a:pt x="573100" y="69849"/>
                  </a:lnTo>
                  <a:lnTo>
                    <a:pt x="575792" y="73659"/>
                  </a:lnTo>
                  <a:lnTo>
                    <a:pt x="577392" y="77469"/>
                  </a:lnTo>
                  <a:lnTo>
                    <a:pt x="582066" y="88899"/>
                  </a:lnTo>
                  <a:lnTo>
                    <a:pt x="582167" y="91439"/>
                  </a:lnTo>
                  <a:lnTo>
                    <a:pt x="582269" y="93979"/>
                  </a:lnTo>
                  <a:lnTo>
                    <a:pt x="579285" y="102869"/>
                  </a:lnTo>
                  <a:lnTo>
                    <a:pt x="576351" y="105409"/>
                  </a:lnTo>
                  <a:lnTo>
                    <a:pt x="567575" y="109219"/>
                  </a:lnTo>
                  <a:lnTo>
                    <a:pt x="582739" y="109219"/>
                  </a:lnTo>
                  <a:lnTo>
                    <a:pt x="584542" y="106679"/>
                  </a:lnTo>
                  <a:lnTo>
                    <a:pt x="585723" y="99059"/>
                  </a:lnTo>
                  <a:lnTo>
                    <a:pt x="596298" y="99059"/>
                  </a:lnTo>
                  <a:lnTo>
                    <a:pt x="583963" y="67309"/>
                  </a:lnTo>
                  <a:close/>
                </a:path>
                <a:path w="739140" h="327025">
                  <a:moveTo>
                    <a:pt x="596298" y="99059"/>
                  </a:moveTo>
                  <a:lnTo>
                    <a:pt x="585914" y="99059"/>
                  </a:lnTo>
                  <a:lnTo>
                    <a:pt x="589241" y="107949"/>
                  </a:lnTo>
                  <a:lnTo>
                    <a:pt x="598271" y="104139"/>
                  </a:lnTo>
                  <a:lnTo>
                    <a:pt x="596298" y="99059"/>
                  </a:lnTo>
                  <a:close/>
                </a:path>
                <a:path w="739140" h="327025">
                  <a:moveTo>
                    <a:pt x="483552" y="62229"/>
                  </a:moveTo>
                  <a:lnTo>
                    <a:pt x="474522" y="66039"/>
                  </a:lnTo>
                  <a:lnTo>
                    <a:pt x="486841" y="96519"/>
                  </a:lnTo>
                  <a:lnTo>
                    <a:pt x="486920" y="96715"/>
                  </a:lnTo>
                  <a:lnTo>
                    <a:pt x="497177" y="96715"/>
                  </a:lnTo>
                  <a:lnTo>
                    <a:pt x="483552" y="62229"/>
                  </a:lnTo>
                  <a:close/>
                </a:path>
                <a:path w="739140" h="327025">
                  <a:moveTo>
                    <a:pt x="634807" y="43179"/>
                  </a:moveTo>
                  <a:lnTo>
                    <a:pt x="621525" y="43179"/>
                  </a:lnTo>
                  <a:lnTo>
                    <a:pt x="626605" y="45719"/>
                  </a:lnTo>
                  <a:lnTo>
                    <a:pt x="629869" y="54609"/>
                  </a:lnTo>
                  <a:lnTo>
                    <a:pt x="615594" y="62229"/>
                  </a:lnTo>
                  <a:lnTo>
                    <a:pt x="608950" y="67309"/>
                  </a:lnTo>
                  <a:lnTo>
                    <a:pt x="605004" y="72389"/>
                  </a:lnTo>
                  <a:lnTo>
                    <a:pt x="603755" y="78739"/>
                  </a:lnTo>
                  <a:lnTo>
                    <a:pt x="605205" y="85089"/>
                  </a:lnTo>
                  <a:lnTo>
                    <a:pt x="606996" y="90169"/>
                  </a:lnTo>
                  <a:lnTo>
                    <a:pt x="609866" y="92709"/>
                  </a:lnTo>
                  <a:lnTo>
                    <a:pt x="617804" y="96519"/>
                  </a:lnTo>
                  <a:lnTo>
                    <a:pt x="622261" y="96519"/>
                  </a:lnTo>
                  <a:lnTo>
                    <a:pt x="634085" y="91439"/>
                  </a:lnTo>
                  <a:lnTo>
                    <a:pt x="637095" y="87629"/>
                  </a:lnTo>
                  <a:lnTo>
                    <a:pt x="621233" y="87629"/>
                  </a:lnTo>
                  <a:lnTo>
                    <a:pt x="616584" y="85089"/>
                  </a:lnTo>
                  <a:lnTo>
                    <a:pt x="614946" y="83819"/>
                  </a:lnTo>
                  <a:lnTo>
                    <a:pt x="612914" y="78739"/>
                  </a:lnTo>
                  <a:lnTo>
                    <a:pt x="612863" y="76199"/>
                  </a:lnTo>
                  <a:lnTo>
                    <a:pt x="614819" y="71119"/>
                  </a:lnTo>
                  <a:lnTo>
                    <a:pt x="617283" y="69849"/>
                  </a:lnTo>
                  <a:lnTo>
                    <a:pt x="621245" y="67309"/>
                  </a:lnTo>
                  <a:lnTo>
                    <a:pt x="632548" y="60959"/>
                  </a:lnTo>
                  <a:lnTo>
                    <a:pt x="642761" y="60959"/>
                  </a:lnTo>
                  <a:lnTo>
                    <a:pt x="638644" y="50799"/>
                  </a:lnTo>
                  <a:lnTo>
                    <a:pt x="634807" y="43179"/>
                  </a:lnTo>
                  <a:close/>
                </a:path>
                <a:path w="739140" h="327025">
                  <a:moveTo>
                    <a:pt x="642761" y="60959"/>
                  </a:moveTo>
                  <a:lnTo>
                    <a:pt x="632548" y="60959"/>
                  </a:lnTo>
                  <a:lnTo>
                    <a:pt x="634453" y="66039"/>
                  </a:lnTo>
                  <a:lnTo>
                    <a:pt x="636104" y="69849"/>
                  </a:lnTo>
                  <a:lnTo>
                    <a:pt x="636181" y="73659"/>
                  </a:lnTo>
                  <a:lnTo>
                    <a:pt x="633260" y="81279"/>
                  </a:lnTo>
                  <a:lnTo>
                    <a:pt x="630554" y="83819"/>
                  </a:lnTo>
                  <a:lnTo>
                    <a:pt x="623798" y="86359"/>
                  </a:lnTo>
                  <a:lnTo>
                    <a:pt x="621233" y="87629"/>
                  </a:lnTo>
                  <a:lnTo>
                    <a:pt x="637095" y="87629"/>
                  </a:lnTo>
                  <a:lnTo>
                    <a:pt x="638098" y="86359"/>
                  </a:lnTo>
                  <a:lnTo>
                    <a:pt x="639254" y="78739"/>
                  </a:lnTo>
                  <a:lnTo>
                    <a:pt x="649966" y="78739"/>
                  </a:lnTo>
                  <a:lnTo>
                    <a:pt x="642761" y="60959"/>
                  </a:lnTo>
                  <a:close/>
                </a:path>
                <a:path w="739140" h="327025">
                  <a:moveTo>
                    <a:pt x="649966" y="78739"/>
                  </a:moveTo>
                  <a:lnTo>
                    <a:pt x="639483" y="78739"/>
                  </a:lnTo>
                  <a:lnTo>
                    <a:pt x="642581" y="86359"/>
                  </a:lnTo>
                  <a:lnTo>
                    <a:pt x="651509" y="82549"/>
                  </a:lnTo>
                  <a:lnTo>
                    <a:pt x="649966" y="78739"/>
                  </a:lnTo>
                  <a:close/>
                </a:path>
                <a:path w="739140" h="327025">
                  <a:moveTo>
                    <a:pt x="663084" y="33019"/>
                  </a:moveTo>
                  <a:lnTo>
                    <a:pt x="652576" y="33019"/>
                  </a:lnTo>
                  <a:lnTo>
                    <a:pt x="664121" y="62229"/>
                  </a:lnTo>
                  <a:lnTo>
                    <a:pt x="667583" y="68579"/>
                  </a:lnTo>
                  <a:lnTo>
                    <a:pt x="672009" y="72389"/>
                  </a:lnTo>
                  <a:lnTo>
                    <a:pt x="677399" y="73659"/>
                  </a:lnTo>
                  <a:lnTo>
                    <a:pt x="683755" y="71119"/>
                  </a:lnTo>
                  <a:lnTo>
                    <a:pt x="687108" y="69849"/>
                  </a:lnTo>
                  <a:lnTo>
                    <a:pt x="689546" y="68579"/>
                  </a:lnTo>
                  <a:lnTo>
                    <a:pt x="691095" y="67309"/>
                  </a:lnTo>
                  <a:lnTo>
                    <a:pt x="690113" y="64769"/>
                  </a:lnTo>
                  <a:lnTo>
                    <a:pt x="678700" y="64769"/>
                  </a:lnTo>
                  <a:lnTo>
                    <a:pt x="675297" y="62229"/>
                  </a:lnTo>
                  <a:lnTo>
                    <a:pt x="673785" y="59689"/>
                  </a:lnTo>
                  <a:lnTo>
                    <a:pt x="663084" y="33019"/>
                  </a:lnTo>
                  <a:close/>
                </a:path>
                <a:path w="739140" h="327025">
                  <a:moveTo>
                    <a:pt x="510552" y="64769"/>
                  </a:moveTo>
                  <a:lnTo>
                    <a:pt x="502754" y="64769"/>
                  </a:lnTo>
                  <a:lnTo>
                    <a:pt x="505739" y="66039"/>
                  </a:lnTo>
                  <a:lnTo>
                    <a:pt x="507288" y="66039"/>
                  </a:lnTo>
                  <a:lnTo>
                    <a:pt x="510552" y="64769"/>
                  </a:lnTo>
                  <a:close/>
                </a:path>
                <a:path w="739140" h="327025">
                  <a:moveTo>
                    <a:pt x="511898" y="55879"/>
                  </a:moveTo>
                  <a:lnTo>
                    <a:pt x="501789" y="55879"/>
                  </a:lnTo>
                  <a:lnTo>
                    <a:pt x="500456" y="59689"/>
                  </a:lnTo>
                  <a:lnTo>
                    <a:pt x="500443" y="60959"/>
                  </a:lnTo>
                  <a:lnTo>
                    <a:pt x="501065" y="62229"/>
                  </a:lnTo>
                  <a:lnTo>
                    <a:pt x="501700" y="64769"/>
                  </a:lnTo>
                  <a:lnTo>
                    <a:pt x="511721" y="64769"/>
                  </a:lnTo>
                  <a:lnTo>
                    <a:pt x="513130" y="60959"/>
                  </a:lnTo>
                  <a:lnTo>
                    <a:pt x="513168" y="59689"/>
                  </a:lnTo>
                  <a:lnTo>
                    <a:pt x="511898" y="55879"/>
                  </a:lnTo>
                  <a:close/>
                </a:path>
                <a:path w="739140" h="327025">
                  <a:moveTo>
                    <a:pt x="688149" y="59689"/>
                  </a:moveTo>
                  <a:lnTo>
                    <a:pt x="687082" y="60959"/>
                  </a:lnTo>
                  <a:lnTo>
                    <a:pt x="685545" y="62229"/>
                  </a:lnTo>
                  <a:lnTo>
                    <a:pt x="680872" y="64769"/>
                  </a:lnTo>
                  <a:lnTo>
                    <a:pt x="690113" y="64769"/>
                  </a:lnTo>
                  <a:lnTo>
                    <a:pt x="688149" y="59689"/>
                  </a:lnTo>
                  <a:close/>
                </a:path>
                <a:path w="739140" h="327025">
                  <a:moveTo>
                    <a:pt x="568667" y="27939"/>
                  </a:moveTo>
                  <a:lnTo>
                    <a:pt x="559650" y="31749"/>
                  </a:lnTo>
                  <a:lnTo>
                    <a:pt x="571957" y="63499"/>
                  </a:lnTo>
                  <a:lnTo>
                    <a:pt x="572031" y="63692"/>
                  </a:lnTo>
                  <a:lnTo>
                    <a:pt x="582557" y="63692"/>
                  </a:lnTo>
                  <a:lnTo>
                    <a:pt x="568667" y="27939"/>
                  </a:lnTo>
                  <a:close/>
                </a:path>
                <a:path w="739140" h="327025">
                  <a:moveTo>
                    <a:pt x="714806" y="0"/>
                  </a:moveTo>
                  <a:lnTo>
                    <a:pt x="708761" y="0"/>
                  </a:lnTo>
                  <a:lnTo>
                    <a:pt x="695375" y="5079"/>
                  </a:lnTo>
                  <a:lnTo>
                    <a:pt x="690740" y="10159"/>
                  </a:lnTo>
                  <a:lnTo>
                    <a:pt x="685660" y="24129"/>
                  </a:lnTo>
                  <a:lnTo>
                    <a:pt x="685702" y="25399"/>
                  </a:lnTo>
                  <a:lnTo>
                    <a:pt x="685787" y="27939"/>
                  </a:lnTo>
                  <a:lnTo>
                    <a:pt x="685914" y="31749"/>
                  </a:lnTo>
                  <a:lnTo>
                    <a:pt x="692238" y="46989"/>
                  </a:lnTo>
                  <a:lnTo>
                    <a:pt x="696848" y="53339"/>
                  </a:lnTo>
                  <a:lnTo>
                    <a:pt x="708761" y="59689"/>
                  </a:lnTo>
                  <a:lnTo>
                    <a:pt x="715429" y="59689"/>
                  </a:lnTo>
                  <a:lnTo>
                    <a:pt x="730199" y="53339"/>
                  </a:lnTo>
                  <a:lnTo>
                    <a:pt x="733746" y="50799"/>
                  </a:lnTo>
                  <a:lnTo>
                    <a:pt x="712457" y="50799"/>
                  </a:lnTo>
                  <a:lnTo>
                    <a:pt x="704481" y="46989"/>
                  </a:lnTo>
                  <a:lnTo>
                    <a:pt x="701344" y="43179"/>
                  </a:lnTo>
                  <a:lnTo>
                    <a:pt x="699046" y="38099"/>
                  </a:lnTo>
                  <a:lnTo>
                    <a:pt x="718497" y="30479"/>
                  </a:lnTo>
                  <a:lnTo>
                    <a:pt x="696213" y="30479"/>
                  </a:lnTo>
                  <a:lnTo>
                    <a:pt x="695197" y="25399"/>
                  </a:lnTo>
                  <a:lnTo>
                    <a:pt x="695490" y="21589"/>
                  </a:lnTo>
                  <a:lnTo>
                    <a:pt x="698639" y="13969"/>
                  </a:lnTo>
                  <a:lnTo>
                    <a:pt x="701217" y="11429"/>
                  </a:lnTo>
                  <a:lnTo>
                    <a:pt x="708710" y="8889"/>
                  </a:lnTo>
                  <a:lnTo>
                    <a:pt x="727779" y="8889"/>
                  </a:lnTo>
                  <a:lnTo>
                    <a:pt x="725665" y="6349"/>
                  </a:lnTo>
                  <a:lnTo>
                    <a:pt x="714806" y="0"/>
                  </a:lnTo>
                  <a:close/>
                </a:path>
                <a:path w="739140" h="327025">
                  <a:moveTo>
                    <a:pt x="621156" y="36829"/>
                  </a:moveTo>
                  <a:lnTo>
                    <a:pt x="612622" y="38099"/>
                  </a:lnTo>
                  <a:lnTo>
                    <a:pt x="605993" y="40639"/>
                  </a:lnTo>
                  <a:lnTo>
                    <a:pt x="600760" y="44449"/>
                  </a:lnTo>
                  <a:lnTo>
                    <a:pt x="596938" y="49529"/>
                  </a:lnTo>
                  <a:lnTo>
                    <a:pt x="600354" y="58419"/>
                  </a:lnTo>
                  <a:lnTo>
                    <a:pt x="603770" y="52069"/>
                  </a:lnTo>
                  <a:lnTo>
                    <a:pt x="608533" y="48259"/>
                  </a:lnTo>
                  <a:lnTo>
                    <a:pt x="621525" y="43179"/>
                  </a:lnTo>
                  <a:lnTo>
                    <a:pt x="634807" y="43179"/>
                  </a:lnTo>
                  <a:lnTo>
                    <a:pt x="634168" y="41909"/>
                  </a:lnTo>
                  <a:lnTo>
                    <a:pt x="628338" y="38099"/>
                  </a:lnTo>
                  <a:lnTo>
                    <a:pt x="621156" y="36829"/>
                  </a:lnTo>
                  <a:close/>
                </a:path>
                <a:path w="739140" h="327025">
                  <a:moveTo>
                    <a:pt x="509269" y="54609"/>
                  </a:moveTo>
                  <a:lnTo>
                    <a:pt x="506133" y="54609"/>
                  </a:lnTo>
                  <a:lnTo>
                    <a:pt x="502919" y="55879"/>
                  </a:lnTo>
                  <a:lnTo>
                    <a:pt x="510806" y="55879"/>
                  </a:lnTo>
                  <a:lnTo>
                    <a:pt x="509269" y="54609"/>
                  </a:lnTo>
                  <a:close/>
                </a:path>
                <a:path w="739140" h="327025">
                  <a:moveTo>
                    <a:pt x="735609" y="36829"/>
                  </a:moveTo>
                  <a:lnTo>
                    <a:pt x="732281" y="41909"/>
                  </a:lnTo>
                  <a:lnTo>
                    <a:pt x="727760" y="45719"/>
                  </a:lnTo>
                  <a:lnTo>
                    <a:pt x="716978" y="50799"/>
                  </a:lnTo>
                  <a:lnTo>
                    <a:pt x="733746" y="50799"/>
                  </a:lnTo>
                  <a:lnTo>
                    <a:pt x="735520" y="49529"/>
                  </a:lnTo>
                  <a:lnTo>
                    <a:pt x="738771" y="44449"/>
                  </a:lnTo>
                  <a:lnTo>
                    <a:pt x="735609" y="36829"/>
                  </a:lnTo>
                  <a:close/>
                </a:path>
                <a:path w="739140" h="327025">
                  <a:moveTo>
                    <a:pt x="652691" y="6349"/>
                  </a:moveTo>
                  <a:lnTo>
                    <a:pt x="644829" y="12699"/>
                  </a:lnTo>
                  <a:lnTo>
                    <a:pt x="649643" y="25399"/>
                  </a:lnTo>
                  <a:lnTo>
                    <a:pt x="640892" y="27939"/>
                  </a:lnTo>
                  <a:lnTo>
                    <a:pt x="643826" y="35559"/>
                  </a:lnTo>
                  <a:lnTo>
                    <a:pt x="652576" y="33019"/>
                  </a:lnTo>
                  <a:lnTo>
                    <a:pt x="663084" y="33019"/>
                  </a:lnTo>
                  <a:lnTo>
                    <a:pt x="661555" y="29209"/>
                  </a:lnTo>
                  <a:lnTo>
                    <a:pt x="674217" y="24129"/>
                  </a:lnTo>
                  <a:lnTo>
                    <a:pt x="673243" y="21589"/>
                  </a:lnTo>
                  <a:lnTo>
                    <a:pt x="658621" y="21589"/>
                  </a:lnTo>
                  <a:lnTo>
                    <a:pt x="652691" y="6349"/>
                  </a:lnTo>
                  <a:close/>
                </a:path>
                <a:path w="739140" h="327025">
                  <a:moveTo>
                    <a:pt x="727779" y="8889"/>
                  </a:moveTo>
                  <a:lnTo>
                    <a:pt x="712241" y="8889"/>
                  </a:lnTo>
                  <a:lnTo>
                    <a:pt x="718515" y="12699"/>
                  </a:lnTo>
                  <a:lnTo>
                    <a:pt x="721004" y="15239"/>
                  </a:lnTo>
                  <a:lnTo>
                    <a:pt x="722833" y="20319"/>
                  </a:lnTo>
                  <a:lnTo>
                    <a:pt x="696213" y="30479"/>
                  </a:lnTo>
                  <a:lnTo>
                    <a:pt x="718497" y="30479"/>
                  </a:lnTo>
                  <a:lnTo>
                    <a:pt x="734707" y="24129"/>
                  </a:lnTo>
                  <a:lnTo>
                    <a:pt x="729894" y="11429"/>
                  </a:lnTo>
                  <a:lnTo>
                    <a:pt x="727779" y="8889"/>
                  </a:lnTo>
                  <a:close/>
                </a:path>
                <a:path w="739140" h="327025">
                  <a:moveTo>
                    <a:pt x="671296" y="16509"/>
                  </a:moveTo>
                  <a:lnTo>
                    <a:pt x="658621" y="21589"/>
                  </a:lnTo>
                  <a:lnTo>
                    <a:pt x="673243" y="21589"/>
                  </a:lnTo>
                  <a:lnTo>
                    <a:pt x="671296" y="16509"/>
                  </a:lnTo>
                  <a:close/>
                </a:path>
              </a:pathLst>
            </a:custGeom>
            <a:solidFill>
              <a:srgbClr val="FFFFFF"/>
            </a:solidFill>
          </p:spPr>
          <p:txBody>
            <a:bodyPr wrap="square" lIns="0" tIns="0" rIns="0" bIns="0" rtlCol="0"/>
            <a:lstStyle/>
            <a:p/>
          </p:txBody>
        </p:sp>
      </p:grpSp>
      <p:sp>
        <p:nvSpPr>
          <p:cNvPr id="117" name="object 117" descr=""/>
          <p:cNvSpPr/>
          <p:nvPr/>
        </p:nvSpPr>
        <p:spPr>
          <a:xfrm>
            <a:off x="4033216" y="4645379"/>
            <a:ext cx="490220" cy="289560"/>
          </a:xfrm>
          <a:custGeom>
            <a:avLst/>
            <a:gdLst/>
            <a:ahLst/>
            <a:cxnLst/>
            <a:rect l="l" t="t" r="r" b="b"/>
            <a:pathLst>
              <a:path w="490220" h="289560">
                <a:moveTo>
                  <a:pt x="345313" y="0"/>
                </a:moveTo>
                <a:lnTo>
                  <a:pt x="345313" y="72250"/>
                </a:lnTo>
                <a:lnTo>
                  <a:pt x="0" y="72250"/>
                </a:lnTo>
                <a:lnTo>
                  <a:pt x="0" y="216738"/>
                </a:lnTo>
                <a:lnTo>
                  <a:pt x="345313" y="216738"/>
                </a:lnTo>
                <a:lnTo>
                  <a:pt x="345313" y="288975"/>
                </a:lnTo>
                <a:lnTo>
                  <a:pt x="489800" y="144500"/>
                </a:lnTo>
                <a:lnTo>
                  <a:pt x="345313" y="0"/>
                </a:lnTo>
                <a:close/>
              </a:path>
            </a:pathLst>
          </a:custGeom>
          <a:solidFill>
            <a:srgbClr val="C00000"/>
          </a:solidFill>
        </p:spPr>
        <p:txBody>
          <a:bodyPr wrap="square" lIns="0" tIns="0" rIns="0" bIns="0" rtlCol="0"/>
          <a:lstStyle/>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80255" y="185829"/>
            <a:ext cx="3391535" cy="513080"/>
          </a:xfrm>
          <a:prstGeom prst="rect"/>
        </p:spPr>
        <p:txBody>
          <a:bodyPr wrap="square" lIns="0" tIns="12065" rIns="0" bIns="0" rtlCol="0" vert="horz">
            <a:spAutoFit/>
          </a:bodyPr>
          <a:lstStyle/>
          <a:p>
            <a:pPr marL="12700">
              <a:lnSpc>
                <a:spcPct val="100000"/>
              </a:lnSpc>
              <a:spcBef>
                <a:spcPts val="95"/>
              </a:spcBef>
            </a:pPr>
            <a:r>
              <a:rPr dirty="0" spc="-35"/>
              <a:t>面向</a:t>
            </a:r>
            <a:r>
              <a:rPr dirty="0" spc="-30">
                <a:latin typeface="Times New Roman"/>
                <a:cs typeface="Times New Roman"/>
              </a:rPr>
              <a:t>5G</a:t>
            </a:r>
            <a:r>
              <a:rPr dirty="0" spc="-45"/>
              <a:t>的室分创新</a:t>
            </a:r>
          </a:p>
        </p:txBody>
      </p:sp>
      <p:grpSp>
        <p:nvGrpSpPr>
          <p:cNvPr id="3" name="object 3" descr=""/>
          <p:cNvGrpSpPr/>
          <p:nvPr/>
        </p:nvGrpSpPr>
        <p:grpSpPr>
          <a:xfrm>
            <a:off x="209550" y="800096"/>
            <a:ext cx="3870960" cy="4229100"/>
            <a:chOff x="209550" y="800096"/>
            <a:chExt cx="3870960" cy="4229100"/>
          </a:xfrm>
        </p:grpSpPr>
        <p:sp>
          <p:nvSpPr>
            <p:cNvPr id="4" name="object 4" descr=""/>
            <p:cNvSpPr/>
            <p:nvPr/>
          </p:nvSpPr>
          <p:spPr>
            <a:xfrm>
              <a:off x="228600" y="819146"/>
              <a:ext cx="3832860" cy="4191000"/>
            </a:xfrm>
            <a:custGeom>
              <a:avLst/>
              <a:gdLst/>
              <a:ahLst/>
              <a:cxnLst/>
              <a:rect l="l" t="t" r="r" b="b"/>
              <a:pathLst>
                <a:path w="3832860" h="4191000">
                  <a:moveTo>
                    <a:pt x="3691826" y="0"/>
                  </a:moveTo>
                  <a:lnTo>
                    <a:pt x="140576" y="0"/>
                  </a:lnTo>
                  <a:lnTo>
                    <a:pt x="96144" y="7166"/>
                  </a:lnTo>
                  <a:lnTo>
                    <a:pt x="57555" y="27123"/>
                  </a:lnTo>
                  <a:lnTo>
                    <a:pt x="27123" y="57555"/>
                  </a:lnTo>
                  <a:lnTo>
                    <a:pt x="7166" y="96144"/>
                  </a:lnTo>
                  <a:lnTo>
                    <a:pt x="0" y="140576"/>
                  </a:lnTo>
                  <a:lnTo>
                    <a:pt x="0" y="4050436"/>
                  </a:lnTo>
                  <a:lnTo>
                    <a:pt x="7166" y="4094866"/>
                  </a:lnTo>
                  <a:lnTo>
                    <a:pt x="27123" y="4133453"/>
                  </a:lnTo>
                  <a:lnTo>
                    <a:pt x="57555" y="4163880"/>
                  </a:lnTo>
                  <a:lnTo>
                    <a:pt x="96144" y="4183834"/>
                  </a:lnTo>
                  <a:lnTo>
                    <a:pt x="140576" y="4191000"/>
                  </a:lnTo>
                  <a:lnTo>
                    <a:pt x="3691826" y="4191000"/>
                  </a:lnTo>
                  <a:lnTo>
                    <a:pt x="3736258" y="4183834"/>
                  </a:lnTo>
                  <a:lnTo>
                    <a:pt x="3774847" y="4163880"/>
                  </a:lnTo>
                  <a:lnTo>
                    <a:pt x="3805278" y="4133453"/>
                  </a:lnTo>
                  <a:lnTo>
                    <a:pt x="3825235" y="4094866"/>
                  </a:lnTo>
                  <a:lnTo>
                    <a:pt x="3832402" y="4050436"/>
                  </a:lnTo>
                  <a:lnTo>
                    <a:pt x="3832402" y="140576"/>
                  </a:lnTo>
                  <a:lnTo>
                    <a:pt x="3825235" y="96144"/>
                  </a:lnTo>
                  <a:lnTo>
                    <a:pt x="3805278" y="57555"/>
                  </a:lnTo>
                  <a:lnTo>
                    <a:pt x="3774847" y="27123"/>
                  </a:lnTo>
                  <a:lnTo>
                    <a:pt x="3736258" y="7166"/>
                  </a:lnTo>
                  <a:lnTo>
                    <a:pt x="3691826" y="0"/>
                  </a:lnTo>
                  <a:close/>
                </a:path>
              </a:pathLst>
            </a:custGeom>
            <a:solidFill>
              <a:srgbClr val="FFFFFF"/>
            </a:solidFill>
          </p:spPr>
          <p:txBody>
            <a:bodyPr wrap="square" lIns="0" tIns="0" rIns="0" bIns="0" rtlCol="0"/>
            <a:lstStyle/>
            <a:p/>
          </p:txBody>
        </p:sp>
        <p:sp>
          <p:nvSpPr>
            <p:cNvPr id="5" name="object 5" descr=""/>
            <p:cNvSpPr/>
            <p:nvPr/>
          </p:nvSpPr>
          <p:spPr>
            <a:xfrm>
              <a:off x="228600" y="819146"/>
              <a:ext cx="3832860" cy="4191000"/>
            </a:xfrm>
            <a:custGeom>
              <a:avLst/>
              <a:gdLst/>
              <a:ahLst/>
              <a:cxnLst/>
              <a:rect l="l" t="t" r="r" b="b"/>
              <a:pathLst>
                <a:path w="3832860" h="4191000">
                  <a:moveTo>
                    <a:pt x="0" y="140576"/>
                  </a:moveTo>
                  <a:lnTo>
                    <a:pt x="7166" y="96144"/>
                  </a:lnTo>
                  <a:lnTo>
                    <a:pt x="27123" y="57555"/>
                  </a:lnTo>
                  <a:lnTo>
                    <a:pt x="57555" y="27123"/>
                  </a:lnTo>
                  <a:lnTo>
                    <a:pt x="96144" y="7166"/>
                  </a:lnTo>
                  <a:lnTo>
                    <a:pt x="140576" y="0"/>
                  </a:lnTo>
                  <a:lnTo>
                    <a:pt x="3691826" y="0"/>
                  </a:lnTo>
                  <a:lnTo>
                    <a:pt x="3736258" y="7166"/>
                  </a:lnTo>
                  <a:lnTo>
                    <a:pt x="3774847" y="27123"/>
                  </a:lnTo>
                  <a:lnTo>
                    <a:pt x="3805278" y="57555"/>
                  </a:lnTo>
                  <a:lnTo>
                    <a:pt x="3825235" y="96144"/>
                  </a:lnTo>
                  <a:lnTo>
                    <a:pt x="3832402" y="140576"/>
                  </a:lnTo>
                  <a:lnTo>
                    <a:pt x="3832402" y="4050436"/>
                  </a:lnTo>
                  <a:lnTo>
                    <a:pt x="3825235" y="4094866"/>
                  </a:lnTo>
                  <a:lnTo>
                    <a:pt x="3805278" y="4133453"/>
                  </a:lnTo>
                  <a:lnTo>
                    <a:pt x="3774847" y="4163880"/>
                  </a:lnTo>
                  <a:lnTo>
                    <a:pt x="3736258" y="4183834"/>
                  </a:lnTo>
                  <a:lnTo>
                    <a:pt x="3691826" y="4191000"/>
                  </a:lnTo>
                  <a:lnTo>
                    <a:pt x="140576" y="4191000"/>
                  </a:lnTo>
                  <a:lnTo>
                    <a:pt x="96144" y="4183834"/>
                  </a:lnTo>
                  <a:lnTo>
                    <a:pt x="57555" y="4163880"/>
                  </a:lnTo>
                  <a:lnTo>
                    <a:pt x="27123" y="4133453"/>
                  </a:lnTo>
                  <a:lnTo>
                    <a:pt x="7166" y="4094866"/>
                  </a:lnTo>
                  <a:lnTo>
                    <a:pt x="0" y="4050436"/>
                  </a:lnTo>
                  <a:lnTo>
                    <a:pt x="0" y="140576"/>
                  </a:lnTo>
                  <a:close/>
                </a:path>
              </a:pathLst>
            </a:custGeom>
            <a:ln w="38100">
              <a:solidFill>
                <a:srgbClr val="042C51"/>
              </a:solidFill>
            </a:ln>
          </p:spPr>
          <p:txBody>
            <a:bodyPr wrap="square" lIns="0" tIns="0" rIns="0" bIns="0" rtlCol="0"/>
            <a:lstStyle/>
            <a:p/>
          </p:txBody>
        </p:sp>
      </p:grpSp>
      <p:sp>
        <p:nvSpPr>
          <p:cNvPr id="6" name="object 6" descr=""/>
          <p:cNvSpPr txBox="1"/>
          <p:nvPr/>
        </p:nvSpPr>
        <p:spPr>
          <a:xfrm>
            <a:off x="268503" y="888568"/>
            <a:ext cx="339090" cy="189865"/>
          </a:xfrm>
          <a:prstGeom prst="rect">
            <a:avLst/>
          </a:prstGeom>
          <a:solidFill>
            <a:srgbClr val="0069A6"/>
          </a:solidFill>
        </p:spPr>
        <p:txBody>
          <a:bodyPr wrap="square" lIns="0" tIns="43815" rIns="0" bIns="0" rtlCol="0" vert="horz">
            <a:spAutoFit/>
          </a:bodyPr>
          <a:lstStyle/>
          <a:p>
            <a:pPr marL="80645">
              <a:lnSpc>
                <a:spcPct val="100000"/>
              </a:lnSpc>
              <a:spcBef>
                <a:spcPts val="345"/>
              </a:spcBef>
            </a:pPr>
            <a:r>
              <a:rPr dirty="0" sz="700" spc="-25">
                <a:solidFill>
                  <a:srgbClr val="FFFFFF"/>
                </a:solidFill>
                <a:latin typeface="SimSun"/>
                <a:cs typeface="SimSun"/>
              </a:rPr>
              <a:t>频段</a:t>
            </a:r>
            <a:endParaRPr sz="700">
              <a:latin typeface="SimSun"/>
              <a:cs typeface="SimSun"/>
            </a:endParaRPr>
          </a:p>
        </p:txBody>
      </p:sp>
      <p:sp>
        <p:nvSpPr>
          <p:cNvPr id="7" name="object 7" descr=""/>
          <p:cNvSpPr txBox="1"/>
          <p:nvPr/>
        </p:nvSpPr>
        <p:spPr>
          <a:xfrm>
            <a:off x="615797" y="888568"/>
            <a:ext cx="427990" cy="189865"/>
          </a:xfrm>
          <a:prstGeom prst="rect">
            <a:avLst/>
          </a:prstGeom>
          <a:solidFill>
            <a:srgbClr val="0069A6"/>
          </a:solidFill>
        </p:spPr>
        <p:txBody>
          <a:bodyPr wrap="square" lIns="0" tIns="47625" rIns="0" bIns="0" rtlCol="0" vert="horz">
            <a:spAutoFit/>
          </a:bodyPr>
          <a:lstStyle/>
          <a:p>
            <a:pPr marL="109220">
              <a:lnSpc>
                <a:spcPct val="100000"/>
              </a:lnSpc>
              <a:spcBef>
                <a:spcPts val="375"/>
              </a:spcBef>
            </a:pPr>
            <a:r>
              <a:rPr dirty="0" sz="700" spc="-25">
                <a:solidFill>
                  <a:srgbClr val="FFFFFF"/>
                </a:solidFill>
                <a:latin typeface="SimSun"/>
                <a:cs typeface="SimSun"/>
              </a:rPr>
              <a:t>制式</a:t>
            </a:r>
            <a:endParaRPr sz="700">
              <a:latin typeface="SimSun"/>
              <a:cs typeface="SimSun"/>
            </a:endParaRPr>
          </a:p>
        </p:txBody>
      </p:sp>
      <p:sp>
        <p:nvSpPr>
          <p:cNvPr id="8" name="object 8" descr=""/>
          <p:cNvSpPr txBox="1"/>
          <p:nvPr/>
        </p:nvSpPr>
        <p:spPr>
          <a:xfrm>
            <a:off x="269608" y="1089215"/>
            <a:ext cx="337820" cy="189865"/>
          </a:xfrm>
          <a:prstGeom prst="rect">
            <a:avLst/>
          </a:prstGeom>
          <a:solidFill>
            <a:srgbClr val="666666"/>
          </a:solidFill>
        </p:spPr>
        <p:txBody>
          <a:bodyPr wrap="square" lIns="0" tIns="53975" rIns="0" bIns="0" rtlCol="0" vert="horz">
            <a:spAutoFit/>
          </a:bodyPr>
          <a:lstStyle/>
          <a:p>
            <a:pPr marL="57150">
              <a:lnSpc>
                <a:spcPct val="100000"/>
              </a:lnSpc>
              <a:spcBef>
                <a:spcPts val="425"/>
              </a:spcBef>
            </a:pPr>
            <a:r>
              <a:rPr dirty="0" sz="500">
                <a:solidFill>
                  <a:srgbClr val="FFFFFF"/>
                </a:solidFill>
                <a:latin typeface="SimSun"/>
                <a:cs typeface="SimSun"/>
              </a:rPr>
              <a:t>800</a:t>
            </a:r>
            <a:r>
              <a:rPr dirty="0" sz="500" spc="-20">
                <a:solidFill>
                  <a:srgbClr val="FFFFFF"/>
                </a:solidFill>
                <a:latin typeface="SimSun"/>
                <a:cs typeface="SimSun"/>
              </a:rPr>
              <a:t> </a:t>
            </a:r>
            <a:r>
              <a:rPr dirty="0" sz="500" spc="-25">
                <a:solidFill>
                  <a:srgbClr val="FFFFFF"/>
                </a:solidFill>
                <a:latin typeface="SimSun"/>
                <a:cs typeface="SimSun"/>
              </a:rPr>
              <a:t>MHz</a:t>
            </a:r>
            <a:endParaRPr sz="500">
              <a:latin typeface="SimSun"/>
              <a:cs typeface="SimSun"/>
            </a:endParaRPr>
          </a:p>
        </p:txBody>
      </p:sp>
      <p:sp>
        <p:nvSpPr>
          <p:cNvPr id="9" name="object 9" descr=""/>
          <p:cNvSpPr txBox="1"/>
          <p:nvPr/>
        </p:nvSpPr>
        <p:spPr>
          <a:xfrm>
            <a:off x="615797" y="1096810"/>
            <a:ext cx="399415" cy="182245"/>
          </a:xfrm>
          <a:prstGeom prst="rect">
            <a:avLst/>
          </a:prstGeom>
          <a:solidFill>
            <a:srgbClr val="D6ECEE"/>
          </a:solidFill>
        </p:spPr>
        <p:txBody>
          <a:bodyPr wrap="square" lIns="0" tIns="50165" rIns="0" bIns="0" rtlCol="0" vert="horz">
            <a:spAutoFit/>
          </a:bodyPr>
          <a:lstStyle/>
          <a:p>
            <a:pPr algn="ctr">
              <a:lnSpc>
                <a:spcPct val="100000"/>
              </a:lnSpc>
              <a:spcBef>
                <a:spcPts val="395"/>
              </a:spcBef>
            </a:pPr>
            <a:r>
              <a:rPr dirty="0" sz="500" spc="-20">
                <a:solidFill>
                  <a:srgbClr val="FFFFFF"/>
                </a:solidFill>
                <a:latin typeface="SimSun"/>
                <a:cs typeface="SimSun"/>
              </a:rPr>
              <a:t>CDMA</a:t>
            </a:r>
            <a:endParaRPr sz="500">
              <a:latin typeface="SimSun"/>
              <a:cs typeface="SimSun"/>
            </a:endParaRPr>
          </a:p>
        </p:txBody>
      </p:sp>
      <p:sp>
        <p:nvSpPr>
          <p:cNvPr id="10" name="object 10" descr=""/>
          <p:cNvSpPr txBox="1"/>
          <p:nvPr/>
        </p:nvSpPr>
        <p:spPr>
          <a:xfrm>
            <a:off x="269608" y="1284287"/>
            <a:ext cx="337820" cy="386080"/>
          </a:xfrm>
          <a:prstGeom prst="rect">
            <a:avLst/>
          </a:prstGeom>
          <a:solidFill>
            <a:srgbClr val="9A9A9A"/>
          </a:solidFill>
        </p:spPr>
        <p:txBody>
          <a:bodyPr wrap="square" lIns="0" tIns="0" rIns="0" bIns="0" rtlCol="0" vert="horz">
            <a:spAutoFit/>
          </a:bodyPr>
          <a:lstStyle/>
          <a:p>
            <a:pPr>
              <a:lnSpc>
                <a:spcPct val="100000"/>
              </a:lnSpc>
            </a:pPr>
            <a:endParaRPr sz="500">
              <a:latin typeface="Times New Roman"/>
              <a:cs typeface="Times New Roman"/>
            </a:endParaRPr>
          </a:p>
          <a:p>
            <a:pPr>
              <a:lnSpc>
                <a:spcPct val="100000"/>
              </a:lnSpc>
              <a:spcBef>
                <a:spcPts val="45"/>
              </a:spcBef>
            </a:pPr>
            <a:endParaRPr sz="500">
              <a:latin typeface="Times New Roman"/>
              <a:cs typeface="Times New Roman"/>
            </a:endParaRPr>
          </a:p>
          <a:p>
            <a:pPr marL="57150">
              <a:lnSpc>
                <a:spcPct val="100000"/>
              </a:lnSpc>
              <a:spcBef>
                <a:spcPts val="5"/>
              </a:spcBef>
            </a:pPr>
            <a:r>
              <a:rPr dirty="0" sz="500">
                <a:solidFill>
                  <a:srgbClr val="FFFFFF"/>
                </a:solidFill>
                <a:latin typeface="SimSun"/>
                <a:cs typeface="SimSun"/>
              </a:rPr>
              <a:t>800</a:t>
            </a:r>
            <a:r>
              <a:rPr dirty="0" sz="500" spc="-20">
                <a:solidFill>
                  <a:srgbClr val="FFFFFF"/>
                </a:solidFill>
                <a:latin typeface="SimSun"/>
                <a:cs typeface="SimSun"/>
              </a:rPr>
              <a:t> </a:t>
            </a:r>
            <a:r>
              <a:rPr dirty="0" sz="500" spc="-25">
                <a:solidFill>
                  <a:srgbClr val="FFFFFF"/>
                </a:solidFill>
                <a:latin typeface="SimSun"/>
                <a:cs typeface="SimSun"/>
              </a:rPr>
              <a:t>MHz</a:t>
            </a:r>
            <a:endParaRPr sz="500">
              <a:latin typeface="SimSun"/>
              <a:cs typeface="SimSun"/>
            </a:endParaRPr>
          </a:p>
        </p:txBody>
      </p:sp>
      <p:sp>
        <p:nvSpPr>
          <p:cNvPr id="11" name="object 11" descr=""/>
          <p:cNvSpPr txBox="1"/>
          <p:nvPr/>
        </p:nvSpPr>
        <p:spPr>
          <a:xfrm>
            <a:off x="615797" y="1291882"/>
            <a:ext cx="399415" cy="182245"/>
          </a:xfrm>
          <a:prstGeom prst="rect">
            <a:avLst/>
          </a:prstGeom>
          <a:solidFill>
            <a:srgbClr val="666666"/>
          </a:solidFill>
        </p:spPr>
        <p:txBody>
          <a:bodyPr wrap="square" lIns="0" tIns="50165" rIns="0" bIns="0" rtlCol="0" vert="horz">
            <a:spAutoFit/>
          </a:bodyPr>
          <a:lstStyle/>
          <a:p>
            <a:pPr algn="ctr">
              <a:lnSpc>
                <a:spcPct val="100000"/>
              </a:lnSpc>
              <a:spcBef>
                <a:spcPts val="395"/>
              </a:spcBef>
            </a:pPr>
            <a:r>
              <a:rPr dirty="0" sz="500" spc="-25">
                <a:solidFill>
                  <a:srgbClr val="FFFFFF"/>
                </a:solidFill>
                <a:latin typeface="SimSun"/>
                <a:cs typeface="SimSun"/>
              </a:rPr>
              <a:t>GSM</a:t>
            </a:r>
            <a:endParaRPr sz="500">
              <a:latin typeface="SimSun"/>
              <a:cs typeface="SimSun"/>
            </a:endParaRPr>
          </a:p>
        </p:txBody>
      </p:sp>
      <p:sp>
        <p:nvSpPr>
          <p:cNvPr id="12" name="object 12" descr=""/>
          <p:cNvSpPr txBox="1"/>
          <p:nvPr/>
        </p:nvSpPr>
        <p:spPr>
          <a:xfrm>
            <a:off x="615797" y="1488351"/>
            <a:ext cx="399415" cy="182245"/>
          </a:xfrm>
          <a:prstGeom prst="rect">
            <a:avLst/>
          </a:prstGeom>
          <a:solidFill>
            <a:srgbClr val="036EB1"/>
          </a:solidFill>
        </p:spPr>
        <p:txBody>
          <a:bodyPr wrap="square" lIns="0" tIns="50165" rIns="0" bIns="0" rtlCol="0" vert="horz">
            <a:spAutoFit/>
          </a:bodyPr>
          <a:lstStyle/>
          <a:p>
            <a:pPr algn="ctr">
              <a:lnSpc>
                <a:spcPct val="100000"/>
              </a:lnSpc>
              <a:spcBef>
                <a:spcPts val="395"/>
              </a:spcBef>
            </a:pPr>
            <a:r>
              <a:rPr dirty="0" sz="500" spc="-25">
                <a:solidFill>
                  <a:srgbClr val="FFFFFF"/>
                </a:solidFill>
                <a:latin typeface="SimSun"/>
                <a:cs typeface="SimSun"/>
              </a:rPr>
              <a:t>GSM</a:t>
            </a:r>
            <a:endParaRPr sz="500">
              <a:latin typeface="SimSun"/>
              <a:cs typeface="SimSun"/>
            </a:endParaRPr>
          </a:p>
        </p:txBody>
      </p:sp>
      <p:sp>
        <p:nvSpPr>
          <p:cNvPr id="13" name="object 13" descr=""/>
          <p:cNvSpPr txBox="1"/>
          <p:nvPr/>
        </p:nvSpPr>
        <p:spPr>
          <a:xfrm>
            <a:off x="268503" y="1683435"/>
            <a:ext cx="339090" cy="775970"/>
          </a:xfrm>
          <a:prstGeom prst="rect">
            <a:avLst/>
          </a:prstGeom>
          <a:solidFill>
            <a:srgbClr val="666666"/>
          </a:solidFill>
        </p:spPr>
        <p:txBody>
          <a:bodyPr wrap="square" lIns="0" tIns="0" rIns="0" bIns="0" rtlCol="0" vert="horz">
            <a:spAutoFit/>
          </a:bodyPr>
          <a:lstStyle/>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spcBef>
                <a:spcPts val="390"/>
              </a:spcBef>
            </a:pPr>
            <a:endParaRPr sz="500">
              <a:latin typeface="Times New Roman"/>
              <a:cs typeface="Times New Roman"/>
            </a:endParaRPr>
          </a:p>
          <a:p>
            <a:pPr marL="58419">
              <a:lnSpc>
                <a:spcPct val="100000"/>
              </a:lnSpc>
            </a:pPr>
            <a:r>
              <a:rPr dirty="0" sz="500">
                <a:solidFill>
                  <a:srgbClr val="FFFFFF"/>
                </a:solidFill>
                <a:latin typeface="SimSun"/>
                <a:cs typeface="SimSun"/>
              </a:rPr>
              <a:t>800</a:t>
            </a:r>
            <a:r>
              <a:rPr dirty="0" sz="500" spc="-20">
                <a:solidFill>
                  <a:srgbClr val="FFFFFF"/>
                </a:solidFill>
                <a:latin typeface="SimSun"/>
                <a:cs typeface="SimSun"/>
              </a:rPr>
              <a:t> </a:t>
            </a:r>
            <a:r>
              <a:rPr dirty="0" sz="500" spc="-25">
                <a:solidFill>
                  <a:srgbClr val="FFFFFF"/>
                </a:solidFill>
                <a:latin typeface="SimSun"/>
                <a:cs typeface="SimSun"/>
              </a:rPr>
              <a:t>MHz</a:t>
            </a:r>
            <a:endParaRPr sz="500">
              <a:latin typeface="SimSun"/>
              <a:cs typeface="SimSun"/>
            </a:endParaRPr>
          </a:p>
        </p:txBody>
      </p:sp>
      <p:sp>
        <p:nvSpPr>
          <p:cNvPr id="14" name="object 14" descr=""/>
          <p:cNvSpPr txBox="1"/>
          <p:nvPr/>
        </p:nvSpPr>
        <p:spPr>
          <a:xfrm>
            <a:off x="615797" y="1683435"/>
            <a:ext cx="427990" cy="182245"/>
          </a:xfrm>
          <a:prstGeom prst="rect">
            <a:avLst/>
          </a:prstGeom>
          <a:solidFill>
            <a:srgbClr val="666666"/>
          </a:solidFill>
        </p:spPr>
        <p:txBody>
          <a:bodyPr wrap="square" lIns="0" tIns="31750" rIns="0" bIns="0" rtlCol="0" vert="horz">
            <a:spAutoFit/>
          </a:bodyPr>
          <a:lstStyle/>
          <a:p>
            <a:pPr marL="71120" marR="93980" indent="88265">
              <a:lnSpc>
                <a:spcPct val="100000"/>
              </a:lnSpc>
              <a:spcBef>
                <a:spcPts val="250"/>
              </a:spcBef>
            </a:pPr>
            <a:r>
              <a:rPr dirty="0" sz="400" spc="-25">
                <a:solidFill>
                  <a:srgbClr val="FFFFFF"/>
                </a:solidFill>
                <a:latin typeface="SimSun"/>
                <a:cs typeface="SimSun"/>
              </a:rPr>
              <a:t>DCS</a:t>
            </a:r>
            <a:r>
              <a:rPr dirty="0" sz="400" spc="500">
                <a:solidFill>
                  <a:srgbClr val="FFFFFF"/>
                </a:solidFill>
                <a:latin typeface="SimSun"/>
                <a:cs typeface="SimSun"/>
              </a:rPr>
              <a:t> </a:t>
            </a:r>
            <a:r>
              <a:rPr dirty="0" sz="400">
                <a:solidFill>
                  <a:srgbClr val="FFFFFF"/>
                </a:solidFill>
                <a:latin typeface="SimSun"/>
                <a:cs typeface="SimSun"/>
              </a:rPr>
              <a:t>FDD-LTE</a:t>
            </a:r>
            <a:r>
              <a:rPr dirty="0" sz="400" spc="175">
                <a:solidFill>
                  <a:srgbClr val="FFFFFF"/>
                </a:solidFill>
                <a:latin typeface="SimSun"/>
                <a:cs typeface="SimSun"/>
              </a:rPr>
              <a:t> </a:t>
            </a:r>
            <a:r>
              <a:rPr dirty="0" sz="400" spc="-50">
                <a:solidFill>
                  <a:srgbClr val="FFFFFF"/>
                </a:solidFill>
                <a:latin typeface="SimSun"/>
                <a:cs typeface="SimSun"/>
              </a:rPr>
              <a:t>1</a:t>
            </a:r>
            <a:endParaRPr sz="400">
              <a:latin typeface="SimSun"/>
              <a:cs typeface="SimSun"/>
            </a:endParaRPr>
          </a:p>
        </p:txBody>
      </p:sp>
      <p:sp>
        <p:nvSpPr>
          <p:cNvPr id="15" name="object 15" descr=""/>
          <p:cNvSpPr txBox="1"/>
          <p:nvPr/>
        </p:nvSpPr>
        <p:spPr>
          <a:xfrm>
            <a:off x="615797" y="1885480"/>
            <a:ext cx="427990" cy="192405"/>
          </a:xfrm>
          <a:prstGeom prst="rect">
            <a:avLst/>
          </a:prstGeom>
          <a:solidFill>
            <a:srgbClr val="666666"/>
          </a:solidFill>
        </p:spPr>
        <p:txBody>
          <a:bodyPr wrap="square" lIns="0" tIns="50165" rIns="0" bIns="0" rtlCol="0" vert="horz">
            <a:spAutoFit/>
          </a:bodyPr>
          <a:lstStyle/>
          <a:p>
            <a:pPr marL="55880">
              <a:lnSpc>
                <a:spcPct val="100000"/>
              </a:lnSpc>
              <a:spcBef>
                <a:spcPts val="395"/>
              </a:spcBef>
            </a:pPr>
            <a:r>
              <a:rPr dirty="0" sz="500" spc="-10">
                <a:solidFill>
                  <a:srgbClr val="FFFFFF"/>
                </a:solidFill>
                <a:latin typeface="SimSun"/>
                <a:cs typeface="SimSun"/>
              </a:rPr>
              <a:t>FDD-</a:t>
            </a:r>
            <a:r>
              <a:rPr dirty="0" sz="500">
                <a:solidFill>
                  <a:srgbClr val="FFFFFF"/>
                </a:solidFill>
                <a:latin typeface="SimSun"/>
                <a:cs typeface="SimSun"/>
              </a:rPr>
              <a:t>LTE </a:t>
            </a:r>
            <a:r>
              <a:rPr dirty="0" sz="500" spc="-50">
                <a:solidFill>
                  <a:srgbClr val="FFFFFF"/>
                </a:solidFill>
                <a:latin typeface="SimSun"/>
                <a:cs typeface="SimSun"/>
              </a:rPr>
              <a:t>2</a:t>
            </a:r>
            <a:endParaRPr sz="500">
              <a:latin typeface="SimSun"/>
              <a:cs typeface="SimSun"/>
            </a:endParaRPr>
          </a:p>
        </p:txBody>
      </p:sp>
      <p:sp>
        <p:nvSpPr>
          <p:cNvPr id="16" name="object 16" descr=""/>
          <p:cNvSpPr txBox="1"/>
          <p:nvPr/>
        </p:nvSpPr>
        <p:spPr>
          <a:xfrm>
            <a:off x="269608" y="2464511"/>
            <a:ext cx="337820" cy="189865"/>
          </a:xfrm>
          <a:prstGeom prst="rect">
            <a:avLst/>
          </a:prstGeom>
          <a:solidFill>
            <a:srgbClr val="9A9A9A"/>
          </a:solidFill>
        </p:spPr>
        <p:txBody>
          <a:bodyPr wrap="square" lIns="0" tIns="53975" rIns="0" bIns="0" rtlCol="0" vert="horz">
            <a:spAutoFit/>
          </a:bodyPr>
          <a:lstStyle/>
          <a:p>
            <a:pPr marL="41275">
              <a:lnSpc>
                <a:spcPct val="100000"/>
              </a:lnSpc>
              <a:spcBef>
                <a:spcPts val="425"/>
              </a:spcBef>
            </a:pPr>
            <a:r>
              <a:rPr dirty="0" sz="500">
                <a:solidFill>
                  <a:srgbClr val="FFFFFF"/>
                </a:solidFill>
                <a:latin typeface="SimSun"/>
                <a:cs typeface="SimSun"/>
              </a:rPr>
              <a:t>2000</a:t>
            </a:r>
            <a:r>
              <a:rPr dirty="0" sz="500" spc="-25">
                <a:solidFill>
                  <a:srgbClr val="FFFFFF"/>
                </a:solidFill>
                <a:latin typeface="SimSun"/>
                <a:cs typeface="SimSun"/>
              </a:rPr>
              <a:t> MHz</a:t>
            </a:r>
            <a:endParaRPr sz="500">
              <a:latin typeface="SimSun"/>
              <a:cs typeface="SimSun"/>
            </a:endParaRPr>
          </a:p>
        </p:txBody>
      </p:sp>
      <p:sp>
        <p:nvSpPr>
          <p:cNvPr id="17" name="object 17" descr=""/>
          <p:cNvSpPr txBox="1"/>
          <p:nvPr/>
        </p:nvSpPr>
        <p:spPr>
          <a:xfrm>
            <a:off x="615797" y="2472105"/>
            <a:ext cx="427990" cy="182245"/>
          </a:xfrm>
          <a:prstGeom prst="rect">
            <a:avLst/>
          </a:prstGeom>
          <a:solidFill>
            <a:srgbClr val="666666"/>
          </a:solidFill>
        </p:spPr>
        <p:txBody>
          <a:bodyPr wrap="square" lIns="0" tIns="50165" rIns="0" bIns="0" rtlCol="0" vert="horz">
            <a:spAutoFit/>
          </a:bodyPr>
          <a:lstStyle/>
          <a:p>
            <a:pPr marL="70485">
              <a:lnSpc>
                <a:spcPct val="100000"/>
              </a:lnSpc>
              <a:spcBef>
                <a:spcPts val="395"/>
              </a:spcBef>
            </a:pPr>
            <a:r>
              <a:rPr dirty="0" sz="500" spc="-10">
                <a:solidFill>
                  <a:srgbClr val="FFFFFF"/>
                </a:solidFill>
                <a:latin typeface="SimSun"/>
                <a:cs typeface="SimSun"/>
              </a:rPr>
              <a:t>TD-SCDMA</a:t>
            </a:r>
            <a:endParaRPr sz="500">
              <a:latin typeface="SimSun"/>
              <a:cs typeface="SimSun"/>
            </a:endParaRPr>
          </a:p>
        </p:txBody>
      </p:sp>
      <p:sp>
        <p:nvSpPr>
          <p:cNvPr id="18" name="object 18" descr=""/>
          <p:cNvSpPr txBox="1"/>
          <p:nvPr/>
        </p:nvSpPr>
        <p:spPr>
          <a:xfrm>
            <a:off x="268503" y="2674150"/>
            <a:ext cx="339090" cy="574040"/>
          </a:xfrm>
          <a:prstGeom prst="rect">
            <a:avLst/>
          </a:prstGeom>
          <a:solidFill>
            <a:srgbClr val="666666"/>
          </a:solidFill>
        </p:spPr>
        <p:txBody>
          <a:bodyPr wrap="square" lIns="0" tIns="0" rIns="0" bIns="0" rtlCol="0" vert="horz">
            <a:spAutoFit/>
          </a:bodyPr>
          <a:lstStyle/>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spcBef>
                <a:spcPts val="160"/>
              </a:spcBef>
            </a:pPr>
            <a:endParaRPr sz="500">
              <a:latin typeface="Times New Roman"/>
              <a:cs typeface="Times New Roman"/>
            </a:endParaRPr>
          </a:p>
          <a:p>
            <a:pPr marL="42545">
              <a:lnSpc>
                <a:spcPct val="100000"/>
              </a:lnSpc>
            </a:pPr>
            <a:r>
              <a:rPr dirty="0" sz="500">
                <a:solidFill>
                  <a:srgbClr val="FFFFFF"/>
                </a:solidFill>
                <a:latin typeface="SimSun"/>
                <a:cs typeface="SimSun"/>
              </a:rPr>
              <a:t>2100</a:t>
            </a:r>
            <a:r>
              <a:rPr dirty="0" sz="500" spc="-25">
                <a:solidFill>
                  <a:srgbClr val="FFFFFF"/>
                </a:solidFill>
                <a:latin typeface="SimSun"/>
                <a:cs typeface="SimSun"/>
              </a:rPr>
              <a:t> MHz</a:t>
            </a:r>
            <a:endParaRPr sz="500">
              <a:latin typeface="SimSun"/>
              <a:cs typeface="SimSun"/>
            </a:endParaRPr>
          </a:p>
        </p:txBody>
      </p:sp>
      <p:sp>
        <p:nvSpPr>
          <p:cNvPr id="19" name="object 19" descr=""/>
          <p:cNvSpPr txBox="1"/>
          <p:nvPr/>
        </p:nvSpPr>
        <p:spPr>
          <a:xfrm>
            <a:off x="615797" y="2674150"/>
            <a:ext cx="399415" cy="377190"/>
          </a:xfrm>
          <a:prstGeom prst="rect">
            <a:avLst/>
          </a:prstGeom>
          <a:solidFill>
            <a:srgbClr val="D6ECEE"/>
          </a:solidFill>
        </p:spPr>
        <p:txBody>
          <a:bodyPr wrap="square" lIns="0" tIns="50165" rIns="0" bIns="0" rtlCol="0" vert="horz">
            <a:spAutoFit/>
          </a:bodyPr>
          <a:lstStyle/>
          <a:p>
            <a:pPr marL="40005">
              <a:lnSpc>
                <a:spcPct val="100000"/>
              </a:lnSpc>
              <a:spcBef>
                <a:spcPts val="395"/>
              </a:spcBef>
            </a:pPr>
            <a:r>
              <a:rPr dirty="0" sz="500" spc="-10">
                <a:solidFill>
                  <a:srgbClr val="FFFFFF"/>
                </a:solidFill>
                <a:latin typeface="SimSun"/>
                <a:cs typeface="SimSun"/>
              </a:rPr>
              <a:t>FDD-</a:t>
            </a:r>
            <a:r>
              <a:rPr dirty="0" sz="500">
                <a:solidFill>
                  <a:srgbClr val="FFFFFF"/>
                </a:solidFill>
                <a:latin typeface="SimSun"/>
                <a:cs typeface="SimSun"/>
              </a:rPr>
              <a:t>LTE</a:t>
            </a:r>
            <a:r>
              <a:rPr dirty="0" sz="500" spc="250">
                <a:solidFill>
                  <a:srgbClr val="FFFFFF"/>
                </a:solidFill>
                <a:latin typeface="SimSun"/>
                <a:cs typeface="SimSun"/>
              </a:rPr>
              <a:t> </a:t>
            </a:r>
            <a:r>
              <a:rPr dirty="0" sz="500" spc="-50">
                <a:solidFill>
                  <a:srgbClr val="FFFFFF"/>
                </a:solidFill>
                <a:latin typeface="SimSun"/>
                <a:cs typeface="SimSun"/>
              </a:rPr>
              <a:t>1</a:t>
            </a:r>
            <a:endParaRPr sz="500">
              <a:latin typeface="SimSun"/>
              <a:cs typeface="SimSun"/>
            </a:endParaRPr>
          </a:p>
          <a:p>
            <a:pPr>
              <a:lnSpc>
                <a:spcPct val="100000"/>
              </a:lnSpc>
              <a:spcBef>
                <a:spcPts val="295"/>
              </a:spcBef>
            </a:pPr>
            <a:endParaRPr sz="500">
              <a:latin typeface="SimSun"/>
              <a:cs typeface="SimSun"/>
            </a:endParaRPr>
          </a:p>
          <a:p>
            <a:pPr marL="40005">
              <a:lnSpc>
                <a:spcPct val="100000"/>
              </a:lnSpc>
            </a:pPr>
            <a:r>
              <a:rPr dirty="0" sz="500" spc="-10">
                <a:solidFill>
                  <a:srgbClr val="FFFFFF"/>
                </a:solidFill>
                <a:latin typeface="SimSun"/>
                <a:cs typeface="SimSun"/>
              </a:rPr>
              <a:t>FDD-</a:t>
            </a:r>
            <a:r>
              <a:rPr dirty="0" sz="500">
                <a:solidFill>
                  <a:srgbClr val="FFFFFF"/>
                </a:solidFill>
                <a:latin typeface="SimSun"/>
                <a:cs typeface="SimSun"/>
              </a:rPr>
              <a:t>LTE</a:t>
            </a:r>
            <a:r>
              <a:rPr dirty="0" sz="500" spc="250">
                <a:solidFill>
                  <a:srgbClr val="FFFFFF"/>
                </a:solidFill>
                <a:latin typeface="SimSun"/>
                <a:cs typeface="SimSun"/>
              </a:rPr>
              <a:t> </a:t>
            </a:r>
            <a:r>
              <a:rPr dirty="0" sz="500" spc="-50">
                <a:solidFill>
                  <a:srgbClr val="FFFFFF"/>
                </a:solidFill>
                <a:latin typeface="SimSun"/>
                <a:cs typeface="SimSun"/>
              </a:rPr>
              <a:t>2</a:t>
            </a:r>
            <a:endParaRPr sz="500">
              <a:latin typeface="SimSun"/>
              <a:cs typeface="SimSun"/>
            </a:endParaRPr>
          </a:p>
        </p:txBody>
      </p:sp>
      <p:sp>
        <p:nvSpPr>
          <p:cNvPr id="20" name="object 20" descr=""/>
          <p:cNvSpPr txBox="1"/>
          <p:nvPr/>
        </p:nvSpPr>
        <p:spPr>
          <a:xfrm>
            <a:off x="615797" y="3065691"/>
            <a:ext cx="399415" cy="182245"/>
          </a:xfrm>
          <a:prstGeom prst="rect">
            <a:avLst/>
          </a:prstGeom>
          <a:solidFill>
            <a:srgbClr val="036EB1"/>
          </a:solidFill>
        </p:spPr>
        <p:txBody>
          <a:bodyPr wrap="square" lIns="0" tIns="50165" rIns="0" bIns="0" rtlCol="0" vert="horz">
            <a:spAutoFit/>
          </a:bodyPr>
          <a:lstStyle/>
          <a:p>
            <a:pPr marL="118745">
              <a:lnSpc>
                <a:spcPct val="100000"/>
              </a:lnSpc>
              <a:spcBef>
                <a:spcPts val="395"/>
              </a:spcBef>
            </a:pPr>
            <a:r>
              <a:rPr dirty="0" sz="500" spc="-10">
                <a:solidFill>
                  <a:srgbClr val="FFFFFF"/>
                </a:solidFill>
                <a:latin typeface="SimSun"/>
                <a:cs typeface="SimSun"/>
              </a:rPr>
              <a:t>WCDMA</a:t>
            </a:r>
            <a:endParaRPr sz="500">
              <a:latin typeface="SimSun"/>
              <a:cs typeface="SimSun"/>
            </a:endParaRPr>
          </a:p>
        </p:txBody>
      </p:sp>
      <p:sp>
        <p:nvSpPr>
          <p:cNvPr id="21" name="object 21" descr=""/>
          <p:cNvSpPr/>
          <p:nvPr/>
        </p:nvSpPr>
        <p:spPr>
          <a:xfrm>
            <a:off x="269608" y="3253168"/>
            <a:ext cx="337820" cy="1169670"/>
          </a:xfrm>
          <a:custGeom>
            <a:avLst/>
            <a:gdLst/>
            <a:ahLst/>
            <a:cxnLst/>
            <a:rect l="l" t="t" r="r" b="b"/>
            <a:pathLst>
              <a:path w="337820" h="1169670">
                <a:moveTo>
                  <a:pt x="337426" y="0"/>
                </a:moveTo>
                <a:lnTo>
                  <a:pt x="0" y="0"/>
                </a:lnTo>
                <a:lnTo>
                  <a:pt x="0" y="1169073"/>
                </a:lnTo>
                <a:lnTo>
                  <a:pt x="337426" y="1169073"/>
                </a:lnTo>
                <a:lnTo>
                  <a:pt x="337426" y="0"/>
                </a:lnTo>
                <a:close/>
              </a:path>
            </a:pathLst>
          </a:custGeom>
          <a:solidFill>
            <a:srgbClr val="9A9A9A"/>
          </a:solidFill>
        </p:spPr>
        <p:txBody>
          <a:bodyPr wrap="square" lIns="0" tIns="0" rIns="0" bIns="0" rtlCol="0"/>
          <a:lstStyle/>
          <a:p/>
        </p:txBody>
      </p:sp>
      <p:sp>
        <p:nvSpPr>
          <p:cNvPr id="22" name="object 22" descr=""/>
          <p:cNvSpPr txBox="1"/>
          <p:nvPr/>
        </p:nvSpPr>
        <p:spPr>
          <a:xfrm>
            <a:off x="311196" y="3784621"/>
            <a:ext cx="266700" cy="101600"/>
          </a:xfrm>
          <a:prstGeom prst="rect">
            <a:avLst/>
          </a:prstGeom>
        </p:spPr>
        <p:txBody>
          <a:bodyPr wrap="square" lIns="0" tIns="12065" rIns="0" bIns="0" rtlCol="0" vert="horz">
            <a:spAutoFit/>
          </a:bodyPr>
          <a:lstStyle/>
          <a:p>
            <a:pPr>
              <a:lnSpc>
                <a:spcPct val="100000"/>
              </a:lnSpc>
              <a:spcBef>
                <a:spcPts val="95"/>
              </a:spcBef>
            </a:pPr>
            <a:r>
              <a:rPr dirty="0" sz="500">
                <a:solidFill>
                  <a:srgbClr val="FFFFFF"/>
                </a:solidFill>
                <a:latin typeface="SimSun"/>
                <a:cs typeface="SimSun"/>
              </a:rPr>
              <a:t>2300</a:t>
            </a:r>
            <a:r>
              <a:rPr dirty="0" sz="500" spc="-25">
                <a:solidFill>
                  <a:srgbClr val="FFFFFF"/>
                </a:solidFill>
                <a:latin typeface="SimSun"/>
                <a:cs typeface="SimSun"/>
              </a:rPr>
              <a:t> MHz</a:t>
            </a:r>
            <a:endParaRPr sz="500">
              <a:latin typeface="SimSun"/>
              <a:cs typeface="SimSun"/>
            </a:endParaRPr>
          </a:p>
        </p:txBody>
      </p:sp>
      <p:sp>
        <p:nvSpPr>
          <p:cNvPr id="23" name="object 23" descr=""/>
          <p:cNvSpPr txBox="1"/>
          <p:nvPr/>
        </p:nvSpPr>
        <p:spPr>
          <a:xfrm>
            <a:off x="615797" y="3247605"/>
            <a:ext cx="427990" cy="397510"/>
          </a:xfrm>
          <a:prstGeom prst="rect">
            <a:avLst/>
          </a:prstGeom>
          <a:solidFill>
            <a:srgbClr val="666666"/>
          </a:solidFill>
        </p:spPr>
        <p:txBody>
          <a:bodyPr wrap="square" lIns="0" tIns="63500" rIns="0" bIns="0" rtlCol="0" vert="horz">
            <a:spAutoFit/>
          </a:bodyPr>
          <a:lstStyle/>
          <a:p>
            <a:pPr marL="40005">
              <a:lnSpc>
                <a:spcPct val="100000"/>
              </a:lnSpc>
              <a:spcBef>
                <a:spcPts val="500"/>
              </a:spcBef>
            </a:pPr>
            <a:r>
              <a:rPr dirty="0" sz="500" spc="-10">
                <a:solidFill>
                  <a:srgbClr val="FFFFFF"/>
                </a:solidFill>
                <a:latin typeface="SimSun"/>
                <a:cs typeface="SimSun"/>
              </a:rPr>
              <a:t>FDD-</a:t>
            </a:r>
            <a:r>
              <a:rPr dirty="0" sz="500">
                <a:solidFill>
                  <a:srgbClr val="FFFFFF"/>
                </a:solidFill>
                <a:latin typeface="SimSun"/>
                <a:cs typeface="SimSun"/>
              </a:rPr>
              <a:t>LTE</a:t>
            </a:r>
            <a:r>
              <a:rPr dirty="0" sz="500" spc="250">
                <a:solidFill>
                  <a:srgbClr val="FFFFFF"/>
                </a:solidFill>
                <a:latin typeface="SimSun"/>
                <a:cs typeface="SimSun"/>
              </a:rPr>
              <a:t> </a:t>
            </a:r>
            <a:r>
              <a:rPr dirty="0" sz="500" spc="-50">
                <a:solidFill>
                  <a:srgbClr val="FFFFFF"/>
                </a:solidFill>
                <a:latin typeface="SimSun"/>
                <a:cs typeface="SimSun"/>
              </a:rPr>
              <a:t>1</a:t>
            </a:r>
            <a:endParaRPr sz="500">
              <a:latin typeface="SimSun"/>
              <a:cs typeface="SimSun"/>
            </a:endParaRPr>
          </a:p>
          <a:p>
            <a:pPr>
              <a:lnSpc>
                <a:spcPct val="100000"/>
              </a:lnSpc>
              <a:spcBef>
                <a:spcPts val="350"/>
              </a:spcBef>
            </a:pPr>
            <a:endParaRPr sz="500">
              <a:latin typeface="SimSun"/>
              <a:cs typeface="SimSun"/>
            </a:endParaRPr>
          </a:p>
          <a:p>
            <a:pPr marL="40005">
              <a:lnSpc>
                <a:spcPct val="100000"/>
              </a:lnSpc>
            </a:pPr>
            <a:r>
              <a:rPr dirty="0" sz="500" spc="-10">
                <a:solidFill>
                  <a:srgbClr val="FFFFFF"/>
                </a:solidFill>
                <a:latin typeface="SimSun"/>
                <a:cs typeface="SimSun"/>
              </a:rPr>
              <a:t>FDD-</a:t>
            </a:r>
            <a:r>
              <a:rPr dirty="0" sz="500">
                <a:solidFill>
                  <a:srgbClr val="FFFFFF"/>
                </a:solidFill>
                <a:latin typeface="SimSun"/>
                <a:cs typeface="SimSun"/>
              </a:rPr>
              <a:t>LTE</a:t>
            </a:r>
            <a:r>
              <a:rPr dirty="0" sz="500" spc="250">
                <a:solidFill>
                  <a:srgbClr val="FFFFFF"/>
                </a:solidFill>
                <a:latin typeface="SimSun"/>
                <a:cs typeface="SimSun"/>
              </a:rPr>
              <a:t> </a:t>
            </a:r>
            <a:r>
              <a:rPr dirty="0" sz="500" spc="-50">
                <a:solidFill>
                  <a:srgbClr val="FFFFFF"/>
                </a:solidFill>
                <a:latin typeface="SimSun"/>
                <a:cs typeface="SimSun"/>
              </a:rPr>
              <a:t>2</a:t>
            </a:r>
            <a:endParaRPr sz="500">
              <a:latin typeface="SimSun"/>
              <a:cs typeface="SimSun"/>
            </a:endParaRPr>
          </a:p>
        </p:txBody>
      </p:sp>
      <p:sp>
        <p:nvSpPr>
          <p:cNvPr id="24" name="object 24" descr=""/>
          <p:cNvSpPr/>
          <p:nvPr/>
        </p:nvSpPr>
        <p:spPr>
          <a:xfrm>
            <a:off x="615797" y="3657892"/>
            <a:ext cx="399415" cy="182245"/>
          </a:xfrm>
          <a:custGeom>
            <a:avLst/>
            <a:gdLst/>
            <a:ahLst/>
            <a:cxnLst/>
            <a:rect l="l" t="t" r="r" b="b"/>
            <a:pathLst>
              <a:path w="399415" h="182245">
                <a:moveTo>
                  <a:pt x="398805" y="0"/>
                </a:moveTo>
                <a:lnTo>
                  <a:pt x="0" y="0"/>
                </a:lnTo>
                <a:lnTo>
                  <a:pt x="0" y="181914"/>
                </a:lnTo>
                <a:lnTo>
                  <a:pt x="398805" y="181914"/>
                </a:lnTo>
                <a:lnTo>
                  <a:pt x="398805" y="0"/>
                </a:lnTo>
                <a:close/>
              </a:path>
            </a:pathLst>
          </a:custGeom>
          <a:solidFill>
            <a:srgbClr val="036EB1"/>
          </a:solidFill>
        </p:spPr>
        <p:txBody>
          <a:bodyPr wrap="square" lIns="0" tIns="0" rIns="0" bIns="0" rtlCol="0"/>
          <a:lstStyle/>
          <a:p/>
        </p:txBody>
      </p:sp>
      <p:sp>
        <p:nvSpPr>
          <p:cNvPr id="25" name="object 25" descr=""/>
          <p:cNvSpPr txBox="1"/>
          <p:nvPr/>
        </p:nvSpPr>
        <p:spPr>
          <a:xfrm>
            <a:off x="643495" y="3695756"/>
            <a:ext cx="342265" cy="101600"/>
          </a:xfrm>
          <a:prstGeom prst="rect">
            <a:avLst/>
          </a:prstGeom>
        </p:spPr>
        <p:txBody>
          <a:bodyPr wrap="square" lIns="0" tIns="12065" rIns="0" bIns="0" rtlCol="0" vert="horz">
            <a:spAutoFit/>
          </a:bodyPr>
          <a:lstStyle/>
          <a:p>
            <a:pPr marL="12700">
              <a:lnSpc>
                <a:spcPct val="100000"/>
              </a:lnSpc>
              <a:spcBef>
                <a:spcPts val="95"/>
              </a:spcBef>
            </a:pPr>
            <a:r>
              <a:rPr dirty="0" sz="500" spc="-10">
                <a:solidFill>
                  <a:srgbClr val="FFFFFF"/>
                </a:solidFill>
                <a:latin typeface="SimSun"/>
                <a:cs typeface="SimSun"/>
              </a:rPr>
              <a:t>FDD-</a:t>
            </a:r>
            <a:r>
              <a:rPr dirty="0" sz="500">
                <a:solidFill>
                  <a:srgbClr val="FFFFFF"/>
                </a:solidFill>
                <a:latin typeface="SimSun"/>
                <a:cs typeface="SimSun"/>
              </a:rPr>
              <a:t>LTE</a:t>
            </a:r>
            <a:r>
              <a:rPr dirty="0" sz="500" spc="250">
                <a:solidFill>
                  <a:srgbClr val="FFFFFF"/>
                </a:solidFill>
                <a:latin typeface="SimSun"/>
                <a:cs typeface="SimSun"/>
              </a:rPr>
              <a:t> </a:t>
            </a:r>
            <a:r>
              <a:rPr dirty="0" sz="500" spc="-50">
                <a:solidFill>
                  <a:srgbClr val="FFFFFF"/>
                </a:solidFill>
                <a:latin typeface="SimSun"/>
                <a:cs typeface="SimSun"/>
              </a:rPr>
              <a:t>1</a:t>
            </a:r>
            <a:endParaRPr sz="500">
              <a:latin typeface="SimSun"/>
              <a:cs typeface="SimSun"/>
            </a:endParaRPr>
          </a:p>
        </p:txBody>
      </p:sp>
      <p:sp>
        <p:nvSpPr>
          <p:cNvPr id="26" name="object 26" descr=""/>
          <p:cNvSpPr/>
          <p:nvPr/>
        </p:nvSpPr>
        <p:spPr>
          <a:xfrm>
            <a:off x="615797" y="3854361"/>
            <a:ext cx="399415" cy="182245"/>
          </a:xfrm>
          <a:custGeom>
            <a:avLst/>
            <a:gdLst/>
            <a:ahLst/>
            <a:cxnLst/>
            <a:rect l="l" t="t" r="r" b="b"/>
            <a:pathLst>
              <a:path w="399415" h="182245">
                <a:moveTo>
                  <a:pt x="398805" y="0"/>
                </a:moveTo>
                <a:lnTo>
                  <a:pt x="0" y="0"/>
                </a:lnTo>
                <a:lnTo>
                  <a:pt x="0" y="181914"/>
                </a:lnTo>
                <a:lnTo>
                  <a:pt x="398805" y="181914"/>
                </a:lnTo>
                <a:lnTo>
                  <a:pt x="398805" y="0"/>
                </a:lnTo>
                <a:close/>
              </a:path>
            </a:pathLst>
          </a:custGeom>
          <a:solidFill>
            <a:srgbClr val="036EB1"/>
          </a:solidFill>
        </p:spPr>
        <p:txBody>
          <a:bodyPr wrap="square" lIns="0" tIns="0" rIns="0" bIns="0" rtlCol="0"/>
          <a:lstStyle/>
          <a:p/>
        </p:txBody>
      </p:sp>
      <p:sp>
        <p:nvSpPr>
          <p:cNvPr id="27" name="object 27" descr=""/>
          <p:cNvSpPr txBox="1"/>
          <p:nvPr/>
        </p:nvSpPr>
        <p:spPr>
          <a:xfrm>
            <a:off x="643495" y="3892227"/>
            <a:ext cx="342265" cy="101600"/>
          </a:xfrm>
          <a:prstGeom prst="rect">
            <a:avLst/>
          </a:prstGeom>
        </p:spPr>
        <p:txBody>
          <a:bodyPr wrap="square" lIns="0" tIns="12065" rIns="0" bIns="0" rtlCol="0" vert="horz">
            <a:spAutoFit/>
          </a:bodyPr>
          <a:lstStyle/>
          <a:p>
            <a:pPr marL="12700">
              <a:lnSpc>
                <a:spcPct val="100000"/>
              </a:lnSpc>
              <a:spcBef>
                <a:spcPts val="95"/>
              </a:spcBef>
            </a:pPr>
            <a:r>
              <a:rPr dirty="0" sz="500" spc="-10">
                <a:solidFill>
                  <a:srgbClr val="FFFFFF"/>
                </a:solidFill>
                <a:latin typeface="SimSun"/>
                <a:cs typeface="SimSun"/>
              </a:rPr>
              <a:t>FDD-</a:t>
            </a:r>
            <a:r>
              <a:rPr dirty="0" sz="500">
                <a:solidFill>
                  <a:srgbClr val="FFFFFF"/>
                </a:solidFill>
                <a:latin typeface="SimSun"/>
                <a:cs typeface="SimSun"/>
              </a:rPr>
              <a:t>LTE</a:t>
            </a:r>
            <a:r>
              <a:rPr dirty="0" sz="500" spc="250">
                <a:solidFill>
                  <a:srgbClr val="FFFFFF"/>
                </a:solidFill>
                <a:latin typeface="SimSun"/>
                <a:cs typeface="SimSun"/>
              </a:rPr>
              <a:t> </a:t>
            </a:r>
            <a:r>
              <a:rPr dirty="0" sz="500" spc="-50">
                <a:solidFill>
                  <a:srgbClr val="FFFFFF"/>
                </a:solidFill>
                <a:latin typeface="SimSun"/>
                <a:cs typeface="SimSun"/>
              </a:rPr>
              <a:t>2</a:t>
            </a:r>
            <a:endParaRPr sz="500">
              <a:latin typeface="SimSun"/>
              <a:cs typeface="SimSun"/>
            </a:endParaRPr>
          </a:p>
        </p:txBody>
      </p:sp>
      <p:sp>
        <p:nvSpPr>
          <p:cNvPr id="28" name="object 28" descr=""/>
          <p:cNvSpPr/>
          <p:nvPr/>
        </p:nvSpPr>
        <p:spPr>
          <a:xfrm>
            <a:off x="615797" y="4049433"/>
            <a:ext cx="399415" cy="182245"/>
          </a:xfrm>
          <a:custGeom>
            <a:avLst/>
            <a:gdLst/>
            <a:ahLst/>
            <a:cxnLst/>
            <a:rect l="l" t="t" r="r" b="b"/>
            <a:pathLst>
              <a:path w="399415" h="182245">
                <a:moveTo>
                  <a:pt x="398805" y="0"/>
                </a:moveTo>
                <a:lnTo>
                  <a:pt x="0" y="0"/>
                </a:lnTo>
                <a:lnTo>
                  <a:pt x="0" y="181914"/>
                </a:lnTo>
                <a:lnTo>
                  <a:pt x="398805" y="181914"/>
                </a:lnTo>
                <a:lnTo>
                  <a:pt x="398805" y="0"/>
                </a:lnTo>
                <a:close/>
              </a:path>
            </a:pathLst>
          </a:custGeom>
          <a:solidFill>
            <a:srgbClr val="D6ECEE"/>
          </a:solidFill>
        </p:spPr>
        <p:txBody>
          <a:bodyPr wrap="square" lIns="0" tIns="0" rIns="0" bIns="0" rtlCol="0"/>
          <a:lstStyle/>
          <a:p/>
        </p:txBody>
      </p:sp>
      <p:sp>
        <p:nvSpPr>
          <p:cNvPr id="29" name="object 29" descr=""/>
          <p:cNvSpPr txBox="1"/>
          <p:nvPr/>
        </p:nvSpPr>
        <p:spPr>
          <a:xfrm>
            <a:off x="643495" y="4087305"/>
            <a:ext cx="342265" cy="101600"/>
          </a:xfrm>
          <a:prstGeom prst="rect">
            <a:avLst/>
          </a:prstGeom>
        </p:spPr>
        <p:txBody>
          <a:bodyPr wrap="square" lIns="0" tIns="12065" rIns="0" bIns="0" rtlCol="0" vert="horz">
            <a:spAutoFit/>
          </a:bodyPr>
          <a:lstStyle/>
          <a:p>
            <a:pPr marL="12700">
              <a:lnSpc>
                <a:spcPct val="100000"/>
              </a:lnSpc>
              <a:spcBef>
                <a:spcPts val="95"/>
              </a:spcBef>
            </a:pPr>
            <a:r>
              <a:rPr dirty="0" sz="500" spc="-10">
                <a:solidFill>
                  <a:srgbClr val="FFFFFF"/>
                </a:solidFill>
                <a:latin typeface="SimSun"/>
                <a:cs typeface="SimSun"/>
              </a:rPr>
              <a:t>FDD-</a:t>
            </a:r>
            <a:r>
              <a:rPr dirty="0" sz="500">
                <a:solidFill>
                  <a:srgbClr val="FFFFFF"/>
                </a:solidFill>
                <a:latin typeface="SimSun"/>
                <a:cs typeface="SimSun"/>
              </a:rPr>
              <a:t>LTE</a:t>
            </a:r>
            <a:r>
              <a:rPr dirty="0" sz="500" spc="250">
                <a:solidFill>
                  <a:srgbClr val="FFFFFF"/>
                </a:solidFill>
                <a:latin typeface="SimSun"/>
                <a:cs typeface="SimSun"/>
              </a:rPr>
              <a:t> </a:t>
            </a:r>
            <a:r>
              <a:rPr dirty="0" sz="500" spc="-50">
                <a:solidFill>
                  <a:srgbClr val="FFFFFF"/>
                </a:solidFill>
                <a:latin typeface="SimSun"/>
                <a:cs typeface="SimSun"/>
              </a:rPr>
              <a:t>1</a:t>
            </a:r>
            <a:endParaRPr sz="500">
              <a:latin typeface="SimSun"/>
              <a:cs typeface="SimSun"/>
            </a:endParaRPr>
          </a:p>
        </p:txBody>
      </p:sp>
      <p:sp>
        <p:nvSpPr>
          <p:cNvPr id="30" name="object 30" descr=""/>
          <p:cNvSpPr txBox="1"/>
          <p:nvPr/>
        </p:nvSpPr>
        <p:spPr>
          <a:xfrm>
            <a:off x="615797" y="2077453"/>
            <a:ext cx="427990" cy="197485"/>
          </a:xfrm>
          <a:prstGeom prst="rect">
            <a:avLst/>
          </a:prstGeom>
          <a:solidFill>
            <a:srgbClr val="036EB1"/>
          </a:solidFill>
        </p:spPr>
        <p:txBody>
          <a:bodyPr wrap="square" lIns="0" tIns="41910" rIns="0" bIns="0" rtlCol="0" vert="horz">
            <a:spAutoFit/>
          </a:bodyPr>
          <a:lstStyle/>
          <a:p>
            <a:pPr marL="71120" marR="93980" indent="88265">
              <a:lnSpc>
                <a:spcPct val="100000"/>
              </a:lnSpc>
              <a:spcBef>
                <a:spcPts val="330"/>
              </a:spcBef>
            </a:pPr>
            <a:r>
              <a:rPr dirty="0" sz="400" spc="-25">
                <a:solidFill>
                  <a:srgbClr val="FFFFFF"/>
                </a:solidFill>
                <a:latin typeface="SimSun"/>
                <a:cs typeface="SimSun"/>
              </a:rPr>
              <a:t>DCS</a:t>
            </a:r>
            <a:r>
              <a:rPr dirty="0" sz="400" spc="500">
                <a:solidFill>
                  <a:srgbClr val="FFFFFF"/>
                </a:solidFill>
                <a:latin typeface="SimSun"/>
                <a:cs typeface="SimSun"/>
              </a:rPr>
              <a:t> </a:t>
            </a:r>
            <a:r>
              <a:rPr dirty="0" sz="400">
                <a:solidFill>
                  <a:srgbClr val="FFFFFF"/>
                </a:solidFill>
                <a:latin typeface="SimSun"/>
                <a:cs typeface="SimSun"/>
              </a:rPr>
              <a:t>FDD-LTE</a:t>
            </a:r>
            <a:r>
              <a:rPr dirty="0" sz="400" spc="175">
                <a:solidFill>
                  <a:srgbClr val="FFFFFF"/>
                </a:solidFill>
                <a:latin typeface="SimSun"/>
                <a:cs typeface="SimSun"/>
              </a:rPr>
              <a:t> </a:t>
            </a:r>
            <a:r>
              <a:rPr dirty="0" sz="400" spc="-50">
                <a:solidFill>
                  <a:srgbClr val="FFFFFF"/>
                </a:solidFill>
                <a:latin typeface="SimSun"/>
                <a:cs typeface="SimSun"/>
              </a:rPr>
              <a:t>1</a:t>
            </a:r>
            <a:endParaRPr sz="400">
              <a:latin typeface="SimSun"/>
              <a:cs typeface="SimSun"/>
            </a:endParaRPr>
          </a:p>
        </p:txBody>
      </p:sp>
      <p:sp>
        <p:nvSpPr>
          <p:cNvPr id="31" name="object 31" descr=""/>
          <p:cNvSpPr txBox="1"/>
          <p:nvPr/>
        </p:nvSpPr>
        <p:spPr>
          <a:xfrm>
            <a:off x="615797" y="2283945"/>
            <a:ext cx="427990" cy="175260"/>
          </a:xfrm>
          <a:prstGeom prst="rect">
            <a:avLst/>
          </a:prstGeom>
          <a:solidFill>
            <a:srgbClr val="036EB1"/>
          </a:solidFill>
        </p:spPr>
        <p:txBody>
          <a:bodyPr wrap="square" lIns="0" tIns="43180" rIns="0" bIns="0" rtlCol="0" vert="horz">
            <a:spAutoFit/>
          </a:bodyPr>
          <a:lstStyle/>
          <a:p>
            <a:pPr marL="40005">
              <a:lnSpc>
                <a:spcPct val="100000"/>
              </a:lnSpc>
              <a:spcBef>
                <a:spcPts val="340"/>
              </a:spcBef>
            </a:pPr>
            <a:r>
              <a:rPr dirty="0" sz="500" spc="-10">
                <a:solidFill>
                  <a:srgbClr val="FFFFFF"/>
                </a:solidFill>
                <a:latin typeface="SimSun"/>
                <a:cs typeface="SimSun"/>
              </a:rPr>
              <a:t>FDD-</a:t>
            </a:r>
            <a:r>
              <a:rPr dirty="0" sz="500">
                <a:solidFill>
                  <a:srgbClr val="FFFFFF"/>
                </a:solidFill>
                <a:latin typeface="SimSun"/>
                <a:cs typeface="SimSun"/>
              </a:rPr>
              <a:t>LTE</a:t>
            </a:r>
            <a:r>
              <a:rPr dirty="0" sz="500" spc="250">
                <a:solidFill>
                  <a:srgbClr val="FFFFFF"/>
                </a:solidFill>
                <a:latin typeface="SimSun"/>
                <a:cs typeface="SimSun"/>
              </a:rPr>
              <a:t> </a:t>
            </a:r>
            <a:r>
              <a:rPr dirty="0" sz="500" spc="-50">
                <a:solidFill>
                  <a:srgbClr val="FFFFFF"/>
                </a:solidFill>
                <a:latin typeface="SimSun"/>
                <a:cs typeface="SimSun"/>
              </a:rPr>
              <a:t>2</a:t>
            </a:r>
            <a:endParaRPr sz="500">
              <a:latin typeface="SimSun"/>
              <a:cs typeface="SimSun"/>
            </a:endParaRPr>
          </a:p>
        </p:txBody>
      </p:sp>
      <p:grpSp>
        <p:nvGrpSpPr>
          <p:cNvPr id="32" name="object 32" descr=""/>
          <p:cNvGrpSpPr/>
          <p:nvPr/>
        </p:nvGrpSpPr>
        <p:grpSpPr>
          <a:xfrm>
            <a:off x="601541" y="2274420"/>
            <a:ext cx="440690" cy="2152015"/>
            <a:chOff x="601541" y="2274420"/>
            <a:chExt cx="440690" cy="2152015"/>
          </a:xfrm>
        </p:grpSpPr>
        <p:sp>
          <p:nvSpPr>
            <p:cNvPr id="33" name="object 33" descr=""/>
            <p:cNvSpPr/>
            <p:nvPr/>
          </p:nvSpPr>
          <p:spPr>
            <a:xfrm>
              <a:off x="606304" y="2279182"/>
              <a:ext cx="431165" cy="0"/>
            </a:xfrm>
            <a:custGeom>
              <a:avLst/>
              <a:gdLst/>
              <a:ahLst/>
              <a:cxnLst/>
              <a:rect l="l" t="t" r="r" b="b"/>
              <a:pathLst>
                <a:path w="431165" h="0">
                  <a:moveTo>
                    <a:pt x="0" y="0"/>
                  </a:moveTo>
                  <a:lnTo>
                    <a:pt x="430733" y="0"/>
                  </a:lnTo>
                </a:path>
              </a:pathLst>
            </a:custGeom>
            <a:ln w="9525">
              <a:solidFill>
                <a:srgbClr val="FFFFFF"/>
              </a:solidFill>
            </a:ln>
          </p:spPr>
          <p:txBody>
            <a:bodyPr wrap="square" lIns="0" tIns="0" rIns="0" bIns="0" rtlCol="0"/>
            <a:lstStyle/>
            <a:p/>
          </p:txBody>
        </p:sp>
        <p:sp>
          <p:nvSpPr>
            <p:cNvPr id="34" name="object 34" descr=""/>
            <p:cNvSpPr/>
            <p:nvPr/>
          </p:nvSpPr>
          <p:spPr>
            <a:xfrm>
              <a:off x="615797" y="4244517"/>
              <a:ext cx="399415" cy="182245"/>
            </a:xfrm>
            <a:custGeom>
              <a:avLst/>
              <a:gdLst/>
              <a:ahLst/>
              <a:cxnLst/>
              <a:rect l="l" t="t" r="r" b="b"/>
              <a:pathLst>
                <a:path w="399415" h="182245">
                  <a:moveTo>
                    <a:pt x="398805" y="0"/>
                  </a:moveTo>
                  <a:lnTo>
                    <a:pt x="0" y="0"/>
                  </a:lnTo>
                  <a:lnTo>
                    <a:pt x="0" y="181914"/>
                  </a:lnTo>
                  <a:lnTo>
                    <a:pt x="398805" y="181914"/>
                  </a:lnTo>
                  <a:lnTo>
                    <a:pt x="398805" y="0"/>
                  </a:lnTo>
                  <a:close/>
                </a:path>
              </a:pathLst>
            </a:custGeom>
            <a:solidFill>
              <a:srgbClr val="D6ECEE"/>
            </a:solidFill>
          </p:spPr>
          <p:txBody>
            <a:bodyPr wrap="square" lIns="0" tIns="0" rIns="0" bIns="0" rtlCol="0"/>
            <a:lstStyle/>
            <a:p/>
          </p:txBody>
        </p:sp>
      </p:grpSp>
      <p:sp>
        <p:nvSpPr>
          <p:cNvPr id="35" name="object 35" descr=""/>
          <p:cNvSpPr txBox="1"/>
          <p:nvPr/>
        </p:nvSpPr>
        <p:spPr>
          <a:xfrm>
            <a:off x="643495" y="4282380"/>
            <a:ext cx="342265" cy="101600"/>
          </a:xfrm>
          <a:prstGeom prst="rect">
            <a:avLst/>
          </a:prstGeom>
        </p:spPr>
        <p:txBody>
          <a:bodyPr wrap="square" lIns="0" tIns="12065" rIns="0" bIns="0" rtlCol="0" vert="horz">
            <a:spAutoFit/>
          </a:bodyPr>
          <a:lstStyle/>
          <a:p>
            <a:pPr marL="12700">
              <a:lnSpc>
                <a:spcPct val="100000"/>
              </a:lnSpc>
              <a:spcBef>
                <a:spcPts val="95"/>
              </a:spcBef>
            </a:pPr>
            <a:r>
              <a:rPr dirty="0" sz="500" spc="-10">
                <a:solidFill>
                  <a:srgbClr val="FFFFFF"/>
                </a:solidFill>
                <a:latin typeface="SimSun"/>
                <a:cs typeface="SimSun"/>
              </a:rPr>
              <a:t>FDD-</a:t>
            </a:r>
            <a:r>
              <a:rPr dirty="0" sz="500">
                <a:solidFill>
                  <a:srgbClr val="FFFFFF"/>
                </a:solidFill>
                <a:latin typeface="SimSun"/>
                <a:cs typeface="SimSun"/>
              </a:rPr>
              <a:t>LTE</a:t>
            </a:r>
            <a:r>
              <a:rPr dirty="0" sz="500" spc="250">
                <a:solidFill>
                  <a:srgbClr val="FFFFFF"/>
                </a:solidFill>
                <a:latin typeface="SimSun"/>
                <a:cs typeface="SimSun"/>
              </a:rPr>
              <a:t> </a:t>
            </a:r>
            <a:r>
              <a:rPr dirty="0" sz="500" spc="-50">
                <a:solidFill>
                  <a:srgbClr val="FFFFFF"/>
                </a:solidFill>
                <a:latin typeface="SimSun"/>
                <a:cs typeface="SimSun"/>
              </a:rPr>
              <a:t>2</a:t>
            </a:r>
            <a:endParaRPr sz="500">
              <a:latin typeface="SimSun"/>
              <a:cs typeface="SimSun"/>
            </a:endParaRPr>
          </a:p>
        </p:txBody>
      </p:sp>
      <p:pic>
        <p:nvPicPr>
          <p:cNvPr id="36" name="object 36"/>
          <p:cNvPicPr/>
          <p:nvPr/>
        </p:nvPicPr>
        <p:blipFill>
          <a:blip r:embed="rId2" cstate="print"/>
          <a:stretch>
            <a:fillRect/>
          </a:stretch>
        </p:blipFill>
        <p:spPr>
          <a:xfrm>
            <a:off x="1054925" y="957979"/>
            <a:ext cx="2914883" cy="3471069"/>
          </a:xfrm>
          <a:prstGeom prst="rect">
            <a:avLst/>
          </a:prstGeom>
        </p:spPr>
      </p:pic>
      <p:sp>
        <p:nvSpPr>
          <p:cNvPr id="37" name="object 37" descr=""/>
          <p:cNvSpPr txBox="1"/>
          <p:nvPr/>
        </p:nvSpPr>
        <p:spPr>
          <a:xfrm>
            <a:off x="1091989" y="1391390"/>
            <a:ext cx="278765" cy="147320"/>
          </a:xfrm>
          <a:prstGeom prst="rect">
            <a:avLst/>
          </a:prstGeom>
        </p:spPr>
        <p:txBody>
          <a:bodyPr wrap="square" lIns="0" tIns="12065" rIns="0" bIns="0" rtlCol="0" vert="horz">
            <a:spAutoFit/>
          </a:bodyPr>
          <a:lstStyle/>
          <a:p>
            <a:pPr marL="12700">
              <a:lnSpc>
                <a:spcPct val="100000"/>
              </a:lnSpc>
              <a:spcBef>
                <a:spcPts val="95"/>
              </a:spcBef>
            </a:pPr>
            <a:r>
              <a:rPr dirty="0" sz="800" spc="-10">
                <a:solidFill>
                  <a:srgbClr val="FFFFFF"/>
                </a:solidFill>
                <a:latin typeface="SimSun"/>
                <a:cs typeface="SimSun"/>
              </a:rPr>
              <a:t>信源</a:t>
            </a:r>
            <a:r>
              <a:rPr dirty="0" sz="800" spc="-50">
                <a:solidFill>
                  <a:srgbClr val="FFFFFF"/>
                </a:solidFill>
                <a:latin typeface="SimSun"/>
                <a:cs typeface="SimSun"/>
              </a:rPr>
              <a:t>1</a:t>
            </a:r>
            <a:endParaRPr sz="800">
              <a:latin typeface="SimSun"/>
              <a:cs typeface="SimSun"/>
            </a:endParaRPr>
          </a:p>
        </p:txBody>
      </p:sp>
      <p:sp>
        <p:nvSpPr>
          <p:cNvPr id="38" name="object 38" descr=""/>
          <p:cNvSpPr txBox="1"/>
          <p:nvPr/>
        </p:nvSpPr>
        <p:spPr>
          <a:xfrm>
            <a:off x="1091990" y="1857324"/>
            <a:ext cx="278765" cy="147320"/>
          </a:xfrm>
          <a:prstGeom prst="rect">
            <a:avLst/>
          </a:prstGeom>
        </p:spPr>
        <p:txBody>
          <a:bodyPr wrap="square" lIns="0" tIns="12065" rIns="0" bIns="0" rtlCol="0" vert="horz">
            <a:spAutoFit/>
          </a:bodyPr>
          <a:lstStyle/>
          <a:p>
            <a:pPr marL="12700">
              <a:lnSpc>
                <a:spcPct val="100000"/>
              </a:lnSpc>
              <a:spcBef>
                <a:spcPts val="95"/>
              </a:spcBef>
            </a:pPr>
            <a:r>
              <a:rPr dirty="0" sz="800" spc="-10">
                <a:solidFill>
                  <a:srgbClr val="FFFFFF"/>
                </a:solidFill>
                <a:latin typeface="SimSun"/>
                <a:cs typeface="SimSun"/>
              </a:rPr>
              <a:t>信源</a:t>
            </a:r>
            <a:r>
              <a:rPr dirty="0" sz="800" spc="-50">
                <a:solidFill>
                  <a:srgbClr val="FFFFFF"/>
                </a:solidFill>
                <a:latin typeface="SimSun"/>
                <a:cs typeface="SimSun"/>
              </a:rPr>
              <a:t>2</a:t>
            </a:r>
            <a:endParaRPr sz="800">
              <a:latin typeface="SimSun"/>
              <a:cs typeface="SimSun"/>
            </a:endParaRPr>
          </a:p>
        </p:txBody>
      </p:sp>
      <p:sp>
        <p:nvSpPr>
          <p:cNvPr id="39" name="object 39" descr=""/>
          <p:cNvSpPr txBox="1"/>
          <p:nvPr/>
        </p:nvSpPr>
        <p:spPr>
          <a:xfrm>
            <a:off x="1091990" y="2733516"/>
            <a:ext cx="278765" cy="147320"/>
          </a:xfrm>
          <a:prstGeom prst="rect">
            <a:avLst/>
          </a:prstGeom>
        </p:spPr>
        <p:txBody>
          <a:bodyPr wrap="square" lIns="0" tIns="12065" rIns="0" bIns="0" rtlCol="0" vert="horz">
            <a:spAutoFit/>
          </a:bodyPr>
          <a:lstStyle/>
          <a:p>
            <a:pPr marL="12700">
              <a:lnSpc>
                <a:spcPct val="100000"/>
              </a:lnSpc>
              <a:spcBef>
                <a:spcPts val="95"/>
              </a:spcBef>
            </a:pPr>
            <a:r>
              <a:rPr dirty="0" sz="800" spc="-10">
                <a:solidFill>
                  <a:srgbClr val="FFFFFF"/>
                </a:solidFill>
                <a:latin typeface="SimSun"/>
                <a:cs typeface="SimSun"/>
              </a:rPr>
              <a:t>信源</a:t>
            </a:r>
            <a:r>
              <a:rPr dirty="0" sz="800" spc="-50">
                <a:solidFill>
                  <a:srgbClr val="FFFFFF"/>
                </a:solidFill>
                <a:latin typeface="SimSun"/>
                <a:cs typeface="SimSun"/>
              </a:rPr>
              <a:t>N</a:t>
            </a:r>
            <a:endParaRPr sz="800">
              <a:latin typeface="SimSun"/>
              <a:cs typeface="SimSun"/>
            </a:endParaRPr>
          </a:p>
        </p:txBody>
      </p:sp>
      <p:sp>
        <p:nvSpPr>
          <p:cNvPr id="40" name="object 40" descr=""/>
          <p:cNvSpPr txBox="1"/>
          <p:nvPr/>
        </p:nvSpPr>
        <p:spPr>
          <a:xfrm>
            <a:off x="1526034" y="1760066"/>
            <a:ext cx="203835" cy="132715"/>
          </a:xfrm>
          <a:prstGeom prst="rect">
            <a:avLst/>
          </a:prstGeom>
        </p:spPr>
        <p:txBody>
          <a:bodyPr wrap="square" lIns="0" tIns="12700" rIns="0" bIns="0" rtlCol="0" vert="horz">
            <a:spAutoFit/>
          </a:bodyPr>
          <a:lstStyle/>
          <a:p>
            <a:pPr marL="12700">
              <a:lnSpc>
                <a:spcPct val="100000"/>
              </a:lnSpc>
              <a:spcBef>
                <a:spcPts val="100"/>
              </a:spcBef>
            </a:pPr>
            <a:r>
              <a:rPr dirty="0" sz="700" spc="-25">
                <a:latin typeface="SimSun"/>
                <a:cs typeface="SimSun"/>
              </a:rPr>
              <a:t>馈线</a:t>
            </a:r>
            <a:endParaRPr sz="700">
              <a:latin typeface="SimSun"/>
              <a:cs typeface="SimSun"/>
            </a:endParaRPr>
          </a:p>
        </p:txBody>
      </p:sp>
      <p:sp>
        <p:nvSpPr>
          <p:cNvPr id="41" name="object 41" descr=""/>
          <p:cNvSpPr txBox="1"/>
          <p:nvPr/>
        </p:nvSpPr>
        <p:spPr>
          <a:xfrm>
            <a:off x="1819833" y="1843097"/>
            <a:ext cx="191135" cy="239395"/>
          </a:xfrm>
          <a:prstGeom prst="rect">
            <a:avLst/>
          </a:prstGeom>
        </p:spPr>
        <p:txBody>
          <a:bodyPr wrap="square" lIns="0" tIns="12700" rIns="0" bIns="0" rtlCol="0" vert="horz">
            <a:spAutoFit/>
          </a:bodyPr>
          <a:lstStyle/>
          <a:p>
            <a:pPr marR="5080">
              <a:lnSpc>
                <a:spcPct val="100000"/>
              </a:lnSpc>
              <a:spcBef>
                <a:spcPts val="100"/>
              </a:spcBef>
            </a:pPr>
            <a:r>
              <a:rPr dirty="0" sz="700" spc="-25">
                <a:solidFill>
                  <a:srgbClr val="FFFFFF"/>
                </a:solidFill>
                <a:latin typeface="SimSun"/>
                <a:cs typeface="SimSun"/>
              </a:rPr>
              <a:t>接入单元</a:t>
            </a:r>
            <a:endParaRPr sz="700">
              <a:latin typeface="SimSun"/>
              <a:cs typeface="SimSun"/>
            </a:endParaRPr>
          </a:p>
        </p:txBody>
      </p:sp>
      <p:sp>
        <p:nvSpPr>
          <p:cNvPr id="42" name="object 42" descr=""/>
          <p:cNvSpPr txBox="1"/>
          <p:nvPr/>
        </p:nvSpPr>
        <p:spPr>
          <a:xfrm>
            <a:off x="2203903" y="1525155"/>
            <a:ext cx="191135" cy="132715"/>
          </a:xfrm>
          <a:prstGeom prst="rect">
            <a:avLst/>
          </a:prstGeom>
        </p:spPr>
        <p:txBody>
          <a:bodyPr wrap="square" lIns="0" tIns="12700" rIns="0" bIns="0" rtlCol="0" vert="horz">
            <a:spAutoFit/>
          </a:bodyPr>
          <a:lstStyle/>
          <a:p>
            <a:pPr>
              <a:lnSpc>
                <a:spcPct val="100000"/>
              </a:lnSpc>
              <a:spcBef>
                <a:spcPts val="100"/>
              </a:spcBef>
            </a:pPr>
            <a:r>
              <a:rPr dirty="0" sz="700" spc="-25">
                <a:latin typeface="SimSun"/>
                <a:cs typeface="SimSun"/>
              </a:rPr>
              <a:t>光纤</a:t>
            </a:r>
            <a:endParaRPr sz="700">
              <a:latin typeface="SimSun"/>
              <a:cs typeface="SimSun"/>
            </a:endParaRPr>
          </a:p>
        </p:txBody>
      </p:sp>
      <p:sp>
        <p:nvSpPr>
          <p:cNvPr id="43" name="object 43" descr=""/>
          <p:cNvSpPr txBox="1"/>
          <p:nvPr/>
        </p:nvSpPr>
        <p:spPr>
          <a:xfrm>
            <a:off x="2427561" y="1378635"/>
            <a:ext cx="191135" cy="239395"/>
          </a:xfrm>
          <a:prstGeom prst="rect">
            <a:avLst/>
          </a:prstGeom>
        </p:spPr>
        <p:txBody>
          <a:bodyPr wrap="square" lIns="0" tIns="12700" rIns="0" bIns="0" rtlCol="0" vert="horz">
            <a:spAutoFit/>
          </a:bodyPr>
          <a:lstStyle/>
          <a:p>
            <a:pPr marR="5080">
              <a:lnSpc>
                <a:spcPct val="100000"/>
              </a:lnSpc>
              <a:spcBef>
                <a:spcPts val="100"/>
              </a:spcBef>
            </a:pPr>
            <a:r>
              <a:rPr dirty="0" sz="700" spc="-25">
                <a:solidFill>
                  <a:srgbClr val="FFFFFF"/>
                </a:solidFill>
                <a:latin typeface="SimSun"/>
                <a:cs typeface="SimSun"/>
              </a:rPr>
              <a:t>扩展单元</a:t>
            </a:r>
            <a:endParaRPr sz="700">
              <a:latin typeface="SimSun"/>
              <a:cs typeface="SimSun"/>
            </a:endParaRPr>
          </a:p>
        </p:txBody>
      </p:sp>
      <p:sp>
        <p:nvSpPr>
          <p:cNvPr id="44" name="object 44" descr=""/>
          <p:cNvSpPr txBox="1"/>
          <p:nvPr/>
        </p:nvSpPr>
        <p:spPr>
          <a:xfrm>
            <a:off x="2184325" y="2301714"/>
            <a:ext cx="459740" cy="239395"/>
          </a:xfrm>
          <a:prstGeom prst="rect">
            <a:avLst/>
          </a:prstGeom>
        </p:spPr>
        <p:txBody>
          <a:bodyPr wrap="square" lIns="0" tIns="12700" rIns="0" bIns="0" rtlCol="0" vert="horz">
            <a:spAutoFit/>
          </a:bodyPr>
          <a:lstStyle/>
          <a:p>
            <a:pPr marL="25400" marR="30480" indent="217804">
              <a:lnSpc>
                <a:spcPct val="100000"/>
              </a:lnSpc>
              <a:spcBef>
                <a:spcPts val="100"/>
              </a:spcBef>
            </a:pPr>
            <a:r>
              <a:rPr dirty="0" sz="700" spc="-25">
                <a:solidFill>
                  <a:srgbClr val="FFFFFF"/>
                </a:solidFill>
                <a:latin typeface="SimSun"/>
                <a:cs typeface="SimSun"/>
              </a:rPr>
              <a:t>扩展</a:t>
            </a:r>
            <a:r>
              <a:rPr dirty="0" baseline="-27777" sz="1050" spc="-22">
                <a:latin typeface="SimSun"/>
                <a:cs typeface="SimSun"/>
              </a:rPr>
              <a:t>光纤 </a:t>
            </a:r>
            <a:r>
              <a:rPr dirty="0" sz="700" spc="-25">
                <a:solidFill>
                  <a:srgbClr val="FFFFFF"/>
                </a:solidFill>
                <a:latin typeface="SimSun"/>
                <a:cs typeface="SimSun"/>
              </a:rPr>
              <a:t>单元</a:t>
            </a:r>
            <a:endParaRPr sz="700">
              <a:latin typeface="SimSun"/>
              <a:cs typeface="SimSun"/>
            </a:endParaRPr>
          </a:p>
        </p:txBody>
      </p:sp>
      <p:sp>
        <p:nvSpPr>
          <p:cNvPr id="45" name="object 45" descr=""/>
          <p:cNvSpPr txBox="1"/>
          <p:nvPr/>
        </p:nvSpPr>
        <p:spPr>
          <a:xfrm>
            <a:off x="2427561" y="2767650"/>
            <a:ext cx="191135" cy="239395"/>
          </a:xfrm>
          <a:prstGeom prst="rect">
            <a:avLst/>
          </a:prstGeom>
        </p:spPr>
        <p:txBody>
          <a:bodyPr wrap="square" lIns="0" tIns="12700" rIns="0" bIns="0" rtlCol="0" vert="horz">
            <a:spAutoFit/>
          </a:bodyPr>
          <a:lstStyle/>
          <a:p>
            <a:pPr marR="5080">
              <a:lnSpc>
                <a:spcPct val="100000"/>
              </a:lnSpc>
              <a:spcBef>
                <a:spcPts val="100"/>
              </a:spcBef>
            </a:pPr>
            <a:r>
              <a:rPr dirty="0" sz="700" spc="-25">
                <a:solidFill>
                  <a:srgbClr val="FFFFFF"/>
                </a:solidFill>
                <a:latin typeface="SimSun"/>
                <a:cs typeface="SimSun"/>
              </a:rPr>
              <a:t>扩展单元</a:t>
            </a:r>
            <a:endParaRPr sz="700">
              <a:latin typeface="SimSun"/>
              <a:cs typeface="SimSun"/>
            </a:endParaRPr>
          </a:p>
        </p:txBody>
      </p:sp>
      <p:sp>
        <p:nvSpPr>
          <p:cNvPr id="46" name="object 46" descr=""/>
          <p:cNvSpPr txBox="1"/>
          <p:nvPr/>
        </p:nvSpPr>
        <p:spPr>
          <a:xfrm>
            <a:off x="2427561" y="3242377"/>
            <a:ext cx="191135" cy="239395"/>
          </a:xfrm>
          <a:prstGeom prst="rect">
            <a:avLst/>
          </a:prstGeom>
        </p:spPr>
        <p:txBody>
          <a:bodyPr wrap="square" lIns="0" tIns="12700" rIns="0" bIns="0" rtlCol="0" vert="horz">
            <a:spAutoFit/>
          </a:bodyPr>
          <a:lstStyle/>
          <a:p>
            <a:pPr marR="5080">
              <a:lnSpc>
                <a:spcPct val="100000"/>
              </a:lnSpc>
              <a:spcBef>
                <a:spcPts val="100"/>
              </a:spcBef>
            </a:pPr>
            <a:r>
              <a:rPr dirty="0" sz="700" spc="-25">
                <a:solidFill>
                  <a:srgbClr val="FFFFFF"/>
                </a:solidFill>
                <a:latin typeface="SimSun"/>
                <a:cs typeface="SimSun"/>
              </a:rPr>
              <a:t>扩展单元</a:t>
            </a:r>
            <a:endParaRPr sz="700">
              <a:latin typeface="SimSun"/>
              <a:cs typeface="SimSun"/>
            </a:endParaRPr>
          </a:p>
        </p:txBody>
      </p:sp>
      <p:sp>
        <p:nvSpPr>
          <p:cNvPr id="47" name="object 47" descr=""/>
          <p:cNvSpPr txBox="1"/>
          <p:nvPr/>
        </p:nvSpPr>
        <p:spPr>
          <a:xfrm>
            <a:off x="2427561" y="3752268"/>
            <a:ext cx="191135" cy="239395"/>
          </a:xfrm>
          <a:prstGeom prst="rect">
            <a:avLst/>
          </a:prstGeom>
        </p:spPr>
        <p:txBody>
          <a:bodyPr wrap="square" lIns="0" tIns="12700" rIns="0" bIns="0" rtlCol="0" vert="horz">
            <a:spAutoFit/>
          </a:bodyPr>
          <a:lstStyle/>
          <a:p>
            <a:pPr marR="5080">
              <a:lnSpc>
                <a:spcPct val="100000"/>
              </a:lnSpc>
              <a:spcBef>
                <a:spcPts val="100"/>
              </a:spcBef>
            </a:pPr>
            <a:r>
              <a:rPr dirty="0" sz="700" spc="-25">
                <a:solidFill>
                  <a:srgbClr val="FFFFFF"/>
                </a:solidFill>
                <a:latin typeface="SimSun"/>
                <a:cs typeface="SimSun"/>
              </a:rPr>
              <a:t>扩展单元</a:t>
            </a:r>
            <a:endParaRPr sz="700">
              <a:latin typeface="SimSun"/>
              <a:cs typeface="SimSun"/>
            </a:endParaRPr>
          </a:p>
        </p:txBody>
      </p:sp>
      <p:sp>
        <p:nvSpPr>
          <p:cNvPr id="48" name="object 48" descr=""/>
          <p:cNvSpPr txBox="1"/>
          <p:nvPr/>
        </p:nvSpPr>
        <p:spPr>
          <a:xfrm>
            <a:off x="2917244" y="1525155"/>
            <a:ext cx="191135" cy="132715"/>
          </a:xfrm>
          <a:prstGeom prst="rect">
            <a:avLst/>
          </a:prstGeom>
        </p:spPr>
        <p:txBody>
          <a:bodyPr wrap="square" lIns="0" tIns="12700" rIns="0" bIns="0" rtlCol="0" vert="horz">
            <a:spAutoFit/>
          </a:bodyPr>
          <a:lstStyle/>
          <a:p>
            <a:pPr>
              <a:lnSpc>
                <a:spcPct val="100000"/>
              </a:lnSpc>
              <a:spcBef>
                <a:spcPts val="100"/>
              </a:spcBef>
            </a:pPr>
            <a:r>
              <a:rPr dirty="0" sz="700" spc="-25">
                <a:latin typeface="SimSun"/>
                <a:cs typeface="SimSun"/>
              </a:rPr>
              <a:t>光纤</a:t>
            </a:r>
            <a:endParaRPr sz="700">
              <a:latin typeface="SimSun"/>
              <a:cs typeface="SimSun"/>
            </a:endParaRPr>
          </a:p>
        </p:txBody>
      </p:sp>
      <p:sp>
        <p:nvSpPr>
          <p:cNvPr id="49" name="object 49" descr=""/>
          <p:cNvSpPr txBox="1"/>
          <p:nvPr/>
        </p:nvSpPr>
        <p:spPr>
          <a:xfrm>
            <a:off x="2917244" y="1955925"/>
            <a:ext cx="191135" cy="132715"/>
          </a:xfrm>
          <a:prstGeom prst="rect">
            <a:avLst/>
          </a:prstGeom>
        </p:spPr>
        <p:txBody>
          <a:bodyPr wrap="square" lIns="0" tIns="12700" rIns="0" bIns="0" rtlCol="0" vert="horz">
            <a:spAutoFit/>
          </a:bodyPr>
          <a:lstStyle/>
          <a:p>
            <a:pPr>
              <a:lnSpc>
                <a:spcPct val="100000"/>
              </a:lnSpc>
              <a:spcBef>
                <a:spcPts val="100"/>
              </a:spcBef>
            </a:pPr>
            <a:r>
              <a:rPr dirty="0" sz="700" spc="-25">
                <a:latin typeface="SimSun"/>
                <a:cs typeface="SimSun"/>
              </a:rPr>
              <a:t>光纤</a:t>
            </a:r>
            <a:endParaRPr sz="700">
              <a:latin typeface="SimSun"/>
              <a:cs typeface="SimSun"/>
            </a:endParaRPr>
          </a:p>
        </p:txBody>
      </p:sp>
      <p:sp>
        <p:nvSpPr>
          <p:cNvPr id="50" name="object 50" descr=""/>
          <p:cNvSpPr txBox="1"/>
          <p:nvPr/>
        </p:nvSpPr>
        <p:spPr>
          <a:xfrm>
            <a:off x="2917244" y="2483399"/>
            <a:ext cx="191135" cy="132715"/>
          </a:xfrm>
          <a:prstGeom prst="rect">
            <a:avLst/>
          </a:prstGeom>
        </p:spPr>
        <p:txBody>
          <a:bodyPr wrap="square" lIns="0" tIns="12700" rIns="0" bIns="0" rtlCol="0" vert="horz">
            <a:spAutoFit/>
          </a:bodyPr>
          <a:lstStyle/>
          <a:p>
            <a:pPr>
              <a:lnSpc>
                <a:spcPct val="100000"/>
              </a:lnSpc>
              <a:spcBef>
                <a:spcPts val="100"/>
              </a:spcBef>
            </a:pPr>
            <a:r>
              <a:rPr dirty="0" sz="700" spc="-25">
                <a:latin typeface="SimSun"/>
                <a:cs typeface="SimSun"/>
              </a:rPr>
              <a:t>光纤</a:t>
            </a:r>
            <a:endParaRPr sz="700">
              <a:latin typeface="SimSun"/>
              <a:cs typeface="SimSun"/>
            </a:endParaRPr>
          </a:p>
        </p:txBody>
      </p:sp>
      <p:sp>
        <p:nvSpPr>
          <p:cNvPr id="51" name="object 51" descr=""/>
          <p:cNvSpPr txBox="1"/>
          <p:nvPr/>
        </p:nvSpPr>
        <p:spPr>
          <a:xfrm>
            <a:off x="2917244" y="2949334"/>
            <a:ext cx="191135" cy="132715"/>
          </a:xfrm>
          <a:prstGeom prst="rect">
            <a:avLst/>
          </a:prstGeom>
        </p:spPr>
        <p:txBody>
          <a:bodyPr wrap="square" lIns="0" tIns="12700" rIns="0" bIns="0" rtlCol="0" vert="horz">
            <a:spAutoFit/>
          </a:bodyPr>
          <a:lstStyle/>
          <a:p>
            <a:pPr>
              <a:lnSpc>
                <a:spcPct val="100000"/>
              </a:lnSpc>
              <a:spcBef>
                <a:spcPts val="100"/>
              </a:spcBef>
            </a:pPr>
            <a:r>
              <a:rPr dirty="0" sz="700" spc="-25">
                <a:latin typeface="SimSun"/>
                <a:cs typeface="SimSun"/>
              </a:rPr>
              <a:t>光纤</a:t>
            </a:r>
            <a:endParaRPr sz="700">
              <a:latin typeface="SimSun"/>
              <a:cs typeface="SimSun"/>
            </a:endParaRPr>
          </a:p>
        </p:txBody>
      </p:sp>
      <p:sp>
        <p:nvSpPr>
          <p:cNvPr id="52" name="object 52" descr=""/>
          <p:cNvSpPr txBox="1"/>
          <p:nvPr/>
        </p:nvSpPr>
        <p:spPr>
          <a:xfrm>
            <a:off x="2917244" y="3432854"/>
            <a:ext cx="191135" cy="132715"/>
          </a:xfrm>
          <a:prstGeom prst="rect">
            <a:avLst/>
          </a:prstGeom>
        </p:spPr>
        <p:txBody>
          <a:bodyPr wrap="square" lIns="0" tIns="12700" rIns="0" bIns="0" rtlCol="0" vert="horz">
            <a:spAutoFit/>
          </a:bodyPr>
          <a:lstStyle/>
          <a:p>
            <a:pPr>
              <a:lnSpc>
                <a:spcPct val="100000"/>
              </a:lnSpc>
              <a:spcBef>
                <a:spcPts val="100"/>
              </a:spcBef>
            </a:pPr>
            <a:r>
              <a:rPr dirty="0" sz="700" spc="-25">
                <a:latin typeface="SimSun"/>
                <a:cs typeface="SimSun"/>
              </a:rPr>
              <a:t>光纤</a:t>
            </a:r>
            <a:endParaRPr sz="700">
              <a:latin typeface="SimSun"/>
              <a:cs typeface="SimSun"/>
            </a:endParaRPr>
          </a:p>
        </p:txBody>
      </p:sp>
      <p:sp>
        <p:nvSpPr>
          <p:cNvPr id="53" name="object 53" descr=""/>
          <p:cNvSpPr txBox="1"/>
          <p:nvPr/>
        </p:nvSpPr>
        <p:spPr>
          <a:xfrm>
            <a:off x="2917244" y="3898788"/>
            <a:ext cx="191135" cy="132715"/>
          </a:xfrm>
          <a:prstGeom prst="rect">
            <a:avLst/>
          </a:prstGeom>
        </p:spPr>
        <p:txBody>
          <a:bodyPr wrap="square" lIns="0" tIns="12700" rIns="0" bIns="0" rtlCol="0" vert="horz">
            <a:spAutoFit/>
          </a:bodyPr>
          <a:lstStyle/>
          <a:p>
            <a:pPr>
              <a:lnSpc>
                <a:spcPct val="100000"/>
              </a:lnSpc>
              <a:spcBef>
                <a:spcPts val="100"/>
              </a:spcBef>
            </a:pPr>
            <a:r>
              <a:rPr dirty="0" sz="700" spc="-25">
                <a:latin typeface="SimSun"/>
                <a:cs typeface="SimSun"/>
              </a:rPr>
              <a:t>光纤</a:t>
            </a:r>
            <a:endParaRPr sz="700">
              <a:latin typeface="SimSun"/>
              <a:cs typeface="SimSun"/>
            </a:endParaRPr>
          </a:p>
        </p:txBody>
      </p:sp>
      <p:sp>
        <p:nvSpPr>
          <p:cNvPr id="54" name="object 54" descr=""/>
          <p:cNvSpPr txBox="1"/>
          <p:nvPr/>
        </p:nvSpPr>
        <p:spPr>
          <a:xfrm>
            <a:off x="3353259" y="1446518"/>
            <a:ext cx="191135" cy="239395"/>
          </a:xfrm>
          <a:prstGeom prst="rect">
            <a:avLst/>
          </a:prstGeom>
        </p:spPr>
        <p:txBody>
          <a:bodyPr wrap="square" lIns="0" tIns="12700" rIns="0" bIns="0" rtlCol="0" vert="horz">
            <a:spAutoFit/>
          </a:bodyPr>
          <a:lstStyle/>
          <a:p>
            <a:pPr marR="5080">
              <a:lnSpc>
                <a:spcPct val="100000"/>
              </a:lnSpc>
              <a:spcBef>
                <a:spcPts val="100"/>
              </a:spcBef>
            </a:pPr>
            <a:r>
              <a:rPr dirty="0" sz="700" spc="-25">
                <a:solidFill>
                  <a:srgbClr val="FFFFFF"/>
                </a:solidFill>
                <a:latin typeface="SimSun"/>
                <a:cs typeface="SimSun"/>
              </a:rPr>
              <a:t>远端单元</a:t>
            </a:r>
            <a:endParaRPr sz="700">
              <a:latin typeface="SimSun"/>
              <a:cs typeface="SimSun"/>
            </a:endParaRPr>
          </a:p>
        </p:txBody>
      </p:sp>
      <p:sp>
        <p:nvSpPr>
          <p:cNvPr id="55" name="object 55" descr=""/>
          <p:cNvSpPr txBox="1"/>
          <p:nvPr/>
        </p:nvSpPr>
        <p:spPr>
          <a:xfrm>
            <a:off x="3666282" y="1897320"/>
            <a:ext cx="369570" cy="132715"/>
          </a:xfrm>
          <a:prstGeom prst="rect">
            <a:avLst/>
          </a:prstGeom>
        </p:spPr>
        <p:txBody>
          <a:bodyPr wrap="square" lIns="0" tIns="12700" rIns="0" bIns="0" rtlCol="0" vert="horz">
            <a:spAutoFit/>
          </a:bodyPr>
          <a:lstStyle/>
          <a:p>
            <a:pPr>
              <a:lnSpc>
                <a:spcPct val="100000"/>
              </a:lnSpc>
              <a:spcBef>
                <a:spcPts val="100"/>
              </a:spcBef>
            </a:pPr>
            <a:r>
              <a:rPr dirty="0" sz="700" spc="-15">
                <a:latin typeface="SimSun"/>
                <a:cs typeface="SimSun"/>
              </a:rPr>
              <a:t>天馈系统</a:t>
            </a:r>
            <a:endParaRPr sz="700">
              <a:latin typeface="SimSun"/>
              <a:cs typeface="SimSun"/>
            </a:endParaRPr>
          </a:p>
        </p:txBody>
      </p:sp>
      <p:sp>
        <p:nvSpPr>
          <p:cNvPr id="56" name="object 56" descr=""/>
          <p:cNvSpPr txBox="1"/>
          <p:nvPr/>
        </p:nvSpPr>
        <p:spPr>
          <a:xfrm>
            <a:off x="3353259" y="1821251"/>
            <a:ext cx="191135" cy="239395"/>
          </a:xfrm>
          <a:prstGeom prst="rect">
            <a:avLst/>
          </a:prstGeom>
        </p:spPr>
        <p:txBody>
          <a:bodyPr wrap="square" lIns="0" tIns="12700" rIns="0" bIns="0" rtlCol="0" vert="horz">
            <a:spAutoFit/>
          </a:bodyPr>
          <a:lstStyle/>
          <a:p>
            <a:pPr marR="5080">
              <a:lnSpc>
                <a:spcPct val="100000"/>
              </a:lnSpc>
              <a:spcBef>
                <a:spcPts val="100"/>
              </a:spcBef>
            </a:pPr>
            <a:r>
              <a:rPr dirty="0" sz="700" spc="-25">
                <a:solidFill>
                  <a:srgbClr val="FFFFFF"/>
                </a:solidFill>
                <a:latin typeface="SimSun"/>
                <a:cs typeface="SimSun"/>
              </a:rPr>
              <a:t>远端单元</a:t>
            </a:r>
            <a:endParaRPr sz="700">
              <a:latin typeface="SimSun"/>
              <a:cs typeface="SimSun"/>
            </a:endParaRPr>
          </a:p>
        </p:txBody>
      </p:sp>
      <p:sp>
        <p:nvSpPr>
          <p:cNvPr id="57" name="object 57" descr=""/>
          <p:cNvSpPr txBox="1"/>
          <p:nvPr/>
        </p:nvSpPr>
        <p:spPr>
          <a:xfrm>
            <a:off x="3353259" y="2361117"/>
            <a:ext cx="191135" cy="239395"/>
          </a:xfrm>
          <a:prstGeom prst="rect">
            <a:avLst/>
          </a:prstGeom>
        </p:spPr>
        <p:txBody>
          <a:bodyPr wrap="square" lIns="0" tIns="12700" rIns="0" bIns="0" rtlCol="0" vert="horz">
            <a:spAutoFit/>
          </a:bodyPr>
          <a:lstStyle/>
          <a:p>
            <a:pPr marR="5080">
              <a:lnSpc>
                <a:spcPct val="100000"/>
              </a:lnSpc>
              <a:spcBef>
                <a:spcPts val="100"/>
              </a:spcBef>
            </a:pPr>
            <a:r>
              <a:rPr dirty="0" sz="700" spc="-25">
                <a:solidFill>
                  <a:srgbClr val="FFFFFF"/>
                </a:solidFill>
                <a:latin typeface="SimSun"/>
                <a:cs typeface="SimSun"/>
              </a:rPr>
              <a:t>远端单元</a:t>
            </a:r>
            <a:endParaRPr sz="700">
              <a:latin typeface="SimSun"/>
              <a:cs typeface="SimSun"/>
            </a:endParaRPr>
          </a:p>
        </p:txBody>
      </p:sp>
      <p:sp>
        <p:nvSpPr>
          <p:cNvPr id="58" name="object 58" descr=""/>
          <p:cNvSpPr txBox="1"/>
          <p:nvPr/>
        </p:nvSpPr>
        <p:spPr>
          <a:xfrm>
            <a:off x="3353259" y="2850174"/>
            <a:ext cx="191135" cy="239395"/>
          </a:xfrm>
          <a:prstGeom prst="rect">
            <a:avLst/>
          </a:prstGeom>
        </p:spPr>
        <p:txBody>
          <a:bodyPr wrap="square" lIns="0" tIns="12700" rIns="0" bIns="0" rtlCol="0" vert="horz">
            <a:spAutoFit/>
          </a:bodyPr>
          <a:lstStyle/>
          <a:p>
            <a:pPr marR="5080">
              <a:lnSpc>
                <a:spcPct val="100000"/>
              </a:lnSpc>
              <a:spcBef>
                <a:spcPts val="100"/>
              </a:spcBef>
            </a:pPr>
            <a:r>
              <a:rPr dirty="0" sz="700" spc="-25">
                <a:solidFill>
                  <a:srgbClr val="FFFFFF"/>
                </a:solidFill>
                <a:latin typeface="SimSun"/>
                <a:cs typeface="SimSun"/>
              </a:rPr>
              <a:t>远端单元</a:t>
            </a:r>
            <a:endParaRPr sz="700">
              <a:latin typeface="SimSun"/>
              <a:cs typeface="SimSun"/>
            </a:endParaRPr>
          </a:p>
        </p:txBody>
      </p:sp>
      <p:sp>
        <p:nvSpPr>
          <p:cNvPr id="59" name="object 59" descr=""/>
          <p:cNvSpPr txBox="1"/>
          <p:nvPr/>
        </p:nvSpPr>
        <p:spPr>
          <a:xfrm>
            <a:off x="3353259" y="3313826"/>
            <a:ext cx="191135" cy="239395"/>
          </a:xfrm>
          <a:prstGeom prst="rect">
            <a:avLst/>
          </a:prstGeom>
        </p:spPr>
        <p:txBody>
          <a:bodyPr wrap="square" lIns="0" tIns="12700" rIns="0" bIns="0" rtlCol="0" vert="horz">
            <a:spAutoFit/>
          </a:bodyPr>
          <a:lstStyle/>
          <a:p>
            <a:pPr marR="5080">
              <a:lnSpc>
                <a:spcPct val="100000"/>
              </a:lnSpc>
              <a:spcBef>
                <a:spcPts val="100"/>
              </a:spcBef>
            </a:pPr>
            <a:r>
              <a:rPr dirty="0" sz="700" spc="-25">
                <a:solidFill>
                  <a:srgbClr val="FFFFFF"/>
                </a:solidFill>
                <a:latin typeface="SimSun"/>
                <a:cs typeface="SimSun"/>
              </a:rPr>
              <a:t>远端单元</a:t>
            </a:r>
            <a:endParaRPr sz="700">
              <a:latin typeface="SimSun"/>
              <a:cs typeface="SimSun"/>
            </a:endParaRPr>
          </a:p>
        </p:txBody>
      </p:sp>
      <p:sp>
        <p:nvSpPr>
          <p:cNvPr id="60" name="object 60" descr=""/>
          <p:cNvSpPr txBox="1"/>
          <p:nvPr/>
        </p:nvSpPr>
        <p:spPr>
          <a:xfrm>
            <a:off x="3353259" y="3796532"/>
            <a:ext cx="191135" cy="239395"/>
          </a:xfrm>
          <a:prstGeom prst="rect">
            <a:avLst/>
          </a:prstGeom>
        </p:spPr>
        <p:txBody>
          <a:bodyPr wrap="square" lIns="0" tIns="12700" rIns="0" bIns="0" rtlCol="0" vert="horz">
            <a:spAutoFit/>
          </a:bodyPr>
          <a:lstStyle/>
          <a:p>
            <a:pPr marR="5080">
              <a:lnSpc>
                <a:spcPct val="100000"/>
              </a:lnSpc>
              <a:spcBef>
                <a:spcPts val="100"/>
              </a:spcBef>
            </a:pPr>
            <a:r>
              <a:rPr dirty="0" sz="700" spc="-25">
                <a:solidFill>
                  <a:srgbClr val="FFFFFF"/>
                </a:solidFill>
                <a:latin typeface="SimSun"/>
                <a:cs typeface="SimSun"/>
              </a:rPr>
              <a:t>远端单元</a:t>
            </a:r>
            <a:endParaRPr sz="700">
              <a:latin typeface="SimSun"/>
              <a:cs typeface="SimSun"/>
            </a:endParaRPr>
          </a:p>
        </p:txBody>
      </p:sp>
      <p:sp>
        <p:nvSpPr>
          <p:cNvPr id="61" name="object 61" descr=""/>
          <p:cNvSpPr/>
          <p:nvPr/>
        </p:nvSpPr>
        <p:spPr>
          <a:xfrm>
            <a:off x="268503" y="4433570"/>
            <a:ext cx="337820" cy="419734"/>
          </a:xfrm>
          <a:custGeom>
            <a:avLst/>
            <a:gdLst/>
            <a:ahLst/>
            <a:cxnLst/>
            <a:rect l="l" t="t" r="r" b="b"/>
            <a:pathLst>
              <a:path w="337820" h="419735">
                <a:moveTo>
                  <a:pt x="337426" y="0"/>
                </a:moveTo>
                <a:lnTo>
                  <a:pt x="0" y="0"/>
                </a:lnTo>
                <a:lnTo>
                  <a:pt x="0" y="419493"/>
                </a:lnTo>
                <a:lnTo>
                  <a:pt x="337426" y="419493"/>
                </a:lnTo>
                <a:lnTo>
                  <a:pt x="337426" y="0"/>
                </a:lnTo>
                <a:close/>
              </a:path>
            </a:pathLst>
          </a:custGeom>
          <a:solidFill>
            <a:srgbClr val="9A9A9A"/>
          </a:solidFill>
        </p:spPr>
        <p:txBody>
          <a:bodyPr wrap="square" lIns="0" tIns="0" rIns="0" bIns="0" rtlCol="0"/>
          <a:lstStyle/>
          <a:p/>
        </p:txBody>
      </p:sp>
      <p:sp>
        <p:nvSpPr>
          <p:cNvPr id="62" name="object 62" descr=""/>
          <p:cNvSpPr txBox="1"/>
          <p:nvPr/>
        </p:nvSpPr>
        <p:spPr>
          <a:xfrm>
            <a:off x="342093" y="4590230"/>
            <a:ext cx="203200" cy="101600"/>
          </a:xfrm>
          <a:prstGeom prst="rect">
            <a:avLst/>
          </a:prstGeom>
        </p:spPr>
        <p:txBody>
          <a:bodyPr wrap="square" lIns="0" tIns="12065" rIns="0" bIns="0" rtlCol="0" vert="horz">
            <a:spAutoFit/>
          </a:bodyPr>
          <a:lstStyle/>
          <a:p>
            <a:pPr>
              <a:lnSpc>
                <a:spcPct val="100000"/>
              </a:lnSpc>
              <a:spcBef>
                <a:spcPts val="95"/>
              </a:spcBef>
            </a:pPr>
            <a:r>
              <a:rPr dirty="0" sz="500" spc="-10">
                <a:solidFill>
                  <a:srgbClr val="FFFFFF"/>
                </a:solidFill>
                <a:latin typeface="SimSun"/>
                <a:cs typeface="SimSun"/>
              </a:rPr>
              <a:t>5G</a:t>
            </a:r>
            <a:r>
              <a:rPr dirty="0" sz="500" spc="-30">
                <a:solidFill>
                  <a:srgbClr val="FFFFFF"/>
                </a:solidFill>
                <a:latin typeface="SimSun"/>
                <a:cs typeface="SimSun"/>
              </a:rPr>
              <a:t>频段</a:t>
            </a:r>
            <a:endParaRPr sz="500">
              <a:latin typeface="SimSun"/>
              <a:cs typeface="SimSun"/>
            </a:endParaRPr>
          </a:p>
        </p:txBody>
      </p:sp>
      <p:sp>
        <p:nvSpPr>
          <p:cNvPr id="63" name="object 63" descr=""/>
          <p:cNvSpPr txBox="1"/>
          <p:nvPr/>
        </p:nvSpPr>
        <p:spPr>
          <a:xfrm>
            <a:off x="620522" y="4456506"/>
            <a:ext cx="399415" cy="182245"/>
          </a:xfrm>
          <a:prstGeom prst="rect">
            <a:avLst/>
          </a:prstGeom>
          <a:solidFill>
            <a:srgbClr val="FFC000"/>
          </a:solidFill>
        </p:spPr>
        <p:txBody>
          <a:bodyPr wrap="square" lIns="0" tIns="50165" rIns="0" bIns="0" rtlCol="0" vert="horz">
            <a:spAutoFit/>
          </a:bodyPr>
          <a:lstStyle/>
          <a:p>
            <a:pPr marL="7620">
              <a:lnSpc>
                <a:spcPct val="100000"/>
              </a:lnSpc>
              <a:spcBef>
                <a:spcPts val="395"/>
              </a:spcBef>
            </a:pPr>
            <a:r>
              <a:rPr dirty="0" sz="500" spc="-10">
                <a:solidFill>
                  <a:srgbClr val="FFFFFF"/>
                </a:solidFill>
                <a:latin typeface="SimSun"/>
                <a:cs typeface="SimSun"/>
              </a:rPr>
              <a:t>3300-3600MHz</a:t>
            </a:r>
            <a:endParaRPr sz="500">
              <a:latin typeface="SimSun"/>
              <a:cs typeface="SimSun"/>
            </a:endParaRPr>
          </a:p>
        </p:txBody>
      </p:sp>
      <p:sp>
        <p:nvSpPr>
          <p:cNvPr id="64" name="object 64" descr=""/>
          <p:cNvSpPr txBox="1"/>
          <p:nvPr/>
        </p:nvSpPr>
        <p:spPr>
          <a:xfrm>
            <a:off x="615797" y="4630813"/>
            <a:ext cx="427990" cy="214629"/>
          </a:xfrm>
          <a:prstGeom prst="rect">
            <a:avLst/>
          </a:prstGeom>
          <a:solidFill>
            <a:srgbClr val="FFC000"/>
          </a:solidFill>
        </p:spPr>
        <p:txBody>
          <a:bodyPr wrap="square" lIns="0" tIns="8890" rIns="0" bIns="0" rtlCol="0" vert="horz">
            <a:spAutoFit/>
          </a:bodyPr>
          <a:lstStyle/>
          <a:p>
            <a:pPr>
              <a:lnSpc>
                <a:spcPct val="100000"/>
              </a:lnSpc>
              <a:spcBef>
                <a:spcPts val="70"/>
              </a:spcBef>
            </a:pPr>
            <a:endParaRPr sz="500">
              <a:latin typeface="Times New Roman"/>
              <a:cs typeface="Times New Roman"/>
            </a:endParaRPr>
          </a:p>
          <a:p>
            <a:pPr marL="12700">
              <a:lnSpc>
                <a:spcPct val="100000"/>
              </a:lnSpc>
              <a:spcBef>
                <a:spcPts val="5"/>
              </a:spcBef>
            </a:pPr>
            <a:r>
              <a:rPr dirty="0" sz="500" spc="-10">
                <a:solidFill>
                  <a:srgbClr val="FFFFFF"/>
                </a:solidFill>
                <a:latin typeface="SimSun"/>
                <a:cs typeface="SimSun"/>
              </a:rPr>
              <a:t>4800-5000MHz</a:t>
            </a:r>
            <a:endParaRPr sz="500">
              <a:latin typeface="SimSun"/>
              <a:cs typeface="SimSun"/>
            </a:endParaRPr>
          </a:p>
        </p:txBody>
      </p:sp>
      <p:sp>
        <p:nvSpPr>
          <p:cNvPr id="65" name="object 65" descr=""/>
          <p:cNvSpPr/>
          <p:nvPr/>
        </p:nvSpPr>
        <p:spPr>
          <a:xfrm>
            <a:off x="1398451" y="902402"/>
            <a:ext cx="0" cy="3307715"/>
          </a:xfrm>
          <a:custGeom>
            <a:avLst/>
            <a:gdLst/>
            <a:ahLst/>
            <a:cxnLst/>
            <a:rect l="l" t="t" r="r" b="b"/>
            <a:pathLst>
              <a:path w="0" h="3307715">
                <a:moveTo>
                  <a:pt x="0" y="0"/>
                </a:moveTo>
                <a:lnTo>
                  <a:pt x="0" y="3307435"/>
                </a:lnTo>
              </a:path>
            </a:pathLst>
          </a:custGeom>
          <a:ln w="19050">
            <a:solidFill>
              <a:srgbClr val="FF0000"/>
            </a:solidFill>
            <a:prstDash val="sysDash"/>
          </a:ln>
        </p:spPr>
        <p:txBody>
          <a:bodyPr wrap="square" lIns="0" tIns="0" rIns="0" bIns="0" rtlCol="0"/>
          <a:lstStyle/>
          <a:p/>
        </p:txBody>
      </p:sp>
      <p:sp>
        <p:nvSpPr>
          <p:cNvPr id="66" name="object 66" descr=""/>
          <p:cNvSpPr txBox="1"/>
          <p:nvPr/>
        </p:nvSpPr>
        <p:spPr>
          <a:xfrm>
            <a:off x="980831" y="3760707"/>
            <a:ext cx="407670" cy="178435"/>
          </a:xfrm>
          <a:prstGeom prst="rect">
            <a:avLst/>
          </a:prstGeom>
        </p:spPr>
        <p:txBody>
          <a:bodyPr wrap="square" lIns="0" tIns="12700" rIns="0" bIns="0" rtlCol="0" vert="horz">
            <a:spAutoFit/>
          </a:bodyPr>
          <a:lstStyle/>
          <a:p>
            <a:pPr marL="12700">
              <a:lnSpc>
                <a:spcPct val="100000"/>
              </a:lnSpc>
              <a:spcBef>
                <a:spcPts val="100"/>
              </a:spcBef>
            </a:pPr>
            <a:r>
              <a:rPr dirty="0" sz="1000" spc="-20">
                <a:solidFill>
                  <a:srgbClr val="FF0000"/>
                </a:solidFill>
                <a:latin typeface="SimSun"/>
                <a:cs typeface="SimSun"/>
              </a:rPr>
              <a:t>运营商</a:t>
            </a:r>
            <a:endParaRPr sz="1000">
              <a:latin typeface="SimSun"/>
              <a:cs typeface="SimSun"/>
            </a:endParaRPr>
          </a:p>
        </p:txBody>
      </p:sp>
      <p:sp>
        <p:nvSpPr>
          <p:cNvPr id="67" name="object 67" descr=""/>
          <p:cNvSpPr txBox="1"/>
          <p:nvPr/>
        </p:nvSpPr>
        <p:spPr>
          <a:xfrm>
            <a:off x="1525788" y="3472676"/>
            <a:ext cx="153035" cy="635635"/>
          </a:xfrm>
          <a:prstGeom prst="rect">
            <a:avLst/>
          </a:prstGeom>
        </p:spPr>
        <p:txBody>
          <a:bodyPr wrap="square" lIns="0" tIns="12700" rIns="0" bIns="0" rtlCol="0" vert="horz">
            <a:spAutoFit/>
          </a:bodyPr>
          <a:lstStyle/>
          <a:p>
            <a:pPr algn="just" marL="12700" marR="5080">
              <a:lnSpc>
                <a:spcPct val="100000"/>
              </a:lnSpc>
              <a:spcBef>
                <a:spcPts val="100"/>
              </a:spcBef>
            </a:pPr>
            <a:r>
              <a:rPr dirty="0" sz="1000" spc="-50">
                <a:solidFill>
                  <a:srgbClr val="FF0000"/>
                </a:solidFill>
                <a:latin typeface="SimSun"/>
                <a:cs typeface="SimSun"/>
              </a:rPr>
              <a:t>铁塔公司</a:t>
            </a:r>
            <a:endParaRPr sz="1000">
              <a:latin typeface="SimSun"/>
              <a:cs typeface="SimSun"/>
            </a:endParaRPr>
          </a:p>
        </p:txBody>
      </p:sp>
      <p:grpSp>
        <p:nvGrpSpPr>
          <p:cNvPr id="68" name="object 68" descr=""/>
          <p:cNvGrpSpPr/>
          <p:nvPr/>
        </p:nvGrpSpPr>
        <p:grpSpPr>
          <a:xfrm>
            <a:off x="1038847" y="4223168"/>
            <a:ext cx="729615" cy="255904"/>
            <a:chOff x="1038847" y="4223168"/>
            <a:chExt cx="729615" cy="255904"/>
          </a:xfrm>
        </p:grpSpPr>
        <p:sp>
          <p:nvSpPr>
            <p:cNvPr id="69" name="object 69" descr=""/>
            <p:cNvSpPr/>
            <p:nvPr/>
          </p:nvSpPr>
          <p:spPr>
            <a:xfrm>
              <a:off x="1043609" y="4227931"/>
              <a:ext cx="720090" cy="246379"/>
            </a:xfrm>
            <a:custGeom>
              <a:avLst/>
              <a:gdLst/>
              <a:ahLst/>
              <a:cxnLst/>
              <a:rect l="l" t="t" r="r" b="b"/>
              <a:pathLst>
                <a:path w="720089" h="246379">
                  <a:moveTo>
                    <a:pt x="720077" y="0"/>
                  </a:moveTo>
                  <a:lnTo>
                    <a:pt x="0" y="0"/>
                  </a:lnTo>
                  <a:lnTo>
                    <a:pt x="0" y="246214"/>
                  </a:lnTo>
                  <a:lnTo>
                    <a:pt x="720077" y="246214"/>
                  </a:lnTo>
                  <a:lnTo>
                    <a:pt x="720077" y="0"/>
                  </a:lnTo>
                  <a:close/>
                </a:path>
              </a:pathLst>
            </a:custGeom>
            <a:solidFill>
              <a:srgbClr val="FFFFFF"/>
            </a:solidFill>
          </p:spPr>
          <p:txBody>
            <a:bodyPr wrap="square" lIns="0" tIns="0" rIns="0" bIns="0" rtlCol="0"/>
            <a:lstStyle/>
            <a:p/>
          </p:txBody>
        </p:sp>
        <p:sp>
          <p:nvSpPr>
            <p:cNvPr id="70" name="object 70" descr=""/>
            <p:cNvSpPr/>
            <p:nvPr/>
          </p:nvSpPr>
          <p:spPr>
            <a:xfrm>
              <a:off x="1043609" y="4227931"/>
              <a:ext cx="720090" cy="246379"/>
            </a:xfrm>
            <a:custGeom>
              <a:avLst/>
              <a:gdLst/>
              <a:ahLst/>
              <a:cxnLst/>
              <a:rect l="l" t="t" r="r" b="b"/>
              <a:pathLst>
                <a:path w="720089" h="246379">
                  <a:moveTo>
                    <a:pt x="0" y="0"/>
                  </a:moveTo>
                  <a:lnTo>
                    <a:pt x="720077" y="0"/>
                  </a:lnTo>
                  <a:lnTo>
                    <a:pt x="720077" y="246214"/>
                  </a:lnTo>
                  <a:lnTo>
                    <a:pt x="0" y="246214"/>
                  </a:lnTo>
                  <a:lnTo>
                    <a:pt x="0" y="0"/>
                  </a:lnTo>
                  <a:close/>
                </a:path>
              </a:pathLst>
            </a:custGeom>
            <a:ln w="9524">
              <a:solidFill>
                <a:srgbClr val="FF0000"/>
              </a:solidFill>
            </a:ln>
          </p:spPr>
          <p:txBody>
            <a:bodyPr wrap="square" lIns="0" tIns="0" rIns="0" bIns="0" rtlCol="0"/>
            <a:lstStyle/>
            <a:p/>
          </p:txBody>
        </p:sp>
      </p:grpSp>
      <p:sp>
        <p:nvSpPr>
          <p:cNvPr id="71" name="object 71" descr=""/>
          <p:cNvSpPr txBox="1"/>
          <p:nvPr/>
        </p:nvSpPr>
        <p:spPr>
          <a:xfrm>
            <a:off x="1048372" y="4254858"/>
            <a:ext cx="713105" cy="178435"/>
          </a:xfrm>
          <a:prstGeom prst="rect">
            <a:avLst/>
          </a:prstGeom>
        </p:spPr>
        <p:txBody>
          <a:bodyPr wrap="square" lIns="0" tIns="12700" rIns="0" bIns="0" rtlCol="0" vert="horz">
            <a:spAutoFit/>
          </a:bodyPr>
          <a:lstStyle/>
          <a:p>
            <a:pPr marL="86360">
              <a:lnSpc>
                <a:spcPct val="100000"/>
              </a:lnSpc>
              <a:spcBef>
                <a:spcPts val="100"/>
              </a:spcBef>
            </a:pPr>
            <a:r>
              <a:rPr dirty="0" sz="1000" spc="-15">
                <a:latin typeface="SimSun"/>
                <a:cs typeface="SimSun"/>
              </a:rPr>
              <a:t>分工界面</a:t>
            </a:r>
            <a:endParaRPr sz="1000">
              <a:latin typeface="SimSun"/>
              <a:cs typeface="SimSun"/>
            </a:endParaRPr>
          </a:p>
        </p:txBody>
      </p:sp>
      <p:sp>
        <p:nvSpPr>
          <p:cNvPr id="72" name="object 72" descr=""/>
          <p:cNvSpPr/>
          <p:nvPr/>
        </p:nvSpPr>
        <p:spPr>
          <a:xfrm>
            <a:off x="3646919" y="1165986"/>
            <a:ext cx="401320" cy="901700"/>
          </a:xfrm>
          <a:custGeom>
            <a:avLst/>
            <a:gdLst/>
            <a:ahLst/>
            <a:cxnLst/>
            <a:rect l="l" t="t" r="r" b="b"/>
            <a:pathLst>
              <a:path w="401320" h="901700">
                <a:moveTo>
                  <a:pt x="0" y="0"/>
                </a:moveTo>
                <a:lnTo>
                  <a:pt x="400773" y="0"/>
                </a:lnTo>
                <a:lnTo>
                  <a:pt x="400773" y="901395"/>
                </a:lnTo>
                <a:lnTo>
                  <a:pt x="0" y="901395"/>
                </a:lnTo>
                <a:lnTo>
                  <a:pt x="0" y="0"/>
                </a:lnTo>
                <a:close/>
              </a:path>
            </a:pathLst>
          </a:custGeom>
          <a:ln w="9525">
            <a:solidFill>
              <a:srgbClr val="FF0000"/>
            </a:solidFill>
          </a:ln>
        </p:spPr>
        <p:txBody>
          <a:bodyPr wrap="square" lIns="0" tIns="0" rIns="0" bIns="0" rtlCol="0"/>
          <a:lstStyle/>
          <a:p/>
        </p:txBody>
      </p:sp>
      <p:sp>
        <p:nvSpPr>
          <p:cNvPr id="73" name="object 73" descr=""/>
          <p:cNvSpPr txBox="1"/>
          <p:nvPr/>
        </p:nvSpPr>
        <p:spPr>
          <a:xfrm>
            <a:off x="3746016" y="1194436"/>
            <a:ext cx="215900" cy="147320"/>
          </a:xfrm>
          <a:prstGeom prst="rect">
            <a:avLst/>
          </a:prstGeom>
        </p:spPr>
        <p:txBody>
          <a:bodyPr wrap="square" lIns="0" tIns="12065" rIns="0" bIns="0" rtlCol="0" vert="horz">
            <a:spAutoFit/>
          </a:bodyPr>
          <a:lstStyle/>
          <a:p>
            <a:pPr>
              <a:lnSpc>
                <a:spcPct val="100000"/>
              </a:lnSpc>
              <a:spcBef>
                <a:spcPts val="95"/>
              </a:spcBef>
            </a:pPr>
            <a:r>
              <a:rPr dirty="0" sz="800" spc="-30">
                <a:latin typeface="SimSun"/>
                <a:cs typeface="SimSun"/>
              </a:rPr>
              <a:t>无源</a:t>
            </a:r>
            <a:endParaRPr sz="800">
              <a:latin typeface="SimSun"/>
              <a:cs typeface="SimSun"/>
            </a:endParaRPr>
          </a:p>
        </p:txBody>
      </p:sp>
      <p:grpSp>
        <p:nvGrpSpPr>
          <p:cNvPr id="74" name="object 74"/>
          <p:cNvGrpSpPr/>
          <p:nvPr/>
        </p:nvGrpSpPr>
        <p:grpSpPr>
          <a:xfrm>
            <a:off x="1722120" y="927353"/>
            <a:ext cx="1971675" cy="3780790"/>
            <a:chOff x="1722120" y="927353"/>
            <a:chExt cx="1971675" cy="3780790"/>
          </a:xfrm>
        </p:grpSpPr>
        <p:pic>
          <p:nvPicPr>
            <p:cNvPr id="75" name="object 75"/>
            <p:cNvPicPr/>
            <p:nvPr/>
          </p:nvPicPr>
          <p:blipFill>
            <a:blip r:embed="rId3" cstate="print"/>
            <a:stretch>
              <a:fillRect/>
            </a:stretch>
          </p:blipFill>
          <p:spPr>
            <a:xfrm>
              <a:off x="1722120" y="927353"/>
              <a:ext cx="1971281" cy="3780281"/>
            </a:xfrm>
            <a:prstGeom prst="rect">
              <a:avLst/>
            </a:prstGeom>
          </p:spPr>
        </p:pic>
        <p:sp>
          <p:nvSpPr>
            <p:cNvPr id="76" name="object 76" descr=""/>
            <p:cNvSpPr/>
            <p:nvPr/>
          </p:nvSpPr>
          <p:spPr>
            <a:xfrm>
              <a:off x="1776056" y="957973"/>
              <a:ext cx="1863725" cy="3672840"/>
            </a:xfrm>
            <a:custGeom>
              <a:avLst/>
              <a:gdLst/>
              <a:ahLst/>
              <a:cxnLst/>
              <a:rect l="l" t="t" r="r" b="b"/>
              <a:pathLst>
                <a:path w="1863725" h="3672840">
                  <a:moveTo>
                    <a:pt x="0" y="0"/>
                  </a:moveTo>
                  <a:lnTo>
                    <a:pt x="1863369" y="0"/>
                  </a:lnTo>
                  <a:lnTo>
                    <a:pt x="1863369" y="3672840"/>
                  </a:lnTo>
                  <a:lnTo>
                    <a:pt x="0" y="3672840"/>
                  </a:lnTo>
                  <a:lnTo>
                    <a:pt x="0" y="0"/>
                  </a:lnTo>
                  <a:close/>
                </a:path>
              </a:pathLst>
            </a:custGeom>
            <a:ln w="25400">
              <a:solidFill>
                <a:srgbClr val="2F2F98"/>
              </a:solidFill>
            </a:ln>
          </p:spPr>
          <p:txBody>
            <a:bodyPr wrap="square" lIns="0" tIns="0" rIns="0" bIns="0" rtlCol="0"/>
            <a:lstStyle/>
            <a:p/>
          </p:txBody>
        </p:sp>
      </p:grpSp>
      <p:sp>
        <p:nvSpPr>
          <p:cNvPr id="77" name="object 77" descr=""/>
          <p:cNvSpPr txBox="1"/>
          <p:nvPr/>
        </p:nvSpPr>
        <p:spPr>
          <a:xfrm>
            <a:off x="1951785" y="1107277"/>
            <a:ext cx="114300" cy="269240"/>
          </a:xfrm>
          <a:prstGeom prst="rect">
            <a:avLst/>
          </a:prstGeom>
        </p:spPr>
        <p:txBody>
          <a:bodyPr wrap="square" lIns="0" tIns="12065" rIns="0" bIns="0" rtlCol="0" vert="horz">
            <a:spAutoFit/>
          </a:bodyPr>
          <a:lstStyle/>
          <a:p>
            <a:pPr marR="5080">
              <a:lnSpc>
                <a:spcPct val="100000"/>
              </a:lnSpc>
              <a:spcBef>
                <a:spcPts val="95"/>
              </a:spcBef>
            </a:pPr>
            <a:r>
              <a:rPr dirty="0" sz="800" spc="-50">
                <a:latin typeface="Microsoft YaHei"/>
                <a:cs typeface="Microsoft YaHei"/>
              </a:rPr>
              <a:t>有源</a:t>
            </a:r>
            <a:endParaRPr sz="800">
              <a:latin typeface="Microsoft YaHei"/>
              <a:cs typeface="Microsoft YaHei"/>
            </a:endParaRPr>
          </a:p>
        </p:txBody>
      </p:sp>
      <p:graphicFrame>
        <p:nvGraphicFramePr>
          <p:cNvPr id="78" name="object 78" descr=""/>
          <p:cNvGraphicFramePr>
            <a:graphicFrameLocks noGrp="1"/>
          </p:cNvGraphicFramePr>
          <p:nvPr/>
        </p:nvGraphicFramePr>
        <p:xfrm>
          <a:off x="4178300" y="946150"/>
          <a:ext cx="4600575" cy="2331085"/>
        </p:xfrm>
        <a:graphic>
          <a:graphicData uri="http://schemas.openxmlformats.org/drawingml/2006/table">
            <a:tbl>
              <a:tblPr firstRow="1" bandRow="1">
                <a:tableStyleId>{2D5ABB26-0587-4C30-8999-92F81FD0307C}</a:tableStyleId>
              </a:tblPr>
              <a:tblGrid>
                <a:gridCol w="4498975"/>
              </a:tblGrid>
              <a:tr h="393700">
                <a:tc>
                  <a:txBody>
                    <a:bodyPr/>
                    <a:lstStyle/>
                    <a:p>
                      <a:pPr algn="ctr" marR="13335">
                        <a:lnSpc>
                          <a:spcPct val="100000"/>
                        </a:lnSpc>
                        <a:spcBef>
                          <a:spcPts val="409"/>
                        </a:spcBef>
                      </a:pPr>
                      <a:r>
                        <a:rPr dirty="0" sz="1400" spc="-30" b="1">
                          <a:solidFill>
                            <a:srgbClr val="FFFFFF"/>
                          </a:solidFill>
                          <a:latin typeface="Microsoft YaHei"/>
                          <a:cs typeface="Microsoft YaHei"/>
                        </a:rPr>
                        <a:t>产品创新</a:t>
                      </a:r>
                      <a:endParaRPr sz="1400">
                        <a:latin typeface="Microsoft YaHei"/>
                        <a:cs typeface="Microsoft YaHei"/>
                      </a:endParaRPr>
                    </a:p>
                  </a:txBody>
                  <a:tcPr marL="0" marR="0" marB="0" marT="52069">
                    <a:lnL w="28575">
                      <a:solidFill>
                        <a:srgbClr val="C00000"/>
                      </a:solidFill>
                      <a:prstDash val="solid"/>
                    </a:lnL>
                    <a:lnB w="28575">
                      <a:solidFill>
                        <a:srgbClr val="333399"/>
                      </a:solidFill>
                      <a:prstDash val="solid"/>
                    </a:lnB>
                    <a:solidFill>
                      <a:srgbClr val="C00000"/>
                    </a:solidFill>
                  </a:tcPr>
                </a:tc>
              </a:tr>
              <a:tr h="1572260">
                <a:tc>
                  <a:txBody>
                    <a:bodyPr/>
                    <a:lstStyle/>
                    <a:p>
                      <a:pPr marL="262255" marR="109220" indent="-171450">
                        <a:lnSpc>
                          <a:spcPct val="130000"/>
                        </a:lnSpc>
                        <a:spcBef>
                          <a:spcPts val="170"/>
                        </a:spcBef>
                        <a:buClr>
                          <a:srgbClr val="FF0000"/>
                        </a:buClr>
                        <a:buFont typeface="Wingdings"/>
                        <a:buChar char=""/>
                        <a:tabLst>
                          <a:tab pos="262255" algn="l"/>
                        </a:tabLst>
                      </a:pPr>
                      <a:r>
                        <a:rPr dirty="0" sz="1000" spc="-5">
                          <a:latin typeface="Microsoft YaHei"/>
                          <a:cs typeface="Microsoft YaHei"/>
                        </a:rPr>
                        <a:t>传统分布系统产品：开发支持</a:t>
                      </a:r>
                      <a:r>
                        <a:rPr dirty="0" sz="1000" spc="-10">
                          <a:latin typeface="Microsoft YaHei"/>
                          <a:cs typeface="Microsoft YaHei"/>
                        </a:rPr>
                        <a:t>3.5GHz</a:t>
                      </a:r>
                      <a:r>
                        <a:rPr dirty="0" sz="1000" spc="-15">
                          <a:latin typeface="Microsoft YaHei"/>
                          <a:cs typeface="Microsoft YaHei"/>
                        </a:rPr>
                        <a:t>的无源器件、天线和线缆接头产品，</a:t>
                      </a:r>
                      <a:r>
                        <a:rPr dirty="0" sz="1000">
                          <a:latin typeface="Microsoft YaHei"/>
                          <a:cs typeface="Microsoft YaHei"/>
                        </a:rPr>
                        <a:t>制定并开发15频</a:t>
                      </a:r>
                      <a:r>
                        <a:rPr dirty="0" sz="1000" spc="-20">
                          <a:latin typeface="Microsoft YaHei"/>
                          <a:cs typeface="Microsoft YaHei"/>
                        </a:rPr>
                        <a:t>POI</a:t>
                      </a:r>
                      <a:r>
                        <a:rPr dirty="0" sz="1000" spc="-50">
                          <a:latin typeface="Microsoft YaHei"/>
                          <a:cs typeface="Microsoft YaHei"/>
                        </a:rPr>
                        <a:t>。</a:t>
                      </a:r>
                      <a:endParaRPr sz="1000">
                        <a:latin typeface="Microsoft YaHei"/>
                        <a:cs typeface="Microsoft YaHei"/>
                      </a:endParaRPr>
                    </a:p>
                    <a:p>
                      <a:pPr marL="262255" marR="161290" indent="-171450">
                        <a:lnSpc>
                          <a:spcPct val="130000"/>
                        </a:lnSpc>
                        <a:spcBef>
                          <a:spcPts val="300"/>
                        </a:spcBef>
                        <a:buClr>
                          <a:srgbClr val="FF0000"/>
                        </a:buClr>
                        <a:buFont typeface="Wingdings"/>
                        <a:buChar char=""/>
                        <a:tabLst>
                          <a:tab pos="262255" algn="l"/>
                        </a:tabLst>
                      </a:pPr>
                      <a:r>
                        <a:rPr dirty="0" sz="1000" spc="-15">
                          <a:latin typeface="Microsoft YaHei"/>
                          <a:cs typeface="Microsoft YaHei"/>
                        </a:rPr>
                        <a:t>有源微站产品：沟通引导设备厂家针对特定场景，如地铁、机场等场景开发室内共射频的微站设备，为有源产品的共享提供支撑。</a:t>
                      </a:r>
                      <a:endParaRPr sz="1000">
                        <a:latin typeface="Microsoft YaHei"/>
                        <a:cs typeface="Microsoft YaHei"/>
                      </a:endParaRPr>
                    </a:p>
                    <a:p>
                      <a:pPr marL="262255" marR="142240" indent="-171450">
                        <a:lnSpc>
                          <a:spcPct val="130000"/>
                        </a:lnSpc>
                        <a:spcBef>
                          <a:spcPts val="300"/>
                        </a:spcBef>
                        <a:buClr>
                          <a:srgbClr val="FF0000"/>
                        </a:buClr>
                        <a:buFont typeface="Wingdings"/>
                        <a:buChar char=""/>
                        <a:tabLst>
                          <a:tab pos="262255" algn="l"/>
                        </a:tabLst>
                      </a:pPr>
                      <a:r>
                        <a:rPr dirty="0" sz="1000" spc="-10">
                          <a:latin typeface="Microsoft YaHei"/>
                          <a:cs typeface="Microsoft YaHei"/>
                        </a:rPr>
                        <a:t>光纤分布系统产品：在现有产品基础上增加支持3.5G</a:t>
                      </a:r>
                      <a:r>
                        <a:rPr dirty="0" sz="1000" spc="-15">
                          <a:latin typeface="Microsoft YaHei"/>
                          <a:cs typeface="Microsoft YaHei"/>
                        </a:rPr>
                        <a:t>频段的产品，探索频</a:t>
                      </a:r>
                      <a:r>
                        <a:rPr dirty="0" sz="1000" spc="-5">
                          <a:latin typeface="Microsoft YaHei"/>
                          <a:cs typeface="Microsoft YaHei"/>
                        </a:rPr>
                        <a:t>段组合的光纤分布产品。</a:t>
                      </a:r>
                      <a:endParaRPr sz="1000">
                        <a:latin typeface="Microsoft YaHei"/>
                        <a:cs typeface="Microsoft YaHei"/>
                      </a:endParaRPr>
                    </a:p>
                  </a:txBody>
                  <a:tcPr marL="0" marR="0" marB="0" marT="21590">
                    <a:lnL w="28575">
                      <a:solidFill>
                        <a:srgbClr val="333399"/>
                      </a:solidFill>
                      <a:prstDash val="solid"/>
                    </a:lnL>
                    <a:lnR w="28575">
                      <a:solidFill>
                        <a:srgbClr val="333399"/>
                      </a:solidFill>
                      <a:prstDash val="solid"/>
                    </a:lnR>
                    <a:lnT w="28575">
                      <a:solidFill>
                        <a:srgbClr val="333399"/>
                      </a:solidFill>
                      <a:prstDash val="solid"/>
                    </a:lnT>
                    <a:lnB w="28575">
                      <a:solidFill>
                        <a:srgbClr val="89A4A7"/>
                      </a:solidFill>
                      <a:prstDash val="solid"/>
                    </a:lnB>
                  </a:tcPr>
                </a:tc>
              </a:tr>
              <a:tr h="365125">
                <a:tc>
                  <a:txBody>
                    <a:bodyPr/>
                    <a:lstStyle/>
                    <a:p>
                      <a:pPr algn="ctr" marR="635">
                        <a:lnSpc>
                          <a:spcPct val="100000"/>
                        </a:lnSpc>
                        <a:spcBef>
                          <a:spcPts val="525"/>
                        </a:spcBef>
                      </a:pPr>
                      <a:r>
                        <a:rPr dirty="0" sz="1400" spc="-30" b="1">
                          <a:solidFill>
                            <a:srgbClr val="FFFFFF"/>
                          </a:solidFill>
                          <a:latin typeface="Microsoft YaHei"/>
                          <a:cs typeface="Microsoft YaHei"/>
                        </a:rPr>
                        <a:t>方案创新</a:t>
                      </a:r>
                      <a:endParaRPr sz="1400">
                        <a:latin typeface="Microsoft YaHei"/>
                        <a:cs typeface="Microsoft YaHei"/>
                      </a:endParaRPr>
                    </a:p>
                  </a:txBody>
                  <a:tcPr marL="0" marR="0" marB="0" marT="66675">
                    <a:lnL w="28575">
                      <a:solidFill>
                        <a:srgbClr val="89A4A7"/>
                      </a:solidFill>
                      <a:prstDash val="solid"/>
                    </a:lnL>
                    <a:lnR w="28575">
                      <a:solidFill>
                        <a:srgbClr val="89A4A7"/>
                      </a:solidFill>
                      <a:prstDash val="solid"/>
                    </a:lnR>
                    <a:lnT w="28575">
                      <a:solidFill>
                        <a:srgbClr val="89A4A7"/>
                      </a:solidFill>
                      <a:prstDash val="solid"/>
                    </a:lnT>
                    <a:lnB w="28575">
                      <a:solidFill>
                        <a:srgbClr val="89A4A7"/>
                      </a:solidFill>
                      <a:prstDash val="solid"/>
                    </a:lnB>
                    <a:solidFill>
                      <a:srgbClr val="00B0F0"/>
                    </a:solidFill>
                  </a:tcPr>
                </a:tc>
              </a:tr>
            </a:tbl>
          </a:graphicData>
        </a:graphic>
      </p:graphicFrame>
      <p:sp>
        <p:nvSpPr>
          <p:cNvPr id="79" name="object 79" descr=""/>
          <p:cNvSpPr txBox="1"/>
          <p:nvPr/>
        </p:nvSpPr>
        <p:spPr>
          <a:xfrm>
            <a:off x="4131170" y="3409950"/>
            <a:ext cx="4512310" cy="1573530"/>
          </a:xfrm>
          <a:prstGeom prst="rect">
            <a:avLst/>
          </a:prstGeom>
          <a:ln w="25400">
            <a:solidFill>
              <a:srgbClr val="333399"/>
            </a:solidFill>
          </a:ln>
        </p:spPr>
        <p:txBody>
          <a:bodyPr wrap="square" lIns="0" tIns="21590" rIns="0" bIns="0" rtlCol="0" vert="horz">
            <a:spAutoFit/>
          </a:bodyPr>
          <a:lstStyle/>
          <a:p>
            <a:pPr marL="262255" marR="207645" indent="-171450">
              <a:lnSpc>
                <a:spcPct val="130000"/>
              </a:lnSpc>
              <a:spcBef>
                <a:spcPts val="170"/>
              </a:spcBef>
              <a:buClr>
                <a:srgbClr val="FF0000"/>
              </a:buClr>
              <a:buFont typeface="Wingdings"/>
              <a:buChar char=""/>
              <a:tabLst>
                <a:tab pos="262255" algn="l"/>
              </a:tabLst>
            </a:pPr>
            <a:r>
              <a:rPr dirty="0" sz="1000" spc="-15">
                <a:latin typeface="Microsoft YaHei"/>
                <a:cs typeface="Microsoft YaHei"/>
              </a:rPr>
              <a:t>有源+无源分布系统的组合应用：加大应用，通过远端设备有源化，功率可调解决各系统覆盖范围差异，使用光纤，扩大数据传输能力。</a:t>
            </a:r>
            <a:endParaRPr sz="1000">
              <a:latin typeface="Microsoft YaHei"/>
              <a:cs typeface="Microsoft YaHei"/>
            </a:endParaRPr>
          </a:p>
          <a:p>
            <a:pPr marL="261620" indent="-170815">
              <a:lnSpc>
                <a:spcPct val="100000"/>
              </a:lnSpc>
              <a:spcBef>
                <a:spcPts val="660"/>
              </a:spcBef>
              <a:buClr>
                <a:srgbClr val="FF0000"/>
              </a:buClr>
              <a:buFont typeface="Wingdings"/>
              <a:buChar char=""/>
              <a:tabLst>
                <a:tab pos="261620" algn="l"/>
              </a:tabLst>
            </a:pPr>
            <a:r>
              <a:rPr dirty="0" sz="1000" spc="-15">
                <a:latin typeface="Microsoft YaHei"/>
                <a:cs typeface="Microsoft YaHei"/>
              </a:rPr>
              <a:t>远端有源化：减少上行信号在无源系统中的损耗，提升上行干扰抑制能力</a:t>
            </a:r>
            <a:endParaRPr sz="1000">
              <a:latin typeface="Microsoft YaHei"/>
              <a:cs typeface="Microsoft YaHei"/>
            </a:endParaRPr>
          </a:p>
          <a:p>
            <a:pPr marL="261620" indent="-170815">
              <a:lnSpc>
                <a:spcPct val="100000"/>
              </a:lnSpc>
              <a:spcBef>
                <a:spcPts val="660"/>
              </a:spcBef>
              <a:buClr>
                <a:srgbClr val="FF0000"/>
              </a:buClr>
              <a:buFont typeface="Wingdings"/>
              <a:buChar char=""/>
              <a:tabLst>
                <a:tab pos="261620" algn="l"/>
              </a:tabLst>
            </a:pPr>
            <a:r>
              <a:rPr dirty="0" sz="1000" spc="-15">
                <a:latin typeface="Microsoft YaHei"/>
                <a:cs typeface="Microsoft YaHei"/>
              </a:rPr>
              <a:t>远端功率小型化：通过小信号合路降低互调干扰对系统性能的影响</a:t>
            </a:r>
            <a:endParaRPr sz="1000">
              <a:latin typeface="Microsoft YaHei"/>
              <a:cs typeface="Microsoft YaHei"/>
            </a:endParaRPr>
          </a:p>
          <a:p>
            <a:pPr marL="262255" marR="173990" indent="-171450">
              <a:lnSpc>
                <a:spcPct val="130000"/>
              </a:lnSpc>
              <a:spcBef>
                <a:spcPts val="300"/>
              </a:spcBef>
              <a:buClr>
                <a:srgbClr val="FF0000"/>
              </a:buClr>
              <a:buFont typeface="Wingdings"/>
              <a:buChar char=""/>
              <a:tabLst>
                <a:tab pos="262255" algn="l"/>
              </a:tabLst>
            </a:pPr>
            <a:r>
              <a:rPr dirty="0" sz="1000" spc="-15">
                <a:latin typeface="Microsoft YaHei"/>
                <a:cs typeface="Microsoft YaHei"/>
              </a:rPr>
              <a:t>降低器件对分布系统影响：继续扩大漏缆分布系统的试点，减少无源器件的使用。</a:t>
            </a:r>
            <a:endParaRPr sz="1000">
              <a:latin typeface="Microsoft YaHei"/>
              <a:cs typeface="Microsoft YaHe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2757" y="137032"/>
            <a:ext cx="5311140" cy="513080"/>
          </a:xfrm>
          <a:prstGeom prst="rect"/>
        </p:spPr>
        <p:txBody>
          <a:bodyPr wrap="square" lIns="0" tIns="12065" rIns="0" bIns="0" rtlCol="0" vert="horz">
            <a:spAutoFit/>
          </a:bodyPr>
          <a:lstStyle/>
          <a:p>
            <a:pPr marL="12700">
              <a:lnSpc>
                <a:spcPct val="100000"/>
              </a:lnSpc>
              <a:spcBef>
                <a:spcPts val="95"/>
              </a:spcBef>
            </a:pPr>
            <a:r>
              <a:rPr dirty="0" spc="-45"/>
              <a:t>无线室内覆盖设备方案的对比</a:t>
            </a:r>
          </a:p>
        </p:txBody>
      </p:sp>
      <p:graphicFrame>
        <p:nvGraphicFramePr>
          <p:cNvPr id="3" name="object 3" descr=""/>
          <p:cNvGraphicFramePr>
            <a:graphicFrameLocks noGrp="1"/>
          </p:cNvGraphicFramePr>
          <p:nvPr/>
        </p:nvGraphicFramePr>
        <p:xfrm>
          <a:off x="527050" y="889000"/>
          <a:ext cx="8154034" cy="3913504"/>
        </p:xfrm>
        <a:graphic>
          <a:graphicData uri="http://schemas.openxmlformats.org/drawingml/2006/table">
            <a:tbl>
              <a:tblPr firstRow="1" bandRow="1">
                <a:tableStyleId>{2D5ABB26-0587-4C30-8999-92F81FD0307C}</a:tableStyleId>
              </a:tblPr>
              <a:tblGrid>
                <a:gridCol w="1052195"/>
                <a:gridCol w="2402205"/>
                <a:gridCol w="2595245"/>
                <a:gridCol w="2016760"/>
              </a:tblGrid>
              <a:tr h="450215">
                <a:tc>
                  <a:txBody>
                    <a:bodyPr/>
                    <a:lstStyle/>
                    <a:p>
                      <a:pPr>
                        <a:lnSpc>
                          <a:spcPct val="100000"/>
                        </a:lnSpc>
                      </a:pPr>
                      <a:endParaRPr sz="12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CC00"/>
                    </a:solidFill>
                  </a:tcPr>
                </a:tc>
                <a:tc>
                  <a:txBody>
                    <a:bodyPr/>
                    <a:lstStyle/>
                    <a:p>
                      <a:pPr marL="91440">
                        <a:lnSpc>
                          <a:spcPct val="100000"/>
                        </a:lnSpc>
                        <a:spcBef>
                          <a:spcPts val="310"/>
                        </a:spcBef>
                      </a:pPr>
                      <a:r>
                        <a:rPr dirty="0" sz="1200" b="1">
                          <a:solidFill>
                            <a:srgbClr val="FFFFFF"/>
                          </a:solidFill>
                          <a:latin typeface="Microsoft YaHei"/>
                          <a:cs typeface="Microsoft YaHei"/>
                        </a:rPr>
                        <a:t>传统</a:t>
                      </a:r>
                      <a:r>
                        <a:rPr dirty="0" sz="1200" spc="-25" b="1">
                          <a:solidFill>
                            <a:srgbClr val="FFFFFF"/>
                          </a:solidFill>
                          <a:latin typeface="Microsoft YaHei"/>
                          <a:cs typeface="Microsoft YaHei"/>
                        </a:rPr>
                        <a:t>DAS</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CC00"/>
                    </a:solidFill>
                  </a:tcPr>
                </a:tc>
                <a:tc>
                  <a:txBody>
                    <a:bodyPr/>
                    <a:lstStyle/>
                    <a:p>
                      <a:pPr marL="91440">
                        <a:lnSpc>
                          <a:spcPct val="100000"/>
                        </a:lnSpc>
                        <a:spcBef>
                          <a:spcPts val="310"/>
                        </a:spcBef>
                      </a:pPr>
                      <a:r>
                        <a:rPr dirty="0" sz="1200" spc="-10" b="1">
                          <a:solidFill>
                            <a:srgbClr val="FFFFFF"/>
                          </a:solidFill>
                          <a:latin typeface="Microsoft YaHei"/>
                          <a:cs typeface="Microsoft YaHei"/>
                        </a:rPr>
                        <a:t>分布式皮站系统</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CC00"/>
                    </a:solidFill>
                  </a:tcPr>
                </a:tc>
                <a:tc>
                  <a:txBody>
                    <a:bodyPr/>
                    <a:lstStyle/>
                    <a:p>
                      <a:pPr marL="91440">
                        <a:lnSpc>
                          <a:spcPct val="100000"/>
                        </a:lnSpc>
                        <a:spcBef>
                          <a:spcPts val="310"/>
                        </a:spcBef>
                      </a:pPr>
                      <a:r>
                        <a:rPr dirty="0" sz="1200" spc="-10" b="1">
                          <a:solidFill>
                            <a:srgbClr val="FFFFFF"/>
                          </a:solidFill>
                          <a:latin typeface="Microsoft YaHei"/>
                          <a:cs typeface="Microsoft YaHei"/>
                        </a:rPr>
                        <a:t>一体化皮站系统</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CC00"/>
                    </a:solidFill>
                  </a:tcPr>
                </a:tc>
              </a:tr>
              <a:tr h="492125">
                <a:tc>
                  <a:txBody>
                    <a:bodyPr/>
                    <a:lstStyle/>
                    <a:p>
                      <a:pPr marL="91440">
                        <a:lnSpc>
                          <a:spcPct val="100000"/>
                        </a:lnSpc>
                        <a:spcBef>
                          <a:spcPts val="310"/>
                        </a:spcBef>
                      </a:pPr>
                      <a:r>
                        <a:rPr dirty="0" sz="1200" spc="-25" b="1">
                          <a:latin typeface="Microsoft YaHei"/>
                          <a:cs typeface="Microsoft YaHei"/>
                        </a:rPr>
                        <a:t>特点</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B050"/>
                    </a:solidFill>
                  </a:tcPr>
                </a:tc>
                <a:tc>
                  <a:txBody>
                    <a:bodyPr/>
                    <a:lstStyle/>
                    <a:p>
                      <a:pPr marL="91440">
                        <a:lnSpc>
                          <a:spcPct val="100000"/>
                        </a:lnSpc>
                        <a:spcBef>
                          <a:spcPts val="310"/>
                        </a:spcBef>
                      </a:pPr>
                      <a:r>
                        <a:rPr dirty="0" sz="1200" spc="-5">
                          <a:latin typeface="Microsoft YaHei"/>
                          <a:cs typeface="Microsoft YaHei"/>
                        </a:rPr>
                        <a:t>信源/</a:t>
                      </a:r>
                      <a:r>
                        <a:rPr dirty="0" sz="1200" spc="-10">
                          <a:latin typeface="Microsoft YaHei"/>
                          <a:cs typeface="Microsoft YaHei"/>
                        </a:rPr>
                        <a:t>RRU</a:t>
                      </a:r>
                      <a:r>
                        <a:rPr dirty="0" sz="1200" spc="-15">
                          <a:latin typeface="Microsoft YaHei"/>
                          <a:cs typeface="Microsoft YaHei"/>
                        </a:rPr>
                        <a:t>+无源器件+馈线/天线</a:t>
                      </a:r>
                      <a:endParaRPr sz="1200">
                        <a:latin typeface="Microsoft YaHei"/>
                        <a:cs typeface="Microsoft YaHei"/>
                      </a:endParaRPr>
                    </a:p>
                    <a:p>
                      <a:pPr marL="91440">
                        <a:lnSpc>
                          <a:spcPct val="100000"/>
                        </a:lnSpc>
                      </a:pPr>
                      <a:r>
                        <a:rPr dirty="0" sz="1200">
                          <a:latin typeface="Microsoft YaHei"/>
                          <a:cs typeface="Microsoft YaHei"/>
                        </a:rPr>
                        <a:t>（包括干放、直放站</a:t>
                      </a:r>
                      <a:r>
                        <a:rPr dirty="0" sz="1200" spc="-50">
                          <a:latin typeface="Microsoft YaHei"/>
                          <a:cs typeface="Microsoft YaHei"/>
                        </a:rPr>
                        <a:t>）</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marL="91440">
                        <a:lnSpc>
                          <a:spcPct val="100000"/>
                        </a:lnSpc>
                        <a:spcBef>
                          <a:spcPts val="310"/>
                        </a:spcBef>
                      </a:pPr>
                      <a:r>
                        <a:rPr dirty="0" sz="1200" spc="-10">
                          <a:latin typeface="Microsoft YaHei"/>
                          <a:cs typeface="Microsoft YaHei"/>
                        </a:rPr>
                        <a:t>基带单元 + </a:t>
                      </a:r>
                      <a:r>
                        <a:rPr dirty="0" sz="1200">
                          <a:latin typeface="Microsoft YaHei"/>
                          <a:cs typeface="Microsoft YaHei"/>
                        </a:rPr>
                        <a:t>HUB</a:t>
                      </a:r>
                      <a:r>
                        <a:rPr dirty="0" sz="1200" spc="-15">
                          <a:latin typeface="Microsoft YaHei"/>
                          <a:cs typeface="Microsoft YaHei"/>
                        </a:rPr>
                        <a:t> + </a:t>
                      </a:r>
                      <a:r>
                        <a:rPr dirty="0" sz="1200">
                          <a:latin typeface="Microsoft YaHei"/>
                          <a:cs typeface="Microsoft YaHei"/>
                        </a:rPr>
                        <a:t>Pico </a:t>
                      </a:r>
                      <a:r>
                        <a:rPr dirty="0" sz="1200" spc="-25">
                          <a:latin typeface="Microsoft YaHei"/>
                          <a:cs typeface="Microsoft YaHei"/>
                        </a:rPr>
                        <a:t>RRU</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marL="91440">
                        <a:lnSpc>
                          <a:spcPct val="100000"/>
                        </a:lnSpc>
                        <a:spcBef>
                          <a:spcPts val="310"/>
                        </a:spcBef>
                      </a:pPr>
                      <a:r>
                        <a:rPr dirty="0" sz="1200" spc="-10">
                          <a:latin typeface="Microsoft YaHei"/>
                          <a:cs typeface="Microsoft YaHei"/>
                        </a:rPr>
                        <a:t>传输 + </a:t>
                      </a:r>
                      <a:r>
                        <a:rPr dirty="0" sz="1200" spc="-20">
                          <a:latin typeface="Microsoft YaHei"/>
                          <a:cs typeface="Microsoft YaHei"/>
                        </a:rPr>
                        <a:t>Femto</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r>
              <a:tr h="1073150">
                <a:tc>
                  <a:txBody>
                    <a:bodyPr/>
                    <a:lstStyle/>
                    <a:p>
                      <a:pPr marL="91440">
                        <a:lnSpc>
                          <a:spcPct val="100000"/>
                        </a:lnSpc>
                        <a:spcBef>
                          <a:spcPts val="310"/>
                        </a:spcBef>
                      </a:pPr>
                      <a:r>
                        <a:rPr dirty="0" sz="1200" spc="-25" b="1">
                          <a:latin typeface="Microsoft YaHei"/>
                          <a:cs typeface="Microsoft YaHei"/>
                        </a:rPr>
                        <a:t>优点</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marL="263525" indent="-172085">
                        <a:lnSpc>
                          <a:spcPct val="100000"/>
                        </a:lnSpc>
                        <a:spcBef>
                          <a:spcPts val="310"/>
                        </a:spcBef>
                        <a:buFont typeface="Arial MT"/>
                        <a:buChar char="•"/>
                        <a:tabLst>
                          <a:tab pos="263525" algn="l"/>
                        </a:tabLst>
                      </a:pPr>
                      <a:r>
                        <a:rPr dirty="0" sz="1200" spc="-15">
                          <a:latin typeface="Microsoft YaHei"/>
                          <a:cs typeface="Microsoft YaHei"/>
                        </a:rPr>
                        <a:t>稳定可靠</a:t>
                      </a:r>
                      <a:endParaRPr sz="1200">
                        <a:latin typeface="Microsoft YaHei"/>
                        <a:cs typeface="Microsoft YaHei"/>
                      </a:endParaRPr>
                    </a:p>
                    <a:p>
                      <a:pPr marL="263525" indent="-172085">
                        <a:lnSpc>
                          <a:spcPct val="100000"/>
                        </a:lnSpc>
                        <a:buFont typeface="Arial MT"/>
                        <a:buChar char="•"/>
                        <a:tabLst>
                          <a:tab pos="263525" algn="l"/>
                        </a:tabLst>
                      </a:pPr>
                      <a:r>
                        <a:rPr dirty="0" sz="1200" spc="-10">
                          <a:latin typeface="Microsoft YaHei"/>
                          <a:cs typeface="Microsoft YaHei"/>
                        </a:rPr>
                        <a:t>成本相对低</a:t>
                      </a:r>
                      <a:endParaRPr sz="1200">
                        <a:latin typeface="Microsoft YaHei"/>
                        <a:cs typeface="Microsoft YaHei"/>
                      </a:endParaRPr>
                    </a:p>
                    <a:p>
                      <a:pPr marL="263525" indent="-172085">
                        <a:lnSpc>
                          <a:spcPct val="100000"/>
                        </a:lnSpc>
                        <a:buFont typeface="Arial MT"/>
                        <a:buChar char="•"/>
                        <a:tabLst>
                          <a:tab pos="263525" algn="l"/>
                        </a:tabLst>
                      </a:pPr>
                      <a:r>
                        <a:rPr dirty="0" sz="1200">
                          <a:latin typeface="Microsoft YaHei"/>
                          <a:cs typeface="Microsoft YaHei"/>
                        </a:rPr>
                        <a:t>宽频系统、兼容</a:t>
                      </a:r>
                      <a:r>
                        <a:rPr dirty="0" sz="1200" spc="-10">
                          <a:latin typeface="Microsoft YaHei"/>
                          <a:cs typeface="Microsoft YaHei"/>
                        </a:rPr>
                        <a:t>2/3/4G</a:t>
                      </a:r>
                      <a:endParaRPr sz="1200">
                        <a:latin typeface="Microsoft YaHei"/>
                        <a:cs typeface="Microsoft YaHei"/>
                      </a:endParaRPr>
                    </a:p>
                    <a:p>
                      <a:pPr marL="263525" indent="-172085">
                        <a:lnSpc>
                          <a:spcPct val="100000"/>
                        </a:lnSpc>
                        <a:buFont typeface="Arial MT"/>
                        <a:buChar char="•"/>
                        <a:tabLst>
                          <a:tab pos="263525" algn="l"/>
                        </a:tabLst>
                      </a:pPr>
                      <a:r>
                        <a:rPr dirty="0" sz="1200" spc="-5">
                          <a:latin typeface="Microsoft YaHei"/>
                          <a:cs typeface="Microsoft YaHei"/>
                        </a:rPr>
                        <a:t>无源系统，连接多厂家</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262890" indent="-172085">
                        <a:lnSpc>
                          <a:spcPct val="100000"/>
                        </a:lnSpc>
                        <a:spcBef>
                          <a:spcPts val="310"/>
                        </a:spcBef>
                        <a:buFont typeface="Arial MT"/>
                        <a:buChar char="•"/>
                        <a:tabLst>
                          <a:tab pos="262890" algn="l"/>
                        </a:tabLst>
                      </a:pPr>
                      <a:r>
                        <a:rPr dirty="0" sz="1200" spc="-10">
                          <a:latin typeface="Microsoft YaHei"/>
                          <a:cs typeface="Microsoft YaHei"/>
                        </a:rPr>
                        <a:t>部署相对快捷</a:t>
                      </a:r>
                      <a:endParaRPr sz="1200">
                        <a:latin typeface="Microsoft YaHei"/>
                        <a:cs typeface="Microsoft YaHei"/>
                      </a:endParaRPr>
                    </a:p>
                    <a:p>
                      <a:pPr marL="262890" indent="-172085">
                        <a:lnSpc>
                          <a:spcPct val="100000"/>
                        </a:lnSpc>
                        <a:buFont typeface="Arial MT"/>
                        <a:buChar char="•"/>
                        <a:tabLst>
                          <a:tab pos="262890" algn="l"/>
                        </a:tabLst>
                      </a:pPr>
                      <a:r>
                        <a:rPr dirty="0" sz="1200" spc="-5">
                          <a:latin typeface="Microsoft YaHei"/>
                          <a:cs typeface="Microsoft YaHei"/>
                        </a:rPr>
                        <a:t>小区分裂灵活，扩容方便容量大</a:t>
                      </a:r>
                      <a:endParaRPr sz="1200">
                        <a:latin typeface="Microsoft YaHei"/>
                        <a:cs typeface="Microsoft YaHei"/>
                      </a:endParaRPr>
                    </a:p>
                    <a:p>
                      <a:pPr marL="262890" indent="-172085">
                        <a:lnSpc>
                          <a:spcPct val="100000"/>
                        </a:lnSpc>
                        <a:buFont typeface="Arial MT"/>
                        <a:buChar char="•"/>
                        <a:tabLst>
                          <a:tab pos="262890" algn="l"/>
                        </a:tabLst>
                      </a:pPr>
                      <a:r>
                        <a:rPr dirty="0" sz="1200">
                          <a:latin typeface="Microsoft YaHei"/>
                          <a:cs typeface="Microsoft YaHei"/>
                        </a:rPr>
                        <a:t>灵活支持</a:t>
                      </a:r>
                      <a:r>
                        <a:rPr dirty="0" sz="1200" spc="-20">
                          <a:latin typeface="Microsoft YaHei"/>
                          <a:cs typeface="Microsoft YaHei"/>
                        </a:rPr>
                        <a:t>MIMO</a:t>
                      </a:r>
                      <a:endParaRPr sz="1200">
                        <a:latin typeface="Microsoft YaHei"/>
                        <a:cs typeface="Microsoft YaHei"/>
                      </a:endParaRPr>
                    </a:p>
                    <a:p>
                      <a:pPr marL="262890" indent="-172085">
                        <a:lnSpc>
                          <a:spcPct val="100000"/>
                        </a:lnSpc>
                        <a:buFont typeface="Arial MT"/>
                        <a:buChar char="•"/>
                        <a:tabLst>
                          <a:tab pos="262890" algn="l"/>
                        </a:tabLst>
                      </a:pPr>
                      <a:r>
                        <a:rPr dirty="0" sz="1200" spc="-20">
                          <a:latin typeface="Microsoft YaHei"/>
                          <a:cs typeface="Microsoft YaHei"/>
                        </a:rPr>
                        <a:t>可管控</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263525" indent="-172085">
                        <a:lnSpc>
                          <a:spcPct val="100000"/>
                        </a:lnSpc>
                        <a:spcBef>
                          <a:spcPts val="310"/>
                        </a:spcBef>
                        <a:buFont typeface="Arial MT"/>
                        <a:buChar char="•"/>
                        <a:tabLst>
                          <a:tab pos="263525" algn="l"/>
                        </a:tabLst>
                      </a:pPr>
                      <a:r>
                        <a:rPr dirty="0" sz="1200" spc="-10">
                          <a:latin typeface="Microsoft YaHei"/>
                          <a:cs typeface="Microsoft YaHei"/>
                        </a:rPr>
                        <a:t>部署简单、快速</a:t>
                      </a:r>
                      <a:endParaRPr sz="1200">
                        <a:latin typeface="Microsoft YaHei"/>
                        <a:cs typeface="Microsoft YaHei"/>
                      </a:endParaRPr>
                    </a:p>
                    <a:p>
                      <a:pPr marL="263525" indent="-172085">
                        <a:lnSpc>
                          <a:spcPct val="100000"/>
                        </a:lnSpc>
                        <a:buFont typeface="Arial MT"/>
                        <a:buChar char="•"/>
                        <a:tabLst>
                          <a:tab pos="263525" algn="l"/>
                        </a:tabLst>
                      </a:pPr>
                      <a:r>
                        <a:rPr dirty="0" sz="1200" spc="-10">
                          <a:latin typeface="Microsoft YaHei"/>
                          <a:cs typeface="Microsoft YaHei"/>
                        </a:rPr>
                        <a:t>孤立场景覆盖成本低</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005840">
                <a:tc>
                  <a:txBody>
                    <a:bodyPr/>
                    <a:lstStyle/>
                    <a:p>
                      <a:pPr marL="91440">
                        <a:lnSpc>
                          <a:spcPct val="100000"/>
                        </a:lnSpc>
                        <a:spcBef>
                          <a:spcPts val="310"/>
                        </a:spcBef>
                      </a:pPr>
                      <a:r>
                        <a:rPr dirty="0" sz="1200" spc="-25" b="1">
                          <a:latin typeface="Microsoft YaHei"/>
                          <a:cs typeface="Microsoft YaHei"/>
                        </a:rPr>
                        <a:t>缺点</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marL="263525" indent="-172085">
                        <a:lnSpc>
                          <a:spcPct val="100000"/>
                        </a:lnSpc>
                        <a:spcBef>
                          <a:spcPts val="310"/>
                        </a:spcBef>
                        <a:buFont typeface="Arial MT"/>
                        <a:buChar char="•"/>
                        <a:tabLst>
                          <a:tab pos="263525" algn="l"/>
                        </a:tabLst>
                      </a:pPr>
                      <a:r>
                        <a:rPr dirty="0" sz="1200" spc="-10">
                          <a:latin typeface="Microsoft YaHei"/>
                          <a:cs typeface="Microsoft YaHei"/>
                        </a:rPr>
                        <a:t>容量低或扩容难度大</a:t>
                      </a:r>
                      <a:endParaRPr sz="1200">
                        <a:latin typeface="Microsoft YaHei"/>
                        <a:cs typeface="Microsoft YaHei"/>
                      </a:endParaRPr>
                    </a:p>
                    <a:p>
                      <a:pPr marL="263525" indent="-172085">
                        <a:lnSpc>
                          <a:spcPct val="100000"/>
                        </a:lnSpc>
                        <a:buFont typeface="Arial MT"/>
                        <a:buChar char="•"/>
                        <a:tabLst>
                          <a:tab pos="263525" algn="l"/>
                        </a:tabLst>
                      </a:pPr>
                      <a:r>
                        <a:rPr dirty="0" sz="1200" spc="-10">
                          <a:latin typeface="Microsoft YaHei"/>
                          <a:cs typeface="Microsoft YaHei"/>
                        </a:rPr>
                        <a:t>故障难以监控</a:t>
                      </a:r>
                      <a:endParaRPr sz="1200">
                        <a:latin typeface="Microsoft YaHei"/>
                        <a:cs typeface="Microsoft YaHei"/>
                      </a:endParaRPr>
                    </a:p>
                    <a:p>
                      <a:pPr marL="263525" indent="-172085">
                        <a:lnSpc>
                          <a:spcPct val="100000"/>
                        </a:lnSpc>
                        <a:buFont typeface="Arial MT"/>
                        <a:buChar char="•"/>
                        <a:tabLst>
                          <a:tab pos="263525" algn="l"/>
                        </a:tabLst>
                      </a:pPr>
                      <a:r>
                        <a:rPr dirty="0" sz="1200" spc="-5">
                          <a:latin typeface="Microsoft YaHei"/>
                          <a:cs typeface="Microsoft YaHei"/>
                        </a:rPr>
                        <a:t>支持多通道需要布多套线缆</a:t>
                      </a:r>
                      <a:endParaRPr sz="1200">
                        <a:latin typeface="Microsoft YaHei"/>
                        <a:cs typeface="Microsoft YaHei"/>
                      </a:endParaRPr>
                    </a:p>
                    <a:p>
                      <a:pPr marL="262890" marR="85090" indent="-171450">
                        <a:lnSpc>
                          <a:spcPct val="100000"/>
                        </a:lnSpc>
                        <a:buFont typeface="Arial MT"/>
                        <a:buChar char="•"/>
                        <a:tabLst>
                          <a:tab pos="262890" algn="l"/>
                        </a:tabLst>
                      </a:pPr>
                      <a:r>
                        <a:rPr dirty="0" sz="1200" spc="-10">
                          <a:latin typeface="Microsoft YaHei"/>
                          <a:cs typeface="Microsoft YaHei"/>
                        </a:rPr>
                        <a:t>适用于容量/性能要求相对低的</a:t>
                      </a:r>
                      <a:r>
                        <a:rPr dirty="0" sz="1200" spc="-25">
                          <a:latin typeface="Microsoft YaHei"/>
                          <a:cs typeface="Microsoft YaHei"/>
                        </a:rPr>
                        <a:t>场景</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marL="262890" indent="-172085">
                        <a:lnSpc>
                          <a:spcPct val="100000"/>
                        </a:lnSpc>
                        <a:spcBef>
                          <a:spcPts val="310"/>
                        </a:spcBef>
                        <a:buFont typeface="Arial MT"/>
                        <a:buChar char="•"/>
                        <a:tabLst>
                          <a:tab pos="262890" algn="l"/>
                        </a:tabLst>
                      </a:pPr>
                      <a:r>
                        <a:rPr dirty="0" sz="1200" spc="-20">
                          <a:latin typeface="Microsoft YaHei"/>
                          <a:cs typeface="Microsoft YaHei"/>
                        </a:rPr>
                        <a:t>成本高</a:t>
                      </a:r>
                      <a:endParaRPr sz="1200">
                        <a:latin typeface="Microsoft YaHei"/>
                        <a:cs typeface="Microsoft YaHei"/>
                      </a:endParaRPr>
                    </a:p>
                    <a:p>
                      <a:pPr marL="262890" indent="-172085">
                        <a:lnSpc>
                          <a:spcPct val="100000"/>
                        </a:lnSpc>
                        <a:buFont typeface="Arial MT"/>
                        <a:buChar char="•"/>
                        <a:tabLst>
                          <a:tab pos="262890" algn="l"/>
                        </a:tabLst>
                      </a:pPr>
                      <a:r>
                        <a:rPr dirty="0" sz="1200" spc="-5">
                          <a:latin typeface="Microsoft YaHei"/>
                          <a:cs typeface="Microsoft YaHei"/>
                        </a:rPr>
                        <a:t>窄带系统，难以扩展支持多频</a:t>
                      </a:r>
                      <a:endParaRPr sz="1200">
                        <a:latin typeface="Microsoft YaHei"/>
                        <a:cs typeface="Microsoft YaHei"/>
                      </a:endParaRPr>
                    </a:p>
                    <a:p>
                      <a:pPr marL="262890" indent="-172085">
                        <a:lnSpc>
                          <a:spcPct val="100000"/>
                        </a:lnSpc>
                        <a:buFont typeface="Arial MT"/>
                        <a:buChar char="•"/>
                        <a:tabLst>
                          <a:tab pos="262890" algn="l"/>
                        </a:tabLst>
                      </a:pPr>
                      <a:r>
                        <a:rPr dirty="0" sz="1200" spc="-5">
                          <a:latin typeface="Microsoft YaHei"/>
                          <a:cs typeface="Microsoft YaHei"/>
                        </a:rPr>
                        <a:t>系统封闭，难以连接多厂家信源</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marL="263525" indent="-172085">
                        <a:lnSpc>
                          <a:spcPct val="100000"/>
                        </a:lnSpc>
                        <a:spcBef>
                          <a:spcPts val="310"/>
                        </a:spcBef>
                        <a:buFont typeface="Arial MT"/>
                        <a:buChar char="•"/>
                        <a:tabLst>
                          <a:tab pos="263525" algn="l"/>
                        </a:tabLst>
                      </a:pPr>
                      <a:r>
                        <a:rPr dirty="0" sz="1200" spc="-10">
                          <a:latin typeface="Microsoft YaHei"/>
                          <a:cs typeface="Microsoft YaHei"/>
                        </a:rPr>
                        <a:t>连续组网性能差</a:t>
                      </a:r>
                      <a:endParaRPr sz="1200">
                        <a:latin typeface="Microsoft YaHei"/>
                        <a:cs typeface="Microsoft YaHei"/>
                      </a:endParaRPr>
                    </a:p>
                    <a:p>
                      <a:pPr marL="262890" marR="221615" indent="-171450">
                        <a:lnSpc>
                          <a:spcPct val="100000"/>
                        </a:lnSpc>
                        <a:buFont typeface="Arial MT"/>
                        <a:buChar char="•"/>
                        <a:tabLst>
                          <a:tab pos="262890" algn="l"/>
                        </a:tabLst>
                      </a:pPr>
                      <a:r>
                        <a:rPr dirty="0" sz="1200" spc="-5">
                          <a:latin typeface="Microsoft YaHei"/>
                          <a:cs typeface="Microsoft YaHei"/>
                        </a:rPr>
                        <a:t>非电信级产品，维护难</a:t>
                      </a:r>
                      <a:r>
                        <a:rPr dirty="0" sz="1200" spc="-25">
                          <a:latin typeface="Microsoft YaHei"/>
                          <a:cs typeface="Microsoft YaHei"/>
                        </a:rPr>
                        <a:t>度大</a:t>
                      </a:r>
                      <a:endParaRPr sz="1200">
                        <a:latin typeface="Microsoft YaHei"/>
                        <a:cs typeface="Microsoft YaHei"/>
                      </a:endParaRPr>
                    </a:p>
                    <a:p>
                      <a:pPr marL="263525" indent="-172085">
                        <a:lnSpc>
                          <a:spcPct val="100000"/>
                        </a:lnSpc>
                        <a:buFont typeface="Arial MT"/>
                        <a:buChar char="•"/>
                        <a:tabLst>
                          <a:tab pos="263525" algn="l"/>
                        </a:tabLst>
                      </a:pPr>
                      <a:r>
                        <a:rPr dirty="0" sz="1200" spc="-10">
                          <a:latin typeface="Microsoft YaHei"/>
                          <a:cs typeface="Microsoft YaHei"/>
                        </a:rPr>
                        <a:t>只适合孤立场景覆盖</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r h="892175">
                <a:tc>
                  <a:txBody>
                    <a:bodyPr/>
                    <a:lstStyle/>
                    <a:p>
                      <a:pPr marL="91440">
                        <a:lnSpc>
                          <a:spcPct val="100000"/>
                        </a:lnSpc>
                        <a:spcBef>
                          <a:spcPts val="310"/>
                        </a:spcBef>
                      </a:pPr>
                      <a:r>
                        <a:rPr dirty="0" sz="1200" b="1">
                          <a:latin typeface="Microsoft YaHei"/>
                          <a:cs typeface="Microsoft YaHei"/>
                        </a:rPr>
                        <a:t>向</a:t>
                      </a:r>
                      <a:r>
                        <a:rPr dirty="0" sz="1200" spc="-10" b="1">
                          <a:latin typeface="Microsoft YaHei"/>
                          <a:cs typeface="Microsoft YaHei"/>
                        </a:rPr>
                        <a:t>5G</a:t>
                      </a:r>
                      <a:r>
                        <a:rPr dirty="0" sz="1200" spc="-25" b="1">
                          <a:latin typeface="Microsoft YaHei"/>
                          <a:cs typeface="Microsoft YaHei"/>
                        </a:rPr>
                        <a:t>演进</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marL="263525" indent="-172085">
                        <a:lnSpc>
                          <a:spcPct val="100000"/>
                        </a:lnSpc>
                        <a:spcBef>
                          <a:spcPts val="310"/>
                        </a:spcBef>
                        <a:buFont typeface="Arial MT"/>
                        <a:buChar char="•"/>
                        <a:tabLst>
                          <a:tab pos="263525" algn="l"/>
                        </a:tabLst>
                      </a:pPr>
                      <a:r>
                        <a:rPr dirty="0" sz="1200">
                          <a:latin typeface="Microsoft YaHei"/>
                          <a:cs typeface="Microsoft YaHei"/>
                        </a:rPr>
                        <a:t>5G</a:t>
                      </a:r>
                      <a:r>
                        <a:rPr dirty="0" sz="1200" spc="-15">
                          <a:latin typeface="Microsoft YaHei"/>
                          <a:cs typeface="Microsoft YaHei"/>
                        </a:rPr>
                        <a:t> 频段高，射频线缆衰减大</a:t>
                      </a:r>
                      <a:endParaRPr sz="1200">
                        <a:latin typeface="Microsoft YaHei"/>
                        <a:cs typeface="Microsoft YaHei"/>
                      </a:endParaRPr>
                    </a:p>
                    <a:p>
                      <a:pPr marL="262890" marR="228600" indent="-171450">
                        <a:lnSpc>
                          <a:spcPct val="100000"/>
                        </a:lnSpc>
                        <a:buFont typeface="Arial MT"/>
                        <a:buChar char="•"/>
                        <a:tabLst>
                          <a:tab pos="262890" algn="l"/>
                        </a:tabLst>
                      </a:pPr>
                      <a:r>
                        <a:rPr dirty="0" sz="1200">
                          <a:latin typeface="Microsoft YaHei"/>
                          <a:cs typeface="Microsoft YaHei"/>
                        </a:rPr>
                        <a:t>支持</a:t>
                      </a:r>
                      <a:r>
                        <a:rPr dirty="0" sz="1200" spc="-10">
                          <a:latin typeface="Microsoft YaHei"/>
                          <a:cs typeface="Microsoft YaHei"/>
                        </a:rPr>
                        <a:t>MIMO</a:t>
                      </a:r>
                      <a:r>
                        <a:rPr dirty="0" sz="1200" spc="-15">
                          <a:latin typeface="Microsoft YaHei"/>
                          <a:cs typeface="Microsoft YaHei"/>
                        </a:rPr>
                        <a:t>/多通道，需部署</a:t>
                      </a:r>
                      <a:r>
                        <a:rPr dirty="0" sz="1200" spc="-10">
                          <a:latin typeface="Microsoft YaHei"/>
                          <a:cs typeface="Microsoft YaHei"/>
                        </a:rPr>
                        <a:t>多路射频线缆</a:t>
                      </a:r>
                      <a:endParaRPr sz="1200">
                        <a:latin typeface="Microsoft YaHei"/>
                        <a:cs typeface="Microsoft YaHei"/>
                      </a:endParaRPr>
                    </a:p>
                    <a:p>
                      <a:pPr marL="263525" indent="-172085">
                        <a:lnSpc>
                          <a:spcPct val="100000"/>
                        </a:lnSpc>
                        <a:buFont typeface="Arial MT"/>
                        <a:buChar char="•"/>
                        <a:tabLst>
                          <a:tab pos="263525" algn="l"/>
                        </a:tabLst>
                      </a:pPr>
                      <a:r>
                        <a:rPr dirty="0" sz="1200" spc="-10">
                          <a:latin typeface="Microsoft YaHei"/>
                          <a:cs typeface="Microsoft YaHei"/>
                        </a:rPr>
                        <a:t>5G</a:t>
                      </a:r>
                      <a:r>
                        <a:rPr dirty="0" sz="1200" spc="-5">
                          <a:latin typeface="Microsoft YaHei"/>
                          <a:cs typeface="Microsoft YaHei"/>
                        </a:rPr>
                        <a:t>频段相关器件支持不够成熟</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262890" indent="-172085">
                        <a:lnSpc>
                          <a:spcPct val="100000"/>
                        </a:lnSpc>
                        <a:spcBef>
                          <a:spcPts val="310"/>
                        </a:spcBef>
                        <a:buFont typeface="Arial MT"/>
                        <a:buChar char="•"/>
                        <a:tabLst>
                          <a:tab pos="262890" algn="l"/>
                        </a:tabLst>
                      </a:pPr>
                      <a:r>
                        <a:rPr dirty="0" sz="1200">
                          <a:latin typeface="Microsoft YaHei"/>
                          <a:cs typeface="Microsoft YaHei"/>
                        </a:rPr>
                        <a:t>支持宽带</a:t>
                      </a:r>
                      <a:r>
                        <a:rPr dirty="0" sz="1200" spc="-10">
                          <a:latin typeface="Microsoft YaHei"/>
                          <a:cs typeface="Microsoft YaHei"/>
                        </a:rPr>
                        <a:t>CPRI</a:t>
                      </a:r>
                      <a:r>
                        <a:rPr dirty="0" sz="1200" spc="-25">
                          <a:latin typeface="Microsoft YaHei"/>
                          <a:cs typeface="Microsoft YaHei"/>
                        </a:rPr>
                        <a:t>传输</a:t>
                      </a:r>
                      <a:endParaRPr sz="1200">
                        <a:latin typeface="Microsoft YaHei"/>
                        <a:cs typeface="Microsoft YaHei"/>
                      </a:endParaRPr>
                    </a:p>
                    <a:p>
                      <a:pPr marL="262890" indent="-172085">
                        <a:lnSpc>
                          <a:spcPct val="100000"/>
                        </a:lnSpc>
                        <a:buFont typeface="Arial MT"/>
                        <a:buChar char="•"/>
                        <a:tabLst>
                          <a:tab pos="262890" algn="l"/>
                        </a:tabLst>
                      </a:pPr>
                      <a:r>
                        <a:rPr dirty="0" sz="1200" spc="-10">
                          <a:latin typeface="Microsoft YaHei"/>
                          <a:cs typeface="Microsoft YaHei"/>
                        </a:rPr>
                        <a:t>需要拉远供电</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262890" marR="237490" indent="-171450">
                        <a:lnSpc>
                          <a:spcPct val="100000"/>
                        </a:lnSpc>
                        <a:spcBef>
                          <a:spcPts val="310"/>
                        </a:spcBef>
                        <a:buFont typeface="Arial MT"/>
                        <a:buChar char="•"/>
                        <a:tabLst>
                          <a:tab pos="262890" algn="l"/>
                        </a:tabLst>
                      </a:pPr>
                      <a:r>
                        <a:rPr dirty="0" sz="1200">
                          <a:latin typeface="Microsoft YaHei"/>
                          <a:cs typeface="Microsoft YaHei"/>
                        </a:rPr>
                        <a:t>与</a:t>
                      </a:r>
                      <a:r>
                        <a:rPr dirty="0" sz="1200" spc="-20">
                          <a:latin typeface="Microsoft YaHei"/>
                          <a:cs typeface="Microsoft YaHei"/>
                        </a:rPr>
                        <a:t>Wifi</a:t>
                      </a:r>
                      <a:r>
                        <a:rPr dirty="0" sz="1200" spc="-10">
                          <a:latin typeface="Microsoft YaHei"/>
                          <a:cs typeface="Microsoft YaHei"/>
                        </a:rPr>
                        <a:t>应用场景重合，</a:t>
                      </a:r>
                      <a:r>
                        <a:rPr dirty="0" sz="1200" spc="-15">
                          <a:latin typeface="Microsoft YaHei"/>
                          <a:cs typeface="Microsoft YaHei"/>
                        </a:rPr>
                        <a:t>但成本高</a:t>
                      </a:r>
                      <a:endParaRPr sz="1200">
                        <a:latin typeface="Microsoft YaHei"/>
                        <a:cs typeface="Microsoft YaHei"/>
                      </a:endParaRPr>
                    </a:p>
                  </a:txBody>
                  <a:tcPr marL="0" marR="0" marB="0" marT="393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2000" y="1051197"/>
            <a:ext cx="1273917" cy="563582"/>
          </a:xfrm>
          <a:prstGeom prst="rect">
            <a:avLst/>
          </a:prstGeom>
        </p:spPr>
      </p:pic>
      <p:grpSp>
        <p:nvGrpSpPr>
          <p:cNvPr id="3" name="object 3" descr=""/>
          <p:cNvGrpSpPr/>
          <p:nvPr/>
        </p:nvGrpSpPr>
        <p:grpSpPr>
          <a:xfrm>
            <a:off x="1127145" y="1232387"/>
            <a:ext cx="5478145" cy="1595755"/>
            <a:chOff x="1127145" y="1232387"/>
            <a:chExt cx="5478145" cy="1595755"/>
          </a:xfrm>
        </p:grpSpPr>
        <p:pic>
          <p:nvPicPr>
            <p:cNvPr id="4" name="object 4"/>
            <p:cNvPicPr/>
            <p:nvPr/>
          </p:nvPicPr>
          <p:blipFill>
            <a:blip r:embed="rId3" cstate="print"/>
            <a:stretch>
              <a:fillRect/>
            </a:stretch>
          </p:blipFill>
          <p:spPr>
            <a:xfrm>
              <a:off x="3342055" y="1267650"/>
              <a:ext cx="1591894" cy="647550"/>
            </a:xfrm>
            <a:prstGeom prst="rect">
              <a:avLst/>
            </a:prstGeom>
          </p:spPr>
        </p:pic>
        <p:sp>
          <p:nvSpPr>
            <p:cNvPr id="5" name="object 5" descr=""/>
            <p:cNvSpPr/>
            <p:nvPr/>
          </p:nvSpPr>
          <p:spPr>
            <a:xfrm>
              <a:off x="1139845" y="1564255"/>
              <a:ext cx="2550160" cy="1250950"/>
            </a:xfrm>
            <a:custGeom>
              <a:avLst/>
              <a:gdLst/>
              <a:ahLst/>
              <a:cxnLst/>
              <a:rect l="l" t="t" r="r" b="b"/>
              <a:pathLst>
                <a:path w="2550160" h="1250950">
                  <a:moveTo>
                    <a:pt x="5113" y="1086929"/>
                  </a:moveTo>
                  <a:lnTo>
                    <a:pt x="969" y="1130322"/>
                  </a:lnTo>
                  <a:lnTo>
                    <a:pt x="0" y="1170958"/>
                  </a:lnTo>
                  <a:lnTo>
                    <a:pt x="5380" y="1206082"/>
                  </a:lnTo>
                  <a:lnTo>
                    <a:pt x="20286" y="1232939"/>
                  </a:lnTo>
                  <a:lnTo>
                    <a:pt x="47891" y="1248776"/>
                  </a:lnTo>
                  <a:lnTo>
                    <a:pt x="91372" y="1250835"/>
                  </a:lnTo>
                  <a:lnTo>
                    <a:pt x="121617" y="1246471"/>
                  </a:lnTo>
                  <a:lnTo>
                    <a:pt x="202173" y="1228997"/>
                  </a:lnTo>
                  <a:lnTo>
                    <a:pt x="249848" y="1216007"/>
                  </a:lnTo>
                  <a:lnTo>
                    <a:pt x="300699" y="1200261"/>
                  </a:lnTo>
                  <a:lnTo>
                    <a:pt x="353406" y="1181820"/>
                  </a:lnTo>
                  <a:lnTo>
                    <a:pt x="406652" y="1160743"/>
                  </a:lnTo>
                  <a:lnTo>
                    <a:pt x="459120" y="1137090"/>
                  </a:lnTo>
                  <a:lnTo>
                    <a:pt x="509490" y="1110921"/>
                  </a:lnTo>
                  <a:lnTo>
                    <a:pt x="556446" y="1082296"/>
                  </a:lnTo>
                  <a:lnTo>
                    <a:pt x="598670" y="1051275"/>
                  </a:lnTo>
                  <a:lnTo>
                    <a:pt x="634843" y="1017917"/>
                  </a:lnTo>
                  <a:lnTo>
                    <a:pt x="663223" y="982120"/>
                  </a:lnTo>
                  <a:lnTo>
                    <a:pt x="688286" y="939388"/>
                  </a:lnTo>
                  <a:lnTo>
                    <a:pt x="710490" y="891159"/>
                  </a:lnTo>
                  <a:lnTo>
                    <a:pt x="730295" y="838870"/>
                  </a:lnTo>
                  <a:lnTo>
                    <a:pt x="748160" y="783959"/>
                  </a:lnTo>
                  <a:lnTo>
                    <a:pt x="764544" y="727861"/>
                  </a:lnTo>
                  <a:lnTo>
                    <a:pt x="779908" y="672015"/>
                  </a:lnTo>
                  <a:lnTo>
                    <a:pt x="794711" y="617858"/>
                  </a:lnTo>
                  <a:lnTo>
                    <a:pt x="809411" y="566826"/>
                  </a:lnTo>
                  <a:lnTo>
                    <a:pt x="824470" y="520356"/>
                  </a:lnTo>
                  <a:lnTo>
                    <a:pt x="840345" y="479886"/>
                  </a:lnTo>
                  <a:lnTo>
                    <a:pt x="876384" y="422694"/>
                  </a:lnTo>
                  <a:lnTo>
                    <a:pt x="905720" y="405417"/>
                  </a:lnTo>
                  <a:lnTo>
                    <a:pt x="914758" y="410019"/>
                  </a:lnTo>
                  <a:lnTo>
                    <a:pt x="922021" y="421077"/>
                  </a:lnTo>
                  <a:lnTo>
                    <a:pt x="928994" y="436810"/>
                  </a:lnTo>
                  <a:lnTo>
                    <a:pt x="937161" y="455441"/>
                  </a:lnTo>
                  <a:lnTo>
                    <a:pt x="948006" y="475192"/>
                  </a:lnTo>
                  <a:lnTo>
                    <a:pt x="963013" y="494282"/>
                  </a:lnTo>
                  <a:lnTo>
                    <a:pt x="983667" y="510935"/>
                  </a:lnTo>
                  <a:lnTo>
                    <a:pt x="1011451" y="523370"/>
                  </a:lnTo>
                  <a:lnTo>
                    <a:pt x="1047851" y="529810"/>
                  </a:lnTo>
                  <a:lnTo>
                    <a:pt x="1094349" y="528476"/>
                  </a:lnTo>
                  <a:lnTo>
                    <a:pt x="1152431" y="517588"/>
                  </a:lnTo>
                  <a:lnTo>
                    <a:pt x="1214047" y="500878"/>
                  </a:lnTo>
                  <a:lnTo>
                    <a:pt x="1283112" y="480100"/>
                  </a:lnTo>
                  <a:lnTo>
                    <a:pt x="1320265" y="468279"/>
                  </a:lnTo>
                  <a:lnTo>
                    <a:pt x="1359073" y="455555"/>
                  </a:lnTo>
                  <a:lnTo>
                    <a:pt x="1399468" y="441963"/>
                  </a:lnTo>
                  <a:lnTo>
                    <a:pt x="1441381" y="427544"/>
                  </a:lnTo>
                  <a:lnTo>
                    <a:pt x="1484742" y="412333"/>
                  </a:lnTo>
                  <a:lnTo>
                    <a:pt x="1529482" y="396368"/>
                  </a:lnTo>
                  <a:lnTo>
                    <a:pt x="1575533" y="379688"/>
                  </a:lnTo>
                  <a:lnTo>
                    <a:pt x="1622825" y="362330"/>
                  </a:lnTo>
                  <a:lnTo>
                    <a:pt x="1671290" y="344331"/>
                  </a:lnTo>
                  <a:lnTo>
                    <a:pt x="1720858" y="325730"/>
                  </a:lnTo>
                  <a:lnTo>
                    <a:pt x="1771461" y="306564"/>
                  </a:lnTo>
                  <a:lnTo>
                    <a:pt x="1823029" y="286870"/>
                  </a:lnTo>
                  <a:lnTo>
                    <a:pt x="1875494" y="266687"/>
                  </a:lnTo>
                  <a:lnTo>
                    <a:pt x="1928786" y="246051"/>
                  </a:lnTo>
                  <a:lnTo>
                    <a:pt x="1982838" y="225001"/>
                  </a:lnTo>
                  <a:lnTo>
                    <a:pt x="2037579" y="203575"/>
                  </a:lnTo>
                  <a:lnTo>
                    <a:pt x="2092940" y="181809"/>
                  </a:lnTo>
                  <a:lnTo>
                    <a:pt x="2148854" y="159742"/>
                  </a:lnTo>
                  <a:lnTo>
                    <a:pt x="2205250" y="137411"/>
                  </a:lnTo>
                  <a:lnTo>
                    <a:pt x="2262060" y="114855"/>
                  </a:lnTo>
                  <a:lnTo>
                    <a:pt x="2319214" y="92110"/>
                  </a:lnTo>
                  <a:lnTo>
                    <a:pt x="2376645" y="69214"/>
                  </a:lnTo>
                  <a:lnTo>
                    <a:pt x="2434282" y="46205"/>
                  </a:lnTo>
                  <a:lnTo>
                    <a:pt x="2492057" y="23121"/>
                  </a:lnTo>
                  <a:lnTo>
                    <a:pt x="2549901" y="0"/>
                  </a:lnTo>
                </a:path>
              </a:pathLst>
            </a:custGeom>
            <a:ln w="25400">
              <a:solidFill>
                <a:srgbClr val="000000"/>
              </a:solidFill>
              <a:prstDash val="sysDash"/>
            </a:ln>
          </p:spPr>
          <p:txBody>
            <a:bodyPr wrap="square" lIns="0" tIns="0" rIns="0" bIns="0" rtlCol="0"/>
            <a:lstStyle/>
            <a:p/>
          </p:txBody>
        </p:sp>
        <p:sp>
          <p:nvSpPr>
            <p:cNvPr id="6" name="object 6" descr=""/>
            <p:cNvSpPr/>
            <p:nvPr/>
          </p:nvSpPr>
          <p:spPr>
            <a:xfrm>
              <a:off x="1335831" y="1339321"/>
              <a:ext cx="2232660" cy="304165"/>
            </a:xfrm>
            <a:custGeom>
              <a:avLst/>
              <a:gdLst/>
              <a:ahLst/>
              <a:cxnLst/>
              <a:rect l="l" t="t" r="r" b="b"/>
              <a:pathLst>
                <a:path w="2232660" h="304164">
                  <a:moveTo>
                    <a:pt x="0" y="156253"/>
                  </a:moveTo>
                  <a:lnTo>
                    <a:pt x="37799" y="184149"/>
                  </a:lnTo>
                  <a:lnTo>
                    <a:pt x="76186" y="211143"/>
                  </a:lnTo>
                  <a:lnTo>
                    <a:pt x="115748" y="236334"/>
                  </a:lnTo>
                  <a:lnTo>
                    <a:pt x="157073" y="258820"/>
                  </a:lnTo>
                  <a:lnTo>
                    <a:pt x="200749" y="277700"/>
                  </a:lnTo>
                  <a:lnTo>
                    <a:pt x="247365" y="292073"/>
                  </a:lnTo>
                  <a:lnTo>
                    <a:pt x="297509" y="301036"/>
                  </a:lnTo>
                  <a:lnTo>
                    <a:pt x="351768" y="303688"/>
                  </a:lnTo>
                  <a:lnTo>
                    <a:pt x="410730" y="299128"/>
                  </a:lnTo>
                  <a:lnTo>
                    <a:pt x="481185" y="280125"/>
                  </a:lnTo>
                  <a:lnTo>
                    <a:pt x="517511" y="264487"/>
                  </a:lnTo>
                  <a:lnTo>
                    <a:pt x="554710" y="245625"/>
                  </a:lnTo>
                  <a:lnTo>
                    <a:pt x="592884" y="224185"/>
                  </a:lnTo>
                  <a:lnTo>
                    <a:pt x="632141" y="200818"/>
                  </a:lnTo>
                  <a:lnTo>
                    <a:pt x="672583" y="176172"/>
                  </a:lnTo>
                  <a:lnTo>
                    <a:pt x="714316" y="150895"/>
                  </a:lnTo>
                  <a:lnTo>
                    <a:pt x="757444" y="125638"/>
                  </a:lnTo>
                  <a:lnTo>
                    <a:pt x="802072" y="101047"/>
                  </a:lnTo>
                  <a:lnTo>
                    <a:pt x="848304" y="77773"/>
                  </a:lnTo>
                  <a:lnTo>
                    <a:pt x="896246" y="56464"/>
                  </a:lnTo>
                  <a:lnTo>
                    <a:pt x="946002" y="37769"/>
                  </a:lnTo>
                  <a:lnTo>
                    <a:pt x="997676" y="22336"/>
                  </a:lnTo>
                  <a:lnTo>
                    <a:pt x="1051373" y="10814"/>
                  </a:lnTo>
                  <a:lnTo>
                    <a:pt x="1107198" y="3853"/>
                  </a:lnTo>
                  <a:lnTo>
                    <a:pt x="1147395" y="1373"/>
                  </a:lnTo>
                  <a:lnTo>
                    <a:pt x="1188753" y="107"/>
                  </a:lnTo>
                  <a:lnTo>
                    <a:pt x="1231222" y="0"/>
                  </a:lnTo>
                  <a:lnTo>
                    <a:pt x="1274747" y="996"/>
                  </a:lnTo>
                  <a:lnTo>
                    <a:pt x="1319276" y="3042"/>
                  </a:lnTo>
                  <a:lnTo>
                    <a:pt x="1364757" y="6081"/>
                  </a:lnTo>
                  <a:lnTo>
                    <a:pt x="1411135" y="10058"/>
                  </a:lnTo>
                  <a:lnTo>
                    <a:pt x="1458360" y="14918"/>
                  </a:lnTo>
                  <a:lnTo>
                    <a:pt x="1506376" y="20606"/>
                  </a:lnTo>
                  <a:lnTo>
                    <a:pt x="1555133" y="27067"/>
                  </a:lnTo>
                  <a:lnTo>
                    <a:pt x="1604577" y="34245"/>
                  </a:lnTo>
                  <a:lnTo>
                    <a:pt x="1654655" y="42086"/>
                  </a:lnTo>
                  <a:lnTo>
                    <a:pt x="1705314" y="50533"/>
                  </a:lnTo>
                  <a:lnTo>
                    <a:pt x="1756501" y="59533"/>
                  </a:lnTo>
                  <a:lnTo>
                    <a:pt x="1808164" y="69029"/>
                  </a:lnTo>
                  <a:lnTo>
                    <a:pt x="1860250" y="78966"/>
                  </a:lnTo>
                  <a:lnTo>
                    <a:pt x="1912706" y="89290"/>
                  </a:lnTo>
                  <a:lnTo>
                    <a:pt x="1965479" y="99945"/>
                  </a:lnTo>
                  <a:lnTo>
                    <a:pt x="2018517" y="110876"/>
                  </a:lnTo>
                  <a:lnTo>
                    <a:pt x="2071766" y="122027"/>
                  </a:lnTo>
                  <a:lnTo>
                    <a:pt x="2125173" y="133344"/>
                  </a:lnTo>
                  <a:lnTo>
                    <a:pt x="2178687" y="144771"/>
                  </a:lnTo>
                  <a:lnTo>
                    <a:pt x="2232253" y="156253"/>
                  </a:lnTo>
                </a:path>
              </a:pathLst>
            </a:custGeom>
            <a:ln w="25400">
              <a:solidFill>
                <a:srgbClr val="FFC000"/>
              </a:solidFill>
            </a:ln>
          </p:spPr>
          <p:txBody>
            <a:bodyPr wrap="square" lIns="0" tIns="0" rIns="0" bIns="0" rtlCol="0"/>
            <a:lstStyle/>
            <a:p/>
          </p:txBody>
        </p:sp>
        <p:sp>
          <p:nvSpPr>
            <p:cNvPr id="7" name="object 7" descr=""/>
            <p:cNvSpPr/>
            <p:nvPr/>
          </p:nvSpPr>
          <p:spPr>
            <a:xfrm>
              <a:off x="4648199" y="1245087"/>
              <a:ext cx="1944370" cy="316865"/>
            </a:xfrm>
            <a:custGeom>
              <a:avLst/>
              <a:gdLst/>
              <a:ahLst/>
              <a:cxnLst/>
              <a:rect l="l" t="t" r="r" b="b"/>
              <a:pathLst>
                <a:path w="1944370" h="316865">
                  <a:moveTo>
                    <a:pt x="0" y="199589"/>
                  </a:moveTo>
                  <a:lnTo>
                    <a:pt x="52505" y="174729"/>
                  </a:lnTo>
                  <a:lnTo>
                    <a:pt x="104772" y="150214"/>
                  </a:lnTo>
                  <a:lnTo>
                    <a:pt x="156561" y="126390"/>
                  </a:lnTo>
                  <a:lnTo>
                    <a:pt x="207632" y="103601"/>
                  </a:lnTo>
                  <a:lnTo>
                    <a:pt x="257746" y="82194"/>
                  </a:lnTo>
                  <a:lnTo>
                    <a:pt x="306665" y="62512"/>
                  </a:lnTo>
                  <a:lnTo>
                    <a:pt x="354149" y="44901"/>
                  </a:lnTo>
                  <a:lnTo>
                    <a:pt x="399959" y="29707"/>
                  </a:lnTo>
                  <a:lnTo>
                    <a:pt x="443855" y="17275"/>
                  </a:lnTo>
                  <a:lnTo>
                    <a:pt x="485600" y="7949"/>
                  </a:lnTo>
                  <a:lnTo>
                    <a:pt x="524953" y="2076"/>
                  </a:lnTo>
                  <a:lnTo>
                    <a:pt x="561675" y="0"/>
                  </a:lnTo>
                  <a:lnTo>
                    <a:pt x="595528" y="2066"/>
                  </a:lnTo>
                  <a:lnTo>
                    <a:pt x="656574" y="32769"/>
                  </a:lnTo>
                  <a:lnTo>
                    <a:pt x="695381" y="93839"/>
                  </a:lnTo>
                  <a:lnTo>
                    <a:pt x="710442" y="130643"/>
                  </a:lnTo>
                  <a:lnTo>
                    <a:pt x="724739" y="168895"/>
                  </a:lnTo>
                  <a:lnTo>
                    <a:pt x="739873" y="206547"/>
                  </a:lnTo>
                  <a:lnTo>
                    <a:pt x="757441" y="241553"/>
                  </a:lnTo>
                  <a:lnTo>
                    <a:pt x="806275" y="295430"/>
                  </a:lnTo>
                  <a:lnTo>
                    <a:pt x="878859" y="316109"/>
                  </a:lnTo>
                  <a:lnTo>
                    <a:pt x="921889" y="316622"/>
                  </a:lnTo>
                  <a:lnTo>
                    <a:pt x="969025" y="312609"/>
                  </a:lnTo>
                  <a:lnTo>
                    <a:pt x="1019460" y="304933"/>
                  </a:lnTo>
                  <a:lnTo>
                    <a:pt x="1072390" y="294459"/>
                  </a:lnTo>
                  <a:lnTo>
                    <a:pt x="1127007" y="282052"/>
                  </a:lnTo>
                  <a:lnTo>
                    <a:pt x="1182506" y="268574"/>
                  </a:lnTo>
                  <a:lnTo>
                    <a:pt x="1238082" y="254891"/>
                  </a:lnTo>
                  <a:lnTo>
                    <a:pt x="1292928" y="241867"/>
                  </a:lnTo>
                  <a:lnTo>
                    <a:pt x="1346239" y="230365"/>
                  </a:lnTo>
                  <a:lnTo>
                    <a:pt x="1397208" y="221251"/>
                  </a:lnTo>
                  <a:lnTo>
                    <a:pt x="1445031" y="215388"/>
                  </a:lnTo>
                  <a:lnTo>
                    <a:pt x="1499442" y="211335"/>
                  </a:lnTo>
                  <a:lnTo>
                    <a:pt x="1552433" y="208563"/>
                  </a:lnTo>
                  <a:lnTo>
                    <a:pt x="1604164" y="206927"/>
                  </a:lnTo>
                  <a:lnTo>
                    <a:pt x="1654791" y="206288"/>
                  </a:lnTo>
                  <a:lnTo>
                    <a:pt x="1704473" y="206501"/>
                  </a:lnTo>
                  <a:lnTo>
                    <a:pt x="1753367" y="207425"/>
                  </a:lnTo>
                  <a:lnTo>
                    <a:pt x="1801630" y="208918"/>
                  </a:lnTo>
                  <a:lnTo>
                    <a:pt x="1849421" y="210838"/>
                  </a:lnTo>
                  <a:lnTo>
                    <a:pt x="1896898" y="213042"/>
                  </a:lnTo>
                  <a:lnTo>
                    <a:pt x="1944217" y="215388"/>
                  </a:lnTo>
                </a:path>
              </a:pathLst>
            </a:custGeom>
            <a:ln w="25400">
              <a:solidFill>
                <a:srgbClr val="808080"/>
              </a:solidFill>
            </a:ln>
          </p:spPr>
          <p:txBody>
            <a:bodyPr wrap="square" lIns="0" tIns="0" rIns="0" bIns="0" rtlCol="0"/>
            <a:lstStyle/>
            <a:p/>
          </p:txBody>
        </p:sp>
      </p:grpSp>
      <p:sp>
        <p:nvSpPr>
          <p:cNvPr id="8" name="object 8"/>
          <p:cNvSpPr txBox="1">
            <a:spLocks noGrp="1"/>
          </p:cNvSpPr>
          <p:nvPr>
            <p:ph type="title"/>
          </p:nvPr>
        </p:nvSpPr>
        <p:spPr>
          <a:xfrm>
            <a:off x="1666087" y="138968"/>
            <a:ext cx="5829935" cy="513080"/>
          </a:xfrm>
          <a:prstGeom prst="rect"/>
        </p:spPr>
        <p:txBody>
          <a:bodyPr wrap="square" lIns="0" tIns="12065" rIns="0" bIns="0" rtlCol="0" vert="horz">
            <a:spAutoFit/>
          </a:bodyPr>
          <a:lstStyle/>
          <a:p>
            <a:pPr marL="12700">
              <a:lnSpc>
                <a:spcPct val="100000"/>
              </a:lnSpc>
              <a:spcBef>
                <a:spcPts val="95"/>
              </a:spcBef>
            </a:pPr>
            <a:r>
              <a:rPr dirty="0" spc="-45"/>
              <a:t>新型室分方案用于部署</a:t>
            </a:r>
            <a:r>
              <a:rPr dirty="0" spc="-30">
                <a:latin typeface="Times New Roman"/>
                <a:cs typeface="Times New Roman"/>
              </a:rPr>
              <a:t>5G</a:t>
            </a:r>
            <a:r>
              <a:rPr dirty="0" spc="-45"/>
              <a:t>更灵活</a:t>
            </a:r>
          </a:p>
        </p:txBody>
      </p:sp>
      <p:sp>
        <p:nvSpPr>
          <p:cNvPr id="9" name="object 9" descr=""/>
          <p:cNvSpPr txBox="1"/>
          <p:nvPr/>
        </p:nvSpPr>
        <p:spPr>
          <a:xfrm>
            <a:off x="6304381" y="3039541"/>
            <a:ext cx="998219" cy="904240"/>
          </a:xfrm>
          <a:prstGeom prst="rect">
            <a:avLst/>
          </a:prstGeom>
          <a:solidFill>
            <a:srgbClr val="F2F2F2"/>
          </a:solidFill>
        </p:spPr>
        <p:txBody>
          <a:bodyPr wrap="square" lIns="0" tIns="43180" rIns="0" bIns="0" rtlCol="0" vert="horz">
            <a:spAutoFit/>
          </a:bodyPr>
          <a:lstStyle/>
          <a:p>
            <a:pPr marL="196850" indent="-105410">
              <a:lnSpc>
                <a:spcPct val="100000"/>
              </a:lnSpc>
              <a:spcBef>
                <a:spcPts val="340"/>
              </a:spcBef>
              <a:buFont typeface="Arial MT"/>
              <a:buChar char="•"/>
              <a:tabLst>
                <a:tab pos="196850" algn="l"/>
              </a:tabLst>
            </a:pPr>
            <a:r>
              <a:rPr dirty="0" sz="1100" spc="-30">
                <a:latin typeface="SimSun"/>
                <a:cs typeface="SimSun"/>
              </a:rPr>
              <a:t>支持新频段</a:t>
            </a:r>
            <a:endParaRPr sz="1100">
              <a:latin typeface="SimSun"/>
              <a:cs typeface="SimSun"/>
            </a:endParaRPr>
          </a:p>
          <a:p>
            <a:pPr marL="196850" indent="-105410">
              <a:lnSpc>
                <a:spcPct val="100000"/>
              </a:lnSpc>
              <a:buFont typeface="Arial MT"/>
              <a:buChar char="•"/>
              <a:tabLst>
                <a:tab pos="196850" algn="l"/>
              </a:tabLst>
            </a:pPr>
            <a:r>
              <a:rPr dirty="0" sz="1100">
                <a:latin typeface="SimSun"/>
                <a:cs typeface="SimSun"/>
              </a:rPr>
              <a:t>多天线 </a:t>
            </a:r>
            <a:r>
              <a:rPr dirty="0" sz="1100" spc="-25">
                <a:latin typeface="Arial MT"/>
                <a:cs typeface="Arial MT"/>
              </a:rPr>
              <a:t>4T</a:t>
            </a:r>
            <a:endParaRPr sz="1100">
              <a:latin typeface="Arial MT"/>
              <a:cs typeface="Arial MT"/>
            </a:endParaRPr>
          </a:p>
          <a:p>
            <a:pPr marL="196850" indent="-105410">
              <a:lnSpc>
                <a:spcPct val="100000"/>
              </a:lnSpc>
              <a:buChar char="•"/>
              <a:tabLst>
                <a:tab pos="196850" algn="l"/>
              </a:tabLst>
            </a:pPr>
            <a:r>
              <a:rPr dirty="0" sz="1100" spc="-10">
                <a:latin typeface="Arial MT"/>
                <a:cs typeface="Arial MT"/>
              </a:rPr>
              <a:t>100M</a:t>
            </a:r>
            <a:r>
              <a:rPr dirty="0" sz="1100" spc="-35">
                <a:latin typeface="SimSun"/>
                <a:cs typeface="SimSun"/>
              </a:rPr>
              <a:t>带宽</a:t>
            </a:r>
            <a:endParaRPr sz="1100">
              <a:latin typeface="SimSun"/>
              <a:cs typeface="SimSun"/>
            </a:endParaRPr>
          </a:p>
          <a:p>
            <a:pPr marL="196850" indent="-105410">
              <a:lnSpc>
                <a:spcPct val="100000"/>
              </a:lnSpc>
              <a:buFont typeface="Arial MT"/>
              <a:buChar char="•"/>
              <a:tabLst>
                <a:tab pos="196850" algn="l"/>
              </a:tabLst>
            </a:pPr>
            <a:r>
              <a:rPr dirty="0" sz="1100" spc="-35">
                <a:latin typeface="SimSun"/>
                <a:cs typeface="SimSun"/>
              </a:rPr>
              <a:t>大功率</a:t>
            </a:r>
            <a:endParaRPr sz="1100">
              <a:latin typeface="SimSun"/>
              <a:cs typeface="SimSun"/>
            </a:endParaRPr>
          </a:p>
          <a:p>
            <a:pPr marL="196850" indent="-105410">
              <a:lnSpc>
                <a:spcPct val="100000"/>
              </a:lnSpc>
              <a:buFont typeface="Arial MT"/>
              <a:buChar char="•"/>
              <a:tabLst>
                <a:tab pos="196850" algn="l"/>
              </a:tabLst>
            </a:pPr>
            <a:r>
              <a:rPr dirty="0" sz="1100" spc="-30">
                <a:latin typeface="SimSun"/>
                <a:cs typeface="SimSun"/>
              </a:rPr>
              <a:t>拉远供电</a:t>
            </a:r>
            <a:endParaRPr sz="1100">
              <a:latin typeface="SimSun"/>
              <a:cs typeface="SimSun"/>
            </a:endParaRPr>
          </a:p>
        </p:txBody>
      </p:sp>
      <p:sp>
        <p:nvSpPr>
          <p:cNvPr id="10" name="object 10" descr=""/>
          <p:cNvSpPr txBox="1"/>
          <p:nvPr/>
        </p:nvSpPr>
        <p:spPr>
          <a:xfrm>
            <a:off x="4936235" y="2330970"/>
            <a:ext cx="1350645" cy="600710"/>
          </a:xfrm>
          <a:prstGeom prst="rect">
            <a:avLst/>
          </a:prstGeom>
          <a:solidFill>
            <a:srgbClr val="F2F2F2"/>
          </a:solidFill>
        </p:spPr>
        <p:txBody>
          <a:bodyPr wrap="square" lIns="0" tIns="43180" rIns="0" bIns="0" rtlCol="0" vert="horz">
            <a:spAutoFit/>
          </a:bodyPr>
          <a:lstStyle/>
          <a:p>
            <a:pPr marL="196215" indent="-105410">
              <a:lnSpc>
                <a:spcPct val="100000"/>
              </a:lnSpc>
              <a:spcBef>
                <a:spcPts val="340"/>
              </a:spcBef>
              <a:buChar char="•"/>
              <a:tabLst>
                <a:tab pos="196215" algn="l"/>
              </a:tabLst>
            </a:pPr>
            <a:r>
              <a:rPr dirty="0" sz="1100" spc="-10">
                <a:latin typeface="Arial MT"/>
                <a:cs typeface="Arial MT"/>
              </a:rPr>
              <a:t>CAT6A</a:t>
            </a:r>
            <a:r>
              <a:rPr dirty="0" sz="1100" spc="-35">
                <a:latin typeface="SimSun"/>
                <a:cs typeface="SimSun"/>
              </a:rPr>
              <a:t>网线</a:t>
            </a:r>
            <a:endParaRPr sz="1100">
              <a:latin typeface="SimSun"/>
              <a:cs typeface="SimSun"/>
            </a:endParaRPr>
          </a:p>
          <a:p>
            <a:pPr marL="196215" indent="-105410">
              <a:lnSpc>
                <a:spcPct val="100000"/>
              </a:lnSpc>
              <a:buFont typeface="Arial MT"/>
              <a:buChar char="•"/>
              <a:tabLst>
                <a:tab pos="196215" algn="l"/>
              </a:tabLst>
            </a:pPr>
            <a:r>
              <a:rPr dirty="0" sz="1100" spc="-20">
                <a:latin typeface="SimSun"/>
                <a:cs typeface="SimSun"/>
              </a:rPr>
              <a:t>支持</a:t>
            </a:r>
            <a:r>
              <a:rPr dirty="0" sz="1100" spc="-10">
                <a:latin typeface="Arial MT"/>
                <a:cs typeface="Arial MT"/>
              </a:rPr>
              <a:t>10Gbps</a:t>
            </a:r>
            <a:r>
              <a:rPr dirty="0" sz="1100" spc="-35">
                <a:latin typeface="SimSun"/>
                <a:cs typeface="SimSun"/>
              </a:rPr>
              <a:t>带宽</a:t>
            </a:r>
            <a:endParaRPr sz="1100">
              <a:latin typeface="SimSun"/>
              <a:cs typeface="SimSun"/>
            </a:endParaRPr>
          </a:p>
          <a:p>
            <a:pPr marL="196215" indent="-105410">
              <a:lnSpc>
                <a:spcPct val="100000"/>
              </a:lnSpc>
              <a:buFont typeface="Arial MT"/>
              <a:buChar char="•"/>
              <a:tabLst>
                <a:tab pos="196215" algn="l"/>
              </a:tabLst>
            </a:pPr>
            <a:r>
              <a:rPr dirty="0" sz="1100" spc="-20">
                <a:latin typeface="SimSun"/>
                <a:cs typeface="SimSun"/>
              </a:rPr>
              <a:t>支持</a:t>
            </a:r>
            <a:r>
              <a:rPr dirty="0" sz="1100" spc="-20">
                <a:latin typeface="Arial MT"/>
                <a:cs typeface="Arial MT"/>
              </a:rPr>
              <a:t>POE</a:t>
            </a:r>
            <a:r>
              <a:rPr dirty="0" sz="1100" spc="-35">
                <a:latin typeface="SimSun"/>
                <a:cs typeface="SimSun"/>
              </a:rPr>
              <a:t>供电</a:t>
            </a:r>
            <a:endParaRPr sz="1100">
              <a:latin typeface="SimSun"/>
              <a:cs typeface="SimSun"/>
            </a:endParaRPr>
          </a:p>
        </p:txBody>
      </p:sp>
      <p:sp>
        <p:nvSpPr>
          <p:cNvPr id="11" name="object 11" descr=""/>
          <p:cNvSpPr txBox="1"/>
          <p:nvPr/>
        </p:nvSpPr>
        <p:spPr>
          <a:xfrm>
            <a:off x="3219437" y="3259670"/>
            <a:ext cx="1875155" cy="600710"/>
          </a:xfrm>
          <a:prstGeom prst="rect">
            <a:avLst/>
          </a:prstGeom>
          <a:solidFill>
            <a:srgbClr val="F2F2F2"/>
          </a:solidFill>
        </p:spPr>
        <p:txBody>
          <a:bodyPr wrap="square" lIns="0" tIns="43180" rIns="0" bIns="0" rtlCol="0" vert="horz">
            <a:spAutoFit/>
          </a:bodyPr>
          <a:lstStyle/>
          <a:p>
            <a:pPr marL="196850" indent="-105410">
              <a:lnSpc>
                <a:spcPct val="100000"/>
              </a:lnSpc>
              <a:spcBef>
                <a:spcPts val="340"/>
              </a:spcBef>
              <a:buFont typeface="Arial MT"/>
              <a:buChar char="•"/>
              <a:tabLst>
                <a:tab pos="196850" algn="l"/>
              </a:tabLst>
            </a:pPr>
            <a:r>
              <a:rPr dirty="0" sz="1100" spc="-20">
                <a:latin typeface="SimSun"/>
                <a:cs typeface="SimSun"/>
              </a:rPr>
              <a:t>支持上联</a:t>
            </a:r>
            <a:r>
              <a:rPr dirty="0" sz="1100" spc="-10">
                <a:latin typeface="Arial MT"/>
                <a:cs typeface="Arial MT"/>
              </a:rPr>
              <a:t>100G</a:t>
            </a:r>
            <a:r>
              <a:rPr dirty="0" sz="1100" spc="-30">
                <a:latin typeface="SimSun"/>
                <a:cs typeface="SimSun"/>
              </a:rPr>
              <a:t>以上光接口</a:t>
            </a:r>
            <a:endParaRPr sz="1100">
              <a:latin typeface="SimSun"/>
              <a:cs typeface="SimSun"/>
            </a:endParaRPr>
          </a:p>
          <a:p>
            <a:pPr marL="196850" indent="-105410">
              <a:lnSpc>
                <a:spcPct val="100000"/>
              </a:lnSpc>
              <a:buFont typeface="Arial MT"/>
              <a:buChar char="•"/>
              <a:tabLst>
                <a:tab pos="196850" algn="l"/>
              </a:tabLst>
            </a:pPr>
            <a:r>
              <a:rPr dirty="0" sz="1100" spc="-25">
                <a:latin typeface="SimSun"/>
                <a:cs typeface="SimSun"/>
              </a:rPr>
              <a:t>支持拉远供电</a:t>
            </a:r>
            <a:endParaRPr sz="1100">
              <a:latin typeface="SimSun"/>
              <a:cs typeface="SimSun"/>
            </a:endParaRPr>
          </a:p>
          <a:p>
            <a:pPr marL="196850" indent="-105410">
              <a:lnSpc>
                <a:spcPct val="100000"/>
              </a:lnSpc>
              <a:buFont typeface="Arial MT"/>
              <a:buChar char="•"/>
              <a:tabLst>
                <a:tab pos="196850" algn="l"/>
              </a:tabLst>
            </a:pPr>
            <a:r>
              <a:rPr dirty="0" sz="1100" spc="-20">
                <a:latin typeface="SimSun"/>
                <a:cs typeface="SimSun"/>
              </a:rPr>
              <a:t>演进支持多模：</a:t>
            </a:r>
            <a:r>
              <a:rPr dirty="0" sz="1100" spc="-10">
                <a:latin typeface="Arial MT"/>
                <a:cs typeface="Arial MT"/>
              </a:rPr>
              <a:t>5G/4G/2G</a:t>
            </a:r>
            <a:endParaRPr sz="1100">
              <a:latin typeface="Arial MT"/>
              <a:cs typeface="Arial MT"/>
            </a:endParaRPr>
          </a:p>
        </p:txBody>
      </p:sp>
      <p:sp>
        <p:nvSpPr>
          <p:cNvPr id="12" name="object 12" descr=""/>
          <p:cNvSpPr/>
          <p:nvPr/>
        </p:nvSpPr>
        <p:spPr>
          <a:xfrm>
            <a:off x="2199932" y="2203323"/>
            <a:ext cx="1658620" cy="600710"/>
          </a:xfrm>
          <a:custGeom>
            <a:avLst/>
            <a:gdLst/>
            <a:ahLst/>
            <a:cxnLst/>
            <a:rect l="l" t="t" r="r" b="b"/>
            <a:pathLst>
              <a:path w="1658620" h="600710">
                <a:moveTo>
                  <a:pt x="1658150" y="0"/>
                </a:moveTo>
                <a:lnTo>
                  <a:pt x="0" y="0"/>
                </a:lnTo>
                <a:lnTo>
                  <a:pt x="0" y="600163"/>
                </a:lnTo>
                <a:lnTo>
                  <a:pt x="1658150" y="600163"/>
                </a:lnTo>
                <a:lnTo>
                  <a:pt x="1658150" y="0"/>
                </a:lnTo>
                <a:close/>
              </a:path>
            </a:pathLst>
          </a:custGeom>
          <a:solidFill>
            <a:srgbClr val="F2F2F2"/>
          </a:solidFill>
        </p:spPr>
        <p:txBody>
          <a:bodyPr wrap="square" lIns="0" tIns="0" rIns="0" bIns="0" rtlCol="0"/>
          <a:lstStyle/>
          <a:p/>
        </p:txBody>
      </p:sp>
      <p:sp>
        <p:nvSpPr>
          <p:cNvPr id="13" name="object 13" descr=""/>
          <p:cNvSpPr txBox="1"/>
          <p:nvPr/>
        </p:nvSpPr>
        <p:spPr>
          <a:xfrm>
            <a:off x="2199932" y="2234059"/>
            <a:ext cx="1658620" cy="528320"/>
          </a:xfrm>
          <a:prstGeom prst="rect">
            <a:avLst/>
          </a:prstGeom>
        </p:spPr>
        <p:txBody>
          <a:bodyPr wrap="square" lIns="0" tIns="12065" rIns="0" bIns="0" rtlCol="0" vert="horz">
            <a:spAutoFit/>
          </a:bodyPr>
          <a:lstStyle/>
          <a:p>
            <a:pPr marL="196215" indent="-105410">
              <a:lnSpc>
                <a:spcPct val="100000"/>
              </a:lnSpc>
              <a:spcBef>
                <a:spcPts val="95"/>
              </a:spcBef>
              <a:buFont typeface="Arial MT"/>
              <a:buChar char="•"/>
              <a:tabLst>
                <a:tab pos="196215" algn="l"/>
              </a:tabLst>
            </a:pPr>
            <a:r>
              <a:rPr dirty="0" sz="1100" spc="-20">
                <a:latin typeface="SimSun"/>
                <a:cs typeface="SimSun"/>
              </a:rPr>
              <a:t>支持</a:t>
            </a:r>
            <a:r>
              <a:rPr dirty="0" sz="1100" spc="-10">
                <a:latin typeface="Arial MT"/>
                <a:cs typeface="Arial MT"/>
              </a:rPr>
              <a:t>100G</a:t>
            </a:r>
            <a:r>
              <a:rPr dirty="0" sz="1100" spc="-30">
                <a:latin typeface="SimSun"/>
                <a:cs typeface="SimSun"/>
              </a:rPr>
              <a:t>数据传输</a:t>
            </a:r>
            <a:endParaRPr sz="1100">
              <a:latin typeface="SimSun"/>
              <a:cs typeface="SimSun"/>
            </a:endParaRPr>
          </a:p>
          <a:p>
            <a:pPr marL="196215" indent="-105410">
              <a:lnSpc>
                <a:spcPct val="100000"/>
              </a:lnSpc>
              <a:buFont typeface="Arial MT"/>
              <a:buChar char="•"/>
              <a:tabLst>
                <a:tab pos="196215" algn="l"/>
              </a:tabLst>
            </a:pPr>
            <a:r>
              <a:rPr dirty="0" sz="1100" spc="-25">
                <a:latin typeface="SimSun"/>
                <a:cs typeface="SimSun"/>
              </a:rPr>
              <a:t>前传接口重新划分</a:t>
            </a:r>
            <a:endParaRPr sz="1100">
              <a:latin typeface="SimSun"/>
              <a:cs typeface="SimSun"/>
            </a:endParaRPr>
          </a:p>
          <a:p>
            <a:pPr marL="196215" indent="-105410">
              <a:lnSpc>
                <a:spcPct val="100000"/>
              </a:lnSpc>
              <a:buFont typeface="Arial MT"/>
              <a:buChar char="•"/>
              <a:tabLst>
                <a:tab pos="196215" algn="l"/>
              </a:tabLst>
            </a:pPr>
            <a:r>
              <a:rPr dirty="0" sz="1100" spc="-20">
                <a:latin typeface="SimSun"/>
                <a:cs typeface="SimSun"/>
              </a:rPr>
              <a:t>演进支持同厂家</a:t>
            </a:r>
            <a:r>
              <a:rPr dirty="0" sz="1100" spc="-20">
                <a:latin typeface="Arial MT"/>
                <a:cs typeface="Arial MT"/>
              </a:rPr>
              <a:t>4G/2G</a:t>
            </a:r>
            <a:endParaRPr sz="1100">
              <a:latin typeface="Arial MT"/>
              <a:cs typeface="Arial MT"/>
            </a:endParaRPr>
          </a:p>
        </p:txBody>
      </p:sp>
      <p:grpSp>
        <p:nvGrpSpPr>
          <p:cNvPr id="14" name="object 14" descr=""/>
          <p:cNvGrpSpPr/>
          <p:nvPr/>
        </p:nvGrpSpPr>
        <p:grpSpPr>
          <a:xfrm>
            <a:off x="830325" y="1173645"/>
            <a:ext cx="6398895" cy="2096770"/>
            <a:chOff x="830325" y="1173645"/>
            <a:chExt cx="6398895" cy="2096770"/>
          </a:xfrm>
        </p:grpSpPr>
        <p:sp>
          <p:nvSpPr>
            <p:cNvPr id="15" name="object 15" descr=""/>
            <p:cNvSpPr/>
            <p:nvPr/>
          </p:nvSpPr>
          <p:spPr>
            <a:xfrm>
              <a:off x="6934216" y="1897570"/>
              <a:ext cx="0" cy="1103630"/>
            </a:xfrm>
            <a:custGeom>
              <a:avLst/>
              <a:gdLst/>
              <a:ahLst/>
              <a:cxnLst/>
              <a:rect l="l" t="t" r="r" b="b"/>
              <a:pathLst>
                <a:path w="0" h="1103630">
                  <a:moveTo>
                    <a:pt x="0" y="0"/>
                  </a:moveTo>
                  <a:lnTo>
                    <a:pt x="0" y="1103426"/>
                  </a:lnTo>
                </a:path>
              </a:pathLst>
            </a:custGeom>
            <a:ln w="12700">
              <a:solidFill>
                <a:srgbClr val="B6DCDF"/>
              </a:solidFill>
            </a:ln>
          </p:spPr>
          <p:txBody>
            <a:bodyPr wrap="square" lIns="0" tIns="0" rIns="0" bIns="0" rtlCol="0"/>
            <a:lstStyle/>
            <a:p/>
          </p:txBody>
        </p:sp>
        <p:sp>
          <p:nvSpPr>
            <p:cNvPr id="16" name="object 16" descr=""/>
            <p:cNvSpPr/>
            <p:nvPr/>
          </p:nvSpPr>
          <p:spPr>
            <a:xfrm>
              <a:off x="6889766" y="2924798"/>
              <a:ext cx="88900" cy="76200"/>
            </a:xfrm>
            <a:custGeom>
              <a:avLst/>
              <a:gdLst/>
              <a:ahLst/>
              <a:cxnLst/>
              <a:rect l="l" t="t" r="r" b="b"/>
              <a:pathLst>
                <a:path w="88900" h="76200">
                  <a:moveTo>
                    <a:pt x="88900" y="0"/>
                  </a:moveTo>
                  <a:lnTo>
                    <a:pt x="44450" y="76200"/>
                  </a:lnTo>
                  <a:lnTo>
                    <a:pt x="0" y="0"/>
                  </a:lnTo>
                </a:path>
              </a:pathLst>
            </a:custGeom>
            <a:ln w="12700">
              <a:solidFill>
                <a:srgbClr val="B6DCDF"/>
              </a:solidFill>
            </a:ln>
          </p:spPr>
          <p:txBody>
            <a:bodyPr wrap="square" lIns="0" tIns="0" rIns="0" bIns="0" rtlCol="0"/>
            <a:lstStyle/>
            <a:p/>
          </p:txBody>
        </p:sp>
        <p:sp>
          <p:nvSpPr>
            <p:cNvPr id="17" name="object 17" descr=""/>
            <p:cNvSpPr/>
            <p:nvPr/>
          </p:nvSpPr>
          <p:spPr>
            <a:xfrm>
              <a:off x="5570839" y="1608705"/>
              <a:ext cx="0" cy="709930"/>
            </a:xfrm>
            <a:custGeom>
              <a:avLst/>
              <a:gdLst/>
              <a:ahLst/>
              <a:cxnLst/>
              <a:rect l="l" t="t" r="r" b="b"/>
              <a:pathLst>
                <a:path w="0" h="709930">
                  <a:moveTo>
                    <a:pt x="0" y="0"/>
                  </a:moveTo>
                  <a:lnTo>
                    <a:pt x="0" y="709701"/>
                  </a:lnTo>
                </a:path>
              </a:pathLst>
            </a:custGeom>
            <a:ln w="12700">
              <a:solidFill>
                <a:srgbClr val="B6DCDF"/>
              </a:solidFill>
            </a:ln>
          </p:spPr>
          <p:txBody>
            <a:bodyPr wrap="square" lIns="0" tIns="0" rIns="0" bIns="0" rtlCol="0"/>
            <a:lstStyle/>
            <a:p/>
          </p:txBody>
        </p:sp>
        <p:sp>
          <p:nvSpPr>
            <p:cNvPr id="18" name="object 18" descr=""/>
            <p:cNvSpPr/>
            <p:nvPr/>
          </p:nvSpPr>
          <p:spPr>
            <a:xfrm>
              <a:off x="5526389" y="2242201"/>
              <a:ext cx="88900" cy="76200"/>
            </a:xfrm>
            <a:custGeom>
              <a:avLst/>
              <a:gdLst/>
              <a:ahLst/>
              <a:cxnLst/>
              <a:rect l="l" t="t" r="r" b="b"/>
              <a:pathLst>
                <a:path w="88900" h="76200">
                  <a:moveTo>
                    <a:pt x="88900" y="0"/>
                  </a:moveTo>
                  <a:lnTo>
                    <a:pt x="44450" y="76200"/>
                  </a:lnTo>
                  <a:lnTo>
                    <a:pt x="0" y="0"/>
                  </a:lnTo>
                </a:path>
              </a:pathLst>
            </a:custGeom>
            <a:ln w="12700">
              <a:solidFill>
                <a:srgbClr val="B6DCDF"/>
              </a:solidFill>
            </a:ln>
          </p:spPr>
          <p:txBody>
            <a:bodyPr wrap="square" lIns="0" tIns="0" rIns="0" bIns="0" rtlCol="0"/>
            <a:lstStyle/>
            <a:p/>
          </p:txBody>
        </p:sp>
        <p:sp>
          <p:nvSpPr>
            <p:cNvPr id="19" name="object 19" descr=""/>
            <p:cNvSpPr/>
            <p:nvPr/>
          </p:nvSpPr>
          <p:spPr>
            <a:xfrm>
              <a:off x="4170522" y="1836605"/>
              <a:ext cx="10160" cy="1427480"/>
            </a:xfrm>
            <a:custGeom>
              <a:avLst/>
              <a:gdLst/>
              <a:ahLst/>
              <a:cxnLst/>
              <a:rect l="l" t="t" r="r" b="b"/>
              <a:pathLst>
                <a:path w="10160" h="1427479">
                  <a:moveTo>
                    <a:pt x="9626" y="0"/>
                  </a:moveTo>
                  <a:lnTo>
                    <a:pt x="0" y="1427429"/>
                  </a:lnTo>
                </a:path>
              </a:pathLst>
            </a:custGeom>
            <a:ln w="12700">
              <a:solidFill>
                <a:srgbClr val="B6DCDF"/>
              </a:solidFill>
            </a:ln>
          </p:spPr>
          <p:txBody>
            <a:bodyPr wrap="square" lIns="0" tIns="0" rIns="0" bIns="0" rtlCol="0"/>
            <a:lstStyle/>
            <a:p/>
          </p:txBody>
        </p:sp>
        <p:sp>
          <p:nvSpPr>
            <p:cNvPr id="20" name="object 20" descr=""/>
            <p:cNvSpPr/>
            <p:nvPr/>
          </p:nvSpPr>
          <p:spPr>
            <a:xfrm>
              <a:off x="4126576" y="3187534"/>
              <a:ext cx="88900" cy="76835"/>
            </a:xfrm>
            <a:custGeom>
              <a:avLst/>
              <a:gdLst/>
              <a:ahLst/>
              <a:cxnLst/>
              <a:rect l="l" t="t" r="r" b="b"/>
              <a:pathLst>
                <a:path w="88900" h="76835">
                  <a:moveTo>
                    <a:pt x="88900" y="596"/>
                  </a:moveTo>
                  <a:lnTo>
                    <a:pt x="43942" y="76492"/>
                  </a:lnTo>
                  <a:lnTo>
                    <a:pt x="0" y="0"/>
                  </a:lnTo>
                </a:path>
              </a:pathLst>
            </a:custGeom>
            <a:ln w="12700">
              <a:solidFill>
                <a:srgbClr val="B6DCDF"/>
              </a:solidFill>
            </a:ln>
          </p:spPr>
          <p:txBody>
            <a:bodyPr wrap="square" lIns="0" tIns="0" rIns="0" bIns="0" rtlCol="0"/>
            <a:lstStyle/>
            <a:p/>
          </p:txBody>
        </p:sp>
        <p:sp>
          <p:nvSpPr>
            <p:cNvPr id="21" name="object 21" descr=""/>
            <p:cNvSpPr/>
            <p:nvPr/>
          </p:nvSpPr>
          <p:spPr>
            <a:xfrm>
              <a:off x="2742820" y="1386803"/>
              <a:ext cx="21590" cy="877569"/>
            </a:xfrm>
            <a:custGeom>
              <a:avLst/>
              <a:gdLst/>
              <a:ahLst/>
              <a:cxnLst/>
              <a:rect l="l" t="t" r="r" b="b"/>
              <a:pathLst>
                <a:path w="21589" h="877569">
                  <a:moveTo>
                    <a:pt x="0" y="0"/>
                  </a:moveTo>
                  <a:lnTo>
                    <a:pt x="21209" y="877100"/>
                  </a:lnTo>
                </a:path>
              </a:pathLst>
            </a:custGeom>
            <a:ln w="12700">
              <a:solidFill>
                <a:srgbClr val="B6DCDF"/>
              </a:solidFill>
            </a:ln>
          </p:spPr>
          <p:txBody>
            <a:bodyPr wrap="square" lIns="0" tIns="0" rIns="0" bIns="0" rtlCol="0"/>
            <a:lstStyle/>
            <a:p/>
          </p:txBody>
        </p:sp>
        <p:sp>
          <p:nvSpPr>
            <p:cNvPr id="22" name="object 22" descr=""/>
            <p:cNvSpPr/>
            <p:nvPr/>
          </p:nvSpPr>
          <p:spPr>
            <a:xfrm>
              <a:off x="2717755" y="2186652"/>
              <a:ext cx="88900" cy="77470"/>
            </a:xfrm>
            <a:custGeom>
              <a:avLst/>
              <a:gdLst/>
              <a:ahLst/>
              <a:cxnLst/>
              <a:rect l="l" t="t" r="r" b="b"/>
              <a:pathLst>
                <a:path w="88900" h="77469">
                  <a:moveTo>
                    <a:pt x="88874" y="0"/>
                  </a:moveTo>
                  <a:lnTo>
                    <a:pt x="46278" y="77254"/>
                  </a:lnTo>
                  <a:lnTo>
                    <a:pt x="0" y="2146"/>
                  </a:lnTo>
                </a:path>
              </a:pathLst>
            </a:custGeom>
            <a:ln w="12700">
              <a:solidFill>
                <a:srgbClr val="B6DCDF"/>
              </a:solidFill>
            </a:ln>
          </p:spPr>
          <p:txBody>
            <a:bodyPr wrap="square" lIns="0" tIns="0" rIns="0" bIns="0" rtlCol="0"/>
            <a:lstStyle/>
            <a:p/>
          </p:txBody>
        </p:sp>
        <p:pic>
          <p:nvPicPr>
            <p:cNvPr id="23" name="object 23" descr=""/>
            <p:cNvPicPr/>
            <p:nvPr/>
          </p:nvPicPr>
          <p:blipFill>
            <a:blip r:embed="rId4" cstate="print"/>
            <a:stretch>
              <a:fillRect/>
            </a:stretch>
          </p:blipFill>
          <p:spPr>
            <a:xfrm>
              <a:off x="2717572" y="1335078"/>
              <a:ext cx="71119" cy="71120"/>
            </a:xfrm>
            <a:prstGeom prst="rect">
              <a:avLst/>
            </a:prstGeom>
          </p:spPr>
        </p:pic>
        <p:pic>
          <p:nvPicPr>
            <p:cNvPr id="24" name="object 24" descr=""/>
            <p:cNvPicPr/>
            <p:nvPr/>
          </p:nvPicPr>
          <p:blipFill>
            <a:blip r:embed="rId4" cstate="print"/>
            <a:stretch>
              <a:fillRect/>
            </a:stretch>
          </p:blipFill>
          <p:spPr>
            <a:xfrm>
              <a:off x="4157733" y="1812582"/>
              <a:ext cx="71120" cy="71120"/>
            </a:xfrm>
            <a:prstGeom prst="rect">
              <a:avLst/>
            </a:prstGeom>
          </p:spPr>
        </p:pic>
        <p:pic>
          <p:nvPicPr>
            <p:cNvPr id="25" name="object 25" descr=""/>
            <p:cNvPicPr/>
            <p:nvPr/>
          </p:nvPicPr>
          <p:blipFill>
            <a:blip r:embed="rId4" cstate="print"/>
            <a:stretch>
              <a:fillRect/>
            </a:stretch>
          </p:blipFill>
          <p:spPr>
            <a:xfrm>
              <a:off x="5525885" y="1576575"/>
              <a:ext cx="71120" cy="71120"/>
            </a:xfrm>
            <a:prstGeom prst="rect">
              <a:avLst/>
            </a:prstGeom>
          </p:spPr>
        </p:pic>
        <p:pic>
          <p:nvPicPr>
            <p:cNvPr id="26" name="object 26" descr=""/>
            <p:cNvPicPr/>
            <p:nvPr/>
          </p:nvPicPr>
          <p:blipFill>
            <a:blip r:embed="rId4" cstate="print"/>
            <a:stretch>
              <a:fillRect/>
            </a:stretch>
          </p:blipFill>
          <p:spPr>
            <a:xfrm>
              <a:off x="6894037" y="1828337"/>
              <a:ext cx="71120" cy="71120"/>
            </a:xfrm>
            <a:prstGeom prst="rect">
              <a:avLst/>
            </a:prstGeom>
          </p:spPr>
        </p:pic>
        <p:pic>
          <p:nvPicPr>
            <p:cNvPr id="27" name="object 27"/>
            <p:cNvPicPr/>
            <p:nvPr/>
          </p:nvPicPr>
          <p:blipFill>
            <a:blip r:embed="rId5" cstate="print"/>
            <a:stretch>
              <a:fillRect/>
            </a:stretch>
          </p:blipFill>
          <p:spPr>
            <a:xfrm>
              <a:off x="6592417" y="1173645"/>
              <a:ext cx="636532" cy="664294"/>
            </a:xfrm>
            <a:prstGeom prst="rect">
              <a:avLst/>
            </a:prstGeom>
          </p:spPr>
        </p:pic>
        <p:pic>
          <p:nvPicPr>
            <p:cNvPr id="28" name="object 28"/>
            <p:cNvPicPr/>
            <p:nvPr/>
          </p:nvPicPr>
          <p:blipFill>
            <a:blip r:embed="rId6" cstate="print"/>
            <a:stretch>
              <a:fillRect/>
            </a:stretch>
          </p:blipFill>
          <p:spPr>
            <a:xfrm>
              <a:off x="830325" y="1987300"/>
              <a:ext cx="721529" cy="668573"/>
            </a:xfrm>
            <a:prstGeom prst="rect">
              <a:avLst/>
            </a:prstGeom>
          </p:spPr>
        </p:pic>
        <p:sp>
          <p:nvSpPr>
            <p:cNvPr id="29" name="object 29" descr=""/>
            <p:cNvSpPr/>
            <p:nvPr/>
          </p:nvSpPr>
          <p:spPr>
            <a:xfrm>
              <a:off x="1795180" y="2627256"/>
              <a:ext cx="0" cy="365125"/>
            </a:xfrm>
            <a:custGeom>
              <a:avLst/>
              <a:gdLst/>
              <a:ahLst/>
              <a:cxnLst/>
              <a:rect l="l" t="t" r="r" b="b"/>
              <a:pathLst>
                <a:path w="0" h="365125">
                  <a:moveTo>
                    <a:pt x="0" y="0"/>
                  </a:moveTo>
                  <a:lnTo>
                    <a:pt x="0" y="364693"/>
                  </a:lnTo>
                </a:path>
              </a:pathLst>
            </a:custGeom>
            <a:ln w="12700">
              <a:solidFill>
                <a:srgbClr val="B6DCDF"/>
              </a:solidFill>
            </a:ln>
          </p:spPr>
          <p:txBody>
            <a:bodyPr wrap="square" lIns="0" tIns="0" rIns="0" bIns="0" rtlCol="0"/>
            <a:lstStyle/>
            <a:p/>
          </p:txBody>
        </p:sp>
        <p:sp>
          <p:nvSpPr>
            <p:cNvPr id="30" name="object 30" descr=""/>
            <p:cNvSpPr/>
            <p:nvPr/>
          </p:nvSpPr>
          <p:spPr>
            <a:xfrm>
              <a:off x="1750730" y="2915748"/>
              <a:ext cx="88900" cy="76200"/>
            </a:xfrm>
            <a:custGeom>
              <a:avLst/>
              <a:gdLst/>
              <a:ahLst/>
              <a:cxnLst/>
              <a:rect l="l" t="t" r="r" b="b"/>
              <a:pathLst>
                <a:path w="88900" h="76200">
                  <a:moveTo>
                    <a:pt x="88900" y="0"/>
                  </a:moveTo>
                  <a:lnTo>
                    <a:pt x="44450" y="76200"/>
                  </a:lnTo>
                  <a:lnTo>
                    <a:pt x="0" y="0"/>
                  </a:lnTo>
                </a:path>
              </a:pathLst>
            </a:custGeom>
            <a:ln w="12700">
              <a:solidFill>
                <a:srgbClr val="B6DCDF"/>
              </a:solidFill>
            </a:ln>
          </p:spPr>
          <p:txBody>
            <a:bodyPr wrap="square" lIns="0" tIns="0" rIns="0" bIns="0" rtlCol="0"/>
            <a:lstStyle/>
            <a:p/>
          </p:txBody>
        </p:sp>
        <p:pic>
          <p:nvPicPr>
            <p:cNvPr id="31" name="object 31" descr=""/>
            <p:cNvPicPr/>
            <p:nvPr/>
          </p:nvPicPr>
          <p:blipFill>
            <a:blip r:embed="rId7" cstate="print"/>
            <a:stretch>
              <a:fillRect/>
            </a:stretch>
          </p:blipFill>
          <p:spPr>
            <a:xfrm>
              <a:off x="1755180" y="2563808"/>
              <a:ext cx="71119" cy="71120"/>
            </a:xfrm>
            <a:prstGeom prst="rect">
              <a:avLst/>
            </a:prstGeom>
          </p:spPr>
        </p:pic>
      </p:grpSp>
      <p:sp>
        <p:nvSpPr>
          <p:cNvPr id="32" name="object 32" descr=""/>
          <p:cNvSpPr txBox="1"/>
          <p:nvPr/>
        </p:nvSpPr>
        <p:spPr>
          <a:xfrm>
            <a:off x="304800" y="3943350"/>
            <a:ext cx="8644255" cy="921385"/>
          </a:xfrm>
          <a:prstGeom prst="rect">
            <a:avLst/>
          </a:prstGeom>
          <a:solidFill>
            <a:srgbClr val="00B0F0"/>
          </a:solidFill>
        </p:spPr>
        <p:txBody>
          <a:bodyPr wrap="square" lIns="0" tIns="85725" rIns="0" bIns="0" rtlCol="0" vert="horz">
            <a:spAutoFit/>
          </a:bodyPr>
          <a:lstStyle/>
          <a:p>
            <a:pPr marL="90805">
              <a:lnSpc>
                <a:spcPct val="100000"/>
              </a:lnSpc>
              <a:spcBef>
                <a:spcPts val="675"/>
              </a:spcBef>
            </a:pPr>
            <a:r>
              <a:rPr dirty="0" sz="1400" spc="-15">
                <a:solidFill>
                  <a:srgbClr val="FFFFFF"/>
                </a:solidFill>
                <a:latin typeface="SimSun"/>
                <a:cs typeface="SimSun"/>
              </a:rPr>
              <a:t>建议提前考虑</a:t>
            </a:r>
            <a:r>
              <a:rPr dirty="0" sz="1400" spc="-40" b="1">
                <a:solidFill>
                  <a:srgbClr val="FFFFFF"/>
                </a:solidFill>
                <a:latin typeface="Arial"/>
                <a:cs typeface="Arial"/>
              </a:rPr>
              <a:t>CAT6A</a:t>
            </a:r>
            <a:r>
              <a:rPr dirty="0" sz="1400" spc="-20">
                <a:solidFill>
                  <a:srgbClr val="FFFFFF"/>
                </a:solidFill>
                <a:latin typeface="SimSun"/>
                <a:cs typeface="SimSun"/>
              </a:rPr>
              <a:t>的线缆部署，为</a:t>
            </a:r>
            <a:r>
              <a:rPr dirty="0" sz="1400" spc="-10" b="1">
                <a:solidFill>
                  <a:srgbClr val="FFFFFF"/>
                </a:solidFill>
                <a:latin typeface="Arial"/>
                <a:cs typeface="Arial"/>
              </a:rPr>
              <a:t>5G</a:t>
            </a:r>
            <a:r>
              <a:rPr dirty="0" sz="1400" spc="-25">
                <a:solidFill>
                  <a:srgbClr val="FFFFFF"/>
                </a:solidFill>
                <a:latin typeface="SimSun"/>
                <a:cs typeface="SimSun"/>
              </a:rPr>
              <a:t>室分建设做好准备</a:t>
            </a:r>
            <a:endParaRPr sz="1400">
              <a:latin typeface="SimSun"/>
              <a:cs typeface="SimSun"/>
            </a:endParaRPr>
          </a:p>
          <a:p>
            <a:pPr marL="360045" indent="-269240">
              <a:lnSpc>
                <a:spcPct val="100000"/>
              </a:lnSpc>
              <a:spcBef>
                <a:spcPts val="340"/>
              </a:spcBef>
              <a:buFont typeface="Wingdings"/>
              <a:buChar char=""/>
              <a:tabLst>
                <a:tab pos="360045" algn="l"/>
              </a:tabLst>
            </a:pPr>
            <a:r>
              <a:rPr dirty="0" sz="1400" spc="-10">
                <a:solidFill>
                  <a:srgbClr val="FFFFFF"/>
                </a:solidFill>
                <a:latin typeface="SimSun"/>
                <a:cs typeface="SimSun"/>
              </a:rPr>
              <a:t>新部署的</a:t>
            </a:r>
            <a:r>
              <a:rPr dirty="0" sz="1400" spc="-10" b="1">
                <a:solidFill>
                  <a:srgbClr val="FFFFFF"/>
                </a:solidFill>
                <a:latin typeface="Arial"/>
                <a:cs typeface="Arial"/>
              </a:rPr>
              <a:t>4G</a:t>
            </a:r>
            <a:r>
              <a:rPr dirty="0" sz="1400" spc="-20">
                <a:solidFill>
                  <a:srgbClr val="FFFFFF"/>
                </a:solidFill>
                <a:latin typeface="SimSun"/>
                <a:cs typeface="SimSun"/>
              </a:rPr>
              <a:t>室分中预先部署</a:t>
            </a:r>
            <a:r>
              <a:rPr dirty="0" sz="1400" spc="-40" b="1">
                <a:solidFill>
                  <a:srgbClr val="FFFFFF"/>
                </a:solidFill>
                <a:latin typeface="Arial"/>
                <a:cs typeface="Arial"/>
              </a:rPr>
              <a:t>CAT6A</a:t>
            </a:r>
            <a:r>
              <a:rPr dirty="0" sz="1400" spc="-30">
                <a:solidFill>
                  <a:srgbClr val="FFFFFF"/>
                </a:solidFill>
                <a:latin typeface="SimSun"/>
                <a:cs typeface="SimSun"/>
              </a:rPr>
              <a:t>网线</a:t>
            </a:r>
            <a:endParaRPr sz="1400">
              <a:latin typeface="SimSun"/>
              <a:cs typeface="SimSun"/>
            </a:endParaRPr>
          </a:p>
          <a:p>
            <a:pPr marL="360045" indent="-269240">
              <a:lnSpc>
                <a:spcPct val="100000"/>
              </a:lnSpc>
              <a:spcBef>
                <a:spcPts val="335"/>
              </a:spcBef>
              <a:buFont typeface="Wingdings"/>
              <a:buChar char=""/>
              <a:tabLst>
                <a:tab pos="360045" algn="l"/>
              </a:tabLst>
            </a:pPr>
            <a:r>
              <a:rPr dirty="0" sz="1400" spc="-10">
                <a:solidFill>
                  <a:srgbClr val="FFFFFF"/>
                </a:solidFill>
                <a:latin typeface="SimSun"/>
                <a:cs typeface="SimSun"/>
              </a:rPr>
              <a:t>现有</a:t>
            </a:r>
            <a:r>
              <a:rPr dirty="0" sz="1400" b="1">
                <a:solidFill>
                  <a:srgbClr val="FFFFFF"/>
                </a:solidFill>
                <a:latin typeface="Arial"/>
                <a:cs typeface="Arial"/>
              </a:rPr>
              <a:t>4G</a:t>
            </a:r>
            <a:r>
              <a:rPr dirty="0" sz="1400" spc="110" b="1">
                <a:solidFill>
                  <a:srgbClr val="FFFFFF"/>
                </a:solidFill>
                <a:latin typeface="Arial"/>
                <a:cs typeface="Arial"/>
              </a:rPr>
              <a:t> </a:t>
            </a:r>
            <a:r>
              <a:rPr dirty="0" sz="1400" spc="-10" b="1">
                <a:solidFill>
                  <a:srgbClr val="FFFFFF"/>
                </a:solidFill>
                <a:latin typeface="Arial"/>
                <a:cs typeface="Arial"/>
              </a:rPr>
              <a:t>PicoRRU</a:t>
            </a:r>
            <a:r>
              <a:rPr dirty="0" sz="1400" spc="-10">
                <a:solidFill>
                  <a:srgbClr val="FFFFFF"/>
                </a:solidFill>
                <a:latin typeface="SimSun"/>
                <a:cs typeface="SimSun"/>
              </a:rPr>
              <a:t>采用</a:t>
            </a:r>
            <a:r>
              <a:rPr dirty="0" sz="1400" spc="-40" b="1">
                <a:solidFill>
                  <a:srgbClr val="FFFFFF"/>
                </a:solidFill>
                <a:latin typeface="Arial"/>
                <a:cs typeface="Arial"/>
              </a:rPr>
              <a:t>CAT5</a:t>
            </a:r>
            <a:r>
              <a:rPr dirty="0" sz="1400" spc="-20">
                <a:solidFill>
                  <a:srgbClr val="FFFFFF"/>
                </a:solidFill>
                <a:latin typeface="SimSun"/>
                <a:cs typeface="SimSun"/>
              </a:rPr>
              <a:t>网线，</a:t>
            </a:r>
            <a:r>
              <a:rPr dirty="0" sz="1400" spc="-35" b="1">
                <a:solidFill>
                  <a:srgbClr val="FFFFFF"/>
                </a:solidFill>
                <a:latin typeface="Arial"/>
                <a:cs typeface="Arial"/>
              </a:rPr>
              <a:t>CAT6A</a:t>
            </a:r>
            <a:r>
              <a:rPr dirty="0" sz="1400" spc="-15">
                <a:solidFill>
                  <a:srgbClr val="FFFFFF"/>
                </a:solidFill>
                <a:latin typeface="SimSun"/>
                <a:cs typeface="SimSun"/>
              </a:rPr>
              <a:t>网线可在现有</a:t>
            </a:r>
            <a:r>
              <a:rPr dirty="0" sz="1400" spc="-10" b="1">
                <a:solidFill>
                  <a:srgbClr val="FFFFFF"/>
                </a:solidFill>
                <a:latin typeface="Arial"/>
                <a:cs typeface="Arial"/>
              </a:rPr>
              <a:t>4G</a:t>
            </a:r>
            <a:r>
              <a:rPr dirty="0" sz="1400" spc="-25">
                <a:solidFill>
                  <a:srgbClr val="FFFFFF"/>
                </a:solidFill>
                <a:latin typeface="SimSun"/>
                <a:cs typeface="SimSun"/>
              </a:rPr>
              <a:t>系统上叠加部署</a:t>
            </a:r>
            <a:endParaRPr sz="1400">
              <a:latin typeface="SimSun"/>
              <a:cs typeface="SimSun"/>
            </a:endParaRPr>
          </a:p>
        </p:txBody>
      </p:sp>
      <p:sp>
        <p:nvSpPr>
          <p:cNvPr id="33" name="object 33" descr=""/>
          <p:cNvSpPr txBox="1"/>
          <p:nvPr/>
        </p:nvSpPr>
        <p:spPr>
          <a:xfrm>
            <a:off x="910516" y="1594734"/>
            <a:ext cx="583565"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Arial MT"/>
                <a:cs typeface="Arial MT"/>
              </a:rPr>
              <a:t>5G</a:t>
            </a:r>
            <a:r>
              <a:rPr dirty="0" sz="1200" spc="-20">
                <a:latin typeface="Arial MT"/>
                <a:cs typeface="Arial MT"/>
              </a:rPr>
              <a:t> </a:t>
            </a:r>
            <a:r>
              <a:rPr dirty="0" sz="1200" spc="-25">
                <a:latin typeface="Arial MT"/>
                <a:cs typeface="Arial MT"/>
              </a:rPr>
              <a:t>BBU</a:t>
            </a:r>
            <a:endParaRPr sz="1200">
              <a:latin typeface="Arial MT"/>
              <a:cs typeface="Arial MT"/>
            </a:endParaRPr>
          </a:p>
        </p:txBody>
      </p:sp>
      <p:sp>
        <p:nvSpPr>
          <p:cNvPr id="34" name="object 34" descr=""/>
          <p:cNvSpPr txBox="1"/>
          <p:nvPr/>
        </p:nvSpPr>
        <p:spPr>
          <a:xfrm>
            <a:off x="6584327" y="884914"/>
            <a:ext cx="68453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Arial MT"/>
                <a:cs typeface="Arial MT"/>
              </a:rPr>
              <a:t>5G</a:t>
            </a:r>
            <a:r>
              <a:rPr dirty="0" sz="1200" spc="-20">
                <a:latin typeface="Arial MT"/>
                <a:cs typeface="Arial MT"/>
              </a:rPr>
              <a:t> pRRU</a:t>
            </a:r>
            <a:endParaRPr sz="1200">
              <a:latin typeface="Arial MT"/>
              <a:cs typeface="Arial MT"/>
            </a:endParaRPr>
          </a:p>
        </p:txBody>
      </p:sp>
      <p:sp>
        <p:nvSpPr>
          <p:cNvPr id="35" name="object 35" descr=""/>
          <p:cNvSpPr txBox="1"/>
          <p:nvPr/>
        </p:nvSpPr>
        <p:spPr>
          <a:xfrm>
            <a:off x="4053420" y="1018721"/>
            <a:ext cx="346710" cy="208279"/>
          </a:xfrm>
          <a:prstGeom prst="rect">
            <a:avLst/>
          </a:prstGeom>
        </p:spPr>
        <p:txBody>
          <a:bodyPr wrap="square" lIns="0" tIns="12700" rIns="0" bIns="0" rtlCol="0" vert="horz">
            <a:spAutoFit/>
          </a:bodyPr>
          <a:lstStyle/>
          <a:p>
            <a:pPr marL="12700">
              <a:lnSpc>
                <a:spcPct val="100000"/>
              </a:lnSpc>
              <a:spcBef>
                <a:spcPts val="100"/>
              </a:spcBef>
            </a:pPr>
            <a:r>
              <a:rPr dirty="0" sz="1200" spc="-25">
                <a:latin typeface="Arial MT"/>
                <a:cs typeface="Arial MT"/>
              </a:rPr>
              <a:t>HUB</a:t>
            </a:r>
            <a:endParaRPr sz="1200">
              <a:latin typeface="Arial MT"/>
              <a:cs typeface="Arial MT"/>
            </a:endParaRPr>
          </a:p>
        </p:txBody>
      </p:sp>
      <p:sp>
        <p:nvSpPr>
          <p:cNvPr id="36" name="object 36" descr=""/>
          <p:cNvSpPr txBox="1"/>
          <p:nvPr/>
        </p:nvSpPr>
        <p:spPr>
          <a:xfrm>
            <a:off x="1290612" y="2995409"/>
            <a:ext cx="1677670" cy="277495"/>
          </a:xfrm>
          <a:prstGeom prst="rect">
            <a:avLst/>
          </a:prstGeom>
          <a:solidFill>
            <a:srgbClr val="F2F2F2"/>
          </a:solidFill>
        </p:spPr>
        <p:txBody>
          <a:bodyPr wrap="square" lIns="0" tIns="43180" rIns="0" bIns="0" rtlCol="0" vert="horz">
            <a:spAutoFit/>
          </a:bodyPr>
          <a:lstStyle/>
          <a:p>
            <a:pPr marL="198120" indent="-106680">
              <a:lnSpc>
                <a:spcPct val="100000"/>
              </a:lnSpc>
              <a:spcBef>
                <a:spcPts val="340"/>
              </a:spcBef>
              <a:buFont typeface="Arial MT"/>
              <a:buChar char="•"/>
              <a:tabLst>
                <a:tab pos="198120" algn="l"/>
              </a:tabLst>
            </a:pPr>
            <a:r>
              <a:rPr dirty="0" sz="1200" spc="-10">
                <a:latin typeface="SimSun"/>
                <a:cs typeface="SimSun"/>
              </a:rPr>
              <a:t>支持异厂家射频馈入</a:t>
            </a:r>
            <a:endParaRPr sz="1200">
              <a:latin typeface="SimSun"/>
              <a:cs typeface="SimSun"/>
            </a:endParaRPr>
          </a:p>
        </p:txBody>
      </p:sp>
      <p:grpSp>
        <p:nvGrpSpPr>
          <p:cNvPr id="37" name="object 37" descr=""/>
          <p:cNvGrpSpPr/>
          <p:nvPr/>
        </p:nvGrpSpPr>
        <p:grpSpPr>
          <a:xfrm>
            <a:off x="4706937" y="1699269"/>
            <a:ext cx="3686175" cy="643890"/>
            <a:chOff x="4706937" y="1699269"/>
            <a:chExt cx="3686175" cy="643890"/>
          </a:xfrm>
        </p:grpSpPr>
        <p:pic>
          <p:nvPicPr>
            <p:cNvPr id="38" name="object 38"/>
            <p:cNvPicPr/>
            <p:nvPr/>
          </p:nvPicPr>
          <p:blipFill>
            <a:blip r:embed="rId8" cstate="print"/>
            <a:stretch>
              <a:fillRect/>
            </a:stretch>
          </p:blipFill>
          <p:spPr>
            <a:xfrm>
              <a:off x="7775384" y="1699269"/>
              <a:ext cx="617229" cy="643322"/>
            </a:xfrm>
            <a:prstGeom prst="rect">
              <a:avLst/>
            </a:prstGeom>
          </p:spPr>
        </p:pic>
        <p:sp>
          <p:nvSpPr>
            <p:cNvPr id="39" name="object 39" descr=""/>
            <p:cNvSpPr/>
            <p:nvPr/>
          </p:nvSpPr>
          <p:spPr>
            <a:xfrm>
              <a:off x="4719637" y="1776407"/>
              <a:ext cx="3086100" cy="353695"/>
            </a:xfrm>
            <a:custGeom>
              <a:avLst/>
              <a:gdLst/>
              <a:ahLst/>
              <a:cxnLst/>
              <a:rect l="l" t="t" r="r" b="b"/>
              <a:pathLst>
                <a:path w="3086100" h="353694">
                  <a:moveTo>
                    <a:pt x="0" y="0"/>
                  </a:moveTo>
                  <a:lnTo>
                    <a:pt x="54180" y="18922"/>
                  </a:lnTo>
                  <a:lnTo>
                    <a:pt x="108234" y="37720"/>
                  </a:lnTo>
                  <a:lnTo>
                    <a:pt x="162032" y="56271"/>
                  </a:lnTo>
                  <a:lnTo>
                    <a:pt x="215446" y="74451"/>
                  </a:lnTo>
                  <a:lnTo>
                    <a:pt x="268350" y="92136"/>
                  </a:lnTo>
                  <a:lnTo>
                    <a:pt x="320615" y="109204"/>
                  </a:lnTo>
                  <a:lnTo>
                    <a:pt x="372114" y="125529"/>
                  </a:lnTo>
                  <a:lnTo>
                    <a:pt x="422717" y="140990"/>
                  </a:lnTo>
                  <a:lnTo>
                    <a:pt x="472299" y="155462"/>
                  </a:lnTo>
                  <a:lnTo>
                    <a:pt x="520730" y="168822"/>
                  </a:lnTo>
                  <a:lnTo>
                    <a:pt x="567884" y="180946"/>
                  </a:lnTo>
                  <a:lnTo>
                    <a:pt x="613632" y="191711"/>
                  </a:lnTo>
                  <a:lnTo>
                    <a:pt x="657846" y="200993"/>
                  </a:lnTo>
                  <a:lnTo>
                    <a:pt x="700398" y="208668"/>
                  </a:lnTo>
                  <a:lnTo>
                    <a:pt x="741162" y="214614"/>
                  </a:lnTo>
                  <a:lnTo>
                    <a:pt x="780008" y="218706"/>
                  </a:lnTo>
                  <a:lnTo>
                    <a:pt x="826252" y="219456"/>
                  </a:lnTo>
                  <a:lnTo>
                    <a:pt x="865154" y="214183"/>
                  </a:lnTo>
                  <a:lnTo>
                    <a:pt x="898356" y="204116"/>
                  </a:lnTo>
                  <a:lnTo>
                    <a:pt x="927495" y="190478"/>
                  </a:lnTo>
                  <a:lnTo>
                    <a:pt x="954211" y="174497"/>
                  </a:lnTo>
                  <a:lnTo>
                    <a:pt x="980143" y="157399"/>
                  </a:lnTo>
                  <a:lnTo>
                    <a:pt x="1006930" y="140408"/>
                  </a:lnTo>
                  <a:lnTo>
                    <a:pt x="1036212" y="124752"/>
                  </a:lnTo>
                  <a:lnTo>
                    <a:pt x="1069628" y="111655"/>
                  </a:lnTo>
                  <a:lnTo>
                    <a:pt x="1108817" y="102345"/>
                  </a:lnTo>
                  <a:lnTo>
                    <a:pt x="1155419" y="98047"/>
                  </a:lnTo>
                  <a:lnTo>
                    <a:pt x="1211072" y="99987"/>
                  </a:lnTo>
                  <a:lnTo>
                    <a:pt x="1287635" y="110856"/>
                  </a:lnTo>
                  <a:lnTo>
                    <a:pt x="1330760" y="119407"/>
                  </a:lnTo>
                  <a:lnTo>
                    <a:pt x="1376645" y="129725"/>
                  </a:lnTo>
                  <a:lnTo>
                    <a:pt x="1424937" y="141577"/>
                  </a:lnTo>
                  <a:lnTo>
                    <a:pt x="1475283" y="154731"/>
                  </a:lnTo>
                  <a:lnTo>
                    <a:pt x="1527332" y="168954"/>
                  </a:lnTo>
                  <a:lnTo>
                    <a:pt x="1580730" y="184013"/>
                  </a:lnTo>
                  <a:lnTo>
                    <a:pt x="1635126" y="199675"/>
                  </a:lnTo>
                  <a:lnTo>
                    <a:pt x="1690167" y="215707"/>
                  </a:lnTo>
                  <a:lnTo>
                    <a:pt x="1745500" y="231877"/>
                  </a:lnTo>
                  <a:lnTo>
                    <a:pt x="1800774" y="247952"/>
                  </a:lnTo>
                  <a:lnTo>
                    <a:pt x="1855635" y="263699"/>
                  </a:lnTo>
                  <a:lnTo>
                    <a:pt x="1909731" y="278885"/>
                  </a:lnTo>
                  <a:lnTo>
                    <a:pt x="1962711" y="293278"/>
                  </a:lnTo>
                  <a:lnTo>
                    <a:pt x="2014221" y="306645"/>
                  </a:lnTo>
                  <a:lnTo>
                    <a:pt x="2063909" y="318752"/>
                  </a:lnTo>
                  <a:lnTo>
                    <a:pt x="2111424" y="329368"/>
                  </a:lnTo>
                  <a:lnTo>
                    <a:pt x="2156411" y="338259"/>
                  </a:lnTo>
                  <a:lnTo>
                    <a:pt x="2198520" y="345192"/>
                  </a:lnTo>
                  <a:lnTo>
                    <a:pt x="2237397" y="349935"/>
                  </a:lnTo>
                  <a:lnTo>
                    <a:pt x="2305244" y="353525"/>
                  </a:lnTo>
                  <a:lnTo>
                    <a:pt x="2367374" y="351367"/>
                  </a:lnTo>
                  <a:lnTo>
                    <a:pt x="2424405" y="344533"/>
                  </a:lnTo>
                  <a:lnTo>
                    <a:pt x="2476953" y="334092"/>
                  </a:lnTo>
                  <a:lnTo>
                    <a:pt x="2525636" y="321116"/>
                  </a:lnTo>
                  <a:lnTo>
                    <a:pt x="2571069" y="306675"/>
                  </a:lnTo>
                  <a:lnTo>
                    <a:pt x="2613870" y="291839"/>
                  </a:lnTo>
                  <a:lnTo>
                    <a:pt x="2654655" y="277679"/>
                  </a:lnTo>
                  <a:lnTo>
                    <a:pt x="2694042" y="265266"/>
                  </a:lnTo>
                  <a:lnTo>
                    <a:pt x="2732648" y="255670"/>
                  </a:lnTo>
                  <a:lnTo>
                    <a:pt x="2771089" y="249961"/>
                  </a:lnTo>
                  <a:lnTo>
                    <a:pt x="2837483" y="246171"/>
                  </a:lnTo>
                  <a:lnTo>
                    <a:pt x="2896275" y="246721"/>
                  </a:lnTo>
                  <a:lnTo>
                    <a:pt x="2948987" y="250742"/>
                  </a:lnTo>
                  <a:lnTo>
                    <a:pt x="2997137" y="257366"/>
                  </a:lnTo>
                  <a:lnTo>
                    <a:pt x="3042246" y="265727"/>
                  </a:lnTo>
                  <a:lnTo>
                    <a:pt x="3085833" y="274955"/>
                  </a:lnTo>
                </a:path>
              </a:pathLst>
            </a:custGeom>
            <a:ln w="25400">
              <a:solidFill>
                <a:srgbClr val="161645"/>
              </a:solidFill>
              <a:prstDash val="sysDash"/>
            </a:ln>
          </p:spPr>
          <p:txBody>
            <a:bodyPr wrap="square" lIns="0" tIns="0" rIns="0" bIns="0" rtlCol="0"/>
            <a:lstStyle/>
            <a:p/>
          </p:txBody>
        </p:sp>
      </p:grpSp>
      <p:sp>
        <p:nvSpPr>
          <p:cNvPr id="40" name="object 40" descr=""/>
          <p:cNvSpPr txBox="1"/>
          <p:nvPr/>
        </p:nvSpPr>
        <p:spPr>
          <a:xfrm>
            <a:off x="7610932" y="3067418"/>
            <a:ext cx="1141730" cy="769620"/>
          </a:xfrm>
          <a:prstGeom prst="rect">
            <a:avLst/>
          </a:prstGeom>
          <a:solidFill>
            <a:srgbClr val="F2F2F2"/>
          </a:solidFill>
        </p:spPr>
        <p:txBody>
          <a:bodyPr wrap="square" lIns="0" tIns="60325" rIns="0" bIns="0" rtlCol="0" vert="horz">
            <a:spAutoFit/>
          </a:bodyPr>
          <a:lstStyle/>
          <a:p>
            <a:pPr marL="196215" marR="99060" indent="-105410">
              <a:lnSpc>
                <a:spcPts val="1270"/>
              </a:lnSpc>
              <a:spcBef>
                <a:spcPts val="475"/>
              </a:spcBef>
              <a:buFont typeface="Arial MT"/>
              <a:buChar char="•"/>
              <a:tabLst>
                <a:tab pos="197485" algn="l"/>
              </a:tabLst>
            </a:pPr>
            <a:r>
              <a:rPr dirty="0" sz="1100" spc="-25">
                <a:latin typeface="SimSun"/>
                <a:cs typeface="SimSun"/>
              </a:rPr>
              <a:t>演进支持多频</a:t>
            </a:r>
            <a:r>
              <a:rPr dirty="0" sz="1100" spc="-25">
                <a:latin typeface="SimSun"/>
                <a:cs typeface="SimSun"/>
              </a:rPr>
              <a:t>	</a:t>
            </a:r>
            <a:r>
              <a:rPr dirty="0" sz="1100" spc="-30">
                <a:latin typeface="SimSun"/>
                <a:cs typeface="SimSun"/>
              </a:rPr>
              <a:t>多模、毫米波</a:t>
            </a:r>
            <a:endParaRPr sz="1100">
              <a:latin typeface="SimSun"/>
              <a:cs typeface="SimSun"/>
            </a:endParaRPr>
          </a:p>
          <a:p>
            <a:pPr marL="196215" marR="99060" indent="-105410">
              <a:lnSpc>
                <a:spcPts val="1270"/>
              </a:lnSpc>
              <a:spcBef>
                <a:spcPts val="100"/>
              </a:spcBef>
              <a:buFont typeface="Arial MT"/>
              <a:buChar char="•"/>
              <a:tabLst>
                <a:tab pos="197485" algn="l"/>
              </a:tabLst>
            </a:pPr>
            <a:r>
              <a:rPr dirty="0" sz="1100" spc="-25">
                <a:latin typeface="SimSun"/>
                <a:cs typeface="SimSun"/>
              </a:rPr>
              <a:t>需考虑支持光</a:t>
            </a:r>
            <a:r>
              <a:rPr dirty="0" sz="1100" spc="-25">
                <a:latin typeface="SimSun"/>
                <a:cs typeface="SimSun"/>
              </a:rPr>
              <a:t>	</a:t>
            </a:r>
            <a:r>
              <a:rPr dirty="0" sz="1100" spc="-30">
                <a:latin typeface="SimSun"/>
                <a:cs typeface="SimSun"/>
              </a:rPr>
              <a:t>电混合缆</a:t>
            </a:r>
            <a:endParaRPr sz="1100">
              <a:latin typeface="SimSun"/>
              <a:cs typeface="SimSun"/>
            </a:endParaRPr>
          </a:p>
        </p:txBody>
      </p:sp>
      <p:grpSp>
        <p:nvGrpSpPr>
          <p:cNvPr id="41" name="object 41" descr=""/>
          <p:cNvGrpSpPr/>
          <p:nvPr/>
        </p:nvGrpSpPr>
        <p:grpSpPr>
          <a:xfrm>
            <a:off x="8053783" y="2360929"/>
            <a:ext cx="109220" cy="676275"/>
            <a:chOff x="8053783" y="2360929"/>
            <a:chExt cx="109220" cy="676275"/>
          </a:xfrm>
        </p:grpSpPr>
        <p:sp>
          <p:nvSpPr>
            <p:cNvPr id="42" name="object 42" descr=""/>
            <p:cNvSpPr/>
            <p:nvPr/>
          </p:nvSpPr>
          <p:spPr>
            <a:xfrm>
              <a:off x="8104583" y="2453609"/>
              <a:ext cx="0" cy="577215"/>
            </a:xfrm>
            <a:custGeom>
              <a:avLst/>
              <a:gdLst/>
              <a:ahLst/>
              <a:cxnLst/>
              <a:rect l="l" t="t" r="r" b="b"/>
              <a:pathLst>
                <a:path w="0" h="577214">
                  <a:moveTo>
                    <a:pt x="0" y="0"/>
                  </a:moveTo>
                  <a:lnTo>
                    <a:pt x="0" y="577138"/>
                  </a:lnTo>
                </a:path>
              </a:pathLst>
            </a:custGeom>
            <a:ln w="12700">
              <a:solidFill>
                <a:srgbClr val="B6DCDF"/>
              </a:solidFill>
            </a:ln>
          </p:spPr>
          <p:txBody>
            <a:bodyPr wrap="square" lIns="0" tIns="0" rIns="0" bIns="0" rtlCol="0"/>
            <a:lstStyle/>
            <a:p/>
          </p:txBody>
        </p:sp>
        <p:sp>
          <p:nvSpPr>
            <p:cNvPr id="43" name="object 43" descr=""/>
            <p:cNvSpPr/>
            <p:nvPr/>
          </p:nvSpPr>
          <p:spPr>
            <a:xfrm>
              <a:off x="8060133" y="2954548"/>
              <a:ext cx="88900" cy="76200"/>
            </a:xfrm>
            <a:custGeom>
              <a:avLst/>
              <a:gdLst/>
              <a:ahLst/>
              <a:cxnLst/>
              <a:rect l="l" t="t" r="r" b="b"/>
              <a:pathLst>
                <a:path w="88900" h="76200">
                  <a:moveTo>
                    <a:pt x="88900" y="0"/>
                  </a:moveTo>
                  <a:lnTo>
                    <a:pt x="44450" y="76200"/>
                  </a:lnTo>
                  <a:lnTo>
                    <a:pt x="0" y="0"/>
                  </a:lnTo>
                </a:path>
              </a:pathLst>
            </a:custGeom>
            <a:ln w="12700">
              <a:solidFill>
                <a:srgbClr val="B6DCDF"/>
              </a:solidFill>
            </a:ln>
          </p:spPr>
          <p:txBody>
            <a:bodyPr wrap="square" lIns="0" tIns="0" rIns="0" bIns="0" rtlCol="0"/>
            <a:lstStyle/>
            <a:p/>
          </p:txBody>
        </p:sp>
        <p:pic>
          <p:nvPicPr>
            <p:cNvPr id="44" name="object 44" descr=""/>
            <p:cNvPicPr/>
            <p:nvPr/>
          </p:nvPicPr>
          <p:blipFill>
            <a:blip r:embed="rId4" cstate="print"/>
            <a:stretch>
              <a:fillRect/>
            </a:stretch>
          </p:blipFill>
          <p:spPr>
            <a:xfrm>
              <a:off x="8091883" y="2360929"/>
              <a:ext cx="71120" cy="71120"/>
            </a:xfrm>
            <a:prstGeom prst="rect">
              <a:avLst/>
            </a:prstGeom>
          </p:spPr>
        </p:pic>
      </p:grpSp>
      <p:sp>
        <p:nvSpPr>
          <p:cNvPr id="45" name="object 45" descr=""/>
          <p:cNvSpPr txBox="1"/>
          <p:nvPr/>
        </p:nvSpPr>
        <p:spPr>
          <a:xfrm>
            <a:off x="7655897" y="1449951"/>
            <a:ext cx="98933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Arial MT"/>
                <a:cs typeface="Arial MT"/>
              </a:rPr>
              <a:t>5G </a:t>
            </a:r>
            <a:r>
              <a:rPr dirty="0" sz="1200" spc="-10">
                <a:latin typeface="Arial MT"/>
                <a:cs typeface="Arial MT"/>
              </a:rPr>
              <a:t>pRRU</a:t>
            </a:r>
            <a:r>
              <a:rPr dirty="0" sz="1200" spc="-25">
                <a:latin typeface="SimSun"/>
                <a:cs typeface="SimSun"/>
              </a:rPr>
              <a:t>增强</a:t>
            </a:r>
            <a:endParaRPr sz="1200">
              <a:latin typeface="SimSun"/>
              <a:cs typeface="SimSu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8302" y="138968"/>
            <a:ext cx="7089140" cy="513080"/>
          </a:xfrm>
          <a:prstGeom prst="rect"/>
        </p:spPr>
        <p:txBody>
          <a:bodyPr wrap="square" lIns="0" tIns="12065" rIns="0" bIns="0" rtlCol="0" vert="horz">
            <a:spAutoFit/>
          </a:bodyPr>
          <a:lstStyle/>
          <a:p>
            <a:pPr marL="12700">
              <a:lnSpc>
                <a:spcPct val="100000"/>
              </a:lnSpc>
              <a:spcBef>
                <a:spcPts val="95"/>
              </a:spcBef>
            </a:pPr>
            <a:r>
              <a:rPr dirty="0" sz="2800">
                <a:latin typeface="Times New Roman"/>
                <a:cs typeface="Times New Roman"/>
              </a:rPr>
              <a:t>3.5GH</a:t>
            </a:r>
            <a:r>
              <a:rPr dirty="0" b="0">
                <a:latin typeface="Times New Roman"/>
                <a:cs typeface="Times New Roman"/>
              </a:rPr>
              <a:t>z</a:t>
            </a:r>
            <a:r>
              <a:rPr dirty="0" spc="-140" b="0">
                <a:latin typeface="Times New Roman"/>
                <a:cs typeface="Times New Roman"/>
              </a:rPr>
              <a:t> </a:t>
            </a:r>
            <a:r>
              <a:rPr dirty="0" sz="2800"/>
              <a:t>与</a:t>
            </a:r>
            <a:r>
              <a:rPr dirty="0" sz="2800">
                <a:latin typeface="Times New Roman"/>
                <a:cs typeface="Times New Roman"/>
              </a:rPr>
              <a:t>2.1</a:t>
            </a:r>
            <a:r>
              <a:rPr dirty="0" sz="2800" spc="-40">
                <a:latin typeface="Times New Roman"/>
                <a:cs typeface="Times New Roman"/>
              </a:rPr>
              <a:t> </a:t>
            </a:r>
            <a:r>
              <a:rPr dirty="0" sz="2800">
                <a:latin typeface="Times New Roman"/>
                <a:cs typeface="Times New Roman"/>
              </a:rPr>
              <a:t>GH</a:t>
            </a:r>
            <a:r>
              <a:rPr dirty="0" b="0">
                <a:latin typeface="Times New Roman"/>
                <a:cs typeface="Times New Roman"/>
              </a:rPr>
              <a:t>z</a:t>
            </a:r>
            <a:r>
              <a:rPr dirty="0" spc="-130" b="0">
                <a:latin typeface="Times New Roman"/>
                <a:cs typeface="Times New Roman"/>
              </a:rPr>
              <a:t> </a:t>
            </a:r>
            <a:r>
              <a:rPr dirty="0" sz="2800">
                <a:latin typeface="Times New Roman"/>
                <a:cs typeface="Times New Roman"/>
              </a:rPr>
              <a:t>NR</a:t>
            </a:r>
            <a:r>
              <a:rPr dirty="0" sz="2800" spc="-15">
                <a:latin typeface="Times New Roman"/>
                <a:cs typeface="Times New Roman"/>
              </a:rPr>
              <a:t> </a:t>
            </a:r>
            <a:r>
              <a:rPr dirty="0" sz="2800">
                <a:latin typeface="Times New Roman"/>
                <a:cs typeface="Times New Roman"/>
              </a:rPr>
              <a:t>5G</a:t>
            </a:r>
            <a:r>
              <a:rPr dirty="0" sz="2800" spc="-35">
                <a:latin typeface="Times New Roman"/>
                <a:cs typeface="Times New Roman"/>
              </a:rPr>
              <a:t> </a:t>
            </a:r>
            <a:r>
              <a:rPr dirty="0" sz="2800">
                <a:latin typeface="Times New Roman"/>
                <a:cs typeface="Times New Roman"/>
              </a:rPr>
              <a:t>P</a:t>
            </a:r>
            <a:r>
              <a:rPr dirty="0" b="0">
                <a:latin typeface="Times New Roman"/>
                <a:cs typeface="Times New Roman"/>
              </a:rPr>
              <a:t>ico</a:t>
            </a:r>
            <a:r>
              <a:rPr dirty="0" spc="-120" b="0">
                <a:latin typeface="Times New Roman"/>
                <a:cs typeface="Times New Roman"/>
              </a:rPr>
              <a:t> </a:t>
            </a:r>
            <a:r>
              <a:rPr dirty="0" sz="2800" spc="-10"/>
              <a:t>覆盖能力分析</a:t>
            </a:r>
            <a:endParaRPr sz="2800">
              <a:latin typeface="Times New Roman"/>
              <a:cs typeface="Times New Roman"/>
            </a:endParaRPr>
          </a:p>
        </p:txBody>
      </p:sp>
      <p:sp>
        <p:nvSpPr>
          <p:cNvPr id="3" name="object 3" descr=""/>
          <p:cNvSpPr txBox="1"/>
          <p:nvPr/>
        </p:nvSpPr>
        <p:spPr>
          <a:xfrm>
            <a:off x="231140" y="4180585"/>
            <a:ext cx="8540115" cy="683895"/>
          </a:xfrm>
          <a:prstGeom prst="rect">
            <a:avLst/>
          </a:prstGeom>
        </p:spPr>
        <p:txBody>
          <a:bodyPr wrap="square" lIns="0" tIns="48895" rIns="0" bIns="0" rtlCol="0" vert="horz">
            <a:spAutoFit/>
          </a:bodyPr>
          <a:lstStyle/>
          <a:p>
            <a:pPr marL="12700">
              <a:lnSpc>
                <a:spcPct val="100000"/>
              </a:lnSpc>
              <a:spcBef>
                <a:spcPts val="385"/>
              </a:spcBef>
            </a:pPr>
            <a:r>
              <a:rPr dirty="0" sz="1200" spc="-10" b="1">
                <a:latin typeface="Microsoft YaHei"/>
                <a:cs typeface="Microsoft YaHei"/>
              </a:rPr>
              <a:t>3.5GPico</a:t>
            </a:r>
            <a:r>
              <a:rPr dirty="0" sz="1200" b="1">
                <a:latin typeface="Microsoft YaHei"/>
                <a:cs typeface="Microsoft YaHei"/>
              </a:rPr>
              <a:t>可满足与4G</a:t>
            </a:r>
            <a:r>
              <a:rPr dirty="0" sz="1200" spc="35" b="1">
                <a:latin typeface="Microsoft YaHei"/>
                <a:cs typeface="Microsoft YaHei"/>
              </a:rPr>
              <a:t> </a:t>
            </a:r>
            <a:r>
              <a:rPr dirty="0" sz="1200" spc="-10" b="1">
                <a:latin typeface="Microsoft YaHei"/>
                <a:cs typeface="Microsoft YaHei"/>
              </a:rPr>
              <a:t>2.1GHz共点位部署</a:t>
            </a:r>
            <a:endParaRPr sz="1200">
              <a:latin typeface="Microsoft YaHei"/>
              <a:cs typeface="Microsoft YaHei"/>
            </a:endParaRPr>
          </a:p>
          <a:p>
            <a:pPr marL="12700" marR="5080">
              <a:lnSpc>
                <a:spcPct val="120000"/>
              </a:lnSpc>
            </a:pPr>
            <a:r>
              <a:rPr dirty="0" sz="1200">
                <a:latin typeface="Microsoft YaHei"/>
                <a:cs typeface="Microsoft YaHei"/>
              </a:rPr>
              <a:t>3.5GHz</a:t>
            </a:r>
            <a:r>
              <a:rPr dirty="0" sz="1200" spc="-10">
                <a:latin typeface="Microsoft YaHei"/>
                <a:cs typeface="Microsoft YaHei"/>
              </a:rPr>
              <a:t> </a:t>
            </a:r>
            <a:r>
              <a:rPr dirty="0" sz="1200">
                <a:latin typeface="Microsoft YaHei"/>
                <a:cs typeface="Microsoft YaHei"/>
              </a:rPr>
              <a:t>NR </a:t>
            </a:r>
            <a:r>
              <a:rPr dirty="0" sz="1200" spc="-10">
                <a:latin typeface="Microsoft YaHei"/>
                <a:cs typeface="Microsoft YaHei"/>
              </a:rPr>
              <a:t>4T4R，4*250mW</a:t>
            </a:r>
            <a:r>
              <a:rPr dirty="0" sz="1200">
                <a:latin typeface="Microsoft YaHei"/>
                <a:cs typeface="Microsoft YaHei"/>
              </a:rPr>
              <a:t>发射功率配置下的</a:t>
            </a:r>
            <a:r>
              <a:rPr dirty="0" sz="1200" spc="-10">
                <a:latin typeface="Microsoft YaHei"/>
                <a:cs typeface="Microsoft YaHei"/>
              </a:rPr>
              <a:t>Pico</a:t>
            </a:r>
            <a:r>
              <a:rPr dirty="0" sz="1200" spc="-5">
                <a:latin typeface="Microsoft YaHei"/>
                <a:cs typeface="Microsoft YaHei"/>
              </a:rPr>
              <a:t>，按</a:t>
            </a:r>
            <a:r>
              <a:rPr dirty="0" sz="1200">
                <a:latin typeface="Microsoft YaHei"/>
                <a:cs typeface="Microsoft YaHei"/>
              </a:rPr>
              <a:t>DL = </a:t>
            </a:r>
            <a:r>
              <a:rPr dirty="0" sz="1200" spc="-10">
                <a:latin typeface="Microsoft YaHei"/>
                <a:cs typeface="Microsoft YaHei"/>
              </a:rPr>
              <a:t>100Mbps</a:t>
            </a:r>
            <a:r>
              <a:rPr dirty="0" sz="1200">
                <a:latin typeface="Microsoft YaHei"/>
                <a:cs typeface="Microsoft YaHei"/>
              </a:rPr>
              <a:t>为边缘点规划时，覆盖距离略好于</a:t>
            </a:r>
            <a:r>
              <a:rPr dirty="0" sz="1200" spc="-30">
                <a:latin typeface="Microsoft YaHei"/>
                <a:cs typeface="Microsoft YaHei"/>
              </a:rPr>
              <a:t>LTE-</a:t>
            </a:r>
            <a:r>
              <a:rPr dirty="0" sz="1200" spc="-10">
                <a:latin typeface="Microsoft YaHei"/>
                <a:cs typeface="Microsoft YaHei"/>
              </a:rPr>
              <a:t>95规划电平覆</a:t>
            </a:r>
            <a:r>
              <a:rPr dirty="0" sz="1200" spc="-15">
                <a:latin typeface="Microsoft YaHei"/>
                <a:cs typeface="Microsoft YaHei"/>
              </a:rPr>
              <a:t>盖距离。</a:t>
            </a:r>
            <a:endParaRPr sz="1200">
              <a:latin typeface="Microsoft YaHei"/>
              <a:cs typeface="Microsoft YaHei"/>
            </a:endParaRPr>
          </a:p>
        </p:txBody>
      </p:sp>
      <p:graphicFrame>
        <p:nvGraphicFramePr>
          <p:cNvPr id="4" name="object 4" descr=""/>
          <p:cNvGraphicFramePr>
            <a:graphicFrameLocks noGrp="1"/>
          </p:cNvGraphicFramePr>
          <p:nvPr/>
        </p:nvGraphicFramePr>
        <p:xfrm>
          <a:off x="3270250" y="889000"/>
          <a:ext cx="5682615" cy="3261359"/>
        </p:xfrm>
        <a:graphic>
          <a:graphicData uri="http://schemas.openxmlformats.org/drawingml/2006/table">
            <a:tbl>
              <a:tblPr firstRow="1" bandRow="1">
                <a:tableStyleId>{2D5ABB26-0587-4C30-8999-92F81FD0307C}</a:tableStyleId>
              </a:tblPr>
              <a:tblGrid>
                <a:gridCol w="1447800"/>
                <a:gridCol w="1412239"/>
                <a:gridCol w="1405889"/>
                <a:gridCol w="1327150"/>
              </a:tblGrid>
              <a:tr h="194945">
                <a:tc rowSpan="2">
                  <a:txBody>
                    <a:bodyPr/>
                    <a:lstStyle/>
                    <a:p>
                      <a:pPr>
                        <a:lnSpc>
                          <a:spcPct val="100000"/>
                        </a:lnSpc>
                        <a:spcBef>
                          <a:spcPts val="525"/>
                        </a:spcBef>
                      </a:pPr>
                      <a:endParaRPr sz="1000">
                        <a:latin typeface="Times New Roman"/>
                        <a:cs typeface="Times New Roman"/>
                      </a:endParaRPr>
                    </a:p>
                    <a:p>
                      <a:pPr algn="ctr">
                        <a:lnSpc>
                          <a:spcPct val="100000"/>
                        </a:lnSpc>
                      </a:pPr>
                      <a:r>
                        <a:rPr dirty="0" sz="1000" spc="-25">
                          <a:solidFill>
                            <a:srgbClr val="FFFFFF"/>
                          </a:solidFill>
                          <a:latin typeface="SimSun"/>
                          <a:cs typeface="SimSun"/>
                        </a:rPr>
                        <a:t>环境</a:t>
                      </a:r>
                      <a:endParaRPr sz="1000">
                        <a:latin typeface="SimSun"/>
                        <a:cs typeface="SimSun"/>
                      </a:endParaRPr>
                    </a:p>
                  </a:txBody>
                  <a:tcPr marL="0" marR="0" marB="0" marT="66675">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00CC00"/>
                    </a:solidFill>
                  </a:tcPr>
                </a:tc>
                <a:tc gridSpan="3">
                  <a:txBody>
                    <a:bodyPr/>
                    <a:lstStyle/>
                    <a:p>
                      <a:pPr marL="1221740">
                        <a:lnSpc>
                          <a:spcPct val="100000"/>
                        </a:lnSpc>
                        <a:spcBef>
                          <a:spcPts val="120"/>
                        </a:spcBef>
                      </a:pPr>
                      <a:r>
                        <a:rPr dirty="0" sz="1000" spc="-10" b="1">
                          <a:solidFill>
                            <a:srgbClr val="FFFFFF"/>
                          </a:solidFill>
                          <a:latin typeface="Arial"/>
                          <a:cs typeface="Arial"/>
                        </a:rPr>
                        <a:t>pinsite</a:t>
                      </a:r>
                      <a:r>
                        <a:rPr dirty="0" sz="1000" spc="-10">
                          <a:solidFill>
                            <a:srgbClr val="FFFFFF"/>
                          </a:solidFill>
                          <a:latin typeface="SimSun"/>
                          <a:cs typeface="SimSun"/>
                        </a:rPr>
                        <a:t>系统内置天线（</a:t>
                      </a:r>
                      <a:r>
                        <a:rPr dirty="0" sz="1000" spc="-10" b="1">
                          <a:solidFill>
                            <a:srgbClr val="FFFFFF"/>
                          </a:solidFill>
                          <a:latin typeface="Arial"/>
                          <a:cs typeface="Arial"/>
                        </a:rPr>
                        <a:t>2dBi</a:t>
                      </a:r>
                      <a:r>
                        <a:rPr dirty="0" sz="1000" spc="-10">
                          <a:solidFill>
                            <a:srgbClr val="FFFFFF"/>
                          </a:solidFill>
                          <a:latin typeface="SimSun"/>
                          <a:cs typeface="SimSun"/>
                        </a:rPr>
                        <a:t>）</a:t>
                      </a:r>
                      <a:endParaRPr sz="1000">
                        <a:latin typeface="SimSun"/>
                        <a:cs typeface="SimSun"/>
                      </a:endParaRPr>
                    </a:p>
                  </a:txBody>
                  <a:tcPr marL="0" marR="0" marB="0" marT="1524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70C0"/>
                    </a:solidFill>
                  </a:tcPr>
                </a:tc>
                <a:tc hMerge="1">
                  <a:txBody>
                    <a:bodyPr/>
                    <a:lstStyle/>
                    <a:p>
                      <a:pPr/>
                    </a:p>
                  </a:txBody>
                  <a:tcPr marL="0" marR="0" marB="0" marT="0"/>
                </a:tc>
                <a:tc hMerge="1">
                  <a:txBody>
                    <a:bodyPr/>
                    <a:lstStyle/>
                    <a:p>
                      <a:pPr/>
                    </a:p>
                  </a:txBody>
                  <a:tcPr marL="0" marR="0" marB="0" marT="0"/>
                </a:tc>
              </a:tr>
              <a:tr h="394335">
                <a:tc vMerge="1">
                  <a:txBody>
                    <a:bodyPr/>
                    <a:lstStyle/>
                    <a:p>
                      <a:pPr/>
                    </a:p>
                  </a:txBody>
                  <a:tcPr marL="0" marR="0" marB="0" marT="66675">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00CC00"/>
                    </a:solidFill>
                  </a:tcPr>
                </a:tc>
                <a:tc>
                  <a:txBody>
                    <a:bodyPr/>
                    <a:lstStyle/>
                    <a:p>
                      <a:pPr marL="401955" marR="396875" indent="218440">
                        <a:lnSpc>
                          <a:spcPct val="101000"/>
                        </a:lnSpc>
                        <a:spcBef>
                          <a:spcPts val="315"/>
                        </a:spcBef>
                      </a:pPr>
                      <a:r>
                        <a:rPr dirty="0" sz="1000" spc="-25">
                          <a:latin typeface="Arial MT"/>
                          <a:cs typeface="Arial MT"/>
                        </a:rPr>
                        <a:t>5G </a:t>
                      </a:r>
                      <a:r>
                        <a:rPr dirty="0" sz="1000" spc="-10">
                          <a:latin typeface="Arial MT"/>
                          <a:cs typeface="Arial MT"/>
                        </a:rPr>
                        <a:t>DL</a:t>
                      </a:r>
                      <a:r>
                        <a:rPr dirty="0" sz="1000" spc="-10">
                          <a:latin typeface="SimSun"/>
                          <a:cs typeface="SimSun"/>
                        </a:rPr>
                        <a:t>：</a:t>
                      </a:r>
                      <a:r>
                        <a:rPr dirty="0" sz="1000" spc="-10">
                          <a:latin typeface="Arial MT"/>
                          <a:cs typeface="Arial MT"/>
                        </a:rPr>
                        <a:t>100M</a:t>
                      </a:r>
                      <a:endParaRPr sz="1000">
                        <a:latin typeface="Arial MT"/>
                        <a:cs typeface="Arial MT"/>
                      </a:endParaRPr>
                    </a:p>
                  </a:txBody>
                  <a:tcPr marL="0" marR="0" marB="0" marT="40005">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94"/>
                        </a:spcBef>
                      </a:pPr>
                      <a:r>
                        <a:rPr dirty="0" sz="1000">
                          <a:latin typeface="Arial MT"/>
                          <a:cs typeface="Arial MT"/>
                        </a:rPr>
                        <a:t>4G</a:t>
                      </a:r>
                      <a:r>
                        <a:rPr dirty="0" sz="1000" spc="250">
                          <a:latin typeface="Arial MT"/>
                          <a:cs typeface="Arial MT"/>
                        </a:rPr>
                        <a:t> </a:t>
                      </a:r>
                      <a:r>
                        <a:rPr dirty="0" sz="1000" spc="-10">
                          <a:latin typeface="Arial MT"/>
                          <a:cs typeface="Arial MT"/>
                        </a:rPr>
                        <a:t>-</a:t>
                      </a:r>
                      <a:r>
                        <a:rPr dirty="0" sz="1000" spc="-25">
                          <a:latin typeface="Arial MT"/>
                          <a:cs typeface="Arial MT"/>
                        </a:rPr>
                        <a:t>95</a:t>
                      </a:r>
                      <a:endParaRPr sz="1000">
                        <a:latin typeface="Arial MT"/>
                        <a:cs typeface="Arial MT"/>
                      </a:endParaRPr>
                    </a:p>
                  </a:txBody>
                  <a:tcPr marL="0" marR="0" marB="0" marT="11366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1140"/>
                        </a:spcBef>
                      </a:pPr>
                      <a:r>
                        <a:rPr dirty="0" sz="1000">
                          <a:latin typeface="Arial MT"/>
                          <a:cs typeface="Arial MT"/>
                        </a:rPr>
                        <a:t>4G</a:t>
                      </a:r>
                      <a:r>
                        <a:rPr dirty="0" sz="1000" spc="250">
                          <a:latin typeface="Arial MT"/>
                          <a:cs typeface="Arial MT"/>
                        </a:rPr>
                        <a:t> </a:t>
                      </a:r>
                      <a:r>
                        <a:rPr dirty="0" sz="1000" spc="-10">
                          <a:latin typeface="Arial MT"/>
                          <a:cs typeface="Arial MT"/>
                        </a:rPr>
                        <a:t>-</a:t>
                      </a:r>
                      <a:r>
                        <a:rPr dirty="0" sz="1000" spc="-25">
                          <a:latin typeface="Arial MT"/>
                          <a:cs typeface="Arial MT"/>
                        </a:rPr>
                        <a:t>105</a:t>
                      </a:r>
                      <a:endParaRPr sz="1000">
                        <a:latin typeface="Arial MT"/>
                        <a:cs typeface="Arial MT"/>
                      </a:endParaRPr>
                    </a:p>
                  </a:txBody>
                  <a:tcPr marL="0" marR="0" marB="0" marT="14478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r>
              <a:tr h="380365">
                <a:tc>
                  <a:txBody>
                    <a:bodyPr/>
                    <a:lstStyle/>
                    <a:p>
                      <a:pPr marL="67945">
                        <a:lnSpc>
                          <a:spcPct val="100000"/>
                        </a:lnSpc>
                        <a:spcBef>
                          <a:spcPts val="850"/>
                        </a:spcBef>
                      </a:pPr>
                      <a:r>
                        <a:rPr dirty="0" sz="1000">
                          <a:solidFill>
                            <a:srgbClr val="FFFFFF"/>
                          </a:solidFill>
                          <a:latin typeface="SimSun"/>
                          <a:cs typeface="SimSun"/>
                        </a:rPr>
                        <a:t>不穿墙</a:t>
                      </a:r>
                      <a:r>
                        <a:rPr dirty="0" sz="1000" spc="-10">
                          <a:solidFill>
                            <a:srgbClr val="FFFFFF"/>
                          </a:solidFill>
                          <a:latin typeface="SimSun"/>
                          <a:cs typeface="SimSun"/>
                        </a:rPr>
                        <a:t>（</a:t>
                      </a:r>
                      <a:r>
                        <a:rPr dirty="0" sz="1000" spc="-10" b="1">
                          <a:solidFill>
                            <a:srgbClr val="FFFFFF"/>
                          </a:solidFill>
                          <a:latin typeface="Arial"/>
                          <a:cs typeface="Arial"/>
                        </a:rPr>
                        <a:t>0dB</a:t>
                      </a:r>
                      <a:r>
                        <a:rPr dirty="0" sz="1000" spc="-10">
                          <a:solidFill>
                            <a:srgbClr val="FFFFFF"/>
                          </a:solidFill>
                          <a:latin typeface="SimSun"/>
                          <a:cs typeface="SimSun"/>
                        </a:rPr>
                        <a:t>）</a:t>
                      </a:r>
                      <a:r>
                        <a:rPr dirty="0" sz="1000" spc="-10" b="1">
                          <a:solidFill>
                            <a:srgbClr val="FFFFFF"/>
                          </a:solidFill>
                          <a:latin typeface="Arial"/>
                          <a:cs typeface="Arial"/>
                        </a:rPr>
                        <a:t>/0</a:t>
                      </a:r>
                      <a:endParaRPr sz="1000">
                        <a:latin typeface="Arial"/>
                        <a:cs typeface="Arial"/>
                      </a:endParaRPr>
                    </a:p>
                  </a:txBody>
                  <a:tcPr marL="0" marR="0" marB="0" marT="10795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CC00"/>
                    </a:solidFill>
                  </a:tcPr>
                </a:tc>
                <a:tc>
                  <a:txBody>
                    <a:bodyPr/>
                    <a:lstStyle/>
                    <a:p>
                      <a:pPr algn="ctr">
                        <a:lnSpc>
                          <a:spcPct val="100000"/>
                        </a:lnSpc>
                        <a:spcBef>
                          <a:spcPts val="840"/>
                        </a:spcBef>
                      </a:pPr>
                      <a:r>
                        <a:rPr dirty="0" sz="1000" spc="-10">
                          <a:latin typeface="Arial MT"/>
                          <a:cs typeface="Arial MT"/>
                        </a:rPr>
                        <a:t>34.57</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840"/>
                        </a:spcBef>
                      </a:pPr>
                      <a:r>
                        <a:rPr dirty="0" sz="1000" spc="-10">
                          <a:latin typeface="Arial MT"/>
                          <a:cs typeface="Arial MT"/>
                        </a:rPr>
                        <a:t>32.77</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840"/>
                        </a:spcBef>
                      </a:pPr>
                      <a:r>
                        <a:rPr dirty="0" sz="1000" spc="-10">
                          <a:latin typeface="Arial MT"/>
                          <a:cs typeface="Arial MT"/>
                        </a:rPr>
                        <a:t>67.29</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94945">
                <a:tc>
                  <a:txBody>
                    <a:bodyPr/>
                    <a:lstStyle/>
                    <a:p>
                      <a:pPr marL="67945">
                        <a:lnSpc>
                          <a:spcPct val="100000"/>
                        </a:lnSpc>
                        <a:spcBef>
                          <a:spcPts val="120"/>
                        </a:spcBef>
                      </a:pPr>
                      <a:r>
                        <a:rPr dirty="0" sz="1000">
                          <a:solidFill>
                            <a:srgbClr val="FFFFFF"/>
                          </a:solidFill>
                          <a:latin typeface="SimSun"/>
                          <a:cs typeface="SimSun"/>
                        </a:rPr>
                        <a:t>隔板</a:t>
                      </a:r>
                      <a:r>
                        <a:rPr dirty="0" sz="1000" spc="-10">
                          <a:solidFill>
                            <a:srgbClr val="FFFFFF"/>
                          </a:solidFill>
                          <a:latin typeface="SimSun"/>
                          <a:cs typeface="SimSun"/>
                        </a:rPr>
                        <a:t>（</a:t>
                      </a:r>
                      <a:r>
                        <a:rPr dirty="0" sz="1000" spc="-10" b="1">
                          <a:solidFill>
                            <a:srgbClr val="FFFFFF"/>
                          </a:solidFill>
                          <a:latin typeface="Arial"/>
                          <a:cs typeface="Arial"/>
                        </a:rPr>
                        <a:t>4dB</a:t>
                      </a:r>
                      <a:r>
                        <a:rPr dirty="0" sz="1000" spc="-10">
                          <a:solidFill>
                            <a:srgbClr val="FFFFFF"/>
                          </a:solidFill>
                          <a:latin typeface="SimSun"/>
                          <a:cs typeface="SimSun"/>
                        </a:rPr>
                        <a:t>）</a:t>
                      </a:r>
                      <a:r>
                        <a:rPr dirty="0" sz="1000" spc="-10" b="1">
                          <a:solidFill>
                            <a:srgbClr val="FFFFFF"/>
                          </a:solidFill>
                          <a:latin typeface="Arial"/>
                          <a:cs typeface="Arial"/>
                        </a:rPr>
                        <a:t>/3</a:t>
                      </a:r>
                      <a:endParaRPr sz="1000">
                        <a:latin typeface="Arial"/>
                        <a:cs typeface="Arial"/>
                      </a:endParaRPr>
                    </a:p>
                  </a:txBody>
                  <a:tcPr marL="0" marR="0" marB="0" marT="152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a:txBody>
                    <a:bodyPr/>
                    <a:lstStyle/>
                    <a:p>
                      <a:pPr algn="ctr">
                        <a:lnSpc>
                          <a:spcPct val="100000"/>
                        </a:lnSpc>
                        <a:spcBef>
                          <a:spcPts val="110"/>
                        </a:spcBef>
                      </a:pPr>
                      <a:r>
                        <a:rPr dirty="0" sz="1000" spc="-20">
                          <a:latin typeface="Arial MT"/>
                          <a:cs typeface="Arial MT"/>
                        </a:rPr>
                        <a:t>25.4</a:t>
                      </a:r>
                      <a:endParaRPr sz="1000">
                        <a:latin typeface="Arial MT"/>
                        <a:cs typeface="Arial MT"/>
                      </a:endParaRPr>
                    </a:p>
                  </a:txBody>
                  <a:tcPr marL="0" marR="0" marB="0" marT="139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110"/>
                        </a:spcBef>
                      </a:pPr>
                      <a:r>
                        <a:rPr dirty="0" sz="1000" spc="-10">
                          <a:latin typeface="Arial MT"/>
                          <a:cs typeface="Arial MT"/>
                        </a:rPr>
                        <a:t>25.44</a:t>
                      </a:r>
                      <a:endParaRPr sz="1000">
                        <a:latin typeface="Arial MT"/>
                        <a:cs typeface="Arial MT"/>
                      </a:endParaRPr>
                    </a:p>
                  </a:txBody>
                  <a:tcPr marL="0" marR="0" marB="0" marT="139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110"/>
                        </a:spcBef>
                      </a:pPr>
                      <a:r>
                        <a:rPr dirty="0" sz="1000" spc="-10">
                          <a:latin typeface="Arial MT"/>
                          <a:cs typeface="Arial MT"/>
                        </a:rPr>
                        <a:t>54.36</a:t>
                      </a:r>
                      <a:endParaRPr sz="1000">
                        <a:latin typeface="Arial MT"/>
                        <a:cs typeface="Arial MT"/>
                      </a:endParaRPr>
                    </a:p>
                  </a:txBody>
                  <a:tcPr marL="0" marR="0" marB="0" marT="139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r h="194945">
                <a:tc>
                  <a:txBody>
                    <a:bodyPr/>
                    <a:lstStyle/>
                    <a:p>
                      <a:pPr marL="67945">
                        <a:lnSpc>
                          <a:spcPct val="100000"/>
                        </a:lnSpc>
                        <a:spcBef>
                          <a:spcPts val="120"/>
                        </a:spcBef>
                      </a:pPr>
                      <a:r>
                        <a:rPr dirty="0" sz="1000">
                          <a:solidFill>
                            <a:srgbClr val="FFFFFF"/>
                          </a:solidFill>
                          <a:latin typeface="SimSun"/>
                          <a:cs typeface="SimSun"/>
                        </a:rPr>
                        <a:t>隔板</a:t>
                      </a:r>
                      <a:r>
                        <a:rPr dirty="0" sz="1000" spc="-10">
                          <a:solidFill>
                            <a:srgbClr val="FFFFFF"/>
                          </a:solidFill>
                          <a:latin typeface="SimSun"/>
                          <a:cs typeface="SimSun"/>
                        </a:rPr>
                        <a:t>（</a:t>
                      </a:r>
                      <a:r>
                        <a:rPr dirty="0" sz="1000" spc="-10" b="1">
                          <a:solidFill>
                            <a:srgbClr val="FFFFFF"/>
                          </a:solidFill>
                          <a:latin typeface="Arial"/>
                          <a:cs typeface="Arial"/>
                        </a:rPr>
                        <a:t>6dB</a:t>
                      </a:r>
                      <a:r>
                        <a:rPr dirty="0" sz="1000" spc="-10">
                          <a:solidFill>
                            <a:srgbClr val="FFFFFF"/>
                          </a:solidFill>
                          <a:latin typeface="SimSun"/>
                          <a:cs typeface="SimSun"/>
                        </a:rPr>
                        <a:t>）</a:t>
                      </a:r>
                      <a:r>
                        <a:rPr dirty="0" sz="1000" spc="-10" b="1">
                          <a:solidFill>
                            <a:srgbClr val="FFFFFF"/>
                          </a:solidFill>
                          <a:latin typeface="Arial"/>
                          <a:cs typeface="Arial"/>
                        </a:rPr>
                        <a:t>/5</a:t>
                      </a:r>
                      <a:endParaRPr sz="1000">
                        <a:latin typeface="Arial"/>
                        <a:cs typeface="Arial"/>
                      </a:endParaRPr>
                    </a:p>
                  </a:txBody>
                  <a:tcPr marL="0" marR="0" marB="0" marT="152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a:txBody>
                    <a:bodyPr/>
                    <a:lstStyle/>
                    <a:p>
                      <a:pPr algn="ctr">
                        <a:lnSpc>
                          <a:spcPct val="100000"/>
                        </a:lnSpc>
                        <a:spcBef>
                          <a:spcPts val="110"/>
                        </a:spcBef>
                      </a:pPr>
                      <a:r>
                        <a:rPr dirty="0" sz="1000" spc="-10">
                          <a:latin typeface="Arial MT"/>
                          <a:cs typeface="Arial MT"/>
                        </a:rPr>
                        <a:t>23.55</a:t>
                      </a:r>
                      <a:endParaRPr sz="1000">
                        <a:latin typeface="Arial MT"/>
                        <a:cs typeface="Arial MT"/>
                      </a:endParaRPr>
                    </a:p>
                  </a:txBody>
                  <a:tcPr marL="0" marR="0" marB="0" marT="139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110"/>
                        </a:spcBef>
                      </a:pPr>
                      <a:r>
                        <a:rPr dirty="0" sz="1000" spc="-10">
                          <a:latin typeface="Arial MT"/>
                          <a:cs typeface="Arial MT"/>
                        </a:rPr>
                        <a:t>23.16</a:t>
                      </a:r>
                      <a:endParaRPr sz="1000">
                        <a:latin typeface="Arial MT"/>
                        <a:cs typeface="Arial MT"/>
                      </a:endParaRPr>
                    </a:p>
                  </a:txBody>
                  <a:tcPr marL="0" marR="0" marB="0" marT="139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110"/>
                        </a:spcBef>
                      </a:pPr>
                      <a:r>
                        <a:rPr dirty="0" sz="1000" spc="-10">
                          <a:latin typeface="Arial MT"/>
                          <a:cs typeface="Arial MT"/>
                        </a:rPr>
                        <a:t>46.96</a:t>
                      </a:r>
                      <a:endParaRPr sz="1000">
                        <a:latin typeface="Arial MT"/>
                        <a:cs typeface="Arial MT"/>
                      </a:endParaRPr>
                    </a:p>
                  </a:txBody>
                  <a:tcPr marL="0" marR="0" marB="0" marT="1397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380365">
                <a:tc>
                  <a:txBody>
                    <a:bodyPr/>
                    <a:lstStyle/>
                    <a:p>
                      <a:pPr marL="67945">
                        <a:lnSpc>
                          <a:spcPct val="100000"/>
                        </a:lnSpc>
                        <a:spcBef>
                          <a:spcPts val="850"/>
                        </a:spcBef>
                      </a:pPr>
                      <a:r>
                        <a:rPr dirty="0" sz="1000">
                          <a:solidFill>
                            <a:srgbClr val="FFFFFF"/>
                          </a:solidFill>
                          <a:latin typeface="SimSun"/>
                          <a:cs typeface="SimSun"/>
                        </a:rPr>
                        <a:t>隔断墙</a:t>
                      </a:r>
                      <a:r>
                        <a:rPr dirty="0" sz="1000" spc="-10">
                          <a:solidFill>
                            <a:srgbClr val="FFFFFF"/>
                          </a:solidFill>
                          <a:latin typeface="SimSun"/>
                          <a:cs typeface="SimSun"/>
                        </a:rPr>
                        <a:t>（</a:t>
                      </a:r>
                      <a:r>
                        <a:rPr dirty="0" sz="1000" spc="-10" b="1">
                          <a:solidFill>
                            <a:srgbClr val="FFFFFF"/>
                          </a:solidFill>
                          <a:latin typeface="Arial"/>
                          <a:cs typeface="Arial"/>
                        </a:rPr>
                        <a:t>9dB</a:t>
                      </a:r>
                      <a:r>
                        <a:rPr dirty="0" sz="1000" spc="-10">
                          <a:solidFill>
                            <a:srgbClr val="FFFFFF"/>
                          </a:solidFill>
                          <a:latin typeface="SimSun"/>
                          <a:cs typeface="SimSun"/>
                        </a:rPr>
                        <a:t>）</a:t>
                      </a:r>
                      <a:r>
                        <a:rPr dirty="0" sz="1000" spc="-10" b="1">
                          <a:solidFill>
                            <a:srgbClr val="FFFFFF"/>
                          </a:solidFill>
                          <a:latin typeface="Arial"/>
                          <a:cs typeface="Arial"/>
                        </a:rPr>
                        <a:t>/8</a:t>
                      </a:r>
                      <a:endParaRPr sz="1000">
                        <a:latin typeface="Arial"/>
                        <a:cs typeface="Arial"/>
                      </a:endParaRPr>
                    </a:p>
                  </a:txBody>
                  <a:tcPr marL="0" marR="0" marB="0" marT="10795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a:txBody>
                    <a:bodyPr/>
                    <a:lstStyle/>
                    <a:p>
                      <a:pPr algn="ctr">
                        <a:lnSpc>
                          <a:spcPct val="100000"/>
                        </a:lnSpc>
                        <a:spcBef>
                          <a:spcPts val="840"/>
                        </a:spcBef>
                      </a:pPr>
                      <a:r>
                        <a:rPr dirty="0" sz="1000" spc="-10">
                          <a:latin typeface="Arial MT"/>
                          <a:cs typeface="Arial MT"/>
                        </a:rPr>
                        <a:t>17.32</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40"/>
                        </a:spcBef>
                      </a:pPr>
                      <a:r>
                        <a:rPr dirty="0" sz="1000" spc="-10">
                          <a:latin typeface="Arial MT"/>
                          <a:cs typeface="Arial MT"/>
                        </a:rPr>
                        <a:t>19.05</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40"/>
                        </a:spcBef>
                      </a:pPr>
                      <a:r>
                        <a:rPr dirty="0" sz="1000" spc="-10">
                          <a:latin typeface="Arial MT"/>
                          <a:cs typeface="Arial MT"/>
                        </a:rPr>
                        <a:t>37.47</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r h="380365">
                <a:tc>
                  <a:txBody>
                    <a:bodyPr/>
                    <a:lstStyle/>
                    <a:p>
                      <a:pPr marL="67945">
                        <a:lnSpc>
                          <a:spcPct val="100000"/>
                        </a:lnSpc>
                        <a:spcBef>
                          <a:spcPts val="850"/>
                        </a:spcBef>
                      </a:pPr>
                      <a:r>
                        <a:rPr dirty="0" sz="1000">
                          <a:solidFill>
                            <a:srgbClr val="FFFFFF"/>
                          </a:solidFill>
                          <a:latin typeface="SimSun"/>
                          <a:cs typeface="SimSun"/>
                        </a:rPr>
                        <a:t>隔断墙</a:t>
                      </a:r>
                      <a:r>
                        <a:rPr dirty="0" sz="1000" spc="-10">
                          <a:solidFill>
                            <a:srgbClr val="FFFFFF"/>
                          </a:solidFill>
                          <a:latin typeface="SimSun"/>
                          <a:cs typeface="SimSun"/>
                        </a:rPr>
                        <a:t>（</a:t>
                      </a:r>
                      <a:r>
                        <a:rPr dirty="0" sz="1000" spc="-10" b="1">
                          <a:solidFill>
                            <a:srgbClr val="FFFFFF"/>
                          </a:solidFill>
                          <a:latin typeface="Arial"/>
                          <a:cs typeface="Arial"/>
                        </a:rPr>
                        <a:t>12dB</a:t>
                      </a:r>
                      <a:r>
                        <a:rPr dirty="0" sz="1000" spc="-10">
                          <a:solidFill>
                            <a:srgbClr val="FFFFFF"/>
                          </a:solidFill>
                          <a:latin typeface="SimSun"/>
                          <a:cs typeface="SimSun"/>
                        </a:rPr>
                        <a:t>）</a:t>
                      </a:r>
                      <a:r>
                        <a:rPr dirty="0" sz="1000" spc="-10" b="1">
                          <a:solidFill>
                            <a:srgbClr val="FFFFFF"/>
                          </a:solidFill>
                          <a:latin typeface="Arial"/>
                          <a:cs typeface="Arial"/>
                        </a:rPr>
                        <a:t>/10</a:t>
                      </a:r>
                      <a:endParaRPr sz="1000">
                        <a:latin typeface="Arial"/>
                        <a:cs typeface="Arial"/>
                      </a:endParaRPr>
                    </a:p>
                  </a:txBody>
                  <a:tcPr marL="0" marR="0" marB="0" marT="10795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a:txBody>
                    <a:bodyPr/>
                    <a:lstStyle/>
                    <a:p>
                      <a:pPr algn="ctr">
                        <a:lnSpc>
                          <a:spcPct val="100000"/>
                        </a:lnSpc>
                        <a:spcBef>
                          <a:spcPts val="840"/>
                        </a:spcBef>
                      </a:pPr>
                      <a:r>
                        <a:rPr dirty="0" sz="1000" spc="-10">
                          <a:latin typeface="Arial MT"/>
                          <a:cs typeface="Arial MT"/>
                        </a:rPr>
                        <a:t>13.76</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840"/>
                        </a:spcBef>
                      </a:pPr>
                      <a:r>
                        <a:rPr dirty="0" sz="1000" spc="-10">
                          <a:latin typeface="Arial MT"/>
                          <a:cs typeface="Arial MT"/>
                        </a:rPr>
                        <a:t>16.28</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840"/>
                        </a:spcBef>
                      </a:pPr>
                      <a:r>
                        <a:rPr dirty="0" sz="1000" spc="-10">
                          <a:latin typeface="Arial MT"/>
                          <a:cs typeface="Arial MT"/>
                        </a:rPr>
                        <a:t>32.77</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380365">
                <a:tc>
                  <a:txBody>
                    <a:bodyPr/>
                    <a:lstStyle/>
                    <a:p>
                      <a:pPr marL="67945">
                        <a:lnSpc>
                          <a:spcPct val="100000"/>
                        </a:lnSpc>
                        <a:spcBef>
                          <a:spcPts val="850"/>
                        </a:spcBef>
                      </a:pPr>
                      <a:r>
                        <a:rPr dirty="0" sz="1000">
                          <a:solidFill>
                            <a:srgbClr val="FFFFFF"/>
                          </a:solidFill>
                          <a:latin typeface="SimSun"/>
                          <a:cs typeface="SimSun"/>
                        </a:rPr>
                        <a:t>隔断墙</a:t>
                      </a:r>
                      <a:r>
                        <a:rPr dirty="0" sz="1000" spc="-10">
                          <a:solidFill>
                            <a:srgbClr val="FFFFFF"/>
                          </a:solidFill>
                          <a:latin typeface="SimSun"/>
                          <a:cs typeface="SimSun"/>
                        </a:rPr>
                        <a:t>（</a:t>
                      </a:r>
                      <a:r>
                        <a:rPr dirty="0" sz="1000" spc="-10" b="1">
                          <a:solidFill>
                            <a:srgbClr val="FFFFFF"/>
                          </a:solidFill>
                          <a:latin typeface="Arial"/>
                          <a:cs typeface="Arial"/>
                        </a:rPr>
                        <a:t>15dB</a:t>
                      </a:r>
                      <a:r>
                        <a:rPr dirty="0" sz="1000" spc="-10">
                          <a:solidFill>
                            <a:srgbClr val="FFFFFF"/>
                          </a:solidFill>
                          <a:latin typeface="SimSun"/>
                          <a:cs typeface="SimSun"/>
                        </a:rPr>
                        <a:t>）</a:t>
                      </a:r>
                      <a:r>
                        <a:rPr dirty="0" sz="1000" spc="-10" b="1">
                          <a:solidFill>
                            <a:srgbClr val="FFFFFF"/>
                          </a:solidFill>
                          <a:latin typeface="Arial"/>
                          <a:cs typeface="Arial"/>
                        </a:rPr>
                        <a:t>/13</a:t>
                      </a:r>
                      <a:endParaRPr sz="1000">
                        <a:latin typeface="Arial"/>
                        <a:cs typeface="Arial"/>
                      </a:endParaRPr>
                    </a:p>
                  </a:txBody>
                  <a:tcPr marL="0" marR="0" marB="0" marT="10795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a:txBody>
                    <a:bodyPr/>
                    <a:lstStyle/>
                    <a:p>
                      <a:pPr algn="ctr">
                        <a:lnSpc>
                          <a:spcPct val="100000"/>
                        </a:lnSpc>
                        <a:spcBef>
                          <a:spcPts val="840"/>
                        </a:spcBef>
                      </a:pPr>
                      <a:r>
                        <a:rPr dirty="0" sz="1000" spc="-10">
                          <a:latin typeface="Arial MT"/>
                          <a:cs typeface="Arial MT"/>
                        </a:rPr>
                        <a:t>10.93</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40"/>
                        </a:spcBef>
                      </a:pPr>
                      <a:r>
                        <a:rPr dirty="0" sz="1000" spc="-10">
                          <a:latin typeface="Arial MT"/>
                          <a:cs typeface="Arial MT"/>
                        </a:rPr>
                        <a:t>13.34</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40"/>
                        </a:spcBef>
                      </a:pPr>
                      <a:r>
                        <a:rPr dirty="0" sz="1000" spc="-10">
                          <a:latin typeface="Arial MT"/>
                          <a:cs typeface="Arial MT"/>
                        </a:rPr>
                        <a:t>26.24</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r h="380365">
                <a:tc>
                  <a:txBody>
                    <a:bodyPr/>
                    <a:lstStyle/>
                    <a:p>
                      <a:pPr marL="67945">
                        <a:lnSpc>
                          <a:spcPct val="100000"/>
                        </a:lnSpc>
                        <a:spcBef>
                          <a:spcPts val="850"/>
                        </a:spcBef>
                      </a:pPr>
                      <a:r>
                        <a:rPr dirty="0" sz="1000">
                          <a:solidFill>
                            <a:srgbClr val="FFFFFF"/>
                          </a:solidFill>
                          <a:latin typeface="SimSun"/>
                          <a:cs typeface="SimSun"/>
                        </a:rPr>
                        <a:t>非承重墙</a:t>
                      </a:r>
                      <a:r>
                        <a:rPr dirty="0" sz="1000" spc="-10">
                          <a:solidFill>
                            <a:srgbClr val="FFFFFF"/>
                          </a:solidFill>
                          <a:latin typeface="SimSun"/>
                          <a:cs typeface="SimSun"/>
                        </a:rPr>
                        <a:t>（</a:t>
                      </a:r>
                      <a:r>
                        <a:rPr dirty="0" sz="1000" spc="-10" b="1">
                          <a:solidFill>
                            <a:srgbClr val="FFFFFF"/>
                          </a:solidFill>
                          <a:latin typeface="Arial"/>
                          <a:cs typeface="Arial"/>
                        </a:rPr>
                        <a:t>18dB</a:t>
                      </a:r>
                      <a:r>
                        <a:rPr dirty="0" sz="1000" spc="-10">
                          <a:solidFill>
                            <a:srgbClr val="FFFFFF"/>
                          </a:solidFill>
                          <a:latin typeface="SimSun"/>
                          <a:cs typeface="SimSun"/>
                        </a:rPr>
                        <a:t>）</a:t>
                      </a:r>
                      <a:r>
                        <a:rPr dirty="0" sz="1000" spc="-10" b="1">
                          <a:solidFill>
                            <a:srgbClr val="FFFFFF"/>
                          </a:solidFill>
                          <a:latin typeface="Arial"/>
                          <a:cs typeface="Arial"/>
                        </a:rPr>
                        <a:t>/15</a:t>
                      </a:r>
                      <a:endParaRPr sz="1000">
                        <a:latin typeface="Arial"/>
                        <a:cs typeface="Arial"/>
                      </a:endParaRPr>
                    </a:p>
                  </a:txBody>
                  <a:tcPr marL="0" marR="0" marB="0" marT="10795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a:txBody>
                    <a:bodyPr/>
                    <a:lstStyle/>
                    <a:p>
                      <a:pPr algn="ctr">
                        <a:lnSpc>
                          <a:spcPct val="100000"/>
                        </a:lnSpc>
                        <a:spcBef>
                          <a:spcPts val="840"/>
                        </a:spcBef>
                      </a:pPr>
                      <a:r>
                        <a:rPr dirty="0" sz="1000" spc="-20">
                          <a:latin typeface="Arial MT"/>
                          <a:cs typeface="Arial MT"/>
                        </a:rPr>
                        <a:t>8.68</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840"/>
                        </a:spcBef>
                      </a:pPr>
                      <a:r>
                        <a:rPr dirty="0" sz="1000" spc="-10">
                          <a:latin typeface="Arial MT"/>
                          <a:cs typeface="Arial MT"/>
                        </a:rPr>
                        <a:t>11.23</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840"/>
                        </a:spcBef>
                      </a:pPr>
                      <a:r>
                        <a:rPr dirty="0" sz="1000" spc="-10">
                          <a:latin typeface="Arial MT"/>
                          <a:cs typeface="Arial MT"/>
                        </a:rPr>
                        <a:t>22.26</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380365">
                <a:tc>
                  <a:txBody>
                    <a:bodyPr/>
                    <a:lstStyle/>
                    <a:p>
                      <a:pPr marL="67945">
                        <a:lnSpc>
                          <a:spcPct val="100000"/>
                        </a:lnSpc>
                        <a:spcBef>
                          <a:spcPts val="850"/>
                        </a:spcBef>
                      </a:pPr>
                      <a:r>
                        <a:rPr dirty="0" sz="1000">
                          <a:solidFill>
                            <a:srgbClr val="FFFFFF"/>
                          </a:solidFill>
                          <a:latin typeface="SimSun"/>
                          <a:cs typeface="SimSun"/>
                        </a:rPr>
                        <a:t>承重墙</a:t>
                      </a:r>
                      <a:r>
                        <a:rPr dirty="0" sz="1000" spc="-10">
                          <a:solidFill>
                            <a:srgbClr val="FFFFFF"/>
                          </a:solidFill>
                          <a:latin typeface="SimSun"/>
                          <a:cs typeface="SimSun"/>
                        </a:rPr>
                        <a:t>（</a:t>
                      </a:r>
                      <a:r>
                        <a:rPr dirty="0" sz="1000" spc="-10" b="1">
                          <a:solidFill>
                            <a:srgbClr val="FFFFFF"/>
                          </a:solidFill>
                          <a:latin typeface="Arial"/>
                          <a:cs typeface="Arial"/>
                        </a:rPr>
                        <a:t>25dB</a:t>
                      </a:r>
                      <a:r>
                        <a:rPr dirty="0" sz="1000" spc="-10">
                          <a:solidFill>
                            <a:srgbClr val="FFFFFF"/>
                          </a:solidFill>
                          <a:latin typeface="SimSun"/>
                          <a:cs typeface="SimSun"/>
                        </a:rPr>
                        <a:t>）</a:t>
                      </a:r>
                      <a:r>
                        <a:rPr dirty="0" sz="1000" spc="-10" b="1">
                          <a:solidFill>
                            <a:srgbClr val="FFFFFF"/>
                          </a:solidFill>
                          <a:latin typeface="Arial"/>
                          <a:cs typeface="Arial"/>
                        </a:rPr>
                        <a:t>/20</a:t>
                      </a:r>
                      <a:endParaRPr sz="1000">
                        <a:latin typeface="Arial"/>
                        <a:cs typeface="Arial"/>
                      </a:endParaRPr>
                    </a:p>
                  </a:txBody>
                  <a:tcPr marL="0" marR="0" marB="0" marT="10795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a:txBody>
                    <a:bodyPr/>
                    <a:lstStyle/>
                    <a:p>
                      <a:pPr algn="ctr">
                        <a:lnSpc>
                          <a:spcPct val="100000"/>
                        </a:lnSpc>
                        <a:spcBef>
                          <a:spcPts val="840"/>
                        </a:spcBef>
                      </a:pPr>
                      <a:r>
                        <a:rPr dirty="0" sz="1000" spc="-20">
                          <a:latin typeface="Arial MT"/>
                          <a:cs typeface="Arial MT"/>
                        </a:rPr>
                        <a:t>5.07</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40"/>
                        </a:spcBef>
                      </a:pPr>
                      <a:r>
                        <a:rPr dirty="0" sz="1000" spc="-20">
                          <a:latin typeface="Arial MT"/>
                          <a:cs typeface="Arial MT"/>
                        </a:rPr>
                        <a:t>7.93</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40"/>
                        </a:spcBef>
                      </a:pPr>
                      <a:r>
                        <a:rPr dirty="0" sz="1000" spc="-10">
                          <a:latin typeface="Arial MT"/>
                          <a:cs typeface="Arial MT"/>
                        </a:rPr>
                        <a:t>16.28</a:t>
                      </a:r>
                      <a:endParaRPr sz="1000">
                        <a:latin typeface="Arial MT"/>
                        <a:cs typeface="Arial MT"/>
                      </a:endParaRPr>
                    </a:p>
                  </a:txBody>
                  <a:tcPr marL="0" marR="0" marB="0" marT="1066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bl>
          </a:graphicData>
        </a:graphic>
      </p:graphicFrame>
      <p:graphicFrame>
        <p:nvGraphicFramePr>
          <p:cNvPr id="5" name="object 5" descr=""/>
          <p:cNvGraphicFramePr>
            <a:graphicFrameLocks noGrp="1"/>
          </p:cNvGraphicFramePr>
          <p:nvPr/>
        </p:nvGraphicFramePr>
        <p:xfrm>
          <a:off x="146050" y="965200"/>
          <a:ext cx="3077210" cy="3166110"/>
        </p:xfrm>
        <a:graphic>
          <a:graphicData uri="http://schemas.openxmlformats.org/drawingml/2006/table">
            <a:tbl>
              <a:tblPr firstRow="1" bandRow="1">
                <a:tableStyleId>{2D5ABB26-0587-4C30-8999-92F81FD0307C}</a:tableStyleId>
              </a:tblPr>
              <a:tblGrid>
                <a:gridCol w="956944"/>
                <a:gridCol w="2030730"/>
              </a:tblGrid>
              <a:tr h="395605">
                <a:tc gridSpan="2">
                  <a:txBody>
                    <a:bodyPr/>
                    <a:lstStyle/>
                    <a:p>
                      <a:pPr marL="67945">
                        <a:lnSpc>
                          <a:spcPct val="100000"/>
                        </a:lnSpc>
                        <a:spcBef>
                          <a:spcPts val="855"/>
                        </a:spcBef>
                      </a:pPr>
                      <a:r>
                        <a:rPr dirty="0" sz="1100" spc="-30" b="1">
                          <a:latin typeface="Microsoft YaHei"/>
                          <a:cs typeface="Microsoft YaHei"/>
                        </a:rPr>
                        <a:t>仿真条件</a:t>
                      </a:r>
                      <a:endParaRPr sz="1100">
                        <a:latin typeface="Microsoft YaHei"/>
                        <a:cs typeface="Microsoft YaHei"/>
                      </a:endParaRPr>
                    </a:p>
                  </a:txBody>
                  <a:tcPr marL="0" marR="0" marB="0" marT="10858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hMerge="1">
                  <a:txBody>
                    <a:bodyPr/>
                    <a:lstStyle/>
                    <a:p>
                      <a:pPr/>
                    </a:p>
                  </a:txBody>
                  <a:tcPr marL="0" marR="0" marB="0" marT="0"/>
                </a:tc>
              </a:tr>
              <a:tr h="395605">
                <a:tc>
                  <a:txBody>
                    <a:bodyPr/>
                    <a:lstStyle/>
                    <a:p>
                      <a:pPr marL="67945">
                        <a:lnSpc>
                          <a:spcPct val="100000"/>
                        </a:lnSpc>
                        <a:spcBef>
                          <a:spcPts val="855"/>
                        </a:spcBef>
                      </a:pPr>
                      <a:r>
                        <a:rPr dirty="0" sz="1100" spc="-30" b="1">
                          <a:latin typeface="Microsoft YaHei"/>
                          <a:cs typeface="Microsoft YaHei"/>
                        </a:rPr>
                        <a:t>发射功率</a:t>
                      </a:r>
                      <a:endParaRPr sz="1100">
                        <a:latin typeface="Microsoft YaHei"/>
                        <a:cs typeface="Microsoft YaHei"/>
                      </a:endParaRPr>
                    </a:p>
                  </a:txBody>
                  <a:tcPr marL="0" marR="0" marB="0" marT="10858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c>
                  <a:txBody>
                    <a:bodyPr/>
                    <a:lstStyle/>
                    <a:p>
                      <a:pPr marL="68580">
                        <a:lnSpc>
                          <a:spcPct val="100000"/>
                        </a:lnSpc>
                        <a:spcBef>
                          <a:spcPts val="855"/>
                        </a:spcBef>
                      </a:pPr>
                      <a:r>
                        <a:rPr dirty="0" sz="1100" spc="-10">
                          <a:latin typeface="Microsoft YaHei"/>
                          <a:cs typeface="Microsoft YaHei"/>
                        </a:rPr>
                        <a:t>4*250mW</a:t>
                      </a:r>
                      <a:endParaRPr sz="1100">
                        <a:latin typeface="Microsoft YaHei"/>
                        <a:cs typeface="Microsoft YaHei"/>
                      </a:endParaRPr>
                    </a:p>
                  </a:txBody>
                  <a:tcPr marL="0" marR="0" marB="0" marT="10858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r>
              <a:tr h="395605">
                <a:tc>
                  <a:txBody>
                    <a:bodyPr/>
                    <a:lstStyle/>
                    <a:p>
                      <a:pPr marL="68580">
                        <a:lnSpc>
                          <a:spcPct val="100000"/>
                        </a:lnSpc>
                        <a:spcBef>
                          <a:spcPts val="855"/>
                        </a:spcBef>
                      </a:pPr>
                      <a:r>
                        <a:rPr dirty="0" sz="1100" spc="-35" b="1">
                          <a:latin typeface="Microsoft YaHei"/>
                          <a:cs typeface="Microsoft YaHei"/>
                        </a:rPr>
                        <a:t>频点</a:t>
                      </a:r>
                      <a:endParaRPr sz="1100">
                        <a:latin typeface="Microsoft YaHei"/>
                        <a:cs typeface="Microsoft YaHei"/>
                      </a:endParaRPr>
                    </a:p>
                  </a:txBody>
                  <a:tcPr marL="0" marR="0" marB="0" marT="10858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marL="68580">
                        <a:lnSpc>
                          <a:spcPct val="100000"/>
                        </a:lnSpc>
                        <a:spcBef>
                          <a:spcPts val="855"/>
                        </a:spcBef>
                      </a:pPr>
                      <a:r>
                        <a:rPr dirty="0" sz="1100" spc="-10">
                          <a:latin typeface="Microsoft YaHei"/>
                          <a:cs typeface="Microsoft YaHei"/>
                        </a:rPr>
                        <a:t>3500MHz</a:t>
                      </a:r>
                      <a:endParaRPr sz="1100">
                        <a:latin typeface="Microsoft YaHei"/>
                        <a:cs typeface="Microsoft YaHei"/>
                      </a:endParaRPr>
                    </a:p>
                  </a:txBody>
                  <a:tcPr marL="0" marR="0" marB="0" marT="10858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r>
              <a:tr h="791845">
                <a:tc>
                  <a:txBody>
                    <a:bodyPr/>
                    <a:lstStyle/>
                    <a:p>
                      <a:pPr>
                        <a:lnSpc>
                          <a:spcPct val="100000"/>
                        </a:lnSpc>
                        <a:spcBef>
                          <a:spcPts val="484"/>
                        </a:spcBef>
                      </a:pPr>
                      <a:endParaRPr sz="1100">
                        <a:latin typeface="Times New Roman"/>
                        <a:cs typeface="Times New Roman"/>
                      </a:endParaRPr>
                    </a:p>
                    <a:p>
                      <a:pPr marL="68580" marR="60960">
                        <a:lnSpc>
                          <a:spcPct val="100000"/>
                        </a:lnSpc>
                        <a:spcBef>
                          <a:spcPts val="5"/>
                        </a:spcBef>
                      </a:pPr>
                      <a:r>
                        <a:rPr dirty="0" sz="1100" spc="165" b="1">
                          <a:latin typeface="Microsoft YaHei"/>
                          <a:cs typeface="Microsoft YaHei"/>
                        </a:rPr>
                        <a:t>路损模型及</a:t>
                      </a:r>
                      <a:r>
                        <a:rPr dirty="0" sz="1100" spc="-35" b="1">
                          <a:latin typeface="Microsoft YaHei"/>
                          <a:cs typeface="Microsoft YaHei"/>
                        </a:rPr>
                        <a:t>取值</a:t>
                      </a:r>
                      <a:endParaRPr sz="1100">
                        <a:latin typeface="Microsoft YaHei"/>
                        <a:cs typeface="Microsoft YaHei"/>
                      </a:endParaRPr>
                    </a:p>
                  </a:txBody>
                  <a:tcPr marL="0" marR="0" marB="0" marT="6159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c>
                  <a:txBody>
                    <a:bodyPr/>
                    <a:lstStyle/>
                    <a:p>
                      <a:pPr>
                        <a:lnSpc>
                          <a:spcPct val="100000"/>
                        </a:lnSpc>
                        <a:spcBef>
                          <a:spcPts val="484"/>
                        </a:spcBef>
                      </a:pPr>
                      <a:endParaRPr sz="1100">
                        <a:latin typeface="Times New Roman"/>
                        <a:cs typeface="Times New Roman"/>
                      </a:endParaRPr>
                    </a:p>
                    <a:p>
                      <a:pPr marL="68580">
                        <a:lnSpc>
                          <a:spcPct val="100000"/>
                        </a:lnSpc>
                        <a:spcBef>
                          <a:spcPts val="5"/>
                        </a:spcBef>
                      </a:pPr>
                      <a:r>
                        <a:rPr dirty="0" sz="1100" spc="-10">
                          <a:latin typeface="Microsoft YaHei"/>
                          <a:cs typeface="Microsoft YaHei"/>
                        </a:rPr>
                        <a:t>R.P.1238：</a:t>
                      </a:r>
                      <a:endParaRPr sz="1100">
                        <a:latin typeface="Microsoft YaHei"/>
                        <a:cs typeface="Microsoft YaHei"/>
                      </a:endParaRPr>
                    </a:p>
                    <a:p>
                      <a:pPr marL="67945">
                        <a:lnSpc>
                          <a:spcPct val="100000"/>
                        </a:lnSpc>
                      </a:pPr>
                      <a:r>
                        <a:rPr dirty="0" sz="1100" spc="-10">
                          <a:latin typeface="Microsoft YaHei"/>
                          <a:cs typeface="Microsoft YaHei"/>
                        </a:rPr>
                        <a:t>20*log</a:t>
                      </a:r>
                      <a:r>
                        <a:rPr dirty="0" sz="1100" spc="-170">
                          <a:latin typeface="Microsoft YaHei"/>
                          <a:cs typeface="Microsoft YaHei"/>
                        </a:rPr>
                        <a:t> </a:t>
                      </a:r>
                      <a:r>
                        <a:rPr dirty="0" sz="1100" spc="-20">
                          <a:latin typeface="Microsoft YaHei"/>
                          <a:cs typeface="Microsoft YaHei"/>
                        </a:rPr>
                        <a:t>（</a:t>
                      </a:r>
                      <a:r>
                        <a:rPr dirty="0" sz="1100" spc="-170">
                          <a:latin typeface="Microsoft YaHei"/>
                          <a:cs typeface="Microsoft YaHei"/>
                        </a:rPr>
                        <a:t> </a:t>
                      </a:r>
                      <a:r>
                        <a:rPr dirty="0" sz="1100" spc="-10">
                          <a:latin typeface="Microsoft YaHei"/>
                          <a:cs typeface="Microsoft YaHei"/>
                        </a:rPr>
                        <a:t>f</a:t>
                      </a:r>
                      <a:r>
                        <a:rPr dirty="0" sz="1100" spc="-165">
                          <a:latin typeface="Microsoft YaHei"/>
                          <a:cs typeface="Microsoft YaHei"/>
                        </a:rPr>
                        <a:t> </a:t>
                      </a:r>
                      <a:r>
                        <a:rPr dirty="0" sz="1100" spc="-20">
                          <a:latin typeface="Microsoft YaHei"/>
                          <a:cs typeface="Microsoft YaHei"/>
                        </a:rPr>
                        <a:t>）</a:t>
                      </a:r>
                      <a:r>
                        <a:rPr dirty="0" sz="1100" spc="-170">
                          <a:latin typeface="Microsoft YaHei"/>
                          <a:cs typeface="Microsoft YaHei"/>
                        </a:rPr>
                        <a:t> </a:t>
                      </a:r>
                      <a:r>
                        <a:rPr dirty="0" sz="1100" spc="-10">
                          <a:latin typeface="Microsoft YaHei"/>
                          <a:cs typeface="Microsoft YaHei"/>
                        </a:rPr>
                        <a:t>-28+30*log</a:t>
                      </a:r>
                      <a:r>
                        <a:rPr dirty="0" sz="1100" spc="-170">
                          <a:latin typeface="Microsoft YaHei"/>
                          <a:cs typeface="Microsoft YaHei"/>
                        </a:rPr>
                        <a:t> </a:t>
                      </a:r>
                      <a:r>
                        <a:rPr dirty="0" sz="1100" spc="-20">
                          <a:latin typeface="Microsoft YaHei"/>
                          <a:cs typeface="Microsoft YaHei"/>
                        </a:rPr>
                        <a:t>（</a:t>
                      </a:r>
                      <a:r>
                        <a:rPr dirty="0" sz="1100" spc="-170">
                          <a:latin typeface="Microsoft YaHei"/>
                          <a:cs typeface="Microsoft YaHei"/>
                        </a:rPr>
                        <a:t> </a:t>
                      </a:r>
                      <a:r>
                        <a:rPr dirty="0" sz="1100" spc="-50">
                          <a:latin typeface="Microsoft YaHei"/>
                          <a:cs typeface="Microsoft YaHei"/>
                        </a:rPr>
                        <a:t>d</a:t>
                      </a:r>
                      <a:endParaRPr sz="1100">
                        <a:latin typeface="Microsoft YaHei"/>
                        <a:cs typeface="Microsoft YaHei"/>
                      </a:endParaRPr>
                    </a:p>
                  </a:txBody>
                  <a:tcPr marL="0" marR="0" marB="0" marT="6159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r>
              <a:tr h="395605">
                <a:tc>
                  <a:txBody>
                    <a:bodyPr/>
                    <a:lstStyle/>
                    <a:p>
                      <a:pPr marL="67945" marR="60960">
                        <a:lnSpc>
                          <a:spcPct val="100000"/>
                        </a:lnSpc>
                        <a:spcBef>
                          <a:spcPts val="195"/>
                        </a:spcBef>
                      </a:pPr>
                      <a:r>
                        <a:rPr dirty="0" sz="1100" spc="165" b="1">
                          <a:latin typeface="Microsoft YaHei"/>
                          <a:cs typeface="Microsoft YaHei"/>
                        </a:rPr>
                        <a:t>边缘速率要</a:t>
                      </a:r>
                      <a:r>
                        <a:rPr dirty="0" sz="1100" spc="-50" b="1">
                          <a:latin typeface="Microsoft YaHei"/>
                          <a:cs typeface="Microsoft YaHei"/>
                        </a:rPr>
                        <a:t>求</a:t>
                      </a:r>
                      <a:endParaRPr sz="1100">
                        <a:latin typeface="Microsoft YaHei"/>
                        <a:cs typeface="Microsoft YaHei"/>
                      </a:endParaRPr>
                    </a:p>
                  </a:txBody>
                  <a:tcPr marL="0" marR="0" marB="0" marT="247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c>
                  <a:txBody>
                    <a:bodyPr/>
                    <a:lstStyle/>
                    <a:p>
                      <a:pPr marL="68580">
                        <a:lnSpc>
                          <a:spcPct val="100000"/>
                        </a:lnSpc>
                        <a:spcBef>
                          <a:spcPts val="855"/>
                        </a:spcBef>
                      </a:pPr>
                      <a:r>
                        <a:rPr dirty="0" sz="1100" spc="-20">
                          <a:latin typeface="Microsoft YaHei"/>
                          <a:cs typeface="Microsoft YaHei"/>
                        </a:rPr>
                        <a:t>下行</a:t>
                      </a:r>
                      <a:r>
                        <a:rPr dirty="0" sz="1100" spc="-10">
                          <a:latin typeface="Microsoft YaHei"/>
                          <a:cs typeface="Microsoft YaHei"/>
                        </a:rPr>
                        <a:t>100Mbps</a:t>
                      </a:r>
                      <a:endParaRPr sz="1100">
                        <a:latin typeface="Microsoft YaHei"/>
                        <a:cs typeface="Microsoft YaHei"/>
                      </a:endParaRPr>
                    </a:p>
                  </a:txBody>
                  <a:tcPr marL="0" marR="0" marB="0" marT="10858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E8E8"/>
                    </a:solidFill>
                  </a:tcPr>
                </a:tc>
              </a:tr>
              <a:tr h="791845">
                <a:tc>
                  <a:txBody>
                    <a:bodyPr/>
                    <a:lstStyle/>
                    <a:p>
                      <a:pPr>
                        <a:lnSpc>
                          <a:spcPct val="100000"/>
                        </a:lnSpc>
                        <a:spcBef>
                          <a:spcPts val="484"/>
                        </a:spcBef>
                      </a:pPr>
                      <a:endParaRPr sz="1100">
                        <a:latin typeface="Times New Roman"/>
                        <a:cs typeface="Times New Roman"/>
                      </a:endParaRPr>
                    </a:p>
                    <a:p>
                      <a:pPr marL="67945">
                        <a:lnSpc>
                          <a:spcPct val="100000"/>
                        </a:lnSpc>
                        <a:spcBef>
                          <a:spcPts val="5"/>
                        </a:spcBef>
                      </a:pPr>
                      <a:r>
                        <a:rPr dirty="0" sz="1100" spc="130" b="1">
                          <a:latin typeface="Microsoft YaHei"/>
                          <a:cs typeface="Microsoft YaHei"/>
                        </a:rPr>
                        <a:t>天 线 增 益</a:t>
                      </a:r>
                      <a:endParaRPr sz="1100">
                        <a:latin typeface="Microsoft YaHei"/>
                        <a:cs typeface="Microsoft YaHei"/>
                      </a:endParaRPr>
                    </a:p>
                    <a:p>
                      <a:pPr marL="67945">
                        <a:lnSpc>
                          <a:spcPct val="100000"/>
                        </a:lnSpc>
                      </a:pPr>
                      <a:r>
                        <a:rPr dirty="0" sz="1100" spc="-20" b="1">
                          <a:latin typeface="Microsoft YaHei"/>
                          <a:cs typeface="Microsoft YaHei"/>
                        </a:rPr>
                        <a:t>（内置</a:t>
                      </a:r>
                      <a:r>
                        <a:rPr dirty="0" sz="1100" spc="-50" b="1">
                          <a:latin typeface="Microsoft YaHei"/>
                          <a:cs typeface="Microsoft YaHei"/>
                        </a:rPr>
                        <a:t>）</a:t>
                      </a:r>
                      <a:endParaRPr sz="1100">
                        <a:latin typeface="Microsoft YaHei"/>
                        <a:cs typeface="Microsoft YaHei"/>
                      </a:endParaRPr>
                    </a:p>
                  </a:txBody>
                  <a:tcPr marL="0" marR="0" marB="0" marT="6159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c>
                  <a:txBody>
                    <a:bodyPr/>
                    <a:lstStyle/>
                    <a:p>
                      <a:pPr>
                        <a:lnSpc>
                          <a:spcPct val="100000"/>
                        </a:lnSpc>
                        <a:spcBef>
                          <a:spcPts val="1145"/>
                        </a:spcBef>
                      </a:pPr>
                      <a:endParaRPr sz="1100">
                        <a:latin typeface="Times New Roman"/>
                        <a:cs typeface="Times New Roman"/>
                      </a:endParaRPr>
                    </a:p>
                    <a:p>
                      <a:pPr marL="68580">
                        <a:lnSpc>
                          <a:spcPct val="100000"/>
                        </a:lnSpc>
                        <a:spcBef>
                          <a:spcPts val="5"/>
                        </a:spcBef>
                      </a:pPr>
                      <a:r>
                        <a:rPr dirty="0" sz="1100" spc="-20">
                          <a:latin typeface="Microsoft YaHei"/>
                          <a:cs typeface="Microsoft YaHei"/>
                        </a:rPr>
                        <a:t>2dBi</a:t>
                      </a:r>
                      <a:endParaRPr sz="1100">
                        <a:latin typeface="Microsoft YaHei"/>
                        <a:cs typeface="Microsoft YaHei"/>
                      </a:endParaRPr>
                    </a:p>
                  </a:txBody>
                  <a:tcPr marL="0" marR="0" marB="0" marT="1454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0992" y="135544"/>
            <a:ext cx="5323205" cy="513080"/>
          </a:xfrm>
          <a:prstGeom prst="rect"/>
        </p:spPr>
        <p:txBody>
          <a:bodyPr wrap="square" lIns="0" tIns="12065" rIns="0" bIns="0" rtlCol="0" vert="horz">
            <a:spAutoFit/>
          </a:bodyPr>
          <a:lstStyle/>
          <a:p>
            <a:pPr marL="12700">
              <a:lnSpc>
                <a:spcPct val="100000"/>
              </a:lnSpc>
              <a:spcBef>
                <a:spcPts val="95"/>
              </a:spcBef>
            </a:pPr>
            <a:r>
              <a:rPr dirty="0">
                <a:latin typeface="Times New Roman"/>
                <a:cs typeface="Times New Roman"/>
              </a:rPr>
              <a:t>2.6GH</a:t>
            </a:r>
            <a:r>
              <a:rPr dirty="0" b="0">
                <a:latin typeface="Times New Roman"/>
                <a:cs typeface="Times New Roman"/>
              </a:rPr>
              <a:t>z</a:t>
            </a:r>
            <a:r>
              <a:rPr dirty="0" spc="-40" b="0">
                <a:latin typeface="Times New Roman"/>
                <a:cs typeface="Times New Roman"/>
              </a:rPr>
              <a:t> </a:t>
            </a:r>
            <a:r>
              <a:rPr dirty="0">
                <a:latin typeface="Times New Roman"/>
                <a:cs typeface="Times New Roman"/>
              </a:rPr>
              <a:t>NR</a:t>
            </a:r>
            <a:r>
              <a:rPr dirty="0" spc="-30">
                <a:latin typeface="Times New Roman"/>
                <a:cs typeface="Times New Roman"/>
              </a:rPr>
              <a:t> </a:t>
            </a:r>
            <a:r>
              <a:rPr dirty="0" spc="-10">
                <a:latin typeface="Times New Roman"/>
                <a:cs typeface="Times New Roman"/>
              </a:rPr>
              <a:t>P</a:t>
            </a:r>
            <a:r>
              <a:rPr dirty="0" spc="-10" b="0">
                <a:latin typeface="Times New Roman"/>
                <a:cs typeface="Times New Roman"/>
              </a:rPr>
              <a:t>ico</a:t>
            </a:r>
            <a:r>
              <a:rPr dirty="0" spc="-40"/>
              <a:t>覆盖能力分析</a:t>
            </a:r>
          </a:p>
        </p:txBody>
      </p:sp>
      <p:graphicFrame>
        <p:nvGraphicFramePr>
          <p:cNvPr id="3" name="object 3" descr=""/>
          <p:cNvGraphicFramePr>
            <a:graphicFrameLocks noGrp="1"/>
          </p:cNvGraphicFramePr>
          <p:nvPr/>
        </p:nvGraphicFramePr>
        <p:xfrm>
          <a:off x="298450" y="889000"/>
          <a:ext cx="8394065" cy="3020695"/>
        </p:xfrm>
        <a:graphic>
          <a:graphicData uri="http://schemas.openxmlformats.org/drawingml/2006/table">
            <a:tbl>
              <a:tblPr firstRow="1" bandRow="1">
                <a:tableStyleId>{2D5ABB26-0587-4C30-8999-92F81FD0307C}</a:tableStyleId>
              </a:tblPr>
              <a:tblGrid>
                <a:gridCol w="1108710"/>
                <a:gridCol w="1281430"/>
                <a:gridCol w="1281430"/>
                <a:gridCol w="625475"/>
                <a:gridCol w="695325"/>
                <a:gridCol w="1282064"/>
                <a:gridCol w="1282064"/>
                <a:gridCol w="749934"/>
              </a:tblGrid>
              <a:tr h="359410">
                <a:tc rowSpan="2">
                  <a:txBody>
                    <a:bodyPr/>
                    <a:lstStyle/>
                    <a:p>
                      <a:pPr>
                        <a:lnSpc>
                          <a:spcPct val="100000"/>
                        </a:lnSpc>
                        <a:spcBef>
                          <a:spcPts val="1065"/>
                        </a:spcBef>
                      </a:pPr>
                      <a:endParaRPr sz="1000">
                        <a:latin typeface="Times New Roman"/>
                        <a:cs typeface="Times New Roman"/>
                      </a:endParaRPr>
                    </a:p>
                    <a:p>
                      <a:pPr algn="ctr">
                        <a:lnSpc>
                          <a:spcPct val="100000"/>
                        </a:lnSpc>
                        <a:spcBef>
                          <a:spcPts val="5"/>
                        </a:spcBef>
                      </a:pPr>
                      <a:r>
                        <a:rPr dirty="0" sz="1000" spc="-25" b="1">
                          <a:solidFill>
                            <a:srgbClr val="FFFFFF"/>
                          </a:solidFill>
                          <a:latin typeface="Microsoft YaHei"/>
                          <a:cs typeface="Microsoft YaHei"/>
                        </a:rPr>
                        <a:t>环境</a:t>
                      </a:r>
                      <a:endParaRPr sz="1000">
                        <a:latin typeface="Microsoft YaHei"/>
                        <a:cs typeface="Microsoft YaHei"/>
                      </a:endParaRPr>
                    </a:p>
                  </a:txBody>
                  <a:tcPr marL="0" marR="0" marB="0" marT="135255">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00B050"/>
                    </a:solidFill>
                  </a:tcPr>
                </a:tc>
                <a:tc gridSpan="4">
                  <a:txBody>
                    <a:bodyPr/>
                    <a:lstStyle/>
                    <a:p>
                      <a:pPr marL="905510">
                        <a:lnSpc>
                          <a:spcPct val="100000"/>
                        </a:lnSpc>
                        <a:spcBef>
                          <a:spcPts val="780"/>
                        </a:spcBef>
                      </a:pPr>
                      <a:r>
                        <a:rPr dirty="0" sz="1000" b="1">
                          <a:solidFill>
                            <a:srgbClr val="FFFFFF"/>
                          </a:solidFill>
                          <a:latin typeface="Microsoft YaHei"/>
                          <a:cs typeface="Microsoft YaHei"/>
                        </a:rPr>
                        <a:t>标准的</a:t>
                      </a:r>
                      <a:r>
                        <a:rPr dirty="0" sz="1000" spc="-10" b="1">
                          <a:solidFill>
                            <a:srgbClr val="FFFFFF"/>
                          </a:solidFill>
                          <a:latin typeface="Arial"/>
                          <a:cs typeface="Arial"/>
                        </a:rPr>
                        <a:t>R.P.1238</a:t>
                      </a:r>
                      <a:r>
                        <a:rPr dirty="0" sz="1000" b="1">
                          <a:solidFill>
                            <a:srgbClr val="FFFFFF"/>
                          </a:solidFill>
                          <a:latin typeface="Microsoft YaHei"/>
                          <a:cs typeface="Microsoft YaHei"/>
                        </a:rPr>
                        <a:t>模型 覆盖距离</a:t>
                      </a:r>
                      <a:r>
                        <a:rPr dirty="0" sz="1000" spc="-25" b="1">
                          <a:solidFill>
                            <a:srgbClr val="FFFFFF"/>
                          </a:solidFill>
                          <a:latin typeface="Microsoft YaHei"/>
                          <a:cs typeface="Microsoft YaHei"/>
                        </a:rPr>
                        <a:t>（</a:t>
                      </a:r>
                      <a:r>
                        <a:rPr dirty="0" sz="1000" spc="-25" b="1">
                          <a:solidFill>
                            <a:srgbClr val="FFFFFF"/>
                          </a:solidFill>
                          <a:latin typeface="Arial"/>
                          <a:cs typeface="Arial"/>
                        </a:rPr>
                        <a:t>m</a:t>
                      </a:r>
                      <a:r>
                        <a:rPr dirty="0" sz="1000" spc="-25" b="1">
                          <a:solidFill>
                            <a:srgbClr val="FFFFFF"/>
                          </a:solidFill>
                          <a:latin typeface="Microsoft YaHei"/>
                          <a:cs typeface="Microsoft YaHei"/>
                        </a:rPr>
                        <a:t>）</a:t>
                      </a:r>
                      <a:endParaRPr sz="1000">
                        <a:latin typeface="Microsoft YaHei"/>
                        <a:cs typeface="Microsoft YaHei"/>
                      </a:endParaRPr>
                    </a:p>
                  </a:txBody>
                  <a:tcPr marL="0" marR="0" marB="0" marT="9906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50"/>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gridSpan="3">
                  <a:txBody>
                    <a:bodyPr/>
                    <a:lstStyle/>
                    <a:p>
                      <a:pPr marL="620395">
                        <a:lnSpc>
                          <a:spcPct val="100000"/>
                        </a:lnSpc>
                        <a:spcBef>
                          <a:spcPts val="780"/>
                        </a:spcBef>
                      </a:pPr>
                      <a:r>
                        <a:rPr dirty="0" sz="1000" b="1">
                          <a:solidFill>
                            <a:srgbClr val="FFFFFF"/>
                          </a:solidFill>
                          <a:latin typeface="Microsoft YaHei"/>
                          <a:cs typeface="Microsoft YaHei"/>
                        </a:rPr>
                        <a:t>修正的</a:t>
                      </a:r>
                      <a:r>
                        <a:rPr dirty="0" sz="1000" spc="-10" b="1">
                          <a:solidFill>
                            <a:srgbClr val="FFFFFF"/>
                          </a:solidFill>
                          <a:latin typeface="Arial"/>
                          <a:cs typeface="Arial"/>
                        </a:rPr>
                        <a:t>R.P.1238</a:t>
                      </a:r>
                      <a:r>
                        <a:rPr dirty="0" sz="1000" b="1">
                          <a:solidFill>
                            <a:srgbClr val="FFFFFF"/>
                          </a:solidFill>
                          <a:latin typeface="Microsoft YaHei"/>
                          <a:cs typeface="Microsoft YaHei"/>
                        </a:rPr>
                        <a:t>模型 覆盖距离</a:t>
                      </a:r>
                      <a:r>
                        <a:rPr dirty="0" sz="1000" spc="-25" b="1">
                          <a:solidFill>
                            <a:srgbClr val="FFFFFF"/>
                          </a:solidFill>
                          <a:latin typeface="Microsoft YaHei"/>
                          <a:cs typeface="Microsoft YaHei"/>
                        </a:rPr>
                        <a:t>（</a:t>
                      </a:r>
                      <a:r>
                        <a:rPr dirty="0" sz="1000" spc="-25" b="1">
                          <a:solidFill>
                            <a:srgbClr val="FFFFFF"/>
                          </a:solidFill>
                          <a:latin typeface="Arial"/>
                          <a:cs typeface="Arial"/>
                        </a:rPr>
                        <a:t>m</a:t>
                      </a:r>
                      <a:r>
                        <a:rPr dirty="0" sz="1000" spc="-25" b="1">
                          <a:solidFill>
                            <a:srgbClr val="FFFFFF"/>
                          </a:solidFill>
                          <a:latin typeface="Microsoft YaHei"/>
                          <a:cs typeface="Microsoft YaHei"/>
                        </a:rPr>
                        <a:t>）</a:t>
                      </a:r>
                      <a:endParaRPr sz="1000">
                        <a:latin typeface="Microsoft YaHei"/>
                        <a:cs typeface="Microsoft YaHei"/>
                      </a:endParaRPr>
                    </a:p>
                  </a:txBody>
                  <a:tcPr marL="0" marR="0" marB="0" marT="9906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50"/>
                    </a:solidFill>
                  </a:tcPr>
                </a:tc>
                <a:tc hMerge="1">
                  <a:txBody>
                    <a:bodyPr/>
                    <a:lstStyle/>
                    <a:p>
                      <a:pPr/>
                    </a:p>
                  </a:txBody>
                  <a:tcPr marL="0" marR="0" marB="0" marT="0"/>
                </a:tc>
                <a:tc hMerge="1">
                  <a:txBody>
                    <a:bodyPr/>
                    <a:lstStyle/>
                    <a:p>
                      <a:pPr/>
                    </a:p>
                  </a:txBody>
                  <a:tcPr marL="0" marR="0" marB="0" marT="0"/>
                </a:tc>
              </a:tr>
              <a:tr h="364490">
                <a:tc vMerge="1">
                  <a:txBody>
                    <a:bodyPr/>
                    <a:lstStyle/>
                    <a:p>
                      <a:pPr/>
                    </a:p>
                  </a:txBody>
                  <a:tcPr marL="0" marR="0" marB="0" marT="135255">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00B050"/>
                    </a:solidFill>
                  </a:tcPr>
                </a:tc>
                <a:tc>
                  <a:txBody>
                    <a:bodyPr/>
                    <a:lstStyle/>
                    <a:p>
                      <a:pPr marL="332740" marR="77470" indent="-248920">
                        <a:lnSpc>
                          <a:spcPct val="100000"/>
                        </a:lnSpc>
                        <a:spcBef>
                          <a:spcPts val="204"/>
                        </a:spcBef>
                      </a:pPr>
                      <a:r>
                        <a:rPr dirty="0" sz="1000" spc="-10" b="1">
                          <a:latin typeface="Arial"/>
                          <a:cs typeface="Arial"/>
                        </a:rPr>
                        <a:t>5G/4T4R/4*250mW DL</a:t>
                      </a:r>
                      <a:r>
                        <a:rPr dirty="0" sz="1000" spc="-10" b="1">
                          <a:latin typeface="Microsoft YaHei"/>
                          <a:cs typeface="Microsoft YaHei"/>
                        </a:rPr>
                        <a:t>：</a:t>
                      </a:r>
                      <a:r>
                        <a:rPr dirty="0" sz="1000" spc="-10" b="1">
                          <a:latin typeface="Arial"/>
                          <a:cs typeface="Arial"/>
                        </a:rPr>
                        <a:t>100M</a:t>
                      </a:r>
                      <a:endParaRPr sz="1000">
                        <a:latin typeface="Arial"/>
                        <a:cs typeface="Arial"/>
                      </a:endParaRPr>
                    </a:p>
                  </a:txBody>
                  <a:tcPr marL="0" marR="0" marB="0" marT="26034">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marL="332740" marR="77470" indent="-248920">
                        <a:lnSpc>
                          <a:spcPct val="100000"/>
                        </a:lnSpc>
                        <a:spcBef>
                          <a:spcPts val="204"/>
                        </a:spcBef>
                      </a:pPr>
                      <a:r>
                        <a:rPr dirty="0" sz="1000" spc="-10" b="1">
                          <a:latin typeface="Arial"/>
                          <a:cs typeface="Arial"/>
                        </a:rPr>
                        <a:t>5G/4T4R/4*125mW DL</a:t>
                      </a:r>
                      <a:r>
                        <a:rPr dirty="0" sz="1000" spc="-10" b="1">
                          <a:latin typeface="Microsoft YaHei"/>
                          <a:cs typeface="Microsoft YaHei"/>
                        </a:rPr>
                        <a:t>：</a:t>
                      </a:r>
                      <a:r>
                        <a:rPr dirty="0" sz="1000" spc="-10" b="1">
                          <a:latin typeface="Arial"/>
                          <a:cs typeface="Arial"/>
                        </a:rPr>
                        <a:t>100M</a:t>
                      </a:r>
                      <a:endParaRPr sz="1000">
                        <a:latin typeface="Arial"/>
                        <a:cs typeface="Arial"/>
                      </a:endParaRPr>
                    </a:p>
                  </a:txBody>
                  <a:tcPr marL="0" marR="0" marB="0" marT="2603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05"/>
                        </a:spcBef>
                      </a:pPr>
                      <a:r>
                        <a:rPr dirty="0" sz="1000" b="1">
                          <a:latin typeface="Arial"/>
                          <a:cs typeface="Arial"/>
                        </a:rPr>
                        <a:t>4G</a:t>
                      </a:r>
                      <a:r>
                        <a:rPr dirty="0" sz="1000" spc="250" b="1">
                          <a:latin typeface="Arial"/>
                          <a:cs typeface="Arial"/>
                        </a:rPr>
                        <a:t> </a:t>
                      </a:r>
                      <a:r>
                        <a:rPr dirty="0" sz="1000" spc="-10" b="1">
                          <a:latin typeface="Arial"/>
                          <a:cs typeface="Arial"/>
                        </a:rPr>
                        <a:t>-</a:t>
                      </a:r>
                      <a:r>
                        <a:rPr dirty="0" sz="1000" spc="-20" b="1">
                          <a:latin typeface="Arial"/>
                          <a:cs typeface="Arial"/>
                        </a:rPr>
                        <a:t>95dB</a:t>
                      </a:r>
                      <a:endParaRPr sz="1000">
                        <a:latin typeface="Arial"/>
                        <a:cs typeface="Arial"/>
                      </a:endParaRPr>
                    </a:p>
                  </a:txBody>
                  <a:tcPr marL="0" marR="0" marB="0" marT="10223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05"/>
                        </a:spcBef>
                      </a:pPr>
                      <a:r>
                        <a:rPr dirty="0" sz="1000" b="1">
                          <a:latin typeface="Arial"/>
                          <a:cs typeface="Arial"/>
                        </a:rPr>
                        <a:t>4G</a:t>
                      </a:r>
                      <a:r>
                        <a:rPr dirty="0" sz="1000" spc="250" b="1">
                          <a:latin typeface="Arial"/>
                          <a:cs typeface="Arial"/>
                        </a:rPr>
                        <a:t> </a:t>
                      </a:r>
                      <a:r>
                        <a:rPr dirty="0" sz="1000" spc="-10" b="1">
                          <a:latin typeface="Arial"/>
                          <a:cs typeface="Arial"/>
                        </a:rPr>
                        <a:t>-105dB</a:t>
                      </a:r>
                      <a:endParaRPr sz="1000">
                        <a:latin typeface="Arial"/>
                        <a:cs typeface="Arial"/>
                      </a:endParaRPr>
                    </a:p>
                  </a:txBody>
                  <a:tcPr marL="0" marR="0" marB="0" marT="10223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marL="332740" marR="77470" indent="-248920">
                        <a:lnSpc>
                          <a:spcPct val="100000"/>
                        </a:lnSpc>
                        <a:spcBef>
                          <a:spcPts val="204"/>
                        </a:spcBef>
                      </a:pPr>
                      <a:r>
                        <a:rPr dirty="0" sz="1000" spc="-10" b="1">
                          <a:latin typeface="Arial"/>
                          <a:cs typeface="Arial"/>
                        </a:rPr>
                        <a:t>5G/4T4R/4*250mW DL</a:t>
                      </a:r>
                      <a:r>
                        <a:rPr dirty="0" sz="1000" spc="-10" b="1">
                          <a:latin typeface="Microsoft YaHei"/>
                          <a:cs typeface="Microsoft YaHei"/>
                        </a:rPr>
                        <a:t>：</a:t>
                      </a:r>
                      <a:r>
                        <a:rPr dirty="0" sz="1000" spc="-10" b="1">
                          <a:latin typeface="Arial"/>
                          <a:cs typeface="Arial"/>
                        </a:rPr>
                        <a:t>100M</a:t>
                      </a:r>
                      <a:endParaRPr sz="1000">
                        <a:latin typeface="Arial"/>
                        <a:cs typeface="Arial"/>
                      </a:endParaRPr>
                    </a:p>
                  </a:txBody>
                  <a:tcPr marL="0" marR="0" marB="0" marT="2603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marL="332740" marR="77470" indent="-248920">
                        <a:lnSpc>
                          <a:spcPct val="100000"/>
                        </a:lnSpc>
                        <a:spcBef>
                          <a:spcPts val="204"/>
                        </a:spcBef>
                      </a:pPr>
                      <a:r>
                        <a:rPr dirty="0" sz="1000" spc="-10" b="1">
                          <a:latin typeface="Arial"/>
                          <a:cs typeface="Arial"/>
                        </a:rPr>
                        <a:t>5G/4T4R/4*125mW DL</a:t>
                      </a:r>
                      <a:r>
                        <a:rPr dirty="0" sz="1000" spc="-10" b="1">
                          <a:latin typeface="Microsoft YaHei"/>
                          <a:cs typeface="Microsoft YaHei"/>
                        </a:rPr>
                        <a:t>：</a:t>
                      </a:r>
                      <a:r>
                        <a:rPr dirty="0" sz="1000" spc="-10" b="1">
                          <a:latin typeface="Arial"/>
                          <a:cs typeface="Arial"/>
                        </a:rPr>
                        <a:t>100M</a:t>
                      </a:r>
                      <a:endParaRPr sz="1000">
                        <a:latin typeface="Arial"/>
                        <a:cs typeface="Arial"/>
                      </a:endParaRPr>
                    </a:p>
                  </a:txBody>
                  <a:tcPr marL="0" marR="0" marB="0" marT="2603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05"/>
                        </a:spcBef>
                      </a:pPr>
                      <a:r>
                        <a:rPr dirty="0" sz="1000" b="1">
                          <a:latin typeface="Arial"/>
                          <a:cs typeface="Arial"/>
                        </a:rPr>
                        <a:t>4G</a:t>
                      </a:r>
                      <a:r>
                        <a:rPr dirty="0" sz="1000" spc="250" b="1">
                          <a:latin typeface="Arial"/>
                          <a:cs typeface="Arial"/>
                        </a:rPr>
                        <a:t> </a:t>
                      </a:r>
                      <a:r>
                        <a:rPr dirty="0" sz="1000" spc="-10" b="1">
                          <a:latin typeface="Arial"/>
                          <a:cs typeface="Arial"/>
                        </a:rPr>
                        <a:t>-105dB</a:t>
                      </a:r>
                      <a:endParaRPr sz="1000">
                        <a:latin typeface="Arial"/>
                        <a:cs typeface="Arial"/>
                      </a:endParaRPr>
                    </a:p>
                  </a:txBody>
                  <a:tcPr marL="0" marR="0" marB="0" marT="10223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r>
              <a:tr h="283210">
                <a:tc>
                  <a:txBody>
                    <a:bodyPr/>
                    <a:lstStyle/>
                    <a:p>
                      <a:pPr algn="ctr">
                        <a:lnSpc>
                          <a:spcPct val="100000"/>
                        </a:lnSpc>
                        <a:spcBef>
                          <a:spcPts val="480"/>
                        </a:spcBef>
                      </a:pPr>
                      <a:r>
                        <a:rPr dirty="0" sz="1000" b="1">
                          <a:solidFill>
                            <a:srgbClr val="FFFFFF"/>
                          </a:solidFill>
                          <a:latin typeface="Microsoft YaHei"/>
                          <a:cs typeface="Microsoft YaHei"/>
                        </a:rPr>
                        <a:t>不穿墙</a:t>
                      </a:r>
                      <a:r>
                        <a:rPr dirty="0" sz="1000" spc="-10" b="1">
                          <a:solidFill>
                            <a:srgbClr val="FFFFFF"/>
                          </a:solidFill>
                          <a:latin typeface="Microsoft YaHei"/>
                          <a:cs typeface="Microsoft YaHei"/>
                        </a:rPr>
                        <a:t>（</a:t>
                      </a:r>
                      <a:r>
                        <a:rPr dirty="0" sz="1000" spc="-10" b="1">
                          <a:solidFill>
                            <a:srgbClr val="FFFFFF"/>
                          </a:solidFill>
                          <a:latin typeface="Arial"/>
                          <a:cs typeface="Arial"/>
                        </a:rPr>
                        <a:t>0dB</a:t>
                      </a:r>
                      <a:r>
                        <a:rPr dirty="0" sz="1000" spc="-10" b="1">
                          <a:solidFill>
                            <a:srgbClr val="FFFFFF"/>
                          </a:solidFill>
                          <a:latin typeface="Microsoft YaHei"/>
                          <a:cs typeface="Microsoft YaHei"/>
                        </a:rPr>
                        <a:t>）</a:t>
                      </a:r>
                      <a:endParaRPr sz="1000">
                        <a:latin typeface="Microsoft YaHei"/>
                        <a:cs typeface="Microsoft YaHei"/>
                      </a:endParaRPr>
                    </a:p>
                  </a:txBody>
                  <a:tcPr marL="0" marR="0" marB="0" marT="6096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B050"/>
                    </a:solidFill>
                  </a:tcPr>
                </a:tc>
                <a:tc>
                  <a:txBody>
                    <a:bodyPr/>
                    <a:lstStyle/>
                    <a:p>
                      <a:pPr algn="ctr">
                        <a:lnSpc>
                          <a:spcPct val="100000"/>
                        </a:lnSpc>
                        <a:spcBef>
                          <a:spcPts val="484"/>
                        </a:spcBef>
                      </a:pPr>
                      <a:r>
                        <a:rPr dirty="0" sz="1000" spc="-10">
                          <a:latin typeface="Arial MT"/>
                          <a:cs typeface="Arial MT"/>
                        </a:rPr>
                        <a:t>67.57</a:t>
                      </a:r>
                      <a:endParaRPr sz="1000">
                        <a:latin typeface="Arial MT"/>
                        <a:cs typeface="Arial MT"/>
                      </a:endParaRPr>
                    </a:p>
                  </a:txBody>
                  <a:tcPr marL="0" marR="0" marB="0" marT="6159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2D050"/>
                    </a:solidFill>
                  </a:tcPr>
                </a:tc>
                <a:tc>
                  <a:txBody>
                    <a:bodyPr/>
                    <a:lstStyle/>
                    <a:p>
                      <a:pPr algn="ctr" marL="635">
                        <a:lnSpc>
                          <a:spcPct val="100000"/>
                        </a:lnSpc>
                        <a:spcBef>
                          <a:spcPts val="484"/>
                        </a:spcBef>
                      </a:pPr>
                      <a:r>
                        <a:rPr dirty="0" sz="1000" spc="-10">
                          <a:latin typeface="Arial MT"/>
                          <a:cs typeface="Arial MT"/>
                        </a:rPr>
                        <a:t>53.67</a:t>
                      </a:r>
                      <a:endParaRPr sz="1000">
                        <a:latin typeface="Arial MT"/>
                        <a:cs typeface="Arial MT"/>
                      </a:endParaRPr>
                    </a:p>
                  </a:txBody>
                  <a:tcPr marL="0" marR="0" marB="0" marT="6159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484"/>
                        </a:spcBef>
                      </a:pPr>
                      <a:r>
                        <a:rPr dirty="0" sz="1000" spc="-10">
                          <a:latin typeface="Arial MT"/>
                          <a:cs typeface="Arial MT"/>
                        </a:rPr>
                        <a:t>30.77</a:t>
                      </a:r>
                      <a:endParaRPr sz="1000">
                        <a:latin typeface="Arial MT"/>
                        <a:cs typeface="Arial MT"/>
                      </a:endParaRPr>
                    </a:p>
                  </a:txBody>
                  <a:tcPr marL="0" marR="0" marB="0" marT="6159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484"/>
                        </a:spcBef>
                      </a:pPr>
                      <a:r>
                        <a:rPr dirty="0" sz="1000" spc="-10">
                          <a:latin typeface="Arial MT"/>
                          <a:cs typeface="Arial MT"/>
                        </a:rPr>
                        <a:t>66.29</a:t>
                      </a:r>
                      <a:endParaRPr sz="1000">
                        <a:latin typeface="Arial MT"/>
                        <a:cs typeface="Arial MT"/>
                      </a:endParaRPr>
                    </a:p>
                  </a:txBody>
                  <a:tcPr marL="0" marR="0" marB="0" marT="6159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F00"/>
                    </a:solidFill>
                  </a:tcPr>
                </a:tc>
                <a:tc>
                  <a:txBody>
                    <a:bodyPr/>
                    <a:lstStyle/>
                    <a:p>
                      <a:pPr algn="ctr" marL="635">
                        <a:lnSpc>
                          <a:spcPct val="100000"/>
                        </a:lnSpc>
                        <a:spcBef>
                          <a:spcPts val="484"/>
                        </a:spcBef>
                      </a:pPr>
                      <a:r>
                        <a:rPr dirty="0" sz="1000" spc="-10">
                          <a:latin typeface="Arial MT"/>
                          <a:cs typeface="Arial MT"/>
                        </a:rPr>
                        <a:t>25.89</a:t>
                      </a:r>
                      <a:endParaRPr sz="1000">
                        <a:latin typeface="Arial MT"/>
                        <a:cs typeface="Arial MT"/>
                      </a:endParaRPr>
                    </a:p>
                  </a:txBody>
                  <a:tcPr marL="0" marR="0" marB="0" marT="6159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2D050"/>
                    </a:solidFill>
                  </a:tcPr>
                </a:tc>
                <a:tc>
                  <a:txBody>
                    <a:bodyPr/>
                    <a:lstStyle/>
                    <a:p>
                      <a:pPr algn="ctr" marL="635">
                        <a:lnSpc>
                          <a:spcPct val="100000"/>
                        </a:lnSpc>
                        <a:spcBef>
                          <a:spcPts val="484"/>
                        </a:spcBef>
                      </a:pPr>
                      <a:r>
                        <a:rPr dirty="0" sz="1000" spc="-10">
                          <a:latin typeface="Arial MT"/>
                          <a:cs typeface="Arial MT"/>
                        </a:rPr>
                        <a:t>20.56</a:t>
                      </a:r>
                      <a:endParaRPr sz="1000">
                        <a:latin typeface="Arial MT"/>
                        <a:cs typeface="Arial MT"/>
                      </a:endParaRPr>
                    </a:p>
                  </a:txBody>
                  <a:tcPr marL="0" marR="0" marB="0" marT="6159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484"/>
                        </a:spcBef>
                      </a:pPr>
                      <a:r>
                        <a:rPr dirty="0" sz="1000" spc="-10">
                          <a:latin typeface="Arial MT"/>
                          <a:cs typeface="Arial MT"/>
                        </a:rPr>
                        <a:t>25.14</a:t>
                      </a:r>
                      <a:endParaRPr sz="1000">
                        <a:latin typeface="Arial MT"/>
                        <a:cs typeface="Arial MT"/>
                      </a:endParaRPr>
                    </a:p>
                  </a:txBody>
                  <a:tcPr marL="0" marR="0" marB="0" marT="6159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F00"/>
                    </a:solidFill>
                  </a:tcPr>
                </a:tc>
              </a:tr>
              <a:tr h="287655">
                <a:tc>
                  <a:txBody>
                    <a:bodyPr/>
                    <a:lstStyle/>
                    <a:p>
                      <a:pPr algn="ctr">
                        <a:lnSpc>
                          <a:spcPct val="100000"/>
                        </a:lnSpc>
                        <a:spcBef>
                          <a:spcPts val="500"/>
                        </a:spcBef>
                      </a:pPr>
                      <a:r>
                        <a:rPr dirty="0" sz="1000" b="1">
                          <a:solidFill>
                            <a:srgbClr val="FFFFFF"/>
                          </a:solidFill>
                          <a:latin typeface="Microsoft YaHei"/>
                          <a:cs typeface="Microsoft YaHei"/>
                        </a:rPr>
                        <a:t>隔板</a:t>
                      </a:r>
                      <a:r>
                        <a:rPr dirty="0" sz="1000" spc="-10" b="1">
                          <a:solidFill>
                            <a:srgbClr val="FFFFFF"/>
                          </a:solidFill>
                          <a:latin typeface="Microsoft YaHei"/>
                          <a:cs typeface="Microsoft YaHei"/>
                        </a:rPr>
                        <a:t>（</a:t>
                      </a:r>
                      <a:r>
                        <a:rPr dirty="0" sz="1000" spc="-10" b="1">
                          <a:solidFill>
                            <a:srgbClr val="FFFFFF"/>
                          </a:solidFill>
                          <a:latin typeface="Arial"/>
                          <a:cs typeface="Arial"/>
                        </a:rPr>
                        <a:t>3dB</a:t>
                      </a:r>
                      <a:r>
                        <a:rPr dirty="0" sz="1000" spc="-10" b="1">
                          <a:solidFill>
                            <a:srgbClr val="FFFFFF"/>
                          </a:solidFill>
                          <a:latin typeface="Microsoft YaHei"/>
                          <a:cs typeface="Microsoft YaHei"/>
                        </a:rPr>
                        <a:t>）</a:t>
                      </a:r>
                      <a:endParaRPr sz="1000">
                        <a:latin typeface="Microsoft YaHei"/>
                        <a:cs typeface="Microsoft YaHei"/>
                      </a:endParaRPr>
                    </a:p>
                  </a:txBody>
                  <a:tcPr marL="0" marR="0" marB="0" marT="635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algn="ctr" marL="635">
                        <a:lnSpc>
                          <a:spcPct val="100000"/>
                        </a:lnSpc>
                        <a:spcBef>
                          <a:spcPts val="505"/>
                        </a:spcBef>
                      </a:pPr>
                      <a:r>
                        <a:rPr dirty="0" sz="1000" spc="-10">
                          <a:latin typeface="Arial MT"/>
                          <a:cs typeface="Arial MT"/>
                        </a:rPr>
                        <a:t>53.67</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635">
                        <a:lnSpc>
                          <a:spcPct val="100000"/>
                        </a:lnSpc>
                        <a:spcBef>
                          <a:spcPts val="505"/>
                        </a:spcBef>
                      </a:pPr>
                      <a:r>
                        <a:rPr dirty="0" sz="1000" spc="-10">
                          <a:latin typeface="Arial MT"/>
                          <a:cs typeface="Arial MT"/>
                        </a:rPr>
                        <a:t>42.60</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10">
                          <a:latin typeface="Arial MT"/>
                          <a:cs typeface="Arial MT"/>
                        </a:rPr>
                        <a:t>24.44</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10">
                          <a:latin typeface="Arial MT"/>
                          <a:cs typeface="Arial MT"/>
                        </a:rPr>
                        <a:t>52.66</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635">
                        <a:lnSpc>
                          <a:spcPct val="100000"/>
                        </a:lnSpc>
                        <a:spcBef>
                          <a:spcPts val="505"/>
                        </a:spcBef>
                      </a:pPr>
                      <a:r>
                        <a:rPr dirty="0" sz="1000" spc="-10">
                          <a:latin typeface="Arial MT"/>
                          <a:cs typeface="Arial MT"/>
                        </a:rPr>
                        <a:t>20.56</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635">
                        <a:lnSpc>
                          <a:spcPct val="100000"/>
                        </a:lnSpc>
                        <a:spcBef>
                          <a:spcPts val="505"/>
                        </a:spcBef>
                      </a:pPr>
                      <a:r>
                        <a:rPr dirty="0" sz="1000" spc="-10">
                          <a:latin typeface="Arial MT"/>
                          <a:cs typeface="Arial MT"/>
                        </a:rPr>
                        <a:t>16.32</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10">
                          <a:latin typeface="Arial MT"/>
                          <a:cs typeface="Arial MT"/>
                        </a:rPr>
                        <a:t>19.97</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r h="287655">
                <a:tc>
                  <a:txBody>
                    <a:bodyPr/>
                    <a:lstStyle/>
                    <a:p>
                      <a:pPr algn="ctr">
                        <a:lnSpc>
                          <a:spcPct val="100000"/>
                        </a:lnSpc>
                        <a:spcBef>
                          <a:spcPts val="500"/>
                        </a:spcBef>
                      </a:pPr>
                      <a:r>
                        <a:rPr dirty="0" sz="1000" b="1">
                          <a:solidFill>
                            <a:srgbClr val="FFFFFF"/>
                          </a:solidFill>
                          <a:latin typeface="Microsoft YaHei"/>
                          <a:cs typeface="Microsoft YaHei"/>
                        </a:rPr>
                        <a:t>隔板</a:t>
                      </a:r>
                      <a:r>
                        <a:rPr dirty="0" sz="1000" spc="-10" b="1">
                          <a:solidFill>
                            <a:srgbClr val="FFFFFF"/>
                          </a:solidFill>
                          <a:latin typeface="Microsoft YaHei"/>
                          <a:cs typeface="Microsoft YaHei"/>
                        </a:rPr>
                        <a:t>（</a:t>
                      </a:r>
                      <a:r>
                        <a:rPr dirty="0" sz="1000" spc="-10" b="1">
                          <a:solidFill>
                            <a:srgbClr val="FFFFFF"/>
                          </a:solidFill>
                          <a:latin typeface="Arial"/>
                          <a:cs typeface="Arial"/>
                        </a:rPr>
                        <a:t>5dB</a:t>
                      </a:r>
                      <a:r>
                        <a:rPr dirty="0" sz="1000" spc="-10" b="1">
                          <a:solidFill>
                            <a:srgbClr val="FFFFFF"/>
                          </a:solidFill>
                          <a:latin typeface="Microsoft YaHei"/>
                          <a:cs typeface="Microsoft YaHei"/>
                        </a:rPr>
                        <a:t>）</a:t>
                      </a:r>
                      <a:endParaRPr sz="1000">
                        <a:latin typeface="Microsoft YaHei"/>
                        <a:cs typeface="Microsoft YaHei"/>
                      </a:endParaRPr>
                    </a:p>
                  </a:txBody>
                  <a:tcPr marL="0" marR="0" marB="0" marT="635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algn="ctr" marL="635">
                        <a:lnSpc>
                          <a:spcPct val="100000"/>
                        </a:lnSpc>
                        <a:spcBef>
                          <a:spcPts val="505"/>
                        </a:spcBef>
                      </a:pPr>
                      <a:r>
                        <a:rPr dirty="0" sz="1000" spc="-10">
                          <a:latin typeface="Arial MT"/>
                          <a:cs typeface="Arial MT"/>
                        </a:rPr>
                        <a:t>46.04</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505"/>
                        </a:spcBef>
                      </a:pPr>
                      <a:r>
                        <a:rPr dirty="0" sz="1000" spc="-10">
                          <a:latin typeface="Arial MT"/>
                          <a:cs typeface="Arial MT"/>
                        </a:rPr>
                        <a:t>36.54</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05"/>
                        </a:spcBef>
                      </a:pPr>
                      <a:r>
                        <a:rPr dirty="0" sz="1000" spc="-10">
                          <a:latin typeface="Arial MT"/>
                          <a:cs typeface="Arial MT"/>
                        </a:rPr>
                        <a:t>20.96</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05"/>
                        </a:spcBef>
                      </a:pPr>
                      <a:r>
                        <a:rPr dirty="0" sz="1000" spc="-10">
                          <a:latin typeface="Arial MT"/>
                          <a:cs typeface="Arial MT"/>
                        </a:rPr>
                        <a:t>45.16</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505"/>
                        </a:spcBef>
                      </a:pPr>
                      <a:r>
                        <a:rPr dirty="0" sz="1000" spc="-10">
                          <a:latin typeface="Arial MT"/>
                          <a:cs typeface="Arial MT"/>
                        </a:rPr>
                        <a:t>17.63</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05"/>
                        </a:spcBef>
                      </a:pPr>
                      <a:r>
                        <a:rPr dirty="0" sz="1000" spc="-25">
                          <a:latin typeface="Arial MT"/>
                          <a:cs typeface="Arial MT"/>
                        </a:rPr>
                        <a:t>14</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05"/>
                        </a:spcBef>
                      </a:pPr>
                      <a:r>
                        <a:rPr dirty="0" sz="1000" spc="-10">
                          <a:latin typeface="Arial MT"/>
                          <a:cs typeface="Arial MT"/>
                        </a:rPr>
                        <a:t>17.13</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287655">
                <a:tc>
                  <a:txBody>
                    <a:bodyPr/>
                    <a:lstStyle/>
                    <a:p>
                      <a:pPr algn="ctr">
                        <a:lnSpc>
                          <a:spcPct val="100000"/>
                        </a:lnSpc>
                        <a:spcBef>
                          <a:spcPts val="500"/>
                        </a:spcBef>
                      </a:pPr>
                      <a:r>
                        <a:rPr dirty="0" sz="1000" b="1">
                          <a:solidFill>
                            <a:srgbClr val="FFFFFF"/>
                          </a:solidFill>
                          <a:latin typeface="Microsoft YaHei"/>
                          <a:cs typeface="Microsoft YaHei"/>
                        </a:rPr>
                        <a:t>隔断墙</a:t>
                      </a:r>
                      <a:r>
                        <a:rPr dirty="0" sz="1000" spc="-10" b="1">
                          <a:solidFill>
                            <a:srgbClr val="FFFFFF"/>
                          </a:solidFill>
                          <a:latin typeface="Microsoft YaHei"/>
                          <a:cs typeface="Microsoft YaHei"/>
                        </a:rPr>
                        <a:t>（</a:t>
                      </a:r>
                      <a:r>
                        <a:rPr dirty="0" sz="1000" spc="-10" b="1">
                          <a:solidFill>
                            <a:srgbClr val="FFFFFF"/>
                          </a:solidFill>
                          <a:latin typeface="Arial"/>
                          <a:cs typeface="Arial"/>
                        </a:rPr>
                        <a:t>9dB</a:t>
                      </a:r>
                      <a:r>
                        <a:rPr dirty="0" sz="1000" spc="-10" b="1">
                          <a:solidFill>
                            <a:srgbClr val="FFFFFF"/>
                          </a:solidFill>
                          <a:latin typeface="Microsoft YaHei"/>
                          <a:cs typeface="Microsoft YaHei"/>
                        </a:rPr>
                        <a:t>）</a:t>
                      </a:r>
                      <a:endParaRPr sz="1000">
                        <a:latin typeface="Microsoft YaHei"/>
                        <a:cs typeface="Microsoft YaHei"/>
                      </a:endParaRPr>
                    </a:p>
                  </a:txBody>
                  <a:tcPr marL="0" marR="0" marB="0" marT="635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algn="ctr" marL="635">
                        <a:lnSpc>
                          <a:spcPct val="100000"/>
                        </a:lnSpc>
                        <a:spcBef>
                          <a:spcPts val="505"/>
                        </a:spcBef>
                      </a:pPr>
                      <a:r>
                        <a:rPr dirty="0" sz="1000" spc="-10">
                          <a:latin typeface="Arial MT"/>
                          <a:cs typeface="Arial MT"/>
                        </a:rPr>
                        <a:t>33.86</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635">
                        <a:lnSpc>
                          <a:spcPct val="100000"/>
                        </a:lnSpc>
                        <a:spcBef>
                          <a:spcPts val="505"/>
                        </a:spcBef>
                      </a:pPr>
                      <a:r>
                        <a:rPr dirty="0" sz="1000" spc="-10">
                          <a:latin typeface="Arial MT"/>
                          <a:cs typeface="Arial MT"/>
                        </a:rPr>
                        <a:t>26.88</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10">
                          <a:latin typeface="Arial MT"/>
                          <a:cs typeface="Arial MT"/>
                        </a:rPr>
                        <a:t>16.65</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635">
                        <a:lnSpc>
                          <a:spcPct val="100000"/>
                        </a:lnSpc>
                        <a:spcBef>
                          <a:spcPts val="505"/>
                        </a:spcBef>
                      </a:pPr>
                      <a:r>
                        <a:rPr dirty="0" sz="1000" spc="-10">
                          <a:latin typeface="Arial MT"/>
                          <a:cs typeface="Arial MT"/>
                        </a:rPr>
                        <a:t>35.87</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1270">
                        <a:lnSpc>
                          <a:spcPct val="100000"/>
                        </a:lnSpc>
                        <a:spcBef>
                          <a:spcPts val="505"/>
                        </a:spcBef>
                      </a:pPr>
                      <a:r>
                        <a:rPr dirty="0" sz="1000" spc="-10">
                          <a:latin typeface="Arial MT"/>
                          <a:cs typeface="Arial MT"/>
                        </a:rPr>
                        <a:t>12.97</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635">
                        <a:lnSpc>
                          <a:spcPct val="100000"/>
                        </a:lnSpc>
                        <a:spcBef>
                          <a:spcPts val="505"/>
                        </a:spcBef>
                      </a:pPr>
                      <a:r>
                        <a:rPr dirty="0" sz="1000" spc="-10">
                          <a:latin typeface="Arial MT"/>
                          <a:cs typeface="Arial MT"/>
                        </a:rPr>
                        <a:t>10.29</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10">
                          <a:latin typeface="Arial MT"/>
                          <a:cs typeface="Arial MT"/>
                        </a:rPr>
                        <a:t>13.61</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r h="287655">
                <a:tc>
                  <a:txBody>
                    <a:bodyPr/>
                    <a:lstStyle/>
                    <a:p>
                      <a:pPr algn="ctr">
                        <a:lnSpc>
                          <a:spcPct val="100000"/>
                        </a:lnSpc>
                        <a:spcBef>
                          <a:spcPts val="495"/>
                        </a:spcBef>
                      </a:pPr>
                      <a:r>
                        <a:rPr dirty="0" sz="1000" b="1">
                          <a:solidFill>
                            <a:srgbClr val="FFFFFF"/>
                          </a:solidFill>
                          <a:latin typeface="Microsoft YaHei"/>
                          <a:cs typeface="Microsoft YaHei"/>
                        </a:rPr>
                        <a:t>隔断墙</a:t>
                      </a:r>
                      <a:r>
                        <a:rPr dirty="0" sz="1000" spc="-10" b="1">
                          <a:solidFill>
                            <a:srgbClr val="FFFFFF"/>
                          </a:solidFill>
                          <a:latin typeface="Microsoft YaHei"/>
                          <a:cs typeface="Microsoft YaHei"/>
                        </a:rPr>
                        <a:t>（</a:t>
                      </a:r>
                      <a:r>
                        <a:rPr dirty="0" sz="1000" spc="-10" b="1">
                          <a:solidFill>
                            <a:srgbClr val="FFFFFF"/>
                          </a:solidFill>
                          <a:latin typeface="Arial"/>
                          <a:cs typeface="Arial"/>
                        </a:rPr>
                        <a:t>11dB</a:t>
                      </a:r>
                      <a:r>
                        <a:rPr dirty="0" sz="1000" spc="-10" b="1">
                          <a:solidFill>
                            <a:srgbClr val="FFFFFF"/>
                          </a:solidFill>
                          <a:latin typeface="Microsoft YaHei"/>
                          <a:cs typeface="Microsoft YaHei"/>
                        </a:rPr>
                        <a:t>）</a:t>
                      </a:r>
                      <a:endParaRPr sz="1000">
                        <a:latin typeface="Microsoft YaHei"/>
                        <a:cs typeface="Microsoft YaHei"/>
                      </a:endParaRPr>
                    </a:p>
                  </a:txBody>
                  <a:tcPr marL="0" marR="0" marB="0" marT="628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algn="ctr" marL="635">
                        <a:lnSpc>
                          <a:spcPct val="100000"/>
                        </a:lnSpc>
                        <a:spcBef>
                          <a:spcPts val="505"/>
                        </a:spcBef>
                      </a:pPr>
                      <a:r>
                        <a:rPr dirty="0" sz="1000" spc="-10">
                          <a:latin typeface="Arial MT"/>
                          <a:cs typeface="Arial MT"/>
                        </a:rPr>
                        <a:t>29.04</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505"/>
                        </a:spcBef>
                      </a:pPr>
                      <a:r>
                        <a:rPr dirty="0" sz="1000" spc="-10">
                          <a:latin typeface="Arial MT"/>
                          <a:cs typeface="Arial MT"/>
                        </a:rPr>
                        <a:t>23.05</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05"/>
                        </a:spcBef>
                      </a:pPr>
                      <a:r>
                        <a:rPr dirty="0" sz="1000" spc="-10">
                          <a:latin typeface="Arial MT"/>
                          <a:cs typeface="Arial MT"/>
                        </a:rPr>
                        <a:t>14.28</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05"/>
                        </a:spcBef>
                      </a:pPr>
                      <a:r>
                        <a:rPr dirty="0" sz="1000" spc="-10">
                          <a:latin typeface="Arial MT"/>
                          <a:cs typeface="Arial MT"/>
                        </a:rPr>
                        <a:t>30.77</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505"/>
                        </a:spcBef>
                      </a:pPr>
                      <a:r>
                        <a:rPr dirty="0" sz="1000" spc="-10">
                          <a:latin typeface="Arial MT"/>
                          <a:cs typeface="Arial MT"/>
                        </a:rPr>
                        <a:t>11.12</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505"/>
                        </a:spcBef>
                      </a:pPr>
                      <a:r>
                        <a:rPr dirty="0" sz="1000" spc="-20">
                          <a:latin typeface="Arial MT"/>
                          <a:cs typeface="Arial MT"/>
                        </a:rPr>
                        <a:t>8.83</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1270">
                        <a:lnSpc>
                          <a:spcPct val="100000"/>
                        </a:lnSpc>
                        <a:spcBef>
                          <a:spcPts val="505"/>
                        </a:spcBef>
                      </a:pPr>
                      <a:r>
                        <a:rPr dirty="0" sz="1000" spc="-10">
                          <a:latin typeface="Arial MT"/>
                          <a:cs typeface="Arial MT"/>
                        </a:rPr>
                        <a:t>11.67</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287655">
                <a:tc>
                  <a:txBody>
                    <a:bodyPr/>
                    <a:lstStyle/>
                    <a:p>
                      <a:pPr algn="ctr">
                        <a:lnSpc>
                          <a:spcPct val="100000"/>
                        </a:lnSpc>
                        <a:spcBef>
                          <a:spcPts val="495"/>
                        </a:spcBef>
                      </a:pPr>
                      <a:r>
                        <a:rPr dirty="0" sz="1000" b="1">
                          <a:solidFill>
                            <a:srgbClr val="FFFFFF"/>
                          </a:solidFill>
                          <a:latin typeface="Microsoft YaHei"/>
                          <a:cs typeface="Microsoft YaHei"/>
                        </a:rPr>
                        <a:t>隔断墙</a:t>
                      </a:r>
                      <a:r>
                        <a:rPr dirty="0" sz="1000" spc="-10" b="1">
                          <a:solidFill>
                            <a:srgbClr val="FFFFFF"/>
                          </a:solidFill>
                          <a:latin typeface="Microsoft YaHei"/>
                          <a:cs typeface="Microsoft YaHei"/>
                        </a:rPr>
                        <a:t>（</a:t>
                      </a:r>
                      <a:r>
                        <a:rPr dirty="0" sz="1000" spc="-10" b="1">
                          <a:solidFill>
                            <a:srgbClr val="FFFFFF"/>
                          </a:solidFill>
                          <a:latin typeface="Arial"/>
                          <a:cs typeface="Arial"/>
                        </a:rPr>
                        <a:t>14dB</a:t>
                      </a:r>
                      <a:r>
                        <a:rPr dirty="0" sz="1000" spc="-10" b="1">
                          <a:solidFill>
                            <a:srgbClr val="FFFFFF"/>
                          </a:solidFill>
                          <a:latin typeface="Microsoft YaHei"/>
                          <a:cs typeface="Microsoft YaHei"/>
                        </a:rPr>
                        <a:t>）</a:t>
                      </a:r>
                      <a:endParaRPr sz="1000">
                        <a:latin typeface="Microsoft YaHei"/>
                        <a:cs typeface="Microsoft YaHei"/>
                      </a:endParaRPr>
                    </a:p>
                  </a:txBody>
                  <a:tcPr marL="0" marR="0" marB="0" marT="628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algn="ctr" marL="635">
                        <a:lnSpc>
                          <a:spcPct val="100000"/>
                        </a:lnSpc>
                        <a:spcBef>
                          <a:spcPts val="505"/>
                        </a:spcBef>
                      </a:pPr>
                      <a:r>
                        <a:rPr dirty="0" sz="1000" spc="-10">
                          <a:latin typeface="Arial MT"/>
                          <a:cs typeface="Arial MT"/>
                        </a:rPr>
                        <a:t>23.07</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635">
                        <a:lnSpc>
                          <a:spcPct val="100000"/>
                        </a:lnSpc>
                        <a:spcBef>
                          <a:spcPts val="505"/>
                        </a:spcBef>
                      </a:pPr>
                      <a:r>
                        <a:rPr dirty="0" sz="1000" spc="-10">
                          <a:latin typeface="Arial MT"/>
                          <a:cs typeface="Arial MT"/>
                        </a:rPr>
                        <a:t>18.31</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10">
                          <a:latin typeface="Arial MT"/>
                          <a:cs typeface="Arial MT"/>
                        </a:rPr>
                        <a:t>11.34</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10">
                          <a:latin typeface="Arial MT"/>
                          <a:cs typeface="Arial MT"/>
                        </a:rPr>
                        <a:t>24.44</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635">
                        <a:lnSpc>
                          <a:spcPct val="100000"/>
                        </a:lnSpc>
                        <a:spcBef>
                          <a:spcPts val="505"/>
                        </a:spcBef>
                      </a:pPr>
                      <a:r>
                        <a:rPr dirty="0" sz="1000" spc="-20">
                          <a:latin typeface="Arial MT"/>
                          <a:cs typeface="Arial MT"/>
                        </a:rPr>
                        <a:t>8.84</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635">
                        <a:lnSpc>
                          <a:spcPct val="100000"/>
                        </a:lnSpc>
                        <a:spcBef>
                          <a:spcPts val="505"/>
                        </a:spcBef>
                      </a:pPr>
                      <a:r>
                        <a:rPr dirty="0" sz="1000" spc="-20">
                          <a:latin typeface="Arial MT"/>
                          <a:cs typeface="Arial MT"/>
                        </a:rPr>
                        <a:t>7.02</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20">
                          <a:latin typeface="Arial MT"/>
                          <a:cs typeface="Arial MT"/>
                        </a:rPr>
                        <a:t>9.27</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r h="287655">
                <a:tc>
                  <a:txBody>
                    <a:bodyPr/>
                    <a:lstStyle/>
                    <a:p>
                      <a:pPr algn="ctr">
                        <a:lnSpc>
                          <a:spcPct val="100000"/>
                        </a:lnSpc>
                        <a:spcBef>
                          <a:spcPts val="500"/>
                        </a:spcBef>
                      </a:pPr>
                      <a:r>
                        <a:rPr dirty="0" sz="1000" spc="-5" b="1">
                          <a:solidFill>
                            <a:srgbClr val="FFFFFF"/>
                          </a:solidFill>
                          <a:latin typeface="Microsoft YaHei"/>
                          <a:cs typeface="Microsoft YaHei"/>
                        </a:rPr>
                        <a:t>非承重墙</a:t>
                      </a:r>
                      <a:r>
                        <a:rPr dirty="0" sz="1000" spc="-10" b="1">
                          <a:solidFill>
                            <a:srgbClr val="FFFFFF"/>
                          </a:solidFill>
                          <a:latin typeface="Microsoft YaHei"/>
                          <a:cs typeface="Microsoft YaHei"/>
                        </a:rPr>
                        <a:t>（</a:t>
                      </a:r>
                      <a:r>
                        <a:rPr dirty="0" sz="1000" spc="-10" b="1">
                          <a:solidFill>
                            <a:srgbClr val="FFFFFF"/>
                          </a:solidFill>
                          <a:latin typeface="Arial"/>
                          <a:cs typeface="Arial"/>
                        </a:rPr>
                        <a:t>17dB</a:t>
                      </a:r>
                      <a:r>
                        <a:rPr dirty="0" sz="1000" spc="-10" b="1">
                          <a:solidFill>
                            <a:srgbClr val="FFFFFF"/>
                          </a:solidFill>
                          <a:latin typeface="Microsoft YaHei"/>
                          <a:cs typeface="Microsoft YaHei"/>
                        </a:rPr>
                        <a:t>）</a:t>
                      </a:r>
                      <a:endParaRPr sz="1000">
                        <a:latin typeface="Microsoft YaHei"/>
                        <a:cs typeface="Microsoft YaHei"/>
                      </a:endParaRPr>
                    </a:p>
                  </a:txBody>
                  <a:tcPr marL="0" marR="0" marB="0" marT="635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algn="ctr" marL="635">
                        <a:lnSpc>
                          <a:spcPct val="100000"/>
                        </a:lnSpc>
                        <a:spcBef>
                          <a:spcPts val="505"/>
                        </a:spcBef>
                      </a:pPr>
                      <a:r>
                        <a:rPr dirty="0" sz="1000" spc="-10">
                          <a:latin typeface="Arial MT"/>
                          <a:cs typeface="Arial MT"/>
                        </a:rPr>
                        <a:t>18.32</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05"/>
                        </a:spcBef>
                      </a:pPr>
                      <a:r>
                        <a:rPr dirty="0" sz="1000" spc="-10">
                          <a:latin typeface="Arial MT"/>
                          <a:cs typeface="Arial MT"/>
                        </a:rPr>
                        <a:t>14.54</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05"/>
                        </a:spcBef>
                      </a:pPr>
                      <a:r>
                        <a:rPr dirty="0" sz="1000" spc="-20">
                          <a:latin typeface="Arial MT"/>
                          <a:cs typeface="Arial MT"/>
                        </a:rPr>
                        <a:t>9.73</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05"/>
                        </a:spcBef>
                      </a:pPr>
                      <a:r>
                        <a:rPr dirty="0" sz="1000" spc="-10">
                          <a:latin typeface="Arial MT"/>
                          <a:cs typeface="Arial MT"/>
                        </a:rPr>
                        <a:t>20.96</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05"/>
                        </a:spcBef>
                      </a:pPr>
                      <a:r>
                        <a:rPr dirty="0" sz="1000" spc="-20">
                          <a:latin typeface="Arial MT"/>
                          <a:cs typeface="Arial MT"/>
                        </a:rPr>
                        <a:t>7.02</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05"/>
                        </a:spcBef>
                      </a:pPr>
                      <a:r>
                        <a:rPr dirty="0" sz="1000" spc="-20">
                          <a:latin typeface="Arial MT"/>
                          <a:cs typeface="Arial MT"/>
                        </a:rPr>
                        <a:t>5.57</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505"/>
                        </a:spcBef>
                      </a:pPr>
                      <a:r>
                        <a:rPr dirty="0" sz="1000" spc="-20">
                          <a:latin typeface="Arial MT"/>
                          <a:cs typeface="Arial MT"/>
                        </a:rPr>
                        <a:t>7.95</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287655">
                <a:tc>
                  <a:txBody>
                    <a:bodyPr/>
                    <a:lstStyle/>
                    <a:p>
                      <a:pPr algn="ctr">
                        <a:lnSpc>
                          <a:spcPct val="100000"/>
                        </a:lnSpc>
                        <a:spcBef>
                          <a:spcPts val="500"/>
                        </a:spcBef>
                      </a:pPr>
                      <a:r>
                        <a:rPr dirty="0" sz="1000" b="1">
                          <a:solidFill>
                            <a:srgbClr val="FFFFFF"/>
                          </a:solidFill>
                          <a:latin typeface="Microsoft YaHei"/>
                          <a:cs typeface="Microsoft YaHei"/>
                        </a:rPr>
                        <a:t>承重墙</a:t>
                      </a:r>
                      <a:r>
                        <a:rPr dirty="0" sz="1000" spc="-10" b="1">
                          <a:solidFill>
                            <a:srgbClr val="FFFFFF"/>
                          </a:solidFill>
                          <a:latin typeface="Microsoft YaHei"/>
                          <a:cs typeface="Microsoft YaHei"/>
                        </a:rPr>
                        <a:t>（</a:t>
                      </a:r>
                      <a:r>
                        <a:rPr dirty="0" sz="1000" spc="-10" b="1">
                          <a:solidFill>
                            <a:srgbClr val="FFFFFF"/>
                          </a:solidFill>
                          <a:latin typeface="Arial"/>
                          <a:cs typeface="Arial"/>
                        </a:rPr>
                        <a:t>22dB</a:t>
                      </a:r>
                      <a:r>
                        <a:rPr dirty="0" sz="1000" spc="-10" b="1">
                          <a:solidFill>
                            <a:srgbClr val="FFFFFF"/>
                          </a:solidFill>
                          <a:latin typeface="Microsoft YaHei"/>
                          <a:cs typeface="Microsoft YaHei"/>
                        </a:rPr>
                        <a:t>）</a:t>
                      </a:r>
                      <a:endParaRPr sz="1000">
                        <a:latin typeface="Microsoft YaHei"/>
                        <a:cs typeface="Microsoft YaHei"/>
                      </a:endParaRPr>
                    </a:p>
                  </a:txBody>
                  <a:tcPr marL="0" marR="0" marB="0" marT="635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50"/>
                    </a:solidFill>
                  </a:tcPr>
                </a:tc>
                <a:tc>
                  <a:txBody>
                    <a:bodyPr/>
                    <a:lstStyle/>
                    <a:p>
                      <a:pPr algn="ctr">
                        <a:lnSpc>
                          <a:spcPct val="100000"/>
                        </a:lnSpc>
                        <a:spcBef>
                          <a:spcPts val="505"/>
                        </a:spcBef>
                      </a:pPr>
                      <a:r>
                        <a:rPr dirty="0" sz="1000" spc="-10">
                          <a:latin typeface="Arial MT"/>
                          <a:cs typeface="Arial MT"/>
                        </a:rPr>
                        <a:t>12.48</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20">
                          <a:latin typeface="Arial MT"/>
                          <a:cs typeface="Arial MT"/>
                        </a:rPr>
                        <a:t>9.91</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20">
                          <a:latin typeface="Arial MT"/>
                          <a:cs typeface="Arial MT"/>
                        </a:rPr>
                        <a:t>6.63</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10">
                          <a:latin typeface="Arial MT"/>
                          <a:cs typeface="Arial MT"/>
                        </a:rPr>
                        <a:t>14.28</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20">
                          <a:latin typeface="Arial MT"/>
                          <a:cs typeface="Arial MT"/>
                        </a:rPr>
                        <a:t>4.78</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20">
                          <a:latin typeface="Arial MT"/>
                          <a:cs typeface="Arial MT"/>
                        </a:rPr>
                        <a:t>3.79</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05"/>
                        </a:spcBef>
                      </a:pPr>
                      <a:r>
                        <a:rPr dirty="0" sz="1000" spc="-20">
                          <a:latin typeface="Arial MT"/>
                          <a:cs typeface="Arial MT"/>
                        </a:rPr>
                        <a:t>5.42</a:t>
                      </a:r>
                      <a:endParaRPr sz="1000">
                        <a:latin typeface="Arial MT"/>
                        <a:cs typeface="Arial MT"/>
                      </a:endParaRPr>
                    </a:p>
                  </a:txBody>
                  <a:tcPr marL="0" marR="0" marB="0" marT="641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bl>
          </a:graphicData>
        </a:graphic>
      </p:graphicFrame>
      <p:sp>
        <p:nvSpPr>
          <p:cNvPr id="4" name="object 4" descr=""/>
          <p:cNvSpPr txBox="1"/>
          <p:nvPr/>
        </p:nvSpPr>
        <p:spPr>
          <a:xfrm>
            <a:off x="258251" y="3900336"/>
            <a:ext cx="8647430" cy="1122680"/>
          </a:xfrm>
          <a:prstGeom prst="rect">
            <a:avLst/>
          </a:prstGeom>
        </p:spPr>
        <p:txBody>
          <a:bodyPr wrap="square" lIns="0" tIns="48895" rIns="0" bIns="0" rtlCol="0" vert="horz">
            <a:spAutoFit/>
          </a:bodyPr>
          <a:lstStyle/>
          <a:p>
            <a:pPr marL="12700">
              <a:lnSpc>
                <a:spcPct val="100000"/>
              </a:lnSpc>
              <a:spcBef>
                <a:spcPts val="385"/>
              </a:spcBef>
            </a:pPr>
            <a:r>
              <a:rPr dirty="0" sz="1200">
                <a:latin typeface="SimSun"/>
                <a:cs typeface="SimSun"/>
              </a:rPr>
              <a:t>双模</a:t>
            </a:r>
            <a:r>
              <a:rPr dirty="0" sz="1200" spc="-10" b="1">
                <a:latin typeface="Arial"/>
                <a:cs typeface="Arial"/>
              </a:rPr>
              <a:t>Pico</a:t>
            </a:r>
            <a:r>
              <a:rPr dirty="0" sz="1200">
                <a:latin typeface="SimSun"/>
                <a:cs typeface="SimSun"/>
              </a:rPr>
              <a:t>可满足</a:t>
            </a:r>
            <a:r>
              <a:rPr dirty="0" sz="1200" spc="-10" b="1">
                <a:latin typeface="Arial"/>
                <a:cs typeface="Arial"/>
              </a:rPr>
              <a:t>4/5G</a:t>
            </a:r>
            <a:r>
              <a:rPr dirty="0" sz="1200" spc="-10">
                <a:latin typeface="SimSun"/>
                <a:cs typeface="SimSun"/>
              </a:rPr>
              <a:t>共点位部署</a:t>
            </a:r>
            <a:endParaRPr sz="1200">
              <a:latin typeface="SimSun"/>
              <a:cs typeface="SimSun"/>
            </a:endParaRPr>
          </a:p>
          <a:p>
            <a:pPr marL="297815" marR="213360" indent="-285750">
              <a:lnSpc>
                <a:spcPct val="120000"/>
              </a:lnSpc>
              <a:buFont typeface="Wingdings"/>
              <a:buChar char=""/>
              <a:tabLst>
                <a:tab pos="297815" algn="l"/>
              </a:tabLst>
            </a:pPr>
            <a:r>
              <a:rPr dirty="0" sz="1200">
                <a:latin typeface="Arial MT"/>
                <a:cs typeface="Arial MT"/>
              </a:rPr>
              <a:t>2.6GHz NR </a:t>
            </a:r>
            <a:r>
              <a:rPr dirty="0" sz="1200" spc="-10">
                <a:latin typeface="Arial MT"/>
                <a:cs typeface="Arial MT"/>
              </a:rPr>
              <a:t>4T4R</a:t>
            </a:r>
            <a:r>
              <a:rPr dirty="0" sz="1200" spc="-10">
                <a:latin typeface="SimSun"/>
                <a:cs typeface="SimSun"/>
              </a:rPr>
              <a:t>，</a:t>
            </a:r>
            <a:r>
              <a:rPr dirty="0" sz="1200" spc="-10">
                <a:latin typeface="Arial MT"/>
                <a:cs typeface="Arial MT"/>
              </a:rPr>
              <a:t>4*250mW</a:t>
            </a:r>
            <a:r>
              <a:rPr dirty="0" sz="1200">
                <a:latin typeface="SimSun"/>
                <a:cs typeface="SimSun"/>
              </a:rPr>
              <a:t>发射功率配置下的</a:t>
            </a:r>
            <a:r>
              <a:rPr dirty="0" sz="1200" spc="-10">
                <a:latin typeface="Arial MT"/>
                <a:cs typeface="Arial MT"/>
              </a:rPr>
              <a:t>PICO</a:t>
            </a:r>
            <a:r>
              <a:rPr dirty="0" sz="1200" spc="-5">
                <a:latin typeface="SimSun"/>
                <a:cs typeface="SimSun"/>
              </a:rPr>
              <a:t>，按</a:t>
            </a:r>
            <a:r>
              <a:rPr dirty="0" sz="1200">
                <a:latin typeface="Arial MT"/>
                <a:cs typeface="Arial MT"/>
              </a:rPr>
              <a:t>DL</a:t>
            </a:r>
            <a:r>
              <a:rPr dirty="0" sz="1200" spc="-15">
                <a:latin typeface="Arial MT"/>
                <a:cs typeface="Arial MT"/>
              </a:rPr>
              <a:t> = </a:t>
            </a:r>
            <a:r>
              <a:rPr dirty="0" sz="1200" spc="-10">
                <a:latin typeface="Arial MT"/>
                <a:cs typeface="Arial MT"/>
              </a:rPr>
              <a:t>100Mbps</a:t>
            </a:r>
            <a:r>
              <a:rPr dirty="0" sz="1200">
                <a:latin typeface="SimSun"/>
                <a:cs typeface="SimSun"/>
              </a:rPr>
              <a:t>为边缘点规划时，覆盖距离好于</a:t>
            </a:r>
            <a:r>
              <a:rPr dirty="0" sz="1200" spc="-35">
                <a:latin typeface="Arial MT"/>
                <a:cs typeface="Arial MT"/>
              </a:rPr>
              <a:t>LTE-</a:t>
            </a:r>
            <a:r>
              <a:rPr dirty="0" sz="1200" spc="-10">
                <a:latin typeface="Arial MT"/>
                <a:cs typeface="Arial MT"/>
              </a:rPr>
              <a:t>95</a:t>
            </a:r>
            <a:r>
              <a:rPr dirty="0" sz="1200" spc="-15">
                <a:latin typeface="SimSun"/>
                <a:cs typeface="SimSun"/>
              </a:rPr>
              <a:t>规划电平</a:t>
            </a:r>
            <a:r>
              <a:rPr dirty="0" sz="1200">
                <a:latin typeface="SimSun"/>
                <a:cs typeface="SimSun"/>
              </a:rPr>
              <a:t>覆盖距离，与</a:t>
            </a:r>
            <a:r>
              <a:rPr dirty="0" sz="1200" spc="-35">
                <a:latin typeface="Arial MT"/>
                <a:cs typeface="Arial MT"/>
              </a:rPr>
              <a:t>LTE-</a:t>
            </a:r>
            <a:r>
              <a:rPr dirty="0" sz="1200" spc="-10">
                <a:latin typeface="Arial MT"/>
                <a:cs typeface="Arial MT"/>
              </a:rPr>
              <a:t>105</a:t>
            </a:r>
            <a:r>
              <a:rPr dirty="0" sz="1200" spc="-5">
                <a:latin typeface="SimSun"/>
                <a:cs typeface="SimSun"/>
              </a:rPr>
              <a:t>规划电平点覆盖距离相当</a:t>
            </a:r>
            <a:endParaRPr sz="1200">
              <a:latin typeface="SimSun"/>
              <a:cs typeface="SimSun"/>
            </a:endParaRPr>
          </a:p>
          <a:p>
            <a:pPr marL="297815" marR="5080" indent="-285750">
              <a:lnSpc>
                <a:spcPct val="120000"/>
              </a:lnSpc>
              <a:buFont typeface="Wingdings"/>
              <a:buChar char=""/>
              <a:tabLst>
                <a:tab pos="297815" algn="l"/>
              </a:tabLst>
            </a:pPr>
            <a:r>
              <a:rPr dirty="0" sz="1200">
                <a:latin typeface="SimSun"/>
                <a:cs typeface="SimSun"/>
              </a:rPr>
              <a:t>修正的</a:t>
            </a:r>
            <a:r>
              <a:rPr dirty="0" sz="1200" spc="-30">
                <a:latin typeface="Arial MT"/>
                <a:cs typeface="Arial MT"/>
              </a:rPr>
              <a:t>R.P.1238</a:t>
            </a:r>
            <a:r>
              <a:rPr dirty="0" sz="1200" spc="-5">
                <a:latin typeface="SimSun"/>
                <a:cs typeface="SimSun"/>
              </a:rPr>
              <a:t>模型下</a:t>
            </a:r>
            <a:r>
              <a:rPr dirty="0" sz="1200">
                <a:latin typeface="SimSun"/>
                <a:cs typeface="SimSun"/>
              </a:rPr>
              <a:t>（参考</a:t>
            </a:r>
            <a:r>
              <a:rPr dirty="0" sz="1200" spc="-10">
                <a:latin typeface="Arial MT"/>
                <a:cs typeface="Arial MT"/>
              </a:rPr>
              <a:t>4G</a:t>
            </a:r>
            <a:r>
              <a:rPr dirty="0" sz="1200">
                <a:latin typeface="SimSun"/>
                <a:cs typeface="SimSun"/>
              </a:rPr>
              <a:t>时，对</a:t>
            </a:r>
            <a:r>
              <a:rPr dirty="0" sz="1200" spc="-10">
                <a:latin typeface="Arial MT"/>
                <a:cs typeface="Arial MT"/>
              </a:rPr>
              <a:t>1238</a:t>
            </a:r>
            <a:r>
              <a:rPr dirty="0" sz="1200" spc="-5">
                <a:latin typeface="SimSun"/>
                <a:cs typeface="SimSun"/>
              </a:rPr>
              <a:t>模型的修正</a:t>
            </a:r>
            <a:r>
              <a:rPr dirty="0" sz="1200">
                <a:latin typeface="SimSun"/>
                <a:cs typeface="SimSun"/>
              </a:rPr>
              <a:t>），</a:t>
            </a:r>
            <a:r>
              <a:rPr dirty="0" sz="1200" spc="-25">
                <a:latin typeface="SimSun"/>
                <a:cs typeface="SimSun"/>
              </a:rPr>
              <a:t>传播条件趋于苛刻， </a:t>
            </a:r>
            <a:r>
              <a:rPr dirty="0" sz="1200" spc="-10">
                <a:latin typeface="Arial MT"/>
                <a:cs typeface="Arial MT"/>
              </a:rPr>
              <a:t>4*250mW</a:t>
            </a:r>
            <a:r>
              <a:rPr dirty="0" sz="1200">
                <a:latin typeface="SimSun"/>
                <a:cs typeface="SimSun"/>
              </a:rPr>
              <a:t>时，按</a:t>
            </a:r>
            <a:r>
              <a:rPr dirty="0" sz="1200">
                <a:latin typeface="Arial MT"/>
                <a:cs typeface="Arial MT"/>
              </a:rPr>
              <a:t>DL</a:t>
            </a:r>
            <a:r>
              <a:rPr dirty="0" sz="1200" spc="-10">
                <a:latin typeface="Arial MT"/>
                <a:cs typeface="Arial MT"/>
              </a:rPr>
              <a:t> = 100Mbps</a:t>
            </a:r>
            <a:r>
              <a:rPr dirty="0" sz="1200" spc="-15">
                <a:latin typeface="SimSun"/>
                <a:cs typeface="SimSun"/>
              </a:rPr>
              <a:t>进行规划，</a:t>
            </a:r>
            <a:r>
              <a:rPr dirty="0" sz="1200">
                <a:latin typeface="SimSun"/>
                <a:cs typeface="SimSun"/>
              </a:rPr>
              <a:t>覆盖距离与</a:t>
            </a:r>
            <a:r>
              <a:rPr dirty="0" sz="1200" spc="-10">
                <a:latin typeface="Arial MT"/>
                <a:cs typeface="Arial MT"/>
              </a:rPr>
              <a:t>LTE</a:t>
            </a:r>
            <a:r>
              <a:rPr dirty="0" sz="1200" spc="-30">
                <a:latin typeface="Arial MT"/>
                <a:cs typeface="Arial MT"/>
              </a:rPr>
              <a:t> -</a:t>
            </a:r>
            <a:r>
              <a:rPr dirty="0" sz="1200" spc="-10">
                <a:latin typeface="Arial MT"/>
                <a:cs typeface="Arial MT"/>
              </a:rPr>
              <a:t>105</a:t>
            </a:r>
            <a:r>
              <a:rPr dirty="0" sz="1200" spc="-10">
                <a:latin typeface="SimSun"/>
                <a:cs typeface="SimSun"/>
              </a:rPr>
              <a:t>距离相当。</a:t>
            </a:r>
            <a:endParaRPr sz="1200">
              <a:latin typeface="SimSun"/>
              <a:cs typeface="SimSu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3272" y="149237"/>
            <a:ext cx="25793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0"/>
              <a:t>分布式皮站</a:t>
            </a:r>
          </a:p>
        </p:txBody>
      </p:sp>
      <p:grpSp>
        <p:nvGrpSpPr>
          <p:cNvPr id="3" name="object 3" descr=""/>
          <p:cNvGrpSpPr/>
          <p:nvPr/>
        </p:nvGrpSpPr>
        <p:grpSpPr>
          <a:xfrm>
            <a:off x="259079" y="862583"/>
            <a:ext cx="4373880" cy="510540"/>
            <a:chOff x="259079" y="862583"/>
            <a:chExt cx="4373880" cy="510540"/>
          </a:xfrm>
        </p:grpSpPr>
        <p:pic>
          <p:nvPicPr>
            <p:cNvPr id="4" name="object 4" descr=""/>
            <p:cNvPicPr/>
            <p:nvPr/>
          </p:nvPicPr>
          <p:blipFill>
            <a:blip r:embed="rId2" cstate="print"/>
            <a:stretch>
              <a:fillRect/>
            </a:stretch>
          </p:blipFill>
          <p:spPr>
            <a:xfrm>
              <a:off x="259079" y="862583"/>
              <a:ext cx="4373867" cy="510539"/>
            </a:xfrm>
            <a:prstGeom prst="rect">
              <a:avLst/>
            </a:prstGeom>
          </p:spPr>
        </p:pic>
        <p:pic>
          <p:nvPicPr>
            <p:cNvPr id="5" name="object 5" descr=""/>
            <p:cNvPicPr/>
            <p:nvPr/>
          </p:nvPicPr>
          <p:blipFill>
            <a:blip r:embed="rId3" cstate="print"/>
            <a:stretch>
              <a:fillRect/>
            </a:stretch>
          </p:blipFill>
          <p:spPr>
            <a:xfrm>
              <a:off x="304799" y="895349"/>
              <a:ext cx="4281932" cy="408622"/>
            </a:xfrm>
            <a:prstGeom prst="rect">
              <a:avLst/>
            </a:prstGeom>
          </p:spPr>
        </p:pic>
        <p:sp>
          <p:nvSpPr>
            <p:cNvPr id="6" name="object 6" descr=""/>
            <p:cNvSpPr/>
            <p:nvPr/>
          </p:nvSpPr>
          <p:spPr>
            <a:xfrm>
              <a:off x="304799" y="895344"/>
              <a:ext cx="4282440" cy="408940"/>
            </a:xfrm>
            <a:custGeom>
              <a:avLst/>
              <a:gdLst/>
              <a:ahLst/>
              <a:cxnLst/>
              <a:rect l="l" t="t" r="r" b="b"/>
              <a:pathLst>
                <a:path w="4282440" h="408940">
                  <a:moveTo>
                    <a:pt x="0" y="68110"/>
                  </a:moveTo>
                  <a:lnTo>
                    <a:pt x="5352" y="41598"/>
                  </a:lnTo>
                  <a:lnTo>
                    <a:pt x="19948" y="19948"/>
                  </a:lnTo>
                  <a:lnTo>
                    <a:pt x="41598" y="5352"/>
                  </a:lnTo>
                  <a:lnTo>
                    <a:pt x="68110" y="0"/>
                  </a:lnTo>
                  <a:lnTo>
                    <a:pt x="4213834" y="0"/>
                  </a:lnTo>
                  <a:lnTo>
                    <a:pt x="4240339" y="5352"/>
                  </a:lnTo>
                  <a:lnTo>
                    <a:pt x="4261985" y="19948"/>
                  </a:lnTo>
                  <a:lnTo>
                    <a:pt x="4276579" y="41598"/>
                  </a:lnTo>
                  <a:lnTo>
                    <a:pt x="4281932" y="68110"/>
                  </a:lnTo>
                  <a:lnTo>
                    <a:pt x="4281932" y="340525"/>
                  </a:lnTo>
                  <a:lnTo>
                    <a:pt x="4276579" y="367029"/>
                  </a:lnTo>
                  <a:lnTo>
                    <a:pt x="4261985" y="388675"/>
                  </a:lnTo>
                  <a:lnTo>
                    <a:pt x="4240339" y="403270"/>
                  </a:lnTo>
                  <a:lnTo>
                    <a:pt x="4213834" y="408622"/>
                  </a:lnTo>
                  <a:lnTo>
                    <a:pt x="68110" y="408622"/>
                  </a:lnTo>
                  <a:lnTo>
                    <a:pt x="41598" y="403270"/>
                  </a:lnTo>
                  <a:lnTo>
                    <a:pt x="19948" y="388675"/>
                  </a:lnTo>
                  <a:lnTo>
                    <a:pt x="5352" y="367029"/>
                  </a:lnTo>
                  <a:lnTo>
                    <a:pt x="0" y="340525"/>
                  </a:lnTo>
                  <a:lnTo>
                    <a:pt x="0" y="68110"/>
                  </a:lnTo>
                  <a:close/>
                </a:path>
              </a:pathLst>
            </a:custGeom>
            <a:ln w="9525">
              <a:solidFill>
                <a:srgbClr val="B6DCDF"/>
              </a:solidFill>
            </a:ln>
          </p:spPr>
          <p:txBody>
            <a:bodyPr wrap="square" lIns="0" tIns="0" rIns="0" bIns="0" rtlCol="0"/>
            <a:lstStyle/>
            <a:p/>
          </p:txBody>
        </p:sp>
      </p:grpSp>
      <p:sp>
        <p:nvSpPr>
          <p:cNvPr id="7" name="object 7" descr=""/>
          <p:cNvSpPr txBox="1"/>
          <p:nvPr/>
        </p:nvSpPr>
        <p:spPr>
          <a:xfrm>
            <a:off x="1573181" y="944506"/>
            <a:ext cx="1744345" cy="299720"/>
          </a:xfrm>
          <a:prstGeom prst="rect">
            <a:avLst/>
          </a:prstGeom>
        </p:spPr>
        <p:txBody>
          <a:bodyPr wrap="square" lIns="0" tIns="12700" rIns="0" bIns="0" rtlCol="0" vert="horz">
            <a:spAutoFit/>
          </a:bodyPr>
          <a:lstStyle/>
          <a:p>
            <a:pPr marL="12700">
              <a:lnSpc>
                <a:spcPct val="100000"/>
              </a:lnSpc>
              <a:spcBef>
                <a:spcPts val="100"/>
              </a:spcBef>
            </a:pPr>
            <a:r>
              <a:rPr dirty="0" sz="1800">
                <a:solidFill>
                  <a:srgbClr val="FFFFFF"/>
                </a:solidFill>
                <a:latin typeface="SimSun"/>
                <a:cs typeface="SimSun"/>
              </a:rPr>
              <a:t>新一代</a:t>
            </a:r>
            <a:r>
              <a:rPr dirty="0" sz="1800" b="1">
                <a:solidFill>
                  <a:srgbClr val="FFFFFF"/>
                </a:solidFill>
                <a:latin typeface="Arial"/>
                <a:cs typeface="Arial"/>
              </a:rPr>
              <a:t>pico</a:t>
            </a:r>
            <a:r>
              <a:rPr dirty="0" sz="1800" spc="5" b="1">
                <a:solidFill>
                  <a:srgbClr val="FFFFFF"/>
                </a:solidFill>
                <a:latin typeface="Arial"/>
                <a:cs typeface="Arial"/>
              </a:rPr>
              <a:t> </a:t>
            </a:r>
            <a:r>
              <a:rPr dirty="0" sz="1800" spc="-25" b="1">
                <a:solidFill>
                  <a:srgbClr val="FFFFFF"/>
                </a:solidFill>
                <a:latin typeface="Arial"/>
                <a:cs typeface="Arial"/>
              </a:rPr>
              <a:t>RRU</a:t>
            </a:r>
            <a:endParaRPr sz="1800">
              <a:latin typeface="Arial"/>
              <a:cs typeface="Arial"/>
            </a:endParaRPr>
          </a:p>
        </p:txBody>
      </p:sp>
      <p:graphicFrame>
        <p:nvGraphicFramePr>
          <p:cNvPr id="8" name="object 8" descr=""/>
          <p:cNvGraphicFramePr>
            <a:graphicFrameLocks noGrp="1"/>
          </p:cNvGraphicFramePr>
          <p:nvPr/>
        </p:nvGraphicFramePr>
        <p:xfrm>
          <a:off x="5556250" y="1193800"/>
          <a:ext cx="3401695" cy="3681729"/>
        </p:xfrm>
        <a:graphic>
          <a:graphicData uri="http://schemas.openxmlformats.org/drawingml/2006/table">
            <a:tbl>
              <a:tblPr firstRow="1" bandRow="1">
                <a:tableStyleId>{2D5ABB26-0587-4C30-8999-92F81FD0307C}</a:tableStyleId>
              </a:tblPr>
              <a:tblGrid>
                <a:gridCol w="1312545"/>
                <a:gridCol w="2000250"/>
              </a:tblGrid>
              <a:tr h="297815">
                <a:tc>
                  <a:txBody>
                    <a:bodyPr/>
                    <a:lstStyle/>
                    <a:p>
                      <a:pPr algn="ctr">
                        <a:lnSpc>
                          <a:spcPct val="100000"/>
                        </a:lnSpc>
                        <a:spcBef>
                          <a:spcPts val="470"/>
                        </a:spcBef>
                      </a:pPr>
                      <a:r>
                        <a:rPr dirty="0" sz="1100" spc="-30" b="1">
                          <a:solidFill>
                            <a:srgbClr val="212121"/>
                          </a:solidFill>
                          <a:latin typeface="Microsoft YaHei"/>
                          <a:cs typeface="Microsoft YaHei"/>
                        </a:rPr>
                        <a:t>产品型号</a:t>
                      </a:r>
                      <a:endParaRPr sz="1100">
                        <a:latin typeface="Microsoft YaHei"/>
                        <a:cs typeface="Microsoft YaHei"/>
                      </a:endParaRPr>
                    </a:p>
                  </a:txBody>
                  <a:tcPr marL="0" marR="0" marB="0" marT="5969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tcPr>
                </a:tc>
                <a:tc>
                  <a:txBody>
                    <a:bodyPr/>
                    <a:lstStyle/>
                    <a:p>
                      <a:pPr algn="ctr">
                        <a:lnSpc>
                          <a:spcPct val="100000"/>
                        </a:lnSpc>
                        <a:spcBef>
                          <a:spcPts val="509"/>
                        </a:spcBef>
                      </a:pPr>
                      <a:r>
                        <a:rPr dirty="0" sz="1100" spc="-10" b="1">
                          <a:latin typeface="Arial"/>
                          <a:cs typeface="Arial"/>
                        </a:rPr>
                        <a:t>pRUpRU52260</a:t>
                      </a:r>
                      <a:endParaRPr sz="1100">
                        <a:latin typeface="Arial"/>
                        <a:cs typeface="Arial"/>
                      </a:endParaRPr>
                    </a:p>
                  </a:txBody>
                  <a:tcPr marL="0" marR="0" marB="0" marT="64769">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tcPr>
                </a:tc>
              </a:tr>
              <a:tr h="288290">
                <a:tc>
                  <a:txBody>
                    <a:bodyPr/>
                    <a:lstStyle/>
                    <a:p>
                      <a:pPr algn="ctr">
                        <a:lnSpc>
                          <a:spcPct val="100000"/>
                        </a:lnSpc>
                        <a:spcBef>
                          <a:spcPts val="430"/>
                        </a:spcBef>
                      </a:pPr>
                      <a:r>
                        <a:rPr dirty="0" sz="1100" spc="-35" b="1">
                          <a:solidFill>
                            <a:srgbClr val="212121"/>
                          </a:solidFill>
                          <a:latin typeface="Microsoft YaHei"/>
                          <a:cs typeface="Microsoft YaHei"/>
                        </a:rPr>
                        <a:t>体积</a:t>
                      </a:r>
                      <a:endParaRPr sz="1100">
                        <a:latin typeface="Microsoft YaHei"/>
                        <a:cs typeface="Microsoft YaHei"/>
                      </a:endParaRPr>
                    </a:p>
                  </a:txBody>
                  <a:tcPr marL="0" marR="0" marB="0" marT="5461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solidFill>
                      <a:srgbClr val="666666">
                        <a:alpha val="19999"/>
                      </a:srgbClr>
                    </a:solidFill>
                  </a:tcPr>
                </a:tc>
                <a:tc>
                  <a:txBody>
                    <a:bodyPr/>
                    <a:lstStyle/>
                    <a:p>
                      <a:pPr algn="ctr" marL="39370">
                        <a:lnSpc>
                          <a:spcPct val="100000"/>
                        </a:lnSpc>
                        <a:spcBef>
                          <a:spcPts val="459"/>
                        </a:spcBef>
                      </a:pPr>
                      <a:r>
                        <a:rPr dirty="0" sz="1100" spc="-10">
                          <a:latin typeface="Microsoft YaHei"/>
                          <a:cs typeface="Microsoft YaHei"/>
                        </a:rPr>
                        <a:t>&lt;2.5L</a:t>
                      </a:r>
                      <a:endParaRPr sz="1100">
                        <a:latin typeface="Microsoft YaHei"/>
                        <a:cs typeface="Microsoft YaHei"/>
                      </a:endParaRPr>
                    </a:p>
                  </a:txBody>
                  <a:tcPr marL="0" marR="0" marB="0" marT="58419">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solidFill>
                      <a:srgbClr val="666666">
                        <a:alpha val="19999"/>
                      </a:srgbClr>
                    </a:solidFill>
                  </a:tcPr>
                </a:tc>
              </a:tr>
              <a:tr h="222885">
                <a:tc>
                  <a:txBody>
                    <a:bodyPr/>
                    <a:lstStyle/>
                    <a:p>
                      <a:pPr algn="ctr">
                        <a:lnSpc>
                          <a:spcPct val="100000"/>
                        </a:lnSpc>
                        <a:spcBef>
                          <a:spcPts val="175"/>
                        </a:spcBef>
                      </a:pPr>
                      <a:r>
                        <a:rPr dirty="0" sz="1100" spc="-35" b="1">
                          <a:solidFill>
                            <a:srgbClr val="212121"/>
                          </a:solidFill>
                          <a:latin typeface="Microsoft YaHei"/>
                          <a:cs typeface="Microsoft YaHei"/>
                        </a:rPr>
                        <a:t>重量</a:t>
                      </a:r>
                      <a:endParaRPr sz="1100">
                        <a:latin typeface="Microsoft YaHei"/>
                        <a:cs typeface="Microsoft YaHei"/>
                      </a:endParaRPr>
                    </a:p>
                  </a:txBody>
                  <a:tcPr marL="0" marR="0" marB="0" marT="22225">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tcPr>
                </a:tc>
                <a:tc>
                  <a:txBody>
                    <a:bodyPr/>
                    <a:lstStyle/>
                    <a:p>
                      <a:pPr algn="ctr">
                        <a:lnSpc>
                          <a:spcPct val="100000"/>
                        </a:lnSpc>
                        <a:spcBef>
                          <a:spcPts val="200"/>
                        </a:spcBef>
                      </a:pPr>
                      <a:r>
                        <a:rPr dirty="0" sz="1100" spc="-10">
                          <a:latin typeface="Microsoft YaHei"/>
                          <a:cs typeface="Microsoft YaHei"/>
                        </a:rPr>
                        <a:t>&lt;2.5Kg</a:t>
                      </a:r>
                      <a:endParaRPr sz="1100">
                        <a:latin typeface="Microsoft YaHei"/>
                        <a:cs typeface="Microsoft YaHei"/>
                      </a:endParaRPr>
                    </a:p>
                  </a:txBody>
                  <a:tcPr marL="0" marR="0" marB="0" marT="2540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tcPr>
                </a:tc>
              </a:tr>
              <a:tr h="384175">
                <a:tc>
                  <a:txBody>
                    <a:bodyPr/>
                    <a:lstStyle/>
                    <a:p>
                      <a:pPr algn="ctr">
                        <a:lnSpc>
                          <a:spcPct val="100000"/>
                        </a:lnSpc>
                        <a:spcBef>
                          <a:spcPts val="810"/>
                        </a:spcBef>
                      </a:pPr>
                      <a:r>
                        <a:rPr dirty="0" sz="1100" spc="-30" b="1">
                          <a:solidFill>
                            <a:srgbClr val="212121"/>
                          </a:solidFill>
                          <a:latin typeface="Microsoft YaHei"/>
                          <a:cs typeface="Microsoft YaHei"/>
                        </a:rPr>
                        <a:t>射频带宽</a:t>
                      </a:r>
                      <a:endParaRPr sz="1100">
                        <a:latin typeface="Microsoft YaHei"/>
                        <a:cs typeface="Microsoft YaHei"/>
                      </a:endParaRPr>
                    </a:p>
                  </a:txBody>
                  <a:tcPr marL="0" marR="0" marB="0" marT="10287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solidFill>
                      <a:srgbClr val="666666">
                        <a:alpha val="19999"/>
                      </a:srgbClr>
                    </a:solidFill>
                  </a:tcPr>
                </a:tc>
                <a:tc>
                  <a:txBody>
                    <a:bodyPr/>
                    <a:lstStyle/>
                    <a:p>
                      <a:pPr algn="ctr">
                        <a:lnSpc>
                          <a:spcPct val="100000"/>
                        </a:lnSpc>
                        <a:spcBef>
                          <a:spcPts val="840"/>
                        </a:spcBef>
                      </a:pPr>
                      <a:r>
                        <a:rPr dirty="0" sz="1100" spc="-10">
                          <a:solidFill>
                            <a:srgbClr val="212121"/>
                          </a:solidFill>
                          <a:latin typeface="Microsoft YaHei"/>
                          <a:cs typeface="Microsoft YaHei"/>
                        </a:rPr>
                        <a:t>3300~3600MHz</a:t>
                      </a:r>
                      <a:endParaRPr sz="1100">
                        <a:latin typeface="Microsoft YaHei"/>
                        <a:cs typeface="Microsoft YaHei"/>
                      </a:endParaRPr>
                    </a:p>
                  </a:txBody>
                  <a:tcPr marL="0" marR="0" marB="0" marT="10668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solidFill>
                      <a:srgbClr val="666666">
                        <a:alpha val="19999"/>
                      </a:srgbClr>
                    </a:solidFill>
                  </a:tcPr>
                </a:tc>
              </a:tr>
              <a:tr h="570865">
                <a:tc>
                  <a:txBody>
                    <a:bodyPr/>
                    <a:lstStyle/>
                    <a:p>
                      <a:pPr>
                        <a:lnSpc>
                          <a:spcPct val="100000"/>
                        </a:lnSpc>
                        <a:spcBef>
                          <a:spcPts val="280"/>
                        </a:spcBef>
                      </a:pPr>
                      <a:endParaRPr sz="1100">
                        <a:latin typeface="Times New Roman"/>
                        <a:cs typeface="Times New Roman"/>
                      </a:endParaRPr>
                    </a:p>
                    <a:p>
                      <a:pPr algn="ctr">
                        <a:lnSpc>
                          <a:spcPct val="100000"/>
                        </a:lnSpc>
                      </a:pPr>
                      <a:r>
                        <a:rPr dirty="0" sz="1100" spc="-30" b="1">
                          <a:solidFill>
                            <a:srgbClr val="212121"/>
                          </a:solidFill>
                          <a:latin typeface="Microsoft YaHei"/>
                          <a:cs typeface="Microsoft YaHei"/>
                        </a:rPr>
                        <a:t>输出功率</a:t>
                      </a:r>
                      <a:endParaRPr sz="1100">
                        <a:latin typeface="Microsoft YaHei"/>
                        <a:cs typeface="Microsoft YaHei"/>
                      </a:endParaRPr>
                    </a:p>
                  </a:txBody>
                  <a:tcPr marL="0" marR="0" marB="0" marT="3556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tcPr>
                </a:tc>
                <a:tc>
                  <a:txBody>
                    <a:bodyPr/>
                    <a:lstStyle/>
                    <a:p>
                      <a:pPr>
                        <a:lnSpc>
                          <a:spcPct val="100000"/>
                        </a:lnSpc>
                        <a:spcBef>
                          <a:spcPts val="310"/>
                        </a:spcBef>
                      </a:pPr>
                      <a:endParaRPr sz="1100">
                        <a:latin typeface="Times New Roman"/>
                        <a:cs typeface="Times New Roman"/>
                      </a:endParaRPr>
                    </a:p>
                    <a:p>
                      <a:pPr algn="ctr">
                        <a:lnSpc>
                          <a:spcPct val="100000"/>
                        </a:lnSpc>
                      </a:pPr>
                      <a:r>
                        <a:rPr dirty="0" sz="1100" spc="-10">
                          <a:solidFill>
                            <a:srgbClr val="212121"/>
                          </a:solidFill>
                          <a:latin typeface="Microsoft YaHei"/>
                          <a:cs typeface="Microsoft YaHei"/>
                        </a:rPr>
                        <a:t>4*250mW</a:t>
                      </a:r>
                      <a:endParaRPr sz="1100">
                        <a:latin typeface="Microsoft YaHei"/>
                        <a:cs typeface="Microsoft YaHei"/>
                      </a:endParaRPr>
                    </a:p>
                  </a:txBody>
                  <a:tcPr marL="0" marR="0" marB="0" marT="3937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tcPr>
                </a:tc>
              </a:tr>
              <a:tr h="374650">
                <a:tc>
                  <a:txBody>
                    <a:bodyPr/>
                    <a:lstStyle/>
                    <a:p>
                      <a:pPr algn="ctr">
                        <a:lnSpc>
                          <a:spcPct val="100000"/>
                        </a:lnSpc>
                        <a:spcBef>
                          <a:spcPts val="775"/>
                        </a:spcBef>
                      </a:pPr>
                      <a:r>
                        <a:rPr dirty="0" sz="1100" spc="-30" b="1">
                          <a:solidFill>
                            <a:srgbClr val="212121"/>
                          </a:solidFill>
                          <a:latin typeface="Microsoft YaHei"/>
                          <a:cs typeface="Microsoft YaHei"/>
                        </a:rPr>
                        <a:t>工作带宽</a:t>
                      </a:r>
                      <a:endParaRPr sz="1100">
                        <a:latin typeface="Microsoft YaHei"/>
                        <a:cs typeface="Microsoft YaHei"/>
                      </a:endParaRPr>
                    </a:p>
                  </a:txBody>
                  <a:tcPr marL="0" marR="0" marB="0" marT="98425">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solidFill>
                      <a:srgbClr val="666666">
                        <a:alpha val="19999"/>
                      </a:srgbClr>
                    </a:solidFill>
                  </a:tcPr>
                </a:tc>
                <a:tc>
                  <a:txBody>
                    <a:bodyPr/>
                    <a:lstStyle/>
                    <a:p>
                      <a:pPr algn="ctr">
                        <a:lnSpc>
                          <a:spcPct val="100000"/>
                        </a:lnSpc>
                        <a:spcBef>
                          <a:spcPts val="800"/>
                        </a:spcBef>
                      </a:pPr>
                      <a:r>
                        <a:rPr dirty="0" sz="1100" spc="-20">
                          <a:solidFill>
                            <a:srgbClr val="212121"/>
                          </a:solidFill>
                          <a:latin typeface="Microsoft YaHei"/>
                          <a:cs typeface="Microsoft YaHei"/>
                        </a:rPr>
                        <a:t>100M</a:t>
                      </a:r>
                      <a:endParaRPr sz="1100">
                        <a:latin typeface="Microsoft YaHei"/>
                        <a:cs typeface="Microsoft YaHei"/>
                      </a:endParaRPr>
                    </a:p>
                  </a:txBody>
                  <a:tcPr marL="0" marR="0" marB="0" marT="10160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solidFill>
                      <a:srgbClr val="666666">
                        <a:alpha val="19999"/>
                      </a:srgbClr>
                    </a:solidFill>
                  </a:tcPr>
                </a:tc>
              </a:tr>
              <a:tr h="320040">
                <a:tc>
                  <a:txBody>
                    <a:bodyPr/>
                    <a:lstStyle/>
                    <a:p>
                      <a:pPr algn="ctr">
                        <a:lnSpc>
                          <a:spcPct val="100000"/>
                        </a:lnSpc>
                        <a:spcBef>
                          <a:spcPts val="555"/>
                        </a:spcBef>
                      </a:pPr>
                      <a:r>
                        <a:rPr dirty="0" sz="1100" spc="-35" b="1">
                          <a:solidFill>
                            <a:srgbClr val="212121"/>
                          </a:solidFill>
                          <a:latin typeface="Microsoft YaHei"/>
                          <a:cs typeface="Microsoft YaHei"/>
                        </a:rPr>
                        <a:t>天线</a:t>
                      </a:r>
                      <a:endParaRPr sz="1100">
                        <a:latin typeface="Microsoft YaHei"/>
                        <a:cs typeface="Microsoft YaHei"/>
                      </a:endParaRPr>
                    </a:p>
                  </a:txBody>
                  <a:tcPr marL="0" marR="0" marB="0" marT="70485">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tcPr>
                </a:tc>
                <a:tc>
                  <a:txBody>
                    <a:bodyPr/>
                    <a:lstStyle/>
                    <a:p>
                      <a:pPr algn="ctr">
                        <a:lnSpc>
                          <a:spcPct val="100000"/>
                        </a:lnSpc>
                        <a:spcBef>
                          <a:spcPts val="585"/>
                        </a:spcBef>
                      </a:pPr>
                      <a:r>
                        <a:rPr dirty="0" sz="1100" spc="-25">
                          <a:solidFill>
                            <a:srgbClr val="212121"/>
                          </a:solidFill>
                          <a:latin typeface="Microsoft YaHei"/>
                          <a:cs typeface="Microsoft YaHei"/>
                        </a:rPr>
                        <a:t>内置或外接天线</a:t>
                      </a:r>
                      <a:endParaRPr sz="1100">
                        <a:latin typeface="Microsoft YaHei"/>
                        <a:cs typeface="Microsoft YaHei"/>
                      </a:endParaRPr>
                    </a:p>
                  </a:txBody>
                  <a:tcPr marL="0" marR="0" marB="0" marT="74295">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tcPr>
                </a:tc>
              </a:tr>
              <a:tr h="285115">
                <a:tc>
                  <a:txBody>
                    <a:bodyPr/>
                    <a:lstStyle/>
                    <a:p>
                      <a:pPr algn="ctr">
                        <a:lnSpc>
                          <a:spcPct val="100000"/>
                        </a:lnSpc>
                        <a:spcBef>
                          <a:spcPts val="420"/>
                        </a:spcBef>
                      </a:pPr>
                      <a:r>
                        <a:rPr dirty="0" sz="1100" spc="-30" b="1">
                          <a:solidFill>
                            <a:srgbClr val="212121"/>
                          </a:solidFill>
                          <a:latin typeface="Microsoft YaHei"/>
                          <a:cs typeface="Microsoft YaHei"/>
                        </a:rPr>
                        <a:t>外部接口</a:t>
                      </a:r>
                      <a:endParaRPr sz="1100">
                        <a:latin typeface="Microsoft YaHei"/>
                        <a:cs typeface="Microsoft YaHei"/>
                      </a:endParaRPr>
                    </a:p>
                  </a:txBody>
                  <a:tcPr marL="0" marR="0" marB="0" marT="5334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solidFill>
                      <a:srgbClr val="666666">
                        <a:alpha val="19999"/>
                      </a:srgbClr>
                    </a:solidFill>
                  </a:tcPr>
                </a:tc>
                <a:tc>
                  <a:txBody>
                    <a:bodyPr/>
                    <a:lstStyle/>
                    <a:p>
                      <a:pPr algn="ctr">
                        <a:lnSpc>
                          <a:spcPct val="100000"/>
                        </a:lnSpc>
                        <a:spcBef>
                          <a:spcPts val="450"/>
                        </a:spcBef>
                      </a:pPr>
                      <a:r>
                        <a:rPr dirty="0" sz="1100" spc="-10">
                          <a:solidFill>
                            <a:srgbClr val="212121"/>
                          </a:solidFill>
                          <a:latin typeface="Microsoft YaHei"/>
                          <a:cs typeface="Microsoft YaHei"/>
                        </a:rPr>
                        <a:t>1*10Gbps</a:t>
                      </a:r>
                      <a:endParaRPr sz="1100">
                        <a:latin typeface="Microsoft YaHei"/>
                        <a:cs typeface="Microsoft YaHei"/>
                      </a:endParaRPr>
                    </a:p>
                  </a:txBody>
                  <a:tcPr marL="0" marR="0" marB="0" marT="5715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solidFill>
                      <a:srgbClr val="666666">
                        <a:alpha val="19999"/>
                      </a:srgbClr>
                    </a:solidFill>
                  </a:tcPr>
                </a:tc>
              </a:tr>
              <a:tr h="222250">
                <a:tc>
                  <a:txBody>
                    <a:bodyPr/>
                    <a:lstStyle/>
                    <a:p>
                      <a:pPr algn="ctr">
                        <a:lnSpc>
                          <a:spcPct val="100000"/>
                        </a:lnSpc>
                        <a:spcBef>
                          <a:spcPts val="175"/>
                        </a:spcBef>
                      </a:pPr>
                      <a:r>
                        <a:rPr dirty="0" sz="1100" spc="-30" b="1">
                          <a:solidFill>
                            <a:srgbClr val="212121"/>
                          </a:solidFill>
                          <a:latin typeface="Microsoft YaHei"/>
                          <a:cs typeface="Microsoft YaHei"/>
                        </a:rPr>
                        <a:t>供电方式</a:t>
                      </a:r>
                      <a:endParaRPr sz="1100">
                        <a:latin typeface="Microsoft YaHei"/>
                        <a:cs typeface="Microsoft YaHei"/>
                      </a:endParaRPr>
                    </a:p>
                  </a:txBody>
                  <a:tcPr marL="0" marR="0" marB="0" marT="22225">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solidFill>
                      <a:srgbClr val="666666">
                        <a:alpha val="19999"/>
                      </a:srgbClr>
                    </a:solidFill>
                  </a:tcPr>
                </a:tc>
                <a:tc>
                  <a:txBody>
                    <a:bodyPr/>
                    <a:lstStyle/>
                    <a:p>
                      <a:pPr algn="ctr">
                        <a:lnSpc>
                          <a:spcPct val="100000"/>
                        </a:lnSpc>
                        <a:spcBef>
                          <a:spcPts val="204"/>
                        </a:spcBef>
                      </a:pPr>
                      <a:r>
                        <a:rPr dirty="0" sz="1100" spc="-25">
                          <a:solidFill>
                            <a:srgbClr val="212121"/>
                          </a:solidFill>
                          <a:latin typeface="Microsoft YaHei"/>
                          <a:cs typeface="Microsoft YaHei"/>
                        </a:rPr>
                        <a:t>POE</a:t>
                      </a:r>
                      <a:endParaRPr sz="1100">
                        <a:latin typeface="Microsoft YaHei"/>
                        <a:cs typeface="Microsoft YaHei"/>
                      </a:endParaRPr>
                    </a:p>
                  </a:txBody>
                  <a:tcPr marL="0" marR="0" marB="0" marT="26034">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solidFill>
                      <a:srgbClr val="666666">
                        <a:alpha val="19999"/>
                      </a:srgbClr>
                    </a:solidFill>
                  </a:tcPr>
                </a:tc>
              </a:tr>
              <a:tr h="375920">
                <a:tc>
                  <a:txBody>
                    <a:bodyPr/>
                    <a:lstStyle/>
                    <a:p>
                      <a:pPr algn="ctr">
                        <a:lnSpc>
                          <a:spcPct val="100000"/>
                        </a:lnSpc>
                        <a:spcBef>
                          <a:spcPts val="780"/>
                        </a:spcBef>
                      </a:pPr>
                      <a:r>
                        <a:rPr dirty="0" sz="1100" spc="-30" b="1">
                          <a:solidFill>
                            <a:srgbClr val="212121"/>
                          </a:solidFill>
                          <a:latin typeface="Microsoft YaHei"/>
                          <a:cs typeface="Microsoft YaHei"/>
                        </a:rPr>
                        <a:t>防护等级</a:t>
                      </a:r>
                      <a:endParaRPr sz="1100">
                        <a:latin typeface="Microsoft YaHei"/>
                        <a:cs typeface="Microsoft YaHei"/>
                      </a:endParaRPr>
                    </a:p>
                  </a:txBody>
                  <a:tcPr marL="0" marR="0" marB="0" marT="9906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tcPr>
                </a:tc>
                <a:tc>
                  <a:txBody>
                    <a:bodyPr/>
                    <a:lstStyle/>
                    <a:p>
                      <a:pPr algn="ctr">
                        <a:lnSpc>
                          <a:spcPct val="100000"/>
                        </a:lnSpc>
                        <a:spcBef>
                          <a:spcPts val="810"/>
                        </a:spcBef>
                      </a:pPr>
                      <a:r>
                        <a:rPr dirty="0" sz="1100" spc="-20">
                          <a:solidFill>
                            <a:srgbClr val="212121"/>
                          </a:solidFill>
                          <a:latin typeface="Microsoft YaHei"/>
                          <a:cs typeface="Microsoft YaHei"/>
                        </a:rPr>
                        <a:t>IP31</a:t>
                      </a:r>
                      <a:endParaRPr sz="1100">
                        <a:latin typeface="Microsoft YaHei"/>
                        <a:cs typeface="Microsoft YaHei"/>
                      </a:endParaRPr>
                    </a:p>
                  </a:txBody>
                  <a:tcPr marL="0" marR="0" marB="0" marT="10287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tcPr>
                </a:tc>
              </a:tr>
              <a:tr h="339725">
                <a:tc>
                  <a:txBody>
                    <a:bodyPr/>
                    <a:lstStyle/>
                    <a:p>
                      <a:pPr algn="ctr">
                        <a:lnSpc>
                          <a:spcPct val="100000"/>
                        </a:lnSpc>
                        <a:spcBef>
                          <a:spcPts val="635"/>
                        </a:spcBef>
                      </a:pPr>
                      <a:r>
                        <a:rPr dirty="0" sz="1100" spc="-30" b="1">
                          <a:solidFill>
                            <a:srgbClr val="212121"/>
                          </a:solidFill>
                          <a:latin typeface="Microsoft YaHei"/>
                          <a:cs typeface="Microsoft YaHei"/>
                        </a:rPr>
                        <a:t>散热方式</a:t>
                      </a:r>
                      <a:endParaRPr sz="1100">
                        <a:latin typeface="Microsoft YaHei"/>
                        <a:cs typeface="Microsoft YaHei"/>
                      </a:endParaRPr>
                    </a:p>
                  </a:txBody>
                  <a:tcPr marL="0" marR="0" marB="0" marT="80645">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solidFill>
                      <a:srgbClr val="F1F9F9"/>
                    </a:solidFill>
                  </a:tcPr>
                </a:tc>
                <a:tc>
                  <a:txBody>
                    <a:bodyPr/>
                    <a:lstStyle/>
                    <a:p>
                      <a:pPr algn="ctr">
                        <a:lnSpc>
                          <a:spcPct val="100000"/>
                        </a:lnSpc>
                        <a:spcBef>
                          <a:spcPts val="680"/>
                        </a:spcBef>
                      </a:pPr>
                      <a:r>
                        <a:rPr dirty="0" sz="1100" spc="-30">
                          <a:latin typeface="SimSun"/>
                          <a:cs typeface="SimSun"/>
                        </a:rPr>
                        <a:t>自然散热</a:t>
                      </a:r>
                      <a:endParaRPr sz="1100">
                        <a:latin typeface="SimSun"/>
                        <a:cs typeface="SimSun"/>
                      </a:endParaRPr>
                    </a:p>
                  </a:txBody>
                  <a:tcPr marL="0" marR="0" marB="0" marT="86360">
                    <a:lnL w="12700">
                      <a:solidFill>
                        <a:srgbClr val="72BFC5"/>
                      </a:solidFill>
                      <a:prstDash val="solid"/>
                    </a:lnL>
                    <a:lnR w="12700">
                      <a:solidFill>
                        <a:srgbClr val="72BFC5"/>
                      </a:solidFill>
                      <a:prstDash val="solid"/>
                    </a:lnR>
                    <a:lnT w="12700">
                      <a:solidFill>
                        <a:srgbClr val="72BFC5"/>
                      </a:solidFill>
                      <a:prstDash val="solid"/>
                    </a:lnT>
                    <a:lnB w="12700">
                      <a:solidFill>
                        <a:srgbClr val="72BFC5"/>
                      </a:solidFill>
                      <a:prstDash val="solid"/>
                    </a:lnB>
                    <a:solidFill>
                      <a:srgbClr val="F1F9F9"/>
                    </a:solidFill>
                  </a:tcPr>
                </a:tc>
              </a:tr>
            </a:tbl>
          </a:graphicData>
        </a:graphic>
      </p:graphicFrame>
      <p:sp>
        <p:nvSpPr>
          <p:cNvPr id="9" name="object 9" descr=""/>
          <p:cNvSpPr/>
          <p:nvPr/>
        </p:nvSpPr>
        <p:spPr>
          <a:xfrm>
            <a:off x="2384259" y="1357845"/>
            <a:ext cx="2818765" cy="923925"/>
          </a:xfrm>
          <a:custGeom>
            <a:avLst/>
            <a:gdLst/>
            <a:ahLst/>
            <a:cxnLst/>
            <a:rect l="l" t="t" r="r" b="b"/>
            <a:pathLst>
              <a:path w="2818765" h="923925">
                <a:moveTo>
                  <a:pt x="2818295" y="0"/>
                </a:moveTo>
                <a:lnTo>
                  <a:pt x="0" y="0"/>
                </a:lnTo>
                <a:lnTo>
                  <a:pt x="0" y="923328"/>
                </a:lnTo>
                <a:lnTo>
                  <a:pt x="2818295" y="923328"/>
                </a:lnTo>
                <a:lnTo>
                  <a:pt x="2818295" y="0"/>
                </a:lnTo>
                <a:close/>
              </a:path>
            </a:pathLst>
          </a:custGeom>
          <a:solidFill>
            <a:srgbClr val="FFFFFF"/>
          </a:solidFill>
        </p:spPr>
        <p:txBody>
          <a:bodyPr wrap="square" lIns="0" tIns="0" rIns="0" bIns="0" rtlCol="0"/>
          <a:lstStyle/>
          <a:p/>
        </p:txBody>
      </p:sp>
      <p:sp>
        <p:nvSpPr>
          <p:cNvPr id="10" name="object 10" descr=""/>
          <p:cNvSpPr txBox="1"/>
          <p:nvPr/>
        </p:nvSpPr>
        <p:spPr>
          <a:xfrm>
            <a:off x="2384259" y="1357845"/>
            <a:ext cx="2818765" cy="923925"/>
          </a:xfrm>
          <a:prstGeom prst="rect">
            <a:avLst/>
          </a:prstGeom>
          <a:ln w="12700">
            <a:solidFill>
              <a:srgbClr val="DAEDEF"/>
            </a:solidFill>
          </a:ln>
        </p:spPr>
        <p:txBody>
          <a:bodyPr wrap="square" lIns="0" tIns="99060" rIns="0" bIns="0" rtlCol="0" vert="horz">
            <a:spAutoFit/>
          </a:bodyPr>
          <a:lstStyle/>
          <a:p>
            <a:pPr marL="363220" indent="-271780">
              <a:lnSpc>
                <a:spcPct val="100000"/>
              </a:lnSpc>
              <a:spcBef>
                <a:spcPts val="780"/>
              </a:spcBef>
              <a:buFont typeface="Wingdings"/>
              <a:buChar char=""/>
              <a:tabLst>
                <a:tab pos="363220" algn="l"/>
              </a:tabLst>
            </a:pPr>
            <a:r>
              <a:rPr dirty="0" sz="1200">
                <a:solidFill>
                  <a:srgbClr val="333399"/>
                </a:solidFill>
                <a:latin typeface="SimSun"/>
                <a:cs typeface="SimSun"/>
              </a:rPr>
              <a:t>支持</a:t>
            </a:r>
            <a:r>
              <a:rPr dirty="0" sz="1200" spc="-10" b="1">
                <a:solidFill>
                  <a:srgbClr val="333399"/>
                </a:solidFill>
                <a:latin typeface="Arial"/>
                <a:cs typeface="Arial"/>
              </a:rPr>
              <a:t>3300~3600Mhz</a:t>
            </a:r>
            <a:endParaRPr sz="1200">
              <a:latin typeface="Arial"/>
              <a:cs typeface="Arial"/>
            </a:endParaRPr>
          </a:p>
          <a:p>
            <a:pPr marL="363220" indent="-271780">
              <a:lnSpc>
                <a:spcPct val="100000"/>
              </a:lnSpc>
              <a:spcBef>
                <a:spcPts val="720"/>
              </a:spcBef>
              <a:buFont typeface="Wingdings"/>
              <a:buChar char=""/>
              <a:tabLst>
                <a:tab pos="363220" algn="l"/>
              </a:tabLst>
            </a:pPr>
            <a:r>
              <a:rPr dirty="0" sz="1200">
                <a:solidFill>
                  <a:srgbClr val="333399"/>
                </a:solidFill>
                <a:latin typeface="SimSun"/>
                <a:cs typeface="SimSun"/>
              </a:rPr>
              <a:t>内置</a:t>
            </a:r>
            <a:r>
              <a:rPr dirty="0" sz="1200" spc="-10" b="1">
                <a:solidFill>
                  <a:srgbClr val="333399"/>
                </a:solidFill>
                <a:latin typeface="Arial"/>
                <a:cs typeface="Arial"/>
              </a:rPr>
              <a:t>4</a:t>
            </a:r>
            <a:r>
              <a:rPr dirty="0" sz="1200" spc="-10">
                <a:solidFill>
                  <a:srgbClr val="333399"/>
                </a:solidFill>
                <a:latin typeface="SimSun"/>
                <a:cs typeface="SimSun"/>
              </a:rPr>
              <a:t>路天线通道，</a:t>
            </a:r>
            <a:endParaRPr sz="1200">
              <a:latin typeface="SimSun"/>
              <a:cs typeface="SimSun"/>
            </a:endParaRPr>
          </a:p>
          <a:p>
            <a:pPr marL="363220" indent="-271780">
              <a:lnSpc>
                <a:spcPct val="100000"/>
              </a:lnSpc>
              <a:spcBef>
                <a:spcPts val="720"/>
              </a:spcBef>
              <a:buFont typeface="Wingdings"/>
              <a:buChar char=""/>
              <a:tabLst>
                <a:tab pos="363220" algn="l"/>
              </a:tabLst>
            </a:pPr>
            <a:r>
              <a:rPr dirty="0" sz="1200">
                <a:solidFill>
                  <a:srgbClr val="333399"/>
                </a:solidFill>
                <a:latin typeface="SimSun"/>
                <a:cs typeface="SimSun"/>
              </a:rPr>
              <a:t>支持一个</a:t>
            </a:r>
            <a:r>
              <a:rPr dirty="0" sz="1200" spc="-10" b="1">
                <a:solidFill>
                  <a:srgbClr val="333399"/>
                </a:solidFill>
                <a:latin typeface="Arial"/>
                <a:cs typeface="Arial"/>
              </a:rPr>
              <a:t>100M</a:t>
            </a:r>
            <a:r>
              <a:rPr dirty="0" sz="1200" spc="-10">
                <a:solidFill>
                  <a:srgbClr val="333399"/>
                </a:solidFill>
                <a:latin typeface="SimSun"/>
                <a:cs typeface="SimSun"/>
              </a:rPr>
              <a:t>带宽小区配置</a:t>
            </a:r>
            <a:endParaRPr sz="1200">
              <a:latin typeface="SimSun"/>
              <a:cs typeface="SimSun"/>
            </a:endParaRPr>
          </a:p>
        </p:txBody>
      </p:sp>
      <p:sp>
        <p:nvSpPr>
          <p:cNvPr id="11" name="object 11" descr=""/>
          <p:cNvSpPr txBox="1"/>
          <p:nvPr/>
        </p:nvSpPr>
        <p:spPr>
          <a:xfrm>
            <a:off x="2384259" y="4094149"/>
            <a:ext cx="2818765" cy="831215"/>
          </a:xfrm>
          <a:prstGeom prst="rect">
            <a:avLst/>
          </a:prstGeom>
          <a:ln w="12700">
            <a:solidFill>
              <a:srgbClr val="DAEDEF"/>
            </a:solidFill>
          </a:ln>
        </p:spPr>
        <p:txBody>
          <a:bodyPr wrap="square" lIns="0" tIns="43180" rIns="0" bIns="0" rtlCol="0" vert="horz">
            <a:spAutoFit/>
          </a:bodyPr>
          <a:lstStyle/>
          <a:p>
            <a:pPr marL="363220" indent="-271780">
              <a:lnSpc>
                <a:spcPct val="100000"/>
              </a:lnSpc>
              <a:spcBef>
                <a:spcPts val="340"/>
              </a:spcBef>
              <a:buFont typeface="Wingdings"/>
              <a:buChar char=""/>
              <a:tabLst>
                <a:tab pos="363220" algn="l"/>
              </a:tabLst>
            </a:pPr>
            <a:r>
              <a:rPr dirty="0" sz="1200">
                <a:solidFill>
                  <a:srgbClr val="333399"/>
                </a:solidFill>
                <a:latin typeface="SimSun"/>
                <a:cs typeface="SimSun"/>
              </a:rPr>
              <a:t>标准</a:t>
            </a:r>
            <a:r>
              <a:rPr dirty="0" sz="1200" spc="-10" b="1">
                <a:solidFill>
                  <a:srgbClr val="333399"/>
                </a:solidFill>
                <a:latin typeface="Arial"/>
                <a:cs typeface="Arial"/>
              </a:rPr>
              <a:t>BBU</a:t>
            </a:r>
            <a:r>
              <a:rPr dirty="0" sz="1200" spc="-10">
                <a:solidFill>
                  <a:srgbClr val="C0504D"/>
                </a:solidFill>
                <a:latin typeface="SimSun"/>
                <a:cs typeface="SimSun"/>
              </a:rPr>
              <a:t>，</a:t>
            </a:r>
            <a:r>
              <a:rPr dirty="0" sz="1200" spc="-15">
                <a:solidFill>
                  <a:srgbClr val="333399"/>
                </a:solidFill>
                <a:latin typeface="SimSun"/>
                <a:cs typeface="SimSun"/>
              </a:rPr>
              <a:t>扩容便利</a:t>
            </a:r>
            <a:endParaRPr sz="1200">
              <a:latin typeface="SimSun"/>
              <a:cs typeface="SimSun"/>
            </a:endParaRPr>
          </a:p>
          <a:p>
            <a:pPr marL="363220" marR="158750" indent="-272415">
              <a:lnSpc>
                <a:spcPts val="1390"/>
              </a:lnSpc>
              <a:spcBef>
                <a:spcPts val="145"/>
              </a:spcBef>
              <a:buFont typeface="Wingdings"/>
              <a:buChar char=""/>
              <a:tabLst>
                <a:tab pos="363220" algn="l"/>
              </a:tabLst>
            </a:pPr>
            <a:r>
              <a:rPr dirty="0" sz="1200" spc="-5">
                <a:solidFill>
                  <a:srgbClr val="333399"/>
                </a:solidFill>
                <a:latin typeface="SimSun"/>
                <a:cs typeface="SimSun"/>
              </a:rPr>
              <a:t>支持灵活的小区分裂和合并，便于</a:t>
            </a:r>
            <a:r>
              <a:rPr dirty="0" sz="1200" spc="-15">
                <a:solidFill>
                  <a:srgbClr val="333399"/>
                </a:solidFill>
                <a:latin typeface="SimSun"/>
                <a:cs typeface="SimSun"/>
              </a:rPr>
              <a:t>精确优化</a:t>
            </a:r>
            <a:endParaRPr sz="1200">
              <a:latin typeface="SimSun"/>
              <a:cs typeface="SimSun"/>
            </a:endParaRPr>
          </a:p>
          <a:p>
            <a:pPr marL="363220" indent="-271780">
              <a:lnSpc>
                <a:spcPts val="1400"/>
              </a:lnSpc>
              <a:buFont typeface="Wingdings"/>
              <a:buChar char=""/>
              <a:tabLst>
                <a:tab pos="363220" algn="l"/>
              </a:tabLst>
            </a:pPr>
            <a:r>
              <a:rPr dirty="0" sz="1200" spc="-5">
                <a:solidFill>
                  <a:srgbClr val="333399"/>
                </a:solidFill>
                <a:latin typeface="SimSun"/>
                <a:cs typeface="SimSun"/>
              </a:rPr>
              <a:t>统一网管，管理无死角</a:t>
            </a:r>
            <a:endParaRPr sz="1200">
              <a:latin typeface="SimSun"/>
              <a:cs typeface="SimSun"/>
            </a:endParaRPr>
          </a:p>
        </p:txBody>
      </p:sp>
      <p:grpSp>
        <p:nvGrpSpPr>
          <p:cNvPr id="12" name="object 12" descr=""/>
          <p:cNvGrpSpPr/>
          <p:nvPr/>
        </p:nvGrpSpPr>
        <p:grpSpPr>
          <a:xfrm>
            <a:off x="763485" y="1645881"/>
            <a:ext cx="1303020" cy="3173095"/>
            <a:chOff x="763485" y="1645881"/>
            <a:chExt cx="1303020" cy="3173095"/>
          </a:xfrm>
        </p:grpSpPr>
        <p:pic>
          <p:nvPicPr>
            <p:cNvPr id="13" name="object 13"/>
            <p:cNvPicPr/>
            <p:nvPr/>
          </p:nvPicPr>
          <p:blipFill>
            <a:blip r:embed="rId4" cstate="print"/>
            <a:stretch>
              <a:fillRect/>
            </a:stretch>
          </p:blipFill>
          <p:spPr>
            <a:xfrm>
              <a:off x="1332662" y="1645881"/>
              <a:ext cx="592091" cy="604803"/>
            </a:xfrm>
            <a:prstGeom prst="rect">
              <a:avLst/>
            </a:prstGeom>
          </p:spPr>
        </p:pic>
        <p:pic>
          <p:nvPicPr>
            <p:cNvPr id="14" name="object 14"/>
            <p:cNvPicPr/>
            <p:nvPr/>
          </p:nvPicPr>
          <p:blipFill>
            <a:blip r:embed="rId5" cstate="print"/>
            <a:stretch>
              <a:fillRect/>
            </a:stretch>
          </p:blipFill>
          <p:spPr>
            <a:xfrm>
              <a:off x="763485" y="4230522"/>
              <a:ext cx="1086823" cy="587881"/>
            </a:xfrm>
            <a:prstGeom prst="rect">
              <a:avLst/>
            </a:prstGeom>
          </p:spPr>
        </p:pic>
        <p:pic>
          <p:nvPicPr>
            <p:cNvPr id="15" name="object 15"/>
            <p:cNvPicPr/>
            <p:nvPr/>
          </p:nvPicPr>
          <p:blipFill>
            <a:blip r:embed="rId6" cstate="print"/>
            <a:stretch>
              <a:fillRect/>
            </a:stretch>
          </p:blipFill>
          <p:spPr>
            <a:xfrm>
              <a:off x="994181" y="3040280"/>
              <a:ext cx="1071938" cy="538477"/>
            </a:xfrm>
            <a:prstGeom prst="rect">
              <a:avLst/>
            </a:prstGeom>
          </p:spPr>
        </p:pic>
      </p:grpSp>
      <p:sp>
        <p:nvSpPr>
          <p:cNvPr id="16" name="object 16" descr=""/>
          <p:cNvSpPr txBox="1"/>
          <p:nvPr/>
        </p:nvSpPr>
        <p:spPr>
          <a:xfrm>
            <a:off x="1573639" y="2284764"/>
            <a:ext cx="630555" cy="185420"/>
          </a:xfrm>
          <a:prstGeom prst="rect">
            <a:avLst/>
          </a:prstGeom>
        </p:spPr>
        <p:txBody>
          <a:bodyPr wrap="square" lIns="0" tIns="12700" rIns="0" bIns="0" rtlCol="0" vert="horz">
            <a:spAutoFit/>
          </a:bodyPr>
          <a:lstStyle/>
          <a:p>
            <a:pPr marL="12700">
              <a:lnSpc>
                <a:spcPct val="100000"/>
              </a:lnSpc>
              <a:spcBef>
                <a:spcPts val="100"/>
              </a:spcBef>
            </a:pPr>
            <a:r>
              <a:rPr dirty="0" sz="1050" b="1">
                <a:solidFill>
                  <a:srgbClr val="333399"/>
                </a:solidFill>
                <a:latin typeface="Arial"/>
                <a:cs typeface="Arial"/>
              </a:rPr>
              <a:t>Pico</a:t>
            </a:r>
            <a:r>
              <a:rPr dirty="0" sz="1050" spc="-20" b="1">
                <a:solidFill>
                  <a:srgbClr val="333399"/>
                </a:solidFill>
                <a:latin typeface="Arial"/>
                <a:cs typeface="Arial"/>
              </a:rPr>
              <a:t> </a:t>
            </a:r>
            <a:r>
              <a:rPr dirty="0" sz="1050" spc="-25" b="1">
                <a:solidFill>
                  <a:srgbClr val="333399"/>
                </a:solidFill>
                <a:latin typeface="Arial"/>
                <a:cs typeface="Arial"/>
              </a:rPr>
              <a:t>RRU</a:t>
            </a:r>
            <a:endParaRPr sz="1050">
              <a:latin typeface="Arial"/>
              <a:cs typeface="Arial"/>
            </a:endParaRPr>
          </a:p>
        </p:txBody>
      </p:sp>
      <p:sp>
        <p:nvSpPr>
          <p:cNvPr id="17" name="object 17" descr=""/>
          <p:cNvSpPr txBox="1"/>
          <p:nvPr/>
        </p:nvSpPr>
        <p:spPr>
          <a:xfrm>
            <a:off x="1472293" y="3495982"/>
            <a:ext cx="381000" cy="185420"/>
          </a:xfrm>
          <a:prstGeom prst="rect">
            <a:avLst/>
          </a:prstGeom>
        </p:spPr>
        <p:txBody>
          <a:bodyPr wrap="square" lIns="0" tIns="12700" rIns="0" bIns="0" rtlCol="0" vert="horz">
            <a:spAutoFit/>
          </a:bodyPr>
          <a:lstStyle/>
          <a:p>
            <a:pPr marL="12700">
              <a:lnSpc>
                <a:spcPct val="100000"/>
              </a:lnSpc>
              <a:spcBef>
                <a:spcPts val="100"/>
              </a:spcBef>
            </a:pPr>
            <a:r>
              <a:rPr dirty="0" sz="1050" spc="-20" b="1">
                <a:solidFill>
                  <a:srgbClr val="333399"/>
                </a:solidFill>
                <a:latin typeface="Arial"/>
                <a:cs typeface="Arial"/>
              </a:rPr>
              <a:t>RHub</a:t>
            </a:r>
            <a:endParaRPr sz="1050">
              <a:latin typeface="Arial"/>
              <a:cs typeface="Arial"/>
            </a:endParaRPr>
          </a:p>
        </p:txBody>
      </p:sp>
      <p:grpSp>
        <p:nvGrpSpPr>
          <p:cNvPr id="18" name="object 18" descr=""/>
          <p:cNvGrpSpPr/>
          <p:nvPr/>
        </p:nvGrpSpPr>
        <p:grpSpPr>
          <a:xfrm>
            <a:off x="1344743" y="2242855"/>
            <a:ext cx="297180" cy="2035810"/>
            <a:chOff x="1344743" y="2242855"/>
            <a:chExt cx="297180" cy="2035810"/>
          </a:xfrm>
        </p:grpSpPr>
        <p:sp>
          <p:nvSpPr>
            <p:cNvPr id="19" name="object 19" descr=""/>
            <p:cNvSpPr/>
            <p:nvPr/>
          </p:nvSpPr>
          <p:spPr>
            <a:xfrm>
              <a:off x="1357443" y="3578765"/>
              <a:ext cx="144780" cy="687070"/>
            </a:xfrm>
            <a:custGeom>
              <a:avLst/>
              <a:gdLst/>
              <a:ahLst/>
              <a:cxnLst/>
              <a:rect l="l" t="t" r="r" b="b"/>
              <a:pathLst>
                <a:path w="144780" h="687070">
                  <a:moveTo>
                    <a:pt x="144475" y="0"/>
                  </a:moveTo>
                  <a:lnTo>
                    <a:pt x="142382" y="6544"/>
                  </a:lnTo>
                  <a:lnTo>
                    <a:pt x="140398" y="13095"/>
                  </a:lnTo>
                  <a:lnTo>
                    <a:pt x="138195" y="19629"/>
                  </a:lnTo>
                  <a:lnTo>
                    <a:pt x="135445" y="26123"/>
                  </a:lnTo>
                  <a:lnTo>
                    <a:pt x="133578" y="29984"/>
                  </a:lnTo>
                  <a:lnTo>
                    <a:pt x="127863" y="33426"/>
                  </a:lnTo>
                  <a:lnTo>
                    <a:pt x="126415" y="37325"/>
                  </a:lnTo>
                  <a:lnTo>
                    <a:pt x="123667" y="46623"/>
                  </a:lnTo>
                  <a:lnTo>
                    <a:pt x="121781" y="55972"/>
                  </a:lnTo>
                  <a:lnTo>
                    <a:pt x="119956" y="65325"/>
                  </a:lnTo>
                  <a:lnTo>
                    <a:pt x="117386" y="74637"/>
                  </a:lnTo>
                  <a:lnTo>
                    <a:pt x="115633" y="79717"/>
                  </a:lnTo>
                  <a:lnTo>
                    <a:pt x="110578" y="84518"/>
                  </a:lnTo>
                  <a:lnTo>
                    <a:pt x="108356" y="89560"/>
                  </a:lnTo>
                  <a:lnTo>
                    <a:pt x="105831" y="96076"/>
                  </a:lnTo>
                  <a:lnTo>
                    <a:pt x="103727" y="102617"/>
                  </a:lnTo>
                  <a:lnTo>
                    <a:pt x="101680" y="109161"/>
                  </a:lnTo>
                  <a:lnTo>
                    <a:pt x="99326" y="115684"/>
                  </a:lnTo>
                  <a:lnTo>
                    <a:pt x="96799" y="121945"/>
                  </a:lnTo>
                  <a:lnTo>
                    <a:pt x="93306" y="128130"/>
                  </a:lnTo>
                  <a:lnTo>
                    <a:pt x="90297" y="134353"/>
                  </a:lnTo>
                  <a:lnTo>
                    <a:pt x="92391" y="151149"/>
                  </a:lnTo>
                  <a:lnTo>
                    <a:pt x="94378" y="167947"/>
                  </a:lnTo>
                  <a:lnTo>
                    <a:pt x="96581" y="184741"/>
                  </a:lnTo>
                  <a:lnTo>
                    <a:pt x="109923" y="234994"/>
                  </a:lnTo>
                  <a:lnTo>
                    <a:pt x="126415" y="268693"/>
                  </a:lnTo>
                  <a:lnTo>
                    <a:pt x="124426" y="293892"/>
                  </a:lnTo>
                  <a:lnTo>
                    <a:pt x="120447" y="344285"/>
                  </a:lnTo>
                  <a:lnTo>
                    <a:pt x="108080" y="392242"/>
                  </a:lnTo>
                  <a:lnTo>
                    <a:pt x="90297" y="414248"/>
                  </a:lnTo>
                  <a:lnTo>
                    <a:pt x="54178" y="459028"/>
                  </a:lnTo>
                  <a:lnTo>
                    <a:pt x="51356" y="462527"/>
                  </a:lnTo>
                  <a:lnTo>
                    <a:pt x="45148" y="470223"/>
                  </a:lnTo>
                  <a:lnTo>
                    <a:pt x="38940" y="477920"/>
                  </a:lnTo>
                  <a:lnTo>
                    <a:pt x="36118" y="481418"/>
                  </a:lnTo>
                  <a:lnTo>
                    <a:pt x="32486" y="490577"/>
                  </a:lnTo>
                  <a:lnTo>
                    <a:pt x="27946" y="501775"/>
                  </a:lnTo>
                  <a:lnTo>
                    <a:pt x="22977" y="513056"/>
                  </a:lnTo>
                  <a:lnTo>
                    <a:pt x="18059" y="522465"/>
                  </a:lnTo>
                  <a:lnTo>
                    <a:pt x="15748" y="526288"/>
                  </a:lnTo>
                  <a:lnTo>
                    <a:pt x="12039" y="529932"/>
                  </a:lnTo>
                  <a:lnTo>
                    <a:pt x="9029" y="533666"/>
                  </a:lnTo>
                  <a:lnTo>
                    <a:pt x="6284" y="571917"/>
                  </a:lnTo>
                  <a:lnTo>
                    <a:pt x="3328" y="610166"/>
                  </a:lnTo>
                  <a:lnTo>
                    <a:pt x="966" y="648418"/>
                  </a:lnTo>
                  <a:lnTo>
                    <a:pt x="0" y="686676"/>
                  </a:lnTo>
                </a:path>
              </a:pathLst>
            </a:custGeom>
            <a:ln w="25400">
              <a:solidFill>
                <a:srgbClr val="89A4A7"/>
              </a:solidFill>
            </a:ln>
          </p:spPr>
          <p:txBody>
            <a:bodyPr wrap="square" lIns="0" tIns="0" rIns="0" bIns="0" rtlCol="0"/>
            <a:lstStyle/>
            <a:p/>
          </p:txBody>
        </p:sp>
        <p:sp>
          <p:nvSpPr>
            <p:cNvPr id="20" name="object 20" descr=""/>
            <p:cNvSpPr/>
            <p:nvPr/>
          </p:nvSpPr>
          <p:spPr>
            <a:xfrm>
              <a:off x="1471481" y="2255555"/>
              <a:ext cx="157480" cy="784860"/>
            </a:xfrm>
            <a:custGeom>
              <a:avLst/>
              <a:gdLst/>
              <a:ahLst/>
              <a:cxnLst/>
              <a:rect l="l" t="t" r="r" b="b"/>
              <a:pathLst>
                <a:path w="157480" h="784860">
                  <a:moveTo>
                    <a:pt x="157225" y="0"/>
                  </a:moveTo>
                  <a:lnTo>
                    <a:pt x="154947" y="7479"/>
                  </a:lnTo>
                  <a:lnTo>
                    <a:pt x="152787" y="14966"/>
                  </a:lnTo>
                  <a:lnTo>
                    <a:pt x="150389" y="22434"/>
                  </a:lnTo>
                  <a:lnTo>
                    <a:pt x="147396" y="29857"/>
                  </a:lnTo>
                  <a:lnTo>
                    <a:pt x="145364" y="34264"/>
                  </a:lnTo>
                  <a:lnTo>
                    <a:pt x="139153" y="38201"/>
                  </a:lnTo>
                  <a:lnTo>
                    <a:pt x="137566" y="42646"/>
                  </a:lnTo>
                  <a:lnTo>
                    <a:pt x="134575" y="53280"/>
                  </a:lnTo>
                  <a:lnTo>
                    <a:pt x="132524" y="63965"/>
                  </a:lnTo>
                  <a:lnTo>
                    <a:pt x="130540" y="74652"/>
                  </a:lnTo>
                  <a:lnTo>
                    <a:pt x="127749" y="85293"/>
                  </a:lnTo>
                  <a:lnTo>
                    <a:pt x="125831" y="91097"/>
                  </a:lnTo>
                  <a:lnTo>
                    <a:pt x="120332" y="96583"/>
                  </a:lnTo>
                  <a:lnTo>
                    <a:pt x="117919" y="102349"/>
                  </a:lnTo>
                  <a:lnTo>
                    <a:pt x="115172" y="109793"/>
                  </a:lnTo>
                  <a:lnTo>
                    <a:pt x="112880" y="117268"/>
                  </a:lnTo>
                  <a:lnTo>
                    <a:pt x="110650" y="124748"/>
                  </a:lnTo>
                  <a:lnTo>
                    <a:pt x="108089" y="132207"/>
                  </a:lnTo>
                  <a:lnTo>
                    <a:pt x="105346" y="139357"/>
                  </a:lnTo>
                  <a:lnTo>
                    <a:pt x="101536" y="146431"/>
                  </a:lnTo>
                  <a:lnTo>
                    <a:pt x="98259" y="153530"/>
                  </a:lnTo>
                  <a:lnTo>
                    <a:pt x="100542" y="172728"/>
                  </a:lnTo>
                  <a:lnTo>
                    <a:pt x="102708" y="191930"/>
                  </a:lnTo>
                  <a:lnTo>
                    <a:pt x="105107" y="211124"/>
                  </a:lnTo>
                  <a:lnTo>
                    <a:pt x="112970" y="250555"/>
                  </a:lnTo>
                  <a:lnTo>
                    <a:pt x="127885" y="286605"/>
                  </a:lnTo>
                  <a:lnTo>
                    <a:pt x="137566" y="307073"/>
                  </a:lnTo>
                  <a:lnTo>
                    <a:pt x="135407" y="335864"/>
                  </a:lnTo>
                  <a:lnTo>
                    <a:pt x="131079" y="393448"/>
                  </a:lnTo>
                  <a:lnTo>
                    <a:pt x="124043" y="436300"/>
                  </a:lnTo>
                  <a:lnTo>
                    <a:pt x="98259" y="473392"/>
                  </a:lnTo>
                  <a:lnTo>
                    <a:pt x="58953" y="524573"/>
                  </a:lnTo>
                  <a:lnTo>
                    <a:pt x="55883" y="528572"/>
                  </a:lnTo>
                  <a:lnTo>
                    <a:pt x="49129" y="537368"/>
                  </a:lnTo>
                  <a:lnTo>
                    <a:pt x="42376" y="546165"/>
                  </a:lnTo>
                  <a:lnTo>
                    <a:pt x="39306" y="550164"/>
                  </a:lnTo>
                  <a:lnTo>
                    <a:pt x="35352" y="560628"/>
                  </a:lnTo>
                  <a:lnTo>
                    <a:pt x="30410" y="573425"/>
                  </a:lnTo>
                  <a:lnTo>
                    <a:pt x="25001" y="586320"/>
                  </a:lnTo>
                  <a:lnTo>
                    <a:pt x="19646" y="597077"/>
                  </a:lnTo>
                  <a:lnTo>
                    <a:pt x="17144" y="601433"/>
                  </a:lnTo>
                  <a:lnTo>
                    <a:pt x="13093" y="605599"/>
                  </a:lnTo>
                  <a:lnTo>
                    <a:pt x="9829" y="609866"/>
                  </a:lnTo>
                  <a:lnTo>
                    <a:pt x="6836" y="653582"/>
                  </a:lnTo>
                  <a:lnTo>
                    <a:pt x="3619" y="697295"/>
                  </a:lnTo>
                  <a:lnTo>
                    <a:pt x="1050" y="741009"/>
                  </a:lnTo>
                  <a:lnTo>
                    <a:pt x="0" y="784733"/>
                  </a:lnTo>
                </a:path>
              </a:pathLst>
            </a:custGeom>
            <a:ln w="25400">
              <a:solidFill>
                <a:srgbClr val="666666"/>
              </a:solidFill>
            </a:ln>
          </p:spPr>
          <p:txBody>
            <a:bodyPr wrap="square" lIns="0" tIns="0" rIns="0" bIns="0" rtlCol="0"/>
            <a:lstStyle/>
            <a:p/>
          </p:txBody>
        </p:sp>
      </p:grpSp>
      <p:sp>
        <p:nvSpPr>
          <p:cNvPr id="21" name="object 21" descr=""/>
          <p:cNvSpPr txBox="1"/>
          <p:nvPr/>
        </p:nvSpPr>
        <p:spPr>
          <a:xfrm>
            <a:off x="1360195" y="4622101"/>
            <a:ext cx="313690" cy="185420"/>
          </a:xfrm>
          <a:prstGeom prst="rect">
            <a:avLst/>
          </a:prstGeom>
        </p:spPr>
        <p:txBody>
          <a:bodyPr wrap="square" lIns="0" tIns="12700" rIns="0" bIns="0" rtlCol="0" vert="horz">
            <a:spAutoFit/>
          </a:bodyPr>
          <a:lstStyle/>
          <a:p>
            <a:pPr marL="12700">
              <a:lnSpc>
                <a:spcPct val="100000"/>
              </a:lnSpc>
              <a:spcBef>
                <a:spcPts val="100"/>
              </a:spcBef>
            </a:pPr>
            <a:r>
              <a:rPr dirty="0" sz="1050" spc="-25" b="1">
                <a:solidFill>
                  <a:srgbClr val="333399"/>
                </a:solidFill>
                <a:latin typeface="Arial"/>
                <a:cs typeface="Arial"/>
              </a:rPr>
              <a:t>BBU</a:t>
            </a:r>
            <a:endParaRPr sz="1050">
              <a:latin typeface="Arial"/>
              <a:cs typeface="Arial"/>
            </a:endParaRPr>
          </a:p>
        </p:txBody>
      </p:sp>
      <p:sp>
        <p:nvSpPr>
          <p:cNvPr id="22" name="object 22" descr=""/>
          <p:cNvSpPr txBox="1"/>
          <p:nvPr/>
        </p:nvSpPr>
        <p:spPr>
          <a:xfrm>
            <a:off x="600665" y="2389873"/>
            <a:ext cx="767715" cy="436880"/>
          </a:xfrm>
          <a:prstGeom prst="rect">
            <a:avLst/>
          </a:prstGeom>
        </p:spPr>
        <p:txBody>
          <a:bodyPr wrap="square" lIns="0" tIns="12700" rIns="0" bIns="0" rtlCol="0" vert="horz">
            <a:spAutoFit/>
          </a:bodyPr>
          <a:lstStyle/>
          <a:p>
            <a:pPr marL="12700">
              <a:lnSpc>
                <a:spcPct val="100000"/>
              </a:lnSpc>
              <a:spcBef>
                <a:spcPts val="100"/>
              </a:spcBef>
            </a:pPr>
            <a:r>
              <a:rPr dirty="0" sz="900" spc="5">
                <a:solidFill>
                  <a:srgbClr val="333399"/>
                </a:solidFill>
                <a:latin typeface="Microsoft JhengHei"/>
                <a:cs typeface="Microsoft JhengHei"/>
              </a:rPr>
              <a:t>网线 </a:t>
            </a:r>
            <a:r>
              <a:rPr dirty="0" sz="900" spc="-10">
                <a:solidFill>
                  <a:srgbClr val="333399"/>
                </a:solidFill>
                <a:latin typeface="Microsoft JhengHei"/>
                <a:cs typeface="Microsoft JhengHei"/>
              </a:rPr>
              <a:t>Cat6A</a:t>
            </a:r>
            <a:endParaRPr sz="900">
              <a:latin typeface="Microsoft JhengHei"/>
              <a:cs typeface="Microsoft JhengHei"/>
            </a:endParaRPr>
          </a:p>
          <a:p>
            <a:pPr marL="12700">
              <a:lnSpc>
                <a:spcPct val="100000"/>
              </a:lnSpc>
            </a:pPr>
            <a:r>
              <a:rPr dirty="0" sz="900">
                <a:solidFill>
                  <a:srgbClr val="333399"/>
                </a:solidFill>
                <a:latin typeface="Microsoft JhengHei"/>
                <a:cs typeface="Microsoft JhengHei"/>
              </a:rPr>
              <a:t>最大拉远</a:t>
            </a:r>
            <a:r>
              <a:rPr dirty="0" sz="900" spc="-35">
                <a:solidFill>
                  <a:srgbClr val="333399"/>
                </a:solidFill>
                <a:latin typeface="Microsoft JhengHei"/>
                <a:cs typeface="Microsoft JhengHei"/>
              </a:rPr>
              <a:t>100m</a:t>
            </a:r>
            <a:endParaRPr sz="900">
              <a:latin typeface="Microsoft JhengHei"/>
              <a:cs typeface="Microsoft JhengHei"/>
            </a:endParaRPr>
          </a:p>
          <a:p>
            <a:pPr marL="12700">
              <a:lnSpc>
                <a:spcPct val="100000"/>
              </a:lnSpc>
            </a:pPr>
            <a:r>
              <a:rPr dirty="0" sz="900" spc="-50">
                <a:solidFill>
                  <a:srgbClr val="333399"/>
                </a:solidFill>
                <a:latin typeface="Microsoft JhengHei"/>
                <a:cs typeface="Microsoft JhengHei"/>
              </a:rPr>
              <a:t>/1*10G</a:t>
            </a:r>
            <a:r>
              <a:rPr dirty="0" sz="900" spc="-20">
                <a:solidFill>
                  <a:srgbClr val="333399"/>
                </a:solidFill>
                <a:latin typeface="Microsoft JhengHei"/>
                <a:cs typeface="Microsoft JhengHei"/>
              </a:rPr>
              <a:t>光接口</a:t>
            </a:r>
            <a:endParaRPr sz="900">
              <a:latin typeface="Microsoft JhengHei"/>
              <a:cs typeface="Microsoft JhengHei"/>
            </a:endParaRPr>
          </a:p>
        </p:txBody>
      </p:sp>
      <p:sp>
        <p:nvSpPr>
          <p:cNvPr id="23" name="object 23" descr=""/>
          <p:cNvSpPr txBox="1"/>
          <p:nvPr/>
        </p:nvSpPr>
        <p:spPr>
          <a:xfrm>
            <a:off x="2384679" y="2666771"/>
            <a:ext cx="2818130" cy="923925"/>
          </a:xfrm>
          <a:prstGeom prst="rect">
            <a:avLst/>
          </a:prstGeom>
          <a:ln w="12700">
            <a:solidFill>
              <a:srgbClr val="DAEDEF"/>
            </a:solidFill>
          </a:ln>
        </p:spPr>
        <p:txBody>
          <a:bodyPr wrap="square" lIns="0" tIns="7620" rIns="0" bIns="0" rtlCol="0" vert="horz">
            <a:spAutoFit/>
          </a:bodyPr>
          <a:lstStyle/>
          <a:p>
            <a:pPr marL="363220" marR="193040" indent="-272415">
              <a:lnSpc>
                <a:spcPct val="150000"/>
              </a:lnSpc>
              <a:spcBef>
                <a:spcPts val="60"/>
              </a:spcBef>
              <a:buFont typeface="Wingdings"/>
              <a:buChar char=""/>
              <a:tabLst>
                <a:tab pos="363220" algn="l"/>
              </a:tabLst>
            </a:pPr>
            <a:r>
              <a:rPr dirty="0" sz="1200" spc="-10" b="1">
                <a:solidFill>
                  <a:srgbClr val="333399"/>
                </a:solidFill>
                <a:latin typeface="Arial"/>
                <a:cs typeface="Arial"/>
              </a:rPr>
              <a:t>RHub</a:t>
            </a:r>
            <a:r>
              <a:rPr dirty="0" sz="1200">
                <a:solidFill>
                  <a:srgbClr val="333399"/>
                </a:solidFill>
                <a:latin typeface="SimSun"/>
                <a:cs typeface="SimSun"/>
              </a:rPr>
              <a:t>支持</a:t>
            </a:r>
            <a:r>
              <a:rPr dirty="0" sz="1200" b="1">
                <a:solidFill>
                  <a:srgbClr val="333399"/>
                </a:solidFill>
                <a:latin typeface="Arial"/>
                <a:cs typeface="Arial"/>
              </a:rPr>
              <a:t>8*10G</a:t>
            </a:r>
            <a:r>
              <a:rPr dirty="0" sz="1200" spc="-80" b="1">
                <a:solidFill>
                  <a:srgbClr val="333399"/>
                </a:solidFill>
                <a:latin typeface="Arial"/>
                <a:cs typeface="Arial"/>
              </a:rPr>
              <a:t> </a:t>
            </a:r>
            <a:r>
              <a:rPr dirty="0" sz="1200" spc="-10">
                <a:solidFill>
                  <a:srgbClr val="333399"/>
                </a:solidFill>
                <a:latin typeface="SimSun"/>
                <a:cs typeface="SimSun"/>
              </a:rPr>
              <a:t>以太接口，可连</a:t>
            </a:r>
            <a:r>
              <a:rPr dirty="0" sz="1200">
                <a:solidFill>
                  <a:srgbClr val="333399"/>
                </a:solidFill>
                <a:latin typeface="SimSun"/>
                <a:cs typeface="SimSun"/>
              </a:rPr>
              <a:t>接</a:t>
            </a:r>
            <a:r>
              <a:rPr dirty="0" sz="1200" spc="-10" b="1">
                <a:solidFill>
                  <a:srgbClr val="333399"/>
                </a:solidFill>
                <a:latin typeface="Arial"/>
                <a:cs typeface="Arial"/>
              </a:rPr>
              <a:t>8</a:t>
            </a:r>
            <a:r>
              <a:rPr dirty="0" sz="1200">
                <a:solidFill>
                  <a:srgbClr val="333399"/>
                </a:solidFill>
                <a:latin typeface="SimSun"/>
                <a:cs typeface="SimSun"/>
              </a:rPr>
              <a:t>个</a:t>
            </a:r>
            <a:r>
              <a:rPr dirty="0" sz="1200" spc="-20" b="1">
                <a:solidFill>
                  <a:srgbClr val="333399"/>
                </a:solidFill>
                <a:latin typeface="Arial"/>
                <a:cs typeface="Arial"/>
              </a:rPr>
              <a:t>Pico</a:t>
            </a:r>
            <a:endParaRPr sz="1200">
              <a:latin typeface="Arial"/>
              <a:cs typeface="Arial"/>
            </a:endParaRPr>
          </a:p>
          <a:p>
            <a:pPr marL="363220" indent="-272415">
              <a:lnSpc>
                <a:spcPct val="100000"/>
              </a:lnSpc>
              <a:spcBef>
                <a:spcPts val="720"/>
              </a:spcBef>
              <a:buFont typeface="Wingdings"/>
              <a:buChar char=""/>
              <a:tabLst>
                <a:tab pos="363220" algn="l"/>
              </a:tabLst>
            </a:pPr>
            <a:r>
              <a:rPr dirty="0" sz="1200" spc="-10" b="1">
                <a:solidFill>
                  <a:srgbClr val="333399"/>
                </a:solidFill>
                <a:latin typeface="Arial"/>
                <a:cs typeface="Arial"/>
              </a:rPr>
              <a:t>POE</a:t>
            </a:r>
            <a:r>
              <a:rPr dirty="0" sz="1200" spc="-25">
                <a:solidFill>
                  <a:srgbClr val="333399"/>
                </a:solidFill>
                <a:latin typeface="SimSun"/>
                <a:cs typeface="SimSun"/>
              </a:rPr>
              <a:t>供电</a:t>
            </a:r>
            <a:endParaRPr sz="1200">
              <a:latin typeface="SimSun"/>
              <a:cs typeface="SimSu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4762" y="-4762"/>
            <a:ext cx="9153525" cy="809625"/>
            <a:chOff x="-4762" y="-4762"/>
            <a:chExt cx="9153525" cy="809625"/>
          </a:xfrm>
        </p:grpSpPr>
        <p:sp>
          <p:nvSpPr>
            <p:cNvPr id="3" name="object 3" descr=""/>
            <p:cNvSpPr/>
            <p:nvPr/>
          </p:nvSpPr>
          <p:spPr>
            <a:xfrm>
              <a:off x="0" y="0"/>
              <a:ext cx="9144000" cy="800100"/>
            </a:xfrm>
            <a:custGeom>
              <a:avLst/>
              <a:gdLst/>
              <a:ahLst/>
              <a:cxnLst/>
              <a:rect l="l" t="t" r="r" b="b"/>
              <a:pathLst>
                <a:path w="9144000" h="800100">
                  <a:moveTo>
                    <a:pt x="9144000" y="0"/>
                  </a:moveTo>
                  <a:lnTo>
                    <a:pt x="0" y="0"/>
                  </a:lnTo>
                  <a:lnTo>
                    <a:pt x="0" y="800100"/>
                  </a:lnTo>
                  <a:lnTo>
                    <a:pt x="9144000" y="800100"/>
                  </a:lnTo>
                  <a:lnTo>
                    <a:pt x="9144000" y="0"/>
                  </a:lnTo>
                  <a:close/>
                </a:path>
              </a:pathLst>
            </a:custGeom>
            <a:solidFill>
              <a:srgbClr val="0056AC"/>
            </a:solidFill>
          </p:spPr>
          <p:txBody>
            <a:bodyPr wrap="square" lIns="0" tIns="0" rIns="0" bIns="0" rtlCol="0"/>
            <a:lstStyle/>
            <a:p/>
          </p:txBody>
        </p:sp>
        <p:sp>
          <p:nvSpPr>
            <p:cNvPr id="4" name="object 4" descr=""/>
            <p:cNvSpPr/>
            <p:nvPr/>
          </p:nvSpPr>
          <p:spPr>
            <a:xfrm>
              <a:off x="0" y="0"/>
              <a:ext cx="9144000" cy="800100"/>
            </a:xfrm>
            <a:custGeom>
              <a:avLst/>
              <a:gdLst/>
              <a:ahLst/>
              <a:cxnLst/>
              <a:rect l="l" t="t" r="r" b="b"/>
              <a:pathLst>
                <a:path w="9144000" h="800100">
                  <a:moveTo>
                    <a:pt x="0" y="0"/>
                  </a:moveTo>
                  <a:lnTo>
                    <a:pt x="9144000" y="0"/>
                  </a:lnTo>
                  <a:lnTo>
                    <a:pt x="9144000" y="800100"/>
                  </a:lnTo>
                  <a:lnTo>
                    <a:pt x="0" y="800100"/>
                  </a:lnTo>
                  <a:lnTo>
                    <a:pt x="0" y="0"/>
                  </a:lnTo>
                  <a:close/>
                </a:path>
              </a:pathLst>
            </a:custGeom>
            <a:ln w="9525">
              <a:solidFill>
                <a:srgbClr val="000000"/>
              </a:solidFill>
            </a:ln>
          </p:spPr>
          <p:txBody>
            <a:bodyPr wrap="square" lIns="0" tIns="0" rIns="0" bIns="0" rtlCol="0"/>
            <a:lstStyle/>
            <a:p/>
          </p:txBody>
        </p:sp>
        <p:sp>
          <p:nvSpPr>
            <p:cNvPr id="5" name="object 5" descr=""/>
            <p:cNvSpPr/>
            <p:nvPr/>
          </p:nvSpPr>
          <p:spPr>
            <a:xfrm>
              <a:off x="1066006" y="114894"/>
              <a:ext cx="1905" cy="571500"/>
            </a:xfrm>
            <a:custGeom>
              <a:avLst/>
              <a:gdLst/>
              <a:ahLst/>
              <a:cxnLst/>
              <a:rect l="l" t="t" r="r" b="b"/>
              <a:pathLst>
                <a:path w="1905" h="571500">
                  <a:moveTo>
                    <a:pt x="1587" y="0"/>
                  </a:moveTo>
                  <a:lnTo>
                    <a:pt x="0" y="571500"/>
                  </a:lnTo>
                </a:path>
              </a:pathLst>
            </a:custGeom>
            <a:ln w="9525">
              <a:solidFill>
                <a:srgbClr val="B6DCDF"/>
              </a:solidFill>
            </a:ln>
          </p:spPr>
          <p:txBody>
            <a:bodyPr wrap="square" lIns="0" tIns="0" rIns="0" bIns="0" rtlCol="0"/>
            <a:lstStyle/>
            <a:p/>
          </p:txBody>
        </p:sp>
        <p:pic>
          <p:nvPicPr>
            <p:cNvPr id="6" name="object 6" descr=""/>
            <p:cNvPicPr/>
            <p:nvPr/>
          </p:nvPicPr>
          <p:blipFill>
            <a:blip r:embed="rId2" cstate="print"/>
            <a:stretch>
              <a:fillRect/>
            </a:stretch>
          </p:blipFill>
          <p:spPr>
            <a:xfrm>
              <a:off x="152400" y="133350"/>
              <a:ext cx="804532" cy="576579"/>
            </a:xfrm>
            <a:prstGeom prst="rect">
              <a:avLst/>
            </a:prstGeom>
          </p:spPr>
        </p:pic>
      </p:grpSp>
      <p:sp>
        <p:nvSpPr>
          <p:cNvPr id="7" name="object 7"/>
          <p:cNvSpPr txBox="1">
            <a:spLocks noGrp="1"/>
          </p:cNvSpPr>
          <p:nvPr>
            <p:ph type="title"/>
          </p:nvPr>
        </p:nvSpPr>
        <p:spPr>
          <a:xfrm>
            <a:off x="1700148" y="112240"/>
            <a:ext cx="6125210" cy="513080"/>
          </a:xfrm>
          <a:prstGeom prst="rect"/>
        </p:spPr>
        <p:txBody>
          <a:bodyPr wrap="square" lIns="0" tIns="12065" rIns="0" bIns="0" rtlCol="0" vert="horz">
            <a:spAutoFit/>
          </a:bodyPr>
          <a:lstStyle/>
          <a:p>
            <a:pPr marL="12700">
              <a:lnSpc>
                <a:spcPct val="100000"/>
              </a:lnSpc>
              <a:spcBef>
                <a:spcPts val="95"/>
              </a:spcBef>
            </a:pPr>
            <a:r>
              <a:rPr dirty="0" spc="-45"/>
              <a:t>数字化室分带来的挑战和应用建议</a:t>
            </a:r>
          </a:p>
        </p:txBody>
      </p:sp>
      <p:sp>
        <p:nvSpPr>
          <p:cNvPr id="8" name="object 8" descr=""/>
          <p:cNvSpPr txBox="1"/>
          <p:nvPr/>
        </p:nvSpPr>
        <p:spPr>
          <a:xfrm>
            <a:off x="258251" y="814069"/>
            <a:ext cx="1261110" cy="1122680"/>
          </a:xfrm>
          <a:prstGeom prst="rect">
            <a:avLst/>
          </a:prstGeom>
        </p:spPr>
        <p:txBody>
          <a:bodyPr wrap="square" lIns="0" tIns="12700" rIns="0" bIns="0" rtlCol="0" vert="horz">
            <a:spAutoFit/>
          </a:bodyPr>
          <a:lstStyle/>
          <a:p>
            <a:pPr algn="just" marL="12700" marR="5080">
              <a:lnSpc>
                <a:spcPct val="150000"/>
              </a:lnSpc>
              <a:spcBef>
                <a:spcPts val="100"/>
              </a:spcBef>
            </a:pPr>
            <a:r>
              <a:rPr dirty="0" sz="1200" b="1">
                <a:solidFill>
                  <a:srgbClr val="C00000"/>
                </a:solidFill>
                <a:latin typeface="Microsoft YaHei"/>
                <a:cs typeface="Microsoft YaHei"/>
              </a:rPr>
              <a:t>传统室分</a:t>
            </a:r>
            <a:r>
              <a:rPr dirty="0" sz="1200" spc="-10" b="1">
                <a:solidFill>
                  <a:srgbClr val="C00000"/>
                </a:solidFill>
                <a:latin typeface="Arial"/>
                <a:cs typeface="Arial"/>
              </a:rPr>
              <a:t>DAS</a:t>
            </a:r>
            <a:r>
              <a:rPr dirty="0" sz="1200" spc="-25" b="1">
                <a:solidFill>
                  <a:srgbClr val="C00000"/>
                </a:solidFill>
                <a:latin typeface="Microsoft YaHei"/>
                <a:cs typeface="Microsoft YaHei"/>
              </a:rPr>
              <a:t>系统</a:t>
            </a:r>
            <a:r>
              <a:rPr dirty="0" sz="1200" spc="-10" b="1">
                <a:solidFill>
                  <a:srgbClr val="C00000"/>
                </a:solidFill>
                <a:latin typeface="Microsoft YaHei"/>
                <a:cs typeface="Microsoft YaHei"/>
              </a:rPr>
              <a:t>存在部署难题，现网无源器件不支持</a:t>
            </a:r>
            <a:endParaRPr sz="1200">
              <a:latin typeface="Microsoft YaHei"/>
              <a:cs typeface="Microsoft YaHei"/>
            </a:endParaRPr>
          </a:p>
          <a:p>
            <a:pPr marL="12700">
              <a:lnSpc>
                <a:spcPct val="100000"/>
              </a:lnSpc>
              <a:spcBef>
                <a:spcPts val="720"/>
              </a:spcBef>
            </a:pPr>
            <a:r>
              <a:rPr dirty="0" sz="1200" spc="-10" b="1">
                <a:solidFill>
                  <a:srgbClr val="C00000"/>
                </a:solidFill>
                <a:latin typeface="Arial"/>
                <a:cs typeface="Arial"/>
              </a:rPr>
              <a:t>2.6GHz</a:t>
            </a:r>
            <a:r>
              <a:rPr dirty="0" sz="1200" spc="-15" b="1">
                <a:solidFill>
                  <a:srgbClr val="C00000"/>
                </a:solidFill>
                <a:latin typeface="Microsoft YaHei"/>
                <a:cs typeface="Microsoft YaHei"/>
              </a:rPr>
              <a:t>以上频段</a:t>
            </a:r>
            <a:endParaRPr sz="1200">
              <a:latin typeface="Microsoft YaHei"/>
              <a:cs typeface="Microsoft YaHei"/>
            </a:endParaRPr>
          </a:p>
        </p:txBody>
      </p:sp>
      <p:pic>
        <p:nvPicPr>
          <p:cNvPr id="9" name="object 9" descr=""/>
          <p:cNvPicPr/>
          <p:nvPr/>
        </p:nvPicPr>
        <p:blipFill>
          <a:blip r:embed="rId3" cstate="print"/>
          <a:stretch>
            <a:fillRect/>
          </a:stretch>
        </p:blipFill>
        <p:spPr>
          <a:xfrm>
            <a:off x="0" y="2793085"/>
            <a:ext cx="9144000" cy="2350414"/>
          </a:xfrm>
          <a:prstGeom prst="rect">
            <a:avLst/>
          </a:prstGeom>
        </p:spPr>
      </p:pic>
      <p:sp>
        <p:nvSpPr>
          <p:cNvPr id="10" name="object 10" descr=""/>
          <p:cNvSpPr txBox="1"/>
          <p:nvPr/>
        </p:nvSpPr>
        <p:spPr>
          <a:xfrm>
            <a:off x="249002" y="2462508"/>
            <a:ext cx="4296410" cy="2545715"/>
          </a:xfrm>
          <a:prstGeom prst="rect">
            <a:avLst/>
          </a:prstGeom>
        </p:spPr>
        <p:txBody>
          <a:bodyPr wrap="square" lIns="0" tIns="12700" rIns="0" bIns="0" rtlCol="0" vert="horz">
            <a:spAutoFit/>
          </a:bodyPr>
          <a:lstStyle/>
          <a:p>
            <a:pPr marL="156210">
              <a:lnSpc>
                <a:spcPct val="100000"/>
              </a:lnSpc>
              <a:spcBef>
                <a:spcPts val="100"/>
              </a:spcBef>
            </a:pPr>
            <a:r>
              <a:rPr dirty="0" sz="1600" b="1">
                <a:latin typeface="Microsoft YaHei"/>
                <a:cs typeface="Microsoft YaHei"/>
              </a:rPr>
              <a:t>传统室分</a:t>
            </a:r>
            <a:r>
              <a:rPr dirty="0" sz="1600" spc="-20" b="1">
                <a:latin typeface="Microsoft YaHei"/>
                <a:cs typeface="Microsoft YaHei"/>
              </a:rPr>
              <a:t>DAS应用建议</a:t>
            </a:r>
            <a:endParaRPr sz="1600">
              <a:latin typeface="Microsoft YaHei"/>
              <a:cs typeface="Microsoft YaHei"/>
            </a:endParaRPr>
          </a:p>
          <a:p>
            <a:pPr marL="355600" marR="5080" indent="-342900">
              <a:lnSpc>
                <a:spcPct val="150000"/>
              </a:lnSpc>
              <a:spcBef>
                <a:spcPts val="640"/>
              </a:spcBef>
              <a:buFont typeface="Arial MT"/>
              <a:buChar char="•"/>
              <a:tabLst>
                <a:tab pos="355600" algn="l"/>
              </a:tabLst>
            </a:pPr>
            <a:r>
              <a:rPr dirty="0" sz="1200" b="1">
                <a:solidFill>
                  <a:srgbClr val="C00000"/>
                </a:solidFill>
                <a:latin typeface="Microsoft YaHei"/>
                <a:cs typeface="Microsoft YaHei"/>
              </a:rPr>
              <a:t>传统室分</a:t>
            </a:r>
            <a:r>
              <a:rPr dirty="0" sz="1200" spc="-10" b="1">
                <a:solidFill>
                  <a:srgbClr val="C00000"/>
                </a:solidFill>
                <a:latin typeface="Arial"/>
                <a:cs typeface="Arial"/>
              </a:rPr>
              <a:t>DAS</a:t>
            </a:r>
            <a:r>
              <a:rPr dirty="0" sz="1200" b="1">
                <a:solidFill>
                  <a:srgbClr val="C00000"/>
                </a:solidFill>
                <a:latin typeface="Microsoft YaHei"/>
                <a:cs typeface="Microsoft YaHei"/>
              </a:rPr>
              <a:t>系统</a:t>
            </a:r>
            <a:r>
              <a:rPr dirty="0" sz="1200">
                <a:latin typeface="Microsoft YaHei"/>
                <a:cs typeface="Microsoft YaHei"/>
              </a:rPr>
              <a:t>方式建设</a:t>
            </a:r>
            <a:r>
              <a:rPr dirty="0" sz="1200" spc="-10">
                <a:latin typeface="Arial MT"/>
                <a:cs typeface="Arial MT"/>
              </a:rPr>
              <a:t>5G</a:t>
            </a:r>
            <a:r>
              <a:rPr dirty="0" sz="1200" spc="-10">
                <a:latin typeface="Microsoft YaHei"/>
                <a:cs typeface="Microsoft YaHei"/>
              </a:rPr>
              <a:t>，工程量大，造价高，</a:t>
            </a:r>
            <a:r>
              <a:rPr dirty="0" sz="1200" spc="-10" b="1">
                <a:solidFill>
                  <a:srgbClr val="C00000"/>
                </a:solidFill>
                <a:latin typeface="Arial"/>
                <a:cs typeface="Arial"/>
              </a:rPr>
              <a:t>5G</a:t>
            </a:r>
            <a:r>
              <a:rPr dirty="0" sz="1200" spc="-50" b="1">
                <a:solidFill>
                  <a:srgbClr val="C00000"/>
                </a:solidFill>
                <a:latin typeface="Microsoft YaHei"/>
                <a:cs typeface="Microsoft YaHei"/>
              </a:rPr>
              <a:t>室</a:t>
            </a:r>
            <a:r>
              <a:rPr dirty="0" sz="1200" b="1">
                <a:solidFill>
                  <a:srgbClr val="C00000"/>
                </a:solidFill>
                <a:latin typeface="Microsoft YaHei"/>
                <a:cs typeface="Microsoft YaHei"/>
              </a:rPr>
              <a:t>内新建</a:t>
            </a:r>
            <a:r>
              <a:rPr dirty="0" sz="1200" spc="-10" b="1">
                <a:solidFill>
                  <a:srgbClr val="C00000"/>
                </a:solidFill>
                <a:latin typeface="Arial"/>
                <a:cs typeface="Arial"/>
              </a:rPr>
              <a:t>DAS</a:t>
            </a:r>
            <a:r>
              <a:rPr dirty="0" sz="1200" spc="-10" b="1">
                <a:solidFill>
                  <a:srgbClr val="C00000"/>
                </a:solidFill>
                <a:latin typeface="Microsoft YaHei"/>
                <a:cs typeface="Microsoft YaHei"/>
              </a:rPr>
              <a:t>场景将大大降低。</a:t>
            </a:r>
            <a:endParaRPr sz="1200">
              <a:latin typeface="Microsoft YaHei"/>
              <a:cs typeface="Microsoft YaHei"/>
            </a:endParaRPr>
          </a:p>
          <a:p>
            <a:pPr marL="355600" marR="20955" indent="-342900">
              <a:lnSpc>
                <a:spcPct val="150000"/>
              </a:lnSpc>
              <a:buFont typeface="Arial MT"/>
              <a:buChar char="•"/>
              <a:tabLst>
                <a:tab pos="355600" algn="l"/>
              </a:tabLst>
            </a:pPr>
            <a:r>
              <a:rPr dirty="0" sz="1200" b="1">
                <a:solidFill>
                  <a:srgbClr val="C00000"/>
                </a:solidFill>
                <a:latin typeface="Microsoft YaHei"/>
                <a:cs typeface="Microsoft YaHei"/>
              </a:rPr>
              <a:t>现网存量室分场景</a:t>
            </a:r>
            <a:r>
              <a:rPr dirty="0" sz="1200" spc="-10">
                <a:latin typeface="Microsoft YaHei"/>
                <a:cs typeface="Microsoft YaHei"/>
              </a:rPr>
              <a:t>：</a:t>
            </a:r>
            <a:r>
              <a:rPr dirty="0" sz="1200" spc="-10">
                <a:latin typeface="Arial MT"/>
                <a:cs typeface="Arial MT"/>
              </a:rPr>
              <a:t>5G</a:t>
            </a:r>
            <a:r>
              <a:rPr dirty="0" sz="1200">
                <a:latin typeface="Microsoft YaHei"/>
                <a:cs typeface="Microsoft YaHei"/>
              </a:rPr>
              <a:t>改造困难，需考虑直接叠加</a:t>
            </a:r>
            <a:r>
              <a:rPr dirty="0" sz="1200" spc="-10">
                <a:latin typeface="Arial MT"/>
                <a:cs typeface="Arial MT"/>
              </a:rPr>
              <a:t>5G</a:t>
            </a:r>
            <a:r>
              <a:rPr dirty="0" sz="1200" spc="-25">
                <a:latin typeface="Microsoft YaHei"/>
                <a:cs typeface="Microsoft YaHei"/>
              </a:rPr>
              <a:t>新型</a:t>
            </a:r>
            <a:r>
              <a:rPr dirty="0" sz="1200" spc="-15">
                <a:latin typeface="Microsoft YaHei"/>
                <a:cs typeface="Microsoft YaHei"/>
              </a:rPr>
              <a:t>室分系统</a:t>
            </a:r>
            <a:endParaRPr sz="1200">
              <a:latin typeface="Microsoft YaHei"/>
              <a:cs typeface="Microsoft YaHei"/>
            </a:endParaRPr>
          </a:p>
          <a:p>
            <a:pPr marL="354965" indent="-342265">
              <a:lnSpc>
                <a:spcPct val="100000"/>
              </a:lnSpc>
              <a:spcBef>
                <a:spcPts val="720"/>
              </a:spcBef>
              <a:buFont typeface="Arial MT"/>
              <a:buChar char="•"/>
              <a:tabLst>
                <a:tab pos="354965" algn="l"/>
              </a:tabLst>
            </a:pPr>
            <a:r>
              <a:rPr dirty="0" sz="1200" b="1">
                <a:solidFill>
                  <a:srgbClr val="C00000"/>
                </a:solidFill>
                <a:latin typeface="Microsoft YaHei"/>
                <a:cs typeface="Microsoft YaHei"/>
              </a:rPr>
              <a:t>新建场景</a:t>
            </a:r>
            <a:r>
              <a:rPr dirty="0" sz="1200" spc="-50">
                <a:solidFill>
                  <a:srgbClr val="C00000"/>
                </a:solidFill>
                <a:latin typeface="Arial MT"/>
                <a:cs typeface="Arial MT"/>
              </a:rPr>
              <a:t>:</a:t>
            </a:r>
            <a:endParaRPr sz="1200">
              <a:latin typeface="Arial MT"/>
              <a:cs typeface="Arial MT"/>
            </a:endParaRPr>
          </a:p>
          <a:p>
            <a:pPr lvl="1" marL="548005" marR="15240" indent="-173990">
              <a:lnSpc>
                <a:spcPct val="150000"/>
              </a:lnSpc>
              <a:buFont typeface="Wingdings"/>
              <a:buChar char=""/>
              <a:tabLst>
                <a:tab pos="548005" algn="l"/>
              </a:tabLst>
            </a:pPr>
            <a:r>
              <a:rPr dirty="0" sz="1200">
                <a:latin typeface="Microsoft YaHei"/>
                <a:cs typeface="Microsoft YaHei"/>
              </a:rPr>
              <a:t>高价值区域：考虑新建多模新型室分系统，采用</a:t>
            </a:r>
            <a:r>
              <a:rPr dirty="0" sz="1200" spc="-10">
                <a:latin typeface="Arial MT"/>
                <a:cs typeface="Arial MT"/>
              </a:rPr>
              <a:t>4T4R</a:t>
            </a:r>
            <a:r>
              <a:rPr dirty="0" sz="1200" spc="-50">
                <a:latin typeface="Microsoft YaHei"/>
                <a:cs typeface="Microsoft YaHei"/>
              </a:rPr>
              <a:t>提</a:t>
            </a:r>
            <a:r>
              <a:rPr dirty="0" sz="1200" spc="-20">
                <a:latin typeface="Microsoft YaHei"/>
                <a:cs typeface="Microsoft YaHei"/>
              </a:rPr>
              <a:t>高容量</a:t>
            </a:r>
            <a:endParaRPr sz="1200">
              <a:latin typeface="Microsoft YaHei"/>
              <a:cs typeface="Microsoft YaHei"/>
            </a:endParaRPr>
          </a:p>
          <a:p>
            <a:pPr lvl="1" marL="547370" indent="-173355">
              <a:lnSpc>
                <a:spcPct val="100000"/>
              </a:lnSpc>
              <a:spcBef>
                <a:spcPts val="720"/>
              </a:spcBef>
              <a:buFont typeface="Wingdings"/>
              <a:buChar char=""/>
              <a:tabLst>
                <a:tab pos="547370" algn="l"/>
              </a:tabLst>
            </a:pPr>
            <a:r>
              <a:rPr dirty="0" sz="1200">
                <a:latin typeface="Microsoft YaHei"/>
                <a:cs typeface="Microsoft YaHei"/>
              </a:rPr>
              <a:t>低价值区域：可新建双路多模</a:t>
            </a:r>
            <a:r>
              <a:rPr dirty="0" sz="1200" spc="-10">
                <a:latin typeface="Arial MT"/>
                <a:cs typeface="Arial MT"/>
              </a:rPr>
              <a:t>DAS</a:t>
            </a:r>
            <a:r>
              <a:rPr dirty="0" sz="1200" spc="-10">
                <a:latin typeface="Microsoft YaHei"/>
                <a:cs typeface="Microsoft YaHei"/>
              </a:rPr>
              <a:t>方案，兼容既有频段</a:t>
            </a:r>
            <a:endParaRPr sz="1200">
              <a:latin typeface="Microsoft YaHei"/>
              <a:cs typeface="Microsoft YaHei"/>
            </a:endParaRPr>
          </a:p>
        </p:txBody>
      </p:sp>
      <p:grpSp>
        <p:nvGrpSpPr>
          <p:cNvPr id="11" name="object 11" descr=""/>
          <p:cNvGrpSpPr/>
          <p:nvPr/>
        </p:nvGrpSpPr>
        <p:grpSpPr>
          <a:xfrm>
            <a:off x="1620392" y="838794"/>
            <a:ext cx="2834005" cy="1511300"/>
            <a:chOff x="1620392" y="838794"/>
            <a:chExt cx="2834005" cy="1511300"/>
          </a:xfrm>
        </p:grpSpPr>
        <p:sp>
          <p:nvSpPr>
            <p:cNvPr id="12" name="object 12" descr=""/>
            <p:cNvSpPr/>
            <p:nvPr/>
          </p:nvSpPr>
          <p:spPr>
            <a:xfrm>
              <a:off x="3121399" y="843558"/>
              <a:ext cx="0" cy="1024255"/>
            </a:xfrm>
            <a:custGeom>
              <a:avLst/>
              <a:gdLst/>
              <a:ahLst/>
              <a:cxnLst/>
              <a:rect l="l" t="t" r="r" b="b"/>
              <a:pathLst>
                <a:path w="0" h="1024255">
                  <a:moveTo>
                    <a:pt x="0" y="0"/>
                  </a:moveTo>
                  <a:lnTo>
                    <a:pt x="0" y="1024229"/>
                  </a:lnTo>
                </a:path>
              </a:pathLst>
            </a:custGeom>
            <a:ln w="12700">
              <a:solidFill>
                <a:srgbClr val="C0C0C0"/>
              </a:solidFill>
              <a:prstDash val="sysDash"/>
            </a:ln>
          </p:spPr>
          <p:txBody>
            <a:bodyPr wrap="square" lIns="0" tIns="0" rIns="0" bIns="0" rtlCol="0"/>
            <a:lstStyle/>
            <a:p/>
          </p:txBody>
        </p:sp>
        <p:sp>
          <p:nvSpPr>
            <p:cNvPr id="13" name="object 13" descr=""/>
            <p:cNvSpPr/>
            <p:nvPr/>
          </p:nvSpPr>
          <p:spPr>
            <a:xfrm>
              <a:off x="2799270" y="1868876"/>
              <a:ext cx="1624330" cy="204470"/>
            </a:xfrm>
            <a:custGeom>
              <a:avLst/>
              <a:gdLst/>
              <a:ahLst/>
              <a:cxnLst/>
              <a:rect l="l" t="t" r="r" b="b"/>
              <a:pathLst>
                <a:path w="1624329" h="204469">
                  <a:moveTo>
                    <a:pt x="0" y="204406"/>
                  </a:moveTo>
                  <a:lnTo>
                    <a:pt x="291592" y="0"/>
                  </a:lnTo>
                  <a:lnTo>
                    <a:pt x="1624114" y="0"/>
                  </a:lnTo>
                  <a:lnTo>
                    <a:pt x="1339291" y="197599"/>
                  </a:lnTo>
                  <a:lnTo>
                    <a:pt x="189877" y="204406"/>
                  </a:lnTo>
                </a:path>
              </a:pathLst>
            </a:custGeom>
            <a:ln w="9525">
              <a:solidFill>
                <a:srgbClr val="C0C0C0"/>
              </a:solidFill>
            </a:ln>
          </p:spPr>
          <p:txBody>
            <a:bodyPr wrap="square" lIns="0" tIns="0" rIns="0" bIns="0" rtlCol="0"/>
            <a:lstStyle/>
            <a:p/>
          </p:txBody>
        </p:sp>
        <p:sp>
          <p:nvSpPr>
            <p:cNvPr id="14" name="object 14" descr=""/>
            <p:cNvSpPr/>
            <p:nvPr/>
          </p:nvSpPr>
          <p:spPr>
            <a:xfrm>
              <a:off x="4147154" y="1866689"/>
              <a:ext cx="259715" cy="201930"/>
            </a:xfrm>
            <a:custGeom>
              <a:avLst/>
              <a:gdLst/>
              <a:ahLst/>
              <a:cxnLst/>
              <a:rect l="l" t="t" r="r" b="b"/>
              <a:pathLst>
                <a:path w="259714" h="201930">
                  <a:moveTo>
                    <a:pt x="0" y="201675"/>
                  </a:moveTo>
                  <a:lnTo>
                    <a:pt x="259600" y="0"/>
                  </a:lnTo>
                </a:path>
              </a:pathLst>
            </a:custGeom>
            <a:ln w="28575">
              <a:solidFill>
                <a:srgbClr val="C0C0C0"/>
              </a:solidFill>
            </a:ln>
          </p:spPr>
          <p:txBody>
            <a:bodyPr wrap="square" lIns="0" tIns="0" rIns="0" bIns="0" rtlCol="0"/>
            <a:lstStyle/>
            <a:p/>
          </p:txBody>
        </p:sp>
        <p:sp>
          <p:nvSpPr>
            <p:cNvPr id="15" name="object 15" descr=""/>
            <p:cNvSpPr/>
            <p:nvPr/>
          </p:nvSpPr>
          <p:spPr>
            <a:xfrm>
              <a:off x="2794520" y="1179136"/>
              <a:ext cx="1602740" cy="200660"/>
            </a:xfrm>
            <a:custGeom>
              <a:avLst/>
              <a:gdLst/>
              <a:ahLst/>
              <a:cxnLst/>
              <a:rect l="l" t="t" r="r" b="b"/>
              <a:pathLst>
                <a:path w="1602739" h="200659">
                  <a:moveTo>
                    <a:pt x="0" y="200139"/>
                  </a:moveTo>
                  <a:lnTo>
                    <a:pt x="306539" y="2654"/>
                  </a:lnTo>
                  <a:lnTo>
                    <a:pt x="1602740" y="0"/>
                  </a:lnTo>
                  <a:lnTo>
                    <a:pt x="1321955" y="200583"/>
                  </a:lnTo>
                  <a:lnTo>
                    <a:pt x="187553" y="200139"/>
                  </a:lnTo>
                </a:path>
              </a:pathLst>
            </a:custGeom>
            <a:ln w="9525">
              <a:solidFill>
                <a:srgbClr val="C0C0C0"/>
              </a:solidFill>
            </a:ln>
          </p:spPr>
          <p:txBody>
            <a:bodyPr wrap="square" lIns="0" tIns="0" rIns="0" bIns="0" rtlCol="0"/>
            <a:lstStyle/>
            <a:p/>
          </p:txBody>
        </p:sp>
        <p:sp>
          <p:nvSpPr>
            <p:cNvPr id="16" name="object 16" descr=""/>
            <p:cNvSpPr/>
            <p:nvPr/>
          </p:nvSpPr>
          <p:spPr>
            <a:xfrm>
              <a:off x="4135279" y="1529473"/>
              <a:ext cx="304800" cy="206375"/>
            </a:xfrm>
            <a:custGeom>
              <a:avLst/>
              <a:gdLst/>
              <a:ahLst/>
              <a:cxnLst/>
              <a:rect l="l" t="t" r="r" b="b"/>
              <a:pathLst>
                <a:path w="304800" h="206375">
                  <a:moveTo>
                    <a:pt x="0" y="206044"/>
                  </a:moveTo>
                  <a:lnTo>
                    <a:pt x="304723" y="0"/>
                  </a:lnTo>
                </a:path>
              </a:pathLst>
            </a:custGeom>
            <a:ln w="28575">
              <a:solidFill>
                <a:srgbClr val="C0C0C0"/>
              </a:solidFill>
            </a:ln>
          </p:spPr>
          <p:txBody>
            <a:bodyPr wrap="square" lIns="0" tIns="0" rIns="0" bIns="0" rtlCol="0"/>
            <a:lstStyle/>
            <a:p/>
          </p:txBody>
        </p:sp>
        <p:sp>
          <p:nvSpPr>
            <p:cNvPr id="17" name="object 17" descr=""/>
            <p:cNvSpPr/>
            <p:nvPr/>
          </p:nvSpPr>
          <p:spPr>
            <a:xfrm>
              <a:off x="3116647" y="1179135"/>
              <a:ext cx="1306830" cy="0"/>
            </a:xfrm>
            <a:custGeom>
              <a:avLst/>
              <a:gdLst/>
              <a:ahLst/>
              <a:cxnLst/>
              <a:rect l="l" t="t" r="r" b="b"/>
              <a:pathLst>
                <a:path w="1306829" h="0">
                  <a:moveTo>
                    <a:pt x="1306728" y="0"/>
                  </a:moveTo>
                  <a:lnTo>
                    <a:pt x="0" y="0"/>
                  </a:lnTo>
                </a:path>
              </a:pathLst>
            </a:custGeom>
            <a:ln w="28575">
              <a:solidFill>
                <a:srgbClr val="C0C0C0"/>
              </a:solidFill>
            </a:ln>
          </p:spPr>
          <p:txBody>
            <a:bodyPr wrap="square" lIns="0" tIns="0" rIns="0" bIns="0" rtlCol="0"/>
            <a:lstStyle/>
            <a:p/>
          </p:txBody>
        </p:sp>
        <p:sp>
          <p:nvSpPr>
            <p:cNvPr id="18" name="object 18" descr=""/>
            <p:cNvSpPr/>
            <p:nvPr/>
          </p:nvSpPr>
          <p:spPr>
            <a:xfrm>
              <a:off x="2807190" y="1193106"/>
              <a:ext cx="1335405" cy="0"/>
            </a:xfrm>
            <a:custGeom>
              <a:avLst/>
              <a:gdLst/>
              <a:ahLst/>
              <a:cxnLst/>
              <a:rect l="l" t="t" r="r" b="b"/>
              <a:pathLst>
                <a:path w="1335404" h="0">
                  <a:moveTo>
                    <a:pt x="1335214" y="0"/>
                  </a:moveTo>
                  <a:lnTo>
                    <a:pt x="0" y="0"/>
                  </a:lnTo>
                </a:path>
              </a:pathLst>
            </a:custGeom>
            <a:ln w="28575">
              <a:solidFill>
                <a:srgbClr val="C0C0C0"/>
              </a:solidFill>
            </a:ln>
          </p:spPr>
          <p:txBody>
            <a:bodyPr wrap="square" lIns="0" tIns="0" rIns="0" bIns="0" rtlCol="0"/>
            <a:lstStyle/>
            <a:p/>
          </p:txBody>
        </p:sp>
        <p:sp>
          <p:nvSpPr>
            <p:cNvPr id="19" name="object 19" descr=""/>
            <p:cNvSpPr/>
            <p:nvPr/>
          </p:nvSpPr>
          <p:spPr>
            <a:xfrm>
              <a:off x="2794523" y="843556"/>
              <a:ext cx="1629410" cy="201295"/>
            </a:xfrm>
            <a:custGeom>
              <a:avLst/>
              <a:gdLst/>
              <a:ahLst/>
              <a:cxnLst/>
              <a:rect l="l" t="t" r="r" b="b"/>
              <a:pathLst>
                <a:path w="1629410" h="201294">
                  <a:moveTo>
                    <a:pt x="0" y="201129"/>
                  </a:moveTo>
                  <a:lnTo>
                    <a:pt x="292442" y="0"/>
                  </a:lnTo>
                  <a:lnTo>
                    <a:pt x="1628851" y="0"/>
                  </a:lnTo>
                  <a:lnTo>
                    <a:pt x="1343215" y="194424"/>
                  </a:lnTo>
                  <a:lnTo>
                    <a:pt x="190423" y="201129"/>
                  </a:lnTo>
                </a:path>
              </a:pathLst>
            </a:custGeom>
            <a:ln w="9524">
              <a:solidFill>
                <a:srgbClr val="C0C0C0"/>
              </a:solidFill>
            </a:ln>
          </p:spPr>
          <p:txBody>
            <a:bodyPr wrap="square" lIns="0" tIns="0" rIns="0" bIns="0" rtlCol="0"/>
            <a:lstStyle/>
            <a:p/>
          </p:txBody>
        </p:sp>
        <p:sp>
          <p:nvSpPr>
            <p:cNvPr id="20" name="object 20" descr=""/>
            <p:cNvSpPr/>
            <p:nvPr/>
          </p:nvSpPr>
          <p:spPr>
            <a:xfrm>
              <a:off x="2794523" y="1530565"/>
              <a:ext cx="1639570" cy="204470"/>
            </a:xfrm>
            <a:custGeom>
              <a:avLst/>
              <a:gdLst/>
              <a:ahLst/>
              <a:cxnLst/>
              <a:rect l="l" t="t" r="r" b="b"/>
              <a:pathLst>
                <a:path w="1639570" h="204469">
                  <a:moveTo>
                    <a:pt x="0" y="204406"/>
                  </a:moveTo>
                  <a:lnTo>
                    <a:pt x="294297" y="0"/>
                  </a:lnTo>
                  <a:lnTo>
                    <a:pt x="1639150" y="0"/>
                  </a:lnTo>
                  <a:lnTo>
                    <a:pt x="1351699" y="197599"/>
                  </a:lnTo>
                  <a:lnTo>
                    <a:pt x="191630" y="204406"/>
                  </a:lnTo>
                </a:path>
              </a:pathLst>
            </a:custGeom>
            <a:ln w="9525">
              <a:solidFill>
                <a:srgbClr val="C0C0C0"/>
              </a:solidFill>
            </a:ln>
          </p:spPr>
          <p:txBody>
            <a:bodyPr wrap="square" lIns="0" tIns="0" rIns="0" bIns="0" rtlCol="0"/>
            <a:lstStyle/>
            <a:p/>
          </p:txBody>
        </p:sp>
        <p:sp>
          <p:nvSpPr>
            <p:cNvPr id="21" name="object 21" descr=""/>
            <p:cNvSpPr/>
            <p:nvPr/>
          </p:nvSpPr>
          <p:spPr>
            <a:xfrm>
              <a:off x="2802432" y="1038669"/>
              <a:ext cx="1335405" cy="1029335"/>
            </a:xfrm>
            <a:custGeom>
              <a:avLst/>
              <a:gdLst/>
              <a:ahLst/>
              <a:cxnLst/>
              <a:rect l="l" t="t" r="r" b="b"/>
              <a:pathLst>
                <a:path w="1335404" h="1029335">
                  <a:moveTo>
                    <a:pt x="0" y="0"/>
                  </a:moveTo>
                  <a:lnTo>
                    <a:pt x="1335214" y="0"/>
                  </a:lnTo>
                  <a:lnTo>
                    <a:pt x="1335214" y="1029144"/>
                  </a:lnTo>
                  <a:lnTo>
                    <a:pt x="0" y="1029144"/>
                  </a:lnTo>
                  <a:lnTo>
                    <a:pt x="0" y="0"/>
                  </a:lnTo>
                  <a:close/>
                </a:path>
              </a:pathLst>
            </a:custGeom>
            <a:ln w="28575">
              <a:solidFill>
                <a:srgbClr val="C0C0C0"/>
              </a:solidFill>
            </a:ln>
          </p:spPr>
          <p:txBody>
            <a:bodyPr wrap="square" lIns="0" tIns="0" rIns="0" bIns="0" rtlCol="0"/>
            <a:lstStyle/>
            <a:p/>
          </p:txBody>
        </p:sp>
        <p:sp>
          <p:nvSpPr>
            <p:cNvPr id="22" name="object 22" descr=""/>
            <p:cNvSpPr/>
            <p:nvPr/>
          </p:nvSpPr>
          <p:spPr>
            <a:xfrm>
              <a:off x="4135279" y="848476"/>
              <a:ext cx="302895" cy="1210310"/>
            </a:xfrm>
            <a:custGeom>
              <a:avLst/>
              <a:gdLst/>
              <a:ahLst/>
              <a:cxnLst/>
              <a:rect l="l" t="t" r="r" b="b"/>
              <a:pathLst>
                <a:path w="302895" h="1210310">
                  <a:moveTo>
                    <a:pt x="5372" y="183032"/>
                  </a:moveTo>
                  <a:lnTo>
                    <a:pt x="302348" y="0"/>
                  </a:lnTo>
                  <a:lnTo>
                    <a:pt x="302348" y="1023924"/>
                  </a:lnTo>
                  <a:lnTo>
                    <a:pt x="10363" y="1210043"/>
                  </a:lnTo>
                  <a:lnTo>
                    <a:pt x="0" y="525449"/>
                  </a:lnTo>
                </a:path>
              </a:pathLst>
            </a:custGeom>
            <a:ln w="9525">
              <a:solidFill>
                <a:srgbClr val="C0C0C0"/>
              </a:solidFill>
            </a:ln>
          </p:spPr>
          <p:txBody>
            <a:bodyPr wrap="square" lIns="0" tIns="0" rIns="0" bIns="0" rtlCol="0"/>
            <a:lstStyle/>
            <a:p/>
          </p:txBody>
        </p:sp>
        <p:sp>
          <p:nvSpPr>
            <p:cNvPr id="23" name="object 23" descr=""/>
            <p:cNvSpPr/>
            <p:nvPr/>
          </p:nvSpPr>
          <p:spPr>
            <a:xfrm>
              <a:off x="1620392" y="2058530"/>
              <a:ext cx="185420" cy="273050"/>
            </a:xfrm>
            <a:custGeom>
              <a:avLst/>
              <a:gdLst/>
              <a:ahLst/>
              <a:cxnLst/>
              <a:rect l="l" t="t" r="r" b="b"/>
              <a:pathLst>
                <a:path w="185419" h="273050">
                  <a:moveTo>
                    <a:pt x="184835" y="0"/>
                  </a:moveTo>
                  <a:lnTo>
                    <a:pt x="0" y="0"/>
                  </a:lnTo>
                  <a:lnTo>
                    <a:pt x="0" y="272707"/>
                  </a:lnTo>
                  <a:lnTo>
                    <a:pt x="184835" y="272707"/>
                  </a:lnTo>
                  <a:lnTo>
                    <a:pt x="184835" y="0"/>
                  </a:lnTo>
                  <a:close/>
                </a:path>
              </a:pathLst>
            </a:custGeom>
            <a:solidFill>
              <a:srgbClr val="BBE0E3"/>
            </a:solidFill>
          </p:spPr>
          <p:txBody>
            <a:bodyPr wrap="square" lIns="0" tIns="0" rIns="0" bIns="0" rtlCol="0"/>
            <a:lstStyle/>
            <a:p/>
          </p:txBody>
        </p:sp>
        <p:sp>
          <p:nvSpPr>
            <p:cNvPr id="24" name="object 24" descr=""/>
            <p:cNvSpPr/>
            <p:nvPr/>
          </p:nvSpPr>
          <p:spPr>
            <a:xfrm>
              <a:off x="1720341" y="1102994"/>
              <a:ext cx="60325" cy="102870"/>
            </a:xfrm>
            <a:custGeom>
              <a:avLst/>
              <a:gdLst/>
              <a:ahLst/>
              <a:cxnLst/>
              <a:rect l="l" t="t" r="r" b="b"/>
              <a:pathLst>
                <a:path w="60325" h="102869">
                  <a:moveTo>
                    <a:pt x="60299" y="0"/>
                  </a:moveTo>
                  <a:lnTo>
                    <a:pt x="0" y="0"/>
                  </a:lnTo>
                  <a:lnTo>
                    <a:pt x="0" y="102476"/>
                  </a:lnTo>
                  <a:lnTo>
                    <a:pt x="60299" y="102476"/>
                  </a:lnTo>
                  <a:lnTo>
                    <a:pt x="60299" y="0"/>
                  </a:lnTo>
                  <a:close/>
                </a:path>
              </a:pathLst>
            </a:custGeom>
            <a:solidFill>
              <a:srgbClr val="BBE0E3"/>
            </a:solidFill>
          </p:spPr>
          <p:txBody>
            <a:bodyPr wrap="square" lIns="0" tIns="0" rIns="0" bIns="0" rtlCol="0"/>
            <a:lstStyle/>
            <a:p/>
          </p:txBody>
        </p:sp>
        <p:sp>
          <p:nvSpPr>
            <p:cNvPr id="25" name="object 25" descr=""/>
            <p:cNvSpPr/>
            <p:nvPr/>
          </p:nvSpPr>
          <p:spPr>
            <a:xfrm>
              <a:off x="1720341" y="1102994"/>
              <a:ext cx="60325" cy="102870"/>
            </a:xfrm>
            <a:custGeom>
              <a:avLst/>
              <a:gdLst/>
              <a:ahLst/>
              <a:cxnLst/>
              <a:rect l="l" t="t" r="r" b="b"/>
              <a:pathLst>
                <a:path w="60325" h="102869">
                  <a:moveTo>
                    <a:pt x="0" y="0"/>
                  </a:moveTo>
                  <a:lnTo>
                    <a:pt x="60299" y="0"/>
                  </a:lnTo>
                  <a:lnTo>
                    <a:pt x="60299" y="102476"/>
                  </a:lnTo>
                  <a:lnTo>
                    <a:pt x="0" y="102476"/>
                  </a:lnTo>
                  <a:lnTo>
                    <a:pt x="0" y="0"/>
                  </a:lnTo>
                  <a:close/>
                </a:path>
              </a:pathLst>
            </a:custGeom>
            <a:ln w="25400">
              <a:solidFill>
                <a:srgbClr val="89A4A7"/>
              </a:solidFill>
            </a:ln>
          </p:spPr>
          <p:txBody>
            <a:bodyPr wrap="square" lIns="0" tIns="0" rIns="0" bIns="0" rtlCol="0"/>
            <a:lstStyle/>
            <a:p/>
          </p:txBody>
        </p:sp>
        <p:sp>
          <p:nvSpPr>
            <p:cNvPr id="26" name="object 26" descr=""/>
            <p:cNvSpPr/>
            <p:nvPr/>
          </p:nvSpPr>
          <p:spPr>
            <a:xfrm>
              <a:off x="3015348" y="1061821"/>
              <a:ext cx="190500" cy="19685"/>
            </a:xfrm>
            <a:custGeom>
              <a:avLst/>
              <a:gdLst/>
              <a:ahLst/>
              <a:cxnLst/>
              <a:rect l="l" t="t" r="r" b="b"/>
              <a:pathLst>
                <a:path w="190500" h="19684">
                  <a:moveTo>
                    <a:pt x="189953" y="0"/>
                  </a:moveTo>
                  <a:lnTo>
                    <a:pt x="0" y="0"/>
                  </a:lnTo>
                  <a:lnTo>
                    <a:pt x="0" y="19672"/>
                  </a:lnTo>
                  <a:lnTo>
                    <a:pt x="189953" y="19672"/>
                  </a:lnTo>
                  <a:lnTo>
                    <a:pt x="189953" y="0"/>
                  </a:lnTo>
                  <a:close/>
                </a:path>
              </a:pathLst>
            </a:custGeom>
            <a:solidFill>
              <a:srgbClr val="BBE0E3"/>
            </a:solidFill>
          </p:spPr>
          <p:txBody>
            <a:bodyPr wrap="square" lIns="0" tIns="0" rIns="0" bIns="0" rtlCol="0"/>
            <a:lstStyle/>
            <a:p/>
          </p:txBody>
        </p:sp>
        <p:sp>
          <p:nvSpPr>
            <p:cNvPr id="27" name="object 27" descr=""/>
            <p:cNvSpPr/>
            <p:nvPr/>
          </p:nvSpPr>
          <p:spPr>
            <a:xfrm>
              <a:off x="3015348" y="1061821"/>
              <a:ext cx="190500" cy="19685"/>
            </a:xfrm>
            <a:custGeom>
              <a:avLst/>
              <a:gdLst/>
              <a:ahLst/>
              <a:cxnLst/>
              <a:rect l="l" t="t" r="r" b="b"/>
              <a:pathLst>
                <a:path w="190500" h="19684">
                  <a:moveTo>
                    <a:pt x="0" y="0"/>
                  </a:moveTo>
                  <a:lnTo>
                    <a:pt x="189953" y="0"/>
                  </a:lnTo>
                  <a:lnTo>
                    <a:pt x="189953" y="19672"/>
                  </a:lnTo>
                  <a:lnTo>
                    <a:pt x="0" y="19672"/>
                  </a:lnTo>
                  <a:lnTo>
                    <a:pt x="0" y="0"/>
                  </a:lnTo>
                  <a:close/>
                </a:path>
              </a:pathLst>
            </a:custGeom>
            <a:ln w="25400">
              <a:solidFill>
                <a:srgbClr val="89A4A7"/>
              </a:solidFill>
            </a:ln>
          </p:spPr>
          <p:txBody>
            <a:bodyPr wrap="square" lIns="0" tIns="0" rIns="0" bIns="0" rtlCol="0"/>
            <a:lstStyle/>
            <a:p/>
          </p:txBody>
        </p:sp>
        <p:sp>
          <p:nvSpPr>
            <p:cNvPr id="28" name="object 28" descr=""/>
            <p:cNvSpPr/>
            <p:nvPr/>
          </p:nvSpPr>
          <p:spPr>
            <a:xfrm>
              <a:off x="3015346" y="1143482"/>
              <a:ext cx="190500" cy="31115"/>
            </a:xfrm>
            <a:custGeom>
              <a:avLst/>
              <a:gdLst/>
              <a:ahLst/>
              <a:cxnLst/>
              <a:rect l="l" t="t" r="r" b="b"/>
              <a:pathLst>
                <a:path w="190500" h="31115">
                  <a:moveTo>
                    <a:pt x="189953" y="0"/>
                  </a:moveTo>
                  <a:lnTo>
                    <a:pt x="123640" y="14360"/>
                  </a:lnTo>
                  <a:lnTo>
                    <a:pt x="78187" y="15108"/>
                  </a:lnTo>
                  <a:lnTo>
                    <a:pt x="35192" y="10238"/>
                  </a:lnTo>
                  <a:lnTo>
                    <a:pt x="0" y="0"/>
                  </a:lnTo>
                  <a:lnTo>
                    <a:pt x="7463" y="12064"/>
                  </a:lnTo>
                  <a:lnTo>
                    <a:pt x="27816" y="21913"/>
                  </a:lnTo>
                  <a:lnTo>
                    <a:pt x="58003" y="28553"/>
                  </a:lnTo>
                  <a:lnTo>
                    <a:pt x="94970" y="30988"/>
                  </a:lnTo>
                  <a:lnTo>
                    <a:pt x="131944" y="28553"/>
                  </a:lnTo>
                  <a:lnTo>
                    <a:pt x="162136" y="21913"/>
                  </a:lnTo>
                  <a:lnTo>
                    <a:pt x="182490" y="12064"/>
                  </a:lnTo>
                  <a:lnTo>
                    <a:pt x="189953" y="0"/>
                  </a:lnTo>
                  <a:close/>
                </a:path>
              </a:pathLst>
            </a:custGeom>
            <a:solidFill>
              <a:srgbClr val="BBE0E3"/>
            </a:solidFill>
          </p:spPr>
          <p:txBody>
            <a:bodyPr wrap="square" lIns="0" tIns="0" rIns="0" bIns="0" rtlCol="0"/>
            <a:lstStyle/>
            <a:p/>
          </p:txBody>
        </p:sp>
        <p:sp>
          <p:nvSpPr>
            <p:cNvPr id="29" name="object 29" descr=""/>
            <p:cNvSpPr/>
            <p:nvPr/>
          </p:nvSpPr>
          <p:spPr>
            <a:xfrm>
              <a:off x="3015346" y="1143482"/>
              <a:ext cx="190500" cy="31115"/>
            </a:xfrm>
            <a:custGeom>
              <a:avLst/>
              <a:gdLst/>
              <a:ahLst/>
              <a:cxnLst/>
              <a:rect l="l" t="t" r="r" b="b"/>
              <a:pathLst>
                <a:path w="190500" h="31115">
                  <a:moveTo>
                    <a:pt x="189953" y="0"/>
                  </a:moveTo>
                  <a:lnTo>
                    <a:pt x="182490" y="12064"/>
                  </a:lnTo>
                  <a:lnTo>
                    <a:pt x="162136" y="21913"/>
                  </a:lnTo>
                  <a:lnTo>
                    <a:pt x="131944" y="28553"/>
                  </a:lnTo>
                  <a:lnTo>
                    <a:pt x="94970" y="30988"/>
                  </a:lnTo>
                  <a:lnTo>
                    <a:pt x="58003" y="28553"/>
                  </a:lnTo>
                  <a:lnTo>
                    <a:pt x="27816" y="21913"/>
                  </a:lnTo>
                  <a:lnTo>
                    <a:pt x="7463" y="12064"/>
                  </a:lnTo>
                  <a:lnTo>
                    <a:pt x="0" y="0"/>
                  </a:lnTo>
                  <a:lnTo>
                    <a:pt x="35192" y="10238"/>
                  </a:lnTo>
                  <a:lnTo>
                    <a:pt x="78187" y="15108"/>
                  </a:lnTo>
                  <a:lnTo>
                    <a:pt x="123640" y="14360"/>
                  </a:lnTo>
                  <a:lnTo>
                    <a:pt x="166204" y="7747"/>
                  </a:lnTo>
                  <a:lnTo>
                    <a:pt x="175209" y="5549"/>
                  </a:lnTo>
                  <a:lnTo>
                    <a:pt x="183210" y="2933"/>
                  </a:lnTo>
                  <a:lnTo>
                    <a:pt x="189953" y="0"/>
                  </a:lnTo>
                  <a:close/>
                </a:path>
              </a:pathLst>
            </a:custGeom>
            <a:ln w="25400">
              <a:solidFill>
                <a:srgbClr val="89A4A7"/>
              </a:solidFill>
            </a:ln>
          </p:spPr>
          <p:txBody>
            <a:bodyPr wrap="square" lIns="0" tIns="0" rIns="0" bIns="0" rtlCol="0"/>
            <a:lstStyle/>
            <a:p/>
          </p:txBody>
        </p:sp>
        <p:sp>
          <p:nvSpPr>
            <p:cNvPr id="30" name="object 30" descr=""/>
            <p:cNvSpPr/>
            <p:nvPr/>
          </p:nvSpPr>
          <p:spPr>
            <a:xfrm>
              <a:off x="3680183" y="1227385"/>
              <a:ext cx="190500" cy="31115"/>
            </a:xfrm>
            <a:custGeom>
              <a:avLst/>
              <a:gdLst/>
              <a:ahLst/>
              <a:cxnLst/>
              <a:rect l="l" t="t" r="r" b="b"/>
              <a:pathLst>
                <a:path w="190500" h="31115">
                  <a:moveTo>
                    <a:pt x="189953" y="0"/>
                  </a:moveTo>
                  <a:lnTo>
                    <a:pt x="123640" y="14360"/>
                  </a:lnTo>
                  <a:lnTo>
                    <a:pt x="78187" y="15108"/>
                  </a:lnTo>
                  <a:lnTo>
                    <a:pt x="35192" y="10238"/>
                  </a:lnTo>
                  <a:lnTo>
                    <a:pt x="0" y="0"/>
                  </a:lnTo>
                  <a:lnTo>
                    <a:pt x="7463" y="12064"/>
                  </a:lnTo>
                  <a:lnTo>
                    <a:pt x="27817" y="21913"/>
                  </a:lnTo>
                  <a:lnTo>
                    <a:pt x="58009" y="28553"/>
                  </a:lnTo>
                  <a:lnTo>
                    <a:pt x="94983" y="30988"/>
                  </a:lnTo>
                  <a:lnTo>
                    <a:pt x="131950" y="28553"/>
                  </a:lnTo>
                  <a:lnTo>
                    <a:pt x="162137" y="21913"/>
                  </a:lnTo>
                  <a:lnTo>
                    <a:pt x="182490" y="12064"/>
                  </a:lnTo>
                  <a:lnTo>
                    <a:pt x="189953" y="0"/>
                  </a:lnTo>
                  <a:close/>
                </a:path>
              </a:pathLst>
            </a:custGeom>
            <a:solidFill>
              <a:srgbClr val="BBE0E3"/>
            </a:solidFill>
          </p:spPr>
          <p:txBody>
            <a:bodyPr wrap="square" lIns="0" tIns="0" rIns="0" bIns="0" rtlCol="0"/>
            <a:lstStyle/>
            <a:p/>
          </p:txBody>
        </p:sp>
        <p:sp>
          <p:nvSpPr>
            <p:cNvPr id="31" name="object 31" descr=""/>
            <p:cNvSpPr/>
            <p:nvPr/>
          </p:nvSpPr>
          <p:spPr>
            <a:xfrm>
              <a:off x="3680183" y="1227385"/>
              <a:ext cx="190500" cy="31115"/>
            </a:xfrm>
            <a:custGeom>
              <a:avLst/>
              <a:gdLst/>
              <a:ahLst/>
              <a:cxnLst/>
              <a:rect l="l" t="t" r="r" b="b"/>
              <a:pathLst>
                <a:path w="190500" h="31115">
                  <a:moveTo>
                    <a:pt x="189953" y="0"/>
                  </a:moveTo>
                  <a:lnTo>
                    <a:pt x="182490" y="12064"/>
                  </a:lnTo>
                  <a:lnTo>
                    <a:pt x="162137" y="21913"/>
                  </a:lnTo>
                  <a:lnTo>
                    <a:pt x="131950" y="28553"/>
                  </a:lnTo>
                  <a:lnTo>
                    <a:pt x="94983" y="30988"/>
                  </a:lnTo>
                  <a:lnTo>
                    <a:pt x="58009" y="28553"/>
                  </a:lnTo>
                  <a:lnTo>
                    <a:pt x="27817" y="21913"/>
                  </a:lnTo>
                  <a:lnTo>
                    <a:pt x="7463" y="12064"/>
                  </a:lnTo>
                  <a:lnTo>
                    <a:pt x="0" y="0"/>
                  </a:lnTo>
                  <a:lnTo>
                    <a:pt x="35192" y="10238"/>
                  </a:lnTo>
                  <a:lnTo>
                    <a:pt x="78187" y="15108"/>
                  </a:lnTo>
                  <a:lnTo>
                    <a:pt x="123640" y="14360"/>
                  </a:lnTo>
                  <a:lnTo>
                    <a:pt x="166204" y="7747"/>
                  </a:lnTo>
                  <a:lnTo>
                    <a:pt x="175209" y="5549"/>
                  </a:lnTo>
                  <a:lnTo>
                    <a:pt x="183210" y="2933"/>
                  </a:lnTo>
                  <a:lnTo>
                    <a:pt x="189953" y="0"/>
                  </a:lnTo>
                  <a:close/>
                </a:path>
              </a:pathLst>
            </a:custGeom>
            <a:ln w="25400">
              <a:solidFill>
                <a:srgbClr val="89A4A7"/>
              </a:solidFill>
            </a:ln>
          </p:spPr>
          <p:txBody>
            <a:bodyPr wrap="square" lIns="0" tIns="0" rIns="0" bIns="0" rtlCol="0"/>
            <a:lstStyle/>
            <a:p/>
          </p:txBody>
        </p:sp>
        <p:sp>
          <p:nvSpPr>
            <p:cNvPr id="32" name="object 32" descr=""/>
            <p:cNvSpPr/>
            <p:nvPr/>
          </p:nvSpPr>
          <p:spPr>
            <a:xfrm>
              <a:off x="1750496" y="1071662"/>
              <a:ext cx="0" cy="31750"/>
            </a:xfrm>
            <a:custGeom>
              <a:avLst/>
              <a:gdLst/>
              <a:ahLst/>
              <a:cxnLst/>
              <a:rect l="l" t="t" r="r" b="b"/>
              <a:pathLst>
                <a:path w="0" h="31750">
                  <a:moveTo>
                    <a:pt x="0" y="31330"/>
                  </a:moveTo>
                  <a:lnTo>
                    <a:pt x="0" y="0"/>
                  </a:lnTo>
                </a:path>
              </a:pathLst>
            </a:custGeom>
            <a:ln w="9525">
              <a:solidFill>
                <a:srgbClr val="B6DCDF"/>
              </a:solidFill>
            </a:ln>
          </p:spPr>
          <p:txBody>
            <a:bodyPr wrap="square" lIns="0" tIns="0" rIns="0" bIns="0" rtlCol="0"/>
            <a:lstStyle/>
            <a:p/>
          </p:txBody>
        </p:sp>
        <p:sp>
          <p:nvSpPr>
            <p:cNvPr id="33" name="object 33" descr=""/>
            <p:cNvSpPr/>
            <p:nvPr/>
          </p:nvSpPr>
          <p:spPr>
            <a:xfrm>
              <a:off x="1750496" y="1071657"/>
              <a:ext cx="1264920" cy="0"/>
            </a:xfrm>
            <a:custGeom>
              <a:avLst/>
              <a:gdLst/>
              <a:ahLst/>
              <a:cxnLst/>
              <a:rect l="l" t="t" r="r" b="b"/>
              <a:pathLst>
                <a:path w="1264920" h="0">
                  <a:moveTo>
                    <a:pt x="0" y="0"/>
                  </a:moveTo>
                  <a:lnTo>
                    <a:pt x="1264843" y="0"/>
                  </a:lnTo>
                </a:path>
              </a:pathLst>
            </a:custGeom>
            <a:ln w="9525">
              <a:solidFill>
                <a:srgbClr val="B6DCDF"/>
              </a:solidFill>
            </a:ln>
          </p:spPr>
          <p:txBody>
            <a:bodyPr wrap="square" lIns="0" tIns="0" rIns="0" bIns="0" rtlCol="0"/>
            <a:lstStyle/>
            <a:p/>
          </p:txBody>
        </p:sp>
        <p:sp>
          <p:nvSpPr>
            <p:cNvPr id="34" name="object 34" descr=""/>
            <p:cNvSpPr/>
            <p:nvPr/>
          </p:nvSpPr>
          <p:spPr>
            <a:xfrm>
              <a:off x="3205300" y="1071657"/>
              <a:ext cx="570230" cy="0"/>
            </a:xfrm>
            <a:custGeom>
              <a:avLst/>
              <a:gdLst/>
              <a:ahLst/>
              <a:cxnLst/>
              <a:rect l="l" t="t" r="r" b="b"/>
              <a:pathLst>
                <a:path w="570229" h="0">
                  <a:moveTo>
                    <a:pt x="0" y="0"/>
                  </a:moveTo>
                  <a:lnTo>
                    <a:pt x="569861" y="0"/>
                  </a:lnTo>
                </a:path>
              </a:pathLst>
            </a:custGeom>
            <a:ln w="9525">
              <a:solidFill>
                <a:srgbClr val="B6DCDF"/>
              </a:solidFill>
            </a:ln>
          </p:spPr>
          <p:txBody>
            <a:bodyPr wrap="square" lIns="0" tIns="0" rIns="0" bIns="0" rtlCol="0"/>
            <a:lstStyle/>
            <a:p/>
          </p:txBody>
        </p:sp>
        <p:sp>
          <p:nvSpPr>
            <p:cNvPr id="35" name="object 35" descr=""/>
            <p:cNvSpPr/>
            <p:nvPr/>
          </p:nvSpPr>
          <p:spPr>
            <a:xfrm>
              <a:off x="3770014" y="1155560"/>
              <a:ext cx="5715" cy="87630"/>
            </a:xfrm>
            <a:custGeom>
              <a:avLst/>
              <a:gdLst/>
              <a:ahLst/>
              <a:cxnLst/>
              <a:rect l="l" t="t" r="r" b="b"/>
              <a:pathLst>
                <a:path w="5714" h="87630">
                  <a:moveTo>
                    <a:pt x="0" y="0"/>
                  </a:moveTo>
                  <a:lnTo>
                    <a:pt x="5143" y="87325"/>
                  </a:lnTo>
                </a:path>
              </a:pathLst>
            </a:custGeom>
            <a:ln w="9524">
              <a:solidFill>
                <a:srgbClr val="B6DCDF"/>
              </a:solidFill>
            </a:ln>
          </p:spPr>
          <p:txBody>
            <a:bodyPr wrap="square" lIns="0" tIns="0" rIns="0" bIns="0" rtlCol="0"/>
            <a:lstStyle/>
            <a:p/>
          </p:txBody>
        </p:sp>
        <p:sp>
          <p:nvSpPr>
            <p:cNvPr id="36" name="object 36" descr=""/>
            <p:cNvSpPr/>
            <p:nvPr/>
          </p:nvSpPr>
          <p:spPr>
            <a:xfrm>
              <a:off x="3110322" y="1081496"/>
              <a:ext cx="0" cy="78105"/>
            </a:xfrm>
            <a:custGeom>
              <a:avLst/>
              <a:gdLst/>
              <a:ahLst/>
              <a:cxnLst/>
              <a:rect l="l" t="t" r="r" b="b"/>
              <a:pathLst>
                <a:path w="0" h="78105">
                  <a:moveTo>
                    <a:pt x="0" y="0"/>
                  </a:moveTo>
                  <a:lnTo>
                    <a:pt x="0" y="77482"/>
                  </a:lnTo>
                </a:path>
              </a:pathLst>
            </a:custGeom>
            <a:ln w="9525">
              <a:solidFill>
                <a:srgbClr val="B6DCDF"/>
              </a:solidFill>
            </a:ln>
          </p:spPr>
          <p:txBody>
            <a:bodyPr wrap="square" lIns="0" tIns="0" rIns="0" bIns="0" rtlCol="0"/>
            <a:lstStyle/>
            <a:p/>
          </p:txBody>
        </p:sp>
        <p:sp>
          <p:nvSpPr>
            <p:cNvPr id="37" name="object 37" descr=""/>
            <p:cNvSpPr/>
            <p:nvPr/>
          </p:nvSpPr>
          <p:spPr>
            <a:xfrm>
              <a:off x="1720341" y="1443913"/>
              <a:ext cx="60325" cy="102870"/>
            </a:xfrm>
            <a:custGeom>
              <a:avLst/>
              <a:gdLst/>
              <a:ahLst/>
              <a:cxnLst/>
              <a:rect l="l" t="t" r="r" b="b"/>
              <a:pathLst>
                <a:path w="60325" h="102869">
                  <a:moveTo>
                    <a:pt x="60299" y="0"/>
                  </a:moveTo>
                  <a:lnTo>
                    <a:pt x="0" y="0"/>
                  </a:lnTo>
                  <a:lnTo>
                    <a:pt x="0" y="102476"/>
                  </a:lnTo>
                  <a:lnTo>
                    <a:pt x="60299" y="102476"/>
                  </a:lnTo>
                  <a:lnTo>
                    <a:pt x="60299" y="0"/>
                  </a:lnTo>
                  <a:close/>
                </a:path>
              </a:pathLst>
            </a:custGeom>
            <a:solidFill>
              <a:srgbClr val="BBE0E3"/>
            </a:solidFill>
          </p:spPr>
          <p:txBody>
            <a:bodyPr wrap="square" lIns="0" tIns="0" rIns="0" bIns="0" rtlCol="0"/>
            <a:lstStyle/>
            <a:p/>
          </p:txBody>
        </p:sp>
        <p:sp>
          <p:nvSpPr>
            <p:cNvPr id="38" name="object 38" descr=""/>
            <p:cNvSpPr/>
            <p:nvPr/>
          </p:nvSpPr>
          <p:spPr>
            <a:xfrm>
              <a:off x="1720341" y="1443913"/>
              <a:ext cx="60325" cy="102870"/>
            </a:xfrm>
            <a:custGeom>
              <a:avLst/>
              <a:gdLst/>
              <a:ahLst/>
              <a:cxnLst/>
              <a:rect l="l" t="t" r="r" b="b"/>
              <a:pathLst>
                <a:path w="60325" h="102869">
                  <a:moveTo>
                    <a:pt x="0" y="0"/>
                  </a:moveTo>
                  <a:lnTo>
                    <a:pt x="60299" y="0"/>
                  </a:lnTo>
                  <a:lnTo>
                    <a:pt x="60299" y="102476"/>
                  </a:lnTo>
                  <a:lnTo>
                    <a:pt x="0" y="102476"/>
                  </a:lnTo>
                  <a:lnTo>
                    <a:pt x="0" y="0"/>
                  </a:lnTo>
                  <a:close/>
                </a:path>
              </a:pathLst>
            </a:custGeom>
            <a:ln w="25400">
              <a:solidFill>
                <a:srgbClr val="89A4A7"/>
              </a:solidFill>
            </a:ln>
          </p:spPr>
          <p:txBody>
            <a:bodyPr wrap="square" lIns="0" tIns="0" rIns="0" bIns="0" rtlCol="0"/>
            <a:lstStyle/>
            <a:p/>
          </p:txBody>
        </p:sp>
        <p:sp>
          <p:nvSpPr>
            <p:cNvPr id="39" name="object 39" descr=""/>
            <p:cNvSpPr/>
            <p:nvPr/>
          </p:nvSpPr>
          <p:spPr>
            <a:xfrm>
              <a:off x="3015348" y="1402740"/>
              <a:ext cx="190500" cy="19685"/>
            </a:xfrm>
            <a:custGeom>
              <a:avLst/>
              <a:gdLst/>
              <a:ahLst/>
              <a:cxnLst/>
              <a:rect l="l" t="t" r="r" b="b"/>
              <a:pathLst>
                <a:path w="190500" h="19684">
                  <a:moveTo>
                    <a:pt x="189953" y="0"/>
                  </a:moveTo>
                  <a:lnTo>
                    <a:pt x="0" y="0"/>
                  </a:lnTo>
                  <a:lnTo>
                    <a:pt x="0" y="19672"/>
                  </a:lnTo>
                  <a:lnTo>
                    <a:pt x="189953" y="19672"/>
                  </a:lnTo>
                  <a:lnTo>
                    <a:pt x="189953" y="0"/>
                  </a:lnTo>
                  <a:close/>
                </a:path>
              </a:pathLst>
            </a:custGeom>
            <a:solidFill>
              <a:srgbClr val="BBE0E3"/>
            </a:solidFill>
          </p:spPr>
          <p:txBody>
            <a:bodyPr wrap="square" lIns="0" tIns="0" rIns="0" bIns="0" rtlCol="0"/>
            <a:lstStyle/>
            <a:p/>
          </p:txBody>
        </p:sp>
        <p:sp>
          <p:nvSpPr>
            <p:cNvPr id="40" name="object 40" descr=""/>
            <p:cNvSpPr/>
            <p:nvPr/>
          </p:nvSpPr>
          <p:spPr>
            <a:xfrm>
              <a:off x="3015348" y="1402740"/>
              <a:ext cx="190500" cy="19685"/>
            </a:xfrm>
            <a:custGeom>
              <a:avLst/>
              <a:gdLst/>
              <a:ahLst/>
              <a:cxnLst/>
              <a:rect l="l" t="t" r="r" b="b"/>
              <a:pathLst>
                <a:path w="190500" h="19684">
                  <a:moveTo>
                    <a:pt x="0" y="0"/>
                  </a:moveTo>
                  <a:lnTo>
                    <a:pt x="189953" y="0"/>
                  </a:lnTo>
                  <a:lnTo>
                    <a:pt x="189953" y="19672"/>
                  </a:lnTo>
                  <a:lnTo>
                    <a:pt x="0" y="19672"/>
                  </a:lnTo>
                  <a:lnTo>
                    <a:pt x="0" y="0"/>
                  </a:lnTo>
                  <a:close/>
                </a:path>
              </a:pathLst>
            </a:custGeom>
            <a:ln w="25400">
              <a:solidFill>
                <a:srgbClr val="89A4A7"/>
              </a:solidFill>
            </a:ln>
          </p:spPr>
          <p:txBody>
            <a:bodyPr wrap="square" lIns="0" tIns="0" rIns="0" bIns="0" rtlCol="0"/>
            <a:lstStyle/>
            <a:p/>
          </p:txBody>
        </p:sp>
        <p:sp>
          <p:nvSpPr>
            <p:cNvPr id="41" name="object 41" descr=""/>
            <p:cNvSpPr/>
            <p:nvPr/>
          </p:nvSpPr>
          <p:spPr>
            <a:xfrm>
              <a:off x="3015346" y="1484409"/>
              <a:ext cx="190500" cy="31115"/>
            </a:xfrm>
            <a:custGeom>
              <a:avLst/>
              <a:gdLst/>
              <a:ahLst/>
              <a:cxnLst/>
              <a:rect l="l" t="t" r="r" b="b"/>
              <a:pathLst>
                <a:path w="190500" h="31115">
                  <a:moveTo>
                    <a:pt x="189953" y="0"/>
                  </a:moveTo>
                  <a:lnTo>
                    <a:pt x="123640" y="14360"/>
                  </a:lnTo>
                  <a:lnTo>
                    <a:pt x="78187" y="15108"/>
                  </a:lnTo>
                  <a:lnTo>
                    <a:pt x="35192" y="10238"/>
                  </a:lnTo>
                  <a:lnTo>
                    <a:pt x="0" y="0"/>
                  </a:lnTo>
                  <a:lnTo>
                    <a:pt x="7463" y="12064"/>
                  </a:lnTo>
                  <a:lnTo>
                    <a:pt x="27816" y="21913"/>
                  </a:lnTo>
                  <a:lnTo>
                    <a:pt x="58003" y="28553"/>
                  </a:lnTo>
                  <a:lnTo>
                    <a:pt x="94970" y="30988"/>
                  </a:lnTo>
                  <a:lnTo>
                    <a:pt x="131944" y="28553"/>
                  </a:lnTo>
                  <a:lnTo>
                    <a:pt x="162136" y="21913"/>
                  </a:lnTo>
                  <a:lnTo>
                    <a:pt x="182490" y="12064"/>
                  </a:lnTo>
                  <a:lnTo>
                    <a:pt x="189953" y="0"/>
                  </a:lnTo>
                  <a:close/>
                </a:path>
              </a:pathLst>
            </a:custGeom>
            <a:solidFill>
              <a:srgbClr val="BBE0E3"/>
            </a:solidFill>
          </p:spPr>
          <p:txBody>
            <a:bodyPr wrap="square" lIns="0" tIns="0" rIns="0" bIns="0" rtlCol="0"/>
            <a:lstStyle/>
            <a:p/>
          </p:txBody>
        </p:sp>
        <p:sp>
          <p:nvSpPr>
            <p:cNvPr id="42" name="object 42" descr=""/>
            <p:cNvSpPr/>
            <p:nvPr/>
          </p:nvSpPr>
          <p:spPr>
            <a:xfrm>
              <a:off x="3015346" y="1484409"/>
              <a:ext cx="190500" cy="31115"/>
            </a:xfrm>
            <a:custGeom>
              <a:avLst/>
              <a:gdLst/>
              <a:ahLst/>
              <a:cxnLst/>
              <a:rect l="l" t="t" r="r" b="b"/>
              <a:pathLst>
                <a:path w="190500" h="31115">
                  <a:moveTo>
                    <a:pt x="189953" y="0"/>
                  </a:moveTo>
                  <a:lnTo>
                    <a:pt x="182490" y="12064"/>
                  </a:lnTo>
                  <a:lnTo>
                    <a:pt x="162136" y="21913"/>
                  </a:lnTo>
                  <a:lnTo>
                    <a:pt x="131944" y="28553"/>
                  </a:lnTo>
                  <a:lnTo>
                    <a:pt x="94970" y="30988"/>
                  </a:lnTo>
                  <a:lnTo>
                    <a:pt x="58003" y="28553"/>
                  </a:lnTo>
                  <a:lnTo>
                    <a:pt x="27816" y="21913"/>
                  </a:lnTo>
                  <a:lnTo>
                    <a:pt x="7463" y="12064"/>
                  </a:lnTo>
                  <a:lnTo>
                    <a:pt x="0" y="0"/>
                  </a:lnTo>
                  <a:lnTo>
                    <a:pt x="35192" y="10238"/>
                  </a:lnTo>
                  <a:lnTo>
                    <a:pt x="78187" y="15108"/>
                  </a:lnTo>
                  <a:lnTo>
                    <a:pt x="123640" y="14360"/>
                  </a:lnTo>
                  <a:lnTo>
                    <a:pt x="166204" y="7747"/>
                  </a:lnTo>
                  <a:lnTo>
                    <a:pt x="175209" y="5549"/>
                  </a:lnTo>
                  <a:lnTo>
                    <a:pt x="183210" y="2933"/>
                  </a:lnTo>
                  <a:lnTo>
                    <a:pt x="189953" y="0"/>
                  </a:lnTo>
                  <a:close/>
                </a:path>
              </a:pathLst>
            </a:custGeom>
            <a:ln w="25400">
              <a:solidFill>
                <a:srgbClr val="89A4A7"/>
              </a:solidFill>
            </a:ln>
          </p:spPr>
          <p:txBody>
            <a:bodyPr wrap="square" lIns="0" tIns="0" rIns="0" bIns="0" rtlCol="0"/>
            <a:lstStyle/>
            <a:p/>
          </p:txBody>
        </p:sp>
        <p:sp>
          <p:nvSpPr>
            <p:cNvPr id="43" name="object 43" descr=""/>
            <p:cNvSpPr/>
            <p:nvPr/>
          </p:nvSpPr>
          <p:spPr>
            <a:xfrm>
              <a:off x="3680183" y="1568311"/>
              <a:ext cx="190500" cy="31115"/>
            </a:xfrm>
            <a:custGeom>
              <a:avLst/>
              <a:gdLst/>
              <a:ahLst/>
              <a:cxnLst/>
              <a:rect l="l" t="t" r="r" b="b"/>
              <a:pathLst>
                <a:path w="190500" h="31115">
                  <a:moveTo>
                    <a:pt x="189953" y="0"/>
                  </a:moveTo>
                  <a:lnTo>
                    <a:pt x="123640" y="14360"/>
                  </a:lnTo>
                  <a:lnTo>
                    <a:pt x="78187" y="15108"/>
                  </a:lnTo>
                  <a:lnTo>
                    <a:pt x="35192" y="10238"/>
                  </a:lnTo>
                  <a:lnTo>
                    <a:pt x="0" y="0"/>
                  </a:lnTo>
                  <a:lnTo>
                    <a:pt x="7463" y="12064"/>
                  </a:lnTo>
                  <a:lnTo>
                    <a:pt x="27817" y="21913"/>
                  </a:lnTo>
                  <a:lnTo>
                    <a:pt x="58009" y="28553"/>
                  </a:lnTo>
                  <a:lnTo>
                    <a:pt x="94983" y="30988"/>
                  </a:lnTo>
                  <a:lnTo>
                    <a:pt x="131950" y="28553"/>
                  </a:lnTo>
                  <a:lnTo>
                    <a:pt x="162137" y="21913"/>
                  </a:lnTo>
                  <a:lnTo>
                    <a:pt x="182490" y="12064"/>
                  </a:lnTo>
                  <a:lnTo>
                    <a:pt x="189953" y="0"/>
                  </a:lnTo>
                  <a:close/>
                </a:path>
              </a:pathLst>
            </a:custGeom>
            <a:solidFill>
              <a:srgbClr val="BBE0E3"/>
            </a:solidFill>
          </p:spPr>
          <p:txBody>
            <a:bodyPr wrap="square" lIns="0" tIns="0" rIns="0" bIns="0" rtlCol="0"/>
            <a:lstStyle/>
            <a:p/>
          </p:txBody>
        </p:sp>
        <p:sp>
          <p:nvSpPr>
            <p:cNvPr id="44" name="object 44" descr=""/>
            <p:cNvSpPr/>
            <p:nvPr/>
          </p:nvSpPr>
          <p:spPr>
            <a:xfrm>
              <a:off x="3680183" y="1568311"/>
              <a:ext cx="190500" cy="31115"/>
            </a:xfrm>
            <a:custGeom>
              <a:avLst/>
              <a:gdLst/>
              <a:ahLst/>
              <a:cxnLst/>
              <a:rect l="l" t="t" r="r" b="b"/>
              <a:pathLst>
                <a:path w="190500" h="31115">
                  <a:moveTo>
                    <a:pt x="189953" y="0"/>
                  </a:moveTo>
                  <a:lnTo>
                    <a:pt x="182490" y="12064"/>
                  </a:lnTo>
                  <a:lnTo>
                    <a:pt x="162137" y="21913"/>
                  </a:lnTo>
                  <a:lnTo>
                    <a:pt x="131950" y="28553"/>
                  </a:lnTo>
                  <a:lnTo>
                    <a:pt x="94983" y="30988"/>
                  </a:lnTo>
                  <a:lnTo>
                    <a:pt x="58009" y="28553"/>
                  </a:lnTo>
                  <a:lnTo>
                    <a:pt x="27817" y="21913"/>
                  </a:lnTo>
                  <a:lnTo>
                    <a:pt x="7463" y="12064"/>
                  </a:lnTo>
                  <a:lnTo>
                    <a:pt x="0" y="0"/>
                  </a:lnTo>
                  <a:lnTo>
                    <a:pt x="35192" y="10238"/>
                  </a:lnTo>
                  <a:lnTo>
                    <a:pt x="78187" y="15108"/>
                  </a:lnTo>
                  <a:lnTo>
                    <a:pt x="123640" y="14360"/>
                  </a:lnTo>
                  <a:lnTo>
                    <a:pt x="166204" y="7747"/>
                  </a:lnTo>
                  <a:lnTo>
                    <a:pt x="175209" y="5549"/>
                  </a:lnTo>
                  <a:lnTo>
                    <a:pt x="183210" y="2933"/>
                  </a:lnTo>
                  <a:lnTo>
                    <a:pt x="189953" y="0"/>
                  </a:lnTo>
                  <a:close/>
                </a:path>
              </a:pathLst>
            </a:custGeom>
            <a:ln w="25400">
              <a:solidFill>
                <a:srgbClr val="89A4A7"/>
              </a:solidFill>
            </a:ln>
          </p:spPr>
          <p:txBody>
            <a:bodyPr wrap="square" lIns="0" tIns="0" rIns="0" bIns="0" rtlCol="0"/>
            <a:lstStyle/>
            <a:p/>
          </p:txBody>
        </p:sp>
        <p:sp>
          <p:nvSpPr>
            <p:cNvPr id="45" name="object 45" descr=""/>
            <p:cNvSpPr/>
            <p:nvPr/>
          </p:nvSpPr>
          <p:spPr>
            <a:xfrm>
              <a:off x="1750496" y="1412587"/>
              <a:ext cx="0" cy="31750"/>
            </a:xfrm>
            <a:custGeom>
              <a:avLst/>
              <a:gdLst/>
              <a:ahLst/>
              <a:cxnLst/>
              <a:rect l="l" t="t" r="r" b="b"/>
              <a:pathLst>
                <a:path w="0" h="31750">
                  <a:moveTo>
                    <a:pt x="0" y="31330"/>
                  </a:moveTo>
                  <a:lnTo>
                    <a:pt x="0" y="0"/>
                  </a:lnTo>
                </a:path>
              </a:pathLst>
            </a:custGeom>
            <a:ln w="9525">
              <a:solidFill>
                <a:srgbClr val="B6DCDF"/>
              </a:solidFill>
            </a:ln>
          </p:spPr>
          <p:txBody>
            <a:bodyPr wrap="square" lIns="0" tIns="0" rIns="0" bIns="0" rtlCol="0"/>
            <a:lstStyle/>
            <a:p/>
          </p:txBody>
        </p:sp>
        <p:sp>
          <p:nvSpPr>
            <p:cNvPr id="46" name="object 46" descr=""/>
            <p:cNvSpPr/>
            <p:nvPr/>
          </p:nvSpPr>
          <p:spPr>
            <a:xfrm>
              <a:off x="1750496" y="1412584"/>
              <a:ext cx="1264920" cy="0"/>
            </a:xfrm>
            <a:custGeom>
              <a:avLst/>
              <a:gdLst/>
              <a:ahLst/>
              <a:cxnLst/>
              <a:rect l="l" t="t" r="r" b="b"/>
              <a:pathLst>
                <a:path w="1264920" h="0">
                  <a:moveTo>
                    <a:pt x="0" y="0"/>
                  </a:moveTo>
                  <a:lnTo>
                    <a:pt x="1264843" y="0"/>
                  </a:lnTo>
                </a:path>
              </a:pathLst>
            </a:custGeom>
            <a:ln w="9525">
              <a:solidFill>
                <a:srgbClr val="B6DCDF"/>
              </a:solidFill>
            </a:ln>
          </p:spPr>
          <p:txBody>
            <a:bodyPr wrap="square" lIns="0" tIns="0" rIns="0" bIns="0" rtlCol="0"/>
            <a:lstStyle/>
            <a:p/>
          </p:txBody>
        </p:sp>
        <p:sp>
          <p:nvSpPr>
            <p:cNvPr id="47" name="object 47" descr=""/>
            <p:cNvSpPr/>
            <p:nvPr/>
          </p:nvSpPr>
          <p:spPr>
            <a:xfrm>
              <a:off x="3205300" y="1412584"/>
              <a:ext cx="570230" cy="0"/>
            </a:xfrm>
            <a:custGeom>
              <a:avLst/>
              <a:gdLst/>
              <a:ahLst/>
              <a:cxnLst/>
              <a:rect l="l" t="t" r="r" b="b"/>
              <a:pathLst>
                <a:path w="570229" h="0">
                  <a:moveTo>
                    <a:pt x="0" y="0"/>
                  </a:moveTo>
                  <a:lnTo>
                    <a:pt x="569861" y="0"/>
                  </a:lnTo>
                </a:path>
              </a:pathLst>
            </a:custGeom>
            <a:ln w="9525">
              <a:solidFill>
                <a:srgbClr val="B6DCDF"/>
              </a:solidFill>
            </a:ln>
          </p:spPr>
          <p:txBody>
            <a:bodyPr wrap="square" lIns="0" tIns="0" rIns="0" bIns="0" rtlCol="0"/>
            <a:lstStyle/>
            <a:p/>
          </p:txBody>
        </p:sp>
        <p:sp>
          <p:nvSpPr>
            <p:cNvPr id="48" name="object 48" descr=""/>
            <p:cNvSpPr/>
            <p:nvPr/>
          </p:nvSpPr>
          <p:spPr>
            <a:xfrm>
              <a:off x="3770014" y="1496486"/>
              <a:ext cx="5715" cy="87630"/>
            </a:xfrm>
            <a:custGeom>
              <a:avLst/>
              <a:gdLst/>
              <a:ahLst/>
              <a:cxnLst/>
              <a:rect l="l" t="t" r="r" b="b"/>
              <a:pathLst>
                <a:path w="5714" h="87630">
                  <a:moveTo>
                    <a:pt x="0" y="0"/>
                  </a:moveTo>
                  <a:lnTo>
                    <a:pt x="5143" y="87325"/>
                  </a:lnTo>
                </a:path>
              </a:pathLst>
            </a:custGeom>
            <a:ln w="9524">
              <a:solidFill>
                <a:srgbClr val="B6DCDF"/>
              </a:solidFill>
            </a:ln>
          </p:spPr>
          <p:txBody>
            <a:bodyPr wrap="square" lIns="0" tIns="0" rIns="0" bIns="0" rtlCol="0"/>
            <a:lstStyle/>
            <a:p/>
          </p:txBody>
        </p:sp>
        <p:sp>
          <p:nvSpPr>
            <p:cNvPr id="49" name="object 49" descr=""/>
            <p:cNvSpPr/>
            <p:nvPr/>
          </p:nvSpPr>
          <p:spPr>
            <a:xfrm>
              <a:off x="3110322" y="1422422"/>
              <a:ext cx="0" cy="78105"/>
            </a:xfrm>
            <a:custGeom>
              <a:avLst/>
              <a:gdLst/>
              <a:ahLst/>
              <a:cxnLst/>
              <a:rect l="l" t="t" r="r" b="b"/>
              <a:pathLst>
                <a:path w="0" h="78105">
                  <a:moveTo>
                    <a:pt x="0" y="0"/>
                  </a:moveTo>
                  <a:lnTo>
                    <a:pt x="0" y="77482"/>
                  </a:lnTo>
                </a:path>
              </a:pathLst>
            </a:custGeom>
            <a:ln w="9525">
              <a:solidFill>
                <a:srgbClr val="B6DCDF"/>
              </a:solidFill>
            </a:ln>
          </p:spPr>
          <p:txBody>
            <a:bodyPr wrap="square" lIns="0" tIns="0" rIns="0" bIns="0" rtlCol="0"/>
            <a:lstStyle/>
            <a:p/>
          </p:txBody>
        </p:sp>
        <p:sp>
          <p:nvSpPr>
            <p:cNvPr id="50" name="object 50" descr=""/>
            <p:cNvSpPr/>
            <p:nvPr/>
          </p:nvSpPr>
          <p:spPr>
            <a:xfrm>
              <a:off x="1720341" y="1784845"/>
              <a:ext cx="60325" cy="102870"/>
            </a:xfrm>
            <a:custGeom>
              <a:avLst/>
              <a:gdLst/>
              <a:ahLst/>
              <a:cxnLst/>
              <a:rect l="l" t="t" r="r" b="b"/>
              <a:pathLst>
                <a:path w="60325" h="102869">
                  <a:moveTo>
                    <a:pt x="60299" y="0"/>
                  </a:moveTo>
                  <a:lnTo>
                    <a:pt x="0" y="0"/>
                  </a:lnTo>
                  <a:lnTo>
                    <a:pt x="0" y="102476"/>
                  </a:lnTo>
                  <a:lnTo>
                    <a:pt x="60299" y="102476"/>
                  </a:lnTo>
                  <a:lnTo>
                    <a:pt x="60299" y="0"/>
                  </a:lnTo>
                  <a:close/>
                </a:path>
              </a:pathLst>
            </a:custGeom>
            <a:solidFill>
              <a:srgbClr val="BBE0E3"/>
            </a:solidFill>
          </p:spPr>
          <p:txBody>
            <a:bodyPr wrap="square" lIns="0" tIns="0" rIns="0" bIns="0" rtlCol="0"/>
            <a:lstStyle/>
            <a:p/>
          </p:txBody>
        </p:sp>
        <p:sp>
          <p:nvSpPr>
            <p:cNvPr id="51" name="object 51" descr=""/>
            <p:cNvSpPr/>
            <p:nvPr/>
          </p:nvSpPr>
          <p:spPr>
            <a:xfrm>
              <a:off x="1720341" y="1784845"/>
              <a:ext cx="60325" cy="102870"/>
            </a:xfrm>
            <a:custGeom>
              <a:avLst/>
              <a:gdLst/>
              <a:ahLst/>
              <a:cxnLst/>
              <a:rect l="l" t="t" r="r" b="b"/>
              <a:pathLst>
                <a:path w="60325" h="102869">
                  <a:moveTo>
                    <a:pt x="0" y="0"/>
                  </a:moveTo>
                  <a:lnTo>
                    <a:pt x="60299" y="0"/>
                  </a:lnTo>
                  <a:lnTo>
                    <a:pt x="60299" y="102476"/>
                  </a:lnTo>
                  <a:lnTo>
                    <a:pt x="0" y="102476"/>
                  </a:lnTo>
                  <a:lnTo>
                    <a:pt x="0" y="0"/>
                  </a:lnTo>
                  <a:close/>
                </a:path>
              </a:pathLst>
            </a:custGeom>
            <a:ln w="25400">
              <a:solidFill>
                <a:srgbClr val="89A4A7"/>
              </a:solidFill>
            </a:ln>
          </p:spPr>
          <p:txBody>
            <a:bodyPr wrap="square" lIns="0" tIns="0" rIns="0" bIns="0" rtlCol="0"/>
            <a:lstStyle/>
            <a:p/>
          </p:txBody>
        </p:sp>
        <p:sp>
          <p:nvSpPr>
            <p:cNvPr id="52" name="object 52" descr=""/>
            <p:cNvSpPr/>
            <p:nvPr/>
          </p:nvSpPr>
          <p:spPr>
            <a:xfrm>
              <a:off x="3015348" y="1743671"/>
              <a:ext cx="190500" cy="19685"/>
            </a:xfrm>
            <a:custGeom>
              <a:avLst/>
              <a:gdLst/>
              <a:ahLst/>
              <a:cxnLst/>
              <a:rect l="l" t="t" r="r" b="b"/>
              <a:pathLst>
                <a:path w="190500" h="19685">
                  <a:moveTo>
                    <a:pt x="189953" y="0"/>
                  </a:moveTo>
                  <a:lnTo>
                    <a:pt x="0" y="0"/>
                  </a:lnTo>
                  <a:lnTo>
                    <a:pt x="0" y="19672"/>
                  </a:lnTo>
                  <a:lnTo>
                    <a:pt x="189953" y="19672"/>
                  </a:lnTo>
                  <a:lnTo>
                    <a:pt x="189953" y="0"/>
                  </a:lnTo>
                  <a:close/>
                </a:path>
              </a:pathLst>
            </a:custGeom>
            <a:solidFill>
              <a:srgbClr val="BBE0E3"/>
            </a:solidFill>
          </p:spPr>
          <p:txBody>
            <a:bodyPr wrap="square" lIns="0" tIns="0" rIns="0" bIns="0" rtlCol="0"/>
            <a:lstStyle/>
            <a:p/>
          </p:txBody>
        </p:sp>
        <p:sp>
          <p:nvSpPr>
            <p:cNvPr id="53" name="object 53" descr=""/>
            <p:cNvSpPr/>
            <p:nvPr/>
          </p:nvSpPr>
          <p:spPr>
            <a:xfrm>
              <a:off x="3015348" y="1743671"/>
              <a:ext cx="190500" cy="19685"/>
            </a:xfrm>
            <a:custGeom>
              <a:avLst/>
              <a:gdLst/>
              <a:ahLst/>
              <a:cxnLst/>
              <a:rect l="l" t="t" r="r" b="b"/>
              <a:pathLst>
                <a:path w="190500" h="19685">
                  <a:moveTo>
                    <a:pt x="0" y="0"/>
                  </a:moveTo>
                  <a:lnTo>
                    <a:pt x="189953" y="0"/>
                  </a:lnTo>
                  <a:lnTo>
                    <a:pt x="189953" y="19672"/>
                  </a:lnTo>
                  <a:lnTo>
                    <a:pt x="0" y="19672"/>
                  </a:lnTo>
                  <a:lnTo>
                    <a:pt x="0" y="0"/>
                  </a:lnTo>
                  <a:close/>
                </a:path>
              </a:pathLst>
            </a:custGeom>
            <a:ln w="25400">
              <a:solidFill>
                <a:srgbClr val="89A4A7"/>
              </a:solidFill>
            </a:ln>
          </p:spPr>
          <p:txBody>
            <a:bodyPr wrap="square" lIns="0" tIns="0" rIns="0" bIns="0" rtlCol="0"/>
            <a:lstStyle/>
            <a:p/>
          </p:txBody>
        </p:sp>
        <p:sp>
          <p:nvSpPr>
            <p:cNvPr id="54" name="object 54" descr=""/>
            <p:cNvSpPr/>
            <p:nvPr/>
          </p:nvSpPr>
          <p:spPr>
            <a:xfrm>
              <a:off x="3015346" y="1825335"/>
              <a:ext cx="190500" cy="31115"/>
            </a:xfrm>
            <a:custGeom>
              <a:avLst/>
              <a:gdLst/>
              <a:ahLst/>
              <a:cxnLst/>
              <a:rect l="l" t="t" r="r" b="b"/>
              <a:pathLst>
                <a:path w="190500" h="31114">
                  <a:moveTo>
                    <a:pt x="189953" y="0"/>
                  </a:moveTo>
                  <a:lnTo>
                    <a:pt x="123640" y="14360"/>
                  </a:lnTo>
                  <a:lnTo>
                    <a:pt x="78187" y="15108"/>
                  </a:lnTo>
                  <a:lnTo>
                    <a:pt x="35192" y="10238"/>
                  </a:lnTo>
                  <a:lnTo>
                    <a:pt x="0" y="0"/>
                  </a:lnTo>
                  <a:lnTo>
                    <a:pt x="7463" y="12064"/>
                  </a:lnTo>
                  <a:lnTo>
                    <a:pt x="27816" y="21913"/>
                  </a:lnTo>
                  <a:lnTo>
                    <a:pt x="58003" y="28553"/>
                  </a:lnTo>
                  <a:lnTo>
                    <a:pt x="94970" y="30988"/>
                  </a:lnTo>
                  <a:lnTo>
                    <a:pt x="131944" y="28553"/>
                  </a:lnTo>
                  <a:lnTo>
                    <a:pt x="162136" y="21913"/>
                  </a:lnTo>
                  <a:lnTo>
                    <a:pt x="182490" y="12064"/>
                  </a:lnTo>
                  <a:lnTo>
                    <a:pt x="189953" y="0"/>
                  </a:lnTo>
                  <a:close/>
                </a:path>
              </a:pathLst>
            </a:custGeom>
            <a:solidFill>
              <a:srgbClr val="BBE0E3"/>
            </a:solidFill>
          </p:spPr>
          <p:txBody>
            <a:bodyPr wrap="square" lIns="0" tIns="0" rIns="0" bIns="0" rtlCol="0"/>
            <a:lstStyle/>
            <a:p/>
          </p:txBody>
        </p:sp>
        <p:sp>
          <p:nvSpPr>
            <p:cNvPr id="55" name="object 55" descr=""/>
            <p:cNvSpPr/>
            <p:nvPr/>
          </p:nvSpPr>
          <p:spPr>
            <a:xfrm>
              <a:off x="3015346" y="1825335"/>
              <a:ext cx="190500" cy="31115"/>
            </a:xfrm>
            <a:custGeom>
              <a:avLst/>
              <a:gdLst/>
              <a:ahLst/>
              <a:cxnLst/>
              <a:rect l="l" t="t" r="r" b="b"/>
              <a:pathLst>
                <a:path w="190500" h="31114">
                  <a:moveTo>
                    <a:pt x="189953" y="0"/>
                  </a:moveTo>
                  <a:lnTo>
                    <a:pt x="182490" y="12064"/>
                  </a:lnTo>
                  <a:lnTo>
                    <a:pt x="162136" y="21913"/>
                  </a:lnTo>
                  <a:lnTo>
                    <a:pt x="131944" y="28553"/>
                  </a:lnTo>
                  <a:lnTo>
                    <a:pt x="94970" y="30988"/>
                  </a:lnTo>
                  <a:lnTo>
                    <a:pt x="58003" y="28553"/>
                  </a:lnTo>
                  <a:lnTo>
                    <a:pt x="27816" y="21913"/>
                  </a:lnTo>
                  <a:lnTo>
                    <a:pt x="7463" y="12064"/>
                  </a:lnTo>
                  <a:lnTo>
                    <a:pt x="0" y="0"/>
                  </a:lnTo>
                  <a:lnTo>
                    <a:pt x="35192" y="10238"/>
                  </a:lnTo>
                  <a:lnTo>
                    <a:pt x="78187" y="15108"/>
                  </a:lnTo>
                  <a:lnTo>
                    <a:pt x="123640" y="14360"/>
                  </a:lnTo>
                  <a:lnTo>
                    <a:pt x="166204" y="7747"/>
                  </a:lnTo>
                  <a:lnTo>
                    <a:pt x="175209" y="5549"/>
                  </a:lnTo>
                  <a:lnTo>
                    <a:pt x="183210" y="2933"/>
                  </a:lnTo>
                  <a:lnTo>
                    <a:pt x="189953" y="0"/>
                  </a:lnTo>
                  <a:close/>
                </a:path>
              </a:pathLst>
            </a:custGeom>
            <a:ln w="25400">
              <a:solidFill>
                <a:srgbClr val="89A4A7"/>
              </a:solidFill>
            </a:ln>
          </p:spPr>
          <p:txBody>
            <a:bodyPr wrap="square" lIns="0" tIns="0" rIns="0" bIns="0" rtlCol="0"/>
            <a:lstStyle/>
            <a:p/>
          </p:txBody>
        </p:sp>
        <p:sp>
          <p:nvSpPr>
            <p:cNvPr id="56" name="object 56" descr=""/>
            <p:cNvSpPr/>
            <p:nvPr/>
          </p:nvSpPr>
          <p:spPr>
            <a:xfrm>
              <a:off x="3680183" y="1909238"/>
              <a:ext cx="190500" cy="31115"/>
            </a:xfrm>
            <a:custGeom>
              <a:avLst/>
              <a:gdLst/>
              <a:ahLst/>
              <a:cxnLst/>
              <a:rect l="l" t="t" r="r" b="b"/>
              <a:pathLst>
                <a:path w="190500" h="31114">
                  <a:moveTo>
                    <a:pt x="189953" y="0"/>
                  </a:moveTo>
                  <a:lnTo>
                    <a:pt x="123640" y="14360"/>
                  </a:lnTo>
                  <a:lnTo>
                    <a:pt x="78187" y="15108"/>
                  </a:lnTo>
                  <a:lnTo>
                    <a:pt x="35192" y="10238"/>
                  </a:lnTo>
                  <a:lnTo>
                    <a:pt x="0" y="0"/>
                  </a:lnTo>
                  <a:lnTo>
                    <a:pt x="7463" y="12064"/>
                  </a:lnTo>
                  <a:lnTo>
                    <a:pt x="27817" y="21913"/>
                  </a:lnTo>
                  <a:lnTo>
                    <a:pt x="58009" y="28553"/>
                  </a:lnTo>
                  <a:lnTo>
                    <a:pt x="94983" y="30988"/>
                  </a:lnTo>
                  <a:lnTo>
                    <a:pt x="131950" y="28553"/>
                  </a:lnTo>
                  <a:lnTo>
                    <a:pt x="162137" y="21913"/>
                  </a:lnTo>
                  <a:lnTo>
                    <a:pt x="182490" y="12064"/>
                  </a:lnTo>
                  <a:lnTo>
                    <a:pt x="189953" y="0"/>
                  </a:lnTo>
                  <a:close/>
                </a:path>
              </a:pathLst>
            </a:custGeom>
            <a:solidFill>
              <a:srgbClr val="BBE0E3"/>
            </a:solidFill>
          </p:spPr>
          <p:txBody>
            <a:bodyPr wrap="square" lIns="0" tIns="0" rIns="0" bIns="0" rtlCol="0"/>
            <a:lstStyle/>
            <a:p/>
          </p:txBody>
        </p:sp>
        <p:sp>
          <p:nvSpPr>
            <p:cNvPr id="57" name="object 57" descr=""/>
            <p:cNvSpPr/>
            <p:nvPr/>
          </p:nvSpPr>
          <p:spPr>
            <a:xfrm>
              <a:off x="3680183" y="1909238"/>
              <a:ext cx="190500" cy="31115"/>
            </a:xfrm>
            <a:custGeom>
              <a:avLst/>
              <a:gdLst/>
              <a:ahLst/>
              <a:cxnLst/>
              <a:rect l="l" t="t" r="r" b="b"/>
              <a:pathLst>
                <a:path w="190500" h="31114">
                  <a:moveTo>
                    <a:pt x="189953" y="0"/>
                  </a:moveTo>
                  <a:lnTo>
                    <a:pt x="182490" y="12064"/>
                  </a:lnTo>
                  <a:lnTo>
                    <a:pt x="162137" y="21913"/>
                  </a:lnTo>
                  <a:lnTo>
                    <a:pt x="131950" y="28553"/>
                  </a:lnTo>
                  <a:lnTo>
                    <a:pt x="94983" y="30988"/>
                  </a:lnTo>
                  <a:lnTo>
                    <a:pt x="58009" y="28553"/>
                  </a:lnTo>
                  <a:lnTo>
                    <a:pt x="27817" y="21913"/>
                  </a:lnTo>
                  <a:lnTo>
                    <a:pt x="7463" y="12064"/>
                  </a:lnTo>
                  <a:lnTo>
                    <a:pt x="0" y="0"/>
                  </a:lnTo>
                  <a:lnTo>
                    <a:pt x="35192" y="10238"/>
                  </a:lnTo>
                  <a:lnTo>
                    <a:pt x="78187" y="15108"/>
                  </a:lnTo>
                  <a:lnTo>
                    <a:pt x="123640" y="14360"/>
                  </a:lnTo>
                  <a:lnTo>
                    <a:pt x="166204" y="7747"/>
                  </a:lnTo>
                  <a:lnTo>
                    <a:pt x="175209" y="5549"/>
                  </a:lnTo>
                  <a:lnTo>
                    <a:pt x="183210" y="2933"/>
                  </a:lnTo>
                  <a:lnTo>
                    <a:pt x="189953" y="0"/>
                  </a:lnTo>
                  <a:close/>
                </a:path>
              </a:pathLst>
            </a:custGeom>
            <a:ln w="25400">
              <a:solidFill>
                <a:srgbClr val="89A4A7"/>
              </a:solidFill>
            </a:ln>
          </p:spPr>
          <p:txBody>
            <a:bodyPr wrap="square" lIns="0" tIns="0" rIns="0" bIns="0" rtlCol="0"/>
            <a:lstStyle/>
            <a:p/>
          </p:txBody>
        </p:sp>
        <p:sp>
          <p:nvSpPr>
            <p:cNvPr id="58" name="object 58" descr=""/>
            <p:cNvSpPr/>
            <p:nvPr/>
          </p:nvSpPr>
          <p:spPr>
            <a:xfrm>
              <a:off x="1750496" y="1753514"/>
              <a:ext cx="0" cy="31750"/>
            </a:xfrm>
            <a:custGeom>
              <a:avLst/>
              <a:gdLst/>
              <a:ahLst/>
              <a:cxnLst/>
              <a:rect l="l" t="t" r="r" b="b"/>
              <a:pathLst>
                <a:path w="0" h="31750">
                  <a:moveTo>
                    <a:pt x="0" y="31330"/>
                  </a:moveTo>
                  <a:lnTo>
                    <a:pt x="0" y="0"/>
                  </a:lnTo>
                </a:path>
              </a:pathLst>
            </a:custGeom>
            <a:ln w="9525">
              <a:solidFill>
                <a:srgbClr val="B6DCDF"/>
              </a:solidFill>
            </a:ln>
          </p:spPr>
          <p:txBody>
            <a:bodyPr wrap="square" lIns="0" tIns="0" rIns="0" bIns="0" rtlCol="0"/>
            <a:lstStyle/>
            <a:p/>
          </p:txBody>
        </p:sp>
        <p:sp>
          <p:nvSpPr>
            <p:cNvPr id="59" name="object 59" descr=""/>
            <p:cNvSpPr/>
            <p:nvPr/>
          </p:nvSpPr>
          <p:spPr>
            <a:xfrm>
              <a:off x="1750496" y="1753510"/>
              <a:ext cx="1264920" cy="0"/>
            </a:xfrm>
            <a:custGeom>
              <a:avLst/>
              <a:gdLst/>
              <a:ahLst/>
              <a:cxnLst/>
              <a:rect l="l" t="t" r="r" b="b"/>
              <a:pathLst>
                <a:path w="1264920" h="0">
                  <a:moveTo>
                    <a:pt x="0" y="0"/>
                  </a:moveTo>
                  <a:lnTo>
                    <a:pt x="1264843" y="0"/>
                  </a:lnTo>
                </a:path>
              </a:pathLst>
            </a:custGeom>
            <a:ln w="9525">
              <a:solidFill>
                <a:srgbClr val="B6DCDF"/>
              </a:solidFill>
            </a:ln>
          </p:spPr>
          <p:txBody>
            <a:bodyPr wrap="square" lIns="0" tIns="0" rIns="0" bIns="0" rtlCol="0"/>
            <a:lstStyle/>
            <a:p/>
          </p:txBody>
        </p:sp>
        <p:sp>
          <p:nvSpPr>
            <p:cNvPr id="60" name="object 60" descr=""/>
            <p:cNvSpPr/>
            <p:nvPr/>
          </p:nvSpPr>
          <p:spPr>
            <a:xfrm>
              <a:off x="3205300" y="1753510"/>
              <a:ext cx="570230" cy="0"/>
            </a:xfrm>
            <a:custGeom>
              <a:avLst/>
              <a:gdLst/>
              <a:ahLst/>
              <a:cxnLst/>
              <a:rect l="l" t="t" r="r" b="b"/>
              <a:pathLst>
                <a:path w="570229" h="0">
                  <a:moveTo>
                    <a:pt x="0" y="0"/>
                  </a:moveTo>
                  <a:lnTo>
                    <a:pt x="569861" y="0"/>
                  </a:lnTo>
                </a:path>
              </a:pathLst>
            </a:custGeom>
            <a:ln w="9525">
              <a:solidFill>
                <a:srgbClr val="B6DCDF"/>
              </a:solidFill>
            </a:ln>
          </p:spPr>
          <p:txBody>
            <a:bodyPr wrap="square" lIns="0" tIns="0" rIns="0" bIns="0" rtlCol="0"/>
            <a:lstStyle/>
            <a:p/>
          </p:txBody>
        </p:sp>
        <p:sp>
          <p:nvSpPr>
            <p:cNvPr id="61" name="object 61" descr=""/>
            <p:cNvSpPr/>
            <p:nvPr/>
          </p:nvSpPr>
          <p:spPr>
            <a:xfrm>
              <a:off x="3770014" y="1837411"/>
              <a:ext cx="5715" cy="87630"/>
            </a:xfrm>
            <a:custGeom>
              <a:avLst/>
              <a:gdLst/>
              <a:ahLst/>
              <a:cxnLst/>
              <a:rect l="l" t="t" r="r" b="b"/>
              <a:pathLst>
                <a:path w="5714" h="87630">
                  <a:moveTo>
                    <a:pt x="0" y="0"/>
                  </a:moveTo>
                  <a:lnTo>
                    <a:pt x="5143" y="87325"/>
                  </a:lnTo>
                </a:path>
              </a:pathLst>
            </a:custGeom>
            <a:ln w="9524">
              <a:solidFill>
                <a:srgbClr val="B6DCDF"/>
              </a:solidFill>
            </a:ln>
          </p:spPr>
          <p:txBody>
            <a:bodyPr wrap="square" lIns="0" tIns="0" rIns="0" bIns="0" rtlCol="0"/>
            <a:lstStyle/>
            <a:p/>
          </p:txBody>
        </p:sp>
        <p:sp>
          <p:nvSpPr>
            <p:cNvPr id="62" name="object 62" descr=""/>
            <p:cNvSpPr/>
            <p:nvPr/>
          </p:nvSpPr>
          <p:spPr>
            <a:xfrm>
              <a:off x="3110322" y="1763349"/>
              <a:ext cx="0" cy="78105"/>
            </a:xfrm>
            <a:custGeom>
              <a:avLst/>
              <a:gdLst/>
              <a:ahLst/>
              <a:cxnLst/>
              <a:rect l="l" t="t" r="r" b="b"/>
              <a:pathLst>
                <a:path w="0" h="78105">
                  <a:moveTo>
                    <a:pt x="0" y="0"/>
                  </a:moveTo>
                  <a:lnTo>
                    <a:pt x="0" y="77482"/>
                  </a:lnTo>
                </a:path>
              </a:pathLst>
            </a:custGeom>
            <a:ln w="9525">
              <a:solidFill>
                <a:srgbClr val="B6DCDF"/>
              </a:solidFill>
            </a:ln>
          </p:spPr>
          <p:txBody>
            <a:bodyPr wrap="square" lIns="0" tIns="0" rIns="0" bIns="0" rtlCol="0"/>
            <a:lstStyle/>
            <a:p/>
          </p:txBody>
        </p:sp>
        <p:sp>
          <p:nvSpPr>
            <p:cNvPr id="63" name="object 63" descr=""/>
            <p:cNvSpPr/>
            <p:nvPr/>
          </p:nvSpPr>
          <p:spPr>
            <a:xfrm>
              <a:off x="1712815" y="1887317"/>
              <a:ext cx="38100" cy="171450"/>
            </a:xfrm>
            <a:custGeom>
              <a:avLst/>
              <a:gdLst/>
              <a:ahLst/>
              <a:cxnLst/>
              <a:rect l="l" t="t" r="r" b="b"/>
              <a:pathLst>
                <a:path w="38100" h="171450">
                  <a:moveTo>
                    <a:pt x="0" y="171208"/>
                  </a:moveTo>
                  <a:lnTo>
                    <a:pt x="37680" y="0"/>
                  </a:lnTo>
                </a:path>
              </a:pathLst>
            </a:custGeom>
            <a:ln w="9525">
              <a:solidFill>
                <a:srgbClr val="B6DCDF"/>
              </a:solidFill>
            </a:ln>
          </p:spPr>
          <p:txBody>
            <a:bodyPr wrap="square" lIns="0" tIns="0" rIns="0" bIns="0" rtlCol="0"/>
            <a:lstStyle/>
            <a:p/>
          </p:txBody>
        </p:sp>
        <p:sp>
          <p:nvSpPr>
            <p:cNvPr id="64" name="object 64" descr=""/>
            <p:cNvSpPr/>
            <p:nvPr/>
          </p:nvSpPr>
          <p:spPr>
            <a:xfrm>
              <a:off x="1750496" y="1546390"/>
              <a:ext cx="0" cy="238760"/>
            </a:xfrm>
            <a:custGeom>
              <a:avLst/>
              <a:gdLst/>
              <a:ahLst/>
              <a:cxnLst/>
              <a:rect l="l" t="t" r="r" b="b"/>
              <a:pathLst>
                <a:path w="0" h="238760">
                  <a:moveTo>
                    <a:pt x="0" y="238455"/>
                  </a:moveTo>
                  <a:lnTo>
                    <a:pt x="0" y="0"/>
                  </a:lnTo>
                </a:path>
              </a:pathLst>
            </a:custGeom>
            <a:ln w="9525">
              <a:solidFill>
                <a:srgbClr val="B6DCDF"/>
              </a:solidFill>
            </a:ln>
          </p:spPr>
          <p:txBody>
            <a:bodyPr wrap="square" lIns="0" tIns="0" rIns="0" bIns="0" rtlCol="0"/>
            <a:lstStyle/>
            <a:p/>
          </p:txBody>
        </p:sp>
        <p:sp>
          <p:nvSpPr>
            <p:cNvPr id="65" name="object 65" descr=""/>
            <p:cNvSpPr/>
            <p:nvPr/>
          </p:nvSpPr>
          <p:spPr>
            <a:xfrm>
              <a:off x="1750496" y="1205463"/>
              <a:ext cx="0" cy="238760"/>
            </a:xfrm>
            <a:custGeom>
              <a:avLst/>
              <a:gdLst/>
              <a:ahLst/>
              <a:cxnLst/>
              <a:rect l="l" t="t" r="r" b="b"/>
              <a:pathLst>
                <a:path w="0" h="238759">
                  <a:moveTo>
                    <a:pt x="0" y="238455"/>
                  </a:moveTo>
                  <a:lnTo>
                    <a:pt x="0" y="0"/>
                  </a:lnTo>
                </a:path>
              </a:pathLst>
            </a:custGeom>
            <a:ln w="9525">
              <a:solidFill>
                <a:srgbClr val="B6DCDF"/>
              </a:solidFill>
            </a:ln>
          </p:spPr>
          <p:txBody>
            <a:bodyPr wrap="square" lIns="0" tIns="0" rIns="0" bIns="0" rtlCol="0"/>
            <a:lstStyle/>
            <a:p/>
          </p:txBody>
        </p:sp>
        <p:sp>
          <p:nvSpPr>
            <p:cNvPr id="66" name="object 66" descr=""/>
            <p:cNvSpPr/>
            <p:nvPr/>
          </p:nvSpPr>
          <p:spPr>
            <a:xfrm>
              <a:off x="1685670" y="1932431"/>
              <a:ext cx="239395" cy="27305"/>
            </a:xfrm>
            <a:custGeom>
              <a:avLst/>
              <a:gdLst/>
              <a:ahLst/>
              <a:cxnLst/>
              <a:rect l="l" t="t" r="r" b="b"/>
              <a:pathLst>
                <a:path w="239394" h="27305">
                  <a:moveTo>
                    <a:pt x="0" y="0"/>
                  </a:moveTo>
                  <a:lnTo>
                    <a:pt x="239128" y="0"/>
                  </a:lnTo>
                  <a:lnTo>
                    <a:pt x="239128" y="26885"/>
                  </a:lnTo>
                  <a:lnTo>
                    <a:pt x="0" y="26885"/>
                  </a:lnTo>
                  <a:lnTo>
                    <a:pt x="0" y="0"/>
                  </a:lnTo>
                  <a:close/>
                </a:path>
              </a:pathLst>
            </a:custGeom>
            <a:ln w="25400">
              <a:solidFill>
                <a:srgbClr val="A7A8A7"/>
              </a:solidFill>
            </a:ln>
          </p:spPr>
          <p:txBody>
            <a:bodyPr wrap="square" lIns="0" tIns="0" rIns="0" bIns="0" rtlCol="0"/>
            <a:lstStyle/>
            <a:p/>
          </p:txBody>
        </p:sp>
        <p:sp>
          <p:nvSpPr>
            <p:cNvPr id="67" name="object 67" descr=""/>
            <p:cNvSpPr/>
            <p:nvPr/>
          </p:nvSpPr>
          <p:spPr>
            <a:xfrm>
              <a:off x="2603978" y="2033892"/>
              <a:ext cx="24765" cy="39370"/>
            </a:xfrm>
            <a:custGeom>
              <a:avLst/>
              <a:gdLst/>
              <a:ahLst/>
              <a:cxnLst/>
              <a:rect l="l" t="t" r="r" b="b"/>
              <a:pathLst>
                <a:path w="24764" h="39369">
                  <a:moveTo>
                    <a:pt x="0" y="39027"/>
                  </a:moveTo>
                  <a:lnTo>
                    <a:pt x="24511" y="0"/>
                  </a:lnTo>
                </a:path>
              </a:pathLst>
            </a:custGeom>
            <a:ln w="9525">
              <a:solidFill>
                <a:srgbClr val="B6DCDF"/>
              </a:solidFill>
              <a:prstDash val="sysDash"/>
            </a:ln>
          </p:spPr>
          <p:txBody>
            <a:bodyPr wrap="square" lIns="0" tIns="0" rIns="0" bIns="0" rtlCol="0"/>
            <a:lstStyle/>
            <a:p/>
          </p:txBody>
        </p:sp>
        <p:sp>
          <p:nvSpPr>
            <p:cNvPr id="68" name="object 68" descr=""/>
            <p:cNvSpPr/>
            <p:nvPr/>
          </p:nvSpPr>
          <p:spPr>
            <a:xfrm>
              <a:off x="1875631" y="1990309"/>
              <a:ext cx="664845" cy="0"/>
            </a:xfrm>
            <a:custGeom>
              <a:avLst/>
              <a:gdLst/>
              <a:ahLst/>
              <a:cxnLst/>
              <a:rect l="l" t="t" r="r" b="b"/>
              <a:pathLst>
                <a:path w="664844" h="0">
                  <a:moveTo>
                    <a:pt x="664832" y="0"/>
                  </a:moveTo>
                  <a:lnTo>
                    <a:pt x="0" y="0"/>
                  </a:lnTo>
                </a:path>
              </a:pathLst>
            </a:custGeom>
            <a:ln w="9525">
              <a:solidFill>
                <a:srgbClr val="B6DCDF"/>
              </a:solidFill>
              <a:prstDash val="sysDash"/>
            </a:ln>
          </p:spPr>
          <p:txBody>
            <a:bodyPr wrap="square" lIns="0" tIns="0" rIns="0" bIns="0" rtlCol="0"/>
            <a:lstStyle/>
            <a:p/>
          </p:txBody>
        </p:sp>
        <p:sp>
          <p:nvSpPr>
            <p:cNvPr id="69" name="object 69" descr=""/>
            <p:cNvSpPr/>
            <p:nvPr/>
          </p:nvSpPr>
          <p:spPr>
            <a:xfrm>
              <a:off x="1805241" y="1959321"/>
              <a:ext cx="70485" cy="31115"/>
            </a:xfrm>
            <a:custGeom>
              <a:avLst/>
              <a:gdLst/>
              <a:ahLst/>
              <a:cxnLst/>
              <a:rect l="l" t="t" r="r" b="b"/>
              <a:pathLst>
                <a:path w="70485" h="31114">
                  <a:moveTo>
                    <a:pt x="70383" y="30987"/>
                  </a:moveTo>
                  <a:lnTo>
                    <a:pt x="0" y="0"/>
                  </a:lnTo>
                </a:path>
              </a:pathLst>
            </a:custGeom>
            <a:ln w="9524">
              <a:solidFill>
                <a:srgbClr val="B6DCDF"/>
              </a:solidFill>
            </a:ln>
          </p:spPr>
          <p:txBody>
            <a:bodyPr wrap="square" lIns="0" tIns="0" rIns="0" bIns="0" rtlCol="0"/>
            <a:lstStyle/>
            <a:p/>
          </p:txBody>
        </p:sp>
        <p:sp>
          <p:nvSpPr>
            <p:cNvPr id="70" name="object 70" descr=""/>
            <p:cNvSpPr/>
            <p:nvPr/>
          </p:nvSpPr>
          <p:spPr>
            <a:xfrm>
              <a:off x="2498623" y="2076780"/>
              <a:ext cx="185420" cy="273050"/>
            </a:xfrm>
            <a:custGeom>
              <a:avLst/>
              <a:gdLst/>
              <a:ahLst/>
              <a:cxnLst/>
              <a:rect l="l" t="t" r="r" b="b"/>
              <a:pathLst>
                <a:path w="185419" h="273050">
                  <a:moveTo>
                    <a:pt x="184835" y="0"/>
                  </a:moveTo>
                  <a:lnTo>
                    <a:pt x="0" y="0"/>
                  </a:lnTo>
                  <a:lnTo>
                    <a:pt x="0" y="272707"/>
                  </a:lnTo>
                  <a:lnTo>
                    <a:pt x="184835" y="272707"/>
                  </a:lnTo>
                  <a:lnTo>
                    <a:pt x="184835" y="0"/>
                  </a:lnTo>
                  <a:close/>
                </a:path>
              </a:pathLst>
            </a:custGeom>
            <a:solidFill>
              <a:srgbClr val="606060"/>
            </a:solidFill>
          </p:spPr>
          <p:txBody>
            <a:bodyPr wrap="square" lIns="0" tIns="0" rIns="0" bIns="0" rtlCol="0"/>
            <a:lstStyle/>
            <a:p/>
          </p:txBody>
        </p:sp>
      </p:grpSp>
      <p:sp>
        <p:nvSpPr>
          <p:cNvPr id="71" name="object 71" descr=""/>
          <p:cNvSpPr txBox="1"/>
          <p:nvPr/>
        </p:nvSpPr>
        <p:spPr>
          <a:xfrm>
            <a:off x="1266363" y="2103254"/>
            <a:ext cx="217804" cy="239395"/>
          </a:xfrm>
          <a:prstGeom prst="rect">
            <a:avLst/>
          </a:prstGeom>
        </p:spPr>
        <p:txBody>
          <a:bodyPr wrap="square" lIns="0" tIns="12700" rIns="0" bIns="0" rtlCol="0" vert="horz">
            <a:spAutoFit/>
          </a:bodyPr>
          <a:lstStyle/>
          <a:p>
            <a:pPr marL="12700" marR="5080">
              <a:lnSpc>
                <a:spcPct val="100000"/>
              </a:lnSpc>
              <a:spcBef>
                <a:spcPts val="100"/>
              </a:spcBef>
            </a:pPr>
            <a:r>
              <a:rPr dirty="0" sz="700" spc="-25">
                <a:latin typeface="Arial MT"/>
                <a:cs typeface="Arial MT"/>
              </a:rPr>
              <a:t>5G</a:t>
            </a:r>
            <a:r>
              <a:rPr dirty="0" sz="700" spc="500">
                <a:latin typeface="Arial MT"/>
                <a:cs typeface="Arial MT"/>
              </a:rPr>
              <a:t> </a:t>
            </a:r>
            <a:r>
              <a:rPr dirty="0" sz="700" spc="-25">
                <a:latin typeface="Arial MT"/>
                <a:cs typeface="Arial MT"/>
              </a:rPr>
              <a:t>RRU</a:t>
            </a:r>
            <a:endParaRPr sz="700">
              <a:latin typeface="Arial MT"/>
              <a:cs typeface="Arial MT"/>
            </a:endParaRPr>
          </a:p>
        </p:txBody>
      </p:sp>
      <p:sp>
        <p:nvSpPr>
          <p:cNvPr id="72" name="object 72" descr=""/>
          <p:cNvSpPr txBox="1"/>
          <p:nvPr/>
        </p:nvSpPr>
        <p:spPr>
          <a:xfrm>
            <a:off x="2125783" y="2082267"/>
            <a:ext cx="217804" cy="239395"/>
          </a:xfrm>
          <a:prstGeom prst="rect">
            <a:avLst/>
          </a:prstGeom>
        </p:spPr>
        <p:txBody>
          <a:bodyPr wrap="square" lIns="0" tIns="12700" rIns="0" bIns="0" rtlCol="0" vert="horz">
            <a:spAutoFit/>
          </a:bodyPr>
          <a:lstStyle/>
          <a:p>
            <a:pPr marL="12700" marR="5080">
              <a:lnSpc>
                <a:spcPct val="100000"/>
              </a:lnSpc>
              <a:spcBef>
                <a:spcPts val="100"/>
              </a:spcBef>
            </a:pPr>
            <a:r>
              <a:rPr dirty="0" sz="700" spc="-25">
                <a:latin typeface="Arial MT"/>
                <a:cs typeface="Arial MT"/>
              </a:rPr>
              <a:t>4G</a:t>
            </a:r>
            <a:r>
              <a:rPr dirty="0" sz="700" spc="500">
                <a:latin typeface="Arial MT"/>
                <a:cs typeface="Arial MT"/>
              </a:rPr>
              <a:t> </a:t>
            </a:r>
            <a:r>
              <a:rPr dirty="0" sz="700" spc="-25">
                <a:latin typeface="Arial MT"/>
                <a:cs typeface="Arial MT"/>
              </a:rPr>
              <a:t>RRU</a:t>
            </a:r>
            <a:endParaRPr sz="700">
              <a:latin typeface="Arial MT"/>
              <a:cs typeface="Arial MT"/>
            </a:endParaRPr>
          </a:p>
        </p:txBody>
      </p:sp>
      <p:sp>
        <p:nvSpPr>
          <p:cNvPr id="73" name="object 73" descr=""/>
          <p:cNvSpPr/>
          <p:nvPr/>
        </p:nvSpPr>
        <p:spPr>
          <a:xfrm>
            <a:off x="5364086" y="4657966"/>
            <a:ext cx="3456940" cy="350520"/>
          </a:xfrm>
          <a:custGeom>
            <a:avLst/>
            <a:gdLst/>
            <a:ahLst/>
            <a:cxnLst/>
            <a:rect l="l" t="t" r="r" b="b"/>
            <a:pathLst>
              <a:path w="3456940" h="350520">
                <a:moveTo>
                  <a:pt x="3456381" y="0"/>
                </a:moveTo>
                <a:lnTo>
                  <a:pt x="2154631" y="0"/>
                </a:lnTo>
                <a:lnTo>
                  <a:pt x="900607" y="0"/>
                </a:lnTo>
                <a:lnTo>
                  <a:pt x="0" y="0"/>
                </a:lnTo>
                <a:lnTo>
                  <a:pt x="0" y="350215"/>
                </a:lnTo>
                <a:lnTo>
                  <a:pt x="900607" y="350215"/>
                </a:lnTo>
                <a:lnTo>
                  <a:pt x="2154631" y="350215"/>
                </a:lnTo>
                <a:lnTo>
                  <a:pt x="3456381" y="350215"/>
                </a:lnTo>
                <a:lnTo>
                  <a:pt x="3456381" y="0"/>
                </a:lnTo>
                <a:close/>
              </a:path>
            </a:pathLst>
          </a:custGeom>
          <a:solidFill>
            <a:srgbClr val="FFFFFF"/>
          </a:solidFill>
        </p:spPr>
        <p:txBody>
          <a:bodyPr wrap="square" lIns="0" tIns="0" rIns="0" bIns="0" rtlCol="0"/>
          <a:lstStyle/>
          <a:p/>
        </p:txBody>
      </p:sp>
      <p:graphicFrame>
        <p:nvGraphicFramePr>
          <p:cNvPr id="74" name="object 74" descr=""/>
          <p:cNvGraphicFramePr>
            <a:graphicFrameLocks noGrp="1"/>
          </p:cNvGraphicFramePr>
          <p:nvPr/>
        </p:nvGraphicFramePr>
        <p:xfrm>
          <a:off x="5357737" y="1917327"/>
          <a:ext cx="3545840" cy="3082290"/>
        </p:xfrm>
        <a:graphic>
          <a:graphicData uri="http://schemas.openxmlformats.org/drawingml/2006/table">
            <a:tbl>
              <a:tblPr firstRow="1" bandRow="1">
                <a:tableStyleId>{2D5ABB26-0587-4C30-8999-92F81FD0307C}</a:tableStyleId>
              </a:tblPr>
              <a:tblGrid>
                <a:gridCol w="900430"/>
                <a:gridCol w="1254125"/>
                <a:gridCol w="1301749"/>
              </a:tblGrid>
              <a:tr h="205740">
                <a:tc>
                  <a:txBody>
                    <a:bodyPr/>
                    <a:lstStyle/>
                    <a:p>
                      <a:pPr>
                        <a:lnSpc>
                          <a:spcPct val="100000"/>
                        </a:lnSpc>
                      </a:pPr>
                      <a:endParaRPr sz="11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AEDEF"/>
                    </a:solidFill>
                  </a:tcPr>
                </a:tc>
                <a:tc>
                  <a:txBody>
                    <a:bodyPr/>
                    <a:lstStyle/>
                    <a:p>
                      <a:pPr algn="ctr">
                        <a:lnSpc>
                          <a:spcPct val="100000"/>
                        </a:lnSpc>
                        <a:spcBef>
                          <a:spcPts val="315"/>
                        </a:spcBef>
                      </a:pPr>
                      <a:r>
                        <a:rPr dirty="0" sz="900" b="1">
                          <a:solidFill>
                            <a:srgbClr val="FFFFFF"/>
                          </a:solidFill>
                          <a:latin typeface="Microsoft YaHei"/>
                          <a:cs typeface="Microsoft YaHei"/>
                        </a:rPr>
                        <a:t>CAT6A</a:t>
                      </a:r>
                      <a:r>
                        <a:rPr dirty="0" sz="900" spc="-25" b="1">
                          <a:solidFill>
                            <a:srgbClr val="FFFFFF"/>
                          </a:solidFill>
                          <a:latin typeface="Microsoft YaHei"/>
                          <a:cs typeface="Microsoft YaHei"/>
                        </a:rPr>
                        <a:t>网线</a:t>
                      </a:r>
                      <a:endParaRPr sz="900">
                        <a:latin typeface="Microsoft YaHei"/>
                        <a:cs typeface="Microsoft YaHei"/>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AEDEF"/>
                    </a:solidFill>
                  </a:tcPr>
                </a:tc>
                <a:tc>
                  <a:txBody>
                    <a:bodyPr/>
                    <a:lstStyle/>
                    <a:p>
                      <a:pPr algn="ctr">
                        <a:lnSpc>
                          <a:spcPct val="100000"/>
                        </a:lnSpc>
                        <a:spcBef>
                          <a:spcPts val="315"/>
                        </a:spcBef>
                      </a:pPr>
                      <a:r>
                        <a:rPr dirty="0" sz="900" spc="-10" b="1">
                          <a:solidFill>
                            <a:srgbClr val="FFFFFF"/>
                          </a:solidFill>
                          <a:latin typeface="Microsoft YaHei"/>
                          <a:cs typeface="Microsoft YaHei"/>
                        </a:rPr>
                        <a:t>光电混合缆</a:t>
                      </a:r>
                      <a:endParaRPr sz="900">
                        <a:latin typeface="Microsoft YaHei"/>
                        <a:cs typeface="Microsoft YaHei"/>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AEDEF"/>
                    </a:solidFill>
                  </a:tcPr>
                </a:tc>
              </a:tr>
              <a:tr h="349885">
                <a:tc>
                  <a:txBody>
                    <a:bodyPr/>
                    <a:lstStyle/>
                    <a:p>
                      <a:pPr algn="ctr">
                        <a:lnSpc>
                          <a:spcPct val="100000"/>
                        </a:lnSpc>
                        <a:spcBef>
                          <a:spcPts val="885"/>
                        </a:spcBef>
                      </a:pPr>
                      <a:r>
                        <a:rPr dirty="0" sz="900" spc="-15">
                          <a:latin typeface="Microsoft YaHei"/>
                          <a:cs typeface="Microsoft YaHei"/>
                        </a:rPr>
                        <a:t>拉远距离</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85"/>
                        </a:spcBef>
                      </a:pPr>
                      <a:r>
                        <a:rPr dirty="0" sz="900">
                          <a:latin typeface="Microsoft YaHei"/>
                          <a:cs typeface="Microsoft YaHei"/>
                        </a:rPr>
                        <a:t>小于100</a:t>
                      </a:r>
                      <a:r>
                        <a:rPr dirty="0" sz="900" spc="-50">
                          <a:latin typeface="Microsoft YaHei"/>
                          <a:cs typeface="Microsoft YaHei"/>
                        </a:rPr>
                        <a:t>米</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85"/>
                        </a:spcBef>
                      </a:pPr>
                      <a:r>
                        <a:rPr dirty="0" sz="900">
                          <a:latin typeface="Microsoft YaHei"/>
                          <a:cs typeface="Microsoft YaHei"/>
                        </a:rPr>
                        <a:t>200-</a:t>
                      </a:r>
                      <a:r>
                        <a:rPr dirty="0" sz="900" spc="-10">
                          <a:latin typeface="Microsoft YaHei"/>
                          <a:cs typeface="Microsoft YaHei"/>
                        </a:rPr>
                        <a:t>1000</a:t>
                      </a:r>
                      <a:r>
                        <a:rPr dirty="0" sz="900" spc="-50">
                          <a:latin typeface="Microsoft YaHei"/>
                          <a:cs typeface="Microsoft YaHei"/>
                        </a:rPr>
                        <a:t>米</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49885">
                <a:tc>
                  <a:txBody>
                    <a:bodyPr/>
                    <a:lstStyle/>
                    <a:p>
                      <a:pPr algn="ctr">
                        <a:lnSpc>
                          <a:spcPct val="100000"/>
                        </a:lnSpc>
                        <a:spcBef>
                          <a:spcPts val="885"/>
                        </a:spcBef>
                      </a:pPr>
                      <a:r>
                        <a:rPr dirty="0" sz="900" spc="-15">
                          <a:latin typeface="Microsoft YaHei"/>
                          <a:cs typeface="Microsoft YaHei"/>
                        </a:rPr>
                        <a:t>供电功率</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85"/>
                        </a:spcBef>
                      </a:pPr>
                      <a:r>
                        <a:rPr dirty="0" sz="900">
                          <a:latin typeface="Microsoft YaHei"/>
                          <a:cs typeface="Microsoft YaHei"/>
                        </a:rPr>
                        <a:t>小于</a:t>
                      </a:r>
                      <a:r>
                        <a:rPr dirty="0" sz="900" spc="-25">
                          <a:latin typeface="Microsoft YaHei"/>
                          <a:cs typeface="Microsoft YaHei"/>
                        </a:rPr>
                        <a:t>90W</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85"/>
                        </a:spcBef>
                      </a:pPr>
                      <a:r>
                        <a:rPr dirty="0" sz="900" spc="-10">
                          <a:latin typeface="Microsoft YaHei"/>
                          <a:cs typeface="Microsoft YaHei"/>
                        </a:rPr>
                        <a:t>仅受限于电缆压降</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25145">
                <a:tc>
                  <a:txBody>
                    <a:bodyPr/>
                    <a:lstStyle/>
                    <a:p>
                      <a:pPr>
                        <a:lnSpc>
                          <a:spcPct val="100000"/>
                        </a:lnSpc>
                        <a:spcBef>
                          <a:spcPts val="540"/>
                        </a:spcBef>
                      </a:pPr>
                      <a:endParaRPr sz="900">
                        <a:latin typeface="Times New Roman"/>
                        <a:cs typeface="Times New Roman"/>
                      </a:endParaRPr>
                    </a:p>
                    <a:p>
                      <a:pPr algn="ctr">
                        <a:lnSpc>
                          <a:spcPct val="100000"/>
                        </a:lnSpc>
                      </a:pPr>
                      <a:r>
                        <a:rPr dirty="0" sz="900" spc="-10">
                          <a:latin typeface="Microsoft YaHei"/>
                          <a:cs typeface="Microsoft YaHei"/>
                        </a:rPr>
                        <a:t>空口发射功率</a:t>
                      </a:r>
                      <a:endParaRPr sz="900">
                        <a:latin typeface="Microsoft YaHei"/>
                        <a:cs typeface="Microsoft YaHei"/>
                      </a:endParaR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40"/>
                        </a:spcBef>
                      </a:pPr>
                      <a:endParaRPr sz="900">
                        <a:latin typeface="Times New Roman"/>
                        <a:cs typeface="Times New Roman"/>
                      </a:endParaRPr>
                    </a:p>
                    <a:p>
                      <a:pPr algn="ctr">
                        <a:lnSpc>
                          <a:spcPct val="100000"/>
                        </a:lnSpc>
                      </a:pPr>
                      <a:r>
                        <a:rPr dirty="0" sz="900">
                          <a:latin typeface="Microsoft YaHei"/>
                          <a:cs typeface="Microsoft YaHei"/>
                        </a:rPr>
                        <a:t>小于</a:t>
                      </a:r>
                      <a:r>
                        <a:rPr dirty="0" sz="900" spc="-10">
                          <a:latin typeface="Microsoft YaHei"/>
                          <a:cs typeface="Microsoft YaHei"/>
                        </a:rPr>
                        <a:t>250mW</a:t>
                      </a:r>
                      <a:r>
                        <a:rPr dirty="0" sz="900" spc="-20">
                          <a:latin typeface="Microsoft YaHei"/>
                          <a:cs typeface="Microsoft YaHei"/>
                        </a:rPr>
                        <a:t>/通道</a:t>
                      </a:r>
                      <a:endParaRPr sz="900">
                        <a:latin typeface="Microsoft YaHei"/>
                        <a:cs typeface="Microsoft YaHei"/>
                      </a:endParaR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40"/>
                        </a:spcBef>
                      </a:pPr>
                      <a:endParaRPr sz="900">
                        <a:latin typeface="Times New Roman"/>
                        <a:cs typeface="Times New Roman"/>
                      </a:endParaRPr>
                    </a:p>
                    <a:p>
                      <a:pPr algn="ctr">
                        <a:lnSpc>
                          <a:spcPct val="100000"/>
                        </a:lnSpc>
                      </a:pPr>
                      <a:r>
                        <a:rPr dirty="0" sz="900">
                          <a:latin typeface="Microsoft YaHei"/>
                          <a:cs typeface="Microsoft YaHei"/>
                        </a:rPr>
                        <a:t>可以达到</a:t>
                      </a:r>
                      <a:r>
                        <a:rPr dirty="0" sz="900" spc="-10">
                          <a:latin typeface="Microsoft YaHei"/>
                          <a:cs typeface="Microsoft YaHei"/>
                        </a:rPr>
                        <a:t>1W</a:t>
                      </a:r>
                      <a:r>
                        <a:rPr dirty="0" sz="900" spc="-20">
                          <a:latin typeface="Microsoft YaHei"/>
                          <a:cs typeface="Microsoft YaHei"/>
                        </a:rPr>
                        <a:t>/通道</a:t>
                      </a:r>
                      <a:endParaRPr sz="900">
                        <a:latin typeface="Microsoft YaHei"/>
                        <a:cs typeface="Microsoft YaHei"/>
                      </a:endParaR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96240">
                <a:tc>
                  <a:txBody>
                    <a:bodyPr/>
                    <a:lstStyle/>
                    <a:p>
                      <a:pPr>
                        <a:lnSpc>
                          <a:spcPct val="100000"/>
                        </a:lnSpc>
                        <a:spcBef>
                          <a:spcPts val="30"/>
                        </a:spcBef>
                      </a:pPr>
                      <a:endParaRPr sz="900">
                        <a:latin typeface="Times New Roman"/>
                        <a:cs typeface="Times New Roman"/>
                      </a:endParaRPr>
                    </a:p>
                    <a:p>
                      <a:pPr algn="ctr">
                        <a:lnSpc>
                          <a:spcPct val="100000"/>
                        </a:lnSpc>
                        <a:spcBef>
                          <a:spcPts val="5"/>
                        </a:spcBef>
                      </a:pPr>
                      <a:r>
                        <a:rPr dirty="0" sz="900" spc="-10">
                          <a:latin typeface="Microsoft YaHei"/>
                          <a:cs typeface="Microsoft YaHei"/>
                        </a:rPr>
                        <a:t>工程实施难度</a:t>
                      </a:r>
                      <a:endParaRPr sz="900">
                        <a:latin typeface="Microsoft YaHei"/>
                        <a:cs typeface="Microsoft YaHei"/>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900">
                        <a:latin typeface="Times New Roman"/>
                        <a:cs typeface="Times New Roman"/>
                      </a:endParaRPr>
                    </a:p>
                    <a:p>
                      <a:pPr algn="ctr">
                        <a:lnSpc>
                          <a:spcPct val="100000"/>
                        </a:lnSpc>
                        <a:spcBef>
                          <a:spcPts val="5"/>
                        </a:spcBef>
                      </a:pPr>
                      <a:r>
                        <a:rPr dirty="0" sz="900" spc="-10">
                          <a:latin typeface="Microsoft YaHei"/>
                          <a:cs typeface="Microsoft YaHei"/>
                        </a:rPr>
                        <a:t>对人员要求较高</a:t>
                      </a:r>
                      <a:endParaRPr sz="900">
                        <a:latin typeface="Microsoft YaHei"/>
                        <a:cs typeface="Microsoft YaHei"/>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900">
                        <a:latin typeface="Times New Roman"/>
                        <a:cs typeface="Times New Roman"/>
                      </a:endParaRPr>
                    </a:p>
                    <a:p>
                      <a:pPr algn="ctr">
                        <a:lnSpc>
                          <a:spcPct val="100000"/>
                        </a:lnSpc>
                        <a:spcBef>
                          <a:spcPts val="5"/>
                        </a:spcBef>
                      </a:pPr>
                      <a:r>
                        <a:rPr dirty="0" sz="900" spc="-10">
                          <a:latin typeface="Microsoft YaHei"/>
                          <a:cs typeface="Microsoft YaHei"/>
                        </a:rPr>
                        <a:t>需要专业工具</a:t>
                      </a:r>
                      <a:endParaRPr sz="900">
                        <a:latin typeface="Microsoft YaHei"/>
                        <a:cs typeface="Microsoft YaHei"/>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05740">
                <a:tc>
                  <a:txBody>
                    <a:bodyPr/>
                    <a:lstStyle/>
                    <a:p>
                      <a:pPr algn="ctr">
                        <a:lnSpc>
                          <a:spcPct val="100000"/>
                        </a:lnSpc>
                        <a:spcBef>
                          <a:spcPts val="315"/>
                        </a:spcBef>
                      </a:pPr>
                      <a:r>
                        <a:rPr dirty="0" sz="900" spc="-25">
                          <a:latin typeface="Microsoft YaHei"/>
                          <a:cs typeface="Microsoft YaHei"/>
                        </a:rPr>
                        <a:t>成本</a:t>
                      </a:r>
                      <a:endParaRPr sz="900">
                        <a:latin typeface="Microsoft YaHei"/>
                        <a:cs typeface="Microsoft YaHei"/>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900">
                          <a:latin typeface="Microsoft YaHei"/>
                          <a:cs typeface="Microsoft YaHei"/>
                        </a:rPr>
                        <a:t>3-5</a:t>
                      </a:r>
                      <a:r>
                        <a:rPr dirty="0" sz="900" spc="-20">
                          <a:latin typeface="Microsoft YaHei"/>
                          <a:cs typeface="Microsoft YaHei"/>
                        </a:rPr>
                        <a:t>元/米</a:t>
                      </a:r>
                      <a:endParaRPr sz="900">
                        <a:latin typeface="Microsoft YaHei"/>
                        <a:cs typeface="Microsoft YaHei"/>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900">
                          <a:latin typeface="Microsoft YaHei"/>
                          <a:cs typeface="Microsoft YaHei"/>
                        </a:rPr>
                        <a:t>5-10</a:t>
                      </a:r>
                      <a:r>
                        <a:rPr dirty="0" sz="900" spc="-20">
                          <a:latin typeface="Microsoft YaHei"/>
                          <a:cs typeface="Microsoft YaHei"/>
                        </a:rPr>
                        <a:t>元/米</a:t>
                      </a:r>
                      <a:endParaRPr sz="900">
                        <a:latin typeface="Microsoft YaHei"/>
                        <a:cs typeface="Microsoft YaHei"/>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49885">
                <a:tc>
                  <a:txBody>
                    <a:bodyPr/>
                    <a:lstStyle/>
                    <a:p>
                      <a:pPr algn="ctr" marL="635">
                        <a:lnSpc>
                          <a:spcPct val="100000"/>
                        </a:lnSpc>
                        <a:spcBef>
                          <a:spcPts val="885"/>
                        </a:spcBef>
                      </a:pPr>
                      <a:r>
                        <a:rPr dirty="0" sz="900" spc="-15">
                          <a:latin typeface="Microsoft YaHei"/>
                          <a:cs typeface="Microsoft YaHei"/>
                        </a:rPr>
                        <a:t>传输速率</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85"/>
                        </a:spcBef>
                      </a:pPr>
                      <a:r>
                        <a:rPr dirty="0" sz="900">
                          <a:latin typeface="Microsoft YaHei"/>
                          <a:cs typeface="Microsoft YaHei"/>
                        </a:rPr>
                        <a:t>最高</a:t>
                      </a:r>
                      <a:r>
                        <a:rPr dirty="0" sz="900" spc="-25">
                          <a:latin typeface="Microsoft YaHei"/>
                          <a:cs typeface="Microsoft YaHei"/>
                        </a:rPr>
                        <a:t>10G</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85"/>
                        </a:spcBef>
                      </a:pPr>
                      <a:r>
                        <a:rPr dirty="0" sz="900" spc="-10">
                          <a:latin typeface="Microsoft YaHei"/>
                          <a:cs typeface="Microsoft YaHei"/>
                        </a:rPr>
                        <a:t>10G/25G/50G/100G</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49885">
                <a:tc>
                  <a:txBody>
                    <a:bodyPr/>
                    <a:lstStyle/>
                    <a:p>
                      <a:pPr algn="ctr" marL="635">
                        <a:lnSpc>
                          <a:spcPct val="100000"/>
                        </a:lnSpc>
                        <a:spcBef>
                          <a:spcPts val="885"/>
                        </a:spcBef>
                      </a:pPr>
                      <a:r>
                        <a:rPr dirty="0" sz="900" spc="-15">
                          <a:latin typeface="Microsoft YaHei"/>
                          <a:cs typeface="Microsoft YaHei"/>
                        </a:rPr>
                        <a:t>可采购性</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85"/>
                        </a:spcBef>
                      </a:pPr>
                      <a:r>
                        <a:rPr dirty="0" sz="900" spc="-10">
                          <a:latin typeface="Microsoft YaHei"/>
                          <a:cs typeface="Microsoft YaHei"/>
                        </a:rPr>
                        <a:t>产业链成熟</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85"/>
                        </a:spcBef>
                      </a:pPr>
                      <a:r>
                        <a:rPr dirty="0" sz="900" spc="-10">
                          <a:latin typeface="Microsoft YaHei"/>
                          <a:cs typeface="Microsoft YaHei"/>
                        </a:rPr>
                        <a:t>产业链逐渐成熟</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49885">
                <a:tc>
                  <a:txBody>
                    <a:bodyPr/>
                    <a:lstStyle/>
                    <a:p>
                      <a:pPr algn="ctr" marL="635">
                        <a:lnSpc>
                          <a:spcPct val="100000"/>
                        </a:lnSpc>
                        <a:spcBef>
                          <a:spcPts val="885"/>
                        </a:spcBef>
                      </a:pPr>
                      <a:r>
                        <a:rPr dirty="0" sz="900" spc="-10">
                          <a:latin typeface="Microsoft YaHei"/>
                          <a:cs typeface="Microsoft YaHei"/>
                        </a:rPr>
                        <a:t>技术演进性</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gn="ctr">
                        <a:lnSpc>
                          <a:spcPct val="100000"/>
                        </a:lnSpc>
                        <a:spcBef>
                          <a:spcPts val="885"/>
                        </a:spcBef>
                      </a:pPr>
                      <a:r>
                        <a:rPr dirty="0" sz="900" spc="-50">
                          <a:latin typeface="Microsoft YaHei"/>
                          <a:cs typeface="Microsoft YaHei"/>
                        </a:rPr>
                        <a:t>弱</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gn="ctr">
                        <a:lnSpc>
                          <a:spcPct val="100000"/>
                        </a:lnSpc>
                        <a:spcBef>
                          <a:spcPts val="885"/>
                        </a:spcBef>
                      </a:pPr>
                      <a:r>
                        <a:rPr dirty="0" sz="900" spc="-50">
                          <a:latin typeface="Microsoft YaHei"/>
                          <a:cs typeface="Microsoft YaHei"/>
                        </a:rPr>
                        <a:t>强</a:t>
                      </a:r>
                      <a:endParaRPr sz="900">
                        <a:latin typeface="Microsoft YaHei"/>
                        <a:cs typeface="Microsoft YaHei"/>
                      </a:endParaRPr>
                    </a:p>
                  </a:txBody>
                  <a:tcPr marL="0" marR="0" marB="0" marT="1123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r>
            </a:tbl>
          </a:graphicData>
        </a:graphic>
      </p:graphicFrame>
      <p:sp>
        <p:nvSpPr>
          <p:cNvPr id="75" name="object 75" descr=""/>
          <p:cNvSpPr txBox="1"/>
          <p:nvPr/>
        </p:nvSpPr>
        <p:spPr>
          <a:xfrm>
            <a:off x="5083574" y="814069"/>
            <a:ext cx="3281045" cy="574040"/>
          </a:xfrm>
          <a:prstGeom prst="rect">
            <a:avLst/>
          </a:prstGeom>
        </p:spPr>
        <p:txBody>
          <a:bodyPr wrap="square" lIns="0" tIns="12700" rIns="0" bIns="0" rtlCol="0" vert="horz">
            <a:spAutoFit/>
          </a:bodyPr>
          <a:lstStyle/>
          <a:p>
            <a:pPr marL="12700" marR="5080">
              <a:lnSpc>
                <a:spcPct val="150000"/>
              </a:lnSpc>
              <a:spcBef>
                <a:spcPts val="100"/>
              </a:spcBef>
            </a:pPr>
            <a:r>
              <a:rPr dirty="0" sz="1200" spc="-10" b="1">
                <a:solidFill>
                  <a:srgbClr val="C00000"/>
                </a:solidFill>
                <a:latin typeface="Arial"/>
                <a:cs typeface="Arial"/>
              </a:rPr>
              <a:t>5G</a:t>
            </a:r>
            <a:r>
              <a:rPr dirty="0" sz="1200" spc="-5" b="1">
                <a:solidFill>
                  <a:srgbClr val="C00000"/>
                </a:solidFill>
                <a:latin typeface="Microsoft YaHei"/>
                <a:cs typeface="Microsoft YaHei"/>
              </a:rPr>
              <a:t>数字化室分解决室内覆盖难题，需考虑预埋</a:t>
            </a:r>
            <a:r>
              <a:rPr dirty="0" sz="1200" spc="-50" b="1">
                <a:solidFill>
                  <a:srgbClr val="C00000"/>
                </a:solidFill>
                <a:latin typeface="Microsoft YaHei"/>
                <a:cs typeface="Microsoft YaHei"/>
              </a:rPr>
              <a:t> </a:t>
            </a:r>
            <a:r>
              <a:rPr dirty="0" sz="1200" spc="-30" b="1">
                <a:solidFill>
                  <a:srgbClr val="C00000"/>
                </a:solidFill>
                <a:latin typeface="Arial"/>
                <a:cs typeface="Arial"/>
              </a:rPr>
              <a:t>CAT6A</a:t>
            </a:r>
            <a:r>
              <a:rPr dirty="0" sz="1200" b="1">
                <a:solidFill>
                  <a:srgbClr val="C00000"/>
                </a:solidFill>
                <a:latin typeface="Microsoft YaHei"/>
                <a:cs typeface="Microsoft YaHei"/>
              </a:rPr>
              <a:t>网线，并关注光电混合缆形态的</a:t>
            </a:r>
            <a:r>
              <a:rPr dirty="0" sz="1200" spc="-10" b="1">
                <a:solidFill>
                  <a:srgbClr val="C00000"/>
                </a:solidFill>
                <a:latin typeface="Arial"/>
                <a:cs typeface="Arial"/>
              </a:rPr>
              <a:t>Pico</a:t>
            </a:r>
            <a:r>
              <a:rPr dirty="0" sz="1200" spc="-25" b="1">
                <a:solidFill>
                  <a:srgbClr val="C00000"/>
                </a:solidFill>
                <a:latin typeface="Microsoft YaHei"/>
                <a:cs typeface="Microsoft YaHei"/>
              </a:rPr>
              <a:t>产品</a:t>
            </a:r>
            <a:endParaRPr sz="1200">
              <a:latin typeface="Microsoft YaHei"/>
              <a:cs typeface="Microsoft YaHei"/>
            </a:endParaRPr>
          </a:p>
        </p:txBody>
      </p:sp>
      <p:grpSp>
        <p:nvGrpSpPr>
          <p:cNvPr id="76" name="object 76" descr=""/>
          <p:cNvGrpSpPr/>
          <p:nvPr/>
        </p:nvGrpSpPr>
        <p:grpSpPr>
          <a:xfrm>
            <a:off x="5076850" y="1357414"/>
            <a:ext cx="3806825" cy="715010"/>
            <a:chOff x="5076850" y="1357414"/>
            <a:chExt cx="3806825" cy="715010"/>
          </a:xfrm>
        </p:grpSpPr>
        <p:sp>
          <p:nvSpPr>
            <p:cNvPr id="77" name="object 77" descr=""/>
            <p:cNvSpPr/>
            <p:nvPr/>
          </p:nvSpPr>
          <p:spPr>
            <a:xfrm>
              <a:off x="5990393" y="1510815"/>
              <a:ext cx="814705" cy="183515"/>
            </a:xfrm>
            <a:custGeom>
              <a:avLst/>
              <a:gdLst/>
              <a:ahLst/>
              <a:cxnLst/>
              <a:rect l="l" t="t" r="r" b="b"/>
              <a:pathLst>
                <a:path w="814704" h="183514">
                  <a:moveTo>
                    <a:pt x="814641" y="95683"/>
                  </a:moveTo>
                  <a:lnTo>
                    <a:pt x="783277" y="133267"/>
                  </a:lnTo>
                  <a:lnTo>
                    <a:pt x="749469" y="164562"/>
                  </a:lnTo>
                  <a:lnTo>
                    <a:pt x="710773" y="183283"/>
                  </a:lnTo>
                  <a:lnTo>
                    <a:pt x="664743" y="183148"/>
                  </a:lnTo>
                  <a:lnTo>
                    <a:pt x="635276" y="169006"/>
                  </a:lnTo>
                  <a:lnTo>
                    <a:pt x="604289" y="143065"/>
                  </a:lnTo>
                  <a:lnTo>
                    <a:pt x="571324" y="110068"/>
                  </a:lnTo>
                  <a:lnTo>
                    <a:pt x="535926" y="74760"/>
                  </a:lnTo>
                  <a:lnTo>
                    <a:pt x="497640" y="41881"/>
                  </a:lnTo>
                  <a:lnTo>
                    <a:pt x="456009" y="16177"/>
                  </a:lnTo>
                  <a:lnTo>
                    <a:pt x="410578" y="2389"/>
                  </a:lnTo>
                  <a:lnTo>
                    <a:pt x="367274" y="0"/>
                  </a:lnTo>
                  <a:lnTo>
                    <a:pt x="320763" y="3231"/>
                  </a:lnTo>
                  <a:lnTo>
                    <a:pt x="271503" y="11279"/>
                  </a:lnTo>
                  <a:lnTo>
                    <a:pt x="219952" y="23342"/>
                  </a:lnTo>
                  <a:lnTo>
                    <a:pt x="166569" y="38617"/>
                  </a:lnTo>
                  <a:lnTo>
                    <a:pt x="111810" y="56301"/>
                  </a:lnTo>
                  <a:lnTo>
                    <a:pt x="56134" y="75591"/>
                  </a:lnTo>
                  <a:lnTo>
                    <a:pt x="0" y="95683"/>
                  </a:lnTo>
                </a:path>
              </a:pathLst>
            </a:custGeom>
            <a:ln w="25400">
              <a:solidFill>
                <a:srgbClr val="FFC000"/>
              </a:solidFill>
            </a:ln>
          </p:spPr>
          <p:txBody>
            <a:bodyPr wrap="square" lIns="0" tIns="0" rIns="0" bIns="0" rtlCol="0"/>
            <a:lstStyle/>
            <a:p/>
          </p:txBody>
        </p:sp>
        <p:sp>
          <p:nvSpPr>
            <p:cNvPr id="78" name="object 78" descr=""/>
            <p:cNvSpPr/>
            <p:nvPr/>
          </p:nvSpPr>
          <p:spPr>
            <a:xfrm>
              <a:off x="7597127" y="1546569"/>
              <a:ext cx="648335" cy="93980"/>
            </a:xfrm>
            <a:custGeom>
              <a:avLst/>
              <a:gdLst/>
              <a:ahLst/>
              <a:cxnLst/>
              <a:rect l="l" t="t" r="r" b="b"/>
              <a:pathLst>
                <a:path w="648334" h="93980">
                  <a:moveTo>
                    <a:pt x="648068" y="59499"/>
                  </a:moveTo>
                  <a:lnTo>
                    <a:pt x="591600" y="35700"/>
                  </a:lnTo>
                  <a:lnTo>
                    <a:pt x="537867" y="15471"/>
                  </a:lnTo>
                  <a:lnTo>
                    <a:pt x="489605" y="2381"/>
                  </a:lnTo>
                  <a:lnTo>
                    <a:pt x="449554" y="0"/>
                  </a:lnTo>
                  <a:lnTo>
                    <a:pt x="423719" y="15342"/>
                  </a:lnTo>
                  <a:lnTo>
                    <a:pt x="408871" y="44476"/>
                  </a:lnTo>
                  <a:lnTo>
                    <a:pt x="393931" y="74575"/>
                  </a:lnTo>
                  <a:lnTo>
                    <a:pt x="367817" y="92811"/>
                  </a:lnTo>
                  <a:lnTo>
                    <a:pt x="325056" y="93542"/>
                  </a:lnTo>
                  <a:lnTo>
                    <a:pt x="272397" y="84342"/>
                  </a:lnTo>
                  <a:lnTo>
                    <a:pt x="217093" y="72239"/>
                  </a:lnTo>
                  <a:lnTo>
                    <a:pt x="166395" y="64262"/>
                  </a:lnTo>
                  <a:lnTo>
                    <a:pt x="121922" y="61917"/>
                  </a:lnTo>
                  <a:lnTo>
                    <a:pt x="79911" y="61580"/>
                  </a:lnTo>
                  <a:lnTo>
                    <a:pt x="39543" y="62585"/>
                  </a:lnTo>
                  <a:lnTo>
                    <a:pt x="0" y="64262"/>
                  </a:lnTo>
                </a:path>
              </a:pathLst>
            </a:custGeom>
            <a:ln w="25400">
              <a:solidFill>
                <a:srgbClr val="808080"/>
              </a:solidFill>
            </a:ln>
          </p:spPr>
          <p:txBody>
            <a:bodyPr wrap="square" lIns="0" tIns="0" rIns="0" bIns="0" rtlCol="0"/>
            <a:lstStyle/>
            <a:p/>
          </p:txBody>
        </p:sp>
        <p:pic>
          <p:nvPicPr>
            <p:cNvPr id="79" name="object 79"/>
            <p:cNvPicPr/>
            <p:nvPr/>
          </p:nvPicPr>
          <p:blipFill>
            <a:blip r:embed="rId4" cstate="print"/>
            <a:stretch>
              <a:fillRect/>
            </a:stretch>
          </p:blipFill>
          <p:spPr>
            <a:xfrm>
              <a:off x="8245195" y="1413179"/>
              <a:ext cx="637965" cy="476137"/>
            </a:xfrm>
            <a:prstGeom prst="rect">
              <a:avLst/>
            </a:prstGeom>
          </p:spPr>
        </p:pic>
        <p:pic>
          <p:nvPicPr>
            <p:cNvPr id="80" name="object 80"/>
            <p:cNvPicPr/>
            <p:nvPr/>
          </p:nvPicPr>
          <p:blipFill>
            <a:blip r:embed="rId5" cstate="print"/>
            <a:stretch>
              <a:fillRect/>
            </a:stretch>
          </p:blipFill>
          <p:spPr>
            <a:xfrm>
              <a:off x="6661023" y="1358928"/>
              <a:ext cx="1069682" cy="713126"/>
            </a:xfrm>
            <a:prstGeom prst="rect">
              <a:avLst/>
            </a:prstGeom>
          </p:spPr>
        </p:pic>
        <p:pic>
          <p:nvPicPr>
            <p:cNvPr id="81" name="object 81"/>
            <p:cNvPicPr/>
            <p:nvPr/>
          </p:nvPicPr>
          <p:blipFill>
            <a:blip r:embed="rId6" cstate="print"/>
            <a:stretch>
              <a:fillRect/>
            </a:stretch>
          </p:blipFill>
          <p:spPr>
            <a:xfrm>
              <a:off x="5076850" y="1357414"/>
              <a:ext cx="1017354" cy="678744"/>
            </a:xfrm>
            <a:prstGeom prst="rect">
              <a:avLst/>
            </a:prstGeom>
          </p:spPr>
        </p:pic>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45980" y="123822"/>
            <a:ext cx="2466975" cy="513080"/>
          </a:xfrm>
          <a:prstGeom prst="rect"/>
        </p:spPr>
        <p:txBody>
          <a:bodyPr wrap="square" lIns="0" tIns="12065" rIns="0" bIns="0" rtlCol="0" vert="horz">
            <a:spAutoFit/>
          </a:bodyPr>
          <a:lstStyle/>
          <a:p>
            <a:pPr marL="12700">
              <a:lnSpc>
                <a:spcPct val="100000"/>
              </a:lnSpc>
              <a:spcBef>
                <a:spcPts val="95"/>
              </a:spcBef>
            </a:pPr>
            <a:r>
              <a:rPr dirty="0" spc="-40"/>
              <a:t>室内部署建议</a:t>
            </a:r>
          </a:p>
        </p:txBody>
      </p:sp>
      <p:sp>
        <p:nvSpPr>
          <p:cNvPr id="3" name="object 3" descr=""/>
          <p:cNvSpPr txBox="1"/>
          <p:nvPr/>
        </p:nvSpPr>
        <p:spPr>
          <a:xfrm>
            <a:off x="890024" y="869257"/>
            <a:ext cx="1449705" cy="269875"/>
          </a:xfrm>
          <a:prstGeom prst="rect">
            <a:avLst/>
          </a:prstGeom>
        </p:spPr>
        <p:txBody>
          <a:bodyPr wrap="square" lIns="0" tIns="12700" rIns="0" bIns="0" rtlCol="0" vert="horz">
            <a:spAutoFit/>
          </a:bodyPr>
          <a:lstStyle/>
          <a:p>
            <a:pPr marL="12700">
              <a:lnSpc>
                <a:spcPct val="100000"/>
              </a:lnSpc>
              <a:spcBef>
                <a:spcPts val="100"/>
              </a:spcBef>
            </a:pPr>
            <a:r>
              <a:rPr dirty="0" sz="1600" spc="-10">
                <a:latin typeface="Microsoft YaHei"/>
                <a:cs typeface="Microsoft YaHei"/>
              </a:rPr>
              <a:t>高流量价值区域</a:t>
            </a:r>
            <a:endParaRPr sz="1600">
              <a:latin typeface="Microsoft YaHei"/>
              <a:cs typeface="Microsoft YaHei"/>
            </a:endParaRPr>
          </a:p>
        </p:txBody>
      </p:sp>
      <p:grpSp>
        <p:nvGrpSpPr>
          <p:cNvPr id="4" name="object 4" descr=""/>
          <p:cNvGrpSpPr/>
          <p:nvPr/>
        </p:nvGrpSpPr>
        <p:grpSpPr>
          <a:xfrm>
            <a:off x="3059472" y="1252467"/>
            <a:ext cx="3023870" cy="2112645"/>
            <a:chOff x="3059472" y="1252467"/>
            <a:chExt cx="3023870" cy="2112645"/>
          </a:xfrm>
        </p:grpSpPr>
        <p:pic>
          <p:nvPicPr>
            <p:cNvPr id="5" name="object 5" descr=""/>
            <p:cNvPicPr/>
            <p:nvPr/>
          </p:nvPicPr>
          <p:blipFill>
            <a:blip r:embed="rId2" cstate="print"/>
            <a:stretch>
              <a:fillRect/>
            </a:stretch>
          </p:blipFill>
          <p:spPr>
            <a:xfrm>
              <a:off x="3059472" y="1252467"/>
              <a:ext cx="3023616" cy="2112264"/>
            </a:xfrm>
            <a:prstGeom prst="rect">
              <a:avLst/>
            </a:prstGeom>
          </p:spPr>
        </p:pic>
        <p:sp>
          <p:nvSpPr>
            <p:cNvPr id="6" name="object 6" descr=""/>
            <p:cNvSpPr/>
            <p:nvPr/>
          </p:nvSpPr>
          <p:spPr>
            <a:xfrm>
              <a:off x="5239519" y="1404480"/>
              <a:ext cx="220979" cy="13970"/>
            </a:xfrm>
            <a:custGeom>
              <a:avLst/>
              <a:gdLst/>
              <a:ahLst/>
              <a:cxnLst/>
              <a:rect l="l" t="t" r="r" b="b"/>
              <a:pathLst>
                <a:path w="220979" h="13969">
                  <a:moveTo>
                    <a:pt x="0" y="13830"/>
                  </a:moveTo>
                  <a:lnTo>
                    <a:pt x="163347" y="0"/>
                  </a:lnTo>
                  <a:lnTo>
                    <a:pt x="220497" y="0"/>
                  </a:lnTo>
                </a:path>
              </a:pathLst>
            </a:custGeom>
            <a:ln w="9525">
              <a:solidFill>
                <a:srgbClr val="000000"/>
              </a:solidFill>
            </a:ln>
          </p:spPr>
          <p:txBody>
            <a:bodyPr wrap="square" lIns="0" tIns="0" rIns="0" bIns="0" rtlCol="0"/>
            <a:lstStyle/>
            <a:p/>
          </p:txBody>
        </p:sp>
      </p:grpSp>
      <p:sp>
        <p:nvSpPr>
          <p:cNvPr id="7" name="object 7" descr=""/>
          <p:cNvSpPr txBox="1"/>
          <p:nvPr/>
        </p:nvSpPr>
        <p:spPr>
          <a:xfrm>
            <a:off x="5467141" y="911084"/>
            <a:ext cx="702310" cy="745490"/>
          </a:xfrm>
          <a:prstGeom prst="rect">
            <a:avLst/>
          </a:prstGeom>
        </p:spPr>
        <p:txBody>
          <a:bodyPr wrap="square" lIns="0" tIns="12700" rIns="0" bIns="0" rtlCol="0" vert="horz">
            <a:spAutoFit/>
          </a:bodyPr>
          <a:lstStyle/>
          <a:p>
            <a:pPr algn="ctr" marL="12700" marR="5080" indent="-635">
              <a:lnSpc>
                <a:spcPct val="143200"/>
              </a:lnSpc>
              <a:spcBef>
                <a:spcPts val="100"/>
              </a:spcBef>
            </a:pPr>
            <a:r>
              <a:rPr dirty="0" sz="1100" spc="-30">
                <a:latin typeface="Microsoft YaHei"/>
                <a:cs typeface="Microsoft YaHei"/>
              </a:rPr>
              <a:t>机场/交通</a:t>
            </a:r>
            <a:r>
              <a:rPr dirty="0" sz="1100" spc="-25">
                <a:latin typeface="Microsoft YaHei"/>
                <a:cs typeface="Microsoft YaHei"/>
              </a:rPr>
              <a:t>枢纽/场馆/</a:t>
            </a:r>
            <a:r>
              <a:rPr dirty="0" sz="1100" spc="-35">
                <a:latin typeface="Microsoft YaHei"/>
                <a:cs typeface="Microsoft YaHei"/>
              </a:rPr>
              <a:t>商场</a:t>
            </a:r>
            <a:endParaRPr sz="1100">
              <a:latin typeface="Microsoft YaHei"/>
              <a:cs typeface="Microsoft YaHei"/>
            </a:endParaRPr>
          </a:p>
        </p:txBody>
      </p:sp>
      <p:sp>
        <p:nvSpPr>
          <p:cNvPr id="8" name="object 8" descr=""/>
          <p:cNvSpPr txBox="1"/>
          <p:nvPr/>
        </p:nvSpPr>
        <p:spPr>
          <a:xfrm>
            <a:off x="5717725" y="2260642"/>
            <a:ext cx="702310" cy="505459"/>
          </a:xfrm>
          <a:prstGeom prst="rect">
            <a:avLst/>
          </a:prstGeom>
        </p:spPr>
        <p:txBody>
          <a:bodyPr wrap="square" lIns="0" tIns="12700" rIns="0" bIns="0" rtlCol="0" vert="horz">
            <a:spAutoFit/>
          </a:bodyPr>
          <a:lstStyle/>
          <a:p>
            <a:pPr marL="41910" marR="5080" indent="-29845">
              <a:lnSpc>
                <a:spcPct val="143200"/>
              </a:lnSpc>
              <a:spcBef>
                <a:spcPts val="100"/>
              </a:spcBef>
            </a:pPr>
            <a:r>
              <a:rPr dirty="0" sz="1100" spc="-25">
                <a:latin typeface="Microsoft YaHei"/>
                <a:cs typeface="Microsoft YaHei"/>
              </a:rPr>
              <a:t>/居民区/办</a:t>
            </a:r>
            <a:r>
              <a:rPr dirty="0" sz="1100" spc="-30">
                <a:latin typeface="Microsoft YaHei"/>
                <a:cs typeface="Microsoft YaHei"/>
              </a:rPr>
              <a:t>公楼/工厂</a:t>
            </a:r>
            <a:endParaRPr sz="1100">
              <a:latin typeface="Microsoft YaHei"/>
              <a:cs typeface="Microsoft YaHei"/>
            </a:endParaRPr>
          </a:p>
        </p:txBody>
      </p:sp>
      <p:sp>
        <p:nvSpPr>
          <p:cNvPr id="9" name="object 9" descr=""/>
          <p:cNvSpPr txBox="1"/>
          <p:nvPr/>
        </p:nvSpPr>
        <p:spPr>
          <a:xfrm>
            <a:off x="2710712" y="1880791"/>
            <a:ext cx="702310" cy="745490"/>
          </a:xfrm>
          <a:prstGeom prst="rect">
            <a:avLst/>
          </a:prstGeom>
        </p:spPr>
        <p:txBody>
          <a:bodyPr wrap="square" lIns="0" tIns="12700" rIns="0" bIns="0" rtlCol="0" vert="horz">
            <a:spAutoFit/>
          </a:bodyPr>
          <a:lstStyle/>
          <a:p>
            <a:pPr algn="ctr" marL="12700" marR="5080" indent="-635">
              <a:lnSpc>
                <a:spcPct val="143200"/>
              </a:lnSpc>
              <a:spcBef>
                <a:spcPts val="100"/>
              </a:spcBef>
            </a:pPr>
            <a:r>
              <a:rPr dirty="0" sz="1100" spc="-30">
                <a:latin typeface="Microsoft YaHei"/>
                <a:cs typeface="Microsoft YaHei"/>
              </a:rPr>
              <a:t>酒店/商务</a:t>
            </a:r>
            <a:r>
              <a:rPr dirty="0" sz="1100" spc="-25">
                <a:latin typeface="Microsoft YaHei"/>
                <a:cs typeface="Microsoft YaHei"/>
              </a:rPr>
              <a:t>楼宇/政府/</a:t>
            </a:r>
            <a:r>
              <a:rPr dirty="0" sz="1100" spc="-35">
                <a:latin typeface="Microsoft YaHei"/>
                <a:cs typeface="Microsoft YaHei"/>
              </a:rPr>
              <a:t>医院,</a:t>
            </a:r>
            <a:endParaRPr sz="1100">
              <a:latin typeface="Microsoft YaHei"/>
              <a:cs typeface="Microsoft YaHei"/>
            </a:endParaRPr>
          </a:p>
        </p:txBody>
      </p:sp>
      <p:sp>
        <p:nvSpPr>
          <p:cNvPr id="10" name="object 10" descr=""/>
          <p:cNvSpPr txBox="1"/>
          <p:nvPr/>
        </p:nvSpPr>
        <p:spPr>
          <a:xfrm>
            <a:off x="224231" y="1236065"/>
            <a:ext cx="2448560" cy="769620"/>
          </a:xfrm>
          <a:prstGeom prst="rect">
            <a:avLst/>
          </a:prstGeom>
          <a:solidFill>
            <a:srgbClr val="CDCDCD"/>
          </a:solidFill>
        </p:spPr>
        <p:txBody>
          <a:bodyPr wrap="square" lIns="0" tIns="40005" rIns="0" bIns="0" rtlCol="0" vert="horz">
            <a:spAutoFit/>
          </a:bodyPr>
          <a:lstStyle/>
          <a:p>
            <a:pPr marL="259079" indent="-168275">
              <a:lnSpc>
                <a:spcPct val="100000"/>
              </a:lnSpc>
              <a:spcBef>
                <a:spcPts val="315"/>
              </a:spcBef>
              <a:buFont typeface="Arial MT"/>
              <a:buChar char="•"/>
              <a:tabLst>
                <a:tab pos="259079" algn="l"/>
              </a:tabLst>
            </a:pPr>
            <a:r>
              <a:rPr dirty="0" sz="1100" spc="-25">
                <a:latin typeface="Microsoft YaHei"/>
                <a:cs typeface="Microsoft YaHei"/>
              </a:rPr>
              <a:t>场景特点：话务量低/穿透损耗大</a:t>
            </a:r>
            <a:endParaRPr sz="1100">
              <a:latin typeface="Microsoft YaHei"/>
              <a:cs typeface="Microsoft YaHei"/>
            </a:endParaRPr>
          </a:p>
          <a:p>
            <a:pPr marL="259079" indent="-168275">
              <a:lnSpc>
                <a:spcPct val="100000"/>
              </a:lnSpc>
              <a:buFont typeface="Arial MT"/>
              <a:buChar char="•"/>
              <a:tabLst>
                <a:tab pos="259079" algn="l"/>
              </a:tabLst>
            </a:pPr>
            <a:r>
              <a:rPr dirty="0" sz="1100" spc="-25">
                <a:latin typeface="Microsoft YaHei"/>
                <a:cs typeface="Microsoft YaHei"/>
              </a:rPr>
              <a:t>成本敏感度：高</a:t>
            </a:r>
            <a:endParaRPr sz="1100">
              <a:latin typeface="Microsoft YaHei"/>
              <a:cs typeface="Microsoft YaHei"/>
            </a:endParaRPr>
          </a:p>
          <a:p>
            <a:pPr marL="259079" indent="-168275">
              <a:lnSpc>
                <a:spcPct val="100000"/>
              </a:lnSpc>
              <a:buFont typeface="Arial MT"/>
              <a:buChar char="•"/>
              <a:tabLst>
                <a:tab pos="259079" algn="l"/>
              </a:tabLst>
            </a:pPr>
            <a:r>
              <a:rPr dirty="0" sz="1100" spc="-30">
                <a:latin typeface="Microsoft YaHei"/>
                <a:cs typeface="Microsoft YaHei"/>
              </a:rPr>
              <a:t>产品特点：低成本/外观好/体积小</a:t>
            </a:r>
            <a:endParaRPr sz="1100">
              <a:latin typeface="Microsoft YaHei"/>
              <a:cs typeface="Microsoft YaHei"/>
            </a:endParaRPr>
          </a:p>
          <a:p>
            <a:pPr marL="259079" indent="-168275">
              <a:lnSpc>
                <a:spcPct val="100000"/>
              </a:lnSpc>
              <a:buFont typeface="Arial MT"/>
              <a:buChar char="•"/>
              <a:tabLst>
                <a:tab pos="259079" algn="l"/>
              </a:tabLst>
            </a:pPr>
            <a:r>
              <a:rPr dirty="0" sz="1100" spc="-20">
                <a:latin typeface="Microsoft YaHei"/>
                <a:cs typeface="Microsoft YaHei"/>
              </a:rPr>
              <a:t>产品形态：</a:t>
            </a:r>
            <a:r>
              <a:rPr dirty="0" sz="1100" spc="-30" b="1">
                <a:solidFill>
                  <a:srgbClr val="FF0000"/>
                </a:solidFill>
                <a:latin typeface="Microsoft YaHei"/>
                <a:cs typeface="Microsoft YaHei"/>
              </a:rPr>
              <a:t>分布式皮站/传统室分</a:t>
            </a:r>
            <a:endParaRPr sz="1100">
              <a:latin typeface="Microsoft YaHei"/>
              <a:cs typeface="Microsoft YaHei"/>
            </a:endParaRPr>
          </a:p>
        </p:txBody>
      </p:sp>
      <p:sp>
        <p:nvSpPr>
          <p:cNvPr id="11" name="object 11" descr=""/>
          <p:cNvSpPr txBox="1"/>
          <p:nvPr/>
        </p:nvSpPr>
        <p:spPr>
          <a:xfrm>
            <a:off x="6335686" y="1144054"/>
            <a:ext cx="2592705" cy="769620"/>
          </a:xfrm>
          <a:prstGeom prst="rect">
            <a:avLst/>
          </a:prstGeom>
          <a:solidFill>
            <a:srgbClr val="CDCDCD"/>
          </a:solidFill>
        </p:spPr>
        <p:txBody>
          <a:bodyPr wrap="square" lIns="0" tIns="40005" rIns="0" bIns="0" rtlCol="0" vert="horz">
            <a:spAutoFit/>
          </a:bodyPr>
          <a:lstStyle/>
          <a:p>
            <a:pPr marL="259079" indent="-168275">
              <a:lnSpc>
                <a:spcPct val="100000"/>
              </a:lnSpc>
              <a:spcBef>
                <a:spcPts val="315"/>
              </a:spcBef>
              <a:buFont typeface="Arial MT"/>
              <a:buChar char="•"/>
              <a:tabLst>
                <a:tab pos="259079" algn="l"/>
              </a:tabLst>
            </a:pPr>
            <a:r>
              <a:rPr dirty="0" sz="1100" spc="-25">
                <a:latin typeface="Microsoft YaHei"/>
                <a:cs typeface="Microsoft YaHei"/>
              </a:rPr>
              <a:t>场景特点：面积大/投资大/话务量高</a:t>
            </a:r>
            <a:endParaRPr sz="1100">
              <a:latin typeface="Microsoft YaHei"/>
              <a:cs typeface="Microsoft YaHei"/>
            </a:endParaRPr>
          </a:p>
          <a:p>
            <a:pPr marL="259079" indent="-168275">
              <a:lnSpc>
                <a:spcPct val="100000"/>
              </a:lnSpc>
              <a:buFont typeface="Arial MT"/>
              <a:buChar char="•"/>
              <a:tabLst>
                <a:tab pos="259079" algn="l"/>
              </a:tabLst>
            </a:pPr>
            <a:r>
              <a:rPr dirty="0" sz="1100" spc="-25">
                <a:latin typeface="Microsoft YaHei"/>
                <a:cs typeface="Microsoft YaHei"/>
              </a:rPr>
              <a:t>成本敏感度：低</a:t>
            </a:r>
            <a:endParaRPr sz="1100">
              <a:latin typeface="Microsoft YaHei"/>
              <a:cs typeface="Microsoft YaHei"/>
            </a:endParaRPr>
          </a:p>
          <a:p>
            <a:pPr marL="259079" indent="-168275">
              <a:lnSpc>
                <a:spcPct val="100000"/>
              </a:lnSpc>
              <a:buFont typeface="Arial MT"/>
              <a:buChar char="•"/>
              <a:tabLst>
                <a:tab pos="259079" algn="l"/>
              </a:tabLst>
            </a:pPr>
            <a:r>
              <a:rPr dirty="0" sz="1100" spc="-25">
                <a:latin typeface="Microsoft YaHei"/>
                <a:cs typeface="Microsoft YaHei"/>
              </a:rPr>
              <a:t>产品特点：功率大；灵活分裂小区</a:t>
            </a:r>
            <a:endParaRPr sz="1100">
              <a:latin typeface="Microsoft YaHei"/>
              <a:cs typeface="Microsoft YaHei"/>
            </a:endParaRPr>
          </a:p>
          <a:p>
            <a:pPr marL="259079" indent="-168275">
              <a:lnSpc>
                <a:spcPct val="100000"/>
              </a:lnSpc>
              <a:buFont typeface="Arial MT"/>
              <a:buChar char="•"/>
              <a:tabLst>
                <a:tab pos="259079" algn="l"/>
              </a:tabLst>
            </a:pPr>
            <a:r>
              <a:rPr dirty="0" sz="1100" spc="-20">
                <a:latin typeface="Microsoft YaHei"/>
                <a:cs typeface="Microsoft YaHei"/>
              </a:rPr>
              <a:t>产品形态：</a:t>
            </a:r>
            <a:r>
              <a:rPr dirty="0" sz="1100" spc="-30" b="1">
                <a:solidFill>
                  <a:srgbClr val="FF0000"/>
                </a:solidFill>
                <a:latin typeface="Microsoft YaHei"/>
                <a:cs typeface="Microsoft YaHei"/>
              </a:rPr>
              <a:t>分布式皮站</a:t>
            </a:r>
            <a:endParaRPr sz="1100">
              <a:latin typeface="Microsoft YaHei"/>
              <a:cs typeface="Microsoft YaHei"/>
            </a:endParaRPr>
          </a:p>
        </p:txBody>
      </p:sp>
      <p:sp>
        <p:nvSpPr>
          <p:cNvPr id="12" name="object 12" descr=""/>
          <p:cNvSpPr txBox="1"/>
          <p:nvPr/>
        </p:nvSpPr>
        <p:spPr>
          <a:xfrm>
            <a:off x="6695732" y="2237727"/>
            <a:ext cx="2448560" cy="769620"/>
          </a:xfrm>
          <a:prstGeom prst="rect">
            <a:avLst/>
          </a:prstGeom>
          <a:solidFill>
            <a:srgbClr val="CDCDCD"/>
          </a:solidFill>
        </p:spPr>
        <p:txBody>
          <a:bodyPr wrap="square" lIns="0" tIns="40005" rIns="0" bIns="0" rtlCol="0" vert="horz">
            <a:spAutoFit/>
          </a:bodyPr>
          <a:lstStyle/>
          <a:p>
            <a:pPr marL="259079" indent="-168275">
              <a:lnSpc>
                <a:spcPct val="100000"/>
              </a:lnSpc>
              <a:spcBef>
                <a:spcPts val="315"/>
              </a:spcBef>
              <a:buFont typeface="Arial MT"/>
              <a:buChar char="•"/>
              <a:tabLst>
                <a:tab pos="259079" algn="l"/>
              </a:tabLst>
            </a:pPr>
            <a:r>
              <a:rPr dirty="0" sz="1100" spc="-25">
                <a:latin typeface="Microsoft YaHei"/>
                <a:cs typeface="Microsoft YaHei"/>
              </a:rPr>
              <a:t>场景特点：面积小/低价值</a:t>
            </a:r>
            <a:endParaRPr sz="1100">
              <a:latin typeface="Microsoft YaHei"/>
              <a:cs typeface="Microsoft YaHei"/>
            </a:endParaRPr>
          </a:p>
          <a:p>
            <a:pPr marL="259079" indent="-168275">
              <a:lnSpc>
                <a:spcPct val="100000"/>
              </a:lnSpc>
              <a:buFont typeface="Arial MT"/>
              <a:buChar char="•"/>
              <a:tabLst>
                <a:tab pos="259079" algn="l"/>
              </a:tabLst>
            </a:pPr>
            <a:r>
              <a:rPr dirty="0" sz="1100" spc="-25">
                <a:latin typeface="Microsoft YaHei"/>
                <a:cs typeface="Microsoft YaHei"/>
              </a:rPr>
              <a:t>成本敏感度：高</a:t>
            </a:r>
            <a:endParaRPr sz="1100">
              <a:latin typeface="Microsoft YaHei"/>
              <a:cs typeface="Microsoft YaHei"/>
            </a:endParaRPr>
          </a:p>
          <a:p>
            <a:pPr marL="259079" indent="-168275">
              <a:lnSpc>
                <a:spcPct val="100000"/>
              </a:lnSpc>
              <a:buFont typeface="Arial MT"/>
              <a:buChar char="•"/>
              <a:tabLst>
                <a:tab pos="259079" algn="l"/>
              </a:tabLst>
            </a:pPr>
            <a:r>
              <a:rPr dirty="0" sz="1100" spc="-25">
                <a:latin typeface="Microsoft YaHei"/>
                <a:cs typeface="Microsoft YaHei"/>
              </a:rPr>
              <a:t>产品特点：拉远距离远</a:t>
            </a:r>
            <a:endParaRPr sz="1100">
              <a:latin typeface="Microsoft YaHei"/>
              <a:cs typeface="Microsoft YaHei"/>
            </a:endParaRPr>
          </a:p>
          <a:p>
            <a:pPr marL="259079" indent="-168275">
              <a:lnSpc>
                <a:spcPct val="100000"/>
              </a:lnSpc>
              <a:buFont typeface="Arial MT"/>
              <a:buChar char="•"/>
              <a:tabLst>
                <a:tab pos="259079" algn="l"/>
              </a:tabLst>
            </a:pPr>
            <a:r>
              <a:rPr dirty="0" sz="1100" spc="-20">
                <a:latin typeface="Microsoft YaHei"/>
                <a:cs typeface="Microsoft YaHei"/>
              </a:rPr>
              <a:t>产品形态：</a:t>
            </a:r>
            <a:r>
              <a:rPr dirty="0" sz="1100" spc="-30" b="1">
                <a:solidFill>
                  <a:srgbClr val="FF0000"/>
                </a:solidFill>
                <a:latin typeface="Microsoft YaHei"/>
                <a:cs typeface="Microsoft YaHei"/>
              </a:rPr>
              <a:t>传统室分</a:t>
            </a:r>
            <a:endParaRPr sz="1100">
              <a:latin typeface="Microsoft YaHei"/>
              <a:cs typeface="Microsoft YaHei"/>
            </a:endParaRPr>
          </a:p>
        </p:txBody>
      </p:sp>
      <p:sp>
        <p:nvSpPr>
          <p:cNvPr id="13" name="object 13" descr=""/>
          <p:cNvSpPr txBox="1"/>
          <p:nvPr/>
        </p:nvSpPr>
        <p:spPr>
          <a:xfrm>
            <a:off x="233462" y="3566109"/>
            <a:ext cx="7903209" cy="985519"/>
          </a:xfrm>
          <a:prstGeom prst="rect">
            <a:avLst/>
          </a:prstGeom>
        </p:spPr>
        <p:txBody>
          <a:bodyPr wrap="square" lIns="0" tIns="119380" rIns="0" bIns="0" rtlCol="0" vert="horz">
            <a:spAutoFit/>
          </a:bodyPr>
          <a:lstStyle/>
          <a:p>
            <a:pPr marL="297815" indent="-285115">
              <a:lnSpc>
                <a:spcPct val="100000"/>
              </a:lnSpc>
              <a:spcBef>
                <a:spcPts val="940"/>
              </a:spcBef>
              <a:buFont typeface="Wingdings"/>
              <a:buChar char=""/>
              <a:tabLst>
                <a:tab pos="297815" algn="l"/>
              </a:tabLst>
            </a:pPr>
            <a:r>
              <a:rPr dirty="0" sz="1400" spc="-20">
                <a:latin typeface="Microsoft YaHei"/>
                <a:cs typeface="Microsoft YaHei"/>
              </a:rPr>
              <a:t>5G</a:t>
            </a:r>
            <a:r>
              <a:rPr dirty="0" sz="1400" spc="-25">
                <a:latin typeface="Microsoft YaHei"/>
                <a:cs typeface="Microsoft YaHei"/>
              </a:rPr>
              <a:t>建网初期，高流量、高价值区域建议采用分布式皮站进行高标准建设</a:t>
            </a:r>
            <a:endParaRPr sz="1400">
              <a:latin typeface="Microsoft YaHei"/>
              <a:cs typeface="Microsoft YaHei"/>
            </a:endParaRPr>
          </a:p>
          <a:p>
            <a:pPr marL="297815" indent="-285115">
              <a:lnSpc>
                <a:spcPct val="100000"/>
              </a:lnSpc>
              <a:spcBef>
                <a:spcPts val="840"/>
              </a:spcBef>
              <a:buFont typeface="Wingdings"/>
              <a:buChar char=""/>
              <a:tabLst>
                <a:tab pos="297815" algn="l"/>
              </a:tabLst>
            </a:pPr>
            <a:r>
              <a:rPr dirty="0" sz="1400" spc="-20">
                <a:latin typeface="Microsoft YaHei"/>
                <a:cs typeface="Microsoft YaHei"/>
              </a:rPr>
              <a:t>流量要求不高或需要快速引入5G，且现有室分系统的场景，考虑通过大功率</a:t>
            </a:r>
            <a:r>
              <a:rPr dirty="0" sz="1400" spc="-10">
                <a:latin typeface="Microsoft YaHei"/>
                <a:cs typeface="Microsoft YaHei"/>
              </a:rPr>
              <a:t>RRU</a:t>
            </a:r>
            <a:r>
              <a:rPr dirty="0" sz="1400" spc="-20">
                <a:latin typeface="Microsoft YaHei"/>
                <a:cs typeface="Microsoft YaHei"/>
              </a:rPr>
              <a:t>快速引入5G</a:t>
            </a:r>
            <a:r>
              <a:rPr dirty="0" sz="1400" spc="-30">
                <a:latin typeface="Microsoft YaHei"/>
                <a:cs typeface="Microsoft YaHei"/>
              </a:rPr>
              <a:t>覆盖</a:t>
            </a:r>
            <a:endParaRPr sz="1400">
              <a:latin typeface="Microsoft YaHei"/>
              <a:cs typeface="Microsoft YaHei"/>
            </a:endParaRPr>
          </a:p>
          <a:p>
            <a:pPr marL="297815" indent="-285115">
              <a:lnSpc>
                <a:spcPct val="100000"/>
              </a:lnSpc>
              <a:spcBef>
                <a:spcPts val="840"/>
              </a:spcBef>
              <a:buFont typeface="Wingdings"/>
              <a:buChar char=""/>
              <a:tabLst>
                <a:tab pos="297815" algn="l"/>
              </a:tabLst>
            </a:pPr>
            <a:r>
              <a:rPr dirty="0" sz="1400" spc="-20">
                <a:latin typeface="Microsoft YaHei"/>
                <a:cs typeface="Microsoft YaHei"/>
              </a:rPr>
              <a:t>4&amp;5G纯新建场景，建议采用4&amp;5G双模PICO</a:t>
            </a:r>
            <a:r>
              <a:rPr dirty="0" sz="1400" spc="-30">
                <a:latin typeface="Microsoft YaHei"/>
                <a:cs typeface="Microsoft YaHei"/>
              </a:rPr>
              <a:t>共点位部署</a:t>
            </a:r>
            <a:endParaRPr sz="1400">
              <a:latin typeface="Microsoft YaHei"/>
              <a:cs typeface="Microsoft YaHei"/>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429000" y="971550"/>
            <a:ext cx="45720" cy="3759200"/>
          </a:xfrm>
          <a:custGeom>
            <a:avLst/>
            <a:gdLst/>
            <a:ahLst/>
            <a:cxnLst/>
            <a:rect l="l" t="t" r="r" b="b"/>
            <a:pathLst>
              <a:path w="45720" h="3759200">
                <a:moveTo>
                  <a:pt x="0" y="0"/>
                </a:moveTo>
                <a:lnTo>
                  <a:pt x="45720" y="3758806"/>
                </a:lnTo>
              </a:path>
            </a:pathLst>
          </a:custGeom>
          <a:ln w="34924">
            <a:solidFill>
              <a:srgbClr val="000000"/>
            </a:solidFill>
          </a:ln>
        </p:spPr>
        <p:txBody>
          <a:bodyPr wrap="square" lIns="0" tIns="0" rIns="0" bIns="0" rtlCol="0"/>
          <a:lstStyle/>
          <a:p/>
        </p:txBody>
      </p:sp>
      <p:grpSp>
        <p:nvGrpSpPr>
          <p:cNvPr id="3" name="object 3" descr=""/>
          <p:cNvGrpSpPr/>
          <p:nvPr/>
        </p:nvGrpSpPr>
        <p:grpSpPr>
          <a:xfrm>
            <a:off x="3727450" y="1614091"/>
            <a:ext cx="4660900" cy="498475"/>
            <a:chOff x="3727450" y="1614091"/>
            <a:chExt cx="4660900" cy="498475"/>
          </a:xfrm>
        </p:grpSpPr>
        <p:pic>
          <p:nvPicPr>
            <p:cNvPr id="4" name="object 4" descr=""/>
            <p:cNvPicPr/>
            <p:nvPr/>
          </p:nvPicPr>
          <p:blipFill>
            <a:blip r:embed="rId2" cstate="print"/>
            <a:stretch>
              <a:fillRect/>
            </a:stretch>
          </p:blipFill>
          <p:spPr>
            <a:xfrm>
              <a:off x="3733800" y="1620441"/>
              <a:ext cx="4648200" cy="485775"/>
            </a:xfrm>
            <a:prstGeom prst="rect">
              <a:avLst/>
            </a:prstGeom>
          </p:spPr>
        </p:pic>
        <p:sp>
          <p:nvSpPr>
            <p:cNvPr id="5" name="object 5" descr=""/>
            <p:cNvSpPr/>
            <p:nvPr/>
          </p:nvSpPr>
          <p:spPr>
            <a:xfrm>
              <a:off x="3733800" y="16204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727450" y="2261791"/>
            <a:ext cx="4660900" cy="498475"/>
            <a:chOff x="3727450" y="2261791"/>
            <a:chExt cx="4660900" cy="498475"/>
          </a:xfrm>
        </p:grpSpPr>
        <p:pic>
          <p:nvPicPr>
            <p:cNvPr id="7" name="object 7" descr=""/>
            <p:cNvPicPr/>
            <p:nvPr/>
          </p:nvPicPr>
          <p:blipFill>
            <a:blip r:embed="rId3" cstate="print"/>
            <a:stretch>
              <a:fillRect/>
            </a:stretch>
          </p:blipFill>
          <p:spPr>
            <a:xfrm>
              <a:off x="3733800" y="2268141"/>
              <a:ext cx="4648200" cy="485775"/>
            </a:xfrm>
            <a:prstGeom prst="rect">
              <a:avLst/>
            </a:prstGeom>
          </p:spPr>
        </p:pic>
        <p:sp>
          <p:nvSpPr>
            <p:cNvPr id="8" name="object 8" descr=""/>
            <p:cNvSpPr/>
            <p:nvPr/>
          </p:nvSpPr>
          <p:spPr>
            <a:xfrm>
              <a:off x="3733800" y="22681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727450" y="965200"/>
            <a:ext cx="4660900" cy="498475"/>
            <a:chOff x="3727450" y="965200"/>
            <a:chExt cx="4660900" cy="498475"/>
          </a:xfrm>
        </p:grpSpPr>
        <p:pic>
          <p:nvPicPr>
            <p:cNvPr id="10" name="object 10" descr=""/>
            <p:cNvPicPr/>
            <p:nvPr/>
          </p:nvPicPr>
          <p:blipFill>
            <a:blip r:embed="rId4" cstate="print"/>
            <a:stretch>
              <a:fillRect/>
            </a:stretch>
          </p:blipFill>
          <p:spPr>
            <a:xfrm>
              <a:off x="3733800" y="971550"/>
              <a:ext cx="4648200" cy="485775"/>
            </a:xfrm>
            <a:prstGeom prst="rect">
              <a:avLst/>
            </a:prstGeom>
          </p:spPr>
        </p:pic>
        <p:sp>
          <p:nvSpPr>
            <p:cNvPr id="11" name="object 11" descr=""/>
            <p:cNvSpPr/>
            <p:nvPr/>
          </p:nvSpPr>
          <p:spPr>
            <a:xfrm>
              <a:off x="3733800" y="971550"/>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174619" y="39229"/>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主</a:t>
            </a:r>
            <a:r>
              <a:rPr dirty="0" sz="4400"/>
              <a:t>	</a:t>
            </a:r>
            <a:r>
              <a:rPr dirty="0" sz="4400" spc="-50"/>
              <a:t>要</a:t>
            </a:r>
            <a:r>
              <a:rPr dirty="0" sz="4400"/>
              <a:t>	</a:t>
            </a:r>
            <a:r>
              <a:rPr dirty="0" sz="4400" spc="-50"/>
              <a:t>内</a:t>
            </a:r>
            <a:r>
              <a:rPr dirty="0" sz="4400"/>
              <a:t>	</a:t>
            </a:r>
            <a:r>
              <a:rPr dirty="0" sz="4400" spc="-50"/>
              <a:t>容</a:t>
            </a:r>
            <a:endParaRPr sz="4400"/>
          </a:p>
        </p:txBody>
      </p:sp>
      <p:grpSp>
        <p:nvGrpSpPr>
          <p:cNvPr id="13" name="object 13" descr=""/>
          <p:cNvGrpSpPr/>
          <p:nvPr/>
        </p:nvGrpSpPr>
        <p:grpSpPr>
          <a:xfrm>
            <a:off x="3727450" y="2909491"/>
            <a:ext cx="4660900" cy="498475"/>
            <a:chOff x="3727450" y="2909491"/>
            <a:chExt cx="4660900" cy="498475"/>
          </a:xfrm>
        </p:grpSpPr>
        <p:pic>
          <p:nvPicPr>
            <p:cNvPr id="14" name="object 14" descr=""/>
            <p:cNvPicPr/>
            <p:nvPr/>
          </p:nvPicPr>
          <p:blipFill>
            <a:blip r:embed="rId3" cstate="print"/>
            <a:stretch>
              <a:fillRect/>
            </a:stretch>
          </p:blipFill>
          <p:spPr>
            <a:xfrm>
              <a:off x="3733800" y="2915841"/>
              <a:ext cx="4648200" cy="485775"/>
            </a:xfrm>
            <a:prstGeom prst="rect">
              <a:avLst/>
            </a:prstGeom>
          </p:spPr>
        </p:pic>
        <p:sp>
          <p:nvSpPr>
            <p:cNvPr id="15" name="object 15" descr=""/>
            <p:cNvSpPr/>
            <p:nvPr/>
          </p:nvSpPr>
          <p:spPr>
            <a:xfrm>
              <a:off x="3733800" y="2915841"/>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6" name="object 16" descr=""/>
          <p:cNvGrpSpPr/>
          <p:nvPr/>
        </p:nvGrpSpPr>
        <p:grpSpPr>
          <a:xfrm>
            <a:off x="3727450" y="3557189"/>
            <a:ext cx="4660900" cy="498475"/>
            <a:chOff x="3727450" y="3557189"/>
            <a:chExt cx="4660900" cy="498475"/>
          </a:xfrm>
        </p:grpSpPr>
        <p:pic>
          <p:nvPicPr>
            <p:cNvPr id="17" name="object 17" descr=""/>
            <p:cNvPicPr/>
            <p:nvPr/>
          </p:nvPicPr>
          <p:blipFill>
            <a:blip r:embed="rId5" cstate="print"/>
            <a:stretch>
              <a:fillRect/>
            </a:stretch>
          </p:blipFill>
          <p:spPr>
            <a:xfrm>
              <a:off x="3733800" y="3563539"/>
              <a:ext cx="4648200" cy="485775"/>
            </a:xfrm>
            <a:prstGeom prst="rect">
              <a:avLst/>
            </a:prstGeom>
          </p:spPr>
        </p:pic>
        <p:sp>
          <p:nvSpPr>
            <p:cNvPr id="18" name="object 18" descr=""/>
            <p:cNvSpPr/>
            <p:nvPr/>
          </p:nvSpPr>
          <p:spPr>
            <a:xfrm>
              <a:off x="3733800" y="3563539"/>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4"/>
                  </a:lnTo>
                  <a:lnTo>
                    <a:pt x="80962" y="485774"/>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9" name="object 19" descr=""/>
          <p:cNvGrpSpPr/>
          <p:nvPr/>
        </p:nvGrpSpPr>
        <p:grpSpPr>
          <a:xfrm>
            <a:off x="3727450" y="4238228"/>
            <a:ext cx="4660900" cy="498475"/>
            <a:chOff x="3727450" y="4238228"/>
            <a:chExt cx="4660900" cy="498475"/>
          </a:xfrm>
        </p:grpSpPr>
        <p:pic>
          <p:nvPicPr>
            <p:cNvPr id="20" name="object 20" descr=""/>
            <p:cNvPicPr/>
            <p:nvPr/>
          </p:nvPicPr>
          <p:blipFill>
            <a:blip r:embed="rId6" cstate="print"/>
            <a:stretch>
              <a:fillRect/>
            </a:stretch>
          </p:blipFill>
          <p:spPr>
            <a:xfrm>
              <a:off x="3733800" y="4244578"/>
              <a:ext cx="4648200" cy="485775"/>
            </a:xfrm>
            <a:prstGeom prst="rect">
              <a:avLst/>
            </a:prstGeom>
          </p:spPr>
        </p:pic>
        <p:sp>
          <p:nvSpPr>
            <p:cNvPr id="21" name="object 21" descr=""/>
            <p:cNvSpPr/>
            <p:nvPr/>
          </p:nvSpPr>
          <p:spPr>
            <a:xfrm>
              <a:off x="3733800" y="4244578"/>
              <a:ext cx="4648200" cy="485775"/>
            </a:xfrm>
            <a:custGeom>
              <a:avLst/>
              <a:gdLst/>
              <a:ahLst/>
              <a:cxnLst/>
              <a:rect l="l" t="t" r="r" b="b"/>
              <a:pathLst>
                <a:path w="4648200" h="485775">
                  <a:moveTo>
                    <a:pt x="0" y="80962"/>
                  </a:moveTo>
                  <a:lnTo>
                    <a:pt x="6362" y="49447"/>
                  </a:lnTo>
                  <a:lnTo>
                    <a:pt x="23712" y="23712"/>
                  </a:lnTo>
                  <a:lnTo>
                    <a:pt x="49447" y="6362"/>
                  </a:lnTo>
                  <a:lnTo>
                    <a:pt x="80962" y="0"/>
                  </a:lnTo>
                  <a:lnTo>
                    <a:pt x="4567237" y="0"/>
                  </a:lnTo>
                  <a:lnTo>
                    <a:pt x="4598752" y="6362"/>
                  </a:lnTo>
                  <a:lnTo>
                    <a:pt x="4624487" y="23712"/>
                  </a:lnTo>
                  <a:lnTo>
                    <a:pt x="4641837" y="49447"/>
                  </a:lnTo>
                  <a:lnTo>
                    <a:pt x="4648200" y="80962"/>
                  </a:lnTo>
                  <a:lnTo>
                    <a:pt x="4648200" y="404812"/>
                  </a:lnTo>
                  <a:lnTo>
                    <a:pt x="4641837" y="436327"/>
                  </a:lnTo>
                  <a:lnTo>
                    <a:pt x="4624487" y="462062"/>
                  </a:lnTo>
                  <a:lnTo>
                    <a:pt x="4598752" y="479412"/>
                  </a:lnTo>
                  <a:lnTo>
                    <a:pt x="45672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3836253" y="1007427"/>
            <a:ext cx="4072890" cy="3664585"/>
          </a:xfrm>
          <a:prstGeom prst="rect">
            <a:avLst/>
          </a:prstGeom>
        </p:spPr>
        <p:txBody>
          <a:bodyPr wrap="square" lIns="0" tIns="12700" rIns="0" bIns="0" rtlCol="0" vert="horz">
            <a:spAutoFit/>
          </a:bodyPr>
          <a:lstStyle/>
          <a:p>
            <a:pPr marL="12700">
              <a:lnSpc>
                <a:spcPct val="100000"/>
              </a:lnSpc>
              <a:spcBef>
                <a:spcPts val="100"/>
              </a:spcBef>
            </a:pPr>
            <a:r>
              <a:rPr dirty="0" sz="2400">
                <a:latin typeface="Microsoft YaHei"/>
                <a:cs typeface="Microsoft YaHei"/>
              </a:rPr>
              <a:t>一、</a:t>
            </a:r>
            <a:r>
              <a:rPr dirty="0" sz="2400" spc="-20">
                <a:latin typeface="Times New Roman"/>
                <a:cs typeface="Times New Roman"/>
              </a:rPr>
              <a:t>5G</a:t>
            </a:r>
            <a:r>
              <a:rPr dirty="0" sz="2400" spc="-5">
                <a:latin typeface="Microsoft YaHei"/>
                <a:cs typeface="Microsoft YaHei"/>
              </a:rPr>
              <a:t>系统无线网络规划概述</a:t>
            </a:r>
            <a:endParaRPr sz="2400">
              <a:latin typeface="Microsoft YaHei"/>
              <a:cs typeface="Microsoft YaHei"/>
            </a:endParaRPr>
          </a:p>
          <a:p>
            <a:pPr algn="just" marL="12700" marR="21590">
              <a:lnSpc>
                <a:spcPct val="177100"/>
              </a:lnSpc>
              <a:spcBef>
                <a:spcPts val="5"/>
              </a:spcBef>
            </a:pPr>
            <a:r>
              <a:rPr dirty="0" sz="2400">
                <a:latin typeface="Microsoft YaHei"/>
                <a:cs typeface="Microsoft YaHei"/>
              </a:rPr>
              <a:t>二、</a:t>
            </a:r>
            <a:r>
              <a:rPr dirty="0" sz="2400" spc="-20">
                <a:latin typeface="Times New Roman"/>
                <a:cs typeface="Times New Roman"/>
              </a:rPr>
              <a:t>5G</a:t>
            </a:r>
            <a:r>
              <a:rPr dirty="0" sz="2400" spc="-5">
                <a:latin typeface="Microsoft YaHei"/>
                <a:cs typeface="Microsoft YaHei"/>
              </a:rPr>
              <a:t>系统无线网络规划过程</a:t>
            </a:r>
            <a:r>
              <a:rPr dirty="0" sz="2400">
                <a:latin typeface="Microsoft YaHei"/>
                <a:cs typeface="Microsoft YaHei"/>
              </a:rPr>
              <a:t>三、</a:t>
            </a:r>
            <a:r>
              <a:rPr dirty="0" sz="2400" spc="-20">
                <a:latin typeface="Times New Roman"/>
                <a:cs typeface="Times New Roman"/>
              </a:rPr>
              <a:t>5G</a:t>
            </a:r>
            <a:r>
              <a:rPr dirty="0" sz="2400" spc="-5">
                <a:latin typeface="Microsoft YaHei"/>
                <a:cs typeface="Microsoft YaHei"/>
              </a:rPr>
              <a:t>无线网络宏站组网策略</a:t>
            </a:r>
            <a:r>
              <a:rPr dirty="0" sz="2400">
                <a:latin typeface="Microsoft YaHei"/>
                <a:cs typeface="Microsoft YaHei"/>
              </a:rPr>
              <a:t>四、</a:t>
            </a:r>
            <a:r>
              <a:rPr dirty="0" sz="2400" spc="-20">
                <a:latin typeface="Times New Roman"/>
                <a:cs typeface="Times New Roman"/>
              </a:rPr>
              <a:t>5G</a:t>
            </a:r>
            <a:r>
              <a:rPr dirty="0" sz="2400" spc="-5">
                <a:latin typeface="Microsoft YaHei"/>
                <a:cs typeface="Microsoft YaHei"/>
              </a:rPr>
              <a:t>无线网络微站组网策略</a:t>
            </a:r>
            <a:r>
              <a:rPr dirty="0" sz="2400">
                <a:latin typeface="Microsoft YaHei"/>
                <a:cs typeface="Microsoft YaHei"/>
              </a:rPr>
              <a:t>五、</a:t>
            </a:r>
            <a:r>
              <a:rPr dirty="0" sz="2400" spc="-20">
                <a:latin typeface="Times New Roman"/>
                <a:cs typeface="Times New Roman"/>
              </a:rPr>
              <a:t>5G</a:t>
            </a:r>
            <a:r>
              <a:rPr dirty="0" sz="2400" spc="-5">
                <a:latin typeface="Microsoft YaHei"/>
                <a:cs typeface="Microsoft YaHei"/>
              </a:rPr>
              <a:t>无线网络室分组网策略</a:t>
            </a:r>
            <a:endParaRPr sz="2400">
              <a:latin typeface="Microsoft YaHei"/>
              <a:cs typeface="Microsoft YaHei"/>
            </a:endParaRPr>
          </a:p>
          <a:p>
            <a:pPr marL="12700">
              <a:lnSpc>
                <a:spcPct val="100000"/>
              </a:lnSpc>
              <a:spcBef>
                <a:spcPts val="2485"/>
              </a:spcBef>
            </a:pPr>
            <a:r>
              <a:rPr dirty="0" sz="2400" b="1">
                <a:solidFill>
                  <a:srgbClr val="FF0000"/>
                </a:solidFill>
                <a:latin typeface="Microsoft YaHei"/>
                <a:cs typeface="Microsoft YaHei"/>
              </a:rPr>
              <a:t>六、</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无线网络现场测试分享</a:t>
            </a:r>
            <a:endParaRPr sz="2400">
              <a:latin typeface="Microsoft YaHei"/>
              <a:cs typeface="Microsoft YaHei"/>
            </a:endParaRPr>
          </a:p>
        </p:txBody>
      </p:sp>
      <p:pic>
        <p:nvPicPr>
          <p:cNvPr id="23" name="object 23"/>
          <p:cNvPicPr/>
          <p:nvPr/>
        </p:nvPicPr>
        <p:blipFill>
          <a:blip r:embed="rId7" cstate="print"/>
          <a:stretch>
            <a:fillRect/>
          </a:stretch>
        </p:blipFill>
        <p:spPr>
          <a:xfrm>
            <a:off x="179400" y="971550"/>
            <a:ext cx="3097199" cy="3786212"/>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87637" y="125825"/>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用例测试工具介绍</a:t>
            </a:r>
          </a:p>
        </p:txBody>
      </p:sp>
      <p:sp>
        <p:nvSpPr>
          <p:cNvPr id="3" name="object 3" descr=""/>
          <p:cNvSpPr txBox="1"/>
          <p:nvPr/>
        </p:nvSpPr>
        <p:spPr>
          <a:xfrm>
            <a:off x="289877" y="922338"/>
            <a:ext cx="4663440" cy="269875"/>
          </a:xfrm>
          <a:prstGeom prst="rect">
            <a:avLst/>
          </a:prstGeom>
        </p:spPr>
        <p:txBody>
          <a:bodyPr wrap="square" lIns="0" tIns="12700" rIns="0" bIns="0" rtlCol="0" vert="horz">
            <a:spAutoFit/>
          </a:bodyPr>
          <a:lstStyle/>
          <a:p>
            <a:pPr marL="12700">
              <a:lnSpc>
                <a:spcPct val="100000"/>
              </a:lnSpc>
              <a:spcBef>
                <a:spcPts val="100"/>
              </a:spcBef>
            </a:pPr>
            <a:r>
              <a:rPr dirty="0" sz="1600">
                <a:latin typeface="Microsoft YaHei"/>
                <a:cs typeface="Microsoft YaHei"/>
              </a:rPr>
              <a:t>目前采用的终端为华为5G</a:t>
            </a:r>
            <a:r>
              <a:rPr dirty="0" sz="1600" spc="-45">
                <a:latin typeface="Microsoft YaHei"/>
                <a:cs typeface="Microsoft YaHei"/>
              </a:rPr>
              <a:t> </a:t>
            </a:r>
            <a:r>
              <a:rPr dirty="0" sz="1600" spc="-10">
                <a:latin typeface="Microsoft YaHei"/>
                <a:cs typeface="Microsoft YaHei"/>
              </a:rPr>
              <a:t>TUE</a:t>
            </a:r>
            <a:r>
              <a:rPr dirty="0" sz="1600" spc="-5">
                <a:latin typeface="Microsoft YaHei"/>
                <a:cs typeface="Microsoft YaHei"/>
              </a:rPr>
              <a:t>两台，</a:t>
            </a:r>
            <a:r>
              <a:rPr dirty="0" sz="1600" spc="-10">
                <a:latin typeface="Microsoft YaHei"/>
                <a:cs typeface="Microsoft YaHei"/>
              </a:rPr>
              <a:t>LTE</a:t>
            </a:r>
            <a:r>
              <a:rPr dirty="0" sz="1600" spc="-30">
                <a:latin typeface="Microsoft YaHei"/>
                <a:cs typeface="Microsoft YaHei"/>
              </a:rPr>
              <a:t> </a:t>
            </a:r>
            <a:r>
              <a:rPr dirty="0" sz="1600" spc="-10">
                <a:latin typeface="Microsoft YaHei"/>
                <a:cs typeface="Microsoft YaHei"/>
              </a:rPr>
              <a:t>TUE1</a:t>
            </a:r>
            <a:r>
              <a:rPr dirty="0" sz="1600" spc="-25">
                <a:latin typeface="Microsoft YaHei"/>
                <a:cs typeface="Microsoft YaHei"/>
              </a:rPr>
              <a:t>台。</a:t>
            </a:r>
            <a:endParaRPr sz="1600">
              <a:latin typeface="Microsoft YaHei"/>
              <a:cs typeface="Microsoft YaHei"/>
            </a:endParaRPr>
          </a:p>
        </p:txBody>
      </p:sp>
      <p:sp>
        <p:nvSpPr>
          <p:cNvPr id="4" name="object 4" descr=""/>
          <p:cNvSpPr txBox="1"/>
          <p:nvPr/>
        </p:nvSpPr>
        <p:spPr>
          <a:xfrm>
            <a:off x="6228699" y="4787964"/>
            <a:ext cx="839469" cy="269875"/>
          </a:xfrm>
          <a:prstGeom prst="rect">
            <a:avLst/>
          </a:prstGeom>
        </p:spPr>
        <p:txBody>
          <a:bodyPr wrap="square" lIns="0" tIns="12700" rIns="0" bIns="0" rtlCol="0" vert="horz">
            <a:spAutoFit/>
          </a:bodyPr>
          <a:lstStyle/>
          <a:p>
            <a:pPr marL="12700">
              <a:lnSpc>
                <a:spcPct val="100000"/>
              </a:lnSpc>
              <a:spcBef>
                <a:spcPts val="100"/>
              </a:spcBef>
            </a:pPr>
            <a:r>
              <a:rPr dirty="0" sz="1600" spc="-15">
                <a:latin typeface="Microsoft YaHei"/>
                <a:cs typeface="Microsoft YaHei"/>
              </a:rPr>
              <a:t>测试终端</a:t>
            </a:r>
            <a:endParaRPr sz="1600">
              <a:latin typeface="Microsoft YaHei"/>
              <a:cs typeface="Microsoft YaHei"/>
            </a:endParaRPr>
          </a:p>
        </p:txBody>
      </p:sp>
      <p:grpSp>
        <p:nvGrpSpPr>
          <p:cNvPr id="5" name="object 5" descr=""/>
          <p:cNvGrpSpPr/>
          <p:nvPr/>
        </p:nvGrpSpPr>
        <p:grpSpPr>
          <a:xfrm>
            <a:off x="5456238" y="1077912"/>
            <a:ext cx="2666365" cy="3706495"/>
            <a:chOff x="5456238" y="1077912"/>
            <a:chExt cx="2666365" cy="3706495"/>
          </a:xfrm>
        </p:grpSpPr>
        <p:pic>
          <p:nvPicPr>
            <p:cNvPr id="6" name="object 6"/>
            <p:cNvPicPr/>
            <p:nvPr/>
          </p:nvPicPr>
          <p:blipFill>
            <a:blip r:embed="rId2" cstate="print"/>
            <a:stretch>
              <a:fillRect/>
            </a:stretch>
          </p:blipFill>
          <p:spPr>
            <a:xfrm>
              <a:off x="5456238" y="1077912"/>
              <a:ext cx="2666249" cy="3706418"/>
            </a:xfrm>
            <a:prstGeom prst="rect">
              <a:avLst/>
            </a:prstGeom>
          </p:spPr>
        </p:pic>
        <p:pic>
          <p:nvPicPr>
            <p:cNvPr id="7" name="object 7"/>
            <p:cNvPicPr/>
            <p:nvPr/>
          </p:nvPicPr>
          <p:blipFill>
            <a:blip r:embed="rId3" cstate="print"/>
            <a:stretch>
              <a:fillRect/>
            </a:stretch>
          </p:blipFill>
          <p:spPr>
            <a:xfrm>
              <a:off x="5711825" y="1857375"/>
              <a:ext cx="1968499" cy="1626588"/>
            </a:xfrm>
            <a:prstGeom prst="rect">
              <a:avLst/>
            </a:prstGeom>
          </p:spPr>
        </p:pic>
        <p:sp>
          <p:nvSpPr>
            <p:cNvPr id="8" name="object 8" descr=""/>
            <p:cNvSpPr/>
            <p:nvPr/>
          </p:nvSpPr>
          <p:spPr>
            <a:xfrm>
              <a:off x="6650828" y="1926729"/>
              <a:ext cx="654050" cy="485140"/>
            </a:xfrm>
            <a:custGeom>
              <a:avLst/>
              <a:gdLst/>
              <a:ahLst/>
              <a:cxnLst/>
              <a:rect l="l" t="t" r="r" b="b"/>
              <a:pathLst>
                <a:path w="654050" h="485139">
                  <a:moveTo>
                    <a:pt x="0" y="0"/>
                  </a:moveTo>
                  <a:lnTo>
                    <a:pt x="80175" y="0"/>
                  </a:lnTo>
                  <a:lnTo>
                    <a:pt x="653923" y="484631"/>
                  </a:lnTo>
                </a:path>
              </a:pathLst>
            </a:custGeom>
            <a:ln w="28575">
              <a:solidFill>
                <a:srgbClr val="FFFF00"/>
              </a:solidFill>
            </a:ln>
          </p:spPr>
          <p:txBody>
            <a:bodyPr wrap="square" lIns="0" tIns="0" rIns="0" bIns="0" rtlCol="0"/>
            <a:lstStyle/>
            <a:p/>
          </p:txBody>
        </p:sp>
      </p:grpSp>
      <p:sp>
        <p:nvSpPr>
          <p:cNvPr id="9" name="object 9" descr=""/>
          <p:cNvSpPr txBox="1"/>
          <p:nvPr/>
        </p:nvSpPr>
        <p:spPr>
          <a:xfrm>
            <a:off x="5608637" y="1857375"/>
            <a:ext cx="962025" cy="370205"/>
          </a:xfrm>
          <a:prstGeom prst="rect">
            <a:avLst/>
          </a:prstGeom>
          <a:ln w="28575">
            <a:solidFill>
              <a:srgbClr val="FFFF00"/>
            </a:solidFill>
          </a:ln>
        </p:spPr>
        <p:txBody>
          <a:bodyPr wrap="square" lIns="0" tIns="37465" rIns="0" bIns="0" rtlCol="0" vert="horz">
            <a:spAutoFit/>
          </a:bodyPr>
          <a:lstStyle/>
          <a:p>
            <a:pPr marL="90805">
              <a:lnSpc>
                <a:spcPct val="100000"/>
              </a:lnSpc>
              <a:spcBef>
                <a:spcPts val="295"/>
              </a:spcBef>
            </a:pPr>
            <a:r>
              <a:rPr dirty="0" sz="1800" spc="-10">
                <a:solidFill>
                  <a:srgbClr val="FFC000"/>
                </a:solidFill>
                <a:latin typeface="Microsoft YaHei"/>
                <a:cs typeface="Microsoft YaHei"/>
              </a:rPr>
              <a:t>4G</a:t>
            </a:r>
            <a:r>
              <a:rPr dirty="0" sz="1800" spc="-25">
                <a:solidFill>
                  <a:srgbClr val="FFC000"/>
                </a:solidFill>
                <a:latin typeface="Microsoft YaHei"/>
                <a:cs typeface="Microsoft YaHei"/>
              </a:rPr>
              <a:t>终端</a:t>
            </a:r>
            <a:endParaRPr sz="1800">
              <a:latin typeface="Microsoft YaHei"/>
              <a:cs typeface="Microsoft YaHei"/>
            </a:endParaRPr>
          </a:p>
        </p:txBody>
      </p:sp>
      <p:sp>
        <p:nvSpPr>
          <p:cNvPr id="10" name="object 10" descr=""/>
          <p:cNvSpPr/>
          <p:nvPr/>
        </p:nvSpPr>
        <p:spPr>
          <a:xfrm>
            <a:off x="6466678" y="2687142"/>
            <a:ext cx="487045" cy="307975"/>
          </a:xfrm>
          <a:custGeom>
            <a:avLst/>
            <a:gdLst/>
            <a:ahLst/>
            <a:cxnLst/>
            <a:rect l="l" t="t" r="r" b="b"/>
            <a:pathLst>
              <a:path w="487045" h="307975">
                <a:moveTo>
                  <a:pt x="0" y="0"/>
                </a:moveTo>
                <a:lnTo>
                  <a:pt x="80175" y="0"/>
                </a:lnTo>
                <a:lnTo>
                  <a:pt x="486765" y="307378"/>
                </a:lnTo>
              </a:path>
            </a:pathLst>
          </a:custGeom>
          <a:ln w="28574">
            <a:solidFill>
              <a:srgbClr val="FFFF00"/>
            </a:solidFill>
          </a:ln>
        </p:spPr>
        <p:txBody>
          <a:bodyPr wrap="square" lIns="0" tIns="0" rIns="0" bIns="0" rtlCol="0"/>
          <a:lstStyle/>
          <a:p/>
        </p:txBody>
      </p:sp>
      <p:sp>
        <p:nvSpPr>
          <p:cNvPr id="11" name="object 11" descr=""/>
          <p:cNvSpPr txBox="1"/>
          <p:nvPr/>
        </p:nvSpPr>
        <p:spPr>
          <a:xfrm>
            <a:off x="5424487" y="2617787"/>
            <a:ext cx="962025" cy="370205"/>
          </a:xfrm>
          <a:prstGeom prst="rect">
            <a:avLst/>
          </a:prstGeom>
          <a:ln w="28575">
            <a:solidFill>
              <a:srgbClr val="FFFF00"/>
            </a:solidFill>
          </a:ln>
        </p:spPr>
        <p:txBody>
          <a:bodyPr wrap="square" lIns="0" tIns="37465" rIns="0" bIns="0" rtlCol="0" vert="horz">
            <a:spAutoFit/>
          </a:bodyPr>
          <a:lstStyle/>
          <a:p>
            <a:pPr marL="90805">
              <a:lnSpc>
                <a:spcPct val="100000"/>
              </a:lnSpc>
              <a:spcBef>
                <a:spcPts val="295"/>
              </a:spcBef>
            </a:pPr>
            <a:r>
              <a:rPr dirty="0" sz="1800" spc="-10">
                <a:solidFill>
                  <a:srgbClr val="FFC000"/>
                </a:solidFill>
                <a:latin typeface="Microsoft YaHei"/>
                <a:cs typeface="Microsoft YaHei"/>
              </a:rPr>
              <a:t>5G</a:t>
            </a:r>
            <a:r>
              <a:rPr dirty="0" sz="1800" spc="-25">
                <a:solidFill>
                  <a:srgbClr val="FFC000"/>
                </a:solidFill>
                <a:latin typeface="Microsoft YaHei"/>
                <a:cs typeface="Microsoft YaHei"/>
              </a:rPr>
              <a:t>终端</a:t>
            </a:r>
            <a:endParaRPr sz="1800">
              <a:latin typeface="Microsoft YaHei"/>
              <a:cs typeface="Microsoft YaHei"/>
            </a:endParaRPr>
          </a:p>
        </p:txBody>
      </p:sp>
      <p:pic>
        <p:nvPicPr>
          <p:cNvPr id="12" name="object 12"/>
          <p:cNvPicPr/>
          <p:nvPr/>
        </p:nvPicPr>
        <p:blipFill>
          <a:blip r:embed="rId4" cstate="print"/>
          <a:stretch>
            <a:fillRect/>
          </a:stretch>
        </p:blipFill>
        <p:spPr>
          <a:xfrm>
            <a:off x="323850" y="1235075"/>
            <a:ext cx="2741612" cy="2057399"/>
          </a:xfrm>
          <a:prstGeom prst="rect">
            <a:avLst/>
          </a:prstGeom>
        </p:spPr>
      </p:pic>
      <p:pic>
        <p:nvPicPr>
          <p:cNvPr id="13" name="object 13"/>
          <p:cNvPicPr/>
          <p:nvPr/>
        </p:nvPicPr>
        <p:blipFill>
          <a:blip r:embed="rId5" cstate="print"/>
          <a:stretch>
            <a:fillRect/>
          </a:stretch>
        </p:blipFill>
        <p:spPr>
          <a:xfrm>
            <a:off x="2987675" y="3359150"/>
            <a:ext cx="2316162" cy="1738312"/>
          </a:xfrm>
          <a:prstGeom prst="rect">
            <a:avLst/>
          </a:prstGeom>
        </p:spPr>
      </p:pic>
      <p:sp>
        <p:nvSpPr>
          <p:cNvPr id="14" name="object 14" descr=""/>
          <p:cNvSpPr txBox="1"/>
          <p:nvPr/>
        </p:nvSpPr>
        <p:spPr>
          <a:xfrm>
            <a:off x="3282315" y="3012313"/>
            <a:ext cx="1625600" cy="299720"/>
          </a:xfrm>
          <a:prstGeom prst="rect">
            <a:avLst/>
          </a:prstGeom>
        </p:spPr>
        <p:txBody>
          <a:bodyPr wrap="square" lIns="0" tIns="12700" rIns="0" bIns="0" rtlCol="0" vert="horz">
            <a:spAutoFit/>
          </a:bodyPr>
          <a:lstStyle/>
          <a:p>
            <a:pPr marL="12700">
              <a:lnSpc>
                <a:spcPct val="100000"/>
              </a:lnSpc>
              <a:spcBef>
                <a:spcPts val="100"/>
              </a:spcBef>
            </a:pPr>
            <a:r>
              <a:rPr dirty="0" sz="1800">
                <a:latin typeface="Microsoft YaHei"/>
                <a:cs typeface="Microsoft YaHei"/>
              </a:rPr>
              <a:t>信号源（加扰</a:t>
            </a:r>
            <a:r>
              <a:rPr dirty="0" sz="1800" spc="-50">
                <a:latin typeface="Microsoft YaHei"/>
                <a:cs typeface="Microsoft YaHei"/>
              </a:rPr>
              <a:t>）</a:t>
            </a:r>
            <a:endParaRPr sz="1800">
              <a:latin typeface="Microsoft YaHei"/>
              <a:cs typeface="Microsoft YaHei"/>
            </a:endParaRPr>
          </a:p>
        </p:txBody>
      </p:sp>
      <p:sp>
        <p:nvSpPr>
          <p:cNvPr id="15" name="object 15" descr=""/>
          <p:cNvSpPr txBox="1"/>
          <p:nvPr/>
        </p:nvSpPr>
        <p:spPr>
          <a:xfrm>
            <a:off x="899388" y="3388359"/>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测试现场</a:t>
            </a:r>
            <a:endParaRPr sz="1800">
              <a:latin typeface="SimSun"/>
              <a:cs typeface="SimSun"/>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9115" y="125825"/>
            <a:ext cx="605536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35"/>
              <a:t>清频测试</a:t>
            </a:r>
            <a:r>
              <a:rPr dirty="0" spc="-30"/>
              <a:t>（</a:t>
            </a:r>
            <a:r>
              <a:rPr dirty="0" spc="-30">
                <a:latin typeface="Times New Roman"/>
                <a:cs typeface="Times New Roman"/>
              </a:rPr>
              <a:t>SA/NSA</a:t>
            </a:r>
            <a:r>
              <a:rPr dirty="0" spc="-30"/>
              <a:t>）</a:t>
            </a:r>
            <a:r>
              <a:rPr dirty="0" spc="-45"/>
              <a:t>工具使用</a:t>
            </a:r>
          </a:p>
        </p:txBody>
      </p:sp>
      <p:sp>
        <p:nvSpPr>
          <p:cNvPr id="3" name="object 3" descr=""/>
          <p:cNvSpPr txBox="1"/>
          <p:nvPr/>
        </p:nvSpPr>
        <p:spPr>
          <a:xfrm>
            <a:off x="261302" y="4254436"/>
            <a:ext cx="6750050" cy="452120"/>
          </a:xfrm>
          <a:prstGeom prst="rect">
            <a:avLst/>
          </a:prstGeom>
        </p:spPr>
        <p:txBody>
          <a:bodyPr wrap="square" lIns="0" tIns="12065" rIns="0" bIns="0" rtlCol="0" vert="horz">
            <a:spAutoFit/>
          </a:bodyPr>
          <a:lstStyle/>
          <a:p>
            <a:pPr marL="12700">
              <a:lnSpc>
                <a:spcPct val="100000"/>
              </a:lnSpc>
              <a:spcBef>
                <a:spcPts val="95"/>
              </a:spcBef>
            </a:pPr>
            <a:r>
              <a:rPr dirty="0" sz="1400" spc="-10">
                <a:latin typeface="Microsoft YaHei"/>
                <a:cs typeface="Microsoft YaHei"/>
              </a:rPr>
              <a:t>1</a:t>
            </a:r>
            <a:r>
              <a:rPr dirty="0" sz="1400" spc="-25">
                <a:latin typeface="Microsoft YaHei"/>
                <a:cs typeface="Microsoft YaHei"/>
              </a:rPr>
              <a:t>、硬件类似自动路测仪，软件需要笔记本远程登录界面，进行全频段的扫频测试</a:t>
            </a:r>
            <a:endParaRPr sz="1400">
              <a:latin typeface="Microsoft YaHei"/>
              <a:cs typeface="Microsoft YaHei"/>
            </a:endParaRPr>
          </a:p>
          <a:p>
            <a:pPr marL="12700">
              <a:lnSpc>
                <a:spcPct val="100000"/>
              </a:lnSpc>
            </a:pPr>
            <a:r>
              <a:rPr dirty="0" sz="1400">
                <a:latin typeface="Arial MT"/>
                <a:cs typeface="Arial MT"/>
              </a:rPr>
              <a:t>2</a:t>
            </a:r>
            <a:r>
              <a:rPr dirty="0" sz="1400" spc="-20">
                <a:latin typeface="Microsoft YaHei"/>
                <a:cs typeface="Microsoft YaHei"/>
              </a:rPr>
              <a:t>、测试完后需要人工处理，发出数据，制作成</a:t>
            </a:r>
            <a:r>
              <a:rPr dirty="0" sz="1400" spc="-10">
                <a:latin typeface="Arial MT"/>
                <a:cs typeface="Arial MT"/>
              </a:rPr>
              <a:t>EXCLE</a:t>
            </a:r>
            <a:r>
              <a:rPr dirty="0" sz="1400" spc="-25">
                <a:latin typeface="Microsoft YaHei"/>
                <a:cs typeface="Microsoft YaHei"/>
              </a:rPr>
              <a:t>表，进行数据筛选和图层制作。</a:t>
            </a:r>
            <a:endParaRPr sz="1400">
              <a:latin typeface="Microsoft YaHei"/>
              <a:cs typeface="Microsoft YaHei"/>
            </a:endParaRPr>
          </a:p>
        </p:txBody>
      </p:sp>
      <p:pic>
        <p:nvPicPr>
          <p:cNvPr id="4" name="object 4"/>
          <p:cNvPicPr/>
          <p:nvPr/>
        </p:nvPicPr>
        <p:blipFill>
          <a:blip r:embed="rId2" cstate="print"/>
          <a:stretch>
            <a:fillRect/>
          </a:stretch>
        </p:blipFill>
        <p:spPr>
          <a:xfrm>
            <a:off x="323850" y="1058862"/>
            <a:ext cx="3960812" cy="2881311"/>
          </a:xfrm>
          <a:prstGeom prst="rect">
            <a:avLst/>
          </a:prstGeom>
        </p:spPr>
      </p:pic>
      <p:grpSp>
        <p:nvGrpSpPr>
          <p:cNvPr id="5" name="object 5"/>
          <p:cNvGrpSpPr/>
          <p:nvPr/>
        </p:nvGrpSpPr>
        <p:grpSpPr>
          <a:xfrm>
            <a:off x="4352925" y="1049337"/>
            <a:ext cx="3900804" cy="1964055"/>
            <a:chOff x="4352925" y="1049337"/>
            <a:chExt cx="3900804" cy="1964055"/>
          </a:xfrm>
        </p:grpSpPr>
        <p:pic>
          <p:nvPicPr>
            <p:cNvPr id="6" name="object 6"/>
            <p:cNvPicPr/>
            <p:nvPr/>
          </p:nvPicPr>
          <p:blipFill>
            <a:blip r:embed="rId3" cstate="print"/>
            <a:stretch>
              <a:fillRect/>
            </a:stretch>
          </p:blipFill>
          <p:spPr>
            <a:xfrm>
              <a:off x="4362450" y="1058862"/>
              <a:ext cx="3881437" cy="1944686"/>
            </a:xfrm>
            <a:prstGeom prst="rect">
              <a:avLst/>
            </a:prstGeom>
          </p:spPr>
        </p:pic>
        <p:sp>
          <p:nvSpPr>
            <p:cNvPr id="7" name="object 7" descr=""/>
            <p:cNvSpPr/>
            <p:nvPr/>
          </p:nvSpPr>
          <p:spPr>
            <a:xfrm>
              <a:off x="4357687" y="1054100"/>
              <a:ext cx="3891279" cy="1954530"/>
            </a:xfrm>
            <a:custGeom>
              <a:avLst/>
              <a:gdLst/>
              <a:ahLst/>
              <a:cxnLst/>
              <a:rect l="l" t="t" r="r" b="b"/>
              <a:pathLst>
                <a:path w="3891279" h="1954530">
                  <a:moveTo>
                    <a:pt x="0" y="0"/>
                  </a:moveTo>
                  <a:lnTo>
                    <a:pt x="3890962" y="0"/>
                  </a:lnTo>
                  <a:lnTo>
                    <a:pt x="3890962" y="1954212"/>
                  </a:lnTo>
                  <a:lnTo>
                    <a:pt x="0" y="1954212"/>
                  </a:lnTo>
                  <a:lnTo>
                    <a:pt x="0" y="0"/>
                  </a:lnTo>
                  <a:close/>
                </a:path>
              </a:pathLst>
            </a:custGeom>
            <a:ln w="9525">
              <a:solidFill>
                <a:srgbClr val="000000"/>
              </a:solidFill>
            </a:ln>
          </p:spPr>
          <p:txBody>
            <a:bodyPr wrap="square" lIns="0" tIns="0" rIns="0" bIns="0" rtlCol="0"/>
            <a:lstStyle/>
            <a:p/>
          </p:txBody>
        </p:sp>
      </p:grpSp>
      <p:pic>
        <p:nvPicPr>
          <p:cNvPr id="8" name="object 8"/>
          <p:cNvPicPr/>
          <p:nvPr/>
        </p:nvPicPr>
        <p:blipFill>
          <a:blip r:embed="rId4" cstate="print"/>
          <a:stretch>
            <a:fillRect/>
          </a:stretch>
        </p:blipFill>
        <p:spPr>
          <a:xfrm>
            <a:off x="4362450" y="3057525"/>
            <a:ext cx="3881437" cy="1027112"/>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69012" y="109156"/>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网络测试软件工具</a:t>
            </a:r>
          </a:p>
        </p:txBody>
      </p:sp>
      <p:sp>
        <p:nvSpPr>
          <p:cNvPr id="3" name="object 3" descr=""/>
          <p:cNvSpPr txBox="1"/>
          <p:nvPr/>
        </p:nvSpPr>
        <p:spPr>
          <a:xfrm>
            <a:off x="1661763" y="1673923"/>
            <a:ext cx="5427345" cy="2692400"/>
          </a:xfrm>
          <a:prstGeom prst="rect">
            <a:avLst/>
          </a:prstGeom>
        </p:spPr>
        <p:txBody>
          <a:bodyPr wrap="square" lIns="0" tIns="0" rIns="0" bIns="0" rtlCol="0" vert="horz">
            <a:spAutoFit/>
          </a:bodyPr>
          <a:lstStyle/>
          <a:p>
            <a:pPr>
              <a:lnSpc>
                <a:spcPts val="2540"/>
              </a:lnSpc>
              <a:tabLst>
                <a:tab pos="2277745" algn="l"/>
                <a:tab pos="5271770" algn="l"/>
              </a:tabLst>
            </a:pPr>
            <a:r>
              <a:rPr dirty="0" baseline="-33333" sz="3000" spc="-37" b="1">
                <a:latin typeface="Arial"/>
                <a:cs typeface="Arial"/>
              </a:rPr>
              <a:t>Tue</a:t>
            </a:r>
            <a:r>
              <a:rPr dirty="0" baseline="-33333" sz="3000" b="1">
                <a:latin typeface="Arial"/>
                <a:cs typeface="Arial"/>
              </a:rPr>
              <a:t>	</a:t>
            </a:r>
            <a:r>
              <a:rPr dirty="0" sz="2400">
                <a:latin typeface="SimSun"/>
                <a:cs typeface="SimSun"/>
              </a:rPr>
              <a:t>测试软</a:t>
            </a:r>
            <a:r>
              <a:rPr dirty="0" sz="2400" spc="-50">
                <a:latin typeface="SimSun"/>
                <a:cs typeface="SimSun"/>
              </a:rPr>
              <a:t>件</a:t>
            </a:r>
            <a:r>
              <a:rPr dirty="0" sz="2400">
                <a:latin typeface="SimSun"/>
                <a:cs typeface="SimSun"/>
              </a:rPr>
              <a:t>	</a:t>
            </a:r>
            <a:r>
              <a:rPr dirty="0" baseline="-19444" sz="3000" spc="-75" b="1">
                <a:latin typeface="Arial"/>
                <a:cs typeface="Arial"/>
              </a:rPr>
              <a:t>L</a:t>
            </a:r>
            <a:endParaRPr baseline="-19444" sz="3000">
              <a:latin typeface="Arial"/>
              <a:cs typeface="Arial"/>
            </a:endParaRPr>
          </a:p>
          <a:p>
            <a:pPr algn="ctr" marL="350520">
              <a:lnSpc>
                <a:spcPct val="100000"/>
              </a:lnSpc>
            </a:pPr>
            <a:r>
              <a:rPr dirty="0" sz="2400" spc="-15">
                <a:latin typeface="SimSun"/>
                <a:cs typeface="SimSun"/>
              </a:rPr>
              <a:t>工具介绍</a:t>
            </a:r>
            <a:endParaRPr sz="2400">
              <a:latin typeface="SimSun"/>
              <a:cs typeface="SimSun"/>
            </a:endParaRPr>
          </a:p>
          <a:p>
            <a:pPr>
              <a:lnSpc>
                <a:spcPct val="100000"/>
              </a:lnSpc>
            </a:pPr>
            <a:endParaRPr sz="2400">
              <a:latin typeface="SimSun"/>
              <a:cs typeface="SimSun"/>
            </a:endParaRPr>
          </a:p>
          <a:p>
            <a:pPr>
              <a:lnSpc>
                <a:spcPct val="100000"/>
              </a:lnSpc>
            </a:pPr>
            <a:endParaRPr sz="2400">
              <a:latin typeface="SimSun"/>
              <a:cs typeface="SimSun"/>
            </a:endParaRPr>
          </a:p>
          <a:p>
            <a:pPr>
              <a:lnSpc>
                <a:spcPct val="100000"/>
              </a:lnSpc>
            </a:pPr>
            <a:endParaRPr sz="2400">
              <a:latin typeface="SimSun"/>
              <a:cs typeface="SimSun"/>
            </a:endParaRPr>
          </a:p>
          <a:p>
            <a:pPr>
              <a:lnSpc>
                <a:spcPct val="100000"/>
              </a:lnSpc>
              <a:spcBef>
                <a:spcPts val="1050"/>
              </a:spcBef>
            </a:pPr>
            <a:endParaRPr sz="2400">
              <a:latin typeface="SimSun"/>
              <a:cs typeface="SimSun"/>
            </a:endParaRPr>
          </a:p>
          <a:p>
            <a:pPr algn="ctr" marL="172085">
              <a:lnSpc>
                <a:spcPct val="100000"/>
              </a:lnSpc>
              <a:tabLst>
                <a:tab pos="3537585" algn="l"/>
              </a:tabLst>
            </a:pPr>
            <a:r>
              <a:rPr dirty="0" sz="2000" spc="-10" b="1">
                <a:latin typeface="Arial"/>
                <a:cs typeface="Arial"/>
              </a:rPr>
              <a:t>Wireshark</a:t>
            </a:r>
            <a:r>
              <a:rPr dirty="0" sz="2000" b="1">
                <a:latin typeface="Arial"/>
                <a:cs typeface="Arial"/>
              </a:rPr>
              <a:t>	</a:t>
            </a:r>
            <a:r>
              <a:rPr dirty="0" baseline="19444" sz="3000" spc="-37" b="1">
                <a:latin typeface="Arial"/>
                <a:cs typeface="Arial"/>
              </a:rPr>
              <a:t>ATP</a:t>
            </a:r>
            <a:endParaRPr baseline="19444" sz="3000">
              <a:latin typeface="Arial"/>
              <a:cs typeface="Arial"/>
            </a:endParaRPr>
          </a:p>
        </p:txBody>
      </p:sp>
      <p:grpSp>
        <p:nvGrpSpPr>
          <p:cNvPr id="4" name="object 4" descr=""/>
          <p:cNvGrpSpPr/>
          <p:nvPr/>
        </p:nvGrpSpPr>
        <p:grpSpPr>
          <a:xfrm>
            <a:off x="1143000" y="793750"/>
            <a:ext cx="6781800" cy="4132579"/>
            <a:chOff x="1143000" y="793750"/>
            <a:chExt cx="6781800" cy="4132579"/>
          </a:xfrm>
        </p:grpSpPr>
        <p:pic>
          <p:nvPicPr>
            <p:cNvPr id="5" name="object 5" descr=""/>
            <p:cNvPicPr/>
            <p:nvPr/>
          </p:nvPicPr>
          <p:blipFill>
            <a:blip r:embed="rId2" cstate="print"/>
            <a:stretch>
              <a:fillRect/>
            </a:stretch>
          </p:blipFill>
          <p:spPr>
            <a:xfrm>
              <a:off x="2438400" y="3486150"/>
              <a:ext cx="1439862" cy="1439862"/>
            </a:xfrm>
            <a:prstGeom prst="rect">
              <a:avLst/>
            </a:prstGeom>
          </p:spPr>
        </p:pic>
        <p:pic>
          <p:nvPicPr>
            <p:cNvPr id="6" name="object 6" descr=""/>
            <p:cNvPicPr/>
            <p:nvPr/>
          </p:nvPicPr>
          <p:blipFill>
            <a:blip r:embed="rId3" cstate="print"/>
            <a:stretch>
              <a:fillRect/>
            </a:stretch>
          </p:blipFill>
          <p:spPr>
            <a:xfrm>
              <a:off x="2533650" y="3579812"/>
              <a:ext cx="1249362" cy="1254125"/>
            </a:xfrm>
            <a:prstGeom prst="rect">
              <a:avLst/>
            </a:prstGeom>
          </p:spPr>
        </p:pic>
        <p:sp>
          <p:nvSpPr>
            <p:cNvPr id="7" name="object 7" descr=""/>
            <p:cNvSpPr/>
            <p:nvPr/>
          </p:nvSpPr>
          <p:spPr>
            <a:xfrm>
              <a:off x="2595562" y="3643318"/>
              <a:ext cx="1125855" cy="1125855"/>
            </a:xfrm>
            <a:custGeom>
              <a:avLst/>
              <a:gdLst/>
              <a:ahLst/>
              <a:cxnLst/>
              <a:rect l="l" t="t" r="r" b="b"/>
              <a:pathLst>
                <a:path w="1125854" h="1125854">
                  <a:moveTo>
                    <a:pt x="562775" y="0"/>
                  </a:moveTo>
                  <a:lnTo>
                    <a:pt x="514201" y="2065"/>
                  </a:lnTo>
                  <a:lnTo>
                    <a:pt x="466788" y="8150"/>
                  </a:lnTo>
                  <a:lnTo>
                    <a:pt x="420693" y="18084"/>
                  </a:lnTo>
                  <a:lnTo>
                    <a:pt x="376083" y="31699"/>
                  </a:lnTo>
                  <a:lnTo>
                    <a:pt x="333128" y="48826"/>
                  </a:lnTo>
                  <a:lnTo>
                    <a:pt x="291996" y="69296"/>
                  </a:lnTo>
                  <a:lnTo>
                    <a:pt x="252855" y="92940"/>
                  </a:lnTo>
                  <a:lnTo>
                    <a:pt x="215875" y="119589"/>
                  </a:lnTo>
                  <a:lnTo>
                    <a:pt x="181224" y="149074"/>
                  </a:lnTo>
                  <a:lnTo>
                    <a:pt x="149072" y="181227"/>
                  </a:lnTo>
                  <a:lnTo>
                    <a:pt x="119587" y="215879"/>
                  </a:lnTo>
                  <a:lnTo>
                    <a:pt x="92938" y="252859"/>
                  </a:lnTo>
                  <a:lnTo>
                    <a:pt x="69295" y="292001"/>
                  </a:lnTo>
                  <a:lnTo>
                    <a:pt x="48825" y="333134"/>
                  </a:lnTo>
                  <a:lnTo>
                    <a:pt x="31698" y="376090"/>
                  </a:lnTo>
                  <a:lnTo>
                    <a:pt x="18084" y="420699"/>
                  </a:lnTo>
                  <a:lnTo>
                    <a:pt x="8149" y="466794"/>
                  </a:lnTo>
                  <a:lnTo>
                    <a:pt x="2065" y="514204"/>
                  </a:lnTo>
                  <a:lnTo>
                    <a:pt x="0" y="562762"/>
                  </a:lnTo>
                  <a:lnTo>
                    <a:pt x="2065" y="611320"/>
                  </a:lnTo>
                  <a:lnTo>
                    <a:pt x="8150" y="658730"/>
                  </a:lnTo>
                  <a:lnTo>
                    <a:pt x="18084" y="704825"/>
                  </a:lnTo>
                  <a:lnTo>
                    <a:pt x="31699" y="749436"/>
                  </a:lnTo>
                  <a:lnTo>
                    <a:pt x="48826" y="792392"/>
                  </a:lnTo>
                  <a:lnTo>
                    <a:pt x="69296" y="833526"/>
                  </a:lnTo>
                  <a:lnTo>
                    <a:pt x="92940" y="872668"/>
                  </a:lnTo>
                  <a:lnTo>
                    <a:pt x="119590" y="909650"/>
                  </a:lnTo>
                  <a:lnTo>
                    <a:pt x="149076" y="944302"/>
                  </a:lnTo>
                  <a:lnTo>
                    <a:pt x="181229" y="976456"/>
                  </a:lnTo>
                  <a:lnTo>
                    <a:pt x="215881" y="1005943"/>
                  </a:lnTo>
                  <a:lnTo>
                    <a:pt x="252863" y="1032593"/>
                  </a:lnTo>
                  <a:lnTo>
                    <a:pt x="292005" y="1056238"/>
                  </a:lnTo>
                  <a:lnTo>
                    <a:pt x="333139" y="1076709"/>
                  </a:lnTo>
                  <a:lnTo>
                    <a:pt x="376096" y="1093836"/>
                  </a:lnTo>
                  <a:lnTo>
                    <a:pt x="420707" y="1107452"/>
                  </a:lnTo>
                  <a:lnTo>
                    <a:pt x="466803" y="1117387"/>
                  </a:lnTo>
                  <a:lnTo>
                    <a:pt x="514215" y="1123471"/>
                  </a:lnTo>
                  <a:lnTo>
                    <a:pt x="562775" y="1125537"/>
                  </a:lnTo>
                  <a:lnTo>
                    <a:pt x="611332" y="1123471"/>
                  </a:lnTo>
                  <a:lnTo>
                    <a:pt x="658743" y="1117387"/>
                  </a:lnTo>
                  <a:lnTo>
                    <a:pt x="704837" y="1107452"/>
                  </a:lnTo>
                  <a:lnTo>
                    <a:pt x="749447" y="1093836"/>
                  </a:lnTo>
                  <a:lnTo>
                    <a:pt x="792403" y="1076709"/>
                  </a:lnTo>
                  <a:lnTo>
                    <a:pt x="833536" y="1056238"/>
                  </a:lnTo>
                  <a:lnTo>
                    <a:pt x="872677" y="1032593"/>
                  </a:lnTo>
                  <a:lnTo>
                    <a:pt x="909658" y="1005943"/>
                  </a:lnTo>
                  <a:lnTo>
                    <a:pt x="944309" y="976456"/>
                  </a:lnTo>
                  <a:lnTo>
                    <a:pt x="976462" y="944302"/>
                  </a:lnTo>
                  <a:lnTo>
                    <a:pt x="1005948" y="909650"/>
                  </a:lnTo>
                  <a:lnTo>
                    <a:pt x="1032597" y="872668"/>
                  </a:lnTo>
                  <a:lnTo>
                    <a:pt x="1056241" y="833526"/>
                  </a:lnTo>
                  <a:lnTo>
                    <a:pt x="1076711" y="792392"/>
                  </a:lnTo>
                  <a:lnTo>
                    <a:pt x="1093838" y="749436"/>
                  </a:lnTo>
                  <a:lnTo>
                    <a:pt x="1107453" y="704825"/>
                  </a:lnTo>
                  <a:lnTo>
                    <a:pt x="1117387" y="658730"/>
                  </a:lnTo>
                  <a:lnTo>
                    <a:pt x="1123471" y="611320"/>
                  </a:lnTo>
                  <a:lnTo>
                    <a:pt x="1125537" y="562762"/>
                  </a:lnTo>
                  <a:lnTo>
                    <a:pt x="1123471" y="514204"/>
                  </a:lnTo>
                  <a:lnTo>
                    <a:pt x="1117387" y="466794"/>
                  </a:lnTo>
                  <a:lnTo>
                    <a:pt x="1107453" y="420699"/>
                  </a:lnTo>
                  <a:lnTo>
                    <a:pt x="1093838" y="376090"/>
                  </a:lnTo>
                  <a:lnTo>
                    <a:pt x="1076711" y="333134"/>
                  </a:lnTo>
                  <a:lnTo>
                    <a:pt x="1056241" y="292001"/>
                  </a:lnTo>
                  <a:lnTo>
                    <a:pt x="1032597" y="252859"/>
                  </a:lnTo>
                  <a:lnTo>
                    <a:pt x="1005948" y="215879"/>
                  </a:lnTo>
                  <a:lnTo>
                    <a:pt x="976462" y="181227"/>
                  </a:lnTo>
                  <a:lnTo>
                    <a:pt x="944309" y="149074"/>
                  </a:lnTo>
                  <a:lnTo>
                    <a:pt x="909658" y="119589"/>
                  </a:lnTo>
                  <a:lnTo>
                    <a:pt x="872677" y="92940"/>
                  </a:lnTo>
                  <a:lnTo>
                    <a:pt x="833536" y="69296"/>
                  </a:lnTo>
                  <a:lnTo>
                    <a:pt x="792403" y="48826"/>
                  </a:lnTo>
                  <a:lnTo>
                    <a:pt x="749447" y="31699"/>
                  </a:lnTo>
                  <a:lnTo>
                    <a:pt x="704837" y="18084"/>
                  </a:lnTo>
                  <a:lnTo>
                    <a:pt x="658743" y="8150"/>
                  </a:lnTo>
                  <a:lnTo>
                    <a:pt x="611332" y="2065"/>
                  </a:lnTo>
                  <a:lnTo>
                    <a:pt x="562775" y="0"/>
                  </a:lnTo>
                  <a:close/>
                </a:path>
              </a:pathLst>
            </a:custGeom>
            <a:solidFill>
              <a:srgbClr val="000000"/>
            </a:solidFill>
          </p:spPr>
          <p:txBody>
            <a:bodyPr wrap="square" lIns="0" tIns="0" rIns="0" bIns="0" rtlCol="0"/>
            <a:lstStyle/>
            <a:p/>
          </p:txBody>
        </p:sp>
        <p:pic>
          <p:nvPicPr>
            <p:cNvPr id="8" name="object 8" descr=""/>
            <p:cNvPicPr/>
            <p:nvPr/>
          </p:nvPicPr>
          <p:blipFill>
            <a:blip r:embed="rId4" cstate="print"/>
            <a:stretch>
              <a:fillRect/>
            </a:stretch>
          </p:blipFill>
          <p:spPr>
            <a:xfrm>
              <a:off x="2613025" y="3660775"/>
              <a:ext cx="1090612" cy="1092200"/>
            </a:xfrm>
            <a:prstGeom prst="rect">
              <a:avLst/>
            </a:prstGeom>
          </p:spPr>
        </p:pic>
        <p:pic>
          <p:nvPicPr>
            <p:cNvPr id="9" name="object 9" descr=""/>
            <p:cNvPicPr/>
            <p:nvPr/>
          </p:nvPicPr>
          <p:blipFill>
            <a:blip r:embed="rId5" cstate="print"/>
            <a:stretch>
              <a:fillRect/>
            </a:stretch>
          </p:blipFill>
          <p:spPr>
            <a:xfrm>
              <a:off x="5715000" y="1733550"/>
              <a:ext cx="609600" cy="457200"/>
            </a:xfrm>
            <a:prstGeom prst="rect">
              <a:avLst/>
            </a:prstGeom>
          </p:spPr>
        </p:pic>
        <p:pic>
          <p:nvPicPr>
            <p:cNvPr id="10" name="object 10" descr=""/>
            <p:cNvPicPr/>
            <p:nvPr/>
          </p:nvPicPr>
          <p:blipFill>
            <a:blip r:embed="rId6" cstate="print"/>
            <a:stretch>
              <a:fillRect/>
            </a:stretch>
          </p:blipFill>
          <p:spPr>
            <a:xfrm>
              <a:off x="3543693" y="2955721"/>
              <a:ext cx="401485" cy="569480"/>
            </a:xfrm>
            <a:prstGeom prst="rect">
              <a:avLst/>
            </a:prstGeom>
          </p:spPr>
        </p:pic>
        <p:pic>
          <p:nvPicPr>
            <p:cNvPr id="11" name="object 11" descr=""/>
            <p:cNvPicPr/>
            <p:nvPr/>
          </p:nvPicPr>
          <p:blipFill>
            <a:blip r:embed="rId7" cstate="print"/>
            <a:stretch>
              <a:fillRect/>
            </a:stretch>
          </p:blipFill>
          <p:spPr>
            <a:xfrm>
              <a:off x="2743200" y="1733550"/>
              <a:ext cx="609600" cy="457200"/>
            </a:xfrm>
            <a:prstGeom prst="rect">
              <a:avLst/>
            </a:prstGeom>
          </p:spPr>
        </p:pic>
        <p:pic>
          <p:nvPicPr>
            <p:cNvPr id="12" name="object 12" descr=""/>
            <p:cNvPicPr/>
            <p:nvPr/>
          </p:nvPicPr>
          <p:blipFill>
            <a:blip r:embed="rId8" cstate="print"/>
            <a:stretch>
              <a:fillRect/>
            </a:stretch>
          </p:blipFill>
          <p:spPr>
            <a:xfrm>
              <a:off x="5084203" y="2977502"/>
              <a:ext cx="444665" cy="514413"/>
            </a:xfrm>
            <a:prstGeom prst="rect">
              <a:avLst/>
            </a:prstGeom>
          </p:spPr>
        </p:pic>
        <p:pic>
          <p:nvPicPr>
            <p:cNvPr id="13" name="object 13" descr=""/>
            <p:cNvPicPr/>
            <p:nvPr/>
          </p:nvPicPr>
          <p:blipFill>
            <a:blip r:embed="rId9" cstate="print"/>
            <a:stretch>
              <a:fillRect/>
            </a:stretch>
          </p:blipFill>
          <p:spPr>
            <a:xfrm>
              <a:off x="1143000" y="1200150"/>
              <a:ext cx="1446212" cy="1524012"/>
            </a:xfrm>
            <a:prstGeom prst="rect">
              <a:avLst/>
            </a:prstGeom>
          </p:spPr>
        </p:pic>
        <p:pic>
          <p:nvPicPr>
            <p:cNvPr id="14" name="object 14" descr=""/>
            <p:cNvPicPr/>
            <p:nvPr/>
          </p:nvPicPr>
          <p:blipFill>
            <a:blip r:embed="rId10" cstate="print"/>
            <a:stretch>
              <a:fillRect/>
            </a:stretch>
          </p:blipFill>
          <p:spPr>
            <a:xfrm>
              <a:off x="1236954" y="1299159"/>
              <a:ext cx="1258303" cy="1325981"/>
            </a:xfrm>
            <a:prstGeom prst="rect">
              <a:avLst/>
            </a:prstGeom>
          </p:spPr>
        </p:pic>
        <p:sp>
          <p:nvSpPr>
            <p:cNvPr id="15" name="object 15" descr=""/>
            <p:cNvSpPr/>
            <p:nvPr/>
          </p:nvSpPr>
          <p:spPr>
            <a:xfrm>
              <a:off x="1305741" y="1366342"/>
              <a:ext cx="1130935" cy="1191895"/>
            </a:xfrm>
            <a:custGeom>
              <a:avLst/>
              <a:gdLst/>
              <a:ahLst/>
              <a:cxnLst/>
              <a:rect l="l" t="t" r="r" b="b"/>
              <a:pathLst>
                <a:path w="1130935" h="1191895">
                  <a:moveTo>
                    <a:pt x="565404" y="0"/>
                  </a:moveTo>
                  <a:lnTo>
                    <a:pt x="519031" y="1975"/>
                  </a:lnTo>
                  <a:lnTo>
                    <a:pt x="473691" y="7798"/>
                  </a:lnTo>
                  <a:lnTo>
                    <a:pt x="429529" y="17315"/>
                  </a:lnTo>
                  <a:lnTo>
                    <a:pt x="386691" y="30374"/>
                  </a:lnTo>
                  <a:lnTo>
                    <a:pt x="345321" y="46821"/>
                  </a:lnTo>
                  <a:lnTo>
                    <a:pt x="305566" y="66502"/>
                  </a:lnTo>
                  <a:lnTo>
                    <a:pt x="267571" y="89265"/>
                  </a:lnTo>
                  <a:lnTo>
                    <a:pt x="231482" y="114955"/>
                  </a:lnTo>
                  <a:lnTo>
                    <a:pt x="197443" y="143421"/>
                  </a:lnTo>
                  <a:lnTo>
                    <a:pt x="165601" y="174507"/>
                  </a:lnTo>
                  <a:lnTo>
                    <a:pt x="136101" y="208061"/>
                  </a:lnTo>
                  <a:lnTo>
                    <a:pt x="109089" y="243930"/>
                  </a:lnTo>
                  <a:lnTo>
                    <a:pt x="84709" y="281961"/>
                  </a:lnTo>
                  <a:lnTo>
                    <a:pt x="63108" y="321999"/>
                  </a:lnTo>
                  <a:lnTo>
                    <a:pt x="44431" y="363891"/>
                  </a:lnTo>
                  <a:lnTo>
                    <a:pt x="28824" y="407485"/>
                  </a:lnTo>
                  <a:lnTo>
                    <a:pt x="16431" y="452627"/>
                  </a:lnTo>
                  <a:lnTo>
                    <a:pt x="7400" y="499164"/>
                  </a:lnTo>
                  <a:lnTo>
                    <a:pt x="1874" y="546942"/>
                  </a:lnTo>
                  <a:lnTo>
                    <a:pt x="0" y="595807"/>
                  </a:lnTo>
                  <a:lnTo>
                    <a:pt x="1874" y="644673"/>
                  </a:lnTo>
                  <a:lnTo>
                    <a:pt x="7400" y="692451"/>
                  </a:lnTo>
                  <a:lnTo>
                    <a:pt x="16431" y="738987"/>
                  </a:lnTo>
                  <a:lnTo>
                    <a:pt x="28824" y="784129"/>
                  </a:lnTo>
                  <a:lnTo>
                    <a:pt x="44431" y="827723"/>
                  </a:lnTo>
                  <a:lnTo>
                    <a:pt x="63108" y="869616"/>
                  </a:lnTo>
                  <a:lnTo>
                    <a:pt x="84709" y="909654"/>
                  </a:lnTo>
                  <a:lnTo>
                    <a:pt x="109089" y="947684"/>
                  </a:lnTo>
                  <a:lnTo>
                    <a:pt x="136101" y="983553"/>
                  </a:lnTo>
                  <a:lnTo>
                    <a:pt x="165601" y="1017108"/>
                  </a:lnTo>
                  <a:lnTo>
                    <a:pt x="197443" y="1048194"/>
                  </a:lnTo>
                  <a:lnTo>
                    <a:pt x="231482" y="1076659"/>
                  </a:lnTo>
                  <a:lnTo>
                    <a:pt x="267571" y="1102350"/>
                  </a:lnTo>
                  <a:lnTo>
                    <a:pt x="305566" y="1125112"/>
                  </a:lnTo>
                  <a:lnTo>
                    <a:pt x="345321" y="1144794"/>
                  </a:lnTo>
                  <a:lnTo>
                    <a:pt x="386691" y="1161241"/>
                  </a:lnTo>
                  <a:lnTo>
                    <a:pt x="429529" y="1174299"/>
                  </a:lnTo>
                  <a:lnTo>
                    <a:pt x="473691" y="1183817"/>
                  </a:lnTo>
                  <a:lnTo>
                    <a:pt x="519031" y="1189640"/>
                  </a:lnTo>
                  <a:lnTo>
                    <a:pt x="565404" y="1191615"/>
                  </a:lnTo>
                  <a:lnTo>
                    <a:pt x="611774" y="1189640"/>
                  </a:lnTo>
                  <a:lnTo>
                    <a:pt x="657112" y="1183817"/>
                  </a:lnTo>
                  <a:lnTo>
                    <a:pt x="701273" y="1174299"/>
                  </a:lnTo>
                  <a:lnTo>
                    <a:pt x="744110" y="1161241"/>
                  </a:lnTo>
                  <a:lnTo>
                    <a:pt x="785478" y="1144794"/>
                  </a:lnTo>
                  <a:lnTo>
                    <a:pt x="825232" y="1125112"/>
                  </a:lnTo>
                  <a:lnTo>
                    <a:pt x="863227" y="1102350"/>
                  </a:lnTo>
                  <a:lnTo>
                    <a:pt x="899315" y="1076659"/>
                  </a:lnTo>
                  <a:lnTo>
                    <a:pt x="933353" y="1048194"/>
                  </a:lnTo>
                  <a:lnTo>
                    <a:pt x="965195" y="1017108"/>
                  </a:lnTo>
                  <a:lnTo>
                    <a:pt x="994694" y="983553"/>
                  </a:lnTo>
                  <a:lnTo>
                    <a:pt x="1021706" y="947684"/>
                  </a:lnTo>
                  <a:lnTo>
                    <a:pt x="1046086" y="909654"/>
                  </a:lnTo>
                  <a:lnTo>
                    <a:pt x="1067686" y="869616"/>
                  </a:lnTo>
                  <a:lnTo>
                    <a:pt x="1086363" y="827723"/>
                  </a:lnTo>
                  <a:lnTo>
                    <a:pt x="1101971" y="784129"/>
                  </a:lnTo>
                  <a:lnTo>
                    <a:pt x="1114363" y="738987"/>
                  </a:lnTo>
                  <a:lnTo>
                    <a:pt x="1123395" y="692451"/>
                  </a:lnTo>
                  <a:lnTo>
                    <a:pt x="1128921" y="644673"/>
                  </a:lnTo>
                  <a:lnTo>
                    <a:pt x="1130795" y="595807"/>
                  </a:lnTo>
                  <a:lnTo>
                    <a:pt x="1128921" y="546942"/>
                  </a:lnTo>
                  <a:lnTo>
                    <a:pt x="1123395" y="499164"/>
                  </a:lnTo>
                  <a:lnTo>
                    <a:pt x="1114363" y="452627"/>
                  </a:lnTo>
                  <a:lnTo>
                    <a:pt x="1101971" y="407485"/>
                  </a:lnTo>
                  <a:lnTo>
                    <a:pt x="1086363" y="363891"/>
                  </a:lnTo>
                  <a:lnTo>
                    <a:pt x="1067686" y="321999"/>
                  </a:lnTo>
                  <a:lnTo>
                    <a:pt x="1046086" y="281961"/>
                  </a:lnTo>
                  <a:lnTo>
                    <a:pt x="1021706" y="243930"/>
                  </a:lnTo>
                  <a:lnTo>
                    <a:pt x="994694" y="208061"/>
                  </a:lnTo>
                  <a:lnTo>
                    <a:pt x="965195" y="174507"/>
                  </a:lnTo>
                  <a:lnTo>
                    <a:pt x="933353" y="143421"/>
                  </a:lnTo>
                  <a:lnTo>
                    <a:pt x="899315" y="114955"/>
                  </a:lnTo>
                  <a:lnTo>
                    <a:pt x="863227" y="89265"/>
                  </a:lnTo>
                  <a:lnTo>
                    <a:pt x="825232" y="66502"/>
                  </a:lnTo>
                  <a:lnTo>
                    <a:pt x="785478" y="46821"/>
                  </a:lnTo>
                  <a:lnTo>
                    <a:pt x="744110" y="30374"/>
                  </a:lnTo>
                  <a:lnTo>
                    <a:pt x="701273" y="17315"/>
                  </a:lnTo>
                  <a:lnTo>
                    <a:pt x="657112" y="7798"/>
                  </a:lnTo>
                  <a:lnTo>
                    <a:pt x="611774" y="1975"/>
                  </a:lnTo>
                  <a:lnTo>
                    <a:pt x="565404" y="0"/>
                  </a:lnTo>
                  <a:close/>
                </a:path>
              </a:pathLst>
            </a:custGeom>
            <a:solidFill>
              <a:srgbClr val="303030"/>
            </a:solidFill>
          </p:spPr>
          <p:txBody>
            <a:bodyPr wrap="square" lIns="0" tIns="0" rIns="0" bIns="0" rtlCol="0"/>
            <a:lstStyle/>
            <a:p/>
          </p:txBody>
        </p:sp>
        <p:pic>
          <p:nvPicPr>
            <p:cNvPr id="16" name="object 16" descr=""/>
            <p:cNvPicPr/>
            <p:nvPr/>
          </p:nvPicPr>
          <p:blipFill>
            <a:blip r:embed="rId11" cstate="print"/>
            <a:stretch>
              <a:fillRect/>
            </a:stretch>
          </p:blipFill>
          <p:spPr>
            <a:xfrm>
              <a:off x="1324203" y="1385785"/>
              <a:ext cx="1095565" cy="1154493"/>
            </a:xfrm>
            <a:prstGeom prst="rect">
              <a:avLst/>
            </a:prstGeom>
          </p:spPr>
        </p:pic>
        <p:pic>
          <p:nvPicPr>
            <p:cNvPr id="17" name="object 17" descr=""/>
            <p:cNvPicPr/>
            <p:nvPr/>
          </p:nvPicPr>
          <p:blipFill>
            <a:blip r:embed="rId12" cstate="print"/>
            <a:stretch>
              <a:fillRect/>
            </a:stretch>
          </p:blipFill>
          <p:spPr>
            <a:xfrm>
              <a:off x="3354387" y="793750"/>
              <a:ext cx="2378074" cy="2374900"/>
            </a:xfrm>
            <a:prstGeom prst="rect">
              <a:avLst/>
            </a:prstGeom>
          </p:spPr>
        </p:pic>
        <p:pic>
          <p:nvPicPr>
            <p:cNvPr id="18" name="object 18" descr=""/>
            <p:cNvPicPr/>
            <p:nvPr/>
          </p:nvPicPr>
          <p:blipFill>
            <a:blip r:embed="rId13" cstate="print"/>
            <a:stretch>
              <a:fillRect/>
            </a:stretch>
          </p:blipFill>
          <p:spPr>
            <a:xfrm>
              <a:off x="3505200" y="930275"/>
              <a:ext cx="2068512" cy="2082800"/>
            </a:xfrm>
            <a:prstGeom prst="rect">
              <a:avLst/>
            </a:prstGeom>
          </p:spPr>
        </p:pic>
        <p:pic>
          <p:nvPicPr>
            <p:cNvPr id="19" name="object 19" descr=""/>
            <p:cNvPicPr/>
            <p:nvPr/>
          </p:nvPicPr>
          <p:blipFill>
            <a:blip r:embed="rId14" cstate="print"/>
            <a:stretch>
              <a:fillRect/>
            </a:stretch>
          </p:blipFill>
          <p:spPr>
            <a:xfrm>
              <a:off x="3613151" y="1052513"/>
              <a:ext cx="1857375" cy="1857375"/>
            </a:xfrm>
            <a:prstGeom prst="rect">
              <a:avLst/>
            </a:prstGeom>
          </p:spPr>
        </p:pic>
        <p:pic>
          <p:nvPicPr>
            <p:cNvPr id="20" name="object 20" descr=""/>
            <p:cNvPicPr/>
            <p:nvPr/>
          </p:nvPicPr>
          <p:blipFill>
            <a:blip r:embed="rId15" cstate="print"/>
            <a:stretch>
              <a:fillRect/>
            </a:stretch>
          </p:blipFill>
          <p:spPr>
            <a:xfrm>
              <a:off x="3684587" y="1111250"/>
              <a:ext cx="1670050" cy="1638300"/>
            </a:xfrm>
            <a:prstGeom prst="rect">
              <a:avLst/>
            </a:prstGeom>
          </p:spPr>
        </p:pic>
        <p:pic>
          <p:nvPicPr>
            <p:cNvPr id="21" name="object 21" descr=""/>
            <p:cNvPicPr/>
            <p:nvPr/>
          </p:nvPicPr>
          <p:blipFill>
            <a:blip r:embed="rId16" cstate="print"/>
            <a:stretch>
              <a:fillRect/>
            </a:stretch>
          </p:blipFill>
          <p:spPr>
            <a:xfrm>
              <a:off x="6484937" y="1200150"/>
              <a:ext cx="1439862" cy="1439862"/>
            </a:xfrm>
            <a:prstGeom prst="rect">
              <a:avLst/>
            </a:prstGeom>
          </p:spPr>
        </p:pic>
        <p:pic>
          <p:nvPicPr>
            <p:cNvPr id="22" name="object 22" descr=""/>
            <p:cNvPicPr/>
            <p:nvPr/>
          </p:nvPicPr>
          <p:blipFill>
            <a:blip r:embed="rId17" cstate="print"/>
            <a:stretch>
              <a:fillRect/>
            </a:stretch>
          </p:blipFill>
          <p:spPr>
            <a:xfrm>
              <a:off x="6580187" y="1293812"/>
              <a:ext cx="1249362" cy="1254125"/>
            </a:xfrm>
            <a:prstGeom prst="rect">
              <a:avLst/>
            </a:prstGeom>
          </p:spPr>
        </p:pic>
        <p:sp>
          <p:nvSpPr>
            <p:cNvPr id="23" name="object 23" descr=""/>
            <p:cNvSpPr/>
            <p:nvPr/>
          </p:nvSpPr>
          <p:spPr>
            <a:xfrm>
              <a:off x="6642100" y="1357306"/>
              <a:ext cx="1125855" cy="1125855"/>
            </a:xfrm>
            <a:custGeom>
              <a:avLst/>
              <a:gdLst/>
              <a:ahLst/>
              <a:cxnLst/>
              <a:rect l="l" t="t" r="r" b="b"/>
              <a:pathLst>
                <a:path w="1125854" h="1125855">
                  <a:moveTo>
                    <a:pt x="562775" y="0"/>
                  </a:moveTo>
                  <a:lnTo>
                    <a:pt x="514215" y="2065"/>
                  </a:lnTo>
                  <a:lnTo>
                    <a:pt x="466803" y="8150"/>
                  </a:lnTo>
                  <a:lnTo>
                    <a:pt x="420707" y="18085"/>
                  </a:lnTo>
                  <a:lnTo>
                    <a:pt x="376096" y="31700"/>
                  </a:lnTo>
                  <a:lnTo>
                    <a:pt x="333139" y="48828"/>
                  </a:lnTo>
                  <a:lnTo>
                    <a:pt x="292005" y="69299"/>
                  </a:lnTo>
                  <a:lnTo>
                    <a:pt x="252863" y="92944"/>
                  </a:lnTo>
                  <a:lnTo>
                    <a:pt x="215881" y="119594"/>
                  </a:lnTo>
                  <a:lnTo>
                    <a:pt x="181229" y="149080"/>
                  </a:lnTo>
                  <a:lnTo>
                    <a:pt x="149076" y="181234"/>
                  </a:lnTo>
                  <a:lnTo>
                    <a:pt x="119590" y="215886"/>
                  </a:lnTo>
                  <a:lnTo>
                    <a:pt x="92940" y="252868"/>
                  </a:lnTo>
                  <a:lnTo>
                    <a:pt x="69296" y="292011"/>
                  </a:lnTo>
                  <a:lnTo>
                    <a:pt x="48826" y="333144"/>
                  </a:lnTo>
                  <a:lnTo>
                    <a:pt x="31699" y="376101"/>
                  </a:lnTo>
                  <a:lnTo>
                    <a:pt x="18084" y="420711"/>
                  </a:lnTo>
                  <a:lnTo>
                    <a:pt x="8150" y="466806"/>
                  </a:lnTo>
                  <a:lnTo>
                    <a:pt x="2065" y="514217"/>
                  </a:lnTo>
                  <a:lnTo>
                    <a:pt x="0" y="562775"/>
                  </a:lnTo>
                  <a:lnTo>
                    <a:pt x="2065" y="611332"/>
                  </a:lnTo>
                  <a:lnTo>
                    <a:pt x="8150" y="658743"/>
                  </a:lnTo>
                  <a:lnTo>
                    <a:pt x="18084" y="704838"/>
                  </a:lnTo>
                  <a:lnTo>
                    <a:pt x="31699" y="749448"/>
                  </a:lnTo>
                  <a:lnTo>
                    <a:pt x="48826" y="792405"/>
                  </a:lnTo>
                  <a:lnTo>
                    <a:pt x="69296" y="833539"/>
                  </a:lnTo>
                  <a:lnTo>
                    <a:pt x="92940" y="872681"/>
                  </a:lnTo>
                  <a:lnTo>
                    <a:pt x="119590" y="909663"/>
                  </a:lnTo>
                  <a:lnTo>
                    <a:pt x="149076" y="944315"/>
                  </a:lnTo>
                  <a:lnTo>
                    <a:pt x="181229" y="976469"/>
                  </a:lnTo>
                  <a:lnTo>
                    <a:pt x="215881" y="1005955"/>
                  </a:lnTo>
                  <a:lnTo>
                    <a:pt x="252863" y="1032606"/>
                  </a:lnTo>
                  <a:lnTo>
                    <a:pt x="292005" y="1056251"/>
                  </a:lnTo>
                  <a:lnTo>
                    <a:pt x="333139" y="1076721"/>
                  </a:lnTo>
                  <a:lnTo>
                    <a:pt x="376096" y="1093849"/>
                  </a:lnTo>
                  <a:lnTo>
                    <a:pt x="420707" y="1107465"/>
                  </a:lnTo>
                  <a:lnTo>
                    <a:pt x="466803" y="1117399"/>
                  </a:lnTo>
                  <a:lnTo>
                    <a:pt x="514215" y="1123484"/>
                  </a:lnTo>
                  <a:lnTo>
                    <a:pt x="562775" y="1125550"/>
                  </a:lnTo>
                  <a:lnTo>
                    <a:pt x="611332" y="1123484"/>
                  </a:lnTo>
                  <a:lnTo>
                    <a:pt x="658743" y="1117399"/>
                  </a:lnTo>
                  <a:lnTo>
                    <a:pt x="704837" y="1107465"/>
                  </a:lnTo>
                  <a:lnTo>
                    <a:pt x="749447" y="1093849"/>
                  </a:lnTo>
                  <a:lnTo>
                    <a:pt x="792403" y="1076721"/>
                  </a:lnTo>
                  <a:lnTo>
                    <a:pt x="833536" y="1056251"/>
                  </a:lnTo>
                  <a:lnTo>
                    <a:pt x="872677" y="1032606"/>
                  </a:lnTo>
                  <a:lnTo>
                    <a:pt x="909658" y="1005955"/>
                  </a:lnTo>
                  <a:lnTo>
                    <a:pt x="944309" y="976469"/>
                  </a:lnTo>
                  <a:lnTo>
                    <a:pt x="976462" y="944315"/>
                  </a:lnTo>
                  <a:lnTo>
                    <a:pt x="1005948" y="909663"/>
                  </a:lnTo>
                  <a:lnTo>
                    <a:pt x="1032597" y="872681"/>
                  </a:lnTo>
                  <a:lnTo>
                    <a:pt x="1056241" y="833539"/>
                  </a:lnTo>
                  <a:lnTo>
                    <a:pt x="1076711" y="792405"/>
                  </a:lnTo>
                  <a:lnTo>
                    <a:pt x="1093838" y="749448"/>
                  </a:lnTo>
                  <a:lnTo>
                    <a:pt x="1107453" y="704838"/>
                  </a:lnTo>
                  <a:lnTo>
                    <a:pt x="1117387" y="658743"/>
                  </a:lnTo>
                  <a:lnTo>
                    <a:pt x="1123471" y="611332"/>
                  </a:lnTo>
                  <a:lnTo>
                    <a:pt x="1125537" y="562775"/>
                  </a:lnTo>
                  <a:lnTo>
                    <a:pt x="1123471" y="514217"/>
                  </a:lnTo>
                  <a:lnTo>
                    <a:pt x="1117387" y="466806"/>
                  </a:lnTo>
                  <a:lnTo>
                    <a:pt x="1107453" y="420711"/>
                  </a:lnTo>
                  <a:lnTo>
                    <a:pt x="1093838" y="376101"/>
                  </a:lnTo>
                  <a:lnTo>
                    <a:pt x="1076711" y="333144"/>
                  </a:lnTo>
                  <a:lnTo>
                    <a:pt x="1056241" y="292011"/>
                  </a:lnTo>
                  <a:lnTo>
                    <a:pt x="1032597" y="252868"/>
                  </a:lnTo>
                  <a:lnTo>
                    <a:pt x="1005948" y="215886"/>
                  </a:lnTo>
                  <a:lnTo>
                    <a:pt x="976462" y="181234"/>
                  </a:lnTo>
                  <a:lnTo>
                    <a:pt x="944309" y="149080"/>
                  </a:lnTo>
                  <a:lnTo>
                    <a:pt x="909658" y="119594"/>
                  </a:lnTo>
                  <a:lnTo>
                    <a:pt x="872677" y="92944"/>
                  </a:lnTo>
                  <a:lnTo>
                    <a:pt x="833536" y="69299"/>
                  </a:lnTo>
                  <a:lnTo>
                    <a:pt x="792403" y="48828"/>
                  </a:lnTo>
                  <a:lnTo>
                    <a:pt x="749447" y="31700"/>
                  </a:lnTo>
                  <a:lnTo>
                    <a:pt x="704837" y="18085"/>
                  </a:lnTo>
                  <a:lnTo>
                    <a:pt x="658743" y="8150"/>
                  </a:lnTo>
                  <a:lnTo>
                    <a:pt x="611332" y="2065"/>
                  </a:lnTo>
                  <a:lnTo>
                    <a:pt x="562775" y="0"/>
                  </a:lnTo>
                  <a:close/>
                </a:path>
              </a:pathLst>
            </a:custGeom>
            <a:solidFill>
              <a:srgbClr val="000000"/>
            </a:solidFill>
          </p:spPr>
          <p:txBody>
            <a:bodyPr wrap="square" lIns="0" tIns="0" rIns="0" bIns="0" rtlCol="0"/>
            <a:lstStyle/>
            <a:p/>
          </p:txBody>
        </p:sp>
        <p:pic>
          <p:nvPicPr>
            <p:cNvPr id="24" name="object 24" descr=""/>
            <p:cNvPicPr/>
            <p:nvPr/>
          </p:nvPicPr>
          <p:blipFill>
            <a:blip r:embed="rId18" cstate="print"/>
            <a:stretch>
              <a:fillRect/>
            </a:stretch>
          </p:blipFill>
          <p:spPr>
            <a:xfrm>
              <a:off x="6659562" y="1374775"/>
              <a:ext cx="1090612" cy="1092200"/>
            </a:xfrm>
            <a:prstGeom prst="rect">
              <a:avLst/>
            </a:prstGeom>
          </p:spPr>
        </p:pic>
        <p:pic>
          <p:nvPicPr>
            <p:cNvPr id="25" name="object 25" descr=""/>
            <p:cNvPicPr/>
            <p:nvPr/>
          </p:nvPicPr>
          <p:blipFill>
            <a:blip r:embed="rId19" cstate="print"/>
            <a:stretch>
              <a:fillRect/>
            </a:stretch>
          </p:blipFill>
          <p:spPr>
            <a:xfrm>
              <a:off x="5410200" y="3333750"/>
              <a:ext cx="1446212" cy="1524000"/>
            </a:xfrm>
            <a:prstGeom prst="rect">
              <a:avLst/>
            </a:prstGeom>
          </p:spPr>
        </p:pic>
        <p:pic>
          <p:nvPicPr>
            <p:cNvPr id="26" name="object 26" descr=""/>
            <p:cNvPicPr/>
            <p:nvPr/>
          </p:nvPicPr>
          <p:blipFill>
            <a:blip r:embed="rId20" cstate="print"/>
            <a:stretch>
              <a:fillRect/>
            </a:stretch>
          </p:blipFill>
          <p:spPr>
            <a:xfrm>
              <a:off x="5504155" y="3432759"/>
              <a:ext cx="1258302" cy="1325981"/>
            </a:xfrm>
            <a:prstGeom prst="rect">
              <a:avLst/>
            </a:prstGeom>
          </p:spPr>
        </p:pic>
        <p:sp>
          <p:nvSpPr>
            <p:cNvPr id="27" name="object 27" descr=""/>
            <p:cNvSpPr/>
            <p:nvPr/>
          </p:nvSpPr>
          <p:spPr>
            <a:xfrm>
              <a:off x="5572941" y="3499942"/>
              <a:ext cx="1130935" cy="1191895"/>
            </a:xfrm>
            <a:custGeom>
              <a:avLst/>
              <a:gdLst/>
              <a:ahLst/>
              <a:cxnLst/>
              <a:rect l="l" t="t" r="r" b="b"/>
              <a:pathLst>
                <a:path w="1130934" h="1191895">
                  <a:moveTo>
                    <a:pt x="565404" y="0"/>
                  </a:moveTo>
                  <a:lnTo>
                    <a:pt x="519031" y="1975"/>
                  </a:lnTo>
                  <a:lnTo>
                    <a:pt x="473691" y="7798"/>
                  </a:lnTo>
                  <a:lnTo>
                    <a:pt x="429529" y="17315"/>
                  </a:lnTo>
                  <a:lnTo>
                    <a:pt x="386691" y="30374"/>
                  </a:lnTo>
                  <a:lnTo>
                    <a:pt x="345321" y="46821"/>
                  </a:lnTo>
                  <a:lnTo>
                    <a:pt x="305566" y="66502"/>
                  </a:lnTo>
                  <a:lnTo>
                    <a:pt x="267571" y="89265"/>
                  </a:lnTo>
                  <a:lnTo>
                    <a:pt x="231482" y="114955"/>
                  </a:lnTo>
                  <a:lnTo>
                    <a:pt x="197443" y="143421"/>
                  </a:lnTo>
                  <a:lnTo>
                    <a:pt x="165601" y="174507"/>
                  </a:lnTo>
                  <a:lnTo>
                    <a:pt x="136101" y="208061"/>
                  </a:lnTo>
                  <a:lnTo>
                    <a:pt x="109089" y="243930"/>
                  </a:lnTo>
                  <a:lnTo>
                    <a:pt x="84709" y="281961"/>
                  </a:lnTo>
                  <a:lnTo>
                    <a:pt x="63108" y="321999"/>
                  </a:lnTo>
                  <a:lnTo>
                    <a:pt x="44431" y="363891"/>
                  </a:lnTo>
                  <a:lnTo>
                    <a:pt x="28824" y="407485"/>
                  </a:lnTo>
                  <a:lnTo>
                    <a:pt x="16431" y="452627"/>
                  </a:lnTo>
                  <a:lnTo>
                    <a:pt x="7400" y="499164"/>
                  </a:lnTo>
                  <a:lnTo>
                    <a:pt x="1874" y="546942"/>
                  </a:lnTo>
                  <a:lnTo>
                    <a:pt x="0" y="595807"/>
                  </a:lnTo>
                  <a:lnTo>
                    <a:pt x="1874" y="644673"/>
                  </a:lnTo>
                  <a:lnTo>
                    <a:pt x="7400" y="692451"/>
                  </a:lnTo>
                  <a:lnTo>
                    <a:pt x="16431" y="738987"/>
                  </a:lnTo>
                  <a:lnTo>
                    <a:pt x="28824" y="784129"/>
                  </a:lnTo>
                  <a:lnTo>
                    <a:pt x="44431" y="827723"/>
                  </a:lnTo>
                  <a:lnTo>
                    <a:pt x="63108" y="869616"/>
                  </a:lnTo>
                  <a:lnTo>
                    <a:pt x="84709" y="909654"/>
                  </a:lnTo>
                  <a:lnTo>
                    <a:pt x="109089" y="947684"/>
                  </a:lnTo>
                  <a:lnTo>
                    <a:pt x="136101" y="983553"/>
                  </a:lnTo>
                  <a:lnTo>
                    <a:pt x="165601" y="1017108"/>
                  </a:lnTo>
                  <a:lnTo>
                    <a:pt x="197443" y="1048194"/>
                  </a:lnTo>
                  <a:lnTo>
                    <a:pt x="231482" y="1076659"/>
                  </a:lnTo>
                  <a:lnTo>
                    <a:pt x="267571" y="1102350"/>
                  </a:lnTo>
                  <a:lnTo>
                    <a:pt x="305566" y="1125112"/>
                  </a:lnTo>
                  <a:lnTo>
                    <a:pt x="345321" y="1144794"/>
                  </a:lnTo>
                  <a:lnTo>
                    <a:pt x="386691" y="1161241"/>
                  </a:lnTo>
                  <a:lnTo>
                    <a:pt x="429529" y="1174299"/>
                  </a:lnTo>
                  <a:lnTo>
                    <a:pt x="473691" y="1183817"/>
                  </a:lnTo>
                  <a:lnTo>
                    <a:pt x="519031" y="1189640"/>
                  </a:lnTo>
                  <a:lnTo>
                    <a:pt x="565404" y="1191615"/>
                  </a:lnTo>
                  <a:lnTo>
                    <a:pt x="611774" y="1189640"/>
                  </a:lnTo>
                  <a:lnTo>
                    <a:pt x="657112" y="1183817"/>
                  </a:lnTo>
                  <a:lnTo>
                    <a:pt x="701273" y="1174299"/>
                  </a:lnTo>
                  <a:lnTo>
                    <a:pt x="744110" y="1161241"/>
                  </a:lnTo>
                  <a:lnTo>
                    <a:pt x="785478" y="1144794"/>
                  </a:lnTo>
                  <a:lnTo>
                    <a:pt x="825232" y="1125112"/>
                  </a:lnTo>
                  <a:lnTo>
                    <a:pt x="863227" y="1102350"/>
                  </a:lnTo>
                  <a:lnTo>
                    <a:pt x="899315" y="1076659"/>
                  </a:lnTo>
                  <a:lnTo>
                    <a:pt x="933353" y="1048194"/>
                  </a:lnTo>
                  <a:lnTo>
                    <a:pt x="965195" y="1017108"/>
                  </a:lnTo>
                  <a:lnTo>
                    <a:pt x="994694" y="983553"/>
                  </a:lnTo>
                  <a:lnTo>
                    <a:pt x="1021706" y="947684"/>
                  </a:lnTo>
                  <a:lnTo>
                    <a:pt x="1046086" y="909654"/>
                  </a:lnTo>
                  <a:lnTo>
                    <a:pt x="1067686" y="869616"/>
                  </a:lnTo>
                  <a:lnTo>
                    <a:pt x="1086363" y="827723"/>
                  </a:lnTo>
                  <a:lnTo>
                    <a:pt x="1101971" y="784129"/>
                  </a:lnTo>
                  <a:lnTo>
                    <a:pt x="1114363" y="738987"/>
                  </a:lnTo>
                  <a:lnTo>
                    <a:pt x="1123395" y="692451"/>
                  </a:lnTo>
                  <a:lnTo>
                    <a:pt x="1128921" y="644673"/>
                  </a:lnTo>
                  <a:lnTo>
                    <a:pt x="1130795" y="595807"/>
                  </a:lnTo>
                  <a:lnTo>
                    <a:pt x="1128921" y="546942"/>
                  </a:lnTo>
                  <a:lnTo>
                    <a:pt x="1123395" y="499164"/>
                  </a:lnTo>
                  <a:lnTo>
                    <a:pt x="1114363" y="452627"/>
                  </a:lnTo>
                  <a:lnTo>
                    <a:pt x="1101971" y="407485"/>
                  </a:lnTo>
                  <a:lnTo>
                    <a:pt x="1086363" y="363891"/>
                  </a:lnTo>
                  <a:lnTo>
                    <a:pt x="1067686" y="321999"/>
                  </a:lnTo>
                  <a:lnTo>
                    <a:pt x="1046086" y="281961"/>
                  </a:lnTo>
                  <a:lnTo>
                    <a:pt x="1021706" y="243930"/>
                  </a:lnTo>
                  <a:lnTo>
                    <a:pt x="994694" y="208061"/>
                  </a:lnTo>
                  <a:lnTo>
                    <a:pt x="965195" y="174507"/>
                  </a:lnTo>
                  <a:lnTo>
                    <a:pt x="933353" y="143421"/>
                  </a:lnTo>
                  <a:lnTo>
                    <a:pt x="899315" y="114955"/>
                  </a:lnTo>
                  <a:lnTo>
                    <a:pt x="863227" y="89265"/>
                  </a:lnTo>
                  <a:lnTo>
                    <a:pt x="825232" y="66502"/>
                  </a:lnTo>
                  <a:lnTo>
                    <a:pt x="785478" y="46821"/>
                  </a:lnTo>
                  <a:lnTo>
                    <a:pt x="744110" y="30374"/>
                  </a:lnTo>
                  <a:lnTo>
                    <a:pt x="701273" y="17315"/>
                  </a:lnTo>
                  <a:lnTo>
                    <a:pt x="657112" y="7798"/>
                  </a:lnTo>
                  <a:lnTo>
                    <a:pt x="611774" y="1975"/>
                  </a:lnTo>
                  <a:lnTo>
                    <a:pt x="565404" y="0"/>
                  </a:lnTo>
                  <a:close/>
                </a:path>
              </a:pathLst>
            </a:custGeom>
            <a:solidFill>
              <a:srgbClr val="303030"/>
            </a:solidFill>
          </p:spPr>
          <p:txBody>
            <a:bodyPr wrap="square" lIns="0" tIns="0" rIns="0" bIns="0" rtlCol="0"/>
            <a:lstStyle/>
            <a:p/>
          </p:txBody>
        </p:sp>
        <p:pic>
          <p:nvPicPr>
            <p:cNvPr id="28" name="object 28" descr=""/>
            <p:cNvPicPr/>
            <p:nvPr/>
          </p:nvPicPr>
          <p:blipFill>
            <a:blip r:embed="rId21" cstate="print"/>
            <a:stretch>
              <a:fillRect/>
            </a:stretch>
          </p:blipFill>
          <p:spPr>
            <a:xfrm>
              <a:off x="5591390" y="3519385"/>
              <a:ext cx="1095565" cy="1154506"/>
            </a:xfrm>
            <a:prstGeom prst="rect">
              <a:avLst/>
            </a:prstGeom>
          </p:spPr>
        </p:pic>
      </p:grpSp>
      <p:sp>
        <p:nvSpPr>
          <p:cNvPr id="29" name="object 29" descr=""/>
          <p:cNvSpPr txBox="1"/>
          <p:nvPr/>
        </p:nvSpPr>
        <p:spPr>
          <a:xfrm>
            <a:off x="506031" y="923217"/>
            <a:ext cx="3023870" cy="268605"/>
          </a:xfrm>
          <a:prstGeom prst="rect">
            <a:avLst/>
          </a:prstGeom>
        </p:spPr>
        <p:txBody>
          <a:bodyPr wrap="square" lIns="0" tIns="12065" rIns="0" bIns="0" rtlCol="0" vert="horz">
            <a:spAutoFit/>
          </a:bodyPr>
          <a:lstStyle/>
          <a:p>
            <a:pPr>
              <a:lnSpc>
                <a:spcPct val="100000"/>
              </a:lnSpc>
              <a:spcBef>
                <a:spcPts val="95"/>
              </a:spcBef>
            </a:pPr>
            <a:r>
              <a:rPr dirty="0" sz="1600">
                <a:latin typeface="Microsoft YaHei"/>
                <a:cs typeface="Microsoft YaHei"/>
              </a:rPr>
              <a:t>前采用的终端为华为</a:t>
            </a:r>
            <a:r>
              <a:rPr dirty="0" sz="1600" spc="-10">
                <a:latin typeface="Microsoft YaHei"/>
                <a:cs typeface="Microsoft YaHei"/>
              </a:rPr>
              <a:t>TUE</a:t>
            </a:r>
            <a:r>
              <a:rPr dirty="0" sz="1600" spc="-20">
                <a:latin typeface="Microsoft YaHei"/>
                <a:cs typeface="Microsoft YaHei"/>
              </a:rPr>
              <a:t>软件界面</a:t>
            </a:r>
            <a:endParaRPr sz="1600">
              <a:latin typeface="Microsoft YaHei"/>
              <a:cs typeface="Microsoft YaHei"/>
            </a:endParaRPr>
          </a:p>
        </p:txBody>
      </p:sp>
      <p:pic>
        <p:nvPicPr>
          <p:cNvPr id="30" name="object 30"/>
          <p:cNvPicPr/>
          <p:nvPr/>
        </p:nvPicPr>
        <p:blipFill>
          <a:blip r:embed="rId22" cstate="print"/>
          <a:stretch>
            <a:fillRect/>
          </a:stretch>
        </p:blipFill>
        <p:spPr>
          <a:xfrm>
            <a:off x="323850" y="1270000"/>
            <a:ext cx="6911974" cy="3317874"/>
          </a:xfrm>
          <a:prstGeom prst="rect">
            <a:avLst/>
          </a:prstGeom>
        </p:spPr>
      </p:pic>
      <p:sp>
        <p:nvSpPr>
          <p:cNvPr id="31" name="object 31" descr=""/>
          <p:cNvSpPr txBox="1"/>
          <p:nvPr/>
        </p:nvSpPr>
        <p:spPr>
          <a:xfrm>
            <a:off x="258127" y="4675187"/>
            <a:ext cx="229235" cy="269875"/>
          </a:xfrm>
          <a:prstGeom prst="rect">
            <a:avLst/>
          </a:prstGeom>
        </p:spPr>
        <p:txBody>
          <a:bodyPr wrap="square" lIns="0" tIns="12700" rIns="0" bIns="0" rtlCol="0" vert="horz">
            <a:spAutoFit/>
          </a:bodyPr>
          <a:lstStyle/>
          <a:p>
            <a:pPr marL="12700">
              <a:lnSpc>
                <a:spcPct val="100000"/>
              </a:lnSpc>
              <a:spcBef>
                <a:spcPts val="100"/>
              </a:spcBef>
            </a:pPr>
            <a:r>
              <a:rPr dirty="0" sz="1600" spc="-50">
                <a:latin typeface="Microsoft YaHei"/>
                <a:cs typeface="Microsoft YaHei"/>
              </a:rPr>
              <a:t>和</a:t>
            </a:r>
            <a:endParaRPr sz="1600">
              <a:latin typeface="Microsoft YaHei"/>
              <a:cs typeface="Microsoft YaHei"/>
            </a:endParaRPr>
          </a:p>
        </p:txBody>
      </p:sp>
      <p:sp>
        <p:nvSpPr>
          <p:cNvPr id="32" name="object 32" descr=""/>
          <p:cNvSpPr txBox="1"/>
          <p:nvPr/>
        </p:nvSpPr>
        <p:spPr>
          <a:xfrm>
            <a:off x="474281" y="1796448"/>
            <a:ext cx="6980555" cy="3148330"/>
          </a:xfrm>
          <a:prstGeom prst="rect">
            <a:avLst/>
          </a:prstGeom>
        </p:spPr>
        <p:txBody>
          <a:bodyPr wrap="square" lIns="0" tIns="0" rIns="0" bIns="0" rtlCol="0" vert="horz">
            <a:spAutoFit/>
          </a:bodyPr>
          <a:lstStyle/>
          <a:p>
            <a:pPr algn="r">
              <a:lnSpc>
                <a:spcPts val="2210"/>
              </a:lnSpc>
            </a:pPr>
            <a:r>
              <a:rPr dirty="0" sz="2000" spc="-25" b="1">
                <a:latin typeface="Arial"/>
                <a:cs typeface="Arial"/>
              </a:rPr>
              <a:t>MT</a:t>
            </a:r>
            <a:endParaRPr sz="2000">
              <a:latin typeface="Arial"/>
              <a:cs typeface="Arial"/>
            </a:endParaRPr>
          </a:p>
          <a:p>
            <a:pPr>
              <a:lnSpc>
                <a:spcPct val="100000"/>
              </a:lnSpc>
            </a:pPr>
            <a:endParaRPr sz="2000">
              <a:latin typeface="Arial"/>
              <a:cs typeface="Arial"/>
            </a:endParaRPr>
          </a:p>
          <a:p>
            <a:pPr>
              <a:lnSpc>
                <a:spcPct val="100000"/>
              </a:lnSpc>
            </a:pPr>
            <a:endParaRPr sz="2000">
              <a:latin typeface="Arial"/>
              <a:cs typeface="Arial"/>
            </a:endParaRPr>
          </a:p>
          <a:p>
            <a:pPr>
              <a:lnSpc>
                <a:spcPct val="100000"/>
              </a:lnSpc>
            </a:pPr>
            <a:endParaRPr sz="2000">
              <a:latin typeface="Arial"/>
              <a:cs typeface="Arial"/>
            </a:endParaRPr>
          </a:p>
          <a:p>
            <a:pPr>
              <a:lnSpc>
                <a:spcPct val="100000"/>
              </a:lnSpc>
            </a:pPr>
            <a:endParaRPr sz="2000">
              <a:latin typeface="Arial"/>
              <a:cs typeface="Arial"/>
            </a:endParaRPr>
          </a:p>
          <a:p>
            <a:pPr>
              <a:lnSpc>
                <a:spcPct val="100000"/>
              </a:lnSpc>
            </a:pPr>
            <a:endParaRPr sz="2000">
              <a:latin typeface="Arial"/>
              <a:cs typeface="Arial"/>
            </a:endParaRPr>
          </a:p>
          <a:p>
            <a:pPr>
              <a:lnSpc>
                <a:spcPct val="100000"/>
              </a:lnSpc>
            </a:pPr>
            <a:endParaRPr sz="2000">
              <a:latin typeface="Arial"/>
              <a:cs typeface="Arial"/>
            </a:endParaRPr>
          </a:p>
          <a:p>
            <a:pPr>
              <a:lnSpc>
                <a:spcPct val="100000"/>
              </a:lnSpc>
            </a:pPr>
            <a:endParaRPr sz="2000">
              <a:latin typeface="Arial"/>
              <a:cs typeface="Arial"/>
            </a:endParaRPr>
          </a:p>
          <a:p>
            <a:pPr>
              <a:lnSpc>
                <a:spcPct val="100000"/>
              </a:lnSpc>
              <a:spcBef>
                <a:spcPts val="2160"/>
              </a:spcBef>
            </a:pPr>
            <a:endParaRPr sz="2000">
              <a:latin typeface="Arial"/>
              <a:cs typeface="Arial"/>
            </a:endParaRPr>
          </a:p>
          <a:p>
            <a:pPr>
              <a:lnSpc>
                <a:spcPct val="100000"/>
              </a:lnSpc>
            </a:pPr>
            <a:r>
              <a:rPr dirty="0" sz="1600" spc="-5">
                <a:latin typeface="Microsoft YaHei"/>
                <a:cs typeface="Microsoft YaHei"/>
              </a:rPr>
              <a:t>传统的测试软件比较，缺少</a:t>
            </a:r>
            <a:r>
              <a:rPr dirty="0" sz="1600" spc="-10">
                <a:latin typeface="Microsoft YaHei"/>
                <a:cs typeface="Microsoft YaHei"/>
              </a:rPr>
              <a:t>MAP</a:t>
            </a:r>
            <a:r>
              <a:rPr dirty="0" sz="1600" spc="-15">
                <a:latin typeface="Microsoft YaHei"/>
                <a:cs typeface="Microsoft YaHei"/>
              </a:rPr>
              <a:t>地图，其他信号窗口，信令窗口都具备</a:t>
            </a:r>
            <a:endParaRPr sz="1600">
              <a:latin typeface="Microsoft YaHei"/>
              <a:cs typeface="Microsoft YaHei"/>
            </a:endParaRPr>
          </a:p>
        </p:txBody>
      </p:sp>
      <p:grpSp>
        <p:nvGrpSpPr>
          <p:cNvPr id="33" name="object 33" descr=""/>
          <p:cNvGrpSpPr/>
          <p:nvPr/>
        </p:nvGrpSpPr>
        <p:grpSpPr>
          <a:xfrm>
            <a:off x="57912" y="1038225"/>
            <a:ext cx="8402320" cy="3910329"/>
            <a:chOff x="57912" y="1038225"/>
            <a:chExt cx="8402320" cy="3910329"/>
          </a:xfrm>
        </p:grpSpPr>
        <p:pic>
          <p:nvPicPr>
            <p:cNvPr id="34" name="object 34"/>
            <p:cNvPicPr/>
            <p:nvPr/>
          </p:nvPicPr>
          <p:blipFill>
            <a:blip r:embed="rId23" cstate="print"/>
            <a:stretch>
              <a:fillRect/>
            </a:stretch>
          </p:blipFill>
          <p:spPr>
            <a:xfrm>
              <a:off x="684212" y="1131887"/>
              <a:ext cx="7775574" cy="3743324"/>
            </a:xfrm>
            <a:prstGeom prst="rect">
              <a:avLst/>
            </a:prstGeom>
          </p:spPr>
        </p:pic>
        <p:pic>
          <p:nvPicPr>
            <p:cNvPr id="35" name="object 35"/>
            <p:cNvPicPr/>
            <p:nvPr/>
          </p:nvPicPr>
          <p:blipFill>
            <a:blip r:embed="rId24" cstate="print"/>
            <a:stretch>
              <a:fillRect/>
            </a:stretch>
          </p:blipFill>
          <p:spPr>
            <a:xfrm>
              <a:off x="539750" y="1038225"/>
              <a:ext cx="7797799" cy="3910012"/>
            </a:xfrm>
            <a:prstGeom prst="rect">
              <a:avLst/>
            </a:prstGeom>
          </p:spPr>
        </p:pic>
        <p:pic>
          <p:nvPicPr>
            <p:cNvPr id="36" name="object 36" descr=""/>
            <p:cNvPicPr/>
            <p:nvPr/>
          </p:nvPicPr>
          <p:blipFill>
            <a:blip r:embed="rId25" cstate="print"/>
            <a:stretch>
              <a:fillRect/>
            </a:stretch>
          </p:blipFill>
          <p:spPr>
            <a:xfrm>
              <a:off x="4745456" y="1807463"/>
              <a:ext cx="382587" cy="628269"/>
            </a:xfrm>
            <a:prstGeom prst="rect">
              <a:avLst/>
            </a:prstGeom>
          </p:spPr>
        </p:pic>
        <p:pic>
          <p:nvPicPr>
            <p:cNvPr id="37" name="object 37" descr=""/>
            <p:cNvPicPr/>
            <p:nvPr/>
          </p:nvPicPr>
          <p:blipFill>
            <a:blip r:embed="rId26" cstate="print"/>
            <a:stretch>
              <a:fillRect/>
            </a:stretch>
          </p:blipFill>
          <p:spPr>
            <a:xfrm>
              <a:off x="4732527" y="3697020"/>
              <a:ext cx="409524" cy="613308"/>
            </a:xfrm>
            <a:prstGeom prst="rect">
              <a:avLst/>
            </a:prstGeom>
          </p:spPr>
        </p:pic>
        <p:pic>
          <p:nvPicPr>
            <p:cNvPr id="38" name="object 38" descr=""/>
            <p:cNvPicPr/>
            <p:nvPr/>
          </p:nvPicPr>
          <p:blipFill>
            <a:blip r:embed="rId27" cstate="print"/>
            <a:stretch>
              <a:fillRect/>
            </a:stretch>
          </p:blipFill>
          <p:spPr>
            <a:xfrm>
              <a:off x="3645649" y="3676040"/>
              <a:ext cx="443039" cy="594194"/>
            </a:xfrm>
            <a:prstGeom prst="rect">
              <a:avLst/>
            </a:prstGeom>
          </p:spPr>
        </p:pic>
        <p:pic>
          <p:nvPicPr>
            <p:cNvPr id="39" name="object 39" descr=""/>
            <p:cNvPicPr/>
            <p:nvPr/>
          </p:nvPicPr>
          <p:blipFill>
            <a:blip r:embed="rId28" cstate="print"/>
            <a:stretch>
              <a:fillRect/>
            </a:stretch>
          </p:blipFill>
          <p:spPr>
            <a:xfrm>
              <a:off x="3706088" y="1877072"/>
              <a:ext cx="392353" cy="623049"/>
            </a:xfrm>
            <a:prstGeom prst="rect">
              <a:avLst/>
            </a:prstGeom>
          </p:spPr>
        </p:pic>
        <p:pic>
          <p:nvPicPr>
            <p:cNvPr id="40" name="object 40" descr=""/>
            <p:cNvPicPr/>
            <p:nvPr/>
          </p:nvPicPr>
          <p:blipFill>
            <a:blip r:embed="rId29" cstate="print"/>
            <a:stretch>
              <a:fillRect/>
            </a:stretch>
          </p:blipFill>
          <p:spPr>
            <a:xfrm>
              <a:off x="5116512" y="2976562"/>
              <a:ext cx="696912" cy="254000"/>
            </a:xfrm>
            <a:prstGeom prst="rect">
              <a:avLst/>
            </a:prstGeom>
          </p:spPr>
        </p:pic>
        <p:pic>
          <p:nvPicPr>
            <p:cNvPr id="41" name="object 41" descr=""/>
            <p:cNvPicPr/>
            <p:nvPr/>
          </p:nvPicPr>
          <p:blipFill>
            <a:blip r:embed="rId30" cstate="print"/>
            <a:stretch>
              <a:fillRect/>
            </a:stretch>
          </p:blipFill>
          <p:spPr>
            <a:xfrm>
              <a:off x="2995612" y="2970212"/>
              <a:ext cx="760412" cy="255587"/>
            </a:xfrm>
            <a:prstGeom prst="rect">
              <a:avLst/>
            </a:prstGeom>
          </p:spPr>
        </p:pic>
        <p:sp>
          <p:nvSpPr>
            <p:cNvPr id="42" name="object 42" descr=""/>
            <p:cNvSpPr/>
            <p:nvPr/>
          </p:nvSpPr>
          <p:spPr>
            <a:xfrm>
              <a:off x="2771775" y="1419232"/>
              <a:ext cx="3295650" cy="3297554"/>
            </a:xfrm>
            <a:custGeom>
              <a:avLst/>
              <a:gdLst/>
              <a:ahLst/>
              <a:cxnLst/>
              <a:rect l="l" t="t" r="r" b="b"/>
              <a:pathLst>
                <a:path w="3295650" h="3297554">
                  <a:moveTo>
                    <a:pt x="0" y="1648612"/>
                  </a:moveTo>
                  <a:lnTo>
                    <a:pt x="702" y="1600003"/>
                  </a:lnTo>
                  <a:lnTo>
                    <a:pt x="2797" y="1551742"/>
                  </a:lnTo>
                  <a:lnTo>
                    <a:pt x="6264" y="1503851"/>
                  </a:lnTo>
                  <a:lnTo>
                    <a:pt x="11086" y="1456347"/>
                  </a:lnTo>
                  <a:lnTo>
                    <a:pt x="17241" y="1409250"/>
                  </a:lnTo>
                  <a:lnTo>
                    <a:pt x="24711" y="1362580"/>
                  </a:lnTo>
                  <a:lnTo>
                    <a:pt x="33477" y="1316356"/>
                  </a:lnTo>
                  <a:lnTo>
                    <a:pt x="43520" y="1270596"/>
                  </a:lnTo>
                  <a:lnTo>
                    <a:pt x="54819" y="1225322"/>
                  </a:lnTo>
                  <a:lnTo>
                    <a:pt x="67356" y="1180551"/>
                  </a:lnTo>
                  <a:lnTo>
                    <a:pt x="81111" y="1136303"/>
                  </a:lnTo>
                  <a:lnTo>
                    <a:pt x="96065" y="1092597"/>
                  </a:lnTo>
                  <a:lnTo>
                    <a:pt x="112199" y="1049454"/>
                  </a:lnTo>
                  <a:lnTo>
                    <a:pt x="129494" y="1006891"/>
                  </a:lnTo>
                  <a:lnTo>
                    <a:pt x="147929" y="964929"/>
                  </a:lnTo>
                  <a:lnTo>
                    <a:pt x="167486" y="923587"/>
                  </a:lnTo>
                  <a:lnTo>
                    <a:pt x="188146" y="882884"/>
                  </a:lnTo>
                  <a:lnTo>
                    <a:pt x="209888" y="842839"/>
                  </a:lnTo>
                  <a:lnTo>
                    <a:pt x="232695" y="803472"/>
                  </a:lnTo>
                  <a:lnTo>
                    <a:pt x="256546" y="764803"/>
                  </a:lnTo>
                  <a:lnTo>
                    <a:pt x="281422" y="726849"/>
                  </a:lnTo>
                  <a:lnTo>
                    <a:pt x="307304" y="689631"/>
                  </a:lnTo>
                  <a:lnTo>
                    <a:pt x="334172" y="653169"/>
                  </a:lnTo>
                  <a:lnTo>
                    <a:pt x="362008" y="617481"/>
                  </a:lnTo>
                  <a:lnTo>
                    <a:pt x="390791" y="582586"/>
                  </a:lnTo>
                  <a:lnTo>
                    <a:pt x="420503" y="548505"/>
                  </a:lnTo>
                  <a:lnTo>
                    <a:pt x="451125" y="515256"/>
                  </a:lnTo>
                  <a:lnTo>
                    <a:pt x="482636" y="482858"/>
                  </a:lnTo>
                  <a:lnTo>
                    <a:pt x="515018" y="451332"/>
                  </a:lnTo>
                  <a:lnTo>
                    <a:pt x="548251" y="420696"/>
                  </a:lnTo>
                  <a:lnTo>
                    <a:pt x="582316" y="390970"/>
                  </a:lnTo>
                  <a:lnTo>
                    <a:pt x="617194" y="362173"/>
                  </a:lnTo>
                  <a:lnTo>
                    <a:pt x="652865" y="334324"/>
                  </a:lnTo>
                  <a:lnTo>
                    <a:pt x="689310" y="307442"/>
                  </a:lnTo>
                  <a:lnTo>
                    <a:pt x="726510" y="281548"/>
                  </a:lnTo>
                  <a:lnTo>
                    <a:pt x="764445" y="256660"/>
                  </a:lnTo>
                  <a:lnTo>
                    <a:pt x="803096" y="232798"/>
                  </a:lnTo>
                  <a:lnTo>
                    <a:pt x="842444" y="209981"/>
                  </a:lnTo>
                  <a:lnTo>
                    <a:pt x="882469" y="188228"/>
                  </a:lnTo>
                  <a:lnTo>
                    <a:pt x="923153" y="167559"/>
                  </a:lnTo>
                  <a:lnTo>
                    <a:pt x="964475" y="147993"/>
                  </a:lnTo>
                  <a:lnTo>
                    <a:pt x="1006416" y="129549"/>
                  </a:lnTo>
                  <a:lnTo>
                    <a:pt x="1048958" y="112247"/>
                  </a:lnTo>
                  <a:lnTo>
                    <a:pt x="1092081" y="96105"/>
                  </a:lnTo>
                  <a:lnTo>
                    <a:pt x="1135765" y="81144"/>
                  </a:lnTo>
                  <a:lnTo>
                    <a:pt x="1179991" y="67383"/>
                  </a:lnTo>
                  <a:lnTo>
                    <a:pt x="1224740" y="54840"/>
                  </a:lnTo>
                  <a:lnTo>
                    <a:pt x="1269993" y="43536"/>
                  </a:lnTo>
                  <a:lnTo>
                    <a:pt x="1315730" y="33489"/>
                  </a:lnTo>
                  <a:lnTo>
                    <a:pt x="1361932" y="24720"/>
                  </a:lnTo>
                  <a:lnTo>
                    <a:pt x="1408579" y="17246"/>
                  </a:lnTo>
                  <a:lnTo>
                    <a:pt x="1455653" y="11088"/>
                  </a:lnTo>
                  <a:lnTo>
                    <a:pt x="1503134" y="6266"/>
                  </a:lnTo>
                  <a:lnTo>
                    <a:pt x="1551002" y="2797"/>
                  </a:lnTo>
                  <a:lnTo>
                    <a:pt x="1599239" y="702"/>
                  </a:lnTo>
                  <a:lnTo>
                    <a:pt x="1647825" y="0"/>
                  </a:lnTo>
                  <a:lnTo>
                    <a:pt x="1696410" y="702"/>
                  </a:lnTo>
                  <a:lnTo>
                    <a:pt x="1744647" y="2798"/>
                  </a:lnTo>
                  <a:lnTo>
                    <a:pt x="1792515" y="6267"/>
                  </a:lnTo>
                  <a:lnTo>
                    <a:pt x="1839996" y="11091"/>
                  </a:lnTo>
                  <a:lnTo>
                    <a:pt x="1887070" y="17249"/>
                  </a:lnTo>
                  <a:lnTo>
                    <a:pt x="1933717" y="24723"/>
                  </a:lnTo>
                  <a:lnTo>
                    <a:pt x="1979919" y="33494"/>
                  </a:lnTo>
                  <a:lnTo>
                    <a:pt x="2025656" y="43541"/>
                  </a:lnTo>
                  <a:lnTo>
                    <a:pt x="2070909" y="54845"/>
                  </a:lnTo>
                  <a:lnTo>
                    <a:pt x="2115658" y="67388"/>
                  </a:lnTo>
                  <a:lnTo>
                    <a:pt x="2159884" y="81150"/>
                  </a:lnTo>
                  <a:lnTo>
                    <a:pt x="2203568" y="96112"/>
                  </a:lnTo>
                  <a:lnTo>
                    <a:pt x="2246691" y="112253"/>
                  </a:lnTo>
                  <a:lnTo>
                    <a:pt x="2289233" y="129556"/>
                  </a:lnTo>
                  <a:lnTo>
                    <a:pt x="2331174" y="148000"/>
                  </a:lnTo>
                  <a:lnTo>
                    <a:pt x="2372496" y="167567"/>
                  </a:lnTo>
                  <a:lnTo>
                    <a:pt x="2413180" y="188236"/>
                  </a:lnTo>
                  <a:lnTo>
                    <a:pt x="2453205" y="209989"/>
                  </a:lnTo>
                  <a:lnTo>
                    <a:pt x="2492553" y="232807"/>
                  </a:lnTo>
                  <a:lnTo>
                    <a:pt x="2531204" y="256669"/>
                  </a:lnTo>
                  <a:lnTo>
                    <a:pt x="2569139" y="281557"/>
                  </a:lnTo>
                  <a:lnTo>
                    <a:pt x="2606339" y="307452"/>
                  </a:lnTo>
                  <a:lnTo>
                    <a:pt x="2642784" y="334333"/>
                  </a:lnTo>
                  <a:lnTo>
                    <a:pt x="2678455" y="362182"/>
                  </a:lnTo>
                  <a:lnTo>
                    <a:pt x="2713333" y="390979"/>
                  </a:lnTo>
                  <a:lnTo>
                    <a:pt x="2747398" y="420705"/>
                  </a:lnTo>
                  <a:lnTo>
                    <a:pt x="2780631" y="451341"/>
                  </a:lnTo>
                  <a:lnTo>
                    <a:pt x="2813013" y="482868"/>
                  </a:lnTo>
                  <a:lnTo>
                    <a:pt x="2844524" y="515265"/>
                  </a:lnTo>
                  <a:lnTo>
                    <a:pt x="2875146" y="548514"/>
                  </a:lnTo>
                  <a:lnTo>
                    <a:pt x="2904858" y="582596"/>
                  </a:lnTo>
                  <a:lnTo>
                    <a:pt x="2933641" y="617490"/>
                  </a:lnTo>
                  <a:lnTo>
                    <a:pt x="2961477" y="653178"/>
                  </a:lnTo>
                  <a:lnTo>
                    <a:pt x="2988345" y="689641"/>
                  </a:lnTo>
                  <a:lnTo>
                    <a:pt x="3014227" y="726858"/>
                  </a:lnTo>
                  <a:lnTo>
                    <a:pt x="3039103" y="764811"/>
                  </a:lnTo>
                  <a:lnTo>
                    <a:pt x="3062954" y="803481"/>
                  </a:lnTo>
                  <a:lnTo>
                    <a:pt x="3085761" y="842848"/>
                  </a:lnTo>
                  <a:lnTo>
                    <a:pt x="3107503" y="882892"/>
                  </a:lnTo>
                  <a:lnTo>
                    <a:pt x="3128163" y="923595"/>
                  </a:lnTo>
                  <a:lnTo>
                    <a:pt x="3147720" y="964937"/>
                  </a:lnTo>
                  <a:lnTo>
                    <a:pt x="3166155" y="1006899"/>
                  </a:lnTo>
                  <a:lnTo>
                    <a:pt x="3183450" y="1049461"/>
                  </a:lnTo>
                  <a:lnTo>
                    <a:pt x="3199584" y="1092604"/>
                  </a:lnTo>
                  <a:lnTo>
                    <a:pt x="3214538" y="1136309"/>
                  </a:lnTo>
                  <a:lnTo>
                    <a:pt x="3228293" y="1180556"/>
                  </a:lnTo>
                  <a:lnTo>
                    <a:pt x="3240830" y="1225327"/>
                  </a:lnTo>
                  <a:lnTo>
                    <a:pt x="3252129" y="1270601"/>
                  </a:lnTo>
                  <a:lnTo>
                    <a:pt x="3262172" y="1316360"/>
                  </a:lnTo>
                  <a:lnTo>
                    <a:pt x="3270938" y="1362584"/>
                  </a:lnTo>
                  <a:lnTo>
                    <a:pt x="3278408" y="1409253"/>
                  </a:lnTo>
                  <a:lnTo>
                    <a:pt x="3284563" y="1456349"/>
                  </a:lnTo>
                  <a:lnTo>
                    <a:pt x="3289385" y="1503853"/>
                  </a:lnTo>
                  <a:lnTo>
                    <a:pt x="3292852" y="1551744"/>
                  </a:lnTo>
                  <a:lnTo>
                    <a:pt x="3294947" y="1600003"/>
                  </a:lnTo>
                  <a:lnTo>
                    <a:pt x="3295650" y="1648612"/>
                  </a:lnTo>
                  <a:lnTo>
                    <a:pt x="3294947" y="1697221"/>
                  </a:lnTo>
                  <a:lnTo>
                    <a:pt x="3292852" y="1745481"/>
                  </a:lnTo>
                  <a:lnTo>
                    <a:pt x="3289385" y="1793373"/>
                  </a:lnTo>
                  <a:lnTo>
                    <a:pt x="3284563" y="1840877"/>
                  </a:lnTo>
                  <a:lnTo>
                    <a:pt x="3278408" y="1887974"/>
                  </a:lnTo>
                  <a:lnTo>
                    <a:pt x="3270938" y="1934644"/>
                  </a:lnTo>
                  <a:lnTo>
                    <a:pt x="3262172" y="1980868"/>
                  </a:lnTo>
                  <a:lnTo>
                    <a:pt x="3252129" y="2026628"/>
                  </a:lnTo>
                  <a:lnTo>
                    <a:pt x="3240830" y="2071902"/>
                  </a:lnTo>
                  <a:lnTo>
                    <a:pt x="3228293" y="2116673"/>
                  </a:lnTo>
                  <a:lnTo>
                    <a:pt x="3214538" y="2160921"/>
                  </a:lnTo>
                  <a:lnTo>
                    <a:pt x="3199584" y="2204626"/>
                  </a:lnTo>
                  <a:lnTo>
                    <a:pt x="3183450" y="2247770"/>
                  </a:lnTo>
                  <a:lnTo>
                    <a:pt x="3166155" y="2290333"/>
                  </a:lnTo>
                  <a:lnTo>
                    <a:pt x="3147720" y="2332295"/>
                  </a:lnTo>
                  <a:lnTo>
                    <a:pt x="3128163" y="2373637"/>
                  </a:lnTo>
                  <a:lnTo>
                    <a:pt x="3107503" y="2414340"/>
                  </a:lnTo>
                  <a:lnTo>
                    <a:pt x="3085761" y="2454385"/>
                  </a:lnTo>
                  <a:lnTo>
                    <a:pt x="3062954" y="2493752"/>
                  </a:lnTo>
                  <a:lnTo>
                    <a:pt x="3039103" y="2532422"/>
                  </a:lnTo>
                  <a:lnTo>
                    <a:pt x="3014227" y="2570375"/>
                  </a:lnTo>
                  <a:lnTo>
                    <a:pt x="2988345" y="2607593"/>
                  </a:lnTo>
                  <a:lnTo>
                    <a:pt x="2961477" y="2644056"/>
                  </a:lnTo>
                  <a:lnTo>
                    <a:pt x="2933641" y="2679744"/>
                  </a:lnTo>
                  <a:lnTo>
                    <a:pt x="2904858" y="2714639"/>
                  </a:lnTo>
                  <a:lnTo>
                    <a:pt x="2875146" y="2748720"/>
                  </a:lnTo>
                  <a:lnTo>
                    <a:pt x="2844524" y="2781970"/>
                  </a:lnTo>
                  <a:lnTo>
                    <a:pt x="2813013" y="2814367"/>
                  </a:lnTo>
                  <a:lnTo>
                    <a:pt x="2780631" y="2845894"/>
                  </a:lnTo>
                  <a:lnTo>
                    <a:pt x="2747398" y="2876530"/>
                  </a:lnTo>
                  <a:lnTo>
                    <a:pt x="2713333" y="2906256"/>
                  </a:lnTo>
                  <a:lnTo>
                    <a:pt x="2678455" y="2935054"/>
                  </a:lnTo>
                  <a:lnTo>
                    <a:pt x="2642784" y="2962903"/>
                  </a:lnTo>
                  <a:lnTo>
                    <a:pt x="2606339" y="2989784"/>
                  </a:lnTo>
                  <a:lnTo>
                    <a:pt x="2569139" y="3015679"/>
                  </a:lnTo>
                  <a:lnTo>
                    <a:pt x="2531204" y="3040567"/>
                  </a:lnTo>
                  <a:lnTo>
                    <a:pt x="2492553" y="3064429"/>
                  </a:lnTo>
                  <a:lnTo>
                    <a:pt x="2453205" y="3087247"/>
                  </a:lnTo>
                  <a:lnTo>
                    <a:pt x="2413180" y="3109000"/>
                  </a:lnTo>
                  <a:lnTo>
                    <a:pt x="2372496" y="3129669"/>
                  </a:lnTo>
                  <a:lnTo>
                    <a:pt x="2331174" y="3149236"/>
                  </a:lnTo>
                  <a:lnTo>
                    <a:pt x="2289233" y="3167680"/>
                  </a:lnTo>
                  <a:lnTo>
                    <a:pt x="2246691" y="3184983"/>
                  </a:lnTo>
                  <a:lnTo>
                    <a:pt x="2203568" y="3201125"/>
                  </a:lnTo>
                  <a:lnTo>
                    <a:pt x="2159884" y="3216086"/>
                  </a:lnTo>
                  <a:lnTo>
                    <a:pt x="2115658" y="3229848"/>
                  </a:lnTo>
                  <a:lnTo>
                    <a:pt x="2070909" y="3242391"/>
                  </a:lnTo>
                  <a:lnTo>
                    <a:pt x="2025656" y="3253696"/>
                  </a:lnTo>
                  <a:lnTo>
                    <a:pt x="1979919" y="3263743"/>
                  </a:lnTo>
                  <a:lnTo>
                    <a:pt x="1933717" y="3272513"/>
                  </a:lnTo>
                  <a:lnTo>
                    <a:pt x="1887070" y="3279987"/>
                  </a:lnTo>
                  <a:lnTo>
                    <a:pt x="1839996" y="3286146"/>
                  </a:lnTo>
                  <a:lnTo>
                    <a:pt x="1792515" y="3290969"/>
                  </a:lnTo>
                  <a:lnTo>
                    <a:pt x="1744647" y="3294438"/>
                  </a:lnTo>
                  <a:lnTo>
                    <a:pt x="1696410" y="3296534"/>
                  </a:lnTo>
                  <a:lnTo>
                    <a:pt x="1647825" y="3297237"/>
                  </a:lnTo>
                  <a:lnTo>
                    <a:pt x="1599239" y="3296534"/>
                  </a:lnTo>
                  <a:lnTo>
                    <a:pt x="1551002" y="3294438"/>
                  </a:lnTo>
                  <a:lnTo>
                    <a:pt x="1503134" y="3290969"/>
                  </a:lnTo>
                  <a:lnTo>
                    <a:pt x="1455653" y="3286146"/>
                  </a:lnTo>
                  <a:lnTo>
                    <a:pt x="1408579" y="3279987"/>
                  </a:lnTo>
                  <a:lnTo>
                    <a:pt x="1361932" y="3272513"/>
                  </a:lnTo>
                  <a:lnTo>
                    <a:pt x="1315730" y="3263743"/>
                  </a:lnTo>
                  <a:lnTo>
                    <a:pt x="1269993" y="3253696"/>
                  </a:lnTo>
                  <a:lnTo>
                    <a:pt x="1224740" y="3242391"/>
                  </a:lnTo>
                  <a:lnTo>
                    <a:pt x="1179991" y="3229848"/>
                  </a:lnTo>
                  <a:lnTo>
                    <a:pt x="1135765" y="3216086"/>
                  </a:lnTo>
                  <a:lnTo>
                    <a:pt x="1092081" y="3201125"/>
                  </a:lnTo>
                  <a:lnTo>
                    <a:pt x="1048958" y="3184983"/>
                  </a:lnTo>
                  <a:lnTo>
                    <a:pt x="1006416" y="3167680"/>
                  </a:lnTo>
                  <a:lnTo>
                    <a:pt x="964475" y="3149236"/>
                  </a:lnTo>
                  <a:lnTo>
                    <a:pt x="923153" y="3129669"/>
                  </a:lnTo>
                  <a:lnTo>
                    <a:pt x="882469" y="3109000"/>
                  </a:lnTo>
                  <a:lnTo>
                    <a:pt x="842444" y="3087247"/>
                  </a:lnTo>
                  <a:lnTo>
                    <a:pt x="803096" y="3064429"/>
                  </a:lnTo>
                  <a:lnTo>
                    <a:pt x="764445" y="3040567"/>
                  </a:lnTo>
                  <a:lnTo>
                    <a:pt x="726510" y="3015679"/>
                  </a:lnTo>
                  <a:lnTo>
                    <a:pt x="689310" y="2989784"/>
                  </a:lnTo>
                  <a:lnTo>
                    <a:pt x="652865" y="2962903"/>
                  </a:lnTo>
                  <a:lnTo>
                    <a:pt x="617194" y="2935054"/>
                  </a:lnTo>
                  <a:lnTo>
                    <a:pt x="582316" y="2906256"/>
                  </a:lnTo>
                  <a:lnTo>
                    <a:pt x="548251" y="2876530"/>
                  </a:lnTo>
                  <a:lnTo>
                    <a:pt x="515018" y="2845894"/>
                  </a:lnTo>
                  <a:lnTo>
                    <a:pt x="482636" y="2814367"/>
                  </a:lnTo>
                  <a:lnTo>
                    <a:pt x="451125" y="2781970"/>
                  </a:lnTo>
                  <a:lnTo>
                    <a:pt x="420503" y="2748720"/>
                  </a:lnTo>
                  <a:lnTo>
                    <a:pt x="390791" y="2714639"/>
                  </a:lnTo>
                  <a:lnTo>
                    <a:pt x="362008" y="2679744"/>
                  </a:lnTo>
                  <a:lnTo>
                    <a:pt x="334172" y="2644056"/>
                  </a:lnTo>
                  <a:lnTo>
                    <a:pt x="307304" y="2607593"/>
                  </a:lnTo>
                  <a:lnTo>
                    <a:pt x="281422" y="2570375"/>
                  </a:lnTo>
                  <a:lnTo>
                    <a:pt x="256546" y="2532422"/>
                  </a:lnTo>
                  <a:lnTo>
                    <a:pt x="232695" y="2493752"/>
                  </a:lnTo>
                  <a:lnTo>
                    <a:pt x="209888" y="2454385"/>
                  </a:lnTo>
                  <a:lnTo>
                    <a:pt x="188146" y="2414340"/>
                  </a:lnTo>
                  <a:lnTo>
                    <a:pt x="167486" y="2373637"/>
                  </a:lnTo>
                  <a:lnTo>
                    <a:pt x="147929" y="2332295"/>
                  </a:lnTo>
                  <a:lnTo>
                    <a:pt x="129494" y="2290333"/>
                  </a:lnTo>
                  <a:lnTo>
                    <a:pt x="112199" y="2247770"/>
                  </a:lnTo>
                  <a:lnTo>
                    <a:pt x="96065" y="2204626"/>
                  </a:lnTo>
                  <a:lnTo>
                    <a:pt x="81111" y="2160921"/>
                  </a:lnTo>
                  <a:lnTo>
                    <a:pt x="67356" y="2116673"/>
                  </a:lnTo>
                  <a:lnTo>
                    <a:pt x="54819" y="2071902"/>
                  </a:lnTo>
                  <a:lnTo>
                    <a:pt x="43520" y="2026628"/>
                  </a:lnTo>
                  <a:lnTo>
                    <a:pt x="33477" y="1980868"/>
                  </a:lnTo>
                  <a:lnTo>
                    <a:pt x="24711" y="1934644"/>
                  </a:lnTo>
                  <a:lnTo>
                    <a:pt x="17241" y="1887974"/>
                  </a:lnTo>
                  <a:lnTo>
                    <a:pt x="11086" y="1840877"/>
                  </a:lnTo>
                  <a:lnTo>
                    <a:pt x="6264" y="1793373"/>
                  </a:lnTo>
                  <a:lnTo>
                    <a:pt x="2797" y="1745481"/>
                  </a:lnTo>
                  <a:lnTo>
                    <a:pt x="702" y="1697221"/>
                  </a:lnTo>
                  <a:lnTo>
                    <a:pt x="0" y="1648612"/>
                  </a:lnTo>
                  <a:close/>
                </a:path>
              </a:pathLst>
            </a:custGeom>
            <a:ln w="38100">
              <a:solidFill>
                <a:srgbClr val="818181"/>
              </a:solidFill>
            </a:ln>
          </p:spPr>
          <p:txBody>
            <a:bodyPr wrap="square" lIns="0" tIns="0" rIns="0" bIns="0" rtlCol="0"/>
            <a:lstStyle/>
            <a:p/>
          </p:txBody>
        </p:sp>
        <p:pic>
          <p:nvPicPr>
            <p:cNvPr id="43" name="object 43" descr=""/>
            <p:cNvPicPr/>
            <p:nvPr/>
          </p:nvPicPr>
          <p:blipFill>
            <a:blip r:embed="rId31" cstate="print"/>
            <a:stretch>
              <a:fillRect/>
            </a:stretch>
          </p:blipFill>
          <p:spPr>
            <a:xfrm>
              <a:off x="3429000" y="2144712"/>
              <a:ext cx="1901824" cy="1901825"/>
            </a:xfrm>
            <a:prstGeom prst="rect">
              <a:avLst/>
            </a:prstGeom>
          </p:spPr>
        </p:pic>
        <p:pic>
          <p:nvPicPr>
            <p:cNvPr id="44" name="object 44" descr=""/>
            <p:cNvPicPr/>
            <p:nvPr/>
          </p:nvPicPr>
          <p:blipFill>
            <a:blip r:embed="rId32" cstate="print"/>
            <a:stretch>
              <a:fillRect/>
            </a:stretch>
          </p:blipFill>
          <p:spPr>
            <a:xfrm>
              <a:off x="3553371" y="2269083"/>
              <a:ext cx="1654492" cy="1655889"/>
            </a:xfrm>
            <a:prstGeom prst="rect">
              <a:avLst/>
            </a:prstGeom>
          </p:spPr>
        </p:pic>
        <p:pic>
          <p:nvPicPr>
            <p:cNvPr id="45" name="object 45" descr=""/>
            <p:cNvPicPr/>
            <p:nvPr/>
          </p:nvPicPr>
          <p:blipFill>
            <a:blip r:embed="rId33" cstate="print"/>
            <a:stretch>
              <a:fillRect/>
            </a:stretch>
          </p:blipFill>
          <p:spPr>
            <a:xfrm>
              <a:off x="3642798" y="2351520"/>
              <a:ext cx="1488198" cy="1488211"/>
            </a:xfrm>
            <a:prstGeom prst="rect">
              <a:avLst/>
            </a:prstGeom>
          </p:spPr>
        </p:pic>
        <p:pic>
          <p:nvPicPr>
            <p:cNvPr id="46" name="object 46" descr=""/>
            <p:cNvPicPr/>
            <p:nvPr/>
          </p:nvPicPr>
          <p:blipFill>
            <a:blip r:embed="rId34" cstate="print"/>
            <a:stretch>
              <a:fillRect/>
            </a:stretch>
          </p:blipFill>
          <p:spPr>
            <a:xfrm>
              <a:off x="3702710" y="2390165"/>
              <a:ext cx="1337132" cy="1312964"/>
            </a:xfrm>
            <a:prstGeom prst="rect">
              <a:avLst/>
            </a:prstGeom>
          </p:spPr>
        </p:pic>
        <p:pic>
          <p:nvPicPr>
            <p:cNvPr id="47" name="object 47" descr=""/>
            <p:cNvPicPr/>
            <p:nvPr/>
          </p:nvPicPr>
          <p:blipFill>
            <a:blip r:embed="rId35" cstate="print"/>
            <a:stretch>
              <a:fillRect/>
            </a:stretch>
          </p:blipFill>
          <p:spPr>
            <a:xfrm>
              <a:off x="384809" y="2966466"/>
              <a:ext cx="2665475" cy="431291"/>
            </a:xfrm>
            <a:prstGeom prst="rect">
              <a:avLst/>
            </a:prstGeom>
          </p:spPr>
        </p:pic>
        <p:pic>
          <p:nvPicPr>
            <p:cNvPr id="48" name="object 48" descr=""/>
            <p:cNvPicPr/>
            <p:nvPr/>
          </p:nvPicPr>
          <p:blipFill>
            <a:blip r:embed="rId36" cstate="print"/>
            <a:stretch>
              <a:fillRect/>
            </a:stretch>
          </p:blipFill>
          <p:spPr>
            <a:xfrm>
              <a:off x="2907944" y="2998470"/>
              <a:ext cx="247497" cy="306323"/>
            </a:xfrm>
            <a:prstGeom prst="rect">
              <a:avLst/>
            </a:prstGeom>
          </p:spPr>
        </p:pic>
        <p:pic>
          <p:nvPicPr>
            <p:cNvPr id="49" name="object 49" descr=""/>
            <p:cNvPicPr/>
            <p:nvPr/>
          </p:nvPicPr>
          <p:blipFill>
            <a:blip r:embed="rId37" cstate="print"/>
            <a:stretch>
              <a:fillRect/>
            </a:stretch>
          </p:blipFill>
          <p:spPr>
            <a:xfrm>
              <a:off x="340614" y="3284308"/>
              <a:ext cx="34099" cy="20484"/>
            </a:xfrm>
            <a:prstGeom prst="rect">
              <a:avLst/>
            </a:prstGeom>
          </p:spPr>
        </p:pic>
        <p:pic>
          <p:nvPicPr>
            <p:cNvPr id="50" name="object 50" descr=""/>
            <p:cNvPicPr/>
            <p:nvPr/>
          </p:nvPicPr>
          <p:blipFill>
            <a:blip r:embed="rId38" cstate="print"/>
            <a:stretch>
              <a:fillRect/>
            </a:stretch>
          </p:blipFill>
          <p:spPr>
            <a:xfrm>
              <a:off x="323850" y="2905125"/>
              <a:ext cx="2635250" cy="401637"/>
            </a:xfrm>
            <a:prstGeom prst="rect">
              <a:avLst/>
            </a:prstGeom>
          </p:spPr>
        </p:pic>
        <p:sp>
          <p:nvSpPr>
            <p:cNvPr id="51" name="object 51" descr=""/>
            <p:cNvSpPr/>
            <p:nvPr/>
          </p:nvSpPr>
          <p:spPr>
            <a:xfrm>
              <a:off x="323850" y="2905125"/>
              <a:ext cx="2635250" cy="401955"/>
            </a:xfrm>
            <a:custGeom>
              <a:avLst/>
              <a:gdLst/>
              <a:ahLst/>
              <a:cxnLst/>
              <a:rect l="l" t="t" r="r" b="b"/>
              <a:pathLst>
                <a:path w="2635250" h="401954">
                  <a:moveTo>
                    <a:pt x="0" y="66941"/>
                  </a:moveTo>
                  <a:lnTo>
                    <a:pt x="5260" y="40885"/>
                  </a:lnTo>
                  <a:lnTo>
                    <a:pt x="19607" y="19607"/>
                  </a:lnTo>
                  <a:lnTo>
                    <a:pt x="40885" y="5260"/>
                  </a:lnTo>
                  <a:lnTo>
                    <a:pt x="66941" y="0"/>
                  </a:lnTo>
                  <a:lnTo>
                    <a:pt x="2568308" y="0"/>
                  </a:lnTo>
                  <a:lnTo>
                    <a:pt x="2594364" y="5260"/>
                  </a:lnTo>
                  <a:lnTo>
                    <a:pt x="2615642" y="19607"/>
                  </a:lnTo>
                  <a:lnTo>
                    <a:pt x="2629989" y="40885"/>
                  </a:lnTo>
                  <a:lnTo>
                    <a:pt x="2635250" y="66941"/>
                  </a:lnTo>
                  <a:lnTo>
                    <a:pt x="2635250" y="334695"/>
                  </a:lnTo>
                  <a:lnTo>
                    <a:pt x="2629989" y="360752"/>
                  </a:lnTo>
                  <a:lnTo>
                    <a:pt x="2615642" y="382030"/>
                  </a:lnTo>
                  <a:lnTo>
                    <a:pt x="2594364" y="396376"/>
                  </a:lnTo>
                  <a:lnTo>
                    <a:pt x="2568308" y="401637"/>
                  </a:lnTo>
                  <a:lnTo>
                    <a:pt x="66941" y="401637"/>
                  </a:lnTo>
                  <a:lnTo>
                    <a:pt x="40885" y="396376"/>
                  </a:lnTo>
                  <a:lnTo>
                    <a:pt x="19607" y="382030"/>
                  </a:lnTo>
                  <a:lnTo>
                    <a:pt x="5260" y="360752"/>
                  </a:lnTo>
                  <a:lnTo>
                    <a:pt x="0" y="334695"/>
                  </a:lnTo>
                  <a:lnTo>
                    <a:pt x="0" y="66941"/>
                  </a:lnTo>
                  <a:close/>
                </a:path>
              </a:pathLst>
            </a:custGeom>
            <a:ln w="28575">
              <a:solidFill>
                <a:srgbClr val="FEFEFE"/>
              </a:solidFill>
            </a:ln>
          </p:spPr>
          <p:txBody>
            <a:bodyPr wrap="square" lIns="0" tIns="0" rIns="0" bIns="0" rtlCol="0"/>
            <a:lstStyle/>
            <a:p/>
          </p:txBody>
        </p:sp>
        <p:pic>
          <p:nvPicPr>
            <p:cNvPr id="52" name="object 52" descr=""/>
            <p:cNvPicPr/>
            <p:nvPr/>
          </p:nvPicPr>
          <p:blipFill>
            <a:blip r:embed="rId39" cstate="print"/>
            <a:stretch>
              <a:fillRect/>
            </a:stretch>
          </p:blipFill>
          <p:spPr>
            <a:xfrm>
              <a:off x="202692" y="1548383"/>
              <a:ext cx="3484625" cy="619505"/>
            </a:xfrm>
            <a:prstGeom prst="rect">
              <a:avLst/>
            </a:prstGeom>
          </p:spPr>
        </p:pic>
        <p:pic>
          <p:nvPicPr>
            <p:cNvPr id="53" name="object 53" descr=""/>
            <p:cNvPicPr/>
            <p:nvPr/>
          </p:nvPicPr>
          <p:blipFill>
            <a:blip r:embed="rId40" cstate="print"/>
            <a:stretch>
              <a:fillRect/>
            </a:stretch>
          </p:blipFill>
          <p:spPr>
            <a:xfrm>
              <a:off x="3595776" y="1674876"/>
              <a:ext cx="297280" cy="306323"/>
            </a:xfrm>
            <a:prstGeom prst="rect">
              <a:avLst/>
            </a:prstGeom>
          </p:spPr>
        </p:pic>
        <p:pic>
          <p:nvPicPr>
            <p:cNvPr id="54" name="object 54" descr=""/>
            <p:cNvPicPr/>
            <p:nvPr/>
          </p:nvPicPr>
          <p:blipFill>
            <a:blip r:embed="rId41" cstate="print"/>
            <a:stretch>
              <a:fillRect/>
            </a:stretch>
          </p:blipFill>
          <p:spPr>
            <a:xfrm>
              <a:off x="57912" y="1674876"/>
              <a:ext cx="83667" cy="306323"/>
            </a:xfrm>
            <a:prstGeom prst="rect">
              <a:avLst/>
            </a:prstGeom>
          </p:spPr>
        </p:pic>
        <p:pic>
          <p:nvPicPr>
            <p:cNvPr id="55" name="object 55" descr=""/>
            <p:cNvPicPr/>
            <p:nvPr/>
          </p:nvPicPr>
          <p:blipFill>
            <a:blip r:embed="rId42" cstate="print"/>
            <a:stretch>
              <a:fillRect/>
            </a:stretch>
          </p:blipFill>
          <p:spPr>
            <a:xfrm>
              <a:off x="141287" y="1487487"/>
              <a:ext cx="3454400" cy="588962"/>
            </a:xfrm>
            <a:prstGeom prst="rect">
              <a:avLst/>
            </a:prstGeom>
          </p:spPr>
        </p:pic>
        <p:sp>
          <p:nvSpPr>
            <p:cNvPr id="56" name="object 56" descr=""/>
            <p:cNvSpPr/>
            <p:nvPr/>
          </p:nvSpPr>
          <p:spPr>
            <a:xfrm>
              <a:off x="141287" y="1487491"/>
              <a:ext cx="3454400" cy="589280"/>
            </a:xfrm>
            <a:custGeom>
              <a:avLst/>
              <a:gdLst/>
              <a:ahLst/>
              <a:cxnLst/>
              <a:rect l="l" t="t" r="r" b="b"/>
              <a:pathLst>
                <a:path w="3454400" h="589280">
                  <a:moveTo>
                    <a:pt x="0" y="98158"/>
                  </a:moveTo>
                  <a:lnTo>
                    <a:pt x="7714" y="59948"/>
                  </a:lnTo>
                  <a:lnTo>
                    <a:pt x="28752" y="28748"/>
                  </a:lnTo>
                  <a:lnTo>
                    <a:pt x="59953" y="7713"/>
                  </a:lnTo>
                  <a:lnTo>
                    <a:pt x="98158" y="0"/>
                  </a:lnTo>
                  <a:lnTo>
                    <a:pt x="3356241" y="0"/>
                  </a:lnTo>
                  <a:lnTo>
                    <a:pt x="3394446" y="7713"/>
                  </a:lnTo>
                  <a:lnTo>
                    <a:pt x="3425647" y="28748"/>
                  </a:lnTo>
                  <a:lnTo>
                    <a:pt x="3446685" y="59948"/>
                  </a:lnTo>
                  <a:lnTo>
                    <a:pt x="3454400" y="98158"/>
                  </a:lnTo>
                  <a:lnTo>
                    <a:pt x="3454400" y="490791"/>
                  </a:lnTo>
                  <a:lnTo>
                    <a:pt x="3446685" y="529003"/>
                  </a:lnTo>
                  <a:lnTo>
                    <a:pt x="3425647" y="560208"/>
                  </a:lnTo>
                  <a:lnTo>
                    <a:pt x="3394446" y="581247"/>
                  </a:lnTo>
                  <a:lnTo>
                    <a:pt x="3356241" y="588962"/>
                  </a:lnTo>
                  <a:lnTo>
                    <a:pt x="98158" y="588962"/>
                  </a:lnTo>
                  <a:lnTo>
                    <a:pt x="59953" y="581247"/>
                  </a:lnTo>
                  <a:lnTo>
                    <a:pt x="28752" y="560208"/>
                  </a:lnTo>
                  <a:lnTo>
                    <a:pt x="7714" y="529003"/>
                  </a:lnTo>
                  <a:lnTo>
                    <a:pt x="0" y="490791"/>
                  </a:lnTo>
                  <a:lnTo>
                    <a:pt x="0" y="98158"/>
                  </a:lnTo>
                  <a:close/>
                </a:path>
              </a:pathLst>
            </a:custGeom>
            <a:ln w="28575">
              <a:solidFill>
                <a:srgbClr val="FEFEFE"/>
              </a:solidFill>
            </a:ln>
          </p:spPr>
          <p:txBody>
            <a:bodyPr wrap="square" lIns="0" tIns="0" rIns="0" bIns="0" rtlCol="0"/>
            <a:lstStyle/>
            <a:p/>
          </p:txBody>
        </p:sp>
      </p:grpSp>
      <p:sp>
        <p:nvSpPr>
          <p:cNvPr id="57" name="object 57" descr=""/>
          <p:cNvSpPr txBox="1"/>
          <p:nvPr/>
        </p:nvSpPr>
        <p:spPr>
          <a:xfrm>
            <a:off x="91503" y="1639728"/>
            <a:ext cx="394335" cy="269875"/>
          </a:xfrm>
          <a:prstGeom prst="rect">
            <a:avLst/>
          </a:prstGeom>
        </p:spPr>
        <p:txBody>
          <a:bodyPr wrap="square" lIns="0" tIns="12700" rIns="0" bIns="0" rtlCol="0" vert="horz">
            <a:spAutoFit/>
          </a:bodyPr>
          <a:lstStyle/>
          <a:p>
            <a:pPr marL="12700">
              <a:lnSpc>
                <a:spcPct val="100000"/>
              </a:lnSpc>
              <a:spcBef>
                <a:spcPts val="100"/>
              </a:spcBef>
            </a:pPr>
            <a:r>
              <a:rPr dirty="0" sz="1600" spc="-25">
                <a:solidFill>
                  <a:srgbClr val="FEFEFE"/>
                </a:solidFill>
                <a:latin typeface="Microsoft YaHei"/>
                <a:cs typeface="Microsoft YaHei"/>
              </a:rPr>
              <a:t>ATP</a:t>
            </a:r>
            <a:endParaRPr sz="1600">
              <a:latin typeface="Microsoft YaHei"/>
              <a:cs typeface="Microsoft YaHei"/>
            </a:endParaRPr>
          </a:p>
        </p:txBody>
      </p:sp>
      <p:sp>
        <p:nvSpPr>
          <p:cNvPr id="58" name="object 58" descr=""/>
          <p:cNvSpPr txBox="1"/>
          <p:nvPr/>
        </p:nvSpPr>
        <p:spPr>
          <a:xfrm>
            <a:off x="472251" y="1640607"/>
            <a:ext cx="203835" cy="268605"/>
          </a:xfrm>
          <a:prstGeom prst="rect">
            <a:avLst/>
          </a:prstGeom>
        </p:spPr>
        <p:txBody>
          <a:bodyPr wrap="square" lIns="0" tIns="12065" rIns="0" bIns="0" rtlCol="0" vert="horz">
            <a:spAutoFit/>
          </a:bodyPr>
          <a:lstStyle/>
          <a:p>
            <a:pPr>
              <a:lnSpc>
                <a:spcPct val="100000"/>
              </a:lnSpc>
              <a:spcBef>
                <a:spcPts val="95"/>
              </a:spcBef>
            </a:pPr>
            <a:r>
              <a:rPr dirty="0" sz="1600" spc="-50">
                <a:solidFill>
                  <a:srgbClr val="FEFEFE"/>
                </a:solidFill>
                <a:latin typeface="Microsoft YaHei"/>
                <a:cs typeface="Microsoft YaHei"/>
              </a:rPr>
              <a:t>消</a:t>
            </a:r>
            <a:endParaRPr sz="1600">
              <a:latin typeface="Microsoft YaHei"/>
              <a:cs typeface="Microsoft YaHei"/>
            </a:endParaRPr>
          </a:p>
        </p:txBody>
      </p:sp>
      <p:grpSp>
        <p:nvGrpSpPr>
          <p:cNvPr id="59" name="object 59" descr=""/>
          <p:cNvGrpSpPr/>
          <p:nvPr/>
        </p:nvGrpSpPr>
        <p:grpSpPr>
          <a:xfrm>
            <a:off x="1266825" y="2890837"/>
            <a:ext cx="7788909" cy="1781810"/>
            <a:chOff x="1266825" y="2890837"/>
            <a:chExt cx="7788909" cy="1781810"/>
          </a:xfrm>
        </p:grpSpPr>
        <p:pic>
          <p:nvPicPr>
            <p:cNvPr id="60" name="object 60" descr=""/>
            <p:cNvPicPr/>
            <p:nvPr/>
          </p:nvPicPr>
          <p:blipFill>
            <a:blip r:embed="rId43" cstate="print"/>
            <a:stretch>
              <a:fillRect/>
            </a:stretch>
          </p:blipFill>
          <p:spPr>
            <a:xfrm>
              <a:off x="1342644" y="4241291"/>
              <a:ext cx="2311145" cy="431291"/>
            </a:xfrm>
            <a:prstGeom prst="rect">
              <a:avLst/>
            </a:prstGeom>
          </p:spPr>
        </p:pic>
        <p:pic>
          <p:nvPicPr>
            <p:cNvPr id="61" name="object 61" descr=""/>
            <p:cNvPicPr/>
            <p:nvPr/>
          </p:nvPicPr>
          <p:blipFill>
            <a:blip r:embed="rId44" cstate="print"/>
            <a:stretch>
              <a:fillRect/>
            </a:stretch>
          </p:blipFill>
          <p:spPr>
            <a:xfrm>
              <a:off x="1281112" y="4179887"/>
              <a:ext cx="2281237" cy="401637"/>
            </a:xfrm>
            <a:prstGeom prst="rect">
              <a:avLst/>
            </a:prstGeom>
          </p:spPr>
        </p:pic>
        <p:sp>
          <p:nvSpPr>
            <p:cNvPr id="62" name="object 62" descr=""/>
            <p:cNvSpPr/>
            <p:nvPr/>
          </p:nvSpPr>
          <p:spPr>
            <a:xfrm>
              <a:off x="1281112" y="4179887"/>
              <a:ext cx="2281555" cy="401955"/>
            </a:xfrm>
            <a:custGeom>
              <a:avLst/>
              <a:gdLst/>
              <a:ahLst/>
              <a:cxnLst/>
              <a:rect l="l" t="t" r="r" b="b"/>
              <a:pathLst>
                <a:path w="2281554" h="401954">
                  <a:moveTo>
                    <a:pt x="0" y="66941"/>
                  </a:moveTo>
                  <a:lnTo>
                    <a:pt x="5260" y="40885"/>
                  </a:lnTo>
                  <a:lnTo>
                    <a:pt x="19607" y="19607"/>
                  </a:lnTo>
                  <a:lnTo>
                    <a:pt x="40885" y="5260"/>
                  </a:lnTo>
                  <a:lnTo>
                    <a:pt x="66941" y="0"/>
                  </a:lnTo>
                  <a:lnTo>
                    <a:pt x="2214295" y="0"/>
                  </a:lnTo>
                  <a:lnTo>
                    <a:pt x="2240352" y="5260"/>
                  </a:lnTo>
                  <a:lnTo>
                    <a:pt x="2261630" y="19607"/>
                  </a:lnTo>
                  <a:lnTo>
                    <a:pt x="2275976" y="40885"/>
                  </a:lnTo>
                  <a:lnTo>
                    <a:pt x="2281237" y="66941"/>
                  </a:lnTo>
                  <a:lnTo>
                    <a:pt x="2281237" y="334695"/>
                  </a:lnTo>
                  <a:lnTo>
                    <a:pt x="2275976" y="360752"/>
                  </a:lnTo>
                  <a:lnTo>
                    <a:pt x="2261630" y="382030"/>
                  </a:lnTo>
                  <a:lnTo>
                    <a:pt x="2240352" y="396376"/>
                  </a:lnTo>
                  <a:lnTo>
                    <a:pt x="2214295" y="401637"/>
                  </a:lnTo>
                  <a:lnTo>
                    <a:pt x="66941" y="401637"/>
                  </a:lnTo>
                  <a:lnTo>
                    <a:pt x="40885" y="396376"/>
                  </a:lnTo>
                  <a:lnTo>
                    <a:pt x="19607" y="382030"/>
                  </a:lnTo>
                  <a:lnTo>
                    <a:pt x="5260" y="360752"/>
                  </a:lnTo>
                  <a:lnTo>
                    <a:pt x="0" y="334695"/>
                  </a:lnTo>
                  <a:lnTo>
                    <a:pt x="0" y="66941"/>
                  </a:lnTo>
                  <a:close/>
                </a:path>
              </a:pathLst>
            </a:custGeom>
            <a:ln w="28575">
              <a:solidFill>
                <a:srgbClr val="FEFEFE"/>
              </a:solidFill>
            </a:ln>
          </p:spPr>
          <p:txBody>
            <a:bodyPr wrap="square" lIns="0" tIns="0" rIns="0" bIns="0" rtlCol="0"/>
            <a:lstStyle/>
            <a:p/>
          </p:txBody>
        </p:sp>
        <p:pic>
          <p:nvPicPr>
            <p:cNvPr id="63" name="object 63" descr=""/>
            <p:cNvPicPr/>
            <p:nvPr/>
          </p:nvPicPr>
          <p:blipFill>
            <a:blip r:embed="rId45" cstate="print"/>
            <a:stretch>
              <a:fillRect/>
            </a:stretch>
          </p:blipFill>
          <p:spPr>
            <a:xfrm>
              <a:off x="5971794" y="2966465"/>
              <a:ext cx="3083812" cy="431291"/>
            </a:xfrm>
            <a:prstGeom prst="rect">
              <a:avLst/>
            </a:prstGeom>
          </p:spPr>
        </p:pic>
        <p:pic>
          <p:nvPicPr>
            <p:cNvPr id="64" name="object 64" descr=""/>
            <p:cNvPicPr/>
            <p:nvPr/>
          </p:nvPicPr>
          <p:blipFill>
            <a:blip r:embed="rId46" cstate="print"/>
            <a:stretch>
              <a:fillRect/>
            </a:stretch>
          </p:blipFill>
          <p:spPr>
            <a:xfrm>
              <a:off x="5910262" y="2905125"/>
              <a:ext cx="3054350" cy="401637"/>
            </a:xfrm>
            <a:prstGeom prst="rect">
              <a:avLst/>
            </a:prstGeom>
          </p:spPr>
        </p:pic>
        <p:sp>
          <p:nvSpPr>
            <p:cNvPr id="65" name="object 65" descr=""/>
            <p:cNvSpPr/>
            <p:nvPr/>
          </p:nvSpPr>
          <p:spPr>
            <a:xfrm>
              <a:off x="5910263" y="2905125"/>
              <a:ext cx="3054350" cy="401955"/>
            </a:xfrm>
            <a:custGeom>
              <a:avLst/>
              <a:gdLst/>
              <a:ahLst/>
              <a:cxnLst/>
              <a:rect l="l" t="t" r="r" b="b"/>
              <a:pathLst>
                <a:path w="3054350" h="401954">
                  <a:moveTo>
                    <a:pt x="0" y="66941"/>
                  </a:moveTo>
                  <a:lnTo>
                    <a:pt x="5260" y="40885"/>
                  </a:lnTo>
                  <a:lnTo>
                    <a:pt x="19607" y="19607"/>
                  </a:lnTo>
                  <a:lnTo>
                    <a:pt x="40885" y="5260"/>
                  </a:lnTo>
                  <a:lnTo>
                    <a:pt x="66941" y="0"/>
                  </a:lnTo>
                  <a:lnTo>
                    <a:pt x="2987408" y="0"/>
                  </a:lnTo>
                  <a:lnTo>
                    <a:pt x="3013464" y="5260"/>
                  </a:lnTo>
                  <a:lnTo>
                    <a:pt x="3034742" y="19607"/>
                  </a:lnTo>
                  <a:lnTo>
                    <a:pt x="3049089" y="40885"/>
                  </a:lnTo>
                  <a:lnTo>
                    <a:pt x="3054350" y="66941"/>
                  </a:lnTo>
                  <a:lnTo>
                    <a:pt x="3054350" y="334695"/>
                  </a:lnTo>
                  <a:lnTo>
                    <a:pt x="3049089" y="360752"/>
                  </a:lnTo>
                  <a:lnTo>
                    <a:pt x="3034742" y="382030"/>
                  </a:lnTo>
                  <a:lnTo>
                    <a:pt x="3013464" y="396376"/>
                  </a:lnTo>
                  <a:lnTo>
                    <a:pt x="2987408" y="401637"/>
                  </a:lnTo>
                  <a:lnTo>
                    <a:pt x="66941" y="401637"/>
                  </a:lnTo>
                  <a:lnTo>
                    <a:pt x="40885" y="396376"/>
                  </a:lnTo>
                  <a:lnTo>
                    <a:pt x="19607" y="382030"/>
                  </a:lnTo>
                  <a:lnTo>
                    <a:pt x="5260" y="360752"/>
                  </a:lnTo>
                  <a:lnTo>
                    <a:pt x="0" y="334695"/>
                  </a:lnTo>
                  <a:lnTo>
                    <a:pt x="0" y="66941"/>
                  </a:lnTo>
                  <a:close/>
                </a:path>
              </a:pathLst>
            </a:custGeom>
            <a:ln w="28575">
              <a:solidFill>
                <a:srgbClr val="FEFEFE"/>
              </a:solidFill>
            </a:ln>
          </p:spPr>
          <p:txBody>
            <a:bodyPr wrap="square" lIns="0" tIns="0" rIns="0" bIns="0" rtlCol="0"/>
            <a:lstStyle/>
            <a:p/>
          </p:txBody>
        </p:sp>
      </p:grpSp>
      <p:sp>
        <p:nvSpPr>
          <p:cNvPr id="66" name="object 66" descr=""/>
          <p:cNvSpPr txBox="1"/>
          <p:nvPr/>
        </p:nvSpPr>
        <p:spPr>
          <a:xfrm>
            <a:off x="8476016" y="2963703"/>
            <a:ext cx="229235" cy="269875"/>
          </a:xfrm>
          <a:prstGeom prst="rect">
            <a:avLst/>
          </a:prstGeom>
        </p:spPr>
        <p:txBody>
          <a:bodyPr wrap="square" lIns="0" tIns="12700" rIns="0" bIns="0" rtlCol="0" vert="horz">
            <a:spAutoFit/>
          </a:bodyPr>
          <a:lstStyle/>
          <a:p>
            <a:pPr marL="12700">
              <a:lnSpc>
                <a:spcPct val="100000"/>
              </a:lnSpc>
              <a:spcBef>
                <a:spcPts val="100"/>
              </a:spcBef>
            </a:pPr>
            <a:r>
              <a:rPr dirty="0" sz="1600" spc="-50">
                <a:solidFill>
                  <a:srgbClr val="FEFEFE"/>
                </a:solidFill>
                <a:latin typeface="Microsoft YaHei"/>
                <a:cs typeface="Microsoft YaHei"/>
              </a:rPr>
              <a:t>形</a:t>
            </a:r>
            <a:endParaRPr sz="1600">
              <a:latin typeface="Microsoft YaHei"/>
              <a:cs typeface="Microsoft YaHei"/>
            </a:endParaRPr>
          </a:p>
        </p:txBody>
      </p:sp>
      <p:sp>
        <p:nvSpPr>
          <p:cNvPr id="67" name="object 67" descr=""/>
          <p:cNvSpPr txBox="1"/>
          <p:nvPr/>
        </p:nvSpPr>
        <p:spPr>
          <a:xfrm>
            <a:off x="386968" y="1577722"/>
            <a:ext cx="8102600" cy="2936875"/>
          </a:xfrm>
          <a:prstGeom prst="rect">
            <a:avLst/>
          </a:prstGeom>
        </p:spPr>
        <p:txBody>
          <a:bodyPr wrap="square" lIns="0" tIns="49530" rIns="0" bIns="0" rtlCol="0" vert="horz">
            <a:spAutoFit/>
          </a:bodyPr>
          <a:lstStyle/>
          <a:p>
            <a:pPr marL="288290">
              <a:lnSpc>
                <a:spcPct val="100000"/>
              </a:lnSpc>
              <a:spcBef>
                <a:spcPts val="390"/>
              </a:spcBef>
              <a:tabLst>
                <a:tab pos="5354320" algn="l"/>
              </a:tabLst>
            </a:pPr>
            <a:r>
              <a:rPr dirty="0" sz="1600">
                <a:solidFill>
                  <a:srgbClr val="FEFEFE"/>
                </a:solidFill>
                <a:latin typeface="Microsoft YaHei"/>
                <a:cs typeface="Microsoft YaHei"/>
              </a:rPr>
              <a:t>息跟踪</a:t>
            </a:r>
            <a:r>
              <a:rPr dirty="0" sz="1600" spc="-10">
                <a:solidFill>
                  <a:srgbClr val="FEFEFE"/>
                </a:solidFill>
                <a:latin typeface="Microsoft YaHei"/>
                <a:cs typeface="Microsoft YaHei"/>
              </a:rPr>
              <a:t>（NG</a:t>
            </a:r>
            <a:r>
              <a:rPr dirty="0" sz="1600">
                <a:solidFill>
                  <a:srgbClr val="FEFEFE"/>
                </a:solidFill>
                <a:latin typeface="Microsoft YaHei"/>
                <a:cs typeface="Microsoft YaHei"/>
              </a:rPr>
              <a:t>接口</a:t>
            </a:r>
            <a:r>
              <a:rPr dirty="0" sz="1600" spc="-10">
                <a:solidFill>
                  <a:srgbClr val="FEFEFE"/>
                </a:solidFill>
                <a:latin typeface="Microsoft YaHei"/>
                <a:cs typeface="Microsoft YaHei"/>
              </a:rPr>
              <a:t>，</a:t>
            </a:r>
            <a:r>
              <a:rPr dirty="0" sz="1600">
                <a:solidFill>
                  <a:srgbClr val="FEFEFE"/>
                </a:solidFill>
                <a:latin typeface="Microsoft YaHei"/>
                <a:cs typeface="Microsoft YaHei"/>
              </a:rPr>
              <a:t>需打</a:t>
            </a:r>
            <a:r>
              <a:rPr dirty="0" sz="1600" spc="-10">
                <a:solidFill>
                  <a:srgbClr val="FEFEFE"/>
                </a:solidFill>
                <a:latin typeface="Microsoft YaHei"/>
                <a:cs typeface="Microsoft YaHei"/>
              </a:rPr>
              <a:t>开</a:t>
            </a:r>
            <a:r>
              <a:rPr dirty="0" sz="1600">
                <a:solidFill>
                  <a:srgbClr val="FEFEFE"/>
                </a:solidFill>
                <a:latin typeface="Microsoft YaHei"/>
                <a:cs typeface="Microsoft YaHei"/>
              </a:rPr>
              <a:t>镜像</a:t>
            </a:r>
            <a:r>
              <a:rPr dirty="0" sz="1600" spc="-50">
                <a:solidFill>
                  <a:srgbClr val="FEFEFE"/>
                </a:solidFill>
                <a:latin typeface="Microsoft YaHei"/>
                <a:cs typeface="Microsoft YaHei"/>
              </a:rPr>
              <a:t>）</a:t>
            </a:r>
            <a:r>
              <a:rPr dirty="0" sz="1600">
                <a:solidFill>
                  <a:srgbClr val="FEFEFE"/>
                </a:solidFill>
                <a:latin typeface="Microsoft YaHei"/>
                <a:cs typeface="Microsoft YaHei"/>
              </a:rPr>
              <a:t>	</a:t>
            </a:r>
            <a:r>
              <a:rPr dirty="0" baseline="16975" sz="2700" spc="-82">
                <a:solidFill>
                  <a:srgbClr val="FEFEFE"/>
                </a:solidFill>
                <a:latin typeface="Arial MT"/>
                <a:cs typeface="Arial MT"/>
              </a:rPr>
              <a:t>ATP</a:t>
            </a:r>
            <a:r>
              <a:rPr dirty="0" baseline="16975" sz="2700">
                <a:solidFill>
                  <a:srgbClr val="FEFEFE"/>
                </a:solidFill>
                <a:latin typeface="SimSun"/>
                <a:cs typeface="SimSun"/>
              </a:rPr>
              <a:t>信令流</a:t>
            </a:r>
            <a:r>
              <a:rPr dirty="0" baseline="16975" sz="2700" spc="-75">
                <a:solidFill>
                  <a:srgbClr val="FEFEFE"/>
                </a:solidFill>
                <a:latin typeface="SimSun"/>
                <a:cs typeface="SimSun"/>
              </a:rPr>
              <a:t>图</a:t>
            </a:r>
            <a:endParaRPr baseline="16975" sz="2700">
              <a:latin typeface="SimSun"/>
              <a:cs typeface="SimSun"/>
            </a:endParaRPr>
          </a:p>
          <a:p>
            <a:pPr>
              <a:lnSpc>
                <a:spcPct val="100000"/>
              </a:lnSpc>
            </a:pPr>
            <a:endParaRPr sz="1600">
              <a:latin typeface="SimSun"/>
              <a:cs typeface="SimSun"/>
            </a:endParaRPr>
          </a:p>
          <a:p>
            <a:pPr>
              <a:lnSpc>
                <a:spcPct val="100000"/>
              </a:lnSpc>
            </a:pPr>
            <a:endParaRPr sz="1600">
              <a:latin typeface="SimSun"/>
              <a:cs typeface="SimSun"/>
            </a:endParaRPr>
          </a:p>
          <a:p>
            <a:pPr>
              <a:lnSpc>
                <a:spcPct val="100000"/>
              </a:lnSpc>
              <a:spcBef>
                <a:spcPts val="1515"/>
              </a:spcBef>
            </a:pPr>
            <a:endParaRPr sz="1600">
              <a:latin typeface="SimSun"/>
              <a:cs typeface="SimSun"/>
            </a:endParaRPr>
          </a:p>
          <a:p>
            <a:pPr>
              <a:lnSpc>
                <a:spcPct val="100000"/>
              </a:lnSpc>
              <a:tabLst>
                <a:tab pos="3418840" algn="l"/>
                <a:tab pos="5795645" algn="l"/>
              </a:tabLst>
            </a:pPr>
            <a:r>
              <a:rPr dirty="0" sz="1600" spc="-20">
                <a:solidFill>
                  <a:srgbClr val="FEFEFE"/>
                </a:solidFill>
                <a:latin typeface="Microsoft YaHei"/>
                <a:cs typeface="Microsoft YaHei"/>
              </a:rPr>
              <a:t>MAC</a:t>
            </a:r>
            <a:r>
              <a:rPr dirty="0" sz="1600">
                <a:solidFill>
                  <a:srgbClr val="FEFEFE"/>
                </a:solidFill>
                <a:latin typeface="Microsoft YaHei"/>
                <a:cs typeface="Microsoft YaHei"/>
              </a:rPr>
              <a:t>下行吞吐量小区级</a:t>
            </a:r>
            <a:r>
              <a:rPr dirty="0" sz="1600" spc="-10">
                <a:solidFill>
                  <a:srgbClr val="FEFEFE"/>
                </a:solidFill>
                <a:latin typeface="Microsoft YaHei"/>
                <a:cs typeface="Microsoft YaHei"/>
              </a:rPr>
              <a:t>图</a:t>
            </a:r>
            <a:r>
              <a:rPr dirty="0" sz="1600" spc="-50">
                <a:solidFill>
                  <a:srgbClr val="FEFEFE"/>
                </a:solidFill>
                <a:latin typeface="Microsoft YaHei"/>
                <a:cs typeface="Microsoft YaHei"/>
              </a:rPr>
              <a:t>形</a:t>
            </a:r>
            <a:r>
              <a:rPr dirty="0" sz="1600">
                <a:solidFill>
                  <a:srgbClr val="FEFEFE"/>
                </a:solidFill>
                <a:latin typeface="Microsoft YaHei"/>
                <a:cs typeface="Microsoft YaHei"/>
              </a:rPr>
              <a:t>	</a:t>
            </a:r>
            <a:r>
              <a:rPr dirty="0" baseline="-11574" sz="3600" spc="-104">
                <a:solidFill>
                  <a:srgbClr val="020202"/>
                </a:solidFill>
                <a:latin typeface="Arial MT"/>
                <a:cs typeface="Arial MT"/>
              </a:rPr>
              <a:t>ATP</a:t>
            </a:r>
            <a:r>
              <a:rPr dirty="0" baseline="-11574" sz="3600">
                <a:solidFill>
                  <a:srgbClr val="020202"/>
                </a:solidFill>
                <a:latin typeface="SimSun"/>
                <a:cs typeface="SimSun"/>
              </a:rPr>
              <a:t>作</a:t>
            </a:r>
            <a:r>
              <a:rPr dirty="0" baseline="-11574" sz="3600" spc="-75">
                <a:solidFill>
                  <a:srgbClr val="020202"/>
                </a:solidFill>
                <a:latin typeface="SimSun"/>
                <a:cs typeface="SimSun"/>
              </a:rPr>
              <a:t>用</a:t>
            </a:r>
            <a:r>
              <a:rPr dirty="0" baseline="-11574" sz="3600">
                <a:solidFill>
                  <a:srgbClr val="020202"/>
                </a:solidFill>
                <a:latin typeface="SimSun"/>
                <a:cs typeface="SimSun"/>
              </a:rPr>
              <a:t>	</a:t>
            </a:r>
            <a:r>
              <a:rPr dirty="0" sz="1600" spc="-20">
                <a:solidFill>
                  <a:srgbClr val="FEFEFE"/>
                </a:solidFill>
                <a:latin typeface="Microsoft YaHei"/>
                <a:cs typeface="Microsoft YaHei"/>
              </a:rPr>
              <a:t>MAC</a:t>
            </a:r>
            <a:r>
              <a:rPr dirty="0" sz="1600">
                <a:solidFill>
                  <a:srgbClr val="FEFEFE"/>
                </a:solidFill>
                <a:latin typeface="Microsoft YaHei"/>
                <a:cs typeface="Microsoft YaHei"/>
              </a:rPr>
              <a:t>下行吞吐量用户级</a:t>
            </a:r>
            <a:r>
              <a:rPr dirty="0" sz="1600" spc="-50">
                <a:solidFill>
                  <a:srgbClr val="FEFEFE"/>
                </a:solidFill>
                <a:latin typeface="Microsoft YaHei"/>
                <a:cs typeface="Microsoft YaHei"/>
              </a:rPr>
              <a:t>图</a:t>
            </a:r>
            <a:endParaRPr sz="1600">
              <a:latin typeface="Microsoft YaHei"/>
              <a:cs typeface="Microsoft YaHei"/>
            </a:endParaRPr>
          </a:p>
          <a:p>
            <a:pPr>
              <a:lnSpc>
                <a:spcPct val="100000"/>
              </a:lnSpc>
            </a:pPr>
            <a:endParaRPr sz="1600">
              <a:latin typeface="Microsoft YaHei"/>
              <a:cs typeface="Microsoft YaHei"/>
            </a:endParaRPr>
          </a:p>
          <a:p>
            <a:pPr>
              <a:lnSpc>
                <a:spcPct val="100000"/>
              </a:lnSpc>
              <a:spcBef>
                <a:spcPts val="1964"/>
              </a:spcBef>
            </a:pPr>
            <a:endParaRPr sz="1600">
              <a:latin typeface="Microsoft YaHei"/>
              <a:cs typeface="Microsoft YaHei"/>
            </a:endParaRPr>
          </a:p>
          <a:p>
            <a:pPr algn="ctr" marR="193040">
              <a:lnSpc>
                <a:spcPct val="100000"/>
              </a:lnSpc>
              <a:tabLst>
                <a:tab pos="4149090" algn="l"/>
              </a:tabLst>
            </a:pPr>
            <a:r>
              <a:rPr dirty="0" sz="1800">
                <a:solidFill>
                  <a:srgbClr val="FEFEFE"/>
                </a:solidFill>
                <a:latin typeface="SimSun"/>
                <a:cs typeface="SimSun"/>
              </a:rPr>
              <a:t>调度次</a:t>
            </a:r>
            <a:r>
              <a:rPr dirty="0" sz="1800" spc="-50">
                <a:solidFill>
                  <a:srgbClr val="FEFEFE"/>
                </a:solidFill>
                <a:latin typeface="SimSun"/>
                <a:cs typeface="SimSun"/>
              </a:rPr>
              <a:t>数</a:t>
            </a:r>
            <a:r>
              <a:rPr dirty="0" sz="1800">
                <a:solidFill>
                  <a:srgbClr val="FEFEFE"/>
                </a:solidFill>
                <a:latin typeface="SimSun"/>
                <a:cs typeface="SimSun"/>
              </a:rPr>
              <a:t>	</a:t>
            </a:r>
            <a:r>
              <a:rPr dirty="0" sz="1800" spc="-20">
                <a:solidFill>
                  <a:srgbClr val="FEFEFE"/>
                </a:solidFill>
                <a:latin typeface="Arial MT"/>
                <a:cs typeface="Arial MT"/>
              </a:rPr>
              <a:t>BLER</a:t>
            </a:r>
            <a:endParaRPr sz="1800">
              <a:latin typeface="Arial MT"/>
              <a:cs typeface="Arial MT"/>
            </a:endParaRPr>
          </a:p>
        </p:txBody>
      </p:sp>
      <p:grpSp>
        <p:nvGrpSpPr>
          <p:cNvPr id="68" name="object 68" descr=""/>
          <p:cNvGrpSpPr/>
          <p:nvPr/>
        </p:nvGrpSpPr>
        <p:grpSpPr>
          <a:xfrm>
            <a:off x="5224462" y="1481134"/>
            <a:ext cx="2453640" cy="3191510"/>
            <a:chOff x="5224462" y="1481134"/>
            <a:chExt cx="2453640" cy="3191510"/>
          </a:xfrm>
        </p:grpSpPr>
        <p:pic>
          <p:nvPicPr>
            <p:cNvPr id="69" name="object 69" descr=""/>
            <p:cNvPicPr/>
            <p:nvPr/>
          </p:nvPicPr>
          <p:blipFill>
            <a:blip r:embed="rId47" cstate="print"/>
            <a:stretch>
              <a:fillRect/>
            </a:stretch>
          </p:blipFill>
          <p:spPr>
            <a:xfrm>
              <a:off x="5299710" y="1556766"/>
              <a:ext cx="2378200" cy="432815"/>
            </a:xfrm>
            <a:prstGeom prst="rect">
              <a:avLst/>
            </a:prstGeom>
          </p:spPr>
        </p:pic>
        <p:pic>
          <p:nvPicPr>
            <p:cNvPr id="70" name="object 70" descr=""/>
            <p:cNvPicPr/>
            <p:nvPr/>
          </p:nvPicPr>
          <p:blipFill>
            <a:blip r:embed="rId48" cstate="print"/>
            <a:stretch>
              <a:fillRect/>
            </a:stretch>
          </p:blipFill>
          <p:spPr>
            <a:xfrm>
              <a:off x="5238750" y="1495425"/>
              <a:ext cx="2347912" cy="403225"/>
            </a:xfrm>
            <a:prstGeom prst="rect">
              <a:avLst/>
            </a:prstGeom>
          </p:spPr>
        </p:pic>
        <p:sp>
          <p:nvSpPr>
            <p:cNvPr id="71" name="object 71" descr=""/>
            <p:cNvSpPr/>
            <p:nvPr/>
          </p:nvSpPr>
          <p:spPr>
            <a:xfrm>
              <a:off x="5238750" y="1495422"/>
              <a:ext cx="2348230" cy="403225"/>
            </a:xfrm>
            <a:custGeom>
              <a:avLst/>
              <a:gdLst/>
              <a:ahLst/>
              <a:cxnLst/>
              <a:rect l="l" t="t" r="r" b="b"/>
              <a:pathLst>
                <a:path w="2348229" h="403225">
                  <a:moveTo>
                    <a:pt x="0" y="67208"/>
                  </a:moveTo>
                  <a:lnTo>
                    <a:pt x="5281" y="41046"/>
                  </a:lnTo>
                  <a:lnTo>
                    <a:pt x="19683" y="19683"/>
                  </a:lnTo>
                  <a:lnTo>
                    <a:pt x="41046" y="5281"/>
                  </a:lnTo>
                  <a:lnTo>
                    <a:pt x="67208" y="0"/>
                  </a:lnTo>
                  <a:lnTo>
                    <a:pt x="2280704" y="0"/>
                  </a:lnTo>
                  <a:lnTo>
                    <a:pt x="2306866" y="5281"/>
                  </a:lnTo>
                  <a:lnTo>
                    <a:pt x="2328229" y="19683"/>
                  </a:lnTo>
                  <a:lnTo>
                    <a:pt x="2342631" y="41046"/>
                  </a:lnTo>
                  <a:lnTo>
                    <a:pt x="2347912" y="67208"/>
                  </a:lnTo>
                  <a:lnTo>
                    <a:pt x="2347912" y="336016"/>
                  </a:lnTo>
                  <a:lnTo>
                    <a:pt x="2342631" y="362178"/>
                  </a:lnTo>
                  <a:lnTo>
                    <a:pt x="2328229" y="383541"/>
                  </a:lnTo>
                  <a:lnTo>
                    <a:pt x="2306866" y="397943"/>
                  </a:lnTo>
                  <a:lnTo>
                    <a:pt x="2280704" y="403224"/>
                  </a:lnTo>
                  <a:lnTo>
                    <a:pt x="67208" y="403224"/>
                  </a:lnTo>
                  <a:lnTo>
                    <a:pt x="41046" y="397943"/>
                  </a:lnTo>
                  <a:lnTo>
                    <a:pt x="19683" y="383541"/>
                  </a:lnTo>
                  <a:lnTo>
                    <a:pt x="5281" y="362178"/>
                  </a:lnTo>
                  <a:lnTo>
                    <a:pt x="0" y="336016"/>
                  </a:lnTo>
                  <a:lnTo>
                    <a:pt x="0" y="67208"/>
                  </a:lnTo>
                  <a:close/>
                </a:path>
              </a:pathLst>
            </a:custGeom>
            <a:ln w="28575">
              <a:solidFill>
                <a:srgbClr val="FEFEFE"/>
              </a:solidFill>
            </a:ln>
          </p:spPr>
          <p:txBody>
            <a:bodyPr wrap="square" lIns="0" tIns="0" rIns="0" bIns="0" rtlCol="0"/>
            <a:lstStyle/>
            <a:p/>
          </p:txBody>
        </p:sp>
        <p:pic>
          <p:nvPicPr>
            <p:cNvPr id="72" name="object 72" descr=""/>
            <p:cNvPicPr/>
            <p:nvPr/>
          </p:nvPicPr>
          <p:blipFill>
            <a:blip r:embed="rId49" cstate="print"/>
            <a:stretch>
              <a:fillRect/>
            </a:stretch>
          </p:blipFill>
          <p:spPr>
            <a:xfrm>
              <a:off x="5299710" y="4241292"/>
              <a:ext cx="2378200" cy="431291"/>
            </a:xfrm>
            <a:prstGeom prst="rect">
              <a:avLst/>
            </a:prstGeom>
          </p:spPr>
        </p:pic>
        <p:pic>
          <p:nvPicPr>
            <p:cNvPr id="73" name="object 73" descr=""/>
            <p:cNvPicPr/>
            <p:nvPr/>
          </p:nvPicPr>
          <p:blipFill>
            <a:blip r:embed="rId50" cstate="print"/>
            <a:stretch>
              <a:fillRect/>
            </a:stretch>
          </p:blipFill>
          <p:spPr>
            <a:xfrm>
              <a:off x="5238750" y="4179887"/>
              <a:ext cx="2347912" cy="401637"/>
            </a:xfrm>
            <a:prstGeom prst="rect">
              <a:avLst/>
            </a:prstGeom>
          </p:spPr>
        </p:pic>
        <p:sp>
          <p:nvSpPr>
            <p:cNvPr id="74" name="object 74" descr=""/>
            <p:cNvSpPr/>
            <p:nvPr/>
          </p:nvSpPr>
          <p:spPr>
            <a:xfrm>
              <a:off x="5238750" y="4179887"/>
              <a:ext cx="2348230" cy="401955"/>
            </a:xfrm>
            <a:custGeom>
              <a:avLst/>
              <a:gdLst/>
              <a:ahLst/>
              <a:cxnLst/>
              <a:rect l="l" t="t" r="r" b="b"/>
              <a:pathLst>
                <a:path w="2348229" h="401954">
                  <a:moveTo>
                    <a:pt x="0" y="66941"/>
                  </a:moveTo>
                  <a:lnTo>
                    <a:pt x="5260" y="40885"/>
                  </a:lnTo>
                  <a:lnTo>
                    <a:pt x="19607" y="19607"/>
                  </a:lnTo>
                  <a:lnTo>
                    <a:pt x="40885" y="5260"/>
                  </a:lnTo>
                  <a:lnTo>
                    <a:pt x="66941" y="0"/>
                  </a:lnTo>
                  <a:lnTo>
                    <a:pt x="2280970" y="0"/>
                  </a:lnTo>
                  <a:lnTo>
                    <a:pt x="2307027" y="5260"/>
                  </a:lnTo>
                  <a:lnTo>
                    <a:pt x="2328305" y="19607"/>
                  </a:lnTo>
                  <a:lnTo>
                    <a:pt x="2342651" y="40885"/>
                  </a:lnTo>
                  <a:lnTo>
                    <a:pt x="2347912" y="66941"/>
                  </a:lnTo>
                  <a:lnTo>
                    <a:pt x="2347912" y="334695"/>
                  </a:lnTo>
                  <a:lnTo>
                    <a:pt x="2342651" y="360752"/>
                  </a:lnTo>
                  <a:lnTo>
                    <a:pt x="2328305" y="382030"/>
                  </a:lnTo>
                  <a:lnTo>
                    <a:pt x="2307027" y="396376"/>
                  </a:lnTo>
                  <a:lnTo>
                    <a:pt x="2280970" y="401637"/>
                  </a:lnTo>
                  <a:lnTo>
                    <a:pt x="66941" y="401637"/>
                  </a:lnTo>
                  <a:lnTo>
                    <a:pt x="40885" y="396376"/>
                  </a:lnTo>
                  <a:lnTo>
                    <a:pt x="19607" y="382030"/>
                  </a:lnTo>
                  <a:lnTo>
                    <a:pt x="5260" y="360752"/>
                  </a:lnTo>
                  <a:lnTo>
                    <a:pt x="0" y="334695"/>
                  </a:lnTo>
                  <a:lnTo>
                    <a:pt x="0" y="66941"/>
                  </a:lnTo>
                  <a:close/>
                </a:path>
              </a:pathLst>
            </a:custGeom>
            <a:ln w="28575">
              <a:solidFill>
                <a:srgbClr val="FEFEFE"/>
              </a:solidFill>
            </a:ln>
          </p:spPr>
          <p:txBody>
            <a:bodyPr wrap="square" lIns="0" tIns="0" rIns="0" bIns="0" rtlCol="0"/>
            <a:lstStyle/>
            <a:p/>
          </p:txBody>
        </p:sp>
      </p:grpSp>
      <p:sp>
        <p:nvSpPr>
          <p:cNvPr id="75" name="object 75" descr=""/>
          <p:cNvSpPr txBox="1"/>
          <p:nvPr/>
        </p:nvSpPr>
        <p:spPr>
          <a:xfrm>
            <a:off x="669290" y="919988"/>
            <a:ext cx="1354455" cy="299720"/>
          </a:xfrm>
          <a:prstGeom prst="rect">
            <a:avLst/>
          </a:prstGeom>
        </p:spPr>
        <p:txBody>
          <a:bodyPr wrap="square" lIns="0" tIns="12700" rIns="0" bIns="0" rtlCol="0" vert="horz">
            <a:spAutoFit/>
          </a:bodyPr>
          <a:lstStyle/>
          <a:p>
            <a:pPr marL="12700">
              <a:lnSpc>
                <a:spcPct val="100000"/>
              </a:lnSpc>
              <a:spcBef>
                <a:spcPts val="100"/>
              </a:spcBef>
            </a:pPr>
            <a:r>
              <a:rPr dirty="0" sz="1800" spc="-60">
                <a:latin typeface="Microsoft YaHei"/>
                <a:cs typeface="Microsoft YaHei"/>
              </a:rPr>
              <a:t>ATP</a:t>
            </a:r>
            <a:r>
              <a:rPr dirty="0" sz="1800" spc="-15">
                <a:latin typeface="Microsoft YaHei"/>
                <a:cs typeface="Microsoft YaHei"/>
              </a:rPr>
              <a:t>主要功能</a:t>
            </a:r>
            <a:endParaRPr sz="1800">
              <a:latin typeface="Microsoft YaHei"/>
              <a:cs typeface="Microsoft YaHei"/>
            </a:endParaRPr>
          </a:p>
        </p:txBody>
      </p:sp>
      <p:grpSp>
        <p:nvGrpSpPr>
          <p:cNvPr id="76" name="object 76" descr=""/>
          <p:cNvGrpSpPr/>
          <p:nvPr/>
        </p:nvGrpSpPr>
        <p:grpSpPr>
          <a:xfrm>
            <a:off x="539750" y="1123950"/>
            <a:ext cx="8082280" cy="3875404"/>
            <a:chOff x="539750" y="1123950"/>
            <a:chExt cx="8082280" cy="3875404"/>
          </a:xfrm>
        </p:grpSpPr>
        <p:pic>
          <p:nvPicPr>
            <p:cNvPr id="77" name="object 77"/>
            <p:cNvPicPr/>
            <p:nvPr/>
          </p:nvPicPr>
          <p:blipFill>
            <a:blip r:embed="rId51" cstate="print"/>
            <a:stretch>
              <a:fillRect/>
            </a:stretch>
          </p:blipFill>
          <p:spPr>
            <a:xfrm>
              <a:off x="539750" y="1131888"/>
              <a:ext cx="8081962" cy="3867149"/>
            </a:xfrm>
            <a:prstGeom prst="rect">
              <a:avLst/>
            </a:prstGeom>
          </p:spPr>
        </p:pic>
        <p:pic>
          <p:nvPicPr>
            <p:cNvPr id="78" name="object 78"/>
            <p:cNvPicPr/>
            <p:nvPr/>
          </p:nvPicPr>
          <p:blipFill>
            <a:blip r:embed="rId52" cstate="print"/>
            <a:stretch>
              <a:fillRect/>
            </a:stretch>
          </p:blipFill>
          <p:spPr>
            <a:xfrm>
              <a:off x="609600" y="1123950"/>
              <a:ext cx="7883524" cy="3787774"/>
            </a:xfrm>
            <a:prstGeom prst="rect">
              <a:avLst/>
            </a:prstGeom>
          </p:spPr>
        </p:pic>
        <p:pic>
          <p:nvPicPr>
            <p:cNvPr id="79" name="object 79"/>
            <p:cNvPicPr/>
            <p:nvPr/>
          </p:nvPicPr>
          <p:blipFill>
            <a:blip r:embed="rId53" cstate="print"/>
            <a:stretch>
              <a:fillRect/>
            </a:stretch>
          </p:blipFill>
          <p:spPr>
            <a:xfrm>
              <a:off x="611187" y="1203325"/>
              <a:ext cx="7619999" cy="3656012"/>
            </a:xfrm>
            <a:prstGeom prst="rect">
              <a:avLst/>
            </a:prstGeom>
          </p:spPr>
        </p:pic>
      </p:grpSp>
      <p:sp>
        <p:nvSpPr>
          <p:cNvPr id="80" name="object 80" descr=""/>
          <p:cNvSpPr txBox="1"/>
          <p:nvPr/>
        </p:nvSpPr>
        <p:spPr>
          <a:xfrm>
            <a:off x="264477" y="767588"/>
            <a:ext cx="4813300" cy="299720"/>
          </a:xfrm>
          <a:prstGeom prst="rect">
            <a:avLst/>
          </a:prstGeom>
        </p:spPr>
        <p:txBody>
          <a:bodyPr wrap="square" lIns="0" tIns="12700" rIns="0" bIns="0" rtlCol="0" vert="horz">
            <a:spAutoFit/>
          </a:bodyPr>
          <a:lstStyle/>
          <a:p>
            <a:pPr marL="38100">
              <a:lnSpc>
                <a:spcPct val="100000"/>
              </a:lnSpc>
              <a:spcBef>
                <a:spcPts val="100"/>
              </a:spcBef>
            </a:pPr>
            <a:r>
              <a:rPr dirty="0" baseline="-34722" sz="2400" spc="-1297">
                <a:latin typeface="Microsoft YaHei"/>
                <a:cs typeface="Microsoft YaHei"/>
              </a:rPr>
              <a:t>目</a:t>
            </a:r>
            <a:r>
              <a:rPr dirty="0" baseline="-37037" sz="2700">
                <a:latin typeface="Wingdings"/>
                <a:cs typeface="Wingdings"/>
              </a:rPr>
              <a:t></a:t>
            </a:r>
            <a:r>
              <a:rPr dirty="0" baseline="-37037" sz="2700" spc="67">
                <a:latin typeface="Times New Roman"/>
                <a:cs typeface="Times New Roman"/>
              </a:rPr>
              <a:t> </a:t>
            </a:r>
            <a:r>
              <a:rPr dirty="0" baseline="-18518" sz="2700" spc="-1395">
                <a:latin typeface="Wingdings"/>
                <a:cs typeface="Wingdings"/>
              </a:rPr>
              <a:t></a:t>
            </a:r>
            <a:r>
              <a:rPr dirty="0" sz="1800" spc="-930">
                <a:latin typeface="Wingdings"/>
                <a:cs typeface="Wingdings"/>
              </a:rPr>
              <a:t></a:t>
            </a:r>
            <a:r>
              <a:rPr dirty="0" baseline="-13888" sz="2400" spc="-1395">
                <a:latin typeface="Wingdings"/>
                <a:cs typeface="Wingdings"/>
              </a:rPr>
              <a:t></a:t>
            </a:r>
            <a:r>
              <a:rPr dirty="0" sz="1800" spc="-930">
                <a:latin typeface="Wingdings"/>
                <a:cs typeface="Wingdings"/>
              </a:rPr>
              <a:t></a:t>
            </a:r>
            <a:r>
              <a:rPr dirty="0" baseline="-18518" sz="2700" spc="-1395">
                <a:latin typeface="Microsoft YaHei"/>
                <a:cs typeface="Microsoft YaHei"/>
              </a:rPr>
              <a:t>w</a:t>
            </a:r>
            <a:r>
              <a:rPr dirty="0" sz="1800" spc="-930">
                <a:latin typeface="Microsoft YaHei"/>
                <a:cs typeface="Microsoft YaHei"/>
              </a:rPr>
              <a:t>ATAL</a:t>
            </a:r>
            <a:r>
              <a:rPr dirty="0" baseline="-18518" sz="2700" spc="-1395">
                <a:latin typeface="Microsoft YaHei"/>
                <a:cs typeface="Microsoft YaHei"/>
              </a:rPr>
              <a:t>i</a:t>
            </a:r>
            <a:r>
              <a:rPr dirty="0" sz="1800" spc="-930">
                <a:latin typeface="Microsoft YaHei"/>
                <a:cs typeface="Microsoft YaHei"/>
              </a:rPr>
              <a:t>T</a:t>
            </a:r>
            <a:r>
              <a:rPr dirty="0" baseline="-18518" sz="2700" spc="-1395">
                <a:latin typeface="Microsoft YaHei"/>
                <a:cs typeface="Microsoft YaHei"/>
              </a:rPr>
              <a:t>r</a:t>
            </a:r>
            <a:r>
              <a:rPr dirty="0" sz="1800" spc="-930">
                <a:latin typeface="Microsoft YaHei"/>
                <a:cs typeface="Microsoft YaHei"/>
              </a:rPr>
              <a:t>UT</a:t>
            </a:r>
            <a:r>
              <a:rPr dirty="0" baseline="-13888" sz="2400" spc="-1395">
                <a:latin typeface="Microsoft YaHei"/>
                <a:cs typeface="Microsoft YaHei"/>
              </a:rPr>
              <a:t>T</a:t>
            </a:r>
            <a:r>
              <a:rPr dirty="0" sz="1800" spc="-930">
                <a:latin typeface="Microsoft YaHei"/>
                <a:cs typeface="Microsoft YaHei"/>
              </a:rPr>
              <a:t>M</a:t>
            </a:r>
            <a:r>
              <a:rPr dirty="0" baseline="-18518" sz="2700" spc="-1395">
                <a:latin typeface="Microsoft YaHei"/>
                <a:cs typeface="Microsoft YaHei"/>
              </a:rPr>
              <a:t>e</a:t>
            </a:r>
            <a:r>
              <a:rPr dirty="0" sz="1800" spc="-930">
                <a:latin typeface="Microsoft YaHei"/>
                <a:cs typeface="Microsoft YaHei"/>
              </a:rPr>
              <a:t>P</a:t>
            </a:r>
            <a:r>
              <a:rPr dirty="0" baseline="-13888" sz="2400" spc="-1395">
                <a:latin typeface="Microsoft YaHei"/>
                <a:cs typeface="Microsoft YaHei"/>
              </a:rPr>
              <a:t>U</a:t>
            </a:r>
            <a:r>
              <a:rPr dirty="0" sz="1800" spc="-930">
                <a:latin typeface="Microsoft YaHei"/>
                <a:cs typeface="Microsoft YaHei"/>
              </a:rPr>
              <a:t>PE</a:t>
            </a:r>
            <a:r>
              <a:rPr dirty="0" baseline="-18518" sz="2700" spc="-1395">
                <a:latin typeface="Microsoft YaHei"/>
                <a:cs typeface="Microsoft YaHei"/>
              </a:rPr>
              <a:t>s</a:t>
            </a:r>
            <a:r>
              <a:rPr dirty="0" sz="1800" spc="-1785">
                <a:latin typeface="Microsoft YaHei"/>
                <a:cs typeface="Microsoft YaHei"/>
              </a:rPr>
              <a:t>观</a:t>
            </a:r>
            <a:r>
              <a:rPr dirty="0" sz="1800" spc="-750">
                <a:latin typeface="Microsoft YaHei"/>
                <a:cs typeface="Microsoft YaHei"/>
              </a:rPr>
              <a:t>T-</a:t>
            </a:r>
            <a:r>
              <a:rPr dirty="0" baseline="-13888" sz="2400" spc="-1095">
                <a:latin typeface="Microsoft YaHei"/>
                <a:cs typeface="Microsoft YaHei"/>
              </a:rPr>
              <a:t>E</a:t>
            </a:r>
            <a:r>
              <a:rPr dirty="0" sz="1800" spc="-730">
                <a:latin typeface="Microsoft YaHei"/>
                <a:cs typeface="Microsoft YaHei"/>
              </a:rPr>
              <a:t>-</a:t>
            </a:r>
            <a:r>
              <a:rPr dirty="0" baseline="-18518" sz="2700" spc="-907">
                <a:latin typeface="Microsoft YaHei"/>
                <a:cs typeface="Microsoft YaHei"/>
              </a:rPr>
              <a:t>h</a:t>
            </a:r>
            <a:r>
              <a:rPr dirty="0" sz="1800" spc="-1730">
                <a:latin typeface="Microsoft YaHei"/>
                <a:cs typeface="Microsoft YaHei"/>
              </a:rPr>
              <a:t>基信</a:t>
            </a:r>
            <a:r>
              <a:rPr dirty="0" baseline="-13888" sz="2400" spc="-502">
                <a:latin typeface="Microsoft YaHei"/>
                <a:cs typeface="Microsoft YaHei"/>
              </a:rPr>
              <a:t>-</a:t>
            </a:r>
            <a:r>
              <a:rPr dirty="0" sz="1800" spc="-1720">
                <a:latin typeface="Microsoft YaHei"/>
                <a:cs typeface="Microsoft YaHei"/>
              </a:rPr>
              <a:t>观</a:t>
            </a:r>
            <a:r>
              <a:rPr dirty="0" baseline="-18518" sz="2700" spc="-1312">
                <a:latin typeface="Microsoft YaHei"/>
                <a:cs typeface="Microsoft YaHei"/>
              </a:rPr>
              <a:t>a</a:t>
            </a:r>
            <a:r>
              <a:rPr dirty="0" sz="1800" spc="-1675">
                <a:latin typeface="Microsoft YaHei"/>
                <a:cs typeface="Microsoft YaHei"/>
              </a:rPr>
              <a:t>察</a:t>
            </a:r>
            <a:r>
              <a:rPr dirty="0" baseline="-13888" sz="2400" spc="-1297">
                <a:latin typeface="Microsoft YaHei"/>
                <a:cs typeface="Microsoft YaHei"/>
              </a:rPr>
              <a:t>界</a:t>
            </a:r>
            <a:r>
              <a:rPr dirty="0" baseline="-18518" sz="2700" spc="-727">
                <a:latin typeface="Microsoft YaHei"/>
                <a:cs typeface="Microsoft YaHei"/>
              </a:rPr>
              <a:t>r</a:t>
            </a:r>
            <a:r>
              <a:rPr dirty="0" sz="1800" spc="-1565">
                <a:latin typeface="Microsoft YaHei"/>
                <a:cs typeface="Microsoft YaHei"/>
              </a:rPr>
              <a:t>站令</a:t>
            </a:r>
            <a:r>
              <a:rPr dirty="0" baseline="-18518" sz="2700" spc="-1417">
                <a:latin typeface="Microsoft YaHei"/>
                <a:cs typeface="Microsoft YaHei"/>
              </a:rPr>
              <a:t>k</a:t>
            </a:r>
            <a:r>
              <a:rPr dirty="0" sz="1800" spc="-1664">
                <a:latin typeface="Microsoft YaHei"/>
                <a:cs typeface="Microsoft YaHei"/>
              </a:rPr>
              <a:t>察</a:t>
            </a:r>
            <a:r>
              <a:rPr dirty="0" baseline="-13888" sz="2400" spc="-2295">
                <a:latin typeface="Microsoft YaHei"/>
                <a:cs typeface="Microsoft YaHei"/>
              </a:rPr>
              <a:t>面</a:t>
            </a:r>
            <a:r>
              <a:rPr dirty="0" sz="1800" spc="-1070">
                <a:latin typeface="Microsoft YaHei"/>
                <a:cs typeface="Microsoft YaHei"/>
              </a:rPr>
              <a:t>信</a:t>
            </a:r>
            <a:r>
              <a:rPr dirty="0" baseline="-18518" sz="2700" spc="-2182">
                <a:latin typeface="Microsoft YaHei"/>
                <a:cs typeface="Microsoft YaHei"/>
              </a:rPr>
              <a:t>观</a:t>
            </a:r>
            <a:r>
              <a:rPr dirty="0" sz="1800" spc="-1580">
                <a:latin typeface="Microsoft YaHei"/>
                <a:cs typeface="Microsoft YaHei"/>
              </a:rPr>
              <a:t>跟事</a:t>
            </a:r>
            <a:r>
              <a:rPr dirty="0" baseline="-13888" sz="2400" spc="-2317">
                <a:latin typeface="Microsoft YaHei"/>
                <a:cs typeface="Microsoft YaHei"/>
              </a:rPr>
              <a:t>参</a:t>
            </a:r>
            <a:r>
              <a:rPr dirty="0" sz="1800" spc="-1330">
                <a:latin typeface="Microsoft YaHei"/>
                <a:cs typeface="Microsoft YaHei"/>
              </a:rPr>
              <a:t>参令</a:t>
            </a:r>
            <a:r>
              <a:rPr dirty="0" baseline="-18518" sz="2700" spc="-2182">
                <a:latin typeface="Microsoft YaHei"/>
                <a:cs typeface="Microsoft YaHei"/>
              </a:rPr>
              <a:t>察</a:t>
            </a:r>
            <a:r>
              <a:rPr dirty="0" sz="1800" spc="-1680">
                <a:latin typeface="Microsoft YaHei"/>
                <a:cs typeface="Microsoft YaHei"/>
              </a:rPr>
              <a:t>踪件</a:t>
            </a:r>
            <a:r>
              <a:rPr dirty="0" baseline="-13888" sz="2400" spc="-2017">
                <a:latin typeface="Microsoft YaHei"/>
                <a:cs typeface="Microsoft YaHei"/>
              </a:rPr>
              <a:t>数</a:t>
            </a:r>
            <a:r>
              <a:rPr dirty="0" sz="1800" spc="-1330">
                <a:latin typeface="Microsoft YaHei"/>
                <a:cs typeface="Microsoft YaHei"/>
              </a:rPr>
              <a:t>数流</a:t>
            </a:r>
            <a:r>
              <a:rPr dirty="0" baseline="-18518" sz="2700" spc="-1604">
                <a:latin typeface="Microsoft YaHei"/>
                <a:cs typeface="Microsoft YaHei"/>
              </a:rPr>
              <a:t>N</a:t>
            </a:r>
            <a:r>
              <a:rPr dirty="0" baseline="-13888" sz="2400" spc="-2325">
                <a:latin typeface="Microsoft YaHei"/>
                <a:cs typeface="Microsoft YaHei"/>
              </a:rPr>
              <a:t>观</a:t>
            </a:r>
            <a:r>
              <a:rPr dirty="0" sz="1800" spc="-1295">
                <a:latin typeface="Microsoft YaHei"/>
                <a:cs typeface="Microsoft YaHei"/>
              </a:rPr>
              <a:t>观图</a:t>
            </a:r>
            <a:r>
              <a:rPr dirty="0" baseline="-18518" sz="2700" spc="-1207">
                <a:latin typeface="Microsoft YaHei"/>
                <a:cs typeface="Microsoft YaHei"/>
              </a:rPr>
              <a:t>G</a:t>
            </a:r>
            <a:r>
              <a:rPr dirty="0" baseline="-13888" sz="2400" spc="-2025">
                <a:latin typeface="Microsoft YaHei"/>
                <a:cs typeface="Microsoft YaHei"/>
              </a:rPr>
              <a:t>察</a:t>
            </a:r>
            <a:r>
              <a:rPr dirty="0" sz="1800" spc="-1250">
                <a:latin typeface="Microsoft YaHei"/>
                <a:cs typeface="Microsoft YaHei"/>
              </a:rPr>
              <a:t>察</a:t>
            </a:r>
            <a:r>
              <a:rPr dirty="0" baseline="-18518" sz="2700">
                <a:latin typeface="Microsoft YaHei"/>
                <a:cs typeface="Microsoft YaHei"/>
              </a:rPr>
              <a:t>信令流图</a:t>
            </a:r>
            <a:r>
              <a:rPr dirty="0" baseline="-18518" sz="2700" spc="-15">
                <a:latin typeface="Microsoft YaHei"/>
                <a:cs typeface="Microsoft YaHei"/>
              </a:rPr>
              <a:t>（ngap</a:t>
            </a:r>
            <a:r>
              <a:rPr dirty="0" baseline="-18518" sz="2700">
                <a:latin typeface="Microsoft YaHei"/>
                <a:cs typeface="Microsoft YaHei"/>
              </a:rPr>
              <a:t>过滤</a:t>
            </a:r>
            <a:r>
              <a:rPr dirty="0" baseline="-18518" sz="2700" spc="-75">
                <a:latin typeface="Microsoft YaHei"/>
                <a:cs typeface="Microsoft YaHei"/>
              </a:rPr>
              <a:t>）</a:t>
            </a:r>
            <a:endParaRPr baseline="-18518" sz="2700">
              <a:latin typeface="Microsoft YaHei"/>
              <a:cs typeface="Microsoft YaHei"/>
            </a:endParaRPr>
          </a:p>
        </p:txBody>
      </p:sp>
      <p:pic>
        <p:nvPicPr>
          <p:cNvPr id="81" name="object 81"/>
          <p:cNvPicPr/>
          <p:nvPr/>
        </p:nvPicPr>
        <p:blipFill>
          <a:blip r:embed="rId54" cstate="print"/>
          <a:stretch>
            <a:fillRect/>
          </a:stretch>
        </p:blipFill>
        <p:spPr>
          <a:xfrm>
            <a:off x="684212" y="1123950"/>
            <a:ext cx="7775574" cy="3848099"/>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866" y="164719"/>
            <a:ext cx="5829935" cy="513080"/>
          </a:xfrm>
          <a:prstGeom prst="rect"/>
        </p:spPr>
        <p:txBody>
          <a:bodyPr wrap="square" lIns="0" tIns="12065" rIns="0" bIns="0" rtlCol="0" vert="horz">
            <a:spAutoFit/>
          </a:bodyPr>
          <a:lstStyle/>
          <a:p>
            <a:pPr marL="12700">
              <a:lnSpc>
                <a:spcPct val="100000"/>
              </a:lnSpc>
              <a:spcBef>
                <a:spcPts val="95"/>
              </a:spcBef>
            </a:pPr>
            <a:r>
              <a:rPr dirty="0" spc="-40"/>
              <a:t>中国移动武汉</a:t>
            </a:r>
            <a:r>
              <a:rPr dirty="0" spc="-30">
                <a:latin typeface="Times New Roman"/>
                <a:cs typeface="Times New Roman"/>
              </a:rPr>
              <a:t>5G</a:t>
            </a:r>
            <a:r>
              <a:rPr dirty="0" spc="-45"/>
              <a:t>试验网整体情况</a:t>
            </a:r>
          </a:p>
        </p:txBody>
      </p:sp>
      <p:sp>
        <p:nvSpPr>
          <p:cNvPr id="3" name="object 3" descr=""/>
          <p:cNvSpPr txBox="1"/>
          <p:nvPr/>
        </p:nvSpPr>
        <p:spPr>
          <a:xfrm>
            <a:off x="362902" y="4543361"/>
            <a:ext cx="8148320" cy="452120"/>
          </a:xfrm>
          <a:prstGeom prst="rect">
            <a:avLst/>
          </a:prstGeom>
        </p:spPr>
        <p:txBody>
          <a:bodyPr wrap="square" lIns="0" tIns="12065" rIns="0" bIns="0" rtlCol="0" vert="horz">
            <a:spAutoFit/>
          </a:bodyPr>
          <a:lstStyle/>
          <a:p>
            <a:pPr marL="12700" marR="5080">
              <a:lnSpc>
                <a:spcPct val="100000"/>
              </a:lnSpc>
              <a:spcBef>
                <a:spcPts val="95"/>
              </a:spcBef>
            </a:pPr>
            <a:r>
              <a:rPr dirty="0" sz="1400" spc="-20">
                <a:latin typeface="Microsoft YaHei"/>
                <a:cs typeface="Microsoft YaHei"/>
              </a:rPr>
              <a:t>目前中移动5G基站总计</a:t>
            </a:r>
            <a:r>
              <a:rPr dirty="0" sz="1400" spc="-10">
                <a:latin typeface="Microsoft YaHei"/>
                <a:cs typeface="Microsoft YaHei"/>
              </a:rPr>
              <a:t>127</a:t>
            </a:r>
            <a:r>
              <a:rPr dirty="0" sz="1400" spc="-20">
                <a:latin typeface="Microsoft YaHei"/>
                <a:cs typeface="Microsoft YaHei"/>
              </a:rPr>
              <a:t>个，其中</a:t>
            </a:r>
            <a:r>
              <a:rPr dirty="0" sz="1400" spc="-10">
                <a:latin typeface="Microsoft YaHei"/>
                <a:cs typeface="Microsoft YaHei"/>
              </a:rPr>
              <a:t>NSA为19</a:t>
            </a:r>
            <a:r>
              <a:rPr dirty="0" sz="1400" spc="-20">
                <a:latin typeface="Microsoft YaHei"/>
                <a:cs typeface="Microsoft YaHei"/>
              </a:rPr>
              <a:t>个，SA</a:t>
            </a:r>
            <a:r>
              <a:rPr dirty="0" sz="1400" spc="-10">
                <a:latin typeface="Microsoft YaHei"/>
                <a:cs typeface="Microsoft YaHei"/>
              </a:rPr>
              <a:t>为108</a:t>
            </a:r>
            <a:r>
              <a:rPr dirty="0" sz="1400" spc="-20">
                <a:latin typeface="Microsoft YaHei"/>
                <a:cs typeface="Microsoft YaHei"/>
              </a:rPr>
              <a:t>个，开通站点</a:t>
            </a:r>
            <a:r>
              <a:rPr dirty="0" sz="1400" spc="-10">
                <a:latin typeface="Microsoft YaHei"/>
                <a:cs typeface="Microsoft YaHei"/>
              </a:rPr>
              <a:t>86</a:t>
            </a:r>
            <a:r>
              <a:rPr dirty="0" sz="1400" spc="-20">
                <a:latin typeface="Microsoft YaHei"/>
                <a:cs typeface="Microsoft YaHei"/>
              </a:rPr>
              <a:t>个。核心网</a:t>
            </a:r>
            <a:r>
              <a:rPr dirty="0" sz="1400" spc="-10">
                <a:latin typeface="Microsoft YaHei"/>
                <a:cs typeface="Microsoft YaHei"/>
              </a:rPr>
              <a:t>NSA</a:t>
            </a:r>
            <a:r>
              <a:rPr dirty="0" sz="1400" spc="-30">
                <a:latin typeface="Microsoft YaHei"/>
                <a:cs typeface="Microsoft YaHei"/>
              </a:rPr>
              <a:t>组网设在武</a:t>
            </a:r>
            <a:r>
              <a:rPr dirty="0" sz="1400" spc="-20">
                <a:latin typeface="Microsoft YaHei"/>
                <a:cs typeface="Microsoft YaHei"/>
              </a:rPr>
              <a:t>汉，SA组网设在南京。测试用例</a:t>
            </a:r>
            <a:r>
              <a:rPr dirty="0" sz="1400" spc="-10">
                <a:latin typeface="Microsoft YaHei"/>
                <a:cs typeface="Microsoft YaHei"/>
              </a:rPr>
              <a:t>NSA,SA</a:t>
            </a:r>
            <a:r>
              <a:rPr dirty="0" sz="1400" spc="-25">
                <a:latin typeface="Microsoft YaHei"/>
                <a:cs typeface="Microsoft YaHei"/>
              </a:rPr>
              <a:t>选点共计两个。</a:t>
            </a:r>
            <a:endParaRPr sz="1400">
              <a:latin typeface="Microsoft YaHei"/>
              <a:cs typeface="Microsoft YaHei"/>
            </a:endParaRPr>
          </a:p>
        </p:txBody>
      </p:sp>
      <p:graphicFrame>
        <p:nvGraphicFramePr>
          <p:cNvPr id="4" name="object 4" descr=""/>
          <p:cNvGraphicFramePr>
            <a:graphicFrameLocks noGrp="1"/>
          </p:cNvGraphicFramePr>
          <p:nvPr/>
        </p:nvGraphicFramePr>
        <p:xfrm>
          <a:off x="468312" y="1128531"/>
          <a:ext cx="7564755" cy="428625"/>
        </p:xfrm>
        <a:graphic>
          <a:graphicData uri="http://schemas.openxmlformats.org/drawingml/2006/table">
            <a:tbl>
              <a:tblPr firstRow="1" bandRow="1">
                <a:tableStyleId>{2D5ABB26-0587-4C30-8999-92F81FD0307C}</a:tableStyleId>
              </a:tblPr>
              <a:tblGrid>
                <a:gridCol w="892810"/>
                <a:gridCol w="831850"/>
                <a:gridCol w="729614"/>
                <a:gridCol w="926464"/>
                <a:gridCol w="1880869"/>
                <a:gridCol w="2223770"/>
              </a:tblGrid>
              <a:tr h="205740">
                <a:tc>
                  <a:txBody>
                    <a:bodyPr/>
                    <a:lstStyle/>
                    <a:p>
                      <a:pPr algn="ctr" marR="32384">
                        <a:lnSpc>
                          <a:spcPts val="1520"/>
                        </a:lnSpc>
                      </a:pPr>
                      <a:r>
                        <a:rPr dirty="0" sz="1400" spc="-30">
                          <a:latin typeface="SimSun"/>
                          <a:cs typeface="SimSun"/>
                        </a:rPr>
                        <a:t>总站点</a:t>
                      </a:r>
                      <a:endParaRPr sz="1400">
                        <a:latin typeface="SimSun"/>
                        <a:cs typeface="SimSun"/>
                      </a:endParaRPr>
                    </a:p>
                  </a:txBody>
                  <a:tcPr marL="0" marR="0" marB="0" marT="0">
                    <a:lnB w="12700">
                      <a:solidFill>
                        <a:srgbClr val="BBE0E3"/>
                      </a:solidFill>
                      <a:prstDash val="solid"/>
                    </a:lnB>
                  </a:tcPr>
                </a:tc>
                <a:tc>
                  <a:txBody>
                    <a:bodyPr/>
                    <a:lstStyle/>
                    <a:p>
                      <a:pPr algn="ctr" marR="52069">
                        <a:lnSpc>
                          <a:spcPts val="1520"/>
                        </a:lnSpc>
                      </a:pPr>
                      <a:r>
                        <a:rPr dirty="0" sz="1400" spc="-25" b="1">
                          <a:latin typeface="Arial"/>
                          <a:cs typeface="Arial"/>
                        </a:rPr>
                        <a:t>NSA</a:t>
                      </a:r>
                      <a:endParaRPr sz="1400">
                        <a:latin typeface="Arial"/>
                        <a:cs typeface="Arial"/>
                      </a:endParaRPr>
                    </a:p>
                  </a:txBody>
                  <a:tcPr marL="0" marR="0" marB="0" marT="0">
                    <a:lnB w="12700">
                      <a:solidFill>
                        <a:srgbClr val="BBE0E3"/>
                      </a:solidFill>
                      <a:prstDash val="solid"/>
                    </a:lnB>
                  </a:tcPr>
                </a:tc>
                <a:tc>
                  <a:txBody>
                    <a:bodyPr/>
                    <a:lstStyle/>
                    <a:p>
                      <a:pPr algn="ctr" marL="83820">
                        <a:lnSpc>
                          <a:spcPts val="1520"/>
                        </a:lnSpc>
                      </a:pPr>
                      <a:r>
                        <a:rPr dirty="0" sz="1400" spc="-25" b="1">
                          <a:latin typeface="Arial"/>
                          <a:cs typeface="Arial"/>
                        </a:rPr>
                        <a:t>SA</a:t>
                      </a:r>
                      <a:endParaRPr sz="1400">
                        <a:latin typeface="Arial"/>
                        <a:cs typeface="Arial"/>
                      </a:endParaRPr>
                    </a:p>
                  </a:txBody>
                  <a:tcPr marL="0" marR="0" marB="0" marT="0">
                    <a:lnB w="12700">
                      <a:solidFill>
                        <a:srgbClr val="BBE0E3"/>
                      </a:solidFill>
                      <a:prstDash val="solid"/>
                    </a:lnB>
                  </a:tcPr>
                </a:tc>
                <a:tc>
                  <a:txBody>
                    <a:bodyPr/>
                    <a:lstStyle/>
                    <a:p>
                      <a:pPr algn="ctr" marL="133350">
                        <a:lnSpc>
                          <a:spcPts val="1520"/>
                        </a:lnSpc>
                      </a:pPr>
                      <a:r>
                        <a:rPr dirty="0" sz="1400" spc="-20">
                          <a:latin typeface="SimSun"/>
                          <a:cs typeface="SimSun"/>
                        </a:rPr>
                        <a:t>开通站点</a:t>
                      </a:r>
                      <a:endParaRPr sz="1400">
                        <a:latin typeface="SimSun"/>
                        <a:cs typeface="SimSun"/>
                      </a:endParaRPr>
                    </a:p>
                  </a:txBody>
                  <a:tcPr marL="0" marR="0" marB="0" marT="0">
                    <a:lnB w="12700">
                      <a:solidFill>
                        <a:srgbClr val="BBE0E3"/>
                      </a:solidFill>
                      <a:prstDash val="solid"/>
                    </a:lnB>
                  </a:tcPr>
                </a:tc>
                <a:tc>
                  <a:txBody>
                    <a:bodyPr/>
                    <a:lstStyle/>
                    <a:p>
                      <a:pPr algn="r" marR="257810">
                        <a:lnSpc>
                          <a:spcPts val="1520"/>
                        </a:lnSpc>
                      </a:pPr>
                      <a:r>
                        <a:rPr dirty="0" sz="1400" spc="-10">
                          <a:latin typeface="SimSun"/>
                          <a:cs typeface="SimSun"/>
                        </a:rPr>
                        <a:t>测试（</a:t>
                      </a:r>
                      <a:r>
                        <a:rPr dirty="0" sz="1400" spc="-10" b="1">
                          <a:latin typeface="Arial"/>
                          <a:cs typeface="Arial"/>
                        </a:rPr>
                        <a:t>NSA</a:t>
                      </a:r>
                      <a:r>
                        <a:rPr dirty="0" sz="1400" spc="-10">
                          <a:latin typeface="SimSun"/>
                          <a:cs typeface="SimSun"/>
                        </a:rPr>
                        <a:t>）</a:t>
                      </a:r>
                      <a:endParaRPr sz="1400">
                        <a:latin typeface="SimSun"/>
                        <a:cs typeface="SimSun"/>
                      </a:endParaRPr>
                    </a:p>
                  </a:txBody>
                  <a:tcPr marL="0" marR="0" marB="0" marT="0">
                    <a:lnB w="12700">
                      <a:solidFill>
                        <a:srgbClr val="BBE0E3"/>
                      </a:solidFill>
                      <a:prstDash val="solid"/>
                    </a:lnB>
                  </a:tcPr>
                </a:tc>
                <a:tc>
                  <a:txBody>
                    <a:bodyPr/>
                    <a:lstStyle/>
                    <a:p>
                      <a:pPr marL="749300">
                        <a:lnSpc>
                          <a:spcPts val="1520"/>
                        </a:lnSpc>
                      </a:pPr>
                      <a:r>
                        <a:rPr dirty="0" sz="1400" spc="-10">
                          <a:latin typeface="SimSun"/>
                          <a:cs typeface="SimSun"/>
                        </a:rPr>
                        <a:t>测试</a:t>
                      </a:r>
                      <a:r>
                        <a:rPr dirty="0" sz="1400" spc="-20">
                          <a:latin typeface="SimSun"/>
                          <a:cs typeface="SimSun"/>
                        </a:rPr>
                        <a:t>（</a:t>
                      </a:r>
                      <a:r>
                        <a:rPr dirty="0" sz="1400" spc="-20" b="1">
                          <a:latin typeface="Arial"/>
                          <a:cs typeface="Arial"/>
                        </a:rPr>
                        <a:t>SA</a:t>
                      </a:r>
                      <a:r>
                        <a:rPr dirty="0" sz="1400" spc="-20">
                          <a:latin typeface="SimSun"/>
                          <a:cs typeface="SimSun"/>
                        </a:rPr>
                        <a:t>）</a:t>
                      </a:r>
                      <a:endParaRPr sz="1400">
                        <a:latin typeface="SimSun"/>
                        <a:cs typeface="SimSun"/>
                      </a:endParaRPr>
                    </a:p>
                  </a:txBody>
                  <a:tcPr marL="0" marR="0" marB="0" marT="0">
                    <a:lnB w="12700">
                      <a:solidFill>
                        <a:srgbClr val="BBE0E3"/>
                      </a:solidFill>
                      <a:prstDash val="solid"/>
                    </a:lnB>
                  </a:tcPr>
                </a:tc>
              </a:tr>
              <a:tr h="222885">
                <a:tc>
                  <a:txBody>
                    <a:bodyPr/>
                    <a:lstStyle/>
                    <a:p>
                      <a:pPr algn="ctr" marR="31750">
                        <a:lnSpc>
                          <a:spcPts val="1655"/>
                        </a:lnSpc>
                      </a:pPr>
                      <a:r>
                        <a:rPr dirty="0" sz="1400" spc="-25">
                          <a:latin typeface="Arial MT"/>
                          <a:cs typeface="Arial MT"/>
                        </a:rPr>
                        <a:t>127</a:t>
                      </a:r>
                      <a:endParaRPr sz="1400">
                        <a:latin typeface="Arial MT"/>
                        <a:cs typeface="Arial MT"/>
                      </a:endParaRPr>
                    </a:p>
                  </a:txBody>
                  <a:tcPr marL="0" marR="0" marB="0" marT="0">
                    <a:lnT w="12700">
                      <a:solidFill>
                        <a:srgbClr val="BBE0E3"/>
                      </a:solidFill>
                      <a:prstDash val="solid"/>
                    </a:lnT>
                    <a:lnB w="12700">
                      <a:solidFill>
                        <a:srgbClr val="BBE0E3"/>
                      </a:solidFill>
                      <a:prstDash val="solid"/>
                    </a:lnB>
                  </a:tcPr>
                </a:tc>
                <a:tc>
                  <a:txBody>
                    <a:bodyPr/>
                    <a:lstStyle/>
                    <a:p>
                      <a:pPr algn="ctr" marR="50800">
                        <a:lnSpc>
                          <a:spcPts val="1655"/>
                        </a:lnSpc>
                      </a:pPr>
                      <a:r>
                        <a:rPr dirty="0" sz="1400" spc="-25">
                          <a:latin typeface="Arial MT"/>
                          <a:cs typeface="Arial MT"/>
                        </a:rPr>
                        <a:t>19</a:t>
                      </a:r>
                      <a:endParaRPr sz="1400">
                        <a:latin typeface="Arial MT"/>
                        <a:cs typeface="Arial MT"/>
                      </a:endParaRPr>
                    </a:p>
                  </a:txBody>
                  <a:tcPr marL="0" marR="0" marB="0" marT="0">
                    <a:lnT w="12700">
                      <a:solidFill>
                        <a:srgbClr val="BBE0E3"/>
                      </a:solidFill>
                      <a:prstDash val="solid"/>
                    </a:lnT>
                    <a:lnB w="12700">
                      <a:solidFill>
                        <a:srgbClr val="BBE0E3"/>
                      </a:solidFill>
                      <a:prstDash val="solid"/>
                    </a:lnB>
                  </a:tcPr>
                </a:tc>
                <a:tc>
                  <a:txBody>
                    <a:bodyPr/>
                    <a:lstStyle/>
                    <a:p>
                      <a:pPr algn="ctr" marL="85090">
                        <a:lnSpc>
                          <a:spcPts val="1655"/>
                        </a:lnSpc>
                      </a:pPr>
                      <a:r>
                        <a:rPr dirty="0" sz="1400" spc="-25">
                          <a:latin typeface="Arial MT"/>
                          <a:cs typeface="Arial MT"/>
                        </a:rPr>
                        <a:t>108</a:t>
                      </a:r>
                      <a:endParaRPr sz="1400">
                        <a:latin typeface="Arial MT"/>
                        <a:cs typeface="Arial MT"/>
                      </a:endParaRPr>
                    </a:p>
                  </a:txBody>
                  <a:tcPr marL="0" marR="0" marB="0" marT="0">
                    <a:lnT w="12700">
                      <a:solidFill>
                        <a:srgbClr val="BBE0E3"/>
                      </a:solidFill>
                      <a:prstDash val="solid"/>
                    </a:lnT>
                    <a:lnB w="12700">
                      <a:solidFill>
                        <a:srgbClr val="BBE0E3"/>
                      </a:solidFill>
                      <a:prstDash val="solid"/>
                    </a:lnB>
                  </a:tcPr>
                </a:tc>
                <a:tc>
                  <a:txBody>
                    <a:bodyPr/>
                    <a:lstStyle/>
                    <a:p>
                      <a:pPr algn="ctr" marL="133985">
                        <a:lnSpc>
                          <a:spcPts val="1655"/>
                        </a:lnSpc>
                      </a:pPr>
                      <a:r>
                        <a:rPr dirty="0" sz="1400" spc="-25">
                          <a:latin typeface="Arial MT"/>
                          <a:cs typeface="Arial MT"/>
                        </a:rPr>
                        <a:t>80</a:t>
                      </a:r>
                      <a:endParaRPr sz="1400">
                        <a:latin typeface="Arial MT"/>
                        <a:cs typeface="Arial MT"/>
                      </a:endParaRPr>
                    </a:p>
                  </a:txBody>
                  <a:tcPr marL="0" marR="0" marB="0" marT="0">
                    <a:lnT w="12700">
                      <a:solidFill>
                        <a:srgbClr val="BBE0E3"/>
                      </a:solidFill>
                      <a:prstDash val="solid"/>
                    </a:lnT>
                    <a:lnB w="12700">
                      <a:solidFill>
                        <a:srgbClr val="BBE0E3"/>
                      </a:solidFill>
                      <a:prstDash val="solid"/>
                    </a:lnB>
                  </a:tcPr>
                </a:tc>
                <a:tc>
                  <a:txBody>
                    <a:bodyPr/>
                    <a:lstStyle/>
                    <a:p>
                      <a:pPr algn="r" marR="235585">
                        <a:lnSpc>
                          <a:spcPts val="1555"/>
                        </a:lnSpc>
                        <a:spcBef>
                          <a:spcPts val="100"/>
                        </a:spcBef>
                      </a:pPr>
                      <a:r>
                        <a:rPr dirty="0" sz="1400" spc="-25">
                          <a:latin typeface="SimSun"/>
                          <a:cs typeface="SimSun"/>
                        </a:rPr>
                        <a:t>武汉住电员工宿舍旁</a:t>
                      </a:r>
                      <a:endParaRPr sz="1400">
                        <a:latin typeface="SimSun"/>
                        <a:cs typeface="SimSun"/>
                      </a:endParaRPr>
                    </a:p>
                  </a:txBody>
                  <a:tcPr marL="0" marR="0" marB="0" marT="12700">
                    <a:lnT w="12700">
                      <a:solidFill>
                        <a:srgbClr val="BBE0E3"/>
                      </a:solidFill>
                      <a:prstDash val="solid"/>
                    </a:lnT>
                    <a:lnB w="12700">
                      <a:solidFill>
                        <a:srgbClr val="BBE0E3"/>
                      </a:solidFill>
                      <a:prstDash val="solid"/>
                    </a:lnB>
                  </a:tcPr>
                </a:tc>
                <a:tc>
                  <a:txBody>
                    <a:bodyPr/>
                    <a:lstStyle/>
                    <a:p>
                      <a:pPr marL="243204">
                        <a:lnSpc>
                          <a:spcPts val="1555"/>
                        </a:lnSpc>
                        <a:spcBef>
                          <a:spcPts val="100"/>
                        </a:spcBef>
                      </a:pPr>
                      <a:r>
                        <a:rPr dirty="0" sz="1400" spc="-25">
                          <a:latin typeface="SimSun"/>
                          <a:cs typeface="SimSun"/>
                        </a:rPr>
                        <a:t>南湖大道仪表电子学校</a:t>
                      </a:r>
                      <a:endParaRPr sz="1400">
                        <a:latin typeface="SimSun"/>
                        <a:cs typeface="SimSun"/>
                      </a:endParaRPr>
                    </a:p>
                  </a:txBody>
                  <a:tcPr marL="0" marR="0" marB="0" marT="12700">
                    <a:lnT w="12700">
                      <a:solidFill>
                        <a:srgbClr val="BBE0E3"/>
                      </a:solidFill>
                      <a:prstDash val="solid"/>
                    </a:lnT>
                    <a:lnB w="12700">
                      <a:solidFill>
                        <a:srgbClr val="BBE0E3"/>
                      </a:solidFill>
                      <a:prstDash val="solid"/>
                    </a:lnB>
                  </a:tcPr>
                </a:tc>
              </a:tr>
            </a:tbl>
          </a:graphicData>
        </a:graphic>
      </p:graphicFrame>
      <p:sp>
        <p:nvSpPr>
          <p:cNvPr id="5" name="object 5" descr=""/>
          <p:cNvSpPr txBox="1"/>
          <p:nvPr/>
        </p:nvSpPr>
        <p:spPr>
          <a:xfrm>
            <a:off x="307340" y="843788"/>
            <a:ext cx="7661909" cy="299720"/>
          </a:xfrm>
          <a:prstGeom prst="rect">
            <a:avLst/>
          </a:prstGeom>
        </p:spPr>
        <p:txBody>
          <a:bodyPr wrap="square" lIns="0" tIns="12700" rIns="0" bIns="0" rtlCol="0" vert="horz">
            <a:spAutoFit/>
          </a:bodyPr>
          <a:lstStyle/>
          <a:p>
            <a:pPr marL="12700">
              <a:lnSpc>
                <a:spcPct val="100000"/>
              </a:lnSpc>
              <a:spcBef>
                <a:spcPts val="100"/>
              </a:spcBef>
              <a:tabLst>
                <a:tab pos="7648575" algn="l"/>
              </a:tabLst>
            </a:pPr>
            <a:r>
              <a:rPr dirty="0" sz="1800" spc="-10">
                <a:latin typeface="Arial MT"/>
                <a:cs typeface="Arial MT"/>
              </a:rPr>
              <a:t>5</a:t>
            </a:r>
            <a:r>
              <a:rPr dirty="0" u="sng" sz="1800" spc="-10">
                <a:uFill>
                  <a:solidFill>
                    <a:srgbClr val="BBE0E3"/>
                  </a:solidFill>
                </a:uFill>
                <a:latin typeface="Arial MT"/>
                <a:cs typeface="Arial MT"/>
              </a:rPr>
              <a:t>G</a:t>
            </a:r>
            <a:r>
              <a:rPr dirty="0" u="sng" sz="1800">
                <a:uFill>
                  <a:solidFill>
                    <a:srgbClr val="BBE0E3"/>
                  </a:solidFill>
                </a:uFill>
                <a:latin typeface="Microsoft YaHei"/>
                <a:cs typeface="Microsoft YaHei"/>
              </a:rPr>
              <a:t>站点情</a:t>
            </a:r>
            <a:r>
              <a:rPr dirty="0" u="sng" sz="1800" spc="-50">
                <a:uFill>
                  <a:solidFill>
                    <a:srgbClr val="BBE0E3"/>
                  </a:solidFill>
                </a:uFill>
                <a:latin typeface="Microsoft YaHei"/>
                <a:cs typeface="Microsoft YaHei"/>
              </a:rPr>
              <a:t>况</a:t>
            </a:r>
            <a:r>
              <a:rPr dirty="0" u="sng" sz="1800">
                <a:uFill>
                  <a:solidFill>
                    <a:srgbClr val="BBE0E3"/>
                  </a:solidFill>
                </a:uFill>
                <a:latin typeface="Microsoft YaHei"/>
                <a:cs typeface="Microsoft YaHei"/>
              </a:rPr>
              <a:t>	</a:t>
            </a:r>
            <a:endParaRPr sz="1800">
              <a:latin typeface="Microsoft YaHei"/>
              <a:cs typeface="Microsoft YaHei"/>
            </a:endParaRPr>
          </a:p>
        </p:txBody>
      </p:sp>
      <p:pic>
        <p:nvPicPr>
          <p:cNvPr id="6" name="object 6"/>
          <p:cNvPicPr/>
          <p:nvPr/>
        </p:nvPicPr>
        <p:blipFill>
          <a:blip r:embed="rId2" cstate="print"/>
          <a:stretch>
            <a:fillRect/>
          </a:stretch>
        </p:blipFill>
        <p:spPr>
          <a:xfrm>
            <a:off x="252413" y="1635125"/>
            <a:ext cx="5383211" cy="2881312"/>
          </a:xfrm>
          <a:prstGeom prst="rect">
            <a:avLst/>
          </a:prstGeom>
        </p:spPr>
      </p:pic>
      <p:pic>
        <p:nvPicPr>
          <p:cNvPr id="7" name="object 7"/>
          <p:cNvPicPr/>
          <p:nvPr/>
        </p:nvPicPr>
        <p:blipFill>
          <a:blip r:embed="rId3" cstate="print"/>
          <a:stretch>
            <a:fillRect/>
          </a:stretch>
        </p:blipFill>
        <p:spPr>
          <a:xfrm>
            <a:off x="5724525" y="1635125"/>
            <a:ext cx="3168649" cy="2881312"/>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56664" y="157829"/>
            <a:ext cx="7476490" cy="452755"/>
          </a:xfrm>
          <a:prstGeom prst="rect"/>
        </p:spPr>
        <p:txBody>
          <a:bodyPr wrap="square" lIns="0" tIns="12700" rIns="0" bIns="0" rtlCol="0" vert="horz">
            <a:spAutoFit/>
          </a:bodyPr>
          <a:lstStyle/>
          <a:p>
            <a:pPr marL="12700">
              <a:lnSpc>
                <a:spcPct val="100000"/>
              </a:lnSpc>
              <a:spcBef>
                <a:spcPts val="100"/>
              </a:spcBef>
            </a:pPr>
            <a:r>
              <a:rPr dirty="0" sz="2800" spc="-10">
                <a:latin typeface="Times New Roman"/>
                <a:cs typeface="Times New Roman"/>
              </a:rPr>
              <a:t>5G</a:t>
            </a:r>
            <a:r>
              <a:rPr dirty="0" sz="2800"/>
              <a:t>用例测试</a:t>
            </a:r>
            <a:r>
              <a:rPr dirty="0" sz="2800" spc="-20">
                <a:latin typeface="Times New Roman"/>
                <a:cs typeface="Times New Roman"/>
              </a:rPr>
              <a:t>-</a:t>
            </a:r>
            <a:r>
              <a:rPr dirty="0" sz="2800" spc="-10"/>
              <a:t>测试项基本配置</a:t>
            </a:r>
            <a:r>
              <a:rPr dirty="0" sz="2800" spc="-10">
                <a:latin typeface="Times New Roman"/>
                <a:cs typeface="Times New Roman"/>
              </a:rPr>
              <a:t>-</a:t>
            </a:r>
            <a:r>
              <a:rPr dirty="0" sz="2800" spc="-15"/>
              <a:t>基站配置注意事项</a:t>
            </a:r>
            <a:endParaRPr sz="2800">
              <a:latin typeface="Times New Roman"/>
              <a:cs typeface="Times New Roman"/>
            </a:endParaRPr>
          </a:p>
        </p:txBody>
      </p:sp>
      <p:pic>
        <p:nvPicPr>
          <p:cNvPr id="3" name="object 3"/>
          <p:cNvPicPr/>
          <p:nvPr/>
        </p:nvPicPr>
        <p:blipFill>
          <a:blip r:embed="rId2" cstate="print"/>
          <a:stretch>
            <a:fillRect/>
          </a:stretch>
        </p:blipFill>
        <p:spPr>
          <a:xfrm>
            <a:off x="5969000" y="3867150"/>
            <a:ext cx="2533650" cy="971550"/>
          </a:xfrm>
          <a:prstGeom prst="rect">
            <a:avLst/>
          </a:prstGeom>
        </p:spPr>
      </p:pic>
      <p:sp>
        <p:nvSpPr>
          <p:cNvPr id="4" name="object 4" descr=""/>
          <p:cNvSpPr txBox="1"/>
          <p:nvPr/>
        </p:nvSpPr>
        <p:spPr>
          <a:xfrm>
            <a:off x="6522403" y="3376612"/>
            <a:ext cx="839469" cy="269875"/>
          </a:xfrm>
          <a:prstGeom prst="rect">
            <a:avLst/>
          </a:prstGeom>
        </p:spPr>
        <p:txBody>
          <a:bodyPr wrap="square" lIns="0" tIns="12700" rIns="0" bIns="0" rtlCol="0" vert="horz">
            <a:spAutoFit/>
          </a:bodyPr>
          <a:lstStyle/>
          <a:p>
            <a:pPr marL="12700">
              <a:lnSpc>
                <a:spcPct val="100000"/>
              </a:lnSpc>
              <a:spcBef>
                <a:spcPts val="100"/>
              </a:spcBef>
            </a:pPr>
            <a:r>
              <a:rPr dirty="0" sz="1600" spc="-15">
                <a:latin typeface="Microsoft YaHei"/>
                <a:cs typeface="Microsoft YaHei"/>
              </a:rPr>
              <a:t>选点规则</a:t>
            </a:r>
            <a:endParaRPr sz="1600">
              <a:latin typeface="Microsoft YaHei"/>
              <a:cs typeface="Microsoft YaHei"/>
            </a:endParaRPr>
          </a:p>
        </p:txBody>
      </p:sp>
      <p:pic>
        <p:nvPicPr>
          <p:cNvPr id="5" name="object 5"/>
          <p:cNvPicPr/>
          <p:nvPr/>
        </p:nvPicPr>
        <p:blipFill>
          <a:blip r:embed="rId3" cstate="print"/>
          <a:stretch>
            <a:fillRect/>
          </a:stretch>
        </p:blipFill>
        <p:spPr>
          <a:xfrm>
            <a:off x="468312" y="1014412"/>
            <a:ext cx="6505575" cy="2657475"/>
          </a:xfrm>
          <a:prstGeom prst="rect">
            <a:avLst/>
          </a:prstGeom>
        </p:spPr>
      </p:pic>
      <p:pic>
        <p:nvPicPr>
          <p:cNvPr id="6" name="object 6"/>
          <p:cNvPicPr/>
          <p:nvPr/>
        </p:nvPicPr>
        <p:blipFill>
          <a:blip r:embed="rId4" cstate="print"/>
          <a:stretch>
            <a:fillRect/>
          </a:stretch>
        </p:blipFill>
        <p:spPr>
          <a:xfrm>
            <a:off x="360301" y="3766886"/>
            <a:ext cx="5399580" cy="974376"/>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82782" y="125825"/>
            <a:ext cx="7319009"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0"/>
              <a:t>用例测试</a:t>
            </a:r>
            <a:r>
              <a:rPr dirty="0" spc="-10">
                <a:latin typeface="Times New Roman"/>
                <a:cs typeface="Times New Roman"/>
              </a:rPr>
              <a:t>-</a:t>
            </a:r>
            <a:r>
              <a:rPr dirty="0" spc="-45"/>
              <a:t>测试项基本配置</a:t>
            </a:r>
            <a:r>
              <a:rPr dirty="0" spc="-10">
                <a:latin typeface="Times New Roman"/>
                <a:cs typeface="Times New Roman"/>
              </a:rPr>
              <a:t>-</a:t>
            </a:r>
            <a:r>
              <a:rPr dirty="0" spc="-45"/>
              <a:t>核心网配置</a:t>
            </a:r>
          </a:p>
        </p:txBody>
      </p:sp>
      <p:pic>
        <p:nvPicPr>
          <p:cNvPr id="3" name="object 3"/>
          <p:cNvPicPr/>
          <p:nvPr/>
        </p:nvPicPr>
        <p:blipFill>
          <a:blip r:embed="rId2" cstate="print"/>
          <a:stretch>
            <a:fillRect/>
          </a:stretch>
        </p:blipFill>
        <p:spPr>
          <a:xfrm>
            <a:off x="338138" y="950913"/>
            <a:ext cx="4162424" cy="3852861"/>
          </a:xfrm>
          <a:prstGeom prst="rect">
            <a:avLst/>
          </a:prstGeom>
        </p:spPr>
      </p:pic>
      <p:pic>
        <p:nvPicPr>
          <p:cNvPr id="4" name="object 4"/>
          <p:cNvPicPr/>
          <p:nvPr/>
        </p:nvPicPr>
        <p:blipFill>
          <a:blip r:embed="rId3" cstate="print"/>
          <a:stretch>
            <a:fillRect/>
          </a:stretch>
        </p:blipFill>
        <p:spPr>
          <a:xfrm>
            <a:off x="4716462" y="873125"/>
            <a:ext cx="3006724" cy="4008437"/>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0961" y="125825"/>
            <a:ext cx="524256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35"/>
              <a:t>清频测试</a:t>
            </a:r>
            <a:r>
              <a:rPr dirty="0" spc="-30"/>
              <a:t>（</a:t>
            </a:r>
            <a:r>
              <a:rPr dirty="0" spc="-30">
                <a:latin typeface="Times New Roman"/>
                <a:cs typeface="Times New Roman"/>
              </a:rPr>
              <a:t>SA/NSA</a:t>
            </a:r>
            <a:r>
              <a:rPr dirty="0" spc="-30"/>
              <a:t>）</a:t>
            </a:r>
            <a:r>
              <a:rPr dirty="0" spc="-45"/>
              <a:t>目的</a:t>
            </a:r>
          </a:p>
        </p:txBody>
      </p:sp>
      <p:sp>
        <p:nvSpPr>
          <p:cNvPr id="3" name="object 3" descr=""/>
          <p:cNvSpPr txBox="1"/>
          <p:nvPr/>
        </p:nvSpPr>
        <p:spPr>
          <a:xfrm>
            <a:off x="394665" y="904811"/>
            <a:ext cx="8058150" cy="758190"/>
          </a:xfrm>
          <a:prstGeom prst="rect">
            <a:avLst/>
          </a:prstGeom>
        </p:spPr>
        <p:txBody>
          <a:bodyPr wrap="square" lIns="0" tIns="12700" rIns="0" bIns="0" rtlCol="0" vert="horz">
            <a:spAutoFit/>
          </a:bodyPr>
          <a:lstStyle/>
          <a:p>
            <a:pPr marL="20320" marR="5080" indent="201930">
              <a:lnSpc>
                <a:spcPct val="100000"/>
              </a:lnSpc>
              <a:spcBef>
                <a:spcPts val="100"/>
              </a:spcBef>
              <a:buAutoNum type="arabicPeriod"/>
              <a:tabLst>
                <a:tab pos="222250" algn="l"/>
              </a:tabLst>
            </a:pPr>
            <a:r>
              <a:rPr dirty="0" sz="1200">
                <a:latin typeface="Microsoft YaHei"/>
                <a:cs typeface="Microsoft YaHei"/>
              </a:rPr>
              <a:t>扫出</a:t>
            </a:r>
            <a:r>
              <a:rPr dirty="0" sz="1200" spc="-10">
                <a:latin typeface="Microsoft YaHei"/>
                <a:cs typeface="Microsoft YaHei"/>
              </a:rPr>
              <a:t>D1</a:t>
            </a:r>
            <a:r>
              <a:rPr dirty="0" sz="1200">
                <a:latin typeface="Microsoft YaHei"/>
                <a:cs typeface="Microsoft YaHei"/>
              </a:rPr>
              <a:t>、D2、D6有信号的小区，D4、D5有无信号，并上报，推动中移动对D频段小区的搬移，以及联通D6</a:t>
            </a:r>
            <a:r>
              <a:rPr dirty="0" sz="1200" spc="-20">
                <a:latin typeface="Microsoft YaHei"/>
                <a:cs typeface="Microsoft YaHei"/>
              </a:rPr>
              <a:t>频段的</a:t>
            </a:r>
            <a:r>
              <a:rPr dirty="0" sz="1200">
                <a:latin typeface="Microsoft YaHei"/>
                <a:cs typeface="Microsoft YaHei"/>
              </a:rPr>
              <a:t>迁移，为</a:t>
            </a:r>
            <a:r>
              <a:rPr dirty="0" sz="1200" spc="-10">
                <a:latin typeface="Microsoft YaHei"/>
                <a:cs typeface="Microsoft YaHei"/>
              </a:rPr>
              <a:t>2.6G</a:t>
            </a:r>
            <a:r>
              <a:rPr dirty="0" sz="1200">
                <a:latin typeface="Microsoft YaHei"/>
                <a:cs typeface="Microsoft YaHei"/>
              </a:rPr>
              <a:t>的</a:t>
            </a:r>
            <a:r>
              <a:rPr dirty="0" sz="1200" spc="-10">
                <a:latin typeface="Microsoft YaHei"/>
                <a:cs typeface="Microsoft YaHei"/>
              </a:rPr>
              <a:t>100M（2515-2615）</a:t>
            </a:r>
            <a:r>
              <a:rPr dirty="0" sz="1200" spc="-5">
                <a:latin typeface="Microsoft YaHei"/>
                <a:cs typeface="Microsoft YaHei"/>
              </a:rPr>
              <a:t>带宽大规模建网做准备，</a:t>
            </a:r>
            <a:r>
              <a:rPr dirty="0" sz="1200" spc="-10">
                <a:latin typeface="Microsoft YaHei"/>
                <a:cs typeface="Microsoft YaHei"/>
              </a:rPr>
              <a:t>SA的测试做准备。</a:t>
            </a:r>
            <a:endParaRPr sz="1200">
              <a:latin typeface="Microsoft YaHei"/>
              <a:cs typeface="Microsoft YaHei"/>
            </a:endParaRPr>
          </a:p>
          <a:p>
            <a:pPr marL="12700" marR="104775" indent="201295">
              <a:lnSpc>
                <a:spcPct val="100000"/>
              </a:lnSpc>
              <a:spcBef>
                <a:spcPts val="5"/>
              </a:spcBef>
              <a:buAutoNum type="arabicPeriod"/>
              <a:tabLst>
                <a:tab pos="213995" algn="l"/>
              </a:tabLst>
            </a:pPr>
            <a:r>
              <a:rPr dirty="0" sz="1200">
                <a:latin typeface="Microsoft YaHei"/>
                <a:cs typeface="Microsoft YaHei"/>
              </a:rPr>
              <a:t>扫出中移动</a:t>
            </a:r>
            <a:r>
              <a:rPr dirty="0" sz="1200" spc="-10">
                <a:latin typeface="Microsoft YaHei"/>
                <a:cs typeface="Microsoft YaHei"/>
              </a:rPr>
              <a:t>Band3（FDD）</a:t>
            </a:r>
            <a:r>
              <a:rPr dirty="0" sz="1200">
                <a:latin typeface="Microsoft YaHei"/>
                <a:cs typeface="Microsoft YaHei"/>
              </a:rPr>
              <a:t>、</a:t>
            </a:r>
            <a:r>
              <a:rPr dirty="0" sz="1200" spc="-10">
                <a:latin typeface="Microsoft YaHei"/>
                <a:cs typeface="Microsoft YaHei"/>
              </a:rPr>
              <a:t>Band39</a:t>
            </a:r>
            <a:r>
              <a:rPr dirty="0" sz="1200">
                <a:latin typeface="Microsoft YaHei"/>
                <a:cs typeface="Microsoft YaHei"/>
              </a:rPr>
              <a:t>、D1、D2、D6（FDD）频段有信号的小区，以及</a:t>
            </a:r>
            <a:r>
              <a:rPr dirty="0" sz="1200" spc="-10">
                <a:latin typeface="Microsoft YaHei"/>
                <a:cs typeface="Microsoft YaHei"/>
              </a:rPr>
              <a:t>D4</a:t>
            </a:r>
            <a:r>
              <a:rPr dirty="0" sz="1200">
                <a:latin typeface="Microsoft YaHei"/>
                <a:cs typeface="Microsoft YaHei"/>
              </a:rPr>
              <a:t>、</a:t>
            </a:r>
            <a:r>
              <a:rPr dirty="0" sz="1200" spc="-10">
                <a:latin typeface="Microsoft YaHei"/>
                <a:cs typeface="Microsoft YaHei"/>
              </a:rPr>
              <a:t>D5并上报给测试部以</a:t>
            </a:r>
            <a:r>
              <a:rPr dirty="0" sz="1200">
                <a:latin typeface="Microsoft YaHei"/>
                <a:cs typeface="Microsoft YaHei"/>
              </a:rPr>
              <a:t>便于后续测试部进行闭站做</a:t>
            </a:r>
            <a:r>
              <a:rPr dirty="0" sz="1200" spc="-10">
                <a:latin typeface="Microsoft YaHei"/>
                <a:cs typeface="Microsoft YaHei"/>
              </a:rPr>
              <a:t>NSA</a:t>
            </a:r>
            <a:r>
              <a:rPr dirty="0" sz="1200" spc="-20">
                <a:latin typeface="Microsoft YaHei"/>
                <a:cs typeface="Microsoft YaHei"/>
              </a:rPr>
              <a:t>测试。</a:t>
            </a:r>
            <a:endParaRPr sz="1200">
              <a:latin typeface="Microsoft YaHei"/>
              <a:cs typeface="Microsoft YaHei"/>
            </a:endParaRPr>
          </a:p>
        </p:txBody>
      </p:sp>
      <p:graphicFrame>
        <p:nvGraphicFramePr>
          <p:cNvPr id="4" name="object 4" descr=""/>
          <p:cNvGraphicFramePr>
            <a:graphicFrameLocks noGrp="1"/>
          </p:cNvGraphicFramePr>
          <p:nvPr/>
        </p:nvGraphicFramePr>
        <p:xfrm>
          <a:off x="533201" y="1680782"/>
          <a:ext cx="7914005" cy="836295"/>
        </p:xfrm>
        <a:graphic>
          <a:graphicData uri="http://schemas.openxmlformats.org/drawingml/2006/table">
            <a:tbl>
              <a:tblPr firstRow="1" bandRow="1">
                <a:tableStyleId>{2D5ABB26-0587-4C30-8999-92F81FD0307C}</a:tableStyleId>
              </a:tblPr>
              <a:tblGrid>
                <a:gridCol w="256540"/>
                <a:gridCol w="220979"/>
                <a:gridCol w="257175"/>
                <a:gridCol w="255905"/>
                <a:gridCol w="220344"/>
                <a:gridCol w="256540"/>
                <a:gridCol w="617854"/>
                <a:gridCol w="219710"/>
                <a:gridCol w="618489"/>
                <a:gridCol w="220344"/>
                <a:gridCol w="219074"/>
                <a:gridCol w="219710"/>
                <a:gridCol w="219710"/>
                <a:gridCol w="218439"/>
                <a:gridCol w="219075"/>
                <a:gridCol w="653414"/>
                <a:gridCol w="1448435"/>
                <a:gridCol w="1448435"/>
              </a:tblGrid>
              <a:tr h="167005">
                <a:tc gridSpan="18">
                  <a:txBody>
                    <a:bodyPr/>
                    <a:lstStyle/>
                    <a:p>
                      <a:pPr algn="ctr">
                        <a:lnSpc>
                          <a:spcPts val="1220"/>
                        </a:lnSpc>
                      </a:pPr>
                      <a:r>
                        <a:rPr dirty="0" sz="1100" spc="-10">
                          <a:latin typeface="SimSun"/>
                          <a:cs typeface="SimSun"/>
                        </a:rPr>
                        <a:t>2.6G</a:t>
                      </a:r>
                      <a:r>
                        <a:rPr dirty="0" sz="1100" spc="-30">
                          <a:latin typeface="SimSun"/>
                          <a:cs typeface="SimSun"/>
                        </a:rPr>
                        <a:t>频段资源</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AFEB2"/>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67640">
                <a:tc gridSpan="6">
                  <a:txBody>
                    <a:bodyPr/>
                    <a:lstStyle/>
                    <a:p>
                      <a:pPr algn="ctr">
                        <a:lnSpc>
                          <a:spcPts val="1220"/>
                        </a:lnSpc>
                      </a:pPr>
                      <a:r>
                        <a:rPr dirty="0" sz="1100" spc="-30">
                          <a:latin typeface="SimSun"/>
                          <a:cs typeface="SimSun"/>
                        </a:rPr>
                        <a:t>新频段</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gridSpan="3">
                  <a:txBody>
                    <a:bodyPr/>
                    <a:lstStyle/>
                    <a:p>
                      <a:pPr algn="ctr">
                        <a:lnSpc>
                          <a:spcPts val="1220"/>
                        </a:lnSpc>
                      </a:pPr>
                      <a:r>
                        <a:rPr dirty="0" sz="1100" spc="-30">
                          <a:latin typeface="SimSun"/>
                          <a:cs typeface="SimSun"/>
                        </a:rPr>
                        <a:t>联通</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hMerge="1">
                  <a:txBody>
                    <a:bodyPr/>
                    <a:lstStyle/>
                    <a:p>
                      <a:pPr/>
                    </a:p>
                  </a:txBody>
                  <a:tcPr marL="0" marR="0" marB="0" marT="0"/>
                </a:tc>
                <a:tc hMerge="1">
                  <a:txBody>
                    <a:bodyPr/>
                    <a:lstStyle/>
                    <a:p>
                      <a:pPr/>
                    </a:p>
                  </a:txBody>
                  <a:tcPr marL="0" marR="0" marB="0" marT="0"/>
                </a:tc>
                <a:tc gridSpan="7">
                  <a:txBody>
                    <a:bodyPr/>
                    <a:lstStyle/>
                    <a:p>
                      <a:pPr algn="ctr">
                        <a:lnSpc>
                          <a:spcPts val="1220"/>
                        </a:lnSpc>
                      </a:pPr>
                      <a:r>
                        <a:rPr dirty="0" sz="1100" spc="-30">
                          <a:latin typeface="SimSun"/>
                          <a:cs typeface="SimSun"/>
                        </a:rPr>
                        <a:t>移动</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a:txBody>
                    <a:bodyPr/>
                    <a:lstStyle/>
                    <a:p>
                      <a:pPr algn="ctr">
                        <a:lnSpc>
                          <a:spcPts val="1220"/>
                        </a:lnSpc>
                      </a:pPr>
                      <a:r>
                        <a:rPr dirty="0" sz="1100" spc="-30">
                          <a:latin typeface="SimSun"/>
                          <a:cs typeface="SimSun"/>
                        </a:rPr>
                        <a:t>电信</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a:txBody>
                    <a:bodyPr/>
                    <a:lstStyle/>
                    <a:p>
                      <a:pPr algn="ctr">
                        <a:lnSpc>
                          <a:spcPts val="1220"/>
                        </a:lnSpc>
                      </a:pPr>
                      <a:r>
                        <a:rPr dirty="0" sz="1100" spc="-30">
                          <a:latin typeface="SimSun"/>
                          <a:cs typeface="SimSun"/>
                        </a:rPr>
                        <a:t>新频段</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r>
              <a:tr h="167005">
                <a:tc gridSpan="6">
                  <a:txBody>
                    <a:bodyPr/>
                    <a:lstStyle/>
                    <a:p>
                      <a:pPr marL="410209">
                        <a:lnSpc>
                          <a:spcPts val="1220"/>
                        </a:lnSpc>
                      </a:pPr>
                      <a:r>
                        <a:rPr dirty="0" sz="1100" spc="-10">
                          <a:latin typeface="SimSun"/>
                          <a:cs typeface="SimSun"/>
                        </a:rPr>
                        <a:t>2515-</a:t>
                      </a:r>
                      <a:r>
                        <a:rPr dirty="0" sz="1100" spc="-20">
                          <a:latin typeface="SimSun"/>
                          <a:cs typeface="SimSun"/>
                        </a:rPr>
                        <a:t>2555</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gridSpan="3">
                  <a:txBody>
                    <a:bodyPr/>
                    <a:lstStyle/>
                    <a:p>
                      <a:pPr marL="409575">
                        <a:lnSpc>
                          <a:spcPts val="1220"/>
                        </a:lnSpc>
                      </a:pPr>
                      <a:r>
                        <a:rPr dirty="0" sz="1100" spc="-10">
                          <a:latin typeface="SimSun"/>
                          <a:cs typeface="SimSun"/>
                        </a:rPr>
                        <a:t>2555-</a:t>
                      </a:r>
                      <a:r>
                        <a:rPr dirty="0" sz="1100" spc="-20">
                          <a:latin typeface="SimSun"/>
                          <a:cs typeface="SimSun"/>
                        </a:rPr>
                        <a:t>2575</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hMerge="1">
                  <a:txBody>
                    <a:bodyPr/>
                    <a:lstStyle/>
                    <a:p>
                      <a:pPr/>
                    </a:p>
                  </a:txBody>
                  <a:tcPr marL="0" marR="0" marB="0" marT="0"/>
                </a:tc>
                <a:tc hMerge="1">
                  <a:txBody>
                    <a:bodyPr/>
                    <a:lstStyle/>
                    <a:p>
                      <a:pPr/>
                    </a:p>
                  </a:txBody>
                  <a:tcPr marL="0" marR="0" marB="0" marT="0"/>
                </a:tc>
                <a:tc gridSpan="7">
                  <a:txBody>
                    <a:bodyPr/>
                    <a:lstStyle/>
                    <a:p>
                      <a:pPr algn="ctr">
                        <a:lnSpc>
                          <a:spcPts val="1220"/>
                        </a:lnSpc>
                      </a:pPr>
                      <a:r>
                        <a:rPr dirty="0" sz="1100" spc="-10">
                          <a:latin typeface="SimSun"/>
                          <a:cs typeface="SimSun"/>
                        </a:rPr>
                        <a:t>2575-</a:t>
                      </a:r>
                      <a:r>
                        <a:rPr dirty="0" sz="1100" spc="-20">
                          <a:latin typeface="SimSun"/>
                          <a:cs typeface="SimSun"/>
                        </a:rPr>
                        <a:t>2635</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a:txBody>
                    <a:bodyPr/>
                    <a:lstStyle/>
                    <a:p>
                      <a:pPr algn="ctr">
                        <a:lnSpc>
                          <a:spcPts val="1220"/>
                        </a:lnSpc>
                      </a:pPr>
                      <a:r>
                        <a:rPr dirty="0" sz="1100" spc="-10">
                          <a:latin typeface="SimSun"/>
                          <a:cs typeface="SimSun"/>
                        </a:rPr>
                        <a:t>2635-</a:t>
                      </a:r>
                      <a:r>
                        <a:rPr dirty="0" sz="1100" spc="-20">
                          <a:latin typeface="SimSun"/>
                          <a:cs typeface="SimSun"/>
                        </a:rPr>
                        <a:t>2655</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a:txBody>
                    <a:bodyPr/>
                    <a:lstStyle/>
                    <a:p>
                      <a:pPr algn="ctr">
                        <a:lnSpc>
                          <a:spcPts val="1220"/>
                        </a:lnSpc>
                      </a:pPr>
                      <a:r>
                        <a:rPr dirty="0" sz="1100" spc="-10">
                          <a:latin typeface="SimSun"/>
                          <a:cs typeface="SimSun"/>
                        </a:rPr>
                        <a:t>2655-</a:t>
                      </a:r>
                      <a:r>
                        <a:rPr dirty="0" sz="1100" spc="-20">
                          <a:latin typeface="SimSun"/>
                          <a:cs typeface="SimSun"/>
                        </a:rPr>
                        <a:t>2675</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r>
              <a:tr h="167640">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T w="12700">
                      <a:solidFill>
                        <a:srgbClr val="000000"/>
                      </a:solidFill>
                      <a:prstDash val="solid"/>
                    </a:lnT>
                    <a:lnB w="12700">
                      <a:solidFill>
                        <a:srgbClr val="000000"/>
                      </a:solidFill>
                      <a:prstDash val="solid"/>
                    </a:lnB>
                    <a:solidFill>
                      <a:srgbClr val="00B0F0"/>
                    </a:solidFill>
                  </a:tcPr>
                </a:tc>
                <a:tc>
                  <a:txBody>
                    <a:bodyPr/>
                    <a:lstStyle/>
                    <a:p>
                      <a:pPr>
                        <a:lnSpc>
                          <a:spcPts val="1220"/>
                        </a:lnSpc>
                      </a:pPr>
                      <a:r>
                        <a:rPr dirty="0" sz="1100" spc="-25">
                          <a:latin typeface="SimSun"/>
                          <a:cs typeface="SimSun"/>
                        </a:rPr>
                        <a:t>20M</a:t>
                      </a:r>
                      <a:endParaRPr sz="1100">
                        <a:latin typeface="SimSun"/>
                        <a:cs typeface="SimSun"/>
                      </a:endParaRPr>
                    </a:p>
                  </a:txBody>
                  <a:tcPr marL="0" marR="0" marB="0" marT="0">
                    <a:lnT w="12700">
                      <a:solidFill>
                        <a:srgbClr val="000000"/>
                      </a:solidFill>
                      <a:prstDash val="solid"/>
                    </a:lnT>
                    <a:lnB w="12700">
                      <a:solidFill>
                        <a:srgbClr val="000000"/>
                      </a:solidFill>
                      <a:prstDash val="solid"/>
                    </a:lnB>
                    <a:solidFill>
                      <a:srgbClr val="FFFF00"/>
                    </a:solidFill>
                  </a:tcPr>
                </a:tc>
                <a:tc>
                  <a:txBody>
                    <a:bodyPr/>
                    <a:lstStyle/>
                    <a:p>
                      <a:pPr>
                        <a:lnSpc>
                          <a:spcPct val="100000"/>
                        </a:lnSpc>
                      </a:pPr>
                      <a:endParaRPr sz="900">
                        <a:latin typeface="Times New Roman"/>
                        <a:cs typeface="Times New Roman"/>
                      </a:endParaRPr>
                    </a:p>
                  </a:txBody>
                  <a:tcPr marL="0" marR="0" marB="0" marT="0">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T w="12700">
                      <a:solidFill>
                        <a:srgbClr val="000000"/>
                      </a:solidFill>
                      <a:prstDash val="solid"/>
                    </a:lnT>
                    <a:lnB w="12700">
                      <a:solidFill>
                        <a:srgbClr val="000000"/>
                      </a:solidFill>
                      <a:prstDash val="solid"/>
                    </a:lnB>
                    <a:solidFill>
                      <a:srgbClr val="00B0F0"/>
                    </a:solidFill>
                  </a:tcPr>
                </a:tc>
                <a:tc>
                  <a:txBody>
                    <a:bodyPr/>
                    <a:lstStyle/>
                    <a:p>
                      <a:pPr>
                        <a:lnSpc>
                          <a:spcPts val="1220"/>
                        </a:lnSpc>
                      </a:pPr>
                      <a:r>
                        <a:rPr dirty="0" sz="1100" spc="-25">
                          <a:latin typeface="SimSun"/>
                          <a:cs typeface="SimSun"/>
                        </a:rPr>
                        <a:t>20M</a:t>
                      </a:r>
                      <a:endParaRPr sz="1100">
                        <a:latin typeface="SimSun"/>
                        <a:cs typeface="SimSun"/>
                      </a:endParaRPr>
                    </a:p>
                  </a:txBody>
                  <a:tcPr marL="0" marR="0" marB="0" marT="0">
                    <a:lnT w="12700">
                      <a:solidFill>
                        <a:srgbClr val="000000"/>
                      </a:solidFill>
                      <a:prstDash val="solid"/>
                    </a:lnT>
                    <a:lnB w="12700">
                      <a:solidFill>
                        <a:srgbClr val="000000"/>
                      </a:solidFill>
                      <a:prstDash val="solid"/>
                    </a:lnB>
                    <a:solidFill>
                      <a:srgbClr val="FFFF00"/>
                    </a:solidFill>
                  </a:tcPr>
                </a:tc>
                <a:tc>
                  <a:txBody>
                    <a:bodyPr/>
                    <a:lstStyle/>
                    <a:p>
                      <a:pPr>
                        <a:lnSpc>
                          <a:spcPct val="100000"/>
                        </a:lnSpc>
                      </a:pPr>
                      <a:endParaRPr sz="900">
                        <a:latin typeface="Times New Roman"/>
                        <a:cs typeface="Times New Roman"/>
                      </a:endParaRPr>
                    </a:p>
                  </a:txBody>
                  <a:tcPr marL="0" marR="0" marB="0" marT="0">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T w="12700">
                      <a:solidFill>
                        <a:srgbClr val="000000"/>
                      </a:solidFill>
                      <a:prstDash val="solid"/>
                    </a:lnT>
                    <a:lnB w="12700">
                      <a:solidFill>
                        <a:srgbClr val="000000"/>
                      </a:solidFill>
                      <a:prstDash val="solid"/>
                    </a:lnB>
                    <a:solidFill>
                      <a:srgbClr val="00B0F0"/>
                    </a:solidFill>
                  </a:tcPr>
                </a:tc>
                <a:tc>
                  <a:txBody>
                    <a:bodyPr/>
                    <a:lstStyle/>
                    <a:p>
                      <a:pPr>
                        <a:lnSpc>
                          <a:spcPts val="1220"/>
                        </a:lnSpc>
                      </a:pPr>
                      <a:r>
                        <a:rPr dirty="0" sz="1100" spc="-25">
                          <a:latin typeface="SimSun"/>
                          <a:cs typeface="SimSun"/>
                        </a:rPr>
                        <a:t>20M</a:t>
                      </a:r>
                      <a:endParaRPr sz="1100">
                        <a:latin typeface="SimSun"/>
                        <a:cs typeface="SimSun"/>
                      </a:endParaRPr>
                    </a:p>
                  </a:txBody>
                  <a:tcPr marL="0" marR="0" marB="0" marT="0">
                    <a:lnT w="12700">
                      <a:solidFill>
                        <a:srgbClr val="000000"/>
                      </a:solidFill>
                      <a:prstDash val="solid"/>
                    </a:lnT>
                    <a:lnB w="12700">
                      <a:solidFill>
                        <a:srgbClr val="000000"/>
                      </a:solidFill>
                      <a:prstDash val="solid"/>
                    </a:lnB>
                    <a:solidFill>
                      <a:srgbClr val="FFFF00"/>
                    </a:solidFill>
                  </a:tcPr>
                </a:tc>
                <a:tc>
                  <a:txBody>
                    <a:bodyPr/>
                    <a:lstStyle/>
                    <a:p>
                      <a:pPr>
                        <a:lnSpc>
                          <a:spcPct val="100000"/>
                        </a:lnSpc>
                      </a:pPr>
                      <a:endParaRPr sz="900">
                        <a:latin typeface="Times New Roman"/>
                        <a:cs typeface="Times New Roman"/>
                      </a:endParaRPr>
                    </a:p>
                  </a:txBody>
                  <a:tcPr marL="0" marR="0" marB="0" marT="0">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T w="12700">
                      <a:solidFill>
                        <a:srgbClr val="000000"/>
                      </a:solidFill>
                      <a:prstDash val="solid"/>
                    </a:lnT>
                    <a:lnB w="12700">
                      <a:solidFill>
                        <a:srgbClr val="000000"/>
                      </a:solidFill>
                      <a:prstDash val="solid"/>
                    </a:lnB>
                    <a:solidFill>
                      <a:srgbClr val="00B0F0"/>
                    </a:solidFill>
                  </a:tcPr>
                </a:tc>
                <a:tc>
                  <a:txBody>
                    <a:bodyPr/>
                    <a:lstStyle/>
                    <a:p>
                      <a:pPr>
                        <a:lnSpc>
                          <a:spcPts val="1220"/>
                        </a:lnSpc>
                      </a:pPr>
                      <a:r>
                        <a:rPr dirty="0" sz="1100" spc="-25">
                          <a:latin typeface="SimSun"/>
                          <a:cs typeface="SimSun"/>
                        </a:rPr>
                        <a:t>20M</a:t>
                      </a:r>
                      <a:endParaRPr sz="1100">
                        <a:latin typeface="SimSun"/>
                        <a:cs typeface="SimSun"/>
                      </a:endParaRPr>
                    </a:p>
                  </a:txBody>
                  <a:tcPr marL="0" marR="0" marB="0" marT="0">
                    <a:lnT w="12700">
                      <a:solidFill>
                        <a:srgbClr val="000000"/>
                      </a:solidFill>
                      <a:prstDash val="solid"/>
                    </a:lnT>
                    <a:lnB w="12700">
                      <a:solidFill>
                        <a:srgbClr val="000000"/>
                      </a:solidFill>
                      <a:prstDash val="solid"/>
                    </a:lnB>
                    <a:solidFill>
                      <a:srgbClr val="FFFF00"/>
                    </a:solidFill>
                  </a:tcPr>
                </a:tc>
                <a:tc>
                  <a:txBody>
                    <a:bodyPr/>
                    <a:lstStyle/>
                    <a:p>
                      <a:pPr>
                        <a:lnSpc>
                          <a:spcPct val="100000"/>
                        </a:lnSpc>
                      </a:pPr>
                      <a:endParaRPr sz="900">
                        <a:latin typeface="Times New Roman"/>
                        <a:cs typeface="Times New Roman"/>
                      </a:endParaRPr>
                    </a:p>
                  </a:txBody>
                  <a:tcPr marL="0" marR="0" marB="0" marT="0">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T w="12700">
                      <a:solidFill>
                        <a:srgbClr val="000000"/>
                      </a:solidFill>
                      <a:prstDash val="solid"/>
                    </a:lnT>
                    <a:lnB w="12700">
                      <a:solidFill>
                        <a:srgbClr val="000000"/>
                      </a:solidFill>
                      <a:prstDash val="solid"/>
                    </a:lnB>
                    <a:solidFill>
                      <a:srgbClr val="00B0F0"/>
                    </a:solidFill>
                  </a:tcPr>
                </a:tc>
                <a:tc>
                  <a:txBody>
                    <a:bodyPr/>
                    <a:lstStyle/>
                    <a:p>
                      <a:pPr>
                        <a:lnSpc>
                          <a:spcPts val="1220"/>
                        </a:lnSpc>
                      </a:pPr>
                      <a:r>
                        <a:rPr dirty="0" sz="1100" spc="-25">
                          <a:latin typeface="SimSun"/>
                          <a:cs typeface="SimSun"/>
                        </a:rPr>
                        <a:t>20M</a:t>
                      </a:r>
                      <a:endParaRPr sz="1100">
                        <a:latin typeface="SimSun"/>
                        <a:cs typeface="SimSun"/>
                      </a:endParaRPr>
                    </a:p>
                  </a:txBody>
                  <a:tcPr marL="0" marR="0" marB="0" marT="0">
                    <a:lnT w="12700">
                      <a:solidFill>
                        <a:srgbClr val="000000"/>
                      </a:solidFill>
                      <a:prstDash val="solid"/>
                    </a:lnT>
                    <a:lnB w="12700">
                      <a:solidFill>
                        <a:srgbClr val="000000"/>
                      </a:solidFill>
                      <a:prstDash val="solid"/>
                    </a:lnB>
                    <a:solidFill>
                      <a:srgbClr val="FFFF00"/>
                    </a:solidFill>
                  </a:tcPr>
                </a:tc>
                <a:tc>
                  <a:txBody>
                    <a:bodyPr/>
                    <a:lstStyle/>
                    <a:p>
                      <a:pPr>
                        <a:lnSpc>
                          <a:spcPct val="100000"/>
                        </a:lnSpc>
                      </a:pPr>
                      <a:endParaRPr sz="900">
                        <a:latin typeface="Times New Roman"/>
                        <a:cs typeface="Times New Roman"/>
                      </a:endParaRPr>
                    </a:p>
                  </a:txBody>
                  <a:tcPr marL="0" marR="0" marB="0" marT="0">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a:txBody>
                    <a:bodyPr/>
                    <a:lstStyle/>
                    <a:p>
                      <a:pPr algn="ctr" marL="635">
                        <a:lnSpc>
                          <a:spcPts val="1220"/>
                        </a:lnSpc>
                      </a:pPr>
                      <a:r>
                        <a:rPr dirty="0" sz="1100" spc="-25">
                          <a:latin typeface="SimSun"/>
                          <a:cs typeface="SimSun"/>
                        </a:rPr>
                        <a:t>20M</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a:txBody>
                    <a:bodyPr/>
                    <a:lstStyle/>
                    <a:p>
                      <a:pPr algn="ctr">
                        <a:lnSpc>
                          <a:spcPts val="1220"/>
                        </a:lnSpc>
                      </a:pPr>
                      <a:r>
                        <a:rPr dirty="0" sz="1100" spc="-25">
                          <a:latin typeface="SimSun"/>
                          <a:cs typeface="SimSun"/>
                        </a:rPr>
                        <a:t>20M</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c>
                  <a:txBody>
                    <a:bodyPr/>
                    <a:lstStyle/>
                    <a:p>
                      <a:pPr algn="ctr">
                        <a:lnSpc>
                          <a:spcPts val="1220"/>
                        </a:lnSpc>
                      </a:pPr>
                      <a:r>
                        <a:rPr dirty="0" sz="1100" spc="-25">
                          <a:latin typeface="SimSun"/>
                          <a:cs typeface="SimSun"/>
                        </a:rPr>
                        <a:t>20M</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F0"/>
                    </a:solidFill>
                  </a:tcPr>
                </a:tc>
              </a:tr>
              <a:tr h="167005">
                <a:tc gridSpan="3">
                  <a:txBody>
                    <a:bodyPr/>
                    <a:lstStyle/>
                    <a:p>
                      <a:pPr algn="ctr">
                        <a:lnSpc>
                          <a:spcPts val="1220"/>
                        </a:lnSpc>
                      </a:pPr>
                      <a:r>
                        <a:rPr dirty="0" sz="1100" spc="-25">
                          <a:latin typeface="SimSun"/>
                          <a:cs typeface="SimSun"/>
                        </a:rPr>
                        <a:t>D4</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hMerge="1">
                  <a:txBody>
                    <a:bodyPr/>
                    <a:lstStyle/>
                    <a:p>
                      <a:pPr/>
                    </a:p>
                  </a:txBody>
                  <a:tcPr marL="0" marR="0" marB="0" marT="0"/>
                </a:tc>
                <a:tc gridSpan="3">
                  <a:txBody>
                    <a:bodyPr/>
                    <a:lstStyle/>
                    <a:p>
                      <a:pPr algn="ctr">
                        <a:lnSpc>
                          <a:spcPts val="1220"/>
                        </a:lnSpc>
                      </a:pPr>
                      <a:r>
                        <a:rPr dirty="0" sz="1100" spc="-25">
                          <a:latin typeface="SimSun"/>
                          <a:cs typeface="SimSun"/>
                        </a:rPr>
                        <a:t>D5</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hMerge="1">
                  <a:txBody>
                    <a:bodyPr/>
                    <a:lstStyle/>
                    <a:p>
                      <a:pPr/>
                    </a:p>
                  </a:txBody>
                  <a:tcPr marL="0" marR="0" marB="0" marT="0"/>
                </a:tc>
                <a:tc gridSpan="3">
                  <a:txBody>
                    <a:bodyPr/>
                    <a:lstStyle/>
                    <a:p>
                      <a:pPr algn="ctr">
                        <a:lnSpc>
                          <a:spcPts val="1220"/>
                        </a:lnSpc>
                      </a:pPr>
                      <a:r>
                        <a:rPr dirty="0" sz="1100" spc="-25">
                          <a:latin typeface="SimSun"/>
                          <a:cs typeface="SimSun"/>
                        </a:rPr>
                        <a:t>D6</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hMerge="1">
                  <a:txBody>
                    <a:bodyPr/>
                    <a:lstStyle/>
                    <a:p>
                      <a:pPr/>
                    </a:p>
                  </a:txBody>
                  <a:tcPr marL="0" marR="0" marB="0" marT="0"/>
                </a:tc>
                <a:tc gridSpan="3">
                  <a:txBody>
                    <a:bodyPr/>
                    <a:lstStyle/>
                    <a:p>
                      <a:pPr algn="ctr">
                        <a:lnSpc>
                          <a:spcPts val="1220"/>
                        </a:lnSpc>
                      </a:pPr>
                      <a:r>
                        <a:rPr dirty="0" sz="1100" spc="-25">
                          <a:latin typeface="SimSun"/>
                          <a:cs typeface="SimSun"/>
                        </a:rPr>
                        <a:t>D1</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hMerge="1">
                  <a:txBody>
                    <a:bodyPr/>
                    <a:lstStyle/>
                    <a:p>
                      <a:pPr/>
                    </a:p>
                  </a:txBody>
                  <a:tcPr marL="0" marR="0" marB="0" marT="0"/>
                </a:tc>
                <a:tc gridSpan="3">
                  <a:txBody>
                    <a:bodyPr/>
                    <a:lstStyle/>
                    <a:p>
                      <a:pPr algn="ctr">
                        <a:lnSpc>
                          <a:spcPts val="1220"/>
                        </a:lnSpc>
                      </a:pPr>
                      <a:r>
                        <a:rPr dirty="0" sz="1100" spc="-25">
                          <a:latin typeface="SimSun"/>
                          <a:cs typeface="SimSun"/>
                        </a:rPr>
                        <a:t>D2</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hMerge="1">
                  <a:txBody>
                    <a:bodyPr/>
                    <a:lstStyle/>
                    <a:p>
                      <a:pPr/>
                    </a:p>
                  </a:txBody>
                  <a:tcPr marL="0" marR="0" marB="0" marT="0"/>
                </a:tc>
                <a:tc>
                  <a:txBody>
                    <a:bodyPr/>
                    <a:lstStyle/>
                    <a:p>
                      <a:pPr algn="ctr">
                        <a:lnSpc>
                          <a:spcPts val="1220"/>
                        </a:lnSpc>
                      </a:pPr>
                      <a:r>
                        <a:rPr dirty="0" sz="1100" spc="-25">
                          <a:latin typeface="SimSun"/>
                          <a:cs typeface="SimSun"/>
                        </a:rPr>
                        <a:t>D3</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1220"/>
                        </a:lnSpc>
                      </a:pPr>
                      <a:r>
                        <a:rPr dirty="0" sz="1100" spc="-25">
                          <a:latin typeface="SimSun"/>
                          <a:cs typeface="SimSun"/>
                        </a:rPr>
                        <a:t>D7</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1220"/>
                        </a:lnSpc>
                      </a:pPr>
                      <a:r>
                        <a:rPr dirty="0" sz="1100" spc="-25">
                          <a:latin typeface="SimSun"/>
                          <a:cs typeface="SimSun"/>
                        </a:rPr>
                        <a:t>D8</a:t>
                      </a:r>
                      <a:endParaRPr sz="11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graphicFrame>
        <p:nvGraphicFramePr>
          <p:cNvPr id="5" name="object 5" descr=""/>
          <p:cNvGraphicFramePr>
            <a:graphicFrameLocks noGrp="1"/>
          </p:cNvGraphicFramePr>
          <p:nvPr/>
        </p:nvGraphicFramePr>
        <p:xfrm>
          <a:off x="827087" y="2636842"/>
          <a:ext cx="6990080" cy="2308860"/>
        </p:xfrm>
        <a:graphic>
          <a:graphicData uri="http://schemas.openxmlformats.org/drawingml/2006/table">
            <a:tbl>
              <a:tblPr firstRow="1" bandRow="1">
                <a:tableStyleId>{2D5ABB26-0587-4C30-8999-92F81FD0307C}</a:tableStyleId>
              </a:tblPr>
              <a:tblGrid>
                <a:gridCol w="2217420"/>
                <a:gridCol w="1363345"/>
                <a:gridCol w="1428750"/>
                <a:gridCol w="1903094"/>
              </a:tblGrid>
              <a:tr h="189865">
                <a:tc>
                  <a:txBody>
                    <a:bodyPr/>
                    <a:lstStyle/>
                    <a:p>
                      <a:pPr algn="r" marR="492759">
                        <a:lnSpc>
                          <a:spcPts val="1400"/>
                        </a:lnSpc>
                        <a:spcBef>
                          <a:spcPts val="15"/>
                        </a:spcBef>
                      </a:pPr>
                      <a:r>
                        <a:rPr dirty="0" sz="1200" b="1">
                          <a:latin typeface="Microsoft YaHei"/>
                          <a:cs typeface="Microsoft YaHei"/>
                        </a:rPr>
                        <a:t>频率</a:t>
                      </a:r>
                      <a:r>
                        <a:rPr dirty="0" sz="1200" spc="-10" b="1">
                          <a:latin typeface="Microsoft YaHei"/>
                          <a:cs typeface="Microsoft YaHei"/>
                        </a:rPr>
                        <a:t>（MHz）</a:t>
                      </a:r>
                      <a:endParaRPr sz="1200">
                        <a:latin typeface="Microsoft YaHei"/>
                        <a:cs typeface="Microsoft YaHei"/>
                      </a:endParaRPr>
                    </a:p>
                  </a:txBody>
                  <a:tcPr marL="0" marR="0" marB="0" marT="1905">
                    <a:lnT w="12700">
                      <a:solidFill>
                        <a:srgbClr val="BBE0E3"/>
                      </a:solidFill>
                      <a:prstDash val="solid"/>
                    </a:lnT>
                    <a:lnB w="12700">
                      <a:solidFill>
                        <a:srgbClr val="BBE0E3"/>
                      </a:solidFill>
                      <a:prstDash val="solid"/>
                    </a:lnB>
                  </a:tcPr>
                </a:tc>
                <a:tc>
                  <a:txBody>
                    <a:bodyPr/>
                    <a:lstStyle/>
                    <a:p>
                      <a:pPr algn="r" marR="245110">
                        <a:lnSpc>
                          <a:spcPts val="1400"/>
                        </a:lnSpc>
                        <a:spcBef>
                          <a:spcPts val="15"/>
                        </a:spcBef>
                      </a:pPr>
                      <a:r>
                        <a:rPr dirty="0" sz="1200" spc="-15" b="1">
                          <a:latin typeface="Microsoft YaHei"/>
                          <a:cs typeface="Microsoft YaHei"/>
                        </a:rPr>
                        <a:t>频点编号</a:t>
                      </a:r>
                      <a:endParaRPr sz="1200">
                        <a:latin typeface="Microsoft YaHei"/>
                        <a:cs typeface="Microsoft YaHei"/>
                      </a:endParaRPr>
                    </a:p>
                  </a:txBody>
                  <a:tcPr marL="0" marR="0" marB="0" marT="1905">
                    <a:lnT w="12700">
                      <a:solidFill>
                        <a:srgbClr val="BBE0E3"/>
                      </a:solidFill>
                      <a:prstDash val="solid"/>
                    </a:lnT>
                    <a:lnB w="12700">
                      <a:solidFill>
                        <a:srgbClr val="BBE0E3"/>
                      </a:solidFill>
                      <a:prstDash val="solid"/>
                    </a:lnB>
                  </a:tcPr>
                </a:tc>
                <a:tc>
                  <a:txBody>
                    <a:bodyPr/>
                    <a:lstStyle/>
                    <a:p>
                      <a:pPr marL="252729">
                        <a:lnSpc>
                          <a:spcPts val="1400"/>
                        </a:lnSpc>
                        <a:spcBef>
                          <a:spcPts val="15"/>
                        </a:spcBef>
                      </a:pPr>
                      <a:r>
                        <a:rPr dirty="0" sz="1200" spc="-15" b="1">
                          <a:latin typeface="Microsoft YaHei"/>
                          <a:cs typeface="Microsoft YaHei"/>
                        </a:rPr>
                        <a:t>中心频率</a:t>
                      </a:r>
                      <a:endParaRPr sz="1200">
                        <a:latin typeface="Microsoft YaHei"/>
                        <a:cs typeface="Microsoft YaHei"/>
                      </a:endParaRPr>
                    </a:p>
                  </a:txBody>
                  <a:tcPr marL="0" marR="0" marB="0" marT="1905">
                    <a:lnT w="12700">
                      <a:solidFill>
                        <a:srgbClr val="BBE0E3"/>
                      </a:solidFill>
                      <a:prstDash val="solid"/>
                    </a:lnT>
                    <a:lnB w="12700">
                      <a:solidFill>
                        <a:srgbClr val="BBE0E3"/>
                      </a:solidFill>
                      <a:prstDash val="solid"/>
                    </a:lnB>
                  </a:tcPr>
                </a:tc>
                <a:tc>
                  <a:txBody>
                    <a:bodyPr/>
                    <a:lstStyle/>
                    <a:p>
                      <a:pPr marL="565785">
                        <a:lnSpc>
                          <a:spcPts val="1400"/>
                        </a:lnSpc>
                        <a:spcBef>
                          <a:spcPts val="15"/>
                        </a:spcBef>
                      </a:pPr>
                      <a:r>
                        <a:rPr dirty="0" sz="1200" spc="-20" b="1">
                          <a:latin typeface="Microsoft YaHei"/>
                          <a:cs typeface="Microsoft YaHei"/>
                        </a:rPr>
                        <a:t>频点号</a:t>
                      </a:r>
                      <a:endParaRPr sz="1200">
                        <a:latin typeface="Microsoft YaHei"/>
                        <a:cs typeface="Microsoft YaHei"/>
                      </a:endParaRPr>
                    </a:p>
                  </a:txBody>
                  <a:tcPr marL="0" marR="0" marB="0" marT="1905">
                    <a:lnT w="12700">
                      <a:solidFill>
                        <a:srgbClr val="BBE0E3"/>
                      </a:solidFill>
                      <a:prstDash val="solid"/>
                    </a:lnT>
                    <a:lnB w="12700">
                      <a:solidFill>
                        <a:srgbClr val="BBE0E3"/>
                      </a:solidFill>
                      <a:prstDash val="solid"/>
                    </a:lnB>
                  </a:tcPr>
                </a:tc>
              </a:tr>
              <a:tr h="192405">
                <a:tc>
                  <a:txBody>
                    <a:bodyPr/>
                    <a:lstStyle/>
                    <a:p>
                      <a:pPr algn="r" marR="563880">
                        <a:lnSpc>
                          <a:spcPts val="1400"/>
                        </a:lnSpc>
                        <a:spcBef>
                          <a:spcPts val="15"/>
                        </a:spcBef>
                      </a:pPr>
                      <a:r>
                        <a:rPr dirty="0" sz="1200" spc="-10">
                          <a:latin typeface="Microsoft YaHei"/>
                          <a:cs typeface="Microsoft YaHei"/>
                        </a:rPr>
                        <a:t>1805~1825</a:t>
                      </a:r>
                      <a:endParaRPr sz="1200">
                        <a:latin typeface="Microsoft YaHei"/>
                        <a:cs typeface="Microsoft YaHei"/>
                      </a:endParaRPr>
                    </a:p>
                  </a:txBody>
                  <a:tcPr marL="0" marR="0" marB="0" marT="1905">
                    <a:lnT w="12700">
                      <a:solidFill>
                        <a:srgbClr val="BBE0E3"/>
                      </a:solidFill>
                      <a:prstDash val="solid"/>
                    </a:lnT>
                    <a:solidFill>
                      <a:srgbClr val="BBE0E3">
                        <a:alpha val="19999"/>
                      </a:srgbClr>
                    </a:solidFill>
                  </a:tcPr>
                </a:tc>
                <a:tc>
                  <a:txBody>
                    <a:bodyPr/>
                    <a:lstStyle/>
                    <a:p>
                      <a:pPr algn="r" marR="319405">
                        <a:lnSpc>
                          <a:spcPts val="1400"/>
                        </a:lnSpc>
                        <a:spcBef>
                          <a:spcPts val="15"/>
                        </a:spcBef>
                      </a:pPr>
                      <a:r>
                        <a:rPr dirty="0" sz="1200" spc="-10">
                          <a:latin typeface="Microsoft YaHei"/>
                          <a:cs typeface="Microsoft YaHei"/>
                        </a:rPr>
                        <a:t>Band3</a:t>
                      </a:r>
                      <a:endParaRPr sz="1200">
                        <a:latin typeface="Microsoft YaHei"/>
                        <a:cs typeface="Microsoft YaHei"/>
                      </a:endParaRPr>
                    </a:p>
                  </a:txBody>
                  <a:tcPr marL="0" marR="0" marB="0" marT="1905">
                    <a:lnT w="12700">
                      <a:solidFill>
                        <a:srgbClr val="BBE0E3"/>
                      </a:solidFill>
                      <a:prstDash val="solid"/>
                    </a:lnT>
                    <a:solidFill>
                      <a:srgbClr val="BBE0E3">
                        <a:alpha val="19999"/>
                      </a:srgbClr>
                    </a:solidFill>
                  </a:tcPr>
                </a:tc>
                <a:tc>
                  <a:txBody>
                    <a:bodyPr/>
                    <a:lstStyle/>
                    <a:p>
                      <a:pPr marL="379095">
                        <a:lnSpc>
                          <a:spcPts val="1400"/>
                        </a:lnSpc>
                        <a:spcBef>
                          <a:spcPts val="15"/>
                        </a:spcBef>
                      </a:pPr>
                      <a:r>
                        <a:rPr dirty="0" sz="1200" spc="-20">
                          <a:latin typeface="Microsoft YaHei"/>
                          <a:cs typeface="Microsoft YaHei"/>
                        </a:rPr>
                        <a:t>1815</a:t>
                      </a:r>
                      <a:endParaRPr sz="1200">
                        <a:latin typeface="Microsoft YaHei"/>
                        <a:cs typeface="Microsoft YaHei"/>
                      </a:endParaRPr>
                    </a:p>
                  </a:txBody>
                  <a:tcPr marL="0" marR="0" marB="0" marT="1905">
                    <a:lnT w="12700">
                      <a:solidFill>
                        <a:srgbClr val="BBE0E3"/>
                      </a:solidFill>
                      <a:prstDash val="solid"/>
                    </a:lnT>
                    <a:solidFill>
                      <a:srgbClr val="BBE0E3">
                        <a:alpha val="19999"/>
                      </a:srgbClr>
                    </a:solidFill>
                  </a:tcPr>
                </a:tc>
                <a:tc>
                  <a:txBody>
                    <a:bodyPr/>
                    <a:lstStyle/>
                    <a:p>
                      <a:pPr marL="615950">
                        <a:lnSpc>
                          <a:spcPts val="1400"/>
                        </a:lnSpc>
                        <a:spcBef>
                          <a:spcPts val="15"/>
                        </a:spcBef>
                      </a:pPr>
                      <a:r>
                        <a:rPr dirty="0" sz="1200" spc="-20">
                          <a:latin typeface="Microsoft YaHei"/>
                          <a:cs typeface="Microsoft YaHei"/>
                        </a:rPr>
                        <a:t>1300</a:t>
                      </a:r>
                      <a:endParaRPr sz="1200">
                        <a:latin typeface="Microsoft YaHei"/>
                        <a:cs typeface="Microsoft YaHei"/>
                      </a:endParaRPr>
                    </a:p>
                  </a:txBody>
                  <a:tcPr marL="0" marR="0" marB="0" marT="1905">
                    <a:lnT w="12700">
                      <a:solidFill>
                        <a:srgbClr val="BBE0E3"/>
                      </a:solidFill>
                      <a:prstDash val="solid"/>
                    </a:lnT>
                    <a:solidFill>
                      <a:srgbClr val="BBE0E3">
                        <a:alpha val="19999"/>
                      </a:srgbClr>
                    </a:solidFill>
                  </a:tcPr>
                </a:tc>
              </a:tr>
              <a:tr h="192405">
                <a:tc>
                  <a:txBody>
                    <a:bodyPr/>
                    <a:lstStyle/>
                    <a:p>
                      <a:pPr algn="r" marR="563880">
                        <a:lnSpc>
                          <a:spcPts val="1400"/>
                        </a:lnSpc>
                        <a:spcBef>
                          <a:spcPts val="15"/>
                        </a:spcBef>
                      </a:pPr>
                      <a:r>
                        <a:rPr dirty="0" sz="1200" spc="-10">
                          <a:latin typeface="Microsoft YaHei"/>
                          <a:cs typeface="Microsoft YaHei"/>
                        </a:rPr>
                        <a:t>1885~1905</a:t>
                      </a:r>
                      <a:endParaRPr sz="1200">
                        <a:latin typeface="Microsoft YaHei"/>
                        <a:cs typeface="Microsoft YaHei"/>
                      </a:endParaRPr>
                    </a:p>
                  </a:txBody>
                  <a:tcPr marL="0" marR="0" marB="0" marT="1905"/>
                </a:tc>
                <a:tc>
                  <a:txBody>
                    <a:bodyPr/>
                    <a:lstStyle/>
                    <a:p>
                      <a:pPr algn="r" marR="275590">
                        <a:lnSpc>
                          <a:spcPts val="1400"/>
                        </a:lnSpc>
                        <a:spcBef>
                          <a:spcPts val="15"/>
                        </a:spcBef>
                      </a:pPr>
                      <a:r>
                        <a:rPr dirty="0" sz="1200" spc="-10">
                          <a:latin typeface="Microsoft YaHei"/>
                          <a:cs typeface="Microsoft YaHei"/>
                        </a:rPr>
                        <a:t>Band39</a:t>
                      </a:r>
                      <a:endParaRPr sz="1200">
                        <a:latin typeface="Microsoft YaHei"/>
                        <a:cs typeface="Microsoft YaHei"/>
                      </a:endParaRPr>
                    </a:p>
                  </a:txBody>
                  <a:tcPr marL="0" marR="0" marB="0" marT="1905"/>
                </a:tc>
                <a:tc>
                  <a:txBody>
                    <a:bodyPr/>
                    <a:lstStyle/>
                    <a:p>
                      <a:pPr marL="379095">
                        <a:lnSpc>
                          <a:spcPts val="1400"/>
                        </a:lnSpc>
                        <a:spcBef>
                          <a:spcPts val="15"/>
                        </a:spcBef>
                      </a:pPr>
                      <a:r>
                        <a:rPr dirty="0" sz="1200" spc="-20">
                          <a:latin typeface="Microsoft YaHei"/>
                          <a:cs typeface="Microsoft YaHei"/>
                        </a:rPr>
                        <a:t>1895</a:t>
                      </a:r>
                      <a:endParaRPr sz="1200">
                        <a:latin typeface="Microsoft YaHei"/>
                        <a:cs typeface="Microsoft YaHei"/>
                      </a:endParaRPr>
                    </a:p>
                  </a:txBody>
                  <a:tcPr marL="0" marR="0" marB="0" marT="1905"/>
                </a:tc>
                <a:tc>
                  <a:txBody>
                    <a:bodyPr/>
                    <a:lstStyle/>
                    <a:p>
                      <a:pPr marL="572135">
                        <a:lnSpc>
                          <a:spcPts val="1400"/>
                        </a:lnSpc>
                        <a:spcBef>
                          <a:spcPts val="15"/>
                        </a:spcBef>
                      </a:pPr>
                      <a:r>
                        <a:rPr dirty="0" sz="1200" spc="-10">
                          <a:latin typeface="Microsoft YaHei"/>
                          <a:cs typeface="Microsoft YaHei"/>
                        </a:rPr>
                        <a:t>38400</a:t>
                      </a:r>
                      <a:endParaRPr sz="1200">
                        <a:latin typeface="Microsoft YaHei"/>
                        <a:cs typeface="Microsoft YaHei"/>
                      </a:endParaRPr>
                    </a:p>
                  </a:txBody>
                  <a:tcPr marL="0" marR="0" marB="0" marT="1905"/>
                </a:tc>
              </a:tr>
              <a:tr h="192405">
                <a:tc>
                  <a:txBody>
                    <a:bodyPr/>
                    <a:lstStyle/>
                    <a:p>
                      <a:pPr algn="r" marR="563880">
                        <a:lnSpc>
                          <a:spcPts val="1400"/>
                        </a:lnSpc>
                        <a:spcBef>
                          <a:spcPts val="15"/>
                        </a:spcBef>
                      </a:pPr>
                      <a:r>
                        <a:rPr dirty="0" sz="1200" spc="-10">
                          <a:latin typeface="Microsoft YaHei"/>
                          <a:cs typeface="Microsoft YaHei"/>
                        </a:rPr>
                        <a:t>1905~1915</a:t>
                      </a:r>
                      <a:endParaRPr sz="1200">
                        <a:latin typeface="Microsoft YaHei"/>
                        <a:cs typeface="Microsoft YaHei"/>
                      </a:endParaRPr>
                    </a:p>
                  </a:txBody>
                  <a:tcPr marL="0" marR="0" marB="0" marT="1905">
                    <a:solidFill>
                      <a:srgbClr val="BBE0E3">
                        <a:alpha val="19999"/>
                      </a:srgbClr>
                    </a:solidFill>
                  </a:tcPr>
                </a:tc>
                <a:tc>
                  <a:txBody>
                    <a:bodyPr/>
                    <a:lstStyle/>
                    <a:p>
                      <a:pPr algn="r" marR="275590">
                        <a:lnSpc>
                          <a:spcPts val="1400"/>
                        </a:lnSpc>
                        <a:spcBef>
                          <a:spcPts val="15"/>
                        </a:spcBef>
                      </a:pPr>
                      <a:r>
                        <a:rPr dirty="0" sz="1200" spc="-10">
                          <a:latin typeface="Microsoft YaHei"/>
                          <a:cs typeface="Microsoft YaHei"/>
                        </a:rPr>
                        <a:t>Band39</a:t>
                      </a:r>
                      <a:endParaRPr sz="1200">
                        <a:latin typeface="Microsoft YaHei"/>
                        <a:cs typeface="Microsoft YaHei"/>
                      </a:endParaRPr>
                    </a:p>
                  </a:txBody>
                  <a:tcPr marL="0" marR="0" marB="0" marT="1905">
                    <a:solidFill>
                      <a:srgbClr val="BBE0E3">
                        <a:alpha val="19999"/>
                      </a:srgbClr>
                    </a:solidFill>
                  </a:tcPr>
                </a:tc>
                <a:tc>
                  <a:txBody>
                    <a:bodyPr/>
                    <a:lstStyle/>
                    <a:p>
                      <a:pPr marL="316230">
                        <a:lnSpc>
                          <a:spcPts val="1400"/>
                        </a:lnSpc>
                        <a:spcBef>
                          <a:spcPts val="15"/>
                        </a:spcBef>
                      </a:pPr>
                      <a:r>
                        <a:rPr dirty="0" sz="1200" spc="-10">
                          <a:latin typeface="Microsoft YaHei"/>
                          <a:cs typeface="Microsoft YaHei"/>
                        </a:rPr>
                        <a:t>1909.4</a:t>
                      </a:r>
                      <a:endParaRPr sz="1200">
                        <a:latin typeface="Microsoft YaHei"/>
                        <a:cs typeface="Microsoft YaHei"/>
                      </a:endParaRPr>
                    </a:p>
                  </a:txBody>
                  <a:tcPr marL="0" marR="0" marB="0" marT="1905">
                    <a:solidFill>
                      <a:srgbClr val="BBE0E3">
                        <a:alpha val="19999"/>
                      </a:srgbClr>
                    </a:solidFill>
                  </a:tcPr>
                </a:tc>
                <a:tc>
                  <a:txBody>
                    <a:bodyPr/>
                    <a:lstStyle/>
                    <a:p>
                      <a:pPr marL="572135">
                        <a:lnSpc>
                          <a:spcPts val="1400"/>
                        </a:lnSpc>
                        <a:spcBef>
                          <a:spcPts val="15"/>
                        </a:spcBef>
                      </a:pPr>
                      <a:r>
                        <a:rPr dirty="0" sz="1200" spc="-10">
                          <a:latin typeface="Microsoft YaHei"/>
                          <a:cs typeface="Microsoft YaHei"/>
                        </a:rPr>
                        <a:t>38544</a:t>
                      </a:r>
                      <a:endParaRPr sz="1200">
                        <a:latin typeface="Microsoft YaHei"/>
                        <a:cs typeface="Microsoft YaHei"/>
                      </a:endParaRPr>
                    </a:p>
                  </a:txBody>
                  <a:tcPr marL="0" marR="0" marB="0" marT="1905">
                    <a:solidFill>
                      <a:srgbClr val="BBE0E3">
                        <a:alpha val="19999"/>
                      </a:srgbClr>
                    </a:solidFill>
                  </a:tcPr>
                </a:tc>
              </a:tr>
              <a:tr h="192405">
                <a:tc>
                  <a:txBody>
                    <a:bodyPr/>
                    <a:lstStyle/>
                    <a:p>
                      <a:pPr algn="r" marR="563880">
                        <a:lnSpc>
                          <a:spcPts val="1400"/>
                        </a:lnSpc>
                        <a:spcBef>
                          <a:spcPts val="15"/>
                        </a:spcBef>
                      </a:pPr>
                      <a:r>
                        <a:rPr dirty="0" sz="1200" spc="-10">
                          <a:latin typeface="Microsoft YaHei"/>
                          <a:cs typeface="Microsoft YaHei"/>
                        </a:rPr>
                        <a:t>2575~2595</a:t>
                      </a:r>
                      <a:endParaRPr sz="1200">
                        <a:latin typeface="Microsoft YaHei"/>
                        <a:cs typeface="Microsoft YaHei"/>
                      </a:endParaRPr>
                    </a:p>
                  </a:txBody>
                  <a:tcPr marL="0" marR="0" marB="0" marT="1905"/>
                </a:tc>
                <a:tc>
                  <a:txBody>
                    <a:bodyPr/>
                    <a:lstStyle/>
                    <a:p>
                      <a:pPr algn="ctr" marL="245745">
                        <a:lnSpc>
                          <a:spcPts val="1400"/>
                        </a:lnSpc>
                        <a:spcBef>
                          <a:spcPts val="15"/>
                        </a:spcBef>
                      </a:pPr>
                      <a:r>
                        <a:rPr dirty="0" sz="1200" spc="-25">
                          <a:latin typeface="Microsoft YaHei"/>
                          <a:cs typeface="Microsoft YaHei"/>
                        </a:rPr>
                        <a:t>D1</a:t>
                      </a:r>
                      <a:endParaRPr sz="1200">
                        <a:latin typeface="Microsoft YaHei"/>
                        <a:cs typeface="Microsoft YaHei"/>
                      </a:endParaRPr>
                    </a:p>
                  </a:txBody>
                  <a:tcPr marL="0" marR="0" marB="0" marT="1905"/>
                </a:tc>
                <a:tc>
                  <a:txBody>
                    <a:bodyPr/>
                    <a:lstStyle/>
                    <a:p>
                      <a:pPr marL="379095">
                        <a:lnSpc>
                          <a:spcPts val="1400"/>
                        </a:lnSpc>
                        <a:spcBef>
                          <a:spcPts val="15"/>
                        </a:spcBef>
                      </a:pPr>
                      <a:r>
                        <a:rPr dirty="0" sz="1200" spc="-20">
                          <a:latin typeface="Microsoft YaHei"/>
                          <a:cs typeface="Microsoft YaHei"/>
                        </a:rPr>
                        <a:t>2585</a:t>
                      </a:r>
                      <a:endParaRPr sz="1200">
                        <a:latin typeface="Microsoft YaHei"/>
                        <a:cs typeface="Microsoft YaHei"/>
                      </a:endParaRPr>
                    </a:p>
                  </a:txBody>
                  <a:tcPr marL="0" marR="0" marB="0" marT="1905"/>
                </a:tc>
                <a:tc>
                  <a:txBody>
                    <a:bodyPr/>
                    <a:lstStyle/>
                    <a:p>
                      <a:pPr marL="572135">
                        <a:lnSpc>
                          <a:spcPts val="1400"/>
                        </a:lnSpc>
                        <a:spcBef>
                          <a:spcPts val="15"/>
                        </a:spcBef>
                      </a:pPr>
                      <a:r>
                        <a:rPr dirty="0" sz="1200" spc="-10">
                          <a:latin typeface="Microsoft YaHei"/>
                          <a:cs typeface="Microsoft YaHei"/>
                        </a:rPr>
                        <a:t>37900</a:t>
                      </a:r>
                      <a:endParaRPr sz="1200">
                        <a:latin typeface="Microsoft YaHei"/>
                        <a:cs typeface="Microsoft YaHei"/>
                      </a:endParaRPr>
                    </a:p>
                  </a:txBody>
                  <a:tcPr marL="0" marR="0" marB="0" marT="1905"/>
                </a:tc>
              </a:tr>
              <a:tr h="192405">
                <a:tc>
                  <a:txBody>
                    <a:bodyPr/>
                    <a:lstStyle/>
                    <a:p>
                      <a:pPr algn="r" marR="563880">
                        <a:lnSpc>
                          <a:spcPts val="1400"/>
                        </a:lnSpc>
                        <a:spcBef>
                          <a:spcPts val="15"/>
                        </a:spcBef>
                      </a:pPr>
                      <a:r>
                        <a:rPr dirty="0" sz="1200" spc="-10">
                          <a:latin typeface="Microsoft YaHei"/>
                          <a:cs typeface="Microsoft YaHei"/>
                        </a:rPr>
                        <a:t>2595~2615</a:t>
                      </a:r>
                      <a:endParaRPr sz="1200">
                        <a:latin typeface="Microsoft YaHei"/>
                        <a:cs typeface="Microsoft YaHei"/>
                      </a:endParaRPr>
                    </a:p>
                  </a:txBody>
                  <a:tcPr marL="0" marR="0" marB="0" marT="1905">
                    <a:solidFill>
                      <a:srgbClr val="BBE0E3">
                        <a:alpha val="19999"/>
                      </a:srgbClr>
                    </a:solidFill>
                  </a:tcPr>
                </a:tc>
                <a:tc>
                  <a:txBody>
                    <a:bodyPr/>
                    <a:lstStyle/>
                    <a:p>
                      <a:pPr algn="ctr" marL="245745">
                        <a:lnSpc>
                          <a:spcPts val="1400"/>
                        </a:lnSpc>
                        <a:spcBef>
                          <a:spcPts val="15"/>
                        </a:spcBef>
                      </a:pPr>
                      <a:r>
                        <a:rPr dirty="0" sz="1200" spc="-25">
                          <a:latin typeface="Microsoft YaHei"/>
                          <a:cs typeface="Microsoft YaHei"/>
                        </a:rPr>
                        <a:t>D2</a:t>
                      </a:r>
                      <a:endParaRPr sz="1200">
                        <a:latin typeface="Microsoft YaHei"/>
                        <a:cs typeface="Microsoft YaHei"/>
                      </a:endParaRPr>
                    </a:p>
                  </a:txBody>
                  <a:tcPr marL="0" marR="0" marB="0" marT="1905">
                    <a:solidFill>
                      <a:srgbClr val="BBE0E3">
                        <a:alpha val="19999"/>
                      </a:srgbClr>
                    </a:solidFill>
                  </a:tcPr>
                </a:tc>
                <a:tc>
                  <a:txBody>
                    <a:bodyPr/>
                    <a:lstStyle/>
                    <a:p>
                      <a:pPr marL="316230">
                        <a:lnSpc>
                          <a:spcPts val="1400"/>
                        </a:lnSpc>
                        <a:spcBef>
                          <a:spcPts val="15"/>
                        </a:spcBef>
                      </a:pPr>
                      <a:r>
                        <a:rPr dirty="0" sz="1200" spc="-10">
                          <a:latin typeface="Microsoft YaHei"/>
                          <a:cs typeface="Microsoft YaHei"/>
                        </a:rPr>
                        <a:t>2604.5</a:t>
                      </a:r>
                      <a:endParaRPr sz="1200">
                        <a:latin typeface="Microsoft YaHei"/>
                        <a:cs typeface="Microsoft YaHei"/>
                      </a:endParaRPr>
                    </a:p>
                  </a:txBody>
                  <a:tcPr marL="0" marR="0" marB="0" marT="1905">
                    <a:solidFill>
                      <a:srgbClr val="BBE0E3">
                        <a:alpha val="19999"/>
                      </a:srgbClr>
                    </a:solidFill>
                  </a:tcPr>
                </a:tc>
                <a:tc>
                  <a:txBody>
                    <a:bodyPr/>
                    <a:lstStyle/>
                    <a:p>
                      <a:pPr marL="572135">
                        <a:lnSpc>
                          <a:spcPts val="1400"/>
                        </a:lnSpc>
                        <a:spcBef>
                          <a:spcPts val="15"/>
                        </a:spcBef>
                      </a:pPr>
                      <a:r>
                        <a:rPr dirty="0" sz="1200" spc="-10">
                          <a:latin typeface="Microsoft YaHei"/>
                          <a:cs typeface="Microsoft YaHei"/>
                        </a:rPr>
                        <a:t>38098</a:t>
                      </a:r>
                      <a:endParaRPr sz="1200">
                        <a:latin typeface="Microsoft YaHei"/>
                        <a:cs typeface="Microsoft YaHei"/>
                      </a:endParaRPr>
                    </a:p>
                  </a:txBody>
                  <a:tcPr marL="0" marR="0" marB="0" marT="1905">
                    <a:solidFill>
                      <a:srgbClr val="BBE0E3">
                        <a:alpha val="19999"/>
                      </a:srgbClr>
                    </a:solidFill>
                  </a:tcPr>
                </a:tc>
              </a:tr>
              <a:tr h="192405">
                <a:tc>
                  <a:txBody>
                    <a:bodyPr/>
                    <a:lstStyle/>
                    <a:p>
                      <a:pPr algn="r" marR="563880">
                        <a:lnSpc>
                          <a:spcPts val="1400"/>
                        </a:lnSpc>
                        <a:spcBef>
                          <a:spcPts val="15"/>
                        </a:spcBef>
                      </a:pPr>
                      <a:r>
                        <a:rPr dirty="0" sz="1200" spc="-10">
                          <a:latin typeface="Microsoft YaHei"/>
                          <a:cs typeface="Microsoft YaHei"/>
                        </a:rPr>
                        <a:t>2615~2635</a:t>
                      </a:r>
                      <a:endParaRPr sz="1200">
                        <a:latin typeface="Microsoft YaHei"/>
                        <a:cs typeface="Microsoft YaHei"/>
                      </a:endParaRPr>
                    </a:p>
                  </a:txBody>
                  <a:tcPr marL="0" marR="0" marB="0" marT="1905"/>
                </a:tc>
                <a:tc>
                  <a:txBody>
                    <a:bodyPr/>
                    <a:lstStyle/>
                    <a:p>
                      <a:pPr algn="ctr" marL="245745">
                        <a:lnSpc>
                          <a:spcPts val="1400"/>
                        </a:lnSpc>
                        <a:spcBef>
                          <a:spcPts val="15"/>
                        </a:spcBef>
                      </a:pPr>
                      <a:r>
                        <a:rPr dirty="0" sz="1200" spc="-25">
                          <a:latin typeface="Microsoft YaHei"/>
                          <a:cs typeface="Microsoft YaHei"/>
                        </a:rPr>
                        <a:t>D3</a:t>
                      </a:r>
                      <a:endParaRPr sz="1200">
                        <a:latin typeface="Microsoft YaHei"/>
                        <a:cs typeface="Microsoft YaHei"/>
                      </a:endParaRPr>
                    </a:p>
                  </a:txBody>
                  <a:tcPr marL="0" marR="0" marB="0" marT="1905"/>
                </a:tc>
                <a:tc>
                  <a:txBody>
                    <a:bodyPr/>
                    <a:lstStyle/>
                    <a:p>
                      <a:pPr>
                        <a:lnSpc>
                          <a:spcPct val="100000"/>
                        </a:lnSpc>
                      </a:pPr>
                      <a:endParaRPr sz="1100">
                        <a:latin typeface="Times New Roman"/>
                        <a:cs typeface="Times New Roman"/>
                      </a:endParaRPr>
                    </a:p>
                  </a:txBody>
                  <a:tcPr marL="0" marR="0" marB="0" marT="0"/>
                </a:tc>
                <a:tc>
                  <a:txBody>
                    <a:bodyPr/>
                    <a:lstStyle/>
                    <a:p>
                      <a:pPr>
                        <a:lnSpc>
                          <a:spcPct val="100000"/>
                        </a:lnSpc>
                      </a:pPr>
                      <a:endParaRPr sz="1100">
                        <a:latin typeface="Times New Roman"/>
                        <a:cs typeface="Times New Roman"/>
                      </a:endParaRPr>
                    </a:p>
                  </a:txBody>
                  <a:tcPr marL="0" marR="0" marB="0" marT="0"/>
                </a:tc>
              </a:tr>
              <a:tr h="192405">
                <a:tc>
                  <a:txBody>
                    <a:bodyPr/>
                    <a:lstStyle/>
                    <a:p>
                      <a:pPr algn="r" marR="563880">
                        <a:lnSpc>
                          <a:spcPts val="1400"/>
                        </a:lnSpc>
                        <a:spcBef>
                          <a:spcPts val="15"/>
                        </a:spcBef>
                      </a:pPr>
                      <a:r>
                        <a:rPr dirty="0" sz="1200" spc="-10">
                          <a:latin typeface="Microsoft YaHei"/>
                          <a:cs typeface="Microsoft YaHei"/>
                        </a:rPr>
                        <a:t>2515~2535</a:t>
                      </a:r>
                      <a:endParaRPr sz="1200">
                        <a:latin typeface="Microsoft YaHei"/>
                        <a:cs typeface="Microsoft YaHei"/>
                      </a:endParaRPr>
                    </a:p>
                  </a:txBody>
                  <a:tcPr marL="0" marR="0" marB="0" marT="1905">
                    <a:solidFill>
                      <a:srgbClr val="BBE0E3">
                        <a:alpha val="19999"/>
                      </a:srgbClr>
                    </a:solidFill>
                  </a:tcPr>
                </a:tc>
                <a:tc>
                  <a:txBody>
                    <a:bodyPr/>
                    <a:lstStyle/>
                    <a:p>
                      <a:pPr algn="ctr" marL="245745">
                        <a:lnSpc>
                          <a:spcPts val="1400"/>
                        </a:lnSpc>
                        <a:spcBef>
                          <a:spcPts val="15"/>
                        </a:spcBef>
                      </a:pPr>
                      <a:r>
                        <a:rPr dirty="0" sz="1200" spc="-25">
                          <a:latin typeface="Microsoft YaHei"/>
                          <a:cs typeface="Microsoft YaHei"/>
                        </a:rPr>
                        <a:t>D4</a:t>
                      </a:r>
                      <a:endParaRPr sz="1200">
                        <a:latin typeface="Microsoft YaHei"/>
                        <a:cs typeface="Microsoft YaHei"/>
                      </a:endParaRPr>
                    </a:p>
                  </a:txBody>
                  <a:tcPr marL="0" marR="0" marB="0" marT="1905">
                    <a:solidFill>
                      <a:srgbClr val="BBE0E3">
                        <a:alpha val="19999"/>
                      </a:srgbClr>
                    </a:solidFill>
                  </a:tcPr>
                </a:tc>
                <a:tc>
                  <a:txBody>
                    <a:bodyPr/>
                    <a:lstStyle/>
                    <a:p>
                      <a:pPr>
                        <a:lnSpc>
                          <a:spcPct val="100000"/>
                        </a:lnSpc>
                      </a:pPr>
                      <a:endParaRPr sz="1100">
                        <a:latin typeface="Times New Roman"/>
                        <a:cs typeface="Times New Roman"/>
                      </a:endParaRPr>
                    </a:p>
                  </a:txBody>
                  <a:tcPr marL="0" marR="0" marB="0" marT="0">
                    <a:solidFill>
                      <a:srgbClr val="BBE0E3">
                        <a:alpha val="19999"/>
                      </a:srgbClr>
                    </a:solidFill>
                  </a:tcPr>
                </a:tc>
                <a:tc>
                  <a:txBody>
                    <a:bodyPr/>
                    <a:lstStyle/>
                    <a:p>
                      <a:pPr>
                        <a:lnSpc>
                          <a:spcPct val="100000"/>
                        </a:lnSpc>
                      </a:pPr>
                      <a:endParaRPr sz="1100">
                        <a:latin typeface="Times New Roman"/>
                        <a:cs typeface="Times New Roman"/>
                      </a:endParaRPr>
                    </a:p>
                  </a:txBody>
                  <a:tcPr marL="0" marR="0" marB="0" marT="0">
                    <a:solidFill>
                      <a:srgbClr val="BBE0E3">
                        <a:alpha val="19999"/>
                      </a:srgbClr>
                    </a:solidFill>
                  </a:tcPr>
                </a:tc>
              </a:tr>
              <a:tr h="192405">
                <a:tc>
                  <a:txBody>
                    <a:bodyPr/>
                    <a:lstStyle/>
                    <a:p>
                      <a:pPr algn="r" marR="563880">
                        <a:lnSpc>
                          <a:spcPts val="1400"/>
                        </a:lnSpc>
                        <a:spcBef>
                          <a:spcPts val="15"/>
                        </a:spcBef>
                      </a:pPr>
                      <a:r>
                        <a:rPr dirty="0" sz="1200" spc="-10">
                          <a:latin typeface="Microsoft YaHei"/>
                          <a:cs typeface="Microsoft YaHei"/>
                        </a:rPr>
                        <a:t>2535~2555</a:t>
                      </a:r>
                      <a:endParaRPr sz="1200">
                        <a:latin typeface="Microsoft YaHei"/>
                        <a:cs typeface="Microsoft YaHei"/>
                      </a:endParaRPr>
                    </a:p>
                  </a:txBody>
                  <a:tcPr marL="0" marR="0" marB="0" marT="1905"/>
                </a:tc>
                <a:tc>
                  <a:txBody>
                    <a:bodyPr/>
                    <a:lstStyle/>
                    <a:p>
                      <a:pPr algn="ctr" marL="245745">
                        <a:lnSpc>
                          <a:spcPts val="1400"/>
                        </a:lnSpc>
                        <a:spcBef>
                          <a:spcPts val="15"/>
                        </a:spcBef>
                      </a:pPr>
                      <a:r>
                        <a:rPr dirty="0" sz="1200" spc="-25">
                          <a:latin typeface="Microsoft YaHei"/>
                          <a:cs typeface="Microsoft YaHei"/>
                        </a:rPr>
                        <a:t>D5</a:t>
                      </a:r>
                      <a:endParaRPr sz="1200">
                        <a:latin typeface="Microsoft YaHei"/>
                        <a:cs typeface="Microsoft YaHei"/>
                      </a:endParaRPr>
                    </a:p>
                  </a:txBody>
                  <a:tcPr marL="0" marR="0" marB="0" marT="1905"/>
                </a:tc>
                <a:tc>
                  <a:txBody>
                    <a:bodyPr/>
                    <a:lstStyle/>
                    <a:p>
                      <a:pPr>
                        <a:lnSpc>
                          <a:spcPct val="100000"/>
                        </a:lnSpc>
                      </a:pPr>
                      <a:endParaRPr sz="1100">
                        <a:latin typeface="Times New Roman"/>
                        <a:cs typeface="Times New Roman"/>
                      </a:endParaRPr>
                    </a:p>
                  </a:txBody>
                  <a:tcPr marL="0" marR="0" marB="0" marT="0"/>
                </a:tc>
                <a:tc>
                  <a:txBody>
                    <a:bodyPr/>
                    <a:lstStyle/>
                    <a:p>
                      <a:pPr>
                        <a:lnSpc>
                          <a:spcPct val="100000"/>
                        </a:lnSpc>
                      </a:pPr>
                      <a:endParaRPr sz="1100">
                        <a:latin typeface="Times New Roman"/>
                        <a:cs typeface="Times New Roman"/>
                      </a:endParaRPr>
                    </a:p>
                  </a:txBody>
                  <a:tcPr marL="0" marR="0" marB="0" marT="0"/>
                </a:tc>
              </a:tr>
              <a:tr h="192405">
                <a:tc>
                  <a:txBody>
                    <a:bodyPr/>
                    <a:lstStyle/>
                    <a:p>
                      <a:pPr algn="r" marR="563880">
                        <a:lnSpc>
                          <a:spcPts val="1400"/>
                        </a:lnSpc>
                        <a:spcBef>
                          <a:spcPts val="15"/>
                        </a:spcBef>
                      </a:pPr>
                      <a:r>
                        <a:rPr dirty="0" sz="1200" spc="-10">
                          <a:latin typeface="Microsoft YaHei"/>
                          <a:cs typeface="Microsoft YaHei"/>
                        </a:rPr>
                        <a:t>2555~2575</a:t>
                      </a:r>
                      <a:endParaRPr sz="1200">
                        <a:latin typeface="Microsoft YaHei"/>
                        <a:cs typeface="Microsoft YaHei"/>
                      </a:endParaRPr>
                    </a:p>
                  </a:txBody>
                  <a:tcPr marL="0" marR="0" marB="0" marT="1905">
                    <a:solidFill>
                      <a:srgbClr val="BBE0E3">
                        <a:alpha val="19999"/>
                      </a:srgbClr>
                    </a:solidFill>
                  </a:tcPr>
                </a:tc>
                <a:tc>
                  <a:txBody>
                    <a:bodyPr/>
                    <a:lstStyle/>
                    <a:p>
                      <a:pPr algn="ctr" marL="245745">
                        <a:lnSpc>
                          <a:spcPts val="1400"/>
                        </a:lnSpc>
                        <a:spcBef>
                          <a:spcPts val="15"/>
                        </a:spcBef>
                      </a:pPr>
                      <a:r>
                        <a:rPr dirty="0" sz="1200" spc="-25">
                          <a:latin typeface="Microsoft YaHei"/>
                          <a:cs typeface="Microsoft YaHei"/>
                        </a:rPr>
                        <a:t>D6</a:t>
                      </a:r>
                      <a:endParaRPr sz="1200">
                        <a:latin typeface="Microsoft YaHei"/>
                        <a:cs typeface="Microsoft YaHei"/>
                      </a:endParaRPr>
                    </a:p>
                  </a:txBody>
                  <a:tcPr marL="0" marR="0" marB="0" marT="1905">
                    <a:solidFill>
                      <a:srgbClr val="BBE0E3">
                        <a:alpha val="19999"/>
                      </a:srgbClr>
                    </a:solidFill>
                  </a:tcPr>
                </a:tc>
                <a:tc>
                  <a:txBody>
                    <a:bodyPr/>
                    <a:lstStyle/>
                    <a:p>
                      <a:pPr marL="379095">
                        <a:lnSpc>
                          <a:spcPts val="1400"/>
                        </a:lnSpc>
                        <a:spcBef>
                          <a:spcPts val="15"/>
                        </a:spcBef>
                      </a:pPr>
                      <a:r>
                        <a:rPr dirty="0" sz="1200" spc="-20">
                          <a:latin typeface="Microsoft YaHei"/>
                          <a:cs typeface="Microsoft YaHei"/>
                        </a:rPr>
                        <a:t>2565</a:t>
                      </a:r>
                      <a:endParaRPr sz="1200">
                        <a:latin typeface="Microsoft YaHei"/>
                        <a:cs typeface="Microsoft YaHei"/>
                      </a:endParaRPr>
                    </a:p>
                  </a:txBody>
                  <a:tcPr marL="0" marR="0" marB="0" marT="1905">
                    <a:solidFill>
                      <a:srgbClr val="BBE0E3">
                        <a:alpha val="19999"/>
                      </a:srgbClr>
                    </a:solidFill>
                  </a:tcPr>
                </a:tc>
                <a:tc>
                  <a:txBody>
                    <a:bodyPr/>
                    <a:lstStyle/>
                    <a:p>
                      <a:pPr marL="572135">
                        <a:lnSpc>
                          <a:spcPts val="1400"/>
                        </a:lnSpc>
                        <a:spcBef>
                          <a:spcPts val="15"/>
                        </a:spcBef>
                      </a:pPr>
                      <a:r>
                        <a:rPr dirty="0" sz="1200" spc="-10">
                          <a:latin typeface="Microsoft YaHei"/>
                          <a:cs typeface="Microsoft YaHei"/>
                        </a:rPr>
                        <a:t>40340</a:t>
                      </a:r>
                      <a:endParaRPr sz="1200">
                        <a:latin typeface="Microsoft YaHei"/>
                        <a:cs typeface="Microsoft YaHei"/>
                      </a:endParaRPr>
                    </a:p>
                  </a:txBody>
                  <a:tcPr marL="0" marR="0" marB="0" marT="1905">
                    <a:solidFill>
                      <a:srgbClr val="BBE0E3">
                        <a:alpha val="19999"/>
                      </a:srgbClr>
                    </a:solidFill>
                  </a:tcPr>
                </a:tc>
              </a:tr>
              <a:tr h="192405">
                <a:tc>
                  <a:txBody>
                    <a:bodyPr/>
                    <a:lstStyle/>
                    <a:p>
                      <a:pPr algn="r" marR="563880">
                        <a:lnSpc>
                          <a:spcPts val="1400"/>
                        </a:lnSpc>
                        <a:spcBef>
                          <a:spcPts val="15"/>
                        </a:spcBef>
                      </a:pPr>
                      <a:r>
                        <a:rPr dirty="0" sz="1200" spc="-10">
                          <a:latin typeface="Microsoft YaHei"/>
                          <a:cs typeface="Microsoft YaHei"/>
                        </a:rPr>
                        <a:t>2635~2655</a:t>
                      </a:r>
                      <a:endParaRPr sz="1200">
                        <a:latin typeface="Microsoft YaHei"/>
                        <a:cs typeface="Microsoft YaHei"/>
                      </a:endParaRPr>
                    </a:p>
                  </a:txBody>
                  <a:tcPr marL="0" marR="0" marB="0" marT="1905"/>
                </a:tc>
                <a:tc>
                  <a:txBody>
                    <a:bodyPr/>
                    <a:lstStyle/>
                    <a:p>
                      <a:pPr algn="ctr" marL="245745">
                        <a:lnSpc>
                          <a:spcPts val="1400"/>
                        </a:lnSpc>
                        <a:spcBef>
                          <a:spcPts val="15"/>
                        </a:spcBef>
                      </a:pPr>
                      <a:r>
                        <a:rPr dirty="0" sz="1200" spc="-25">
                          <a:latin typeface="Microsoft YaHei"/>
                          <a:cs typeface="Microsoft YaHei"/>
                        </a:rPr>
                        <a:t>D7</a:t>
                      </a:r>
                      <a:endParaRPr sz="1200">
                        <a:latin typeface="Microsoft YaHei"/>
                        <a:cs typeface="Microsoft YaHei"/>
                      </a:endParaRPr>
                    </a:p>
                  </a:txBody>
                  <a:tcPr marL="0" marR="0" marB="0" marT="1905"/>
                </a:tc>
                <a:tc>
                  <a:txBody>
                    <a:bodyPr/>
                    <a:lstStyle/>
                    <a:p>
                      <a:pPr>
                        <a:lnSpc>
                          <a:spcPct val="100000"/>
                        </a:lnSpc>
                      </a:pPr>
                      <a:endParaRPr sz="1100">
                        <a:latin typeface="Times New Roman"/>
                        <a:cs typeface="Times New Roman"/>
                      </a:endParaRPr>
                    </a:p>
                  </a:txBody>
                  <a:tcPr marL="0" marR="0" marB="0" marT="0"/>
                </a:tc>
                <a:tc>
                  <a:txBody>
                    <a:bodyPr/>
                    <a:lstStyle/>
                    <a:p>
                      <a:pPr>
                        <a:lnSpc>
                          <a:spcPct val="100000"/>
                        </a:lnSpc>
                      </a:pPr>
                      <a:endParaRPr sz="1100">
                        <a:latin typeface="Times New Roman"/>
                        <a:cs typeface="Times New Roman"/>
                      </a:endParaRPr>
                    </a:p>
                  </a:txBody>
                  <a:tcPr marL="0" marR="0" marB="0" marT="0"/>
                </a:tc>
              </a:tr>
              <a:tr h="194945">
                <a:tc>
                  <a:txBody>
                    <a:bodyPr/>
                    <a:lstStyle/>
                    <a:p>
                      <a:pPr algn="r" marR="563880">
                        <a:lnSpc>
                          <a:spcPts val="1400"/>
                        </a:lnSpc>
                        <a:spcBef>
                          <a:spcPts val="15"/>
                        </a:spcBef>
                      </a:pPr>
                      <a:r>
                        <a:rPr dirty="0" sz="1200" spc="-10">
                          <a:latin typeface="Microsoft YaHei"/>
                          <a:cs typeface="Microsoft YaHei"/>
                        </a:rPr>
                        <a:t>2655~2675</a:t>
                      </a:r>
                      <a:endParaRPr sz="1200">
                        <a:latin typeface="Microsoft YaHei"/>
                        <a:cs typeface="Microsoft YaHei"/>
                      </a:endParaRPr>
                    </a:p>
                  </a:txBody>
                  <a:tcPr marL="0" marR="0" marB="0" marT="1905">
                    <a:lnB w="12700">
                      <a:solidFill>
                        <a:srgbClr val="BBE0E3"/>
                      </a:solidFill>
                      <a:prstDash val="solid"/>
                    </a:lnB>
                    <a:solidFill>
                      <a:srgbClr val="BBE0E3">
                        <a:alpha val="19999"/>
                      </a:srgbClr>
                    </a:solidFill>
                  </a:tcPr>
                </a:tc>
                <a:tc>
                  <a:txBody>
                    <a:bodyPr/>
                    <a:lstStyle/>
                    <a:p>
                      <a:pPr algn="ctr" marL="245745">
                        <a:lnSpc>
                          <a:spcPts val="1400"/>
                        </a:lnSpc>
                        <a:spcBef>
                          <a:spcPts val="15"/>
                        </a:spcBef>
                      </a:pPr>
                      <a:r>
                        <a:rPr dirty="0" sz="1200" spc="-25">
                          <a:latin typeface="Microsoft YaHei"/>
                          <a:cs typeface="Microsoft YaHei"/>
                        </a:rPr>
                        <a:t>D8</a:t>
                      </a:r>
                      <a:endParaRPr sz="1200">
                        <a:latin typeface="Microsoft YaHei"/>
                        <a:cs typeface="Microsoft YaHei"/>
                      </a:endParaRPr>
                    </a:p>
                  </a:txBody>
                  <a:tcPr marL="0" marR="0" marB="0" marT="1905">
                    <a:lnB w="12700">
                      <a:solidFill>
                        <a:srgbClr val="BBE0E3"/>
                      </a:solidFill>
                      <a:prstDash val="solid"/>
                    </a:lnB>
                    <a:solidFill>
                      <a:srgbClr val="BBE0E3">
                        <a:alpha val="19999"/>
                      </a:srgbClr>
                    </a:solidFill>
                  </a:tcPr>
                </a:tc>
                <a:tc>
                  <a:txBody>
                    <a:bodyPr/>
                    <a:lstStyle/>
                    <a:p>
                      <a:pPr>
                        <a:lnSpc>
                          <a:spcPct val="100000"/>
                        </a:lnSpc>
                      </a:pPr>
                      <a:endParaRPr sz="1100">
                        <a:latin typeface="Times New Roman"/>
                        <a:cs typeface="Times New Roman"/>
                      </a:endParaRPr>
                    </a:p>
                  </a:txBody>
                  <a:tcPr marL="0" marR="0" marB="0" marT="0">
                    <a:lnB w="12700">
                      <a:solidFill>
                        <a:srgbClr val="BBE0E3"/>
                      </a:solidFill>
                      <a:prstDash val="solid"/>
                    </a:lnB>
                    <a:solidFill>
                      <a:srgbClr val="BBE0E3">
                        <a:alpha val="19999"/>
                      </a:srgbClr>
                    </a:solidFill>
                  </a:tcPr>
                </a:tc>
                <a:tc>
                  <a:txBody>
                    <a:bodyPr/>
                    <a:lstStyle/>
                    <a:p>
                      <a:pPr>
                        <a:lnSpc>
                          <a:spcPct val="100000"/>
                        </a:lnSpc>
                      </a:pPr>
                      <a:endParaRPr sz="1100">
                        <a:latin typeface="Times New Roman"/>
                        <a:cs typeface="Times New Roman"/>
                      </a:endParaRPr>
                    </a:p>
                  </a:txBody>
                  <a:tcPr marL="0" marR="0" marB="0" marT="0">
                    <a:lnB w="12700">
                      <a:solidFill>
                        <a:srgbClr val="BBE0E3"/>
                      </a:solidFill>
                      <a:prstDash val="solid"/>
                    </a:lnB>
                    <a:solidFill>
                      <a:srgbClr val="BBE0E3">
                        <a:alpha val="19999"/>
                      </a:srgbClr>
                    </a:solidFill>
                  </a:tcPr>
                </a:tc>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45088" y="125825"/>
            <a:ext cx="646176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35"/>
              <a:t>清频测试</a:t>
            </a:r>
            <a:r>
              <a:rPr dirty="0" spc="-30"/>
              <a:t>（</a:t>
            </a:r>
            <a:r>
              <a:rPr dirty="0" spc="-30">
                <a:latin typeface="Times New Roman"/>
                <a:cs typeface="Times New Roman"/>
              </a:rPr>
              <a:t>SA/NSA</a:t>
            </a:r>
            <a:r>
              <a:rPr dirty="0" spc="-30"/>
              <a:t>）</a:t>
            </a:r>
            <a:r>
              <a:rPr dirty="0" spc="-45"/>
              <a:t>流程与轨迹</a:t>
            </a:r>
          </a:p>
        </p:txBody>
      </p:sp>
      <p:sp>
        <p:nvSpPr>
          <p:cNvPr id="3" name="object 3" descr=""/>
          <p:cNvSpPr txBox="1"/>
          <p:nvPr/>
        </p:nvSpPr>
        <p:spPr>
          <a:xfrm>
            <a:off x="1023874" y="4686236"/>
            <a:ext cx="601662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图中是5G实验网区域，包括</a:t>
            </a:r>
            <a:r>
              <a:rPr dirty="0" sz="1400" spc="-10">
                <a:latin typeface="Microsoft YaHei"/>
                <a:cs typeface="Microsoft YaHei"/>
              </a:rPr>
              <a:t>NSA</a:t>
            </a:r>
            <a:r>
              <a:rPr dirty="0" sz="1400" spc="-20">
                <a:latin typeface="Microsoft YaHei"/>
                <a:cs typeface="Microsoft YaHei"/>
              </a:rPr>
              <a:t>区域和SA</a:t>
            </a:r>
            <a:r>
              <a:rPr dirty="0" sz="1400" spc="-25">
                <a:latin typeface="Microsoft YaHei"/>
                <a:cs typeface="Microsoft YaHei"/>
              </a:rPr>
              <a:t>区域，按照图中路线进行扫频测试</a:t>
            </a:r>
            <a:endParaRPr sz="1400">
              <a:latin typeface="Microsoft YaHei"/>
              <a:cs typeface="Microsoft YaHei"/>
            </a:endParaRPr>
          </a:p>
        </p:txBody>
      </p:sp>
      <p:pic>
        <p:nvPicPr>
          <p:cNvPr id="4" name="object 4"/>
          <p:cNvPicPr/>
          <p:nvPr/>
        </p:nvPicPr>
        <p:blipFill>
          <a:blip r:embed="rId2" cstate="print"/>
          <a:stretch>
            <a:fillRect/>
          </a:stretch>
        </p:blipFill>
        <p:spPr>
          <a:xfrm>
            <a:off x="395288" y="987425"/>
            <a:ext cx="8262936" cy="3584574"/>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3992" y="125825"/>
            <a:ext cx="740981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35"/>
              <a:t>清频测试</a:t>
            </a:r>
            <a:r>
              <a:rPr dirty="0" spc="-25"/>
              <a:t>（</a:t>
            </a:r>
            <a:r>
              <a:rPr dirty="0" spc="-25">
                <a:latin typeface="Times New Roman"/>
                <a:cs typeface="Times New Roman"/>
              </a:rPr>
              <a:t>SA/NSA</a:t>
            </a:r>
            <a:r>
              <a:rPr dirty="0" spc="-25"/>
              <a:t>）</a:t>
            </a:r>
            <a:r>
              <a:rPr dirty="0" spc="-25">
                <a:latin typeface="Times New Roman"/>
                <a:cs typeface="Times New Roman"/>
              </a:rPr>
              <a:t>-</a:t>
            </a:r>
            <a:r>
              <a:rPr dirty="0" spc="-45"/>
              <a:t>数据处理与分析</a:t>
            </a:r>
          </a:p>
        </p:txBody>
      </p:sp>
      <p:sp>
        <p:nvSpPr>
          <p:cNvPr id="3" name="object 3" descr=""/>
          <p:cNvSpPr txBox="1"/>
          <p:nvPr/>
        </p:nvSpPr>
        <p:spPr>
          <a:xfrm>
            <a:off x="375424" y="1112838"/>
            <a:ext cx="3297554" cy="1551305"/>
          </a:xfrm>
          <a:prstGeom prst="rect">
            <a:avLst/>
          </a:prstGeom>
        </p:spPr>
        <p:txBody>
          <a:bodyPr wrap="square" lIns="0" tIns="12700" rIns="0" bIns="0" rtlCol="0" vert="horz">
            <a:spAutoFit/>
          </a:bodyPr>
          <a:lstStyle/>
          <a:p>
            <a:pPr marL="12700">
              <a:lnSpc>
                <a:spcPct val="100000"/>
              </a:lnSpc>
              <a:spcBef>
                <a:spcPts val="100"/>
              </a:spcBef>
            </a:pPr>
            <a:r>
              <a:rPr dirty="0" sz="1600" spc="-10">
                <a:latin typeface="Microsoft YaHei"/>
                <a:cs typeface="Microsoft YaHei"/>
              </a:rPr>
              <a:t>百站区域扫频结果：</a:t>
            </a:r>
            <a:endParaRPr sz="1600">
              <a:latin typeface="Microsoft YaHei"/>
              <a:cs typeface="Microsoft YaHei"/>
            </a:endParaRPr>
          </a:p>
          <a:p>
            <a:pPr marL="241300" marR="5080" indent="-228600">
              <a:lnSpc>
                <a:spcPct val="100000"/>
              </a:lnSpc>
              <a:spcBef>
                <a:spcPts val="10"/>
              </a:spcBef>
            </a:pPr>
            <a:r>
              <a:rPr dirty="0" sz="1400" spc="90">
                <a:latin typeface="Microsoft YaHei"/>
                <a:cs typeface="Microsoft YaHei"/>
              </a:rPr>
              <a:t>1</a:t>
            </a:r>
            <a:r>
              <a:rPr dirty="0" sz="1400" spc="85">
                <a:latin typeface="Microsoft YaHei"/>
                <a:cs typeface="Microsoft YaHei"/>
              </a:rPr>
              <a:t>、</a:t>
            </a:r>
            <a:r>
              <a:rPr dirty="0" sz="1400">
                <a:latin typeface="Microsoft YaHei"/>
                <a:cs typeface="Microsoft YaHei"/>
              </a:rPr>
              <a:t>D1</a:t>
            </a:r>
            <a:r>
              <a:rPr dirty="0" sz="1400" spc="85">
                <a:latin typeface="Microsoft YaHei"/>
                <a:cs typeface="Microsoft YaHei"/>
              </a:rPr>
              <a:t>本次扫到</a:t>
            </a:r>
            <a:r>
              <a:rPr dirty="0" sz="1400">
                <a:latin typeface="Microsoft YaHei"/>
                <a:cs typeface="Microsoft YaHei"/>
              </a:rPr>
              <a:t>26</a:t>
            </a:r>
            <a:r>
              <a:rPr dirty="0" sz="1400" spc="70">
                <a:latin typeface="Microsoft YaHei"/>
                <a:cs typeface="Microsoft YaHei"/>
              </a:rPr>
              <a:t>个小区信号强于-</a:t>
            </a:r>
            <a:r>
              <a:rPr dirty="0" sz="1400" spc="-25">
                <a:latin typeface="Microsoft YaHei"/>
                <a:cs typeface="Microsoft YaHei"/>
              </a:rPr>
              <a:t>100 dBm</a:t>
            </a:r>
            <a:endParaRPr sz="1400">
              <a:latin typeface="Microsoft YaHei"/>
              <a:cs typeface="Microsoft YaHei"/>
            </a:endParaRPr>
          </a:p>
          <a:p>
            <a:pPr marL="241300" marR="5080" indent="-229235">
              <a:lnSpc>
                <a:spcPct val="100000"/>
              </a:lnSpc>
            </a:pPr>
            <a:r>
              <a:rPr dirty="0" sz="1400" spc="-10">
                <a:latin typeface="Microsoft YaHei"/>
                <a:cs typeface="Microsoft YaHei"/>
              </a:rPr>
              <a:t>2</a:t>
            </a:r>
            <a:r>
              <a:rPr dirty="0" sz="1400" spc="-100">
                <a:latin typeface="Microsoft YaHei"/>
                <a:cs typeface="Microsoft YaHei"/>
              </a:rPr>
              <a:t> 、 </a:t>
            </a:r>
            <a:r>
              <a:rPr dirty="0" sz="1400" spc="-10">
                <a:latin typeface="Microsoft YaHei"/>
                <a:cs typeface="Microsoft YaHei"/>
              </a:rPr>
              <a:t>D2</a:t>
            </a:r>
            <a:r>
              <a:rPr dirty="0" sz="1400" spc="70">
                <a:latin typeface="Microsoft YaHei"/>
                <a:cs typeface="Microsoft YaHei"/>
              </a:rPr>
              <a:t> 本次扫到 </a:t>
            </a:r>
            <a:r>
              <a:rPr dirty="0" sz="1400" spc="-10">
                <a:latin typeface="Microsoft YaHei"/>
                <a:cs typeface="Microsoft YaHei"/>
              </a:rPr>
              <a:t>23</a:t>
            </a:r>
            <a:r>
              <a:rPr dirty="0" sz="1400" spc="160">
                <a:latin typeface="Microsoft YaHei"/>
                <a:cs typeface="Microsoft YaHei"/>
              </a:rPr>
              <a:t> 个小区信号强于-</a:t>
            </a:r>
            <a:r>
              <a:rPr dirty="0" sz="1400" spc="-50">
                <a:latin typeface="Microsoft YaHei"/>
                <a:cs typeface="Microsoft YaHei"/>
              </a:rPr>
              <a:t> </a:t>
            </a:r>
            <a:r>
              <a:rPr dirty="0" sz="1400" spc="-10">
                <a:latin typeface="Microsoft YaHei"/>
                <a:cs typeface="Microsoft YaHei"/>
              </a:rPr>
              <a:t>100dBm</a:t>
            </a:r>
            <a:endParaRPr sz="1400">
              <a:latin typeface="Microsoft YaHei"/>
              <a:cs typeface="Microsoft YaHei"/>
            </a:endParaRPr>
          </a:p>
          <a:p>
            <a:pPr marL="241300" marR="5080" indent="-229235">
              <a:lnSpc>
                <a:spcPct val="100000"/>
              </a:lnSpc>
            </a:pPr>
            <a:r>
              <a:rPr dirty="0" sz="1400">
                <a:latin typeface="Microsoft YaHei"/>
                <a:cs typeface="Microsoft YaHei"/>
              </a:rPr>
              <a:t>3、联通D6频段本次扫到10</a:t>
            </a:r>
            <a:r>
              <a:rPr dirty="0" sz="1400" spc="-10">
                <a:latin typeface="Microsoft YaHei"/>
                <a:cs typeface="Microsoft YaHei"/>
              </a:rPr>
              <a:t>个小区信号，</a:t>
            </a:r>
            <a:r>
              <a:rPr dirty="0" sz="1400" spc="-20">
                <a:latin typeface="Microsoft YaHei"/>
                <a:cs typeface="Microsoft YaHei"/>
              </a:rPr>
              <a:t>但信号强度都弱于-</a:t>
            </a:r>
            <a:r>
              <a:rPr dirty="0" sz="1400" spc="-10">
                <a:latin typeface="Microsoft YaHei"/>
                <a:cs typeface="Microsoft YaHei"/>
              </a:rPr>
              <a:t>100dBm</a:t>
            </a:r>
            <a:endParaRPr sz="1400">
              <a:latin typeface="Microsoft YaHei"/>
              <a:cs typeface="Microsoft YaHei"/>
            </a:endParaRPr>
          </a:p>
        </p:txBody>
      </p:sp>
      <p:sp>
        <p:nvSpPr>
          <p:cNvPr id="4" name="object 4" descr=""/>
          <p:cNvSpPr txBox="1"/>
          <p:nvPr/>
        </p:nvSpPr>
        <p:spPr>
          <a:xfrm>
            <a:off x="375424" y="2638663"/>
            <a:ext cx="1925320" cy="238760"/>
          </a:xfrm>
          <a:prstGeom prst="rect">
            <a:avLst/>
          </a:prstGeom>
        </p:spPr>
        <p:txBody>
          <a:bodyPr wrap="square" lIns="0" tIns="12065" rIns="0" bIns="0" rtlCol="0" vert="horz">
            <a:spAutoFit/>
          </a:bodyPr>
          <a:lstStyle/>
          <a:p>
            <a:pPr marL="12700">
              <a:lnSpc>
                <a:spcPct val="100000"/>
              </a:lnSpc>
              <a:spcBef>
                <a:spcPts val="95"/>
              </a:spcBef>
            </a:pPr>
            <a:r>
              <a:rPr dirty="0" sz="1400" spc="-10">
                <a:latin typeface="Microsoft YaHei"/>
                <a:cs typeface="Microsoft YaHei"/>
              </a:rPr>
              <a:t>4</a:t>
            </a:r>
            <a:r>
              <a:rPr dirty="0" sz="1400" spc="-20">
                <a:latin typeface="Microsoft YaHei"/>
                <a:cs typeface="Microsoft YaHei"/>
              </a:rPr>
              <a:t>、</a:t>
            </a:r>
            <a:r>
              <a:rPr dirty="0" sz="1400" spc="-10">
                <a:latin typeface="Microsoft YaHei"/>
                <a:cs typeface="Microsoft YaHei"/>
              </a:rPr>
              <a:t>D4\D5</a:t>
            </a:r>
            <a:r>
              <a:rPr dirty="0" sz="1400" spc="-25">
                <a:latin typeface="Microsoft YaHei"/>
                <a:cs typeface="Microsoft YaHei"/>
              </a:rPr>
              <a:t>无线环境较好</a:t>
            </a:r>
            <a:endParaRPr sz="1400">
              <a:latin typeface="Microsoft YaHei"/>
              <a:cs typeface="Microsoft YaHei"/>
            </a:endParaRPr>
          </a:p>
        </p:txBody>
      </p:sp>
      <p:sp>
        <p:nvSpPr>
          <p:cNvPr id="5" name="object 5" descr=""/>
          <p:cNvSpPr txBox="1"/>
          <p:nvPr/>
        </p:nvSpPr>
        <p:spPr>
          <a:xfrm>
            <a:off x="375424" y="3065483"/>
            <a:ext cx="3304540" cy="151892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NSA区域</a:t>
            </a:r>
            <a:r>
              <a:rPr dirty="0" sz="1400" spc="-10">
                <a:latin typeface="Microsoft YaHei"/>
                <a:cs typeface="Microsoft YaHei"/>
              </a:rPr>
              <a:t>F1/F2</a:t>
            </a:r>
            <a:r>
              <a:rPr dirty="0" sz="1400" spc="-30">
                <a:latin typeface="Microsoft YaHei"/>
                <a:cs typeface="Microsoft YaHei"/>
              </a:rPr>
              <a:t>扫频结果：</a:t>
            </a:r>
            <a:endParaRPr sz="1400">
              <a:latin typeface="Microsoft YaHei"/>
              <a:cs typeface="Microsoft YaHei"/>
            </a:endParaRPr>
          </a:p>
          <a:p>
            <a:pPr marL="241300" marR="5080" indent="-229235">
              <a:lnSpc>
                <a:spcPct val="100000"/>
              </a:lnSpc>
            </a:pPr>
            <a:r>
              <a:rPr dirty="0" sz="1400">
                <a:latin typeface="Microsoft YaHei"/>
                <a:cs typeface="Microsoft YaHei"/>
              </a:rPr>
              <a:t>1、F1（38400）本次扫到59</a:t>
            </a:r>
            <a:r>
              <a:rPr dirty="0" sz="1400" spc="-10">
                <a:latin typeface="Microsoft YaHei"/>
                <a:cs typeface="Microsoft YaHei"/>
              </a:rPr>
              <a:t>个小区信号</a:t>
            </a:r>
            <a:r>
              <a:rPr dirty="0" sz="1400" spc="-15">
                <a:latin typeface="Microsoft YaHei"/>
                <a:cs typeface="Microsoft YaHei"/>
              </a:rPr>
              <a:t>强于-</a:t>
            </a:r>
            <a:r>
              <a:rPr dirty="0" sz="1400">
                <a:latin typeface="Microsoft YaHei"/>
                <a:cs typeface="Microsoft YaHei"/>
              </a:rPr>
              <a:t>100</a:t>
            </a:r>
            <a:r>
              <a:rPr dirty="0" sz="1400" spc="-15">
                <a:latin typeface="Microsoft YaHei"/>
                <a:cs typeface="Microsoft YaHei"/>
              </a:rPr>
              <a:t> </a:t>
            </a:r>
            <a:r>
              <a:rPr dirty="0" sz="1400" spc="-25">
                <a:latin typeface="Microsoft YaHei"/>
                <a:cs typeface="Microsoft YaHei"/>
              </a:rPr>
              <a:t>dBm</a:t>
            </a:r>
            <a:endParaRPr sz="1400">
              <a:latin typeface="Microsoft YaHei"/>
              <a:cs typeface="Microsoft YaHei"/>
            </a:endParaRPr>
          </a:p>
          <a:p>
            <a:pPr marL="241300" marR="5080" indent="-229235">
              <a:lnSpc>
                <a:spcPct val="100000"/>
              </a:lnSpc>
              <a:spcBef>
                <a:spcPts val="5"/>
              </a:spcBef>
            </a:pPr>
            <a:r>
              <a:rPr dirty="0" sz="1400">
                <a:latin typeface="Microsoft YaHei"/>
                <a:cs typeface="Microsoft YaHei"/>
              </a:rPr>
              <a:t>2、F2（38544）本次扫到40</a:t>
            </a:r>
            <a:r>
              <a:rPr dirty="0" sz="1400" spc="-10">
                <a:latin typeface="Microsoft YaHei"/>
                <a:cs typeface="Microsoft YaHei"/>
              </a:rPr>
              <a:t>个小区信号</a:t>
            </a:r>
            <a:r>
              <a:rPr dirty="0" sz="1400" spc="-15">
                <a:latin typeface="Microsoft YaHei"/>
                <a:cs typeface="Microsoft YaHei"/>
              </a:rPr>
              <a:t>强于-</a:t>
            </a:r>
            <a:r>
              <a:rPr dirty="0" sz="1400">
                <a:latin typeface="Microsoft YaHei"/>
                <a:cs typeface="Microsoft YaHei"/>
              </a:rPr>
              <a:t>100</a:t>
            </a:r>
            <a:r>
              <a:rPr dirty="0" sz="1400" spc="-15">
                <a:latin typeface="Microsoft YaHei"/>
                <a:cs typeface="Microsoft YaHei"/>
              </a:rPr>
              <a:t> </a:t>
            </a:r>
            <a:r>
              <a:rPr dirty="0" sz="1400" spc="-25">
                <a:latin typeface="Microsoft YaHei"/>
                <a:cs typeface="Microsoft YaHei"/>
              </a:rPr>
              <a:t>dBm</a:t>
            </a:r>
            <a:endParaRPr sz="1400">
              <a:latin typeface="Microsoft YaHei"/>
              <a:cs typeface="Microsoft YaHei"/>
            </a:endParaRPr>
          </a:p>
          <a:p>
            <a:pPr marL="240665" marR="12065" indent="-228600">
              <a:lnSpc>
                <a:spcPct val="100000"/>
              </a:lnSpc>
            </a:pPr>
            <a:r>
              <a:rPr dirty="0" sz="1400">
                <a:latin typeface="Microsoft YaHei"/>
                <a:cs typeface="Microsoft YaHei"/>
              </a:rPr>
              <a:t>3、FDD（1300）20M</a:t>
            </a:r>
            <a:r>
              <a:rPr dirty="0" sz="1400" spc="-10">
                <a:latin typeface="Microsoft YaHei"/>
                <a:cs typeface="Microsoft YaHei"/>
              </a:rPr>
              <a:t>带宽没有扫到，怀</a:t>
            </a:r>
            <a:r>
              <a:rPr dirty="0" sz="1400" spc="-20">
                <a:latin typeface="Microsoft YaHei"/>
                <a:cs typeface="Microsoft YaHei"/>
              </a:rPr>
              <a:t>疑是GSM</a:t>
            </a:r>
            <a:r>
              <a:rPr dirty="0" sz="1400" spc="-35">
                <a:latin typeface="Microsoft YaHei"/>
                <a:cs typeface="Microsoft YaHei"/>
              </a:rPr>
              <a:t>的频段</a:t>
            </a:r>
            <a:endParaRPr sz="1400">
              <a:latin typeface="Microsoft YaHei"/>
              <a:cs typeface="Microsoft YaHei"/>
            </a:endParaRPr>
          </a:p>
        </p:txBody>
      </p:sp>
      <p:grpSp>
        <p:nvGrpSpPr>
          <p:cNvPr id="6" name="object 6"/>
          <p:cNvGrpSpPr/>
          <p:nvPr/>
        </p:nvGrpSpPr>
        <p:grpSpPr>
          <a:xfrm>
            <a:off x="4152900" y="952500"/>
            <a:ext cx="1964055" cy="1130300"/>
            <a:chOff x="4152900" y="952500"/>
            <a:chExt cx="1964055" cy="1130300"/>
          </a:xfrm>
        </p:grpSpPr>
        <p:pic>
          <p:nvPicPr>
            <p:cNvPr id="7" name="object 7"/>
            <p:cNvPicPr/>
            <p:nvPr/>
          </p:nvPicPr>
          <p:blipFill>
            <a:blip r:embed="rId2" cstate="print"/>
            <a:stretch>
              <a:fillRect/>
            </a:stretch>
          </p:blipFill>
          <p:spPr>
            <a:xfrm>
              <a:off x="4162425" y="962025"/>
              <a:ext cx="1944687" cy="1111249"/>
            </a:xfrm>
            <a:prstGeom prst="rect">
              <a:avLst/>
            </a:prstGeom>
          </p:spPr>
        </p:pic>
        <p:sp>
          <p:nvSpPr>
            <p:cNvPr id="8" name="object 8" descr=""/>
            <p:cNvSpPr/>
            <p:nvPr/>
          </p:nvSpPr>
          <p:spPr>
            <a:xfrm>
              <a:off x="4157662" y="957262"/>
              <a:ext cx="1954530" cy="1120775"/>
            </a:xfrm>
            <a:custGeom>
              <a:avLst/>
              <a:gdLst/>
              <a:ahLst/>
              <a:cxnLst/>
              <a:rect l="l" t="t" r="r" b="b"/>
              <a:pathLst>
                <a:path w="1954529" h="1120775">
                  <a:moveTo>
                    <a:pt x="0" y="0"/>
                  </a:moveTo>
                  <a:lnTo>
                    <a:pt x="1954212" y="0"/>
                  </a:lnTo>
                  <a:lnTo>
                    <a:pt x="1954212" y="1120775"/>
                  </a:lnTo>
                  <a:lnTo>
                    <a:pt x="0" y="1120775"/>
                  </a:lnTo>
                  <a:lnTo>
                    <a:pt x="0" y="0"/>
                  </a:lnTo>
                  <a:close/>
                </a:path>
              </a:pathLst>
            </a:custGeom>
            <a:ln w="9525">
              <a:solidFill>
                <a:srgbClr val="5B9BD5"/>
              </a:solidFill>
            </a:ln>
          </p:spPr>
          <p:txBody>
            <a:bodyPr wrap="square" lIns="0" tIns="0" rIns="0" bIns="0" rtlCol="0"/>
            <a:lstStyle/>
            <a:p/>
          </p:txBody>
        </p:sp>
      </p:grpSp>
      <p:grpSp>
        <p:nvGrpSpPr>
          <p:cNvPr id="9" name="object 9"/>
          <p:cNvGrpSpPr/>
          <p:nvPr/>
        </p:nvGrpSpPr>
        <p:grpSpPr>
          <a:xfrm>
            <a:off x="6518275" y="942975"/>
            <a:ext cx="2014855" cy="1130300"/>
            <a:chOff x="6518275" y="942975"/>
            <a:chExt cx="2014855" cy="1130300"/>
          </a:xfrm>
        </p:grpSpPr>
        <p:pic>
          <p:nvPicPr>
            <p:cNvPr id="10" name="object 10"/>
            <p:cNvPicPr/>
            <p:nvPr/>
          </p:nvPicPr>
          <p:blipFill>
            <a:blip r:embed="rId3" cstate="print"/>
            <a:stretch>
              <a:fillRect/>
            </a:stretch>
          </p:blipFill>
          <p:spPr>
            <a:xfrm>
              <a:off x="6527800" y="952500"/>
              <a:ext cx="1995486" cy="1111249"/>
            </a:xfrm>
            <a:prstGeom prst="rect">
              <a:avLst/>
            </a:prstGeom>
          </p:spPr>
        </p:pic>
        <p:sp>
          <p:nvSpPr>
            <p:cNvPr id="11" name="object 11" descr=""/>
            <p:cNvSpPr/>
            <p:nvPr/>
          </p:nvSpPr>
          <p:spPr>
            <a:xfrm>
              <a:off x="6523037" y="947737"/>
              <a:ext cx="2005330" cy="1120775"/>
            </a:xfrm>
            <a:custGeom>
              <a:avLst/>
              <a:gdLst/>
              <a:ahLst/>
              <a:cxnLst/>
              <a:rect l="l" t="t" r="r" b="b"/>
              <a:pathLst>
                <a:path w="2005329" h="1120775">
                  <a:moveTo>
                    <a:pt x="0" y="0"/>
                  </a:moveTo>
                  <a:lnTo>
                    <a:pt x="2005012" y="0"/>
                  </a:lnTo>
                  <a:lnTo>
                    <a:pt x="2005012" y="1120775"/>
                  </a:lnTo>
                  <a:lnTo>
                    <a:pt x="0" y="1120775"/>
                  </a:lnTo>
                  <a:lnTo>
                    <a:pt x="0" y="0"/>
                  </a:lnTo>
                  <a:close/>
                </a:path>
              </a:pathLst>
            </a:custGeom>
            <a:ln w="9525">
              <a:solidFill>
                <a:srgbClr val="5B9BD5"/>
              </a:solidFill>
            </a:ln>
          </p:spPr>
          <p:txBody>
            <a:bodyPr wrap="square" lIns="0" tIns="0" rIns="0" bIns="0" rtlCol="0"/>
            <a:lstStyle/>
            <a:p/>
          </p:txBody>
        </p:sp>
      </p:grpSp>
      <p:grpSp>
        <p:nvGrpSpPr>
          <p:cNvPr id="12" name="object 12"/>
          <p:cNvGrpSpPr/>
          <p:nvPr/>
        </p:nvGrpSpPr>
        <p:grpSpPr>
          <a:xfrm>
            <a:off x="4146550" y="2162175"/>
            <a:ext cx="1970405" cy="1211580"/>
            <a:chOff x="4146550" y="2162175"/>
            <a:chExt cx="1970405" cy="1211580"/>
          </a:xfrm>
        </p:grpSpPr>
        <p:pic>
          <p:nvPicPr>
            <p:cNvPr id="13" name="object 13"/>
            <p:cNvPicPr/>
            <p:nvPr/>
          </p:nvPicPr>
          <p:blipFill>
            <a:blip r:embed="rId4" cstate="print"/>
            <a:stretch>
              <a:fillRect/>
            </a:stretch>
          </p:blipFill>
          <p:spPr>
            <a:xfrm>
              <a:off x="4156075" y="2171700"/>
              <a:ext cx="1951037" cy="1192212"/>
            </a:xfrm>
            <a:prstGeom prst="rect">
              <a:avLst/>
            </a:prstGeom>
          </p:spPr>
        </p:pic>
        <p:sp>
          <p:nvSpPr>
            <p:cNvPr id="14" name="object 14" descr=""/>
            <p:cNvSpPr/>
            <p:nvPr/>
          </p:nvSpPr>
          <p:spPr>
            <a:xfrm>
              <a:off x="4151312" y="2166937"/>
              <a:ext cx="1960880" cy="1202055"/>
            </a:xfrm>
            <a:custGeom>
              <a:avLst/>
              <a:gdLst/>
              <a:ahLst/>
              <a:cxnLst/>
              <a:rect l="l" t="t" r="r" b="b"/>
              <a:pathLst>
                <a:path w="1960879" h="1202054">
                  <a:moveTo>
                    <a:pt x="0" y="0"/>
                  </a:moveTo>
                  <a:lnTo>
                    <a:pt x="1960562" y="0"/>
                  </a:lnTo>
                  <a:lnTo>
                    <a:pt x="1960562" y="1201737"/>
                  </a:lnTo>
                  <a:lnTo>
                    <a:pt x="0" y="1201737"/>
                  </a:lnTo>
                  <a:lnTo>
                    <a:pt x="0" y="0"/>
                  </a:lnTo>
                  <a:close/>
                </a:path>
              </a:pathLst>
            </a:custGeom>
            <a:ln w="9525">
              <a:solidFill>
                <a:srgbClr val="5B9BD5"/>
              </a:solidFill>
            </a:ln>
          </p:spPr>
          <p:txBody>
            <a:bodyPr wrap="square" lIns="0" tIns="0" rIns="0" bIns="0" rtlCol="0"/>
            <a:lstStyle/>
            <a:p/>
          </p:txBody>
        </p:sp>
      </p:grpSp>
      <p:grpSp>
        <p:nvGrpSpPr>
          <p:cNvPr id="15" name="object 15"/>
          <p:cNvGrpSpPr/>
          <p:nvPr/>
        </p:nvGrpSpPr>
        <p:grpSpPr>
          <a:xfrm>
            <a:off x="6518275" y="2162175"/>
            <a:ext cx="2019300" cy="1206500"/>
            <a:chOff x="6518275" y="2162175"/>
            <a:chExt cx="2019300" cy="1206500"/>
          </a:xfrm>
        </p:grpSpPr>
        <p:pic>
          <p:nvPicPr>
            <p:cNvPr id="16" name="object 16"/>
            <p:cNvPicPr/>
            <p:nvPr/>
          </p:nvPicPr>
          <p:blipFill>
            <a:blip r:embed="rId5" cstate="print"/>
            <a:stretch>
              <a:fillRect/>
            </a:stretch>
          </p:blipFill>
          <p:spPr>
            <a:xfrm>
              <a:off x="6527800" y="2171700"/>
              <a:ext cx="2000249" cy="1187449"/>
            </a:xfrm>
            <a:prstGeom prst="rect">
              <a:avLst/>
            </a:prstGeom>
          </p:spPr>
        </p:pic>
        <p:sp>
          <p:nvSpPr>
            <p:cNvPr id="17" name="object 17" descr=""/>
            <p:cNvSpPr/>
            <p:nvPr/>
          </p:nvSpPr>
          <p:spPr>
            <a:xfrm>
              <a:off x="6523037" y="2166937"/>
              <a:ext cx="2009775" cy="1196975"/>
            </a:xfrm>
            <a:custGeom>
              <a:avLst/>
              <a:gdLst/>
              <a:ahLst/>
              <a:cxnLst/>
              <a:rect l="l" t="t" r="r" b="b"/>
              <a:pathLst>
                <a:path w="2009775" h="1196975">
                  <a:moveTo>
                    <a:pt x="0" y="0"/>
                  </a:moveTo>
                  <a:lnTo>
                    <a:pt x="2009775" y="0"/>
                  </a:lnTo>
                  <a:lnTo>
                    <a:pt x="2009775" y="1196975"/>
                  </a:lnTo>
                  <a:lnTo>
                    <a:pt x="0" y="1196975"/>
                  </a:lnTo>
                  <a:lnTo>
                    <a:pt x="0" y="0"/>
                  </a:lnTo>
                  <a:close/>
                </a:path>
              </a:pathLst>
            </a:custGeom>
            <a:ln w="9525">
              <a:solidFill>
                <a:srgbClr val="5B9BD5"/>
              </a:solidFill>
            </a:ln>
          </p:spPr>
          <p:txBody>
            <a:bodyPr wrap="square" lIns="0" tIns="0" rIns="0" bIns="0" rtlCol="0"/>
            <a:lstStyle/>
            <a:p/>
          </p:txBody>
        </p:sp>
      </p:grpSp>
      <p:grpSp>
        <p:nvGrpSpPr>
          <p:cNvPr id="18" name="object 18"/>
          <p:cNvGrpSpPr/>
          <p:nvPr/>
        </p:nvGrpSpPr>
        <p:grpSpPr>
          <a:xfrm>
            <a:off x="4146550" y="3508375"/>
            <a:ext cx="1974850" cy="1316355"/>
            <a:chOff x="4146550" y="3508375"/>
            <a:chExt cx="1974850" cy="1316355"/>
          </a:xfrm>
        </p:grpSpPr>
        <p:pic>
          <p:nvPicPr>
            <p:cNvPr id="19" name="object 19"/>
            <p:cNvPicPr/>
            <p:nvPr/>
          </p:nvPicPr>
          <p:blipFill>
            <a:blip r:embed="rId6" cstate="print"/>
            <a:stretch>
              <a:fillRect/>
            </a:stretch>
          </p:blipFill>
          <p:spPr>
            <a:xfrm>
              <a:off x="4156075" y="3517900"/>
              <a:ext cx="1955799" cy="1271965"/>
            </a:xfrm>
            <a:prstGeom prst="rect">
              <a:avLst/>
            </a:prstGeom>
          </p:spPr>
        </p:pic>
        <p:sp>
          <p:nvSpPr>
            <p:cNvPr id="20" name="object 20" descr=""/>
            <p:cNvSpPr/>
            <p:nvPr/>
          </p:nvSpPr>
          <p:spPr>
            <a:xfrm>
              <a:off x="4151312" y="3513137"/>
              <a:ext cx="1965325" cy="1306830"/>
            </a:xfrm>
            <a:custGeom>
              <a:avLst/>
              <a:gdLst/>
              <a:ahLst/>
              <a:cxnLst/>
              <a:rect l="l" t="t" r="r" b="b"/>
              <a:pathLst>
                <a:path w="1965325" h="1306829">
                  <a:moveTo>
                    <a:pt x="0" y="0"/>
                  </a:moveTo>
                  <a:lnTo>
                    <a:pt x="1965325" y="0"/>
                  </a:lnTo>
                  <a:lnTo>
                    <a:pt x="1965325" y="1306512"/>
                  </a:lnTo>
                  <a:lnTo>
                    <a:pt x="0" y="1306512"/>
                  </a:lnTo>
                  <a:lnTo>
                    <a:pt x="0" y="0"/>
                  </a:lnTo>
                  <a:close/>
                </a:path>
              </a:pathLst>
            </a:custGeom>
            <a:ln w="9525">
              <a:solidFill>
                <a:srgbClr val="5B9BD5"/>
              </a:solidFill>
            </a:ln>
          </p:spPr>
          <p:txBody>
            <a:bodyPr wrap="square" lIns="0" tIns="0" rIns="0" bIns="0" rtlCol="0"/>
            <a:lstStyle/>
            <a:p/>
          </p:txBody>
        </p:sp>
      </p:grpSp>
      <p:grpSp>
        <p:nvGrpSpPr>
          <p:cNvPr id="21" name="object 21"/>
          <p:cNvGrpSpPr/>
          <p:nvPr/>
        </p:nvGrpSpPr>
        <p:grpSpPr>
          <a:xfrm>
            <a:off x="6518275" y="3508375"/>
            <a:ext cx="2014855" cy="1316355"/>
            <a:chOff x="6518275" y="3508375"/>
            <a:chExt cx="2014855" cy="1316355"/>
          </a:xfrm>
        </p:grpSpPr>
        <p:pic>
          <p:nvPicPr>
            <p:cNvPr id="22" name="object 22"/>
            <p:cNvPicPr/>
            <p:nvPr/>
          </p:nvPicPr>
          <p:blipFill>
            <a:blip r:embed="rId7" cstate="print"/>
            <a:stretch>
              <a:fillRect/>
            </a:stretch>
          </p:blipFill>
          <p:spPr>
            <a:xfrm>
              <a:off x="6527800" y="3517900"/>
              <a:ext cx="1995487" cy="1296987"/>
            </a:xfrm>
            <a:prstGeom prst="rect">
              <a:avLst/>
            </a:prstGeom>
          </p:spPr>
        </p:pic>
        <p:sp>
          <p:nvSpPr>
            <p:cNvPr id="23" name="object 23" descr=""/>
            <p:cNvSpPr/>
            <p:nvPr/>
          </p:nvSpPr>
          <p:spPr>
            <a:xfrm>
              <a:off x="6523037" y="3513137"/>
              <a:ext cx="2005330" cy="1306830"/>
            </a:xfrm>
            <a:custGeom>
              <a:avLst/>
              <a:gdLst/>
              <a:ahLst/>
              <a:cxnLst/>
              <a:rect l="l" t="t" r="r" b="b"/>
              <a:pathLst>
                <a:path w="2005329" h="1306829">
                  <a:moveTo>
                    <a:pt x="0" y="0"/>
                  </a:moveTo>
                  <a:lnTo>
                    <a:pt x="2005012" y="0"/>
                  </a:lnTo>
                  <a:lnTo>
                    <a:pt x="2005012" y="1306512"/>
                  </a:lnTo>
                  <a:lnTo>
                    <a:pt x="0" y="1306512"/>
                  </a:lnTo>
                  <a:lnTo>
                    <a:pt x="0" y="0"/>
                  </a:lnTo>
                  <a:close/>
                </a:path>
              </a:pathLst>
            </a:custGeom>
            <a:ln w="9525">
              <a:solidFill>
                <a:srgbClr val="5B9BD5"/>
              </a:solidFill>
            </a:ln>
          </p:spPr>
          <p:txBody>
            <a:bodyPr wrap="square" lIns="0" tIns="0" rIns="0" bIns="0" rtlCol="0"/>
            <a:lstStyle/>
            <a:p/>
          </p:txBody>
        </p:sp>
      </p:grpSp>
      <p:sp>
        <p:nvSpPr>
          <p:cNvPr id="24" name="object 24" descr=""/>
          <p:cNvSpPr txBox="1"/>
          <p:nvPr/>
        </p:nvSpPr>
        <p:spPr>
          <a:xfrm>
            <a:off x="3858577" y="1536572"/>
            <a:ext cx="219710" cy="208279"/>
          </a:xfrm>
          <a:prstGeom prst="rect">
            <a:avLst/>
          </a:prstGeom>
        </p:spPr>
        <p:txBody>
          <a:bodyPr wrap="square" lIns="0" tIns="12700" rIns="0" bIns="0" rtlCol="0" vert="horz">
            <a:spAutoFit/>
          </a:bodyPr>
          <a:lstStyle/>
          <a:p>
            <a:pPr marL="12700">
              <a:lnSpc>
                <a:spcPct val="100000"/>
              </a:lnSpc>
              <a:spcBef>
                <a:spcPts val="100"/>
              </a:spcBef>
            </a:pPr>
            <a:r>
              <a:rPr dirty="0" sz="1200" spc="-25">
                <a:latin typeface="Arial MT"/>
                <a:cs typeface="Arial MT"/>
              </a:rPr>
              <a:t>D1</a:t>
            </a:r>
            <a:endParaRPr sz="1200">
              <a:latin typeface="Arial MT"/>
              <a:cs typeface="Arial MT"/>
            </a:endParaRPr>
          </a:p>
        </p:txBody>
      </p:sp>
      <p:sp>
        <p:nvSpPr>
          <p:cNvPr id="25" name="object 25" descr=""/>
          <p:cNvSpPr txBox="1"/>
          <p:nvPr/>
        </p:nvSpPr>
        <p:spPr>
          <a:xfrm>
            <a:off x="6195326" y="1511122"/>
            <a:ext cx="219710" cy="208279"/>
          </a:xfrm>
          <a:prstGeom prst="rect">
            <a:avLst/>
          </a:prstGeom>
        </p:spPr>
        <p:txBody>
          <a:bodyPr wrap="square" lIns="0" tIns="12700" rIns="0" bIns="0" rtlCol="0" vert="horz">
            <a:spAutoFit/>
          </a:bodyPr>
          <a:lstStyle/>
          <a:p>
            <a:pPr marL="12700">
              <a:lnSpc>
                <a:spcPct val="100000"/>
              </a:lnSpc>
              <a:spcBef>
                <a:spcPts val="100"/>
              </a:spcBef>
            </a:pPr>
            <a:r>
              <a:rPr dirty="0" sz="1200" spc="-25">
                <a:latin typeface="Arial MT"/>
                <a:cs typeface="Arial MT"/>
              </a:rPr>
              <a:t>D2</a:t>
            </a:r>
            <a:endParaRPr sz="1200">
              <a:latin typeface="Arial MT"/>
              <a:cs typeface="Arial MT"/>
            </a:endParaRPr>
          </a:p>
        </p:txBody>
      </p:sp>
      <p:sp>
        <p:nvSpPr>
          <p:cNvPr id="26" name="object 26" descr=""/>
          <p:cNvSpPr txBox="1"/>
          <p:nvPr/>
        </p:nvSpPr>
        <p:spPr>
          <a:xfrm>
            <a:off x="3642626" y="2703347"/>
            <a:ext cx="456565" cy="208279"/>
          </a:xfrm>
          <a:prstGeom prst="rect">
            <a:avLst/>
          </a:prstGeom>
        </p:spPr>
        <p:txBody>
          <a:bodyPr wrap="square" lIns="0" tIns="12700" rIns="0" bIns="0" rtlCol="0" vert="horz">
            <a:spAutoFit/>
          </a:bodyPr>
          <a:lstStyle/>
          <a:p>
            <a:pPr marL="12700">
              <a:lnSpc>
                <a:spcPct val="100000"/>
              </a:lnSpc>
              <a:spcBef>
                <a:spcPts val="100"/>
              </a:spcBef>
            </a:pPr>
            <a:r>
              <a:rPr dirty="0" sz="1200" spc="-10">
                <a:latin typeface="Arial MT"/>
                <a:cs typeface="Arial MT"/>
              </a:rPr>
              <a:t>D4/D5</a:t>
            </a:r>
            <a:endParaRPr sz="1200">
              <a:latin typeface="Arial MT"/>
              <a:cs typeface="Arial MT"/>
            </a:endParaRPr>
          </a:p>
        </p:txBody>
      </p:sp>
      <p:sp>
        <p:nvSpPr>
          <p:cNvPr id="27" name="object 27" descr=""/>
          <p:cNvSpPr txBox="1"/>
          <p:nvPr/>
        </p:nvSpPr>
        <p:spPr>
          <a:xfrm>
            <a:off x="6223977" y="2671648"/>
            <a:ext cx="219710" cy="208279"/>
          </a:xfrm>
          <a:prstGeom prst="rect">
            <a:avLst/>
          </a:prstGeom>
        </p:spPr>
        <p:txBody>
          <a:bodyPr wrap="square" lIns="0" tIns="12700" rIns="0" bIns="0" rtlCol="0" vert="horz">
            <a:spAutoFit/>
          </a:bodyPr>
          <a:lstStyle/>
          <a:p>
            <a:pPr marL="12700">
              <a:lnSpc>
                <a:spcPct val="100000"/>
              </a:lnSpc>
              <a:spcBef>
                <a:spcPts val="100"/>
              </a:spcBef>
            </a:pPr>
            <a:r>
              <a:rPr dirty="0" sz="1200" spc="-25">
                <a:latin typeface="Arial MT"/>
                <a:cs typeface="Arial MT"/>
              </a:rPr>
              <a:t>D6</a:t>
            </a:r>
            <a:endParaRPr sz="1200">
              <a:latin typeface="Arial MT"/>
              <a:cs typeface="Arial MT"/>
            </a:endParaRPr>
          </a:p>
        </p:txBody>
      </p:sp>
      <p:sp>
        <p:nvSpPr>
          <p:cNvPr id="28" name="object 28" descr=""/>
          <p:cNvSpPr txBox="1"/>
          <p:nvPr/>
        </p:nvSpPr>
        <p:spPr>
          <a:xfrm>
            <a:off x="3811028" y="4055897"/>
            <a:ext cx="203200" cy="208279"/>
          </a:xfrm>
          <a:prstGeom prst="rect">
            <a:avLst/>
          </a:prstGeom>
        </p:spPr>
        <p:txBody>
          <a:bodyPr wrap="square" lIns="0" tIns="12700" rIns="0" bIns="0" rtlCol="0" vert="horz">
            <a:spAutoFit/>
          </a:bodyPr>
          <a:lstStyle/>
          <a:p>
            <a:pPr marL="12700">
              <a:lnSpc>
                <a:spcPct val="100000"/>
              </a:lnSpc>
              <a:spcBef>
                <a:spcPts val="100"/>
              </a:spcBef>
            </a:pPr>
            <a:r>
              <a:rPr dirty="0" sz="1200" spc="-25">
                <a:latin typeface="Arial MT"/>
                <a:cs typeface="Arial MT"/>
              </a:rPr>
              <a:t>F1</a:t>
            </a:r>
            <a:endParaRPr sz="1200">
              <a:latin typeface="Arial MT"/>
              <a:cs typeface="Arial MT"/>
            </a:endParaRPr>
          </a:p>
        </p:txBody>
      </p:sp>
      <p:sp>
        <p:nvSpPr>
          <p:cNvPr id="29" name="object 29" descr=""/>
          <p:cNvSpPr txBox="1"/>
          <p:nvPr/>
        </p:nvSpPr>
        <p:spPr>
          <a:xfrm>
            <a:off x="6185877" y="4054373"/>
            <a:ext cx="203200" cy="208279"/>
          </a:xfrm>
          <a:prstGeom prst="rect">
            <a:avLst/>
          </a:prstGeom>
        </p:spPr>
        <p:txBody>
          <a:bodyPr wrap="square" lIns="0" tIns="12700" rIns="0" bIns="0" rtlCol="0" vert="horz">
            <a:spAutoFit/>
          </a:bodyPr>
          <a:lstStyle/>
          <a:p>
            <a:pPr marL="12700">
              <a:lnSpc>
                <a:spcPct val="100000"/>
              </a:lnSpc>
              <a:spcBef>
                <a:spcPts val="100"/>
              </a:spcBef>
            </a:pPr>
            <a:r>
              <a:rPr dirty="0" sz="1200" spc="-25">
                <a:latin typeface="Arial MT"/>
                <a:cs typeface="Arial MT"/>
              </a:rPr>
              <a:t>F2</a:t>
            </a:r>
            <a:endParaRPr sz="1200">
              <a:latin typeface="Arial MT"/>
              <a:cs typeface="Arial MT"/>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网络性能测试工作</a:t>
            </a:r>
          </a:p>
        </p:txBody>
      </p:sp>
      <p:sp>
        <p:nvSpPr>
          <p:cNvPr id="3" name="object 3" descr=""/>
          <p:cNvSpPr txBox="1"/>
          <p:nvPr/>
        </p:nvSpPr>
        <p:spPr>
          <a:xfrm>
            <a:off x="307340" y="767588"/>
            <a:ext cx="7025005"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Arial MT"/>
                <a:cs typeface="Arial MT"/>
              </a:rPr>
              <a:t>5G</a:t>
            </a:r>
            <a:r>
              <a:rPr dirty="0" sz="1800">
                <a:latin typeface="Microsoft YaHei"/>
                <a:cs typeface="Microsoft YaHei"/>
              </a:rPr>
              <a:t>用例测试</a:t>
            </a:r>
            <a:r>
              <a:rPr dirty="0" sz="1800" spc="-10">
                <a:latin typeface="Arial MT"/>
                <a:cs typeface="Arial MT"/>
              </a:rPr>
              <a:t>-</a:t>
            </a:r>
            <a:r>
              <a:rPr dirty="0" sz="1800">
                <a:latin typeface="Microsoft YaHei"/>
                <a:cs typeface="Microsoft YaHei"/>
              </a:rPr>
              <a:t>测试项方法（</a:t>
            </a:r>
            <a:r>
              <a:rPr dirty="0" sz="1800">
                <a:latin typeface="Arial MT"/>
                <a:cs typeface="Arial MT"/>
              </a:rPr>
              <a:t>SA</a:t>
            </a:r>
            <a:r>
              <a:rPr dirty="0" sz="1800">
                <a:latin typeface="Microsoft YaHei"/>
                <a:cs typeface="Microsoft YaHei"/>
              </a:rPr>
              <a:t>控制面时延</a:t>
            </a:r>
            <a:r>
              <a:rPr dirty="0" sz="1800" spc="-10">
                <a:latin typeface="Microsoft YaHei"/>
                <a:cs typeface="Microsoft YaHei"/>
              </a:rPr>
              <a:t>）</a:t>
            </a:r>
            <a:r>
              <a:rPr dirty="0" sz="1800" spc="-10">
                <a:latin typeface="Arial MT"/>
                <a:cs typeface="Arial MT"/>
              </a:rPr>
              <a:t>-Idle/inactive</a:t>
            </a:r>
            <a:r>
              <a:rPr dirty="0" sz="1800" spc="-10">
                <a:latin typeface="Microsoft YaHei"/>
                <a:cs typeface="Microsoft YaHei"/>
              </a:rPr>
              <a:t>好、中、差点</a:t>
            </a:r>
            <a:endParaRPr sz="1800">
              <a:latin typeface="Microsoft YaHei"/>
              <a:cs typeface="Microsoft YaHei"/>
            </a:endParaRPr>
          </a:p>
        </p:txBody>
      </p:sp>
      <p:pic>
        <p:nvPicPr>
          <p:cNvPr id="4" name="object 4"/>
          <p:cNvPicPr/>
          <p:nvPr/>
        </p:nvPicPr>
        <p:blipFill>
          <a:blip r:embed="rId2" cstate="print"/>
          <a:stretch>
            <a:fillRect/>
          </a:stretch>
        </p:blipFill>
        <p:spPr>
          <a:xfrm>
            <a:off x="838200" y="1047750"/>
            <a:ext cx="7056437" cy="3898899"/>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3641" y="125825"/>
            <a:ext cx="474535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测试工作结果输出</a:t>
            </a:r>
            <a:r>
              <a:rPr dirty="0" spc="-10">
                <a:latin typeface="Times New Roman"/>
                <a:cs typeface="Times New Roman"/>
              </a:rPr>
              <a:t>-</a:t>
            </a:r>
            <a:r>
              <a:rPr dirty="0" spc="-45"/>
              <a:t>时延</a:t>
            </a:r>
          </a:p>
        </p:txBody>
      </p:sp>
      <p:pic>
        <p:nvPicPr>
          <p:cNvPr id="3" name="object 3"/>
          <p:cNvPicPr/>
          <p:nvPr/>
        </p:nvPicPr>
        <p:blipFill>
          <a:blip r:embed="rId2" cstate="print"/>
          <a:stretch>
            <a:fillRect/>
          </a:stretch>
        </p:blipFill>
        <p:spPr>
          <a:xfrm>
            <a:off x="228600" y="819150"/>
            <a:ext cx="8686799" cy="4115308"/>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3762" y="92377"/>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网络时延性能分析</a:t>
            </a:r>
          </a:p>
        </p:txBody>
      </p:sp>
      <p:sp>
        <p:nvSpPr>
          <p:cNvPr id="3" name="object 3" descr=""/>
          <p:cNvSpPr txBox="1"/>
          <p:nvPr/>
        </p:nvSpPr>
        <p:spPr>
          <a:xfrm>
            <a:off x="164230" y="1027886"/>
            <a:ext cx="5373370" cy="1336675"/>
          </a:xfrm>
          <a:prstGeom prst="rect">
            <a:avLst/>
          </a:prstGeom>
        </p:spPr>
        <p:txBody>
          <a:bodyPr wrap="square" lIns="0" tIns="12700" rIns="0" bIns="0" rtlCol="0" vert="horz">
            <a:spAutoFit/>
          </a:bodyPr>
          <a:lstStyle/>
          <a:p>
            <a:pPr marL="226695" indent="-213995">
              <a:lnSpc>
                <a:spcPct val="100000"/>
              </a:lnSpc>
              <a:spcBef>
                <a:spcPts val="100"/>
              </a:spcBef>
              <a:buClr>
                <a:srgbClr val="00B0F0"/>
              </a:buClr>
              <a:buFont typeface="Wingdings"/>
              <a:buChar char=""/>
              <a:tabLst>
                <a:tab pos="226695" algn="l"/>
              </a:tabLst>
            </a:pPr>
            <a:r>
              <a:rPr dirty="0" sz="1200">
                <a:latin typeface="Microsoft YaHei"/>
                <a:cs typeface="Microsoft YaHei"/>
              </a:rPr>
              <a:t>测试目的：验证</a:t>
            </a:r>
            <a:r>
              <a:rPr dirty="0" sz="1200" spc="-10">
                <a:latin typeface="Microsoft YaHei"/>
                <a:cs typeface="Microsoft YaHei"/>
              </a:rPr>
              <a:t>5G用户面、控制面时延</a:t>
            </a:r>
            <a:endParaRPr sz="1200">
              <a:latin typeface="Microsoft YaHei"/>
              <a:cs typeface="Microsoft YaHei"/>
            </a:endParaRPr>
          </a:p>
          <a:p>
            <a:pPr marL="226695" indent="-213995">
              <a:lnSpc>
                <a:spcPct val="100000"/>
              </a:lnSpc>
              <a:buClr>
                <a:srgbClr val="00B0F0"/>
              </a:buClr>
              <a:buFont typeface="Wingdings"/>
              <a:buChar char=""/>
              <a:tabLst>
                <a:tab pos="226695" algn="l"/>
              </a:tabLst>
            </a:pPr>
            <a:r>
              <a:rPr dirty="0" sz="1200" spc="-5">
                <a:latin typeface="Microsoft YaHei"/>
                <a:cs typeface="Microsoft YaHei"/>
              </a:rPr>
              <a:t>用户面环回时延测试结果：</a:t>
            </a:r>
            <a:endParaRPr sz="1200">
              <a:latin typeface="Microsoft YaHei"/>
              <a:cs typeface="Microsoft YaHei"/>
            </a:endParaRPr>
          </a:p>
          <a:p>
            <a:pPr lvl="1" marL="568325" marR="5080" indent="-213360">
              <a:lnSpc>
                <a:spcPct val="100000"/>
              </a:lnSpc>
              <a:buClr>
                <a:srgbClr val="00B0F0"/>
              </a:buClr>
              <a:buFont typeface="Wingdings"/>
              <a:buChar char=""/>
              <a:tabLst>
                <a:tab pos="569595" algn="l"/>
              </a:tabLst>
            </a:pPr>
            <a:r>
              <a:rPr dirty="0" sz="1100" spc="-20">
                <a:latin typeface="Microsoft YaHei"/>
                <a:cs typeface="Microsoft YaHei"/>
              </a:rPr>
              <a:t>基本都能满足</a:t>
            </a:r>
            <a:r>
              <a:rPr dirty="0" sz="1100" spc="-10">
                <a:latin typeface="Microsoft YaHei"/>
                <a:cs typeface="Microsoft YaHei"/>
              </a:rPr>
              <a:t>5G</a:t>
            </a:r>
            <a:r>
              <a:rPr dirty="0" sz="1100" spc="-20">
                <a:latin typeface="Microsoft YaHei"/>
                <a:cs typeface="Microsoft YaHei"/>
              </a:rPr>
              <a:t>的4ms</a:t>
            </a:r>
            <a:r>
              <a:rPr dirty="0" sz="1100" spc="-25">
                <a:latin typeface="Microsoft YaHei"/>
                <a:cs typeface="Microsoft YaHei"/>
              </a:rPr>
              <a:t>空口时延需求，部分远点测试例中由于华为样机采用固</a:t>
            </a:r>
            <a:r>
              <a:rPr dirty="0" sz="1100" spc="-25">
                <a:latin typeface="Microsoft YaHei"/>
                <a:cs typeface="Microsoft YaHei"/>
              </a:rPr>
              <a:t>	</a:t>
            </a:r>
            <a:r>
              <a:rPr dirty="0" sz="1100" spc="-20">
                <a:latin typeface="Microsoft YaHei"/>
                <a:cs typeface="Microsoft YaHei"/>
              </a:rPr>
              <a:t>定</a:t>
            </a:r>
            <a:r>
              <a:rPr dirty="0" sz="1100" spc="-10">
                <a:latin typeface="Microsoft YaHei"/>
                <a:cs typeface="Microsoft YaHei"/>
              </a:rPr>
              <a:t>MCS</a:t>
            </a:r>
            <a:r>
              <a:rPr dirty="0" sz="1100" spc="-20">
                <a:latin typeface="Microsoft YaHei"/>
                <a:cs typeface="Microsoft YaHei"/>
              </a:rPr>
              <a:t>大小调度，导致</a:t>
            </a:r>
            <a:r>
              <a:rPr dirty="0" sz="1100" spc="-10">
                <a:latin typeface="Microsoft YaHei"/>
                <a:cs typeface="Microsoft YaHei"/>
              </a:rPr>
              <a:t>Ping</a:t>
            </a:r>
            <a:r>
              <a:rPr dirty="0" sz="1100" spc="-20">
                <a:latin typeface="Microsoft YaHei"/>
                <a:cs typeface="Microsoft YaHei"/>
              </a:rPr>
              <a:t>包时延超过</a:t>
            </a:r>
            <a:r>
              <a:rPr dirty="0" sz="1100" spc="-25">
                <a:latin typeface="Microsoft YaHei"/>
                <a:cs typeface="Microsoft YaHei"/>
              </a:rPr>
              <a:t>4ms</a:t>
            </a:r>
            <a:endParaRPr sz="1100">
              <a:latin typeface="Microsoft YaHei"/>
              <a:cs typeface="Microsoft YaHei"/>
            </a:endParaRPr>
          </a:p>
          <a:p>
            <a:pPr marL="226060" indent="-213360">
              <a:lnSpc>
                <a:spcPts val="2140"/>
              </a:lnSpc>
              <a:buClr>
                <a:srgbClr val="00B0F0"/>
              </a:buClr>
              <a:buFont typeface="Wingdings"/>
              <a:buChar char=""/>
              <a:tabLst>
                <a:tab pos="226060" algn="l"/>
              </a:tabLst>
            </a:pPr>
            <a:r>
              <a:rPr dirty="0" sz="1800" spc="-5">
                <a:latin typeface="Microsoft YaHei"/>
                <a:cs typeface="Microsoft YaHei"/>
              </a:rPr>
              <a:t>控制面时延测试结果：</a:t>
            </a:r>
            <a:endParaRPr sz="1800">
              <a:latin typeface="Microsoft YaHei"/>
              <a:cs typeface="Microsoft YaHei"/>
            </a:endParaRPr>
          </a:p>
          <a:p>
            <a:pPr lvl="1" marL="568960" indent="-213360">
              <a:lnSpc>
                <a:spcPct val="100000"/>
              </a:lnSpc>
              <a:spcBef>
                <a:spcPts val="25"/>
              </a:spcBef>
              <a:buClr>
                <a:srgbClr val="00B0F0"/>
              </a:buClr>
              <a:buFont typeface="Wingdings"/>
              <a:buChar char=""/>
              <a:tabLst>
                <a:tab pos="568960" algn="l"/>
              </a:tabLst>
            </a:pPr>
            <a:r>
              <a:rPr dirty="0" sz="1100" spc="-10">
                <a:latin typeface="Microsoft YaHei"/>
                <a:cs typeface="Microsoft YaHei"/>
              </a:rPr>
              <a:t>Msg3-Msg5</a:t>
            </a:r>
            <a:r>
              <a:rPr dirty="0" sz="1100" spc="-20">
                <a:latin typeface="Microsoft YaHei"/>
                <a:cs typeface="Microsoft YaHei"/>
              </a:rPr>
              <a:t>时延在近中远点相近，约为13ms</a:t>
            </a:r>
            <a:endParaRPr sz="1100">
              <a:latin typeface="Microsoft YaHei"/>
              <a:cs typeface="Microsoft YaHei"/>
            </a:endParaRPr>
          </a:p>
          <a:p>
            <a:pPr lvl="1" marL="568960" indent="-213360">
              <a:lnSpc>
                <a:spcPct val="100000"/>
              </a:lnSpc>
              <a:buClr>
                <a:srgbClr val="00B0F0"/>
              </a:buClr>
              <a:buFont typeface="Wingdings"/>
              <a:buChar char=""/>
              <a:tabLst>
                <a:tab pos="568960" algn="l"/>
              </a:tabLst>
            </a:pPr>
            <a:r>
              <a:rPr dirty="0" sz="1100" spc="-10">
                <a:latin typeface="Microsoft YaHei"/>
                <a:cs typeface="Microsoft YaHei"/>
              </a:rPr>
              <a:t>Msg1-Msg5</a:t>
            </a:r>
            <a:r>
              <a:rPr dirty="0" sz="1100" spc="-20">
                <a:latin typeface="Microsoft YaHei"/>
                <a:cs typeface="Microsoft YaHei"/>
              </a:rPr>
              <a:t>时延在近中远点相近，约为17ms</a:t>
            </a:r>
            <a:endParaRPr sz="1100">
              <a:latin typeface="Microsoft YaHei"/>
              <a:cs typeface="Microsoft YaHei"/>
            </a:endParaRPr>
          </a:p>
        </p:txBody>
      </p:sp>
      <p:grpSp>
        <p:nvGrpSpPr>
          <p:cNvPr id="4" name="object 4" descr=""/>
          <p:cNvGrpSpPr/>
          <p:nvPr/>
        </p:nvGrpSpPr>
        <p:grpSpPr>
          <a:xfrm>
            <a:off x="6369367" y="1763077"/>
            <a:ext cx="1868805" cy="754380"/>
            <a:chOff x="6369367" y="1763077"/>
            <a:chExt cx="1868805" cy="754380"/>
          </a:xfrm>
        </p:grpSpPr>
        <p:sp>
          <p:nvSpPr>
            <p:cNvPr id="5" name="object 5" descr=""/>
            <p:cNvSpPr/>
            <p:nvPr/>
          </p:nvSpPr>
          <p:spPr>
            <a:xfrm>
              <a:off x="6412229" y="2066543"/>
              <a:ext cx="1561465" cy="0"/>
            </a:xfrm>
            <a:custGeom>
              <a:avLst/>
              <a:gdLst/>
              <a:ahLst/>
              <a:cxnLst/>
              <a:rect l="l" t="t" r="r" b="b"/>
              <a:pathLst>
                <a:path w="1561465" h="0">
                  <a:moveTo>
                    <a:pt x="1501139" y="0"/>
                  </a:moveTo>
                  <a:lnTo>
                    <a:pt x="1561337" y="0"/>
                  </a:lnTo>
                </a:path>
                <a:path w="1561465" h="0">
                  <a:moveTo>
                    <a:pt x="0" y="0"/>
                  </a:moveTo>
                  <a:lnTo>
                    <a:pt x="1341120" y="0"/>
                  </a:lnTo>
                </a:path>
              </a:pathLst>
            </a:custGeom>
            <a:ln w="9144">
              <a:solidFill>
                <a:srgbClr val="878787"/>
              </a:solidFill>
            </a:ln>
          </p:spPr>
          <p:txBody>
            <a:bodyPr wrap="square" lIns="0" tIns="0" rIns="0" bIns="0" rtlCol="0"/>
            <a:lstStyle/>
            <a:p/>
          </p:txBody>
        </p:sp>
        <p:sp>
          <p:nvSpPr>
            <p:cNvPr id="6" name="object 6" descr=""/>
            <p:cNvSpPr/>
            <p:nvPr/>
          </p:nvSpPr>
          <p:spPr>
            <a:xfrm>
              <a:off x="6412229" y="1767839"/>
              <a:ext cx="1561465" cy="0"/>
            </a:xfrm>
            <a:custGeom>
              <a:avLst/>
              <a:gdLst/>
              <a:ahLst/>
              <a:cxnLst/>
              <a:rect l="l" t="t" r="r" b="b"/>
              <a:pathLst>
                <a:path w="1561465" h="0">
                  <a:moveTo>
                    <a:pt x="0" y="0"/>
                  </a:moveTo>
                  <a:lnTo>
                    <a:pt x="1561338" y="0"/>
                  </a:lnTo>
                </a:path>
              </a:pathLst>
            </a:custGeom>
            <a:ln w="9144">
              <a:solidFill>
                <a:srgbClr val="878787"/>
              </a:solidFill>
            </a:ln>
          </p:spPr>
          <p:txBody>
            <a:bodyPr wrap="square" lIns="0" tIns="0" rIns="0" bIns="0" rtlCol="0"/>
            <a:lstStyle/>
            <a:p/>
          </p:txBody>
        </p:sp>
        <p:sp>
          <p:nvSpPr>
            <p:cNvPr id="7" name="object 7" descr=""/>
            <p:cNvSpPr/>
            <p:nvPr/>
          </p:nvSpPr>
          <p:spPr>
            <a:xfrm>
              <a:off x="6472428" y="2125979"/>
              <a:ext cx="1121410" cy="239395"/>
            </a:xfrm>
            <a:custGeom>
              <a:avLst/>
              <a:gdLst/>
              <a:ahLst/>
              <a:cxnLst/>
              <a:rect l="l" t="t" r="r" b="b"/>
              <a:pathLst>
                <a:path w="1121409" h="239394">
                  <a:moveTo>
                    <a:pt x="79997" y="60198"/>
                  </a:moveTo>
                  <a:lnTo>
                    <a:pt x="0" y="60198"/>
                  </a:lnTo>
                  <a:lnTo>
                    <a:pt x="0" y="239268"/>
                  </a:lnTo>
                  <a:lnTo>
                    <a:pt x="79997" y="239268"/>
                  </a:lnTo>
                  <a:lnTo>
                    <a:pt x="79997" y="60198"/>
                  </a:lnTo>
                  <a:close/>
                </a:path>
                <a:path w="1121409" h="239394">
                  <a:moveTo>
                    <a:pt x="600456" y="60198"/>
                  </a:moveTo>
                  <a:lnTo>
                    <a:pt x="520446" y="60198"/>
                  </a:lnTo>
                  <a:lnTo>
                    <a:pt x="520446" y="239268"/>
                  </a:lnTo>
                  <a:lnTo>
                    <a:pt x="600456" y="239268"/>
                  </a:lnTo>
                  <a:lnTo>
                    <a:pt x="600456" y="60198"/>
                  </a:lnTo>
                  <a:close/>
                </a:path>
                <a:path w="1121409" h="239394">
                  <a:moveTo>
                    <a:pt x="1120902" y="0"/>
                  </a:moveTo>
                  <a:lnTo>
                    <a:pt x="1040130" y="0"/>
                  </a:lnTo>
                  <a:lnTo>
                    <a:pt x="1040130" y="239268"/>
                  </a:lnTo>
                  <a:lnTo>
                    <a:pt x="1120902" y="239268"/>
                  </a:lnTo>
                  <a:lnTo>
                    <a:pt x="1120902" y="0"/>
                  </a:lnTo>
                  <a:close/>
                </a:path>
              </a:pathLst>
            </a:custGeom>
            <a:solidFill>
              <a:srgbClr val="0070C0"/>
            </a:solidFill>
          </p:spPr>
          <p:txBody>
            <a:bodyPr wrap="square" lIns="0" tIns="0" rIns="0" bIns="0" rtlCol="0"/>
            <a:lstStyle/>
            <a:p/>
          </p:txBody>
        </p:sp>
        <p:sp>
          <p:nvSpPr>
            <p:cNvPr id="8" name="object 8" descr=""/>
            <p:cNvSpPr/>
            <p:nvPr/>
          </p:nvSpPr>
          <p:spPr>
            <a:xfrm>
              <a:off x="6552438" y="2125979"/>
              <a:ext cx="1121410" cy="239395"/>
            </a:xfrm>
            <a:custGeom>
              <a:avLst/>
              <a:gdLst/>
              <a:ahLst/>
              <a:cxnLst/>
              <a:rect l="l" t="t" r="r" b="b"/>
              <a:pathLst>
                <a:path w="1121409" h="239394">
                  <a:moveTo>
                    <a:pt x="80010" y="60198"/>
                  </a:moveTo>
                  <a:lnTo>
                    <a:pt x="0" y="60198"/>
                  </a:lnTo>
                  <a:lnTo>
                    <a:pt x="0" y="239268"/>
                  </a:lnTo>
                  <a:lnTo>
                    <a:pt x="80010" y="239268"/>
                  </a:lnTo>
                  <a:lnTo>
                    <a:pt x="80010" y="60198"/>
                  </a:lnTo>
                  <a:close/>
                </a:path>
                <a:path w="1121409" h="239394">
                  <a:moveTo>
                    <a:pt x="600443" y="60198"/>
                  </a:moveTo>
                  <a:lnTo>
                    <a:pt x="520446" y="60198"/>
                  </a:lnTo>
                  <a:lnTo>
                    <a:pt x="520446" y="239268"/>
                  </a:lnTo>
                  <a:lnTo>
                    <a:pt x="600443" y="239268"/>
                  </a:lnTo>
                  <a:lnTo>
                    <a:pt x="600443" y="60198"/>
                  </a:lnTo>
                  <a:close/>
                </a:path>
                <a:path w="1121409" h="239394">
                  <a:moveTo>
                    <a:pt x="1120889" y="0"/>
                  </a:moveTo>
                  <a:lnTo>
                    <a:pt x="1040892" y="0"/>
                  </a:lnTo>
                  <a:lnTo>
                    <a:pt x="1040892" y="239268"/>
                  </a:lnTo>
                  <a:lnTo>
                    <a:pt x="1120889" y="239268"/>
                  </a:lnTo>
                  <a:lnTo>
                    <a:pt x="1120889" y="0"/>
                  </a:lnTo>
                  <a:close/>
                </a:path>
              </a:pathLst>
            </a:custGeom>
            <a:solidFill>
              <a:srgbClr val="C00000"/>
            </a:solidFill>
          </p:spPr>
          <p:txBody>
            <a:bodyPr wrap="square" lIns="0" tIns="0" rIns="0" bIns="0" rtlCol="0"/>
            <a:lstStyle/>
            <a:p/>
          </p:txBody>
        </p:sp>
        <p:sp>
          <p:nvSpPr>
            <p:cNvPr id="9" name="object 9" descr=""/>
            <p:cNvSpPr/>
            <p:nvPr/>
          </p:nvSpPr>
          <p:spPr>
            <a:xfrm>
              <a:off x="6632448" y="2125979"/>
              <a:ext cx="1121410" cy="239395"/>
            </a:xfrm>
            <a:custGeom>
              <a:avLst/>
              <a:gdLst/>
              <a:ahLst/>
              <a:cxnLst/>
              <a:rect l="l" t="t" r="r" b="b"/>
              <a:pathLst>
                <a:path w="1121409" h="239394">
                  <a:moveTo>
                    <a:pt x="80010" y="60198"/>
                  </a:moveTo>
                  <a:lnTo>
                    <a:pt x="0" y="60198"/>
                  </a:lnTo>
                  <a:lnTo>
                    <a:pt x="0" y="239268"/>
                  </a:lnTo>
                  <a:lnTo>
                    <a:pt x="80010" y="239268"/>
                  </a:lnTo>
                  <a:lnTo>
                    <a:pt x="80010" y="60198"/>
                  </a:lnTo>
                  <a:close/>
                </a:path>
                <a:path w="1121409" h="239394">
                  <a:moveTo>
                    <a:pt x="600456" y="60198"/>
                  </a:moveTo>
                  <a:lnTo>
                    <a:pt x="520446" y="60198"/>
                  </a:lnTo>
                  <a:lnTo>
                    <a:pt x="520446" y="239268"/>
                  </a:lnTo>
                  <a:lnTo>
                    <a:pt x="600456" y="239268"/>
                  </a:lnTo>
                  <a:lnTo>
                    <a:pt x="600456" y="60198"/>
                  </a:lnTo>
                  <a:close/>
                </a:path>
                <a:path w="1121409" h="239394">
                  <a:moveTo>
                    <a:pt x="1120902" y="0"/>
                  </a:moveTo>
                  <a:lnTo>
                    <a:pt x="1040892" y="0"/>
                  </a:lnTo>
                  <a:lnTo>
                    <a:pt x="1040892" y="239268"/>
                  </a:lnTo>
                  <a:lnTo>
                    <a:pt x="1120902" y="239268"/>
                  </a:lnTo>
                  <a:lnTo>
                    <a:pt x="1120902" y="0"/>
                  </a:lnTo>
                  <a:close/>
                </a:path>
              </a:pathLst>
            </a:custGeom>
            <a:solidFill>
              <a:srgbClr val="00B050"/>
            </a:solidFill>
          </p:spPr>
          <p:txBody>
            <a:bodyPr wrap="square" lIns="0" tIns="0" rIns="0" bIns="0" rtlCol="0"/>
            <a:lstStyle/>
            <a:p/>
          </p:txBody>
        </p:sp>
        <p:sp>
          <p:nvSpPr>
            <p:cNvPr id="10" name="object 10" descr=""/>
            <p:cNvSpPr/>
            <p:nvPr/>
          </p:nvSpPr>
          <p:spPr>
            <a:xfrm>
              <a:off x="6712458" y="1946909"/>
              <a:ext cx="1121410" cy="418465"/>
            </a:xfrm>
            <a:custGeom>
              <a:avLst/>
              <a:gdLst/>
              <a:ahLst/>
              <a:cxnLst/>
              <a:rect l="l" t="t" r="r" b="b"/>
              <a:pathLst>
                <a:path w="1121409" h="418464">
                  <a:moveTo>
                    <a:pt x="79997" y="239268"/>
                  </a:moveTo>
                  <a:lnTo>
                    <a:pt x="0" y="239268"/>
                  </a:lnTo>
                  <a:lnTo>
                    <a:pt x="0" y="418338"/>
                  </a:lnTo>
                  <a:lnTo>
                    <a:pt x="79997" y="418338"/>
                  </a:lnTo>
                  <a:lnTo>
                    <a:pt x="79997" y="239268"/>
                  </a:lnTo>
                  <a:close/>
                </a:path>
                <a:path w="1121409" h="418464">
                  <a:moveTo>
                    <a:pt x="600443" y="179070"/>
                  </a:moveTo>
                  <a:lnTo>
                    <a:pt x="520446" y="179070"/>
                  </a:lnTo>
                  <a:lnTo>
                    <a:pt x="520446" y="418338"/>
                  </a:lnTo>
                  <a:lnTo>
                    <a:pt x="600443" y="418338"/>
                  </a:lnTo>
                  <a:lnTo>
                    <a:pt x="600443" y="179070"/>
                  </a:lnTo>
                  <a:close/>
                </a:path>
                <a:path w="1121409" h="418464">
                  <a:moveTo>
                    <a:pt x="1120902" y="0"/>
                  </a:moveTo>
                  <a:lnTo>
                    <a:pt x="1040892" y="0"/>
                  </a:lnTo>
                  <a:lnTo>
                    <a:pt x="1040892" y="418338"/>
                  </a:lnTo>
                  <a:lnTo>
                    <a:pt x="1120902" y="418338"/>
                  </a:lnTo>
                  <a:lnTo>
                    <a:pt x="1120902" y="0"/>
                  </a:lnTo>
                  <a:close/>
                </a:path>
              </a:pathLst>
            </a:custGeom>
            <a:solidFill>
              <a:srgbClr val="7030A0"/>
            </a:solidFill>
          </p:spPr>
          <p:txBody>
            <a:bodyPr wrap="square" lIns="0" tIns="0" rIns="0" bIns="0" rtlCol="0"/>
            <a:lstStyle/>
            <a:p/>
          </p:txBody>
        </p:sp>
        <p:sp>
          <p:nvSpPr>
            <p:cNvPr id="11" name="object 11" descr=""/>
            <p:cNvSpPr/>
            <p:nvPr/>
          </p:nvSpPr>
          <p:spPr>
            <a:xfrm>
              <a:off x="6792468" y="1887473"/>
              <a:ext cx="1121410" cy="478155"/>
            </a:xfrm>
            <a:custGeom>
              <a:avLst/>
              <a:gdLst/>
              <a:ahLst/>
              <a:cxnLst/>
              <a:rect l="l" t="t" r="r" b="b"/>
              <a:pathLst>
                <a:path w="1121409" h="478155">
                  <a:moveTo>
                    <a:pt x="80010" y="298704"/>
                  </a:moveTo>
                  <a:lnTo>
                    <a:pt x="0" y="298704"/>
                  </a:lnTo>
                  <a:lnTo>
                    <a:pt x="0" y="477774"/>
                  </a:lnTo>
                  <a:lnTo>
                    <a:pt x="80010" y="477774"/>
                  </a:lnTo>
                  <a:lnTo>
                    <a:pt x="80010" y="298704"/>
                  </a:lnTo>
                  <a:close/>
                </a:path>
                <a:path w="1121409" h="478155">
                  <a:moveTo>
                    <a:pt x="600456" y="179070"/>
                  </a:moveTo>
                  <a:lnTo>
                    <a:pt x="520446" y="179070"/>
                  </a:lnTo>
                  <a:lnTo>
                    <a:pt x="520446" y="477774"/>
                  </a:lnTo>
                  <a:lnTo>
                    <a:pt x="600456" y="477774"/>
                  </a:lnTo>
                  <a:lnTo>
                    <a:pt x="600456" y="179070"/>
                  </a:lnTo>
                  <a:close/>
                </a:path>
                <a:path w="1121409" h="478155">
                  <a:moveTo>
                    <a:pt x="1120889" y="0"/>
                  </a:moveTo>
                  <a:lnTo>
                    <a:pt x="1040892" y="0"/>
                  </a:lnTo>
                  <a:lnTo>
                    <a:pt x="1040892" y="477774"/>
                  </a:lnTo>
                  <a:lnTo>
                    <a:pt x="1120889" y="477774"/>
                  </a:lnTo>
                  <a:lnTo>
                    <a:pt x="1120889" y="0"/>
                  </a:lnTo>
                  <a:close/>
                </a:path>
              </a:pathLst>
            </a:custGeom>
            <a:solidFill>
              <a:srgbClr val="2D2D8A"/>
            </a:solidFill>
          </p:spPr>
          <p:txBody>
            <a:bodyPr wrap="square" lIns="0" tIns="0" rIns="0" bIns="0" rtlCol="0"/>
            <a:lstStyle/>
            <a:p/>
          </p:txBody>
        </p:sp>
        <p:sp>
          <p:nvSpPr>
            <p:cNvPr id="12" name="object 12" descr=""/>
            <p:cNvSpPr/>
            <p:nvPr/>
          </p:nvSpPr>
          <p:spPr>
            <a:xfrm>
              <a:off x="6412229" y="1767839"/>
              <a:ext cx="0" cy="597535"/>
            </a:xfrm>
            <a:custGeom>
              <a:avLst/>
              <a:gdLst/>
              <a:ahLst/>
              <a:cxnLst/>
              <a:rect l="l" t="t" r="r" b="b"/>
              <a:pathLst>
                <a:path w="0" h="597535">
                  <a:moveTo>
                    <a:pt x="0" y="597408"/>
                  </a:moveTo>
                  <a:lnTo>
                    <a:pt x="0" y="0"/>
                  </a:lnTo>
                </a:path>
              </a:pathLst>
            </a:custGeom>
            <a:ln w="9144">
              <a:solidFill>
                <a:srgbClr val="878787"/>
              </a:solidFill>
            </a:ln>
          </p:spPr>
          <p:txBody>
            <a:bodyPr wrap="square" lIns="0" tIns="0" rIns="0" bIns="0" rtlCol="0"/>
            <a:lstStyle/>
            <a:p/>
          </p:txBody>
        </p:sp>
        <p:sp>
          <p:nvSpPr>
            <p:cNvPr id="13" name="object 13" descr=""/>
            <p:cNvSpPr/>
            <p:nvPr/>
          </p:nvSpPr>
          <p:spPr>
            <a:xfrm>
              <a:off x="6374129" y="1767839"/>
              <a:ext cx="38100" cy="597535"/>
            </a:xfrm>
            <a:custGeom>
              <a:avLst/>
              <a:gdLst/>
              <a:ahLst/>
              <a:cxnLst/>
              <a:rect l="l" t="t" r="r" b="b"/>
              <a:pathLst>
                <a:path w="38100" h="597535">
                  <a:moveTo>
                    <a:pt x="0" y="597408"/>
                  </a:moveTo>
                  <a:lnTo>
                    <a:pt x="38100" y="597408"/>
                  </a:lnTo>
                </a:path>
                <a:path w="38100" h="597535">
                  <a:moveTo>
                    <a:pt x="0" y="298704"/>
                  </a:moveTo>
                  <a:lnTo>
                    <a:pt x="38100" y="298704"/>
                  </a:lnTo>
                </a:path>
                <a:path w="38100" h="597535">
                  <a:moveTo>
                    <a:pt x="0" y="0"/>
                  </a:moveTo>
                  <a:lnTo>
                    <a:pt x="38100" y="0"/>
                  </a:lnTo>
                </a:path>
              </a:pathLst>
            </a:custGeom>
            <a:ln w="9144">
              <a:solidFill>
                <a:srgbClr val="878787"/>
              </a:solidFill>
            </a:ln>
          </p:spPr>
          <p:txBody>
            <a:bodyPr wrap="square" lIns="0" tIns="0" rIns="0" bIns="0" rtlCol="0"/>
            <a:lstStyle/>
            <a:p/>
          </p:txBody>
        </p:sp>
        <p:sp>
          <p:nvSpPr>
            <p:cNvPr id="14" name="object 14" descr=""/>
            <p:cNvSpPr/>
            <p:nvPr/>
          </p:nvSpPr>
          <p:spPr>
            <a:xfrm>
              <a:off x="6412229" y="2365247"/>
              <a:ext cx="1561465" cy="38100"/>
            </a:xfrm>
            <a:custGeom>
              <a:avLst/>
              <a:gdLst/>
              <a:ahLst/>
              <a:cxnLst/>
              <a:rect l="l" t="t" r="r" b="b"/>
              <a:pathLst>
                <a:path w="1561465" h="38100">
                  <a:moveTo>
                    <a:pt x="0" y="0"/>
                  </a:moveTo>
                  <a:lnTo>
                    <a:pt x="1561338" y="0"/>
                  </a:lnTo>
                </a:path>
                <a:path w="1561465" h="38100">
                  <a:moveTo>
                    <a:pt x="0" y="0"/>
                  </a:moveTo>
                  <a:lnTo>
                    <a:pt x="0" y="38100"/>
                  </a:lnTo>
                </a:path>
                <a:path w="1561465" h="38100">
                  <a:moveTo>
                    <a:pt x="520445" y="0"/>
                  </a:moveTo>
                  <a:lnTo>
                    <a:pt x="520445" y="38100"/>
                  </a:lnTo>
                </a:path>
                <a:path w="1561465" h="38100">
                  <a:moveTo>
                    <a:pt x="1040891" y="0"/>
                  </a:moveTo>
                  <a:lnTo>
                    <a:pt x="1040891" y="38100"/>
                  </a:lnTo>
                </a:path>
                <a:path w="1561465" h="38100">
                  <a:moveTo>
                    <a:pt x="1561338" y="0"/>
                  </a:moveTo>
                  <a:lnTo>
                    <a:pt x="1561338" y="38100"/>
                  </a:lnTo>
                </a:path>
              </a:pathLst>
            </a:custGeom>
            <a:ln w="9144">
              <a:solidFill>
                <a:srgbClr val="878787"/>
              </a:solidFill>
            </a:ln>
          </p:spPr>
          <p:txBody>
            <a:bodyPr wrap="square" lIns="0" tIns="0" rIns="0" bIns="0" rtlCol="0"/>
            <a:lstStyle/>
            <a:p/>
          </p:txBody>
        </p:sp>
        <p:sp>
          <p:nvSpPr>
            <p:cNvPr id="15" name="object 15" descr=""/>
            <p:cNvSpPr/>
            <p:nvPr/>
          </p:nvSpPr>
          <p:spPr>
            <a:xfrm>
              <a:off x="8173211" y="1802129"/>
              <a:ext cx="64769" cy="64769"/>
            </a:xfrm>
            <a:custGeom>
              <a:avLst/>
              <a:gdLst/>
              <a:ahLst/>
              <a:cxnLst/>
              <a:rect l="l" t="t" r="r" b="b"/>
              <a:pathLst>
                <a:path w="64770" h="64769">
                  <a:moveTo>
                    <a:pt x="64770" y="0"/>
                  </a:moveTo>
                  <a:lnTo>
                    <a:pt x="0" y="0"/>
                  </a:lnTo>
                  <a:lnTo>
                    <a:pt x="0" y="64770"/>
                  </a:lnTo>
                  <a:lnTo>
                    <a:pt x="64770" y="64770"/>
                  </a:lnTo>
                  <a:lnTo>
                    <a:pt x="64770" y="0"/>
                  </a:lnTo>
                  <a:close/>
                </a:path>
              </a:pathLst>
            </a:custGeom>
            <a:solidFill>
              <a:srgbClr val="0070C0"/>
            </a:solidFill>
          </p:spPr>
          <p:txBody>
            <a:bodyPr wrap="square" lIns="0" tIns="0" rIns="0" bIns="0" rtlCol="0"/>
            <a:lstStyle/>
            <a:p/>
          </p:txBody>
        </p:sp>
        <p:sp>
          <p:nvSpPr>
            <p:cNvPr id="16" name="object 16" descr=""/>
            <p:cNvSpPr/>
            <p:nvPr/>
          </p:nvSpPr>
          <p:spPr>
            <a:xfrm>
              <a:off x="8173211" y="2018537"/>
              <a:ext cx="64769" cy="64769"/>
            </a:xfrm>
            <a:custGeom>
              <a:avLst/>
              <a:gdLst/>
              <a:ahLst/>
              <a:cxnLst/>
              <a:rect l="l" t="t" r="r" b="b"/>
              <a:pathLst>
                <a:path w="64770" h="64769">
                  <a:moveTo>
                    <a:pt x="64770" y="0"/>
                  </a:moveTo>
                  <a:lnTo>
                    <a:pt x="0" y="0"/>
                  </a:lnTo>
                  <a:lnTo>
                    <a:pt x="0" y="64769"/>
                  </a:lnTo>
                  <a:lnTo>
                    <a:pt x="64770" y="64769"/>
                  </a:lnTo>
                  <a:lnTo>
                    <a:pt x="64770" y="0"/>
                  </a:lnTo>
                  <a:close/>
                </a:path>
              </a:pathLst>
            </a:custGeom>
            <a:solidFill>
              <a:srgbClr val="C00000"/>
            </a:solidFill>
          </p:spPr>
          <p:txBody>
            <a:bodyPr wrap="square" lIns="0" tIns="0" rIns="0" bIns="0" rtlCol="0"/>
            <a:lstStyle/>
            <a:p/>
          </p:txBody>
        </p:sp>
        <p:sp>
          <p:nvSpPr>
            <p:cNvPr id="17" name="object 17" descr=""/>
            <p:cNvSpPr/>
            <p:nvPr/>
          </p:nvSpPr>
          <p:spPr>
            <a:xfrm>
              <a:off x="8173211" y="2235707"/>
              <a:ext cx="64769" cy="64135"/>
            </a:xfrm>
            <a:custGeom>
              <a:avLst/>
              <a:gdLst/>
              <a:ahLst/>
              <a:cxnLst/>
              <a:rect l="l" t="t" r="r" b="b"/>
              <a:pathLst>
                <a:path w="64770" h="64135">
                  <a:moveTo>
                    <a:pt x="64770" y="0"/>
                  </a:moveTo>
                  <a:lnTo>
                    <a:pt x="0" y="0"/>
                  </a:lnTo>
                  <a:lnTo>
                    <a:pt x="0" y="64007"/>
                  </a:lnTo>
                  <a:lnTo>
                    <a:pt x="64770" y="64007"/>
                  </a:lnTo>
                  <a:lnTo>
                    <a:pt x="64770" y="0"/>
                  </a:lnTo>
                  <a:close/>
                </a:path>
              </a:pathLst>
            </a:custGeom>
            <a:solidFill>
              <a:srgbClr val="00B050"/>
            </a:solidFill>
          </p:spPr>
          <p:txBody>
            <a:bodyPr wrap="square" lIns="0" tIns="0" rIns="0" bIns="0" rtlCol="0"/>
            <a:lstStyle/>
            <a:p/>
          </p:txBody>
        </p:sp>
        <p:sp>
          <p:nvSpPr>
            <p:cNvPr id="18" name="object 18" descr=""/>
            <p:cNvSpPr/>
            <p:nvPr/>
          </p:nvSpPr>
          <p:spPr>
            <a:xfrm>
              <a:off x="8173211" y="2452115"/>
              <a:ext cx="64769" cy="64769"/>
            </a:xfrm>
            <a:custGeom>
              <a:avLst/>
              <a:gdLst/>
              <a:ahLst/>
              <a:cxnLst/>
              <a:rect l="l" t="t" r="r" b="b"/>
              <a:pathLst>
                <a:path w="64770" h="64769">
                  <a:moveTo>
                    <a:pt x="64770" y="0"/>
                  </a:moveTo>
                  <a:lnTo>
                    <a:pt x="0" y="0"/>
                  </a:lnTo>
                  <a:lnTo>
                    <a:pt x="0" y="64769"/>
                  </a:lnTo>
                  <a:lnTo>
                    <a:pt x="64770" y="64769"/>
                  </a:lnTo>
                  <a:lnTo>
                    <a:pt x="64770" y="0"/>
                  </a:lnTo>
                  <a:close/>
                </a:path>
              </a:pathLst>
            </a:custGeom>
            <a:solidFill>
              <a:srgbClr val="7030A0"/>
            </a:solidFill>
          </p:spPr>
          <p:txBody>
            <a:bodyPr wrap="square" lIns="0" tIns="0" rIns="0" bIns="0" rtlCol="0"/>
            <a:lstStyle/>
            <a:p/>
          </p:txBody>
        </p:sp>
      </p:grpSp>
      <p:sp>
        <p:nvSpPr>
          <p:cNvPr id="19" name="object 19" descr=""/>
          <p:cNvSpPr txBox="1"/>
          <p:nvPr/>
        </p:nvSpPr>
        <p:spPr>
          <a:xfrm>
            <a:off x="8264459" y="1674107"/>
            <a:ext cx="537210" cy="892810"/>
          </a:xfrm>
          <a:prstGeom prst="rect">
            <a:avLst/>
          </a:prstGeom>
        </p:spPr>
        <p:txBody>
          <a:bodyPr wrap="square" lIns="0" tIns="12700" rIns="0" bIns="0" rtlCol="0" vert="horz">
            <a:spAutoFit/>
          </a:bodyPr>
          <a:lstStyle/>
          <a:p>
            <a:pPr marR="5080">
              <a:lnSpc>
                <a:spcPct val="142200"/>
              </a:lnSpc>
              <a:spcBef>
                <a:spcPts val="100"/>
              </a:spcBef>
            </a:pPr>
            <a:r>
              <a:rPr dirty="0" sz="1000" spc="-10">
                <a:latin typeface="Arial MT"/>
                <a:cs typeface="Arial MT"/>
              </a:rPr>
              <a:t>ping32 ping64 ping256 ping1000</a:t>
            </a:r>
            <a:endParaRPr sz="1000">
              <a:latin typeface="Arial MT"/>
              <a:cs typeface="Arial MT"/>
            </a:endParaRPr>
          </a:p>
        </p:txBody>
      </p:sp>
      <p:sp>
        <p:nvSpPr>
          <p:cNvPr id="20" name="object 20" descr=""/>
          <p:cNvSpPr/>
          <p:nvPr/>
        </p:nvSpPr>
        <p:spPr>
          <a:xfrm>
            <a:off x="6079058" y="1217028"/>
            <a:ext cx="2836545" cy="1472565"/>
          </a:xfrm>
          <a:custGeom>
            <a:avLst/>
            <a:gdLst/>
            <a:ahLst/>
            <a:cxnLst/>
            <a:rect l="l" t="t" r="r" b="b"/>
            <a:pathLst>
              <a:path w="2836545" h="1472564">
                <a:moveTo>
                  <a:pt x="0" y="0"/>
                </a:moveTo>
                <a:lnTo>
                  <a:pt x="2836468" y="0"/>
                </a:lnTo>
                <a:lnTo>
                  <a:pt x="2836468" y="1472298"/>
                </a:lnTo>
                <a:lnTo>
                  <a:pt x="0" y="1472298"/>
                </a:lnTo>
                <a:lnTo>
                  <a:pt x="0" y="0"/>
                </a:lnTo>
                <a:close/>
              </a:path>
            </a:pathLst>
          </a:custGeom>
          <a:ln w="9524">
            <a:solidFill>
              <a:srgbClr val="DADADA"/>
            </a:solidFill>
          </a:ln>
        </p:spPr>
        <p:txBody>
          <a:bodyPr wrap="square" lIns="0" tIns="0" rIns="0" bIns="0" rtlCol="0"/>
          <a:lstStyle/>
          <a:p/>
        </p:txBody>
      </p:sp>
      <p:sp>
        <p:nvSpPr>
          <p:cNvPr id="21" name="object 21" descr=""/>
          <p:cNvSpPr txBox="1"/>
          <p:nvPr/>
        </p:nvSpPr>
        <p:spPr>
          <a:xfrm>
            <a:off x="6123049" y="1301860"/>
            <a:ext cx="2175510" cy="1306195"/>
          </a:xfrm>
          <a:prstGeom prst="rect">
            <a:avLst/>
          </a:prstGeom>
        </p:spPr>
        <p:txBody>
          <a:bodyPr wrap="square" lIns="0" tIns="12700" rIns="0" bIns="0" rtlCol="0" vert="horz">
            <a:spAutoFit/>
          </a:bodyPr>
          <a:lstStyle/>
          <a:p>
            <a:pPr algn="ctr" marL="13335">
              <a:lnSpc>
                <a:spcPct val="100000"/>
              </a:lnSpc>
              <a:spcBef>
                <a:spcPts val="100"/>
              </a:spcBef>
            </a:pPr>
            <a:r>
              <a:rPr dirty="0" baseline="30092" sz="1800">
                <a:latin typeface="Arial MT"/>
                <a:cs typeface="Arial MT"/>
              </a:rPr>
              <a:t>UL/DL</a:t>
            </a:r>
            <a:r>
              <a:rPr dirty="0" baseline="30092" sz="1800" spc="-89">
                <a:latin typeface="Arial MT"/>
                <a:cs typeface="Arial MT"/>
              </a:rPr>
              <a:t> </a:t>
            </a:r>
            <a:r>
              <a:rPr dirty="0" baseline="30092" sz="1800" spc="-7">
                <a:latin typeface="Arial MT"/>
                <a:cs typeface="Arial MT"/>
              </a:rPr>
              <a:t>1</a:t>
            </a:r>
            <a:r>
              <a:rPr dirty="0" baseline="30092" sz="1800" spc="-419">
                <a:latin typeface="Arial MT"/>
                <a:cs typeface="Arial MT"/>
              </a:rPr>
              <a:t>:</a:t>
            </a:r>
            <a:r>
              <a:rPr dirty="0" sz="1800" spc="-935" b="1">
                <a:latin typeface="Arial"/>
                <a:cs typeface="Arial"/>
              </a:rPr>
              <a:t>P</a:t>
            </a:r>
            <a:r>
              <a:rPr dirty="0" baseline="30092" sz="1800">
                <a:latin typeface="Arial MT"/>
                <a:cs typeface="Arial MT"/>
              </a:rPr>
              <a:t>1</a:t>
            </a:r>
            <a:r>
              <a:rPr dirty="0" baseline="30092" sz="1800" spc="-104">
                <a:latin typeface="Arial MT"/>
                <a:cs typeface="Arial MT"/>
              </a:rPr>
              <a:t> </a:t>
            </a:r>
            <a:r>
              <a:rPr dirty="0" sz="1800" spc="-20" b="1">
                <a:latin typeface="Arial"/>
                <a:cs typeface="Arial"/>
              </a:rPr>
              <a:t>ing</a:t>
            </a:r>
            <a:r>
              <a:rPr dirty="0" sz="1800" spc="-130">
                <a:latin typeface="SimSun"/>
                <a:cs typeface="SimSun"/>
              </a:rPr>
              <a:t>时延 </a:t>
            </a:r>
            <a:r>
              <a:rPr dirty="0" sz="1800" spc="-20" b="1">
                <a:latin typeface="Arial"/>
                <a:cs typeface="Arial"/>
              </a:rPr>
              <a:t>(ms)</a:t>
            </a:r>
            <a:endParaRPr sz="1800">
              <a:latin typeface="Arial"/>
              <a:cs typeface="Arial"/>
            </a:endParaRPr>
          </a:p>
          <a:p>
            <a:pPr algn="r" marR="1987550">
              <a:lnSpc>
                <a:spcPct val="100000"/>
              </a:lnSpc>
              <a:spcBef>
                <a:spcPts val="740"/>
              </a:spcBef>
            </a:pPr>
            <a:r>
              <a:rPr dirty="0" sz="1000" spc="-25">
                <a:latin typeface="Arial MT"/>
                <a:cs typeface="Arial MT"/>
              </a:rPr>
              <a:t>10</a:t>
            </a:r>
            <a:endParaRPr sz="1000">
              <a:latin typeface="Arial MT"/>
              <a:cs typeface="Arial MT"/>
            </a:endParaRPr>
          </a:p>
          <a:p>
            <a:pPr>
              <a:lnSpc>
                <a:spcPct val="100000"/>
              </a:lnSpc>
            </a:pPr>
            <a:endParaRPr sz="1000">
              <a:latin typeface="Arial MT"/>
              <a:cs typeface="Arial MT"/>
            </a:endParaRPr>
          </a:p>
          <a:p>
            <a:pPr algn="r" marR="1987550">
              <a:lnSpc>
                <a:spcPct val="100000"/>
              </a:lnSpc>
            </a:pPr>
            <a:r>
              <a:rPr dirty="0" sz="1000" spc="-50">
                <a:latin typeface="Arial MT"/>
                <a:cs typeface="Arial MT"/>
              </a:rPr>
              <a:t>5</a:t>
            </a:r>
            <a:endParaRPr sz="1000">
              <a:latin typeface="Arial MT"/>
              <a:cs typeface="Arial MT"/>
            </a:endParaRPr>
          </a:p>
          <a:p>
            <a:pPr>
              <a:lnSpc>
                <a:spcPct val="100000"/>
              </a:lnSpc>
            </a:pPr>
            <a:endParaRPr sz="1000">
              <a:latin typeface="Arial MT"/>
              <a:cs typeface="Arial MT"/>
            </a:endParaRPr>
          </a:p>
          <a:p>
            <a:pPr algn="r" marR="1987550">
              <a:lnSpc>
                <a:spcPct val="100000"/>
              </a:lnSpc>
            </a:pPr>
            <a:r>
              <a:rPr dirty="0" sz="1000" spc="-50">
                <a:latin typeface="Arial MT"/>
                <a:cs typeface="Arial MT"/>
              </a:rPr>
              <a:t>0</a:t>
            </a:r>
            <a:endParaRPr sz="1000">
              <a:latin typeface="Arial MT"/>
              <a:cs typeface="Arial MT"/>
            </a:endParaRPr>
          </a:p>
          <a:p>
            <a:pPr algn="ctr" marR="27940">
              <a:lnSpc>
                <a:spcPct val="100000"/>
              </a:lnSpc>
              <a:spcBef>
                <a:spcPts val="80"/>
              </a:spcBef>
              <a:tabLst>
                <a:tab pos="520065" algn="l"/>
                <a:tab pos="1040130" algn="l"/>
              </a:tabLst>
            </a:pPr>
            <a:r>
              <a:rPr dirty="0" sz="1000" spc="-50">
                <a:latin typeface="SimSun"/>
                <a:cs typeface="SimSun"/>
              </a:rPr>
              <a:t>近</a:t>
            </a:r>
            <a:r>
              <a:rPr dirty="0" sz="1000">
                <a:latin typeface="SimSun"/>
                <a:cs typeface="SimSun"/>
              </a:rPr>
              <a:t>	</a:t>
            </a:r>
            <a:r>
              <a:rPr dirty="0" sz="1000" spc="-50">
                <a:latin typeface="SimSun"/>
                <a:cs typeface="SimSun"/>
              </a:rPr>
              <a:t>中</a:t>
            </a:r>
            <a:r>
              <a:rPr dirty="0" sz="1000">
                <a:latin typeface="SimSun"/>
                <a:cs typeface="SimSun"/>
              </a:rPr>
              <a:t>	</a:t>
            </a:r>
            <a:r>
              <a:rPr dirty="0" sz="1000" spc="-50">
                <a:latin typeface="SimSun"/>
                <a:cs typeface="SimSun"/>
              </a:rPr>
              <a:t>远</a:t>
            </a:r>
            <a:endParaRPr sz="1000">
              <a:latin typeface="SimSun"/>
              <a:cs typeface="SimSun"/>
            </a:endParaRPr>
          </a:p>
        </p:txBody>
      </p:sp>
      <p:sp>
        <p:nvSpPr>
          <p:cNvPr id="22" name="object 22" descr=""/>
          <p:cNvSpPr/>
          <p:nvPr/>
        </p:nvSpPr>
        <p:spPr>
          <a:xfrm>
            <a:off x="21577" y="4343501"/>
            <a:ext cx="9123045" cy="623570"/>
          </a:xfrm>
          <a:custGeom>
            <a:avLst/>
            <a:gdLst/>
            <a:ahLst/>
            <a:cxnLst/>
            <a:rect l="l" t="t" r="r" b="b"/>
            <a:pathLst>
              <a:path w="9123045" h="623570">
                <a:moveTo>
                  <a:pt x="9122422" y="0"/>
                </a:moveTo>
                <a:lnTo>
                  <a:pt x="0" y="0"/>
                </a:lnTo>
                <a:lnTo>
                  <a:pt x="0" y="623252"/>
                </a:lnTo>
                <a:lnTo>
                  <a:pt x="9122422" y="623252"/>
                </a:lnTo>
                <a:lnTo>
                  <a:pt x="9122422" y="0"/>
                </a:lnTo>
                <a:close/>
              </a:path>
            </a:pathLst>
          </a:custGeom>
          <a:solidFill>
            <a:srgbClr val="C00000"/>
          </a:solidFill>
        </p:spPr>
        <p:txBody>
          <a:bodyPr wrap="square" lIns="0" tIns="0" rIns="0" bIns="0" rtlCol="0"/>
          <a:lstStyle/>
          <a:p/>
        </p:txBody>
      </p:sp>
      <p:sp>
        <p:nvSpPr>
          <p:cNvPr id="23" name="object 23" descr=""/>
          <p:cNvSpPr txBox="1"/>
          <p:nvPr/>
        </p:nvSpPr>
        <p:spPr>
          <a:xfrm>
            <a:off x="255004" y="4359000"/>
            <a:ext cx="4139565" cy="574040"/>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FFFFFF"/>
                </a:solidFill>
                <a:latin typeface="Microsoft YaHei"/>
                <a:cs typeface="Microsoft YaHei"/>
              </a:rPr>
              <a:t>结论：</a:t>
            </a:r>
            <a:r>
              <a:rPr dirty="0" sz="1200" spc="-10">
                <a:solidFill>
                  <a:srgbClr val="FFFFFF"/>
                </a:solidFill>
                <a:latin typeface="Microsoft YaHei"/>
                <a:cs typeface="Microsoft YaHei"/>
              </a:rPr>
              <a:t>1</a:t>
            </a:r>
            <a:r>
              <a:rPr dirty="0" sz="1200">
                <a:solidFill>
                  <a:srgbClr val="FFFFFF"/>
                </a:solidFill>
                <a:latin typeface="Microsoft YaHei"/>
                <a:cs typeface="Microsoft YaHei"/>
              </a:rPr>
              <a:t>、同样点位UL/DL</a:t>
            </a:r>
            <a:r>
              <a:rPr dirty="0" sz="1200" spc="15">
                <a:solidFill>
                  <a:srgbClr val="FFFFFF"/>
                </a:solidFill>
                <a:latin typeface="Microsoft YaHei"/>
                <a:cs typeface="Microsoft YaHei"/>
              </a:rPr>
              <a:t> </a:t>
            </a:r>
            <a:r>
              <a:rPr dirty="0" sz="1200" spc="-10">
                <a:solidFill>
                  <a:srgbClr val="FFFFFF"/>
                </a:solidFill>
                <a:latin typeface="Microsoft YaHei"/>
                <a:cs typeface="Microsoft YaHei"/>
              </a:rPr>
              <a:t>1:1</a:t>
            </a:r>
            <a:r>
              <a:rPr dirty="0" sz="1200">
                <a:solidFill>
                  <a:srgbClr val="FFFFFF"/>
                </a:solidFill>
                <a:latin typeface="Microsoft YaHei"/>
                <a:cs typeface="Microsoft YaHei"/>
              </a:rPr>
              <a:t>较</a:t>
            </a:r>
            <a:r>
              <a:rPr dirty="0" sz="1200" spc="-10">
                <a:solidFill>
                  <a:srgbClr val="FFFFFF"/>
                </a:solidFill>
                <a:latin typeface="Microsoft YaHei"/>
                <a:cs typeface="Microsoft YaHei"/>
              </a:rPr>
              <a:t>1:3</a:t>
            </a:r>
            <a:r>
              <a:rPr dirty="0" sz="1200">
                <a:solidFill>
                  <a:srgbClr val="FFFFFF"/>
                </a:solidFill>
                <a:latin typeface="Microsoft YaHei"/>
                <a:cs typeface="Microsoft YaHei"/>
              </a:rPr>
              <a:t>的</a:t>
            </a:r>
            <a:r>
              <a:rPr dirty="0" sz="1200" spc="-10">
                <a:solidFill>
                  <a:srgbClr val="FFFFFF"/>
                </a:solidFill>
                <a:latin typeface="Microsoft YaHei"/>
                <a:cs typeface="Microsoft YaHei"/>
              </a:rPr>
              <a:t>Ping时延略大。</a:t>
            </a:r>
            <a:endParaRPr sz="1200">
              <a:latin typeface="Microsoft YaHei"/>
              <a:cs typeface="Microsoft YaHei"/>
            </a:endParaRPr>
          </a:p>
          <a:p>
            <a:pPr marL="635000">
              <a:lnSpc>
                <a:spcPct val="100000"/>
              </a:lnSpc>
            </a:pPr>
            <a:r>
              <a:rPr dirty="0" sz="1200" spc="-10">
                <a:solidFill>
                  <a:srgbClr val="FFFFFF"/>
                </a:solidFill>
                <a:latin typeface="Microsoft YaHei"/>
                <a:cs typeface="Microsoft YaHei"/>
              </a:rPr>
              <a:t>2</a:t>
            </a:r>
            <a:r>
              <a:rPr dirty="0" sz="1200">
                <a:solidFill>
                  <a:srgbClr val="FFFFFF"/>
                </a:solidFill>
                <a:latin typeface="Microsoft YaHei"/>
                <a:cs typeface="Microsoft YaHei"/>
              </a:rPr>
              <a:t>、</a:t>
            </a:r>
            <a:r>
              <a:rPr dirty="0" sz="1200" spc="-10">
                <a:solidFill>
                  <a:srgbClr val="FFFFFF"/>
                </a:solidFill>
                <a:latin typeface="Microsoft YaHei"/>
                <a:cs typeface="Microsoft YaHei"/>
              </a:rPr>
              <a:t>Msg3-Msg5</a:t>
            </a:r>
            <a:r>
              <a:rPr dirty="0" sz="1200">
                <a:solidFill>
                  <a:srgbClr val="FFFFFF"/>
                </a:solidFill>
                <a:latin typeface="Microsoft YaHei"/>
                <a:cs typeface="Microsoft YaHei"/>
              </a:rPr>
              <a:t>时延在近中远点相近，约为</a:t>
            </a:r>
            <a:r>
              <a:rPr dirty="0" sz="1200" spc="-10">
                <a:solidFill>
                  <a:srgbClr val="FFFFFF"/>
                </a:solidFill>
                <a:latin typeface="Microsoft YaHei"/>
                <a:cs typeface="Microsoft YaHei"/>
              </a:rPr>
              <a:t>13ms</a:t>
            </a:r>
            <a:r>
              <a:rPr dirty="0" sz="1200" spc="-50">
                <a:solidFill>
                  <a:srgbClr val="FFFFFF"/>
                </a:solidFill>
                <a:latin typeface="Microsoft YaHei"/>
                <a:cs typeface="Microsoft YaHei"/>
              </a:rPr>
              <a:t>。</a:t>
            </a:r>
            <a:endParaRPr sz="1200">
              <a:latin typeface="Microsoft YaHei"/>
              <a:cs typeface="Microsoft YaHei"/>
            </a:endParaRPr>
          </a:p>
          <a:p>
            <a:pPr marL="635000">
              <a:lnSpc>
                <a:spcPct val="100000"/>
              </a:lnSpc>
            </a:pPr>
            <a:r>
              <a:rPr dirty="0" sz="1200" spc="-10">
                <a:solidFill>
                  <a:srgbClr val="FFFFFF"/>
                </a:solidFill>
                <a:latin typeface="Microsoft YaHei"/>
                <a:cs typeface="Microsoft YaHei"/>
              </a:rPr>
              <a:t>3</a:t>
            </a:r>
            <a:r>
              <a:rPr dirty="0" sz="1200">
                <a:solidFill>
                  <a:srgbClr val="FFFFFF"/>
                </a:solidFill>
                <a:latin typeface="Microsoft YaHei"/>
                <a:cs typeface="Microsoft YaHei"/>
              </a:rPr>
              <a:t>、</a:t>
            </a:r>
            <a:r>
              <a:rPr dirty="0" sz="1200" spc="-10">
                <a:solidFill>
                  <a:srgbClr val="FFFFFF"/>
                </a:solidFill>
                <a:latin typeface="Microsoft YaHei"/>
                <a:cs typeface="Microsoft YaHei"/>
              </a:rPr>
              <a:t>Msg1-Msg5</a:t>
            </a:r>
            <a:r>
              <a:rPr dirty="0" sz="1200">
                <a:solidFill>
                  <a:srgbClr val="FFFFFF"/>
                </a:solidFill>
                <a:latin typeface="Microsoft YaHei"/>
                <a:cs typeface="Microsoft YaHei"/>
              </a:rPr>
              <a:t>时延在近中远点相近，约为</a:t>
            </a:r>
            <a:r>
              <a:rPr dirty="0" sz="1200" spc="-10">
                <a:solidFill>
                  <a:srgbClr val="FFFFFF"/>
                </a:solidFill>
                <a:latin typeface="Microsoft YaHei"/>
                <a:cs typeface="Microsoft YaHei"/>
              </a:rPr>
              <a:t>17ms</a:t>
            </a:r>
            <a:r>
              <a:rPr dirty="0" sz="1200" spc="-50">
                <a:solidFill>
                  <a:srgbClr val="FFFFFF"/>
                </a:solidFill>
                <a:latin typeface="Microsoft YaHei"/>
                <a:cs typeface="Microsoft YaHei"/>
              </a:rPr>
              <a:t>。</a:t>
            </a:r>
            <a:endParaRPr sz="1200">
              <a:latin typeface="Microsoft YaHei"/>
              <a:cs typeface="Microsoft YaHei"/>
            </a:endParaRPr>
          </a:p>
        </p:txBody>
      </p:sp>
      <p:grpSp>
        <p:nvGrpSpPr>
          <p:cNvPr id="24" name="object 24" descr=""/>
          <p:cNvGrpSpPr/>
          <p:nvPr/>
        </p:nvGrpSpPr>
        <p:grpSpPr>
          <a:xfrm>
            <a:off x="6298501" y="3365563"/>
            <a:ext cx="1680210" cy="644525"/>
            <a:chOff x="6298501" y="3365563"/>
            <a:chExt cx="1680210" cy="644525"/>
          </a:xfrm>
        </p:grpSpPr>
        <p:sp>
          <p:nvSpPr>
            <p:cNvPr id="25" name="object 25" descr=""/>
            <p:cNvSpPr/>
            <p:nvPr/>
          </p:nvSpPr>
          <p:spPr>
            <a:xfrm>
              <a:off x="6341364" y="3569208"/>
              <a:ext cx="1632585" cy="199390"/>
            </a:xfrm>
            <a:custGeom>
              <a:avLst/>
              <a:gdLst/>
              <a:ahLst/>
              <a:cxnLst/>
              <a:rect l="l" t="t" r="r" b="b"/>
              <a:pathLst>
                <a:path w="1632584" h="199389">
                  <a:moveTo>
                    <a:pt x="481584" y="198881"/>
                  </a:moveTo>
                  <a:lnTo>
                    <a:pt x="606552" y="198881"/>
                  </a:lnTo>
                </a:path>
                <a:path w="1632584" h="199389">
                  <a:moveTo>
                    <a:pt x="0" y="198881"/>
                  </a:moveTo>
                  <a:lnTo>
                    <a:pt x="313943" y="198881"/>
                  </a:lnTo>
                </a:path>
                <a:path w="1632584" h="199389">
                  <a:moveTo>
                    <a:pt x="1024889" y="198881"/>
                  </a:moveTo>
                  <a:lnTo>
                    <a:pt x="1150619" y="198881"/>
                  </a:lnTo>
                </a:path>
                <a:path w="1632584" h="199389">
                  <a:moveTo>
                    <a:pt x="1568958" y="198881"/>
                  </a:moveTo>
                  <a:lnTo>
                    <a:pt x="1632204" y="198881"/>
                  </a:lnTo>
                </a:path>
                <a:path w="1632584" h="199389">
                  <a:moveTo>
                    <a:pt x="1568958" y="0"/>
                  </a:moveTo>
                  <a:lnTo>
                    <a:pt x="1632204" y="0"/>
                  </a:lnTo>
                </a:path>
                <a:path w="1632584" h="199389">
                  <a:moveTo>
                    <a:pt x="0" y="0"/>
                  </a:moveTo>
                  <a:lnTo>
                    <a:pt x="1402080" y="0"/>
                  </a:lnTo>
                </a:path>
              </a:pathLst>
            </a:custGeom>
            <a:ln w="9143">
              <a:solidFill>
                <a:srgbClr val="878787"/>
              </a:solidFill>
            </a:ln>
          </p:spPr>
          <p:txBody>
            <a:bodyPr wrap="square" lIns="0" tIns="0" rIns="0" bIns="0" rtlCol="0"/>
            <a:lstStyle/>
            <a:p/>
          </p:txBody>
        </p:sp>
        <p:sp>
          <p:nvSpPr>
            <p:cNvPr id="26" name="object 26" descr=""/>
            <p:cNvSpPr/>
            <p:nvPr/>
          </p:nvSpPr>
          <p:spPr>
            <a:xfrm>
              <a:off x="6341364" y="3370326"/>
              <a:ext cx="1632585" cy="0"/>
            </a:xfrm>
            <a:custGeom>
              <a:avLst/>
              <a:gdLst/>
              <a:ahLst/>
              <a:cxnLst/>
              <a:rect l="l" t="t" r="r" b="b"/>
              <a:pathLst>
                <a:path w="1632584" h="0">
                  <a:moveTo>
                    <a:pt x="0" y="0"/>
                  </a:moveTo>
                  <a:lnTo>
                    <a:pt x="1632204" y="0"/>
                  </a:lnTo>
                </a:path>
              </a:pathLst>
            </a:custGeom>
            <a:ln w="9144">
              <a:solidFill>
                <a:srgbClr val="878787"/>
              </a:solidFill>
            </a:ln>
          </p:spPr>
          <p:txBody>
            <a:bodyPr wrap="square" lIns="0" tIns="0" rIns="0" bIns="0" rtlCol="0"/>
            <a:lstStyle/>
            <a:p/>
          </p:txBody>
        </p:sp>
        <p:sp>
          <p:nvSpPr>
            <p:cNvPr id="27" name="object 27" descr=""/>
            <p:cNvSpPr/>
            <p:nvPr/>
          </p:nvSpPr>
          <p:spPr>
            <a:xfrm>
              <a:off x="6404610" y="3669029"/>
              <a:ext cx="1171575" cy="298450"/>
            </a:xfrm>
            <a:custGeom>
              <a:avLst/>
              <a:gdLst/>
              <a:ahLst/>
              <a:cxnLst/>
              <a:rect l="l" t="t" r="r" b="b"/>
              <a:pathLst>
                <a:path w="1171575" h="298450">
                  <a:moveTo>
                    <a:pt x="83058" y="99060"/>
                  </a:moveTo>
                  <a:lnTo>
                    <a:pt x="0" y="99060"/>
                  </a:lnTo>
                  <a:lnTo>
                    <a:pt x="0" y="297942"/>
                  </a:lnTo>
                  <a:lnTo>
                    <a:pt x="83058" y="297942"/>
                  </a:lnTo>
                  <a:lnTo>
                    <a:pt x="83058" y="99060"/>
                  </a:lnTo>
                  <a:close/>
                </a:path>
                <a:path w="1171575" h="298450">
                  <a:moveTo>
                    <a:pt x="627126" y="0"/>
                  </a:moveTo>
                  <a:lnTo>
                    <a:pt x="543306" y="0"/>
                  </a:lnTo>
                  <a:lnTo>
                    <a:pt x="543306" y="297954"/>
                  </a:lnTo>
                  <a:lnTo>
                    <a:pt x="627126" y="297954"/>
                  </a:lnTo>
                  <a:lnTo>
                    <a:pt x="627126" y="0"/>
                  </a:lnTo>
                  <a:close/>
                </a:path>
                <a:path w="1171575" h="298450">
                  <a:moveTo>
                    <a:pt x="1171194" y="0"/>
                  </a:moveTo>
                  <a:lnTo>
                    <a:pt x="1087374" y="0"/>
                  </a:lnTo>
                  <a:lnTo>
                    <a:pt x="1087374" y="297954"/>
                  </a:lnTo>
                  <a:lnTo>
                    <a:pt x="1171194" y="297954"/>
                  </a:lnTo>
                  <a:lnTo>
                    <a:pt x="1171194" y="0"/>
                  </a:lnTo>
                  <a:close/>
                </a:path>
              </a:pathLst>
            </a:custGeom>
            <a:solidFill>
              <a:srgbClr val="0070C0"/>
            </a:solidFill>
          </p:spPr>
          <p:txBody>
            <a:bodyPr wrap="square" lIns="0" tIns="0" rIns="0" bIns="0" rtlCol="0"/>
            <a:lstStyle/>
            <a:p/>
          </p:txBody>
        </p:sp>
        <p:sp>
          <p:nvSpPr>
            <p:cNvPr id="28" name="object 28" descr=""/>
            <p:cNvSpPr/>
            <p:nvPr/>
          </p:nvSpPr>
          <p:spPr>
            <a:xfrm>
              <a:off x="6487668" y="3669029"/>
              <a:ext cx="1172210" cy="298450"/>
            </a:xfrm>
            <a:custGeom>
              <a:avLst/>
              <a:gdLst/>
              <a:ahLst/>
              <a:cxnLst/>
              <a:rect l="l" t="t" r="r" b="b"/>
              <a:pathLst>
                <a:path w="1172209" h="298450">
                  <a:moveTo>
                    <a:pt x="83807" y="99060"/>
                  </a:moveTo>
                  <a:lnTo>
                    <a:pt x="0" y="99060"/>
                  </a:lnTo>
                  <a:lnTo>
                    <a:pt x="0" y="297942"/>
                  </a:lnTo>
                  <a:lnTo>
                    <a:pt x="83807" y="297942"/>
                  </a:lnTo>
                  <a:lnTo>
                    <a:pt x="83807" y="99060"/>
                  </a:lnTo>
                  <a:close/>
                </a:path>
                <a:path w="1172209" h="298450">
                  <a:moveTo>
                    <a:pt x="627888" y="0"/>
                  </a:moveTo>
                  <a:lnTo>
                    <a:pt x="544068" y="0"/>
                  </a:lnTo>
                  <a:lnTo>
                    <a:pt x="544068" y="297954"/>
                  </a:lnTo>
                  <a:lnTo>
                    <a:pt x="627888" y="297954"/>
                  </a:lnTo>
                  <a:lnTo>
                    <a:pt x="627888" y="0"/>
                  </a:lnTo>
                  <a:close/>
                </a:path>
                <a:path w="1172209" h="298450">
                  <a:moveTo>
                    <a:pt x="1171956" y="0"/>
                  </a:moveTo>
                  <a:lnTo>
                    <a:pt x="1088136" y="0"/>
                  </a:lnTo>
                  <a:lnTo>
                    <a:pt x="1088136" y="297954"/>
                  </a:lnTo>
                  <a:lnTo>
                    <a:pt x="1171956" y="297954"/>
                  </a:lnTo>
                  <a:lnTo>
                    <a:pt x="1171956" y="0"/>
                  </a:lnTo>
                  <a:close/>
                </a:path>
              </a:pathLst>
            </a:custGeom>
            <a:solidFill>
              <a:srgbClr val="C00000"/>
            </a:solidFill>
          </p:spPr>
          <p:txBody>
            <a:bodyPr wrap="square" lIns="0" tIns="0" rIns="0" bIns="0" rtlCol="0"/>
            <a:lstStyle/>
            <a:p/>
          </p:txBody>
        </p:sp>
        <p:sp>
          <p:nvSpPr>
            <p:cNvPr id="29" name="object 29" descr=""/>
            <p:cNvSpPr/>
            <p:nvPr/>
          </p:nvSpPr>
          <p:spPr>
            <a:xfrm>
              <a:off x="6571488" y="3569207"/>
              <a:ext cx="1172210" cy="398145"/>
            </a:xfrm>
            <a:custGeom>
              <a:avLst/>
              <a:gdLst/>
              <a:ahLst/>
              <a:cxnLst/>
              <a:rect l="l" t="t" r="r" b="b"/>
              <a:pathLst>
                <a:path w="1172209" h="398145">
                  <a:moveTo>
                    <a:pt x="83820" y="198882"/>
                  </a:moveTo>
                  <a:lnTo>
                    <a:pt x="0" y="198882"/>
                  </a:lnTo>
                  <a:lnTo>
                    <a:pt x="0" y="397764"/>
                  </a:lnTo>
                  <a:lnTo>
                    <a:pt x="83820" y="397764"/>
                  </a:lnTo>
                  <a:lnTo>
                    <a:pt x="83820" y="198882"/>
                  </a:lnTo>
                  <a:close/>
                </a:path>
                <a:path w="1172209" h="398145">
                  <a:moveTo>
                    <a:pt x="627888" y="99822"/>
                  </a:moveTo>
                  <a:lnTo>
                    <a:pt x="544068" y="99822"/>
                  </a:lnTo>
                  <a:lnTo>
                    <a:pt x="544068" y="397776"/>
                  </a:lnTo>
                  <a:lnTo>
                    <a:pt x="627888" y="397776"/>
                  </a:lnTo>
                  <a:lnTo>
                    <a:pt x="627888" y="99822"/>
                  </a:lnTo>
                  <a:close/>
                </a:path>
                <a:path w="1172209" h="398145">
                  <a:moveTo>
                    <a:pt x="1171956" y="0"/>
                  </a:moveTo>
                  <a:lnTo>
                    <a:pt x="1088136" y="0"/>
                  </a:lnTo>
                  <a:lnTo>
                    <a:pt x="1088136" y="397776"/>
                  </a:lnTo>
                  <a:lnTo>
                    <a:pt x="1171956" y="397776"/>
                  </a:lnTo>
                  <a:lnTo>
                    <a:pt x="1171956" y="0"/>
                  </a:lnTo>
                  <a:close/>
                </a:path>
              </a:pathLst>
            </a:custGeom>
            <a:solidFill>
              <a:srgbClr val="00B050"/>
            </a:solidFill>
          </p:spPr>
          <p:txBody>
            <a:bodyPr wrap="square" lIns="0" tIns="0" rIns="0" bIns="0" rtlCol="0"/>
            <a:lstStyle/>
            <a:p/>
          </p:txBody>
        </p:sp>
        <p:sp>
          <p:nvSpPr>
            <p:cNvPr id="30" name="object 30" descr=""/>
            <p:cNvSpPr/>
            <p:nvPr/>
          </p:nvSpPr>
          <p:spPr>
            <a:xfrm>
              <a:off x="6655295" y="3469385"/>
              <a:ext cx="1171575" cy="497840"/>
            </a:xfrm>
            <a:custGeom>
              <a:avLst/>
              <a:gdLst/>
              <a:ahLst/>
              <a:cxnLst/>
              <a:rect l="l" t="t" r="r" b="b"/>
              <a:pathLst>
                <a:path w="1171575" h="497839">
                  <a:moveTo>
                    <a:pt x="83832" y="199644"/>
                  </a:moveTo>
                  <a:lnTo>
                    <a:pt x="0" y="199644"/>
                  </a:lnTo>
                  <a:lnTo>
                    <a:pt x="0" y="497598"/>
                  </a:lnTo>
                  <a:lnTo>
                    <a:pt x="83832" y="497598"/>
                  </a:lnTo>
                  <a:lnTo>
                    <a:pt x="83832" y="199644"/>
                  </a:lnTo>
                  <a:close/>
                </a:path>
                <a:path w="1171575" h="497839">
                  <a:moveTo>
                    <a:pt x="627900" y="99822"/>
                  </a:moveTo>
                  <a:lnTo>
                    <a:pt x="544080" y="99822"/>
                  </a:lnTo>
                  <a:lnTo>
                    <a:pt x="544080" y="497598"/>
                  </a:lnTo>
                  <a:lnTo>
                    <a:pt x="627900" y="497598"/>
                  </a:lnTo>
                  <a:lnTo>
                    <a:pt x="627900" y="99822"/>
                  </a:lnTo>
                  <a:close/>
                </a:path>
                <a:path w="1171575" h="497839">
                  <a:moveTo>
                    <a:pt x="1171206" y="0"/>
                  </a:moveTo>
                  <a:lnTo>
                    <a:pt x="1088148" y="0"/>
                  </a:lnTo>
                  <a:lnTo>
                    <a:pt x="1088148" y="497598"/>
                  </a:lnTo>
                  <a:lnTo>
                    <a:pt x="1171206" y="497598"/>
                  </a:lnTo>
                  <a:lnTo>
                    <a:pt x="1171206" y="0"/>
                  </a:lnTo>
                  <a:close/>
                </a:path>
              </a:pathLst>
            </a:custGeom>
            <a:solidFill>
              <a:srgbClr val="7030A0"/>
            </a:solidFill>
          </p:spPr>
          <p:txBody>
            <a:bodyPr wrap="square" lIns="0" tIns="0" rIns="0" bIns="0" rtlCol="0"/>
            <a:lstStyle/>
            <a:p/>
          </p:txBody>
        </p:sp>
        <p:sp>
          <p:nvSpPr>
            <p:cNvPr id="31" name="object 31" descr=""/>
            <p:cNvSpPr/>
            <p:nvPr/>
          </p:nvSpPr>
          <p:spPr>
            <a:xfrm>
              <a:off x="6739128" y="3469385"/>
              <a:ext cx="1171575" cy="497840"/>
            </a:xfrm>
            <a:custGeom>
              <a:avLst/>
              <a:gdLst/>
              <a:ahLst/>
              <a:cxnLst/>
              <a:rect l="l" t="t" r="r" b="b"/>
              <a:pathLst>
                <a:path w="1171575" h="497839">
                  <a:moveTo>
                    <a:pt x="83820" y="199644"/>
                  </a:moveTo>
                  <a:lnTo>
                    <a:pt x="0" y="199644"/>
                  </a:lnTo>
                  <a:lnTo>
                    <a:pt x="0" y="497598"/>
                  </a:lnTo>
                  <a:lnTo>
                    <a:pt x="83820" y="497598"/>
                  </a:lnTo>
                  <a:lnTo>
                    <a:pt x="83820" y="199644"/>
                  </a:lnTo>
                  <a:close/>
                </a:path>
                <a:path w="1171575" h="497839">
                  <a:moveTo>
                    <a:pt x="627126" y="99822"/>
                  </a:moveTo>
                  <a:lnTo>
                    <a:pt x="544068" y="99822"/>
                  </a:lnTo>
                  <a:lnTo>
                    <a:pt x="544068" y="497598"/>
                  </a:lnTo>
                  <a:lnTo>
                    <a:pt x="627126" y="497598"/>
                  </a:lnTo>
                  <a:lnTo>
                    <a:pt x="627126" y="99822"/>
                  </a:lnTo>
                  <a:close/>
                </a:path>
                <a:path w="1171575" h="497839">
                  <a:moveTo>
                    <a:pt x="1171194" y="0"/>
                  </a:moveTo>
                  <a:lnTo>
                    <a:pt x="1087374" y="0"/>
                  </a:lnTo>
                  <a:lnTo>
                    <a:pt x="1087374" y="497598"/>
                  </a:lnTo>
                  <a:lnTo>
                    <a:pt x="1171194" y="497598"/>
                  </a:lnTo>
                  <a:lnTo>
                    <a:pt x="1171194" y="0"/>
                  </a:lnTo>
                  <a:close/>
                </a:path>
              </a:pathLst>
            </a:custGeom>
            <a:solidFill>
              <a:srgbClr val="2D2D8A"/>
            </a:solidFill>
          </p:spPr>
          <p:txBody>
            <a:bodyPr wrap="square" lIns="0" tIns="0" rIns="0" bIns="0" rtlCol="0"/>
            <a:lstStyle/>
            <a:p/>
          </p:txBody>
        </p:sp>
        <p:sp>
          <p:nvSpPr>
            <p:cNvPr id="32" name="object 32" descr=""/>
            <p:cNvSpPr/>
            <p:nvPr/>
          </p:nvSpPr>
          <p:spPr>
            <a:xfrm>
              <a:off x="6341364" y="3370326"/>
              <a:ext cx="0" cy="596900"/>
            </a:xfrm>
            <a:custGeom>
              <a:avLst/>
              <a:gdLst/>
              <a:ahLst/>
              <a:cxnLst/>
              <a:rect l="l" t="t" r="r" b="b"/>
              <a:pathLst>
                <a:path w="0" h="596900">
                  <a:moveTo>
                    <a:pt x="0" y="596646"/>
                  </a:moveTo>
                  <a:lnTo>
                    <a:pt x="0" y="0"/>
                  </a:lnTo>
                </a:path>
              </a:pathLst>
            </a:custGeom>
            <a:ln w="9144">
              <a:solidFill>
                <a:srgbClr val="878787"/>
              </a:solidFill>
            </a:ln>
          </p:spPr>
          <p:txBody>
            <a:bodyPr wrap="square" lIns="0" tIns="0" rIns="0" bIns="0" rtlCol="0"/>
            <a:lstStyle/>
            <a:p/>
          </p:txBody>
        </p:sp>
        <p:sp>
          <p:nvSpPr>
            <p:cNvPr id="33" name="object 33" descr=""/>
            <p:cNvSpPr/>
            <p:nvPr/>
          </p:nvSpPr>
          <p:spPr>
            <a:xfrm>
              <a:off x="6303264" y="3370326"/>
              <a:ext cx="38100" cy="596900"/>
            </a:xfrm>
            <a:custGeom>
              <a:avLst/>
              <a:gdLst/>
              <a:ahLst/>
              <a:cxnLst/>
              <a:rect l="l" t="t" r="r" b="b"/>
              <a:pathLst>
                <a:path w="38100" h="596900">
                  <a:moveTo>
                    <a:pt x="0" y="596646"/>
                  </a:moveTo>
                  <a:lnTo>
                    <a:pt x="38100" y="596646"/>
                  </a:lnTo>
                </a:path>
                <a:path w="38100" h="596900">
                  <a:moveTo>
                    <a:pt x="0" y="397764"/>
                  </a:moveTo>
                  <a:lnTo>
                    <a:pt x="38100" y="397764"/>
                  </a:lnTo>
                </a:path>
                <a:path w="38100" h="596900">
                  <a:moveTo>
                    <a:pt x="0" y="198882"/>
                  </a:moveTo>
                  <a:lnTo>
                    <a:pt x="38100" y="198882"/>
                  </a:lnTo>
                </a:path>
                <a:path w="38100" h="596900">
                  <a:moveTo>
                    <a:pt x="0" y="0"/>
                  </a:moveTo>
                  <a:lnTo>
                    <a:pt x="38100" y="0"/>
                  </a:lnTo>
                </a:path>
              </a:pathLst>
            </a:custGeom>
            <a:ln w="9144">
              <a:solidFill>
                <a:srgbClr val="878787"/>
              </a:solidFill>
            </a:ln>
          </p:spPr>
          <p:txBody>
            <a:bodyPr wrap="square" lIns="0" tIns="0" rIns="0" bIns="0" rtlCol="0"/>
            <a:lstStyle/>
            <a:p/>
          </p:txBody>
        </p:sp>
        <p:sp>
          <p:nvSpPr>
            <p:cNvPr id="34" name="object 34" descr=""/>
            <p:cNvSpPr/>
            <p:nvPr/>
          </p:nvSpPr>
          <p:spPr>
            <a:xfrm>
              <a:off x="6341364" y="3966972"/>
              <a:ext cx="1632585" cy="38100"/>
            </a:xfrm>
            <a:custGeom>
              <a:avLst/>
              <a:gdLst/>
              <a:ahLst/>
              <a:cxnLst/>
              <a:rect l="l" t="t" r="r" b="b"/>
              <a:pathLst>
                <a:path w="1632584" h="38100">
                  <a:moveTo>
                    <a:pt x="0" y="0"/>
                  </a:moveTo>
                  <a:lnTo>
                    <a:pt x="1632204" y="0"/>
                  </a:lnTo>
                </a:path>
                <a:path w="1632584" h="38100">
                  <a:moveTo>
                    <a:pt x="0" y="0"/>
                  </a:moveTo>
                  <a:lnTo>
                    <a:pt x="0" y="38099"/>
                  </a:lnTo>
                </a:path>
                <a:path w="1632584" h="38100">
                  <a:moveTo>
                    <a:pt x="544068" y="0"/>
                  </a:moveTo>
                  <a:lnTo>
                    <a:pt x="544068" y="38099"/>
                  </a:lnTo>
                </a:path>
                <a:path w="1632584" h="38100">
                  <a:moveTo>
                    <a:pt x="1088136" y="0"/>
                  </a:moveTo>
                  <a:lnTo>
                    <a:pt x="1088136" y="38099"/>
                  </a:lnTo>
                </a:path>
                <a:path w="1632584" h="38100">
                  <a:moveTo>
                    <a:pt x="1632204" y="0"/>
                  </a:moveTo>
                  <a:lnTo>
                    <a:pt x="1632204" y="38099"/>
                  </a:lnTo>
                </a:path>
              </a:pathLst>
            </a:custGeom>
            <a:ln w="9144">
              <a:solidFill>
                <a:srgbClr val="878787"/>
              </a:solidFill>
            </a:ln>
          </p:spPr>
          <p:txBody>
            <a:bodyPr wrap="square" lIns="0" tIns="0" rIns="0" bIns="0" rtlCol="0"/>
            <a:lstStyle/>
            <a:p/>
          </p:txBody>
        </p:sp>
      </p:grpSp>
      <p:sp>
        <p:nvSpPr>
          <p:cNvPr id="35" name="object 35" descr=""/>
          <p:cNvSpPr txBox="1"/>
          <p:nvPr/>
        </p:nvSpPr>
        <p:spPr>
          <a:xfrm>
            <a:off x="6148973" y="3226362"/>
            <a:ext cx="96520" cy="821055"/>
          </a:xfrm>
          <a:prstGeom prst="rect">
            <a:avLst/>
          </a:prstGeom>
        </p:spPr>
        <p:txBody>
          <a:bodyPr wrap="square" lIns="0" tIns="59055" rIns="0" bIns="0" rtlCol="0" vert="horz">
            <a:spAutoFit/>
          </a:bodyPr>
          <a:lstStyle/>
          <a:p>
            <a:pPr marL="12700">
              <a:lnSpc>
                <a:spcPct val="100000"/>
              </a:lnSpc>
              <a:spcBef>
                <a:spcPts val="465"/>
              </a:spcBef>
            </a:pPr>
            <a:r>
              <a:rPr dirty="0" sz="1000" spc="-50">
                <a:latin typeface="Arial MT"/>
                <a:cs typeface="Arial MT"/>
              </a:rPr>
              <a:t>6</a:t>
            </a:r>
            <a:endParaRPr sz="1000">
              <a:latin typeface="Arial MT"/>
              <a:cs typeface="Arial MT"/>
            </a:endParaRPr>
          </a:p>
          <a:p>
            <a:pPr marL="12700">
              <a:lnSpc>
                <a:spcPct val="100000"/>
              </a:lnSpc>
              <a:spcBef>
                <a:spcPts val="365"/>
              </a:spcBef>
            </a:pPr>
            <a:r>
              <a:rPr dirty="0" sz="1000" spc="-50">
                <a:latin typeface="Arial MT"/>
                <a:cs typeface="Arial MT"/>
              </a:rPr>
              <a:t>4</a:t>
            </a:r>
            <a:endParaRPr sz="1000">
              <a:latin typeface="Arial MT"/>
              <a:cs typeface="Arial MT"/>
            </a:endParaRPr>
          </a:p>
          <a:p>
            <a:pPr marL="12700">
              <a:lnSpc>
                <a:spcPct val="100000"/>
              </a:lnSpc>
              <a:spcBef>
                <a:spcPts val="365"/>
              </a:spcBef>
            </a:pPr>
            <a:r>
              <a:rPr dirty="0" sz="1000" spc="-50">
                <a:latin typeface="Arial MT"/>
                <a:cs typeface="Arial MT"/>
              </a:rPr>
              <a:t>2</a:t>
            </a:r>
            <a:endParaRPr sz="1000">
              <a:latin typeface="Arial MT"/>
              <a:cs typeface="Arial MT"/>
            </a:endParaRPr>
          </a:p>
          <a:p>
            <a:pPr marL="12700">
              <a:lnSpc>
                <a:spcPct val="100000"/>
              </a:lnSpc>
              <a:spcBef>
                <a:spcPts val="370"/>
              </a:spcBef>
            </a:pPr>
            <a:r>
              <a:rPr dirty="0" sz="1000" spc="-50">
                <a:latin typeface="Arial MT"/>
                <a:cs typeface="Arial MT"/>
              </a:rPr>
              <a:t>0</a:t>
            </a:r>
            <a:endParaRPr sz="1000">
              <a:latin typeface="Arial MT"/>
              <a:cs typeface="Arial MT"/>
            </a:endParaRPr>
          </a:p>
        </p:txBody>
      </p:sp>
      <p:sp>
        <p:nvSpPr>
          <p:cNvPr id="36" name="object 36" descr=""/>
          <p:cNvSpPr txBox="1"/>
          <p:nvPr/>
        </p:nvSpPr>
        <p:spPr>
          <a:xfrm>
            <a:off x="6537011" y="4031799"/>
            <a:ext cx="153035" cy="178435"/>
          </a:xfrm>
          <a:prstGeom prst="rect">
            <a:avLst/>
          </a:prstGeom>
        </p:spPr>
        <p:txBody>
          <a:bodyPr wrap="square" lIns="0" tIns="12700" rIns="0" bIns="0" rtlCol="0" vert="horz">
            <a:spAutoFit/>
          </a:bodyPr>
          <a:lstStyle/>
          <a:p>
            <a:pPr marL="12700">
              <a:lnSpc>
                <a:spcPct val="100000"/>
              </a:lnSpc>
              <a:spcBef>
                <a:spcPts val="100"/>
              </a:spcBef>
            </a:pPr>
            <a:r>
              <a:rPr dirty="0" sz="1000" spc="-50">
                <a:latin typeface="SimSun"/>
                <a:cs typeface="SimSun"/>
              </a:rPr>
              <a:t>近</a:t>
            </a:r>
            <a:endParaRPr sz="1000">
              <a:latin typeface="SimSun"/>
              <a:cs typeface="SimSun"/>
            </a:endParaRPr>
          </a:p>
        </p:txBody>
      </p:sp>
      <p:sp>
        <p:nvSpPr>
          <p:cNvPr id="37" name="object 37" descr=""/>
          <p:cNvSpPr txBox="1"/>
          <p:nvPr/>
        </p:nvSpPr>
        <p:spPr>
          <a:xfrm>
            <a:off x="7080912" y="4031799"/>
            <a:ext cx="153035" cy="178435"/>
          </a:xfrm>
          <a:prstGeom prst="rect">
            <a:avLst/>
          </a:prstGeom>
        </p:spPr>
        <p:txBody>
          <a:bodyPr wrap="square" lIns="0" tIns="12700" rIns="0" bIns="0" rtlCol="0" vert="horz">
            <a:spAutoFit/>
          </a:bodyPr>
          <a:lstStyle/>
          <a:p>
            <a:pPr marL="12700">
              <a:lnSpc>
                <a:spcPct val="100000"/>
              </a:lnSpc>
              <a:spcBef>
                <a:spcPts val="100"/>
              </a:spcBef>
            </a:pPr>
            <a:r>
              <a:rPr dirty="0" sz="1000" spc="-50">
                <a:latin typeface="SimSun"/>
                <a:cs typeface="SimSun"/>
              </a:rPr>
              <a:t>中</a:t>
            </a:r>
            <a:endParaRPr sz="1000">
              <a:latin typeface="SimSun"/>
              <a:cs typeface="SimSun"/>
            </a:endParaRPr>
          </a:p>
        </p:txBody>
      </p:sp>
      <p:sp>
        <p:nvSpPr>
          <p:cNvPr id="38" name="object 38" descr=""/>
          <p:cNvSpPr txBox="1"/>
          <p:nvPr/>
        </p:nvSpPr>
        <p:spPr>
          <a:xfrm>
            <a:off x="7624813" y="4031799"/>
            <a:ext cx="153035" cy="178435"/>
          </a:xfrm>
          <a:prstGeom prst="rect">
            <a:avLst/>
          </a:prstGeom>
        </p:spPr>
        <p:txBody>
          <a:bodyPr wrap="square" lIns="0" tIns="12700" rIns="0" bIns="0" rtlCol="0" vert="horz">
            <a:spAutoFit/>
          </a:bodyPr>
          <a:lstStyle/>
          <a:p>
            <a:pPr marL="12700">
              <a:lnSpc>
                <a:spcPct val="100000"/>
              </a:lnSpc>
              <a:spcBef>
                <a:spcPts val="100"/>
              </a:spcBef>
            </a:pPr>
            <a:r>
              <a:rPr dirty="0" sz="1000" spc="-50">
                <a:latin typeface="SimSun"/>
                <a:cs typeface="SimSun"/>
              </a:rPr>
              <a:t>远</a:t>
            </a:r>
            <a:endParaRPr sz="1000">
              <a:latin typeface="SimSun"/>
              <a:cs typeface="SimSun"/>
            </a:endParaRPr>
          </a:p>
        </p:txBody>
      </p:sp>
      <p:grpSp>
        <p:nvGrpSpPr>
          <p:cNvPr id="39" name="object 39" descr=""/>
          <p:cNvGrpSpPr/>
          <p:nvPr/>
        </p:nvGrpSpPr>
        <p:grpSpPr>
          <a:xfrm>
            <a:off x="8173211" y="3403853"/>
            <a:ext cx="64769" cy="715010"/>
            <a:chOff x="8173211" y="3403853"/>
            <a:chExt cx="64769" cy="715010"/>
          </a:xfrm>
        </p:grpSpPr>
        <p:sp>
          <p:nvSpPr>
            <p:cNvPr id="40" name="object 40" descr=""/>
            <p:cNvSpPr/>
            <p:nvPr/>
          </p:nvSpPr>
          <p:spPr>
            <a:xfrm>
              <a:off x="8173211" y="3403853"/>
              <a:ext cx="64769" cy="64769"/>
            </a:xfrm>
            <a:custGeom>
              <a:avLst/>
              <a:gdLst/>
              <a:ahLst/>
              <a:cxnLst/>
              <a:rect l="l" t="t" r="r" b="b"/>
              <a:pathLst>
                <a:path w="64770" h="64770">
                  <a:moveTo>
                    <a:pt x="64770" y="0"/>
                  </a:moveTo>
                  <a:lnTo>
                    <a:pt x="0" y="0"/>
                  </a:lnTo>
                  <a:lnTo>
                    <a:pt x="0" y="64770"/>
                  </a:lnTo>
                  <a:lnTo>
                    <a:pt x="64770" y="64770"/>
                  </a:lnTo>
                  <a:lnTo>
                    <a:pt x="64770" y="0"/>
                  </a:lnTo>
                  <a:close/>
                </a:path>
              </a:pathLst>
            </a:custGeom>
            <a:solidFill>
              <a:srgbClr val="0070C0"/>
            </a:solidFill>
          </p:spPr>
          <p:txBody>
            <a:bodyPr wrap="square" lIns="0" tIns="0" rIns="0" bIns="0" rtlCol="0"/>
            <a:lstStyle/>
            <a:p/>
          </p:txBody>
        </p:sp>
        <p:sp>
          <p:nvSpPr>
            <p:cNvPr id="41" name="object 41" descr=""/>
            <p:cNvSpPr/>
            <p:nvPr/>
          </p:nvSpPr>
          <p:spPr>
            <a:xfrm>
              <a:off x="8173211" y="3621023"/>
              <a:ext cx="64769" cy="64135"/>
            </a:xfrm>
            <a:custGeom>
              <a:avLst/>
              <a:gdLst/>
              <a:ahLst/>
              <a:cxnLst/>
              <a:rect l="l" t="t" r="r" b="b"/>
              <a:pathLst>
                <a:path w="64770" h="64135">
                  <a:moveTo>
                    <a:pt x="64770" y="0"/>
                  </a:moveTo>
                  <a:lnTo>
                    <a:pt x="0" y="0"/>
                  </a:lnTo>
                  <a:lnTo>
                    <a:pt x="0" y="64008"/>
                  </a:lnTo>
                  <a:lnTo>
                    <a:pt x="64770" y="64008"/>
                  </a:lnTo>
                  <a:lnTo>
                    <a:pt x="64770" y="0"/>
                  </a:lnTo>
                  <a:close/>
                </a:path>
              </a:pathLst>
            </a:custGeom>
            <a:solidFill>
              <a:srgbClr val="C00000"/>
            </a:solidFill>
          </p:spPr>
          <p:txBody>
            <a:bodyPr wrap="square" lIns="0" tIns="0" rIns="0" bIns="0" rtlCol="0"/>
            <a:lstStyle/>
            <a:p/>
          </p:txBody>
        </p:sp>
        <p:sp>
          <p:nvSpPr>
            <p:cNvPr id="42" name="object 42" descr=""/>
            <p:cNvSpPr/>
            <p:nvPr/>
          </p:nvSpPr>
          <p:spPr>
            <a:xfrm>
              <a:off x="8173211" y="3837431"/>
              <a:ext cx="64769" cy="64769"/>
            </a:xfrm>
            <a:custGeom>
              <a:avLst/>
              <a:gdLst/>
              <a:ahLst/>
              <a:cxnLst/>
              <a:rect l="l" t="t" r="r" b="b"/>
              <a:pathLst>
                <a:path w="64770" h="64770">
                  <a:moveTo>
                    <a:pt x="64770" y="0"/>
                  </a:moveTo>
                  <a:lnTo>
                    <a:pt x="0" y="0"/>
                  </a:lnTo>
                  <a:lnTo>
                    <a:pt x="0" y="64770"/>
                  </a:lnTo>
                  <a:lnTo>
                    <a:pt x="64770" y="64770"/>
                  </a:lnTo>
                  <a:lnTo>
                    <a:pt x="64770" y="0"/>
                  </a:lnTo>
                  <a:close/>
                </a:path>
              </a:pathLst>
            </a:custGeom>
            <a:solidFill>
              <a:srgbClr val="00B050"/>
            </a:solidFill>
          </p:spPr>
          <p:txBody>
            <a:bodyPr wrap="square" lIns="0" tIns="0" rIns="0" bIns="0" rtlCol="0"/>
            <a:lstStyle/>
            <a:p/>
          </p:txBody>
        </p:sp>
        <p:sp>
          <p:nvSpPr>
            <p:cNvPr id="43" name="object 43" descr=""/>
            <p:cNvSpPr/>
            <p:nvPr/>
          </p:nvSpPr>
          <p:spPr>
            <a:xfrm>
              <a:off x="8173211" y="4053839"/>
              <a:ext cx="64769" cy="64769"/>
            </a:xfrm>
            <a:custGeom>
              <a:avLst/>
              <a:gdLst/>
              <a:ahLst/>
              <a:cxnLst/>
              <a:rect l="l" t="t" r="r" b="b"/>
              <a:pathLst>
                <a:path w="64770" h="64770">
                  <a:moveTo>
                    <a:pt x="64770" y="0"/>
                  </a:moveTo>
                  <a:lnTo>
                    <a:pt x="0" y="0"/>
                  </a:lnTo>
                  <a:lnTo>
                    <a:pt x="0" y="64770"/>
                  </a:lnTo>
                  <a:lnTo>
                    <a:pt x="64770" y="64770"/>
                  </a:lnTo>
                  <a:lnTo>
                    <a:pt x="64770" y="0"/>
                  </a:lnTo>
                  <a:close/>
                </a:path>
              </a:pathLst>
            </a:custGeom>
            <a:solidFill>
              <a:srgbClr val="7030A0"/>
            </a:solidFill>
          </p:spPr>
          <p:txBody>
            <a:bodyPr wrap="square" lIns="0" tIns="0" rIns="0" bIns="0" rtlCol="0"/>
            <a:lstStyle/>
            <a:p/>
          </p:txBody>
        </p:sp>
      </p:grpSp>
      <p:sp>
        <p:nvSpPr>
          <p:cNvPr id="44" name="object 44" descr=""/>
          <p:cNvSpPr txBox="1"/>
          <p:nvPr/>
        </p:nvSpPr>
        <p:spPr>
          <a:xfrm>
            <a:off x="8251759" y="3276165"/>
            <a:ext cx="549910" cy="892810"/>
          </a:xfrm>
          <a:prstGeom prst="rect">
            <a:avLst/>
          </a:prstGeom>
        </p:spPr>
        <p:txBody>
          <a:bodyPr wrap="square" lIns="0" tIns="12700" rIns="0" bIns="0" rtlCol="0" vert="horz">
            <a:spAutoFit/>
          </a:bodyPr>
          <a:lstStyle/>
          <a:p>
            <a:pPr marL="12700" marR="5080">
              <a:lnSpc>
                <a:spcPct val="142200"/>
              </a:lnSpc>
              <a:spcBef>
                <a:spcPts val="100"/>
              </a:spcBef>
            </a:pPr>
            <a:r>
              <a:rPr dirty="0" sz="1000" spc="-10">
                <a:latin typeface="Arial MT"/>
                <a:cs typeface="Arial MT"/>
              </a:rPr>
              <a:t>ping32 ping64 ping256 ping1000</a:t>
            </a:r>
            <a:endParaRPr sz="1000">
              <a:latin typeface="Arial MT"/>
              <a:cs typeface="Arial MT"/>
            </a:endParaRPr>
          </a:p>
        </p:txBody>
      </p:sp>
      <p:sp>
        <p:nvSpPr>
          <p:cNvPr id="45" name="object 45" descr=""/>
          <p:cNvSpPr/>
          <p:nvPr/>
        </p:nvSpPr>
        <p:spPr>
          <a:xfrm>
            <a:off x="6079058" y="2819082"/>
            <a:ext cx="2836545" cy="1472565"/>
          </a:xfrm>
          <a:custGeom>
            <a:avLst/>
            <a:gdLst/>
            <a:ahLst/>
            <a:cxnLst/>
            <a:rect l="l" t="t" r="r" b="b"/>
            <a:pathLst>
              <a:path w="2836545" h="1472564">
                <a:moveTo>
                  <a:pt x="0" y="0"/>
                </a:moveTo>
                <a:lnTo>
                  <a:pt x="2836468" y="0"/>
                </a:lnTo>
                <a:lnTo>
                  <a:pt x="2836468" y="1472298"/>
                </a:lnTo>
                <a:lnTo>
                  <a:pt x="0" y="1472298"/>
                </a:lnTo>
                <a:lnTo>
                  <a:pt x="0" y="0"/>
                </a:lnTo>
                <a:close/>
              </a:path>
            </a:pathLst>
          </a:custGeom>
          <a:ln w="9524">
            <a:solidFill>
              <a:srgbClr val="DADADA"/>
            </a:solidFill>
          </a:ln>
        </p:spPr>
        <p:txBody>
          <a:bodyPr wrap="square" lIns="0" tIns="0" rIns="0" bIns="0" rtlCol="0"/>
          <a:lstStyle/>
          <a:p/>
        </p:txBody>
      </p:sp>
      <p:sp>
        <p:nvSpPr>
          <p:cNvPr id="46" name="object 46" descr=""/>
          <p:cNvSpPr txBox="1"/>
          <p:nvPr/>
        </p:nvSpPr>
        <p:spPr>
          <a:xfrm>
            <a:off x="6181060" y="2703024"/>
            <a:ext cx="2117725" cy="501015"/>
          </a:xfrm>
          <a:prstGeom prst="rect">
            <a:avLst/>
          </a:prstGeom>
        </p:spPr>
        <p:txBody>
          <a:bodyPr wrap="square" lIns="0" tIns="12700" rIns="0" bIns="0" rtlCol="0" vert="horz">
            <a:spAutoFit/>
          </a:bodyPr>
          <a:lstStyle/>
          <a:p>
            <a:pPr marL="25400">
              <a:lnSpc>
                <a:spcPts val="1870"/>
              </a:lnSpc>
              <a:spcBef>
                <a:spcPts val="100"/>
              </a:spcBef>
            </a:pPr>
            <a:r>
              <a:rPr dirty="0" sz="1800" spc="-10">
                <a:latin typeface="Arial MT"/>
                <a:cs typeface="Arial MT"/>
              </a:rPr>
              <a:t>UL/DL</a:t>
            </a:r>
            <a:endParaRPr sz="1800">
              <a:latin typeface="Arial MT"/>
              <a:cs typeface="Arial MT"/>
            </a:endParaRPr>
          </a:p>
          <a:p>
            <a:pPr marL="186690">
              <a:lnSpc>
                <a:spcPts val="1870"/>
              </a:lnSpc>
            </a:pPr>
            <a:r>
              <a:rPr dirty="0" baseline="-18518" sz="2700">
                <a:latin typeface="Arial MT"/>
                <a:cs typeface="Arial MT"/>
              </a:rPr>
              <a:t>1:3</a:t>
            </a:r>
            <a:r>
              <a:rPr dirty="0" baseline="-18518" sz="2700" spc="-7">
                <a:latin typeface="Arial MT"/>
                <a:cs typeface="Arial MT"/>
              </a:rPr>
              <a:t> </a:t>
            </a:r>
            <a:r>
              <a:rPr dirty="0" sz="1800" spc="-20" b="1">
                <a:latin typeface="Arial"/>
                <a:cs typeface="Arial"/>
              </a:rPr>
              <a:t>Ping</a:t>
            </a:r>
            <a:r>
              <a:rPr dirty="0" sz="1800" spc="-125">
                <a:latin typeface="SimSun"/>
                <a:cs typeface="SimSun"/>
              </a:rPr>
              <a:t>时延 </a:t>
            </a:r>
            <a:r>
              <a:rPr dirty="0" sz="1800" spc="-20" b="1">
                <a:latin typeface="Arial"/>
                <a:cs typeface="Arial"/>
              </a:rPr>
              <a:t>(ms)</a:t>
            </a:r>
            <a:endParaRPr sz="1800">
              <a:latin typeface="Arial"/>
              <a:cs typeface="Arial"/>
            </a:endParaRPr>
          </a:p>
        </p:txBody>
      </p:sp>
      <p:graphicFrame>
        <p:nvGraphicFramePr>
          <p:cNvPr id="47" name="object 47" descr=""/>
          <p:cNvGraphicFramePr>
            <a:graphicFrameLocks noGrp="1"/>
          </p:cNvGraphicFramePr>
          <p:nvPr/>
        </p:nvGraphicFramePr>
        <p:xfrm>
          <a:off x="487419" y="2477623"/>
          <a:ext cx="5213350" cy="1730375"/>
        </p:xfrm>
        <a:graphic>
          <a:graphicData uri="http://schemas.openxmlformats.org/drawingml/2006/table">
            <a:tbl>
              <a:tblPr firstRow="1" bandRow="1">
                <a:tableStyleId>{2D5ABB26-0587-4C30-8999-92F81FD0307C}</a:tableStyleId>
              </a:tblPr>
              <a:tblGrid>
                <a:gridCol w="524510"/>
                <a:gridCol w="524510"/>
                <a:gridCol w="680084"/>
                <a:gridCol w="680085"/>
                <a:gridCol w="680085"/>
                <a:gridCol w="680085"/>
                <a:gridCol w="680085"/>
                <a:gridCol w="680085"/>
              </a:tblGrid>
              <a:tr h="391795">
                <a:tc>
                  <a:txBody>
                    <a:bodyPr/>
                    <a:lstStyle/>
                    <a:p>
                      <a:pPr marL="33020">
                        <a:lnSpc>
                          <a:spcPct val="100000"/>
                        </a:lnSpc>
                        <a:spcBef>
                          <a:spcPts val="1030"/>
                        </a:spcBef>
                      </a:pPr>
                      <a:r>
                        <a:rPr dirty="0" sz="900" spc="-15" b="1">
                          <a:latin typeface="Microsoft YaHei"/>
                          <a:cs typeface="Microsoft YaHei"/>
                        </a:rPr>
                        <a:t>时隙配比</a:t>
                      </a:r>
                      <a:endParaRPr sz="900">
                        <a:latin typeface="Microsoft YaHei"/>
                        <a:cs typeface="Microsoft YaHei"/>
                      </a:endParaRPr>
                    </a:p>
                  </a:txBody>
                  <a:tcPr marL="0" marR="0" marB="0" marT="13081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30"/>
                        </a:spcBef>
                      </a:pPr>
                      <a:r>
                        <a:rPr dirty="0" sz="900" spc="-15" b="1">
                          <a:latin typeface="Microsoft YaHei"/>
                          <a:cs typeface="Microsoft YaHei"/>
                        </a:rPr>
                        <a:t>测试点位</a:t>
                      </a:r>
                      <a:endParaRPr sz="900">
                        <a:latin typeface="Microsoft YaHei"/>
                        <a:cs typeface="Microsoft YaHei"/>
                      </a:endParaRPr>
                    </a:p>
                  </a:txBody>
                  <a:tcPr marL="0" marR="0" marB="0" marT="13081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54305">
                        <a:lnSpc>
                          <a:spcPct val="100000"/>
                        </a:lnSpc>
                        <a:spcBef>
                          <a:spcPts val="490"/>
                        </a:spcBef>
                      </a:pPr>
                      <a:r>
                        <a:rPr dirty="0" sz="900" spc="-10" b="1">
                          <a:latin typeface="Microsoft YaHei"/>
                          <a:cs typeface="Microsoft YaHei"/>
                        </a:rPr>
                        <a:t>Msg1-</a:t>
                      </a:r>
                      <a:endParaRPr sz="900">
                        <a:latin typeface="Microsoft YaHei"/>
                        <a:cs typeface="Microsoft YaHei"/>
                      </a:endParaRPr>
                    </a:p>
                    <a:p>
                      <a:pPr marL="135890">
                        <a:lnSpc>
                          <a:spcPct val="100000"/>
                        </a:lnSpc>
                      </a:pPr>
                      <a:r>
                        <a:rPr dirty="0" sz="900" spc="-10" b="1">
                          <a:latin typeface="Microsoft YaHei"/>
                          <a:cs typeface="Microsoft YaHei"/>
                        </a:rPr>
                        <a:t>&gt;Msg2</a:t>
                      </a:r>
                      <a:endParaRPr sz="900">
                        <a:latin typeface="Microsoft YaHei"/>
                        <a:cs typeface="Microsoft YaHei"/>
                      </a:endParaRPr>
                    </a:p>
                  </a:txBody>
                  <a:tcPr marL="0" marR="0" marB="0" marT="6223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54305">
                        <a:lnSpc>
                          <a:spcPct val="100000"/>
                        </a:lnSpc>
                        <a:spcBef>
                          <a:spcPts val="490"/>
                        </a:spcBef>
                      </a:pPr>
                      <a:r>
                        <a:rPr dirty="0" sz="900" spc="-10" b="1">
                          <a:latin typeface="Microsoft YaHei"/>
                          <a:cs typeface="Microsoft YaHei"/>
                        </a:rPr>
                        <a:t>Msg2-</a:t>
                      </a:r>
                      <a:endParaRPr sz="900">
                        <a:latin typeface="Microsoft YaHei"/>
                        <a:cs typeface="Microsoft YaHei"/>
                      </a:endParaRPr>
                    </a:p>
                    <a:p>
                      <a:pPr marL="135890">
                        <a:lnSpc>
                          <a:spcPct val="100000"/>
                        </a:lnSpc>
                      </a:pPr>
                      <a:r>
                        <a:rPr dirty="0" sz="900" spc="-10" b="1">
                          <a:latin typeface="Microsoft YaHei"/>
                          <a:cs typeface="Microsoft YaHei"/>
                        </a:rPr>
                        <a:t>&gt;Msg3</a:t>
                      </a:r>
                      <a:endParaRPr sz="900">
                        <a:latin typeface="Microsoft YaHei"/>
                        <a:cs typeface="Microsoft YaHei"/>
                      </a:endParaRPr>
                    </a:p>
                  </a:txBody>
                  <a:tcPr marL="0" marR="0" marB="0" marT="6223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54305">
                        <a:lnSpc>
                          <a:spcPct val="100000"/>
                        </a:lnSpc>
                        <a:spcBef>
                          <a:spcPts val="490"/>
                        </a:spcBef>
                      </a:pPr>
                      <a:r>
                        <a:rPr dirty="0" sz="900" spc="-10" b="1">
                          <a:latin typeface="Microsoft YaHei"/>
                          <a:cs typeface="Microsoft YaHei"/>
                        </a:rPr>
                        <a:t>Msg3-</a:t>
                      </a:r>
                      <a:endParaRPr sz="900">
                        <a:latin typeface="Microsoft YaHei"/>
                        <a:cs typeface="Microsoft YaHei"/>
                      </a:endParaRPr>
                    </a:p>
                    <a:p>
                      <a:pPr marL="135890">
                        <a:lnSpc>
                          <a:spcPct val="100000"/>
                        </a:lnSpc>
                      </a:pPr>
                      <a:r>
                        <a:rPr dirty="0" sz="900" spc="-10" b="1">
                          <a:latin typeface="Microsoft YaHei"/>
                          <a:cs typeface="Microsoft YaHei"/>
                        </a:rPr>
                        <a:t>&gt;Msg4</a:t>
                      </a:r>
                      <a:endParaRPr sz="900">
                        <a:latin typeface="Microsoft YaHei"/>
                        <a:cs typeface="Microsoft YaHei"/>
                      </a:endParaRPr>
                    </a:p>
                  </a:txBody>
                  <a:tcPr marL="0" marR="0" marB="0" marT="6223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54305">
                        <a:lnSpc>
                          <a:spcPct val="100000"/>
                        </a:lnSpc>
                        <a:spcBef>
                          <a:spcPts val="490"/>
                        </a:spcBef>
                      </a:pPr>
                      <a:r>
                        <a:rPr dirty="0" sz="900" spc="-10" b="1">
                          <a:latin typeface="Microsoft YaHei"/>
                          <a:cs typeface="Microsoft YaHei"/>
                        </a:rPr>
                        <a:t>Msg4-</a:t>
                      </a:r>
                      <a:endParaRPr sz="900">
                        <a:latin typeface="Microsoft YaHei"/>
                        <a:cs typeface="Microsoft YaHei"/>
                      </a:endParaRPr>
                    </a:p>
                    <a:p>
                      <a:pPr marL="135890">
                        <a:lnSpc>
                          <a:spcPct val="100000"/>
                        </a:lnSpc>
                      </a:pPr>
                      <a:r>
                        <a:rPr dirty="0" sz="900" spc="-10" b="1">
                          <a:latin typeface="Microsoft YaHei"/>
                          <a:cs typeface="Microsoft YaHei"/>
                        </a:rPr>
                        <a:t>&gt;Msg5</a:t>
                      </a:r>
                      <a:endParaRPr sz="900">
                        <a:latin typeface="Microsoft YaHei"/>
                        <a:cs typeface="Microsoft YaHei"/>
                      </a:endParaRPr>
                    </a:p>
                  </a:txBody>
                  <a:tcPr marL="0" marR="0" marB="0" marT="6223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54305">
                        <a:lnSpc>
                          <a:spcPct val="100000"/>
                        </a:lnSpc>
                        <a:spcBef>
                          <a:spcPts val="490"/>
                        </a:spcBef>
                      </a:pPr>
                      <a:r>
                        <a:rPr dirty="0" sz="900" spc="-10" b="1">
                          <a:latin typeface="Microsoft YaHei"/>
                          <a:cs typeface="Microsoft YaHei"/>
                        </a:rPr>
                        <a:t>Msg3-</a:t>
                      </a:r>
                      <a:endParaRPr sz="900">
                        <a:latin typeface="Microsoft YaHei"/>
                        <a:cs typeface="Microsoft YaHei"/>
                      </a:endParaRPr>
                    </a:p>
                    <a:p>
                      <a:pPr marL="135890">
                        <a:lnSpc>
                          <a:spcPct val="100000"/>
                        </a:lnSpc>
                      </a:pPr>
                      <a:r>
                        <a:rPr dirty="0" sz="900" spc="-10" b="1">
                          <a:latin typeface="Microsoft YaHei"/>
                          <a:cs typeface="Microsoft YaHei"/>
                        </a:rPr>
                        <a:t>&gt;Msg5</a:t>
                      </a:r>
                      <a:endParaRPr sz="900">
                        <a:latin typeface="Microsoft YaHei"/>
                        <a:cs typeface="Microsoft YaHei"/>
                      </a:endParaRPr>
                    </a:p>
                  </a:txBody>
                  <a:tcPr marL="0" marR="0" marB="0" marT="6223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54305">
                        <a:lnSpc>
                          <a:spcPct val="100000"/>
                        </a:lnSpc>
                        <a:spcBef>
                          <a:spcPts val="490"/>
                        </a:spcBef>
                      </a:pPr>
                      <a:r>
                        <a:rPr dirty="0" sz="900" spc="-10" b="1">
                          <a:latin typeface="Microsoft YaHei"/>
                          <a:cs typeface="Microsoft YaHei"/>
                        </a:rPr>
                        <a:t>Msg1-</a:t>
                      </a:r>
                      <a:endParaRPr sz="900">
                        <a:latin typeface="Microsoft YaHei"/>
                        <a:cs typeface="Microsoft YaHei"/>
                      </a:endParaRPr>
                    </a:p>
                    <a:p>
                      <a:pPr marL="135890">
                        <a:lnSpc>
                          <a:spcPct val="100000"/>
                        </a:lnSpc>
                      </a:pPr>
                      <a:r>
                        <a:rPr dirty="0" sz="900" spc="-10" b="1">
                          <a:latin typeface="Microsoft YaHei"/>
                          <a:cs typeface="Microsoft YaHei"/>
                        </a:rPr>
                        <a:t>&gt;Msg5</a:t>
                      </a:r>
                      <a:endParaRPr sz="900">
                        <a:latin typeface="Microsoft YaHei"/>
                        <a:cs typeface="Microsoft YaHei"/>
                      </a:endParaRPr>
                    </a:p>
                  </a:txBody>
                  <a:tcPr marL="0" marR="0" marB="0" marT="6223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8120">
                <a:tc rowSpan="3">
                  <a:txBody>
                    <a:bodyPr/>
                    <a:lstStyle/>
                    <a:p>
                      <a:pPr>
                        <a:lnSpc>
                          <a:spcPct val="100000"/>
                        </a:lnSpc>
                        <a:spcBef>
                          <a:spcPts val="795"/>
                        </a:spcBef>
                      </a:pPr>
                      <a:endParaRPr sz="900">
                        <a:latin typeface="Times New Roman"/>
                        <a:cs typeface="Times New Roman"/>
                      </a:endParaRPr>
                    </a:p>
                    <a:p>
                      <a:pPr marL="133985">
                        <a:lnSpc>
                          <a:spcPct val="100000"/>
                        </a:lnSpc>
                      </a:pPr>
                      <a:r>
                        <a:rPr dirty="0" sz="900" spc="-25" b="1">
                          <a:latin typeface="Microsoft YaHei"/>
                          <a:cs typeface="Microsoft YaHei"/>
                        </a:rPr>
                        <a:t>1：3</a:t>
                      </a:r>
                      <a:endParaRPr sz="900">
                        <a:latin typeface="Microsoft YaHei"/>
                        <a:cs typeface="Microsoft YaHei"/>
                      </a:endParaRPr>
                    </a:p>
                  </a:txBody>
                  <a:tcPr marL="0" marR="0" marB="0" marT="1009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65"/>
                        </a:spcBef>
                      </a:pPr>
                      <a:r>
                        <a:rPr dirty="0" sz="900" spc="-25" b="1">
                          <a:latin typeface="Microsoft YaHei"/>
                          <a:cs typeface="Microsoft YaHei"/>
                        </a:rPr>
                        <a:t>近点</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65"/>
                        </a:spcBef>
                      </a:pPr>
                      <a:r>
                        <a:rPr dirty="0" sz="900" spc="-20" b="1">
                          <a:latin typeface="Microsoft YaHei"/>
                          <a:cs typeface="Microsoft YaHei"/>
                        </a:rPr>
                        <a:t>3.29</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65"/>
                        </a:spcBef>
                      </a:pPr>
                      <a:r>
                        <a:rPr dirty="0" sz="900" spc="-20" b="1">
                          <a:latin typeface="Microsoft YaHei"/>
                          <a:cs typeface="Microsoft YaHei"/>
                        </a:rPr>
                        <a:t>0.74</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65"/>
                        </a:spcBef>
                      </a:pPr>
                      <a:r>
                        <a:rPr dirty="0" sz="900" spc="-10" b="1">
                          <a:latin typeface="Microsoft YaHei"/>
                          <a:cs typeface="Microsoft YaHei"/>
                        </a:rPr>
                        <a:t>11.53</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65"/>
                        </a:spcBef>
                      </a:pPr>
                      <a:r>
                        <a:rPr dirty="0" sz="900" spc="-20" b="1">
                          <a:latin typeface="Microsoft YaHei"/>
                          <a:cs typeface="Microsoft YaHei"/>
                        </a:rPr>
                        <a:t>1.78</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65"/>
                        </a:spcBef>
                      </a:pPr>
                      <a:r>
                        <a:rPr dirty="0" sz="900" spc="-10" b="1">
                          <a:latin typeface="Microsoft YaHei"/>
                          <a:cs typeface="Microsoft YaHei"/>
                        </a:rPr>
                        <a:t>13.32</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65"/>
                        </a:spcBef>
                      </a:pPr>
                      <a:r>
                        <a:rPr dirty="0" sz="900" spc="-10" b="1">
                          <a:latin typeface="Microsoft YaHei"/>
                          <a:cs typeface="Microsoft YaHei"/>
                        </a:rPr>
                        <a:t>17.34</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8120">
                <a:tc vMerge="1">
                  <a:txBody>
                    <a:bodyPr/>
                    <a:lstStyle/>
                    <a:p>
                      <a:pPr/>
                    </a:p>
                  </a:txBody>
                  <a:tcPr marL="0" marR="0" marB="0" marT="1009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5" b="1">
                          <a:latin typeface="Microsoft YaHei"/>
                          <a:cs typeface="Microsoft YaHei"/>
                        </a:rPr>
                        <a:t>中点</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0" b="1">
                          <a:latin typeface="Microsoft YaHei"/>
                          <a:cs typeface="Microsoft YaHei"/>
                        </a:rPr>
                        <a:t>2.93</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0" b="1">
                          <a:latin typeface="Microsoft YaHei"/>
                          <a:cs typeface="Microsoft YaHei"/>
                        </a:rPr>
                        <a:t>0.80</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10" b="1">
                          <a:latin typeface="Microsoft YaHei"/>
                          <a:cs typeface="Microsoft YaHei"/>
                        </a:rPr>
                        <a:t>11.62</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0" b="1">
                          <a:latin typeface="Microsoft YaHei"/>
                          <a:cs typeface="Microsoft YaHei"/>
                        </a:rPr>
                        <a:t>1.43</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10" b="1">
                          <a:latin typeface="Microsoft YaHei"/>
                          <a:cs typeface="Microsoft YaHei"/>
                        </a:rPr>
                        <a:t>13.05</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10" b="1">
                          <a:latin typeface="Microsoft YaHei"/>
                          <a:cs typeface="Microsoft YaHei"/>
                        </a:rPr>
                        <a:t>16.78</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8120">
                <a:tc vMerge="1">
                  <a:txBody>
                    <a:bodyPr/>
                    <a:lstStyle/>
                    <a:p>
                      <a:pPr/>
                    </a:p>
                  </a:txBody>
                  <a:tcPr marL="0" marR="0" marB="0" marT="1009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5" b="1">
                          <a:latin typeface="Microsoft YaHei"/>
                          <a:cs typeface="Microsoft YaHei"/>
                        </a:rPr>
                        <a:t>远点</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0" b="1">
                          <a:latin typeface="Microsoft YaHei"/>
                          <a:cs typeface="Microsoft YaHei"/>
                        </a:rPr>
                        <a:t>3.23</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0" b="1">
                          <a:latin typeface="Microsoft YaHei"/>
                          <a:cs typeface="Microsoft YaHei"/>
                        </a:rPr>
                        <a:t>0.75</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10" b="1">
                          <a:latin typeface="Microsoft YaHei"/>
                          <a:cs typeface="Microsoft YaHei"/>
                        </a:rPr>
                        <a:t>11.57</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0" b="1">
                          <a:latin typeface="Microsoft YaHei"/>
                          <a:cs typeface="Microsoft YaHei"/>
                        </a:rPr>
                        <a:t>1.59</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10" b="1">
                          <a:latin typeface="Microsoft YaHei"/>
                          <a:cs typeface="Microsoft YaHei"/>
                        </a:rPr>
                        <a:t>13.16</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10" b="1">
                          <a:latin typeface="Microsoft YaHei"/>
                          <a:cs typeface="Microsoft YaHei"/>
                        </a:rPr>
                        <a:t>17.14</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49860">
                <a:tc gridSpan="8">
                  <a:txBody>
                    <a:bodyPr/>
                    <a:lstStyle/>
                    <a:p>
                      <a:pPr>
                        <a:lnSpc>
                          <a:spcPct val="100000"/>
                        </a:lnSpc>
                      </a:pPr>
                      <a:endParaRPr sz="8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98120">
                <a:tc rowSpan="3">
                  <a:txBody>
                    <a:bodyPr/>
                    <a:lstStyle/>
                    <a:p>
                      <a:pPr>
                        <a:lnSpc>
                          <a:spcPct val="100000"/>
                        </a:lnSpc>
                        <a:spcBef>
                          <a:spcPts val="795"/>
                        </a:spcBef>
                      </a:pPr>
                      <a:endParaRPr sz="900">
                        <a:latin typeface="Times New Roman"/>
                        <a:cs typeface="Times New Roman"/>
                      </a:endParaRPr>
                    </a:p>
                    <a:p>
                      <a:pPr marL="133985">
                        <a:lnSpc>
                          <a:spcPct val="100000"/>
                        </a:lnSpc>
                      </a:pPr>
                      <a:r>
                        <a:rPr dirty="0" sz="900" spc="-25" b="1">
                          <a:latin typeface="Microsoft YaHei"/>
                          <a:cs typeface="Microsoft YaHei"/>
                        </a:rPr>
                        <a:t>1：1</a:t>
                      </a:r>
                      <a:endParaRPr sz="900">
                        <a:latin typeface="Microsoft YaHei"/>
                        <a:cs typeface="Microsoft YaHei"/>
                      </a:endParaRPr>
                    </a:p>
                  </a:txBody>
                  <a:tcPr marL="0" marR="0" marB="0" marT="1009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65"/>
                        </a:spcBef>
                      </a:pPr>
                      <a:r>
                        <a:rPr dirty="0" sz="900" spc="-25" b="1">
                          <a:latin typeface="Microsoft YaHei"/>
                          <a:cs typeface="Microsoft YaHei"/>
                        </a:rPr>
                        <a:t>近点</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65"/>
                        </a:spcBef>
                      </a:pPr>
                      <a:r>
                        <a:rPr dirty="0" sz="900" spc="-20" b="1">
                          <a:latin typeface="Microsoft YaHei"/>
                          <a:cs typeface="Microsoft YaHei"/>
                        </a:rPr>
                        <a:t>3.15</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65"/>
                        </a:spcBef>
                      </a:pPr>
                      <a:r>
                        <a:rPr dirty="0" sz="900" spc="-20" b="1">
                          <a:latin typeface="Microsoft YaHei"/>
                          <a:cs typeface="Microsoft YaHei"/>
                        </a:rPr>
                        <a:t>0.72</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635">
                        <a:lnSpc>
                          <a:spcPct val="100000"/>
                        </a:lnSpc>
                        <a:spcBef>
                          <a:spcPts val="265"/>
                        </a:spcBef>
                      </a:pPr>
                      <a:r>
                        <a:rPr dirty="0" sz="900" spc="-10" b="1">
                          <a:latin typeface="Microsoft YaHei"/>
                          <a:cs typeface="Microsoft YaHei"/>
                        </a:rPr>
                        <a:t>11.26</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65"/>
                        </a:spcBef>
                      </a:pPr>
                      <a:r>
                        <a:rPr dirty="0" sz="900" spc="-20" b="1">
                          <a:latin typeface="Microsoft YaHei"/>
                          <a:cs typeface="Microsoft YaHei"/>
                        </a:rPr>
                        <a:t>1.88</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635">
                        <a:lnSpc>
                          <a:spcPct val="100000"/>
                        </a:lnSpc>
                        <a:spcBef>
                          <a:spcPts val="265"/>
                        </a:spcBef>
                      </a:pPr>
                      <a:r>
                        <a:rPr dirty="0" sz="900" spc="-10" b="1">
                          <a:latin typeface="Microsoft YaHei"/>
                          <a:cs typeface="Microsoft YaHei"/>
                        </a:rPr>
                        <a:t>13.14</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635">
                        <a:lnSpc>
                          <a:spcPct val="100000"/>
                        </a:lnSpc>
                        <a:spcBef>
                          <a:spcPts val="265"/>
                        </a:spcBef>
                      </a:pPr>
                      <a:r>
                        <a:rPr dirty="0" sz="900" spc="-10" b="1">
                          <a:latin typeface="Microsoft YaHei"/>
                          <a:cs typeface="Microsoft YaHei"/>
                        </a:rPr>
                        <a:t>17.01</a:t>
                      </a:r>
                      <a:endParaRPr sz="900">
                        <a:latin typeface="Microsoft YaHei"/>
                        <a:cs typeface="Microsoft YaHei"/>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8120">
                <a:tc vMerge="1">
                  <a:txBody>
                    <a:bodyPr/>
                    <a:lstStyle/>
                    <a:p>
                      <a:pPr/>
                    </a:p>
                  </a:txBody>
                  <a:tcPr marL="0" marR="0" marB="0" marT="1009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5" b="1">
                          <a:latin typeface="Microsoft YaHei"/>
                          <a:cs typeface="Microsoft YaHei"/>
                        </a:rPr>
                        <a:t>中点</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0" b="1">
                          <a:latin typeface="Microsoft YaHei"/>
                          <a:cs typeface="Microsoft YaHei"/>
                        </a:rPr>
                        <a:t>2.72</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0" b="1">
                          <a:latin typeface="Microsoft YaHei"/>
                          <a:cs typeface="Microsoft YaHei"/>
                        </a:rPr>
                        <a:t>0.72</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635">
                        <a:lnSpc>
                          <a:spcPct val="100000"/>
                        </a:lnSpc>
                        <a:spcBef>
                          <a:spcPts val="270"/>
                        </a:spcBef>
                      </a:pPr>
                      <a:r>
                        <a:rPr dirty="0" sz="900" spc="-10" b="1">
                          <a:latin typeface="Microsoft YaHei"/>
                          <a:cs typeface="Microsoft YaHei"/>
                        </a:rPr>
                        <a:t>11.41</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0" b="1">
                          <a:latin typeface="Microsoft YaHei"/>
                          <a:cs typeface="Microsoft YaHei"/>
                        </a:rPr>
                        <a:t>1.92</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635">
                        <a:lnSpc>
                          <a:spcPct val="100000"/>
                        </a:lnSpc>
                        <a:spcBef>
                          <a:spcPts val="270"/>
                        </a:spcBef>
                      </a:pPr>
                      <a:r>
                        <a:rPr dirty="0" sz="900" spc="-10" b="1">
                          <a:latin typeface="Microsoft YaHei"/>
                          <a:cs typeface="Microsoft YaHei"/>
                        </a:rPr>
                        <a:t>13.34</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635">
                        <a:lnSpc>
                          <a:spcPct val="100000"/>
                        </a:lnSpc>
                        <a:spcBef>
                          <a:spcPts val="270"/>
                        </a:spcBef>
                      </a:pPr>
                      <a:r>
                        <a:rPr dirty="0" sz="900" spc="-10" b="1">
                          <a:latin typeface="Microsoft YaHei"/>
                          <a:cs typeface="Microsoft YaHei"/>
                        </a:rPr>
                        <a:t>16.78</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8120">
                <a:tc vMerge="1">
                  <a:txBody>
                    <a:bodyPr/>
                    <a:lstStyle/>
                    <a:p>
                      <a:pPr/>
                    </a:p>
                  </a:txBody>
                  <a:tcPr marL="0" marR="0" marB="0" marT="1009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5" b="1">
                          <a:latin typeface="Microsoft YaHei"/>
                          <a:cs typeface="Microsoft YaHei"/>
                        </a:rPr>
                        <a:t>远点</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0" b="1">
                          <a:latin typeface="Microsoft YaHei"/>
                          <a:cs typeface="Microsoft YaHei"/>
                        </a:rPr>
                        <a:t>3.13</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0" b="1">
                          <a:latin typeface="Microsoft YaHei"/>
                          <a:cs typeface="Microsoft YaHei"/>
                        </a:rPr>
                        <a:t>0.71</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635">
                        <a:lnSpc>
                          <a:spcPct val="100000"/>
                        </a:lnSpc>
                        <a:spcBef>
                          <a:spcPts val="270"/>
                        </a:spcBef>
                      </a:pPr>
                      <a:r>
                        <a:rPr dirty="0" sz="900" spc="-10" b="1">
                          <a:latin typeface="Microsoft YaHei"/>
                          <a:cs typeface="Microsoft YaHei"/>
                        </a:rPr>
                        <a:t>11.64</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70"/>
                        </a:spcBef>
                      </a:pPr>
                      <a:r>
                        <a:rPr dirty="0" sz="900" spc="-20" b="1">
                          <a:latin typeface="Microsoft YaHei"/>
                          <a:cs typeface="Microsoft YaHei"/>
                        </a:rPr>
                        <a:t>1.51</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635">
                        <a:lnSpc>
                          <a:spcPct val="100000"/>
                        </a:lnSpc>
                        <a:spcBef>
                          <a:spcPts val="270"/>
                        </a:spcBef>
                      </a:pPr>
                      <a:r>
                        <a:rPr dirty="0" sz="900" spc="-10" b="1">
                          <a:latin typeface="Microsoft YaHei"/>
                          <a:cs typeface="Microsoft YaHei"/>
                        </a:rPr>
                        <a:t>13.15</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635">
                        <a:lnSpc>
                          <a:spcPct val="100000"/>
                        </a:lnSpc>
                        <a:spcBef>
                          <a:spcPts val="270"/>
                        </a:spcBef>
                      </a:pPr>
                      <a:r>
                        <a:rPr dirty="0" sz="900" spc="-10" b="1">
                          <a:latin typeface="Microsoft YaHei"/>
                          <a:cs typeface="Microsoft YaHei"/>
                        </a:rPr>
                        <a:t>17.00</a:t>
                      </a:r>
                      <a:endParaRPr sz="900">
                        <a:latin typeface="Microsoft YaHei"/>
                        <a:cs typeface="Microsoft YaHei"/>
                      </a:endParaRPr>
                    </a:p>
                  </a:txBody>
                  <a:tcPr marL="0" marR="0" marB="0" marT="342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7102" y="114490"/>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35"/>
              <a:t>网络</a:t>
            </a:r>
            <a:r>
              <a:rPr dirty="0" spc="-45" b="0">
                <a:latin typeface="SimSun"/>
                <a:cs typeface="SimSun"/>
              </a:rPr>
              <a:t>峰值速率</a:t>
            </a:r>
            <a:r>
              <a:rPr dirty="0" spc="-45"/>
              <a:t>测试</a:t>
            </a:r>
          </a:p>
        </p:txBody>
      </p:sp>
      <p:pic>
        <p:nvPicPr>
          <p:cNvPr id="3" name="object 3"/>
          <p:cNvPicPr/>
          <p:nvPr/>
        </p:nvPicPr>
        <p:blipFill>
          <a:blip r:embed="rId2" cstate="print"/>
          <a:stretch>
            <a:fillRect/>
          </a:stretch>
        </p:blipFill>
        <p:spPr>
          <a:xfrm>
            <a:off x="900113" y="915987"/>
            <a:ext cx="7775574" cy="3865562"/>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7102" y="109918"/>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网络峰值速率测试</a:t>
            </a:r>
          </a:p>
        </p:txBody>
      </p:sp>
      <p:pic>
        <p:nvPicPr>
          <p:cNvPr id="3" name="object 3"/>
          <p:cNvPicPr/>
          <p:nvPr/>
        </p:nvPicPr>
        <p:blipFill>
          <a:blip r:embed="rId2" cstate="print"/>
          <a:stretch>
            <a:fillRect/>
          </a:stretch>
        </p:blipFill>
        <p:spPr>
          <a:xfrm>
            <a:off x="457200" y="819150"/>
            <a:ext cx="8207374" cy="4114799"/>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64289" y="107934"/>
            <a:ext cx="3686810" cy="513080"/>
          </a:xfrm>
          <a:prstGeom prst="rect"/>
        </p:spPr>
        <p:txBody>
          <a:bodyPr wrap="square" lIns="0" tIns="12065" rIns="0" bIns="0" rtlCol="0" vert="horz">
            <a:spAutoFit/>
          </a:bodyPr>
          <a:lstStyle/>
          <a:p>
            <a:pPr marL="12700">
              <a:lnSpc>
                <a:spcPct val="100000"/>
              </a:lnSpc>
              <a:spcBef>
                <a:spcPts val="95"/>
              </a:spcBef>
            </a:pPr>
            <a:r>
              <a:rPr dirty="0" spc="-45"/>
              <a:t>单小区峰值能力验证</a:t>
            </a:r>
          </a:p>
        </p:txBody>
      </p:sp>
      <p:sp>
        <p:nvSpPr>
          <p:cNvPr id="3" name="object 3" descr=""/>
          <p:cNvSpPr txBox="1"/>
          <p:nvPr/>
        </p:nvSpPr>
        <p:spPr>
          <a:xfrm>
            <a:off x="152400" y="1352550"/>
            <a:ext cx="5615940" cy="1177290"/>
          </a:xfrm>
          <a:prstGeom prst="rect">
            <a:avLst/>
          </a:prstGeom>
          <a:ln w="38100">
            <a:solidFill>
              <a:srgbClr val="5F5F5F"/>
            </a:solidFill>
          </a:ln>
        </p:spPr>
        <p:txBody>
          <a:bodyPr wrap="square" lIns="0" tIns="29209" rIns="0" bIns="0" rtlCol="0" vert="horz">
            <a:spAutoFit/>
          </a:bodyPr>
          <a:lstStyle/>
          <a:p>
            <a:pPr marL="282575" indent="-214629">
              <a:lnSpc>
                <a:spcPct val="100000"/>
              </a:lnSpc>
              <a:spcBef>
                <a:spcPts val="229"/>
              </a:spcBef>
              <a:buFont typeface="Wingdings"/>
              <a:buChar char=""/>
              <a:tabLst>
                <a:tab pos="282575" algn="l"/>
              </a:tabLst>
            </a:pPr>
            <a:r>
              <a:rPr dirty="0" sz="900">
                <a:latin typeface="Microsoft YaHei"/>
                <a:cs typeface="Microsoft YaHei"/>
              </a:rPr>
              <a:t>下行峰值速率</a:t>
            </a:r>
            <a:r>
              <a:rPr dirty="0" sz="900" spc="-10">
                <a:latin typeface="Microsoft YaHei"/>
                <a:cs typeface="Microsoft YaHei"/>
              </a:rPr>
              <a:t>（1:3</a:t>
            </a:r>
            <a:r>
              <a:rPr dirty="0" sz="900">
                <a:latin typeface="Microsoft YaHei"/>
                <a:cs typeface="Microsoft YaHei"/>
              </a:rPr>
              <a:t>时隙配比</a:t>
            </a:r>
            <a:r>
              <a:rPr dirty="0" sz="900" spc="-50">
                <a:latin typeface="Microsoft YaHei"/>
                <a:cs typeface="Microsoft YaHei"/>
              </a:rPr>
              <a:t>）</a:t>
            </a:r>
            <a:endParaRPr sz="900">
              <a:latin typeface="Microsoft YaHei"/>
              <a:cs typeface="Microsoft YaHei"/>
            </a:endParaRPr>
          </a:p>
          <a:p>
            <a:pPr marL="282575" indent="-214629">
              <a:lnSpc>
                <a:spcPct val="100000"/>
              </a:lnSpc>
              <a:spcBef>
                <a:spcPts val="5"/>
              </a:spcBef>
              <a:buFont typeface="Wingdings"/>
              <a:buChar char=""/>
              <a:tabLst>
                <a:tab pos="282575" algn="l"/>
              </a:tabLst>
            </a:pPr>
            <a:r>
              <a:rPr dirty="0" sz="900" spc="-10">
                <a:latin typeface="Microsoft YaHei"/>
                <a:cs typeface="Microsoft YaHei"/>
              </a:rPr>
              <a:t>4T8R</a:t>
            </a:r>
            <a:r>
              <a:rPr dirty="0" sz="900">
                <a:latin typeface="Microsoft YaHei"/>
                <a:cs typeface="Microsoft YaHei"/>
              </a:rPr>
              <a:t>约为</a:t>
            </a:r>
            <a:r>
              <a:rPr dirty="0" sz="900" spc="-10">
                <a:latin typeface="Microsoft YaHei"/>
                <a:cs typeface="Microsoft YaHei"/>
              </a:rPr>
              <a:t>3.1Gbps，2T4R</a:t>
            </a:r>
            <a:r>
              <a:rPr dirty="0" sz="900">
                <a:latin typeface="Microsoft YaHei"/>
                <a:cs typeface="Microsoft YaHei"/>
              </a:rPr>
              <a:t>为</a:t>
            </a:r>
            <a:r>
              <a:rPr dirty="0" sz="900" spc="-10">
                <a:latin typeface="Microsoft YaHei"/>
                <a:cs typeface="Microsoft YaHei"/>
              </a:rPr>
              <a:t>1.6Gbps</a:t>
            </a:r>
            <a:r>
              <a:rPr dirty="0" sz="900" spc="-25">
                <a:latin typeface="Microsoft YaHei"/>
                <a:cs typeface="Microsoft YaHei"/>
              </a:rPr>
              <a:t>左右</a:t>
            </a:r>
            <a:endParaRPr sz="900">
              <a:latin typeface="Microsoft YaHei"/>
              <a:cs typeface="Microsoft YaHei"/>
            </a:endParaRPr>
          </a:p>
          <a:p>
            <a:pPr marL="282575" indent="-214629">
              <a:lnSpc>
                <a:spcPct val="100000"/>
              </a:lnSpc>
              <a:buFont typeface="Wingdings"/>
              <a:buChar char=""/>
              <a:tabLst>
                <a:tab pos="282575" algn="l"/>
              </a:tabLst>
            </a:pPr>
            <a:r>
              <a:rPr dirty="0" sz="900" spc="-5">
                <a:latin typeface="Microsoft YaHei"/>
                <a:cs typeface="Microsoft YaHei"/>
              </a:rPr>
              <a:t>下行理论值：</a:t>
            </a:r>
            <a:r>
              <a:rPr dirty="0" sz="900" spc="-10">
                <a:latin typeface="Microsoft YaHei"/>
                <a:cs typeface="Microsoft YaHei"/>
              </a:rPr>
              <a:t>100MHz*75%*8/4</a:t>
            </a:r>
            <a:r>
              <a:rPr dirty="0" sz="900">
                <a:latin typeface="Microsoft YaHei"/>
                <a:cs typeface="Microsoft YaHei"/>
              </a:rPr>
              <a:t>流</a:t>
            </a:r>
            <a:r>
              <a:rPr dirty="0" sz="900" spc="-10">
                <a:latin typeface="Microsoft YaHei"/>
                <a:cs typeface="Microsoft YaHei"/>
              </a:rPr>
              <a:t>*8（256QAM）*91%（</a:t>
            </a:r>
            <a:r>
              <a:rPr dirty="0" sz="900">
                <a:latin typeface="Microsoft YaHei"/>
                <a:cs typeface="Microsoft YaHei"/>
              </a:rPr>
              <a:t>码率</a:t>
            </a:r>
            <a:r>
              <a:rPr dirty="0" sz="900" spc="-10">
                <a:latin typeface="Microsoft YaHei"/>
                <a:cs typeface="Microsoft YaHei"/>
              </a:rPr>
              <a:t>）*95%（BLER）*0.75（</a:t>
            </a:r>
            <a:r>
              <a:rPr dirty="0" sz="900">
                <a:latin typeface="Microsoft YaHei"/>
                <a:cs typeface="Microsoft YaHei"/>
              </a:rPr>
              <a:t>下行比例</a:t>
            </a:r>
            <a:r>
              <a:rPr dirty="0" sz="900" spc="-50">
                <a:latin typeface="Microsoft YaHei"/>
                <a:cs typeface="Microsoft YaHei"/>
              </a:rPr>
              <a:t>）</a:t>
            </a:r>
            <a:endParaRPr sz="900">
              <a:latin typeface="Microsoft YaHei"/>
              <a:cs typeface="Microsoft YaHei"/>
            </a:endParaRPr>
          </a:p>
          <a:p>
            <a:pPr marL="281940">
              <a:lnSpc>
                <a:spcPts val="1075"/>
              </a:lnSpc>
            </a:pPr>
            <a:r>
              <a:rPr dirty="0" sz="900" spc="-10">
                <a:latin typeface="Microsoft YaHei"/>
                <a:cs typeface="Microsoft YaHei"/>
              </a:rPr>
              <a:t>=</a:t>
            </a:r>
            <a:r>
              <a:rPr dirty="0" sz="900" spc="-10">
                <a:solidFill>
                  <a:srgbClr val="FF0000"/>
                </a:solidFill>
                <a:latin typeface="Microsoft YaHei"/>
                <a:cs typeface="Microsoft YaHei"/>
              </a:rPr>
              <a:t>3.1</a:t>
            </a:r>
            <a:r>
              <a:rPr dirty="0" sz="900" spc="-10">
                <a:latin typeface="Microsoft YaHei"/>
                <a:cs typeface="Microsoft YaHei"/>
              </a:rPr>
              <a:t>/1.55Gbps</a:t>
            </a:r>
            <a:endParaRPr sz="900">
              <a:latin typeface="Microsoft YaHei"/>
              <a:cs typeface="Microsoft YaHei"/>
            </a:endParaRPr>
          </a:p>
          <a:p>
            <a:pPr marL="282575" marR="186055" indent="-214629">
              <a:lnSpc>
                <a:spcPts val="1440"/>
              </a:lnSpc>
              <a:spcBef>
                <a:spcPts val="40"/>
              </a:spcBef>
              <a:buFont typeface="Wingdings"/>
              <a:buChar char=""/>
              <a:tabLst>
                <a:tab pos="282575" algn="l"/>
              </a:tabLst>
            </a:pPr>
            <a:r>
              <a:rPr dirty="0" sz="1200" spc="-5">
                <a:latin typeface="Microsoft YaHei"/>
                <a:cs typeface="Microsoft YaHei"/>
              </a:rPr>
              <a:t>上行理论值：</a:t>
            </a:r>
            <a:r>
              <a:rPr dirty="0" sz="1200" spc="-10">
                <a:latin typeface="Microsoft YaHei"/>
                <a:cs typeface="Microsoft YaHei"/>
              </a:rPr>
              <a:t>2（</a:t>
            </a:r>
            <a:r>
              <a:rPr dirty="0" sz="1200">
                <a:latin typeface="Microsoft YaHei"/>
                <a:cs typeface="Microsoft YaHei"/>
              </a:rPr>
              <a:t>每</a:t>
            </a:r>
            <a:r>
              <a:rPr dirty="0" sz="1200" spc="-10">
                <a:latin typeface="Microsoft YaHei"/>
                <a:cs typeface="Microsoft YaHei"/>
              </a:rPr>
              <a:t>1ms</a:t>
            </a:r>
            <a:r>
              <a:rPr dirty="0" sz="1200">
                <a:latin typeface="Microsoft YaHei"/>
                <a:cs typeface="Microsoft YaHei"/>
              </a:rPr>
              <a:t>子帧有</a:t>
            </a:r>
            <a:r>
              <a:rPr dirty="0" sz="1200" spc="-10">
                <a:latin typeface="Microsoft YaHei"/>
                <a:cs typeface="Microsoft YaHei"/>
              </a:rPr>
              <a:t>2</a:t>
            </a:r>
            <a:r>
              <a:rPr dirty="0" sz="1200">
                <a:latin typeface="Microsoft YaHei"/>
                <a:cs typeface="Microsoft YaHei"/>
              </a:rPr>
              <a:t>个</a:t>
            </a:r>
            <a:r>
              <a:rPr dirty="0" sz="1200" spc="-20">
                <a:latin typeface="Microsoft YaHei"/>
                <a:cs typeface="Microsoft YaHei"/>
              </a:rPr>
              <a:t>U</a:t>
            </a:r>
            <a:r>
              <a:rPr dirty="0" sz="1200">
                <a:latin typeface="Microsoft YaHei"/>
                <a:cs typeface="Microsoft YaHei"/>
              </a:rPr>
              <a:t>子帧） *</a:t>
            </a:r>
            <a:r>
              <a:rPr dirty="0" sz="1200" spc="390">
                <a:latin typeface="Microsoft YaHei"/>
                <a:cs typeface="Microsoft YaHei"/>
              </a:rPr>
              <a:t> </a:t>
            </a:r>
            <a:r>
              <a:rPr dirty="0" sz="1200" spc="-10">
                <a:latin typeface="Microsoft YaHei"/>
                <a:cs typeface="Microsoft YaHei"/>
              </a:rPr>
              <a:t>6（</a:t>
            </a:r>
            <a:r>
              <a:rPr dirty="0" sz="1200">
                <a:latin typeface="Microsoft YaHei"/>
                <a:cs typeface="Microsoft YaHei"/>
              </a:rPr>
              <a:t>每</a:t>
            </a:r>
            <a:r>
              <a:rPr dirty="0" sz="1200" spc="-20">
                <a:latin typeface="Microsoft YaHei"/>
                <a:cs typeface="Microsoft YaHei"/>
              </a:rPr>
              <a:t>U</a:t>
            </a:r>
            <a:r>
              <a:rPr dirty="0" sz="1200">
                <a:latin typeface="Microsoft YaHei"/>
                <a:cs typeface="Microsoft YaHei"/>
              </a:rPr>
              <a:t>子帧有</a:t>
            </a:r>
            <a:r>
              <a:rPr dirty="0" sz="1200" spc="-10">
                <a:latin typeface="Microsoft YaHei"/>
                <a:cs typeface="Microsoft YaHei"/>
              </a:rPr>
              <a:t>6</a:t>
            </a:r>
            <a:r>
              <a:rPr dirty="0" sz="1200">
                <a:latin typeface="Microsoft YaHei"/>
                <a:cs typeface="Microsoft YaHei"/>
              </a:rPr>
              <a:t>个</a:t>
            </a:r>
            <a:r>
              <a:rPr dirty="0" sz="1200" spc="-10">
                <a:latin typeface="Microsoft YaHei"/>
                <a:cs typeface="Microsoft YaHei"/>
              </a:rPr>
              <a:t>Symbol</a:t>
            </a:r>
            <a:r>
              <a:rPr dirty="0" sz="1200" spc="-25">
                <a:latin typeface="Microsoft YaHei"/>
                <a:cs typeface="Microsoft YaHei"/>
              </a:rPr>
              <a:t>可用</a:t>
            </a:r>
            <a:r>
              <a:rPr dirty="0" sz="1200">
                <a:latin typeface="Microsoft YaHei"/>
                <a:cs typeface="Microsoft YaHei"/>
              </a:rPr>
              <a:t>于数据块传输）</a:t>
            </a:r>
            <a:r>
              <a:rPr dirty="0" sz="1200" spc="5">
                <a:latin typeface="Microsoft YaHei"/>
                <a:cs typeface="Microsoft YaHei"/>
              </a:rPr>
              <a:t> </a:t>
            </a:r>
            <a:r>
              <a:rPr dirty="0" sz="1200">
                <a:latin typeface="Microsoft YaHei"/>
                <a:cs typeface="Microsoft YaHei"/>
              </a:rPr>
              <a:t>*</a:t>
            </a:r>
            <a:r>
              <a:rPr dirty="0" sz="1200" spc="15">
                <a:latin typeface="Microsoft YaHei"/>
                <a:cs typeface="Microsoft YaHei"/>
              </a:rPr>
              <a:t> </a:t>
            </a:r>
            <a:r>
              <a:rPr dirty="0" sz="1200" spc="-10">
                <a:latin typeface="Microsoft YaHei"/>
                <a:cs typeface="Microsoft YaHei"/>
              </a:rPr>
              <a:t>12（</a:t>
            </a:r>
            <a:r>
              <a:rPr dirty="0" sz="1200">
                <a:latin typeface="Microsoft YaHei"/>
                <a:cs typeface="Microsoft YaHei"/>
              </a:rPr>
              <a:t>每个</a:t>
            </a:r>
            <a:r>
              <a:rPr dirty="0" sz="1200" spc="-20">
                <a:latin typeface="Microsoft YaHei"/>
                <a:cs typeface="Microsoft YaHei"/>
              </a:rPr>
              <a:t>RB</a:t>
            </a:r>
            <a:r>
              <a:rPr dirty="0" sz="1200">
                <a:latin typeface="Microsoft YaHei"/>
                <a:cs typeface="Microsoft YaHei"/>
              </a:rPr>
              <a:t>子载波</a:t>
            </a:r>
            <a:r>
              <a:rPr dirty="0" sz="1200" spc="-10">
                <a:latin typeface="Microsoft YaHei"/>
                <a:cs typeface="Microsoft YaHei"/>
              </a:rPr>
              <a:t>）*136（RB</a:t>
            </a:r>
            <a:r>
              <a:rPr dirty="0" sz="1200">
                <a:latin typeface="Microsoft YaHei"/>
                <a:cs typeface="Microsoft YaHei"/>
              </a:rPr>
              <a:t>数）*</a:t>
            </a:r>
            <a:r>
              <a:rPr dirty="0" sz="1200" spc="15">
                <a:latin typeface="Microsoft YaHei"/>
                <a:cs typeface="Microsoft YaHei"/>
              </a:rPr>
              <a:t> </a:t>
            </a:r>
            <a:r>
              <a:rPr dirty="0" sz="1200" spc="-10">
                <a:latin typeface="Microsoft YaHei"/>
                <a:cs typeface="Microsoft YaHei"/>
              </a:rPr>
              <a:t>6（64QAM）*0.89</a:t>
            </a:r>
            <a:endParaRPr sz="1200">
              <a:latin typeface="Microsoft YaHei"/>
              <a:cs typeface="Microsoft YaHei"/>
            </a:endParaRPr>
          </a:p>
          <a:p>
            <a:pPr marL="282575">
              <a:lnSpc>
                <a:spcPts val="1390"/>
              </a:lnSpc>
            </a:pPr>
            <a:r>
              <a:rPr dirty="0" sz="1200">
                <a:latin typeface="Microsoft YaHei"/>
                <a:cs typeface="Microsoft YaHei"/>
              </a:rPr>
              <a:t>（码率</a:t>
            </a:r>
            <a:r>
              <a:rPr dirty="0" sz="1200" spc="-10">
                <a:latin typeface="Microsoft YaHei"/>
                <a:cs typeface="Microsoft YaHei"/>
              </a:rPr>
              <a:t>）*2（2</a:t>
            </a:r>
            <a:r>
              <a:rPr dirty="0" sz="1200">
                <a:latin typeface="Microsoft YaHei"/>
                <a:cs typeface="Microsoft YaHei"/>
              </a:rPr>
              <a:t>流</a:t>
            </a:r>
            <a:r>
              <a:rPr dirty="0" sz="1200" spc="-10">
                <a:latin typeface="Microsoft YaHei"/>
                <a:cs typeface="Microsoft YaHei"/>
              </a:rPr>
              <a:t>）=</a:t>
            </a:r>
            <a:r>
              <a:rPr dirty="0" sz="1200" spc="-10">
                <a:solidFill>
                  <a:srgbClr val="FF0000"/>
                </a:solidFill>
                <a:latin typeface="Microsoft YaHei"/>
                <a:cs typeface="Microsoft YaHei"/>
              </a:rPr>
              <a:t>209</a:t>
            </a:r>
            <a:r>
              <a:rPr dirty="0" sz="1200" spc="-10">
                <a:latin typeface="Microsoft YaHei"/>
                <a:cs typeface="Microsoft YaHei"/>
              </a:rPr>
              <a:t>Mbps</a:t>
            </a:r>
            <a:endParaRPr sz="1200">
              <a:latin typeface="Microsoft YaHei"/>
              <a:cs typeface="Microsoft YaHei"/>
            </a:endParaRPr>
          </a:p>
        </p:txBody>
      </p:sp>
      <p:graphicFrame>
        <p:nvGraphicFramePr>
          <p:cNvPr id="4" name="object 4" descr=""/>
          <p:cNvGraphicFramePr>
            <a:graphicFrameLocks noGrp="1"/>
          </p:cNvGraphicFramePr>
          <p:nvPr/>
        </p:nvGraphicFramePr>
        <p:xfrm>
          <a:off x="222250" y="2565400"/>
          <a:ext cx="5363210" cy="1472565"/>
        </p:xfrm>
        <a:graphic>
          <a:graphicData uri="http://schemas.openxmlformats.org/drawingml/2006/table">
            <a:tbl>
              <a:tblPr firstRow="1" bandRow="1">
                <a:tableStyleId>{2D5ABB26-0587-4C30-8999-92F81FD0307C}</a:tableStyleId>
              </a:tblPr>
              <a:tblGrid>
                <a:gridCol w="768350"/>
                <a:gridCol w="733425"/>
                <a:gridCol w="820419"/>
                <a:gridCol w="820419"/>
                <a:gridCol w="743585"/>
                <a:gridCol w="621664"/>
                <a:gridCol w="767079"/>
              </a:tblGrid>
              <a:tr h="418465">
                <a:tc>
                  <a:txBody>
                    <a:bodyPr/>
                    <a:lstStyle/>
                    <a:p>
                      <a:pPr>
                        <a:lnSpc>
                          <a:spcPct val="100000"/>
                        </a:lnSpc>
                      </a:pPr>
                      <a:endParaRPr sz="13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905"/>
                        </a:spcBef>
                      </a:pPr>
                      <a:r>
                        <a:rPr dirty="0" sz="1200" spc="-20" b="1">
                          <a:latin typeface="Microsoft JhengHei"/>
                          <a:cs typeface="Microsoft JhengHei"/>
                        </a:rPr>
                        <a:t>吞吐量</a:t>
                      </a:r>
                      <a:endParaRPr sz="1200">
                        <a:latin typeface="Microsoft JhengHei"/>
                        <a:cs typeface="Microsoft JhengHei"/>
                      </a:endParaRPr>
                    </a:p>
                  </a:txBody>
                  <a:tcPr marL="0" marR="0" marB="0" marT="1149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905"/>
                        </a:spcBef>
                      </a:pPr>
                      <a:r>
                        <a:rPr dirty="0" sz="1200" b="1">
                          <a:latin typeface="Microsoft JhengHei"/>
                          <a:cs typeface="Microsoft JhengHei"/>
                        </a:rPr>
                        <a:t>平均</a:t>
                      </a:r>
                      <a:r>
                        <a:rPr dirty="0" sz="1200" spc="-20" b="1">
                          <a:latin typeface="Arial"/>
                          <a:cs typeface="Arial"/>
                        </a:rPr>
                        <a:t>RSRP</a:t>
                      </a:r>
                      <a:endParaRPr sz="1200">
                        <a:latin typeface="Arial"/>
                        <a:cs typeface="Arial"/>
                      </a:endParaRPr>
                    </a:p>
                  </a:txBody>
                  <a:tcPr marL="0" marR="0" marB="0" marT="1149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905"/>
                        </a:spcBef>
                      </a:pPr>
                      <a:r>
                        <a:rPr dirty="0" sz="1200" b="1">
                          <a:latin typeface="Microsoft JhengHei"/>
                          <a:cs typeface="Microsoft JhengHei"/>
                        </a:rPr>
                        <a:t>平均</a:t>
                      </a:r>
                      <a:r>
                        <a:rPr dirty="0" sz="1200" spc="-20" b="1">
                          <a:latin typeface="Arial"/>
                          <a:cs typeface="Arial"/>
                        </a:rPr>
                        <a:t>SINR</a:t>
                      </a:r>
                      <a:endParaRPr sz="1200">
                        <a:latin typeface="Arial"/>
                        <a:cs typeface="Arial"/>
                      </a:endParaRPr>
                    </a:p>
                  </a:txBody>
                  <a:tcPr marL="0" marR="0" marB="0" marT="1149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905"/>
                        </a:spcBef>
                      </a:pPr>
                      <a:r>
                        <a:rPr dirty="0" sz="1200" b="1">
                          <a:latin typeface="Microsoft JhengHei"/>
                          <a:cs typeface="Microsoft JhengHei"/>
                        </a:rPr>
                        <a:t>平均</a:t>
                      </a:r>
                      <a:r>
                        <a:rPr dirty="0" sz="1200" spc="-25" b="1">
                          <a:latin typeface="Arial"/>
                          <a:cs typeface="Arial"/>
                        </a:rPr>
                        <a:t>MCS</a:t>
                      </a:r>
                      <a:endParaRPr sz="1200">
                        <a:latin typeface="Arial"/>
                        <a:cs typeface="Arial"/>
                      </a:endParaRPr>
                    </a:p>
                  </a:txBody>
                  <a:tcPr marL="0" marR="0" marB="0" marT="1149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marL="158115">
                        <a:lnSpc>
                          <a:spcPts val="1430"/>
                        </a:lnSpc>
                        <a:spcBef>
                          <a:spcPts val="185"/>
                        </a:spcBef>
                      </a:pPr>
                      <a:r>
                        <a:rPr dirty="0" sz="1200" spc="-25" b="1">
                          <a:latin typeface="Microsoft JhengHei"/>
                          <a:cs typeface="Microsoft JhengHei"/>
                        </a:rPr>
                        <a:t>平均</a:t>
                      </a:r>
                      <a:endParaRPr sz="1200">
                        <a:latin typeface="Microsoft JhengHei"/>
                        <a:cs typeface="Microsoft JhengHei"/>
                      </a:endParaRPr>
                    </a:p>
                    <a:p>
                      <a:pPr marL="91440">
                        <a:lnSpc>
                          <a:spcPts val="1430"/>
                        </a:lnSpc>
                      </a:pPr>
                      <a:r>
                        <a:rPr dirty="0" sz="1200" spc="-20" b="1">
                          <a:latin typeface="Arial"/>
                          <a:cs typeface="Arial"/>
                        </a:rPr>
                        <a:t>RANK</a:t>
                      </a:r>
                      <a:endParaRPr sz="1200">
                        <a:latin typeface="Arial"/>
                        <a:cs typeface="Arial"/>
                      </a:endParaRPr>
                    </a:p>
                  </a:txBody>
                  <a:tcPr marL="0" marR="0" marB="0" marT="2349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890"/>
                        </a:spcBef>
                      </a:pPr>
                      <a:r>
                        <a:rPr dirty="0" sz="1200" spc="-10" b="1">
                          <a:latin typeface="Arial"/>
                          <a:cs typeface="Arial"/>
                        </a:rPr>
                        <a:t>BLER(%)</a:t>
                      </a:r>
                      <a:endParaRPr sz="1200">
                        <a:latin typeface="Arial"/>
                        <a:cs typeface="Arial"/>
                      </a:endParaRPr>
                    </a:p>
                  </a:txBody>
                  <a:tcPr marL="0" marR="0" marB="0" marT="11303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r>
              <a:tr h="263525">
                <a:tc>
                  <a:txBody>
                    <a:bodyPr/>
                    <a:lstStyle/>
                    <a:p>
                      <a:pPr algn="ctr">
                        <a:lnSpc>
                          <a:spcPct val="100000"/>
                        </a:lnSpc>
                        <a:spcBef>
                          <a:spcPts val="300"/>
                        </a:spcBef>
                      </a:pPr>
                      <a:r>
                        <a:rPr dirty="0" sz="1200" spc="-10" b="1">
                          <a:latin typeface="Arial"/>
                          <a:cs typeface="Arial"/>
                        </a:rPr>
                        <a:t>4T8R</a:t>
                      </a:r>
                      <a:r>
                        <a:rPr dirty="0" sz="1200" spc="-25" b="1">
                          <a:latin typeface="Microsoft JhengHei"/>
                          <a:cs typeface="Microsoft JhengHei"/>
                        </a:rPr>
                        <a:t>下行</a:t>
                      </a:r>
                      <a:endParaRPr sz="1200">
                        <a:latin typeface="Microsoft JhengHei"/>
                        <a:cs typeface="Microsoft JhengHei"/>
                      </a:endParaRPr>
                    </a:p>
                  </a:txBody>
                  <a:tcPr marL="0" marR="0" marB="0" marT="381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10" b="1">
                          <a:latin typeface="Arial"/>
                          <a:cs typeface="Arial"/>
                        </a:rPr>
                        <a:t>2.98Gbps</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10" b="1">
                          <a:latin typeface="Arial"/>
                          <a:cs typeface="Arial"/>
                        </a:rPr>
                        <a:t>-</a:t>
                      </a:r>
                      <a:r>
                        <a:rPr dirty="0" sz="1200" spc="-25" b="1">
                          <a:latin typeface="Arial"/>
                          <a:cs typeface="Arial"/>
                        </a:rPr>
                        <a:t>75</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25" b="1">
                          <a:latin typeface="Arial"/>
                          <a:cs typeface="Arial"/>
                        </a:rPr>
                        <a:t>26</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25" b="1">
                          <a:latin typeface="Arial"/>
                          <a:cs typeface="Arial"/>
                        </a:rPr>
                        <a:t>22</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50" b="1">
                          <a:latin typeface="Arial"/>
                          <a:cs typeface="Arial"/>
                        </a:rPr>
                        <a:t>8</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marL="1905">
                        <a:lnSpc>
                          <a:spcPct val="100000"/>
                        </a:lnSpc>
                        <a:spcBef>
                          <a:spcPts val="280"/>
                        </a:spcBef>
                      </a:pPr>
                      <a:r>
                        <a:rPr dirty="0" sz="1200" spc="-10" b="1">
                          <a:latin typeface="Arial"/>
                          <a:cs typeface="Arial"/>
                        </a:rPr>
                        <a:t>5.30%</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r>
              <a:tr h="263525">
                <a:tc>
                  <a:txBody>
                    <a:bodyPr/>
                    <a:lstStyle/>
                    <a:p>
                      <a:pPr algn="ctr">
                        <a:lnSpc>
                          <a:spcPct val="100000"/>
                        </a:lnSpc>
                        <a:spcBef>
                          <a:spcPts val="300"/>
                        </a:spcBef>
                      </a:pPr>
                      <a:r>
                        <a:rPr dirty="0" sz="1200" spc="-10" b="1">
                          <a:latin typeface="Arial"/>
                          <a:cs typeface="Arial"/>
                        </a:rPr>
                        <a:t>2T4R</a:t>
                      </a:r>
                      <a:r>
                        <a:rPr dirty="0" sz="1200" spc="-25" b="1">
                          <a:latin typeface="Microsoft JhengHei"/>
                          <a:cs typeface="Microsoft JhengHei"/>
                        </a:rPr>
                        <a:t>下行</a:t>
                      </a:r>
                      <a:endParaRPr sz="1200">
                        <a:latin typeface="Microsoft JhengHei"/>
                        <a:cs typeface="Microsoft JhengHei"/>
                      </a:endParaRPr>
                    </a:p>
                  </a:txBody>
                  <a:tcPr marL="0" marR="0" marB="0" marT="381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10" b="1">
                          <a:latin typeface="Arial"/>
                          <a:cs typeface="Arial"/>
                        </a:rPr>
                        <a:t>1.4Gbps</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10" b="1">
                          <a:latin typeface="Arial"/>
                          <a:cs typeface="Arial"/>
                        </a:rPr>
                        <a:t>-</a:t>
                      </a:r>
                      <a:r>
                        <a:rPr dirty="0" sz="1200" spc="-25" b="1">
                          <a:latin typeface="Arial"/>
                          <a:cs typeface="Arial"/>
                        </a:rPr>
                        <a:t>76</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25" b="1">
                          <a:latin typeface="Arial"/>
                          <a:cs typeface="Arial"/>
                        </a:rPr>
                        <a:t>23</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25" b="1">
                          <a:latin typeface="Arial"/>
                          <a:cs typeface="Arial"/>
                        </a:rPr>
                        <a:t>22</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50" b="1">
                          <a:latin typeface="Arial"/>
                          <a:cs typeface="Arial"/>
                        </a:rPr>
                        <a:t>4</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marL="1905">
                        <a:lnSpc>
                          <a:spcPct val="100000"/>
                        </a:lnSpc>
                        <a:spcBef>
                          <a:spcPts val="280"/>
                        </a:spcBef>
                      </a:pPr>
                      <a:r>
                        <a:rPr dirty="0" sz="1200" spc="-10" b="1">
                          <a:latin typeface="Arial"/>
                          <a:cs typeface="Arial"/>
                        </a:rPr>
                        <a:t>1.70%</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r>
              <a:tr h="263525">
                <a:tc>
                  <a:txBody>
                    <a:bodyPr/>
                    <a:lstStyle/>
                    <a:p>
                      <a:pPr algn="ctr">
                        <a:lnSpc>
                          <a:spcPct val="100000"/>
                        </a:lnSpc>
                        <a:spcBef>
                          <a:spcPts val="300"/>
                        </a:spcBef>
                      </a:pPr>
                      <a:r>
                        <a:rPr dirty="0" sz="1200" spc="-10" b="1">
                          <a:latin typeface="Arial"/>
                          <a:cs typeface="Arial"/>
                        </a:rPr>
                        <a:t>4T8R</a:t>
                      </a:r>
                      <a:r>
                        <a:rPr dirty="0" sz="1200" spc="-25" b="1">
                          <a:latin typeface="Microsoft JhengHei"/>
                          <a:cs typeface="Microsoft JhengHei"/>
                        </a:rPr>
                        <a:t>上行</a:t>
                      </a:r>
                      <a:endParaRPr sz="1200">
                        <a:latin typeface="Microsoft JhengHei"/>
                        <a:cs typeface="Microsoft JhengHei"/>
                      </a:endParaRPr>
                    </a:p>
                  </a:txBody>
                  <a:tcPr marL="0" marR="0" marB="0" marT="381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10" b="1">
                          <a:latin typeface="Arial"/>
                          <a:cs typeface="Arial"/>
                        </a:rPr>
                        <a:t>398Mbps</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10" b="1">
                          <a:latin typeface="Arial"/>
                          <a:cs typeface="Arial"/>
                        </a:rPr>
                        <a:t>-</a:t>
                      </a:r>
                      <a:r>
                        <a:rPr dirty="0" sz="1200" spc="-25" b="1">
                          <a:latin typeface="Arial"/>
                          <a:cs typeface="Arial"/>
                        </a:rPr>
                        <a:t>72</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25" b="1">
                          <a:latin typeface="Arial"/>
                          <a:cs typeface="Arial"/>
                        </a:rPr>
                        <a:t>30</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25" b="1">
                          <a:latin typeface="Arial"/>
                          <a:cs typeface="Arial"/>
                        </a:rPr>
                        <a:t>28</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50" b="1">
                          <a:latin typeface="Arial"/>
                          <a:cs typeface="Arial"/>
                        </a:rPr>
                        <a:t>4</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marL="1905">
                        <a:lnSpc>
                          <a:spcPct val="100000"/>
                        </a:lnSpc>
                        <a:spcBef>
                          <a:spcPts val="280"/>
                        </a:spcBef>
                      </a:pPr>
                      <a:r>
                        <a:rPr dirty="0" sz="1200" spc="-25" b="1">
                          <a:latin typeface="Arial"/>
                          <a:cs typeface="Arial"/>
                        </a:rPr>
                        <a:t>0%</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r>
              <a:tr h="263525">
                <a:tc>
                  <a:txBody>
                    <a:bodyPr/>
                    <a:lstStyle/>
                    <a:p>
                      <a:pPr algn="ctr">
                        <a:lnSpc>
                          <a:spcPct val="100000"/>
                        </a:lnSpc>
                        <a:spcBef>
                          <a:spcPts val="300"/>
                        </a:spcBef>
                      </a:pPr>
                      <a:r>
                        <a:rPr dirty="0" sz="1200" spc="-10" b="1">
                          <a:latin typeface="Arial"/>
                          <a:cs typeface="Arial"/>
                        </a:rPr>
                        <a:t>2T4R</a:t>
                      </a:r>
                      <a:r>
                        <a:rPr dirty="0" sz="1200" spc="-25" b="1">
                          <a:latin typeface="Microsoft JhengHei"/>
                          <a:cs typeface="Microsoft JhengHei"/>
                        </a:rPr>
                        <a:t>上行</a:t>
                      </a:r>
                      <a:endParaRPr sz="1200">
                        <a:latin typeface="Microsoft JhengHei"/>
                        <a:cs typeface="Microsoft JhengHei"/>
                      </a:endParaRPr>
                    </a:p>
                  </a:txBody>
                  <a:tcPr marL="0" marR="0" marB="0" marT="381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10" b="1">
                          <a:latin typeface="Arial"/>
                          <a:cs typeface="Arial"/>
                        </a:rPr>
                        <a:t>200Mbps</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10" b="1">
                          <a:latin typeface="Arial"/>
                          <a:cs typeface="Arial"/>
                        </a:rPr>
                        <a:t>-</a:t>
                      </a:r>
                      <a:r>
                        <a:rPr dirty="0" sz="1200" spc="-25" b="1">
                          <a:latin typeface="Arial"/>
                          <a:cs typeface="Arial"/>
                        </a:rPr>
                        <a:t>75</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25" b="1">
                          <a:latin typeface="Arial"/>
                          <a:cs typeface="Arial"/>
                        </a:rPr>
                        <a:t>30</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25" b="1">
                          <a:latin typeface="Arial"/>
                          <a:cs typeface="Arial"/>
                        </a:rPr>
                        <a:t>28</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a:lnSpc>
                          <a:spcPct val="100000"/>
                        </a:lnSpc>
                        <a:spcBef>
                          <a:spcPts val="280"/>
                        </a:spcBef>
                      </a:pPr>
                      <a:r>
                        <a:rPr dirty="0" sz="1200" spc="-50" b="1">
                          <a:latin typeface="Arial"/>
                          <a:cs typeface="Arial"/>
                        </a:rPr>
                        <a:t>2</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c>
                  <a:txBody>
                    <a:bodyPr/>
                    <a:lstStyle/>
                    <a:p>
                      <a:pPr algn="ctr" marL="1905">
                        <a:lnSpc>
                          <a:spcPct val="100000"/>
                        </a:lnSpc>
                        <a:spcBef>
                          <a:spcPts val="280"/>
                        </a:spcBef>
                      </a:pPr>
                      <a:r>
                        <a:rPr dirty="0" sz="1200" spc="-25" b="1">
                          <a:latin typeface="Arial"/>
                          <a:cs typeface="Arial"/>
                        </a:rPr>
                        <a:t>0%</a:t>
                      </a:r>
                      <a:endParaRPr sz="1200">
                        <a:latin typeface="Arial"/>
                        <a:cs typeface="Arial"/>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F3FA"/>
                    </a:solidFill>
                  </a:tcPr>
                </a:tc>
              </a:tr>
            </a:tbl>
          </a:graphicData>
        </a:graphic>
      </p:graphicFrame>
      <p:pic>
        <p:nvPicPr>
          <p:cNvPr id="5" name="object 5"/>
          <p:cNvPicPr/>
          <p:nvPr/>
        </p:nvPicPr>
        <p:blipFill>
          <a:blip r:embed="rId2" cstate="print"/>
          <a:stretch>
            <a:fillRect/>
          </a:stretch>
        </p:blipFill>
        <p:spPr>
          <a:xfrm>
            <a:off x="6455003" y="992505"/>
            <a:ext cx="2586972" cy="1940229"/>
          </a:xfrm>
          <a:prstGeom prst="rect">
            <a:avLst/>
          </a:prstGeom>
        </p:spPr>
      </p:pic>
      <p:sp>
        <p:nvSpPr>
          <p:cNvPr id="6" name="object 6" descr=""/>
          <p:cNvSpPr txBox="1"/>
          <p:nvPr/>
        </p:nvSpPr>
        <p:spPr>
          <a:xfrm>
            <a:off x="5576578" y="3042157"/>
            <a:ext cx="3478529" cy="1671320"/>
          </a:xfrm>
          <a:prstGeom prst="rect">
            <a:avLst/>
          </a:prstGeom>
        </p:spPr>
        <p:txBody>
          <a:bodyPr wrap="square" lIns="0" tIns="12700" rIns="0" bIns="0" rtlCol="0" vert="horz">
            <a:spAutoFit/>
          </a:bodyPr>
          <a:lstStyle/>
          <a:p>
            <a:pPr marL="226060" indent="-213360">
              <a:lnSpc>
                <a:spcPct val="100000"/>
              </a:lnSpc>
              <a:spcBef>
                <a:spcPts val="100"/>
              </a:spcBef>
              <a:buFont typeface="Wingdings"/>
              <a:buChar char=""/>
              <a:tabLst>
                <a:tab pos="226060" algn="l"/>
              </a:tabLst>
            </a:pPr>
            <a:r>
              <a:rPr dirty="0" sz="1800">
                <a:solidFill>
                  <a:srgbClr val="FF0000"/>
                </a:solidFill>
                <a:latin typeface="Microsoft YaHei"/>
                <a:cs typeface="Microsoft YaHei"/>
              </a:rPr>
              <a:t>结论</a:t>
            </a:r>
            <a:r>
              <a:rPr dirty="0" sz="1800" spc="-10">
                <a:solidFill>
                  <a:srgbClr val="FF0000"/>
                </a:solidFill>
                <a:latin typeface="Microsoft YaHei"/>
                <a:cs typeface="Microsoft YaHei"/>
              </a:rPr>
              <a:t>1:4T8R下行峰值速率</a:t>
            </a:r>
            <a:endParaRPr sz="1800">
              <a:latin typeface="Microsoft YaHei"/>
              <a:cs typeface="Microsoft YaHei"/>
            </a:endParaRPr>
          </a:p>
          <a:p>
            <a:pPr marL="226695">
              <a:lnSpc>
                <a:spcPct val="100000"/>
              </a:lnSpc>
            </a:pPr>
            <a:r>
              <a:rPr dirty="0" sz="1800" spc="-10">
                <a:solidFill>
                  <a:srgbClr val="FF0000"/>
                </a:solidFill>
                <a:latin typeface="Microsoft YaHei"/>
                <a:cs typeface="Microsoft YaHei"/>
              </a:rPr>
              <a:t>2.98Gbps</a:t>
            </a:r>
            <a:r>
              <a:rPr dirty="0" sz="1800" spc="-15">
                <a:solidFill>
                  <a:srgbClr val="FF0000"/>
                </a:solidFill>
                <a:latin typeface="Microsoft YaHei"/>
                <a:cs typeface="Microsoft YaHei"/>
              </a:rPr>
              <a:t>，上行峰值速率</a:t>
            </a:r>
            <a:endParaRPr sz="1800">
              <a:latin typeface="Microsoft YaHei"/>
              <a:cs typeface="Microsoft YaHei"/>
            </a:endParaRPr>
          </a:p>
          <a:p>
            <a:pPr marL="226695" marR="5080">
              <a:lnSpc>
                <a:spcPct val="100000"/>
              </a:lnSpc>
            </a:pPr>
            <a:r>
              <a:rPr dirty="0" sz="1800">
                <a:solidFill>
                  <a:srgbClr val="FF0000"/>
                </a:solidFill>
                <a:latin typeface="Microsoft YaHei"/>
                <a:cs typeface="Microsoft YaHei"/>
              </a:rPr>
              <a:t>398Mbps</a:t>
            </a:r>
            <a:r>
              <a:rPr dirty="0" sz="1800" spc="-25">
                <a:solidFill>
                  <a:srgbClr val="FF0000"/>
                </a:solidFill>
                <a:latin typeface="Microsoft YaHei"/>
                <a:cs typeface="Microsoft YaHei"/>
              </a:rPr>
              <a:t> ，实际环境</a:t>
            </a:r>
            <a:r>
              <a:rPr dirty="0" sz="1800" spc="-10">
                <a:solidFill>
                  <a:srgbClr val="FF0000"/>
                </a:solidFill>
                <a:latin typeface="Microsoft YaHei"/>
                <a:cs typeface="Microsoft YaHei"/>
              </a:rPr>
              <a:t>4T8R</a:t>
            </a:r>
            <a:r>
              <a:rPr dirty="0" sz="1800" spc="-25">
                <a:solidFill>
                  <a:srgbClr val="FF0000"/>
                </a:solidFill>
                <a:latin typeface="Microsoft YaHei"/>
                <a:cs typeface="Microsoft YaHei"/>
              </a:rPr>
              <a:t>较难实现</a:t>
            </a:r>
            <a:endParaRPr sz="1800">
              <a:latin typeface="Microsoft YaHei"/>
              <a:cs typeface="Microsoft YaHei"/>
            </a:endParaRPr>
          </a:p>
          <a:p>
            <a:pPr algn="ctr" marL="213360" marR="490220" indent="-213360">
              <a:lnSpc>
                <a:spcPct val="100000"/>
              </a:lnSpc>
              <a:buFont typeface="Wingdings"/>
              <a:buChar char=""/>
              <a:tabLst>
                <a:tab pos="213360" algn="l"/>
              </a:tabLst>
            </a:pPr>
            <a:r>
              <a:rPr dirty="0" sz="1800">
                <a:solidFill>
                  <a:srgbClr val="FF0000"/>
                </a:solidFill>
                <a:latin typeface="Microsoft YaHei"/>
                <a:cs typeface="Microsoft YaHei"/>
              </a:rPr>
              <a:t>结论</a:t>
            </a:r>
            <a:r>
              <a:rPr dirty="0" sz="1800" spc="-10">
                <a:solidFill>
                  <a:srgbClr val="FF0000"/>
                </a:solidFill>
                <a:latin typeface="Microsoft YaHei"/>
                <a:cs typeface="Microsoft YaHei"/>
              </a:rPr>
              <a:t>2：2T4R下行峰值速率</a:t>
            </a:r>
            <a:endParaRPr sz="1800">
              <a:latin typeface="Microsoft YaHei"/>
              <a:cs typeface="Microsoft YaHei"/>
            </a:endParaRPr>
          </a:p>
          <a:p>
            <a:pPr algn="ctr" marR="415925">
              <a:lnSpc>
                <a:spcPct val="100000"/>
              </a:lnSpc>
            </a:pPr>
            <a:r>
              <a:rPr dirty="0" sz="1800" spc="-10">
                <a:solidFill>
                  <a:srgbClr val="FF0000"/>
                </a:solidFill>
                <a:latin typeface="Microsoft YaHei"/>
                <a:cs typeface="Microsoft YaHei"/>
              </a:rPr>
              <a:t>1.4Gbps</a:t>
            </a:r>
            <a:r>
              <a:rPr dirty="0" sz="1800" spc="-5">
                <a:solidFill>
                  <a:srgbClr val="FF0000"/>
                </a:solidFill>
                <a:latin typeface="Microsoft YaHei"/>
                <a:cs typeface="Microsoft YaHei"/>
              </a:rPr>
              <a:t>，上行</a:t>
            </a:r>
            <a:r>
              <a:rPr dirty="0" sz="1800" spc="-10">
                <a:solidFill>
                  <a:srgbClr val="FF0000"/>
                </a:solidFill>
                <a:latin typeface="Microsoft YaHei"/>
                <a:cs typeface="Microsoft YaHei"/>
              </a:rPr>
              <a:t>200Mbps</a:t>
            </a:r>
            <a:endParaRPr sz="1800">
              <a:latin typeface="Microsoft YaHei"/>
              <a:cs typeface="Microsoft YaHei"/>
            </a:endParaRPr>
          </a:p>
        </p:txBody>
      </p:sp>
      <p:sp>
        <p:nvSpPr>
          <p:cNvPr id="7" name="object 7" descr=""/>
          <p:cNvSpPr txBox="1"/>
          <p:nvPr/>
        </p:nvSpPr>
        <p:spPr>
          <a:xfrm>
            <a:off x="131014" y="889714"/>
            <a:ext cx="5730875" cy="330200"/>
          </a:xfrm>
          <a:prstGeom prst="rect">
            <a:avLst/>
          </a:prstGeom>
        </p:spPr>
        <p:txBody>
          <a:bodyPr wrap="square" lIns="0" tIns="12065" rIns="0" bIns="0" rtlCol="0" vert="horz">
            <a:spAutoFit/>
          </a:bodyPr>
          <a:lstStyle/>
          <a:p>
            <a:pPr marL="354965" indent="-342265">
              <a:lnSpc>
                <a:spcPct val="100000"/>
              </a:lnSpc>
              <a:spcBef>
                <a:spcPts val="95"/>
              </a:spcBef>
              <a:buFont typeface="Wingdings"/>
              <a:buChar char=""/>
              <a:tabLst>
                <a:tab pos="354965" algn="l"/>
              </a:tabLst>
            </a:pPr>
            <a:r>
              <a:rPr dirty="0" sz="2000" spc="-20" b="1">
                <a:solidFill>
                  <a:srgbClr val="FF0000"/>
                </a:solidFill>
                <a:latin typeface="Microsoft YaHei"/>
                <a:cs typeface="Microsoft YaHei"/>
              </a:rPr>
              <a:t>峰值速率测试：验证终端4T8R</a:t>
            </a:r>
            <a:r>
              <a:rPr dirty="0" sz="2000" spc="-15" b="1">
                <a:solidFill>
                  <a:srgbClr val="FF0000"/>
                </a:solidFill>
                <a:latin typeface="Microsoft YaHei"/>
                <a:cs typeface="Microsoft YaHei"/>
              </a:rPr>
              <a:t>和</a:t>
            </a:r>
            <a:r>
              <a:rPr dirty="0" sz="2000" spc="-20" b="1">
                <a:solidFill>
                  <a:srgbClr val="FF0000"/>
                </a:solidFill>
                <a:latin typeface="Microsoft YaHei"/>
                <a:cs typeface="Microsoft YaHei"/>
              </a:rPr>
              <a:t>2T4R</a:t>
            </a:r>
            <a:r>
              <a:rPr dirty="0" sz="2000" spc="-30" b="1">
                <a:solidFill>
                  <a:srgbClr val="FF0000"/>
                </a:solidFill>
                <a:latin typeface="Microsoft YaHei"/>
                <a:cs typeface="Microsoft YaHei"/>
              </a:rPr>
              <a:t>峰值速率</a:t>
            </a:r>
            <a:endParaRPr sz="2000">
              <a:latin typeface="Microsoft YaHei"/>
              <a:cs typeface="Microsoft YaHei"/>
            </a:endParaRPr>
          </a:p>
        </p:txBody>
      </p:sp>
      <p:sp>
        <p:nvSpPr>
          <p:cNvPr id="8" name="object 8" descr=""/>
          <p:cNvSpPr txBox="1"/>
          <p:nvPr/>
        </p:nvSpPr>
        <p:spPr>
          <a:xfrm>
            <a:off x="356830" y="4261358"/>
            <a:ext cx="4669155" cy="574040"/>
          </a:xfrm>
          <a:prstGeom prst="rect">
            <a:avLst/>
          </a:prstGeom>
        </p:spPr>
        <p:txBody>
          <a:bodyPr wrap="square" lIns="0" tIns="12700" rIns="0" bIns="0" rtlCol="0" vert="horz">
            <a:spAutoFit/>
          </a:bodyPr>
          <a:lstStyle/>
          <a:p>
            <a:pPr marL="231140" marR="5080" indent="-219075">
              <a:lnSpc>
                <a:spcPct val="100000"/>
              </a:lnSpc>
              <a:spcBef>
                <a:spcPts val="100"/>
              </a:spcBef>
            </a:pPr>
            <a:r>
              <a:rPr dirty="0" sz="1800">
                <a:latin typeface="Microsoft YaHei"/>
                <a:cs typeface="Microsoft YaHei"/>
              </a:rPr>
              <a:t>终端侧</a:t>
            </a:r>
            <a:r>
              <a:rPr dirty="0" sz="1800" spc="-10">
                <a:latin typeface="Microsoft YaHei"/>
                <a:cs typeface="Microsoft YaHei"/>
              </a:rPr>
              <a:t>2T4R</a:t>
            </a:r>
            <a:r>
              <a:rPr dirty="0" sz="1800">
                <a:latin typeface="Microsoft YaHei"/>
                <a:cs typeface="Microsoft YaHei"/>
              </a:rPr>
              <a:t>为NR</a:t>
            </a:r>
            <a:r>
              <a:rPr dirty="0" sz="1800" spc="-55">
                <a:latin typeface="Microsoft YaHei"/>
                <a:cs typeface="Microsoft YaHei"/>
              </a:rPr>
              <a:t> </a:t>
            </a:r>
            <a:r>
              <a:rPr dirty="0" sz="1800" spc="-10">
                <a:latin typeface="Microsoft YaHei"/>
                <a:cs typeface="Microsoft YaHei"/>
              </a:rPr>
              <a:t>3.5G</a:t>
            </a:r>
            <a:r>
              <a:rPr dirty="0" sz="1800" spc="-5">
                <a:latin typeface="Microsoft YaHei"/>
                <a:cs typeface="Microsoft YaHei"/>
              </a:rPr>
              <a:t>的主流配置，除峰值速</a:t>
            </a:r>
            <a:r>
              <a:rPr dirty="0" sz="1800">
                <a:latin typeface="Microsoft YaHei"/>
                <a:cs typeface="Microsoft YaHei"/>
              </a:rPr>
              <a:t>率验证外其他测试例都采用</a:t>
            </a:r>
            <a:r>
              <a:rPr dirty="0" sz="1800" spc="-10">
                <a:latin typeface="Microsoft YaHei"/>
                <a:cs typeface="Microsoft YaHei"/>
              </a:rPr>
              <a:t>2T4R</a:t>
            </a:r>
            <a:r>
              <a:rPr dirty="0" sz="1800" spc="-15">
                <a:latin typeface="Microsoft YaHei"/>
                <a:cs typeface="Microsoft YaHei"/>
              </a:rPr>
              <a:t>进行测试</a:t>
            </a:r>
            <a:endParaRPr sz="1800">
              <a:latin typeface="Microsoft YaHei"/>
              <a:cs typeface="Microsoft YaHei"/>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0138" y="115135"/>
            <a:ext cx="3787140" cy="513080"/>
          </a:xfrm>
          <a:prstGeom prst="rect"/>
        </p:spPr>
        <p:txBody>
          <a:bodyPr wrap="square" lIns="0" tIns="12065" rIns="0" bIns="0" rtlCol="0" vert="horz">
            <a:spAutoFit/>
          </a:bodyPr>
          <a:lstStyle/>
          <a:p>
            <a:pPr marL="12700">
              <a:lnSpc>
                <a:spcPct val="100000"/>
              </a:lnSpc>
              <a:spcBef>
                <a:spcPts val="95"/>
              </a:spcBef>
            </a:pPr>
            <a:r>
              <a:rPr dirty="0" spc="-10">
                <a:latin typeface="Times New Roman"/>
                <a:cs typeface="Times New Roman"/>
              </a:rPr>
              <a:t>3.5GH</a:t>
            </a:r>
            <a:r>
              <a:rPr dirty="0" spc="-10" b="0">
                <a:latin typeface="Times New Roman"/>
                <a:cs typeface="Times New Roman"/>
              </a:rPr>
              <a:t>z</a:t>
            </a:r>
            <a:r>
              <a:rPr dirty="0" spc="-45"/>
              <a:t>室外覆盖能力</a:t>
            </a:r>
          </a:p>
        </p:txBody>
      </p:sp>
      <p:sp>
        <p:nvSpPr>
          <p:cNvPr id="3" name="object 3" descr=""/>
          <p:cNvSpPr txBox="1"/>
          <p:nvPr/>
        </p:nvSpPr>
        <p:spPr>
          <a:xfrm>
            <a:off x="187090" y="940566"/>
            <a:ext cx="7435215" cy="977265"/>
          </a:xfrm>
          <a:prstGeom prst="rect">
            <a:avLst/>
          </a:prstGeom>
        </p:spPr>
        <p:txBody>
          <a:bodyPr wrap="square" lIns="0" tIns="55244" rIns="0" bIns="0" rtlCol="0" vert="horz">
            <a:spAutoFit/>
          </a:bodyPr>
          <a:lstStyle/>
          <a:p>
            <a:pPr marL="354965" indent="-342265">
              <a:lnSpc>
                <a:spcPct val="100000"/>
              </a:lnSpc>
              <a:spcBef>
                <a:spcPts val="434"/>
              </a:spcBef>
              <a:buFont typeface="Wingdings"/>
              <a:buChar char=""/>
              <a:tabLst>
                <a:tab pos="354965" algn="l"/>
              </a:tabLst>
            </a:pPr>
            <a:r>
              <a:rPr dirty="0" sz="1400" spc="-20">
                <a:latin typeface="Microsoft YaHei"/>
                <a:cs typeface="Microsoft YaHei"/>
              </a:rPr>
              <a:t>测试目的：掌握3.5G</a:t>
            </a:r>
            <a:r>
              <a:rPr dirty="0" sz="1400" spc="-25">
                <a:latin typeface="Microsoft YaHei"/>
                <a:cs typeface="Microsoft YaHei"/>
              </a:rPr>
              <a:t>室外覆盖能力，为今后网络规划提供指导建议。</a:t>
            </a:r>
            <a:endParaRPr sz="1400">
              <a:latin typeface="Microsoft YaHei"/>
              <a:cs typeface="Microsoft YaHei"/>
            </a:endParaRPr>
          </a:p>
          <a:p>
            <a:pPr marL="354965" indent="-342265">
              <a:lnSpc>
                <a:spcPct val="100000"/>
              </a:lnSpc>
              <a:spcBef>
                <a:spcPts val="335"/>
              </a:spcBef>
              <a:buFont typeface="Wingdings"/>
              <a:buChar char=""/>
              <a:tabLst>
                <a:tab pos="354965" algn="l"/>
              </a:tabLst>
            </a:pPr>
            <a:r>
              <a:rPr dirty="0" sz="1400" spc="-30">
                <a:latin typeface="Microsoft YaHei"/>
                <a:cs typeface="Microsoft YaHei"/>
              </a:rPr>
              <a:t>测试环境：</a:t>
            </a:r>
            <a:endParaRPr sz="1400">
              <a:latin typeface="Microsoft YaHei"/>
              <a:cs typeface="Microsoft YaHei"/>
            </a:endParaRPr>
          </a:p>
          <a:p>
            <a:pPr lvl="1" marL="755015" indent="-285115">
              <a:lnSpc>
                <a:spcPct val="100000"/>
              </a:lnSpc>
              <a:spcBef>
                <a:spcPts val="290"/>
              </a:spcBef>
              <a:buClr>
                <a:srgbClr val="00B0F0"/>
              </a:buClr>
              <a:buFont typeface="Wingdings"/>
              <a:buChar char=""/>
              <a:tabLst>
                <a:tab pos="755015" algn="l"/>
              </a:tabLst>
            </a:pPr>
            <a:r>
              <a:rPr dirty="0" sz="1200">
                <a:latin typeface="Microsoft YaHei"/>
                <a:cs typeface="Microsoft YaHei"/>
              </a:rPr>
              <a:t>测地点：天府四街，拉远距离为</a:t>
            </a:r>
            <a:r>
              <a:rPr dirty="0" sz="1200" spc="-10">
                <a:latin typeface="Microsoft YaHei"/>
                <a:cs typeface="Microsoft YaHei"/>
              </a:rPr>
              <a:t>2.4Km</a:t>
            </a:r>
            <a:endParaRPr sz="1200">
              <a:latin typeface="Microsoft YaHei"/>
              <a:cs typeface="Microsoft YaHei"/>
            </a:endParaRPr>
          </a:p>
          <a:p>
            <a:pPr lvl="1" marL="755015" indent="-285115">
              <a:lnSpc>
                <a:spcPct val="100000"/>
              </a:lnSpc>
              <a:spcBef>
                <a:spcPts val="290"/>
              </a:spcBef>
              <a:buClr>
                <a:srgbClr val="00B0F0"/>
              </a:buClr>
              <a:buFont typeface="Wingdings"/>
              <a:buChar char=""/>
              <a:tabLst>
                <a:tab pos="755015" algn="l"/>
              </a:tabLst>
            </a:pPr>
            <a:r>
              <a:rPr dirty="0" sz="1200" spc="-10">
                <a:latin typeface="Microsoft YaHei"/>
                <a:cs typeface="Microsoft YaHei"/>
              </a:rPr>
              <a:t>5G</a:t>
            </a:r>
            <a:r>
              <a:rPr dirty="0" sz="1200">
                <a:latin typeface="Microsoft YaHei"/>
                <a:cs typeface="Microsoft YaHei"/>
              </a:rPr>
              <a:t>基站发射功率配置为</a:t>
            </a:r>
            <a:r>
              <a:rPr dirty="0" sz="1200" spc="-10">
                <a:latin typeface="Microsoft YaHei"/>
                <a:cs typeface="Microsoft YaHei"/>
              </a:rPr>
              <a:t>80W</a:t>
            </a:r>
            <a:r>
              <a:rPr dirty="0" sz="1200" spc="-5">
                <a:latin typeface="Microsoft YaHei"/>
                <a:cs typeface="Microsoft YaHei"/>
              </a:rPr>
              <a:t>，上行时隙采用</a:t>
            </a:r>
            <a:r>
              <a:rPr dirty="0" sz="1200" spc="-10">
                <a:latin typeface="Microsoft YaHei"/>
                <a:cs typeface="Microsoft YaHei"/>
              </a:rPr>
              <a:t>1:1</a:t>
            </a:r>
            <a:r>
              <a:rPr dirty="0" sz="1200">
                <a:latin typeface="Microsoft YaHei"/>
                <a:cs typeface="Microsoft YaHei"/>
              </a:rPr>
              <a:t>和</a:t>
            </a:r>
            <a:r>
              <a:rPr dirty="0" sz="1200" spc="-10">
                <a:latin typeface="Microsoft YaHei"/>
                <a:cs typeface="Microsoft YaHei"/>
              </a:rPr>
              <a:t>1:3</a:t>
            </a:r>
            <a:r>
              <a:rPr dirty="0" sz="1200">
                <a:latin typeface="Microsoft YaHei"/>
                <a:cs typeface="Microsoft YaHei"/>
              </a:rPr>
              <a:t>两种配置方案，下行时隙采用</a:t>
            </a:r>
            <a:r>
              <a:rPr dirty="0" sz="1200" spc="-10">
                <a:latin typeface="Microsoft YaHei"/>
                <a:cs typeface="Microsoft YaHei"/>
              </a:rPr>
              <a:t>1:3的配置方案。</a:t>
            </a:r>
            <a:endParaRPr sz="1200">
              <a:latin typeface="Microsoft YaHei"/>
              <a:cs typeface="Microsoft YaHei"/>
            </a:endParaRPr>
          </a:p>
        </p:txBody>
      </p:sp>
      <p:sp>
        <p:nvSpPr>
          <p:cNvPr id="4" name="object 4" descr=""/>
          <p:cNvSpPr/>
          <p:nvPr/>
        </p:nvSpPr>
        <p:spPr>
          <a:xfrm>
            <a:off x="1193" y="4476762"/>
            <a:ext cx="9143365" cy="500380"/>
          </a:xfrm>
          <a:custGeom>
            <a:avLst/>
            <a:gdLst/>
            <a:ahLst/>
            <a:cxnLst/>
            <a:rect l="l" t="t" r="r" b="b"/>
            <a:pathLst>
              <a:path w="9143365" h="500379">
                <a:moveTo>
                  <a:pt x="9142806" y="0"/>
                </a:moveTo>
                <a:lnTo>
                  <a:pt x="0" y="0"/>
                </a:lnTo>
                <a:lnTo>
                  <a:pt x="0" y="500126"/>
                </a:lnTo>
                <a:lnTo>
                  <a:pt x="9142806" y="500126"/>
                </a:lnTo>
                <a:lnTo>
                  <a:pt x="9142806" y="0"/>
                </a:lnTo>
                <a:close/>
              </a:path>
            </a:pathLst>
          </a:custGeom>
          <a:solidFill>
            <a:srgbClr val="C00000"/>
          </a:solidFill>
        </p:spPr>
        <p:txBody>
          <a:bodyPr wrap="square" lIns="0" tIns="0" rIns="0" bIns="0" rtlCol="0"/>
          <a:lstStyle/>
          <a:p/>
        </p:txBody>
      </p:sp>
      <p:sp>
        <p:nvSpPr>
          <p:cNvPr id="5" name="object 5" descr=""/>
          <p:cNvSpPr txBox="1"/>
          <p:nvPr/>
        </p:nvSpPr>
        <p:spPr>
          <a:xfrm>
            <a:off x="224622" y="4492244"/>
            <a:ext cx="8696325" cy="452120"/>
          </a:xfrm>
          <a:prstGeom prst="rect">
            <a:avLst/>
          </a:prstGeom>
        </p:spPr>
        <p:txBody>
          <a:bodyPr wrap="square" lIns="0" tIns="12065" rIns="0" bIns="0" rtlCol="0" vert="horz">
            <a:spAutoFit/>
          </a:bodyPr>
          <a:lstStyle/>
          <a:p>
            <a:pPr marL="534670" marR="5080" indent="-522605">
              <a:lnSpc>
                <a:spcPct val="100000"/>
              </a:lnSpc>
              <a:spcBef>
                <a:spcPts val="95"/>
              </a:spcBef>
            </a:pPr>
            <a:r>
              <a:rPr dirty="0" sz="1400" spc="-20">
                <a:solidFill>
                  <a:srgbClr val="FFFFFF"/>
                </a:solidFill>
                <a:latin typeface="Microsoft YaHei"/>
                <a:cs typeface="Microsoft YaHei"/>
              </a:rPr>
              <a:t>结论：上行边缘速率</a:t>
            </a:r>
            <a:r>
              <a:rPr dirty="0" sz="1400" spc="-10">
                <a:solidFill>
                  <a:srgbClr val="FFFFFF"/>
                </a:solidFill>
                <a:latin typeface="Microsoft YaHei"/>
                <a:cs typeface="Microsoft YaHei"/>
              </a:rPr>
              <a:t>2Mbps</a:t>
            </a:r>
            <a:r>
              <a:rPr dirty="0" sz="1400" spc="-20">
                <a:solidFill>
                  <a:srgbClr val="FFFFFF"/>
                </a:solidFill>
                <a:latin typeface="Microsoft YaHei"/>
                <a:cs typeface="Microsoft YaHei"/>
              </a:rPr>
              <a:t>的对应场强为：</a:t>
            </a:r>
            <a:r>
              <a:rPr dirty="0" sz="1400" spc="-10">
                <a:solidFill>
                  <a:srgbClr val="FFFFFF"/>
                </a:solidFill>
                <a:latin typeface="Microsoft YaHei"/>
                <a:cs typeface="Microsoft YaHei"/>
              </a:rPr>
              <a:t>（1:3</a:t>
            </a:r>
            <a:r>
              <a:rPr dirty="0" sz="1400" spc="-20">
                <a:solidFill>
                  <a:srgbClr val="FFFFFF"/>
                </a:solidFill>
                <a:latin typeface="Microsoft YaHei"/>
                <a:cs typeface="Microsoft YaHei"/>
              </a:rPr>
              <a:t>时隙配比时）</a:t>
            </a:r>
            <a:r>
              <a:rPr dirty="0" sz="1400" spc="-10">
                <a:solidFill>
                  <a:srgbClr val="FFFFFF"/>
                </a:solidFill>
                <a:latin typeface="Microsoft YaHei"/>
                <a:cs typeface="Microsoft YaHei"/>
              </a:rPr>
              <a:t>为-110.5dBm，（1:1</a:t>
            </a:r>
            <a:r>
              <a:rPr dirty="0" sz="1400" spc="-20">
                <a:solidFill>
                  <a:srgbClr val="FFFFFF"/>
                </a:solidFill>
                <a:latin typeface="Microsoft YaHei"/>
                <a:cs typeface="Microsoft YaHei"/>
              </a:rPr>
              <a:t>时隙配比时）</a:t>
            </a:r>
            <a:r>
              <a:rPr dirty="0" sz="1400" spc="-10">
                <a:solidFill>
                  <a:srgbClr val="FFFFFF"/>
                </a:solidFill>
                <a:latin typeface="Microsoft YaHei"/>
                <a:cs typeface="Microsoft YaHei"/>
              </a:rPr>
              <a:t>为-108dBm</a:t>
            </a:r>
            <a:r>
              <a:rPr dirty="0" sz="1400" spc="-20">
                <a:solidFill>
                  <a:srgbClr val="FFFFFF"/>
                </a:solidFill>
                <a:latin typeface="Microsoft YaHei"/>
                <a:cs typeface="Microsoft YaHei"/>
              </a:rPr>
              <a:t>上行边缘速率</a:t>
            </a:r>
            <a:r>
              <a:rPr dirty="0" sz="1400" spc="-10">
                <a:solidFill>
                  <a:srgbClr val="FFFFFF"/>
                </a:solidFill>
                <a:latin typeface="Microsoft YaHei"/>
                <a:cs typeface="Microsoft YaHei"/>
              </a:rPr>
              <a:t>1Mbps</a:t>
            </a:r>
            <a:r>
              <a:rPr dirty="0" sz="1400" spc="-20">
                <a:solidFill>
                  <a:srgbClr val="FFFFFF"/>
                </a:solidFill>
                <a:latin typeface="Microsoft YaHei"/>
                <a:cs typeface="Microsoft YaHei"/>
              </a:rPr>
              <a:t>的对应场强为</a:t>
            </a:r>
            <a:r>
              <a:rPr dirty="0" sz="1400" spc="-10">
                <a:solidFill>
                  <a:srgbClr val="FFFFFF"/>
                </a:solidFill>
                <a:latin typeface="Microsoft YaHei"/>
                <a:cs typeface="Microsoft YaHei"/>
              </a:rPr>
              <a:t>：（1:3</a:t>
            </a:r>
            <a:r>
              <a:rPr dirty="0" sz="1400" spc="-20">
                <a:solidFill>
                  <a:srgbClr val="FFFFFF"/>
                </a:solidFill>
                <a:latin typeface="Microsoft YaHei"/>
                <a:cs typeface="Microsoft YaHei"/>
              </a:rPr>
              <a:t>时隙配比时）</a:t>
            </a:r>
            <a:r>
              <a:rPr dirty="0" sz="1400" spc="-10">
                <a:solidFill>
                  <a:srgbClr val="FFFFFF"/>
                </a:solidFill>
                <a:latin typeface="Microsoft YaHei"/>
                <a:cs typeface="Microsoft YaHei"/>
              </a:rPr>
              <a:t>为-112dBm，（1:1</a:t>
            </a:r>
            <a:r>
              <a:rPr dirty="0" sz="1400" spc="-20">
                <a:solidFill>
                  <a:srgbClr val="FFFFFF"/>
                </a:solidFill>
                <a:latin typeface="Microsoft YaHei"/>
                <a:cs typeface="Microsoft YaHei"/>
              </a:rPr>
              <a:t>时隙配比时</a:t>
            </a:r>
            <a:r>
              <a:rPr dirty="0" sz="1400" spc="-10">
                <a:solidFill>
                  <a:srgbClr val="FFFFFF"/>
                </a:solidFill>
                <a:latin typeface="Microsoft YaHei"/>
                <a:cs typeface="Microsoft YaHei"/>
              </a:rPr>
              <a:t>）为-114dBm</a:t>
            </a:r>
            <a:endParaRPr sz="1400">
              <a:latin typeface="Microsoft YaHei"/>
              <a:cs typeface="Microsoft YaHei"/>
            </a:endParaRPr>
          </a:p>
        </p:txBody>
      </p:sp>
      <p:pic>
        <p:nvPicPr>
          <p:cNvPr id="6" name="object 6"/>
          <p:cNvPicPr/>
          <p:nvPr/>
        </p:nvPicPr>
        <p:blipFill>
          <a:blip r:embed="rId2" cstate="print"/>
          <a:stretch>
            <a:fillRect/>
          </a:stretch>
        </p:blipFill>
        <p:spPr>
          <a:xfrm>
            <a:off x="264312" y="2120697"/>
            <a:ext cx="3480483" cy="2211506"/>
          </a:xfrm>
          <a:prstGeom prst="rect">
            <a:avLst/>
          </a:prstGeom>
        </p:spPr>
      </p:pic>
      <p:grpSp>
        <p:nvGrpSpPr>
          <p:cNvPr id="7" name="object 7" descr=""/>
          <p:cNvGrpSpPr/>
          <p:nvPr/>
        </p:nvGrpSpPr>
        <p:grpSpPr>
          <a:xfrm>
            <a:off x="3840949" y="1848868"/>
            <a:ext cx="5303520" cy="2641600"/>
            <a:chOff x="3840949" y="1848868"/>
            <a:chExt cx="5303520" cy="2641600"/>
          </a:xfrm>
        </p:grpSpPr>
        <p:pic>
          <p:nvPicPr>
            <p:cNvPr id="8" name="object 8"/>
            <p:cNvPicPr/>
            <p:nvPr/>
          </p:nvPicPr>
          <p:blipFill>
            <a:blip r:embed="rId3" cstate="print"/>
            <a:stretch>
              <a:fillRect/>
            </a:stretch>
          </p:blipFill>
          <p:spPr>
            <a:xfrm>
              <a:off x="6288862" y="2120698"/>
              <a:ext cx="2855137" cy="2369232"/>
            </a:xfrm>
            <a:prstGeom prst="rect">
              <a:avLst/>
            </a:prstGeom>
          </p:spPr>
        </p:pic>
        <p:pic>
          <p:nvPicPr>
            <p:cNvPr id="9" name="object 9" descr=""/>
            <p:cNvPicPr/>
            <p:nvPr/>
          </p:nvPicPr>
          <p:blipFill>
            <a:blip r:embed="rId4" cstate="print"/>
            <a:stretch>
              <a:fillRect/>
            </a:stretch>
          </p:blipFill>
          <p:spPr>
            <a:xfrm>
              <a:off x="3840949" y="1848868"/>
              <a:ext cx="3262887" cy="2496031"/>
            </a:xfrm>
            <a:prstGeom prst="rect">
              <a:avLst/>
            </a:prstGeom>
          </p:spPr>
        </p:pic>
      </p:grpSp>
      <p:sp>
        <p:nvSpPr>
          <p:cNvPr id="10" name="object 10" descr=""/>
          <p:cNvSpPr txBox="1"/>
          <p:nvPr/>
        </p:nvSpPr>
        <p:spPr>
          <a:xfrm>
            <a:off x="4264404" y="3770316"/>
            <a:ext cx="62865" cy="113664"/>
          </a:xfrm>
          <a:prstGeom prst="rect">
            <a:avLst/>
          </a:prstGeom>
        </p:spPr>
        <p:txBody>
          <a:bodyPr wrap="square" lIns="0" tIns="15875" rIns="0" bIns="0" rtlCol="0" vert="horz">
            <a:spAutoFit/>
          </a:bodyPr>
          <a:lstStyle/>
          <a:p>
            <a:pPr marL="12700">
              <a:lnSpc>
                <a:spcPct val="100000"/>
              </a:lnSpc>
              <a:spcBef>
                <a:spcPts val="125"/>
              </a:spcBef>
            </a:pPr>
            <a:r>
              <a:rPr dirty="0" sz="550" spc="-50" b="1">
                <a:latin typeface="Arial"/>
                <a:cs typeface="Arial"/>
              </a:rPr>
              <a:t>0</a:t>
            </a:r>
            <a:endParaRPr sz="550">
              <a:latin typeface="Arial"/>
              <a:cs typeface="Arial"/>
            </a:endParaRPr>
          </a:p>
        </p:txBody>
      </p:sp>
      <p:sp>
        <p:nvSpPr>
          <p:cNvPr id="11" name="object 11" descr=""/>
          <p:cNvSpPr txBox="1"/>
          <p:nvPr/>
        </p:nvSpPr>
        <p:spPr>
          <a:xfrm>
            <a:off x="4264405" y="3450297"/>
            <a:ext cx="62865" cy="113664"/>
          </a:xfrm>
          <a:prstGeom prst="rect">
            <a:avLst/>
          </a:prstGeom>
        </p:spPr>
        <p:txBody>
          <a:bodyPr wrap="square" lIns="0" tIns="15875" rIns="0" bIns="0" rtlCol="0" vert="horz">
            <a:spAutoFit/>
          </a:bodyPr>
          <a:lstStyle/>
          <a:p>
            <a:pPr marL="12700">
              <a:lnSpc>
                <a:spcPct val="100000"/>
              </a:lnSpc>
              <a:spcBef>
                <a:spcPts val="125"/>
              </a:spcBef>
            </a:pPr>
            <a:r>
              <a:rPr dirty="0" sz="550" spc="-50" b="1">
                <a:latin typeface="Arial"/>
                <a:cs typeface="Arial"/>
              </a:rPr>
              <a:t>1</a:t>
            </a:r>
            <a:endParaRPr sz="550">
              <a:latin typeface="Arial"/>
              <a:cs typeface="Arial"/>
            </a:endParaRPr>
          </a:p>
        </p:txBody>
      </p:sp>
      <p:sp>
        <p:nvSpPr>
          <p:cNvPr id="12" name="object 12" descr=""/>
          <p:cNvSpPr txBox="1"/>
          <p:nvPr/>
        </p:nvSpPr>
        <p:spPr>
          <a:xfrm>
            <a:off x="4264407" y="3130279"/>
            <a:ext cx="62865" cy="113664"/>
          </a:xfrm>
          <a:prstGeom prst="rect">
            <a:avLst/>
          </a:prstGeom>
        </p:spPr>
        <p:txBody>
          <a:bodyPr wrap="square" lIns="0" tIns="15875" rIns="0" bIns="0" rtlCol="0" vert="horz">
            <a:spAutoFit/>
          </a:bodyPr>
          <a:lstStyle/>
          <a:p>
            <a:pPr marL="12700">
              <a:lnSpc>
                <a:spcPct val="100000"/>
              </a:lnSpc>
              <a:spcBef>
                <a:spcPts val="125"/>
              </a:spcBef>
            </a:pPr>
            <a:r>
              <a:rPr dirty="0" sz="550" spc="-50" b="1">
                <a:latin typeface="Arial"/>
                <a:cs typeface="Arial"/>
              </a:rPr>
              <a:t>2</a:t>
            </a:r>
            <a:endParaRPr sz="550">
              <a:latin typeface="Arial"/>
              <a:cs typeface="Arial"/>
            </a:endParaRPr>
          </a:p>
        </p:txBody>
      </p:sp>
      <p:sp>
        <p:nvSpPr>
          <p:cNvPr id="13" name="object 13" descr=""/>
          <p:cNvSpPr txBox="1"/>
          <p:nvPr/>
        </p:nvSpPr>
        <p:spPr>
          <a:xfrm>
            <a:off x="4239901" y="3823661"/>
            <a:ext cx="1990725" cy="193675"/>
          </a:xfrm>
          <a:prstGeom prst="rect">
            <a:avLst/>
          </a:prstGeom>
        </p:spPr>
        <p:txBody>
          <a:bodyPr wrap="square" lIns="0" tIns="15875" rIns="0" bIns="0" rtlCol="0" vert="horz">
            <a:spAutoFit/>
          </a:bodyPr>
          <a:lstStyle/>
          <a:p>
            <a:pPr algn="ctr">
              <a:lnSpc>
                <a:spcPts val="645"/>
              </a:lnSpc>
              <a:spcBef>
                <a:spcPts val="125"/>
              </a:spcBef>
            </a:pPr>
            <a:r>
              <a:rPr dirty="0" sz="550" spc="-30" b="1">
                <a:latin typeface="Arial"/>
                <a:cs typeface="Arial"/>
              </a:rPr>
              <a:t>-</a:t>
            </a:r>
            <a:r>
              <a:rPr dirty="0" sz="550" b="1">
                <a:latin typeface="Arial"/>
                <a:cs typeface="Arial"/>
              </a:rPr>
              <a:t>116</a:t>
            </a:r>
            <a:r>
              <a:rPr dirty="0" sz="550" spc="190" b="1">
                <a:latin typeface="Arial"/>
                <a:cs typeface="Arial"/>
              </a:rPr>
              <a:t> </a:t>
            </a:r>
            <a:r>
              <a:rPr dirty="0" sz="550" spc="-30" b="1">
                <a:latin typeface="Arial"/>
                <a:cs typeface="Arial"/>
              </a:rPr>
              <a:t>-</a:t>
            </a:r>
            <a:r>
              <a:rPr dirty="0" sz="550" b="1">
                <a:latin typeface="Arial"/>
                <a:cs typeface="Arial"/>
              </a:rPr>
              <a:t>115</a:t>
            </a:r>
            <a:r>
              <a:rPr dirty="0" sz="550" spc="215" b="1">
                <a:latin typeface="Arial"/>
                <a:cs typeface="Arial"/>
              </a:rPr>
              <a:t> </a:t>
            </a:r>
            <a:r>
              <a:rPr dirty="0" sz="550" spc="-30" b="1">
                <a:latin typeface="Arial"/>
                <a:cs typeface="Arial"/>
              </a:rPr>
              <a:t>-</a:t>
            </a:r>
            <a:r>
              <a:rPr dirty="0" sz="550" b="1">
                <a:latin typeface="Arial"/>
                <a:cs typeface="Arial"/>
              </a:rPr>
              <a:t>114</a:t>
            </a:r>
            <a:r>
              <a:rPr dirty="0" sz="550" spc="220" b="1">
                <a:latin typeface="Arial"/>
                <a:cs typeface="Arial"/>
              </a:rPr>
              <a:t> </a:t>
            </a:r>
            <a:r>
              <a:rPr dirty="0" sz="550" spc="-30" b="1">
                <a:latin typeface="Arial"/>
                <a:cs typeface="Arial"/>
              </a:rPr>
              <a:t>-</a:t>
            </a:r>
            <a:r>
              <a:rPr dirty="0" sz="550" b="1">
                <a:latin typeface="Arial"/>
                <a:cs typeface="Arial"/>
              </a:rPr>
              <a:t>113</a:t>
            </a:r>
            <a:r>
              <a:rPr dirty="0" sz="550" spc="215" b="1">
                <a:latin typeface="Arial"/>
                <a:cs typeface="Arial"/>
              </a:rPr>
              <a:t> </a:t>
            </a:r>
            <a:r>
              <a:rPr dirty="0" sz="550" spc="-30" b="1">
                <a:latin typeface="Arial"/>
                <a:cs typeface="Arial"/>
              </a:rPr>
              <a:t>-</a:t>
            </a:r>
            <a:r>
              <a:rPr dirty="0" sz="550" b="1">
                <a:latin typeface="Arial"/>
                <a:cs typeface="Arial"/>
              </a:rPr>
              <a:t>112</a:t>
            </a:r>
            <a:r>
              <a:rPr dirty="0" sz="550" spc="215" b="1">
                <a:latin typeface="Arial"/>
                <a:cs typeface="Arial"/>
              </a:rPr>
              <a:t> </a:t>
            </a:r>
            <a:r>
              <a:rPr dirty="0" sz="550" spc="-30" b="1">
                <a:latin typeface="Arial"/>
                <a:cs typeface="Arial"/>
              </a:rPr>
              <a:t>-</a:t>
            </a:r>
            <a:r>
              <a:rPr dirty="0" sz="550" b="1">
                <a:latin typeface="Arial"/>
                <a:cs typeface="Arial"/>
              </a:rPr>
              <a:t>111</a:t>
            </a:r>
            <a:r>
              <a:rPr dirty="0" sz="550" spc="220" b="1">
                <a:latin typeface="Arial"/>
                <a:cs typeface="Arial"/>
              </a:rPr>
              <a:t> </a:t>
            </a:r>
            <a:r>
              <a:rPr dirty="0" sz="550" spc="-30" b="1">
                <a:latin typeface="Arial"/>
                <a:cs typeface="Arial"/>
              </a:rPr>
              <a:t>-</a:t>
            </a:r>
            <a:r>
              <a:rPr dirty="0" sz="550" b="1">
                <a:latin typeface="Arial"/>
                <a:cs typeface="Arial"/>
              </a:rPr>
              <a:t>110</a:t>
            </a:r>
            <a:r>
              <a:rPr dirty="0" sz="550" spc="215" b="1">
                <a:latin typeface="Arial"/>
                <a:cs typeface="Arial"/>
              </a:rPr>
              <a:t> </a:t>
            </a:r>
            <a:r>
              <a:rPr dirty="0" sz="550" spc="-30" b="1">
                <a:latin typeface="Arial"/>
                <a:cs typeface="Arial"/>
              </a:rPr>
              <a:t>-</a:t>
            </a:r>
            <a:r>
              <a:rPr dirty="0" sz="550" b="1">
                <a:latin typeface="Arial"/>
                <a:cs typeface="Arial"/>
              </a:rPr>
              <a:t>109</a:t>
            </a:r>
            <a:r>
              <a:rPr dirty="0" sz="550" spc="215" b="1">
                <a:latin typeface="Arial"/>
                <a:cs typeface="Arial"/>
              </a:rPr>
              <a:t> </a:t>
            </a:r>
            <a:r>
              <a:rPr dirty="0" sz="550" spc="-30" b="1">
                <a:latin typeface="Arial"/>
                <a:cs typeface="Arial"/>
              </a:rPr>
              <a:t>-</a:t>
            </a:r>
            <a:r>
              <a:rPr dirty="0" sz="550" b="1">
                <a:latin typeface="Arial"/>
                <a:cs typeface="Arial"/>
              </a:rPr>
              <a:t>108</a:t>
            </a:r>
            <a:r>
              <a:rPr dirty="0" sz="550" spc="215" b="1">
                <a:latin typeface="Arial"/>
                <a:cs typeface="Arial"/>
              </a:rPr>
              <a:t> </a:t>
            </a:r>
            <a:r>
              <a:rPr dirty="0" sz="550" spc="-30" b="1">
                <a:latin typeface="Arial"/>
                <a:cs typeface="Arial"/>
              </a:rPr>
              <a:t>-</a:t>
            </a:r>
            <a:r>
              <a:rPr dirty="0" sz="550" b="1">
                <a:latin typeface="Arial"/>
                <a:cs typeface="Arial"/>
              </a:rPr>
              <a:t>107</a:t>
            </a:r>
            <a:r>
              <a:rPr dirty="0" sz="550" spc="220" b="1">
                <a:latin typeface="Arial"/>
                <a:cs typeface="Arial"/>
              </a:rPr>
              <a:t> </a:t>
            </a:r>
            <a:r>
              <a:rPr dirty="0" sz="550" spc="-30" b="1">
                <a:latin typeface="Arial"/>
                <a:cs typeface="Arial"/>
              </a:rPr>
              <a:t>-</a:t>
            </a:r>
            <a:r>
              <a:rPr dirty="0" sz="550" spc="-25" b="1">
                <a:latin typeface="Arial"/>
                <a:cs typeface="Arial"/>
              </a:rPr>
              <a:t>106</a:t>
            </a:r>
            <a:endParaRPr sz="550">
              <a:latin typeface="Arial"/>
              <a:cs typeface="Arial"/>
            </a:endParaRPr>
          </a:p>
          <a:p>
            <a:pPr algn="ctr" marL="3810">
              <a:lnSpc>
                <a:spcPts val="645"/>
              </a:lnSpc>
            </a:pPr>
            <a:r>
              <a:rPr dirty="0" sz="550" spc="-10" b="1">
                <a:latin typeface="Arial"/>
                <a:cs typeface="Arial"/>
              </a:rPr>
              <a:t>RSRP(dB)</a:t>
            </a:r>
            <a:endParaRPr sz="550">
              <a:latin typeface="Arial"/>
              <a:cs typeface="Arial"/>
            </a:endParaRPr>
          </a:p>
        </p:txBody>
      </p:sp>
      <p:sp>
        <p:nvSpPr>
          <p:cNvPr id="14" name="object 14" descr=""/>
          <p:cNvSpPr txBox="1"/>
          <p:nvPr/>
        </p:nvSpPr>
        <p:spPr>
          <a:xfrm>
            <a:off x="4166679" y="2609263"/>
            <a:ext cx="100965" cy="846455"/>
          </a:xfrm>
          <a:prstGeom prst="rect">
            <a:avLst/>
          </a:prstGeom>
        </p:spPr>
        <p:txBody>
          <a:bodyPr wrap="square" lIns="0" tIns="10160" rIns="0" bIns="0" rtlCol="0" vert="vert270">
            <a:spAutoFit/>
          </a:bodyPr>
          <a:lstStyle/>
          <a:p>
            <a:pPr marL="12700">
              <a:lnSpc>
                <a:spcPct val="100000"/>
              </a:lnSpc>
              <a:spcBef>
                <a:spcPts val="80"/>
              </a:spcBef>
            </a:pPr>
            <a:r>
              <a:rPr dirty="0" sz="500" spc="50" b="1">
                <a:latin typeface="Arial"/>
                <a:cs typeface="Arial"/>
              </a:rPr>
              <a:t>MAC</a:t>
            </a:r>
            <a:r>
              <a:rPr dirty="0" sz="500" spc="195" b="1">
                <a:latin typeface="Arial"/>
                <a:cs typeface="Arial"/>
              </a:rPr>
              <a:t> </a:t>
            </a:r>
            <a:r>
              <a:rPr dirty="0" sz="500" spc="-10" b="1">
                <a:latin typeface="Arial"/>
                <a:cs typeface="Arial"/>
              </a:rPr>
              <a:t>Throughput(Mbps)</a:t>
            </a:r>
            <a:endParaRPr sz="500">
              <a:latin typeface="Arial"/>
              <a:cs typeface="Arial"/>
            </a:endParaRPr>
          </a:p>
        </p:txBody>
      </p:sp>
      <p:sp>
        <p:nvSpPr>
          <p:cNvPr id="15" name="object 15" descr=""/>
          <p:cNvSpPr txBox="1"/>
          <p:nvPr/>
        </p:nvSpPr>
        <p:spPr>
          <a:xfrm>
            <a:off x="4264408" y="2090246"/>
            <a:ext cx="1666239" cy="836930"/>
          </a:xfrm>
          <a:prstGeom prst="rect">
            <a:avLst/>
          </a:prstGeom>
        </p:spPr>
        <p:txBody>
          <a:bodyPr wrap="square" lIns="0" tIns="15875" rIns="0" bIns="0" rtlCol="0" vert="horz">
            <a:spAutoFit/>
          </a:bodyPr>
          <a:lstStyle/>
          <a:p>
            <a:pPr marL="300355">
              <a:lnSpc>
                <a:spcPct val="100000"/>
              </a:lnSpc>
              <a:spcBef>
                <a:spcPts val="125"/>
              </a:spcBef>
            </a:pPr>
            <a:r>
              <a:rPr dirty="0" sz="550" spc="-30">
                <a:latin typeface="SimSun"/>
                <a:cs typeface="SimSun"/>
              </a:rPr>
              <a:t>上行拉远时上行</a:t>
            </a:r>
            <a:r>
              <a:rPr dirty="0" sz="550" spc="-20">
                <a:latin typeface="SimSun"/>
                <a:cs typeface="SimSun"/>
              </a:rPr>
              <a:t>M</a:t>
            </a:r>
            <a:r>
              <a:rPr dirty="0" sz="550" spc="-50">
                <a:latin typeface="SimSun"/>
                <a:cs typeface="SimSun"/>
              </a:rPr>
              <a:t> </a:t>
            </a:r>
            <a:r>
              <a:rPr dirty="0" sz="550" spc="-20">
                <a:latin typeface="SimSun"/>
                <a:cs typeface="SimSun"/>
              </a:rPr>
              <a:t>A</a:t>
            </a:r>
            <a:r>
              <a:rPr dirty="0" sz="550" spc="-160">
                <a:latin typeface="SimSun"/>
                <a:cs typeface="SimSun"/>
              </a:rPr>
              <a:t> </a:t>
            </a:r>
            <a:r>
              <a:rPr dirty="0" sz="550" spc="-20">
                <a:latin typeface="SimSun"/>
                <a:cs typeface="SimSun"/>
              </a:rPr>
              <a:t>C</a:t>
            </a:r>
            <a:r>
              <a:rPr dirty="0" sz="550" spc="-55">
                <a:latin typeface="SimSun"/>
                <a:cs typeface="SimSun"/>
              </a:rPr>
              <a:t> 层吞吐量和</a:t>
            </a:r>
            <a:r>
              <a:rPr dirty="0" sz="550" spc="-20">
                <a:latin typeface="SimSun"/>
                <a:cs typeface="SimSun"/>
              </a:rPr>
              <a:t>R</a:t>
            </a:r>
            <a:r>
              <a:rPr dirty="0" sz="550" spc="-125">
                <a:latin typeface="SimSun"/>
                <a:cs typeface="SimSun"/>
              </a:rPr>
              <a:t> </a:t>
            </a:r>
            <a:r>
              <a:rPr dirty="0" sz="550" spc="-20">
                <a:latin typeface="SimSun"/>
                <a:cs typeface="SimSun"/>
              </a:rPr>
              <a:t>S</a:t>
            </a:r>
            <a:r>
              <a:rPr dirty="0" sz="550" spc="-165">
                <a:latin typeface="SimSun"/>
                <a:cs typeface="SimSun"/>
              </a:rPr>
              <a:t> </a:t>
            </a:r>
            <a:r>
              <a:rPr dirty="0" sz="550" spc="-20">
                <a:latin typeface="SimSun"/>
                <a:cs typeface="SimSun"/>
              </a:rPr>
              <a:t>R</a:t>
            </a:r>
            <a:r>
              <a:rPr dirty="0" sz="550" spc="-125">
                <a:latin typeface="SimSun"/>
                <a:cs typeface="SimSun"/>
              </a:rPr>
              <a:t> </a:t>
            </a:r>
            <a:r>
              <a:rPr dirty="0" sz="550" spc="-20">
                <a:latin typeface="SimSun"/>
                <a:cs typeface="SimSun"/>
              </a:rPr>
              <a:t>P</a:t>
            </a:r>
            <a:r>
              <a:rPr dirty="0" sz="550" spc="-70">
                <a:latin typeface="SimSun"/>
                <a:cs typeface="SimSun"/>
              </a:rPr>
              <a:t> 的关系</a:t>
            </a:r>
            <a:endParaRPr sz="550">
              <a:latin typeface="SimSun"/>
              <a:cs typeface="SimSun"/>
            </a:endParaRPr>
          </a:p>
          <a:p>
            <a:pPr marL="12700">
              <a:lnSpc>
                <a:spcPct val="100000"/>
              </a:lnSpc>
              <a:spcBef>
                <a:spcPts val="25"/>
              </a:spcBef>
            </a:pPr>
            <a:r>
              <a:rPr dirty="0" sz="550" spc="-50" b="1">
                <a:latin typeface="Arial"/>
                <a:cs typeface="Arial"/>
              </a:rPr>
              <a:t>5</a:t>
            </a:r>
            <a:endParaRPr sz="550">
              <a:latin typeface="Arial"/>
              <a:cs typeface="Arial"/>
            </a:endParaRPr>
          </a:p>
          <a:p>
            <a:pPr>
              <a:lnSpc>
                <a:spcPct val="100000"/>
              </a:lnSpc>
              <a:spcBef>
                <a:spcPts val="95"/>
              </a:spcBef>
            </a:pPr>
            <a:endParaRPr sz="550">
              <a:latin typeface="Arial"/>
              <a:cs typeface="Arial"/>
            </a:endParaRPr>
          </a:p>
          <a:p>
            <a:pPr marL="388620">
              <a:lnSpc>
                <a:spcPct val="100000"/>
              </a:lnSpc>
            </a:pPr>
            <a:r>
              <a:rPr dirty="0" sz="550" spc="-10">
                <a:latin typeface="SimSun"/>
                <a:cs typeface="SimSun"/>
              </a:rPr>
              <a:t>时隙配比</a:t>
            </a:r>
            <a:r>
              <a:rPr dirty="0" sz="550" spc="-25">
                <a:latin typeface="SimSun"/>
                <a:cs typeface="SimSun"/>
              </a:rPr>
              <a:t>1:1</a:t>
            </a:r>
            <a:endParaRPr sz="550">
              <a:latin typeface="SimSun"/>
              <a:cs typeface="SimSun"/>
            </a:endParaRPr>
          </a:p>
          <a:p>
            <a:pPr marL="12700">
              <a:lnSpc>
                <a:spcPct val="100000"/>
              </a:lnSpc>
              <a:spcBef>
                <a:spcPts val="445"/>
              </a:spcBef>
            </a:pPr>
            <a:r>
              <a:rPr dirty="0" sz="550" spc="-50" b="1">
                <a:latin typeface="Arial"/>
                <a:cs typeface="Arial"/>
              </a:rPr>
              <a:t>4</a:t>
            </a:r>
            <a:endParaRPr sz="550">
              <a:latin typeface="Arial"/>
              <a:cs typeface="Arial"/>
            </a:endParaRPr>
          </a:p>
          <a:p>
            <a:pPr marL="388620">
              <a:lnSpc>
                <a:spcPct val="100000"/>
              </a:lnSpc>
              <a:spcBef>
                <a:spcPts val="335"/>
              </a:spcBef>
            </a:pPr>
            <a:r>
              <a:rPr dirty="0" sz="550" spc="-10">
                <a:latin typeface="SimSun"/>
                <a:cs typeface="SimSun"/>
              </a:rPr>
              <a:t>时隙配比</a:t>
            </a:r>
            <a:r>
              <a:rPr dirty="0" sz="550" spc="-25">
                <a:latin typeface="SimSun"/>
                <a:cs typeface="SimSun"/>
              </a:rPr>
              <a:t>1:3</a:t>
            </a:r>
            <a:endParaRPr sz="550">
              <a:latin typeface="SimSun"/>
              <a:cs typeface="SimSun"/>
            </a:endParaRPr>
          </a:p>
          <a:p>
            <a:pPr>
              <a:lnSpc>
                <a:spcPct val="100000"/>
              </a:lnSpc>
              <a:spcBef>
                <a:spcPts val="160"/>
              </a:spcBef>
            </a:pPr>
            <a:endParaRPr sz="550">
              <a:latin typeface="SimSun"/>
              <a:cs typeface="SimSun"/>
            </a:endParaRPr>
          </a:p>
          <a:p>
            <a:pPr marL="12700">
              <a:lnSpc>
                <a:spcPct val="100000"/>
              </a:lnSpc>
            </a:pPr>
            <a:r>
              <a:rPr dirty="0" sz="550" spc="-50" b="1">
                <a:latin typeface="Arial"/>
                <a:cs typeface="Arial"/>
              </a:rPr>
              <a:t>3</a:t>
            </a:r>
            <a:endParaRPr sz="550">
              <a:latin typeface="Arial"/>
              <a:cs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49765" y="92377"/>
            <a:ext cx="4509770" cy="513080"/>
          </a:xfrm>
          <a:prstGeom prst="rect"/>
        </p:spPr>
        <p:txBody>
          <a:bodyPr wrap="square" lIns="0" tIns="12065" rIns="0" bIns="0" rtlCol="0" vert="horz">
            <a:spAutoFit/>
          </a:bodyPr>
          <a:lstStyle/>
          <a:p>
            <a:pPr marL="12700">
              <a:lnSpc>
                <a:spcPct val="100000"/>
              </a:lnSpc>
              <a:spcBef>
                <a:spcPts val="95"/>
              </a:spcBef>
            </a:pPr>
            <a:r>
              <a:rPr dirty="0" spc="-20">
                <a:latin typeface="Times New Roman"/>
                <a:cs typeface="Times New Roman"/>
              </a:rPr>
              <a:t>3.5G</a:t>
            </a:r>
            <a:r>
              <a:rPr dirty="0" spc="-45"/>
              <a:t>室外覆盖室内的能力</a:t>
            </a:r>
          </a:p>
        </p:txBody>
      </p:sp>
      <p:sp>
        <p:nvSpPr>
          <p:cNvPr id="3" name="object 3" descr=""/>
          <p:cNvSpPr txBox="1"/>
          <p:nvPr/>
        </p:nvSpPr>
        <p:spPr>
          <a:xfrm>
            <a:off x="266052" y="806755"/>
            <a:ext cx="8402320" cy="1653539"/>
          </a:xfrm>
          <a:prstGeom prst="rect">
            <a:avLst/>
          </a:prstGeom>
        </p:spPr>
        <p:txBody>
          <a:bodyPr wrap="square" lIns="0" tIns="52069" rIns="0" bIns="0" rtlCol="0" vert="horz">
            <a:spAutoFit/>
          </a:bodyPr>
          <a:lstStyle/>
          <a:p>
            <a:pPr marL="354965" indent="-342265">
              <a:lnSpc>
                <a:spcPct val="100000"/>
              </a:lnSpc>
              <a:spcBef>
                <a:spcPts val="409"/>
              </a:spcBef>
              <a:buFont typeface="Wingdings"/>
              <a:buChar char=""/>
              <a:tabLst>
                <a:tab pos="354965" algn="l"/>
              </a:tabLst>
            </a:pPr>
            <a:r>
              <a:rPr dirty="0" sz="1300">
                <a:latin typeface="Microsoft YaHei"/>
                <a:cs typeface="Microsoft YaHei"/>
              </a:rPr>
              <a:t>测试目的：掌握</a:t>
            </a:r>
            <a:r>
              <a:rPr dirty="0" sz="1300" spc="-10">
                <a:latin typeface="Microsoft YaHei"/>
                <a:cs typeface="Microsoft YaHei"/>
              </a:rPr>
              <a:t>3.5GHz基站的深度覆盖能力，验证特殊场景下3.5GHz</a:t>
            </a:r>
            <a:r>
              <a:rPr dirty="0" sz="1300" spc="-15">
                <a:latin typeface="Microsoft YaHei"/>
                <a:cs typeface="Microsoft YaHei"/>
              </a:rPr>
              <a:t>室外覆盖室内的可行性。</a:t>
            </a:r>
            <a:endParaRPr sz="1300">
              <a:latin typeface="Microsoft YaHei"/>
              <a:cs typeface="Microsoft YaHei"/>
            </a:endParaRPr>
          </a:p>
          <a:p>
            <a:pPr marL="354965" indent="-342265">
              <a:lnSpc>
                <a:spcPct val="100000"/>
              </a:lnSpc>
              <a:spcBef>
                <a:spcPts val="310"/>
              </a:spcBef>
              <a:buFont typeface="Wingdings"/>
              <a:buChar char=""/>
              <a:tabLst>
                <a:tab pos="354965" algn="l"/>
              </a:tabLst>
            </a:pPr>
            <a:r>
              <a:rPr dirty="0" sz="1300" spc="-10">
                <a:latin typeface="Microsoft YaHei"/>
                <a:cs typeface="Microsoft YaHei"/>
              </a:rPr>
              <a:t>测试环境：</a:t>
            </a:r>
            <a:endParaRPr sz="1300">
              <a:latin typeface="Microsoft YaHei"/>
              <a:cs typeface="Microsoft YaHei"/>
            </a:endParaRPr>
          </a:p>
          <a:p>
            <a:pPr lvl="1" marL="755015" indent="-285115">
              <a:lnSpc>
                <a:spcPct val="100000"/>
              </a:lnSpc>
              <a:spcBef>
                <a:spcPts val="290"/>
              </a:spcBef>
              <a:buClr>
                <a:srgbClr val="00B0F0"/>
              </a:buClr>
              <a:buFont typeface="Wingdings"/>
              <a:buChar char=""/>
              <a:tabLst>
                <a:tab pos="755015" algn="l"/>
              </a:tabLst>
            </a:pPr>
            <a:r>
              <a:rPr dirty="0" sz="1200" spc="-10">
                <a:latin typeface="Microsoft YaHei"/>
                <a:cs typeface="Microsoft YaHei"/>
              </a:rPr>
              <a:t>5G</a:t>
            </a:r>
            <a:r>
              <a:rPr dirty="0" sz="1200">
                <a:latin typeface="Microsoft YaHei"/>
                <a:cs typeface="Microsoft YaHei"/>
              </a:rPr>
              <a:t>基站发射功率配测试区域为四川成都天府区邮储大厦</a:t>
            </a:r>
            <a:r>
              <a:rPr dirty="0" sz="1200" spc="-10">
                <a:latin typeface="Microsoft YaHei"/>
                <a:cs typeface="Microsoft YaHei"/>
              </a:rPr>
              <a:t>4F西侧配楼及部分走廊</a:t>
            </a:r>
            <a:endParaRPr sz="1200">
              <a:latin typeface="Microsoft YaHei"/>
              <a:cs typeface="Microsoft YaHei"/>
            </a:endParaRPr>
          </a:p>
          <a:p>
            <a:pPr lvl="1" marL="755015" indent="-285115">
              <a:lnSpc>
                <a:spcPct val="100000"/>
              </a:lnSpc>
              <a:spcBef>
                <a:spcPts val="285"/>
              </a:spcBef>
              <a:buClr>
                <a:srgbClr val="00B0F0"/>
              </a:buClr>
              <a:buFont typeface="Wingdings"/>
              <a:buChar char=""/>
              <a:tabLst>
                <a:tab pos="755015" algn="l"/>
              </a:tabLst>
            </a:pPr>
            <a:r>
              <a:rPr dirty="0" sz="1200">
                <a:latin typeface="Microsoft YaHei"/>
                <a:cs typeface="Microsoft YaHei"/>
              </a:rPr>
              <a:t>由于</a:t>
            </a:r>
            <a:r>
              <a:rPr dirty="0" sz="1200" spc="-10">
                <a:latin typeface="Microsoft YaHei"/>
                <a:cs typeface="Microsoft YaHei"/>
              </a:rPr>
              <a:t>LTE</a:t>
            </a:r>
            <a:r>
              <a:rPr dirty="0" sz="1200">
                <a:latin typeface="Microsoft YaHei"/>
                <a:cs typeface="Microsoft YaHei"/>
              </a:rPr>
              <a:t>小区并非主覆盖邮储大楼，部分测试区域处于</a:t>
            </a:r>
            <a:r>
              <a:rPr dirty="0" sz="1200" spc="-10">
                <a:latin typeface="Microsoft YaHei"/>
                <a:cs typeface="Microsoft YaHei"/>
              </a:rPr>
              <a:t>1.8G</a:t>
            </a:r>
            <a:r>
              <a:rPr dirty="0" sz="1200">
                <a:latin typeface="Microsoft YaHei"/>
                <a:cs typeface="Microsoft YaHei"/>
              </a:rPr>
              <a:t>小区的旁瓣，此测试环境</a:t>
            </a:r>
            <a:r>
              <a:rPr dirty="0" sz="1200" spc="-10">
                <a:latin typeface="Microsoft YaHei"/>
                <a:cs typeface="Microsoft YaHei"/>
              </a:rPr>
              <a:t>3.5G</a:t>
            </a:r>
            <a:r>
              <a:rPr dirty="0" sz="1200">
                <a:latin typeface="Microsoft YaHei"/>
                <a:cs typeface="Microsoft YaHei"/>
              </a:rPr>
              <a:t>和</a:t>
            </a:r>
            <a:r>
              <a:rPr dirty="0" sz="1200" spc="-10">
                <a:latin typeface="Microsoft YaHei"/>
                <a:cs typeface="Microsoft YaHei"/>
              </a:rPr>
              <a:t>1.8G工参上存在差异。</a:t>
            </a:r>
            <a:endParaRPr sz="1200">
              <a:latin typeface="Microsoft YaHei"/>
              <a:cs typeface="Microsoft YaHei"/>
            </a:endParaRPr>
          </a:p>
          <a:p>
            <a:pPr marL="354965" indent="-342265">
              <a:lnSpc>
                <a:spcPct val="100000"/>
              </a:lnSpc>
              <a:spcBef>
                <a:spcPts val="315"/>
              </a:spcBef>
              <a:buFont typeface="Wingdings"/>
              <a:buChar char=""/>
              <a:tabLst>
                <a:tab pos="354965" algn="l"/>
              </a:tabLst>
            </a:pPr>
            <a:r>
              <a:rPr dirty="0" sz="1300" spc="-10">
                <a:latin typeface="Microsoft YaHei"/>
                <a:cs typeface="Microsoft YaHei"/>
              </a:rPr>
              <a:t>测试结果：</a:t>
            </a:r>
            <a:endParaRPr sz="1300">
              <a:latin typeface="Microsoft YaHei"/>
              <a:cs typeface="Microsoft YaHei"/>
            </a:endParaRPr>
          </a:p>
          <a:p>
            <a:pPr lvl="1" marL="755015" indent="-285115">
              <a:lnSpc>
                <a:spcPct val="100000"/>
              </a:lnSpc>
              <a:spcBef>
                <a:spcPts val="310"/>
              </a:spcBef>
              <a:buClr>
                <a:srgbClr val="00B0F0"/>
              </a:buClr>
              <a:buFont typeface="Wingdings"/>
              <a:buChar char=""/>
              <a:tabLst>
                <a:tab pos="755015" algn="l"/>
              </a:tabLst>
            </a:pPr>
            <a:r>
              <a:rPr dirty="0" sz="1300" spc="-10">
                <a:latin typeface="Microsoft YaHei"/>
                <a:cs typeface="Microsoft YaHei"/>
              </a:rPr>
              <a:t>1.8G由于所处旁瓣且现网有明显的同频干扰，在室内为上行弱覆盖，RSRP</a:t>
            </a:r>
            <a:r>
              <a:rPr dirty="0" sz="1300" spc="-5">
                <a:latin typeface="Microsoft YaHei"/>
                <a:cs typeface="Microsoft YaHei"/>
              </a:rPr>
              <a:t>边缘-</a:t>
            </a:r>
            <a:r>
              <a:rPr dirty="0" sz="1300" spc="-10">
                <a:latin typeface="Microsoft YaHei"/>
                <a:cs typeface="Microsoft YaHei"/>
              </a:rPr>
              <a:t>110dBm</a:t>
            </a:r>
            <a:endParaRPr sz="1300">
              <a:latin typeface="Microsoft YaHei"/>
              <a:cs typeface="Microsoft YaHei"/>
            </a:endParaRPr>
          </a:p>
          <a:p>
            <a:pPr lvl="1" marL="755015" indent="-285115">
              <a:lnSpc>
                <a:spcPct val="100000"/>
              </a:lnSpc>
              <a:spcBef>
                <a:spcPts val="315"/>
              </a:spcBef>
              <a:buClr>
                <a:srgbClr val="00B0F0"/>
              </a:buClr>
              <a:buFont typeface="Wingdings"/>
              <a:buChar char=""/>
              <a:tabLst>
                <a:tab pos="755015" algn="l"/>
              </a:tabLst>
            </a:pPr>
            <a:r>
              <a:rPr dirty="0" sz="1300" spc="-10">
                <a:latin typeface="Microsoft YaHei"/>
                <a:cs typeface="Microsoft YaHei"/>
              </a:rPr>
              <a:t>3.5G由于波束赋形增益且无同频干扰，室内覆盖相对较好，RSRP</a:t>
            </a:r>
            <a:r>
              <a:rPr dirty="0" sz="1300" spc="-5">
                <a:latin typeface="Microsoft YaHei"/>
                <a:cs typeface="Microsoft YaHei"/>
              </a:rPr>
              <a:t>边缘-</a:t>
            </a:r>
            <a:r>
              <a:rPr dirty="0" sz="1300" spc="-10">
                <a:latin typeface="Microsoft YaHei"/>
                <a:cs typeface="Microsoft YaHei"/>
              </a:rPr>
              <a:t>115dBm</a:t>
            </a:r>
            <a:r>
              <a:rPr dirty="0" sz="1300" spc="-20">
                <a:latin typeface="Microsoft YaHei"/>
                <a:cs typeface="Microsoft YaHei"/>
              </a:rPr>
              <a:t>左右。</a:t>
            </a:r>
            <a:endParaRPr sz="1300">
              <a:latin typeface="Microsoft YaHei"/>
              <a:cs typeface="Microsoft YaHei"/>
            </a:endParaRPr>
          </a:p>
        </p:txBody>
      </p:sp>
      <p:sp>
        <p:nvSpPr>
          <p:cNvPr id="4" name="object 4" descr=""/>
          <p:cNvSpPr/>
          <p:nvPr/>
        </p:nvSpPr>
        <p:spPr>
          <a:xfrm>
            <a:off x="83032" y="4658474"/>
            <a:ext cx="9027795" cy="485140"/>
          </a:xfrm>
          <a:custGeom>
            <a:avLst/>
            <a:gdLst/>
            <a:ahLst/>
            <a:cxnLst/>
            <a:rect l="l" t="t" r="r" b="b"/>
            <a:pathLst>
              <a:path w="9027795" h="485139">
                <a:moveTo>
                  <a:pt x="9027464" y="0"/>
                </a:moveTo>
                <a:lnTo>
                  <a:pt x="0" y="0"/>
                </a:lnTo>
                <a:lnTo>
                  <a:pt x="0" y="485025"/>
                </a:lnTo>
                <a:lnTo>
                  <a:pt x="9027464" y="485025"/>
                </a:lnTo>
                <a:lnTo>
                  <a:pt x="9027464" y="0"/>
                </a:lnTo>
                <a:close/>
              </a:path>
            </a:pathLst>
          </a:custGeom>
          <a:solidFill>
            <a:srgbClr val="C00000"/>
          </a:solidFill>
        </p:spPr>
        <p:txBody>
          <a:bodyPr wrap="square" lIns="0" tIns="0" rIns="0" bIns="0" rtlCol="0"/>
          <a:lstStyle/>
          <a:p/>
        </p:txBody>
      </p:sp>
      <p:sp>
        <p:nvSpPr>
          <p:cNvPr id="5" name="object 5" descr=""/>
          <p:cNvSpPr txBox="1"/>
          <p:nvPr/>
        </p:nvSpPr>
        <p:spPr>
          <a:xfrm>
            <a:off x="529827" y="4673975"/>
            <a:ext cx="8134350" cy="452120"/>
          </a:xfrm>
          <a:prstGeom prst="rect">
            <a:avLst/>
          </a:prstGeom>
        </p:spPr>
        <p:txBody>
          <a:bodyPr wrap="square" lIns="0" tIns="12065" rIns="0" bIns="0" rtlCol="0" vert="horz">
            <a:spAutoFit/>
          </a:bodyPr>
          <a:lstStyle/>
          <a:p>
            <a:pPr marL="511175" marR="5080" indent="-499109">
              <a:lnSpc>
                <a:spcPct val="100000"/>
              </a:lnSpc>
              <a:spcBef>
                <a:spcPts val="95"/>
              </a:spcBef>
            </a:pPr>
            <a:r>
              <a:rPr dirty="0" sz="1400" spc="-20" b="1">
                <a:solidFill>
                  <a:srgbClr val="FFFFFF"/>
                </a:solidFill>
                <a:latin typeface="Microsoft YaHei"/>
                <a:cs typeface="Microsoft YaHei"/>
              </a:rPr>
              <a:t>结论：3.5GHz</a:t>
            </a:r>
            <a:r>
              <a:rPr dirty="0" sz="1400" spc="-25" b="1">
                <a:solidFill>
                  <a:srgbClr val="FFFFFF"/>
                </a:solidFill>
                <a:latin typeface="Microsoft YaHei"/>
                <a:cs typeface="Microsoft YaHei"/>
              </a:rPr>
              <a:t>发挥了大规模天线分层覆盖和波束赋形的优势，在穿透建筑物第一堵墙后具有更强的信号</a:t>
            </a:r>
            <a:r>
              <a:rPr dirty="0" sz="1400" spc="-20" b="1">
                <a:solidFill>
                  <a:srgbClr val="FFFFFF"/>
                </a:solidFill>
                <a:latin typeface="Microsoft YaHei"/>
                <a:cs typeface="Microsoft YaHei"/>
              </a:rPr>
              <a:t>强度，但更深的穿透能力不如</a:t>
            </a:r>
            <a:r>
              <a:rPr dirty="0" sz="1400" spc="-10" b="1">
                <a:solidFill>
                  <a:srgbClr val="FFFFFF"/>
                </a:solidFill>
                <a:latin typeface="Microsoft YaHei"/>
                <a:cs typeface="Microsoft YaHei"/>
              </a:rPr>
              <a:t>1.8GHz</a:t>
            </a:r>
            <a:r>
              <a:rPr dirty="0" sz="1400" spc="-50" b="1">
                <a:solidFill>
                  <a:srgbClr val="FFFFFF"/>
                </a:solidFill>
                <a:latin typeface="Microsoft YaHei"/>
                <a:cs typeface="Microsoft YaHei"/>
              </a:rPr>
              <a:t>。</a:t>
            </a:r>
            <a:endParaRPr sz="1400">
              <a:latin typeface="Microsoft YaHei"/>
              <a:cs typeface="Microsoft YaHei"/>
            </a:endParaRPr>
          </a:p>
        </p:txBody>
      </p:sp>
      <p:pic>
        <p:nvPicPr>
          <p:cNvPr id="6" name="object 6"/>
          <p:cNvPicPr/>
          <p:nvPr/>
        </p:nvPicPr>
        <p:blipFill>
          <a:blip r:embed="rId2" cstate="print"/>
          <a:stretch>
            <a:fillRect/>
          </a:stretch>
        </p:blipFill>
        <p:spPr>
          <a:xfrm>
            <a:off x="228096" y="2811665"/>
            <a:ext cx="2528553" cy="1629394"/>
          </a:xfrm>
          <a:prstGeom prst="rect">
            <a:avLst/>
          </a:prstGeom>
        </p:spPr>
      </p:pic>
      <p:grpSp>
        <p:nvGrpSpPr>
          <p:cNvPr id="7" name="object 7" descr=""/>
          <p:cNvGrpSpPr/>
          <p:nvPr/>
        </p:nvGrpSpPr>
        <p:grpSpPr>
          <a:xfrm>
            <a:off x="6336689" y="3090900"/>
            <a:ext cx="2638425" cy="1202055"/>
            <a:chOff x="6336689" y="3090900"/>
            <a:chExt cx="2638425" cy="1202055"/>
          </a:xfrm>
        </p:grpSpPr>
        <p:sp>
          <p:nvSpPr>
            <p:cNvPr id="8" name="object 8" descr=""/>
            <p:cNvSpPr/>
            <p:nvPr/>
          </p:nvSpPr>
          <p:spPr>
            <a:xfrm>
              <a:off x="6338911" y="4290421"/>
              <a:ext cx="2633980" cy="0"/>
            </a:xfrm>
            <a:custGeom>
              <a:avLst/>
              <a:gdLst/>
              <a:ahLst/>
              <a:cxnLst/>
              <a:rect l="l" t="t" r="r" b="b"/>
              <a:pathLst>
                <a:path w="2633979" h="0">
                  <a:moveTo>
                    <a:pt x="0" y="0"/>
                  </a:moveTo>
                  <a:lnTo>
                    <a:pt x="2633575" y="0"/>
                  </a:lnTo>
                </a:path>
              </a:pathLst>
            </a:custGeom>
            <a:ln w="4132">
              <a:solidFill>
                <a:srgbClr val="DADADA"/>
              </a:solidFill>
            </a:ln>
          </p:spPr>
          <p:txBody>
            <a:bodyPr wrap="square" lIns="0" tIns="0" rIns="0" bIns="0" rtlCol="0"/>
            <a:lstStyle/>
            <a:p/>
          </p:txBody>
        </p:sp>
        <p:sp>
          <p:nvSpPr>
            <p:cNvPr id="9" name="object 9" descr=""/>
            <p:cNvSpPr/>
            <p:nvPr/>
          </p:nvSpPr>
          <p:spPr>
            <a:xfrm>
              <a:off x="6338911" y="3605071"/>
              <a:ext cx="2633980" cy="342900"/>
            </a:xfrm>
            <a:custGeom>
              <a:avLst/>
              <a:gdLst/>
              <a:ahLst/>
              <a:cxnLst/>
              <a:rect l="l" t="t" r="r" b="b"/>
              <a:pathLst>
                <a:path w="2633979" h="342900">
                  <a:moveTo>
                    <a:pt x="1933984" y="342675"/>
                  </a:moveTo>
                  <a:lnTo>
                    <a:pt x="2014479" y="342675"/>
                  </a:lnTo>
                </a:path>
                <a:path w="2633979" h="342900">
                  <a:moveTo>
                    <a:pt x="2309655" y="342675"/>
                  </a:moveTo>
                  <a:lnTo>
                    <a:pt x="2633575" y="342675"/>
                  </a:lnTo>
                </a:path>
                <a:path w="2633979" h="342900">
                  <a:moveTo>
                    <a:pt x="0" y="342675"/>
                  </a:moveTo>
                  <a:lnTo>
                    <a:pt x="323927" y="342675"/>
                  </a:lnTo>
                </a:path>
                <a:path w="2633979" h="342900">
                  <a:moveTo>
                    <a:pt x="619104" y="342675"/>
                  </a:moveTo>
                  <a:lnTo>
                    <a:pt x="1638807" y="342675"/>
                  </a:lnTo>
                </a:path>
                <a:path w="2633979" h="342900">
                  <a:moveTo>
                    <a:pt x="2309655" y="173401"/>
                  </a:moveTo>
                  <a:lnTo>
                    <a:pt x="2633575" y="173401"/>
                  </a:lnTo>
                </a:path>
                <a:path w="2633979" h="342900">
                  <a:moveTo>
                    <a:pt x="619104" y="173401"/>
                  </a:moveTo>
                  <a:lnTo>
                    <a:pt x="699605" y="173401"/>
                  </a:lnTo>
                </a:path>
                <a:path w="2633979" h="342900">
                  <a:moveTo>
                    <a:pt x="1933984" y="173401"/>
                  </a:moveTo>
                  <a:lnTo>
                    <a:pt x="2014479" y="173401"/>
                  </a:lnTo>
                </a:path>
                <a:path w="2633979" h="342900">
                  <a:moveTo>
                    <a:pt x="0" y="173401"/>
                  </a:moveTo>
                  <a:lnTo>
                    <a:pt x="323927" y="173401"/>
                  </a:lnTo>
                </a:path>
                <a:path w="2633979" h="342900">
                  <a:moveTo>
                    <a:pt x="994781" y="173401"/>
                  </a:moveTo>
                  <a:lnTo>
                    <a:pt x="1638807" y="173401"/>
                  </a:lnTo>
                </a:path>
                <a:path w="2633979" h="342900">
                  <a:moveTo>
                    <a:pt x="2309655" y="0"/>
                  </a:moveTo>
                  <a:lnTo>
                    <a:pt x="2633575" y="0"/>
                  </a:lnTo>
                </a:path>
                <a:path w="2633979" h="342900">
                  <a:moveTo>
                    <a:pt x="0" y="0"/>
                  </a:moveTo>
                  <a:lnTo>
                    <a:pt x="323927" y="0"/>
                  </a:lnTo>
                </a:path>
                <a:path w="2633979" h="342900">
                  <a:moveTo>
                    <a:pt x="619104" y="0"/>
                  </a:moveTo>
                  <a:lnTo>
                    <a:pt x="699605" y="0"/>
                  </a:lnTo>
                </a:path>
                <a:path w="2633979" h="342900">
                  <a:moveTo>
                    <a:pt x="1933984" y="0"/>
                  </a:moveTo>
                  <a:lnTo>
                    <a:pt x="2014479" y="0"/>
                  </a:lnTo>
                </a:path>
                <a:path w="2633979" h="342900">
                  <a:moveTo>
                    <a:pt x="994781" y="0"/>
                  </a:moveTo>
                  <a:lnTo>
                    <a:pt x="1638807" y="0"/>
                  </a:lnTo>
                </a:path>
              </a:pathLst>
            </a:custGeom>
            <a:ln w="4132">
              <a:solidFill>
                <a:srgbClr val="DADADA"/>
              </a:solidFill>
            </a:ln>
          </p:spPr>
          <p:txBody>
            <a:bodyPr wrap="square" lIns="0" tIns="0" rIns="0" bIns="0" rtlCol="0"/>
            <a:lstStyle/>
            <a:p/>
          </p:txBody>
        </p:sp>
        <p:sp>
          <p:nvSpPr>
            <p:cNvPr id="10" name="object 10" descr=""/>
            <p:cNvSpPr/>
            <p:nvPr/>
          </p:nvSpPr>
          <p:spPr>
            <a:xfrm>
              <a:off x="6338911" y="3262396"/>
              <a:ext cx="2633980" cy="173990"/>
            </a:xfrm>
            <a:custGeom>
              <a:avLst/>
              <a:gdLst/>
              <a:ahLst/>
              <a:cxnLst/>
              <a:rect l="l" t="t" r="r" b="b"/>
              <a:pathLst>
                <a:path w="2633979" h="173989">
                  <a:moveTo>
                    <a:pt x="0" y="173401"/>
                  </a:moveTo>
                  <a:lnTo>
                    <a:pt x="323927" y="173401"/>
                  </a:lnTo>
                </a:path>
                <a:path w="2633979" h="173989">
                  <a:moveTo>
                    <a:pt x="619104" y="173401"/>
                  </a:moveTo>
                  <a:lnTo>
                    <a:pt x="699605" y="173401"/>
                  </a:lnTo>
                </a:path>
                <a:path w="2633979" h="173989">
                  <a:moveTo>
                    <a:pt x="994781" y="173401"/>
                  </a:moveTo>
                  <a:lnTo>
                    <a:pt x="1638807" y="173401"/>
                  </a:lnTo>
                </a:path>
                <a:path w="2633979" h="173989">
                  <a:moveTo>
                    <a:pt x="1933984" y="173401"/>
                  </a:moveTo>
                  <a:lnTo>
                    <a:pt x="2014479" y="173401"/>
                  </a:lnTo>
                </a:path>
                <a:path w="2633979" h="173989">
                  <a:moveTo>
                    <a:pt x="2309655" y="173401"/>
                  </a:moveTo>
                  <a:lnTo>
                    <a:pt x="2633575" y="173401"/>
                  </a:lnTo>
                </a:path>
                <a:path w="2633979" h="173989">
                  <a:moveTo>
                    <a:pt x="0" y="0"/>
                  </a:moveTo>
                  <a:lnTo>
                    <a:pt x="323927" y="0"/>
                  </a:lnTo>
                </a:path>
                <a:path w="2633979" h="173989">
                  <a:moveTo>
                    <a:pt x="619104" y="0"/>
                  </a:moveTo>
                  <a:lnTo>
                    <a:pt x="699605" y="0"/>
                  </a:lnTo>
                </a:path>
                <a:path w="2633979" h="173989">
                  <a:moveTo>
                    <a:pt x="994781" y="0"/>
                  </a:moveTo>
                  <a:lnTo>
                    <a:pt x="1638807" y="0"/>
                  </a:lnTo>
                </a:path>
                <a:path w="2633979" h="173989">
                  <a:moveTo>
                    <a:pt x="1933984" y="0"/>
                  </a:moveTo>
                  <a:lnTo>
                    <a:pt x="2014479" y="0"/>
                  </a:lnTo>
                </a:path>
                <a:path w="2633979" h="173989">
                  <a:moveTo>
                    <a:pt x="2309655" y="0"/>
                  </a:moveTo>
                  <a:lnTo>
                    <a:pt x="2633575" y="0"/>
                  </a:lnTo>
                </a:path>
              </a:pathLst>
            </a:custGeom>
            <a:ln w="4132">
              <a:solidFill>
                <a:srgbClr val="DADADA"/>
              </a:solidFill>
            </a:ln>
          </p:spPr>
          <p:txBody>
            <a:bodyPr wrap="square" lIns="0" tIns="0" rIns="0" bIns="0" rtlCol="0"/>
            <a:lstStyle/>
            <a:p/>
          </p:txBody>
        </p:sp>
        <p:sp>
          <p:nvSpPr>
            <p:cNvPr id="11" name="object 11" descr=""/>
            <p:cNvSpPr/>
            <p:nvPr/>
          </p:nvSpPr>
          <p:spPr>
            <a:xfrm>
              <a:off x="6662839" y="3091065"/>
              <a:ext cx="1610360" cy="941705"/>
            </a:xfrm>
            <a:custGeom>
              <a:avLst/>
              <a:gdLst/>
              <a:ahLst/>
              <a:cxnLst/>
              <a:rect l="l" t="t" r="r" b="b"/>
              <a:pathLst>
                <a:path w="1610359" h="941704">
                  <a:moveTo>
                    <a:pt x="295173" y="0"/>
                  </a:moveTo>
                  <a:lnTo>
                    <a:pt x="0" y="0"/>
                  </a:lnTo>
                  <a:lnTo>
                    <a:pt x="0" y="867003"/>
                  </a:lnTo>
                  <a:lnTo>
                    <a:pt x="295173" y="867003"/>
                  </a:lnTo>
                  <a:lnTo>
                    <a:pt x="295173" y="0"/>
                  </a:lnTo>
                  <a:close/>
                </a:path>
                <a:path w="1610359" h="941704">
                  <a:moveTo>
                    <a:pt x="1610055" y="0"/>
                  </a:moveTo>
                  <a:lnTo>
                    <a:pt x="1314869" y="0"/>
                  </a:lnTo>
                  <a:lnTo>
                    <a:pt x="1314869" y="941324"/>
                  </a:lnTo>
                  <a:lnTo>
                    <a:pt x="1610055" y="941324"/>
                  </a:lnTo>
                  <a:lnTo>
                    <a:pt x="1610055" y="0"/>
                  </a:lnTo>
                  <a:close/>
                </a:path>
              </a:pathLst>
            </a:custGeom>
            <a:solidFill>
              <a:srgbClr val="5B9BD5"/>
            </a:solidFill>
          </p:spPr>
          <p:txBody>
            <a:bodyPr wrap="square" lIns="0" tIns="0" rIns="0" bIns="0" rtlCol="0"/>
            <a:lstStyle/>
            <a:p/>
          </p:txBody>
        </p:sp>
        <p:sp>
          <p:nvSpPr>
            <p:cNvPr id="12" name="object 12" descr=""/>
            <p:cNvSpPr/>
            <p:nvPr/>
          </p:nvSpPr>
          <p:spPr>
            <a:xfrm>
              <a:off x="7038505" y="3091065"/>
              <a:ext cx="1610360" cy="1003300"/>
            </a:xfrm>
            <a:custGeom>
              <a:avLst/>
              <a:gdLst/>
              <a:ahLst/>
              <a:cxnLst/>
              <a:rect l="l" t="t" r="r" b="b"/>
              <a:pathLst>
                <a:path w="1610359" h="1003300">
                  <a:moveTo>
                    <a:pt x="295186" y="0"/>
                  </a:moveTo>
                  <a:lnTo>
                    <a:pt x="0" y="0"/>
                  </a:lnTo>
                  <a:lnTo>
                    <a:pt x="0" y="792695"/>
                  </a:lnTo>
                  <a:lnTo>
                    <a:pt x="295186" y="792695"/>
                  </a:lnTo>
                  <a:lnTo>
                    <a:pt x="295186" y="0"/>
                  </a:lnTo>
                  <a:close/>
                </a:path>
                <a:path w="1610359" h="1003300">
                  <a:moveTo>
                    <a:pt x="1610055" y="0"/>
                  </a:moveTo>
                  <a:lnTo>
                    <a:pt x="1314881" y="0"/>
                  </a:lnTo>
                  <a:lnTo>
                    <a:pt x="1314881" y="1003261"/>
                  </a:lnTo>
                  <a:lnTo>
                    <a:pt x="1610055" y="1003261"/>
                  </a:lnTo>
                  <a:lnTo>
                    <a:pt x="1610055" y="0"/>
                  </a:lnTo>
                  <a:close/>
                </a:path>
              </a:pathLst>
            </a:custGeom>
            <a:solidFill>
              <a:srgbClr val="ED7D31"/>
            </a:solidFill>
          </p:spPr>
          <p:txBody>
            <a:bodyPr wrap="square" lIns="0" tIns="0" rIns="0" bIns="0" rtlCol="0"/>
            <a:lstStyle/>
            <a:p/>
          </p:txBody>
        </p:sp>
        <p:sp>
          <p:nvSpPr>
            <p:cNvPr id="13" name="object 13" descr=""/>
            <p:cNvSpPr/>
            <p:nvPr/>
          </p:nvSpPr>
          <p:spPr>
            <a:xfrm>
              <a:off x="6338911" y="3093122"/>
              <a:ext cx="2633980" cy="0"/>
            </a:xfrm>
            <a:custGeom>
              <a:avLst/>
              <a:gdLst/>
              <a:ahLst/>
              <a:cxnLst/>
              <a:rect l="l" t="t" r="r" b="b"/>
              <a:pathLst>
                <a:path w="2633979" h="0">
                  <a:moveTo>
                    <a:pt x="0" y="0"/>
                  </a:moveTo>
                  <a:lnTo>
                    <a:pt x="2633587" y="0"/>
                  </a:lnTo>
                </a:path>
              </a:pathLst>
            </a:custGeom>
            <a:ln w="4132">
              <a:solidFill>
                <a:srgbClr val="DADADA"/>
              </a:solidFill>
            </a:ln>
          </p:spPr>
          <p:txBody>
            <a:bodyPr wrap="square" lIns="0" tIns="0" rIns="0" bIns="0" rtlCol="0"/>
            <a:lstStyle/>
            <a:p/>
          </p:txBody>
        </p:sp>
      </p:grpSp>
      <p:sp>
        <p:nvSpPr>
          <p:cNvPr id="14" name="object 14" descr=""/>
          <p:cNvSpPr txBox="1"/>
          <p:nvPr/>
        </p:nvSpPr>
        <p:spPr>
          <a:xfrm>
            <a:off x="6704308" y="3966491"/>
            <a:ext cx="226060" cy="129539"/>
          </a:xfrm>
          <a:prstGeom prst="rect">
            <a:avLst/>
          </a:prstGeom>
        </p:spPr>
        <p:txBody>
          <a:bodyPr wrap="square" lIns="0" tIns="16510" rIns="0" bIns="0" rtlCol="0" vert="horz">
            <a:spAutoFit/>
          </a:bodyPr>
          <a:lstStyle/>
          <a:p>
            <a:pPr>
              <a:lnSpc>
                <a:spcPct val="100000"/>
              </a:lnSpc>
              <a:spcBef>
                <a:spcPts val="130"/>
              </a:spcBef>
            </a:pPr>
            <a:r>
              <a:rPr dirty="0" sz="650" spc="-30" b="1">
                <a:solidFill>
                  <a:srgbClr val="3E3E3E"/>
                </a:solidFill>
                <a:latin typeface="Calibri"/>
                <a:cs typeface="Calibri"/>
              </a:rPr>
              <a:t>-</a:t>
            </a:r>
            <a:r>
              <a:rPr dirty="0" sz="650" spc="-10" b="1">
                <a:solidFill>
                  <a:srgbClr val="3E3E3E"/>
                </a:solidFill>
                <a:latin typeface="Calibri"/>
                <a:cs typeface="Calibri"/>
              </a:rPr>
              <a:t>101.2</a:t>
            </a:r>
            <a:endParaRPr sz="650">
              <a:latin typeface="Calibri"/>
              <a:cs typeface="Calibri"/>
            </a:endParaRPr>
          </a:p>
        </p:txBody>
      </p:sp>
      <p:sp>
        <p:nvSpPr>
          <p:cNvPr id="15" name="object 15" descr=""/>
          <p:cNvSpPr txBox="1"/>
          <p:nvPr/>
        </p:nvSpPr>
        <p:spPr>
          <a:xfrm>
            <a:off x="7078943" y="3892730"/>
            <a:ext cx="227965" cy="129539"/>
          </a:xfrm>
          <a:prstGeom prst="rect">
            <a:avLst/>
          </a:prstGeom>
        </p:spPr>
        <p:txBody>
          <a:bodyPr wrap="square" lIns="0" tIns="16510" rIns="0" bIns="0" rtlCol="0" vert="horz">
            <a:spAutoFit/>
          </a:bodyPr>
          <a:lstStyle/>
          <a:p>
            <a:pPr>
              <a:lnSpc>
                <a:spcPct val="100000"/>
              </a:lnSpc>
              <a:spcBef>
                <a:spcPts val="130"/>
              </a:spcBef>
            </a:pPr>
            <a:r>
              <a:rPr dirty="0" sz="650" spc="-30" b="1">
                <a:solidFill>
                  <a:srgbClr val="3E3E3E"/>
                </a:solidFill>
                <a:latin typeface="Calibri"/>
                <a:cs typeface="Calibri"/>
              </a:rPr>
              <a:t>-</a:t>
            </a:r>
            <a:r>
              <a:rPr dirty="0" sz="650" spc="-10" b="1">
                <a:solidFill>
                  <a:srgbClr val="3E3E3E"/>
                </a:solidFill>
                <a:latin typeface="Calibri"/>
                <a:cs typeface="Calibri"/>
              </a:rPr>
              <a:t>92.58</a:t>
            </a:r>
            <a:endParaRPr sz="650">
              <a:latin typeface="Calibri"/>
              <a:cs typeface="Calibri"/>
            </a:endParaRPr>
          </a:p>
        </p:txBody>
      </p:sp>
      <p:sp>
        <p:nvSpPr>
          <p:cNvPr id="16" name="object 16" descr=""/>
          <p:cNvSpPr txBox="1"/>
          <p:nvPr/>
        </p:nvSpPr>
        <p:spPr>
          <a:xfrm>
            <a:off x="8425270" y="4101693"/>
            <a:ext cx="162560" cy="129539"/>
          </a:xfrm>
          <a:prstGeom prst="rect">
            <a:avLst/>
          </a:prstGeom>
        </p:spPr>
        <p:txBody>
          <a:bodyPr wrap="square" lIns="0" tIns="16510" rIns="0" bIns="0" rtlCol="0" vert="horz">
            <a:spAutoFit/>
          </a:bodyPr>
          <a:lstStyle/>
          <a:p>
            <a:pPr>
              <a:lnSpc>
                <a:spcPct val="100000"/>
              </a:lnSpc>
              <a:spcBef>
                <a:spcPts val="130"/>
              </a:spcBef>
            </a:pPr>
            <a:r>
              <a:rPr dirty="0" sz="650" spc="-30" b="1">
                <a:solidFill>
                  <a:srgbClr val="3E3E3E"/>
                </a:solidFill>
                <a:latin typeface="Calibri"/>
                <a:cs typeface="Calibri"/>
              </a:rPr>
              <a:t>-</a:t>
            </a:r>
            <a:r>
              <a:rPr dirty="0" sz="650" spc="-25" b="1">
                <a:solidFill>
                  <a:srgbClr val="3E3E3E"/>
                </a:solidFill>
                <a:latin typeface="Calibri"/>
                <a:cs typeface="Calibri"/>
              </a:rPr>
              <a:t>117</a:t>
            </a:r>
            <a:endParaRPr sz="650">
              <a:latin typeface="Calibri"/>
              <a:cs typeface="Calibri"/>
            </a:endParaRPr>
          </a:p>
        </p:txBody>
      </p:sp>
      <p:sp>
        <p:nvSpPr>
          <p:cNvPr id="17" name="object 17" descr=""/>
          <p:cNvSpPr txBox="1"/>
          <p:nvPr/>
        </p:nvSpPr>
        <p:spPr>
          <a:xfrm>
            <a:off x="6115292" y="4215122"/>
            <a:ext cx="161290" cy="129539"/>
          </a:xfrm>
          <a:prstGeom prst="rect">
            <a:avLst/>
          </a:prstGeom>
        </p:spPr>
        <p:txBody>
          <a:bodyPr wrap="square" lIns="0" tIns="16510" rIns="0" bIns="0" rtlCol="0" vert="horz">
            <a:spAutoFit/>
          </a:bodyPr>
          <a:lstStyle/>
          <a:p>
            <a:pPr>
              <a:lnSpc>
                <a:spcPct val="100000"/>
              </a:lnSpc>
              <a:spcBef>
                <a:spcPts val="130"/>
              </a:spcBef>
            </a:pPr>
            <a:r>
              <a:rPr dirty="0" sz="650" b="1">
                <a:solidFill>
                  <a:srgbClr val="595958"/>
                </a:solidFill>
                <a:latin typeface="Calibri"/>
                <a:cs typeface="Calibri"/>
              </a:rPr>
              <a:t>-</a:t>
            </a:r>
            <a:r>
              <a:rPr dirty="0" sz="650" spc="-25" b="1">
                <a:solidFill>
                  <a:srgbClr val="595958"/>
                </a:solidFill>
                <a:latin typeface="Calibri"/>
                <a:cs typeface="Calibri"/>
              </a:rPr>
              <a:t>140</a:t>
            </a:r>
            <a:endParaRPr sz="650">
              <a:latin typeface="Calibri"/>
              <a:cs typeface="Calibri"/>
            </a:endParaRPr>
          </a:p>
        </p:txBody>
      </p:sp>
      <p:sp>
        <p:nvSpPr>
          <p:cNvPr id="18" name="object 18" descr=""/>
          <p:cNvSpPr txBox="1"/>
          <p:nvPr/>
        </p:nvSpPr>
        <p:spPr>
          <a:xfrm>
            <a:off x="6115292" y="4043981"/>
            <a:ext cx="2870200" cy="129539"/>
          </a:xfrm>
          <a:prstGeom prst="rect">
            <a:avLst/>
          </a:prstGeom>
        </p:spPr>
        <p:txBody>
          <a:bodyPr wrap="square" lIns="0" tIns="16510" rIns="0" bIns="0" rtlCol="0" vert="horz">
            <a:spAutoFit/>
          </a:bodyPr>
          <a:lstStyle/>
          <a:p>
            <a:pPr>
              <a:lnSpc>
                <a:spcPct val="100000"/>
              </a:lnSpc>
              <a:spcBef>
                <a:spcPts val="130"/>
              </a:spcBef>
              <a:tabLst>
                <a:tab pos="1934845" algn="l"/>
                <a:tab pos="2856865" algn="l"/>
              </a:tabLst>
            </a:pPr>
            <a:r>
              <a:rPr dirty="0" sz="650" b="1">
                <a:solidFill>
                  <a:srgbClr val="595958"/>
                </a:solidFill>
                <a:latin typeface="Calibri"/>
                <a:cs typeface="Calibri"/>
              </a:rPr>
              <a:t>-120</a:t>
            </a:r>
            <a:r>
              <a:rPr dirty="0" sz="650" spc="455" b="1">
                <a:solidFill>
                  <a:srgbClr val="595958"/>
                </a:solidFill>
                <a:latin typeface="Calibri"/>
                <a:cs typeface="Calibri"/>
              </a:rPr>
              <a:t> </a:t>
            </a:r>
            <a:r>
              <a:rPr dirty="0" u="sng" sz="650" b="1">
                <a:solidFill>
                  <a:srgbClr val="3E3E3E"/>
                </a:solidFill>
                <a:uFill>
                  <a:solidFill>
                    <a:srgbClr val="DADADA"/>
                  </a:solidFill>
                </a:uFill>
                <a:latin typeface="Calibri"/>
                <a:cs typeface="Calibri"/>
              </a:rPr>
              <a:t>	</a:t>
            </a:r>
            <a:r>
              <a:rPr dirty="0" u="sng" sz="650" spc="-30" b="1">
                <a:solidFill>
                  <a:srgbClr val="3E3E3E"/>
                </a:solidFill>
                <a:uFill>
                  <a:solidFill>
                    <a:srgbClr val="DADADA"/>
                  </a:solidFill>
                </a:uFill>
                <a:latin typeface="Calibri"/>
                <a:cs typeface="Calibri"/>
              </a:rPr>
              <a:t>-</a:t>
            </a:r>
            <a:r>
              <a:rPr dirty="0" u="sng" sz="650" spc="-25" b="1">
                <a:solidFill>
                  <a:srgbClr val="3E3E3E"/>
                </a:solidFill>
                <a:uFill>
                  <a:solidFill>
                    <a:srgbClr val="DADADA"/>
                  </a:solidFill>
                </a:uFill>
                <a:latin typeface="Calibri"/>
                <a:cs typeface="Calibri"/>
              </a:rPr>
              <a:t>110</a:t>
            </a:r>
            <a:r>
              <a:rPr dirty="0" u="sng" sz="650" b="1">
                <a:solidFill>
                  <a:srgbClr val="3E3E3E"/>
                </a:solidFill>
                <a:uFill>
                  <a:solidFill>
                    <a:srgbClr val="DADADA"/>
                  </a:solidFill>
                </a:uFill>
                <a:latin typeface="Calibri"/>
                <a:cs typeface="Calibri"/>
              </a:rPr>
              <a:t>	</a:t>
            </a:r>
            <a:endParaRPr sz="650">
              <a:latin typeface="Calibri"/>
              <a:cs typeface="Calibri"/>
            </a:endParaRPr>
          </a:p>
        </p:txBody>
      </p:sp>
      <p:sp>
        <p:nvSpPr>
          <p:cNvPr id="19" name="object 19" descr=""/>
          <p:cNvSpPr txBox="1"/>
          <p:nvPr/>
        </p:nvSpPr>
        <p:spPr>
          <a:xfrm>
            <a:off x="6115292" y="3188271"/>
            <a:ext cx="161290" cy="814069"/>
          </a:xfrm>
          <a:prstGeom prst="rect">
            <a:avLst/>
          </a:prstGeom>
        </p:spPr>
        <p:txBody>
          <a:bodyPr wrap="square" lIns="0" tIns="16510" rIns="0" bIns="0" rtlCol="0" vert="horz">
            <a:spAutoFit/>
          </a:bodyPr>
          <a:lstStyle/>
          <a:p>
            <a:pPr marL="41275">
              <a:lnSpc>
                <a:spcPct val="100000"/>
              </a:lnSpc>
              <a:spcBef>
                <a:spcPts val="130"/>
              </a:spcBef>
            </a:pPr>
            <a:r>
              <a:rPr dirty="0" sz="650" b="1">
                <a:solidFill>
                  <a:srgbClr val="595958"/>
                </a:solidFill>
                <a:latin typeface="Calibri"/>
                <a:cs typeface="Calibri"/>
              </a:rPr>
              <a:t>-</a:t>
            </a:r>
            <a:r>
              <a:rPr dirty="0" sz="650" spc="-25" b="1">
                <a:solidFill>
                  <a:srgbClr val="595958"/>
                </a:solidFill>
                <a:latin typeface="Calibri"/>
                <a:cs typeface="Calibri"/>
              </a:rPr>
              <a:t>20</a:t>
            </a:r>
            <a:endParaRPr sz="650">
              <a:latin typeface="Calibri"/>
              <a:cs typeface="Calibri"/>
            </a:endParaRPr>
          </a:p>
          <a:p>
            <a:pPr marL="41275">
              <a:lnSpc>
                <a:spcPct val="100000"/>
              </a:lnSpc>
              <a:spcBef>
                <a:spcPts val="570"/>
              </a:spcBef>
            </a:pPr>
            <a:r>
              <a:rPr dirty="0" sz="650" b="1">
                <a:solidFill>
                  <a:srgbClr val="595958"/>
                </a:solidFill>
                <a:latin typeface="Calibri"/>
                <a:cs typeface="Calibri"/>
              </a:rPr>
              <a:t>-</a:t>
            </a:r>
            <a:r>
              <a:rPr dirty="0" sz="650" spc="-25" b="1">
                <a:solidFill>
                  <a:srgbClr val="595958"/>
                </a:solidFill>
                <a:latin typeface="Calibri"/>
                <a:cs typeface="Calibri"/>
              </a:rPr>
              <a:t>40</a:t>
            </a:r>
            <a:endParaRPr sz="650">
              <a:latin typeface="Calibri"/>
              <a:cs typeface="Calibri"/>
            </a:endParaRPr>
          </a:p>
          <a:p>
            <a:pPr marL="41275">
              <a:lnSpc>
                <a:spcPct val="100000"/>
              </a:lnSpc>
              <a:spcBef>
                <a:spcPts val="565"/>
              </a:spcBef>
            </a:pPr>
            <a:r>
              <a:rPr dirty="0" sz="650" b="1">
                <a:solidFill>
                  <a:srgbClr val="595958"/>
                </a:solidFill>
                <a:latin typeface="Calibri"/>
                <a:cs typeface="Calibri"/>
              </a:rPr>
              <a:t>-</a:t>
            </a:r>
            <a:r>
              <a:rPr dirty="0" sz="650" spc="-25" b="1">
                <a:solidFill>
                  <a:srgbClr val="595958"/>
                </a:solidFill>
                <a:latin typeface="Calibri"/>
                <a:cs typeface="Calibri"/>
              </a:rPr>
              <a:t>60</a:t>
            </a:r>
            <a:endParaRPr sz="650">
              <a:latin typeface="Calibri"/>
              <a:cs typeface="Calibri"/>
            </a:endParaRPr>
          </a:p>
          <a:p>
            <a:pPr marL="41275">
              <a:lnSpc>
                <a:spcPct val="100000"/>
              </a:lnSpc>
              <a:spcBef>
                <a:spcPts val="570"/>
              </a:spcBef>
            </a:pPr>
            <a:r>
              <a:rPr dirty="0" sz="650" b="1">
                <a:solidFill>
                  <a:srgbClr val="595958"/>
                </a:solidFill>
                <a:latin typeface="Calibri"/>
                <a:cs typeface="Calibri"/>
              </a:rPr>
              <a:t>-</a:t>
            </a:r>
            <a:r>
              <a:rPr dirty="0" sz="650" spc="-25" b="1">
                <a:solidFill>
                  <a:srgbClr val="595958"/>
                </a:solidFill>
                <a:latin typeface="Calibri"/>
                <a:cs typeface="Calibri"/>
              </a:rPr>
              <a:t>80</a:t>
            </a:r>
            <a:endParaRPr sz="650">
              <a:latin typeface="Calibri"/>
              <a:cs typeface="Calibri"/>
            </a:endParaRPr>
          </a:p>
          <a:p>
            <a:pPr>
              <a:lnSpc>
                <a:spcPct val="100000"/>
              </a:lnSpc>
              <a:spcBef>
                <a:spcPts val="565"/>
              </a:spcBef>
            </a:pPr>
            <a:r>
              <a:rPr dirty="0" sz="650" b="1">
                <a:solidFill>
                  <a:srgbClr val="595958"/>
                </a:solidFill>
                <a:latin typeface="Calibri"/>
                <a:cs typeface="Calibri"/>
              </a:rPr>
              <a:t>-</a:t>
            </a:r>
            <a:r>
              <a:rPr dirty="0" sz="650" spc="-25" b="1">
                <a:solidFill>
                  <a:srgbClr val="595958"/>
                </a:solidFill>
                <a:latin typeface="Calibri"/>
                <a:cs typeface="Calibri"/>
              </a:rPr>
              <a:t>100</a:t>
            </a:r>
            <a:endParaRPr sz="650">
              <a:latin typeface="Calibri"/>
              <a:cs typeface="Calibri"/>
            </a:endParaRPr>
          </a:p>
        </p:txBody>
      </p:sp>
      <p:sp>
        <p:nvSpPr>
          <p:cNvPr id="20" name="object 20" descr=""/>
          <p:cNvSpPr txBox="1"/>
          <p:nvPr/>
        </p:nvSpPr>
        <p:spPr>
          <a:xfrm>
            <a:off x="6223242" y="3017129"/>
            <a:ext cx="53975" cy="129539"/>
          </a:xfrm>
          <a:prstGeom prst="rect">
            <a:avLst/>
          </a:prstGeom>
        </p:spPr>
        <p:txBody>
          <a:bodyPr wrap="square" lIns="0" tIns="16510" rIns="0" bIns="0" rtlCol="0" vert="horz">
            <a:spAutoFit/>
          </a:bodyPr>
          <a:lstStyle/>
          <a:p>
            <a:pPr>
              <a:lnSpc>
                <a:spcPct val="100000"/>
              </a:lnSpc>
              <a:spcBef>
                <a:spcPts val="130"/>
              </a:spcBef>
            </a:pPr>
            <a:r>
              <a:rPr dirty="0" sz="650" spc="-50" b="1">
                <a:solidFill>
                  <a:srgbClr val="595958"/>
                </a:solidFill>
                <a:latin typeface="Calibri"/>
                <a:cs typeface="Calibri"/>
              </a:rPr>
              <a:t>0</a:t>
            </a:r>
            <a:endParaRPr sz="650">
              <a:latin typeface="Calibri"/>
              <a:cs typeface="Calibri"/>
            </a:endParaRPr>
          </a:p>
        </p:txBody>
      </p:sp>
      <p:sp>
        <p:nvSpPr>
          <p:cNvPr id="21" name="object 21" descr=""/>
          <p:cNvSpPr txBox="1"/>
          <p:nvPr/>
        </p:nvSpPr>
        <p:spPr>
          <a:xfrm>
            <a:off x="6602844" y="2843027"/>
            <a:ext cx="1913889" cy="422275"/>
          </a:xfrm>
          <a:prstGeom prst="rect">
            <a:avLst/>
          </a:prstGeom>
        </p:spPr>
        <p:txBody>
          <a:bodyPr wrap="square" lIns="0" tIns="12065" rIns="0" bIns="0" rtlCol="0" vert="horz">
            <a:spAutoFit/>
          </a:bodyPr>
          <a:lstStyle/>
          <a:p>
            <a:pPr>
              <a:lnSpc>
                <a:spcPct val="100000"/>
              </a:lnSpc>
              <a:spcBef>
                <a:spcPts val="95"/>
              </a:spcBef>
            </a:pPr>
            <a:r>
              <a:rPr dirty="0" sz="850" spc="-85">
                <a:solidFill>
                  <a:srgbClr val="595958"/>
                </a:solidFill>
                <a:latin typeface="SimSun"/>
                <a:cs typeface="SimSun"/>
              </a:rPr>
              <a:t>室外覆盖室内测试小区平均</a:t>
            </a:r>
            <a:r>
              <a:rPr dirty="0" sz="850" spc="-55" b="1">
                <a:solidFill>
                  <a:srgbClr val="595958"/>
                </a:solidFill>
                <a:latin typeface="Calibri"/>
                <a:cs typeface="Calibri"/>
              </a:rPr>
              <a:t>RSRP</a:t>
            </a:r>
            <a:r>
              <a:rPr dirty="0" sz="850" spc="-90">
                <a:solidFill>
                  <a:srgbClr val="595958"/>
                </a:solidFill>
                <a:latin typeface="SimSun"/>
                <a:cs typeface="SimSun"/>
              </a:rPr>
              <a:t>和边缘</a:t>
            </a:r>
            <a:r>
              <a:rPr dirty="0" sz="850" spc="-20" b="1">
                <a:solidFill>
                  <a:srgbClr val="595958"/>
                </a:solidFill>
                <a:latin typeface="Calibri"/>
                <a:cs typeface="Calibri"/>
              </a:rPr>
              <a:t>RSRP</a:t>
            </a:r>
            <a:endParaRPr sz="850">
              <a:latin typeface="Calibri"/>
              <a:cs typeface="Calibri"/>
            </a:endParaRPr>
          </a:p>
          <a:p>
            <a:pPr>
              <a:lnSpc>
                <a:spcPct val="100000"/>
              </a:lnSpc>
              <a:spcBef>
                <a:spcPts val="285"/>
              </a:spcBef>
            </a:pPr>
            <a:endParaRPr sz="850">
              <a:latin typeface="Calibri"/>
              <a:cs typeface="Calibri"/>
            </a:endParaRPr>
          </a:p>
          <a:p>
            <a:pPr marL="312420">
              <a:lnSpc>
                <a:spcPct val="100000"/>
              </a:lnSpc>
              <a:tabLst>
                <a:tab pos="1628139" algn="l"/>
              </a:tabLst>
            </a:pPr>
            <a:r>
              <a:rPr dirty="0" sz="650" spc="-25">
                <a:solidFill>
                  <a:srgbClr val="595958"/>
                </a:solidFill>
                <a:latin typeface="SimSun"/>
                <a:cs typeface="SimSun"/>
              </a:rPr>
              <a:t>平</a:t>
            </a:r>
            <a:r>
              <a:rPr dirty="0" sz="650" spc="-50">
                <a:solidFill>
                  <a:srgbClr val="595958"/>
                </a:solidFill>
                <a:latin typeface="SimSun"/>
                <a:cs typeface="SimSun"/>
              </a:rPr>
              <a:t>均</a:t>
            </a:r>
            <a:r>
              <a:rPr dirty="0" sz="650">
                <a:solidFill>
                  <a:srgbClr val="595958"/>
                </a:solidFill>
                <a:latin typeface="SimSun"/>
                <a:cs typeface="SimSun"/>
              </a:rPr>
              <a:t>	</a:t>
            </a:r>
            <a:r>
              <a:rPr dirty="0" sz="650" spc="-25">
                <a:solidFill>
                  <a:srgbClr val="595958"/>
                </a:solidFill>
                <a:latin typeface="SimSun"/>
                <a:cs typeface="SimSun"/>
              </a:rPr>
              <a:t>边</a:t>
            </a:r>
            <a:r>
              <a:rPr dirty="0" sz="650" spc="-50">
                <a:solidFill>
                  <a:srgbClr val="595958"/>
                </a:solidFill>
                <a:latin typeface="SimSun"/>
                <a:cs typeface="SimSun"/>
              </a:rPr>
              <a:t>缘</a:t>
            </a:r>
            <a:endParaRPr sz="650">
              <a:latin typeface="SimSun"/>
              <a:cs typeface="SimSun"/>
            </a:endParaRPr>
          </a:p>
        </p:txBody>
      </p:sp>
      <p:grpSp>
        <p:nvGrpSpPr>
          <p:cNvPr id="22" name="object 22" descr=""/>
          <p:cNvGrpSpPr/>
          <p:nvPr/>
        </p:nvGrpSpPr>
        <p:grpSpPr>
          <a:xfrm>
            <a:off x="7230190" y="4416347"/>
            <a:ext cx="417830" cy="50165"/>
            <a:chOff x="7230190" y="4416347"/>
            <a:chExt cx="417830" cy="50165"/>
          </a:xfrm>
        </p:grpSpPr>
        <p:sp>
          <p:nvSpPr>
            <p:cNvPr id="23" name="object 23" descr=""/>
            <p:cNvSpPr/>
            <p:nvPr/>
          </p:nvSpPr>
          <p:spPr>
            <a:xfrm>
              <a:off x="7230190" y="4416347"/>
              <a:ext cx="42545" cy="50165"/>
            </a:xfrm>
            <a:custGeom>
              <a:avLst/>
              <a:gdLst/>
              <a:ahLst/>
              <a:cxnLst/>
              <a:rect l="l" t="t" r="r" b="b"/>
              <a:pathLst>
                <a:path w="42545" h="50164">
                  <a:moveTo>
                    <a:pt x="42154" y="49557"/>
                  </a:moveTo>
                  <a:lnTo>
                    <a:pt x="0" y="49557"/>
                  </a:lnTo>
                  <a:lnTo>
                    <a:pt x="0" y="0"/>
                  </a:lnTo>
                  <a:lnTo>
                    <a:pt x="42154" y="0"/>
                  </a:lnTo>
                  <a:lnTo>
                    <a:pt x="42154" y="49557"/>
                  </a:lnTo>
                  <a:close/>
                </a:path>
              </a:pathLst>
            </a:custGeom>
            <a:solidFill>
              <a:srgbClr val="5B9BD5"/>
            </a:solidFill>
          </p:spPr>
          <p:txBody>
            <a:bodyPr wrap="square" lIns="0" tIns="0" rIns="0" bIns="0" rtlCol="0"/>
            <a:lstStyle/>
            <a:p/>
          </p:txBody>
        </p:sp>
        <p:sp>
          <p:nvSpPr>
            <p:cNvPr id="24" name="object 24" descr=""/>
            <p:cNvSpPr/>
            <p:nvPr/>
          </p:nvSpPr>
          <p:spPr>
            <a:xfrm>
              <a:off x="7602035" y="4416347"/>
              <a:ext cx="46355" cy="50165"/>
            </a:xfrm>
            <a:custGeom>
              <a:avLst/>
              <a:gdLst/>
              <a:ahLst/>
              <a:cxnLst/>
              <a:rect l="l" t="t" r="r" b="b"/>
              <a:pathLst>
                <a:path w="46354" h="50164">
                  <a:moveTo>
                    <a:pt x="45987" y="49557"/>
                  </a:moveTo>
                  <a:lnTo>
                    <a:pt x="0" y="49557"/>
                  </a:lnTo>
                  <a:lnTo>
                    <a:pt x="0" y="0"/>
                  </a:lnTo>
                  <a:lnTo>
                    <a:pt x="45987" y="0"/>
                  </a:lnTo>
                  <a:lnTo>
                    <a:pt x="45987" y="49557"/>
                  </a:lnTo>
                  <a:close/>
                </a:path>
              </a:pathLst>
            </a:custGeom>
            <a:solidFill>
              <a:srgbClr val="ED7D31"/>
            </a:solidFill>
          </p:spPr>
          <p:txBody>
            <a:bodyPr wrap="square" lIns="0" tIns="0" rIns="0" bIns="0" rtlCol="0"/>
            <a:lstStyle/>
            <a:p/>
          </p:txBody>
        </p:sp>
      </p:grpSp>
      <p:sp>
        <p:nvSpPr>
          <p:cNvPr id="25" name="object 25" descr=""/>
          <p:cNvSpPr txBox="1"/>
          <p:nvPr/>
        </p:nvSpPr>
        <p:spPr>
          <a:xfrm>
            <a:off x="7293965" y="4366133"/>
            <a:ext cx="626745" cy="129539"/>
          </a:xfrm>
          <a:prstGeom prst="rect">
            <a:avLst/>
          </a:prstGeom>
        </p:spPr>
        <p:txBody>
          <a:bodyPr wrap="square" lIns="0" tIns="16510" rIns="0" bIns="0" rtlCol="0" vert="horz">
            <a:spAutoFit/>
          </a:bodyPr>
          <a:lstStyle/>
          <a:p>
            <a:pPr>
              <a:lnSpc>
                <a:spcPct val="100000"/>
              </a:lnSpc>
              <a:spcBef>
                <a:spcPts val="130"/>
              </a:spcBef>
              <a:tabLst>
                <a:tab pos="374650" algn="l"/>
              </a:tabLst>
            </a:pPr>
            <a:r>
              <a:rPr dirty="0" sz="650" spc="-10" b="1">
                <a:solidFill>
                  <a:srgbClr val="595958"/>
                </a:solidFill>
                <a:latin typeface="Calibri"/>
                <a:cs typeface="Calibri"/>
              </a:rPr>
              <a:t>1.8GHz</a:t>
            </a:r>
            <a:r>
              <a:rPr dirty="0" sz="650" b="1">
                <a:solidFill>
                  <a:srgbClr val="595958"/>
                </a:solidFill>
                <a:latin typeface="Calibri"/>
                <a:cs typeface="Calibri"/>
              </a:rPr>
              <a:t>	</a:t>
            </a:r>
            <a:r>
              <a:rPr dirty="0" sz="650" spc="-10" b="1">
                <a:solidFill>
                  <a:srgbClr val="595958"/>
                </a:solidFill>
                <a:latin typeface="Calibri"/>
                <a:cs typeface="Calibri"/>
              </a:rPr>
              <a:t>3.5GHz</a:t>
            </a:r>
            <a:endParaRPr sz="650">
              <a:latin typeface="Calibri"/>
              <a:cs typeface="Calibri"/>
            </a:endParaRPr>
          </a:p>
        </p:txBody>
      </p:sp>
      <p:sp>
        <p:nvSpPr>
          <p:cNvPr id="26" name="object 26" descr=""/>
          <p:cNvSpPr/>
          <p:nvPr/>
        </p:nvSpPr>
        <p:spPr>
          <a:xfrm>
            <a:off x="6082069" y="2820633"/>
            <a:ext cx="2944495" cy="1722120"/>
          </a:xfrm>
          <a:custGeom>
            <a:avLst/>
            <a:gdLst/>
            <a:ahLst/>
            <a:cxnLst/>
            <a:rect l="l" t="t" r="r" b="b"/>
            <a:pathLst>
              <a:path w="2944495" h="1722120">
                <a:moveTo>
                  <a:pt x="0" y="0"/>
                </a:moveTo>
                <a:lnTo>
                  <a:pt x="2944079" y="0"/>
                </a:lnTo>
                <a:lnTo>
                  <a:pt x="2944079" y="1721644"/>
                </a:lnTo>
                <a:lnTo>
                  <a:pt x="0" y="1721644"/>
                </a:lnTo>
                <a:lnTo>
                  <a:pt x="0" y="0"/>
                </a:lnTo>
                <a:close/>
              </a:path>
            </a:pathLst>
          </a:custGeom>
          <a:ln w="4057">
            <a:solidFill>
              <a:srgbClr val="DADADA"/>
            </a:solidFill>
          </a:ln>
        </p:spPr>
        <p:txBody>
          <a:bodyPr wrap="square" lIns="0" tIns="0" rIns="0" bIns="0" rtlCol="0"/>
          <a:lstStyle/>
          <a:p/>
        </p:txBody>
      </p:sp>
      <p:grpSp>
        <p:nvGrpSpPr>
          <p:cNvPr id="27" name="object 27" descr=""/>
          <p:cNvGrpSpPr/>
          <p:nvPr/>
        </p:nvGrpSpPr>
        <p:grpSpPr>
          <a:xfrm>
            <a:off x="3218481" y="3035716"/>
            <a:ext cx="2693035" cy="1181100"/>
            <a:chOff x="3218481" y="3035716"/>
            <a:chExt cx="2693035" cy="1181100"/>
          </a:xfrm>
        </p:grpSpPr>
        <p:sp>
          <p:nvSpPr>
            <p:cNvPr id="28" name="object 28" descr=""/>
            <p:cNvSpPr/>
            <p:nvPr/>
          </p:nvSpPr>
          <p:spPr>
            <a:xfrm>
              <a:off x="3668520" y="3037621"/>
              <a:ext cx="1792605" cy="1177290"/>
            </a:xfrm>
            <a:custGeom>
              <a:avLst/>
              <a:gdLst/>
              <a:ahLst/>
              <a:cxnLst/>
              <a:rect l="l" t="t" r="r" b="b"/>
              <a:pathLst>
                <a:path w="1792604" h="1177289">
                  <a:moveTo>
                    <a:pt x="0" y="884568"/>
                  </a:moveTo>
                  <a:lnTo>
                    <a:pt x="0" y="1177202"/>
                  </a:lnTo>
                </a:path>
                <a:path w="1792604" h="1177289">
                  <a:moveTo>
                    <a:pt x="0" y="0"/>
                  </a:moveTo>
                  <a:lnTo>
                    <a:pt x="0" y="744107"/>
                  </a:lnTo>
                </a:path>
                <a:path w="1792604" h="1177289">
                  <a:moveTo>
                    <a:pt x="448133" y="884568"/>
                  </a:moveTo>
                  <a:lnTo>
                    <a:pt x="448133" y="1177202"/>
                  </a:lnTo>
                </a:path>
                <a:path w="1792604" h="1177289">
                  <a:moveTo>
                    <a:pt x="448133" y="0"/>
                  </a:moveTo>
                  <a:lnTo>
                    <a:pt x="448133" y="744107"/>
                  </a:lnTo>
                </a:path>
                <a:path w="1792604" h="1177289">
                  <a:moveTo>
                    <a:pt x="896266" y="884568"/>
                  </a:moveTo>
                  <a:lnTo>
                    <a:pt x="896266" y="1177202"/>
                  </a:lnTo>
                </a:path>
                <a:path w="1792604" h="1177289">
                  <a:moveTo>
                    <a:pt x="896266" y="0"/>
                  </a:moveTo>
                  <a:lnTo>
                    <a:pt x="896266" y="744107"/>
                  </a:lnTo>
                </a:path>
                <a:path w="1792604" h="1177289">
                  <a:moveTo>
                    <a:pt x="1344400" y="884568"/>
                  </a:moveTo>
                  <a:lnTo>
                    <a:pt x="1344400" y="1177202"/>
                  </a:lnTo>
                </a:path>
                <a:path w="1792604" h="1177289">
                  <a:moveTo>
                    <a:pt x="1344400" y="0"/>
                  </a:moveTo>
                  <a:lnTo>
                    <a:pt x="1344400" y="744107"/>
                  </a:lnTo>
                </a:path>
                <a:path w="1792604" h="1177289">
                  <a:moveTo>
                    <a:pt x="1792533" y="884568"/>
                  </a:moveTo>
                  <a:lnTo>
                    <a:pt x="1792533" y="1177202"/>
                  </a:lnTo>
                </a:path>
                <a:path w="1792604" h="1177289">
                  <a:moveTo>
                    <a:pt x="1792533" y="0"/>
                  </a:moveTo>
                  <a:lnTo>
                    <a:pt x="1792533" y="744107"/>
                  </a:lnTo>
                </a:path>
              </a:pathLst>
            </a:custGeom>
            <a:ln w="3347">
              <a:solidFill>
                <a:srgbClr val="DADADA"/>
              </a:solidFill>
            </a:ln>
          </p:spPr>
          <p:txBody>
            <a:bodyPr wrap="square" lIns="0" tIns="0" rIns="0" bIns="0" rtlCol="0"/>
            <a:lstStyle/>
            <a:p/>
          </p:txBody>
        </p:sp>
        <p:sp>
          <p:nvSpPr>
            <p:cNvPr id="29" name="object 29" descr=""/>
            <p:cNvSpPr/>
            <p:nvPr/>
          </p:nvSpPr>
          <p:spPr>
            <a:xfrm>
              <a:off x="5909186" y="3037621"/>
              <a:ext cx="0" cy="1177290"/>
            </a:xfrm>
            <a:custGeom>
              <a:avLst/>
              <a:gdLst/>
              <a:ahLst/>
              <a:cxnLst/>
              <a:rect l="l" t="t" r="r" b="b"/>
              <a:pathLst>
                <a:path w="0" h="1177289">
                  <a:moveTo>
                    <a:pt x="0" y="0"/>
                  </a:moveTo>
                  <a:lnTo>
                    <a:pt x="0" y="1177202"/>
                  </a:lnTo>
                </a:path>
              </a:pathLst>
            </a:custGeom>
            <a:ln w="3347">
              <a:solidFill>
                <a:srgbClr val="DADADA"/>
              </a:solidFill>
            </a:ln>
          </p:spPr>
          <p:txBody>
            <a:bodyPr wrap="square" lIns="0" tIns="0" rIns="0" bIns="0" rtlCol="0"/>
            <a:lstStyle/>
            <a:p/>
          </p:txBody>
        </p:sp>
        <p:sp>
          <p:nvSpPr>
            <p:cNvPr id="30" name="object 30" descr=""/>
            <p:cNvSpPr/>
            <p:nvPr/>
          </p:nvSpPr>
          <p:spPr>
            <a:xfrm>
              <a:off x="3218713" y="3333597"/>
              <a:ext cx="247650" cy="729615"/>
            </a:xfrm>
            <a:custGeom>
              <a:avLst/>
              <a:gdLst/>
              <a:ahLst/>
              <a:cxnLst/>
              <a:rect l="l" t="t" r="r" b="b"/>
              <a:pathLst>
                <a:path w="247650" h="729614">
                  <a:moveTo>
                    <a:pt x="3340" y="0"/>
                  </a:moveTo>
                  <a:lnTo>
                    <a:pt x="0" y="0"/>
                  </a:lnTo>
                  <a:lnTo>
                    <a:pt x="0" y="140474"/>
                  </a:lnTo>
                  <a:lnTo>
                    <a:pt x="3340" y="140474"/>
                  </a:lnTo>
                  <a:lnTo>
                    <a:pt x="3340" y="0"/>
                  </a:lnTo>
                  <a:close/>
                </a:path>
                <a:path w="247650" h="729614">
                  <a:moveTo>
                    <a:pt x="247472" y="588606"/>
                  </a:moveTo>
                  <a:lnTo>
                    <a:pt x="0" y="588606"/>
                  </a:lnTo>
                  <a:lnTo>
                    <a:pt x="0" y="729081"/>
                  </a:lnTo>
                  <a:lnTo>
                    <a:pt x="247472" y="729081"/>
                  </a:lnTo>
                  <a:lnTo>
                    <a:pt x="247472" y="588606"/>
                  </a:lnTo>
                  <a:close/>
                </a:path>
              </a:pathLst>
            </a:custGeom>
            <a:solidFill>
              <a:srgbClr val="5B9BD5"/>
            </a:solidFill>
          </p:spPr>
          <p:txBody>
            <a:bodyPr wrap="square" lIns="0" tIns="0" rIns="0" bIns="0" rtlCol="0"/>
            <a:lstStyle/>
            <a:p/>
          </p:txBody>
        </p:sp>
        <p:sp>
          <p:nvSpPr>
            <p:cNvPr id="31" name="object 31" descr=""/>
            <p:cNvSpPr/>
            <p:nvPr/>
          </p:nvSpPr>
          <p:spPr>
            <a:xfrm>
              <a:off x="3218713" y="3193135"/>
              <a:ext cx="2314575" cy="729615"/>
            </a:xfrm>
            <a:custGeom>
              <a:avLst/>
              <a:gdLst/>
              <a:ahLst/>
              <a:cxnLst/>
              <a:rect l="l" t="t" r="r" b="b"/>
              <a:pathLst>
                <a:path w="2314575" h="729614">
                  <a:moveTo>
                    <a:pt x="23406" y="0"/>
                  </a:moveTo>
                  <a:lnTo>
                    <a:pt x="0" y="0"/>
                  </a:lnTo>
                  <a:lnTo>
                    <a:pt x="0" y="140462"/>
                  </a:lnTo>
                  <a:lnTo>
                    <a:pt x="23406" y="140462"/>
                  </a:lnTo>
                  <a:lnTo>
                    <a:pt x="23406" y="0"/>
                  </a:lnTo>
                  <a:close/>
                </a:path>
                <a:path w="2314575" h="729614">
                  <a:moveTo>
                    <a:pt x="2314219" y="588594"/>
                  </a:moveTo>
                  <a:lnTo>
                    <a:pt x="0" y="588594"/>
                  </a:lnTo>
                  <a:lnTo>
                    <a:pt x="0" y="729056"/>
                  </a:lnTo>
                  <a:lnTo>
                    <a:pt x="2314219" y="729056"/>
                  </a:lnTo>
                  <a:lnTo>
                    <a:pt x="2314219" y="588594"/>
                  </a:lnTo>
                  <a:close/>
                </a:path>
              </a:pathLst>
            </a:custGeom>
            <a:solidFill>
              <a:srgbClr val="ED7D31"/>
            </a:solidFill>
          </p:spPr>
          <p:txBody>
            <a:bodyPr wrap="square" lIns="0" tIns="0" rIns="0" bIns="0" rtlCol="0"/>
            <a:lstStyle/>
            <a:p/>
          </p:txBody>
        </p:sp>
        <p:sp>
          <p:nvSpPr>
            <p:cNvPr id="32" name="object 32" descr=""/>
            <p:cNvSpPr/>
            <p:nvPr/>
          </p:nvSpPr>
          <p:spPr>
            <a:xfrm>
              <a:off x="3220386" y="3037621"/>
              <a:ext cx="0" cy="1177290"/>
            </a:xfrm>
            <a:custGeom>
              <a:avLst/>
              <a:gdLst/>
              <a:ahLst/>
              <a:cxnLst/>
              <a:rect l="l" t="t" r="r" b="b"/>
              <a:pathLst>
                <a:path w="0" h="1177289">
                  <a:moveTo>
                    <a:pt x="0" y="1177207"/>
                  </a:moveTo>
                  <a:lnTo>
                    <a:pt x="0" y="0"/>
                  </a:lnTo>
                </a:path>
              </a:pathLst>
            </a:custGeom>
            <a:ln w="3347">
              <a:solidFill>
                <a:srgbClr val="DADADA"/>
              </a:solidFill>
            </a:ln>
          </p:spPr>
          <p:txBody>
            <a:bodyPr wrap="square" lIns="0" tIns="0" rIns="0" bIns="0" rtlCol="0"/>
            <a:lstStyle/>
            <a:p/>
          </p:txBody>
        </p:sp>
      </p:grpSp>
      <p:sp>
        <p:nvSpPr>
          <p:cNvPr id="33" name="object 33" descr=""/>
          <p:cNvSpPr txBox="1"/>
          <p:nvPr/>
        </p:nvSpPr>
        <p:spPr>
          <a:xfrm>
            <a:off x="3494739" y="3926618"/>
            <a:ext cx="112395" cy="121920"/>
          </a:xfrm>
          <a:prstGeom prst="rect">
            <a:avLst/>
          </a:prstGeom>
        </p:spPr>
        <p:txBody>
          <a:bodyPr wrap="square" lIns="0" tIns="16510" rIns="0" bIns="0" rtlCol="0" vert="horz">
            <a:spAutoFit/>
          </a:bodyPr>
          <a:lstStyle/>
          <a:p>
            <a:pPr>
              <a:lnSpc>
                <a:spcPct val="100000"/>
              </a:lnSpc>
              <a:spcBef>
                <a:spcPts val="130"/>
              </a:spcBef>
            </a:pPr>
            <a:r>
              <a:rPr dirty="0" sz="600" spc="-25" b="1">
                <a:solidFill>
                  <a:srgbClr val="3E3E3E"/>
                </a:solidFill>
                <a:latin typeface="Calibri"/>
                <a:cs typeface="Calibri"/>
              </a:rPr>
              <a:t>5.5</a:t>
            </a:r>
            <a:endParaRPr sz="600">
              <a:latin typeface="Calibri"/>
              <a:cs typeface="Calibri"/>
            </a:endParaRPr>
          </a:p>
        </p:txBody>
      </p:sp>
      <p:sp>
        <p:nvSpPr>
          <p:cNvPr id="34" name="object 34" descr=""/>
          <p:cNvSpPr txBox="1"/>
          <p:nvPr/>
        </p:nvSpPr>
        <p:spPr>
          <a:xfrm>
            <a:off x="5561839" y="3786094"/>
            <a:ext cx="193675" cy="121920"/>
          </a:xfrm>
          <a:prstGeom prst="rect">
            <a:avLst/>
          </a:prstGeom>
        </p:spPr>
        <p:txBody>
          <a:bodyPr wrap="square" lIns="0" tIns="16510" rIns="0" bIns="0" rtlCol="0" vert="horz">
            <a:spAutoFit/>
          </a:bodyPr>
          <a:lstStyle/>
          <a:p>
            <a:pPr>
              <a:lnSpc>
                <a:spcPct val="100000"/>
              </a:lnSpc>
              <a:spcBef>
                <a:spcPts val="130"/>
              </a:spcBef>
            </a:pPr>
            <a:r>
              <a:rPr dirty="0" sz="600" spc="-10" b="1">
                <a:solidFill>
                  <a:srgbClr val="3E3E3E"/>
                </a:solidFill>
                <a:latin typeface="Calibri"/>
                <a:cs typeface="Calibri"/>
              </a:rPr>
              <a:t>51.63</a:t>
            </a:r>
            <a:endParaRPr sz="600">
              <a:latin typeface="Calibri"/>
              <a:cs typeface="Calibri"/>
            </a:endParaRPr>
          </a:p>
        </p:txBody>
      </p:sp>
      <p:sp>
        <p:nvSpPr>
          <p:cNvPr id="35" name="object 35" descr=""/>
          <p:cNvSpPr txBox="1"/>
          <p:nvPr/>
        </p:nvSpPr>
        <p:spPr>
          <a:xfrm>
            <a:off x="3199822" y="4250701"/>
            <a:ext cx="53975" cy="121920"/>
          </a:xfrm>
          <a:prstGeom prst="rect">
            <a:avLst/>
          </a:prstGeom>
        </p:spPr>
        <p:txBody>
          <a:bodyPr wrap="square" lIns="0" tIns="16510" rIns="0" bIns="0" rtlCol="0" vert="horz">
            <a:spAutoFit/>
          </a:bodyPr>
          <a:lstStyle/>
          <a:p>
            <a:pPr>
              <a:lnSpc>
                <a:spcPct val="100000"/>
              </a:lnSpc>
              <a:spcBef>
                <a:spcPts val="130"/>
              </a:spcBef>
            </a:pPr>
            <a:r>
              <a:rPr dirty="0" sz="600" spc="-50" b="1">
                <a:solidFill>
                  <a:srgbClr val="595958"/>
                </a:solidFill>
                <a:latin typeface="Calibri"/>
                <a:cs typeface="Calibri"/>
              </a:rPr>
              <a:t>0</a:t>
            </a:r>
            <a:endParaRPr sz="600">
              <a:latin typeface="Calibri"/>
              <a:cs typeface="Calibri"/>
            </a:endParaRPr>
          </a:p>
        </p:txBody>
      </p:sp>
      <p:sp>
        <p:nvSpPr>
          <p:cNvPr id="36" name="object 36" descr=""/>
          <p:cNvSpPr txBox="1"/>
          <p:nvPr/>
        </p:nvSpPr>
        <p:spPr>
          <a:xfrm>
            <a:off x="3627460" y="4250701"/>
            <a:ext cx="93345" cy="121920"/>
          </a:xfrm>
          <a:prstGeom prst="rect">
            <a:avLst/>
          </a:prstGeom>
        </p:spPr>
        <p:txBody>
          <a:bodyPr wrap="square" lIns="0" tIns="16510" rIns="0" bIns="0" rtlCol="0" vert="horz">
            <a:spAutoFit/>
          </a:bodyPr>
          <a:lstStyle/>
          <a:p>
            <a:pPr>
              <a:lnSpc>
                <a:spcPct val="100000"/>
              </a:lnSpc>
              <a:spcBef>
                <a:spcPts val="130"/>
              </a:spcBef>
            </a:pPr>
            <a:r>
              <a:rPr dirty="0" sz="600" spc="-25" b="1">
                <a:solidFill>
                  <a:srgbClr val="595958"/>
                </a:solidFill>
                <a:latin typeface="Calibri"/>
                <a:cs typeface="Calibri"/>
              </a:rPr>
              <a:t>10</a:t>
            </a:r>
            <a:endParaRPr sz="600">
              <a:latin typeface="Calibri"/>
              <a:cs typeface="Calibri"/>
            </a:endParaRPr>
          </a:p>
        </p:txBody>
      </p:sp>
      <p:sp>
        <p:nvSpPr>
          <p:cNvPr id="37" name="object 37" descr=""/>
          <p:cNvSpPr txBox="1"/>
          <p:nvPr/>
        </p:nvSpPr>
        <p:spPr>
          <a:xfrm>
            <a:off x="4075442" y="4250701"/>
            <a:ext cx="93345" cy="121920"/>
          </a:xfrm>
          <a:prstGeom prst="rect">
            <a:avLst/>
          </a:prstGeom>
        </p:spPr>
        <p:txBody>
          <a:bodyPr wrap="square" lIns="0" tIns="16510" rIns="0" bIns="0" rtlCol="0" vert="horz">
            <a:spAutoFit/>
          </a:bodyPr>
          <a:lstStyle/>
          <a:p>
            <a:pPr>
              <a:lnSpc>
                <a:spcPct val="100000"/>
              </a:lnSpc>
              <a:spcBef>
                <a:spcPts val="130"/>
              </a:spcBef>
            </a:pPr>
            <a:r>
              <a:rPr dirty="0" sz="600" spc="-25" b="1">
                <a:solidFill>
                  <a:srgbClr val="595958"/>
                </a:solidFill>
                <a:latin typeface="Calibri"/>
                <a:cs typeface="Calibri"/>
              </a:rPr>
              <a:t>20</a:t>
            </a:r>
            <a:endParaRPr sz="600">
              <a:latin typeface="Calibri"/>
              <a:cs typeface="Calibri"/>
            </a:endParaRPr>
          </a:p>
        </p:txBody>
      </p:sp>
      <p:sp>
        <p:nvSpPr>
          <p:cNvPr id="38" name="object 38" descr=""/>
          <p:cNvSpPr txBox="1"/>
          <p:nvPr/>
        </p:nvSpPr>
        <p:spPr>
          <a:xfrm>
            <a:off x="4971408" y="4250701"/>
            <a:ext cx="93345" cy="121920"/>
          </a:xfrm>
          <a:prstGeom prst="rect">
            <a:avLst/>
          </a:prstGeom>
        </p:spPr>
        <p:txBody>
          <a:bodyPr wrap="square" lIns="0" tIns="16510" rIns="0" bIns="0" rtlCol="0" vert="horz">
            <a:spAutoFit/>
          </a:bodyPr>
          <a:lstStyle/>
          <a:p>
            <a:pPr>
              <a:lnSpc>
                <a:spcPct val="100000"/>
              </a:lnSpc>
              <a:spcBef>
                <a:spcPts val="130"/>
              </a:spcBef>
            </a:pPr>
            <a:r>
              <a:rPr dirty="0" sz="600" spc="-25" b="1">
                <a:solidFill>
                  <a:srgbClr val="595958"/>
                </a:solidFill>
                <a:latin typeface="Calibri"/>
                <a:cs typeface="Calibri"/>
              </a:rPr>
              <a:t>40</a:t>
            </a:r>
            <a:endParaRPr sz="600">
              <a:latin typeface="Calibri"/>
              <a:cs typeface="Calibri"/>
            </a:endParaRPr>
          </a:p>
        </p:txBody>
      </p:sp>
      <p:sp>
        <p:nvSpPr>
          <p:cNvPr id="39" name="object 39" descr=""/>
          <p:cNvSpPr txBox="1"/>
          <p:nvPr/>
        </p:nvSpPr>
        <p:spPr>
          <a:xfrm>
            <a:off x="5419390" y="4250701"/>
            <a:ext cx="93345" cy="121920"/>
          </a:xfrm>
          <a:prstGeom prst="rect">
            <a:avLst/>
          </a:prstGeom>
        </p:spPr>
        <p:txBody>
          <a:bodyPr wrap="square" lIns="0" tIns="16510" rIns="0" bIns="0" rtlCol="0" vert="horz">
            <a:spAutoFit/>
          </a:bodyPr>
          <a:lstStyle/>
          <a:p>
            <a:pPr>
              <a:lnSpc>
                <a:spcPct val="100000"/>
              </a:lnSpc>
              <a:spcBef>
                <a:spcPts val="130"/>
              </a:spcBef>
            </a:pPr>
            <a:r>
              <a:rPr dirty="0" sz="600" spc="-25" b="1">
                <a:solidFill>
                  <a:srgbClr val="595958"/>
                </a:solidFill>
                <a:latin typeface="Calibri"/>
                <a:cs typeface="Calibri"/>
              </a:rPr>
              <a:t>50</a:t>
            </a:r>
            <a:endParaRPr sz="600">
              <a:latin typeface="Calibri"/>
              <a:cs typeface="Calibri"/>
            </a:endParaRPr>
          </a:p>
        </p:txBody>
      </p:sp>
      <p:sp>
        <p:nvSpPr>
          <p:cNvPr id="40" name="object 40" descr=""/>
          <p:cNvSpPr txBox="1"/>
          <p:nvPr/>
        </p:nvSpPr>
        <p:spPr>
          <a:xfrm>
            <a:off x="5867373" y="4250701"/>
            <a:ext cx="93345" cy="121920"/>
          </a:xfrm>
          <a:prstGeom prst="rect">
            <a:avLst/>
          </a:prstGeom>
        </p:spPr>
        <p:txBody>
          <a:bodyPr wrap="square" lIns="0" tIns="16510" rIns="0" bIns="0" rtlCol="0" vert="horz">
            <a:spAutoFit/>
          </a:bodyPr>
          <a:lstStyle/>
          <a:p>
            <a:pPr>
              <a:lnSpc>
                <a:spcPct val="100000"/>
              </a:lnSpc>
              <a:spcBef>
                <a:spcPts val="130"/>
              </a:spcBef>
            </a:pPr>
            <a:r>
              <a:rPr dirty="0" sz="600" spc="-25" b="1">
                <a:solidFill>
                  <a:srgbClr val="595958"/>
                </a:solidFill>
                <a:latin typeface="Calibri"/>
                <a:cs typeface="Calibri"/>
              </a:rPr>
              <a:t>60</a:t>
            </a:r>
            <a:endParaRPr sz="600">
              <a:latin typeface="Calibri"/>
              <a:cs typeface="Calibri"/>
            </a:endParaRPr>
          </a:p>
        </p:txBody>
      </p:sp>
      <p:sp>
        <p:nvSpPr>
          <p:cNvPr id="41" name="object 41" descr=""/>
          <p:cNvSpPr txBox="1"/>
          <p:nvPr/>
        </p:nvSpPr>
        <p:spPr>
          <a:xfrm>
            <a:off x="2983567" y="3846553"/>
            <a:ext cx="173355" cy="121920"/>
          </a:xfrm>
          <a:prstGeom prst="rect">
            <a:avLst/>
          </a:prstGeom>
        </p:spPr>
        <p:txBody>
          <a:bodyPr wrap="square" lIns="0" tIns="16510" rIns="0" bIns="0" rtlCol="0" vert="horz">
            <a:spAutoFit/>
          </a:bodyPr>
          <a:lstStyle/>
          <a:p>
            <a:pPr>
              <a:lnSpc>
                <a:spcPct val="100000"/>
              </a:lnSpc>
              <a:spcBef>
                <a:spcPts val="130"/>
              </a:spcBef>
            </a:pPr>
            <a:r>
              <a:rPr dirty="0" sz="600" spc="-25">
                <a:solidFill>
                  <a:srgbClr val="595958"/>
                </a:solidFill>
                <a:latin typeface="SimSun"/>
                <a:cs typeface="SimSun"/>
              </a:rPr>
              <a:t>平均</a:t>
            </a:r>
            <a:endParaRPr sz="600">
              <a:latin typeface="SimSun"/>
              <a:cs typeface="SimSun"/>
            </a:endParaRPr>
          </a:p>
        </p:txBody>
      </p:sp>
      <p:sp>
        <p:nvSpPr>
          <p:cNvPr id="42" name="object 42" descr=""/>
          <p:cNvSpPr txBox="1"/>
          <p:nvPr/>
        </p:nvSpPr>
        <p:spPr>
          <a:xfrm>
            <a:off x="2958167" y="3153091"/>
            <a:ext cx="491490" cy="306705"/>
          </a:xfrm>
          <a:prstGeom prst="rect">
            <a:avLst/>
          </a:prstGeom>
        </p:spPr>
        <p:txBody>
          <a:bodyPr wrap="square" lIns="0" tIns="60960" rIns="0" bIns="0" rtlCol="0" vert="horz">
            <a:spAutoFit/>
          </a:bodyPr>
          <a:lstStyle/>
          <a:p>
            <a:pPr marL="25400">
              <a:lnSpc>
                <a:spcPct val="100000"/>
              </a:lnSpc>
              <a:spcBef>
                <a:spcPts val="480"/>
              </a:spcBef>
            </a:pPr>
            <a:r>
              <a:rPr dirty="0" baseline="-46296" sz="900" spc="165">
                <a:solidFill>
                  <a:srgbClr val="595958"/>
                </a:solidFill>
                <a:latin typeface="SimSun"/>
                <a:cs typeface="SimSun"/>
              </a:rPr>
              <a:t>边缘  </a:t>
            </a:r>
            <a:r>
              <a:rPr dirty="0" sz="600" spc="-20" b="1">
                <a:solidFill>
                  <a:srgbClr val="3E3E3E"/>
                </a:solidFill>
                <a:latin typeface="Calibri"/>
                <a:cs typeface="Calibri"/>
              </a:rPr>
              <a:t>0.49</a:t>
            </a:r>
            <a:endParaRPr sz="600">
              <a:latin typeface="Calibri"/>
              <a:cs typeface="Calibri"/>
            </a:endParaRPr>
          </a:p>
          <a:p>
            <a:pPr marL="291465">
              <a:lnSpc>
                <a:spcPct val="100000"/>
              </a:lnSpc>
              <a:spcBef>
                <a:spcPts val="385"/>
              </a:spcBef>
            </a:pPr>
            <a:r>
              <a:rPr dirty="0" sz="600" spc="-20" b="1">
                <a:solidFill>
                  <a:srgbClr val="3E3E3E"/>
                </a:solidFill>
                <a:latin typeface="Calibri"/>
                <a:cs typeface="Calibri"/>
              </a:rPr>
              <a:t>0.03</a:t>
            </a:r>
            <a:endParaRPr sz="600">
              <a:latin typeface="Calibri"/>
              <a:cs typeface="Calibri"/>
            </a:endParaRPr>
          </a:p>
        </p:txBody>
      </p:sp>
      <p:sp>
        <p:nvSpPr>
          <p:cNvPr id="43" name="object 43" descr=""/>
          <p:cNvSpPr txBox="1"/>
          <p:nvPr/>
        </p:nvSpPr>
        <p:spPr>
          <a:xfrm>
            <a:off x="3397464" y="2835967"/>
            <a:ext cx="2176780" cy="142240"/>
          </a:xfrm>
          <a:prstGeom prst="rect">
            <a:avLst/>
          </a:prstGeom>
        </p:spPr>
        <p:txBody>
          <a:bodyPr wrap="square" lIns="0" tIns="13970" rIns="0" bIns="0" rtlCol="0" vert="horz">
            <a:spAutoFit/>
          </a:bodyPr>
          <a:lstStyle/>
          <a:p>
            <a:pPr>
              <a:lnSpc>
                <a:spcPct val="100000"/>
              </a:lnSpc>
              <a:spcBef>
                <a:spcPts val="110"/>
              </a:spcBef>
            </a:pPr>
            <a:r>
              <a:rPr dirty="0" sz="750" spc="-5">
                <a:solidFill>
                  <a:srgbClr val="595958"/>
                </a:solidFill>
                <a:latin typeface="SimSun"/>
                <a:cs typeface="SimSun"/>
              </a:rPr>
              <a:t>室外覆盖室内测试小区平均和边缘吞吐量</a:t>
            </a:r>
            <a:r>
              <a:rPr dirty="0" sz="750" spc="-10">
                <a:solidFill>
                  <a:srgbClr val="595958"/>
                </a:solidFill>
                <a:latin typeface="SimSun"/>
                <a:cs typeface="SimSun"/>
              </a:rPr>
              <a:t>（</a:t>
            </a:r>
            <a:r>
              <a:rPr dirty="0" sz="750" spc="-10" b="1">
                <a:solidFill>
                  <a:srgbClr val="595958"/>
                </a:solidFill>
                <a:latin typeface="Calibri"/>
                <a:cs typeface="Calibri"/>
              </a:rPr>
              <a:t>Mbps</a:t>
            </a:r>
            <a:r>
              <a:rPr dirty="0" sz="750" spc="-10">
                <a:solidFill>
                  <a:srgbClr val="595958"/>
                </a:solidFill>
                <a:latin typeface="SimSun"/>
                <a:cs typeface="SimSun"/>
              </a:rPr>
              <a:t>）</a:t>
            </a:r>
            <a:endParaRPr sz="750">
              <a:latin typeface="SimSun"/>
              <a:cs typeface="SimSun"/>
            </a:endParaRPr>
          </a:p>
        </p:txBody>
      </p:sp>
      <p:grpSp>
        <p:nvGrpSpPr>
          <p:cNvPr id="44" name="object 44" descr=""/>
          <p:cNvGrpSpPr/>
          <p:nvPr/>
        </p:nvGrpSpPr>
        <p:grpSpPr>
          <a:xfrm>
            <a:off x="4155108" y="4433874"/>
            <a:ext cx="411480" cy="43815"/>
            <a:chOff x="4155108" y="4433874"/>
            <a:chExt cx="411480" cy="43815"/>
          </a:xfrm>
        </p:grpSpPr>
        <p:sp>
          <p:nvSpPr>
            <p:cNvPr id="45" name="object 45" descr=""/>
            <p:cNvSpPr/>
            <p:nvPr/>
          </p:nvSpPr>
          <p:spPr>
            <a:xfrm>
              <a:off x="4155108" y="4433874"/>
              <a:ext cx="43815" cy="43815"/>
            </a:xfrm>
            <a:custGeom>
              <a:avLst/>
              <a:gdLst/>
              <a:ahLst/>
              <a:cxnLst/>
              <a:rect l="l" t="t" r="r" b="b"/>
              <a:pathLst>
                <a:path w="43814" h="43814">
                  <a:moveTo>
                    <a:pt x="43481" y="43481"/>
                  </a:moveTo>
                  <a:lnTo>
                    <a:pt x="0" y="43481"/>
                  </a:lnTo>
                  <a:lnTo>
                    <a:pt x="0" y="0"/>
                  </a:lnTo>
                  <a:lnTo>
                    <a:pt x="43481" y="0"/>
                  </a:lnTo>
                  <a:lnTo>
                    <a:pt x="43481" y="43481"/>
                  </a:lnTo>
                  <a:close/>
                </a:path>
              </a:pathLst>
            </a:custGeom>
            <a:solidFill>
              <a:srgbClr val="ED7D31"/>
            </a:solidFill>
          </p:spPr>
          <p:txBody>
            <a:bodyPr wrap="square" lIns="0" tIns="0" rIns="0" bIns="0" rtlCol="0"/>
            <a:lstStyle/>
            <a:p/>
          </p:txBody>
        </p:sp>
        <p:sp>
          <p:nvSpPr>
            <p:cNvPr id="46" name="object 46" descr=""/>
            <p:cNvSpPr/>
            <p:nvPr/>
          </p:nvSpPr>
          <p:spPr>
            <a:xfrm>
              <a:off x="4522978" y="4433874"/>
              <a:ext cx="43815" cy="43815"/>
            </a:xfrm>
            <a:custGeom>
              <a:avLst/>
              <a:gdLst/>
              <a:ahLst/>
              <a:cxnLst/>
              <a:rect l="l" t="t" r="r" b="b"/>
              <a:pathLst>
                <a:path w="43814" h="43814">
                  <a:moveTo>
                    <a:pt x="43481" y="43481"/>
                  </a:moveTo>
                  <a:lnTo>
                    <a:pt x="0" y="43481"/>
                  </a:lnTo>
                  <a:lnTo>
                    <a:pt x="0" y="0"/>
                  </a:lnTo>
                  <a:lnTo>
                    <a:pt x="43481" y="0"/>
                  </a:lnTo>
                  <a:lnTo>
                    <a:pt x="43481" y="43481"/>
                  </a:lnTo>
                  <a:close/>
                </a:path>
              </a:pathLst>
            </a:custGeom>
            <a:solidFill>
              <a:srgbClr val="5B9BD5"/>
            </a:solidFill>
          </p:spPr>
          <p:txBody>
            <a:bodyPr wrap="square" lIns="0" tIns="0" rIns="0" bIns="0" rtlCol="0"/>
            <a:lstStyle/>
            <a:p/>
          </p:txBody>
        </p:sp>
      </p:grpSp>
      <p:sp>
        <p:nvSpPr>
          <p:cNvPr id="47" name="object 47" descr=""/>
          <p:cNvSpPr txBox="1"/>
          <p:nvPr/>
        </p:nvSpPr>
        <p:spPr>
          <a:xfrm>
            <a:off x="4220512" y="4211589"/>
            <a:ext cx="616585" cy="296545"/>
          </a:xfrm>
          <a:prstGeom prst="rect">
            <a:avLst/>
          </a:prstGeom>
        </p:spPr>
        <p:txBody>
          <a:bodyPr wrap="square" lIns="0" tIns="55879" rIns="0" bIns="0" rtlCol="0" vert="horz">
            <a:spAutoFit/>
          </a:bodyPr>
          <a:lstStyle/>
          <a:p>
            <a:pPr algn="ctr" marL="69215">
              <a:lnSpc>
                <a:spcPct val="100000"/>
              </a:lnSpc>
              <a:spcBef>
                <a:spcPts val="439"/>
              </a:spcBef>
            </a:pPr>
            <a:r>
              <a:rPr dirty="0" sz="600" spc="-25" b="1">
                <a:solidFill>
                  <a:srgbClr val="595958"/>
                </a:solidFill>
                <a:latin typeface="Calibri"/>
                <a:cs typeface="Calibri"/>
              </a:rPr>
              <a:t>30</a:t>
            </a:r>
            <a:endParaRPr sz="600">
              <a:latin typeface="Calibri"/>
              <a:cs typeface="Calibri"/>
            </a:endParaRPr>
          </a:p>
          <a:p>
            <a:pPr>
              <a:lnSpc>
                <a:spcPct val="100000"/>
              </a:lnSpc>
              <a:spcBef>
                <a:spcPts val="345"/>
              </a:spcBef>
              <a:tabLst>
                <a:tab pos="367665" algn="l"/>
              </a:tabLst>
            </a:pPr>
            <a:r>
              <a:rPr dirty="0" sz="600" spc="-10" b="1">
                <a:solidFill>
                  <a:srgbClr val="595958"/>
                </a:solidFill>
                <a:latin typeface="Calibri"/>
                <a:cs typeface="Calibri"/>
              </a:rPr>
              <a:t>3.5GHz</a:t>
            </a:r>
            <a:r>
              <a:rPr dirty="0" sz="600" b="1">
                <a:solidFill>
                  <a:srgbClr val="595958"/>
                </a:solidFill>
                <a:latin typeface="Calibri"/>
                <a:cs typeface="Calibri"/>
              </a:rPr>
              <a:t>	</a:t>
            </a:r>
            <a:r>
              <a:rPr dirty="0" sz="600" spc="-10" b="1">
                <a:solidFill>
                  <a:srgbClr val="595958"/>
                </a:solidFill>
                <a:latin typeface="Calibri"/>
                <a:cs typeface="Calibri"/>
              </a:rPr>
              <a:t>1.8GHz</a:t>
            </a:r>
            <a:endParaRPr sz="600">
              <a:latin typeface="Calibri"/>
              <a:cs typeface="Calibri"/>
            </a:endParaRPr>
          </a:p>
        </p:txBody>
      </p:sp>
      <p:sp>
        <p:nvSpPr>
          <p:cNvPr id="48" name="object 48" descr=""/>
          <p:cNvSpPr/>
          <p:nvPr/>
        </p:nvSpPr>
        <p:spPr>
          <a:xfrm>
            <a:off x="2956189" y="2820241"/>
            <a:ext cx="3040380" cy="1722755"/>
          </a:xfrm>
          <a:custGeom>
            <a:avLst/>
            <a:gdLst/>
            <a:ahLst/>
            <a:cxnLst/>
            <a:rect l="l" t="t" r="r" b="b"/>
            <a:pathLst>
              <a:path w="3040379" h="1722754">
                <a:moveTo>
                  <a:pt x="0" y="0"/>
                </a:moveTo>
                <a:lnTo>
                  <a:pt x="3039945" y="0"/>
                </a:lnTo>
                <a:lnTo>
                  <a:pt x="3039945" y="1722321"/>
                </a:lnTo>
                <a:lnTo>
                  <a:pt x="0" y="1722321"/>
                </a:lnTo>
                <a:lnTo>
                  <a:pt x="0" y="0"/>
                </a:lnTo>
                <a:close/>
              </a:path>
            </a:pathLst>
          </a:custGeom>
          <a:ln w="3347">
            <a:solidFill>
              <a:srgbClr val="DADADA"/>
            </a:solidFill>
          </a:ln>
        </p:spPr>
        <p:txBody>
          <a:bodyPr wrap="square" lIns="0" tIns="0" rIns="0" bIns="0" rtlCol="0"/>
          <a:lstStyle/>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49817" y="105780"/>
            <a:ext cx="4521835" cy="513080"/>
          </a:xfrm>
          <a:prstGeom prst="rect"/>
        </p:spPr>
        <p:txBody>
          <a:bodyPr wrap="square" lIns="0" tIns="12065" rIns="0" bIns="0" rtlCol="0" vert="horz">
            <a:spAutoFit/>
          </a:bodyPr>
          <a:lstStyle/>
          <a:p>
            <a:pPr marL="12700">
              <a:lnSpc>
                <a:spcPct val="100000"/>
              </a:lnSpc>
              <a:spcBef>
                <a:spcPts val="95"/>
              </a:spcBef>
            </a:pPr>
            <a:r>
              <a:rPr dirty="0" spc="-20">
                <a:latin typeface="Times New Roman"/>
                <a:cs typeface="Times New Roman"/>
              </a:rPr>
              <a:t>1.8G</a:t>
            </a:r>
            <a:r>
              <a:rPr dirty="0" spc="-35"/>
              <a:t>和</a:t>
            </a:r>
            <a:r>
              <a:rPr dirty="0" spc="-25">
                <a:latin typeface="Times New Roman"/>
                <a:cs typeface="Times New Roman"/>
              </a:rPr>
              <a:t>3.5G</a:t>
            </a:r>
            <a:r>
              <a:rPr dirty="0" spc="-45"/>
              <a:t>覆盖能力对比</a:t>
            </a:r>
          </a:p>
        </p:txBody>
      </p:sp>
      <p:sp>
        <p:nvSpPr>
          <p:cNvPr id="3" name="object 3" descr=""/>
          <p:cNvSpPr txBox="1"/>
          <p:nvPr/>
        </p:nvSpPr>
        <p:spPr>
          <a:xfrm>
            <a:off x="114236" y="765734"/>
            <a:ext cx="7129780" cy="964565"/>
          </a:xfrm>
          <a:prstGeom prst="rect">
            <a:avLst/>
          </a:prstGeom>
        </p:spPr>
        <p:txBody>
          <a:bodyPr wrap="square" lIns="0" tIns="33655" rIns="0" bIns="0" rtlCol="0" vert="horz">
            <a:spAutoFit/>
          </a:bodyPr>
          <a:lstStyle/>
          <a:p>
            <a:pPr marL="354965" indent="-342265">
              <a:lnSpc>
                <a:spcPct val="100000"/>
              </a:lnSpc>
              <a:spcBef>
                <a:spcPts val="265"/>
              </a:spcBef>
              <a:buFont typeface="Wingdings"/>
              <a:buChar char=""/>
              <a:tabLst>
                <a:tab pos="354965" algn="l"/>
              </a:tabLst>
            </a:pPr>
            <a:r>
              <a:rPr dirty="0" sz="1400" spc="-20">
                <a:latin typeface="SimSun"/>
                <a:cs typeface="SimSun"/>
              </a:rPr>
              <a:t>测试目的：掌握</a:t>
            </a:r>
            <a:r>
              <a:rPr dirty="0" sz="1400" spc="-10">
                <a:latin typeface="Arial MT"/>
                <a:cs typeface="Arial MT"/>
              </a:rPr>
              <a:t>1.8G</a:t>
            </a:r>
            <a:r>
              <a:rPr dirty="0" sz="1400" spc="-20">
                <a:latin typeface="SimSun"/>
                <a:cs typeface="SimSun"/>
              </a:rPr>
              <a:t>和</a:t>
            </a:r>
            <a:r>
              <a:rPr dirty="0" sz="1400" spc="-10">
                <a:latin typeface="Arial MT"/>
                <a:cs typeface="Arial MT"/>
              </a:rPr>
              <a:t>3.5G</a:t>
            </a:r>
            <a:r>
              <a:rPr dirty="0" sz="1400" spc="-20">
                <a:latin typeface="SimSun"/>
                <a:cs typeface="SimSun"/>
              </a:rPr>
              <a:t>上行覆盖性能，验证</a:t>
            </a:r>
            <a:r>
              <a:rPr dirty="0" sz="1400" spc="-10">
                <a:latin typeface="Arial MT"/>
                <a:cs typeface="Arial MT"/>
              </a:rPr>
              <a:t>3.5G</a:t>
            </a:r>
            <a:r>
              <a:rPr dirty="0" sz="1400" spc="-20">
                <a:latin typeface="SimSun"/>
                <a:cs typeface="SimSun"/>
              </a:rPr>
              <a:t>与</a:t>
            </a:r>
            <a:r>
              <a:rPr dirty="0" sz="1400" spc="-10">
                <a:latin typeface="Arial MT"/>
                <a:cs typeface="Arial MT"/>
              </a:rPr>
              <a:t>1.8G</a:t>
            </a:r>
            <a:r>
              <a:rPr dirty="0" sz="1400" spc="-20">
                <a:latin typeface="SimSun"/>
                <a:cs typeface="SimSun"/>
              </a:rPr>
              <a:t>采用</a:t>
            </a:r>
            <a:r>
              <a:rPr dirty="0" sz="1400">
                <a:latin typeface="Arial MT"/>
                <a:cs typeface="Arial MT"/>
              </a:rPr>
              <a:t>1:1</a:t>
            </a:r>
            <a:r>
              <a:rPr dirty="0" sz="1400" spc="-25">
                <a:latin typeface="SimSun"/>
                <a:cs typeface="SimSun"/>
              </a:rPr>
              <a:t>共站覆盖可行性。</a:t>
            </a:r>
            <a:endParaRPr sz="1400">
              <a:latin typeface="SimSun"/>
              <a:cs typeface="SimSun"/>
            </a:endParaRPr>
          </a:p>
          <a:p>
            <a:pPr marL="354965" indent="-342265">
              <a:lnSpc>
                <a:spcPct val="100000"/>
              </a:lnSpc>
              <a:spcBef>
                <a:spcPts val="170"/>
              </a:spcBef>
              <a:buFont typeface="Wingdings"/>
              <a:buChar char=""/>
              <a:tabLst>
                <a:tab pos="354965" algn="l"/>
              </a:tabLst>
            </a:pPr>
            <a:r>
              <a:rPr dirty="0" sz="1400" spc="-30">
                <a:latin typeface="SimSun"/>
                <a:cs typeface="SimSun"/>
              </a:rPr>
              <a:t>测试区域：</a:t>
            </a:r>
            <a:endParaRPr sz="1400">
              <a:latin typeface="SimSun"/>
              <a:cs typeface="SimSun"/>
            </a:endParaRPr>
          </a:p>
          <a:p>
            <a:pPr lvl="1" marL="755015" indent="-285115">
              <a:lnSpc>
                <a:spcPct val="100000"/>
              </a:lnSpc>
              <a:spcBef>
                <a:spcPts val="170"/>
              </a:spcBef>
              <a:buClr>
                <a:srgbClr val="00B0F0"/>
              </a:buClr>
              <a:buFont typeface="Wingdings"/>
              <a:buChar char=""/>
              <a:tabLst>
                <a:tab pos="755015" algn="l"/>
              </a:tabLst>
            </a:pPr>
            <a:r>
              <a:rPr dirty="0" sz="1400" spc="-25">
                <a:latin typeface="SimSun"/>
                <a:cs typeface="SimSun"/>
              </a:rPr>
              <a:t>测试区域位于四川成都中国电信西部信息中心。</a:t>
            </a:r>
            <a:endParaRPr sz="1400">
              <a:latin typeface="SimSun"/>
              <a:cs typeface="SimSun"/>
            </a:endParaRPr>
          </a:p>
          <a:p>
            <a:pPr lvl="1" marL="755015" indent="-285115">
              <a:lnSpc>
                <a:spcPct val="100000"/>
              </a:lnSpc>
              <a:spcBef>
                <a:spcPts val="165"/>
              </a:spcBef>
              <a:buClr>
                <a:srgbClr val="00B0F0"/>
              </a:buClr>
              <a:buFont typeface="Wingdings"/>
              <a:buChar char=""/>
              <a:tabLst>
                <a:tab pos="755015" algn="l"/>
              </a:tabLst>
            </a:pPr>
            <a:r>
              <a:rPr dirty="0" sz="1400" spc="-20">
                <a:latin typeface="SimSun"/>
                <a:cs typeface="SimSun"/>
              </a:rPr>
              <a:t>测试区域中包含了写字楼、</a:t>
            </a:r>
            <a:r>
              <a:rPr dirty="0" sz="1400">
                <a:latin typeface="Arial MT"/>
                <a:cs typeface="Arial MT"/>
              </a:rPr>
              <a:t>shopping</a:t>
            </a:r>
            <a:r>
              <a:rPr dirty="0" sz="1400" spc="105">
                <a:latin typeface="Arial MT"/>
                <a:cs typeface="Arial MT"/>
              </a:rPr>
              <a:t> </a:t>
            </a:r>
            <a:r>
              <a:rPr dirty="0" sz="1400" spc="-10">
                <a:latin typeface="Arial MT"/>
                <a:cs typeface="Arial MT"/>
              </a:rPr>
              <a:t>Mall</a:t>
            </a:r>
            <a:r>
              <a:rPr dirty="0" sz="1400" spc="-30">
                <a:latin typeface="SimSun"/>
                <a:cs typeface="SimSun"/>
              </a:rPr>
              <a:t>等建筑。</a:t>
            </a:r>
            <a:endParaRPr sz="1400">
              <a:latin typeface="SimSun"/>
              <a:cs typeface="SimSun"/>
            </a:endParaRPr>
          </a:p>
        </p:txBody>
      </p:sp>
      <p:sp>
        <p:nvSpPr>
          <p:cNvPr id="4" name="object 4" descr=""/>
          <p:cNvSpPr/>
          <p:nvPr/>
        </p:nvSpPr>
        <p:spPr>
          <a:xfrm>
            <a:off x="0" y="4459173"/>
            <a:ext cx="9143365" cy="623570"/>
          </a:xfrm>
          <a:custGeom>
            <a:avLst/>
            <a:gdLst/>
            <a:ahLst/>
            <a:cxnLst/>
            <a:rect l="l" t="t" r="r" b="b"/>
            <a:pathLst>
              <a:path w="9143365" h="623570">
                <a:moveTo>
                  <a:pt x="9142806" y="0"/>
                </a:moveTo>
                <a:lnTo>
                  <a:pt x="0" y="0"/>
                </a:lnTo>
                <a:lnTo>
                  <a:pt x="0" y="623239"/>
                </a:lnTo>
                <a:lnTo>
                  <a:pt x="9142806" y="623239"/>
                </a:lnTo>
                <a:lnTo>
                  <a:pt x="9142806" y="0"/>
                </a:lnTo>
                <a:close/>
              </a:path>
            </a:pathLst>
          </a:custGeom>
          <a:solidFill>
            <a:srgbClr val="C00000"/>
          </a:solidFill>
        </p:spPr>
        <p:txBody>
          <a:bodyPr wrap="square" lIns="0" tIns="0" rIns="0" bIns="0" rtlCol="0"/>
          <a:lstStyle/>
          <a:p/>
        </p:txBody>
      </p:sp>
      <p:sp>
        <p:nvSpPr>
          <p:cNvPr id="5" name="object 5" descr=""/>
          <p:cNvSpPr txBox="1"/>
          <p:nvPr/>
        </p:nvSpPr>
        <p:spPr>
          <a:xfrm>
            <a:off x="55880" y="4474667"/>
            <a:ext cx="8898890" cy="574040"/>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FFFFFF"/>
                </a:solidFill>
                <a:latin typeface="Microsoft YaHei"/>
                <a:cs typeface="Microsoft YaHei"/>
              </a:rPr>
              <a:t>结论：</a:t>
            </a:r>
            <a:r>
              <a:rPr dirty="0" sz="1200" spc="-10">
                <a:solidFill>
                  <a:srgbClr val="FFFFFF"/>
                </a:solidFill>
                <a:latin typeface="Microsoft YaHei"/>
                <a:cs typeface="Microsoft YaHei"/>
              </a:rPr>
              <a:t>1</a:t>
            </a:r>
            <a:r>
              <a:rPr dirty="0" sz="1200">
                <a:solidFill>
                  <a:srgbClr val="FFFFFF"/>
                </a:solidFill>
                <a:latin typeface="Microsoft YaHei"/>
                <a:cs typeface="Microsoft YaHei"/>
              </a:rPr>
              <a:t>、</a:t>
            </a:r>
            <a:r>
              <a:rPr dirty="0" sz="1200" spc="-10">
                <a:solidFill>
                  <a:srgbClr val="FFFFFF"/>
                </a:solidFill>
                <a:latin typeface="Microsoft YaHei"/>
                <a:cs typeface="Microsoft YaHei"/>
              </a:rPr>
              <a:t>1.8G</a:t>
            </a:r>
            <a:r>
              <a:rPr dirty="0" sz="1200">
                <a:solidFill>
                  <a:srgbClr val="FFFFFF"/>
                </a:solidFill>
                <a:latin typeface="Microsoft YaHei"/>
                <a:cs typeface="Microsoft YaHei"/>
              </a:rPr>
              <a:t>的室外覆盖区域都属于近点和中点区域，在这些区域中都属于</a:t>
            </a:r>
            <a:r>
              <a:rPr dirty="0" sz="1200" spc="-10">
                <a:solidFill>
                  <a:srgbClr val="FFFFFF"/>
                </a:solidFill>
                <a:latin typeface="Microsoft YaHei"/>
                <a:cs typeface="Microsoft YaHei"/>
              </a:rPr>
              <a:t>3.5G的覆盖近点。</a:t>
            </a:r>
            <a:endParaRPr sz="1200">
              <a:latin typeface="Microsoft YaHei"/>
              <a:cs typeface="Microsoft YaHei"/>
            </a:endParaRPr>
          </a:p>
          <a:p>
            <a:pPr marL="12700" marR="5080" indent="443865">
              <a:lnSpc>
                <a:spcPct val="100000"/>
              </a:lnSpc>
            </a:pPr>
            <a:r>
              <a:rPr dirty="0" sz="1200" spc="-10">
                <a:solidFill>
                  <a:srgbClr val="FFFFFF"/>
                </a:solidFill>
                <a:latin typeface="Microsoft YaHei"/>
                <a:cs typeface="Microsoft YaHei"/>
              </a:rPr>
              <a:t>2</a:t>
            </a:r>
            <a:r>
              <a:rPr dirty="0" sz="1200">
                <a:solidFill>
                  <a:srgbClr val="FFFFFF"/>
                </a:solidFill>
                <a:latin typeface="Microsoft YaHei"/>
                <a:cs typeface="Microsoft YaHei"/>
              </a:rPr>
              <a:t>、由于</a:t>
            </a:r>
            <a:r>
              <a:rPr dirty="0" sz="1200" spc="-10">
                <a:solidFill>
                  <a:srgbClr val="FFFFFF"/>
                </a:solidFill>
                <a:latin typeface="Microsoft YaHei"/>
                <a:cs typeface="Microsoft YaHei"/>
              </a:rPr>
              <a:t>3.5G</a:t>
            </a:r>
            <a:r>
              <a:rPr dirty="0" sz="1200">
                <a:solidFill>
                  <a:srgbClr val="FFFFFF"/>
                </a:solidFill>
                <a:latin typeface="Microsoft YaHei"/>
                <a:cs typeface="Microsoft YaHei"/>
              </a:rPr>
              <a:t>具有大带宽和高频谱效率且现网</a:t>
            </a:r>
            <a:r>
              <a:rPr dirty="0" sz="1200" spc="-10">
                <a:solidFill>
                  <a:srgbClr val="FFFFFF"/>
                </a:solidFill>
                <a:latin typeface="Microsoft YaHei"/>
                <a:cs typeface="Microsoft YaHei"/>
              </a:rPr>
              <a:t>1.8G</a:t>
            </a:r>
            <a:r>
              <a:rPr dirty="0" sz="1200">
                <a:solidFill>
                  <a:srgbClr val="FFFFFF"/>
                </a:solidFill>
                <a:latin typeface="Microsoft YaHei"/>
                <a:cs typeface="Microsoft YaHei"/>
              </a:rPr>
              <a:t>存在一定的底噪（上行</a:t>
            </a:r>
            <a:r>
              <a:rPr dirty="0" sz="1200" spc="-10">
                <a:solidFill>
                  <a:srgbClr val="FFFFFF"/>
                </a:solidFill>
                <a:latin typeface="Microsoft YaHei"/>
                <a:cs typeface="Microsoft YaHei"/>
              </a:rPr>
              <a:t>MCS</a:t>
            </a:r>
            <a:r>
              <a:rPr dirty="0" sz="1200">
                <a:solidFill>
                  <a:srgbClr val="FFFFFF"/>
                </a:solidFill>
                <a:latin typeface="Microsoft YaHei"/>
                <a:cs typeface="Microsoft YaHei"/>
              </a:rPr>
              <a:t>高</a:t>
            </a:r>
            <a:r>
              <a:rPr dirty="0" sz="1200" spc="-10">
                <a:solidFill>
                  <a:srgbClr val="FFFFFF"/>
                </a:solidFill>
                <a:latin typeface="Microsoft YaHei"/>
                <a:cs typeface="Microsoft YaHei"/>
              </a:rPr>
              <a:t>4~5</a:t>
            </a:r>
            <a:r>
              <a:rPr dirty="0" sz="1200">
                <a:solidFill>
                  <a:srgbClr val="FFFFFF"/>
                </a:solidFill>
                <a:latin typeface="Microsoft YaHei"/>
                <a:cs typeface="Microsoft YaHei"/>
              </a:rPr>
              <a:t>左右），因此</a:t>
            </a:r>
            <a:r>
              <a:rPr dirty="0" sz="1200" spc="-10">
                <a:solidFill>
                  <a:srgbClr val="FFFFFF"/>
                </a:solidFill>
                <a:latin typeface="Microsoft YaHei"/>
                <a:cs typeface="Microsoft YaHei"/>
              </a:rPr>
              <a:t>3.5G</a:t>
            </a:r>
            <a:r>
              <a:rPr dirty="0" sz="1200">
                <a:solidFill>
                  <a:srgbClr val="FFFFFF"/>
                </a:solidFill>
                <a:latin typeface="Microsoft YaHei"/>
                <a:cs typeface="Microsoft YaHei"/>
              </a:rPr>
              <a:t>的上行吞吐量是</a:t>
            </a:r>
            <a:r>
              <a:rPr dirty="0" sz="1200" spc="-10">
                <a:solidFill>
                  <a:srgbClr val="FFFFFF"/>
                </a:solidFill>
                <a:latin typeface="Microsoft YaHei"/>
                <a:cs typeface="Microsoft YaHei"/>
              </a:rPr>
              <a:t>1.8G</a:t>
            </a:r>
            <a:r>
              <a:rPr dirty="0" sz="1200" spc="-50">
                <a:solidFill>
                  <a:srgbClr val="FFFFFF"/>
                </a:solidFill>
                <a:latin typeface="Microsoft YaHei"/>
                <a:cs typeface="Microsoft YaHei"/>
              </a:rPr>
              <a:t>的</a:t>
            </a:r>
            <a:r>
              <a:rPr dirty="0" sz="1200">
                <a:solidFill>
                  <a:srgbClr val="FFFFFF"/>
                </a:solidFill>
                <a:latin typeface="Microsoft YaHei"/>
                <a:cs typeface="Microsoft YaHei"/>
              </a:rPr>
              <a:t>大约</a:t>
            </a:r>
            <a:r>
              <a:rPr dirty="0" sz="1200" spc="-10">
                <a:solidFill>
                  <a:srgbClr val="FFFFFF"/>
                </a:solidFill>
                <a:latin typeface="Microsoft YaHei"/>
                <a:cs typeface="Microsoft YaHei"/>
              </a:rPr>
              <a:t>6~9</a:t>
            </a:r>
            <a:r>
              <a:rPr dirty="0" sz="1200" spc="-15">
                <a:solidFill>
                  <a:srgbClr val="FFFFFF"/>
                </a:solidFill>
                <a:latin typeface="Microsoft YaHei"/>
                <a:cs typeface="Microsoft YaHei"/>
              </a:rPr>
              <a:t>倍左右。</a:t>
            </a:r>
            <a:endParaRPr sz="1200">
              <a:latin typeface="Microsoft YaHei"/>
              <a:cs typeface="Microsoft YaHei"/>
            </a:endParaRPr>
          </a:p>
        </p:txBody>
      </p:sp>
      <p:pic>
        <p:nvPicPr>
          <p:cNvPr id="6" name="object 6"/>
          <p:cNvPicPr/>
          <p:nvPr/>
        </p:nvPicPr>
        <p:blipFill>
          <a:blip r:embed="rId2" cstate="print"/>
          <a:stretch>
            <a:fillRect/>
          </a:stretch>
        </p:blipFill>
        <p:spPr>
          <a:xfrm>
            <a:off x="416788" y="1894547"/>
            <a:ext cx="4281217" cy="2500690"/>
          </a:xfrm>
          <a:prstGeom prst="rect">
            <a:avLst/>
          </a:prstGeom>
        </p:spPr>
      </p:pic>
      <p:graphicFrame>
        <p:nvGraphicFramePr>
          <p:cNvPr id="7" name="object 7" descr=""/>
          <p:cNvGraphicFramePr>
            <a:graphicFrameLocks noGrp="1"/>
          </p:cNvGraphicFramePr>
          <p:nvPr/>
        </p:nvGraphicFramePr>
        <p:xfrm>
          <a:off x="4953044" y="1824259"/>
          <a:ext cx="4106545" cy="2626359"/>
        </p:xfrm>
        <a:graphic>
          <a:graphicData uri="http://schemas.openxmlformats.org/drawingml/2006/table">
            <a:tbl>
              <a:tblPr firstRow="1" bandRow="1">
                <a:tableStyleId>{2D5ABB26-0587-4C30-8999-92F81FD0307C}</a:tableStyleId>
              </a:tblPr>
              <a:tblGrid>
                <a:gridCol w="574040"/>
                <a:gridCol w="574040"/>
                <a:gridCol w="574040"/>
                <a:gridCol w="574039"/>
                <a:gridCol w="574039"/>
                <a:gridCol w="574039"/>
                <a:gridCol w="574039"/>
              </a:tblGrid>
              <a:tr h="302260">
                <a:tc>
                  <a:txBody>
                    <a:bodyPr/>
                    <a:lstStyle/>
                    <a:p>
                      <a:pPr>
                        <a:lnSpc>
                          <a:spcPct val="100000"/>
                        </a:lnSpc>
                        <a:spcBef>
                          <a:spcPts val="220"/>
                        </a:spcBef>
                      </a:pPr>
                      <a:endParaRPr sz="900">
                        <a:latin typeface="Times New Roman"/>
                        <a:cs typeface="Times New Roman"/>
                      </a:endParaRPr>
                    </a:p>
                    <a:p>
                      <a:pPr marL="57785">
                        <a:lnSpc>
                          <a:spcPts val="1019"/>
                        </a:lnSpc>
                        <a:spcBef>
                          <a:spcPts val="5"/>
                        </a:spcBef>
                      </a:pPr>
                      <a:r>
                        <a:rPr dirty="0" sz="900" spc="-15">
                          <a:latin typeface="Microsoft YaHei"/>
                          <a:cs typeface="Microsoft YaHei"/>
                        </a:rPr>
                        <a:t>位置区域</a:t>
                      </a:r>
                      <a:endParaRPr sz="900">
                        <a:latin typeface="Microsoft YaHei"/>
                        <a:cs typeface="Microsoft YaHei"/>
                      </a:endParaRPr>
                    </a:p>
                  </a:txBody>
                  <a:tcPr marL="0" marR="0" marB="0" marT="279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220"/>
                        </a:spcBef>
                      </a:pPr>
                      <a:endParaRPr sz="900">
                        <a:latin typeface="Times New Roman"/>
                        <a:cs typeface="Times New Roman"/>
                      </a:endParaRPr>
                    </a:p>
                    <a:p>
                      <a:pPr algn="ctr">
                        <a:lnSpc>
                          <a:spcPts val="1019"/>
                        </a:lnSpc>
                        <a:spcBef>
                          <a:spcPts val="5"/>
                        </a:spcBef>
                      </a:pPr>
                      <a:r>
                        <a:rPr dirty="0" sz="900" spc="-25">
                          <a:latin typeface="Microsoft YaHei"/>
                          <a:cs typeface="Microsoft YaHei"/>
                        </a:rPr>
                        <a:t>RAT</a:t>
                      </a:r>
                      <a:endParaRPr sz="900">
                        <a:latin typeface="Microsoft YaHei"/>
                        <a:cs typeface="Microsoft YaHei"/>
                      </a:endParaRPr>
                    </a:p>
                  </a:txBody>
                  <a:tcPr marL="0" marR="0" marB="0" marT="279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172085" marR="50800" indent="-114300">
                        <a:lnSpc>
                          <a:spcPct val="100000"/>
                        </a:lnSpc>
                        <a:spcBef>
                          <a:spcPts val="120"/>
                        </a:spcBef>
                      </a:pPr>
                      <a:r>
                        <a:rPr dirty="0" sz="900" spc="-15">
                          <a:latin typeface="Microsoft YaHei"/>
                          <a:cs typeface="Microsoft YaHei"/>
                        </a:rPr>
                        <a:t>到基站的</a:t>
                      </a:r>
                      <a:r>
                        <a:rPr dirty="0" sz="900" spc="-25">
                          <a:latin typeface="Microsoft YaHei"/>
                          <a:cs typeface="Microsoft YaHei"/>
                        </a:rPr>
                        <a:t>距离</a:t>
                      </a:r>
                      <a:endParaRPr sz="900">
                        <a:latin typeface="Microsoft YaHei"/>
                        <a:cs typeface="Microsoft YaHei"/>
                      </a:endParaRPr>
                    </a:p>
                  </a:txBody>
                  <a:tcPr marL="0" marR="0" marB="0" marT="152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220"/>
                        </a:spcBef>
                      </a:pPr>
                      <a:endParaRPr sz="900">
                        <a:latin typeface="Times New Roman"/>
                        <a:cs typeface="Times New Roman"/>
                      </a:endParaRPr>
                    </a:p>
                    <a:p>
                      <a:pPr algn="ctr">
                        <a:lnSpc>
                          <a:spcPts val="1019"/>
                        </a:lnSpc>
                        <a:spcBef>
                          <a:spcPts val="5"/>
                        </a:spcBef>
                      </a:pPr>
                      <a:r>
                        <a:rPr dirty="0" sz="900" spc="-15">
                          <a:latin typeface="Microsoft YaHei"/>
                          <a:cs typeface="Microsoft YaHei"/>
                        </a:rPr>
                        <a:t>时隙配比</a:t>
                      </a:r>
                      <a:endParaRPr sz="900">
                        <a:latin typeface="Microsoft YaHei"/>
                        <a:cs typeface="Microsoft YaHei"/>
                      </a:endParaRPr>
                    </a:p>
                  </a:txBody>
                  <a:tcPr marL="0" marR="0" marB="0" marT="279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220"/>
                        </a:spcBef>
                      </a:pPr>
                      <a:endParaRPr sz="900">
                        <a:latin typeface="Times New Roman"/>
                        <a:cs typeface="Times New Roman"/>
                      </a:endParaRPr>
                    </a:p>
                    <a:p>
                      <a:pPr algn="ctr">
                        <a:lnSpc>
                          <a:spcPts val="1019"/>
                        </a:lnSpc>
                        <a:spcBef>
                          <a:spcPts val="5"/>
                        </a:spcBef>
                      </a:pPr>
                      <a:r>
                        <a:rPr dirty="0" sz="900" spc="-20">
                          <a:latin typeface="Microsoft YaHei"/>
                          <a:cs typeface="Microsoft YaHei"/>
                        </a:rPr>
                        <a:t>吞吐量</a:t>
                      </a:r>
                      <a:endParaRPr sz="900">
                        <a:latin typeface="Microsoft YaHei"/>
                        <a:cs typeface="Microsoft YaHei"/>
                      </a:endParaRPr>
                    </a:p>
                  </a:txBody>
                  <a:tcPr marL="0" marR="0" marB="0" marT="279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220"/>
                        </a:spcBef>
                      </a:pPr>
                      <a:endParaRPr sz="900">
                        <a:latin typeface="Times New Roman"/>
                        <a:cs typeface="Times New Roman"/>
                      </a:endParaRPr>
                    </a:p>
                    <a:p>
                      <a:pPr algn="ctr">
                        <a:lnSpc>
                          <a:spcPts val="1019"/>
                        </a:lnSpc>
                        <a:spcBef>
                          <a:spcPts val="5"/>
                        </a:spcBef>
                      </a:pPr>
                      <a:r>
                        <a:rPr dirty="0" sz="900" spc="-20">
                          <a:latin typeface="Microsoft YaHei"/>
                          <a:cs typeface="Microsoft YaHei"/>
                        </a:rPr>
                        <a:t>RSRP</a:t>
                      </a:r>
                      <a:endParaRPr sz="900">
                        <a:latin typeface="Microsoft YaHei"/>
                        <a:cs typeface="Microsoft YaHei"/>
                      </a:endParaRPr>
                    </a:p>
                  </a:txBody>
                  <a:tcPr marL="0" marR="0" marB="0" marT="279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220"/>
                        </a:spcBef>
                      </a:pPr>
                      <a:endParaRPr sz="900">
                        <a:latin typeface="Times New Roman"/>
                        <a:cs typeface="Times New Roman"/>
                      </a:endParaRPr>
                    </a:p>
                    <a:p>
                      <a:pPr algn="ctr">
                        <a:lnSpc>
                          <a:spcPts val="1019"/>
                        </a:lnSpc>
                        <a:spcBef>
                          <a:spcPts val="5"/>
                        </a:spcBef>
                      </a:pPr>
                      <a:r>
                        <a:rPr dirty="0" sz="900" spc="-25">
                          <a:latin typeface="Microsoft YaHei"/>
                          <a:cs typeface="Microsoft YaHei"/>
                        </a:rPr>
                        <a:t>MCS</a:t>
                      </a:r>
                      <a:endParaRPr sz="900">
                        <a:latin typeface="Microsoft YaHei"/>
                        <a:cs typeface="Microsoft YaHei"/>
                      </a:endParaRPr>
                    </a:p>
                  </a:txBody>
                  <a:tcPr marL="0" marR="0" marB="0" marT="279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rowSpan="3">
                  <a:txBody>
                    <a:bodyPr/>
                    <a:lstStyle/>
                    <a:p>
                      <a:pPr>
                        <a:lnSpc>
                          <a:spcPct val="100000"/>
                        </a:lnSpc>
                        <a:spcBef>
                          <a:spcPts val="280"/>
                        </a:spcBef>
                      </a:pPr>
                      <a:endParaRPr sz="900">
                        <a:latin typeface="Times New Roman"/>
                        <a:cs typeface="Times New Roman"/>
                      </a:endParaRPr>
                    </a:p>
                    <a:p>
                      <a:pPr marL="114300">
                        <a:lnSpc>
                          <a:spcPct val="100000"/>
                        </a:lnSpc>
                        <a:spcBef>
                          <a:spcPts val="5"/>
                        </a:spcBef>
                      </a:pPr>
                      <a:r>
                        <a:rPr dirty="0" sz="900" spc="-20">
                          <a:latin typeface="Microsoft YaHei"/>
                          <a:cs typeface="Microsoft YaHei"/>
                        </a:rPr>
                        <a:t>一号门</a:t>
                      </a:r>
                      <a:endParaRPr sz="900">
                        <a:latin typeface="Microsoft YaHei"/>
                        <a:cs typeface="Microsoft YaHei"/>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0">
                          <a:latin typeface="Microsoft YaHei"/>
                          <a:cs typeface="Microsoft YaHei"/>
                        </a:rPr>
                        <a:t>1.8G</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3">
                  <a:txBody>
                    <a:bodyPr/>
                    <a:lstStyle/>
                    <a:p>
                      <a:pPr>
                        <a:lnSpc>
                          <a:spcPct val="100000"/>
                        </a:lnSpc>
                        <a:spcBef>
                          <a:spcPts val="280"/>
                        </a:spcBef>
                      </a:pPr>
                      <a:endParaRPr sz="900">
                        <a:latin typeface="Times New Roman"/>
                        <a:cs typeface="Times New Roman"/>
                      </a:endParaRPr>
                    </a:p>
                    <a:p>
                      <a:pPr marL="132080">
                        <a:lnSpc>
                          <a:spcPct val="100000"/>
                        </a:lnSpc>
                        <a:spcBef>
                          <a:spcPts val="5"/>
                        </a:spcBef>
                      </a:pPr>
                      <a:r>
                        <a:rPr dirty="0" sz="900" spc="-20">
                          <a:latin typeface="Microsoft YaHei"/>
                          <a:cs typeface="Microsoft YaHei"/>
                        </a:rPr>
                        <a:t>265m</a:t>
                      </a:r>
                      <a:endParaRPr sz="900">
                        <a:latin typeface="Microsoft YaHei"/>
                        <a:cs typeface="Microsoft YaHei"/>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50">
                          <a:latin typeface="Microsoft YaHei"/>
                          <a:cs typeface="Microsoft YaHei"/>
                        </a:rPr>
                        <a:t>-</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10">
                          <a:latin typeface="Microsoft YaHei"/>
                          <a:cs typeface="Microsoft YaHei"/>
                        </a:rPr>
                        <a:t>31.15</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a:latin typeface="Microsoft YaHei"/>
                          <a:cs typeface="Microsoft YaHei"/>
                        </a:rPr>
                        <a:t>-</a:t>
                      </a:r>
                      <a:r>
                        <a:rPr dirty="0" sz="900" spc="-25">
                          <a:latin typeface="Microsoft YaHei"/>
                          <a:cs typeface="Microsoft YaHei"/>
                        </a:rPr>
                        <a:t>85</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23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2">
                  <a:txBody>
                    <a:bodyPr/>
                    <a:lstStyle/>
                    <a:p>
                      <a:pPr algn="ctr">
                        <a:lnSpc>
                          <a:spcPct val="100000"/>
                        </a:lnSpc>
                        <a:spcBef>
                          <a:spcPts val="705"/>
                        </a:spcBef>
                      </a:pPr>
                      <a:r>
                        <a:rPr dirty="0" sz="900" spc="-25">
                          <a:latin typeface="Microsoft YaHei"/>
                          <a:cs typeface="Microsoft YaHei"/>
                        </a:rPr>
                        <a:t>3.5</a:t>
                      </a:r>
                      <a:endParaRPr sz="900">
                        <a:latin typeface="Microsoft YaHei"/>
                        <a:cs typeface="Microsoft YaHei"/>
                      </a:endParaRPr>
                    </a:p>
                  </a:txBody>
                  <a:tcPr marL="0" marR="0" marB="0" marT="895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spc="-25">
                          <a:latin typeface="Microsoft YaHei"/>
                          <a:cs typeface="Microsoft YaHei"/>
                        </a:rPr>
                        <a:t>1:1</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spc="-25">
                          <a:latin typeface="Microsoft YaHei"/>
                          <a:cs typeface="Microsoft YaHei"/>
                        </a:rPr>
                        <a:t>275</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a:latin typeface="Microsoft YaHei"/>
                          <a:cs typeface="Microsoft YaHei"/>
                        </a:rPr>
                        <a:t>-</a:t>
                      </a:r>
                      <a:r>
                        <a:rPr dirty="0" sz="900" spc="-20">
                          <a:latin typeface="Microsoft YaHei"/>
                          <a:cs typeface="Microsoft YaHei"/>
                        </a:rPr>
                        <a:t>56.2</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spc="-25">
                          <a:latin typeface="Microsoft YaHei"/>
                          <a:cs typeface="Microsoft YaHei"/>
                        </a:rPr>
                        <a:t>28</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895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spc="-25">
                          <a:latin typeface="Microsoft YaHei"/>
                          <a:cs typeface="Microsoft YaHei"/>
                        </a:rPr>
                        <a:t>1:3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spc="-10">
                          <a:latin typeface="Microsoft YaHei"/>
                          <a:cs typeface="Microsoft YaHei"/>
                        </a:rPr>
                        <a:t>200.3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a:latin typeface="Microsoft YaHei"/>
                          <a:cs typeface="Microsoft YaHei"/>
                        </a:rPr>
                        <a:t>-</a:t>
                      </a:r>
                      <a:r>
                        <a:rPr dirty="0" sz="900" spc="-10">
                          <a:latin typeface="Microsoft YaHei"/>
                          <a:cs typeface="Microsoft YaHei"/>
                        </a:rPr>
                        <a:t>56.53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spc="-25">
                          <a:latin typeface="Microsoft YaHei"/>
                          <a:cs typeface="Microsoft YaHei"/>
                        </a:rPr>
                        <a:t>28</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rowSpan="3">
                  <a:txBody>
                    <a:bodyPr/>
                    <a:lstStyle/>
                    <a:p>
                      <a:pPr>
                        <a:lnSpc>
                          <a:spcPct val="100000"/>
                        </a:lnSpc>
                        <a:spcBef>
                          <a:spcPts val="280"/>
                        </a:spcBef>
                      </a:pPr>
                      <a:endParaRPr sz="900">
                        <a:latin typeface="Times New Roman"/>
                        <a:cs typeface="Times New Roman"/>
                      </a:endParaRPr>
                    </a:p>
                    <a:p>
                      <a:pPr marL="114300">
                        <a:lnSpc>
                          <a:spcPct val="100000"/>
                        </a:lnSpc>
                        <a:spcBef>
                          <a:spcPts val="5"/>
                        </a:spcBef>
                      </a:pPr>
                      <a:r>
                        <a:rPr dirty="0" sz="900" spc="-20">
                          <a:latin typeface="Microsoft YaHei"/>
                          <a:cs typeface="Microsoft YaHei"/>
                        </a:rPr>
                        <a:t>三号门</a:t>
                      </a:r>
                      <a:endParaRPr sz="900">
                        <a:latin typeface="Microsoft YaHei"/>
                        <a:cs typeface="Microsoft YaHei"/>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0">
                          <a:latin typeface="Microsoft YaHei"/>
                          <a:cs typeface="Microsoft YaHei"/>
                        </a:rPr>
                        <a:t>1.8G</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3">
                  <a:txBody>
                    <a:bodyPr/>
                    <a:lstStyle/>
                    <a:p>
                      <a:pPr>
                        <a:lnSpc>
                          <a:spcPct val="100000"/>
                        </a:lnSpc>
                        <a:spcBef>
                          <a:spcPts val="280"/>
                        </a:spcBef>
                      </a:pPr>
                      <a:endParaRPr sz="900">
                        <a:latin typeface="Times New Roman"/>
                        <a:cs typeface="Times New Roman"/>
                      </a:endParaRPr>
                    </a:p>
                    <a:p>
                      <a:pPr marL="185420">
                        <a:lnSpc>
                          <a:spcPct val="100000"/>
                        </a:lnSpc>
                        <a:spcBef>
                          <a:spcPts val="5"/>
                        </a:spcBef>
                      </a:pPr>
                      <a:r>
                        <a:rPr dirty="0" sz="900" spc="-25">
                          <a:latin typeface="Microsoft YaHei"/>
                          <a:cs typeface="Microsoft YaHei"/>
                        </a:rPr>
                        <a:t>302</a:t>
                      </a:r>
                      <a:endParaRPr sz="900">
                        <a:latin typeface="Microsoft YaHei"/>
                        <a:cs typeface="Microsoft YaHei"/>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50">
                          <a:latin typeface="Microsoft YaHei"/>
                          <a:cs typeface="Microsoft YaHei"/>
                        </a:rPr>
                        <a:t>-</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0">
                          <a:latin typeface="Microsoft YaHei"/>
                          <a:cs typeface="Microsoft YaHei"/>
                        </a:rPr>
                        <a:t>26.7</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a:latin typeface="Microsoft YaHei"/>
                          <a:cs typeface="Microsoft YaHei"/>
                        </a:rPr>
                        <a:t>-</a:t>
                      </a:r>
                      <a:r>
                        <a:rPr dirty="0" sz="900" spc="-20">
                          <a:latin typeface="Microsoft YaHei"/>
                          <a:cs typeface="Microsoft YaHei"/>
                        </a:rPr>
                        <a:t>95.4</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0">
                          <a:latin typeface="Microsoft YaHei"/>
                          <a:cs typeface="Microsoft YaHei"/>
                        </a:rPr>
                        <a:t>21.8</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2">
                  <a:txBody>
                    <a:bodyPr/>
                    <a:lstStyle/>
                    <a:p>
                      <a:pPr algn="ctr">
                        <a:lnSpc>
                          <a:spcPct val="100000"/>
                        </a:lnSpc>
                        <a:spcBef>
                          <a:spcPts val="705"/>
                        </a:spcBef>
                      </a:pPr>
                      <a:r>
                        <a:rPr dirty="0" sz="900" spc="-25">
                          <a:latin typeface="Microsoft YaHei"/>
                          <a:cs typeface="Microsoft YaHei"/>
                        </a:rPr>
                        <a:t>3.5</a:t>
                      </a:r>
                      <a:endParaRPr sz="900">
                        <a:latin typeface="Microsoft YaHei"/>
                        <a:cs typeface="Microsoft YaHei"/>
                      </a:endParaRPr>
                    </a:p>
                  </a:txBody>
                  <a:tcPr marL="0" marR="0" marB="0" marT="895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1:1</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234</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a:latin typeface="Microsoft YaHei"/>
                          <a:cs typeface="Microsoft YaHei"/>
                        </a:rPr>
                        <a:t>-</a:t>
                      </a:r>
                      <a:r>
                        <a:rPr dirty="0" sz="900" spc="-25">
                          <a:latin typeface="Microsoft YaHei"/>
                          <a:cs typeface="Microsoft YaHei"/>
                        </a:rPr>
                        <a:t>71</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10">
                          <a:latin typeface="Microsoft YaHei"/>
                          <a:cs typeface="Microsoft YaHei"/>
                        </a:rPr>
                        <a:t>27.64</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895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spc="-25">
                          <a:latin typeface="Microsoft YaHei"/>
                          <a:cs typeface="Microsoft YaHei"/>
                        </a:rPr>
                        <a:t>1:3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spc="-10">
                          <a:latin typeface="Microsoft YaHei"/>
                          <a:cs typeface="Microsoft YaHei"/>
                        </a:rPr>
                        <a:t>188.4</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a:latin typeface="Microsoft YaHei"/>
                          <a:cs typeface="Microsoft YaHei"/>
                        </a:rPr>
                        <a:t>-</a:t>
                      </a:r>
                      <a:r>
                        <a:rPr dirty="0" sz="900" spc="-10">
                          <a:latin typeface="Microsoft YaHei"/>
                          <a:cs typeface="Microsoft YaHei"/>
                        </a:rPr>
                        <a:t>69.42</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spc="-10">
                          <a:latin typeface="Microsoft YaHei"/>
                          <a:cs typeface="Microsoft YaHei"/>
                        </a:rPr>
                        <a:t>27.69</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rowSpan="3">
                  <a:txBody>
                    <a:bodyPr/>
                    <a:lstStyle/>
                    <a:p>
                      <a:pPr>
                        <a:lnSpc>
                          <a:spcPct val="100000"/>
                        </a:lnSpc>
                        <a:spcBef>
                          <a:spcPts val="280"/>
                        </a:spcBef>
                      </a:pPr>
                      <a:endParaRPr sz="900">
                        <a:latin typeface="Times New Roman"/>
                        <a:cs typeface="Times New Roman"/>
                      </a:endParaRPr>
                    </a:p>
                    <a:p>
                      <a:pPr marL="57150">
                        <a:lnSpc>
                          <a:spcPct val="100000"/>
                        </a:lnSpc>
                        <a:spcBef>
                          <a:spcPts val="5"/>
                        </a:spcBef>
                      </a:pPr>
                      <a:r>
                        <a:rPr dirty="0" sz="900" spc="-15">
                          <a:latin typeface="Microsoft YaHei"/>
                          <a:cs typeface="Microsoft YaHei"/>
                        </a:rPr>
                        <a:t>浙商银行</a:t>
                      </a:r>
                      <a:endParaRPr sz="900">
                        <a:latin typeface="Microsoft YaHei"/>
                        <a:cs typeface="Microsoft YaHei"/>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0">
                          <a:latin typeface="Microsoft YaHei"/>
                          <a:cs typeface="Microsoft YaHei"/>
                        </a:rPr>
                        <a:t>1.8G</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3">
                  <a:txBody>
                    <a:bodyPr/>
                    <a:lstStyle/>
                    <a:p>
                      <a:pPr>
                        <a:lnSpc>
                          <a:spcPct val="100000"/>
                        </a:lnSpc>
                        <a:spcBef>
                          <a:spcPts val="280"/>
                        </a:spcBef>
                      </a:pPr>
                      <a:endParaRPr sz="900">
                        <a:latin typeface="Times New Roman"/>
                        <a:cs typeface="Times New Roman"/>
                      </a:endParaRPr>
                    </a:p>
                    <a:p>
                      <a:pPr marL="132080">
                        <a:lnSpc>
                          <a:spcPct val="100000"/>
                        </a:lnSpc>
                        <a:spcBef>
                          <a:spcPts val="5"/>
                        </a:spcBef>
                      </a:pPr>
                      <a:r>
                        <a:rPr dirty="0" sz="900" spc="-20">
                          <a:latin typeface="Microsoft YaHei"/>
                          <a:cs typeface="Microsoft YaHei"/>
                        </a:rPr>
                        <a:t>365m</a:t>
                      </a:r>
                      <a:endParaRPr sz="900">
                        <a:latin typeface="Microsoft YaHei"/>
                        <a:cs typeface="Microsoft YaHei"/>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50">
                          <a:latin typeface="Microsoft YaHei"/>
                          <a:cs typeface="Microsoft YaHei"/>
                        </a:rPr>
                        <a:t>-</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10">
                          <a:latin typeface="Microsoft YaHei"/>
                          <a:cs typeface="Microsoft YaHei"/>
                        </a:rPr>
                        <a:t>31.15</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a:latin typeface="Microsoft YaHei"/>
                          <a:cs typeface="Microsoft YaHei"/>
                        </a:rPr>
                        <a:t>-</a:t>
                      </a:r>
                      <a:r>
                        <a:rPr dirty="0" sz="900" spc="-25">
                          <a:latin typeface="Microsoft YaHei"/>
                          <a:cs typeface="Microsoft YaHei"/>
                        </a:rPr>
                        <a:t>85</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23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2">
                  <a:txBody>
                    <a:bodyPr/>
                    <a:lstStyle/>
                    <a:p>
                      <a:pPr algn="ctr">
                        <a:lnSpc>
                          <a:spcPct val="100000"/>
                        </a:lnSpc>
                        <a:spcBef>
                          <a:spcPts val="705"/>
                        </a:spcBef>
                      </a:pPr>
                      <a:r>
                        <a:rPr dirty="0" sz="900" spc="-25">
                          <a:latin typeface="Microsoft YaHei"/>
                          <a:cs typeface="Microsoft YaHei"/>
                        </a:rPr>
                        <a:t>3.5</a:t>
                      </a:r>
                      <a:endParaRPr sz="900">
                        <a:latin typeface="Microsoft YaHei"/>
                        <a:cs typeface="Microsoft YaHei"/>
                      </a:endParaRPr>
                    </a:p>
                  </a:txBody>
                  <a:tcPr marL="0" marR="0" marB="0" marT="895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1:1</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10">
                          <a:latin typeface="Microsoft YaHei"/>
                          <a:cs typeface="Microsoft YaHei"/>
                        </a:rPr>
                        <a:t>228.7</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a:latin typeface="Microsoft YaHei"/>
                          <a:cs typeface="Microsoft YaHei"/>
                        </a:rPr>
                        <a:t>-</a:t>
                      </a:r>
                      <a:r>
                        <a:rPr dirty="0" sz="900" spc="-10">
                          <a:latin typeface="Microsoft YaHei"/>
                          <a:cs typeface="Microsoft YaHei"/>
                        </a:rPr>
                        <a:t>70.58</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10">
                          <a:latin typeface="Microsoft YaHei"/>
                          <a:cs typeface="Microsoft YaHei"/>
                        </a:rPr>
                        <a:t>27.45</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895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spc="-25">
                          <a:latin typeface="Microsoft YaHei"/>
                          <a:cs typeface="Microsoft YaHei"/>
                        </a:rPr>
                        <a:t>1:3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spc="-10">
                          <a:latin typeface="Microsoft YaHei"/>
                          <a:cs typeface="Microsoft YaHei"/>
                        </a:rPr>
                        <a:t>174.35</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a:latin typeface="Microsoft YaHei"/>
                          <a:cs typeface="Microsoft YaHei"/>
                        </a:rPr>
                        <a:t>-</a:t>
                      </a:r>
                      <a:r>
                        <a:rPr dirty="0" sz="900" spc="-20">
                          <a:latin typeface="Microsoft YaHei"/>
                          <a:cs typeface="Microsoft YaHei"/>
                        </a:rPr>
                        <a:t>69.2</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19"/>
                        </a:lnSpc>
                        <a:spcBef>
                          <a:spcPts val="95"/>
                        </a:spcBef>
                      </a:pPr>
                      <a:r>
                        <a:rPr dirty="0" sz="900" spc="-10">
                          <a:latin typeface="Microsoft YaHei"/>
                          <a:cs typeface="Microsoft YaHei"/>
                        </a:rPr>
                        <a:t>27.08</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rowSpan="3">
                  <a:txBody>
                    <a:bodyPr/>
                    <a:lstStyle/>
                    <a:p>
                      <a:pPr>
                        <a:lnSpc>
                          <a:spcPct val="100000"/>
                        </a:lnSpc>
                        <a:spcBef>
                          <a:spcPts val="280"/>
                        </a:spcBef>
                      </a:pPr>
                      <a:endParaRPr sz="900">
                        <a:latin typeface="Times New Roman"/>
                        <a:cs typeface="Times New Roman"/>
                      </a:endParaRPr>
                    </a:p>
                    <a:p>
                      <a:pPr marL="137795">
                        <a:lnSpc>
                          <a:spcPct val="100000"/>
                        </a:lnSpc>
                        <a:spcBef>
                          <a:spcPts val="5"/>
                        </a:spcBef>
                      </a:pPr>
                      <a:r>
                        <a:rPr dirty="0" sz="900">
                          <a:latin typeface="Microsoft YaHei"/>
                          <a:cs typeface="Microsoft YaHei"/>
                        </a:rPr>
                        <a:t>近点</a:t>
                      </a:r>
                      <a:r>
                        <a:rPr dirty="0" sz="900" spc="-50">
                          <a:latin typeface="Microsoft YaHei"/>
                          <a:cs typeface="Microsoft YaHei"/>
                        </a:rPr>
                        <a:t>2</a:t>
                      </a:r>
                      <a:endParaRPr sz="900">
                        <a:latin typeface="Microsoft YaHei"/>
                        <a:cs typeface="Microsoft YaHei"/>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0">
                          <a:latin typeface="Microsoft YaHei"/>
                          <a:cs typeface="Microsoft YaHei"/>
                        </a:rPr>
                        <a:t>1.8G</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3">
                  <a:txBody>
                    <a:bodyPr/>
                    <a:lstStyle/>
                    <a:p>
                      <a:pPr>
                        <a:lnSpc>
                          <a:spcPct val="100000"/>
                        </a:lnSpc>
                        <a:spcBef>
                          <a:spcPts val="280"/>
                        </a:spcBef>
                      </a:pPr>
                      <a:endParaRPr sz="900">
                        <a:latin typeface="Times New Roman"/>
                        <a:cs typeface="Times New Roman"/>
                      </a:endParaRPr>
                    </a:p>
                    <a:p>
                      <a:pPr marL="165735">
                        <a:lnSpc>
                          <a:spcPct val="100000"/>
                        </a:lnSpc>
                        <a:spcBef>
                          <a:spcPts val="5"/>
                        </a:spcBef>
                      </a:pPr>
                      <a:r>
                        <a:rPr dirty="0" sz="900" spc="-25">
                          <a:latin typeface="Microsoft YaHei"/>
                          <a:cs typeface="Microsoft YaHei"/>
                        </a:rPr>
                        <a:t>62m</a:t>
                      </a:r>
                      <a:endParaRPr sz="900">
                        <a:latin typeface="Microsoft YaHei"/>
                        <a:cs typeface="Microsoft YaHei"/>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50">
                          <a:latin typeface="Microsoft YaHei"/>
                          <a:cs typeface="Microsoft YaHei"/>
                        </a:rPr>
                        <a:t>-</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0">
                          <a:latin typeface="Microsoft YaHei"/>
                          <a:cs typeface="Microsoft YaHei"/>
                        </a:rPr>
                        <a:t>30.9</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a:latin typeface="Microsoft YaHei"/>
                          <a:cs typeface="Microsoft YaHei"/>
                        </a:rPr>
                        <a:t>-</a:t>
                      </a:r>
                      <a:r>
                        <a:rPr dirty="0" sz="900" spc="-20">
                          <a:latin typeface="Microsoft YaHei"/>
                          <a:cs typeface="Microsoft YaHei"/>
                        </a:rPr>
                        <a:t>68.3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23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2">
                  <a:txBody>
                    <a:bodyPr/>
                    <a:lstStyle/>
                    <a:p>
                      <a:pPr algn="ctr">
                        <a:lnSpc>
                          <a:spcPct val="100000"/>
                        </a:lnSpc>
                        <a:spcBef>
                          <a:spcPts val="705"/>
                        </a:spcBef>
                      </a:pPr>
                      <a:r>
                        <a:rPr dirty="0" sz="900" spc="-25">
                          <a:latin typeface="Microsoft YaHei"/>
                          <a:cs typeface="Microsoft YaHei"/>
                        </a:rPr>
                        <a:t>3.5</a:t>
                      </a:r>
                      <a:endParaRPr sz="900">
                        <a:latin typeface="Microsoft YaHei"/>
                        <a:cs typeface="Microsoft YaHei"/>
                      </a:endParaRPr>
                    </a:p>
                  </a:txBody>
                  <a:tcPr marL="0" marR="0" marB="0" marT="895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1:1</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275</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a:latin typeface="Microsoft YaHei"/>
                          <a:cs typeface="Microsoft YaHei"/>
                        </a:rPr>
                        <a:t>-</a:t>
                      </a:r>
                      <a:r>
                        <a:rPr dirty="0" sz="900" spc="-10">
                          <a:latin typeface="Microsoft YaHei"/>
                          <a:cs typeface="Microsoft YaHei"/>
                        </a:rPr>
                        <a:t>50.74</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28</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895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1:3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10">
                          <a:latin typeface="Microsoft YaHei"/>
                          <a:cs typeface="Microsoft YaHei"/>
                        </a:rPr>
                        <a:t>200.3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a:latin typeface="Microsoft YaHei"/>
                          <a:cs typeface="Microsoft YaHei"/>
                        </a:rPr>
                        <a:t>-</a:t>
                      </a:r>
                      <a:r>
                        <a:rPr dirty="0" sz="900" spc="-20">
                          <a:latin typeface="Microsoft YaHei"/>
                          <a:cs typeface="Microsoft YaHei"/>
                        </a:rPr>
                        <a:t>50.2</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28</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rowSpan="3">
                  <a:txBody>
                    <a:bodyPr/>
                    <a:lstStyle/>
                    <a:p>
                      <a:pPr>
                        <a:lnSpc>
                          <a:spcPct val="100000"/>
                        </a:lnSpc>
                        <a:spcBef>
                          <a:spcPts val="280"/>
                        </a:spcBef>
                      </a:pPr>
                      <a:endParaRPr sz="900">
                        <a:latin typeface="Times New Roman"/>
                        <a:cs typeface="Times New Roman"/>
                      </a:endParaRPr>
                    </a:p>
                    <a:p>
                      <a:pPr marL="137795">
                        <a:lnSpc>
                          <a:spcPct val="100000"/>
                        </a:lnSpc>
                        <a:spcBef>
                          <a:spcPts val="5"/>
                        </a:spcBef>
                      </a:pPr>
                      <a:r>
                        <a:rPr dirty="0" sz="900">
                          <a:latin typeface="Microsoft YaHei"/>
                          <a:cs typeface="Microsoft YaHei"/>
                        </a:rPr>
                        <a:t>近点</a:t>
                      </a:r>
                      <a:r>
                        <a:rPr dirty="0" sz="900" spc="-50">
                          <a:latin typeface="Microsoft YaHei"/>
                          <a:cs typeface="Microsoft YaHei"/>
                        </a:rPr>
                        <a:t>3</a:t>
                      </a:r>
                      <a:endParaRPr sz="900">
                        <a:latin typeface="Microsoft YaHei"/>
                        <a:cs typeface="Microsoft YaHei"/>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0">
                          <a:latin typeface="Microsoft YaHei"/>
                          <a:cs typeface="Microsoft YaHei"/>
                        </a:rPr>
                        <a:t>1.8G</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3">
                  <a:txBody>
                    <a:bodyPr/>
                    <a:lstStyle/>
                    <a:p>
                      <a:pPr>
                        <a:lnSpc>
                          <a:spcPct val="100000"/>
                        </a:lnSpc>
                        <a:spcBef>
                          <a:spcPts val="280"/>
                        </a:spcBef>
                      </a:pPr>
                      <a:endParaRPr sz="900">
                        <a:latin typeface="Times New Roman"/>
                        <a:cs typeface="Times New Roman"/>
                      </a:endParaRPr>
                    </a:p>
                    <a:p>
                      <a:pPr marL="131445">
                        <a:lnSpc>
                          <a:spcPct val="100000"/>
                        </a:lnSpc>
                        <a:spcBef>
                          <a:spcPts val="5"/>
                        </a:spcBef>
                      </a:pPr>
                      <a:r>
                        <a:rPr dirty="0" sz="900" spc="-20">
                          <a:latin typeface="Microsoft YaHei"/>
                          <a:cs typeface="Microsoft YaHei"/>
                        </a:rPr>
                        <a:t>106m</a:t>
                      </a:r>
                      <a:endParaRPr sz="900">
                        <a:latin typeface="Microsoft YaHei"/>
                        <a:cs typeface="Microsoft YaHei"/>
                      </a:endParaR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50">
                          <a:latin typeface="Microsoft YaHei"/>
                          <a:cs typeface="Microsoft YaHei"/>
                        </a:rPr>
                        <a:t>-</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10">
                          <a:latin typeface="Microsoft YaHei"/>
                          <a:cs typeface="Microsoft YaHei"/>
                        </a:rPr>
                        <a:t>31.15</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a:latin typeface="Microsoft YaHei"/>
                          <a:cs typeface="Microsoft YaHei"/>
                        </a:rPr>
                        <a:t>-</a:t>
                      </a:r>
                      <a:r>
                        <a:rPr dirty="0" sz="900" spc="-20">
                          <a:latin typeface="Microsoft YaHei"/>
                          <a:cs typeface="Microsoft YaHei"/>
                        </a:rPr>
                        <a:t>62.7</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23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rowSpan="2">
                  <a:txBody>
                    <a:bodyPr/>
                    <a:lstStyle/>
                    <a:p>
                      <a:pPr algn="ctr">
                        <a:lnSpc>
                          <a:spcPct val="100000"/>
                        </a:lnSpc>
                        <a:spcBef>
                          <a:spcPts val="705"/>
                        </a:spcBef>
                      </a:pPr>
                      <a:r>
                        <a:rPr dirty="0" sz="900" spc="-25">
                          <a:latin typeface="Microsoft YaHei"/>
                          <a:cs typeface="Microsoft YaHei"/>
                        </a:rPr>
                        <a:t>3.5</a:t>
                      </a:r>
                      <a:endParaRPr sz="900">
                        <a:latin typeface="Microsoft YaHei"/>
                        <a:cs typeface="Microsoft YaHei"/>
                      </a:endParaRPr>
                    </a:p>
                  </a:txBody>
                  <a:tcPr marL="0" marR="0" marB="0" marT="895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1:1</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275</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a:latin typeface="Microsoft YaHei"/>
                          <a:cs typeface="Microsoft YaHei"/>
                        </a:rPr>
                        <a:t>-</a:t>
                      </a:r>
                      <a:r>
                        <a:rPr dirty="0" sz="900" spc="-20">
                          <a:latin typeface="Microsoft YaHei"/>
                          <a:cs typeface="Microsoft YaHei"/>
                        </a:rPr>
                        <a:t>52.4</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28</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54940">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895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vMerge="1">
                  <a:txBody>
                    <a:bodyPr/>
                    <a:lstStyle/>
                    <a:p>
                      <a:pPr/>
                    </a:p>
                  </a:txBody>
                  <a:tcPr marL="0" marR="0" marB="0" marT="355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1:3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10">
                          <a:latin typeface="Microsoft YaHei"/>
                          <a:cs typeface="Microsoft YaHei"/>
                        </a:rPr>
                        <a:t>200.3</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a:latin typeface="Microsoft YaHei"/>
                          <a:cs typeface="Microsoft YaHei"/>
                        </a:rPr>
                        <a:t>-</a:t>
                      </a:r>
                      <a:r>
                        <a:rPr dirty="0" sz="900" spc="-10">
                          <a:latin typeface="Microsoft YaHei"/>
                          <a:cs typeface="Microsoft YaHei"/>
                        </a:rPr>
                        <a:t>49.92</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ts val="1025"/>
                        </a:lnSpc>
                        <a:spcBef>
                          <a:spcPts val="95"/>
                        </a:spcBef>
                      </a:pPr>
                      <a:r>
                        <a:rPr dirty="0" sz="900" spc="-25">
                          <a:latin typeface="Microsoft YaHei"/>
                          <a:cs typeface="Microsoft YaHei"/>
                        </a:rPr>
                        <a:t>28</a:t>
                      </a:r>
                      <a:endParaRPr sz="900">
                        <a:latin typeface="Microsoft YaHei"/>
                        <a:cs typeface="Microsoft YaHei"/>
                      </a:endParaRPr>
                    </a:p>
                  </a:txBody>
                  <a:tcPr marL="0" marR="0" marB="0" marT="120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99313" y="119381"/>
            <a:ext cx="3686810" cy="513080"/>
          </a:xfrm>
          <a:prstGeom prst="rect"/>
        </p:spPr>
        <p:txBody>
          <a:bodyPr wrap="square" lIns="0" tIns="12065" rIns="0" bIns="0" rtlCol="0" vert="horz">
            <a:spAutoFit/>
          </a:bodyPr>
          <a:lstStyle/>
          <a:p>
            <a:pPr marL="12700">
              <a:lnSpc>
                <a:spcPct val="100000"/>
              </a:lnSpc>
              <a:spcBef>
                <a:spcPts val="95"/>
              </a:spcBef>
            </a:pPr>
            <a:r>
              <a:rPr dirty="0" spc="-45"/>
              <a:t>不同介质的穿透损耗</a:t>
            </a:r>
          </a:p>
        </p:txBody>
      </p:sp>
      <p:sp>
        <p:nvSpPr>
          <p:cNvPr id="3" name="object 3" descr=""/>
          <p:cNvSpPr txBox="1"/>
          <p:nvPr/>
        </p:nvSpPr>
        <p:spPr>
          <a:xfrm>
            <a:off x="977430" y="1076577"/>
            <a:ext cx="2595880" cy="219075"/>
          </a:xfrm>
          <a:prstGeom prst="rect">
            <a:avLst/>
          </a:prstGeom>
        </p:spPr>
        <p:txBody>
          <a:bodyPr wrap="square" lIns="0" tIns="15240" rIns="0" bIns="0" rtlCol="0" vert="horz">
            <a:spAutoFit/>
          </a:bodyPr>
          <a:lstStyle/>
          <a:p>
            <a:pPr marL="12700">
              <a:lnSpc>
                <a:spcPct val="100000"/>
              </a:lnSpc>
              <a:spcBef>
                <a:spcPts val="120"/>
              </a:spcBef>
            </a:pPr>
            <a:r>
              <a:rPr dirty="0" sz="1250" b="1">
                <a:latin typeface="Microsoft YaHei"/>
                <a:cs typeface="Microsoft YaHei"/>
              </a:rPr>
              <a:t>测试目的：</a:t>
            </a:r>
            <a:r>
              <a:rPr dirty="0" sz="1250" spc="-20">
                <a:latin typeface="Microsoft YaHei"/>
                <a:cs typeface="Microsoft YaHei"/>
              </a:rPr>
              <a:t>验证不同介质的穿透损耗</a:t>
            </a:r>
            <a:endParaRPr sz="1250">
              <a:latin typeface="Microsoft YaHei"/>
              <a:cs typeface="Microsoft YaHei"/>
            </a:endParaRPr>
          </a:p>
        </p:txBody>
      </p:sp>
      <p:grpSp>
        <p:nvGrpSpPr>
          <p:cNvPr id="4" name="object 4" descr=""/>
          <p:cNvGrpSpPr/>
          <p:nvPr/>
        </p:nvGrpSpPr>
        <p:grpSpPr>
          <a:xfrm>
            <a:off x="1170800" y="1601543"/>
            <a:ext cx="2665095" cy="1069340"/>
            <a:chOff x="1170800" y="1601543"/>
            <a:chExt cx="2665095" cy="1069340"/>
          </a:xfrm>
        </p:grpSpPr>
        <p:sp>
          <p:nvSpPr>
            <p:cNvPr id="5" name="object 5" descr=""/>
            <p:cNvSpPr/>
            <p:nvPr/>
          </p:nvSpPr>
          <p:spPr>
            <a:xfrm>
              <a:off x="1172388" y="1922323"/>
              <a:ext cx="2661920" cy="641350"/>
            </a:xfrm>
            <a:custGeom>
              <a:avLst/>
              <a:gdLst/>
              <a:ahLst/>
              <a:cxnLst/>
              <a:rect l="l" t="t" r="r" b="b"/>
              <a:pathLst>
                <a:path w="2661920" h="641350">
                  <a:moveTo>
                    <a:pt x="2485908" y="641160"/>
                  </a:moveTo>
                  <a:lnTo>
                    <a:pt x="2505534" y="641160"/>
                  </a:lnTo>
                </a:path>
                <a:path w="2661920" h="641350">
                  <a:moveTo>
                    <a:pt x="2578525" y="641160"/>
                  </a:moveTo>
                  <a:lnTo>
                    <a:pt x="2661369" y="641160"/>
                  </a:lnTo>
                </a:path>
                <a:path w="2661920" h="641350">
                  <a:moveTo>
                    <a:pt x="155807" y="641160"/>
                  </a:moveTo>
                  <a:lnTo>
                    <a:pt x="175457" y="641160"/>
                  </a:lnTo>
                </a:path>
                <a:path w="2661920" h="641350">
                  <a:moveTo>
                    <a:pt x="1155224" y="641160"/>
                  </a:moveTo>
                  <a:lnTo>
                    <a:pt x="1174864" y="641160"/>
                  </a:lnTo>
                </a:path>
                <a:path w="2661920" h="641350">
                  <a:moveTo>
                    <a:pt x="0" y="641160"/>
                  </a:moveTo>
                  <a:lnTo>
                    <a:pt x="82816" y="641160"/>
                  </a:lnTo>
                </a:path>
                <a:path w="2661920" h="641350">
                  <a:moveTo>
                    <a:pt x="1820566" y="641160"/>
                  </a:moveTo>
                  <a:lnTo>
                    <a:pt x="1840199" y="641160"/>
                  </a:lnTo>
                </a:path>
                <a:path w="2661920" h="641350">
                  <a:moveTo>
                    <a:pt x="1247854" y="641160"/>
                  </a:moveTo>
                  <a:lnTo>
                    <a:pt x="1410693" y="641160"/>
                  </a:lnTo>
                </a:path>
                <a:path w="2661920" h="641350">
                  <a:moveTo>
                    <a:pt x="1913189" y="641160"/>
                  </a:moveTo>
                  <a:lnTo>
                    <a:pt x="2076035" y="641160"/>
                  </a:lnTo>
                </a:path>
                <a:path w="2661920" h="641350">
                  <a:moveTo>
                    <a:pt x="489882" y="641160"/>
                  </a:moveTo>
                  <a:lnTo>
                    <a:pt x="745351" y="641160"/>
                  </a:lnTo>
                </a:path>
                <a:path w="2661920" h="641350">
                  <a:moveTo>
                    <a:pt x="2247261" y="641160"/>
                  </a:moveTo>
                  <a:lnTo>
                    <a:pt x="2410109" y="641160"/>
                  </a:lnTo>
                </a:path>
                <a:path w="2661920" h="641350">
                  <a:moveTo>
                    <a:pt x="1486491" y="641160"/>
                  </a:moveTo>
                  <a:lnTo>
                    <a:pt x="1506128" y="641160"/>
                  </a:lnTo>
                </a:path>
                <a:path w="2661920" h="641350">
                  <a:moveTo>
                    <a:pt x="251255" y="641160"/>
                  </a:moveTo>
                  <a:lnTo>
                    <a:pt x="414084" y="641160"/>
                  </a:lnTo>
                </a:path>
                <a:path w="2661920" h="641350">
                  <a:moveTo>
                    <a:pt x="1581925" y="641160"/>
                  </a:moveTo>
                  <a:lnTo>
                    <a:pt x="1744767" y="641160"/>
                  </a:lnTo>
                </a:path>
                <a:path w="2661920" h="641350">
                  <a:moveTo>
                    <a:pt x="2151833" y="641160"/>
                  </a:moveTo>
                  <a:lnTo>
                    <a:pt x="2171463" y="641160"/>
                  </a:lnTo>
                </a:path>
                <a:path w="2661920" h="641350">
                  <a:moveTo>
                    <a:pt x="916590" y="641160"/>
                  </a:moveTo>
                  <a:lnTo>
                    <a:pt x="1079425" y="641160"/>
                  </a:lnTo>
                </a:path>
                <a:path w="2661920" h="641350">
                  <a:moveTo>
                    <a:pt x="821149" y="641160"/>
                  </a:moveTo>
                  <a:lnTo>
                    <a:pt x="840792" y="641160"/>
                  </a:lnTo>
                </a:path>
                <a:path w="2661920" h="641350">
                  <a:moveTo>
                    <a:pt x="821149" y="532912"/>
                  </a:moveTo>
                  <a:lnTo>
                    <a:pt x="840792" y="532912"/>
                  </a:lnTo>
                </a:path>
                <a:path w="2661920" h="641350">
                  <a:moveTo>
                    <a:pt x="2151833" y="532912"/>
                  </a:moveTo>
                  <a:lnTo>
                    <a:pt x="2171463" y="532912"/>
                  </a:lnTo>
                </a:path>
                <a:path w="2661920" h="641350">
                  <a:moveTo>
                    <a:pt x="0" y="532912"/>
                  </a:moveTo>
                  <a:lnTo>
                    <a:pt x="82816" y="532912"/>
                  </a:lnTo>
                </a:path>
                <a:path w="2661920" h="641350">
                  <a:moveTo>
                    <a:pt x="1913189" y="532912"/>
                  </a:moveTo>
                  <a:lnTo>
                    <a:pt x="2076035" y="532912"/>
                  </a:lnTo>
                </a:path>
                <a:path w="2661920" h="641350">
                  <a:moveTo>
                    <a:pt x="2485908" y="532912"/>
                  </a:moveTo>
                  <a:lnTo>
                    <a:pt x="2505534" y="532912"/>
                  </a:lnTo>
                </a:path>
                <a:path w="2661920" h="641350">
                  <a:moveTo>
                    <a:pt x="251255" y="532912"/>
                  </a:moveTo>
                  <a:lnTo>
                    <a:pt x="745351" y="532912"/>
                  </a:lnTo>
                </a:path>
                <a:path w="2661920" h="641350">
                  <a:moveTo>
                    <a:pt x="155807" y="532912"/>
                  </a:moveTo>
                  <a:lnTo>
                    <a:pt x="175457" y="532912"/>
                  </a:lnTo>
                </a:path>
                <a:path w="2661920" h="641350">
                  <a:moveTo>
                    <a:pt x="916590" y="532912"/>
                  </a:moveTo>
                  <a:lnTo>
                    <a:pt x="1079425" y="532912"/>
                  </a:lnTo>
                </a:path>
                <a:path w="2661920" h="641350">
                  <a:moveTo>
                    <a:pt x="2578525" y="532912"/>
                  </a:moveTo>
                  <a:lnTo>
                    <a:pt x="2661369" y="532912"/>
                  </a:lnTo>
                </a:path>
                <a:path w="2661920" h="641350">
                  <a:moveTo>
                    <a:pt x="1486491" y="532912"/>
                  </a:moveTo>
                  <a:lnTo>
                    <a:pt x="1744767" y="532912"/>
                  </a:lnTo>
                </a:path>
                <a:path w="2661920" h="641350">
                  <a:moveTo>
                    <a:pt x="1155224" y="532912"/>
                  </a:moveTo>
                  <a:lnTo>
                    <a:pt x="1410693" y="532912"/>
                  </a:lnTo>
                </a:path>
                <a:path w="2661920" h="641350">
                  <a:moveTo>
                    <a:pt x="1820566" y="532912"/>
                  </a:moveTo>
                  <a:lnTo>
                    <a:pt x="1840199" y="532912"/>
                  </a:lnTo>
                </a:path>
                <a:path w="2661920" h="641350">
                  <a:moveTo>
                    <a:pt x="2247261" y="532912"/>
                  </a:moveTo>
                  <a:lnTo>
                    <a:pt x="2410109" y="532912"/>
                  </a:lnTo>
                </a:path>
                <a:path w="2661920" h="641350">
                  <a:moveTo>
                    <a:pt x="1820566" y="427440"/>
                  </a:moveTo>
                  <a:lnTo>
                    <a:pt x="1840199" y="427440"/>
                  </a:lnTo>
                </a:path>
                <a:path w="2661920" h="641350">
                  <a:moveTo>
                    <a:pt x="0" y="427440"/>
                  </a:moveTo>
                  <a:lnTo>
                    <a:pt x="82816" y="427440"/>
                  </a:lnTo>
                </a:path>
                <a:path w="2661920" h="641350">
                  <a:moveTo>
                    <a:pt x="155807" y="427440"/>
                  </a:moveTo>
                  <a:lnTo>
                    <a:pt x="175457" y="427440"/>
                  </a:lnTo>
                </a:path>
                <a:path w="2661920" h="641350">
                  <a:moveTo>
                    <a:pt x="821149" y="427440"/>
                  </a:moveTo>
                  <a:lnTo>
                    <a:pt x="840792" y="427440"/>
                  </a:lnTo>
                </a:path>
                <a:path w="2661920" h="641350">
                  <a:moveTo>
                    <a:pt x="2151833" y="427440"/>
                  </a:moveTo>
                  <a:lnTo>
                    <a:pt x="2171463" y="427440"/>
                  </a:lnTo>
                </a:path>
                <a:path w="2661920" h="641350">
                  <a:moveTo>
                    <a:pt x="2247261" y="427440"/>
                  </a:moveTo>
                  <a:lnTo>
                    <a:pt x="2661369" y="427440"/>
                  </a:lnTo>
                </a:path>
                <a:path w="2661920" h="641350">
                  <a:moveTo>
                    <a:pt x="916590" y="427440"/>
                  </a:moveTo>
                  <a:lnTo>
                    <a:pt x="1744767" y="427440"/>
                  </a:lnTo>
                </a:path>
                <a:path w="2661920" h="641350">
                  <a:moveTo>
                    <a:pt x="251255" y="427440"/>
                  </a:moveTo>
                  <a:lnTo>
                    <a:pt x="745351" y="427440"/>
                  </a:lnTo>
                </a:path>
                <a:path w="2661920" h="641350">
                  <a:moveTo>
                    <a:pt x="1913189" y="427440"/>
                  </a:moveTo>
                  <a:lnTo>
                    <a:pt x="2076035" y="427440"/>
                  </a:lnTo>
                </a:path>
                <a:path w="2661920" h="641350">
                  <a:moveTo>
                    <a:pt x="916590" y="319192"/>
                  </a:moveTo>
                  <a:lnTo>
                    <a:pt x="1744767" y="319192"/>
                  </a:lnTo>
                </a:path>
                <a:path w="2661920" h="641350">
                  <a:moveTo>
                    <a:pt x="1820566" y="319192"/>
                  </a:moveTo>
                  <a:lnTo>
                    <a:pt x="2076035" y="319192"/>
                  </a:lnTo>
                </a:path>
                <a:path w="2661920" h="641350">
                  <a:moveTo>
                    <a:pt x="0" y="319192"/>
                  </a:moveTo>
                  <a:lnTo>
                    <a:pt x="82816" y="319192"/>
                  </a:lnTo>
                </a:path>
                <a:path w="2661920" h="641350">
                  <a:moveTo>
                    <a:pt x="2151833" y="319192"/>
                  </a:moveTo>
                  <a:lnTo>
                    <a:pt x="2171463" y="319192"/>
                  </a:lnTo>
                </a:path>
                <a:path w="2661920" h="641350">
                  <a:moveTo>
                    <a:pt x="2247261" y="319192"/>
                  </a:moveTo>
                  <a:lnTo>
                    <a:pt x="2661369" y="319192"/>
                  </a:lnTo>
                </a:path>
                <a:path w="2661920" h="641350">
                  <a:moveTo>
                    <a:pt x="251255" y="319192"/>
                  </a:moveTo>
                  <a:lnTo>
                    <a:pt x="745351" y="319192"/>
                  </a:lnTo>
                </a:path>
                <a:path w="2661920" h="641350">
                  <a:moveTo>
                    <a:pt x="821149" y="319192"/>
                  </a:moveTo>
                  <a:lnTo>
                    <a:pt x="840792" y="319192"/>
                  </a:lnTo>
                </a:path>
                <a:path w="2661920" h="641350">
                  <a:moveTo>
                    <a:pt x="155807" y="319192"/>
                  </a:moveTo>
                  <a:lnTo>
                    <a:pt x="175457" y="319192"/>
                  </a:lnTo>
                </a:path>
                <a:path w="2661920" h="641350">
                  <a:moveTo>
                    <a:pt x="2247261" y="213720"/>
                  </a:moveTo>
                  <a:lnTo>
                    <a:pt x="2661369" y="213720"/>
                  </a:lnTo>
                </a:path>
                <a:path w="2661920" h="641350">
                  <a:moveTo>
                    <a:pt x="1820566" y="213720"/>
                  </a:moveTo>
                  <a:lnTo>
                    <a:pt x="2076035" y="213720"/>
                  </a:lnTo>
                </a:path>
                <a:path w="2661920" h="641350">
                  <a:moveTo>
                    <a:pt x="0" y="213720"/>
                  </a:moveTo>
                  <a:lnTo>
                    <a:pt x="82816" y="213720"/>
                  </a:lnTo>
                </a:path>
                <a:path w="2661920" h="641350">
                  <a:moveTo>
                    <a:pt x="821149" y="213720"/>
                  </a:moveTo>
                  <a:lnTo>
                    <a:pt x="840792" y="213720"/>
                  </a:lnTo>
                </a:path>
                <a:path w="2661920" h="641350">
                  <a:moveTo>
                    <a:pt x="916590" y="213720"/>
                  </a:moveTo>
                  <a:lnTo>
                    <a:pt x="1744767" y="213720"/>
                  </a:lnTo>
                </a:path>
                <a:path w="2661920" h="641350">
                  <a:moveTo>
                    <a:pt x="2151833" y="213720"/>
                  </a:moveTo>
                  <a:lnTo>
                    <a:pt x="2171463" y="213720"/>
                  </a:lnTo>
                </a:path>
                <a:path w="2661920" h="641350">
                  <a:moveTo>
                    <a:pt x="155807" y="213720"/>
                  </a:moveTo>
                  <a:lnTo>
                    <a:pt x="745351" y="213720"/>
                  </a:lnTo>
                </a:path>
                <a:path w="2661920" h="641350">
                  <a:moveTo>
                    <a:pt x="155807" y="108247"/>
                  </a:moveTo>
                  <a:lnTo>
                    <a:pt x="745351" y="108247"/>
                  </a:lnTo>
                </a:path>
                <a:path w="2661920" h="641350">
                  <a:moveTo>
                    <a:pt x="2151833" y="108247"/>
                  </a:moveTo>
                  <a:lnTo>
                    <a:pt x="2171463" y="108247"/>
                  </a:lnTo>
                </a:path>
                <a:path w="2661920" h="641350">
                  <a:moveTo>
                    <a:pt x="821149" y="108247"/>
                  </a:moveTo>
                  <a:lnTo>
                    <a:pt x="840792" y="108247"/>
                  </a:lnTo>
                </a:path>
                <a:path w="2661920" h="641350">
                  <a:moveTo>
                    <a:pt x="916590" y="108247"/>
                  </a:moveTo>
                  <a:lnTo>
                    <a:pt x="1744767" y="108247"/>
                  </a:lnTo>
                </a:path>
                <a:path w="2661920" h="641350">
                  <a:moveTo>
                    <a:pt x="2247261" y="108247"/>
                  </a:moveTo>
                  <a:lnTo>
                    <a:pt x="2661369" y="108247"/>
                  </a:lnTo>
                </a:path>
                <a:path w="2661920" h="641350">
                  <a:moveTo>
                    <a:pt x="0" y="108247"/>
                  </a:moveTo>
                  <a:lnTo>
                    <a:pt x="82816" y="108247"/>
                  </a:lnTo>
                </a:path>
                <a:path w="2661920" h="641350">
                  <a:moveTo>
                    <a:pt x="1820566" y="108247"/>
                  </a:moveTo>
                  <a:lnTo>
                    <a:pt x="2076035" y="108247"/>
                  </a:lnTo>
                </a:path>
                <a:path w="2661920" h="641350">
                  <a:moveTo>
                    <a:pt x="1820566" y="0"/>
                  </a:moveTo>
                  <a:lnTo>
                    <a:pt x="2076035" y="0"/>
                  </a:lnTo>
                </a:path>
                <a:path w="2661920" h="641350">
                  <a:moveTo>
                    <a:pt x="821149" y="0"/>
                  </a:moveTo>
                  <a:lnTo>
                    <a:pt x="1744767" y="0"/>
                  </a:lnTo>
                </a:path>
                <a:path w="2661920" h="641350">
                  <a:moveTo>
                    <a:pt x="155807" y="0"/>
                  </a:moveTo>
                  <a:lnTo>
                    <a:pt x="745351" y="0"/>
                  </a:lnTo>
                </a:path>
                <a:path w="2661920" h="641350">
                  <a:moveTo>
                    <a:pt x="2151833" y="0"/>
                  </a:moveTo>
                  <a:lnTo>
                    <a:pt x="2661369" y="0"/>
                  </a:lnTo>
                </a:path>
                <a:path w="2661920" h="641350">
                  <a:moveTo>
                    <a:pt x="0" y="0"/>
                  </a:moveTo>
                  <a:lnTo>
                    <a:pt x="82816" y="0"/>
                  </a:lnTo>
                </a:path>
              </a:pathLst>
            </a:custGeom>
            <a:ln w="3175">
              <a:solidFill>
                <a:srgbClr val="DADADA"/>
              </a:solidFill>
            </a:ln>
          </p:spPr>
          <p:txBody>
            <a:bodyPr wrap="square" lIns="0" tIns="0" rIns="0" bIns="0" rtlCol="0"/>
            <a:lstStyle/>
            <a:p/>
          </p:txBody>
        </p:sp>
        <p:sp>
          <p:nvSpPr>
            <p:cNvPr id="6" name="object 6" descr=""/>
            <p:cNvSpPr/>
            <p:nvPr/>
          </p:nvSpPr>
          <p:spPr>
            <a:xfrm>
              <a:off x="1172388" y="1816851"/>
              <a:ext cx="2661920" cy="0"/>
            </a:xfrm>
            <a:custGeom>
              <a:avLst/>
              <a:gdLst/>
              <a:ahLst/>
              <a:cxnLst/>
              <a:rect l="l" t="t" r="r" b="b"/>
              <a:pathLst>
                <a:path w="2661920" h="0">
                  <a:moveTo>
                    <a:pt x="0" y="0"/>
                  </a:moveTo>
                  <a:lnTo>
                    <a:pt x="82816" y="0"/>
                  </a:lnTo>
                </a:path>
                <a:path w="2661920" h="0">
                  <a:moveTo>
                    <a:pt x="821149" y="0"/>
                  </a:moveTo>
                  <a:lnTo>
                    <a:pt x="2076035" y="0"/>
                  </a:lnTo>
                </a:path>
                <a:path w="2661920" h="0">
                  <a:moveTo>
                    <a:pt x="155807" y="0"/>
                  </a:moveTo>
                  <a:lnTo>
                    <a:pt x="745351" y="0"/>
                  </a:lnTo>
                </a:path>
                <a:path w="2661920" h="0">
                  <a:moveTo>
                    <a:pt x="2151833" y="0"/>
                  </a:moveTo>
                  <a:lnTo>
                    <a:pt x="2661369" y="0"/>
                  </a:lnTo>
                </a:path>
              </a:pathLst>
            </a:custGeom>
            <a:ln w="3175">
              <a:solidFill>
                <a:srgbClr val="DADADA"/>
              </a:solidFill>
            </a:ln>
          </p:spPr>
          <p:txBody>
            <a:bodyPr wrap="square" lIns="0" tIns="0" rIns="0" bIns="0" rtlCol="0"/>
            <a:lstStyle/>
            <a:p/>
          </p:txBody>
        </p:sp>
        <p:sp>
          <p:nvSpPr>
            <p:cNvPr id="7" name="object 7" descr=""/>
            <p:cNvSpPr/>
            <p:nvPr/>
          </p:nvSpPr>
          <p:spPr>
            <a:xfrm>
              <a:off x="1172388" y="1603131"/>
              <a:ext cx="2661920" cy="106045"/>
            </a:xfrm>
            <a:custGeom>
              <a:avLst/>
              <a:gdLst/>
              <a:ahLst/>
              <a:cxnLst/>
              <a:rect l="l" t="t" r="r" b="b"/>
              <a:pathLst>
                <a:path w="2661920" h="106044">
                  <a:moveTo>
                    <a:pt x="0" y="105472"/>
                  </a:moveTo>
                  <a:lnTo>
                    <a:pt x="2661369" y="105472"/>
                  </a:lnTo>
                </a:path>
                <a:path w="2661920" h="106044">
                  <a:moveTo>
                    <a:pt x="0" y="0"/>
                  </a:moveTo>
                  <a:lnTo>
                    <a:pt x="2661369" y="0"/>
                  </a:lnTo>
                </a:path>
              </a:pathLst>
            </a:custGeom>
            <a:ln w="3175">
              <a:solidFill>
                <a:srgbClr val="DADADA"/>
              </a:solidFill>
            </a:ln>
          </p:spPr>
          <p:txBody>
            <a:bodyPr wrap="square" lIns="0" tIns="0" rIns="0" bIns="0" rtlCol="0"/>
            <a:lstStyle/>
            <a:p/>
          </p:txBody>
        </p:sp>
        <p:sp>
          <p:nvSpPr>
            <p:cNvPr id="8" name="object 8" descr=""/>
            <p:cNvSpPr/>
            <p:nvPr/>
          </p:nvSpPr>
          <p:spPr>
            <a:xfrm>
              <a:off x="1255204" y="1715553"/>
              <a:ext cx="2403475" cy="955040"/>
            </a:xfrm>
            <a:custGeom>
              <a:avLst/>
              <a:gdLst/>
              <a:ahLst/>
              <a:cxnLst/>
              <a:rect l="l" t="t" r="r" b="b"/>
              <a:pathLst>
                <a:path w="2403475" h="955039">
                  <a:moveTo>
                    <a:pt x="72986" y="52730"/>
                  </a:moveTo>
                  <a:lnTo>
                    <a:pt x="0" y="52730"/>
                  </a:lnTo>
                  <a:lnTo>
                    <a:pt x="0" y="954811"/>
                  </a:lnTo>
                  <a:lnTo>
                    <a:pt x="72986" y="954811"/>
                  </a:lnTo>
                  <a:lnTo>
                    <a:pt x="72986" y="52730"/>
                  </a:lnTo>
                  <a:close/>
                </a:path>
                <a:path w="2403475" h="955039">
                  <a:moveTo>
                    <a:pt x="407060" y="835456"/>
                  </a:moveTo>
                  <a:lnTo>
                    <a:pt x="331266" y="835456"/>
                  </a:lnTo>
                  <a:lnTo>
                    <a:pt x="331266" y="954811"/>
                  </a:lnTo>
                  <a:lnTo>
                    <a:pt x="407060" y="954811"/>
                  </a:lnTo>
                  <a:lnTo>
                    <a:pt x="407060" y="835456"/>
                  </a:lnTo>
                  <a:close/>
                </a:path>
                <a:path w="2403475" h="955039">
                  <a:moveTo>
                    <a:pt x="738327" y="0"/>
                  </a:moveTo>
                  <a:lnTo>
                    <a:pt x="662533" y="0"/>
                  </a:lnTo>
                  <a:lnTo>
                    <a:pt x="662533" y="954811"/>
                  </a:lnTo>
                  <a:lnTo>
                    <a:pt x="738327" y="954811"/>
                  </a:lnTo>
                  <a:lnTo>
                    <a:pt x="738327" y="0"/>
                  </a:lnTo>
                  <a:close/>
                </a:path>
                <a:path w="2403475" h="955039">
                  <a:moveTo>
                    <a:pt x="1072400" y="718883"/>
                  </a:moveTo>
                  <a:lnTo>
                    <a:pt x="996607" y="718883"/>
                  </a:lnTo>
                  <a:lnTo>
                    <a:pt x="996607" y="954811"/>
                  </a:lnTo>
                  <a:lnTo>
                    <a:pt x="1072400" y="954811"/>
                  </a:lnTo>
                  <a:lnTo>
                    <a:pt x="1072400" y="718883"/>
                  </a:lnTo>
                  <a:close/>
                </a:path>
                <a:path w="2403475" h="955039">
                  <a:moveTo>
                    <a:pt x="1403667" y="696671"/>
                  </a:moveTo>
                  <a:lnTo>
                    <a:pt x="1327873" y="696671"/>
                  </a:lnTo>
                  <a:lnTo>
                    <a:pt x="1327873" y="954811"/>
                  </a:lnTo>
                  <a:lnTo>
                    <a:pt x="1403667" y="954811"/>
                  </a:lnTo>
                  <a:lnTo>
                    <a:pt x="1403667" y="696671"/>
                  </a:lnTo>
                  <a:close/>
                </a:path>
                <a:path w="2403475" h="955039">
                  <a:moveTo>
                    <a:pt x="1737741" y="174866"/>
                  </a:moveTo>
                  <a:lnTo>
                    <a:pt x="1661947" y="174866"/>
                  </a:lnTo>
                  <a:lnTo>
                    <a:pt x="1661947" y="954811"/>
                  </a:lnTo>
                  <a:lnTo>
                    <a:pt x="1737741" y="954811"/>
                  </a:lnTo>
                  <a:lnTo>
                    <a:pt x="1737741" y="174866"/>
                  </a:lnTo>
                  <a:close/>
                </a:path>
                <a:path w="2403475" h="955039">
                  <a:moveTo>
                    <a:pt x="2069007" y="58280"/>
                  </a:moveTo>
                  <a:lnTo>
                    <a:pt x="1993214" y="58280"/>
                  </a:lnTo>
                  <a:lnTo>
                    <a:pt x="1993214" y="954811"/>
                  </a:lnTo>
                  <a:lnTo>
                    <a:pt x="2069007" y="954811"/>
                  </a:lnTo>
                  <a:lnTo>
                    <a:pt x="2069007" y="58280"/>
                  </a:lnTo>
                  <a:close/>
                </a:path>
                <a:path w="2403475" h="955039">
                  <a:moveTo>
                    <a:pt x="2403081" y="691121"/>
                  </a:moveTo>
                  <a:lnTo>
                    <a:pt x="2327287" y="691121"/>
                  </a:lnTo>
                  <a:lnTo>
                    <a:pt x="2327287" y="954811"/>
                  </a:lnTo>
                  <a:lnTo>
                    <a:pt x="2403081" y="954811"/>
                  </a:lnTo>
                  <a:lnTo>
                    <a:pt x="2403081" y="691121"/>
                  </a:lnTo>
                  <a:close/>
                </a:path>
              </a:pathLst>
            </a:custGeom>
            <a:solidFill>
              <a:srgbClr val="4F81BD"/>
            </a:solidFill>
          </p:spPr>
          <p:txBody>
            <a:bodyPr wrap="square" lIns="0" tIns="0" rIns="0" bIns="0" rtlCol="0"/>
            <a:lstStyle/>
            <a:p/>
          </p:txBody>
        </p:sp>
        <p:sp>
          <p:nvSpPr>
            <p:cNvPr id="9" name="object 9" descr=""/>
            <p:cNvSpPr/>
            <p:nvPr/>
          </p:nvSpPr>
          <p:spPr>
            <a:xfrm>
              <a:off x="1347838" y="1937600"/>
              <a:ext cx="2403475" cy="732790"/>
            </a:xfrm>
            <a:custGeom>
              <a:avLst/>
              <a:gdLst/>
              <a:ahLst/>
              <a:cxnLst/>
              <a:rect l="l" t="t" r="r" b="b"/>
              <a:pathLst>
                <a:path w="2403475" h="732789">
                  <a:moveTo>
                    <a:pt x="75793" y="266458"/>
                  </a:moveTo>
                  <a:lnTo>
                    <a:pt x="0" y="266458"/>
                  </a:lnTo>
                  <a:lnTo>
                    <a:pt x="0" y="732764"/>
                  </a:lnTo>
                  <a:lnTo>
                    <a:pt x="75793" y="732764"/>
                  </a:lnTo>
                  <a:lnTo>
                    <a:pt x="75793" y="266458"/>
                  </a:lnTo>
                  <a:close/>
                </a:path>
                <a:path w="2403475" h="732789">
                  <a:moveTo>
                    <a:pt x="407060" y="677252"/>
                  </a:moveTo>
                  <a:lnTo>
                    <a:pt x="334073" y="677252"/>
                  </a:lnTo>
                  <a:lnTo>
                    <a:pt x="334073" y="732764"/>
                  </a:lnTo>
                  <a:lnTo>
                    <a:pt x="407060" y="732764"/>
                  </a:lnTo>
                  <a:lnTo>
                    <a:pt x="407060" y="677252"/>
                  </a:lnTo>
                  <a:close/>
                </a:path>
                <a:path w="2403475" h="732789">
                  <a:moveTo>
                    <a:pt x="741133" y="0"/>
                  </a:moveTo>
                  <a:lnTo>
                    <a:pt x="665340" y="0"/>
                  </a:lnTo>
                  <a:lnTo>
                    <a:pt x="665340" y="732764"/>
                  </a:lnTo>
                  <a:lnTo>
                    <a:pt x="741133" y="732764"/>
                  </a:lnTo>
                  <a:lnTo>
                    <a:pt x="741133" y="0"/>
                  </a:lnTo>
                  <a:close/>
                </a:path>
                <a:path w="2403475" h="732789">
                  <a:moveTo>
                    <a:pt x="1072400" y="596760"/>
                  </a:moveTo>
                  <a:lnTo>
                    <a:pt x="999413" y="596760"/>
                  </a:lnTo>
                  <a:lnTo>
                    <a:pt x="999413" y="732764"/>
                  </a:lnTo>
                  <a:lnTo>
                    <a:pt x="1072400" y="732764"/>
                  </a:lnTo>
                  <a:lnTo>
                    <a:pt x="1072400" y="596760"/>
                  </a:lnTo>
                  <a:close/>
                </a:path>
                <a:path w="2403475" h="732789">
                  <a:moveTo>
                    <a:pt x="1406474" y="549567"/>
                  </a:moveTo>
                  <a:lnTo>
                    <a:pt x="1330667" y="549567"/>
                  </a:lnTo>
                  <a:lnTo>
                    <a:pt x="1330667" y="732764"/>
                  </a:lnTo>
                  <a:lnTo>
                    <a:pt x="1406474" y="732764"/>
                  </a:lnTo>
                  <a:lnTo>
                    <a:pt x="1406474" y="549567"/>
                  </a:lnTo>
                  <a:close/>
                </a:path>
                <a:path w="2403475" h="732789">
                  <a:moveTo>
                    <a:pt x="1737728" y="369150"/>
                  </a:moveTo>
                  <a:lnTo>
                    <a:pt x="1664741" y="369150"/>
                  </a:lnTo>
                  <a:lnTo>
                    <a:pt x="1664741" y="732764"/>
                  </a:lnTo>
                  <a:lnTo>
                    <a:pt x="1737728" y="732764"/>
                  </a:lnTo>
                  <a:lnTo>
                    <a:pt x="1737728" y="369150"/>
                  </a:lnTo>
                  <a:close/>
                </a:path>
                <a:path w="2403475" h="732789">
                  <a:moveTo>
                    <a:pt x="2071801" y="5549"/>
                  </a:moveTo>
                  <a:lnTo>
                    <a:pt x="1996008" y="5549"/>
                  </a:lnTo>
                  <a:lnTo>
                    <a:pt x="1996008" y="732764"/>
                  </a:lnTo>
                  <a:lnTo>
                    <a:pt x="2071801" y="732764"/>
                  </a:lnTo>
                  <a:lnTo>
                    <a:pt x="2071801" y="5549"/>
                  </a:lnTo>
                  <a:close/>
                </a:path>
                <a:path w="2403475" h="732789">
                  <a:moveTo>
                    <a:pt x="2403068" y="480187"/>
                  </a:moveTo>
                  <a:lnTo>
                    <a:pt x="2330081" y="480187"/>
                  </a:lnTo>
                  <a:lnTo>
                    <a:pt x="2330081" y="732764"/>
                  </a:lnTo>
                  <a:lnTo>
                    <a:pt x="2403068" y="732764"/>
                  </a:lnTo>
                  <a:lnTo>
                    <a:pt x="2403068" y="480187"/>
                  </a:lnTo>
                  <a:close/>
                </a:path>
              </a:pathLst>
            </a:custGeom>
            <a:solidFill>
              <a:srgbClr val="C0504D"/>
            </a:solidFill>
          </p:spPr>
          <p:txBody>
            <a:bodyPr wrap="square" lIns="0" tIns="0" rIns="0" bIns="0" rtlCol="0"/>
            <a:lstStyle/>
            <a:p/>
          </p:txBody>
        </p:sp>
        <p:sp>
          <p:nvSpPr>
            <p:cNvPr id="10" name="object 10" descr=""/>
            <p:cNvSpPr/>
            <p:nvPr/>
          </p:nvSpPr>
          <p:spPr>
            <a:xfrm>
              <a:off x="1172388" y="2668963"/>
              <a:ext cx="2661920" cy="0"/>
            </a:xfrm>
            <a:custGeom>
              <a:avLst/>
              <a:gdLst/>
              <a:ahLst/>
              <a:cxnLst/>
              <a:rect l="l" t="t" r="r" b="b"/>
              <a:pathLst>
                <a:path w="2661920" h="0">
                  <a:moveTo>
                    <a:pt x="0" y="0"/>
                  </a:moveTo>
                  <a:lnTo>
                    <a:pt x="2661341" y="0"/>
                  </a:lnTo>
                </a:path>
              </a:pathLst>
            </a:custGeom>
            <a:ln w="3175">
              <a:solidFill>
                <a:srgbClr val="DADADA"/>
              </a:solidFill>
            </a:ln>
          </p:spPr>
          <p:txBody>
            <a:bodyPr wrap="square" lIns="0" tIns="0" rIns="0" bIns="0" rtlCol="0"/>
            <a:lstStyle/>
            <a:p/>
          </p:txBody>
        </p:sp>
      </p:grpSp>
      <p:sp>
        <p:nvSpPr>
          <p:cNvPr id="11" name="object 11" descr=""/>
          <p:cNvSpPr txBox="1"/>
          <p:nvPr/>
        </p:nvSpPr>
        <p:spPr>
          <a:xfrm>
            <a:off x="1575227" y="2426423"/>
            <a:ext cx="109855" cy="115570"/>
          </a:xfrm>
          <a:prstGeom prst="rect">
            <a:avLst/>
          </a:prstGeom>
        </p:spPr>
        <p:txBody>
          <a:bodyPr wrap="square" lIns="0" tIns="11430" rIns="0" bIns="0" rtlCol="0" vert="horz">
            <a:spAutoFit/>
          </a:bodyPr>
          <a:lstStyle/>
          <a:p>
            <a:pPr>
              <a:lnSpc>
                <a:spcPct val="100000"/>
              </a:lnSpc>
              <a:spcBef>
                <a:spcPts val="90"/>
              </a:spcBef>
            </a:pPr>
            <a:r>
              <a:rPr dirty="0" sz="600" spc="-25" b="1">
                <a:solidFill>
                  <a:srgbClr val="3E3E3E"/>
                </a:solidFill>
                <a:latin typeface="Calibri"/>
                <a:cs typeface="Calibri"/>
              </a:rPr>
              <a:t>2.2</a:t>
            </a:r>
            <a:endParaRPr sz="600">
              <a:latin typeface="Calibri"/>
              <a:cs typeface="Calibri"/>
            </a:endParaRPr>
          </a:p>
        </p:txBody>
      </p:sp>
      <p:sp>
        <p:nvSpPr>
          <p:cNvPr id="12" name="object 12" descr=""/>
          <p:cNvSpPr txBox="1"/>
          <p:nvPr/>
        </p:nvSpPr>
        <p:spPr>
          <a:xfrm>
            <a:off x="2886120" y="1765344"/>
            <a:ext cx="149860" cy="115570"/>
          </a:xfrm>
          <a:prstGeom prst="rect">
            <a:avLst/>
          </a:prstGeom>
        </p:spPr>
        <p:txBody>
          <a:bodyPr wrap="square" lIns="0" tIns="11430" rIns="0" bIns="0" rtlCol="0" vert="horz">
            <a:spAutoFit/>
          </a:bodyPr>
          <a:lstStyle/>
          <a:p>
            <a:pPr>
              <a:lnSpc>
                <a:spcPct val="100000"/>
              </a:lnSpc>
              <a:spcBef>
                <a:spcPts val="90"/>
              </a:spcBef>
            </a:pPr>
            <a:r>
              <a:rPr dirty="0" sz="600" spc="-20" b="1">
                <a:solidFill>
                  <a:srgbClr val="3E3E3E"/>
                </a:solidFill>
                <a:latin typeface="Calibri"/>
                <a:cs typeface="Calibri"/>
              </a:rPr>
              <a:t>14.6</a:t>
            </a:r>
            <a:endParaRPr sz="600">
              <a:latin typeface="Calibri"/>
              <a:cs typeface="Calibri"/>
            </a:endParaRPr>
          </a:p>
        </p:txBody>
      </p:sp>
      <p:sp>
        <p:nvSpPr>
          <p:cNvPr id="13" name="object 13" descr=""/>
          <p:cNvSpPr txBox="1"/>
          <p:nvPr/>
        </p:nvSpPr>
        <p:spPr>
          <a:xfrm>
            <a:off x="1337312" y="2079890"/>
            <a:ext cx="109855" cy="115570"/>
          </a:xfrm>
          <a:prstGeom prst="rect">
            <a:avLst/>
          </a:prstGeom>
        </p:spPr>
        <p:txBody>
          <a:bodyPr wrap="square" lIns="0" tIns="11430" rIns="0" bIns="0" rtlCol="0" vert="horz">
            <a:spAutoFit/>
          </a:bodyPr>
          <a:lstStyle/>
          <a:p>
            <a:pPr>
              <a:lnSpc>
                <a:spcPct val="100000"/>
              </a:lnSpc>
              <a:spcBef>
                <a:spcPts val="90"/>
              </a:spcBef>
            </a:pPr>
            <a:r>
              <a:rPr dirty="0" sz="600" spc="-25" b="1">
                <a:solidFill>
                  <a:srgbClr val="3E3E3E"/>
                </a:solidFill>
                <a:latin typeface="Calibri"/>
                <a:cs typeface="Calibri"/>
              </a:rPr>
              <a:t>8.7</a:t>
            </a:r>
            <a:endParaRPr sz="600">
              <a:latin typeface="Calibri"/>
              <a:cs typeface="Calibri"/>
            </a:endParaRPr>
          </a:p>
        </p:txBody>
      </p:sp>
      <p:sp>
        <p:nvSpPr>
          <p:cNvPr id="14" name="object 14" descr=""/>
          <p:cNvSpPr txBox="1"/>
          <p:nvPr/>
        </p:nvSpPr>
        <p:spPr>
          <a:xfrm>
            <a:off x="1698029" y="2490400"/>
            <a:ext cx="51435" cy="115570"/>
          </a:xfrm>
          <a:prstGeom prst="rect">
            <a:avLst/>
          </a:prstGeom>
        </p:spPr>
        <p:txBody>
          <a:bodyPr wrap="square" lIns="0" tIns="11430" rIns="0" bIns="0" rtlCol="0" vert="horz">
            <a:spAutoFit/>
          </a:bodyPr>
          <a:lstStyle/>
          <a:p>
            <a:pPr>
              <a:lnSpc>
                <a:spcPct val="100000"/>
              </a:lnSpc>
              <a:spcBef>
                <a:spcPts val="90"/>
              </a:spcBef>
            </a:pPr>
            <a:r>
              <a:rPr dirty="0" sz="600" spc="-50" b="1">
                <a:solidFill>
                  <a:srgbClr val="3E3E3E"/>
                </a:solidFill>
                <a:latin typeface="Calibri"/>
                <a:cs typeface="Calibri"/>
              </a:rPr>
              <a:t>1</a:t>
            </a:r>
            <a:endParaRPr sz="600">
              <a:latin typeface="Calibri"/>
              <a:cs typeface="Calibri"/>
            </a:endParaRPr>
          </a:p>
        </p:txBody>
      </p:sp>
      <p:sp>
        <p:nvSpPr>
          <p:cNvPr id="15" name="object 15" descr=""/>
          <p:cNvSpPr txBox="1"/>
          <p:nvPr/>
        </p:nvSpPr>
        <p:spPr>
          <a:xfrm>
            <a:off x="2240495" y="2297770"/>
            <a:ext cx="204470" cy="228600"/>
          </a:xfrm>
          <a:prstGeom prst="rect">
            <a:avLst/>
          </a:prstGeom>
        </p:spPr>
        <p:txBody>
          <a:bodyPr wrap="square" lIns="0" tIns="22860" rIns="0" bIns="0" rtlCol="0" vert="horz">
            <a:spAutoFit/>
          </a:bodyPr>
          <a:lstStyle/>
          <a:p>
            <a:pPr>
              <a:lnSpc>
                <a:spcPct val="100000"/>
              </a:lnSpc>
              <a:spcBef>
                <a:spcPts val="180"/>
              </a:spcBef>
            </a:pPr>
            <a:r>
              <a:rPr dirty="0" sz="600" spc="-25" b="1">
                <a:solidFill>
                  <a:srgbClr val="3E3E3E"/>
                </a:solidFill>
                <a:latin typeface="Calibri"/>
                <a:cs typeface="Calibri"/>
              </a:rPr>
              <a:t>4.4</a:t>
            </a:r>
            <a:endParaRPr sz="600">
              <a:latin typeface="Calibri"/>
              <a:cs typeface="Calibri"/>
            </a:endParaRPr>
          </a:p>
          <a:p>
            <a:pPr marL="94615">
              <a:lnSpc>
                <a:spcPct val="100000"/>
              </a:lnSpc>
              <a:spcBef>
                <a:spcPts val="75"/>
              </a:spcBef>
            </a:pPr>
            <a:r>
              <a:rPr dirty="0" sz="600" spc="-25" b="1">
                <a:solidFill>
                  <a:srgbClr val="3E3E3E"/>
                </a:solidFill>
                <a:latin typeface="Calibri"/>
                <a:cs typeface="Calibri"/>
              </a:rPr>
              <a:t>2.5</a:t>
            </a:r>
            <a:endParaRPr sz="600">
              <a:latin typeface="Calibri"/>
              <a:cs typeface="Calibri"/>
            </a:endParaRPr>
          </a:p>
        </p:txBody>
      </p:sp>
      <p:sp>
        <p:nvSpPr>
          <p:cNvPr id="16" name="object 16" descr=""/>
          <p:cNvSpPr txBox="1"/>
          <p:nvPr/>
        </p:nvSpPr>
        <p:spPr>
          <a:xfrm>
            <a:off x="2573129" y="2287811"/>
            <a:ext cx="204470" cy="190500"/>
          </a:xfrm>
          <a:prstGeom prst="rect">
            <a:avLst/>
          </a:prstGeom>
        </p:spPr>
        <p:txBody>
          <a:bodyPr wrap="square" lIns="0" tIns="11430" rIns="0" bIns="0" rtlCol="0" vert="horz">
            <a:spAutoFit/>
          </a:bodyPr>
          <a:lstStyle/>
          <a:p>
            <a:pPr>
              <a:lnSpc>
                <a:spcPts val="655"/>
              </a:lnSpc>
              <a:spcBef>
                <a:spcPts val="90"/>
              </a:spcBef>
            </a:pPr>
            <a:r>
              <a:rPr dirty="0" sz="600" spc="-25" b="1">
                <a:solidFill>
                  <a:srgbClr val="3E3E3E"/>
                </a:solidFill>
                <a:latin typeface="Calibri"/>
                <a:cs typeface="Calibri"/>
              </a:rPr>
              <a:t>4.8</a:t>
            </a:r>
            <a:endParaRPr sz="600">
              <a:latin typeface="Calibri"/>
              <a:cs typeface="Calibri"/>
            </a:endParaRPr>
          </a:p>
          <a:p>
            <a:pPr marL="94615">
              <a:lnSpc>
                <a:spcPts val="655"/>
              </a:lnSpc>
            </a:pPr>
            <a:r>
              <a:rPr dirty="0" sz="600" spc="-25" b="1">
                <a:solidFill>
                  <a:srgbClr val="3E3E3E"/>
                </a:solidFill>
                <a:latin typeface="Calibri"/>
                <a:cs typeface="Calibri"/>
              </a:rPr>
              <a:t>3.4</a:t>
            </a:r>
            <a:endParaRPr sz="600">
              <a:latin typeface="Calibri"/>
              <a:cs typeface="Calibri"/>
            </a:endParaRPr>
          </a:p>
        </p:txBody>
      </p:sp>
      <p:sp>
        <p:nvSpPr>
          <p:cNvPr id="17" name="object 17" descr=""/>
          <p:cNvSpPr txBox="1"/>
          <p:nvPr/>
        </p:nvSpPr>
        <p:spPr>
          <a:xfrm>
            <a:off x="3000480" y="2181185"/>
            <a:ext cx="109855" cy="115570"/>
          </a:xfrm>
          <a:prstGeom prst="rect">
            <a:avLst/>
          </a:prstGeom>
        </p:spPr>
        <p:txBody>
          <a:bodyPr wrap="square" lIns="0" tIns="11430" rIns="0" bIns="0" rtlCol="0" vert="horz">
            <a:spAutoFit/>
          </a:bodyPr>
          <a:lstStyle/>
          <a:p>
            <a:pPr>
              <a:lnSpc>
                <a:spcPct val="100000"/>
              </a:lnSpc>
              <a:spcBef>
                <a:spcPts val="90"/>
              </a:spcBef>
            </a:pPr>
            <a:r>
              <a:rPr dirty="0" sz="600" spc="-25" b="1">
                <a:solidFill>
                  <a:srgbClr val="3E3E3E"/>
                </a:solidFill>
                <a:latin typeface="Calibri"/>
                <a:cs typeface="Calibri"/>
              </a:rPr>
              <a:t>6.8</a:t>
            </a:r>
            <a:endParaRPr sz="600">
              <a:latin typeface="Calibri"/>
              <a:cs typeface="Calibri"/>
            </a:endParaRPr>
          </a:p>
        </p:txBody>
      </p:sp>
      <p:sp>
        <p:nvSpPr>
          <p:cNvPr id="18" name="object 18" descr=""/>
          <p:cNvSpPr txBox="1"/>
          <p:nvPr/>
        </p:nvSpPr>
        <p:spPr>
          <a:xfrm>
            <a:off x="1982938" y="1818657"/>
            <a:ext cx="1480185" cy="115570"/>
          </a:xfrm>
          <a:prstGeom prst="rect">
            <a:avLst/>
          </a:prstGeom>
        </p:spPr>
        <p:txBody>
          <a:bodyPr wrap="square" lIns="0" tIns="11430" rIns="0" bIns="0" rtlCol="0" vert="horz">
            <a:spAutoFit/>
          </a:bodyPr>
          <a:lstStyle/>
          <a:p>
            <a:pPr>
              <a:lnSpc>
                <a:spcPct val="100000"/>
              </a:lnSpc>
              <a:spcBef>
                <a:spcPts val="90"/>
              </a:spcBef>
              <a:tabLst>
                <a:tab pos="1330325" algn="l"/>
              </a:tabLst>
            </a:pPr>
            <a:r>
              <a:rPr dirty="0" baseline="4629" sz="900" spc="-30" b="1">
                <a:solidFill>
                  <a:srgbClr val="3E3E3E"/>
                </a:solidFill>
                <a:latin typeface="Calibri"/>
                <a:cs typeface="Calibri"/>
              </a:rPr>
              <a:t>13.7</a:t>
            </a:r>
            <a:r>
              <a:rPr dirty="0" baseline="4629" sz="900" b="1">
                <a:solidFill>
                  <a:srgbClr val="3E3E3E"/>
                </a:solidFill>
                <a:latin typeface="Calibri"/>
                <a:cs typeface="Calibri"/>
              </a:rPr>
              <a:t>	</a:t>
            </a:r>
            <a:r>
              <a:rPr dirty="0" sz="600" spc="-20" b="1">
                <a:solidFill>
                  <a:srgbClr val="3E3E3E"/>
                </a:solidFill>
                <a:latin typeface="Calibri"/>
                <a:cs typeface="Calibri"/>
              </a:rPr>
              <a:t>13.6</a:t>
            </a:r>
            <a:endParaRPr sz="600">
              <a:latin typeface="Calibri"/>
              <a:cs typeface="Calibri"/>
            </a:endParaRPr>
          </a:p>
        </p:txBody>
      </p:sp>
      <p:sp>
        <p:nvSpPr>
          <p:cNvPr id="19" name="object 19" descr=""/>
          <p:cNvSpPr txBox="1"/>
          <p:nvPr/>
        </p:nvSpPr>
        <p:spPr>
          <a:xfrm>
            <a:off x="3545629" y="2293142"/>
            <a:ext cx="255270" cy="115570"/>
          </a:xfrm>
          <a:prstGeom prst="rect">
            <a:avLst/>
          </a:prstGeom>
        </p:spPr>
        <p:txBody>
          <a:bodyPr wrap="square" lIns="0" tIns="11430" rIns="0" bIns="0" rtlCol="0" vert="horz">
            <a:spAutoFit/>
          </a:bodyPr>
          <a:lstStyle/>
          <a:p>
            <a:pPr marL="25400">
              <a:lnSpc>
                <a:spcPct val="100000"/>
              </a:lnSpc>
              <a:spcBef>
                <a:spcPts val="90"/>
              </a:spcBef>
            </a:pPr>
            <a:r>
              <a:rPr dirty="0" baseline="9259" sz="900" spc="-15" b="1">
                <a:solidFill>
                  <a:srgbClr val="3E3E3E"/>
                </a:solidFill>
                <a:latin typeface="Calibri"/>
                <a:cs typeface="Calibri"/>
              </a:rPr>
              <a:t>4.9</a:t>
            </a:r>
            <a:r>
              <a:rPr dirty="0" sz="600" spc="-10" b="1">
                <a:solidFill>
                  <a:srgbClr val="3E3E3E"/>
                </a:solidFill>
                <a:latin typeface="Calibri"/>
                <a:cs typeface="Calibri"/>
              </a:rPr>
              <a:t>4.7</a:t>
            </a:r>
            <a:endParaRPr sz="600">
              <a:latin typeface="Calibri"/>
              <a:cs typeface="Calibri"/>
            </a:endParaRPr>
          </a:p>
        </p:txBody>
      </p:sp>
      <p:sp>
        <p:nvSpPr>
          <p:cNvPr id="20" name="object 20" descr=""/>
          <p:cNvSpPr txBox="1"/>
          <p:nvPr/>
        </p:nvSpPr>
        <p:spPr>
          <a:xfrm>
            <a:off x="1026875" y="1517606"/>
            <a:ext cx="346075" cy="1199515"/>
          </a:xfrm>
          <a:prstGeom prst="rect">
            <a:avLst/>
          </a:prstGeom>
        </p:spPr>
        <p:txBody>
          <a:bodyPr wrap="square" lIns="0" tIns="28575" rIns="0" bIns="0" rtlCol="0" vert="horz">
            <a:spAutoFit/>
          </a:bodyPr>
          <a:lstStyle/>
          <a:p>
            <a:pPr>
              <a:lnSpc>
                <a:spcPct val="100000"/>
              </a:lnSpc>
              <a:spcBef>
                <a:spcPts val="225"/>
              </a:spcBef>
            </a:pPr>
            <a:r>
              <a:rPr dirty="0" sz="600" spc="-25" b="1">
                <a:solidFill>
                  <a:srgbClr val="595958"/>
                </a:solidFill>
                <a:latin typeface="Calibri"/>
                <a:cs typeface="Calibri"/>
              </a:rPr>
              <a:t>20</a:t>
            </a:r>
            <a:endParaRPr sz="600">
              <a:latin typeface="Calibri"/>
              <a:cs typeface="Calibri"/>
            </a:endParaRPr>
          </a:p>
          <a:p>
            <a:pPr>
              <a:lnSpc>
                <a:spcPct val="100000"/>
              </a:lnSpc>
              <a:spcBef>
                <a:spcPts val="130"/>
              </a:spcBef>
            </a:pPr>
            <a:r>
              <a:rPr dirty="0" sz="600" b="1">
                <a:solidFill>
                  <a:srgbClr val="595958"/>
                </a:solidFill>
                <a:latin typeface="Calibri"/>
                <a:cs typeface="Calibri"/>
              </a:rPr>
              <a:t>18</a:t>
            </a:r>
            <a:r>
              <a:rPr dirty="0" sz="600" spc="335" b="1">
                <a:solidFill>
                  <a:srgbClr val="595958"/>
                </a:solidFill>
                <a:latin typeface="Calibri"/>
                <a:cs typeface="Calibri"/>
              </a:rPr>
              <a:t>  </a:t>
            </a:r>
            <a:r>
              <a:rPr dirty="0" sz="600" spc="-20" b="1">
                <a:solidFill>
                  <a:srgbClr val="3E3E3E"/>
                </a:solidFill>
                <a:latin typeface="Calibri"/>
                <a:cs typeface="Calibri"/>
              </a:rPr>
              <a:t>16.9</a:t>
            </a:r>
            <a:endParaRPr sz="600">
              <a:latin typeface="Calibri"/>
              <a:cs typeface="Calibri"/>
            </a:endParaRPr>
          </a:p>
          <a:p>
            <a:pPr>
              <a:lnSpc>
                <a:spcPct val="100000"/>
              </a:lnSpc>
              <a:spcBef>
                <a:spcPts val="110"/>
              </a:spcBef>
            </a:pPr>
            <a:r>
              <a:rPr dirty="0" sz="600" spc="-25" b="1">
                <a:solidFill>
                  <a:srgbClr val="595958"/>
                </a:solidFill>
                <a:latin typeface="Calibri"/>
                <a:cs typeface="Calibri"/>
              </a:rPr>
              <a:t>16</a:t>
            </a:r>
            <a:endParaRPr sz="600">
              <a:latin typeface="Calibri"/>
              <a:cs typeface="Calibri"/>
            </a:endParaRPr>
          </a:p>
          <a:p>
            <a:pPr>
              <a:lnSpc>
                <a:spcPct val="100000"/>
              </a:lnSpc>
              <a:spcBef>
                <a:spcPts val="120"/>
              </a:spcBef>
            </a:pPr>
            <a:r>
              <a:rPr dirty="0" sz="600" spc="-25" b="1">
                <a:solidFill>
                  <a:srgbClr val="595958"/>
                </a:solidFill>
                <a:latin typeface="Calibri"/>
                <a:cs typeface="Calibri"/>
              </a:rPr>
              <a:t>14</a:t>
            </a:r>
            <a:endParaRPr sz="600">
              <a:latin typeface="Calibri"/>
              <a:cs typeface="Calibri"/>
            </a:endParaRPr>
          </a:p>
          <a:p>
            <a:pPr>
              <a:lnSpc>
                <a:spcPct val="100000"/>
              </a:lnSpc>
              <a:spcBef>
                <a:spcPts val="120"/>
              </a:spcBef>
            </a:pPr>
            <a:r>
              <a:rPr dirty="0" sz="600" spc="-25" b="1">
                <a:solidFill>
                  <a:srgbClr val="595958"/>
                </a:solidFill>
                <a:latin typeface="Calibri"/>
                <a:cs typeface="Calibri"/>
              </a:rPr>
              <a:t>12</a:t>
            </a:r>
            <a:endParaRPr sz="600">
              <a:latin typeface="Calibri"/>
              <a:cs typeface="Calibri"/>
            </a:endParaRPr>
          </a:p>
          <a:p>
            <a:pPr>
              <a:lnSpc>
                <a:spcPct val="100000"/>
              </a:lnSpc>
              <a:spcBef>
                <a:spcPts val="120"/>
              </a:spcBef>
            </a:pPr>
            <a:r>
              <a:rPr dirty="0" sz="600" spc="-25" b="1">
                <a:solidFill>
                  <a:srgbClr val="595958"/>
                </a:solidFill>
                <a:latin typeface="Calibri"/>
                <a:cs typeface="Calibri"/>
              </a:rPr>
              <a:t>10</a:t>
            </a:r>
            <a:endParaRPr sz="600">
              <a:latin typeface="Calibri"/>
              <a:cs typeface="Calibri"/>
            </a:endParaRPr>
          </a:p>
          <a:p>
            <a:pPr marL="37465">
              <a:lnSpc>
                <a:spcPct val="100000"/>
              </a:lnSpc>
              <a:spcBef>
                <a:spcPts val="120"/>
              </a:spcBef>
            </a:pPr>
            <a:r>
              <a:rPr dirty="0" sz="600" spc="-50" b="1">
                <a:solidFill>
                  <a:srgbClr val="595958"/>
                </a:solidFill>
                <a:latin typeface="Calibri"/>
                <a:cs typeface="Calibri"/>
              </a:rPr>
              <a:t>8</a:t>
            </a:r>
            <a:endParaRPr sz="600">
              <a:latin typeface="Calibri"/>
              <a:cs typeface="Calibri"/>
            </a:endParaRPr>
          </a:p>
          <a:p>
            <a:pPr marL="37465">
              <a:lnSpc>
                <a:spcPct val="100000"/>
              </a:lnSpc>
              <a:spcBef>
                <a:spcPts val="120"/>
              </a:spcBef>
            </a:pPr>
            <a:r>
              <a:rPr dirty="0" sz="600" spc="-50" b="1">
                <a:solidFill>
                  <a:srgbClr val="595958"/>
                </a:solidFill>
                <a:latin typeface="Calibri"/>
                <a:cs typeface="Calibri"/>
              </a:rPr>
              <a:t>6</a:t>
            </a:r>
            <a:endParaRPr sz="600">
              <a:latin typeface="Calibri"/>
              <a:cs typeface="Calibri"/>
            </a:endParaRPr>
          </a:p>
          <a:p>
            <a:pPr marL="37465">
              <a:lnSpc>
                <a:spcPct val="100000"/>
              </a:lnSpc>
              <a:spcBef>
                <a:spcPts val="120"/>
              </a:spcBef>
            </a:pPr>
            <a:r>
              <a:rPr dirty="0" sz="600" spc="-50" b="1">
                <a:solidFill>
                  <a:srgbClr val="595958"/>
                </a:solidFill>
                <a:latin typeface="Calibri"/>
                <a:cs typeface="Calibri"/>
              </a:rPr>
              <a:t>4</a:t>
            </a:r>
            <a:endParaRPr sz="600">
              <a:latin typeface="Calibri"/>
              <a:cs typeface="Calibri"/>
            </a:endParaRPr>
          </a:p>
          <a:p>
            <a:pPr marL="37465">
              <a:lnSpc>
                <a:spcPct val="100000"/>
              </a:lnSpc>
              <a:spcBef>
                <a:spcPts val="120"/>
              </a:spcBef>
            </a:pPr>
            <a:r>
              <a:rPr dirty="0" sz="600" spc="-50" b="1">
                <a:solidFill>
                  <a:srgbClr val="595958"/>
                </a:solidFill>
                <a:latin typeface="Calibri"/>
                <a:cs typeface="Calibri"/>
              </a:rPr>
              <a:t>2</a:t>
            </a:r>
            <a:endParaRPr sz="600">
              <a:latin typeface="Calibri"/>
              <a:cs typeface="Calibri"/>
            </a:endParaRPr>
          </a:p>
          <a:p>
            <a:pPr marL="37465">
              <a:lnSpc>
                <a:spcPct val="100000"/>
              </a:lnSpc>
              <a:spcBef>
                <a:spcPts val="120"/>
              </a:spcBef>
            </a:pPr>
            <a:r>
              <a:rPr dirty="0" sz="600" spc="-50" b="1">
                <a:solidFill>
                  <a:srgbClr val="595958"/>
                </a:solidFill>
                <a:latin typeface="Calibri"/>
                <a:cs typeface="Calibri"/>
              </a:rPr>
              <a:t>0</a:t>
            </a:r>
            <a:endParaRPr sz="600">
              <a:latin typeface="Calibri"/>
              <a:cs typeface="Calibri"/>
            </a:endParaRPr>
          </a:p>
        </p:txBody>
      </p:sp>
      <p:sp>
        <p:nvSpPr>
          <p:cNvPr id="21" name="object 21" descr=""/>
          <p:cNvSpPr txBox="1"/>
          <p:nvPr/>
        </p:nvSpPr>
        <p:spPr>
          <a:xfrm>
            <a:off x="1259241" y="2703261"/>
            <a:ext cx="911225" cy="115570"/>
          </a:xfrm>
          <a:prstGeom prst="rect">
            <a:avLst/>
          </a:prstGeom>
        </p:spPr>
        <p:txBody>
          <a:bodyPr wrap="square" lIns="0" tIns="11430" rIns="0" bIns="0" rtlCol="0" vert="horz">
            <a:spAutoFit/>
          </a:bodyPr>
          <a:lstStyle/>
          <a:p>
            <a:pPr>
              <a:lnSpc>
                <a:spcPct val="100000"/>
              </a:lnSpc>
              <a:spcBef>
                <a:spcPts val="90"/>
              </a:spcBef>
              <a:tabLst>
                <a:tab pos="332105" algn="l"/>
              </a:tabLst>
            </a:pPr>
            <a:r>
              <a:rPr dirty="0" sz="600">
                <a:solidFill>
                  <a:srgbClr val="595958"/>
                </a:solidFill>
                <a:latin typeface="SimSun"/>
                <a:cs typeface="SimSun"/>
              </a:rPr>
              <a:t>玻</a:t>
            </a:r>
            <a:r>
              <a:rPr dirty="0" sz="600" spc="-50">
                <a:solidFill>
                  <a:srgbClr val="595958"/>
                </a:solidFill>
                <a:latin typeface="SimSun"/>
                <a:cs typeface="SimSun"/>
              </a:rPr>
              <a:t>璃</a:t>
            </a:r>
            <a:r>
              <a:rPr dirty="0" sz="600">
                <a:solidFill>
                  <a:srgbClr val="595958"/>
                </a:solidFill>
                <a:latin typeface="SimSun"/>
                <a:cs typeface="SimSun"/>
              </a:rPr>
              <a:t>	车内</a:t>
            </a:r>
            <a:r>
              <a:rPr dirty="0" sz="600" spc="120">
                <a:solidFill>
                  <a:srgbClr val="595958"/>
                </a:solidFill>
                <a:latin typeface="SimSun"/>
                <a:cs typeface="SimSun"/>
              </a:rPr>
              <a:t>  </a:t>
            </a:r>
            <a:r>
              <a:rPr dirty="0" sz="600">
                <a:solidFill>
                  <a:srgbClr val="595958"/>
                </a:solidFill>
                <a:latin typeface="SimSun"/>
                <a:cs typeface="SimSun"/>
              </a:rPr>
              <a:t>整车</a:t>
            </a:r>
            <a:r>
              <a:rPr dirty="0" sz="600" spc="-10">
                <a:solidFill>
                  <a:srgbClr val="595958"/>
                </a:solidFill>
                <a:latin typeface="SimSun"/>
                <a:cs typeface="SimSun"/>
              </a:rPr>
              <a:t>遮</a:t>
            </a:r>
            <a:r>
              <a:rPr dirty="0" sz="600" spc="-50">
                <a:solidFill>
                  <a:srgbClr val="595958"/>
                </a:solidFill>
                <a:latin typeface="SimSun"/>
                <a:cs typeface="SimSun"/>
              </a:rPr>
              <a:t>挡</a:t>
            </a:r>
            <a:endParaRPr sz="600">
              <a:latin typeface="SimSun"/>
              <a:cs typeface="SimSun"/>
            </a:endParaRPr>
          </a:p>
        </p:txBody>
      </p:sp>
      <p:sp>
        <p:nvSpPr>
          <p:cNvPr id="22" name="object 22" descr=""/>
          <p:cNvSpPr txBox="1"/>
          <p:nvPr/>
        </p:nvSpPr>
        <p:spPr>
          <a:xfrm>
            <a:off x="2922409" y="2703261"/>
            <a:ext cx="835660" cy="115570"/>
          </a:xfrm>
          <a:prstGeom prst="rect">
            <a:avLst/>
          </a:prstGeom>
        </p:spPr>
        <p:txBody>
          <a:bodyPr wrap="square" lIns="0" tIns="11430" rIns="0" bIns="0" rtlCol="0" vert="horz">
            <a:spAutoFit/>
          </a:bodyPr>
          <a:lstStyle/>
          <a:p>
            <a:pPr>
              <a:lnSpc>
                <a:spcPct val="100000"/>
              </a:lnSpc>
              <a:spcBef>
                <a:spcPts val="90"/>
              </a:spcBef>
            </a:pPr>
            <a:r>
              <a:rPr dirty="0" sz="600" spc="15">
                <a:solidFill>
                  <a:srgbClr val="595958"/>
                </a:solidFill>
                <a:latin typeface="SimSun"/>
                <a:cs typeface="SimSun"/>
              </a:rPr>
              <a:t>墙体  手握遮挡  树木</a:t>
            </a:r>
            <a:endParaRPr sz="600">
              <a:latin typeface="SimSun"/>
              <a:cs typeface="SimSun"/>
            </a:endParaRPr>
          </a:p>
        </p:txBody>
      </p:sp>
      <p:sp>
        <p:nvSpPr>
          <p:cNvPr id="23" name="object 23" descr=""/>
          <p:cNvSpPr txBox="1"/>
          <p:nvPr/>
        </p:nvSpPr>
        <p:spPr>
          <a:xfrm>
            <a:off x="1562045" y="1347566"/>
            <a:ext cx="1806575" cy="415925"/>
          </a:xfrm>
          <a:prstGeom prst="rect">
            <a:avLst/>
          </a:prstGeom>
        </p:spPr>
        <p:txBody>
          <a:bodyPr wrap="square" lIns="0" tIns="12700" rIns="0" bIns="0" rtlCol="0" vert="horz">
            <a:spAutoFit/>
          </a:bodyPr>
          <a:lstStyle/>
          <a:p>
            <a:pPr>
              <a:lnSpc>
                <a:spcPct val="100000"/>
              </a:lnSpc>
              <a:spcBef>
                <a:spcPts val="100"/>
              </a:spcBef>
            </a:pPr>
            <a:r>
              <a:rPr dirty="0" sz="1050" spc="-10" b="1">
                <a:solidFill>
                  <a:srgbClr val="595958"/>
                </a:solidFill>
                <a:latin typeface="Calibri"/>
                <a:cs typeface="Calibri"/>
              </a:rPr>
              <a:t>1.8GHz</a:t>
            </a:r>
            <a:r>
              <a:rPr dirty="0" sz="1050">
                <a:solidFill>
                  <a:srgbClr val="595958"/>
                </a:solidFill>
                <a:latin typeface="SimSun"/>
                <a:cs typeface="SimSun"/>
              </a:rPr>
              <a:t>和</a:t>
            </a:r>
            <a:r>
              <a:rPr dirty="0" sz="1050" spc="-10" b="1">
                <a:solidFill>
                  <a:srgbClr val="595958"/>
                </a:solidFill>
                <a:latin typeface="Calibri"/>
                <a:cs typeface="Calibri"/>
              </a:rPr>
              <a:t>3.5GHz</a:t>
            </a:r>
            <a:r>
              <a:rPr dirty="0" sz="1050" spc="-10">
                <a:solidFill>
                  <a:srgbClr val="595958"/>
                </a:solidFill>
                <a:latin typeface="SimSun"/>
                <a:cs typeface="SimSun"/>
              </a:rPr>
              <a:t>穿透损耗对比</a:t>
            </a:r>
            <a:endParaRPr sz="1050">
              <a:latin typeface="SimSun"/>
              <a:cs typeface="SimSun"/>
            </a:endParaRPr>
          </a:p>
          <a:p>
            <a:pPr marL="325755">
              <a:lnSpc>
                <a:spcPts val="590"/>
              </a:lnSpc>
              <a:spcBef>
                <a:spcPts val="635"/>
              </a:spcBef>
            </a:pPr>
            <a:r>
              <a:rPr dirty="0" sz="600" spc="-20" b="1">
                <a:solidFill>
                  <a:srgbClr val="3E3E3E"/>
                </a:solidFill>
                <a:latin typeface="Calibri"/>
                <a:cs typeface="Calibri"/>
              </a:rPr>
              <a:t>17.9</a:t>
            </a:r>
            <a:endParaRPr sz="600">
              <a:latin typeface="Calibri"/>
              <a:cs typeface="Calibri"/>
            </a:endParaRPr>
          </a:p>
          <a:p>
            <a:pPr marL="1656080">
              <a:lnSpc>
                <a:spcPts val="590"/>
              </a:lnSpc>
            </a:pPr>
            <a:r>
              <a:rPr dirty="0" sz="600" spc="-20" b="1">
                <a:solidFill>
                  <a:srgbClr val="3E3E3E"/>
                </a:solidFill>
                <a:latin typeface="Calibri"/>
                <a:cs typeface="Calibri"/>
              </a:rPr>
              <a:t>16.8</a:t>
            </a:r>
            <a:endParaRPr sz="600">
              <a:latin typeface="Calibri"/>
              <a:cs typeface="Calibri"/>
            </a:endParaRPr>
          </a:p>
        </p:txBody>
      </p:sp>
      <p:grpSp>
        <p:nvGrpSpPr>
          <p:cNvPr id="24" name="object 24" descr=""/>
          <p:cNvGrpSpPr/>
          <p:nvPr/>
        </p:nvGrpSpPr>
        <p:grpSpPr>
          <a:xfrm>
            <a:off x="2139514" y="2872970"/>
            <a:ext cx="384810" cy="39370"/>
            <a:chOff x="2139514" y="2872970"/>
            <a:chExt cx="384810" cy="39370"/>
          </a:xfrm>
        </p:grpSpPr>
        <p:sp>
          <p:nvSpPr>
            <p:cNvPr id="25" name="object 25" descr=""/>
            <p:cNvSpPr/>
            <p:nvPr/>
          </p:nvSpPr>
          <p:spPr>
            <a:xfrm>
              <a:off x="2139514" y="2872970"/>
              <a:ext cx="39370" cy="39370"/>
            </a:xfrm>
            <a:custGeom>
              <a:avLst/>
              <a:gdLst/>
              <a:ahLst/>
              <a:cxnLst/>
              <a:rect l="l" t="t" r="r" b="b"/>
              <a:pathLst>
                <a:path w="39369" h="39369">
                  <a:moveTo>
                    <a:pt x="39290" y="38866"/>
                  </a:moveTo>
                  <a:lnTo>
                    <a:pt x="0" y="38866"/>
                  </a:lnTo>
                  <a:lnTo>
                    <a:pt x="0" y="0"/>
                  </a:lnTo>
                  <a:lnTo>
                    <a:pt x="39290" y="0"/>
                  </a:lnTo>
                  <a:lnTo>
                    <a:pt x="39290" y="38866"/>
                  </a:lnTo>
                  <a:close/>
                </a:path>
              </a:pathLst>
            </a:custGeom>
            <a:solidFill>
              <a:srgbClr val="4F81BD"/>
            </a:solidFill>
          </p:spPr>
          <p:txBody>
            <a:bodyPr wrap="square" lIns="0" tIns="0" rIns="0" bIns="0" rtlCol="0"/>
            <a:lstStyle/>
            <a:p/>
          </p:txBody>
        </p:sp>
        <p:sp>
          <p:nvSpPr>
            <p:cNvPr id="26" name="object 26" descr=""/>
            <p:cNvSpPr/>
            <p:nvPr/>
          </p:nvSpPr>
          <p:spPr>
            <a:xfrm>
              <a:off x="2482009" y="2872970"/>
              <a:ext cx="42545" cy="39370"/>
            </a:xfrm>
            <a:custGeom>
              <a:avLst/>
              <a:gdLst/>
              <a:ahLst/>
              <a:cxnLst/>
              <a:rect l="l" t="t" r="r" b="b"/>
              <a:pathLst>
                <a:path w="42544" h="39369">
                  <a:moveTo>
                    <a:pt x="42096" y="38866"/>
                  </a:moveTo>
                  <a:lnTo>
                    <a:pt x="0" y="38866"/>
                  </a:lnTo>
                  <a:lnTo>
                    <a:pt x="0" y="0"/>
                  </a:lnTo>
                  <a:lnTo>
                    <a:pt x="42096" y="0"/>
                  </a:lnTo>
                  <a:lnTo>
                    <a:pt x="42096" y="38866"/>
                  </a:lnTo>
                  <a:close/>
                </a:path>
              </a:pathLst>
            </a:custGeom>
            <a:solidFill>
              <a:srgbClr val="C0504D"/>
            </a:solidFill>
          </p:spPr>
          <p:txBody>
            <a:bodyPr wrap="square" lIns="0" tIns="0" rIns="0" bIns="0" rtlCol="0"/>
            <a:lstStyle/>
            <a:p/>
          </p:txBody>
        </p:sp>
      </p:grpSp>
      <p:sp>
        <p:nvSpPr>
          <p:cNvPr id="27" name="object 27" descr=""/>
          <p:cNvSpPr txBox="1"/>
          <p:nvPr/>
        </p:nvSpPr>
        <p:spPr>
          <a:xfrm>
            <a:off x="2199167" y="2671881"/>
            <a:ext cx="577215" cy="268605"/>
          </a:xfrm>
          <a:prstGeom prst="rect">
            <a:avLst/>
          </a:prstGeom>
        </p:spPr>
        <p:txBody>
          <a:bodyPr wrap="square" lIns="0" tIns="42545" rIns="0" bIns="0" rtlCol="0" vert="horz">
            <a:spAutoFit/>
          </a:bodyPr>
          <a:lstStyle/>
          <a:p>
            <a:pPr marL="57785">
              <a:lnSpc>
                <a:spcPct val="100000"/>
              </a:lnSpc>
              <a:spcBef>
                <a:spcPts val="335"/>
              </a:spcBef>
              <a:tabLst>
                <a:tab pos="390525" algn="l"/>
              </a:tabLst>
            </a:pPr>
            <a:r>
              <a:rPr dirty="0" sz="600">
                <a:solidFill>
                  <a:srgbClr val="595958"/>
                </a:solidFill>
                <a:latin typeface="SimSun"/>
                <a:cs typeface="SimSun"/>
              </a:rPr>
              <a:t>木</a:t>
            </a:r>
            <a:r>
              <a:rPr dirty="0" sz="600" spc="-50">
                <a:solidFill>
                  <a:srgbClr val="595958"/>
                </a:solidFill>
                <a:latin typeface="SimSun"/>
                <a:cs typeface="SimSun"/>
              </a:rPr>
              <a:t>们</a:t>
            </a:r>
            <a:r>
              <a:rPr dirty="0" sz="600">
                <a:solidFill>
                  <a:srgbClr val="595958"/>
                </a:solidFill>
                <a:latin typeface="SimSun"/>
                <a:cs typeface="SimSun"/>
              </a:rPr>
              <a:t>	人</a:t>
            </a:r>
            <a:r>
              <a:rPr dirty="0" sz="600" spc="-50">
                <a:solidFill>
                  <a:srgbClr val="595958"/>
                </a:solidFill>
                <a:latin typeface="SimSun"/>
                <a:cs typeface="SimSun"/>
              </a:rPr>
              <a:t>体</a:t>
            </a:r>
            <a:endParaRPr sz="600">
              <a:latin typeface="SimSun"/>
              <a:cs typeface="SimSun"/>
            </a:endParaRPr>
          </a:p>
          <a:p>
            <a:pPr>
              <a:lnSpc>
                <a:spcPct val="100000"/>
              </a:lnSpc>
              <a:spcBef>
                <a:spcPts val="235"/>
              </a:spcBef>
            </a:pPr>
            <a:r>
              <a:rPr dirty="0" sz="600" b="1">
                <a:solidFill>
                  <a:srgbClr val="595958"/>
                </a:solidFill>
                <a:latin typeface="Calibri"/>
                <a:cs typeface="Calibri"/>
              </a:rPr>
              <a:t>3.5GHz</a:t>
            </a:r>
            <a:r>
              <a:rPr dirty="0" sz="600" spc="325" b="1">
                <a:solidFill>
                  <a:srgbClr val="595958"/>
                </a:solidFill>
                <a:latin typeface="Calibri"/>
                <a:cs typeface="Calibri"/>
              </a:rPr>
              <a:t>  </a:t>
            </a:r>
            <a:r>
              <a:rPr dirty="0" sz="600" spc="-10" b="1">
                <a:solidFill>
                  <a:srgbClr val="595958"/>
                </a:solidFill>
                <a:latin typeface="Calibri"/>
                <a:cs typeface="Calibri"/>
              </a:rPr>
              <a:t>1.8GHz</a:t>
            </a:r>
            <a:endParaRPr sz="600">
              <a:latin typeface="Calibri"/>
              <a:cs typeface="Calibri"/>
            </a:endParaRPr>
          </a:p>
        </p:txBody>
      </p:sp>
      <p:sp>
        <p:nvSpPr>
          <p:cNvPr id="28" name="object 28" descr=""/>
          <p:cNvSpPr/>
          <p:nvPr/>
        </p:nvSpPr>
        <p:spPr>
          <a:xfrm>
            <a:off x="1001141" y="1333897"/>
            <a:ext cx="2872105" cy="1635125"/>
          </a:xfrm>
          <a:custGeom>
            <a:avLst/>
            <a:gdLst/>
            <a:ahLst/>
            <a:cxnLst/>
            <a:rect l="l" t="t" r="r" b="b"/>
            <a:pathLst>
              <a:path w="2872104" h="1635125">
                <a:moveTo>
                  <a:pt x="0" y="0"/>
                </a:moveTo>
                <a:lnTo>
                  <a:pt x="2871893" y="0"/>
                </a:lnTo>
                <a:lnTo>
                  <a:pt x="2871893" y="1634832"/>
                </a:lnTo>
                <a:lnTo>
                  <a:pt x="0" y="1634832"/>
                </a:lnTo>
                <a:lnTo>
                  <a:pt x="0" y="0"/>
                </a:lnTo>
                <a:close/>
              </a:path>
            </a:pathLst>
          </a:custGeom>
          <a:ln w="3175">
            <a:solidFill>
              <a:srgbClr val="DADADA"/>
            </a:solidFill>
          </a:ln>
        </p:spPr>
        <p:txBody>
          <a:bodyPr wrap="square" lIns="0" tIns="0" rIns="0" bIns="0" rtlCol="0"/>
          <a:lstStyle/>
          <a:p/>
        </p:txBody>
      </p:sp>
      <p:grpSp>
        <p:nvGrpSpPr>
          <p:cNvPr id="29" name="object 29" descr=""/>
          <p:cNvGrpSpPr/>
          <p:nvPr/>
        </p:nvGrpSpPr>
        <p:grpSpPr>
          <a:xfrm>
            <a:off x="4501973" y="985855"/>
            <a:ext cx="3699510" cy="2516505"/>
            <a:chOff x="4501973" y="985855"/>
            <a:chExt cx="3699510" cy="2516505"/>
          </a:xfrm>
        </p:grpSpPr>
        <p:pic>
          <p:nvPicPr>
            <p:cNvPr id="30" name="object 30"/>
            <p:cNvPicPr/>
            <p:nvPr/>
          </p:nvPicPr>
          <p:blipFill>
            <a:blip r:embed="rId2" cstate="print"/>
            <a:stretch>
              <a:fillRect/>
            </a:stretch>
          </p:blipFill>
          <p:spPr>
            <a:xfrm>
              <a:off x="4567720" y="1195044"/>
              <a:ext cx="878545" cy="950302"/>
            </a:xfrm>
            <a:prstGeom prst="rect">
              <a:avLst/>
            </a:prstGeom>
          </p:spPr>
        </p:pic>
        <p:pic>
          <p:nvPicPr>
            <p:cNvPr id="31" name="object 31"/>
            <p:cNvPicPr/>
            <p:nvPr/>
          </p:nvPicPr>
          <p:blipFill>
            <a:blip r:embed="rId3" cstate="print"/>
            <a:stretch>
              <a:fillRect/>
            </a:stretch>
          </p:blipFill>
          <p:spPr>
            <a:xfrm>
              <a:off x="5488101" y="1195044"/>
              <a:ext cx="890498" cy="950302"/>
            </a:xfrm>
            <a:prstGeom prst="rect">
              <a:avLst/>
            </a:prstGeom>
          </p:spPr>
        </p:pic>
        <p:pic>
          <p:nvPicPr>
            <p:cNvPr id="32" name="object 32"/>
            <p:cNvPicPr/>
            <p:nvPr/>
          </p:nvPicPr>
          <p:blipFill>
            <a:blip r:embed="rId4" cstate="print"/>
            <a:stretch>
              <a:fillRect/>
            </a:stretch>
          </p:blipFill>
          <p:spPr>
            <a:xfrm>
              <a:off x="6456299" y="1195044"/>
              <a:ext cx="884212" cy="950302"/>
            </a:xfrm>
            <a:prstGeom prst="rect">
              <a:avLst/>
            </a:prstGeom>
          </p:spPr>
        </p:pic>
        <p:pic>
          <p:nvPicPr>
            <p:cNvPr id="33" name="object 33"/>
            <p:cNvPicPr/>
            <p:nvPr/>
          </p:nvPicPr>
          <p:blipFill>
            <a:blip r:embed="rId5" cstate="print"/>
            <a:stretch>
              <a:fillRect/>
            </a:stretch>
          </p:blipFill>
          <p:spPr>
            <a:xfrm>
              <a:off x="7382662" y="1195044"/>
              <a:ext cx="782916" cy="950302"/>
            </a:xfrm>
            <a:prstGeom prst="rect">
              <a:avLst/>
            </a:prstGeom>
          </p:spPr>
        </p:pic>
        <p:pic>
          <p:nvPicPr>
            <p:cNvPr id="34" name="object 34"/>
            <p:cNvPicPr/>
            <p:nvPr/>
          </p:nvPicPr>
          <p:blipFill>
            <a:blip r:embed="rId6" cstate="print"/>
            <a:stretch>
              <a:fillRect/>
            </a:stretch>
          </p:blipFill>
          <p:spPr>
            <a:xfrm>
              <a:off x="4555769" y="2468092"/>
              <a:ext cx="878543" cy="998114"/>
            </a:xfrm>
            <a:prstGeom prst="rect">
              <a:avLst/>
            </a:prstGeom>
          </p:spPr>
        </p:pic>
        <p:pic>
          <p:nvPicPr>
            <p:cNvPr id="35" name="object 35"/>
            <p:cNvPicPr/>
            <p:nvPr/>
          </p:nvPicPr>
          <p:blipFill>
            <a:blip r:embed="rId7" cstate="print"/>
            <a:stretch>
              <a:fillRect/>
            </a:stretch>
          </p:blipFill>
          <p:spPr>
            <a:xfrm>
              <a:off x="5494083" y="2468092"/>
              <a:ext cx="860612" cy="998114"/>
            </a:xfrm>
            <a:prstGeom prst="rect">
              <a:avLst/>
            </a:prstGeom>
          </p:spPr>
        </p:pic>
        <p:pic>
          <p:nvPicPr>
            <p:cNvPr id="36" name="object 36"/>
            <p:cNvPicPr/>
            <p:nvPr/>
          </p:nvPicPr>
          <p:blipFill>
            <a:blip r:embed="rId8" cstate="print"/>
            <a:stretch>
              <a:fillRect/>
            </a:stretch>
          </p:blipFill>
          <p:spPr>
            <a:xfrm>
              <a:off x="6510085" y="2450160"/>
              <a:ext cx="824759" cy="1004087"/>
            </a:xfrm>
            <a:prstGeom prst="rect">
              <a:avLst/>
            </a:prstGeom>
          </p:spPr>
        </p:pic>
        <p:pic>
          <p:nvPicPr>
            <p:cNvPr id="37" name="object 37"/>
            <p:cNvPicPr/>
            <p:nvPr/>
          </p:nvPicPr>
          <p:blipFill>
            <a:blip r:embed="rId9" cstate="print"/>
            <a:stretch>
              <a:fillRect/>
            </a:stretch>
          </p:blipFill>
          <p:spPr>
            <a:xfrm>
              <a:off x="7388633" y="2462114"/>
              <a:ext cx="794876" cy="1004084"/>
            </a:xfrm>
            <a:prstGeom prst="rect">
              <a:avLst/>
            </a:prstGeom>
          </p:spPr>
        </p:pic>
        <p:sp>
          <p:nvSpPr>
            <p:cNvPr id="38" name="object 38" descr=""/>
            <p:cNvSpPr/>
            <p:nvPr/>
          </p:nvSpPr>
          <p:spPr>
            <a:xfrm>
              <a:off x="4504964" y="988846"/>
              <a:ext cx="1906905" cy="1225550"/>
            </a:xfrm>
            <a:custGeom>
              <a:avLst/>
              <a:gdLst/>
              <a:ahLst/>
              <a:cxnLst/>
              <a:rect l="l" t="t" r="r" b="b"/>
              <a:pathLst>
                <a:path w="1906904" h="1225550">
                  <a:moveTo>
                    <a:pt x="0" y="0"/>
                  </a:moveTo>
                  <a:lnTo>
                    <a:pt x="1906521" y="0"/>
                  </a:lnTo>
                  <a:lnTo>
                    <a:pt x="1906521" y="1225239"/>
                  </a:lnTo>
                  <a:lnTo>
                    <a:pt x="0" y="1225239"/>
                  </a:lnTo>
                  <a:lnTo>
                    <a:pt x="0" y="0"/>
                  </a:lnTo>
                  <a:close/>
                </a:path>
              </a:pathLst>
            </a:custGeom>
            <a:ln w="5982">
              <a:solidFill>
                <a:srgbClr val="41719C"/>
              </a:solidFill>
            </a:ln>
          </p:spPr>
          <p:txBody>
            <a:bodyPr wrap="square" lIns="0" tIns="0" rIns="0" bIns="0" rtlCol="0"/>
            <a:lstStyle/>
            <a:p/>
          </p:txBody>
        </p:sp>
        <p:sp>
          <p:nvSpPr>
            <p:cNvPr id="39" name="object 39" descr=""/>
            <p:cNvSpPr/>
            <p:nvPr/>
          </p:nvSpPr>
          <p:spPr>
            <a:xfrm>
              <a:off x="6453308" y="988846"/>
              <a:ext cx="1745614" cy="1225550"/>
            </a:xfrm>
            <a:custGeom>
              <a:avLst/>
              <a:gdLst/>
              <a:ahLst/>
              <a:cxnLst/>
              <a:rect l="l" t="t" r="r" b="b"/>
              <a:pathLst>
                <a:path w="1745615" h="1225550">
                  <a:moveTo>
                    <a:pt x="0" y="0"/>
                  </a:moveTo>
                  <a:lnTo>
                    <a:pt x="1745135" y="0"/>
                  </a:lnTo>
                  <a:lnTo>
                    <a:pt x="1745135" y="1225228"/>
                  </a:lnTo>
                  <a:lnTo>
                    <a:pt x="0" y="1225228"/>
                  </a:lnTo>
                  <a:lnTo>
                    <a:pt x="0" y="0"/>
                  </a:lnTo>
                  <a:close/>
                </a:path>
              </a:pathLst>
            </a:custGeom>
            <a:ln w="5982">
              <a:solidFill>
                <a:srgbClr val="41719C"/>
              </a:solidFill>
            </a:ln>
          </p:spPr>
          <p:txBody>
            <a:bodyPr wrap="square" lIns="0" tIns="0" rIns="0" bIns="0" rtlCol="0"/>
            <a:lstStyle/>
            <a:p/>
          </p:txBody>
        </p:sp>
        <p:sp>
          <p:nvSpPr>
            <p:cNvPr id="40" name="object 40" descr=""/>
            <p:cNvSpPr/>
            <p:nvPr/>
          </p:nvSpPr>
          <p:spPr>
            <a:xfrm>
              <a:off x="4504964" y="2273846"/>
              <a:ext cx="1906905" cy="1225550"/>
            </a:xfrm>
            <a:custGeom>
              <a:avLst/>
              <a:gdLst/>
              <a:ahLst/>
              <a:cxnLst/>
              <a:rect l="l" t="t" r="r" b="b"/>
              <a:pathLst>
                <a:path w="1906904" h="1225550">
                  <a:moveTo>
                    <a:pt x="0" y="0"/>
                  </a:moveTo>
                  <a:lnTo>
                    <a:pt x="1906521" y="0"/>
                  </a:lnTo>
                  <a:lnTo>
                    <a:pt x="1906521" y="1225239"/>
                  </a:lnTo>
                  <a:lnTo>
                    <a:pt x="0" y="1225239"/>
                  </a:lnTo>
                  <a:lnTo>
                    <a:pt x="0" y="0"/>
                  </a:lnTo>
                  <a:close/>
                </a:path>
              </a:pathLst>
            </a:custGeom>
            <a:ln w="5982">
              <a:solidFill>
                <a:srgbClr val="41719C"/>
              </a:solidFill>
            </a:ln>
          </p:spPr>
          <p:txBody>
            <a:bodyPr wrap="square" lIns="0" tIns="0" rIns="0" bIns="0" rtlCol="0"/>
            <a:lstStyle/>
            <a:p/>
          </p:txBody>
        </p:sp>
        <p:sp>
          <p:nvSpPr>
            <p:cNvPr id="41" name="object 41" descr=""/>
            <p:cNvSpPr/>
            <p:nvPr/>
          </p:nvSpPr>
          <p:spPr>
            <a:xfrm>
              <a:off x="6453308" y="2261893"/>
              <a:ext cx="1745614" cy="1225550"/>
            </a:xfrm>
            <a:custGeom>
              <a:avLst/>
              <a:gdLst/>
              <a:ahLst/>
              <a:cxnLst/>
              <a:rect l="l" t="t" r="r" b="b"/>
              <a:pathLst>
                <a:path w="1745615" h="1225550">
                  <a:moveTo>
                    <a:pt x="0" y="0"/>
                  </a:moveTo>
                  <a:lnTo>
                    <a:pt x="1745135" y="0"/>
                  </a:lnTo>
                  <a:lnTo>
                    <a:pt x="1745135" y="1225228"/>
                  </a:lnTo>
                  <a:lnTo>
                    <a:pt x="0" y="1225228"/>
                  </a:lnTo>
                  <a:lnTo>
                    <a:pt x="0" y="0"/>
                  </a:lnTo>
                  <a:close/>
                </a:path>
              </a:pathLst>
            </a:custGeom>
            <a:ln w="5982">
              <a:solidFill>
                <a:srgbClr val="41719C"/>
              </a:solidFill>
            </a:ln>
          </p:spPr>
          <p:txBody>
            <a:bodyPr wrap="square" lIns="0" tIns="0" rIns="0" bIns="0" rtlCol="0"/>
            <a:lstStyle/>
            <a:p/>
          </p:txBody>
        </p:sp>
      </p:grpSp>
      <p:grpSp>
        <p:nvGrpSpPr>
          <p:cNvPr id="42" name="object 42" descr=""/>
          <p:cNvGrpSpPr/>
          <p:nvPr/>
        </p:nvGrpSpPr>
        <p:grpSpPr>
          <a:xfrm>
            <a:off x="4495996" y="3549879"/>
            <a:ext cx="3705860" cy="1231265"/>
            <a:chOff x="4495996" y="3549879"/>
            <a:chExt cx="3705860" cy="1231265"/>
          </a:xfrm>
        </p:grpSpPr>
        <p:pic>
          <p:nvPicPr>
            <p:cNvPr id="43" name="object 43"/>
            <p:cNvPicPr/>
            <p:nvPr/>
          </p:nvPicPr>
          <p:blipFill>
            <a:blip r:embed="rId10" cstate="print"/>
            <a:stretch>
              <a:fillRect/>
            </a:stretch>
          </p:blipFill>
          <p:spPr>
            <a:xfrm>
              <a:off x="4567720" y="3747114"/>
              <a:ext cx="866592" cy="1004082"/>
            </a:xfrm>
            <a:prstGeom prst="rect">
              <a:avLst/>
            </a:prstGeom>
          </p:spPr>
        </p:pic>
        <p:pic>
          <p:nvPicPr>
            <p:cNvPr id="44" name="object 44"/>
            <p:cNvPicPr/>
            <p:nvPr/>
          </p:nvPicPr>
          <p:blipFill>
            <a:blip r:embed="rId11" cstate="print"/>
            <a:stretch>
              <a:fillRect/>
            </a:stretch>
          </p:blipFill>
          <p:spPr>
            <a:xfrm>
              <a:off x="5494083" y="3747114"/>
              <a:ext cx="860612" cy="1010064"/>
            </a:xfrm>
            <a:prstGeom prst="rect">
              <a:avLst/>
            </a:prstGeom>
          </p:spPr>
        </p:pic>
        <p:sp>
          <p:nvSpPr>
            <p:cNvPr id="45" name="object 45" descr=""/>
            <p:cNvSpPr/>
            <p:nvPr/>
          </p:nvSpPr>
          <p:spPr>
            <a:xfrm>
              <a:off x="4498987" y="3552870"/>
              <a:ext cx="1900555" cy="1225550"/>
            </a:xfrm>
            <a:custGeom>
              <a:avLst/>
              <a:gdLst/>
              <a:ahLst/>
              <a:cxnLst/>
              <a:rect l="l" t="t" r="r" b="b"/>
              <a:pathLst>
                <a:path w="1900554" h="1225550">
                  <a:moveTo>
                    <a:pt x="0" y="0"/>
                  </a:moveTo>
                  <a:lnTo>
                    <a:pt x="1900547" y="0"/>
                  </a:lnTo>
                  <a:lnTo>
                    <a:pt x="1900547" y="1225240"/>
                  </a:lnTo>
                  <a:lnTo>
                    <a:pt x="0" y="1225240"/>
                  </a:lnTo>
                  <a:lnTo>
                    <a:pt x="0" y="0"/>
                  </a:lnTo>
                  <a:close/>
                </a:path>
              </a:pathLst>
            </a:custGeom>
            <a:ln w="5982">
              <a:solidFill>
                <a:srgbClr val="41719C"/>
              </a:solidFill>
            </a:ln>
          </p:spPr>
          <p:txBody>
            <a:bodyPr wrap="square" lIns="0" tIns="0" rIns="0" bIns="0" rtlCol="0"/>
            <a:lstStyle/>
            <a:p/>
          </p:txBody>
        </p:sp>
        <p:pic>
          <p:nvPicPr>
            <p:cNvPr id="46" name="object 46"/>
            <p:cNvPicPr/>
            <p:nvPr/>
          </p:nvPicPr>
          <p:blipFill>
            <a:blip r:embed="rId12" cstate="print"/>
            <a:stretch>
              <a:fillRect/>
            </a:stretch>
          </p:blipFill>
          <p:spPr>
            <a:xfrm>
              <a:off x="6498132" y="3759073"/>
              <a:ext cx="836710" cy="992134"/>
            </a:xfrm>
            <a:prstGeom prst="rect">
              <a:avLst/>
            </a:prstGeom>
          </p:spPr>
        </p:pic>
        <p:pic>
          <p:nvPicPr>
            <p:cNvPr id="47" name="object 47"/>
            <p:cNvPicPr/>
            <p:nvPr/>
          </p:nvPicPr>
          <p:blipFill>
            <a:blip r:embed="rId13" cstate="print"/>
            <a:stretch>
              <a:fillRect/>
            </a:stretch>
          </p:blipFill>
          <p:spPr>
            <a:xfrm>
              <a:off x="7400587" y="3759073"/>
              <a:ext cx="764992" cy="992133"/>
            </a:xfrm>
            <a:prstGeom prst="rect">
              <a:avLst/>
            </a:prstGeom>
          </p:spPr>
        </p:pic>
        <p:sp>
          <p:nvSpPr>
            <p:cNvPr id="48" name="object 48" descr=""/>
            <p:cNvSpPr/>
            <p:nvPr/>
          </p:nvSpPr>
          <p:spPr>
            <a:xfrm>
              <a:off x="6447332" y="3552870"/>
              <a:ext cx="1751330" cy="1225550"/>
            </a:xfrm>
            <a:custGeom>
              <a:avLst/>
              <a:gdLst/>
              <a:ahLst/>
              <a:cxnLst/>
              <a:rect l="l" t="t" r="r" b="b"/>
              <a:pathLst>
                <a:path w="1751329" h="1225550">
                  <a:moveTo>
                    <a:pt x="0" y="0"/>
                  </a:moveTo>
                  <a:lnTo>
                    <a:pt x="1751112" y="0"/>
                  </a:lnTo>
                  <a:lnTo>
                    <a:pt x="1751112" y="1225228"/>
                  </a:lnTo>
                  <a:lnTo>
                    <a:pt x="0" y="1225228"/>
                  </a:lnTo>
                  <a:lnTo>
                    <a:pt x="0" y="0"/>
                  </a:lnTo>
                  <a:close/>
                </a:path>
              </a:pathLst>
            </a:custGeom>
            <a:ln w="5982">
              <a:solidFill>
                <a:srgbClr val="41719C"/>
              </a:solidFill>
            </a:ln>
          </p:spPr>
          <p:txBody>
            <a:bodyPr wrap="square" lIns="0" tIns="0" rIns="0" bIns="0" rtlCol="0"/>
            <a:lstStyle/>
            <a:p/>
          </p:txBody>
        </p:sp>
      </p:grpSp>
      <p:grpSp>
        <p:nvGrpSpPr>
          <p:cNvPr id="49" name="object 49" descr=""/>
          <p:cNvGrpSpPr/>
          <p:nvPr/>
        </p:nvGrpSpPr>
        <p:grpSpPr>
          <a:xfrm>
            <a:off x="987781" y="3029901"/>
            <a:ext cx="2880995" cy="1524635"/>
            <a:chOff x="987781" y="3029901"/>
            <a:chExt cx="2880995" cy="1524635"/>
          </a:xfrm>
        </p:grpSpPr>
        <p:pic>
          <p:nvPicPr>
            <p:cNvPr id="50" name="object 50"/>
            <p:cNvPicPr/>
            <p:nvPr/>
          </p:nvPicPr>
          <p:blipFill>
            <a:blip r:embed="rId14" cstate="print"/>
            <a:stretch>
              <a:fillRect/>
            </a:stretch>
          </p:blipFill>
          <p:spPr>
            <a:xfrm>
              <a:off x="1158211" y="3126975"/>
              <a:ext cx="2576371" cy="1421021"/>
            </a:xfrm>
            <a:prstGeom prst="rect">
              <a:avLst/>
            </a:prstGeom>
          </p:spPr>
        </p:pic>
        <p:sp>
          <p:nvSpPr>
            <p:cNvPr id="51" name="object 51" descr=""/>
            <p:cNvSpPr/>
            <p:nvPr/>
          </p:nvSpPr>
          <p:spPr>
            <a:xfrm>
              <a:off x="990772" y="3032893"/>
              <a:ext cx="2875280" cy="1518285"/>
            </a:xfrm>
            <a:custGeom>
              <a:avLst/>
              <a:gdLst/>
              <a:ahLst/>
              <a:cxnLst/>
              <a:rect l="l" t="t" r="r" b="b"/>
              <a:pathLst>
                <a:path w="2875279" h="1518285">
                  <a:moveTo>
                    <a:pt x="0" y="0"/>
                  </a:moveTo>
                  <a:lnTo>
                    <a:pt x="2874686" y="0"/>
                  </a:lnTo>
                  <a:lnTo>
                    <a:pt x="2874686" y="1518083"/>
                  </a:lnTo>
                  <a:lnTo>
                    <a:pt x="0" y="1518083"/>
                  </a:lnTo>
                  <a:lnTo>
                    <a:pt x="0" y="0"/>
                  </a:lnTo>
                  <a:close/>
                </a:path>
              </a:pathLst>
            </a:custGeom>
            <a:ln w="5982">
              <a:solidFill>
                <a:srgbClr val="E7E6E6"/>
              </a:solidFill>
            </a:ln>
          </p:spPr>
          <p:txBody>
            <a:bodyPr wrap="square" lIns="0" tIns="0" rIns="0" bIns="0" rtlCol="0"/>
            <a:lstStyle/>
            <a:p/>
          </p:txBody>
        </p:sp>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6248" y="155036"/>
            <a:ext cx="4498340" cy="513080"/>
          </a:xfrm>
          <a:prstGeom prst="rect"/>
        </p:spPr>
        <p:txBody>
          <a:bodyPr wrap="square" lIns="0" tIns="12065" rIns="0" bIns="0" rtlCol="0" vert="horz">
            <a:spAutoFit/>
          </a:bodyPr>
          <a:lstStyle/>
          <a:p>
            <a:pPr marL="12700">
              <a:lnSpc>
                <a:spcPct val="100000"/>
              </a:lnSpc>
              <a:spcBef>
                <a:spcPts val="95"/>
              </a:spcBef>
            </a:pPr>
            <a:r>
              <a:rPr dirty="0" spc="-45"/>
              <a:t>中国联通武汉试验网介绍</a:t>
            </a:r>
          </a:p>
        </p:txBody>
      </p:sp>
      <p:grpSp>
        <p:nvGrpSpPr>
          <p:cNvPr id="3" name="object 3" descr=""/>
          <p:cNvGrpSpPr/>
          <p:nvPr/>
        </p:nvGrpSpPr>
        <p:grpSpPr>
          <a:xfrm>
            <a:off x="344693" y="1867241"/>
            <a:ext cx="511175" cy="323850"/>
            <a:chOff x="344693" y="1867241"/>
            <a:chExt cx="511175" cy="323850"/>
          </a:xfrm>
        </p:grpSpPr>
        <p:sp>
          <p:nvSpPr>
            <p:cNvPr id="4" name="object 4" descr=""/>
            <p:cNvSpPr/>
            <p:nvPr/>
          </p:nvSpPr>
          <p:spPr>
            <a:xfrm>
              <a:off x="392376" y="1867241"/>
              <a:ext cx="463550" cy="323850"/>
            </a:xfrm>
            <a:custGeom>
              <a:avLst/>
              <a:gdLst/>
              <a:ahLst/>
              <a:cxnLst/>
              <a:rect l="l" t="t" r="r" b="b"/>
              <a:pathLst>
                <a:path w="463550" h="323850">
                  <a:moveTo>
                    <a:pt x="301294" y="0"/>
                  </a:moveTo>
                  <a:lnTo>
                    <a:pt x="0" y="0"/>
                  </a:lnTo>
                  <a:lnTo>
                    <a:pt x="0" y="323850"/>
                  </a:lnTo>
                  <a:lnTo>
                    <a:pt x="301294" y="323850"/>
                  </a:lnTo>
                  <a:lnTo>
                    <a:pt x="463219" y="161925"/>
                  </a:lnTo>
                  <a:lnTo>
                    <a:pt x="301294" y="0"/>
                  </a:lnTo>
                  <a:close/>
                </a:path>
              </a:pathLst>
            </a:custGeom>
            <a:solidFill>
              <a:srgbClr val="E4F3F4"/>
            </a:solidFill>
          </p:spPr>
          <p:txBody>
            <a:bodyPr wrap="square" lIns="0" tIns="0" rIns="0" bIns="0" rtlCol="0"/>
            <a:lstStyle/>
            <a:p/>
          </p:txBody>
        </p:sp>
        <p:sp>
          <p:nvSpPr>
            <p:cNvPr id="5" name="object 5" descr=""/>
            <p:cNvSpPr/>
            <p:nvPr/>
          </p:nvSpPr>
          <p:spPr>
            <a:xfrm>
              <a:off x="344693" y="1867241"/>
              <a:ext cx="463550" cy="323850"/>
            </a:xfrm>
            <a:custGeom>
              <a:avLst/>
              <a:gdLst/>
              <a:ahLst/>
              <a:cxnLst/>
              <a:rect l="l" t="t" r="r" b="b"/>
              <a:pathLst>
                <a:path w="463550" h="323850">
                  <a:moveTo>
                    <a:pt x="301294" y="0"/>
                  </a:moveTo>
                  <a:lnTo>
                    <a:pt x="0" y="0"/>
                  </a:lnTo>
                  <a:lnTo>
                    <a:pt x="0" y="323850"/>
                  </a:lnTo>
                  <a:lnTo>
                    <a:pt x="301294" y="323850"/>
                  </a:lnTo>
                  <a:lnTo>
                    <a:pt x="463219" y="161925"/>
                  </a:lnTo>
                  <a:lnTo>
                    <a:pt x="301294" y="0"/>
                  </a:lnTo>
                  <a:close/>
                </a:path>
              </a:pathLst>
            </a:custGeom>
            <a:solidFill>
              <a:srgbClr val="BBE0E3"/>
            </a:solidFill>
          </p:spPr>
          <p:txBody>
            <a:bodyPr wrap="square" lIns="0" tIns="0" rIns="0" bIns="0" rtlCol="0"/>
            <a:lstStyle/>
            <a:p/>
          </p:txBody>
        </p:sp>
      </p:grpSp>
      <p:sp>
        <p:nvSpPr>
          <p:cNvPr id="6" name="object 6" descr=""/>
          <p:cNvSpPr txBox="1"/>
          <p:nvPr/>
        </p:nvSpPr>
        <p:spPr>
          <a:xfrm>
            <a:off x="433650" y="1932646"/>
            <a:ext cx="20383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FFFFFF"/>
                </a:solidFill>
                <a:latin typeface="Microsoft YaHei"/>
                <a:cs typeface="Microsoft YaHei"/>
              </a:rPr>
              <a:t>01</a:t>
            </a:r>
            <a:endParaRPr sz="1200">
              <a:latin typeface="Microsoft YaHei"/>
              <a:cs typeface="Microsoft YaHei"/>
            </a:endParaRPr>
          </a:p>
        </p:txBody>
      </p:sp>
      <p:sp>
        <p:nvSpPr>
          <p:cNvPr id="7" name="object 7" descr=""/>
          <p:cNvSpPr txBox="1"/>
          <p:nvPr/>
        </p:nvSpPr>
        <p:spPr>
          <a:xfrm>
            <a:off x="355338" y="861236"/>
            <a:ext cx="8469630" cy="1133475"/>
          </a:xfrm>
          <a:prstGeom prst="rect">
            <a:avLst/>
          </a:prstGeom>
        </p:spPr>
        <p:txBody>
          <a:bodyPr wrap="square" lIns="0" tIns="12700" rIns="0" bIns="0" rtlCol="0" vert="horz">
            <a:spAutoFit/>
          </a:bodyPr>
          <a:lstStyle/>
          <a:p>
            <a:pPr algn="just" marL="12700" marR="5080" indent="-3810">
              <a:lnSpc>
                <a:spcPct val="100000"/>
              </a:lnSpc>
              <a:spcBef>
                <a:spcPts val="100"/>
              </a:spcBef>
              <a:buSzPct val="94444"/>
              <a:buFont typeface="Wingdings"/>
              <a:buChar char=""/>
              <a:tabLst>
                <a:tab pos="183515" algn="l"/>
              </a:tabLst>
            </a:pPr>
            <a:r>
              <a:rPr dirty="0" sz="1800" b="1">
                <a:latin typeface="Microsoft YaHei"/>
                <a:cs typeface="Microsoft YaHei"/>
              </a:rPr>
              <a:t>	</a:t>
            </a:r>
            <a:r>
              <a:rPr dirty="0" sz="1800" b="1">
                <a:latin typeface="Microsoft YaHei"/>
                <a:cs typeface="Microsoft YaHei"/>
              </a:rPr>
              <a:t>从满足测试需求，利于</a:t>
            </a:r>
            <a:r>
              <a:rPr dirty="0" sz="1800" spc="-10" b="1">
                <a:latin typeface="Microsoft YaHei"/>
                <a:cs typeface="Microsoft YaHei"/>
              </a:rPr>
              <a:t>5G</a:t>
            </a:r>
            <a:r>
              <a:rPr dirty="0" sz="1800" b="1">
                <a:latin typeface="Microsoft YaHei"/>
                <a:cs typeface="Microsoft YaHei"/>
              </a:rPr>
              <a:t>试验网快速部署，满足</a:t>
            </a:r>
            <a:r>
              <a:rPr dirty="0" sz="1800" spc="-25" b="1">
                <a:latin typeface="Microsoft YaHei"/>
                <a:cs typeface="Microsoft YaHei"/>
              </a:rPr>
              <a:t>5M</a:t>
            </a:r>
            <a:r>
              <a:rPr dirty="0" sz="1800" b="1">
                <a:latin typeface="Microsoft YaHei"/>
                <a:cs typeface="Microsoft YaHei"/>
              </a:rPr>
              <a:t>频率需求等方面考虑，选择</a:t>
            </a:r>
            <a:r>
              <a:rPr dirty="0" sz="1800" spc="-50" b="1">
                <a:solidFill>
                  <a:srgbClr val="FF0000"/>
                </a:solidFill>
                <a:latin typeface="Microsoft YaHei"/>
                <a:cs typeface="Microsoft YaHei"/>
              </a:rPr>
              <a:t>江</a:t>
            </a:r>
            <a:r>
              <a:rPr dirty="0" sz="1800" b="1">
                <a:solidFill>
                  <a:srgbClr val="FF0000"/>
                </a:solidFill>
                <a:latin typeface="Microsoft YaHei"/>
                <a:cs typeface="Microsoft YaHei"/>
              </a:rPr>
              <a:t>夏汤逊湖区域</a:t>
            </a:r>
            <a:r>
              <a:rPr dirty="0" sz="1800" spc="-10" b="1">
                <a:solidFill>
                  <a:srgbClr val="FF0000"/>
                </a:solidFill>
                <a:latin typeface="Microsoft YaHei"/>
                <a:cs typeface="Microsoft YaHei"/>
              </a:rPr>
              <a:t>（NSA）</a:t>
            </a:r>
            <a:r>
              <a:rPr dirty="0" sz="1800" b="1">
                <a:solidFill>
                  <a:srgbClr val="FF0000"/>
                </a:solidFill>
                <a:latin typeface="Microsoft YaHei"/>
                <a:cs typeface="Microsoft YaHei"/>
              </a:rPr>
              <a:t>和开发区沌口区域</a:t>
            </a:r>
            <a:r>
              <a:rPr dirty="0" sz="1800" spc="-10" b="1">
                <a:solidFill>
                  <a:srgbClr val="FF0000"/>
                </a:solidFill>
                <a:latin typeface="Microsoft YaHei"/>
                <a:cs typeface="Microsoft YaHei"/>
              </a:rPr>
              <a:t>（SA）</a:t>
            </a:r>
            <a:r>
              <a:rPr dirty="0" sz="1800" b="1">
                <a:latin typeface="Microsoft YaHei"/>
                <a:cs typeface="Microsoft YaHei"/>
              </a:rPr>
              <a:t>建设</a:t>
            </a:r>
            <a:r>
              <a:rPr dirty="0" sz="1800" spc="-10" b="1">
                <a:latin typeface="Microsoft YaHei"/>
                <a:cs typeface="Microsoft YaHei"/>
              </a:rPr>
              <a:t>5G</a:t>
            </a:r>
            <a:r>
              <a:rPr dirty="0" sz="1800" spc="-5" b="1">
                <a:latin typeface="Microsoft YaHei"/>
                <a:cs typeface="Microsoft YaHei"/>
              </a:rPr>
              <a:t>试验网，核心网新建部署在</a:t>
            </a:r>
            <a:r>
              <a:rPr dirty="0" sz="1800" spc="-10" b="1">
                <a:latin typeface="Microsoft YaHei"/>
                <a:cs typeface="Microsoft YaHei"/>
              </a:rPr>
              <a:t>联通关山机房。</a:t>
            </a:r>
            <a:endParaRPr sz="1800">
              <a:latin typeface="Microsoft YaHei"/>
              <a:cs typeface="Microsoft YaHei"/>
            </a:endParaRPr>
          </a:p>
          <a:p>
            <a:pPr marL="650875">
              <a:lnSpc>
                <a:spcPct val="100000"/>
              </a:lnSpc>
              <a:spcBef>
                <a:spcPts val="800"/>
              </a:spcBef>
            </a:pPr>
            <a:r>
              <a:rPr dirty="0" sz="1200" b="1">
                <a:latin typeface="Microsoft YaHei"/>
                <a:cs typeface="Microsoft YaHei"/>
              </a:rPr>
              <a:t>满足测试需求：</a:t>
            </a:r>
            <a:r>
              <a:rPr dirty="0" sz="1200">
                <a:latin typeface="Microsoft YaHei"/>
                <a:cs typeface="Microsoft YaHei"/>
              </a:rPr>
              <a:t>平均站距</a:t>
            </a:r>
            <a:r>
              <a:rPr dirty="0" sz="1200" spc="-10">
                <a:latin typeface="Microsoft YaHei"/>
                <a:cs typeface="Microsoft YaHei"/>
              </a:rPr>
              <a:t>500</a:t>
            </a:r>
            <a:r>
              <a:rPr dirty="0" sz="1200">
                <a:latin typeface="Microsoft YaHei"/>
                <a:cs typeface="Microsoft YaHei"/>
              </a:rPr>
              <a:t>米左右，天线挂高</a:t>
            </a:r>
            <a:r>
              <a:rPr dirty="0" sz="1200" spc="-10">
                <a:latin typeface="Microsoft YaHei"/>
                <a:cs typeface="Microsoft YaHei"/>
              </a:rPr>
              <a:t>25</a:t>
            </a:r>
            <a:r>
              <a:rPr dirty="0" sz="1200" spc="-25">
                <a:latin typeface="Microsoft YaHei"/>
                <a:cs typeface="Microsoft YaHei"/>
              </a:rPr>
              <a:t>米左</a:t>
            </a:r>
            <a:endParaRPr sz="1200">
              <a:latin typeface="Microsoft YaHei"/>
              <a:cs typeface="Microsoft YaHei"/>
            </a:endParaRPr>
          </a:p>
        </p:txBody>
      </p:sp>
      <p:sp>
        <p:nvSpPr>
          <p:cNvPr id="8" name="object 8" descr=""/>
          <p:cNvSpPr txBox="1"/>
          <p:nvPr/>
        </p:nvSpPr>
        <p:spPr>
          <a:xfrm>
            <a:off x="993568" y="3312171"/>
            <a:ext cx="3661410" cy="574040"/>
          </a:xfrm>
          <a:prstGeom prst="rect">
            <a:avLst/>
          </a:prstGeom>
        </p:spPr>
        <p:txBody>
          <a:bodyPr wrap="square" lIns="0" tIns="12700" rIns="0" bIns="0" rtlCol="0" vert="horz">
            <a:spAutoFit/>
          </a:bodyPr>
          <a:lstStyle/>
          <a:p>
            <a:pPr marL="12700" marR="5080">
              <a:lnSpc>
                <a:spcPct val="150000"/>
              </a:lnSpc>
              <a:spcBef>
                <a:spcPts val="100"/>
              </a:spcBef>
            </a:pPr>
            <a:r>
              <a:rPr dirty="0" sz="1200" b="1">
                <a:latin typeface="Microsoft YaHei"/>
                <a:cs typeface="Microsoft YaHei"/>
              </a:rPr>
              <a:t>满足</a:t>
            </a:r>
            <a:r>
              <a:rPr dirty="0" sz="1200" spc="-20" b="1">
                <a:latin typeface="Microsoft YaHei"/>
                <a:cs typeface="Microsoft YaHei"/>
              </a:rPr>
              <a:t>5M</a:t>
            </a:r>
            <a:r>
              <a:rPr dirty="0" sz="1200" b="1">
                <a:latin typeface="Microsoft YaHei"/>
                <a:cs typeface="Microsoft YaHei"/>
              </a:rPr>
              <a:t>频率需求：</a:t>
            </a:r>
            <a:r>
              <a:rPr dirty="0" sz="1200">
                <a:latin typeface="Microsoft YaHei"/>
                <a:cs typeface="Microsoft YaHei"/>
              </a:rPr>
              <a:t>尽量避开校园网、</a:t>
            </a:r>
            <a:r>
              <a:rPr dirty="0" sz="1200" spc="-10">
                <a:latin typeface="Microsoft YaHei"/>
                <a:cs typeface="Microsoft YaHei"/>
              </a:rPr>
              <a:t>2I</a:t>
            </a:r>
            <a:r>
              <a:rPr dirty="0" sz="1200">
                <a:latin typeface="Microsoft YaHei"/>
                <a:cs typeface="Microsoft YaHei"/>
              </a:rPr>
              <a:t>热点等</a:t>
            </a:r>
            <a:r>
              <a:rPr dirty="0" sz="1200" spc="-10">
                <a:latin typeface="Microsoft YaHei"/>
                <a:cs typeface="Microsoft YaHei"/>
              </a:rPr>
              <a:t>4G</a:t>
            </a:r>
            <a:r>
              <a:rPr dirty="0" sz="1200" spc="-25">
                <a:latin typeface="Microsoft YaHei"/>
                <a:cs typeface="Microsoft YaHei"/>
              </a:rPr>
              <a:t>高负</a:t>
            </a:r>
            <a:r>
              <a:rPr dirty="0" sz="1200" spc="-20">
                <a:latin typeface="Microsoft YaHei"/>
                <a:cs typeface="Microsoft YaHei"/>
              </a:rPr>
              <a:t>荷区域</a:t>
            </a:r>
            <a:endParaRPr sz="1200">
              <a:latin typeface="Microsoft YaHei"/>
              <a:cs typeface="Microsoft YaHei"/>
            </a:endParaRPr>
          </a:p>
        </p:txBody>
      </p:sp>
      <p:grpSp>
        <p:nvGrpSpPr>
          <p:cNvPr id="9" name="object 9" descr=""/>
          <p:cNvGrpSpPr/>
          <p:nvPr/>
        </p:nvGrpSpPr>
        <p:grpSpPr>
          <a:xfrm>
            <a:off x="344693" y="2673672"/>
            <a:ext cx="511175" cy="323850"/>
            <a:chOff x="344693" y="2673672"/>
            <a:chExt cx="511175" cy="323850"/>
          </a:xfrm>
        </p:grpSpPr>
        <p:sp>
          <p:nvSpPr>
            <p:cNvPr id="10" name="object 10" descr=""/>
            <p:cNvSpPr/>
            <p:nvPr/>
          </p:nvSpPr>
          <p:spPr>
            <a:xfrm>
              <a:off x="392376" y="2673672"/>
              <a:ext cx="463550" cy="323850"/>
            </a:xfrm>
            <a:custGeom>
              <a:avLst/>
              <a:gdLst/>
              <a:ahLst/>
              <a:cxnLst/>
              <a:rect l="l" t="t" r="r" b="b"/>
              <a:pathLst>
                <a:path w="463550" h="323850">
                  <a:moveTo>
                    <a:pt x="301294" y="0"/>
                  </a:moveTo>
                  <a:lnTo>
                    <a:pt x="0" y="0"/>
                  </a:lnTo>
                  <a:lnTo>
                    <a:pt x="0" y="323850"/>
                  </a:lnTo>
                  <a:lnTo>
                    <a:pt x="301294" y="323850"/>
                  </a:lnTo>
                  <a:lnTo>
                    <a:pt x="463219" y="161925"/>
                  </a:lnTo>
                  <a:lnTo>
                    <a:pt x="301294" y="0"/>
                  </a:lnTo>
                  <a:close/>
                </a:path>
              </a:pathLst>
            </a:custGeom>
            <a:solidFill>
              <a:srgbClr val="A3A3E0"/>
            </a:solidFill>
          </p:spPr>
          <p:txBody>
            <a:bodyPr wrap="square" lIns="0" tIns="0" rIns="0" bIns="0" rtlCol="0"/>
            <a:lstStyle/>
            <a:p/>
          </p:txBody>
        </p:sp>
        <p:sp>
          <p:nvSpPr>
            <p:cNvPr id="11" name="object 11" descr=""/>
            <p:cNvSpPr/>
            <p:nvPr/>
          </p:nvSpPr>
          <p:spPr>
            <a:xfrm>
              <a:off x="344693" y="2673672"/>
              <a:ext cx="463550" cy="323850"/>
            </a:xfrm>
            <a:custGeom>
              <a:avLst/>
              <a:gdLst/>
              <a:ahLst/>
              <a:cxnLst/>
              <a:rect l="l" t="t" r="r" b="b"/>
              <a:pathLst>
                <a:path w="463550" h="323850">
                  <a:moveTo>
                    <a:pt x="301294" y="0"/>
                  </a:moveTo>
                  <a:lnTo>
                    <a:pt x="0" y="0"/>
                  </a:lnTo>
                  <a:lnTo>
                    <a:pt x="0" y="323850"/>
                  </a:lnTo>
                  <a:lnTo>
                    <a:pt x="301294" y="323850"/>
                  </a:lnTo>
                  <a:lnTo>
                    <a:pt x="463219" y="161925"/>
                  </a:lnTo>
                  <a:lnTo>
                    <a:pt x="301294" y="0"/>
                  </a:lnTo>
                  <a:close/>
                </a:path>
              </a:pathLst>
            </a:custGeom>
            <a:solidFill>
              <a:srgbClr val="333399"/>
            </a:solidFill>
          </p:spPr>
          <p:txBody>
            <a:bodyPr wrap="square" lIns="0" tIns="0" rIns="0" bIns="0" rtlCol="0"/>
            <a:lstStyle/>
            <a:p/>
          </p:txBody>
        </p:sp>
      </p:grpSp>
      <p:sp>
        <p:nvSpPr>
          <p:cNvPr id="12" name="object 12" descr=""/>
          <p:cNvSpPr txBox="1"/>
          <p:nvPr/>
        </p:nvSpPr>
        <p:spPr>
          <a:xfrm>
            <a:off x="433650" y="2739076"/>
            <a:ext cx="20383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FFFFFF"/>
                </a:solidFill>
                <a:latin typeface="Microsoft YaHei"/>
                <a:cs typeface="Microsoft YaHei"/>
              </a:rPr>
              <a:t>02</a:t>
            </a:r>
            <a:endParaRPr sz="1200">
              <a:latin typeface="Microsoft YaHei"/>
              <a:cs typeface="Microsoft YaHei"/>
            </a:endParaRPr>
          </a:p>
        </p:txBody>
      </p:sp>
      <p:sp>
        <p:nvSpPr>
          <p:cNvPr id="13" name="object 13" descr=""/>
          <p:cNvSpPr txBox="1"/>
          <p:nvPr/>
        </p:nvSpPr>
        <p:spPr>
          <a:xfrm>
            <a:off x="993568" y="2060286"/>
            <a:ext cx="3073400" cy="208279"/>
          </a:xfrm>
          <a:prstGeom prst="rect">
            <a:avLst/>
          </a:prstGeom>
        </p:spPr>
        <p:txBody>
          <a:bodyPr wrap="square" lIns="0" tIns="12700" rIns="0" bIns="0" rtlCol="0" vert="horz">
            <a:spAutoFit/>
          </a:bodyPr>
          <a:lstStyle/>
          <a:p>
            <a:pPr marL="12700">
              <a:lnSpc>
                <a:spcPct val="100000"/>
              </a:lnSpc>
              <a:spcBef>
                <a:spcPts val="100"/>
              </a:spcBef>
            </a:pPr>
            <a:r>
              <a:rPr dirty="0" sz="1200" spc="-5">
                <a:latin typeface="Microsoft YaHei"/>
                <a:cs typeface="Microsoft YaHei"/>
              </a:rPr>
              <a:t>右。区域内道路交错纵横，各类测试场景丰富</a:t>
            </a:r>
            <a:endParaRPr sz="1200">
              <a:latin typeface="Microsoft YaHei"/>
              <a:cs typeface="Microsoft YaHei"/>
            </a:endParaRPr>
          </a:p>
        </p:txBody>
      </p:sp>
      <p:sp>
        <p:nvSpPr>
          <p:cNvPr id="14" name="object 14" descr=""/>
          <p:cNvSpPr/>
          <p:nvPr/>
        </p:nvSpPr>
        <p:spPr>
          <a:xfrm>
            <a:off x="344693" y="3480102"/>
            <a:ext cx="463550" cy="323850"/>
          </a:xfrm>
          <a:custGeom>
            <a:avLst/>
            <a:gdLst/>
            <a:ahLst/>
            <a:cxnLst/>
            <a:rect l="l" t="t" r="r" b="b"/>
            <a:pathLst>
              <a:path w="463550" h="323850">
                <a:moveTo>
                  <a:pt x="301294" y="0"/>
                </a:moveTo>
                <a:lnTo>
                  <a:pt x="0" y="0"/>
                </a:lnTo>
                <a:lnTo>
                  <a:pt x="0" y="323850"/>
                </a:lnTo>
                <a:lnTo>
                  <a:pt x="301294" y="323850"/>
                </a:lnTo>
                <a:lnTo>
                  <a:pt x="463219" y="161925"/>
                </a:lnTo>
                <a:lnTo>
                  <a:pt x="301294" y="0"/>
                </a:lnTo>
                <a:close/>
              </a:path>
            </a:pathLst>
          </a:custGeom>
          <a:solidFill>
            <a:srgbClr val="7030A0"/>
          </a:solidFill>
        </p:spPr>
        <p:txBody>
          <a:bodyPr wrap="square" lIns="0" tIns="0" rIns="0" bIns="0" rtlCol="0"/>
          <a:lstStyle/>
          <a:p/>
        </p:txBody>
      </p:sp>
      <p:sp>
        <p:nvSpPr>
          <p:cNvPr id="15" name="object 15" descr=""/>
          <p:cNvSpPr txBox="1"/>
          <p:nvPr/>
        </p:nvSpPr>
        <p:spPr>
          <a:xfrm>
            <a:off x="433650" y="3545507"/>
            <a:ext cx="20383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FFFFFF"/>
                </a:solidFill>
                <a:latin typeface="Microsoft YaHei"/>
                <a:cs typeface="Microsoft YaHei"/>
              </a:rPr>
              <a:t>03</a:t>
            </a:r>
            <a:endParaRPr sz="1200">
              <a:latin typeface="Microsoft YaHei"/>
              <a:cs typeface="Microsoft YaHei"/>
            </a:endParaRPr>
          </a:p>
        </p:txBody>
      </p:sp>
      <p:sp>
        <p:nvSpPr>
          <p:cNvPr id="16" name="object 16" descr=""/>
          <p:cNvSpPr txBox="1"/>
          <p:nvPr/>
        </p:nvSpPr>
        <p:spPr>
          <a:xfrm>
            <a:off x="993617" y="2559788"/>
            <a:ext cx="3654425" cy="495300"/>
          </a:xfrm>
          <a:prstGeom prst="rect">
            <a:avLst/>
          </a:prstGeom>
        </p:spPr>
        <p:txBody>
          <a:bodyPr wrap="square" lIns="0" tIns="12700" rIns="0" bIns="0" rtlCol="0" vert="horz">
            <a:spAutoFit/>
          </a:bodyPr>
          <a:lstStyle/>
          <a:p>
            <a:pPr marL="12700" marR="5080">
              <a:lnSpc>
                <a:spcPct val="140000"/>
              </a:lnSpc>
              <a:spcBef>
                <a:spcPts val="100"/>
              </a:spcBef>
            </a:pPr>
            <a:r>
              <a:rPr dirty="0" sz="1100" spc="-20" b="1">
                <a:latin typeface="Microsoft YaHei"/>
                <a:cs typeface="Microsoft YaHei"/>
              </a:rPr>
              <a:t>利于快速部署：</a:t>
            </a:r>
            <a:r>
              <a:rPr dirty="0" sz="1100" spc="-25">
                <a:latin typeface="Microsoft YaHei"/>
                <a:cs typeface="Microsoft YaHei"/>
              </a:rPr>
              <a:t>综合考虑天面、机房、供电、传输、协调等因素，利于施工</a:t>
            </a:r>
            <a:endParaRPr sz="1100">
              <a:latin typeface="Microsoft YaHei"/>
              <a:cs typeface="Microsoft YaHei"/>
            </a:endParaRPr>
          </a:p>
        </p:txBody>
      </p:sp>
      <p:sp>
        <p:nvSpPr>
          <p:cNvPr id="17" name="object 17" descr=""/>
          <p:cNvSpPr txBox="1"/>
          <p:nvPr/>
        </p:nvSpPr>
        <p:spPr>
          <a:xfrm>
            <a:off x="983225" y="4087341"/>
            <a:ext cx="3683000" cy="574040"/>
          </a:xfrm>
          <a:prstGeom prst="rect">
            <a:avLst/>
          </a:prstGeom>
        </p:spPr>
        <p:txBody>
          <a:bodyPr wrap="square" lIns="0" tIns="12700" rIns="0" bIns="0" rtlCol="0" vert="horz">
            <a:spAutoFit/>
          </a:bodyPr>
          <a:lstStyle/>
          <a:p>
            <a:pPr marL="12700" marR="5080">
              <a:lnSpc>
                <a:spcPct val="150000"/>
              </a:lnSpc>
              <a:spcBef>
                <a:spcPts val="100"/>
              </a:spcBef>
            </a:pPr>
            <a:r>
              <a:rPr dirty="0" sz="1200" b="1">
                <a:latin typeface="Microsoft YaHei"/>
                <a:cs typeface="Microsoft YaHei"/>
              </a:rPr>
              <a:t>适当考虑冗余：</a:t>
            </a:r>
            <a:r>
              <a:rPr dirty="0" sz="1200" spc="-5">
                <a:latin typeface="Microsoft YaHei"/>
                <a:cs typeface="Microsoft YaHei"/>
              </a:rPr>
              <a:t>考虑到物业协调、天支改造、电源配套</a:t>
            </a:r>
            <a:r>
              <a:rPr dirty="0" sz="1200">
                <a:latin typeface="Microsoft YaHei"/>
                <a:cs typeface="Microsoft YaHei"/>
              </a:rPr>
              <a:t>等实际建设难度，试验网按</a:t>
            </a:r>
            <a:r>
              <a:rPr dirty="0" sz="1200" spc="-10">
                <a:latin typeface="Microsoft YaHei"/>
                <a:cs typeface="Microsoft YaHei"/>
              </a:rPr>
              <a:t>60个站点规模进行准备</a:t>
            </a:r>
            <a:endParaRPr sz="1200">
              <a:latin typeface="Microsoft YaHei"/>
              <a:cs typeface="Microsoft YaHei"/>
            </a:endParaRPr>
          </a:p>
        </p:txBody>
      </p:sp>
      <p:sp>
        <p:nvSpPr>
          <p:cNvPr id="18" name="object 18" descr=""/>
          <p:cNvSpPr/>
          <p:nvPr/>
        </p:nvSpPr>
        <p:spPr>
          <a:xfrm>
            <a:off x="334302" y="4255264"/>
            <a:ext cx="463550" cy="323850"/>
          </a:xfrm>
          <a:custGeom>
            <a:avLst/>
            <a:gdLst/>
            <a:ahLst/>
            <a:cxnLst/>
            <a:rect l="l" t="t" r="r" b="b"/>
            <a:pathLst>
              <a:path w="463550" h="323850">
                <a:moveTo>
                  <a:pt x="301294" y="0"/>
                </a:moveTo>
                <a:lnTo>
                  <a:pt x="0" y="0"/>
                </a:lnTo>
                <a:lnTo>
                  <a:pt x="0" y="323849"/>
                </a:lnTo>
                <a:lnTo>
                  <a:pt x="301294" y="323849"/>
                </a:lnTo>
                <a:lnTo>
                  <a:pt x="463219" y="161924"/>
                </a:lnTo>
                <a:lnTo>
                  <a:pt x="301294" y="0"/>
                </a:lnTo>
                <a:close/>
              </a:path>
            </a:pathLst>
          </a:custGeom>
          <a:solidFill>
            <a:srgbClr val="00B050"/>
          </a:solidFill>
        </p:spPr>
        <p:txBody>
          <a:bodyPr wrap="square" lIns="0" tIns="0" rIns="0" bIns="0" rtlCol="0"/>
          <a:lstStyle/>
          <a:p/>
        </p:txBody>
      </p:sp>
      <p:sp>
        <p:nvSpPr>
          <p:cNvPr id="19" name="object 19" descr=""/>
          <p:cNvSpPr txBox="1"/>
          <p:nvPr/>
        </p:nvSpPr>
        <p:spPr>
          <a:xfrm>
            <a:off x="423259" y="4320669"/>
            <a:ext cx="20383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FFFFFF"/>
                </a:solidFill>
                <a:latin typeface="Microsoft YaHei"/>
                <a:cs typeface="Microsoft YaHei"/>
              </a:rPr>
              <a:t>04</a:t>
            </a:r>
            <a:endParaRPr sz="1200">
              <a:latin typeface="Microsoft YaHei"/>
              <a:cs typeface="Microsoft YaHei"/>
            </a:endParaRPr>
          </a:p>
        </p:txBody>
      </p:sp>
      <p:pic>
        <p:nvPicPr>
          <p:cNvPr id="20" name="object 20"/>
          <p:cNvPicPr/>
          <p:nvPr/>
        </p:nvPicPr>
        <p:blipFill>
          <a:blip r:embed="rId2" cstate="print"/>
          <a:stretch>
            <a:fillRect/>
          </a:stretch>
        </p:blipFill>
        <p:spPr>
          <a:xfrm>
            <a:off x="4838006" y="1620982"/>
            <a:ext cx="4062877" cy="3230074"/>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70680" y="105402"/>
            <a:ext cx="2872740" cy="513080"/>
          </a:xfrm>
          <a:prstGeom prst="rect"/>
        </p:spPr>
        <p:txBody>
          <a:bodyPr wrap="square" lIns="0" tIns="12065" rIns="0" bIns="0" rtlCol="0" vert="horz">
            <a:spAutoFit/>
          </a:bodyPr>
          <a:lstStyle/>
          <a:p>
            <a:pPr marL="12700">
              <a:lnSpc>
                <a:spcPct val="100000"/>
              </a:lnSpc>
              <a:spcBef>
                <a:spcPts val="95"/>
              </a:spcBef>
            </a:pPr>
            <a:r>
              <a:rPr dirty="0" spc="-45"/>
              <a:t>试验网拓扑架构</a:t>
            </a:r>
          </a:p>
        </p:txBody>
      </p:sp>
      <p:pic>
        <p:nvPicPr>
          <p:cNvPr id="3" name="object 3"/>
          <p:cNvPicPr/>
          <p:nvPr/>
        </p:nvPicPr>
        <p:blipFill>
          <a:blip r:embed="rId2" cstate="print"/>
          <a:stretch>
            <a:fillRect/>
          </a:stretch>
        </p:blipFill>
        <p:spPr>
          <a:xfrm>
            <a:off x="6192180" y="1041214"/>
            <a:ext cx="2298427" cy="3618389"/>
          </a:xfrm>
          <a:prstGeom prst="rect">
            <a:avLst/>
          </a:prstGeom>
        </p:spPr>
      </p:pic>
      <p:pic>
        <p:nvPicPr>
          <p:cNvPr id="4" name="object 4"/>
          <p:cNvPicPr/>
          <p:nvPr/>
        </p:nvPicPr>
        <p:blipFill>
          <a:blip r:embed="rId3" cstate="print"/>
          <a:stretch>
            <a:fillRect/>
          </a:stretch>
        </p:blipFill>
        <p:spPr>
          <a:xfrm>
            <a:off x="299914" y="2592084"/>
            <a:ext cx="5585265" cy="2322510"/>
          </a:xfrm>
          <a:prstGeom prst="rect">
            <a:avLst/>
          </a:prstGeom>
        </p:spPr>
      </p:pic>
      <p:sp>
        <p:nvSpPr>
          <p:cNvPr id="5" name="object 5" descr=""/>
          <p:cNvSpPr txBox="1"/>
          <p:nvPr/>
        </p:nvSpPr>
        <p:spPr>
          <a:xfrm>
            <a:off x="355516" y="783140"/>
            <a:ext cx="5960745" cy="1799589"/>
          </a:xfrm>
          <a:prstGeom prst="rect">
            <a:avLst/>
          </a:prstGeom>
        </p:spPr>
        <p:txBody>
          <a:bodyPr wrap="square" lIns="0" tIns="12700" rIns="0" bIns="0" rtlCol="0" vert="horz">
            <a:spAutoFit/>
          </a:bodyPr>
          <a:lstStyle/>
          <a:p>
            <a:pPr marL="183515" indent="-174625">
              <a:lnSpc>
                <a:spcPct val="100000"/>
              </a:lnSpc>
              <a:spcBef>
                <a:spcPts val="100"/>
              </a:spcBef>
              <a:buSzPct val="94444"/>
              <a:buFont typeface="Wingdings"/>
              <a:buChar char=""/>
              <a:tabLst>
                <a:tab pos="183515" algn="l"/>
              </a:tabLst>
            </a:pPr>
            <a:r>
              <a:rPr dirty="0" sz="1800" spc="-5" b="1">
                <a:solidFill>
                  <a:srgbClr val="0070C0"/>
                </a:solidFill>
                <a:latin typeface="Microsoft YaHei"/>
                <a:cs typeface="Microsoft YaHei"/>
              </a:rPr>
              <a:t>试点网络为新建网络，与现网完全隔离</a:t>
            </a:r>
            <a:endParaRPr sz="1800">
              <a:latin typeface="Microsoft YaHei"/>
              <a:cs typeface="Microsoft YaHei"/>
            </a:endParaRPr>
          </a:p>
          <a:p>
            <a:pPr marL="12700" marR="511809">
              <a:lnSpc>
                <a:spcPct val="100000"/>
              </a:lnSpc>
              <a:spcBef>
                <a:spcPts val="25"/>
              </a:spcBef>
            </a:pPr>
            <a:r>
              <a:rPr dirty="0" sz="1100" spc="-20">
                <a:solidFill>
                  <a:srgbClr val="CC0000"/>
                </a:solidFill>
                <a:latin typeface="Microsoft YaHei"/>
                <a:cs typeface="Microsoft YaHei"/>
              </a:rPr>
              <a:t>核心网：</a:t>
            </a:r>
            <a:r>
              <a:rPr dirty="0" sz="1100" spc="-20">
                <a:latin typeface="Microsoft YaHei"/>
                <a:cs typeface="Microsoft YaHei"/>
              </a:rPr>
              <a:t>与现网隔离， 新建设备全部虚拟化建设地点为武汉联通关山局3</a:t>
            </a:r>
            <a:r>
              <a:rPr dirty="0" sz="1100" spc="-25">
                <a:latin typeface="Microsoft YaHei"/>
                <a:cs typeface="Microsoft YaHei"/>
              </a:rPr>
              <a:t>楼核心网机房，</a:t>
            </a:r>
            <a:r>
              <a:rPr dirty="0" sz="1100" spc="-20">
                <a:latin typeface="Microsoft YaHei"/>
                <a:cs typeface="Microsoft YaHei"/>
              </a:rPr>
              <a:t>占用5个冷通道机柜；包括通用服务器、磁盘阵列及交换机共</a:t>
            </a:r>
            <a:r>
              <a:rPr dirty="0" sz="1100" spc="-10">
                <a:latin typeface="Microsoft YaHei"/>
                <a:cs typeface="Microsoft YaHei"/>
              </a:rPr>
              <a:t>34</a:t>
            </a:r>
            <a:r>
              <a:rPr dirty="0" sz="1100" spc="-30">
                <a:latin typeface="Microsoft YaHei"/>
                <a:cs typeface="Microsoft YaHei"/>
              </a:rPr>
              <a:t>套设备。</a:t>
            </a:r>
            <a:endParaRPr sz="1100">
              <a:latin typeface="Microsoft YaHei"/>
              <a:cs typeface="Microsoft YaHei"/>
            </a:endParaRPr>
          </a:p>
          <a:p>
            <a:pPr marL="12700">
              <a:lnSpc>
                <a:spcPct val="100000"/>
              </a:lnSpc>
              <a:spcBef>
                <a:spcPts val="775"/>
              </a:spcBef>
            </a:pPr>
            <a:r>
              <a:rPr dirty="0" sz="1100" spc="-30">
                <a:solidFill>
                  <a:srgbClr val="CC0000"/>
                </a:solidFill>
                <a:latin typeface="Microsoft YaHei"/>
                <a:cs typeface="Microsoft YaHei"/>
              </a:rPr>
              <a:t>承载网：</a:t>
            </a:r>
            <a:endParaRPr sz="1100">
              <a:latin typeface="Microsoft YaHei"/>
              <a:cs typeface="Microsoft YaHei"/>
            </a:endParaRPr>
          </a:p>
          <a:p>
            <a:pPr marL="12700" marR="455295">
              <a:lnSpc>
                <a:spcPct val="100000"/>
              </a:lnSpc>
            </a:pPr>
            <a:r>
              <a:rPr dirty="0" sz="1100" spc="-20">
                <a:latin typeface="Microsoft YaHei"/>
                <a:cs typeface="Microsoft YaHei"/>
              </a:rPr>
              <a:t>汇聚层：</a:t>
            </a:r>
            <a:r>
              <a:rPr dirty="0" sz="1100" spc="-10">
                <a:latin typeface="Microsoft YaHei"/>
                <a:cs typeface="Microsoft YaHei"/>
              </a:rPr>
              <a:t>R8000-10</a:t>
            </a:r>
            <a:r>
              <a:rPr dirty="0" sz="1100" spc="-20">
                <a:latin typeface="Microsoft YaHei"/>
                <a:cs typeface="Microsoft YaHei"/>
              </a:rPr>
              <a:t>设备，新增</a:t>
            </a:r>
            <a:r>
              <a:rPr dirty="0" sz="1100" spc="-10">
                <a:latin typeface="Microsoft YaHei"/>
                <a:cs typeface="Microsoft YaHei"/>
              </a:rPr>
              <a:t>4</a:t>
            </a:r>
            <a:r>
              <a:rPr dirty="0" sz="1100" spc="-20">
                <a:latin typeface="Microsoft YaHei"/>
                <a:cs typeface="Microsoft YaHei"/>
              </a:rPr>
              <a:t>端</a:t>
            </a:r>
            <a:r>
              <a:rPr dirty="0" sz="1100" spc="-10">
                <a:latin typeface="Microsoft YaHei"/>
                <a:cs typeface="Microsoft YaHei"/>
              </a:rPr>
              <a:t>UTN2.0</a:t>
            </a:r>
            <a:r>
              <a:rPr dirty="0" sz="1100" spc="-15">
                <a:latin typeface="Microsoft YaHei"/>
                <a:cs typeface="Microsoft YaHei"/>
              </a:rPr>
              <a:t>设备；</a:t>
            </a:r>
            <a:r>
              <a:rPr dirty="0" sz="1100" spc="-10">
                <a:latin typeface="Microsoft YaHei"/>
                <a:cs typeface="Microsoft YaHei"/>
              </a:rPr>
              <a:t>100G</a:t>
            </a:r>
            <a:r>
              <a:rPr dirty="0" sz="1100" spc="-25">
                <a:latin typeface="Microsoft YaHei"/>
                <a:cs typeface="Microsoft YaHei"/>
              </a:rPr>
              <a:t>汇聚环，共同承载业务收敛回传；</a:t>
            </a:r>
            <a:r>
              <a:rPr dirty="0" sz="1100" spc="-20">
                <a:latin typeface="Microsoft YaHei"/>
                <a:cs typeface="Microsoft YaHei"/>
              </a:rPr>
              <a:t>接入层：</a:t>
            </a:r>
            <a:r>
              <a:rPr dirty="0" sz="1100" spc="-10">
                <a:latin typeface="Microsoft YaHei"/>
                <a:cs typeface="Microsoft YaHei"/>
              </a:rPr>
              <a:t>835E</a:t>
            </a:r>
            <a:r>
              <a:rPr dirty="0" sz="1100" spc="-20">
                <a:latin typeface="Microsoft YaHei"/>
                <a:cs typeface="Microsoft YaHei"/>
              </a:rPr>
              <a:t>设备，新建</a:t>
            </a:r>
            <a:r>
              <a:rPr dirty="0" sz="1100" spc="-10">
                <a:latin typeface="Microsoft YaHei"/>
                <a:cs typeface="Microsoft YaHei"/>
              </a:rPr>
              <a:t>2个25G</a:t>
            </a:r>
            <a:r>
              <a:rPr dirty="0" sz="1100" spc="-20">
                <a:latin typeface="Microsoft YaHei"/>
                <a:cs typeface="Microsoft YaHei"/>
              </a:rPr>
              <a:t>系统环路，以</a:t>
            </a:r>
            <a:r>
              <a:rPr dirty="0" sz="1100" spc="-10">
                <a:latin typeface="Microsoft YaHei"/>
                <a:cs typeface="Microsoft YaHei"/>
              </a:rPr>
              <a:t>IPRAN</a:t>
            </a:r>
            <a:r>
              <a:rPr dirty="0" sz="1100" spc="-20">
                <a:latin typeface="Microsoft YaHei"/>
                <a:cs typeface="Microsoft YaHei"/>
              </a:rPr>
              <a:t>方式承载</a:t>
            </a:r>
            <a:r>
              <a:rPr dirty="0" sz="1100" spc="-10">
                <a:latin typeface="Microsoft YaHei"/>
                <a:cs typeface="Microsoft YaHei"/>
              </a:rPr>
              <a:t>5G</a:t>
            </a:r>
            <a:r>
              <a:rPr dirty="0" sz="1100" spc="-25">
                <a:latin typeface="Microsoft YaHei"/>
                <a:cs typeface="Microsoft YaHei"/>
              </a:rPr>
              <a:t>业务回传工作。</a:t>
            </a:r>
            <a:endParaRPr sz="1100">
              <a:latin typeface="Microsoft YaHei"/>
              <a:cs typeface="Microsoft YaHei"/>
            </a:endParaRPr>
          </a:p>
          <a:p>
            <a:pPr marL="12700">
              <a:lnSpc>
                <a:spcPct val="100000"/>
              </a:lnSpc>
              <a:spcBef>
                <a:spcPts val="445"/>
              </a:spcBef>
            </a:pPr>
            <a:r>
              <a:rPr dirty="0" sz="1100" spc="-30">
                <a:solidFill>
                  <a:srgbClr val="CC0000"/>
                </a:solidFill>
                <a:latin typeface="Microsoft YaHei"/>
                <a:cs typeface="Microsoft YaHei"/>
              </a:rPr>
              <a:t>无线网：</a:t>
            </a:r>
            <a:endParaRPr sz="1100">
              <a:latin typeface="Microsoft YaHei"/>
              <a:cs typeface="Microsoft YaHei"/>
            </a:endParaRPr>
          </a:p>
          <a:p>
            <a:pPr marL="12700">
              <a:lnSpc>
                <a:spcPct val="100000"/>
              </a:lnSpc>
            </a:pPr>
            <a:r>
              <a:rPr dirty="0" sz="1100" spc="-10">
                <a:latin typeface="Microsoft YaHei"/>
                <a:cs typeface="Microsoft YaHei"/>
              </a:rPr>
              <a:t>5G-NR：EMB6116+TDAU5164N78</a:t>
            </a:r>
            <a:r>
              <a:rPr dirty="0" sz="1100" spc="-20">
                <a:latin typeface="Microsoft YaHei"/>
                <a:cs typeface="Microsoft YaHei"/>
              </a:rPr>
              <a:t>设备，频段支持</a:t>
            </a:r>
            <a:r>
              <a:rPr dirty="0" sz="1100" spc="-10">
                <a:latin typeface="Microsoft YaHei"/>
                <a:cs typeface="Microsoft YaHei"/>
              </a:rPr>
              <a:t>3400MHz--3600MHz</a:t>
            </a:r>
            <a:r>
              <a:rPr dirty="0" sz="1100" spc="-20">
                <a:latin typeface="Microsoft YaHei"/>
                <a:cs typeface="Microsoft YaHei"/>
              </a:rPr>
              <a:t>，发射功率</a:t>
            </a:r>
            <a:r>
              <a:rPr dirty="0" sz="1100" spc="-10">
                <a:latin typeface="Microsoft YaHei"/>
                <a:cs typeface="Microsoft YaHei"/>
              </a:rPr>
              <a:t>200W；</a:t>
            </a:r>
            <a:endParaRPr sz="1100">
              <a:latin typeface="Microsoft YaHei"/>
              <a:cs typeface="Microsoft YaHei"/>
            </a:endParaRPr>
          </a:p>
          <a:p>
            <a:pPr marL="12700">
              <a:lnSpc>
                <a:spcPct val="100000"/>
              </a:lnSpc>
            </a:pPr>
            <a:r>
              <a:rPr dirty="0" sz="1100" spc="-10">
                <a:latin typeface="Microsoft YaHei"/>
                <a:cs typeface="Microsoft YaHei"/>
              </a:rPr>
              <a:t>4G-LTE</a:t>
            </a:r>
            <a:r>
              <a:rPr dirty="0" sz="1100" spc="-20">
                <a:latin typeface="Microsoft YaHei"/>
                <a:cs typeface="Microsoft YaHei"/>
              </a:rPr>
              <a:t>：与</a:t>
            </a:r>
            <a:r>
              <a:rPr dirty="0" sz="1100" spc="-10">
                <a:latin typeface="Microsoft YaHei"/>
                <a:cs typeface="Microsoft YaHei"/>
              </a:rPr>
              <a:t>5G</a:t>
            </a:r>
            <a:r>
              <a:rPr dirty="0" sz="1100" spc="-20">
                <a:latin typeface="Microsoft YaHei"/>
                <a:cs typeface="Microsoft YaHei"/>
              </a:rPr>
              <a:t>共站址新建</a:t>
            </a:r>
            <a:r>
              <a:rPr dirty="0" sz="1100" spc="-10">
                <a:latin typeface="Microsoft YaHei"/>
                <a:cs typeface="Microsoft YaHei"/>
              </a:rPr>
              <a:t>L1.8G</a:t>
            </a:r>
            <a:r>
              <a:rPr dirty="0" sz="1100" spc="-20">
                <a:latin typeface="Microsoft YaHei"/>
                <a:cs typeface="Microsoft YaHei"/>
              </a:rPr>
              <a:t>、</a:t>
            </a:r>
            <a:r>
              <a:rPr dirty="0" sz="1100" spc="-10">
                <a:latin typeface="Microsoft YaHei"/>
                <a:cs typeface="Microsoft YaHei"/>
              </a:rPr>
              <a:t>L2.1G</a:t>
            </a:r>
            <a:r>
              <a:rPr dirty="0" sz="1100" spc="-20">
                <a:latin typeface="Microsoft YaHei"/>
                <a:cs typeface="Microsoft YaHei"/>
              </a:rPr>
              <a:t>、</a:t>
            </a:r>
            <a:r>
              <a:rPr dirty="0" sz="1100" spc="-10">
                <a:latin typeface="Microsoft YaHei"/>
                <a:cs typeface="Microsoft YaHei"/>
              </a:rPr>
              <a:t>L900M</a:t>
            </a:r>
            <a:r>
              <a:rPr dirty="0" sz="1100" spc="-30">
                <a:latin typeface="Microsoft YaHei"/>
                <a:cs typeface="Microsoft YaHei"/>
              </a:rPr>
              <a:t>设备。</a:t>
            </a:r>
            <a:endParaRPr sz="1100">
              <a:latin typeface="Microsoft YaHei"/>
              <a:cs typeface="Microsoft YaHei"/>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6801" y="162149"/>
            <a:ext cx="2602230" cy="513080"/>
          </a:xfrm>
          <a:prstGeom prst="rect"/>
        </p:spPr>
        <p:txBody>
          <a:bodyPr wrap="square" lIns="0" tIns="12065" rIns="0" bIns="0" rtlCol="0" vert="horz">
            <a:spAutoFit/>
          </a:bodyPr>
          <a:lstStyle/>
          <a:p>
            <a:pPr marL="12700">
              <a:lnSpc>
                <a:spcPct val="100000"/>
              </a:lnSpc>
              <a:spcBef>
                <a:spcPts val="95"/>
              </a:spcBef>
            </a:pPr>
            <a:r>
              <a:rPr dirty="0" spc="-85"/>
              <a:t>无线测试-定点</a:t>
            </a:r>
          </a:p>
        </p:txBody>
      </p:sp>
      <p:grpSp>
        <p:nvGrpSpPr>
          <p:cNvPr id="3" name="object 3" descr=""/>
          <p:cNvGrpSpPr/>
          <p:nvPr/>
        </p:nvGrpSpPr>
        <p:grpSpPr>
          <a:xfrm>
            <a:off x="292826" y="4341253"/>
            <a:ext cx="921385" cy="291465"/>
            <a:chOff x="292826" y="4341253"/>
            <a:chExt cx="921385" cy="291465"/>
          </a:xfrm>
        </p:grpSpPr>
        <p:sp>
          <p:nvSpPr>
            <p:cNvPr id="4" name="object 4" descr=""/>
            <p:cNvSpPr/>
            <p:nvPr/>
          </p:nvSpPr>
          <p:spPr>
            <a:xfrm>
              <a:off x="305526" y="4353953"/>
              <a:ext cx="895985" cy="266065"/>
            </a:xfrm>
            <a:custGeom>
              <a:avLst/>
              <a:gdLst/>
              <a:ahLst/>
              <a:cxnLst/>
              <a:rect l="l" t="t" r="r" b="b"/>
              <a:pathLst>
                <a:path w="895985" h="266064">
                  <a:moveTo>
                    <a:pt x="851573" y="0"/>
                  </a:moveTo>
                  <a:lnTo>
                    <a:pt x="44310" y="0"/>
                  </a:lnTo>
                  <a:lnTo>
                    <a:pt x="27062" y="3481"/>
                  </a:lnTo>
                  <a:lnTo>
                    <a:pt x="12977" y="12977"/>
                  </a:lnTo>
                  <a:lnTo>
                    <a:pt x="3481" y="27062"/>
                  </a:lnTo>
                  <a:lnTo>
                    <a:pt x="0" y="44310"/>
                  </a:lnTo>
                  <a:lnTo>
                    <a:pt x="0" y="221564"/>
                  </a:lnTo>
                  <a:lnTo>
                    <a:pt x="3481" y="238814"/>
                  </a:lnTo>
                  <a:lnTo>
                    <a:pt x="12977" y="252903"/>
                  </a:lnTo>
                  <a:lnTo>
                    <a:pt x="27062" y="262403"/>
                  </a:lnTo>
                  <a:lnTo>
                    <a:pt x="44310" y="265887"/>
                  </a:lnTo>
                  <a:lnTo>
                    <a:pt x="851573" y="265887"/>
                  </a:lnTo>
                  <a:lnTo>
                    <a:pt x="868828" y="262403"/>
                  </a:lnTo>
                  <a:lnTo>
                    <a:pt x="882916" y="252903"/>
                  </a:lnTo>
                  <a:lnTo>
                    <a:pt x="892413" y="238814"/>
                  </a:lnTo>
                  <a:lnTo>
                    <a:pt x="895896" y="221564"/>
                  </a:lnTo>
                  <a:lnTo>
                    <a:pt x="895896" y="44310"/>
                  </a:lnTo>
                  <a:lnTo>
                    <a:pt x="892413" y="27062"/>
                  </a:lnTo>
                  <a:lnTo>
                    <a:pt x="882916" y="12977"/>
                  </a:lnTo>
                  <a:lnTo>
                    <a:pt x="868828" y="3481"/>
                  </a:lnTo>
                  <a:lnTo>
                    <a:pt x="851573" y="0"/>
                  </a:lnTo>
                  <a:close/>
                </a:path>
              </a:pathLst>
            </a:custGeom>
            <a:solidFill>
              <a:srgbClr val="BBE0E3"/>
            </a:solidFill>
          </p:spPr>
          <p:txBody>
            <a:bodyPr wrap="square" lIns="0" tIns="0" rIns="0" bIns="0" rtlCol="0"/>
            <a:lstStyle/>
            <a:p/>
          </p:txBody>
        </p:sp>
        <p:sp>
          <p:nvSpPr>
            <p:cNvPr id="5" name="object 5" descr=""/>
            <p:cNvSpPr/>
            <p:nvPr/>
          </p:nvSpPr>
          <p:spPr>
            <a:xfrm>
              <a:off x="305526" y="4353953"/>
              <a:ext cx="895985" cy="266065"/>
            </a:xfrm>
            <a:custGeom>
              <a:avLst/>
              <a:gdLst/>
              <a:ahLst/>
              <a:cxnLst/>
              <a:rect l="l" t="t" r="r" b="b"/>
              <a:pathLst>
                <a:path w="895985" h="266064">
                  <a:moveTo>
                    <a:pt x="0" y="44310"/>
                  </a:moveTo>
                  <a:lnTo>
                    <a:pt x="3481" y="27062"/>
                  </a:lnTo>
                  <a:lnTo>
                    <a:pt x="12977" y="12977"/>
                  </a:lnTo>
                  <a:lnTo>
                    <a:pt x="27062" y="3481"/>
                  </a:lnTo>
                  <a:lnTo>
                    <a:pt x="44310" y="0"/>
                  </a:lnTo>
                  <a:lnTo>
                    <a:pt x="851573" y="0"/>
                  </a:lnTo>
                  <a:lnTo>
                    <a:pt x="868828" y="3481"/>
                  </a:lnTo>
                  <a:lnTo>
                    <a:pt x="882916" y="12977"/>
                  </a:lnTo>
                  <a:lnTo>
                    <a:pt x="892413" y="27062"/>
                  </a:lnTo>
                  <a:lnTo>
                    <a:pt x="895896" y="44310"/>
                  </a:lnTo>
                  <a:lnTo>
                    <a:pt x="895896" y="221564"/>
                  </a:lnTo>
                  <a:lnTo>
                    <a:pt x="892413" y="238814"/>
                  </a:lnTo>
                  <a:lnTo>
                    <a:pt x="882916" y="252903"/>
                  </a:lnTo>
                  <a:lnTo>
                    <a:pt x="868828" y="262403"/>
                  </a:lnTo>
                  <a:lnTo>
                    <a:pt x="851573" y="265887"/>
                  </a:lnTo>
                  <a:lnTo>
                    <a:pt x="44310" y="265887"/>
                  </a:lnTo>
                  <a:lnTo>
                    <a:pt x="27062" y="262403"/>
                  </a:lnTo>
                  <a:lnTo>
                    <a:pt x="12977" y="252903"/>
                  </a:lnTo>
                  <a:lnTo>
                    <a:pt x="3481" y="238814"/>
                  </a:lnTo>
                  <a:lnTo>
                    <a:pt x="0" y="221564"/>
                  </a:lnTo>
                  <a:lnTo>
                    <a:pt x="0" y="44310"/>
                  </a:lnTo>
                  <a:close/>
                </a:path>
              </a:pathLst>
            </a:custGeom>
            <a:ln w="25400">
              <a:solidFill>
                <a:srgbClr val="89A4A7"/>
              </a:solidFill>
            </a:ln>
          </p:spPr>
          <p:txBody>
            <a:bodyPr wrap="square" lIns="0" tIns="0" rIns="0" bIns="0" rtlCol="0"/>
            <a:lstStyle/>
            <a:p/>
          </p:txBody>
        </p:sp>
      </p:grpSp>
      <p:sp>
        <p:nvSpPr>
          <p:cNvPr id="6" name="object 6" descr=""/>
          <p:cNvSpPr txBox="1"/>
          <p:nvPr/>
        </p:nvSpPr>
        <p:spPr>
          <a:xfrm>
            <a:off x="385362" y="4364464"/>
            <a:ext cx="735965" cy="238760"/>
          </a:xfrm>
          <a:prstGeom prst="rect">
            <a:avLst/>
          </a:prstGeom>
        </p:spPr>
        <p:txBody>
          <a:bodyPr wrap="square" lIns="0" tIns="12065" rIns="0" bIns="0" rtlCol="0" vert="horz">
            <a:spAutoFit/>
          </a:bodyPr>
          <a:lstStyle/>
          <a:p>
            <a:pPr marL="12700">
              <a:lnSpc>
                <a:spcPct val="100000"/>
              </a:lnSpc>
              <a:spcBef>
                <a:spcPts val="95"/>
              </a:spcBef>
            </a:pPr>
            <a:r>
              <a:rPr dirty="0" sz="1400" spc="-30">
                <a:solidFill>
                  <a:srgbClr val="FFFFFF"/>
                </a:solidFill>
                <a:latin typeface="SimSun"/>
                <a:cs typeface="SimSun"/>
              </a:rPr>
              <a:t>测试结论</a:t>
            </a:r>
            <a:endParaRPr sz="1400">
              <a:latin typeface="SimSun"/>
              <a:cs typeface="SimSun"/>
            </a:endParaRPr>
          </a:p>
        </p:txBody>
      </p:sp>
      <p:grpSp>
        <p:nvGrpSpPr>
          <p:cNvPr id="7" name="object 7" descr=""/>
          <p:cNvGrpSpPr/>
          <p:nvPr/>
        </p:nvGrpSpPr>
        <p:grpSpPr>
          <a:xfrm>
            <a:off x="2573782" y="1815668"/>
            <a:ext cx="4212590" cy="1919605"/>
            <a:chOff x="2573782" y="1815668"/>
            <a:chExt cx="4212590" cy="1919605"/>
          </a:xfrm>
        </p:grpSpPr>
        <p:pic>
          <p:nvPicPr>
            <p:cNvPr id="8" name="object 8"/>
            <p:cNvPicPr/>
            <p:nvPr/>
          </p:nvPicPr>
          <p:blipFill>
            <a:blip r:embed="rId2" cstate="print"/>
            <a:stretch>
              <a:fillRect/>
            </a:stretch>
          </p:blipFill>
          <p:spPr>
            <a:xfrm>
              <a:off x="2573782" y="1815668"/>
              <a:ext cx="2106229" cy="1919115"/>
            </a:xfrm>
            <a:prstGeom prst="rect">
              <a:avLst/>
            </a:prstGeom>
          </p:spPr>
        </p:pic>
        <p:pic>
          <p:nvPicPr>
            <p:cNvPr id="9" name="object 9"/>
            <p:cNvPicPr/>
            <p:nvPr/>
          </p:nvPicPr>
          <p:blipFill>
            <a:blip r:embed="rId3" cstate="print"/>
            <a:stretch>
              <a:fillRect/>
            </a:stretch>
          </p:blipFill>
          <p:spPr>
            <a:xfrm>
              <a:off x="4711839" y="1815668"/>
              <a:ext cx="2074405" cy="1919115"/>
            </a:xfrm>
            <a:prstGeom prst="rect">
              <a:avLst/>
            </a:prstGeom>
          </p:spPr>
        </p:pic>
      </p:grpSp>
      <p:grpSp>
        <p:nvGrpSpPr>
          <p:cNvPr id="10" name="object 10" descr=""/>
          <p:cNvGrpSpPr/>
          <p:nvPr/>
        </p:nvGrpSpPr>
        <p:grpSpPr>
          <a:xfrm>
            <a:off x="285488" y="830861"/>
            <a:ext cx="1653539" cy="328930"/>
            <a:chOff x="285488" y="830861"/>
            <a:chExt cx="1653539" cy="328930"/>
          </a:xfrm>
        </p:grpSpPr>
        <p:sp>
          <p:nvSpPr>
            <p:cNvPr id="11" name="object 11" descr=""/>
            <p:cNvSpPr/>
            <p:nvPr/>
          </p:nvSpPr>
          <p:spPr>
            <a:xfrm>
              <a:off x="298188" y="843561"/>
              <a:ext cx="1628139" cy="303530"/>
            </a:xfrm>
            <a:custGeom>
              <a:avLst/>
              <a:gdLst/>
              <a:ahLst/>
              <a:cxnLst/>
              <a:rect l="l" t="t" r="r" b="b"/>
              <a:pathLst>
                <a:path w="1628139" h="303530">
                  <a:moveTo>
                    <a:pt x="1576959" y="0"/>
                  </a:moveTo>
                  <a:lnTo>
                    <a:pt x="50558" y="0"/>
                  </a:lnTo>
                  <a:lnTo>
                    <a:pt x="30877" y="3972"/>
                  </a:lnTo>
                  <a:lnTo>
                    <a:pt x="14806" y="14806"/>
                  </a:lnTo>
                  <a:lnTo>
                    <a:pt x="3972" y="30877"/>
                  </a:lnTo>
                  <a:lnTo>
                    <a:pt x="0" y="50558"/>
                  </a:lnTo>
                  <a:lnTo>
                    <a:pt x="0" y="252793"/>
                  </a:lnTo>
                  <a:lnTo>
                    <a:pt x="3972" y="272477"/>
                  </a:lnTo>
                  <a:lnTo>
                    <a:pt x="14806" y="288551"/>
                  </a:lnTo>
                  <a:lnTo>
                    <a:pt x="30877" y="299390"/>
                  </a:lnTo>
                  <a:lnTo>
                    <a:pt x="50558" y="303364"/>
                  </a:lnTo>
                  <a:lnTo>
                    <a:pt x="1576959" y="303364"/>
                  </a:lnTo>
                  <a:lnTo>
                    <a:pt x="1596635" y="299390"/>
                  </a:lnTo>
                  <a:lnTo>
                    <a:pt x="1612706" y="288551"/>
                  </a:lnTo>
                  <a:lnTo>
                    <a:pt x="1623543" y="272477"/>
                  </a:lnTo>
                  <a:lnTo>
                    <a:pt x="1627517" y="252793"/>
                  </a:lnTo>
                  <a:lnTo>
                    <a:pt x="1627517" y="50558"/>
                  </a:lnTo>
                  <a:lnTo>
                    <a:pt x="1623543" y="30877"/>
                  </a:lnTo>
                  <a:lnTo>
                    <a:pt x="1612706" y="14806"/>
                  </a:lnTo>
                  <a:lnTo>
                    <a:pt x="1596635" y="3972"/>
                  </a:lnTo>
                  <a:lnTo>
                    <a:pt x="1576959" y="0"/>
                  </a:lnTo>
                  <a:close/>
                </a:path>
              </a:pathLst>
            </a:custGeom>
            <a:solidFill>
              <a:srgbClr val="BBE0E3"/>
            </a:solidFill>
          </p:spPr>
          <p:txBody>
            <a:bodyPr wrap="square" lIns="0" tIns="0" rIns="0" bIns="0" rtlCol="0"/>
            <a:lstStyle/>
            <a:p/>
          </p:txBody>
        </p:sp>
        <p:sp>
          <p:nvSpPr>
            <p:cNvPr id="12" name="object 12" descr=""/>
            <p:cNvSpPr/>
            <p:nvPr/>
          </p:nvSpPr>
          <p:spPr>
            <a:xfrm>
              <a:off x="298188" y="843561"/>
              <a:ext cx="1628139" cy="303530"/>
            </a:xfrm>
            <a:custGeom>
              <a:avLst/>
              <a:gdLst/>
              <a:ahLst/>
              <a:cxnLst/>
              <a:rect l="l" t="t" r="r" b="b"/>
              <a:pathLst>
                <a:path w="1628139" h="303530">
                  <a:moveTo>
                    <a:pt x="0" y="50558"/>
                  </a:moveTo>
                  <a:lnTo>
                    <a:pt x="3972" y="30877"/>
                  </a:lnTo>
                  <a:lnTo>
                    <a:pt x="14806" y="14806"/>
                  </a:lnTo>
                  <a:lnTo>
                    <a:pt x="30877" y="3972"/>
                  </a:lnTo>
                  <a:lnTo>
                    <a:pt x="50558" y="0"/>
                  </a:lnTo>
                  <a:lnTo>
                    <a:pt x="1576959" y="0"/>
                  </a:lnTo>
                  <a:lnTo>
                    <a:pt x="1596635" y="3972"/>
                  </a:lnTo>
                  <a:lnTo>
                    <a:pt x="1612706" y="14806"/>
                  </a:lnTo>
                  <a:lnTo>
                    <a:pt x="1623543" y="30877"/>
                  </a:lnTo>
                  <a:lnTo>
                    <a:pt x="1627517" y="50558"/>
                  </a:lnTo>
                  <a:lnTo>
                    <a:pt x="1627517" y="252793"/>
                  </a:lnTo>
                  <a:lnTo>
                    <a:pt x="1623543" y="272477"/>
                  </a:lnTo>
                  <a:lnTo>
                    <a:pt x="1612706" y="288551"/>
                  </a:lnTo>
                  <a:lnTo>
                    <a:pt x="1596635" y="299390"/>
                  </a:lnTo>
                  <a:lnTo>
                    <a:pt x="1576959" y="303364"/>
                  </a:lnTo>
                  <a:lnTo>
                    <a:pt x="50558" y="303364"/>
                  </a:lnTo>
                  <a:lnTo>
                    <a:pt x="30877" y="299390"/>
                  </a:lnTo>
                  <a:lnTo>
                    <a:pt x="14806" y="288551"/>
                  </a:lnTo>
                  <a:lnTo>
                    <a:pt x="3972" y="272477"/>
                  </a:lnTo>
                  <a:lnTo>
                    <a:pt x="0" y="252793"/>
                  </a:lnTo>
                  <a:lnTo>
                    <a:pt x="0" y="50558"/>
                  </a:lnTo>
                  <a:close/>
                </a:path>
              </a:pathLst>
            </a:custGeom>
            <a:ln w="25399">
              <a:solidFill>
                <a:srgbClr val="89A4A7"/>
              </a:solidFill>
            </a:ln>
          </p:spPr>
          <p:txBody>
            <a:bodyPr wrap="square" lIns="0" tIns="0" rIns="0" bIns="0" rtlCol="0"/>
            <a:lstStyle/>
            <a:p/>
          </p:txBody>
        </p:sp>
      </p:grpSp>
      <p:sp>
        <p:nvSpPr>
          <p:cNvPr id="13" name="object 13" descr=""/>
          <p:cNvSpPr txBox="1"/>
          <p:nvPr/>
        </p:nvSpPr>
        <p:spPr>
          <a:xfrm>
            <a:off x="388809" y="872812"/>
            <a:ext cx="1445895" cy="238760"/>
          </a:xfrm>
          <a:prstGeom prst="rect">
            <a:avLst/>
          </a:prstGeom>
        </p:spPr>
        <p:txBody>
          <a:bodyPr wrap="square" lIns="0" tIns="12065" rIns="0" bIns="0" rtlCol="0" vert="horz">
            <a:spAutoFit/>
          </a:bodyPr>
          <a:lstStyle/>
          <a:p>
            <a:pPr marL="12700">
              <a:lnSpc>
                <a:spcPct val="100000"/>
              </a:lnSpc>
              <a:spcBef>
                <a:spcPts val="95"/>
              </a:spcBef>
            </a:pPr>
            <a:r>
              <a:rPr dirty="0" sz="1400" spc="-25">
                <a:solidFill>
                  <a:srgbClr val="FFFFFF"/>
                </a:solidFill>
                <a:latin typeface="SimSun"/>
                <a:cs typeface="SimSun"/>
              </a:rPr>
              <a:t>峰值速率测试结果</a:t>
            </a:r>
            <a:endParaRPr sz="1400">
              <a:latin typeface="SimSun"/>
              <a:cs typeface="SimSun"/>
            </a:endParaRPr>
          </a:p>
        </p:txBody>
      </p:sp>
      <p:sp>
        <p:nvSpPr>
          <p:cNvPr id="14" name="object 14" descr=""/>
          <p:cNvSpPr txBox="1"/>
          <p:nvPr/>
        </p:nvSpPr>
        <p:spPr>
          <a:xfrm>
            <a:off x="1371600" y="4400550"/>
            <a:ext cx="7315200" cy="469900"/>
          </a:xfrm>
          <a:prstGeom prst="rect">
            <a:avLst/>
          </a:prstGeom>
          <a:ln w="9525">
            <a:solidFill>
              <a:srgbClr val="FF0000"/>
            </a:solidFill>
          </a:ln>
        </p:spPr>
        <p:txBody>
          <a:bodyPr wrap="square" lIns="0" tIns="31115" rIns="0" bIns="0" rtlCol="0" vert="horz">
            <a:spAutoFit/>
          </a:bodyPr>
          <a:lstStyle/>
          <a:p>
            <a:pPr marL="283210" marR="178435" indent="-215265">
              <a:lnSpc>
                <a:spcPct val="100000"/>
              </a:lnSpc>
              <a:spcBef>
                <a:spcPts val="245"/>
              </a:spcBef>
              <a:buFont typeface="Arial MT"/>
              <a:buChar char="•"/>
              <a:tabLst>
                <a:tab pos="283210" algn="l"/>
              </a:tabLst>
            </a:pPr>
            <a:r>
              <a:rPr dirty="0" sz="1300" spc="-5">
                <a:latin typeface="SimSun"/>
                <a:cs typeface="SimSun"/>
              </a:rPr>
              <a:t>外场无线环境下极好点上行</a:t>
            </a:r>
            <a:r>
              <a:rPr dirty="0" sz="1300" spc="-10">
                <a:latin typeface="Arial MT"/>
                <a:cs typeface="Arial MT"/>
              </a:rPr>
              <a:t>UDP</a:t>
            </a:r>
            <a:r>
              <a:rPr dirty="0" sz="1300" spc="-10">
                <a:latin typeface="SimSun"/>
                <a:cs typeface="SimSun"/>
              </a:rPr>
              <a:t>业务平均速率达到</a:t>
            </a:r>
            <a:r>
              <a:rPr dirty="0" sz="1300" spc="-20">
                <a:latin typeface="Arial MT"/>
                <a:cs typeface="Arial MT"/>
              </a:rPr>
              <a:t>2</a:t>
            </a:r>
            <a:r>
              <a:rPr dirty="0" sz="1300">
                <a:latin typeface="SimSun"/>
                <a:cs typeface="SimSun"/>
              </a:rPr>
              <a:t>流</a:t>
            </a:r>
            <a:r>
              <a:rPr dirty="0" sz="1300" spc="-10">
                <a:latin typeface="Arial MT"/>
                <a:cs typeface="Arial MT"/>
              </a:rPr>
              <a:t>186Mbps</a:t>
            </a:r>
            <a:r>
              <a:rPr dirty="0" sz="1300" spc="-10">
                <a:latin typeface="SimSun"/>
                <a:cs typeface="SimSun"/>
              </a:rPr>
              <a:t>，下行</a:t>
            </a:r>
            <a:r>
              <a:rPr dirty="0" sz="1300" spc="-10">
                <a:latin typeface="Arial MT"/>
                <a:cs typeface="Arial MT"/>
              </a:rPr>
              <a:t>UDP</a:t>
            </a:r>
            <a:r>
              <a:rPr dirty="0" sz="1300" spc="-10">
                <a:latin typeface="SimSun"/>
                <a:cs typeface="SimSun"/>
              </a:rPr>
              <a:t>业务平均速率达到</a:t>
            </a:r>
            <a:r>
              <a:rPr dirty="0" sz="1300" spc="-50">
                <a:latin typeface="Arial MT"/>
                <a:cs typeface="Arial MT"/>
              </a:rPr>
              <a:t>4</a:t>
            </a:r>
            <a:r>
              <a:rPr dirty="0" sz="1300">
                <a:latin typeface="SimSun"/>
                <a:cs typeface="SimSun"/>
              </a:rPr>
              <a:t>流</a:t>
            </a:r>
            <a:r>
              <a:rPr dirty="0" sz="1300" spc="-10">
                <a:latin typeface="Arial MT"/>
                <a:cs typeface="Arial MT"/>
              </a:rPr>
              <a:t>1.6G</a:t>
            </a:r>
            <a:r>
              <a:rPr dirty="0" sz="1300" spc="-15">
                <a:latin typeface="SimSun"/>
                <a:cs typeface="SimSun"/>
              </a:rPr>
              <a:t>，接近理论峰速。</a:t>
            </a:r>
            <a:endParaRPr sz="1300">
              <a:latin typeface="SimSun"/>
              <a:cs typeface="SimSun"/>
            </a:endParaRPr>
          </a:p>
        </p:txBody>
      </p:sp>
      <p:graphicFrame>
        <p:nvGraphicFramePr>
          <p:cNvPr id="15" name="object 15" descr=""/>
          <p:cNvGraphicFramePr>
            <a:graphicFrameLocks noGrp="1"/>
          </p:cNvGraphicFramePr>
          <p:nvPr/>
        </p:nvGraphicFramePr>
        <p:xfrm>
          <a:off x="318641" y="1211836"/>
          <a:ext cx="6496685" cy="542290"/>
        </p:xfrm>
        <a:graphic>
          <a:graphicData uri="http://schemas.openxmlformats.org/drawingml/2006/table">
            <a:tbl>
              <a:tblPr firstRow="1" bandRow="1">
                <a:tableStyleId>{2D5ABB26-0587-4C30-8999-92F81FD0307C}</a:tableStyleId>
              </a:tblPr>
              <a:tblGrid>
                <a:gridCol w="1654810"/>
                <a:gridCol w="989330"/>
                <a:gridCol w="627380"/>
                <a:gridCol w="627379"/>
                <a:gridCol w="627379"/>
                <a:gridCol w="627379"/>
                <a:gridCol w="627379"/>
                <a:gridCol w="627379"/>
              </a:tblGrid>
              <a:tr h="215900">
                <a:tc>
                  <a:txBody>
                    <a:bodyPr/>
                    <a:lstStyle/>
                    <a:p>
                      <a:pPr algn="ctr">
                        <a:lnSpc>
                          <a:spcPct val="100000"/>
                        </a:lnSpc>
                        <a:spcBef>
                          <a:spcPts val="305"/>
                        </a:spcBef>
                      </a:pPr>
                      <a:r>
                        <a:rPr dirty="0" sz="900" spc="-20">
                          <a:solidFill>
                            <a:srgbClr val="403151"/>
                          </a:solidFill>
                          <a:latin typeface="Microsoft YaHei"/>
                          <a:cs typeface="Microsoft YaHei"/>
                        </a:rPr>
                        <a:t>基站名</a:t>
                      </a:r>
                      <a:endParaRPr sz="900">
                        <a:latin typeface="Microsoft YaHei"/>
                        <a:cs typeface="Microsoft YaHei"/>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AEEF3"/>
                    </a:solidFill>
                  </a:tcPr>
                </a:tc>
                <a:tc>
                  <a:txBody>
                    <a:bodyPr/>
                    <a:lstStyle/>
                    <a:p>
                      <a:pPr algn="ctr">
                        <a:lnSpc>
                          <a:spcPct val="100000"/>
                        </a:lnSpc>
                        <a:spcBef>
                          <a:spcPts val="305"/>
                        </a:spcBef>
                      </a:pPr>
                      <a:r>
                        <a:rPr dirty="0" baseline="3086" sz="1350" spc="-15">
                          <a:solidFill>
                            <a:srgbClr val="403151"/>
                          </a:solidFill>
                          <a:latin typeface="Arial MT"/>
                          <a:cs typeface="Arial MT"/>
                        </a:rPr>
                        <a:t>ENB+</a:t>
                      </a:r>
                      <a:r>
                        <a:rPr dirty="0" sz="900">
                          <a:solidFill>
                            <a:srgbClr val="403151"/>
                          </a:solidFill>
                          <a:latin typeface="Microsoft YaHei"/>
                          <a:cs typeface="Microsoft YaHei"/>
                        </a:rPr>
                        <a:t>本地</a:t>
                      </a:r>
                      <a:r>
                        <a:rPr dirty="0" baseline="3086" sz="1350" spc="-37">
                          <a:solidFill>
                            <a:srgbClr val="403151"/>
                          </a:solidFill>
                          <a:latin typeface="Arial MT"/>
                          <a:cs typeface="Arial MT"/>
                        </a:rPr>
                        <a:t>ID</a:t>
                      </a:r>
                      <a:endParaRPr baseline="3086" sz="1350">
                        <a:latin typeface="Arial MT"/>
                        <a:cs typeface="Arial MT"/>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AEEF3"/>
                    </a:solidFill>
                  </a:tcPr>
                </a:tc>
                <a:tc>
                  <a:txBody>
                    <a:bodyPr/>
                    <a:lstStyle/>
                    <a:p>
                      <a:pPr algn="ctr">
                        <a:lnSpc>
                          <a:spcPct val="100000"/>
                        </a:lnSpc>
                        <a:spcBef>
                          <a:spcPts val="305"/>
                        </a:spcBef>
                      </a:pPr>
                      <a:r>
                        <a:rPr dirty="0" baseline="3086" sz="1350" spc="-15">
                          <a:solidFill>
                            <a:srgbClr val="403151"/>
                          </a:solidFill>
                          <a:latin typeface="Arial MT"/>
                          <a:cs typeface="Arial MT"/>
                        </a:rPr>
                        <a:t>GPS</a:t>
                      </a:r>
                      <a:r>
                        <a:rPr dirty="0" sz="900" spc="-25">
                          <a:solidFill>
                            <a:srgbClr val="403151"/>
                          </a:solidFill>
                          <a:latin typeface="Microsoft YaHei"/>
                          <a:cs typeface="Microsoft YaHei"/>
                        </a:rPr>
                        <a:t>经度</a:t>
                      </a:r>
                      <a:endParaRPr sz="900">
                        <a:latin typeface="Microsoft YaHei"/>
                        <a:cs typeface="Microsoft YaHei"/>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AEEF3"/>
                    </a:solidFill>
                  </a:tcPr>
                </a:tc>
                <a:tc>
                  <a:txBody>
                    <a:bodyPr/>
                    <a:lstStyle/>
                    <a:p>
                      <a:pPr algn="ctr">
                        <a:lnSpc>
                          <a:spcPct val="100000"/>
                        </a:lnSpc>
                        <a:spcBef>
                          <a:spcPts val="305"/>
                        </a:spcBef>
                      </a:pPr>
                      <a:r>
                        <a:rPr dirty="0" baseline="3086" sz="1350" spc="-15">
                          <a:solidFill>
                            <a:srgbClr val="403151"/>
                          </a:solidFill>
                          <a:latin typeface="Arial MT"/>
                          <a:cs typeface="Arial MT"/>
                        </a:rPr>
                        <a:t>GPS</a:t>
                      </a:r>
                      <a:r>
                        <a:rPr dirty="0" sz="900" spc="-25">
                          <a:solidFill>
                            <a:srgbClr val="403151"/>
                          </a:solidFill>
                          <a:latin typeface="Microsoft YaHei"/>
                          <a:cs typeface="Microsoft YaHei"/>
                        </a:rPr>
                        <a:t>纬度</a:t>
                      </a:r>
                      <a:endParaRPr sz="900">
                        <a:latin typeface="Microsoft YaHei"/>
                        <a:cs typeface="Microsoft YaHei"/>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AEEF3"/>
                    </a:solidFill>
                  </a:tcPr>
                </a:tc>
                <a:tc>
                  <a:txBody>
                    <a:bodyPr/>
                    <a:lstStyle/>
                    <a:p>
                      <a:pPr algn="ctr">
                        <a:lnSpc>
                          <a:spcPct val="100000"/>
                        </a:lnSpc>
                        <a:spcBef>
                          <a:spcPts val="305"/>
                        </a:spcBef>
                      </a:pPr>
                      <a:r>
                        <a:rPr dirty="0" sz="900" spc="-20">
                          <a:solidFill>
                            <a:srgbClr val="403151"/>
                          </a:solidFill>
                          <a:latin typeface="Microsoft YaHei"/>
                          <a:cs typeface="Microsoft YaHei"/>
                        </a:rPr>
                        <a:t>方位角</a:t>
                      </a:r>
                      <a:endParaRPr sz="900">
                        <a:latin typeface="Microsoft YaHei"/>
                        <a:cs typeface="Microsoft YaHei"/>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AEEF3"/>
                    </a:solidFill>
                  </a:tcPr>
                </a:tc>
                <a:tc>
                  <a:txBody>
                    <a:bodyPr/>
                    <a:lstStyle/>
                    <a:p>
                      <a:pPr algn="ctr">
                        <a:lnSpc>
                          <a:spcPct val="100000"/>
                        </a:lnSpc>
                        <a:spcBef>
                          <a:spcPts val="305"/>
                        </a:spcBef>
                      </a:pPr>
                      <a:r>
                        <a:rPr dirty="0" sz="900" spc="-20">
                          <a:solidFill>
                            <a:srgbClr val="403151"/>
                          </a:solidFill>
                          <a:latin typeface="Microsoft YaHei"/>
                          <a:cs typeface="Microsoft YaHei"/>
                        </a:rPr>
                        <a:t>下倾角</a:t>
                      </a:r>
                      <a:endParaRPr sz="900">
                        <a:latin typeface="Microsoft YaHei"/>
                        <a:cs typeface="Microsoft YaHei"/>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AEEF3"/>
                    </a:solidFill>
                  </a:tcPr>
                </a:tc>
                <a:tc>
                  <a:txBody>
                    <a:bodyPr/>
                    <a:lstStyle/>
                    <a:p>
                      <a:pPr algn="ctr">
                        <a:lnSpc>
                          <a:spcPct val="100000"/>
                        </a:lnSpc>
                        <a:spcBef>
                          <a:spcPts val="305"/>
                        </a:spcBef>
                      </a:pPr>
                      <a:r>
                        <a:rPr dirty="0" sz="900" spc="-15">
                          <a:solidFill>
                            <a:srgbClr val="403151"/>
                          </a:solidFill>
                          <a:latin typeface="Microsoft YaHei"/>
                          <a:cs typeface="Microsoft YaHei"/>
                        </a:rPr>
                        <a:t>天线挂高</a:t>
                      </a:r>
                      <a:endParaRPr sz="900">
                        <a:latin typeface="Microsoft YaHei"/>
                        <a:cs typeface="Microsoft YaHei"/>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AEEF3"/>
                    </a:solidFill>
                  </a:tcPr>
                </a:tc>
                <a:tc>
                  <a:txBody>
                    <a:bodyPr/>
                    <a:lstStyle/>
                    <a:p>
                      <a:pPr algn="ctr">
                        <a:lnSpc>
                          <a:spcPct val="100000"/>
                        </a:lnSpc>
                        <a:spcBef>
                          <a:spcPts val="305"/>
                        </a:spcBef>
                      </a:pPr>
                      <a:r>
                        <a:rPr dirty="0" sz="900" spc="-15">
                          <a:solidFill>
                            <a:srgbClr val="403151"/>
                          </a:solidFill>
                          <a:latin typeface="Microsoft YaHei"/>
                          <a:cs typeface="Microsoft YaHei"/>
                        </a:rPr>
                        <a:t>业务方向</a:t>
                      </a:r>
                      <a:endParaRPr sz="900">
                        <a:latin typeface="Microsoft YaHei"/>
                        <a:cs typeface="Microsoft YaHei"/>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AEEF3"/>
                    </a:solidFill>
                  </a:tcPr>
                </a:tc>
              </a:tr>
              <a:tr h="163195">
                <a:tc>
                  <a:txBody>
                    <a:bodyPr/>
                    <a:lstStyle/>
                    <a:p>
                      <a:pPr algn="ctr">
                        <a:lnSpc>
                          <a:spcPct val="100000"/>
                        </a:lnSpc>
                        <a:spcBef>
                          <a:spcPts val="100"/>
                        </a:spcBef>
                      </a:pPr>
                      <a:r>
                        <a:rPr dirty="0" sz="900" spc="-5">
                          <a:latin typeface="Microsoft YaHei"/>
                          <a:cs typeface="Microsoft YaHei"/>
                        </a:rPr>
                        <a:t>江夏大道与汤逊湖北路交叉口</a:t>
                      </a:r>
                      <a:endParaRPr sz="900">
                        <a:latin typeface="Microsoft YaHei"/>
                        <a:cs typeface="Microsoft YaHei"/>
                      </a:endParaRPr>
                    </a:p>
                  </a:txBody>
                  <a:tcPr marL="0" marR="0" marB="0" marT="127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
                        </a:spcBef>
                      </a:pPr>
                      <a:r>
                        <a:rPr dirty="0" sz="900" spc="-10">
                          <a:latin typeface="SimSun"/>
                          <a:cs typeface="SimSun"/>
                        </a:rPr>
                        <a:t>100105</a:t>
                      </a:r>
                      <a:endParaRPr sz="900">
                        <a:latin typeface="SimSun"/>
                        <a:cs typeface="SimSun"/>
                      </a:endParaRPr>
                    </a:p>
                  </a:txBody>
                  <a:tcPr marL="0" marR="0" marB="0" marT="88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5"/>
                        </a:spcBef>
                      </a:pPr>
                      <a:r>
                        <a:rPr dirty="0" sz="900" spc="-10">
                          <a:latin typeface="SimSun"/>
                          <a:cs typeface="SimSun"/>
                        </a:rPr>
                        <a:t>114.38305</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5"/>
                        </a:spcBef>
                      </a:pPr>
                      <a:r>
                        <a:rPr dirty="0" sz="900" spc="-10">
                          <a:latin typeface="SimSun"/>
                          <a:cs typeface="SimSun"/>
                        </a:rPr>
                        <a:t>30.45462</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5"/>
                        </a:spcBef>
                      </a:pPr>
                      <a:r>
                        <a:rPr dirty="0" sz="900" spc="-50">
                          <a:latin typeface="SimSun"/>
                          <a:cs typeface="SimSun"/>
                        </a:rPr>
                        <a:t>0</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5"/>
                        </a:spcBef>
                      </a:pPr>
                      <a:r>
                        <a:rPr dirty="0" sz="900" spc="-50">
                          <a:latin typeface="SimSun"/>
                          <a:cs typeface="SimSun"/>
                        </a:rPr>
                        <a:t>7</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5"/>
                        </a:spcBef>
                      </a:pPr>
                      <a:r>
                        <a:rPr dirty="0" sz="900" spc="-25">
                          <a:latin typeface="SimSun"/>
                          <a:cs typeface="SimSun"/>
                        </a:rPr>
                        <a:t>27</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5"/>
                        </a:spcBef>
                      </a:pPr>
                      <a:r>
                        <a:rPr dirty="0" sz="900">
                          <a:latin typeface="Microsoft YaHei"/>
                          <a:cs typeface="Microsoft YaHei"/>
                        </a:rPr>
                        <a:t>上行</a:t>
                      </a:r>
                      <a:r>
                        <a:rPr dirty="0" baseline="3086" sz="1350" spc="-37">
                          <a:latin typeface="SimSun"/>
                          <a:cs typeface="SimSun"/>
                        </a:rPr>
                        <a:t>UDP</a:t>
                      </a:r>
                      <a:endParaRPr baseline="3086" sz="1350">
                        <a:latin typeface="SimSun"/>
                        <a:cs typeface="SimSun"/>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63195">
                <a:tc>
                  <a:txBody>
                    <a:bodyPr/>
                    <a:lstStyle/>
                    <a:p>
                      <a:pPr algn="ctr">
                        <a:lnSpc>
                          <a:spcPct val="100000"/>
                        </a:lnSpc>
                        <a:spcBef>
                          <a:spcPts val="95"/>
                        </a:spcBef>
                      </a:pPr>
                      <a:r>
                        <a:rPr dirty="0" sz="900" spc="-5">
                          <a:latin typeface="Microsoft YaHei"/>
                          <a:cs typeface="Microsoft YaHei"/>
                        </a:rPr>
                        <a:t>江夏理工园路与大学院路交叉口</a:t>
                      </a:r>
                      <a:endParaRPr sz="900">
                        <a:latin typeface="Microsoft YaHei"/>
                        <a:cs typeface="Microsoft YaHei"/>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5"/>
                        </a:spcBef>
                      </a:pPr>
                      <a:r>
                        <a:rPr dirty="0" sz="900" spc="-10">
                          <a:latin typeface="SimSun"/>
                          <a:cs typeface="SimSun"/>
                        </a:rPr>
                        <a:t>100130</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5"/>
                        </a:spcBef>
                      </a:pPr>
                      <a:r>
                        <a:rPr dirty="0" sz="900" spc="-10">
                          <a:latin typeface="SimSun"/>
                          <a:cs typeface="SimSun"/>
                        </a:rPr>
                        <a:t>114.38886</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5"/>
                        </a:spcBef>
                      </a:pPr>
                      <a:r>
                        <a:rPr dirty="0" sz="900" spc="-10">
                          <a:latin typeface="SimSun"/>
                          <a:cs typeface="SimSun"/>
                        </a:rPr>
                        <a:t>30.44822</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5"/>
                        </a:spcBef>
                      </a:pPr>
                      <a:r>
                        <a:rPr dirty="0" sz="900" spc="-25">
                          <a:latin typeface="SimSun"/>
                          <a:cs typeface="SimSun"/>
                        </a:rPr>
                        <a:t>140</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5"/>
                        </a:spcBef>
                      </a:pPr>
                      <a:r>
                        <a:rPr dirty="0" sz="900" spc="-50">
                          <a:latin typeface="SimSun"/>
                          <a:cs typeface="SimSun"/>
                        </a:rPr>
                        <a:t>6</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5"/>
                        </a:spcBef>
                      </a:pPr>
                      <a:r>
                        <a:rPr dirty="0" sz="900" spc="-25">
                          <a:latin typeface="SimSun"/>
                          <a:cs typeface="SimSun"/>
                        </a:rPr>
                        <a:t>20</a:t>
                      </a:r>
                      <a:endParaRPr sz="900">
                        <a:latin typeface="SimSun"/>
                        <a:cs typeface="SimSun"/>
                      </a:endParaRPr>
                    </a:p>
                  </a:txBody>
                  <a:tcPr marL="0" marR="0" marB="0" marT="82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5"/>
                        </a:spcBef>
                      </a:pPr>
                      <a:r>
                        <a:rPr dirty="0" sz="900">
                          <a:latin typeface="Microsoft YaHei"/>
                          <a:cs typeface="Microsoft YaHei"/>
                        </a:rPr>
                        <a:t>下行</a:t>
                      </a:r>
                      <a:r>
                        <a:rPr dirty="0" baseline="3086" sz="1350" spc="-37">
                          <a:latin typeface="SimSun"/>
                          <a:cs typeface="SimSun"/>
                        </a:rPr>
                        <a:t>UDP</a:t>
                      </a:r>
                      <a:endParaRPr baseline="3086" sz="1350">
                        <a:latin typeface="SimSun"/>
                        <a:cs typeface="SimSun"/>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pic>
        <p:nvPicPr>
          <p:cNvPr id="16" name="object 16"/>
          <p:cNvPicPr/>
          <p:nvPr/>
        </p:nvPicPr>
        <p:blipFill>
          <a:blip r:embed="rId4" cstate="print"/>
          <a:stretch>
            <a:fillRect/>
          </a:stretch>
        </p:blipFill>
        <p:spPr>
          <a:xfrm>
            <a:off x="305526" y="1815668"/>
            <a:ext cx="2214242" cy="1919109"/>
          </a:xfrm>
          <a:prstGeom prst="rect">
            <a:avLst/>
          </a:prstGeom>
        </p:spPr>
      </p:pic>
      <p:grpSp>
        <p:nvGrpSpPr>
          <p:cNvPr id="17" name="object 17" descr=""/>
          <p:cNvGrpSpPr/>
          <p:nvPr/>
        </p:nvGrpSpPr>
        <p:grpSpPr>
          <a:xfrm>
            <a:off x="6837076" y="732370"/>
            <a:ext cx="2112645" cy="1023619"/>
            <a:chOff x="6837076" y="732370"/>
            <a:chExt cx="2112645" cy="1023619"/>
          </a:xfrm>
        </p:grpSpPr>
        <p:sp>
          <p:nvSpPr>
            <p:cNvPr id="18" name="object 18" descr=""/>
            <p:cNvSpPr/>
            <p:nvPr/>
          </p:nvSpPr>
          <p:spPr>
            <a:xfrm>
              <a:off x="6840251" y="732370"/>
              <a:ext cx="0" cy="1023619"/>
            </a:xfrm>
            <a:custGeom>
              <a:avLst/>
              <a:gdLst/>
              <a:ahLst/>
              <a:cxnLst/>
              <a:rect l="l" t="t" r="r" b="b"/>
              <a:pathLst>
                <a:path w="0" h="1023619">
                  <a:moveTo>
                    <a:pt x="0" y="0"/>
                  </a:moveTo>
                  <a:lnTo>
                    <a:pt x="0" y="1023619"/>
                  </a:lnTo>
                </a:path>
              </a:pathLst>
            </a:custGeom>
            <a:ln w="6350">
              <a:solidFill>
                <a:srgbClr val="000000"/>
              </a:solidFill>
            </a:ln>
          </p:spPr>
          <p:txBody>
            <a:bodyPr wrap="square" lIns="0" tIns="0" rIns="0" bIns="0" rtlCol="0"/>
            <a:lstStyle/>
            <a:p/>
          </p:txBody>
        </p:sp>
        <p:sp>
          <p:nvSpPr>
            <p:cNvPr id="19" name="object 19" descr=""/>
            <p:cNvSpPr/>
            <p:nvPr/>
          </p:nvSpPr>
          <p:spPr>
            <a:xfrm>
              <a:off x="8946486" y="732370"/>
              <a:ext cx="0" cy="1023619"/>
            </a:xfrm>
            <a:custGeom>
              <a:avLst/>
              <a:gdLst/>
              <a:ahLst/>
              <a:cxnLst/>
              <a:rect l="l" t="t" r="r" b="b"/>
              <a:pathLst>
                <a:path w="0" h="1023619">
                  <a:moveTo>
                    <a:pt x="0" y="0"/>
                  </a:moveTo>
                  <a:lnTo>
                    <a:pt x="0" y="1023619"/>
                  </a:lnTo>
                </a:path>
              </a:pathLst>
            </a:custGeom>
            <a:ln w="6350">
              <a:solidFill>
                <a:srgbClr val="000000"/>
              </a:solidFill>
            </a:ln>
          </p:spPr>
          <p:txBody>
            <a:bodyPr wrap="square" lIns="0" tIns="0" rIns="0" bIns="0" rtlCol="0"/>
            <a:lstStyle/>
            <a:p/>
          </p:txBody>
        </p:sp>
        <p:sp>
          <p:nvSpPr>
            <p:cNvPr id="20" name="object 20" descr=""/>
            <p:cNvSpPr/>
            <p:nvPr/>
          </p:nvSpPr>
          <p:spPr>
            <a:xfrm>
              <a:off x="6837076" y="735545"/>
              <a:ext cx="2112645" cy="0"/>
            </a:xfrm>
            <a:custGeom>
              <a:avLst/>
              <a:gdLst/>
              <a:ahLst/>
              <a:cxnLst/>
              <a:rect l="l" t="t" r="r" b="b"/>
              <a:pathLst>
                <a:path w="2112645" h="0">
                  <a:moveTo>
                    <a:pt x="0" y="0"/>
                  </a:moveTo>
                  <a:lnTo>
                    <a:pt x="2112581" y="0"/>
                  </a:lnTo>
                </a:path>
              </a:pathLst>
            </a:custGeom>
            <a:ln w="6350">
              <a:solidFill>
                <a:srgbClr val="000000"/>
              </a:solidFill>
            </a:ln>
          </p:spPr>
          <p:txBody>
            <a:bodyPr wrap="square" lIns="0" tIns="0" rIns="0" bIns="0" rtlCol="0"/>
            <a:lstStyle/>
            <a:p/>
          </p:txBody>
        </p:sp>
      </p:grpSp>
      <p:sp>
        <p:nvSpPr>
          <p:cNvPr id="21" name="object 21" descr=""/>
          <p:cNvSpPr txBox="1"/>
          <p:nvPr/>
        </p:nvSpPr>
        <p:spPr>
          <a:xfrm>
            <a:off x="7651877" y="722083"/>
            <a:ext cx="482600" cy="162560"/>
          </a:xfrm>
          <a:prstGeom prst="rect">
            <a:avLst/>
          </a:prstGeom>
        </p:spPr>
        <p:txBody>
          <a:bodyPr wrap="square" lIns="0" tIns="12700" rIns="0" bIns="0" rtlCol="0" vert="horz">
            <a:spAutoFit/>
          </a:bodyPr>
          <a:lstStyle/>
          <a:p>
            <a:pPr marL="12700">
              <a:lnSpc>
                <a:spcPct val="100000"/>
              </a:lnSpc>
              <a:spcBef>
                <a:spcPts val="100"/>
              </a:spcBef>
            </a:pPr>
            <a:r>
              <a:rPr dirty="0" sz="900" spc="-15">
                <a:latin typeface="Microsoft YaHei"/>
                <a:cs typeface="Microsoft YaHei"/>
              </a:rPr>
              <a:t>配置信息</a:t>
            </a:r>
            <a:endParaRPr sz="900">
              <a:latin typeface="Microsoft YaHei"/>
              <a:cs typeface="Microsoft YaHei"/>
            </a:endParaRPr>
          </a:p>
        </p:txBody>
      </p:sp>
      <p:sp>
        <p:nvSpPr>
          <p:cNvPr id="22" name="object 22" descr=""/>
          <p:cNvSpPr txBox="1"/>
          <p:nvPr/>
        </p:nvSpPr>
        <p:spPr>
          <a:xfrm>
            <a:off x="6840251" y="872705"/>
            <a:ext cx="1014730" cy="125730"/>
          </a:xfrm>
          <a:prstGeom prst="rect">
            <a:avLst/>
          </a:prstGeom>
          <a:ln w="6350">
            <a:solidFill>
              <a:srgbClr val="000000"/>
            </a:solidFill>
          </a:ln>
        </p:spPr>
        <p:txBody>
          <a:bodyPr wrap="square" lIns="0" tIns="635" rIns="0" bIns="0" rtlCol="0" vert="horz">
            <a:spAutoFit/>
          </a:bodyPr>
          <a:lstStyle/>
          <a:p>
            <a:pPr algn="ctr">
              <a:lnSpc>
                <a:spcPct val="100000"/>
              </a:lnSpc>
              <a:spcBef>
                <a:spcPts val="5"/>
              </a:spcBef>
            </a:pPr>
            <a:r>
              <a:rPr dirty="0" sz="800" spc="-25">
                <a:latin typeface="Microsoft YaHei"/>
                <a:cs typeface="Microsoft YaHei"/>
              </a:rPr>
              <a:t>帧结构</a:t>
            </a:r>
            <a:endParaRPr sz="800">
              <a:latin typeface="Microsoft YaHei"/>
              <a:cs typeface="Microsoft YaHei"/>
            </a:endParaRPr>
          </a:p>
        </p:txBody>
      </p:sp>
      <p:sp>
        <p:nvSpPr>
          <p:cNvPr id="23" name="object 23" descr=""/>
          <p:cNvSpPr txBox="1"/>
          <p:nvPr/>
        </p:nvSpPr>
        <p:spPr>
          <a:xfrm>
            <a:off x="7854508" y="872705"/>
            <a:ext cx="1092200" cy="125730"/>
          </a:xfrm>
          <a:prstGeom prst="rect">
            <a:avLst/>
          </a:prstGeom>
          <a:ln w="6350">
            <a:solidFill>
              <a:srgbClr val="000000"/>
            </a:solidFill>
          </a:ln>
        </p:spPr>
        <p:txBody>
          <a:bodyPr wrap="square" lIns="0" tIns="635" rIns="0" bIns="0" rtlCol="0" vert="horz">
            <a:spAutoFit/>
          </a:bodyPr>
          <a:lstStyle/>
          <a:p>
            <a:pPr marL="189230">
              <a:lnSpc>
                <a:spcPct val="100000"/>
              </a:lnSpc>
              <a:spcBef>
                <a:spcPts val="5"/>
              </a:spcBef>
            </a:pPr>
            <a:r>
              <a:rPr dirty="0" baseline="3472" sz="1200" spc="-15">
                <a:latin typeface="SimSun"/>
                <a:cs typeface="SimSun"/>
              </a:rPr>
              <a:t>DDDSU(2.5ms</a:t>
            </a:r>
            <a:r>
              <a:rPr dirty="0" sz="800" spc="-10">
                <a:latin typeface="Microsoft YaHei"/>
                <a:cs typeface="Microsoft YaHei"/>
              </a:rPr>
              <a:t>单</a:t>
            </a:r>
            <a:r>
              <a:rPr dirty="0" baseline="3472" sz="1200" spc="-75">
                <a:latin typeface="SimSun"/>
                <a:cs typeface="SimSun"/>
              </a:rPr>
              <a:t>)</a:t>
            </a:r>
            <a:endParaRPr baseline="3472" sz="1200">
              <a:latin typeface="SimSun"/>
              <a:cs typeface="SimSun"/>
            </a:endParaRPr>
          </a:p>
        </p:txBody>
      </p:sp>
      <p:sp>
        <p:nvSpPr>
          <p:cNvPr id="24" name="object 24" descr=""/>
          <p:cNvSpPr txBox="1"/>
          <p:nvPr/>
        </p:nvSpPr>
        <p:spPr>
          <a:xfrm>
            <a:off x="6840251" y="998435"/>
            <a:ext cx="1014730" cy="125730"/>
          </a:xfrm>
          <a:prstGeom prst="rect">
            <a:avLst/>
          </a:prstGeom>
          <a:ln w="6350">
            <a:solidFill>
              <a:srgbClr val="000000"/>
            </a:solidFill>
          </a:ln>
        </p:spPr>
        <p:txBody>
          <a:bodyPr wrap="square" lIns="0" tIns="5080" rIns="0" bIns="0" rtlCol="0" vert="horz">
            <a:spAutoFit/>
          </a:bodyPr>
          <a:lstStyle/>
          <a:p>
            <a:pPr marL="277495">
              <a:lnSpc>
                <a:spcPts val="950"/>
              </a:lnSpc>
              <a:spcBef>
                <a:spcPts val="40"/>
              </a:spcBef>
            </a:pPr>
            <a:r>
              <a:rPr dirty="0" sz="800" spc="-10">
                <a:latin typeface="SimSun"/>
                <a:cs typeface="SimSun"/>
              </a:rPr>
              <a:t>PRACH</a:t>
            </a:r>
            <a:r>
              <a:rPr dirty="0" baseline="3472" sz="1200" spc="-44">
                <a:latin typeface="Microsoft YaHei"/>
                <a:cs typeface="Microsoft YaHei"/>
              </a:rPr>
              <a:t>格式</a:t>
            </a:r>
            <a:endParaRPr baseline="3472" sz="1200">
              <a:latin typeface="Microsoft YaHei"/>
              <a:cs typeface="Microsoft YaHei"/>
            </a:endParaRPr>
          </a:p>
        </p:txBody>
      </p:sp>
      <p:sp>
        <p:nvSpPr>
          <p:cNvPr id="25" name="object 25" descr=""/>
          <p:cNvSpPr txBox="1"/>
          <p:nvPr/>
        </p:nvSpPr>
        <p:spPr>
          <a:xfrm>
            <a:off x="7854508" y="998435"/>
            <a:ext cx="1092200" cy="125730"/>
          </a:xfrm>
          <a:prstGeom prst="rect">
            <a:avLst/>
          </a:prstGeom>
          <a:ln w="6350">
            <a:solidFill>
              <a:srgbClr val="000000"/>
            </a:solidFill>
          </a:ln>
        </p:spPr>
        <p:txBody>
          <a:bodyPr wrap="square" lIns="0" tIns="8890" rIns="0" bIns="0" rtlCol="0" vert="horz">
            <a:spAutoFit/>
          </a:bodyPr>
          <a:lstStyle/>
          <a:p>
            <a:pPr marL="317500">
              <a:lnSpc>
                <a:spcPts val="919"/>
              </a:lnSpc>
              <a:spcBef>
                <a:spcPts val="70"/>
              </a:spcBef>
            </a:pPr>
            <a:r>
              <a:rPr dirty="0" sz="800">
                <a:latin typeface="SimSun"/>
                <a:cs typeface="SimSun"/>
              </a:rPr>
              <a:t>Format</a:t>
            </a:r>
            <a:r>
              <a:rPr dirty="0" sz="800" spc="-40">
                <a:latin typeface="SimSun"/>
                <a:cs typeface="SimSun"/>
              </a:rPr>
              <a:t> </a:t>
            </a:r>
            <a:r>
              <a:rPr dirty="0" sz="800" spc="-25">
                <a:latin typeface="SimSun"/>
                <a:cs typeface="SimSun"/>
              </a:rPr>
              <a:t>C2</a:t>
            </a:r>
            <a:endParaRPr sz="800">
              <a:latin typeface="SimSun"/>
              <a:cs typeface="SimSun"/>
            </a:endParaRPr>
          </a:p>
        </p:txBody>
      </p:sp>
      <p:sp>
        <p:nvSpPr>
          <p:cNvPr id="26" name="object 26" descr=""/>
          <p:cNvSpPr txBox="1"/>
          <p:nvPr/>
        </p:nvSpPr>
        <p:spPr>
          <a:xfrm>
            <a:off x="6840251" y="1124165"/>
            <a:ext cx="1014730" cy="125730"/>
          </a:xfrm>
          <a:prstGeom prst="rect">
            <a:avLst/>
          </a:prstGeom>
          <a:ln w="6350">
            <a:solidFill>
              <a:srgbClr val="000000"/>
            </a:solidFill>
          </a:ln>
        </p:spPr>
        <p:txBody>
          <a:bodyPr wrap="square" lIns="0" tIns="0" rIns="0" bIns="0" rtlCol="0" vert="horz">
            <a:spAutoFit/>
          </a:bodyPr>
          <a:lstStyle/>
          <a:p>
            <a:pPr marL="202565">
              <a:lnSpc>
                <a:spcPts val="950"/>
              </a:lnSpc>
            </a:pPr>
            <a:r>
              <a:rPr dirty="0" sz="800" spc="-20">
                <a:latin typeface="Microsoft YaHei"/>
                <a:cs typeface="Microsoft YaHei"/>
              </a:rPr>
              <a:t>特殊时隙配比</a:t>
            </a:r>
            <a:endParaRPr sz="800">
              <a:latin typeface="Microsoft YaHei"/>
              <a:cs typeface="Microsoft YaHei"/>
            </a:endParaRPr>
          </a:p>
        </p:txBody>
      </p:sp>
      <p:sp>
        <p:nvSpPr>
          <p:cNvPr id="27" name="object 27" descr=""/>
          <p:cNvSpPr txBox="1"/>
          <p:nvPr/>
        </p:nvSpPr>
        <p:spPr>
          <a:xfrm>
            <a:off x="7854508" y="1124165"/>
            <a:ext cx="1092200" cy="125730"/>
          </a:xfrm>
          <a:prstGeom prst="rect">
            <a:avLst/>
          </a:prstGeom>
          <a:ln w="6350">
            <a:solidFill>
              <a:srgbClr val="000000"/>
            </a:solidFill>
          </a:ln>
        </p:spPr>
        <p:txBody>
          <a:bodyPr wrap="square" lIns="0" tIns="8890" rIns="0" bIns="0" rtlCol="0" vert="horz">
            <a:spAutoFit/>
          </a:bodyPr>
          <a:lstStyle/>
          <a:p>
            <a:pPr algn="ctr">
              <a:lnSpc>
                <a:spcPts val="919"/>
              </a:lnSpc>
              <a:spcBef>
                <a:spcPts val="70"/>
              </a:spcBef>
            </a:pPr>
            <a:r>
              <a:rPr dirty="0" sz="800" spc="-10">
                <a:latin typeface="SimSun"/>
                <a:cs typeface="SimSun"/>
              </a:rPr>
              <a:t>10:2:2</a:t>
            </a:r>
            <a:endParaRPr sz="800">
              <a:latin typeface="SimSun"/>
              <a:cs typeface="SimSun"/>
            </a:endParaRPr>
          </a:p>
        </p:txBody>
      </p:sp>
      <p:sp>
        <p:nvSpPr>
          <p:cNvPr id="28" name="object 28" descr=""/>
          <p:cNvSpPr txBox="1"/>
          <p:nvPr/>
        </p:nvSpPr>
        <p:spPr>
          <a:xfrm>
            <a:off x="6840251" y="1249895"/>
            <a:ext cx="1014730" cy="125730"/>
          </a:xfrm>
          <a:prstGeom prst="rect">
            <a:avLst/>
          </a:prstGeom>
          <a:ln w="6350">
            <a:solidFill>
              <a:srgbClr val="000000"/>
            </a:solidFill>
          </a:ln>
        </p:spPr>
        <p:txBody>
          <a:bodyPr wrap="square" lIns="0" tIns="635" rIns="0" bIns="0" rtlCol="0" vert="horz">
            <a:spAutoFit/>
          </a:bodyPr>
          <a:lstStyle/>
          <a:p>
            <a:pPr algn="ctr">
              <a:lnSpc>
                <a:spcPct val="100000"/>
              </a:lnSpc>
              <a:spcBef>
                <a:spcPts val="5"/>
              </a:spcBef>
            </a:pPr>
            <a:r>
              <a:rPr dirty="0" sz="800" spc="-30">
                <a:latin typeface="Microsoft YaHei"/>
                <a:cs typeface="Microsoft YaHei"/>
              </a:rPr>
              <a:t>带宽</a:t>
            </a:r>
            <a:endParaRPr sz="800">
              <a:latin typeface="Microsoft YaHei"/>
              <a:cs typeface="Microsoft YaHei"/>
            </a:endParaRPr>
          </a:p>
        </p:txBody>
      </p:sp>
      <p:sp>
        <p:nvSpPr>
          <p:cNvPr id="29" name="object 29" descr=""/>
          <p:cNvSpPr txBox="1"/>
          <p:nvPr/>
        </p:nvSpPr>
        <p:spPr>
          <a:xfrm>
            <a:off x="7854508" y="1249895"/>
            <a:ext cx="1092200" cy="125730"/>
          </a:xfrm>
          <a:prstGeom prst="rect">
            <a:avLst/>
          </a:prstGeom>
          <a:ln w="6350">
            <a:solidFill>
              <a:srgbClr val="000000"/>
            </a:solidFill>
          </a:ln>
        </p:spPr>
        <p:txBody>
          <a:bodyPr wrap="square" lIns="0" tIns="0" rIns="0" bIns="0" rtlCol="0" vert="horz">
            <a:spAutoFit/>
          </a:bodyPr>
          <a:lstStyle/>
          <a:p>
            <a:pPr algn="ctr">
              <a:lnSpc>
                <a:spcPts val="940"/>
              </a:lnSpc>
            </a:pPr>
            <a:r>
              <a:rPr dirty="0" sz="800" spc="-20">
                <a:latin typeface="SimSun"/>
                <a:cs typeface="SimSun"/>
              </a:rPr>
              <a:t>100M</a:t>
            </a:r>
            <a:endParaRPr sz="800">
              <a:latin typeface="SimSun"/>
              <a:cs typeface="SimSun"/>
            </a:endParaRPr>
          </a:p>
        </p:txBody>
      </p:sp>
      <p:sp>
        <p:nvSpPr>
          <p:cNvPr id="30" name="object 30" descr=""/>
          <p:cNvSpPr txBox="1"/>
          <p:nvPr/>
        </p:nvSpPr>
        <p:spPr>
          <a:xfrm>
            <a:off x="6840251" y="1375625"/>
            <a:ext cx="1014730" cy="125730"/>
          </a:xfrm>
          <a:prstGeom prst="rect">
            <a:avLst/>
          </a:prstGeom>
          <a:ln w="6350">
            <a:solidFill>
              <a:srgbClr val="000000"/>
            </a:solidFill>
          </a:ln>
        </p:spPr>
        <p:txBody>
          <a:bodyPr wrap="square" lIns="0" tIns="0" rIns="0" bIns="0" rtlCol="0" vert="horz">
            <a:spAutoFit/>
          </a:bodyPr>
          <a:lstStyle/>
          <a:p>
            <a:pPr marL="303530">
              <a:lnSpc>
                <a:spcPts val="950"/>
              </a:lnSpc>
            </a:pPr>
            <a:r>
              <a:rPr dirty="0" sz="800" spc="-20">
                <a:latin typeface="Microsoft YaHei"/>
                <a:cs typeface="Microsoft YaHei"/>
              </a:rPr>
              <a:t>终端类型</a:t>
            </a:r>
            <a:endParaRPr sz="800">
              <a:latin typeface="Microsoft YaHei"/>
              <a:cs typeface="Microsoft YaHei"/>
            </a:endParaRPr>
          </a:p>
        </p:txBody>
      </p:sp>
      <p:sp>
        <p:nvSpPr>
          <p:cNvPr id="31" name="object 31" descr=""/>
          <p:cNvSpPr txBox="1"/>
          <p:nvPr/>
        </p:nvSpPr>
        <p:spPr>
          <a:xfrm>
            <a:off x="7854508" y="1375625"/>
            <a:ext cx="1092200" cy="125730"/>
          </a:xfrm>
          <a:prstGeom prst="rect">
            <a:avLst/>
          </a:prstGeom>
          <a:ln w="6350">
            <a:solidFill>
              <a:srgbClr val="000000"/>
            </a:solidFill>
          </a:ln>
        </p:spPr>
        <p:txBody>
          <a:bodyPr wrap="square" lIns="0" tIns="8890" rIns="0" bIns="0" rtlCol="0" vert="horz">
            <a:spAutoFit/>
          </a:bodyPr>
          <a:lstStyle/>
          <a:p>
            <a:pPr algn="ctr">
              <a:lnSpc>
                <a:spcPts val="919"/>
              </a:lnSpc>
              <a:spcBef>
                <a:spcPts val="70"/>
              </a:spcBef>
            </a:pPr>
            <a:r>
              <a:rPr dirty="0" sz="800" spc="-25">
                <a:latin typeface="SimSun"/>
                <a:cs typeface="SimSun"/>
              </a:rPr>
              <a:t>TUE</a:t>
            </a:r>
            <a:endParaRPr sz="800">
              <a:latin typeface="SimSun"/>
              <a:cs typeface="SimSun"/>
            </a:endParaRPr>
          </a:p>
        </p:txBody>
      </p:sp>
      <p:sp>
        <p:nvSpPr>
          <p:cNvPr id="32" name="object 32" descr=""/>
          <p:cNvSpPr txBox="1"/>
          <p:nvPr/>
        </p:nvSpPr>
        <p:spPr>
          <a:xfrm>
            <a:off x="6840251" y="1501355"/>
            <a:ext cx="1014730" cy="125730"/>
          </a:xfrm>
          <a:prstGeom prst="rect">
            <a:avLst/>
          </a:prstGeom>
          <a:ln w="6350">
            <a:solidFill>
              <a:srgbClr val="000000"/>
            </a:solidFill>
          </a:ln>
        </p:spPr>
        <p:txBody>
          <a:bodyPr wrap="square" lIns="0" tIns="0" rIns="0" bIns="0" rtlCol="0" vert="horz">
            <a:spAutoFit/>
          </a:bodyPr>
          <a:lstStyle/>
          <a:p>
            <a:pPr marL="303530">
              <a:lnSpc>
                <a:spcPts val="955"/>
              </a:lnSpc>
            </a:pPr>
            <a:r>
              <a:rPr dirty="0" sz="800" spc="-20">
                <a:latin typeface="Microsoft YaHei"/>
                <a:cs typeface="Microsoft YaHei"/>
              </a:rPr>
              <a:t>终端功率</a:t>
            </a:r>
            <a:endParaRPr sz="800">
              <a:latin typeface="Microsoft YaHei"/>
              <a:cs typeface="Microsoft YaHei"/>
            </a:endParaRPr>
          </a:p>
        </p:txBody>
      </p:sp>
      <p:sp>
        <p:nvSpPr>
          <p:cNvPr id="33" name="object 33" descr=""/>
          <p:cNvSpPr txBox="1"/>
          <p:nvPr/>
        </p:nvSpPr>
        <p:spPr>
          <a:xfrm>
            <a:off x="7854508" y="1501355"/>
            <a:ext cx="1092200" cy="125730"/>
          </a:xfrm>
          <a:prstGeom prst="rect">
            <a:avLst/>
          </a:prstGeom>
          <a:ln w="6350">
            <a:solidFill>
              <a:srgbClr val="000000"/>
            </a:solidFill>
          </a:ln>
        </p:spPr>
        <p:txBody>
          <a:bodyPr wrap="square" lIns="0" tIns="8890" rIns="0" bIns="0" rtlCol="0" vert="horz">
            <a:spAutoFit/>
          </a:bodyPr>
          <a:lstStyle/>
          <a:p>
            <a:pPr algn="ctr">
              <a:lnSpc>
                <a:spcPts val="919"/>
              </a:lnSpc>
              <a:spcBef>
                <a:spcPts val="70"/>
              </a:spcBef>
            </a:pPr>
            <a:r>
              <a:rPr dirty="0" sz="800" spc="-10">
                <a:latin typeface="SimSun"/>
                <a:cs typeface="SimSun"/>
              </a:rPr>
              <a:t>23dBm</a:t>
            </a:r>
            <a:endParaRPr sz="800">
              <a:latin typeface="SimSun"/>
              <a:cs typeface="SimSun"/>
            </a:endParaRPr>
          </a:p>
        </p:txBody>
      </p:sp>
      <p:sp>
        <p:nvSpPr>
          <p:cNvPr id="34" name="object 34" descr=""/>
          <p:cNvSpPr txBox="1"/>
          <p:nvPr/>
        </p:nvSpPr>
        <p:spPr>
          <a:xfrm>
            <a:off x="6840251" y="1627085"/>
            <a:ext cx="1014730" cy="125730"/>
          </a:xfrm>
          <a:prstGeom prst="rect">
            <a:avLst/>
          </a:prstGeom>
          <a:ln w="6350">
            <a:solidFill>
              <a:srgbClr val="000000"/>
            </a:solidFill>
          </a:ln>
        </p:spPr>
        <p:txBody>
          <a:bodyPr wrap="square" lIns="0" tIns="0" rIns="0" bIns="0" rtlCol="0" vert="horz">
            <a:spAutoFit/>
          </a:bodyPr>
          <a:lstStyle/>
          <a:p>
            <a:pPr marL="303530">
              <a:lnSpc>
                <a:spcPts val="955"/>
              </a:lnSpc>
            </a:pPr>
            <a:r>
              <a:rPr dirty="0" sz="800" spc="-20">
                <a:latin typeface="Microsoft YaHei"/>
                <a:cs typeface="Microsoft YaHei"/>
              </a:rPr>
              <a:t>终端天线</a:t>
            </a:r>
            <a:endParaRPr sz="800">
              <a:latin typeface="Microsoft YaHei"/>
              <a:cs typeface="Microsoft YaHei"/>
            </a:endParaRPr>
          </a:p>
        </p:txBody>
      </p:sp>
      <p:sp>
        <p:nvSpPr>
          <p:cNvPr id="35" name="object 35" descr=""/>
          <p:cNvSpPr txBox="1"/>
          <p:nvPr/>
        </p:nvSpPr>
        <p:spPr>
          <a:xfrm>
            <a:off x="7854508" y="1627085"/>
            <a:ext cx="1092200" cy="125730"/>
          </a:xfrm>
          <a:prstGeom prst="rect">
            <a:avLst/>
          </a:prstGeom>
          <a:ln w="6350">
            <a:solidFill>
              <a:srgbClr val="000000"/>
            </a:solidFill>
          </a:ln>
        </p:spPr>
        <p:txBody>
          <a:bodyPr wrap="square" lIns="0" tIns="0" rIns="0" bIns="0" rtlCol="0" vert="horz">
            <a:spAutoFit/>
          </a:bodyPr>
          <a:lstStyle/>
          <a:p>
            <a:pPr algn="ctr">
              <a:lnSpc>
                <a:spcPts val="940"/>
              </a:lnSpc>
            </a:pPr>
            <a:r>
              <a:rPr dirty="0" sz="800" spc="-20">
                <a:latin typeface="SimSun"/>
                <a:cs typeface="SimSun"/>
              </a:rPr>
              <a:t>2T4R</a:t>
            </a:r>
            <a:endParaRPr sz="800">
              <a:latin typeface="SimSun"/>
              <a:cs typeface="SimSun"/>
            </a:endParaRPr>
          </a:p>
        </p:txBody>
      </p:sp>
      <p:graphicFrame>
        <p:nvGraphicFramePr>
          <p:cNvPr id="36" name="object 36" descr=""/>
          <p:cNvGraphicFramePr>
            <a:graphicFrameLocks noGrp="1"/>
          </p:cNvGraphicFramePr>
          <p:nvPr/>
        </p:nvGraphicFramePr>
        <p:xfrm>
          <a:off x="302351" y="3810715"/>
          <a:ext cx="8723630" cy="432434"/>
        </p:xfrm>
        <a:graphic>
          <a:graphicData uri="http://schemas.openxmlformats.org/drawingml/2006/table">
            <a:tbl>
              <a:tblPr firstRow="1" bandRow="1">
                <a:tableStyleId>{2D5ABB26-0587-4C30-8999-92F81FD0307C}</a:tableStyleId>
              </a:tblPr>
              <a:tblGrid>
                <a:gridCol w="1105535"/>
                <a:gridCol w="1535430"/>
                <a:gridCol w="1535430"/>
                <a:gridCol w="1105535"/>
                <a:gridCol w="1105535"/>
                <a:gridCol w="1105534"/>
                <a:gridCol w="1146175"/>
              </a:tblGrid>
              <a:tr h="144145">
                <a:tc>
                  <a:txBody>
                    <a:bodyPr/>
                    <a:lstStyle/>
                    <a:p>
                      <a:pPr algn="ctr">
                        <a:lnSpc>
                          <a:spcPts val="1019"/>
                        </a:lnSpc>
                        <a:spcBef>
                          <a:spcPts val="15"/>
                        </a:spcBef>
                      </a:pPr>
                      <a:r>
                        <a:rPr dirty="0" sz="900" spc="-15">
                          <a:solidFill>
                            <a:srgbClr val="403151"/>
                          </a:solidFill>
                          <a:latin typeface="Microsoft YaHei"/>
                          <a:cs typeface="Microsoft YaHei"/>
                        </a:rPr>
                        <a:t>业务方向</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a:txBody>
                    <a:bodyPr/>
                    <a:lstStyle/>
                    <a:p>
                      <a:pPr algn="ctr">
                        <a:lnSpc>
                          <a:spcPts val="1019"/>
                        </a:lnSpc>
                        <a:spcBef>
                          <a:spcPts val="15"/>
                        </a:spcBef>
                      </a:pPr>
                      <a:r>
                        <a:rPr dirty="0" sz="900" spc="-10">
                          <a:solidFill>
                            <a:srgbClr val="403151"/>
                          </a:solidFill>
                          <a:latin typeface="Microsoft YaHei"/>
                          <a:cs typeface="Microsoft YaHei"/>
                        </a:rPr>
                        <a:t>PDCP</a:t>
                      </a:r>
                      <a:r>
                        <a:rPr dirty="0" sz="900" spc="-20">
                          <a:solidFill>
                            <a:srgbClr val="403151"/>
                          </a:solidFill>
                          <a:latin typeface="Microsoft YaHei"/>
                          <a:cs typeface="Microsoft YaHei"/>
                        </a:rPr>
                        <a:t>层速率</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a:txBody>
                    <a:bodyPr/>
                    <a:lstStyle/>
                    <a:p>
                      <a:pPr algn="ctr">
                        <a:lnSpc>
                          <a:spcPts val="1019"/>
                        </a:lnSpc>
                        <a:spcBef>
                          <a:spcPts val="15"/>
                        </a:spcBef>
                      </a:pPr>
                      <a:r>
                        <a:rPr dirty="0" sz="900" spc="-10">
                          <a:solidFill>
                            <a:srgbClr val="403151"/>
                          </a:solidFill>
                          <a:latin typeface="Microsoft YaHei"/>
                          <a:cs typeface="Microsoft YaHei"/>
                        </a:rPr>
                        <a:t>物理层速率</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a:txBody>
                    <a:bodyPr/>
                    <a:lstStyle/>
                    <a:p>
                      <a:pPr algn="ctr">
                        <a:lnSpc>
                          <a:spcPts val="1019"/>
                        </a:lnSpc>
                        <a:spcBef>
                          <a:spcPts val="15"/>
                        </a:spcBef>
                      </a:pPr>
                      <a:r>
                        <a:rPr dirty="0" sz="900" spc="-10">
                          <a:solidFill>
                            <a:srgbClr val="403151"/>
                          </a:solidFill>
                          <a:latin typeface="Microsoft YaHei"/>
                          <a:cs typeface="Microsoft YaHei"/>
                        </a:rPr>
                        <a:t>SS-</a:t>
                      </a:r>
                      <a:r>
                        <a:rPr dirty="0" sz="900" spc="-20">
                          <a:solidFill>
                            <a:srgbClr val="403151"/>
                          </a:solidFill>
                          <a:latin typeface="Microsoft YaHei"/>
                          <a:cs typeface="Microsoft YaHei"/>
                        </a:rPr>
                        <a:t>RSRP</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a:txBody>
                    <a:bodyPr/>
                    <a:lstStyle/>
                    <a:p>
                      <a:pPr algn="ctr">
                        <a:lnSpc>
                          <a:spcPts val="1019"/>
                        </a:lnSpc>
                        <a:spcBef>
                          <a:spcPts val="15"/>
                        </a:spcBef>
                      </a:pPr>
                      <a:r>
                        <a:rPr dirty="0" sz="900" spc="-10">
                          <a:solidFill>
                            <a:srgbClr val="403151"/>
                          </a:solidFill>
                          <a:latin typeface="Microsoft YaHei"/>
                          <a:cs typeface="Microsoft YaHei"/>
                        </a:rPr>
                        <a:t>SS-</a:t>
                      </a:r>
                      <a:r>
                        <a:rPr dirty="0" sz="900" spc="-20">
                          <a:solidFill>
                            <a:srgbClr val="403151"/>
                          </a:solidFill>
                          <a:latin typeface="Microsoft YaHei"/>
                          <a:cs typeface="Microsoft YaHei"/>
                        </a:rPr>
                        <a:t>SINR</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a:txBody>
                    <a:bodyPr/>
                    <a:lstStyle/>
                    <a:p>
                      <a:pPr algn="ctr">
                        <a:lnSpc>
                          <a:spcPts val="1019"/>
                        </a:lnSpc>
                        <a:spcBef>
                          <a:spcPts val="15"/>
                        </a:spcBef>
                      </a:pPr>
                      <a:r>
                        <a:rPr dirty="0" sz="900" spc="-10">
                          <a:solidFill>
                            <a:srgbClr val="403151"/>
                          </a:solidFill>
                          <a:latin typeface="Microsoft YaHei"/>
                          <a:cs typeface="Microsoft YaHei"/>
                        </a:rPr>
                        <a:t>CSI-</a:t>
                      </a:r>
                      <a:r>
                        <a:rPr dirty="0" sz="900" spc="-20">
                          <a:solidFill>
                            <a:srgbClr val="403151"/>
                          </a:solidFill>
                          <a:latin typeface="Microsoft YaHei"/>
                          <a:cs typeface="Microsoft YaHei"/>
                        </a:rPr>
                        <a:t>RSRP</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a:txBody>
                    <a:bodyPr/>
                    <a:lstStyle/>
                    <a:p>
                      <a:pPr algn="ctr">
                        <a:lnSpc>
                          <a:spcPts val="1019"/>
                        </a:lnSpc>
                        <a:spcBef>
                          <a:spcPts val="15"/>
                        </a:spcBef>
                      </a:pPr>
                      <a:r>
                        <a:rPr dirty="0" sz="900" spc="-10">
                          <a:solidFill>
                            <a:srgbClr val="403151"/>
                          </a:solidFill>
                          <a:latin typeface="Microsoft YaHei"/>
                          <a:cs typeface="Microsoft YaHei"/>
                        </a:rPr>
                        <a:t>CSI-</a:t>
                      </a:r>
                      <a:r>
                        <a:rPr dirty="0" sz="900" spc="-20">
                          <a:solidFill>
                            <a:srgbClr val="403151"/>
                          </a:solidFill>
                          <a:latin typeface="Microsoft YaHei"/>
                          <a:cs typeface="Microsoft YaHei"/>
                        </a:rPr>
                        <a:t>SINR</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r>
              <a:tr h="144145">
                <a:tc>
                  <a:txBody>
                    <a:bodyPr/>
                    <a:lstStyle/>
                    <a:p>
                      <a:pPr algn="ctr">
                        <a:lnSpc>
                          <a:spcPts val="1019"/>
                        </a:lnSpc>
                        <a:spcBef>
                          <a:spcPts val="15"/>
                        </a:spcBef>
                      </a:pPr>
                      <a:r>
                        <a:rPr dirty="0" sz="900">
                          <a:solidFill>
                            <a:srgbClr val="403151"/>
                          </a:solidFill>
                          <a:latin typeface="Microsoft YaHei"/>
                          <a:cs typeface="Microsoft YaHei"/>
                        </a:rPr>
                        <a:t>上行</a:t>
                      </a:r>
                      <a:r>
                        <a:rPr dirty="0" sz="900" spc="-25">
                          <a:solidFill>
                            <a:srgbClr val="403151"/>
                          </a:solidFill>
                          <a:latin typeface="Microsoft YaHei"/>
                          <a:cs typeface="Microsoft YaHei"/>
                        </a:rPr>
                        <a:t>UDP</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19"/>
                        </a:lnSpc>
                        <a:spcBef>
                          <a:spcPts val="15"/>
                        </a:spcBef>
                      </a:pPr>
                      <a:r>
                        <a:rPr dirty="0" sz="900" spc="-10">
                          <a:solidFill>
                            <a:srgbClr val="403151"/>
                          </a:solidFill>
                          <a:latin typeface="Microsoft YaHei"/>
                          <a:cs typeface="Microsoft YaHei"/>
                        </a:rPr>
                        <a:t>186.029</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19"/>
                        </a:lnSpc>
                        <a:spcBef>
                          <a:spcPts val="15"/>
                        </a:spcBef>
                      </a:pPr>
                      <a:r>
                        <a:rPr dirty="0" sz="900" spc="-10">
                          <a:solidFill>
                            <a:srgbClr val="403151"/>
                          </a:solidFill>
                          <a:latin typeface="Microsoft YaHei"/>
                          <a:cs typeface="Microsoft YaHei"/>
                        </a:rPr>
                        <a:t>188.117</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19"/>
                        </a:lnSpc>
                        <a:spcBef>
                          <a:spcPts val="15"/>
                        </a:spcBef>
                      </a:pPr>
                      <a:r>
                        <a:rPr dirty="0" sz="900">
                          <a:solidFill>
                            <a:srgbClr val="403151"/>
                          </a:solidFill>
                          <a:latin typeface="Microsoft YaHei"/>
                          <a:cs typeface="Microsoft YaHei"/>
                        </a:rPr>
                        <a:t>-</a:t>
                      </a:r>
                      <a:r>
                        <a:rPr dirty="0" sz="900" spc="-25">
                          <a:solidFill>
                            <a:srgbClr val="403151"/>
                          </a:solidFill>
                          <a:latin typeface="Microsoft YaHei"/>
                          <a:cs typeface="Microsoft YaHei"/>
                        </a:rPr>
                        <a:t>67</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19"/>
                        </a:lnSpc>
                        <a:spcBef>
                          <a:spcPts val="15"/>
                        </a:spcBef>
                      </a:pPr>
                      <a:r>
                        <a:rPr dirty="0" sz="900" spc="-25">
                          <a:solidFill>
                            <a:srgbClr val="403151"/>
                          </a:solidFill>
                          <a:latin typeface="Microsoft YaHei"/>
                          <a:cs typeface="Microsoft YaHei"/>
                        </a:rPr>
                        <a:t>32</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19"/>
                        </a:lnSpc>
                        <a:spcBef>
                          <a:spcPts val="15"/>
                        </a:spcBef>
                      </a:pPr>
                      <a:r>
                        <a:rPr dirty="0" sz="900">
                          <a:solidFill>
                            <a:srgbClr val="403151"/>
                          </a:solidFill>
                          <a:latin typeface="Microsoft YaHei"/>
                          <a:cs typeface="Microsoft YaHei"/>
                        </a:rPr>
                        <a:t>-</a:t>
                      </a:r>
                      <a:r>
                        <a:rPr dirty="0" sz="900" spc="-25">
                          <a:solidFill>
                            <a:srgbClr val="403151"/>
                          </a:solidFill>
                          <a:latin typeface="Microsoft YaHei"/>
                          <a:cs typeface="Microsoft YaHei"/>
                        </a:rPr>
                        <a:t>70</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19"/>
                        </a:lnSpc>
                        <a:spcBef>
                          <a:spcPts val="15"/>
                        </a:spcBef>
                      </a:pPr>
                      <a:r>
                        <a:rPr dirty="0" sz="900" spc="-25">
                          <a:solidFill>
                            <a:srgbClr val="403151"/>
                          </a:solidFill>
                          <a:latin typeface="Microsoft YaHei"/>
                          <a:cs typeface="Microsoft YaHei"/>
                        </a:rPr>
                        <a:t>32</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44145">
                <a:tc>
                  <a:txBody>
                    <a:bodyPr/>
                    <a:lstStyle/>
                    <a:p>
                      <a:pPr algn="ctr">
                        <a:lnSpc>
                          <a:spcPts val="1019"/>
                        </a:lnSpc>
                        <a:spcBef>
                          <a:spcPts val="15"/>
                        </a:spcBef>
                      </a:pPr>
                      <a:r>
                        <a:rPr dirty="0" sz="900">
                          <a:solidFill>
                            <a:srgbClr val="403151"/>
                          </a:solidFill>
                          <a:latin typeface="Microsoft YaHei"/>
                          <a:cs typeface="Microsoft YaHei"/>
                        </a:rPr>
                        <a:t>下行</a:t>
                      </a:r>
                      <a:r>
                        <a:rPr dirty="0" sz="900" spc="-25">
                          <a:solidFill>
                            <a:srgbClr val="403151"/>
                          </a:solidFill>
                          <a:latin typeface="Microsoft YaHei"/>
                          <a:cs typeface="Microsoft YaHei"/>
                        </a:rPr>
                        <a:t>UDP</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19"/>
                        </a:lnSpc>
                        <a:spcBef>
                          <a:spcPts val="15"/>
                        </a:spcBef>
                      </a:pPr>
                      <a:r>
                        <a:rPr dirty="0" sz="900" spc="-10">
                          <a:solidFill>
                            <a:srgbClr val="403151"/>
                          </a:solidFill>
                          <a:latin typeface="Microsoft YaHei"/>
                          <a:cs typeface="Microsoft YaHei"/>
                        </a:rPr>
                        <a:t>1625.37</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19"/>
                        </a:lnSpc>
                        <a:spcBef>
                          <a:spcPts val="15"/>
                        </a:spcBef>
                      </a:pPr>
                      <a:r>
                        <a:rPr dirty="0" sz="900" spc="-10">
                          <a:solidFill>
                            <a:srgbClr val="403151"/>
                          </a:solidFill>
                          <a:latin typeface="Microsoft YaHei"/>
                          <a:cs typeface="Microsoft YaHei"/>
                        </a:rPr>
                        <a:t>1630.37</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19"/>
                        </a:lnSpc>
                        <a:spcBef>
                          <a:spcPts val="15"/>
                        </a:spcBef>
                      </a:pPr>
                      <a:r>
                        <a:rPr dirty="0" sz="900">
                          <a:solidFill>
                            <a:srgbClr val="403151"/>
                          </a:solidFill>
                          <a:latin typeface="Microsoft YaHei"/>
                          <a:cs typeface="Microsoft YaHei"/>
                        </a:rPr>
                        <a:t>-</a:t>
                      </a:r>
                      <a:r>
                        <a:rPr dirty="0" sz="900" spc="-10">
                          <a:solidFill>
                            <a:srgbClr val="403151"/>
                          </a:solidFill>
                          <a:latin typeface="Microsoft YaHei"/>
                          <a:cs typeface="Microsoft YaHei"/>
                        </a:rPr>
                        <a:t>73.86</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19"/>
                        </a:lnSpc>
                        <a:spcBef>
                          <a:spcPts val="15"/>
                        </a:spcBef>
                      </a:pPr>
                      <a:r>
                        <a:rPr dirty="0" sz="900" spc="-10">
                          <a:solidFill>
                            <a:srgbClr val="403151"/>
                          </a:solidFill>
                          <a:latin typeface="Microsoft YaHei"/>
                          <a:cs typeface="Microsoft YaHei"/>
                        </a:rPr>
                        <a:t>29.31</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19"/>
                        </a:lnSpc>
                        <a:spcBef>
                          <a:spcPts val="15"/>
                        </a:spcBef>
                      </a:pPr>
                      <a:r>
                        <a:rPr dirty="0" sz="900">
                          <a:solidFill>
                            <a:srgbClr val="403151"/>
                          </a:solidFill>
                          <a:latin typeface="Microsoft YaHei"/>
                          <a:cs typeface="Microsoft YaHei"/>
                        </a:rPr>
                        <a:t>-</a:t>
                      </a:r>
                      <a:r>
                        <a:rPr dirty="0" sz="900" spc="-25">
                          <a:solidFill>
                            <a:srgbClr val="403151"/>
                          </a:solidFill>
                          <a:latin typeface="Microsoft YaHei"/>
                          <a:cs typeface="Microsoft YaHei"/>
                        </a:rPr>
                        <a:t>68</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19"/>
                        </a:lnSpc>
                        <a:spcBef>
                          <a:spcPts val="15"/>
                        </a:spcBef>
                      </a:pPr>
                      <a:r>
                        <a:rPr dirty="0" sz="900" spc="-10">
                          <a:solidFill>
                            <a:srgbClr val="403151"/>
                          </a:solidFill>
                          <a:latin typeface="Microsoft YaHei"/>
                          <a:cs typeface="Microsoft YaHei"/>
                        </a:rPr>
                        <a:t>38.59</a:t>
                      </a:r>
                      <a:endParaRPr sz="900">
                        <a:latin typeface="Microsoft YaHei"/>
                        <a:cs typeface="Microsoft YaHei"/>
                      </a:endParaRPr>
                    </a:p>
                  </a:txBody>
                  <a:tcPr marL="0" marR="0" marB="0" marT="19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pic>
        <p:nvPicPr>
          <p:cNvPr id="37" name="object 37"/>
          <p:cNvPicPr/>
          <p:nvPr/>
        </p:nvPicPr>
        <p:blipFill>
          <a:blip r:embed="rId5" cstate="print"/>
          <a:stretch>
            <a:fillRect/>
          </a:stretch>
        </p:blipFill>
        <p:spPr>
          <a:xfrm>
            <a:off x="6867258" y="1818508"/>
            <a:ext cx="2079226" cy="1919114"/>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09201" y="162149"/>
            <a:ext cx="2602230" cy="513080"/>
          </a:xfrm>
          <a:prstGeom prst="rect"/>
        </p:spPr>
        <p:txBody>
          <a:bodyPr wrap="square" lIns="0" tIns="12065" rIns="0" bIns="0" rtlCol="0" vert="horz">
            <a:spAutoFit/>
          </a:bodyPr>
          <a:lstStyle/>
          <a:p>
            <a:pPr marL="12700">
              <a:lnSpc>
                <a:spcPct val="100000"/>
              </a:lnSpc>
              <a:spcBef>
                <a:spcPts val="95"/>
              </a:spcBef>
            </a:pPr>
            <a:r>
              <a:rPr dirty="0" spc="-85"/>
              <a:t>无线测试-定点</a:t>
            </a:r>
          </a:p>
        </p:txBody>
      </p:sp>
      <p:grpSp>
        <p:nvGrpSpPr>
          <p:cNvPr id="3" name="object 3" descr=""/>
          <p:cNvGrpSpPr/>
          <p:nvPr/>
        </p:nvGrpSpPr>
        <p:grpSpPr>
          <a:xfrm>
            <a:off x="315034" y="4449262"/>
            <a:ext cx="621030" cy="421640"/>
            <a:chOff x="315034" y="4449262"/>
            <a:chExt cx="621030" cy="421640"/>
          </a:xfrm>
        </p:grpSpPr>
        <p:sp>
          <p:nvSpPr>
            <p:cNvPr id="4" name="object 4" descr=""/>
            <p:cNvSpPr/>
            <p:nvPr/>
          </p:nvSpPr>
          <p:spPr>
            <a:xfrm>
              <a:off x="327734" y="4461962"/>
              <a:ext cx="595630" cy="396240"/>
            </a:xfrm>
            <a:custGeom>
              <a:avLst/>
              <a:gdLst/>
              <a:ahLst/>
              <a:cxnLst/>
              <a:rect l="l" t="t" r="r" b="b"/>
              <a:pathLst>
                <a:path w="595630" h="396239">
                  <a:moveTo>
                    <a:pt x="529221" y="0"/>
                  </a:moveTo>
                  <a:lnTo>
                    <a:pt x="65963" y="0"/>
                  </a:lnTo>
                  <a:lnTo>
                    <a:pt x="40290" y="5182"/>
                  </a:lnTo>
                  <a:lnTo>
                    <a:pt x="19323" y="19318"/>
                  </a:lnTo>
                  <a:lnTo>
                    <a:pt x="5184" y="40285"/>
                  </a:lnTo>
                  <a:lnTo>
                    <a:pt x="0" y="65963"/>
                  </a:lnTo>
                  <a:lnTo>
                    <a:pt x="0" y="329819"/>
                  </a:lnTo>
                  <a:lnTo>
                    <a:pt x="5184" y="355497"/>
                  </a:lnTo>
                  <a:lnTo>
                    <a:pt x="19323" y="376464"/>
                  </a:lnTo>
                  <a:lnTo>
                    <a:pt x="40290" y="390599"/>
                  </a:lnTo>
                  <a:lnTo>
                    <a:pt x="65963" y="395782"/>
                  </a:lnTo>
                  <a:lnTo>
                    <a:pt x="529221" y="395782"/>
                  </a:lnTo>
                  <a:lnTo>
                    <a:pt x="554902" y="390599"/>
                  </a:lnTo>
                  <a:lnTo>
                    <a:pt x="575873" y="376464"/>
                  </a:lnTo>
                  <a:lnTo>
                    <a:pt x="590013" y="355497"/>
                  </a:lnTo>
                  <a:lnTo>
                    <a:pt x="595198" y="329819"/>
                  </a:lnTo>
                  <a:lnTo>
                    <a:pt x="595198" y="65963"/>
                  </a:lnTo>
                  <a:lnTo>
                    <a:pt x="590013" y="40285"/>
                  </a:lnTo>
                  <a:lnTo>
                    <a:pt x="575873" y="19318"/>
                  </a:lnTo>
                  <a:lnTo>
                    <a:pt x="554902" y="5182"/>
                  </a:lnTo>
                  <a:lnTo>
                    <a:pt x="529221" y="0"/>
                  </a:lnTo>
                  <a:close/>
                </a:path>
              </a:pathLst>
            </a:custGeom>
            <a:solidFill>
              <a:srgbClr val="00CC00"/>
            </a:solidFill>
          </p:spPr>
          <p:txBody>
            <a:bodyPr wrap="square" lIns="0" tIns="0" rIns="0" bIns="0" rtlCol="0"/>
            <a:lstStyle/>
            <a:p/>
          </p:txBody>
        </p:sp>
        <p:sp>
          <p:nvSpPr>
            <p:cNvPr id="5" name="object 5" descr=""/>
            <p:cNvSpPr/>
            <p:nvPr/>
          </p:nvSpPr>
          <p:spPr>
            <a:xfrm>
              <a:off x="327734" y="4461962"/>
              <a:ext cx="595630" cy="396240"/>
            </a:xfrm>
            <a:custGeom>
              <a:avLst/>
              <a:gdLst/>
              <a:ahLst/>
              <a:cxnLst/>
              <a:rect l="l" t="t" r="r" b="b"/>
              <a:pathLst>
                <a:path w="595630" h="396239">
                  <a:moveTo>
                    <a:pt x="0" y="65963"/>
                  </a:moveTo>
                  <a:lnTo>
                    <a:pt x="5184" y="40285"/>
                  </a:lnTo>
                  <a:lnTo>
                    <a:pt x="19323" y="19318"/>
                  </a:lnTo>
                  <a:lnTo>
                    <a:pt x="40290" y="5182"/>
                  </a:lnTo>
                  <a:lnTo>
                    <a:pt x="65963" y="0"/>
                  </a:lnTo>
                  <a:lnTo>
                    <a:pt x="529221" y="0"/>
                  </a:lnTo>
                  <a:lnTo>
                    <a:pt x="554902" y="5182"/>
                  </a:lnTo>
                  <a:lnTo>
                    <a:pt x="575873" y="19318"/>
                  </a:lnTo>
                  <a:lnTo>
                    <a:pt x="590013" y="40285"/>
                  </a:lnTo>
                  <a:lnTo>
                    <a:pt x="595198" y="65963"/>
                  </a:lnTo>
                  <a:lnTo>
                    <a:pt x="595198" y="329819"/>
                  </a:lnTo>
                  <a:lnTo>
                    <a:pt x="590013" y="355497"/>
                  </a:lnTo>
                  <a:lnTo>
                    <a:pt x="575873" y="376464"/>
                  </a:lnTo>
                  <a:lnTo>
                    <a:pt x="554902" y="390599"/>
                  </a:lnTo>
                  <a:lnTo>
                    <a:pt x="529221" y="395782"/>
                  </a:lnTo>
                  <a:lnTo>
                    <a:pt x="65963" y="395782"/>
                  </a:lnTo>
                  <a:lnTo>
                    <a:pt x="40290" y="390599"/>
                  </a:lnTo>
                  <a:lnTo>
                    <a:pt x="19323" y="376464"/>
                  </a:lnTo>
                  <a:lnTo>
                    <a:pt x="5184" y="355497"/>
                  </a:lnTo>
                  <a:lnTo>
                    <a:pt x="0" y="329819"/>
                  </a:lnTo>
                  <a:lnTo>
                    <a:pt x="0" y="65963"/>
                  </a:lnTo>
                  <a:close/>
                </a:path>
              </a:pathLst>
            </a:custGeom>
            <a:ln w="25400">
              <a:solidFill>
                <a:srgbClr val="89A4A7"/>
              </a:solidFill>
            </a:ln>
          </p:spPr>
          <p:txBody>
            <a:bodyPr wrap="square" lIns="0" tIns="0" rIns="0" bIns="0" rtlCol="0"/>
            <a:lstStyle/>
            <a:p/>
          </p:txBody>
        </p:sp>
      </p:grpSp>
      <p:sp>
        <p:nvSpPr>
          <p:cNvPr id="6" name="object 6" descr=""/>
          <p:cNvSpPr txBox="1"/>
          <p:nvPr/>
        </p:nvSpPr>
        <p:spPr>
          <a:xfrm>
            <a:off x="435085" y="4439890"/>
            <a:ext cx="381000" cy="443230"/>
          </a:xfrm>
          <a:prstGeom prst="rect">
            <a:avLst/>
          </a:prstGeom>
        </p:spPr>
        <p:txBody>
          <a:bodyPr wrap="square" lIns="0" tIns="26670" rIns="0" bIns="0" rtlCol="0" vert="horz">
            <a:spAutoFit/>
          </a:bodyPr>
          <a:lstStyle/>
          <a:p>
            <a:pPr marL="12700" marR="5080">
              <a:lnSpc>
                <a:spcPts val="1610"/>
              </a:lnSpc>
              <a:spcBef>
                <a:spcPts val="210"/>
              </a:spcBef>
            </a:pPr>
            <a:r>
              <a:rPr dirty="0" sz="1400" spc="-35">
                <a:solidFill>
                  <a:srgbClr val="FFFFFF"/>
                </a:solidFill>
                <a:latin typeface="SimSun"/>
                <a:cs typeface="SimSun"/>
              </a:rPr>
              <a:t>测试结论</a:t>
            </a:r>
            <a:endParaRPr sz="1400">
              <a:latin typeface="SimSun"/>
              <a:cs typeface="SimSun"/>
            </a:endParaRPr>
          </a:p>
        </p:txBody>
      </p:sp>
      <p:grpSp>
        <p:nvGrpSpPr>
          <p:cNvPr id="7" name="object 7" descr=""/>
          <p:cNvGrpSpPr/>
          <p:nvPr/>
        </p:nvGrpSpPr>
        <p:grpSpPr>
          <a:xfrm>
            <a:off x="285488" y="776846"/>
            <a:ext cx="8178165" cy="2233930"/>
            <a:chOff x="285488" y="776846"/>
            <a:chExt cx="8178165" cy="2233930"/>
          </a:xfrm>
        </p:grpSpPr>
        <p:sp>
          <p:nvSpPr>
            <p:cNvPr id="8" name="object 8" descr=""/>
            <p:cNvSpPr/>
            <p:nvPr/>
          </p:nvSpPr>
          <p:spPr>
            <a:xfrm>
              <a:off x="298188" y="789546"/>
              <a:ext cx="2064385" cy="410845"/>
            </a:xfrm>
            <a:custGeom>
              <a:avLst/>
              <a:gdLst/>
              <a:ahLst/>
              <a:cxnLst/>
              <a:rect l="l" t="t" r="r" b="b"/>
              <a:pathLst>
                <a:path w="2064385" h="410844">
                  <a:moveTo>
                    <a:pt x="1995576" y="0"/>
                  </a:moveTo>
                  <a:lnTo>
                    <a:pt x="68440" y="0"/>
                  </a:lnTo>
                  <a:lnTo>
                    <a:pt x="41801" y="5378"/>
                  </a:lnTo>
                  <a:lnTo>
                    <a:pt x="20046" y="20046"/>
                  </a:lnTo>
                  <a:lnTo>
                    <a:pt x="5378" y="41801"/>
                  </a:lnTo>
                  <a:lnTo>
                    <a:pt x="0" y="68440"/>
                  </a:lnTo>
                  <a:lnTo>
                    <a:pt x="0" y="342163"/>
                  </a:lnTo>
                  <a:lnTo>
                    <a:pt x="5378" y="368802"/>
                  </a:lnTo>
                  <a:lnTo>
                    <a:pt x="20046" y="390556"/>
                  </a:lnTo>
                  <a:lnTo>
                    <a:pt x="41801" y="405224"/>
                  </a:lnTo>
                  <a:lnTo>
                    <a:pt x="68440" y="410603"/>
                  </a:lnTo>
                  <a:lnTo>
                    <a:pt x="1995576" y="410603"/>
                  </a:lnTo>
                  <a:lnTo>
                    <a:pt x="2022215" y="405224"/>
                  </a:lnTo>
                  <a:lnTo>
                    <a:pt x="2043969" y="390556"/>
                  </a:lnTo>
                  <a:lnTo>
                    <a:pt x="2058637" y="368802"/>
                  </a:lnTo>
                  <a:lnTo>
                    <a:pt x="2064016" y="342163"/>
                  </a:lnTo>
                  <a:lnTo>
                    <a:pt x="2064016" y="68440"/>
                  </a:lnTo>
                  <a:lnTo>
                    <a:pt x="2058637" y="41801"/>
                  </a:lnTo>
                  <a:lnTo>
                    <a:pt x="2043969" y="20046"/>
                  </a:lnTo>
                  <a:lnTo>
                    <a:pt x="2022215" y="5378"/>
                  </a:lnTo>
                  <a:lnTo>
                    <a:pt x="1995576" y="0"/>
                  </a:lnTo>
                  <a:close/>
                </a:path>
              </a:pathLst>
            </a:custGeom>
            <a:solidFill>
              <a:srgbClr val="FFC000"/>
            </a:solidFill>
          </p:spPr>
          <p:txBody>
            <a:bodyPr wrap="square" lIns="0" tIns="0" rIns="0" bIns="0" rtlCol="0"/>
            <a:lstStyle/>
            <a:p/>
          </p:txBody>
        </p:sp>
        <p:sp>
          <p:nvSpPr>
            <p:cNvPr id="9" name="object 9" descr=""/>
            <p:cNvSpPr/>
            <p:nvPr/>
          </p:nvSpPr>
          <p:spPr>
            <a:xfrm>
              <a:off x="298188" y="789546"/>
              <a:ext cx="2064385" cy="410845"/>
            </a:xfrm>
            <a:custGeom>
              <a:avLst/>
              <a:gdLst/>
              <a:ahLst/>
              <a:cxnLst/>
              <a:rect l="l" t="t" r="r" b="b"/>
              <a:pathLst>
                <a:path w="2064385" h="410844">
                  <a:moveTo>
                    <a:pt x="0" y="68440"/>
                  </a:moveTo>
                  <a:lnTo>
                    <a:pt x="5378" y="41801"/>
                  </a:lnTo>
                  <a:lnTo>
                    <a:pt x="20046" y="20046"/>
                  </a:lnTo>
                  <a:lnTo>
                    <a:pt x="41801" y="5378"/>
                  </a:lnTo>
                  <a:lnTo>
                    <a:pt x="68440" y="0"/>
                  </a:lnTo>
                  <a:lnTo>
                    <a:pt x="1995576" y="0"/>
                  </a:lnTo>
                  <a:lnTo>
                    <a:pt x="2022215" y="5378"/>
                  </a:lnTo>
                  <a:lnTo>
                    <a:pt x="2043969" y="20046"/>
                  </a:lnTo>
                  <a:lnTo>
                    <a:pt x="2058637" y="41801"/>
                  </a:lnTo>
                  <a:lnTo>
                    <a:pt x="2064016" y="68440"/>
                  </a:lnTo>
                  <a:lnTo>
                    <a:pt x="2064016" y="342163"/>
                  </a:lnTo>
                  <a:lnTo>
                    <a:pt x="2058637" y="368802"/>
                  </a:lnTo>
                  <a:lnTo>
                    <a:pt x="2043969" y="390556"/>
                  </a:lnTo>
                  <a:lnTo>
                    <a:pt x="2022215" y="405224"/>
                  </a:lnTo>
                  <a:lnTo>
                    <a:pt x="1995576" y="410603"/>
                  </a:lnTo>
                  <a:lnTo>
                    <a:pt x="68440" y="410603"/>
                  </a:lnTo>
                  <a:lnTo>
                    <a:pt x="41801" y="405224"/>
                  </a:lnTo>
                  <a:lnTo>
                    <a:pt x="20046" y="390556"/>
                  </a:lnTo>
                  <a:lnTo>
                    <a:pt x="5378" y="368802"/>
                  </a:lnTo>
                  <a:lnTo>
                    <a:pt x="0" y="342163"/>
                  </a:lnTo>
                  <a:lnTo>
                    <a:pt x="0" y="68440"/>
                  </a:lnTo>
                  <a:close/>
                </a:path>
              </a:pathLst>
            </a:custGeom>
            <a:ln w="25400">
              <a:solidFill>
                <a:srgbClr val="89A4A7"/>
              </a:solidFill>
            </a:ln>
          </p:spPr>
          <p:txBody>
            <a:bodyPr wrap="square" lIns="0" tIns="0" rIns="0" bIns="0" rtlCol="0"/>
            <a:lstStyle/>
            <a:p/>
          </p:txBody>
        </p:sp>
        <p:sp>
          <p:nvSpPr>
            <p:cNvPr id="10" name="object 10" descr=""/>
            <p:cNvSpPr/>
            <p:nvPr/>
          </p:nvSpPr>
          <p:spPr>
            <a:xfrm>
              <a:off x="352082" y="1167599"/>
              <a:ext cx="8108950" cy="306705"/>
            </a:xfrm>
            <a:custGeom>
              <a:avLst/>
              <a:gdLst/>
              <a:ahLst/>
              <a:cxnLst/>
              <a:rect l="l" t="t" r="r" b="b"/>
              <a:pathLst>
                <a:path w="8108950" h="306705">
                  <a:moveTo>
                    <a:pt x="8108353" y="153301"/>
                  </a:moveTo>
                  <a:lnTo>
                    <a:pt x="8108340" y="0"/>
                  </a:lnTo>
                  <a:lnTo>
                    <a:pt x="6081268" y="0"/>
                  </a:lnTo>
                  <a:lnTo>
                    <a:pt x="6081268" y="153301"/>
                  </a:lnTo>
                  <a:lnTo>
                    <a:pt x="6081255" y="0"/>
                  </a:lnTo>
                  <a:lnTo>
                    <a:pt x="4054170" y="0"/>
                  </a:lnTo>
                  <a:lnTo>
                    <a:pt x="2027097" y="0"/>
                  </a:lnTo>
                  <a:lnTo>
                    <a:pt x="1013548" y="0"/>
                  </a:lnTo>
                  <a:lnTo>
                    <a:pt x="0" y="0"/>
                  </a:lnTo>
                  <a:lnTo>
                    <a:pt x="0" y="306628"/>
                  </a:lnTo>
                  <a:lnTo>
                    <a:pt x="1013548" y="306628"/>
                  </a:lnTo>
                  <a:lnTo>
                    <a:pt x="2027097" y="306628"/>
                  </a:lnTo>
                  <a:lnTo>
                    <a:pt x="2027097" y="306603"/>
                  </a:lnTo>
                  <a:lnTo>
                    <a:pt x="8108353" y="306603"/>
                  </a:lnTo>
                  <a:lnTo>
                    <a:pt x="8108353" y="153301"/>
                  </a:lnTo>
                  <a:close/>
                </a:path>
              </a:pathLst>
            </a:custGeom>
            <a:solidFill>
              <a:srgbClr val="99CCFF"/>
            </a:solidFill>
          </p:spPr>
          <p:txBody>
            <a:bodyPr wrap="square" lIns="0" tIns="0" rIns="0" bIns="0" rtlCol="0"/>
            <a:lstStyle/>
            <a:p/>
          </p:txBody>
        </p:sp>
        <p:sp>
          <p:nvSpPr>
            <p:cNvPr id="11" name="object 11" descr=""/>
            <p:cNvSpPr/>
            <p:nvPr/>
          </p:nvSpPr>
          <p:spPr>
            <a:xfrm>
              <a:off x="1365628" y="1164422"/>
              <a:ext cx="0" cy="1846580"/>
            </a:xfrm>
            <a:custGeom>
              <a:avLst/>
              <a:gdLst/>
              <a:ahLst/>
              <a:cxnLst/>
              <a:rect l="l" t="t" r="r" b="b"/>
              <a:pathLst>
                <a:path w="0" h="1846580">
                  <a:moveTo>
                    <a:pt x="0" y="0"/>
                  </a:moveTo>
                  <a:lnTo>
                    <a:pt x="0" y="1846008"/>
                  </a:lnTo>
                </a:path>
              </a:pathLst>
            </a:custGeom>
            <a:ln w="6350">
              <a:solidFill>
                <a:srgbClr val="000000"/>
              </a:solidFill>
            </a:ln>
          </p:spPr>
          <p:txBody>
            <a:bodyPr wrap="square" lIns="0" tIns="0" rIns="0" bIns="0" rtlCol="0"/>
            <a:lstStyle/>
            <a:p/>
          </p:txBody>
        </p:sp>
        <p:sp>
          <p:nvSpPr>
            <p:cNvPr id="12" name="object 12" descr=""/>
            <p:cNvSpPr/>
            <p:nvPr/>
          </p:nvSpPr>
          <p:spPr>
            <a:xfrm>
              <a:off x="2379172" y="1164422"/>
              <a:ext cx="0" cy="1846580"/>
            </a:xfrm>
            <a:custGeom>
              <a:avLst/>
              <a:gdLst/>
              <a:ahLst/>
              <a:cxnLst/>
              <a:rect l="l" t="t" r="r" b="b"/>
              <a:pathLst>
                <a:path w="0" h="1846580">
                  <a:moveTo>
                    <a:pt x="0" y="0"/>
                  </a:moveTo>
                  <a:lnTo>
                    <a:pt x="0" y="1846008"/>
                  </a:lnTo>
                </a:path>
              </a:pathLst>
            </a:custGeom>
            <a:ln w="6350">
              <a:solidFill>
                <a:srgbClr val="000000"/>
              </a:solidFill>
            </a:ln>
          </p:spPr>
          <p:txBody>
            <a:bodyPr wrap="square" lIns="0" tIns="0" rIns="0" bIns="0" rtlCol="0"/>
            <a:lstStyle/>
            <a:p/>
          </p:txBody>
        </p:sp>
        <p:sp>
          <p:nvSpPr>
            <p:cNvPr id="13" name="object 13" descr=""/>
            <p:cNvSpPr/>
            <p:nvPr/>
          </p:nvSpPr>
          <p:spPr>
            <a:xfrm>
              <a:off x="4406257" y="1164422"/>
              <a:ext cx="0" cy="1846580"/>
            </a:xfrm>
            <a:custGeom>
              <a:avLst/>
              <a:gdLst/>
              <a:ahLst/>
              <a:cxnLst/>
              <a:rect l="l" t="t" r="r" b="b"/>
              <a:pathLst>
                <a:path w="0" h="1846580">
                  <a:moveTo>
                    <a:pt x="0" y="0"/>
                  </a:moveTo>
                  <a:lnTo>
                    <a:pt x="0" y="1846008"/>
                  </a:lnTo>
                </a:path>
              </a:pathLst>
            </a:custGeom>
            <a:ln w="6350">
              <a:solidFill>
                <a:srgbClr val="000000"/>
              </a:solidFill>
            </a:ln>
          </p:spPr>
          <p:txBody>
            <a:bodyPr wrap="square" lIns="0" tIns="0" rIns="0" bIns="0" rtlCol="0"/>
            <a:lstStyle/>
            <a:p/>
          </p:txBody>
        </p:sp>
        <p:sp>
          <p:nvSpPr>
            <p:cNvPr id="14" name="object 14" descr=""/>
            <p:cNvSpPr/>
            <p:nvPr/>
          </p:nvSpPr>
          <p:spPr>
            <a:xfrm>
              <a:off x="6433343" y="1164422"/>
              <a:ext cx="0" cy="1846580"/>
            </a:xfrm>
            <a:custGeom>
              <a:avLst/>
              <a:gdLst/>
              <a:ahLst/>
              <a:cxnLst/>
              <a:rect l="l" t="t" r="r" b="b"/>
              <a:pathLst>
                <a:path w="0" h="1846580">
                  <a:moveTo>
                    <a:pt x="0" y="0"/>
                  </a:moveTo>
                  <a:lnTo>
                    <a:pt x="0" y="1846008"/>
                  </a:lnTo>
                </a:path>
              </a:pathLst>
            </a:custGeom>
            <a:ln w="6350">
              <a:solidFill>
                <a:srgbClr val="000000"/>
              </a:solidFill>
            </a:ln>
          </p:spPr>
          <p:txBody>
            <a:bodyPr wrap="square" lIns="0" tIns="0" rIns="0" bIns="0" rtlCol="0"/>
            <a:lstStyle/>
            <a:p/>
          </p:txBody>
        </p:sp>
        <p:sp>
          <p:nvSpPr>
            <p:cNvPr id="15" name="object 15" descr=""/>
            <p:cNvSpPr/>
            <p:nvPr/>
          </p:nvSpPr>
          <p:spPr>
            <a:xfrm>
              <a:off x="2375997" y="1320901"/>
              <a:ext cx="6087745" cy="0"/>
            </a:xfrm>
            <a:custGeom>
              <a:avLst/>
              <a:gdLst/>
              <a:ahLst/>
              <a:cxnLst/>
              <a:rect l="l" t="t" r="r" b="b"/>
              <a:pathLst>
                <a:path w="6087745" h="0">
                  <a:moveTo>
                    <a:pt x="0" y="0"/>
                  </a:moveTo>
                  <a:lnTo>
                    <a:pt x="6087605" y="0"/>
                  </a:lnTo>
                </a:path>
              </a:pathLst>
            </a:custGeom>
            <a:ln w="6350">
              <a:solidFill>
                <a:srgbClr val="000000"/>
              </a:solidFill>
            </a:ln>
          </p:spPr>
          <p:txBody>
            <a:bodyPr wrap="square" lIns="0" tIns="0" rIns="0" bIns="0" rtlCol="0"/>
            <a:lstStyle/>
            <a:p/>
          </p:txBody>
        </p:sp>
        <p:sp>
          <p:nvSpPr>
            <p:cNvPr id="16" name="object 16" descr=""/>
            <p:cNvSpPr/>
            <p:nvPr/>
          </p:nvSpPr>
          <p:spPr>
            <a:xfrm>
              <a:off x="348910" y="1474207"/>
              <a:ext cx="8115300" cy="0"/>
            </a:xfrm>
            <a:custGeom>
              <a:avLst/>
              <a:gdLst/>
              <a:ahLst/>
              <a:cxnLst/>
              <a:rect l="l" t="t" r="r" b="b"/>
              <a:pathLst>
                <a:path w="8115300" h="0">
                  <a:moveTo>
                    <a:pt x="0" y="0"/>
                  </a:moveTo>
                  <a:lnTo>
                    <a:pt x="8114690" y="0"/>
                  </a:lnTo>
                </a:path>
              </a:pathLst>
            </a:custGeom>
            <a:ln w="6350">
              <a:solidFill>
                <a:srgbClr val="000000"/>
              </a:solidFill>
            </a:ln>
          </p:spPr>
          <p:txBody>
            <a:bodyPr wrap="square" lIns="0" tIns="0" rIns="0" bIns="0" rtlCol="0"/>
            <a:lstStyle/>
            <a:p/>
          </p:txBody>
        </p:sp>
        <p:sp>
          <p:nvSpPr>
            <p:cNvPr id="17" name="object 17" descr=""/>
            <p:cNvSpPr/>
            <p:nvPr/>
          </p:nvSpPr>
          <p:spPr>
            <a:xfrm>
              <a:off x="1362453" y="1627511"/>
              <a:ext cx="7101205" cy="0"/>
            </a:xfrm>
            <a:custGeom>
              <a:avLst/>
              <a:gdLst/>
              <a:ahLst/>
              <a:cxnLst/>
              <a:rect l="l" t="t" r="r" b="b"/>
              <a:pathLst>
                <a:path w="7101205" h="0">
                  <a:moveTo>
                    <a:pt x="0" y="0"/>
                  </a:moveTo>
                  <a:lnTo>
                    <a:pt x="7101154" y="0"/>
                  </a:lnTo>
                </a:path>
              </a:pathLst>
            </a:custGeom>
            <a:ln w="6350">
              <a:solidFill>
                <a:srgbClr val="000000"/>
              </a:solidFill>
            </a:ln>
          </p:spPr>
          <p:txBody>
            <a:bodyPr wrap="square" lIns="0" tIns="0" rIns="0" bIns="0" rtlCol="0"/>
            <a:lstStyle/>
            <a:p/>
          </p:txBody>
        </p:sp>
        <p:sp>
          <p:nvSpPr>
            <p:cNvPr id="18" name="object 18" descr=""/>
            <p:cNvSpPr/>
            <p:nvPr/>
          </p:nvSpPr>
          <p:spPr>
            <a:xfrm>
              <a:off x="1362453" y="1780816"/>
              <a:ext cx="7101205" cy="0"/>
            </a:xfrm>
            <a:custGeom>
              <a:avLst/>
              <a:gdLst/>
              <a:ahLst/>
              <a:cxnLst/>
              <a:rect l="l" t="t" r="r" b="b"/>
              <a:pathLst>
                <a:path w="7101205" h="0">
                  <a:moveTo>
                    <a:pt x="0" y="0"/>
                  </a:moveTo>
                  <a:lnTo>
                    <a:pt x="7101154" y="0"/>
                  </a:lnTo>
                </a:path>
              </a:pathLst>
            </a:custGeom>
            <a:ln w="6350">
              <a:solidFill>
                <a:srgbClr val="000000"/>
              </a:solidFill>
            </a:ln>
          </p:spPr>
          <p:txBody>
            <a:bodyPr wrap="square" lIns="0" tIns="0" rIns="0" bIns="0" rtlCol="0"/>
            <a:lstStyle/>
            <a:p/>
          </p:txBody>
        </p:sp>
        <p:sp>
          <p:nvSpPr>
            <p:cNvPr id="19" name="object 19" descr=""/>
            <p:cNvSpPr/>
            <p:nvPr/>
          </p:nvSpPr>
          <p:spPr>
            <a:xfrm>
              <a:off x="1362453" y="1934122"/>
              <a:ext cx="7101205" cy="0"/>
            </a:xfrm>
            <a:custGeom>
              <a:avLst/>
              <a:gdLst/>
              <a:ahLst/>
              <a:cxnLst/>
              <a:rect l="l" t="t" r="r" b="b"/>
              <a:pathLst>
                <a:path w="7101205" h="0">
                  <a:moveTo>
                    <a:pt x="0" y="0"/>
                  </a:moveTo>
                  <a:lnTo>
                    <a:pt x="7101154" y="0"/>
                  </a:lnTo>
                </a:path>
              </a:pathLst>
            </a:custGeom>
            <a:ln w="6350">
              <a:solidFill>
                <a:srgbClr val="000000"/>
              </a:solidFill>
            </a:ln>
          </p:spPr>
          <p:txBody>
            <a:bodyPr wrap="square" lIns="0" tIns="0" rIns="0" bIns="0" rtlCol="0"/>
            <a:lstStyle/>
            <a:p/>
          </p:txBody>
        </p:sp>
        <p:sp>
          <p:nvSpPr>
            <p:cNvPr id="20" name="object 20" descr=""/>
            <p:cNvSpPr/>
            <p:nvPr/>
          </p:nvSpPr>
          <p:spPr>
            <a:xfrm>
              <a:off x="1362453" y="2087426"/>
              <a:ext cx="7101205" cy="0"/>
            </a:xfrm>
            <a:custGeom>
              <a:avLst/>
              <a:gdLst/>
              <a:ahLst/>
              <a:cxnLst/>
              <a:rect l="l" t="t" r="r" b="b"/>
              <a:pathLst>
                <a:path w="7101205" h="0">
                  <a:moveTo>
                    <a:pt x="0" y="0"/>
                  </a:moveTo>
                  <a:lnTo>
                    <a:pt x="7101154" y="0"/>
                  </a:lnTo>
                </a:path>
              </a:pathLst>
            </a:custGeom>
            <a:ln w="6350">
              <a:solidFill>
                <a:srgbClr val="000000"/>
              </a:solidFill>
            </a:ln>
          </p:spPr>
          <p:txBody>
            <a:bodyPr wrap="square" lIns="0" tIns="0" rIns="0" bIns="0" rtlCol="0"/>
            <a:lstStyle/>
            <a:p/>
          </p:txBody>
        </p:sp>
        <p:sp>
          <p:nvSpPr>
            <p:cNvPr id="21" name="object 21" descr=""/>
            <p:cNvSpPr/>
            <p:nvPr/>
          </p:nvSpPr>
          <p:spPr>
            <a:xfrm>
              <a:off x="348910" y="2240732"/>
              <a:ext cx="8115300" cy="0"/>
            </a:xfrm>
            <a:custGeom>
              <a:avLst/>
              <a:gdLst/>
              <a:ahLst/>
              <a:cxnLst/>
              <a:rect l="l" t="t" r="r" b="b"/>
              <a:pathLst>
                <a:path w="8115300" h="0">
                  <a:moveTo>
                    <a:pt x="0" y="0"/>
                  </a:moveTo>
                  <a:lnTo>
                    <a:pt x="8114690" y="0"/>
                  </a:lnTo>
                </a:path>
              </a:pathLst>
            </a:custGeom>
            <a:ln w="6350">
              <a:solidFill>
                <a:srgbClr val="000000"/>
              </a:solidFill>
            </a:ln>
          </p:spPr>
          <p:txBody>
            <a:bodyPr wrap="square" lIns="0" tIns="0" rIns="0" bIns="0" rtlCol="0"/>
            <a:lstStyle/>
            <a:p/>
          </p:txBody>
        </p:sp>
        <p:sp>
          <p:nvSpPr>
            <p:cNvPr id="22" name="object 22" descr=""/>
            <p:cNvSpPr/>
            <p:nvPr/>
          </p:nvSpPr>
          <p:spPr>
            <a:xfrm>
              <a:off x="1362453" y="2394037"/>
              <a:ext cx="7101205" cy="0"/>
            </a:xfrm>
            <a:custGeom>
              <a:avLst/>
              <a:gdLst/>
              <a:ahLst/>
              <a:cxnLst/>
              <a:rect l="l" t="t" r="r" b="b"/>
              <a:pathLst>
                <a:path w="7101205" h="0">
                  <a:moveTo>
                    <a:pt x="0" y="0"/>
                  </a:moveTo>
                  <a:lnTo>
                    <a:pt x="7101154" y="0"/>
                  </a:lnTo>
                </a:path>
              </a:pathLst>
            </a:custGeom>
            <a:ln w="6350">
              <a:solidFill>
                <a:srgbClr val="000000"/>
              </a:solidFill>
            </a:ln>
          </p:spPr>
          <p:txBody>
            <a:bodyPr wrap="square" lIns="0" tIns="0" rIns="0" bIns="0" rtlCol="0"/>
            <a:lstStyle/>
            <a:p/>
          </p:txBody>
        </p:sp>
        <p:sp>
          <p:nvSpPr>
            <p:cNvPr id="23" name="object 23" descr=""/>
            <p:cNvSpPr/>
            <p:nvPr/>
          </p:nvSpPr>
          <p:spPr>
            <a:xfrm>
              <a:off x="1362453" y="2547341"/>
              <a:ext cx="7101205" cy="0"/>
            </a:xfrm>
            <a:custGeom>
              <a:avLst/>
              <a:gdLst/>
              <a:ahLst/>
              <a:cxnLst/>
              <a:rect l="l" t="t" r="r" b="b"/>
              <a:pathLst>
                <a:path w="7101205" h="0">
                  <a:moveTo>
                    <a:pt x="0" y="0"/>
                  </a:moveTo>
                  <a:lnTo>
                    <a:pt x="7101154" y="0"/>
                  </a:lnTo>
                </a:path>
              </a:pathLst>
            </a:custGeom>
            <a:ln w="6350">
              <a:solidFill>
                <a:srgbClr val="000000"/>
              </a:solidFill>
            </a:ln>
          </p:spPr>
          <p:txBody>
            <a:bodyPr wrap="square" lIns="0" tIns="0" rIns="0" bIns="0" rtlCol="0"/>
            <a:lstStyle/>
            <a:p/>
          </p:txBody>
        </p:sp>
        <p:sp>
          <p:nvSpPr>
            <p:cNvPr id="24" name="object 24" descr=""/>
            <p:cNvSpPr/>
            <p:nvPr/>
          </p:nvSpPr>
          <p:spPr>
            <a:xfrm>
              <a:off x="1362453" y="2700647"/>
              <a:ext cx="7101205" cy="0"/>
            </a:xfrm>
            <a:custGeom>
              <a:avLst/>
              <a:gdLst/>
              <a:ahLst/>
              <a:cxnLst/>
              <a:rect l="l" t="t" r="r" b="b"/>
              <a:pathLst>
                <a:path w="7101205" h="0">
                  <a:moveTo>
                    <a:pt x="0" y="0"/>
                  </a:moveTo>
                  <a:lnTo>
                    <a:pt x="7101154" y="0"/>
                  </a:lnTo>
                </a:path>
              </a:pathLst>
            </a:custGeom>
            <a:ln w="6350">
              <a:solidFill>
                <a:srgbClr val="000000"/>
              </a:solidFill>
            </a:ln>
          </p:spPr>
          <p:txBody>
            <a:bodyPr wrap="square" lIns="0" tIns="0" rIns="0" bIns="0" rtlCol="0"/>
            <a:lstStyle/>
            <a:p/>
          </p:txBody>
        </p:sp>
        <p:sp>
          <p:nvSpPr>
            <p:cNvPr id="25" name="object 25" descr=""/>
            <p:cNvSpPr/>
            <p:nvPr/>
          </p:nvSpPr>
          <p:spPr>
            <a:xfrm>
              <a:off x="1362453" y="2853951"/>
              <a:ext cx="7101205" cy="0"/>
            </a:xfrm>
            <a:custGeom>
              <a:avLst/>
              <a:gdLst/>
              <a:ahLst/>
              <a:cxnLst/>
              <a:rect l="l" t="t" r="r" b="b"/>
              <a:pathLst>
                <a:path w="7101205" h="0">
                  <a:moveTo>
                    <a:pt x="0" y="0"/>
                  </a:moveTo>
                  <a:lnTo>
                    <a:pt x="7101154" y="0"/>
                  </a:lnTo>
                </a:path>
              </a:pathLst>
            </a:custGeom>
            <a:ln w="6350">
              <a:solidFill>
                <a:srgbClr val="000000"/>
              </a:solidFill>
            </a:ln>
          </p:spPr>
          <p:txBody>
            <a:bodyPr wrap="square" lIns="0" tIns="0" rIns="0" bIns="0" rtlCol="0"/>
            <a:lstStyle/>
            <a:p/>
          </p:txBody>
        </p:sp>
        <p:sp>
          <p:nvSpPr>
            <p:cNvPr id="26" name="object 26" descr=""/>
            <p:cNvSpPr/>
            <p:nvPr/>
          </p:nvSpPr>
          <p:spPr>
            <a:xfrm>
              <a:off x="352085" y="1164422"/>
              <a:ext cx="0" cy="1846580"/>
            </a:xfrm>
            <a:custGeom>
              <a:avLst/>
              <a:gdLst/>
              <a:ahLst/>
              <a:cxnLst/>
              <a:rect l="l" t="t" r="r" b="b"/>
              <a:pathLst>
                <a:path w="0" h="1846580">
                  <a:moveTo>
                    <a:pt x="0" y="0"/>
                  </a:moveTo>
                  <a:lnTo>
                    <a:pt x="0" y="1846008"/>
                  </a:lnTo>
                </a:path>
              </a:pathLst>
            </a:custGeom>
            <a:ln w="6350">
              <a:solidFill>
                <a:srgbClr val="000000"/>
              </a:solidFill>
            </a:ln>
          </p:spPr>
          <p:txBody>
            <a:bodyPr wrap="square" lIns="0" tIns="0" rIns="0" bIns="0" rtlCol="0"/>
            <a:lstStyle/>
            <a:p/>
          </p:txBody>
        </p:sp>
        <p:sp>
          <p:nvSpPr>
            <p:cNvPr id="27" name="object 27" descr=""/>
            <p:cNvSpPr/>
            <p:nvPr/>
          </p:nvSpPr>
          <p:spPr>
            <a:xfrm>
              <a:off x="8460430" y="1164422"/>
              <a:ext cx="0" cy="1846580"/>
            </a:xfrm>
            <a:custGeom>
              <a:avLst/>
              <a:gdLst/>
              <a:ahLst/>
              <a:cxnLst/>
              <a:rect l="l" t="t" r="r" b="b"/>
              <a:pathLst>
                <a:path w="0" h="1846580">
                  <a:moveTo>
                    <a:pt x="0" y="0"/>
                  </a:moveTo>
                  <a:lnTo>
                    <a:pt x="0" y="1846008"/>
                  </a:lnTo>
                </a:path>
              </a:pathLst>
            </a:custGeom>
            <a:ln w="6350">
              <a:solidFill>
                <a:srgbClr val="000000"/>
              </a:solidFill>
            </a:ln>
          </p:spPr>
          <p:txBody>
            <a:bodyPr wrap="square" lIns="0" tIns="0" rIns="0" bIns="0" rtlCol="0"/>
            <a:lstStyle/>
            <a:p/>
          </p:txBody>
        </p:sp>
        <p:sp>
          <p:nvSpPr>
            <p:cNvPr id="28" name="object 28" descr=""/>
            <p:cNvSpPr/>
            <p:nvPr/>
          </p:nvSpPr>
          <p:spPr>
            <a:xfrm>
              <a:off x="348910" y="1167597"/>
              <a:ext cx="8115300" cy="0"/>
            </a:xfrm>
            <a:custGeom>
              <a:avLst/>
              <a:gdLst/>
              <a:ahLst/>
              <a:cxnLst/>
              <a:rect l="l" t="t" r="r" b="b"/>
              <a:pathLst>
                <a:path w="8115300" h="0">
                  <a:moveTo>
                    <a:pt x="0" y="0"/>
                  </a:moveTo>
                  <a:lnTo>
                    <a:pt x="8114690" y="0"/>
                  </a:lnTo>
                </a:path>
              </a:pathLst>
            </a:custGeom>
            <a:ln w="6350">
              <a:solidFill>
                <a:srgbClr val="000000"/>
              </a:solidFill>
            </a:ln>
          </p:spPr>
          <p:txBody>
            <a:bodyPr wrap="square" lIns="0" tIns="0" rIns="0" bIns="0" rtlCol="0"/>
            <a:lstStyle/>
            <a:p/>
          </p:txBody>
        </p:sp>
        <p:sp>
          <p:nvSpPr>
            <p:cNvPr id="29" name="object 29" descr=""/>
            <p:cNvSpPr/>
            <p:nvPr/>
          </p:nvSpPr>
          <p:spPr>
            <a:xfrm>
              <a:off x="348910" y="3007257"/>
              <a:ext cx="8115300" cy="0"/>
            </a:xfrm>
            <a:custGeom>
              <a:avLst/>
              <a:gdLst/>
              <a:ahLst/>
              <a:cxnLst/>
              <a:rect l="l" t="t" r="r" b="b"/>
              <a:pathLst>
                <a:path w="8115300" h="0">
                  <a:moveTo>
                    <a:pt x="0" y="0"/>
                  </a:moveTo>
                  <a:lnTo>
                    <a:pt x="8114690" y="0"/>
                  </a:lnTo>
                </a:path>
              </a:pathLst>
            </a:custGeom>
            <a:ln w="6350">
              <a:solidFill>
                <a:srgbClr val="000000"/>
              </a:solidFill>
            </a:ln>
          </p:spPr>
          <p:txBody>
            <a:bodyPr wrap="square" lIns="0" tIns="0" rIns="0" bIns="0" rtlCol="0"/>
            <a:lstStyle/>
            <a:p/>
          </p:txBody>
        </p:sp>
      </p:grpSp>
      <p:sp>
        <p:nvSpPr>
          <p:cNvPr id="30" name="object 30" descr=""/>
          <p:cNvSpPr txBox="1"/>
          <p:nvPr/>
        </p:nvSpPr>
        <p:spPr>
          <a:xfrm>
            <a:off x="592451" y="872422"/>
            <a:ext cx="1475105" cy="525145"/>
          </a:xfrm>
          <a:prstGeom prst="rect">
            <a:avLst/>
          </a:prstGeom>
        </p:spPr>
        <p:txBody>
          <a:bodyPr wrap="square" lIns="0" tIns="12065" rIns="0" bIns="0" rtlCol="0" vert="horz">
            <a:spAutoFit/>
          </a:bodyPr>
          <a:lstStyle/>
          <a:p>
            <a:pPr algn="ctr">
              <a:lnSpc>
                <a:spcPct val="100000"/>
              </a:lnSpc>
              <a:spcBef>
                <a:spcPts val="95"/>
              </a:spcBef>
            </a:pPr>
            <a:r>
              <a:rPr dirty="0" sz="1400" spc="-10">
                <a:solidFill>
                  <a:srgbClr val="FFFFFF"/>
                </a:solidFill>
                <a:latin typeface="Arial MT"/>
                <a:cs typeface="Arial MT"/>
              </a:rPr>
              <a:t>FTP/</a:t>
            </a:r>
            <a:r>
              <a:rPr dirty="0" sz="1400" spc="-25">
                <a:solidFill>
                  <a:srgbClr val="FFFFFF"/>
                </a:solidFill>
                <a:latin typeface="SimSun"/>
                <a:cs typeface="SimSun"/>
              </a:rPr>
              <a:t>视频业务测试</a:t>
            </a:r>
            <a:endParaRPr sz="1400">
              <a:latin typeface="SimSun"/>
              <a:cs typeface="SimSun"/>
            </a:endParaRPr>
          </a:p>
          <a:p>
            <a:pPr algn="ctr">
              <a:lnSpc>
                <a:spcPct val="100000"/>
              </a:lnSpc>
              <a:spcBef>
                <a:spcPts val="1295"/>
              </a:spcBef>
              <a:tabLst>
                <a:tab pos="1088390" algn="l"/>
              </a:tabLst>
            </a:pPr>
            <a:r>
              <a:rPr dirty="0" baseline="3472" sz="1200">
                <a:latin typeface="SimSun"/>
                <a:cs typeface="SimSun"/>
              </a:rPr>
              <a:t>NR</a:t>
            </a:r>
            <a:r>
              <a:rPr dirty="0" baseline="3472" sz="1200" spc="-30">
                <a:latin typeface="SimSun"/>
                <a:cs typeface="SimSun"/>
              </a:rPr>
              <a:t> </a:t>
            </a:r>
            <a:r>
              <a:rPr dirty="0" sz="800" spc="-10">
                <a:latin typeface="Microsoft YaHei"/>
                <a:cs typeface="Microsoft YaHei"/>
              </a:rPr>
              <a:t>场</a:t>
            </a:r>
            <a:r>
              <a:rPr dirty="0" sz="800" spc="-50">
                <a:latin typeface="Microsoft YaHei"/>
                <a:cs typeface="Microsoft YaHei"/>
              </a:rPr>
              <a:t>景</a:t>
            </a:r>
            <a:r>
              <a:rPr dirty="0" sz="800">
                <a:latin typeface="Microsoft YaHei"/>
                <a:cs typeface="Microsoft YaHei"/>
              </a:rPr>
              <a:t>	</a:t>
            </a:r>
            <a:r>
              <a:rPr dirty="0" sz="800" spc="-10">
                <a:latin typeface="Microsoft YaHei"/>
                <a:cs typeface="Microsoft YaHei"/>
              </a:rPr>
              <a:t>业</a:t>
            </a:r>
            <a:r>
              <a:rPr dirty="0" sz="800" spc="-50">
                <a:latin typeface="Microsoft YaHei"/>
                <a:cs typeface="Microsoft YaHei"/>
              </a:rPr>
              <a:t>务</a:t>
            </a:r>
            <a:endParaRPr sz="800">
              <a:latin typeface="Microsoft YaHei"/>
              <a:cs typeface="Microsoft YaHei"/>
            </a:endParaRPr>
          </a:p>
        </p:txBody>
      </p:sp>
      <p:sp>
        <p:nvSpPr>
          <p:cNvPr id="31" name="object 31" descr=""/>
          <p:cNvSpPr/>
          <p:nvPr/>
        </p:nvSpPr>
        <p:spPr>
          <a:xfrm>
            <a:off x="1007605" y="4461967"/>
            <a:ext cx="7522209" cy="469900"/>
          </a:xfrm>
          <a:custGeom>
            <a:avLst/>
            <a:gdLst/>
            <a:ahLst/>
            <a:cxnLst/>
            <a:rect l="l" t="t" r="r" b="b"/>
            <a:pathLst>
              <a:path w="7522209" h="469900">
                <a:moveTo>
                  <a:pt x="0" y="0"/>
                </a:moveTo>
                <a:lnTo>
                  <a:pt x="7521994" y="0"/>
                </a:lnTo>
                <a:lnTo>
                  <a:pt x="7521994" y="469353"/>
                </a:lnTo>
                <a:lnTo>
                  <a:pt x="0" y="469353"/>
                </a:lnTo>
                <a:lnTo>
                  <a:pt x="0" y="0"/>
                </a:lnTo>
                <a:close/>
              </a:path>
            </a:pathLst>
          </a:custGeom>
          <a:ln w="9525">
            <a:solidFill>
              <a:srgbClr val="FF0000"/>
            </a:solidFill>
            <a:prstDash val="sysDash"/>
          </a:ln>
        </p:spPr>
        <p:txBody>
          <a:bodyPr wrap="square" lIns="0" tIns="0" rIns="0" bIns="0" rtlCol="0"/>
          <a:lstStyle/>
          <a:p/>
        </p:txBody>
      </p:sp>
      <p:sp>
        <p:nvSpPr>
          <p:cNvPr id="32" name="object 32" descr=""/>
          <p:cNvSpPr txBox="1"/>
          <p:nvPr/>
        </p:nvSpPr>
        <p:spPr>
          <a:xfrm>
            <a:off x="1063484" y="4480502"/>
            <a:ext cx="7498080" cy="422275"/>
          </a:xfrm>
          <a:prstGeom prst="rect">
            <a:avLst/>
          </a:prstGeom>
        </p:spPr>
        <p:txBody>
          <a:bodyPr wrap="square" lIns="0" tIns="12700" rIns="0" bIns="0" rtlCol="0" vert="horz">
            <a:spAutoFit/>
          </a:bodyPr>
          <a:lstStyle/>
          <a:p>
            <a:pPr marL="227329" indent="-214629">
              <a:lnSpc>
                <a:spcPct val="100000"/>
              </a:lnSpc>
              <a:spcBef>
                <a:spcPts val="100"/>
              </a:spcBef>
              <a:buChar char="•"/>
              <a:tabLst>
                <a:tab pos="227329" algn="l"/>
              </a:tabLst>
            </a:pPr>
            <a:r>
              <a:rPr dirty="0" sz="1300">
                <a:latin typeface="Arial MT"/>
                <a:cs typeface="Arial MT"/>
              </a:rPr>
              <a:t>NR</a:t>
            </a:r>
            <a:r>
              <a:rPr dirty="0" sz="1300">
                <a:latin typeface="SimSun"/>
                <a:cs typeface="SimSun"/>
              </a:rPr>
              <a:t>室外</a:t>
            </a:r>
            <a:r>
              <a:rPr dirty="0" sz="1300" spc="-10">
                <a:latin typeface="Arial MT"/>
                <a:cs typeface="Arial MT"/>
              </a:rPr>
              <a:t>/</a:t>
            </a:r>
            <a:r>
              <a:rPr dirty="0" sz="1300" spc="-15">
                <a:latin typeface="SimSun"/>
                <a:cs typeface="SimSun"/>
              </a:rPr>
              <a:t>室内弱覆盖点位，各类视频业务播放流畅，无缓冲及卡顿现象。</a:t>
            </a:r>
            <a:endParaRPr sz="1300">
              <a:latin typeface="SimSun"/>
              <a:cs typeface="SimSun"/>
            </a:endParaRPr>
          </a:p>
          <a:p>
            <a:pPr marL="227329" indent="-214629">
              <a:lnSpc>
                <a:spcPct val="100000"/>
              </a:lnSpc>
              <a:buChar char="•"/>
              <a:tabLst>
                <a:tab pos="227329" algn="l"/>
              </a:tabLst>
            </a:pPr>
            <a:r>
              <a:rPr dirty="0" sz="1300" spc="-45">
                <a:latin typeface="Arial MT"/>
                <a:cs typeface="Arial MT"/>
              </a:rPr>
              <a:t>LTE</a:t>
            </a:r>
            <a:r>
              <a:rPr dirty="0" sz="1300" spc="-5">
                <a:latin typeface="SimSun"/>
                <a:cs typeface="SimSun"/>
              </a:rPr>
              <a:t>室外</a:t>
            </a:r>
            <a:r>
              <a:rPr dirty="0" sz="1300" spc="-10">
                <a:latin typeface="Arial MT"/>
                <a:cs typeface="Arial MT"/>
              </a:rPr>
              <a:t>/</a:t>
            </a:r>
            <a:r>
              <a:rPr dirty="0" sz="1300" spc="-10">
                <a:latin typeface="SimSun"/>
                <a:cs typeface="SimSun"/>
              </a:rPr>
              <a:t>室内弱覆盖点位，</a:t>
            </a:r>
            <a:r>
              <a:rPr dirty="0" sz="1300" spc="-10">
                <a:latin typeface="Arial MT"/>
                <a:cs typeface="Arial MT"/>
              </a:rPr>
              <a:t>1080P</a:t>
            </a:r>
            <a:r>
              <a:rPr dirty="0" sz="1300" spc="-15">
                <a:latin typeface="SimSun"/>
                <a:cs typeface="SimSun"/>
              </a:rPr>
              <a:t>视频业务播放偶有缓冲和卡顿，其它业务均频繁卡顿或无法播放。</a:t>
            </a:r>
            <a:endParaRPr sz="1300">
              <a:latin typeface="SimSun"/>
              <a:cs typeface="SimSun"/>
            </a:endParaRPr>
          </a:p>
        </p:txBody>
      </p:sp>
      <p:sp>
        <p:nvSpPr>
          <p:cNvPr id="33" name="object 33" descr=""/>
          <p:cNvSpPr txBox="1"/>
          <p:nvPr/>
        </p:nvSpPr>
        <p:spPr>
          <a:xfrm>
            <a:off x="3177300" y="1181684"/>
            <a:ext cx="431165" cy="147320"/>
          </a:xfrm>
          <a:prstGeom prst="rect">
            <a:avLst/>
          </a:prstGeom>
        </p:spPr>
        <p:txBody>
          <a:bodyPr wrap="square" lIns="0" tIns="12065" rIns="0" bIns="0" rtlCol="0" vert="horz">
            <a:spAutoFit/>
          </a:bodyPr>
          <a:lstStyle/>
          <a:p>
            <a:pPr marL="12700">
              <a:lnSpc>
                <a:spcPct val="100000"/>
              </a:lnSpc>
              <a:spcBef>
                <a:spcPts val="95"/>
              </a:spcBef>
            </a:pPr>
            <a:r>
              <a:rPr dirty="0" sz="800" spc="-20">
                <a:latin typeface="Microsoft YaHei"/>
                <a:cs typeface="Microsoft YaHei"/>
              </a:rPr>
              <a:t>下行速率</a:t>
            </a:r>
            <a:endParaRPr sz="800">
              <a:latin typeface="Microsoft YaHei"/>
              <a:cs typeface="Microsoft YaHei"/>
            </a:endParaRPr>
          </a:p>
        </p:txBody>
      </p:sp>
      <p:sp>
        <p:nvSpPr>
          <p:cNvPr id="34" name="object 34" descr=""/>
          <p:cNvSpPr txBox="1"/>
          <p:nvPr/>
        </p:nvSpPr>
        <p:spPr>
          <a:xfrm>
            <a:off x="5204423" y="1181684"/>
            <a:ext cx="431165" cy="147320"/>
          </a:xfrm>
          <a:prstGeom prst="rect">
            <a:avLst/>
          </a:prstGeom>
        </p:spPr>
        <p:txBody>
          <a:bodyPr wrap="square" lIns="0" tIns="12065" rIns="0" bIns="0" rtlCol="0" vert="horz">
            <a:spAutoFit/>
          </a:bodyPr>
          <a:lstStyle/>
          <a:p>
            <a:pPr marL="12700">
              <a:lnSpc>
                <a:spcPct val="100000"/>
              </a:lnSpc>
              <a:spcBef>
                <a:spcPts val="95"/>
              </a:spcBef>
            </a:pPr>
            <a:r>
              <a:rPr dirty="0" sz="800" spc="-20">
                <a:latin typeface="Microsoft YaHei"/>
                <a:cs typeface="Microsoft YaHei"/>
              </a:rPr>
              <a:t>上行速率</a:t>
            </a:r>
            <a:endParaRPr sz="800">
              <a:latin typeface="Microsoft YaHei"/>
              <a:cs typeface="Microsoft YaHei"/>
            </a:endParaRPr>
          </a:p>
        </p:txBody>
      </p:sp>
      <p:sp>
        <p:nvSpPr>
          <p:cNvPr id="35" name="object 35" descr=""/>
          <p:cNvSpPr txBox="1"/>
          <p:nvPr/>
        </p:nvSpPr>
        <p:spPr>
          <a:xfrm>
            <a:off x="7231545" y="1181684"/>
            <a:ext cx="431165" cy="147320"/>
          </a:xfrm>
          <a:prstGeom prst="rect">
            <a:avLst/>
          </a:prstGeom>
        </p:spPr>
        <p:txBody>
          <a:bodyPr wrap="square" lIns="0" tIns="12065" rIns="0" bIns="0" rtlCol="0" vert="horz">
            <a:spAutoFit/>
          </a:bodyPr>
          <a:lstStyle/>
          <a:p>
            <a:pPr marL="12700">
              <a:lnSpc>
                <a:spcPct val="100000"/>
              </a:lnSpc>
              <a:spcBef>
                <a:spcPts val="95"/>
              </a:spcBef>
            </a:pPr>
            <a:r>
              <a:rPr dirty="0" sz="800" spc="-20">
                <a:latin typeface="Microsoft YaHei"/>
                <a:cs typeface="Microsoft YaHei"/>
              </a:rPr>
              <a:t>主观描述</a:t>
            </a:r>
            <a:endParaRPr sz="800">
              <a:latin typeface="Microsoft YaHei"/>
              <a:cs typeface="Microsoft YaHei"/>
            </a:endParaRPr>
          </a:p>
        </p:txBody>
      </p:sp>
      <p:graphicFrame>
        <p:nvGraphicFramePr>
          <p:cNvPr id="36" name="object 36" descr=""/>
          <p:cNvGraphicFramePr>
            <a:graphicFrameLocks noGrp="1"/>
          </p:cNvGraphicFramePr>
          <p:nvPr/>
        </p:nvGraphicFramePr>
        <p:xfrm>
          <a:off x="725540" y="1320901"/>
          <a:ext cx="7437755" cy="1683384"/>
        </p:xfrm>
        <a:graphic>
          <a:graphicData uri="http://schemas.openxmlformats.org/drawingml/2006/table">
            <a:tbl>
              <a:tblPr firstRow="1" bandRow="1">
                <a:tableStyleId>{2D5ABB26-0587-4C30-8999-92F81FD0307C}</a:tableStyleId>
              </a:tblPr>
              <a:tblGrid>
                <a:gridCol w="636905"/>
                <a:gridCol w="1013459"/>
                <a:gridCol w="1016635"/>
                <a:gridCol w="1013460"/>
                <a:gridCol w="1013460"/>
                <a:gridCol w="1013460"/>
                <a:gridCol w="1013460"/>
                <a:gridCol w="640079"/>
              </a:tblGrid>
              <a:tr h="154305">
                <a:tc gridSpan="2">
                  <a:txBody>
                    <a:bodyPr/>
                    <a:lstStyle/>
                    <a:p>
                      <a:pPr>
                        <a:lnSpc>
                          <a:spcPct val="100000"/>
                        </a:lnSpc>
                      </a:pPr>
                      <a:endParaRPr sz="800">
                        <a:latin typeface="Times New Roman"/>
                        <a:cs typeface="Times New Roman"/>
                      </a:endParaRPr>
                    </a:p>
                  </a:txBody>
                  <a:tcPr marL="0" marR="0" marB="0" marT="0">
                    <a:solidFill>
                      <a:srgbClr val="99CCFF"/>
                    </a:solidFill>
                  </a:tcPr>
                </a:tc>
                <a:tc hMerge="1">
                  <a:txBody>
                    <a:bodyPr/>
                    <a:lstStyle/>
                    <a:p>
                      <a:pPr/>
                    </a:p>
                  </a:txBody>
                  <a:tcPr marL="0" marR="0" marB="0" marT="0"/>
                </a:tc>
                <a:tc>
                  <a:txBody>
                    <a:bodyPr/>
                    <a:lstStyle/>
                    <a:p>
                      <a:pPr algn="ctr" marL="2540">
                        <a:lnSpc>
                          <a:spcPts val="910"/>
                        </a:lnSpc>
                        <a:spcBef>
                          <a:spcPts val="209"/>
                        </a:spcBef>
                      </a:pPr>
                      <a:r>
                        <a:rPr dirty="0" sz="800" spc="-30">
                          <a:latin typeface="Microsoft YaHei"/>
                          <a:cs typeface="Microsoft YaHei"/>
                        </a:rPr>
                        <a:t>空载</a:t>
                      </a:r>
                      <a:endParaRPr sz="800">
                        <a:latin typeface="Microsoft YaHei"/>
                        <a:cs typeface="Microsoft YaHei"/>
                      </a:endParaRPr>
                    </a:p>
                  </a:txBody>
                  <a:tcPr marL="0" marR="0" marB="0" marT="26669">
                    <a:lnR w="6350">
                      <a:solidFill>
                        <a:srgbClr val="000000"/>
                      </a:solidFill>
                      <a:prstDash val="solid"/>
                    </a:lnR>
                    <a:solidFill>
                      <a:srgbClr val="99CCFF"/>
                    </a:solidFill>
                  </a:tcPr>
                </a:tc>
                <a:tc>
                  <a:txBody>
                    <a:bodyPr/>
                    <a:lstStyle/>
                    <a:p>
                      <a:pPr algn="ctr">
                        <a:lnSpc>
                          <a:spcPts val="910"/>
                        </a:lnSpc>
                        <a:spcBef>
                          <a:spcPts val="209"/>
                        </a:spcBef>
                      </a:pPr>
                      <a:r>
                        <a:rPr dirty="0" sz="800" spc="-30">
                          <a:latin typeface="Microsoft YaHei"/>
                          <a:cs typeface="Microsoft YaHei"/>
                        </a:rPr>
                        <a:t>加载</a:t>
                      </a:r>
                      <a:endParaRPr sz="800">
                        <a:latin typeface="Microsoft YaHei"/>
                        <a:cs typeface="Microsoft YaHei"/>
                      </a:endParaRPr>
                    </a:p>
                  </a:txBody>
                  <a:tcPr marL="0" marR="0" marB="0" marT="26669">
                    <a:lnL w="6350">
                      <a:solidFill>
                        <a:srgbClr val="000000"/>
                      </a:solidFill>
                      <a:prstDash val="solid"/>
                    </a:lnL>
                    <a:solidFill>
                      <a:srgbClr val="99CCFF"/>
                    </a:solidFill>
                  </a:tcPr>
                </a:tc>
                <a:tc>
                  <a:txBody>
                    <a:bodyPr/>
                    <a:lstStyle/>
                    <a:p>
                      <a:pPr algn="ctr">
                        <a:lnSpc>
                          <a:spcPts val="910"/>
                        </a:lnSpc>
                        <a:spcBef>
                          <a:spcPts val="209"/>
                        </a:spcBef>
                      </a:pPr>
                      <a:r>
                        <a:rPr dirty="0" sz="800" spc="-30">
                          <a:latin typeface="Microsoft YaHei"/>
                          <a:cs typeface="Microsoft YaHei"/>
                        </a:rPr>
                        <a:t>空载</a:t>
                      </a:r>
                      <a:endParaRPr sz="800">
                        <a:latin typeface="Microsoft YaHei"/>
                        <a:cs typeface="Microsoft YaHei"/>
                      </a:endParaRPr>
                    </a:p>
                  </a:txBody>
                  <a:tcPr marL="0" marR="0" marB="0" marT="26669">
                    <a:lnR w="6350">
                      <a:solidFill>
                        <a:srgbClr val="000000"/>
                      </a:solidFill>
                      <a:prstDash val="solid"/>
                    </a:lnR>
                    <a:solidFill>
                      <a:srgbClr val="99CCFF"/>
                    </a:solidFill>
                  </a:tcPr>
                </a:tc>
                <a:tc>
                  <a:txBody>
                    <a:bodyPr/>
                    <a:lstStyle/>
                    <a:p>
                      <a:pPr algn="ctr">
                        <a:lnSpc>
                          <a:spcPts val="910"/>
                        </a:lnSpc>
                        <a:spcBef>
                          <a:spcPts val="209"/>
                        </a:spcBef>
                      </a:pPr>
                      <a:r>
                        <a:rPr dirty="0" sz="800" spc="-30">
                          <a:latin typeface="Microsoft YaHei"/>
                          <a:cs typeface="Microsoft YaHei"/>
                        </a:rPr>
                        <a:t>加载</a:t>
                      </a:r>
                      <a:endParaRPr sz="800">
                        <a:latin typeface="Microsoft YaHei"/>
                        <a:cs typeface="Microsoft YaHei"/>
                      </a:endParaRPr>
                    </a:p>
                  </a:txBody>
                  <a:tcPr marL="0" marR="0" marB="0" marT="26669">
                    <a:lnL w="6350">
                      <a:solidFill>
                        <a:srgbClr val="000000"/>
                      </a:solidFill>
                      <a:prstDash val="solid"/>
                    </a:lnL>
                    <a:solidFill>
                      <a:srgbClr val="99CCFF"/>
                    </a:solidFill>
                  </a:tcPr>
                </a:tc>
                <a:tc>
                  <a:txBody>
                    <a:bodyPr/>
                    <a:lstStyle/>
                    <a:p>
                      <a:pPr algn="ctr">
                        <a:lnSpc>
                          <a:spcPts val="910"/>
                        </a:lnSpc>
                        <a:spcBef>
                          <a:spcPts val="209"/>
                        </a:spcBef>
                      </a:pPr>
                      <a:r>
                        <a:rPr dirty="0" sz="800" spc="-30">
                          <a:latin typeface="Microsoft YaHei"/>
                          <a:cs typeface="Microsoft YaHei"/>
                        </a:rPr>
                        <a:t>空载</a:t>
                      </a:r>
                      <a:endParaRPr sz="800">
                        <a:latin typeface="Microsoft YaHei"/>
                        <a:cs typeface="Microsoft YaHei"/>
                      </a:endParaRPr>
                    </a:p>
                  </a:txBody>
                  <a:tcPr marL="0" marR="0" marB="0" marT="26669">
                    <a:lnR w="6350">
                      <a:solidFill>
                        <a:srgbClr val="000000"/>
                      </a:solidFill>
                      <a:prstDash val="solid"/>
                    </a:lnR>
                    <a:solidFill>
                      <a:srgbClr val="99CCFF"/>
                    </a:solidFill>
                  </a:tcPr>
                </a:tc>
                <a:tc>
                  <a:txBody>
                    <a:bodyPr/>
                    <a:lstStyle/>
                    <a:p>
                      <a:pPr algn="ctr" marL="372745">
                        <a:lnSpc>
                          <a:spcPts val="910"/>
                        </a:lnSpc>
                        <a:spcBef>
                          <a:spcPts val="209"/>
                        </a:spcBef>
                      </a:pPr>
                      <a:r>
                        <a:rPr dirty="0" sz="800" spc="-30">
                          <a:latin typeface="Microsoft YaHei"/>
                          <a:cs typeface="Microsoft YaHei"/>
                        </a:rPr>
                        <a:t>加载</a:t>
                      </a:r>
                      <a:endParaRPr sz="800">
                        <a:latin typeface="Microsoft YaHei"/>
                        <a:cs typeface="Microsoft YaHei"/>
                      </a:endParaRPr>
                    </a:p>
                  </a:txBody>
                  <a:tcPr marL="0" marR="0" marB="0" marT="26669">
                    <a:lnL w="6350">
                      <a:solidFill>
                        <a:srgbClr val="000000"/>
                      </a:solidFill>
                      <a:prstDash val="solid"/>
                    </a:lnL>
                    <a:solidFill>
                      <a:srgbClr val="99CCFF"/>
                    </a:solidFill>
                  </a:tcPr>
                </a:tc>
              </a:tr>
              <a:tr h="153035">
                <a:tc>
                  <a:txBody>
                    <a:bodyPr/>
                    <a:lstStyle/>
                    <a:p>
                      <a:pPr>
                        <a:lnSpc>
                          <a:spcPct val="100000"/>
                        </a:lnSpc>
                      </a:pPr>
                      <a:endParaRPr sz="800">
                        <a:latin typeface="Times New Roman"/>
                        <a:cs typeface="Times New Roman"/>
                      </a:endParaRPr>
                    </a:p>
                  </a:txBody>
                  <a:tcPr marL="0" marR="0" marB="0" marT="0"/>
                </a:tc>
                <a:tc>
                  <a:txBody>
                    <a:bodyPr/>
                    <a:lstStyle/>
                    <a:p>
                      <a:pPr algn="ctr" marL="6350">
                        <a:lnSpc>
                          <a:spcPts val="860"/>
                        </a:lnSpc>
                        <a:spcBef>
                          <a:spcPts val="245"/>
                        </a:spcBef>
                      </a:pPr>
                      <a:r>
                        <a:rPr dirty="0" sz="800" spc="-10">
                          <a:latin typeface="SimSun"/>
                          <a:cs typeface="SimSun"/>
                        </a:rPr>
                        <a:t>FTP</a:t>
                      </a:r>
                      <a:r>
                        <a:rPr dirty="0" baseline="3472" sz="1200" spc="-44">
                          <a:latin typeface="Microsoft YaHei"/>
                          <a:cs typeface="Microsoft YaHei"/>
                        </a:rPr>
                        <a:t>下行</a:t>
                      </a:r>
                      <a:endParaRPr baseline="3472" sz="1200">
                        <a:latin typeface="Microsoft YaHei"/>
                        <a:cs typeface="Microsoft YaHei"/>
                      </a:endParaRPr>
                    </a:p>
                  </a:txBody>
                  <a:tcPr marL="0" marR="0" marB="0" marT="31115"/>
                </a:tc>
                <a:tc>
                  <a:txBody>
                    <a:bodyPr/>
                    <a:lstStyle/>
                    <a:p>
                      <a:pPr algn="ctr" marL="3175">
                        <a:lnSpc>
                          <a:spcPts val="860"/>
                        </a:lnSpc>
                        <a:spcBef>
                          <a:spcPts val="245"/>
                        </a:spcBef>
                      </a:pPr>
                      <a:r>
                        <a:rPr dirty="0" sz="800" spc="-10">
                          <a:latin typeface="SimSun"/>
                          <a:cs typeface="SimSun"/>
                        </a:rPr>
                        <a:t>164.2</a:t>
                      </a:r>
                      <a:endParaRPr sz="800">
                        <a:latin typeface="SimSun"/>
                        <a:cs typeface="SimSun"/>
                      </a:endParaRPr>
                    </a:p>
                  </a:txBody>
                  <a:tcPr marL="0" marR="0" marB="0" marT="31115">
                    <a:lnR w="6350">
                      <a:solidFill>
                        <a:srgbClr val="000000"/>
                      </a:solidFill>
                      <a:prstDash val="solid"/>
                    </a:lnR>
                  </a:tcPr>
                </a:tc>
                <a:tc>
                  <a:txBody>
                    <a:bodyPr/>
                    <a:lstStyle/>
                    <a:p>
                      <a:pPr algn="ctr">
                        <a:lnSpc>
                          <a:spcPts val="860"/>
                        </a:lnSpc>
                        <a:spcBef>
                          <a:spcPts val="245"/>
                        </a:spcBef>
                      </a:pPr>
                      <a:r>
                        <a:rPr dirty="0" sz="800" spc="-10">
                          <a:latin typeface="SimSun"/>
                          <a:cs typeface="SimSun"/>
                        </a:rPr>
                        <a:t>152.73</a:t>
                      </a:r>
                      <a:endParaRPr sz="800">
                        <a:latin typeface="SimSun"/>
                        <a:cs typeface="SimSun"/>
                      </a:endParaRPr>
                    </a:p>
                  </a:txBody>
                  <a:tcPr marL="0" marR="0" marB="0" marT="31115">
                    <a:lnL w="6350">
                      <a:solidFill>
                        <a:srgbClr val="000000"/>
                      </a:solidFill>
                      <a:prstDash val="solid"/>
                    </a:lnL>
                  </a:tcPr>
                </a:tc>
                <a:tc>
                  <a:txBody>
                    <a:bodyPr/>
                    <a:lstStyle/>
                    <a:p>
                      <a:pPr algn="ctr">
                        <a:lnSpc>
                          <a:spcPts val="860"/>
                        </a:lnSpc>
                        <a:spcBef>
                          <a:spcPts val="245"/>
                        </a:spcBef>
                      </a:pPr>
                      <a:r>
                        <a:rPr dirty="0" sz="800" spc="-20">
                          <a:latin typeface="SimSun"/>
                          <a:cs typeface="SimSun"/>
                        </a:rPr>
                        <a:t>3.53</a:t>
                      </a:r>
                      <a:endParaRPr sz="800">
                        <a:latin typeface="SimSun"/>
                        <a:cs typeface="SimSun"/>
                      </a:endParaRPr>
                    </a:p>
                  </a:txBody>
                  <a:tcPr marL="0" marR="0" marB="0" marT="31115">
                    <a:lnR w="6350">
                      <a:solidFill>
                        <a:srgbClr val="000000"/>
                      </a:solidFill>
                      <a:prstDash val="solid"/>
                    </a:lnR>
                  </a:tcPr>
                </a:tc>
                <a:tc>
                  <a:txBody>
                    <a:bodyPr/>
                    <a:lstStyle/>
                    <a:p>
                      <a:pPr algn="ctr">
                        <a:lnSpc>
                          <a:spcPts val="860"/>
                        </a:lnSpc>
                        <a:spcBef>
                          <a:spcPts val="245"/>
                        </a:spcBef>
                      </a:pPr>
                      <a:r>
                        <a:rPr dirty="0" sz="800" spc="-20">
                          <a:latin typeface="SimSun"/>
                          <a:cs typeface="SimSun"/>
                        </a:rPr>
                        <a:t>3.28</a:t>
                      </a:r>
                      <a:endParaRPr sz="800">
                        <a:latin typeface="SimSun"/>
                        <a:cs typeface="SimSun"/>
                      </a:endParaRPr>
                    </a:p>
                  </a:txBody>
                  <a:tcPr marL="0" marR="0" marB="0" marT="31115">
                    <a:lnL w="6350">
                      <a:solidFill>
                        <a:srgbClr val="000000"/>
                      </a:solidFill>
                      <a:prstDash val="solid"/>
                    </a:lnL>
                  </a:tcPr>
                </a:tc>
                <a:tc>
                  <a:txBody>
                    <a:bodyPr/>
                    <a:lstStyle/>
                    <a:p>
                      <a:pPr algn="ctr">
                        <a:lnSpc>
                          <a:spcPct val="100000"/>
                        </a:lnSpc>
                        <a:spcBef>
                          <a:spcPts val="100"/>
                        </a:spcBef>
                      </a:pPr>
                      <a:r>
                        <a:rPr dirty="0" sz="800" spc="-50">
                          <a:latin typeface="SimSun"/>
                          <a:cs typeface="SimSun"/>
                        </a:rPr>
                        <a:t>\</a:t>
                      </a:r>
                      <a:endParaRPr sz="800">
                        <a:latin typeface="SimSun"/>
                        <a:cs typeface="SimSun"/>
                      </a:endParaRPr>
                    </a:p>
                  </a:txBody>
                  <a:tcPr marL="0" marR="0" marB="0" marT="12700">
                    <a:lnR w="6350">
                      <a:solidFill>
                        <a:srgbClr val="000000"/>
                      </a:solidFill>
                      <a:prstDash val="solid"/>
                    </a:lnR>
                  </a:tcPr>
                </a:tc>
                <a:tc>
                  <a:txBody>
                    <a:bodyPr/>
                    <a:lstStyle/>
                    <a:p>
                      <a:pPr algn="ctr" marL="372745">
                        <a:lnSpc>
                          <a:spcPct val="100000"/>
                        </a:lnSpc>
                        <a:spcBef>
                          <a:spcPts val="100"/>
                        </a:spcBef>
                      </a:pPr>
                      <a:r>
                        <a:rPr dirty="0" sz="800" spc="-50">
                          <a:latin typeface="SimSun"/>
                          <a:cs typeface="SimSun"/>
                        </a:rPr>
                        <a:t>\</a:t>
                      </a:r>
                      <a:endParaRPr sz="800">
                        <a:latin typeface="SimSun"/>
                        <a:cs typeface="SimSun"/>
                      </a:endParaRPr>
                    </a:p>
                  </a:txBody>
                  <a:tcPr marL="0" marR="0" marB="0" marT="12700">
                    <a:lnL w="6350">
                      <a:solidFill>
                        <a:srgbClr val="000000"/>
                      </a:solidFill>
                      <a:prstDash val="solid"/>
                    </a:lnL>
                  </a:tcPr>
                </a:tc>
              </a:tr>
              <a:tr h="153035">
                <a:tc>
                  <a:txBody>
                    <a:bodyPr/>
                    <a:lstStyle/>
                    <a:p>
                      <a:pPr>
                        <a:lnSpc>
                          <a:spcPct val="100000"/>
                        </a:lnSpc>
                      </a:pPr>
                      <a:endParaRPr sz="800">
                        <a:latin typeface="Times New Roman"/>
                        <a:cs typeface="Times New Roman"/>
                      </a:endParaRPr>
                    </a:p>
                  </a:txBody>
                  <a:tcPr marL="0" marR="0" marB="0" marT="0"/>
                </a:tc>
                <a:tc>
                  <a:txBody>
                    <a:bodyPr/>
                    <a:lstStyle/>
                    <a:p>
                      <a:pPr algn="ctr" marL="6350">
                        <a:lnSpc>
                          <a:spcPts val="860"/>
                        </a:lnSpc>
                        <a:spcBef>
                          <a:spcPts val="245"/>
                        </a:spcBef>
                      </a:pPr>
                      <a:r>
                        <a:rPr dirty="0" sz="800" spc="-10">
                          <a:latin typeface="SimSun"/>
                          <a:cs typeface="SimSun"/>
                        </a:rPr>
                        <a:t>FTP</a:t>
                      </a:r>
                      <a:r>
                        <a:rPr dirty="0" baseline="3472" sz="1200" spc="-44">
                          <a:latin typeface="Microsoft YaHei"/>
                          <a:cs typeface="Microsoft YaHei"/>
                        </a:rPr>
                        <a:t>上行</a:t>
                      </a:r>
                      <a:endParaRPr baseline="3472" sz="1200">
                        <a:latin typeface="Microsoft YaHei"/>
                        <a:cs typeface="Microsoft YaHei"/>
                      </a:endParaRPr>
                    </a:p>
                  </a:txBody>
                  <a:tcPr marL="0" marR="0" marB="0" marT="31115"/>
                </a:tc>
                <a:tc>
                  <a:txBody>
                    <a:bodyPr/>
                    <a:lstStyle/>
                    <a:p>
                      <a:pPr algn="ctr" marL="2540">
                        <a:lnSpc>
                          <a:spcPts val="860"/>
                        </a:lnSpc>
                        <a:spcBef>
                          <a:spcPts val="245"/>
                        </a:spcBef>
                      </a:pPr>
                      <a:r>
                        <a:rPr dirty="0" sz="800" spc="-20">
                          <a:latin typeface="SimSun"/>
                          <a:cs typeface="SimSun"/>
                        </a:rPr>
                        <a:t>2.61</a:t>
                      </a:r>
                      <a:endParaRPr sz="800">
                        <a:latin typeface="SimSun"/>
                        <a:cs typeface="SimSun"/>
                      </a:endParaRPr>
                    </a:p>
                  </a:txBody>
                  <a:tcPr marL="0" marR="0" marB="0" marT="31115">
                    <a:lnR w="6350">
                      <a:solidFill>
                        <a:srgbClr val="000000"/>
                      </a:solidFill>
                      <a:prstDash val="solid"/>
                    </a:lnR>
                  </a:tcPr>
                </a:tc>
                <a:tc>
                  <a:txBody>
                    <a:bodyPr/>
                    <a:lstStyle/>
                    <a:p>
                      <a:pPr algn="ctr">
                        <a:lnSpc>
                          <a:spcPts val="860"/>
                        </a:lnSpc>
                        <a:spcBef>
                          <a:spcPts val="245"/>
                        </a:spcBef>
                      </a:pPr>
                      <a:r>
                        <a:rPr dirty="0" sz="800" spc="-20">
                          <a:latin typeface="SimSun"/>
                          <a:cs typeface="SimSun"/>
                        </a:rPr>
                        <a:t>2.18</a:t>
                      </a:r>
                      <a:endParaRPr sz="800">
                        <a:latin typeface="SimSun"/>
                        <a:cs typeface="SimSun"/>
                      </a:endParaRPr>
                    </a:p>
                  </a:txBody>
                  <a:tcPr marL="0" marR="0" marB="0" marT="31115">
                    <a:lnL w="6350">
                      <a:solidFill>
                        <a:srgbClr val="000000"/>
                      </a:solidFill>
                      <a:prstDash val="solid"/>
                    </a:lnL>
                  </a:tcPr>
                </a:tc>
                <a:tc>
                  <a:txBody>
                    <a:bodyPr/>
                    <a:lstStyle/>
                    <a:p>
                      <a:pPr algn="ctr">
                        <a:lnSpc>
                          <a:spcPts val="860"/>
                        </a:lnSpc>
                        <a:spcBef>
                          <a:spcPts val="245"/>
                        </a:spcBef>
                      </a:pPr>
                      <a:r>
                        <a:rPr dirty="0" sz="800" spc="-10">
                          <a:latin typeface="SimSun"/>
                          <a:cs typeface="SimSun"/>
                        </a:rPr>
                        <a:t>41.28</a:t>
                      </a:r>
                      <a:endParaRPr sz="800">
                        <a:latin typeface="SimSun"/>
                        <a:cs typeface="SimSun"/>
                      </a:endParaRPr>
                    </a:p>
                  </a:txBody>
                  <a:tcPr marL="0" marR="0" marB="0" marT="31115">
                    <a:lnR w="6350">
                      <a:solidFill>
                        <a:srgbClr val="000000"/>
                      </a:solidFill>
                      <a:prstDash val="solid"/>
                    </a:lnR>
                  </a:tcPr>
                </a:tc>
                <a:tc>
                  <a:txBody>
                    <a:bodyPr/>
                    <a:lstStyle/>
                    <a:p>
                      <a:pPr algn="ctr">
                        <a:lnSpc>
                          <a:spcPts val="860"/>
                        </a:lnSpc>
                        <a:spcBef>
                          <a:spcPts val="245"/>
                        </a:spcBef>
                      </a:pPr>
                      <a:r>
                        <a:rPr dirty="0" sz="800" spc="-10">
                          <a:latin typeface="SimSun"/>
                          <a:cs typeface="SimSun"/>
                        </a:rPr>
                        <a:t>35.88</a:t>
                      </a:r>
                      <a:endParaRPr sz="800">
                        <a:latin typeface="SimSun"/>
                        <a:cs typeface="SimSun"/>
                      </a:endParaRPr>
                    </a:p>
                  </a:txBody>
                  <a:tcPr marL="0" marR="0" marB="0" marT="31115">
                    <a:lnL w="6350">
                      <a:solidFill>
                        <a:srgbClr val="000000"/>
                      </a:solidFill>
                      <a:prstDash val="solid"/>
                    </a:lnL>
                  </a:tcPr>
                </a:tc>
                <a:tc>
                  <a:txBody>
                    <a:bodyPr/>
                    <a:lstStyle/>
                    <a:p>
                      <a:pPr algn="ctr">
                        <a:lnSpc>
                          <a:spcPct val="100000"/>
                        </a:lnSpc>
                        <a:spcBef>
                          <a:spcPts val="100"/>
                        </a:spcBef>
                      </a:pPr>
                      <a:r>
                        <a:rPr dirty="0" sz="800" spc="-50">
                          <a:latin typeface="SimSun"/>
                          <a:cs typeface="SimSun"/>
                        </a:rPr>
                        <a:t>\</a:t>
                      </a:r>
                      <a:endParaRPr sz="800">
                        <a:latin typeface="SimSun"/>
                        <a:cs typeface="SimSun"/>
                      </a:endParaRPr>
                    </a:p>
                  </a:txBody>
                  <a:tcPr marL="0" marR="0" marB="0" marT="12700">
                    <a:lnR w="6350">
                      <a:solidFill>
                        <a:srgbClr val="000000"/>
                      </a:solidFill>
                      <a:prstDash val="solid"/>
                    </a:lnR>
                  </a:tcPr>
                </a:tc>
                <a:tc>
                  <a:txBody>
                    <a:bodyPr/>
                    <a:lstStyle/>
                    <a:p>
                      <a:pPr algn="ctr" marL="372745">
                        <a:lnSpc>
                          <a:spcPct val="100000"/>
                        </a:lnSpc>
                        <a:spcBef>
                          <a:spcPts val="100"/>
                        </a:spcBef>
                      </a:pPr>
                      <a:r>
                        <a:rPr dirty="0" sz="800" spc="-50">
                          <a:latin typeface="SimSun"/>
                          <a:cs typeface="SimSun"/>
                        </a:rPr>
                        <a:t>\</a:t>
                      </a:r>
                      <a:endParaRPr sz="800">
                        <a:latin typeface="SimSun"/>
                        <a:cs typeface="SimSun"/>
                      </a:endParaRPr>
                    </a:p>
                  </a:txBody>
                  <a:tcPr marL="0" marR="0" marB="0" marT="12700">
                    <a:lnL w="6350">
                      <a:solidFill>
                        <a:srgbClr val="000000"/>
                      </a:solidFill>
                      <a:prstDash val="solid"/>
                    </a:lnL>
                  </a:tcPr>
                </a:tc>
              </a:tr>
              <a:tr h="151765">
                <a:tc>
                  <a:txBody>
                    <a:bodyPr/>
                    <a:lstStyle/>
                    <a:p>
                      <a:pPr marL="31750">
                        <a:lnSpc>
                          <a:spcPct val="100000"/>
                        </a:lnSpc>
                        <a:spcBef>
                          <a:spcPts val="130"/>
                        </a:spcBef>
                      </a:pPr>
                      <a:r>
                        <a:rPr dirty="0" sz="800" spc="-30">
                          <a:latin typeface="Microsoft YaHei"/>
                          <a:cs typeface="Microsoft YaHei"/>
                        </a:rPr>
                        <a:t>室外</a:t>
                      </a:r>
                      <a:endParaRPr sz="800">
                        <a:latin typeface="Microsoft YaHei"/>
                        <a:cs typeface="Microsoft YaHei"/>
                      </a:endParaRPr>
                    </a:p>
                  </a:txBody>
                  <a:tcPr marL="0" marR="0" marB="0" marT="16510"/>
                </a:tc>
                <a:tc>
                  <a:txBody>
                    <a:bodyPr/>
                    <a:lstStyle/>
                    <a:p>
                      <a:pPr algn="ctr" marL="6350">
                        <a:lnSpc>
                          <a:spcPts val="850"/>
                        </a:lnSpc>
                        <a:spcBef>
                          <a:spcPts val="245"/>
                        </a:spcBef>
                      </a:pPr>
                      <a:r>
                        <a:rPr dirty="0" sz="800" spc="-10">
                          <a:latin typeface="SimSun"/>
                          <a:cs typeface="SimSun"/>
                        </a:rPr>
                        <a:t>1080P</a:t>
                      </a:r>
                      <a:endParaRPr sz="800">
                        <a:latin typeface="SimSun"/>
                        <a:cs typeface="SimSun"/>
                      </a:endParaRPr>
                    </a:p>
                  </a:txBody>
                  <a:tcPr marL="0" marR="0" marB="0" marT="31115"/>
                </a:tc>
                <a:tc>
                  <a:txBody>
                    <a:bodyPr/>
                    <a:lstStyle/>
                    <a:p>
                      <a:pPr algn="ctr" marL="2540">
                        <a:lnSpc>
                          <a:spcPts val="850"/>
                        </a:lnSpc>
                        <a:spcBef>
                          <a:spcPts val="245"/>
                        </a:spcBef>
                      </a:pPr>
                      <a:r>
                        <a:rPr dirty="0" sz="800" spc="-10">
                          <a:latin typeface="SimSun"/>
                          <a:cs typeface="SimSun"/>
                        </a:rPr>
                        <a:t>155.54</a:t>
                      </a:r>
                      <a:endParaRPr sz="800">
                        <a:latin typeface="SimSun"/>
                        <a:cs typeface="SimSun"/>
                      </a:endParaRPr>
                    </a:p>
                  </a:txBody>
                  <a:tcPr marL="0" marR="0" marB="0" marT="31115">
                    <a:lnR w="6350">
                      <a:solidFill>
                        <a:srgbClr val="000000"/>
                      </a:solidFill>
                      <a:prstDash val="solid"/>
                    </a:lnR>
                  </a:tcPr>
                </a:tc>
                <a:tc>
                  <a:txBody>
                    <a:bodyPr/>
                    <a:lstStyle/>
                    <a:p>
                      <a:pPr algn="ctr">
                        <a:lnSpc>
                          <a:spcPts val="850"/>
                        </a:lnSpc>
                        <a:spcBef>
                          <a:spcPts val="245"/>
                        </a:spcBef>
                      </a:pPr>
                      <a:r>
                        <a:rPr dirty="0" sz="800" spc="-10">
                          <a:latin typeface="SimSun"/>
                          <a:cs typeface="SimSun"/>
                        </a:rPr>
                        <a:t>137.77</a:t>
                      </a:r>
                      <a:endParaRPr sz="800">
                        <a:latin typeface="SimSun"/>
                        <a:cs typeface="SimSun"/>
                      </a:endParaRPr>
                    </a:p>
                  </a:txBody>
                  <a:tcPr marL="0" marR="0" marB="0" marT="31115">
                    <a:lnL w="6350">
                      <a:solidFill>
                        <a:srgbClr val="000000"/>
                      </a:solidFill>
                      <a:prstDash val="solid"/>
                    </a:lnL>
                  </a:tcPr>
                </a:tc>
                <a:tc>
                  <a:txBody>
                    <a:bodyPr/>
                    <a:lstStyle/>
                    <a:p>
                      <a:pPr algn="ctr">
                        <a:lnSpc>
                          <a:spcPts val="850"/>
                        </a:lnSpc>
                        <a:spcBef>
                          <a:spcPts val="245"/>
                        </a:spcBef>
                      </a:pPr>
                      <a:r>
                        <a:rPr dirty="0" sz="800" spc="-20">
                          <a:latin typeface="SimSun"/>
                          <a:cs typeface="SimSun"/>
                        </a:rPr>
                        <a:t>3.19</a:t>
                      </a:r>
                      <a:endParaRPr sz="800">
                        <a:latin typeface="SimSun"/>
                        <a:cs typeface="SimSun"/>
                      </a:endParaRPr>
                    </a:p>
                  </a:txBody>
                  <a:tcPr marL="0" marR="0" marB="0" marT="31115">
                    <a:lnR w="6350">
                      <a:solidFill>
                        <a:srgbClr val="000000"/>
                      </a:solidFill>
                      <a:prstDash val="solid"/>
                    </a:lnR>
                  </a:tcPr>
                </a:tc>
                <a:tc>
                  <a:txBody>
                    <a:bodyPr/>
                    <a:lstStyle/>
                    <a:p>
                      <a:pPr algn="ctr">
                        <a:lnSpc>
                          <a:spcPts val="850"/>
                        </a:lnSpc>
                        <a:spcBef>
                          <a:spcPts val="245"/>
                        </a:spcBef>
                      </a:pPr>
                      <a:r>
                        <a:rPr dirty="0" sz="800" spc="-20">
                          <a:latin typeface="SimSun"/>
                          <a:cs typeface="SimSun"/>
                        </a:rPr>
                        <a:t>3.11</a:t>
                      </a:r>
                      <a:endParaRPr sz="800">
                        <a:latin typeface="SimSun"/>
                        <a:cs typeface="SimSun"/>
                      </a:endParaRPr>
                    </a:p>
                  </a:txBody>
                  <a:tcPr marL="0" marR="0" marB="0" marT="31115">
                    <a:lnL w="6350">
                      <a:solidFill>
                        <a:srgbClr val="000000"/>
                      </a:solidFill>
                      <a:prstDash val="solid"/>
                    </a:lnL>
                  </a:tcPr>
                </a:tc>
                <a:tc>
                  <a:txBody>
                    <a:bodyPr/>
                    <a:lstStyle/>
                    <a:p>
                      <a:pPr algn="ctr">
                        <a:lnSpc>
                          <a:spcPct val="100000"/>
                        </a:lnSpc>
                        <a:spcBef>
                          <a:spcPts val="130"/>
                        </a:spcBef>
                      </a:pPr>
                      <a:r>
                        <a:rPr dirty="0" sz="800" spc="-30">
                          <a:latin typeface="Microsoft YaHei"/>
                          <a:cs typeface="Microsoft YaHei"/>
                        </a:rPr>
                        <a:t>流畅</a:t>
                      </a:r>
                      <a:endParaRPr sz="800">
                        <a:latin typeface="Microsoft YaHei"/>
                        <a:cs typeface="Microsoft YaHei"/>
                      </a:endParaRPr>
                    </a:p>
                  </a:txBody>
                  <a:tcPr marL="0" marR="0" marB="0" marT="16510">
                    <a:lnR w="6350">
                      <a:solidFill>
                        <a:srgbClr val="000000"/>
                      </a:solidFill>
                      <a:prstDash val="solid"/>
                    </a:lnR>
                  </a:tcPr>
                </a:tc>
                <a:tc>
                  <a:txBody>
                    <a:bodyPr/>
                    <a:lstStyle/>
                    <a:p>
                      <a:pPr algn="ctr" marL="372745">
                        <a:lnSpc>
                          <a:spcPct val="100000"/>
                        </a:lnSpc>
                        <a:spcBef>
                          <a:spcPts val="130"/>
                        </a:spcBef>
                      </a:pPr>
                      <a:r>
                        <a:rPr dirty="0" sz="800" spc="-30">
                          <a:latin typeface="Microsoft YaHei"/>
                          <a:cs typeface="Microsoft YaHei"/>
                        </a:rPr>
                        <a:t>流畅</a:t>
                      </a:r>
                      <a:endParaRPr sz="800">
                        <a:latin typeface="Microsoft YaHei"/>
                        <a:cs typeface="Microsoft YaHei"/>
                      </a:endParaRPr>
                    </a:p>
                  </a:txBody>
                  <a:tcPr marL="0" marR="0" marB="0" marT="16510">
                    <a:lnL w="6350">
                      <a:solidFill>
                        <a:srgbClr val="000000"/>
                      </a:solidFill>
                      <a:prstDash val="solid"/>
                    </a:lnL>
                  </a:tcPr>
                </a:tc>
              </a:tr>
              <a:tr h="153035">
                <a:tc>
                  <a:txBody>
                    <a:bodyPr/>
                    <a:lstStyle/>
                    <a:p>
                      <a:pPr>
                        <a:lnSpc>
                          <a:spcPct val="100000"/>
                        </a:lnSpc>
                      </a:pPr>
                      <a:endParaRPr sz="800">
                        <a:latin typeface="Times New Roman"/>
                        <a:cs typeface="Times New Roman"/>
                      </a:endParaRPr>
                    </a:p>
                  </a:txBody>
                  <a:tcPr marL="0" marR="0" marB="0" marT="0"/>
                </a:tc>
                <a:tc>
                  <a:txBody>
                    <a:bodyPr/>
                    <a:lstStyle/>
                    <a:p>
                      <a:pPr algn="ctr" marL="5715">
                        <a:lnSpc>
                          <a:spcPts val="850"/>
                        </a:lnSpc>
                        <a:spcBef>
                          <a:spcPts val="254"/>
                        </a:spcBef>
                      </a:pPr>
                      <a:r>
                        <a:rPr dirty="0" sz="800" spc="-25">
                          <a:latin typeface="SimSun"/>
                          <a:cs typeface="SimSun"/>
                        </a:rPr>
                        <a:t>2K</a:t>
                      </a:r>
                      <a:endParaRPr sz="800">
                        <a:latin typeface="SimSun"/>
                        <a:cs typeface="SimSun"/>
                      </a:endParaRPr>
                    </a:p>
                  </a:txBody>
                  <a:tcPr marL="0" marR="0" marB="0" marT="32384"/>
                </a:tc>
                <a:tc>
                  <a:txBody>
                    <a:bodyPr/>
                    <a:lstStyle/>
                    <a:p>
                      <a:pPr algn="ctr" marL="3175">
                        <a:lnSpc>
                          <a:spcPts val="850"/>
                        </a:lnSpc>
                        <a:spcBef>
                          <a:spcPts val="254"/>
                        </a:spcBef>
                      </a:pPr>
                      <a:r>
                        <a:rPr dirty="0" sz="800" spc="-10">
                          <a:latin typeface="SimSun"/>
                          <a:cs typeface="SimSun"/>
                        </a:rPr>
                        <a:t>144.21</a:t>
                      </a:r>
                      <a:endParaRPr sz="800">
                        <a:latin typeface="SimSun"/>
                        <a:cs typeface="SimSun"/>
                      </a:endParaRPr>
                    </a:p>
                  </a:txBody>
                  <a:tcPr marL="0" marR="0" marB="0" marT="32384">
                    <a:lnR w="6350">
                      <a:solidFill>
                        <a:srgbClr val="000000"/>
                      </a:solidFill>
                      <a:prstDash val="solid"/>
                    </a:lnR>
                  </a:tcPr>
                </a:tc>
                <a:tc>
                  <a:txBody>
                    <a:bodyPr/>
                    <a:lstStyle/>
                    <a:p>
                      <a:pPr algn="ctr">
                        <a:lnSpc>
                          <a:spcPts val="850"/>
                        </a:lnSpc>
                        <a:spcBef>
                          <a:spcPts val="254"/>
                        </a:spcBef>
                      </a:pPr>
                      <a:r>
                        <a:rPr dirty="0" sz="800" spc="-10">
                          <a:latin typeface="SimSun"/>
                          <a:cs typeface="SimSun"/>
                        </a:rPr>
                        <a:t>124.47</a:t>
                      </a:r>
                      <a:endParaRPr sz="800">
                        <a:latin typeface="SimSun"/>
                        <a:cs typeface="SimSun"/>
                      </a:endParaRPr>
                    </a:p>
                  </a:txBody>
                  <a:tcPr marL="0" marR="0" marB="0" marT="32384">
                    <a:lnL w="6350">
                      <a:solidFill>
                        <a:srgbClr val="000000"/>
                      </a:solidFill>
                      <a:prstDash val="solid"/>
                    </a:lnL>
                  </a:tcPr>
                </a:tc>
                <a:tc>
                  <a:txBody>
                    <a:bodyPr/>
                    <a:lstStyle/>
                    <a:p>
                      <a:pPr algn="ctr">
                        <a:lnSpc>
                          <a:spcPts val="850"/>
                        </a:lnSpc>
                        <a:spcBef>
                          <a:spcPts val="254"/>
                        </a:spcBef>
                      </a:pPr>
                      <a:r>
                        <a:rPr dirty="0" sz="800" spc="-20">
                          <a:latin typeface="SimSun"/>
                          <a:cs typeface="SimSun"/>
                        </a:rPr>
                        <a:t>3.53</a:t>
                      </a:r>
                      <a:endParaRPr sz="800">
                        <a:latin typeface="SimSun"/>
                        <a:cs typeface="SimSun"/>
                      </a:endParaRPr>
                    </a:p>
                  </a:txBody>
                  <a:tcPr marL="0" marR="0" marB="0" marT="32384">
                    <a:lnR w="6350">
                      <a:solidFill>
                        <a:srgbClr val="000000"/>
                      </a:solidFill>
                      <a:prstDash val="solid"/>
                    </a:lnR>
                  </a:tcPr>
                </a:tc>
                <a:tc>
                  <a:txBody>
                    <a:bodyPr/>
                    <a:lstStyle/>
                    <a:p>
                      <a:pPr algn="ctr">
                        <a:lnSpc>
                          <a:spcPts val="850"/>
                        </a:lnSpc>
                        <a:spcBef>
                          <a:spcPts val="254"/>
                        </a:spcBef>
                      </a:pPr>
                      <a:r>
                        <a:rPr dirty="0" sz="800" spc="-20">
                          <a:latin typeface="SimSun"/>
                          <a:cs typeface="SimSun"/>
                        </a:rPr>
                        <a:t>3.41</a:t>
                      </a:r>
                      <a:endParaRPr sz="800">
                        <a:latin typeface="SimSun"/>
                        <a:cs typeface="SimSun"/>
                      </a:endParaRPr>
                    </a:p>
                  </a:txBody>
                  <a:tcPr marL="0" marR="0" marB="0" marT="32384">
                    <a:lnL w="6350">
                      <a:solidFill>
                        <a:srgbClr val="000000"/>
                      </a:solidFill>
                      <a:prstDash val="solid"/>
                    </a:lnL>
                  </a:tcPr>
                </a:tc>
                <a:tc>
                  <a:txBody>
                    <a:bodyPr/>
                    <a:lstStyle/>
                    <a:p>
                      <a:pPr algn="ctr">
                        <a:lnSpc>
                          <a:spcPct val="100000"/>
                        </a:lnSpc>
                        <a:spcBef>
                          <a:spcPts val="140"/>
                        </a:spcBef>
                      </a:pPr>
                      <a:r>
                        <a:rPr dirty="0" sz="800" spc="-30">
                          <a:latin typeface="Microsoft YaHei"/>
                          <a:cs typeface="Microsoft YaHei"/>
                        </a:rPr>
                        <a:t>流畅</a:t>
                      </a:r>
                      <a:endParaRPr sz="800">
                        <a:latin typeface="Microsoft YaHei"/>
                        <a:cs typeface="Microsoft YaHei"/>
                      </a:endParaRPr>
                    </a:p>
                  </a:txBody>
                  <a:tcPr marL="0" marR="0" marB="0" marT="17780">
                    <a:lnR w="6350">
                      <a:solidFill>
                        <a:srgbClr val="000000"/>
                      </a:solidFill>
                      <a:prstDash val="solid"/>
                    </a:lnR>
                  </a:tcPr>
                </a:tc>
                <a:tc>
                  <a:txBody>
                    <a:bodyPr/>
                    <a:lstStyle/>
                    <a:p>
                      <a:pPr algn="ctr" marL="372745">
                        <a:lnSpc>
                          <a:spcPct val="100000"/>
                        </a:lnSpc>
                        <a:spcBef>
                          <a:spcPts val="140"/>
                        </a:spcBef>
                      </a:pPr>
                      <a:r>
                        <a:rPr dirty="0" sz="800" spc="-30">
                          <a:latin typeface="Microsoft YaHei"/>
                          <a:cs typeface="Microsoft YaHei"/>
                        </a:rPr>
                        <a:t>流畅</a:t>
                      </a:r>
                      <a:endParaRPr sz="800">
                        <a:latin typeface="Microsoft YaHei"/>
                        <a:cs typeface="Microsoft YaHei"/>
                      </a:endParaRPr>
                    </a:p>
                  </a:txBody>
                  <a:tcPr marL="0" marR="0" marB="0" marT="17780">
                    <a:lnL w="6350">
                      <a:solidFill>
                        <a:srgbClr val="000000"/>
                      </a:solidFill>
                      <a:prstDash val="solid"/>
                    </a:lnL>
                  </a:tcPr>
                </a:tc>
              </a:tr>
              <a:tr h="153035">
                <a:tc>
                  <a:txBody>
                    <a:bodyPr/>
                    <a:lstStyle/>
                    <a:p>
                      <a:pPr>
                        <a:lnSpc>
                          <a:spcPct val="100000"/>
                        </a:lnSpc>
                      </a:pPr>
                      <a:endParaRPr sz="800">
                        <a:latin typeface="Times New Roman"/>
                        <a:cs typeface="Times New Roman"/>
                      </a:endParaRPr>
                    </a:p>
                  </a:txBody>
                  <a:tcPr marL="0" marR="0" marB="0" marT="0"/>
                </a:tc>
                <a:tc>
                  <a:txBody>
                    <a:bodyPr/>
                    <a:lstStyle/>
                    <a:p>
                      <a:pPr algn="ctr" marL="6350">
                        <a:lnSpc>
                          <a:spcPts val="855"/>
                        </a:lnSpc>
                        <a:spcBef>
                          <a:spcPts val="254"/>
                        </a:spcBef>
                      </a:pPr>
                      <a:r>
                        <a:rPr dirty="0" sz="800" spc="-25">
                          <a:latin typeface="SimSun"/>
                          <a:cs typeface="SimSun"/>
                        </a:rPr>
                        <a:t>4K</a:t>
                      </a:r>
                      <a:endParaRPr sz="800">
                        <a:latin typeface="SimSun"/>
                        <a:cs typeface="SimSun"/>
                      </a:endParaRPr>
                    </a:p>
                  </a:txBody>
                  <a:tcPr marL="0" marR="0" marB="0" marT="32384"/>
                </a:tc>
                <a:tc>
                  <a:txBody>
                    <a:bodyPr/>
                    <a:lstStyle/>
                    <a:p>
                      <a:pPr algn="ctr" marL="3175">
                        <a:lnSpc>
                          <a:spcPts val="855"/>
                        </a:lnSpc>
                        <a:spcBef>
                          <a:spcPts val="254"/>
                        </a:spcBef>
                      </a:pPr>
                      <a:r>
                        <a:rPr dirty="0" sz="800" spc="-10">
                          <a:latin typeface="SimSun"/>
                          <a:cs typeface="SimSun"/>
                        </a:rPr>
                        <a:t>148.69</a:t>
                      </a:r>
                      <a:endParaRPr sz="800">
                        <a:latin typeface="SimSun"/>
                        <a:cs typeface="SimSun"/>
                      </a:endParaRPr>
                    </a:p>
                  </a:txBody>
                  <a:tcPr marL="0" marR="0" marB="0" marT="32384">
                    <a:lnR w="6350">
                      <a:solidFill>
                        <a:srgbClr val="000000"/>
                      </a:solidFill>
                      <a:prstDash val="solid"/>
                    </a:lnR>
                  </a:tcPr>
                </a:tc>
                <a:tc>
                  <a:txBody>
                    <a:bodyPr/>
                    <a:lstStyle/>
                    <a:p>
                      <a:pPr algn="ctr" marL="635">
                        <a:lnSpc>
                          <a:spcPts val="855"/>
                        </a:lnSpc>
                        <a:spcBef>
                          <a:spcPts val="254"/>
                        </a:spcBef>
                      </a:pPr>
                      <a:r>
                        <a:rPr dirty="0" sz="800" spc="-10">
                          <a:latin typeface="SimSun"/>
                          <a:cs typeface="SimSun"/>
                        </a:rPr>
                        <a:t>118.1</a:t>
                      </a:r>
                      <a:endParaRPr sz="800">
                        <a:latin typeface="SimSun"/>
                        <a:cs typeface="SimSun"/>
                      </a:endParaRPr>
                    </a:p>
                  </a:txBody>
                  <a:tcPr marL="0" marR="0" marB="0" marT="32384">
                    <a:lnL w="6350">
                      <a:solidFill>
                        <a:srgbClr val="000000"/>
                      </a:solidFill>
                      <a:prstDash val="solid"/>
                    </a:lnL>
                  </a:tcPr>
                </a:tc>
                <a:tc>
                  <a:txBody>
                    <a:bodyPr/>
                    <a:lstStyle/>
                    <a:p>
                      <a:pPr algn="ctr">
                        <a:lnSpc>
                          <a:spcPts val="855"/>
                        </a:lnSpc>
                        <a:spcBef>
                          <a:spcPts val="254"/>
                        </a:spcBef>
                      </a:pPr>
                      <a:r>
                        <a:rPr dirty="0" sz="800" spc="-20">
                          <a:latin typeface="SimSun"/>
                          <a:cs typeface="SimSun"/>
                        </a:rPr>
                        <a:t>3.28</a:t>
                      </a:r>
                      <a:endParaRPr sz="800">
                        <a:latin typeface="SimSun"/>
                        <a:cs typeface="SimSun"/>
                      </a:endParaRPr>
                    </a:p>
                  </a:txBody>
                  <a:tcPr marL="0" marR="0" marB="0" marT="32384">
                    <a:lnR w="6350">
                      <a:solidFill>
                        <a:srgbClr val="000000"/>
                      </a:solidFill>
                      <a:prstDash val="solid"/>
                    </a:lnR>
                  </a:tcPr>
                </a:tc>
                <a:tc>
                  <a:txBody>
                    <a:bodyPr/>
                    <a:lstStyle/>
                    <a:p>
                      <a:pPr algn="ctr">
                        <a:lnSpc>
                          <a:spcPts val="855"/>
                        </a:lnSpc>
                        <a:spcBef>
                          <a:spcPts val="254"/>
                        </a:spcBef>
                      </a:pPr>
                      <a:r>
                        <a:rPr dirty="0" sz="800" spc="-20">
                          <a:latin typeface="SimSun"/>
                          <a:cs typeface="SimSun"/>
                        </a:rPr>
                        <a:t>3.16</a:t>
                      </a:r>
                      <a:endParaRPr sz="800">
                        <a:latin typeface="SimSun"/>
                        <a:cs typeface="SimSun"/>
                      </a:endParaRPr>
                    </a:p>
                  </a:txBody>
                  <a:tcPr marL="0" marR="0" marB="0" marT="32384">
                    <a:lnL w="6350">
                      <a:solidFill>
                        <a:srgbClr val="000000"/>
                      </a:solidFill>
                      <a:prstDash val="solid"/>
                    </a:lnL>
                  </a:tcPr>
                </a:tc>
                <a:tc>
                  <a:txBody>
                    <a:bodyPr/>
                    <a:lstStyle/>
                    <a:p>
                      <a:pPr algn="ctr">
                        <a:lnSpc>
                          <a:spcPct val="100000"/>
                        </a:lnSpc>
                        <a:spcBef>
                          <a:spcPts val="140"/>
                        </a:spcBef>
                      </a:pPr>
                      <a:r>
                        <a:rPr dirty="0" sz="800" spc="-30">
                          <a:latin typeface="Microsoft YaHei"/>
                          <a:cs typeface="Microsoft YaHei"/>
                        </a:rPr>
                        <a:t>流畅</a:t>
                      </a:r>
                      <a:endParaRPr sz="800">
                        <a:latin typeface="Microsoft YaHei"/>
                        <a:cs typeface="Microsoft YaHei"/>
                      </a:endParaRPr>
                    </a:p>
                  </a:txBody>
                  <a:tcPr marL="0" marR="0" marB="0" marT="17780">
                    <a:lnR w="6350">
                      <a:solidFill>
                        <a:srgbClr val="000000"/>
                      </a:solidFill>
                      <a:prstDash val="solid"/>
                    </a:lnR>
                  </a:tcPr>
                </a:tc>
                <a:tc>
                  <a:txBody>
                    <a:bodyPr/>
                    <a:lstStyle/>
                    <a:p>
                      <a:pPr algn="ctr" marL="372745">
                        <a:lnSpc>
                          <a:spcPct val="100000"/>
                        </a:lnSpc>
                        <a:spcBef>
                          <a:spcPts val="140"/>
                        </a:spcBef>
                      </a:pPr>
                      <a:r>
                        <a:rPr dirty="0" sz="800" spc="-30">
                          <a:latin typeface="Microsoft YaHei"/>
                          <a:cs typeface="Microsoft YaHei"/>
                        </a:rPr>
                        <a:t>流畅</a:t>
                      </a:r>
                      <a:endParaRPr sz="800">
                        <a:latin typeface="Microsoft YaHei"/>
                        <a:cs typeface="Microsoft YaHei"/>
                      </a:endParaRPr>
                    </a:p>
                  </a:txBody>
                  <a:tcPr marL="0" marR="0" marB="0" marT="17780">
                    <a:lnL w="6350">
                      <a:solidFill>
                        <a:srgbClr val="000000"/>
                      </a:solidFill>
                      <a:prstDash val="solid"/>
                    </a:lnL>
                  </a:tcPr>
                </a:tc>
              </a:tr>
              <a:tr h="153670">
                <a:tc>
                  <a:txBody>
                    <a:bodyPr/>
                    <a:lstStyle/>
                    <a:p>
                      <a:pPr>
                        <a:lnSpc>
                          <a:spcPct val="100000"/>
                        </a:lnSpc>
                      </a:pPr>
                      <a:endParaRPr sz="800">
                        <a:latin typeface="Times New Roman"/>
                        <a:cs typeface="Times New Roman"/>
                      </a:endParaRPr>
                    </a:p>
                  </a:txBody>
                  <a:tcPr marL="0" marR="0" marB="0" marT="0"/>
                </a:tc>
                <a:tc>
                  <a:txBody>
                    <a:bodyPr/>
                    <a:lstStyle/>
                    <a:p>
                      <a:pPr algn="ctr" marL="6985">
                        <a:lnSpc>
                          <a:spcPts val="860"/>
                        </a:lnSpc>
                        <a:spcBef>
                          <a:spcPts val="250"/>
                        </a:spcBef>
                      </a:pPr>
                      <a:r>
                        <a:rPr dirty="0" sz="800" spc="-10">
                          <a:latin typeface="SimSun"/>
                          <a:cs typeface="SimSun"/>
                        </a:rPr>
                        <a:t>FTP</a:t>
                      </a:r>
                      <a:r>
                        <a:rPr dirty="0" baseline="3472" sz="1200" spc="-44">
                          <a:latin typeface="Microsoft YaHei"/>
                          <a:cs typeface="Microsoft YaHei"/>
                        </a:rPr>
                        <a:t>下行</a:t>
                      </a:r>
                      <a:endParaRPr baseline="3472" sz="1200">
                        <a:latin typeface="Microsoft YaHei"/>
                        <a:cs typeface="Microsoft YaHei"/>
                      </a:endParaRPr>
                    </a:p>
                  </a:txBody>
                  <a:tcPr marL="0" marR="0" marB="0" marT="31750"/>
                </a:tc>
                <a:tc>
                  <a:txBody>
                    <a:bodyPr/>
                    <a:lstStyle/>
                    <a:p>
                      <a:pPr algn="ctr" marL="3175">
                        <a:lnSpc>
                          <a:spcPts val="860"/>
                        </a:lnSpc>
                        <a:spcBef>
                          <a:spcPts val="250"/>
                        </a:spcBef>
                      </a:pPr>
                      <a:r>
                        <a:rPr dirty="0" sz="800" spc="-10">
                          <a:latin typeface="SimSun"/>
                          <a:cs typeface="SimSun"/>
                        </a:rPr>
                        <a:t>148.71</a:t>
                      </a:r>
                      <a:endParaRPr sz="800">
                        <a:latin typeface="SimSun"/>
                        <a:cs typeface="SimSun"/>
                      </a:endParaRPr>
                    </a:p>
                  </a:txBody>
                  <a:tcPr marL="0" marR="0" marB="0" marT="31750">
                    <a:lnR w="6350">
                      <a:solidFill>
                        <a:srgbClr val="000000"/>
                      </a:solidFill>
                      <a:prstDash val="solid"/>
                    </a:lnR>
                  </a:tcPr>
                </a:tc>
                <a:tc>
                  <a:txBody>
                    <a:bodyPr/>
                    <a:lstStyle/>
                    <a:p>
                      <a:pPr algn="ctr">
                        <a:lnSpc>
                          <a:spcPts val="860"/>
                        </a:lnSpc>
                        <a:spcBef>
                          <a:spcPts val="250"/>
                        </a:spcBef>
                      </a:pPr>
                      <a:r>
                        <a:rPr dirty="0" sz="800" spc="-10">
                          <a:latin typeface="SimSun"/>
                          <a:cs typeface="SimSun"/>
                        </a:rPr>
                        <a:t>131.97</a:t>
                      </a:r>
                      <a:endParaRPr sz="800">
                        <a:latin typeface="SimSun"/>
                        <a:cs typeface="SimSun"/>
                      </a:endParaRPr>
                    </a:p>
                  </a:txBody>
                  <a:tcPr marL="0" marR="0" marB="0" marT="31750">
                    <a:lnL w="6350">
                      <a:solidFill>
                        <a:srgbClr val="000000"/>
                      </a:solidFill>
                      <a:prstDash val="solid"/>
                    </a:lnL>
                  </a:tcPr>
                </a:tc>
                <a:tc>
                  <a:txBody>
                    <a:bodyPr/>
                    <a:lstStyle/>
                    <a:p>
                      <a:pPr algn="ctr">
                        <a:lnSpc>
                          <a:spcPts val="860"/>
                        </a:lnSpc>
                        <a:spcBef>
                          <a:spcPts val="250"/>
                        </a:spcBef>
                      </a:pPr>
                      <a:r>
                        <a:rPr dirty="0" sz="800" spc="-20">
                          <a:latin typeface="SimSun"/>
                          <a:cs typeface="SimSun"/>
                        </a:rPr>
                        <a:t>2.68</a:t>
                      </a:r>
                      <a:endParaRPr sz="800">
                        <a:latin typeface="SimSun"/>
                        <a:cs typeface="SimSun"/>
                      </a:endParaRPr>
                    </a:p>
                  </a:txBody>
                  <a:tcPr marL="0" marR="0" marB="0" marT="31750">
                    <a:lnR w="6350">
                      <a:solidFill>
                        <a:srgbClr val="000000"/>
                      </a:solidFill>
                      <a:prstDash val="solid"/>
                    </a:lnR>
                  </a:tcPr>
                </a:tc>
                <a:tc>
                  <a:txBody>
                    <a:bodyPr/>
                    <a:lstStyle/>
                    <a:p>
                      <a:pPr algn="ctr">
                        <a:lnSpc>
                          <a:spcPts val="860"/>
                        </a:lnSpc>
                        <a:spcBef>
                          <a:spcPts val="250"/>
                        </a:spcBef>
                      </a:pPr>
                      <a:r>
                        <a:rPr dirty="0" sz="800" spc="-20">
                          <a:latin typeface="SimSun"/>
                          <a:cs typeface="SimSun"/>
                        </a:rPr>
                        <a:t>1.71</a:t>
                      </a:r>
                      <a:endParaRPr sz="800">
                        <a:latin typeface="SimSun"/>
                        <a:cs typeface="SimSun"/>
                      </a:endParaRPr>
                    </a:p>
                  </a:txBody>
                  <a:tcPr marL="0" marR="0" marB="0" marT="31750">
                    <a:lnL w="6350">
                      <a:solidFill>
                        <a:srgbClr val="000000"/>
                      </a:solidFill>
                      <a:prstDash val="solid"/>
                    </a:lnL>
                  </a:tcPr>
                </a:tc>
                <a:tc>
                  <a:txBody>
                    <a:bodyPr/>
                    <a:lstStyle/>
                    <a:p>
                      <a:pPr algn="ctr">
                        <a:lnSpc>
                          <a:spcPct val="100000"/>
                        </a:lnSpc>
                        <a:spcBef>
                          <a:spcPts val="110"/>
                        </a:spcBef>
                      </a:pPr>
                      <a:r>
                        <a:rPr dirty="0" sz="800" spc="-50">
                          <a:latin typeface="SimSun"/>
                          <a:cs typeface="SimSun"/>
                        </a:rPr>
                        <a:t>\</a:t>
                      </a:r>
                      <a:endParaRPr sz="800">
                        <a:latin typeface="SimSun"/>
                        <a:cs typeface="SimSun"/>
                      </a:endParaRPr>
                    </a:p>
                  </a:txBody>
                  <a:tcPr marL="0" marR="0" marB="0" marT="13970">
                    <a:lnR w="6350">
                      <a:solidFill>
                        <a:srgbClr val="000000"/>
                      </a:solidFill>
                      <a:prstDash val="solid"/>
                    </a:lnR>
                  </a:tcPr>
                </a:tc>
                <a:tc>
                  <a:txBody>
                    <a:bodyPr/>
                    <a:lstStyle/>
                    <a:p>
                      <a:pPr algn="ctr" marL="373380">
                        <a:lnSpc>
                          <a:spcPct val="100000"/>
                        </a:lnSpc>
                        <a:spcBef>
                          <a:spcPts val="110"/>
                        </a:spcBef>
                      </a:pPr>
                      <a:r>
                        <a:rPr dirty="0" sz="800" spc="-50">
                          <a:latin typeface="SimSun"/>
                          <a:cs typeface="SimSun"/>
                        </a:rPr>
                        <a:t>\</a:t>
                      </a:r>
                      <a:endParaRPr sz="800">
                        <a:latin typeface="SimSun"/>
                        <a:cs typeface="SimSun"/>
                      </a:endParaRPr>
                    </a:p>
                  </a:txBody>
                  <a:tcPr marL="0" marR="0" marB="0" marT="13970">
                    <a:lnL w="6350">
                      <a:solidFill>
                        <a:srgbClr val="000000"/>
                      </a:solidFill>
                      <a:prstDash val="solid"/>
                    </a:lnL>
                  </a:tcPr>
                </a:tc>
              </a:tr>
              <a:tr h="153035">
                <a:tc>
                  <a:txBody>
                    <a:bodyPr/>
                    <a:lstStyle/>
                    <a:p>
                      <a:pPr>
                        <a:lnSpc>
                          <a:spcPct val="100000"/>
                        </a:lnSpc>
                      </a:pPr>
                      <a:endParaRPr sz="800">
                        <a:latin typeface="Times New Roman"/>
                        <a:cs typeface="Times New Roman"/>
                      </a:endParaRPr>
                    </a:p>
                  </a:txBody>
                  <a:tcPr marL="0" marR="0" marB="0" marT="0"/>
                </a:tc>
                <a:tc>
                  <a:txBody>
                    <a:bodyPr/>
                    <a:lstStyle/>
                    <a:p>
                      <a:pPr algn="ctr" marL="6985">
                        <a:lnSpc>
                          <a:spcPts val="860"/>
                        </a:lnSpc>
                        <a:spcBef>
                          <a:spcPts val="245"/>
                        </a:spcBef>
                      </a:pPr>
                      <a:r>
                        <a:rPr dirty="0" sz="800" spc="-10">
                          <a:latin typeface="SimSun"/>
                          <a:cs typeface="SimSun"/>
                        </a:rPr>
                        <a:t>FTP</a:t>
                      </a:r>
                      <a:r>
                        <a:rPr dirty="0" baseline="3472" sz="1200" spc="-44">
                          <a:latin typeface="Microsoft YaHei"/>
                          <a:cs typeface="Microsoft YaHei"/>
                        </a:rPr>
                        <a:t>上行</a:t>
                      </a:r>
                      <a:endParaRPr baseline="3472" sz="1200">
                        <a:latin typeface="Microsoft YaHei"/>
                        <a:cs typeface="Microsoft YaHei"/>
                      </a:endParaRPr>
                    </a:p>
                  </a:txBody>
                  <a:tcPr marL="0" marR="0" marB="0" marT="31115"/>
                </a:tc>
                <a:tc>
                  <a:txBody>
                    <a:bodyPr/>
                    <a:lstStyle/>
                    <a:p>
                      <a:pPr algn="ctr" marL="3810">
                        <a:lnSpc>
                          <a:spcPts val="860"/>
                        </a:lnSpc>
                        <a:spcBef>
                          <a:spcPts val="245"/>
                        </a:spcBef>
                      </a:pPr>
                      <a:r>
                        <a:rPr dirty="0" sz="800" spc="-10">
                          <a:latin typeface="SimSun"/>
                          <a:cs typeface="SimSun"/>
                        </a:rPr>
                        <a:t>49.67</a:t>
                      </a:r>
                      <a:endParaRPr sz="800">
                        <a:latin typeface="SimSun"/>
                        <a:cs typeface="SimSun"/>
                      </a:endParaRPr>
                    </a:p>
                  </a:txBody>
                  <a:tcPr marL="0" marR="0" marB="0" marT="31115">
                    <a:lnR w="6350">
                      <a:solidFill>
                        <a:srgbClr val="000000"/>
                      </a:solidFill>
                      <a:prstDash val="solid"/>
                    </a:lnR>
                  </a:tcPr>
                </a:tc>
                <a:tc>
                  <a:txBody>
                    <a:bodyPr/>
                    <a:lstStyle/>
                    <a:p>
                      <a:pPr algn="ctr" marL="635">
                        <a:lnSpc>
                          <a:spcPts val="860"/>
                        </a:lnSpc>
                        <a:spcBef>
                          <a:spcPts val="245"/>
                        </a:spcBef>
                      </a:pPr>
                      <a:r>
                        <a:rPr dirty="0" sz="800" spc="-10">
                          <a:latin typeface="SimSun"/>
                          <a:cs typeface="SimSun"/>
                        </a:rPr>
                        <a:t>49.71</a:t>
                      </a:r>
                      <a:endParaRPr sz="800">
                        <a:latin typeface="SimSun"/>
                        <a:cs typeface="SimSun"/>
                      </a:endParaRPr>
                    </a:p>
                  </a:txBody>
                  <a:tcPr marL="0" marR="0" marB="0" marT="31115">
                    <a:lnL w="6350">
                      <a:solidFill>
                        <a:srgbClr val="000000"/>
                      </a:solidFill>
                      <a:prstDash val="solid"/>
                    </a:lnL>
                  </a:tcPr>
                </a:tc>
                <a:tc>
                  <a:txBody>
                    <a:bodyPr/>
                    <a:lstStyle/>
                    <a:p>
                      <a:pPr algn="ctr">
                        <a:lnSpc>
                          <a:spcPts val="860"/>
                        </a:lnSpc>
                        <a:spcBef>
                          <a:spcPts val="245"/>
                        </a:spcBef>
                      </a:pPr>
                      <a:r>
                        <a:rPr dirty="0" sz="800" spc="-20">
                          <a:latin typeface="SimSun"/>
                          <a:cs typeface="SimSun"/>
                        </a:rPr>
                        <a:t>3.11</a:t>
                      </a:r>
                      <a:endParaRPr sz="800">
                        <a:latin typeface="SimSun"/>
                        <a:cs typeface="SimSun"/>
                      </a:endParaRPr>
                    </a:p>
                  </a:txBody>
                  <a:tcPr marL="0" marR="0" marB="0" marT="31115">
                    <a:lnR w="6350">
                      <a:solidFill>
                        <a:srgbClr val="000000"/>
                      </a:solidFill>
                      <a:prstDash val="solid"/>
                    </a:lnR>
                  </a:tcPr>
                </a:tc>
                <a:tc>
                  <a:txBody>
                    <a:bodyPr/>
                    <a:lstStyle/>
                    <a:p>
                      <a:pPr algn="ctr">
                        <a:lnSpc>
                          <a:spcPts val="860"/>
                        </a:lnSpc>
                        <a:spcBef>
                          <a:spcPts val="245"/>
                        </a:spcBef>
                      </a:pPr>
                      <a:r>
                        <a:rPr dirty="0" sz="800" spc="-20">
                          <a:latin typeface="SimSun"/>
                          <a:cs typeface="SimSun"/>
                        </a:rPr>
                        <a:t>3.45</a:t>
                      </a:r>
                      <a:endParaRPr sz="800">
                        <a:latin typeface="SimSun"/>
                        <a:cs typeface="SimSun"/>
                      </a:endParaRPr>
                    </a:p>
                  </a:txBody>
                  <a:tcPr marL="0" marR="0" marB="0" marT="31115">
                    <a:lnL w="6350">
                      <a:solidFill>
                        <a:srgbClr val="000000"/>
                      </a:solidFill>
                      <a:prstDash val="solid"/>
                    </a:lnL>
                  </a:tcPr>
                </a:tc>
                <a:tc>
                  <a:txBody>
                    <a:bodyPr/>
                    <a:lstStyle/>
                    <a:p>
                      <a:pPr algn="ctr">
                        <a:lnSpc>
                          <a:spcPct val="100000"/>
                        </a:lnSpc>
                        <a:spcBef>
                          <a:spcPts val="100"/>
                        </a:spcBef>
                      </a:pPr>
                      <a:r>
                        <a:rPr dirty="0" sz="800" spc="-50">
                          <a:latin typeface="SimSun"/>
                          <a:cs typeface="SimSun"/>
                        </a:rPr>
                        <a:t>\</a:t>
                      </a:r>
                      <a:endParaRPr sz="800">
                        <a:latin typeface="SimSun"/>
                        <a:cs typeface="SimSun"/>
                      </a:endParaRPr>
                    </a:p>
                  </a:txBody>
                  <a:tcPr marL="0" marR="0" marB="0" marT="12700">
                    <a:lnR w="6350">
                      <a:solidFill>
                        <a:srgbClr val="000000"/>
                      </a:solidFill>
                      <a:prstDash val="solid"/>
                    </a:lnR>
                  </a:tcPr>
                </a:tc>
                <a:tc>
                  <a:txBody>
                    <a:bodyPr/>
                    <a:lstStyle/>
                    <a:p>
                      <a:pPr algn="ctr" marL="373380">
                        <a:lnSpc>
                          <a:spcPct val="100000"/>
                        </a:lnSpc>
                        <a:spcBef>
                          <a:spcPts val="100"/>
                        </a:spcBef>
                      </a:pPr>
                      <a:r>
                        <a:rPr dirty="0" sz="800" spc="-50">
                          <a:latin typeface="SimSun"/>
                          <a:cs typeface="SimSun"/>
                        </a:rPr>
                        <a:t>\</a:t>
                      </a:r>
                      <a:endParaRPr sz="800">
                        <a:latin typeface="SimSun"/>
                        <a:cs typeface="SimSun"/>
                      </a:endParaRPr>
                    </a:p>
                  </a:txBody>
                  <a:tcPr marL="0" marR="0" marB="0" marT="12700">
                    <a:lnL w="6350">
                      <a:solidFill>
                        <a:srgbClr val="000000"/>
                      </a:solidFill>
                      <a:prstDash val="solid"/>
                    </a:lnL>
                  </a:tcPr>
                </a:tc>
              </a:tr>
              <a:tr h="152400">
                <a:tc>
                  <a:txBody>
                    <a:bodyPr/>
                    <a:lstStyle/>
                    <a:p>
                      <a:pPr marL="31750">
                        <a:lnSpc>
                          <a:spcPct val="100000"/>
                        </a:lnSpc>
                        <a:spcBef>
                          <a:spcPts val="130"/>
                        </a:spcBef>
                      </a:pPr>
                      <a:r>
                        <a:rPr dirty="0" sz="800" spc="-30">
                          <a:latin typeface="Microsoft YaHei"/>
                          <a:cs typeface="Microsoft YaHei"/>
                        </a:rPr>
                        <a:t>室内</a:t>
                      </a:r>
                      <a:endParaRPr sz="800">
                        <a:latin typeface="Microsoft YaHei"/>
                        <a:cs typeface="Microsoft YaHei"/>
                      </a:endParaRPr>
                    </a:p>
                  </a:txBody>
                  <a:tcPr marL="0" marR="0" marB="0" marT="16510"/>
                </a:tc>
                <a:tc>
                  <a:txBody>
                    <a:bodyPr/>
                    <a:lstStyle/>
                    <a:p>
                      <a:pPr algn="ctr" marL="6985">
                        <a:lnSpc>
                          <a:spcPts val="855"/>
                        </a:lnSpc>
                        <a:spcBef>
                          <a:spcPts val="245"/>
                        </a:spcBef>
                      </a:pPr>
                      <a:r>
                        <a:rPr dirty="0" sz="800" spc="-10">
                          <a:latin typeface="SimSun"/>
                          <a:cs typeface="SimSun"/>
                        </a:rPr>
                        <a:t>1080P</a:t>
                      </a:r>
                      <a:endParaRPr sz="800">
                        <a:latin typeface="SimSun"/>
                        <a:cs typeface="SimSun"/>
                      </a:endParaRPr>
                    </a:p>
                  </a:txBody>
                  <a:tcPr marL="0" marR="0" marB="0" marT="31115"/>
                </a:tc>
                <a:tc>
                  <a:txBody>
                    <a:bodyPr/>
                    <a:lstStyle/>
                    <a:p>
                      <a:pPr algn="ctr" marL="3175">
                        <a:lnSpc>
                          <a:spcPts val="855"/>
                        </a:lnSpc>
                        <a:spcBef>
                          <a:spcPts val="245"/>
                        </a:spcBef>
                      </a:pPr>
                      <a:r>
                        <a:rPr dirty="0" sz="800" spc="-10">
                          <a:latin typeface="SimSun"/>
                          <a:cs typeface="SimSun"/>
                        </a:rPr>
                        <a:t>150.46</a:t>
                      </a:r>
                      <a:endParaRPr sz="800">
                        <a:latin typeface="SimSun"/>
                        <a:cs typeface="SimSun"/>
                      </a:endParaRPr>
                    </a:p>
                  </a:txBody>
                  <a:tcPr marL="0" marR="0" marB="0" marT="31115">
                    <a:lnR w="6350">
                      <a:solidFill>
                        <a:srgbClr val="000000"/>
                      </a:solidFill>
                      <a:prstDash val="solid"/>
                    </a:lnR>
                  </a:tcPr>
                </a:tc>
                <a:tc>
                  <a:txBody>
                    <a:bodyPr/>
                    <a:lstStyle/>
                    <a:p>
                      <a:pPr algn="ctr">
                        <a:lnSpc>
                          <a:spcPts val="855"/>
                        </a:lnSpc>
                        <a:spcBef>
                          <a:spcPts val="245"/>
                        </a:spcBef>
                      </a:pPr>
                      <a:r>
                        <a:rPr dirty="0" sz="800" spc="-10">
                          <a:latin typeface="SimSun"/>
                          <a:cs typeface="SimSun"/>
                        </a:rPr>
                        <a:t>132.31</a:t>
                      </a:r>
                      <a:endParaRPr sz="800">
                        <a:latin typeface="SimSun"/>
                        <a:cs typeface="SimSun"/>
                      </a:endParaRPr>
                    </a:p>
                  </a:txBody>
                  <a:tcPr marL="0" marR="0" marB="0" marT="31115">
                    <a:lnL w="6350">
                      <a:solidFill>
                        <a:srgbClr val="000000"/>
                      </a:solidFill>
                      <a:prstDash val="solid"/>
                    </a:lnL>
                  </a:tcPr>
                </a:tc>
                <a:tc>
                  <a:txBody>
                    <a:bodyPr/>
                    <a:lstStyle/>
                    <a:p>
                      <a:pPr algn="ctr">
                        <a:lnSpc>
                          <a:spcPts val="855"/>
                        </a:lnSpc>
                        <a:spcBef>
                          <a:spcPts val="245"/>
                        </a:spcBef>
                      </a:pPr>
                      <a:r>
                        <a:rPr dirty="0" sz="800" spc="-20">
                          <a:latin typeface="SimSun"/>
                          <a:cs typeface="SimSun"/>
                        </a:rPr>
                        <a:t>3.42</a:t>
                      </a:r>
                      <a:endParaRPr sz="800">
                        <a:latin typeface="SimSun"/>
                        <a:cs typeface="SimSun"/>
                      </a:endParaRPr>
                    </a:p>
                  </a:txBody>
                  <a:tcPr marL="0" marR="0" marB="0" marT="31115">
                    <a:lnR w="6350">
                      <a:solidFill>
                        <a:srgbClr val="000000"/>
                      </a:solidFill>
                      <a:prstDash val="solid"/>
                    </a:lnR>
                  </a:tcPr>
                </a:tc>
                <a:tc>
                  <a:txBody>
                    <a:bodyPr/>
                    <a:lstStyle/>
                    <a:p>
                      <a:pPr algn="ctr">
                        <a:lnSpc>
                          <a:spcPts val="855"/>
                        </a:lnSpc>
                        <a:spcBef>
                          <a:spcPts val="245"/>
                        </a:spcBef>
                      </a:pPr>
                      <a:r>
                        <a:rPr dirty="0" sz="800" spc="-20">
                          <a:latin typeface="SimSun"/>
                          <a:cs typeface="SimSun"/>
                        </a:rPr>
                        <a:t>2.01</a:t>
                      </a:r>
                      <a:endParaRPr sz="800">
                        <a:latin typeface="SimSun"/>
                        <a:cs typeface="SimSun"/>
                      </a:endParaRPr>
                    </a:p>
                  </a:txBody>
                  <a:tcPr marL="0" marR="0" marB="0" marT="31115">
                    <a:lnL w="6350">
                      <a:solidFill>
                        <a:srgbClr val="000000"/>
                      </a:solidFill>
                      <a:prstDash val="solid"/>
                    </a:lnL>
                  </a:tcPr>
                </a:tc>
                <a:tc>
                  <a:txBody>
                    <a:bodyPr/>
                    <a:lstStyle/>
                    <a:p>
                      <a:pPr algn="ctr">
                        <a:lnSpc>
                          <a:spcPct val="100000"/>
                        </a:lnSpc>
                        <a:spcBef>
                          <a:spcPts val="130"/>
                        </a:spcBef>
                      </a:pPr>
                      <a:r>
                        <a:rPr dirty="0" sz="800" spc="-30">
                          <a:latin typeface="Microsoft YaHei"/>
                          <a:cs typeface="Microsoft YaHei"/>
                        </a:rPr>
                        <a:t>流畅</a:t>
                      </a:r>
                      <a:endParaRPr sz="800">
                        <a:latin typeface="Microsoft YaHei"/>
                        <a:cs typeface="Microsoft YaHei"/>
                      </a:endParaRPr>
                    </a:p>
                  </a:txBody>
                  <a:tcPr marL="0" marR="0" marB="0" marT="16510">
                    <a:lnR w="6350">
                      <a:solidFill>
                        <a:srgbClr val="000000"/>
                      </a:solidFill>
                      <a:prstDash val="solid"/>
                    </a:lnR>
                  </a:tcPr>
                </a:tc>
                <a:tc>
                  <a:txBody>
                    <a:bodyPr/>
                    <a:lstStyle/>
                    <a:p>
                      <a:pPr algn="ctr" marL="373380">
                        <a:lnSpc>
                          <a:spcPct val="100000"/>
                        </a:lnSpc>
                        <a:spcBef>
                          <a:spcPts val="130"/>
                        </a:spcBef>
                      </a:pPr>
                      <a:r>
                        <a:rPr dirty="0" sz="800" spc="-30">
                          <a:latin typeface="Microsoft YaHei"/>
                          <a:cs typeface="Microsoft YaHei"/>
                        </a:rPr>
                        <a:t>流畅</a:t>
                      </a:r>
                      <a:endParaRPr sz="800">
                        <a:latin typeface="Microsoft YaHei"/>
                        <a:cs typeface="Microsoft YaHei"/>
                      </a:endParaRPr>
                    </a:p>
                  </a:txBody>
                  <a:tcPr marL="0" marR="0" marB="0" marT="16510">
                    <a:lnL w="6350">
                      <a:solidFill>
                        <a:srgbClr val="000000"/>
                      </a:solidFill>
                      <a:prstDash val="solid"/>
                    </a:lnL>
                  </a:tcPr>
                </a:tc>
              </a:tr>
              <a:tr h="153035">
                <a:tc>
                  <a:txBody>
                    <a:bodyPr/>
                    <a:lstStyle/>
                    <a:p>
                      <a:pPr>
                        <a:lnSpc>
                          <a:spcPct val="100000"/>
                        </a:lnSpc>
                      </a:pPr>
                      <a:endParaRPr sz="800">
                        <a:latin typeface="Times New Roman"/>
                        <a:cs typeface="Times New Roman"/>
                      </a:endParaRPr>
                    </a:p>
                  </a:txBody>
                  <a:tcPr marL="0" marR="0" marB="0" marT="0"/>
                </a:tc>
                <a:tc>
                  <a:txBody>
                    <a:bodyPr/>
                    <a:lstStyle/>
                    <a:p>
                      <a:pPr algn="ctr" marL="6350">
                        <a:lnSpc>
                          <a:spcPts val="855"/>
                        </a:lnSpc>
                        <a:spcBef>
                          <a:spcPts val="250"/>
                        </a:spcBef>
                      </a:pPr>
                      <a:r>
                        <a:rPr dirty="0" sz="800" spc="-25">
                          <a:latin typeface="SimSun"/>
                          <a:cs typeface="SimSun"/>
                        </a:rPr>
                        <a:t>2K</a:t>
                      </a:r>
                      <a:endParaRPr sz="800">
                        <a:latin typeface="SimSun"/>
                        <a:cs typeface="SimSun"/>
                      </a:endParaRPr>
                    </a:p>
                  </a:txBody>
                  <a:tcPr marL="0" marR="0" marB="0" marT="31750"/>
                </a:tc>
                <a:tc>
                  <a:txBody>
                    <a:bodyPr/>
                    <a:lstStyle/>
                    <a:p>
                      <a:pPr algn="ctr" marL="3175">
                        <a:lnSpc>
                          <a:spcPts val="855"/>
                        </a:lnSpc>
                        <a:spcBef>
                          <a:spcPts val="250"/>
                        </a:spcBef>
                      </a:pPr>
                      <a:r>
                        <a:rPr dirty="0" sz="800" spc="-10">
                          <a:latin typeface="SimSun"/>
                          <a:cs typeface="SimSun"/>
                        </a:rPr>
                        <a:t>160.26</a:t>
                      </a:r>
                      <a:endParaRPr sz="800">
                        <a:latin typeface="SimSun"/>
                        <a:cs typeface="SimSun"/>
                      </a:endParaRPr>
                    </a:p>
                  </a:txBody>
                  <a:tcPr marL="0" marR="0" marB="0" marT="31750">
                    <a:lnR w="6350">
                      <a:solidFill>
                        <a:srgbClr val="000000"/>
                      </a:solidFill>
                      <a:prstDash val="solid"/>
                    </a:lnR>
                  </a:tcPr>
                </a:tc>
                <a:tc>
                  <a:txBody>
                    <a:bodyPr/>
                    <a:lstStyle/>
                    <a:p>
                      <a:pPr algn="ctr">
                        <a:lnSpc>
                          <a:spcPts val="855"/>
                        </a:lnSpc>
                        <a:spcBef>
                          <a:spcPts val="250"/>
                        </a:spcBef>
                      </a:pPr>
                      <a:r>
                        <a:rPr dirty="0" sz="800" spc="-10">
                          <a:latin typeface="SimSun"/>
                          <a:cs typeface="SimSun"/>
                        </a:rPr>
                        <a:t>134.56</a:t>
                      </a:r>
                      <a:endParaRPr sz="800">
                        <a:latin typeface="SimSun"/>
                        <a:cs typeface="SimSun"/>
                      </a:endParaRPr>
                    </a:p>
                  </a:txBody>
                  <a:tcPr marL="0" marR="0" marB="0" marT="31750">
                    <a:lnL w="6350">
                      <a:solidFill>
                        <a:srgbClr val="000000"/>
                      </a:solidFill>
                      <a:prstDash val="solid"/>
                    </a:lnL>
                  </a:tcPr>
                </a:tc>
                <a:tc>
                  <a:txBody>
                    <a:bodyPr/>
                    <a:lstStyle/>
                    <a:p>
                      <a:pPr algn="ctr">
                        <a:lnSpc>
                          <a:spcPts val="855"/>
                        </a:lnSpc>
                        <a:spcBef>
                          <a:spcPts val="250"/>
                        </a:spcBef>
                      </a:pPr>
                      <a:r>
                        <a:rPr dirty="0" sz="800" spc="-20">
                          <a:latin typeface="SimSun"/>
                          <a:cs typeface="SimSun"/>
                        </a:rPr>
                        <a:t>3.71</a:t>
                      </a:r>
                      <a:endParaRPr sz="800">
                        <a:latin typeface="SimSun"/>
                        <a:cs typeface="SimSun"/>
                      </a:endParaRPr>
                    </a:p>
                  </a:txBody>
                  <a:tcPr marL="0" marR="0" marB="0" marT="31750">
                    <a:lnR w="6350">
                      <a:solidFill>
                        <a:srgbClr val="000000"/>
                      </a:solidFill>
                      <a:prstDash val="solid"/>
                    </a:lnR>
                  </a:tcPr>
                </a:tc>
                <a:tc>
                  <a:txBody>
                    <a:bodyPr/>
                    <a:lstStyle/>
                    <a:p>
                      <a:pPr algn="ctr">
                        <a:lnSpc>
                          <a:spcPts val="855"/>
                        </a:lnSpc>
                        <a:spcBef>
                          <a:spcPts val="250"/>
                        </a:spcBef>
                      </a:pPr>
                      <a:r>
                        <a:rPr dirty="0" sz="800" spc="-20">
                          <a:latin typeface="SimSun"/>
                          <a:cs typeface="SimSun"/>
                        </a:rPr>
                        <a:t>1.72</a:t>
                      </a:r>
                      <a:endParaRPr sz="800">
                        <a:latin typeface="SimSun"/>
                        <a:cs typeface="SimSun"/>
                      </a:endParaRPr>
                    </a:p>
                  </a:txBody>
                  <a:tcPr marL="0" marR="0" marB="0" marT="31750">
                    <a:lnL w="6350">
                      <a:solidFill>
                        <a:srgbClr val="000000"/>
                      </a:solidFill>
                      <a:prstDash val="solid"/>
                    </a:lnL>
                  </a:tcPr>
                </a:tc>
                <a:tc>
                  <a:txBody>
                    <a:bodyPr/>
                    <a:lstStyle/>
                    <a:p>
                      <a:pPr algn="ctr">
                        <a:lnSpc>
                          <a:spcPct val="100000"/>
                        </a:lnSpc>
                        <a:spcBef>
                          <a:spcPts val="135"/>
                        </a:spcBef>
                      </a:pPr>
                      <a:r>
                        <a:rPr dirty="0" sz="800" spc="-30">
                          <a:latin typeface="Microsoft YaHei"/>
                          <a:cs typeface="Microsoft YaHei"/>
                        </a:rPr>
                        <a:t>流畅</a:t>
                      </a:r>
                      <a:endParaRPr sz="800">
                        <a:latin typeface="Microsoft YaHei"/>
                        <a:cs typeface="Microsoft YaHei"/>
                      </a:endParaRPr>
                    </a:p>
                  </a:txBody>
                  <a:tcPr marL="0" marR="0" marB="0" marT="17145">
                    <a:lnR w="6350">
                      <a:solidFill>
                        <a:srgbClr val="000000"/>
                      </a:solidFill>
                      <a:prstDash val="solid"/>
                    </a:lnR>
                  </a:tcPr>
                </a:tc>
                <a:tc>
                  <a:txBody>
                    <a:bodyPr/>
                    <a:lstStyle/>
                    <a:p>
                      <a:pPr algn="ctr" marL="373380">
                        <a:lnSpc>
                          <a:spcPct val="100000"/>
                        </a:lnSpc>
                        <a:spcBef>
                          <a:spcPts val="135"/>
                        </a:spcBef>
                      </a:pPr>
                      <a:r>
                        <a:rPr dirty="0" sz="800" spc="-30">
                          <a:latin typeface="Microsoft YaHei"/>
                          <a:cs typeface="Microsoft YaHei"/>
                        </a:rPr>
                        <a:t>流畅</a:t>
                      </a:r>
                      <a:endParaRPr sz="800">
                        <a:latin typeface="Microsoft YaHei"/>
                        <a:cs typeface="Microsoft YaHei"/>
                      </a:endParaRPr>
                    </a:p>
                  </a:txBody>
                  <a:tcPr marL="0" marR="0" marB="0" marT="17145">
                    <a:lnL w="6350">
                      <a:solidFill>
                        <a:srgbClr val="000000"/>
                      </a:solidFill>
                      <a:prstDash val="solid"/>
                    </a:lnL>
                  </a:tcPr>
                </a:tc>
              </a:tr>
              <a:tr h="153035">
                <a:tc>
                  <a:txBody>
                    <a:bodyPr/>
                    <a:lstStyle/>
                    <a:p>
                      <a:pPr>
                        <a:lnSpc>
                          <a:spcPct val="100000"/>
                        </a:lnSpc>
                      </a:pPr>
                      <a:endParaRPr sz="800">
                        <a:latin typeface="Times New Roman"/>
                        <a:cs typeface="Times New Roman"/>
                      </a:endParaRPr>
                    </a:p>
                  </a:txBody>
                  <a:tcPr marL="0" marR="0" marB="0" marT="0"/>
                </a:tc>
                <a:tc>
                  <a:txBody>
                    <a:bodyPr/>
                    <a:lstStyle/>
                    <a:p>
                      <a:pPr algn="ctr" marL="6350">
                        <a:lnSpc>
                          <a:spcPts val="855"/>
                        </a:lnSpc>
                        <a:spcBef>
                          <a:spcPts val="250"/>
                        </a:spcBef>
                      </a:pPr>
                      <a:r>
                        <a:rPr dirty="0" sz="800" spc="-25">
                          <a:latin typeface="SimSun"/>
                          <a:cs typeface="SimSun"/>
                        </a:rPr>
                        <a:t>4K</a:t>
                      </a:r>
                      <a:endParaRPr sz="800">
                        <a:latin typeface="SimSun"/>
                        <a:cs typeface="SimSun"/>
                      </a:endParaRPr>
                    </a:p>
                  </a:txBody>
                  <a:tcPr marL="0" marR="0" marB="0" marT="31750"/>
                </a:tc>
                <a:tc>
                  <a:txBody>
                    <a:bodyPr/>
                    <a:lstStyle/>
                    <a:p>
                      <a:pPr algn="ctr" marL="3810">
                        <a:lnSpc>
                          <a:spcPts val="855"/>
                        </a:lnSpc>
                        <a:spcBef>
                          <a:spcPts val="250"/>
                        </a:spcBef>
                      </a:pPr>
                      <a:r>
                        <a:rPr dirty="0" sz="800" spc="-10">
                          <a:latin typeface="SimSun"/>
                          <a:cs typeface="SimSun"/>
                        </a:rPr>
                        <a:t>155.46</a:t>
                      </a:r>
                      <a:endParaRPr sz="800">
                        <a:latin typeface="SimSun"/>
                        <a:cs typeface="SimSun"/>
                      </a:endParaRPr>
                    </a:p>
                  </a:txBody>
                  <a:tcPr marL="0" marR="0" marB="0" marT="31750">
                    <a:lnR w="6350">
                      <a:solidFill>
                        <a:srgbClr val="000000"/>
                      </a:solidFill>
                      <a:prstDash val="solid"/>
                    </a:lnR>
                  </a:tcPr>
                </a:tc>
                <a:tc>
                  <a:txBody>
                    <a:bodyPr/>
                    <a:lstStyle/>
                    <a:p>
                      <a:pPr algn="ctr" marL="635">
                        <a:lnSpc>
                          <a:spcPts val="855"/>
                        </a:lnSpc>
                        <a:spcBef>
                          <a:spcPts val="250"/>
                        </a:spcBef>
                      </a:pPr>
                      <a:r>
                        <a:rPr dirty="0" sz="800" spc="-10">
                          <a:latin typeface="SimSun"/>
                          <a:cs typeface="SimSun"/>
                        </a:rPr>
                        <a:t>131.49</a:t>
                      </a:r>
                      <a:endParaRPr sz="800">
                        <a:latin typeface="SimSun"/>
                        <a:cs typeface="SimSun"/>
                      </a:endParaRPr>
                    </a:p>
                  </a:txBody>
                  <a:tcPr marL="0" marR="0" marB="0" marT="31750">
                    <a:lnL w="6350">
                      <a:solidFill>
                        <a:srgbClr val="000000"/>
                      </a:solidFill>
                      <a:prstDash val="solid"/>
                    </a:lnL>
                  </a:tcPr>
                </a:tc>
                <a:tc>
                  <a:txBody>
                    <a:bodyPr/>
                    <a:lstStyle/>
                    <a:p>
                      <a:pPr algn="ctr" marL="635">
                        <a:lnSpc>
                          <a:spcPts val="855"/>
                        </a:lnSpc>
                        <a:spcBef>
                          <a:spcPts val="250"/>
                        </a:spcBef>
                      </a:pPr>
                      <a:r>
                        <a:rPr dirty="0" sz="800" spc="-20">
                          <a:latin typeface="SimSun"/>
                          <a:cs typeface="SimSun"/>
                        </a:rPr>
                        <a:t>3.47</a:t>
                      </a:r>
                      <a:endParaRPr sz="800">
                        <a:latin typeface="SimSun"/>
                        <a:cs typeface="SimSun"/>
                      </a:endParaRPr>
                    </a:p>
                  </a:txBody>
                  <a:tcPr marL="0" marR="0" marB="0" marT="31750">
                    <a:lnR w="6350">
                      <a:solidFill>
                        <a:srgbClr val="000000"/>
                      </a:solidFill>
                      <a:prstDash val="solid"/>
                    </a:lnR>
                  </a:tcPr>
                </a:tc>
                <a:tc>
                  <a:txBody>
                    <a:bodyPr/>
                    <a:lstStyle/>
                    <a:p>
                      <a:pPr algn="ctr" marL="635">
                        <a:lnSpc>
                          <a:spcPts val="855"/>
                        </a:lnSpc>
                        <a:spcBef>
                          <a:spcPts val="250"/>
                        </a:spcBef>
                      </a:pPr>
                      <a:r>
                        <a:rPr dirty="0" sz="800" spc="-20">
                          <a:latin typeface="SimSun"/>
                          <a:cs typeface="SimSun"/>
                        </a:rPr>
                        <a:t>1.14</a:t>
                      </a:r>
                      <a:endParaRPr sz="800">
                        <a:latin typeface="SimSun"/>
                        <a:cs typeface="SimSun"/>
                      </a:endParaRPr>
                    </a:p>
                  </a:txBody>
                  <a:tcPr marL="0" marR="0" marB="0" marT="31750">
                    <a:lnL w="6350">
                      <a:solidFill>
                        <a:srgbClr val="000000"/>
                      </a:solidFill>
                      <a:prstDash val="solid"/>
                    </a:lnL>
                  </a:tcPr>
                </a:tc>
                <a:tc>
                  <a:txBody>
                    <a:bodyPr/>
                    <a:lstStyle/>
                    <a:p>
                      <a:pPr algn="ctr">
                        <a:lnSpc>
                          <a:spcPct val="100000"/>
                        </a:lnSpc>
                        <a:spcBef>
                          <a:spcPts val="135"/>
                        </a:spcBef>
                      </a:pPr>
                      <a:r>
                        <a:rPr dirty="0" sz="800" spc="-30">
                          <a:latin typeface="Microsoft YaHei"/>
                          <a:cs typeface="Microsoft YaHei"/>
                        </a:rPr>
                        <a:t>流畅</a:t>
                      </a:r>
                      <a:endParaRPr sz="800">
                        <a:latin typeface="Microsoft YaHei"/>
                        <a:cs typeface="Microsoft YaHei"/>
                      </a:endParaRPr>
                    </a:p>
                  </a:txBody>
                  <a:tcPr marL="0" marR="0" marB="0" marT="17145">
                    <a:lnR w="6350">
                      <a:solidFill>
                        <a:srgbClr val="000000"/>
                      </a:solidFill>
                      <a:prstDash val="solid"/>
                    </a:lnR>
                  </a:tcPr>
                </a:tc>
                <a:tc>
                  <a:txBody>
                    <a:bodyPr/>
                    <a:lstStyle/>
                    <a:p>
                      <a:pPr algn="ctr" marL="373380">
                        <a:lnSpc>
                          <a:spcPct val="100000"/>
                        </a:lnSpc>
                        <a:spcBef>
                          <a:spcPts val="135"/>
                        </a:spcBef>
                      </a:pPr>
                      <a:r>
                        <a:rPr dirty="0" sz="800" spc="-30">
                          <a:latin typeface="Microsoft YaHei"/>
                          <a:cs typeface="Microsoft YaHei"/>
                        </a:rPr>
                        <a:t>流畅</a:t>
                      </a:r>
                      <a:endParaRPr sz="800">
                        <a:latin typeface="Microsoft YaHei"/>
                        <a:cs typeface="Microsoft YaHei"/>
                      </a:endParaRPr>
                    </a:p>
                  </a:txBody>
                  <a:tcPr marL="0" marR="0" marB="0" marT="17145">
                    <a:lnL w="6350">
                      <a:solidFill>
                        <a:srgbClr val="000000"/>
                      </a:solidFill>
                      <a:prstDash val="solid"/>
                    </a:lnL>
                  </a:tcPr>
                </a:tc>
              </a:tr>
            </a:tbl>
          </a:graphicData>
        </a:graphic>
      </p:graphicFrame>
      <p:graphicFrame>
        <p:nvGraphicFramePr>
          <p:cNvPr id="37" name="object 37" descr=""/>
          <p:cNvGraphicFramePr>
            <a:graphicFrameLocks noGrp="1"/>
          </p:cNvGraphicFramePr>
          <p:nvPr/>
        </p:nvGraphicFramePr>
        <p:xfrm>
          <a:off x="356356" y="3054629"/>
          <a:ext cx="8207375" cy="1327150"/>
        </p:xfrm>
        <a:graphic>
          <a:graphicData uri="http://schemas.openxmlformats.org/drawingml/2006/table">
            <a:tbl>
              <a:tblPr firstRow="1" bandRow="1">
                <a:tableStyleId>{2D5ABB26-0587-4C30-8999-92F81FD0307C}</a:tableStyleId>
              </a:tblPr>
              <a:tblGrid>
                <a:gridCol w="1022985"/>
                <a:gridCol w="1027429"/>
                <a:gridCol w="1431289"/>
                <a:gridCol w="1160779"/>
                <a:gridCol w="1160779"/>
                <a:gridCol w="1160779"/>
                <a:gridCol w="1160779"/>
              </a:tblGrid>
              <a:tr h="132715">
                <a:tc rowSpan="2">
                  <a:txBody>
                    <a:bodyPr/>
                    <a:lstStyle/>
                    <a:p>
                      <a:pPr marL="310515">
                        <a:lnSpc>
                          <a:spcPct val="100000"/>
                        </a:lnSpc>
                        <a:spcBef>
                          <a:spcPts val="585"/>
                        </a:spcBef>
                      </a:pPr>
                      <a:r>
                        <a:rPr dirty="0" baseline="3472" sz="1200">
                          <a:latin typeface="SimSun"/>
                          <a:cs typeface="SimSun"/>
                        </a:rPr>
                        <a:t>LTE</a:t>
                      </a:r>
                      <a:r>
                        <a:rPr dirty="0" baseline="3472" sz="1200" spc="-44">
                          <a:latin typeface="SimSun"/>
                          <a:cs typeface="SimSun"/>
                        </a:rPr>
                        <a:t> </a:t>
                      </a:r>
                      <a:r>
                        <a:rPr dirty="0" sz="800" spc="-30">
                          <a:latin typeface="Microsoft YaHei"/>
                          <a:cs typeface="Microsoft YaHei"/>
                        </a:rPr>
                        <a:t>场景</a:t>
                      </a:r>
                      <a:endParaRPr sz="800">
                        <a:latin typeface="Microsoft YaHei"/>
                        <a:cs typeface="Microsoft YaHei"/>
                      </a:endParaRPr>
                    </a:p>
                  </a:txBody>
                  <a:tcPr marL="0" marR="0" marB="0" marT="7429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rowSpan="2">
                  <a:txBody>
                    <a:bodyPr/>
                    <a:lstStyle/>
                    <a:p>
                      <a:pPr algn="ctr">
                        <a:lnSpc>
                          <a:spcPct val="100000"/>
                        </a:lnSpc>
                        <a:spcBef>
                          <a:spcPts val="585"/>
                        </a:spcBef>
                      </a:pPr>
                      <a:r>
                        <a:rPr dirty="0" sz="800" spc="-30">
                          <a:latin typeface="Microsoft YaHei"/>
                          <a:cs typeface="Microsoft YaHei"/>
                        </a:rPr>
                        <a:t>业务</a:t>
                      </a:r>
                      <a:endParaRPr sz="800">
                        <a:latin typeface="Microsoft YaHei"/>
                        <a:cs typeface="Microsoft YaHei"/>
                      </a:endParaRPr>
                    </a:p>
                  </a:txBody>
                  <a:tcPr marL="0" marR="0" marB="0" marT="7429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gridSpan="2">
                  <a:txBody>
                    <a:bodyPr/>
                    <a:lstStyle/>
                    <a:p>
                      <a:pPr algn="ctr">
                        <a:lnSpc>
                          <a:spcPts val="850"/>
                        </a:lnSpc>
                        <a:spcBef>
                          <a:spcPts val="95"/>
                        </a:spcBef>
                      </a:pPr>
                      <a:r>
                        <a:rPr dirty="0" sz="800" spc="-10">
                          <a:latin typeface="SimSun"/>
                          <a:cs typeface="SimSun"/>
                        </a:rPr>
                        <a:t>LTE1800</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hMerge="1">
                  <a:txBody>
                    <a:bodyPr/>
                    <a:lstStyle/>
                    <a:p>
                      <a:pPr/>
                    </a:p>
                  </a:txBody>
                  <a:tcPr marL="0" marR="0" marB="0" marT="0"/>
                </a:tc>
                <a:tc gridSpan="2">
                  <a:txBody>
                    <a:bodyPr/>
                    <a:lstStyle/>
                    <a:p>
                      <a:pPr algn="ctr" marL="635">
                        <a:lnSpc>
                          <a:spcPts val="850"/>
                        </a:lnSpc>
                        <a:spcBef>
                          <a:spcPts val="95"/>
                        </a:spcBef>
                      </a:pPr>
                      <a:r>
                        <a:rPr dirty="0" sz="800" spc="-10">
                          <a:latin typeface="SimSun"/>
                          <a:cs typeface="SimSun"/>
                        </a:rPr>
                        <a:t>LTE900</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hMerge="1">
                  <a:txBody>
                    <a:bodyPr/>
                    <a:lstStyle/>
                    <a:p>
                      <a:pPr/>
                    </a:p>
                  </a:txBody>
                  <a:tcPr marL="0" marR="0" marB="0" marT="0"/>
                </a:tc>
                <a:tc>
                  <a:txBody>
                    <a:bodyPr/>
                    <a:lstStyle/>
                    <a:p>
                      <a:pPr algn="ctr">
                        <a:lnSpc>
                          <a:spcPts val="900"/>
                        </a:lnSpc>
                        <a:spcBef>
                          <a:spcPts val="45"/>
                        </a:spcBef>
                      </a:pPr>
                      <a:r>
                        <a:rPr dirty="0" sz="800" spc="-20">
                          <a:latin typeface="Microsoft YaHei"/>
                          <a:cs typeface="Microsoft YaHei"/>
                        </a:rPr>
                        <a:t>主观描述</a:t>
                      </a:r>
                      <a:endParaRPr sz="800">
                        <a:latin typeface="Microsoft YaHei"/>
                        <a:cs typeface="Microsoft YaHei"/>
                      </a:endParaRPr>
                    </a:p>
                  </a:txBody>
                  <a:tcPr marL="0" marR="0" marB="0" marT="57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r>
              <a:tr h="132715">
                <a:tc vMerge="1">
                  <a:txBody>
                    <a:bodyPr/>
                    <a:lstStyle/>
                    <a:p>
                      <a:pPr/>
                    </a:p>
                  </a:txBody>
                  <a:tcPr marL="0" marR="0" marB="0" marT="7429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vMerge="1">
                  <a:txBody>
                    <a:bodyPr/>
                    <a:lstStyle/>
                    <a:p>
                      <a:pPr/>
                    </a:p>
                  </a:txBody>
                  <a:tcPr marL="0" marR="0" marB="0" marT="7429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a:txBody>
                    <a:bodyPr/>
                    <a:lstStyle/>
                    <a:p>
                      <a:pPr algn="ctr">
                        <a:lnSpc>
                          <a:spcPts val="900"/>
                        </a:lnSpc>
                        <a:spcBef>
                          <a:spcPts val="45"/>
                        </a:spcBef>
                      </a:pPr>
                      <a:r>
                        <a:rPr dirty="0" sz="800" spc="-20">
                          <a:latin typeface="Microsoft YaHei"/>
                          <a:cs typeface="Microsoft YaHei"/>
                        </a:rPr>
                        <a:t>空载下行</a:t>
                      </a:r>
                      <a:endParaRPr sz="800">
                        <a:latin typeface="Microsoft YaHei"/>
                        <a:cs typeface="Microsoft YaHei"/>
                      </a:endParaRPr>
                    </a:p>
                  </a:txBody>
                  <a:tcPr marL="0" marR="0" marB="0" marT="57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a:txBody>
                    <a:bodyPr/>
                    <a:lstStyle/>
                    <a:p>
                      <a:pPr algn="ctr">
                        <a:lnSpc>
                          <a:spcPts val="900"/>
                        </a:lnSpc>
                        <a:spcBef>
                          <a:spcPts val="45"/>
                        </a:spcBef>
                      </a:pPr>
                      <a:r>
                        <a:rPr dirty="0" sz="800" spc="-20">
                          <a:latin typeface="Microsoft YaHei"/>
                          <a:cs typeface="Microsoft YaHei"/>
                        </a:rPr>
                        <a:t>加载下行</a:t>
                      </a:r>
                      <a:endParaRPr sz="800">
                        <a:latin typeface="Microsoft YaHei"/>
                        <a:cs typeface="Microsoft YaHei"/>
                      </a:endParaRPr>
                    </a:p>
                  </a:txBody>
                  <a:tcPr marL="0" marR="0" marB="0" marT="57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a:txBody>
                    <a:bodyPr/>
                    <a:lstStyle/>
                    <a:p>
                      <a:pPr algn="ctr">
                        <a:lnSpc>
                          <a:spcPts val="900"/>
                        </a:lnSpc>
                        <a:spcBef>
                          <a:spcPts val="45"/>
                        </a:spcBef>
                      </a:pPr>
                      <a:r>
                        <a:rPr dirty="0" sz="800" spc="-20">
                          <a:latin typeface="Microsoft YaHei"/>
                          <a:cs typeface="Microsoft YaHei"/>
                        </a:rPr>
                        <a:t>空载下行</a:t>
                      </a:r>
                      <a:endParaRPr sz="800">
                        <a:latin typeface="Microsoft YaHei"/>
                        <a:cs typeface="Microsoft YaHei"/>
                      </a:endParaRPr>
                    </a:p>
                  </a:txBody>
                  <a:tcPr marL="0" marR="0" marB="0" marT="57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a:txBody>
                    <a:bodyPr/>
                    <a:lstStyle/>
                    <a:p>
                      <a:pPr algn="ctr">
                        <a:lnSpc>
                          <a:spcPts val="900"/>
                        </a:lnSpc>
                        <a:spcBef>
                          <a:spcPts val="45"/>
                        </a:spcBef>
                      </a:pPr>
                      <a:r>
                        <a:rPr dirty="0" sz="800" spc="-20">
                          <a:latin typeface="Microsoft YaHei"/>
                          <a:cs typeface="Microsoft YaHei"/>
                        </a:rPr>
                        <a:t>加载下行</a:t>
                      </a:r>
                      <a:endParaRPr sz="800">
                        <a:latin typeface="Microsoft YaHei"/>
                        <a:cs typeface="Microsoft YaHei"/>
                      </a:endParaRPr>
                    </a:p>
                  </a:txBody>
                  <a:tcPr marL="0" marR="0" marB="0" marT="57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c>
                  <a:txBody>
                    <a:bodyPr/>
                    <a:lstStyle/>
                    <a:p>
                      <a:pPr>
                        <a:lnSpc>
                          <a:spcPct val="100000"/>
                        </a:lnSpc>
                      </a:pPr>
                      <a:endParaRPr sz="7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99CCFF"/>
                    </a:solidFill>
                  </a:tcPr>
                </a:tc>
              </a:tr>
              <a:tr h="132715">
                <a:tc rowSpan="4">
                  <a:txBody>
                    <a:bodyPr/>
                    <a:lstStyle/>
                    <a:p>
                      <a:pPr>
                        <a:lnSpc>
                          <a:spcPct val="100000"/>
                        </a:lnSpc>
                        <a:spcBef>
                          <a:spcPts val="680"/>
                        </a:spcBef>
                      </a:pPr>
                      <a:endParaRPr sz="800">
                        <a:latin typeface="Times New Roman"/>
                        <a:cs typeface="Times New Roman"/>
                      </a:endParaRPr>
                    </a:p>
                    <a:p>
                      <a:pPr algn="ctr">
                        <a:lnSpc>
                          <a:spcPct val="100000"/>
                        </a:lnSpc>
                      </a:pPr>
                      <a:r>
                        <a:rPr dirty="0" sz="800" spc="-30">
                          <a:latin typeface="Microsoft YaHei"/>
                          <a:cs typeface="Microsoft YaHei"/>
                        </a:rPr>
                        <a:t>室外</a:t>
                      </a:r>
                      <a:endParaRPr sz="800">
                        <a:latin typeface="Microsoft YaHei"/>
                        <a:cs typeface="Microsoft YaHei"/>
                      </a:endParaRPr>
                    </a:p>
                  </a:txBody>
                  <a:tcPr marL="0" marR="0" marB="0" marT="8636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5">
                          <a:latin typeface="SimSun"/>
                          <a:cs typeface="SimSun"/>
                        </a:rPr>
                        <a:t>FTP</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5">
                          <a:latin typeface="SimSun"/>
                          <a:cs typeface="SimSun"/>
                        </a:rPr>
                        <a:t>9.6</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5">
                          <a:latin typeface="SimSun"/>
                          <a:cs typeface="SimSun"/>
                        </a:rPr>
                        <a:t>6.1</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12.23</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9.72</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915"/>
                        </a:lnSpc>
                        <a:spcBef>
                          <a:spcPts val="30"/>
                        </a:spcBef>
                      </a:pPr>
                      <a:r>
                        <a:rPr dirty="0" sz="800" spc="-50">
                          <a:latin typeface="SimSun"/>
                          <a:cs typeface="SimSun"/>
                        </a:rPr>
                        <a:t>\</a:t>
                      </a:r>
                      <a:endParaRPr sz="800">
                        <a:latin typeface="SimSun"/>
                        <a:cs typeface="SimSun"/>
                      </a:endParaRPr>
                    </a:p>
                  </a:txBody>
                  <a:tcPr marL="0" marR="0" marB="0" marT="381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32715">
                <a:tc vMerge="1">
                  <a:txBody>
                    <a:bodyPr/>
                    <a:lstStyle/>
                    <a:p>
                      <a:pPr/>
                    </a:p>
                  </a:txBody>
                  <a:tcPr marL="0" marR="0" marB="0" marT="8636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1080P</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9.61</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6.11</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11.16</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8.23</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900"/>
                        </a:lnSpc>
                        <a:spcBef>
                          <a:spcPts val="45"/>
                        </a:spcBef>
                      </a:pPr>
                      <a:r>
                        <a:rPr dirty="0" sz="800" spc="-25">
                          <a:latin typeface="Microsoft YaHei"/>
                          <a:cs typeface="Microsoft YaHei"/>
                        </a:rPr>
                        <a:t>较流畅</a:t>
                      </a:r>
                      <a:endParaRPr sz="800">
                        <a:latin typeface="Microsoft YaHei"/>
                        <a:cs typeface="Microsoft YaHei"/>
                      </a:endParaRPr>
                    </a:p>
                  </a:txBody>
                  <a:tcPr marL="0" marR="0" marB="0" marT="57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32715">
                <a:tc vMerge="1">
                  <a:txBody>
                    <a:bodyPr/>
                    <a:lstStyle/>
                    <a:p>
                      <a:pPr/>
                    </a:p>
                  </a:txBody>
                  <a:tcPr marL="0" marR="0" marB="0" marT="8636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5">
                          <a:latin typeface="SimSun"/>
                          <a:cs typeface="SimSun"/>
                        </a:rPr>
                        <a:t>2K</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11.13</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9.49</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12.75</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9.78</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900"/>
                        </a:lnSpc>
                        <a:spcBef>
                          <a:spcPts val="45"/>
                        </a:spcBef>
                      </a:pPr>
                      <a:r>
                        <a:rPr dirty="0" sz="800" spc="-20">
                          <a:latin typeface="Microsoft YaHei"/>
                          <a:cs typeface="Microsoft YaHei"/>
                        </a:rPr>
                        <a:t>频繁卡顿</a:t>
                      </a:r>
                      <a:endParaRPr sz="800">
                        <a:latin typeface="Microsoft YaHei"/>
                        <a:cs typeface="Microsoft YaHei"/>
                      </a:endParaRPr>
                    </a:p>
                  </a:txBody>
                  <a:tcPr marL="0" marR="0" marB="0" marT="57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32715">
                <a:tc vMerge="1">
                  <a:txBody>
                    <a:bodyPr/>
                    <a:lstStyle/>
                    <a:p>
                      <a:pPr/>
                    </a:p>
                  </a:txBody>
                  <a:tcPr marL="0" marR="0" marB="0" marT="8636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5">
                          <a:latin typeface="SimSun"/>
                          <a:cs typeface="SimSun"/>
                        </a:rPr>
                        <a:t>4K</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10.52</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11.06</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13.79</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11.32</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900"/>
                        </a:lnSpc>
                        <a:spcBef>
                          <a:spcPts val="45"/>
                        </a:spcBef>
                      </a:pPr>
                      <a:r>
                        <a:rPr dirty="0" sz="800" spc="-20">
                          <a:latin typeface="Microsoft YaHei"/>
                          <a:cs typeface="Microsoft YaHei"/>
                        </a:rPr>
                        <a:t>无法观看</a:t>
                      </a:r>
                      <a:endParaRPr sz="800">
                        <a:latin typeface="Microsoft YaHei"/>
                        <a:cs typeface="Microsoft YaHei"/>
                      </a:endParaRPr>
                    </a:p>
                  </a:txBody>
                  <a:tcPr marL="0" marR="0" marB="0" marT="57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32715">
                <a:tc rowSpan="4">
                  <a:txBody>
                    <a:bodyPr/>
                    <a:lstStyle/>
                    <a:p>
                      <a:pPr>
                        <a:lnSpc>
                          <a:spcPct val="100000"/>
                        </a:lnSpc>
                        <a:spcBef>
                          <a:spcPts val="680"/>
                        </a:spcBef>
                      </a:pPr>
                      <a:endParaRPr sz="800">
                        <a:latin typeface="Times New Roman"/>
                        <a:cs typeface="Times New Roman"/>
                      </a:endParaRPr>
                    </a:p>
                    <a:p>
                      <a:pPr algn="ctr">
                        <a:lnSpc>
                          <a:spcPct val="100000"/>
                        </a:lnSpc>
                      </a:pPr>
                      <a:r>
                        <a:rPr dirty="0" sz="800" spc="-30">
                          <a:latin typeface="Microsoft YaHei"/>
                          <a:cs typeface="Microsoft YaHei"/>
                        </a:rPr>
                        <a:t>室内</a:t>
                      </a:r>
                      <a:endParaRPr sz="800">
                        <a:latin typeface="Microsoft YaHei"/>
                        <a:cs typeface="Microsoft YaHei"/>
                      </a:endParaRPr>
                    </a:p>
                  </a:txBody>
                  <a:tcPr marL="0" marR="0" marB="0" marT="8636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5">
                          <a:latin typeface="SimSun"/>
                          <a:cs typeface="SimSun"/>
                        </a:rPr>
                        <a:t>FTP</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9.03</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9.37</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12.33</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8.82</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915"/>
                        </a:lnSpc>
                        <a:spcBef>
                          <a:spcPts val="30"/>
                        </a:spcBef>
                      </a:pPr>
                      <a:r>
                        <a:rPr dirty="0" sz="800" spc="-50">
                          <a:latin typeface="SimSun"/>
                          <a:cs typeface="SimSun"/>
                        </a:rPr>
                        <a:t>\</a:t>
                      </a:r>
                      <a:endParaRPr sz="800">
                        <a:latin typeface="SimSun"/>
                        <a:cs typeface="SimSun"/>
                      </a:endParaRPr>
                    </a:p>
                  </a:txBody>
                  <a:tcPr marL="0" marR="0" marB="0" marT="381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32715">
                <a:tc vMerge="1">
                  <a:txBody>
                    <a:bodyPr/>
                    <a:lstStyle/>
                    <a:p>
                      <a:pPr/>
                    </a:p>
                  </a:txBody>
                  <a:tcPr marL="0" marR="0" marB="0" marT="8636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1080P</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9.54</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9.44</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13.25</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10.16</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900"/>
                        </a:lnSpc>
                        <a:spcBef>
                          <a:spcPts val="45"/>
                        </a:spcBef>
                      </a:pPr>
                      <a:r>
                        <a:rPr dirty="0" sz="800" spc="-25">
                          <a:latin typeface="Microsoft YaHei"/>
                          <a:cs typeface="Microsoft YaHei"/>
                        </a:rPr>
                        <a:t>较流畅</a:t>
                      </a:r>
                      <a:endParaRPr sz="800">
                        <a:latin typeface="Microsoft YaHei"/>
                        <a:cs typeface="Microsoft YaHei"/>
                      </a:endParaRPr>
                    </a:p>
                  </a:txBody>
                  <a:tcPr marL="0" marR="0" marB="0" marT="57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32715">
                <a:tc vMerge="1">
                  <a:txBody>
                    <a:bodyPr/>
                    <a:lstStyle/>
                    <a:p>
                      <a:pPr/>
                    </a:p>
                  </a:txBody>
                  <a:tcPr marL="0" marR="0" marB="0" marT="8636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5">
                          <a:latin typeface="SimSun"/>
                          <a:cs typeface="SimSun"/>
                        </a:rPr>
                        <a:t>2K</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9.87</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11.07</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12.92</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5">
                          <a:latin typeface="SimSun"/>
                          <a:cs typeface="SimSun"/>
                        </a:rPr>
                        <a:t>9.9</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900"/>
                        </a:lnSpc>
                        <a:spcBef>
                          <a:spcPts val="45"/>
                        </a:spcBef>
                      </a:pPr>
                      <a:r>
                        <a:rPr dirty="0" sz="800" spc="-20">
                          <a:latin typeface="Microsoft YaHei"/>
                          <a:cs typeface="Microsoft YaHei"/>
                        </a:rPr>
                        <a:t>频繁卡顿</a:t>
                      </a:r>
                      <a:endParaRPr sz="800">
                        <a:latin typeface="Microsoft YaHei"/>
                        <a:cs typeface="Microsoft YaHei"/>
                      </a:endParaRPr>
                    </a:p>
                  </a:txBody>
                  <a:tcPr marL="0" marR="0" marB="0" marT="57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32715">
                <a:tc vMerge="1">
                  <a:txBody>
                    <a:bodyPr/>
                    <a:lstStyle/>
                    <a:p>
                      <a:pPr/>
                    </a:p>
                  </a:txBody>
                  <a:tcPr marL="0" marR="0" marB="0" marT="8636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5">
                          <a:latin typeface="SimSun"/>
                          <a:cs typeface="SimSun"/>
                        </a:rPr>
                        <a:t>4K</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10.52</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11.06</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10">
                          <a:latin typeface="SimSun"/>
                          <a:cs typeface="SimSun"/>
                        </a:rPr>
                        <a:t>14.08</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850"/>
                        </a:lnSpc>
                        <a:spcBef>
                          <a:spcPts val="95"/>
                        </a:spcBef>
                      </a:pPr>
                      <a:r>
                        <a:rPr dirty="0" sz="800" spc="-20">
                          <a:latin typeface="SimSun"/>
                          <a:cs typeface="SimSun"/>
                        </a:rPr>
                        <a:t>11.3</a:t>
                      </a:r>
                      <a:endParaRPr sz="800">
                        <a:latin typeface="SimSun"/>
                        <a:cs typeface="SimSun"/>
                      </a:endParaRPr>
                    </a:p>
                  </a:txBody>
                  <a:tcPr marL="0" marR="0" marB="0" marT="1206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900"/>
                        </a:lnSpc>
                        <a:spcBef>
                          <a:spcPts val="45"/>
                        </a:spcBef>
                      </a:pPr>
                      <a:r>
                        <a:rPr dirty="0" sz="800" spc="-20">
                          <a:latin typeface="Microsoft YaHei"/>
                          <a:cs typeface="Microsoft YaHei"/>
                        </a:rPr>
                        <a:t>无法观看</a:t>
                      </a:r>
                      <a:endParaRPr sz="800">
                        <a:latin typeface="Microsoft YaHei"/>
                        <a:cs typeface="Microsoft YaHei"/>
                      </a:endParaRPr>
                    </a:p>
                  </a:txBody>
                  <a:tcPr marL="0" marR="0" marB="0" marT="571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2420" y="124049"/>
            <a:ext cx="3413760" cy="513080"/>
          </a:xfrm>
          <a:prstGeom prst="rect"/>
        </p:spPr>
        <p:txBody>
          <a:bodyPr wrap="square" lIns="0" tIns="12065" rIns="0" bIns="0" rtlCol="0" vert="horz">
            <a:spAutoFit/>
          </a:bodyPr>
          <a:lstStyle/>
          <a:p>
            <a:pPr marL="12700">
              <a:lnSpc>
                <a:spcPct val="100000"/>
              </a:lnSpc>
              <a:spcBef>
                <a:spcPts val="95"/>
              </a:spcBef>
            </a:pPr>
            <a:r>
              <a:rPr dirty="0" spc="-80"/>
              <a:t>无线测试-室内覆盖</a:t>
            </a:r>
          </a:p>
        </p:txBody>
      </p:sp>
      <p:grpSp>
        <p:nvGrpSpPr>
          <p:cNvPr id="3" name="object 3" descr=""/>
          <p:cNvGrpSpPr/>
          <p:nvPr/>
        </p:nvGrpSpPr>
        <p:grpSpPr>
          <a:xfrm>
            <a:off x="1188622" y="3031070"/>
            <a:ext cx="7512050" cy="1905000"/>
            <a:chOff x="1188622" y="3031070"/>
            <a:chExt cx="7512050" cy="1905000"/>
          </a:xfrm>
        </p:grpSpPr>
        <p:pic>
          <p:nvPicPr>
            <p:cNvPr id="4" name="object 4"/>
            <p:cNvPicPr/>
            <p:nvPr/>
          </p:nvPicPr>
          <p:blipFill>
            <a:blip r:embed="rId2" cstate="print"/>
            <a:stretch>
              <a:fillRect/>
            </a:stretch>
          </p:blipFill>
          <p:spPr>
            <a:xfrm>
              <a:off x="6200546" y="3086320"/>
              <a:ext cx="2499941" cy="1849509"/>
            </a:xfrm>
            <a:prstGeom prst="rect">
              <a:avLst/>
            </a:prstGeom>
          </p:spPr>
        </p:pic>
        <p:pic>
          <p:nvPicPr>
            <p:cNvPr id="5" name="object 5"/>
            <p:cNvPicPr/>
            <p:nvPr/>
          </p:nvPicPr>
          <p:blipFill>
            <a:blip r:embed="rId3" cstate="print"/>
            <a:stretch>
              <a:fillRect/>
            </a:stretch>
          </p:blipFill>
          <p:spPr>
            <a:xfrm>
              <a:off x="1188622" y="3031070"/>
              <a:ext cx="2423230" cy="1864778"/>
            </a:xfrm>
            <a:prstGeom prst="rect">
              <a:avLst/>
            </a:prstGeom>
          </p:spPr>
        </p:pic>
      </p:grpSp>
      <p:sp>
        <p:nvSpPr>
          <p:cNvPr id="6" name="object 6" descr=""/>
          <p:cNvSpPr txBox="1"/>
          <p:nvPr/>
        </p:nvSpPr>
        <p:spPr>
          <a:xfrm>
            <a:off x="55880" y="761492"/>
            <a:ext cx="545401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SimSun"/>
                <a:cs typeface="SimSun"/>
              </a:rPr>
              <a:t>室外覆盖室内共选择</a:t>
            </a:r>
            <a:r>
              <a:rPr dirty="0" sz="1400">
                <a:latin typeface="Arial MT"/>
                <a:cs typeface="Arial MT"/>
              </a:rPr>
              <a:t>4</a:t>
            </a:r>
            <a:r>
              <a:rPr dirty="0" sz="1400" spc="-25">
                <a:latin typeface="SimSun"/>
                <a:cs typeface="SimSun"/>
              </a:rPr>
              <a:t>座楼宇作为测试场景，涵盖典型写字楼和住宅楼</a:t>
            </a:r>
            <a:endParaRPr sz="1400">
              <a:latin typeface="SimSun"/>
              <a:cs typeface="SimSun"/>
            </a:endParaRPr>
          </a:p>
        </p:txBody>
      </p:sp>
      <p:grpSp>
        <p:nvGrpSpPr>
          <p:cNvPr id="7" name="object 7" descr=""/>
          <p:cNvGrpSpPr/>
          <p:nvPr/>
        </p:nvGrpSpPr>
        <p:grpSpPr>
          <a:xfrm>
            <a:off x="142275" y="1690128"/>
            <a:ext cx="2407285" cy="328930"/>
            <a:chOff x="142275" y="1690128"/>
            <a:chExt cx="2407285" cy="328930"/>
          </a:xfrm>
        </p:grpSpPr>
        <p:sp>
          <p:nvSpPr>
            <p:cNvPr id="8" name="object 8" descr=""/>
            <p:cNvSpPr/>
            <p:nvPr/>
          </p:nvSpPr>
          <p:spPr>
            <a:xfrm>
              <a:off x="154975" y="1702828"/>
              <a:ext cx="2381885" cy="303530"/>
            </a:xfrm>
            <a:custGeom>
              <a:avLst/>
              <a:gdLst/>
              <a:ahLst/>
              <a:cxnLst/>
              <a:rect l="l" t="t" r="r" b="b"/>
              <a:pathLst>
                <a:path w="2381885" h="303530">
                  <a:moveTo>
                    <a:pt x="2330945" y="0"/>
                  </a:moveTo>
                  <a:lnTo>
                    <a:pt x="50558" y="0"/>
                  </a:lnTo>
                  <a:lnTo>
                    <a:pt x="30877" y="3972"/>
                  </a:lnTo>
                  <a:lnTo>
                    <a:pt x="14806" y="14806"/>
                  </a:lnTo>
                  <a:lnTo>
                    <a:pt x="3972" y="30877"/>
                  </a:lnTo>
                  <a:lnTo>
                    <a:pt x="0" y="50558"/>
                  </a:lnTo>
                  <a:lnTo>
                    <a:pt x="0" y="252793"/>
                  </a:lnTo>
                  <a:lnTo>
                    <a:pt x="3972" y="272477"/>
                  </a:lnTo>
                  <a:lnTo>
                    <a:pt x="14806" y="288551"/>
                  </a:lnTo>
                  <a:lnTo>
                    <a:pt x="30877" y="299390"/>
                  </a:lnTo>
                  <a:lnTo>
                    <a:pt x="50558" y="303364"/>
                  </a:lnTo>
                  <a:lnTo>
                    <a:pt x="2330945" y="303364"/>
                  </a:lnTo>
                  <a:lnTo>
                    <a:pt x="2350621" y="299390"/>
                  </a:lnTo>
                  <a:lnTo>
                    <a:pt x="2366692" y="288551"/>
                  </a:lnTo>
                  <a:lnTo>
                    <a:pt x="2377529" y="272477"/>
                  </a:lnTo>
                  <a:lnTo>
                    <a:pt x="2381504" y="252793"/>
                  </a:lnTo>
                  <a:lnTo>
                    <a:pt x="2381504" y="50558"/>
                  </a:lnTo>
                  <a:lnTo>
                    <a:pt x="2377529" y="30877"/>
                  </a:lnTo>
                  <a:lnTo>
                    <a:pt x="2366692" y="14806"/>
                  </a:lnTo>
                  <a:lnTo>
                    <a:pt x="2350621" y="3972"/>
                  </a:lnTo>
                  <a:lnTo>
                    <a:pt x="2330945" y="0"/>
                  </a:lnTo>
                  <a:close/>
                </a:path>
              </a:pathLst>
            </a:custGeom>
            <a:solidFill>
              <a:srgbClr val="BBE0E3"/>
            </a:solidFill>
          </p:spPr>
          <p:txBody>
            <a:bodyPr wrap="square" lIns="0" tIns="0" rIns="0" bIns="0" rtlCol="0"/>
            <a:lstStyle/>
            <a:p/>
          </p:txBody>
        </p:sp>
        <p:sp>
          <p:nvSpPr>
            <p:cNvPr id="9" name="object 9" descr=""/>
            <p:cNvSpPr/>
            <p:nvPr/>
          </p:nvSpPr>
          <p:spPr>
            <a:xfrm>
              <a:off x="154975" y="1702828"/>
              <a:ext cx="2381885" cy="303530"/>
            </a:xfrm>
            <a:custGeom>
              <a:avLst/>
              <a:gdLst/>
              <a:ahLst/>
              <a:cxnLst/>
              <a:rect l="l" t="t" r="r" b="b"/>
              <a:pathLst>
                <a:path w="2381885" h="303530">
                  <a:moveTo>
                    <a:pt x="0" y="50558"/>
                  </a:moveTo>
                  <a:lnTo>
                    <a:pt x="3972" y="30877"/>
                  </a:lnTo>
                  <a:lnTo>
                    <a:pt x="14806" y="14806"/>
                  </a:lnTo>
                  <a:lnTo>
                    <a:pt x="30877" y="3972"/>
                  </a:lnTo>
                  <a:lnTo>
                    <a:pt x="50558" y="0"/>
                  </a:lnTo>
                  <a:lnTo>
                    <a:pt x="2330945" y="0"/>
                  </a:lnTo>
                  <a:lnTo>
                    <a:pt x="2350621" y="3972"/>
                  </a:lnTo>
                  <a:lnTo>
                    <a:pt x="2366692" y="14806"/>
                  </a:lnTo>
                  <a:lnTo>
                    <a:pt x="2377529" y="30877"/>
                  </a:lnTo>
                  <a:lnTo>
                    <a:pt x="2381504" y="50558"/>
                  </a:lnTo>
                  <a:lnTo>
                    <a:pt x="2381504" y="252793"/>
                  </a:lnTo>
                  <a:lnTo>
                    <a:pt x="2377529" y="272477"/>
                  </a:lnTo>
                  <a:lnTo>
                    <a:pt x="2366692" y="288551"/>
                  </a:lnTo>
                  <a:lnTo>
                    <a:pt x="2350621" y="299390"/>
                  </a:lnTo>
                  <a:lnTo>
                    <a:pt x="2330945" y="303364"/>
                  </a:lnTo>
                  <a:lnTo>
                    <a:pt x="50558" y="303364"/>
                  </a:lnTo>
                  <a:lnTo>
                    <a:pt x="30877" y="299390"/>
                  </a:lnTo>
                  <a:lnTo>
                    <a:pt x="14806" y="288551"/>
                  </a:lnTo>
                  <a:lnTo>
                    <a:pt x="3972" y="272477"/>
                  </a:lnTo>
                  <a:lnTo>
                    <a:pt x="0" y="252793"/>
                  </a:lnTo>
                  <a:lnTo>
                    <a:pt x="0" y="50558"/>
                  </a:lnTo>
                  <a:close/>
                </a:path>
              </a:pathLst>
            </a:custGeom>
            <a:ln w="25399">
              <a:solidFill>
                <a:srgbClr val="89A4A7"/>
              </a:solidFill>
            </a:ln>
          </p:spPr>
          <p:txBody>
            <a:bodyPr wrap="square" lIns="0" tIns="0" rIns="0" bIns="0" rtlCol="0"/>
            <a:lstStyle/>
            <a:p/>
          </p:txBody>
        </p:sp>
      </p:grpSp>
      <p:sp>
        <p:nvSpPr>
          <p:cNvPr id="10" name="object 10" descr=""/>
          <p:cNvSpPr txBox="1"/>
          <p:nvPr/>
        </p:nvSpPr>
        <p:spPr>
          <a:xfrm>
            <a:off x="356650" y="1732080"/>
            <a:ext cx="1978660" cy="238760"/>
          </a:xfrm>
          <a:prstGeom prst="rect">
            <a:avLst/>
          </a:prstGeom>
        </p:spPr>
        <p:txBody>
          <a:bodyPr wrap="square" lIns="0" tIns="12065" rIns="0" bIns="0" rtlCol="0" vert="horz">
            <a:spAutoFit/>
          </a:bodyPr>
          <a:lstStyle/>
          <a:p>
            <a:pPr marL="12700">
              <a:lnSpc>
                <a:spcPct val="100000"/>
              </a:lnSpc>
              <a:spcBef>
                <a:spcPts val="95"/>
              </a:spcBef>
            </a:pPr>
            <a:r>
              <a:rPr dirty="0" sz="1400" spc="-25">
                <a:solidFill>
                  <a:srgbClr val="FFFFFF"/>
                </a:solidFill>
                <a:latin typeface="SimSun"/>
                <a:cs typeface="SimSun"/>
              </a:rPr>
              <a:t>腾睿大厦典型写字楼场景</a:t>
            </a:r>
            <a:endParaRPr sz="1400">
              <a:latin typeface="SimSun"/>
              <a:cs typeface="SimSun"/>
            </a:endParaRPr>
          </a:p>
        </p:txBody>
      </p:sp>
      <p:pic>
        <p:nvPicPr>
          <p:cNvPr id="11" name="object 11"/>
          <p:cNvPicPr/>
          <p:nvPr/>
        </p:nvPicPr>
        <p:blipFill>
          <a:blip r:embed="rId4" cstate="print"/>
          <a:stretch>
            <a:fillRect/>
          </a:stretch>
        </p:blipFill>
        <p:spPr>
          <a:xfrm>
            <a:off x="3090443" y="981113"/>
            <a:ext cx="1721950" cy="2074446"/>
          </a:xfrm>
          <a:prstGeom prst="rect">
            <a:avLst/>
          </a:prstGeom>
        </p:spPr>
      </p:pic>
      <p:sp>
        <p:nvSpPr>
          <p:cNvPr id="12" name="object 12" descr=""/>
          <p:cNvSpPr txBox="1"/>
          <p:nvPr/>
        </p:nvSpPr>
        <p:spPr>
          <a:xfrm>
            <a:off x="3105838" y="2598129"/>
            <a:ext cx="1549400" cy="391160"/>
          </a:xfrm>
          <a:prstGeom prst="rect">
            <a:avLst/>
          </a:prstGeom>
        </p:spPr>
        <p:txBody>
          <a:bodyPr wrap="square" lIns="0" tIns="12700" rIns="0" bIns="0" rtlCol="0" vert="horz">
            <a:spAutoFit/>
          </a:bodyPr>
          <a:lstStyle/>
          <a:p>
            <a:pPr marL="12700">
              <a:lnSpc>
                <a:spcPct val="100000"/>
              </a:lnSpc>
              <a:spcBef>
                <a:spcPts val="100"/>
              </a:spcBef>
            </a:pPr>
            <a:r>
              <a:rPr dirty="0" sz="1200" spc="-15">
                <a:solidFill>
                  <a:srgbClr val="FF0000"/>
                </a:solidFill>
                <a:latin typeface="SimSun"/>
                <a:cs typeface="SimSun"/>
              </a:rPr>
              <a:t>腾睿大厦</a:t>
            </a:r>
            <a:endParaRPr sz="1200">
              <a:latin typeface="SimSun"/>
              <a:cs typeface="SimSun"/>
            </a:endParaRPr>
          </a:p>
          <a:p>
            <a:pPr marL="12700">
              <a:lnSpc>
                <a:spcPct val="100000"/>
              </a:lnSpc>
            </a:pPr>
            <a:r>
              <a:rPr dirty="0" sz="1200" spc="-5">
                <a:solidFill>
                  <a:srgbClr val="FF0000"/>
                </a:solidFill>
                <a:latin typeface="SimSun"/>
                <a:cs typeface="SimSun"/>
              </a:rPr>
              <a:t>三层与天线距离及角度</a:t>
            </a:r>
            <a:endParaRPr sz="1200">
              <a:latin typeface="SimSun"/>
              <a:cs typeface="SimSun"/>
            </a:endParaRPr>
          </a:p>
        </p:txBody>
      </p:sp>
      <p:grpSp>
        <p:nvGrpSpPr>
          <p:cNvPr id="13" name="object 13" descr=""/>
          <p:cNvGrpSpPr/>
          <p:nvPr/>
        </p:nvGrpSpPr>
        <p:grpSpPr>
          <a:xfrm>
            <a:off x="4885197" y="986205"/>
            <a:ext cx="3531235" cy="2074545"/>
            <a:chOff x="4885197" y="986205"/>
            <a:chExt cx="3531235" cy="2074545"/>
          </a:xfrm>
        </p:grpSpPr>
        <p:pic>
          <p:nvPicPr>
            <p:cNvPr id="14" name="object 14"/>
            <p:cNvPicPr/>
            <p:nvPr/>
          </p:nvPicPr>
          <p:blipFill>
            <a:blip r:embed="rId5" cstate="print"/>
            <a:stretch>
              <a:fillRect/>
            </a:stretch>
          </p:blipFill>
          <p:spPr>
            <a:xfrm>
              <a:off x="4885197" y="986205"/>
              <a:ext cx="1721950" cy="2069350"/>
            </a:xfrm>
            <a:prstGeom prst="rect">
              <a:avLst/>
            </a:prstGeom>
          </p:spPr>
        </p:pic>
        <p:pic>
          <p:nvPicPr>
            <p:cNvPr id="15" name="object 15"/>
            <p:cNvPicPr/>
            <p:nvPr/>
          </p:nvPicPr>
          <p:blipFill>
            <a:blip r:embed="rId6" cstate="print"/>
            <a:stretch>
              <a:fillRect/>
            </a:stretch>
          </p:blipFill>
          <p:spPr>
            <a:xfrm>
              <a:off x="6694398" y="986205"/>
              <a:ext cx="1721945" cy="2074443"/>
            </a:xfrm>
            <a:prstGeom prst="rect">
              <a:avLst/>
            </a:prstGeom>
          </p:spPr>
        </p:pic>
      </p:grpSp>
      <p:sp>
        <p:nvSpPr>
          <p:cNvPr id="16" name="object 16" descr=""/>
          <p:cNvSpPr txBox="1"/>
          <p:nvPr/>
        </p:nvSpPr>
        <p:spPr>
          <a:xfrm>
            <a:off x="4956064" y="2587570"/>
            <a:ext cx="1549400" cy="391160"/>
          </a:xfrm>
          <a:prstGeom prst="rect">
            <a:avLst/>
          </a:prstGeom>
        </p:spPr>
        <p:txBody>
          <a:bodyPr wrap="square" lIns="0" tIns="12700" rIns="0" bIns="0" rtlCol="0" vert="horz">
            <a:spAutoFit/>
          </a:bodyPr>
          <a:lstStyle/>
          <a:p>
            <a:pPr marL="12700">
              <a:lnSpc>
                <a:spcPct val="100000"/>
              </a:lnSpc>
              <a:spcBef>
                <a:spcPts val="100"/>
              </a:spcBef>
            </a:pPr>
            <a:r>
              <a:rPr dirty="0" sz="1200" spc="-15">
                <a:solidFill>
                  <a:srgbClr val="FF0000"/>
                </a:solidFill>
                <a:latin typeface="SimSun"/>
                <a:cs typeface="SimSun"/>
              </a:rPr>
              <a:t>腾睿大厦</a:t>
            </a:r>
            <a:endParaRPr sz="1200">
              <a:latin typeface="SimSun"/>
              <a:cs typeface="SimSun"/>
            </a:endParaRPr>
          </a:p>
          <a:p>
            <a:pPr marL="12700">
              <a:lnSpc>
                <a:spcPct val="100000"/>
              </a:lnSpc>
            </a:pPr>
            <a:r>
              <a:rPr dirty="0" sz="1200" spc="-5">
                <a:solidFill>
                  <a:srgbClr val="FF0000"/>
                </a:solidFill>
                <a:latin typeface="SimSun"/>
                <a:cs typeface="SimSun"/>
              </a:rPr>
              <a:t>七层与天线距离及角度</a:t>
            </a:r>
            <a:endParaRPr sz="1200">
              <a:latin typeface="SimSun"/>
              <a:cs typeface="SimSun"/>
            </a:endParaRPr>
          </a:p>
        </p:txBody>
      </p:sp>
      <p:sp>
        <p:nvSpPr>
          <p:cNvPr id="17" name="object 17" descr=""/>
          <p:cNvSpPr txBox="1"/>
          <p:nvPr/>
        </p:nvSpPr>
        <p:spPr>
          <a:xfrm>
            <a:off x="6729238" y="2594885"/>
            <a:ext cx="1701800" cy="391160"/>
          </a:xfrm>
          <a:prstGeom prst="rect">
            <a:avLst/>
          </a:prstGeom>
        </p:spPr>
        <p:txBody>
          <a:bodyPr wrap="square" lIns="0" tIns="12700" rIns="0" bIns="0" rtlCol="0" vert="horz">
            <a:spAutoFit/>
          </a:bodyPr>
          <a:lstStyle/>
          <a:p>
            <a:pPr marL="12700">
              <a:lnSpc>
                <a:spcPct val="100000"/>
              </a:lnSpc>
              <a:spcBef>
                <a:spcPts val="100"/>
              </a:spcBef>
            </a:pPr>
            <a:r>
              <a:rPr dirty="0" sz="1200" spc="-15">
                <a:solidFill>
                  <a:srgbClr val="FF0000"/>
                </a:solidFill>
                <a:latin typeface="SimSun"/>
                <a:cs typeface="SimSun"/>
              </a:rPr>
              <a:t>腾睿大厦</a:t>
            </a:r>
            <a:endParaRPr sz="1200">
              <a:latin typeface="SimSun"/>
              <a:cs typeface="SimSun"/>
            </a:endParaRPr>
          </a:p>
          <a:p>
            <a:pPr marL="12700">
              <a:lnSpc>
                <a:spcPct val="100000"/>
              </a:lnSpc>
            </a:pPr>
            <a:r>
              <a:rPr dirty="0" sz="1200" spc="-5">
                <a:solidFill>
                  <a:srgbClr val="FF0000"/>
                </a:solidFill>
                <a:latin typeface="SimSun"/>
                <a:cs typeface="SimSun"/>
              </a:rPr>
              <a:t>十二层与天线距离及角度</a:t>
            </a:r>
            <a:endParaRPr sz="1200">
              <a:latin typeface="SimSun"/>
              <a:cs typeface="SimSun"/>
            </a:endParaRPr>
          </a:p>
        </p:txBody>
      </p:sp>
      <p:pic>
        <p:nvPicPr>
          <p:cNvPr id="18" name="object 18"/>
          <p:cNvPicPr/>
          <p:nvPr/>
        </p:nvPicPr>
        <p:blipFill>
          <a:blip r:embed="rId7" cstate="print"/>
          <a:stretch>
            <a:fillRect/>
          </a:stretch>
        </p:blipFill>
        <p:spPr>
          <a:xfrm>
            <a:off x="3688575" y="3069170"/>
            <a:ext cx="2423223" cy="1864778"/>
          </a:xfrm>
          <a:prstGeom prst="rect">
            <a:avLst/>
          </a:prstGeom>
        </p:spPr>
      </p:pic>
      <p:sp>
        <p:nvSpPr>
          <p:cNvPr id="19" name="object 19" descr=""/>
          <p:cNvSpPr txBox="1"/>
          <p:nvPr/>
        </p:nvSpPr>
        <p:spPr>
          <a:xfrm>
            <a:off x="1284194" y="3555080"/>
            <a:ext cx="635000" cy="391160"/>
          </a:xfrm>
          <a:prstGeom prst="rect">
            <a:avLst/>
          </a:prstGeom>
        </p:spPr>
        <p:txBody>
          <a:bodyPr wrap="square" lIns="0" tIns="12700" rIns="0" bIns="0" rtlCol="0" vert="horz">
            <a:spAutoFit/>
          </a:bodyPr>
          <a:lstStyle/>
          <a:p>
            <a:pPr marL="12700" marR="5080">
              <a:lnSpc>
                <a:spcPct val="100000"/>
              </a:lnSpc>
              <a:spcBef>
                <a:spcPts val="100"/>
              </a:spcBef>
            </a:pPr>
            <a:r>
              <a:rPr dirty="0" sz="1200" spc="-15">
                <a:solidFill>
                  <a:srgbClr val="FF0000"/>
                </a:solidFill>
                <a:latin typeface="SimSun"/>
                <a:cs typeface="SimSun"/>
              </a:rPr>
              <a:t>腾睿大厦</a:t>
            </a:r>
            <a:r>
              <a:rPr dirty="0" sz="1200" spc="-25">
                <a:solidFill>
                  <a:srgbClr val="FF0000"/>
                </a:solidFill>
                <a:latin typeface="SimSun"/>
                <a:cs typeface="SimSun"/>
              </a:rPr>
              <a:t>三层</a:t>
            </a:r>
            <a:endParaRPr sz="1200">
              <a:latin typeface="SimSun"/>
              <a:cs typeface="SimSun"/>
            </a:endParaRPr>
          </a:p>
        </p:txBody>
      </p:sp>
      <p:sp>
        <p:nvSpPr>
          <p:cNvPr id="20" name="object 20" descr=""/>
          <p:cNvSpPr txBox="1"/>
          <p:nvPr/>
        </p:nvSpPr>
        <p:spPr>
          <a:xfrm>
            <a:off x="3689676" y="3555080"/>
            <a:ext cx="635000" cy="391160"/>
          </a:xfrm>
          <a:prstGeom prst="rect">
            <a:avLst/>
          </a:prstGeom>
        </p:spPr>
        <p:txBody>
          <a:bodyPr wrap="square" lIns="0" tIns="12700" rIns="0" bIns="0" rtlCol="0" vert="horz">
            <a:spAutoFit/>
          </a:bodyPr>
          <a:lstStyle/>
          <a:p>
            <a:pPr marL="12700" marR="5080">
              <a:lnSpc>
                <a:spcPct val="100000"/>
              </a:lnSpc>
              <a:spcBef>
                <a:spcPts val="100"/>
              </a:spcBef>
            </a:pPr>
            <a:r>
              <a:rPr dirty="0" sz="1200" spc="-15">
                <a:solidFill>
                  <a:srgbClr val="FF0000"/>
                </a:solidFill>
                <a:latin typeface="SimSun"/>
                <a:cs typeface="SimSun"/>
              </a:rPr>
              <a:t>腾睿大厦</a:t>
            </a:r>
            <a:r>
              <a:rPr dirty="0" sz="1200" spc="-25">
                <a:solidFill>
                  <a:srgbClr val="FF0000"/>
                </a:solidFill>
                <a:latin typeface="SimSun"/>
                <a:cs typeface="SimSun"/>
              </a:rPr>
              <a:t>七层</a:t>
            </a:r>
            <a:endParaRPr sz="1200">
              <a:latin typeface="SimSun"/>
              <a:cs typeface="SimSun"/>
            </a:endParaRPr>
          </a:p>
        </p:txBody>
      </p:sp>
      <p:sp>
        <p:nvSpPr>
          <p:cNvPr id="21" name="object 21" descr=""/>
          <p:cNvSpPr txBox="1"/>
          <p:nvPr/>
        </p:nvSpPr>
        <p:spPr>
          <a:xfrm>
            <a:off x="6256549" y="3535421"/>
            <a:ext cx="635000" cy="391160"/>
          </a:xfrm>
          <a:prstGeom prst="rect">
            <a:avLst/>
          </a:prstGeom>
        </p:spPr>
        <p:txBody>
          <a:bodyPr wrap="square" lIns="0" tIns="12700" rIns="0" bIns="0" rtlCol="0" vert="horz">
            <a:spAutoFit/>
          </a:bodyPr>
          <a:lstStyle/>
          <a:p>
            <a:pPr marL="12700" marR="5080">
              <a:lnSpc>
                <a:spcPct val="100000"/>
              </a:lnSpc>
              <a:spcBef>
                <a:spcPts val="100"/>
              </a:spcBef>
            </a:pPr>
            <a:r>
              <a:rPr dirty="0" sz="1200" spc="-15">
                <a:solidFill>
                  <a:srgbClr val="FF0000"/>
                </a:solidFill>
                <a:latin typeface="SimSun"/>
                <a:cs typeface="SimSun"/>
              </a:rPr>
              <a:t>腾睿大厦</a:t>
            </a:r>
            <a:r>
              <a:rPr dirty="0" sz="1200" spc="-20">
                <a:solidFill>
                  <a:srgbClr val="FF0000"/>
                </a:solidFill>
                <a:latin typeface="SimSun"/>
                <a:cs typeface="SimSun"/>
              </a:rPr>
              <a:t>十二层</a:t>
            </a:r>
            <a:endParaRPr sz="1200">
              <a:latin typeface="SimSun"/>
              <a:cs typeface="SimSun"/>
            </a:endParaRPr>
          </a:p>
        </p:txBody>
      </p:sp>
      <p:sp>
        <p:nvSpPr>
          <p:cNvPr id="22" name="object 22" descr=""/>
          <p:cNvSpPr/>
          <p:nvPr/>
        </p:nvSpPr>
        <p:spPr>
          <a:xfrm>
            <a:off x="154975" y="2043224"/>
            <a:ext cx="0" cy="539115"/>
          </a:xfrm>
          <a:custGeom>
            <a:avLst/>
            <a:gdLst/>
            <a:ahLst/>
            <a:cxnLst/>
            <a:rect l="l" t="t" r="r" b="b"/>
            <a:pathLst>
              <a:path w="0" h="539114">
                <a:moveTo>
                  <a:pt x="0" y="0"/>
                </a:moveTo>
                <a:lnTo>
                  <a:pt x="0" y="538772"/>
                </a:lnTo>
              </a:path>
            </a:pathLst>
          </a:custGeom>
          <a:ln w="12700">
            <a:solidFill>
              <a:srgbClr val="000000"/>
            </a:solidFill>
          </a:ln>
        </p:spPr>
        <p:txBody>
          <a:bodyPr wrap="square" lIns="0" tIns="0" rIns="0" bIns="0" rtlCol="0"/>
          <a:lstStyle/>
          <a:p/>
        </p:txBody>
      </p:sp>
      <p:graphicFrame>
        <p:nvGraphicFramePr>
          <p:cNvPr id="23" name="object 23" descr=""/>
          <p:cNvGraphicFramePr>
            <a:graphicFrameLocks noGrp="1"/>
          </p:cNvGraphicFramePr>
          <p:nvPr/>
        </p:nvGraphicFramePr>
        <p:xfrm>
          <a:off x="142275" y="2043224"/>
          <a:ext cx="2801620" cy="528320"/>
        </p:xfrm>
        <a:graphic>
          <a:graphicData uri="http://schemas.openxmlformats.org/drawingml/2006/table">
            <a:tbl>
              <a:tblPr firstRow="1" bandRow="1">
                <a:tableStyleId>{2D5ABB26-0587-4C30-8999-92F81FD0307C}</a:tableStyleId>
              </a:tblPr>
              <a:tblGrid>
                <a:gridCol w="552450"/>
                <a:gridCol w="522605"/>
                <a:gridCol w="487044"/>
                <a:gridCol w="561975"/>
                <a:gridCol w="589280"/>
              </a:tblGrid>
              <a:tr h="140970">
                <a:tc gridSpan="5">
                  <a:txBody>
                    <a:bodyPr/>
                    <a:lstStyle/>
                    <a:p>
                      <a:pPr algn="ctr" marL="6350">
                        <a:lnSpc>
                          <a:spcPts val="960"/>
                        </a:lnSpc>
                        <a:spcBef>
                          <a:spcPts val="50"/>
                        </a:spcBef>
                      </a:pPr>
                      <a:r>
                        <a:rPr dirty="0" sz="900" spc="-15">
                          <a:latin typeface="SimSun"/>
                          <a:cs typeface="SimSun"/>
                        </a:rPr>
                        <a:t>工参信息</a:t>
                      </a:r>
                      <a:endParaRPr sz="900">
                        <a:latin typeface="SimSun"/>
                        <a:cs typeface="SimSun"/>
                      </a:endParaRPr>
                    </a:p>
                  </a:txBody>
                  <a:tcPr marL="0" marR="0" marB="0" marT="6350">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201295">
                <a:tc>
                  <a:txBody>
                    <a:bodyPr/>
                    <a:lstStyle/>
                    <a:p>
                      <a:pPr algn="ctr" marL="5080">
                        <a:lnSpc>
                          <a:spcPts val="960"/>
                        </a:lnSpc>
                        <a:spcBef>
                          <a:spcPts val="520"/>
                        </a:spcBef>
                      </a:pPr>
                      <a:r>
                        <a:rPr dirty="0" sz="900" spc="-25">
                          <a:latin typeface="SimSun"/>
                          <a:cs typeface="SimSun"/>
                        </a:rPr>
                        <a:t>经度</a:t>
                      </a:r>
                      <a:endParaRPr sz="900">
                        <a:latin typeface="SimSun"/>
                        <a:cs typeface="SimSun"/>
                      </a:endParaRPr>
                    </a:p>
                  </a:txBody>
                  <a:tcPr marL="0" marR="0" marB="0" marT="66040">
                    <a:lnR w="6350">
                      <a:solidFill>
                        <a:srgbClr val="000000"/>
                      </a:solidFill>
                      <a:prstDash val="solid"/>
                    </a:lnR>
                    <a:lnT w="12700">
                      <a:solidFill>
                        <a:srgbClr val="000000"/>
                      </a:solidFill>
                      <a:prstDash val="solid"/>
                    </a:lnT>
                    <a:lnB w="6350">
                      <a:solidFill>
                        <a:srgbClr val="000000"/>
                      </a:solidFill>
                      <a:prstDash val="solid"/>
                    </a:lnB>
                  </a:tcPr>
                </a:tc>
                <a:tc>
                  <a:txBody>
                    <a:bodyPr/>
                    <a:lstStyle/>
                    <a:p>
                      <a:pPr algn="ctr">
                        <a:lnSpc>
                          <a:spcPts val="960"/>
                        </a:lnSpc>
                        <a:spcBef>
                          <a:spcPts val="520"/>
                        </a:spcBef>
                      </a:pPr>
                      <a:r>
                        <a:rPr dirty="0" sz="900" spc="-25">
                          <a:latin typeface="SimSun"/>
                          <a:cs typeface="SimSun"/>
                        </a:rPr>
                        <a:t>纬度</a:t>
                      </a:r>
                      <a:endParaRPr sz="900">
                        <a:latin typeface="SimSun"/>
                        <a:cs typeface="SimSun"/>
                      </a:endParaRPr>
                    </a:p>
                  </a:txBody>
                  <a:tcPr marL="0" marR="0" marB="0" marT="66040">
                    <a:lnL w="6350">
                      <a:solidFill>
                        <a:srgbClr val="000000"/>
                      </a:solidFill>
                      <a:prstDash val="solid"/>
                    </a:lnL>
                    <a:lnR w="6350">
                      <a:solidFill>
                        <a:srgbClr val="000000"/>
                      </a:solidFill>
                      <a:prstDash val="solid"/>
                    </a:lnR>
                    <a:lnT w="12700">
                      <a:solidFill>
                        <a:srgbClr val="000000"/>
                      </a:solidFill>
                      <a:prstDash val="solid"/>
                    </a:lnT>
                    <a:lnB w="6350">
                      <a:solidFill>
                        <a:srgbClr val="000000"/>
                      </a:solidFill>
                      <a:prstDash val="solid"/>
                    </a:lnB>
                  </a:tcPr>
                </a:tc>
                <a:tc>
                  <a:txBody>
                    <a:bodyPr/>
                    <a:lstStyle/>
                    <a:p>
                      <a:pPr algn="ctr">
                        <a:lnSpc>
                          <a:spcPts val="960"/>
                        </a:lnSpc>
                        <a:spcBef>
                          <a:spcPts val="520"/>
                        </a:spcBef>
                      </a:pPr>
                      <a:r>
                        <a:rPr dirty="0" sz="900" spc="-25">
                          <a:latin typeface="SimSun"/>
                          <a:cs typeface="SimSun"/>
                        </a:rPr>
                        <a:t>站高</a:t>
                      </a:r>
                      <a:endParaRPr sz="900">
                        <a:latin typeface="SimSun"/>
                        <a:cs typeface="SimSun"/>
                      </a:endParaRPr>
                    </a:p>
                  </a:txBody>
                  <a:tcPr marL="0" marR="0" marB="0" marT="66040">
                    <a:lnL w="6350">
                      <a:solidFill>
                        <a:srgbClr val="000000"/>
                      </a:solidFill>
                      <a:prstDash val="solid"/>
                    </a:lnL>
                    <a:lnR w="6350">
                      <a:solidFill>
                        <a:srgbClr val="000000"/>
                      </a:solidFill>
                      <a:prstDash val="solid"/>
                    </a:lnR>
                    <a:lnT w="12700">
                      <a:solidFill>
                        <a:srgbClr val="000000"/>
                      </a:solidFill>
                      <a:prstDash val="solid"/>
                    </a:lnT>
                    <a:lnB w="6350">
                      <a:solidFill>
                        <a:srgbClr val="000000"/>
                      </a:solidFill>
                      <a:prstDash val="solid"/>
                    </a:lnB>
                  </a:tcPr>
                </a:tc>
                <a:tc>
                  <a:txBody>
                    <a:bodyPr/>
                    <a:lstStyle/>
                    <a:p>
                      <a:pPr algn="ctr">
                        <a:lnSpc>
                          <a:spcPts val="960"/>
                        </a:lnSpc>
                        <a:spcBef>
                          <a:spcPts val="520"/>
                        </a:spcBef>
                      </a:pPr>
                      <a:r>
                        <a:rPr dirty="0" sz="900" spc="-20">
                          <a:latin typeface="SimSun"/>
                          <a:cs typeface="SimSun"/>
                        </a:rPr>
                        <a:t>方位角</a:t>
                      </a:r>
                      <a:endParaRPr sz="900">
                        <a:latin typeface="SimSun"/>
                        <a:cs typeface="SimSun"/>
                      </a:endParaRPr>
                    </a:p>
                  </a:txBody>
                  <a:tcPr marL="0" marR="0" marB="0" marT="66040">
                    <a:lnL w="6350">
                      <a:solidFill>
                        <a:srgbClr val="000000"/>
                      </a:solidFill>
                      <a:prstDash val="solid"/>
                    </a:lnL>
                    <a:lnR w="6350">
                      <a:solidFill>
                        <a:srgbClr val="000000"/>
                      </a:solidFill>
                      <a:prstDash val="solid"/>
                    </a:lnR>
                    <a:lnT w="12700">
                      <a:solidFill>
                        <a:srgbClr val="000000"/>
                      </a:solidFill>
                      <a:prstDash val="solid"/>
                    </a:lnT>
                    <a:lnB w="6350">
                      <a:solidFill>
                        <a:srgbClr val="000000"/>
                      </a:solidFill>
                      <a:prstDash val="solid"/>
                    </a:lnB>
                  </a:tcPr>
                </a:tc>
                <a:tc>
                  <a:txBody>
                    <a:bodyPr/>
                    <a:lstStyle/>
                    <a:p>
                      <a:pPr algn="ctr">
                        <a:lnSpc>
                          <a:spcPts val="960"/>
                        </a:lnSpc>
                        <a:spcBef>
                          <a:spcPts val="520"/>
                        </a:spcBef>
                      </a:pPr>
                      <a:r>
                        <a:rPr dirty="0" sz="900" spc="-10">
                          <a:latin typeface="SimSun"/>
                          <a:cs typeface="SimSun"/>
                        </a:rPr>
                        <a:t>机械下倾角</a:t>
                      </a:r>
                      <a:endParaRPr sz="900">
                        <a:latin typeface="SimSun"/>
                        <a:cs typeface="SimSun"/>
                      </a:endParaRPr>
                    </a:p>
                  </a:txBody>
                  <a:tcPr marL="0" marR="0" marB="0" marT="66040">
                    <a:lnL w="635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tr>
              <a:tr h="186055">
                <a:tc>
                  <a:txBody>
                    <a:bodyPr/>
                    <a:lstStyle/>
                    <a:p>
                      <a:pPr algn="ctr" marL="5080">
                        <a:lnSpc>
                          <a:spcPts val="1000"/>
                        </a:lnSpc>
                        <a:spcBef>
                          <a:spcPts val="370"/>
                        </a:spcBef>
                      </a:pPr>
                      <a:r>
                        <a:rPr dirty="0" sz="900" spc="-10">
                          <a:latin typeface="Arial MT"/>
                          <a:cs typeface="Arial MT"/>
                        </a:rPr>
                        <a:t>14.3863</a:t>
                      </a:r>
                      <a:endParaRPr sz="900">
                        <a:latin typeface="Arial MT"/>
                        <a:cs typeface="Arial MT"/>
                      </a:endParaRPr>
                    </a:p>
                  </a:txBody>
                  <a:tcPr marL="0" marR="0" marB="0" marT="46990">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00"/>
                        </a:lnSpc>
                        <a:spcBef>
                          <a:spcPts val="370"/>
                        </a:spcBef>
                      </a:pPr>
                      <a:r>
                        <a:rPr dirty="0" sz="900" spc="-10">
                          <a:latin typeface="Arial MT"/>
                          <a:cs typeface="Arial MT"/>
                        </a:rPr>
                        <a:t>30.45973</a:t>
                      </a:r>
                      <a:endParaRPr sz="900">
                        <a:latin typeface="Arial MT"/>
                        <a:cs typeface="Arial MT"/>
                      </a:endParaRPr>
                    </a:p>
                  </a:txBody>
                  <a:tcPr marL="0" marR="0" marB="0" marT="469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00"/>
                        </a:lnSpc>
                        <a:spcBef>
                          <a:spcPts val="370"/>
                        </a:spcBef>
                      </a:pPr>
                      <a:r>
                        <a:rPr dirty="0" sz="900" spc="-25">
                          <a:latin typeface="Arial MT"/>
                          <a:cs typeface="Arial MT"/>
                        </a:rPr>
                        <a:t>26</a:t>
                      </a:r>
                      <a:endParaRPr sz="900">
                        <a:latin typeface="Arial MT"/>
                        <a:cs typeface="Arial MT"/>
                      </a:endParaRPr>
                    </a:p>
                  </a:txBody>
                  <a:tcPr marL="0" marR="0" marB="0" marT="469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00"/>
                        </a:lnSpc>
                        <a:spcBef>
                          <a:spcPts val="370"/>
                        </a:spcBef>
                      </a:pPr>
                      <a:r>
                        <a:rPr dirty="0" sz="900" spc="-25">
                          <a:latin typeface="Arial MT"/>
                          <a:cs typeface="Arial MT"/>
                        </a:rPr>
                        <a:t>30</a:t>
                      </a:r>
                      <a:endParaRPr sz="900">
                        <a:latin typeface="Arial MT"/>
                        <a:cs typeface="Arial MT"/>
                      </a:endParaRPr>
                    </a:p>
                  </a:txBody>
                  <a:tcPr marL="0" marR="0" marB="0" marT="4699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00"/>
                        </a:lnSpc>
                        <a:spcBef>
                          <a:spcPts val="370"/>
                        </a:spcBef>
                      </a:pPr>
                      <a:r>
                        <a:rPr dirty="0" sz="900" spc="-50">
                          <a:latin typeface="Arial MT"/>
                          <a:cs typeface="Arial MT"/>
                        </a:rPr>
                        <a:t>7</a:t>
                      </a:r>
                      <a:endParaRPr sz="900">
                        <a:latin typeface="Arial MT"/>
                        <a:cs typeface="Arial MT"/>
                      </a:endParaRPr>
                    </a:p>
                  </a:txBody>
                  <a:tcPr marL="0" marR="0" marB="0" marT="46990">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24" name="object 24" descr=""/>
          <p:cNvSpPr txBox="1"/>
          <p:nvPr/>
        </p:nvSpPr>
        <p:spPr>
          <a:xfrm>
            <a:off x="210716" y="2637912"/>
            <a:ext cx="2577465" cy="360680"/>
          </a:xfrm>
          <a:prstGeom prst="rect">
            <a:avLst/>
          </a:prstGeom>
        </p:spPr>
        <p:txBody>
          <a:bodyPr wrap="square" lIns="0" tIns="12065" rIns="0" bIns="0" rtlCol="0" vert="horz">
            <a:spAutoFit/>
          </a:bodyPr>
          <a:lstStyle/>
          <a:p>
            <a:pPr marL="12700" marR="5080">
              <a:lnSpc>
                <a:spcPct val="100000"/>
              </a:lnSpc>
              <a:spcBef>
                <a:spcPts val="95"/>
              </a:spcBef>
            </a:pPr>
            <a:r>
              <a:rPr dirty="0" sz="1100" spc="-20">
                <a:latin typeface="SimSun"/>
                <a:cs typeface="SimSun"/>
              </a:rPr>
              <a:t>选择</a:t>
            </a:r>
            <a:r>
              <a:rPr dirty="0" sz="1100" spc="-10">
                <a:latin typeface="Arial MT"/>
                <a:cs typeface="Arial MT"/>
              </a:rPr>
              <a:t>3</a:t>
            </a:r>
            <a:r>
              <a:rPr dirty="0" sz="1100" spc="-20">
                <a:latin typeface="SimSun"/>
                <a:cs typeface="SimSun"/>
              </a:rPr>
              <a:t>层、</a:t>
            </a:r>
            <a:r>
              <a:rPr dirty="0" sz="1100" spc="-10">
                <a:latin typeface="Arial MT"/>
                <a:cs typeface="Arial MT"/>
              </a:rPr>
              <a:t>7</a:t>
            </a:r>
            <a:r>
              <a:rPr dirty="0" sz="1100" spc="-20">
                <a:latin typeface="SimSun"/>
                <a:cs typeface="SimSun"/>
              </a:rPr>
              <a:t>层、</a:t>
            </a:r>
            <a:r>
              <a:rPr dirty="0" sz="1100" spc="-10">
                <a:latin typeface="Arial MT"/>
                <a:cs typeface="Arial MT"/>
              </a:rPr>
              <a:t>12</a:t>
            </a:r>
            <a:r>
              <a:rPr dirty="0" sz="1100" spc="-20">
                <a:latin typeface="SimSun"/>
                <a:cs typeface="SimSun"/>
              </a:rPr>
              <a:t>层测试</a:t>
            </a:r>
            <a:r>
              <a:rPr dirty="0" sz="1100" spc="-10">
                <a:latin typeface="Arial MT"/>
                <a:cs typeface="Arial MT"/>
              </a:rPr>
              <a:t>NSA</a:t>
            </a:r>
            <a:r>
              <a:rPr dirty="0" sz="1100" spc="-30">
                <a:latin typeface="SimSun"/>
                <a:cs typeface="SimSun"/>
              </a:rPr>
              <a:t>组网对写字</a:t>
            </a:r>
            <a:r>
              <a:rPr dirty="0" sz="1100" spc="-25">
                <a:latin typeface="SimSun"/>
                <a:cs typeface="SimSun"/>
              </a:rPr>
              <a:t>楼高、中、低层的覆盖</a:t>
            </a:r>
            <a:endParaRPr sz="1100">
              <a:latin typeface="SimSun"/>
              <a:cs typeface="SimSun"/>
            </a:endParaRPr>
          </a:p>
        </p:txBody>
      </p:sp>
      <p:sp>
        <p:nvSpPr>
          <p:cNvPr id="25" name="object 25" descr=""/>
          <p:cNvSpPr txBox="1"/>
          <p:nvPr/>
        </p:nvSpPr>
        <p:spPr>
          <a:xfrm>
            <a:off x="120215" y="3205596"/>
            <a:ext cx="862330" cy="702945"/>
          </a:xfrm>
          <a:prstGeom prst="rect">
            <a:avLst/>
          </a:prstGeom>
        </p:spPr>
        <p:txBody>
          <a:bodyPr wrap="square" lIns="0" tIns="10160" rIns="0" bIns="0" rtlCol="0" vert="horz">
            <a:spAutoFit/>
          </a:bodyPr>
          <a:lstStyle/>
          <a:p>
            <a:pPr algn="just" marL="12700" marR="5080">
              <a:lnSpc>
                <a:spcPct val="101299"/>
              </a:lnSpc>
              <a:spcBef>
                <a:spcPts val="80"/>
              </a:spcBef>
            </a:pPr>
            <a:r>
              <a:rPr dirty="0" sz="1100" spc="-10">
                <a:latin typeface="Arial MT"/>
                <a:cs typeface="Arial MT"/>
              </a:rPr>
              <a:t>5G</a:t>
            </a:r>
            <a:r>
              <a:rPr dirty="0" sz="1100" spc="-20">
                <a:latin typeface="SimSun"/>
                <a:cs typeface="SimSun"/>
              </a:rPr>
              <a:t>窄波束在</a:t>
            </a:r>
            <a:r>
              <a:rPr dirty="0" sz="1100" spc="-50">
                <a:latin typeface="Arial MT"/>
                <a:cs typeface="Arial MT"/>
              </a:rPr>
              <a:t>3</a:t>
            </a:r>
            <a:r>
              <a:rPr dirty="0" sz="1100" spc="-20">
                <a:latin typeface="SimSun"/>
                <a:cs typeface="SimSun"/>
              </a:rPr>
              <a:t>层、</a:t>
            </a:r>
            <a:r>
              <a:rPr dirty="0" sz="1100" spc="-10">
                <a:latin typeface="Arial MT"/>
                <a:cs typeface="Arial MT"/>
              </a:rPr>
              <a:t>7</a:t>
            </a:r>
            <a:r>
              <a:rPr dirty="0" sz="1100" spc="-20">
                <a:latin typeface="SimSun"/>
                <a:cs typeface="SimSun"/>
              </a:rPr>
              <a:t>层、</a:t>
            </a:r>
            <a:r>
              <a:rPr dirty="0" sz="1100" spc="-25">
                <a:latin typeface="Arial MT"/>
                <a:cs typeface="Arial MT"/>
              </a:rPr>
              <a:t>12</a:t>
            </a:r>
            <a:r>
              <a:rPr dirty="0" sz="1100" spc="-25">
                <a:latin typeface="SimSun"/>
                <a:cs typeface="SimSun"/>
              </a:rPr>
              <a:t>层信号强度如</a:t>
            </a:r>
            <a:r>
              <a:rPr dirty="0" sz="1100" spc="-35">
                <a:latin typeface="SimSun"/>
                <a:cs typeface="SimSun"/>
              </a:rPr>
              <a:t>右图</a:t>
            </a:r>
            <a:endParaRPr sz="1100">
              <a:latin typeface="SimSun"/>
              <a:cs typeface="SimSun"/>
            </a:endParaRPr>
          </a:p>
        </p:txBody>
      </p:sp>
      <p:sp>
        <p:nvSpPr>
          <p:cNvPr id="26" name="object 26" descr=""/>
          <p:cNvSpPr txBox="1"/>
          <p:nvPr/>
        </p:nvSpPr>
        <p:spPr>
          <a:xfrm>
            <a:off x="120276" y="4059069"/>
            <a:ext cx="878205" cy="695960"/>
          </a:xfrm>
          <a:prstGeom prst="rect">
            <a:avLst/>
          </a:prstGeom>
        </p:spPr>
        <p:txBody>
          <a:bodyPr wrap="square" lIns="0" tIns="12065" rIns="0" bIns="0" rtlCol="0" vert="horz">
            <a:spAutoFit/>
          </a:bodyPr>
          <a:lstStyle/>
          <a:p>
            <a:pPr marL="12700" marR="5080">
              <a:lnSpc>
                <a:spcPct val="100000"/>
              </a:lnSpc>
              <a:spcBef>
                <a:spcPts val="95"/>
              </a:spcBef>
            </a:pPr>
            <a:r>
              <a:rPr dirty="0" sz="1100" spc="-10">
                <a:latin typeface="Arial MT"/>
                <a:cs typeface="Arial MT"/>
              </a:rPr>
              <a:t>3</a:t>
            </a:r>
            <a:r>
              <a:rPr dirty="0" sz="1100" spc="-20">
                <a:latin typeface="SimSun"/>
                <a:cs typeface="SimSun"/>
              </a:rPr>
              <a:t>层、</a:t>
            </a:r>
            <a:r>
              <a:rPr dirty="0" sz="1100" spc="-10">
                <a:latin typeface="Arial MT"/>
                <a:cs typeface="Arial MT"/>
              </a:rPr>
              <a:t>7</a:t>
            </a:r>
            <a:r>
              <a:rPr dirty="0" sz="1100" spc="-35">
                <a:latin typeface="SimSun"/>
                <a:cs typeface="SimSun"/>
              </a:rPr>
              <a:t>层分别</a:t>
            </a:r>
            <a:r>
              <a:rPr dirty="0" sz="1100" spc="-20">
                <a:latin typeface="SimSun"/>
                <a:cs typeface="SimSun"/>
              </a:rPr>
              <a:t>有</a:t>
            </a:r>
            <a:r>
              <a:rPr dirty="0" sz="1100" spc="-10">
                <a:latin typeface="Arial MT"/>
                <a:cs typeface="Arial MT"/>
              </a:rPr>
              <a:t>126</a:t>
            </a:r>
            <a:r>
              <a:rPr dirty="0" sz="1100" spc="-35">
                <a:latin typeface="SimSun"/>
                <a:cs typeface="SimSun"/>
              </a:rPr>
              <a:t>个测试</a:t>
            </a:r>
            <a:r>
              <a:rPr dirty="0" sz="1100" spc="-20">
                <a:latin typeface="SimSun"/>
                <a:cs typeface="SimSun"/>
              </a:rPr>
              <a:t>点，</a:t>
            </a:r>
            <a:r>
              <a:rPr dirty="0" sz="1100" spc="-10">
                <a:latin typeface="Arial MT"/>
                <a:cs typeface="Arial MT"/>
              </a:rPr>
              <a:t>12</a:t>
            </a:r>
            <a:r>
              <a:rPr dirty="0" sz="1100" spc="-35">
                <a:latin typeface="SimSun"/>
                <a:cs typeface="SimSun"/>
              </a:rPr>
              <a:t>层有</a:t>
            </a:r>
            <a:r>
              <a:rPr dirty="0" sz="1100" spc="-50">
                <a:latin typeface="SimSun"/>
                <a:cs typeface="SimSun"/>
              </a:rPr>
              <a:t> </a:t>
            </a:r>
            <a:r>
              <a:rPr dirty="0" sz="1100" spc="-10">
                <a:latin typeface="Arial MT"/>
                <a:cs typeface="Arial MT"/>
              </a:rPr>
              <a:t>106</a:t>
            </a:r>
            <a:r>
              <a:rPr dirty="0" sz="1100" spc="-30">
                <a:latin typeface="SimSun"/>
                <a:cs typeface="SimSun"/>
              </a:rPr>
              <a:t>个测试点</a:t>
            </a:r>
            <a:endParaRPr sz="1100">
              <a:latin typeface="SimSun"/>
              <a:cs typeface="SimSun"/>
            </a:endParaRPr>
          </a:p>
        </p:txBody>
      </p:sp>
      <p:sp>
        <p:nvSpPr>
          <p:cNvPr id="27" name="object 27" descr=""/>
          <p:cNvSpPr/>
          <p:nvPr/>
        </p:nvSpPr>
        <p:spPr>
          <a:xfrm>
            <a:off x="2705138" y="3348451"/>
            <a:ext cx="836294" cy="584835"/>
          </a:xfrm>
          <a:custGeom>
            <a:avLst/>
            <a:gdLst/>
            <a:ahLst/>
            <a:cxnLst/>
            <a:rect l="l" t="t" r="r" b="b"/>
            <a:pathLst>
              <a:path w="836295" h="584835">
                <a:moveTo>
                  <a:pt x="0" y="406615"/>
                </a:moveTo>
                <a:lnTo>
                  <a:pt x="139306" y="406615"/>
                </a:lnTo>
                <a:lnTo>
                  <a:pt x="24561" y="0"/>
                </a:lnTo>
                <a:lnTo>
                  <a:pt x="348259" y="406615"/>
                </a:lnTo>
                <a:lnTo>
                  <a:pt x="835812" y="406615"/>
                </a:lnTo>
                <a:lnTo>
                  <a:pt x="835812" y="436232"/>
                </a:lnTo>
                <a:lnTo>
                  <a:pt x="835812" y="480669"/>
                </a:lnTo>
                <a:lnTo>
                  <a:pt x="835812" y="584339"/>
                </a:lnTo>
                <a:lnTo>
                  <a:pt x="348259" y="584339"/>
                </a:lnTo>
                <a:lnTo>
                  <a:pt x="139306" y="584339"/>
                </a:lnTo>
                <a:lnTo>
                  <a:pt x="0" y="584339"/>
                </a:lnTo>
                <a:lnTo>
                  <a:pt x="0" y="480669"/>
                </a:lnTo>
                <a:lnTo>
                  <a:pt x="0" y="436232"/>
                </a:lnTo>
                <a:lnTo>
                  <a:pt x="0" y="406615"/>
                </a:lnTo>
                <a:close/>
              </a:path>
            </a:pathLst>
          </a:custGeom>
          <a:ln w="25400">
            <a:solidFill>
              <a:srgbClr val="C00000"/>
            </a:solidFill>
          </a:ln>
        </p:spPr>
        <p:txBody>
          <a:bodyPr wrap="square" lIns="0" tIns="0" rIns="0" bIns="0" rtlCol="0"/>
          <a:lstStyle/>
          <a:p/>
        </p:txBody>
      </p:sp>
      <p:sp>
        <p:nvSpPr>
          <p:cNvPr id="28" name="object 28" descr=""/>
          <p:cNvSpPr txBox="1"/>
          <p:nvPr/>
        </p:nvSpPr>
        <p:spPr>
          <a:xfrm>
            <a:off x="2780908" y="3774838"/>
            <a:ext cx="685165" cy="132715"/>
          </a:xfrm>
          <a:prstGeom prst="rect">
            <a:avLst/>
          </a:prstGeom>
        </p:spPr>
        <p:txBody>
          <a:bodyPr wrap="square" lIns="0" tIns="12700" rIns="0" bIns="0" rtlCol="0" vert="horz">
            <a:spAutoFit/>
          </a:bodyPr>
          <a:lstStyle/>
          <a:p>
            <a:pPr marL="12700">
              <a:lnSpc>
                <a:spcPct val="100000"/>
              </a:lnSpc>
              <a:spcBef>
                <a:spcPts val="100"/>
              </a:spcBef>
            </a:pPr>
            <a:r>
              <a:rPr dirty="0" sz="700" spc="-10">
                <a:solidFill>
                  <a:srgbClr val="FF0000"/>
                </a:solidFill>
                <a:latin typeface="Arial MT"/>
                <a:cs typeface="Arial MT"/>
              </a:rPr>
              <a:t>RSRP&lt;-110dBm</a:t>
            </a:r>
            <a:endParaRPr sz="700">
              <a:latin typeface="Arial MT"/>
              <a:cs typeface="Arial MT"/>
            </a:endParaRPr>
          </a:p>
        </p:txBody>
      </p:sp>
      <p:sp>
        <p:nvSpPr>
          <p:cNvPr id="29" name="object 29" descr=""/>
          <p:cNvSpPr/>
          <p:nvPr/>
        </p:nvSpPr>
        <p:spPr>
          <a:xfrm>
            <a:off x="7765954" y="3336361"/>
            <a:ext cx="1018540" cy="717550"/>
          </a:xfrm>
          <a:custGeom>
            <a:avLst/>
            <a:gdLst/>
            <a:ahLst/>
            <a:cxnLst/>
            <a:rect l="l" t="t" r="r" b="b"/>
            <a:pathLst>
              <a:path w="1018540" h="717550">
                <a:moveTo>
                  <a:pt x="194602" y="513956"/>
                </a:moveTo>
                <a:lnTo>
                  <a:pt x="331927" y="513956"/>
                </a:lnTo>
                <a:lnTo>
                  <a:pt x="0" y="0"/>
                </a:lnTo>
                <a:lnTo>
                  <a:pt x="537895" y="513956"/>
                </a:lnTo>
                <a:lnTo>
                  <a:pt x="1018514" y="513956"/>
                </a:lnTo>
                <a:lnTo>
                  <a:pt x="1018514" y="547814"/>
                </a:lnTo>
                <a:lnTo>
                  <a:pt x="1018514" y="598589"/>
                </a:lnTo>
                <a:lnTo>
                  <a:pt x="1018514" y="717080"/>
                </a:lnTo>
                <a:lnTo>
                  <a:pt x="537895" y="717080"/>
                </a:lnTo>
                <a:lnTo>
                  <a:pt x="331927" y="717080"/>
                </a:lnTo>
                <a:lnTo>
                  <a:pt x="194602" y="717080"/>
                </a:lnTo>
                <a:lnTo>
                  <a:pt x="194602" y="598589"/>
                </a:lnTo>
                <a:lnTo>
                  <a:pt x="194602" y="547814"/>
                </a:lnTo>
                <a:lnTo>
                  <a:pt x="194602" y="513956"/>
                </a:lnTo>
                <a:close/>
              </a:path>
            </a:pathLst>
          </a:custGeom>
          <a:ln w="25400">
            <a:solidFill>
              <a:srgbClr val="C00000"/>
            </a:solidFill>
          </a:ln>
        </p:spPr>
        <p:txBody>
          <a:bodyPr wrap="square" lIns="0" tIns="0" rIns="0" bIns="0" rtlCol="0"/>
          <a:lstStyle/>
          <a:p/>
        </p:txBody>
      </p:sp>
      <p:sp>
        <p:nvSpPr>
          <p:cNvPr id="30" name="object 30" descr=""/>
          <p:cNvSpPr txBox="1"/>
          <p:nvPr/>
        </p:nvSpPr>
        <p:spPr>
          <a:xfrm>
            <a:off x="8029865" y="3882790"/>
            <a:ext cx="685165" cy="132715"/>
          </a:xfrm>
          <a:prstGeom prst="rect">
            <a:avLst/>
          </a:prstGeom>
        </p:spPr>
        <p:txBody>
          <a:bodyPr wrap="square" lIns="0" tIns="12700" rIns="0" bIns="0" rtlCol="0" vert="horz">
            <a:spAutoFit/>
          </a:bodyPr>
          <a:lstStyle/>
          <a:p>
            <a:pPr marL="12700">
              <a:lnSpc>
                <a:spcPct val="100000"/>
              </a:lnSpc>
              <a:spcBef>
                <a:spcPts val="100"/>
              </a:spcBef>
            </a:pPr>
            <a:r>
              <a:rPr dirty="0" sz="700" spc="-10">
                <a:solidFill>
                  <a:srgbClr val="FF0000"/>
                </a:solidFill>
                <a:latin typeface="Arial MT"/>
                <a:cs typeface="Arial MT"/>
              </a:rPr>
              <a:t>RSRP&lt;-110dBm</a:t>
            </a:r>
            <a:endParaRPr sz="700">
              <a:latin typeface="Arial MT"/>
              <a:cs typeface="Arial MT"/>
            </a:endParaRPr>
          </a:p>
        </p:txBody>
      </p:sp>
      <p:sp>
        <p:nvSpPr>
          <p:cNvPr id="31" name="object 31" descr=""/>
          <p:cNvSpPr/>
          <p:nvPr/>
        </p:nvSpPr>
        <p:spPr>
          <a:xfrm>
            <a:off x="5201471" y="3371458"/>
            <a:ext cx="836294" cy="584835"/>
          </a:xfrm>
          <a:custGeom>
            <a:avLst/>
            <a:gdLst/>
            <a:ahLst/>
            <a:cxnLst/>
            <a:rect l="l" t="t" r="r" b="b"/>
            <a:pathLst>
              <a:path w="836295" h="584835">
                <a:moveTo>
                  <a:pt x="0" y="406615"/>
                </a:moveTo>
                <a:lnTo>
                  <a:pt x="139306" y="406615"/>
                </a:lnTo>
                <a:lnTo>
                  <a:pt x="24561" y="0"/>
                </a:lnTo>
                <a:lnTo>
                  <a:pt x="348259" y="406615"/>
                </a:lnTo>
                <a:lnTo>
                  <a:pt x="835812" y="406615"/>
                </a:lnTo>
                <a:lnTo>
                  <a:pt x="835812" y="436232"/>
                </a:lnTo>
                <a:lnTo>
                  <a:pt x="835812" y="480669"/>
                </a:lnTo>
                <a:lnTo>
                  <a:pt x="835812" y="584339"/>
                </a:lnTo>
                <a:lnTo>
                  <a:pt x="348259" y="584339"/>
                </a:lnTo>
                <a:lnTo>
                  <a:pt x="139306" y="584339"/>
                </a:lnTo>
                <a:lnTo>
                  <a:pt x="0" y="584339"/>
                </a:lnTo>
                <a:lnTo>
                  <a:pt x="0" y="480669"/>
                </a:lnTo>
                <a:lnTo>
                  <a:pt x="0" y="436232"/>
                </a:lnTo>
                <a:lnTo>
                  <a:pt x="0" y="406615"/>
                </a:lnTo>
                <a:close/>
              </a:path>
            </a:pathLst>
          </a:custGeom>
          <a:ln w="25400">
            <a:solidFill>
              <a:srgbClr val="C00000"/>
            </a:solidFill>
          </a:ln>
        </p:spPr>
        <p:txBody>
          <a:bodyPr wrap="square" lIns="0" tIns="0" rIns="0" bIns="0" rtlCol="0"/>
          <a:lstStyle/>
          <a:p/>
        </p:txBody>
      </p:sp>
      <p:sp>
        <p:nvSpPr>
          <p:cNvPr id="32" name="object 32" descr=""/>
          <p:cNvSpPr txBox="1"/>
          <p:nvPr/>
        </p:nvSpPr>
        <p:spPr>
          <a:xfrm>
            <a:off x="5277241" y="3797846"/>
            <a:ext cx="685165" cy="132715"/>
          </a:xfrm>
          <a:prstGeom prst="rect">
            <a:avLst/>
          </a:prstGeom>
        </p:spPr>
        <p:txBody>
          <a:bodyPr wrap="square" lIns="0" tIns="12700" rIns="0" bIns="0" rtlCol="0" vert="horz">
            <a:spAutoFit/>
          </a:bodyPr>
          <a:lstStyle/>
          <a:p>
            <a:pPr marL="12700">
              <a:lnSpc>
                <a:spcPct val="100000"/>
              </a:lnSpc>
              <a:spcBef>
                <a:spcPts val="100"/>
              </a:spcBef>
            </a:pPr>
            <a:r>
              <a:rPr dirty="0" sz="700" spc="-10">
                <a:solidFill>
                  <a:srgbClr val="FF0000"/>
                </a:solidFill>
                <a:latin typeface="Arial MT"/>
                <a:cs typeface="Arial MT"/>
              </a:rPr>
              <a:t>RSRP&lt;-110dBm</a:t>
            </a:r>
            <a:endParaRPr sz="700">
              <a:latin typeface="Arial MT"/>
              <a:cs typeface="Arial MT"/>
            </a:endParaRPr>
          </a:p>
        </p:txBody>
      </p:sp>
      <p:graphicFrame>
        <p:nvGraphicFramePr>
          <p:cNvPr id="33" name="object 33" descr=""/>
          <p:cNvGraphicFramePr>
            <a:graphicFrameLocks noGrp="1"/>
          </p:cNvGraphicFramePr>
          <p:nvPr/>
        </p:nvGraphicFramePr>
        <p:xfrm>
          <a:off x="626386" y="948395"/>
          <a:ext cx="1111250" cy="663575"/>
        </p:xfrm>
        <a:graphic>
          <a:graphicData uri="http://schemas.openxmlformats.org/drawingml/2006/table">
            <a:tbl>
              <a:tblPr firstRow="1" bandRow="1">
                <a:tableStyleId>{2D5ABB26-0587-4C30-8999-92F81FD0307C}</a:tableStyleId>
              </a:tblPr>
              <a:tblGrid>
                <a:gridCol w="514350"/>
                <a:gridCol w="514350"/>
              </a:tblGrid>
              <a:tr h="132715">
                <a:tc>
                  <a:txBody>
                    <a:bodyPr/>
                    <a:lstStyle/>
                    <a:p>
                      <a:pPr algn="ctr" marR="84455">
                        <a:lnSpc>
                          <a:spcPts val="819"/>
                        </a:lnSpc>
                        <a:spcBef>
                          <a:spcPts val="125"/>
                        </a:spcBef>
                      </a:pPr>
                      <a:r>
                        <a:rPr dirty="0" sz="800" spc="-20">
                          <a:latin typeface="SimSun"/>
                          <a:cs typeface="SimSun"/>
                        </a:rPr>
                        <a:t>测试场景</a:t>
                      </a:r>
                      <a:endParaRPr sz="800">
                        <a:latin typeface="SimSun"/>
                        <a:cs typeface="SimSun"/>
                      </a:endParaRPr>
                    </a:p>
                  </a:txBody>
                  <a:tcPr marL="0" marR="0" marB="0" marT="158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
                        <a:lnSpc>
                          <a:spcPts val="819"/>
                        </a:lnSpc>
                        <a:spcBef>
                          <a:spcPts val="125"/>
                        </a:spcBef>
                      </a:pPr>
                      <a:r>
                        <a:rPr dirty="0" sz="800" spc="-20">
                          <a:latin typeface="SimSun"/>
                          <a:cs typeface="SimSun"/>
                        </a:rPr>
                        <a:t>场景类型</a:t>
                      </a:r>
                      <a:endParaRPr sz="800">
                        <a:latin typeface="SimSun"/>
                        <a:cs typeface="SimSun"/>
                      </a:endParaRPr>
                    </a:p>
                  </a:txBody>
                  <a:tcPr marL="0" marR="0" marB="0" marT="158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32715">
                <a:tc>
                  <a:txBody>
                    <a:bodyPr/>
                    <a:lstStyle/>
                    <a:p>
                      <a:pPr algn="ctr" marR="86995">
                        <a:lnSpc>
                          <a:spcPts val="819"/>
                        </a:lnSpc>
                        <a:spcBef>
                          <a:spcPts val="125"/>
                        </a:spcBef>
                      </a:pPr>
                      <a:r>
                        <a:rPr dirty="0" sz="800" spc="-20">
                          <a:latin typeface="SimSun"/>
                          <a:cs typeface="SimSun"/>
                        </a:rPr>
                        <a:t>湖景大厦</a:t>
                      </a:r>
                      <a:endParaRPr sz="800">
                        <a:latin typeface="SimSun"/>
                        <a:cs typeface="SimSun"/>
                      </a:endParaRPr>
                    </a:p>
                  </a:txBody>
                  <a:tcPr marL="0" marR="0" marB="0" marT="158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
                        <a:lnSpc>
                          <a:spcPts val="819"/>
                        </a:lnSpc>
                        <a:spcBef>
                          <a:spcPts val="125"/>
                        </a:spcBef>
                      </a:pPr>
                      <a:r>
                        <a:rPr dirty="0" sz="800" spc="-25">
                          <a:latin typeface="SimSun"/>
                          <a:cs typeface="SimSun"/>
                        </a:rPr>
                        <a:t>写字楼</a:t>
                      </a:r>
                      <a:endParaRPr sz="800">
                        <a:latin typeface="SimSun"/>
                        <a:cs typeface="SimSun"/>
                      </a:endParaRPr>
                    </a:p>
                  </a:txBody>
                  <a:tcPr marL="0" marR="0" marB="0" marT="158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32715">
                <a:tc>
                  <a:txBody>
                    <a:bodyPr/>
                    <a:lstStyle/>
                    <a:p>
                      <a:pPr algn="ctr" marR="86995">
                        <a:lnSpc>
                          <a:spcPts val="819"/>
                        </a:lnSpc>
                        <a:spcBef>
                          <a:spcPts val="125"/>
                        </a:spcBef>
                      </a:pPr>
                      <a:r>
                        <a:rPr dirty="0" sz="800" spc="-20">
                          <a:latin typeface="SimSun"/>
                          <a:cs typeface="SimSun"/>
                        </a:rPr>
                        <a:t>腾睿大厦</a:t>
                      </a:r>
                      <a:endParaRPr sz="800">
                        <a:latin typeface="SimSun"/>
                        <a:cs typeface="SimSun"/>
                      </a:endParaRPr>
                    </a:p>
                  </a:txBody>
                  <a:tcPr marL="0" marR="0" marB="0" marT="158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
                        <a:lnSpc>
                          <a:spcPts val="819"/>
                        </a:lnSpc>
                        <a:spcBef>
                          <a:spcPts val="125"/>
                        </a:spcBef>
                      </a:pPr>
                      <a:r>
                        <a:rPr dirty="0" sz="800" spc="-25">
                          <a:latin typeface="SimSun"/>
                          <a:cs typeface="SimSun"/>
                        </a:rPr>
                        <a:t>写字楼</a:t>
                      </a:r>
                      <a:endParaRPr sz="800">
                        <a:latin typeface="SimSun"/>
                        <a:cs typeface="SimSun"/>
                      </a:endParaRPr>
                    </a:p>
                  </a:txBody>
                  <a:tcPr marL="0" marR="0" marB="0" marT="158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32715">
                <a:tc>
                  <a:txBody>
                    <a:bodyPr/>
                    <a:lstStyle/>
                    <a:p>
                      <a:pPr algn="ctr" marR="86995">
                        <a:lnSpc>
                          <a:spcPts val="819"/>
                        </a:lnSpc>
                        <a:spcBef>
                          <a:spcPts val="125"/>
                        </a:spcBef>
                      </a:pPr>
                      <a:r>
                        <a:rPr dirty="0" sz="800" spc="-20">
                          <a:latin typeface="SimSun"/>
                          <a:cs typeface="SimSun"/>
                        </a:rPr>
                        <a:t>茅店社区</a:t>
                      </a:r>
                      <a:endParaRPr sz="800">
                        <a:latin typeface="SimSun"/>
                        <a:cs typeface="SimSun"/>
                      </a:endParaRPr>
                    </a:p>
                  </a:txBody>
                  <a:tcPr marL="0" marR="0" marB="0" marT="158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
                        <a:lnSpc>
                          <a:spcPts val="819"/>
                        </a:lnSpc>
                        <a:spcBef>
                          <a:spcPts val="125"/>
                        </a:spcBef>
                      </a:pPr>
                      <a:r>
                        <a:rPr dirty="0" sz="800" spc="-25">
                          <a:latin typeface="SimSun"/>
                          <a:cs typeface="SimSun"/>
                        </a:rPr>
                        <a:t>住宅楼</a:t>
                      </a:r>
                      <a:endParaRPr sz="800">
                        <a:latin typeface="SimSun"/>
                        <a:cs typeface="SimSun"/>
                      </a:endParaRPr>
                    </a:p>
                  </a:txBody>
                  <a:tcPr marL="0" marR="0" marB="0" marT="158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32715">
                <a:tc>
                  <a:txBody>
                    <a:bodyPr/>
                    <a:lstStyle/>
                    <a:p>
                      <a:pPr algn="ctr" marR="86995">
                        <a:lnSpc>
                          <a:spcPts val="819"/>
                        </a:lnSpc>
                        <a:spcBef>
                          <a:spcPts val="125"/>
                        </a:spcBef>
                      </a:pPr>
                      <a:r>
                        <a:rPr dirty="0" sz="800" spc="-20">
                          <a:latin typeface="SimSun"/>
                          <a:cs typeface="SimSun"/>
                        </a:rPr>
                        <a:t>佩尔中心</a:t>
                      </a:r>
                      <a:endParaRPr sz="800">
                        <a:latin typeface="SimSun"/>
                        <a:cs typeface="SimSun"/>
                      </a:endParaRPr>
                    </a:p>
                  </a:txBody>
                  <a:tcPr marL="0" marR="0" marB="0" marT="158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
                        <a:lnSpc>
                          <a:spcPts val="819"/>
                        </a:lnSpc>
                        <a:spcBef>
                          <a:spcPts val="125"/>
                        </a:spcBef>
                      </a:pPr>
                      <a:r>
                        <a:rPr dirty="0" sz="800" spc="-25">
                          <a:latin typeface="SimSun"/>
                          <a:cs typeface="SimSun"/>
                        </a:rPr>
                        <a:t>写字楼</a:t>
                      </a:r>
                      <a:endParaRPr sz="800">
                        <a:latin typeface="SimSun"/>
                        <a:cs typeface="SimSun"/>
                      </a:endParaRPr>
                    </a:p>
                  </a:txBody>
                  <a:tcPr marL="0" marR="0" marB="0" marT="1587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2420" y="162149"/>
            <a:ext cx="3413760" cy="513080"/>
          </a:xfrm>
          <a:prstGeom prst="rect"/>
        </p:spPr>
        <p:txBody>
          <a:bodyPr wrap="square" lIns="0" tIns="12065" rIns="0" bIns="0" rtlCol="0" vert="horz">
            <a:spAutoFit/>
          </a:bodyPr>
          <a:lstStyle/>
          <a:p>
            <a:pPr marL="12700">
              <a:lnSpc>
                <a:spcPct val="100000"/>
              </a:lnSpc>
              <a:spcBef>
                <a:spcPts val="95"/>
              </a:spcBef>
            </a:pPr>
            <a:r>
              <a:rPr dirty="0" spc="-80"/>
              <a:t>无线测试-室内覆盖</a:t>
            </a:r>
          </a:p>
        </p:txBody>
      </p:sp>
      <p:grpSp>
        <p:nvGrpSpPr>
          <p:cNvPr id="3" name="object 3" descr=""/>
          <p:cNvGrpSpPr/>
          <p:nvPr/>
        </p:nvGrpSpPr>
        <p:grpSpPr>
          <a:xfrm>
            <a:off x="104571" y="1478930"/>
            <a:ext cx="8775065" cy="3523615"/>
            <a:chOff x="104571" y="1478930"/>
            <a:chExt cx="8775065" cy="3523615"/>
          </a:xfrm>
        </p:grpSpPr>
        <p:pic>
          <p:nvPicPr>
            <p:cNvPr id="4" name="object 4" descr=""/>
            <p:cNvPicPr/>
            <p:nvPr/>
          </p:nvPicPr>
          <p:blipFill>
            <a:blip r:embed="rId2" cstate="print"/>
            <a:stretch>
              <a:fillRect/>
            </a:stretch>
          </p:blipFill>
          <p:spPr>
            <a:xfrm>
              <a:off x="104571" y="3012966"/>
              <a:ext cx="8774569" cy="1989054"/>
            </a:xfrm>
            <a:prstGeom prst="rect">
              <a:avLst/>
            </a:prstGeom>
          </p:spPr>
        </p:pic>
        <p:sp>
          <p:nvSpPr>
            <p:cNvPr id="5" name="object 5" descr=""/>
            <p:cNvSpPr/>
            <p:nvPr/>
          </p:nvSpPr>
          <p:spPr>
            <a:xfrm>
              <a:off x="2377464" y="1485280"/>
              <a:ext cx="0" cy="1079500"/>
            </a:xfrm>
            <a:custGeom>
              <a:avLst/>
              <a:gdLst/>
              <a:ahLst/>
              <a:cxnLst/>
              <a:rect l="l" t="t" r="r" b="b"/>
              <a:pathLst>
                <a:path w="0" h="1079500">
                  <a:moveTo>
                    <a:pt x="0" y="0"/>
                  </a:moveTo>
                  <a:lnTo>
                    <a:pt x="0" y="1079500"/>
                  </a:lnTo>
                </a:path>
              </a:pathLst>
            </a:custGeom>
            <a:ln w="12700">
              <a:solidFill>
                <a:srgbClr val="000000"/>
              </a:solidFill>
            </a:ln>
          </p:spPr>
          <p:txBody>
            <a:bodyPr wrap="square" lIns="0" tIns="0" rIns="0" bIns="0" rtlCol="0"/>
            <a:lstStyle/>
            <a:p/>
          </p:txBody>
        </p:sp>
        <p:sp>
          <p:nvSpPr>
            <p:cNvPr id="6" name="object 6" descr=""/>
            <p:cNvSpPr/>
            <p:nvPr/>
          </p:nvSpPr>
          <p:spPr>
            <a:xfrm>
              <a:off x="2940545" y="1485280"/>
              <a:ext cx="0" cy="1079500"/>
            </a:xfrm>
            <a:custGeom>
              <a:avLst/>
              <a:gdLst/>
              <a:ahLst/>
              <a:cxnLst/>
              <a:rect l="l" t="t" r="r" b="b"/>
              <a:pathLst>
                <a:path w="0" h="1079500">
                  <a:moveTo>
                    <a:pt x="0" y="0"/>
                  </a:moveTo>
                  <a:lnTo>
                    <a:pt x="0" y="1079500"/>
                  </a:lnTo>
                </a:path>
              </a:pathLst>
            </a:custGeom>
            <a:ln w="12700">
              <a:solidFill>
                <a:srgbClr val="000000"/>
              </a:solidFill>
            </a:ln>
          </p:spPr>
          <p:txBody>
            <a:bodyPr wrap="square" lIns="0" tIns="0" rIns="0" bIns="0" rtlCol="0"/>
            <a:lstStyle/>
            <a:p/>
          </p:txBody>
        </p:sp>
        <p:sp>
          <p:nvSpPr>
            <p:cNvPr id="7" name="object 7" descr=""/>
            <p:cNvSpPr/>
            <p:nvPr/>
          </p:nvSpPr>
          <p:spPr>
            <a:xfrm>
              <a:off x="3623150" y="1485280"/>
              <a:ext cx="0" cy="1079500"/>
            </a:xfrm>
            <a:custGeom>
              <a:avLst/>
              <a:gdLst/>
              <a:ahLst/>
              <a:cxnLst/>
              <a:rect l="l" t="t" r="r" b="b"/>
              <a:pathLst>
                <a:path w="0" h="1079500">
                  <a:moveTo>
                    <a:pt x="0" y="0"/>
                  </a:moveTo>
                  <a:lnTo>
                    <a:pt x="0" y="1079500"/>
                  </a:lnTo>
                </a:path>
              </a:pathLst>
            </a:custGeom>
            <a:ln w="12700">
              <a:solidFill>
                <a:srgbClr val="000000"/>
              </a:solidFill>
            </a:ln>
          </p:spPr>
          <p:txBody>
            <a:bodyPr wrap="square" lIns="0" tIns="0" rIns="0" bIns="0" rtlCol="0"/>
            <a:lstStyle/>
            <a:p/>
          </p:txBody>
        </p:sp>
        <p:sp>
          <p:nvSpPr>
            <p:cNvPr id="8" name="object 8" descr=""/>
            <p:cNvSpPr/>
            <p:nvPr/>
          </p:nvSpPr>
          <p:spPr>
            <a:xfrm>
              <a:off x="4245993" y="1485280"/>
              <a:ext cx="0" cy="1079500"/>
            </a:xfrm>
            <a:custGeom>
              <a:avLst/>
              <a:gdLst/>
              <a:ahLst/>
              <a:cxnLst/>
              <a:rect l="l" t="t" r="r" b="b"/>
              <a:pathLst>
                <a:path w="0" h="1079500">
                  <a:moveTo>
                    <a:pt x="0" y="0"/>
                  </a:moveTo>
                  <a:lnTo>
                    <a:pt x="0" y="1079500"/>
                  </a:lnTo>
                </a:path>
              </a:pathLst>
            </a:custGeom>
            <a:ln w="12700">
              <a:solidFill>
                <a:srgbClr val="000000"/>
              </a:solidFill>
            </a:ln>
          </p:spPr>
          <p:txBody>
            <a:bodyPr wrap="square" lIns="0" tIns="0" rIns="0" bIns="0" rtlCol="0"/>
            <a:lstStyle/>
            <a:p/>
          </p:txBody>
        </p:sp>
        <p:sp>
          <p:nvSpPr>
            <p:cNvPr id="9" name="object 9" descr=""/>
            <p:cNvSpPr/>
            <p:nvPr/>
          </p:nvSpPr>
          <p:spPr>
            <a:xfrm>
              <a:off x="4806552" y="1485280"/>
              <a:ext cx="0" cy="1079500"/>
            </a:xfrm>
            <a:custGeom>
              <a:avLst/>
              <a:gdLst/>
              <a:ahLst/>
              <a:cxnLst/>
              <a:rect l="l" t="t" r="r" b="b"/>
              <a:pathLst>
                <a:path w="0" h="1079500">
                  <a:moveTo>
                    <a:pt x="0" y="0"/>
                  </a:moveTo>
                  <a:lnTo>
                    <a:pt x="0" y="1079500"/>
                  </a:lnTo>
                </a:path>
              </a:pathLst>
            </a:custGeom>
            <a:ln w="12700">
              <a:solidFill>
                <a:srgbClr val="000000"/>
              </a:solidFill>
            </a:ln>
          </p:spPr>
          <p:txBody>
            <a:bodyPr wrap="square" lIns="0" tIns="0" rIns="0" bIns="0" rtlCol="0"/>
            <a:lstStyle/>
            <a:p/>
          </p:txBody>
        </p:sp>
        <p:sp>
          <p:nvSpPr>
            <p:cNvPr id="10" name="object 10" descr=""/>
            <p:cNvSpPr/>
            <p:nvPr/>
          </p:nvSpPr>
          <p:spPr>
            <a:xfrm>
              <a:off x="5429394" y="1485280"/>
              <a:ext cx="0" cy="1079500"/>
            </a:xfrm>
            <a:custGeom>
              <a:avLst/>
              <a:gdLst/>
              <a:ahLst/>
              <a:cxnLst/>
              <a:rect l="l" t="t" r="r" b="b"/>
              <a:pathLst>
                <a:path w="0" h="1079500">
                  <a:moveTo>
                    <a:pt x="0" y="0"/>
                  </a:moveTo>
                  <a:lnTo>
                    <a:pt x="0" y="1079500"/>
                  </a:lnTo>
                </a:path>
              </a:pathLst>
            </a:custGeom>
            <a:ln w="12700">
              <a:solidFill>
                <a:srgbClr val="000000"/>
              </a:solidFill>
            </a:ln>
          </p:spPr>
          <p:txBody>
            <a:bodyPr wrap="square" lIns="0" tIns="0" rIns="0" bIns="0" rtlCol="0"/>
            <a:lstStyle/>
            <a:p/>
          </p:txBody>
        </p:sp>
        <p:sp>
          <p:nvSpPr>
            <p:cNvPr id="11" name="object 11" descr=""/>
            <p:cNvSpPr/>
            <p:nvPr/>
          </p:nvSpPr>
          <p:spPr>
            <a:xfrm>
              <a:off x="5989953" y="1485280"/>
              <a:ext cx="0" cy="1079500"/>
            </a:xfrm>
            <a:custGeom>
              <a:avLst/>
              <a:gdLst/>
              <a:ahLst/>
              <a:cxnLst/>
              <a:rect l="l" t="t" r="r" b="b"/>
              <a:pathLst>
                <a:path w="0" h="1079500">
                  <a:moveTo>
                    <a:pt x="0" y="0"/>
                  </a:moveTo>
                  <a:lnTo>
                    <a:pt x="0" y="1079500"/>
                  </a:lnTo>
                </a:path>
              </a:pathLst>
            </a:custGeom>
            <a:ln w="12700">
              <a:solidFill>
                <a:srgbClr val="000000"/>
              </a:solidFill>
            </a:ln>
          </p:spPr>
          <p:txBody>
            <a:bodyPr wrap="square" lIns="0" tIns="0" rIns="0" bIns="0" rtlCol="0"/>
            <a:lstStyle/>
            <a:p/>
          </p:txBody>
        </p:sp>
        <p:sp>
          <p:nvSpPr>
            <p:cNvPr id="12" name="object 12" descr=""/>
            <p:cNvSpPr/>
            <p:nvPr/>
          </p:nvSpPr>
          <p:spPr>
            <a:xfrm>
              <a:off x="6737366" y="1485280"/>
              <a:ext cx="0" cy="1079500"/>
            </a:xfrm>
            <a:custGeom>
              <a:avLst/>
              <a:gdLst/>
              <a:ahLst/>
              <a:cxnLst/>
              <a:rect l="l" t="t" r="r" b="b"/>
              <a:pathLst>
                <a:path w="0" h="1079500">
                  <a:moveTo>
                    <a:pt x="0" y="0"/>
                  </a:moveTo>
                  <a:lnTo>
                    <a:pt x="0" y="1079500"/>
                  </a:lnTo>
                </a:path>
              </a:pathLst>
            </a:custGeom>
            <a:ln w="12700">
              <a:solidFill>
                <a:srgbClr val="000000"/>
              </a:solidFill>
            </a:ln>
          </p:spPr>
          <p:txBody>
            <a:bodyPr wrap="square" lIns="0" tIns="0" rIns="0" bIns="0" rtlCol="0"/>
            <a:lstStyle/>
            <a:p/>
          </p:txBody>
        </p:sp>
        <p:sp>
          <p:nvSpPr>
            <p:cNvPr id="13" name="object 13" descr=""/>
            <p:cNvSpPr/>
            <p:nvPr/>
          </p:nvSpPr>
          <p:spPr>
            <a:xfrm>
              <a:off x="7733915" y="1485280"/>
              <a:ext cx="0" cy="1079500"/>
            </a:xfrm>
            <a:custGeom>
              <a:avLst/>
              <a:gdLst/>
              <a:ahLst/>
              <a:cxnLst/>
              <a:rect l="l" t="t" r="r" b="b"/>
              <a:pathLst>
                <a:path w="0" h="1079500">
                  <a:moveTo>
                    <a:pt x="0" y="0"/>
                  </a:moveTo>
                  <a:lnTo>
                    <a:pt x="0" y="1079500"/>
                  </a:lnTo>
                </a:path>
              </a:pathLst>
            </a:custGeom>
            <a:ln w="12700">
              <a:solidFill>
                <a:srgbClr val="000000"/>
              </a:solidFill>
            </a:ln>
          </p:spPr>
          <p:txBody>
            <a:bodyPr wrap="square" lIns="0" tIns="0" rIns="0" bIns="0" rtlCol="0"/>
            <a:lstStyle/>
            <a:p/>
          </p:txBody>
        </p:sp>
        <p:sp>
          <p:nvSpPr>
            <p:cNvPr id="14" name="object 14" descr=""/>
            <p:cNvSpPr/>
            <p:nvPr/>
          </p:nvSpPr>
          <p:spPr>
            <a:xfrm>
              <a:off x="191164" y="1826910"/>
              <a:ext cx="8545830" cy="0"/>
            </a:xfrm>
            <a:custGeom>
              <a:avLst/>
              <a:gdLst/>
              <a:ahLst/>
              <a:cxnLst/>
              <a:rect l="l" t="t" r="r" b="b"/>
              <a:pathLst>
                <a:path w="8545830" h="0">
                  <a:moveTo>
                    <a:pt x="0" y="0"/>
                  </a:moveTo>
                  <a:lnTo>
                    <a:pt x="8545652" y="0"/>
                  </a:lnTo>
                </a:path>
              </a:pathLst>
            </a:custGeom>
            <a:ln w="12700">
              <a:solidFill>
                <a:srgbClr val="000000"/>
              </a:solidFill>
            </a:ln>
          </p:spPr>
          <p:txBody>
            <a:bodyPr wrap="square" lIns="0" tIns="0" rIns="0" bIns="0" rtlCol="0"/>
            <a:lstStyle/>
            <a:p/>
          </p:txBody>
        </p:sp>
        <p:sp>
          <p:nvSpPr>
            <p:cNvPr id="15" name="object 15" descr=""/>
            <p:cNvSpPr/>
            <p:nvPr/>
          </p:nvSpPr>
          <p:spPr>
            <a:xfrm>
              <a:off x="191164" y="2192670"/>
              <a:ext cx="6552565" cy="0"/>
            </a:xfrm>
            <a:custGeom>
              <a:avLst/>
              <a:gdLst/>
              <a:ahLst/>
              <a:cxnLst/>
              <a:rect l="l" t="t" r="r" b="b"/>
              <a:pathLst>
                <a:path w="6552565" h="0">
                  <a:moveTo>
                    <a:pt x="0" y="0"/>
                  </a:moveTo>
                  <a:lnTo>
                    <a:pt x="6552552" y="0"/>
                  </a:lnTo>
                </a:path>
              </a:pathLst>
            </a:custGeom>
            <a:ln w="12700">
              <a:solidFill>
                <a:srgbClr val="000000"/>
              </a:solidFill>
            </a:ln>
          </p:spPr>
          <p:txBody>
            <a:bodyPr wrap="square" lIns="0" tIns="0" rIns="0" bIns="0" rtlCol="0"/>
            <a:lstStyle/>
            <a:p/>
          </p:txBody>
        </p:sp>
        <p:sp>
          <p:nvSpPr>
            <p:cNvPr id="16" name="object 16" descr=""/>
            <p:cNvSpPr/>
            <p:nvPr/>
          </p:nvSpPr>
          <p:spPr>
            <a:xfrm>
              <a:off x="197514" y="1485280"/>
              <a:ext cx="0" cy="1079500"/>
            </a:xfrm>
            <a:custGeom>
              <a:avLst/>
              <a:gdLst/>
              <a:ahLst/>
              <a:cxnLst/>
              <a:rect l="l" t="t" r="r" b="b"/>
              <a:pathLst>
                <a:path w="0" h="1079500">
                  <a:moveTo>
                    <a:pt x="0" y="0"/>
                  </a:moveTo>
                  <a:lnTo>
                    <a:pt x="0" y="1079500"/>
                  </a:lnTo>
                </a:path>
              </a:pathLst>
            </a:custGeom>
            <a:ln w="12700">
              <a:solidFill>
                <a:srgbClr val="000000"/>
              </a:solidFill>
            </a:ln>
          </p:spPr>
          <p:txBody>
            <a:bodyPr wrap="square" lIns="0" tIns="0" rIns="0" bIns="0" rtlCol="0"/>
            <a:lstStyle/>
            <a:p/>
          </p:txBody>
        </p:sp>
        <p:sp>
          <p:nvSpPr>
            <p:cNvPr id="17" name="object 17" descr=""/>
            <p:cNvSpPr/>
            <p:nvPr/>
          </p:nvSpPr>
          <p:spPr>
            <a:xfrm>
              <a:off x="8730465" y="1485280"/>
              <a:ext cx="0" cy="1079500"/>
            </a:xfrm>
            <a:custGeom>
              <a:avLst/>
              <a:gdLst/>
              <a:ahLst/>
              <a:cxnLst/>
              <a:rect l="l" t="t" r="r" b="b"/>
              <a:pathLst>
                <a:path w="0" h="1079500">
                  <a:moveTo>
                    <a:pt x="0" y="0"/>
                  </a:moveTo>
                  <a:lnTo>
                    <a:pt x="0" y="1079500"/>
                  </a:lnTo>
                </a:path>
              </a:pathLst>
            </a:custGeom>
            <a:ln w="12700">
              <a:solidFill>
                <a:srgbClr val="000000"/>
              </a:solidFill>
            </a:ln>
          </p:spPr>
          <p:txBody>
            <a:bodyPr wrap="square" lIns="0" tIns="0" rIns="0" bIns="0" rtlCol="0"/>
            <a:lstStyle/>
            <a:p/>
          </p:txBody>
        </p:sp>
        <p:sp>
          <p:nvSpPr>
            <p:cNvPr id="18" name="object 18" descr=""/>
            <p:cNvSpPr/>
            <p:nvPr/>
          </p:nvSpPr>
          <p:spPr>
            <a:xfrm>
              <a:off x="191164" y="1491630"/>
              <a:ext cx="8545830" cy="0"/>
            </a:xfrm>
            <a:custGeom>
              <a:avLst/>
              <a:gdLst/>
              <a:ahLst/>
              <a:cxnLst/>
              <a:rect l="l" t="t" r="r" b="b"/>
              <a:pathLst>
                <a:path w="8545830" h="0">
                  <a:moveTo>
                    <a:pt x="0" y="0"/>
                  </a:moveTo>
                  <a:lnTo>
                    <a:pt x="8545652" y="0"/>
                  </a:lnTo>
                </a:path>
              </a:pathLst>
            </a:custGeom>
            <a:ln w="12700">
              <a:solidFill>
                <a:srgbClr val="000000"/>
              </a:solidFill>
            </a:ln>
          </p:spPr>
          <p:txBody>
            <a:bodyPr wrap="square" lIns="0" tIns="0" rIns="0" bIns="0" rtlCol="0"/>
            <a:lstStyle/>
            <a:p/>
          </p:txBody>
        </p:sp>
        <p:sp>
          <p:nvSpPr>
            <p:cNvPr id="19" name="object 19" descr=""/>
            <p:cNvSpPr/>
            <p:nvPr/>
          </p:nvSpPr>
          <p:spPr>
            <a:xfrm>
              <a:off x="191164" y="2558430"/>
              <a:ext cx="8545830" cy="0"/>
            </a:xfrm>
            <a:custGeom>
              <a:avLst/>
              <a:gdLst/>
              <a:ahLst/>
              <a:cxnLst/>
              <a:rect l="l" t="t" r="r" b="b"/>
              <a:pathLst>
                <a:path w="8545830" h="0">
                  <a:moveTo>
                    <a:pt x="0" y="0"/>
                  </a:moveTo>
                  <a:lnTo>
                    <a:pt x="8545652" y="0"/>
                  </a:lnTo>
                </a:path>
              </a:pathLst>
            </a:custGeom>
            <a:ln w="12700">
              <a:solidFill>
                <a:srgbClr val="000000"/>
              </a:solidFill>
            </a:ln>
          </p:spPr>
          <p:txBody>
            <a:bodyPr wrap="square" lIns="0" tIns="0" rIns="0" bIns="0" rtlCol="0"/>
            <a:lstStyle/>
            <a:p/>
          </p:txBody>
        </p:sp>
      </p:grpSp>
      <p:sp>
        <p:nvSpPr>
          <p:cNvPr id="20" name="object 20" descr=""/>
          <p:cNvSpPr txBox="1"/>
          <p:nvPr/>
        </p:nvSpPr>
        <p:spPr>
          <a:xfrm>
            <a:off x="4335933" y="1591547"/>
            <a:ext cx="152400" cy="152400"/>
          </a:xfrm>
          <a:prstGeom prst="rect">
            <a:avLst/>
          </a:prstGeom>
        </p:spPr>
        <p:txBody>
          <a:bodyPr wrap="square" lIns="0" tIns="0" rIns="0" bIns="0" rtlCol="0" vert="horz">
            <a:spAutoFit/>
          </a:bodyPr>
          <a:lstStyle/>
          <a:p>
            <a:pPr>
              <a:lnSpc>
                <a:spcPts val="1200"/>
              </a:lnSpc>
            </a:pPr>
            <a:r>
              <a:rPr dirty="0" sz="1200" spc="-50">
                <a:latin typeface="SimSun"/>
                <a:cs typeface="SimSun"/>
              </a:rPr>
              <a:t>波</a:t>
            </a:r>
            <a:endParaRPr sz="1200">
              <a:latin typeface="SimSun"/>
              <a:cs typeface="SimSun"/>
            </a:endParaRPr>
          </a:p>
        </p:txBody>
      </p:sp>
      <p:sp>
        <p:nvSpPr>
          <p:cNvPr id="21" name="object 21" descr=""/>
          <p:cNvSpPr txBox="1"/>
          <p:nvPr/>
        </p:nvSpPr>
        <p:spPr>
          <a:xfrm>
            <a:off x="2163375" y="1191863"/>
            <a:ext cx="2269490" cy="1661160"/>
          </a:xfrm>
          <a:prstGeom prst="rect">
            <a:avLst/>
          </a:prstGeom>
        </p:spPr>
        <p:txBody>
          <a:bodyPr wrap="square" lIns="0" tIns="0" rIns="0" bIns="0" rtlCol="0" vert="horz">
            <a:spAutoFit/>
          </a:bodyPr>
          <a:lstStyle/>
          <a:p>
            <a:pPr marL="13970">
              <a:lnSpc>
                <a:spcPts val="1545"/>
              </a:lnSpc>
            </a:pPr>
            <a:r>
              <a:rPr dirty="0" sz="1400">
                <a:latin typeface="Arial MT"/>
                <a:cs typeface="Arial MT"/>
              </a:rPr>
              <a:t>+3</a:t>
            </a:r>
            <a:r>
              <a:rPr dirty="0" sz="1400" spc="-20">
                <a:latin typeface="SimSun"/>
                <a:cs typeface="SimSun"/>
              </a:rPr>
              <a:t>窄波束相对</a:t>
            </a:r>
            <a:r>
              <a:rPr dirty="0" sz="1400">
                <a:latin typeface="Arial MT"/>
                <a:cs typeface="Arial MT"/>
              </a:rPr>
              <a:t>1</a:t>
            </a:r>
            <a:r>
              <a:rPr dirty="0" sz="1400" spc="-25">
                <a:latin typeface="SimSun"/>
                <a:cs typeface="SimSun"/>
              </a:rPr>
              <a:t>个宽波束的覆</a:t>
            </a:r>
            <a:endParaRPr sz="1400">
              <a:latin typeface="SimSun"/>
              <a:cs typeface="SimSun"/>
            </a:endParaRPr>
          </a:p>
          <a:p>
            <a:pPr marR="294005" indent="304800">
              <a:lnSpc>
                <a:spcPct val="190400"/>
              </a:lnSpc>
              <a:spcBef>
                <a:spcPts val="130"/>
              </a:spcBef>
              <a:tabLst>
                <a:tab pos="387985" algn="l"/>
                <a:tab pos="927735" algn="l"/>
                <a:tab pos="995044" algn="l"/>
                <a:tab pos="1574165" algn="l"/>
              </a:tabLst>
            </a:pPr>
            <a:r>
              <a:rPr dirty="0" sz="1200">
                <a:latin typeface="SimSun"/>
                <a:cs typeface="SimSun"/>
              </a:rPr>
              <a:t>波束</a:t>
            </a:r>
            <a:r>
              <a:rPr dirty="0" sz="1200" spc="-50">
                <a:latin typeface="SimSun"/>
                <a:cs typeface="SimSun"/>
              </a:rPr>
              <a:t>1</a:t>
            </a:r>
            <a:r>
              <a:rPr dirty="0" sz="1200">
                <a:latin typeface="SimSun"/>
                <a:cs typeface="SimSun"/>
              </a:rPr>
              <a:t>	波束</a:t>
            </a:r>
            <a:r>
              <a:rPr dirty="0" sz="1200" spc="-50">
                <a:latin typeface="SimSun"/>
                <a:cs typeface="SimSun"/>
              </a:rPr>
              <a:t>2</a:t>
            </a:r>
            <a:r>
              <a:rPr dirty="0" sz="1200">
                <a:latin typeface="SimSun"/>
                <a:cs typeface="SimSun"/>
              </a:rPr>
              <a:t>	</a:t>
            </a:r>
            <a:r>
              <a:rPr dirty="0" sz="1200" spc="-560">
                <a:latin typeface="SimSun"/>
                <a:cs typeface="SimSun"/>
              </a:rPr>
              <a:t> </a:t>
            </a:r>
            <a:r>
              <a:rPr dirty="0" sz="1200">
                <a:latin typeface="SimSun"/>
                <a:cs typeface="SimSun"/>
              </a:rPr>
              <a:t>波束</a:t>
            </a:r>
            <a:r>
              <a:rPr dirty="0" sz="1200" spc="-10">
                <a:latin typeface="SimSun"/>
                <a:cs typeface="SimSun"/>
              </a:rPr>
              <a:t>3</a:t>
            </a:r>
            <a:r>
              <a:rPr dirty="0" baseline="32407" sz="1800" spc="-75">
                <a:latin typeface="SimSun"/>
                <a:cs typeface="SimSun"/>
              </a:rPr>
              <a:t>线</a:t>
            </a:r>
            <a:r>
              <a:rPr dirty="0" baseline="32407" sz="1800">
                <a:latin typeface="SimSun"/>
                <a:cs typeface="SimSun"/>
              </a:rPr>
              <a:t>	</a:t>
            </a:r>
            <a:r>
              <a:rPr dirty="0" sz="1200" spc="-25">
                <a:latin typeface="Microsoft YaHei"/>
                <a:cs typeface="Microsoft YaHei"/>
              </a:rPr>
              <a:t>0.5</a:t>
            </a:r>
            <a:r>
              <a:rPr dirty="0" sz="1200">
                <a:latin typeface="Microsoft YaHei"/>
                <a:cs typeface="Microsoft YaHei"/>
              </a:rPr>
              <a:t>		</a:t>
            </a:r>
            <a:r>
              <a:rPr dirty="0" sz="1200" spc="-20">
                <a:latin typeface="Microsoft YaHei"/>
                <a:cs typeface="Microsoft YaHei"/>
              </a:rPr>
              <a:t>-</a:t>
            </a:r>
            <a:r>
              <a:rPr dirty="0" sz="1200" spc="-25">
                <a:latin typeface="Microsoft YaHei"/>
                <a:cs typeface="Microsoft YaHei"/>
              </a:rPr>
              <a:t>17</a:t>
            </a:r>
            <a:r>
              <a:rPr dirty="0" sz="1200">
                <a:latin typeface="Microsoft YaHei"/>
                <a:cs typeface="Microsoft YaHei"/>
              </a:rPr>
              <a:t>	</a:t>
            </a:r>
            <a:r>
              <a:rPr dirty="0" sz="1200" spc="-10">
                <a:latin typeface="Microsoft YaHei"/>
                <a:cs typeface="Microsoft YaHei"/>
              </a:rPr>
              <a:t>18.25</a:t>
            </a:r>
            <a:endParaRPr sz="1200">
              <a:latin typeface="Microsoft YaHei"/>
              <a:cs typeface="Microsoft YaHei"/>
            </a:endParaRPr>
          </a:p>
          <a:p>
            <a:pPr>
              <a:lnSpc>
                <a:spcPct val="100000"/>
              </a:lnSpc>
              <a:spcBef>
                <a:spcPts val="1440"/>
              </a:spcBef>
              <a:tabLst>
                <a:tab pos="372745" algn="l"/>
                <a:tab pos="995044" algn="l"/>
                <a:tab pos="1648460" algn="l"/>
              </a:tabLst>
            </a:pPr>
            <a:r>
              <a:rPr dirty="0" baseline="32407" sz="1800" spc="-75">
                <a:latin typeface="SimSun"/>
                <a:cs typeface="SimSun"/>
              </a:rPr>
              <a:t>线</a:t>
            </a:r>
            <a:r>
              <a:rPr dirty="0" baseline="32407" sz="1800">
                <a:latin typeface="SimSun"/>
                <a:cs typeface="SimSun"/>
              </a:rPr>
              <a:t>	</a:t>
            </a:r>
            <a:r>
              <a:rPr dirty="0" sz="1200" spc="-20">
                <a:latin typeface="Microsoft YaHei"/>
                <a:cs typeface="Microsoft YaHei"/>
              </a:rPr>
              <a:t>-</a:t>
            </a:r>
            <a:r>
              <a:rPr dirty="0" sz="1200" spc="-25">
                <a:latin typeface="Microsoft YaHei"/>
                <a:cs typeface="Microsoft YaHei"/>
              </a:rPr>
              <a:t>11</a:t>
            </a:r>
            <a:r>
              <a:rPr dirty="0" sz="1200">
                <a:latin typeface="Microsoft YaHei"/>
                <a:cs typeface="Microsoft YaHei"/>
              </a:rPr>
              <a:t>	</a:t>
            </a:r>
            <a:r>
              <a:rPr dirty="0" sz="1200" spc="-20">
                <a:latin typeface="Microsoft YaHei"/>
                <a:cs typeface="Microsoft YaHei"/>
              </a:rPr>
              <a:t>-</a:t>
            </a:r>
            <a:r>
              <a:rPr dirty="0" sz="1200" spc="-25">
                <a:latin typeface="Microsoft YaHei"/>
                <a:cs typeface="Microsoft YaHei"/>
              </a:rPr>
              <a:t>11</a:t>
            </a:r>
            <a:r>
              <a:rPr dirty="0" sz="1200">
                <a:latin typeface="Microsoft YaHei"/>
                <a:cs typeface="Microsoft YaHei"/>
              </a:rPr>
              <a:t>	</a:t>
            </a:r>
            <a:r>
              <a:rPr dirty="0" sz="1200" spc="-20">
                <a:latin typeface="Microsoft YaHei"/>
                <a:cs typeface="Microsoft YaHei"/>
              </a:rPr>
              <a:t>-</a:t>
            </a:r>
            <a:r>
              <a:rPr dirty="0" sz="1200" spc="-25">
                <a:latin typeface="Microsoft YaHei"/>
                <a:cs typeface="Microsoft YaHei"/>
              </a:rPr>
              <a:t>11</a:t>
            </a:r>
            <a:endParaRPr sz="1200">
              <a:latin typeface="Microsoft YaHei"/>
              <a:cs typeface="Microsoft YaHei"/>
            </a:endParaRPr>
          </a:p>
          <a:p>
            <a:pPr marL="39370">
              <a:lnSpc>
                <a:spcPts val="1595"/>
              </a:lnSpc>
              <a:spcBef>
                <a:spcPts val="1440"/>
              </a:spcBef>
            </a:pPr>
            <a:r>
              <a:rPr dirty="0" sz="1400" spc="-25">
                <a:latin typeface="SimSun"/>
                <a:cs typeface="SimSun"/>
              </a:rPr>
              <a:t>体覆盖在高层相对宽波束增</a:t>
            </a:r>
            <a:endParaRPr sz="1400">
              <a:latin typeface="SimSun"/>
              <a:cs typeface="SimSun"/>
            </a:endParaRPr>
          </a:p>
        </p:txBody>
      </p:sp>
      <p:sp>
        <p:nvSpPr>
          <p:cNvPr id="22" name="object 22" descr=""/>
          <p:cNvSpPr txBox="1"/>
          <p:nvPr/>
        </p:nvSpPr>
        <p:spPr>
          <a:xfrm>
            <a:off x="4333726" y="1200012"/>
            <a:ext cx="2272030" cy="1665605"/>
          </a:xfrm>
          <a:prstGeom prst="rect">
            <a:avLst/>
          </a:prstGeom>
        </p:spPr>
        <p:txBody>
          <a:bodyPr wrap="square" lIns="0" tIns="0" rIns="0" bIns="0" rtlCol="0" vert="horz">
            <a:spAutoFit/>
          </a:bodyPr>
          <a:lstStyle/>
          <a:p>
            <a:pPr marL="99060">
              <a:lnSpc>
                <a:spcPts val="1480"/>
              </a:lnSpc>
            </a:pPr>
            <a:r>
              <a:rPr dirty="0" sz="1400" spc="-25">
                <a:latin typeface="SimSun"/>
                <a:cs typeface="SimSun"/>
              </a:rPr>
              <a:t>盖性能有明显提升，测试结</a:t>
            </a:r>
            <a:endParaRPr sz="1400">
              <a:latin typeface="SimSun"/>
              <a:cs typeface="SimSun"/>
            </a:endParaRPr>
          </a:p>
          <a:p>
            <a:pPr marL="154305">
              <a:lnSpc>
                <a:spcPct val="100000"/>
              </a:lnSpc>
              <a:spcBef>
                <a:spcPts val="1430"/>
              </a:spcBef>
              <a:tabLst>
                <a:tab pos="593090" algn="l"/>
                <a:tab pos="1184910" algn="l"/>
                <a:tab pos="1838960" algn="l"/>
              </a:tabLst>
            </a:pPr>
            <a:r>
              <a:rPr dirty="0" sz="1200">
                <a:latin typeface="SimSun"/>
                <a:cs typeface="SimSun"/>
              </a:rPr>
              <a:t>束</a:t>
            </a:r>
            <a:r>
              <a:rPr dirty="0" sz="1200" spc="-50">
                <a:latin typeface="SimSun"/>
                <a:cs typeface="SimSun"/>
              </a:rPr>
              <a:t>4</a:t>
            </a:r>
            <a:r>
              <a:rPr dirty="0" sz="1200">
                <a:latin typeface="SimSun"/>
                <a:cs typeface="SimSun"/>
              </a:rPr>
              <a:t>	波束</a:t>
            </a:r>
            <a:r>
              <a:rPr dirty="0" sz="1200" spc="-50">
                <a:latin typeface="SimSun"/>
                <a:cs typeface="SimSun"/>
              </a:rPr>
              <a:t>5</a:t>
            </a:r>
            <a:r>
              <a:rPr dirty="0" sz="1200">
                <a:latin typeface="SimSun"/>
                <a:cs typeface="SimSun"/>
              </a:rPr>
              <a:t>	波束</a:t>
            </a:r>
            <a:r>
              <a:rPr dirty="0" sz="1200" spc="-50">
                <a:latin typeface="SimSun"/>
                <a:cs typeface="SimSun"/>
              </a:rPr>
              <a:t>6</a:t>
            </a:r>
            <a:r>
              <a:rPr dirty="0" sz="1200">
                <a:latin typeface="SimSun"/>
                <a:cs typeface="SimSun"/>
              </a:rPr>
              <a:t>	波束</a:t>
            </a:r>
            <a:r>
              <a:rPr dirty="0" sz="1200" spc="-50">
                <a:latin typeface="SimSun"/>
                <a:cs typeface="SimSun"/>
              </a:rPr>
              <a:t>7</a:t>
            </a:r>
            <a:endParaRPr sz="1200">
              <a:latin typeface="SimSun"/>
              <a:cs typeface="SimSun"/>
            </a:endParaRPr>
          </a:p>
          <a:p>
            <a:pPr marL="114300">
              <a:lnSpc>
                <a:spcPct val="100000"/>
              </a:lnSpc>
              <a:spcBef>
                <a:spcPts val="1305"/>
              </a:spcBef>
              <a:tabLst>
                <a:tab pos="631825" algn="l"/>
                <a:tab pos="1145540" algn="l"/>
                <a:tab pos="1939925" algn="l"/>
              </a:tabLst>
            </a:pPr>
            <a:r>
              <a:rPr dirty="0" sz="1200" spc="-20">
                <a:latin typeface="Microsoft YaHei"/>
                <a:cs typeface="Microsoft YaHei"/>
              </a:rPr>
              <a:t>-</a:t>
            </a:r>
            <a:r>
              <a:rPr dirty="0" sz="1200" spc="-60">
                <a:latin typeface="Microsoft YaHei"/>
                <a:cs typeface="Microsoft YaHei"/>
              </a:rPr>
              <a:t>7</a:t>
            </a:r>
            <a:r>
              <a:rPr dirty="0" sz="1200">
                <a:latin typeface="Microsoft YaHei"/>
                <a:cs typeface="Microsoft YaHei"/>
              </a:rPr>
              <a:t>	</a:t>
            </a:r>
            <a:r>
              <a:rPr dirty="0" sz="1200" spc="-20">
                <a:latin typeface="Microsoft YaHei"/>
                <a:cs typeface="Microsoft YaHei"/>
              </a:rPr>
              <a:t>6.25</a:t>
            </a:r>
            <a:r>
              <a:rPr dirty="0" sz="1200">
                <a:latin typeface="Microsoft YaHei"/>
                <a:cs typeface="Microsoft YaHei"/>
              </a:rPr>
              <a:t>	</a:t>
            </a:r>
            <a:r>
              <a:rPr dirty="0" sz="1200" spc="-20">
                <a:latin typeface="Microsoft YaHei"/>
                <a:cs typeface="Microsoft YaHei"/>
              </a:rPr>
              <a:t>-</a:t>
            </a:r>
            <a:r>
              <a:rPr dirty="0" sz="1200" spc="-10">
                <a:latin typeface="Microsoft YaHei"/>
                <a:cs typeface="Microsoft YaHei"/>
              </a:rPr>
              <a:t>20.25</a:t>
            </a:r>
            <a:r>
              <a:rPr dirty="0" sz="1200">
                <a:latin typeface="Microsoft YaHei"/>
                <a:cs typeface="Microsoft YaHei"/>
              </a:rPr>
              <a:t>	</a:t>
            </a:r>
            <a:r>
              <a:rPr dirty="0" sz="1200" spc="-25">
                <a:latin typeface="Microsoft YaHei"/>
                <a:cs typeface="Microsoft YaHei"/>
              </a:rPr>
              <a:t>20</a:t>
            </a:r>
            <a:endParaRPr sz="1200">
              <a:latin typeface="Microsoft YaHei"/>
              <a:cs typeface="Microsoft YaHei"/>
            </a:endParaRPr>
          </a:p>
          <a:p>
            <a:pPr marL="114300">
              <a:lnSpc>
                <a:spcPct val="100000"/>
              </a:lnSpc>
              <a:spcBef>
                <a:spcPts val="1440"/>
              </a:spcBef>
              <a:tabLst>
                <a:tab pos="706120" algn="l"/>
                <a:tab pos="1297940" algn="l"/>
                <a:tab pos="1951355" algn="l"/>
              </a:tabLst>
            </a:pPr>
            <a:r>
              <a:rPr dirty="0" sz="1200" spc="-20">
                <a:latin typeface="Microsoft YaHei"/>
                <a:cs typeface="Microsoft YaHei"/>
              </a:rPr>
              <a:t>-</a:t>
            </a:r>
            <a:r>
              <a:rPr dirty="0" sz="1200" spc="-60">
                <a:latin typeface="Microsoft YaHei"/>
                <a:cs typeface="Microsoft YaHei"/>
              </a:rPr>
              <a:t>1</a:t>
            </a:r>
            <a:r>
              <a:rPr dirty="0" sz="1200">
                <a:latin typeface="Microsoft YaHei"/>
                <a:cs typeface="Microsoft YaHei"/>
              </a:rPr>
              <a:t>	</a:t>
            </a:r>
            <a:r>
              <a:rPr dirty="0" sz="1200" spc="-20">
                <a:latin typeface="Microsoft YaHei"/>
                <a:cs typeface="Microsoft YaHei"/>
              </a:rPr>
              <a:t>-</a:t>
            </a:r>
            <a:r>
              <a:rPr dirty="0" sz="1200" spc="-50">
                <a:latin typeface="Microsoft YaHei"/>
                <a:cs typeface="Microsoft YaHei"/>
              </a:rPr>
              <a:t>1</a:t>
            </a:r>
            <a:r>
              <a:rPr dirty="0" sz="1200">
                <a:latin typeface="Microsoft YaHei"/>
                <a:cs typeface="Microsoft YaHei"/>
              </a:rPr>
              <a:t>	</a:t>
            </a:r>
            <a:r>
              <a:rPr dirty="0" sz="1200" spc="-20">
                <a:latin typeface="Microsoft YaHei"/>
                <a:cs typeface="Microsoft YaHei"/>
              </a:rPr>
              <a:t>-</a:t>
            </a:r>
            <a:r>
              <a:rPr dirty="0" sz="1200" spc="-50">
                <a:latin typeface="Microsoft YaHei"/>
                <a:cs typeface="Microsoft YaHei"/>
              </a:rPr>
              <a:t>1</a:t>
            </a:r>
            <a:r>
              <a:rPr dirty="0" sz="1200">
                <a:latin typeface="Microsoft YaHei"/>
                <a:cs typeface="Microsoft YaHei"/>
              </a:rPr>
              <a:t>	</a:t>
            </a:r>
            <a:r>
              <a:rPr dirty="0" sz="1200" spc="-20">
                <a:latin typeface="Microsoft YaHei"/>
                <a:cs typeface="Microsoft YaHei"/>
              </a:rPr>
              <a:t>-</a:t>
            </a:r>
            <a:r>
              <a:rPr dirty="0" sz="1200" spc="-50">
                <a:latin typeface="Microsoft YaHei"/>
                <a:cs typeface="Microsoft YaHei"/>
              </a:rPr>
              <a:t>1</a:t>
            </a:r>
            <a:endParaRPr sz="1200">
              <a:latin typeface="Microsoft YaHei"/>
              <a:cs typeface="Microsoft YaHei"/>
            </a:endParaRPr>
          </a:p>
          <a:p>
            <a:pPr>
              <a:lnSpc>
                <a:spcPct val="100000"/>
              </a:lnSpc>
              <a:spcBef>
                <a:spcPts val="1440"/>
              </a:spcBef>
            </a:pPr>
            <a:r>
              <a:rPr dirty="0" sz="1400" spc="-20">
                <a:latin typeface="SimSun"/>
                <a:cs typeface="SimSun"/>
              </a:rPr>
              <a:t>益更明显，达到</a:t>
            </a:r>
            <a:r>
              <a:rPr dirty="0" sz="1400" spc="-10">
                <a:latin typeface="Arial MT"/>
                <a:cs typeface="Arial MT"/>
              </a:rPr>
              <a:t>5dB</a:t>
            </a:r>
            <a:r>
              <a:rPr dirty="0" sz="1400" spc="-30">
                <a:latin typeface="SimSun"/>
                <a:cs typeface="SimSun"/>
              </a:rPr>
              <a:t>以上，对</a:t>
            </a:r>
            <a:endParaRPr sz="1400">
              <a:latin typeface="SimSun"/>
              <a:cs typeface="SimSun"/>
            </a:endParaRPr>
          </a:p>
        </p:txBody>
      </p:sp>
      <p:sp>
        <p:nvSpPr>
          <p:cNvPr id="23" name="object 23" descr=""/>
          <p:cNvSpPr txBox="1"/>
          <p:nvPr/>
        </p:nvSpPr>
        <p:spPr>
          <a:xfrm>
            <a:off x="6565639" y="1191863"/>
            <a:ext cx="2120900" cy="1673860"/>
          </a:xfrm>
          <a:prstGeom prst="rect">
            <a:avLst/>
          </a:prstGeom>
        </p:spPr>
        <p:txBody>
          <a:bodyPr wrap="square" lIns="0" tIns="0" rIns="0" bIns="0" rtlCol="0" vert="horz">
            <a:spAutoFit/>
          </a:bodyPr>
          <a:lstStyle/>
          <a:p>
            <a:pPr>
              <a:lnSpc>
                <a:spcPts val="1545"/>
              </a:lnSpc>
            </a:pPr>
            <a:r>
              <a:rPr dirty="0" sz="1400" spc="-20">
                <a:latin typeface="SimSun"/>
                <a:cs typeface="SimSun"/>
              </a:rPr>
              <a:t>果提升</a:t>
            </a:r>
            <a:r>
              <a:rPr dirty="0" sz="1400" spc="-10">
                <a:latin typeface="Arial MT"/>
                <a:cs typeface="Arial MT"/>
              </a:rPr>
              <a:t>3~5dB</a:t>
            </a:r>
            <a:r>
              <a:rPr dirty="0" sz="1400" spc="-50">
                <a:latin typeface="SimSun"/>
                <a:cs typeface="SimSun"/>
              </a:rPr>
              <a:t>。</a:t>
            </a:r>
            <a:endParaRPr sz="1400">
              <a:latin typeface="SimSun"/>
              <a:cs typeface="SimSun"/>
            </a:endParaRPr>
          </a:p>
          <a:p>
            <a:pPr marL="600075" indent="-384175">
              <a:lnSpc>
                <a:spcPct val="100000"/>
              </a:lnSpc>
              <a:spcBef>
                <a:spcPts val="830"/>
              </a:spcBef>
              <a:tabLst>
                <a:tab pos="1596390" algn="l"/>
              </a:tabLst>
            </a:pPr>
            <a:r>
              <a:rPr dirty="0" sz="1100" spc="-10">
                <a:latin typeface="SimSun"/>
                <a:cs typeface="SimSun"/>
              </a:rPr>
              <a:t>SSB</a:t>
            </a:r>
            <a:r>
              <a:rPr dirty="0" sz="1100" spc="-20">
                <a:latin typeface="SimSun"/>
                <a:cs typeface="SimSun"/>
              </a:rPr>
              <a:t>水平波束</a:t>
            </a:r>
            <a:r>
              <a:rPr dirty="0" sz="1100">
                <a:latin typeface="SimSun"/>
                <a:cs typeface="SimSun"/>
              </a:rPr>
              <a:t>宽 </a:t>
            </a:r>
            <a:r>
              <a:rPr dirty="0" sz="1100" spc="-10">
                <a:latin typeface="SimSun"/>
                <a:cs typeface="SimSun"/>
              </a:rPr>
              <a:t>SSB</a:t>
            </a:r>
            <a:r>
              <a:rPr dirty="0" sz="1100" spc="-20">
                <a:latin typeface="SimSun"/>
                <a:cs typeface="SimSun"/>
              </a:rPr>
              <a:t>垂直波束</a:t>
            </a:r>
            <a:r>
              <a:rPr dirty="0" sz="1100" spc="-50">
                <a:latin typeface="SimSun"/>
                <a:cs typeface="SimSun"/>
              </a:rPr>
              <a:t>宽度</a:t>
            </a:r>
            <a:r>
              <a:rPr dirty="0" sz="1100">
                <a:latin typeface="SimSun"/>
                <a:cs typeface="SimSun"/>
              </a:rPr>
              <a:t>	</a:t>
            </a:r>
            <a:r>
              <a:rPr dirty="0" sz="1100" spc="-50">
                <a:latin typeface="SimSun"/>
                <a:cs typeface="SimSun"/>
              </a:rPr>
              <a:t>度</a:t>
            </a:r>
            <a:endParaRPr sz="1100">
              <a:latin typeface="SimSun"/>
              <a:cs typeface="SimSun"/>
            </a:endParaRPr>
          </a:p>
          <a:p>
            <a:pPr>
              <a:lnSpc>
                <a:spcPct val="100000"/>
              </a:lnSpc>
              <a:spcBef>
                <a:spcPts val="735"/>
              </a:spcBef>
            </a:pPr>
            <a:endParaRPr sz="1100">
              <a:latin typeface="SimSun"/>
              <a:cs typeface="SimSun"/>
            </a:endParaRPr>
          </a:p>
          <a:p>
            <a:pPr marL="580390">
              <a:lnSpc>
                <a:spcPct val="100000"/>
              </a:lnSpc>
              <a:tabLst>
                <a:tab pos="1558290" algn="l"/>
              </a:tabLst>
            </a:pPr>
            <a:r>
              <a:rPr dirty="0" sz="1200" spc="-25">
                <a:latin typeface="Microsoft YaHei"/>
                <a:cs typeface="Microsoft YaHei"/>
              </a:rPr>
              <a:t>65</a:t>
            </a:r>
            <a:r>
              <a:rPr dirty="0" sz="1200">
                <a:latin typeface="Microsoft YaHei"/>
                <a:cs typeface="Microsoft YaHei"/>
              </a:rPr>
              <a:t>	</a:t>
            </a:r>
            <a:r>
              <a:rPr dirty="0" sz="1200" spc="-25">
                <a:latin typeface="Microsoft YaHei"/>
                <a:cs typeface="Microsoft YaHei"/>
              </a:rPr>
              <a:t>6.5</a:t>
            </a:r>
            <a:endParaRPr sz="1200">
              <a:latin typeface="Microsoft YaHei"/>
              <a:cs typeface="Microsoft YaHei"/>
            </a:endParaRPr>
          </a:p>
          <a:p>
            <a:pPr>
              <a:lnSpc>
                <a:spcPct val="100000"/>
              </a:lnSpc>
              <a:spcBef>
                <a:spcPts val="665"/>
              </a:spcBef>
            </a:pPr>
            <a:endParaRPr sz="1200">
              <a:latin typeface="Microsoft YaHei"/>
              <a:cs typeface="Microsoft YaHei"/>
            </a:endParaRPr>
          </a:p>
          <a:p>
            <a:pPr marL="39370">
              <a:lnSpc>
                <a:spcPct val="100000"/>
              </a:lnSpc>
            </a:pPr>
            <a:r>
              <a:rPr dirty="0" sz="1400" spc="-20">
                <a:latin typeface="SimSun"/>
                <a:cs typeface="SimSun"/>
              </a:rPr>
              <a:t>于低层覆盖有</a:t>
            </a:r>
            <a:r>
              <a:rPr dirty="0" sz="1400" spc="-10">
                <a:latin typeface="Arial MT"/>
                <a:cs typeface="Arial MT"/>
              </a:rPr>
              <a:t>3dB</a:t>
            </a:r>
            <a:r>
              <a:rPr dirty="0" sz="1400" spc="-30">
                <a:latin typeface="SimSun"/>
                <a:cs typeface="SimSun"/>
              </a:rPr>
              <a:t>左右增</a:t>
            </a:r>
            <a:endParaRPr sz="1400">
              <a:latin typeface="SimSun"/>
              <a:cs typeface="SimSun"/>
            </a:endParaRPr>
          </a:p>
        </p:txBody>
      </p:sp>
      <p:grpSp>
        <p:nvGrpSpPr>
          <p:cNvPr id="24" name="object 24" descr=""/>
          <p:cNvGrpSpPr/>
          <p:nvPr/>
        </p:nvGrpSpPr>
        <p:grpSpPr>
          <a:xfrm>
            <a:off x="321148" y="1217993"/>
            <a:ext cx="8625840" cy="3568065"/>
            <a:chOff x="321148" y="1217993"/>
            <a:chExt cx="8625840" cy="3568065"/>
          </a:xfrm>
        </p:grpSpPr>
        <p:pic>
          <p:nvPicPr>
            <p:cNvPr id="25" name="object 25"/>
            <p:cNvPicPr/>
            <p:nvPr/>
          </p:nvPicPr>
          <p:blipFill>
            <a:blip r:embed="rId3" cstate="print"/>
            <a:stretch>
              <a:fillRect/>
            </a:stretch>
          </p:blipFill>
          <p:spPr>
            <a:xfrm>
              <a:off x="6758228" y="1238681"/>
              <a:ext cx="2188257" cy="1657104"/>
            </a:xfrm>
            <a:prstGeom prst="rect">
              <a:avLst/>
            </a:prstGeom>
          </p:spPr>
        </p:pic>
        <p:pic>
          <p:nvPicPr>
            <p:cNvPr id="26" name="object 26"/>
            <p:cNvPicPr/>
            <p:nvPr/>
          </p:nvPicPr>
          <p:blipFill>
            <a:blip r:embed="rId4" cstate="print"/>
            <a:stretch>
              <a:fillRect/>
            </a:stretch>
          </p:blipFill>
          <p:spPr>
            <a:xfrm>
              <a:off x="4486516" y="1238681"/>
              <a:ext cx="2216833" cy="1657104"/>
            </a:xfrm>
            <a:prstGeom prst="rect">
              <a:avLst/>
            </a:prstGeom>
          </p:spPr>
        </p:pic>
        <p:sp>
          <p:nvSpPr>
            <p:cNvPr id="27" name="object 27" descr=""/>
            <p:cNvSpPr/>
            <p:nvPr/>
          </p:nvSpPr>
          <p:spPr>
            <a:xfrm>
              <a:off x="720404" y="1747203"/>
              <a:ext cx="0" cy="583565"/>
            </a:xfrm>
            <a:custGeom>
              <a:avLst/>
              <a:gdLst/>
              <a:ahLst/>
              <a:cxnLst/>
              <a:rect l="l" t="t" r="r" b="b"/>
              <a:pathLst>
                <a:path w="0" h="583564">
                  <a:moveTo>
                    <a:pt x="0" y="0"/>
                  </a:moveTo>
                  <a:lnTo>
                    <a:pt x="0" y="583565"/>
                  </a:lnTo>
                </a:path>
              </a:pathLst>
            </a:custGeom>
            <a:ln w="6350">
              <a:solidFill>
                <a:srgbClr val="000000"/>
              </a:solidFill>
            </a:ln>
          </p:spPr>
          <p:txBody>
            <a:bodyPr wrap="square" lIns="0" tIns="0" rIns="0" bIns="0" rtlCol="0"/>
            <a:lstStyle/>
            <a:p/>
          </p:txBody>
        </p:sp>
        <p:sp>
          <p:nvSpPr>
            <p:cNvPr id="28" name="object 28" descr=""/>
            <p:cNvSpPr/>
            <p:nvPr/>
          </p:nvSpPr>
          <p:spPr>
            <a:xfrm>
              <a:off x="1470498" y="1747203"/>
              <a:ext cx="0" cy="583565"/>
            </a:xfrm>
            <a:custGeom>
              <a:avLst/>
              <a:gdLst/>
              <a:ahLst/>
              <a:cxnLst/>
              <a:rect l="l" t="t" r="r" b="b"/>
              <a:pathLst>
                <a:path w="0" h="583564">
                  <a:moveTo>
                    <a:pt x="0" y="0"/>
                  </a:moveTo>
                  <a:lnTo>
                    <a:pt x="0" y="583565"/>
                  </a:lnTo>
                </a:path>
              </a:pathLst>
            </a:custGeom>
            <a:ln w="6350">
              <a:solidFill>
                <a:srgbClr val="000000"/>
              </a:solidFill>
            </a:ln>
          </p:spPr>
          <p:txBody>
            <a:bodyPr wrap="square" lIns="0" tIns="0" rIns="0" bIns="0" rtlCol="0"/>
            <a:lstStyle/>
            <a:p/>
          </p:txBody>
        </p:sp>
        <p:sp>
          <p:nvSpPr>
            <p:cNvPr id="29" name="object 29" descr=""/>
            <p:cNvSpPr/>
            <p:nvPr/>
          </p:nvSpPr>
          <p:spPr>
            <a:xfrm>
              <a:off x="324323" y="1750378"/>
              <a:ext cx="1663700" cy="0"/>
            </a:xfrm>
            <a:custGeom>
              <a:avLst/>
              <a:gdLst/>
              <a:ahLst/>
              <a:cxnLst/>
              <a:rect l="l" t="t" r="r" b="b"/>
              <a:pathLst>
                <a:path w="1663700" h="0">
                  <a:moveTo>
                    <a:pt x="0" y="0"/>
                  </a:moveTo>
                  <a:lnTo>
                    <a:pt x="1663700" y="0"/>
                  </a:lnTo>
                </a:path>
              </a:pathLst>
            </a:custGeom>
            <a:ln w="6350">
              <a:solidFill>
                <a:srgbClr val="000000"/>
              </a:solidFill>
            </a:ln>
          </p:spPr>
          <p:txBody>
            <a:bodyPr wrap="square" lIns="0" tIns="0" rIns="0" bIns="0" rtlCol="0"/>
            <a:lstStyle/>
            <a:p/>
          </p:txBody>
        </p:sp>
        <p:sp>
          <p:nvSpPr>
            <p:cNvPr id="30" name="object 30" descr=""/>
            <p:cNvSpPr/>
            <p:nvPr/>
          </p:nvSpPr>
          <p:spPr>
            <a:xfrm>
              <a:off x="324323" y="1894682"/>
              <a:ext cx="1663700" cy="0"/>
            </a:xfrm>
            <a:custGeom>
              <a:avLst/>
              <a:gdLst/>
              <a:ahLst/>
              <a:cxnLst/>
              <a:rect l="l" t="t" r="r" b="b"/>
              <a:pathLst>
                <a:path w="1663700" h="0">
                  <a:moveTo>
                    <a:pt x="0" y="0"/>
                  </a:moveTo>
                  <a:lnTo>
                    <a:pt x="1663700" y="0"/>
                  </a:lnTo>
                </a:path>
              </a:pathLst>
            </a:custGeom>
            <a:ln w="6350">
              <a:solidFill>
                <a:srgbClr val="000000"/>
              </a:solidFill>
            </a:ln>
          </p:spPr>
          <p:txBody>
            <a:bodyPr wrap="square" lIns="0" tIns="0" rIns="0" bIns="0" rtlCol="0"/>
            <a:lstStyle/>
            <a:p/>
          </p:txBody>
        </p:sp>
        <p:sp>
          <p:nvSpPr>
            <p:cNvPr id="31" name="object 31" descr=""/>
            <p:cNvSpPr/>
            <p:nvPr/>
          </p:nvSpPr>
          <p:spPr>
            <a:xfrm>
              <a:off x="324323" y="2038986"/>
              <a:ext cx="1663700" cy="0"/>
            </a:xfrm>
            <a:custGeom>
              <a:avLst/>
              <a:gdLst/>
              <a:ahLst/>
              <a:cxnLst/>
              <a:rect l="l" t="t" r="r" b="b"/>
              <a:pathLst>
                <a:path w="1663700" h="0">
                  <a:moveTo>
                    <a:pt x="0" y="0"/>
                  </a:moveTo>
                  <a:lnTo>
                    <a:pt x="1663700" y="0"/>
                  </a:lnTo>
                </a:path>
              </a:pathLst>
            </a:custGeom>
            <a:ln w="6350">
              <a:solidFill>
                <a:srgbClr val="000000"/>
              </a:solidFill>
            </a:ln>
          </p:spPr>
          <p:txBody>
            <a:bodyPr wrap="square" lIns="0" tIns="0" rIns="0" bIns="0" rtlCol="0"/>
            <a:lstStyle/>
            <a:p/>
          </p:txBody>
        </p:sp>
        <p:sp>
          <p:nvSpPr>
            <p:cNvPr id="32" name="object 32" descr=""/>
            <p:cNvSpPr/>
            <p:nvPr/>
          </p:nvSpPr>
          <p:spPr>
            <a:xfrm>
              <a:off x="324323" y="2183291"/>
              <a:ext cx="1663700" cy="0"/>
            </a:xfrm>
            <a:custGeom>
              <a:avLst/>
              <a:gdLst/>
              <a:ahLst/>
              <a:cxnLst/>
              <a:rect l="l" t="t" r="r" b="b"/>
              <a:pathLst>
                <a:path w="1663700" h="0">
                  <a:moveTo>
                    <a:pt x="0" y="0"/>
                  </a:moveTo>
                  <a:lnTo>
                    <a:pt x="1663700" y="0"/>
                  </a:lnTo>
                </a:path>
              </a:pathLst>
            </a:custGeom>
            <a:ln w="6350">
              <a:solidFill>
                <a:srgbClr val="000000"/>
              </a:solidFill>
            </a:ln>
          </p:spPr>
          <p:txBody>
            <a:bodyPr wrap="square" lIns="0" tIns="0" rIns="0" bIns="0" rtlCol="0"/>
            <a:lstStyle/>
            <a:p/>
          </p:txBody>
        </p:sp>
        <p:sp>
          <p:nvSpPr>
            <p:cNvPr id="33" name="object 33" descr=""/>
            <p:cNvSpPr/>
            <p:nvPr/>
          </p:nvSpPr>
          <p:spPr>
            <a:xfrm>
              <a:off x="327498" y="1602900"/>
              <a:ext cx="0" cy="728345"/>
            </a:xfrm>
            <a:custGeom>
              <a:avLst/>
              <a:gdLst/>
              <a:ahLst/>
              <a:cxnLst/>
              <a:rect l="l" t="t" r="r" b="b"/>
              <a:pathLst>
                <a:path w="0" h="728344">
                  <a:moveTo>
                    <a:pt x="0" y="0"/>
                  </a:moveTo>
                  <a:lnTo>
                    <a:pt x="0" y="727875"/>
                  </a:lnTo>
                </a:path>
              </a:pathLst>
            </a:custGeom>
            <a:ln w="6350">
              <a:solidFill>
                <a:srgbClr val="000000"/>
              </a:solidFill>
            </a:ln>
          </p:spPr>
          <p:txBody>
            <a:bodyPr wrap="square" lIns="0" tIns="0" rIns="0" bIns="0" rtlCol="0"/>
            <a:lstStyle/>
            <a:p/>
          </p:txBody>
        </p:sp>
        <p:sp>
          <p:nvSpPr>
            <p:cNvPr id="34" name="object 34" descr=""/>
            <p:cNvSpPr/>
            <p:nvPr/>
          </p:nvSpPr>
          <p:spPr>
            <a:xfrm>
              <a:off x="1984848" y="1602900"/>
              <a:ext cx="0" cy="728345"/>
            </a:xfrm>
            <a:custGeom>
              <a:avLst/>
              <a:gdLst/>
              <a:ahLst/>
              <a:cxnLst/>
              <a:rect l="l" t="t" r="r" b="b"/>
              <a:pathLst>
                <a:path w="0" h="728344">
                  <a:moveTo>
                    <a:pt x="0" y="0"/>
                  </a:moveTo>
                  <a:lnTo>
                    <a:pt x="0" y="727875"/>
                  </a:lnTo>
                </a:path>
              </a:pathLst>
            </a:custGeom>
            <a:ln w="6350">
              <a:solidFill>
                <a:srgbClr val="000000"/>
              </a:solidFill>
            </a:ln>
          </p:spPr>
          <p:txBody>
            <a:bodyPr wrap="square" lIns="0" tIns="0" rIns="0" bIns="0" rtlCol="0"/>
            <a:lstStyle/>
            <a:p/>
          </p:txBody>
        </p:sp>
        <p:sp>
          <p:nvSpPr>
            <p:cNvPr id="35" name="object 35" descr=""/>
            <p:cNvSpPr/>
            <p:nvPr/>
          </p:nvSpPr>
          <p:spPr>
            <a:xfrm>
              <a:off x="324323" y="1606075"/>
              <a:ext cx="1663700" cy="0"/>
            </a:xfrm>
            <a:custGeom>
              <a:avLst/>
              <a:gdLst/>
              <a:ahLst/>
              <a:cxnLst/>
              <a:rect l="l" t="t" r="r" b="b"/>
              <a:pathLst>
                <a:path w="1663700" h="0">
                  <a:moveTo>
                    <a:pt x="0" y="0"/>
                  </a:moveTo>
                  <a:lnTo>
                    <a:pt x="1663700" y="0"/>
                  </a:lnTo>
                </a:path>
              </a:pathLst>
            </a:custGeom>
            <a:ln w="6350">
              <a:solidFill>
                <a:srgbClr val="000000"/>
              </a:solidFill>
            </a:ln>
          </p:spPr>
          <p:txBody>
            <a:bodyPr wrap="square" lIns="0" tIns="0" rIns="0" bIns="0" rtlCol="0"/>
            <a:lstStyle/>
            <a:p/>
          </p:txBody>
        </p:sp>
        <p:sp>
          <p:nvSpPr>
            <p:cNvPr id="36" name="object 36" descr=""/>
            <p:cNvSpPr/>
            <p:nvPr/>
          </p:nvSpPr>
          <p:spPr>
            <a:xfrm>
              <a:off x="324323" y="2327595"/>
              <a:ext cx="1663700" cy="0"/>
            </a:xfrm>
            <a:custGeom>
              <a:avLst/>
              <a:gdLst/>
              <a:ahLst/>
              <a:cxnLst/>
              <a:rect l="l" t="t" r="r" b="b"/>
              <a:pathLst>
                <a:path w="1663700" h="0">
                  <a:moveTo>
                    <a:pt x="0" y="0"/>
                  </a:moveTo>
                  <a:lnTo>
                    <a:pt x="1663700" y="0"/>
                  </a:lnTo>
                </a:path>
              </a:pathLst>
            </a:custGeom>
            <a:ln w="6350">
              <a:solidFill>
                <a:srgbClr val="000000"/>
              </a:solidFill>
            </a:ln>
          </p:spPr>
          <p:txBody>
            <a:bodyPr wrap="square" lIns="0" tIns="0" rIns="0" bIns="0" rtlCol="0"/>
            <a:lstStyle/>
            <a:p/>
          </p:txBody>
        </p:sp>
        <p:pic>
          <p:nvPicPr>
            <p:cNvPr id="37" name="object 37"/>
            <p:cNvPicPr/>
            <p:nvPr/>
          </p:nvPicPr>
          <p:blipFill>
            <a:blip r:embed="rId5" cstate="print"/>
            <a:stretch>
              <a:fillRect/>
            </a:stretch>
          </p:blipFill>
          <p:spPr>
            <a:xfrm>
              <a:off x="2195735" y="1217993"/>
              <a:ext cx="2235891" cy="1657095"/>
            </a:xfrm>
            <a:prstGeom prst="rect">
              <a:avLst/>
            </a:prstGeom>
          </p:spPr>
        </p:pic>
        <p:pic>
          <p:nvPicPr>
            <p:cNvPr id="38" name="object 38"/>
            <p:cNvPicPr/>
            <p:nvPr/>
          </p:nvPicPr>
          <p:blipFill>
            <a:blip r:embed="rId6" cstate="print"/>
            <a:stretch>
              <a:fillRect/>
            </a:stretch>
          </p:blipFill>
          <p:spPr>
            <a:xfrm>
              <a:off x="6758228" y="3111810"/>
              <a:ext cx="2188257" cy="1674184"/>
            </a:xfrm>
            <a:prstGeom prst="rect">
              <a:avLst/>
            </a:prstGeom>
          </p:spPr>
        </p:pic>
        <p:pic>
          <p:nvPicPr>
            <p:cNvPr id="39" name="object 39"/>
            <p:cNvPicPr/>
            <p:nvPr/>
          </p:nvPicPr>
          <p:blipFill>
            <a:blip r:embed="rId7" cstate="print"/>
            <a:stretch>
              <a:fillRect/>
            </a:stretch>
          </p:blipFill>
          <p:spPr>
            <a:xfrm>
              <a:off x="2193369" y="3111810"/>
              <a:ext cx="2238267" cy="1674184"/>
            </a:xfrm>
            <a:prstGeom prst="rect">
              <a:avLst/>
            </a:prstGeom>
          </p:spPr>
        </p:pic>
      </p:grpSp>
      <p:sp>
        <p:nvSpPr>
          <p:cNvPr id="40" name="object 40" descr=""/>
          <p:cNvSpPr txBox="1"/>
          <p:nvPr/>
        </p:nvSpPr>
        <p:spPr>
          <a:xfrm>
            <a:off x="253394" y="3048688"/>
            <a:ext cx="65405" cy="162560"/>
          </a:xfrm>
          <a:prstGeom prst="rect">
            <a:avLst/>
          </a:prstGeom>
        </p:spPr>
        <p:txBody>
          <a:bodyPr wrap="square" lIns="0" tIns="12700" rIns="0" bIns="0" rtlCol="0" vert="horz">
            <a:spAutoFit/>
          </a:bodyPr>
          <a:lstStyle/>
          <a:p>
            <a:pPr marL="12700">
              <a:lnSpc>
                <a:spcPct val="100000"/>
              </a:lnSpc>
              <a:spcBef>
                <a:spcPts val="100"/>
              </a:spcBef>
            </a:pPr>
            <a:r>
              <a:rPr dirty="0" sz="900" spc="-50">
                <a:latin typeface="Arial MT"/>
                <a:cs typeface="Arial MT"/>
              </a:rPr>
              <a:t>•</a:t>
            </a:r>
            <a:endParaRPr sz="900">
              <a:latin typeface="Arial MT"/>
              <a:cs typeface="Arial MT"/>
            </a:endParaRPr>
          </a:p>
        </p:txBody>
      </p:sp>
      <p:pic>
        <p:nvPicPr>
          <p:cNvPr id="41" name="object 41"/>
          <p:cNvPicPr/>
          <p:nvPr/>
        </p:nvPicPr>
        <p:blipFill>
          <a:blip r:embed="rId8" cstate="print"/>
          <a:stretch>
            <a:fillRect/>
          </a:stretch>
        </p:blipFill>
        <p:spPr>
          <a:xfrm>
            <a:off x="4486516" y="3111807"/>
            <a:ext cx="2216833" cy="1674187"/>
          </a:xfrm>
          <a:prstGeom prst="rect">
            <a:avLst/>
          </a:prstGeom>
        </p:spPr>
      </p:pic>
      <p:sp>
        <p:nvSpPr>
          <p:cNvPr id="42" name="object 42" descr=""/>
          <p:cNvSpPr txBox="1"/>
          <p:nvPr/>
        </p:nvSpPr>
        <p:spPr>
          <a:xfrm>
            <a:off x="199387" y="2461591"/>
            <a:ext cx="120650" cy="162560"/>
          </a:xfrm>
          <a:prstGeom prst="rect">
            <a:avLst/>
          </a:prstGeom>
        </p:spPr>
        <p:txBody>
          <a:bodyPr wrap="square" lIns="0" tIns="12700" rIns="0" bIns="0" rtlCol="0" vert="horz">
            <a:spAutoFit/>
          </a:bodyPr>
          <a:lstStyle/>
          <a:p>
            <a:pPr marL="12700">
              <a:lnSpc>
                <a:spcPct val="100000"/>
              </a:lnSpc>
              <a:spcBef>
                <a:spcPts val="100"/>
              </a:spcBef>
            </a:pPr>
            <a:r>
              <a:rPr dirty="0" sz="900" spc="-25">
                <a:latin typeface="Arial MT"/>
                <a:cs typeface="Arial MT"/>
              </a:rPr>
              <a:t>3.</a:t>
            </a:r>
            <a:endParaRPr sz="900">
              <a:latin typeface="Arial MT"/>
              <a:cs typeface="Arial MT"/>
            </a:endParaRPr>
          </a:p>
        </p:txBody>
      </p:sp>
      <p:sp>
        <p:nvSpPr>
          <p:cNvPr id="43" name="object 43" descr=""/>
          <p:cNvSpPr txBox="1"/>
          <p:nvPr/>
        </p:nvSpPr>
        <p:spPr>
          <a:xfrm>
            <a:off x="2010975" y="1191863"/>
            <a:ext cx="192405" cy="1661160"/>
          </a:xfrm>
          <a:prstGeom prst="rect">
            <a:avLst/>
          </a:prstGeom>
        </p:spPr>
        <p:txBody>
          <a:bodyPr wrap="square" lIns="0" tIns="0" rIns="0" bIns="0" rtlCol="0" vert="horz">
            <a:spAutoFit/>
          </a:bodyPr>
          <a:lstStyle/>
          <a:p>
            <a:pPr marL="67310">
              <a:lnSpc>
                <a:spcPts val="1545"/>
              </a:lnSpc>
            </a:pPr>
            <a:r>
              <a:rPr dirty="0" sz="1400" spc="-50">
                <a:latin typeface="Arial MT"/>
                <a:cs typeface="Arial MT"/>
              </a:rPr>
              <a:t>4</a:t>
            </a:r>
            <a:endParaRPr sz="1400">
              <a:latin typeface="Arial MT"/>
              <a:cs typeface="Arial MT"/>
            </a:endParaRPr>
          </a:p>
          <a:p>
            <a:pPr marR="31750">
              <a:lnSpc>
                <a:spcPct val="141700"/>
              </a:lnSpc>
              <a:spcBef>
                <a:spcPts val="830"/>
              </a:spcBef>
            </a:pPr>
            <a:r>
              <a:rPr dirty="0" sz="1200" spc="-50">
                <a:latin typeface="SimSun"/>
                <a:cs typeface="SimSun"/>
              </a:rPr>
              <a:t>置法</a:t>
            </a:r>
            <a:endParaRPr sz="1200">
              <a:latin typeface="SimSun"/>
              <a:cs typeface="SimSun"/>
            </a:endParaRPr>
          </a:p>
          <a:p>
            <a:pPr>
              <a:lnSpc>
                <a:spcPct val="100000"/>
              </a:lnSpc>
              <a:spcBef>
                <a:spcPts val="1440"/>
              </a:spcBef>
            </a:pPr>
            <a:r>
              <a:rPr dirty="0" sz="1200" spc="-50">
                <a:latin typeface="SimSun"/>
                <a:cs typeface="SimSun"/>
              </a:rPr>
              <a:t>法</a:t>
            </a:r>
            <a:endParaRPr sz="1200">
              <a:latin typeface="SimSun"/>
              <a:cs typeface="SimSun"/>
            </a:endParaRPr>
          </a:p>
          <a:p>
            <a:pPr marL="14604">
              <a:lnSpc>
                <a:spcPct val="100000"/>
              </a:lnSpc>
              <a:spcBef>
                <a:spcPts val="1340"/>
              </a:spcBef>
            </a:pPr>
            <a:r>
              <a:rPr dirty="0" baseline="-31746" sz="2100" spc="-1725">
                <a:latin typeface="SimSun"/>
                <a:cs typeface="SimSun"/>
              </a:rPr>
              <a:t>立</a:t>
            </a:r>
            <a:r>
              <a:rPr dirty="0" sz="900" spc="-50">
                <a:latin typeface="SimSun"/>
                <a:cs typeface="SimSun"/>
              </a:rPr>
              <a:t>区</a:t>
            </a:r>
            <a:endParaRPr sz="900">
              <a:latin typeface="SimSun"/>
              <a:cs typeface="SimSun"/>
            </a:endParaRPr>
          </a:p>
        </p:txBody>
      </p:sp>
      <p:sp>
        <p:nvSpPr>
          <p:cNvPr id="44" name="object 44" descr=""/>
          <p:cNvSpPr txBox="1"/>
          <p:nvPr/>
        </p:nvSpPr>
        <p:spPr>
          <a:xfrm>
            <a:off x="199387" y="2735911"/>
            <a:ext cx="139700" cy="162560"/>
          </a:xfrm>
          <a:prstGeom prst="rect">
            <a:avLst/>
          </a:prstGeom>
        </p:spPr>
        <p:txBody>
          <a:bodyPr wrap="square" lIns="0" tIns="12700" rIns="0" bIns="0" rtlCol="0" vert="horz">
            <a:spAutoFit/>
          </a:bodyPr>
          <a:lstStyle/>
          <a:p>
            <a:pPr marL="12700">
              <a:lnSpc>
                <a:spcPct val="100000"/>
              </a:lnSpc>
              <a:spcBef>
                <a:spcPts val="100"/>
              </a:spcBef>
            </a:pPr>
            <a:r>
              <a:rPr dirty="0" sz="900" spc="-50">
                <a:latin typeface="SimSun"/>
                <a:cs typeface="SimSun"/>
              </a:rPr>
              <a:t>间</a:t>
            </a:r>
            <a:endParaRPr sz="900">
              <a:latin typeface="SimSun"/>
              <a:cs typeface="SimSun"/>
            </a:endParaRPr>
          </a:p>
        </p:txBody>
      </p:sp>
      <p:sp>
        <p:nvSpPr>
          <p:cNvPr id="45" name="object 45" descr=""/>
          <p:cNvSpPr txBox="1"/>
          <p:nvPr/>
        </p:nvSpPr>
        <p:spPr>
          <a:xfrm>
            <a:off x="2043973" y="4246127"/>
            <a:ext cx="114300" cy="388620"/>
          </a:xfrm>
          <a:prstGeom prst="rect">
            <a:avLst/>
          </a:prstGeom>
        </p:spPr>
        <p:txBody>
          <a:bodyPr wrap="square" lIns="0" tIns="0" rIns="0" bIns="0" rtlCol="0" vert="horz">
            <a:spAutoFit/>
          </a:bodyPr>
          <a:lstStyle/>
          <a:p>
            <a:pPr>
              <a:lnSpc>
                <a:spcPts val="955"/>
              </a:lnSpc>
            </a:pPr>
            <a:r>
              <a:rPr dirty="0" sz="900" spc="-50">
                <a:latin typeface="SimSun"/>
                <a:cs typeface="SimSun"/>
              </a:rPr>
              <a:t>的</a:t>
            </a:r>
            <a:endParaRPr sz="900">
              <a:latin typeface="SimSun"/>
              <a:cs typeface="SimSun"/>
            </a:endParaRPr>
          </a:p>
          <a:p>
            <a:pPr>
              <a:lnSpc>
                <a:spcPct val="100000"/>
              </a:lnSpc>
            </a:pPr>
            <a:r>
              <a:rPr dirty="0" sz="900" spc="-50">
                <a:latin typeface="SimSun"/>
                <a:cs typeface="SimSun"/>
              </a:rPr>
              <a:t>信可</a:t>
            </a:r>
            <a:endParaRPr sz="900">
              <a:latin typeface="SimSun"/>
              <a:cs typeface="SimSun"/>
            </a:endParaRPr>
          </a:p>
        </p:txBody>
      </p:sp>
      <p:sp>
        <p:nvSpPr>
          <p:cNvPr id="46" name="object 46" descr=""/>
          <p:cNvSpPr txBox="1"/>
          <p:nvPr/>
        </p:nvSpPr>
        <p:spPr>
          <a:xfrm>
            <a:off x="91376" y="1075510"/>
            <a:ext cx="203200" cy="238760"/>
          </a:xfrm>
          <a:prstGeom prst="rect">
            <a:avLst/>
          </a:prstGeom>
        </p:spPr>
        <p:txBody>
          <a:bodyPr wrap="square" lIns="0" tIns="12065" rIns="0" bIns="0" rtlCol="0" vert="horz">
            <a:spAutoFit/>
          </a:bodyPr>
          <a:lstStyle/>
          <a:p>
            <a:pPr marL="12700">
              <a:lnSpc>
                <a:spcPct val="100000"/>
              </a:lnSpc>
              <a:spcBef>
                <a:spcPts val="95"/>
              </a:spcBef>
            </a:pPr>
            <a:r>
              <a:rPr dirty="0" sz="1400" spc="-50">
                <a:latin typeface="SimSun"/>
                <a:cs typeface="SimSun"/>
              </a:rPr>
              <a:t>势</a:t>
            </a:r>
            <a:endParaRPr sz="1400">
              <a:latin typeface="SimSun"/>
              <a:cs typeface="SimSun"/>
            </a:endParaRPr>
          </a:p>
        </p:txBody>
      </p:sp>
      <p:grpSp>
        <p:nvGrpSpPr>
          <p:cNvPr id="47" name="object 47" descr=""/>
          <p:cNvGrpSpPr/>
          <p:nvPr/>
        </p:nvGrpSpPr>
        <p:grpSpPr>
          <a:xfrm>
            <a:off x="254676" y="1238420"/>
            <a:ext cx="8643620" cy="3547745"/>
            <a:chOff x="254676" y="1238420"/>
            <a:chExt cx="8643620" cy="3547745"/>
          </a:xfrm>
        </p:grpSpPr>
        <p:pic>
          <p:nvPicPr>
            <p:cNvPr id="48" name="object 48"/>
            <p:cNvPicPr/>
            <p:nvPr/>
          </p:nvPicPr>
          <p:blipFill>
            <a:blip r:embed="rId9" cstate="print"/>
            <a:stretch>
              <a:fillRect/>
            </a:stretch>
          </p:blipFill>
          <p:spPr>
            <a:xfrm>
              <a:off x="4444364" y="1238420"/>
              <a:ext cx="2210206" cy="1603356"/>
            </a:xfrm>
            <a:prstGeom prst="rect">
              <a:avLst/>
            </a:prstGeom>
          </p:spPr>
        </p:pic>
        <p:pic>
          <p:nvPicPr>
            <p:cNvPr id="49" name="object 49"/>
            <p:cNvPicPr/>
            <p:nvPr/>
          </p:nvPicPr>
          <p:blipFill>
            <a:blip r:embed="rId10" cstate="print"/>
            <a:stretch>
              <a:fillRect/>
            </a:stretch>
          </p:blipFill>
          <p:spPr>
            <a:xfrm>
              <a:off x="6709450" y="1238420"/>
              <a:ext cx="2188257" cy="1603356"/>
            </a:xfrm>
            <a:prstGeom prst="rect">
              <a:avLst/>
            </a:prstGeom>
          </p:spPr>
        </p:pic>
        <p:pic>
          <p:nvPicPr>
            <p:cNvPr id="50" name="object 50"/>
            <p:cNvPicPr/>
            <p:nvPr/>
          </p:nvPicPr>
          <p:blipFill>
            <a:blip r:embed="rId11" cstate="print"/>
            <a:stretch>
              <a:fillRect/>
            </a:stretch>
          </p:blipFill>
          <p:spPr>
            <a:xfrm>
              <a:off x="4441498" y="3111810"/>
              <a:ext cx="2210202" cy="1674184"/>
            </a:xfrm>
            <a:prstGeom prst="rect">
              <a:avLst/>
            </a:prstGeom>
          </p:spPr>
        </p:pic>
        <p:pic>
          <p:nvPicPr>
            <p:cNvPr id="51" name="object 51"/>
            <p:cNvPicPr/>
            <p:nvPr/>
          </p:nvPicPr>
          <p:blipFill>
            <a:blip r:embed="rId12" cstate="print"/>
            <a:stretch>
              <a:fillRect/>
            </a:stretch>
          </p:blipFill>
          <p:spPr>
            <a:xfrm>
              <a:off x="6706582" y="3111810"/>
              <a:ext cx="2188255" cy="1674184"/>
            </a:xfrm>
            <a:prstGeom prst="rect">
              <a:avLst/>
            </a:prstGeom>
          </p:spPr>
        </p:pic>
        <p:pic>
          <p:nvPicPr>
            <p:cNvPr id="52" name="object 52"/>
            <p:cNvPicPr/>
            <p:nvPr/>
          </p:nvPicPr>
          <p:blipFill>
            <a:blip r:embed="rId13" cstate="print"/>
            <a:stretch>
              <a:fillRect/>
            </a:stretch>
          </p:blipFill>
          <p:spPr>
            <a:xfrm>
              <a:off x="2141729" y="3111810"/>
              <a:ext cx="2238269" cy="1674184"/>
            </a:xfrm>
            <a:prstGeom prst="rect">
              <a:avLst/>
            </a:prstGeom>
          </p:spPr>
        </p:pic>
        <p:pic>
          <p:nvPicPr>
            <p:cNvPr id="53" name="object 53"/>
            <p:cNvPicPr/>
            <p:nvPr/>
          </p:nvPicPr>
          <p:blipFill>
            <a:blip r:embed="rId14" cstate="print"/>
            <a:stretch>
              <a:fillRect/>
            </a:stretch>
          </p:blipFill>
          <p:spPr>
            <a:xfrm>
              <a:off x="2137451" y="1238420"/>
              <a:ext cx="2238269" cy="1603356"/>
            </a:xfrm>
            <a:prstGeom prst="rect">
              <a:avLst/>
            </a:prstGeom>
          </p:spPr>
        </p:pic>
        <p:sp>
          <p:nvSpPr>
            <p:cNvPr id="54" name="object 54" descr=""/>
            <p:cNvSpPr/>
            <p:nvPr/>
          </p:nvSpPr>
          <p:spPr>
            <a:xfrm>
              <a:off x="774693" y="1946212"/>
              <a:ext cx="0" cy="520700"/>
            </a:xfrm>
            <a:custGeom>
              <a:avLst/>
              <a:gdLst/>
              <a:ahLst/>
              <a:cxnLst/>
              <a:rect l="l" t="t" r="r" b="b"/>
              <a:pathLst>
                <a:path w="0" h="520700">
                  <a:moveTo>
                    <a:pt x="0" y="0"/>
                  </a:moveTo>
                  <a:lnTo>
                    <a:pt x="0" y="520700"/>
                  </a:lnTo>
                </a:path>
              </a:pathLst>
            </a:custGeom>
            <a:ln w="6350">
              <a:solidFill>
                <a:srgbClr val="000000"/>
              </a:solidFill>
            </a:ln>
          </p:spPr>
          <p:txBody>
            <a:bodyPr wrap="square" lIns="0" tIns="0" rIns="0" bIns="0" rtlCol="0"/>
            <a:lstStyle/>
            <a:p/>
          </p:txBody>
        </p:sp>
        <p:sp>
          <p:nvSpPr>
            <p:cNvPr id="55" name="object 55" descr=""/>
            <p:cNvSpPr/>
            <p:nvPr/>
          </p:nvSpPr>
          <p:spPr>
            <a:xfrm>
              <a:off x="1288361" y="1946212"/>
              <a:ext cx="0" cy="520700"/>
            </a:xfrm>
            <a:custGeom>
              <a:avLst/>
              <a:gdLst/>
              <a:ahLst/>
              <a:cxnLst/>
              <a:rect l="l" t="t" r="r" b="b"/>
              <a:pathLst>
                <a:path w="0" h="520700">
                  <a:moveTo>
                    <a:pt x="0" y="0"/>
                  </a:moveTo>
                  <a:lnTo>
                    <a:pt x="0" y="520700"/>
                  </a:lnTo>
                </a:path>
              </a:pathLst>
            </a:custGeom>
            <a:ln w="6350">
              <a:solidFill>
                <a:srgbClr val="000000"/>
              </a:solidFill>
            </a:ln>
          </p:spPr>
          <p:txBody>
            <a:bodyPr wrap="square" lIns="0" tIns="0" rIns="0" bIns="0" rtlCol="0"/>
            <a:lstStyle/>
            <a:p/>
          </p:txBody>
        </p:sp>
        <p:sp>
          <p:nvSpPr>
            <p:cNvPr id="56" name="object 56" descr=""/>
            <p:cNvSpPr/>
            <p:nvPr/>
          </p:nvSpPr>
          <p:spPr>
            <a:xfrm>
              <a:off x="257851" y="1949387"/>
              <a:ext cx="1797050" cy="0"/>
            </a:xfrm>
            <a:custGeom>
              <a:avLst/>
              <a:gdLst/>
              <a:ahLst/>
              <a:cxnLst/>
              <a:rect l="l" t="t" r="r" b="b"/>
              <a:pathLst>
                <a:path w="1797050" h="0">
                  <a:moveTo>
                    <a:pt x="0" y="0"/>
                  </a:moveTo>
                  <a:lnTo>
                    <a:pt x="1797050" y="0"/>
                  </a:lnTo>
                </a:path>
              </a:pathLst>
            </a:custGeom>
            <a:ln w="6350">
              <a:solidFill>
                <a:srgbClr val="000000"/>
              </a:solidFill>
            </a:ln>
          </p:spPr>
          <p:txBody>
            <a:bodyPr wrap="square" lIns="0" tIns="0" rIns="0" bIns="0" rtlCol="0"/>
            <a:lstStyle/>
            <a:p/>
          </p:txBody>
        </p:sp>
        <p:sp>
          <p:nvSpPr>
            <p:cNvPr id="57" name="object 57" descr=""/>
            <p:cNvSpPr/>
            <p:nvPr/>
          </p:nvSpPr>
          <p:spPr>
            <a:xfrm>
              <a:off x="257851" y="2077975"/>
              <a:ext cx="1797050" cy="0"/>
            </a:xfrm>
            <a:custGeom>
              <a:avLst/>
              <a:gdLst/>
              <a:ahLst/>
              <a:cxnLst/>
              <a:rect l="l" t="t" r="r" b="b"/>
              <a:pathLst>
                <a:path w="1797050" h="0">
                  <a:moveTo>
                    <a:pt x="0" y="0"/>
                  </a:moveTo>
                  <a:lnTo>
                    <a:pt x="1797050" y="0"/>
                  </a:lnTo>
                </a:path>
              </a:pathLst>
            </a:custGeom>
            <a:ln w="6350">
              <a:solidFill>
                <a:srgbClr val="000000"/>
              </a:solidFill>
            </a:ln>
          </p:spPr>
          <p:txBody>
            <a:bodyPr wrap="square" lIns="0" tIns="0" rIns="0" bIns="0" rtlCol="0"/>
            <a:lstStyle/>
            <a:p/>
          </p:txBody>
        </p:sp>
        <p:sp>
          <p:nvSpPr>
            <p:cNvPr id="58" name="object 58" descr=""/>
            <p:cNvSpPr/>
            <p:nvPr/>
          </p:nvSpPr>
          <p:spPr>
            <a:xfrm>
              <a:off x="257851" y="2206564"/>
              <a:ext cx="1797050" cy="0"/>
            </a:xfrm>
            <a:custGeom>
              <a:avLst/>
              <a:gdLst/>
              <a:ahLst/>
              <a:cxnLst/>
              <a:rect l="l" t="t" r="r" b="b"/>
              <a:pathLst>
                <a:path w="1797050" h="0">
                  <a:moveTo>
                    <a:pt x="0" y="0"/>
                  </a:moveTo>
                  <a:lnTo>
                    <a:pt x="1797050" y="0"/>
                  </a:lnTo>
                </a:path>
              </a:pathLst>
            </a:custGeom>
            <a:ln w="6350">
              <a:solidFill>
                <a:srgbClr val="000000"/>
              </a:solidFill>
            </a:ln>
          </p:spPr>
          <p:txBody>
            <a:bodyPr wrap="square" lIns="0" tIns="0" rIns="0" bIns="0" rtlCol="0"/>
            <a:lstStyle/>
            <a:p/>
          </p:txBody>
        </p:sp>
        <p:sp>
          <p:nvSpPr>
            <p:cNvPr id="59" name="object 59" descr=""/>
            <p:cNvSpPr/>
            <p:nvPr/>
          </p:nvSpPr>
          <p:spPr>
            <a:xfrm>
              <a:off x="257851" y="2335151"/>
              <a:ext cx="1797050" cy="0"/>
            </a:xfrm>
            <a:custGeom>
              <a:avLst/>
              <a:gdLst/>
              <a:ahLst/>
              <a:cxnLst/>
              <a:rect l="l" t="t" r="r" b="b"/>
              <a:pathLst>
                <a:path w="1797050" h="0">
                  <a:moveTo>
                    <a:pt x="0" y="0"/>
                  </a:moveTo>
                  <a:lnTo>
                    <a:pt x="1797050" y="0"/>
                  </a:lnTo>
                </a:path>
              </a:pathLst>
            </a:custGeom>
            <a:ln w="6350">
              <a:solidFill>
                <a:srgbClr val="000000"/>
              </a:solidFill>
            </a:ln>
          </p:spPr>
          <p:txBody>
            <a:bodyPr wrap="square" lIns="0" tIns="0" rIns="0" bIns="0" rtlCol="0"/>
            <a:lstStyle/>
            <a:p/>
          </p:txBody>
        </p:sp>
        <p:sp>
          <p:nvSpPr>
            <p:cNvPr id="60" name="object 60" descr=""/>
            <p:cNvSpPr/>
            <p:nvPr/>
          </p:nvSpPr>
          <p:spPr>
            <a:xfrm>
              <a:off x="261026" y="1817625"/>
              <a:ext cx="0" cy="649605"/>
            </a:xfrm>
            <a:custGeom>
              <a:avLst/>
              <a:gdLst/>
              <a:ahLst/>
              <a:cxnLst/>
              <a:rect l="l" t="t" r="r" b="b"/>
              <a:pathLst>
                <a:path w="0" h="649605">
                  <a:moveTo>
                    <a:pt x="0" y="0"/>
                  </a:moveTo>
                  <a:lnTo>
                    <a:pt x="0" y="649287"/>
                  </a:lnTo>
                </a:path>
              </a:pathLst>
            </a:custGeom>
            <a:ln w="6350">
              <a:solidFill>
                <a:srgbClr val="000000"/>
              </a:solidFill>
            </a:ln>
          </p:spPr>
          <p:txBody>
            <a:bodyPr wrap="square" lIns="0" tIns="0" rIns="0" bIns="0" rtlCol="0"/>
            <a:lstStyle/>
            <a:p/>
          </p:txBody>
        </p:sp>
        <p:sp>
          <p:nvSpPr>
            <p:cNvPr id="61" name="object 61" descr=""/>
            <p:cNvSpPr/>
            <p:nvPr/>
          </p:nvSpPr>
          <p:spPr>
            <a:xfrm>
              <a:off x="2051728" y="1817625"/>
              <a:ext cx="0" cy="649605"/>
            </a:xfrm>
            <a:custGeom>
              <a:avLst/>
              <a:gdLst/>
              <a:ahLst/>
              <a:cxnLst/>
              <a:rect l="l" t="t" r="r" b="b"/>
              <a:pathLst>
                <a:path w="0" h="649605">
                  <a:moveTo>
                    <a:pt x="0" y="0"/>
                  </a:moveTo>
                  <a:lnTo>
                    <a:pt x="0" y="649287"/>
                  </a:lnTo>
                </a:path>
              </a:pathLst>
            </a:custGeom>
            <a:ln w="6350">
              <a:solidFill>
                <a:srgbClr val="000000"/>
              </a:solidFill>
            </a:ln>
          </p:spPr>
          <p:txBody>
            <a:bodyPr wrap="square" lIns="0" tIns="0" rIns="0" bIns="0" rtlCol="0"/>
            <a:lstStyle/>
            <a:p/>
          </p:txBody>
        </p:sp>
        <p:sp>
          <p:nvSpPr>
            <p:cNvPr id="62" name="object 62" descr=""/>
            <p:cNvSpPr/>
            <p:nvPr/>
          </p:nvSpPr>
          <p:spPr>
            <a:xfrm>
              <a:off x="257851" y="1820800"/>
              <a:ext cx="1797050" cy="0"/>
            </a:xfrm>
            <a:custGeom>
              <a:avLst/>
              <a:gdLst/>
              <a:ahLst/>
              <a:cxnLst/>
              <a:rect l="l" t="t" r="r" b="b"/>
              <a:pathLst>
                <a:path w="1797050" h="0">
                  <a:moveTo>
                    <a:pt x="0" y="0"/>
                  </a:moveTo>
                  <a:lnTo>
                    <a:pt x="1797050" y="0"/>
                  </a:lnTo>
                </a:path>
              </a:pathLst>
            </a:custGeom>
            <a:ln w="6350">
              <a:solidFill>
                <a:srgbClr val="000000"/>
              </a:solidFill>
            </a:ln>
          </p:spPr>
          <p:txBody>
            <a:bodyPr wrap="square" lIns="0" tIns="0" rIns="0" bIns="0" rtlCol="0"/>
            <a:lstStyle/>
            <a:p/>
          </p:txBody>
        </p:sp>
        <p:sp>
          <p:nvSpPr>
            <p:cNvPr id="63" name="object 63" descr=""/>
            <p:cNvSpPr/>
            <p:nvPr/>
          </p:nvSpPr>
          <p:spPr>
            <a:xfrm>
              <a:off x="257851" y="2463740"/>
              <a:ext cx="1797050" cy="0"/>
            </a:xfrm>
            <a:custGeom>
              <a:avLst/>
              <a:gdLst/>
              <a:ahLst/>
              <a:cxnLst/>
              <a:rect l="l" t="t" r="r" b="b"/>
              <a:pathLst>
                <a:path w="1797050" h="0">
                  <a:moveTo>
                    <a:pt x="0" y="0"/>
                  </a:moveTo>
                  <a:lnTo>
                    <a:pt x="1797050" y="0"/>
                  </a:lnTo>
                </a:path>
              </a:pathLst>
            </a:custGeom>
            <a:ln w="6350">
              <a:solidFill>
                <a:srgbClr val="000000"/>
              </a:solidFill>
            </a:ln>
          </p:spPr>
          <p:txBody>
            <a:bodyPr wrap="square" lIns="0" tIns="0" rIns="0" bIns="0" rtlCol="0"/>
            <a:lstStyle/>
            <a:p/>
          </p:txBody>
        </p:sp>
      </p:grpSp>
      <p:sp>
        <p:nvSpPr>
          <p:cNvPr id="64" name="object 64" descr=""/>
          <p:cNvSpPr txBox="1"/>
          <p:nvPr/>
        </p:nvSpPr>
        <p:spPr>
          <a:xfrm>
            <a:off x="121801" y="3131115"/>
            <a:ext cx="78740" cy="208279"/>
          </a:xfrm>
          <a:prstGeom prst="rect">
            <a:avLst/>
          </a:prstGeom>
        </p:spPr>
        <p:txBody>
          <a:bodyPr wrap="square" lIns="0" tIns="12700" rIns="0" bIns="0" rtlCol="0" vert="horz">
            <a:spAutoFit/>
          </a:bodyPr>
          <a:lstStyle/>
          <a:p>
            <a:pPr marL="12700">
              <a:lnSpc>
                <a:spcPct val="100000"/>
              </a:lnSpc>
              <a:spcBef>
                <a:spcPts val="100"/>
              </a:spcBef>
            </a:pPr>
            <a:r>
              <a:rPr dirty="0" sz="1200" spc="-50">
                <a:latin typeface="Arial MT"/>
                <a:cs typeface="Arial MT"/>
              </a:rPr>
              <a:t>•</a:t>
            </a:r>
            <a:endParaRPr sz="1200">
              <a:latin typeface="Arial MT"/>
              <a:cs typeface="Arial MT"/>
            </a:endParaRPr>
          </a:p>
        </p:txBody>
      </p:sp>
      <p:sp>
        <p:nvSpPr>
          <p:cNvPr id="65" name="object 65" descr=""/>
          <p:cNvSpPr txBox="1"/>
          <p:nvPr/>
        </p:nvSpPr>
        <p:spPr>
          <a:xfrm>
            <a:off x="119981" y="2543144"/>
            <a:ext cx="245110" cy="162560"/>
          </a:xfrm>
          <a:prstGeom prst="rect">
            <a:avLst/>
          </a:prstGeom>
        </p:spPr>
        <p:txBody>
          <a:bodyPr wrap="square" lIns="0" tIns="12700" rIns="0" bIns="0" rtlCol="0" vert="horz">
            <a:spAutoFit/>
          </a:bodyPr>
          <a:lstStyle/>
          <a:p>
            <a:pPr marL="38100">
              <a:lnSpc>
                <a:spcPct val="100000"/>
              </a:lnSpc>
              <a:spcBef>
                <a:spcPts val="100"/>
              </a:spcBef>
            </a:pPr>
            <a:r>
              <a:rPr dirty="0" sz="900" spc="-475">
                <a:latin typeface="SimSun"/>
                <a:cs typeface="SimSun"/>
              </a:rPr>
              <a:t>得</a:t>
            </a:r>
            <a:r>
              <a:rPr dirty="0" baseline="-27777" sz="1350" spc="-75">
                <a:latin typeface="SimSun"/>
                <a:cs typeface="SimSun"/>
              </a:rPr>
              <a:t>强</a:t>
            </a:r>
            <a:endParaRPr baseline="-27777" sz="1350">
              <a:latin typeface="SimSun"/>
              <a:cs typeface="SimSun"/>
            </a:endParaRPr>
          </a:p>
        </p:txBody>
      </p:sp>
      <p:sp>
        <p:nvSpPr>
          <p:cNvPr id="66" name="object 66" descr=""/>
          <p:cNvSpPr txBox="1"/>
          <p:nvPr/>
        </p:nvSpPr>
        <p:spPr>
          <a:xfrm>
            <a:off x="119981" y="2611686"/>
            <a:ext cx="246379" cy="238760"/>
          </a:xfrm>
          <a:prstGeom prst="rect">
            <a:avLst/>
          </a:prstGeom>
        </p:spPr>
        <p:txBody>
          <a:bodyPr wrap="square" lIns="0" tIns="12065" rIns="0" bIns="0" rtlCol="0" vert="horz">
            <a:spAutoFit/>
          </a:bodyPr>
          <a:lstStyle/>
          <a:p>
            <a:pPr marL="38100">
              <a:lnSpc>
                <a:spcPct val="100000"/>
              </a:lnSpc>
              <a:spcBef>
                <a:spcPts val="95"/>
              </a:spcBef>
            </a:pPr>
            <a:r>
              <a:rPr dirty="0" sz="900" spc="-50">
                <a:latin typeface="SimSun"/>
                <a:cs typeface="SimSun"/>
              </a:rPr>
              <a:t>在</a:t>
            </a:r>
            <a:r>
              <a:rPr dirty="0" baseline="-7936" sz="2100" spc="-75">
                <a:latin typeface="Arial MT"/>
                <a:cs typeface="Arial MT"/>
              </a:rPr>
              <a:t>•</a:t>
            </a:r>
            <a:endParaRPr baseline="-7936" sz="2100">
              <a:latin typeface="Arial MT"/>
              <a:cs typeface="Arial MT"/>
            </a:endParaRPr>
          </a:p>
        </p:txBody>
      </p:sp>
      <p:sp>
        <p:nvSpPr>
          <p:cNvPr id="67" name="object 67" descr=""/>
          <p:cNvSpPr txBox="1"/>
          <p:nvPr/>
        </p:nvSpPr>
        <p:spPr>
          <a:xfrm>
            <a:off x="145381" y="2812092"/>
            <a:ext cx="139700" cy="162560"/>
          </a:xfrm>
          <a:prstGeom prst="rect">
            <a:avLst/>
          </a:prstGeom>
        </p:spPr>
        <p:txBody>
          <a:bodyPr wrap="square" lIns="0" tIns="12700" rIns="0" bIns="0" rtlCol="0" vert="horz">
            <a:spAutoFit/>
          </a:bodyPr>
          <a:lstStyle/>
          <a:p>
            <a:pPr marL="12700">
              <a:lnSpc>
                <a:spcPct val="100000"/>
              </a:lnSpc>
              <a:spcBef>
                <a:spcPts val="100"/>
              </a:spcBef>
            </a:pPr>
            <a:r>
              <a:rPr dirty="0" sz="900" spc="-50">
                <a:latin typeface="SimSun"/>
                <a:cs typeface="SimSun"/>
              </a:rPr>
              <a:t>优</a:t>
            </a:r>
            <a:endParaRPr sz="900">
              <a:latin typeface="SimSun"/>
              <a:cs typeface="SimSun"/>
            </a:endParaRPr>
          </a:p>
        </p:txBody>
      </p:sp>
      <p:sp>
        <p:nvSpPr>
          <p:cNvPr id="68" name="object 68" descr=""/>
          <p:cNvSpPr txBox="1"/>
          <p:nvPr/>
        </p:nvSpPr>
        <p:spPr>
          <a:xfrm>
            <a:off x="272381" y="1569472"/>
            <a:ext cx="1828800" cy="2360930"/>
          </a:xfrm>
          <a:prstGeom prst="rect">
            <a:avLst/>
          </a:prstGeom>
        </p:spPr>
        <p:txBody>
          <a:bodyPr wrap="square" lIns="0" tIns="10795" rIns="0" bIns="0" rtlCol="0" vert="horz">
            <a:spAutoFit/>
          </a:bodyPr>
          <a:lstStyle/>
          <a:p>
            <a:pPr marL="62230">
              <a:lnSpc>
                <a:spcPts val="340"/>
              </a:lnSpc>
              <a:spcBef>
                <a:spcPts val="85"/>
              </a:spcBef>
            </a:pPr>
            <a:r>
              <a:rPr dirty="0" sz="900" spc="-275">
                <a:latin typeface="SimSun"/>
                <a:cs typeface="SimSun"/>
              </a:rPr>
              <a:t>R</a:t>
            </a:r>
            <a:r>
              <a:rPr dirty="0" baseline="27777" sz="1350" spc="-412">
                <a:latin typeface="Arial MT"/>
                <a:cs typeface="Arial MT"/>
              </a:rPr>
              <a:t>1</a:t>
            </a:r>
            <a:r>
              <a:rPr dirty="0" sz="900" spc="-275">
                <a:latin typeface="SimSun"/>
                <a:cs typeface="SimSun"/>
              </a:rPr>
              <a:t>S</a:t>
            </a:r>
            <a:r>
              <a:rPr dirty="0" baseline="27777" sz="1350" spc="-412">
                <a:latin typeface="Arial MT"/>
                <a:cs typeface="Arial MT"/>
              </a:rPr>
              <a:t>1</a:t>
            </a:r>
            <a:r>
              <a:rPr dirty="0" sz="900" spc="-275">
                <a:latin typeface="SimSun"/>
                <a:cs typeface="SimSun"/>
              </a:rPr>
              <a:t>R</a:t>
            </a:r>
            <a:r>
              <a:rPr dirty="0" baseline="27777" sz="1350" spc="-412">
                <a:latin typeface="Arial MT"/>
                <a:cs typeface="Arial MT"/>
              </a:rPr>
              <a:t>0</a:t>
            </a:r>
            <a:r>
              <a:rPr dirty="0" sz="900" spc="-275">
                <a:latin typeface="SimSun"/>
                <a:cs typeface="SimSun"/>
              </a:rPr>
              <a:t>P</a:t>
            </a:r>
            <a:r>
              <a:rPr dirty="0" baseline="27777" sz="1350" spc="-412">
                <a:latin typeface="Arial MT"/>
                <a:cs typeface="Arial MT"/>
              </a:rPr>
              <a:t>d</a:t>
            </a:r>
            <a:r>
              <a:rPr dirty="0" sz="900" spc="-275">
                <a:latin typeface="SimSun"/>
                <a:cs typeface="SimSun"/>
              </a:rPr>
              <a:t>&lt;</a:t>
            </a:r>
            <a:r>
              <a:rPr dirty="0" baseline="4629" sz="1800" spc="-1342">
                <a:latin typeface="SimSun"/>
                <a:cs typeface="SimSun"/>
              </a:rPr>
              <a:t>腾</a:t>
            </a:r>
            <a:r>
              <a:rPr dirty="0" baseline="27777" sz="1350" spc="-345">
                <a:latin typeface="Arial MT"/>
                <a:cs typeface="Arial MT"/>
              </a:rPr>
              <a:t>B</a:t>
            </a:r>
            <a:r>
              <a:rPr dirty="0" sz="900" spc="-229">
                <a:latin typeface="SimSun"/>
                <a:cs typeface="SimSun"/>
              </a:rPr>
              <a:t>-</a:t>
            </a:r>
            <a:r>
              <a:rPr dirty="0" sz="900" spc="-470">
                <a:latin typeface="SimSun"/>
                <a:cs typeface="SimSun"/>
              </a:rPr>
              <a:t>1</a:t>
            </a:r>
            <a:r>
              <a:rPr dirty="0" baseline="27777" sz="1350" spc="-705">
                <a:latin typeface="Arial MT"/>
                <a:cs typeface="Arial MT"/>
              </a:rPr>
              <a:t>m</a:t>
            </a:r>
            <a:r>
              <a:rPr dirty="0" baseline="4629" sz="1800" spc="-1582">
                <a:latin typeface="SimSun"/>
                <a:cs typeface="SimSun"/>
              </a:rPr>
              <a:t>睿</a:t>
            </a:r>
            <a:r>
              <a:rPr dirty="0" sz="900" spc="-100">
                <a:latin typeface="SimSun"/>
                <a:cs typeface="SimSun"/>
              </a:rPr>
              <a:t>10d</a:t>
            </a:r>
            <a:r>
              <a:rPr dirty="0" baseline="4629" sz="1800" spc="-1567">
                <a:latin typeface="SimSun"/>
                <a:cs typeface="SimSun"/>
              </a:rPr>
              <a:t>大</a:t>
            </a:r>
            <a:r>
              <a:rPr dirty="0" baseline="27777" sz="1350" spc="-780">
                <a:latin typeface="Arial MT"/>
                <a:cs typeface="Arial MT"/>
              </a:rPr>
              <a:t>N</a:t>
            </a:r>
            <a:r>
              <a:rPr dirty="0" sz="900">
                <a:latin typeface="SimSun"/>
                <a:cs typeface="SimSun"/>
              </a:rPr>
              <a:t>B</a:t>
            </a:r>
            <a:r>
              <a:rPr dirty="0" sz="900" spc="-395">
                <a:latin typeface="SimSun"/>
                <a:cs typeface="SimSun"/>
              </a:rPr>
              <a:t>m</a:t>
            </a:r>
            <a:r>
              <a:rPr dirty="0" baseline="27777" sz="1350" spc="-397">
                <a:latin typeface="Arial MT"/>
                <a:cs typeface="Arial MT"/>
              </a:rPr>
              <a:t>R</a:t>
            </a:r>
            <a:r>
              <a:rPr dirty="0" sz="900" spc="-900">
                <a:latin typeface="SimSun"/>
                <a:cs typeface="SimSun"/>
              </a:rPr>
              <a:t>占</a:t>
            </a:r>
            <a:r>
              <a:rPr dirty="0" baseline="4629" sz="1800" spc="-457">
                <a:latin typeface="SimSun"/>
                <a:cs typeface="SimSun"/>
              </a:rPr>
              <a:t>厦</a:t>
            </a:r>
            <a:r>
              <a:rPr dirty="0" sz="900" spc="-600">
                <a:latin typeface="SimSun"/>
                <a:cs typeface="SimSun"/>
              </a:rPr>
              <a:t>比</a:t>
            </a:r>
            <a:r>
              <a:rPr dirty="0" baseline="4629" sz="1800">
                <a:latin typeface="SimSun"/>
                <a:cs typeface="SimSun"/>
              </a:rPr>
              <a:t>SSB</a:t>
            </a:r>
            <a:r>
              <a:rPr dirty="0" baseline="4629" sz="1800" spc="-22">
                <a:latin typeface="SimSun"/>
                <a:cs typeface="SimSun"/>
              </a:rPr>
              <a:t>多波束配</a:t>
            </a:r>
            <a:endParaRPr baseline="4629" sz="1800">
              <a:latin typeface="SimSun"/>
              <a:cs typeface="SimSun"/>
            </a:endParaRPr>
          </a:p>
          <a:p>
            <a:pPr marL="501015">
              <a:lnSpc>
                <a:spcPts val="565"/>
              </a:lnSpc>
              <a:tabLst>
                <a:tab pos="779780" algn="l"/>
              </a:tabLst>
            </a:pPr>
            <a:r>
              <a:rPr dirty="0" sz="900" spc="-50">
                <a:latin typeface="SimSun"/>
                <a:cs typeface="SimSun"/>
              </a:rPr>
              <a:t>后</a:t>
            </a:r>
            <a:r>
              <a:rPr dirty="0" sz="900">
                <a:latin typeface="SimSun"/>
                <a:cs typeface="SimSun"/>
              </a:rPr>
              <a:t>	速率陡降，但优</a:t>
            </a:r>
            <a:r>
              <a:rPr dirty="0" sz="900" spc="-50">
                <a:latin typeface="SimSun"/>
                <a:cs typeface="SimSun"/>
              </a:rPr>
              <a:t>于</a:t>
            </a:r>
            <a:endParaRPr sz="900">
              <a:latin typeface="SimSun"/>
              <a:cs typeface="SimSun"/>
            </a:endParaRPr>
          </a:p>
          <a:p>
            <a:pPr marL="76835">
              <a:lnSpc>
                <a:spcPts val="600"/>
              </a:lnSpc>
              <a:spcBef>
                <a:spcPts val="530"/>
              </a:spcBef>
              <a:tabLst>
                <a:tab pos="1204595" algn="l"/>
              </a:tabLst>
            </a:pPr>
            <a:r>
              <a:rPr dirty="0" baseline="33950" sz="1350">
                <a:latin typeface="Arial MT"/>
                <a:cs typeface="Arial MT"/>
              </a:rPr>
              <a:t>LTE</a:t>
            </a:r>
            <a:r>
              <a:rPr dirty="0" baseline="33950" sz="1350">
                <a:latin typeface="SimSun"/>
                <a:cs typeface="SimSun"/>
              </a:rPr>
              <a:t>。</a:t>
            </a:r>
            <a:r>
              <a:rPr dirty="0" baseline="33950" sz="1350" spc="-44">
                <a:latin typeface="SimSun"/>
                <a:cs typeface="SimSun"/>
              </a:rPr>
              <a:t> </a:t>
            </a:r>
            <a:r>
              <a:rPr dirty="0" sz="900">
                <a:latin typeface="SimSun"/>
                <a:cs typeface="SimSun"/>
              </a:rPr>
              <a:t>SSB</a:t>
            </a:r>
            <a:r>
              <a:rPr dirty="0" sz="900" spc="-10">
                <a:latin typeface="SimSun"/>
                <a:cs typeface="SimSun"/>
              </a:rPr>
              <a:t> </a:t>
            </a:r>
            <a:r>
              <a:rPr dirty="0" sz="900" spc="-20">
                <a:latin typeface="SimSun"/>
                <a:cs typeface="SimSun"/>
              </a:rPr>
              <a:t>RSRP</a:t>
            </a:r>
            <a:r>
              <a:rPr dirty="0" sz="900">
                <a:latin typeface="SimSun"/>
                <a:cs typeface="SimSun"/>
              </a:rPr>
              <a:t>	LTE</a:t>
            </a:r>
            <a:r>
              <a:rPr dirty="0" sz="900" spc="-10">
                <a:latin typeface="SimSun"/>
                <a:cs typeface="SimSun"/>
              </a:rPr>
              <a:t> </a:t>
            </a:r>
            <a:r>
              <a:rPr dirty="0" sz="900" spc="-20">
                <a:latin typeface="SimSun"/>
                <a:cs typeface="SimSun"/>
              </a:rPr>
              <a:t>RSRP</a:t>
            </a:r>
            <a:endParaRPr sz="900">
              <a:latin typeface="SimSun"/>
              <a:cs typeface="SimSun"/>
            </a:endParaRPr>
          </a:p>
          <a:p>
            <a:pPr marL="214629">
              <a:lnSpc>
                <a:spcPts val="745"/>
              </a:lnSpc>
            </a:pPr>
            <a:r>
              <a:rPr dirty="0" baseline="-18518" sz="1800" spc="-802">
                <a:latin typeface="SimSun"/>
                <a:cs typeface="SimSun"/>
              </a:rPr>
              <a:t>波</a:t>
            </a:r>
            <a:r>
              <a:rPr dirty="0" sz="800" spc="-280">
                <a:latin typeface="SimSun"/>
                <a:cs typeface="SimSun"/>
              </a:rPr>
              <a:t>下</a:t>
            </a:r>
            <a:r>
              <a:rPr dirty="0" baseline="-18518" sz="1800" spc="-1402">
                <a:latin typeface="SimSun"/>
                <a:cs typeface="SimSun"/>
              </a:rPr>
              <a:t>束</a:t>
            </a:r>
            <a:r>
              <a:rPr dirty="0" sz="800" spc="-345">
                <a:latin typeface="SimSun"/>
                <a:cs typeface="SimSun"/>
              </a:rPr>
              <a:t>行业</a:t>
            </a:r>
            <a:r>
              <a:rPr dirty="0" baseline="-18518" sz="1800" spc="-810">
                <a:latin typeface="SimSun"/>
                <a:cs typeface="SimSun"/>
              </a:rPr>
              <a:t>垂</a:t>
            </a:r>
            <a:r>
              <a:rPr dirty="0" sz="800" spc="-275">
                <a:latin typeface="SimSun"/>
                <a:cs typeface="SimSun"/>
              </a:rPr>
              <a:t>务</a:t>
            </a:r>
            <a:r>
              <a:rPr dirty="0" baseline="-18518" sz="1800" spc="-1410">
                <a:latin typeface="SimSun"/>
                <a:cs typeface="SimSun"/>
              </a:rPr>
              <a:t>直</a:t>
            </a:r>
            <a:r>
              <a:rPr dirty="0" sz="800" spc="-340">
                <a:latin typeface="SimSun"/>
                <a:cs typeface="SimSun"/>
              </a:rPr>
              <a:t>速率</a:t>
            </a:r>
            <a:r>
              <a:rPr dirty="0" baseline="-18518" sz="1800" spc="-817">
                <a:latin typeface="SimSun"/>
                <a:cs typeface="SimSun"/>
              </a:rPr>
              <a:t>方</a:t>
            </a:r>
            <a:r>
              <a:rPr dirty="0" sz="800" spc="-140">
                <a:latin typeface="SimSun"/>
                <a:cs typeface="SimSun"/>
              </a:rPr>
              <a:t>&lt;3</a:t>
            </a:r>
            <a:r>
              <a:rPr dirty="0" baseline="-18518" sz="1800" spc="-1410">
                <a:latin typeface="SimSun"/>
                <a:cs typeface="SimSun"/>
              </a:rPr>
              <a:t>位</a:t>
            </a:r>
            <a:r>
              <a:rPr dirty="0" sz="800" spc="-10">
                <a:latin typeface="SimSun"/>
                <a:cs typeface="SimSun"/>
              </a:rPr>
              <a:t>0M</a:t>
            </a:r>
            <a:r>
              <a:rPr dirty="0" sz="800" spc="-280">
                <a:latin typeface="SimSun"/>
                <a:cs typeface="SimSun"/>
              </a:rPr>
              <a:t>b</a:t>
            </a:r>
            <a:r>
              <a:rPr dirty="0" baseline="-18518" sz="1800" spc="-1417">
                <a:latin typeface="SimSun"/>
                <a:cs typeface="SimSun"/>
              </a:rPr>
              <a:t>（</a:t>
            </a:r>
            <a:r>
              <a:rPr dirty="0" sz="800" spc="-10">
                <a:latin typeface="SimSun"/>
                <a:cs typeface="SimSun"/>
              </a:rPr>
              <a:t>ps</a:t>
            </a:r>
            <a:r>
              <a:rPr dirty="0" sz="800" spc="-680">
                <a:latin typeface="SimSun"/>
                <a:cs typeface="SimSun"/>
              </a:rPr>
              <a:t>占</a:t>
            </a:r>
            <a:r>
              <a:rPr dirty="0" baseline="-18518" sz="1800" spc="-802">
                <a:latin typeface="SimSun"/>
                <a:cs typeface="SimSun"/>
              </a:rPr>
              <a:t>相</a:t>
            </a:r>
            <a:r>
              <a:rPr dirty="0" sz="800" spc="-280">
                <a:latin typeface="SimSun"/>
                <a:cs typeface="SimSun"/>
              </a:rPr>
              <a:t>比</a:t>
            </a:r>
            <a:r>
              <a:rPr dirty="0" baseline="-18518" sz="1800" spc="-37">
                <a:latin typeface="SimSun"/>
                <a:cs typeface="SimSun"/>
              </a:rPr>
              <a:t>对于</a:t>
            </a:r>
            <a:endParaRPr baseline="-18518" sz="1800">
              <a:latin typeface="SimSun"/>
              <a:cs typeface="SimSun"/>
            </a:endParaRPr>
          </a:p>
          <a:p>
            <a:pPr marL="62230">
              <a:lnSpc>
                <a:spcPts val="925"/>
              </a:lnSpc>
              <a:tabLst>
                <a:tab pos="555625" algn="l"/>
              </a:tabLst>
            </a:pPr>
            <a:r>
              <a:rPr dirty="0" baseline="18518" sz="1350" spc="-1350">
                <a:latin typeface="SimSun"/>
                <a:cs typeface="SimSun"/>
              </a:rPr>
              <a:t>高</a:t>
            </a:r>
            <a:r>
              <a:rPr dirty="0" baseline="27777" sz="1800" spc="-240">
                <a:latin typeface="SimSun"/>
                <a:cs typeface="SimSun"/>
              </a:rPr>
              <a:t>SB</a:t>
            </a:r>
            <a:r>
              <a:rPr dirty="0" baseline="18518" sz="1350" spc="-75">
                <a:latin typeface="SimSun"/>
                <a:cs typeface="SimSun"/>
              </a:rPr>
              <a:t>层</a:t>
            </a:r>
            <a:r>
              <a:rPr dirty="0" baseline="18518" sz="1350">
                <a:latin typeface="SimSun"/>
                <a:cs typeface="SimSun"/>
              </a:rPr>
              <a:t>	</a:t>
            </a:r>
            <a:r>
              <a:rPr dirty="0" sz="800" spc="-120">
                <a:latin typeface="SimSun"/>
                <a:cs typeface="SimSun"/>
              </a:rPr>
              <a:t>5G</a:t>
            </a:r>
            <a:r>
              <a:rPr dirty="0" baseline="18518" sz="1350" spc="-179">
                <a:latin typeface="SimSun"/>
                <a:cs typeface="SimSun"/>
              </a:rPr>
              <a:t>1</a:t>
            </a:r>
            <a:r>
              <a:rPr dirty="0" sz="800" spc="-120">
                <a:latin typeface="SimSun"/>
                <a:cs typeface="SimSun"/>
              </a:rPr>
              <a:t>N</a:t>
            </a:r>
            <a:r>
              <a:rPr dirty="0" baseline="18518" sz="1350" spc="-179">
                <a:latin typeface="SimSun"/>
                <a:cs typeface="SimSun"/>
              </a:rPr>
              <a:t>2</a:t>
            </a:r>
            <a:r>
              <a:rPr dirty="0" sz="800" spc="-120">
                <a:latin typeface="SimSun"/>
                <a:cs typeface="SimSun"/>
              </a:rPr>
              <a:t>R</a:t>
            </a:r>
            <a:r>
              <a:rPr dirty="0" baseline="18518" sz="1350" spc="-179">
                <a:latin typeface="SimSun"/>
                <a:cs typeface="SimSun"/>
              </a:rPr>
              <a:t>.0</a:t>
            </a:r>
            <a:r>
              <a:rPr dirty="0" sz="800" spc="-120">
                <a:latin typeface="SimSun"/>
                <a:cs typeface="SimSun"/>
              </a:rPr>
              <a:t>D</a:t>
            </a:r>
            <a:r>
              <a:rPr dirty="0" baseline="18518" sz="1350" spc="-179">
                <a:latin typeface="SimSun"/>
                <a:cs typeface="SimSun"/>
              </a:rPr>
              <a:t>0</a:t>
            </a:r>
            <a:r>
              <a:rPr dirty="0" sz="800" spc="-120">
                <a:latin typeface="SimSun"/>
                <a:cs typeface="SimSun"/>
              </a:rPr>
              <a:t>L</a:t>
            </a:r>
            <a:r>
              <a:rPr dirty="0" baseline="18518" sz="1350" spc="-179">
                <a:latin typeface="SimSun"/>
                <a:cs typeface="SimSun"/>
              </a:rPr>
              <a:t>%</a:t>
            </a:r>
            <a:r>
              <a:rPr dirty="0" baseline="18518" sz="1350" spc="405">
                <a:latin typeface="SimSun"/>
                <a:cs typeface="SimSun"/>
              </a:rPr>
              <a:t> </a:t>
            </a:r>
            <a:r>
              <a:rPr dirty="0" sz="800">
                <a:latin typeface="SimSun"/>
                <a:cs typeface="SimSun"/>
              </a:rPr>
              <a:t>LTE</a:t>
            </a:r>
            <a:r>
              <a:rPr dirty="0" sz="800" spc="-100">
                <a:latin typeface="SimSun"/>
                <a:cs typeface="SimSun"/>
              </a:rPr>
              <a:t> </a:t>
            </a:r>
            <a:r>
              <a:rPr dirty="0" baseline="18518" sz="1350" spc="-120">
                <a:latin typeface="SimSun"/>
                <a:cs typeface="SimSun"/>
              </a:rPr>
              <a:t>1</a:t>
            </a:r>
            <a:r>
              <a:rPr dirty="0" sz="800" spc="-80">
                <a:latin typeface="SimSun"/>
                <a:cs typeface="SimSun"/>
              </a:rPr>
              <a:t>L</a:t>
            </a:r>
            <a:r>
              <a:rPr dirty="0" baseline="18518" sz="1350" spc="-120">
                <a:latin typeface="SimSun"/>
                <a:cs typeface="SimSun"/>
              </a:rPr>
              <a:t>.</a:t>
            </a:r>
            <a:r>
              <a:rPr dirty="0" sz="800" spc="-80">
                <a:latin typeface="SimSun"/>
                <a:cs typeface="SimSun"/>
              </a:rPr>
              <a:t>IN</a:t>
            </a:r>
            <a:r>
              <a:rPr dirty="0" baseline="18518" sz="1350" spc="-120">
                <a:latin typeface="SimSun"/>
                <a:cs typeface="SimSun"/>
              </a:rPr>
              <a:t>3</a:t>
            </a:r>
            <a:r>
              <a:rPr dirty="0" sz="800" spc="-80">
                <a:latin typeface="SimSun"/>
                <a:cs typeface="SimSun"/>
              </a:rPr>
              <a:t>K</a:t>
            </a:r>
            <a:r>
              <a:rPr dirty="0" baseline="18518" sz="1350" spc="-120">
                <a:latin typeface="SimSun"/>
                <a:cs typeface="SimSun"/>
              </a:rPr>
              <a:t>0%</a:t>
            </a:r>
            <a:r>
              <a:rPr dirty="0" sz="800" spc="-80">
                <a:latin typeface="SimSun"/>
                <a:cs typeface="SimSun"/>
              </a:rPr>
              <a:t>DL</a:t>
            </a:r>
            <a:endParaRPr sz="800">
              <a:latin typeface="SimSun"/>
              <a:cs typeface="SimSun"/>
            </a:endParaRPr>
          </a:p>
          <a:p>
            <a:pPr marL="62230">
              <a:lnSpc>
                <a:spcPts val="1015"/>
              </a:lnSpc>
              <a:tabLst>
                <a:tab pos="680085" algn="l"/>
              </a:tabLst>
            </a:pPr>
            <a:r>
              <a:rPr dirty="0" sz="900" spc="-260">
                <a:latin typeface="SimSun"/>
                <a:cs typeface="SimSun"/>
              </a:rPr>
              <a:t>中</a:t>
            </a:r>
            <a:r>
              <a:rPr dirty="0" baseline="-10416" sz="1200" spc="-825">
                <a:latin typeface="SimSun"/>
                <a:cs typeface="SimSun"/>
              </a:rPr>
              <a:t>高</a:t>
            </a:r>
            <a:r>
              <a:rPr dirty="0" sz="900" spc="-365">
                <a:latin typeface="SimSun"/>
                <a:cs typeface="SimSun"/>
              </a:rPr>
              <a:t>层</a:t>
            </a:r>
            <a:r>
              <a:rPr dirty="0" baseline="-10416" sz="1200" spc="-75">
                <a:latin typeface="SimSun"/>
                <a:cs typeface="SimSun"/>
              </a:rPr>
              <a:t>层</a:t>
            </a:r>
            <a:r>
              <a:rPr dirty="0" baseline="-10416" sz="1200">
                <a:latin typeface="SimSun"/>
                <a:cs typeface="SimSun"/>
              </a:rPr>
              <a:t>	</a:t>
            </a:r>
            <a:r>
              <a:rPr dirty="0" sz="900" spc="-229">
                <a:latin typeface="SimSun"/>
                <a:cs typeface="SimSun"/>
              </a:rPr>
              <a:t>9</a:t>
            </a:r>
            <a:r>
              <a:rPr dirty="0" baseline="-10416" sz="1200" spc="-345">
                <a:latin typeface="SimSun"/>
                <a:cs typeface="SimSun"/>
              </a:rPr>
              <a:t>5</a:t>
            </a:r>
            <a:r>
              <a:rPr dirty="0" sz="900" spc="-229">
                <a:latin typeface="SimSun"/>
                <a:cs typeface="SimSun"/>
              </a:rPr>
              <a:t>.</a:t>
            </a:r>
            <a:r>
              <a:rPr dirty="0" baseline="-10416" sz="1200" spc="-345">
                <a:latin typeface="SimSun"/>
                <a:cs typeface="SimSun"/>
              </a:rPr>
              <a:t>%</a:t>
            </a:r>
            <a:r>
              <a:rPr dirty="0" sz="1200" spc="-1135">
                <a:latin typeface="SimSun"/>
                <a:cs typeface="SimSun"/>
              </a:rPr>
              <a:t>方</a:t>
            </a:r>
            <a:r>
              <a:rPr dirty="0" sz="900" spc="-80">
                <a:latin typeface="SimSun"/>
                <a:cs typeface="SimSun"/>
              </a:rPr>
              <a:t>40%</a:t>
            </a:r>
            <a:r>
              <a:rPr dirty="0" sz="1200">
                <a:latin typeface="SimSun"/>
                <a:cs typeface="SimSun"/>
              </a:rPr>
              <a:t>向）</a:t>
            </a:r>
            <a:r>
              <a:rPr dirty="0" sz="1200" spc="-135">
                <a:latin typeface="SimSun"/>
                <a:cs typeface="SimSun"/>
              </a:rPr>
              <a:t> </a:t>
            </a:r>
            <a:r>
              <a:rPr dirty="0" baseline="-10416" sz="1200" spc="-97">
                <a:latin typeface="SimSun"/>
                <a:cs typeface="SimSun"/>
              </a:rPr>
              <a:t>1</a:t>
            </a:r>
            <a:r>
              <a:rPr dirty="0" sz="900" spc="-65">
                <a:latin typeface="SimSun"/>
                <a:cs typeface="SimSun"/>
              </a:rPr>
              <a:t>0</a:t>
            </a:r>
            <a:r>
              <a:rPr dirty="0" baseline="-10416" sz="1200" spc="-97">
                <a:latin typeface="SimSun"/>
                <a:cs typeface="SimSun"/>
              </a:rPr>
              <a:t>0</a:t>
            </a:r>
            <a:r>
              <a:rPr dirty="0" sz="900" spc="-65">
                <a:latin typeface="SimSun"/>
                <a:cs typeface="SimSun"/>
              </a:rPr>
              <a:t>.</a:t>
            </a:r>
            <a:r>
              <a:rPr dirty="0" baseline="-10416" sz="1200" spc="-97">
                <a:latin typeface="SimSun"/>
                <a:cs typeface="SimSun"/>
              </a:rPr>
              <a:t>0</a:t>
            </a:r>
            <a:r>
              <a:rPr dirty="0" sz="900" spc="-65">
                <a:latin typeface="SimSun"/>
                <a:cs typeface="SimSun"/>
              </a:rPr>
              <a:t>1</a:t>
            </a:r>
            <a:r>
              <a:rPr dirty="0" baseline="-10416" sz="1200" spc="-97">
                <a:latin typeface="SimSun"/>
                <a:cs typeface="SimSun"/>
              </a:rPr>
              <a:t>%</a:t>
            </a:r>
            <a:r>
              <a:rPr dirty="0" sz="900" spc="-65">
                <a:latin typeface="SimSun"/>
                <a:cs typeface="SimSun"/>
              </a:rPr>
              <a:t>0%</a:t>
            </a:r>
            <a:endParaRPr sz="900">
              <a:latin typeface="SimSun"/>
              <a:cs typeface="SimSun"/>
            </a:endParaRPr>
          </a:p>
          <a:p>
            <a:pPr marL="61594">
              <a:lnSpc>
                <a:spcPts val="1300"/>
              </a:lnSpc>
            </a:pPr>
            <a:r>
              <a:rPr dirty="0" baseline="3086" sz="1350" spc="-1350">
                <a:latin typeface="SimSun"/>
                <a:cs typeface="SimSun"/>
              </a:rPr>
              <a:t>低</a:t>
            </a:r>
            <a:r>
              <a:rPr dirty="0" baseline="-11574" sz="1800">
                <a:latin typeface="SimSun"/>
                <a:cs typeface="SimSun"/>
              </a:rPr>
              <a:t>S</a:t>
            </a:r>
            <a:r>
              <a:rPr dirty="0" baseline="-11574" sz="1800" spc="-839">
                <a:latin typeface="SimSun"/>
                <a:cs typeface="SimSun"/>
              </a:rPr>
              <a:t>B</a:t>
            </a:r>
            <a:r>
              <a:rPr dirty="0" sz="800" spc="-550">
                <a:latin typeface="SimSun"/>
                <a:cs typeface="SimSun"/>
              </a:rPr>
              <a:t>中</a:t>
            </a:r>
            <a:r>
              <a:rPr dirty="0" baseline="3086" sz="1350" spc="-900">
                <a:latin typeface="SimSun"/>
                <a:cs typeface="SimSun"/>
              </a:rPr>
              <a:t>层</a:t>
            </a:r>
            <a:r>
              <a:rPr dirty="0" baseline="-11574" sz="1800" spc="-1447">
                <a:latin typeface="SimSun"/>
                <a:cs typeface="SimSun"/>
              </a:rPr>
              <a:t>波</a:t>
            </a:r>
            <a:r>
              <a:rPr dirty="0" sz="800" spc="-80">
                <a:latin typeface="SimSun"/>
                <a:cs typeface="SimSun"/>
              </a:rPr>
              <a:t>层 </a:t>
            </a:r>
            <a:r>
              <a:rPr dirty="0" baseline="-11574" sz="1800" spc="-240">
                <a:latin typeface="SimSun"/>
                <a:cs typeface="SimSun"/>
              </a:rPr>
              <a:t>束水</a:t>
            </a:r>
            <a:r>
              <a:rPr dirty="0" sz="800" spc="-95">
                <a:latin typeface="SimSun"/>
                <a:cs typeface="SimSun"/>
              </a:rPr>
              <a:t>7</a:t>
            </a:r>
            <a:r>
              <a:rPr dirty="0" baseline="-11574" sz="1800" spc="-1702">
                <a:latin typeface="SimSun"/>
                <a:cs typeface="SimSun"/>
              </a:rPr>
              <a:t>平</a:t>
            </a:r>
            <a:r>
              <a:rPr dirty="0" baseline="3086" sz="1350" spc="-375">
                <a:latin typeface="SimSun"/>
                <a:cs typeface="SimSun"/>
              </a:rPr>
              <a:t>5</a:t>
            </a:r>
            <a:r>
              <a:rPr dirty="0" sz="800" spc="-250">
                <a:latin typeface="SimSun"/>
                <a:cs typeface="SimSun"/>
              </a:rPr>
              <a:t>.5</a:t>
            </a:r>
            <a:r>
              <a:rPr dirty="0" baseline="3086" sz="1350" spc="-375">
                <a:latin typeface="SimSun"/>
                <a:cs typeface="SimSun"/>
              </a:rPr>
              <a:t>.</a:t>
            </a:r>
            <a:r>
              <a:rPr dirty="0" sz="800" spc="-250">
                <a:latin typeface="SimSun"/>
                <a:cs typeface="SimSun"/>
              </a:rPr>
              <a:t>0</a:t>
            </a:r>
            <a:r>
              <a:rPr dirty="0" baseline="3086" sz="1350" spc="-375">
                <a:latin typeface="SimSun"/>
                <a:cs typeface="SimSun"/>
              </a:rPr>
              <a:t>3</a:t>
            </a:r>
            <a:r>
              <a:rPr dirty="0" baseline="-11574" sz="1800" spc="-1664">
                <a:latin typeface="SimSun"/>
                <a:cs typeface="SimSun"/>
              </a:rPr>
              <a:t>方</a:t>
            </a:r>
            <a:r>
              <a:rPr dirty="0" sz="800" spc="-100">
                <a:latin typeface="SimSun"/>
                <a:cs typeface="SimSun"/>
              </a:rPr>
              <a:t>%</a:t>
            </a:r>
            <a:r>
              <a:rPr dirty="0" baseline="3086" sz="1350" spc="-150">
                <a:latin typeface="SimSun"/>
                <a:cs typeface="SimSun"/>
              </a:rPr>
              <a:t>0%</a:t>
            </a:r>
            <a:r>
              <a:rPr dirty="0" baseline="3086" sz="1350" spc="-465">
                <a:latin typeface="SimSun"/>
                <a:cs typeface="SimSun"/>
              </a:rPr>
              <a:t> </a:t>
            </a:r>
            <a:r>
              <a:rPr dirty="0" baseline="-11574" sz="1800">
                <a:latin typeface="SimSun"/>
                <a:cs typeface="SimSun"/>
              </a:rPr>
              <a:t>位（</a:t>
            </a:r>
            <a:r>
              <a:rPr dirty="0" baseline="-11574" sz="1800" spc="-1635">
                <a:latin typeface="SimSun"/>
                <a:cs typeface="SimSun"/>
              </a:rPr>
              <a:t>相</a:t>
            </a:r>
            <a:r>
              <a:rPr dirty="0" sz="800" spc="-254">
                <a:latin typeface="SimSun"/>
                <a:cs typeface="SimSun"/>
              </a:rPr>
              <a:t>1</a:t>
            </a:r>
            <a:r>
              <a:rPr dirty="0" baseline="3086" sz="1350" spc="-382">
                <a:latin typeface="SimSun"/>
                <a:cs typeface="SimSun"/>
              </a:rPr>
              <a:t>0</a:t>
            </a:r>
            <a:r>
              <a:rPr dirty="0" sz="800" spc="-254">
                <a:latin typeface="SimSun"/>
                <a:cs typeface="SimSun"/>
              </a:rPr>
              <a:t>0</a:t>
            </a:r>
            <a:r>
              <a:rPr dirty="0" baseline="3086" sz="1350" spc="-382">
                <a:latin typeface="SimSun"/>
                <a:cs typeface="SimSun"/>
              </a:rPr>
              <a:t>.</a:t>
            </a:r>
            <a:r>
              <a:rPr dirty="0" sz="800" spc="-254">
                <a:latin typeface="SimSun"/>
                <a:cs typeface="SimSun"/>
              </a:rPr>
              <a:t>0</a:t>
            </a:r>
            <a:r>
              <a:rPr dirty="0" baseline="3086" sz="1350" spc="-382">
                <a:latin typeface="SimSun"/>
                <a:cs typeface="SimSun"/>
              </a:rPr>
              <a:t>1</a:t>
            </a:r>
            <a:r>
              <a:rPr dirty="0" baseline="-11574" sz="1800" spc="-1627">
                <a:latin typeface="SimSun"/>
                <a:cs typeface="SimSun"/>
              </a:rPr>
              <a:t>对</a:t>
            </a:r>
            <a:r>
              <a:rPr dirty="0" sz="800" spc="-80">
                <a:latin typeface="SimSun"/>
                <a:cs typeface="SimSun"/>
              </a:rPr>
              <a:t>%</a:t>
            </a:r>
            <a:r>
              <a:rPr dirty="0" baseline="3086" sz="1350" spc="-120">
                <a:latin typeface="SimSun"/>
                <a:cs typeface="SimSun"/>
              </a:rPr>
              <a:t>0%</a:t>
            </a:r>
            <a:r>
              <a:rPr dirty="0" baseline="-11574" sz="1800" spc="-75">
                <a:latin typeface="SimSun"/>
                <a:cs typeface="SimSun"/>
              </a:rPr>
              <a:t>于</a:t>
            </a:r>
            <a:endParaRPr baseline="-11574" sz="1800">
              <a:latin typeface="SimSun"/>
              <a:cs typeface="SimSun"/>
            </a:endParaRPr>
          </a:p>
          <a:p>
            <a:pPr marL="143510">
              <a:lnSpc>
                <a:spcPts val="835"/>
              </a:lnSpc>
              <a:tabLst>
                <a:tab pos="681990" algn="l"/>
                <a:tab pos="1295400" algn="l"/>
              </a:tabLst>
            </a:pPr>
            <a:r>
              <a:rPr dirty="0" sz="800" spc="-10">
                <a:latin typeface="SimSun"/>
                <a:cs typeface="SimSun"/>
              </a:rPr>
              <a:t>低</a:t>
            </a:r>
            <a:r>
              <a:rPr dirty="0" sz="800" spc="-50">
                <a:latin typeface="SimSun"/>
                <a:cs typeface="SimSun"/>
              </a:rPr>
              <a:t>层</a:t>
            </a:r>
            <a:r>
              <a:rPr dirty="0" sz="800">
                <a:latin typeface="SimSun"/>
                <a:cs typeface="SimSun"/>
              </a:rPr>
              <a:t>	</a:t>
            </a:r>
            <a:r>
              <a:rPr dirty="0" sz="800" spc="-25">
                <a:latin typeface="SimSun"/>
                <a:cs typeface="SimSun"/>
              </a:rPr>
              <a:t>10%</a:t>
            </a:r>
            <a:r>
              <a:rPr dirty="0" sz="800">
                <a:latin typeface="SimSun"/>
                <a:cs typeface="SimSun"/>
              </a:rPr>
              <a:t>	</a:t>
            </a:r>
            <a:r>
              <a:rPr dirty="0" sz="800" spc="-20">
                <a:latin typeface="SimSun"/>
                <a:cs typeface="SimSun"/>
              </a:rPr>
              <a:t>100%</a:t>
            </a:r>
            <a:endParaRPr sz="800">
              <a:latin typeface="SimSun"/>
              <a:cs typeface="SimSun"/>
            </a:endParaRPr>
          </a:p>
          <a:p>
            <a:pPr marL="34290">
              <a:lnSpc>
                <a:spcPts val="1075"/>
              </a:lnSpc>
            </a:pPr>
            <a:r>
              <a:rPr dirty="0" sz="900" spc="-10">
                <a:latin typeface="Arial MT"/>
                <a:cs typeface="Arial MT"/>
              </a:rPr>
              <a:t>5GHz</a:t>
            </a:r>
            <a:r>
              <a:rPr dirty="0" sz="900">
                <a:latin typeface="SimSun"/>
                <a:cs typeface="SimSun"/>
              </a:rPr>
              <a:t>信号经过</a:t>
            </a:r>
            <a:r>
              <a:rPr dirty="0" sz="900" spc="-885">
                <a:latin typeface="SimSun"/>
                <a:cs typeface="SimSun"/>
              </a:rPr>
              <a:t>多</a:t>
            </a:r>
            <a:r>
              <a:rPr dirty="0" baseline="20833" sz="1800" spc="-480">
                <a:latin typeface="SimSun"/>
                <a:cs typeface="SimSun"/>
              </a:rPr>
              <a:t>方</a:t>
            </a:r>
            <a:r>
              <a:rPr dirty="0" sz="900" spc="-585">
                <a:latin typeface="SimSun"/>
                <a:cs typeface="SimSun"/>
              </a:rPr>
              <a:t>墙</a:t>
            </a:r>
            <a:r>
              <a:rPr dirty="0" baseline="20833" sz="1800" spc="-930">
                <a:latin typeface="SimSun"/>
                <a:cs typeface="SimSun"/>
              </a:rPr>
              <a:t>向</a:t>
            </a:r>
            <a:r>
              <a:rPr dirty="0" sz="900" spc="-285">
                <a:latin typeface="SimSun"/>
                <a:cs typeface="SimSun"/>
              </a:rPr>
              <a:t>体</a:t>
            </a:r>
            <a:r>
              <a:rPr dirty="0" baseline="20833" sz="1800" spc="-1380">
                <a:latin typeface="SimSun"/>
                <a:cs typeface="SimSun"/>
              </a:rPr>
              <a:t>）</a:t>
            </a:r>
            <a:r>
              <a:rPr dirty="0" sz="900" spc="-10">
                <a:latin typeface="SimSun"/>
                <a:cs typeface="SimSun"/>
              </a:rPr>
              <a:t>穿透后，信号</a:t>
            </a:r>
            <a:endParaRPr sz="900">
              <a:latin typeface="SimSun"/>
              <a:cs typeface="SimSun"/>
            </a:endParaRPr>
          </a:p>
          <a:p>
            <a:pPr>
              <a:lnSpc>
                <a:spcPts val="260"/>
              </a:lnSpc>
            </a:pPr>
            <a:r>
              <a:rPr dirty="0" sz="900" spc="-5">
                <a:latin typeface="SimSun"/>
                <a:cs typeface="SimSun"/>
              </a:rPr>
              <a:t>益于大带宽、大规模天线技术，不论</a:t>
            </a:r>
            <a:endParaRPr sz="900">
              <a:latin typeface="SimSun"/>
              <a:cs typeface="SimSun"/>
            </a:endParaRPr>
          </a:p>
          <a:p>
            <a:pPr marL="53975">
              <a:lnSpc>
                <a:spcPts val="819"/>
              </a:lnSpc>
            </a:pPr>
            <a:r>
              <a:rPr dirty="0" sz="900" spc="-295">
                <a:latin typeface="SimSun"/>
                <a:cs typeface="SimSun"/>
              </a:rPr>
              <a:t>度相</a:t>
            </a:r>
            <a:r>
              <a:rPr dirty="0" baseline="-31746" sz="2100" spc="-292">
                <a:latin typeface="Arial MT"/>
                <a:cs typeface="Arial MT"/>
              </a:rPr>
              <a:t>4</a:t>
            </a:r>
            <a:r>
              <a:rPr dirty="0" sz="900" spc="-705">
                <a:latin typeface="SimSun"/>
                <a:cs typeface="SimSun"/>
              </a:rPr>
              <a:t>对</a:t>
            </a:r>
            <a:r>
              <a:rPr dirty="0" baseline="-31746" sz="2100" spc="-382">
                <a:latin typeface="Arial MT"/>
                <a:cs typeface="Arial MT"/>
              </a:rPr>
              <a:t>+</a:t>
            </a:r>
            <a:r>
              <a:rPr dirty="0" sz="900" spc="-254">
                <a:latin typeface="Arial MT"/>
                <a:cs typeface="Arial MT"/>
              </a:rPr>
              <a:t>1</a:t>
            </a:r>
            <a:r>
              <a:rPr dirty="0" baseline="-31746" sz="2100" spc="-382">
                <a:latin typeface="Arial MT"/>
                <a:cs typeface="Arial MT"/>
              </a:rPr>
              <a:t>3</a:t>
            </a:r>
            <a:r>
              <a:rPr dirty="0" sz="900" spc="-254">
                <a:latin typeface="Arial MT"/>
                <a:cs typeface="Arial MT"/>
              </a:rPr>
              <a:t>.8</a:t>
            </a:r>
            <a:r>
              <a:rPr dirty="0" baseline="-31746" sz="2100" spc="-1589">
                <a:latin typeface="SimSun"/>
                <a:cs typeface="SimSun"/>
              </a:rPr>
              <a:t>窄</a:t>
            </a:r>
            <a:r>
              <a:rPr dirty="0" sz="900" spc="-165">
                <a:latin typeface="Arial MT"/>
                <a:cs typeface="Arial MT"/>
              </a:rPr>
              <a:t>GH</a:t>
            </a:r>
            <a:r>
              <a:rPr dirty="0" baseline="-31746" sz="2100" spc="-1664">
                <a:latin typeface="SimSun"/>
                <a:cs typeface="SimSun"/>
              </a:rPr>
              <a:t>波</a:t>
            </a:r>
            <a:r>
              <a:rPr dirty="0" sz="900">
                <a:latin typeface="Arial MT"/>
                <a:cs typeface="Arial MT"/>
              </a:rPr>
              <a:t>z</a:t>
            </a:r>
            <a:r>
              <a:rPr dirty="0" sz="900" spc="-260">
                <a:latin typeface="SimSun"/>
                <a:cs typeface="SimSun"/>
              </a:rPr>
              <a:t>有</a:t>
            </a:r>
            <a:r>
              <a:rPr dirty="0" baseline="-31746" sz="2100" spc="-1732">
                <a:latin typeface="SimSun"/>
                <a:cs typeface="SimSun"/>
              </a:rPr>
              <a:t>束</a:t>
            </a:r>
            <a:r>
              <a:rPr dirty="0" sz="900" spc="-335">
                <a:latin typeface="SimSun"/>
                <a:cs typeface="SimSun"/>
              </a:rPr>
              <a:t>较大</a:t>
            </a:r>
            <a:r>
              <a:rPr dirty="0" baseline="-31746" sz="2100" spc="-1132">
                <a:latin typeface="SimSun"/>
                <a:cs typeface="SimSun"/>
              </a:rPr>
              <a:t>对</a:t>
            </a:r>
            <a:r>
              <a:rPr dirty="0" sz="900" spc="-165">
                <a:latin typeface="SimSun"/>
                <a:cs typeface="SimSun"/>
              </a:rPr>
              <a:t>减</a:t>
            </a:r>
            <a:r>
              <a:rPr dirty="0" baseline="-31746" sz="2100" spc="-1882">
                <a:latin typeface="SimSun"/>
                <a:cs typeface="SimSun"/>
              </a:rPr>
              <a:t>楼</a:t>
            </a:r>
            <a:r>
              <a:rPr dirty="0" sz="900" spc="-285">
                <a:latin typeface="SimSun"/>
                <a:cs typeface="SimSun"/>
              </a:rPr>
              <a:t>弱，</a:t>
            </a:r>
            <a:r>
              <a:rPr dirty="0" baseline="-31746" sz="2100" spc="-1275">
                <a:latin typeface="SimSun"/>
                <a:cs typeface="SimSun"/>
              </a:rPr>
              <a:t>宇</a:t>
            </a:r>
            <a:r>
              <a:rPr dirty="0" sz="900" spc="-220">
                <a:latin typeface="Arial MT"/>
                <a:cs typeface="Arial MT"/>
              </a:rPr>
              <a:t>RS</a:t>
            </a:r>
            <a:r>
              <a:rPr dirty="0" baseline="-31746" sz="2100" spc="-1500">
                <a:latin typeface="SimSun"/>
                <a:cs typeface="SimSun"/>
              </a:rPr>
              <a:t>的</a:t>
            </a:r>
            <a:r>
              <a:rPr dirty="0" sz="900" spc="-25">
                <a:latin typeface="Arial MT"/>
                <a:cs typeface="Arial MT"/>
              </a:rPr>
              <a:t>RP</a:t>
            </a:r>
            <a:endParaRPr sz="900">
              <a:latin typeface="Arial MT"/>
              <a:cs typeface="Arial MT"/>
            </a:endParaRPr>
          </a:p>
          <a:p>
            <a:pPr marL="53975" marR="55880" indent="-54610">
              <a:lnSpc>
                <a:spcPct val="44500"/>
              </a:lnSpc>
              <a:spcBef>
                <a:spcPts val="305"/>
              </a:spcBef>
            </a:pPr>
            <a:r>
              <a:rPr dirty="0" sz="900">
                <a:latin typeface="SimSun"/>
                <a:cs typeface="SimSun"/>
              </a:rPr>
              <a:t>浅层还是深层覆盖下</a:t>
            </a:r>
            <a:r>
              <a:rPr dirty="0" sz="900" spc="-20">
                <a:latin typeface="Arial MT"/>
                <a:cs typeface="Arial MT"/>
              </a:rPr>
              <a:t>NR</a:t>
            </a:r>
            <a:r>
              <a:rPr dirty="0" sz="900" spc="-10">
                <a:latin typeface="SimSun"/>
                <a:cs typeface="SimSun"/>
              </a:rPr>
              <a:t>下行速率均占比分散。</a:t>
            </a:r>
            <a:endParaRPr sz="900">
              <a:latin typeface="SimSun"/>
              <a:cs typeface="SimSun"/>
            </a:endParaRPr>
          </a:p>
          <a:p>
            <a:pPr>
              <a:lnSpc>
                <a:spcPts val="700"/>
              </a:lnSpc>
            </a:pPr>
            <a:r>
              <a:rPr dirty="0" sz="900">
                <a:latin typeface="SimSun"/>
                <a:cs typeface="SimSun"/>
              </a:rPr>
              <a:t>于</a:t>
            </a:r>
            <a:r>
              <a:rPr dirty="0" sz="900" spc="-165">
                <a:latin typeface="Arial MT"/>
                <a:cs typeface="Arial MT"/>
              </a:rPr>
              <a:t>LT</a:t>
            </a:r>
            <a:r>
              <a:rPr dirty="0" baseline="-31746" sz="2100" spc="-1657">
                <a:latin typeface="SimSun"/>
                <a:cs typeface="SimSun"/>
              </a:rPr>
              <a:t>益</a:t>
            </a:r>
            <a:r>
              <a:rPr dirty="0" sz="900">
                <a:latin typeface="Arial MT"/>
                <a:cs typeface="Arial MT"/>
              </a:rPr>
              <a:t>E</a:t>
            </a:r>
            <a:r>
              <a:rPr dirty="0" sz="900" spc="-415">
                <a:latin typeface="SimSun"/>
                <a:cs typeface="SimSun"/>
              </a:rPr>
              <a:t>。</a:t>
            </a:r>
            <a:r>
              <a:rPr dirty="0" baseline="-31746" sz="2100" spc="-75">
                <a:latin typeface="SimSun"/>
                <a:cs typeface="SimSun"/>
              </a:rPr>
              <a:t>。</a:t>
            </a:r>
            <a:endParaRPr baseline="-31746" sz="2100">
              <a:latin typeface="SimSun"/>
              <a:cs typeface="SimSun"/>
            </a:endParaRPr>
          </a:p>
          <a:p>
            <a:pPr marL="208279">
              <a:lnSpc>
                <a:spcPts val="930"/>
              </a:lnSpc>
              <a:spcBef>
                <a:spcPts val="685"/>
              </a:spcBef>
            </a:pPr>
            <a:r>
              <a:rPr dirty="0" sz="900">
                <a:latin typeface="SimSun"/>
                <a:cs typeface="SimSun"/>
              </a:rPr>
              <a:t>从测试点位</a:t>
            </a:r>
            <a:r>
              <a:rPr dirty="0" sz="900" spc="-10">
                <a:latin typeface="Arial MT"/>
                <a:cs typeface="Arial MT"/>
              </a:rPr>
              <a:t>RSRP</a:t>
            </a:r>
            <a:r>
              <a:rPr dirty="0" sz="900">
                <a:latin typeface="SimSun"/>
                <a:cs typeface="SimSun"/>
              </a:rPr>
              <a:t>对比，</a:t>
            </a:r>
            <a:r>
              <a:rPr dirty="0" sz="900">
                <a:latin typeface="Arial MT"/>
                <a:cs typeface="Arial MT"/>
              </a:rPr>
              <a:t>5G</a:t>
            </a:r>
            <a:r>
              <a:rPr dirty="0" sz="900" spc="10">
                <a:latin typeface="Arial MT"/>
                <a:cs typeface="Arial MT"/>
              </a:rPr>
              <a:t> </a:t>
            </a:r>
            <a:r>
              <a:rPr dirty="0" sz="900" spc="-25">
                <a:latin typeface="Arial MT"/>
                <a:cs typeface="Arial MT"/>
              </a:rPr>
              <a:t>NR</a:t>
            </a:r>
            <a:endParaRPr sz="900">
              <a:latin typeface="Arial MT"/>
              <a:cs typeface="Arial MT"/>
            </a:endParaRPr>
          </a:p>
          <a:p>
            <a:pPr marL="147320" marR="41275">
              <a:lnSpc>
                <a:spcPct val="75000"/>
              </a:lnSpc>
              <a:spcBef>
                <a:spcPts val="210"/>
              </a:spcBef>
            </a:pPr>
            <a:r>
              <a:rPr dirty="0" baseline="6944" sz="1800" spc="-284">
                <a:latin typeface="Arial MT"/>
                <a:cs typeface="Arial MT"/>
              </a:rPr>
              <a:t>5</a:t>
            </a:r>
            <a:r>
              <a:rPr dirty="0" sz="900" spc="-715">
                <a:latin typeface="SimSun"/>
                <a:cs typeface="SimSun"/>
              </a:rPr>
              <a:t>对</a:t>
            </a:r>
            <a:r>
              <a:rPr dirty="0" baseline="6944" sz="1800" spc="-359">
                <a:latin typeface="Arial MT"/>
                <a:cs typeface="Arial MT"/>
              </a:rPr>
              <a:t>G</a:t>
            </a:r>
            <a:r>
              <a:rPr dirty="0" sz="900" spc="-350">
                <a:latin typeface="SimSun"/>
                <a:cs typeface="SimSun"/>
              </a:rPr>
              <a:t>深</a:t>
            </a:r>
            <a:r>
              <a:rPr dirty="0" baseline="6944" sz="1800" spc="-787">
                <a:latin typeface="Arial MT"/>
                <a:cs typeface="Arial MT"/>
              </a:rPr>
              <a:t>N</a:t>
            </a:r>
            <a:r>
              <a:rPr dirty="0" sz="900" spc="-385">
                <a:latin typeface="SimSun"/>
                <a:cs typeface="SimSun"/>
              </a:rPr>
              <a:t>层</a:t>
            </a:r>
            <a:r>
              <a:rPr dirty="0" baseline="6944" sz="1800" spc="-727">
                <a:latin typeface="Arial MT"/>
                <a:cs typeface="Arial MT"/>
              </a:rPr>
              <a:t>R</a:t>
            </a:r>
            <a:r>
              <a:rPr dirty="0" sz="900" spc="-420">
                <a:latin typeface="SimSun"/>
                <a:cs typeface="SimSun"/>
              </a:rPr>
              <a:t>覆</a:t>
            </a:r>
            <a:r>
              <a:rPr dirty="0" baseline="6944" sz="1800" spc="-1177">
                <a:latin typeface="SimSun"/>
                <a:cs typeface="SimSun"/>
              </a:rPr>
              <a:t>上</a:t>
            </a:r>
            <a:r>
              <a:rPr dirty="0" sz="900" spc="-120">
                <a:latin typeface="SimSun"/>
                <a:cs typeface="SimSun"/>
              </a:rPr>
              <a:t>盖</a:t>
            </a:r>
            <a:r>
              <a:rPr dirty="0" baseline="6944" sz="1800" spc="-1627">
                <a:latin typeface="SimSun"/>
                <a:cs typeface="SimSun"/>
              </a:rPr>
              <a:t>行</a:t>
            </a:r>
            <a:r>
              <a:rPr dirty="0" sz="900" spc="-360">
                <a:latin typeface="SimSun"/>
                <a:cs typeface="SimSun"/>
              </a:rPr>
              <a:t>差于</a:t>
            </a:r>
            <a:r>
              <a:rPr dirty="0" baseline="6944" sz="1800" spc="-727">
                <a:latin typeface="SimSun"/>
                <a:cs typeface="SimSun"/>
              </a:rPr>
              <a:t>业</a:t>
            </a:r>
            <a:r>
              <a:rPr dirty="0" sz="900" spc="-20">
                <a:latin typeface="Arial MT"/>
                <a:cs typeface="Arial MT"/>
              </a:rPr>
              <a:t>L</a:t>
            </a:r>
            <a:r>
              <a:rPr dirty="0" sz="900" spc="-545">
                <a:latin typeface="Arial MT"/>
                <a:cs typeface="Arial MT"/>
              </a:rPr>
              <a:t>T</a:t>
            </a:r>
            <a:r>
              <a:rPr dirty="0" baseline="6944" sz="1800" spc="-967">
                <a:latin typeface="SimSun"/>
                <a:cs typeface="SimSun"/>
              </a:rPr>
              <a:t>务</a:t>
            </a:r>
            <a:r>
              <a:rPr dirty="0" sz="900">
                <a:latin typeface="Arial MT"/>
                <a:cs typeface="Arial MT"/>
              </a:rPr>
              <a:t>E</a:t>
            </a:r>
            <a:r>
              <a:rPr dirty="0" sz="900" spc="-875">
                <a:latin typeface="SimSun"/>
                <a:cs typeface="SimSun"/>
              </a:rPr>
              <a:t>，</a:t>
            </a:r>
            <a:r>
              <a:rPr dirty="0" baseline="6944" sz="1800" spc="-494">
                <a:latin typeface="SimSun"/>
                <a:cs typeface="SimSun"/>
              </a:rPr>
              <a:t>速</a:t>
            </a:r>
            <a:r>
              <a:rPr dirty="0" sz="900" spc="-575">
                <a:latin typeface="SimSun"/>
                <a:cs typeface="SimSun"/>
              </a:rPr>
              <a:t>平</a:t>
            </a:r>
            <a:r>
              <a:rPr dirty="0" baseline="6944" sz="1800" spc="-944">
                <a:latin typeface="SimSun"/>
                <a:cs typeface="SimSun"/>
              </a:rPr>
              <a:t>率</a:t>
            </a:r>
            <a:r>
              <a:rPr dirty="0" sz="900" spc="-275">
                <a:latin typeface="SimSun"/>
                <a:cs typeface="SimSun"/>
              </a:rPr>
              <a:t>均</a:t>
            </a:r>
            <a:r>
              <a:rPr dirty="0" baseline="6944" sz="1800" spc="-1395">
                <a:latin typeface="SimSun"/>
                <a:cs typeface="SimSun"/>
              </a:rPr>
              <a:t>在</a:t>
            </a:r>
            <a:r>
              <a:rPr dirty="0" sz="900" spc="-50">
                <a:latin typeface="SimSun"/>
                <a:cs typeface="SimSun"/>
              </a:rPr>
              <a:t>低 </a:t>
            </a:r>
            <a:r>
              <a:rPr dirty="0" baseline="-11574" sz="1800" spc="-487">
                <a:latin typeface="Arial MT"/>
                <a:cs typeface="Arial MT"/>
              </a:rPr>
              <a:t>S</a:t>
            </a:r>
            <a:r>
              <a:rPr dirty="0" sz="900" spc="-185">
                <a:latin typeface="Arial MT"/>
                <a:cs typeface="Arial MT"/>
              </a:rPr>
              <a:t>4</a:t>
            </a:r>
            <a:r>
              <a:rPr dirty="0" baseline="-11574" sz="1800" spc="-937">
                <a:latin typeface="Arial MT"/>
                <a:cs typeface="Arial MT"/>
              </a:rPr>
              <a:t>S</a:t>
            </a:r>
            <a:r>
              <a:rPr dirty="0" sz="900">
                <a:latin typeface="Arial MT"/>
                <a:cs typeface="Arial MT"/>
              </a:rPr>
              <a:t>~</a:t>
            </a:r>
            <a:r>
              <a:rPr dirty="0" sz="900" spc="-409">
                <a:latin typeface="Arial MT"/>
                <a:cs typeface="Arial MT"/>
              </a:rPr>
              <a:t>1</a:t>
            </a:r>
            <a:r>
              <a:rPr dirty="0" baseline="-11574" sz="1800" spc="-592">
                <a:latin typeface="Arial MT"/>
                <a:cs typeface="Arial MT"/>
              </a:rPr>
              <a:t>B</a:t>
            </a:r>
            <a:r>
              <a:rPr dirty="0" sz="900" spc="-5">
                <a:latin typeface="Arial MT"/>
                <a:cs typeface="Arial MT"/>
              </a:rPr>
              <a:t>0</a:t>
            </a:r>
            <a:r>
              <a:rPr dirty="0" sz="900" spc="-270">
                <a:latin typeface="Arial MT"/>
                <a:cs typeface="Arial MT"/>
              </a:rPr>
              <a:t>d</a:t>
            </a:r>
            <a:r>
              <a:rPr dirty="0" baseline="-11574" sz="1800" spc="-900">
                <a:latin typeface="Arial MT"/>
                <a:cs typeface="Arial MT"/>
              </a:rPr>
              <a:t>R</a:t>
            </a:r>
            <a:r>
              <a:rPr dirty="0" sz="900" spc="-5">
                <a:latin typeface="Arial MT"/>
                <a:cs typeface="Arial MT"/>
              </a:rPr>
              <a:t>B</a:t>
            </a:r>
            <a:r>
              <a:rPr dirty="0" sz="900" spc="-250">
                <a:latin typeface="Arial MT"/>
                <a:cs typeface="Arial MT"/>
              </a:rPr>
              <a:t>,</a:t>
            </a:r>
            <a:r>
              <a:rPr dirty="0" baseline="-11574" sz="1800" spc="-825">
                <a:latin typeface="Arial MT"/>
                <a:cs typeface="Arial MT"/>
              </a:rPr>
              <a:t>S</a:t>
            </a:r>
            <a:r>
              <a:rPr dirty="0" sz="900" spc="-360">
                <a:latin typeface="SimSun"/>
                <a:cs typeface="SimSun"/>
              </a:rPr>
              <a:t>主</a:t>
            </a:r>
            <a:r>
              <a:rPr dirty="0" baseline="-11574" sz="1800" spc="-765">
                <a:latin typeface="Arial MT"/>
                <a:cs typeface="Arial MT"/>
              </a:rPr>
              <a:t>R</a:t>
            </a:r>
            <a:r>
              <a:rPr dirty="0" sz="900" spc="-395">
                <a:latin typeface="SimSun"/>
                <a:cs typeface="SimSun"/>
              </a:rPr>
              <a:t>要</a:t>
            </a:r>
            <a:r>
              <a:rPr dirty="0" baseline="-11574" sz="1800" spc="-615">
                <a:latin typeface="Arial MT"/>
                <a:cs typeface="Arial MT"/>
              </a:rPr>
              <a:t>P</a:t>
            </a:r>
            <a:r>
              <a:rPr dirty="0" sz="900" spc="-500">
                <a:latin typeface="SimSun"/>
                <a:cs typeface="SimSun"/>
              </a:rPr>
              <a:t>差</a:t>
            </a:r>
            <a:r>
              <a:rPr dirty="0" baseline="-11574" sz="1800" spc="-307">
                <a:latin typeface="Arial MT"/>
                <a:cs typeface="Arial MT"/>
              </a:rPr>
              <a:t>&lt;</a:t>
            </a:r>
            <a:r>
              <a:rPr dirty="0" sz="900" spc="-695">
                <a:latin typeface="SimSun"/>
                <a:cs typeface="SimSun"/>
              </a:rPr>
              <a:t>异</a:t>
            </a:r>
            <a:r>
              <a:rPr dirty="0" baseline="-11574" sz="1800" spc="-15">
                <a:latin typeface="Arial MT"/>
                <a:cs typeface="Arial MT"/>
              </a:rPr>
              <a:t>-</a:t>
            </a:r>
            <a:r>
              <a:rPr dirty="0" baseline="-11574" sz="1800" spc="-562">
                <a:latin typeface="Arial MT"/>
                <a:cs typeface="Arial MT"/>
              </a:rPr>
              <a:t>1</a:t>
            </a:r>
            <a:r>
              <a:rPr dirty="0" sz="900" spc="-530">
                <a:latin typeface="SimSun"/>
                <a:cs typeface="SimSun"/>
              </a:rPr>
              <a:t>来</a:t>
            </a:r>
            <a:r>
              <a:rPr dirty="0" baseline="-11574" sz="1800" spc="-217">
                <a:latin typeface="Arial MT"/>
                <a:cs typeface="Arial MT"/>
              </a:rPr>
              <a:t>0</a:t>
            </a:r>
            <a:r>
              <a:rPr dirty="0" sz="900" spc="-765">
                <a:latin typeface="SimSun"/>
                <a:cs typeface="SimSun"/>
              </a:rPr>
              <a:t>自</a:t>
            </a:r>
            <a:r>
              <a:rPr dirty="0" baseline="-11574" sz="1800" spc="-15">
                <a:latin typeface="Arial MT"/>
                <a:cs typeface="Arial MT"/>
              </a:rPr>
              <a:t>5</a:t>
            </a:r>
            <a:r>
              <a:rPr dirty="0" baseline="-11574" sz="1800" spc="-1664">
                <a:latin typeface="SimSun"/>
                <a:cs typeface="SimSun"/>
              </a:rPr>
              <a:t>后</a:t>
            </a:r>
            <a:r>
              <a:rPr dirty="0" sz="900" spc="-350">
                <a:latin typeface="SimSun"/>
                <a:cs typeface="SimSun"/>
              </a:rPr>
              <a:t>多墙</a:t>
            </a:r>
            <a:r>
              <a:rPr dirty="0" baseline="-11574" sz="1800" spc="-765">
                <a:latin typeface="SimSun"/>
                <a:cs typeface="SimSun"/>
              </a:rPr>
              <a:t>，</a:t>
            </a:r>
            <a:r>
              <a:rPr dirty="0" sz="900" spc="-395">
                <a:latin typeface="SimSun"/>
                <a:cs typeface="SimSun"/>
              </a:rPr>
              <a:t>体</a:t>
            </a:r>
            <a:r>
              <a:rPr dirty="0" baseline="-11574" sz="1800" spc="-1214">
                <a:latin typeface="SimSun"/>
                <a:cs typeface="SimSun"/>
              </a:rPr>
              <a:t>受</a:t>
            </a:r>
            <a:r>
              <a:rPr dirty="0" sz="900" spc="-50">
                <a:latin typeface="SimSun"/>
                <a:cs typeface="SimSun"/>
              </a:rPr>
              <a:t>穿</a:t>
            </a:r>
            <a:endParaRPr sz="900">
              <a:latin typeface="SimSun"/>
              <a:cs typeface="SimSun"/>
            </a:endParaRPr>
          </a:p>
          <a:p>
            <a:pPr marL="147320">
              <a:lnSpc>
                <a:spcPts val="1210"/>
              </a:lnSpc>
              <a:spcBef>
                <a:spcPts val="284"/>
              </a:spcBef>
            </a:pPr>
            <a:r>
              <a:rPr dirty="0" sz="1200" spc="-725">
                <a:latin typeface="SimSun"/>
                <a:cs typeface="SimSun"/>
              </a:rPr>
              <a:t>发</a:t>
            </a:r>
            <a:r>
              <a:rPr dirty="0" baseline="40123" sz="1350" spc="-270">
                <a:latin typeface="SimSun"/>
                <a:cs typeface="SimSun"/>
              </a:rPr>
              <a:t>透</a:t>
            </a:r>
            <a:r>
              <a:rPr dirty="0" sz="1200" spc="-1025">
                <a:latin typeface="SimSun"/>
                <a:cs typeface="SimSun"/>
              </a:rPr>
              <a:t>送</a:t>
            </a:r>
            <a:r>
              <a:rPr dirty="0" baseline="40123" sz="1350" spc="-585">
                <a:latin typeface="SimSun"/>
                <a:cs typeface="SimSun"/>
              </a:rPr>
              <a:t>损耗</a:t>
            </a:r>
            <a:r>
              <a:rPr dirty="0" sz="1200" spc="-10">
                <a:latin typeface="SimSun"/>
                <a:cs typeface="SimSun"/>
              </a:rPr>
              <a:t>功率受限影响，上</a:t>
            </a:r>
            <a:endParaRPr sz="1200">
              <a:latin typeface="SimSun"/>
              <a:cs typeface="SimSun"/>
            </a:endParaRPr>
          </a:p>
          <a:p>
            <a:pPr>
              <a:lnSpc>
                <a:spcPts val="1070"/>
              </a:lnSpc>
            </a:pPr>
            <a:r>
              <a:rPr dirty="0" sz="800" spc="-40">
                <a:latin typeface="SimSun"/>
                <a:cs typeface="SimSun"/>
              </a:rPr>
              <a:t>G3</a:t>
            </a:r>
            <a:r>
              <a:rPr dirty="0" baseline="17361" sz="1200" spc="-1125">
                <a:latin typeface="SimSun"/>
                <a:cs typeface="SimSun"/>
              </a:rPr>
              <a:t>行</a:t>
            </a:r>
            <a:r>
              <a:rPr dirty="0" sz="800" spc="-55">
                <a:latin typeface="SimSun"/>
                <a:cs typeface="SimSun"/>
              </a:rPr>
              <a:t>.</a:t>
            </a:r>
            <a:r>
              <a:rPr dirty="0" baseline="-18518" sz="1800" spc="-1732">
                <a:latin typeface="SimSun"/>
                <a:cs typeface="SimSun"/>
              </a:rPr>
              <a:t>行</a:t>
            </a:r>
            <a:r>
              <a:rPr dirty="0" sz="800" spc="-75">
                <a:latin typeface="SimSun"/>
                <a:cs typeface="SimSun"/>
              </a:rPr>
              <a:t>5</a:t>
            </a:r>
            <a:r>
              <a:rPr dirty="0" baseline="17361" sz="1200" spc="-1117">
                <a:latin typeface="SimSun"/>
                <a:cs typeface="SimSun"/>
              </a:rPr>
              <a:t>业</a:t>
            </a:r>
            <a:r>
              <a:rPr dirty="0" sz="800" spc="-50">
                <a:latin typeface="SimSun"/>
                <a:cs typeface="SimSun"/>
              </a:rPr>
              <a:t>GH</a:t>
            </a:r>
            <a:r>
              <a:rPr dirty="0" baseline="17361" sz="1200" spc="-1185">
                <a:latin typeface="SimSun"/>
                <a:cs typeface="SimSun"/>
              </a:rPr>
              <a:t>务</a:t>
            </a:r>
            <a:r>
              <a:rPr dirty="0" baseline="-18518" sz="1800" spc="-1725">
                <a:latin typeface="SimSun"/>
                <a:cs typeface="SimSun"/>
              </a:rPr>
              <a:t>速</a:t>
            </a:r>
            <a:r>
              <a:rPr dirty="0" sz="800">
                <a:latin typeface="SimSun"/>
                <a:cs typeface="SimSun"/>
              </a:rPr>
              <a:t>z</a:t>
            </a:r>
            <a:r>
              <a:rPr dirty="0" sz="800" spc="185">
                <a:latin typeface="SimSun"/>
                <a:cs typeface="SimSun"/>
              </a:rPr>
              <a:t> </a:t>
            </a:r>
            <a:r>
              <a:rPr dirty="0" baseline="17361" sz="1200" spc="-1132">
                <a:latin typeface="SimSun"/>
                <a:cs typeface="SimSun"/>
              </a:rPr>
              <a:t>速</a:t>
            </a:r>
            <a:r>
              <a:rPr dirty="0" sz="800" spc="-45">
                <a:latin typeface="SimSun"/>
                <a:cs typeface="SimSun"/>
              </a:rPr>
              <a:t>S</a:t>
            </a:r>
            <a:r>
              <a:rPr dirty="0" baseline="-18518" sz="1800" spc="-1754">
                <a:latin typeface="SimSun"/>
                <a:cs typeface="SimSun"/>
              </a:rPr>
              <a:t>率</a:t>
            </a:r>
            <a:r>
              <a:rPr dirty="0" sz="800" spc="-70">
                <a:latin typeface="SimSun"/>
                <a:cs typeface="SimSun"/>
              </a:rPr>
              <a:t>S</a:t>
            </a:r>
            <a:r>
              <a:rPr dirty="0" baseline="17361" sz="1200" spc="-1117">
                <a:latin typeface="SimSun"/>
                <a:cs typeface="SimSun"/>
              </a:rPr>
              <a:t>率</a:t>
            </a:r>
            <a:r>
              <a:rPr dirty="0" sz="800" spc="-10">
                <a:latin typeface="SimSun"/>
                <a:cs typeface="SimSun"/>
              </a:rPr>
              <a:t>B</a:t>
            </a:r>
            <a:r>
              <a:rPr dirty="0" sz="800" spc="-475">
                <a:latin typeface="SimSun"/>
                <a:cs typeface="SimSun"/>
              </a:rPr>
              <a:t>窄</a:t>
            </a:r>
            <a:r>
              <a:rPr dirty="0" baseline="17361" sz="1200" spc="-569">
                <a:latin typeface="SimSun"/>
                <a:cs typeface="SimSun"/>
              </a:rPr>
              <a:t>&lt;</a:t>
            </a:r>
            <a:r>
              <a:rPr dirty="0" baseline="-18518" sz="1800" spc="-1245">
                <a:latin typeface="SimSun"/>
                <a:cs typeface="SimSun"/>
              </a:rPr>
              <a:t>低</a:t>
            </a:r>
            <a:r>
              <a:rPr dirty="0" baseline="17361" sz="1200" spc="-517">
                <a:latin typeface="SimSun"/>
                <a:cs typeface="SimSun"/>
              </a:rPr>
              <a:t>=</a:t>
            </a:r>
            <a:r>
              <a:rPr dirty="0" sz="800" spc="-470">
                <a:latin typeface="SimSun"/>
                <a:cs typeface="SimSun"/>
              </a:rPr>
              <a:t>波</a:t>
            </a:r>
            <a:r>
              <a:rPr dirty="0" baseline="17361" sz="1200" spc="-300">
                <a:latin typeface="SimSun"/>
                <a:cs typeface="SimSun"/>
              </a:rPr>
              <a:t>LT</a:t>
            </a:r>
            <a:r>
              <a:rPr dirty="0" baseline="-18518" sz="1800" spc="-1754">
                <a:latin typeface="SimSun"/>
                <a:cs typeface="SimSun"/>
              </a:rPr>
              <a:t>于</a:t>
            </a:r>
            <a:r>
              <a:rPr dirty="0" sz="800" spc="-459">
                <a:latin typeface="SimSun"/>
                <a:cs typeface="SimSun"/>
              </a:rPr>
              <a:t>束</a:t>
            </a:r>
            <a:r>
              <a:rPr dirty="0" baseline="17361" sz="1200">
                <a:latin typeface="SimSun"/>
                <a:cs typeface="SimSun"/>
              </a:rPr>
              <a:t>E</a:t>
            </a:r>
            <a:r>
              <a:rPr dirty="0" sz="800" spc="-459">
                <a:latin typeface="SimSun"/>
                <a:cs typeface="SimSun"/>
              </a:rPr>
              <a:t>与</a:t>
            </a:r>
            <a:r>
              <a:rPr dirty="0" baseline="17361" sz="1200" spc="-532">
                <a:latin typeface="SimSun"/>
                <a:cs typeface="SimSun"/>
              </a:rPr>
              <a:t>L</a:t>
            </a:r>
            <a:r>
              <a:rPr dirty="0" baseline="-18518" sz="1800" spc="-532">
                <a:latin typeface="Arial MT"/>
                <a:cs typeface="Arial MT"/>
              </a:rPr>
              <a:t>L</a:t>
            </a:r>
            <a:r>
              <a:rPr dirty="0" baseline="17361" sz="1200" spc="-532">
                <a:latin typeface="SimSun"/>
                <a:cs typeface="SimSun"/>
              </a:rPr>
              <a:t>I</a:t>
            </a:r>
            <a:r>
              <a:rPr dirty="0" sz="800" spc="-355">
                <a:latin typeface="SimSun"/>
                <a:cs typeface="SimSun"/>
              </a:rPr>
              <a:t>L</a:t>
            </a:r>
            <a:r>
              <a:rPr dirty="0" baseline="-18518" sz="1800" spc="-532">
                <a:latin typeface="Arial MT"/>
                <a:cs typeface="Arial MT"/>
              </a:rPr>
              <a:t>T</a:t>
            </a:r>
            <a:r>
              <a:rPr dirty="0" baseline="17361" sz="1200" spc="-532">
                <a:latin typeface="SimSun"/>
                <a:cs typeface="SimSun"/>
              </a:rPr>
              <a:t>N</a:t>
            </a:r>
            <a:r>
              <a:rPr dirty="0" sz="800" spc="-355">
                <a:latin typeface="SimSun"/>
                <a:cs typeface="SimSun"/>
              </a:rPr>
              <a:t>T</a:t>
            </a:r>
            <a:r>
              <a:rPr dirty="0" baseline="17361" sz="1200" spc="-532">
                <a:latin typeface="SimSun"/>
                <a:cs typeface="SimSun"/>
              </a:rPr>
              <a:t>K</a:t>
            </a:r>
            <a:r>
              <a:rPr dirty="0" sz="800" spc="-355">
                <a:latin typeface="SimSun"/>
                <a:cs typeface="SimSun"/>
              </a:rPr>
              <a:t>E</a:t>
            </a:r>
            <a:r>
              <a:rPr dirty="0" baseline="-18518" sz="1800" spc="-532">
                <a:latin typeface="Arial MT"/>
                <a:cs typeface="Arial MT"/>
              </a:rPr>
              <a:t>E</a:t>
            </a:r>
            <a:r>
              <a:rPr dirty="0" baseline="17361" sz="1200" spc="-1147">
                <a:latin typeface="SimSun"/>
                <a:cs typeface="SimSun"/>
              </a:rPr>
              <a:t>速</a:t>
            </a:r>
            <a:r>
              <a:rPr dirty="0" sz="800" spc="-40">
                <a:latin typeface="SimSun"/>
                <a:cs typeface="SimSun"/>
              </a:rPr>
              <a:t>1.</a:t>
            </a:r>
            <a:r>
              <a:rPr dirty="0" baseline="17361" sz="1200" spc="-1132">
                <a:latin typeface="SimSun"/>
                <a:cs typeface="SimSun"/>
              </a:rPr>
              <a:t>率</a:t>
            </a:r>
            <a:r>
              <a:rPr dirty="0" sz="800" spc="-270">
                <a:latin typeface="SimSun"/>
                <a:cs typeface="SimSun"/>
              </a:rPr>
              <a:t>8</a:t>
            </a:r>
            <a:r>
              <a:rPr dirty="0" baseline="-18518" sz="1800" spc="-405">
                <a:latin typeface="Arial MT"/>
                <a:cs typeface="Arial MT"/>
              </a:rPr>
              <a:t>L</a:t>
            </a:r>
            <a:r>
              <a:rPr dirty="0" sz="800" spc="-270">
                <a:latin typeface="SimSun"/>
                <a:cs typeface="SimSun"/>
              </a:rPr>
              <a:t>G</a:t>
            </a:r>
            <a:r>
              <a:rPr dirty="0" baseline="-18518" sz="1800" spc="-405">
                <a:latin typeface="Arial MT"/>
                <a:cs typeface="Arial MT"/>
              </a:rPr>
              <a:t>I</a:t>
            </a:r>
            <a:r>
              <a:rPr dirty="0" baseline="17361" sz="1200" spc="-1125">
                <a:latin typeface="SimSun"/>
                <a:cs typeface="SimSun"/>
              </a:rPr>
              <a:t>占</a:t>
            </a:r>
            <a:r>
              <a:rPr dirty="0" sz="800" spc="-204">
                <a:latin typeface="SimSun"/>
                <a:cs typeface="SimSun"/>
              </a:rPr>
              <a:t>H</a:t>
            </a:r>
            <a:r>
              <a:rPr dirty="0" baseline="-18518" sz="1800" spc="-997">
                <a:latin typeface="Arial MT"/>
                <a:cs typeface="Arial MT"/>
              </a:rPr>
              <a:t>N</a:t>
            </a:r>
            <a:r>
              <a:rPr dirty="0" sz="800" spc="-70">
                <a:latin typeface="SimSun"/>
                <a:cs typeface="SimSun"/>
              </a:rPr>
              <a:t>z</a:t>
            </a:r>
            <a:r>
              <a:rPr dirty="0" baseline="17361" sz="1200" spc="-1117">
                <a:latin typeface="SimSun"/>
                <a:cs typeface="SimSun"/>
              </a:rPr>
              <a:t>比</a:t>
            </a:r>
            <a:r>
              <a:rPr dirty="0" sz="800" spc="-550">
                <a:latin typeface="SimSun"/>
                <a:cs typeface="SimSun"/>
              </a:rPr>
              <a:t>覆</a:t>
            </a:r>
            <a:r>
              <a:rPr dirty="0" baseline="-18518" sz="1800" spc="-397">
                <a:latin typeface="Arial MT"/>
                <a:cs typeface="Arial MT"/>
              </a:rPr>
              <a:t>K</a:t>
            </a:r>
            <a:r>
              <a:rPr dirty="0" sz="800" spc="-550">
                <a:latin typeface="SimSun"/>
                <a:cs typeface="SimSun"/>
              </a:rPr>
              <a:t>盖</a:t>
            </a:r>
            <a:r>
              <a:rPr dirty="0" baseline="-18518" sz="1800" spc="-75">
                <a:latin typeface="SimSun"/>
                <a:cs typeface="SimSun"/>
              </a:rPr>
              <a:t>。</a:t>
            </a:r>
            <a:endParaRPr baseline="-18518" sz="1800">
              <a:latin typeface="SimSun"/>
              <a:cs typeface="SimSun"/>
            </a:endParaRPr>
          </a:p>
          <a:p>
            <a:pPr>
              <a:lnSpc>
                <a:spcPts val="819"/>
              </a:lnSpc>
              <a:tabLst>
                <a:tab pos="1104265" algn="l"/>
              </a:tabLst>
            </a:pPr>
            <a:r>
              <a:rPr dirty="0" baseline="-13888" sz="1200" spc="-15">
                <a:latin typeface="SimSun"/>
                <a:cs typeface="SimSun"/>
              </a:rPr>
              <a:t>SRP差</a:t>
            </a:r>
            <a:r>
              <a:rPr dirty="0" baseline="-13888" sz="1200" spc="-525">
                <a:latin typeface="SimSun"/>
                <a:cs typeface="SimSun"/>
              </a:rPr>
              <a:t>异</a:t>
            </a:r>
            <a:r>
              <a:rPr dirty="0" sz="800" spc="-10">
                <a:latin typeface="SimSun"/>
                <a:cs typeface="SimSun"/>
              </a:rPr>
              <a:t>高</a:t>
            </a:r>
            <a:r>
              <a:rPr dirty="0" sz="800" spc="-50">
                <a:latin typeface="SimSun"/>
                <a:cs typeface="SimSun"/>
              </a:rPr>
              <a:t>层</a:t>
            </a:r>
            <a:r>
              <a:rPr dirty="0" sz="800">
                <a:latin typeface="SimSun"/>
                <a:cs typeface="SimSun"/>
              </a:rPr>
              <a:t>	</a:t>
            </a:r>
            <a:r>
              <a:rPr dirty="0" sz="800" spc="-10">
                <a:latin typeface="SimSun"/>
                <a:cs typeface="SimSun"/>
              </a:rPr>
              <a:t>17.50%</a:t>
            </a:r>
            <a:endParaRPr sz="800">
              <a:latin typeface="SimSun"/>
              <a:cs typeface="SimSun"/>
            </a:endParaRPr>
          </a:p>
        </p:txBody>
      </p:sp>
      <p:sp>
        <p:nvSpPr>
          <p:cNvPr id="69" name="object 69" descr=""/>
          <p:cNvSpPr txBox="1"/>
          <p:nvPr/>
        </p:nvSpPr>
        <p:spPr>
          <a:xfrm>
            <a:off x="119981" y="4265988"/>
            <a:ext cx="1955800" cy="162560"/>
          </a:xfrm>
          <a:prstGeom prst="rect">
            <a:avLst/>
          </a:prstGeom>
        </p:spPr>
        <p:txBody>
          <a:bodyPr wrap="square" lIns="0" tIns="12700" rIns="0" bIns="0" rtlCol="0" vert="horz">
            <a:spAutoFit/>
          </a:bodyPr>
          <a:lstStyle/>
          <a:p>
            <a:pPr marL="38100">
              <a:lnSpc>
                <a:spcPct val="100000"/>
              </a:lnSpc>
              <a:spcBef>
                <a:spcPts val="100"/>
              </a:spcBef>
            </a:pPr>
            <a:r>
              <a:rPr dirty="0" sz="900" spc="-455">
                <a:latin typeface="SimSun"/>
                <a:cs typeface="SimSun"/>
              </a:rPr>
              <a:t>受</a:t>
            </a:r>
            <a:r>
              <a:rPr dirty="0" baseline="24691" sz="1350" spc="-675">
                <a:latin typeface="SimSun"/>
                <a:cs typeface="SimSun"/>
              </a:rPr>
              <a:t>腾</a:t>
            </a:r>
            <a:r>
              <a:rPr dirty="0" sz="900" spc="-455">
                <a:latin typeface="SimSun"/>
                <a:cs typeface="SimSun"/>
              </a:rPr>
              <a:t>限</a:t>
            </a:r>
            <a:r>
              <a:rPr dirty="0" baseline="24691" sz="1350" spc="-675">
                <a:latin typeface="SimSun"/>
                <a:cs typeface="SimSun"/>
              </a:rPr>
              <a:t>睿</a:t>
            </a:r>
            <a:r>
              <a:rPr dirty="0" sz="900" spc="-455">
                <a:latin typeface="SimSun"/>
                <a:cs typeface="SimSun"/>
              </a:rPr>
              <a:t>于</a:t>
            </a:r>
            <a:r>
              <a:rPr dirty="0" baseline="24691" sz="1350" spc="-675">
                <a:latin typeface="SimSun"/>
                <a:cs typeface="SimSun"/>
              </a:rPr>
              <a:t>大</a:t>
            </a:r>
            <a:r>
              <a:rPr dirty="0" sz="900" spc="-455">
                <a:latin typeface="SimSun"/>
                <a:cs typeface="SimSun"/>
              </a:rPr>
              <a:t>终</a:t>
            </a:r>
            <a:r>
              <a:rPr dirty="0" baseline="24691" sz="1350" spc="-675">
                <a:latin typeface="SimSun"/>
                <a:cs typeface="SimSun"/>
              </a:rPr>
              <a:t>厦</a:t>
            </a:r>
            <a:r>
              <a:rPr dirty="0" sz="900" spc="-455">
                <a:latin typeface="SimSun"/>
                <a:cs typeface="SimSun"/>
              </a:rPr>
              <a:t>端</a:t>
            </a:r>
            <a:r>
              <a:rPr dirty="0" baseline="24691" sz="1350" spc="-675">
                <a:latin typeface="SimSun"/>
                <a:cs typeface="SimSun"/>
              </a:rPr>
              <a:t>室</a:t>
            </a:r>
            <a:r>
              <a:rPr dirty="0" sz="900" spc="-455">
                <a:latin typeface="SimSun"/>
                <a:cs typeface="SimSun"/>
              </a:rPr>
              <a:t>发</a:t>
            </a:r>
            <a:r>
              <a:rPr dirty="0" baseline="24691" sz="1350" spc="-675">
                <a:latin typeface="SimSun"/>
                <a:cs typeface="SimSun"/>
              </a:rPr>
              <a:t>内</a:t>
            </a:r>
            <a:r>
              <a:rPr dirty="0" sz="900" spc="-455">
                <a:latin typeface="SimSun"/>
                <a:cs typeface="SimSun"/>
              </a:rPr>
              <a:t>送</a:t>
            </a:r>
            <a:r>
              <a:rPr dirty="0" baseline="24691" sz="1350" spc="-675">
                <a:latin typeface="SimSun"/>
                <a:cs typeface="SimSun"/>
              </a:rPr>
              <a:t>测</a:t>
            </a:r>
            <a:r>
              <a:rPr dirty="0" sz="900" spc="-455">
                <a:latin typeface="SimSun"/>
                <a:cs typeface="SimSun"/>
              </a:rPr>
              <a:t>功</a:t>
            </a:r>
            <a:r>
              <a:rPr dirty="0" baseline="24691" sz="1350" spc="-675">
                <a:latin typeface="SimSun"/>
                <a:cs typeface="SimSun"/>
              </a:rPr>
              <a:t>试</a:t>
            </a:r>
            <a:r>
              <a:rPr dirty="0" sz="900" spc="-455">
                <a:latin typeface="SimSun"/>
                <a:cs typeface="SimSun"/>
              </a:rPr>
              <a:t>率</a:t>
            </a:r>
            <a:r>
              <a:rPr dirty="0" baseline="24691" sz="1350" spc="-675">
                <a:latin typeface="SimSun"/>
                <a:cs typeface="SimSun"/>
              </a:rPr>
              <a:t>路</a:t>
            </a:r>
            <a:r>
              <a:rPr dirty="0" sz="900" spc="-455">
                <a:latin typeface="SimSun"/>
                <a:cs typeface="SimSun"/>
              </a:rPr>
              <a:t>及</a:t>
            </a:r>
            <a:r>
              <a:rPr dirty="0" baseline="24691" sz="1350" spc="-675">
                <a:latin typeface="SimSun"/>
                <a:cs typeface="SimSun"/>
              </a:rPr>
              <a:t>线</a:t>
            </a:r>
            <a:r>
              <a:rPr dirty="0" sz="900" spc="-455">
                <a:latin typeface="SimSun"/>
                <a:cs typeface="SimSun"/>
              </a:rPr>
              <a:t>频</a:t>
            </a:r>
            <a:r>
              <a:rPr dirty="0" baseline="24691" sz="1350" spc="-675">
                <a:latin typeface="SimSun"/>
                <a:cs typeface="SimSun"/>
              </a:rPr>
              <a:t>从</a:t>
            </a:r>
            <a:r>
              <a:rPr dirty="0" sz="900" spc="-455">
                <a:latin typeface="SimSun"/>
                <a:cs typeface="SimSun"/>
              </a:rPr>
              <a:t>谱</a:t>
            </a:r>
            <a:r>
              <a:rPr dirty="0" baseline="24691" sz="1350" spc="-675">
                <a:latin typeface="SimSun"/>
                <a:cs typeface="SimSun"/>
              </a:rPr>
              <a:t>离</a:t>
            </a:r>
            <a:r>
              <a:rPr dirty="0" sz="900" spc="-455">
                <a:latin typeface="SimSun"/>
                <a:cs typeface="SimSun"/>
              </a:rPr>
              <a:t>特</a:t>
            </a:r>
            <a:r>
              <a:rPr dirty="0" baseline="24691" sz="1350" spc="-675">
                <a:latin typeface="SimSun"/>
                <a:cs typeface="SimSun"/>
              </a:rPr>
              <a:t>天</a:t>
            </a:r>
            <a:r>
              <a:rPr dirty="0" sz="900" spc="-455">
                <a:latin typeface="SimSun"/>
                <a:cs typeface="SimSun"/>
              </a:rPr>
              <a:t>性</a:t>
            </a:r>
            <a:r>
              <a:rPr dirty="0" baseline="24691" sz="1350" spc="-675">
                <a:latin typeface="SimSun"/>
                <a:cs typeface="SimSun"/>
              </a:rPr>
              <a:t>线</a:t>
            </a:r>
            <a:r>
              <a:rPr dirty="0" sz="900" spc="-455">
                <a:latin typeface="SimSun"/>
                <a:cs typeface="SimSun"/>
              </a:rPr>
              <a:t>，</a:t>
            </a:r>
            <a:r>
              <a:rPr dirty="0" baseline="24691" sz="1350" spc="-675">
                <a:latin typeface="SimSun"/>
                <a:cs typeface="SimSun"/>
              </a:rPr>
              <a:t>最</a:t>
            </a:r>
            <a:r>
              <a:rPr dirty="0" sz="900" spc="-220">
                <a:latin typeface="Arial MT"/>
                <a:cs typeface="Arial MT"/>
              </a:rPr>
              <a:t>N</a:t>
            </a:r>
            <a:r>
              <a:rPr dirty="0" baseline="24691" sz="1350" spc="-1057">
                <a:latin typeface="SimSun"/>
                <a:cs typeface="SimSun"/>
              </a:rPr>
              <a:t>近</a:t>
            </a:r>
            <a:r>
              <a:rPr dirty="0" sz="900" spc="-50">
                <a:latin typeface="Arial MT"/>
                <a:cs typeface="Arial MT"/>
              </a:rPr>
              <a:t>R</a:t>
            </a:r>
            <a:endParaRPr sz="900">
              <a:latin typeface="Arial MT"/>
              <a:cs typeface="Arial MT"/>
            </a:endParaRPr>
          </a:p>
        </p:txBody>
      </p:sp>
      <p:sp>
        <p:nvSpPr>
          <p:cNvPr id="70" name="object 70" descr=""/>
          <p:cNvSpPr txBox="1"/>
          <p:nvPr/>
        </p:nvSpPr>
        <p:spPr>
          <a:xfrm>
            <a:off x="145381" y="4403148"/>
            <a:ext cx="2082800" cy="520065"/>
          </a:xfrm>
          <a:prstGeom prst="rect">
            <a:avLst/>
          </a:prstGeom>
        </p:spPr>
        <p:txBody>
          <a:bodyPr wrap="square" lIns="0" tIns="60960" rIns="0" bIns="0" rtlCol="0" vert="horz">
            <a:spAutoFit/>
          </a:bodyPr>
          <a:lstStyle/>
          <a:p>
            <a:pPr marL="69215" marR="5080" indent="-57150">
              <a:lnSpc>
                <a:spcPct val="64500"/>
              </a:lnSpc>
              <a:spcBef>
                <a:spcPts val="480"/>
              </a:spcBef>
            </a:pPr>
            <a:r>
              <a:rPr dirty="0" sz="900" spc="-5">
                <a:latin typeface="SimSun"/>
                <a:cs typeface="SimSun"/>
              </a:rPr>
              <a:t>上行速率在深层覆盖场景速率体验下降。号从强到弱，经过多墙体穿透覆盖，</a:t>
            </a:r>
            <a:endParaRPr sz="900">
              <a:latin typeface="SimSun"/>
              <a:cs typeface="SimSun"/>
            </a:endParaRPr>
          </a:p>
          <a:p>
            <a:pPr marL="69215">
              <a:lnSpc>
                <a:spcPts val="1040"/>
              </a:lnSpc>
            </a:pPr>
            <a:r>
              <a:rPr dirty="0" sz="900">
                <a:latin typeface="SimSun"/>
                <a:cs typeface="SimSun"/>
              </a:rPr>
              <a:t>以看到测试过程中</a:t>
            </a:r>
            <a:r>
              <a:rPr dirty="0" sz="900">
                <a:latin typeface="Arial MT"/>
                <a:cs typeface="Arial MT"/>
              </a:rPr>
              <a:t>SSB</a:t>
            </a:r>
            <a:r>
              <a:rPr dirty="0" sz="900" spc="15">
                <a:latin typeface="Arial MT"/>
                <a:cs typeface="Arial MT"/>
              </a:rPr>
              <a:t> </a:t>
            </a:r>
            <a:r>
              <a:rPr dirty="0" sz="900" spc="-10">
                <a:latin typeface="Arial MT"/>
                <a:cs typeface="Arial MT"/>
              </a:rPr>
              <a:t>RSRP</a:t>
            </a:r>
            <a:r>
              <a:rPr dirty="0" sz="900" spc="-20">
                <a:latin typeface="SimSun"/>
                <a:cs typeface="SimSun"/>
              </a:rPr>
              <a:t>相对于</a:t>
            </a:r>
            <a:endParaRPr sz="900">
              <a:latin typeface="SimSun"/>
              <a:cs typeface="SimSun"/>
            </a:endParaRPr>
          </a:p>
          <a:p>
            <a:pPr marL="69215">
              <a:lnSpc>
                <a:spcPct val="100000"/>
              </a:lnSpc>
            </a:pPr>
            <a:r>
              <a:rPr dirty="0" sz="900">
                <a:latin typeface="Arial MT"/>
                <a:cs typeface="Arial MT"/>
              </a:rPr>
              <a:t>LTE </a:t>
            </a:r>
            <a:r>
              <a:rPr dirty="0" sz="900" spc="-10">
                <a:latin typeface="Arial MT"/>
                <a:cs typeface="Arial MT"/>
              </a:rPr>
              <a:t>RSRP</a:t>
            </a:r>
            <a:r>
              <a:rPr dirty="0" sz="900" spc="-10">
                <a:latin typeface="SimSun"/>
                <a:cs typeface="SimSun"/>
              </a:rPr>
              <a:t>间隔逐步拉大。</a:t>
            </a:r>
            <a:endParaRPr sz="900">
              <a:latin typeface="SimSun"/>
              <a:cs typeface="SimSun"/>
            </a:endParaRPr>
          </a:p>
        </p:txBody>
      </p:sp>
      <p:sp>
        <p:nvSpPr>
          <p:cNvPr id="71" name="object 71" descr=""/>
          <p:cNvSpPr txBox="1"/>
          <p:nvPr/>
        </p:nvSpPr>
        <p:spPr>
          <a:xfrm>
            <a:off x="65976" y="774910"/>
            <a:ext cx="8289925" cy="626110"/>
          </a:xfrm>
          <a:prstGeom prst="rect">
            <a:avLst/>
          </a:prstGeom>
        </p:spPr>
        <p:txBody>
          <a:bodyPr wrap="square" lIns="0" tIns="99695" rIns="0" bIns="0" rtlCol="0" vert="horz">
            <a:spAutoFit/>
          </a:bodyPr>
          <a:lstStyle/>
          <a:p>
            <a:pPr marL="38100">
              <a:lnSpc>
                <a:spcPct val="100000"/>
              </a:lnSpc>
              <a:spcBef>
                <a:spcPts val="785"/>
              </a:spcBef>
            </a:pPr>
            <a:r>
              <a:rPr dirty="0" sz="1400" spc="-940">
                <a:latin typeface="SimSun"/>
                <a:cs typeface="SimSun"/>
              </a:rPr>
              <a:t>结结论论三四一</a:t>
            </a:r>
            <a:r>
              <a:rPr dirty="0" baseline="9920" sz="2100" spc="-869">
                <a:latin typeface="SimSun"/>
                <a:cs typeface="SimSun"/>
              </a:rPr>
              <a:t>二</a:t>
            </a:r>
            <a:r>
              <a:rPr dirty="0" sz="1400" spc="-725">
                <a:latin typeface="SimSun"/>
                <a:cs typeface="SimSun"/>
              </a:rPr>
              <a:t>：：</a:t>
            </a:r>
            <a:r>
              <a:rPr dirty="0" sz="1400" spc="-229">
                <a:latin typeface="Arial MT"/>
                <a:cs typeface="Arial MT"/>
              </a:rPr>
              <a:t>5</a:t>
            </a:r>
            <a:r>
              <a:rPr dirty="0" sz="1400" spc="-1400">
                <a:latin typeface="SimSun"/>
                <a:cs typeface="SimSun"/>
              </a:rPr>
              <a:t>窄</a:t>
            </a:r>
            <a:r>
              <a:rPr dirty="0" baseline="9920" sz="2100" spc="-869">
                <a:latin typeface="Arial MT"/>
                <a:cs typeface="Arial MT"/>
              </a:rPr>
              <a:t>3</a:t>
            </a:r>
            <a:r>
              <a:rPr dirty="0" sz="1400" spc="-760">
                <a:latin typeface="Arial MT"/>
                <a:cs typeface="Arial MT"/>
              </a:rPr>
              <a:t>3</a:t>
            </a:r>
            <a:r>
              <a:rPr dirty="0" sz="1400" spc="-525">
                <a:latin typeface="Arial MT"/>
                <a:cs typeface="Arial MT"/>
              </a:rPr>
              <a:t>G</a:t>
            </a:r>
            <a:r>
              <a:rPr dirty="0" baseline="9920" sz="2100" spc="-292">
                <a:latin typeface="Arial MT"/>
                <a:cs typeface="Arial MT"/>
              </a:rPr>
              <a:t>.</a:t>
            </a:r>
            <a:r>
              <a:rPr dirty="0" sz="1400" spc="-200">
                <a:latin typeface="Arial MT"/>
                <a:cs typeface="Arial MT"/>
              </a:rPr>
              <a:t>.</a:t>
            </a:r>
            <a:r>
              <a:rPr dirty="0" baseline="9920" sz="2100" spc="-869">
                <a:latin typeface="Arial MT"/>
                <a:cs typeface="Arial MT"/>
              </a:rPr>
              <a:t>5</a:t>
            </a:r>
            <a:r>
              <a:rPr dirty="0" sz="1400" spc="-755">
                <a:latin typeface="Arial MT"/>
                <a:cs typeface="Arial MT"/>
              </a:rPr>
              <a:t>5</a:t>
            </a:r>
            <a:r>
              <a:rPr dirty="0" sz="1400" spc="-1125">
                <a:latin typeface="SimSun"/>
                <a:cs typeface="SimSun"/>
              </a:rPr>
              <a:t>波</a:t>
            </a:r>
            <a:r>
              <a:rPr dirty="0" sz="1400" spc="-320">
                <a:latin typeface="Arial MT"/>
                <a:cs typeface="Arial MT"/>
              </a:rPr>
              <a:t>3</a:t>
            </a:r>
            <a:r>
              <a:rPr dirty="0" sz="1400" spc="-770">
                <a:latin typeface="Arial MT"/>
                <a:cs typeface="Arial MT"/>
              </a:rPr>
              <a:t>G</a:t>
            </a:r>
            <a:r>
              <a:rPr dirty="0" sz="1400" spc="-65">
                <a:latin typeface="Arial MT"/>
                <a:cs typeface="Arial MT"/>
              </a:rPr>
              <a:t>.</a:t>
            </a:r>
            <a:r>
              <a:rPr dirty="0" sz="1400" spc="-1350">
                <a:latin typeface="SimSun"/>
                <a:cs typeface="SimSun"/>
              </a:rPr>
              <a:t>束</a:t>
            </a:r>
            <a:r>
              <a:rPr dirty="0" sz="1400" spc="-570">
                <a:latin typeface="Arial MT"/>
                <a:cs typeface="Arial MT"/>
              </a:rPr>
              <a:t>5HG</a:t>
            </a:r>
            <a:r>
              <a:rPr dirty="0" baseline="9920" sz="2100" spc="-855">
                <a:latin typeface="Arial MT"/>
                <a:cs typeface="Arial MT"/>
              </a:rPr>
              <a:t>z</a:t>
            </a:r>
            <a:r>
              <a:rPr dirty="0" sz="1400" spc="-1365">
                <a:latin typeface="SimSun"/>
                <a:cs typeface="SimSun"/>
              </a:rPr>
              <a:t>相</a:t>
            </a:r>
            <a:r>
              <a:rPr dirty="0" sz="1400" spc="-235">
                <a:latin typeface="Arial MT"/>
                <a:cs typeface="Arial MT"/>
              </a:rPr>
              <a:t>z</a:t>
            </a:r>
            <a:r>
              <a:rPr dirty="0" sz="1400" spc="-1010">
                <a:latin typeface="Arial MT"/>
                <a:cs typeface="Arial MT"/>
              </a:rPr>
              <a:t>H</a:t>
            </a:r>
            <a:r>
              <a:rPr dirty="0" baseline="9920" sz="2100" spc="-1822">
                <a:latin typeface="SimSun"/>
                <a:cs typeface="SimSun"/>
              </a:rPr>
              <a:t>窄</a:t>
            </a:r>
            <a:r>
              <a:rPr dirty="0" sz="1400" spc="-1025">
                <a:latin typeface="SimSun"/>
                <a:cs typeface="SimSun"/>
              </a:rPr>
              <a:t>室对</a:t>
            </a:r>
            <a:r>
              <a:rPr dirty="0" sz="1400" spc="-300">
                <a:latin typeface="Arial MT"/>
                <a:cs typeface="Arial MT"/>
              </a:rPr>
              <a:t>z</a:t>
            </a:r>
            <a:r>
              <a:rPr dirty="0" baseline="9920" sz="2100" spc="-1822">
                <a:latin typeface="SimSun"/>
                <a:cs typeface="SimSun"/>
              </a:rPr>
              <a:t>波</a:t>
            </a:r>
            <a:r>
              <a:rPr dirty="0" sz="1400" spc="-1019">
                <a:latin typeface="SimSun"/>
                <a:cs typeface="SimSun"/>
              </a:rPr>
              <a:t>外下于</a:t>
            </a:r>
            <a:r>
              <a:rPr dirty="0" baseline="9920" sz="2100" spc="-1822">
                <a:latin typeface="SimSun"/>
                <a:cs typeface="SimSun"/>
              </a:rPr>
              <a:t>束</a:t>
            </a:r>
            <a:r>
              <a:rPr dirty="0" sz="1400" spc="-1019">
                <a:latin typeface="SimSun"/>
                <a:cs typeface="SimSun"/>
              </a:rPr>
              <a:t>覆行宽</a:t>
            </a:r>
            <a:r>
              <a:rPr dirty="0" baseline="9920" sz="2100" spc="-1822">
                <a:latin typeface="SimSun"/>
                <a:cs typeface="SimSun"/>
              </a:rPr>
              <a:t>对</a:t>
            </a:r>
            <a:r>
              <a:rPr dirty="0" sz="1400" spc="-1019">
                <a:latin typeface="SimSun"/>
                <a:cs typeface="SimSun"/>
              </a:rPr>
              <a:t>盖业波</a:t>
            </a:r>
            <a:r>
              <a:rPr dirty="0" baseline="9920" sz="2100" spc="-1822">
                <a:latin typeface="SimSun"/>
                <a:cs typeface="SimSun"/>
              </a:rPr>
              <a:t>于</a:t>
            </a:r>
            <a:r>
              <a:rPr dirty="0" sz="1400" spc="-1019">
                <a:latin typeface="SimSun"/>
                <a:cs typeface="SimSun"/>
              </a:rPr>
              <a:t>高务束</a:t>
            </a:r>
            <a:r>
              <a:rPr dirty="0" baseline="9920" sz="2100" spc="-1822">
                <a:latin typeface="SimSun"/>
                <a:cs typeface="SimSun"/>
              </a:rPr>
              <a:t>楼</a:t>
            </a:r>
            <a:r>
              <a:rPr dirty="0" sz="1400" spc="-1019">
                <a:latin typeface="SimSun"/>
                <a:cs typeface="SimSun"/>
              </a:rPr>
              <a:t>、速覆</a:t>
            </a:r>
            <a:r>
              <a:rPr dirty="0" baseline="9920" sz="2100" spc="-1822">
                <a:latin typeface="SimSun"/>
                <a:cs typeface="SimSun"/>
              </a:rPr>
              <a:t>宇</a:t>
            </a:r>
            <a:r>
              <a:rPr dirty="0" sz="1400" spc="-1019">
                <a:latin typeface="SimSun"/>
                <a:cs typeface="SimSun"/>
              </a:rPr>
              <a:t>中率盖</a:t>
            </a:r>
            <a:r>
              <a:rPr dirty="0" baseline="9920" sz="2100" spc="-1822">
                <a:latin typeface="SimSun"/>
                <a:cs typeface="SimSun"/>
              </a:rPr>
              <a:t>的</a:t>
            </a:r>
            <a:r>
              <a:rPr dirty="0" sz="1400" spc="-1019">
                <a:latin typeface="SimSun"/>
                <a:cs typeface="SimSun"/>
              </a:rPr>
              <a:t>、优增</a:t>
            </a:r>
            <a:r>
              <a:rPr dirty="0" baseline="9920" sz="2100" spc="-1822">
                <a:latin typeface="SimSun"/>
                <a:cs typeface="SimSun"/>
              </a:rPr>
              <a:t>深</a:t>
            </a:r>
            <a:r>
              <a:rPr dirty="0" sz="1400" spc="-1015">
                <a:latin typeface="SimSun"/>
                <a:cs typeface="SimSun"/>
              </a:rPr>
              <a:t>低势益</a:t>
            </a:r>
            <a:r>
              <a:rPr dirty="0" baseline="9920" sz="2100" spc="-1822">
                <a:latin typeface="SimSun"/>
                <a:cs typeface="SimSun"/>
              </a:rPr>
              <a:t>度</a:t>
            </a:r>
            <a:r>
              <a:rPr dirty="0" sz="1400" spc="-1015">
                <a:latin typeface="SimSun"/>
                <a:cs typeface="SimSun"/>
              </a:rPr>
              <a:t>层明明</a:t>
            </a:r>
            <a:r>
              <a:rPr dirty="0" baseline="9920" sz="2100" spc="-1822">
                <a:latin typeface="SimSun"/>
                <a:cs typeface="SimSun"/>
              </a:rPr>
              <a:t>覆</a:t>
            </a:r>
            <a:r>
              <a:rPr dirty="0" sz="1400" spc="-1015">
                <a:latin typeface="SimSun"/>
                <a:cs typeface="SimSun"/>
              </a:rPr>
              <a:t>写显显</a:t>
            </a:r>
            <a:r>
              <a:rPr dirty="0" baseline="9920" sz="2100" spc="-1822">
                <a:latin typeface="SimSun"/>
                <a:cs typeface="SimSun"/>
              </a:rPr>
              <a:t>盖</a:t>
            </a:r>
            <a:r>
              <a:rPr dirty="0" sz="1400" spc="-815">
                <a:latin typeface="SimSun"/>
                <a:cs typeface="SimSun"/>
              </a:rPr>
              <a:t>字，</a:t>
            </a:r>
            <a:r>
              <a:rPr dirty="0" baseline="9920" sz="2100" spc="-1822">
                <a:latin typeface="SimSun"/>
                <a:cs typeface="SimSun"/>
              </a:rPr>
              <a:t>差</a:t>
            </a:r>
            <a:r>
              <a:rPr dirty="0" sz="1400" spc="-815">
                <a:latin typeface="SimSun"/>
                <a:cs typeface="SimSun"/>
              </a:rPr>
              <a:t>楼上</a:t>
            </a:r>
            <a:r>
              <a:rPr dirty="0" baseline="9920" sz="2100" spc="-1822">
                <a:latin typeface="SimSun"/>
                <a:cs typeface="SimSun"/>
              </a:rPr>
              <a:t>于</a:t>
            </a:r>
            <a:r>
              <a:rPr dirty="0" sz="1400" spc="-815">
                <a:latin typeface="SimSun"/>
                <a:cs typeface="SimSun"/>
              </a:rPr>
              <a:t>差行</a:t>
            </a:r>
            <a:r>
              <a:rPr dirty="0" baseline="9920" sz="2100" spc="-869">
                <a:latin typeface="Arial MT"/>
                <a:cs typeface="Arial MT"/>
              </a:rPr>
              <a:t>L</a:t>
            </a:r>
            <a:r>
              <a:rPr dirty="0" sz="1400" spc="-1175">
                <a:latin typeface="SimSun"/>
                <a:cs typeface="SimSun"/>
              </a:rPr>
              <a:t>于业</a:t>
            </a:r>
            <a:r>
              <a:rPr dirty="0" baseline="9920" sz="2100" spc="-7">
                <a:latin typeface="Arial MT"/>
                <a:cs typeface="Arial MT"/>
              </a:rPr>
              <a:t>T</a:t>
            </a:r>
            <a:r>
              <a:rPr dirty="0" baseline="9920" sz="2100" spc="-1320">
                <a:latin typeface="Arial MT"/>
                <a:cs typeface="Arial MT"/>
              </a:rPr>
              <a:t>E</a:t>
            </a:r>
            <a:r>
              <a:rPr dirty="0" sz="1400" spc="-690">
                <a:latin typeface="Arial MT"/>
                <a:cs typeface="Arial MT"/>
              </a:rPr>
              <a:t>L</a:t>
            </a:r>
            <a:r>
              <a:rPr dirty="0" sz="1400" spc="-825">
                <a:latin typeface="SimSun"/>
                <a:cs typeface="SimSun"/>
              </a:rPr>
              <a:t>务</a:t>
            </a:r>
            <a:r>
              <a:rPr dirty="0" sz="1400" spc="-415">
                <a:latin typeface="Arial MT"/>
                <a:cs typeface="Arial MT"/>
              </a:rPr>
              <a:t>T</a:t>
            </a:r>
            <a:r>
              <a:rPr dirty="0" baseline="9920" sz="2100" spc="-622">
                <a:latin typeface="Arial MT"/>
                <a:cs typeface="Arial MT"/>
              </a:rPr>
              <a:t>1</a:t>
            </a:r>
            <a:r>
              <a:rPr dirty="0" sz="1400" spc="-1375">
                <a:latin typeface="SimSun"/>
                <a:cs typeface="SimSun"/>
              </a:rPr>
              <a:t>速</a:t>
            </a:r>
            <a:r>
              <a:rPr dirty="0" sz="1400" spc="-430">
                <a:latin typeface="Arial MT"/>
                <a:cs typeface="Arial MT"/>
              </a:rPr>
              <a:t>E</a:t>
            </a:r>
            <a:r>
              <a:rPr dirty="0" baseline="9920" sz="2100" spc="-15">
                <a:latin typeface="Arial MT"/>
                <a:cs typeface="Arial MT"/>
              </a:rPr>
              <a:t>.</a:t>
            </a:r>
            <a:r>
              <a:rPr dirty="0" baseline="9920" sz="2100" spc="-547">
                <a:latin typeface="Arial MT"/>
                <a:cs typeface="Arial MT"/>
              </a:rPr>
              <a:t>8</a:t>
            </a:r>
            <a:r>
              <a:rPr dirty="0" sz="1400" spc="-765">
                <a:latin typeface="Arial MT"/>
                <a:cs typeface="Arial MT"/>
              </a:rPr>
              <a:t>9</a:t>
            </a:r>
            <a:r>
              <a:rPr dirty="0" sz="1400" spc="-1085">
                <a:latin typeface="SimSun"/>
                <a:cs typeface="SimSun"/>
              </a:rPr>
              <a:t>率</a:t>
            </a:r>
            <a:r>
              <a:rPr dirty="0" baseline="9920" sz="2100" spc="-997">
                <a:latin typeface="Arial MT"/>
                <a:cs typeface="Arial MT"/>
              </a:rPr>
              <a:t>G</a:t>
            </a:r>
            <a:r>
              <a:rPr dirty="0" sz="1400" spc="-140">
                <a:latin typeface="Arial MT"/>
                <a:cs typeface="Arial MT"/>
              </a:rPr>
              <a:t>0</a:t>
            </a:r>
            <a:r>
              <a:rPr dirty="0" sz="1400" spc="-1395">
                <a:latin typeface="SimSun"/>
                <a:cs typeface="SimSun"/>
              </a:rPr>
              <a:t>对</a:t>
            </a:r>
            <a:r>
              <a:rPr dirty="0" baseline="9920" sz="2100" spc="-1364">
                <a:latin typeface="Arial MT"/>
                <a:cs typeface="Arial MT"/>
              </a:rPr>
              <a:t>H</a:t>
            </a:r>
            <a:r>
              <a:rPr dirty="0" sz="1400" spc="-10">
                <a:latin typeface="Arial MT"/>
                <a:cs typeface="Arial MT"/>
              </a:rPr>
              <a:t>0</a:t>
            </a:r>
            <a:r>
              <a:rPr dirty="0" sz="1400" spc="-1070">
                <a:latin typeface="Arial MT"/>
                <a:cs typeface="Arial MT"/>
              </a:rPr>
              <a:t>M</a:t>
            </a:r>
            <a:r>
              <a:rPr dirty="0" baseline="9920" sz="2100" spc="-517">
                <a:latin typeface="Arial MT"/>
                <a:cs typeface="Arial MT"/>
              </a:rPr>
              <a:t>z</a:t>
            </a:r>
            <a:r>
              <a:rPr dirty="0" sz="1400" spc="-730">
                <a:latin typeface="SimSun"/>
                <a:cs typeface="SimSun"/>
              </a:rPr>
              <a:t>弱</a:t>
            </a:r>
            <a:r>
              <a:rPr dirty="0" sz="1400" spc="-310">
                <a:latin typeface="Arial MT"/>
                <a:cs typeface="Arial MT"/>
              </a:rPr>
              <a:t>H</a:t>
            </a:r>
            <a:r>
              <a:rPr dirty="0" sz="1400" spc="-1125">
                <a:latin typeface="SimSun"/>
                <a:cs typeface="SimSun"/>
              </a:rPr>
              <a:t>覆</a:t>
            </a:r>
            <a:r>
              <a:rPr dirty="0" sz="1400">
                <a:latin typeface="Arial MT"/>
                <a:cs typeface="Arial MT"/>
              </a:rPr>
              <a:t>z</a:t>
            </a:r>
            <a:r>
              <a:rPr dirty="0" sz="1400" spc="285">
                <a:latin typeface="Arial MT"/>
                <a:cs typeface="Arial MT"/>
              </a:rPr>
              <a:t> </a:t>
            </a:r>
            <a:r>
              <a:rPr dirty="0" sz="1400" spc="-30">
                <a:latin typeface="SimSun"/>
                <a:cs typeface="SimSun"/>
              </a:rPr>
              <a:t>盖点无优</a:t>
            </a:r>
            <a:endParaRPr sz="1400">
              <a:latin typeface="SimSun"/>
              <a:cs typeface="SimSun"/>
            </a:endParaRPr>
          </a:p>
          <a:p>
            <a:pPr marL="67945">
              <a:lnSpc>
                <a:spcPct val="100000"/>
              </a:lnSpc>
              <a:spcBef>
                <a:spcPts val="680"/>
              </a:spcBef>
            </a:pPr>
            <a:r>
              <a:rPr dirty="0" baseline="-21604" sz="1350">
                <a:latin typeface="Arial MT"/>
                <a:cs typeface="Arial MT"/>
              </a:rPr>
              <a:t>•</a:t>
            </a:r>
            <a:r>
              <a:rPr dirty="0" baseline="-15432" sz="1350" spc="157">
                <a:latin typeface="Arial MT"/>
                <a:cs typeface="Arial MT"/>
              </a:rPr>
              <a:t>• </a:t>
            </a:r>
            <a:r>
              <a:rPr dirty="0" sz="1400" spc="-225">
                <a:latin typeface="Arial MT"/>
                <a:cs typeface="Arial MT"/>
              </a:rPr>
              <a:t>•</a:t>
            </a:r>
            <a:r>
              <a:rPr dirty="0" sz="1200" spc="-185">
                <a:latin typeface="Arial MT"/>
                <a:cs typeface="Arial MT"/>
              </a:rPr>
              <a:t>• </a:t>
            </a:r>
            <a:r>
              <a:rPr dirty="0" baseline="-21604" sz="1350" spc="-300">
                <a:latin typeface="Arial MT"/>
                <a:cs typeface="Arial MT"/>
              </a:rPr>
              <a:t>5</a:t>
            </a:r>
            <a:r>
              <a:rPr dirty="0" baseline="-15432" sz="1350" spc="-1064">
                <a:latin typeface="SimSun"/>
                <a:cs typeface="SimSun"/>
              </a:rPr>
              <a:t>从</a:t>
            </a:r>
            <a:r>
              <a:rPr dirty="0" baseline="-21604" sz="1350" spc="-247">
                <a:latin typeface="Arial MT"/>
                <a:cs typeface="Arial MT"/>
              </a:rPr>
              <a:t>G</a:t>
            </a:r>
            <a:r>
              <a:rPr dirty="0" sz="1400" spc="-1245">
                <a:latin typeface="SimSun"/>
                <a:cs typeface="SimSun"/>
              </a:rPr>
              <a:t>针</a:t>
            </a:r>
            <a:r>
              <a:rPr dirty="0" baseline="-15432" sz="1350" spc="-675">
                <a:latin typeface="Arial MT"/>
                <a:cs typeface="Arial MT"/>
              </a:rPr>
              <a:t>R</a:t>
            </a:r>
            <a:r>
              <a:rPr dirty="0" baseline="-21604" sz="1350" spc="-675">
                <a:latin typeface="Arial MT"/>
                <a:cs typeface="Arial MT"/>
              </a:rPr>
              <a:t>N</a:t>
            </a:r>
            <a:r>
              <a:rPr dirty="0" sz="1200" spc="-450">
                <a:latin typeface="Arial MT"/>
                <a:cs typeface="Arial MT"/>
              </a:rPr>
              <a:t>3</a:t>
            </a:r>
            <a:r>
              <a:rPr dirty="0" baseline="-15432" sz="1350" spc="-675">
                <a:latin typeface="Arial MT"/>
                <a:cs typeface="Arial MT"/>
              </a:rPr>
              <a:t>S</a:t>
            </a:r>
            <a:r>
              <a:rPr dirty="0" baseline="-21604" sz="1350" spc="-675">
                <a:latin typeface="Arial MT"/>
                <a:cs typeface="Arial MT"/>
              </a:rPr>
              <a:t>R</a:t>
            </a:r>
            <a:r>
              <a:rPr dirty="0" sz="1200" spc="-450">
                <a:latin typeface="Arial MT"/>
                <a:cs typeface="Arial MT"/>
              </a:rPr>
              <a:t>.</a:t>
            </a:r>
            <a:r>
              <a:rPr dirty="0" baseline="-15432" sz="1350" spc="-675">
                <a:latin typeface="Arial MT"/>
                <a:cs typeface="Arial MT"/>
              </a:rPr>
              <a:t>R</a:t>
            </a:r>
            <a:r>
              <a:rPr dirty="0" sz="1400" spc="-1205">
                <a:latin typeface="SimSun"/>
                <a:cs typeface="SimSun"/>
              </a:rPr>
              <a:t>对</a:t>
            </a:r>
            <a:r>
              <a:rPr dirty="0" sz="1200" spc="-590">
                <a:latin typeface="Arial MT"/>
                <a:cs typeface="Arial MT"/>
              </a:rPr>
              <a:t>5</a:t>
            </a:r>
            <a:r>
              <a:rPr dirty="0" baseline="-21604" sz="1350" spc="-817">
                <a:latin typeface="SimSun"/>
                <a:cs typeface="SimSun"/>
              </a:rPr>
              <a:t>下</a:t>
            </a:r>
            <a:r>
              <a:rPr dirty="0" baseline="-15432" sz="1350" spc="-757">
                <a:latin typeface="Arial MT"/>
                <a:cs typeface="Arial MT"/>
              </a:rPr>
              <a:t>P</a:t>
            </a:r>
            <a:r>
              <a:rPr dirty="0" sz="1200" spc="-505">
                <a:latin typeface="Arial MT"/>
                <a:cs typeface="Arial MT"/>
              </a:rPr>
              <a:t>G</a:t>
            </a:r>
            <a:r>
              <a:rPr dirty="0" baseline="-21604" sz="1350" spc="-1267">
                <a:latin typeface="SimSun"/>
                <a:cs typeface="SimSun"/>
              </a:rPr>
              <a:t>行</a:t>
            </a:r>
            <a:r>
              <a:rPr dirty="0" baseline="-15432" sz="1350" spc="-1155">
                <a:latin typeface="SimSun"/>
                <a:cs typeface="SimSun"/>
              </a:rPr>
              <a:t>区</a:t>
            </a:r>
            <a:r>
              <a:rPr dirty="0" sz="1400" spc="-980">
                <a:latin typeface="SimSun"/>
                <a:cs typeface="SimSun"/>
              </a:rPr>
              <a:t>高</a:t>
            </a:r>
            <a:r>
              <a:rPr dirty="0" sz="1200" spc="-590">
                <a:latin typeface="Arial MT"/>
                <a:cs typeface="Arial MT"/>
              </a:rPr>
              <a:t>H</a:t>
            </a:r>
            <a:r>
              <a:rPr dirty="0" baseline="-21604" sz="1350" spc="-1267">
                <a:latin typeface="SimSun"/>
                <a:cs typeface="SimSun"/>
              </a:rPr>
              <a:t>业</a:t>
            </a:r>
            <a:r>
              <a:rPr dirty="0" baseline="-15432" sz="1350" spc="-562">
                <a:latin typeface="SimSun"/>
                <a:cs typeface="SimSun"/>
              </a:rPr>
              <a:t>间</a:t>
            </a:r>
            <a:r>
              <a:rPr dirty="0" sz="1200" spc="-500">
                <a:latin typeface="Arial MT"/>
                <a:cs typeface="Arial MT"/>
              </a:rPr>
              <a:t>z</a:t>
            </a:r>
            <a:r>
              <a:rPr dirty="0" sz="1400" spc="-1205">
                <a:latin typeface="SimSun"/>
                <a:cs typeface="SimSun"/>
              </a:rPr>
              <a:t>楼</a:t>
            </a:r>
            <a:r>
              <a:rPr dirty="0" baseline="-21604" sz="1350" spc="-1267">
                <a:latin typeface="SimSun"/>
                <a:cs typeface="SimSun"/>
              </a:rPr>
              <a:t>务</a:t>
            </a:r>
            <a:r>
              <a:rPr dirty="0" baseline="-15432" sz="1350" spc="-525">
                <a:latin typeface="SimSun"/>
                <a:cs typeface="SimSun"/>
              </a:rPr>
              <a:t>占</a:t>
            </a:r>
            <a:r>
              <a:rPr dirty="0" sz="1200" spc="-380">
                <a:latin typeface="Arial MT"/>
                <a:cs typeface="Arial MT"/>
              </a:rPr>
              <a:t>5</a:t>
            </a:r>
            <a:r>
              <a:rPr dirty="0" baseline="-21604" sz="1350" spc="-1267">
                <a:latin typeface="SimSun"/>
                <a:cs typeface="SimSun"/>
              </a:rPr>
              <a:t>速</a:t>
            </a:r>
            <a:r>
              <a:rPr dirty="0" baseline="-15432" sz="1350" spc="-1012">
                <a:latin typeface="SimSun"/>
                <a:cs typeface="SimSun"/>
              </a:rPr>
              <a:t>比</a:t>
            </a:r>
            <a:r>
              <a:rPr dirty="0" sz="1400" spc="-1325">
                <a:latin typeface="SimSun"/>
                <a:cs typeface="SimSun"/>
              </a:rPr>
              <a:t>覆</a:t>
            </a:r>
            <a:r>
              <a:rPr dirty="0" sz="1200" spc="-425">
                <a:latin typeface="Arial MT"/>
                <a:cs typeface="Arial MT"/>
              </a:rPr>
              <a:t>G</a:t>
            </a:r>
            <a:r>
              <a:rPr dirty="0" baseline="-21604" sz="1350" spc="-1267">
                <a:latin typeface="SimSun"/>
                <a:cs typeface="SimSun"/>
              </a:rPr>
              <a:t>率</a:t>
            </a:r>
            <a:r>
              <a:rPr dirty="0" baseline="-15432" sz="1350" spc="-315">
                <a:latin typeface="SimSun"/>
                <a:cs typeface="SimSun"/>
              </a:rPr>
              <a:t>统</a:t>
            </a:r>
            <a:r>
              <a:rPr dirty="0" sz="1200" spc="-635">
                <a:latin typeface="Arial MT"/>
                <a:cs typeface="Arial MT"/>
              </a:rPr>
              <a:t>4</a:t>
            </a:r>
            <a:r>
              <a:rPr dirty="0" sz="1400" spc="-1300">
                <a:latin typeface="SimSun"/>
                <a:cs typeface="SimSun"/>
              </a:rPr>
              <a:t>盖</a:t>
            </a:r>
            <a:r>
              <a:rPr dirty="0" baseline="-21604" sz="1350" spc="-1267">
                <a:latin typeface="SimSun"/>
                <a:cs typeface="SimSun"/>
              </a:rPr>
              <a:t>与</a:t>
            </a:r>
            <a:r>
              <a:rPr dirty="0" baseline="-15432" sz="1350" spc="-667">
                <a:latin typeface="SimSun"/>
                <a:cs typeface="SimSun"/>
              </a:rPr>
              <a:t>计</a:t>
            </a:r>
            <a:r>
              <a:rPr dirty="0" sz="1200" spc="-385">
                <a:latin typeface="Arial MT"/>
                <a:cs typeface="Arial MT"/>
              </a:rPr>
              <a:t>+</a:t>
            </a:r>
            <a:r>
              <a:rPr dirty="0" baseline="-21604" sz="1350" spc="-577">
                <a:latin typeface="Arial MT"/>
                <a:cs typeface="Arial MT"/>
              </a:rPr>
              <a:t>L</a:t>
            </a:r>
            <a:r>
              <a:rPr dirty="0" baseline="-15432" sz="1350" spc="-967">
                <a:latin typeface="SimSun"/>
                <a:cs typeface="SimSun"/>
              </a:rPr>
              <a:t>结</a:t>
            </a:r>
            <a:r>
              <a:rPr dirty="0" sz="1200" spc="-605">
                <a:latin typeface="Arial MT"/>
                <a:cs typeface="Arial MT"/>
              </a:rPr>
              <a:t>3</a:t>
            </a:r>
            <a:r>
              <a:rPr dirty="0" sz="1400" spc="-1300">
                <a:latin typeface="SimSun"/>
                <a:cs typeface="SimSun"/>
              </a:rPr>
              <a:t>，</a:t>
            </a:r>
            <a:r>
              <a:rPr dirty="0" baseline="-21604" sz="1350" spc="-142">
                <a:latin typeface="Arial MT"/>
                <a:cs typeface="Arial MT"/>
              </a:rPr>
              <a:t>T</a:t>
            </a:r>
            <a:r>
              <a:rPr dirty="0" baseline="-15432" sz="1350" spc="-1312">
                <a:latin typeface="SimSun"/>
                <a:cs typeface="SimSun"/>
              </a:rPr>
              <a:t>果</a:t>
            </a:r>
            <a:r>
              <a:rPr dirty="0" sz="1200" spc="-1130">
                <a:latin typeface="SimSun"/>
                <a:cs typeface="SimSun"/>
              </a:rPr>
              <a:t>窄</a:t>
            </a:r>
            <a:r>
              <a:rPr dirty="0" baseline="-21604" sz="1350">
                <a:latin typeface="Arial MT"/>
                <a:cs typeface="Arial MT"/>
              </a:rPr>
              <a:t>E</a:t>
            </a:r>
            <a:r>
              <a:rPr dirty="0" baseline="-21604" sz="1350" spc="-1170">
                <a:latin typeface="SimSun"/>
                <a:cs typeface="SimSun"/>
              </a:rPr>
              <a:t>相</a:t>
            </a:r>
            <a:r>
              <a:rPr dirty="0" sz="1400" spc="-1340">
                <a:latin typeface="SimSun"/>
                <a:cs typeface="SimSun"/>
              </a:rPr>
              <a:t>采</a:t>
            </a:r>
            <a:r>
              <a:rPr dirty="0" baseline="-15432" sz="1350" spc="-270">
                <a:latin typeface="Arial MT"/>
                <a:cs typeface="Arial MT"/>
              </a:rPr>
              <a:t>L</a:t>
            </a:r>
            <a:r>
              <a:rPr dirty="0" sz="1200" spc="-1030">
                <a:latin typeface="SimSun"/>
                <a:cs typeface="SimSun"/>
              </a:rPr>
              <a:t>波</a:t>
            </a:r>
            <a:r>
              <a:rPr dirty="0" baseline="-15432" sz="1350" spc="-540">
                <a:latin typeface="Arial MT"/>
                <a:cs typeface="Arial MT"/>
              </a:rPr>
              <a:t>T</a:t>
            </a:r>
            <a:r>
              <a:rPr dirty="0" baseline="-21604" sz="1350" spc="-817">
                <a:latin typeface="SimSun"/>
                <a:cs typeface="SimSun"/>
              </a:rPr>
              <a:t>比</a:t>
            </a:r>
            <a:r>
              <a:rPr dirty="0" baseline="-15432" sz="1350" spc="-509">
                <a:latin typeface="Arial MT"/>
                <a:cs typeface="Arial MT"/>
              </a:rPr>
              <a:t>E</a:t>
            </a:r>
            <a:r>
              <a:rPr dirty="0" sz="1400" spc="-1210">
                <a:latin typeface="SimSun"/>
                <a:cs typeface="SimSun"/>
              </a:rPr>
              <a:t>用</a:t>
            </a:r>
            <a:r>
              <a:rPr dirty="0" sz="1200" spc="-1070">
                <a:latin typeface="SimSun"/>
                <a:cs typeface="SimSun"/>
              </a:rPr>
              <a:t>束</a:t>
            </a:r>
            <a:r>
              <a:rPr dirty="0" baseline="-15432" sz="1350" spc="-202">
                <a:latin typeface="SimSun"/>
                <a:cs typeface="SimSun"/>
              </a:rPr>
              <a:t>在 </a:t>
            </a:r>
            <a:r>
              <a:rPr dirty="0" sz="1200">
                <a:latin typeface="SimSun"/>
                <a:cs typeface="SimSun"/>
              </a:rPr>
              <a:t>对于高、中、低层写字楼的覆盖明显差于</a:t>
            </a:r>
            <a:r>
              <a:rPr dirty="0" sz="1200">
                <a:latin typeface="Arial MT"/>
                <a:cs typeface="Arial MT"/>
              </a:rPr>
              <a:t>900MHz</a:t>
            </a:r>
            <a:r>
              <a:rPr dirty="0" sz="1200" spc="20">
                <a:latin typeface="Arial MT"/>
                <a:cs typeface="Arial MT"/>
              </a:rPr>
              <a:t> </a:t>
            </a:r>
            <a:r>
              <a:rPr dirty="0" sz="1200" spc="-35">
                <a:latin typeface="Arial MT"/>
                <a:cs typeface="Arial MT"/>
              </a:rPr>
              <a:t>LTE</a:t>
            </a:r>
            <a:r>
              <a:rPr dirty="0" sz="1200">
                <a:latin typeface="SimSun"/>
                <a:cs typeface="SimSun"/>
              </a:rPr>
              <a:t>约</a:t>
            </a:r>
            <a:r>
              <a:rPr dirty="0" sz="1200" spc="-10">
                <a:latin typeface="Arial MT"/>
                <a:cs typeface="Arial MT"/>
              </a:rPr>
              <a:t>8~15dB</a:t>
            </a:r>
            <a:r>
              <a:rPr dirty="0" sz="1200" spc="-10">
                <a:latin typeface="SimSun"/>
                <a:cs typeface="SimSun"/>
              </a:rPr>
              <a:t>，</a:t>
            </a:r>
            <a:r>
              <a:rPr dirty="0" sz="1200" spc="-10">
                <a:latin typeface="Arial MT"/>
                <a:cs typeface="Arial MT"/>
              </a:rPr>
              <a:t>900MHz</a:t>
            </a:r>
            <a:r>
              <a:rPr dirty="0" sz="1200" spc="-10">
                <a:latin typeface="SimSun"/>
                <a:cs typeface="SimSun"/>
              </a:rPr>
              <a:t>对穿透覆盖优势明</a:t>
            </a:r>
            <a:endParaRPr sz="1200">
              <a:latin typeface="SimSun"/>
              <a:cs typeface="SimSun"/>
            </a:endParaRPr>
          </a:p>
        </p:txBody>
      </p:sp>
      <p:sp>
        <p:nvSpPr>
          <p:cNvPr id="72" name="object 72" descr=""/>
          <p:cNvSpPr txBox="1"/>
          <p:nvPr/>
        </p:nvSpPr>
        <p:spPr>
          <a:xfrm>
            <a:off x="233071" y="1370685"/>
            <a:ext cx="1938655" cy="1020444"/>
          </a:xfrm>
          <a:prstGeom prst="rect">
            <a:avLst/>
          </a:prstGeom>
        </p:spPr>
        <p:txBody>
          <a:bodyPr wrap="square" lIns="0" tIns="12700" rIns="0" bIns="0" rtlCol="0" vert="horz">
            <a:spAutoFit/>
          </a:bodyPr>
          <a:lstStyle/>
          <a:p>
            <a:pPr marL="116205">
              <a:lnSpc>
                <a:spcPct val="100000"/>
              </a:lnSpc>
              <a:spcBef>
                <a:spcPts val="100"/>
              </a:spcBef>
            </a:pPr>
            <a:r>
              <a:rPr dirty="0" sz="900" spc="-600">
                <a:latin typeface="SimSun"/>
                <a:cs typeface="SimSun"/>
              </a:rPr>
              <a:t>优</a:t>
            </a:r>
            <a:r>
              <a:rPr dirty="0" baseline="6172" sz="1350" spc="-457">
                <a:latin typeface="SimSun"/>
                <a:cs typeface="SimSun"/>
              </a:rPr>
              <a:t>高</a:t>
            </a:r>
            <a:r>
              <a:rPr dirty="0" sz="900" spc="-600">
                <a:latin typeface="SimSun"/>
                <a:cs typeface="SimSun"/>
              </a:rPr>
              <a:t>势</a:t>
            </a:r>
            <a:r>
              <a:rPr dirty="0" baseline="6172" sz="1350" spc="-667">
                <a:latin typeface="SimSun"/>
                <a:cs typeface="SimSun"/>
              </a:rPr>
              <a:t>、</a:t>
            </a:r>
            <a:r>
              <a:rPr dirty="0" sz="1200" spc="-1065">
                <a:latin typeface="SimSun"/>
                <a:cs typeface="SimSun"/>
              </a:rPr>
              <a:t>显</a:t>
            </a:r>
            <a:r>
              <a:rPr dirty="0" sz="900" spc="-600">
                <a:latin typeface="SimSun"/>
                <a:cs typeface="SimSun"/>
              </a:rPr>
              <a:t>明</a:t>
            </a:r>
            <a:r>
              <a:rPr dirty="0" baseline="6172" sz="1350" spc="-457">
                <a:latin typeface="SimSun"/>
                <a:cs typeface="SimSun"/>
              </a:rPr>
              <a:t>中</a:t>
            </a:r>
            <a:r>
              <a:rPr dirty="0" sz="900" spc="-740">
                <a:latin typeface="SimSun"/>
                <a:cs typeface="SimSun"/>
              </a:rPr>
              <a:t>显</a:t>
            </a:r>
            <a:r>
              <a:rPr dirty="0" sz="1200" spc="-1060">
                <a:latin typeface="SimSun"/>
                <a:cs typeface="SimSun"/>
              </a:rPr>
              <a:t>。</a:t>
            </a:r>
            <a:r>
              <a:rPr dirty="0" baseline="6172" sz="1350" spc="-457">
                <a:latin typeface="SimSun"/>
                <a:cs typeface="SimSun"/>
              </a:rPr>
              <a:t>、</a:t>
            </a:r>
            <a:r>
              <a:rPr dirty="0" sz="900" spc="-600">
                <a:latin typeface="SimSun"/>
                <a:cs typeface="SimSun"/>
              </a:rPr>
              <a:t>。</a:t>
            </a:r>
            <a:r>
              <a:rPr dirty="0" baseline="6172" sz="1350" spc="-457">
                <a:latin typeface="SimSun"/>
                <a:cs typeface="SimSun"/>
              </a:rPr>
              <a:t>低</a:t>
            </a:r>
            <a:r>
              <a:rPr dirty="0" sz="900" spc="-600">
                <a:latin typeface="SimSun"/>
                <a:cs typeface="SimSun"/>
              </a:rPr>
              <a:t>在</a:t>
            </a:r>
            <a:r>
              <a:rPr dirty="0" baseline="6172" sz="1350" spc="-457">
                <a:latin typeface="SimSun"/>
                <a:cs typeface="SimSun"/>
              </a:rPr>
              <a:t>层</a:t>
            </a:r>
            <a:r>
              <a:rPr dirty="0" sz="900" spc="-300">
                <a:latin typeface="Arial MT"/>
                <a:cs typeface="Arial MT"/>
              </a:rPr>
              <a:t>S</a:t>
            </a:r>
            <a:r>
              <a:rPr dirty="0" baseline="6172" sz="1350" spc="-907">
                <a:latin typeface="SimSun"/>
                <a:cs typeface="SimSun"/>
              </a:rPr>
              <a:t>的</a:t>
            </a:r>
            <a:r>
              <a:rPr dirty="0" sz="900">
                <a:latin typeface="Arial MT"/>
                <a:cs typeface="Arial MT"/>
              </a:rPr>
              <a:t>S</a:t>
            </a:r>
            <a:r>
              <a:rPr dirty="0" sz="900" spc="-600">
                <a:latin typeface="Arial MT"/>
                <a:cs typeface="Arial MT"/>
              </a:rPr>
              <a:t>B</a:t>
            </a:r>
            <a:r>
              <a:rPr dirty="0" baseline="6172" sz="1350" spc="-89">
                <a:latin typeface="SimSun"/>
                <a:cs typeface="SimSun"/>
              </a:rPr>
              <a:t>覆</a:t>
            </a:r>
            <a:r>
              <a:rPr dirty="0" sz="900" spc="-605">
                <a:latin typeface="Arial MT"/>
                <a:cs typeface="Arial MT"/>
              </a:rPr>
              <a:t>R</a:t>
            </a:r>
            <a:r>
              <a:rPr dirty="0" baseline="6172" sz="1350" spc="-465">
                <a:latin typeface="SimSun"/>
                <a:cs typeface="SimSun"/>
              </a:rPr>
              <a:t>盖</a:t>
            </a:r>
            <a:r>
              <a:rPr dirty="0" sz="900" spc="-295">
                <a:latin typeface="Arial MT"/>
                <a:cs typeface="Arial MT"/>
              </a:rPr>
              <a:t>S</a:t>
            </a:r>
            <a:r>
              <a:rPr dirty="0" baseline="6172" sz="1350" spc="-914">
                <a:latin typeface="SimSun"/>
                <a:cs typeface="SimSun"/>
              </a:rPr>
              <a:t>略</a:t>
            </a:r>
            <a:r>
              <a:rPr dirty="0" sz="900" spc="-60">
                <a:latin typeface="Arial MT"/>
                <a:cs typeface="Arial MT"/>
              </a:rPr>
              <a:t>R</a:t>
            </a:r>
            <a:r>
              <a:rPr dirty="0" baseline="6172" sz="1350" spc="-1297">
                <a:latin typeface="SimSun"/>
                <a:cs typeface="SimSun"/>
              </a:rPr>
              <a:t>好</a:t>
            </a:r>
            <a:r>
              <a:rPr dirty="0" sz="900" spc="-140">
                <a:latin typeface="Arial MT"/>
                <a:cs typeface="Arial MT"/>
              </a:rPr>
              <a:t>P&lt;</a:t>
            </a:r>
            <a:r>
              <a:rPr dirty="0" baseline="6172" sz="1350" spc="-952">
                <a:latin typeface="SimSun"/>
                <a:cs typeface="SimSun"/>
              </a:rPr>
              <a:t>于</a:t>
            </a:r>
            <a:r>
              <a:rPr dirty="0" sz="900" spc="45">
                <a:latin typeface="Arial MT"/>
                <a:cs typeface="Arial MT"/>
              </a:rPr>
              <a:t>- </a:t>
            </a:r>
            <a:r>
              <a:rPr dirty="0" baseline="6172" sz="1350">
                <a:latin typeface="Arial MT"/>
                <a:cs typeface="Arial MT"/>
              </a:rPr>
              <a:t>5G </a:t>
            </a:r>
            <a:r>
              <a:rPr dirty="0" baseline="6172" sz="1350" spc="-37">
                <a:latin typeface="Arial MT"/>
                <a:cs typeface="Arial MT"/>
              </a:rPr>
              <a:t>NR</a:t>
            </a:r>
            <a:endParaRPr baseline="6172" sz="1350">
              <a:latin typeface="Arial MT"/>
              <a:cs typeface="Arial MT"/>
            </a:endParaRPr>
          </a:p>
          <a:p>
            <a:pPr marL="24765" marR="1828800">
              <a:lnSpc>
                <a:spcPct val="200000"/>
              </a:lnSpc>
              <a:spcBef>
                <a:spcPts val="630"/>
              </a:spcBef>
            </a:pPr>
            <a:r>
              <a:rPr dirty="0" sz="1200" spc="-50">
                <a:latin typeface="SimSun"/>
                <a:cs typeface="SimSun"/>
              </a:rPr>
              <a:t>S S</a:t>
            </a:r>
            <a:endParaRPr sz="1200">
              <a:latin typeface="SimSun"/>
              <a:cs typeface="SimSun"/>
            </a:endParaRPr>
          </a:p>
        </p:txBody>
      </p:sp>
      <p:graphicFrame>
        <p:nvGraphicFramePr>
          <p:cNvPr id="73" name="object 73" descr=""/>
          <p:cNvGraphicFramePr>
            <a:graphicFrameLocks noGrp="1"/>
          </p:cNvGraphicFramePr>
          <p:nvPr/>
        </p:nvGraphicFramePr>
        <p:xfrm>
          <a:off x="240565" y="3664407"/>
          <a:ext cx="1939925" cy="509905"/>
        </p:xfrm>
        <a:graphic>
          <a:graphicData uri="http://schemas.openxmlformats.org/drawingml/2006/table">
            <a:tbl>
              <a:tblPr firstRow="1" bandRow="1">
                <a:tableStyleId>{2D5ABB26-0587-4C30-8999-92F81FD0307C}</a:tableStyleId>
              </a:tblPr>
              <a:tblGrid>
                <a:gridCol w="864869"/>
                <a:gridCol w="52069"/>
                <a:gridCol w="790575"/>
                <a:gridCol w="148589"/>
              </a:tblGrid>
              <a:tr h="112395">
                <a:tc gridSpan="3">
                  <a:txBody>
                    <a:bodyPr/>
                    <a:lstStyle/>
                    <a:p>
                      <a:pPr>
                        <a:lnSpc>
                          <a:spcPts val="790"/>
                        </a:lnSpc>
                      </a:pPr>
                      <a:r>
                        <a:rPr dirty="0" baseline="-17361" sz="1200" spc="-97">
                          <a:latin typeface="SimSun"/>
                          <a:cs typeface="SimSun"/>
                        </a:rPr>
                        <a:t>5</a:t>
                      </a:r>
                      <a:r>
                        <a:rPr dirty="0" sz="800" spc="-50">
                          <a:latin typeface="SimSun"/>
                          <a:cs typeface="SimSun"/>
                        </a:rPr>
                        <a:t>上</a:t>
                      </a:r>
                      <a:endParaRPr sz="800">
                        <a:latin typeface="SimSun"/>
                        <a:cs typeface="SimSu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rowSpan="2">
                  <a:txBody>
                    <a:bodyPr/>
                    <a:lstStyle/>
                    <a:p>
                      <a:pPr>
                        <a:lnSpc>
                          <a:spcPct val="100000"/>
                        </a:lnSpc>
                      </a:pPr>
                      <a:endParaRPr sz="11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40970">
                <a:tc>
                  <a:txBody>
                    <a:bodyPr/>
                    <a:lstStyle/>
                    <a:p>
                      <a:pPr>
                        <a:lnSpc>
                          <a:spcPts val="750"/>
                        </a:lnSpc>
                        <a:spcBef>
                          <a:spcPts val="265"/>
                        </a:spcBef>
                      </a:pPr>
                      <a:r>
                        <a:rPr dirty="0" sz="800" spc="-50">
                          <a:latin typeface="SimSun"/>
                          <a:cs typeface="SimSun"/>
                        </a:rPr>
                        <a:t>R</a:t>
                      </a:r>
                      <a:endParaRPr sz="800">
                        <a:latin typeface="SimSun"/>
                        <a:cs typeface="SimSun"/>
                      </a:endParaRPr>
                    </a:p>
                  </a:txBody>
                  <a:tcPr marL="0" marR="0" marB="0" marT="336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2">
                  <a:txBody>
                    <a:bodyPr/>
                    <a:lstStyle/>
                    <a:p>
                      <a:pPr>
                        <a:lnSpc>
                          <a:spcPct val="100000"/>
                        </a:lnSpc>
                      </a:pPr>
                      <a:endParaRPr sz="7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vMerge="1">
                  <a:txBody>
                    <a:bodyPr/>
                    <a:lstStyle/>
                    <a:p>
                      <a:p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28270">
                <a:tc>
                  <a:txBody>
                    <a:bodyPr/>
                    <a:lstStyle/>
                    <a:p>
                      <a:pPr algn="r" marR="206375">
                        <a:lnSpc>
                          <a:spcPts val="750"/>
                        </a:lnSpc>
                        <a:spcBef>
                          <a:spcPts val="160"/>
                        </a:spcBef>
                      </a:pPr>
                      <a:r>
                        <a:rPr dirty="0" sz="800" spc="-55">
                          <a:latin typeface="SimSun"/>
                          <a:cs typeface="SimSun"/>
                        </a:rPr>
                        <a:t>浅</a:t>
                      </a:r>
                      <a:r>
                        <a:rPr dirty="0" baseline="13888" sz="1200" spc="-1162">
                          <a:latin typeface="SimSun"/>
                          <a:cs typeface="SimSun"/>
                        </a:rPr>
                        <a:t>中</a:t>
                      </a:r>
                      <a:r>
                        <a:rPr dirty="0" sz="800" spc="-55">
                          <a:latin typeface="SimSun"/>
                          <a:cs typeface="SimSun"/>
                        </a:rPr>
                        <a:t>层</a:t>
                      </a:r>
                      <a:r>
                        <a:rPr dirty="0" baseline="13888" sz="1200" spc="-1162">
                          <a:latin typeface="SimSun"/>
                          <a:cs typeface="SimSun"/>
                        </a:rPr>
                        <a:t>层</a:t>
                      </a:r>
                      <a:r>
                        <a:rPr dirty="0" sz="800" spc="-30">
                          <a:latin typeface="SimSun"/>
                          <a:cs typeface="SimSun"/>
                        </a:rPr>
                        <a:t>覆盖</a:t>
                      </a:r>
                      <a:endParaRPr sz="800">
                        <a:latin typeface="SimSun"/>
                        <a:cs typeface="SimSun"/>
                      </a:endParaRPr>
                    </a:p>
                  </a:txBody>
                  <a:tcPr marL="0" marR="0" marB="0" marT="2032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7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99060">
                        <a:lnSpc>
                          <a:spcPts val="750"/>
                        </a:lnSpc>
                        <a:spcBef>
                          <a:spcPts val="160"/>
                        </a:spcBef>
                      </a:pPr>
                      <a:r>
                        <a:rPr dirty="0" baseline="13888" sz="1200" spc="-15">
                          <a:latin typeface="SimSun"/>
                          <a:cs typeface="SimSun"/>
                        </a:rPr>
                        <a:t>10</a:t>
                      </a:r>
                      <a:r>
                        <a:rPr dirty="0" sz="800" spc="-10">
                          <a:latin typeface="SimSun"/>
                          <a:cs typeface="SimSun"/>
                        </a:rPr>
                        <a:t>~</a:t>
                      </a:r>
                      <a:r>
                        <a:rPr dirty="0" baseline="13888" sz="1200" spc="-15">
                          <a:latin typeface="SimSun"/>
                          <a:cs typeface="SimSun"/>
                        </a:rPr>
                        <a:t>%</a:t>
                      </a:r>
                      <a:r>
                        <a:rPr dirty="0" sz="800" spc="-10">
                          <a:latin typeface="SimSun"/>
                          <a:cs typeface="SimSun"/>
                        </a:rPr>
                        <a:t>4dB</a:t>
                      </a:r>
                      <a:endParaRPr sz="800">
                        <a:latin typeface="SimSun"/>
                        <a:cs typeface="SimSun"/>
                      </a:endParaRPr>
                    </a:p>
                  </a:txBody>
                  <a:tcPr marL="0" marR="0" marB="0" marT="2032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7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28270">
                <a:tc>
                  <a:txBody>
                    <a:bodyPr/>
                    <a:lstStyle/>
                    <a:p>
                      <a:pPr algn="r" marL="169545" marR="206375" indent="-169545">
                        <a:lnSpc>
                          <a:spcPts val="750"/>
                        </a:lnSpc>
                        <a:spcBef>
                          <a:spcPts val="165"/>
                        </a:spcBef>
                        <a:buSzPct val="150000"/>
                        <a:buFont typeface="Arial MT"/>
                        <a:buChar char="•"/>
                        <a:tabLst>
                          <a:tab pos="169545" algn="l"/>
                        </a:tabLst>
                      </a:pPr>
                      <a:r>
                        <a:rPr dirty="0" sz="800" spc="-55">
                          <a:latin typeface="SimSun"/>
                          <a:cs typeface="SimSun"/>
                        </a:rPr>
                        <a:t>深</a:t>
                      </a:r>
                      <a:r>
                        <a:rPr dirty="0" baseline="13888" sz="1200" spc="-1162">
                          <a:latin typeface="SimSun"/>
                          <a:cs typeface="SimSun"/>
                        </a:rPr>
                        <a:t>低</a:t>
                      </a:r>
                      <a:r>
                        <a:rPr dirty="0" sz="800" spc="-55">
                          <a:latin typeface="SimSun"/>
                          <a:cs typeface="SimSun"/>
                        </a:rPr>
                        <a:t>层</a:t>
                      </a:r>
                      <a:r>
                        <a:rPr dirty="0" baseline="13888" sz="1200" spc="-1162">
                          <a:latin typeface="SimSun"/>
                          <a:cs typeface="SimSun"/>
                        </a:rPr>
                        <a:t>层</a:t>
                      </a:r>
                      <a:r>
                        <a:rPr dirty="0" sz="800" spc="-30">
                          <a:latin typeface="SimSun"/>
                          <a:cs typeface="SimSun"/>
                        </a:rPr>
                        <a:t>覆盖</a:t>
                      </a:r>
                      <a:endParaRPr sz="800">
                        <a:latin typeface="SimSun"/>
                        <a:cs typeface="SimSun"/>
                      </a:endParaRPr>
                    </a:p>
                  </a:txBody>
                  <a:tcPr marL="0" marR="0" marB="0" marT="209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7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47625">
                        <a:lnSpc>
                          <a:spcPts val="915"/>
                        </a:lnSpc>
                      </a:pPr>
                      <a:r>
                        <a:rPr dirty="0" sz="800" spc="-65">
                          <a:latin typeface="SimSun"/>
                          <a:cs typeface="SimSun"/>
                        </a:rPr>
                        <a:t>11</a:t>
                      </a:r>
                      <a:r>
                        <a:rPr dirty="0" baseline="-13888" sz="1200" spc="-97">
                          <a:latin typeface="SimSun"/>
                          <a:cs typeface="SimSun"/>
                        </a:rPr>
                        <a:t>5</a:t>
                      </a:r>
                      <a:r>
                        <a:rPr dirty="0" sz="800" spc="-65">
                          <a:latin typeface="SimSun"/>
                          <a:cs typeface="SimSun"/>
                        </a:rPr>
                        <a:t>.</a:t>
                      </a:r>
                      <a:r>
                        <a:rPr dirty="0" baseline="-13888" sz="1200" spc="-97">
                          <a:latin typeface="SimSun"/>
                          <a:cs typeface="SimSun"/>
                        </a:rPr>
                        <a:t>~</a:t>
                      </a:r>
                      <a:r>
                        <a:rPr dirty="0" sz="800" spc="-65">
                          <a:latin typeface="SimSun"/>
                          <a:cs typeface="SimSun"/>
                        </a:rPr>
                        <a:t>5</a:t>
                      </a:r>
                      <a:r>
                        <a:rPr dirty="0" baseline="-13888" sz="1200" spc="-97">
                          <a:latin typeface="SimSun"/>
                          <a:cs typeface="SimSun"/>
                        </a:rPr>
                        <a:t>1</a:t>
                      </a:r>
                      <a:r>
                        <a:rPr dirty="0" sz="800" spc="-65">
                          <a:latin typeface="SimSun"/>
                          <a:cs typeface="SimSun"/>
                        </a:rPr>
                        <a:t>0</a:t>
                      </a:r>
                      <a:r>
                        <a:rPr dirty="0" baseline="-13888" sz="1200" spc="-97">
                          <a:latin typeface="SimSun"/>
                          <a:cs typeface="SimSun"/>
                        </a:rPr>
                        <a:t>0</a:t>
                      </a:r>
                      <a:r>
                        <a:rPr dirty="0" sz="800" spc="-65">
                          <a:latin typeface="SimSun"/>
                          <a:cs typeface="SimSun"/>
                        </a:rPr>
                        <a:t>%</a:t>
                      </a:r>
                      <a:r>
                        <a:rPr dirty="0" baseline="-13888" sz="1200" spc="-97">
                          <a:latin typeface="SimSun"/>
                          <a:cs typeface="SimSun"/>
                        </a:rPr>
                        <a:t>dB</a:t>
                      </a:r>
                      <a:endParaRPr baseline="-13888" sz="1200">
                        <a:latin typeface="SimSun"/>
                        <a:cs typeface="SimSu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7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grpSp>
        <p:nvGrpSpPr>
          <p:cNvPr id="74" name="object 74" descr=""/>
          <p:cNvGrpSpPr/>
          <p:nvPr/>
        </p:nvGrpSpPr>
        <p:grpSpPr>
          <a:xfrm>
            <a:off x="319522" y="1557289"/>
            <a:ext cx="8761095" cy="2364740"/>
            <a:chOff x="319522" y="1557289"/>
            <a:chExt cx="8761095" cy="2364740"/>
          </a:xfrm>
        </p:grpSpPr>
        <p:pic>
          <p:nvPicPr>
            <p:cNvPr id="75" name="object 75"/>
            <p:cNvPicPr/>
            <p:nvPr/>
          </p:nvPicPr>
          <p:blipFill>
            <a:blip r:embed="rId15" cstate="print"/>
            <a:stretch>
              <a:fillRect/>
            </a:stretch>
          </p:blipFill>
          <p:spPr>
            <a:xfrm>
              <a:off x="319522" y="1557289"/>
              <a:ext cx="2876889" cy="2357611"/>
            </a:xfrm>
            <a:prstGeom prst="rect">
              <a:avLst/>
            </a:prstGeom>
          </p:spPr>
        </p:pic>
        <p:pic>
          <p:nvPicPr>
            <p:cNvPr id="76" name="object 76"/>
            <p:cNvPicPr/>
            <p:nvPr/>
          </p:nvPicPr>
          <p:blipFill>
            <a:blip r:embed="rId16" cstate="print"/>
            <a:stretch>
              <a:fillRect/>
            </a:stretch>
          </p:blipFill>
          <p:spPr>
            <a:xfrm>
              <a:off x="3350857" y="1557299"/>
              <a:ext cx="2796221" cy="2357602"/>
            </a:xfrm>
            <a:prstGeom prst="rect">
              <a:avLst/>
            </a:prstGeom>
          </p:spPr>
        </p:pic>
        <p:pic>
          <p:nvPicPr>
            <p:cNvPr id="77" name="object 77"/>
            <p:cNvPicPr/>
            <p:nvPr/>
          </p:nvPicPr>
          <p:blipFill>
            <a:blip r:embed="rId17" cstate="print"/>
            <a:stretch>
              <a:fillRect/>
            </a:stretch>
          </p:blipFill>
          <p:spPr>
            <a:xfrm>
              <a:off x="6239192" y="1564287"/>
              <a:ext cx="2841242" cy="2357599"/>
            </a:xfrm>
            <a:prstGeom prst="rect">
              <a:avLst/>
            </a:prstGeom>
          </p:spPr>
        </p:pic>
      </p:grpSp>
      <p:sp>
        <p:nvSpPr>
          <p:cNvPr id="78" name="object 78" descr=""/>
          <p:cNvSpPr txBox="1"/>
          <p:nvPr/>
        </p:nvSpPr>
        <p:spPr>
          <a:xfrm>
            <a:off x="593149" y="4103222"/>
            <a:ext cx="8029575"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SimSun"/>
                <a:cs typeface="SimSun"/>
              </a:rPr>
              <a:t>从</a:t>
            </a:r>
            <a:r>
              <a:rPr dirty="0" sz="1200" spc="-10">
                <a:latin typeface="Arial MT"/>
                <a:cs typeface="Arial MT"/>
              </a:rPr>
              <a:t>RSRP</a:t>
            </a:r>
            <a:r>
              <a:rPr dirty="0" sz="1200" spc="-5">
                <a:latin typeface="SimSun"/>
                <a:cs typeface="SimSun"/>
              </a:rPr>
              <a:t>的区间分布看，</a:t>
            </a:r>
            <a:r>
              <a:rPr dirty="0" sz="1200" spc="-20">
                <a:latin typeface="Arial MT"/>
                <a:cs typeface="Arial MT"/>
              </a:rPr>
              <a:t>LTE</a:t>
            </a:r>
            <a:r>
              <a:rPr dirty="0" sz="1200" spc="30">
                <a:latin typeface="Arial MT"/>
                <a:cs typeface="Arial MT"/>
              </a:rPr>
              <a:t> </a:t>
            </a:r>
            <a:r>
              <a:rPr dirty="0" sz="1200" spc="-10">
                <a:latin typeface="Arial MT"/>
                <a:cs typeface="Arial MT"/>
              </a:rPr>
              <a:t>900MHz</a:t>
            </a:r>
            <a:r>
              <a:rPr dirty="0" sz="1200">
                <a:latin typeface="SimSun"/>
                <a:cs typeface="SimSun"/>
              </a:rPr>
              <a:t>的对楼宇高、中、低层的浅层及深层覆盖优势明显，多墙体穿透覆盖</a:t>
            </a:r>
            <a:r>
              <a:rPr dirty="0" sz="1200">
                <a:latin typeface="Arial MT"/>
                <a:cs typeface="Arial MT"/>
              </a:rPr>
              <a:t>5G</a:t>
            </a:r>
            <a:r>
              <a:rPr dirty="0" sz="1200" spc="15">
                <a:latin typeface="Arial MT"/>
                <a:cs typeface="Arial MT"/>
              </a:rPr>
              <a:t> </a:t>
            </a:r>
            <a:r>
              <a:rPr dirty="0" sz="1200" spc="-10">
                <a:latin typeface="Arial MT"/>
                <a:cs typeface="Arial MT"/>
              </a:rPr>
              <a:t>3.5GHz</a:t>
            </a:r>
            <a:r>
              <a:rPr dirty="0" sz="1200" spc="-50">
                <a:latin typeface="SimSun"/>
                <a:cs typeface="SimSun"/>
              </a:rPr>
              <a:t>相</a:t>
            </a:r>
            <a:endParaRPr sz="1200">
              <a:latin typeface="SimSun"/>
              <a:cs typeface="SimSun"/>
            </a:endParaRPr>
          </a:p>
        </p:txBody>
      </p:sp>
      <p:sp>
        <p:nvSpPr>
          <p:cNvPr id="79" name="object 79" descr=""/>
          <p:cNvSpPr txBox="1"/>
          <p:nvPr/>
        </p:nvSpPr>
        <p:spPr>
          <a:xfrm>
            <a:off x="177073" y="4286102"/>
            <a:ext cx="2414270" cy="208279"/>
          </a:xfrm>
          <a:prstGeom prst="rect">
            <a:avLst/>
          </a:prstGeom>
        </p:spPr>
        <p:txBody>
          <a:bodyPr wrap="square" lIns="0" tIns="12700" rIns="0" bIns="0" rtlCol="0" vert="horz">
            <a:spAutoFit/>
          </a:bodyPr>
          <a:lstStyle/>
          <a:p>
            <a:pPr marL="38100">
              <a:lnSpc>
                <a:spcPct val="100000"/>
              </a:lnSpc>
              <a:spcBef>
                <a:spcPts val="100"/>
              </a:spcBef>
            </a:pPr>
            <a:r>
              <a:rPr dirty="0" baseline="-15432" sz="1350" spc="-202">
                <a:latin typeface="SimSun"/>
                <a:cs typeface="SimSun"/>
              </a:rPr>
              <a:t>窗户开始</a:t>
            </a:r>
            <a:r>
              <a:rPr dirty="0" sz="1200" spc="-680">
                <a:latin typeface="SimSun"/>
                <a:cs typeface="SimSun"/>
              </a:rPr>
              <a:t>比</a:t>
            </a:r>
            <a:r>
              <a:rPr dirty="0" baseline="-15432" sz="1350" spc="-337">
                <a:latin typeface="SimSun"/>
                <a:cs typeface="SimSun"/>
              </a:rPr>
              <a:t>经</a:t>
            </a:r>
            <a:r>
              <a:rPr dirty="0" sz="1200" spc="-445">
                <a:latin typeface="Arial MT"/>
                <a:cs typeface="Arial MT"/>
              </a:rPr>
              <a:t>L</a:t>
            </a:r>
            <a:r>
              <a:rPr dirty="0" baseline="-15432" sz="1350" spc="-825">
                <a:latin typeface="SimSun"/>
                <a:cs typeface="SimSun"/>
              </a:rPr>
              <a:t>过</a:t>
            </a:r>
            <a:r>
              <a:rPr dirty="0" sz="1200" spc="-204">
                <a:latin typeface="Arial MT"/>
                <a:cs typeface="Arial MT"/>
              </a:rPr>
              <a:t>T</a:t>
            </a:r>
            <a:r>
              <a:rPr dirty="0" baseline="-15432" sz="1350" spc="-1080">
                <a:latin typeface="SimSun"/>
                <a:cs typeface="SimSun"/>
              </a:rPr>
              <a:t>走</a:t>
            </a:r>
            <a:r>
              <a:rPr dirty="0" sz="1200" spc="-85">
                <a:latin typeface="Arial MT"/>
                <a:cs typeface="Arial MT"/>
              </a:rPr>
              <a:t>E</a:t>
            </a:r>
            <a:r>
              <a:rPr dirty="0" baseline="-15432" sz="1350" spc="-727">
                <a:latin typeface="SimSun"/>
                <a:cs typeface="SimSun"/>
              </a:rPr>
              <a:t>廊</a:t>
            </a:r>
            <a:r>
              <a:rPr dirty="0" sz="1200" spc="-190">
                <a:latin typeface="Arial MT"/>
                <a:cs typeface="Arial MT"/>
              </a:rPr>
              <a:t>9</a:t>
            </a:r>
            <a:r>
              <a:rPr dirty="0" baseline="-15432" sz="1350" spc="-1080">
                <a:latin typeface="SimSun"/>
                <a:cs typeface="SimSun"/>
              </a:rPr>
              <a:t>到</a:t>
            </a:r>
            <a:r>
              <a:rPr dirty="0" sz="1200" spc="-5">
                <a:latin typeface="Arial MT"/>
                <a:cs typeface="Arial MT"/>
              </a:rPr>
              <a:t>0</a:t>
            </a:r>
            <a:r>
              <a:rPr dirty="0" sz="1200" spc="-620">
                <a:latin typeface="Arial MT"/>
                <a:cs typeface="Arial MT"/>
              </a:rPr>
              <a:t>0</a:t>
            </a:r>
            <a:r>
              <a:rPr dirty="0" baseline="-15432" sz="1350" spc="-427">
                <a:latin typeface="SimSun"/>
                <a:cs typeface="SimSun"/>
              </a:rPr>
              <a:t>达</a:t>
            </a:r>
            <a:r>
              <a:rPr dirty="0" sz="1200" spc="-730">
                <a:latin typeface="Arial MT"/>
                <a:cs typeface="Arial MT"/>
              </a:rPr>
              <a:t>M</a:t>
            </a:r>
            <a:r>
              <a:rPr dirty="0" baseline="-15432" sz="1350" spc="-277">
                <a:latin typeface="SimSun"/>
                <a:cs typeface="SimSun"/>
              </a:rPr>
              <a:t>小</a:t>
            </a:r>
            <a:r>
              <a:rPr dirty="0" sz="1200" spc="-685">
                <a:latin typeface="Arial MT"/>
                <a:cs typeface="Arial MT"/>
              </a:rPr>
              <a:t>H</a:t>
            </a:r>
            <a:r>
              <a:rPr dirty="0" baseline="-15432" sz="1350" spc="-330">
                <a:latin typeface="SimSun"/>
                <a:cs typeface="SimSun"/>
              </a:rPr>
              <a:t>隔</a:t>
            </a:r>
            <a:r>
              <a:rPr dirty="0" sz="1200" spc="-385">
                <a:latin typeface="Arial MT"/>
                <a:cs typeface="Arial MT"/>
              </a:rPr>
              <a:t>z</a:t>
            </a:r>
            <a:r>
              <a:rPr dirty="0" baseline="-15432" sz="1350" spc="-780">
                <a:latin typeface="SimSun"/>
                <a:cs typeface="SimSun"/>
              </a:rPr>
              <a:t>间</a:t>
            </a:r>
            <a:r>
              <a:rPr dirty="0" sz="1200" spc="-685">
                <a:latin typeface="SimSun"/>
                <a:cs typeface="SimSun"/>
              </a:rPr>
              <a:t>低</a:t>
            </a:r>
            <a:r>
              <a:rPr dirty="0" baseline="-15432" sz="1350" spc="-330">
                <a:latin typeface="SimSun"/>
                <a:cs typeface="SimSun"/>
              </a:rPr>
              <a:t>区</a:t>
            </a:r>
            <a:r>
              <a:rPr dirty="0" sz="1200" spc="-450">
                <a:latin typeface="Arial MT"/>
                <a:cs typeface="Arial MT"/>
              </a:rPr>
              <a:t>1</a:t>
            </a:r>
            <a:r>
              <a:rPr dirty="0" baseline="-15432" sz="1350" spc="-682">
                <a:latin typeface="SimSun"/>
                <a:cs typeface="SimSun"/>
              </a:rPr>
              <a:t>域</a:t>
            </a:r>
            <a:r>
              <a:rPr dirty="0" sz="1200" spc="-220">
                <a:latin typeface="Arial MT"/>
                <a:cs typeface="Arial MT"/>
              </a:rPr>
              <a:t>0</a:t>
            </a:r>
            <a:r>
              <a:rPr dirty="0" baseline="-15432" sz="1350" spc="-1035">
                <a:latin typeface="SimSun"/>
                <a:cs typeface="SimSun"/>
              </a:rPr>
              <a:t>，</a:t>
            </a:r>
            <a:r>
              <a:rPr dirty="0" sz="1200">
                <a:latin typeface="Arial MT"/>
                <a:cs typeface="Arial MT"/>
              </a:rPr>
              <a:t>~</a:t>
            </a:r>
            <a:r>
              <a:rPr dirty="0" sz="1200" spc="-5">
                <a:latin typeface="Arial MT"/>
                <a:cs typeface="Arial MT"/>
              </a:rPr>
              <a:t>1</a:t>
            </a:r>
            <a:r>
              <a:rPr dirty="0" sz="1200" spc="-10">
                <a:latin typeface="Arial MT"/>
                <a:cs typeface="Arial MT"/>
              </a:rPr>
              <a:t>5</a:t>
            </a:r>
            <a:r>
              <a:rPr dirty="0" sz="1200" spc="-5">
                <a:latin typeface="Arial MT"/>
                <a:cs typeface="Arial MT"/>
              </a:rPr>
              <a:t>dB</a:t>
            </a:r>
            <a:r>
              <a:rPr dirty="0" sz="1200" spc="-50">
                <a:latin typeface="SimSun"/>
                <a:cs typeface="SimSun"/>
              </a:rPr>
              <a:t>。</a:t>
            </a:r>
            <a:endParaRPr sz="1200">
              <a:latin typeface="SimSun"/>
              <a:cs typeface="SimSun"/>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2420" y="124049"/>
            <a:ext cx="3413760" cy="513080"/>
          </a:xfrm>
          <a:prstGeom prst="rect"/>
        </p:spPr>
        <p:txBody>
          <a:bodyPr wrap="square" lIns="0" tIns="12065" rIns="0" bIns="0" rtlCol="0" vert="horz">
            <a:spAutoFit/>
          </a:bodyPr>
          <a:lstStyle/>
          <a:p>
            <a:pPr marL="12700">
              <a:lnSpc>
                <a:spcPct val="100000"/>
              </a:lnSpc>
              <a:spcBef>
                <a:spcPts val="95"/>
              </a:spcBef>
            </a:pPr>
            <a:r>
              <a:rPr dirty="0" spc="-80"/>
              <a:t>无线测试-室外覆盖</a:t>
            </a:r>
          </a:p>
        </p:txBody>
      </p:sp>
      <p:grpSp>
        <p:nvGrpSpPr>
          <p:cNvPr id="3" name="object 3" descr=""/>
          <p:cNvGrpSpPr/>
          <p:nvPr/>
        </p:nvGrpSpPr>
        <p:grpSpPr>
          <a:xfrm>
            <a:off x="238819" y="776856"/>
            <a:ext cx="1645920" cy="328930"/>
            <a:chOff x="238819" y="776856"/>
            <a:chExt cx="1645920" cy="328930"/>
          </a:xfrm>
        </p:grpSpPr>
        <p:sp>
          <p:nvSpPr>
            <p:cNvPr id="4" name="object 4" descr=""/>
            <p:cNvSpPr/>
            <p:nvPr/>
          </p:nvSpPr>
          <p:spPr>
            <a:xfrm>
              <a:off x="251519" y="789556"/>
              <a:ext cx="1620520" cy="303530"/>
            </a:xfrm>
            <a:custGeom>
              <a:avLst/>
              <a:gdLst/>
              <a:ahLst/>
              <a:cxnLst/>
              <a:rect l="l" t="t" r="r" b="b"/>
              <a:pathLst>
                <a:path w="1620520" h="303530">
                  <a:moveTo>
                    <a:pt x="1569618" y="0"/>
                  </a:moveTo>
                  <a:lnTo>
                    <a:pt x="50558" y="0"/>
                  </a:lnTo>
                  <a:lnTo>
                    <a:pt x="30877" y="3972"/>
                  </a:lnTo>
                  <a:lnTo>
                    <a:pt x="14806" y="14806"/>
                  </a:lnTo>
                  <a:lnTo>
                    <a:pt x="3972" y="30877"/>
                  </a:lnTo>
                  <a:lnTo>
                    <a:pt x="0" y="50558"/>
                  </a:lnTo>
                  <a:lnTo>
                    <a:pt x="0" y="252793"/>
                  </a:lnTo>
                  <a:lnTo>
                    <a:pt x="3972" y="272477"/>
                  </a:lnTo>
                  <a:lnTo>
                    <a:pt x="14806" y="288551"/>
                  </a:lnTo>
                  <a:lnTo>
                    <a:pt x="30877" y="299390"/>
                  </a:lnTo>
                  <a:lnTo>
                    <a:pt x="50558" y="303364"/>
                  </a:lnTo>
                  <a:lnTo>
                    <a:pt x="1569618" y="303364"/>
                  </a:lnTo>
                  <a:lnTo>
                    <a:pt x="1589300" y="299390"/>
                  </a:lnTo>
                  <a:lnTo>
                    <a:pt x="1605370" y="288551"/>
                  </a:lnTo>
                  <a:lnTo>
                    <a:pt x="1616204" y="272477"/>
                  </a:lnTo>
                  <a:lnTo>
                    <a:pt x="1620177" y="252793"/>
                  </a:lnTo>
                  <a:lnTo>
                    <a:pt x="1620177" y="50558"/>
                  </a:lnTo>
                  <a:lnTo>
                    <a:pt x="1616204" y="30877"/>
                  </a:lnTo>
                  <a:lnTo>
                    <a:pt x="1605370" y="14806"/>
                  </a:lnTo>
                  <a:lnTo>
                    <a:pt x="1589300" y="3972"/>
                  </a:lnTo>
                  <a:lnTo>
                    <a:pt x="1569618" y="0"/>
                  </a:lnTo>
                  <a:close/>
                </a:path>
              </a:pathLst>
            </a:custGeom>
            <a:solidFill>
              <a:srgbClr val="BBE0E3"/>
            </a:solidFill>
          </p:spPr>
          <p:txBody>
            <a:bodyPr wrap="square" lIns="0" tIns="0" rIns="0" bIns="0" rtlCol="0"/>
            <a:lstStyle/>
            <a:p/>
          </p:txBody>
        </p:sp>
        <p:sp>
          <p:nvSpPr>
            <p:cNvPr id="5" name="object 5" descr=""/>
            <p:cNvSpPr/>
            <p:nvPr/>
          </p:nvSpPr>
          <p:spPr>
            <a:xfrm>
              <a:off x="251519" y="789556"/>
              <a:ext cx="1620520" cy="303530"/>
            </a:xfrm>
            <a:custGeom>
              <a:avLst/>
              <a:gdLst/>
              <a:ahLst/>
              <a:cxnLst/>
              <a:rect l="l" t="t" r="r" b="b"/>
              <a:pathLst>
                <a:path w="1620520" h="303530">
                  <a:moveTo>
                    <a:pt x="0" y="50558"/>
                  </a:moveTo>
                  <a:lnTo>
                    <a:pt x="3972" y="30877"/>
                  </a:lnTo>
                  <a:lnTo>
                    <a:pt x="14806" y="14806"/>
                  </a:lnTo>
                  <a:lnTo>
                    <a:pt x="30877" y="3972"/>
                  </a:lnTo>
                  <a:lnTo>
                    <a:pt x="50558" y="0"/>
                  </a:lnTo>
                  <a:lnTo>
                    <a:pt x="1569618" y="0"/>
                  </a:lnTo>
                  <a:lnTo>
                    <a:pt x="1589300" y="3972"/>
                  </a:lnTo>
                  <a:lnTo>
                    <a:pt x="1605370" y="14806"/>
                  </a:lnTo>
                  <a:lnTo>
                    <a:pt x="1616204" y="30877"/>
                  </a:lnTo>
                  <a:lnTo>
                    <a:pt x="1620177" y="50558"/>
                  </a:lnTo>
                  <a:lnTo>
                    <a:pt x="1620177" y="252793"/>
                  </a:lnTo>
                  <a:lnTo>
                    <a:pt x="1616204" y="272477"/>
                  </a:lnTo>
                  <a:lnTo>
                    <a:pt x="1605370" y="288551"/>
                  </a:lnTo>
                  <a:lnTo>
                    <a:pt x="1589300" y="299390"/>
                  </a:lnTo>
                  <a:lnTo>
                    <a:pt x="1569618" y="303364"/>
                  </a:lnTo>
                  <a:lnTo>
                    <a:pt x="50558" y="303364"/>
                  </a:lnTo>
                  <a:lnTo>
                    <a:pt x="30877" y="299390"/>
                  </a:lnTo>
                  <a:lnTo>
                    <a:pt x="14806" y="288551"/>
                  </a:lnTo>
                  <a:lnTo>
                    <a:pt x="3972" y="272477"/>
                  </a:lnTo>
                  <a:lnTo>
                    <a:pt x="0" y="252793"/>
                  </a:lnTo>
                  <a:lnTo>
                    <a:pt x="0" y="50558"/>
                  </a:lnTo>
                  <a:close/>
                </a:path>
              </a:pathLst>
            </a:custGeom>
            <a:ln w="25399">
              <a:solidFill>
                <a:srgbClr val="89A4A7"/>
              </a:solidFill>
            </a:ln>
          </p:spPr>
          <p:txBody>
            <a:bodyPr wrap="square" lIns="0" tIns="0" rIns="0" bIns="0" rtlCol="0"/>
            <a:lstStyle/>
            <a:p/>
          </p:txBody>
        </p:sp>
      </p:grpSp>
      <p:sp>
        <p:nvSpPr>
          <p:cNvPr id="6" name="object 6" descr=""/>
          <p:cNvSpPr txBox="1"/>
          <p:nvPr/>
        </p:nvSpPr>
        <p:spPr>
          <a:xfrm>
            <a:off x="338471" y="818807"/>
            <a:ext cx="1445895" cy="238760"/>
          </a:xfrm>
          <a:prstGeom prst="rect">
            <a:avLst/>
          </a:prstGeom>
        </p:spPr>
        <p:txBody>
          <a:bodyPr wrap="square" lIns="0" tIns="12065" rIns="0" bIns="0" rtlCol="0" vert="horz">
            <a:spAutoFit/>
          </a:bodyPr>
          <a:lstStyle/>
          <a:p>
            <a:pPr marL="12700">
              <a:lnSpc>
                <a:spcPct val="100000"/>
              </a:lnSpc>
              <a:spcBef>
                <a:spcPts val="95"/>
              </a:spcBef>
            </a:pPr>
            <a:r>
              <a:rPr dirty="0" sz="1400" spc="-25">
                <a:solidFill>
                  <a:srgbClr val="FFFFFF"/>
                </a:solidFill>
                <a:latin typeface="SimSun"/>
                <a:cs typeface="SimSun"/>
              </a:rPr>
              <a:t>组网室外覆盖测试</a:t>
            </a:r>
            <a:endParaRPr sz="1400">
              <a:latin typeface="SimSun"/>
              <a:cs typeface="SimSun"/>
            </a:endParaRPr>
          </a:p>
        </p:txBody>
      </p:sp>
      <p:pic>
        <p:nvPicPr>
          <p:cNvPr id="7" name="object 7"/>
          <p:cNvPicPr/>
          <p:nvPr/>
        </p:nvPicPr>
        <p:blipFill>
          <a:blip r:embed="rId2" cstate="print"/>
          <a:stretch>
            <a:fillRect/>
          </a:stretch>
        </p:blipFill>
        <p:spPr>
          <a:xfrm>
            <a:off x="3545890" y="819150"/>
            <a:ext cx="5346589" cy="2194991"/>
          </a:xfrm>
          <a:prstGeom prst="rect">
            <a:avLst/>
          </a:prstGeom>
        </p:spPr>
      </p:pic>
      <p:sp>
        <p:nvSpPr>
          <p:cNvPr id="8" name="object 8" descr=""/>
          <p:cNvSpPr txBox="1"/>
          <p:nvPr/>
        </p:nvSpPr>
        <p:spPr>
          <a:xfrm>
            <a:off x="197510" y="1164767"/>
            <a:ext cx="3240405" cy="392430"/>
          </a:xfrm>
          <a:prstGeom prst="rect">
            <a:avLst/>
          </a:prstGeom>
          <a:ln w="9525">
            <a:solidFill>
              <a:srgbClr val="FF0000"/>
            </a:solidFill>
          </a:ln>
        </p:spPr>
        <p:txBody>
          <a:bodyPr wrap="square" lIns="0" tIns="96520" rIns="0" bIns="0" rtlCol="0" vert="horz">
            <a:spAutoFit/>
          </a:bodyPr>
          <a:lstStyle/>
          <a:p>
            <a:pPr marL="283210" indent="-214629">
              <a:lnSpc>
                <a:spcPct val="100000"/>
              </a:lnSpc>
              <a:spcBef>
                <a:spcPts val="760"/>
              </a:spcBef>
              <a:buFont typeface="Wingdings"/>
              <a:buChar char=""/>
              <a:tabLst>
                <a:tab pos="283210" algn="l"/>
              </a:tabLst>
            </a:pPr>
            <a:r>
              <a:rPr dirty="0" sz="1400" spc="-20">
                <a:latin typeface="Microsoft YaHei"/>
                <a:cs typeface="Microsoft YaHei"/>
              </a:rPr>
              <a:t>汤逊湖拉网区域</a:t>
            </a:r>
            <a:r>
              <a:rPr dirty="0" sz="1400" spc="-20">
                <a:latin typeface="Arial MT"/>
                <a:cs typeface="Arial MT"/>
              </a:rPr>
              <a:t>NSA</a:t>
            </a:r>
            <a:r>
              <a:rPr dirty="0" sz="1400" spc="-30">
                <a:latin typeface="Microsoft YaHei"/>
                <a:cs typeface="Microsoft YaHei"/>
              </a:rPr>
              <a:t>组网：</a:t>
            </a:r>
            <a:endParaRPr sz="1400">
              <a:latin typeface="Microsoft YaHei"/>
              <a:cs typeface="Microsoft YaHei"/>
            </a:endParaRPr>
          </a:p>
        </p:txBody>
      </p:sp>
      <p:grpSp>
        <p:nvGrpSpPr>
          <p:cNvPr id="9" name="object 9" descr=""/>
          <p:cNvGrpSpPr/>
          <p:nvPr/>
        </p:nvGrpSpPr>
        <p:grpSpPr>
          <a:xfrm>
            <a:off x="197513" y="3156291"/>
            <a:ext cx="8695055" cy="1859280"/>
            <a:chOff x="197513" y="3156291"/>
            <a:chExt cx="8695055" cy="1859280"/>
          </a:xfrm>
        </p:grpSpPr>
        <p:pic>
          <p:nvPicPr>
            <p:cNvPr id="10" name="object 10"/>
            <p:cNvPicPr/>
            <p:nvPr/>
          </p:nvPicPr>
          <p:blipFill>
            <a:blip r:embed="rId3" cstate="print"/>
            <a:stretch>
              <a:fillRect/>
            </a:stretch>
          </p:blipFill>
          <p:spPr>
            <a:xfrm>
              <a:off x="5544108" y="3165817"/>
              <a:ext cx="3348367" cy="1849536"/>
            </a:xfrm>
            <a:prstGeom prst="rect">
              <a:avLst/>
            </a:prstGeom>
          </p:spPr>
        </p:pic>
        <p:pic>
          <p:nvPicPr>
            <p:cNvPr id="11" name="object 11"/>
            <p:cNvPicPr/>
            <p:nvPr/>
          </p:nvPicPr>
          <p:blipFill>
            <a:blip r:embed="rId4" cstate="print"/>
            <a:stretch>
              <a:fillRect/>
            </a:stretch>
          </p:blipFill>
          <p:spPr>
            <a:xfrm>
              <a:off x="197513" y="3165817"/>
              <a:ext cx="3348364" cy="1849536"/>
            </a:xfrm>
            <a:prstGeom prst="rect">
              <a:avLst/>
            </a:prstGeom>
          </p:spPr>
        </p:pic>
        <p:sp>
          <p:nvSpPr>
            <p:cNvPr id="12" name="object 12" descr=""/>
            <p:cNvSpPr/>
            <p:nvPr/>
          </p:nvSpPr>
          <p:spPr>
            <a:xfrm>
              <a:off x="3512742" y="3165816"/>
              <a:ext cx="1923414" cy="769620"/>
            </a:xfrm>
            <a:custGeom>
              <a:avLst/>
              <a:gdLst/>
              <a:ahLst/>
              <a:cxnLst/>
              <a:rect l="l" t="t" r="r" b="b"/>
              <a:pathLst>
                <a:path w="1923414" h="769620">
                  <a:moveTo>
                    <a:pt x="195160" y="0"/>
                  </a:moveTo>
                  <a:lnTo>
                    <a:pt x="483196" y="0"/>
                  </a:lnTo>
                  <a:lnTo>
                    <a:pt x="915238" y="0"/>
                  </a:lnTo>
                  <a:lnTo>
                    <a:pt x="1923351" y="0"/>
                  </a:lnTo>
                  <a:lnTo>
                    <a:pt x="1923351" y="128231"/>
                  </a:lnTo>
                  <a:lnTo>
                    <a:pt x="1923351" y="320586"/>
                  </a:lnTo>
                  <a:lnTo>
                    <a:pt x="1923351" y="769416"/>
                  </a:lnTo>
                  <a:lnTo>
                    <a:pt x="915238" y="769416"/>
                  </a:lnTo>
                  <a:lnTo>
                    <a:pt x="483196" y="769416"/>
                  </a:lnTo>
                  <a:lnTo>
                    <a:pt x="195160" y="769416"/>
                  </a:lnTo>
                  <a:lnTo>
                    <a:pt x="195160" y="320586"/>
                  </a:lnTo>
                  <a:lnTo>
                    <a:pt x="0" y="264388"/>
                  </a:lnTo>
                  <a:lnTo>
                    <a:pt x="195160" y="128231"/>
                  </a:lnTo>
                  <a:lnTo>
                    <a:pt x="195160" y="0"/>
                  </a:lnTo>
                  <a:close/>
                </a:path>
              </a:pathLst>
            </a:custGeom>
            <a:ln w="19050">
              <a:solidFill>
                <a:srgbClr val="C00000"/>
              </a:solidFill>
              <a:prstDash val="sysDash"/>
            </a:ln>
          </p:spPr>
          <p:txBody>
            <a:bodyPr wrap="square" lIns="0" tIns="0" rIns="0" bIns="0" rtlCol="0"/>
            <a:lstStyle/>
            <a:p/>
          </p:txBody>
        </p:sp>
        <p:sp>
          <p:nvSpPr>
            <p:cNvPr id="13" name="object 13" descr=""/>
            <p:cNvSpPr/>
            <p:nvPr/>
          </p:nvSpPr>
          <p:spPr>
            <a:xfrm>
              <a:off x="3653899" y="4232602"/>
              <a:ext cx="1897380" cy="769620"/>
            </a:xfrm>
            <a:custGeom>
              <a:avLst/>
              <a:gdLst/>
              <a:ahLst/>
              <a:cxnLst/>
              <a:rect l="l" t="t" r="r" b="b"/>
              <a:pathLst>
                <a:path w="1897379" h="769620">
                  <a:moveTo>
                    <a:pt x="0" y="0"/>
                  </a:moveTo>
                  <a:lnTo>
                    <a:pt x="1008113" y="0"/>
                  </a:lnTo>
                  <a:lnTo>
                    <a:pt x="1440154" y="0"/>
                  </a:lnTo>
                  <a:lnTo>
                    <a:pt x="1728190" y="0"/>
                  </a:lnTo>
                  <a:lnTo>
                    <a:pt x="1728190" y="128231"/>
                  </a:lnTo>
                  <a:lnTo>
                    <a:pt x="1897227" y="250393"/>
                  </a:lnTo>
                  <a:lnTo>
                    <a:pt x="1728190" y="320586"/>
                  </a:lnTo>
                  <a:lnTo>
                    <a:pt x="1728190" y="769416"/>
                  </a:lnTo>
                  <a:lnTo>
                    <a:pt x="1440154" y="769416"/>
                  </a:lnTo>
                  <a:lnTo>
                    <a:pt x="1008113" y="769416"/>
                  </a:lnTo>
                  <a:lnTo>
                    <a:pt x="0" y="769416"/>
                  </a:lnTo>
                  <a:lnTo>
                    <a:pt x="0" y="320586"/>
                  </a:lnTo>
                  <a:lnTo>
                    <a:pt x="0" y="128231"/>
                  </a:lnTo>
                  <a:lnTo>
                    <a:pt x="0" y="0"/>
                  </a:lnTo>
                  <a:close/>
                </a:path>
              </a:pathLst>
            </a:custGeom>
            <a:ln w="19050">
              <a:solidFill>
                <a:srgbClr val="C00000"/>
              </a:solidFill>
              <a:prstDash val="sysDash"/>
            </a:ln>
          </p:spPr>
          <p:txBody>
            <a:bodyPr wrap="square" lIns="0" tIns="0" rIns="0" bIns="0" rtlCol="0"/>
            <a:lstStyle/>
            <a:p/>
          </p:txBody>
        </p:sp>
      </p:grpSp>
      <p:graphicFrame>
        <p:nvGraphicFramePr>
          <p:cNvPr id="14" name="object 14" descr=""/>
          <p:cNvGraphicFramePr>
            <a:graphicFrameLocks noGrp="1"/>
          </p:cNvGraphicFramePr>
          <p:nvPr/>
        </p:nvGraphicFramePr>
        <p:xfrm>
          <a:off x="248344" y="1629890"/>
          <a:ext cx="3268979" cy="698500"/>
        </p:xfrm>
        <a:graphic>
          <a:graphicData uri="http://schemas.openxmlformats.org/drawingml/2006/table">
            <a:tbl>
              <a:tblPr firstRow="1" bandRow="1">
                <a:tableStyleId>{2D5ABB26-0587-4C30-8999-92F81FD0307C}</a:tableStyleId>
              </a:tblPr>
              <a:tblGrid>
                <a:gridCol w="766445"/>
                <a:gridCol w="638174"/>
                <a:gridCol w="702309"/>
                <a:gridCol w="1080135"/>
              </a:tblGrid>
              <a:tr h="174625">
                <a:tc>
                  <a:txBody>
                    <a:bodyPr/>
                    <a:lstStyle/>
                    <a:p>
                      <a:pPr algn="ctr">
                        <a:lnSpc>
                          <a:spcPts val="1235"/>
                        </a:lnSpc>
                        <a:spcBef>
                          <a:spcPts val="40"/>
                        </a:spcBef>
                      </a:pPr>
                      <a:r>
                        <a:rPr dirty="0" baseline="2525" sz="1650" spc="-15">
                          <a:latin typeface="SimSun"/>
                          <a:cs typeface="SimSun"/>
                        </a:rPr>
                        <a:t>NSA</a:t>
                      </a:r>
                      <a:r>
                        <a:rPr dirty="0" sz="1100" spc="-40">
                          <a:latin typeface="Microsoft YaHei"/>
                          <a:cs typeface="Microsoft YaHei"/>
                        </a:rPr>
                        <a:t>锚点</a:t>
                      </a:r>
                      <a:endParaRPr sz="1100">
                        <a:latin typeface="Microsoft YaHei"/>
                        <a:cs typeface="Microsoft YaHei"/>
                      </a:endParaRPr>
                    </a:p>
                  </a:txBody>
                  <a:tcPr marL="0" marR="0" marB="0" marT="508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35"/>
                        </a:lnSpc>
                        <a:spcBef>
                          <a:spcPts val="40"/>
                        </a:spcBef>
                      </a:pPr>
                      <a:r>
                        <a:rPr dirty="0" sz="1100" spc="-30">
                          <a:latin typeface="Microsoft YaHei"/>
                          <a:cs typeface="Microsoft YaHei"/>
                        </a:rPr>
                        <a:t>站点数量</a:t>
                      </a:r>
                      <a:endParaRPr sz="1100">
                        <a:latin typeface="Microsoft YaHei"/>
                        <a:cs typeface="Microsoft YaHei"/>
                      </a:endParaRPr>
                    </a:p>
                  </a:txBody>
                  <a:tcPr marL="0" marR="0" marB="0" marT="508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35"/>
                        </a:lnSpc>
                        <a:spcBef>
                          <a:spcPts val="40"/>
                        </a:spcBef>
                      </a:pPr>
                      <a:r>
                        <a:rPr dirty="0" sz="1100" spc="-30">
                          <a:latin typeface="Microsoft YaHei"/>
                          <a:cs typeface="Microsoft YaHei"/>
                        </a:rPr>
                        <a:t>小区数量</a:t>
                      </a:r>
                      <a:endParaRPr sz="1100">
                        <a:latin typeface="Microsoft YaHei"/>
                        <a:cs typeface="Microsoft YaHei"/>
                      </a:endParaRPr>
                    </a:p>
                  </a:txBody>
                  <a:tcPr marL="0" marR="0" marB="0" marT="508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35"/>
                        </a:lnSpc>
                        <a:spcBef>
                          <a:spcPts val="40"/>
                        </a:spcBef>
                      </a:pPr>
                      <a:r>
                        <a:rPr dirty="0" sz="1100" spc="-30">
                          <a:latin typeface="Microsoft YaHei"/>
                          <a:cs typeface="Microsoft YaHei"/>
                        </a:rPr>
                        <a:t>图示颜色</a:t>
                      </a:r>
                      <a:endParaRPr sz="1100">
                        <a:latin typeface="Microsoft YaHei"/>
                        <a:cs typeface="Microsoft YaHei"/>
                      </a:endParaRPr>
                    </a:p>
                  </a:txBody>
                  <a:tcPr marL="0" marR="0" marB="0" marT="508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74625">
                <a:tc>
                  <a:txBody>
                    <a:bodyPr/>
                    <a:lstStyle/>
                    <a:p>
                      <a:pPr algn="ctr">
                        <a:lnSpc>
                          <a:spcPts val="1270"/>
                        </a:lnSpc>
                        <a:spcBef>
                          <a:spcPts val="5"/>
                        </a:spcBef>
                      </a:pPr>
                      <a:r>
                        <a:rPr dirty="0" sz="1100" spc="-10">
                          <a:latin typeface="SimSun"/>
                          <a:cs typeface="SimSun"/>
                        </a:rPr>
                        <a:t>L1800</a:t>
                      </a:r>
                      <a:endParaRPr sz="1100">
                        <a:latin typeface="SimSun"/>
                        <a:cs typeface="SimSun"/>
                      </a:endParaRPr>
                    </a:p>
                  </a:txBody>
                  <a:tcPr marL="0" marR="0" marB="0" marT="6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spcBef>
                          <a:spcPts val="5"/>
                        </a:spcBef>
                      </a:pPr>
                      <a:r>
                        <a:rPr dirty="0" sz="1100" spc="-25">
                          <a:latin typeface="SimSun"/>
                          <a:cs typeface="SimSun"/>
                        </a:rPr>
                        <a:t>20</a:t>
                      </a:r>
                      <a:endParaRPr sz="1100">
                        <a:latin typeface="SimSun"/>
                        <a:cs typeface="SimSun"/>
                      </a:endParaRPr>
                    </a:p>
                  </a:txBody>
                  <a:tcPr marL="0" marR="0" marB="0" marT="6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spcBef>
                          <a:spcPts val="5"/>
                        </a:spcBef>
                      </a:pPr>
                      <a:r>
                        <a:rPr dirty="0" sz="1100" spc="-25">
                          <a:latin typeface="SimSun"/>
                          <a:cs typeface="SimSun"/>
                        </a:rPr>
                        <a:t>60</a:t>
                      </a:r>
                      <a:endParaRPr sz="1100">
                        <a:latin typeface="SimSun"/>
                        <a:cs typeface="SimSun"/>
                      </a:endParaRPr>
                    </a:p>
                  </a:txBody>
                  <a:tcPr marL="0" marR="0" marB="0" marT="6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35"/>
                        </a:lnSpc>
                        <a:spcBef>
                          <a:spcPts val="40"/>
                        </a:spcBef>
                      </a:pPr>
                      <a:r>
                        <a:rPr dirty="0" sz="1100" spc="-35">
                          <a:solidFill>
                            <a:srgbClr val="0070C0"/>
                          </a:solidFill>
                          <a:latin typeface="Microsoft YaHei"/>
                          <a:cs typeface="Microsoft YaHei"/>
                        </a:rPr>
                        <a:t>蓝色</a:t>
                      </a:r>
                      <a:endParaRPr sz="1100">
                        <a:latin typeface="Microsoft YaHei"/>
                        <a:cs typeface="Microsoft YaHei"/>
                      </a:endParaRPr>
                    </a:p>
                  </a:txBody>
                  <a:tcPr marL="0" marR="0" marB="0" marT="508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74625">
                <a:tc>
                  <a:txBody>
                    <a:bodyPr/>
                    <a:lstStyle/>
                    <a:p>
                      <a:pPr algn="ctr">
                        <a:lnSpc>
                          <a:spcPts val="1270"/>
                        </a:lnSpc>
                        <a:spcBef>
                          <a:spcPts val="5"/>
                        </a:spcBef>
                      </a:pPr>
                      <a:r>
                        <a:rPr dirty="0" sz="1100" spc="-20">
                          <a:latin typeface="SimSun"/>
                          <a:cs typeface="SimSun"/>
                        </a:rPr>
                        <a:t>L900</a:t>
                      </a:r>
                      <a:endParaRPr sz="1100">
                        <a:latin typeface="SimSun"/>
                        <a:cs typeface="SimSun"/>
                      </a:endParaRPr>
                    </a:p>
                  </a:txBody>
                  <a:tcPr marL="0" marR="0" marB="0" marT="6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spcBef>
                          <a:spcPts val="5"/>
                        </a:spcBef>
                      </a:pPr>
                      <a:r>
                        <a:rPr dirty="0" sz="1100" spc="-50">
                          <a:latin typeface="SimSun"/>
                          <a:cs typeface="SimSun"/>
                        </a:rPr>
                        <a:t>5</a:t>
                      </a:r>
                      <a:endParaRPr sz="1100">
                        <a:latin typeface="SimSun"/>
                        <a:cs typeface="SimSun"/>
                      </a:endParaRPr>
                    </a:p>
                  </a:txBody>
                  <a:tcPr marL="0" marR="0" marB="0" marT="6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spcBef>
                          <a:spcPts val="5"/>
                        </a:spcBef>
                      </a:pPr>
                      <a:r>
                        <a:rPr dirty="0" sz="1100" spc="-25">
                          <a:latin typeface="SimSun"/>
                          <a:cs typeface="SimSun"/>
                        </a:rPr>
                        <a:t>15</a:t>
                      </a:r>
                      <a:endParaRPr sz="1100">
                        <a:latin typeface="SimSun"/>
                        <a:cs typeface="SimSun"/>
                      </a:endParaRPr>
                    </a:p>
                  </a:txBody>
                  <a:tcPr marL="0" marR="0" marB="0" marT="6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35"/>
                        </a:lnSpc>
                        <a:spcBef>
                          <a:spcPts val="40"/>
                        </a:spcBef>
                      </a:pPr>
                      <a:r>
                        <a:rPr dirty="0" sz="1100" spc="-35">
                          <a:latin typeface="Microsoft YaHei"/>
                          <a:cs typeface="Microsoft YaHei"/>
                        </a:rPr>
                        <a:t>黑色</a:t>
                      </a:r>
                      <a:endParaRPr sz="1100">
                        <a:latin typeface="Microsoft YaHei"/>
                        <a:cs typeface="Microsoft YaHei"/>
                      </a:endParaRPr>
                    </a:p>
                  </a:txBody>
                  <a:tcPr marL="0" marR="0" marB="0" marT="508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74625">
                <a:tc>
                  <a:txBody>
                    <a:bodyPr/>
                    <a:lstStyle/>
                    <a:p>
                      <a:pPr algn="ctr">
                        <a:lnSpc>
                          <a:spcPts val="1270"/>
                        </a:lnSpc>
                        <a:spcBef>
                          <a:spcPts val="5"/>
                        </a:spcBef>
                      </a:pPr>
                      <a:r>
                        <a:rPr dirty="0" sz="1100" spc="-10">
                          <a:latin typeface="SimSun"/>
                          <a:cs typeface="SimSun"/>
                        </a:rPr>
                        <a:t>L2100</a:t>
                      </a:r>
                      <a:endParaRPr sz="1100">
                        <a:latin typeface="SimSun"/>
                        <a:cs typeface="SimSun"/>
                      </a:endParaRPr>
                    </a:p>
                  </a:txBody>
                  <a:tcPr marL="0" marR="0" marB="0" marT="6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spcBef>
                          <a:spcPts val="5"/>
                        </a:spcBef>
                      </a:pPr>
                      <a:r>
                        <a:rPr dirty="0" sz="1100" spc="-50">
                          <a:latin typeface="SimSun"/>
                          <a:cs typeface="SimSun"/>
                        </a:rPr>
                        <a:t>5</a:t>
                      </a:r>
                      <a:endParaRPr sz="1100">
                        <a:latin typeface="SimSun"/>
                        <a:cs typeface="SimSun"/>
                      </a:endParaRPr>
                    </a:p>
                  </a:txBody>
                  <a:tcPr marL="0" marR="0" marB="0" marT="6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spcBef>
                          <a:spcPts val="5"/>
                        </a:spcBef>
                      </a:pPr>
                      <a:r>
                        <a:rPr dirty="0" sz="1100" spc="-25">
                          <a:latin typeface="SimSun"/>
                          <a:cs typeface="SimSun"/>
                        </a:rPr>
                        <a:t>15</a:t>
                      </a:r>
                      <a:endParaRPr sz="1100">
                        <a:latin typeface="SimSun"/>
                        <a:cs typeface="SimSun"/>
                      </a:endParaRPr>
                    </a:p>
                  </a:txBody>
                  <a:tcPr marL="0" marR="0" marB="0" marT="6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35"/>
                        </a:lnSpc>
                        <a:spcBef>
                          <a:spcPts val="40"/>
                        </a:spcBef>
                      </a:pPr>
                      <a:r>
                        <a:rPr dirty="0" sz="1100" spc="-35">
                          <a:solidFill>
                            <a:srgbClr val="FFFF00"/>
                          </a:solidFill>
                          <a:latin typeface="Microsoft YaHei"/>
                          <a:cs typeface="Microsoft YaHei"/>
                        </a:rPr>
                        <a:t>黄色</a:t>
                      </a:r>
                      <a:endParaRPr sz="1100">
                        <a:latin typeface="Microsoft YaHei"/>
                        <a:cs typeface="Microsoft YaHei"/>
                      </a:endParaRPr>
                    </a:p>
                  </a:txBody>
                  <a:tcPr marL="0" marR="0" marB="0" marT="508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15" name="object 15" descr=""/>
          <p:cNvSpPr txBox="1"/>
          <p:nvPr/>
        </p:nvSpPr>
        <p:spPr>
          <a:xfrm>
            <a:off x="290718" y="2342720"/>
            <a:ext cx="5067935" cy="2618105"/>
          </a:xfrm>
          <a:prstGeom prst="rect">
            <a:avLst/>
          </a:prstGeom>
        </p:spPr>
        <p:txBody>
          <a:bodyPr wrap="square" lIns="0" tIns="96520" rIns="0" bIns="0" rtlCol="0" vert="horz">
            <a:spAutoFit/>
          </a:bodyPr>
          <a:lstStyle/>
          <a:p>
            <a:pPr algn="just" marL="224154" indent="-211454">
              <a:lnSpc>
                <a:spcPct val="100000"/>
              </a:lnSpc>
              <a:spcBef>
                <a:spcPts val="760"/>
              </a:spcBef>
              <a:buFont typeface="Arial MT"/>
              <a:buChar char="•"/>
              <a:tabLst>
                <a:tab pos="224154" algn="l"/>
              </a:tabLst>
            </a:pPr>
            <a:r>
              <a:rPr dirty="0" sz="1100" spc="-20">
                <a:latin typeface="Microsoft YaHei"/>
                <a:cs typeface="Microsoft YaHei"/>
              </a:rPr>
              <a:t>拉网测试测试只涉及</a:t>
            </a:r>
            <a:r>
              <a:rPr dirty="0" sz="1100" spc="-10">
                <a:latin typeface="Arial MT"/>
                <a:cs typeface="Arial MT"/>
              </a:rPr>
              <a:t>L1800</a:t>
            </a:r>
            <a:r>
              <a:rPr dirty="0" sz="1100" spc="-20">
                <a:latin typeface="Microsoft YaHei"/>
                <a:cs typeface="Microsoft YaHei"/>
              </a:rPr>
              <a:t>和</a:t>
            </a:r>
            <a:r>
              <a:rPr dirty="0" sz="1100" spc="-10">
                <a:latin typeface="Arial MT"/>
                <a:cs typeface="Arial MT"/>
              </a:rPr>
              <a:t>L900</a:t>
            </a:r>
            <a:r>
              <a:rPr dirty="0" sz="1100" spc="-35">
                <a:latin typeface="Microsoft YaHei"/>
                <a:cs typeface="Microsoft YaHei"/>
              </a:rPr>
              <a:t>区域</a:t>
            </a:r>
            <a:endParaRPr sz="1100">
              <a:latin typeface="Microsoft YaHei"/>
              <a:cs typeface="Microsoft YaHei"/>
            </a:endParaRPr>
          </a:p>
          <a:p>
            <a:pPr algn="just" marL="223520" marR="1981200" indent="-211454">
              <a:lnSpc>
                <a:spcPct val="150000"/>
              </a:lnSpc>
              <a:buChar char="•"/>
              <a:tabLst>
                <a:tab pos="227329" algn="l"/>
              </a:tabLst>
            </a:pPr>
            <a:r>
              <a:rPr dirty="0" sz="1100">
                <a:latin typeface="Arial MT"/>
                <a:cs typeface="Arial MT"/>
              </a:rPr>
              <a:t>L900</a:t>
            </a:r>
            <a:r>
              <a:rPr dirty="0" sz="1100">
                <a:latin typeface="Microsoft YaHei"/>
                <a:cs typeface="Microsoft YaHei"/>
              </a:rPr>
              <a:t>测试路线是</a:t>
            </a:r>
            <a:r>
              <a:rPr dirty="0" sz="1100" spc="-10">
                <a:latin typeface="Arial MT"/>
                <a:cs typeface="Arial MT"/>
              </a:rPr>
              <a:t>L1800</a:t>
            </a:r>
            <a:r>
              <a:rPr dirty="0" sz="1100" spc="-5">
                <a:latin typeface="Microsoft YaHei"/>
                <a:cs typeface="Microsoft YaHei"/>
              </a:rPr>
              <a:t>路线子集，站点比例：</a:t>
            </a:r>
            <a:r>
              <a:rPr dirty="0" sz="1100" spc="-50">
                <a:latin typeface="Microsoft YaHei"/>
                <a:cs typeface="Microsoft YaHei"/>
              </a:rPr>
              <a:t> </a:t>
            </a:r>
            <a:r>
              <a:rPr dirty="0" sz="1100" spc="-50">
                <a:latin typeface="Microsoft YaHei"/>
                <a:cs typeface="Microsoft YaHei"/>
              </a:rPr>
              <a:t>	</a:t>
            </a:r>
            <a:r>
              <a:rPr dirty="0" sz="1100" spc="-25">
                <a:latin typeface="Arial MT"/>
                <a:cs typeface="Arial MT"/>
              </a:rPr>
              <a:t>5:8</a:t>
            </a:r>
            <a:endParaRPr sz="1100">
              <a:latin typeface="Arial MT"/>
              <a:cs typeface="Arial MT"/>
            </a:endParaRPr>
          </a:p>
          <a:p>
            <a:pPr algn="just" marL="3485515" marR="5080">
              <a:lnSpc>
                <a:spcPct val="100000"/>
              </a:lnSpc>
              <a:spcBef>
                <a:spcPts val="130"/>
              </a:spcBef>
            </a:pPr>
            <a:r>
              <a:rPr dirty="0" sz="1100" spc="-10">
                <a:latin typeface="Arial MT"/>
                <a:cs typeface="Arial MT"/>
              </a:rPr>
              <a:t>L1800</a:t>
            </a:r>
            <a:r>
              <a:rPr dirty="0" sz="1100" spc="-25">
                <a:latin typeface="Microsoft YaHei"/>
                <a:cs typeface="Microsoft YaHei"/>
              </a:rPr>
              <a:t>拉网起于“华师一附中新校区”，止于“江夏大道与汤逊湖北路交叉</a:t>
            </a:r>
            <a:r>
              <a:rPr dirty="0" sz="1100" spc="-20">
                <a:latin typeface="Microsoft YaHei"/>
                <a:cs typeface="Microsoft YaHei"/>
              </a:rPr>
              <a:t>口”，接入</a:t>
            </a:r>
            <a:r>
              <a:rPr dirty="0" sz="1100" spc="-10">
                <a:latin typeface="Arial MT"/>
                <a:cs typeface="Arial MT"/>
              </a:rPr>
              <a:t>38~41</a:t>
            </a:r>
            <a:r>
              <a:rPr dirty="0" sz="1100" spc="-20">
                <a:latin typeface="Microsoft YaHei"/>
                <a:cs typeface="Microsoft YaHei"/>
              </a:rPr>
              <a:t>个</a:t>
            </a:r>
            <a:r>
              <a:rPr dirty="0" sz="1100" spc="-20">
                <a:latin typeface="Arial MT"/>
                <a:cs typeface="Arial MT"/>
              </a:rPr>
              <a:t>NR</a:t>
            </a:r>
            <a:r>
              <a:rPr dirty="0" sz="1100" spc="-50">
                <a:latin typeface="Microsoft YaHei"/>
                <a:cs typeface="Microsoft YaHei"/>
              </a:rPr>
              <a:t>小区</a:t>
            </a:r>
            <a:endParaRPr sz="1100">
              <a:latin typeface="Microsoft YaHei"/>
              <a:cs typeface="Microsoft YaHei"/>
            </a:endParaRPr>
          </a:p>
          <a:p>
            <a:pPr>
              <a:lnSpc>
                <a:spcPct val="100000"/>
              </a:lnSpc>
              <a:spcBef>
                <a:spcPts val="430"/>
              </a:spcBef>
            </a:pPr>
            <a:endParaRPr sz="1100">
              <a:latin typeface="Microsoft YaHei"/>
              <a:cs typeface="Microsoft YaHei"/>
            </a:endParaRPr>
          </a:p>
          <a:p>
            <a:pPr marL="3431540" marR="94615">
              <a:lnSpc>
                <a:spcPct val="100000"/>
              </a:lnSpc>
              <a:spcBef>
                <a:spcPts val="5"/>
              </a:spcBef>
            </a:pPr>
            <a:r>
              <a:rPr dirty="0" sz="1100" spc="-10">
                <a:latin typeface="Arial MT"/>
                <a:cs typeface="Arial MT"/>
              </a:rPr>
              <a:t>L900</a:t>
            </a:r>
            <a:r>
              <a:rPr dirty="0" sz="1100" spc="-25">
                <a:latin typeface="Microsoft YaHei"/>
                <a:cs typeface="Microsoft YaHei"/>
              </a:rPr>
              <a:t>拉网起于“嘉铭激光”，止于“中国普天车</a:t>
            </a:r>
            <a:r>
              <a:rPr dirty="0" sz="1100" spc="-20">
                <a:latin typeface="Microsoft YaHei"/>
                <a:cs typeface="Microsoft YaHei"/>
              </a:rPr>
              <a:t>间大楼”，接入</a:t>
            </a:r>
            <a:r>
              <a:rPr dirty="0" sz="1100" spc="-10">
                <a:latin typeface="Arial MT"/>
                <a:cs typeface="Arial MT"/>
              </a:rPr>
              <a:t>15</a:t>
            </a:r>
            <a:r>
              <a:rPr dirty="0" sz="1100" spc="-20">
                <a:latin typeface="Microsoft YaHei"/>
                <a:cs typeface="Microsoft YaHei"/>
              </a:rPr>
              <a:t>个</a:t>
            </a:r>
            <a:r>
              <a:rPr dirty="0" sz="1100" spc="-25">
                <a:latin typeface="Arial MT"/>
                <a:cs typeface="Arial MT"/>
              </a:rPr>
              <a:t>NR</a:t>
            </a:r>
            <a:r>
              <a:rPr dirty="0" sz="1100" spc="-35">
                <a:latin typeface="Microsoft YaHei"/>
                <a:cs typeface="Microsoft YaHei"/>
              </a:rPr>
              <a:t>小区</a:t>
            </a:r>
            <a:endParaRPr sz="1100">
              <a:latin typeface="Microsoft YaHei"/>
              <a:cs typeface="Microsoft YaHei"/>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2420" y="162149"/>
            <a:ext cx="3413760" cy="513080"/>
          </a:xfrm>
          <a:prstGeom prst="rect"/>
        </p:spPr>
        <p:txBody>
          <a:bodyPr wrap="square" lIns="0" tIns="12065" rIns="0" bIns="0" rtlCol="0" vert="horz">
            <a:spAutoFit/>
          </a:bodyPr>
          <a:lstStyle/>
          <a:p>
            <a:pPr marL="12700">
              <a:lnSpc>
                <a:spcPct val="100000"/>
              </a:lnSpc>
              <a:spcBef>
                <a:spcPts val="95"/>
              </a:spcBef>
            </a:pPr>
            <a:r>
              <a:rPr dirty="0" spc="-80"/>
              <a:t>无线测试-室外覆盖</a:t>
            </a:r>
          </a:p>
        </p:txBody>
      </p:sp>
      <p:sp>
        <p:nvSpPr>
          <p:cNvPr id="3" name="object 3" descr=""/>
          <p:cNvSpPr/>
          <p:nvPr/>
        </p:nvSpPr>
        <p:spPr>
          <a:xfrm>
            <a:off x="151066" y="3493770"/>
            <a:ext cx="8599170" cy="1454785"/>
          </a:xfrm>
          <a:custGeom>
            <a:avLst/>
            <a:gdLst/>
            <a:ahLst/>
            <a:cxnLst/>
            <a:rect l="l" t="t" r="r" b="b"/>
            <a:pathLst>
              <a:path w="8599170" h="1454785">
                <a:moveTo>
                  <a:pt x="0" y="0"/>
                </a:moveTo>
                <a:lnTo>
                  <a:pt x="8598573" y="0"/>
                </a:lnTo>
                <a:lnTo>
                  <a:pt x="8598573" y="1454238"/>
                </a:lnTo>
                <a:lnTo>
                  <a:pt x="0" y="1454238"/>
                </a:lnTo>
                <a:lnTo>
                  <a:pt x="0" y="0"/>
                </a:lnTo>
                <a:close/>
              </a:path>
            </a:pathLst>
          </a:custGeom>
          <a:ln w="9525">
            <a:solidFill>
              <a:srgbClr val="FF0000"/>
            </a:solidFill>
            <a:prstDash val="sysDash"/>
          </a:ln>
        </p:spPr>
        <p:txBody>
          <a:bodyPr wrap="square" lIns="0" tIns="0" rIns="0" bIns="0" rtlCol="0"/>
          <a:lstStyle/>
          <a:p/>
        </p:txBody>
      </p:sp>
      <p:sp>
        <p:nvSpPr>
          <p:cNvPr id="4" name="object 4" descr=""/>
          <p:cNvSpPr txBox="1"/>
          <p:nvPr/>
        </p:nvSpPr>
        <p:spPr>
          <a:xfrm>
            <a:off x="206946" y="3568700"/>
            <a:ext cx="1399540" cy="208279"/>
          </a:xfrm>
          <a:prstGeom prst="rect">
            <a:avLst/>
          </a:prstGeom>
        </p:spPr>
        <p:txBody>
          <a:bodyPr wrap="square" lIns="0" tIns="12700" rIns="0" bIns="0" rtlCol="0" vert="horz">
            <a:spAutoFit/>
          </a:bodyPr>
          <a:lstStyle/>
          <a:p>
            <a:pPr marL="12700">
              <a:lnSpc>
                <a:spcPct val="100000"/>
              </a:lnSpc>
              <a:spcBef>
                <a:spcPts val="100"/>
              </a:spcBef>
            </a:pPr>
            <a:r>
              <a:rPr dirty="0" sz="1200" spc="-10">
                <a:latin typeface="SimSun"/>
                <a:cs typeface="SimSun"/>
              </a:rPr>
              <a:t>拉网覆盖测试结论：</a:t>
            </a:r>
            <a:endParaRPr sz="1200">
              <a:latin typeface="SimSun"/>
              <a:cs typeface="SimSun"/>
            </a:endParaRPr>
          </a:p>
        </p:txBody>
      </p:sp>
      <p:sp>
        <p:nvSpPr>
          <p:cNvPr id="5" name="object 5" descr=""/>
          <p:cNvSpPr txBox="1"/>
          <p:nvPr/>
        </p:nvSpPr>
        <p:spPr>
          <a:xfrm>
            <a:off x="206946" y="3843020"/>
            <a:ext cx="8486775" cy="208279"/>
          </a:xfrm>
          <a:prstGeom prst="rect">
            <a:avLst/>
          </a:prstGeom>
        </p:spPr>
        <p:txBody>
          <a:bodyPr wrap="square" lIns="0" tIns="12700" rIns="0" bIns="0" rtlCol="0" vert="horz">
            <a:spAutoFit/>
          </a:bodyPr>
          <a:lstStyle/>
          <a:p>
            <a:pPr marL="227329" indent="-214629">
              <a:lnSpc>
                <a:spcPct val="100000"/>
              </a:lnSpc>
              <a:spcBef>
                <a:spcPts val="100"/>
              </a:spcBef>
              <a:buChar char="•"/>
              <a:tabLst>
                <a:tab pos="227329" algn="l"/>
              </a:tabLst>
            </a:pPr>
            <a:r>
              <a:rPr dirty="0" sz="1200">
                <a:latin typeface="Arial MT"/>
                <a:cs typeface="Arial MT"/>
              </a:rPr>
              <a:t>NR</a:t>
            </a:r>
            <a:r>
              <a:rPr dirty="0" sz="1200" spc="260">
                <a:latin typeface="Arial MT"/>
                <a:cs typeface="Arial MT"/>
              </a:rPr>
              <a:t> </a:t>
            </a:r>
            <a:r>
              <a:rPr dirty="0" sz="1200" spc="-10">
                <a:latin typeface="Arial MT"/>
                <a:cs typeface="Arial MT"/>
              </a:rPr>
              <a:t>200W</a:t>
            </a:r>
            <a:r>
              <a:rPr dirty="0" sz="1200">
                <a:latin typeface="SimSun"/>
                <a:cs typeface="SimSun"/>
              </a:rPr>
              <a:t>窄波束相比</a:t>
            </a:r>
            <a:r>
              <a:rPr dirty="0" sz="1200">
                <a:latin typeface="Arial MT"/>
                <a:cs typeface="Arial MT"/>
              </a:rPr>
              <a:t>LTE</a:t>
            </a:r>
            <a:r>
              <a:rPr dirty="0" sz="1200" spc="260">
                <a:latin typeface="Arial MT"/>
                <a:cs typeface="Arial MT"/>
              </a:rPr>
              <a:t> </a:t>
            </a:r>
            <a:r>
              <a:rPr dirty="0" sz="1200">
                <a:latin typeface="Arial MT"/>
                <a:cs typeface="Arial MT"/>
              </a:rPr>
              <a:t>LINK</a:t>
            </a:r>
            <a:r>
              <a:rPr dirty="0" sz="1200">
                <a:latin typeface="SimSun"/>
                <a:cs typeface="SimSun"/>
              </a:rPr>
              <a:t>，</a:t>
            </a:r>
            <a:r>
              <a:rPr dirty="0" sz="1200">
                <a:latin typeface="Arial MT"/>
                <a:cs typeface="Arial MT"/>
              </a:rPr>
              <a:t>NR</a:t>
            </a:r>
            <a:r>
              <a:rPr dirty="0" sz="1200" spc="260">
                <a:latin typeface="Arial MT"/>
                <a:cs typeface="Arial MT"/>
              </a:rPr>
              <a:t> </a:t>
            </a:r>
            <a:r>
              <a:rPr dirty="0" sz="1200">
                <a:latin typeface="Arial MT"/>
                <a:cs typeface="Arial MT"/>
              </a:rPr>
              <a:t>SSB</a:t>
            </a:r>
            <a:r>
              <a:rPr dirty="0" sz="1200" spc="270">
                <a:latin typeface="Arial MT"/>
                <a:cs typeface="Arial MT"/>
              </a:rPr>
              <a:t> </a:t>
            </a:r>
            <a:r>
              <a:rPr dirty="0" sz="1200">
                <a:latin typeface="Arial MT"/>
                <a:cs typeface="Arial MT"/>
              </a:rPr>
              <a:t>RSRP</a:t>
            </a:r>
            <a:r>
              <a:rPr dirty="0" sz="1200" spc="110">
                <a:latin typeface="Arial MT"/>
                <a:cs typeface="Arial MT"/>
              </a:rPr>
              <a:t> -</a:t>
            </a:r>
            <a:r>
              <a:rPr dirty="0" sz="1200" spc="-10">
                <a:latin typeface="Arial MT"/>
                <a:cs typeface="Arial MT"/>
              </a:rPr>
              <a:t>92dBm</a:t>
            </a:r>
            <a:r>
              <a:rPr dirty="0" sz="1200">
                <a:latin typeface="SimSun"/>
                <a:cs typeface="SimSun"/>
              </a:rPr>
              <a:t>占比</a:t>
            </a:r>
            <a:r>
              <a:rPr dirty="0" sz="1200">
                <a:latin typeface="Arial MT"/>
                <a:cs typeface="Arial MT"/>
              </a:rPr>
              <a:t>5%</a:t>
            </a:r>
            <a:r>
              <a:rPr dirty="0" sz="1200">
                <a:latin typeface="SimSun"/>
                <a:cs typeface="SimSun"/>
              </a:rPr>
              <a:t>，</a:t>
            </a:r>
            <a:r>
              <a:rPr dirty="0" sz="1200">
                <a:latin typeface="Arial MT"/>
                <a:cs typeface="Arial MT"/>
              </a:rPr>
              <a:t>LTE</a:t>
            </a:r>
            <a:r>
              <a:rPr dirty="0" sz="1200" spc="260">
                <a:latin typeface="Arial MT"/>
                <a:cs typeface="Arial MT"/>
              </a:rPr>
              <a:t> </a:t>
            </a:r>
            <a:r>
              <a:rPr dirty="0" sz="1200">
                <a:latin typeface="Arial MT"/>
                <a:cs typeface="Arial MT"/>
              </a:rPr>
              <a:t>LINK</a:t>
            </a:r>
            <a:r>
              <a:rPr dirty="0" sz="1200" spc="265">
                <a:latin typeface="Arial MT"/>
                <a:cs typeface="Arial MT"/>
              </a:rPr>
              <a:t> </a:t>
            </a:r>
            <a:r>
              <a:rPr dirty="0" sz="1200">
                <a:latin typeface="Arial MT"/>
                <a:cs typeface="Arial MT"/>
              </a:rPr>
              <a:t>RSCP</a:t>
            </a:r>
            <a:r>
              <a:rPr dirty="0" sz="1200" spc="110">
                <a:latin typeface="Arial MT"/>
                <a:cs typeface="Arial MT"/>
              </a:rPr>
              <a:t> -</a:t>
            </a:r>
            <a:r>
              <a:rPr dirty="0" sz="1200" spc="-10">
                <a:latin typeface="Arial MT"/>
                <a:cs typeface="Arial MT"/>
              </a:rPr>
              <a:t>88dBm</a:t>
            </a:r>
            <a:r>
              <a:rPr dirty="0" sz="1200">
                <a:latin typeface="SimSun"/>
                <a:cs typeface="SimSun"/>
              </a:rPr>
              <a:t>占比</a:t>
            </a:r>
            <a:r>
              <a:rPr dirty="0" sz="1200">
                <a:latin typeface="Arial MT"/>
                <a:cs typeface="Arial MT"/>
              </a:rPr>
              <a:t>5%</a:t>
            </a:r>
            <a:r>
              <a:rPr dirty="0" sz="1200">
                <a:latin typeface="SimSun"/>
                <a:cs typeface="SimSun"/>
              </a:rPr>
              <a:t>，相差</a:t>
            </a:r>
            <a:r>
              <a:rPr dirty="0" sz="1200" spc="-10">
                <a:latin typeface="Arial MT"/>
                <a:cs typeface="Arial MT"/>
              </a:rPr>
              <a:t>4dB</a:t>
            </a:r>
            <a:r>
              <a:rPr dirty="0" sz="1200">
                <a:latin typeface="SimSun"/>
                <a:cs typeface="SimSun"/>
              </a:rPr>
              <a:t>。大于</a:t>
            </a:r>
            <a:r>
              <a:rPr dirty="0" sz="1200" spc="-50">
                <a:latin typeface="Arial MT"/>
                <a:cs typeface="Arial MT"/>
              </a:rPr>
              <a:t>-</a:t>
            </a:r>
            <a:endParaRPr sz="1200">
              <a:latin typeface="Arial MT"/>
              <a:cs typeface="Arial MT"/>
            </a:endParaRPr>
          </a:p>
        </p:txBody>
      </p:sp>
      <p:sp>
        <p:nvSpPr>
          <p:cNvPr id="6" name="object 6" descr=""/>
          <p:cNvSpPr txBox="1"/>
          <p:nvPr/>
        </p:nvSpPr>
        <p:spPr>
          <a:xfrm>
            <a:off x="421830" y="4117340"/>
            <a:ext cx="3812540" cy="208279"/>
          </a:xfrm>
          <a:prstGeom prst="rect">
            <a:avLst/>
          </a:prstGeom>
        </p:spPr>
        <p:txBody>
          <a:bodyPr wrap="square" lIns="0" tIns="12700" rIns="0" bIns="0" rtlCol="0" vert="horz">
            <a:spAutoFit/>
          </a:bodyPr>
          <a:lstStyle/>
          <a:p>
            <a:pPr marL="12700">
              <a:lnSpc>
                <a:spcPct val="100000"/>
              </a:lnSpc>
              <a:spcBef>
                <a:spcPts val="100"/>
              </a:spcBef>
            </a:pPr>
            <a:r>
              <a:rPr dirty="0" sz="1200" spc="-10">
                <a:latin typeface="Arial MT"/>
                <a:cs typeface="Arial MT"/>
              </a:rPr>
              <a:t>78dBm</a:t>
            </a:r>
            <a:r>
              <a:rPr dirty="0" sz="1200" spc="-5">
                <a:latin typeface="SimSun"/>
                <a:cs typeface="SimSun"/>
              </a:rPr>
              <a:t>点位，</a:t>
            </a:r>
            <a:r>
              <a:rPr dirty="0" sz="1200" spc="-10">
                <a:latin typeface="Arial MT"/>
                <a:cs typeface="Arial MT"/>
              </a:rPr>
              <a:t>NR</a:t>
            </a:r>
            <a:r>
              <a:rPr dirty="0" sz="1200">
                <a:latin typeface="SimSun"/>
                <a:cs typeface="SimSun"/>
              </a:rPr>
              <a:t>窄波速相比</a:t>
            </a:r>
            <a:r>
              <a:rPr dirty="0" sz="1200" spc="-20">
                <a:latin typeface="Arial MT"/>
                <a:cs typeface="Arial MT"/>
              </a:rPr>
              <a:t>LTE</a:t>
            </a:r>
            <a:r>
              <a:rPr dirty="0" sz="1200" spc="10">
                <a:latin typeface="Arial MT"/>
                <a:cs typeface="Arial MT"/>
              </a:rPr>
              <a:t> </a:t>
            </a:r>
            <a:r>
              <a:rPr dirty="0" sz="1200" spc="-10">
                <a:latin typeface="Arial MT"/>
                <a:cs typeface="Arial MT"/>
              </a:rPr>
              <a:t>LINK</a:t>
            </a:r>
            <a:r>
              <a:rPr dirty="0" sz="1200" spc="-10">
                <a:latin typeface="SimSun"/>
                <a:cs typeface="SimSun"/>
              </a:rPr>
              <a:t>增多，优势明显；</a:t>
            </a:r>
            <a:endParaRPr sz="1200">
              <a:latin typeface="SimSun"/>
              <a:cs typeface="SimSun"/>
            </a:endParaRPr>
          </a:p>
        </p:txBody>
      </p:sp>
      <p:sp>
        <p:nvSpPr>
          <p:cNvPr id="7" name="object 7" descr=""/>
          <p:cNvSpPr txBox="1"/>
          <p:nvPr/>
        </p:nvSpPr>
        <p:spPr>
          <a:xfrm>
            <a:off x="316377" y="1181233"/>
            <a:ext cx="103505" cy="193040"/>
          </a:xfrm>
          <a:prstGeom prst="rect">
            <a:avLst/>
          </a:prstGeom>
        </p:spPr>
        <p:txBody>
          <a:bodyPr wrap="square" lIns="0" tIns="12065" rIns="0" bIns="0" rtlCol="0" vert="horz">
            <a:spAutoFit/>
          </a:bodyPr>
          <a:lstStyle/>
          <a:p>
            <a:pPr marL="12700">
              <a:lnSpc>
                <a:spcPct val="100000"/>
              </a:lnSpc>
              <a:spcBef>
                <a:spcPts val="95"/>
              </a:spcBef>
            </a:pPr>
            <a:r>
              <a:rPr dirty="0" sz="1100" spc="-50">
                <a:solidFill>
                  <a:srgbClr val="C00000"/>
                </a:solidFill>
                <a:latin typeface="Arial MT"/>
                <a:cs typeface="Arial MT"/>
              </a:rPr>
              <a:t>1</a:t>
            </a:r>
            <a:endParaRPr sz="1100">
              <a:latin typeface="Arial MT"/>
              <a:cs typeface="Arial MT"/>
            </a:endParaRPr>
          </a:p>
        </p:txBody>
      </p:sp>
      <p:sp>
        <p:nvSpPr>
          <p:cNvPr id="8" name="object 8" descr=""/>
          <p:cNvSpPr txBox="1"/>
          <p:nvPr/>
        </p:nvSpPr>
        <p:spPr>
          <a:xfrm>
            <a:off x="406748" y="1185830"/>
            <a:ext cx="2354580" cy="2149475"/>
          </a:xfrm>
          <a:prstGeom prst="rect">
            <a:avLst/>
          </a:prstGeom>
        </p:spPr>
        <p:txBody>
          <a:bodyPr wrap="square" lIns="0" tIns="7620" rIns="0" bIns="0" rtlCol="0" vert="horz">
            <a:spAutoFit/>
          </a:bodyPr>
          <a:lstStyle/>
          <a:p>
            <a:pPr>
              <a:lnSpc>
                <a:spcPct val="100000"/>
              </a:lnSpc>
              <a:spcBef>
                <a:spcPts val="60"/>
              </a:spcBef>
            </a:pPr>
            <a:r>
              <a:rPr dirty="0" sz="1100" spc="-20">
                <a:solidFill>
                  <a:srgbClr val="C00000"/>
                </a:solidFill>
                <a:latin typeface="Microsoft YaHei"/>
                <a:cs typeface="Microsoft YaHei"/>
              </a:rPr>
              <a:t>、</a:t>
            </a:r>
            <a:r>
              <a:rPr dirty="0" sz="1100">
                <a:solidFill>
                  <a:srgbClr val="C00000"/>
                </a:solidFill>
                <a:latin typeface="Arial MT"/>
                <a:cs typeface="Arial MT"/>
              </a:rPr>
              <a:t>NR</a:t>
            </a:r>
            <a:r>
              <a:rPr dirty="0" sz="1100" spc="55">
                <a:solidFill>
                  <a:srgbClr val="C00000"/>
                </a:solidFill>
                <a:latin typeface="Arial MT"/>
                <a:cs typeface="Arial MT"/>
              </a:rPr>
              <a:t> </a:t>
            </a:r>
            <a:r>
              <a:rPr dirty="0" sz="1100" spc="-10">
                <a:solidFill>
                  <a:srgbClr val="C00000"/>
                </a:solidFill>
                <a:latin typeface="Arial MT"/>
                <a:cs typeface="Arial MT"/>
              </a:rPr>
              <a:t>200W</a:t>
            </a:r>
            <a:r>
              <a:rPr dirty="0" sz="1100" spc="-20">
                <a:solidFill>
                  <a:srgbClr val="C00000"/>
                </a:solidFill>
                <a:latin typeface="Microsoft YaHei"/>
                <a:cs typeface="Microsoft YaHei"/>
              </a:rPr>
              <a:t>窄波束与</a:t>
            </a:r>
            <a:r>
              <a:rPr dirty="0" sz="1100" spc="-10">
                <a:solidFill>
                  <a:srgbClr val="C00000"/>
                </a:solidFill>
                <a:latin typeface="Arial MT"/>
                <a:cs typeface="Arial MT"/>
              </a:rPr>
              <a:t>LTE</a:t>
            </a:r>
            <a:r>
              <a:rPr dirty="0" sz="1100" spc="-35">
                <a:solidFill>
                  <a:srgbClr val="C00000"/>
                </a:solidFill>
                <a:latin typeface="Microsoft YaHei"/>
                <a:cs typeface="Microsoft YaHei"/>
              </a:rPr>
              <a:t>对比</a:t>
            </a:r>
            <a:endParaRPr sz="1100">
              <a:latin typeface="Microsoft YaHei"/>
              <a:cs typeface="Microsoft YaHei"/>
            </a:endParaRPr>
          </a:p>
          <a:p>
            <a:pPr>
              <a:lnSpc>
                <a:spcPct val="100000"/>
              </a:lnSpc>
            </a:pPr>
            <a:endParaRPr sz="1100">
              <a:latin typeface="Microsoft YaHei"/>
              <a:cs typeface="Microsoft YaHei"/>
            </a:endParaRPr>
          </a:p>
          <a:p>
            <a:pPr>
              <a:lnSpc>
                <a:spcPct val="100000"/>
              </a:lnSpc>
            </a:pPr>
            <a:endParaRPr sz="1100">
              <a:latin typeface="Microsoft YaHei"/>
              <a:cs typeface="Microsoft YaHei"/>
            </a:endParaRPr>
          </a:p>
          <a:p>
            <a:pPr>
              <a:lnSpc>
                <a:spcPct val="100000"/>
              </a:lnSpc>
            </a:pPr>
            <a:endParaRPr sz="1100">
              <a:latin typeface="Microsoft YaHei"/>
              <a:cs typeface="Microsoft YaHei"/>
            </a:endParaRPr>
          </a:p>
          <a:p>
            <a:pPr>
              <a:lnSpc>
                <a:spcPct val="100000"/>
              </a:lnSpc>
            </a:pPr>
            <a:endParaRPr sz="1100">
              <a:latin typeface="Microsoft YaHei"/>
              <a:cs typeface="Microsoft YaHei"/>
            </a:endParaRPr>
          </a:p>
          <a:p>
            <a:pPr>
              <a:lnSpc>
                <a:spcPct val="100000"/>
              </a:lnSpc>
            </a:pPr>
            <a:endParaRPr sz="1100">
              <a:latin typeface="Microsoft YaHei"/>
              <a:cs typeface="Microsoft YaHei"/>
            </a:endParaRPr>
          </a:p>
          <a:p>
            <a:pPr>
              <a:lnSpc>
                <a:spcPct val="100000"/>
              </a:lnSpc>
            </a:pPr>
            <a:endParaRPr sz="1100">
              <a:latin typeface="Microsoft YaHei"/>
              <a:cs typeface="Microsoft YaHei"/>
            </a:endParaRPr>
          </a:p>
          <a:p>
            <a:pPr>
              <a:lnSpc>
                <a:spcPct val="100000"/>
              </a:lnSpc>
              <a:spcBef>
                <a:spcPts val="740"/>
              </a:spcBef>
            </a:pPr>
            <a:endParaRPr sz="1100">
              <a:latin typeface="Microsoft YaHei"/>
              <a:cs typeface="Microsoft YaHei"/>
            </a:endParaRPr>
          </a:p>
          <a:p>
            <a:pPr marL="10795">
              <a:lnSpc>
                <a:spcPct val="100000"/>
              </a:lnSpc>
              <a:tabLst>
                <a:tab pos="280035" algn="l"/>
                <a:tab pos="622935" algn="l"/>
                <a:tab pos="949960" algn="l"/>
                <a:tab pos="1276985" algn="l"/>
                <a:tab pos="1604010" algn="l"/>
                <a:tab pos="1930400" algn="l"/>
                <a:tab pos="2257425" algn="l"/>
              </a:tabLst>
            </a:pPr>
            <a:r>
              <a:rPr dirty="0" sz="500" spc="-25">
                <a:latin typeface="Arial MT"/>
                <a:cs typeface="Arial MT"/>
              </a:rPr>
              <a:t>10</a:t>
            </a:r>
            <a:r>
              <a:rPr dirty="0" sz="500">
                <a:latin typeface="Arial MT"/>
                <a:cs typeface="Arial MT"/>
              </a:rPr>
              <a:t>	-</a:t>
            </a:r>
            <a:r>
              <a:rPr dirty="0" sz="500" spc="-25">
                <a:latin typeface="Arial MT"/>
                <a:cs typeface="Arial MT"/>
              </a:rPr>
              <a:t>100</a:t>
            </a:r>
            <a:r>
              <a:rPr dirty="0" sz="500">
                <a:latin typeface="Arial MT"/>
                <a:cs typeface="Arial MT"/>
              </a:rPr>
              <a:t>	</a:t>
            </a:r>
            <a:r>
              <a:rPr dirty="0" sz="500" spc="-10">
                <a:latin typeface="Arial MT"/>
                <a:cs typeface="Arial MT"/>
              </a:rPr>
              <a:t>-</a:t>
            </a:r>
            <a:r>
              <a:rPr dirty="0" sz="500" spc="-25">
                <a:latin typeface="Arial MT"/>
                <a:cs typeface="Arial MT"/>
              </a:rPr>
              <a:t>90</a:t>
            </a:r>
            <a:r>
              <a:rPr dirty="0" sz="500">
                <a:latin typeface="Arial MT"/>
                <a:cs typeface="Arial MT"/>
              </a:rPr>
              <a:t>	</a:t>
            </a:r>
            <a:r>
              <a:rPr dirty="0" sz="500" spc="-10">
                <a:latin typeface="Arial MT"/>
                <a:cs typeface="Arial MT"/>
              </a:rPr>
              <a:t>-</a:t>
            </a:r>
            <a:r>
              <a:rPr dirty="0" sz="500" spc="-25">
                <a:latin typeface="Arial MT"/>
                <a:cs typeface="Arial MT"/>
              </a:rPr>
              <a:t>80</a:t>
            </a:r>
            <a:r>
              <a:rPr dirty="0" sz="500">
                <a:latin typeface="Arial MT"/>
                <a:cs typeface="Arial MT"/>
              </a:rPr>
              <a:t>	</a:t>
            </a:r>
            <a:r>
              <a:rPr dirty="0" sz="500" spc="-10">
                <a:latin typeface="Arial MT"/>
                <a:cs typeface="Arial MT"/>
              </a:rPr>
              <a:t>-</a:t>
            </a:r>
            <a:r>
              <a:rPr dirty="0" sz="500" spc="-25">
                <a:latin typeface="Arial MT"/>
                <a:cs typeface="Arial MT"/>
              </a:rPr>
              <a:t>70</a:t>
            </a:r>
            <a:r>
              <a:rPr dirty="0" sz="500">
                <a:latin typeface="Arial MT"/>
                <a:cs typeface="Arial MT"/>
              </a:rPr>
              <a:t>	</a:t>
            </a:r>
            <a:r>
              <a:rPr dirty="0" sz="500" spc="-10">
                <a:latin typeface="Arial MT"/>
                <a:cs typeface="Arial MT"/>
              </a:rPr>
              <a:t>-</a:t>
            </a:r>
            <a:r>
              <a:rPr dirty="0" sz="500" spc="-35">
                <a:latin typeface="Arial MT"/>
                <a:cs typeface="Arial MT"/>
              </a:rPr>
              <a:t>60</a:t>
            </a:r>
            <a:r>
              <a:rPr dirty="0" sz="500">
                <a:latin typeface="Arial MT"/>
                <a:cs typeface="Arial MT"/>
              </a:rPr>
              <a:t>	</a:t>
            </a:r>
            <a:r>
              <a:rPr dirty="0" sz="500" spc="-10">
                <a:latin typeface="Arial MT"/>
                <a:cs typeface="Arial MT"/>
              </a:rPr>
              <a:t>-</a:t>
            </a:r>
            <a:r>
              <a:rPr dirty="0" sz="500" spc="-25">
                <a:latin typeface="Arial MT"/>
                <a:cs typeface="Arial MT"/>
              </a:rPr>
              <a:t>50</a:t>
            </a:r>
            <a:r>
              <a:rPr dirty="0" sz="500">
                <a:latin typeface="Arial MT"/>
                <a:cs typeface="Arial MT"/>
              </a:rPr>
              <a:t>	</a:t>
            </a:r>
            <a:r>
              <a:rPr dirty="0" sz="500" spc="-10">
                <a:latin typeface="Arial MT"/>
                <a:cs typeface="Arial MT"/>
              </a:rPr>
              <a:t>-</a:t>
            </a:r>
            <a:r>
              <a:rPr dirty="0" sz="500" spc="-25">
                <a:latin typeface="Arial MT"/>
                <a:cs typeface="Arial MT"/>
              </a:rPr>
              <a:t>40</a:t>
            </a:r>
            <a:endParaRPr sz="500">
              <a:latin typeface="Arial MT"/>
              <a:cs typeface="Arial MT"/>
            </a:endParaRPr>
          </a:p>
        </p:txBody>
      </p:sp>
      <p:grpSp>
        <p:nvGrpSpPr>
          <p:cNvPr id="9" name="object 9" descr=""/>
          <p:cNvGrpSpPr/>
          <p:nvPr/>
        </p:nvGrpSpPr>
        <p:grpSpPr>
          <a:xfrm>
            <a:off x="431009" y="1539754"/>
            <a:ext cx="26034" cy="1705610"/>
            <a:chOff x="431009" y="1539754"/>
            <a:chExt cx="26034" cy="1705610"/>
          </a:xfrm>
        </p:grpSpPr>
        <p:sp>
          <p:nvSpPr>
            <p:cNvPr id="10" name="object 10" descr=""/>
            <p:cNvSpPr/>
            <p:nvPr/>
          </p:nvSpPr>
          <p:spPr>
            <a:xfrm>
              <a:off x="433867" y="1542612"/>
              <a:ext cx="0" cy="1699260"/>
            </a:xfrm>
            <a:custGeom>
              <a:avLst/>
              <a:gdLst/>
              <a:ahLst/>
              <a:cxnLst/>
              <a:rect l="l" t="t" r="r" b="b"/>
              <a:pathLst>
                <a:path w="0" h="1699260">
                  <a:moveTo>
                    <a:pt x="0" y="1699245"/>
                  </a:moveTo>
                  <a:lnTo>
                    <a:pt x="0" y="0"/>
                  </a:lnTo>
                </a:path>
              </a:pathLst>
            </a:custGeom>
            <a:ln w="5274">
              <a:solidFill>
                <a:srgbClr val="000000"/>
              </a:solidFill>
              <a:prstDash val="dash"/>
            </a:ln>
          </p:spPr>
          <p:txBody>
            <a:bodyPr wrap="square" lIns="0" tIns="0" rIns="0" bIns="0" rtlCol="0"/>
            <a:lstStyle/>
            <a:p/>
          </p:txBody>
        </p:sp>
        <p:sp>
          <p:nvSpPr>
            <p:cNvPr id="11" name="object 11" descr=""/>
            <p:cNvSpPr/>
            <p:nvPr/>
          </p:nvSpPr>
          <p:spPr>
            <a:xfrm>
              <a:off x="431228" y="1540128"/>
              <a:ext cx="5715" cy="5080"/>
            </a:xfrm>
            <a:custGeom>
              <a:avLst/>
              <a:gdLst/>
              <a:ahLst/>
              <a:cxnLst/>
              <a:rect l="l" t="t" r="r" b="b"/>
              <a:pathLst>
                <a:path w="5715" h="5080">
                  <a:moveTo>
                    <a:pt x="5270" y="2489"/>
                  </a:moveTo>
                  <a:lnTo>
                    <a:pt x="4495" y="736"/>
                  </a:lnTo>
                  <a:lnTo>
                    <a:pt x="2628" y="0"/>
                  </a:lnTo>
                  <a:lnTo>
                    <a:pt x="762" y="736"/>
                  </a:lnTo>
                  <a:lnTo>
                    <a:pt x="0" y="2489"/>
                  </a:lnTo>
                  <a:lnTo>
                    <a:pt x="762" y="4241"/>
                  </a:lnTo>
                  <a:lnTo>
                    <a:pt x="2628" y="4978"/>
                  </a:lnTo>
                  <a:lnTo>
                    <a:pt x="4495" y="4241"/>
                  </a:lnTo>
                  <a:lnTo>
                    <a:pt x="5270" y="2489"/>
                  </a:lnTo>
                  <a:close/>
                </a:path>
              </a:pathLst>
            </a:custGeom>
            <a:solidFill>
              <a:srgbClr val="000000"/>
            </a:solidFill>
          </p:spPr>
          <p:txBody>
            <a:bodyPr wrap="square" lIns="0" tIns="0" rIns="0" bIns="0" rtlCol="0"/>
            <a:lstStyle/>
            <a:p/>
          </p:txBody>
        </p:sp>
        <p:sp>
          <p:nvSpPr>
            <p:cNvPr id="12" name="object 12" descr=""/>
            <p:cNvSpPr/>
            <p:nvPr/>
          </p:nvSpPr>
          <p:spPr>
            <a:xfrm>
              <a:off x="433866" y="1542633"/>
              <a:ext cx="20320" cy="1699260"/>
            </a:xfrm>
            <a:custGeom>
              <a:avLst/>
              <a:gdLst/>
              <a:ahLst/>
              <a:cxnLst/>
              <a:rect l="l" t="t" r="r" b="b"/>
              <a:pathLst>
                <a:path w="20320" h="1699260">
                  <a:moveTo>
                    <a:pt x="0" y="1699234"/>
                  </a:moveTo>
                  <a:lnTo>
                    <a:pt x="20015" y="1699234"/>
                  </a:lnTo>
                </a:path>
                <a:path w="20320" h="1699260">
                  <a:moveTo>
                    <a:pt x="0" y="1525335"/>
                  </a:moveTo>
                  <a:lnTo>
                    <a:pt x="20015" y="1525335"/>
                  </a:lnTo>
                </a:path>
                <a:path w="20320" h="1699260">
                  <a:moveTo>
                    <a:pt x="0" y="1356406"/>
                  </a:moveTo>
                  <a:lnTo>
                    <a:pt x="20015" y="1356406"/>
                  </a:lnTo>
                </a:path>
                <a:path w="20320" h="1699260">
                  <a:moveTo>
                    <a:pt x="0" y="1187476"/>
                  </a:moveTo>
                  <a:lnTo>
                    <a:pt x="20015" y="1187476"/>
                  </a:lnTo>
                </a:path>
                <a:path w="20320" h="1699260">
                  <a:moveTo>
                    <a:pt x="0" y="1018546"/>
                  </a:moveTo>
                  <a:lnTo>
                    <a:pt x="20015" y="1018546"/>
                  </a:lnTo>
                </a:path>
                <a:path w="20320" h="1699260">
                  <a:moveTo>
                    <a:pt x="0" y="849617"/>
                  </a:moveTo>
                  <a:lnTo>
                    <a:pt x="20015" y="849617"/>
                  </a:lnTo>
                </a:path>
                <a:path w="20320" h="1699260">
                  <a:moveTo>
                    <a:pt x="0" y="675718"/>
                  </a:moveTo>
                  <a:lnTo>
                    <a:pt x="20015" y="675718"/>
                  </a:lnTo>
                </a:path>
                <a:path w="20320" h="1699260">
                  <a:moveTo>
                    <a:pt x="0" y="506789"/>
                  </a:moveTo>
                  <a:lnTo>
                    <a:pt x="20015" y="506789"/>
                  </a:lnTo>
                </a:path>
                <a:path w="20320" h="1699260">
                  <a:moveTo>
                    <a:pt x="0" y="337859"/>
                  </a:moveTo>
                  <a:lnTo>
                    <a:pt x="20015" y="337859"/>
                  </a:lnTo>
                </a:path>
                <a:path w="20320" h="1699260">
                  <a:moveTo>
                    <a:pt x="0" y="168929"/>
                  </a:moveTo>
                  <a:lnTo>
                    <a:pt x="20015" y="168929"/>
                  </a:lnTo>
                </a:path>
                <a:path w="20320" h="1699260">
                  <a:moveTo>
                    <a:pt x="0" y="0"/>
                  </a:moveTo>
                  <a:lnTo>
                    <a:pt x="20015" y="0"/>
                  </a:lnTo>
                </a:path>
              </a:pathLst>
            </a:custGeom>
            <a:ln w="4968">
              <a:solidFill>
                <a:srgbClr val="000000"/>
              </a:solidFill>
              <a:prstDash val="dash"/>
            </a:ln>
          </p:spPr>
          <p:txBody>
            <a:bodyPr wrap="square" lIns="0" tIns="0" rIns="0" bIns="0" rtlCol="0"/>
            <a:lstStyle/>
            <a:p/>
          </p:txBody>
        </p:sp>
        <p:sp>
          <p:nvSpPr>
            <p:cNvPr id="13" name="object 13" descr=""/>
            <p:cNvSpPr/>
            <p:nvPr/>
          </p:nvSpPr>
          <p:spPr>
            <a:xfrm>
              <a:off x="433866" y="1542634"/>
              <a:ext cx="20320" cy="1699260"/>
            </a:xfrm>
            <a:custGeom>
              <a:avLst/>
              <a:gdLst/>
              <a:ahLst/>
              <a:cxnLst/>
              <a:rect l="l" t="t" r="r" b="b"/>
              <a:pathLst>
                <a:path w="20320" h="1699260">
                  <a:moveTo>
                    <a:pt x="0" y="0"/>
                  </a:moveTo>
                  <a:lnTo>
                    <a:pt x="20015" y="0"/>
                  </a:lnTo>
                </a:path>
                <a:path w="20320" h="1699260">
                  <a:moveTo>
                    <a:pt x="0" y="1699246"/>
                  </a:moveTo>
                  <a:lnTo>
                    <a:pt x="20015" y="1699246"/>
                  </a:lnTo>
                </a:path>
              </a:pathLst>
            </a:custGeom>
            <a:ln w="4968">
              <a:solidFill>
                <a:srgbClr val="000000"/>
              </a:solidFill>
            </a:ln>
          </p:spPr>
          <p:txBody>
            <a:bodyPr wrap="square" lIns="0" tIns="0" rIns="0" bIns="0" rtlCol="0"/>
            <a:lstStyle/>
            <a:p/>
          </p:txBody>
        </p:sp>
        <p:sp>
          <p:nvSpPr>
            <p:cNvPr id="14" name="object 14" descr=""/>
            <p:cNvSpPr/>
            <p:nvPr/>
          </p:nvSpPr>
          <p:spPr>
            <a:xfrm>
              <a:off x="433866" y="1542636"/>
              <a:ext cx="0" cy="1699260"/>
            </a:xfrm>
            <a:custGeom>
              <a:avLst/>
              <a:gdLst/>
              <a:ahLst/>
              <a:cxnLst/>
              <a:rect l="l" t="t" r="r" b="b"/>
              <a:pathLst>
                <a:path w="0" h="1699260">
                  <a:moveTo>
                    <a:pt x="0" y="1699245"/>
                  </a:moveTo>
                  <a:lnTo>
                    <a:pt x="0" y="0"/>
                  </a:lnTo>
                </a:path>
              </a:pathLst>
            </a:custGeom>
            <a:ln w="5274">
              <a:solidFill>
                <a:srgbClr val="000000"/>
              </a:solidFill>
            </a:ln>
          </p:spPr>
          <p:txBody>
            <a:bodyPr wrap="square" lIns="0" tIns="0" rIns="0" bIns="0" rtlCol="0"/>
            <a:lstStyle/>
            <a:p/>
          </p:txBody>
        </p:sp>
        <p:sp>
          <p:nvSpPr>
            <p:cNvPr id="15" name="object 15" descr=""/>
            <p:cNvSpPr/>
            <p:nvPr/>
          </p:nvSpPr>
          <p:spPr>
            <a:xfrm>
              <a:off x="431229" y="1540152"/>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sp>
          <p:nvSpPr>
            <p:cNvPr id="16" name="object 16" descr=""/>
            <p:cNvSpPr/>
            <p:nvPr/>
          </p:nvSpPr>
          <p:spPr>
            <a:xfrm>
              <a:off x="433866" y="3241883"/>
              <a:ext cx="20320" cy="0"/>
            </a:xfrm>
            <a:custGeom>
              <a:avLst/>
              <a:gdLst/>
              <a:ahLst/>
              <a:cxnLst/>
              <a:rect l="l" t="t" r="r" b="b"/>
              <a:pathLst>
                <a:path w="20320" h="0">
                  <a:moveTo>
                    <a:pt x="0" y="0"/>
                  </a:moveTo>
                  <a:lnTo>
                    <a:pt x="20015" y="0"/>
                  </a:lnTo>
                </a:path>
              </a:pathLst>
            </a:custGeom>
            <a:ln w="4968">
              <a:solidFill>
                <a:srgbClr val="000000"/>
              </a:solidFill>
            </a:ln>
          </p:spPr>
          <p:txBody>
            <a:bodyPr wrap="square" lIns="0" tIns="0" rIns="0" bIns="0" rtlCol="0"/>
            <a:lstStyle/>
            <a:p/>
          </p:txBody>
        </p:sp>
        <p:sp>
          <p:nvSpPr>
            <p:cNvPr id="17" name="object 17" descr=""/>
            <p:cNvSpPr/>
            <p:nvPr/>
          </p:nvSpPr>
          <p:spPr>
            <a:xfrm>
              <a:off x="433866" y="1542638"/>
              <a:ext cx="0" cy="1699260"/>
            </a:xfrm>
            <a:custGeom>
              <a:avLst/>
              <a:gdLst/>
              <a:ahLst/>
              <a:cxnLst/>
              <a:rect l="l" t="t" r="r" b="b"/>
              <a:pathLst>
                <a:path w="0" h="1699260">
                  <a:moveTo>
                    <a:pt x="0" y="1699245"/>
                  </a:moveTo>
                  <a:lnTo>
                    <a:pt x="0" y="0"/>
                  </a:lnTo>
                </a:path>
              </a:pathLst>
            </a:custGeom>
            <a:ln w="5274">
              <a:solidFill>
                <a:srgbClr val="000000"/>
              </a:solidFill>
            </a:ln>
          </p:spPr>
          <p:txBody>
            <a:bodyPr wrap="square" lIns="0" tIns="0" rIns="0" bIns="0" rtlCol="0"/>
            <a:lstStyle/>
            <a:p/>
          </p:txBody>
        </p:sp>
        <p:sp>
          <p:nvSpPr>
            <p:cNvPr id="18" name="object 18" descr=""/>
            <p:cNvSpPr/>
            <p:nvPr/>
          </p:nvSpPr>
          <p:spPr>
            <a:xfrm>
              <a:off x="431229" y="1540154"/>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sp>
          <p:nvSpPr>
            <p:cNvPr id="19" name="object 19" descr=""/>
            <p:cNvSpPr/>
            <p:nvPr/>
          </p:nvSpPr>
          <p:spPr>
            <a:xfrm>
              <a:off x="433866" y="3217042"/>
              <a:ext cx="0" cy="25400"/>
            </a:xfrm>
            <a:custGeom>
              <a:avLst/>
              <a:gdLst/>
              <a:ahLst/>
              <a:cxnLst/>
              <a:rect l="l" t="t" r="r" b="b"/>
              <a:pathLst>
                <a:path w="0" h="25400">
                  <a:moveTo>
                    <a:pt x="0" y="24842"/>
                  </a:moveTo>
                  <a:lnTo>
                    <a:pt x="0" y="0"/>
                  </a:lnTo>
                </a:path>
              </a:pathLst>
            </a:custGeom>
            <a:ln w="5274">
              <a:solidFill>
                <a:srgbClr val="000000"/>
              </a:solidFill>
            </a:ln>
          </p:spPr>
          <p:txBody>
            <a:bodyPr wrap="square" lIns="0" tIns="0" rIns="0" bIns="0" rtlCol="0"/>
            <a:lstStyle/>
            <a:p/>
          </p:txBody>
        </p:sp>
        <p:sp>
          <p:nvSpPr>
            <p:cNvPr id="20" name="object 20" descr=""/>
            <p:cNvSpPr/>
            <p:nvPr/>
          </p:nvSpPr>
          <p:spPr>
            <a:xfrm>
              <a:off x="431229" y="3214558"/>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sp>
          <p:nvSpPr>
            <p:cNvPr id="21" name="object 21" descr=""/>
            <p:cNvSpPr/>
            <p:nvPr/>
          </p:nvSpPr>
          <p:spPr>
            <a:xfrm>
              <a:off x="433866" y="1542639"/>
              <a:ext cx="0" cy="20320"/>
            </a:xfrm>
            <a:custGeom>
              <a:avLst/>
              <a:gdLst/>
              <a:ahLst/>
              <a:cxnLst/>
              <a:rect l="l" t="t" r="r" b="b"/>
              <a:pathLst>
                <a:path w="0" h="20319">
                  <a:moveTo>
                    <a:pt x="0" y="0"/>
                  </a:moveTo>
                  <a:lnTo>
                    <a:pt x="0" y="19874"/>
                  </a:lnTo>
                </a:path>
              </a:pathLst>
            </a:custGeom>
            <a:ln w="5274">
              <a:solidFill>
                <a:srgbClr val="000000"/>
              </a:solidFill>
            </a:ln>
          </p:spPr>
          <p:txBody>
            <a:bodyPr wrap="square" lIns="0" tIns="0" rIns="0" bIns="0" rtlCol="0"/>
            <a:lstStyle/>
            <a:p/>
          </p:txBody>
        </p:sp>
        <p:sp>
          <p:nvSpPr>
            <p:cNvPr id="22" name="object 22" descr=""/>
            <p:cNvSpPr/>
            <p:nvPr/>
          </p:nvSpPr>
          <p:spPr>
            <a:xfrm>
              <a:off x="431229" y="1560030"/>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grpSp>
      <p:grpSp>
        <p:nvGrpSpPr>
          <p:cNvPr id="23" name="object 23" descr=""/>
          <p:cNvGrpSpPr/>
          <p:nvPr/>
        </p:nvGrpSpPr>
        <p:grpSpPr>
          <a:xfrm>
            <a:off x="431325" y="3239359"/>
            <a:ext cx="26670" cy="5080"/>
            <a:chOff x="431325" y="3239359"/>
            <a:chExt cx="26670" cy="5080"/>
          </a:xfrm>
        </p:grpSpPr>
        <p:sp>
          <p:nvSpPr>
            <p:cNvPr id="24" name="object 24" descr=""/>
            <p:cNvSpPr/>
            <p:nvPr/>
          </p:nvSpPr>
          <p:spPr>
            <a:xfrm>
              <a:off x="433865" y="3241899"/>
              <a:ext cx="20320" cy="0"/>
            </a:xfrm>
            <a:custGeom>
              <a:avLst/>
              <a:gdLst/>
              <a:ahLst/>
              <a:cxnLst/>
              <a:rect l="l" t="t" r="r" b="b"/>
              <a:pathLst>
                <a:path w="20320" h="0">
                  <a:moveTo>
                    <a:pt x="0" y="0"/>
                  </a:moveTo>
                  <a:lnTo>
                    <a:pt x="20016" y="0"/>
                  </a:lnTo>
                </a:path>
              </a:pathLst>
            </a:custGeom>
            <a:ln w="4968">
              <a:solidFill>
                <a:srgbClr val="000000"/>
              </a:solidFill>
            </a:ln>
          </p:spPr>
          <p:txBody>
            <a:bodyPr wrap="square" lIns="0" tIns="0" rIns="0" bIns="0" rtlCol="0"/>
            <a:lstStyle/>
            <a:p/>
          </p:txBody>
        </p:sp>
        <p:sp>
          <p:nvSpPr>
            <p:cNvPr id="25" name="object 25" descr=""/>
            <p:cNvSpPr/>
            <p:nvPr/>
          </p:nvSpPr>
          <p:spPr>
            <a:xfrm>
              <a:off x="452325" y="3239415"/>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grpSp>
      <p:sp>
        <p:nvSpPr>
          <p:cNvPr id="26" name="object 26" descr=""/>
          <p:cNvSpPr txBox="1"/>
          <p:nvPr/>
        </p:nvSpPr>
        <p:spPr>
          <a:xfrm>
            <a:off x="347329" y="3189452"/>
            <a:ext cx="83820" cy="158115"/>
          </a:xfrm>
          <a:prstGeom prst="rect">
            <a:avLst/>
          </a:prstGeom>
        </p:spPr>
        <p:txBody>
          <a:bodyPr wrap="square" lIns="0" tIns="13335" rIns="0" bIns="0" rtlCol="0" vert="horz">
            <a:spAutoFit/>
          </a:bodyPr>
          <a:lstStyle/>
          <a:p>
            <a:pPr marL="27940">
              <a:lnSpc>
                <a:spcPts val="515"/>
              </a:lnSpc>
              <a:spcBef>
                <a:spcPts val="105"/>
              </a:spcBef>
            </a:pPr>
            <a:r>
              <a:rPr dirty="0" sz="500" spc="-50">
                <a:latin typeface="Arial MT"/>
                <a:cs typeface="Arial MT"/>
              </a:rPr>
              <a:t>0</a:t>
            </a:r>
            <a:endParaRPr sz="500">
              <a:latin typeface="Arial MT"/>
              <a:cs typeface="Arial MT"/>
            </a:endParaRPr>
          </a:p>
          <a:p>
            <a:pPr marL="12700">
              <a:lnSpc>
                <a:spcPts val="515"/>
              </a:lnSpc>
            </a:pPr>
            <a:r>
              <a:rPr dirty="0" sz="500">
                <a:latin typeface="Arial MT"/>
                <a:cs typeface="Arial MT"/>
              </a:rPr>
              <a:t>-</a:t>
            </a:r>
            <a:r>
              <a:rPr dirty="0" sz="500" spc="-50">
                <a:latin typeface="Arial MT"/>
                <a:cs typeface="Arial MT"/>
              </a:rPr>
              <a:t>1</a:t>
            </a:r>
            <a:endParaRPr sz="500">
              <a:latin typeface="Arial MT"/>
              <a:cs typeface="Arial MT"/>
            </a:endParaRPr>
          </a:p>
        </p:txBody>
      </p:sp>
      <p:grpSp>
        <p:nvGrpSpPr>
          <p:cNvPr id="27" name="object 27" descr=""/>
          <p:cNvGrpSpPr/>
          <p:nvPr/>
        </p:nvGrpSpPr>
        <p:grpSpPr>
          <a:xfrm>
            <a:off x="431325" y="3065461"/>
            <a:ext cx="26670" cy="5080"/>
            <a:chOff x="431325" y="3065461"/>
            <a:chExt cx="26670" cy="5080"/>
          </a:xfrm>
        </p:grpSpPr>
        <p:sp>
          <p:nvSpPr>
            <p:cNvPr id="28" name="object 28" descr=""/>
            <p:cNvSpPr/>
            <p:nvPr/>
          </p:nvSpPr>
          <p:spPr>
            <a:xfrm>
              <a:off x="433865" y="3068001"/>
              <a:ext cx="20320" cy="0"/>
            </a:xfrm>
            <a:custGeom>
              <a:avLst/>
              <a:gdLst/>
              <a:ahLst/>
              <a:cxnLst/>
              <a:rect l="l" t="t" r="r" b="b"/>
              <a:pathLst>
                <a:path w="20320" h="0">
                  <a:moveTo>
                    <a:pt x="0" y="0"/>
                  </a:moveTo>
                  <a:lnTo>
                    <a:pt x="20016" y="0"/>
                  </a:lnTo>
                </a:path>
              </a:pathLst>
            </a:custGeom>
            <a:ln w="4968">
              <a:solidFill>
                <a:srgbClr val="000000"/>
              </a:solidFill>
            </a:ln>
          </p:spPr>
          <p:txBody>
            <a:bodyPr wrap="square" lIns="0" tIns="0" rIns="0" bIns="0" rtlCol="0"/>
            <a:lstStyle/>
            <a:p/>
          </p:txBody>
        </p:sp>
        <p:sp>
          <p:nvSpPr>
            <p:cNvPr id="29" name="object 29" descr=""/>
            <p:cNvSpPr/>
            <p:nvPr/>
          </p:nvSpPr>
          <p:spPr>
            <a:xfrm>
              <a:off x="452325" y="3065517"/>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grpSp>
      <p:sp>
        <p:nvSpPr>
          <p:cNvPr id="30" name="object 30" descr=""/>
          <p:cNvSpPr txBox="1"/>
          <p:nvPr/>
        </p:nvSpPr>
        <p:spPr>
          <a:xfrm>
            <a:off x="326232" y="3015555"/>
            <a:ext cx="99695" cy="103505"/>
          </a:xfrm>
          <a:prstGeom prst="rect">
            <a:avLst/>
          </a:prstGeom>
        </p:spPr>
        <p:txBody>
          <a:bodyPr wrap="square" lIns="0" tIns="13335" rIns="0" bIns="0" rtlCol="0" vert="horz">
            <a:spAutoFit/>
          </a:bodyPr>
          <a:lstStyle/>
          <a:p>
            <a:pPr marL="12700">
              <a:lnSpc>
                <a:spcPct val="100000"/>
              </a:lnSpc>
              <a:spcBef>
                <a:spcPts val="105"/>
              </a:spcBef>
            </a:pPr>
            <a:r>
              <a:rPr dirty="0" sz="500" spc="-25">
                <a:latin typeface="Arial MT"/>
                <a:cs typeface="Arial MT"/>
              </a:rPr>
              <a:t>10</a:t>
            </a:r>
            <a:endParaRPr sz="500">
              <a:latin typeface="Arial MT"/>
              <a:cs typeface="Arial MT"/>
            </a:endParaRPr>
          </a:p>
        </p:txBody>
      </p:sp>
      <p:grpSp>
        <p:nvGrpSpPr>
          <p:cNvPr id="31" name="object 31" descr=""/>
          <p:cNvGrpSpPr/>
          <p:nvPr/>
        </p:nvGrpSpPr>
        <p:grpSpPr>
          <a:xfrm>
            <a:off x="431325" y="2896532"/>
            <a:ext cx="26670" cy="5080"/>
            <a:chOff x="431325" y="2896532"/>
            <a:chExt cx="26670" cy="5080"/>
          </a:xfrm>
        </p:grpSpPr>
        <p:sp>
          <p:nvSpPr>
            <p:cNvPr id="32" name="object 32" descr=""/>
            <p:cNvSpPr/>
            <p:nvPr/>
          </p:nvSpPr>
          <p:spPr>
            <a:xfrm>
              <a:off x="433865" y="2899072"/>
              <a:ext cx="20320" cy="0"/>
            </a:xfrm>
            <a:custGeom>
              <a:avLst/>
              <a:gdLst/>
              <a:ahLst/>
              <a:cxnLst/>
              <a:rect l="l" t="t" r="r" b="b"/>
              <a:pathLst>
                <a:path w="20320" h="0">
                  <a:moveTo>
                    <a:pt x="0" y="0"/>
                  </a:moveTo>
                  <a:lnTo>
                    <a:pt x="20016" y="0"/>
                  </a:lnTo>
                </a:path>
              </a:pathLst>
            </a:custGeom>
            <a:ln w="4968">
              <a:solidFill>
                <a:srgbClr val="000000"/>
              </a:solidFill>
            </a:ln>
          </p:spPr>
          <p:txBody>
            <a:bodyPr wrap="square" lIns="0" tIns="0" rIns="0" bIns="0" rtlCol="0"/>
            <a:lstStyle/>
            <a:p/>
          </p:txBody>
        </p:sp>
        <p:sp>
          <p:nvSpPr>
            <p:cNvPr id="33" name="object 33" descr=""/>
            <p:cNvSpPr/>
            <p:nvPr/>
          </p:nvSpPr>
          <p:spPr>
            <a:xfrm>
              <a:off x="452325" y="2896588"/>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grpSp>
      <p:sp>
        <p:nvSpPr>
          <p:cNvPr id="34" name="object 34" descr=""/>
          <p:cNvSpPr txBox="1"/>
          <p:nvPr/>
        </p:nvSpPr>
        <p:spPr>
          <a:xfrm>
            <a:off x="326232" y="2846624"/>
            <a:ext cx="99695" cy="103505"/>
          </a:xfrm>
          <a:prstGeom prst="rect">
            <a:avLst/>
          </a:prstGeom>
        </p:spPr>
        <p:txBody>
          <a:bodyPr wrap="square" lIns="0" tIns="13335" rIns="0" bIns="0" rtlCol="0" vert="horz">
            <a:spAutoFit/>
          </a:bodyPr>
          <a:lstStyle/>
          <a:p>
            <a:pPr marL="12700">
              <a:lnSpc>
                <a:spcPct val="100000"/>
              </a:lnSpc>
              <a:spcBef>
                <a:spcPts val="105"/>
              </a:spcBef>
            </a:pPr>
            <a:r>
              <a:rPr dirty="0" sz="500" spc="-25">
                <a:latin typeface="Arial MT"/>
                <a:cs typeface="Arial MT"/>
              </a:rPr>
              <a:t>20</a:t>
            </a:r>
            <a:endParaRPr sz="500">
              <a:latin typeface="Arial MT"/>
              <a:cs typeface="Arial MT"/>
            </a:endParaRPr>
          </a:p>
        </p:txBody>
      </p:sp>
      <p:grpSp>
        <p:nvGrpSpPr>
          <p:cNvPr id="35" name="object 35" descr=""/>
          <p:cNvGrpSpPr/>
          <p:nvPr/>
        </p:nvGrpSpPr>
        <p:grpSpPr>
          <a:xfrm>
            <a:off x="431325" y="2727602"/>
            <a:ext cx="26670" cy="5080"/>
            <a:chOff x="431325" y="2727602"/>
            <a:chExt cx="26670" cy="5080"/>
          </a:xfrm>
        </p:grpSpPr>
        <p:sp>
          <p:nvSpPr>
            <p:cNvPr id="36" name="object 36" descr=""/>
            <p:cNvSpPr/>
            <p:nvPr/>
          </p:nvSpPr>
          <p:spPr>
            <a:xfrm>
              <a:off x="433865" y="2730142"/>
              <a:ext cx="20320" cy="0"/>
            </a:xfrm>
            <a:custGeom>
              <a:avLst/>
              <a:gdLst/>
              <a:ahLst/>
              <a:cxnLst/>
              <a:rect l="l" t="t" r="r" b="b"/>
              <a:pathLst>
                <a:path w="20320" h="0">
                  <a:moveTo>
                    <a:pt x="0" y="0"/>
                  </a:moveTo>
                  <a:lnTo>
                    <a:pt x="20016" y="0"/>
                  </a:lnTo>
                </a:path>
              </a:pathLst>
            </a:custGeom>
            <a:ln w="4968">
              <a:solidFill>
                <a:srgbClr val="000000"/>
              </a:solidFill>
            </a:ln>
          </p:spPr>
          <p:txBody>
            <a:bodyPr wrap="square" lIns="0" tIns="0" rIns="0" bIns="0" rtlCol="0"/>
            <a:lstStyle/>
            <a:p/>
          </p:txBody>
        </p:sp>
        <p:sp>
          <p:nvSpPr>
            <p:cNvPr id="37" name="object 37" descr=""/>
            <p:cNvSpPr/>
            <p:nvPr/>
          </p:nvSpPr>
          <p:spPr>
            <a:xfrm>
              <a:off x="452325" y="2727658"/>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grpSp>
      <p:sp>
        <p:nvSpPr>
          <p:cNvPr id="38" name="object 38" descr=""/>
          <p:cNvSpPr txBox="1"/>
          <p:nvPr/>
        </p:nvSpPr>
        <p:spPr>
          <a:xfrm>
            <a:off x="326232" y="2677695"/>
            <a:ext cx="99695" cy="103505"/>
          </a:xfrm>
          <a:prstGeom prst="rect">
            <a:avLst/>
          </a:prstGeom>
        </p:spPr>
        <p:txBody>
          <a:bodyPr wrap="square" lIns="0" tIns="13335" rIns="0" bIns="0" rtlCol="0" vert="horz">
            <a:spAutoFit/>
          </a:bodyPr>
          <a:lstStyle/>
          <a:p>
            <a:pPr marL="12700">
              <a:lnSpc>
                <a:spcPct val="100000"/>
              </a:lnSpc>
              <a:spcBef>
                <a:spcPts val="105"/>
              </a:spcBef>
            </a:pPr>
            <a:r>
              <a:rPr dirty="0" sz="500" spc="-25">
                <a:latin typeface="Arial MT"/>
                <a:cs typeface="Arial MT"/>
              </a:rPr>
              <a:t>30</a:t>
            </a:r>
            <a:endParaRPr sz="500">
              <a:latin typeface="Arial MT"/>
              <a:cs typeface="Arial MT"/>
            </a:endParaRPr>
          </a:p>
        </p:txBody>
      </p:sp>
      <p:grpSp>
        <p:nvGrpSpPr>
          <p:cNvPr id="39" name="object 39" descr=""/>
          <p:cNvGrpSpPr/>
          <p:nvPr/>
        </p:nvGrpSpPr>
        <p:grpSpPr>
          <a:xfrm>
            <a:off x="431325" y="2558673"/>
            <a:ext cx="26670" cy="5080"/>
            <a:chOff x="431325" y="2558673"/>
            <a:chExt cx="26670" cy="5080"/>
          </a:xfrm>
        </p:grpSpPr>
        <p:sp>
          <p:nvSpPr>
            <p:cNvPr id="40" name="object 40" descr=""/>
            <p:cNvSpPr/>
            <p:nvPr/>
          </p:nvSpPr>
          <p:spPr>
            <a:xfrm>
              <a:off x="433865" y="2561213"/>
              <a:ext cx="20320" cy="0"/>
            </a:xfrm>
            <a:custGeom>
              <a:avLst/>
              <a:gdLst/>
              <a:ahLst/>
              <a:cxnLst/>
              <a:rect l="l" t="t" r="r" b="b"/>
              <a:pathLst>
                <a:path w="20320" h="0">
                  <a:moveTo>
                    <a:pt x="0" y="0"/>
                  </a:moveTo>
                  <a:lnTo>
                    <a:pt x="20016" y="0"/>
                  </a:lnTo>
                </a:path>
              </a:pathLst>
            </a:custGeom>
            <a:ln w="4968">
              <a:solidFill>
                <a:srgbClr val="000000"/>
              </a:solidFill>
            </a:ln>
          </p:spPr>
          <p:txBody>
            <a:bodyPr wrap="square" lIns="0" tIns="0" rIns="0" bIns="0" rtlCol="0"/>
            <a:lstStyle/>
            <a:p/>
          </p:txBody>
        </p:sp>
        <p:sp>
          <p:nvSpPr>
            <p:cNvPr id="41" name="object 41" descr=""/>
            <p:cNvSpPr/>
            <p:nvPr/>
          </p:nvSpPr>
          <p:spPr>
            <a:xfrm>
              <a:off x="452325" y="2558729"/>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grpSp>
      <p:sp>
        <p:nvSpPr>
          <p:cNvPr id="42" name="object 42" descr=""/>
          <p:cNvSpPr txBox="1"/>
          <p:nvPr/>
        </p:nvSpPr>
        <p:spPr>
          <a:xfrm>
            <a:off x="326232" y="2508766"/>
            <a:ext cx="99695" cy="103505"/>
          </a:xfrm>
          <a:prstGeom prst="rect">
            <a:avLst/>
          </a:prstGeom>
        </p:spPr>
        <p:txBody>
          <a:bodyPr wrap="square" lIns="0" tIns="13335" rIns="0" bIns="0" rtlCol="0" vert="horz">
            <a:spAutoFit/>
          </a:bodyPr>
          <a:lstStyle/>
          <a:p>
            <a:pPr marL="12700">
              <a:lnSpc>
                <a:spcPct val="100000"/>
              </a:lnSpc>
              <a:spcBef>
                <a:spcPts val="105"/>
              </a:spcBef>
            </a:pPr>
            <a:r>
              <a:rPr dirty="0" sz="500" spc="-25">
                <a:latin typeface="Arial MT"/>
                <a:cs typeface="Arial MT"/>
              </a:rPr>
              <a:t>40</a:t>
            </a:r>
            <a:endParaRPr sz="500">
              <a:latin typeface="Arial MT"/>
              <a:cs typeface="Arial MT"/>
            </a:endParaRPr>
          </a:p>
        </p:txBody>
      </p:sp>
      <p:grpSp>
        <p:nvGrpSpPr>
          <p:cNvPr id="43" name="object 43" descr=""/>
          <p:cNvGrpSpPr/>
          <p:nvPr/>
        </p:nvGrpSpPr>
        <p:grpSpPr>
          <a:xfrm>
            <a:off x="431325" y="2389744"/>
            <a:ext cx="26670" cy="5080"/>
            <a:chOff x="431325" y="2389744"/>
            <a:chExt cx="26670" cy="5080"/>
          </a:xfrm>
        </p:grpSpPr>
        <p:sp>
          <p:nvSpPr>
            <p:cNvPr id="44" name="object 44" descr=""/>
            <p:cNvSpPr/>
            <p:nvPr/>
          </p:nvSpPr>
          <p:spPr>
            <a:xfrm>
              <a:off x="433865" y="2392284"/>
              <a:ext cx="20320" cy="0"/>
            </a:xfrm>
            <a:custGeom>
              <a:avLst/>
              <a:gdLst/>
              <a:ahLst/>
              <a:cxnLst/>
              <a:rect l="l" t="t" r="r" b="b"/>
              <a:pathLst>
                <a:path w="20320" h="0">
                  <a:moveTo>
                    <a:pt x="0" y="0"/>
                  </a:moveTo>
                  <a:lnTo>
                    <a:pt x="20016" y="0"/>
                  </a:lnTo>
                </a:path>
              </a:pathLst>
            </a:custGeom>
            <a:ln w="4968">
              <a:solidFill>
                <a:srgbClr val="000000"/>
              </a:solidFill>
            </a:ln>
          </p:spPr>
          <p:txBody>
            <a:bodyPr wrap="square" lIns="0" tIns="0" rIns="0" bIns="0" rtlCol="0"/>
            <a:lstStyle/>
            <a:p/>
          </p:txBody>
        </p:sp>
        <p:sp>
          <p:nvSpPr>
            <p:cNvPr id="45" name="object 45" descr=""/>
            <p:cNvSpPr/>
            <p:nvPr/>
          </p:nvSpPr>
          <p:spPr>
            <a:xfrm>
              <a:off x="452325" y="2389800"/>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grpSp>
      <p:sp>
        <p:nvSpPr>
          <p:cNvPr id="46" name="object 46" descr=""/>
          <p:cNvSpPr txBox="1"/>
          <p:nvPr/>
        </p:nvSpPr>
        <p:spPr>
          <a:xfrm>
            <a:off x="326232" y="2339837"/>
            <a:ext cx="99695" cy="103505"/>
          </a:xfrm>
          <a:prstGeom prst="rect">
            <a:avLst/>
          </a:prstGeom>
        </p:spPr>
        <p:txBody>
          <a:bodyPr wrap="square" lIns="0" tIns="13335" rIns="0" bIns="0" rtlCol="0" vert="horz">
            <a:spAutoFit/>
          </a:bodyPr>
          <a:lstStyle/>
          <a:p>
            <a:pPr marL="12700">
              <a:lnSpc>
                <a:spcPct val="100000"/>
              </a:lnSpc>
              <a:spcBef>
                <a:spcPts val="105"/>
              </a:spcBef>
            </a:pPr>
            <a:r>
              <a:rPr dirty="0" sz="500" spc="-25">
                <a:latin typeface="Arial MT"/>
                <a:cs typeface="Arial MT"/>
              </a:rPr>
              <a:t>50</a:t>
            </a:r>
            <a:endParaRPr sz="500">
              <a:latin typeface="Arial MT"/>
              <a:cs typeface="Arial MT"/>
            </a:endParaRPr>
          </a:p>
        </p:txBody>
      </p:sp>
      <p:grpSp>
        <p:nvGrpSpPr>
          <p:cNvPr id="47" name="object 47" descr=""/>
          <p:cNvGrpSpPr/>
          <p:nvPr/>
        </p:nvGrpSpPr>
        <p:grpSpPr>
          <a:xfrm>
            <a:off x="431325" y="2215847"/>
            <a:ext cx="26670" cy="5080"/>
            <a:chOff x="431325" y="2215847"/>
            <a:chExt cx="26670" cy="5080"/>
          </a:xfrm>
        </p:grpSpPr>
        <p:sp>
          <p:nvSpPr>
            <p:cNvPr id="48" name="object 48" descr=""/>
            <p:cNvSpPr/>
            <p:nvPr/>
          </p:nvSpPr>
          <p:spPr>
            <a:xfrm>
              <a:off x="433865" y="2218387"/>
              <a:ext cx="20320" cy="0"/>
            </a:xfrm>
            <a:custGeom>
              <a:avLst/>
              <a:gdLst/>
              <a:ahLst/>
              <a:cxnLst/>
              <a:rect l="l" t="t" r="r" b="b"/>
              <a:pathLst>
                <a:path w="20320" h="0">
                  <a:moveTo>
                    <a:pt x="0" y="0"/>
                  </a:moveTo>
                  <a:lnTo>
                    <a:pt x="20016" y="0"/>
                  </a:lnTo>
                </a:path>
              </a:pathLst>
            </a:custGeom>
            <a:ln w="4968">
              <a:solidFill>
                <a:srgbClr val="000000"/>
              </a:solidFill>
            </a:ln>
          </p:spPr>
          <p:txBody>
            <a:bodyPr wrap="square" lIns="0" tIns="0" rIns="0" bIns="0" rtlCol="0"/>
            <a:lstStyle/>
            <a:p/>
          </p:txBody>
        </p:sp>
        <p:sp>
          <p:nvSpPr>
            <p:cNvPr id="49" name="object 49" descr=""/>
            <p:cNvSpPr/>
            <p:nvPr/>
          </p:nvSpPr>
          <p:spPr>
            <a:xfrm>
              <a:off x="452325" y="2215903"/>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grpSp>
      <p:sp>
        <p:nvSpPr>
          <p:cNvPr id="50" name="object 50" descr=""/>
          <p:cNvSpPr txBox="1"/>
          <p:nvPr/>
        </p:nvSpPr>
        <p:spPr>
          <a:xfrm>
            <a:off x="326231" y="2165940"/>
            <a:ext cx="99695" cy="103505"/>
          </a:xfrm>
          <a:prstGeom prst="rect">
            <a:avLst/>
          </a:prstGeom>
        </p:spPr>
        <p:txBody>
          <a:bodyPr wrap="square" lIns="0" tIns="13335" rIns="0" bIns="0" rtlCol="0" vert="horz">
            <a:spAutoFit/>
          </a:bodyPr>
          <a:lstStyle/>
          <a:p>
            <a:pPr marL="12700">
              <a:lnSpc>
                <a:spcPct val="100000"/>
              </a:lnSpc>
              <a:spcBef>
                <a:spcPts val="105"/>
              </a:spcBef>
            </a:pPr>
            <a:r>
              <a:rPr dirty="0" sz="500" spc="-25">
                <a:latin typeface="Arial MT"/>
                <a:cs typeface="Arial MT"/>
              </a:rPr>
              <a:t>60</a:t>
            </a:r>
            <a:endParaRPr sz="500">
              <a:latin typeface="Arial MT"/>
              <a:cs typeface="Arial MT"/>
            </a:endParaRPr>
          </a:p>
        </p:txBody>
      </p:sp>
      <p:grpSp>
        <p:nvGrpSpPr>
          <p:cNvPr id="51" name="object 51" descr=""/>
          <p:cNvGrpSpPr/>
          <p:nvPr/>
        </p:nvGrpSpPr>
        <p:grpSpPr>
          <a:xfrm>
            <a:off x="431325" y="2046918"/>
            <a:ext cx="26670" cy="5080"/>
            <a:chOff x="431325" y="2046918"/>
            <a:chExt cx="26670" cy="5080"/>
          </a:xfrm>
        </p:grpSpPr>
        <p:sp>
          <p:nvSpPr>
            <p:cNvPr id="52" name="object 52" descr=""/>
            <p:cNvSpPr/>
            <p:nvPr/>
          </p:nvSpPr>
          <p:spPr>
            <a:xfrm>
              <a:off x="433865" y="2049458"/>
              <a:ext cx="20320" cy="0"/>
            </a:xfrm>
            <a:custGeom>
              <a:avLst/>
              <a:gdLst/>
              <a:ahLst/>
              <a:cxnLst/>
              <a:rect l="l" t="t" r="r" b="b"/>
              <a:pathLst>
                <a:path w="20320" h="0">
                  <a:moveTo>
                    <a:pt x="0" y="0"/>
                  </a:moveTo>
                  <a:lnTo>
                    <a:pt x="20016" y="0"/>
                  </a:lnTo>
                </a:path>
              </a:pathLst>
            </a:custGeom>
            <a:ln w="4968">
              <a:solidFill>
                <a:srgbClr val="000000"/>
              </a:solidFill>
            </a:ln>
          </p:spPr>
          <p:txBody>
            <a:bodyPr wrap="square" lIns="0" tIns="0" rIns="0" bIns="0" rtlCol="0"/>
            <a:lstStyle/>
            <a:p/>
          </p:txBody>
        </p:sp>
        <p:sp>
          <p:nvSpPr>
            <p:cNvPr id="53" name="object 53" descr=""/>
            <p:cNvSpPr/>
            <p:nvPr/>
          </p:nvSpPr>
          <p:spPr>
            <a:xfrm>
              <a:off x="452325" y="2046974"/>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grpSp>
      <p:sp>
        <p:nvSpPr>
          <p:cNvPr id="54" name="object 54" descr=""/>
          <p:cNvSpPr txBox="1"/>
          <p:nvPr/>
        </p:nvSpPr>
        <p:spPr>
          <a:xfrm>
            <a:off x="326231" y="1997011"/>
            <a:ext cx="99695" cy="103505"/>
          </a:xfrm>
          <a:prstGeom prst="rect">
            <a:avLst/>
          </a:prstGeom>
        </p:spPr>
        <p:txBody>
          <a:bodyPr wrap="square" lIns="0" tIns="13335" rIns="0" bIns="0" rtlCol="0" vert="horz">
            <a:spAutoFit/>
          </a:bodyPr>
          <a:lstStyle/>
          <a:p>
            <a:pPr marL="12700">
              <a:lnSpc>
                <a:spcPct val="100000"/>
              </a:lnSpc>
              <a:spcBef>
                <a:spcPts val="105"/>
              </a:spcBef>
            </a:pPr>
            <a:r>
              <a:rPr dirty="0" sz="500" spc="-25">
                <a:latin typeface="Arial MT"/>
                <a:cs typeface="Arial MT"/>
              </a:rPr>
              <a:t>70</a:t>
            </a:r>
            <a:endParaRPr sz="500">
              <a:latin typeface="Arial MT"/>
              <a:cs typeface="Arial MT"/>
            </a:endParaRPr>
          </a:p>
        </p:txBody>
      </p:sp>
      <p:grpSp>
        <p:nvGrpSpPr>
          <p:cNvPr id="55" name="object 55" descr=""/>
          <p:cNvGrpSpPr/>
          <p:nvPr/>
        </p:nvGrpSpPr>
        <p:grpSpPr>
          <a:xfrm>
            <a:off x="431325" y="1877989"/>
            <a:ext cx="26670" cy="5080"/>
            <a:chOff x="431325" y="1877989"/>
            <a:chExt cx="26670" cy="5080"/>
          </a:xfrm>
        </p:grpSpPr>
        <p:sp>
          <p:nvSpPr>
            <p:cNvPr id="56" name="object 56" descr=""/>
            <p:cNvSpPr/>
            <p:nvPr/>
          </p:nvSpPr>
          <p:spPr>
            <a:xfrm>
              <a:off x="433865" y="1880529"/>
              <a:ext cx="20320" cy="0"/>
            </a:xfrm>
            <a:custGeom>
              <a:avLst/>
              <a:gdLst/>
              <a:ahLst/>
              <a:cxnLst/>
              <a:rect l="l" t="t" r="r" b="b"/>
              <a:pathLst>
                <a:path w="20320" h="0">
                  <a:moveTo>
                    <a:pt x="0" y="0"/>
                  </a:moveTo>
                  <a:lnTo>
                    <a:pt x="20016" y="0"/>
                  </a:lnTo>
                </a:path>
              </a:pathLst>
            </a:custGeom>
            <a:ln w="4968">
              <a:solidFill>
                <a:srgbClr val="000000"/>
              </a:solidFill>
            </a:ln>
          </p:spPr>
          <p:txBody>
            <a:bodyPr wrap="square" lIns="0" tIns="0" rIns="0" bIns="0" rtlCol="0"/>
            <a:lstStyle/>
            <a:p/>
          </p:txBody>
        </p:sp>
        <p:sp>
          <p:nvSpPr>
            <p:cNvPr id="57" name="object 57" descr=""/>
            <p:cNvSpPr/>
            <p:nvPr/>
          </p:nvSpPr>
          <p:spPr>
            <a:xfrm>
              <a:off x="452325" y="1878046"/>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grpSp>
      <p:sp>
        <p:nvSpPr>
          <p:cNvPr id="58" name="object 58" descr=""/>
          <p:cNvSpPr txBox="1"/>
          <p:nvPr/>
        </p:nvSpPr>
        <p:spPr>
          <a:xfrm>
            <a:off x="326231" y="1828083"/>
            <a:ext cx="99695" cy="103505"/>
          </a:xfrm>
          <a:prstGeom prst="rect">
            <a:avLst/>
          </a:prstGeom>
        </p:spPr>
        <p:txBody>
          <a:bodyPr wrap="square" lIns="0" tIns="13335" rIns="0" bIns="0" rtlCol="0" vert="horz">
            <a:spAutoFit/>
          </a:bodyPr>
          <a:lstStyle/>
          <a:p>
            <a:pPr marL="12700">
              <a:lnSpc>
                <a:spcPct val="100000"/>
              </a:lnSpc>
              <a:spcBef>
                <a:spcPts val="105"/>
              </a:spcBef>
            </a:pPr>
            <a:r>
              <a:rPr dirty="0" sz="500" spc="-25">
                <a:latin typeface="Arial MT"/>
                <a:cs typeface="Arial MT"/>
              </a:rPr>
              <a:t>80</a:t>
            </a:r>
            <a:endParaRPr sz="500">
              <a:latin typeface="Arial MT"/>
              <a:cs typeface="Arial MT"/>
            </a:endParaRPr>
          </a:p>
        </p:txBody>
      </p:sp>
      <p:grpSp>
        <p:nvGrpSpPr>
          <p:cNvPr id="59" name="object 59" descr=""/>
          <p:cNvGrpSpPr/>
          <p:nvPr/>
        </p:nvGrpSpPr>
        <p:grpSpPr>
          <a:xfrm>
            <a:off x="431325" y="1709060"/>
            <a:ext cx="26670" cy="5080"/>
            <a:chOff x="431325" y="1709060"/>
            <a:chExt cx="26670" cy="5080"/>
          </a:xfrm>
        </p:grpSpPr>
        <p:sp>
          <p:nvSpPr>
            <p:cNvPr id="60" name="object 60" descr=""/>
            <p:cNvSpPr/>
            <p:nvPr/>
          </p:nvSpPr>
          <p:spPr>
            <a:xfrm>
              <a:off x="433865" y="1711600"/>
              <a:ext cx="20320" cy="0"/>
            </a:xfrm>
            <a:custGeom>
              <a:avLst/>
              <a:gdLst/>
              <a:ahLst/>
              <a:cxnLst/>
              <a:rect l="l" t="t" r="r" b="b"/>
              <a:pathLst>
                <a:path w="20320" h="0">
                  <a:moveTo>
                    <a:pt x="0" y="0"/>
                  </a:moveTo>
                  <a:lnTo>
                    <a:pt x="20016" y="0"/>
                  </a:lnTo>
                </a:path>
              </a:pathLst>
            </a:custGeom>
            <a:ln w="4968">
              <a:solidFill>
                <a:srgbClr val="000000"/>
              </a:solidFill>
            </a:ln>
          </p:spPr>
          <p:txBody>
            <a:bodyPr wrap="square" lIns="0" tIns="0" rIns="0" bIns="0" rtlCol="0"/>
            <a:lstStyle/>
            <a:p/>
          </p:txBody>
        </p:sp>
        <p:sp>
          <p:nvSpPr>
            <p:cNvPr id="61" name="object 61" descr=""/>
            <p:cNvSpPr/>
            <p:nvPr/>
          </p:nvSpPr>
          <p:spPr>
            <a:xfrm>
              <a:off x="452325" y="1709116"/>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grpSp>
      <p:sp>
        <p:nvSpPr>
          <p:cNvPr id="62" name="object 62" descr=""/>
          <p:cNvSpPr txBox="1"/>
          <p:nvPr/>
        </p:nvSpPr>
        <p:spPr>
          <a:xfrm>
            <a:off x="326231" y="1659154"/>
            <a:ext cx="99695" cy="103505"/>
          </a:xfrm>
          <a:prstGeom prst="rect">
            <a:avLst/>
          </a:prstGeom>
        </p:spPr>
        <p:txBody>
          <a:bodyPr wrap="square" lIns="0" tIns="13335" rIns="0" bIns="0" rtlCol="0" vert="horz">
            <a:spAutoFit/>
          </a:bodyPr>
          <a:lstStyle/>
          <a:p>
            <a:pPr marL="12700">
              <a:lnSpc>
                <a:spcPct val="100000"/>
              </a:lnSpc>
              <a:spcBef>
                <a:spcPts val="105"/>
              </a:spcBef>
            </a:pPr>
            <a:r>
              <a:rPr dirty="0" sz="500" spc="-25">
                <a:latin typeface="Arial MT"/>
                <a:cs typeface="Arial MT"/>
              </a:rPr>
              <a:t>90</a:t>
            </a:r>
            <a:endParaRPr sz="500">
              <a:latin typeface="Arial MT"/>
              <a:cs typeface="Arial MT"/>
            </a:endParaRPr>
          </a:p>
        </p:txBody>
      </p:sp>
      <p:grpSp>
        <p:nvGrpSpPr>
          <p:cNvPr id="63" name="object 63" descr=""/>
          <p:cNvGrpSpPr/>
          <p:nvPr/>
        </p:nvGrpSpPr>
        <p:grpSpPr>
          <a:xfrm>
            <a:off x="431008" y="1539818"/>
            <a:ext cx="26670" cy="1704975"/>
            <a:chOff x="431008" y="1539818"/>
            <a:chExt cx="26670" cy="1704975"/>
          </a:xfrm>
        </p:grpSpPr>
        <p:sp>
          <p:nvSpPr>
            <p:cNvPr id="64" name="object 64" descr=""/>
            <p:cNvSpPr/>
            <p:nvPr/>
          </p:nvSpPr>
          <p:spPr>
            <a:xfrm>
              <a:off x="433865" y="1542671"/>
              <a:ext cx="20320" cy="0"/>
            </a:xfrm>
            <a:custGeom>
              <a:avLst/>
              <a:gdLst/>
              <a:ahLst/>
              <a:cxnLst/>
              <a:rect l="l" t="t" r="r" b="b"/>
              <a:pathLst>
                <a:path w="20320" h="0">
                  <a:moveTo>
                    <a:pt x="0" y="0"/>
                  </a:moveTo>
                  <a:lnTo>
                    <a:pt x="20016" y="0"/>
                  </a:lnTo>
                </a:path>
              </a:pathLst>
            </a:custGeom>
            <a:ln w="4968">
              <a:solidFill>
                <a:srgbClr val="000000"/>
              </a:solidFill>
            </a:ln>
          </p:spPr>
          <p:txBody>
            <a:bodyPr wrap="square" lIns="0" tIns="0" rIns="0" bIns="0" rtlCol="0"/>
            <a:lstStyle/>
            <a:p/>
          </p:txBody>
        </p:sp>
        <p:sp>
          <p:nvSpPr>
            <p:cNvPr id="65" name="object 65" descr=""/>
            <p:cNvSpPr/>
            <p:nvPr/>
          </p:nvSpPr>
          <p:spPr>
            <a:xfrm>
              <a:off x="452325" y="1540187"/>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sp>
          <p:nvSpPr>
            <p:cNvPr id="66" name="object 66" descr=""/>
            <p:cNvSpPr/>
            <p:nvPr/>
          </p:nvSpPr>
          <p:spPr>
            <a:xfrm>
              <a:off x="433865" y="1542673"/>
              <a:ext cx="20320" cy="1699260"/>
            </a:xfrm>
            <a:custGeom>
              <a:avLst/>
              <a:gdLst/>
              <a:ahLst/>
              <a:cxnLst/>
              <a:rect l="l" t="t" r="r" b="b"/>
              <a:pathLst>
                <a:path w="20320" h="1699260">
                  <a:moveTo>
                    <a:pt x="0" y="0"/>
                  </a:moveTo>
                  <a:lnTo>
                    <a:pt x="20016" y="0"/>
                  </a:lnTo>
                </a:path>
                <a:path w="20320" h="1699260">
                  <a:moveTo>
                    <a:pt x="0" y="1699246"/>
                  </a:moveTo>
                  <a:lnTo>
                    <a:pt x="20016" y="1699246"/>
                  </a:lnTo>
                </a:path>
              </a:pathLst>
            </a:custGeom>
            <a:ln w="4968">
              <a:solidFill>
                <a:srgbClr val="000000"/>
              </a:solidFill>
            </a:ln>
          </p:spPr>
          <p:txBody>
            <a:bodyPr wrap="square" lIns="0" tIns="0" rIns="0" bIns="0" rtlCol="0"/>
            <a:lstStyle/>
            <a:p/>
          </p:txBody>
        </p:sp>
        <p:sp>
          <p:nvSpPr>
            <p:cNvPr id="67" name="object 67" descr=""/>
            <p:cNvSpPr/>
            <p:nvPr/>
          </p:nvSpPr>
          <p:spPr>
            <a:xfrm>
              <a:off x="433865" y="1542675"/>
              <a:ext cx="0" cy="1699260"/>
            </a:xfrm>
            <a:custGeom>
              <a:avLst/>
              <a:gdLst/>
              <a:ahLst/>
              <a:cxnLst/>
              <a:rect l="l" t="t" r="r" b="b"/>
              <a:pathLst>
                <a:path w="0" h="1699260">
                  <a:moveTo>
                    <a:pt x="0" y="1699245"/>
                  </a:moveTo>
                  <a:lnTo>
                    <a:pt x="0" y="0"/>
                  </a:lnTo>
                </a:path>
              </a:pathLst>
            </a:custGeom>
            <a:ln w="5274">
              <a:solidFill>
                <a:srgbClr val="000000"/>
              </a:solidFill>
            </a:ln>
          </p:spPr>
          <p:txBody>
            <a:bodyPr wrap="square" lIns="0" tIns="0" rIns="0" bIns="0" rtlCol="0"/>
            <a:lstStyle/>
            <a:p/>
          </p:txBody>
        </p:sp>
        <p:sp>
          <p:nvSpPr>
            <p:cNvPr id="68" name="object 68" descr=""/>
            <p:cNvSpPr/>
            <p:nvPr/>
          </p:nvSpPr>
          <p:spPr>
            <a:xfrm>
              <a:off x="431228" y="1540192"/>
              <a:ext cx="5715" cy="5080"/>
            </a:xfrm>
            <a:custGeom>
              <a:avLst/>
              <a:gdLst/>
              <a:ahLst/>
              <a:cxnLst/>
              <a:rect l="l" t="t" r="r" b="b"/>
              <a:pathLst>
                <a:path w="5715" h="5080">
                  <a:moveTo>
                    <a:pt x="0" y="2484"/>
                  </a:moveTo>
                  <a:lnTo>
                    <a:pt x="772" y="4240"/>
                  </a:lnTo>
                  <a:lnTo>
                    <a:pt x="2637" y="4968"/>
                  </a:lnTo>
                  <a:lnTo>
                    <a:pt x="4501" y="4240"/>
                  </a:lnTo>
                  <a:lnTo>
                    <a:pt x="5274" y="2484"/>
                  </a:lnTo>
                  <a:lnTo>
                    <a:pt x="4501" y="727"/>
                  </a:lnTo>
                  <a:lnTo>
                    <a:pt x="2637" y="0"/>
                  </a:lnTo>
                  <a:lnTo>
                    <a:pt x="772" y="727"/>
                  </a:lnTo>
                  <a:lnTo>
                    <a:pt x="0" y="2484"/>
                  </a:lnTo>
                  <a:close/>
                </a:path>
              </a:pathLst>
            </a:custGeom>
            <a:solidFill>
              <a:srgbClr val="000000"/>
            </a:solidFill>
          </p:spPr>
          <p:txBody>
            <a:bodyPr wrap="square" lIns="0" tIns="0" rIns="0" bIns="0" rtlCol="0"/>
            <a:lstStyle/>
            <a:p/>
          </p:txBody>
        </p:sp>
      </p:grpSp>
      <p:sp>
        <p:nvSpPr>
          <p:cNvPr id="69" name="object 69" descr=""/>
          <p:cNvSpPr txBox="1"/>
          <p:nvPr/>
        </p:nvSpPr>
        <p:spPr>
          <a:xfrm>
            <a:off x="1370503" y="3328529"/>
            <a:ext cx="401955" cy="103505"/>
          </a:xfrm>
          <a:prstGeom prst="rect">
            <a:avLst/>
          </a:prstGeom>
        </p:spPr>
        <p:txBody>
          <a:bodyPr wrap="square" lIns="0" tIns="13335" rIns="0" bIns="0" rtlCol="0" vert="horz">
            <a:spAutoFit/>
          </a:bodyPr>
          <a:lstStyle/>
          <a:p>
            <a:pPr marL="12700">
              <a:lnSpc>
                <a:spcPct val="100000"/>
              </a:lnSpc>
              <a:spcBef>
                <a:spcPts val="105"/>
              </a:spcBef>
            </a:pPr>
            <a:r>
              <a:rPr dirty="0" sz="500" spc="-10">
                <a:latin typeface="Arial MT"/>
                <a:cs typeface="Arial MT"/>
              </a:rPr>
              <a:t>RSRP(dBm)</a:t>
            </a:r>
            <a:endParaRPr sz="500">
              <a:latin typeface="Arial MT"/>
              <a:cs typeface="Arial MT"/>
            </a:endParaRPr>
          </a:p>
        </p:txBody>
      </p:sp>
      <p:sp>
        <p:nvSpPr>
          <p:cNvPr id="70" name="object 70" descr=""/>
          <p:cNvSpPr txBox="1"/>
          <p:nvPr/>
        </p:nvSpPr>
        <p:spPr>
          <a:xfrm>
            <a:off x="459332" y="2494069"/>
            <a:ext cx="68580" cy="112395"/>
          </a:xfrm>
          <a:prstGeom prst="rect">
            <a:avLst/>
          </a:prstGeom>
        </p:spPr>
        <p:txBody>
          <a:bodyPr wrap="square" lIns="0" tIns="0" rIns="0" bIns="0" rtlCol="0" vert="vert270">
            <a:spAutoFit/>
          </a:bodyPr>
          <a:lstStyle/>
          <a:p>
            <a:pPr>
              <a:lnSpc>
                <a:spcPts val="540"/>
              </a:lnSpc>
            </a:pPr>
            <a:r>
              <a:rPr dirty="0" sz="500" spc="-55">
                <a:latin typeface="SimSun"/>
                <a:cs typeface="SimSun"/>
              </a:rPr>
              <a:t>(%</a:t>
            </a:r>
            <a:r>
              <a:rPr dirty="0" sz="500" spc="-20">
                <a:latin typeface="SimSun"/>
                <a:cs typeface="SimSun"/>
              </a:rPr>
              <a:t> </a:t>
            </a:r>
            <a:r>
              <a:rPr dirty="0" sz="500" spc="-50">
                <a:latin typeface="SimSun"/>
                <a:cs typeface="SimSun"/>
              </a:rPr>
              <a:t>)</a:t>
            </a:r>
            <a:endParaRPr sz="500">
              <a:latin typeface="SimSun"/>
              <a:cs typeface="SimSun"/>
            </a:endParaRPr>
          </a:p>
        </p:txBody>
      </p:sp>
      <p:sp>
        <p:nvSpPr>
          <p:cNvPr id="71" name="object 71" descr=""/>
          <p:cNvSpPr txBox="1"/>
          <p:nvPr/>
        </p:nvSpPr>
        <p:spPr>
          <a:xfrm>
            <a:off x="745037" y="1427482"/>
            <a:ext cx="2247265" cy="432434"/>
          </a:xfrm>
          <a:prstGeom prst="rect">
            <a:avLst/>
          </a:prstGeom>
        </p:spPr>
        <p:txBody>
          <a:bodyPr wrap="square" lIns="0" tIns="1905" rIns="0" bIns="0" rtlCol="0" vert="horz">
            <a:spAutoFit/>
          </a:bodyPr>
          <a:lstStyle/>
          <a:p>
            <a:pPr marL="110489">
              <a:lnSpc>
                <a:spcPct val="100000"/>
              </a:lnSpc>
              <a:spcBef>
                <a:spcPts val="15"/>
              </a:spcBef>
              <a:tabLst>
                <a:tab pos="1544955" algn="l"/>
              </a:tabLst>
            </a:pPr>
            <a:r>
              <a:rPr dirty="0" sz="500" spc="-25">
                <a:latin typeface="Arial MT"/>
                <a:cs typeface="Arial MT"/>
              </a:rPr>
              <a:t>NR</a:t>
            </a:r>
            <a:r>
              <a:rPr dirty="0" sz="500">
                <a:latin typeface="Arial MT"/>
                <a:cs typeface="Arial MT"/>
              </a:rPr>
              <a:t>	</a:t>
            </a:r>
            <a:r>
              <a:rPr dirty="0" baseline="11111" sz="750">
                <a:latin typeface="MS PGothic"/>
                <a:cs typeface="MS PGothic"/>
              </a:rPr>
              <a:t>、LTE</a:t>
            </a:r>
            <a:r>
              <a:rPr dirty="0" baseline="11111" sz="750" spc="247">
                <a:latin typeface="MS PGothic"/>
                <a:cs typeface="MS PGothic"/>
              </a:rPr>
              <a:t> </a:t>
            </a:r>
            <a:r>
              <a:rPr dirty="0" baseline="11111" sz="750">
                <a:latin typeface="MS PGothic"/>
                <a:cs typeface="MS PGothic"/>
              </a:rPr>
              <a:t>LINK</a:t>
            </a:r>
            <a:r>
              <a:rPr dirty="0" baseline="11111" sz="750" spc="15">
                <a:latin typeface="MS PGothic"/>
                <a:cs typeface="MS PGothic"/>
              </a:rPr>
              <a:t>与 </a:t>
            </a:r>
            <a:r>
              <a:rPr dirty="0" baseline="11111" sz="750" spc="-15">
                <a:latin typeface="MS PGothic"/>
                <a:cs typeface="MS PGothic"/>
              </a:rPr>
              <a:t>LTE</a:t>
            </a:r>
            <a:r>
              <a:rPr dirty="0" baseline="11111" sz="750" spc="22">
                <a:latin typeface="MS PGothic"/>
                <a:cs typeface="MS PGothic"/>
              </a:rPr>
              <a:t> ➷间</a:t>
            </a:r>
            <a:r>
              <a:rPr dirty="0" baseline="11111" sz="750" spc="750">
                <a:latin typeface="MS PGothic"/>
                <a:cs typeface="MS PGothic"/>
              </a:rPr>
              <a:t> </a:t>
            </a:r>
            <a:endParaRPr baseline="11111" sz="750">
              <a:latin typeface="MS PGothic"/>
              <a:cs typeface="MS PGothic"/>
            </a:endParaRPr>
          </a:p>
          <a:p>
            <a:pPr>
              <a:lnSpc>
                <a:spcPct val="100000"/>
              </a:lnSpc>
              <a:spcBef>
                <a:spcPts val="85"/>
              </a:spcBef>
            </a:pPr>
            <a:endParaRPr sz="500">
              <a:latin typeface="MS PGothic"/>
              <a:cs typeface="MS PGothic"/>
            </a:endParaRPr>
          </a:p>
          <a:p>
            <a:pPr>
              <a:lnSpc>
                <a:spcPct val="100000"/>
              </a:lnSpc>
              <a:spcBef>
                <a:spcPts val="5"/>
              </a:spcBef>
            </a:pPr>
            <a:r>
              <a:rPr dirty="0" sz="500" spc="-25">
                <a:latin typeface="Arial MT"/>
                <a:cs typeface="Arial MT"/>
              </a:rPr>
              <a:t>NR</a:t>
            </a:r>
            <a:endParaRPr sz="500">
              <a:latin typeface="Arial MT"/>
              <a:cs typeface="Arial MT"/>
            </a:endParaRPr>
          </a:p>
          <a:p>
            <a:pPr marR="1950720">
              <a:lnSpc>
                <a:spcPct val="117400"/>
              </a:lnSpc>
              <a:spcBef>
                <a:spcPts val="35"/>
              </a:spcBef>
            </a:pPr>
            <a:r>
              <a:rPr dirty="0" sz="500">
                <a:latin typeface="Arial MT"/>
                <a:cs typeface="Arial MT"/>
              </a:rPr>
              <a:t>LTE</a:t>
            </a:r>
            <a:r>
              <a:rPr dirty="0" sz="500" spc="60">
                <a:latin typeface="Arial MT"/>
                <a:cs typeface="Arial MT"/>
              </a:rPr>
              <a:t> </a:t>
            </a:r>
            <a:r>
              <a:rPr dirty="0" sz="500" spc="-20">
                <a:latin typeface="Arial MT"/>
                <a:cs typeface="Arial MT"/>
              </a:rPr>
              <a:t>LINK</a:t>
            </a:r>
            <a:r>
              <a:rPr dirty="0" sz="500" spc="500">
                <a:latin typeface="Arial MT"/>
                <a:cs typeface="Arial MT"/>
              </a:rPr>
              <a:t> </a:t>
            </a:r>
            <a:r>
              <a:rPr dirty="0" sz="500" spc="-25">
                <a:latin typeface="Arial MT"/>
                <a:cs typeface="Arial MT"/>
              </a:rPr>
              <a:t>LTE</a:t>
            </a:r>
            <a:endParaRPr sz="500">
              <a:latin typeface="Arial MT"/>
              <a:cs typeface="Arial MT"/>
            </a:endParaRPr>
          </a:p>
        </p:txBody>
      </p:sp>
      <p:sp>
        <p:nvSpPr>
          <p:cNvPr id="72" name="object 72" descr=""/>
          <p:cNvSpPr txBox="1"/>
          <p:nvPr/>
        </p:nvSpPr>
        <p:spPr>
          <a:xfrm>
            <a:off x="3238100" y="2339836"/>
            <a:ext cx="62230" cy="103505"/>
          </a:xfrm>
          <a:prstGeom prst="rect">
            <a:avLst/>
          </a:prstGeom>
        </p:spPr>
        <p:txBody>
          <a:bodyPr wrap="square" lIns="0" tIns="13335" rIns="0" bIns="0" rtlCol="0" vert="horz">
            <a:spAutoFit/>
          </a:bodyPr>
          <a:lstStyle/>
          <a:p>
            <a:pPr marL="12700">
              <a:lnSpc>
                <a:spcPct val="100000"/>
              </a:lnSpc>
              <a:spcBef>
                <a:spcPts val="105"/>
              </a:spcBef>
            </a:pPr>
            <a:r>
              <a:rPr dirty="0" sz="500" spc="-50">
                <a:latin typeface="Arial MT"/>
                <a:cs typeface="Arial MT"/>
              </a:rPr>
              <a:t>5</a:t>
            </a:r>
            <a:endParaRPr sz="500">
              <a:latin typeface="Arial MT"/>
              <a:cs typeface="Arial MT"/>
            </a:endParaRPr>
          </a:p>
        </p:txBody>
      </p:sp>
      <p:sp>
        <p:nvSpPr>
          <p:cNvPr id="73" name="object 73" descr=""/>
          <p:cNvSpPr txBox="1"/>
          <p:nvPr/>
        </p:nvSpPr>
        <p:spPr>
          <a:xfrm>
            <a:off x="3238096" y="2165937"/>
            <a:ext cx="62230" cy="103505"/>
          </a:xfrm>
          <a:prstGeom prst="rect">
            <a:avLst/>
          </a:prstGeom>
        </p:spPr>
        <p:txBody>
          <a:bodyPr wrap="square" lIns="0" tIns="13335" rIns="0" bIns="0" rtlCol="0" vert="horz">
            <a:spAutoFit/>
          </a:bodyPr>
          <a:lstStyle/>
          <a:p>
            <a:pPr marL="12700">
              <a:lnSpc>
                <a:spcPct val="100000"/>
              </a:lnSpc>
              <a:spcBef>
                <a:spcPts val="105"/>
              </a:spcBef>
            </a:pPr>
            <a:r>
              <a:rPr dirty="0" sz="500" spc="-50">
                <a:latin typeface="Arial MT"/>
                <a:cs typeface="Arial MT"/>
              </a:rPr>
              <a:t>6</a:t>
            </a:r>
            <a:endParaRPr sz="500">
              <a:latin typeface="Arial MT"/>
              <a:cs typeface="Arial MT"/>
            </a:endParaRPr>
          </a:p>
        </p:txBody>
      </p:sp>
      <p:sp>
        <p:nvSpPr>
          <p:cNvPr id="74" name="object 74" descr=""/>
          <p:cNvSpPr txBox="1"/>
          <p:nvPr/>
        </p:nvSpPr>
        <p:spPr>
          <a:xfrm>
            <a:off x="3238091" y="1828079"/>
            <a:ext cx="62230" cy="103505"/>
          </a:xfrm>
          <a:prstGeom prst="rect">
            <a:avLst/>
          </a:prstGeom>
        </p:spPr>
        <p:txBody>
          <a:bodyPr wrap="square" lIns="0" tIns="13335" rIns="0" bIns="0" rtlCol="0" vert="horz">
            <a:spAutoFit/>
          </a:bodyPr>
          <a:lstStyle/>
          <a:p>
            <a:pPr marL="12700">
              <a:lnSpc>
                <a:spcPct val="100000"/>
              </a:lnSpc>
              <a:spcBef>
                <a:spcPts val="105"/>
              </a:spcBef>
            </a:pPr>
            <a:r>
              <a:rPr dirty="0" sz="500" spc="-50">
                <a:latin typeface="Arial MT"/>
                <a:cs typeface="Arial MT"/>
              </a:rPr>
              <a:t>8</a:t>
            </a:r>
            <a:endParaRPr sz="500">
              <a:latin typeface="Arial MT"/>
              <a:cs typeface="Arial MT"/>
            </a:endParaRPr>
          </a:p>
        </p:txBody>
      </p:sp>
      <p:sp>
        <p:nvSpPr>
          <p:cNvPr id="75" name="object 75" descr=""/>
          <p:cNvSpPr txBox="1"/>
          <p:nvPr/>
        </p:nvSpPr>
        <p:spPr>
          <a:xfrm>
            <a:off x="3238087" y="1659150"/>
            <a:ext cx="62230" cy="103505"/>
          </a:xfrm>
          <a:prstGeom prst="rect">
            <a:avLst/>
          </a:prstGeom>
        </p:spPr>
        <p:txBody>
          <a:bodyPr wrap="square" lIns="0" tIns="13335" rIns="0" bIns="0" rtlCol="0" vert="horz">
            <a:spAutoFit/>
          </a:bodyPr>
          <a:lstStyle/>
          <a:p>
            <a:pPr marL="12700">
              <a:lnSpc>
                <a:spcPct val="100000"/>
              </a:lnSpc>
              <a:spcBef>
                <a:spcPts val="105"/>
              </a:spcBef>
            </a:pPr>
            <a:r>
              <a:rPr dirty="0" sz="500" spc="-50">
                <a:latin typeface="Arial MT"/>
                <a:cs typeface="Arial MT"/>
              </a:rPr>
              <a:t>9</a:t>
            </a:r>
            <a:endParaRPr sz="500">
              <a:latin typeface="Arial MT"/>
              <a:cs typeface="Arial MT"/>
            </a:endParaRPr>
          </a:p>
        </p:txBody>
      </p:sp>
      <p:sp>
        <p:nvSpPr>
          <p:cNvPr id="76" name="object 76" descr=""/>
          <p:cNvSpPr txBox="1"/>
          <p:nvPr/>
        </p:nvSpPr>
        <p:spPr>
          <a:xfrm>
            <a:off x="3250753" y="1185830"/>
            <a:ext cx="2381885" cy="2149475"/>
          </a:xfrm>
          <a:prstGeom prst="rect">
            <a:avLst/>
          </a:prstGeom>
        </p:spPr>
        <p:txBody>
          <a:bodyPr wrap="square" lIns="0" tIns="7620" rIns="0" bIns="0" rtlCol="0" vert="horz">
            <a:spAutoFit/>
          </a:bodyPr>
          <a:lstStyle/>
          <a:p>
            <a:pPr marL="75565">
              <a:lnSpc>
                <a:spcPct val="100000"/>
              </a:lnSpc>
              <a:spcBef>
                <a:spcPts val="60"/>
              </a:spcBef>
            </a:pPr>
            <a:r>
              <a:rPr dirty="0" sz="1100" spc="-10">
                <a:solidFill>
                  <a:srgbClr val="C00000"/>
                </a:solidFill>
                <a:latin typeface="Arial MT"/>
                <a:cs typeface="Arial MT"/>
              </a:rPr>
              <a:t>2</a:t>
            </a:r>
            <a:r>
              <a:rPr dirty="0" sz="1100" spc="-20">
                <a:solidFill>
                  <a:srgbClr val="C00000"/>
                </a:solidFill>
                <a:latin typeface="Microsoft YaHei"/>
                <a:cs typeface="Microsoft YaHei"/>
              </a:rPr>
              <a:t>、</a:t>
            </a:r>
            <a:r>
              <a:rPr dirty="0" sz="1100">
                <a:solidFill>
                  <a:srgbClr val="C00000"/>
                </a:solidFill>
                <a:latin typeface="Arial MT"/>
                <a:cs typeface="Arial MT"/>
              </a:rPr>
              <a:t>NR</a:t>
            </a:r>
            <a:r>
              <a:rPr dirty="0" sz="1100" spc="60">
                <a:solidFill>
                  <a:srgbClr val="C00000"/>
                </a:solidFill>
                <a:latin typeface="Arial MT"/>
                <a:cs typeface="Arial MT"/>
              </a:rPr>
              <a:t> </a:t>
            </a:r>
            <a:r>
              <a:rPr dirty="0" sz="1100" spc="-10">
                <a:solidFill>
                  <a:srgbClr val="C00000"/>
                </a:solidFill>
                <a:latin typeface="Arial MT"/>
                <a:cs typeface="Arial MT"/>
              </a:rPr>
              <a:t>200W</a:t>
            </a:r>
            <a:r>
              <a:rPr dirty="0" sz="1100" spc="-20">
                <a:solidFill>
                  <a:srgbClr val="C00000"/>
                </a:solidFill>
                <a:latin typeface="Microsoft YaHei"/>
                <a:cs typeface="Microsoft YaHei"/>
              </a:rPr>
              <a:t>宽波束与</a:t>
            </a:r>
            <a:r>
              <a:rPr dirty="0" sz="1100" spc="-10">
                <a:solidFill>
                  <a:srgbClr val="C00000"/>
                </a:solidFill>
                <a:latin typeface="Arial MT"/>
                <a:cs typeface="Arial MT"/>
              </a:rPr>
              <a:t>LTE</a:t>
            </a:r>
            <a:r>
              <a:rPr dirty="0" sz="1100" spc="-35">
                <a:solidFill>
                  <a:srgbClr val="C00000"/>
                </a:solidFill>
                <a:latin typeface="Microsoft YaHei"/>
                <a:cs typeface="Microsoft YaHei"/>
              </a:rPr>
              <a:t>对比</a:t>
            </a:r>
            <a:endParaRPr sz="1100">
              <a:latin typeface="Microsoft YaHei"/>
              <a:cs typeface="Microsoft YaHei"/>
            </a:endParaRPr>
          </a:p>
          <a:p>
            <a:pPr>
              <a:lnSpc>
                <a:spcPct val="100000"/>
              </a:lnSpc>
              <a:spcBef>
                <a:spcPts val="1125"/>
              </a:spcBef>
            </a:pPr>
            <a:r>
              <a:rPr dirty="0" sz="500" spc="-25">
                <a:latin typeface="Arial MT"/>
                <a:cs typeface="Arial MT"/>
              </a:rPr>
              <a:t>00</a:t>
            </a:r>
            <a:endParaRPr sz="500">
              <a:latin typeface="Arial MT"/>
              <a:cs typeface="Arial MT"/>
            </a:endParaRPr>
          </a:p>
          <a:p>
            <a:pPr>
              <a:lnSpc>
                <a:spcPct val="100000"/>
              </a:lnSpc>
              <a:spcBef>
                <a:spcPts val="155"/>
              </a:spcBef>
            </a:pPr>
            <a:endParaRPr sz="500">
              <a:latin typeface="Arial MT"/>
              <a:cs typeface="Arial MT"/>
            </a:endParaRPr>
          </a:p>
          <a:p>
            <a:pPr marL="36195">
              <a:lnSpc>
                <a:spcPct val="100000"/>
              </a:lnSpc>
            </a:pPr>
            <a:r>
              <a:rPr dirty="0" sz="500" spc="-50">
                <a:latin typeface="Arial MT"/>
                <a:cs typeface="Arial MT"/>
              </a:rPr>
              <a:t>0</a:t>
            </a:r>
            <a:endParaRPr sz="500">
              <a:latin typeface="Arial MT"/>
              <a:cs typeface="Arial MT"/>
            </a:endParaRPr>
          </a:p>
          <a:p>
            <a:pPr>
              <a:lnSpc>
                <a:spcPct val="100000"/>
              </a:lnSpc>
              <a:spcBef>
                <a:spcPts val="155"/>
              </a:spcBef>
            </a:pPr>
            <a:endParaRPr sz="500">
              <a:latin typeface="Arial MT"/>
              <a:cs typeface="Arial MT"/>
            </a:endParaRPr>
          </a:p>
          <a:p>
            <a:pPr marL="36195">
              <a:lnSpc>
                <a:spcPct val="100000"/>
              </a:lnSpc>
            </a:pPr>
            <a:r>
              <a:rPr dirty="0" sz="500" spc="-50">
                <a:latin typeface="Arial MT"/>
                <a:cs typeface="Arial MT"/>
              </a:rPr>
              <a:t>0</a:t>
            </a:r>
            <a:endParaRPr sz="500">
              <a:latin typeface="Arial MT"/>
              <a:cs typeface="Arial MT"/>
            </a:endParaRPr>
          </a:p>
          <a:p>
            <a:pPr>
              <a:lnSpc>
                <a:spcPct val="100000"/>
              </a:lnSpc>
              <a:spcBef>
                <a:spcPts val="155"/>
              </a:spcBef>
            </a:pPr>
            <a:endParaRPr sz="500">
              <a:latin typeface="Arial MT"/>
              <a:cs typeface="Arial MT"/>
            </a:endParaRPr>
          </a:p>
          <a:p>
            <a:pPr marL="36195">
              <a:lnSpc>
                <a:spcPct val="100000"/>
              </a:lnSpc>
            </a:pPr>
            <a:r>
              <a:rPr dirty="0" sz="500" spc="-50">
                <a:latin typeface="Arial MT"/>
                <a:cs typeface="Arial MT"/>
              </a:rPr>
              <a:t>0</a:t>
            </a:r>
            <a:endParaRPr sz="500">
              <a:latin typeface="Arial MT"/>
              <a:cs typeface="Arial MT"/>
            </a:endParaRPr>
          </a:p>
          <a:p>
            <a:pPr>
              <a:lnSpc>
                <a:spcPct val="100000"/>
              </a:lnSpc>
              <a:spcBef>
                <a:spcPts val="155"/>
              </a:spcBef>
            </a:pPr>
            <a:endParaRPr sz="500">
              <a:latin typeface="Arial MT"/>
              <a:cs typeface="Arial MT"/>
            </a:endParaRPr>
          </a:p>
          <a:p>
            <a:pPr marL="36195">
              <a:lnSpc>
                <a:spcPct val="100000"/>
              </a:lnSpc>
            </a:pPr>
            <a:r>
              <a:rPr dirty="0" sz="500" spc="-50">
                <a:latin typeface="Arial MT"/>
                <a:cs typeface="Arial MT"/>
              </a:rPr>
              <a:t>0</a:t>
            </a:r>
            <a:endParaRPr sz="500">
              <a:latin typeface="Arial MT"/>
              <a:cs typeface="Arial MT"/>
            </a:endParaRPr>
          </a:p>
          <a:p>
            <a:pPr>
              <a:lnSpc>
                <a:spcPct val="100000"/>
              </a:lnSpc>
              <a:spcBef>
                <a:spcPts val="195"/>
              </a:spcBef>
            </a:pPr>
            <a:endParaRPr sz="500">
              <a:latin typeface="Arial MT"/>
              <a:cs typeface="Arial MT"/>
            </a:endParaRPr>
          </a:p>
          <a:p>
            <a:pPr marL="36195">
              <a:lnSpc>
                <a:spcPct val="100000"/>
              </a:lnSpc>
            </a:pPr>
            <a:r>
              <a:rPr dirty="0" sz="500" spc="-50">
                <a:latin typeface="Arial MT"/>
                <a:cs typeface="Arial MT"/>
              </a:rPr>
              <a:t>0</a:t>
            </a:r>
            <a:endParaRPr sz="500">
              <a:latin typeface="Arial MT"/>
              <a:cs typeface="Arial MT"/>
            </a:endParaRPr>
          </a:p>
          <a:p>
            <a:pPr>
              <a:lnSpc>
                <a:spcPct val="100000"/>
              </a:lnSpc>
              <a:spcBef>
                <a:spcPts val="155"/>
              </a:spcBef>
            </a:pPr>
            <a:endParaRPr sz="500">
              <a:latin typeface="Arial MT"/>
              <a:cs typeface="Arial MT"/>
            </a:endParaRPr>
          </a:p>
          <a:p>
            <a:pPr marL="36195">
              <a:lnSpc>
                <a:spcPct val="100000"/>
              </a:lnSpc>
            </a:pPr>
            <a:r>
              <a:rPr dirty="0" sz="500" spc="-50">
                <a:latin typeface="Arial MT"/>
                <a:cs typeface="Arial MT"/>
              </a:rPr>
              <a:t>0</a:t>
            </a:r>
            <a:endParaRPr sz="500">
              <a:latin typeface="Arial MT"/>
              <a:cs typeface="Arial MT"/>
            </a:endParaRPr>
          </a:p>
          <a:p>
            <a:pPr>
              <a:lnSpc>
                <a:spcPct val="100000"/>
              </a:lnSpc>
              <a:spcBef>
                <a:spcPts val="155"/>
              </a:spcBef>
            </a:pPr>
            <a:endParaRPr sz="500">
              <a:latin typeface="Arial MT"/>
              <a:cs typeface="Arial MT"/>
            </a:endParaRPr>
          </a:p>
          <a:p>
            <a:pPr marL="36195">
              <a:lnSpc>
                <a:spcPct val="100000"/>
              </a:lnSpc>
            </a:pPr>
            <a:r>
              <a:rPr dirty="0" sz="500" spc="-50">
                <a:latin typeface="Arial MT"/>
                <a:cs typeface="Arial MT"/>
              </a:rPr>
              <a:t>0</a:t>
            </a:r>
            <a:endParaRPr sz="500">
              <a:latin typeface="Arial MT"/>
              <a:cs typeface="Arial MT"/>
            </a:endParaRPr>
          </a:p>
          <a:p>
            <a:pPr>
              <a:lnSpc>
                <a:spcPct val="100000"/>
              </a:lnSpc>
              <a:spcBef>
                <a:spcPts val="155"/>
              </a:spcBef>
            </a:pPr>
            <a:endParaRPr sz="500">
              <a:latin typeface="Arial MT"/>
              <a:cs typeface="Arial MT"/>
            </a:endParaRPr>
          </a:p>
          <a:p>
            <a:pPr marL="36195">
              <a:lnSpc>
                <a:spcPct val="100000"/>
              </a:lnSpc>
            </a:pPr>
            <a:r>
              <a:rPr dirty="0" sz="500" spc="-50">
                <a:latin typeface="Arial MT"/>
                <a:cs typeface="Arial MT"/>
              </a:rPr>
              <a:t>0</a:t>
            </a:r>
            <a:endParaRPr sz="500">
              <a:latin typeface="Arial MT"/>
              <a:cs typeface="Arial MT"/>
            </a:endParaRPr>
          </a:p>
          <a:p>
            <a:pPr>
              <a:lnSpc>
                <a:spcPct val="100000"/>
              </a:lnSpc>
              <a:spcBef>
                <a:spcPts val="155"/>
              </a:spcBef>
            </a:pPr>
            <a:endParaRPr sz="500">
              <a:latin typeface="Arial MT"/>
              <a:cs typeface="Arial MT"/>
            </a:endParaRPr>
          </a:p>
          <a:p>
            <a:pPr marL="36195">
              <a:lnSpc>
                <a:spcPct val="100000"/>
              </a:lnSpc>
            </a:pPr>
            <a:r>
              <a:rPr dirty="0" sz="500" spc="-50">
                <a:latin typeface="Arial MT"/>
                <a:cs typeface="Arial MT"/>
              </a:rPr>
              <a:t>0</a:t>
            </a:r>
            <a:endParaRPr sz="500">
              <a:latin typeface="Arial MT"/>
              <a:cs typeface="Arial MT"/>
            </a:endParaRPr>
          </a:p>
          <a:p>
            <a:pPr>
              <a:lnSpc>
                <a:spcPct val="100000"/>
              </a:lnSpc>
              <a:spcBef>
                <a:spcPts val="195"/>
              </a:spcBef>
            </a:pPr>
            <a:endParaRPr sz="500">
              <a:latin typeface="Arial MT"/>
              <a:cs typeface="Arial MT"/>
            </a:endParaRPr>
          </a:p>
          <a:p>
            <a:pPr marL="36195">
              <a:lnSpc>
                <a:spcPts val="515"/>
              </a:lnSpc>
            </a:pPr>
            <a:r>
              <a:rPr dirty="0" sz="500" spc="-50">
                <a:latin typeface="Arial MT"/>
                <a:cs typeface="Arial MT"/>
              </a:rPr>
              <a:t>0</a:t>
            </a:r>
            <a:endParaRPr sz="500">
              <a:latin typeface="Arial MT"/>
              <a:cs typeface="Arial MT"/>
            </a:endParaRPr>
          </a:p>
          <a:p>
            <a:pPr marL="20320">
              <a:lnSpc>
                <a:spcPts val="515"/>
              </a:lnSpc>
              <a:tabLst>
                <a:tab pos="342265" algn="l"/>
                <a:tab pos="678815" algn="l"/>
                <a:tab pos="1000760" algn="l"/>
                <a:tab pos="1322070" algn="l"/>
                <a:tab pos="1644014" algn="l"/>
                <a:tab pos="1965325" algn="l"/>
                <a:tab pos="2286635" algn="l"/>
              </a:tabLst>
            </a:pPr>
            <a:r>
              <a:rPr dirty="0" sz="500" spc="-10">
                <a:latin typeface="Arial MT"/>
                <a:cs typeface="Arial MT"/>
              </a:rPr>
              <a:t>-</a:t>
            </a:r>
            <a:r>
              <a:rPr dirty="0" sz="500" spc="-25">
                <a:latin typeface="Arial MT"/>
                <a:cs typeface="Arial MT"/>
              </a:rPr>
              <a:t>110</a:t>
            </a:r>
            <a:r>
              <a:rPr dirty="0" sz="500">
                <a:latin typeface="Arial MT"/>
                <a:cs typeface="Arial MT"/>
              </a:rPr>
              <a:t>	</a:t>
            </a:r>
            <a:r>
              <a:rPr dirty="0" sz="500" spc="-10">
                <a:latin typeface="Arial MT"/>
                <a:cs typeface="Arial MT"/>
              </a:rPr>
              <a:t>-</a:t>
            </a:r>
            <a:r>
              <a:rPr dirty="0" sz="500" spc="-25">
                <a:latin typeface="Arial MT"/>
                <a:cs typeface="Arial MT"/>
              </a:rPr>
              <a:t>100</a:t>
            </a:r>
            <a:r>
              <a:rPr dirty="0" sz="500">
                <a:latin typeface="Arial MT"/>
                <a:cs typeface="Arial MT"/>
              </a:rPr>
              <a:t>	</a:t>
            </a:r>
            <a:r>
              <a:rPr dirty="0" sz="500" spc="-10">
                <a:latin typeface="Arial MT"/>
                <a:cs typeface="Arial MT"/>
              </a:rPr>
              <a:t>-</a:t>
            </a:r>
            <a:r>
              <a:rPr dirty="0" sz="500" spc="-25">
                <a:latin typeface="Arial MT"/>
                <a:cs typeface="Arial MT"/>
              </a:rPr>
              <a:t>90</a:t>
            </a:r>
            <a:r>
              <a:rPr dirty="0" sz="500">
                <a:latin typeface="Arial MT"/>
                <a:cs typeface="Arial MT"/>
              </a:rPr>
              <a:t>	</a:t>
            </a:r>
            <a:r>
              <a:rPr dirty="0" sz="500" spc="-10">
                <a:latin typeface="Arial MT"/>
                <a:cs typeface="Arial MT"/>
              </a:rPr>
              <a:t>-</a:t>
            </a:r>
            <a:r>
              <a:rPr dirty="0" sz="500" spc="-25">
                <a:latin typeface="Arial MT"/>
                <a:cs typeface="Arial MT"/>
              </a:rPr>
              <a:t>80</a:t>
            </a:r>
            <a:r>
              <a:rPr dirty="0" sz="500">
                <a:latin typeface="Arial MT"/>
                <a:cs typeface="Arial MT"/>
              </a:rPr>
              <a:t>	</a:t>
            </a:r>
            <a:r>
              <a:rPr dirty="0" sz="500" spc="-10">
                <a:latin typeface="Arial MT"/>
                <a:cs typeface="Arial MT"/>
              </a:rPr>
              <a:t>-</a:t>
            </a:r>
            <a:r>
              <a:rPr dirty="0" sz="500" spc="-25">
                <a:latin typeface="Arial MT"/>
                <a:cs typeface="Arial MT"/>
              </a:rPr>
              <a:t>70</a:t>
            </a:r>
            <a:r>
              <a:rPr dirty="0" sz="500">
                <a:latin typeface="Arial MT"/>
                <a:cs typeface="Arial MT"/>
              </a:rPr>
              <a:t>	</a:t>
            </a:r>
            <a:r>
              <a:rPr dirty="0" sz="500" spc="-10">
                <a:latin typeface="Arial MT"/>
                <a:cs typeface="Arial MT"/>
              </a:rPr>
              <a:t>-</a:t>
            </a:r>
            <a:r>
              <a:rPr dirty="0" sz="500" spc="-25">
                <a:latin typeface="Arial MT"/>
                <a:cs typeface="Arial MT"/>
              </a:rPr>
              <a:t>60</a:t>
            </a:r>
            <a:r>
              <a:rPr dirty="0" sz="500">
                <a:latin typeface="Arial MT"/>
                <a:cs typeface="Arial MT"/>
              </a:rPr>
              <a:t>	</a:t>
            </a:r>
            <a:r>
              <a:rPr dirty="0" sz="500" spc="-10">
                <a:latin typeface="Arial MT"/>
                <a:cs typeface="Arial MT"/>
              </a:rPr>
              <a:t>-</a:t>
            </a:r>
            <a:r>
              <a:rPr dirty="0" sz="500" spc="-25">
                <a:latin typeface="Arial MT"/>
                <a:cs typeface="Arial MT"/>
              </a:rPr>
              <a:t>50</a:t>
            </a:r>
            <a:r>
              <a:rPr dirty="0" sz="500">
                <a:latin typeface="Arial MT"/>
                <a:cs typeface="Arial MT"/>
              </a:rPr>
              <a:t>	</a:t>
            </a:r>
            <a:r>
              <a:rPr dirty="0" sz="500" spc="-10">
                <a:latin typeface="Arial MT"/>
                <a:cs typeface="Arial MT"/>
              </a:rPr>
              <a:t>-</a:t>
            </a:r>
            <a:r>
              <a:rPr dirty="0" sz="500" spc="-25">
                <a:latin typeface="Arial MT"/>
                <a:cs typeface="Arial MT"/>
              </a:rPr>
              <a:t>40</a:t>
            </a:r>
            <a:endParaRPr sz="500">
              <a:latin typeface="Arial MT"/>
              <a:cs typeface="Arial MT"/>
            </a:endParaRPr>
          </a:p>
        </p:txBody>
      </p:sp>
      <p:sp>
        <p:nvSpPr>
          <p:cNvPr id="77" name="object 77" descr=""/>
          <p:cNvSpPr txBox="1"/>
          <p:nvPr/>
        </p:nvSpPr>
        <p:spPr>
          <a:xfrm>
            <a:off x="4265065" y="3328529"/>
            <a:ext cx="395605" cy="103505"/>
          </a:xfrm>
          <a:prstGeom prst="rect">
            <a:avLst/>
          </a:prstGeom>
        </p:spPr>
        <p:txBody>
          <a:bodyPr wrap="square" lIns="0" tIns="13335" rIns="0" bIns="0" rtlCol="0" vert="horz">
            <a:spAutoFit/>
          </a:bodyPr>
          <a:lstStyle/>
          <a:p>
            <a:pPr marL="12700">
              <a:lnSpc>
                <a:spcPct val="100000"/>
              </a:lnSpc>
              <a:spcBef>
                <a:spcPts val="105"/>
              </a:spcBef>
            </a:pPr>
            <a:r>
              <a:rPr dirty="0" sz="500" spc="-10">
                <a:latin typeface="Arial MT"/>
                <a:cs typeface="Arial MT"/>
              </a:rPr>
              <a:t>RSRP(dBm)</a:t>
            </a:r>
            <a:endParaRPr sz="500">
              <a:latin typeface="Arial MT"/>
              <a:cs typeface="Arial MT"/>
            </a:endParaRPr>
          </a:p>
        </p:txBody>
      </p:sp>
      <p:sp>
        <p:nvSpPr>
          <p:cNvPr id="78" name="object 78" descr=""/>
          <p:cNvSpPr txBox="1"/>
          <p:nvPr/>
        </p:nvSpPr>
        <p:spPr>
          <a:xfrm>
            <a:off x="3369272" y="2494069"/>
            <a:ext cx="67945" cy="112395"/>
          </a:xfrm>
          <a:prstGeom prst="rect">
            <a:avLst/>
          </a:prstGeom>
        </p:spPr>
        <p:txBody>
          <a:bodyPr wrap="square" lIns="0" tIns="0" rIns="0" bIns="0" rtlCol="0" vert="vert270">
            <a:spAutoFit/>
          </a:bodyPr>
          <a:lstStyle/>
          <a:p>
            <a:pPr>
              <a:lnSpc>
                <a:spcPts val="530"/>
              </a:lnSpc>
            </a:pPr>
            <a:r>
              <a:rPr dirty="0" sz="500" spc="-55">
                <a:latin typeface="SimSun"/>
                <a:cs typeface="SimSun"/>
              </a:rPr>
              <a:t>(%</a:t>
            </a:r>
            <a:r>
              <a:rPr dirty="0" sz="500" spc="-20">
                <a:latin typeface="SimSun"/>
                <a:cs typeface="SimSun"/>
              </a:rPr>
              <a:t> </a:t>
            </a:r>
            <a:r>
              <a:rPr dirty="0" sz="500" spc="-50">
                <a:latin typeface="SimSun"/>
                <a:cs typeface="SimSun"/>
              </a:rPr>
              <a:t>)</a:t>
            </a:r>
            <a:endParaRPr sz="500">
              <a:latin typeface="SimSun"/>
              <a:cs typeface="SimSun"/>
            </a:endParaRPr>
          </a:p>
        </p:txBody>
      </p:sp>
      <p:sp>
        <p:nvSpPr>
          <p:cNvPr id="79" name="object 79" descr=""/>
          <p:cNvSpPr txBox="1"/>
          <p:nvPr/>
        </p:nvSpPr>
        <p:spPr>
          <a:xfrm>
            <a:off x="3650208" y="1427481"/>
            <a:ext cx="2209800" cy="432434"/>
          </a:xfrm>
          <a:prstGeom prst="rect">
            <a:avLst/>
          </a:prstGeom>
        </p:spPr>
        <p:txBody>
          <a:bodyPr wrap="square" lIns="0" tIns="1905" rIns="0" bIns="0" rtlCol="0" vert="horz">
            <a:spAutoFit/>
          </a:bodyPr>
          <a:lstStyle/>
          <a:p>
            <a:pPr marL="108585">
              <a:lnSpc>
                <a:spcPct val="100000"/>
              </a:lnSpc>
              <a:spcBef>
                <a:spcPts val="15"/>
              </a:spcBef>
              <a:tabLst>
                <a:tab pos="1518920" algn="l"/>
              </a:tabLst>
            </a:pPr>
            <a:r>
              <a:rPr dirty="0" sz="500" spc="-25">
                <a:latin typeface="Arial MT"/>
                <a:cs typeface="Arial MT"/>
              </a:rPr>
              <a:t>NR</a:t>
            </a:r>
            <a:r>
              <a:rPr dirty="0" sz="500">
                <a:latin typeface="Arial MT"/>
                <a:cs typeface="Arial MT"/>
              </a:rPr>
              <a:t>	</a:t>
            </a:r>
            <a:r>
              <a:rPr dirty="0" baseline="11111" sz="750">
                <a:latin typeface="MS PGothic"/>
                <a:cs typeface="MS PGothic"/>
              </a:rPr>
              <a:t>、LTE</a:t>
            </a:r>
            <a:r>
              <a:rPr dirty="0" baseline="11111" sz="750" spc="225">
                <a:latin typeface="MS PGothic"/>
                <a:cs typeface="MS PGothic"/>
              </a:rPr>
              <a:t> </a:t>
            </a:r>
            <a:r>
              <a:rPr dirty="0" baseline="11111" sz="750">
                <a:latin typeface="MS PGothic"/>
                <a:cs typeface="MS PGothic"/>
              </a:rPr>
              <a:t>LINK</a:t>
            </a:r>
            <a:r>
              <a:rPr dirty="0" baseline="11111" sz="750" spc="7">
                <a:latin typeface="MS PGothic"/>
                <a:cs typeface="MS PGothic"/>
              </a:rPr>
              <a:t>与 </a:t>
            </a:r>
            <a:r>
              <a:rPr dirty="0" baseline="11111" sz="750" spc="-30">
                <a:latin typeface="MS PGothic"/>
                <a:cs typeface="MS PGothic"/>
              </a:rPr>
              <a:t>LTE</a:t>
            </a:r>
            <a:r>
              <a:rPr dirty="0" baseline="11111" sz="750" spc="15">
                <a:latin typeface="MS PGothic"/>
                <a:cs typeface="MS PGothic"/>
              </a:rPr>
              <a:t> ➷间</a:t>
            </a:r>
            <a:r>
              <a:rPr dirty="0" baseline="11111" sz="750" spc="750">
                <a:latin typeface="MS PGothic"/>
                <a:cs typeface="MS PGothic"/>
              </a:rPr>
              <a:t> </a:t>
            </a:r>
            <a:endParaRPr baseline="11111" sz="750">
              <a:latin typeface="MS PGothic"/>
              <a:cs typeface="MS PGothic"/>
            </a:endParaRPr>
          </a:p>
          <a:p>
            <a:pPr>
              <a:lnSpc>
                <a:spcPct val="100000"/>
              </a:lnSpc>
              <a:spcBef>
                <a:spcPts val="85"/>
              </a:spcBef>
            </a:pPr>
            <a:endParaRPr sz="500">
              <a:latin typeface="MS PGothic"/>
              <a:cs typeface="MS PGothic"/>
            </a:endParaRPr>
          </a:p>
          <a:p>
            <a:pPr>
              <a:lnSpc>
                <a:spcPct val="100000"/>
              </a:lnSpc>
              <a:spcBef>
                <a:spcPts val="5"/>
              </a:spcBef>
            </a:pPr>
            <a:r>
              <a:rPr dirty="0" sz="500" spc="-25">
                <a:latin typeface="Arial MT"/>
                <a:cs typeface="Arial MT"/>
              </a:rPr>
              <a:t>NR</a:t>
            </a:r>
            <a:endParaRPr sz="500">
              <a:latin typeface="Arial MT"/>
              <a:cs typeface="Arial MT"/>
            </a:endParaRPr>
          </a:p>
          <a:p>
            <a:pPr marR="1917700">
              <a:lnSpc>
                <a:spcPct val="117400"/>
              </a:lnSpc>
              <a:spcBef>
                <a:spcPts val="35"/>
              </a:spcBef>
            </a:pPr>
            <a:r>
              <a:rPr dirty="0" sz="500">
                <a:latin typeface="Arial MT"/>
                <a:cs typeface="Arial MT"/>
              </a:rPr>
              <a:t>LTE</a:t>
            </a:r>
            <a:r>
              <a:rPr dirty="0" sz="500" spc="35">
                <a:latin typeface="Arial MT"/>
                <a:cs typeface="Arial MT"/>
              </a:rPr>
              <a:t> </a:t>
            </a:r>
            <a:r>
              <a:rPr dirty="0" sz="500" spc="-20">
                <a:latin typeface="Arial MT"/>
                <a:cs typeface="Arial MT"/>
              </a:rPr>
              <a:t>LINK</a:t>
            </a:r>
            <a:r>
              <a:rPr dirty="0" sz="500" spc="500">
                <a:latin typeface="Arial MT"/>
                <a:cs typeface="Arial MT"/>
              </a:rPr>
              <a:t> </a:t>
            </a:r>
            <a:r>
              <a:rPr dirty="0" sz="500" spc="-25">
                <a:latin typeface="Arial MT"/>
                <a:cs typeface="Arial MT"/>
              </a:rPr>
              <a:t>LTE</a:t>
            </a:r>
            <a:endParaRPr sz="500">
              <a:latin typeface="Arial MT"/>
              <a:cs typeface="Arial MT"/>
            </a:endParaRPr>
          </a:p>
        </p:txBody>
      </p:sp>
      <p:sp>
        <p:nvSpPr>
          <p:cNvPr id="80" name="object 80" descr=""/>
          <p:cNvSpPr txBox="1"/>
          <p:nvPr/>
        </p:nvSpPr>
        <p:spPr>
          <a:xfrm>
            <a:off x="6127502" y="3256582"/>
            <a:ext cx="22860" cy="104139"/>
          </a:xfrm>
          <a:prstGeom prst="rect">
            <a:avLst/>
          </a:prstGeom>
        </p:spPr>
        <p:txBody>
          <a:bodyPr wrap="square" lIns="0" tIns="13970" rIns="0" bIns="0" rtlCol="0" vert="horz">
            <a:spAutoFit/>
          </a:bodyPr>
          <a:lstStyle/>
          <a:p>
            <a:pPr>
              <a:lnSpc>
                <a:spcPct val="100000"/>
              </a:lnSpc>
              <a:spcBef>
                <a:spcPts val="110"/>
              </a:spcBef>
            </a:pPr>
            <a:r>
              <a:rPr dirty="0" sz="500" spc="-50">
                <a:latin typeface="Arial MT"/>
                <a:cs typeface="Arial MT"/>
              </a:rPr>
              <a:t>-</a:t>
            </a:r>
            <a:endParaRPr sz="500">
              <a:latin typeface="Arial MT"/>
              <a:cs typeface="Arial MT"/>
            </a:endParaRPr>
          </a:p>
        </p:txBody>
      </p:sp>
      <p:sp>
        <p:nvSpPr>
          <p:cNvPr id="81" name="object 81" descr=""/>
          <p:cNvSpPr txBox="1"/>
          <p:nvPr/>
        </p:nvSpPr>
        <p:spPr>
          <a:xfrm>
            <a:off x="6093905" y="3026037"/>
            <a:ext cx="62230" cy="104139"/>
          </a:xfrm>
          <a:prstGeom prst="rect">
            <a:avLst/>
          </a:prstGeom>
        </p:spPr>
        <p:txBody>
          <a:bodyPr wrap="square" lIns="0" tIns="13970" rIns="0" bIns="0" rtlCol="0" vert="horz">
            <a:spAutoFit/>
          </a:bodyPr>
          <a:lstStyle/>
          <a:p>
            <a:pPr marL="12700">
              <a:lnSpc>
                <a:spcPct val="100000"/>
              </a:lnSpc>
              <a:spcBef>
                <a:spcPts val="110"/>
              </a:spcBef>
            </a:pPr>
            <a:r>
              <a:rPr dirty="0" sz="500" spc="-50">
                <a:latin typeface="Arial MT"/>
                <a:cs typeface="Arial MT"/>
              </a:rPr>
              <a:t>1</a:t>
            </a:r>
            <a:endParaRPr sz="500">
              <a:latin typeface="Arial MT"/>
              <a:cs typeface="Arial MT"/>
            </a:endParaRPr>
          </a:p>
        </p:txBody>
      </p:sp>
      <p:sp>
        <p:nvSpPr>
          <p:cNvPr id="82" name="object 82" descr=""/>
          <p:cNvSpPr txBox="1"/>
          <p:nvPr/>
        </p:nvSpPr>
        <p:spPr>
          <a:xfrm>
            <a:off x="6093905" y="2855634"/>
            <a:ext cx="62230" cy="104139"/>
          </a:xfrm>
          <a:prstGeom prst="rect">
            <a:avLst/>
          </a:prstGeom>
        </p:spPr>
        <p:txBody>
          <a:bodyPr wrap="square" lIns="0" tIns="13970" rIns="0" bIns="0" rtlCol="0" vert="horz">
            <a:spAutoFit/>
          </a:bodyPr>
          <a:lstStyle/>
          <a:p>
            <a:pPr marL="12700">
              <a:lnSpc>
                <a:spcPct val="100000"/>
              </a:lnSpc>
              <a:spcBef>
                <a:spcPts val="110"/>
              </a:spcBef>
            </a:pPr>
            <a:r>
              <a:rPr dirty="0" sz="500" spc="-50">
                <a:latin typeface="Arial MT"/>
                <a:cs typeface="Arial MT"/>
              </a:rPr>
              <a:t>2</a:t>
            </a:r>
            <a:endParaRPr sz="500">
              <a:latin typeface="Arial MT"/>
              <a:cs typeface="Arial MT"/>
            </a:endParaRPr>
          </a:p>
        </p:txBody>
      </p:sp>
      <p:sp>
        <p:nvSpPr>
          <p:cNvPr id="83" name="object 83" descr=""/>
          <p:cNvSpPr txBox="1"/>
          <p:nvPr/>
        </p:nvSpPr>
        <p:spPr>
          <a:xfrm>
            <a:off x="6093905" y="1998610"/>
            <a:ext cx="62230" cy="104139"/>
          </a:xfrm>
          <a:prstGeom prst="rect">
            <a:avLst/>
          </a:prstGeom>
        </p:spPr>
        <p:txBody>
          <a:bodyPr wrap="square" lIns="0" tIns="13970" rIns="0" bIns="0" rtlCol="0" vert="horz">
            <a:spAutoFit/>
          </a:bodyPr>
          <a:lstStyle/>
          <a:p>
            <a:pPr marL="12700">
              <a:lnSpc>
                <a:spcPct val="100000"/>
              </a:lnSpc>
              <a:spcBef>
                <a:spcPts val="110"/>
              </a:spcBef>
            </a:pPr>
            <a:r>
              <a:rPr dirty="0" sz="500" spc="-50">
                <a:latin typeface="Arial MT"/>
                <a:cs typeface="Arial MT"/>
              </a:rPr>
              <a:t>7</a:t>
            </a:r>
            <a:endParaRPr sz="500">
              <a:latin typeface="Arial MT"/>
              <a:cs typeface="Arial MT"/>
            </a:endParaRPr>
          </a:p>
        </p:txBody>
      </p:sp>
      <p:sp>
        <p:nvSpPr>
          <p:cNvPr id="84" name="object 84" descr=""/>
          <p:cNvSpPr txBox="1"/>
          <p:nvPr/>
        </p:nvSpPr>
        <p:spPr>
          <a:xfrm>
            <a:off x="6093905" y="1828208"/>
            <a:ext cx="62230" cy="104139"/>
          </a:xfrm>
          <a:prstGeom prst="rect">
            <a:avLst/>
          </a:prstGeom>
        </p:spPr>
        <p:txBody>
          <a:bodyPr wrap="square" lIns="0" tIns="13970" rIns="0" bIns="0" rtlCol="0" vert="horz">
            <a:spAutoFit/>
          </a:bodyPr>
          <a:lstStyle/>
          <a:p>
            <a:pPr marL="12700">
              <a:lnSpc>
                <a:spcPct val="100000"/>
              </a:lnSpc>
              <a:spcBef>
                <a:spcPts val="110"/>
              </a:spcBef>
            </a:pPr>
            <a:r>
              <a:rPr dirty="0" sz="500" spc="-50">
                <a:latin typeface="Arial MT"/>
                <a:cs typeface="Arial MT"/>
              </a:rPr>
              <a:t>8</a:t>
            </a:r>
            <a:endParaRPr sz="500">
              <a:latin typeface="Arial MT"/>
              <a:cs typeface="Arial MT"/>
            </a:endParaRPr>
          </a:p>
        </p:txBody>
      </p:sp>
      <p:sp>
        <p:nvSpPr>
          <p:cNvPr id="85" name="object 85" descr=""/>
          <p:cNvSpPr txBox="1"/>
          <p:nvPr/>
        </p:nvSpPr>
        <p:spPr>
          <a:xfrm>
            <a:off x="6093905" y="1657804"/>
            <a:ext cx="62230" cy="104139"/>
          </a:xfrm>
          <a:prstGeom prst="rect">
            <a:avLst/>
          </a:prstGeom>
        </p:spPr>
        <p:txBody>
          <a:bodyPr wrap="square" lIns="0" tIns="13970" rIns="0" bIns="0" rtlCol="0" vert="horz">
            <a:spAutoFit/>
          </a:bodyPr>
          <a:lstStyle/>
          <a:p>
            <a:pPr marL="12700">
              <a:lnSpc>
                <a:spcPct val="100000"/>
              </a:lnSpc>
              <a:spcBef>
                <a:spcPts val="110"/>
              </a:spcBef>
            </a:pPr>
            <a:r>
              <a:rPr dirty="0" sz="500" spc="-50">
                <a:latin typeface="Arial MT"/>
                <a:cs typeface="Arial MT"/>
              </a:rPr>
              <a:t>9</a:t>
            </a:r>
            <a:endParaRPr sz="500">
              <a:latin typeface="Arial MT"/>
              <a:cs typeface="Arial MT"/>
            </a:endParaRPr>
          </a:p>
        </p:txBody>
      </p:sp>
      <p:sp>
        <p:nvSpPr>
          <p:cNvPr id="86" name="object 86" descr=""/>
          <p:cNvSpPr txBox="1"/>
          <p:nvPr/>
        </p:nvSpPr>
        <p:spPr>
          <a:xfrm>
            <a:off x="6143107" y="1185830"/>
            <a:ext cx="2362835" cy="2162810"/>
          </a:xfrm>
          <a:prstGeom prst="rect">
            <a:avLst/>
          </a:prstGeom>
        </p:spPr>
        <p:txBody>
          <a:bodyPr wrap="square" lIns="0" tIns="7620" rIns="0" bIns="0" rtlCol="0" vert="horz">
            <a:spAutoFit/>
          </a:bodyPr>
          <a:lstStyle/>
          <a:p>
            <a:pPr marL="32384">
              <a:lnSpc>
                <a:spcPct val="100000"/>
              </a:lnSpc>
              <a:spcBef>
                <a:spcPts val="60"/>
              </a:spcBef>
            </a:pPr>
            <a:r>
              <a:rPr dirty="0" sz="1100" spc="-10">
                <a:solidFill>
                  <a:srgbClr val="C00000"/>
                </a:solidFill>
                <a:latin typeface="Arial MT"/>
                <a:cs typeface="Arial MT"/>
              </a:rPr>
              <a:t>3</a:t>
            </a:r>
            <a:r>
              <a:rPr dirty="0" sz="1100" spc="-20">
                <a:solidFill>
                  <a:srgbClr val="C00000"/>
                </a:solidFill>
                <a:latin typeface="Microsoft YaHei"/>
                <a:cs typeface="Microsoft YaHei"/>
              </a:rPr>
              <a:t>、</a:t>
            </a:r>
            <a:r>
              <a:rPr dirty="0" sz="1100">
                <a:solidFill>
                  <a:srgbClr val="C00000"/>
                </a:solidFill>
                <a:latin typeface="Arial MT"/>
                <a:cs typeface="Arial MT"/>
              </a:rPr>
              <a:t>NR</a:t>
            </a:r>
            <a:r>
              <a:rPr dirty="0" sz="1100" spc="60">
                <a:solidFill>
                  <a:srgbClr val="C00000"/>
                </a:solidFill>
                <a:latin typeface="Arial MT"/>
                <a:cs typeface="Arial MT"/>
              </a:rPr>
              <a:t> </a:t>
            </a:r>
            <a:r>
              <a:rPr dirty="0" sz="1100" spc="-10">
                <a:solidFill>
                  <a:srgbClr val="C00000"/>
                </a:solidFill>
                <a:latin typeface="Arial MT"/>
                <a:cs typeface="Arial MT"/>
              </a:rPr>
              <a:t>100W</a:t>
            </a:r>
            <a:r>
              <a:rPr dirty="0" sz="1100" spc="-20">
                <a:solidFill>
                  <a:srgbClr val="C00000"/>
                </a:solidFill>
                <a:latin typeface="Microsoft YaHei"/>
                <a:cs typeface="Microsoft YaHei"/>
              </a:rPr>
              <a:t>窄波束与</a:t>
            </a:r>
            <a:r>
              <a:rPr dirty="0" sz="1100" spc="-10">
                <a:solidFill>
                  <a:srgbClr val="C00000"/>
                </a:solidFill>
                <a:latin typeface="Arial MT"/>
                <a:cs typeface="Arial MT"/>
              </a:rPr>
              <a:t>LTE</a:t>
            </a:r>
            <a:r>
              <a:rPr dirty="0" sz="1100" spc="-35">
                <a:solidFill>
                  <a:srgbClr val="C00000"/>
                </a:solidFill>
                <a:latin typeface="Microsoft YaHei"/>
                <a:cs typeface="Microsoft YaHei"/>
              </a:rPr>
              <a:t>对比</a:t>
            </a:r>
            <a:endParaRPr sz="1100">
              <a:latin typeface="Microsoft YaHei"/>
              <a:cs typeface="Microsoft YaHei"/>
            </a:endParaRPr>
          </a:p>
          <a:p>
            <a:pPr>
              <a:lnSpc>
                <a:spcPct val="100000"/>
              </a:lnSpc>
              <a:spcBef>
                <a:spcPts val="1105"/>
              </a:spcBef>
            </a:pPr>
            <a:r>
              <a:rPr dirty="0" sz="500" spc="-50">
                <a:latin typeface="Arial MT"/>
                <a:cs typeface="Arial MT"/>
              </a:rPr>
              <a:t>0</a:t>
            </a:r>
            <a:endParaRPr sz="500">
              <a:latin typeface="Arial MT"/>
              <a:cs typeface="Arial MT"/>
            </a:endParaRPr>
          </a:p>
          <a:p>
            <a:pPr>
              <a:lnSpc>
                <a:spcPct val="100000"/>
              </a:lnSpc>
              <a:spcBef>
                <a:spcPts val="165"/>
              </a:spcBef>
            </a:pPr>
            <a:endParaRPr sz="500">
              <a:latin typeface="Arial MT"/>
              <a:cs typeface="Arial MT"/>
            </a:endParaRPr>
          </a:p>
          <a:p>
            <a:pPr>
              <a:lnSpc>
                <a:spcPct val="100000"/>
              </a:lnSpc>
              <a:spcBef>
                <a:spcPts val="5"/>
              </a:spcBef>
            </a:pPr>
            <a:r>
              <a:rPr dirty="0" sz="500" spc="-50">
                <a:latin typeface="Arial MT"/>
                <a:cs typeface="Arial MT"/>
              </a:rPr>
              <a:t>0</a:t>
            </a:r>
            <a:endParaRPr sz="500">
              <a:latin typeface="Arial MT"/>
              <a:cs typeface="Arial MT"/>
            </a:endParaRPr>
          </a:p>
          <a:p>
            <a:pPr>
              <a:lnSpc>
                <a:spcPct val="100000"/>
              </a:lnSpc>
              <a:spcBef>
                <a:spcPts val="165"/>
              </a:spcBef>
            </a:pPr>
            <a:endParaRPr sz="500">
              <a:latin typeface="Arial MT"/>
              <a:cs typeface="Arial MT"/>
            </a:endParaRPr>
          </a:p>
          <a:p>
            <a:pPr>
              <a:lnSpc>
                <a:spcPct val="100000"/>
              </a:lnSpc>
            </a:pPr>
            <a:r>
              <a:rPr dirty="0" sz="500" spc="-50">
                <a:latin typeface="Arial MT"/>
                <a:cs typeface="Arial MT"/>
              </a:rPr>
              <a:t>0</a:t>
            </a:r>
            <a:endParaRPr sz="500">
              <a:latin typeface="Arial MT"/>
              <a:cs typeface="Arial MT"/>
            </a:endParaRPr>
          </a:p>
          <a:p>
            <a:pPr>
              <a:lnSpc>
                <a:spcPct val="100000"/>
              </a:lnSpc>
              <a:spcBef>
                <a:spcPts val="165"/>
              </a:spcBef>
            </a:pPr>
            <a:endParaRPr sz="500">
              <a:latin typeface="Arial MT"/>
              <a:cs typeface="Arial MT"/>
            </a:endParaRPr>
          </a:p>
          <a:p>
            <a:pPr>
              <a:lnSpc>
                <a:spcPct val="100000"/>
              </a:lnSpc>
            </a:pPr>
            <a:r>
              <a:rPr dirty="0" sz="500" spc="-50">
                <a:latin typeface="Arial MT"/>
                <a:cs typeface="Arial MT"/>
              </a:rPr>
              <a:t>0</a:t>
            </a:r>
            <a:endParaRPr sz="500">
              <a:latin typeface="Arial MT"/>
              <a:cs typeface="Arial MT"/>
            </a:endParaRPr>
          </a:p>
          <a:p>
            <a:pPr>
              <a:lnSpc>
                <a:spcPct val="100000"/>
              </a:lnSpc>
              <a:spcBef>
                <a:spcPts val="165"/>
              </a:spcBef>
            </a:pPr>
            <a:endParaRPr sz="500">
              <a:latin typeface="Arial MT"/>
              <a:cs typeface="Arial MT"/>
            </a:endParaRPr>
          </a:p>
          <a:p>
            <a:pPr>
              <a:lnSpc>
                <a:spcPct val="100000"/>
              </a:lnSpc>
              <a:spcBef>
                <a:spcPts val="5"/>
              </a:spcBef>
            </a:pPr>
            <a:r>
              <a:rPr dirty="0" sz="500" spc="-50">
                <a:latin typeface="Arial MT"/>
                <a:cs typeface="Arial MT"/>
              </a:rPr>
              <a:t>0</a:t>
            </a:r>
            <a:endParaRPr sz="500">
              <a:latin typeface="Arial MT"/>
              <a:cs typeface="Arial MT"/>
            </a:endParaRPr>
          </a:p>
          <a:p>
            <a:pPr>
              <a:lnSpc>
                <a:spcPct val="100000"/>
              </a:lnSpc>
              <a:spcBef>
                <a:spcPts val="204"/>
              </a:spcBef>
            </a:pPr>
            <a:endParaRPr sz="500">
              <a:latin typeface="Arial MT"/>
              <a:cs typeface="Arial MT"/>
            </a:endParaRPr>
          </a:p>
          <a:p>
            <a:pPr>
              <a:lnSpc>
                <a:spcPct val="100000"/>
              </a:lnSpc>
            </a:pPr>
            <a:r>
              <a:rPr dirty="0" sz="500" spc="-50">
                <a:latin typeface="Arial MT"/>
                <a:cs typeface="Arial MT"/>
              </a:rPr>
              <a:t>0</a:t>
            </a:r>
            <a:endParaRPr sz="500">
              <a:latin typeface="Arial MT"/>
              <a:cs typeface="Arial MT"/>
            </a:endParaRPr>
          </a:p>
          <a:p>
            <a:pPr>
              <a:lnSpc>
                <a:spcPct val="100000"/>
              </a:lnSpc>
              <a:spcBef>
                <a:spcPts val="165"/>
              </a:spcBef>
            </a:pPr>
            <a:endParaRPr sz="500">
              <a:latin typeface="Arial MT"/>
              <a:cs typeface="Arial MT"/>
            </a:endParaRPr>
          </a:p>
          <a:p>
            <a:pPr>
              <a:lnSpc>
                <a:spcPct val="100000"/>
              </a:lnSpc>
            </a:pPr>
            <a:r>
              <a:rPr dirty="0" sz="500" spc="-50">
                <a:latin typeface="Arial MT"/>
                <a:cs typeface="Arial MT"/>
              </a:rPr>
              <a:t>0</a:t>
            </a:r>
            <a:endParaRPr sz="500">
              <a:latin typeface="Arial MT"/>
              <a:cs typeface="Arial MT"/>
            </a:endParaRPr>
          </a:p>
          <a:p>
            <a:pPr>
              <a:lnSpc>
                <a:spcPct val="100000"/>
              </a:lnSpc>
              <a:spcBef>
                <a:spcPts val="165"/>
              </a:spcBef>
            </a:pPr>
            <a:endParaRPr sz="500">
              <a:latin typeface="Arial MT"/>
              <a:cs typeface="Arial MT"/>
            </a:endParaRPr>
          </a:p>
          <a:p>
            <a:pPr>
              <a:lnSpc>
                <a:spcPct val="100000"/>
              </a:lnSpc>
              <a:spcBef>
                <a:spcPts val="5"/>
              </a:spcBef>
            </a:pPr>
            <a:r>
              <a:rPr dirty="0" sz="500" spc="-50">
                <a:latin typeface="Arial MT"/>
                <a:cs typeface="Arial MT"/>
              </a:rPr>
              <a:t>0</a:t>
            </a:r>
            <a:endParaRPr sz="500">
              <a:latin typeface="Arial MT"/>
              <a:cs typeface="Arial MT"/>
            </a:endParaRPr>
          </a:p>
          <a:p>
            <a:pPr>
              <a:lnSpc>
                <a:spcPct val="100000"/>
              </a:lnSpc>
              <a:spcBef>
                <a:spcPts val="165"/>
              </a:spcBef>
            </a:pPr>
            <a:endParaRPr sz="500">
              <a:latin typeface="Arial MT"/>
              <a:cs typeface="Arial MT"/>
            </a:endParaRPr>
          </a:p>
          <a:p>
            <a:pPr>
              <a:lnSpc>
                <a:spcPct val="100000"/>
              </a:lnSpc>
            </a:pPr>
            <a:r>
              <a:rPr dirty="0" sz="500" spc="-50">
                <a:latin typeface="Arial MT"/>
                <a:cs typeface="Arial MT"/>
              </a:rPr>
              <a:t>0</a:t>
            </a:r>
            <a:endParaRPr sz="500">
              <a:latin typeface="Arial MT"/>
              <a:cs typeface="Arial MT"/>
            </a:endParaRPr>
          </a:p>
          <a:p>
            <a:pPr>
              <a:lnSpc>
                <a:spcPct val="100000"/>
              </a:lnSpc>
              <a:spcBef>
                <a:spcPts val="165"/>
              </a:spcBef>
            </a:pPr>
            <a:endParaRPr sz="500">
              <a:latin typeface="Arial MT"/>
              <a:cs typeface="Arial MT"/>
            </a:endParaRPr>
          </a:p>
          <a:p>
            <a:pPr>
              <a:lnSpc>
                <a:spcPct val="100000"/>
              </a:lnSpc>
            </a:pPr>
            <a:r>
              <a:rPr dirty="0" sz="500" spc="-50">
                <a:latin typeface="Arial MT"/>
                <a:cs typeface="Arial MT"/>
              </a:rPr>
              <a:t>0</a:t>
            </a:r>
            <a:endParaRPr sz="500">
              <a:latin typeface="Arial MT"/>
              <a:cs typeface="Arial MT"/>
            </a:endParaRPr>
          </a:p>
          <a:p>
            <a:pPr>
              <a:lnSpc>
                <a:spcPct val="100000"/>
              </a:lnSpc>
              <a:spcBef>
                <a:spcPts val="204"/>
              </a:spcBef>
            </a:pPr>
            <a:endParaRPr sz="500">
              <a:latin typeface="Arial MT"/>
              <a:cs typeface="Arial MT"/>
            </a:endParaRPr>
          </a:p>
          <a:p>
            <a:pPr>
              <a:lnSpc>
                <a:spcPts val="515"/>
              </a:lnSpc>
              <a:spcBef>
                <a:spcPts val="5"/>
              </a:spcBef>
            </a:pPr>
            <a:r>
              <a:rPr dirty="0" sz="500" spc="-50">
                <a:latin typeface="Arial MT"/>
                <a:cs typeface="Arial MT"/>
              </a:rPr>
              <a:t>0</a:t>
            </a:r>
            <a:endParaRPr sz="500">
              <a:latin typeface="Arial MT"/>
              <a:cs typeface="Arial MT"/>
            </a:endParaRPr>
          </a:p>
          <a:p>
            <a:pPr marL="5080">
              <a:lnSpc>
                <a:spcPts val="515"/>
              </a:lnSpc>
              <a:tabLst>
                <a:tab pos="307975" algn="l"/>
                <a:tab pos="647700" algn="l"/>
                <a:tab pos="971550" algn="l"/>
                <a:tab pos="1295400" algn="l"/>
                <a:tab pos="1619250" algn="l"/>
                <a:tab pos="1943100" algn="l"/>
                <a:tab pos="2266950" algn="l"/>
              </a:tabLst>
            </a:pPr>
            <a:r>
              <a:rPr dirty="0" sz="500" spc="-25">
                <a:latin typeface="Arial MT"/>
                <a:cs typeface="Arial MT"/>
              </a:rPr>
              <a:t>110</a:t>
            </a:r>
            <a:r>
              <a:rPr dirty="0" sz="500">
                <a:latin typeface="Arial MT"/>
                <a:cs typeface="Arial MT"/>
              </a:rPr>
              <a:t>	</a:t>
            </a:r>
            <a:r>
              <a:rPr dirty="0" sz="500" spc="-10">
                <a:latin typeface="Arial MT"/>
                <a:cs typeface="Arial MT"/>
              </a:rPr>
              <a:t>-</a:t>
            </a:r>
            <a:r>
              <a:rPr dirty="0" sz="500" spc="-25">
                <a:latin typeface="Arial MT"/>
                <a:cs typeface="Arial MT"/>
              </a:rPr>
              <a:t>100</a:t>
            </a:r>
            <a:r>
              <a:rPr dirty="0" sz="500">
                <a:latin typeface="Arial MT"/>
                <a:cs typeface="Arial MT"/>
              </a:rPr>
              <a:t>	</a:t>
            </a:r>
            <a:r>
              <a:rPr dirty="0" sz="500" spc="-10">
                <a:latin typeface="Arial MT"/>
                <a:cs typeface="Arial MT"/>
              </a:rPr>
              <a:t>-</a:t>
            </a:r>
            <a:r>
              <a:rPr dirty="0" sz="500" spc="-25">
                <a:latin typeface="Arial MT"/>
                <a:cs typeface="Arial MT"/>
              </a:rPr>
              <a:t>90</a:t>
            </a:r>
            <a:r>
              <a:rPr dirty="0" sz="500">
                <a:latin typeface="Arial MT"/>
                <a:cs typeface="Arial MT"/>
              </a:rPr>
              <a:t>	</a:t>
            </a:r>
            <a:r>
              <a:rPr dirty="0" sz="500" spc="-10">
                <a:latin typeface="Arial MT"/>
                <a:cs typeface="Arial MT"/>
              </a:rPr>
              <a:t>-</a:t>
            </a:r>
            <a:r>
              <a:rPr dirty="0" sz="500" spc="-25">
                <a:latin typeface="Arial MT"/>
                <a:cs typeface="Arial MT"/>
              </a:rPr>
              <a:t>80</a:t>
            </a:r>
            <a:r>
              <a:rPr dirty="0" sz="500">
                <a:latin typeface="Arial MT"/>
                <a:cs typeface="Arial MT"/>
              </a:rPr>
              <a:t>	</a:t>
            </a:r>
            <a:r>
              <a:rPr dirty="0" sz="500" spc="-10">
                <a:latin typeface="Arial MT"/>
                <a:cs typeface="Arial MT"/>
              </a:rPr>
              <a:t>-</a:t>
            </a:r>
            <a:r>
              <a:rPr dirty="0" sz="500" spc="-25">
                <a:latin typeface="Arial MT"/>
                <a:cs typeface="Arial MT"/>
              </a:rPr>
              <a:t>70</a:t>
            </a:r>
            <a:r>
              <a:rPr dirty="0" sz="500">
                <a:latin typeface="Arial MT"/>
                <a:cs typeface="Arial MT"/>
              </a:rPr>
              <a:t>	</a:t>
            </a:r>
            <a:r>
              <a:rPr dirty="0" sz="500" spc="-10">
                <a:latin typeface="Arial MT"/>
                <a:cs typeface="Arial MT"/>
              </a:rPr>
              <a:t>-</a:t>
            </a:r>
            <a:r>
              <a:rPr dirty="0" sz="500" spc="-25">
                <a:latin typeface="Arial MT"/>
                <a:cs typeface="Arial MT"/>
              </a:rPr>
              <a:t>60</a:t>
            </a:r>
            <a:r>
              <a:rPr dirty="0" sz="500">
                <a:latin typeface="Arial MT"/>
                <a:cs typeface="Arial MT"/>
              </a:rPr>
              <a:t>	</a:t>
            </a:r>
            <a:r>
              <a:rPr dirty="0" sz="500" spc="-10">
                <a:latin typeface="Arial MT"/>
                <a:cs typeface="Arial MT"/>
              </a:rPr>
              <a:t>-</a:t>
            </a:r>
            <a:r>
              <a:rPr dirty="0" sz="500" spc="-25">
                <a:latin typeface="Arial MT"/>
                <a:cs typeface="Arial MT"/>
              </a:rPr>
              <a:t>50</a:t>
            </a:r>
            <a:r>
              <a:rPr dirty="0" sz="500">
                <a:latin typeface="Arial MT"/>
                <a:cs typeface="Arial MT"/>
              </a:rPr>
              <a:t>	</a:t>
            </a:r>
            <a:r>
              <a:rPr dirty="0" sz="500" spc="-10">
                <a:latin typeface="Arial MT"/>
                <a:cs typeface="Arial MT"/>
              </a:rPr>
              <a:t>-</a:t>
            </a:r>
            <a:r>
              <a:rPr dirty="0" sz="500" spc="-25">
                <a:latin typeface="Arial MT"/>
                <a:cs typeface="Arial MT"/>
              </a:rPr>
              <a:t>40</a:t>
            </a:r>
            <a:endParaRPr sz="500">
              <a:latin typeface="Arial MT"/>
              <a:cs typeface="Arial MT"/>
            </a:endParaRPr>
          </a:p>
        </p:txBody>
      </p:sp>
      <p:sp>
        <p:nvSpPr>
          <p:cNvPr id="87" name="object 87" descr=""/>
          <p:cNvSpPr txBox="1"/>
          <p:nvPr/>
        </p:nvSpPr>
        <p:spPr>
          <a:xfrm>
            <a:off x="6057342" y="1487402"/>
            <a:ext cx="99060" cy="104139"/>
          </a:xfrm>
          <a:prstGeom prst="rect">
            <a:avLst/>
          </a:prstGeom>
        </p:spPr>
        <p:txBody>
          <a:bodyPr wrap="square" lIns="0" tIns="13970" rIns="0" bIns="0" rtlCol="0" vert="horz">
            <a:spAutoFit/>
          </a:bodyPr>
          <a:lstStyle/>
          <a:p>
            <a:pPr marL="12700">
              <a:lnSpc>
                <a:spcPct val="100000"/>
              </a:lnSpc>
              <a:spcBef>
                <a:spcPts val="110"/>
              </a:spcBef>
            </a:pPr>
            <a:r>
              <a:rPr dirty="0" sz="500" spc="-25">
                <a:latin typeface="Arial MT"/>
                <a:cs typeface="Arial MT"/>
              </a:rPr>
              <a:t>10</a:t>
            </a:r>
            <a:endParaRPr sz="500">
              <a:latin typeface="Arial MT"/>
              <a:cs typeface="Arial MT"/>
            </a:endParaRPr>
          </a:p>
        </p:txBody>
      </p:sp>
      <p:sp>
        <p:nvSpPr>
          <p:cNvPr id="88" name="object 88" descr=""/>
          <p:cNvSpPr txBox="1"/>
          <p:nvPr/>
        </p:nvSpPr>
        <p:spPr>
          <a:xfrm>
            <a:off x="7128140" y="3341782"/>
            <a:ext cx="398145" cy="104139"/>
          </a:xfrm>
          <a:prstGeom prst="rect">
            <a:avLst/>
          </a:prstGeom>
        </p:spPr>
        <p:txBody>
          <a:bodyPr wrap="square" lIns="0" tIns="13970" rIns="0" bIns="0" rtlCol="0" vert="horz">
            <a:spAutoFit/>
          </a:bodyPr>
          <a:lstStyle/>
          <a:p>
            <a:pPr marL="12700">
              <a:lnSpc>
                <a:spcPct val="100000"/>
              </a:lnSpc>
              <a:spcBef>
                <a:spcPts val="110"/>
              </a:spcBef>
            </a:pPr>
            <a:r>
              <a:rPr dirty="0" sz="500" spc="-10">
                <a:latin typeface="Arial MT"/>
                <a:cs typeface="Arial MT"/>
              </a:rPr>
              <a:t>RSRP(dBm)</a:t>
            </a:r>
            <a:endParaRPr sz="500">
              <a:latin typeface="Arial MT"/>
              <a:cs typeface="Arial MT"/>
            </a:endParaRPr>
          </a:p>
        </p:txBody>
      </p:sp>
      <p:sp>
        <p:nvSpPr>
          <p:cNvPr id="89" name="object 89" descr=""/>
          <p:cNvSpPr txBox="1"/>
          <p:nvPr/>
        </p:nvSpPr>
        <p:spPr>
          <a:xfrm>
            <a:off x="6225848" y="2499943"/>
            <a:ext cx="67945" cy="113030"/>
          </a:xfrm>
          <a:prstGeom prst="rect">
            <a:avLst/>
          </a:prstGeom>
        </p:spPr>
        <p:txBody>
          <a:bodyPr wrap="square" lIns="0" tIns="0" rIns="0" bIns="0" rtlCol="0" vert="vert270">
            <a:spAutoFit/>
          </a:bodyPr>
          <a:lstStyle/>
          <a:p>
            <a:pPr>
              <a:lnSpc>
                <a:spcPts val="535"/>
              </a:lnSpc>
            </a:pPr>
            <a:r>
              <a:rPr dirty="0" sz="500" spc="-45">
                <a:latin typeface="SimSun"/>
                <a:cs typeface="SimSun"/>
              </a:rPr>
              <a:t>(%</a:t>
            </a:r>
            <a:r>
              <a:rPr dirty="0" sz="500" spc="-35">
                <a:latin typeface="SimSun"/>
                <a:cs typeface="SimSun"/>
              </a:rPr>
              <a:t> </a:t>
            </a:r>
            <a:r>
              <a:rPr dirty="0" sz="500" spc="-50">
                <a:latin typeface="SimSun"/>
                <a:cs typeface="SimSun"/>
              </a:rPr>
              <a:t>)</a:t>
            </a:r>
            <a:endParaRPr sz="500">
              <a:latin typeface="SimSun"/>
              <a:cs typeface="SimSun"/>
            </a:endParaRPr>
          </a:p>
        </p:txBody>
      </p:sp>
      <p:sp>
        <p:nvSpPr>
          <p:cNvPr id="90" name="object 90" descr=""/>
          <p:cNvSpPr txBox="1"/>
          <p:nvPr/>
        </p:nvSpPr>
        <p:spPr>
          <a:xfrm>
            <a:off x="6508809" y="1424062"/>
            <a:ext cx="2225675" cy="436245"/>
          </a:xfrm>
          <a:prstGeom prst="rect">
            <a:avLst/>
          </a:prstGeom>
        </p:spPr>
        <p:txBody>
          <a:bodyPr wrap="square" lIns="0" tIns="2540" rIns="0" bIns="0" rtlCol="0" vert="horz">
            <a:spAutoFit/>
          </a:bodyPr>
          <a:lstStyle/>
          <a:p>
            <a:pPr marL="109220">
              <a:lnSpc>
                <a:spcPct val="100000"/>
              </a:lnSpc>
              <a:spcBef>
                <a:spcPts val="20"/>
              </a:spcBef>
              <a:tabLst>
                <a:tab pos="1530350" algn="l"/>
              </a:tabLst>
            </a:pPr>
            <a:r>
              <a:rPr dirty="0" sz="500" spc="-25">
                <a:latin typeface="Arial MT"/>
                <a:cs typeface="Arial MT"/>
              </a:rPr>
              <a:t>NR</a:t>
            </a:r>
            <a:r>
              <a:rPr dirty="0" sz="500">
                <a:latin typeface="Arial MT"/>
                <a:cs typeface="Arial MT"/>
              </a:rPr>
              <a:t>	</a:t>
            </a:r>
            <a:r>
              <a:rPr dirty="0" baseline="11111" sz="750">
                <a:latin typeface="MS PGothic"/>
                <a:cs typeface="MS PGothic"/>
              </a:rPr>
              <a:t>、LTE</a:t>
            </a:r>
            <a:r>
              <a:rPr dirty="0" baseline="11111" sz="750" spc="240">
                <a:latin typeface="MS PGothic"/>
                <a:cs typeface="MS PGothic"/>
              </a:rPr>
              <a:t> </a:t>
            </a:r>
            <a:r>
              <a:rPr dirty="0" baseline="11111" sz="750">
                <a:latin typeface="MS PGothic"/>
                <a:cs typeface="MS PGothic"/>
              </a:rPr>
              <a:t>LINK</a:t>
            </a:r>
            <a:r>
              <a:rPr dirty="0" baseline="11111" sz="750" spc="7">
                <a:latin typeface="MS PGothic"/>
                <a:cs typeface="MS PGothic"/>
              </a:rPr>
              <a:t>与 </a:t>
            </a:r>
            <a:r>
              <a:rPr dirty="0" baseline="11111" sz="750" spc="-30">
                <a:latin typeface="MS PGothic"/>
                <a:cs typeface="MS PGothic"/>
              </a:rPr>
              <a:t>LTE</a:t>
            </a:r>
            <a:r>
              <a:rPr dirty="0" baseline="11111" sz="750" spc="15">
                <a:latin typeface="MS PGothic"/>
                <a:cs typeface="MS PGothic"/>
              </a:rPr>
              <a:t> ➷间</a:t>
            </a:r>
            <a:r>
              <a:rPr dirty="0" baseline="11111" sz="750" spc="750">
                <a:latin typeface="MS PGothic"/>
                <a:cs typeface="MS PGothic"/>
              </a:rPr>
              <a:t> </a:t>
            </a:r>
            <a:endParaRPr baseline="11111" sz="750">
              <a:latin typeface="MS PGothic"/>
              <a:cs typeface="MS PGothic"/>
            </a:endParaRPr>
          </a:p>
          <a:p>
            <a:pPr>
              <a:lnSpc>
                <a:spcPct val="100000"/>
              </a:lnSpc>
              <a:spcBef>
                <a:spcPts val="100"/>
              </a:spcBef>
            </a:pPr>
            <a:endParaRPr sz="500">
              <a:latin typeface="MS PGothic"/>
              <a:cs typeface="MS PGothic"/>
            </a:endParaRPr>
          </a:p>
          <a:p>
            <a:pPr>
              <a:lnSpc>
                <a:spcPct val="100000"/>
              </a:lnSpc>
            </a:pPr>
            <a:r>
              <a:rPr dirty="0" sz="500" spc="-25">
                <a:latin typeface="Arial MT"/>
                <a:cs typeface="Arial MT"/>
              </a:rPr>
              <a:t>NR</a:t>
            </a:r>
            <a:endParaRPr sz="500">
              <a:latin typeface="Arial MT"/>
              <a:cs typeface="Arial MT"/>
            </a:endParaRPr>
          </a:p>
          <a:p>
            <a:pPr marR="1931670">
              <a:lnSpc>
                <a:spcPct val="118400"/>
              </a:lnSpc>
              <a:spcBef>
                <a:spcPts val="40"/>
              </a:spcBef>
            </a:pPr>
            <a:r>
              <a:rPr dirty="0" sz="500">
                <a:latin typeface="Arial MT"/>
                <a:cs typeface="Arial MT"/>
              </a:rPr>
              <a:t>LTE</a:t>
            </a:r>
            <a:r>
              <a:rPr dirty="0" sz="500" spc="45">
                <a:latin typeface="Arial MT"/>
                <a:cs typeface="Arial MT"/>
              </a:rPr>
              <a:t> </a:t>
            </a:r>
            <a:r>
              <a:rPr dirty="0" sz="500" spc="-20">
                <a:latin typeface="Arial MT"/>
                <a:cs typeface="Arial MT"/>
              </a:rPr>
              <a:t>LINK</a:t>
            </a:r>
            <a:r>
              <a:rPr dirty="0" sz="500" spc="500">
                <a:latin typeface="Arial MT"/>
                <a:cs typeface="Arial MT"/>
              </a:rPr>
              <a:t> </a:t>
            </a:r>
            <a:r>
              <a:rPr dirty="0" sz="500" spc="-25">
                <a:latin typeface="Arial MT"/>
                <a:cs typeface="Arial MT"/>
              </a:rPr>
              <a:t>LTE</a:t>
            </a:r>
            <a:endParaRPr sz="500">
              <a:latin typeface="Arial MT"/>
              <a:cs typeface="Arial MT"/>
            </a:endParaRPr>
          </a:p>
        </p:txBody>
      </p:sp>
      <p:grpSp>
        <p:nvGrpSpPr>
          <p:cNvPr id="91" name="object 91" descr=""/>
          <p:cNvGrpSpPr/>
          <p:nvPr/>
        </p:nvGrpSpPr>
        <p:grpSpPr>
          <a:xfrm>
            <a:off x="3268398" y="1205853"/>
            <a:ext cx="2652395" cy="2200910"/>
            <a:chOff x="3268398" y="1205853"/>
            <a:chExt cx="2652395" cy="2200910"/>
          </a:xfrm>
        </p:grpSpPr>
        <p:sp>
          <p:nvSpPr>
            <p:cNvPr id="92" name="object 92" descr=""/>
            <p:cNvSpPr/>
            <p:nvPr/>
          </p:nvSpPr>
          <p:spPr>
            <a:xfrm>
              <a:off x="3271257" y="1208710"/>
              <a:ext cx="2646680" cy="2195195"/>
            </a:xfrm>
            <a:custGeom>
              <a:avLst/>
              <a:gdLst/>
              <a:ahLst/>
              <a:cxnLst/>
              <a:rect l="l" t="t" r="r" b="b"/>
              <a:pathLst>
                <a:path w="2646679" h="2195195">
                  <a:moveTo>
                    <a:pt x="2646383" y="2194924"/>
                  </a:moveTo>
                  <a:lnTo>
                    <a:pt x="0" y="2194924"/>
                  </a:lnTo>
                  <a:lnTo>
                    <a:pt x="0" y="0"/>
                  </a:lnTo>
                  <a:lnTo>
                    <a:pt x="2646383" y="0"/>
                  </a:lnTo>
                  <a:lnTo>
                    <a:pt x="2646383" y="2194924"/>
                  </a:lnTo>
                  <a:close/>
                </a:path>
              </a:pathLst>
            </a:custGeom>
            <a:solidFill>
              <a:srgbClr val="FFFFFF"/>
            </a:solidFill>
          </p:spPr>
          <p:txBody>
            <a:bodyPr wrap="square" lIns="0" tIns="0" rIns="0" bIns="0" rtlCol="0"/>
            <a:lstStyle/>
            <a:p/>
          </p:txBody>
        </p:sp>
        <p:sp>
          <p:nvSpPr>
            <p:cNvPr id="93" name="object 93" descr=""/>
            <p:cNvSpPr/>
            <p:nvPr/>
          </p:nvSpPr>
          <p:spPr>
            <a:xfrm>
              <a:off x="3271257" y="1208711"/>
              <a:ext cx="2646680" cy="0"/>
            </a:xfrm>
            <a:custGeom>
              <a:avLst/>
              <a:gdLst/>
              <a:ahLst/>
              <a:cxnLst/>
              <a:rect l="l" t="t" r="r" b="b"/>
              <a:pathLst>
                <a:path w="2646679" h="0">
                  <a:moveTo>
                    <a:pt x="0" y="0"/>
                  </a:moveTo>
                  <a:lnTo>
                    <a:pt x="2646383" y="0"/>
                  </a:lnTo>
                </a:path>
              </a:pathLst>
            </a:custGeom>
            <a:ln w="5301">
              <a:solidFill>
                <a:srgbClr val="000000"/>
              </a:solidFill>
            </a:ln>
          </p:spPr>
          <p:txBody>
            <a:bodyPr wrap="square" lIns="0" tIns="0" rIns="0" bIns="0" rtlCol="0"/>
            <a:lstStyle/>
            <a:p/>
          </p:txBody>
        </p:sp>
        <p:sp>
          <p:nvSpPr>
            <p:cNvPr id="94" name="object 94" descr=""/>
            <p:cNvSpPr/>
            <p:nvPr/>
          </p:nvSpPr>
          <p:spPr>
            <a:xfrm>
              <a:off x="5915260" y="120606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95" name="object 95" descr=""/>
            <p:cNvSpPr/>
            <p:nvPr/>
          </p:nvSpPr>
          <p:spPr>
            <a:xfrm>
              <a:off x="3271256" y="3403636"/>
              <a:ext cx="2646680" cy="0"/>
            </a:xfrm>
            <a:custGeom>
              <a:avLst/>
              <a:gdLst/>
              <a:ahLst/>
              <a:cxnLst/>
              <a:rect l="l" t="t" r="r" b="b"/>
              <a:pathLst>
                <a:path w="2646679" h="0">
                  <a:moveTo>
                    <a:pt x="0" y="0"/>
                  </a:moveTo>
                  <a:lnTo>
                    <a:pt x="2646383" y="0"/>
                  </a:lnTo>
                </a:path>
              </a:pathLst>
            </a:custGeom>
            <a:ln w="5301">
              <a:solidFill>
                <a:srgbClr val="000000"/>
              </a:solidFill>
            </a:ln>
          </p:spPr>
          <p:txBody>
            <a:bodyPr wrap="square" lIns="0" tIns="0" rIns="0" bIns="0" rtlCol="0"/>
            <a:lstStyle/>
            <a:p/>
          </p:txBody>
        </p:sp>
        <p:sp>
          <p:nvSpPr>
            <p:cNvPr id="96" name="object 96" descr=""/>
            <p:cNvSpPr/>
            <p:nvPr/>
          </p:nvSpPr>
          <p:spPr>
            <a:xfrm>
              <a:off x="5915259" y="3400985"/>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97" name="object 97" descr=""/>
            <p:cNvSpPr/>
            <p:nvPr/>
          </p:nvSpPr>
          <p:spPr>
            <a:xfrm>
              <a:off x="5917639" y="1208711"/>
              <a:ext cx="0" cy="2195195"/>
            </a:xfrm>
            <a:custGeom>
              <a:avLst/>
              <a:gdLst/>
              <a:ahLst/>
              <a:cxnLst/>
              <a:rect l="l" t="t" r="r" b="b"/>
              <a:pathLst>
                <a:path w="0" h="2195195">
                  <a:moveTo>
                    <a:pt x="0" y="2194924"/>
                  </a:moveTo>
                  <a:lnTo>
                    <a:pt x="0" y="0"/>
                  </a:lnTo>
                </a:path>
              </a:pathLst>
            </a:custGeom>
            <a:ln w="4759">
              <a:solidFill>
                <a:srgbClr val="000000"/>
              </a:solidFill>
            </a:ln>
          </p:spPr>
          <p:txBody>
            <a:bodyPr wrap="square" lIns="0" tIns="0" rIns="0" bIns="0" rtlCol="0"/>
            <a:lstStyle/>
            <a:p/>
          </p:txBody>
        </p:sp>
        <p:sp>
          <p:nvSpPr>
            <p:cNvPr id="98" name="object 98" descr=""/>
            <p:cNvSpPr/>
            <p:nvPr/>
          </p:nvSpPr>
          <p:spPr>
            <a:xfrm>
              <a:off x="5915259" y="120606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99" name="object 99" descr=""/>
            <p:cNvSpPr/>
            <p:nvPr/>
          </p:nvSpPr>
          <p:spPr>
            <a:xfrm>
              <a:off x="3271256" y="1208711"/>
              <a:ext cx="0" cy="2195195"/>
            </a:xfrm>
            <a:custGeom>
              <a:avLst/>
              <a:gdLst/>
              <a:ahLst/>
              <a:cxnLst/>
              <a:rect l="l" t="t" r="r" b="b"/>
              <a:pathLst>
                <a:path w="0" h="2195195">
                  <a:moveTo>
                    <a:pt x="0" y="2194924"/>
                  </a:moveTo>
                  <a:lnTo>
                    <a:pt x="0" y="0"/>
                  </a:lnTo>
                </a:path>
              </a:pathLst>
            </a:custGeom>
            <a:ln w="4759">
              <a:solidFill>
                <a:srgbClr val="000000"/>
              </a:solidFill>
            </a:ln>
          </p:spPr>
          <p:txBody>
            <a:bodyPr wrap="square" lIns="0" tIns="0" rIns="0" bIns="0" rtlCol="0"/>
            <a:lstStyle/>
            <a:p/>
          </p:txBody>
        </p:sp>
        <p:sp>
          <p:nvSpPr>
            <p:cNvPr id="100" name="object 100" descr=""/>
            <p:cNvSpPr/>
            <p:nvPr/>
          </p:nvSpPr>
          <p:spPr>
            <a:xfrm>
              <a:off x="3268876" y="120606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01" name="object 101" descr=""/>
            <p:cNvSpPr/>
            <p:nvPr/>
          </p:nvSpPr>
          <p:spPr>
            <a:xfrm>
              <a:off x="3271255" y="3403636"/>
              <a:ext cx="2646680" cy="0"/>
            </a:xfrm>
            <a:custGeom>
              <a:avLst/>
              <a:gdLst/>
              <a:ahLst/>
              <a:cxnLst/>
              <a:rect l="l" t="t" r="r" b="b"/>
              <a:pathLst>
                <a:path w="2646679" h="0">
                  <a:moveTo>
                    <a:pt x="0" y="0"/>
                  </a:moveTo>
                  <a:lnTo>
                    <a:pt x="2646383" y="0"/>
                  </a:lnTo>
                </a:path>
              </a:pathLst>
            </a:custGeom>
            <a:ln w="5301">
              <a:solidFill>
                <a:srgbClr val="000000"/>
              </a:solidFill>
            </a:ln>
          </p:spPr>
          <p:txBody>
            <a:bodyPr wrap="square" lIns="0" tIns="0" rIns="0" bIns="0" rtlCol="0"/>
            <a:lstStyle/>
            <a:p/>
          </p:txBody>
        </p:sp>
        <p:sp>
          <p:nvSpPr>
            <p:cNvPr id="102" name="object 102" descr=""/>
            <p:cNvSpPr/>
            <p:nvPr/>
          </p:nvSpPr>
          <p:spPr>
            <a:xfrm>
              <a:off x="5915258" y="3400985"/>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03" name="object 103" descr=""/>
            <p:cNvSpPr/>
            <p:nvPr/>
          </p:nvSpPr>
          <p:spPr>
            <a:xfrm>
              <a:off x="3271255" y="1208711"/>
              <a:ext cx="0" cy="2195195"/>
            </a:xfrm>
            <a:custGeom>
              <a:avLst/>
              <a:gdLst/>
              <a:ahLst/>
              <a:cxnLst/>
              <a:rect l="l" t="t" r="r" b="b"/>
              <a:pathLst>
                <a:path w="0" h="2195195">
                  <a:moveTo>
                    <a:pt x="0" y="2194924"/>
                  </a:moveTo>
                  <a:lnTo>
                    <a:pt x="0" y="0"/>
                  </a:lnTo>
                </a:path>
              </a:pathLst>
            </a:custGeom>
            <a:ln w="4759">
              <a:solidFill>
                <a:srgbClr val="000000"/>
              </a:solidFill>
            </a:ln>
          </p:spPr>
          <p:txBody>
            <a:bodyPr wrap="square" lIns="0" tIns="0" rIns="0" bIns="0" rtlCol="0"/>
            <a:lstStyle/>
            <a:p/>
          </p:txBody>
        </p:sp>
        <p:sp>
          <p:nvSpPr>
            <p:cNvPr id="104" name="object 104" descr=""/>
            <p:cNvSpPr/>
            <p:nvPr/>
          </p:nvSpPr>
          <p:spPr>
            <a:xfrm>
              <a:off x="3268875" y="120606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05" name="object 105" descr=""/>
            <p:cNvSpPr/>
            <p:nvPr/>
          </p:nvSpPr>
          <p:spPr>
            <a:xfrm>
              <a:off x="3561595" y="3371825"/>
              <a:ext cx="0" cy="32384"/>
            </a:xfrm>
            <a:custGeom>
              <a:avLst/>
              <a:gdLst/>
              <a:ahLst/>
              <a:cxnLst/>
              <a:rect l="l" t="t" r="r" b="b"/>
              <a:pathLst>
                <a:path w="0" h="32385">
                  <a:moveTo>
                    <a:pt x="0" y="31810"/>
                  </a:moveTo>
                  <a:lnTo>
                    <a:pt x="0" y="0"/>
                  </a:lnTo>
                </a:path>
              </a:pathLst>
            </a:custGeom>
            <a:ln w="4759">
              <a:solidFill>
                <a:srgbClr val="000000"/>
              </a:solidFill>
            </a:ln>
          </p:spPr>
          <p:txBody>
            <a:bodyPr wrap="square" lIns="0" tIns="0" rIns="0" bIns="0" rtlCol="0"/>
            <a:lstStyle/>
            <a:p/>
          </p:txBody>
        </p:sp>
        <p:sp>
          <p:nvSpPr>
            <p:cNvPr id="106" name="object 106" descr=""/>
            <p:cNvSpPr/>
            <p:nvPr/>
          </p:nvSpPr>
          <p:spPr>
            <a:xfrm>
              <a:off x="3559215" y="3369174"/>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07" name="object 107" descr=""/>
            <p:cNvSpPr/>
            <p:nvPr/>
          </p:nvSpPr>
          <p:spPr>
            <a:xfrm>
              <a:off x="3561595" y="1214012"/>
              <a:ext cx="0" cy="26670"/>
            </a:xfrm>
            <a:custGeom>
              <a:avLst/>
              <a:gdLst/>
              <a:ahLst/>
              <a:cxnLst/>
              <a:rect l="l" t="t" r="r" b="b"/>
              <a:pathLst>
                <a:path w="0" h="26669">
                  <a:moveTo>
                    <a:pt x="0" y="0"/>
                  </a:moveTo>
                  <a:lnTo>
                    <a:pt x="0" y="26508"/>
                  </a:lnTo>
                </a:path>
              </a:pathLst>
            </a:custGeom>
            <a:ln w="4759">
              <a:solidFill>
                <a:srgbClr val="000000"/>
              </a:solidFill>
            </a:ln>
          </p:spPr>
          <p:txBody>
            <a:bodyPr wrap="square" lIns="0" tIns="0" rIns="0" bIns="0" rtlCol="0"/>
            <a:lstStyle/>
            <a:p/>
          </p:txBody>
        </p:sp>
        <p:sp>
          <p:nvSpPr>
            <p:cNvPr id="108" name="object 108" descr=""/>
            <p:cNvSpPr/>
            <p:nvPr/>
          </p:nvSpPr>
          <p:spPr>
            <a:xfrm>
              <a:off x="3559215" y="123787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grpSp>
      <p:sp>
        <p:nvSpPr>
          <p:cNvPr id="109" name="object 109" descr=""/>
          <p:cNvSpPr txBox="1"/>
          <p:nvPr/>
        </p:nvSpPr>
        <p:spPr>
          <a:xfrm>
            <a:off x="3496538" y="3406841"/>
            <a:ext cx="131445" cy="108585"/>
          </a:xfrm>
          <a:prstGeom prst="rect">
            <a:avLst/>
          </a:prstGeom>
        </p:spPr>
        <p:txBody>
          <a:bodyPr wrap="square" lIns="0" tIns="11430" rIns="0" bIns="0" rtlCol="0" vert="horz">
            <a:spAutoFit/>
          </a:bodyPr>
          <a:lstStyle/>
          <a:p>
            <a:pPr marL="12700">
              <a:lnSpc>
                <a:spcPct val="100000"/>
              </a:lnSpc>
              <a:spcBef>
                <a:spcPts val="90"/>
              </a:spcBef>
            </a:pPr>
            <a:r>
              <a:rPr dirty="0" sz="550" spc="-25">
                <a:latin typeface="Arial MT"/>
                <a:cs typeface="Arial MT"/>
              </a:rPr>
              <a:t>0~1</a:t>
            </a:r>
            <a:endParaRPr sz="550">
              <a:latin typeface="Arial MT"/>
              <a:cs typeface="Arial MT"/>
            </a:endParaRPr>
          </a:p>
        </p:txBody>
      </p:sp>
      <p:grpSp>
        <p:nvGrpSpPr>
          <p:cNvPr id="110" name="object 110" descr=""/>
          <p:cNvGrpSpPr/>
          <p:nvPr/>
        </p:nvGrpSpPr>
        <p:grpSpPr>
          <a:xfrm>
            <a:off x="3854154" y="1211472"/>
            <a:ext cx="1771014" cy="2195195"/>
            <a:chOff x="3854154" y="1211472"/>
            <a:chExt cx="1771014" cy="2195195"/>
          </a:xfrm>
        </p:grpSpPr>
        <p:sp>
          <p:nvSpPr>
            <p:cNvPr id="111" name="object 111" descr=""/>
            <p:cNvSpPr/>
            <p:nvPr/>
          </p:nvSpPr>
          <p:spPr>
            <a:xfrm>
              <a:off x="3856694" y="1214012"/>
              <a:ext cx="0" cy="26670"/>
            </a:xfrm>
            <a:custGeom>
              <a:avLst/>
              <a:gdLst/>
              <a:ahLst/>
              <a:cxnLst/>
              <a:rect l="l" t="t" r="r" b="b"/>
              <a:pathLst>
                <a:path w="0" h="26669">
                  <a:moveTo>
                    <a:pt x="0" y="0"/>
                  </a:moveTo>
                  <a:lnTo>
                    <a:pt x="0" y="26508"/>
                  </a:lnTo>
                </a:path>
              </a:pathLst>
            </a:custGeom>
            <a:ln w="4759">
              <a:solidFill>
                <a:srgbClr val="000000"/>
              </a:solidFill>
            </a:ln>
          </p:spPr>
          <p:txBody>
            <a:bodyPr wrap="square" lIns="0" tIns="0" rIns="0" bIns="0" rtlCol="0"/>
            <a:lstStyle/>
            <a:p/>
          </p:txBody>
        </p:sp>
        <p:sp>
          <p:nvSpPr>
            <p:cNvPr id="112" name="object 112" descr=""/>
            <p:cNvSpPr/>
            <p:nvPr/>
          </p:nvSpPr>
          <p:spPr>
            <a:xfrm>
              <a:off x="3854314" y="123787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13" name="object 113" descr=""/>
            <p:cNvSpPr/>
            <p:nvPr/>
          </p:nvSpPr>
          <p:spPr>
            <a:xfrm>
              <a:off x="4151793" y="1214012"/>
              <a:ext cx="0" cy="26670"/>
            </a:xfrm>
            <a:custGeom>
              <a:avLst/>
              <a:gdLst/>
              <a:ahLst/>
              <a:cxnLst/>
              <a:rect l="l" t="t" r="r" b="b"/>
              <a:pathLst>
                <a:path w="0" h="26669">
                  <a:moveTo>
                    <a:pt x="0" y="0"/>
                  </a:moveTo>
                  <a:lnTo>
                    <a:pt x="0" y="26508"/>
                  </a:lnTo>
                </a:path>
              </a:pathLst>
            </a:custGeom>
            <a:ln w="4759">
              <a:solidFill>
                <a:srgbClr val="000000"/>
              </a:solidFill>
            </a:ln>
          </p:spPr>
          <p:txBody>
            <a:bodyPr wrap="square" lIns="0" tIns="0" rIns="0" bIns="0" rtlCol="0"/>
            <a:lstStyle/>
            <a:p/>
          </p:txBody>
        </p:sp>
        <p:sp>
          <p:nvSpPr>
            <p:cNvPr id="114" name="object 114" descr=""/>
            <p:cNvSpPr/>
            <p:nvPr/>
          </p:nvSpPr>
          <p:spPr>
            <a:xfrm>
              <a:off x="4149413" y="123787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15" name="object 115" descr=""/>
            <p:cNvSpPr/>
            <p:nvPr/>
          </p:nvSpPr>
          <p:spPr>
            <a:xfrm>
              <a:off x="4446893" y="3371825"/>
              <a:ext cx="0" cy="32384"/>
            </a:xfrm>
            <a:custGeom>
              <a:avLst/>
              <a:gdLst/>
              <a:ahLst/>
              <a:cxnLst/>
              <a:rect l="l" t="t" r="r" b="b"/>
              <a:pathLst>
                <a:path w="0" h="32385">
                  <a:moveTo>
                    <a:pt x="0" y="31810"/>
                  </a:moveTo>
                  <a:lnTo>
                    <a:pt x="0" y="0"/>
                  </a:lnTo>
                </a:path>
              </a:pathLst>
            </a:custGeom>
            <a:ln w="4759">
              <a:solidFill>
                <a:srgbClr val="000000"/>
              </a:solidFill>
            </a:ln>
          </p:spPr>
          <p:txBody>
            <a:bodyPr wrap="square" lIns="0" tIns="0" rIns="0" bIns="0" rtlCol="0"/>
            <a:lstStyle/>
            <a:p/>
          </p:txBody>
        </p:sp>
        <p:sp>
          <p:nvSpPr>
            <p:cNvPr id="116" name="object 116" descr=""/>
            <p:cNvSpPr/>
            <p:nvPr/>
          </p:nvSpPr>
          <p:spPr>
            <a:xfrm>
              <a:off x="4444513" y="3369174"/>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17" name="object 117" descr=""/>
            <p:cNvSpPr/>
            <p:nvPr/>
          </p:nvSpPr>
          <p:spPr>
            <a:xfrm>
              <a:off x="4446892" y="1214012"/>
              <a:ext cx="0" cy="26670"/>
            </a:xfrm>
            <a:custGeom>
              <a:avLst/>
              <a:gdLst/>
              <a:ahLst/>
              <a:cxnLst/>
              <a:rect l="l" t="t" r="r" b="b"/>
              <a:pathLst>
                <a:path w="0" h="26669">
                  <a:moveTo>
                    <a:pt x="0" y="0"/>
                  </a:moveTo>
                  <a:lnTo>
                    <a:pt x="0" y="26508"/>
                  </a:lnTo>
                </a:path>
              </a:pathLst>
            </a:custGeom>
            <a:ln w="4759">
              <a:solidFill>
                <a:srgbClr val="000000"/>
              </a:solidFill>
            </a:ln>
          </p:spPr>
          <p:txBody>
            <a:bodyPr wrap="square" lIns="0" tIns="0" rIns="0" bIns="0" rtlCol="0"/>
            <a:lstStyle/>
            <a:p/>
          </p:txBody>
        </p:sp>
        <p:sp>
          <p:nvSpPr>
            <p:cNvPr id="118" name="object 118" descr=""/>
            <p:cNvSpPr/>
            <p:nvPr/>
          </p:nvSpPr>
          <p:spPr>
            <a:xfrm>
              <a:off x="4444512" y="123787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19" name="object 119" descr=""/>
            <p:cNvSpPr/>
            <p:nvPr/>
          </p:nvSpPr>
          <p:spPr>
            <a:xfrm>
              <a:off x="4737232" y="3371825"/>
              <a:ext cx="0" cy="32384"/>
            </a:xfrm>
            <a:custGeom>
              <a:avLst/>
              <a:gdLst/>
              <a:ahLst/>
              <a:cxnLst/>
              <a:rect l="l" t="t" r="r" b="b"/>
              <a:pathLst>
                <a:path w="0" h="32385">
                  <a:moveTo>
                    <a:pt x="0" y="31810"/>
                  </a:moveTo>
                  <a:lnTo>
                    <a:pt x="0" y="0"/>
                  </a:lnTo>
                </a:path>
              </a:pathLst>
            </a:custGeom>
            <a:ln w="4759">
              <a:solidFill>
                <a:srgbClr val="000000"/>
              </a:solidFill>
            </a:ln>
          </p:spPr>
          <p:txBody>
            <a:bodyPr wrap="square" lIns="0" tIns="0" rIns="0" bIns="0" rtlCol="0"/>
            <a:lstStyle/>
            <a:p/>
          </p:txBody>
        </p:sp>
        <p:sp>
          <p:nvSpPr>
            <p:cNvPr id="120" name="object 120" descr=""/>
            <p:cNvSpPr/>
            <p:nvPr/>
          </p:nvSpPr>
          <p:spPr>
            <a:xfrm>
              <a:off x="4734852" y="3369174"/>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21" name="object 121" descr=""/>
            <p:cNvSpPr/>
            <p:nvPr/>
          </p:nvSpPr>
          <p:spPr>
            <a:xfrm>
              <a:off x="4737231" y="1214012"/>
              <a:ext cx="0" cy="26670"/>
            </a:xfrm>
            <a:custGeom>
              <a:avLst/>
              <a:gdLst/>
              <a:ahLst/>
              <a:cxnLst/>
              <a:rect l="l" t="t" r="r" b="b"/>
              <a:pathLst>
                <a:path w="0" h="26669">
                  <a:moveTo>
                    <a:pt x="0" y="0"/>
                  </a:moveTo>
                  <a:lnTo>
                    <a:pt x="0" y="26508"/>
                  </a:lnTo>
                </a:path>
              </a:pathLst>
            </a:custGeom>
            <a:ln w="4759">
              <a:solidFill>
                <a:srgbClr val="000000"/>
              </a:solidFill>
            </a:ln>
          </p:spPr>
          <p:txBody>
            <a:bodyPr wrap="square" lIns="0" tIns="0" rIns="0" bIns="0" rtlCol="0"/>
            <a:lstStyle/>
            <a:p/>
          </p:txBody>
        </p:sp>
        <p:sp>
          <p:nvSpPr>
            <p:cNvPr id="122" name="object 122" descr=""/>
            <p:cNvSpPr/>
            <p:nvPr/>
          </p:nvSpPr>
          <p:spPr>
            <a:xfrm>
              <a:off x="4734851" y="123787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23" name="object 123" descr=""/>
            <p:cNvSpPr/>
            <p:nvPr/>
          </p:nvSpPr>
          <p:spPr>
            <a:xfrm>
              <a:off x="5032331" y="3371825"/>
              <a:ext cx="0" cy="32384"/>
            </a:xfrm>
            <a:custGeom>
              <a:avLst/>
              <a:gdLst/>
              <a:ahLst/>
              <a:cxnLst/>
              <a:rect l="l" t="t" r="r" b="b"/>
              <a:pathLst>
                <a:path w="0" h="32385">
                  <a:moveTo>
                    <a:pt x="0" y="31810"/>
                  </a:moveTo>
                  <a:lnTo>
                    <a:pt x="0" y="0"/>
                  </a:lnTo>
                </a:path>
              </a:pathLst>
            </a:custGeom>
            <a:ln w="4759">
              <a:solidFill>
                <a:srgbClr val="000000"/>
              </a:solidFill>
            </a:ln>
          </p:spPr>
          <p:txBody>
            <a:bodyPr wrap="square" lIns="0" tIns="0" rIns="0" bIns="0" rtlCol="0"/>
            <a:lstStyle/>
            <a:p/>
          </p:txBody>
        </p:sp>
        <p:sp>
          <p:nvSpPr>
            <p:cNvPr id="124" name="object 124" descr=""/>
            <p:cNvSpPr/>
            <p:nvPr/>
          </p:nvSpPr>
          <p:spPr>
            <a:xfrm>
              <a:off x="5029951" y="3369174"/>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25" name="object 125" descr=""/>
            <p:cNvSpPr/>
            <p:nvPr/>
          </p:nvSpPr>
          <p:spPr>
            <a:xfrm>
              <a:off x="5032331" y="1214012"/>
              <a:ext cx="0" cy="26670"/>
            </a:xfrm>
            <a:custGeom>
              <a:avLst/>
              <a:gdLst/>
              <a:ahLst/>
              <a:cxnLst/>
              <a:rect l="l" t="t" r="r" b="b"/>
              <a:pathLst>
                <a:path w="0" h="26669">
                  <a:moveTo>
                    <a:pt x="0" y="0"/>
                  </a:moveTo>
                  <a:lnTo>
                    <a:pt x="0" y="26508"/>
                  </a:lnTo>
                </a:path>
              </a:pathLst>
            </a:custGeom>
            <a:ln w="4759">
              <a:solidFill>
                <a:srgbClr val="000000"/>
              </a:solidFill>
            </a:ln>
          </p:spPr>
          <p:txBody>
            <a:bodyPr wrap="square" lIns="0" tIns="0" rIns="0" bIns="0" rtlCol="0"/>
            <a:lstStyle/>
            <a:p/>
          </p:txBody>
        </p:sp>
        <p:sp>
          <p:nvSpPr>
            <p:cNvPr id="126" name="object 126" descr=""/>
            <p:cNvSpPr/>
            <p:nvPr/>
          </p:nvSpPr>
          <p:spPr>
            <a:xfrm>
              <a:off x="5029951" y="123787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27" name="object 127" descr=""/>
            <p:cNvSpPr/>
            <p:nvPr/>
          </p:nvSpPr>
          <p:spPr>
            <a:xfrm>
              <a:off x="5327430" y="3371825"/>
              <a:ext cx="0" cy="32384"/>
            </a:xfrm>
            <a:custGeom>
              <a:avLst/>
              <a:gdLst/>
              <a:ahLst/>
              <a:cxnLst/>
              <a:rect l="l" t="t" r="r" b="b"/>
              <a:pathLst>
                <a:path w="0" h="32385">
                  <a:moveTo>
                    <a:pt x="0" y="31810"/>
                  </a:moveTo>
                  <a:lnTo>
                    <a:pt x="0" y="0"/>
                  </a:lnTo>
                </a:path>
              </a:pathLst>
            </a:custGeom>
            <a:ln w="4759">
              <a:solidFill>
                <a:srgbClr val="000000"/>
              </a:solidFill>
            </a:ln>
          </p:spPr>
          <p:txBody>
            <a:bodyPr wrap="square" lIns="0" tIns="0" rIns="0" bIns="0" rtlCol="0"/>
            <a:lstStyle/>
            <a:p/>
          </p:txBody>
        </p:sp>
        <p:sp>
          <p:nvSpPr>
            <p:cNvPr id="128" name="object 128" descr=""/>
            <p:cNvSpPr/>
            <p:nvPr/>
          </p:nvSpPr>
          <p:spPr>
            <a:xfrm>
              <a:off x="5325050" y="3369174"/>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29" name="object 129" descr=""/>
            <p:cNvSpPr/>
            <p:nvPr/>
          </p:nvSpPr>
          <p:spPr>
            <a:xfrm>
              <a:off x="5327430" y="1214012"/>
              <a:ext cx="0" cy="26670"/>
            </a:xfrm>
            <a:custGeom>
              <a:avLst/>
              <a:gdLst/>
              <a:ahLst/>
              <a:cxnLst/>
              <a:rect l="l" t="t" r="r" b="b"/>
              <a:pathLst>
                <a:path w="0" h="26669">
                  <a:moveTo>
                    <a:pt x="0" y="0"/>
                  </a:moveTo>
                  <a:lnTo>
                    <a:pt x="0" y="26508"/>
                  </a:lnTo>
                </a:path>
              </a:pathLst>
            </a:custGeom>
            <a:ln w="4759">
              <a:solidFill>
                <a:srgbClr val="000000"/>
              </a:solidFill>
            </a:ln>
          </p:spPr>
          <p:txBody>
            <a:bodyPr wrap="square" lIns="0" tIns="0" rIns="0" bIns="0" rtlCol="0"/>
            <a:lstStyle/>
            <a:p/>
          </p:txBody>
        </p:sp>
        <p:sp>
          <p:nvSpPr>
            <p:cNvPr id="130" name="object 130" descr=""/>
            <p:cNvSpPr/>
            <p:nvPr/>
          </p:nvSpPr>
          <p:spPr>
            <a:xfrm>
              <a:off x="5325050" y="123787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31" name="object 131" descr=""/>
            <p:cNvSpPr/>
            <p:nvPr/>
          </p:nvSpPr>
          <p:spPr>
            <a:xfrm>
              <a:off x="5622530" y="3371825"/>
              <a:ext cx="0" cy="32384"/>
            </a:xfrm>
            <a:custGeom>
              <a:avLst/>
              <a:gdLst/>
              <a:ahLst/>
              <a:cxnLst/>
              <a:rect l="l" t="t" r="r" b="b"/>
              <a:pathLst>
                <a:path w="0" h="32385">
                  <a:moveTo>
                    <a:pt x="0" y="31810"/>
                  </a:moveTo>
                  <a:lnTo>
                    <a:pt x="0" y="0"/>
                  </a:lnTo>
                </a:path>
              </a:pathLst>
            </a:custGeom>
            <a:ln w="4759">
              <a:solidFill>
                <a:srgbClr val="000000"/>
              </a:solidFill>
            </a:ln>
          </p:spPr>
          <p:txBody>
            <a:bodyPr wrap="square" lIns="0" tIns="0" rIns="0" bIns="0" rtlCol="0"/>
            <a:lstStyle/>
            <a:p/>
          </p:txBody>
        </p:sp>
        <p:sp>
          <p:nvSpPr>
            <p:cNvPr id="132" name="object 132" descr=""/>
            <p:cNvSpPr/>
            <p:nvPr/>
          </p:nvSpPr>
          <p:spPr>
            <a:xfrm>
              <a:off x="5620150" y="3369174"/>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33" name="object 133" descr=""/>
            <p:cNvSpPr/>
            <p:nvPr/>
          </p:nvSpPr>
          <p:spPr>
            <a:xfrm>
              <a:off x="5622530" y="1214012"/>
              <a:ext cx="0" cy="26670"/>
            </a:xfrm>
            <a:custGeom>
              <a:avLst/>
              <a:gdLst/>
              <a:ahLst/>
              <a:cxnLst/>
              <a:rect l="l" t="t" r="r" b="b"/>
              <a:pathLst>
                <a:path w="0" h="26669">
                  <a:moveTo>
                    <a:pt x="0" y="0"/>
                  </a:moveTo>
                  <a:lnTo>
                    <a:pt x="0" y="26508"/>
                  </a:lnTo>
                </a:path>
              </a:pathLst>
            </a:custGeom>
            <a:ln w="4759">
              <a:solidFill>
                <a:srgbClr val="000000"/>
              </a:solidFill>
            </a:ln>
          </p:spPr>
          <p:txBody>
            <a:bodyPr wrap="square" lIns="0" tIns="0" rIns="0" bIns="0" rtlCol="0"/>
            <a:lstStyle/>
            <a:p/>
          </p:txBody>
        </p:sp>
        <p:sp>
          <p:nvSpPr>
            <p:cNvPr id="134" name="object 134" descr=""/>
            <p:cNvSpPr/>
            <p:nvPr/>
          </p:nvSpPr>
          <p:spPr>
            <a:xfrm>
              <a:off x="5620150" y="123787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grpSp>
      <p:sp>
        <p:nvSpPr>
          <p:cNvPr id="135" name="object 135" descr=""/>
          <p:cNvSpPr txBox="1"/>
          <p:nvPr/>
        </p:nvSpPr>
        <p:spPr>
          <a:xfrm>
            <a:off x="3777358" y="3406841"/>
            <a:ext cx="2010410" cy="108585"/>
          </a:xfrm>
          <a:prstGeom prst="rect">
            <a:avLst/>
          </a:prstGeom>
        </p:spPr>
        <p:txBody>
          <a:bodyPr wrap="square" lIns="0" tIns="11430" rIns="0" bIns="0" rtlCol="0" vert="horz">
            <a:spAutoFit/>
          </a:bodyPr>
          <a:lstStyle/>
          <a:p>
            <a:pPr marL="12700">
              <a:lnSpc>
                <a:spcPct val="100000"/>
              </a:lnSpc>
              <a:spcBef>
                <a:spcPts val="90"/>
              </a:spcBef>
              <a:tabLst>
                <a:tab pos="288290" algn="l"/>
              </a:tabLst>
            </a:pPr>
            <a:r>
              <a:rPr dirty="0" sz="550" spc="-20">
                <a:latin typeface="Arial MT"/>
                <a:cs typeface="Arial MT"/>
              </a:rPr>
              <a:t>1~10</a:t>
            </a:r>
            <a:r>
              <a:rPr dirty="0" sz="550">
                <a:latin typeface="Arial MT"/>
                <a:cs typeface="Arial MT"/>
              </a:rPr>
              <a:t>	10~30</a:t>
            </a:r>
            <a:r>
              <a:rPr dirty="0" sz="550" spc="220">
                <a:latin typeface="Arial MT"/>
                <a:cs typeface="Arial MT"/>
              </a:rPr>
              <a:t>  </a:t>
            </a:r>
            <a:r>
              <a:rPr dirty="0" sz="550">
                <a:latin typeface="Arial MT"/>
                <a:cs typeface="Arial MT"/>
              </a:rPr>
              <a:t>30~50</a:t>
            </a:r>
            <a:r>
              <a:rPr dirty="0" sz="550" spc="475">
                <a:latin typeface="Arial MT"/>
                <a:cs typeface="Arial MT"/>
              </a:rPr>
              <a:t> </a:t>
            </a:r>
            <a:r>
              <a:rPr dirty="0" sz="550" spc="-10">
                <a:latin typeface="Arial MT"/>
                <a:cs typeface="Arial MT"/>
              </a:rPr>
              <a:t>50~100</a:t>
            </a:r>
            <a:r>
              <a:rPr dirty="0" sz="550" spc="275">
                <a:latin typeface="Arial MT"/>
                <a:cs typeface="Arial MT"/>
              </a:rPr>
              <a:t> </a:t>
            </a:r>
            <a:r>
              <a:rPr dirty="0" sz="550" spc="-30">
                <a:latin typeface="Arial MT"/>
                <a:cs typeface="Arial MT"/>
              </a:rPr>
              <a:t>100~500</a:t>
            </a:r>
            <a:r>
              <a:rPr dirty="0" sz="550" spc="105">
                <a:latin typeface="Arial MT"/>
                <a:cs typeface="Arial MT"/>
              </a:rPr>
              <a:t> </a:t>
            </a:r>
            <a:r>
              <a:rPr dirty="0" sz="550" spc="-30">
                <a:latin typeface="Arial MT"/>
                <a:cs typeface="Arial MT"/>
              </a:rPr>
              <a:t>500~10001000~1600</a:t>
            </a:r>
            <a:endParaRPr sz="550">
              <a:latin typeface="Arial MT"/>
              <a:cs typeface="Arial MT"/>
            </a:endParaRPr>
          </a:p>
        </p:txBody>
      </p:sp>
      <p:grpSp>
        <p:nvGrpSpPr>
          <p:cNvPr id="136" name="object 136" descr=""/>
          <p:cNvGrpSpPr/>
          <p:nvPr/>
        </p:nvGrpSpPr>
        <p:grpSpPr>
          <a:xfrm>
            <a:off x="3268388" y="3125087"/>
            <a:ext cx="2652395" cy="281940"/>
            <a:chOff x="3268388" y="3125087"/>
            <a:chExt cx="2652395" cy="281940"/>
          </a:xfrm>
        </p:grpSpPr>
        <p:sp>
          <p:nvSpPr>
            <p:cNvPr id="137" name="object 137" descr=""/>
            <p:cNvSpPr/>
            <p:nvPr/>
          </p:nvSpPr>
          <p:spPr>
            <a:xfrm>
              <a:off x="3271246" y="3403636"/>
              <a:ext cx="24130" cy="0"/>
            </a:xfrm>
            <a:custGeom>
              <a:avLst/>
              <a:gdLst/>
              <a:ahLst/>
              <a:cxnLst/>
              <a:rect l="l" t="t" r="r" b="b"/>
              <a:pathLst>
                <a:path w="24129" h="0">
                  <a:moveTo>
                    <a:pt x="0" y="0"/>
                  </a:moveTo>
                  <a:lnTo>
                    <a:pt x="23798" y="0"/>
                  </a:lnTo>
                </a:path>
              </a:pathLst>
            </a:custGeom>
            <a:ln w="5301">
              <a:solidFill>
                <a:srgbClr val="000000"/>
              </a:solidFill>
            </a:ln>
          </p:spPr>
          <p:txBody>
            <a:bodyPr wrap="square" lIns="0" tIns="0" rIns="0" bIns="0" rtlCol="0"/>
            <a:lstStyle/>
            <a:p/>
          </p:txBody>
        </p:sp>
        <p:sp>
          <p:nvSpPr>
            <p:cNvPr id="138" name="object 138" descr=""/>
            <p:cNvSpPr/>
            <p:nvPr/>
          </p:nvSpPr>
          <p:spPr>
            <a:xfrm>
              <a:off x="3292665" y="3400985"/>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39" name="object 139" descr=""/>
            <p:cNvSpPr/>
            <p:nvPr/>
          </p:nvSpPr>
          <p:spPr>
            <a:xfrm>
              <a:off x="5889071" y="3403636"/>
              <a:ext cx="28575" cy="0"/>
            </a:xfrm>
            <a:custGeom>
              <a:avLst/>
              <a:gdLst/>
              <a:ahLst/>
              <a:cxnLst/>
              <a:rect l="l" t="t" r="r" b="b"/>
              <a:pathLst>
                <a:path w="28575" h="0">
                  <a:moveTo>
                    <a:pt x="28558" y="0"/>
                  </a:moveTo>
                  <a:lnTo>
                    <a:pt x="0" y="0"/>
                  </a:lnTo>
                </a:path>
              </a:pathLst>
            </a:custGeom>
            <a:ln w="5301">
              <a:solidFill>
                <a:srgbClr val="000000"/>
              </a:solidFill>
            </a:ln>
          </p:spPr>
          <p:txBody>
            <a:bodyPr wrap="square" lIns="0" tIns="0" rIns="0" bIns="0" rtlCol="0"/>
            <a:lstStyle/>
            <a:p/>
          </p:txBody>
        </p:sp>
        <p:sp>
          <p:nvSpPr>
            <p:cNvPr id="140" name="object 140" descr=""/>
            <p:cNvSpPr/>
            <p:nvPr/>
          </p:nvSpPr>
          <p:spPr>
            <a:xfrm>
              <a:off x="5886691" y="3400985"/>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41" name="object 141" descr=""/>
            <p:cNvSpPr/>
            <p:nvPr/>
          </p:nvSpPr>
          <p:spPr>
            <a:xfrm>
              <a:off x="3271245" y="3127944"/>
              <a:ext cx="24130" cy="0"/>
            </a:xfrm>
            <a:custGeom>
              <a:avLst/>
              <a:gdLst/>
              <a:ahLst/>
              <a:cxnLst/>
              <a:rect l="l" t="t" r="r" b="b"/>
              <a:pathLst>
                <a:path w="24129" h="0">
                  <a:moveTo>
                    <a:pt x="0" y="0"/>
                  </a:moveTo>
                  <a:lnTo>
                    <a:pt x="23798" y="0"/>
                  </a:lnTo>
                </a:path>
              </a:pathLst>
            </a:custGeom>
            <a:ln w="5301">
              <a:solidFill>
                <a:srgbClr val="000000"/>
              </a:solidFill>
            </a:ln>
          </p:spPr>
          <p:txBody>
            <a:bodyPr wrap="square" lIns="0" tIns="0" rIns="0" bIns="0" rtlCol="0"/>
            <a:lstStyle/>
            <a:p/>
          </p:txBody>
        </p:sp>
        <p:sp>
          <p:nvSpPr>
            <p:cNvPr id="142" name="object 142" descr=""/>
            <p:cNvSpPr/>
            <p:nvPr/>
          </p:nvSpPr>
          <p:spPr>
            <a:xfrm>
              <a:off x="3292663" y="3125294"/>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43" name="object 143" descr=""/>
            <p:cNvSpPr/>
            <p:nvPr/>
          </p:nvSpPr>
          <p:spPr>
            <a:xfrm>
              <a:off x="5889070" y="3127945"/>
              <a:ext cx="28575" cy="0"/>
            </a:xfrm>
            <a:custGeom>
              <a:avLst/>
              <a:gdLst/>
              <a:ahLst/>
              <a:cxnLst/>
              <a:rect l="l" t="t" r="r" b="b"/>
              <a:pathLst>
                <a:path w="28575" h="0">
                  <a:moveTo>
                    <a:pt x="28558" y="0"/>
                  </a:moveTo>
                  <a:lnTo>
                    <a:pt x="0" y="0"/>
                  </a:lnTo>
                </a:path>
              </a:pathLst>
            </a:custGeom>
            <a:ln w="5301">
              <a:solidFill>
                <a:srgbClr val="000000"/>
              </a:solidFill>
            </a:ln>
          </p:spPr>
          <p:txBody>
            <a:bodyPr wrap="square" lIns="0" tIns="0" rIns="0" bIns="0" rtlCol="0"/>
            <a:lstStyle/>
            <a:p/>
          </p:txBody>
        </p:sp>
        <p:sp>
          <p:nvSpPr>
            <p:cNvPr id="144" name="object 144" descr=""/>
            <p:cNvSpPr/>
            <p:nvPr/>
          </p:nvSpPr>
          <p:spPr>
            <a:xfrm>
              <a:off x="5886690" y="3125294"/>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grpSp>
      <p:sp>
        <p:nvSpPr>
          <p:cNvPr id="145" name="object 145" descr=""/>
          <p:cNvSpPr txBox="1"/>
          <p:nvPr/>
        </p:nvSpPr>
        <p:spPr>
          <a:xfrm>
            <a:off x="3206189" y="3348521"/>
            <a:ext cx="60325" cy="108585"/>
          </a:xfrm>
          <a:prstGeom prst="rect">
            <a:avLst/>
          </a:prstGeom>
        </p:spPr>
        <p:txBody>
          <a:bodyPr wrap="square" lIns="0" tIns="11430" rIns="0" bIns="0" rtlCol="0" vert="horz">
            <a:spAutoFit/>
          </a:bodyPr>
          <a:lstStyle/>
          <a:p>
            <a:pPr marL="12700">
              <a:lnSpc>
                <a:spcPct val="100000"/>
              </a:lnSpc>
              <a:spcBef>
                <a:spcPts val="90"/>
              </a:spcBef>
            </a:pPr>
            <a:r>
              <a:rPr dirty="0" sz="550" spc="-50">
                <a:latin typeface="Arial MT"/>
                <a:cs typeface="Arial MT"/>
              </a:rPr>
              <a:t>0</a:t>
            </a:r>
            <a:endParaRPr sz="550">
              <a:latin typeface="Arial MT"/>
              <a:cs typeface="Arial MT"/>
            </a:endParaRPr>
          </a:p>
        </p:txBody>
      </p:sp>
      <p:sp>
        <p:nvSpPr>
          <p:cNvPr id="146" name="object 146" descr=""/>
          <p:cNvSpPr txBox="1"/>
          <p:nvPr/>
        </p:nvSpPr>
        <p:spPr>
          <a:xfrm>
            <a:off x="3172870" y="3072829"/>
            <a:ext cx="92075" cy="108585"/>
          </a:xfrm>
          <a:prstGeom prst="rect">
            <a:avLst/>
          </a:prstGeom>
        </p:spPr>
        <p:txBody>
          <a:bodyPr wrap="square" lIns="0" tIns="11430" rIns="0" bIns="0" rtlCol="0" vert="horz">
            <a:spAutoFit/>
          </a:bodyPr>
          <a:lstStyle/>
          <a:p>
            <a:pPr marL="12700">
              <a:lnSpc>
                <a:spcPct val="100000"/>
              </a:lnSpc>
              <a:spcBef>
                <a:spcPts val="90"/>
              </a:spcBef>
            </a:pPr>
            <a:r>
              <a:rPr dirty="0" sz="550" spc="-25">
                <a:latin typeface="Arial MT"/>
                <a:cs typeface="Arial MT"/>
              </a:rPr>
              <a:t>10</a:t>
            </a:r>
            <a:endParaRPr sz="550">
              <a:latin typeface="Arial MT"/>
              <a:cs typeface="Arial MT"/>
            </a:endParaRPr>
          </a:p>
        </p:txBody>
      </p:sp>
      <p:grpSp>
        <p:nvGrpSpPr>
          <p:cNvPr id="147" name="object 147" descr=""/>
          <p:cNvGrpSpPr/>
          <p:nvPr/>
        </p:nvGrpSpPr>
        <p:grpSpPr>
          <a:xfrm>
            <a:off x="3268386" y="2849396"/>
            <a:ext cx="2652395" cy="5715"/>
            <a:chOff x="3268386" y="2849396"/>
            <a:chExt cx="2652395" cy="5715"/>
          </a:xfrm>
        </p:grpSpPr>
        <p:sp>
          <p:nvSpPr>
            <p:cNvPr id="148" name="object 148" descr=""/>
            <p:cNvSpPr/>
            <p:nvPr/>
          </p:nvSpPr>
          <p:spPr>
            <a:xfrm>
              <a:off x="3271244" y="2852253"/>
              <a:ext cx="24130" cy="0"/>
            </a:xfrm>
            <a:custGeom>
              <a:avLst/>
              <a:gdLst/>
              <a:ahLst/>
              <a:cxnLst/>
              <a:rect l="l" t="t" r="r" b="b"/>
              <a:pathLst>
                <a:path w="24129" h="0">
                  <a:moveTo>
                    <a:pt x="0" y="0"/>
                  </a:moveTo>
                  <a:lnTo>
                    <a:pt x="23798" y="0"/>
                  </a:lnTo>
                </a:path>
              </a:pathLst>
            </a:custGeom>
            <a:ln w="5301">
              <a:solidFill>
                <a:srgbClr val="000000"/>
              </a:solidFill>
            </a:ln>
          </p:spPr>
          <p:txBody>
            <a:bodyPr wrap="square" lIns="0" tIns="0" rIns="0" bIns="0" rtlCol="0"/>
            <a:lstStyle/>
            <a:p/>
          </p:txBody>
        </p:sp>
        <p:sp>
          <p:nvSpPr>
            <p:cNvPr id="149" name="object 149" descr=""/>
            <p:cNvSpPr/>
            <p:nvPr/>
          </p:nvSpPr>
          <p:spPr>
            <a:xfrm>
              <a:off x="3292662" y="2849603"/>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50" name="object 150" descr=""/>
            <p:cNvSpPr/>
            <p:nvPr/>
          </p:nvSpPr>
          <p:spPr>
            <a:xfrm>
              <a:off x="5889069" y="2852253"/>
              <a:ext cx="28575" cy="0"/>
            </a:xfrm>
            <a:custGeom>
              <a:avLst/>
              <a:gdLst/>
              <a:ahLst/>
              <a:cxnLst/>
              <a:rect l="l" t="t" r="r" b="b"/>
              <a:pathLst>
                <a:path w="28575" h="0">
                  <a:moveTo>
                    <a:pt x="28558" y="0"/>
                  </a:moveTo>
                  <a:lnTo>
                    <a:pt x="0" y="0"/>
                  </a:lnTo>
                </a:path>
              </a:pathLst>
            </a:custGeom>
            <a:ln w="5301">
              <a:solidFill>
                <a:srgbClr val="000000"/>
              </a:solidFill>
            </a:ln>
          </p:spPr>
          <p:txBody>
            <a:bodyPr wrap="square" lIns="0" tIns="0" rIns="0" bIns="0" rtlCol="0"/>
            <a:lstStyle/>
            <a:p/>
          </p:txBody>
        </p:sp>
        <p:sp>
          <p:nvSpPr>
            <p:cNvPr id="151" name="object 151" descr=""/>
            <p:cNvSpPr/>
            <p:nvPr/>
          </p:nvSpPr>
          <p:spPr>
            <a:xfrm>
              <a:off x="5886689" y="2849603"/>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grpSp>
      <p:sp>
        <p:nvSpPr>
          <p:cNvPr id="152" name="object 152" descr=""/>
          <p:cNvSpPr txBox="1"/>
          <p:nvPr/>
        </p:nvSpPr>
        <p:spPr>
          <a:xfrm>
            <a:off x="3172870" y="2797139"/>
            <a:ext cx="127000" cy="321945"/>
          </a:xfrm>
          <a:prstGeom prst="rect">
            <a:avLst/>
          </a:prstGeom>
        </p:spPr>
        <p:txBody>
          <a:bodyPr wrap="square" lIns="0" tIns="11430" rIns="0" bIns="0" rtlCol="0" vert="horz">
            <a:spAutoFit/>
          </a:bodyPr>
          <a:lstStyle/>
          <a:p>
            <a:pPr algn="r" marR="40005">
              <a:lnSpc>
                <a:spcPts val="535"/>
              </a:lnSpc>
              <a:spcBef>
                <a:spcPts val="90"/>
              </a:spcBef>
            </a:pPr>
            <a:r>
              <a:rPr dirty="0" sz="550" spc="-25">
                <a:latin typeface="Arial MT"/>
                <a:cs typeface="Arial MT"/>
              </a:rPr>
              <a:t>20</a:t>
            </a:r>
            <a:endParaRPr sz="550">
              <a:latin typeface="Arial MT"/>
              <a:cs typeface="Arial MT"/>
            </a:endParaRPr>
          </a:p>
          <a:p>
            <a:pPr algn="r" marR="5080">
              <a:lnSpc>
                <a:spcPts val="475"/>
              </a:lnSpc>
            </a:pPr>
            <a:r>
              <a:rPr dirty="0" sz="500" spc="-50">
                <a:latin typeface="Arial MT"/>
                <a:cs typeface="Arial MT"/>
              </a:rPr>
              <a:t>2</a:t>
            </a:r>
            <a:endParaRPr sz="500">
              <a:latin typeface="Arial MT"/>
              <a:cs typeface="Arial MT"/>
            </a:endParaRPr>
          </a:p>
          <a:p>
            <a:pPr>
              <a:lnSpc>
                <a:spcPct val="100000"/>
              </a:lnSpc>
              <a:spcBef>
                <a:spcPts val="155"/>
              </a:spcBef>
            </a:pPr>
            <a:endParaRPr sz="500">
              <a:latin typeface="Arial MT"/>
              <a:cs typeface="Arial MT"/>
            </a:endParaRPr>
          </a:p>
          <a:p>
            <a:pPr marL="77470">
              <a:lnSpc>
                <a:spcPct val="100000"/>
              </a:lnSpc>
            </a:pPr>
            <a:r>
              <a:rPr dirty="0" sz="500" spc="-50">
                <a:latin typeface="Arial MT"/>
                <a:cs typeface="Arial MT"/>
              </a:rPr>
              <a:t>1</a:t>
            </a:r>
            <a:endParaRPr sz="500">
              <a:latin typeface="Arial MT"/>
              <a:cs typeface="Arial MT"/>
            </a:endParaRPr>
          </a:p>
        </p:txBody>
      </p:sp>
      <p:grpSp>
        <p:nvGrpSpPr>
          <p:cNvPr id="153" name="object 153" descr=""/>
          <p:cNvGrpSpPr/>
          <p:nvPr/>
        </p:nvGrpSpPr>
        <p:grpSpPr>
          <a:xfrm>
            <a:off x="3268386" y="2579007"/>
            <a:ext cx="2652395" cy="5715"/>
            <a:chOff x="3268386" y="2579007"/>
            <a:chExt cx="2652395" cy="5715"/>
          </a:xfrm>
        </p:grpSpPr>
        <p:sp>
          <p:nvSpPr>
            <p:cNvPr id="154" name="object 154" descr=""/>
            <p:cNvSpPr/>
            <p:nvPr/>
          </p:nvSpPr>
          <p:spPr>
            <a:xfrm>
              <a:off x="3271243" y="2581864"/>
              <a:ext cx="24130" cy="0"/>
            </a:xfrm>
            <a:custGeom>
              <a:avLst/>
              <a:gdLst/>
              <a:ahLst/>
              <a:cxnLst/>
              <a:rect l="l" t="t" r="r" b="b"/>
              <a:pathLst>
                <a:path w="24129" h="0">
                  <a:moveTo>
                    <a:pt x="0" y="0"/>
                  </a:moveTo>
                  <a:lnTo>
                    <a:pt x="23798" y="0"/>
                  </a:lnTo>
                </a:path>
              </a:pathLst>
            </a:custGeom>
            <a:ln w="5301">
              <a:solidFill>
                <a:srgbClr val="000000"/>
              </a:solidFill>
            </a:ln>
          </p:spPr>
          <p:txBody>
            <a:bodyPr wrap="square" lIns="0" tIns="0" rIns="0" bIns="0" rtlCol="0"/>
            <a:lstStyle/>
            <a:p/>
          </p:txBody>
        </p:sp>
        <p:sp>
          <p:nvSpPr>
            <p:cNvPr id="155" name="object 155" descr=""/>
            <p:cNvSpPr/>
            <p:nvPr/>
          </p:nvSpPr>
          <p:spPr>
            <a:xfrm>
              <a:off x="3292662" y="2579213"/>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56" name="object 156" descr=""/>
            <p:cNvSpPr/>
            <p:nvPr/>
          </p:nvSpPr>
          <p:spPr>
            <a:xfrm>
              <a:off x="5889068" y="2581864"/>
              <a:ext cx="28575" cy="0"/>
            </a:xfrm>
            <a:custGeom>
              <a:avLst/>
              <a:gdLst/>
              <a:ahLst/>
              <a:cxnLst/>
              <a:rect l="l" t="t" r="r" b="b"/>
              <a:pathLst>
                <a:path w="28575" h="0">
                  <a:moveTo>
                    <a:pt x="28558" y="0"/>
                  </a:moveTo>
                  <a:lnTo>
                    <a:pt x="0" y="0"/>
                  </a:lnTo>
                </a:path>
              </a:pathLst>
            </a:custGeom>
            <a:ln w="5301">
              <a:solidFill>
                <a:srgbClr val="000000"/>
              </a:solidFill>
            </a:ln>
          </p:spPr>
          <p:txBody>
            <a:bodyPr wrap="square" lIns="0" tIns="0" rIns="0" bIns="0" rtlCol="0"/>
            <a:lstStyle/>
            <a:p/>
          </p:txBody>
        </p:sp>
        <p:sp>
          <p:nvSpPr>
            <p:cNvPr id="157" name="object 157" descr=""/>
            <p:cNvSpPr/>
            <p:nvPr/>
          </p:nvSpPr>
          <p:spPr>
            <a:xfrm>
              <a:off x="5886688" y="2579213"/>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grpSp>
      <p:sp>
        <p:nvSpPr>
          <p:cNvPr id="158" name="object 158" descr=""/>
          <p:cNvSpPr txBox="1"/>
          <p:nvPr/>
        </p:nvSpPr>
        <p:spPr>
          <a:xfrm>
            <a:off x="3147468" y="2526750"/>
            <a:ext cx="177800" cy="254000"/>
          </a:xfrm>
          <a:prstGeom prst="rect">
            <a:avLst/>
          </a:prstGeom>
        </p:spPr>
        <p:txBody>
          <a:bodyPr wrap="square" lIns="0" tIns="11430" rIns="0" bIns="0" rtlCol="0" vert="horz">
            <a:spAutoFit/>
          </a:bodyPr>
          <a:lstStyle/>
          <a:p>
            <a:pPr marL="38100">
              <a:lnSpc>
                <a:spcPct val="100000"/>
              </a:lnSpc>
              <a:spcBef>
                <a:spcPts val="90"/>
              </a:spcBef>
            </a:pPr>
            <a:r>
              <a:rPr dirty="0" sz="550" spc="-25">
                <a:latin typeface="Arial MT"/>
                <a:cs typeface="Arial MT"/>
              </a:rPr>
              <a:t>30</a:t>
            </a:r>
            <a:r>
              <a:rPr dirty="0" baseline="22222" sz="750" spc="-37">
                <a:latin typeface="Arial MT"/>
                <a:cs typeface="Arial MT"/>
              </a:rPr>
              <a:t>4</a:t>
            </a:r>
            <a:endParaRPr baseline="22222" sz="750">
              <a:latin typeface="Arial MT"/>
              <a:cs typeface="Arial MT"/>
            </a:endParaRPr>
          </a:p>
          <a:p>
            <a:pPr marL="102870">
              <a:lnSpc>
                <a:spcPct val="100000"/>
              </a:lnSpc>
              <a:spcBef>
                <a:spcPts val="545"/>
              </a:spcBef>
            </a:pPr>
            <a:r>
              <a:rPr dirty="0" sz="500" spc="-50">
                <a:latin typeface="Arial MT"/>
                <a:cs typeface="Arial MT"/>
              </a:rPr>
              <a:t>3</a:t>
            </a:r>
            <a:endParaRPr sz="500">
              <a:latin typeface="Arial MT"/>
              <a:cs typeface="Arial MT"/>
            </a:endParaRPr>
          </a:p>
        </p:txBody>
      </p:sp>
      <p:grpSp>
        <p:nvGrpSpPr>
          <p:cNvPr id="159" name="object 159" descr=""/>
          <p:cNvGrpSpPr/>
          <p:nvPr/>
        </p:nvGrpSpPr>
        <p:grpSpPr>
          <a:xfrm>
            <a:off x="3268384" y="2303316"/>
            <a:ext cx="2652395" cy="5715"/>
            <a:chOff x="3268384" y="2303316"/>
            <a:chExt cx="2652395" cy="5715"/>
          </a:xfrm>
        </p:grpSpPr>
        <p:sp>
          <p:nvSpPr>
            <p:cNvPr id="160" name="object 160" descr=""/>
            <p:cNvSpPr/>
            <p:nvPr/>
          </p:nvSpPr>
          <p:spPr>
            <a:xfrm>
              <a:off x="3271242" y="2306173"/>
              <a:ext cx="24130" cy="0"/>
            </a:xfrm>
            <a:custGeom>
              <a:avLst/>
              <a:gdLst/>
              <a:ahLst/>
              <a:cxnLst/>
              <a:rect l="l" t="t" r="r" b="b"/>
              <a:pathLst>
                <a:path w="24129" h="0">
                  <a:moveTo>
                    <a:pt x="0" y="0"/>
                  </a:moveTo>
                  <a:lnTo>
                    <a:pt x="23798" y="0"/>
                  </a:lnTo>
                </a:path>
              </a:pathLst>
            </a:custGeom>
            <a:ln w="5301">
              <a:solidFill>
                <a:srgbClr val="000000"/>
              </a:solidFill>
            </a:ln>
          </p:spPr>
          <p:txBody>
            <a:bodyPr wrap="square" lIns="0" tIns="0" rIns="0" bIns="0" rtlCol="0"/>
            <a:lstStyle/>
            <a:p/>
          </p:txBody>
        </p:sp>
        <p:sp>
          <p:nvSpPr>
            <p:cNvPr id="161" name="object 161" descr=""/>
            <p:cNvSpPr/>
            <p:nvPr/>
          </p:nvSpPr>
          <p:spPr>
            <a:xfrm>
              <a:off x="3292660" y="2303522"/>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62" name="object 162" descr=""/>
            <p:cNvSpPr/>
            <p:nvPr/>
          </p:nvSpPr>
          <p:spPr>
            <a:xfrm>
              <a:off x="5889067" y="2306173"/>
              <a:ext cx="28575" cy="0"/>
            </a:xfrm>
            <a:custGeom>
              <a:avLst/>
              <a:gdLst/>
              <a:ahLst/>
              <a:cxnLst/>
              <a:rect l="l" t="t" r="r" b="b"/>
              <a:pathLst>
                <a:path w="28575" h="0">
                  <a:moveTo>
                    <a:pt x="28558" y="0"/>
                  </a:moveTo>
                  <a:lnTo>
                    <a:pt x="0" y="0"/>
                  </a:lnTo>
                </a:path>
              </a:pathLst>
            </a:custGeom>
            <a:ln w="5301">
              <a:solidFill>
                <a:srgbClr val="000000"/>
              </a:solidFill>
            </a:ln>
          </p:spPr>
          <p:txBody>
            <a:bodyPr wrap="square" lIns="0" tIns="0" rIns="0" bIns="0" rtlCol="0"/>
            <a:lstStyle/>
            <a:p/>
          </p:txBody>
        </p:sp>
        <p:sp>
          <p:nvSpPr>
            <p:cNvPr id="163" name="object 163" descr=""/>
            <p:cNvSpPr/>
            <p:nvPr/>
          </p:nvSpPr>
          <p:spPr>
            <a:xfrm>
              <a:off x="5886687" y="2303522"/>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grpSp>
      <p:sp>
        <p:nvSpPr>
          <p:cNvPr id="164" name="object 164" descr=""/>
          <p:cNvSpPr txBox="1"/>
          <p:nvPr/>
        </p:nvSpPr>
        <p:spPr>
          <a:xfrm>
            <a:off x="3172867" y="2251058"/>
            <a:ext cx="92075" cy="108585"/>
          </a:xfrm>
          <a:prstGeom prst="rect">
            <a:avLst/>
          </a:prstGeom>
        </p:spPr>
        <p:txBody>
          <a:bodyPr wrap="square" lIns="0" tIns="11430" rIns="0" bIns="0" rtlCol="0" vert="horz">
            <a:spAutoFit/>
          </a:bodyPr>
          <a:lstStyle/>
          <a:p>
            <a:pPr marL="12700">
              <a:lnSpc>
                <a:spcPct val="100000"/>
              </a:lnSpc>
              <a:spcBef>
                <a:spcPts val="90"/>
              </a:spcBef>
            </a:pPr>
            <a:r>
              <a:rPr dirty="0" sz="550" spc="-25">
                <a:latin typeface="Arial MT"/>
                <a:cs typeface="Arial MT"/>
              </a:rPr>
              <a:t>40</a:t>
            </a:r>
            <a:endParaRPr sz="550">
              <a:latin typeface="Arial MT"/>
              <a:cs typeface="Arial MT"/>
            </a:endParaRPr>
          </a:p>
        </p:txBody>
      </p:sp>
      <p:grpSp>
        <p:nvGrpSpPr>
          <p:cNvPr id="165" name="object 165" descr=""/>
          <p:cNvGrpSpPr/>
          <p:nvPr/>
        </p:nvGrpSpPr>
        <p:grpSpPr>
          <a:xfrm>
            <a:off x="3268383" y="2027624"/>
            <a:ext cx="2652395" cy="5715"/>
            <a:chOff x="3268383" y="2027624"/>
            <a:chExt cx="2652395" cy="5715"/>
          </a:xfrm>
        </p:grpSpPr>
        <p:sp>
          <p:nvSpPr>
            <p:cNvPr id="166" name="object 166" descr=""/>
            <p:cNvSpPr/>
            <p:nvPr/>
          </p:nvSpPr>
          <p:spPr>
            <a:xfrm>
              <a:off x="3271241" y="2030482"/>
              <a:ext cx="24130" cy="0"/>
            </a:xfrm>
            <a:custGeom>
              <a:avLst/>
              <a:gdLst/>
              <a:ahLst/>
              <a:cxnLst/>
              <a:rect l="l" t="t" r="r" b="b"/>
              <a:pathLst>
                <a:path w="24129" h="0">
                  <a:moveTo>
                    <a:pt x="0" y="0"/>
                  </a:moveTo>
                  <a:lnTo>
                    <a:pt x="23798" y="0"/>
                  </a:lnTo>
                </a:path>
              </a:pathLst>
            </a:custGeom>
            <a:ln w="5301">
              <a:solidFill>
                <a:srgbClr val="000000"/>
              </a:solidFill>
            </a:ln>
          </p:spPr>
          <p:txBody>
            <a:bodyPr wrap="square" lIns="0" tIns="0" rIns="0" bIns="0" rtlCol="0"/>
            <a:lstStyle/>
            <a:p/>
          </p:txBody>
        </p:sp>
        <p:sp>
          <p:nvSpPr>
            <p:cNvPr id="167" name="object 167" descr=""/>
            <p:cNvSpPr/>
            <p:nvPr/>
          </p:nvSpPr>
          <p:spPr>
            <a:xfrm>
              <a:off x="3292659" y="2027831"/>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68" name="object 168" descr=""/>
            <p:cNvSpPr/>
            <p:nvPr/>
          </p:nvSpPr>
          <p:spPr>
            <a:xfrm>
              <a:off x="5889065" y="2030482"/>
              <a:ext cx="28575" cy="0"/>
            </a:xfrm>
            <a:custGeom>
              <a:avLst/>
              <a:gdLst/>
              <a:ahLst/>
              <a:cxnLst/>
              <a:rect l="l" t="t" r="r" b="b"/>
              <a:pathLst>
                <a:path w="28575" h="0">
                  <a:moveTo>
                    <a:pt x="28558" y="0"/>
                  </a:moveTo>
                  <a:lnTo>
                    <a:pt x="0" y="0"/>
                  </a:lnTo>
                </a:path>
              </a:pathLst>
            </a:custGeom>
            <a:ln w="5301">
              <a:solidFill>
                <a:srgbClr val="000000"/>
              </a:solidFill>
            </a:ln>
          </p:spPr>
          <p:txBody>
            <a:bodyPr wrap="square" lIns="0" tIns="0" rIns="0" bIns="0" rtlCol="0"/>
            <a:lstStyle/>
            <a:p/>
          </p:txBody>
        </p:sp>
        <p:sp>
          <p:nvSpPr>
            <p:cNvPr id="169" name="object 169" descr=""/>
            <p:cNvSpPr/>
            <p:nvPr/>
          </p:nvSpPr>
          <p:spPr>
            <a:xfrm>
              <a:off x="5886686" y="2027831"/>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grpSp>
      <p:sp>
        <p:nvSpPr>
          <p:cNvPr id="170" name="object 170" descr=""/>
          <p:cNvSpPr txBox="1"/>
          <p:nvPr/>
        </p:nvSpPr>
        <p:spPr>
          <a:xfrm>
            <a:off x="3147466" y="1975366"/>
            <a:ext cx="177800" cy="108585"/>
          </a:xfrm>
          <a:prstGeom prst="rect">
            <a:avLst/>
          </a:prstGeom>
        </p:spPr>
        <p:txBody>
          <a:bodyPr wrap="square" lIns="0" tIns="11430" rIns="0" bIns="0" rtlCol="0" vert="horz">
            <a:spAutoFit/>
          </a:bodyPr>
          <a:lstStyle/>
          <a:p>
            <a:pPr marL="38100">
              <a:lnSpc>
                <a:spcPct val="100000"/>
              </a:lnSpc>
              <a:spcBef>
                <a:spcPts val="90"/>
              </a:spcBef>
            </a:pPr>
            <a:r>
              <a:rPr dirty="0" sz="550" spc="-25">
                <a:latin typeface="Arial MT"/>
                <a:cs typeface="Arial MT"/>
              </a:rPr>
              <a:t>50</a:t>
            </a:r>
            <a:r>
              <a:rPr dirty="0" baseline="-16666" sz="750" spc="-37">
                <a:latin typeface="Arial MT"/>
                <a:cs typeface="Arial MT"/>
              </a:rPr>
              <a:t>7</a:t>
            </a:r>
            <a:endParaRPr baseline="-16666" sz="750">
              <a:latin typeface="Arial MT"/>
              <a:cs typeface="Arial MT"/>
            </a:endParaRPr>
          </a:p>
        </p:txBody>
      </p:sp>
      <p:grpSp>
        <p:nvGrpSpPr>
          <p:cNvPr id="171" name="object 171" descr=""/>
          <p:cNvGrpSpPr/>
          <p:nvPr/>
        </p:nvGrpSpPr>
        <p:grpSpPr>
          <a:xfrm>
            <a:off x="3268383" y="1757235"/>
            <a:ext cx="2652395" cy="5715"/>
            <a:chOff x="3268383" y="1757235"/>
            <a:chExt cx="2652395" cy="5715"/>
          </a:xfrm>
        </p:grpSpPr>
        <p:sp>
          <p:nvSpPr>
            <p:cNvPr id="172" name="object 172" descr=""/>
            <p:cNvSpPr/>
            <p:nvPr/>
          </p:nvSpPr>
          <p:spPr>
            <a:xfrm>
              <a:off x="3271240" y="1760092"/>
              <a:ext cx="24130" cy="0"/>
            </a:xfrm>
            <a:custGeom>
              <a:avLst/>
              <a:gdLst/>
              <a:ahLst/>
              <a:cxnLst/>
              <a:rect l="l" t="t" r="r" b="b"/>
              <a:pathLst>
                <a:path w="24129" h="0">
                  <a:moveTo>
                    <a:pt x="0" y="0"/>
                  </a:moveTo>
                  <a:lnTo>
                    <a:pt x="23798" y="0"/>
                  </a:lnTo>
                </a:path>
              </a:pathLst>
            </a:custGeom>
            <a:ln w="5301">
              <a:solidFill>
                <a:srgbClr val="000000"/>
              </a:solidFill>
            </a:ln>
          </p:spPr>
          <p:txBody>
            <a:bodyPr wrap="square" lIns="0" tIns="0" rIns="0" bIns="0" rtlCol="0"/>
            <a:lstStyle/>
            <a:p/>
          </p:txBody>
        </p:sp>
        <p:sp>
          <p:nvSpPr>
            <p:cNvPr id="173" name="object 173" descr=""/>
            <p:cNvSpPr/>
            <p:nvPr/>
          </p:nvSpPr>
          <p:spPr>
            <a:xfrm>
              <a:off x="3292658" y="1757442"/>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74" name="object 174" descr=""/>
            <p:cNvSpPr/>
            <p:nvPr/>
          </p:nvSpPr>
          <p:spPr>
            <a:xfrm>
              <a:off x="5889065" y="1760092"/>
              <a:ext cx="28575" cy="0"/>
            </a:xfrm>
            <a:custGeom>
              <a:avLst/>
              <a:gdLst/>
              <a:ahLst/>
              <a:cxnLst/>
              <a:rect l="l" t="t" r="r" b="b"/>
              <a:pathLst>
                <a:path w="28575" h="0">
                  <a:moveTo>
                    <a:pt x="28558" y="0"/>
                  </a:moveTo>
                  <a:lnTo>
                    <a:pt x="0" y="0"/>
                  </a:lnTo>
                </a:path>
              </a:pathLst>
            </a:custGeom>
            <a:ln w="5301">
              <a:solidFill>
                <a:srgbClr val="000000"/>
              </a:solidFill>
            </a:ln>
          </p:spPr>
          <p:txBody>
            <a:bodyPr wrap="square" lIns="0" tIns="0" rIns="0" bIns="0" rtlCol="0"/>
            <a:lstStyle/>
            <a:p/>
          </p:txBody>
        </p:sp>
        <p:sp>
          <p:nvSpPr>
            <p:cNvPr id="175" name="object 175" descr=""/>
            <p:cNvSpPr/>
            <p:nvPr/>
          </p:nvSpPr>
          <p:spPr>
            <a:xfrm>
              <a:off x="5886685" y="1757442"/>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grpSp>
      <p:sp>
        <p:nvSpPr>
          <p:cNvPr id="176" name="object 176" descr=""/>
          <p:cNvSpPr txBox="1"/>
          <p:nvPr/>
        </p:nvSpPr>
        <p:spPr>
          <a:xfrm>
            <a:off x="3172866" y="1704978"/>
            <a:ext cx="92075" cy="108585"/>
          </a:xfrm>
          <a:prstGeom prst="rect">
            <a:avLst/>
          </a:prstGeom>
        </p:spPr>
        <p:txBody>
          <a:bodyPr wrap="square" lIns="0" tIns="11430" rIns="0" bIns="0" rtlCol="0" vert="horz">
            <a:spAutoFit/>
          </a:bodyPr>
          <a:lstStyle/>
          <a:p>
            <a:pPr marL="12700">
              <a:lnSpc>
                <a:spcPct val="100000"/>
              </a:lnSpc>
              <a:spcBef>
                <a:spcPts val="90"/>
              </a:spcBef>
            </a:pPr>
            <a:r>
              <a:rPr dirty="0" sz="550" spc="-25">
                <a:latin typeface="Arial MT"/>
                <a:cs typeface="Arial MT"/>
              </a:rPr>
              <a:t>60</a:t>
            </a:r>
            <a:endParaRPr sz="550">
              <a:latin typeface="Arial MT"/>
              <a:cs typeface="Arial MT"/>
            </a:endParaRPr>
          </a:p>
        </p:txBody>
      </p:sp>
      <p:grpSp>
        <p:nvGrpSpPr>
          <p:cNvPr id="177" name="object 177" descr=""/>
          <p:cNvGrpSpPr/>
          <p:nvPr/>
        </p:nvGrpSpPr>
        <p:grpSpPr>
          <a:xfrm>
            <a:off x="3268382" y="1481544"/>
            <a:ext cx="2652395" cy="5715"/>
            <a:chOff x="3268382" y="1481544"/>
            <a:chExt cx="2652395" cy="5715"/>
          </a:xfrm>
        </p:grpSpPr>
        <p:sp>
          <p:nvSpPr>
            <p:cNvPr id="178" name="object 178" descr=""/>
            <p:cNvSpPr/>
            <p:nvPr/>
          </p:nvSpPr>
          <p:spPr>
            <a:xfrm>
              <a:off x="3271239" y="1484401"/>
              <a:ext cx="24130" cy="0"/>
            </a:xfrm>
            <a:custGeom>
              <a:avLst/>
              <a:gdLst/>
              <a:ahLst/>
              <a:cxnLst/>
              <a:rect l="l" t="t" r="r" b="b"/>
              <a:pathLst>
                <a:path w="24129" h="0">
                  <a:moveTo>
                    <a:pt x="0" y="0"/>
                  </a:moveTo>
                  <a:lnTo>
                    <a:pt x="23798" y="0"/>
                  </a:lnTo>
                </a:path>
              </a:pathLst>
            </a:custGeom>
            <a:ln w="5301">
              <a:solidFill>
                <a:srgbClr val="000000"/>
              </a:solidFill>
            </a:ln>
          </p:spPr>
          <p:txBody>
            <a:bodyPr wrap="square" lIns="0" tIns="0" rIns="0" bIns="0" rtlCol="0"/>
            <a:lstStyle/>
            <a:p/>
          </p:txBody>
        </p:sp>
        <p:sp>
          <p:nvSpPr>
            <p:cNvPr id="179" name="object 179" descr=""/>
            <p:cNvSpPr/>
            <p:nvPr/>
          </p:nvSpPr>
          <p:spPr>
            <a:xfrm>
              <a:off x="3292658" y="148175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80" name="object 180" descr=""/>
            <p:cNvSpPr/>
            <p:nvPr/>
          </p:nvSpPr>
          <p:spPr>
            <a:xfrm>
              <a:off x="5889064" y="1484401"/>
              <a:ext cx="28575" cy="0"/>
            </a:xfrm>
            <a:custGeom>
              <a:avLst/>
              <a:gdLst/>
              <a:ahLst/>
              <a:cxnLst/>
              <a:rect l="l" t="t" r="r" b="b"/>
              <a:pathLst>
                <a:path w="28575" h="0">
                  <a:moveTo>
                    <a:pt x="28558" y="0"/>
                  </a:moveTo>
                  <a:lnTo>
                    <a:pt x="0" y="0"/>
                  </a:lnTo>
                </a:path>
              </a:pathLst>
            </a:custGeom>
            <a:ln w="5301">
              <a:solidFill>
                <a:srgbClr val="000000"/>
              </a:solidFill>
            </a:ln>
          </p:spPr>
          <p:txBody>
            <a:bodyPr wrap="square" lIns="0" tIns="0" rIns="0" bIns="0" rtlCol="0"/>
            <a:lstStyle/>
            <a:p/>
          </p:txBody>
        </p:sp>
        <p:sp>
          <p:nvSpPr>
            <p:cNvPr id="181" name="object 181" descr=""/>
            <p:cNvSpPr/>
            <p:nvPr/>
          </p:nvSpPr>
          <p:spPr>
            <a:xfrm>
              <a:off x="5886684" y="1481750"/>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grpSp>
      <p:sp>
        <p:nvSpPr>
          <p:cNvPr id="182" name="object 182" descr=""/>
          <p:cNvSpPr txBox="1"/>
          <p:nvPr/>
        </p:nvSpPr>
        <p:spPr>
          <a:xfrm>
            <a:off x="3172865" y="1429287"/>
            <a:ext cx="92075" cy="164465"/>
          </a:xfrm>
          <a:prstGeom prst="rect">
            <a:avLst/>
          </a:prstGeom>
        </p:spPr>
        <p:txBody>
          <a:bodyPr wrap="square" lIns="0" tIns="11430" rIns="0" bIns="0" rtlCol="0" vert="horz">
            <a:spAutoFit/>
          </a:bodyPr>
          <a:lstStyle/>
          <a:p>
            <a:pPr marL="12700">
              <a:lnSpc>
                <a:spcPts val="580"/>
              </a:lnSpc>
              <a:spcBef>
                <a:spcPts val="90"/>
              </a:spcBef>
            </a:pPr>
            <a:r>
              <a:rPr dirty="0" sz="550" spc="-25">
                <a:latin typeface="Arial MT"/>
                <a:cs typeface="Arial MT"/>
              </a:rPr>
              <a:t>70</a:t>
            </a:r>
            <a:endParaRPr sz="550">
              <a:latin typeface="Arial MT"/>
              <a:cs typeface="Arial MT"/>
            </a:endParaRPr>
          </a:p>
          <a:p>
            <a:pPr marL="41275">
              <a:lnSpc>
                <a:spcPts val="520"/>
              </a:lnSpc>
            </a:pPr>
            <a:r>
              <a:rPr dirty="0" sz="500" spc="-50">
                <a:latin typeface="Arial MT"/>
                <a:cs typeface="Arial MT"/>
              </a:rPr>
              <a:t>1</a:t>
            </a:r>
            <a:endParaRPr sz="500">
              <a:latin typeface="Arial MT"/>
              <a:cs typeface="Arial MT"/>
            </a:endParaRPr>
          </a:p>
        </p:txBody>
      </p:sp>
      <p:grpSp>
        <p:nvGrpSpPr>
          <p:cNvPr id="183" name="object 183" descr=""/>
          <p:cNvGrpSpPr/>
          <p:nvPr/>
        </p:nvGrpSpPr>
        <p:grpSpPr>
          <a:xfrm>
            <a:off x="3268380" y="1205852"/>
            <a:ext cx="2652395" cy="2200910"/>
            <a:chOff x="3268380" y="1205852"/>
            <a:chExt cx="2652395" cy="2200910"/>
          </a:xfrm>
        </p:grpSpPr>
        <p:sp>
          <p:nvSpPr>
            <p:cNvPr id="184" name="object 184" descr=""/>
            <p:cNvSpPr/>
            <p:nvPr/>
          </p:nvSpPr>
          <p:spPr>
            <a:xfrm>
              <a:off x="3271239" y="1214012"/>
              <a:ext cx="24130" cy="0"/>
            </a:xfrm>
            <a:custGeom>
              <a:avLst/>
              <a:gdLst/>
              <a:ahLst/>
              <a:cxnLst/>
              <a:rect l="l" t="t" r="r" b="b"/>
              <a:pathLst>
                <a:path w="24129" h="0">
                  <a:moveTo>
                    <a:pt x="0" y="0"/>
                  </a:moveTo>
                  <a:lnTo>
                    <a:pt x="23798" y="0"/>
                  </a:lnTo>
                </a:path>
              </a:pathLst>
            </a:custGeom>
            <a:ln w="5301">
              <a:solidFill>
                <a:srgbClr val="000000"/>
              </a:solidFill>
            </a:ln>
          </p:spPr>
          <p:txBody>
            <a:bodyPr wrap="square" lIns="0" tIns="0" rIns="0" bIns="0" rtlCol="0"/>
            <a:lstStyle/>
            <a:p/>
          </p:txBody>
        </p:sp>
        <p:sp>
          <p:nvSpPr>
            <p:cNvPr id="185" name="object 185" descr=""/>
            <p:cNvSpPr/>
            <p:nvPr/>
          </p:nvSpPr>
          <p:spPr>
            <a:xfrm>
              <a:off x="3292657" y="1211361"/>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86" name="object 186" descr=""/>
            <p:cNvSpPr/>
            <p:nvPr/>
          </p:nvSpPr>
          <p:spPr>
            <a:xfrm>
              <a:off x="5889063" y="1214012"/>
              <a:ext cx="28575" cy="0"/>
            </a:xfrm>
            <a:custGeom>
              <a:avLst/>
              <a:gdLst/>
              <a:ahLst/>
              <a:cxnLst/>
              <a:rect l="l" t="t" r="r" b="b"/>
              <a:pathLst>
                <a:path w="28575" h="0">
                  <a:moveTo>
                    <a:pt x="28558" y="0"/>
                  </a:moveTo>
                  <a:lnTo>
                    <a:pt x="0" y="0"/>
                  </a:lnTo>
                </a:path>
              </a:pathLst>
            </a:custGeom>
            <a:ln w="5301">
              <a:solidFill>
                <a:srgbClr val="000000"/>
              </a:solidFill>
            </a:ln>
          </p:spPr>
          <p:txBody>
            <a:bodyPr wrap="square" lIns="0" tIns="0" rIns="0" bIns="0" rtlCol="0"/>
            <a:lstStyle/>
            <a:p/>
          </p:txBody>
        </p:sp>
        <p:sp>
          <p:nvSpPr>
            <p:cNvPr id="187" name="object 187" descr=""/>
            <p:cNvSpPr/>
            <p:nvPr/>
          </p:nvSpPr>
          <p:spPr>
            <a:xfrm>
              <a:off x="5886683" y="1211361"/>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88" name="object 188" descr=""/>
            <p:cNvSpPr/>
            <p:nvPr/>
          </p:nvSpPr>
          <p:spPr>
            <a:xfrm>
              <a:off x="3271238" y="1208710"/>
              <a:ext cx="2646680" cy="0"/>
            </a:xfrm>
            <a:custGeom>
              <a:avLst/>
              <a:gdLst/>
              <a:ahLst/>
              <a:cxnLst/>
              <a:rect l="l" t="t" r="r" b="b"/>
              <a:pathLst>
                <a:path w="2646679" h="0">
                  <a:moveTo>
                    <a:pt x="0" y="0"/>
                  </a:moveTo>
                  <a:lnTo>
                    <a:pt x="2646383" y="0"/>
                  </a:lnTo>
                </a:path>
              </a:pathLst>
            </a:custGeom>
            <a:ln w="5301">
              <a:solidFill>
                <a:srgbClr val="000000"/>
              </a:solidFill>
            </a:ln>
          </p:spPr>
          <p:txBody>
            <a:bodyPr wrap="square" lIns="0" tIns="0" rIns="0" bIns="0" rtlCol="0"/>
            <a:lstStyle/>
            <a:p/>
          </p:txBody>
        </p:sp>
        <p:sp>
          <p:nvSpPr>
            <p:cNvPr id="189" name="object 189" descr=""/>
            <p:cNvSpPr/>
            <p:nvPr/>
          </p:nvSpPr>
          <p:spPr>
            <a:xfrm>
              <a:off x="5915241" y="1206059"/>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90" name="object 190" descr=""/>
            <p:cNvSpPr/>
            <p:nvPr/>
          </p:nvSpPr>
          <p:spPr>
            <a:xfrm>
              <a:off x="3271237" y="3403634"/>
              <a:ext cx="2646680" cy="0"/>
            </a:xfrm>
            <a:custGeom>
              <a:avLst/>
              <a:gdLst/>
              <a:ahLst/>
              <a:cxnLst/>
              <a:rect l="l" t="t" r="r" b="b"/>
              <a:pathLst>
                <a:path w="2646679" h="0">
                  <a:moveTo>
                    <a:pt x="0" y="0"/>
                  </a:moveTo>
                  <a:lnTo>
                    <a:pt x="2646383" y="0"/>
                  </a:lnTo>
                </a:path>
              </a:pathLst>
            </a:custGeom>
            <a:ln w="5301">
              <a:solidFill>
                <a:srgbClr val="000000"/>
              </a:solidFill>
            </a:ln>
          </p:spPr>
          <p:txBody>
            <a:bodyPr wrap="square" lIns="0" tIns="0" rIns="0" bIns="0" rtlCol="0"/>
            <a:lstStyle/>
            <a:p/>
          </p:txBody>
        </p:sp>
        <p:sp>
          <p:nvSpPr>
            <p:cNvPr id="191" name="object 191" descr=""/>
            <p:cNvSpPr/>
            <p:nvPr/>
          </p:nvSpPr>
          <p:spPr>
            <a:xfrm>
              <a:off x="5915240" y="3400984"/>
              <a:ext cx="5080" cy="5715"/>
            </a:xfrm>
            <a:custGeom>
              <a:avLst/>
              <a:gdLst/>
              <a:ahLst/>
              <a:cxnLst/>
              <a:rect l="l" t="t" r="r" b="b"/>
              <a:pathLst>
                <a:path w="5079" h="5714">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92" name="object 192" descr=""/>
            <p:cNvSpPr/>
            <p:nvPr/>
          </p:nvSpPr>
          <p:spPr>
            <a:xfrm>
              <a:off x="5917620" y="1208710"/>
              <a:ext cx="0" cy="2195195"/>
            </a:xfrm>
            <a:custGeom>
              <a:avLst/>
              <a:gdLst/>
              <a:ahLst/>
              <a:cxnLst/>
              <a:rect l="l" t="t" r="r" b="b"/>
              <a:pathLst>
                <a:path w="0" h="2195195">
                  <a:moveTo>
                    <a:pt x="0" y="2194924"/>
                  </a:moveTo>
                  <a:lnTo>
                    <a:pt x="0" y="0"/>
                  </a:lnTo>
                </a:path>
              </a:pathLst>
            </a:custGeom>
            <a:ln w="4759">
              <a:solidFill>
                <a:srgbClr val="000000"/>
              </a:solidFill>
            </a:ln>
          </p:spPr>
          <p:txBody>
            <a:bodyPr wrap="square" lIns="0" tIns="0" rIns="0" bIns="0" rtlCol="0"/>
            <a:lstStyle/>
            <a:p/>
          </p:txBody>
        </p:sp>
        <p:sp>
          <p:nvSpPr>
            <p:cNvPr id="193" name="object 193" descr=""/>
            <p:cNvSpPr/>
            <p:nvPr/>
          </p:nvSpPr>
          <p:spPr>
            <a:xfrm>
              <a:off x="5915240" y="1206059"/>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94" name="object 194" descr=""/>
            <p:cNvSpPr/>
            <p:nvPr/>
          </p:nvSpPr>
          <p:spPr>
            <a:xfrm>
              <a:off x="3271237" y="1208710"/>
              <a:ext cx="0" cy="2195195"/>
            </a:xfrm>
            <a:custGeom>
              <a:avLst/>
              <a:gdLst/>
              <a:ahLst/>
              <a:cxnLst/>
              <a:rect l="l" t="t" r="r" b="b"/>
              <a:pathLst>
                <a:path w="0" h="2195195">
                  <a:moveTo>
                    <a:pt x="0" y="2194924"/>
                  </a:moveTo>
                  <a:lnTo>
                    <a:pt x="0" y="0"/>
                  </a:lnTo>
                </a:path>
              </a:pathLst>
            </a:custGeom>
            <a:ln w="4759">
              <a:solidFill>
                <a:srgbClr val="000000"/>
              </a:solidFill>
            </a:ln>
          </p:spPr>
          <p:txBody>
            <a:bodyPr wrap="square" lIns="0" tIns="0" rIns="0" bIns="0" rtlCol="0"/>
            <a:lstStyle/>
            <a:p/>
          </p:txBody>
        </p:sp>
        <p:sp>
          <p:nvSpPr>
            <p:cNvPr id="195" name="object 195" descr=""/>
            <p:cNvSpPr/>
            <p:nvPr/>
          </p:nvSpPr>
          <p:spPr>
            <a:xfrm>
              <a:off x="3268857" y="1206059"/>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196" name="object 196" descr=""/>
            <p:cNvSpPr/>
            <p:nvPr/>
          </p:nvSpPr>
          <p:spPr>
            <a:xfrm>
              <a:off x="3466406" y="3403635"/>
              <a:ext cx="62230" cy="0"/>
            </a:xfrm>
            <a:custGeom>
              <a:avLst/>
              <a:gdLst/>
              <a:ahLst/>
              <a:cxnLst/>
              <a:rect l="l" t="t" r="r" b="b"/>
              <a:pathLst>
                <a:path w="62229" h="0">
                  <a:moveTo>
                    <a:pt x="61875" y="0"/>
                  </a:moveTo>
                  <a:lnTo>
                    <a:pt x="0" y="0"/>
                  </a:lnTo>
                </a:path>
              </a:pathLst>
            </a:custGeom>
            <a:solidFill>
              <a:srgbClr val="FF0000"/>
            </a:solidFill>
          </p:spPr>
          <p:txBody>
            <a:bodyPr wrap="square" lIns="0" tIns="0" rIns="0" bIns="0" rtlCol="0"/>
            <a:lstStyle/>
            <a:p/>
          </p:txBody>
        </p:sp>
        <p:sp>
          <p:nvSpPr>
            <p:cNvPr id="197" name="object 197" descr=""/>
            <p:cNvSpPr/>
            <p:nvPr/>
          </p:nvSpPr>
          <p:spPr>
            <a:xfrm>
              <a:off x="3466404" y="3403636"/>
              <a:ext cx="62230" cy="0"/>
            </a:xfrm>
            <a:custGeom>
              <a:avLst/>
              <a:gdLst/>
              <a:ahLst/>
              <a:cxnLst/>
              <a:rect l="l" t="t" r="r" b="b"/>
              <a:pathLst>
                <a:path w="62229" h="0">
                  <a:moveTo>
                    <a:pt x="0" y="0"/>
                  </a:moveTo>
                  <a:lnTo>
                    <a:pt x="61875" y="0"/>
                  </a:lnTo>
                  <a:lnTo>
                    <a:pt x="0" y="0"/>
                  </a:lnTo>
                </a:path>
              </a:pathLst>
            </a:custGeom>
            <a:ln w="5301">
              <a:solidFill>
                <a:srgbClr val="000000"/>
              </a:solidFill>
            </a:ln>
          </p:spPr>
          <p:txBody>
            <a:bodyPr wrap="square" lIns="0" tIns="0" rIns="0" bIns="0" rtlCol="0"/>
            <a:lstStyle/>
            <a:p/>
          </p:txBody>
        </p:sp>
        <p:sp>
          <p:nvSpPr>
            <p:cNvPr id="198" name="object 198" descr=""/>
            <p:cNvSpPr/>
            <p:nvPr/>
          </p:nvSpPr>
          <p:spPr>
            <a:xfrm>
              <a:off x="3756744" y="3398333"/>
              <a:ext cx="66675" cy="5715"/>
            </a:xfrm>
            <a:custGeom>
              <a:avLst/>
              <a:gdLst/>
              <a:ahLst/>
              <a:cxnLst/>
              <a:rect l="l" t="t" r="r" b="b"/>
              <a:pathLst>
                <a:path w="66675" h="5714">
                  <a:moveTo>
                    <a:pt x="66635" y="5301"/>
                  </a:moveTo>
                  <a:lnTo>
                    <a:pt x="0" y="5301"/>
                  </a:lnTo>
                  <a:lnTo>
                    <a:pt x="0" y="0"/>
                  </a:lnTo>
                  <a:lnTo>
                    <a:pt x="66635" y="0"/>
                  </a:lnTo>
                  <a:lnTo>
                    <a:pt x="66635" y="5301"/>
                  </a:lnTo>
                  <a:close/>
                </a:path>
              </a:pathLst>
            </a:custGeom>
            <a:solidFill>
              <a:srgbClr val="FF0000"/>
            </a:solidFill>
          </p:spPr>
          <p:txBody>
            <a:bodyPr wrap="square" lIns="0" tIns="0" rIns="0" bIns="0" rtlCol="0"/>
            <a:lstStyle/>
            <a:p/>
          </p:txBody>
        </p:sp>
        <p:sp>
          <p:nvSpPr>
            <p:cNvPr id="199" name="object 199" descr=""/>
            <p:cNvSpPr/>
            <p:nvPr/>
          </p:nvSpPr>
          <p:spPr>
            <a:xfrm>
              <a:off x="3756744" y="3398333"/>
              <a:ext cx="66675" cy="5715"/>
            </a:xfrm>
            <a:custGeom>
              <a:avLst/>
              <a:gdLst/>
              <a:ahLst/>
              <a:cxnLst/>
              <a:rect l="l" t="t" r="r" b="b"/>
              <a:pathLst>
                <a:path w="66675" h="5714">
                  <a:moveTo>
                    <a:pt x="0" y="0"/>
                  </a:moveTo>
                  <a:lnTo>
                    <a:pt x="66635" y="0"/>
                  </a:lnTo>
                  <a:lnTo>
                    <a:pt x="66635" y="5301"/>
                  </a:lnTo>
                  <a:lnTo>
                    <a:pt x="0" y="5301"/>
                  </a:lnTo>
                  <a:lnTo>
                    <a:pt x="0" y="0"/>
                  </a:lnTo>
                  <a:close/>
                </a:path>
              </a:pathLst>
            </a:custGeom>
            <a:ln w="5298">
              <a:solidFill>
                <a:srgbClr val="000000"/>
              </a:solidFill>
            </a:ln>
          </p:spPr>
          <p:txBody>
            <a:bodyPr wrap="square" lIns="0" tIns="0" rIns="0" bIns="0" rtlCol="0"/>
            <a:lstStyle/>
            <a:p/>
          </p:txBody>
        </p:sp>
        <p:sp>
          <p:nvSpPr>
            <p:cNvPr id="200" name="object 200" descr=""/>
            <p:cNvSpPr/>
            <p:nvPr/>
          </p:nvSpPr>
          <p:spPr>
            <a:xfrm>
              <a:off x="4051844" y="3377131"/>
              <a:ext cx="66675" cy="26670"/>
            </a:xfrm>
            <a:custGeom>
              <a:avLst/>
              <a:gdLst/>
              <a:ahLst/>
              <a:cxnLst/>
              <a:rect l="l" t="t" r="r" b="b"/>
              <a:pathLst>
                <a:path w="66675" h="26670">
                  <a:moveTo>
                    <a:pt x="66635" y="26508"/>
                  </a:moveTo>
                  <a:lnTo>
                    <a:pt x="0" y="26508"/>
                  </a:lnTo>
                  <a:lnTo>
                    <a:pt x="0" y="0"/>
                  </a:lnTo>
                  <a:lnTo>
                    <a:pt x="66635" y="0"/>
                  </a:lnTo>
                  <a:lnTo>
                    <a:pt x="66635" y="26508"/>
                  </a:lnTo>
                  <a:close/>
                </a:path>
              </a:pathLst>
            </a:custGeom>
            <a:solidFill>
              <a:srgbClr val="FF0000"/>
            </a:solidFill>
          </p:spPr>
          <p:txBody>
            <a:bodyPr wrap="square" lIns="0" tIns="0" rIns="0" bIns="0" rtlCol="0"/>
            <a:lstStyle/>
            <a:p/>
          </p:txBody>
        </p:sp>
        <p:sp>
          <p:nvSpPr>
            <p:cNvPr id="201" name="object 201" descr=""/>
            <p:cNvSpPr/>
            <p:nvPr/>
          </p:nvSpPr>
          <p:spPr>
            <a:xfrm>
              <a:off x="4051844" y="3377126"/>
              <a:ext cx="66675" cy="26670"/>
            </a:xfrm>
            <a:custGeom>
              <a:avLst/>
              <a:gdLst/>
              <a:ahLst/>
              <a:cxnLst/>
              <a:rect l="l" t="t" r="r" b="b"/>
              <a:pathLst>
                <a:path w="66675" h="26670">
                  <a:moveTo>
                    <a:pt x="0" y="0"/>
                  </a:moveTo>
                  <a:lnTo>
                    <a:pt x="66635" y="0"/>
                  </a:lnTo>
                  <a:lnTo>
                    <a:pt x="66635" y="26508"/>
                  </a:lnTo>
                  <a:lnTo>
                    <a:pt x="0" y="26508"/>
                  </a:lnTo>
                  <a:lnTo>
                    <a:pt x="0" y="0"/>
                  </a:lnTo>
                  <a:close/>
                </a:path>
              </a:pathLst>
            </a:custGeom>
            <a:ln w="5227">
              <a:solidFill>
                <a:srgbClr val="000000"/>
              </a:solidFill>
            </a:ln>
          </p:spPr>
          <p:txBody>
            <a:bodyPr wrap="square" lIns="0" tIns="0" rIns="0" bIns="0" rtlCol="0"/>
            <a:lstStyle/>
            <a:p/>
          </p:txBody>
        </p:sp>
        <p:sp>
          <p:nvSpPr>
            <p:cNvPr id="202" name="object 202" descr=""/>
            <p:cNvSpPr/>
            <p:nvPr/>
          </p:nvSpPr>
          <p:spPr>
            <a:xfrm>
              <a:off x="4346944" y="3329415"/>
              <a:ext cx="66675" cy="74295"/>
            </a:xfrm>
            <a:custGeom>
              <a:avLst/>
              <a:gdLst/>
              <a:ahLst/>
              <a:cxnLst/>
              <a:rect l="l" t="t" r="r" b="b"/>
              <a:pathLst>
                <a:path w="66675" h="74295">
                  <a:moveTo>
                    <a:pt x="66635" y="74224"/>
                  </a:moveTo>
                  <a:lnTo>
                    <a:pt x="0" y="74224"/>
                  </a:lnTo>
                  <a:lnTo>
                    <a:pt x="0" y="0"/>
                  </a:lnTo>
                  <a:lnTo>
                    <a:pt x="66635" y="0"/>
                  </a:lnTo>
                  <a:lnTo>
                    <a:pt x="66635" y="74224"/>
                  </a:lnTo>
                  <a:close/>
                </a:path>
              </a:pathLst>
            </a:custGeom>
            <a:solidFill>
              <a:srgbClr val="FF0000"/>
            </a:solidFill>
          </p:spPr>
          <p:txBody>
            <a:bodyPr wrap="square" lIns="0" tIns="0" rIns="0" bIns="0" rtlCol="0"/>
            <a:lstStyle/>
            <a:p/>
          </p:txBody>
        </p:sp>
        <p:sp>
          <p:nvSpPr>
            <p:cNvPr id="203" name="object 203" descr=""/>
            <p:cNvSpPr/>
            <p:nvPr/>
          </p:nvSpPr>
          <p:spPr>
            <a:xfrm>
              <a:off x="4346944" y="3329410"/>
              <a:ext cx="66675" cy="74295"/>
            </a:xfrm>
            <a:custGeom>
              <a:avLst/>
              <a:gdLst/>
              <a:ahLst/>
              <a:cxnLst/>
              <a:rect l="l" t="t" r="r" b="b"/>
              <a:pathLst>
                <a:path w="66675" h="74295">
                  <a:moveTo>
                    <a:pt x="0" y="0"/>
                  </a:moveTo>
                  <a:lnTo>
                    <a:pt x="66635" y="0"/>
                  </a:lnTo>
                  <a:lnTo>
                    <a:pt x="66635" y="74224"/>
                  </a:lnTo>
                  <a:lnTo>
                    <a:pt x="0" y="74224"/>
                  </a:lnTo>
                  <a:lnTo>
                    <a:pt x="0" y="0"/>
                  </a:lnTo>
                  <a:close/>
                </a:path>
              </a:pathLst>
            </a:custGeom>
            <a:ln w="5001">
              <a:solidFill>
                <a:srgbClr val="000000"/>
              </a:solidFill>
            </a:ln>
          </p:spPr>
          <p:txBody>
            <a:bodyPr wrap="square" lIns="0" tIns="0" rIns="0" bIns="0" rtlCol="0"/>
            <a:lstStyle/>
            <a:p/>
          </p:txBody>
        </p:sp>
        <p:sp>
          <p:nvSpPr>
            <p:cNvPr id="204" name="object 204" descr=""/>
            <p:cNvSpPr/>
            <p:nvPr/>
          </p:nvSpPr>
          <p:spPr>
            <a:xfrm>
              <a:off x="4642044" y="3239280"/>
              <a:ext cx="66675" cy="164465"/>
            </a:xfrm>
            <a:custGeom>
              <a:avLst/>
              <a:gdLst/>
              <a:ahLst/>
              <a:cxnLst/>
              <a:rect l="l" t="t" r="r" b="b"/>
              <a:pathLst>
                <a:path w="66675" h="164464">
                  <a:moveTo>
                    <a:pt x="66635" y="164354"/>
                  </a:moveTo>
                  <a:lnTo>
                    <a:pt x="0" y="164354"/>
                  </a:lnTo>
                  <a:lnTo>
                    <a:pt x="0" y="0"/>
                  </a:lnTo>
                  <a:lnTo>
                    <a:pt x="66635" y="0"/>
                  </a:lnTo>
                  <a:lnTo>
                    <a:pt x="66635" y="164354"/>
                  </a:lnTo>
                  <a:close/>
                </a:path>
              </a:pathLst>
            </a:custGeom>
            <a:solidFill>
              <a:srgbClr val="FF0000"/>
            </a:solidFill>
          </p:spPr>
          <p:txBody>
            <a:bodyPr wrap="square" lIns="0" tIns="0" rIns="0" bIns="0" rtlCol="0"/>
            <a:lstStyle/>
            <a:p/>
          </p:txBody>
        </p:sp>
        <p:sp>
          <p:nvSpPr>
            <p:cNvPr id="205" name="object 205" descr=""/>
            <p:cNvSpPr/>
            <p:nvPr/>
          </p:nvSpPr>
          <p:spPr>
            <a:xfrm>
              <a:off x="4642043" y="3239280"/>
              <a:ext cx="66675" cy="164465"/>
            </a:xfrm>
            <a:custGeom>
              <a:avLst/>
              <a:gdLst/>
              <a:ahLst/>
              <a:cxnLst/>
              <a:rect l="l" t="t" r="r" b="b"/>
              <a:pathLst>
                <a:path w="66675" h="164464">
                  <a:moveTo>
                    <a:pt x="0" y="0"/>
                  </a:moveTo>
                  <a:lnTo>
                    <a:pt x="66635" y="0"/>
                  </a:lnTo>
                  <a:lnTo>
                    <a:pt x="66635" y="164354"/>
                  </a:lnTo>
                  <a:lnTo>
                    <a:pt x="0" y="164354"/>
                  </a:lnTo>
                  <a:lnTo>
                    <a:pt x="0" y="0"/>
                  </a:lnTo>
                  <a:close/>
                </a:path>
              </a:pathLst>
            </a:custGeom>
            <a:ln w="4836">
              <a:solidFill>
                <a:srgbClr val="000000"/>
              </a:solidFill>
            </a:ln>
          </p:spPr>
          <p:txBody>
            <a:bodyPr wrap="square" lIns="0" tIns="0" rIns="0" bIns="0" rtlCol="0"/>
            <a:lstStyle/>
            <a:p/>
          </p:txBody>
        </p:sp>
        <p:sp>
          <p:nvSpPr>
            <p:cNvPr id="206" name="object 206" descr=""/>
            <p:cNvSpPr/>
            <p:nvPr/>
          </p:nvSpPr>
          <p:spPr>
            <a:xfrm>
              <a:off x="4937143" y="2094102"/>
              <a:ext cx="62230" cy="1310005"/>
            </a:xfrm>
            <a:custGeom>
              <a:avLst/>
              <a:gdLst/>
              <a:ahLst/>
              <a:cxnLst/>
              <a:rect l="l" t="t" r="r" b="b"/>
              <a:pathLst>
                <a:path w="62229" h="1310004">
                  <a:moveTo>
                    <a:pt x="61875" y="1309532"/>
                  </a:moveTo>
                  <a:lnTo>
                    <a:pt x="0" y="1309532"/>
                  </a:lnTo>
                  <a:lnTo>
                    <a:pt x="0" y="0"/>
                  </a:lnTo>
                  <a:lnTo>
                    <a:pt x="61875" y="0"/>
                  </a:lnTo>
                  <a:lnTo>
                    <a:pt x="61875" y="1309532"/>
                  </a:lnTo>
                  <a:close/>
                </a:path>
              </a:pathLst>
            </a:custGeom>
            <a:solidFill>
              <a:srgbClr val="FF0000"/>
            </a:solidFill>
          </p:spPr>
          <p:txBody>
            <a:bodyPr wrap="square" lIns="0" tIns="0" rIns="0" bIns="0" rtlCol="0"/>
            <a:lstStyle/>
            <a:p/>
          </p:txBody>
        </p:sp>
        <p:sp>
          <p:nvSpPr>
            <p:cNvPr id="207" name="object 207" descr=""/>
            <p:cNvSpPr/>
            <p:nvPr/>
          </p:nvSpPr>
          <p:spPr>
            <a:xfrm>
              <a:off x="4937143" y="2094102"/>
              <a:ext cx="62230" cy="1310005"/>
            </a:xfrm>
            <a:custGeom>
              <a:avLst/>
              <a:gdLst/>
              <a:ahLst/>
              <a:cxnLst/>
              <a:rect l="l" t="t" r="r" b="b"/>
              <a:pathLst>
                <a:path w="62229" h="1310004">
                  <a:moveTo>
                    <a:pt x="0" y="0"/>
                  </a:moveTo>
                  <a:lnTo>
                    <a:pt x="61875" y="0"/>
                  </a:lnTo>
                  <a:lnTo>
                    <a:pt x="61875" y="1309532"/>
                  </a:lnTo>
                  <a:lnTo>
                    <a:pt x="0" y="1309532"/>
                  </a:lnTo>
                  <a:lnTo>
                    <a:pt x="0" y="0"/>
                  </a:lnTo>
                  <a:close/>
                </a:path>
              </a:pathLst>
            </a:custGeom>
            <a:ln w="4760">
              <a:solidFill>
                <a:srgbClr val="000000"/>
              </a:solidFill>
            </a:ln>
          </p:spPr>
          <p:txBody>
            <a:bodyPr wrap="square" lIns="0" tIns="0" rIns="0" bIns="0" rtlCol="0"/>
            <a:lstStyle/>
            <a:p/>
          </p:txBody>
        </p:sp>
        <p:sp>
          <p:nvSpPr>
            <p:cNvPr id="208" name="object 208" descr=""/>
            <p:cNvSpPr/>
            <p:nvPr/>
          </p:nvSpPr>
          <p:spPr>
            <a:xfrm>
              <a:off x="5227484" y="2231953"/>
              <a:ext cx="66675" cy="1172210"/>
            </a:xfrm>
            <a:custGeom>
              <a:avLst/>
              <a:gdLst/>
              <a:ahLst/>
              <a:cxnLst/>
              <a:rect l="l" t="t" r="r" b="b"/>
              <a:pathLst>
                <a:path w="66675" h="1172210">
                  <a:moveTo>
                    <a:pt x="66635" y="1171686"/>
                  </a:moveTo>
                  <a:lnTo>
                    <a:pt x="0" y="1171686"/>
                  </a:lnTo>
                  <a:lnTo>
                    <a:pt x="0" y="0"/>
                  </a:lnTo>
                  <a:lnTo>
                    <a:pt x="66635" y="0"/>
                  </a:lnTo>
                  <a:lnTo>
                    <a:pt x="66635" y="1171686"/>
                  </a:lnTo>
                  <a:close/>
                </a:path>
              </a:pathLst>
            </a:custGeom>
            <a:solidFill>
              <a:srgbClr val="FF0000"/>
            </a:solidFill>
          </p:spPr>
          <p:txBody>
            <a:bodyPr wrap="square" lIns="0" tIns="0" rIns="0" bIns="0" rtlCol="0"/>
            <a:lstStyle/>
            <a:p/>
          </p:txBody>
        </p:sp>
        <p:sp>
          <p:nvSpPr>
            <p:cNvPr id="209" name="object 209" descr=""/>
            <p:cNvSpPr/>
            <p:nvPr/>
          </p:nvSpPr>
          <p:spPr>
            <a:xfrm>
              <a:off x="5227484" y="2231947"/>
              <a:ext cx="66675" cy="1172210"/>
            </a:xfrm>
            <a:custGeom>
              <a:avLst/>
              <a:gdLst/>
              <a:ahLst/>
              <a:cxnLst/>
              <a:rect l="l" t="t" r="r" b="b"/>
              <a:pathLst>
                <a:path w="66675" h="1172210">
                  <a:moveTo>
                    <a:pt x="0" y="0"/>
                  </a:moveTo>
                  <a:lnTo>
                    <a:pt x="66635" y="0"/>
                  </a:lnTo>
                  <a:lnTo>
                    <a:pt x="66635" y="1171686"/>
                  </a:lnTo>
                  <a:lnTo>
                    <a:pt x="0" y="1171686"/>
                  </a:lnTo>
                  <a:lnTo>
                    <a:pt x="0" y="0"/>
                  </a:lnTo>
                  <a:close/>
                </a:path>
              </a:pathLst>
            </a:custGeom>
            <a:ln w="4761">
              <a:solidFill>
                <a:srgbClr val="000000"/>
              </a:solidFill>
            </a:ln>
          </p:spPr>
          <p:txBody>
            <a:bodyPr wrap="square" lIns="0" tIns="0" rIns="0" bIns="0" rtlCol="0"/>
            <a:lstStyle/>
            <a:p/>
          </p:txBody>
        </p:sp>
        <p:sp>
          <p:nvSpPr>
            <p:cNvPr id="210" name="object 210" descr=""/>
            <p:cNvSpPr/>
            <p:nvPr/>
          </p:nvSpPr>
          <p:spPr>
            <a:xfrm>
              <a:off x="5522584" y="3398333"/>
              <a:ext cx="66675" cy="5715"/>
            </a:xfrm>
            <a:custGeom>
              <a:avLst/>
              <a:gdLst/>
              <a:ahLst/>
              <a:cxnLst/>
              <a:rect l="l" t="t" r="r" b="b"/>
              <a:pathLst>
                <a:path w="66675" h="5714">
                  <a:moveTo>
                    <a:pt x="66635" y="5301"/>
                  </a:moveTo>
                  <a:lnTo>
                    <a:pt x="0" y="5301"/>
                  </a:lnTo>
                  <a:lnTo>
                    <a:pt x="0" y="0"/>
                  </a:lnTo>
                  <a:lnTo>
                    <a:pt x="66635" y="0"/>
                  </a:lnTo>
                  <a:lnTo>
                    <a:pt x="66635" y="5301"/>
                  </a:lnTo>
                  <a:close/>
                </a:path>
              </a:pathLst>
            </a:custGeom>
            <a:solidFill>
              <a:srgbClr val="FF0000"/>
            </a:solidFill>
          </p:spPr>
          <p:txBody>
            <a:bodyPr wrap="square" lIns="0" tIns="0" rIns="0" bIns="0" rtlCol="0"/>
            <a:lstStyle/>
            <a:p/>
          </p:txBody>
        </p:sp>
        <p:sp>
          <p:nvSpPr>
            <p:cNvPr id="211" name="object 211" descr=""/>
            <p:cNvSpPr/>
            <p:nvPr/>
          </p:nvSpPr>
          <p:spPr>
            <a:xfrm>
              <a:off x="5522583" y="3398333"/>
              <a:ext cx="66675" cy="5715"/>
            </a:xfrm>
            <a:custGeom>
              <a:avLst/>
              <a:gdLst/>
              <a:ahLst/>
              <a:cxnLst/>
              <a:rect l="l" t="t" r="r" b="b"/>
              <a:pathLst>
                <a:path w="66675" h="5714">
                  <a:moveTo>
                    <a:pt x="0" y="0"/>
                  </a:moveTo>
                  <a:lnTo>
                    <a:pt x="66635" y="0"/>
                  </a:lnTo>
                  <a:lnTo>
                    <a:pt x="66635" y="5301"/>
                  </a:lnTo>
                  <a:lnTo>
                    <a:pt x="0" y="5301"/>
                  </a:lnTo>
                  <a:lnTo>
                    <a:pt x="0" y="0"/>
                  </a:lnTo>
                  <a:close/>
                </a:path>
              </a:pathLst>
            </a:custGeom>
            <a:ln w="5298">
              <a:solidFill>
                <a:srgbClr val="000000"/>
              </a:solidFill>
            </a:ln>
          </p:spPr>
          <p:txBody>
            <a:bodyPr wrap="square" lIns="0" tIns="0" rIns="0" bIns="0" rtlCol="0"/>
            <a:lstStyle/>
            <a:p/>
          </p:txBody>
        </p:sp>
        <p:sp>
          <p:nvSpPr>
            <p:cNvPr id="212" name="object 212" descr=""/>
            <p:cNvSpPr/>
            <p:nvPr/>
          </p:nvSpPr>
          <p:spPr>
            <a:xfrm>
              <a:off x="3271254" y="3403636"/>
              <a:ext cx="2646680" cy="0"/>
            </a:xfrm>
            <a:custGeom>
              <a:avLst/>
              <a:gdLst/>
              <a:ahLst/>
              <a:cxnLst/>
              <a:rect l="l" t="t" r="r" b="b"/>
              <a:pathLst>
                <a:path w="2646679" h="0">
                  <a:moveTo>
                    <a:pt x="0" y="0"/>
                  </a:moveTo>
                  <a:lnTo>
                    <a:pt x="2646383" y="0"/>
                  </a:lnTo>
                </a:path>
              </a:pathLst>
            </a:custGeom>
            <a:ln w="5301">
              <a:solidFill>
                <a:srgbClr val="000000"/>
              </a:solidFill>
            </a:ln>
          </p:spPr>
          <p:txBody>
            <a:bodyPr wrap="square" lIns="0" tIns="0" rIns="0" bIns="0" rtlCol="0"/>
            <a:lstStyle/>
            <a:p/>
          </p:txBody>
        </p:sp>
        <p:sp>
          <p:nvSpPr>
            <p:cNvPr id="213" name="object 213" descr=""/>
            <p:cNvSpPr/>
            <p:nvPr/>
          </p:nvSpPr>
          <p:spPr>
            <a:xfrm>
              <a:off x="3528276" y="3382428"/>
              <a:ext cx="66675" cy="21590"/>
            </a:xfrm>
            <a:custGeom>
              <a:avLst/>
              <a:gdLst/>
              <a:ahLst/>
              <a:cxnLst/>
              <a:rect l="l" t="t" r="r" b="b"/>
              <a:pathLst>
                <a:path w="66675" h="21589">
                  <a:moveTo>
                    <a:pt x="66635" y="21207"/>
                  </a:moveTo>
                  <a:lnTo>
                    <a:pt x="0" y="21207"/>
                  </a:lnTo>
                  <a:lnTo>
                    <a:pt x="0" y="0"/>
                  </a:lnTo>
                  <a:lnTo>
                    <a:pt x="66635" y="0"/>
                  </a:lnTo>
                  <a:lnTo>
                    <a:pt x="66635" y="21207"/>
                  </a:lnTo>
                  <a:close/>
                </a:path>
              </a:pathLst>
            </a:custGeom>
            <a:solidFill>
              <a:srgbClr val="00FF00"/>
            </a:solidFill>
          </p:spPr>
          <p:txBody>
            <a:bodyPr wrap="square" lIns="0" tIns="0" rIns="0" bIns="0" rtlCol="0"/>
            <a:lstStyle/>
            <a:p/>
          </p:txBody>
        </p:sp>
        <p:sp>
          <p:nvSpPr>
            <p:cNvPr id="214" name="object 214" descr=""/>
            <p:cNvSpPr/>
            <p:nvPr/>
          </p:nvSpPr>
          <p:spPr>
            <a:xfrm>
              <a:off x="3528276" y="3382428"/>
              <a:ext cx="66675" cy="21590"/>
            </a:xfrm>
            <a:custGeom>
              <a:avLst/>
              <a:gdLst/>
              <a:ahLst/>
              <a:cxnLst/>
              <a:rect l="l" t="t" r="r" b="b"/>
              <a:pathLst>
                <a:path w="66675" h="21589">
                  <a:moveTo>
                    <a:pt x="0" y="0"/>
                  </a:moveTo>
                  <a:lnTo>
                    <a:pt x="66635" y="0"/>
                  </a:lnTo>
                  <a:lnTo>
                    <a:pt x="66635" y="21207"/>
                  </a:lnTo>
                  <a:lnTo>
                    <a:pt x="0" y="21207"/>
                  </a:lnTo>
                  <a:lnTo>
                    <a:pt x="0" y="0"/>
                  </a:lnTo>
                  <a:close/>
                </a:path>
              </a:pathLst>
            </a:custGeom>
            <a:ln w="5251">
              <a:solidFill>
                <a:srgbClr val="000000"/>
              </a:solidFill>
            </a:ln>
          </p:spPr>
          <p:txBody>
            <a:bodyPr wrap="square" lIns="0" tIns="0" rIns="0" bIns="0" rtlCol="0"/>
            <a:lstStyle/>
            <a:p/>
          </p:txBody>
        </p:sp>
        <p:sp>
          <p:nvSpPr>
            <p:cNvPr id="215" name="object 215" descr=""/>
            <p:cNvSpPr/>
            <p:nvPr/>
          </p:nvSpPr>
          <p:spPr>
            <a:xfrm>
              <a:off x="3823376" y="2735614"/>
              <a:ext cx="66675" cy="668020"/>
            </a:xfrm>
            <a:custGeom>
              <a:avLst/>
              <a:gdLst/>
              <a:ahLst/>
              <a:cxnLst/>
              <a:rect l="l" t="t" r="r" b="b"/>
              <a:pathLst>
                <a:path w="66675" h="668020">
                  <a:moveTo>
                    <a:pt x="66635" y="668020"/>
                  </a:moveTo>
                  <a:lnTo>
                    <a:pt x="0" y="668020"/>
                  </a:lnTo>
                  <a:lnTo>
                    <a:pt x="0" y="0"/>
                  </a:lnTo>
                  <a:lnTo>
                    <a:pt x="66635" y="0"/>
                  </a:lnTo>
                  <a:lnTo>
                    <a:pt x="66635" y="668020"/>
                  </a:lnTo>
                  <a:close/>
                </a:path>
              </a:pathLst>
            </a:custGeom>
            <a:solidFill>
              <a:srgbClr val="00FF00"/>
            </a:solidFill>
          </p:spPr>
          <p:txBody>
            <a:bodyPr wrap="square" lIns="0" tIns="0" rIns="0" bIns="0" rtlCol="0"/>
            <a:lstStyle/>
            <a:p/>
          </p:txBody>
        </p:sp>
        <p:sp>
          <p:nvSpPr>
            <p:cNvPr id="216" name="object 216" descr=""/>
            <p:cNvSpPr/>
            <p:nvPr/>
          </p:nvSpPr>
          <p:spPr>
            <a:xfrm>
              <a:off x="3823376" y="2735614"/>
              <a:ext cx="66675" cy="668020"/>
            </a:xfrm>
            <a:custGeom>
              <a:avLst/>
              <a:gdLst/>
              <a:ahLst/>
              <a:cxnLst/>
              <a:rect l="l" t="t" r="r" b="b"/>
              <a:pathLst>
                <a:path w="66675" h="668020">
                  <a:moveTo>
                    <a:pt x="0" y="0"/>
                  </a:moveTo>
                  <a:lnTo>
                    <a:pt x="66635" y="0"/>
                  </a:lnTo>
                  <a:lnTo>
                    <a:pt x="66635" y="668020"/>
                  </a:lnTo>
                  <a:lnTo>
                    <a:pt x="0" y="668020"/>
                  </a:lnTo>
                  <a:lnTo>
                    <a:pt x="0" y="0"/>
                  </a:lnTo>
                  <a:close/>
                </a:path>
              </a:pathLst>
            </a:custGeom>
            <a:ln w="4765">
              <a:solidFill>
                <a:srgbClr val="000000"/>
              </a:solidFill>
            </a:ln>
          </p:spPr>
          <p:txBody>
            <a:bodyPr wrap="square" lIns="0" tIns="0" rIns="0" bIns="0" rtlCol="0"/>
            <a:lstStyle/>
            <a:p/>
          </p:txBody>
        </p:sp>
        <p:sp>
          <p:nvSpPr>
            <p:cNvPr id="217" name="object 217" descr=""/>
            <p:cNvSpPr/>
            <p:nvPr/>
          </p:nvSpPr>
          <p:spPr>
            <a:xfrm>
              <a:off x="4118476" y="1346555"/>
              <a:ext cx="66675" cy="2057400"/>
            </a:xfrm>
            <a:custGeom>
              <a:avLst/>
              <a:gdLst/>
              <a:ahLst/>
              <a:cxnLst/>
              <a:rect l="l" t="t" r="r" b="b"/>
              <a:pathLst>
                <a:path w="66675" h="2057400">
                  <a:moveTo>
                    <a:pt x="66635" y="2057079"/>
                  </a:moveTo>
                  <a:lnTo>
                    <a:pt x="0" y="2057079"/>
                  </a:lnTo>
                  <a:lnTo>
                    <a:pt x="0" y="0"/>
                  </a:lnTo>
                  <a:lnTo>
                    <a:pt x="66635" y="0"/>
                  </a:lnTo>
                  <a:lnTo>
                    <a:pt x="66635" y="2057079"/>
                  </a:lnTo>
                  <a:close/>
                </a:path>
              </a:pathLst>
            </a:custGeom>
            <a:solidFill>
              <a:srgbClr val="00FF00"/>
            </a:solidFill>
          </p:spPr>
          <p:txBody>
            <a:bodyPr wrap="square" lIns="0" tIns="0" rIns="0" bIns="0" rtlCol="0"/>
            <a:lstStyle/>
            <a:p/>
          </p:txBody>
        </p:sp>
        <p:sp>
          <p:nvSpPr>
            <p:cNvPr id="218" name="object 218" descr=""/>
            <p:cNvSpPr/>
            <p:nvPr/>
          </p:nvSpPr>
          <p:spPr>
            <a:xfrm>
              <a:off x="4118476" y="1346555"/>
              <a:ext cx="66675" cy="2057400"/>
            </a:xfrm>
            <a:custGeom>
              <a:avLst/>
              <a:gdLst/>
              <a:ahLst/>
              <a:cxnLst/>
              <a:rect l="l" t="t" r="r" b="b"/>
              <a:pathLst>
                <a:path w="66675" h="2057400">
                  <a:moveTo>
                    <a:pt x="0" y="0"/>
                  </a:moveTo>
                  <a:lnTo>
                    <a:pt x="66635" y="0"/>
                  </a:lnTo>
                  <a:lnTo>
                    <a:pt x="66635" y="2057079"/>
                  </a:lnTo>
                  <a:lnTo>
                    <a:pt x="0" y="2057079"/>
                  </a:lnTo>
                  <a:lnTo>
                    <a:pt x="0" y="0"/>
                  </a:lnTo>
                  <a:close/>
                </a:path>
              </a:pathLst>
            </a:custGeom>
            <a:ln w="4760">
              <a:solidFill>
                <a:srgbClr val="000000"/>
              </a:solidFill>
            </a:ln>
          </p:spPr>
          <p:txBody>
            <a:bodyPr wrap="square" lIns="0" tIns="0" rIns="0" bIns="0" rtlCol="0"/>
            <a:lstStyle/>
            <a:p/>
          </p:txBody>
        </p:sp>
        <p:sp>
          <p:nvSpPr>
            <p:cNvPr id="219" name="object 219" descr=""/>
            <p:cNvSpPr/>
            <p:nvPr/>
          </p:nvSpPr>
          <p:spPr>
            <a:xfrm>
              <a:off x="4413578" y="3403635"/>
              <a:ext cx="62230" cy="0"/>
            </a:xfrm>
            <a:custGeom>
              <a:avLst/>
              <a:gdLst/>
              <a:ahLst/>
              <a:cxnLst/>
              <a:rect l="l" t="t" r="r" b="b"/>
              <a:pathLst>
                <a:path w="62229" h="0">
                  <a:moveTo>
                    <a:pt x="61875" y="0"/>
                  </a:moveTo>
                  <a:lnTo>
                    <a:pt x="0" y="0"/>
                  </a:lnTo>
                </a:path>
              </a:pathLst>
            </a:custGeom>
            <a:solidFill>
              <a:srgbClr val="00FF00"/>
            </a:solidFill>
          </p:spPr>
          <p:txBody>
            <a:bodyPr wrap="square" lIns="0" tIns="0" rIns="0" bIns="0" rtlCol="0"/>
            <a:lstStyle/>
            <a:p/>
          </p:txBody>
        </p:sp>
        <p:sp>
          <p:nvSpPr>
            <p:cNvPr id="220" name="object 220" descr=""/>
            <p:cNvSpPr/>
            <p:nvPr/>
          </p:nvSpPr>
          <p:spPr>
            <a:xfrm>
              <a:off x="4413576" y="3403636"/>
              <a:ext cx="62230" cy="0"/>
            </a:xfrm>
            <a:custGeom>
              <a:avLst/>
              <a:gdLst/>
              <a:ahLst/>
              <a:cxnLst/>
              <a:rect l="l" t="t" r="r" b="b"/>
              <a:pathLst>
                <a:path w="62229" h="0">
                  <a:moveTo>
                    <a:pt x="0" y="0"/>
                  </a:moveTo>
                  <a:lnTo>
                    <a:pt x="61875" y="0"/>
                  </a:lnTo>
                  <a:lnTo>
                    <a:pt x="0" y="0"/>
                  </a:lnTo>
                </a:path>
              </a:pathLst>
            </a:custGeom>
            <a:ln w="5301">
              <a:solidFill>
                <a:srgbClr val="000000"/>
              </a:solidFill>
            </a:ln>
          </p:spPr>
          <p:txBody>
            <a:bodyPr wrap="square" lIns="0" tIns="0" rIns="0" bIns="0" rtlCol="0"/>
            <a:lstStyle/>
            <a:p/>
          </p:txBody>
        </p:sp>
        <p:sp>
          <p:nvSpPr>
            <p:cNvPr id="221" name="object 221" descr=""/>
            <p:cNvSpPr/>
            <p:nvPr/>
          </p:nvSpPr>
          <p:spPr>
            <a:xfrm>
              <a:off x="4708678" y="3403635"/>
              <a:ext cx="62230" cy="0"/>
            </a:xfrm>
            <a:custGeom>
              <a:avLst/>
              <a:gdLst/>
              <a:ahLst/>
              <a:cxnLst/>
              <a:rect l="l" t="t" r="r" b="b"/>
              <a:pathLst>
                <a:path w="62229" h="0">
                  <a:moveTo>
                    <a:pt x="61875" y="0"/>
                  </a:moveTo>
                  <a:lnTo>
                    <a:pt x="0" y="0"/>
                  </a:lnTo>
                </a:path>
              </a:pathLst>
            </a:custGeom>
            <a:solidFill>
              <a:srgbClr val="00FF00"/>
            </a:solidFill>
          </p:spPr>
          <p:txBody>
            <a:bodyPr wrap="square" lIns="0" tIns="0" rIns="0" bIns="0" rtlCol="0"/>
            <a:lstStyle/>
            <a:p/>
          </p:txBody>
        </p:sp>
        <p:sp>
          <p:nvSpPr>
            <p:cNvPr id="222" name="object 222" descr=""/>
            <p:cNvSpPr/>
            <p:nvPr/>
          </p:nvSpPr>
          <p:spPr>
            <a:xfrm>
              <a:off x="4708676" y="3403636"/>
              <a:ext cx="62230" cy="0"/>
            </a:xfrm>
            <a:custGeom>
              <a:avLst/>
              <a:gdLst/>
              <a:ahLst/>
              <a:cxnLst/>
              <a:rect l="l" t="t" r="r" b="b"/>
              <a:pathLst>
                <a:path w="62229" h="0">
                  <a:moveTo>
                    <a:pt x="0" y="0"/>
                  </a:moveTo>
                  <a:lnTo>
                    <a:pt x="61875" y="0"/>
                  </a:lnTo>
                  <a:lnTo>
                    <a:pt x="0" y="0"/>
                  </a:lnTo>
                </a:path>
              </a:pathLst>
            </a:custGeom>
            <a:ln w="5301">
              <a:solidFill>
                <a:srgbClr val="000000"/>
              </a:solidFill>
            </a:ln>
          </p:spPr>
          <p:txBody>
            <a:bodyPr wrap="square" lIns="0" tIns="0" rIns="0" bIns="0" rtlCol="0"/>
            <a:lstStyle/>
            <a:p/>
          </p:txBody>
        </p:sp>
        <p:sp>
          <p:nvSpPr>
            <p:cNvPr id="223" name="object 223" descr=""/>
            <p:cNvSpPr/>
            <p:nvPr/>
          </p:nvSpPr>
          <p:spPr>
            <a:xfrm>
              <a:off x="4999015" y="3403635"/>
              <a:ext cx="66675" cy="0"/>
            </a:xfrm>
            <a:custGeom>
              <a:avLst/>
              <a:gdLst/>
              <a:ahLst/>
              <a:cxnLst/>
              <a:rect l="l" t="t" r="r" b="b"/>
              <a:pathLst>
                <a:path w="66675" h="0">
                  <a:moveTo>
                    <a:pt x="66635" y="0"/>
                  </a:moveTo>
                  <a:lnTo>
                    <a:pt x="0" y="0"/>
                  </a:lnTo>
                </a:path>
              </a:pathLst>
            </a:custGeom>
            <a:solidFill>
              <a:srgbClr val="00FF00"/>
            </a:solidFill>
          </p:spPr>
          <p:txBody>
            <a:bodyPr wrap="square" lIns="0" tIns="0" rIns="0" bIns="0" rtlCol="0"/>
            <a:lstStyle/>
            <a:p/>
          </p:txBody>
        </p:sp>
        <p:sp>
          <p:nvSpPr>
            <p:cNvPr id="224" name="object 224" descr=""/>
            <p:cNvSpPr/>
            <p:nvPr/>
          </p:nvSpPr>
          <p:spPr>
            <a:xfrm>
              <a:off x="4999016" y="3403636"/>
              <a:ext cx="66675" cy="0"/>
            </a:xfrm>
            <a:custGeom>
              <a:avLst/>
              <a:gdLst/>
              <a:ahLst/>
              <a:cxnLst/>
              <a:rect l="l" t="t" r="r" b="b"/>
              <a:pathLst>
                <a:path w="66675" h="0">
                  <a:moveTo>
                    <a:pt x="0" y="0"/>
                  </a:moveTo>
                  <a:lnTo>
                    <a:pt x="66635" y="0"/>
                  </a:lnTo>
                  <a:lnTo>
                    <a:pt x="0" y="0"/>
                  </a:lnTo>
                </a:path>
              </a:pathLst>
            </a:custGeom>
            <a:ln w="5301">
              <a:solidFill>
                <a:srgbClr val="000000"/>
              </a:solidFill>
            </a:ln>
          </p:spPr>
          <p:txBody>
            <a:bodyPr wrap="square" lIns="0" tIns="0" rIns="0" bIns="0" rtlCol="0"/>
            <a:lstStyle/>
            <a:p/>
          </p:txBody>
        </p:sp>
        <p:sp>
          <p:nvSpPr>
            <p:cNvPr id="225" name="object 225" descr=""/>
            <p:cNvSpPr/>
            <p:nvPr/>
          </p:nvSpPr>
          <p:spPr>
            <a:xfrm>
              <a:off x="5294115" y="3403635"/>
              <a:ext cx="66675" cy="0"/>
            </a:xfrm>
            <a:custGeom>
              <a:avLst/>
              <a:gdLst/>
              <a:ahLst/>
              <a:cxnLst/>
              <a:rect l="l" t="t" r="r" b="b"/>
              <a:pathLst>
                <a:path w="66675" h="0">
                  <a:moveTo>
                    <a:pt x="66635" y="0"/>
                  </a:moveTo>
                  <a:lnTo>
                    <a:pt x="0" y="0"/>
                  </a:lnTo>
                </a:path>
              </a:pathLst>
            </a:custGeom>
            <a:solidFill>
              <a:srgbClr val="00FF00"/>
            </a:solidFill>
          </p:spPr>
          <p:txBody>
            <a:bodyPr wrap="square" lIns="0" tIns="0" rIns="0" bIns="0" rtlCol="0"/>
            <a:lstStyle/>
            <a:p/>
          </p:txBody>
        </p:sp>
        <p:sp>
          <p:nvSpPr>
            <p:cNvPr id="226" name="object 226" descr=""/>
            <p:cNvSpPr/>
            <p:nvPr/>
          </p:nvSpPr>
          <p:spPr>
            <a:xfrm>
              <a:off x="5294116" y="3403636"/>
              <a:ext cx="66675" cy="0"/>
            </a:xfrm>
            <a:custGeom>
              <a:avLst/>
              <a:gdLst/>
              <a:ahLst/>
              <a:cxnLst/>
              <a:rect l="l" t="t" r="r" b="b"/>
              <a:pathLst>
                <a:path w="66675" h="0">
                  <a:moveTo>
                    <a:pt x="0" y="0"/>
                  </a:moveTo>
                  <a:lnTo>
                    <a:pt x="66635" y="0"/>
                  </a:lnTo>
                  <a:lnTo>
                    <a:pt x="0" y="0"/>
                  </a:lnTo>
                </a:path>
              </a:pathLst>
            </a:custGeom>
            <a:ln w="5301">
              <a:solidFill>
                <a:srgbClr val="000000"/>
              </a:solidFill>
            </a:ln>
          </p:spPr>
          <p:txBody>
            <a:bodyPr wrap="square" lIns="0" tIns="0" rIns="0" bIns="0" rtlCol="0"/>
            <a:lstStyle/>
            <a:p/>
          </p:txBody>
        </p:sp>
        <p:sp>
          <p:nvSpPr>
            <p:cNvPr id="227" name="object 227" descr=""/>
            <p:cNvSpPr/>
            <p:nvPr/>
          </p:nvSpPr>
          <p:spPr>
            <a:xfrm>
              <a:off x="5589216" y="3403635"/>
              <a:ext cx="66675" cy="0"/>
            </a:xfrm>
            <a:custGeom>
              <a:avLst/>
              <a:gdLst/>
              <a:ahLst/>
              <a:cxnLst/>
              <a:rect l="l" t="t" r="r" b="b"/>
              <a:pathLst>
                <a:path w="66675" h="0">
                  <a:moveTo>
                    <a:pt x="66635" y="0"/>
                  </a:moveTo>
                  <a:lnTo>
                    <a:pt x="0" y="0"/>
                  </a:lnTo>
                </a:path>
              </a:pathLst>
            </a:custGeom>
            <a:solidFill>
              <a:srgbClr val="00FF00"/>
            </a:solidFill>
          </p:spPr>
          <p:txBody>
            <a:bodyPr wrap="square" lIns="0" tIns="0" rIns="0" bIns="0" rtlCol="0"/>
            <a:lstStyle/>
            <a:p/>
          </p:txBody>
        </p:sp>
        <p:sp>
          <p:nvSpPr>
            <p:cNvPr id="228" name="object 228" descr=""/>
            <p:cNvSpPr/>
            <p:nvPr/>
          </p:nvSpPr>
          <p:spPr>
            <a:xfrm>
              <a:off x="5589216" y="3403636"/>
              <a:ext cx="66675" cy="0"/>
            </a:xfrm>
            <a:custGeom>
              <a:avLst/>
              <a:gdLst/>
              <a:ahLst/>
              <a:cxnLst/>
              <a:rect l="l" t="t" r="r" b="b"/>
              <a:pathLst>
                <a:path w="66675" h="0">
                  <a:moveTo>
                    <a:pt x="0" y="0"/>
                  </a:moveTo>
                  <a:lnTo>
                    <a:pt x="66635" y="0"/>
                  </a:lnTo>
                  <a:lnTo>
                    <a:pt x="0" y="0"/>
                  </a:lnTo>
                </a:path>
              </a:pathLst>
            </a:custGeom>
            <a:ln w="5301">
              <a:solidFill>
                <a:srgbClr val="000000"/>
              </a:solidFill>
            </a:ln>
          </p:spPr>
          <p:txBody>
            <a:bodyPr wrap="square" lIns="0" tIns="0" rIns="0" bIns="0" rtlCol="0"/>
            <a:lstStyle/>
            <a:p/>
          </p:txBody>
        </p:sp>
        <p:sp>
          <p:nvSpPr>
            <p:cNvPr id="229" name="object 229" descr=""/>
            <p:cNvSpPr/>
            <p:nvPr/>
          </p:nvSpPr>
          <p:spPr>
            <a:xfrm>
              <a:off x="3594909" y="3371824"/>
              <a:ext cx="66675" cy="32384"/>
            </a:xfrm>
            <a:custGeom>
              <a:avLst/>
              <a:gdLst/>
              <a:ahLst/>
              <a:cxnLst/>
              <a:rect l="l" t="t" r="r" b="b"/>
              <a:pathLst>
                <a:path w="66675" h="32385">
                  <a:moveTo>
                    <a:pt x="66635" y="31810"/>
                  </a:moveTo>
                  <a:lnTo>
                    <a:pt x="0" y="31810"/>
                  </a:lnTo>
                  <a:lnTo>
                    <a:pt x="0" y="0"/>
                  </a:lnTo>
                  <a:lnTo>
                    <a:pt x="66635" y="0"/>
                  </a:lnTo>
                  <a:lnTo>
                    <a:pt x="66635" y="31810"/>
                  </a:lnTo>
                  <a:close/>
                </a:path>
              </a:pathLst>
            </a:custGeom>
            <a:solidFill>
              <a:srgbClr val="0000FF"/>
            </a:solidFill>
          </p:spPr>
          <p:txBody>
            <a:bodyPr wrap="square" lIns="0" tIns="0" rIns="0" bIns="0" rtlCol="0"/>
            <a:lstStyle/>
            <a:p/>
          </p:txBody>
        </p:sp>
        <p:sp>
          <p:nvSpPr>
            <p:cNvPr id="230" name="object 230" descr=""/>
            <p:cNvSpPr/>
            <p:nvPr/>
          </p:nvSpPr>
          <p:spPr>
            <a:xfrm>
              <a:off x="3594909" y="3371824"/>
              <a:ext cx="66675" cy="32384"/>
            </a:xfrm>
            <a:custGeom>
              <a:avLst/>
              <a:gdLst/>
              <a:ahLst/>
              <a:cxnLst/>
              <a:rect l="l" t="t" r="r" b="b"/>
              <a:pathLst>
                <a:path w="66675" h="32385">
                  <a:moveTo>
                    <a:pt x="0" y="0"/>
                  </a:moveTo>
                  <a:lnTo>
                    <a:pt x="66635" y="0"/>
                  </a:lnTo>
                  <a:lnTo>
                    <a:pt x="66635" y="31810"/>
                  </a:lnTo>
                  <a:lnTo>
                    <a:pt x="0" y="31810"/>
                  </a:lnTo>
                  <a:lnTo>
                    <a:pt x="0" y="0"/>
                  </a:lnTo>
                  <a:close/>
                </a:path>
              </a:pathLst>
            </a:custGeom>
            <a:ln w="5201">
              <a:solidFill>
                <a:srgbClr val="000000"/>
              </a:solidFill>
            </a:ln>
          </p:spPr>
          <p:txBody>
            <a:bodyPr wrap="square" lIns="0" tIns="0" rIns="0" bIns="0" rtlCol="0"/>
            <a:lstStyle/>
            <a:p/>
          </p:txBody>
        </p:sp>
        <p:sp>
          <p:nvSpPr>
            <p:cNvPr id="231" name="object 231" descr=""/>
            <p:cNvSpPr/>
            <p:nvPr/>
          </p:nvSpPr>
          <p:spPr>
            <a:xfrm>
              <a:off x="3890009" y="2412207"/>
              <a:ext cx="66675" cy="991869"/>
            </a:xfrm>
            <a:custGeom>
              <a:avLst/>
              <a:gdLst/>
              <a:ahLst/>
              <a:cxnLst/>
              <a:rect l="l" t="t" r="r" b="b"/>
              <a:pathLst>
                <a:path w="66675" h="991870">
                  <a:moveTo>
                    <a:pt x="66635" y="991427"/>
                  </a:moveTo>
                  <a:lnTo>
                    <a:pt x="0" y="991427"/>
                  </a:lnTo>
                  <a:lnTo>
                    <a:pt x="0" y="0"/>
                  </a:lnTo>
                  <a:lnTo>
                    <a:pt x="66635" y="0"/>
                  </a:lnTo>
                  <a:lnTo>
                    <a:pt x="66635" y="991427"/>
                  </a:lnTo>
                  <a:close/>
                </a:path>
              </a:pathLst>
            </a:custGeom>
            <a:solidFill>
              <a:srgbClr val="0000FF"/>
            </a:solidFill>
          </p:spPr>
          <p:txBody>
            <a:bodyPr wrap="square" lIns="0" tIns="0" rIns="0" bIns="0" rtlCol="0"/>
            <a:lstStyle/>
            <a:p/>
          </p:txBody>
        </p:sp>
        <p:sp>
          <p:nvSpPr>
            <p:cNvPr id="232" name="object 232" descr=""/>
            <p:cNvSpPr/>
            <p:nvPr/>
          </p:nvSpPr>
          <p:spPr>
            <a:xfrm>
              <a:off x="3890009" y="2412207"/>
              <a:ext cx="66675" cy="991869"/>
            </a:xfrm>
            <a:custGeom>
              <a:avLst/>
              <a:gdLst/>
              <a:ahLst/>
              <a:cxnLst/>
              <a:rect l="l" t="t" r="r" b="b"/>
              <a:pathLst>
                <a:path w="66675" h="991870">
                  <a:moveTo>
                    <a:pt x="0" y="0"/>
                  </a:moveTo>
                  <a:lnTo>
                    <a:pt x="66635" y="0"/>
                  </a:lnTo>
                  <a:lnTo>
                    <a:pt x="66635" y="991427"/>
                  </a:lnTo>
                  <a:lnTo>
                    <a:pt x="0" y="991427"/>
                  </a:lnTo>
                  <a:lnTo>
                    <a:pt x="0" y="0"/>
                  </a:lnTo>
                  <a:close/>
                </a:path>
              </a:pathLst>
            </a:custGeom>
            <a:ln w="4762">
              <a:solidFill>
                <a:srgbClr val="000000"/>
              </a:solidFill>
            </a:ln>
          </p:spPr>
          <p:txBody>
            <a:bodyPr wrap="square" lIns="0" tIns="0" rIns="0" bIns="0" rtlCol="0"/>
            <a:lstStyle/>
            <a:p/>
          </p:txBody>
        </p:sp>
        <p:sp>
          <p:nvSpPr>
            <p:cNvPr id="233" name="object 233" descr=""/>
            <p:cNvSpPr/>
            <p:nvPr/>
          </p:nvSpPr>
          <p:spPr>
            <a:xfrm>
              <a:off x="4185109" y="1685867"/>
              <a:ext cx="62230" cy="1718310"/>
            </a:xfrm>
            <a:custGeom>
              <a:avLst/>
              <a:gdLst/>
              <a:ahLst/>
              <a:cxnLst/>
              <a:rect l="l" t="t" r="r" b="b"/>
              <a:pathLst>
                <a:path w="62229" h="1718310">
                  <a:moveTo>
                    <a:pt x="61875" y="1717767"/>
                  </a:moveTo>
                  <a:lnTo>
                    <a:pt x="0" y="1717767"/>
                  </a:lnTo>
                  <a:lnTo>
                    <a:pt x="0" y="0"/>
                  </a:lnTo>
                  <a:lnTo>
                    <a:pt x="61875" y="0"/>
                  </a:lnTo>
                  <a:lnTo>
                    <a:pt x="61875" y="1717767"/>
                  </a:lnTo>
                  <a:close/>
                </a:path>
              </a:pathLst>
            </a:custGeom>
            <a:solidFill>
              <a:srgbClr val="0000FF"/>
            </a:solidFill>
          </p:spPr>
          <p:txBody>
            <a:bodyPr wrap="square" lIns="0" tIns="0" rIns="0" bIns="0" rtlCol="0"/>
            <a:lstStyle/>
            <a:p/>
          </p:txBody>
        </p:sp>
        <p:sp>
          <p:nvSpPr>
            <p:cNvPr id="234" name="object 234" descr=""/>
            <p:cNvSpPr/>
            <p:nvPr/>
          </p:nvSpPr>
          <p:spPr>
            <a:xfrm>
              <a:off x="4185108" y="1685867"/>
              <a:ext cx="62230" cy="1718310"/>
            </a:xfrm>
            <a:custGeom>
              <a:avLst/>
              <a:gdLst/>
              <a:ahLst/>
              <a:cxnLst/>
              <a:rect l="l" t="t" r="r" b="b"/>
              <a:pathLst>
                <a:path w="62229" h="1718310">
                  <a:moveTo>
                    <a:pt x="0" y="0"/>
                  </a:moveTo>
                  <a:lnTo>
                    <a:pt x="61875" y="0"/>
                  </a:lnTo>
                  <a:lnTo>
                    <a:pt x="61875" y="1717767"/>
                  </a:lnTo>
                  <a:lnTo>
                    <a:pt x="0" y="1717767"/>
                  </a:lnTo>
                  <a:lnTo>
                    <a:pt x="0" y="0"/>
                  </a:lnTo>
                  <a:close/>
                </a:path>
              </a:pathLst>
            </a:custGeom>
            <a:ln w="4760">
              <a:solidFill>
                <a:srgbClr val="000000"/>
              </a:solidFill>
            </a:ln>
          </p:spPr>
          <p:txBody>
            <a:bodyPr wrap="square" lIns="0" tIns="0" rIns="0" bIns="0" rtlCol="0"/>
            <a:lstStyle/>
            <a:p/>
          </p:txBody>
        </p:sp>
        <p:sp>
          <p:nvSpPr>
            <p:cNvPr id="235" name="object 235" descr=""/>
            <p:cNvSpPr/>
            <p:nvPr/>
          </p:nvSpPr>
          <p:spPr>
            <a:xfrm>
              <a:off x="4475449" y="3393031"/>
              <a:ext cx="66675" cy="10795"/>
            </a:xfrm>
            <a:custGeom>
              <a:avLst/>
              <a:gdLst/>
              <a:ahLst/>
              <a:cxnLst/>
              <a:rect l="l" t="t" r="r" b="b"/>
              <a:pathLst>
                <a:path w="66675" h="10795">
                  <a:moveTo>
                    <a:pt x="66635" y="10603"/>
                  </a:moveTo>
                  <a:lnTo>
                    <a:pt x="0" y="10603"/>
                  </a:lnTo>
                  <a:lnTo>
                    <a:pt x="0" y="0"/>
                  </a:lnTo>
                  <a:lnTo>
                    <a:pt x="66635" y="0"/>
                  </a:lnTo>
                  <a:lnTo>
                    <a:pt x="66635" y="10603"/>
                  </a:lnTo>
                  <a:close/>
                </a:path>
              </a:pathLst>
            </a:custGeom>
            <a:solidFill>
              <a:srgbClr val="0000FF"/>
            </a:solidFill>
          </p:spPr>
          <p:txBody>
            <a:bodyPr wrap="square" lIns="0" tIns="0" rIns="0" bIns="0" rtlCol="0"/>
            <a:lstStyle/>
            <a:p/>
          </p:txBody>
        </p:sp>
        <p:sp>
          <p:nvSpPr>
            <p:cNvPr id="236" name="object 236" descr=""/>
            <p:cNvSpPr/>
            <p:nvPr/>
          </p:nvSpPr>
          <p:spPr>
            <a:xfrm>
              <a:off x="4475449" y="3393031"/>
              <a:ext cx="66675" cy="10795"/>
            </a:xfrm>
            <a:custGeom>
              <a:avLst/>
              <a:gdLst/>
              <a:ahLst/>
              <a:cxnLst/>
              <a:rect l="l" t="t" r="r" b="b"/>
              <a:pathLst>
                <a:path w="66675" h="10795">
                  <a:moveTo>
                    <a:pt x="0" y="0"/>
                  </a:moveTo>
                  <a:lnTo>
                    <a:pt x="66635" y="0"/>
                  </a:lnTo>
                  <a:lnTo>
                    <a:pt x="66635" y="10603"/>
                  </a:lnTo>
                  <a:lnTo>
                    <a:pt x="0" y="10603"/>
                  </a:lnTo>
                  <a:lnTo>
                    <a:pt x="0" y="0"/>
                  </a:lnTo>
                  <a:close/>
                </a:path>
              </a:pathLst>
            </a:custGeom>
            <a:ln w="5288">
              <a:solidFill>
                <a:srgbClr val="000000"/>
              </a:solidFill>
            </a:ln>
          </p:spPr>
          <p:txBody>
            <a:bodyPr wrap="square" lIns="0" tIns="0" rIns="0" bIns="0" rtlCol="0"/>
            <a:lstStyle/>
            <a:p/>
          </p:txBody>
        </p:sp>
        <p:sp>
          <p:nvSpPr>
            <p:cNvPr id="237" name="object 237" descr=""/>
            <p:cNvSpPr/>
            <p:nvPr/>
          </p:nvSpPr>
          <p:spPr>
            <a:xfrm>
              <a:off x="4770549" y="3403635"/>
              <a:ext cx="66675" cy="0"/>
            </a:xfrm>
            <a:custGeom>
              <a:avLst/>
              <a:gdLst/>
              <a:ahLst/>
              <a:cxnLst/>
              <a:rect l="l" t="t" r="r" b="b"/>
              <a:pathLst>
                <a:path w="66675" h="0">
                  <a:moveTo>
                    <a:pt x="66635" y="0"/>
                  </a:moveTo>
                  <a:lnTo>
                    <a:pt x="0" y="0"/>
                  </a:lnTo>
                </a:path>
              </a:pathLst>
            </a:custGeom>
            <a:solidFill>
              <a:srgbClr val="0000FF"/>
            </a:solidFill>
          </p:spPr>
          <p:txBody>
            <a:bodyPr wrap="square" lIns="0" tIns="0" rIns="0" bIns="0" rtlCol="0"/>
            <a:lstStyle/>
            <a:p/>
          </p:txBody>
        </p:sp>
        <p:sp>
          <p:nvSpPr>
            <p:cNvPr id="238" name="object 238" descr=""/>
            <p:cNvSpPr/>
            <p:nvPr/>
          </p:nvSpPr>
          <p:spPr>
            <a:xfrm>
              <a:off x="4770549" y="3403636"/>
              <a:ext cx="66675" cy="0"/>
            </a:xfrm>
            <a:custGeom>
              <a:avLst/>
              <a:gdLst/>
              <a:ahLst/>
              <a:cxnLst/>
              <a:rect l="l" t="t" r="r" b="b"/>
              <a:pathLst>
                <a:path w="66675" h="0">
                  <a:moveTo>
                    <a:pt x="0" y="0"/>
                  </a:moveTo>
                  <a:lnTo>
                    <a:pt x="66635" y="0"/>
                  </a:lnTo>
                  <a:lnTo>
                    <a:pt x="0" y="0"/>
                  </a:lnTo>
                </a:path>
              </a:pathLst>
            </a:custGeom>
            <a:ln w="5301">
              <a:solidFill>
                <a:srgbClr val="000000"/>
              </a:solidFill>
            </a:ln>
          </p:spPr>
          <p:txBody>
            <a:bodyPr wrap="square" lIns="0" tIns="0" rIns="0" bIns="0" rtlCol="0"/>
            <a:lstStyle/>
            <a:p/>
          </p:txBody>
        </p:sp>
        <p:sp>
          <p:nvSpPr>
            <p:cNvPr id="239" name="object 239" descr=""/>
            <p:cNvSpPr/>
            <p:nvPr/>
          </p:nvSpPr>
          <p:spPr>
            <a:xfrm>
              <a:off x="5065650" y="3403635"/>
              <a:ext cx="66675" cy="0"/>
            </a:xfrm>
            <a:custGeom>
              <a:avLst/>
              <a:gdLst/>
              <a:ahLst/>
              <a:cxnLst/>
              <a:rect l="l" t="t" r="r" b="b"/>
              <a:pathLst>
                <a:path w="66675" h="0">
                  <a:moveTo>
                    <a:pt x="66635" y="0"/>
                  </a:moveTo>
                  <a:lnTo>
                    <a:pt x="0" y="0"/>
                  </a:lnTo>
                </a:path>
              </a:pathLst>
            </a:custGeom>
            <a:solidFill>
              <a:srgbClr val="0000FF"/>
            </a:solidFill>
          </p:spPr>
          <p:txBody>
            <a:bodyPr wrap="square" lIns="0" tIns="0" rIns="0" bIns="0" rtlCol="0"/>
            <a:lstStyle/>
            <a:p/>
          </p:txBody>
        </p:sp>
        <p:sp>
          <p:nvSpPr>
            <p:cNvPr id="240" name="object 240" descr=""/>
            <p:cNvSpPr/>
            <p:nvPr/>
          </p:nvSpPr>
          <p:spPr>
            <a:xfrm>
              <a:off x="5065648" y="3403636"/>
              <a:ext cx="66675" cy="0"/>
            </a:xfrm>
            <a:custGeom>
              <a:avLst/>
              <a:gdLst/>
              <a:ahLst/>
              <a:cxnLst/>
              <a:rect l="l" t="t" r="r" b="b"/>
              <a:pathLst>
                <a:path w="66675" h="0">
                  <a:moveTo>
                    <a:pt x="0" y="0"/>
                  </a:moveTo>
                  <a:lnTo>
                    <a:pt x="66635" y="0"/>
                  </a:lnTo>
                  <a:lnTo>
                    <a:pt x="0" y="0"/>
                  </a:lnTo>
                </a:path>
              </a:pathLst>
            </a:custGeom>
            <a:ln w="5301">
              <a:solidFill>
                <a:srgbClr val="000000"/>
              </a:solidFill>
            </a:ln>
          </p:spPr>
          <p:txBody>
            <a:bodyPr wrap="square" lIns="0" tIns="0" rIns="0" bIns="0" rtlCol="0"/>
            <a:lstStyle/>
            <a:p/>
          </p:txBody>
        </p:sp>
        <p:sp>
          <p:nvSpPr>
            <p:cNvPr id="241" name="object 241" descr=""/>
            <p:cNvSpPr/>
            <p:nvPr/>
          </p:nvSpPr>
          <p:spPr>
            <a:xfrm>
              <a:off x="5360750" y="3403635"/>
              <a:ext cx="66675" cy="0"/>
            </a:xfrm>
            <a:custGeom>
              <a:avLst/>
              <a:gdLst/>
              <a:ahLst/>
              <a:cxnLst/>
              <a:rect l="l" t="t" r="r" b="b"/>
              <a:pathLst>
                <a:path w="66675" h="0">
                  <a:moveTo>
                    <a:pt x="66630" y="0"/>
                  </a:moveTo>
                  <a:lnTo>
                    <a:pt x="0" y="0"/>
                  </a:lnTo>
                </a:path>
              </a:pathLst>
            </a:custGeom>
            <a:solidFill>
              <a:srgbClr val="0000FF"/>
            </a:solidFill>
          </p:spPr>
          <p:txBody>
            <a:bodyPr wrap="square" lIns="0" tIns="0" rIns="0" bIns="0" rtlCol="0"/>
            <a:lstStyle/>
            <a:p/>
          </p:txBody>
        </p:sp>
        <p:sp>
          <p:nvSpPr>
            <p:cNvPr id="242" name="object 242" descr=""/>
            <p:cNvSpPr/>
            <p:nvPr/>
          </p:nvSpPr>
          <p:spPr>
            <a:xfrm>
              <a:off x="5360748" y="3403636"/>
              <a:ext cx="66675" cy="0"/>
            </a:xfrm>
            <a:custGeom>
              <a:avLst/>
              <a:gdLst/>
              <a:ahLst/>
              <a:cxnLst/>
              <a:rect l="l" t="t" r="r" b="b"/>
              <a:pathLst>
                <a:path w="66675" h="0">
                  <a:moveTo>
                    <a:pt x="0" y="0"/>
                  </a:moveTo>
                  <a:lnTo>
                    <a:pt x="66635" y="0"/>
                  </a:lnTo>
                  <a:lnTo>
                    <a:pt x="0" y="0"/>
                  </a:lnTo>
                </a:path>
              </a:pathLst>
            </a:custGeom>
            <a:ln w="5301">
              <a:solidFill>
                <a:srgbClr val="000000"/>
              </a:solidFill>
            </a:ln>
          </p:spPr>
          <p:txBody>
            <a:bodyPr wrap="square" lIns="0" tIns="0" rIns="0" bIns="0" rtlCol="0"/>
            <a:lstStyle/>
            <a:p/>
          </p:txBody>
        </p:sp>
        <p:sp>
          <p:nvSpPr>
            <p:cNvPr id="243" name="object 243" descr=""/>
            <p:cNvSpPr/>
            <p:nvPr/>
          </p:nvSpPr>
          <p:spPr>
            <a:xfrm>
              <a:off x="5655850" y="3403635"/>
              <a:ext cx="62230" cy="0"/>
            </a:xfrm>
            <a:custGeom>
              <a:avLst/>
              <a:gdLst/>
              <a:ahLst/>
              <a:cxnLst/>
              <a:rect l="l" t="t" r="r" b="b"/>
              <a:pathLst>
                <a:path w="62229" h="0">
                  <a:moveTo>
                    <a:pt x="61875" y="0"/>
                  </a:moveTo>
                  <a:lnTo>
                    <a:pt x="0" y="0"/>
                  </a:lnTo>
                </a:path>
              </a:pathLst>
            </a:custGeom>
            <a:solidFill>
              <a:srgbClr val="0000FF"/>
            </a:solidFill>
          </p:spPr>
          <p:txBody>
            <a:bodyPr wrap="square" lIns="0" tIns="0" rIns="0" bIns="0" rtlCol="0"/>
            <a:lstStyle/>
            <a:p/>
          </p:txBody>
        </p:sp>
        <p:sp>
          <p:nvSpPr>
            <p:cNvPr id="244" name="object 244" descr=""/>
            <p:cNvSpPr/>
            <p:nvPr/>
          </p:nvSpPr>
          <p:spPr>
            <a:xfrm>
              <a:off x="5655848" y="3403636"/>
              <a:ext cx="62230" cy="0"/>
            </a:xfrm>
            <a:custGeom>
              <a:avLst/>
              <a:gdLst/>
              <a:ahLst/>
              <a:cxnLst/>
              <a:rect l="l" t="t" r="r" b="b"/>
              <a:pathLst>
                <a:path w="62229" h="0">
                  <a:moveTo>
                    <a:pt x="0" y="0"/>
                  </a:moveTo>
                  <a:lnTo>
                    <a:pt x="61875" y="0"/>
                  </a:lnTo>
                  <a:lnTo>
                    <a:pt x="0" y="0"/>
                  </a:lnTo>
                </a:path>
              </a:pathLst>
            </a:custGeom>
            <a:ln w="5301">
              <a:solidFill>
                <a:srgbClr val="000000"/>
              </a:solidFill>
            </a:ln>
          </p:spPr>
          <p:txBody>
            <a:bodyPr wrap="square" lIns="0" tIns="0" rIns="0" bIns="0" rtlCol="0"/>
            <a:lstStyle/>
            <a:p/>
          </p:txBody>
        </p:sp>
      </p:grpSp>
      <p:sp>
        <p:nvSpPr>
          <p:cNvPr id="245" name="object 245" descr=""/>
          <p:cNvSpPr txBox="1"/>
          <p:nvPr/>
        </p:nvSpPr>
        <p:spPr>
          <a:xfrm>
            <a:off x="4329485" y="3486367"/>
            <a:ext cx="475615" cy="108585"/>
          </a:xfrm>
          <a:prstGeom prst="rect">
            <a:avLst/>
          </a:prstGeom>
        </p:spPr>
        <p:txBody>
          <a:bodyPr wrap="square" lIns="0" tIns="11430" rIns="0" bIns="0" rtlCol="0" vert="horz">
            <a:spAutoFit/>
          </a:bodyPr>
          <a:lstStyle/>
          <a:p>
            <a:pPr marL="12700">
              <a:lnSpc>
                <a:spcPct val="100000"/>
              </a:lnSpc>
              <a:spcBef>
                <a:spcPts val="90"/>
              </a:spcBef>
            </a:pPr>
            <a:r>
              <a:rPr dirty="0" sz="550" spc="-50">
                <a:latin typeface="SimSun"/>
                <a:cs typeface="SimSun"/>
              </a:rPr>
              <a:t>速率区 </a:t>
            </a:r>
            <a:r>
              <a:rPr dirty="0" sz="550" spc="-250">
                <a:latin typeface="SimSun"/>
                <a:cs typeface="SimSun"/>
              </a:rPr>
              <a:t>间(</a:t>
            </a:r>
            <a:r>
              <a:rPr dirty="0" sz="550" spc="-90">
                <a:latin typeface="SimSun"/>
                <a:cs typeface="SimSun"/>
              </a:rPr>
              <a:t>M</a:t>
            </a:r>
            <a:r>
              <a:rPr dirty="0" sz="550" spc="-35">
                <a:latin typeface="SimSun"/>
                <a:cs typeface="SimSun"/>
              </a:rPr>
              <a:t> </a:t>
            </a:r>
            <a:r>
              <a:rPr dirty="0" sz="550" spc="-20">
                <a:latin typeface="SimSun"/>
                <a:cs typeface="SimSun"/>
              </a:rPr>
              <a:t>bps)</a:t>
            </a:r>
            <a:endParaRPr sz="550">
              <a:latin typeface="SimSun"/>
              <a:cs typeface="SimSun"/>
            </a:endParaRPr>
          </a:p>
        </p:txBody>
      </p:sp>
      <p:sp>
        <p:nvSpPr>
          <p:cNvPr id="246" name="object 246" descr=""/>
          <p:cNvSpPr txBox="1"/>
          <p:nvPr/>
        </p:nvSpPr>
        <p:spPr>
          <a:xfrm>
            <a:off x="3067351" y="2203299"/>
            <a:ext cx="112395" cy="415290"/>
          </a:xfrm>
          <a:prstGeom prst="rect">
            <a:avLst/>
          </a:prstGeom>
        </p:spPr>
        <p:txBody>
          <a:bodyPr wrap="square" lIns="0" tIns="1905" rIns="0" bIns="0" rtlCol="0" vert="vert270">
            <a:spAutoFit/>
          </a:bodyPr>
          <a:lstStyle/>
          <a:p>
            <a:pPr marL="12700">
              <a:lnSpc>
                <a:spcPct val="100000"/>
              </a:lnSpc>
              <a:spcBef>
                <a:spcPts val="15"/>
              </a:spcBef>
            </a:pPr>
            <a:r>
              <a:rPr dirty="0" baseline="-22222" sz="750" spc="89">
                <a:latin typeface="SimSun"/>
                <a:cs typeface="SimSun"/>
              </a:rPr>
              <a:t>累</a:t>
            </a:r>
            <a:r>
              <a:rPr dirty="0" sz="450" spc="-434">
                <a:latin typeface="MS PGothic"/>
                <a:cs typeface="MS PGothic"/>
              </a:rPr>
              <a:t>速</a:t>
            </a:r>
            <a:r>
              <a:rPr dirty="0" baseline="-22222" sz="750" spc="120">
                <a:latin typeface="SimSun"/>
                <a:cs typeface="SimSun"/>
              </a:rPr>
              <a:t>计</a:t>
            </a:r>
            <a:r>
              <a:rPr dirty="0" baseline="-22222" sz="750" spc="-735">
                <a:latin typeface="SimSun"/>
                <a:cs typeface="SimSun"/>
              </a:rPr>
              <a:t>概</a:t>
            </a:r>
            <a:r>
              <a:rPr dirty="0" sz="450" spc="114">
                <a:latin typeface="MS PGothic"/>
                <a:cs typeface="MS PGothic"/>
              </a:rPr>
              <a:t>率</a:t>
            </a:r>
            <a:r>
              <a:rPr dirty="0" baseline="-22222" sz="750" spc="-675">
                <a:latin typeface="SimSun"/>
                <a:cs typeface="SimSun"/>
              </a:rPr>
              <a:t>率</a:t>
            </a:r>
            <a:r>
              <a:rPr dirty="0" sz="450" spc="105">
                <a:latin typeface="MS PGothic"/>
                <a:cs typeface="MS PGothic"/>
              </a:rPr>
              <a:t>占比</a:t>
            </a:r>
            <a:r>
              <a:rPr dirty="0" sz="450" spc="500">
                <a:latin typeface="MS PGothic"/>
                <a:cs typeface="MS PGothic"/>
              </a:rPr>
              <a:t> </a:t>
            </a:r>
            <a:endParaRPr sz="450">
              <a:latin typeface="MS PGothic"/>
              <a:cs typeface="MS PGothic"/>
            </a:endParaRPr>
          </a:p>
        </p:txBody>
      </p:sp>
      <p:sp>
        <p:nvSpPr>
          <p:cNvPr id="247" name="object 247" descr=""/>
          <p:cNvSpPr txBox="1"/>
          <p:nvPr/>
        </p:nvSpPr>
        <p:spPr>
          <a:xfrm>
            <a:off x="3314854" y="2415618"/>
            <a:ext cx="87630" cy="131445"/>
          </a:xfrm>
          <a:prstGeom prst="rect">
            <a:avLst/>
          </a:prstGeom>
        </p:spPr>
        <p:txBody>
          <a:bodyPr wrap="square" lIns="0" tIns="8255" rIns="0" bIns="0" rtlCol="0" vert="vert270">
            <a:spAutoFit/>
          </a:bodyPr>
          <a:lstStyle/>
          <a:p>
            <a:pPr marL="12700">
              <a:lnSpc>
                <a:spcPct val="100000"/>
              </a:lnSpc>
              <a:spcBef>
                <a:spcPts val="65"/>
              </a:spcBef>
            </a:pPr>
            <a:r>
              <a:rPr dirty="0" sz="450">
                <a:latin typeface="MS PGothic"/>
                <a:cs typeface="MS PGothic"/>
              </a:rPr>
              <a:t>(%</a:t>
            </a:r>
            <a:r>
              <a:rPr dirty="0" sz="450" spc="160">
                <a:latin typeface="MS PGothic"/>
                <a:cs typeface="MS PGothic"/>
              </a:rPr>
              <a:t> </a:t>
            </a:r>
            <a:r>
              <a:rPr dirty="0" sz="450" spc="-50">
                <a:latin typeface="MS PGothic"/>
                <a:cs typeface="MS PGothic"/>
              </a:rPr>
              <a:t>)</a:t>
            </a:r>
            <a:endParaRPr sz="450">
              <a:latin typeface="MS PGothic"/>
              <a:cs typeface="MS PGothic"/>
            </a:endParaRPr>
          </a:p>
        </p:txBody>
      </p:sp>
      <p:sp>
        <p:nvSpPr>
          <p:cNvPr id="248" name="object 248" descr=""/>
          <p:cNvSpPr txBox="1"/>
          <p:nvPr/>
        </p:nvSpPr>
        <p:spPr>
          <a:xfrm>
            <a:off x="5276632" y="1068757"/>
            <a:ext cx="982344" cy="108585"/>
          </a:xfrm>
          <a:prstGeom prst="rect">
            <a:avLst/>
          </a:prstGeom>
        </p:spPr>
        <p:txBody>
          <a:bodyPr wrap="square" lIns="0" tIns="11430" rIns="0" bIns="0" rtlCol="0" vert="horz">
            <a:spAutoFit/>
          </a:bodyPr>
          <a:lstStyle/>
          <a:p>
            <a:pPr marL="12700">
              <a:lnSpc>
                <a:spcPct val="100000"/>
              </a:lnSpc>
              <a:spcBef>
                <a:spcPts val="90"/>
              </a:spcBef>
            </a:pPr>
            <a:r>
              <a:rPr dirty="0" sz="550" spc="-35">
                <a:latin typeface="MS PGothic"/>
                <a:cs typeface="MS PGothic"/>
              </a:rPr>
              <a:t>、</a:t>
            </a:r>
            <a:r>
              <a:rPr dirty="0" sz="550" spc="-55">
                <a:latin typeface="MS PGothic"/>
                <a:cs typeface="MS PGothic"/>
              </a:rPr>
              <a:t>LTE</a:t>
            </a:r>
            <a:r>
              <a:rPr dirty="0" sz="550" spc="160">
                <a:latin typeface="MS PGothic"/>
                <a:cs typeface="MS PGothic"/>
              </a:rPr>
              <a:t> </a:t>
            </a:r>
            <a:r>
              <a:rPr dirty="0" sz="550" spc="-25">
                <a:latin typeface="MS PGothic"/>
                <a:cs typeface="MS PGothic"/>
              </a:rPr>
              <a:t>LINK</a:t>
            </a:r>
            <a:r>
              <a:rPr dirty="0" sz="550" spc="-40">
                <a:latin typeface="MS PGothic"/>
                <a:cs typeface="MS PGothic"/>
              </a:rPr>
              <a:t>和 </a:t>
            </a:r>
            <a:r>
              <a:rPr dirty="0" sz="550" spc="-70">
                <a:latin typeface="MS PGothic"/>
                <a:cs typeface="MS PGothic"/>
              </a:rPr>
              <a:t>LTE</a:t>
            </a:r>
            <a:r>
              <a:rPr dirty="0" sz="550" spc="-30">
                <a:latin typeface="MS PGothic"/>
                <a:cs typeface="MS PGothic"/>
              </a:rPr>
              <a:t> 下行拉网速率 (</a:t>
            </a:r>
            <a:endParaRPr sz="550">
              <a:latin typeface="MS PGothic"/>
              <a:cs typeface="MS PGothic"/>
            </a:endParaRPr>
          </a:p>
        </p:txBody>
      </p:sp>
      <p:grpSp>
        <p:nvGrpSpPr>
          <p:cNvPr id="249" name="object 249" descr=""/>
          <p:cNvGrpSpPr/>
          <p:nvPr/>
        </p:nvGrpSpPr>
        <p:grpSpPr>
          <a:xfrm>
            <a:off x="5348373" y="1248266"/>
            <a:ext cx="543560" cy="323850"/>
            <a:chOff x="5348373" y="1248266"/>
            <a:chExt cx="543560" cy="323850"/>
          </a:xfrm>
        </p:grpSpPr>
        <p:sp>
          <p:nvSpPr>
            <p:cNvPr id="250" name="object 250" descr=""/>
            <p:cNvSpPr/>
            <p:nvPr/>
          </p:nvSpPr>
          <p:spPr>
            <a:xfrm>
              <a:off x="5351234" y="1251123"/>
              <a:ext cx="537845" cy="318135"/>
            </a:xfrm>
            <a:custGeom>
              <a:avLst/>
              <a:gdLst/>
              <a:ahLst/>
              <a:cxnLst/>
              <a:rect l="l" t="t" r="r" b="b"/>
              <a:pathLst>
                <a:path w="537845" h="318134">
                  <a:moveTo>
                    <a:pt x="0" y="0"/>
                  </a:moveTo>
                  <a:lnTo>
                    <a:pt x="537844" y="0"/>
                  </a:lnTo>
                  <a:lnTo>
                    <a:pt x="537844" y="318105"/>
                  </a:lnTo>
                  <a:lnTo>
                    <a:pt x="0" y="318105"/>
                  </a:lnTo>
                  <a:lnTo>
                    <a:pt x="0" y="0"/>
                  </a:lnTo>
                  <a:close/>
                </a:path>
              </a:pathLst>
            </a:custGeom>
            <a:ln w="5161">
              <a:solidFill>
                <a:srgbClr val="FFFFFF"/>
              </a:solidFill>
            </a:ln>
          </p:spPr>
          <p:txBody>
            <a:bodyPr wrap="square" lIns="0" tIns="0" rIns="0" bIns="0" rtlCol="0"/>
            <a:lstStyle/>
            <a:p/>
          </p:txBody>
        </p:sp>
        <p:sp>
          <p:nvSpPr>
            <p:cNvPr id="251" name="object 251" descr=""/>
            <p:cNvSpPr/>
            <p:nvPr/>
          </p:nvSpPr>
          <p:spPr>
            <a:xfrm>
              <a:off x="5351234" y="1251124"/>
              <a:ext cx="537845" cy="0"/>
            </a:xfrm>
            <a:custGeom>
              <a:avLst/>
              <a:gdLst/>
              <a:ahLst/>
              <a:cxnLst/>
              <a:rect l="l" t="t" r="r" b="b"/>
              <a:pathLst>
                <a:path w="537845" h="0">
                  <a:moveTo>
                    <a:pt x="0" y="0"/>
                  </a:moveTo>
                  <a:lnTo>
                    <a:pt x="537844" y="0"/>
                  </a:lnTo>
                </a:path>
              </a:pathLst>
            </a:custGeom>
            <a:ln w="5301">
              <a:solidFill>
                <a:srgbClr val="000000"/>
              </a:solidFill>
            </a:ln>
          </p:spPr>
          <p:txBody>
            <a:bodyPr wrap="square" lIns="0" tIns="0" rIns="0" bIns="0" rtlCol="0"/>
            <a:lstStyle/>
            <a:p/>
          </p:txBody>
        </p:sp>
        <p:sp>
          <p:nvSpPr>
            <p:cNvPr id="252" name="object 252" descr=""/>
            <p:cNvSpPr/>
            <p:nvPr/>
          </p:nvSpPr>
          <p:spPr>
            <a:xfrm>
              <a:off x="5886698" y="1248473"/>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253" name="object 253" descr=""/>
            <p:cNvSpPr/>
            <p:nvPr/>
          </p:nvSpPr>
          <p:spPr>
            <a:xfrm>
              <a:off x="5351233" y="1569229"/>
              <a:ext cx="537845" cy="0"/>
            </a:xfrm>
            <a:custGeom>
              <a:avLst/>
              <a:gdLst/>
              <a:ahLst/>
              <a:cxnLst/>
              <a:rect l="l" t="t" r="r" b="b"/>
              <a:pathLst>
                <a:path w="537845" h="0">
                  <a:moveTo>
                    <a:pt x="0" y="0"/>
                  </a:moveTo>
                  <a:lnTo>
                    <a:pt x="537844" y="0"/>
                  </a:lnTo>
                </a:path>
              </a:pathLst>
            </a:custGeom>
            <a:ln w="5301">
              <a:solidFill>
                <a:srgbClr val="000000"/>
              </a:solidFill>
            </a:ln>
          </p:spPr>
          <p:txBody>
            <a:bodyPr wrap="square" lIns="0" tIns="0" rIns="0" bIns="0" rtlCol="0"/>
            <a:lstStyle/>
            <a:p/>
          </p:txBody>
        </p:sp>
        <p:sp>
          <p:nvSpPr>
            <p:cNvPr id="254" name="object 254" descr=""/>
            <p:cNvSpPr/>
            <p:nvPr/>
          </p:nvSpPr>
          <p:spPr>
            <a:xfrm>
              <a:off x="5886697" y="1566578"/>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255" name="object 255" descr=""/>
            <p:cNvSpPr/>
            <p:nvPr/>
          </p:nvSpPr>
          <p:spPr>
            <a:xfrm>
              <a:off x="5889077" y="1251124"/>
              <a:ext cx="0" cy="318135"/>
            </a:xfrm>
            <a:custGeom>
              <a:avLst/>
              <a:gdLst/>
              <a:ahLst/>
              <a:cxnLst/>
              <a:rect l="l" t="t" r="r" b="b"/>
              <a:pathLst>
                <a:path w="0" h="318134">
                  <a:moveTo>
                    <a:pt x="0" y="318105"/>
                  </a:moveTo>
                  <a:lnTo>
                    <a:pt x="0" y="0"/>
                  </a:lnTo>
                </a:path>
              </a:pathLst>
            </a:custGeom>
            <a:ln w="4759">
              <a:solidFill>
                <a:srgbClr val="000000"/>
              </a:solidFill>
            </a:ln>
          </p:spPr>
          <p:txBody>
            <a:bodyPr wrap="square" lIns="0" tIns="0" rIns="0" bIns="0" rtlCol="0"/>
            <a:lstStyle/>
            <a:p/>
          </p:txBody>
        </p:sp>
        <p:sp>
          <p:nvSpPr>
            <p:cNvPr id="256" name="object 256" descr=""/>
            <p:cNvSpPr/>
            <p:nvPr/>
          </p:nvSpPr>
          <p:spPr>
            <a:xfrm>
              <a:off x="5886697" y="1248473"/>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257" name="object 257" descr=""/>
            <p:cNvSpPr/>
            <p:nvPr/>
          </p:nvSpPr>
          <p:spPr>
            <a:xfrm>
              <a:off x="5351232" y="1251124"/>
              <a:ext cx="0" cy="318135"/>
            </a:xfrm>
            <a:custGeom>
              <a:avLst/>
              <a:gdLst/>
              <a:ahLst/>
              <a:cxnLst/>
              <a:rect l="l" t="t" r="r" b="b"/>
              <a:pathLst>
                <a:path w="0" h="318134">
                  <a:moveTo>
                    <a:pt x="0" y="318105"/>
                  </a:moveTo>
                  <a:lnTo>
                    <a:pt x="0" y="0"/>
                  </a:lnTo>
                </a:path>
              </a:pathLst>
            </a:custGeom>
            <a:ln w="4759">
              <a:solidFill>
                <a:srgbClr val="000000"/>
              </a:solidFill>
            </a:ln>
          </p:spPr>
          <p:txBody>
            <a:bodyPr wrap="square" lIns="0" tIns="0" rIns="0" bIns="0" rtlCol="0"/>
            <a:lstStyle/>
            <a:p/>
          </p:txBody>
        </p:sp>
        <p:sp>
          <p:nvSpPr>
            <p:cNvPr id="258" name="object 258" descr=""/>
            <p:cNvSpPr/>
            <p:nvPr/>
          </p:nvSpPr>
          <p:spPr>
            <a:xfrm>
              <a:off x="5348852" y="1248473"/>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259" name="object 259" descr=""/>
            <p:cNvSpPr/>
            <p:nvPr/>
          </p:nvSpPr>
          <p:spPr>
            <a:xfrm>
              <a:off x="5351232" y="1569229"/>
              <a:ext cx="537845" cy="0"/>
            </a:xfrm>
            <a:custGeom>
              <a:avLst/>
              <a:gdLst/>
              <a:ahLst/>
              <a:cxnLst/>
              <a:rect l="l" t="t" r="r" b="b"/>
              <a:pathLst>
                <a:path w="537845" h="0">
                  <a:moveTo>
                    <a:pt x="0" y="0"/>
                  </a:moveTo>
                  <a:lnTo>
                    <a:pt x="537844" y="0"/>
                  </a:lnTo>
                </a:path>
              </a:pathLst>
            </a:custGeom>
            <a:ln w="5301">
              <a:solidFill>
                <a:srgbClr val="000000"/>
              </a:solidFill>
            </a:ln>
          </p:spPr>
          <p:txBody>
            <a:bodyPr wrap="square" lIns="0" tIns="0" rIns="0" bIns="0" rtlCol="0"/>
            <a:lstStyle/>
            <a:p/>
          </p:txBody>
        </p:sp>
        <p:sp>
          <p:nvSpPr>
            <p:cNvPr id="260" name="object 260" descr=""/>
            <p:cNvSpPr/>
            <p:nvPr/>
          </p:nvSpPr>
          <p:spPr>
            <a:xfrm>
              <a:off x="5886696" y="1566578"/>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261" name="object 261" descr=""/>
            <p:cNvSpPr/>
            <p:nvPr/>
          </p:nvSpPr>
          <p:spPr>
            <a:xfrm>
              <a:off x="5351232" y="1251124"/>
              <a:ext cx="0" cy="318135"/>
            </a:xfrm>
            <a:custGeom>
              <a:avLst/>
              <a:gdLst/>
              <a:ahLst/>
              <a:cxnLst/>
              <a:rect l="l" t="t" r="r" b="b"/>
              <a:pathLst>
                <a:path w="0" h="318134">
                  <a:moveTo>
                    <a:pt x="0" y="318105"/>
                  </a:moveTo>
                  <a:lnTo>
                    <a:pt x="0" y="0"/>
                  </a:lnTo>
                </a:path>
              </a:pathLst>
            </a:custGeom>
            <a:ln w="4759">
              <a:solidFill>
                <a:srgbClr val="000000"/>
              </a:solidFill>
            </a:ln>
          </p:spPr>
          <p:txBody>
            <a:bodyPr wrap="square" lIns="0" tIns="0" rIns="0" bIns="0" rtlCol="0"/>
            <a:lstStyle/>
            <a:p/>
          </p:txBody>
        </p:sp>
        <p:sp>
          <p:nvSpPr>
            <p:cNvPr id="262" name="object 262" descr=""/>
            <p:cNvSpPr/>
            <p:nvPr/>
          </p:nvSpPr>
          <p:spPr>
            <a:xfrm>
              <a:off x="5348852" y="1248473"/>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263" name="object 263" descr=""/>
            <p:cNvSpPr/>
            <p:nvPr/>
          </p:nvSpPr>
          <p:spPr>
            <a:xfrm>
              <a:off x="5351231" y="1251124"/>
              <a:ext cx="537845" cy="0"/>
            </a:xfrm>
            <a:custGeom>
              <a:avLst/>
              <a:gdLst/>
              <a:ahLst/>
              <a:cxnLst/>
              <a:rect l="l" t="t" r="r" b="b"/>
              <a:pathLst>
                <a:path w="537845" h="0">
                  <a:moveTo>
                    <a:pt x="0" y="0"/>
                  </a:moveTo>
                  <a:lnTo>
                    <a:pt x="537844" y="0"/>
                  </a:lnTo>
                </a:path>
              </a:pathLst>
            </a:custGeom>
            <a:ln w="5301">
              <a:solidFill>
                <a:srgbClr val="000000"/>
              </a:solidFill>
            </a:ln>
          </p:spPr>
          <p:txBody>
            <a:bodyPr wrap="square" lIns="0" tIns="0" rIns="0" bIns="0" rtlCol="0"/>
            <a:lstStyle/>
            <a:p/>
          </p:txBody>
        </p:sp>
        <p:sp>
          <p:nvSpPr>
            <p:cNvPr id="264" name="object 264" descr=""/>
            <p:cNvSpPr/>
            <p:nvPr/>
          </p:nvSpPr>
          <p:spPr>
            <a:xfrm>
              <a:off x="5886695" y="1248473"/>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265" name="object 265" descr=""/>
            <p:cNvSpPr/>
            <p:nvPr/>
          </p:nvSpPr>
          <p:spPr>
            <a:xfrm>
              <a:off x="5351231" y="1569229"/>
              <a:ext cx="537845" cy="0"/>
            </a:xfrm>
            <a:custGeom>
              <a:avLst/>
              <a:gdLst/>
              <a:ahLst/>
              <a:cxnLst/>
              <a:rect l="l" t="t" r="r" b="b"/>
              <a:pathLst>
                <a:path w="537845" h="0">
                  <a:moveTo>
                    <a:pt x="0" y="0"/>
                  </a:moveTo>
                  <a:lnTo>
                    <a:pt x="537844" y="0"/>
                  </a:lnTo>
                </a:path>
              </a:pathLst>
            </a:custGeom>
            <a:ln w="5301">
              <a:solidFill>
                <a:srgbClr val="000000"/>
              </a:solidFill>
            </a:ln>
          </p:spPr>
          <p:txBody>
            <a:bodyPr wrap="square" lIns="0" tIns="0" rIns="0" bIns="0" rtlCol="0"/>
            <a:lstStyle/>
            <a:p/>
          </p:txBody>
        </p:sp>
        <p:sp>
          <p:nvSpPr>
            <p:cNvPr id="266" name="object 266" descr=""/>
            <p:cNvSpPr/>
            <p:nvPr/>
          </p:nvSpPr>
          <p:spPr>
            <a:xfrm>
              <a:off x="5886695" y="1566578"/>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267" name="object 267" descr=""/>
            <p:cNvSpPr/>
            <p:nvPr/>
          </p:nvSpPr>
          <p:spPr>
            <a:xfrm>
              <a:off x="5889075" y="1251124"/>
              <a:ext cx="0" cy="318135"/>
            </a:xfrm>
            <a:custGeom>
              <a:avLst/>
              <a:gdLst/>
              <a:ahLst/>
              <a:cxnLst/>
              <a:rect l="l" t="t" r="r" b="b"/>
              <a:pathLst>
                <a:path w="0" h="318134">
                  <a:moveTo>
                    <a:pt x="0" y="318105"/>
                  </a:moveTo>
                  <a:lnTo>
                    <a:pt x="0" y="0"/>
                  </a:lnTo>
                </a:path>
              </a:pathLst>
            </a:custGeom>
            <a:ln w="4759">
              <a:solidFill>
                <a:srgbClr val="000000"/>
              </a:solidFill>
            </a:ln>
          </p:spPr>
          <p:txBody>
            <a:bodyPr wrap="square" lIns="0" tIns="0" rIns="0" bIns="0" rtlCol="0"/>
            <a:lstStyle/>
            <a:p/>
          </p:txBody>
        </p:sp>
        <p:sp>
          <p:nvSpPr>
            <p:cNvPr id="268" name="object 268" descr=""/>
            <p:cNvSpPr/>
            <p:nvPr/>
          </p:nvSpPr>
          <p:spPr>
            <a:xfrm>
              <a:off x="5886695" y="1248473"/>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sp>
          <p:nvSpPr>
            <p:cNvPr id="269" name="object 269" descr=""/>
            <p:cNvSpPr/>
            <p:nvPr/>
          </p:nvSpPr>
          <p:spPr>
            <a:xfrm>
              <a:off x="5351230" y="1251124"/>
              <a:ext cx="0" cy="318135"/>
            </a:xfrm>
            <a:custGeom>
              <a:avLst/>
              <a:gdLst/>
              <a:ahLst/>
              <a:cxnLst/>
              <a:rect l="l" t="t" r="r" b="b"/>
              <a:pathLst>
                <a:path w="0" h="318134">
                  <a:moveTo>
                    <a:pt x="0" y="318105"/>
                  </a:moveTo>
                  <a:lnTo>
                    <a:pt x="0" y="0"/>
                  </a:lnTo>
                </a:path>
              </a:pathLst>
            </a:custGeom>
            <a:ln w="4759">
              <a:solidFill>
                <a:srgbClr val="000000"/>
              </a:solidFill>
            </a:ln>
          </p:spPr>
          <p:txBody>
            <a:bodyPr wrap="square" lIns="0" tIns="0" rIns="0" bIns="0" rtlCol="0"/>
            <a:lstStyle/>
            <a:p/>
          </p:txBody>
        </p:sp>
        <p:sp>
          <p:nvSpPr>
            <p:cNvPr id="270" name="object 270" descr=""/>
            <p:cNvSpPr/>
            <p:nvPr/>
          </p:nvSpPr>
          <p:spPr>
            <a:xfrm>
              <a:off x="5348850" y="1248473"/>
              <a:ext cx="5080" cy="5715"/>
            </a:xfrm>
            <a:custGeom>
              <a:avLst/>
              <a:gdLst/>
              <a:ahLst/>
              <a:cxnLst/>
              <a:rect l="l" t="t" r="r" b="b"/>
              <a:pathLst>
                <a:path w="5079" h="5715">
                  <a:moveTo>
                    <a:pt x="0" y="2650"/>
                  </a:moveTo>
                  <a:lnTo>
                    <a:pt x="697" y="4525"/>
                  </a:lnTo>
                  <a:lnTo>
                    <a:pt x="2379" y="5301"/>
                  </a:lnTo>
                  <a:lnTo>
                    <a:pt x="4062" y="4525"/>
                  </a:lnTo>
                  <a:lnTo>
                    <a:pt x="4759" y="2650"/>
                  </a:lnTo>
                  <a:lnTo>
                    <a:pt x="4062" y="776"/>
                  </a:lnTo>
                  <a:lnTo>
                    <a:pt x="2379" y="0"/>
                  </a:lnTo>
                  <a:lnTo>
                    <a:pt x="697" y="776"/>
                  </a:lnTo>
                  <a:lnTo>
                    <a:pt x="0" y="2650"/>
                  </a:lnTo>
                  <a:close/>
                </a:path>
              </a:pathLst>
            </a:custGeom>
            <a:solidFill>
              <a:srgbClr val="000000"/>
            </a:solidFill>
          </p:spPr>
          <p:txBody>
            <a:bodyPr wrap="square" lIns="0" tIns="0" rIns="0" bIns="0" rtlCol="0"/>
            <a:lstStyle/>
            <a:p/>
          </p:txBody>
        </p:sp>
      </p:grpSp>
      <p:sp>
        <p:nvSpPr>
          <p:cNvPr id="271" name="object 271" descr=""/>
          <p:cNvSpPr txBox="1"/>
          <p:nvPr/>
        </p:nvSpPr>
        <p:spPr>
          <a:xfrm>
            <a:off x="5586034" y="1259631"/>
            <a:ext cx="111125" cy="108585"/>
          </a:xfrm>
          <a:prstGeom prst="rect">
            <a:avLst/>
          </a:prstGeom>
        </p:spPr>
        <p:txBody>
          <a:bodyPr wrap="square" lIns="0" tIns="11430" rIns="0" bIns="0" rtlCol="0" vert="horz">
            <a:spAutoFit/>
          </a:bodyPr>
          <a:lstStyle/>
          <a:p>
            <a:pPr marL="12700">
              <a:lnSpc>
                <a:spcPct val="100000"/>
              </a:lnSpc>
              <a:spcBef>
                <a:spcPts val="90"/>
              </a:spcBef>
            </a:pPr>
            <a:r>
              <a:rPr dirty="0" sz="550" spc="-45">
                <a:latin typeface="Arial MT"/>
                <a:cs typeface="Arial MT"/>
              </a:rPr>
              <a:t>NR</a:t>
            </a:r>
            <a:endParaRPr sz="550">
              <a:latin typeface="Arial MT"/>
              <a:cs typeface="Arial MT"/>
            </a:endParaRPr>
          </a:p>
        </p:txBody>
      </p:sp>
      <p:grpSp>
        <p:nvGrpSpPr>
          <p:cNvPr id="272" name="object 272" descr=""/>
          <p:cNvGrpSpPr/>
          <p:nvPr/>
        </p:nvGrpSpPr>
        <p:grpSpPr>
          <a:xfrm>
            <a:off x="5386458" y="1269473"/>
            <a:ext cx="196215" cy="80010"/>
            <a:chOff x="5386458" y="1269473"/>
            <a:chExt cx="196215" cy="80010"/>
          </a:xfrm>
        </p:grpSpPr>
        <p:sp>
          <p:nvSpPr>
            <p:cNvPr id="273" name="object 273" descr=""/>
            <p:cNvSpPr/>
            <p:nvPr/>
          </p:nvSpPr>
          <p:spPr>
            <a:xfrm>
              <a:off x="5389315" y="1272331"/>
              <a:ext cx="190500" cy="74295"/>
            </a:xfrm>
            <a:custGeom>
              <a:avLst/>
              <a:gdLst/>
              <a:ahLst/>
              <a:cxnLst/>
              <a:rect l="l" t="t" r="r" b="b"/>
              <a:pathLst>
                <a:path w="190500" h="74294">
                  <a:moveTo>
                    <a:pt x="190387" y="74224"/>
                  </a:moveTo>
                  <a:lnTo>
                    <a:pt x="0" y="74224"/>
                  </a:lnTo>
                  <a:lnTo>
                    <a:pt x="0" y="0"/>
                  </a:lnTo>
                  <a:lnTo>
                    <a:pt x="190387" y="0"/>
                  </a:lnTo>
                  <a:lnTo>
                    <a:pt x="190387" y="74224"/>
                  </a:lnTo>
                  <a:close/>
                </a:path>
              </a:pathLst>
            </a:custGeom>
            <a:solidFill>
              <a:srgbClr val="FF0000"/>
            </a:solidFill>
          </p:spPr>
          <p:txBody>
            <a:bodyPr wrap="square" lIns="0" tIns="0" rIns="0" bIns="0" rtlCol="0"/>
            <a:lstStyle/>
            <a:p/>
          </p:txBody>
        </p:sp>
        <p:sp>
          <p:nvSpPr>
            <p:cNvPr id="274" name="object 274" descr=""/>
            <p:cNvSpPr/>
            <p:nvPr/>
          </p:nvSpPr>
          <p:spPr>
            <a:xfrm>
              <a:off x="5389315" y="1272331"/>
              <a:ext cx="190500" cy="74295"/>
            </a:xfrm>
            <a:custGeom>
              <a:avLst/>
              <a:gdLst/>
              <a:ahLst/>
              <a:cxnLst/>
              <a:rect l="l" t="t" r="r" b="b"/>
              <a:pathLst>
                <a:path w="190500" h="74294">
                  <a:moveTo>
                    <a:pt x="0" y="0"/>
                  </a:moveTo>
                  <a:lnTo>
                    <a:pt x="190387" y="0"/>
                  </a:lnTo>
                  <a:lnTo>
                    <a:pt x="190387" y="74224"/>
                  </a:lnTo>
                  <a:lnTo>
                    <a:pt x="0" y="74224"/>
                  </a:lnTo>
                  <a:lnTo>
                    <a:pt x="0" y="0"/>
                  </a:lnTo>
                  <a:close/>
                </a:path>
              </a:pathLst>
            </a:custGeom>
            <a:ln w="5230">
              <a:solidFill>
                <a:srgbClr val="000000"/>
              </a:solidFill>
            </a:ln>
          </p:spPr>
          <p:txBody>
            <a:bodyPr wrap="square" lIns="0" tIns="0" rIns="0" bIns="0" rtlCol="0"/>
            <a:lstStyle/>
            <a:p/>
          </p:txBody>
        </p:sp>
      </p:grpSp>
      <p:sp>
        <p:nvSpPr>
          <p:cNvPr id="275" name="object 275" descr=""/>
          <p:cNvSpPr txBox="1"/>
          <p:nvPr/>
        </p:nvSpPr>
        <p:spPr>
          <a:xfrm>
            <a:off x="5586041" y="1360365"/>
            <a:ext cx="285750" cy="108585"/>
          </a:xfrm>
          <a:prstGeom prst="rect">
            <a:avLst/>
          </a:prstGeom>
        </p:spPr>
        <p:txBody>
          <a:bodyPr wrap="square" lIns="0" tIns="11430" rIns="0" bIns="0" rtlCol="0" vert="horz">
            <a:spAutoFit/>
          </a:bodyPr>
          <a:lstStyle/>
          <a:p>
            <a:pPr marL="12700">
              <a:lnSpc>
                <a:spcPct val="100000"/>
              </a:lnSpc>
              <a:spcBef>
                <a:spcPts val="90"/>
              </a:spcBef>
            </a:pPr>
            <a:r>
              <a:rPr dirty="0" sz="550" spc="-60">
                <a:latin typeface="Arial MT"/>
                <a:cs typeface="Arial MT"/>
              </a:rPr>
              <a:t>LTE</a:t>
            </a:r>
            <a:r>
              <a:rPr dirty="0" sz="550" spc="25">
                <a:latin typeface="Arial MT"/>
                <a:cs typeface="Arial MT"/>
              </a:rPr>
              <a:t> </a:t>
            </a:r>
            <a:r>
              <a:rPr dirty="0" sz="550" spc="-35">
                <a:latin typeface="Arial MT"/>
                <a:cs typeface="Arial MT"/>
              </a:rPr>
              <a:t>LINK</a:t>
            </a:r>
            <a:endParaRPr sz="550">
              <a:latin typeface="Arial MT"/>
              <a:cs typeface="Arial MT"/>
            </a:endParaRPr>
          </a:p>
        </p:txBody>
      </p:sp>
      <p:grpSp>
        <p:nvGrpSpPr>
          <p:cNvPr id="276" name="object 276" descr=""/>
          <p:cNvGrpSpPr/>
          <p:nvPr/>
        </p:nvGrpSpPr>
        <p:grpSpPr>
          <a:xfrm>
            <a:off x="5386458" y="1370206"/>
            <a:ext cx="196215" cy="74930"/>
            <a:chOff x="5386458" y="1370206"/>
            <a:chExt cx="196215" cy="74930"/>
          </a:xfrm>
        </p:grpSpPr>
        <p:sp>
          <p:nvSpPr>
            <p:cNvPr id="277" name="object 277" descr=""/>
            <p:cNvSpPr/>
            <p:nvPr/>
          </p:nvSpPr>
          <p:spPr>
            <a:xfrm>
              <a:off x="5389315" y="1373069"/>
              <a:ext cx="190500" cy="69215"/>
            </a:xfrm>
            <a:custGeom>
              <a:avLst/>
              <a:gdLst/>
              <a:ahLst/>
              <a:cxnLst/>
              <a:rect l="l" t="t" r="r" b="b"/>
              <a:pathLst>
                <a:path w="190500" h="69215">
                  <a:moveTo>
                    <a:pt x="190387" y="68922"/>
                  </a:moveTo>
                  <a:lnTo>
                    <a:pt x="0" y="68922"/>
                  </a:lnTo>
                  <a:lnTo>
                    <a:pt x="0" y="0"/>
                  </a:lnTo>
                  <a:lnTo>
                    <a:pt x="190387" y="0"/>
                  </a:lnTo>
                  <a:lnTo>
                    <a:pt x="190387" y="68922"/>
                  </a:lnTo>
                  <a:close/>
                </a:path>
              </a:pathLst>
            </a:custGeom>
            <a:solidFill>
              <a:srgbClr val="00FF00"/>
            </a:solidFill>
          </p:spPr>
          <p:txBody>
            <a:bodyPr wrap="square" lIns="0" tIns="0" rIns="0" bIns="0" rtlCol="0"/>
            <a:lstStyle/>
            <a:p/>
          </p:txBody>
        </p:sp>
        <p:sp>
          <p:nvSpPr>
            <p:cNvPr id="278" name="object 278" descr=""/>
            <p:cNvSpPr/>
            <p:nvPr/>
          </p:nvSpPr>
          <p:spPr>
            <a:xfrm>
              <a:off x="5389315" y="1373064"/>
              <a:ext cx="190500" cy="69215"/>
            </a:xfrm>
            <a:custGeom>
              <a:avLst/>
              <a:gdLst/>
              <a:ahLst/>
              <a:cxnLst/>
              <a:rect l="l" t="t" r="r" b="b"/>
              <a:pathLst>
                <a:path w="190500" h="69215">
                  <a:moveTo>
                    <a:pt x="0" y="0"/>
                  </a:moveTo>
                  <a:lnTo>
                    <a:pt x="190387" y="0"/>
                  </a:lnTo>
                  <a:lnTo>
                    <a:pt x="190387" y="68922"/>
                  </a:lnTo>
                  <a:lnTo>
                    <a:pt x="0" y="68922"/>
                  </a:lnTo>
                  <a:lnTo>
                    <a:pt x="0" y="0"/>
                  </a:lnTo>
                  <a:close/>
                </a:path>
              </a:pathLst>
            </a:custGeom>
            <a:ln w="5238">
              <a:solidFill>
                <a:srgbClr val="000000"/>
              </a:solidFill>
            </a:ln>
          </p:spPr>
          <p:txBody>
            <a:bodyPr wrap="square" lIns="0" tIns="0" rIns="0" bIns="0" rtlCol="0"/>
            <a:lstStyle/>
            <a:p/>
          </p:txBody>
        </p:sp>
      </p:grpSp>
      <p:sp>
        <p:nvSpPr>
          <p:cNvPr id="279" name="object 279" descr=""/>
          <p:cNvSpPr txBox="1"/>
          <p:nvPr/>
        </p:nvSpPr>
        <p:spPr>
          <a:xfrm>
            <a:off x="5586041" y="1455796"/>
            <a:ext cx="133350" cy="108585"/>
          </a:xfrm>
          <a:prstGeom prst="rect">
            <a:avLst/>
          </a:prstGeom>
        </p:spPr>
        <p:txBody>
          <a:bodyPr wrap="square" lIns="0" tIns="11430" rIns="0" bIns="0" rtlCol="0" vert="horz">
            <a:spAutoFit/>
          </a:bodyPr>
          <a:lstStyle/>
          <a:p>
            <a:pPr marL="12700">
              <a:lnSpc>
                <a:spcPct val="100000"/>
              </a:lnSpc>
              <a:spcBef>
                <a:spcPts val="90"/>
              </a:spcBef>
            </a:pPr>
            <a:r>
              <a:rPr dirty="0" sz="550" spc="-40">
                <a:latin typeface="Arial MT"/>
                <a:cs typeface="Arial MT"/>
              </a:rPr>
              <a:t>LTE</a:t>
            </a:r>
            <a:endParaRPr sz="550">
              <a:latin typeface="Arial MT"/>
              <a:cs typeface="Arial MT"/>
            </a:endParaRPr>
          </a:p>
        </p:txBody>
      </p:sp>
      <p:grpSp>
        <p:nvGrpSpPr>
          <p:cNvPr id="280" name="object 280" descr=""/>
          <p:cNvGrpSpPr/>
          <p:nvPr/>
        </p:nvGrpSpPr>
        <p:grpSpPr>
          <a:xfrm>
            <a:off x="5386694" y="1465874"/>
            <a:ext cx="196215" cy="80010"/>
            <a:chOff x="5386694" y="1465874"/>
            <a:chExt cx="196215" cy="80010"/>
          </a:xfrm>
        </p:grpSpPr>
        <p:sp>
          <p:nvSpPr>
            <p:cNvPr id="281" name="object 281" descr=""/>
            <p:cNvSpPr/>
            <p:nvPr/>
          </p:nvSpPr>
          <p:spPr>
            <a:xfrm>
              <a:off x="5389315" y="1468501"/>
              <a:ext cx="190500" cy="74295"/>
            </a:xfrm>
            <a:custGeom>
              <a:avLst/>
              <a:gdLst/>
              <a:ahLst/>
              <a:cxnLst/>
              <a:rect l="l" t="t" r="r" b="b"/>
              <a:pathLst>
                <a:path w="190500" h="74294">
                  <a:moveTo>
                    <a:pt x="190387" y="74224"/>
                  </a:moveTo>
                  <a:lnTo>
                    <a:pt x="0" y="74224"/>
                  </a:lnTo>
                  <a:lnTo>
                    <a:pt x="0" y="0"/>
                  </a:lnTo>
                  <a:lnTo>
                    <a:pt x="190387" y="0"/>
                  </a:lnTo>
                  <a:lnTo>
                    <a:pt x="190387" y="74224"/>
                  </a:lnTo>
                  <a:close/>
                </a:path>
              </a:pathLst>
            </a:custGeom>
            <a:solidFill>
              <a:srgbClr val="0000FF"/>
            </a:solidFill>
          </p:spPr>
          <p:txBody>
            <a:bodyPr wrap="square" lIns="0" tIns="0" rIns="0" bIns="0" rtlCol="0"/>
            <a:lstStyle/>
            <a:p/>
          </p:txBody>
        </p:sp>
        <p:sp>
          <p:nvSpPr>
            <p:cNvPr id="282" name="object 282" descr=""/>
            <p:cNvSpPr/>
            <p:nvPr/>
          </p:nvSpPr>
          <p:spPr>
            <a:xfrm>
              <a:off x="5389315" y="1468495"/>
              <a:ext cx="190500" cy="74295"/>
            </a:xfrm>
            <a:custGeom>
              <a:avLst/>
              <a:gdLst/>
              <a:ahLst/>
              <a:cxnLst/>
              <a:rect l="l" t="t" r="r" b="b"/>
              <a:pathLst>
                <a:path w="190500" h="74294">
                  <a:moveTo>
                    <a:pt x="0" y="0"/>
                  </a:moveTo>
                  <a:lnTo>
                    <a:pt x="190387" y="0"/>
                  </a:lnTo>
                  <a:lnTo>
                    <a:pt x="190387" y="74224"/>
                  </a:lnTo>
                  <a:lnTo>
                    <a:pt x="0" y="74224"/>
                  </a:lnTo>
                  <a:lnTo>
                    <a:pt x="0" y="0"/>
                  </a:lnTo>
                  <a:close/>
                </a:path>
              </a:pathLst>
            </a:custGeom>
            <a:ln w="5230">
              <a:solidFill>
                <a:srgbClr val="000000"/>
              </a:solidFill>
            </a:ln>
          </p:spPr>
          <p:txBody>
            <a:bodyPr wrap="square" lIns="0" tIns="0" rIns="0" bIns="0" rtlCol="0"/>
            <a:lstStyle/>
            <a:p/>
          </p:txBody>
        </p:sp>
      </p:grpSp>
      <p:sp>
        <p:nvSpPr>
          <p:cNvPr id="283" name="object 283" descr=""/>
          <p:cNvSpPr/>
          <p:nvPr/>
        </p:nvSpPr>
        <p:spPr>
          <a:xfrm>
            <a:off x="197294" y="3651872"/>
            <a:ext cx="8695690" cy="1454785"/>
          </a:xfrm>
          <a:custGeom>
            <a:avLst/>
            <a:gdLst/>
            <a:ahLst/>
            <a:cxnLst/>
            <a:rect l="l" t="t" r="r" b="b"/>
            <a:pathLst>
              <a:path w="8695690" h="1454785">
                <a:moveTo>
                  <a:pt x="0" y="0"/>
                </a:moveTo>
                <a:lnTo>
                  <a:pt x="8695182" y="0"/>
                </a:lnTo>
                <a:lnTo>
                  <a:pt x="8695182" y="1454238"/>
                </a:lnTo>
                <a:lnTo>
                  <a:pt x="0" y="1454238"/>
                </a:lnTo>
                <a:lnTo>
                  <a:pt x="0" y="0"/>
                </a:lnTo>
                <a:close/>
              </a:path>
            </a:pathLst>
          </a:custGeom>
          <a:ln w="9525">
            <a:solidFill>
              <a:srgbClr val="FF0000"/>
            </a:solidFill>
            <a:prstDash val="sysDash"/>
          </a:ln>
        </p:spPr>
        <p:txBody>
          <a:bodyPr wrap="square" lIns="0" tIns="0" rIns="0" bIns="0" rtlCol="0"/>
          <a:lstStyle/>
          <a:p/>
        </p:txBody>
      </p:sp>
      <p:sp>
        <p:nvSpPr>
          <p:cNvPr id="284" name="object 284" descr=""/>
          <p:cNvSpPr txBox="1"/>
          <p:nvPr/>
        </p:nvSpPr>
        <p:spPr>
          <a:xfrm>
            <a:off x="253178" y="3726799"/>
            <a:ext cx="1704339" cy="208279"/>
          </a:xfrm>
          <a:prstGeom prst="rect">
            <a:avLst/>
          </a:prstGeom>
        </p:spPr>
        <p:txBody>
          <a:bodyPr wrap="square" lIns="0" tIns="12700" rIns="0" bIns="0" rtlCol="0" vert="horz">
            <a:spAutoFit/>
          </a:bodyPr>
          <a:lstStyle/>
          <a:p>
            <a:pPr marL="12700">
              <a:lnSpc>
                <a:spcPct val="100000"/>
              </a:lnSpc>
              <a:spcBef>
                <a:spcPts val="100"/>
              </a:spcBef>
            </a:pPr>
            <a:r>
              <a:rPr dirty="0" sz="1200" spc="-5">
                <a:latin typeface="SimSun"/>
                <a:cs typeface="SimSun"/>
              </a:rPr>
              <a:t>拉网速率测试对比结论：</a:t>
            </a:r>
            <a:endParaRPr sz="1200">
              <a:latin typeface="SimSun"/>
              <a:cs typeface="SimSun"/>
            </a:endParaRPr>
          </a:p>
        </p:txBody>
      </p:sp>
      <p:sp>
        <p:nvSpPr>
          <p:cNvPr id="285" name="object 285" descr=""/>
          <p:cNvSpPr txBox="1"/>
          <p:nvPr/>
        </p:nvSpPr>
        <p:spPr>
          <a:xfrm>
            <a:off x="253178" y="4001119"/>
            <a:ext cx="8582660" cy="208279"/>
          </a:xfrm>
          <a:prstGeom prst="rect">
            <a:avLst/>
          </a:prstGeom>
        </p:spPr>
        <p:txBody>
          <a:bodyPr wrap="square" lIns="0" tIns="12700" rIns="0" bIns="0" rtlCol="0" vert="horz">
            <a:spAutoFit/>
          </a:bodyPr>
          <a:lstStyle/>
          <a:p>
            <a:pPr marL="227329" indent="-214629">
              <a:lnSpc>
                <a:spcPct val="100000"/>
              </a:lnSpc>
              <a:spcBef>
                <a:spcPts val="100"/>
              </a:spcBef>
              <a:buChar char="•"/>
              <a:tabLst>
                <a:tab pos="227329" algn="l"/>
              </a:tabLst>
            </a:pPr>
            <a:r>
              <a:rPr dirty="0" sz="1200">
                <a:latin typeface="Arial MT"/>
                <a:cs typeface="Arial MT"/>
              </a:rPr>
              <a:t>NR</a:t>
            </a:r>
            <a:r>
              <a:rPr dirty="0" sz="1200">
                <a:latin typeface="SimSun"/>
                <a:cs typeface="SimSun"/>
              </a:rPr>
              <a:t>侧下行速率有绝对优势，空载和邻区</a:t>
            </a:r>
            <a:r>
              <a:rPr dirty="0" sz="1200" spc="-10">
                <a:latin typeface="Arial MT"/>
                <a:cs typeface="Arial MT"/>
              </a:rPr>
              <a:t>50%</a:t>
            </a:r>
            <a:r>
              <a:rPr dirty="0" sz="1200">
                <a:latin typeface="SimSun"/>
                <a:cs typeface="SimSun"/>
              </a:rPr>
              <a:t>加载时</a:t>
            </a:r>
            <a:r>
              <a:rPr dirty="0" sz="1200" spc="-10">
                <a:latin typeface="Arial MT"/>
                <a:cs typeface="Arial MT"/>
              </a:rPr>
              <a:t>100Mbps</a:t>
            </a:r>
            <a:r>
              <a:rPr dirty="0" sz="1200">
                <a:latin typeface="SimSun"/>
                <a:cs typeface="SimSun"/>
              </a:rPr>
              <a:t>以上速率占比均大于</a:t>
            </a:r>
            <a:r>
              <a:rPr dirty="0" sz="1200" spc="-10">
                <a:latin typeface="Arial MT"/>
                <a:cs typeface="Arial MT"/>
              </a:rPr>
              <a:t>90%</a:t>
            </a:r>
            <a:r>
              <a:rPr dirty="0" sz="1200" spc="-10">
                <a:latin typeface="SimSun"/>
                <a:cs typeface="SimSun"/>
              </a:rPr>
              <a:t>，</a:t>
            </a:r>
            <a:r>
              <a:rPr dirty="0" sz="1200" spc="-10">
                <a:latin typeface="Arial MT"/>
                <a:cs typeface="Arial MT"/>
              </a:rPr>
              <a:t>10Mbps</a:t>
            </a:r>
            <a:r>
              <a:rPr dirty="0" sz="1200">
                <a:latin typeface="SimSun"/>
                <a:cs typeface="SimSun"/>
              </a:rPr>
              <a:t>速率以下占比小于</a:t>
            </a:r>
            <a:r>
              <a:rPr dirty="0" sz="1200">
                <a:latin typeface="Arial MT"/>
                <a:cs typeface="Arial MT"/>
              </a:rPr>
              <a:t>1%</a:t>
            </a:r>
            <a:r>
              <a:rPr dirty="0" sz="1200">
                <a:latin typeface="SimSun"/>
                <a:cs typeface="SimSun"/>
              </a:rPr>
              <a:t>。</a:t>
            </a:r>
            <a:r>
              <a:rPr dirty="0" sz="1200" spc="-25">
                <a:latin typeface="Arial MT"/>
                <a:cs typeface="Arial MT"/>
              </a:rPr>
              <a:t>LTE</a:t>
            </a:r>
            <a:endParaRPr sz="1200">
              <a:latin typeface="Arial MT"/>
              <a:cs typeface="Arial MT"/>
            </a:endParaRPr>
          </a:p>
        </p:txBody>
      </p:sp>
      <p:sp>
        <p:nvSpPr>
          <p:cNvPr id="286" name="object 286" descr=""/>
          <p:cNvSpPr txBox="1"/>
          <p:nvPr/>
        </p:nvSpPr>
        <p:spPr>
          <a:xfrm>
            <a:off x="468062" y="4275439"/>
            <a:ext cx="2538095"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Arial MT"/>
                <a:cs typeface="Arial MT"/>
              </a:rPr>
              <a:t>LINK</a:t>
            </a:r>
            <a:r>
              <a:rPr dirty="0" sz="1200" spc="10">
                <a:latin typeface="Arial MT"/>
                <a:cs typeface="Arial MT"/>
              </a:rPr>
              <a:t> </a:t>
            </a:r>
            <a:r>
              <a:rPr dirty="0" sz="1200" spc="-10">
                <a:latin typeface="Arial MT"/>
                <a:cs typeface="Arial MT"/>
              </a:rPr>
              <a:t>10-30Mbps</a:t>
            </a:r>
            <a:r>
              <a:rPr dirty="0" sz="1200">
                <a:latin typeface="SimSun"/>
                <a:cs typeface="SimSun"/>
              </a:rPr>
              <a:t>区间速率占比</a:t>
            </a:r>
            <a:r>
              <a:rPr dirty="0" sz="1200" spc="-20">
                <a:latin typeface="Arial MT"/>
                <a:cs typeface="Arial MT"/>
              </a:rPr>
              <a:t>68%</a:t>
            </a:r>
            <a:r>
              <a:rPr dirty="0" sz="1200" spc="-20">
                <a:latin typeface="SimSun"/>
                <a:cs typeface="SimSun"/>
              </a:rPr>
              <a:t>；</a:t>
            </a:r>
            <a:endParaRPr sz="1200">
              <a:latin typeface="SimSun"/>
              <a:cs typeface="SimSun"/>
            </a:endParaRPr>
          </a:p>
        </p:txBody>
      </p:sp>
      <p:sp>
        <p:nvSpPr>
          <p:cNvPr id="287" name="object 287" descr=""/>
          <p:cNvSpPr txBox="1"/>
          <p:nvPr/>
        </p:nvSpPr>
        <p:spPr>
          <a:xfrm>
            <a:off x="253178" y="4549759"/>
            <a:ext cx="8583930" cy="208279"/>
          </a:xfrm>
          <a:prstGeom prst="rect">
            <a:avLst/>
          </a:prstGeom>
        </p:spPr>
        <p:txBody>
          <a:bodyPr wrap="square" lIns="0" tIns="12700" rIns="0" bIns="0" rtlCol="0" vert="horz">
            <a:spAutoFit/>
          </a:bodyPr>
          <a:lstStyle/>
          <a:p>
            <a:pPr marL="227329" indent="-214629">
              <a:lnSpc>
                <a:spcPct val="100000"/>
              </a:lnSpc>
              <a:spcBef>
                <a:spcPts val="100"/>
              </a:spcBef>
              <a:buChar char="•"/>
              <a:tabLst>
                <a:tab pos="227329" algn="l"/>
              </a:tabLst>
            </a:pPr>
            <a:r>
              <a:rPr dirty="0" sz="1200">
                <a:latin typeface="Arial MT"/>
                <a:cs typeface="Arial MT"/>
              </a:rPr>
              <a:t>NR</a:t>
            </a:r>
            <a:r>
              <a:rPr dirty="0" sz="1200" spc="60">
                <a:latin typeface="SimSun"/>
                <a:cs typeface="SimSun"/>
              </a:rPr>
              <a:t>侧上行速率在中、好点优势明显，</a:t>
            </a:r>
            <a:r>
              <a:rPr dirty="0" sz="1200">
                <a:latin typeface="Arial MT"/>
                <a:cs typeface="Arial MT"/>
              </a:rPr>
              <a:t>30Mbps</a:t>
            </a:r>
            <a:r>
              <a:rPr dirty="0" sz="1200" spc="65">
                <a:latin typeface="SimSun"/>
                <a:cs typeface="SimSun"/>
              </a:rPr>
              <a:t>速率以上占比</a:t>
            </a:r>
            <a:r>
              <a:rPr dirty="0" sz="1200">
                <a:latin typeface="Arial MT"/>
                <a:cs typeface="Arial MT"/>
              </a:rPr>
              <a:t>90%</a:t>
            </a:r>
            <a:r>
              <a:rPr dirty="0" sz="1200" spc="40">
                <a:latin typeface="SimSun"/>
                <a:cs typeface="SimSun"/>
              </a:rPr>
              <a:t>左右，</a:t>
            </a:r>
            <a:r>
              <a:rPr dirty="0" sz="1200">
                <a:latin typeface="Arial MT"/>
                <a:cs typeface="Arial MT"/>
              </a:rPr>
              <a:t>LTE</a:t>
            </a:r>
            <a:r>
              <a:rPr dirty="0" sz="1200" spc="480">
                <a:latin typeface="Arial MT"/>
                <a:cs typeface="Arial MT"/>
              </a:rPr>
              <a:t> </a:t>
            </a:r>
            <a:r>
              <a:rPr dirty="0" sz="1200">
                <a:latin typeface="Arial MT"/>
                <a:cs typeface="Arial MT"/>
              </a:rPr>
              <a:t>LINK</a:t>
            </a:r>
            <a:r>
              <a:rPr dirty="0" sz="1200" spc="484">
                <a:latin typeface="Arial MT"/>
                <a:cs typeface="Arial MT"/>
              </a:rPr>
              <a:t> </a:t>
            </a:r>
            <a:r>
              <a:rPr dirty="0" sz="1200">
                <a:latin typeface="Arial MT"/>
                <a:cs typeface="Arial MT"/>
              </a:rPr>
              <a:t>5Mbps</a:t>
            </a:r>
            <a:r>
              <a:rPr dirty="0" sz="1200" spc="65">
                <a:latin typeface="SimSun"/>
                <a:cs typeface="SimSun"/>
              </a:rPr>
              <a:t>速率以上占比接近</a:t>
            </a:r>
            <a:r>
              <a:rPr dirty="0" sz="1200">
                <a:latin typeface="Arial MT"/>
                <a:cs typeface="Arial MT"/>
              </a:rPr>
              <a:t>85%</a:t>
            </a:r>
            <a:r>
              <a:rPr dirty="0" sz="1200" spc="65">
                <a:latin typeface="SimSun"/>
                <a:cs typeface="SimSun"/>
              </a:rPr>
              <a:t>。</a:t>
            </a:r>
            <a:r>
              <a:rPr dirty="0" sz="1200">
                <a:latin typeface="Arial MT"/>
                <a:cs typeface="Arial MT"/>
              </a:rPr>
              <a:t>NR</a:t>
            </a:r>
            <a:r>
              <a:rPr dirty="0" sz="1200" spc="-50">
                <a:latin typeface="SimSun"/>
                <a:cs typeface="SimSun"/>
              </a:rPr>
              <a:t>侧</a:t>
            </a:r>
            <a:endParaRPr sz="1200">
              <a:latin typeface="SimSun"/>
              <a:cs typeface="SimSun"/>
            </a:endParaRPr>
          </a:p>
        </p:txBody>
      </p:sp>
      <p:sp>
        <p:nvSpPr>
          <p:cNvPr id="288" name="object 288" descr=""/>
          <p:cNvSpPr txBox="1"/>
          <p:nvPr/>
        </p:nvSpPr>
        <p:spPr>
          <a:xfrm>
            <a:off x="206946" y="4300220"/>
            <a:ext cx="6019800" cy="732155"/>
          </a:xfrm>
          <a:prstGeom prst="rect">
            <a:avLst/>
          </a:prstGeom>
        </p:spPr>
        <p:txBody>
          <a:bodyPr wrap="square" lIns="0" tIns="104139" rIns="0" bIns="0" rtlCol="0" vert="horz">
            <a:spAutoFit/>
          </a:bodyPr>
          <a:lstStyle/>
          <a:p>
            <a:pPr marL="227329" indent="-214629">
              <a:lnSpc>
                <a:spcPct val="100000"/>
              </a:lnSpc>
              <a:spcBef>
                <a:spcPts val="819"/>
              </a:spcBef>
              <a:buChar char="•"/>
              <a:tabLst>
                <a:tab pos="227329" algn="l"/>
              </a:tabLst>
            </a:pPr>
            <a:r>
              <a:rPr dirty="0" sz="1200">
                <a:latin typeface="Arial MT"/>
                <a:cs typeface="Arial MT"/>
              </a:rPr>
              <a:t>200W</a:t>
            </a:r>
            <a:r>
              <a:rPr dirty="0" sz="1200" spc="85">
                <a:latin typeface="Arial MT"/>
                <a:cs typeface="Arial MT"/>
              </a:rPr>
              <a:t> </a:t>
            </a:r>
            <a:r>
              <a:rPr dirty="0" sz="1200" spc="-10">
                <a:latin typeface="Arial MT"/>
                <a:cs typeface="Arial MT"/>
              </a:rPr>
              <a:t>SSB</a:t>
            </a:r>
            <a:r>
              <a:rPr dirty="0" sz="1200" spc="-5">
                <a:latin typeface="SimSun"/>
                <a:cs typeface="SimSun"/>
              </a:rPr>
              <a:t>宽波束明显差于窄波束，</a:t>
            </a:r>
            <a:r>
              <a:rPr dirty="0" sz="1200" spc="-10">
                <a:latin typeface="Arial MT"/>
                <a:cs typeface="Arial MT"/>
              </a:rPr>
              <a:t>5%</a:t>
            </a:r>
            <a:r>
              <a:rPr dirty="0" sz="1200">
                <a:latin typeface="SimSun"/>
                <a:cs typeface="SimSun"/>
              </a:rPr>
              <a:t>点位宽波速</a:t>
            </a:r>
            <a:r>
              <a:rPr dirty="0" sz="1200" spc="-10">
                <a:latin typeface="Arial MT"/>
                <a:cs typeface="Arial MT"/>
              </a:rPr>
              <a:t>RSRP</a:t>
            </a:r>
            <a:r>
              <a:rPr dirty="0" sz="1200">
                <a:latin typeface="SimSun"/>
                <a:cs typeface="SimSun"/>
              </a:rPr>
              <a:t>为</a:t>
            </a:r>
            <a:r>
              <a:rPr dirty="0" sz="1200" spc="-10">
                <a:latin typeface="Arial MT"/>
                <a:cs typeface="Arial MT"/>
              </a:rPr>
              <a:t>-100dBm</a:t>
            </a:r>
            <a:r>
              <a:rPr dirty="0" sz="1200" spc="-5">
                <a:latin typeface="SimSun"/>
                <a:cs typeface="SimSun"/>
              </a:rPr>
              <a:t>，相差</a:t>
            </a:r>
            <a:r>
              <a:rPr dirty="0" sz="1200" spc="-10">
                <a:latin typeface="Arial MT"/>
                <a:cs typeface="Arial MT"/>
              </a:rPr>
              <a:t>8dB</a:t>
            </a:r>
            <a:r>
              <a:rPr dirty="0" sz="1200" spc="-20">
                <a:latin typeface="SimSun"/>
                <a:cs typeface="SimSun"/>
              </a:rPr>
              <a:t>左右；</a:t>
            </a:r>
            <a:endParaRPr sz="1200">
              <a:latin typeface="SimSun"/>
              <a:cs typeface="SimSun"/>
            </a:endParaRPr>
          </a:p>
          <a:p>
            <a:pPr marL="227329" marR="767080" indent="-215265">
              <a:lnSpc>
                <a:spcPts val="1240"/>
              </a:lnSpc>
              <a:spcBef>
                <a:spcPts val="925"/>
              </a:spcBef>
              <a:buFont typeface="Arial MT"/>
              <a:buChar char="•"/>
              <a:tabLst>
                <a:tab pos="273685" algn="l"/>
              </a:tabLst>
            </a:pPr>
            <a:r>
              <a:rPr dirty="0" sz="1200">
                <a:latin typeface="SimSun"/>
                <a:cs typeface="SimSun"/>
              </a:rPr>
              <a:t>测试终端</a:t>
            </a:r>
            <a:r>
              <a:rPr dirty="0" sz="1200" spc="-10">
                <a:latin typeface="Arial MT"/>
                <a:cs typeface="Arial MT"/>
              </a:rPr>
              <a:t>TUE</a:t>
            </a:r>
            <a:r>
              <a:rPr dirty="0" sz="1200">
                <a:latin typeface="SimSun"/>
                <a:cs typeface="SimSun"/>
              </a:rPr>
              <a:t>的</a:t>
            </a:r>
            <a:r>
              <a:rPr dirty="0" sz="1200" spc="-10">
                <a:latin typeface="Arial MT"/>
                <a:cs typeface="Arial MT"/>
              </a:rPr>
              <a:t>LTE</a:t>
            </a:r>
            <a:r>
              <a:rPr dirty="0" sz="1200" spc="-15">
                <a:latin typeface="Arial MT"/>
                <a:cs typeface="Arial MT"/>
              </a:rPr>
              <a:t> </a:t>
            </a:r>
            <a:r>
              <a:rPr dirty="0" sz="1200" spc="-10">
                <a:latin typeface="Arial MT"/>
                <a:cs typeface="Arial MT"/>
              </a:rPr>
              <a:t>LINK</a:t>
            </a:r>
            <a:r>
              <a:rPr dirty="0" sz="1200">
                <a:latin typeface="SimSun"/>
                <a:cs typeface="SimSun"/>
              </a:rPr>
              <a:t>相比商用终端天线性能优势明显，增益约</a:t>
            </a:r>
            <a:r>
              <a:rPr dirty="0" sz="1200" spc="-10">
                <a:latin typeface="Arial MT"/>
                <a:cs typeface="Arial MT"/>
              </a:rPr>
              <a:t>3-8dB</a:t>
            </a:r>
            <a:r>
              <a:rPr dirty="0" sz="1200" spc="-50">
                <a:latin typeface="SimSun"/>
                <a:cs typeface="SimSun"/>
              </a:rPr>
              <a:t>。 </a:t>
            </a:r>
            <a:r>
              <a:rPr dirty="0" sz="1200" spc="-50">
                <a:latin typeface="SimSun"/>
                <a:cs typeface="SimSun"/>
              </a:rPr>
              <a:t>	</a:t>
            </a:r>
            <a:r>
              <a:rPr dirty="0" sz="1200" spc="-10">
                <a:latin typeface="Arial MT"/>
                <a:cs typeface="Arial MT"/>
              </a:rPr>
              <a:t>5Mbps</a:t>
            </a:r>
            <a:r>
              <a:rPr dirty="0" sz="1200">
                <a:latin typeface="SimSun"/>
                <a:cs typeface="SimSun"/>
              </a:rPr>
              <a:t>速率以下占比</a:t>
            </a:r>
            <a:r>
              <a:rPr dirty="0" sz="1200" spc="-10">
                <a:latin typeface="Arial MT"/>
                <a:cs typeface="Arial MT"/>
              </a:rPr>
              <a:t>5%</a:t>
            </a:r>
            <a:r>
              <a:rPr dirty="0" sz="1200" spc="-5">
                <a:latin typeface="SimSun"/>
                <a:cs typeface="SimSun"/>
              </a:rPr>
              <a:t>左右，具有很大优化空间。</a:t>
            </a:r>
            <a:endParaRPr sz="1200">
              <a:latin typeface="SimSun"/>
              <a:cs typeface="SimSun"/>
            </a:endParaRPr>
          </a:p>
        </p:txBody>
      </p:sp>
      <p:sp>
        <p:nvSpPr>
          <p:cNvPr id="289" name="object 289" descr=""/>
          <p:cNvSpPr txBox="1"/>
          <p:nvPr/>
        </p:nvSpPr>
        <p:spPr>
          <a:xfrm>
            <a:off x="4411856" y="1403685"/>
            <a:ext cx="710565" cy="162560"/>
          </a:xfrm>
          <a:prstGeom prst="rect">
            <a:avLst/>
          </a:prstGeom>
        </p:spPr>
        <p:txBody>
          <a:bodyPr wrap="square" lIns="0" tIns="12700" rIns="0" bIns="0" rtlCol="0" vert="horz">
            <a:spAutoFit/>
          </a:bodyPr>
          <a:lstStyle/>
          <a:p>
            <a:pPr marL="12700">
              <a:lnSpc>
                <a:spcPct val="100000"/>
              </a:lnSpc>
              <a:spcBef>
                <a:spcPts val="100"/>
              </a:spcBef>
            </a:pPr>
            <a:r>
              <a:rPr dirty="0" sz="900">
                <a:latin typeface="SimSun"/>
                <a:cs typeface="SimSun"/>
              </a:rPr>
              <a:t>邻区</a:t>
            </a:r>
            <a:r>
              <a:rPr dirty="0" sz="900" spc="-10">
                <a:latin typeface="Arial MT"/>
                <a:cs typeface="Arial MT"/>
              </a:rPr>
              <a:t>50%</a:t>
            </a:r>
            <a:r>
              <a:rPr dirty="0" sz="900" spc="-25">
                <a:latin typeface="SimSun"/>
                <a:cs typeface="SimSun"/>
              </a:rPr>
              <a:t>加载</a:t>
            </a:r>
            <a:endParaRPr sz="900">
              <a:latin typeface="SimSun"/>
              <a:cs typeface="SimSun"/>
            </a:endParaRPr>
          </a:p>
        </p:txBody>
      </p:sp>
      <p:grpSp>
        <p:nvGrpSpPr>
          <p:cNvPr id="290" name="object 290" descr=""/>
          <p:cNvGrpSpPr/>
          <p:nvPr/>
        </p:nvGrpSpPr>
        <p:grpSpPr>
          <a:xfrm>
            <a:off x="451023" y="1202683"/>
            <a:ext cx="2564765" cy="2201545"/>
            <a:chOff x="451023" y="1202683"/>
            <a:chExt cx="2564765" cy="2201545"/>
          </a:xfrm>
        </p:grpSpPr>
        <p:sp>
          <p:nvSpPr>
            <p:cNvPr id="291" name="object 291" descr=""/>
            <p:cNvSpPr/>
            <p:nvPr/>
          </p:nvSpPr>
          <p:spPr>
            <a:xfrm>
              <a:off x="453882" y="1205542"/>
              <a:ext cx="2559050" cy="2195830"/>
            </a:xfrm>
            <a:custGeom>
              <a:avLst/>
              <a:gdLst/>
              <a:ahLst/>
              <a:cxnLst/>
              <a:rect l="l" t="t" r="r" b="b"/>
              <a:pathLst>
                <a:path w="2559050" h="2195829">
                  <a:moveTo>
                    <a:pt x="2558907" y="2195610"/>
                  </a:moveTo>
                  <a:lnTo>
                    <a:pt x="0" y="2195610"/>
                  </a:lnTo>
                  <a:lnTo>
                    <a:pt x="0" y="0"/>
                  </a:lnTo>
                  <a:lnTo>
                    <a:pt x="2558907" y="0"/>
                  </a:lnTo>
                  <a:lnTo>
                    <a:pt x="2558907" y="2195610"/>
                  </a:lnTo>
                  <a:close/>
                </a:path>
              </a:pathLst>
            </a:custGeom>
            <a:solidFill>
              <a:srgbClr val="FFFFFF"/>
            </a:solidFill>
          </p:spPr>
          <p:txBody>
            <a:bodyPr wrap="square" lIns="0" tIns="0" rIns="0" bIns="0" rtlCol="0"/>
            <a:lstStyle/>
            <a:p/>
          </p:txBody>
        </p:sp>
        <p:sp>
          <p:nvSpPr>
            <p:cNvPr id="292" name="object 292" descr=""/>
            <p:cNvSpPr/>
            <p:nvPr/>
          </p:nvSpPr>
          <p:spPr>
            <a:xfrm>
              <a:off x="453881" y="1205541"/>
              <a:ext cx="2559050" cy="0"/>
            </a:xfrm>
            <a:custGeom>
              <a:avLst/>
              <a:gdLst/>
              <a:ahLst/>
              <a:cxnLst/>
              <a:rect l="l" t="t" r="r" b="b"/>
              <a:pathLst>
                <a:path w="2559050" h="0">
                  <a:moveTo>
                    <a:pt x="0" y="0"/>
                  </a:moveTo>
                  <a:lnTo>
                    <a:pt x="2558907" y="0"/>
                  </a:lnTo>
                </a:path>
              </a:pathLst>
            </a:custGeom>
            <a:ln w="5252">
              <a:solidFill>
                <a:srgbClr val="000000"/>
              </a:solidFill>
            </a:ln>
          </p:spPr>
          <p:txBody>
            <a:bodyPr wrap="square" lIns="0" tIns="0" rIns="0" bIns="0" rtlCol="0"/>
            <a:lstStyle/>
            <a:p/>
          </p:txBody>
        </p:sp>
        <p:sp>
          <p:nvSpPr>
            <p:cNvPr id="293" name="object 293" descr=""/>
            <p:cNvSpPr/>
            <p:nvPr/>
          </p:nvSpPr>
          <p:spPr>
            <a:xfrm>
              <a:off x="3010491" y="1202915"/>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294" name="object 294" descr=""/>
            <p:cNvSpPr/>
            <p:nvPr/>
          </p:nvSpPr>
          <p:spPr>
            <a:xfrm>
              <a:off x="453881" y="3401152"/>
              <a:ext cx="2559050" cy="0"/>
            </a:xfrm>
            <a:custGeom>
              <a:avLst/>
              <a:gdLst/>
              <a:ahLst/>
              <a:cxnLst/>
              <a:rect l="l" t="t" r="r" b="b"/>
              <a:pathLst>
                <a:path w="2559050" h="0">
                  <a:moveTo>
                    <a:pt x="0" y="0"/>
                  </a:moveTo>
                  <a:lnTo>
                    <a:pt x="2558907" y="0"/>
                  </a:lnTo>
                </a:path>
              </a:pathLst>
            </a:custGeom>
            <a:ln w="5252">
              <a:solidFill>
                <a:srgbClr val="000000"/>
              </a:solidFill>
            </a:ln>
          </p:spPr>
          <p:txBody>
            <a:bodyPr wrap="square" lIns="0" tIns="0" rIns="0" bIns="0" rtlCol="0"/>
            <a:lstStyle/>
            <a:p/>
          </p:txBody>
        </p:sp>
        <p:sp>
          <p:nvSpPr>
            <p:cNvPr id="295" name="object 295" descr=""/>
            <p:cNvSpPr/>
            <p:nvPr/>
          </p:nvSpPr>
          <p:spPr>
            <a:xfrm>
              <a:off x="3010491" y="3398526"/>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296" name="object 296" descr=""/>
            <p:cNvSpPr/>
            <p:nvPr/>
          </p:nvSpPr>
          <p:spPr>
            <a:xfrm>
              <a:off x="3012788" y="1205542"/>
              <a:ext cx="0" cy="2195830"/>
            </a:xfrm>
            <a:custGeom>
              <a:avLst/>
              <a:gdLst/>
              <a:ahLst/>
              <a:cxnLst/>
              <a:rect l="l" t="t" r="r" b="b"/>
              <a:pathLst>
                <a:path w="0" h="2195829">
                  <a:moveTo>
                    <a:pt x="0" y="2195610"/>
                  </a:moveTo>
                  <a:lnTo>
                    <a:pt x="0" y="0"/>
                  </a:lnTo>
                </a:path>
              </a:pathLst>
            </a:custGeom>
            <a:ln w="4594">
              <a:solidFill>
                <a:srgbClr val="000000"/>
              </a:solidFill>
            </a:ln>
          </p:spPr>
          <p:txBody>
            <a:bodyPr wrap="square" lIns="0" tIns="0" rIns="0" bIns="0" rtlCol="0"/>
            <a:lstStyle/>
            <a:p/>
          </p:txBody>
        </p:sp>
        <p:sp>
          <p:nvSpPr>
            <p:cNvPr id="297" name="object 297" descr=""/>
            <p:cNvSpPr/>
            <p:nvPr/>
          </p:nvSpPr>
          <p:spPr>
            <a:xfrm>
              <a:off x="3010491" y="1202916"/>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298" name="object 298" descr=""/>
            <p:cNvSpPr/>
            <p:nvPr/>
          </p:nvSpPr>
          <p:spPr>
            <a:xfrm>
              <a:off x="453881" y="1205543"/>
              <a:ext cx="0" cy="2195830"/>
            </a:xfrm>
            <a:custGeom>
              <a:avLst/>
              <a:gdLst/>
              <a:ahLst/>
              <a:cxnLst/>
              <a:rect l="l" t="t" r="r" b="b"/>
              <a:pathLst>
                <a:path w="0" h="2195829">
                  <a:moveTo>
                    <a:pt x="0" y="2195610"/>
                  </a:moveTo>
                  <a:lnTo>
                    <a:pt x="0" y="0"/>
                  </a:lnTo>
                </a:path>
              </a:pathLst>
            </a:custGeom>
            <a:ln w="4594">
              <a:solidFill>
                <a:srgbClr val="000000"/>
              </a:solidFill>
            </a:ln>
          </p:spPr>
          <p:txBody>
            <a:bodyPr wrap="square" lIns="0" tIns="0" rIns="0" bIns="0" rtlCol="0"/>
            <a:lstStyle/>
            <a:p/>
          </p:txBody>
        </p:sp>
        <p:sp>
          <p:nvSpPr>
            <p:cNvPr id="299" name="object 299" descr=""/>
            <p:cNvSpPr/>
            <p:nvPr/>
          </p:nvSpPr>
          <p:spPr>
            <a:xfrm>
              <a:off x="451584" y="1202917"/>
              <a:ext cx="5080" cy="5715"/>
            </a:xfrm>
            <a:custGeom>
              <a:avLst/>
              <a:gdLst/>
              <a:ahLst/>
              <a:cxnLst/>
              <a:rect l="l" t="t" r="r" b="b"/>
              <a:pathLst>
                <a:path w="5079"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00" name="object 300" descr=""/>
            <p:cNvSpPr/>
            <p:nvPr/>
          </p:nvSpPr>
          <p:spPr>
            <a:xfrm>
              <a:off x="453881" y="3401154"/>
              <a:ext cx="2559050" cy="0"/>
            </a:xfrm>
            <a:custGeom>
              <a:avLst/>
              <a:gdLst/>
              <a:ahLst/>
              <a:cxnLst/>
              <a:rect l="l" t="t" r="r" b="b"/>
              <a:pathLst>
                <a:path w="2559050" h="0">
                  <a:moveTo>
                    <a:pt x="0" y="0"/>
                  </a:moveTo>
                  <a:lnTo>
                    <a:pt x="2558907" y="0"/>
                  </a:lnTo>
                </a:path>
              </a:pathLst>
            </a:custGeom>
            <a:ln w="5252">
              <a:solidFill>
                <a:srgbClr val="000000"/>
              </a:solidFill>
            </a:ln>
          </p:spPr>
          <p:txBody>
            <a:bodyPr wrap="square" lIns="0" tIns="0" rIns="0" bIns="0" rtlCol="0"/>
            <a:lstStyle/>
            <a:p/>
          </p:txBody>
        </p:sp>
        <p:sp>
          <p:nvSpPr>
            <p:cNvPr id="301" name="object 301" descr=""/>
            <p:cNvSpPr/>
            <p:nvPr/>
          </p:nvSpPr>
          <p:spPr>
            <a:xfrm>
              <a:off x="3010491" y="3398528"/>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02" name="object 302" descr=""/>
            <p:cNvSpPr/>
            <p:nvPr/>
          </p:nvSpPr>
          <p:spPr>
            <a:xfrm>
              <a:off x="453881" y="1205545"/>
              <a:ext cx="0" cy="2195830"/>
            </a:xfrm>
            <a:custGeom>
              <a:avLst/>
              <a:gdLst/>
              <a:ahLst/>
              <a:cxnLst/>
              <a:rect l="l" t="t" r="r" b="b"/>
              <a:pathLst>
                <a:path w="0" h="2195829">
                  <a:moveTo>
                    <a:pt x="0" y="2195610"/>
                  </a:moveTo>
                  <a:lnTo>
                    <a:pt x="0" y="0"/>
                  </a:lnTo>
                </a:path>
              </a:pathLst>
            </a:custGeom>
            <a:ln w="4594">
              <a:solidFill>
                <a:srgbClr val="000000"/>
              </a:solidFill>
            </a:ln>
          </p:spPr>
          <p:txBody>
            <a:bodyPr wrap="square" lIns="0" tIns="0" rIns="0" bIns="0" rtlCol="0"/>
            <a:lstStyle/>
            <a:p/>
          </p:txBody>
        </p:sp>
        <p:sp>
          <p:nvSpPr>
            <p:cNvPr id="303" name="object 303" descr=""/>
            <p:cNvSpPr/>
            <p:nvPr/>
          </p:nvSpPr>
          <p:spPr>
            <a:xfrm>
              <a:off x="451584" y="1202919"/>
              <a:ext cx="5080" cy="5715"/>
            </a:xfrm>
            <a:custGeom>
              <a:avLst/>
              <a:gdLst/>
              <a:ahLst/>
              <a:cxnLst/>
              <a:rect l="l" t="t" r="r" b="b"/>
              <a:pathLst>
                <a:path w="5079"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04" name="object 304" descr=""/>
            <p:cNvSpPr/>
            <p:nvPr/>
          </p:nvSpPr>
          <p:spPr>
            <a:xfrm>
              <a:off x="734120" y="3369640"/>
              <a:ext cx="0" cy="31750"/>
            </a:xfrm>
            <a:custGeom>
              <a:avLst/>
              <a:gdLst/>
              <a:ahLst/>
              <a:cxnLst/>
              <a:rect l="l" t="t" r="r" b="b"/>
              <a:pathLst>
                <a:path w="0" h="31750">
                  <a:moveTo>
                    <a:pt x="0" y="31515"/>
                  </a:moveTo>
                  <a:lnTo>
                    <a:pt x="0" y="0"/>
                  </a:lnTo>
                </a:path>
              </a:pathLst>
            </a:custGeom>
            <a:ln w="4594">
              <a:solidFill>
                <a:srgbClr val="000000"/>
              </a:solidFill>
            </a:ln>
          </p:spPr>
          <p:txBody>
            <a:bodyPr wrap="square" lIns="0" tIns="0" rIns="0" bIns="0" rtlCol="0"/>
            <a:lstStyle/>
            <a:p/>
          </p:txBody>
        </p:sp>
        <p:sp>
          <p:nvSpPr>
            <p:cNvPr id="305" name="object 305" descr=""/>
            <p:cNvSpPr/>
            <p:nvPr/>
          </p:nvSpPr>
          <p:spPr>
            <a:xfrm>
              <a:off x="731823" y="3367014"/>
              <a:ext cx="5080" cy="5715"/>
            </a:xfrm>
            <a:custGeom>
              <a:avLst/>
              <a:gdLst/>
              <a:ahLst/>
              <a:cxnLst/>
              <a:rect l="l" t="t" r="r" b="b"/>
              <a:pathLst>
                <a:path w="5079"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06" name="object 306" descr=""/>
            <p:cNvSpPr/>
            <p:nvPr/>
          </p:nvSpPr>
          <p:spPr>
            <a:xfrm>
              <a:off x="734120" y="1205546"/>
              <a:ext cx="0" cy="26670"/>
            </a:xfrm>
            <a:custGeom>
              <a:avLst/>
              <a:gdLst/>
              <a:ahLst/>
              <a:cxnLst/>
              <a:rect l="l" t="t" r="r" b="b"/>
              <a:pathLst>
                <a:path w="0" h="26669">
                  <a:moveTo>
                    <a:pt x="0" y="0"/>
                  </a:moveTo>
                  <a:lnTo>
                    <a:pt x="0" y="26263"/>
                  </a:lnTo>
                </a:path>
              </a:pathLst>
            </a:custGeom>
            <a:ln w="4594">
              <a:solidFill>
                <a:srgbClr val="000000"/>
              </a:solidFill>
            </a:ln>
          </p:spPr>
          <p:txBody>
            <a:bodyPr wrap="square" lIns="0" tIns="0" rIns="0" bIns="0" rtlCol="0"/>
            <a:lstStyle/>
            <a:p/>
          </p:txBody>
        </p:sp>
        <p:sp>
          <p:nvSpPr>
            <p:cNvPr id="307" name="object 307" descr=""/>
            <p:cNvSpPr/>
            <p:nvPr/>
          </p:nvSpPr>
          <p:spPr>
            <a:xfrm>
              <a:off x="731823" y="1229184"/>
              <a:ext cx="5080" cy="5715"/>
            </a:xfrm>
            <a:custGeom>
              <a:avLst/>
              <a:gdLst/>
              <a:ahLst/>
              <a:cxnLst/>
              <a:rect l="l" t="t" r="r" b="b"/>
              <a:pathLst>
                <a:path w="5079"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08" name="object 308" descr=""/>
            <p:cNvSpPr/>
            <p:nvPr/>
          </p:nvSpPr>
          <p:spPr>
            <a:xfrm>
              <a:off x="1018954" y="1205548"/>
              <a:ext cx="0" cy="26670"/>
            </a:xfrm>
            <a:custGeom>
              <a:avLst/>
              <a:gdLst/>
              <a:ahLst/>
              <a:cxnLst/>
              <a:rect l="l" t="t" r="r" b="b"/>
              <a:pathLst>
                <a:path w="0" h="26669">
                  <a:moveTo>
                    <a:pt x="0" y="0"/>
                  </a:moveTo>
                  <a:lnTo>
                    <a:pt x="0" y="26263"/>
                  </a:lnTo>
                </a:path>
              </a:pathLst>
            </a:custGeom>
            <a:ln w="4594">
              <a:solidFill>
                <a:srgbClr val="000000"/>
              </a:solidFill>
            </a:ln>
          </p:spPr>
          <p:txBody>
            <a:bodyPr wrap="square" lIns="0" tIns="0" rIns="0" bIns="0" rtlCol="0"/>
            <a:lstStyle/>
            <a:p/>
          </p:txBody>
        </p:sp>
        <p:sp>
          <p:nvSpPr>
            <p:cNvPr id="309" name="object 309" descr=""/>
            <p:cNvSpPr/>
            <p:nvPr/>
          </p:nvSpPr>
          <p:spPr>
            <a:xfrm>
              <a:off x="1016657" y="1229185"/>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10" name="object 310" descr=""/>
            <p:cNvSpPr/>
            <p:nvPr/>
          </p:nvSpPr>
          <p:spPr>
            <a:xfrm>
              <a:off x="1303787" y="1205549"/>
              <a:ext cx="0" cy="26670"/>
            </a:xfrm>
            <a:custGeom>
              <a:avLst/>
              <a:gdLst/>
              <a:ahLst/>
              <a:cxnLst/>
              <a:rect l="l" t="t" r="r" b="b"/>
              <a:pathLst>
                <a:path w="0" h="26669">
                  <a:moveTo>
                    <a:pt x="0" y="0"/>
                  </a:moveTo>
                  <a:lnTo>
                    <a:pt x="0" y="26263"/>
                  </a:lnTo>
                </a:path>
              </a:pathLst>
            </a:custGeom>
            <a:ln w="4594">
              <a:solidFill>
                <a:srgbClr val="000000"/>
              </a:solidFill>
            </a:ln>
          </p:spPr>
          <p:txBody>
            <a:bodyPr wrap="square" lIns="0" tIns="0" rIns="0" bIns="0" rtlCol="0"/>
            <a:lstStyle/>
            <a:p/>
          </p:txBody>
        </p:sp>
        <p:sp>
          <p:nvSpPr>
            <p:cNvPr id="311" name="object 311" descr=""/>
            <p:cNvSpPr/>
            <p:nvPr/>
          </p:nvSpPr>
          <p:spPr>
            <a:xfrm>
              <a:off x="1301490" y="1229187"/>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12" name="object 312" descr=""/>
            <p:cNvSpPr/>
            <p:nvPr/>
          </p:nvSpPr>
          <p:spPr>
            <a:xfrm>
              <a:off x="1588621" y="3369645"/>
              <a:ext cx="0" cy="31750"/>
            </a:xfrm>
            <a:custGeom>
              <a:avLst/>
              <a:gdLst/>
              <a:ahLst/>
              <a:cxnLst/>
              <a:rect l="l" t="t" r="r" b="b"/>
              <a:pathLst>
                <a:path w="0" h="31750">
                  <a:moveTo>
                    <a:pt x="0" y="31515"/>
                  </a:moveTo>
                  <a:lnTo>
                    <a:pt x="0" y="0"/>
                  </a:lnTo>
                </a:path>
              </a:pathLst>
            </a:custGeom>
            <a:ln w="4594">
              <a:solidFill>
                <a:srgbClr val="000000"/>
              </a:solidFill>
            </a:ln>
          </p:spPr>
          <p:txBody>
            <a:bodyPr wrap="square" lIns="0" tIns="0" rIns="0" bIns="0" rtlCol="0"/>
            <a:lstStyle/>
            <a:p/>
          </p:txBody>
        </p:sp>
        <p:sp>
          <p:nvSpPr>
            <p:cNvPr id="313" name="object 313" descr=""/>
            <p:cNvSpPr/>
            <p:nvPr/>
          </p:nvSpPr>
          <p:spPr>
            <a:xfrm>
              <a:off x="1586323" y="3367019"/>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14" name="object 314" descr=""/>
            <p:cNvSpPr/>
            <p:nvPr/>
          </p:nvSpPr>
          <p:spPr>
            <a:xfrm>
              <a:off x="1588621" y="1205551"/>
              <a:ext cx="0" cy="26670"/>
            </a:xfrm>
            <a:custGeom>
              <a:avLst/>
              <a:gdLst/>
              <a:ahLst/>
              <a:cxnLst/>
              <a:rect l="l" t="t" r="r" b="b"/>
              <a:pathLst>
                <a:path w="0" h="26669">
                  <a:moveTo>
                    <a:pt x="0" y="0"/>
                  </a:moveTo>
                  <a:lnTo>
                    <a:pt x="0" y="26263"/>
                  </a:lnTo>
                </a:path>
              </a:pathLst>
            </a:custGeom>
            <a:ln w="4594">
              <a:solidFill>
                <a:srgbClr val="000000"/>
              </a:solidFill>
            </a:ln>
          </p:spPr>
          <p:txBody>
            <a:bodyPr wrap="square" lIns="0" tIns="0" rIns="0" bIns="0" rtlCol="0"/>
            <a:lstStyle/>
            <a:p/>
          </p:txBody>
        </p:sp>
        <p:sp>
          <p:nvSpPr>
            <p:cNvPr id="315" name="object 315" descr=""/>
            <p:cNvSpPr/>
            <p:nvPr/>
          </p:nvSpPr>
          <p:spPr>
            <a:xfrm>
              <a:off x="1586323" y="1229188"/>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16" name="object 316" descr=""/>
            <p:cNvSpPr/>
            <p:nvPr/>
          </p:nvSpPr>
          <p:spPr>
            <a:xfrm>
              <a:off x="1873454" y="3369646"/>
              <a:ext cx="0" cy="31750"/>
            </a:xfrm>
            <a:custGeom>
              <a:avLst/>
              <a:gdLst/>
              <a:ahLst/>
              <a:cxnLst/>
              <a:rect l="l" t="t" r="r" b="b"/>
              <a:pathLst>
                <a:path w="0" h="31750">
                  <a:moveTo>
                    <a:pt x="0" y="31515"/>
                  </a:moveTo>
                  <a:lnTo>
                    <a:pt x="0" y="0"/>
                  </a:lnTo>
                </a:path>
              </a:pathLst>
            </a:custGeom>
            <a:ln w="4594">
              <a:solidFill>
                <a:srgbClr val="000000"/>
              </a:solidFill>
            </a:ln>
          </p:spPr>
          <p:txBody>
            <a:bodyPr wrap="square" lIns="0" tIns="0" rIns="0" bIns="0" rtlCol="0"/>
            <a:lstStyle/>
            <a:p/>
          </p:txBody>
        </p:sp>
        <p:sp>
          <p:nvSpPr>
            <p:cNvPr id="317" name="object 317" descr=""/>
            <p:cNvSpPr/>
            <p:nvPr/>
          </p:nvSpPr>
          <p:spPr>
            <a:xfrm>
              <a:off x="1871157" y="3367020"/>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18" name="object 318" descr=""/>
            <p:cNvSpPr/>
            <p:nvPr/>
          </p:nvSpPr>
          <p:spPr>
            <a:xfrm>
              <a:off x="1873454" y="1205552"/>
              <a:ext cx="0" cy="26670"/>
            </a:xfrm>
            <a:custGeom>
              <a:avLst/>
              <a:gdLst/>
              <a:ahLst/>
              <a:cxnLst/>
              <a:rect l="l" t="t" r="r" b="b"/>
              <a:pathLst>
                <a:path w="0" h="26669">
                  <a:moveTo>
                    <a:pt x="0" y="0"/>
                  </a:moveTo>
                  <a:lnTo>
                    <a:pt x="0" y="26263"/>
                  </a:lnTo>
                </a:path>
              </a:pathLst>
            </a:custGeom>
            <a:ln w="4594">
              <a:solidFill>
                <a:srgbClr val="000000"/>
              </a:solidFill>
            </a:ln>
          </p:spPr>
          <p:txBody>
            <a:bodyPr wrap="square" lIns="0" tIns="0" rIns="0" bIns="0" rtlCol="0"/>
            <a:lstStyle/>
            <a:p/>
          </p:txBody>
        </p:sp>
        <p:sp>
          <p:nvSpPr>
            <p:cNvPr id="319" name="object 319" descr=""/>
            <p:cNvSpPr/>
            <p:nvPr/>
          </p:nvSpPr>
          <p:spPr>
            <a:xfrm>
              <a:off x="1871157" y="1229190"/>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20" name="object 320" descr=""/>
            <p:cNvSpPr/>
            <p:nvPr/>
          </p:nvSpPr>
          <p:spPr>
            <a:xfrm>
              <a:off x="2158287" y="3369648"/>
              <a:ext cx="0" cy="31750"/>
            </a:xfrm>
            <a:custGeom>
              <a:avLst/>
              <a:gdLst/>
              <a:ahLst/>
              <a:cxnLst/>
              <a:rect l="l" t="t" r="r" b="b"/>
              <a:pathLst>
                <a:path w="0" h="31750">
                  <a:moveTo>
                    <a:pt x="0" y="31515"/>
                  </a:moveTo>
                  <a:lnTo>
                    <a:pt x="0" y="0"/>
                  </a:lnTo>
                </a:path>
              </a:pathLst>
            </a:custGeom>
            <a:ln w="4594">
              <a:solidFill>
                <a:srgbClr val="000000"/>
              </a:solidFill>
            </a:ln>
          </p:spPr>
          <p:txBody>
            <a:bodyPr wrap="square" lIns="0" tIns="0" rIns="0" bIns="0" rtlCol="0"/>
            <a:lstStyle/>
            <a:p/>
          </p:txBody>
        </p:sp>
        <p:sp>
          <p:nvSpPr>
            <p:cNvPr id="321" name="object 321" descr=""/>
            <p:cNvSpPr/>
            <p:nvPr/>
          </p:nvSpPr>
          <p:spPr>
            <a:xfrm>
              <a:off x="2155991" y="3367022"/>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22" name="object 322" descr=""/>
            <p:cNvSpPr/>
            <p:nvPr/>
          </p:nvSpPr>
          <p:spPr>
            <a:xfrm>
              <a:off x="2158287" y="1205554"/>
              <a:ext cx="0" cy="26670"/>
            </a:xfrm>
            <a:custGeom>
              <a:avLst/>
              <a:gdLst/>
              <a:ahLst/>
              <a:cxnLst/>
              <a:rect l="l" t="t" r="r" b="b"/>
              <a:pathLst>
                <a:path w="0" h="26669">
                  <a:moveTo>
                    <a:pt x="0" y="0"/>
                  </a:moveTo>
                  <a:lnTo>
                    <a:pt x="0" y="26263"/>
                  </a:lnTo>
                </a:path>
              </a:pathLst>
            </a:custGeom>
            <a:ln w="4594">
              <a:solidFill>
                <a:srgbClr val="000000"/>
              </a:solidFill>
            </a:ln>
          </p:spPr>
          <p:txBody>
            <a:bodyPr wrap="square" lIns="0" tIns="0" rIns="0" bIns="0" rtlCol="0"/>
            <a:lstStyle/>
            <a:p/>
          </p:txBody>
        </p:sp>
        <p:sp>
          <p:nvSpPr>
            <p:cNvPr id="323" name="object 323" descr=""/>
            <p:cNvSpPr/>
            <p:nvPr/>
          </p:nvSpPr>
          <p:spPr>
            <a:xfrm>
              <a:off x="2155991" y="1229191"/>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24" name="object 324" descr=""/>
            <p:cNvSpPr/>
            <p:nvPr/>
          </p:nvSpPr>
          <p:spPr>
            <a:xfrm>
              <a:off x="2443121" y="3369650"/>
              <a:ext cx="0" cy="31750"/>
            </a:xfrm>
            <a:custGeom>
              <a:avLst/>
              <a:gdLst/>
              <a:ahLst/>
              <a:cxnLst/>
              <a:rect l="l" t="t" r="r" b="b"/>
              <a:pathLst>
                <a:path w="0" h="31750">
                  <a:moveTo>
                    <a:pt x="0" y="31515"/>
                  </a:moveTo>
                  <a:lnTo>
                    <a:pt x="0" y="0"/>
                  </a:lnTo>
                </a:path>
              </a:pathLst>
            </a:custGeom>
            <a:ln w="4594">
              <a:solidFill>
                <a:srgbClr val="000000"/>
              </a:solidFill>
            </a:ln>
          </p:spPr>
          <p:txBody>
            <a:bodyPr wrap="square" lIns="0" tIns="0" rIns="0" bIns="0" rtlCol="0"/>
            <a:lstStyle/>
            <a:p/>
          </p:txBody>
        </p:sp>
        <p:sp>
          <p:nvSpPr>
            <p:cNvPr id="325" name="object 325" descr=""/>
            <p:cNvSpPr/>
            <p:nvPr/>
          </p:nvSpPr>
          <p:spPr>
            <a:xfrm>
              <a:off x="2440824" y="3367023"/>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26" name="object 326" descr=""/>
            <p:cNvSpPr/>
            <p:nvPr/>
          </p:nvSpPr>
          <p:spPr>
            <a:xfrm>
              <a:off x="2443121" y="1205556"/>
              <a:ext cx="0" cy="26670"/>
            </a:xfrm>
            <a:custGeom>
              <a:avLst/>
              <a:gdLst/>
              <a:ahLst/>
              <a:cxnLst/>
              <a:rect l="l" t="t" r="r" b="b"/>
              <a:pathLst>
                <a:path w="0" h="26669">
                  <a:moveTo>
                    <a:pt x="0" y="0"/>
                  </a:moveTo>
                  <a:lnTo>
                    <a:pt x="0" y="26263"/>
                  </a:lnTo>
                </a:path>
              </a:pathLst>
            </a:custGeom>
            <a:ln w="4594">
              <a:solidFill>
                <a:srgbClr val="000000"/>
              </a:solidFill>
            </a:ln>
          </p:spPr>
          <p:txBody>
            <a:bodyPr wrap="square" lIns="0" tIns="0" rIns="0" bIns="0" rtlCol="0"/>
            <a:lstStyle/>
            <a:p/>
          </p:txBody>
        </p:sp>
        <p:sp>
          <p:nvSpPr>
            <p:cNvPr id="327" name="object 327" descr=""/>
            <p:cNvSpPr/>
            <p:nvPr/>
          </p:nvSpPr>
          <p:spPr>
            <a:xfrm>
              <a:off x="2440824" y="1229193"/>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28" name="object 328" descr=""/>
            <p:cNvSpPr/>
            <p:nvPr/>
          </p:nvSpPr>
          <p:spPr>
            <a:xfrm>
              <a:off x="2727954" y="3369651"/>
              <a:ext cx="0" cy="31750"/>
            </a:xfrm>
            <a:custGeom>
              <a:avLst/>
              <a:gdLst/>
              <a:ahLst/>
              <a:cxnLst/>
              <a:rect l="l" t="t" r="r" b="b"/>
              <a:pathLst>
                <a:path w="0" h="31750">
                  <a:moveTo>
                    <a:pt x="0" y="31515"/>
                  </a:moveTo>
                  <a:lnTo>
                    <a:pt x="0" y="0"/>
                  </a:lnTo>
                </a:path>
              </a:pathLst>
            </a:custGeom>
            <a:ln w="4594">
              <a:solidFill>
                <a:srgbClr val="000000"/>
              </a:solidFill>
            </a:ln>
          </p:spPr>
          <p:txBody>
            <a:bodyPr wrap="square" lIns="0" tIns="0" rIns="0" bIns="0" rtlCol="0"/>
            <a:lstStyle/>
            <a:p/>
          </p:txBody>
        </p:sp>
        <p:sp>
          <p:nvSpPr>
            <p:cNvPr id="329" name="object 329" descr=""/>
            <p:cNvSpPr/>
            <p:nvPr/>
          </p:nvSpPr>
          <p:spPr>
            <a:xfrm>
              <a:off x="2725657" y="3367025"/>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30" name="object 330" descr=""/>
            <p:cNvSpPr/>
            <p:nvPr/>
          </p:nvSpPr>
          <p:spPr>
            <a:xfrm>
              <a:off x="2727954" y="1205557"/>
              <a:ext cx="0" cy="26670"/>
            </a:xfrm>
            <a:custGeom>
              <a:avLst/>
              <a:gdLst/>
              <a:ahLst/>
              <a:cxnLst/>
              <a:rect l="l" t="t" r="r" b="b"/>
              <a:pathLst>
                <a:path w="0" h="26669">
                  <a:moveTo>
                    <a:pt x="0" y="0"/>
                  </a:moveTo>
                  <a:lnTo>
                    <a:pt x="0" y="26263"/>
                  </a:lnTo>
                </a:path>
              </a:pathLst>
            </a:custGeom>
            <a:ln w="4594">
              <a:solidFill>
                <a:srgbClr val="000000"/>
              </a:solidFill>
            </a:ln>
          </p:spPr>
          <p:txBody>
            <a:bodyPr wrap="square" lIns="0" tIns="0" rIns="0" bIns="0" rtlCol="0"/>
            <a:lstStyle/>
            <a:p/>
          </p:txBody>
        </p:sp>
        <p:sp>
          <p:nvSpPr>
            <p:cNvPr id="331" name="object 331" descr=""/>
            <p:cNvSpPr/>
            <p:nvPr/>
          </p:nvSpPr>
          <p:spPr>
            <a:xfrm>
              <a:off x="2725657" y="1229194"/>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grpSp>
      <p:sp>
        <p:nvSpPr>
          <p:cNvPr id="332" name="object 332" descr=""/>
          <p:cNvSpPr txBox="1"/>
          <p:nvPr/>
        </p:nvSpPr>
        <p:spPr>
          <a:xfrm>
            <a:off x="670885" y="3404215"/>
            <a:ext cx="2216785" cy="107950"/>
          </a:xfrm>
          <a:prstGeom prst="rect">
            <a:avLst/>
          </a:prstGeom>
        </p:spPr>
        <p:txBody>
          <a:bodyPr wrap="square" lIns="0" tIns="17145" rIns="0" bIns="0" rtlCol="0" vert="horz">
            <a:spAutoFit/>
          </a:bodyPr>
          <a:lstStyle/>
          <a:p>
            <a:pPr marL="12700">
              <a:lnSpc>
                <a:spcPct val="100000"/>
              </a:lnSpc>
              <a:spcBef>
                <a:spcPts val="135"/>
              </a:spcBef>
              <a:tabLst>
                <a:tab pos="283210" algn="l"/>
                <a:tab pos="549910" algn="l"/>
              </a:tabLst>
            </a:pPr>
            <a:r>
              <a:rPr dirty="0" sz="500" spc="-25">
                <a:latin typeface="Arial MT"/>
                <a:cs typeface="Arial MT"/>
              </a:rPr>
              <a:t>0~1</a:t>
            </a:r>
            <a:r>
              <a:rPr dirty="0" sz="500">
                <a:latin typeface="Arial MT"/>
                <a:cs typeface="Arial MT"/>
              </a:rPr>
              <a:t>	</a:t>
            </a:r>
            <a:r>
              <a:rPr dirty="0" sz="500" spc="-20">
                <a:latin typeface="Arial MT"/>
                <a:cs typeface="Arial MT"/>
              </a:rPr>
              <a:t>1~10</a:t>
            </a:r>
            <a:r>
              <a:rPr dirty="0" sz="500">
                <a:latin typeface="Arial MT"/>
                <a:cs typeface="Arial MT"/>
              </a:rPr>
              <a:t>	10~30</a:t>
            </a:r>
            <a:r>
              <a:rPr dirty="0" sz="500" spc="254">
                <a:latin typeface="Arial MT"/>
                <a:cs typeface="Arial MT"/>
              </a:rPr>
              <a:t>  </a:t>
            </a:r>
            <a:r>
              <a:rPr dirty="0" sz="500">
                <a:latin typeface="Arial MT"/>
                <a:cs typeface="Arial MT"/>
              </a:rPr>
              <a:t>30~50</a:t>
            </a:r>
            <a:r>
              <a:rPr dirty="0" sz="500" spc="215">
                <a:latin typeface="Arial MT"/>
                <a:cs typeface="Arial MT"/>
              </a:rPr>
              <a:t>  </a:t>
            </a:r>
            <a:r>
              <a:rPr dirty="0" sz="500">
                <a:latin typeface="Arial MT"/>
                <a:cs typeface="Arial MT"/>
              </a:rPr>
              <a:t>50~100</a:t>
            </a:r>
            <a:r>
              <a:rPr dirty="0" sz="500" spc="310">
                <a:latin typeface="Arial MT"/>
                <a:cs typeface="Arial MT"/>
              </a:rPr>
              <a:t> </a:t>
            </a:r>
            <a:r>
              <a:rPr dirty="0" sz="500" spc="-10">
                <a:latin typeface="Arial MT"/>
                <a:cs typeface="Arial MT"/>
              </a:rPr>
              <a:t>100~500</a:t>
            </a:r>
            <a:r>
              <a:rPr dirty="0" sz="500" spc="135">
                <a:latin typeface="Arial MT"/>
                <a:cs typeface="Arial MT"/>
              </a:rPr>
              <a:t> </a:t>
            </a:r>
            <a:r>
              <a:rPr dirty="0" sz="500" spc="-10">
                <a:latin typeface="Arial MT"/>
                <a:cs typeface="Arial MT"/>
              </a:rPr>
              <a:t>500~10001000~1600</a:t>
            </a:r>
            <a:endParaRPr sz="500">
              <a:latin typeface="Arial MT"/>
              <a:cs typeface="Arial MT"/>
            </a:endParaRPr>
          </a:p>
        </p:txBody>
      </p:sp>
      <p:grpSp>
        <p:nvGrpSpPr>
          <p:cNvPr id="333" name="object 333" descr=""/>
          <p:cNvGrpSpPr/>
          <p:nvPr/>
        </p:nvGrpSpPr>
        <p:grpSpPr>
          <a:xfrm>
            <a:off x="451022" y="3398311"/>
            <a:ext cx="2564765" cy="5715"/>
            <a:chOff x="451022" y="3398311"/>
            <a:chExt cx="2564765" cy="5715"/>
          </a:xfrm>
        </p:grpSpPr>
        <p:sp>
          <p:nvSpPr>
            <p:cNvPr id="334" name="object 334" descr=""/>
            <p:cNvSpPr/>
            <p:nvPr/>
          </p:nvSpPr>
          <p:spPr>
            <a:xfrm>
              <a:off x="453880" y="3401169"/>
              <a:ext cx="23495" cy="0"/>
            </a:xfrm>
            <a:custGeom>
              <a:avLst/>
              <a:gdLst/>
              <a:ahLst/>
              <a:cxnLst/>
              <a:rect l="l" t="t" r="r" b="b"/>
              <a:pathLst>
                <a:path w="23495" h="0">
                  <a:moveTo>
                    <a:pt x="0" y="0"/>
                  </a:moveTo>
                  <a:lnTo>
                    <a:pt x="22970" y="0"/>
                  </a:lnTo>
                </a:path>
              </a:pathLst>
            </a:custGeom>
            <a:ln w="5252">
              <a:solidFill>
                <a:srgbClr val="000000"/>
              </a:solidFill>
            </a:ln>
          </p:spPr>
          <p:txBody>
            <a:bodyPr wrap="square" lIns="0" tIns="0" rIns="0" bIns="0" rtlCol="0"/>
            <a:lstStyle/>
            <a:p/>
          </p:txBody>
        </p:sp>
        <p:sp>
          <p:nvSpPr>
            <p:cNvPr id="335" name="object 335" descr=""/>
            <p:cNvSpPr/>
            <p:nvPr/>
          </p:nvSpPr>
          <p:spPr>
            <a:xfrm>
              <a:off x="474553" y="3398542"/>
              <a:ext cx="5080" cy="5715"/>
            </a:xfrm>
            <a:custGeom>
              <a:avLst/>
              <a:gdLst/>
              <a:ahLst/>
              <a:cxnLst/>
              <a:rect l="l" t="t" r="r" b="b"/>
              <a:pathLst>
                <a:path w="5079"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36" name="object 336" descr=""/>
            <p:cNvSpPr/>
            <p:nvPr/>
          </p:nvSpPr>
          <p:spPr>
            <a:xfrm>
              <a:off x="2985223" y="3401169"/>
              <a:ext cx="27940" cy="0"/>
            </a:xfrm>
            <a:custGeom>
              <a:avLst/>
              <a:gdLst/>
              <a:ahLst/>
              <a:cxnLst/>
              <a:rect l="l" t="t" r="r" b="b"/>
              <a:pathLst>
                <a:path w="27939" h="0">
                  <a:moveTo>
                    <a:pt x="27564" y="0"/>
                  </a:moveTo>
                  <a:lnTo>
                    <a:pt x="0" y="0"/>
                  </a:lnTo>
                </a:path>
              </a:pathLst>
            </a:custGeom>
            <a:ln w="5252">
              <a:solidFill>
                <a:srgbClr val="000000"/>
              </a:solidFill>
            </a:ln>
          </p:spPr>
          <p:txBody>
            <a:bodyPr wrap="square" lIns="0" tIns="0" rIns="0" bIns="0" rtlCol="0"/>
            <a:lstStyle/>
            <a:p/>
          </p:txBody>
        </p:sp>
        <p:sp>
          <p:nvSpPr>
            <p:cNvPr id="337" name="object 337" descr=""/>
            <p:cNvSpPr/>
            <p:nvPr/>
          </p:nvSpPr>
          <p:spPr>
            <a:xfrm>
              <a:off x="2982926" y="3398543"/>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grpSp>
      <p:sp>
        <p:nvSpPr>
          <p:cNvPr id="338" name="object 338" descr=""/>
          <p:cNvSpPr txBox="1"/>
          <p:nvPr/>
        </p:nvSpPr>
        <p:spPr>
          <a:xfrm>
            <a:off x="390645" y="3346450"/>
            <a:ext cx="59055" cy="107950"/>
          </a:xfrm>
          <a:prstGeom prst="rect">
            <a:avLst/>
          </a:prstGeom>
        </p:spPr>
        <p:txBody>
          <a:bodyPr wrap="square" lIns="0" tIns="17145" rIns="0" bIns="0" rtlCol="0" vert="horz">
            <a:spAutoFit/>
          </a:bodyPr>
          <a:lstStyle/>
          <a:p>
            <a:pPr marL="12700">
              <a:lnSpc>
                <a:spcPct val="100000"/>
              </a:lnSpc>
              <a:spcBef>
                <a:spcPts val="135"/>
              </a:spcBef>
            </a:pPr>
            <a:r>
              <a:rPr dirty="0" sz="500" spc="-50">
                <a:latin typeface="Arial MT"/>
                <a:cs typeface="Arial MT"/>
              </a:rPr>
              <a:t>0</a:t>
            </a:r>
            <a:endParaRPr sz="500">
              <a:latin typeface="Arial MT"/>
              <a:cs typeface="Arial MT"/>
            </a:endParaRPr>
          </a:p>
        </p:txBody>
      </p:sp>
      <p:grpSp>
        <p:nvGrpSpPr>
          <p:cNvPr id="339" name="object 339" descr=""/>
          <p:cNvGrpSpPr/>
          <p:nvPr/>
        </p:nvGrpSpPr>
        <p:grpSpPr>
          <a:xfrm>
            <a:off x="451022" y="3083153"/>
            <a:ext cx="2564765" cy="5715"/>
            <a:chOff x="451022" y="3083153"/>
            <a:chExt cx="2564765" cy="5715"/>
          </a:xfrm>
        </p:grpSpPr>
        <p:sp>
          <p:nvSpPr>
            <p:cNvPr id="340" name="object 340" descr=""/>
            <p:cNvSpPr/>
            <p:nvPr/>
          </p:nvSpPr>
          <p:spPr>
            <a:xfrm>
              <a:off x="453880" y="3086010"/>
              <a:ext cx="23495" cy="0"/>
            </a:xfrm>
            <a:custGeom>
              <a:avLst/>
              <a:gdLst/>
              <a:ahLst/>
              <a:cxnLst/>
              <a:rect l="l" t="t" r="r" b="b"/>
              <a:pathLst>
                <a:path w="23495" h="0">
                  <a:moveTo>
                    <a:pt x="0" y="0"/>
                  </a:moveTo>
                  <a:lnTo>
                    <a:pt x="22970" y="0"/>
                  </a:lnTo>
                </a:path>
              </a:pathLst>
            </a:custGeom>
            <a:ln w="5252">
              <a:solidFill>
                <a:srgbClr val="000000"/>
              </a:solidFill>
            </a:ln>
          </p:spPr>
          <p:txBody>
            <a:bodyPr wrap="square" lIns="0" tIns="0" rIns="0" bIns="0" rtlCol="0"/>
            <a:lstStyle/>
            <a:p/>
          </p:txBody>
        </p:sp>
        <p:sp>
          <p:nvSpPr>
            <p:cNvPr id="341" name="object 341" descr=""/>
            <p:cNvSpPr/>
            <p:nvPr/>
          </p:nvSpPr>
          <p:spPr>
            <a:xfrm>
              <a:off x="474553" y="3083385"/>
              <a:ext cx="5080" cy="5715"/>
            </a:xfrm>
            <a:custGeom>
              <a:avLst/>
              <a:gdLst/>
              <a:ahLst/>
              <a:cxnLst/>
              <a:rect l="l" t="t" r="r" b="b"/>
              <a:pathLst>
                <a:path w="5079"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42" name="object 342" descr=""/>
            <p:cNvSpPr/>
            <p:nvPr/>
          </p:nvSpPr>
          <p:spPr>
            <a:xfrm>
              <a:off x="2985223" y="3086011"/>
              <a:ext cx="27940" cy="0"/>
            </a:xfrm>
            <a:custGeom>
              <a:avLst/>
              <a:gdLst/>
              <a:ahLst/>
              <a:cxnLst/>
              <a:rect l="l" t="t" r="r" b="b"/>
              <a:pathLst>
                <a:path w="27939" h="0">
                  <a:moveTo>
                    <a:pt x="27564" y="0"/>
                  </a:moveTo>
                  <a:lnTo>
                    <a:pt x="0" y="0"/>
                  </a:lnTo>
                </a:path>
              </a:pathLst>
            </a:custGeom>
            <a:ln w="5252">
              <a:solidFill>
                <a:srgbClr val="000000"/>
              </a:solidFill>
            </a:ln>
          </p:spPr>
          <p:txBody>
            <a:bodyPr wrap="square" lIns="0" tIns="0" rIns="0" bIns="0" rtlCol="0"/>
            <a:lstStyle/>
            <a:p/>
          </p:txBody>
        </p:sp>
        <p:sp>
          <p:nvSpPr>
            <p:cNvPr id="343" name="object 343" descr=""/>
            <p:cNvSpPr/>
            <p:nvPr/>
          </p:nvSpPr>
          <p:spPr>
            <a:xfrm>
              <a:off x="2982926" y="3083385"/>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grpSp>
      <p:sp>
        <p:nvSpPr>
          <p:cNvPr id="344" name="object 344" descr=""/>
          <p:cNvSpPr txBox="1"/>
          <p:nvPr/>
        </p:nvSpPr>
        <p:spPr>
          <a:xfrm>
            <a:off x="358486" y="3031291"/>
            <a:ext cx="90170" cy="107950"/>
          </a:xfrm>
          <a:prstGeom prst="rect">
            <a:avLst/>
          </a:prstGeom>
        </p:spPr>
        <p:txBody>
          <a:bodyPr wrap="square" lIns="0" tIns="17145" rIns="0" bIns="0" rtlCol="0" vert="horz">
            <a:spAutoFit/>
          </a:bodyPr>
          <a:lstStyle/>
          <a:p>
            <a:pPr marL="12700">
              <a:lnSpc>
                <a:spcPct val="100000"/>
              </a:lnSpc>
              <a:spcBef>
                <a:spcPts val="135"/>
              </a:spcBef>
            </a:pPr>
            <a:r>
              <a:rPr dirty="0" sz="500" spc="-25">
                <a:latin typeface="Arial MT"/>
                <a:cs typeface="Arial MT"/>
              </a:rPr>
              <a:t>10</a:t>
            </a:r>
            <a:endParaRPr sz="500">
              <a:latin typeface="Arial MT"/>
              <a:cs typeface="Arial MT"/>
            </a:endParaRPr>
          </a:p>
        </p:txBody>
      </p:sp>
      <p:grpSp>
        <p:nvGrpSpPr>
          <p:cNvPr id="345" name="object 345" descr=""/>
          <p:cNvGrpSpPr/>
          <p:nvPr/>
        </p:nvGrpSpPr>
        <p:grpSpPr>
          <a:xfrm>
            <a:off x="451022" y="2767995"/>
            <a:ext cx="2564765" cy="5715"/>
            <a:chOff x="451022" y="2767995"/>
            <a:chExt cx="2564765" cy="5715"/>
          </a:xfrm>
        </p:grpSpPr>
        <p:sp>
          <p:nvSpPr>
            <p:cNvPr id="346" name="object 346" descr=""/>
            <p:cNvSpPr/>
            <p:nvPr/>
          </p:nvSpPr>
          <p:spPr>
            <a:xfrm>
              <a:off x="453880" y="2770853"/>
              <a:ext cx="23495" cy="0"/>
            </a:xfrm>
            <a:custGeom>
              <a:avLst/>
              <a:gdLst/>
              <a:ahLst/>
              <a:cxnLst/>
              <a:rect l="l" t="t" r="r" b="b"/>
              <a:pathLst>
                <a:path w="23495" h="0">
                  <a:moveTo>
                    <a:pt x="0" y="0"/>
                  </a:moveTo>
                  <a:lnTo>
                    <a:pt x="22970" y="0"/>
                  </a:lnTo>
                </a:path>
              </a:pathLst>
            </a:custGeom>
            <a:ln w="5252">
              <a:solidFill>
                <a:srgbClr val="000000"/>
              </a:solidFill>
            </a:ln>
          </p:spPr>
          <p:txBody>
            <a:bodyPr wrap="square" lIns="0" tIns="0" rIns="0" bIns="0" rtlCol="0"/>
            <a:lstStyle/>
            <a:p/>
          </p:txBody>
        </p:sp>
        <p:sp>
          <p:nvSpPr>
            <p:cNvPr id="347" name="object 347" descr=""/>
            <p:cNvSpPr/>
            <p:nvPr/>
          </p:nvSpPr>
          <p:spPr>
            <a:xfrm>
              <a:off x="474553" y="2768227"/>
              <a:ext cx="5080" cy="5715"/>
            </a:xfrm>
            <a:custGeom>
              <a:avLst/>
              <a:gdLst/>
              <a:ahLst/>
              <a:cxnLst/>
              <a:rect l="l" t="t" r="r" b="b"/>
              <a:pathLst>
                <a:path w="5079"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48" name="object 348" descr=""/>
            <p:cNvSpPr/>
            <p:nvPr/>
          </p:nvSpPr>
          <p:spPr>
            <a:xfrm>
              <a:off x="2985223" y="2770853"/>
              <a:ext cx="27940" cy="0"/>
            </a:xfrm>
            <a:custGeom>
              <a:avLst/>
              <a:gdLst/>
              <a:ahLst/>
              <a:cxnLst/>
              <a:rect l="l" t="t" r="r" b="b"/>
              <a:pathLst>
                <a:path w="27939" h="0">
                  <a:moveTo>
                    <a:pt x="27564" y="0"/>
                  </a:moveTo>
                  <a:lnTo>
                    <a:pt x="0" y="0"/>
                  </a:lnTo>
                </a:path>
              </a:pathLst>
            </a:custGeom>
            <a:ln w="5252">
              <a:solidFill>
                <a:srgbClr val="000000"/>
              </a:solidFill>
            </a:ln>
          </p:spPr>
          <p:txBody>
            <a:bodyPr wrap="square" lIns="0" tIns="0" rIns="0" bIns="0" rtlCol="0"/>
            <a:lstStyle/>
            <a:p/>
          </p:txBody>
        </p:sp>
        <p:sp>
          <p:nvSpPr>
            <p:cNvPr id="349" name="object 349" descr=""/>
            <p:cNvSpPr/>
            <p:nvPr/>
          </p:nvSpPr>
          <p:spPr>
            <a:xfrm>
              <a:off x="2982926" y="2768227"/>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grpSp>
      <p:sp>
        <p:nvSpPr>
          <p:cNvPr id="350" name="object 350" descr=""/>
          <p:cNvSpPr txBox="1"/>
          <p:nvPr/>
        </p:nvSpPr>
        <p:spPr>
          <a:xfrm>
            <a:off x="358486" y="2716133"/>
            <a:ext cx="90170" cy="107950"/>
          </a:xfrm>
          <a:prstGeom prst="rect">
            <a:avLst/>
          </a:prstGeom>
        </p:spPr>
        <p:txBody>
          <a:bodyPr wrap="square" lIns="0" tIns="17145" rIns="0" bIns="0" rtlCol="0" vert="horz">
            <a:spAutoFit/>
          </a:bodyPr>
          <a:lstStyle/>
          <a:p>
            <a:pPr marL="12700">
              <a:lnSpc>
                <a:spcPct val="100000"/>
              </a:lnSpc>
              <a:spcBef>
                <a:spcPts val="135"/>
              </a:spcBef>
            </a:pPr>
            <a:r>
              <a:rPr dirty="0" sz="500" spc="-25">
                <a:latin typeface="Arial MT"/>
                <a:cs typeface="Arial MT"/>
              </a:rPr>
              <a:t>20</a:t>
            </a:r>
            <a:endParaRPr sz="500">
              <a:latin typeface="Arial MT"/>
              <a:cs typeface="Arial MT"/>
            </a:endParaRPr>
          </a:p>
        </p:txBody>
      </p:sp>
      <p:grpSp>
        <p:nvGrpSpPr>
          <p:cNvPr id="351" name="object 351" descr=""/>
          <p:cNvGrpSpPr/>
          <p:nvPr/>
        </p:nvGrpSpPr>
        <p:grpSpPr>
          <a:xfrm>
            <a:off x="451022" y="2452838"/>
            <a:ext cx="2564765" cy="5715"/>
            <a:chOff x="451022" y="2452838"/>
            <a:chExt cx="2564765" cy="5715"/>
          </a:xfrm>
        </p:grpSpPr>
        <p:sp>
          <p:nvSpPr>
            <p:cNvPr id="352" name="object 352" descr=""/>
            <p:cNvSpPr/>
            <p:nvPr/>
          </p:nvSpPr>
          <p:spPr>
            <a:xfrm>
              <a:off x="453880" y="2455695"/>
              <a:ext cx="23495" cy="0"/>
            </a:xfrm>
            <a:custGeom>
              <a:avLst/>
              <a:gdLst/>
              <a:ahLst/>
              <a:cxnLst/>
              <a:rect l="l" t="t" r="r" b="b"/>
              <a:pathLst>
                <a:path w="23495" h="0">
                  <a:moveTo>
                    <a:pt x="0" y="0"/>
                  </a:moveTo>
                  <a:lnTo>
                    <a:pt x="22970" y="0"/>
                  </a:lnTo>
                </a:path>
              </a:pathLst>
            </a:custGeom>
            <a:ln w="5252">
              <a:solidFill>
                <a:srgbClr val="000000"/>
              </a:solidFill>
            </a:ln>
          </p:spPr>
          <p:txBody>
            <a:bodyPr wrap="square" lIns="0" tIns="0" rIns="0" bIns="0" rtlCol="0"/>
            <a:lstStyle/>
            <a:p/>
          </p:txBody>
        </p:sp>
        <p:sp>
          <p:nvSpPr>
            <p:cNvPr id="353" name="object 353" descr=""/>
            <p:cNvSpPr/>
            <p:nvPr/>
          </p:nvSpPr>
          <p:spPr>
            <a:xfrm>
              <a:off x="474553" y="2453069"/>
              <a:ext cx="5080" cy="5715"/>
            </a:xfrm>
            <a:custGeom>
              <a:avLst/>
              <a:gdLst/>
              <a:ahLst/>
              <a:cxnLst/>
              <a:rect l="l" t="t" r="r" b="b"/>
              <a:pathLst>
                <a:path w="5079"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54" name="object 354" descr=""/>
            <p:cNvSpPr/>
            <p:nvPr/>
          </p:nvSpPr>
          <p:spPr>
            <a:xfrm>
              <a:off x="2985223" y="2455696"/>
              <a:ext cx="27940" cy="0"/>
            </a:xfrm>
            <a:custGeom>
              <a:avLst/>
              <a:gdLst/>
              <a:ahLst/>
              <a:cxnLst/>
              <a:rect l="l" t="t" r="r" b="b"/>
              <a:pathLst>
                <a:path w="27939" h="0">
                  <a:moveTo>
                    <a:pt x="27564" y="0"/>
                  </a:moveTo>
                  <a:lnTo>
                    <a:pt x="0" y="0"/>
                  </a:lnTo>
                </a:path>
              </a:pathLst>
            </a:custGeom>
            <a:ln w="5252">
              <a:solidFill>
                <a:srgbClr val="000000"/>
              </a:solidFill>
            </a:ln>
          </p:spPr>
          <p:txBody>
            <a:bodyPr wrap="square" lIns="0" tIns="0" rIns="0" bIns="0" rtlCol="0"/>
            <a:lstStyle/>
            <a:p/>
          </p:txBody>
        </p:sp>
        <p:sp>
          <p:nvSpPr>
            <p:cNvPr id="355" name="object 355" descr=""/>
            <p:cNvSpPr/>
            <p:nvPr/>
          </p:nvSpPr>
          <p:spPr>
            <a:xfrm>
              <a:off x="2982926" y="2453070"/>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grpSp>
      <p:sp>
        <p:nvSpPr>
          <p:cNvPr id="356" name="object 356" descr=""/>
          <p:cNvSpPr txBox="1"/>
          <p:nvPr/>
        </p:nvSpPr>
        <p:spPr>
          <a:xfrm>
            <a:off x="358486" y="2400975"/>
            <a:ext cx="90170" cy="107950"/>
          </a:xfrm>
          <a:prstGeom prst="rect">
            <a:avLst/>
          </a:prstGeom>
        </p:spPr>
        <p:txBody>
          <a:bodyPr wrap="square" lIns="0" tIns="17145" rIns="0" bIns="0" rtlCol="0" vert="horz">
            <a:spAutoFit/>
          </a:bodyPr>
          <a:lstStyle/>
          <a:p>
            <a:pPr marL="12700">
              <a:lnSpc>
                <a:spcPct val="100000"/>
              </a:lnSpc>
              <a:spcBef>
                <a:spcPts val="135"/>
              </a:spcBef>
            </a:pPr>
            <a:r>
              <a:rPr dirty="0" sz="500" spc="-25">
                <a:latin typeface="Arial MT"/>
                <a:cs typeface="Arial MT"/>
              </a:rPr>
              <a:t>30</a:t>
            </a:r>
            <a:endParaRPr sz="500">
              <a:latin typeface="Arial MT"/>
              <a:cs typeface="Arial MT"/>
            </a:endParaRPr>
          </a:p>
        </p:txBody>
      </p:sp>
      <p:grpSp>
        <p:nvGrpSpPr>
          <p:cNvPr id="357" name="object 357" descr=""/>
          <p:cNvGrpSpPr/>
          <p:nvPr/>
        </p:nvGrpSpPr>
        <p:grpSpPr>
          <a:xfrm>
            <a:off x="451022" y="2142932"/>
            <a:ext cx="2564765" cy="5715"/>
            <a:chOff x="451022" y="2142932"/>
            <a:chExt cx="2564765" cy="5715"/>
          </a:xfrm>
        </p:grpSpPr>
        <p:sp>
          <p:nvSpPr>
            <p:cNvPr id="358" name="object 358" descr=""/>
            <p:cNvSpPr/>
            <p:nvPr/>
          </p:nvSpPr>
          <p:spPr>
            <a:xfrm>
              <a:off x="453880" y="2145790"/>
              <a:ext cx="23495" cy="0"/>
            </a:xfrm>
            <a:custGeom>
              <a:avLst/>
              <a:gdLst/>
              <a:ahLst/>
              <a:cxnLst/>
              <a:rect l="l" t="t" r="r" b="b"/>
              <a:pathLst>
                <a:path w="23495" h="0">
                  <a:moveTo>
                    <a:pt x="0" y="0"/>
                  </a:moveTo>
                  <a:lnTo>
                    <a:pt x="22970" y="0"/>
                  </a:lnTo>
                </a:path>
              </a:pathLst>
            </a:custGeom>
            <a:ln w="5252">
              <a:solidFill>
                <a:srgbClr val="000000"/>
              </a:solidFill>
            </a:ln>
          </p:spPr>
          <p:txBody>
            <a:bodyPr wrap="square" lIns="0" tIns="0" rIns="0" bIns="0" rtlCol="0"/>
            <a:lstStyle/>
            <a:p/>
          </p:txBody>
        </p:sp>
        <p:sp>
          <p:nvSpPr>
            <p:cNvPr id="359" name="object 359" descr=""/>
            <p:cNvSpPr/>
            <p:nvPr/>
          </p:nvSpPr>
          <p:spPr>
            <a:xfrm>
              <a:off x="474553" y="2143164"/>
              <a:ext cx="5080" cy="5715"/>
            </a:xfrm>
            <a:custGeom>
              <a:avLst/>
              <a:gdLst/>
              <a:ahLst/>
              <a:cxnLst/>
              <a:rect l="l" t="t" r="r" b="b"/>
              <a:pathLst>
                <a:path w="5079"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60" name="object 360" descr=""/>
            <p:cNvSpPr/>
            <p:nvPr/>
          </p:nvSpPr>
          <p:spPr>
            <a:xfrm>
              <a:off x="2985223" y="2145790"/>
              <a:ext cx="27940" cy="0"/>
            </a:xfrm>
            <a:custGeom>
              <a:avLst/>
              <a:gdLst/>
              <a:ahLst/>
              <a:cxnLst/>
              <a:rect l="l" t="t" r="r" b="b"/>
              <a:pathLst>
                <a:path w="27939" h="0">
                  <a:moveTo>
                    <a:pt x="27564" y="0"/>
                  </a:moveTo>
                  <a:lnTo>
                    <a:pt x="0" y="0"/>
                  </a:lnTo>
                </a:path>
              </a:pathLst>
            </a:custGeom>
            <a:ln w="5252">
              <a:solidFill>
                <a:srgbClr val="000000"/>
              </a:solidFill>
            </a:ln>
          </p:spPr>
          <p:txBody>
            <a:bodyPr wrap="square" lIns="0" tIns="0" rIns="0" bIns="0" rtlCol="0"/>
            <a:lstStyle/>
            <a:p/>
          </p:txBody>
        </p:sp>
        <p:sp>
          <p:nvSpPr>
            <p:cNvPr id="361" name="object 361" descr=""/>
            <p:cNvSpPr/>
            <p:nvPr/>
          </p:nvSpPr>
          <p:spPr>
            <a:xfrm>
              <a:off x="2982926" y="2143164"/>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grpSp>
      <p:sp>
        <p:nvSpPr>
          <p:cNvPr id="362" name="object 362" descr=""/>
          <p:cNvSpPr txBox="1"/>
          <p:nvPr/>
        </p:nvSpPr>
        <p:spPr>
          <a:xfrm>
            <a:off x="358486" y="2091071"/>
            <a:ext cx="90170" cy="107950"/>
          </a:xfrm>
          <a:prstGeom prst="rect">
            <a:avLst/>
          </a:prstGeom>
        </p:spPr>
        <p:txBody>
          <a:bodyPr wrap="square" lIns="0" tIns="17145" rIns="0" bIns="0" rtlCol="0" vert="horz">
            <a:spAutoFit/>
          </a:bodyPr>
          <a:lstStyle/>
          <a:p>
            <a:pPr marL="12700">
              <a:lnSpc>
                <a:spcPct val="100000"/>
              </a:lnSpc>
              <a:spcBef>
                <a:spcPts val="135"/>
              </a:spcBef>
            </a:pPr>
            <a:r>
              <a:rPr dirty="0" sz="500" spc="-25">
                <a:latin typeface="Arial MT"/>
                <a:cs typeface="Arial MT"/>
              </a:rPr>
              <a:t>40</a:t>
            </a:r>
            <a:endParaRPr sz="500">
              <a:latin typeface="Arial MT"/>
              <a:cs typeface="Arial MT"/>
            </a:endParaRPr>
          </a:p>
        </p:txBody>
      </p:sp>
      <p:grpSp>
        <p:nvGrpSpPr>
          <p:cNvPr id="363" name="object 363" descr=""/>
          <p:cNvGrpSpPr/>
          <p:nvPr/>
        </p:nvGrpSpPr>
        <p:grpSpPr>
          <a:xfrm>
            <a:off x="451022" y="1827775"/>
            <a:ext cx="2564765" cy="5715"/>
            <a:chOff x="451022" y="1827775"/>
            <a:chExt cx="2564765" cy="5715"/>
          </a:xfrm>
        </p:grpSpPr>
        <p:sp>
          <p:nvSpPr>
            <p:cNvPr id="364" name="object 364" descr=""/>
            <p:cNvSpPr/>
            <p:nvPr/>
          </p:nvSpPr>
          <p:spPr>
            <a:xfrm>
              <a:off x="453880" y="1830632"/>
              <a:ext cx="23495" cy="0"/>
            </a:xfrm>
            <a:custGeom>
              <a:avLst/>
              <a:gdLst/>
              <a:ahLst/>
              <a:cxnLst/>
              <a:rect l="l" t="t" r="r" b="b"/>
              <a:pathLst>
                <a:path w="23495" h="0">
                  <a:moveTo>
                    <a:pt x="0" y="0"/>
                  </a:moveTo>
                  <a:lnTo>
                    <a:pt x="22970" y="0"/>
                  </a:lnTo>
                </a:path>
              </a:pathLst>
            </a:custGeom>
            <a:ln w="5252">
              <a:solidFill>
                <a:srgbClr val="000000"/>
              </a:solidFill>
            </a:ln>
          </p:spPr>
          <p:txBody>
            <a:bodyPr wrap="square" lIns="0" tIns="0" rIns="0" bIns="0" rtlCol="0"/>
            <a:lstStyle/>
            <a:p/>
          </p:txBody>
        </p:sp>
        <p:sp>
          <p:nvSpPr>
            <p:cNvPr id="365" name="object 365" descr=""/>
            <p:cNvSpPr/>
            <p:nvPr/>
          </p:nvSpPr>
          <p:spPr>
            <a:xfrm>
              <a:off x="474553" y="1828006"/>
              <a:ext cx="5080" cy="5715"/>
            </a:xfrm>
            <a:custGeom>
              <a:avLst/>
              <a:gdLst/>
              <a:ahLst/>
              <a:cxnLst/>
              <a:rect l="l" t="t" r="r" b="b"/>
              <a:pathLst>
                <a:path w="5079"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66" name="object 366" descr=""/>
            <p:cNvSpPr/>
            <p:nvPr/>
          </p:nvSpPr>
          <p:spPr>
            <a:xfrm>
              <a:off x="2985223" y="1830633"/>
              <a:ext cx="27940" cy="0"/>
            </a:xfrm>
            <a:custGeom>
              <a:avLst/>
              <a:gdLst/>
              <a:ahLst/>
              <a:cxnLst/>
              <a:rect l="l" t="t" r="r" b="b"/>
              <a:pathLst>
                <a:path w="27939" h="0">
                  <a:moveTo>
                    <a:pt x="27564" y="0"/>
                  </a:moveTo>
                  <a:lnTo>
                    <a:pt x="0" y="0"/>
                  </a:lnTo>
                </a:path>
              </a:pathLst>
            </a:custGeom>
            <a:ln w="5252">
              <a:solidFill>
                <a:srgbClr val="000000"/>
              </a:solidFill>
            </a:ln>
          </p:spPr>
          <p:txBody>
            <a:bodyPr wrap="square" lIns="0" tIns="0" rIns="0" bIns="0" rtlCol="0"/>
            <a:lstStyle/>
            <a:p/>
          </p:txBody>
        </p:sp>
        <p:sp>
          <p:nvSpPr>
            <p:cNvPr id="367" name="object 367" descr=""/>
            <p:cNvSpPr/>
            <p:nvPr/>
          </p:nvSpPr>
          <p:spPr>
            <a:xfrm>
              <a:off x="2982926" y="1828007"/>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grpSp>
      <p:sp>
        <p:nvSpPr>
          <p:cNvPr id="368" name="object 368" descr=""/>
          <p:cNvSpPr txBox="1"/>
          <p:nvPr/>
        </p:nvSpPr>
        <p:spPr>
          <a:xfrm>
            <a:off x="358486" y="1775913"/>
            <a:ext cx="90170" cy="107950"/>
          </a:xfrm>
          <a:prstGeom prst="rect">
            <a:avLst/>
          </a:prstGeom>
        </p:spPr>
        <p:txBody>
          <a:bodyPr wrap="square" lIns="0" tIns="17145" rIns="0" bIns="0" rtlCol="0" vert="horz">
            <a:spAutoFit/>
          </a:bodyPr>
          <a:lstStyle/>
          <a:p>
            <a:pPr marL="12700">
              <a:lnSpc>
                <a:spcPct val="100000"/>
              </a:lnSpc>
              <a:spcBef>
                <a:spcPts val="135"/>
              </a:spcBef>
            </a:pPr>
            <a:r>
              <a:rPr dirty="0" sz="500" spc="-25">
                <a:latin typeface="Arial MT"/>
                <a:cs typeface="Arial MT"/>
              </a:rPr>
              <a:t>50</a:t>
            </a:r>
            <a:endParaRPr sz="500">
              <a:latin typeface="Arial MT"/>
              <a:cs typeface="Arial MT"/>
            </a:endParaRPr>
          </a:p>
        </p:txBody>
      </p:sp>
      <p:grpSp>
        <p:nvGrpSpPr>
          <p:cNvPr id="369" name="object 369" descr=""/>
          <p:cNvGrpSpPr/>
          <p:nvPr/>
        </p:nvGrpSpPr>
        <p:grpSpPr>
          <a:xfrm>
            <a:off x="451022" y="1512617"/>
            <a:ext cx="2564765" cy="5715"/>
            <a:chOff x="451022" y="1512617"/>
            <a:chExt cx="2564765" cy="5715"/>
          </a:xfrm>
        </p:grpSpPr>
        <p:sp>
          <p:nvSpPr>
            <p:cNvPr id="370" name="object 370" descr=""/>
            <p:cNvSpPr/>
            <p:nvPr/>
          </p:nvSpPr>
          <p:spPr>
            <a:xfrm>
              <a:off x="453880" y="1515474"/>
              <a:ext cx="23495" cy="0"/>
            </a:xfrm>
            <a:custGeom>
              <a:avLst/>
              <a:gdLst/>
              <a:ahLst/>
              <a:cxnLst/>
              <a:rect l="l" t="t" r="r" b="b"/>
              <a:pathLst>
                <a:path w="23495" h="0">
                  <a:moveTo>
                    <a:pt x="0" y="0"/>
                  </a:moveTo>
                  <a:lnTo>
                    <a:pt x="22970" y="0"/>
                  </a:lnTo>
                </a:path>
              </a:pathLst>
            </a:custGeom>
            <a:ln w="5252">
              <a:solidFill>
                <a:srgbClr val="000000"/>
              </a:solidFill>
            </a:ln>
          </p:spPr>
          <p:txBody>
            <a:bodyPr wrap="square" lIns="0" tIns="0" rIns="0" bIns="0" rtlCol="0"/>
            <a:lstStyle/>
            <a:p/>
          </p:txBody>
        </p:sp>
        <p:sp>
          <p:nvSpPr>
            <p:cNvPr id="371" name="object 371" descr=""/>
            <p:cNvSpPr/>
            <p:nvPr/>
          </p:nvSpPr>
          <p:spPr>
            <a:xfrm>
              <a:off x="474553" y="1512848"/>
              <a:ext cx="5080" cy="5715"/>
            </a:xfrm>
            <a:custGeom>
              <a:avLst/>
              <a:gdLst/>
              <a:ahLst/>
              <a:cxnLst/>
              <a:rect l="l" t="t" r="r" b="b"/>
              <a:pathLst>
                <a:path w="5079"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72" name="object 372" descr=""/>
            <p:cNvSpPr/>
            <p:nvPr/>
          </p:nvSpPr>
          <p:spPr>
            <a:xfrm>
              <a:off x="2985223" y="1515475"/>
              <a:ext cx="27940" cy="0"/>
            </a:xfrm>
            <a:custGeom>
              <a:avLst/>
              <a:gdLst/>
              <a:ahLst/>
              <a:cxnLst/>
              <a:rect l="l" t="t" r="r" b="b"/>
              <a:pathLst>
                <a:path w="27939" h="0">
                  <a:moveTo>
                    <a:pt x="27564" y="0"/>
                  </a:moveTo>
                  <a:lnTo>
                    <a:pt x="0" y="0"/>
                  </a:lnTo>
                </a:path>
              </a:pathLst>
            </a:custGeom>
            <a:ln w="5252">
              <a:solidFill>
                <a:srgbClr val="000000"/>
              </a:solidFill>
            </a:ln>
          </p:spPr>
          <p:txBody>
            <a:bodyPr wrap="square" lIns="0" tIns="0" rIns="0" bIns="0" rtlCol="0"/>
            <a:lstStyle/>
            <a:p/>
          </p:txBody>
        </p:sp>
        <p:sp>
          <p:nvSpPr>
            <p:cNvPr id="373" name="object 373" descr=""/>
            <p:cNvSpPr/>
            <p:nvPr/>
          </p:nvSpPr>
          <p:spPr>
            <a:xfrm>
              <a:off x="2982926" y="1512849"/>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grpSp>
      <p:sp>
        <p:nvSpPr>
          <p:cNvPr id="374" name="object 374" descr=""/>
          <p:cNvSpPr txBox="1"/>
          <p:nvPr/>
        </p:nvSpPr>
        <p:spPr>
          <a:xfrm>
            <a:off x="263913" y="1486532"/>
            <a:ext cx="210185" cy="107950"/>
          </a:xfrm>
          <a:prstGeom prst="rect">
            <a:avLst/>
          </a:prstGeom>
        </p:spPr>
        <p:txBody>
          <a:bodyPr wrap="square" lIns="0" tIns="17145" rIns="0" bIns="0" rtlCol="0" vert="horz">
            <a:spAutoFit/>
          </a:bodyPr>
          <a:lstStyle/>
          <a:p>
            <a:pPr marL="38100">
              <a:lnSpc>
                <a:spcPct val="100000"/>
              </a:lnSpc>
              <a:spcBef>
                <a:spcPts val="135"/>
              </a:spcBef>
            </a:pPr>
            <a:r>
              <a:rPr dirty="0" sz="500" spc="-20">
                <a:latin typeface="Arial MT"/>
                <a:cs typeface="Arial MT"/>
              </a:rPr>
              <a:t>10</a:t>
            </a:r>
            <a:r>
              <a:rPr dirty="0" baseline="22222" sz="750" spc="-30">
                <a:latin typeface="Arial MT"/>
                <a:cs typeface="Arial MT"/>
              </a:rPr>
              <a:t>6</a:t>
            </a:r>
            <a:r>
              <a:rPr dirty="0" sz="500" spc="-20">
                <a:latin typeface="Arial MT"/>
                <a:cs typeface="Arial MT"/>
              </a:rPr>
              <a:t>0</a:t>
            </a:r>
            <a:r>
              <a:rPr dirty="0" baseline="22222" sz="750" spc="-30">
                <a:latin typeface="Arial MT"/>
                <a:cs typeface="Arial MT"/>
              </a:rPr>
              <a:t>0</a:t>
            </a:r>
            <a:endParaRPr baseline="22222" sz="750">
              <a:latin typeface="Arial MT"/>
              <a:cs typeface="Arial MT"/>
            </a:endParaRPr>
          </a:p>
        </p:txBody>
      </p:sp>
      <p:grpSp>
        <p:nvGrpSpPr>
          <p:cNvPr id="375" name="object 375" descr=""/>
          <p:cNvGrpSpPr/>
          <p:nvPr/>
        </p:nvGrpSpPr>
        <p:grpSpPr>
          <a:xfrm>
            <a:off x="451022" y="1202712"/>
            <a:ext cx="2564765" cy="5715"/>
            <a:chOff x="451022" y="1202712"/>
            <a:chExt cx="2564765" cy="5715"/>
          </a:xfrm>
        </p:grpSpPr>
        <p:sp>
          <p:nvSpPr>
            <p:cNvPr id="376" name="object 376" descr=""/>
            <p:cNvSpPr/>
            <p:nvPr/>
          </p:nvSpPr>
          <p:spPr>
            <a:xfrm>
              <a:off x="453880" y="1205570"/>
              <a:ext cx="23495" cy="0"/>
            </a:xfrm>
            <a:custGeom>
              <a:avLst/>
              <a:gdLst/>
              <a:ahLst/>
              <a:cxnLst/>
              <a:rect l="l" t="t" r="r" b="b"/>
              <a:pathLst>
                <a:path w="23495" h="0">
                  <a:moveTo>
                    <a:pt x="0" y="0"/>
                  </a:moveTo>
                  <a:lnTo>
                    <a:pt x="22970" y="0"/>
                  </a:lnTo>
                </a:path>
              </a:pathLst>
            </a:custGeom>
            <a:ln w="5252">
              <a:solidFill>
                <a:srgbClr val="000000"/>
              </a:solidFill>
            </a:ln>
          </p:spPr>
          <p:txBody>
            <a:bodyPr wrap="square" lIns="0" tIns="0" rIns="0" bIns="0" rtlCol="0"/>
            <a:lstStyle/>
            <a:p/>
          </p:txBody>
        </p:sp>
        <p:sp>
          <p:nvSpPr>
            <p:cNvPr id="377" name="object 377" descr=""/>
            <p:cNvSpPr/>
            <p:nvPr/>
          </p:nvSpPr>
          <p:spPr>
            <a:xfrm>
              <a:off x="474553" y="1202944"/>
              <a:ext cx="5080" cy="5715"/>
            </a:xfrm>
            <a:custGeom>
              <a:avLst/>
              <a:gdLst/>
              <a:ahLst/>
              <a:cxnLst/>
              <a:rect l="l" t="t" r="r" b="b"/>
              <a:pathLst>
                <a:path w="5079"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78" name="object 378" descr=""/>
            <p:cNvSpPr/>
            <p:nvPr/>
          </p:nvSpPr>
          <p:spPr>
            <a:xfrm>
              <a:off x="2985223" y="1205570"/>
              <a:ext cx="27940" cy="0"/>
            </a:xfrm>
            <a:custGeom>
              <a:avLst/>
              <a:gdLst/>
              <a:ahLst/>
              <a:cxnLst/>
              <a:rect l="l" t="t" r="r" b="b"/>
              <a:pathLst>
                <a:path w="27939" h="0">
                  <a:moveTo>
                    <a:pt x="27564" y="0"/>
                  </a:moveTo>
                  <a:lnTo>
                    <a:pt x="0" y="0"/>
                  </a:lnTo>
                </a:path>
              </a:pathLst>
            </a:custGeom>
            <a:ln w="5252">
              <a:solidFill>
                <a:srgbClr val="000000"/>
              </a:solidFill>
            </a:ln>
          </p:spPr>
          <p:txBody>
            <a:bodyPr wrap="square" lIns="0" tIns="0" rIns="0" bIns="0" rtlCol="0"/>
            <a:lstStyle/>
            <a:p/>
          </p:txBody>
        </p:sp>
        <p:sp>
          <p:nvSpPr>
            <p:cNvPr id="379" name="object 379" descr=""/>
            <p:cNvSpPr/>
            <p:nvPr/>
          </p:nvSpPr>
          <p:spPr>
            <a:xfrm>
              <a:off x="2982926" y="1202944"/>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grpSp>
      <p:sp>
        <p:nvSpPr>
          <p:cNvPr id="380" name="object 380" descr=""/>
          <p:cNvSpPr txBox="1"/>
          <p:nvPr/>
        </p:nvSpPr>
        <p:spPr>
          <a:xfrm>
            <a:off x="333086" y="1158897"/>
            <a:ext cx="2957195" cy="108585"/>
          </a:xfrm>
          <a:prstGeom prst="rect">
            <a:avLst/>
          </a:prstGeom>
        </p:spPr>
        <p:txBody>
          <a:bodyPr wrap="square" lIns="0" tIns="11430" rIns="0" bIns="0" rtlCol="0" vert="horz">
            <a:spAutoFit/>
          </a:bodyPr>
          <a:lstStyle/>
          <a:p>
            <a:pPr marL="38100">
              <a:lnSpc>
                <a:spcPct val="100000"/>
              </a:lnSpc>
              <a:spcBef>
                <a:spcPts val="90"/>
              </a:spcBef>
              <a:tabLst>
                <a:tab pos="2851785" algn="l"/>
              </a:tabLst>
            </a:pPr>
            <a:r>
              <a:rPr dirty="0" baseline="5555" sz="750" spc="-37">
                <a:latin typeface="Arial MT"/>
                <a:cs typeface="Arial MT"/>
              </a:rPr>
              <a:t>70</a:t>
            </a:r>
            <a:r>
              <a:rPr dirty="0" baseline="5555" sz="750">
                <a:latin typeface="Arial MT"/>
                <a:cs typeface="Arial MT"/>
              </a:rPr>
              <a:t>	</a:t>
            </a:r>
            <a:r>
              <a:rPr dirty="0" sz="550" spc="-25">
                <a:latin typeface="Arial MT"/>
                <a:cs typeface="Arial MT"/>
              </a:rPr>
              <a:t>80</a:t>
            </a:r>
            <a:endParaRPr sz="550">
              <a:latin typeface="Arial MT"/>
              <a:cs typeface="Arial MT"/>
            </a:endParaRPr>
          </a:p>
        </p:txBody>
      </p:sp>
      <p:grpSp>
        <p:nvGrpSpPr>
          <p:cNvPr id="381" name="object 381" descr=""/>
          <p:cNvGrpSpPr/>
          <p:nvPr/>
        </p:nvGrpSpPr>
        <p:grpSpPr>
          <a:xfrm>
            <a:off x="451022" y="1202714"/>
            <a:ext cx="2564765" cy="2201545"/>
            <a:chOff x="451022" y="1202714"/>
            <a:chExt cx="2564765" cy="2201545"/>
          </a:xfrm>
        </p:grpSpPr>
        <p:sp>
          <p:nvSpPr>
            <p:cNvPr id="382" name="object 382" descr=""/>
            <p:cNvSpPr/>
            <p:nvPr/>
          </p:nvSpPr>
          <p:spPr>
            <a:xfrm>
              <a:off x="453880" y="1205571"/>
              <a:ext cx="2559050" cy="0"/>
            </a:xfrm>
            <a:custGeom>
              <a:avLst/>
              <a:gdLst/>
              <a:ahLst/>
              <a:cxnLst/>
              <a:rect l="l" t="t" r="r" b="b"/>
              <a:pathLst>
                <a:path w="2559050" h="0">
                  <a:moveTo>
                    <a:pt x="0" y="0"/>
                  </a:moveTo>
                  <a:lnTo>
                    <a:pt x="2558907" y="0"/>
                  </a:lnTo>
                </a:path>
              </a:pathLst>
            </a:custGeom>
            <a:ln w="5252">
              <a:solidFill>
                <a:srgbClr val="000000"/>
              </a:solidFill>
            </a:ln>
          </p:spPr>
          <p:txBody>
            <a:bodyPr wrap="square" lIns="0" tIns="0" rIns="0" bIns="0" rtlCol="0"/>
            <a:lstStyle/>
            <a:p/>
          </p:txBody>
        </p:sp>
        <p:sp>
          <p:nvSpPr>
            <p:cNvPr id="383" name="object 383" descr=""/>
            <p:cNvSpPr/>
            <p:nvPr/>
          </p:nvSpPr>
          <p:spPr>
            <a:xfrm>
              <a:off x="3010490" y="1202946"/>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84" name="object 384" descr=""/>
            <p:cNvSpPr/>
            <p:nvPr/>
          </p:nvSpPr>
          <p:spPr>
            <a:xfrm>
              <a:off x="453880" y="3401183"/>
              <a:ext cx="2559050" cy="0"/>
            </a:xfrm>
            <a:custGeom>
              <a:avLst/>
              <a:gdLst/>
              <a:ahLst/>
              <a:cxnLst/>
              <a:rect l="l" t="t" r="r" b="b"/>
              <a:pathLst>
                <a:path w="2559050" h="0">
                  <a:moveTo>
                    <a:pt x="0" y="0"/>
                  </a:moveTo>
                  <a:lnTo>
                    <a:pt x="2558907" y="0"/>
                  </a:lnTo>
                </a:path>
              </a:pathLst>
            </a:custGeom>
            <a:ln w="5252">
              <a:solidFill>
                <a:srgbClr val="000000"/>
              </a:solidFill>
            </a:ln>
          </p:spPr>
          <p:txBody>
            <a:bodyPr wrap="square" lIns="0" tIns="0" rIns="0" bIns="0" rtlCol="0"/>
            <a:lstStyle/>
            <a:p/>
          </p:txBody>
        </p:sp>
        <p:sp>
          <p:nvSpPr>
            <p:cNvPr id="385" name="object 385" descr=""/>
            <p:cNvSpPr/>
            <p:nvPr/>
          </p:nvSpPr>
          <p:spPr>
            <a:xfrm>
              <a:off x="3010490" y="3398557"/>
              <a:ext cx="5080" cy="5715"/>
            </a:xfrm>
            <a:custGeom>
              <a:avLst/>
              <a:gdLst/>
              <a:ahLst/>
              <a:cxnLst/>
              <a:rect l="l" t="t" r="r" b="b"/>
              <a:pathLst>
                <a:path w="5080" h="5714">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86" name="object 386" descr=""/>
            <p:cNvSpPr/>
            <p:nvPr/>
          </p:nvSpPr>
          <p:spPr>
            <a:xfrm>
              <a:off x="3012787" y="1205573"/>
              <a:ext cx="0" cy="2195830"/>
            </a:xfrm>
            <a:custGeom>
              <a:avLst/>
              <a:gdLst/>
              <a:ahLst/>
              <a:cxnLst/>
              <a:rect l="l" t="t" r="r" b="b"/>
              <a:pathLst>
                <a:path w="0" h="2195829">
                  <a:moveTo>
                    <a:pt x="0" y="2195610"/>
                  </a:moveTo>
                  <a:lnTo>
                    <a:pt x="0" y="0"/>
                  </a:lnTo>
                </a:path>
              </a:pathLst>
            </a:custGeom>
            <a:ln w="4594">
              <a:solidFill>
                <a:srgbClr val="000000"/>
              </a:solidFill>
            </a:ln>
          </p:spPr>
          <p:txBody>
            <a:bodyPr wrap="square" lIns="0" tIns="0" rIns="0" bIns="0" rtlCol="0"/>
            <a:lstStyle/>
            <a:p/>
          </p:txBody>
        </p:sp>
        <p:sp>
          <p:nvSpPr>
            <p:cNvPr id="387" name="object 387" descr=""/>
            <p:cNvSpPr/>
            <p:nvPr/>
          </p:nvSpPr>
          <p:spPr>
            <a:xfrm>
              <a:off x="3010490" y="1202947"/>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88" name="object 388" descr=""/>
            <p:cNvSpPr/>
            <p:nvPr/>
          </p:nvSpPr>
          <p:spPr>
            <a:xfrm>
              <a:off x="453880" y="1205574"/>
              <a:ext cx="0" cy="2195830"/>
            </a:xfrm>
            <a:custGeom>
              <a:avLst/>
              <a:gdLst/>
              <a:ahLst/>
              <a:cxnLst/>
              <a:rect l="l" t="t" r="r" b="b"/>
              <a:pathLst>
                <a:path w="0" h="2195829">
                  <a:moveTo>
                    <a:pt x="0" y="2195610"/>
                  </a:moveTo>
                  <a:lnTo>
                    <a:pt x="0" y="0"/>
                  </a:lnTo>
                </a:path>
              </a:pathLst>
            </a:custGeom>
            <a:ln w="4594">
              <a:solidFill>
                <a:srgbClr val="000000"/>
              </a:solidFill>
            </a:ln>
          </p:spPr>
          <p:txBody>
            <a:bodyPr wrap="square" lIns="0" tIns="0" rIns="0" bIns="0" rtlCol="0"/>
            <a:lstStyle/>
            <a:p/>
          </p:txBody>
        </p:sp>
        <p:sp>
          <p:nvSpPr>
            <p:cNvPr id="389" name="object 389" descr=""/>
            <p:cNvSpPr/>
            <p:nvPr/>
          </p:nvSpPr>
          <p:spPr>
            <a:xfrm>
              <a:off x="451582" y="1202948"/>
              <a:ext cx="5080" cy="5715"/>
            </a:xfrm>
            <a:custGeom>
              <a:avLst/>
              <a:gdLst/>
              <a:ahLst/>
              <a:cxnLst/>
              <a:rect l="l" t="t" r="r" b="b"/>
              <a:pathLst>
                <a:path w="5079"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390" name="object 390" descr=""/>
            <p:cNvSpPr/>
            <p:nvPr/>
          </p:nvSpPr>
          <p:spPr>
            <a:xfrm>
              <a:off x="642239" y="3401149"/>
              <a:ext cx="64769" cy="0"/>
            </a:xfrm>
            <a:custGeom>
              <a:avLst/>
              <a:gdLst/>
              <a:ahLst/>
              <a:cxnLst/>
              <a:rect l="l" t="t" r="r" b="b"/>
              <a:pathLst>
                <a:path w="64770" h="0">
                  <a:moveTo>
                    <a:pt x="64317" y="0"/>
                  </a:moveTo>
                  <a:lnTo>
                    <a:pt x="0" y="0"/>
                  </a:lnTo>
                </a:path>
              </a:pathLst>
            </a:custGeom>
            <a:solidFill>
              <a:srgbClr val="FF0000"/>
            </a:solidFill>
          </p:spPr>
          <p:txBody>
            <a:bodyPr wrap="square" lIns="0" tIns="0" rIns="0" bIns="0" rtlCol="0"/>
            <a:lstStyle/>
            <a:p/>
          </p:txBody>
        </p:sp>
        <p:sp>
          <p:nvSpPr>
            <p:cNvPr id="391" name="object 391" descr=""/>
            <p:cNvSpPr/>
            <p:nvPr/>
          </p:nvSpPr>
          <p:spPr>
            <a:xfrm>
              <a:off x="642238" y="3401151"/>
              <a:ext cx="64769" cy="0"/>
            </a:xfrm>
            <a:custGeom>
              <a:avLst/>
              <a:gdLst/>
              <a:ahLst/>
              <a:cxnLst/>
              <a:rect l="l" t="t" r="r" b="b"/>
              <a:pathLst>
                <a:path w="64770" h="0">
                  <a:moveTo>
                    <a:pt x="0" y="0"/>
                  </a:moveTo>
                  <a:lnTo>
                    <a:pt x="64317" y="0"/>
                  </a:lnTo>
                  <a:lnTo>
                    <a:pt x="0" y="0"/>
                  </a:lnTo>
                </a:path>
              </a:pathLst>
            </a:custGeom>
            <a:ln w="5252">
              <a:solidFill>
                <a:srgbClr val="000000"/>
              </a:solidFill>
            </a:ln>
          </p:spPr>
          <p:txBody>
            <a:bodyPr wrap="square" lIns="0" tIns="0" rIns="0" bIns="0" rtlCol="0"/>
            <a:lstStyle/>
            <a:p/>
          </p:txBody>
        </p:sp>
        <p:sp>
          <p:nvSpPr>
            <p:cNvPr id="392" name="object 392" descr=""/>
            <p:cNvSpPr/>
            <p:nvPr/>
          </p:nvSpPr>
          <p:spPr>
            <a:xfrm>
              <a:off x="927073" y="3395900"/>
              <a:ext cx="60325" cy="5715"/>
            </a:xfrm>
            <a:custGeom>
              <a:avLst/>
              <a:gdLst/>
              <a:ahLst/>
              <a:cxnLst/>
              <a:rect l="l" t="t" r="r" b="b"/>
              <a:pathLst>
                <a:path w="60325" h="5714">
                  <a:moveTo>
                    <a:pt x="59723" y="5252"/>
                  </a:moveTo>
                  <a:lnTo>
                    <a:pt x="0" y="5252"/>
                  </a:lnTo>
                  <a:lnTo>
                    <a:pt x="0" y="0"/>
                  </a:lnTo>
                  <a:lnTo>
                    <a:pt x="59723" y="0"/>
                  </a:lnTo>
                  <a:lnTo>
                    <a:pt x="59723" y="5252"/>
                  </a:lnTo>
                  <a:close/>
                </a:path>
              </a:pathLst>
            </a:custGeom>
            <a:solidFill>
              <a:srgbClr val="FF0000"/>
            </a:solidFill>
          </p:spPr>
          <p:txBody>
            <a:bodyPr wrap="square" lIns="0" tIns="0" rIns="0" bIns="0" rtlCol="0"/>
            <a:lstStyle/>
            <a:p/>
          </p:txBody>
        </p:sp>
        <p:sp>
          <p:nvSpPr>
            <p:cNvPr id="393" name="object 393" descr=""/>
            <p:cNvSpPr/>
            <p:nvPr/>
          </p:nvSpPr>
          <p:spPr>
            <a:xfrm>
              <a:off x="927073" y="3395901"/>
              <a:ext cx="60325" cy="5715"/>
            </a:xfrm>
            <a:custGeom>
              <a:avLst/>
              <a:gdLst/>
              <a:ahLst/>
              <a:cxnLst/>
              <a:rect l="l" t="t" r="r" b="b"/>
              <a:pathLst>
                <a:path w="60325" h="5714">
                  <a:moveTo>
                    <a:pt x="0" y="0"/>
                  </a:moveTo>
                  <a:lnTo>
                    <a:pt x="59723" y="0"/>
                  </a:lnTo>
                  <a:lnTo>
                    <a:pt x="59723" y="5252"/>
                  </a:lnTo>
                  <a:lnTo>
                    <a:pt x="0" y="5252"/>
                  </a:lnTo>
                  <a:lnTo>
                    <a:pt x="0" y="0"/>
                  </a:lnTo>
                  <a:close/>
                </a:path>
              </a:pathLst>
            </a:custGeom>
            <a:ln w="5247">
              <a:solidFill>
                <a:srgbClr val="000000"/>
              </a:solidFill>
            </a:ln>
          </p:spPr>
          <p:txBody>
            <a:bodyPr wrap="square" lIns="0" tIns="0" rIns="0" bIns="0" rtlCol="0"/>
            <a:lstStyle/>
            <a:p/>
          </p:txBody>
        </p:sp>
        <p:sp>
          <p:nvSpPr>
            <p:cNvPr id="394" name="object 394" descr=""/>
            <p:cNvSpPr/>
            <p:nvPr/>
          </p:nvSpPr>
          <p:spPr>
            <a:xfrm>
              <a:off x="1211906" y="3390648"/>
              <a:ext cx="60325" cy="10795"/>
            </a:xfrm>
            <a:custGeom>
              <a:avLst/>
              <a:gdLst/>
              <a:ahLst/>
              <a:cxnLst/>
              <a:rect l="l" t="t" r="r" b="b"/>
              <a:pathLst>
                <a:path w="60325" h="10795">
                  <a:moveTo>
                    <a:pt x="59723" y="10505"/>
                  </a:moveTo>
                  <a:lnTo>
                    <a:pt x="0" y="10505"/>
                  </a:lnTo>
                  <a:lnTo>
                    <a:pt x="0" y="0"/>
                  </a:lnTo>
                  <a:lnTo>
                    <a:pt x="59723" y="0"/>
                  </a:lnTo>
                  <a:lnTo>
                    <a:pt x="59723" y="10505"/>
                  </a:lnTo>
                  <a:close/>
                </a:path>
              </a:pathLst>
            </a:custGeom>
            <a:solidFill>
              <a:srgbClr val="FF0000"/>
            </a:solidFill>
          </p:spPr>
          <p:txBody>
            <a:bodyPr wrap="square" lIns="0" tIns="0" rIns="0" bIns="0" rtlCol="0"/>
            <a:lstStyle/>
            <a:p/>
          </p:txBody>
        </p:sp>
        <p:sp>
          <p:nvSpPr>
            <p:cNvPr id="395" name="object 395" descr=""/>
            <p:cNvSpPr/>
            <p:nvPr/>
          </p:nvSpPr>
          <p:spPr>
            <a:xfrm>
              <a:off x="1211906" y="3390649"/>
              <a:ext cx="60325" cy="10795"/>
            </a:xfrm>
            <a:custGeom>
              <a:avLst/>
              <a:gdLst/>
              <a:ahLst/>
              <a:cxnLst/>
              <a:rect l="l" t="t" r="r" b="b"/>
              <a:pathLst>
                <a:path w="60325" h="10795">
                  <a:moveTo>
                    <a:pt x="0" y="0"/>
                  </a:moveTo>
                  <a:lnTo>
                    <a:pt x="59723" y="0"/>
                  </a:lnTo>
                  <a:lnTo>
                    <a:pt x="59723" y="10505"/>
                  </a:lnTo>
                  <a:lnTo>
                    <a:pt x="0" y="10505"/>
                  </a:lnTo>
                  <a:lnTo>
                    <a:pt x="0" y="0"/>
                  </a:lnTo>
                  <a:close/>
                </a:path>
              </a:pathLst>
            </a:custGeom>
            <a:ln w="5232">
              <a:solidFill>
                <a:srgbClr val="000000"/>
              </a:solidFill>
            </a:ln>
          </p:spPr>
          <p:txBody>
            <a:bodyPr wrap="square" lIns="0" tIns="0" rIns="0" bIns="0" rtlCol="0"/>
            <a:lstStyle/>
            <a:p/>
          </p:txBody>
        </p:sp>
        <p:sp>
          <p:nvSpPr>
            <p:cNvPr id="396" name="object 396" descr=""/>
            <p:cNvSpPr/>
            <p:nvPr/>
          </p:nvSpPr>
          <p:spPr>
            <a:xfrm>
              <a:off x="1492146" y="3359128"/>
              <a:ext cx="64769" cy="42545"/>
            </a:xfrm>
            <a:custGeom>
              <a:avLst/>
              <a:gdLst/>
              <a:ahLst/>
              <a:cxnLst/>
              <a:rect l="l" t="t" r="r" b="b"/>
              <a:pathLst>
                <a:path w="64769" h="42545">
                  <a:moveTo>
                    <a:pt x="64317" y="42021"/>
                  </a:moveTo>
                  <a:lnTo>
                    <a:pt x="0" y="42021"/>
                  </a:lnTo>
                  <a:lnTo>
                    <a:pt x="0" y="0"/>
                  </a:lnTo>
                  <a:lnTo>
                    <a:pt x="64317" y="0"/>
                  </a:lnTo>
                  <a:lnTo>
                    <a:pt x="64317" y="42021"/>
                  </a:lnTo>
                  <a:close/>
                </a:path>
              </a:pathLst>
            </a:custGeom>
            <a:solidFill>
              <a:srgbClr val="FF0000"/>
            </a:solidFill>
          </p:spPr>
          <p:txBody>
            <a:bodyPr wrap="square" lIns="0" tIns="0" rIns="0" bIns="0" rtlCol="0"/>
            <a:lstStyle/>
            <a:p/>
          </p:txBody>
        </p:sp>
        <p:sp>
          <p:nvSpPr>
            <p:cNvPr id="397" name="object 397" descr=""/>
            <p:cNvSpPr/>
            <p:nvPr/>
          </p:nvSpPr>
          <p:spPr>
            <a:xfrm>
              <a:off x="1492146" y="3359134"/>
              <a:ext cx="64769" cy="42545"/>
            </a:xfrm>
            <a:custGeom>
              <a:avLst/>
              <a:gdLst/>
              <a:ahLst/>
              <a:cxnLst/>
              <a:rect l="l" t="t" r="r" b="b"/>
              <a:pathLst>
                <a:path w="64769" h="42545">
                  <a:moveTo>
                    <a:pt x="0" y="0"/>
                  </a:moveTo>
                  <a:lnTo>
                    <a:pt x="64317" y="0"/>
                  </a:lnTo>
                  <a:lnTo>
                    <a:pt x="64317" y="42021"/>
                  </a:lnTo>
                  <a:lnTo>
                    <a:pt x="0" y="42021"/>
                  </a:lnTo>
                  <a:lnTo>
                    <a:pt x="0" y="0"/>
                  </a:lnTo>
                  <a:close/>
                </a:path>
              </a:pathLst>
            </a:custGeom>
            <a:ln w="5055">
              <a:solidFill>
                <a:srgbClr val="000000"/>
              </a:solidFill>
            </a:ln>
          </p:spPr>
          <p:txBody>
            <a:bodyPr wrap="square" lIns="0" tIns="0" rIns="0" bIns="0" rtlCol="0"/>
            <a:lstStyle/>
            <a:p/>
          </p:txBody>
        </p:sp>
        <p:sp>
          <p:nvSpPr>
            <p:cNvPr id="398" name="object 398" descr=""/>
            <p:cNvSpPr/>
            <p:nvPr/>
          </p:nvSpPr>
          <p:spPr>
            <a:xfrm>
              <a:off x="1776979" y="3269839"/>
              <a:ext cx="64769" cy="131445"/>
            </a:xfrm>
            <a:custGeom>
              <a:avLst/>
              <a:gdLst/>
              <a:ahLst/>
              <a:cxnLst/>
              <a:rect l="l" t="t" r="r" b="b"/>
              <a:pathLst>
                <a:path w="64769" h="131445">
                  <a:moveTo>
                    <a:pt x="64317" y="131311"/>
                  </a:moveTo>
                  <a:lnTo>
                    <a:pt x="0" y="131311"/>
                  </a:lnTo>
                  <a:lnTo>
                    <a:pt x="0" y="0"/>
                  </a:lnTo>
                  <a:lnTo>
                    <a:pt x="64317" y="0"/>
                  </a:lnTo>
                  <a:lnTo>
                    <a:pt x="64317" y="131311"/>
                  </a:lnTo>
                  <a:close/>
                </a:path>
              </a:pathLst>
            </a:custGeom>
            <a:solidFill>
              <a:srgbClr val="FF0000"/>
            </a:solidFill>
          </p:spPr>
          <p:txBody>
            <a:bodyPr wrap="square" lIns="0" tIns="0" rIns="0" bIns="0" rtlCol="0"/>
            <a:lstStyle/>
            <a:p/>
          </p:txBody>
        </p:sp>
        <p:sp>
          <p:nvSpPr>
            <p:cNvPr id="399" name="object 399" descr=""/>
            <p:cNvSpPr/>
            <p:nvPr/>
          </p:nvSpPr>
          <p:spPr>
            <a:xfrm>
              <a:off x="1776979" y="3269839"/>
              <a:ext cx="64769" cy="131445"/>
            </a:xfrm>
            <a:custGeom>
              <a:avLst/>
              <a:gdLst/>
              <a:ahLst/>
              <a:cxnLst/>
              <a:rect l="l" t="t" r="r" b="b"/>
              <a:pathLst>
                <a:path w="64769" h="131445">
                  <a:moveTo>
                    <a:pt x="0" y="0"/>
                  </a:moveTo>
                  <a:lnTo>
                    <a:pt x="64317" y="0"/>
                  </a:lnTo>
                  <a:lnTo>
                    <a:pt x="64317" y="131316"/>
                  </a:lnTo>
                  <a:lnTo>
                    <a:pt x="0" y="131316"/>
                  </a:lnTo>
                  <a:lnTo>
                    <a:pt x="0" y="0"/>
                  </a:lnTo>
                  <a:close/>
                </a:path>
              </a:pathLst>
            </a:custGeom>
            <a:ln w="4721">
              <a:solidFill>
                <a:srgbClr val="000000"/>
              </a:solidFill>
            </a:ln>
          </p:spPr>
          <p:txBody>
            <a:bodyPr wrap="square" lIns="0" tIns="0" rIns="0" bIns="0" rtlCol="0"/>
            <a:lstStyle/>
            <a:p/>
          </p:txBody>
        </p:sp>
        <p:sp>
          <p:nvSpPr>
            <p:cNvPr id="400" name="object 400" descr=""/>
            <p:cNvSpPr/>
            <p:nvPr/>
          </p:nvSpPr>
          <p:spPr>
            <a:xfrm>
              <a:off x="2061813" y="1825359"/>
              <a:ext cx="64769" cy="1576070"/>
            </a:xfrm>
            <a:custGeom>
              <a:avLst/>
              <a:gdLst/>
              <a:ahLst/>
              <a:cxnLst/>
              <a:rect l="l" t="t" r="r" b="b"/>
              <a:pathLst>
                <a:path w="64769" h="1576070">
                  <a:moveTo>
                    <a:pt x="64317" y="1575796"/>
                  </a:moveTo>
                  <a:lnTo>
                    <a:pt x="0" y="1575796"/>
                  </a:lnTo>
                  <a:lnTo>
                    <a:pt x="0" y="0"/>
                  </a:lnTo>
                  <a:lnTo>
                    <a:pt x="64317" y="0"/>
                  </a:lnTo>
                  <a:lnTo>
                    <a:pt x="64317" y="1575796"/>
                  </a:lnTo>
                  <a:close/>
                </a:path>
              </a:pathLst>
            </a:custGeom>
            <a:solidFill>
              <a:srgbClr val="FF0000"/>
            </a:solidFill>
          </p:spPr>
          <p:txBody>
            <a:bodyPr wrap="square" lIns="0" tIns="0" rIns="0" bIns="0" rtlCol="0"/>
            <a:lstStyle/>
            <a:p/>
          </p:txBody>
        </p:sp>
        <p:sp>
          <p:nvSpPr>
            <p:cNvPr id="401" name="object 401" descr=""/>
            <p:cNvSpPr/>
            <p:nvPr/>
          </p:nvSpPr>
          <p:spPr>
            <a:xfrm>
              <a:off x="2061813" y="1825359"/>
              <a:ext cx="64769" cy="1576070"/>
            </a:xfrm>
            <a:custGeom>
              <a:avLst/>
              <a:gdLst/>
              <a:ahLst/>
              <a:cxnLst/>
              <a:rect l="l" t="t" r="r" b="b"/>
              <a:pathLst>
                <a:path w="64769" h="1576070">
                  <a:moveTo>
                    <a:pt x="0" y="0"/>
                  </a:moveTo>
                  <a:lnTo>
                    <a:pt x="64317" y="0"/>
                  </a:lnTo>
                  <a:lnTo>
                    <a:pt x="64317" y="1575796"/>
                  </a:lnTo>
                  <a:lnTo>
                    <a:pt x="0" y="1575796"/>
                  </a:lnTo>
                  <a:lnTo>
                    <a:pt x="0" y="0"/>
                  </a:lnTo>
                  <a:close/>
                </a:path>
              </a:pathLst>
            </a:custGeom>
            <a:ln w="4595">
              <a:solidFill>
                <a:srgbClr val="000000"/>
              </a:solidFill>
            </a:ln>
          </p:spPr>
          <p:txBody>
            <a:bodyPr wrap="square" lIns="0" tIns="0" rIns="0" bIns="0" rtlCol="0"/>
            <a:lstStyle/>
            <a:p/>
          </p:txBody>
        </p:sp>
        <p:sp>
          <p:nvSpPr>
            <p:cNvPr id="402" name="object 402" descr=""/>
            <p:cNvSpPr/>
            <p:nvPr/>
          </p:nvSpPr>
          <p:spPr>
            <a:xfrm>
              <a:off x="2346646" y="2024961"/>
              <a:ext cx="64769" cy="1376680"/>
            </a:xfrm>
            <a:custGeom>
              <a:avLst/>
              <a:gdLst/>
              <a:ahLst/>
              <a:cxnLst/>
              <a:rect l="l" t="t" r="r" b="b"/>
              <a:pathLst>
                <a:path w="64769" h="1376679">
                  <a:moveTo>
                    <a:pt x="64317" y="1376195"/>
                  </a:moveTo>
                  <a:lnTo>
                    <a:pt x="0" y="1376195"/>
                  </a:lnTo>
                  <a:lnTo>
                    <a:pt x="0" y="0"/>
                  </a:lnTo>
                  <a:lnTo>
                    <a:pt x="64317" y="0"/>
                  </a:lnTo>
                  <a:lnTo>
                    <a:pt x="64317" y="1376195"/>
                  </a:lnTo>
                  <a:close/>
                </a:path>
              </a:pathLst>
            </a:custGeom>
            <a:solidFill>
              <a:srgbClr val="FF0000"/>
            </a:solidFill>
          </p:spPr>
          <p:txBody>
            <a:bodyPr wrap="square" lIns="0" tIns="0" rIns="0" bIns="0" rtlCol="0"/>
            <a:lstStyle/>
            <a:p/>
          </p:txBody>
        </p:sp>
        <p:sp>
          <p:nvSpPr>
            <p:cNvPr id="403" name="object 403" descr=""/>
            <p:cNvSpPr/>
            <p:nvPr/>
          </p:nvSpPr>
          <p:spPr>
            <a:xfrm>
              <a:off x="2346646" y="2024961"/>
              <a:ext cx="64769" cy="1376680"/>
            </a:xfrm>
            <a:custGeom>
              <a:avLst/>
              <a:gdLst/>
              <a:ahLst/>
              <a:cxnLst/>
              <a:rect l="l" t="t" r="r" b="b"/>
              <a:pathLst>
                <a:path w="64769" h="1376679">
                  <a:moveTo>
                    <a:pt x="0" y="0"/>
                  </a:moveTo>
                  <a:lnTo>
                    <a:pt x="64317" y="0"/>
                  </a:lnTo>
                  <a:lnTo>
                    <a:pt x="64317" y="1376195"/>
                  </a:lnTo>
                  <a:lnTo>
                    <a:pt x="0" y="1376195"/>
                  </a:lnTo>
                  <a:lnTo>
                    <a:pt x="0" y="0"/>
                  </a:lnTo>
                  <a:close/>
                </a:path>
              </a:pathLst>
            </a:custGeom>
            <a:ln w="4595">
              <a:solidFill>
                <a:srgbClr val="000000"/>
              </a:solidFill>
            </a:ln>
          </p:spPr>
          <p:txBody>
            <a:bodyPr wrap="square" lIns="0" tIns="0" rIns="0" bIns="0" rtlCol="0"/>
            <a:lstStyle/>
            <a:p/>
          </p:txBody>
        </p:sp>
        <p:sp>
          <p:nvSpPr>
            <p:cNvPr id="404" name="object 404" descr=""/>
            <p:cNvSpPr/>
            <p:nvPr/>
          </p:nvSpPr>
          <p:spPr>
            <a:xfrm>
              <a:off x="2631480" y="3390652"/>
              <a:ext cx="64769" cy="10795"/>
            </a:xfrm>
            <a:custGeom>
              <a:avLst/>
              <a:gdLst/>
              <a:ahLst/>
              <a:cxnLst/>
              <a:rect l="l" t="t" r="r" b="b"/>
              <a:pathLst>
                <a:path w="64769" h="10795">
                  <a:moveTo>
                    <a:pt x="64312" y="10505"/>
                  </a:moveTo>
                  <a:lnTo>
                    <a:pt x="0" y="10505"/>
                  </a:lnTo>
                  <a:lnTo>
                    <a:pt x="0" y="0"/>
                  </a:lnTo>
                  <a:lnTo>
                    <a:pt x="64312" y="0"/>
                  </a:lnTo>
                  <a:lnTo>
                    <a:pt x="64312" y="10505"/>
                  </a:lnTo>
                  <a:close/>
                </a:path>
              </a:pathLst>
            </a:custGeom>
            <a:solidFill>
              <a:srgbClr val="FF0000"/>
            </a:solidFill>
          </p:spPr>
          <p:txBody>
            <a:bodyPr wrap="square" lIns="0" tIns="0" rIns="0" bIns="0" rtlCol="0"/>
            <a:lstStyle/>
            <a:p/>
          </p:txBody>
        </p:sp>
        <p:sp>
          <p:nvSpPr>
            <p:cNvPr id="405" name="object 405" descr=""/>
            <p:cNvSpPr/>
            <p:nvPr/>
          </p:nvSpPr>
          <p:spPr>
            <a:xfrm>
              <a:off x="2631480" y="3390653"/>
              <a:ext cx="64769" cy="10795"/>
            </a:xfrm>
            <a:custGeom>
              <a:avLst/>
              <a:gdLst/>
              <a:ahLst/>
              <a:cxnLst/>
              <a:rect l="l" t="t" r="r" b="b"/>
              <a:pathLst>
                <a:path w="64769" h="10795">
                  <a:moveTo>
                    <a:pt x="0" y="0"/>
                  </a:moveTo>
                  <a:lnTo>
                    <a:pt x="64317" y="0"/>
                  </a:lnTo>
                  <a:lnTo>
                    <a:pt x="64317" y="10505"/>
                  </a:lnTo>
                  <a:lnTo>
                    <a:pt x="0" y="10505"/>
                  </a:lnTo>
                  <a:lnTo>
                    <a:pt x="0" y="0"/>
                  </a:lnTo>
                  <a:close/>
                </a:path>
              </a:pathLst>
            </a:custGeom>
            <a:ln w="5235">
              <a:solidFill>
                <a:srgbClr val="000000"/>
              </a:solidFill>
            </a:ln>
          </p:spPr>
          <p:txBody>
            <a:bodyPr wrap="square" lIns="0" tIns="0" rIns="0" bIns="0" rtlCol="0"/>
            <a:lstStyle/>
            <a:p/>
          </p:txBody>
        </p:sp>
        <p:sp>
          <p:nvSpPr>
            <p:cNvPr id="406" name="object 406" descr=""/>
            <p:cNvSpPr/>
            <p:nvPr/>
          </p:nvSpPr>
          <p:spPr>
            <a:xfrm>
              <a:off x="453881" y="3401157"/>
              <a:ext cx="2559050" cy="0"/>
            </a:xfrm>
            <a:custGeom>
              <a:avLst/>
              <a:gdLst/>
              <a:ahLst/>
              <a:cxnLst/>
              <a:rect l="l" t="t" r="r" b="b"/>
              <a:pathLst>
                <a:path w="2559050" h="0">
                  <a:moveTo>
                    <a:pt x="0" y="0"/>
                  </a:moveTo>
                  <a:lnTo>
                    <a:pt x="2558907" y="0"/>
                  </a:lnTo>
                </a:path>
              </a:pathLst>
            </a:custGeom>
            <a:ln w="5252">
              <a:solidFill>
                <a:srgbClr val="000000"/>
              </a:solidFill>
            </a:ln>
          </p:spPr>
          <p:txBody>
            <a:bodyPr wrap="square" lIns="0" tIns="0" rIns="0" bIns="0" rtlCol="0"/>
            <a:lstStyle/>
            <a:p/>
          </p:txBody>
        </p:sp>
        <p:sp>
          <p:nvSpPr>
            <p:cNvPr id="407" name="object 407" descr=""/>
            <p:cNvSpPr/>
            <p:nvPr/>
          </p:nvSpPr>
          <p:spPr>
            <a:xfrm>
              <a:off x="706557" y="3359132"/>
              <a:ext cx="60325" cy="42545"/>
            </a:xfrm>
            <a:custGeom>
              <a:avLst/>
              <a:gdLst/>
              <a:ahLst/>
              <a:cxnLst/>
              <a:rect l="l" t="t" r="r" b="b"/>
              <a:pathLst>
                <a:path w="60325" h="42545">
                  <a:moveTo>
                    <a:pt x="59723" y="42021"/>
                  </a:moveTo>
                  <a:lnTo>
                    <a:pt x="0" y="42021"/>
                  </a:lnTo>
                  <a:lnTo>
                    <a:pt x="0" y="0"/>
                  </a:lnTo>
                  <a:lnTo>
                    <a:pt x="59723" y="0"/>
                  </a:lnTo>
                  <a:lnTo>
                    <a:pt x="59723" y="42021"/>
                  </a:lnTo>
                  <a:close/>
                </a:path>
              </a:pathLst>
            </a:custGeom>
            <a:solidFill>
              <a:srgbClr val="00FF00"/>
            </a:solidFill>
          </p:spPr>
          <p:txBody>
            <a:bodyPr wrap="square" lIns="0" tIns="0" rIns="0" bIns="0" rtlCol="0"/>
            <a:lstStyle/>
            <a:p/>
          </p:txBody>
        </p:sp>
        <p:sp>
          <p:nvSpPr>
            <p:cNvPr id="408" name="object 408" descr=""/>
            <p:cNvSpPr/>
            <p:nvPr/>
          </p:nvSpPr>
          <p:spPr>
            <a:xfrm>
              <a:off x="706557" y="3359138"/>
              <a:ext cx="60325" cy="42545"/>
            </a:xfrm>
            <a:custGeom>
              <a:avLst/>
              <a:gdLst/>
              <a:ahLst/>
              <a:cxnLst/>
              <a:rect l="l" t="t" r="r" b="b"/>
              <a:pathLst>
                <a:path w="60325" h="42545">
                  <a:moveTo>
                    <a:pt x="0" y="0"/>
                  </a:moveTo>
                  <a:lnTo>
                    <a:pt x="59723" y="0"/>
                  </a:lnTo>
                  <a:lnTo>
                    <a:pt x="59723" y="42021"/>
                  </a:lnTo>
                  <a:lnTo>
                    <a:pt x="0" y="42021"/>
                  </a:lnTo>
                  <a:lnTo>
                    <a:pt x="0" y="0"/>
                  </a:lnTo>
                  <a:close/>
                </a:path>
              </a:pathLst>
            </a:custGeom>
            <a:ln w="5034">
              <a:solidFill>
                <a:srgbClr val="000000"/>
              </a:solidFill>
            </a:ln>
          </p:spPr>
          <p:txBody>
            <a:bodyPr wrap="square" lIns="0" tIns="0" rIns="0" bIns="0" rtlCol="0"/>
            <a:lstStyle/>
            <a:p/>
          </p:txBody>
        </p:sp>
        <p:sp>
          <p:nvSpPr>
            <p:cNvPr id="409" name="object 409" descr=""/>
            <p:cNvSpPr/>
            <p:nvPr/>
          </p:nvSpPr>
          <p:spPr>
            <a:xfrm>
              <a:off x="986796" y="2429418"/>
              <a:ext cx="64769" cy="972185"/>
            </a:xfrm>
            <a:custGeom>
              <a:avLst/>
              <a:gdLst/>
              <a:ahLst/>
              <a:cxnLst/>
              <a:rect l="l" t="t" r="r" b="b"/>
              <a:pathLst>
                <a:path w="64769" h="972185">
                  <a:moveTo>
                    <a:pt x="64317" y="971741"/>
                  </a:moveTo>
                  <a:lnTo>
                    <a:pt x="0" y="971741"/>
                  </a:lnTo>
                  <a:lnTo>
                    <a:pt x="0" y="0"/>
                  </a:lnTo>
                  <a:lnTo>
                    <a:pt x="64317" y="0"/>
                  </a:lnTo>
                  <a:lnTo>
                    <a:pt x="64317" y="971741"/>
                  </a:lnTo>
                  <a:close/>
                </a:path>
              </a:pathLst>
            </a:custGeom>
            <a:solidFill>
              <a:srgbClr val="00FF00"/>
            </a:solidFill>
          </p:spPr>
          <p:txBody>
            <a:bodyPr wrap="square" lIns="0" tIns="0" rIns="0" bIns="0" rtlCol="0"/>
            <a:lstStyle/>
            <a:p/>
          </p:txBody>
        </p:sp>
        <p:sp>
          <p:nvSpPr>
            <p:cNvPr id="410" name="object 410" descr=""/>
            <p:cNvSpPr/>
            <p:nvPr/>
          </p:nvSpPr>
          <p:spPr>
            <a:xfrm>
              <a:off x="986796" y="2429418"/>
              <a:ext cx="64769" cy="972185"/>
            </a:xfrm>
            <a:custGeom>
              <a:avLst/>
              <a:gdLst/>
              <a:ahLst/>
              <a:cxnLst/>
              <a:rect l="l" t="t" r="r" b="b"/>
              <a:pathLst>
                <a:path w="64769" h="972185">
                  <a:moveTo>
                    <a:pt x="0" y="0"/>
                  </a:moveTo>
                  <a:lnTo>
                    <a:pt x="64317" y="0"/>
                  </a:lnTo>
                  <a:lnTo>
                    <a:pt x="64317" y="971741"/>
                  </a:lnTo>
                  <a:lnTo>
                    <a:pt x="0" y="971741"/>
                  </a:lnTo>
                  <a:lnTo>
                    <a:pt x="0" y="0"/>
                  </a:lnTo>
                  <a:close/>
                </a:path>
              </a:pathLst>
            </a:custGeom>
            <a:ln w="4596">
              <a:solidFill>
                <a:srgbClr val="000000"/>
              </a:solidFill>
            </a:ln>
          </p:spPr>
          <p:txBody>
            <a:bodyPr wrap="square" lIns="0" tIns="0" rIns="0" bIns="0" rtlCol="0"/>
            <a:lstStyle/>
            <a:p/>
          </p:txBody>
        </p:sp>
        <p:sp>
          <p:nvSpPr>
            <p:cNvPr id="411" name="object 411" descr=""/>
            <p:cNvSpPr/>
            <p:nvPr/>
          </p:nvSpPr>
          <p:spPr>
            <a:xfrm>
              <a:off x="1271630" y="1273834"/>
              <a:ext cx="64769" cy="2127885"/>
            </a:xfrm>
            <a:custGeom>
              <a:avLst/>
              <a:gdLst/>
              <a:ahLst/>
              <a:cxnLst/>
              <a:rect l="l" t="t" r="r" b="b"/>
              <a:pathLst>
                <a:path w="64769" h="2127885">
                  <a:moveTo>
                    <a:pt x="64317" y="2127325"/>
                  </a:moveTo>
                  <a:lnTo>
                    <a:pt x="0" y="2127325"/>
                  </a:lnTo>
                  <a:lnTo>
                    <a:pt x="0" y="0"/>
                  </a:lnTo>
                  <a:lnTo>
                    <a:pt x="64317" y="0"/>
                  </a:lnTo>
                  <a:lnTo>
                    <a:pt x="64317" y="2127325"/>
                  </a:lnTo>
                  <a:close/>
                </a:path>
              </a:pathLst>
            </a:custGeom>
            <a:solidFill>
              <a:srgbClr val="00FF00"/>
            </a:solidFill>
          </p:spPr>
          <p:txBody>
            <a:bodyPr wrap="square" lIns="0" tIns="0" rIns="0" bIns="0" rtlCol="0"/>
            <a:lstStyle/>
            <a:p/>
          </p:txBody>
        </p:sp>
        <p:sp>
          <p:nvSpPr>
            <p:cNvPr id="412" name="object 412" descr=""/>
            <p:cNvSpPr/>
            <p:nvPr/>
          </p:nvSpPr>
          <p:spPr>
            <a:xfrm>
              <a:off x="1271630" y="1273835"/>
              <a:ext cx="64769" cy="2127885"/>
            </a:xfrm>
            <a:custGeom>
              <a:avLst/>
              <a:gdLst/>
              <a:ahLst/>
              <a:cxnLst/>
              <a:rect l="l" t="t" r="r" b="b"/>
              <a:pathLst>
                <a:path w="64769" h="2127885">
                  <a:moveTo>
                    <a:pt x="0" y="0"/>
                  </a:moveTo>
                  <a:lnTo>
                    <a:pt x="64317" y="0"/>
                  </a:lnTo>
                  <a:lnTo>
                    <a:pt x="64317" y="2127325"/>
                  </a:lnTo>
                  <a:lnTo>
                    <a:pt x="0" y="2127325"/>
                  </a:lnTo>
                  <a:lnTo>
                    <a:pt x="0" y="0"/>
                  </a:lnTo>
                  <a:close/>
                </a:path>
              </a:pathLst>
            </a:custGeom>
            <a:ln w="4594">
              <a:solidFill>
                <a:srgbClr val="000000"/>
              </a:solidFill>
            </a:ln>
          </p:spPr>
          <p:txBody>
            <a:bodyPr wrap="square" lIns="0" tIns="0" rIns="0" bIns="0" rtlCol="0"/>
            <a:lstStyle/>
            <a:p/>
          </p:txBody>
        </p:sp>
        <p:sp>
          <p:nvSpPr>
            <p:cNvPr id="413" name="object 413" descr=""/>
            <p:cNvSpPr/>
            <p:nvPr/>
          </p:nvSpPr>
          <p:spPr>
            <a:xfrm>
              <a:off x="1556463" y="3401158"/>
              <a:ext cx="64769" cy="0"/>
            </a:xfrm>
            <a:custGeom>
              <a:avLst/>
              <a:gdLst/>
              <a:ahLst/>
              <a:cxnLst/>
              <a:rect l="l" t="t" r="r" b="b"/>
              <a:pathLst>
                <a:path w="64769" h="0">
                  <a:moveTo>
                    <a:pt x="64317" y="0"/>
                  </a:moveTo>
                  <a:lnTo>
                    <a:pt x="0" y="0"/>
                  </a:lnTo>
                </a:path>
              </a:pathLst>
            </a:custGeom>
            <a:solidFill>
              <a:srgbClr val="00FF00"/>
            </a:solidFill>
          </p:spPr>
          <p:txBody>
            <a:bodyPr wrap="square" lIns="0" tIns="0" rIns="0" bIns="0" rtlCol="0"/>
            <a:lstStyle/>
            <a:p/>
          </p:txBody>
        </p:sp>
        <p:sp>
          <p:nvSpPr>
            <p:cNvPr id="414" name="object 414" descr=""/>
            <p:cNvSpPr/>
            <p:nvPr/>
          </p:nvSpPr>
          <p:spPr>
            <a:xfrm>
              <a:off x="1556462" y="3401160"/>
              <a:ext cx="64769" cy="0"/>
            </a:xfrm>
            <a:custGeom>
              <a:avLst/>
              <a:gdLst/>
              <a:ahLst/>
              <a:cxnLst/>
              <a:rect l="l" t="t" r="r" b="b"/>
              <a:pathLst>
                <a:path w="64769" h="0">
                  <a:moveTo>
                    <a:pt x="0" y="0"/>
                  </a:moveTo>
                  <a:lnTo>
                    <a:pt x="64317" y="0"/>
                  </a:lnTo>
                  <a:lnTo>
                    <a:pt x="0" y="0"/>
                  </a:lnTo>
                </a:path>
              </a:pathLst>
            </a:custGeom>
            <a:ln w="5252">
              <a:solidFill>
                <a:srgbClr val="000000"/>
              </a:solidFill>
            </a:ln>
          </p:spPr>
          <p:txBody>
            <a:bodyPr wrap="square" lIns="0" tIns="0" rIns="0" bIns="0" rtlCol="0"/>
            <a:lstStyle/>
            <a:p/>
          </p:txBody>
        </p:sp>
        <p:sp>
          <p:nvSpPr>
            <p:cNvPr id="415" name="object 415" descr=""/>
            <p:cNvSpPr/>
            <p:nvPr/>
          </p:nvSpPr>
          <p:spPr>
            <a:xfrm>
              <a:off x="1841297" y="3401159"/>
              <a:ext cx="64769" cy="0"/>
            </a:xfrm>
            <a:custGeom>
              <a:avLst/>
              <a:gdLst/>
              <a:ahLst/>
              <a:cxnLst/>
              <a:rect l="l" t="t" r="r" b="b"/>
              <a:pathLst>
                <a:path w="64769" h="0">
                  <a:moveTo>
                    <a:pt x="64317" y="0"/>
                  </a:moveTo>
                  <a:lnTo>
                    <a:pt x="0" y="0"/>
                  </a:lnTo>
                </a:path>
              </a:pathLst>
            </a:custGeom>
            <a:solidFill>
              <a:srgbClr val="00FF00"/>
            </a:solidFill>
          </p:spPr>
          <p:txBody>
            <a:bodyPr wrap="square" lIns="0" tIns="0" rIns="0" bIns="0" rtlCol="0"/>
            <a:lstStyle/>
            <a:p/>
          </p:txBody>
        </p:sp>
        <p:sp>
          <p:nvSpPr>
            <p:cNvPr id="416" name="object 416" descr=""/>
            <p:cNvSpPr/>
            <p:nvPr/>
          </p:nvSpPr>
          <p:spPr>
            <a:xfrm>
              <a:off x="1841296" y="3401161"/>
              <a:ext cx="64769" cy="0"/>
            </a:xfrm>
            <a:custGeom>
              <a:avLst/>
              <a:gdLst/>
              <a:ahLst/>
              <a:cxnLst/>
              <a:rect l="l" t="t" r="r" b="b"/>
              <a:pathLst>
                <a:path w="64769" h="0">
                  <a:moveTo>
                    <a:pt x="0" y="0"/>
                  </a:moveTo>
                  <a:lnTo>
                    <a:pt x="64317" y="0"/>
                  </a:lnTo>
                  <a:lnTo>
                    <a:pt x="0" y="0"/>
                  </a:lnTo>
                </a:path>
              </a:pathLst>
            </a:custGeom>
            <a:ln w="5252">
              <a:solidFill>
                <a:srgbClr val="000000"/>
              </a:solidFill>
            </a:ln>
          </p:spPr>
          <p:txBody>
            <a:bodyPr wrap="square" lIns="0" tIns="0" rIns="0" bIns="0" rtlCol="0"/>
            <a:lstStyle/>
            <a:p/>
          </p:txBody>
        </p:sp>
        <p:sp>
          <p:nvSpPr>
            <p:cNvPr id="417" name="object 417" descr=""/>
            <p:cNvSpPr/>
            <p:nvPr/>
          </p:nvSpPr>
          <p:spPr>
            <a:xfrm>
              <a:off x="2126131" y="3401160"/>
              <a:ext cx="64769" cy="0"/>
            </a:xfrm>
            <a:custGeom>
              <a:avLst/>
              <a:gdLst/>
              <a:ahLst/>
              <a:cxnLst/>
              <a:rect l="l" t="t" r="r" b="b"/>
              <a:pathLst>
                <a:path w="64769" h="0">
                  <a:moveTo>
                    <a:pt x="64312" y="0"/>
                  </a:moveTo>
                  <a:lnTo>
                    <a:pt x="0" y="0"/>
                  </a:lnTo>
                </a:path>
              </a:pathLst>
            </a:custGeom>
            <a:solidFill>
              <a:srgbClr val="00FF00"/>
            </a:solidFill>
          </p:spPr>
          <p:txBody>
            <a:bodyPr wrap="square" lIns="0" tIns="0" rIns="0" bIns="0" rtlCol="0"/>
            <a:lstStyle/>
            <a:p/>
          </p:txBody>
        </p:sp>
        <p:sp>
          <p:nvSpPr>
            <p:cNvPr id="418" name="object 418" descr=""/>
            <p:cNvSpPr/>
            <p:nvPr/>
          </p:nvSpPr>
          <p:spPr>
            <a:xfrm>
              <a:off x="2126129" y="3401161"/>
              <a:ext cx="64769" cy="0"/>
            </a:xfrm>
            <a:custGeom>
              <a:avLst/>
              <a:gdLst/>
              <a:ahLst/>
              <a:cxnLst/>
              <a:rect l="l" t="t" r="r" b="b"/>
              <a:pathLst>
                <a:path w="64769" h="0">
                  <a:moveTo>
                    <a:pt x="0" y="0"/>
                  </a:moveTo>
                  <a:lnTo>
                    <a:pt x="64317" y="0"/>
                  </a:lnTo>
                  <a:lnTo>
                    <a:pt x="0" y="0"/>
                  </a:lnTo>
                </a:path>
              </a:pathLst>
            </a:custGeom>
            <a:ln w="5252">
              <a:solidFill>
                <a:srgbClr val="000000"/>
              </a:solidFill>
            </a:ln>
          </p:spPr>
          <p:txBody>
            <a:bodyPr wrap="square" lIns="0" tIns="0" rIns="0" bIns="0" rtlCol="0"/>
            <a:lstStyle/>
            <a:p/>
          </p:txBody>
        </p:sp>
        <p:sp>
          <p:nvSpPr>
            <p:cNvPr id="419" name="object 419" descr=""/>
            <p:cNvSpPr/>
            <p:nvPr/>
          </p:nvSpPr>
          <p:spPr>
            <a:xfrm>
              <a:off x="2410965" y="3401161"/>
              <a:ext cx="64769" cy="0"/>
            </a:xfrm>
            <a:custGeom>
              <a:avLst/>
              <a:gdLst/>
              <a:ahLst/>
              <a:cxnLst/>
              <a:rect l="l" t="t" r="r" b="b"/>
              <a:pathLst>
                <a:path w="64769" h="0">
                  <a:moveTo>
                    <a:pt x="64312" y="0"/>
                  </a:moveTo>
                  <a:lnTo>
                    <a:pt x="0" y="0"/>
                  </a:lnTo>
                </a:path>
              </a:pathLst>
            </a:custGeom>
            <a:solidFill>
              <a:srgbClr val="00FF00"/>
            </a:solidFill>
          </p:spPr>
          <p:txBody>
            <a:bodyPr wrap="square" lIns="0" tIns="0" rIns="0" bIns="0" rtlCol="0"/>
            <a:lstStyle/>
            <a:p/>
          </p:txBody>
        </p:sp>
        <p:sp>
          <p:nvSpPr>
            <p:cNvPr id="420" name="object 420" descr=""/>
            <p:cNvSpPr/>
            <p:nvPr/>
          </p:nvSpPr>
          <p:spPr>
            <a:xfrm>
              <a:off x="2410963" y="3401162"/>
              <a:ext cx="64769" cy="0"/>
            </a:xfrm>
            <a:custGeom>
              <a:avLst/>
              <a:gdLst/>
              <a:ahLst/>
              <a:cxnLst/>
              <a:rect l="l" t="t" r="r" b="b"/>
              <a:pathLst>
                <a:path w="64769" h="0">
                  <a:moveTo>
                    <a:pt x="0" y="0"/>
                  </a:moveTo>
                  <a:lnTo>
                    <a:pt x="64317" y="0"/>
                  </a:lnTo>
                  <a:lnTo>
                    <a:pt x="0" y="0"/>
                  </a:lnTo>
                </a:path>
              </a:pathLst>
            </a:custGeom>
            <a:ln w="5252">
              <a:solidFill>
                <a:srgbClr val="000000"/>
              </a:solidFill>
            </a:ln>
          </p:spPr>
          <p:txBody>
            <a:bodyPr wrap="square" lIns="0" tIns="0" rIns="0" bIns="0" rtlCol="0"/>
            <a:lstStyle/>
            <a:p/>
          </p:txBody>
        </p:sp>
        <p:sp>
          <p:nvSpPr>
            <p:cNvPr id="421" name="object 421" descr=""/>
            <p:cNvSpPr/>
            <p:nvPr/>
          </p:nvSpPr>
          <p:spPr>
            <a:xfrm>
              <a:off x="2695794" y="3401161"/>
              <a:ext cx="60325" cy="0"/>
            </a:xfrm>
            <a:custGeom>
              <a:avLst/>
              <a:gdLst/>
              <a:ahLst/>
              <a:cxnLst/>
              <a:rect l="l" t="t" r="r" b="b"/>
              <a:pathLst>
                <a:path w="60325" h="0">
                  <a:moveTo>
                    <a:pt x="59727" y="0"/>
                  </a:moveTo>
                  <a:lnTo>
                    <a:pt x="0" y="0"/>
                  </a:lnTo>
                </a:path>
              </a:pathLst>
            </a:custGeom>
            <a:solidFill>
              <a:srgbClr val="00FF00"/>
            </a:solidFill>
          </p:spPr>
          <p:txBody>
            <a:bodyPr wrap="square" lIns="0" tIns="0" rIns="0" bIns="0" rtlCol="0"/>
            <a:lstStyle/>
            <a:p/>
          </p:txBody>
        </p:sp>
        <p:sp>
          <p:nvSpPr>
            <p:cNvPr id="422" name="object 422" descr=""/>
            <p:cNvSpPr/>
            <p:nvPr/>
          </p:nvSpPr>
          <p:spPr>
            <a:xfrm>
              <a:off x="2695796" y="3401163"/>
              <a:ext cx="60325" cy="0"/>
            </a:xfrm>
            <a:custGeom>
              <a:avLst/>
              <a:gdLst/>
              <a:ahLst/>
              <a:cxnLst/>
              <a:rect l="l" t="t" r="r" b="b"/>
              <a:pathLst>
                <a:path w="60325" h="0">
                  <a:moveTo>
                    <a:pt x="0" y="0"/>
                  </a:moveTo>
                  <a:lnTo>
                    <a:pt x="59723" y="0"/>
                  </a:lnTo>
                  <a:lnTo>
                    <a:pt x="0" y="0"/>
                  </a:lnTo>
                </a:path>
              </a:pathLst>
            </a:custGeom>
            <a:ln w="5252">
              <a:solidFill>
                <a:srgbClr val="000000"/>
              </a:solidFill>
            </a:ln>
          </p:spPr>
          <p:txBody>
            <a:bodyPr wrap="square" lIns="0" tIns="0" rIns="0" bIns="0" rtlCol="0"/>
            <a:lstStyle/>
            <a:p/>
          </p:txBody>
        </p:sp>
        <p:sp>
          <p:nvSpPr>
            <p:cNvPr id="423" name="object 423" descr=""/>
            <p:cNvSpPr/>
            <p:nvPr/>
          </p:nvSpPr>
          <p:spPr>
            <a:xfrm>
              <a:off x="766280" y="3395912"/>
              <a:ext cx="64769" cy="5715"/>
            </a:xfrm>
            <a:custGeom>
              <a:avLst/>
              <a:gdLst/>
              <a:ahLst/>
              <a:cxnLst/>
              <a:rect l="l" t="t" r="r" b="b"/>
              <a:pathLst>
                <a:path w="64769" h="5714">
                  <a:moveTo>
                    <a:pt x="64317" y="5252"/>
                  </a:moveTo>
                  <a:lnTo>
                    <a:pt x="0" y="5252"/>
                  </a:lnTo>
                  <a:lnTo>
                    <a:pt x="0" y="0"/>
                  </a:lnTo>
                  <a:lnTo>
                    <a:pt x="64317" y="0"/>
                  </a:lnTo>
                  <a:lnTo>
                    <a:pt x="64317" y="5252"/>
                  </a:lnTo>
                  <a:close/>
                </a:path>
              </a:pathLst>
            </a:custGeom>
            <a:solidFill>
              <a:srgbClr val="0000FF"/>
            </a:solidFill>
          </p:spPr>
          <p:txBody>
            <a:bodyPr wrap="square" lIns="0" tIns="0" rIns="0" bIns="0" rtlCol="0"/>
            <a:lstStyle/>
            <a:p/>
          </p:txBody>
        </p:sp>
        <p:sp>
          <p:nvSpPr>
            <p:cNvPr id="424" name="object 424" descr=""/>
            <p:cNvSpPr/>
            <p:nvPr/>
          </p:nvSpPr>
          <p:spPr>
            <a:xfrm>
              <a:off x="766280" y="3395913"/>
              <a:ext cx="64769" cy="5715"/>
            </a:xfrm>
            <a:custGeom>
              <a:avLst/>
              <a:gdLst/>
              <a:ahLst/>
              <a:cxnLst/>
              <a:rect l="l" t="t" r="r" b="b"/>
              <a:pathLst>
                <a:path w="64769" h="5714">
                  <a:moveTo>
                    <a:pt x="0" y="0"/>
                  </a:moveTo>
                  <a:lnTo>
                    <a:pt x="64317" y="0"/>
                  </a:lnTo>
                  <a:lnTo>
                    <a:pt x="64317" y="5252"/>
                  </a:lnTo>
                  <a:lnTo>
                    <a:pt x="0" y="5252"/>
                  </a:lnTo>
                  <a:lnTo>
                    <a:pt x="0" y="0"/>
                  </a:lnTo>
                  <a:close/>
                </a:path>
              </a:pathLst>
            </a:custGeom>
            <a:ln w="5248">
              <a:solidFill>
                <a:srgbClr val="000000"/>
              </a:solidFill>
            </a:ln>
          </p:spPr>
          <p:txBody>
            <a:bodyPr wrap="square" lIns="0" tIns="0" rIns="0" bIns="0" rtlCol="0"/>
            <a:lstStyle/>
            <a:p/>
          </p:txBody>
        </p:sp>
        <p:sp>
          <p:nvSpPr>
            <p:cNvPr id="425" name="object 425" descr=""/>
            <p:cNvSpPr/>
            <p:nvPr/>
          </p:nvSpPr>
          <p:spPr>
            <a:xfrm>
              <a:off x="1051113" y="2282350"/>
              <a:ext cx="64769" cy="1118870"/>
            </a:xfrm>
            <a:custGeom>
              <a:avLst/>
              <a:gdLst/>
              <a:ahLst/>
              <a:cxnLst/>
              <a:rect l="l" t="t" r="r" b="b"/>
              <a:pathLst>
                <a:path w="64769" h="1118870">
                  <a:moveTo>
                    <a:pt x="64312" y="1118810"/>
                  </a:moveTo>
                  <a:lnTo>
                    <a:pt x="0" y="1118810"/>
                  </a:lnTo>
                  <a:lnTo>
                    <a:pt x="0" y="0"/>
                  </a:lnTo>
                  <a:lnTo>
                    <a:pt x="64312" y="0"/>
                  </a:lnTo>
                  <a:lnTo>
                    <a:pt x="64312" y="1118810"/>
                  </a:lnTo>
                  <a:close/>
                </a:path>
              </a:pathLst>
            </a:custGeom>
            <a:solidFill>
              <a:srgbClr val="0000FF"/>
            </a:solidFill>
          </p:spPr>
          <p:txBody>
            <a:bodyPr wrap="square" lIns="0" tIns="0" rIns="0" bIns="0" rtlCol="0"/>
            <a:lstStyle/>
            <a:p/>
          </p:txBody>
        </p:sp>
        <p:sp>
          <p:nvSpPr>
            <p:cNvPr id="426" name="object 426" descr=""/>
            <p:cNvSpPr/>
            <p:nvPr/>
          </p:nvSpPr>
          <p:spPr>
            <a:xfrm>
              <a:off x="1051113" y="2282350"/>
              <a:ext cx="64769" cy="1118870"/>
            </a:xfrm>
            <a:custGeom>
              <a:avLst/>
              <a:gdLst/>
              <a:ahLst/>
              <a:cxnLst/>
              <a:rect l="l" t="t" r="r" b="b"/>
              <a:pathLst>
                <a:path w="64769" h="1118870">
                  <a:moveTo>
                    <a:pt x="0" y="0"/>
                  </a:moveTo>
                  <a:lnTo>
                    <a:pt x="64317" y="0"/>
                  </a:lnTo>
                  <a:lnTo>
                    <a:pt x="64317" y="1118815"/>
                  </a:lnTo>
                  <a:lnTo>
                    <a:pt x="0" y="1118815"/>
                  </a:lnTo>
                  <a:lnTo>
                    <a:pt x="0" y="0"/>
                  </a:lnTo>
                  <a:close/>
                </a:path>
              </a:pathLst>
            </a:custGeom>
            <a:ln w="4596">
              <a:solidFill>
                <a:srgbClr val="000000"/>
              </a:solidFill>
            </a:ln>
          </p:spPr>
          <p:txBody>
            <a:bodyPr wrap="square" lIns="0" tIns="0" rIns="0" bIns="0" rtlCol="0"/>
            <a:lstStyle/>
            <a:p/>
          </p:txBody>
        </p:sp>
        <p:sp>
          <p:nvSpPr>
            <p:cNvPr id="427" name="object 427" descr=""/>
            <p:cNvSpPr/>
            <p:nvPr/>
          </p:nvSpPr>
          <p:spPr>
            <a:xfrm>
              <a:off x="1335947" y="1410410"/>
              <a:ext cx="64769" cy="1991360"/>
            </a:xfrm>
            <a:custGeom>
              <a:avLst/>
              <a:gdLst/>
              <a:ahLst/>
              <a:cxnLst/>
              <a:rect l="l" t="t" r="r" b="b"/>
              <a:pathLst>
                <a:path w="64769" h="1991360">
                  <a:moveTo>
                    <a:pt x="64317" y="1990756"/>
                  </a:moveTo>
                  <a:lnTo>
                    <a:pt x="0" y="1990756"/>
                  </a:lnTo>
                  <a:lnTo>
                    <a:pt x="0" y="0"/>
                  </a:lnTo>
                  <a:lnTo>
                    <a:pt x="64317" y="0"/>
                  </a:lnTo>
                  <a:lnTo>
                    <a:pt x="64317" y="1990756"/>
                  </a:lnTo>
                  <a:close/>
                </a:path>
              </a:pathLst>
            </a:custGeom>
            <a:solidFill>
              <a:srgbClr val="0000FF"/>
            </a:solidFill>
          </p:spPr>
          <p:txBody>
            <a:bodyPr wrap="square" lIns="0" tIns="0" rIns="0" bIns="0" rtlCol="0"/>
            <a:lstStyle/>
            <a:p/>
          </p:txBody>
        </p:sp>
        <p:sp>
          <p:nvSpPr>
            <p:cNvPr id="428" name="object 428" descr=""/>
            <p:cNvSpPr/>
            <p:nvPr/>
          </p:nvSpPr>
          <p:spPr>
            <a:xfrm>
              <a:off x="1335947" y="1410410"/>
              <a:ext cx="64769" cy="1991360"/>
            </a:xfrm>
            <a:custGeom>
              <a:avLst/>
              <a:gdLst/>
              <a:ahLst/>
              <a:cxnLst/>
              <a:rect l="l" t="t" r="r" b="b"/>
              <a:pathLst>
                <a:path w="64769" h="1991360">
                  <a:moveTo>
                    <a:pt x="0" y="0"/>
                  </a:moveTo>
                  <a:lnTo>
                    <a:pt x="64317" y="0"/>
                  </a:lnTo>
                  <a:lnTo>
                    <a:pt x="64317" y="1990756"/>
                  </a:lnTo>
                  <a:lnTo>
                    <a:pt x="0" y="1990756"/>
                  </a:lnTo>
                  <a:lnTo>
                    <a:pt x="0" y="0"/>
                  </a:lnTo>
                  <a:close/>
                </a:path>
              </a:pathLst>
            </a:custGeom>
            <a:ln w="4594">
              <a:solidFill>
                <a:srgbClr val="000000"/>
              </a:solidFill>
            </a:ln>
          </p:spPr>
          <p:txBody>
            <a:bodyPr wrap="square" lIns="0" tIns="0" rIns="0" bIns="0" rtlCol="0"/>
            <a:lstStyle/>
            <a:p/>
          </p:txBody>
        </p:sp>
        <p:sp>
          <p:nvSpPr>
            <p:cNvPr id="429" name="object 429" descr=""/>
            <p:cNvSpPr/>
            <p:nvPr/>
          </p:nvSpPr>
          <p:spPr>
            <a:xfrm>
              <a:off x="1620776" y="3369651"/>
              <a:ext cx="64769" cy="31750"/>
            </a:xfrm>
            <a:custGeom>
              <a:avLst/>
              <a:gdLst/>
              <a:ahLst/>
              <a:cxnLst/>
              <a:rect l="l" t="t" r="r" b="b"/>
              <a:pathLst>
                <a:path w="64769" h="31750">
                  <a:moveTo>
                    <a:pt x="64317" y="31510"/>
                  </a:moveTo>
                  <a:lnTo>
                    <a:pt x="0" y="31510"/>
                  </a:lnTo>
                  <a:lnTo>
                    <a:pt x="0" y="0"/>
                  </a:lnTo>
                  <a:lnTo>
                    <a:pt x="64317" y="0"/>
                  </a:lnTo>
                  <a:lnTo>
                    <a:pt x="64317" y="31510"/>
                  </a:lnTo>
                  <a:close/>
                </a:path>
              </a:pathLst>
            </a:custGeom>
            <a:solidFill>
              <a:srgbClr val="0000FF"/>
            </a:solidFill>
          </p:spPr>
          <p:txBody>
            <a:bodyPr wrap="square" lIns="0" tIns="0" rIns="0" bIns="0" rtlCol="0"/>
            <a:lstStyle/>
            <a:p/>
          </p:txBody>
        </p:sp>
        <p:sp>
          <p:nvSpPr>
            <p:cNvPr id="430" name="object 430" descr=""/>
            <p:cNvSpPr/>
            <p:nvPr/>
          </p:nvSpPr>
          <p:spPr>
            <a:xfrm>
              <a:off x="1620780" y="3369652"/>
              <a:ext cx="64769" cy="31750"/>
            </a:xfrm>
            <a:custGeom>
              <a:avLst/>
              <a:gdLst/>
              <a:ahLst/>
              <a:cxnLst/>
              <a:rect l="l" t="t" r="r" b="b"/>
              <a:pathLst>
                <a:path w="64769" h="31750">
                  <a:moveTo>
                    <a:pt x="0" y="0"/>
                  </a:moveTo>
                  <a:lnTo>
                    <a:pt x="64317" y="0"/>
                  </a:lnTo>
                  <a:lnTo>
                    <a:pt x="64317" y="31515"/>
                  </a:lnTo>
                  <a:lnTo>
                    <a:pt x="0" y="31515"/>
                  </a:lnTo>
                  <a:lnTo>
                    <a:pt x="0" y="0"/>
                  </a:lnTo>
                  <a:close/>
                </a:path>
              </a:pathLst>
            </a:custGeom>
            <a:ln w="5125">
              <a:solidFill>
                <a:srgbClr val="000000"/>
              </a:solidFill>
            </a:ln>
          </p:spPr>
          <p:txBody>
            <a:bodyPr wrap="square" lIns="0" tIns="0" rIns="0" bIns="0" rtlCol="0"/>
            <a:lstStyle/>
            <a:p/>
          </p:txBody>
        </p:sp>
        <p:sp>
          <p:nvSpPr>
            <p:cNvPr id="431" name="object 431" descr=""/>
            <p:cNvSpPr/>
            <p:nvPr/>
          </p:nvSpPr>
          <p:spPr>
            <a:xfrm>
              <a:off x="1905611" y="3401165"/>
              <a:ext cx="64769" cy="0"/>
            </a:xfrm>
            <a:custGeom>
              <a:avLst/>
              <a:gdLst/>
              <a:ahLst/>
              <a:cxnLst/>
              <a:rect l="l" t="t" r="r" b="b"/>
              <a:pathLst>
                <a:path w="64769" h="0">
                  <a:moveTo>
                    <a:pt x="64317" y="0"/>
                  </a:moveTo>
                  <a:lnTo>
                    <a:pt x="0" y="0"/>
                  </a:lnTo>
                </a:path>
              </a:pathLst>
            </a:custGeom>
            <a:solidFill>
              <a:srgbClr val="0000FF"/>
            </a:solidFill>
          </p:spPr>
          <p:txBody>
            <a:bodyPr wrap="square" lIns="0" tIns="0" rIns="0" bIns="0" rtlCol="0"/>
            <a:lstStyle/>
            <a:p/>
          </p:txBody>
        </p:sp>
        <p:sp>
          <p:nvSpPr>
            <p:cNvPr id="432" name="object 432" descr=""/>
            <p:cNvSpPr/>
            <p:nvPr/>
          </p:nvSpPr>
          <p:spPr>
            <a:xfrm>
              <a:off x="1905613" y="3401167"/>
              <a:ext cx="64769" cy="0"/>
            </a:xfrm>
            <a:custGeom>
              <a:avLst/>
              <a:gdLst/>
              <a:ahLst/>
              <a:cxnLst/>
              <a:rect l="l" t="t" r="r" b="b"/>
              <a:pathLst>
                <a:path w="64769" h="0">
                  <a:moveTo>
                    <a:pt x="0" y="0"/>
                  </a:moveTo>
                  <a:lnTo>
                    <a:pt x="64317" y="0"/>
                  </a:lnTo>
                  <a:lnTo>
                    <a:pt x="0" y="0"/>
                  </a:lnTo>
                </a:path>
              </a:pathLst>
            </a:custGeom>
            <a:ln w="5252">
              <a:solidFill>
                <a:srgbClr val="000000"/>
              </a:solidFill>
            </a:ln>
          </p:spPr>
          <p:txBody>
            <a:bodyPr wrap="square" lIns="0" tIns="0" rIns="0" bIns="0" rtlCol="0"/>
            <a:lstStyle/>
            <a:p/>
          </p:txBody>
        </p:sp>
        <p:sp>
          <p:nvSpPr>
            <p:cNvPr id="433" name="object 433" descr=""/>
            <p:cNvSpPr/>
            <p:nvPr/>
          </p:nvSpPr>
          <p:spPr>
            <a:xfrm>
              <a:off x="2190445" y="3401166"/>
              <a:ext cx="60325" cy="0"/>
            </a:xfrm>
            <a:custGeom>
              <a:avLst/>
              <a:gdLst/>
              <a:ahLst/>
              <a:cxnLst/>
              <a:rect l="l" t="t" r="r" b="b"/>
              <a:pathLst>
                <a:path w="60325" h="0">
                  <a:moveTo>
                    <a:pt x="59727" y="0"/>
                  </a:moveTo>
                  <a:lnTo>
                    <a:pt x="0" y="0"/>
                  </a:lnTo>
                </a:path>
              </a:pathLst>
            </a:custGeom>
            <a:solidFill>
              <a:srgbClr val="0000FF"/>
            </a:solidFill>
          </p:spPr>
          <p:txBody>
            <a:bodyPr wrap="square" lIns="0" tIns="0" rIns="0" bIns="0" rtlCol="0"/>
            <a:lstStyle/>
            <a:p/>
          </p:txBody>
        </p:sp>
        <p:sp>
          <p:nvSpPr>
            <p:cNvPr id="434" name="object 434" descr=""/>
            <p:cNvSpPr/>
            <p:nvPr/>
          </p:nvSpPr>
          <p:spPr>
            <a:xfrm>
              <a:off x="2190446" y="3401168"/>
              <a:ext cx="60325" cy="0"/>
            </a:xfrm>
            <a:custGeom>
              <a:avLst/>
              <a:gdLst/>
              <a:ahLst/>
              <a:cxnLst/>
              <a:rect l="l" t="t" r="r" b="b"/>
              <a:pathLst>
                <a:path w="60325" h="0">
                  <a:moveTo>
                    <a:pt x="0" y="0"/>
                  </a:moveTo>
                  <a:lnTo>
                    <a:pt x="59723" y="0"/>
                  </a:lnTo>
                  <a:lnTo>
                    <a:pt x="0" y="0"/>
                  </a:lnTo>
                </a:path>
              </a:pathLst>
            </a:custGeom>
            <a:ln w="5252">
              <a:solidFill>
                <a:srgbClr val="000000"/>
              </a:solidFill>
            </a:ln>
          </p:spPr>
          <p:txBody>
            <a:bodyPr wrap="square" lIns="0" tIns="0" rIns="0" bIns="0" rtlCol="0"/>
            <a:lstStyle/>
            <a:p/>
          </p:txBody>
        </p:sp>
        <p:sp>
          <p:nvSpPr>
            <p:cNvPr id="435" name="object 435" descr=""/>
            <p:cNvSpPr/>
            <p:nvPr/>
          </p:nvSpPr>
          <p:spPr>
            <a:xfrm>
              <a:off x="2475279" y="3401167"/>
              <a:ext cx="60325" cy="0"/>
            </a:xfrm>
            <a:custGeom>
              <a:avLst/>
              <a:gdLst/>
              <a:ahLst/>
              <a:cxnLst/>
              <a:rect l="l" t="t" r="r" b="b"/>
              <a:pathLst>
                <a:path w="60325" h="0">
                  <a:moveTo>
                    <a:pt x="59727" y="0"/>
                  </a:moveTo>
                  <a:lnTo>
                    <a:pt x="0" y="0"/>
                  </a:lnTo>
                </a:path>
              </a:pathLst>
            </a:custGeom>
            <a:solidFill>
              <a:srgbClr val="0000FF"/>
            </a:solidFill>
          </p:spPr>
          <p:txBody>
            <a:bodyPr wrap="square" lIns="0" tIns="0" rIns="0" bIns="0" rtlCol="0"/>
            <a:lstStyle/>
            <a:p/>
          </p:txBody>
        </p:sp>
        <p:sp>
          <p:nvSpPr>
            <p:cNvPr id="436" name="object 436" descr=""/>
            <p:cNvSpPr/>
            <p:nvPr/>
          </p:nvSpPr>
          <p:spPr>
            <a:xfrm>
              <a:off x="2475280" y="3401168"/>
              <a:ext cx="60325" cy="0"/>
            </a:xfrm>
            <a:custGeom>
              <a:avLst/>
              <a:gdLst/>
              <a:ahLst/>
              <a:cxnLst/>
              <a:rect l="l" t="t" r="r" b="b"/>
              <a:pathLst>
                <a:path w="60325" h="0">
                  <a:moveTo>
                    <a:pt x="0" y="0"/>
                  </a:moveTo>
                  <a:lnTo>
                    <a:pt x="59723" y="0"/>
                  </a:lnTo>
                  <a:lnTo>
                    <a:pt x="0" y="0"/>
                  </a:lnTo>
                </a:path>
              </a:pathLst>
            </a:custGeom>
            <a:ln w="5252">
              <a:solidFill>
                <a:srgbClr val="000000"/>
              </a:solidFill>
            </a:ln>
          </p:spPr>
          <p:txBody>
            <a:bodyPr wrap="square" lIns="0" tIns="0" rIns="0" bIns="0" rtlCol="0"/>
            <a:lstStyle/>
            <a:p/>
          </p:txBody>
        </p:sp>
        <p:sp>
          <p:nvSpPr>
            <p:cNvPr id="437" name="object 437" descr=""/>
            <p:cNvSpPr/>
            <p:nvPr/>
          </p:nvSpPr>
          <p:spPr>
            <a:xfrm>
              <a:off x="2755520" y="3401168"/>
              <a:ext cx="64769" cy="0"/>
            </a:xfrm>
            <a:custGeom>
              <a:avLst/>
              <a:gdLst/>
              <a:ahLst/>
              <a:cxnLst/>
              <a:rect l="l" t="t" r="r" b="b"/>
              <a:pathLst>
                <a:path w="64769" h="0">
                  <a:moveTo>
                    <a:pt x="64312" y="0"/>
                  </a:moveTo>
                  <a:lnTo>
                    <a:pt x="0" y="0"/>
                  </a:lnTo>
                </a:path>
              </a:pathLst>
            </a:custGeom>
            <a:solidFill>
              <a:srgbClr val="0000FF"/>
            </a:solidFill>
          </p:spPr>
          <p:txBody>
            <a:bodyPr wrap="square" lIns="0" tIns="0" rIns="0" bIns="0" rtlCol="0"/>
            <a:lstStyle/>
            <a:p/>
          </p:txBody>
        </p:sp>
        <p:sp>
          <p:nvSpPr>
            <p:cNvPr id="438" name="object 438" descr=""/>
            <p:cNvSpPr/>
            <p:nvPr/>
          </p:nvSpPr>
          <p:spPr>
            <a:xfrm>
              <a:off x="2755519" y="3401169"/>
              <a:ext cx="64769" cy="0"/>
            </a:xfrm>
            <a:custGeom>
              <a:avLst/>
              <a:gdLst/>
              <a:ahLst/>
              <a:cxnLst/>
              <a:rect l="l" t="t" r="r" b="b"/>
              <a:pathLst>
                <a:path w="64769" h="0">
                  <a:moveTo>
                    <a:pt x="0" y="0"/>
                  </a:moveTo>
                  <a:lnTo>
                    <a:pt x="64317" y="0"/>
                  </a:lnTo>
                  <a:lnTo>
                    <a:pt x="0" y="0"/>
                  </a:lnTo>
                </a:path>
              </a:pathLst>
            </a:custGeom>
            <a:ln w="5252">
              <a:solidFill>
                <a:srgbClr val="000000"/>
              </a:solidFill>
            </a:ln>
          </p:spPr>
          <p:txBody>
            <a:bodyPr wrap="square" lIns="0" tIns="0" rIns="0" bIns="0" rtlCol="0"/>
            <a:lstStyle/>
            <a:p/>
          </p:txBody>
        </p:sp>
      </p:grpSp>
      <p:sp>
        <p:nvSpPr>
          <p:cNvPr id="439" name="object 439" descr=""/>
          <p:cNvSpPr txBox="1"/>
          <p:nvPr/>
        </p:nvSpPr>
        <p:spPr>
          <a:xfrm>
            <a:off x="1474850" y="3482999"/>
            <a:ext cx="459740" cy="107950"/>
          </a:xfrm>
          <a:prstGeom prst="rect">
            <a:avLst/>
          </a:prstGeom>
        </p:spPr>
        <p:txBody>
          <a:bodyPr wrap="square" lIns="0" tIns="17145" rIns="0" bIns="0" rtlCol="0" vert="horz">
            <a:spAutoFit/>
          </a:bodyPr>
          <a:lstStyle/>
          <a:p>
            <a:pPr marL="12700">
              <a:lnSpc>
                <a:spcPct val="100000"/>
              </a:lnSpc>
              <a:spcBef>
                <a:spcPts val="135"/>
              </a:spcBef>
            </a:pPr>
            <a:r>
              <a:rPr dirty="0" sz="500" spc="-15">
                <a:latin typeface="SimSun"/>
                <a:cs typeface="SimSun"/>
              </a:rPr>
              <a:t>速率区 </a:t>
            </a:r>
            <a:r>
              <a:rPr dirty="0" sz="500" spc="-215">
                <a:latin typeface="SimSun"/>
                <a:cs typeface="SimSun"/>
              </a:rPr>
              <a:t>间(</a:t>
            </a:r>
            <a:r>
              <a:rPr dirty="0" sz="500" spc="-70">
                <a:latin typeface="SimSun"/>
                <a:cs typeface="SimSun"/>
              </a:rPr>
              <a:t>M</a:t>
            </a:r>
            <a:r>
              <a:rPr dirty="0" sz="500" spc="-80">
                <a:latin typeface="SimSun"/>
                <a:cs typeface="SimSun"/>
              </a:rPr>
              <a:t> </a:t>
            </a:r>
            <a:r>
              <a:rPr dirty="0" sz="500" spc="-20">
                <a:latin typeface="SimSun"/>
                <a:cs typeface="SimSun"/>
              </a:rPr>
              <a:t>bps)</a:t>
            </a:r>
            <a:endParaRPr sz="500">
              <a:latin typeface="SimSun"/>
              <a:cs typeface="SimSun"/>
            </a:endParaRPr>
          </a:p>
        </p:txBody>
      </p:sp>
      <p:sp>
        <p:nvSpPr>
          <p:cNvPr id="440" name="object 440" descr=""/>
          <p:cNvSpPr txBox="1"/>
          <p:nvPr/>
        </p:nvSpPr>
        <p:spPr>
          <a:xfrm>
            <a:off x="172378" y="2201310"/>
            <a:ext cx="169545" cy="417830"/>
          </a:xfrm>
          <a:prstGeom prst="rect">
            <a:avLst/>
          </a:prstGeom>
        </p:spPr>
        <p:txBody>
          <a:bodyPr wrap="square" lIns="0" tIns="7620" rIns="0" bIns="0" rtlCol="0" vert="vert270">
            <a:spAutoFit/>
          </a:bodyPr>
          <a:lstStyle/>
          <a:p>
            <a:pPr marL="12700">
              <a:lnSpc>
                <a:spcPct val="100000"/>
              </a:lnSpc>
              <a:spcBef>
                <a:spcPts val="60"/>
              </a:spcBef>
            </a:pPr>
            <a:r>
              <a:rPr dirty="0" sz="500" spc="65">
                <a:latin typeface="SimSun"/>
                <a:cs typeface="SimSun"/>
              </a:rPr>
              <a:t>累计概率</a:t>
            </a:r>
            <a:endParaRPr sz="500">
              <a:latin typeface="SimSun"/>
              <a:cs typeface="SimSun"/>
            </a:endParaRPr>
          </a:p>
          <a:p>
            <a:pPr marL="88900">
              <a:lnSpc>
                <a:spcPct val="100000"/>
              </a:lnSpc>
              <a:spcBef>
                <a:spcPts val="55"/>
              </a:spcBef>
            </a:pPr>
            <a:r>
              <a:rPr dirty="0" sz="450" spc="130">
                <a:latin typeface="MS PGothic"/>
                <a:cs typeface="MS PGothic"/>
              </a:rPr>
              <a:t>速率占比</a:t>
            </a:r>
            <a:r>
              <a:rPr dirty="0" sz="450" spc="500">
                <a:latin typeface="MS PGothic"/>
                <a:cs typeface="MS PGothic"/>
              </a:rPr>
              <a:t> </a:t>
            </a:r>
            <a:endParaRPr sz="450">
              <a:latin typeface="MS PGothic"/>
              <a:cs typeface="MS PGothic"/>
            </a:endParaRPr>
          </a:p>
        </p:txBody>
      </p:sp>
      <p:sp>
        <p:nvSpPr>
          <p:cNvPr id="441" name="object 441" descr=""/>
          <p:cNvSpPr txBox="1"/>
          <p:nvPr/>
        </p:nvSpPr>
        <p:spPr>
          <a:xfrm>
            <a:off x="495519" y="2411661"/>
            <a:ext cx="85725" cy="130810"/>
          </a:xfrm>
          <a:prstGeom prst="rect">
            <a:avLst/>
          </a:prstGeom>
        </p:spPr>
        <p:txBody>
          <a:bodyPr wrap="square" lIns="0" tIns="6985" rIns="0" bIns="0" rtlCol="0" vert="vert270">
            <a:spAutoFit/>
          </a:bodyPr>
          <a:lstStyle/>
          <a:p>
            <a:pPr marL="12700">
              <a:lnSpc>
                <a:spcPct val="100000"/>
              </a:lnSpc>
              <a:spcBef>
                <a:spcPts val="55"/>
              </a:spcBef>
            </a:pPr>
            <a:r>
              <a:rPr dirty="0" sz="450">
                <a:latin typeface="MS PGothic"/>
                <a:cs typeface="MS PGothic"/>
              </a:rPr>
              <a:t>(%</a:t>
            </a:r>
            <a:r>
              <a:rPr dirty="0" sz="450" spc="150">
                <a:latin typeface="MS PGothic"/>
                <a:cs typeface="MS PGothic"/>
              </a:rPr>
              <a:t> </a:t>
            </a:r>
            <a:r>
              <a:rPr dirty="0" sz="450" spc="-50">
                <a:latin typeface="MS PGothic"/>
                <a:cs typeface="MS PGothic"/>
              </a:rPr>
              <a:t>)</a:t>
            </a:r>
            <a:endParaRPr sz="450">
              <a:latin typeface="MS PGothic"/>
              <a:cs typeface="MS PGothic"/>
            </a:endParaRPr>
          </a:p>
        </p:txBody>
      </p:sp>
      <p:sp>
        <p:nvSpPr>
          <p:cNvPr id="442" name="object 442" descr=""/>
          <p:cNvSpPr txBox="1"/>
          <p:nvPr/>
        </p:nvSpPr>
        <p:spPr>
          <a:xfrm>
            <a:off x="124592" y="680833"/>
            <a:ext cx="4149090" cy="488315"/>
          </a:xfrm>
          <a:prstGeom prst="rect">
            <a:avLst/>
          </a:prstGeom>
        </p:spPr>
        <p:txBody>
          <a:bodyPr wrap="square" lIns="0" tIns="132715" rIns="0" bIns="0" rtlCol="0" vert="horz">
            <a:spAutoFit/>
          </a:bodyPr>
          <a:lstStyle/>
          <a:p>
            <a:pPr marL="50800">
              <a:lnSpc>
                <a:spcPct val="100000"/>
              </a:lnSpc>
              <a:spcBef>
                <a:spcPts val="1045"/>
              </a:spcBef>
            </a:pPr>
            <a:r>
              <a:rPr dirty="0" baseline="13888" sz="2100" spc="-37">
                <a:latin typeface="Arial MT"/>
                <a:cs typeface="Arial MT"/>
              </a:rPr>
              <a:t>NR</a:t>
            </a:r>
            <a:r>
              <a:rPr dirty="0" baseline="13888" sz="2100" spc="-1739">
                <a:latin typeface="SimSun"/>
                <a:cs typeface="SimSun"/>
              </a:rPr>
              <a:t>与</a:t>
            </a:r>
            <a:r>
              <a:rPr dirty="0" sz="1400" spc="-20">
                <a:latin typeface="Arial MT"/>
                <a:cs typeface="Arial MT"/>
              </a:rPr>
              <a:t>S</a:t>
            </a:r>
            <a:r>
              <a:rPr dirty="0" sz="1400" spc="-740">
                <a:latin typeface="Arial MT"/>
                <a:cs typeface="Arial MT"/>
              </a:rPr>
              <a:t>S</a:t>
            </a:r>
            <a:r>
              <a:rPr dirty="0" baseline="13888" sz="2100" spc="-112">
                <a:latin typeface="Arial MT"/>
                <a:cs typeface="Arial MT"/>
              </a:rPr>
              <a:t>L</a:t>
            </a:r>
            <a:r>
              <a:rPr dirty="0" sz="1400" spc="-890">
                <a:latin typeface="Arial MT"/>
                <a:cs typeface="Arial MT"/>
              </a:rPr>
              <a:t>B</a:t>
            </a:r>
            <a:r>
              <a:rPr dirty="0" baseline="13888" sz="2100" spc="-15">
                <a:latin typeface="Arial MT"/>
                <a:cs typeface="Arial MT"/>
              </a:rPr>
              <a:t>1</a:t>
            </a:r>
            <a:r>
              <a:rPr dirty="0" baseline="13888" sz="2100" spc="-442">
                <a:latin typeface="Arial MT"/>
                <a:cs typeface="Arial MT"/>
              </a:rPr>
              <a:t>8</a:t>
            </a:r>
            <a:r>
              <a:rPr dirty="0" sz="1400" spc="-745">
                <a:latin typeface="Arial MT"/>
                <a:cs typeface="Arial MT"/>
              </a:rPr>
              <a:t>R</a:t>
            </a:r>
            <a:r>
              <a:rPr dirty="0" baseline="13888" sz="2100" spc="-104">
                <a:latin typeface="Arial MT"/>
                <a:cs typeface="Arial MT"/>
              </a:rPr>
              <a:t>0</a:t>
            </a:r>
            <a:r>
              <a:rPr dirty="0" sz="1400" spc="-894">
                <a:latin typeface="Arial MT"/>
                <a:cs typeface="Arial MT"/>
              </a:rPr>
              <a:t>S</a:t>
            </a:r>
            <a:r>
              <a:rPr dirty="0" baseline="13888" sz="2100" spc="-15">
                <a:latin typeface="Arial MT"/>
                <a:cs typeface="Arial MT"/>
              </a:rPr>
              <a:t>0</a:t>
            </a:r>
            <a:r>
              <a:rPr dirty="0" baseline="13888" sz="2100" spc="-1627">
                <a:latin typeface="Arial MT"/>
                <a:cs typeface="Arial MT"/>
              </a:rPr>
              <a:t>M</a:t>
            </a:r>
            <a:r>
              <a:rPr dirty="0" sz="1400" spc="-20">
                <a:latin typeface="Arial MT"/>
                <a:cs typeface="Arial MT"/>
              </a:rPr>
              <a:t>R</a:t>
            </a:r>
            <a:r>
              <a:rPr dirty="0" sz="1400" spc="-525">
                <a:latin typeface="Arial MT"/>
                <a:cs typeface="Arial MT"/>
              </a:rPr>
              <a:t>P</a:t>
            </a:r>
            <a:r>
              <a:rPr dirty="0" baseline="13888" sz="2100" spc="-427">
                <a:latin typeface="Arial MT"/>
                <a:cs typeface="Arial MT"/>
              </a:rPr>
              <a:t>L</a:t>
            </a:r>
            <a:r>
              <a:rPr dirty="0" sz="1400" spc="-1245">
                <a:latin typeface="SimSun"/>
                <a:cs typeface="SimSun"/>
              </a:rPr>
              <a:t>与</a:t>
            </a:r>
            <a:r>
              <a:rPr dirty="0" baseline="13888" sz="2100" spc="-7">
                <a:latin typeface="Arial MT"/>
                <a:cs typeface="Arial MT"/>
              </a:rPr>
              <a:t>T</a:t>
            </a:r>
            <a:r>
              <a:rPr dirty="0" baseline="13888" sz="2100" spc="-855">
                <a:latin typeface="Arial MT"/>
                <a:cs typeface="Arial MT"/>
              </a:rPr>
              <a:t>E</a:t>
            </a:r>
            <a:r>
              <a:rPr dirty="0" sz="1400" spc="-225">
                <a:latin typeface="Arial MT"/>
                <a:cs typeface="Arial MT"/>
              </a:rPr>
              <a:t>L</a:t>
            </a:r>
            <a:r>
              <a:rPr dirty="0" baseline="13888" sz="2100" spc="-1785">
                <a:latin typeface="SimSun"/>
                <a:cs typeface="SimSun"/>
              </a:rPr>
              <a:t>拉</a:t>
            </a:r>
            <a:r>
              <a:rPr dirty="0" sz="1400" spc="-200">
                <a:latin typeface="Arial MT"/>
                <a:cs typeface="Arial MT"/>
              </a:rPr>
              <a:t>18</a:t>
            </a:r>
            <a:r>
              <a:rPr dirty="0" baseline="13888" sz="2100" spc="-1545">
                <a:latin typeface="SimSun"/>
                <a:cs typeface="SimSun"/>
              </a:rPr>
              <a:t>网</a:t>
            </a:r>
            <a:r>
              <a:rPr dirty="0" sz="1400">
                <a:latin typeface="Arial MT"/>
                <a:cs typeface="Arial MT"/>
              </a:rPr>
              <a:t>0</a:t>
            </a:r>
            <a:r>
              <a:rPr dirty="0" sz="1400" spc="-550">
                <a:latin typeface="Arial MT"/>
                <a:cs typeface="Arial MT"/>
              </a:rPr>
              <a:t>0</a:t>
            </a:r>
            <a:r>
              <a:rPr dirty="0" baseline="13888" sz="2100" spc="-1297">
                <a:latin typeface="SimSun"/>
                <a:cs typeface="SimSun"/>
              </a:rPr>
              <a:t>速</a:t>
            </a:r>
            <a:r>
              <a:rPr dirty="0" sz="1400" spc="-320">
                <a:latin typeface="Arial MT"/>
                <a:cs typeface="Arial MT"/>
              </a:rPr>
              <a:t>M</a:t>
            </a:r>
            <a:r>
              <a:rPr dirty="0" baseline="13888" sz="2100" spc="-1072">
                <a:latin typeface="SimSun"/>
                <a:cs typeface="SimSun"/>
              </a:rPr>
              <a:t>率</a:t>
            </a:r>
            <a:r>
              <a:rPr dirty="0" sz="1400" spc="-100">
                <a:latin typeface="Arial MT"/>
                <a:cs typeface="Arial MT"/>
              </a:rPr>
              <a:t>L</a:t>
            </a:r>
            <a:r>
              <a:rPr dirty="0" sz="1400" spc="-835">
                <a:latin typeface="Arial MT"/>
                <a:cs typeface="Arial MT"/>
              </a:rPr>
              <a:t>T</a:t>
            </a:r>
            <a:r>
              <a:rPr dirty="0" baseline="13888" sz="2100" spc="-877">
                <a:latin typeface="SimSun"/>
                <a:cs typeface="SimSun"/>
              </a:rPr>
              <a:t>对</a:t>
            </a:r>
            <a:r>
              <a:rPr dirty="0" sz="1400" spc="-380">
                <a:latin typeface="Arial MT"/>
                <a:cs typeface="Arial MT"/>
              </a:rPr>
              <a:t>E</a:t>
            </a:r>
            <a:r>
              <a:rPr dirty="0" baseline="13888" sz="2100" spc="-1005">
                <a:latin typeface="SimSun"/>
                <a:cs typeface="SimSun"/>
              </a:rPr>
              <a:t>比</a:t>
            </a:r>
            <a:r>
              <a:rPr dirty="0" sz="1400">
                <a:latin typeface="Arial MT"/>
                <a:cs typeface="Arial MT"/>
              </a:rPr>
              <a:t>CRS</a:t>
            </a:r>
            <a:r>
              <a:rPr dirty="0" sz="1400" spc="180">
                <a:latin typeface="Arial MT"/>
                <a:cs typeface="Arial MT"/>
              </a:rPr>
              <a:t> </a:t>
            </a:r>
            <a:r>
              <a:rPr dirty="0" sz="1400" spc="-20">
                <a:latin typeface="Arial MT"/>
                <a:cs typeface="Arial MT"/>
              </a:rPr>
              <a:t>RSRP</a:t>
            </a:r>
            <a:r>
              <a:rPr dirty="0" sz="1400" spc="-30">
                <a:latin typeface="SimSun"/>
                <a:cs typeface="SimSun"/>
              </a:rPr>
              <a:t>覆盖对比</a:t>
            </a:r>
            <a:endParaRPr sz="1400">
              <a:latin typeface="SimSun"/>
              <a:cs typeface="SimSun"/>
            </a:endParaRPr>
          </a:p>
          <a:p>
            <a:pPr marL="1022985">
              <a:lnSpc>
                <a:spcPct val="100000"/>
              </a:lnSpc>
              <a:spcBef>
                <a:spcPts val="360"/>
              </a:spcBef>
              <a:tabLst>
                <a:tab pos="2189480" algn="l"/>
                <a:tab pos="3764915" algn="l"/>
              </a:tabLst>
            </a:pPr>
            <a:r>
              <a:rPr dirty="0" baseline="-11111" sz="750" spc="-37">
                <a:latin typeface="Arial MT"/>
                <a:cs typeface="Arial MT"/>
              </a:rPr>
              <a:t>NR</a:t>
            </a:r>
            <a:r>
              <a:rPr dirty="0" baseline="-11111" sz="750">
                <a:latin typeface="Arial MT"/>
                <a:cs typeface="Arial MT"/>
              </a:rPr>
              <a:t>	</a:t>
            </a:r>
            <a:r>
              <a:rPr dirty="0" sz="500" spc="-25">
                <a:latin typeface="MS PGothic"/>
                <a:cs typeface="MS PGothic"/>
              </a:rPr>
              <a:t>、</a:t>
            </a:r>
            <a:r>
              <a:rPr dirty="0" sz="500" spc="-30">
                <a:latin typeface="MS PGothic"/>
                <a:cs typeface="MS PGothic"/>
              </a:rPr>
              <a:t>LTE</a:t>
            </a:r>
            <a:r>
              <a:rPr dirty="0" sz="500" spc="35">
                <a:latin typeface="MS PGothic"/>
                <a:cs typeface="MS PGothic"/>
              </a:rPr>
              <a:t> </a:t>
            </a:r>
            <a:r>
              <a:rPr dirty="0" sz="500" spc="-10">
                <a:latin typeface="MS PGothic"/>
                <a:cs typeface="MS PGothic"/>
              </a:rPr>
              <a:t>LINK</a:t>
            </a:r>
            <a:r>
              <a:rPr dirty="0" sz="500" spc="-30">
                <a:latin typeface="MS PGothic"/>
                <a:cs typeface="MS PGothic"/>
              </a:rPr>
              <a:t>和</a:t>
            </a:r>
            <a:r>
              <a:rPr dirty="0" sz="500" spc="-45">
                <a:latin typeface="MS PGothic"/>
                <a:cs typeface="MS PGothic"/>
              </a:rPr>
              <a:t> </a:t>
            </a:r>
            <a:r>
              <a:rPr dirty="0" sz="500" spc="-50">
                <a:latin typeface="MS PGothic"/>
                <a:cs typeface="MS PGothic"/>
              </a:rPr>
              <a:t>LTE</a:t>
            </a:r>
            <a:r>
              <a:rPr dirty="0" sz="500" spc="-95">
                <a:latin typeface="MS PGothic"/>
                <a:cs typeface="MS PGothic"/>
              </a:rPr>
              <a:t> </a:t>
            </a:r>
            <a:r>
              <a:rPr dirty="0" sz="500" spc="75">
                <a:latin typeface="MS PGothic"/>
                <a:cs typeface="MS PGothic"/>
              </a:rPr>
              <a:t>下行拉网速率比</a:t>
            </a:r>
            <a:r>
              <a:rPr dirty="0" sz="500" spc="-50">
                <a:latin typeface="MS PGothic"/>
                <a:cs typeface="MS PGothic"/>
              </a:rPr>
              <a:t>间</a:t>
            </a:r>
            <a:r>
              <a:rPr dirty="0" sz="500">
                <a:latin typeface="MS PGothic"/>
                <a:cs typeface="MS PGothic"/>
              </a:rPr>
              <a:t>	</a:t>
            </a:r>
            <a:r>
              <a:rPr dirty="0" baseline="-15151" sz="825" spc="-37">
                <a:latin typeface="Arial MT"/>
                <a:cs typeface="Arial MT"/>
              </a:rPr>
              <a:t>NR</a:t>
            </a:r>
            <a:endParaRPr baseline="-15151" sz="825">
              <a:latin typeface="Arial MT"/>
              <a:cs typeface="Arial MT"/>
            </a:endParaRPr>
          </a:p>
        </p:txBody>
      </p:sp>
      <p:grpSp>
        <p:nvGrpSpPr>
          <p:cNvPr id="443" name="object 443" descr=""/>
          <p:cNvGrpSpPr/>
          <p:nvPr/>
        </p:nvGrpSpPr>
        <p:grpSpPr>
          <a:xfrm>
            <a:off x="2463233" y="1239455"/>
            <a:ext cx="525145" cy="321310"/>
            <a:chOff x="2463233" y="1239455"/>
            <a:chExt cx="525145" cy="321310"/>
          </a:xfrm>
        </p:grpSpPr>
        <p:sp>
          <p:nvSpPr>
            <p:cNvPr id="444" name="object 444" descr=""/>
            <p:cNvSpPr/>
            <p:nvPr/>
          </p:nvSpPr>
          <p:spPr>
            <a:xfrm>
              <a:off x="2466092" y="1242314"/>
              <a:ext cx="519430" cy="315595"/>
            </a:xfrm>
            <a:custGeom>
              <a:avLst/>
              <a:gdLst/>
              <a:ahLst/>
              <a:cxnLst/>
              <a:rect l="l" t="t" r="r" b="b"/>
              <a:pathLst>
                <a:path w="519430" h="315594">
                  <a:moveTo>
                    <a:pt x="0" y="0"/>
                  </a:moveTo>
                  <a:lnTo>
                    <a:pt x="519132" y="0"/>
                  </a:lnTo>
                  <a:lnTo>
                    <a:pt x="519132" y="315159"/>
                  </a:lnTo>
                  <a:lnTo>
                    <a:pt x="0" y="315159"/>
                  </a:lnTo>
                  <a:lnTo>
                    <a:pt x="0" y="0"/>
                  </a:lnTo>
                  <a:close/>
                </a:path>
              </a:pathLst>
            </a:custGeom>
            <a:ln w="5075">
              <a:solidFill>
                <a:srgbClr val="FFFFFF"/>
              </a:solidFill>
            </a:ln>
          </p:spPr>
          <p:txBody>
            <a:bodyPr wrap="square" lIns="0" tIns="0" rIns="0" bIns="0" rtlCol="0"/>
            <a:lstStyle/>
            <a:p/>
          </p:txBody>
        </p:sp>
        <p:sp>
          <p:nvSpPr>
            <p:cNvPr id="445" name="object 445" descr=""/>
            <p:cNvSpPr/>
            <p:nvPr/>
          </p:nvSpPr>
          <p:spPr>
            <a:xfrm>
              <a:off x="2466091" y="1242313"/>
              <a:ext cx="519430" cy="0"/>
            </a:xfrm>
            <a:custGeom>
              <a:avLst/>
              <a:gdLst/>
              <a:ahLst/>
              <a:cxnLst/>
              <a:rect l="l" t="t" r="r" b="b"/>
              <a:pathLst>
                <a:path w="519430" h="0">
                  <a:moveTo>
                    <a:pt x="0" y="0"/>
                  </a:moveTo>
                  <a:lnTo>
                    <a:pt x="519132" y="0"/>
                  </a:lnTo>
                </a:path>
              </a:pathLst>
            </a:custGeom>
            <a:ln w="5252">
              <a:solidFill>
                <a:srgbClr val="000000"/>
              </a:solidFill>
            </a:ln>
          </p:spPr>
          <p:txBody>
            <a:bodyPr wrap="square" lIns="0" tIns="0" rIns="0" bIns="0" rtlCol="0"/>
            <a:lstStyle/>
            <a:p/>
          </p:txBody>
        </p:sp>
        <p:sp>
          <p:nvSpPr>
            <p:cNvPr id="446" name="object 446" descr=""/>
            <p:cNvSpPr/>
            <p:nvPr/>
          </p:nvSpPr>
          <p:spPr>
            <a:xfrm>
              <a:off x="2982926" y="1239687"/>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447" name="object 447" descr=""/>
            <p:cNvSpPr/>
            <p:nvPr/>
          </p:nvSpPr>
          <p:spPr>
            <a:xfrm>
              <a:off x="2466091" y="1557473"/>
              <a:ext cx="519430" cy="0"/>
            </a:xfrm>
            <a:custGeom>
              <a:avLst/>
              <a:gdLst/>
              <a:ahLst/>
              <a:cxnLst/>
              <a:rect l="l" t="t" r="r" b="b"/>
              <a:pathLst>
                <a:path w="519430" h="0">
                  <a:moveTo>
                    <a:pt x="0" y="0"/>
                  </a:moveTo>
                  <a:lnTo>
                    <a:pt x="519132" y="0"/>
                  </a:lnTo>
                </a:path>
              </a:pathLst>
            </a:custGeom>
            <a:ln w="5252">
              <a:solidFill>
                <a:srgbClr val="000000"/>
              </a:solidFill>
            </a:ln>
          </p:spPr>
          <p:txBody>
            <a:bodyPr wrap="square" lIns="0" tIns="0" rIns="0" bIns="0" rtlCol="0"/>
            <a:lstStyle/>
            <a:p/>
          </p:txBody>
        </p:sp>
        <p:sp>
          <p:nvSpPr>
            <p:cNvPr id="448" name="object 448" descr=""/>
            <p:cNvSpPr/>
            <p:nvPr/>
          </p:nvSpPr>
          <p:spPr>
            <a:xfrm>
              <a:off x="2982926" y="1554847"/>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449" name="object 449" descr=""/>
            <p:cNvSpPr/>
            <p:nvPr/>
          </p:nvSpPr>
          <p:spPr>
            <a:xfrm>
              <a:off x="2985223" y="1242314"/>
              <a:ext cx="0" cy="315595"/>
            </a:xfrm>
            <a:custGeom>
              <a:avLst/>
              <a:gdLst/>
              <a:ahLst/>
              <a:cxnLst/>
              <a:rect l="l" t="t" r="r" b="b"/>
              <a:pathLst>
                <a:path w="0" h="315594">
                  <a:moveTo>
                    <a:pt x="0" y="315159"/>
                  </a:moveTo>
                  <a:lnTo>
                    <a:pt x="0" y="0"/>
                  </a:lnTo>
                </a:path>
              </a:pathLst>
            </a:custGeom>
            <a:ln w="4594">
              <a:solidFill>
                <a:srgbClr val="000000"/>
              </a:solidFill>
            </a:ln>
          </p:spPr>
          <p:txBody>
            <a:bodyPr wrap="square" lIns="0" tIns="0" rIns="0" bIns="0" rtlCol="0"/>
            <a:lstStyle/>
            <a:p/>
          </p:txBody>
        </p:sp>
        <p:sp>
          <p:nvSpPr>
            <p:cNvPr id="450" name="object 450" descr=""/>
            <p:cNvSpPr/>
            <p:nvPr/>
          </p:nvSpPr>
          <p:spPr>
            <a:xfrm>
              <a:off x="2982926" y="1239688"/>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451" name="object 451" descr=""/>
            <p:cNvSpPr/>
            <p:nvPr/>
          </p:nvSpPr>
          <p:spPr>
            <a:xfrm>
              <a:off x="2466091" y="1242315"/>
              <a:ext cx="0" cy="315595"/>
            </a:xfrm>
            <a:custGeom>
              <a:avLst/>
              <a:gdLst/>
              <a:ahLst/>
              <a:cxnLst/>
              <a:rect l="l" t="t" r="r" b="b"/>
              <a:pathLst>
                <a:path w="0" h="315594">
                  <a:moveTo>
                    <a:pt x="0" y="315159"/>
                  </a:moveTo>
                  <a:lnTo>
                    <a:pt x="0" y="0"/>
                  </a:lnTo>
                </a:path>
              </a:pathLst>
            </a:custGeom>
            <a:ln w="4594">
              <a:solidFill>
                <a:srgbClr val="000000"/>
              </a:solidFill>
            </a:ln>
          </p:spPr>
          <p:txBody>
            <a:bodyPr wrap="square" lIns="0" tIns="0" rIns="0" bIns="0" rtlCol="0"/>
            <a:lstStyle/>
            <a:p/>
          </p:txBody>
        </p:sp>
        <p:sp>
          <p:nvSpPr>
            <p:cNvPr id="452" name="object 452" descr=""/>
            <p:cNvSpPr/>
            <p:nvPr/>
          </p:nvSpPr>
          <p:spPr>
            <a:xfrm>
              <a:off x="2463794" y="1239689"/>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453" name="object 453" descr=""/>
            <p:cNvSpPr/>
            <p:nvPr/>
          </p:nvSpPr>
          <p:spPr>
            <a:xfrm>
              <a:off x="2466091" y="1557475"/>
              <a:ext cx="519430" cy="0"/>
            </a:xfrm>
            <a:custGeom>
              <a:avLst/>
              <a:gdLst/>
              <a:ahLst/>
              <a:cxnLst/>
              <a:rect l="l" t="t" r="r" b="b"/>
              <a:pathLst>
                <a:path w="519430" h="0">
                  <a:moveTo>
                    <a:pt x="0" y="0"/>
                  </a:moveTo>
                  <a:lnTo>
                    <a:pt x="519132" y="0"/>
                  </a:lnTo>
                </a:path>
              </a:pathLst>
            </a:custGeom>
            <a:ln w="5252">
              <a:solidFill>
                <a:srgbClr val="000000"/>
              </a:solidFill>
            </a:ln>
          </p:spPr>
          <p:txBody>
            <a:bodyPr wrap="square" lIns="0" tIns="0" rIns="0" bIns="0" rtlCol="0"/>
            <a:lstStyle/>
            <a:p/>
          </p:txBody>
        </p:sp>
        <p:sp>
          <p:nvSpPr>
            <p:cNvPr id="454" name="object 454" descr=""/>
            <p:cNvSpPr/>
            <p:nvPr/>
          </p:nvSpPr>
          <p:spPr>
            <a:xfrm>
              <a:off x="2982926" y="1554849"/>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455" name="object 455" descr=""/>
            <p:cNvSpPr/>
            <p:nvPr/>
          </p:nvSpPr>
          <p:spPr>
            <a:xfrm>
              <a:off x="2466091" y="1242316"/>
              <a:ext cx="0" cy="315595"/>
            </a:xfrm>
            <a:custGeom>
              <a:avLst/>
              <a:gdLst/>
              <a:ahLst/>
              <a:cxnLst/>
              <a:rect l="l" t="t" r="r" b="b"/>
              <a:pathLst>
                <a:path w="0" h="315594">
                  <a:moveTo>
                    <a:pt x="0" y="315159"/>
                  </a:moveTo>
                  <a:lnTo>
                    <a:pt x="0" y="0"/>
                  </a:lnTo>
                </a:path>
              </a:pathLst>
            </a:custGeom>
            <a:ln w="4594">
              <a:solidFill>
                <a:srgbClr val="000000"/>
              </a:solidFill>
            </a:ln>
          </p:spPr>
          <p:txBody>
            <a:bodyPr wrap="square" lIns="0" tIns="0" rIns="0" bIns="0" rtlCol="0"/>
            <a:lstStyle/>
            <a:p/>
          </p:txBody>
        </p:sp>
        <p:sp>
          <p:nvSpPr>
            <p:cNvPr id="456" name="object 456" descr=""/>
            <p:cNvSpPr/>
            <p:nvPr/>
          </p:nvSpPr>
          <p:spPr>
            <a:xfrm>
              <a:off x="2463794" y="1239690"/>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457" name="object 457" descr=""/>
            <p:cNvSpPr/>
            <p:nvPr/>
          </p:nvSpPr>
          <p:spPr>
            <a:xfrm>
              <a:off x="2466091" y="1242317"/>
              <a:ext cx="519430" cy="0"/>
            </a:xfrm>
            <a:custGeom>
              <a:avLst/>
              <a:gdLst/>
              <a:ahLst/>
              <a:cxnLst/>
              <a:rect l="l" t="t" r="r" b="b"/>
              <a:pathLst>
                <a:path w="519430" h="0">
                  <a:moveTo>
                    <a:pt x="0" y="0"/>
                  </a:moveTo>
                  <a:lnTo>
                    <a:pt x="519132" y="0"/>
                  </a:lnTo>
                </a:path>
              </a:pathLst>
            </a:custGeom>
            <a:ln w="5252">
              <a:solidFill>
                <a:srgbClr val="000000"/>
              </a:solidFill>
            </a:ln>
          </p:spPr>
          <p:txBody>
            <a:bodyPr wrap="square" lIns="0" tIns="0" rIns="0" bIns="0" rtlCol="0"/>
            <a:lstStyle/>
            <a:p/>
          </p:txBody>
        </p:sp>
        <p:sp>
          <p:nvSpPr>
            <p:cNvPr id="458" name="object 458" descr=""/>
            <p:cNvSpPr/>
            <p:nvPr/>
          </p:nvSpPr>
          <p:spPr>
            <a:xfrm>
              <a:off x="2982926" y="1239691"/>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459" name="object 459" descr=""/>
            <p:cNvSpPr/>
            <p:nvPr/>
          </p:nvSpPr>
          <p:spPr>
            <a:xfrm>
              <a:off x="2466091" y="1557477"/>
              <a:ext cx="519430" cy="0"/>
            </a:xfrm>
            <a:custGeom>
              <a:avLst/>
              <a:gdLst/>
              <a:ahLst/>
              <a:cxnLst/>
              <a:rect l="l" t="t" r="r" b="b"/>
              <a:pathLst>
                <a:path w="519430" h="0">
                  <a:moveTo>
                    <a:pt x="0" y="0"/>
                  </a:moveTo>
                  <a:lnTo>
                    <a:pt x="519132" y="0"/>
                  </a:lnTo>
                </a:path>
              </a:pathLst>
            </a:custGeom>
            <a:ln w="5252">
              <a:solidFill>
                <a:srgbClr val="000000"/>
              </a:solidFill>
            </a:ln>
          </p:spPr>
          <p:txBody>
            <a:bodyPr wrap="square" lIns="0" tIns="0" rIns="0" bIns="0" rtlCol="0"/>
            <a:lstStyle/>
            <a:p/>
          </p:txBody>
        </p:sp>
        <p:sp>
          <p:nvSpPr>
            <p:cNvPr id="460" name="object 460" descr=""/>
            <p:cNvSpPr/>
            <p:nvPr/>
          </p:nvSpPr>
          <p:spPr>
            <a:xfrm>
              <a:off x="2982926" y="1554851"/>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461" name="object 461" descr=""/>
            <p:cNvSpPr/>
            <p:nvPr/>
          </p:nvSpPr>
          <p:spPr>
            <a:xfrm>
              <a:off x="2985223" y="1242319"/>
              <a:ext cx="0" cy="315595"/>
            </a:xfrm>
            <a:custGeom>
              <a:avLst/>
              <a:gdLst/>
              <a:ahLst/>
              <a:cxnLst/>
              <a:rect l="l" t="t" r="r" b="b"/>
              <a:pathLst>
                <a:path w="0" h="315594">
                  <a:moveTo>
                    <a:pt x="0" y="315159"/>
                  </a:moveTo>
                  <a:lnTo>
                    <a:pt x="0" y="0"/>
                  </a:lnTo>
                </a:path>
              </a:pathLst>
            </a:custGeom>
            <a:ln w="4594">
              <a:solidFill>
                <a:srgbClr val="000000"/>
              </a:solidFill>
            </a:ln>
          </p:spPr>
          <p:txBody>
            <a:bodyPr wrap="square" lIns="0" tIns="0" rIns="0" bIns="0" rtlCol="0"/>
            <a:lstStyle/>
            <a:p/>
          </p:txBody>
        </p:sp>
        <p:sp>
          <p:nvSpPr>
            <p:cNvPr id="462" name="object 462" descr=""/>
            <p:cNvSpPr/>
            <p:nvPr/>
          </p:nvSpPr>
          <p:spPr>
            <a:xfrm>
              <a:off x="2982926" y="1239693"/>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sp>
          <p:nvSpPr>
            <p:cNvPr id="463" name="object 463" descr=""/>
            <p:cNvSpPr/>
            <p:nvPr/>
          </p:nvSpPr>
          <p:spPr>
            <a:xfrm>
              <a:off x="2466091" y="1242320"/>
              <a:ext cx="0" cy="315595"/>
            </a:xfrm>
            <a:custGeom>
              <a:avLst/>
              <a:gdLst/>
              <a:ahLst/>
              <a:cxnLst/>
              <a:rect l="l" t="t" r="r" b="b"/>
              <a:pathLst>
                <a:path w="0" h="315594">
                  <a:moveTo>
                    <a:pt x="0" y="315159"/>
                  </a:moveTo>
                  <a:lnTo>
                    <a:pt x="0" y="0"/>
                  </a:lnTo>
                </a:path>
              </a:pathLst>
            </a:custGeom>
            <a:ln w="4594">
              <a:solidFill>
                <a:srgbClr val="000000"/>
              </a:solidFill>
            </a:ln>
          </p:spPr>
          <p:txBody>
            <a:bodyPr wrap="square" lIns="0" tIns="0" rIns="0" bIns="0" rtlCol="0"/>
            <a:lstStyle/>
            <a:p/>
          </p:txBody>
        </p:sp>
        <p:sp>
          <p:nvSpPr>
            <p:cNvPr id="464" name="object 464" descr=""/>
            <p:cNvSpPr/>
            <p:nvPr/>
          </p:nvSpPr>
          <p:spPr>
            <a:xfrm>
              <a:off x="2463794" y="1239694"/>
              <a:ext cx="5080" cy="5715"/>
            </a:xfrm>
            <a:custGeom>
              <a:avLst/>
              <a:gdLst/>
              <a:ahLst/>
              <a:cxnLst/>
              <a:rect l="l" t="t" r="r" b="b"/>
              <a:pathLst>
                <a:path w="5080" h="5715">
                  <a:moveTo>
                    <a:pt x="0" y="2626"/>
                  </a:moveTo>
                  <a:lnTo>
                    <a:pt x="672" y="4483"/>
                  </a:lnTo>
                  <a:lnTo>
                    <a:pt x="2297" y="5252"/>
                  </a:lnTo>
                  <a:lnTo>
                    <a:pt x="3921" y="4483"/>
                  </a:lnTo>
                  <a:lnTo>
                    <a:pt x="4594" y="2626"/>
                  </a:lnTo>
                  <a:lnTo>
                    <a:pt x="3921" y="769"/>
                  </a:lnTo>
                  <a:lnTo>
                    <a:pt x="2297" y="0"/>
                  </a:lnTo>
                  <a:lnTo>
                    <a:pt x="672" y="769"/>
                  </a:lnTo>
                  <a:lnTo>
                    <a:pt x="0" y="2626"/>
                  </a:lnTo>
                  <a:close/>
                </a:path>
              </a:pathLst>
            </a:custGeom>
            <a:solidFill>
              <a:srgbClr val="000000"/>
            </a:solidFill>
          </p:spPr>
          <p:txBody>
            <a:bodyPr wrap="square" lIns="0" tIns="0" rIns="0" bIns="0" rtlCol="0"/>
            <a:lstStyle/>
            <a:p/>
          </p:txBody>
        </p:sp>
      </p:grpSp>
      <p:sp>
        <p:nvSpPr>
          <p:cNvPr id="465" name="object 465" descr=""/>
          <p:cNvSpPr txBox="1"/>
          <p:nvPr/>
        </p:nvSpPr>
        <p:spPr>
          <a:xfrm>
            <a:off x="2692284" y="1250631"/>
            <a:ext cx="108585" cy="107950"/>
          </a:xfrm>
          <a:prstGeom prst="rect">
            <a:avLst/>
          </a:prstGeom>
        </p:spPr>
        <p:txBody>
          <a:bodyPr wrap="square" lIns="0" tIns="17145" rIns="0" bIns="0" rtlCol="0" vert="horz">
            <a:spAutoFit/>
          </a:bodyPr>
          <a:lstStyle/>
          <a:p>
            <a:pPr marL="12700">
              <a:lnSpc>
                <a:spcPct val="100000"/>
              </a:lnSpc>
              <a:spcBef>
                <a:spcPts val="135"/>
              </a:spcBef>
            </a:pPr>
            <a:r>
              <a:rPr dirty="0" sz="500" spc="-25">
                <a:latin typeface="Arial MT"/>
                <a:cs typeface="Arial MT"/>
              </a:rPr>
              <a:t>NR</a:t>
            </a:r>
            <a:endParaRPr sz="500">
              <a:latin typeface="Arial MT"/>
              <a:cs typeface="Arial MT"/>
            </a:endParaRPr>
          </a:p>
        </p:txBody>
      </p:sp>
      <p:grpSp>
        <p:nvGrpSpPr>
          <p:cNvPr id="466" name="object 466" descr=""/>
          <p:cNvGrpSpPr/>
          <p:nvPr/>
        </p:nvGrpSpPr>
        <p:grpSpPr>
          <a:xfrm>
            <a:off x="2499988" y="1260464"/>
            <a:ext cx="189865" cy="79375"/>
            <a:chOff x="2499988" y="1260464"/>
            <a:chExt cx="189865" cy="79375"/>
          </a:xfrm>
        </p:grpSpPr>
        <p:sp>
          <p:nvSpPr>
            <p:cNvPr id="467" name="object 467" descr=""/>
            <p:cNvSpPr/>
            <p:nvPr/>
          </p:nvSpPr>
          <p:spPr>
            <a:xfrm>
              <a:off x="2502845" y="1263321"/>
              <a:ext cx="184150" cy="73660"/>
            </a:xfrm>
            <a:custGeom>
              <a:avLst/>
              <a:gdLst/>
              <a:ahLst/>
              <a:cxnLst/>
              <a:rect l="l" t="t" r="r" b="b"/>
              <a:pathLst>
                <a:path w="184150" h="73659">
                  <a:moveTo>
                    <a:pt x="183763" y="73537"/>
                  </a:moveTo>
                  <a:lnTo>
                    <a:pt x="0" y="73537"/>
                  </a:lnTo>
                  <a:lnTo>
                    <a:pt x="0" y="0"/>
                  </a:lnTo>
                  <a:lnTo>
                    <a:pt x="183763" y="0"/>
                  </a:lnTo>
                  <a:lnTo>
                    <a:pt x="183763" y="73537"/>
                  </a:lnTo>
                  <a:close/>
                </a:path>
              </a:pathLst>
            </a:custGeom>
            <a:solidFill>
              <a:srgbClr val="FF0000"/>
            </a:solidFill>
          </p:spPr>
          <p:txBody>
            <a:bodyPr wrap="square" lIns="0" tIns="0" rIns="0" bIns="0" rtlCol="0"/>
            <a:lstStyle/>
            <a:p/>
          </p:txBody>
        </p:sp>
        <p:sp>
          <p:nvSpPr>
            <p:cNvPr id="468" name="object 468" descr=""/>
            <p:cNvSpPr/>
            <p:nvPr/>
          </p:nvSpPr>
          <p:spPr>
            <a:xfrm>
              <a:off x="2502845" y="1263321"/>
              <a:ext cx="184150" cy="73660"/>
            </a:xfrm>
            <a:custGeom>
              <a:avLst/>
              <a:gdLst/>
              <a:ahLst/>
              <a:cxnLst/>
              <a:rect l="l" t="t" r="r" b="b"/>
              <a:pathLst>
                <a:path w="184150" h="73659">
                  <a:moveTo>
                    <a:pt x="0" y="0"/>
                  </a:moveTo>
                  <a:lnTo>
                    <a:pt x="183763" y="0"/>
                  </a:lnTo>
                  <a:lnTo>
                    <a:pt x="183763" y="73537"/>
                  </a:lnTo>
                  <a:lnTo>
                    <a:pt x="0" y="73537"/>
                  </a:lnTo>
                  <a:lnTo>
                    <a:pt x="0" y="0"/>
                  </a:lnTo>
                  <a:close/>
                </a:path>
              </a:pathLst>
            </a:custGeom>
            <a:ln w="5161">
              <a:solidFill>
                <a:srgbClr val="000000"/>
              </a:solidFill>
            </a:ln>
          </p:spPr>
          <p:txBody>
            <a:bodyPr wrap="square" lIns="0" tIns="0" rIns="0" bIns="0" rtlCol="0"/>
            <a:lstStyle/>
            <a:p/>
          </p:txBody>
        </p:sp>
      </p:grpSp>
      <p:sp>
        <p:nvSpPr>
          <p:cNvPr id="469" name="object 469" descr=""/>
          <p:cNvSpPr txBox="1"/>
          <p:nvPr/>
        </p:nvSpPr>
        <p:spPr>
          <a:xfrm>
            <a:off x="2692284" y="1350420"/>
            <a:ext cx="276860" cy="107950"/>
          </a:xfrm>
          <a:prstGeom prst="rect">
            <a:avLst/>
          </a:prstGeom>
        </p:spPr>
        <p:txBody>
          <a:bodyPr wrap="square" lIns="0" tIns="17145" rIns="0" bIns="0" rtlCol="0" vert="horz">
            <a:spAutoFit/>
          </a:bodyPr>
          <a:lstStyle/>
          <a:p>
            <a:pPr marL="12700">
              <a:lnSpc>
                <a:spcPct val="100000"/>
              </a:lnSpc>
              <a:spcBef>
                <a:spcPts val="135"/>
              </a:spcBef>
            </a:pPr>
            <a:r>
              <a:rPr dirty="0" sz="500" spc="-35">
                <a:latin typeface="Arial MT"/>
                <a:cs typeface="Arial MT"/>
              </a:rPr>
              <a:t>LTE</a:t>
            </a:r>
            <a:r>
              <a:rPr dirty="0" sz="500" spc="15">
                <a:latin typeface="Arial MT"/>
                <a:cs typeface="Arial MT"/>
              </a:rPr>
              <a:t> </a:t>
            </a:r>
            <a:r>
              <a:rPr dirty="0" sz="500" spc="-20">
                <a:latin typeface="Arial MT"/>
                <a:cs typeface="Arial MT"/>
              </a:rPr>
              <a:t>LINK</a:t>
            </a:r>
            <a:endParaRPr sz="500">
              <a:latin typeface="Arial MT"/>
              <a:cs typeface="Arial MT"/>
            </a:endParaRPr>
          </a:p>
        </p:txBody>
      </p:sp>
      <p:grpSp>
        <p:nvGrpSpPr>
          <p:cNvPr id="470" name="object 470" descr=""/>
          <p:cNvGrpSpPr/>
          <p:nvPr/>
        </p:nvGrpSpPr>
        <p:grpSpPr>
          <a:xfrm>
            <a:off x="2499988" y="1360264"/>
            <a:ext cx="189865" cy="74295"/>
            <a:chOff x="2499988" y="1360264"/>
            <a:chExt cx="189865" cy="74295"/>
          </a:xfrm>
        </p:grpSpPr>
        <p:sp>
          <p:nvSpPr>
            <p:cNvPr id="471" name="object 471" descr=""/>
            <p:cNvSpPr/>
            <p:nvPr/>
          </p:nvSpPr>
          <p:spPr>
            <a:xfrm>
              <a:off x="2502845" y="1363121"/>
              <a:ext cx="184150" cy="68580"/>
            </a:xfrm>
            <a:custGeom>
              <a:avLst/>
              <a:gdLst/>
              <a:ahLst/>
              <a:cxnLst/>
              <a:rect l="l" t="t" r="r" b="b"/>
              <a:pathLst>
                <a:path w="184150" h="68580">
                  <a:moveTo>
                    <a:pt x="183763" y="68284"/>
                  </a:moveTo>
                  <a:lnTo>
                    <a:pt x="0" y="68284"/>
                  </a:lnTo>
                  <a:lnTo>
                    <a:pt x="0" y="0"/>
                  </a:lnTo>
                  <a:lnTo>
                    <a:pt x="183763" y="0"/>
                  </a:lnTo>
                  <a:lnTo>
                    <a:pt x="183763" y="68284"/>
                  </a:lnTo>
                  <a:close/>
                </a:path>
              </a:pathLst>
            </a:custGeom>
            <a:solidFill>
              <a:srgbClr val="00FF00"/>
            </a:solidFill>
          </p:spPr>
          <p:txBody>
            <a:bodyPr wrap="square" lIns="0" tIns="0" rIns="0" bIns="0" rtlCol="0"/>
            <a:lstStyle/>
            <a:p/>
          </p:txBody>
        </p:sp>
        <p:sp>
          <p:nvSpPr>
            <p:cNvPr id="472" name="object 472" descr=""/>
            <p:cNvSpPr/>
            <p:nvPr/>
          </p:nvSpPr>
          <p:spPr>
            <a:xfrm>
              <a:off x="2502845" y="1363122"/>
              <a:ext cx="184150" cy="68580"/>
            </a:xfrm>
            <a:custGeom>
              <a:avLst/>
              <a:gdLst/>
              <a:ahLst/>
              <a:cxnLst/>
              <a:rect l="l" t="t" r="r" b="b"/>
              <a:pathLst>
                <a:path w="184150" h="68580">
                  <a:moveTo>
                    <a:pt x="0" y="0"/>
                  </a:moveTo>
                  <a:lnTo>
                    <a:pt x="183763" y="0"/>
                  </a:lnTo>
                  <a:lnTo>
                    <a:pt x="183763" y="68284"/>
                  </a:lnTo>
                  <a:lnTo>
                    <a:pt x="0" y="68284"/>
                  </a:lnTo>
                  <a:lnTo>
                    <a:pt x="0" y="0"/>
                  </a:lnTo>
                  <a:close/>
                </a:path>
              </a:pathLst>
            </a:custGeom>
            <a:ln w="5172">
              <a:solidFill>
                <a:srgbClr val="000000"/>
              </a:solidFill>
            </a:ln>
          </p:spPr>
          <p:txBody>
            <a:bodyPr wrap="square" lIns="0" tIns="0" rIns="0" bIns="0" rtlCol="0"/>
            <a:lstStyle/>
            <a:p/>
          </p:txBody>
        </p:sp>
      </p:grpSp>
      <p:sp>
        <p:nvSpPr>
          <p:cNvPr id="473" name="object 473" descr=""/>
          <p:cNvSpPr txBox="1"/>
          <p:nvPr/>
        </p:nvSpPr>
        <p:spPr>
          <a:xfrm>
            <a:off x="2692284" y="1444967"/>
            <a:ext cx="130175" cy="107950"/>
          </a:xfrm>
          <a:prstGeom prst="rect">
            <a:avLst/>
          </a:prstGeom>
        </p:spPr>
        <p:txBody>
          <a:bodyPr wrap="square" lIns="0" tIns="17145" rIns="0" bIns="0" rtlCol="0" vert="horz">
            <a:spAutoFit/>
          </a:bodyPr>
          <a:lstStyle/>
          <a:p>
            <a:pPr marL="12700">
              <a:lnSpc>
                <a:spcPct val="100000"/>
              </a:lnSpc>
              <a:spcBef>
                <a:spcPts val="135"/>
              </a:spcBef>
            </a:pPr>
            <a:r>
              <a:rPr dirty="0" sz="500" spc="-25">
                <a:latin typeface="Arial MT"/>
                <a:cs typeface="Arial MT"/>
              </a:rPr>
              <a:t>LTE</a:t>
            </a:r>
            <a:endParaRPr sz="500">
              <a:latin typeface="Arial MT"/>
              <a:cs typeface="Arial MT"/>
            </a:endParaRPr>
          </a:p>
        </p:txBody>
      </p:sp>
      <p:grpSp>
        <p:nvGrpSpPr>
          <p:cNvPr id="474" name="object 474" descr=""/>
          <p:cNvGrpSpPr/>
          <p:nvPr/>
        </p:nvGrpSpPr>
        <p:grpSpPr>
          <a:xfrm>
            <a:off x="2500255" y="1455079"/>
            <a:ext cx="189230" cy="78740"/>
            <a:chOff x="2500255" y="1455079"/>
            <a:chExt cx="189230" cy="78740"/>
          </a:xfrm>
        </p:grpSpPr>
        <p:sp>
          <p:nvSpPr>
            <p:cNvPr id="475" name="object 475" descr=""/>
            <p:cNvSpPr/>
            <p:nvPr/>
          </p:nvSpPr>
          <p:spPr>
            <a:xfrm>
              <a:off x="2502845" y="1457669"/>
              <a:ext cx="184150" cy="73660"/>
            </a:xfrm>
            <a:custGeom>
              <a:avLst/>
              <a:gdLst/>
              <a:ahLst/>
              <a:cxnLst/>
              <a:rect l="l" t="t" r="r" b="b"/>
              <a:pathLst>
                <a:path w="184150" h="73659">
                  <a:moveTo>
                    <a:pt x="183763" y="73537"/>
                  </a:moveTo>
                  <a:lnTo>
                    <a:pt x="0" y="73537"/>
                  </a:lnTo>
                  <a:lnTo>
                    <a:pt x="0" y="0"/>
                  </a:lnTo>
                  <a:lnTo>
                    <a:pt x="183763" y="0"/>
                  </a:lnTo>
                  <a:lnTo>
                    <a:pt x="183763" y="73537"/>
                  </a:lnTo>
                  <a:close/>
                </a:path>
              </a:pathLst>
            </a:custGeom>
            <a:solidFill>
              <a:srgbClr val="0000FF"/>
            </a:solidFill>
          </p:spPr>
          <p:txBody>
            <a:bodyPr wrap="square" lIns="0" tIns="0" rIns="0" bIns="0" rtlCol="0"/>
            <a:lstStyle/>
            <a:p/>
          </p:txBody>
        </p:sp>
        <p:sp>
          <p:nvSpPr>
            <p:cNvPr id="476" name="object 476" descr=""/>
            <p:cNvSpPr/>
            <p:nvPr/>
          </p:nvSpPr>
          <p:spPr>
            <a:xfrm>
              <a:off x="2502845" y="1457670"/>
              <a:ext cx="184150" cy="73660"/>
            </a:xfrm>
            <a:custGeom>
              <a:avLst/>
              <a:gdLst/>
              <a:ahLst/>
              <a:cxnLst/>
              <a:rect l="l" t="t" r="r" b="b"/>
              <a:pathLst>
                <a:path w="184150" h="73659">
                  <a:moveTo>
                    <a:pt x="0" y="0"/>
                  </a:moveTo>
                  <a:lnTo>
                    <a:pt x="183763" y="0"/>
                  </a:lnTo>
                  <a:lnTo>
                    <a:pt x="183763" y="73537"/>
                  </a:lnTo>
                  <a:lnTo>
                    <a:pt x="0" y="73537"/>
                  </a:lnTo>
                  <a:lnTo>
                    <a:pt x="0" y="0"/>
                  </a:lnTo>
                  <a:close/>
                </a:path>
              </a:pathLst>
            </a:custGeom>
            <a:ln w="5161">
              <a:solidFill>
                <a:srgbClr val="000000"/>
              </a:solidFill>
            </a:ln>
          </p:spPr>
          <p:txBody>
            <a:bodyPr wrap="square" lIns="0" tIns="0" rIns="0" bIns="0" rtlCol="0"/>
            <a:lstStyle/>
            <a:p/>
          </p:txBody>
        </p:sp>
      </p:grpSp>
      <p:grpSp>
        <p:nvGrpSpPr>
          <p:cNvPr id="477" name="object 477" descr=""/>
          <p:cNvGrpSpPr/>
          <p:nvPr/>
        </p:nvGrpSpPr>
        <p:grpSpPr>
          <a:xfrm>
            <a:off x="6149921" y="1197887"/>
            <a:ext cx="2666365" cy="2211070"/>
            <a:chOff x="6149921" y="1197887"/>
            <a:chExt cx="2666365" cy="2211070"/>
          </a:xfrm>
        </p:grpSpPr>
        <p:sp>
          <p:nvSpPr>
            <p:cNvPr id="478" name="object 478" descr=""/>
            <p:cNvSpPr/>
            <p:nvPr/>
          </p:nvSpPr>
          <p:spPr>
            <a:xfrm>
              <a:off x="6153096" y="1201066"/>
              <a:ext cx="2660015" cy="2204720"/>
            </a:xfrm>
            <a:custGeom>
              <a:avLst/>
              <a:gdLst/>
              <a:ahLst/>
              <a:cxnLst/>
              <a:rect l="l" t="t" r="r" b="b"/>
              <a:pathLst>
                <a:path w="2660015" h="2204720">
                  <a:moveTo>
                    <a:pt x="2659723" y="2204126"/>
                  </a:moveTo>
                  <a:lnTo>
                    <a:pt x="0" y="2204126"/>
                  </a:lnTo>
                  <a:lnTo>
                    <a:pt x="0" y="0"/>
                  </a:lnTo>
                  <a:lnTo>
                    <a:pt x="2659723" y="0"/>
                  </a:lnTo>
                  <a:lnTo>
                    <a:pt x="2659723" y="2204126"/>
                  </a:lnTo>
                  <a:close/>
                </a:path>
              </a:pathLst>
            </a:custGeom>
            <a:solidFill>
              <a:srgbClr val="FFFFFF"/>
            </a:solidFill>
          </p:spPr>
          <p:txBody>
            <a:bodyPr wrap="square" lIns="0" tIns="0" rIns="0" bIns="0" rtlCol="0"/>
            <a:lstStyle/>
            <a:p/>
          </p:txBody>
        </p:sp>
        <p:sp>
          <p:nvSpPr>
            <p:cNvPr id="479" name="object 479" descr=""/>
            <p:cNvSpPr/>
            <p:nvPr/>
          </p:nvSpPr>
          <p:spPr>
            <a:xfrm>
              <a:off x="6153096" y="1201062"/>
              <a:ext cx="2660015" cy="0"/>
            </a:xfrm>
            <a:custGeom>
              <a:avLst/>
              <a:gdLst/>
              <a:ahLst/>
              <a:cxnLst/>
              <a:rect l="l" t="t" r="r" b="b"/>
              <a:pathLst>
                <a:path w="2660015" h="0">
                  <a:moveTo>
                    <a:pt x="0" y="0"/>
                  </a:moveTo>
                  <a:lnTo>
                    <a:pt x="2659723" y="0"/>
                  </a:lnTo>
                </a:path>
              </a:pathLst>
            </a:custGeom>
            <a:ln w="5893">
              <a:solidFill>
                <a:srgbClr val="000000"/>
              </a:solidFill>
            </a:ln>
          </p:spPr>
          <p:txBody>
            <a:bodyPr wrap="square" lIns="0" tIns="0" rIns="0" bIns="0" rtlCol="0"/>
            <a:lstStyle/>
            <a:p/>
          </p:txBody>
        </p:sp>
        <p:sp>
          <p:nvSpPr>
            <p:cNvPr id="480" name="object 480" descr=""/>
            <p:cNvSpPr/>
            <p:nvPr/>
          </p:nvSpPr>
          <p:spPr>
            <a:xfrm>
              <a:off x="8810062" y="1198116"/>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481" name="object 481" descr=""/>
            <p:cNvSpPr/>
            <p:nvPr/>
          </p:nvSpPr>
          <p:spPr>
            <a:xfrm>
              <a:off x="6153098" y="3405195"/>
              <a:ext cx="2660015" cy="0"/>
            </a:xfrm>
            <a:custGeom>
              <a:avLst/>
              <a:gdLst/>
              <a:ahLst/>
              <a:cxnLst/>
              <a:rect l="l" t="t" r="r" b="b"/>
              <a:pathLst>
                <a:path w="2660015" h="0">
                  <a:moveTo>
                    <a:pt x="0" y="0"/>
                  </a:moveTo>
                  <a:lnTo>
                    <a:pt x="2659723" y="0"/>
                  </a:lnTo>
                </a:path>
              </a:pathLst>
            </a:custGeom>
            <a:ln w="5893">
              <a:solidFill>
                <a:srgbClr val="000000"/>
              </a:solidFill>
            </a:ln>
          </p:spPr>
          <p:txBody>
            <a:bodyPr wrap="square" lIns="0" tIns="0" rIns="0" bIns="0" rtlCol="0"/>
            <a:lstStyle/>
            <a:p/>
          </p:txBody>
        </p:sp>
        <p:sp>
          <p:nvSpPr>
            <p:cNvPr id="482" name="object 482" descr=""/>
            <p:cNvSpPr/>
            <p:nvPr/>
          </p:nvSpPr>
          <p:spPr>
            <a:xfrm>
              <a:off x="8810064" y="3402249"/>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483" name="object 483" descr=""/>
            <p:cNvSpPr/>
            <p:nvPr/>
          </p:nvSpPr>
          <p:spPr>
            <a:xfrm>
              <a:off x="8812825" y="1201064"/>
              <a:ext cx="0" cy="2204720"/>
            </a:xfrm>
            <a:custGeom>
              <a:avLst/>
              <a:gdLst/>
              <a:ahLst/>
              <a:cxnLst/>
              <a:rect l="l" t="t" r="r" b="b"/>
              <a:pathLst>
                <a:path w="0" h="2204720">
                  <a:moveTo>
                    <a:pt x="0" y="2204132"/>
                  </a:moveTo>
                  <a:lnTo>
                    <a:pt x="0" y="0"/>
                  </a:lnTo>
                </a:path>
              </a:pathLst>
            </a:custGeom>
            <a:ln w="5518">
              <a:solidFill>
                <a:srgbClr val="000000"/>
              </a:solidFill>
            </a:ln>
          </p:spPr>
          <p:txBody>
            <a:bodyPr wrap="square" lIns="0" tIns="0" rIns="0" bIns="0" rtlCol="0"/>
            <a:lstStyle/>
            <a:p/>
          </p:txBody>
        </p:sp>
        <p:sp>
          <p:nvSpPr>
            <p:cNvPr id="484" name="object 484" descr=""/>
            <p:cNvSpPr/>
            <p:nvPr/>
          </p:nvSpPr>
          <p:spPr>
            <a:xfrm>
              <a:off x="8810067" y="1198117"/>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485" name="object 485" descr=""/>
            <p:cNvSpPr/>
            <p:nvPr/>
          </p:nvSpPr>
          <p:spPr>
            <a:xfrm>
              <a:off x="6153103" y="1201064"/>
              <a:ext cx="0" cy="2204720"/>
            </a:xfrm>
            <a:custGeom>
              <a:avLst/>
              <a:gdLst/>
              <a:ahLst/>
              <a:cxnLst/>
              <a:rect l="l" t="t" r="r" b="b"/>
              <a:pathLst>
                <a:path w="0" h="2204720">
                  <a:moveTo>
                    <a:pt x="0" y="2204132"/>
                  </a:moveTo>
                  <a:lnTo>
                    <a:pt x="0" y="0"/>
                  </a:lnTo>
                </a:path>
              </a:pathLst>
            </a:custGeom>
            <a:ln w="5518">
              <a:solidFill>
                <a:srgbClr val="000000"/>
              </a:solidFill>
            </a:ln>
          </p:spPr>
          <p:txBody>
            <a:bodyPr wrap="square" lIns="0" tIns="0" rIns="0" bIns="0" rtlCol="0"/>
            <a:lstStyle/>
            <a:p/>
          </p:txBody>
        </p:sp>
        <p:sp>
          <p:nvSpPr>
            <p:cNvPr id="486" name="object 486" descr=""/>
            <p:cNvSpPr/>
            <p:nvPr/>
          </p:nvSpPr>
          <p:spPr>
            <a:xfrm>
              <a:off x="6150345" y="1198118"/>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487" name="object 487" descr=""/>
            <p:cNvSpPr/>
            <p:nvPr/>
          </p:nvSpPr>
          <p:spPr>
            <a:xfrm>
              <a:off x="6153105" y="3405197"/>
              <a:ext cx="2660015" cy="0"/>
            </a:xfrm>
            <a:custGeom>
              <a:avLst/>
              <a:gdLst/>
              <a:ahLst/>
              <a:cxnLst/>
              <a:rect l="l" t="t" r="r" b="b"/>
              <a:pathLst>
                <a:path w="2660015" h="0">
                  <a:moveTo>
                    <a:pt x="0" y="0"/>
                  </a:moveTo>
                  <a:lnTo>
                    <a:pt x="2659723" y="0"/>
                  </a:lnTo>
                </a:path>
              </a:pathLst>
            </a:custGeom>
            <a:ln w="5893">
              <a:solidFill>
                <a:srgbClr val="000000"/>
              </a:solidFill>
            </a:ln>
          </p:spPr>
          <p:txBody>
            <a:bodyPr wrap="square" lIns="0" tIns="0" rIns="0" bIns="0" rtlCol="0"/>
            <a:lstStyle/>
            <a:p/>
          </p:txBody>
        </p:sp>
        <p:sp>
          <p:nvSpPr>
            <p:cNvPr id="488" name="object 488" descr=""/>
            <p:cNvSpPr/>
            <p:nvPr/>
          </p:nvSpPr>
          <p:spPr>
            <a:xfrm>
              <a:off x="8810071" y="3402251"/>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489" name="object 489" descr=""/>
            <p:cNvSpPr/>
            <p:nvPr/>
          </p:nvSpPr>
          <p:spPr>
            <a:xfrm>
              <a:off x="6153108" y="1201066"/>
              <a:ext cx="0" cy="2204720"/>
            </a:xfrm>
            <a:custGeom>
              <a:avLst/>
              <a:gdLst/>
              <a:ahLst/>
              <a:cxnLst/>
              <a:rect l="l" t="t" r="r" b="b"/>
              <a:pathLst>
                <a:path w="0" h="2204720">
                  <a:moveTo>
                    <a:pt x="0" y="2204132"/>
                  </a:moveTo>
                  <a:lnTo>
                    <a:pt x="0" y="0"/>
                  </a:lnTo>
                </a:path>
              </a:pathLst>
            </a:custGeom>
            <a:ln w="5518">
              <a:solidFill>
                <a:srgbClr val="000000"/>
              </a:solidFill>
            </a:ln>
          </p:spPr>
          <p:txBody>
            <a:bodyPr wrap="square" lIns="0" tIns="0" rIns="0" bIns="0" rtlCol="0"/>
            <a:lstStyle/>
            <a:p/>
          </p:txBody>
        </p:sp>
        <p:sp>
          <p:nvSpPr>
            <p:cNvPr id="490" name="object 490" descr=""/>
            <p:cNvSpPr/>
            <p:nvPr/>
          </p:nvSpPr>
          <p:spPr>
            <a:xfrm>
              <a:off x="6150350" y="1198120"/>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491" name="object 491" descr=""/>
            <p:cNvSpPr/>
            <p:nvPr/>
          </p:nvSpPr>
          <p:spPr>
            <a:xfrm>
              <a:off x="6445572" y="1201068"/>
              <a:ext cx="0" cy="24130"/>
            </a:xfrm>
            <a:custGeom>
              <a:avLst/>
              <a:gdLst/>
              <a:ahLst/>
              <a:cxnLst/>
              <a:rect l="l" t="t" r="r" b="b"/>
              <a:pathLst>
                <a:path w="0" h="24130">
                  <a:moveTo>
                    <a:pt x="0" y="0"/>
                  </a:moveTo>
                  <a:lnTo>
                    <a:pt x="0" y="23573"/>
                  </a:lnTo>
                </a:path>
              </a:pathLst>
            </a:custGeom>
            <a:ln w="5518">
              <a:solidFill>
                <a:srgbClr val="000000"/>
              </a:solidFill>
            </a:ln>
          </p:spPr>
          <p:txBody>
            <a:bodyPr wrap="square" lIns="0" tIns="0" rIns="0" bIns="0" rtlCol="0"/>
            <a:lstStyle/>
            <a:p/>
          </p:txBody>
        </p:sp>
        <p:sp>
          <p:nvSpPr>
            <p:cNvPr id="492" name="object 492" descr=""/>
            <p:cNvSpPr/>
            <p:nvPr/>
          </p:nvSpPr>
          <p:spPr>
            <a:xfrm>
              <a:off x="6442814" y="1221695"/>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grpSp>
      <p:sp>
        <p:nvSpPr>
          <p:cNvPr id="493" name="object 493" descr=""/>
          <p:cNvSpPr txBox="1"/>
          <p:nvPr/>
        </p:nvSpPr>
        <p:spPr>
          <a:xfrm>
            <a:off x="6372175" y="3410180"/>
            <a:ext cx="148590" cy="117475"/>
          </a:xfrm>
          <a:prstGeom prst="rect">
            <a:avLst/>
          </a:prstGeom>
        </p:spPr>
        <p:txBody>
          <a:bodyPr wrap="square" lIns="0" tIns="12700" rIns="0" bIns="0" rtlCol="0" vert="horz">
            <a:spAutoFit/>
          </a:bodyPr>
          <a:lstStyle/>
          <a:p>
            <a:pPr marL="12700">
              <a:lnSpc>
                <a:spcPct val="100000"/>
              </a:lnSpc>
              <a:spcBef>
                <a:spcPts val="100"/>
              </a:spcBef>
            </a:pPr>
            <a:r>
              <a:rPr dirty="0" sz="600" spc="-25">
                <a:latin typeface="Arial MT"/>
                <a:cs typeface="Arial MT"/>
              </a:rPr>
              <a:t>0~1</a:t>
            </a:r>
            <a:endParaRPr sz="600">
              <a:latin typeface="Arial MT"/>
              <a:cs typeface="Arial MT"/>
            </a:endParaRPr>
          </a:p>
        </p:txBody>
      </p:sp>
      <p:grpSp>
        <p:nvGrpSpPr>
          <p:cNvPr id="494" name="object 494" descr=""/>
          <p:cNvGrpSpPr/>
          <p:nvPr/>
        </p:nvGrpSpPr>
        <p:grpSpPr>
          <a:xfrm>
            <a:off x="6740697" y="1198212"/>
            <a:ext cx="1777364" cy="2210435"/>
            <a:chOff x="6740697" y="1198212"/>
            <a:chExt cx="1777364" cy="2210435"/>
          </a:xfrm>
        </p:grpSpPr>
        <p:sp>
          <p:nvSpPr>
            <p:cNvPr id="495" name="object 495" descr=""/>
            <p:cNvSpPr/>
            <p:nvPr/>
          </p:nvSpPr>
          <p:spPr>
            <a:xfrm>
              <a:off x="6743554" y="1201069"/>
              <a:ext cx="0" cy="24130"/>
            </a:xfrm>
            <a:custGeom>
              <a:avLst/>
              <a:gdLst/>
              <a:ahLst/>
              <a:cxnLst/>
              <a:rect l="l" t="t" r="r" b="b"/>
              <a:pathLst>
                <a:path w="0" h="24130">
                  <a:moveTo>
                    <a:pt x="0" y="0"/>
                  </a:moveTo>
                  <a:lnTo>
                    <a:pt x="0" y="23573"/>
                  </a:lnTo>
                </a:path>
              </a:pathLst>
            </a:custGeom>
            <a:ln w="5518">
              <a:solidFill>
                <a:srgbClr val="000000"/>
              </a:solidFill>
            </a:ln>
          </p:spPr>
          <p:txBody>
            <a:bodyPr wrap="square" lIns="0" tIns="0" rIns="0" bIns="0" rtlCol="0"/>
            <a:lstStyle/>
            <a:p/>
          </p:txBody>
        </p:sp>
        <p:sp>
          <p:nvSpPr>
            <p:cNvPr id="496" name="object 496" descr=""/>
            <p:cNvSpPr/>
            <p:nvPr/>
          </p:nvSpPr>
          <p:spPr>
            <a:xfrm>
              <a:off x="6740796" y="1221696"/>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497" name="object 497" descr=""/>
            <p:cNvSpPr/>
            <p:nvPr/>
          </p:nvSpPr>
          <p:spPr>
            <a:xfrm>
              <a:off x="7036019" y="1201071"/>
              <a:ext cx="0" cy="24130"/>
            </a:xfrm>
            <a:custGeom>
              <a:avLst/>
              <a:gdLst/>
              <a:ahLst/>
              <a:cxnLst/>
              <a:rect l="l" t="t" r="r" b="b"/>
              <a:pathLst>
                <a:path w="0" h="24130">
                  <a:moveTo>
                    <a:pt x="0" y="0"/>
                  </a:moveTo>
                  <a:lnTo>
                    <a:pt x="0" y="23573"/>
                  </a:lnTo>
                </a:path>
              </a:pathLst>
            </a:custGeom>
            <a:ln w="5518">
              <a:solidFill>
                <a:srgbClr val="000000"/>
              </a:solidFill>
            </a:ln>
          </p:spPr>
          <p:txBody>
            <a:bodyPr wrap="square" lIns="0" tIns="0" rIns="0" bIns="0" rtlCol="0"/>
            <a:lstStyle/>
            <a:p/>
          </p:txBody>
        </p:sp>
        <p:sp>
          <p:nvSpPr>
            <p:cNvPr id="498" name="object 498" descr=""/>
            <p:cNvSpPr/>
            <p:nvPr/>
          </p:nvSpPr>
          <p:spPr>
            <a:xfrm>
              <a:off x="7033261" y="1221698"/>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499" name="object 499" descr=""/>
            <p:cNvSpPr/>
            <p:nvPr/>
          </p:nvSpPr>
          <p:spPr>
            <a:xfrm>
              <a:off x="7334002" y="1201072"/>
              <a:ext cx="0" cy="24130"/>
            </a:xfrm>
            <a:custGeom>
              <a:avLst/>
              <a:gdLst/>
              <a:ahLst/>
              <a:cxnLst/>
              <a:rect l="l" t="t" r="r" b="b"/>
              <a:pathLst>
                <a:path w="0" h="24130">
                  <a:moveTo>
                    <a:pt x="0" y="0"/>
                  </a:moveTo>
                  <a:lnTo>
                    <a:pt x="0" y="23573"/>
                  </a:lnTo>
                </a:path>
              </a:pathLst>
            </a:custGeom>
            <a:ln w="5518">
              <a:solidFill>
                <a:srgbClr val="000000"/>
              </a:solidFill>
            </a:ln>
          </p:spPr>
          <p:txBody>
            <a:bodyPr wrap="square" lIns="0" tIns="0" rIns="0" bIns="0" rtlCol="0"/>
            <a:lstStyle/>
            <a:p/>
          </p:txBody>
        </p:sp>
        <p:sp>
          <p:nvSpPr>
            <p:cNvPr id="500" name="object 500" descr=""/>
            <p:cNvSpPr/>
            <p:nvPr/>
          </p:nvSpPr>
          <p:spPr>
            <a:xfrm>
              <a:off x="7331244" y="1221699"/>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01" name="object 501" descr=""/>
            <p:cNvSpPr/>
            <p:nvPr/>
          </p:nvSpPr>
          <p:spPr>
            <a:xfrm>
              <a:off x="7626464" y="3375738"/>
              <a:ext cx="0" cy="29845"/>
            </a:xfrm>
            <a:custGeom>
              <a:avLst/>
              <a:gdLst/>
              <a:ahLst/>
              <a:cxnLst/>
              <a:rect l="l" t="t" r="r" b="b"/>
              <a:pathLst>
                <a:path w="0" h="29845">
                  <a:moveTo>
                    <a:pt x="0" y="29467"/>
                  </a:moveTo>
                  <a:lnTo>
                    <a:pt x="0" y="0"/>
                  </a:lnTo>
                </a:path>
              </a:pathLst>
            </a:custGeom>
            <a:ln w="5518">
              <a:solidFill>
                <a:srgbClr val="000000"/>
              </a:solidFill>
            </a:ln>
          </p:spPr>
          <p:txBody>
            <a:bodyPr wrap="square" lIns="0" tIns="0" rIns="0" bIns="0" rtlCol="0"/>
            <a:lstStyle/>
            <a:p/>
          </p:txBody>
        </p:sp>
        <p:sp>
          <p:nvSpPr>
            <p:cNvPr id="502" name="object 502" descr=""/>
            <p:cNvSpPr/>
            <p:nvPr/>
          </p:nvSpPr>
          <p:spPr>
            <a:xfrm>
              <a:off x="7623706" y="3372792"/>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03" name="object 503" descr=""/>
            <p:cNvSpPr/>
            <p:nvPr/>
          </p:nvSpPr>
          <p:spPr>
            <a:xfrm>
              <a:off x="7626466" y="1201074"/>
              <a:ext cx="0" cy="24130"/>
            </a:xfrm>
            <a:custGeom>
              <a:avLst/>
              <a:gdLst/>
              <a:ahLst/>
              <a:cxnLst/>
              <a:rect l="l" t="t" r="r" b="b"/>
              <a:pathLst>
                <a:path w="0" h="24130">
                  <a:moveTo>
                    <a:pt x="0" y="0"/>
                  </a:moveTo>
                  <a:lnTo>
                    <a:pt x="0" y="23573"/>
                  </a:lnTo>
                </a:path>
              </a:pathLst>
            </a:custGeom>
            <a:ln w="5518">
              <a:solidFill>
                <a:srgbClr val="000000"/>
              </a:solidFill>
            </a:ln>
          </p:spPr>
          <p:txBody>
            <a:bodyPr wrap="square" lIns="0" tIns="0" rIns="0" bIns="0" rtlCol="0"/>
            <a:lstStyle/>
            <a:p/>
          </p:txBody>
        </p:sp>
        <p:sp>
          <p:nvSpPr>
            <p:cNvPr id="504" name="object 504" descr=""/>
            <p:cNvSpPr/>
            <p:nvPr/>
          </p:nvSpPr>
          <p:spPr>
            <a:xfrm>
              <a:off x="7623708" y="1221701"/>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05" name="object 505" descr=""/>
            <p:cNvSpPr/>
            <p:nvPr/>
          </p:nvSpPr>
          <p:spPr>
            <a:xfrm>
              <a:off x="7924447" y="3375740"/>
              <a:ext cx="0" cy="29845"/>
            </a:xfrm>
            <a:custGeom>
              <a:avLst/>
              <a:gdLst/>
              <a:ahLst/>
              <a:cxnLst/>
              <a:rect l="l" t="t" r="r" b="b"/>
              <a:pathLst>
                <a:path w="0" h="29845">
                  <a:moveTo>
                    <a:pt x="0" y="29467"/>
                  </a:moveTo>
                  <a:lnTo>
                    <a:pt x="0" y="0"/>
                  </a:lnTo>
                </a:path>
              </a:pathLst>
            </a:custGeom>
            <a:ln w="5518">
              <a:solidFill>
                <a:srgbClr val="000000"/>
              </a:solidFill>
            </a:ln>
          </p:spPr>
          <p:txBody>
            <a:bodyPr wrap="square" lIns="0" tIns="0" rIns="0" bIns="0" rtlCol="0"/>
            <a:lstStyle/>
            <a:p/>
          </p:txBody>
        </p:sp>
        <p:sp>
          <p:nvSpPr>
            <p:cNvPr id="506" name="object 506" descr=""/>
            <p:cNvSpPr/>
            <p:nvPr/>
          </p:nvSpPr>
          <p:spPr>
            <a:xfrm>
              <a:off x="7921689" y="3372794"/>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07" name="object 507" descr=""/>
            <p:cNvSpPr/>
            <p:nvPr/>
          </p:nvSpPr>
          <p:spPr>
            <a:xfrm>
              <a:off x="7924449" y="1201075"/>
              <a:ext cx="0" cy="24130"/>
            </a:xfrm>
            <a:custGeom>
              <a:avLst/>
              <a:gdLst/>
              <a:ahLst/>
              <a:cxnLst/>
              <a:rect l="l" t="t" r="r" b="b"/>
              <a:pathLst>
                <a:path w="0" h="24130">
                  <a:moveTo>
                    <a:pt x="0" y="0"/>
                  </a:moveTo>
                  <a:lnTo>
                    <a:pt x="0" y="23573"/>
                  </a:lnTo>
                </a:path>
              </a:pathLst>
            </a:custGeom>
            <a:ln w="5518">
              <a:solidFill>
                <a:srgbClr val="000000"/>
              </a:solidFill>
            </a:ln>
          </p:spPr>
          <p:txBody>
            <a:bodyPr wrap="square" lIns="0" tIns="0" rIns="0" bIns="0" rtlCol="0"/>
            <a:lstStyle/>
            <a:p/>
          </p:txBody>
        </p:sp>
        <p:sp>
          <p:nvSpPr>
            <p:cNvPr id="508" name="object 508" descr=""/>
            <p:cNvSpPr/>
            <p:nvPr/>
          </p:nvSpPr>
          <p:spPr>
            <a:xfrm>
              <a:off x="7921691" y="1221703"/>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09" name="object 509" descr=""/>
            <p:cNvSpPr/>
            <p:nvPr/>
          </p:nvSpPr>
          <p:spPr>
            <a:xfrm>
              <a:off x="8216912" y="3375741"/>
              <a:ext cx="0" cy="29845"/>
            </a:xfrm>
            <a:custGeom>
              <a:avLst/>
              <a:gdLst/>
              <a:ahLst/>
              <a:cxnLst/>
              <a:rect l="l" t="t" r="r" b="b"/>
              <a:pathLst>
                <a:path w="0" h="29845">
                  <a:moveTo>
                    <a:pt x="0" y="29467"/>
                  </a:moveTo>
                  <a:lnTo>
                    <a:pt x="0" y="0"/>
                  </a:lnTo>
                </a:path>
              </a:pathLst>
            </a:custGeom>
            <a:ln w="5518">
              <a:solidFill>
                <a:srgbClr val="000000"/>
              </a:solidFill>
            </a:ln>
          </p:spPr>
          <p:txBody>
            <a:bodyPr wrap="square" lIns="0" tIns="0" rIns="0" bIns="0" rtlCol="0"/>
            <a:lstStyle/>
            <a:p/>
          </p:txBody>
        </p:sp>
        <p:sp>
          <p:nvSpPr>
            <p:cNvPr id="510" name="object 510" descr=""/>
            <p:cNvSpPr/>
            <p:nvPr/>
          </p:nvSpPr>
          <p:spPr>
            <a:xfrm>
              <a:off x="8214154" y="3372795"/>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11" name="object 511" descr=""/>
            <p:cNvSpPr/>
            <p:nvPr/>
          </p:nvSpPr>
          <p:spPr>
            <a:xfrm>
              <a:off x="8216915" y="1201077"/>
              <a:ext cx="0" cy="24130"/>
            </a:xfrm>
            <a:custGeom>
              <a:avLst/>
              <a:gdLst/>
              <a:ahLst/>
              <a:cxnLst/>
              <a:rect l="l" t="t" r="r" b="b"/>
              <a:pathLst>
                <a:path w="0" h="24130">
                  <a:moveTo>
                    <a:pt x="0" y="0"/>
                  </a:moveTo>
                  <a:lnTo>
                    <a:pt x="0" y="23573"/>
                  </a:lnTo>
                </a:path>
              </a:pathLst>
            </a:custGeom>
            <a:ln w="5518">
              <a:solidFill>
                <a:srgbClr val="000000"/>
              </a:solidFill>
            </a:ln>
          </p:spPr>
          <p:txBody>
            <a:bodyPr wrap="square" lIns="0" tIns="0" rIns="0" bIns="0" rtlCol="0"/>
            <a:lstStyle/>
            <a:p/>
          </p:txBody>
        </p:sp>
        <p:sp>
          <p:nvSpPr>
            <p:cNvPr id="512" name="object 512" descr=""/>
            <p:cNvSpPr/>
            <p:nvPr/>
          </p:nvSpPr>
          <p:spPr>
            <a:xfrm>
              <a:off x="8214157" y="1221704"/>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13" name="object 513" descr=""/>
            <p:cNvSpPr/>
            <p:nvPr/>
          </p:nvSpPr>
          <p:spPr>
            <a:xfrm>
              <a:off x="8514894" y="3375743"/>
              <a:ext cx="0" cy="29845"/>
            </a:xfrm>
            <a:custGeom>
              <a:avLst/>
              <a:gdLst/>
              <a:ahLst/>
              <a:cxnLst/>
              <a:rect l="l" t="t" r="r" b="b"/>
              <a:pathLst>
                <a:path w="0" h="29845">
                  <a:moveTo>
                    <a:pt x="0" y="29467"/>
                  </a:moveTo>
                  <a:lnTo>
                    <a:pt x="0" y="0"/>
                  </a:lnTo>
                </a:path>
              </a:pathLst>
            </a:custGeom>
            <a:ln w="5518">
              <a:solidFill>
                <a:srgbClr val="000000"/>
              </a:solidFill>
            </a:ln>
          </p:spPr>
          <p:txBody>
            <a:bodyPr wrap="square" lIns="0" tIns="0" rIns="0" bIns="0" rtlCol="0"/>
            <a:lstStyle/>
            <a:p/>
          </p:txBody>
        </p:sp>
        <p:sp>
          <p:nvSpPr>
            <p:cNvPr id="514" name="object 514" descr=""/>
            <p:cNvSpPr/>
            <p:nvPr/>
          </p:nvSpPr>
          <p:spPr>
            <a:xfrm>
              <a:off x="8512136" y="3372797"/>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15" name="object 515" descr=""/>
            <p:cNvSpPr/>
            <p:nvPr/>
          </p:nvSpPr>
          <p:spPr>
            <a:xfrm>
              <a:off x="8514896" y="1201078"/>
              <a:ext cx="0" cy="24130"/>
            </a:xfrm>
            <a:custGeom>
              <a:avLst/>
              <a:gdLst/>
              <a:ahLst/>
              <a:cxnLst/>
              <a:rect l="l" t="t" r="r" b="b"/>
              <a:pathLst>
                <a:path w="0" h="24130">
                  <a:moveTo>
                    <a:pt x="0" y="0"/>
                  </a:moveTo>
                  <a:lnTo>
                    <a:pt x="0" y="23573"/>
                  </a:lnTo>
                </a:path>
              </a:pathLst>
            </a:custGeom>
            <a:ln w="5518">
              <a:solidFill>
                <a:srgbClr val="000000"/>
              </a:solidFill>
            </a:ln>
          </p:spPr>
          <p:txBody>
            <a:bodyPr wrap="square" lIns="0" tIns="0" rIns="0" bIns="0" rtlCol="0"/>
            <a:lstStyle/>
            <a:p/>
          </p:txBody>
        </p:sp>
        <p:sp>
          <p:nvSpPr>
            <p:cNvPr id="516" name="object 516" descr=""/>
            <p:cNvSpPr/>
            <p:nvPr/>
          </p:nvSpPr>
          <p:spPr>
            <a:xfrm>
              <a:off x="8512139" y="1221706"/>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grpSp>
      <p:sp>
        <p:nvSpPr>
          <p:cNvPr id="517" name="object 517" descr=""/>
          <p:cNvSpPr txBox="1"/>
          <p:nvPr/>
        </p:nvSpPr>
        <p:spPr>
          <a:xfrm>
            <a:off x="6670157" y="3410183"/>
            <a:ext cx="1995805" cy="117475"/>
          </a:xfrm>
          <a:prstGeom prst="rect">
            <a:avLst/>
          </a:prstGeom>
        </p:spPr>
        <p:txBody>
          <a:bodyPr wrap="square" lIns="0" tIns="12700" rIns="0" bIns="0" rtlCol="0" vert="horz">
            <a:spAutoFit/>
          </a:bodyPr>
          <a:lstStyle/>
          <a:p>
            <a:pPr marL="12700">
              <a:lnSpc>
                <a:spcPct val="100000"/>
              </a:lnSpc>
              <a:spcBef>
                <a:spcPts val="100"/>
              </a:spcBef>
              <a:tabLst>
                <a:tab pos="288290" algn="l"/>
              </a:tabLst>
            </a:pPr>
            <a:r>
              <a:rPr dirty="0" sz="600" spc="-25">
                <a:latin typeface="Arial MT"/>
                <a:cs typeface="Arial MT"/>
              </a:rPr>
              <a:t>1~5</a:t>
            </a:r>
            <a:r>
              <a:rPr dirty="0" sz="600">
                <a:latin typeface="Arial MT"/>
                <a:cs typeface="Arial MT"/>
              </a:rPr>
              <a:t>	5~10</a:t>
            </a:r>
            <a:r>
              <a:rPr dirty="0" sz="600" spc="190">
                <a:latin typeface="Arial MT"/>
                <a:cs typeface="Arial MT"/>
              </a:rPr>
              <a:t>  </a:t>
            </a:r>
            <a:r>
              <a:rPr dirty="0" sz="600">
                <a:latin typeface="Arial MT"/>
                <a:cs typeface="Arial MT"/>
              </a:rPr>
              <a:t>10~20</a:t>
            </a:r>
            <a:r>
              <a:rPr dirty="0" sz="600" spc="405">
                <a:latin typeface="Arial MT"/>
                <a:cs typeface="Arial MT"/>
              </a:rPr>
              <a:t> </a:t>
            </a:r>
            <a:r>
              <a:rPr dirty="0" sz="600">
                <a:latin typeface="Arial MT"/>
                <a:cs typeface="Arial MT"/>
              </a:rPr>
              <a:t>20~30</a:t>
            </a:r>
            <a:r>
              <a:rPr dirty="0" sz="600" spc="440">
                <a:latin typeface="Arial MT"/>
                <a:cs typeface="Arial MT"/>
              </a:rPr>
              <a:t> </a:t>
            </a:r>
            <a:r>
              <a:rPr dirty="0" sz="600">
                <a:latin typeface="Arial MT"/>
                <a:cs typeface="Arial MT"/>
              </a:rPr>
              <a:t>30~50</a:t>
            </a:r>
            <a:r>
              <a:rPr dirty="0" sz="600" spc="300">
                <a:latin typeface="Arial MT"/>
                <a:cs typeface="Arial MT"/>
              </a:rPr>
              <a:t> </a:t>
            </a:r>
            <a:r>
              <a:rPr dirty="0" sz="600" spc="-20">
                <a:latin typeface="Arial MT"/>
                <a:cs typeface="Arial MT"/>
              </a:rPr>
              <a:t>50~100</a:t>
            </a:r>
            <a:r>
              <a:rPr dirty="0" sz="600" spc="65">
                <a:latin typeface="Arial MT"/>
                <a:cs typeface="Arial MT"/>
              </a:rPr>
              <a:t> </a:t>
            </a:r>
            <a:r>
              <a:rPr dirty="0" sz="600" spc="-10">
                <a:latin typeface="Arial MT"/>
                <a:cs typeface="Arial MT"/>
              </a:rPr>
              <a:t>100~180</a:t>
            </a:r>
            <a:endParaRPr sz="600">
              <a:latin typeface="Arial MT"/>
              <a:cs typeface="Arial MT"/>
            </a:endParaRPr>
          </a:p>
        </p:txBody>
      </p:sp>
      <p:grpSp>
        <p:nvGrpSpPr>
          <p:cNvPr id="518" name="object 518" descr=""/>
          <p:cNvGrpSpPr/>
          <p:nvPr/>
        </p:nvGrpSpPr>
        <p:grpSpPr>
          <a:xfrm>
            <a:off x="6149978" y="3402036"/>
            <a:ext cx="2666365" cy="6350"/>
            <a:chOff x="6149978" y="3402036"/>
            <a:chExt cx="2666365" cy="6350"/>
          </a:xfrm>
        </p:grpSpPr>
        <p:sp>
          <p:nvSpPr>
            <p:cNvPr id="519" name="object 519" descr=""/>
            <p:cNvSpPr/>
            <p:nvPr/>
          </p:nvSpPr>
          <p:spPr>
            <a:xfrm>
              <a:off x="6153153" y="3405211"/>
              <a:ext cx="22225" cy="0"/>
            </a:xfrm>
            <a:custGeom>
              <a:avLst/>
              <a:gdLst/>
              <a:ahLst/>
              <a:cxnLst/>
              <a:rect l="l" t="t" r="r" b="b"/>
              <a:pathLst>
                <a:path w="22225" h="0">
                  <a:moveTo>
                    <a:pt x="0" y="0"/>
                  </a:moveTo>
                  <a:lnTo>
                    <a:pt x="22072" y="0"/>
                  </a:lnTo>
                </a:path>
              </a:pathLst>
            </a:custGeom>
            <a:ln w="5893">
              <a:solidFill>
                <a:srgbClr val="000000"/>
              </a:solidFill>
            </a:ln>
          </p:spPr>
          <p:txBody>
            <a:bodyPr wrap="square" lIns="0" tIns="0" rIns="0" bIns="0" rtlCol="0"/>
            <a:lstStyle/>
            <a:p/>
          </p:txBody>
        </p:sp>
        <p:sp>
          <p:nvSpPr>
            <p:cNvPr id="520" name="object 520" descr=""/>
            <p:cNvSpPr/>
            <p:nvPr/>
          </p:nvSpPr>
          <p:spPr>
            <a:xfrm>
              <a:off x="6172468" y="3402265"/>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21" name="object 521" descr=""/>
            <p:cNvSpPr/>
            <p:nvPr/>
          </p:nvSpPr>
          <p:spPr>
            <a:xfrm>
              <a:off x="8785289" y="3405212"/>
              <a:ext cx="27940" cy="0"/>
            </a:xfrm>
            <a:custGeom>
              <a:avLst/>
              <a:gdLst/>
              <a:ahLst/>
              <a:cxnLst/>
              <a:rect l="l" t="t" r="r" b="b"/>
              <a:pathLst>
                <a:path w="27940" h="0">
                  <a:moveTo>
                    <a:pt x="27590" y="0"/>
                  </a:moveTo>
                  <a:lnTo>
                    <a:pt x="0" y="0"/>
                  </a:lnTo>
                </a:path>
              </a:pathLst>
            </a:custGeom>
            <a:ln w="5893">
              <a:solidFill>
                <a:srgbClr val="000000"/>
              </a:solidFill>
            </a:ln>
          </p:spPr>
          <p:txBody>
            <a:bodyPr wrap="square" lIns="0" tIns="0" rIns="0" bIns="0" rtlCol="0"/>
            <a:lstStyle/>
            <a:p/>
          </p:txBody>
        </p:sp>
        <p:sp>
          <p:nvSpPr>
            <p:cNvPr id="522" name="object 522" descr=""/>
            <p:cNvSpPr/>
            <p:nvPr/>
          </p:nvSpPr>
          <p:spPr>
            <a:xfrm>
              <a:off x="8782531" y="3402266"/>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grpSp>
      <p:sp>
        <p:nvSpPr>
          <p:cNvPr id="523" name="object 523" descr=""/>
          <p:cNvSpPr txBox="1"/>
          <p:nvPr/>
        </p:nvSpPr>
        <p:spPr>
          <a:xfrm>
            <a:off x="6092459" y="3345366"/>
            <a:ext cx="40005" cy="117475"/>
          </a:xfrm>
          <a:prstGeom prst="rect">
            <a:avLst/>
          </a:prstGeom>
        </p:spPr>
        <p:txBody>
          <a:bodyPr wrap="square" lIns="0" tIns="12700" rIns="0" bIns="0" rtlCol="0" vert="horz">
            <a:spAutoFit/>
          </a:bodyPr>
          <a:lstStyle/>
          <a:p>
            <a:pPr>
              <a:lnSpc>
                <a:spcPct val="100000"/>
              </a:lnSpc>
              <a:spcBef>
                <a:spcPts val="100"/>
              </a:spcBef>
            </a:pPr>
            <a:r>
              <a:rPr dirty="0" sz="600" spc="-80">
                <a:latin typeface="Arial MT"/>
                <a:cs typeface="Arial MT"/>
              </a:rPr>
              <a:t>0</a:t>
            </a:r>
            <a:endParaRPr sz="600">
              <a:latin typeface="Arial MT"/>
              <a:cs typeface="Arial MT"/>
            </a:endParaRPr>
          </a:p>
        </p:txBody>
      </p:sp>
      <p:grpSp>
        <p:nvGrpSpPr>
          <p:cNvPr id="524" name="object 524" descr=""/>
          <p:cNvGrpSpPr/>
          <p:nvPr/>
        </p:nvGrpSpPr>
        <p:grpSpPr>
          <a:xfrm>
            <a:off x="6149984" y="3030754"/>
            <a:ext cx="2666365" cy="6350"/>
            <a:chOff x="6149984" y="3030754"/>
            <a:chExt cx="2666365" cy="6350"/>
          </a:xfrm>
        </p:grpSpPr>
        <p:sp>
          <p:nvSpPr>
            <p:cNvPr id="525" name="object 525" descr=""/>
            <p:cNvSpPr/>
            <p:nvPr/>
          </p:nvSpPr>
          <p:spPr>
            <a:xfrm>
              <a:off x="6153159" y="3033929"/>
              <a:ext cx="22225" cy="0"/>
            </a:xfrm>
            <a:custGeom>
              <a:avLst/>
              <a:gdLst/>
              <a:ahLst/>
              <a:cxnLst/>
              <a:rect l="l" t="t" r="r" b="b"/>
              <a:pathLst>
                <a:path w="22225" h="0">
                  <a:moveTo>
                    <a:pt x="0" y="0"/>
                  </a:moveTo>
                  <a:lnTo>
                    <a:pt x="22072" y="0"/>
                  </a:lnTo>
                </a:path>
              </a:pathLst>
            </a:custGeom>
            <a:ln w="5893">
              <a:solidFill>
                <a:srgbClr val="000000"/>
              </a:solidFill>
            </a:ln>
          </p:spPr>
          <p:txBody>
            <a:bodyPr wrap="square" lIns="0" tIns="0" rIns="0" bIns="0" rtlCol="0"/>
            <a:lstStyle/>
            <a:p/>
          </p:txBody>
        </p:sp>
        <p:sp>
          <p:nvSpPr>
            <p:cNvPr id="526" name="object 526" descr=""/>
            <p:cNvSpPr/>
            <p:nvPr/>
          </p:nvSpPr>
          <p:spPr>
            <a:xfrm>
              <a:off x="6172473" y="3030982"/>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27" name="object 527" descr=""/>
            <p:cNvSpPr/>
            <p:nvPr/>
          </p:nvSpPr>
          <p:spPr>
            <a:xfrm>
              <a:off x="8785294" y="3033929"/>
              <a:ext cx="27940" cy="0"/>
            </a:xfrm>
            <a:custGeom>
              <a:avLst/>
              <a:gdLst/>
              <a:ahLst/>
              <a:cxnLst/>
              <a:rect l="l" t="t" r="r" b="b"/>
              <a:pathLst>
                <a:path w="27940" h="0">
                  <a:moveTo>
                    <a:pt x="27590" y="0"/>
                  </a:moveTo>
                  <a:lnTo>
                    <a:pt x="0" y="0"/>
                  </a:lnTo>
                </a:path>
              </a:pathLst>
            </a:custGeom>
            <a:ln w="5893">
              <a:solidFill>
                <a:srgbClr val="000000"/>
              </a:solidFill>
            </a:ln>
          </p:spPr>
          <p:txBody>
            <a:bodyPr wrap="square" lIns="0" tIns="0" rIns="0" bIns="0" rtlCol="0"/>
            <a:lstStyle/>
            <a:p/>
          </p:txBody>
        </p:sp>
        <p:sp>
          <p:nvSpPr>
            <p:cNvPr id="528" name="object 528" descr=""/>
            <p:cNvSpPr/>
            <p:nvPr/>
          </p:nvSpPr>
          <p:spPr>
            <a:xfrm>
              <a:off x="8782536" y="3030983"/>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grpSp>
      <p:sp>
        <p:nvSpPr>
          <p:cNvPr id="529" name="object 529" descr=""/>
          <p:cNvSpPr txBox="1"/>
          <p:nvPr/>
        </p:nvSpPr>
        <p:spPr>
          <a:xfrm>
            <a:off x="6041137" y="2974083"/>
            <a:ext cx="102870" cy="117475"/>
          </a:xfrm>
          <a:prstGeom prst="rect">
            <a:avLst/>
          </a:prstGeom>
        </p:spPr>
        <p:txBody>
          <a:bodyPr wrap="square" lIns="0" tIns="12700" rIns="0" bIns="0" rtlCol="0" vert="horz">
            <a:spAutoFit/>
          </a:bodyPr>
          <a:lstStyle/>
          <a:p>
            <a:pPr marL="12700">
              <a:lnSpc>
                <a:spcPct val="100000"/>
              </a:lnSpc>
              <a:spcBef>
                <a:spcPts val="100"/>
              </a:spcBef>
            </a:pPr>
            <a:r>
              <a:rPr dirty="0" sz="600" spc="-25">
                <a:latin typeface="Arial MT"/>
                <a:cs typeface="Arial MT"/>
              </a:rPr>
              <a:t>10</a:t>
            </a:r>
            <a:endParaRPr sz="600">
              <a:latin typeface="Arial MT"/>
              <a:cs typeface="Arial MT"/>
            </a:endParaRPr>
          </a:p>
        </p:txBody>
      </p:sp>
      <p:grpSp>
        <p:nvGrpSpPr>
          <p:cNvPr id="530" name="object 530" descr=""/>
          <p:cNvGrpSpPr/>
          <p:nvPr/>
        </p:nvGrpSpPr>
        <p:grpSpPr>
          <a:xfrm>
            <a:off x="6149989" y="2665364"/>
            <a:ext cx="2666365" cy="6350"/>
            <a:chOff x="6149989" y="2665364"/>
            <a:chExt cx="2666365" cy="6350"/>
          </a:xfrm>
        </p:grpSpPr>
        <p:sp>
          <p:nvSpPr>
            <p:cNvPr id="531" name="object 531" descr=""/>
            <p:cNvSpPr/>
            <p:nvPr/>
          </p:nvSpPr>
          <p:spPr>
            <a:xfrm>
              <a:off x="6153164" y="2668539"/>
              <a:ext cx="22225" cy="0"/>
            </a:xfrm>
            <a:custGeom>
              <a:avLst/>
              <a:gdLst/>
              <a:ahLst/>
              <a:cxnLst/>
              <a:rect l="l" t="t" r="r" b="b"/>
              <a:pathLst>
                <a:path w="22225" h="0">
                  <a:moveTo>
                    <a:pt x="0" y="0"/>
                  </a:moveTo>
                  <a:lnTo>
                    <a:pt x="22072" y="0"/>
                  </a:lnTo>
                </a:path>
              </a:pathLst>
            </a:custGeom>
            <a:ln w="5893">
              <a:solidFill>
                <a:srgbClr val="000000"/>
              </a:solidFill>
            </a:ln>
          </p:spPr>
          <p:txBody>
            <a:bodyPr wrap="square" lIns="0" tIns="0" rIns="0" bIns="0" rtlCol="0"/>
            <a:lstStyle/>
            <a:p/>
          </p:txBody>
        </p:sp>
        <p:sp>
          <p:nvSpPr>
            <p:cNvPr id="532" name="object 532" descr=""/>
            <p:cNvSpPr/>
            <p:nvPr/>
          </p:nvSpPr>
          <p:spPr>
            <a:xfrm>
              <a:off x="6172478" y="2665593"/>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33" name="object 533" descr=""/>
            <p:cNvSpPr/>
            <p:nvPr/>
          </p:nvSpPr>
          <p:spPr>
            <a:xfrm>
              <a:off x="8785299" y="2668540"/>
              <a:ext cx="27940" cy="0"/>
            </a:xfrm>
            <a:custGeom>
              <a:avLst/>
              <a:gdLst/>
              <a:ahLst/>
              <a:cxnLst/>
              <a:rect l="l" t="t" r="r" b="b"/>
              <a:pathLst>
                <a:path w="27940" h="0">
                  <a:moveTo>
                    <a:pt x="27590" y="0"/>
                  </a:moveTo>
                  <a:lnTo>
                    <a:pt x="0" y="0"/>
                  </a:lnTo>
                </a:path>
              </a:pathLst>
            </a:custGeom>
            <a:ln w="5893">
              <a:solidFill>
                <a:srgbClr val="000000"/>
              </a:solidFill>
            </a:ln>
          </p:spPr>
          <p:txBody>
            <a:bodyPr wrap="square" lIns="0" tIns="0" rIns="0" bIns="0" rtlCol="0"/>
            <a:lstStyle/>
            <a:p/>
          </p:txBody>
        </p:sp>
        <p:sp>
          <p:nvSpPr>
            <p:cNvPr id="534" name="object 534" descr=""/>
            <p:cNvSpPr/>
            <p:nvPr/>
          </p:nvSpPr>
          <p:spPr>
            <a:xfrm>
              <a:off x="8782542" y="2665594"/>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grpSp>
      <p:sp>
        <p:nvSpPr>
          <p:cNvPr id="535" name="object 535" descr=""/>
          <p:cNvSpPr txBox="1"/>
          <p:nvPr/>
        </p:nvSpPr>
        <p:spPr>
          <a:xfrm>
            <a:off x="6041142" y="2501495"/>
            <a:ext cx="114935" cy="287655"/>
          </a:xfrm>
          <a:prstGeom prst="rect">
            <a:avLst/>
          </a:prstGeom>
        </p:spPr>
        <p:txBody>
          <a:bodyPr wrap="square" lIns="0" tIns="27305" rIns="0" bIns="0" rtlCol="0" vert="horz">
            <a:spAutoFit/>
          </a:bodyPr>
          <a:lstStyle/>
          <a:p>
            <a:pPr marL="65405">
              <a:lnSpc>
                <a:spcPct val="100000"/>
              </a:lnSpc>
              <a:spcBef>
                <a:spcPts val="215"/>
              </a:spcBef>
            </a:pPr>
            <a:r>
              <a:rPr dirty="0" sz="500" spc="-50">
                <a:latin typeface="Arial MT"/>
                <a:cs typeface="Arial MT"/>
              </a:rPr>
              <a:t>4</a:t>
            </a:r>
            <a:endParaRPr sz="500">
              <a:latin typeface="Arial MT"/>
              <a:cs typeface="Arial MT"/>
            </a:endParaRPr>
          </a:p>
          <a:p>
            <a:pPr marL="12700">
              <a:lnSpc>
                <a:spcPts val="665"/>
              </a:lnSpc>
              <a:spcBef>
                <a:spcPts val="130"/>
              </a:spcBef>
            </a:pPr>
            <a:r>
              <a:rPr dirty="0" sz="600" spc="-25">
                <a:latin typeface="Arial MT"/>
                <a:cs typeface="Arial MT"/>
              </a:rPr>
              <a:t>20</a:t>
            </a:r>
            <a:endParaRPr sz="600">
              <a:latin typeface="Arial MT"/>
              <a:cs typeface="Arial MT"/>
            </a:endParaRPr>
          </a:p>
          <a:p>
            <a:pPr marL="65405">
              <a:lnSpc>
                <a:spcPts val="545"/>
              </a:lnSpc>
            </a:pPr>
            <a:r>
              <a:rPr dirty="0" sz="500" spc="-50">
                <a:latin typeface="Arial MT"/>
                <a:cs typeface="Arial MT"/>
              </a:rPr>
              <a:t>3</a:t>
            </a:r>
            <a:endParaRPr sz="500">
              <a:latin typeface="Arial MT"/>
              <a:cs typeface="Arial MT"/>
            </a:endParaRPr>
          </a:p>
        </p:txBody>
      </p:sp>
      <p:grpSp>
        <p:nvGrpSpPr>
          <p:cNvPr id="536" name="object 536" descr=""/>
          <p:cNvGrpSpPr/>
          <p:nvPr/>
        </p:nvGrpSpPr>
        <p:grpSpPr>
          <a:xfrm>
            <a:off x="6149995" y="2299975"/>
            <a:ext cx="2666365" cy="6350"/>
            <a:chOff x="6149995" y="2299975"/>
            <a:chExt cx="2666365" cy="6350"/>
          </a:xfrm>
        </p:grpSpPr>
        <p:sp>
          <p:nvSpPr>
            <p:cNvPr id="537" name="object 537" descr=""/>
            <p:cNvSpPr/>
            <p:nvPr/>
          </p:nvSpPr>
          <p:spPr>
            <a:xfrm>
              <a:off x="6153170" y="2303150"/>
              <a:ext cx="22225" cy="0"/>
            </a:xfrm>
            <a:custGeom>
              <a:avLst/>
              <a:gdLst/>
              <a:ahLst/>
              <a:cxnLst/>
              <a:rect l="l" t="t" r="r" b="b"/>
              <a:pathLst>
                <a:path w="22225" h="0">
                  <a:moveTo>
                    <a:pt x="0" y="0"/>
                  </a:moveTo>
                  <a:lnTo>
                    <a:pt x="22072" y="0"/>
                  </a:lnTo>
                </a:path>
              </a:pathLst>
            </a:custGeom>
            <a:ln w="5893">
              <a:solidFill>
                <a:srgbClr val="000000"/>
              </a:solidFill>
            </a:ln>
          </p:spPr>
          <p:txBody>
            <a:bodyPr wrap="square" lIns="0" tIns="0" rIns="0" bIns="0" rtlCol="0"/>
            <a:lstStyle/>
            <a:p/>
          </p:txBody>
        </p:sp>
        <p:sp>
          <p:nvSpPr>
            <p:cNvPr id="538" name="object 538" descr=""/>
            <p:cNvSpPr/>
            <p:nvPr/>
          </p:nvSpPr>
          <p:spPr>
            <a:xfrm>
              <a:off x="6172484" y="2300204"/>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39" name="object 539" descr=""/>
            <p:cNvSpPr/>
            <p:nvPr/>
          </p:nvSpPr>
          <p:spPr>
            <a:xfrm>
              <a:off x="8785305" y="2303151"/>
              <a:ext cx="27940" cy="0"/>
            </a:xfrm>
            <a:custGeom>
              <a:avLst/>
              <a:gdLst/>
              <a:ahLst/>
              <a:cxnLst/>
              <a:rect l="l" t="t" r="r" b="b"/>
              <a:pathLst>
                <a:path w="27940" h="0">
                  <a:moveTo>
                    <a:pt x="27590" y="0"/>
                  </a:moveTo>
                  <a:lnTo>
                    <a:pt x="0" y="0"/>
                  </a:lnTo>
                </a:path>
              </a:pathLst>
            </a:custGeom>
            <a:ln w="5893">
              <a:solidFill>
                <a:srgbClr val="000000"/>
              </a:solidFill>
            </a:ln>
          </p:spPr>
          <p:txBody>
            <a:bodyPr wrap="square" lIns="0" tIns="0" rIns="0" bIns="0" rtlCol="0"/>
            <a:lstStyle/>
            <a:p/>
          </p:txBody>
        </p:sp>
        <p:sp>
          <p:nvSpPr>
            <p:cNvPr id="540" name="object 540" descr=""/>
            <p:cNvSpPr/>
            <p:nvPr/>
          </p:nvSpPr>
          <p:spPr>
            <a:xfrm>
              <a:off x="8782547" y="2300204"/>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grpSp>
      <p:sp>
        <p:nvSpPr>
          <p:cNvPr id="541" name="object 541" descr=""/>
          <p:cNvSpPr txBox="1"/>
          <p:nvPr/>
        </p:nvSpPr>
        <p:spPr>
          <a:xfrm>
            <a:off x="6041148" y="2169012"/>
            <a:ext cx="114935" cy="279400"/>
          </a:xfrm>
          <a:prstGeom prst="rect">
            <a:avLst/>
          </a:prstGeom>
        </p:spPr>
        <p:txBody>
          <a:bodyPr wrap="square" lIns="0" tIns="13970" rIns="0" bIns="0" rtlCol="0" vert="horz">
            <a:spAutoFit/>
          </a:bodyPr>
          <a:lstStyle/>
          <a:p>
            <a:pPr marL="65405">
              <a:lnSpc>
                <a:spcPts val="590"/>
              </a:lnSpc>
              <a:spcBef>
                <a:spcPts val="110"/>
              </a:spcBef>
            </a:pPr>
            <a:r>
              <a:rPr dirty="0" sz="500" spc="-50">
                <a:latin typeface="Arial MT"/>
                <a:cs typeface="Arial MT"/>
              </a:rPr>
              <a:t>6</a:t>
            </a:r>
            <a:endParaRPr sz="500">
              <a:latin typeface="Arial MT"/>
              <a:cs typeface="Arial MT"/>
            </a:endParaRPr>
          </a:p>
          <a:p>
            <a:pPr marL="12700">
              <a:lnSpc>
                <a:spcPts val="710"/>
              </a:lnSpc>
            </a:pPr>
            <a:r>
              <a:rPr dirty="0" sz="600" spc="-25">
                <a:latin typeface="Arial MT"/>
                <a:cs typeface="Arial MT"/>
              </a:rPr>
              <a:t>30</a:t>
            </a:r>
            <a:endParaRPr sz="600">
              <a:latin typeface="Arial MT"/>
              <a:cs typeface="Arial MT"/>
            </a:endParaRPr>
          </a:p>
          <a:p>
            <a:pPr marL="65405">
              <a:lnSpc>
                <a:spcPct val="100000"/>
              </a:lnSpc>
              <a:spcBef>
                <a:spcPts val="90"/>
              </a:spcBef>
            </a:pPr>
            <a:r>
              <a:rPr dirty="0" sz="500" spc="-50">
                <a:latin typeface="Arial MT"/>
                <a:cs typeface="Arial MT"/>
              </a:rPr>
              <a:t>5</a:t>
            </a:r>
            <a:endParaRPr sz="500">
              <a:latin typeface="Arial MT"/>
              <a:cs typeface="Arial MT"/>
            </a:endParaRPr>
          </a:p>
        </p:txBody>
      </p:sp>
      <p:grpSp>
        <p:nvGrpSpPr>
          <p:cNvPr id="542" name="object 542" descr=""/>
          <p:cNvGrpSpPr/>
          <p:nvPr/>
        </p:nvGrpSpPr>
        <p:grpSpPr>
          <a:xfrm>
            <a:off x="6150000" y="1928692"/>
            <a:ext cx="2666365" cy="6350"/>
            <a:chOff x="6150000" y="1928692"/>
            <a:chExt cx="2666365" cy="6350"/>
          </a:xfrm>
        </p:grpSpPr>
        <p:sp>
          <p:nvSpPr>
            <p:cNvPr id="543" name="object 543" descr=""/>
            <p:cNvSpPr/>
            <p:nvPr/>
          </p:nvSpPr>
          <p:spPr>
            <a:xfrm>
              <a:off x="6153175" y="1931867"/>
              <a:ext cx="22225" cy="0"/>
            </a:xfrm>
            <a:custGeom>
              <a:avLst/>
              <a:gdLst/>
              <a:ahLst/>
              <a:cxnLst/>
              <a:rect l="l" t="t" r="r" b="b"/>
              <a:pathLst>
                <a:path w="22225" h="0">
                  <a:moveTo>
                    <a:pt x="0" y="0"/>
                  </a:moveTo>
                  <a:lnTo>
                    <a:pt x="22072" y="0"/>
                  </a:lnTo>
                </a:path>
              </a:pathLst>
            </a:custGeom>
            <a:ln w="5893">
              <a:solidFill>
                <a:srgbClr val="000000"/>
              </a:solidFill>
            </a:ln>
          </p:spPr>
          <p:txBody>
            <a:bodyPr wrap="square" lIns="0" tIns="0" rIns="0" bIns="0" rtlCol="0"/>
            <a:lstStyle/>
            <a:p/>
          </p:txBody>
        </p:sp>
        <p:sp>
          <p:nvSpPr>
            <p:cNvPr id="544" name="object 544" descr=""/>
            <p:cNvSpPr/>
            <p:nvPr/>
          </p:nvSpPr>
          <p:spPr>
            <a:xfrm>
              <a:off x="6172490" y="1928921"/>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45" name="object 545" descr=""/>
            <p:cNvSpPr/>
            <p:nvPr/>
          </p:nvSpPr>
          <p:spPr>
            <a:xfrm>
              <a:off x="8785311" y="1931868"/>
              <a:ext cx="27940" cy="0"/>
            </a:xfrm>
            <a:custGeom>
              <a:avLst/>
              <a:gdLst/>
              <a:ahLst/>
              <a:cxnLst/>
              <a:rect l="l" t="t" r="r" b="b"/>
              <a:pathLst>
                <a:path w="27940" h="0">
                  <a:moveTo>
                    <a:pt x="27590" y="0"/>
                  </a:moveTo>
                  <a:lnTo>
                    <a:pt x="0" y="0"/>
                  </a:lnTo>
                </a:path>
              </a:pathLst>
            </a:custGeom>
            <a:ln w="5893">
              <a:solidFill>
                <a:srgbClr val="000000"/>
              </a:solidFill>
            </a:ln>
          </p:spPr>
          <p:txBody>
            <a:bodyPr wrap="square" lIns="0" tIns="0" rIns="0" bIns="0" rtlCol="0"/>
            <a:lstStyle/>
            <a:p/>
          </p:txBody>
        </p:sp>
        <p:sp>
          <p:nvSpPr>
            <p:cNvPr id="546" name="object 546" descr=""/>
            <p:cNvSpPr/>
            <p:nvPr/>
          </p:nvSpPr>
          <p:spPr>
            <a:xfrm>
              <a:off x="8782553" y="1928922"/>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grpSp>
      <p:sp>
        <p:nvSpPr>
          <p:cNvPr id="547" name="object 547" descr=""/>
          <p:cNvSpPr txBox="1"/>
          <p:nvPr/>
        </p:nvSpPr>
        <p:spPr>
          <a:xfrm>
            <a:off x="6041154" y="1872021"/>
            <a:ext cx="102870" cy="117475"/>
          </a:xfrm>
          <a:prstGeom prst="rect">
            <a:avLst/>
          </a:prstGeom>
        </p:spPr>
        <p:txBody>
          <a:bodyPr wrap="square" lIns="0" tIns="12700" rIns="0" bIns="0" rtlCol="0" vert="horz">
            <a:spAutoFit/>
          </a:bodyPr>
          <a:lstStyle/>
          <a:p>
            <a:pPr marL="12700">
              <a:lnSpc>
                <a:spcPct val="100000"/>
              </a:lnSpc>
              <a:spcBef>
                <a:spcPts val="100"/>
              </a:spcBef>
            </a:pPr>
            <a:r>
              <a:rPr dirty="0" sz="600" spc="-25">
                <a:latin typeface="Arial MT"/>
                <a:cs typeface="Arial MT"/>
              </a:rPr>
              <a:t>40</a:t>
            </a:r>
            <a:endParaRPr sz="600">
              <a:latin typeface="Arial MT"/>
              <a:cs typeface="Arial MT"/>
            </a:endParaRPr>
          </a:p>
        </p:txBody>
      </p:sp>
      <p:grpSp>
        <p:nvGrpSpPr>
          <p:cNvPr id="548" name="object 548" descr=""/>
          <p:cNvGrpSpPr/>
          <p:nvPr/>
        </p:nvGrpSpPr>
        <p:grpSpPr>
          <a:xfrm>
            <a:off x="6150006" y="1563302"/>
            <a:ext cx="2666365" cy="6350"/>
            <a:chOff x="6150006" y="1563302"/>
            <a:chExt cx="2666365" cy="6350"/>
          </a:xfrm>
        </p:grpSpPr>
        <p:sp>
          <p:nvSpPr>
            <p:cNvPr id="549" name="object 549" descr=""/>
            <p:cNvSpPr/>
            <p:nvPr/>
          </p:nvSpPr>
          <p:spPr>
            <a:xfrm>
              <a:off x="6153181" y="1566477"/>
              <a:ext cx="22225" cy="0"/>
            </a:xfrm>
            <a:custGeom>
              <a:avLst/>
              <a:gdLst/>
              <a:ahLst/>
              <a:cxnLst/>
              <a:rect l="l" t="t" r="r" b="b"/>
              <a:pathLst>
                <a:path w="22225" h="0">
                  <a:moveTo>
                    <a:pt x="0" y="0"/>
                  </a:moveTo>
                  <a:lnTo>
                    <a:pt x="22072" y="0"/>
                  </a:lnTo>
                </a:path>
              </a:pathLst>
            </a:custGeom>
            <a:ln w="5893">
              <a:solidFill>
                <a:srgbClr val="000000"/>
              </a:solidFill>
            </a:ln>
          </p:spPr>
          <p:txBody>
            <a:bodyPr wrap="square" lIns="0" tIns="0" rIns="0" bIns="0" rtlCol="0"/>
            <a:lstStyle/>
            <a:p/>
          </p:txBody>
        </p:sp>
        <p:sp>
          <p:nvSpPr>
            <p:cNvPr id="550" name="object 550" descr=""/>
            <p:cNvSpPr/>
            <p:nvPr/>
          </p:nvSpPr>
          <p:spPr>
            <a:xfrm>
              <a:off x="6172496" y="1563531"/>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51" name="object 551" descr=""/>
            <p:cNvSpPr/>
            <p:nvPr/>
          </p:nvSpPr>
          <p:spPr>
            <a:xfrm>
              <a:off x="8785317" y="1566478"/>
              <a:ext cx="27940" cy="0"/>
            </a:xfrm>
            <a:custGeom>
              <a:avLst/>
              <a:gdLst/>
              <a:ahLst/>
              <a:cxnLst/>
              <a:rect l="l" t="t" r="r" b="b"/>
              <a:pathLst>
                <a:path w="27940" h="0">
                  <a:moveTo>
                    <a:pt x="27590" y="0"/>
                  </a:moveTo>
                  <a:lnTo>
                    <a:pt x="0" y="0"/>
                  </a:lnTo>
                </a:path>
              </a:pathLst>
            </a:custGeom>
            <a:ln w="5893">
              <a:solidFill>
                <a:srgbClr val="000000"/>
              </a:solidFill>
            </a:ln>
          </p:spPr>
          <p:txBody>
            <a:bodyPr wrap="square" lIns="0" tIns="0" rIns="0" bIns="0" rtlCol="0"/>
            <a:lstStyle/>
            <a:p/>
          </p:txBody>
        </p:sp>
        <p:sp>
          <p:nvSpPr>
            <p:cNvPr id="552" name="object 552" descr=""/>
            <p:cNvSpPr/>
            <p:nvPr/>
          </p:nvSpPr>
          <p:spPr>
            <a:xfrm>
              <a:off x="8782559" y="1563532"/>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grpSp>
      <p:sp>
        <p:nvSpPr>
          <p:cNvPr id="553" name="object 553" descr=""/>
          <p:cNvSpPr txBox="1"/>
          <p:nvPr/>
        </p:nvSpPr>
        <p:spPr>
          <a:xfrm>
            <a:off x="6041159" y="1506632"/>
            <a:ext cx="102870" cy="117475"/>
          </a:xfrm>
          <a:prstGeom prst="rect">
            <a:avLst/>
          </a:prstGeom>
        </p:spPr>
        <p:txBody>
          <a:bodyPr wrap="square" lIns="0" tIns="12700" rIns="0" bIns="0" rtlCol="0" vert="horz">
            <a:spAutoFit/>
          </a:bodyPr>
          <a:lstStyle/>
          <a:p>
            <a:pPr marL="12700">
              <a:lnSpc>
                <a:spcPct val="100000"/>
              </a:lnSpc>
              <a:spcBef>
                <a:spcPts val="100"/>
              </a:spcBef>
            </a:pPr>
            <a:r>
              <a:rPr dirty="0" sz="600" spc="-25">
                <a:latin typeface="Arial MT"/>
                <a:cs typeface="Arial MT"/>
              </a:rPr>
              <a:t>50</a:t>
            </a:r>
            <a:endParaRPr sz="600">
              <a:latin typeface="Arial MT"/>
              <a:cs typeface="Arial MT"/>
            </a:endParaRPr>
          </a:p>
        </p:txBody>
      </p:sp>
      <p:grpSp>
        <p:nvGrpSpPr>
          <p:cNvPr id="554" name="object 554" descr=""/>
          <p:cNvGrpSpPr/>
          <p:nvPr/>
        </p:nvGrpSpPr>
        <p:grpSpPr>
          <a:xfrm>
            <a:off x="6150012" y="1197913"/>
            <a:ext cx="2666365" cy="6350"/>
            <a:chOff x="6150012" y="1197913"/>
            <a:chExt cx="2666365" cy="6350"/>
          </a:xfrm>
        </p:grpSpPr>
        <p:sp>
          <p:nvSpPr>
            <p:cNvPr id="555" name="object 555" descr=""/>
            <p:cNvSpPr/>
            <p:nvPr/>
          </p:nvSpPr>
          <p:spPr>
            <a:xfrm>
              <a:off x="6153187" y="1201088"/>
              <a:ext cx="22225" cy="0"/>
            </a:xfrm>
            <a:custGeom>
              <a:avLst/>
              <a:gdLst/>
              <a:ahLst/>
              <a:cxnLst/>
              <a:rect l="l" t="t" r="r" b="b"/>
              <a:pathLst>
                <a:path w="22225" h="0">
                  <a:moveTo>
                    <a:pt x="0" y="0"/>
                  </a:moveTo>
                  <a:lnTo>
                    <a:pt x="22072" y="0"/>
                  </a:lnTo>
                </a:path>
              </a:pathLst>
            </a:custGeom>
            <a:ln w="5893">
              <a:solidFill>
                <a:srgbClr val="000000"/>
              </a:solidFill>
            </a:ln>
          </p:spPr>
          <p:txBody>
            <a:bodyPr wrap="square" lIns="0" tIns="0" rIns="0" bIns="0" rtlCol="0"/>
            <a:lstStyle/>
            <a:p/>
          </p:txBody>
        </p:sp>
        <p:sp>
          <p:nvSpPr>
            <p:cNvPr id="556" name="object 556" descr=""/>
            <p:cNvSpPr/>
            <p:nvPr/>
          </p:nvSpPr>
          <p:spPr>
            <a:xfrm>
              <a:off x="6172502" y="1198142"/>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57" name="object 557" descr=""/>
            <p:cNvSpPr/>
            <p:nvPr/>
          </p:nvSpPr>
          <p:spPr>
            <a:xfrm>
              <a:off x="8785323" y="1201089"/>
              <a:ext cx="27940" cy="0"/>
            </a:xfrm>
            <a:custGeom>
              <a:avLst/>
              <a:gdLst/>
              <a:ahLst/>
              <a:cxnLst/>
              <a:rect l="l" t="t" r="r" b="b"/>
              <a:pathLst>
                <a:path w="27940" h="0">
                  <a:moveTo>
                    <a:pt x="27590" y="0"/>
                  </a:moveTo>
                  <a:lnTo>
                    <a:pt x="0" y="0"/>
                  </a:lnTo>
                </a:path>
              </a:pathLst>
            </a:custGeom>
            <a:ln w="5893">
              <a:solidFill>
                <a:srgbClr val="000000"/>
              </a:solidFill>
            </a:ln>
          </p:spPr>
          <p:txBody>
            <a:bodyPr wrap="square" lIns="0" tIns="0" rIns="0" bIns="0" rtlCol="0"/>
            <a:lstStyle/>
            <a:p/>
          </p:txBody>
        </p:sp>
        <p:sp>
          <p:nvSpPr>
            <p:cNvPr id="558" name="object 558" descr=""/>
            <p:cNvSpPr/>
            <p:nvPr/>
          </p:nvSpPr>
          <p:spPr>
            <a:xfrm>
              <a:off x="8782565" y="1198143"/>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grpSp>
      <p:sp>
        <p:nvSpPr>
          <p:cNvPr id="559" name="object 559" descr=""/>
          <p:cNvSpPr txBox="1"/>
          <p:nvPr/>
        </p:nvSpPr>
        <p:spPr>
          <a:xfrm>
            <a:off x="6041166" y="1141243"/>
            <a:ext cx="102870" cy="117475"/>
          </a:xfrm>
          <a:prstGeom prst="rect">
            <a:avLst/>
          </a:prstGeom>
        </p:spPr>
        <p:txBody>
          <a:bodyPr wrap="square" lIns="0" tIns="12700" rIns="0" bIns="0" rtlCol="0" vert="horz">
            <a:spAutoFit/>
          </a:bodyPr>
          <a:lstStyle/>
          <a:p>
            <a:pPr marL="12700">
              <a:lnSpc>
                <a:spcPct val="100000"/>
              </a:lnSpc>
              <a:spcBef>
                <a:spcPts val="100"/>
              </a:spcBef>
            </a:pPr>
            <a:r>
              <a:rPr dirty="0" sz="600" spc="-25">
                <a:latin typeface="Arial MT"/>
                <a:cs typeface="Arial MT"/>
              </a:rPr>
              <a:t>60</a:t>
            </a:r>
            <a:endParaRPr sz="600">
              <a:latin typeface="Arial MT"/>
              <a:cs typeface="Arial MT"/>
            </a:endParaRPr>
          </a:p>
        </p:txBody>
      </p:sp>
      <p:grpSp>
        <p:nvGrpSpPr>
          <p:cNvPr id="560" name="object 560" descr=""/>
          <p:cNvGrpSpPr/>
          <p:nvPr/>
        </p:nvGrpSpPr>
        <p:grpSpPr>
          <a:xfrm>
            <a:off x="6149937" y="1197914"/>
            <a:ext cx="2666365" cy="2211070"/>
            <a:chOff x="6149937" y="1197914"/>
            <a:chExt cx="2666365" cy="2211070"/>
          </a:xfrm>
        </p:grpSpPr>
        <p:sp>
          <p:nvSpPr>
            <p:cNvPr id="561" name="object 561" descr=""/>
            <p:cNvSpPr/>
            <p:nvPr/>
          </p:nvSpPr>
          <p:spPr>
            <a:xfrm>
              <a:off x="6153193" y="1201089"/>
              <a:ext cx="2660015" cy="0"/>
            </a:xfrm>
            <a:custGeom>
              <a:avLst/>
              <a:gdLst/>
              <a:ahLst/>
              <a:cxnLst/>
              <a:rect l="l" t="t" r="r" b="b"/>
              <a:pathLst>
                <a:path w="2660015" h="0">
                  <a:moveTo>
                    <a:pt x="0" y="0"/>
                  </a:moveTo>
                  <a:lnTo>
                    <a:pt x="2659723" y="0"/>
                  </a:lnTo>
                </a:path>
              </a:pathLst>
            </a:custGeom>
            <a:ln w="5893">
              <a:solidFill>
                <a:srgbClr val="000000"/>
              </a:solidFill>
            </a:ln>
          </p:spPr>
          <p:txBody>
            <a:bodyPr wrap="square" lIns="0" tIns="0" rIns="0" bIns="0" rtlCol="0"/>
            <a:lstStyle/>
            <a:p/>
          </p:txBody>
        </p:sp>
        <p:sp>
          <p:nvSpPr>
            <p:cNvPr id="562" name="object 562" descr=""/>
            <p:cNvSpPr/>
            <p:nvPr/>
          </p:nvSpPr>
          <p:spPr>
            <a:xfrm>
              <a:off x="8810159" y="1198143"/>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63" name="object 563" descr=""/>
            <p:cNvSpPr/>
            <p:nvPr/>
          </p:nvSpPr>
          <p:spPr>
            <a:xfrm>
              <a:off x="6153195" y="3405222"/>
              <a:ext cx="2660015" cy="0"/>
            </a:xfrm>
            <a:custGeom>
              <a:avLst/>
              <a:gdLst/>
              <a:ahLst/>
              <a:cxnLst/>
              <a:rect l="l" t="t" r="r" b="b"/>
              <a:pathLst>
                <a:path w="2660015" h="0">
                  <a:moveTo>
                    <a:pt x="0" y="0"/>
                  </a:moveTo>
                  <a:lnTo>
                    <a:pt x="2659723" y="0"/>
                  </a:lnTo>
                </a:path>
              </a:pathLst>
            </a:custGeom>
            <a:ln w="5893">
              <a:solidFill>
                <a:srgbClr val="000000"/>
              </a:solidFill>
            </a:ln>
          </p:spPr>
          <p:txBody>
            <a:bodyPr wrap="square" lIns="0" tIns="0" rIns="0" bIns="0" rtlCol="0"/>
            <a:lstStyle/>
            <a:p/>
          </p:txBody>
        </p:sp>
        <p:sp>
          <p:nvSpPr>
            <p:cNvPr id="564" name="object 564" descr=""/>
            <p:cNvSpPr/>
            <p:nvPr/>
          </p:nvSpPr>
          <p:spPr>
            <a:xfrm>
              <a:off x="8810161" y="3402276"/>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65" name="object 565" descr=""/>
            <p:cNvSpPr/>
            <p:nvPr/>
          </p:nvSpPr>
          <p:spPr>
            <a:xfrm>
              <a:off x="8812921" y="1201091"/>
              <a:ext cx="0" cy="2204720"/>
            </a:xfrm>
            <a:custGeom>
              <a:avLst/>
              <a:gdLst/>
              <a:ahLst/>
              <a:cxnLst/>
              <a:rect l="l" t="t" r="r" b="b"/>
              <a:pathLst>
                <a:path w="0" h="2204720">
                  <a:moveTo>
                    <a:pt x="0" y="2204132"/>
                  </a:moveTo>
                  <a:lnTo>
                    <a:pt x="0" y="0"/>
                  </a:lnTo>
                </a:path>
              </a:pathLst>
            </a:custGeom>
            <a:ln w="5518">
              <a:solidFill>
                <a:srgbClr val="000000"/>
              </a:solidFill>
            </a:ln>
          </p:spPr>
          <p:txBody>
            <a:bodyPr wrap="square" lIns="0" tIns="0" rIns="0" bIns="0" rtlCol="0"/>
            <a:lstStyle/>
            <a:p/>
          </p:txBody>
        </p:sp>
        <p:sp>
          <p:nvSpPr>
            <p:cNvPr id="566" name="object 566" descr=""/>
            <p:cNvSpPr/>
            <p:nvPr/>
          </p:nvSpPr>
          <p:spPr>
            <a:xfrm>
              <a:off x="8810163" y="1198145"/>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67" name="object 567" descr=""/>
            <p:cNvSpPr/>
            <p:nvPr/>
          </p:nvSpPr>
          <p:spPr>
            <a:xfrm>
              <a:off x="6153200" y="1201092"/>
              <a:ext cx="0" cy="2204720"/>
            </a:xfrm>
            <a:custGeom>
              <a:avLst/>
              <a:gdLst/>
              <a:ahLst/>
              <a:cxnLst/>
              <a:rect l="l" t="t" r="r" b="b"/>
              <a:pathLst>
                <a:path w="0" h="2204720">
                  <a:moveTo>
                    <a:pt x="0" y="2204132"/>
                  </a:moveTo>
                  <a:lnTo>
                    <a:pt x="0" y="0"/>
                  </a:lnTo>
                </a:path>
              </a:pathLst>
            </a:custGeom>
            <a:ln w="5518">
              <a:solidFill>
                <a:srgbClr val="000000"/>
              </a:solidFill>
            </a:ln>
          </p:spPr>
          <p:txBody>
            <a:bodyPr wrap="square" lIns="0" tIns="0" rIns="0" bIns="0" rtlCol="0"/>
            <a:lstStyle/>
            <a:p/>
          </p:txBody>
        </p:sp>
        <p:sp>
          <p:nvSpPr>
            <p:cNvPr id="568" name="object 568" descr=""/>
            <p:cNvSpPr/>
            <p:nvPr/>
          </p:nvSpPr>
          <p:spPr>
            <a:xfrm>
              <a:off x="6150442" y="1198145"/>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569" name="object 569" descr=""/>
            <p:cNvSpPr/>
            <p:nvPr/>
          </p:nvSpPr>
          <p:spPr>
            <a:xfrm>
              <a:off x="6346224" y="3328579"/>
              <a:ext cx="66675" cy="76835"/>
            </a:xfrm>
            <a:custGeom>
              <a:avLst/>
              <a:gdLst/>
              <a:ahLst/>
              <a:cxnLst/>
              <a:rect l="l" t="t" r="r" b="b"/>
              <a:pathLst>
                <a:path w="66675" h="76835">
                  <a:moveTo>
                    <a:pt x="66222" y="76614"/>
                  </a:moveTo>
                  <a:lnTo>
                    <a:pt x="0" y="76614"/>
                  </a:lnTo>
                  <a:lnTo>
                    <a:pt x="0" y="0"/>
                  </a:lnTo>
                  <a:lnTo>
                    <a:pt x="66222" y="0"/>
                  </a:lnTo>
                  <a:lnTo>
                    <a:pt x="66222" y="76614"/>
                  </a:lnTo>
                  <a:close/>
                </a:path>
              </a:pathLst>
            </a:custGeom>
            <a:solidFill>
              <a:srgbClr val="FF0000"/>
            </a:solidFill>
          </p:spPr>
          <p:txBody>
            <a:bodyPr wrap="square" lIns="0" tIns="0" rIns="0" bIns="0" rtlCol="0"/>
            <a:lstStyle/>
            <a:p/>
          </p:txBody>
        </p:sp>
        <p:sp>
          <p:nvSpPr>
            <p:cNvPr id="570" name="object 570" descr=""/>
            <p:cNvSpPr/>
            <p:nvPr/>
          </p:nvSpPr>
          <p:spPr>
            <a:xfrm>
              <a:off x="6346225" y="3328579"/>
              <a:ext cx="66675" cy="76835"/>
            </a:xfrm>
            <a:custGeom>
              <a:avLst/>
              <a:gdLst/>
              <a:ahLst/>
              <a:cxnLst/>
              <a:rect l="l" t="t" r="r" b="b"/>
              <a:pathLst>
                <a:path w="66675" h="76835">
                  <a:moveTo>
                    <a:pt x="0" y="0"/>
                  </a:moveTo>
                  <a:lnTo>
                    <a:pt x="66217" y="0"/>
                  </a:lnTo>
                  <a:lnTo>
                    <a:pt x="66217" y="76614"/>
                  </a:lnTo>
                  <a:lnTo>
                    <a:pt x="0" y="76614"/>
                  </a:lnTo>
                  <a:lnTo>
                    <a:pt x="0" y="0"/>
                  </a:lnTo>
                  <a:close/>
                </a:path>
              </a:pathLst>
            </a:custGeom>
            <a:ln w="5678">
              <a:solidFill>
                <a:srgbClr val="000000"/>
              </a:solidFill>
            </a:ln>
          </p:spPr>
          <p:txBody>
            <a:bodyPr wrap="square" lIns="0" tIns="0" rIns="0" bIns="0" rtlCol="0"/>
            <a:lstStyle/>
            <a:p/>
          </p:txBody>
        </p:sp>
        <p:sp>
          <p:nvSpPr>
            <p:cNvPr id="571" name="object 571" descr=""/>
            <p:cNvSpPr/>
            <p:nvPr/>
          </p:nvSpPr>
          <p:spPr>
            <a:xfrm>
              <a:off x="6644204" y="3328579"/>
              <a:ext cx="66675" cy="76835"/>
            </a:xfrm>
            <a:custGeom>
              <a:avLst/>
              <a:gdLst/>
              <a:ahLst/>
              <a:cxnLst/>
              <a:rect l="l" t="t" r="r" b="b"/>
              <a:pathLst>
                <a:path w="66675" h="76835">
                  <a:moveTo>
                    <a:pt x="66222" y="76614"/>
                  </a:moveTo>
                  <a:lnTo>
                    <a:pt x="0" y="76614"/>
                  </a:lnTo>
                  <a:lnTo>
                    <a:pt x="0" y="0"/>
                  </a:lnTo>
                  <a:lnTo>
                    <a:pt x="66222" y="0"/>
                  </a:lnTo>
                  <a:lnTo>
                    <a:pt x="66222" y="76614"/>
                  </a:lnTo>
                  <a:close/>
                </a:path>
              </a:pathLst>
            </a:custGeom>
            <a:solidFill>
              <a:srgbClr val="FF0000"/>
            </a:solidFill>
          </p:spPr>
          <p:txBody>
            <a:bodyPr wrap="square" lIns="0" tIns="0" rIns="0" bIns="0" rtlCol="0"/>
            <a:lstStyle/>
            <a:p/>
          </p:txBody>
        </p:sp>
        <p:sp>
          <p:nvSpPr>
            <p:cNvPr id="572" name="object 572" descr=""/>
            <p:cNvSpPr/>
            <p:nvPr/>
          </p:nvSpPr>
          <p:spPr>
            <a:xfrm>
              <a:off x="6644205" y="3328579"/>
              <a:ext cx="66675" cy="76835"/>
            </a:xfrm>
            <a:custGeom>
              <a:avLst/>
              <a:gdLst/>
              <a:ahLst/>
              <a:cxnLst/>
              <a:rect l="l" t="t" r="r" b="b"/>
              <a:pathLst>
                <a:path w="66675" h="76835">
                  <a:moveTo>
                    <a:pt x="0" y="0"/>
                  </a:moveTo>
                  <a:lnTo>
                    <a:pt x="66217" y="0"/>
                  </a:lnTo>
                  <a:lnTo>
                    <a:pt x="66217" y="76614"/>
                  </a:lnTo>
                  <a:lnTo>
                    <a:pt x="0" y="76614"/>
                  </a:lnTo>
                  <a:lnTo>
                    <a:pt x="0" y="0"/>
                  </a:lnTo>
                  <a:close/>
                </a:path>
              </a:pathLst>
            </a:custGeom>
            <a:ln w="5678">
              <a:solidFill>
                <a:srgbClr val="000000"/>
              </a:solidFill>
            </a:ln>
          </p:spPr>
          <p:txBody>
            <a:bodyPr wrap="square" lIns="0" tIns="0" rIns="0" bIns="0" rtlCol="0"/>
            <a:lstStyle/>
            <a:p/>
          </p:txBody>
        </p:sp>
        <p:sp>
          <p:nvSpPr>
            <p:cNvPr id="573" name="object 573" descr=""/>
            <p:cNvSpPr/>
            <p:nvPr/>
          </p:nvSpPr>
          <p:spPr>
            <a:xfrm>
              <a:off x="6936665" y="3310899"/>
              <a:ext cx="66675" cy="94615"/>
            </a:xfrm>
            <a:custGeom>
              <a:avLst/>
              <a:gdLst/>
              <a:ahLst/>
              <a:cxnLst/>
              <a:rect l="l" t="t" r="r" b="b"/>
              <a:pathLst>
                <a:path w="66675" h="94614">
                  <a:moveTo>
                    <a:pt x="66222" y="94294"/>
                  </a:moveTo>
                  <a:lnTo>
                    <a:pt x="0" y="94294"/>
                  </a:lnTo>
                  <a:lnTo>
                    <a:pt x="0" y="0"/>
                  </a:lnTo>
                  <a:lnTo>
                    <a:pt x="66222" y="0"/>
                  </a:lnTo>
                  <a:lnTo>
                    <a:pt x="66222" y="94294"/>
                  </a:lnTo>
                  <a:close/>
                </a:path>
              </a:pathLst>
            </a:custGeom>
            <a:solidFill>
              <a:srgbClr val="FF0000"/>
            </a:solidFill>
          </p:spPr>
          <p:txBody>
            <a:bodyPr wrap="square" lIns="0" tIns="0" rIns="0" bIns="0" rtlCol="0"/>
            <a:lstStyle/>
            <a:p/>
          </p:txBody>
        </p:sp>
        <p:sp>
          <p:nvSpPr>
            <p:cNvPr id="574" name="object 574" descr=""/>
            <p:cNvSpPr/>
            <p:nvPr/>
          </p:nvSpPr>
          <p:spPr>
            <a:xfrm>
              <a:off x="6936667" y="3310899"/>
              <a:ext cx="66675" cy="94615"/>
            </a:xfrm>
            <a:custGeom>
              <a:avLst/>
              <a:gdLst/>
              <a:ahLst/>
              <a:cxnLst/>
              <a:rect l="l" t="t" r="r" b="b"/>
              <a:pathLst>
                <a:path w="66675" h="94614">
                  <a:moveTo>
                    <a:pt x="0" y="0"/>
                  </a:moveTo>
                  <a:lnTo>
                    <a:pt x="66217" y="0"/>
                  </a:lnTo>
                  <a:lnTo>
                    <a:pt x="66217" y="94294"/>
                  </a:lnTo>
                  <a:lnTo>
                    <a:pt x="0" y="94294"/>
                  </a:lnTo>
                  <a:lnTo>
                    <a:pt x="0" y="0"/>
                  </a:lnTo>
                  <a:close/>
                </a:path>
              </a:pathLst>
            </a:custGeom>
            <a:ln w="5642">
              <a:solidFill>
                <a:srgbClr val="000000"/>
              </a:solidFill>
            </a:ln>
          </p:spPr>
          <p:txBody>
            <a:bodyPr wrap="square" lIns="0" tIns="0" rIns="0" bIns="0" rtlCol="0"/>
            <a:lstStyle/>
            <a:p/>
          </p:txBody>
        </p:sp>
        <p:sp>
          <p:nvSpPr>
            <p:cNvPr id="575" name="object 575" descr=""/>
            <p:cNvSpPr/>
            <p:nvPr/>
          </p:nvSpPr>
          <p:spPr>
            <a:xfrm>
              <a:off x="7234645" y="3328580"/>
              <a:ext cx="66675" cy="76835"/>
            </a:xfrm>
            <a:custGeom>
              <a:avLst/>
              <a:gdLst/>
              <a:ahLst/>
              <a:cxnLst/>
              <a:rect l="l" t="t" r="r" b="b"/>
              <a:pathLst>
                <a:path w="66675" h="76835">
                  <a:moveTo>
                    <a:pt x="66222" y="76614"/>
                  </a:moveTo>
                  <a:lnTo>
                    <a:pt x="0" y="76614"/>
                  </a:lnTo>
                  <a:lnTo>
                    <a:pt x="0" y="0"/>
                  </a:lnTo>
                  <a:lnTo>
                    <a:pt x="66222" y="0"/>
                  </a:lnTo>
                  <a:lnTo>
                    <a:pt x="66222" y="76614"/>
                  </a:lnTo>
                  <a:close/>
                </a:path>
              </a:pathLst>
            </a:custGeom>
            <a:solidFill>
              <a:srgbClr val="FF0000"/>
            </a:solidFill>
          </p:spPr>
          <p:txBody>
            <a:bodyPr wrap="square" lIns="0" tIns="0" rIns="0" bIns="0" rtlCol="0"/>
            <a:lstStyle/>
            <a:p/>
          </p:txBody>
        </p:sp>
        <p:sp>
          <p:nvSpPr>
            <p:cNvPr id="576" name="object 576" descr=""/>
            <p:cNvSpPr/>
            <p:nvPr/>
          </p:nvSpPr>
          <p:spPr>
            <a:xfrm>
              <a:off x="7234646" y="3328580"/>
              <a:ext cx="66675" cy="76835"/>
            </a:xfrm>
            <a:custGeom>
              <a:avLst/>
              <a:gdLst/>
              <a:ahLst/>
              <a:cxnLst/>
              <a:rect l="l" t="t" r="r" b="b"/>
              <a:pathLst>
                <a:path w="66675" h="76835">
                  <a:moveTo>
                    <a:pt x="0" y="0"/>
                  </a:moveTo>
                  <a:lnTo>
                    <a:pt x="66217" y="0"/>
                  </a:lnTo>
                  <a:lnTo>
                    <a:pt x="66217" y="76614"/>
                  </a:lnTo>
                  <a:lnTo>
                    <a:pt x="0" y="76614"/>
                  </a:lnTo>
                  <a:lnTo>
                    <a:pt x="0" y="0"/>
                  </a:lnTo>
                  <a:close/>
                </a:path>
              </a:pathLst>
            </a:custGeom>
            <a:ln w="5678">
              <a:solidFill>
                <a:srgbClr val="000000"/>
              </a:solidFill>
            </a:ln>
          </p:spPr>
          <p:txBody>
            <a:bodyPr wrap="square" lIns="0" tIns="0" rIns="0" bIns="0" rtlCol="0"/>
            <a:lstStyle/>
            <a:p/>
          </p:txBody>
        </p:sp>
        <p:sp>
          <p:nvSpPr>
            <p:cNvPr id="577" name="object 577" descr=""/>
            <p:cNvSpPr/>
            <p:nvPr/>
          </p:nvSpPr>
          <p:spPr>
            <a:xfrm>
              <a:off x="7527107" y="3346261"/>
              <a:ext cx="66675" cy="59055"/>
            </a:xfrm>
            <a:custGeom>
              <a:avLst/>
              <a:gdLst/>
              <a:ahLst/>
              <a:cxnLst/>
              <a:rect l="l" t="t" r="r" b="b"/>
              <a:pathLst>
                <a:path w="66675" h="59054">
                  <a:moveTo>
                    <a:pt x="66222" y="58934"/>
                  </a:moveTo>
                  <a:lnTo>
                    <a:pt x="0" y="58934"/>
                  </a:lnTo>
                  <a:lnTo>
                    <a:pt x="0" y="0"/>
                  </a:lnTo>
                  <a:lnTo>
                    <a:pt x="66222" y="0"/>
                  </a:lnTo>
                  <a:lnTo>
                    <a:pt x="66222" y="58934"/>
                  </a:lnTo>
                  <a:close/>
                </a:path>
              </a:pathLst>
            </a:custGeom>
            <a:solidFill>
              <a:srgbClr val="FF0000"/>
            </a:solidFill>
          </p:spPr>
          <p:txBody>
            <a:bodyPr wrap="square" lIns="0" tIns="0" rIns="0" bIns="0" rtlCol="0"/>
            <a:lstStyle/>
            <a:p/>
          </p:txBody>
        </p:sp>
        <p:sp>
          <p:nvSpPr>
            <p:cNvPr id="578" name="object 578" descr=""/>
            <p:cNvSpPr/>
            <p:nvPr/>
          </p:nvSpPr>
          <p:spPr>
            <a:xfrm>
              <a:off x="7527108" y="3346261"/>
              <a:ext cx="66675" cy="59055"/>
            </a:xfrm>
            <a:custGeom>
              <a:avLst/>
              <a:gdLst/>
              <a:ahLst/>
              <a:cxnLst/>
              <a:rect l="l" t="t" r="r" b="b"/>
              <a:pathLst>
                <a:path w="66675" h="59054">
                  <a:moveTo>
                    <a:pt x="0" y="0"/>
                  </a:moveTo>
                  <a:lnTo>
                    <a:pt x="66217" y="0"/>
                  </a:lnTo>
                  <a:lnTo>
                    <a:pt x="66217" y="58934"/>
                  </a:lnTo>
                  <a:lnTo>
                    <a:pt x="0" y="58934"/>
                  </a:lnTo>
                  <a:lnTo>
                    <a:pt x="0" y="0"/>
                  </a:lnTo>
                  <a:close/>
                </a:path>
              </a:pathLst>
            </a:custGeom>
            <a:ln w="5727">
              <a:solidFill>
                <a:srgbClr val="000000"/>
              </a:solidFill>
            </a:ln>
          </p:spPr>
          <p:txBody>
            <a:bodyPr wrap="square" lIns="0" tIns="0" rIns="0" bIns="0" rtlCol="0"/>
            <a:lstStyle/>
            <a:p/>
          </p:txBody>
        </p:sp>
        <p:sp>
          <p:nvSpPr>
            <p:cNvPr id="579" name="object 579" descr=""/>
            <p:cNvSpPr/>
            <p:nvPr/>
          </p:nvSpPr>
          <p:spPr>
            <a:xfrm>
              <a:off x="7825086" y="2910150"/>
              <a:ext cx="66675" cy="495300"/>
            </a:xfrm>
            <a:custGeom>
              <a:avLst/>
              <a:gdLst/>
              <a:ahLst/>
              <a:cxnLst/>
              <a:rect l="l" t="t" r="r" b="b"/>
              <a:pathLst>
                <a:path w="66675" h="495300">
                  <a:moveTo>
                    <a:pt x="66222" y="495045"/>
                  </a:moveTo>
                  <a:lnTo>
                    <a:pt x="0" y="495045"/>
                  </a:lnTo>
                  <a:lnTo>
                    <a:pt x="0" y="0"/>
                  </a:lnTo>
                  <a:lnTo>
                    <a:pt x="66222" y="0"/>
                  </a:lnTo>
                  <a:lnTo>
                    <a:pt x="66222" y="495045"/>
                  </a:lnTo>
                  <a:close/>
                </a:path>
              </a:pathLst>
            </a:custGeom>
            <a:solidFill>
              <a:srgbClr val="FF0000"/>
            </a:solidFill>
          </p:spPr>
          <p:txBody>
            <a:bodyPr wrap="square" lIns="0" tIns="0" rIns="0" bIns="0" rtlCol="0"/>
            <a:lstStyle/>
            <a:p/>
          </p:txBody>
        </p:sp>
        <p:sp>
          <p:nvSpPr>
            <p:cNvPr id="580" name="object 580" descr=""/>
            <p:cNvSpPr/>
            <p:nvPr/>
          </p:nvSpPr>
          <p:spPr>
            <a:xfrm>
              <a:off x="7825088" y="2910150"/>
              <a:ext cx="66675" cy="495300"/>
            </a:xfrm>
            <a:custGeom>
              <a:avLst/>
              <a:gdLst/>
              <a:ahLst/>
              <a:cxnLst/>
              <a:rect l="l" t="t" r="r" b="b"/>
              <a:pathLst>
                <a:path w="66675" h="495300">
                  <a:moveTo>
                    <a:pt x="0" y="0"/>
                  </a:moveTo>
                  <a:lnTo>
                    <a:pt x="66217" y="0"/>
                  </a:lnTo>
                  <a:lnTo>
                    <a:pt x="66217" y="495045"/>
                  </a:lnTo>
                  <a:lnTo>
                    <a:pt x="0" y="495045"/>
                  </a:lnTo>
                  <a:lnTo>
                    <a:pt x="0" y="0"/>
                  </a:lnTo>
                  <a:close/>
                </a:path>
              </a:pathLst>
            </a:custGeom>
            <a:ln w="5524">
              <a:solidFill>
                <a:srgbClr val="000000"/>
              </a:solidFill>
            </a:ln>
          </p:spPr>
          <p:txBody>
            <a:bodyPr wrap="square" lIns="0" tIns="0" rIns="0" bIns="0" rtlCol="0"/>
            <a:lstStyle/>
            <a:p/>
          </p:txBody>
        </p:sp>
        <p:sp>
          <p:nvSpPr>
            <p:cNvPr id="581" name="object 581" descr=""/>
            <p:cNvSpPr/>
            <p:nvPr/>
          </p:nvSpPr>
          <p:spPr>
            <a:xfrm>
              <a:off x="8123066" y="1324826"/>
              <a:ext cx="60960" cy="2080895"/>
            </a:xfrm>
            <a:custGeom>
              <a:avLst/>
              <a:gdLst/>
              <a:ahLst/>
              <a:cxnLst/>
              <a:rect l="l" t="t" r="r" b="b"/>
              <a:pathLst>
                <a:path w="60959" h="2080895">
                  <a:moveTo>
                    <a:pt x="60699" y="2080370"/>
                  </a:moveTo>
                  <a:lnTo>
                    <a:pt x="0" y="2080370"/>
                  </a:lnTo>
                  <a:lnTo>
                    <a:pt x="0" y="0"/>
                  </a:lnTo>
                  <a:lnTo>
                    <a:pt x="60699" y="0"/>
                  </a:lnTo>
                  <a:lnTo>
                    <a:pt x="60699" y="2080370"/>
                  </a:lnTo>
                  <a:close/>
                </a:path>
              </a:pathLst>
            </a:custGeom>
            <a:solidFill>
              <a:srgbClr val="FF0000"/>
            </a:solidFill>
          </p:spPr>
          <p:txBody>
            <a:bodyPr wrap="square" lIns="0" tIns="0" rIns="0" bIns="0" rtlCol="0"/>
            <a:lstStyle/>
            <a:p/>
          </p:txBody>
        </p:sp>
        <p:sp>
          <p:nvSpPr>
            <p:cNvPr id="582" name="object 582" descr=""/>
            <p:cNvSpPr/>
            <p:nvPr/>
          </p:nvSpPr>
          <p:spPr>
            <a:xfrm>
              <a:off x="8123067" y="1324826"/>
              <a:ext cx="60960" cy="2080895"/>
            </a:xfrm>
            <a:custGeom>
              <a:avLst/>
              <a:gdLst/>
              <a:ahLst/>
              <a:cxnLst/>
              <a:rect l="l" t="t" r="r" b="b"/>
              <a:pathLst>
                <a:path w="60959" h="2080895">
                  <a:moveTo>
                    <a:pt x="0" y="0"/>
                  </a:moveTo>
                  <a:lnTo>
                    <a:pt x="60699" y="0"/>
                  </a:lnTo>
                  <a:lnTo>
                    <a:pt x="60699" y="2080370"/>
                  </a:lnTo>
                  <a:lnTo>
                    <a:pt x="0" y="2080370"/>
                  </a:lnTo>
                  <a:lnTo>
                    <a:pt x="0" y="0"/>
                  </a:lnTo>
                  <a:close/>
                </a:path>
              </a:pathLst>
            </a:custGeom>
            <a:ln w="5518">
              <a:solidFill>
                <a:srgbClr val="000000"/>
              </a:solidFill>
            </a:ln>
          </p:spPr>
          <p:txBody>
            <a:bodyPr wrap="square" lIns="0" tIns="0" rIns="0" bIns="0" rtlCol="0"/>
            <a:lstStyle/>
            <a:p/>
          </p:txBody>
        </p:sp>
        <p:sp>
          <p:nvSpPr>
            <p:cNvPr id="583" name="object 583" descr=""/>
            <p:cNvSpPr/>
            <p:nvPr/>
          </p:nvSpPr>
          <p:spPr>
            <a:xfrm>
              <a:off x="8415528" y="2662629"/>
              <a:ext cx="66675" cy="742950"/>
            </a:xfrm>
            <a:custGeom>
              <a:avLst/>
              <a:gdLst/>
              <a:ahLst/>
              <a:cxnLst/>
              <a:rect l="l" t="t" r="r" b="b"/>
              <a:pathLst>
                <a:path w="66675" h="742950">
                  <a:moveTo>
                    <a:pt x="66217" y="742568"/>
                  </a:moveTo>
                  <a:lnTo>
                    <a:pt x="0" y="742568"/>
                  </a:lnTo>
                  <a:lnTo>
                    <a:pt x="0" y="0"/>
                  </a:lnTo>
                  <a:lnTo>
                    <a:pt x="66217" y="0"/>
                  </a:lnTo>
                  <a:lnTo>
                    <a:pt x="66217" y="742568"/>
                  </a:lnTo>
                  <a:close/>
                </a:path>
              </a:pathLst>
            </a:custGeom>
            <a:solidFill>
              <a:srgbClr val="FF0000"/>
            </a:solidFill>
          </p:spPr>
          <p:txBody>
            <a:bodyPr wrap="square" lIns="0" tIns="0" rIns="0" bIns="0" rtlCol="0"/>
            <a:lstStyle/>
            <a:p/>
          </p:txBody>
        </p:sp>
        <p:sp>
          <p:nvSpPr>
            <p:cNvPr id="584" name="object 584" descr=""/>
            <p:cNvSpPr/>
            <p:nvPr/>
          </p:nvSpPr>
          <p:spPr>
            <a:xfrm>
              <a:off x="8415529" y="2662629"/>
              <a:ext cx="66675" cy="742950"/>
            </a:xfrm>
            <a:custGeom>
              <a:avLst/>
              <a:gdLst/>
              <a:ahLst/>
              <a:cxnLst/>
              <a:rect l="l" t="t" r="r" b="b"/>
              <a:pathLst>
                <a:path w="66675" h="742950">
                  <a:moveTo>
                    <a:pt x="0" y="0"/>
                  </a:moveTo>
                  <a:lnTo>
                    <a:pt x="66217" y="0"/>
                  </a:lnTo>
                  <a:lnTo>
                    <a:pt x="66217" y="742568"/>
                  </a:lnTo>
                  <a:lnTo>
                    <a:pt x="0" y="742568"/>
                  </a:lnTo>
                  <a:lnTo>
                    <a:pt x="0" y="0"/>
                  </a:lnTo>
                  <a:close/>
                </a:path>
              </a:pathLst>
            </a:custGeom>
            <a:ln w="5521">
              <a:solidFill>
                <a:srgbClr val="000000"/>
              </a:solidFill>
            </a:ln>
          </p:spPr>
          <p:txBody>
            <a:bodyPr wrap="square" lIns="0" tIns="0" rIns="0" bIns="0" rtlCol="0"/>
            <a:lstStyle/>
            <a:p/>
          </p:txBody>
        </p:sp>
        <p:sp>
          <p:nvSpPr>
            <p:cNvPr id="585" name="object 585" descr=""/>
            <p:cNvSpPr/>
            <p:nvPr/>
          </p:nvSpPr>
          <p:spPr>
            <a:xfrm>
              <a:off x="6153112" y="3405200"/>
              <a:ext cx="2660015" cy="0"/>
            </a:xfrm>
            <a:custGeom>
              <a:avLst/>
              <a:gdLst/>
              <a:ahLst/>
              <a:cxnLst/>
              <a:rect l="l" t="t" r="r" b="b"/>
              <a:pathLst>
                <a:path w="2660015" h="0">
                  <a:moveTo>
                    <a:pt x="0" y="0"/>
                  </a:moveTo>
                  <a:lnTo>
                    <a:pt x="2659723" y="0"/>
                  </a:lnTo>
                </a:path>
              </a:pathLst>
            </a:custGeom>
            <a:ln w="5893">
              <a:solidFill>
                <a:srgbClr val="000000"/>
              </a:solidFill>
            </a:ln>
          </p:spPr>
          <p:txBody>
            <a:bodyPr wrap="square" lIns="0" tIns="0" rIns="0" bIns="0" rtlCol="0"/>
            <a:lstStyle/>
            <a:p/>
          </p:txBody>
        </p:sp>
        <p:sp>
          <p:nvSpPr>
            <p:cNvPr id="586" name="object 586" descr=""/>
            <p:cNvSpPr/>
            <p:nvPr/>
          </p:nvSpPr>
          <p:spPr>
            <a:xfrm>
              <a:off x="6412467" y="3293224"/>
              <a:ext cx="66675" cy="112395"/>
            </a:xfrm>
            <a:custGeom>
              <a:avLst/>
              <a:gdLst/>
              <a:ahLst/>
              <a:cxnLst/>
              <a:rect l="l" t="t" r="r" b="b"/>
              <a:pathLst>
                <a:path w="66675" h="112395">
                  <a:moveTo>
                    <a:pt x="66217" y="111974"/>
                  </a:moveTo>
                  <a:lnTo>
                    <a:pt x="0" y="111974"/>
                  </a:lnTo>
                  <a:lnTo>
                    <a:pt x="0" y="0"/>
                  </a:lnTo>
                  <a:lnTo>
                    <a:pt x="66217" y="0"/>
                  </a:lnTo>
                  <a:lnTo>
                    <a:pt x="66217" y="111974"/>
                  </a:lnTo>
                  <a:close/>
                </a:path>
              </a:pathLst>
            </a:custGeom>
            <a:solidFill>
              <a:srgbClr val="00FF00"/>
            </a:solidFill>
          </p:spPr>
          <p:txBody>
            <a:bodyPr wrap="square" lIns="0" tIns="0" rIns="0" bIns="0" rtlCol="0"/>
            <a:lstStyle/>
            <a:p/>
          </p:txBody>
        </p:sp>
        <p:sp>
          <p:nvSpPr>
            <p:cNvPr id="587" name="object 587" descr=""/>
            <p:cNvSpPr/>
            <p:nvPr/>
          </p:nvSpPr>
          <p:spPr>
            <a:xfrm>
              <a:off x="6412462" y="3293224"/>
              <a:ext cx="66675" cy="112395"/>
            </a:xfrm>
            <a:custGeom>
              <a:avLst/>
              <a:gdLst/>
              <a:ahLst/>
              <a:cxnLst/>
              <a:rect l="l" t="t" r="r" b="b"/>
              <a:pathLst>
                <a:path w="66675" h="112395">
                  <a:moveTo>
                    <a:pt x="0" y="0"/>
                  </a:moveTo>
                  <a:lnTo>
                    <a:pt x="66217" y="0"/>
                  </a:lnTo>
                  <a:lnTo>
                    <a:pt x="66217" y="111974"/>
                  </a:lnTo>
                  <a:lnTo>
                    <a:pt x="0" y="111974"/>
                  </a:lnTo>
                  <a:lnTo>
                    <a:pt x="0" y="0"/>
                  </a:lnTo>
                  <a:close/>
                </a:path>
              </a:pathLst>
            </a:custGeom>
            <a:ln w="5615">
              <a:solidFill>
                <a:srgbClr val="000000"/>
              </a:solidFill>
            </a:ln>
          </p:spPr>
          <p:txBody>
            <a:bodyPr wrap="square" lIns="0" tIns="0" rIns="0" bIns="0" rtlCol="0"/>
            <a:lstStyle/>
            <a:p/>
          </p:txBody>
        </p:sp>
        <p:sp>
          <p:nvSpPr>
            <p:cNvPr id="588" name="object 588" descr=""/>
            <p:cNvSpPr/>
            <p:nvPr/>
          </p:nvSpPr>
          <p:spPr>
            <a:xfrm>
              <a:off x="6710446" y="2974981"/>
              <a:ext cx="66675" cy="430530"/>
            </a:xfrm>
            <a:custGeom>
              <a:avLst/>
              <a:gdLst/>
              <a:ahLst/>
              <a:cxnLst/>
              <a:rect l="l" t="t" r="r" b="b"/>
              <a:pathLst>
                <a:path w="66675" h="430529">
                  <a:moveTo>
                    <a:pt x="66217" y="430218"/>
                  </a:moveTo>
                  <a:lnTo>
                    <a:pt x="0" y="430218"/>
                  </a:lnTo>
                  <a:lnTo>
                    <a:pt x="0" y="0"/>
                  </a:lnTo>
                  <a:lnTo>
                    <a:pt x="66217" y="0"/>
                  </a:lnTo>
                  <a:lnTo>
                    <a:pt x="66217" y="430218"/>
                  </a:lnTo>
                  <a:close/>
                </a:path>
              </a:pathLst>
            </a:custGeom>
            <a:solidFill>
              <a:srgbClr val="00FF00"/>
            </a:solidFill>
          </p:spPr>
          <p:txBody>
            <a:bodyPr wrap="square" lIns="0" tIns="0" rIns="0" bIns="0" rtlCol="0"/>
            <a:lstStyle/>
            <a:p/>
          </p:txBody>
        </p:sp>
        <p:sp>
          <p:nvSpPr>
            <p:cNvPr id="589" name="object 589" descr=""/>
            <p:cNvSpPr/>
            <p:nvPr/>
          </p:nvSpPr>
          <p:spPr>
            <a:xfrm>
              <a:off x="6710442" y="2974981"/>
              <a:ext cx="66675" cy="430530"/>
            </a:xfrm>
            <a:custGeom>
              <a:avLst/>
              <a:gdLst/>
              <a:ahLst/>
              <a:cxnLst/>
              <a:rect l="l" t="t" r="r" b="b"/>
              <a:pathLst>
                <a:path w="66675" h="430529">
                  <a:moveTo>
                    <a:pt x="0" y="0"/>
                  </a:moveTo>
                  <a:lnTo>
                    <a:pt x="66217" y="0"/>
                  </a:lnTo>
                  <a:lnTo>
                    <a:pt x="66217" y="430218"/>
                  </a:lnTo>
                  <a:lnTo>
                    <a:pt x="0" y="430218"/>
                  </a:lnTo>
                  <a:lnTo>
                    <a:pt x="0" y="0"/>
                  </a:lnTo>
                  <a:close/>
                </a:path>
              </a:pathLst>
            </a:custGeom>
            <a:ln w="5526">
              <a:solidFill>
                <a:srgbClr val="000000"/>
              </a:solidFill>
            </a:ln>
          </p:spPr>
          <p:txBody>
            <a:bodyPr wrap="square" lIns="0" tIns="0" rIns="0" bIns="0" rtlCol="0"/>
            <a:lstStyle/>
            <a:p/>
          </p:txBody>
        </p:sp>
        <p:sp>
          <p:nvSpPr>
            <p:cNvPr id="590" name="object 590" descr=""/>
            <p:cNvSpPr/>
            <p:nvPr/>
          </p:nvSpPr>
          <p:spPr>
            <a:xfrm>
              <a:off x="7002908" y="1318936"/>
              <a:ext cx="66675" cy="2086610"/>
            </a:xfrm>
            <a:custGeom>
              <a:avLst/>
              <a:gdLst/>
              <a:ahLst/>
              <a:cxnLst/>
              <a:rect l="l" t="t" r="r" b="b"/>
              <a:pathLst>
                <a:path w="66675" h="2086610">
                  <a:moveTo>
                    <a:pt x="66217" y="2086264"/>
                  </a:moveTo>
                  <a:lnTo>
                    <a:pt x="0" y="2086264"/>
                  </a:lnTo>
                  <a:lnTo>
                    <a:pt x="0" y="0"/>
                  </a:lnTo>
                  <a:lnTo>
                    <a:pt x="66217" y="0"/>
                  </a:lnTo>
                  <a:lnTo>
                    <a:pt x="66217" y="2086264"/>
                  </a:lnTo>
                  <a:close/>
                </a:path>
              </a:pathLst>
            </a:custGeom>
            <a:solidFill>
              <a:srgbClr val="00FF00"/>
            </a:solidFill>
          </p:spPr>
          <p:txBody>
            <a:bodyPr wrap="square" lIns="0" tIns="0" rIns="0" bIns="0" rtlCol="0"/>
            <a:lstStyle/>
            <a:p/>
          </p:txBody>
        </p:sp>
        <p:sp>
          <p:nvSpPr>
            <p:cNvPr id="591" name="object 591" descr=""/>
            <p:cNvSpPr/>
            <p:nvPr/>
          </p:nvSpPr>
          <p:spPr>
            <a:xfrm>
              <a:off x="7002904" y="1318936"/>
              <a:ext cx="66675" cy="2086610"/>
            </a:xfrm>
            <a:custGeom>
              <a:avLst/>
              <a:gdLst/>
              <a:ahLst/>
              <a:cxnLst/>
              <a:rect l="l" t="t" r="r" b="b"/>
              <a:pathLst>
                <a:path w="66675" h="2086610">
                  <a:moveTo>
                    <a:pt x="0" y="0"/>
                  </a:moveTo>
                  <a:lnTo>
                    <a:pt x="66217" y="0"/>
                  </a:lnTo>
                  <a:lnTo>
                    <a:pt x="66217" y="2086264"/>
                  </a:lnTo>
                  <a:lnTo>
                    <a:pt x="0" y="2086264"/>
                  </a:lnTo>
                  <a:lnTo>
                    <a:pt x="0" y="0"/>
                  </a:lnTo>
                  <a:close/>
                </a:path>
              </a:pathLst>
            </a:custGeom>
            <a:ln w="5518">
              <a:solidFill>
                <a:srgbClr val="000000"/>
              </a:solidFill>
            </a:ln>
          </p:spPr>
          <p:txBody>
            <a:bodyPr wrap="square" lIns="0" tIns="0" rIns="0" bIns="0" rtlCol="0"/>
            <a:lstStyle/>
            <a:p/>
          </p:txBody>
        </p:sp>
        <p:sp>
          <p:nvSpPr>
            <p:cNvPr id="592" name="object 592" descr=""/>
            <p:cNvSpPr/>
            <p:nvPr/>
          </p:nvSpPr>
          <p:spPr>
            <a:xfrm>
              <a:off x="7300888" y="2356175"/>
              <a:ext cx="66675" cy="1049020"/>
            </a:xfrm>
            <a:custGeom>
              <a:avLst/>
              <a:gdLst/>
              <a:ahLst/>
              <a:cxnLst/>
              <a:rect l="l" t="t" r="r" b="b"/>
              <a:pathLst>
                <a:path w="66675" h="1049020">
                  <a:moveTo>
                    <a:pt x="66217" y="1049025"/>
                  </a:moveTo>
                  <a:lnTo>
                    <a:pt x="0" y="1049025"/>
                  </a:lnTo>
                  <a:lnTo>
                    <a:pt x="0" y="0"/>
                  </a:lnTo>
                  <a:lnTo>
                    <a:pt x="66217" y="0"/>
                  </a:lnTo>
                  <a:lnTo>
                    <a:pt x="66217" y="1049025"/>
                  </a:lnTo>
                  <a:close/>
                </a:path>
              </a:pathLst>
            </a:custGeom>
            <a:solidFill>
              <a:srgbClr val="00FF00"/>
            </a:solidFill>
          </p:spPr>
          <p:txBody>
            <a:bodyPr wrap="square" lIns="0" tIns="0" rIns="0" bIns="0" rtlCol="0"/>
            <a:lstStyle/>
            <a:p/>
          </p:txBody>
        </p:sp>
        <p:sp>
          <p:nvSpPr>
            <p:cNvPr id="593" name="object 593" descr=""/>
            <p:cNvSpPr/>
            <p:nvPr/>
          </p:nvSpPr>
          <p:spPr>
            <a:xfrm>
              <a:off x="7300883" y="2356176"/>
              <a:ext cx="66675" cy="1049020"/>
            </a:xfrm>
            <a:custGeom>
              <a:avLst/>
              <a:gdLst/>
              <a:ahLst/>
              <a:cxnLst/>
              <a:rect l="l" t="t" r="r" b="b"/>
              <a:pathLst>
                <a:path w="66675" h="1049020">
                  <a:moveTo>
                    <a:pt x="0" y="0"/>
                  </a:moveTo>
                  <a:lnTo>
                    <a:pt x="66217" y="0"/>
                  </a:lnTo>
                  <a:lnTo>
                    <a:pt x="66217" y="1049025"/>
                  </a:lnTo>
                  <a:lnTo>
                    <a:pt x="0" y="1049025"/>
                  </a:lnTo>
                  <a:lnTo>
                    <a:pt x="0" y="0"/>
                  </a:lnTo>
                  <a:close/>
                </a:path>
              </a:pathLst>
            </a:custGeom>
            <a:ln w="5519">
              <a:solidFill>
                <a:srgbClr val="000000"/>
              </a:solidFill>
            </a:ln>
          </p:spPr>
          <p:txBody>
            <a:bodyPr wrap="square" lIns="0" tIns="0" rIns="0" bIns="0" rtlCol="0"/>
            <a:lstStyle/>
            <a:p/>
          </p:txBody>
        </p:sp>
        <p:sp>
          <p:nvSpPr>
            <p:cNvPr id="594" name="object 594" descr=""/>
            <p:cNvSpPr/>
            <p:nvPr/>
          </p:nvSpPr>
          <p:spPr>
            <a:xfrm>
              <a:off x="7593348" y="3405202"/>
              <a:ext cx="66675" cy="0"/>
            </a:xfrm>
            <a:custGeom>
              <a:avLst/>
              <a:gdLst/>
              <a:ahLst/>
              <a:cxnLst/>
              <a:rect l="l" t="t" r="r" b="b"/>
              <a:pathLst>
                <a:path w="66675" h="0">
                  <a:moveTo>
                    <a:pt x="66217" y="0"/>
                  </a:moveTo>
                  <a:lnTo>
                    <a:pt x="0" y="0"/>
                  </a:lnTo>
                </a:path>
              </a:pathLst>
            </a:custGeom>
            <a:solidFill>
              <a:srgbClr val="00FF00"/>
            </a:solidFill>
          </p:spPr>
          <p:txBody>
            <a:bodyPr wrap="square" lIns="0" tIns="0" rIns="0" bIns="0" rtlCol="0"/>
            <a:lstStyle/>
            <a:p/>
          </p:txBody>
        </p:sp>
        <p:sp>
          <p:nvSpPr>
            <p:cNvPr id="595" name="object 595" descr=""/>
            <p:cNvSpPr/>
            <p:nvPr/>
          </p:nvSpPr>
          <p:spPr>
            <a:xfrm>
              <a:off x="7593348" y="3405204"/>
              <a:ext cx="66675" cy="0"/>
            </a:xfrm>
            <a:custGeom>
              <a:avLst/>
              <a:gdLst/>
              <a:ahLst/>
              <a:cxnLst/>
              <a:rect l="l" t="t" r="r" b="b"/>
              <a:pathLst>
                <a:path w="66675" h="0">
                  <a:moveTo>
                    <a:pt x="0" y="0"/>
                  </a:moveTo>
                  <a:lnTo>
                    <a:pt x="66217" y="0"/>
                  </a:lnTo>
                  <a:lnTo>
                    <a:pt x="0" y="0"/>
                  </a:lnTo>
                </a:path>
              </a:pathLst>
            </a:custGeom>
            <a:ln w="5893">
              <a:solidFill>
                <a:srgbClr val="000000"/>
              </a:solidFill>
            </a:ln>
          </p:spPr>
          <p:txBody>
            <a:bodyPr wrap="square" lIns="0" tIns="0" rIns="0" bIns="0" rtlCol="0"/>
            <a:lstStyle/>
            <a:p/>
          </p:txBody>
        </p:sp>
        <p:sp>
          <p:nvSpPr>
            <p:cNvPr id="596" name="object 596" descr=""/>
            <p:cNvSpPr/>
            <p:nvPr/>
          </p:nvSpPr>
          <p:spPr>
            <a:xfrm>
              <a:off x="7891328" y="3405203"/>
              <a:ext cx="66675" cy="0"/>
            </a:xfrm>
            <a:custGeom>
              <a:avLst/>
              <a:gdLst/>
              <a:ahLst/>
              <a:cxnLst/>
              <a:rect l="l" t="t" r="r" b="b"/>
              <a:pathLst>
                <a:path w="66675" h="0">
                  <a:moveTo>
                    <a:pt x="66217" y="0"/>
                  </a:moveTo>
                  <a:lnTo>
                    <a:pt x="0" y="0"/>
                  </a:lnTo>
                </a:path>
              </a:pathLst>
            </a:custGeom>
            <a:solidFill>
              <a:srgbClr val="00FF00"/>
            </a:solidFill>
          </p:spPr>
          <p:txBody>
            <a:bodyPr wrap="square" lIns="0" tIns="0" rIns="0" bIns="0" rtlCol="0"/>
            <a:lstStyle/>
            <a:p/>
          </p:txBody>
        </p:sp>
        <p:sp>
          <p:nvSpPr>
            <p:cNvPr id="597" name="object 597" descr=""/>
            <p:cNvSpPr/>
            <p:nvPr/>
          </p:nvSpPr>
          <p:spPr>
            <a:xfrm>
              <a:off x="7891328" y="3405205"/>
              <a:ext cx="66675" cy="0"/>
            </a:xfrm>
            <a:custGeom>
              <a:avLst/>
              <a:gdLst/>
              <a:ahLst/>
              <a:cxnLst/>
              <a:rect l="l" t="t" r="r" b="b"/>
              <a:pathLst>
                <a:path w="66675" h="0">
                  <a:moveTo>
                    <a:pt x="0" y="0"/>
                  </a:moveTo>
                  <a:lnTo>
                    <a:pt x="66217" y="0"/>
                  </a:lnTo>
                  <a:lnTo>
                    <a:pt x="0" y="0"/>
                  </a:lnTo>
                </a:path>
              </a:pathLst>
            </a:custGeom>
            <a:ln w="5893">
              <a:solidFill>
                <a:srgbClr val="000000"/>
              </a:solidFill>
            </a:ln>
          </p:spPr>
          <p:txBody>
            <a:bodyPr wrap="square" lIns="0" tIns="0" rIns="0" bIns="0" rtlCol="0"/>
            <a:lstStyle/>
            <a:p/>
          </p:txBody>
        </p:sp>
        <p:sp>
          <p:nvSpPr>
            <p:cNvPr id="598" name="object 598" descr=""/>
            <p:cNvSpPr/>
            <p:nvPr/>
          </p:nvSpPr>
          <p:spPr>
            <a:xfrm>
              <a:off x="8183786" y="3405204"/>
              <a:ext cx="66675" cy="0"/>
            </a:xfrm>
            <a:custGeom>
              <a:avLst/>
              <a:gdLst/>
              <a:ahLst/>
              <a:cxnLst/>
              <a:rect l="l" t="t" r="r" b="b"/>
              <a:pathLst>
                <a:path w="66675" h="0">
                  <a:moveTo>
                    <a:pt x="66217" y="0"/>
                  </a:moveTo>
                  <a:lnTo>
                    <a:pt x="0" y="0"/>
                  </a:lnTo>
                </a:path>
              </a:pathLst>
            </a:custGeom>
            <a:solidFill>
              <a:srgbClr val="00FF00"/>
            </a:solidFill>
          </p:spPr>
          <p:txBody>
            <a:bodyPr wrap="square" lIns="0" tIns="0" rIns="0" bIns="0" rtlCol="0"/>
            <a:lstStyle/>
            <a:p/>
          </p:txBody>
        </p:sp>
        <p:sp>
          <p:nvSpPr>
            <p:cNvPr id="599" name="object 599" descr=""/>
            <p:cNvSpPr/>
            <p:nvPr/>
          </p:nvSpPr>
          <p:spPr>
            <a:xfrm>
              <a:off x="8183789" y="3405205"/>
              <a:ext cx="66675" cy="0"/>
            </a:xfrm>
            <a:custGeom>
              <a:avLst/>
              <a:gdLst/>
              <a:ahLst/>
              <a:cxnLst/>
              <a:rect l="l" t="t" r="r" b="b"/>
              <a:pathLst>
                <a:path w="66675" h="0">
                  <a:moveTo>
                    <a:pt x="0" y="0"/>
                  </a:moveTo>
                  <a:lnTo>
                    <a:pt x="66217" y="0"/>
                  </a:lnTo>
                  <a:lnTo>
                    <a:pt x="0" y="0"/>
                  </a:lnTo>
                </a:path>
              </a:pathLst>
            </a:custGeom>
            <a:ln w="5893">
              <a:solidFill>
                <a:srgbClr val="000000"/>
              </a:solidFill>
            </a:ln>
          </p:spPr>
          <p:txBody>
            <a:bodyPr wrap="square" lIns="0" tIns="0" rIns="0" bIns="0" rtlCol="0"/>
            <a:lstStyle/>
            <a:p/>
          </p:txBody>
        </p:sp>
        <p:sp>
          <p:nvSpPr>
            <p:cNvPr id="600" name="object 600" descr=""/>
            <p:cNvSpPr/>
            <p:nvPr/>
          </p:nvSpPr>
          <p:spPr>
            <a:xfrm>
              <a:off x="8481765" y="3405205"/>
              <a:ext cx="66675" cy="0"/>
            </a:xfrm>
            <a:custGeom>
              <a:avLst/>
              <a:gdLst/>
              <a:ahLst/>
              <a:cxnLst/>
              <a:rect l="l" t="t" r="r" b="b"/>
              <a:pathLst>
                <a:path w="66675" h="0">
                  <a:moveTo>
                    <a:pt x="66217" y="0"/>
                  </a:moveTo>
                  <a:lnTo>
                    <a:pt x="0" y="0"/>
                  </a:lnTo>
                </a:path>
              </a:pathLst>
            </a:custGeom>
            <a:solidFill>
              <a:srgbClr val="00FF00"/>
            </a:solidFill>
          </p:spPr>
          <p:txBody>
            <a:bodyPr wrap="square" lIns="0" tIns="0" rIns="0" bIns="0" rtlCol="0"/>
            <a:lstStyle/>
            <a:p/>
          </p:txBody>
        </p:sp>
        <p:sp>
          <p:nvSpPr>
            <p:cNvPr id="601" name="object 601" descr=""/>
            <p:cNvSpPr/>
            <p:nvPr/>
          </p:nvSpPr>
          <p:spPr>
            <a:xfrm>
              <a:off x="8481769" y="3405206"/>
              <a:ext cx="66675" cy="0"/>
            </a:xfrm>
            <a:custGeom>
              <a:avLst/>
              <a:gdLst/>
              <a:ahLst/>
              <a:cxnLst/>
              <a:rect l="l" t="t" r="r" b="b"/>
              <a:pathLst>
                <a:path w="66675" h="0">
                  <a:moveTo>
                    <a:pt x="0" y="0"/>
                  </a:moveTo>
                  <a:lnTo>
                    <a:pt x="66217" y="0"/>
                  </a:lnTo>
                  <a:lnTo>
                    <a:pt x="0" y="0"/>
                  </a:lnTo>
                </a:path>
              </a:pathLst>
            </a:custGeom>
            <a:ln w="5893">
              <a:solidFill>
                <a:srgbClr val="000000"/>
              </a:solidFill>
            </a:ln>
          </p:spPr>
          <p:txBody>
            <a:bodyPr wrap="square" lIns="0" tIns="0" rIns="0" bIns="0" rtlCol="0"/>
            <a:lstStyle/>
            <a:p/>
          </p:txBody>
        </p:sp>
        <p:sp>
          <p:nvSpPr>
            <p:cNvPr id="602" name="object 602" descr=""/>
            <p:cNvSpPr/>
            <p:nvPr/>
          </p:nvSpPr>
          <p:spPr>
            <a:xfrm>
              <a:off x="6478697" y="3269662"/>
              <a:ext cx="66675" cy="135890"/>
            </a:xfrm>
            <a:custGeom>
              <a:avLst/>
              <a:gdLst/>
              <a:ahLst/>
              <a:cxnLst/>
              <a:rect l="l" t="t" r="r" b="b"/>
              <a:pathLst>
                <a:path w="66675" h="135889">
                  <a:moveTo>
                    <a:pt x="66217" y="135542"/>
                  </a:moveTo>
                  <a:lnTo>
                    <a:pt x="0" y="135542"/>
                  </a:lnTo>
                  <a:lnTo>
                    <a:pt x="0" y="0"/>
                  </a:lnTo>
                  <a:lnTo>
                    <a:pt x="66217" y="0"/>
                  </a:lnTo>
                  <a:lnTo>
                    <a:pt x="66217" y="135542"/>
                  </a:lnTo>
                  <a:close/>
                </a:path>
              </a:pathLst>
            </a:custGeom>
            <a:solidFill>
              <a:srgbClr val="0000FF"/>
            </a:solidFill>
          </p:spPr>
          <p:txBody>
            <a:bodyPr wrap="square" lIns="0" tIns="0" rIns="0" bIns="0" rtlCol="0"/>
            <a:lstStyle/>
            <a:p/>
          </p:txBody>
        </p:sp>
        <p:sp>
          <p:nvSpPr>
            <p:cNvPr id="603" name="object 603" descr=""/>
            <p:cNvSpPr/>
            <p:nvPr/>
          </p:nvSpPr>
          <p:spPr>
            <a:xfrm>
              <a:off x="6478698" y="3269657"/>
              <a:ext cx="66675" cy="135890"/>
            </a:xfrm>
            <a:custGeom>
              <a:avLst/>
              <a:gdLst/>
              <a:ahLst/>
              <a:cxnLst/>
              <a:rect l="l" t="t" r="r" b="b"/>
              <a:pathLst>
                <a:path w="66675" h="135889">
                  <a:moveTo>
                    <a:pt x="0" y="0"/>
                  </a:moveTo>
                  <a:lnTo>
                    <a:pt x="66217" y="0"/>
                  </a:lnTo>
                  <a:lnTo>
                    <a:pt x="66217" y="135548"/>
                  </a:lnTo>
                  <a:lnTo>
                    <a:pt x="0" y="135548"/>
                  </a:lnTo>
                  <a:lnTo>
                    <a:pt x="0" y="0"/>
                  </a:lnTo>
                  <a:close/>
                </a:path>
              </a:pathLst>
            </a:custGeom>
            <a:ln w="5590">
              <a:solidFill>
                <a:srgbClr val="000000"/>
              </a:solidFill>
            </a:ln>
          </p:spPr>
          <p:txBody>
            <a:bodyPr wrap="square" lIns="0" tIns="0" rIns="0" bIns="0" rtlCol="0"/>
            <a:lstStyle/>
            <a:p/>
          </p:txBody>
        </p:sp>
        <p:sp>
          <p:nvSpPr>
            <p:cNvPr id="604" name="object 604" descr=""/>
            <p:cNvSpPr/>
            <p:nvPr/>
          </p:nvSpPr>
          <p:spPr>
            <a:xfrm>
              <a:off x="6776677" y="2939627"/>
              <a:ext cx="60960" cy="466090"/>
            </a:xfrm>
            <a:custGeom>
              <a:avLst/>
              <a:gdLst/>
              <a:ahLst/>
              <a:cxnLst/>
              <a:rect l="l" t="t" r="r" b="b"/>
              <a:pathLst>
                <a:path w="60959" h="466089">
                  <a:moveTo>
                    <a:pt x="60699" y="465578"/>
                  </a:moveTo>
                  <a:lnTo>
                    <a:pt x="0" y="465578"/>
                  </a:lnTo>
                  <a:lnTo>
                    <a:pt x="0" y="0"/>
                  </a:lnTo>
                  <a:lnTo>
                    <a:pt x="60699" y="0"/>
                  </a:lnTo>
                  <a:lnTo>
                    <a:pt x="60699" y="465578"/>
                  </a:lnTo>
                  <a:close/>
                </a:path>
              </a:pathLst>
            </a:custGeom>
            <a:solidFill>
              <a:srgbClr val="0000FF"/>
            </a:solidFill>
          </p:spPr>
          <p:txBody>
            <a:bodyPr wrap="square" lIns="0" tIns="0" rIns="0" bIns="0" rtlCol="0"/>
            <a:lstStyle/>
            <a:p/>
          </p:txBody>
        </p:sp>
        <p:sp>
          <p:nvSpPr>
            <p:cNvPr id="605" name="object 605" descr=""/>
            <p:cNvSpPr/>
            <p:nvPr/>
          </p:nvSpPr>
          <p:spPr>
            <a:xfrm>
              <a:off x="6776678" y="2939627"/>
              <a:ext cx="60960" cy="466090"/>
            </a:xfrm>
            <a:custGeom>
              <a:avLst/>
              <a:gdLst/>
              <a:ahLst/>
              <a:cxnLst/>
              <a:rect l="l" t="t" r="r" b="b"/>
              <a:pathLst>
                <a:path w="60959" h="466089">
                  <a:moveTo>
                    <a:pt x="0" y="0"/>
                  </a:moveTo>
                  <a:lnTo>
                    <a:pt x="60699" y="0"/>
                  </a:lnTo>
                  <a:lnTo>
                    <a:pt x="60699" y="465578"/>
                  </a:lnTo>
                  <a:lnTo>
                    <a:pt x="0" y="465578"/>
                  </a:lnTo>
                  <a:lnTo>
                    <a:pt x="0" y="0"/>
                  </a:lnTo>
                  <a:close/>
                </a:path>
              </a:pathLst>
            </a:custGeom>
            <a:ln w="5524">
              <a:solidFill>
                <a:srgbClr val="000000"/>
              </a:solidFill>
            </a:ln>
          </p:spPr>
          <p:txBody>
            <a:bodyPr wrap="square" lIns="0" tIns="0" rIns="0" bIns="0" rtlCol="0"/>
            <a:lstStyle/>
            <a:p/>
          </p:txBody>
        </p:sp>
        <p:sp>
          <p:nvSpPr>
            <p:cNvPr id="606" name="object 606" descr=""/>
            <p:cNvSpPr/>
            <p:nvPr/>
          </p:nvSpPr>
          <p:spPr>
            <a:xfrm>
              <a:off x="7069138" y="1307161"/>
              <a:ext cx="66675" cy="2098040"/>
            </a:xfrm>
            <a:custGeom>
              <a:avLst/>
              <a:gdLst/>
              <a:ahLst/>
              <a:cxnLst/>
              <a:rect l="l" t="t" r="r" b="b"/>
              <a:pathLst>
                <a:path w="66675" h="2098040">
                  <a:moveTo>
                    <a:pt x="66217" y="2098045"/>
                  </a:moveTo>
                  <a:lnTo>
                    <a:pt x="0" y="2098045"/>
                  </a:lnTo>
                  <a:lnTo>
                    <a:pt x="0" y="0"/>
                  </a:lnTo>
                  <a:lnTo>
                    <a:pt x="66217" y="0"/>
                  </a:lnTo>
                  <a:lnTo>
                    <a:pt x="66217" y="2098045"/>
                  </a:lnTo>
                  <a:close/>
                </a:path>
              </a:pathLst>
            </a:custGeom>
            <a:solidFill>
              <a:srgbClr val="0000FF"/>
            </a:solidFill>
          </p:spPr>
          <p:txBody>
            <a:bodyPr wrap="square" lIns="0" tIns="0" rIns="0" bIns="0" rtlCol="0"/>
            <a:lstStyle/>
            <a:p/>
          </p:txBody>
        </p:sp>
        <p:sp>
          <p:nvSpPr>
            <p:cNvPr id="607" name="object 607" descr=""/>
            <p:cNvSpPr/>
            <p:nvPr/>
          </p:nvSpPr>
          <p:spPr>
            <a:xfrm>
              <a:off x="7069139" y="1307156"/>
              <a:ext cx="66675" cy="2098675"/>
            </a:xfrm>
            <a:custGeom>
              <a:avLst/>
              <a:gdLst/>
              <a:ahLst/>
              <a:cxnLst/>
              <a:rect l="l" t="t" r="r" b="b"/>
              <a:pathLst>
                <a:path w="66675" h="2098675">
                  <a:moveTo>
                    <a:pt x="0" y="0"/>
                  </a:moveTo>
                  <a:lnTo>
                    <a:pt x="66217" y="0"/>
                  </a:lnTo>
                  <a:lnTo>
                    <a:pt x="66217" y="2098051"/>
                  </a:lnTo>
                  <a:lnTo>
                    <a:pt x="0" y="2098051"/>
                  </a:lnTo>
                  <a:lnTo>
                    <a:pt x="0" y="0"/>
                  </a:lnTo>
                  <a:close/>
                </a:path>
              </a:pathLst>
            </a:custGeom>
            <a:ln w="5518">
              <a:solidFill>
                <a:srgbClr val="000000"/>
              </a:solidFill>
            </a:ln>
          </p:spPr>
          <p:txBody>
            <a:bodyPr wrap="square" lIns="0" tIns="0" rIns="0" bIns="0" rtlCol="0"/>
            <a:lstStyle/>
            <a:p/>
          </p:txBody>
        </p:sp>
        <p:sp>
          <p:nvSpPr>
            <p:cNvPr id="608" name="object 608" descr=""/>
            <p:cNvSpPr/>
            <p:nvPr/>
          </p:nvSpPr>
          <p:spPr>
            <a:xfrm>
              <a:off x="7367118" y="2415121"/>
              <a:ext cx="66675" cy="990600"/>
            </a:xfrm>
            <a:custGeom>
              <a:avLst/>
              <a:gdLst/>
              <a:ahLst/>
              <a:cxnLst/>
              <a:rect l="l" t="t" r="r" b="b"/>
              <a:pathLst>
                <a:path w="66675" h="990600">
                  <a:moveTo>
                    <a:pt x="66217" y="990085"/>
                  </a:moveTo>
                  <a:lnTo>
                    <a:pt x="0" y="990085"/>
                  </a:lnTo>
                  <a:lnTo>
                    <a:pt x="0" y="0"/>
                  </a:lnTo>
                  <a:lnTo>
                    <a:pt x="66217" y="0"/>
                  </a:lnTo>
                  <a:lnTo>
                    <a:pt x="66217" y="990085"/>
                  </a:lnTo>
                  <a:close/>
                </a:path>
              </a:pathLst>
            </a:custGeom>
            <a:solidFill>
              <a:srgbClr val="0000FF"/>
            </a:solidFill>
          </p:spPr>
          <p:txBody>
            <a:bodyPr wrap="square" lIns="0" tIns="0" rIns="0" bIns="0" rtlCol="0"/>
            <a:lstStyle/>
            <a:p/>
          </p:txBody>
        </p:sp>
        <p:sp>
          <p:nvSpPr>
            <p:cNvPr id="609" name="object 609" descr=""/>
            <p:cNvSpPr/>
            <p:nvPr/>
          </p:nvSpPr>
          <p:spPr>
            <a:xfrm>
              <a:off x="7367119" y="2415116"/>
              <a:ext cx="66675" cy="990600"/>
            </a:xfrm>
            <a:custGeom>
              <a:avLst/>
              <a:gdLst/>
              <a:ahLst/>
              <a:cxnLst/>
              <a:rect l="l" t="t" r="r" b="b"/>
              <a:pathLst>
                <a:path w="66675" h="990600">
                  <a:moveTo>
                    <a:pt x="0" y="0"/>
                  </a:moveTo>
                  <a:lnTo>
                    <a:pt x="66217" y="0"/>
                  </a:lnTo>
                  <a:lnTo>
                    <a:pt x="66217" y="990091"/>
                  </a:lnTo>
                  <a:lnTo>
                    <a:pt x="0" y="990091"/>
                  </a:lnTo>
                  <a:lnTo>
                    <a:pt x="0" y="0"/>
                  </a:lnTo>
                  <a:close/>
                </a:path>
              </a:pathLst>
            </a:custGeom>
            <a:ln w="5519">
              <a:solidFill>
                <a:srgbClr val="000000"/>
              </a:solidFill>
            </a:ln>
          </p:spPr>
          <p:txBody>
            <a:bodyPr wrap="square" lIns="0" tIns="0" rIns="0" bIns="0" rtlCol="0"/>
            <a:lstStyle/>
            <a:p/>
          </p:txBody>
        </p:sp>
        <p:sp>
          <p:nvSpPr>
            <p:cNvPr id="610" name="object 610" descr=""/>
            <p:cNvSpPr/>
            <p:nvPr/>
          </p:nvSpPr>
          <p:spPr>
            <a:xfrm>
              <a:off x="7659583" y="3405208"/>
              <a:ext cx="66675" cy="0"/>
            </a:xfrm>
            <a:custGeom>
              <a:avLst/>
              <a:gdLst/>
              <a:ahLst/>
              <a:cxnLst/>
              <a:rect l="l" t="t" r="r" b="b"/>
              <a:pathLst>
                <a:path w="66675" h="0">
                  <a:moveTo>
                    <a:pt x="66217" y="0"/>
                  </a:moveTo>
                  <a:lnTo>
                    <a:pt x="0" y="0"/>
                  </a:lnTo>
                </a:path>
              </a:pathLst>
            </a:custGeom>
            <a:solidFill>
              <a:srgbClr val="0000FF"/>
            </a:solidFill>
          </p:spPr>
          <p:txBody>
            <a:bodyPr wrap="square" lIns="0" tIns="0" rIns="0" bIns="0" rtlCol="0"/>
            <a:lstStyle/>
            <a:p/>
          </p:txBody>
        </p:sp>
        <p:sp>
          <p:nvSpPr>
            <p:cNvPr id="611" name="object 611" descr=""/>
            <p:cNvSpPr/>
            <p:nvPr/>
          </p:nvSpPr>
          <p:spPr>
            <a:xfrm>
              <a:off x="7659584" y="3405210"/>
              <a:ext cx="66675" cy="0"/>
            </a:xfrm>
            <a:custGeom>
              <a:avLst/>
              <a:gdLst/>
              <a:ahLst/>
              <a:cxnLst/>
              <a:rect l="l" t="t" r="r" b="b"/>
              <a:pathLst>
                <a:path w="66675" h="0">
                  <a:moveTo>
                    <a:pt x="0" y="0"/>
                  </a:moveTo>
                  <a:lnTo>
                    <a:pt x="66217" y="0"/>
                  </a:lnTo>
                  <a:lnTo>
                    <a:pt x="0" y="0"/>
                  </a:lnTo>
                </a:path>
              </a:pathLst>
            </a:custGeom>
            <a:ln w="5893">
              <a:solidFill>
                <a:srgbClr val="000000"/>
              </a:solidFill>
            </a:ln>
          </p:spPr>
          <p:txBody>
            <a:bodyPr wrap="square" lIns="0" tIns="0" rIns="0" bIns="0" rtlCol="0"/>
            <a:lstStyle/>
            <a:p/>
          </p:txBody>
        </p:sp>
        <p:sp>
          <p:nvSpPr>
            <p:cNvPr id="612" name="object 612" descr=""/>
            <p:cNvSpPr/>
            <p:nvPr/>
          </p:nvSpPr>
          <p:spPr>
            <a:xfrm>
              <a:off x="7957563" y="3405209"/>
              <a:ext cx="66675" cy="0"/>
            </a:xfrm>
            <a:custGeom>
              <a:avLst/>
              <a:gdLst/>
              <a:ahLst/>
              <a:cxnLst/>
              <a:rect l="l" t="t" r="r" b="b"/>
              <a:pathLst>
                <a:path w="66675" h="0">
                  <a:moveTo>
                    <a:pt x="66217" y="0"/>
                  </a:moveTo>
                  <a:lnTo>
                    <a:pt x="0" y="0"/>
                  </a:lnTo>
                </a:path>
              </a:pathLst>
            </a:custGeom>
            <a:solidFill>
              <a:srgbClr val="0000FF"/>
            </a:solidFill>
          </p:spPr>
          <p:txBody>
            <a:bodyPr wrap="square" lIns="0" tIns="0" rIns="0" bIns="0" rtlCol="0"/>
            <a:lstStyle/>
            <a:p/>
          </p:txBody>
        </p:sp>
        <p:sp>
          <p:nvSpPr>
            <p:cNvPr id="613" name="object 613" descr=""/>
            <p:cNvSpPr/>
            <p:nvPr/>
          </p:nvSpPr>
          <p:spPr>
            <a:xfrm>
              <a:off x="7957563" y="3405211"/>
              <a:ext cx="66675" cy="0"/>
            </a:xfrm>
            <a:custGeom>
              <a:avLst/>
              <a:gdLst/>
              <a:ahLst/>
              <a:cxnLst/>
              <a:rect l="l" t="t" r="r" b="b"/>
              <a:pathLst>
                <a:path w="66675" h="0">
                  <a:moveTo>
                    <a:pt x="0" y="0"/>
                  </a:moveTo>
                  <a:lnTo>
                    <a:pt x="66217" y="0"/>
                  </a:lnTo>
                  <a:lnTo>
                    <a:pt x="0" y="0"/>
                  </a:lnTo>
                </a:path>
              </a:pathLst>
            </a:custGeom>
            <a:ln w="5893">
              <a:solidFill>
                <a:srgbClr val="000000"/>
              </a:solidFill>
            </a:ln>
          </p:spPr>
          <p:txBody>
            <a:bodyPr wrap="square" lIns="0" tIns="0" rIns="0" bIns="0" rtlCol="0"/>
            <a:lstStyle/>
            <a:p/>
          </p:txBody>
        </p:sp>
        <p:sp>
          <p:nvSpPr>
            <p:cNvPr id="614" name="object 614" descr=""/>
            <p:cNvSpPr/>
            <p:nvPr/>
          </p:nvSpPr>
          <p:spPr>
            <a:xfrm>
              <a:off x="8250024" y="3405210"/>
              <a:ext cx="66675" cy="0"/>
            </a:xfrm>
            <a:custGeom>
              <a:avLst/>
              <a:gdLst/>
              <a:ahLst/>
              <a:cxnLst/>
              <a:rect l="l" t="t" r="r" b="b"/>
              <a:pathLst>
                <a:path w="66675" h="0">
                  <a:moveTo>
                    <a:pt x="66217" y="0"/>
                  </a:moveTo>
                  <a:lnTo>
                    <a:pt x="0" y="0"/>
                  </a:lnTo>
                </a:path>
              </a:pathLst>
            </a:custGeom>
            <a:solidFill>
              <a:srgbClr val="0000FF"/>
            </a:solidFill>
          </p:spPr>
          <p:txBody>
            <a:bodyPr wrap="square" lIns="0" tIns="0" rIns="0" bIns="0" rtlCol="0"/>
            <a:lstStyle/>
            <a:p/>
          </p:txBody>
        </p:sp>
        <p:sp>
          <p:nvSpPr>
            <p:cNvPr id="615" name="object 615" descr=""/>
            <p:cNvSpPr/>
            <p:nvPr/>
          </p:nvSpPr>
          <p:spPr>
            <a:xfrm>
              <a:off x="8250025" y="3405212"/>
              <a:ext cx="66675" cy="0"/>
            </a:xfrm>
            <a:custGeom>
              <a:avLst/>
              <a:gdLst/>
              <a:ahLst/>
              <a:cxnLst/>
              <a:rect l="l" t="t" r="r" b="b"/>
              <a:pathLst>
                <a:path w="66675" h="0">
                  <a:moveTo>
                    <a:pt x="0" y="0"/>
                  </a:moveTo>
                  <a:lnTo>
                    <a:pt x="66217" y="0"/>
                  </a:lnTo>
                  <a:lnTo>
                    <a:pt x="0" y="0"/>
                  </a:lnTo>
                </a:path>
              </a:pathLst>
            </a:custGeom>
            <a:ln w="5893">
              <a:solidFill>
                <a:srgbClr val="000000"/>
              </a:solidFill>
            </a:ln>
          </p:spPr>
          <p:txBody>
            <a:bodyPr wrap="square" lIns="0" tIns="0" rIns="0" bIns="0" rtlCol="0"/>
            <a:lstStyle/>
            <a:p/>
          </p:txBody>
        </p:sp>
        <p:sp>
          <p:nvSpPr>
            <p:cNvPr id="616" name="object 616" descr=""/>
            <p:cNvSpPr/>
            <p:nvPr/>
          </p:nvSpPr>
          <p:spPr>
            <a:xfrm>
              <a:off x="8548004" y="3405211"/>
              <a:ext cx="66675" cy="0"/>
            </a:xfrm>
            <a:custGeom>
              <a:avLst/>
              <a:gdLst/>
              <a:ahLst/>
              <a:cxnLst/>
              <a:rect l="l" t="t" r="r" b="b"/>
              <a:pathLst>
                <a:path w="66675" h="0">
                  <a:moveTo>
                    <a:pt x="66217" y="0"/>
                  </a:moveTo>
                  <a:lnTo>
                    <a:pt x="0" y="0"/>
                  </a:lnTo>
                </a:path>
              </a:pathLst>
            </a:custGeom>
            <a:solidFill>
              <a:srgbClr val="0000FF"/>
            </a:solidFill>
          </p:spPr>
          <p:txBody>
            <a:bodyPr wrap="square" lIns="0" tIns="0" rIns="0" bIns="0" rtlCol="0"/>
            <a:lstStyle/>
            <a:p/>
          </p:txBody>
        </p:sp>
        <p:sp>
          <p:nvSpPr>
            <p:cNvPr id="617" name="object 617" descr=""/>
            <p:cNvSpPr/>
            <p:nvPr/>
          </p:nvSpPr>
          <p:spPr>
            <a:xfrm>
              <a:off x="8548004" y="3405212"/>
              <a:ext cx="66675" cy="0"/>
            </a:xfrm>
            <a:custGeom>
              <a:avLst/>
              <a:gdLst/>
              <a:ahLst/>
              <a:cxnLst/>
              <a:rect l="l" t="t" r="r" b="b"/>
              <a:pathLst>
                <a:path w="66675" h="0">
                  <a:moveTo>
                    <a:pt x="0" y="0"/>
                  </a:moveTo>
                  <a:lnTo>
                    <a:pt x="66217" y="0"/>
                  </a:lnTo>
                  <a:lnTo>
                    <a:pt x="0" y="0"/>
                  </a:lnTo>
                </a:path>
              </a:pathLst>
            </a:custGeom>
            <a:ln w="5893">
              <a:solidFill>
                <a:srgbClr val="000000"/>
              </a:solidFill>
            </a:ln>
          </p:spPr>
          <p:txBody>
            <a:bodyPr wrap="square" lIns="0" tIns="0" rIns="0" bIns="0" rtlCol="0"/>
            <a:lstStyle/>
            <a:p/>
          </p:txBody>
        </p:sp>
        <p:sp>
          <p:nvSpPr>
            <p:cNvPr id="618" name="object 618" descr=""/>
            <p:cNvSpPr/>
            <p:nvPr/>
          </p:nvSpPr>
          <p:spPr>
            <a:xfrm>
              <a:off x="6197244" y="1254102"/>
              <a:ext cx="623570" cy="353695"/>
            </a:xfrm>
            <a:custGeom>
              <a:avLst/>
              <a:gdLst/>
              <a:ahLst/>
              <a:cxnLst/>
              <a:rect l="l" t="t" r="r" b="b"/>
              <a:pathLst>
                <a:path w="623570" h="353694">
                  <a:moveTo>
                    <a:pt x="0" y="0"/>
                  </a:moveTo>
                  <a:lnTo>
                    <a:pt x="623545" y="0"/>
                  </a:lnTo>
                  <a:lnTo>
                    <a:pt x="623545" y="353604"/>
                  </a:lnTo>
                  <a:lnTo>
                    <a:pt x="0" y="353604"/>
                  </a:lnTo>
                  <a:lnTo>
                    <a:pt x="0" y="0"/>
                  </a:lnTo>
                  <a:close/>
                </a:path>
              </a:pathLst>
            </a:custGeom>
            <a:ln w="5802">
              <a:solidFill>
                <a:srgbClr val="FFFFFF"/>
              </a:solidFill>
            </a:ln>
          </p:spPr>
          <p:txBody>
            <a:bodyPr wrap="square" lIns="0" tIns="0" rIns="0" bIns="0" rtlCol="0"/>
            <a:lstStyle/>
            <a:p/>
          </p:txBody>
        </p:sp>
        <p:sp>
          <p:nvSpPr>
            <p:cNvPr id="619" name="object 619" descr=""/>
            <p:cNvSpPr/>
            <p:nvPr/>
          </p:nvSpPr>
          <p:spPr>
            <a:xfrm>
              <a:off x="6197248" y="1254104"/>
              <a:ext cx="623570" cy="0"/>
            </a:xfrm>
            <a:custGeom>
              <a:avLst/>
              <a:gdLst/>
              <a:ahLst/>
              <a:cxnLst/>
              <a:rect l="l" t="t" r="r" b="b"/>
              <a:pathLst>
                <a:path w="623570" h="0">
                  <a:moveTo>
                    <a:pt x="0" y="0"/>
                  </a:moveTo>
                  <a:lnTo>
                    <a:pt x="623545" y="0"/>
                  </a:lnTo>
                </a:path>
              </a:pathLst>
            </a:custGeom>
            <a:ln w="5893">
              <a:solidFill>
                <a:srgbClr val="000000"/>
              </a:solidFill>
            </a:ln>
          </p:spPr>
          <p:txBody>
            <a:bodyPr wrap="square" lIns="0" tIns="0" rIns="0" bIns="0" rtlCol="0"/>
            <a:lstStyle/>
            <a:p/>
          </p:txBody>
        </p:sp>
        <p:sp>
          <p:nvSpPr>
            <p:cNvPr id="620" name="object 620" descr=""/>
            <p:cNvSpPr/>
            <p:nvPr/>
          </p:nvSpPr>
          <p:spPr>
            <a:xfrm>
              <a:off x="6818035" y="1251158"/>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621" name="object 621" descr=""/>
            <p:cNvSpPr/>
            <p:nvPr/>
          </p:nvSpPr>
          <p:spPr>
            <a:xfrm>
              <a:off x="6197250" y="1607709"/>
              <a:ext cx="623570" cy="0"/>
            </a:xfrm>
            <a:custGeom>
              <a:avLst/>
              <a:gdLst/>
              <a:ahLst/>
              <a:cxnLst/>
              <a:rect l="l" t="t" r="r" b="b"/>
              <a:pathLst>
                <a:path w="623570" h="0">
                  <a:moveTo>
                    <a:pt x="0" y="0"/>
                  </a:moveTo>
                  <a:lnTo>
                    <a:pt x="623545" y="0"/>
                  </a:lnTo>
                </a:path>
              </a:pathLst>
            </a:custGeom>
            <a:ln w="5893">
              <a:solidFill>
                <a:srgbClr val="000000"/>
              </a:solidFill>
            </a:ln>
          </p:spPr>
          <p:txBody>
            <a:bodyPr wrap="square" lIns="0" tIns="0" rIns="0" bIns="0" rtlCol="0"/>
            <a:lstStyle/>
            <a:p/>
          </p:txBody>
        </p:sp>
        <p:sp>
          <p:nvSpPr>
            <p:cNvPr id="622" name="object 622" descr=""/>
            <p:cNvSpPr/>
            <p:nvPr/>
          </p:nvSpPr>
          <p:spPr>
            <a:xfrm>
              <a:off x="6818037" y="1604763"/>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623" name="object 623" descr=""/>
            <p:cNvSpPr/>
            <p:nvPr/>
          </p:nvSpPr>
          <p:spPr>
            <a:xfrm>
              <a:off x="6820798" y="1254106"/>
              <a:ext cx="0" cy="353695"/>
            </a:xfrm>
            <a:custGeom>
              <a:avLst/>
              <a:gdLst/>
              <a:ahLst/>
              <a:cxnLst/>
              <a:rect l="l" t="t" r="r" b="b"/>
              <a:pathLst>
                <a:path w="0" h="353694">
                  <a:moveTo>
                    <a:pt x="0" y="353604"/>
                  </a:moveTo>
                  <a:lnTo>
                    <a:pt x="0" y="0"/>
                  </a:lnTo>
                </a:path>
              </a:pathLst>
            </a:custGeom>
            <a:ln w="5518">
              <a:solidFill>
                <a:srgbClr val="000000"/>
              </a:solidFill>
            </a:ln>
          </p:spPr>
          <p:txBody>
            <a:bodyPr wrap="square" lIns="0" tIns="0" rIns="0" bIns="0" rtlCol="0"/>
            <a:lstStyle/>
            <a:p/>
          </p:txBody>
        </p:sp>
        <p:sp>
          <p:nvSpPr>
            <p:cNvPr id="624" name="object 624" descr=""/>
            <p:cNvSpPr/>
            <p:nvPr/>
          </p:nvSpPr>
          <p:spPr>
            <a:xfrm>
              <a:off x="6818040" y="1251160"/>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625" name="object 625" descr=""/>
            <p:cNvSpPr/>
            <p:nvPr/>
          </p:nvSpPr>
          <p:spPr>
            <a:xfrm>
              <a:off x="6197255" y="1254107"/>
              <a:ext cx="0" cy="353695"/>
            </a:xfrm>
            <a:custGeom>
              <a:avLst/>
              <a:gdLst/>
              <a:ahLst/>
              <a:cxnLst/>
              <a:rect l="l" t="t" r="r" b="b"/>
              <a:pathLst>
                <a:path w="0" h="353694">
                  <a:moveTo>
                    <a:pt x="0" y="353604"/>
                  </a:moveTo>
                  <a:lnTo>
                    <a:pt x="0" y="0"/>
                  </a:lnTo>
                </a:path>
              </a:pathLst>
            </a:custGeom>
            <a:ln w="5518">
              <a:solidFill>
                <a:srgbClr val="000000"/>
              </a:solidFill>
            </a:ln>
          </p:spPr>
          <p:txBody>
            <a:bodyPr wrap="square" lIns="0" tIns="0" rIns="0" bIns="0" rtlCol="0"/>
            <a:lstStyle/>
            <a:p/>
          </p:txBody>
        </p:sp>
        <p:sp>
          <p:nvSpPr>
            <p:cNvPr id="626" name="object 626" descr=""/>
            <p:cNvSpPr/>
            <p:nvPr/>
          </p:nvSpPr>
          <p:spPr>
            <a:xfrm>
              <a:off x="6194497" y="1251160"/>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627" name="object 627" descr=""/>
            <p:cNvSpPr/>
            <p:nvPr/>
          </p:nvSpPr>
          <p:spPr>
            <a:xfrm>
              <a:off x="6197257" y="1607712"/>
              <a:ext cx="623570" cy="0"/>
            </a:xfrm>
            <a:custGeom>
              <a:avLst/>
              <a:gdLst/>
              <a:ahLst/>
              <a:cxnLst/>
              <a:rect l="l" t="t" r="r" b="b"/>
              <a:pathLst>
                <a:path w="623570" h="0">
                  <a:moveTo>
                    <a:pt x="0" y="0"/>
                  </a:moveTo>
                  <a:lnTo>
                    <a:pt x="623545" y="0"/>
                  </a:lnTo>
                </a:path>
              </a:pathLst>
            </a:custGeom>
            <a:ln w="5893">
              <a:solidFill>
                <a:srgbClr val="000000"/>
              </a:solidFill>
            </a:ln>
          </p:spPr>
          <p:txBody>
            <a:bodyPr wrap="square" lIns="0" tIns="0" rIns="0" bIns="0" rtlCol="0"/>
            <a:lstStyle/>
            <a:p/>
          </p:txBody>
        </p:sp>
        <p:sp>
          <p:nvSpPr>
            <p:cNvPr id="628" name="object 628" descr=""/>
            <p:cNvSpPr/>
            <p:nvPr/>
          </p:nvSpPr>
          <p:spPr>
            <a:xfrm>
              <a:off x="6818044" y="1604765"/>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629" name="object 629" descr=""/>
            <p:cNvSpPr/>
            <p:nvPr/>
          </p:nvSpPr>
          <p:spPr>
            <a:xfrm>
              <a:off x="6197259" y="1254108"/>
              <a:ext cx="0" cy="353695"/>
            </a:xfrm>
            <a:custGeom>
              <a:avLst/>
              <a:gdLst/>
              <a:ahLst/>
              <a:cxnLst/>
              <a:rect l="l" t="t" r="r" b="b"/>
              <a:pathLst>
                <a:path w="0" h="353694">
                  <a:moveTo>
                    <a:pt x="0" y="353604"/>
                  </a:moveTo>
                  <a:lnTo>
                    <a:pt x="0" y="0"/>
                  </a:lnTo>
                </a:path>
              </a:pathLst>
            </a:custGeom>
            <a:ln w="5518">
              <a:solidFill>
                <a:srgbClr val="000000"/>
              </a:solidFill>
            </a:ln>
          </p:spPr>
          <p:txBody>
            <a:bodyPr wrap="square" lIns="0" tIns="0" rIns="0" bIns="0" rtlCol="0"/>
            <a:lstStyle/>
            <a:p/>
          </p:txBody>
        </p:sp>
        <p:sp>
          <p:nvSpPr>
            <p:cNvPr id="630" name="object 630" descr=""/>
            <p:cNvSpPr/>
            <p:nvPr/>
          </p:nvSpPr>
          <p:spPr>
            <a:xfrm>
              <a:off x="6194502" y="1251162"/>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631" name="object 631" descr=""/>
            <p:cNvSpPr/>
            <p:nvPr/>
          </p:nvSpPr>
          <p:spPr>
            <a:xfrm>
              <a:off x="6197262" y="1254109"/>
              <a:ext cx="623570" cy="0"/>
            </a:xfrm>
            <a:custGeom>
              <a:avLst/>
              <a:gdLst/>
              <a:ahLst/>
              <a:cxnLst/>
              <a:rect l="l" t="t" r="r" b="b"/>
              <a:pathLst>
                <a:path w="623570" h="0">
                  <a:moveTo>
                    <a:pt x="0" y="0"/>
                  </a:moveTo>
                  <a:lnTo>
                    <a:pt x="623545" y="0"/>
                  </a:lnTo>
                </a:path>
              </a:pathLst>
            </a:custGeom>
            <a:ln w="5893">
              <a:solidFill>
                <a:srgbClr val="000000"/>
              </a:solidFill>
            </a:ln>
          </p:spPr>
          <p:txBody>
            <a:bodyPr wrap="square" lIns="0" tIns="0" rIns="0" bIns="0" rtlCol="0"/>
            <a:lstStyle/>
            <a:p/>
          </p:txBody>
        </p:sp>
        <p:sp>
          <p:nvSpPr>
            <p:cNvPr id="632" name="object 632" descr=""/>
            <p:cNvSpPr/>
            <p:nvPr/>
          </p:nvSpPr>
          <p:spPr>
            <a:xfrm>
              <a:off x="6818049" y="1251163"/>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633" name="object 633" descr=""/>
            <p:cNvSpPr/>
            <p:nvPr/>
          </p:nvSpPr>
          <p:spPr>
            <a:xfrm>
              <a:off x="6197264" y="1607714"/>
              <a:ext cx="623570" cy="0"/>
            </a:xfrm>
            <a:custGeom>
              <a:avLst/>
              <a:gdLst/>
              <a:ahLst/>
              <a:cxnLst/>
              <a:rect l="l" t="t" r="r" b="b"/>
              <a:pathLst>
                <a:path w="623570" h="0">
                  <a:moveTo>
                    <a:pt x="0" y="0"/>
                  </a:moveTo>
                  <a:lnTo>
                    <a:pt x="623545" y="0"/>
                  </a:lnTo>
                </a:path>
              </a:pathLst>
            </a:custGeom>
            <a:ln w="5893">
              <a:solidFill>
                <a:srgbClr val="000000"/>
              </a:solidFill>
            </a:ln>
          </p:spPr>
          <p:txBody>
            <a:bodyPr wrap="square" lIns="0" tIns="0" rIns="0" bIns="0" rtlCol="0"/>
            <a:lstStyle/>
            <a:p/>
          </p:txBody>
        </p:sp>
        <p:sp>
          <p:nvSpPr>
            <p:cNvPr id="634" name="object 634" descr=""/>
            <p:cNvSpPr/>
            <p:nvPr/>
          </p:nvSpPr>
          <p:spPr>
            <a:xfrm>
              <a:off x="6818051" y="1604768"/>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635" name="object 635" descr=""/>
            <p:cNvSpPr/>
            <p:nvPr/>
          </p:nvSpPr>
          <p:spPr>
            <a:xfrm>
              <a:off x="6820812" y="1254111"/>
              <a:ext cx="0" cy="353695"/>
            </a:xfrm>
            <a:custGeom>
              <a:avLst/>
              <a:gdLst/>
              <a:ahLst/>
              <a:cxnLst/>
              <a:rect l="l" t="t" r="r" b="b"/>
              <a:pathLst>
                <a:path w="0" h="353694">
                  <a:moveTo>
                    <a:pt x="0" y="353604"/>
                  </a:moveTo>
                  <a:lnTo>
                    <a:pt x="0" y="0"/>
                  </a:lnTo>
                </a:path>
              </a:pathLst>
            </a:custGeom>
            <a:ln w="5518">
              <a:solidFill>
                <a:srgbClr val="000000"/>
              </a:solidFill>
            </a:ln>
          </p:spPr>
          <p:txBody>
            <a:bodyPr wrap="square" lIns="0" tIns="0" rIns="0" bIns="0" rtlCol="0"/>
            <a:lstStyle/>
            <a:p/>
          </p:txBody>
        </p:sp>
        <p:sp>
          <p:nvSpPr>
            <p:cNvPr id="636" name="object 636" descr=""/>
            <p:cNvSpPr/>
            <p:nvPr/>
          </p:nvSpPr>
          <p:spPr>
            <a:xfrm>
              <a:off x="6818054" y="1251164"/>
              <a:ext cx="5715" cy="6350"/>
            </a:xfrm>
            <a:custGeom>
              <a:avLst/>
              <a:gdLst/>
              <a:ahLst/>
              <a:cxnLst/>
              <a:rect l="l" t="t" r="r" b="b"/>
              <a:pathLst>
                <a:path w="5715"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637" name="object 637" descr=""/>
            <p:cNvSpPr/>
            <p:nvPr/>
          </p:nvSpPr>
          <p:spPr>
            <a:xfrm>
              <a:off x="6197269" y="1254111"/>
              <a:ext cx="0" cy="353695"/>
            </a:xfrm>
            <a:custGeom>
              <a:avLst/>
              <a:gdLst/>
              <a:ahLst/>
              <a:cxnLst/>
              <a:rect l="l" t="t" r="r" b="b"/>
              <a:pathLst>
                <a:path w="0" h="353694">
                  <a:moveTo>
                    <a:pt x="0" y="353604"/>
                  </a:moveTo>
                  <a:lnTo>
                    <a:pt x="0" y="0"/>
                  </a:lnTo>
                </a:path>
              </a:pathLst>
            </a:custGeom>
            <a:ln w="5518">
              <a:solidFill>
                <a:srgbClr val="000000"/>
              </a:solidFill>
            </a:ln>
          </p:spPr>
          <p:txBody>
            <a:bodyPr wrap="square" lIns="0" tIns="0" rIns="0" bIns="0" rtlCol="0"/>
            <a:lstStyle/>
            <a:p/>
          </p:txBody>
        </p:sp>
        <p:sp>
          <p:nvSpPr>
            <p:cNvPr id="638" name="object 638" descr=""/>
            <p:cNvSpPr/>
            <p:nvPr/>
          </p:nvSpPr>
          <p:spPr>
            <a:xfrm>
              <a:off x="6194511" y="1251165"/>
              <a:ext cx="5715" cy="6350"/>
            </a:xfrm>
            <a:custGeom>
              <a:avLst/>
              <a:gdLst/>
              <a:ahLst/>
              <a:cxnLst/>
              <a:rect l="l" t="t" r="r" b="b"/>
              <a:pathLst>
                <a:path w="5714" h="6350">
                  <a:moveTo>
                    <a:pt x="0" y="2946"/>
                  </a:moveTo>
                  <a:lnTo>
                    <a:pt x="808" y="5030"/>
                  </a:lnTo>
                  <a:lnTo>
                    <a:pt x="2759" y="5893"/>
                  </a:lnTo>
                  <a:lnTo>
                    <a:pt x="4709" y="5030"/>
                  </a:lnTo>
                  <a:lnTo>
                    <a:pt x="5518" y="2946"/>
                  </a:lnTo>
                  <a:lnTo>
                    <a:pt x="4709" y="863"/>
                  </a:lnTo>
                  <a:lnTo>
                    <a:pt x="2759" y="0"/>
                  </a:lnTo>
                  <a:lnTo>
                    <a:pt x="808" y="863"/>
                  </a:lnTo>
                  <a:lnTo>
                    <a:pt x="0" y="2946"/>
                  </a:lnTo>
                  <a:close/>
                </a:path>
              </a:pathLst>
            </a:custGeom>
            <a:solidFill>
              <a:srgbClr val="000000"/>
            </a:solidFill>
          </p:spPr>
          <p:txBody>
            <a:bodyPr wrap="square" lIns="0" tIns="0" rIns="0" bIns="0" rtlCol="0"/>
            <a:lstStyle/>
            <a:p/>
          </p:txBody>
        </p:sp>
        <p:sp>
          <p:nvSpPr>
            <p:cNvPr id="639" name="object 639" descr=""/>
            <p:cNvSpPr/>
            <p:nvPr/>
          </p:nvSpPr>
          <p:spPr>
            <a:xfrm>
              <a:off x="6241380" y="1277675"/>
              <a:ext cx="220979" cy="82550"/>
            </a:xfrm>
            <a:custGeom>
              <a:avLst/>
              <a:gdLst/>
              <a:ahLst/>
              <a:cxnLst/>
              <a:rect l="l" t="t" r="r" b="b"/>
              <a:pathLst>
                <a:path w="220979" h="82550">
                  <a:moveTo>
                    <a:pt x="220723" y="82507"/>
                  </a:moveTo>
                  <a:lnTo>
                    <a:pt x="0" y="82507"/>
                  </a:lnTo>
                  <a:lnTo>
                    <a:pt x="0" y="0"/>
                  </a:lnTo>
                  <a:lnTo>
                    <a:pt x="220723" y="0"/>
                  </a:lnTo>
                  <a:lnTo>
                    <a:pt x="220723" y="82507"/>
                  </a:lnTo>
                  <a:close/>
                </a:path>
              </a:pathLst>
            </a:custGeom>
            <a:solidFill>
              <a:srgbClr val="FF0000"/>
            </a:solidFill>
          </p:spPr>
          <p:txBody>
            <a:bodyPr wrap="square" lIns="0" tIns="0" rIns="0" bIns="0" rtlCol="0"/>
            <a:lstStyle/>
            <a:p/>
          </p:txBody>
        </p:sp>
        <p:sp>
          <p:nvSpPr>
            <p:cNvPr id="640" name="object 640" descr=""/>
            <p:cNvSpPr/>
            <p:nvPr/>
          </p:nvSpPr>
          <p:spPr>
            <a:xfrm>
              <a:off x="6241381" y="1277675"/>
              <a:ext cx="220979" cy="82550"/>
            </a:xfrm>
            <a:custGeom>
              <a:avLst/>
              <a:gdLst/>
              <a:ahLst/>
              <a:cxnLst/>
              <a:rect l="l" t="t" r="r" b="b"/>
              <a:pathLst>
                <a:path w="220979" h="82550">
                  <a:moveTo>
                    <a:pt x="0" y="0"/>
                  </a:moveTo>
                  <a:lnTo>
                    <a:pt x="220723" y="0"/>
                  </a:lnTo>
                  <a:lnTo>
                    <a:pt x="220723" y="82507"/>
                  </a:lnTo>
                  <a:lnTo>
                    <a:pt x="0" y="82507"/>
                  </a:lnTo>
                  <a:lnTo>
                    <a:pt x="0" y="0"/>
                  </a:lnTo>
                  <a:close/>
                </a:path>
              </a:pathLst>
            </a:custGeom>
            <a:ln w="5847">
              <a:solidFill>
                <a:srgbClr val="000000"/>
              </a:solidFill>
            </a:ln>
          </p:spPr>
          <p:txBody>
            <a:bodyPr wrap="square" lIns="0" tIns="0" rIns="0" bIns="0" rtlCol="0"/>
            <a:lstStyle/>
            <a:p/>
          </p:txBody>
        </p:sp>
        <p:sp>
          <p:nvSpPr>
            <p:cNvPr id="641" name="object 641" descr=""/>
            <p:cNvSpPr/>
            <p:nvPr/>
          </p:nvSpPr>
          <p:spPr>
            <a:xfrm>
              <a:off x="6241380" y="1389649"/>
              <a:ext cx="220979" cy="76835"/>
            </a:xfrm>
            <a:custGeom>
              <a:avLst/>
              <a:gdLst/>
              <a:ahLst/>
              <a:cxnLst/>
              <a:rect l="l" t="t" r="r" b="b"/>
              <a:pathLst>
                <a:path w="220979" h="76834">
                  <a:moveTo>
                    <a:pt x="220723" y="76614"/>
                  </a:moveTo>
                  <a:lnTo>
                    <a:pt x="0" y="76614"/>
                  </a:lnTo>
                  <a:lnTo>
                    <a:pt x="0" y="0"/>
                  </a:lnTo>
                  <a:lnTo>
                    <a:pt x="220723" y="0"/>
                  </a:lnTo>
                  <a:lnTo>
                    <a:pt x="220723" y="76614"/>
                  </a:lnTo>
                  <a:close/>
                </a:path>
              </a:pathLst>
            </a:custGeom>
            <a:solidFill>
              <a:srgbClr val="00FF00"/>
            </a:solidFill>
          </p:spPr>
          <p:txBody>
            <a:bodyPr wrap="square" lIns="0" tIns="0" rIns="0" bIns="0" rtlCol="0"/>
            <a:lstStyle/>
            <a:p/>
          </p:txBody>
        </p:sp>
        <p:sp>
          <p:nvSpPr>
            <p:cNvPr id="642" name="object 642" descr=""/>
            <p:cNvSpPr/>
            <p:nvPr/>
          </p:nvSpPr>
          <p:spPr>
            <a:xfrm>
              <a:off x="6241381" y="1389649"/>
              <a:ext cx="220979" cy="76835"/>
            </a:xfrm>
            <a:custGeom>
              <a:avLst/>
              <a:gdLst/>
              <a:ahLst/>
              <a:cxnLst/>
              <a:rect l="l" t="t" r="r" b="b"/>
              <a:pathLst>
                <a:path w="220979" h="76834">
                  <a:moveTo>
                    <a:pt x="0" y="0"/>
                  </a:moveTo>
                  <a:lnTo>
                    <a:pt x="220723" y="0"/>
                  </a:lnTo>
                  <a:lnTo>
                    <a:pt x="220723" y="76614"/>
                  </a:lnTo>
                  <a:lnTo>
                    <a:pt x="0" y="76614"/>
                  </a:lnTo>
                  <a:lnTo>
                    <a:pt x="0" y="0"/>
                  </a:lnTo>
                  <a:close/>
                </a:path>
              </a:pathLst>
            </a:custGeom>
            <a:ln w="5853">
              <a:solidFill>
                <a:srgbClr val="000000"/>
              </a:solidFill>
            </a:ln>
          </p:spPr>
          <p:txBody>
            <a:bodyPr wrap="square" lIns="0" tIns="0" rIns="0" bIns="0" rtlCol="0"/>
            <a:lstStyle/>
            <a:p/>
          </p:txBody>
        </p:sp>
      </p:grpSp>
      <p:sp>
        <p:nvSpPr>
          <p:cNvPr id="643" name="object 643" descr=""/>
          <p:cNvSpPr txBox="1"/>
          <p:nvPr/>
        </p:nvSpPr>
        <p:spPr>
          <a:xfrm>
            <a:off x="7177797" y="3498577"/>
            <a:ext cx="547370" cy="117475"/>
          </a:xfrm>
          <a:prstGeom prst="rect">
            <a:avLst/>
          </a:prstGeom>
        </p:spPr>
        <p:txBody>
          <a:bodyPr wrap="square" lIns="0" tIns="12700" rIns="0" bIns="0" rtlCol="0" vert="horz">
            <a:spAutoFit/>
          </a:bodyPr>
          <a:lstStyle/>
          <a:p>
            <a:pPr marL="12700">
              <a:lnSpc>
                <a:spcPct val="100000"/>
              </a:lnSpc>
              <a:spcBef>
                <a:spcPts val="100"/>
              </a:spcBef>
            </a:pPr>
            <a:r>
              <a:rPr dirty="0" sz="600" spc="-10">
                <a:latin typeface="SimSun"/>
                <a:cs typeface="SimSun"/>
              </a:rPr>
              <a:t>速率区 </a:t>
            </a:r>
            <a:r>
              <a:rPr dirty="0" sz="600" spc="-260">
                <a:latin typeface="SimSun"/>
                <a:cs typeface="SimSun"/>
              </a:rPr>
              <a:t>间(</a:t>
            </a:r>
            <a:r>
              <a:rPr dirty="0" sz="600" spc="-80">
                <a:latin typeface="SimSun"/>
                <a:cs typeface="SimSun"/>
              </a:rPr>
              <a:t>M </a:t>
            </a:r>
            <a:r>
              <a:rPr dirty="0" sz="600" spc="-20">
                <a:latin typeface="SimSun"/>
                <a:cs typeface="SimSun"/>
              </a:rPr>
              <a:t>bps)</a:t>
            </a:r>
            <a:endParaRPr sz="600">
              <a:latin typeface="SimSun"/>
              <a:cs typeface="SimSun"/>
            </a:endParaRPr>
          </a:p>
        </p:txBody>
      </p:sp>
      <p:sp>
        <p:nvSpPr>
          <p:cNvPr id="644" name="object 644" descr=""/>
          <p:cNvSpPr txBox="1"/>
          <p:nvPr/>
        </p:nvSpPr>
        <p:spPr>
          <a:xfrm>
            <a:off x="5918724" y="2190195"/>
            <a:ext cx="116205" cy="435609"/>
          </a:xfrm>
          <a:prstGeom prst="rect">
            <a:avLst/>
          </a:prstGeom>
        </p:spPr>
        <p:txBody>
          <a:bodyPr wrap="square" lIns="0" tIns="4445" rIns="0" bIns="0" rtlCol="0" vert="vert270">
            <a:spAutoFit/>
          </a:bodyPr>
          <a:lstStyle/>
          <a:p>
            <a:pPr marL="12700">
              <a:lnSpc>
                <a:spcPct val="100000"/>
              </a:lnSpc>
              <a:spcBef>
                <a:spcPts val="35"/>
              </a:spcBef>
            </a:pPr>
            <a:r>
              <a:rPr dirty="0" baseline="-16666" sz="750" spc="-97">
                <a:latin typeface="SimSun"/>
                <a:cs typeface="SimSun"/>
              </a:rPr>
              <a:t>累</a:t>
            </a:r>
            <a:r>
              <a:rPr dirty="0" sz="550" spc="-409">
                <a:latin typeface="MS PGothic"/>
                <a:cs typeface="MS PGothic"/>
              </a:rPr>
              <a:t>速</a:t>
            </a:r>
            <a:r>
              <a:rPr dirty="0" baseline="-16666" sz="750">
                <a:latin typeface="SimSun"/>
                <a:cs typeface="SimSun"/>
              </a:rPr>
              <a:t>计</a:t>
            </a:r>
            <a:r>
              <a:rPr dirty="0" sz="550" spc="-515">
                <a:latin typeface="MS PGothic"/>
                <a:cs typeface="MS PGothic"/>
              </a:rPr>
              <a:t>率</a:t>
            </a:r>
            <a:r>
              <a:rPr dirty="0" baseline="-16666" sz="750" spc="127">
                <a:latin typeface="SimSun"/>
                <a:cs typeface="SimSun"/>
              </a:rPr>
              <a:t>概</a:t>
            </a:r>
            <a:r>
              <a:rPr dirty="0" baseline="-16666" sz="750" spc="-667">
                <a:latin typeface="SimSun"/>
                <a:cs typeface="SimSun"/>
              </a:rPr>
              <a:t>率</a:t>
            </a:r>
            <a:r>
              <a:rPr dirty="0" sz="550" spc="110">
                <a:latin typeface="MS PGothic"/>
                <a:cs typeface="MS PGothic"/>
              </a:rPr>
              <a:t>占比</a:t>
            </a:r>
            <a:endParaRPr sz="550">
              <a:latin typeface="MS PGothic"/>
              <a:cs typeface="MS PGothic"/>
            </a:endParaRPr>
          </a:p>
        </p:txBody>
      </p:sp>
      <p:sp>
        <p:nvSpPr>
          <p:cNvPr id="645" name="object 645" descr=""/>
          <p:cNvSpPr txBox="1"/>
          <p:nvPr/>
        </p:nvSpPr>
        <p:spPr>
          <a:xfrm>
            <a:off x="6205666" y="2426206"/>
            <a:ext cx="97155" cy="143510"/>
          </a:xfrm>
          <a:prstGeom prst="rect">
            <a:avLst/>
          </a:prstGeom>
        </p:spPr>
        <p:txBody>
          <a:bodyPr wrap="square" lIns="0" tIns="4445" rIns="0" bIns="0" rtlCol="0" vert="vert270">
            <a:spAutoFit/>
          </a:bodyPr>
          <a:lstStyle/>
          <a:p>
            <a:pPr marL="12700">
              <a:lnSpc>
                <a:spcPct val="100000"/>
              </a:lnSpc>
              <a:spcBef>
                <a:spcPts val="35"/>
              </a:spcBef>
            </a:pPr>
            <a:r>
              <a:rPr dirty="0" sz="550">
                <a:latin typeface="MS PGothic"/>
                <a:cs typeface="MS PGothic"/>
              </a:rPr>
              <a:t>(%</a:t>
            </a:r>
            <a:r>
              <a:rPr dirty="0" sz="550" spc="120">
                <a:latin typeface="MS PGothic"/>
                <a:cs typeface="MS PGothic"/>
              </a:rPr>
              <a:t> </a:t>
            </a:r>
            <a:r>
              <a:rPr dirty="0" sz="550" spc="-50">
                <a:latin typeface="MS PGothic"/>
                <a:cs typeface="MS PGothic"/>
              </a:rPr>
              <a:t>)</a:t>
            </a:r>
            <a:endParaRPr sz="550">
              <a:latin typeface="MS PGothic"/>
              <a:cs typeface="MS PGothic"/>
            </a:endParaRPr>
          </a:p>
        </p:txBody>
      </p:sp>
      <p:sp>
        <p:nvSpPr>
          <p:cNvPr id="646" name="object 646" descr=""/>
          <p:cNvSpPr txBox="1"/>
          <p:nvPr/>
        </p:nvSpPr>
        <p:spPr>
          <a:xfrm>
            <a:off x="6763943" y="1052814"/>
            <a:ext cx="125095" cy="117475"/>
          </a:xfrm>
          <a:prstGeom prst="rect">
            <a:avLst/>
          </a:prstGeom>
        </p:spPr>
        <p:txBody>
          <a:bodyPr wrap="square" lIns="0" tIns="12700" rIns="0" bIns="0" rtlCol="0" vert="horz">
            <a:spAutoFit/>
          </a:bodyPr>
          <a:lstStyle/>
          <a:p>
            <a:pPr marL="12700">
              <a:lnSpc>
                <a:spcPct val="100000"/>
              </a:lnSpc>
              <a:spcBef>
                <a:spcPts val="100"/>
              </a:spcBef>
            </a:pPr>
            <a:r>
              <a:rPr dirty="0" sz="600" spc="-25">
                <a:latin typeface="Arial MT"/>
                <a:cs typeface="Arial MT"/>
              </a:rPr>
              <a:t>NR</a:t>
            </a:r>
            <a:endParaRPr sz="600">
              <a:latin typeface="Arial MT"/>
              <a:cs typeface="Arial MT"/>
            </a:endParaRPr>
          </a:p>
        </p:txBody>
      </p:sp>
      <p:sp>
        <p:nvSpPr>
          <p:cNvPr id="647" name="object 647" descr=""/>
          <p:cNvSpPr txBox="1"/>
          <p:nvPr/>
        </p:nvSpPr>
        <p:spPr>
          <a:xfrm>
            <a:off x="8165541" y="1041028"/>
            <a:ext cx="1007744" cy="117475"/>
          </a:xfrm>
          <a:prstGeom prst="rect">
            <a:avLst/>
          </a:prstGeom>
        </p:spPr>
        <p:txBody>
          <a:bodyPr wrap="square" lIns="0" tIns="12700" rIns="0" bIns="0" rtlCol="0" vert="horz">
            <a:spAutoFit/>
          </a:bodyPr>
          <a:lstStyle/>
          <a:p>
            <a:pPr marL="12700">
              <a:lnSpc>
                <a:spcPct val="100000"/>
              </a:lnSpc>
              <a:spcBef>
                <a:spcPts val="100"/>
              </a:spcBef>
            </a:pPr>
            <a:r>
              <a:rPr dirty="0" sz="600" spc="-20">
                <a:latin typeface="MS PGothic"/>
                <a:cs typeface="MS PGothic"/>
              </a:rPr>
              <a:t>、</a:t>
            </a:r>
            <a:r>
              <a:rPr dirty="0" sz="600" spc="-25">
                <a:latin typeface="MS PGothic"/>
                <a:cs typeface="MS PGothic"/>
              </a:rPr>
              <a:t>LTE</a:t>
            </a:r>
            <a:r>
              <a:rPr dirty="0" sz="600" spc="65">
                <a:latin typeface="MS PGothic"/>
                <a:cs typeface="MS PGothic"/>
              </a:rPr>
              <a:t> </a:t>
            </a:r>
            <a:r>
              <a:rPr dirty="0" sz="600" spc="-10">
                <a:latin typeface="MS PGothic"/>
                <a:cs typeface="MS PGothic"/>
              </a:rPr>
              <a:t>LINK</a:t>
            </a:r>
            <a:r>
              <a:rPr dirty="0" sz="600" spc="-50">
                <a:latin typeface="MS PGothic"/>
                <a:cs typeface="MS PGothic"/>
              </a:rPr>
              <a:t>和 </a:t>
            </a:r>
            <a:r>
              <a:rPr dirty="0" sz="600" spc="-55">
                <a:latin typeface="MS PGothic"/>
                <a:cs typeface="MS PGothic"/>
              </a:rPr>
              <a:t>LTE</a:t>
            </a:r>
            <a:r>
              <a:rPr dirty="0" sz="600" spc="25">
                <a:latin typeface="MS PGothic"/>
                <a:cs typeface="MS PGothic"/>
              </a:rPr>
              <a:t> 上行拉网速</a:t>
            </a:r>
            <a:endParaRPr sz="600">
              <a:latin typeface="MS PGothic"/>
              <a:cs typeface="MS PGothic"/>
            </a:endParaRPr>
          </a:p>
        </p:txBody>
      </p:sp>
      <p:sp>
        <p:nvSpPr>
          <p:cNvPr id="648" name="object 648" descr=""/>
          <p:cNvSpPr txBox="1"/>
          <p:nvPr/>
        </p:nvSpPr>
        <p:spPr>
          <a:xfrm>
            <a:off x="6471480" y="1244956"/>
            <a:ext cx="327660" cy="355600"/>
          </a:xfrm>
          <a:prstGeom prst="rect">
            <a:avLst/>
          </a:prstGeom>
        </p:spPr>
        <p:txBody>
          <a:bodyPr wrap="square" lIns="0" tIns="33020" rIns="0" bIns="0" rtlCol="0" vert="horz">
            <a:spAutoFit/>
          </a:bodyPr>
          <a:lstStyle/>
          <a:p>
            <a:pPr marL="12700">
              <a:lnSpc>
                <a:spcPct val="100000"/>
              </a:lnSpc>
              <a:spcBef>
                <a:spcPts val="260"/>
              </a:spcBef>
            </a:pPr>
            <a:r>
              <a:rPr dirty="0" sz="600" spc="-25">
                <a:latin typeface="Arial MT"/>
                <a:cs typeface="Arial MT"/>
              </a:rPr>
              <a:t>NR</a:t>
            </a:r>
            <a:endParaRPr sz="600">
              <a:latin typeface="Arial MT"/>
              <a:cs typeface="Arial MT"/>
            </a:endParaRPr>
          </a:p>
          <a:p>
            <a:pPr marL="12700" marR="5080">
              <a:lnSpc>
                <a:spcPct val="115999"/>
              </a:lnSpc>
              <a:spcBef>
                <a:spcPts val="45"/>
              </a:spcBef>
            </a:pPr>
            <a:r>
              <a:rPr dirty="0" sz="600" spc="-40">
                <a:latin typeface="Arial MT"/>
                <a:cs typeface="Arial MT"/>
              </a:rPr>
              <a:t>LTE</a:t>
            </a:r>
            <a:r>
              <a:rPr dirty="0" sz="600" spc="10">
                <a:latin typeface="Arial MT"/>
                <a:cs typeface="Arial MT"/>
              </a:rPr>
              <a:t> </a:t>
            </a:r>
            <a:r>
              <a:rPr dirty="0" sz="600" spc="-45">
                <a:latin typeface="Arial MT"/>
                <a:cs typeface="Arial MT"/>
              </a:rPr>
              <a:t>LINK</a:t>
            </a:r>
            <a:r>
              <a:rPr dirty="0" sz="600" spc="500">
                <a:latin typeface="Arial MT"/>
                <a:cs typeface="Arial MT"/>
              </a:rPr>
              <a:t> </a:t>
            </a:r>
            <a:r>
              <a:rPr dirty="0" sz="600" spc="-25">
                <a:latin typeface="Arial MT"/>
                <a:cs typeface="Arial MT"/>
              </a:rPr>
              <a:t>LTE</a:t>
            </a:r>
            <a:endParaRPr sz="600">
              <a:latin typeface="Arial MT"/>
              <a:cs typeface="Arial MT"/>
            </a:endParaRPr>
          </a:p>
        </p:txBody>
      </p:sp>
      <p:grpSp>
        <p:nvGrpSpPr>
          <p:cNvPr id="649" name="object 649" descr=""/>
          <p:cNvGrpSpPr/>
          <p:nvPr/>
        </p:nvGrpSpPr>
        <p:grpSpPr>
          <a:xfrm>
            <a:off x="6238455" y="1492804"/>
            <a:ext cx="226695" cy="88900"/>
            <a:chOff x="6238455" y="1492804"/>
            <a:chExt cx="226695" cy="88900"/>
          </a:xfrm>
        </p:grpSpPr>
        <p:sp>
          <p:nvSpPr>
            <p:cNvPr id="650" name="object 650" descr=""/>
            <p:cNvSpPr/>
            <p:nvPr/>
          </p:nvSpPr>
          <p:spPr>
            <a:xfrm>
              <a:off x="6241380" y="1495730"/>
              <a:ext cx="220979" cy="82550"/>
            </a:xfrm>
            <a:custGeom>
              <a:avLst/>
              <a:gdLst/>
              <a:ahLst/>
              <a:cxnLst/>
              <a:rect l="l" t="t" r="r" b="b"/>
              <a:pathLst>
                <a:path w="220979" h="82550">
                  <a:moveTo>
                    <a:pt x="220723" y="82507"/>
                  </a:moveTo>
                  <a:lnTo>
                    <a:pt x="0" y="82507"/>
                  </a:lnTo>
                  <a:lnTo>
                    <a:pt x="0" y="0"/>
                  </a:lnTo>
                  <a:lnTo>
                    <a:pt x="220723" y="0"/>
                  </a:lnTo>
                  <a:lnTo>
                    <a:pt x="220723" y="82507"/>
                  </a:lnTo>
                  <a:close/>
                </a:path>
              </a:pathLst>
            </a:custGeom>
            <a:solidFill>
              <a:srgbClr val="0000FF"/>
            </a:solidFill>
          </p:spPr>
          <p:txBody>
            <a:bodyPr wrap="square" lIns="0" tIns="0" rIns="0" bIns="0" rtlCol="0"/>
            <a:lstStyle/>
            <a:p/>
          </p:txBody>
        </p:sp>
        <p:sp>
          <p:nvSpPr>
            <p:cNvPr id="651" name="object 651" descr=""/>
            <p:cNvSpPr/>
            <p:nvPr/>
          </p:nvSpPr>
          <p:spPr>
            <a:xfrm>
              <a:off x="6241381" y="1495730"/>
              <a:ext cx="220979" cy="82550"/>
            </a:xfrm>
            <a:custGeom>
              <a:avLst/>
              <a:gdLst/>
              <a:ahLst/>
              <a:cxnLst/>
              <a:rect l="l" t="t" r="r" b="b"/>
              <a:pathLst>
                <a:path w="220979" h="82550">
                  <a:moveTo>
                    <a:pt x="0" y="0"/>
                  </a:moveTo>
                  <a:lnTo>
                    <a:pt x="220723" y="0"/>
                  </a:lnTo>
                  <a:lnTo>
                    <a:pt x="220723" y="82507"/>
                  </a:lnTo>
                  <a:lnTo>
                    <a:pt x="0" y="82507"/>
                  </a:lnTo>
                  <a:lnTo>
                    <a:pt x="0" y="0"/>
                  </a:lnTo>
                  <a:close/>
                </a:path>
              </a:pathLst>
            </a:custGeom>
            <a:ln w="5847">
              <a:solidFill>
                <a:srgbClr val="000000"/>
              </a:solidFill>
            </a:ln>
          </p:spPr>
          <p:txBody>
            <a:bodyPr wrap="square" lIns="0" tIns="0" rIns="0" bIns="0" rtlCol="0"/>
            <a:lstStyle/>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0208" y="124049"/>
            <a:ext cx="3279140" cy="513080"/>
          </a:xfrm>
          <a:prstGeom prst="rect"/>
        </p:spPr>
        <p:txBody>
          <a:bodyPr wrap="square" lIns="0" tIns="12065" rIns="0" bIns="0" rtlCol="0" vert="horz">
            <a:spAutoFit/>
          </a:bodyPr>
          <a:lstStyle/>
          <a:p>
            <a:pPr marL="12700">
              <a:lnSpc>
                <a:spcPct val="100000"/>
              </a:lnSpc>
              <a:spcBef>
                <a:spcPts val="95"/>
              </a:spcBef>
            </a:pPr>
            <a:r>
              <a:rPr dirty="0" spc="-45"/>
              <a:t>无线测试结果分析</a:t>
            </a:r>
          </a:p>
        </p:txBody>
      </p:sp>
      <p:grpSp>
        <p:nvGrpSpPr>
          <p:cNvPr id="3" name="object 3" descr=""/>
          <p:cNvGrpSpPr/>
          <p:nvPr/>
        </p:nvGrpSpPr>
        <p:grpSpPr>
          <a:xfrm>
            <a:off x="137467" y="930899"/>
            <a:ext cx="1915795" cy="349885"/>
            <a:chOff x="137467" y="930899"/>
            <a:chExt cx="1915795" cy="349885"/>
          </a:xfrm>
        </p:grpSpPr>
        <p:sp>
          <p:nvSpPr>
            <p:cNvPr id="4" name="object 4" descr=""/>
            <p:cNvSpPr/>
            <p:nvPr/>
          </p:nvSpPr>
          <p:spPr>
            <a:xfrm>
              <a:off x="150167" y="943599"/>
              <a:ext cx="1890395" cy="324485"/>
            </a:xfrm>
            <a:custGeom>
              <a:avLst/>
              <a:gdLst/>
              <a:ahLst/>
              <a:cxnLst/>
              <a:rect l="l" t="t" r="r" b="b"/>
              <a:pathLst>
                <a:path w="1890395" h="324484">
                  <a:moveTo>
                    <a:pt x="1836204" y="0"/>
                  </a:moveTo>
                  <a:lnTo>
                    <a:pt x="54013" y="0"/>
                  </a:lnTo>
                  <a:lnTo>
                    <a:pt x="32988" y="4244"/>
                  </a:lnTo>
                  <a:lnTo>
                    <a:pt x="15819" y="15819"/>
                  </a:lnTo>
                  <a:lnTo>
                    <a:pt x="4244" y="32988"/>
                  </a:lnTo>
                  <a:lnTo>
                    <a:pt x="0" y="54013"/>
                  </a:lnTo>
                  <a:lnTo>
                    <a:pt x="0" y="270040"/>
                  </a:lnTo>
                  <a:lnTo>
                    <a:pt x="4244" y="291057"/>
                  </a:lnTo>
                  <a:lnTo>
                    <a:pt x="15819" y="308222"/>
                  </a:lnTo>
                  <a:lnTo>
                    <a:pt x="32988" y="319796"/>
                  </a:lnTo>
                  <a:lnTo>
                    <a:pt x="54013" y="324040"/>
                  </a:lnTo>
                  <a:lnTo>
                    <a:pt x="1836204" y="324040"/>
                  </a:lnTo>
                  <a:lnTo>
                    <a:pt x="1857227" y="319796"/>
                  </a:lnTo>
                  <a:lnTo>
                    <a:pt x="1874391" y="308222"/>
                  </a:lnTo>
                  <a:lnTo>
                    <a:pt x="1885962" y="291057"/>
                  </a:lnTo>
                  <a:lnTo>
                    <a:pt x="1890204" y="270040"/>
                  </a:lnTo>
                  <a:lnTo>
                    <a:pt x="1890204" y="54013"/>
                  </a:lnTo>
                  <a:lnTo>
                    <a:pt x="1885962" y="32988"/>
                  </a:lnTo>
                  <a:lnTo>
                    <a:pt x="1874391" y="15819"/>
                  </a:lnTo>
                  <a:lnTo>
                    <a:pt x="1857227" y="4244"/>
                  </a:lnTo>
                  <a:lnTo>
                    <a:pt x="1836204" y="0"/>
                  </a:lnTo>
                  <a:close/>
                </a:path>
              </a:pathLst>
            </a:custGeom>
            <a:solidFill>
              <a:srgbClr val="00CC00"/>
            </a:solidFill>
          </p:spPr>
          <p:txBody>
            <a:bodyPr wrap="square" lIns="0" tIns="0" rIns="0" bIns="0" rtlCol="0"/>
            <a:lstStyle/>
            <a:p/>
          </p:txBody>
        </p:sp>
        <p:sp>
          <p:nvSpPr>
            <p:cNvPr id="5" name="object 5" descr=""/>
            <p:cNvSpPr/>
            <p:nvPr/>
          </p:nvSpPr>
          <p:spPr>
            <a:xfrm>
              <a:off x="150167" y="943599"/>
              <a:ext cx="1890395" cy="324485"/>
            </a:xfrm>
            <a:custGeom>
              <a:avLst/>
              <a:gdLst/>
              <a:ahLst/>
              <a:cxnLst/>
              <a:rect l="l" t="t" r="r" b="b"/>
              <a:pathLst>
                <a:path w="1890395" h="324484">
                  <a:moveTo>
                    <a:pt x="0" y="54013"/>
                  </a:moveTo>
                  <a:lnTo>
                    <a:pt x="4244" y="32988"/>
                  </a:lnTo>
                  <a:lnTo>
                    <a:pt x="15819" y="15819"/>
                  </a:lnTo>
                  <a:lnTo>
                    <a:pt x="32988" y="4244"/>
                  </a:lnTo>
                  <a:lnTo>
                    <a:pt x="54013" y="0"/>
                  </a:lnTo>
                  <a:lnTo>
                    <a:pt x="1836204" y="0"/>
                  </a:lnTo>
                  <a:lnTo>
                    <a:pt x="1857227" y="4244"/>
                  </a:lnTo>
                  <a:lnTo>
                    <a:pt x="1874391" y="15819"/>
                  </a:lnTo>
                  <a:lnTo>
                    <a:pt x="1885962" y="32988"/>
                  </a:lnTo>
                  <a:lnTo>
                    <a:pt x="1890204" y="54013"/>
                  </a:lnTo>
                  <a:lnTo>
                    <a:pt x="1890204" y="270040"/>
                  </a:lnTo>
                  <a:lnTo>
                    <a:pt x="1885962" y="291057"/>
                  </a:lnTo>
                  <a:lnTo>
                    <a:pt x="1874391" y="308222"/>
                  </a:lnTo>
                  <a:lnTo>
                    <a:pt x="1857227" y="319796"/>
                  </a:lnTo>
                  <a:lnTo>
                    <a:pt x="1836204" y="324040"/>
                  </a:lnTo>
                  <a:lnTo>
                    <a:pt x="54013" y="324040"/>
                  </a:lnTo>
                  <a:lnTo>
                    <a:pt x="32988" y="319796"/>
                  </a:lnTo>
                  <a:lnTo>
                    <a:pt x="15819" y="308222"/>
                  </a:lnTo>
                  <a:lnTo>
                    <a:pt x="4244" y="291057"/>
                  </a:lnTo>
                  <a:lnTo>
                    <a:pt x="0" y="270040"/>
                  </a:lnTo>
                  <a:lnTo>
                    <a:pt x="0" y="54013"/>
                  </a:lnTo>
                  <a:close/>
                </a:path>
              </a:pathLst>
            </a:custGeom>
            <a:ln w="25400">
              <a:solidFill>
                <a:srgbClr val="89A4A7"/>
              </a:solidFill>
            </a:ln>
          </p:spPr>
          <p:txBody>
            <a:bodyPr wrap="square" lIns="0" tIns="0" rIns="0" bIns="0" rtlCol="0"/>
            <a:lstStyle/>
            <a:p/>
          </p:txBody>
        </p:sp>
      </p:grpSp>
      <p:sp>
        <p:nvSpPr>
          <p:cNvPr id="6" name="object 6" descr=""/>
          <p:cNvSpPr txBox="1"/>
          <p:nvPr/>
        </p:nvSpPr>
        <p:spPr>
          <a:xfrm>
            <a:off x="727353" y="983195"/>
            <a:ext cx="735965" cy="238760"/>
          </a:xfrm>
          <a:prstGeom prst="rect">
            <a:avLst/>
          </a:prstGeom>
        </p:spPr>
        <p:txBody>
          <a:bodyPr wrap="square" lIns="0" tIns="12065" rIns="0" bIns="0" rtlCol="0" vert="horz">
            <a:spAutoFit/>
          </a:bodyPr>
          <a:lstStyle/>
          <a:p>
            <a:pPr marL="12700">
              <a:lnSpc>
                <a:spcPct val="100000"/>
              </a:lnSpc>
              <a:spcBef>
                <a:spcPts val="95"/>
              </a:spcBef>
            </a:pPr>
            <a:r>
              <a:rPr dirty="0" sz="1400" spc="-30">
                <a:solidFill>
                  <a:srgbClr val="FFFFFF"/>
                </a:solidFill>
                <a:latin typeface="SimSun"/>
                <a:cs typeface="SimSun"/>
              </a:rPr>
              <a:t>外场定点</a:t>
            </a:r>
            <a:endParaRPr sz="1400">
              <a:latin typeface="SimSun"/>
              <a:cs typeface="SimSun"/>
            </a:endParaRPr>
          </a:p>
        </p:txBody>
      </p:sp>
      <p:sp>
        <p:nvSpPr>
          <p:cNvPr id="7" name="object 7" descr=""/>
          <p:cNvSpPr txBox="1"/>
          <p:nvPr/>
        </p:nvSpPr>
        <p:spPr>
          <a:xfrm>
            <a:off x="150164" y="1321650"/>
            <a:ext cx="3780790" cy="438784"/>
          </a:xfrm>
          <a:prstGeom prst="rect">
            <a:avLst/>
          </a:prstGeom>
          <a:ln w="9525">
            <a:solidFill>
              <a:srgbClr val="FF0000"/>
            </a:solidFill>
          </a:ln>
        </p:spPr>
        <p:txBody>
          <a:bodyPr wrap="square" lIns="0" tIns="31750" rIns="0" bIns="0" rtlCol="0" vert="horz">
            <a:spAutoFit/>
          </a:bodyPr>
          <a:lstStyle/>
          <a:p>
            <a:pPr marL="283210" marR="161290" indent="-215265">
              <a:lnSpc>
                <a:spcPct val="100000"/>
              </a:lnSpc>
              <a:spcBef>
                <a:spcPts val="250"/>
              </a:spcBef>
              <a:buFont typeface="Arial MT"/>
              <a:buChar char="•"/>
              <a:tabLst>
                <a:tab pos="283210" algn="l"/>
              </a:tabLst>
            </a:pPr>
            <a:r>
              <a:rPr dirty="0" sz="1200">
                <a:latin typeface="SimSun"/>
                <a:cs typeface="SimSun"/>
              </a:rPr>
              <a:t>外场定点环境下，极好点</a:t>
            </a:r>
            <a:r>
              <a:rPr dirty="0" sz="1200" spc="-10">
                <a:latin typeface="Arial MT"/>
                <a:cs typeface="Arial MT"/>
              </a:rPr>
              <a:t>/</a:t>
            </a:r>
            <a:r>
              <a:rPr dirty="0" sz="1200">
                <a:latin typeface="SimSun"/>
                <a:cs typeface="SimSun"/>
              </a:rPr>
              <a:t>好点可以出现上行</a:t>
            </a:r>
            <a:r>
              <a:rPr dirty="0" sz="1200" spc="-10">
                <a:latin typeface="Arial MT"/>
                <a:cs typeface="Arial MT"/>
              </a:rPr>
              <a:t>2</a:t>
            </a:r>
            <a:r>
              <a:rPr dirty="0" sz="1200" spc="-25">
                <a:latin typeface="SimSun"/>
                <a:cs typeface="SimSun"/>
              </a:rPr>
              <a:t>流下</a:t>
            </a:r>
            <a:r>
              <a:rPr dirty="0" sz="1200">
                <a:latin typeface="SimSun"/>
                <a:cs typeface="SimSun"/>
              </a:rPr>
              <a:t>行</a:t>
            </a:r>
            <a:r>
              <a:rPr dirty="0" sz="1200" spc="-10">
                <a:latin typeface="Arial MT"/>
                <a:cs typeface="Arial MT"/>
              </a:rPr>
              <a:t>4</a:t>
            </a:r>
            <a:r>
              <a:rPr dirty="0" sz="1200">
                <a:latin typeface="SimSun"/>
                <a:cs typeface="SimSun"/>
              </a:rPr>
              <a:t>流，且</a:t>
            </a:r>
            <a:r>
              <a:rPr dirty="0" sz="1200">
                <a:solidFill>
                  <a:srgbClr val="FF0000"/>
                </a:solidFill>
                <a:latin typeface="SimSun"/>
                <a:cs typeface="SimSun"/>
              </a:rPr>
              <a:t>速率接近理论峰速</a:t>
            </a:r>
            <a:r>
              <a:rPr dirty="0" sz="1200" spc="-50">
                <a:latin typeface="SimSun"/>
                <a:cs typeface="SimSun"/>
              </a:rPr>
              <a:t>。</a:t>
            </a:r>
            <a:endParaRPr sz="1200">
              <a:latin typeface="SimSun"/>
              <a:cs typeface="SimSun"/>
            </a:endParaRPr>
          </a:p>
        </p:txBody>
      </p:sp>
      <p:grpSp>
        <p:nvGrpSpPr>
          <p:cNvPr id="8" name="object 8" descr=""/>
          <p:cNvGrpSpPr/>
          <p:nvPr/>
        </p:nvGrpSpPr>
        <p:grpSpPr>
          <a:xfrm>
            <a:off x="137467" y="1849001"/>
            <a:ext cx="1915795" cy="349885"/>
            <a:chOff x="137467" y="1849001"/>
            <a:chExt cx="1915795" cy="349885"/>
          </a:xfrm>
        </p:grpSpPr>
        <p:sp>
          <p:nvSpPr>
            <p:cNvPr id="9" name="object 9" descr=""/>
            <p:cNvSpPr/>
            <p:nvPr/>
          </p:nvSpPr>
          <p:spPr>
            <a:xfrm>
              <a:off x="150167" y="1861701"/>
              <a:ext cx="1890395" cy="324485"/>
            </a:xfrm>
            <a:custGeom>
              <a:avLst/>
              <a:gdLst/>
              <a:ahLst/>
              <a:cxnLst/>
              <a:rect l="l" t="t" r="r" b="b"/>
              <a:pathLst>
                <a:path w="1890395" h="324485">
                  <a:moveTo>
                    <a:pt x="1836204" y="0"/>
                  </a:moveTo>
                  <a:lnTo>
                    <a:pt x="54013" y="0"/>
                  </a:lnTo>
                  <a:lnTo>
                    <a:pt x="32988" y="4244"/>
                  </a:lnTo>
                  <a:lnTo>
                    <a:pt x="15819" y="15819"/>
                  </a:lnTo>
                  <a:lnTo>
                    <a:pt x="4244" y="32988"/>
                  </a:lnTo>
                  <a:lnTo>
                    <a:pt x="0" y="54013"/>
                  </a:lnTo>
                  <a:lnTo>
                    <a:pt x="0" y="270040"/>
                  </a:lnTo>
                  <a:lnTo>
                    <a:pt x="4244" y="291057"/>
                  </a:lnTo>
                  <a:lnTo>
                    <a:pt x="15819" y="308222"/>
                  </a:lnTo>
                  <a:lnTo>
                    <a:pt x="32988" y="319796"/>
                  </a:lnTo>
                  <a:lnTo>
                    <a:pt x="54013" y="324040"/>
                  </a:lnTo>
                  <a:lnTo>
                    <a:pt x="1836204" y="324040"/>
                  </a:lnTo>
                  <a:lnTo>
                    <a:pt x="1857227" y="319796"/>
                  </a:lnTo>
                  <a:lnTo>
                    <a:pt x="1874391" y="308222"/>
                  </a:lnTo>
                  <a:lnTo>
                    <a:pt x="1885962" y="291057"/>
                  </a:lnTo>
                  <a:lnTo>
                    <a:pt x="1890204" y="270040"/>
                  </a:lnTo>
                  <a:lnTo>
                    <a:pt x="1890204" y="54013"/>
                  </a:lnTo>
                  <a:lnTo>
                    <a:pt x="1885962" y="32988"/>
                  </a:lnTo>
                  <a:lnTo>
                    <a:pt x="1874391" y="15819"/>
                  </a:lnTo>
                  <a:lnTo>
                    <a:pt x="1857227" y="4244"/>
                  </a:lnTo>
                  <a:lnTo>
                    <a:pt x="1836204" y="0"/>
                  </a:lnTo>
                  <a:close/>
                </a:path>
              </a:pathLst>
            </a:custGeom>
            <a:solidFill>
              <a:srgbClr val="00CC00"/>
            </a:solidFill>
          </p:spPr>
          <p:txBody>
            <a:bodyPr wrap="square" lIns="0" tIns="0" rIns="0" bIns="0" rtlCol="0"/>
            <a:lstStyle/>
            <a:p/>
          </p:txBody>
        </p:sp>
        <p:sp>
          <p:nvSpPr>
            <p:cNvPr id="10" name="object 10" descr=""/>
            <p:cNvSpPr/>
            <p:nvPr/>
          </p:nvSpPr>
          <p:spPr>
            <a:xfrm>
              <a:off x="150167" y="1861701"/>
              <a:ext cx="1890395" cy="324485"/>
            </a:xfrm>
            <a:custGeom>
              <a:avLst/>
              <a:gdLst/>
              <a:ahLst/>
              <a:cxnLst/>
              <a:rect l="l" t="t" r="r" b="b"/>
              <a:pathLst>
                <a:path w="1890395" h="324485">
                  <a:moveTo>
                    <a:pt x="0" y="54013"/>
                  </a:moveTo>
                  <a:lnTo>
                    <a:pt x="4244" y="32988"/>
                  </a:lnTo>
                  <a:lnTo>
                    <a:pt x="15819" y="15819"/>
                  </a:lnTo>
                  <a:lnTo>
                    <a:pt x="32988" y="4244"/>
                  </a:lnTo>
                  <a:lnTo>
                    <a:pt x="54013" y="0"/>
                  </a:lnTo>
                  <a:lnTo>
                    <a:pt x="1836204" y="0"/>
                  </a:lnTo>
                  <a:lnTo>
                    <a:pt x="1857227" y="4244"/>
                  </a:lnTo>
                  <a:lnTo>
                    <a:pt x="1874391" y="15819"/>
                  </a:lnTo>
                  <a:lnTo>
                    <a:pt x="1885962" y="32988"/>
                  </a:lnTo>
                  <a:lnTo>
                    <a:pt x="1890204" y="54013"/>
                  </a:lnTo>
                  <a:lnTo>
                    <a:pt x="1890204" y="270040"/>
                  </a:lnTo>
                  <a:lnTo>
                    <a:pt x="1885962" y="291057"/>
                  </a:lnTo>
                  <a:lnTo>
                    <a:pt x="1874391" y="308222"/>
                  </a:lnTo>
                  <a:lnTo>
                    <a:pt x="1857227" y="319796"/>
                  </a:lnTo>
                  <a:lnTo>
                    <a:pt x="1836204" y="324040"/>
                  </a:lnTo>
                  <a:lnTo>
                    <a:pt x="54013" y="324040"/>
                  </a:lnTo>
                  <a:lnTo>
                    <a:pt x="32988" y="319796"/>
                  </a:lnTo>
                  <a:lnTo>
                    <a:pt x="15819" y="308222"/>
                  </a:lnTo>
                  <a:lnTo>
                    <a:pt x="4244" y="291057"/>
                  </a:lnTo>
                  <a:lnTo>
                    <a:pt x="0" y="270040"/>
                  </a:lnTo>
                  <a:lnTo>
                    <a:pt x="0" y="54013"/>
                  </a:lnTo>
                  <a:close/>
                </a:path>
              </a:pathLst>
            </a:custGeom>
            <a:ln w="25400">
              <a:solidFill>
                <a:srgbClr val="89A4A7"/>
              </a:solidFill>
            </a:ln>
          </p:spPr>
          <p:txBody>
            <a:bodyPr wrap="square" lIns="0" tIns="0" rIns="0" bIns="0" rtlCol="0"/>
            <a:lstStyle/>
            <a:p/>
          </p:txBody>
        </p:sp>
      </p:grpSp>
      <p:sp>
        <p:nvSpPr>
          <p:cNvPr id="11" name="object 11" descr=""/>
          <p:cNvSpPr txBox="1"/>
          <p:nvPr/>
        </p:nvSpPr>
        <p:spPr>
          <a:xfrm>
            <a:off x="549807" y="1901298"/>
            <a:ext cx="1090930" cy="238760"/>
          </a:xfrm>
          <a:prstGeom prst="rect">
            <a:avLst/>
          </a:prstGeom>
        </p:spPr>
        <p:txBody>
          <a:bodyPr wrap="square" lIns="0" tIns="12065" rIns="0" bIns="0" rtlCol="0" vert="horz">
            <a:spAutoFit/>
          </a:bodyPr>
          <a:lstStyle/>
          <a:p>
            <a:pPr marL="12700">
              <a:lnSpc>
                <a:spcPct val="100000"/>
              </a:lnSpc>
              <a:spcBef>
                <a:spcPts val="95"/>
              </a:spcBef>
            </a:pPr>
            <a:r>
              <a:rPr dirty="0" sz="1400" spc="-25">
                <a:solidFill>
                  <a:srgbClr val="FFFFFF"/>
                </a:solidFill>
                <a:latin typeface="SimSun"/>
                <a:cs typeface="SimSun"/>
              </a:rPr>
              <a:t>室外覆盖室内</a:t>
            </a:r>
            <a:endParaRPr sz="1400">
              <a:latin typeface="SimSun"/>
              <a:cs typeface="SimSun"/>
            </a:endParaRPr>
          </a:p>
        </p:txBody>
      </p:sp>
      <p:sp>
        <p:nvSpPr>
          <p:cNvPr id="12" name="object 12" descr=""/>
          <p:cNvSpPr/>
          <p:nvPr/>
        </p:nvSpPr>
        <p:spPr>
          <a:xfrm>
            <a:off x="150164" y="2225751"/>
            <a:ext cx="3780790" cy="2285365"/>
          </a:xfrm>
          <a:custGeom>
            <a:avLst/>
            <a:gdLst/>
            <a:ahLst/>
            <a:cxnLst/>
            <a:rect l="l" t="t" r="r" b="b"/>
            <a:pathLst>
              <a:path w="3780790" h="2285365">
                <a:moveTo>
                  <a:pt x="0" y="0"/>
                </a:moveTo>
                <a:lnTo>
                  <a:pt x="3780421" y="0"/>
                </a:lnTo>
                <a:lnTo>
                  <a:pt x="3780421" y="2285238"/>
                </a:lnTo>
                <a:lnTo>
                  <a:pt x="0" y="2285238"/>
                </a:lnTo>
                <a:lnTo>
                  <a:pt x="0" y="0"/>
                </a:lnTo>
                <a:close/>
              </a:path>
            </a:pathLst>
          </a:custGeom>
          <a:ln w="9525">
            <a:solidFill>
              <a:srgbClr val="FF0000"/>
            </a:solidFill>
            <a:prstDash val="sysDash"/>
          </a:ln>
        </p:spPr>
        <p:txBody>
          <a:bodyPr wrap="square" lIns="0" tIns="0" rIns="0" bIns="0" rtlCol="0"/>
          <a:lstStyle/>
          <a:p/>
        </p:txBody>
      </p:sp>
      <p:sp>
        <p:nvSpPr>
          <p:cNvPr id="13" name="object 13" descr=""/>
          <p:cNvSpPr txBox="1"/>
          <p:nvPr/>
        </p:nvSpPr>
        <p:spPr>
          <a:xfrm>
            <a:off x="206047" y="2209243"/>
            <a:ext cx="3620770" cy="1397000"/>
          </a:xfrm>
          <a:prstGeom prst="rect">
            <a:avLst/>
          </a:prstGeom>
        </p:spPr>
        <p:txBody>
          <a:bodyPr wrap="square" lIns="0" tIns="12700" rIns="0" bIns="0" rtlCol="0" vert="horz">
            <a:spAutoFit/>
          </a:bodyPr>
          <a:lstStyle/>
          <a:p>
            <a:pPr algn="just" marL="227329" marR="32384" indent="-215265">
              <a:lnSpc>
                <a:spcPct val="150000"/>
              </a:lnSpc>
              <a:spcBef>
                <a:spcPts val="100"/>
              </a:spcBef>
              <a:buFont typeface="Arial MT"/>
              <a:buChar char="•"/>
              <a:tabLst>
                <a:tab pos="227329" algn="l"/>
                <a:tab pos="228600" algn="l"/>
              </a:tabLst>
            </a:pPr>
            <a:r>
              <a:rPr dirty="0" sz="1200">
                <a:latin typeface="SimSun"/>
                <a:cs typeface="SimSun"/>
              </a:rPr>
              <a:t>	</a:t>
            </a:r>
            <a:r>
              <a:rPr dirty="0" sz="1200" spc="-5">
                <a:latin typeface="SimSun"/>
                <a:cs typeface="SimSun"/>
              </a:rPr>
              <a:t>立体窄波束对楼宇的覆盖相比宽波束优势明显，建</a:t>
            </a:r>
            <a:r>
              <a:rPr dirty="0" sz="1200">
                <a:latin typeface="SimSun"/>
                <a:cs typeface="SimSun"/>
              </a:rPr>
              <a:t>议针对高层楼宇采用</a:t>
            </a:r>
            <a:r>
              <a:rPr dirty="0" sz="1200" spc="-10">
                <a:latin typeface="Arial MT"/>
                <a:cs typeface="Arial MT"/>
              </a:rPr>
              <a:t>4+m</a:t>
            </a:r>
            <a:r>
              <a:rPr dirty="0" sz="1200" spc="-5">
                <a:latin typeface="SimSun"/>
                <a:cs typeface="SimSun"/>
              </a:rPr>
              <a:t>方式覆盖，</a:t>
            </a:r>
            <a:r>
              <a:rPr dirty="0" sz="1200" spc="-10">
                <a:latin typeface="Arial MT"/>
                <a:cs typeface="Arial MT"/>
              </a:rPr>
              <a:t>m</a:t>
            </a:r>
            <a:r>
              <a:rPr dirty="0" sz="1200" spc="-10">
                <a:latin typeface="SimSun"/>
                <a:cs typeface="SimSun"/>
              </a:rPr>
              <a:t>取值可进一步测试确定；</a:t>
            </a:r>
            <a:endParaRPr sz="1200">
              <a:latin typeface="SimSun"/>
              <a:cs typeface="SimSun"/>
            </a:endParaRPr>
          </a:p>
          <a:p>
            <a:pPr algn="just" marL="229235" indent="-216535">
              <a:lnSpc>
                <a:spcPct val="100000"/>
              </a:lnSpc>
              <a:spcBef>
                <a:spcPts val="720"/>
              </a:spcBef>
              <a:buFont typeface="Arial MT"/>
              <a:buChar char="•"/>
              <a:tabLst>
                <a:tab pos="229235" algn="l"/>
              </a:tabLst>
            </a:pPr>
            <a:r>
              <a:rPr dirty="0" sz="1200" spc="-10" b="1">
                <a:solidFill>
                  <a:srgbClr val="FF0000"/>
                </a:solidFill>
                <a:latin typeface="Arial"/>
                <a:cs typeface="Arial"/>
              </a:rPr>
              <a:t>3.5G</a:t>
            </a:r>
            <a:r>
              <a:rPr dirty="0" sz="1200">
                <a:solidFill>
                  <a:srgbClr val="FF0000"/>
                </a:solidFill>
                <a:latin typeface="SimSun"/>
                <a:cs typeface="SimSun"/>
              </a:rPr>
              <a:t>可以满足室内浅层覆盖需求</a:t>
            </a:r>
            <a:r>
              <a:rPr dirty="0" sz="1200" spc="-10">
                <a:latin typeface="SimSun"/>
                <a:cs typeface="SimSun"/>
              </a:rPr>
              <a:t>，由浅层到深层，</a:t>
            </a:r>
            <a:endParaRPr sz="1200">
              <a:latin typeface="SimSun"/>
              <a:cs typeface="SimSun"/>
            </a:endParaRPr>
          </a:p>
          <a:p>
            <a:pPr marL="227329">
              <a:lnSpc>
                <a:spcPct val="100000"/>
              </a:lnSpc>
              <a:spcBef>
                <a:spcPts val="720"/>
              </a:spcBef>
            </a:pPr>
            <a:r>
              <a:rPr dirty="0" sz="1200" spc="-10">
                <a:latin typeface="Arial MT"/>
                <a:cs typeface="Arial MT"/>
              </a:rPr>
              <a:t>3.5G</a:t>
            </a:r>
            <a:r>
              <a:rPr dirty="0" sz="1200">
                <a:latin typeface="SimSun"/>
                <a:cs typeface="SimSun"/>
              </a:rPr>
              <a:t>信号相比</a:t>
            </a:r>
            <a:r>
              <a:rPr dirty="0" sz="1200" spc="-10">
                <a:latin typeface="Arial MT"/>
                <a:cs typeface="Arial MT"/>
              </a:rPr>
              <a:t>900M/1.8G</a:t>
            </a:r>
            <a:r>
              <a:rPr dirty="0" sz="1200" spc="-5">
                <a:latin typeface="SimSun"/>
                <a:cs typeface="SimSun"/>
              </a:rPr>
              <a:t>信号，下降趋势明显；</a:t>
            </a:r>
            <a:endParaRPr sz="1200">
              <a:latin typeface="SimSun"/>
              <a:cs typeface="SimSun"/>
            </a:endParaRPr>
          </a:p>
        </p:txBody>
      </p:sp>
      <p:sp>
        <p:nvSpPr>
          <p:cNvPr id="14" name="object 14" descr=""/>
          <p:cNvSpPr txBox="1"/>
          <p:nvPr/>
        </p:nvSpPr>
        <p:spPr>
          <a:xfrm>
            <a:off x="206047" y="3672283"/>
            <a:ext cx="3761104" cy="208279"/>
          </a:xfrm>
          <a:prstGeom prst="rect">
            <a:avLst/>
          </a:prstGeom>
        </p:spPr>
        <p:txBody>
          <a:bodyPr wrap="square" lIns="0" tIns="12700" rIns="0" bIns="0" rtlCol="0" vert="horz">
            <a:spAutoFit/>
          </a:bodyPr>
          <a:lstStyle/>
          <a:p>
            <a:pPr marL="227329" indent="-214629">
              <a:lnSpc>
                <a:spcPct val="100000"/>
              </a:lnSpc>
              <a:spcBef>
                <a:spcPts val="100"/>
              </a:spcBef>
              <a:buChar char="•"/>
              <a:tabLst>
                <a:tab pos="227329" algn="l"/>
              </a:tabLst>
            </a:pPr>
            <a:r>
              <a:rPr dirty="0" sz="1200" spc="-10">
                <a:latin typeface="Arial MT"/>
                <a:cs typeface="Arial MT"/>
              </a:rPr>
              <a:t>3.5G</a:t>
            </a:r>
            <a:r>
              <a:rPr dirty="0" sz="1200" spc="-5">
                <a:latin typeface="SimSun"/>
                <a:cs typeface="SimSun"/>
              </a:rPr>
              <a:t>信号相比</a:t>
            </a:r>
            <a:r>
              <a:rPr dirty="0" sz="1200" spc="-10">
                <a:latin typeface="Arial MT"/>
                <a:cs typeface="Arial MT"/>
              </a:rPr>
              <a:t>900M/1.8G</a:t>
            </a:r>
            <a:r>
              <a:rPr dirty="0" sz="1200" spc="-10">
                <a:latin typeface="SimSun"/>
                <a:cs typeface="SimSun"/>
              </a:rPr>
              <a:t>信号，下行速率优势明显，</a:t>
            </a:r>
            <a:endParaRPr sz="1200">
              <a:latin typeface="SimSun"/>
              <a:cs typeface="SimSun"/>
            </a:endParaRPr>
          </a:p>
        </p:txBody>
      </p:sp>
      <p:sp>
        <p:nvSpPr>
          <p:cNvPr id="15" name="object 15" descr=""/>
          <p:cNvSpPr txBox="1"/>
          <p:nvPr/>
        </p:nvSpPr>
        <p:spPr>
          <a:xfrm>
            <a:off x="420931" y="3855163"/>
            <a:ext cx="3342640" cy="574040"/>
          </a:xfrm>
          <a:prstGeom prst="rect">
            <a:avLst/>
          </a:prstGeom>
        </p:spPr>
        <p:txBody>
          <a:bodyPr wrap="square" lIns="0" tIns="12700" rIns="0" bIns="0" rtlCol="0" vert="horz">
            <a:spAutoFit/>
          </a:bodyPr>
          <a:lstStyle/>
          <a:p>
            <a:pPr marL="12700" marR="5080">
              <a:lnSpc>
                <a:spcPct val="150000"/>
              </a:lnSpc>
              <a:spcBef>
                <a:spcPts val="100"/>
              </a:spcBef>
            </a:pPr>
            <a:r>
              <a:rPr dirty="0" sz="1200">
                <a:latin typeface="SimSun"/>
                <a:cs typeface="SimSun"/>
              </a:rPr>
              <a:t>上行速率浅层优势明显，深层明显弱于</a:t>
            </a:r>
            <a:r>
              <a:rPr dirty="0" sz="1200" spc="-35">
                <a:latin typeface="Arial MT"/>
                <a:cs typeface="Arial MT"/>
              </a:rPr>
              <a:t>LTE</a:t>
            </a:r>
            <a:r>
              <a:rPr dirty="0" sz="1200" spc="-35">
                <a:latin typeface="SimSun"/>
                <a:cs typeface="SimSun"/>
              </a:rPr>
              <a:t>，</a:t>
            </a:r>
            <a:r>
              <a:rPr dirty="0" sz="1200" spc="-25">
                <a:solidFill>
                  <a:srgbClr val="FF0000"/>
                </a:solidFill>
                <a:latin typeface="SimSun"/>
                <a:cs typeface="SimSun"/>
              </a:rPr>
              <a:t>建议</a:t>
            </a:r>
            <a:r>
              <a:rPr dirty="0" sz="1200">
                <a:solidFill>
                  <a:srgbClr val="FF0000"/>
                </a:solidFill>
                <a:latin typeface="SimSun"/>
                <a:cs typeface="SimSun"/>
              </a:rPr>
              <a:t>采用数字室分系统实现室内深度覆盖</a:t>
            </a:r>
            <a:r>
              <a:rPr dirty="0" sz="1200" spc="-50">
                <a:latin typeface="SimSun"/>
                <a:cs typeface="SimSun"/>
              </a:rPr>
              <a:t>。</a:t>
            </a:r>
            <a:endParaRPr sz="1200">
              <a:latin typeface="SimSun"/>
              <a:cs typeface="SimSun"/>
            </a:endParaRPr>
          </a:p>
        </p:txBody>
      </p:sp>
      <p:grpSp>
        <p:nvGrpSpPr>
          <p:cNvPr id="16" name="object 16" descr=""/>
          <p:cNvGrpSpPr/>
          <p:nvPr/>
        </p:nvGrpSpPr>
        <p:grpSpPr>
          <a:xfrm>
            <a:off x="4025900" y="930899"/>
            <a:ext cx="1915795" cy="349885"/>
            <a:chOff x="4025900" y="930899"/>
            <a:chExt cx="1915795" cy="349885"/>
          </a:xfrm>
        </p:grpSpPr>
        <p:sp>
          <p:nvSpPr>
            <p:cNvPr id="17" name="object 17" descr=""/>
            <p:cNvSpPr/>
            <p:nvPr/>
          </p:nvSpPr>
          <p:spPr>
            <a:xfrm>
              <a:off x="4038600" y="943599"/>
              <a:ext cx="1890395" cy="324485"/>
            </a:xfrm>
            <a:custGeom>
              <a:avLst/>
              <a:gdLst/>
              <a:ahLst/>
              <a:cxnLst/>
              <a:rect l="l" t="t" r="r" b="b"/>
              <a:pathLst>
                <a:path w="1890395" h="324484">
                  <a:moveTo>
                    <a:pt x="1836204" y="0"/>
                  </a:moveTo>
                  <a:lnTo>
                    <a:pt x="54013" y="0"/>
                  </a:lnTo>
                  <a:lnTo>
                    <a:pt x="32988" y="4244"/>
                  </a:lnTo>
                  <a:lnTo>
                    <a:pt x="15819" y="15819"/>
                  </a:lnTo>
                  <a:lnTo>
                    <a:pt x="4244" y="32988"/>
                  </a:lnTo>
                  <a:lnTo>
                    <a:pt x="0" y="54013"/>
                  </a:lnTo>
                  <a:lnTo>
                    <a:pt x="0" y="270040"/>
                  </a:lnTo>
                  <a:lnTo>
                    <a:pt x="4244" y="291057"/>
                  </a:lnTo>
                  <a:lnTo>
                    <a:pt x="15819" y="308222"/>
                  </a:lnTo>
                  <a:lnTo>
                    <a:pt x="32988" y="319796"/>
                  </a:lnTo>
                  <a:lnTo>
                    <a:pt x="54013" y="324040"/>
                  </a:lnTo>
                  <a:lnTo>
                    <a:pt x="1836204" y="324040"/>
                  </a:lnTo>
                  <a:lnTo>
                    <a:pt x="1857221" y="319796"/>
                  </a:lnTo>
                  <a:lnTo>
                    <a:pt x="1874386" y="308222"/>
                  </a:lnTo>
                  <a:lnTo>
                    <a:pt x="1885960" y="291057"/>
                  </a:lnTo>
                  <a:lnTo>
                    <a:pt x="1890204" y="270040"/>
                  </a:lnTo>
                  <a:lnTo>
                    <a:pt x="1890204" y="54013"/>
                  </a:lnTo>
                  <a:lnTo>
                    <a:pt x="1885960" y="32988"/>
                  </a:lnTo>
                  <a:lnTo>
                    <a:pt x="1874386" y="15819"/>
                  </a:lnTo>
                  <a:lnTo>
                    <a:pt x="1857221" y="4244"/>
                  </a:lnTo>
                  <a:lnTo>
                    <a:pt x="1836204" y="0"/>
                  </a:lnTo>
                  <a:close/>
                </a:path>
              </a:pathLst>
            </a:custGeom>
            <a:solidFill>
              <a:srgbClr val="00CC00"/>
            </a:solidFill>
          </p:spPr>
          <p:txBody>
            <a:bodyPr wrap="square" lIns="0" tIns="0" rIns="0" bIns="0" rtlCol="0"/>
            <a:lstStyle/>
            <a:p/>
          </p:txBody>
        </p:sp>
        <p:sp>
          <p:nvSpPr>
            <p:cNvPr id="18" name="object 18" descr=""/>
            <p:cNvSpPr/>
            <p:nvPr/>
          </p:nvSpPr>
          <p:spPr>
            <a:xfrm>
              <a:off x="4038600" y="943599"/>
              <a:ext cx="1890395" cy="324485"/>
            </a:xfrm>
            <a:custGeom>
              <a:avLst/>
              <a:gdLst/>
              <a:ahLst/>
              <a:cxnLst/>
              <a:rect l="l" t="t" r="r" b="b"/>
              <a:pathLst>
                <a:path w="1890395" h="324484">
                  <a:moveTo>
                    <a:pt x="0" y="54013"/>
                  </a:moveTo>
                  <a:lnTo>
                    <a:pt x="4244" y="32988"/>
                  </a:lnTo>
                  <a:lnTo>
                    <a:pt x="15819" y="15819"/>
                  </a:lnTo>
                  <a:lnTo>
                    <a:pt x="32988" y="4244"/>
                  </a:lnTo>
                  <a:lnTo>
                    <a:pt x="54013" y="0"/>
                  </a:lnTo>
                  <a:lnTo>
                    <a:pt x="1836204" y="0"/>
                  </a:lnTo>
                  <a:lnTo>
                    <a:pt x="1857221" y="4244"/>
                  </a:lnTo>
                  <a:lnTo>
                    <a:pt x="1874386" y="15819"/>
                  </a:lnTo>
                  <a:lnTo>
                    <a:pt x="1885960" y="32988"/>
                  </a:lnTo>
                  <a:lnTo>
                    <a:pt x="1890204" y="54013"/>
                  </a:lnTo>
                  <a:lnTo>
                    <a:pt x="1890204" y="270040"/>
                  </a:lnTo>
                  <a:lnTo>
                    <a:pt x="1885960" y="291057"/>
                  </a:lnTo>
                  <a:lnTo>
                    <a:pt x="1874386" y="308222"/>
                  </a:lnTo>
                  <a:lnTo>
                    <a:pt x="1857221" y="319796"/>
                  </a:lnTo>
                  <a:lnTo>
                    <a:pt x="1836204" y="324040"/>
                  </a:lnTo>
                  <a:lnTo>
                    <a:pt x="54013" y="324040"/>
                  </a:lnTo>
                  <a:lnTo>
                    <a:pt x="32988" y="319796"/>
                  </a:lnTo>
                  <a:lnTo>
                    <a:pt x="15819" y="308222"/>
                  </a:lnTo>
                  <a:lnTo>
                    <a:pt x="4244" y="291057"/>
                  </a:lnTo>
                  <a:lnTo>
                    <a:pt x="0" y="270040"/>
                  </a:lnTo>
                  <a:lnTo>
                    <a:pt x="0" y="54013"/>
                  </a:lnTo>
                  <a:close/>
                </a:path>
              </a:pathLst>
            </a:custGeom>
            <a:ln w="25400">
              <a:solidFill>
                <a:srgbClr val="89A4A7"/>
              </a:solidFill>
            </a:ln>
          </p:spPr>
          <p:txBody>
            <a:bodyPr wrap="square" lIns="0" tIns="0" rIns="0" bIns="0" rtlCol="0"/>
            <a:lstStyle/>
            <a:p/>
          </p:txBody>
        </p:sp>
      </p:grpSp>
      <p:sp>
        <p:nvSpPr>
          <p:cNvPr id="19" name="object 19" descr=""/>
          <p:cNvSpPr txBox="1"/>
          <p:nvPr/>
        </p:nvSpPr>
        <p:spPr>
          <a:xfrm>
            <a:off x="4438239" y="983195"/>
            <a:ext cx="1090930" cy="238760"/>
          </a:xfrm>
          <a:prstGeom prst="rect">
            <a:avLst/>
          </a:prstGeom>
        </p:spPr>
        <p:txBody>
          <a:bodyPr wrap="square" lIns="0" tIns="12065" rIns="0" bIns="0" rtlCol="0" vert="horz">
            <a:spAutoFit/>
          </a:bodyPr>
          <a:lstStyle/>
          <a:p>
            <a:pPr marL="12700">
              <a:lnSpc>
                <a:spcPct val="100000"/>
              </a:lnSpc>
              <a:spcBef>
                <a:spcPts val="95"/>
              </a:spcBef>
            </a:pPr>
            <a:r>
              <a:rPr dirty="0" sz="1400" spc="-25">
                <a:solidFill>
                  <a:srgbClr val="FFFFFF"/>
                </a:solidFill>
                <a:latin typeface="SimSun"/>
                <a:cs typeface="SimSun"/>
              </a:rPr>
              <a:t>室外拉网覆盖</a:t>
            </a:r>
            <a:endParaRPr sz="1400">
              <a:latin typeface="SimSun"/>
              <a:cs typeface="SimSun"/>
            </a:endParaRPr>
          </a:p>
        </p:txBody>
      </p:sp>
      <p:sp>
        <p:nvSpPr>
          <p:cNvPr id="20" name="object 20" descr=""/>
          <p:cNvSpPr txBox="1"/>
          <p:nvPr/>
        </p:nvSpPr>
        <p:spPr>
          <a:xfrm>
            <a:off x="4038600" y="1321650"/>
            <a:ext cx="4860925" cy="1454785"/>
          </a:xfrm>
          <a:prstGeom prst="rect">
            <a:avLst/>
          </a:prstGeom>
          <a:ln w="9525">
            <a:solidFill>
              <a:srgbClr val="FF0000"/>
            </a:solidFill>
          </a:ln>
        </p:spPr>
        <p:txBody>
          <a:bodyPr wrap="square" lIns="0" tIns="20320" rIns="0" bIns="0" rtlCol="0" vert="horz">
            <a:spAutoFit/>
          </a:bodyPr>
          <a:lstStyle/>
          <a:p>
            <a:pPr algn="just" marL="283210" marR="142875" indent="-215265">
              <a:lnSpc>
                <a:spcPts val="2160"/>
              </a:lnSpc>
              <a:spcBef>
                <a:spcPts val="160"/>
              </a:spcBef>
              <a:buChar char="•"/>
              <a:tabLst>
                <a:tab pos="283210" algn="l"/>
                <a:tab pos="284480" algn="l"/>
              </a:tabLst>
            </a:pPr>
            <a:r>
              <a:rPr dirty="0" sz="1200">
                <a:latin typeface="Arial MT"/>
                <a:cs typeface="Arial MT"/>
              </a:rPr>
              <a:t>	NR</a:t>
            </a:r>
            <a:r>
              <a:rPr dirty="0" sz="1200" spc="-15">
                <a:latin typeface="Arial MT"/>
                <a:cs typeface="Arial MT"/>
              </a:rPr>
              <a:t> </a:t>
            </a:r>
            <a:r>
              <a:rPr dirty="0" sz="1200" spc="-10">
                <a:latin typeface="Arial MT"/>
                <a:cs typeface="Arial MT"/>
              </a:rPr>
              <a:t>3.5G</a:t>
            </a:r>
            <a:r>
              <a:rPr dirty="0" sz="1200">
                <a:latin typeface="SimSun"/>
                <a:cs typeface="SimSun"/>
              </a:rPr>
              <a:t>与</a:t>
            </a:r>
            <a:r>
              <a:rPr dirty="0" sz="1200" spc="-20">
                <a:latin typeface="Arial MT"/>
                <a:cs typeface="Arial MT"/>
              </a:rPr>
              <a:t>LTE </a:t>
            </a:r>
            <a:r>
              <a:rPr dirty="0" sz="1200">
                <a:latin typeface="Arial MT"/>
                <a:cs typeface="Arial MT"/>
              </a:rPr>
              <a:t>L1800M</a:t>
            </a:r>
            <a:r>
              <a:rPr dirty="0" sz="1200" spc="-20">
                <a:latin typeface="Arial MT"/>
                <a:cs typeface="Arial MT"/>
              </a:rPr>
              <a:t> </a:t>
            </a:r>
            <a:r>
              <a:rPr dirty="0" sz="1200" spc="-10">
                <a:latin typeface="Arial MT"/>
                <a:cs typeface="Arial MT"/>
              </a:rPr>
              <a:t>1:1</a:t>
            </a:r>
            <a:r>
              <a:rPr dirty="0" sz="1200" spc="-5">
                <a:latin typeface="SimSun"/>
                <a:cs typeface="SimSun"/>
              </a:rPr>
              <a:t>建网，</a:t>
            </a:r>
            <a:r>
              <a:rPr dirty="0" sz="1200" spc="-10">
                <a:latin typeface="Arial MT"/>
                <a:cs typeface="Arial MT"/>
              </a:rPr>
              <a:t>NR</a:t>
            </a:r>
            <a:r>
              <a:rPr dirty="0" sz="1200">
                <a:latin typeface="SimSun"/>
                <a:cs typeface="SimSun"/>
              </a:rPr>
              <a:t>与</a:t>
            </a:r>
            <a:r>
              <a:rPr dirty="0" sz="1200" spc="-35">
                <a:latin typeface="Arial MT"/>
                <a:cs typeface="Arial MT"/>
              </a:rPr>
              <a:t>LTE</a:t>
            </a:r>
            <a:r>
              <a:rPr dirty="0" sz="1200" spc="-5">
                <a:latin typeface="SimSun"/>
                <a:cs typeface="SimSun"/>
              </a:rPr>
              <a:t>覆盖基本相当，</a:t>
            </a:r>
            <a:r>
              <a:rPr dirty="0" sz="1200" spc="-10">
                <a:latin typeface="Arial MT"/>
                <a:cs typeface="Arial MT"/>
              </a:rPr>
              <a:t>NR</a:t>
            </a:r>
            <a:r>
              <a:rPr dirty="0" sz="1200" spc="-50">
                <a:latin typeface="SimSun"/>
                <a:cs typeface="SimSun"/>
              </a:rPr>
              <a:t>弱</a:t>
            </a:r>
            <a:r>
              <a:rPr dirty="0" sz="1200">
                <a:latin typeface="SimSun"/>
                <a:cs typeface="SimSun"/>
              </a:rPr>
              <a:t>覆盖点位可通过网络优化或增加少量</a:t>
            </a:r>
            <a:r>
              <a:rPr dirty="0" sz="1200" spc="-10">
                <a:latin typeface="Arial MT"/>
                <a:cs typeface="Arial MT"/>
              </a:rPr>
              <a:t>4T4R</a:t>
            </a:r>
            <a:r>
              <a:rPr dirty="0" sz="1200">
                <a:latin typeface="SimSun"/>
                <a:cs typeface="SimSun"/>
              </a:rPr>
              <a:t>小站，达到</a:t>
            </a:r>
            <a:r>
              <a:rPr dirty="0" sz="1200" spc="-10">
                <a:latin typeface="Arial MT"/>
                <a:cs typeface="Arial MT"/>
              </a:rPr>
              <a:t>L1800M</a:t>
            </a:r>
            <a:r>
              <a:rPr dirty="0" sz="1200" spc="-25">
                <a:latin typeface="SimSun"/>
                <a:cs typeface="SimSun"/>
              </a:rPr>
              <a:t>覆盖</a:t>
            </a:r>
            <a:r>
              <a:rPr dirty="0" sz="1200" spc="-20">
                <a:latin typeface="SimSun"/>
                <a:cs typeface="SimSun"/>
              </a:rPr>
              <a:t>效果；</a:t>
            </a:r>
            <a:endParaRPr sz="1200">
              <a:latin typeface="SimSun"/>
              <a:cs typeface="SimSun"/>
            </a:endParaRPr>
          </a:p>
          <a:p>
            <a:pPr algn="just" marL="283210" marR="66675" indent="-215265">
              <a:lnSpc>
                <a:spcPts val="2160"/>
              </a:lnSpc>
              <a:buFont typeface="Arial MT"/>
              <a:buChar char="•"/>
              <a:tabLst>
                <a:tab pos="283210" algn="l"/>
                <a:tab pos="284480" algn="l"/>
              </a:tabLst>
            </a:pPr>
            <a:r>
              <a:rPr dirty="0" sz="1200">
                <a:latin typeface="SimSun"/>
                <a:cs typeface="SimSun"/>
              </a:rPr>
              <a:t>	</a:t>
            </a:r>
            <a:r>
              <a:rPr dirty="0" sz="1200" spc="-5">
                <a:latin typeface="SimSun"/>
                <a:cs typeface="SimSun"/>
              </a:rPr>
              <a:t>通过上行调度优化及网络优化，</a:t>
            </a:r>
            <a:r>
              <a:rPr dirty="0" sz="1200" spc="-10">
                <a:latin typeface="Arial MT"/>
                <a:cs typeface="Arial MT"/>
              </a:rPr>
              <a:t>NR</a:t>
            </a:r>
            <a:r>
              <a:rPr dirty="0" sz="1200">
                <a:latin typeface="SimSun"/>
                <a:cs typeface="SimSun"/>
              </a:rPr>
              <a:t>网络具备随时体验下行</a:t>
            </a:r>
            <a:r>
              <a:rPr dirty="0" sz="1200" spc="-10">
                <a:latin typeface="Arial MT"/>
                <a:cs typeface="Arial MT"/>
              </a:rPr>
              <a:t>100Mbps</a:t>
            </a:r>
            <a:r>
              <a:rPr dirty="0" sz="1200" spc="-20">
                <a:latin typeface="SimSun"/>
                <a:cs typeface="SimSun"/>
              </a:rPr>
              <a:t>能力。</a:t>
            </a:r>
            <a:endParaRPr sz="1200">
              <a:latin typeface="SimSun"/>
              <a:cs typeface="SimSun"/>
            </a:endParaRPr>
          </a:p>
        </p:txBody>
      </p:sp>
      <p:grpSp>
        <p:nvGrpSpPr>
          <p:cNvPr id="21" name="object 21" descr=""/>
          <p:cNvGrpSpPr/>
          <p:nvPr/>
        </p:nvGrpSpPr>
        <p:grpSpPr>
          <a:xfrm>
            <a:off x="4025900" y="2938644"/>
            <a:ext cx="1915795" cy="349885"/>
            <a:chOff x="4025900" y="2938644"/>
            <a:chExt cx="1915795" cy="349885"/>
          </a:xfrm>
        </p:grpSpPr>
        <p:sp>
          <p:nvSpPr>
            <p:cNvPr id="22" name="object 22" descr=""/>
            <p:cNvSpPr/>
            <p:nvPr/>
          </p:nvSpPr>
          <p:spPr>
            <a:xfrm>
              <a:off x="4038600" y="2951344"/>
              <a:ext cx="1890395" cy="324485"/>
            </a:xfrm>
            <a:custGeom>
              <a:avLst/>
              <a:gdLst/>
              <a:ahLst/>
              <a:cxnLst/>
              <a:rect l="l" t="t" r="r" b="b"/>
              <a:pathLst>
                <a:path w="1890395" h="324485">
                  <a:moveTo>
                    <a:pt x="1836204" y="0"/>
                  </a:moveTo>
                  <a:lnTo>
                    <a:pt x="54013" y="0"/>
                  </a:lnTo>
                  <a:lnTo>
                    <a:pt x="32988" y="4244"/>
                  </a:lnTo>
                  <a:lnTo>
                    <a:pt x="15819" y="15819"/>
                  </a:lnTo>
                  <a:lnTo>
                    <a:pt x="4244" y="32988"/>
                  </a:lnTo>
                  <a:lnTo>
                    <a:pt x="0" y="54013"/>
                  </a:lnTo>
                  <a:lnTo>
                    <a:pt x="0" y="270040"/>
                  </a:lnTo>
                  <a:lnTo>
                    <a:pt x="4244" y="291057"/>
                  </a:lnTo>
                  <a:lnTo>
                    <a:pt x="15819" y="308222"/>
                  </a:lnTo>
                  <a:lnTo>
                    <a:pt x="32988" y="319796"/>
                  </a:lnTo>
                  <a:lnTo>
                    <a:pt x="54013" y="324040"/>
                  </a:lnTo>
                  <a:lnTo>
                    <a:pt x="1836204" y="324040"/>
                  </a:lnTo>
                  <a:lnTo>
                    <a:pt x="1857221" y="319796"/>
                  </a:lnTo>
                  <a:lnTo>
                    <a:pt x="1874386" y="308222"/>
                  </a:lnTo>
                  <a:lnTo>
                    <a:pt x="1885960" y="291057"/>
                  </a:lnTo>
                  <a:lnTo>
                    <a:pt x="1890204" y="270040"/>
                  </a:lnTo>
                  <a:lnTo>
                    <a:pt x="1890204" y="54013"/>
                  </a:lnTo>
                  <a:lnTo>
                    <a:pt x="1885960" y="32988"/>
                  </a:lnTo>
                  <a:lnTo>
                    <a:pt x="1874386" y="15819"/>
                  </a:lnTo>
                  <a:lnTo>
                    <a:pt x="1857221" y="4244"/>
                  </a:lnTo>
                  <a:lnTo>
                    <a:pt x="1836204" y="0"/>
                  </a:lnTo>
                  <a:close/>
                </a:path>
              </a:pathLst>
            </a:custGeom>
            <a:solidFill>
              <a:srgbClr val="00CC00"/>
            </a:solidFill>
          </p:spPr>
          <p:txBody>
            <a:bodyPr wrap="square" lIns="0" tIns="0" rIns="0" bIns="0" rtlCol="0"/>
            <a:lstStyle/>
            <a:p/>
          </p:txBody>
        </p:sp>
        <p:sp>
          <p:nvSpPr>
            <p:cNvPr id="23" name="object 23" descr=""/>
            <p:cNvSpPr/>
            <p:nvPr/>
          </p:nvSpPr>
          <p:spPr>
            <a:xfrm>
              <a:off x="4038600" y="2951344"/>
              <a:ext cx="1890395" cy="324485"/>
            </a:xfrm>
            <a:custGeom>
              <a:avLst/>
              <a:gdLst/>
              <a:ahLst/>
              <a:cxnLst/>
              <a:rect l="l" t="t" r="r" b="b"/>
              <a:pathLst>
                <a:path w="1890395" h="324485">
                  <a:moveTo>
                    <a:pt x="0" y="54013"/>
                  </a:moveTo>
                  <a:lnTo>
                    <a:pt x="4244" y="32988"/>
                  </a:lnTo>
                  <a:lnTo>
                    <a:pt x="15819" y="15819"/>
                  </a:lnTo>
                  <a:lnTo>
                    <a:pt x="32988" y="4244"/>
                  </a:lnTo>
                  <a:lnTo>
                    <a:pt x="54013" y="0"/>
                  </a:lnTo>
                  <a:lnTo>
                    <a:pt x="1836204" y="0"/>
                  </a:lnTo>
                  <a:lnTo>
                    <a:pt x="1857221" y="4244"/>
                  </a:lnTo>
                  <a:lnTo>
                    <a:pt x="1874386" y="15819"/>
                  </a:lnTo>
                  <a:lnTo>
                    <a:pt x="1885960" y="32988"/>
                  </a:lnTo>
                  <a:lnTo>
                    <a:pt x="1890204" y="54013"/>
                  </a:lnTo>
                  <a:lnTo>
                    <a:pt x="1890204" y="270040"/>
                  </a:lnTo>
                  <a:lnTo>
                    <a:pt x="1885960" y="291057"/>
                  </a:lnTo>
                  <a:lnTo>
                    <a:pt x="1874386" y="308222"/>
                  </a:lnTo>
                  <a:lnTo>
                    <a:pt x="1857221" y="319796"/>
                  </a:lnTo>
                  <a:lnTo>
                    <a:pt x="1836204" y="324040"/>
                  </a:lnTo>
                  <a:lnTo>
                    <a:pt x="54013" y="324040"/>
                  </a:lnTo>
                  <a:lnTo>
                    <a:pt x="32988" y="319796"/>
                  </a:lnTo>
                  <a:lnTo>
                    <a:pt x="15819" y="308222"/>
                  </a:lnTo>
                  <a:lnTo>
                    <a:pt x="4244" y="291057"/>
                  </a:lnTo>
                  <a:lnTo>
                    <a:pt x="0" y="270040"/>
                  </a:lnTo>
                  <a:lnTo>
                    <a:pt x="0" y="54013"/>
                  </a:lnTo>
                  <a:close/>
                </a:path>
              </a:pathLst>
            </a:custGeom>
            <a:ln w="25400">
              <a:solidFill>
                <a:srgbClr val="89A4A7"/>
              </a:solidFill>
            </a:ln>
          </p:spPr>
          <p:txBody>
            <a:bodyPr wrap="square" lIns="0" tIns="0" rIns="0" bIns="0" rtlCol="0"/>
            <a:lstStyle/>
            <a:p/>
          </p:txBody>
        </p:sp>
      </p:grpSp>
      <p:sp>
        <p:nvSpPr>
          <p:cNvPr id="24" name="object 24" descr=""/>
          <p:cNvSpPr txBox="1"/>
          <p:nvPr/>
        </p:nvSpPr>
        <p:spPr>
          <a:xfrm>
            <a:off x="4615785" y="2990940"/>
            <a:ext cx="735965" cy="238760"/>
          </a:xfrm>
          <a:prstGeom prst="rect">
            <a:avLst/>
          </a:prstGeom>
        </p:spPr>
        <p:txBody>
          <a:bodyPr wrap="square" lIns="0" tIns="12065" rIns="0" bIns="0" rtlCol="0" vert="horz">
            <a:spAutoFit/>
          </a:bodyPr>
          <a:lstStyle/>
          <a:p>
            <a:pPr marL="12700">
              <a:lnSpc>
                <a:spcPct val="100000"/>
              </a:lnSpc>
              <a:spcBef>
                <a:spcPts val="95"/>
              </a:spcBef>
            </a:pPr>
            <a:r>
              <a:rPr dirty="0" sz="1400" spc="-30">
                <a:solidFill>
                  <a:srgbClr val="FFFFFF"/>
                </a:solidFill>
                <a:latin typeface="SimSun"/>
                <a:cs typeface="SimSun"/>
              </a:rPr>
              <a:t>单站拉远</a:t>
            </a:r>
            <a:endParaRPr sz="1400">
              <a:latin typeface="SimSun"/>
              <a:cs typeface="SimSun"/>
            </a:endParaRPr>
          </a:p>
        </p:txBody>
      </p:sp>
      <p:sp>
        <p:nvSpPr>
          <p:cNvPr id="25" name="object 25" descr=""/>
          <p:cNvSpPr/>
          <p:nvPr/>
        </p:nvSpPr>
        <p:spPr>
          <a:xfrm>
            <a:off x="4038600" y="3333750"/>
            <a:ext cx="4806950" cy="1177290"/>
          </a:xfrm>
          <a:custGeom>
            <a:avLst/>
            <a:gdLst/>
            <a:ahLst/>
            <a:cxnLst/>
            <a:rect l="l" t="t" r="r" b="b"/>
            <a:pathLst>
              <a:path w="4806950" h="1177289">
                <a:moveTo>
                  <a:pt x="0" y="0"/>
                </a:moveTo>
                <a:lnTo>
                  <a:pt x="4806530" y="0"/>
                </a:lnTo>
                <a:lnTo>
                  <a:pt x="4806530" y="1177239"/>
                </a:lnTo>
                <a:lnTo>
                  <a:pt x="0" y="1177239"/>
                </a:lnTo>
                <a:lnTo>
                  <a:pt x="0" y="0"/>
                </a:lnTo>
                <a:close/>
              </a:path>
            </a:pathLst>
          </a:custGeom>
          <a:ln w="9525">
            <a:solidFill>
              <a:srgbClr val="FF0000"/>
            </a:solidFill>
            <a:prstDash val="sysDash"/>
          </a:ln>
        </p:spPr>
        <p:txBody>
          <a:bodyPr wrap="square" lIns="0" tIns="0" rIns="0" bIns="0" rtlCol="0"/>
          <a:lstStyle/>
          <a:p/>
        </p:txBody>
      </p:sp>
      <p:sp>
        <p:nvSpPr>
          <p:cNvPr id="26" name="object 26" descr=""/>
          <p:cNvSpPr txBox="1"/>
          <p:nvPr/>
        </p:nvSpPr>
        <p:spPr>
          <a:xfrm>
            <a:off x="4094479" y="3317240"/>
            <a:ext cx="4806315" cy="848360"/>
          </a:xfrm>
          <a:prstGeom prst="rect">
            <a:avLst/>
          </a:prstGeom>
        </p:spPr>
        <p:txBody>
          <a:bodyPr wrap="square" lIns="0" tIns="104140" rIns="0" bIns="0" rtlCol="0" vert="horz">
            <a:spAutoFit/>
          </a:bodyPr>
          <a:lstStyle/>
          <a:p>
            <a:pPr marL="227329" indent="-214629">
              <a:lnSpc>
                <a:spcPct val="100000"/>
              </a:lnSpc>
              <a:spcBef>
                <a:spcPts val="820"/>
              </a:spcBef>
              <a:buChar char="•"/>
              <a:tabLst>
                <a:tab pos="227329" algn="l"/>
              </a:tabLst>
            </a:pPr>
            <a:r>
              <a:rPr dirty="0" sz="1200" spc="-10">
                <a:latin typeface="Arial MT"/>
                <a:cs typeface="Arial MT"/>
              </a:rPr>
              <a:t>NR</a:t>
            </a:r>
            <a:r>
              <a:rPr dirty="0" sz="1200" spc="-5">
                <a:latin typeface="SimSun"/>
                <a:cs typeface="SimSun"/>
              </a:rPr>
              <a:t>覆盖：</a:t>
            </a:r>
            <a:r>
              <a:rPr dirty="0" sz="1200" spc="-10">
                <a:latin typeface="Arial MT"/>
                <a:cs typeface="Arial MT"/>
              </a:rPr>
              <a:t>200W</a:t>
            </a:r>
            <a:r>
              <a:rPr dirty="0" sz="1200" spc="-65">
                <a:latin typeface="SimSun"/>
                <a:cs typeface="SimSun"/>
              </a:rPr>
              <a:t>窄波速 </a:t>
            </a:r>
            <a:r>
              <a:rPr dirty="0" sz="1200" spc="10">
                <a:latin typeface="Arial MT"/>
                <a:cs typeface="Arial MT"/>
              </a:rPr>
              <a:t>&gt; </a:t>
            </a:r>
            <a:r>
              <a:rPr dirty="0" sz="1200" spc="-10">
                <a:latin typeface="Arial MT"/>
                <a:cs typeface="Arial MT"/>
              </a:rPr>
              <a:t>100W</a:t>
            </a:r>
            <a:r>
              <a:rPr dirty="0" sz="1200" spc="-65">
                <a:latin typeface="SimSun"/>
                <a:cs typeface="SimSun"/>
              </a:rPr>
              <a:t>窄波速 </a:t>
            </a:r>
            <a:r>
              <a:rPr dirty="0" sz="1200" spc="10">
                <a:latin typeface="Arial MT"/>
                <a:cs typeface="Arial MT"/>
              </a:rPr>
              <a:t>&gt; </a:t>
            </a:r>
            <a:r>
              <a:rPr dirty="0" sz="1200" spc="-10">
                <a:latin typeface="Arial MT"/>
                <a:cs typeface="Arial MT"/>
              </a:rPr>
              <a:t>200W</a:t>
            </a:r>
            <a:r>
              <a:rPr dirty="0" sz="1200" spc="-15">
                <a:latin typeface="SimSun"/>
                <a:cs typeface="SimSun"/>
              </a:rPr>
              <a:t>宽波速；</a:t>
            </a:r>
            <a:endParaRPr sz="1200">
              <a:latin typeface="SimSun"/>
              <a:cs typeface="SimSun"/>
            </a:endParaRPr>
          </a:p>
          <a:p>
            <a:pPr marL="227329" indent="-214629">
              <a:lnSpc>
                <a:spcPct val="100000"/>
              </a:lnSpc>
              <a:spcBef>
                <a:spcPts val="720"/>
              </a:spcBef>
              <a:buChar char="•"/>
              <a:tabLst>
                <a:tab pos="227329" algn="l"/>
              </a:tabLst>
            </a:pPr>
            <a:r>
              <a:rPr dirty="0" sz="1200" spc="-10">
                <a:latin typeface="Arial MT"/>
                <a:cs typeface="Arial MT"/>
              </a:rPr>
              <a:t>NR</a:t>
            </a:r>
            <a:r>
              <a:rPr dirty="0" sz="1200">
                <a:latin typeface="SimSun"/>
                <a:cs typeface="SimSun"/>
              </a:rPr>
              <a:t>下行吞吐量明显优于</a:t>
            </a:r>
            <a:r>
              <a:rPr dirty="0" sz="1200" spc="-35">
                <a:latin typeface="Arial MT"/>
                <a:cs typeface="Arial MT"/>
              </a:rPr>
              <a:t>LTE</a:t>
            </a:r>
            <a:r>
              <a:rPr dirty="0" sz="1200" spc="-20">
                <a:latin typeface="SimSun"/>
                <a:cs typeface="SimSun"/>
              </a:rPr>
              <a:t>，下行覆盖不受限；</a:t>
            </a:r>
            <a:endParaRPr sz="1200">
              <a:latin typeface="SimSun"/>
              <a:cs typeface="SimSun"/>
            </a:endParaRPr>
          </a:p>
          <a:p>
            <a:pPr marL="227329" indent="-214629">
              <a:lnSpc>
                <a:spcPct val="100000"/>
              </a:lnSpc>
              <a:spcBef>
                <a:spcPts val="720"/>
              </a:spcBef>
              <a:buChar char="•"/>
              <a:tabLst>
                <a:tab pos="227329" algn="l"/>
              </a:tabLst>
            </a:pPr>
            <a:r>
              <a:rPr dirty="0" sz="1200" spc="-10">
                <a:latin typeface="Arial MT"/>
                <a:cs typeface="Arial MT"/>
              </a:rPr>
              <a:t>NR</a:t>
            </a:r>
            <a:r>
              <a:rPr dirty="0" sz="1200">
                <a:latin typeface="SimSun"/>
                <a:cs typeface="SimSun"/>
              </a:rPr>
              <a:t>上行吞吐量存在转折点，转折点前优于</a:t>
            </a:r>
            <a:r>
              <a:rPr dirty="0" sz="1200" spc="-25">
                <a:latin typeface="Arial MT"/>
                <a:cs typeface="Arial MT"/>
              </a:rPr>
              <a:t>LTE</a:t>
            </a:r>
            <a:r>
              <a:rPr dirty="0" sz="1200" spc="-10">
                <a:latin typeface="SimSun"/>
                <a:cs typeface="SimSun"/>
              </a:rPr>
              <a:t>，转折点后差于</a:t>
            </a:r>
            <a:r>
              <a:rPr dirty="0" sz="1200" spc="-20">
                <a:latin typeface="Arial MT"/>
                <a:cs typeface="Arial MT"/>
              </a:rPr>
              <a:t>LTE</a:t>
            </a:r>
            <a:r>
              <a:rPr dirty="0" sz="1200" spc="-20">
                <a:latin typeface="SimSun"/>
                <a:cs typeface="SimSun"/>
              </a:rPr>
              <a:t>，</a:t>
            </a:r>
            <a:endParaRPr sz="1200">
              <a:latin typeface="SimSun"/>
              <a:cs typeface="SimSun"/>
            </a:endParaRPr>
          </a:p>
        </p:txBody>
      </p:sp>
      <p:sp>
        <p:nvSpPr>
          <p:cNvPr id="27" name="object 27" descr=""/>
          <p:cNvSpPr txBox="1"/>
          <p:nvPr/>
        </p:nvSpPr>
        <p:spPr>
          <a:xfrm>
            <a:off x="4309364" y="4231640"/>
            <a:ext cx="1397000" cy="208279"/>
          </a:xfrm>
          <a:prstGeom prst="rect">
            <a:avLst/>
          </a:prstGeom>
        </p:spPr>
        <p:txBody>
          <a:bodyPr wrap="square" lIns="0" tIns="12700" rIns="0" bIns="0" rtlCol="0" vert="horz">
            <a:spAutoFit/>
          </a:bodyPr>
          <a:lstStyle/>
          <a:p>
            <a:pPr marL="12700">
              <a:lnSpc>
                <a:spcPct val="100000"/>
              </a:lnSpc>
              <a:spcBef>
                <a:spcPts val="100"/>
              </a:spcBef>
            </a:pPr>
            <a:r>
              <a:rPr dirty="0" sz="1200" spc="-10">
                <a:latin typeface="SimSun"/>
                <a:cs typeface="SimSun"/>
              </a:rPr>
              <a:t>上行速率下降明显。</a:t>
            </a:r>
            <a:endParaRPr sz="1200">
              <a:latin typeface="SimSun"/>
              <a:cs typeface="SimSun"/>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0247" y="69596"/>
            <a:ext cx="4142740" cy="574040"/>
          </a:xfrm>
          <a:prstGeom prst="rect"/>
        </p:spPr>
        <p:txBody>
          <a:bodyPr wrap="square" lIns="0" tIns="12700" rIns="0" bIns="0" rtlCol="0" vert="horz">
            <a:spAutoFit/>
          </a:bodyPr>
          <a:lstStyle/>
          <a:p>
            <a:pPr marL="12700">
              <a:lnSpc>
                <a:spcPct val="100000"/>
              </a:lnSpc>
              <a:spcBef>
                <a:spcPts val="100"/>
              </a:spcBef>
            </a:pPr>
            <a:r>
              <a:rPr dirty="0" sz="3600" spc="-10"/>
              <a:t>内容回顾与问题研讨</a:t>
            </a:r>
            <a:endParaRPr sz="3600"/>
          </a:p>
        </p:txBody>
      </p:sp>
      <p:sp>
        <p:nvSpPr>
          <p:cNvPr id="3" name="object 3" descr=""/>
          <p:cNvSpPr/>
          <p:nvPr/>
        </p:nvSpPr>
        <p:spPr>
          <a:xfrm>
            <a:off x="3276600" y="971553"/>
            <a:ext cx="2557780" cy="432434"/>
          </a:xfrm>
          <a:custGeom>
            <a:avLst/>
            <a:gdLst/>
            <a:ahLst/>
            <a:cxnLst/>
            <a:rect l="l" t="t" r="r" b="b"/>
            <a:pathLst>
              <a:path w="2557779" h="432434">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00B0F0"/>
          </a:solidFill>
        </p:spPr>
        <p:txBody>
          <a:bodyPr wrap="square" lIns="0" tIns="0" rIns="0" bIns="0" rtlCol="0"/>
          <a:lstStyle/>
          <a:p/>
        </p:txBody>
      </p:sp>
      <p:sp>
        <p:nvSpPr>
          <p:cNvPr id="4" name="object 4" descr=""/>
          <p:cNvSpPr txBox="1"/>
          <p:nvPr/>
        </p:nvSpPr>
        <p:spPr>
          <a:xfrm>
            <a:off x="3294001" y="1045310"/>
            <a:ext cx="2523490" cy="269875"/>
          </a:xfrm>
          <a:prstGeom prst="rect">
            <a:avLst/>
          </a:prstGeom>
        </p:spPr>
        <p:txBody>
          <a:bodyPr wrap="square" lIns="0" tIns="12700" rIns="0" bIns="0" rtlCol="0" vert="horz">
            <a:spAutoFit/>
          </a:bodyPr>
          <a:lstStyle/>
          <a:p>
            <a:pPr marL="12700">
              <a:lnSpc>
                <a:spcPct val="100000"/>
              </a:lnSpc>
              <a:spcBef>
                <a:spcPts val="100"/>
              </a:spcBef>
            </a:pPr>
            <a:r>
              <a:rPr dirty="0" sz="1600" b="1">
                <a:latin typeface="Microsoft YaHei"/>
                <a:cs typeface="Microsoft YaHei"/>
              </a:rPr>
              <a:t>二、运营商</a:t>
            </a:r>
            <a:r>
              <a:rPr dirty="0" sz="1600" spc="-20" b="1">
                <a:latin typeface="Times New Roman"/>
                <a:cs typeface="Times New Roman"/>
              </a:rPr>
              <a:t>5G</a:t>
            </a:r>
            <a:r>
              <a:rPr dirty="0" sz="1600" spc="-15" b="1">
                <a:latin typeface="Microsoft YaHei"/>
                <a:cs typeface="Microsoft YaHei"/>
              </a:rPr>
              <a:t>建网规划思路</a:t>
            </a:r>
            <a:endParaRPr sz="1600">
              <a:latin typeface="Microsoft YaHei"/>
              <a:cs typeface="Microsoft YaHei"/>
            </a:endParaRPr>
          </a:p>
        </p:txBody>
      </p:sp>
      <p:sp>
        <p:nvSpPr>
          <p:cNvPr id="5" name="object 5" descr=""/>
          <p:cNvSpPr/>
          <p:nvPr/>
        </p:nvSpPr>
        <p:spPr>
          <a:xfrm>
            <a:off x="263658" y="971553"/>
            <a:ext cx="2557780" cy="432434"/>
          </a:xfrm>
          <a:custGeom>
            <a:avLst/>
            <a:gdLst/>
            <a:ahLst/>
            <a:cxnLst/>
            <a:rect l="l" t="t" r="r" b="b"/>
            <a:pathLst>
              <a:path w="2557780" h="432434">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FFC000"/>
          </a:solidFill>
        </p:spPr>
        <p:txBody>
          <a:bodyPr wrap="square" lIns="0" tIns="0" rIns="0" bIns="0" rtlCol="0"/>
          <a:lstStyle/>
          <a:p/>
        </p:txBody>
      </p:sp>
      <p:sp>
        <p:nvSpPr>
          <p:cNvPr id="6" name="object 6" descr=""/>
          <p:cNvSpPr txBox="1"/>
          <p:nvPr/>
        </p:nvSpPr>
        <p:spPr>
          <a:xfrm>
            <a:off x="281059" y="1045310"/>
            <a:ext cx="2523490" cy="269875"/>
          </a:xfrm>
          <a:prstGeom prst="rect">
            <a:avLst/>
          </a:prstGeom>
        </p:spPr>
        <p:txBody>
          <a:bodyPr wrap="square" lIns="0" tIns="12700" rIns="0" bIns="0" rtlCol="0" vert="horz">
            <a:spAutoFit/>
          </a:bodyPr>
          <a:lstStyle/>
          <a:p>
            <a:pPr marL="12700">
              <a:lnSpc>
                <a:spcPct val="100000"/>
              </a:lnSpc>
              <a:spcBef>
                <a:spcPts val="100"/>
              </a:spcBef>
            </a:pPr>
            <a:r>
              <a:rPr dirty="0" sz="1600" b="1">
                <a:latin typeface="Microsoft YaHei"/>
                <a:cs typeface="Microsoft YaHei"/>
              </a:rPr>
              <a:t>一、运营商</a:t>
            </a:r>
            <a:r>
              <a:rPr dirty="0" sz="1600" spc="-20" b="1">
                <a:latin typeface="Times New Roman"/>
                <a:cs typeface="Times New Roman"/>
              </a:rPr>
              <a:t>5G</a:t>
            </a:r>
            <a:r>
              <a:rPr dirty="0" sz="1600" spc="-15" b="1">
                <a:latin typeface="Microsoft YaHei"/>
                <a:cs typeface="Microsoft YaHei"/>
              </a:rPr>
              <a:t>建网技术挑战</a:t>
            </a:r>
            <a:endParaRPr sz="1600">
              <a:latin typeface="Microsoft YaHei"/>
              <a:cs typeface="Microsoft YaHei"/>
            </a:endParaRPr>
          </a:p>
        </p:txBody>
      </p:sp>
      <p:sp>
        <p:nvSpPr>
          <p:cNvPr id="7" name="object 7" descr=""/>
          <p:cNvSpPr/>
          <p:nvPr/>
        </p:nvSpPr>
        <p:spPr>
          <a:xfrm>
            <a:off x="6289541" y="971553"/>
            <a:ext cx="2557780" cy="432434"/>
          </a:xfrm>
          <a:custGeom>
            <a:avLst/>
            <a:gdLst/>
            <a:ahLst/>
            <a:cxnLst/>
            <a:rect l="l" t="t" r="r" b="b"/>
            <a:pathLst>
              <a:path w="2557779" h="432434">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92D050"/>
          </a:solidFill>
        </p:spPr>
        <p:txBody>
          <a:bodyPr wrap="square" lIns="0" tIns="0" rIns="0" bIns="0" rtlCol="0"/>
          <a:lstStyle/>
          <a:p/>
        </p:txBody>
      </p:sp>
      <p:sp>
        <p:nvSpPr>
          <p:cNvPr id="8" name="object 8" descr=""/>
          <p:cNvSpPr txBox="1"/>
          <p:nvPr/>
        </p:nvSpPr>
        <p:spPr>
          <a:xfrm>
            <a:off x="6408290" y="1045310"/>
            <a:ext cx="2320925" cy="269875"/>
          </a:xfrm>
          <a:prstGeom prst="rect">
            <a:avLst/>
          </a:prstGeom>
        </p:spPr>
        <p:txBody>
          <a:bodyPr wrap="square" lIns="0" tIns="12700" rIns="0" bIns="0" rtlCol="0" vert="horz">
            <a:spAutoFit/>
          </a:bodyPr>
          <a:lstStyle/>
          <a:p>
            <a:pPr marL="12700">
              <a:lnSpc>
                <a:spcPct val="100000"/>
              </a:lnSpc>
              <a:spcBef>
                <a:spcPts val="100"/>
              </a:spcBef>
            </a:pPr>
            <a:r>
              <a:rPr dirty="0" sz="1600" b="1">
                <a:latin typeface="Microsoft YaHei"/>
                <a:cs typeface="Microsoft YaHei"/>
              </a:rPr>
              <a:t>三、</a:t>
            </a:r>
            <a:r>
              <a:rPr dirty="0" sz="1600" spc="-20" b="1">
                <a:latin typeface="Times New Roman"/>
                <a:cs typeface="Times New Roman"/>
              </a:rPr>
              <a:t>5G</a:t>
            </a:r>
            <a:r>
              <a:rPr dirty="0" sz="1600" spc="-10" b="1">
                <a:latin typeface="Microsoft YaHei"/>
                <a:cs typeface="Microsoft YaHei"/>
              </a:rPr>
              <a:t>建网宏站覆盖策略</a:t>
            </a:r>
            <a:endParaRPr sz="1600">
              <a:latin typeface="Microsoft YaHei"/>
              <a:cs typeface="Microsoft YaHei"/>
            </a:endParaRPr>
          </a:p>
        </p:txBody>
      </p:sp>
      <p:pic>
        <p:nvPicPr>
          <p:cNvPr id="9" name="object 9"/>
          <p:cNvPicPr/>
          <p:nvPr/>
        </p:nvPicPr>
        <p:blipFill>
          <a:blip r:embed="rId2" cstate="print"/>
          <a:stretch>
            <a:fillRect/>
          </a:stretch>
        </p:blipFill>
        <p:spPr>
          <a:xfrm>
            <a:off x="4357687" y="2606484"/>
            <a:ext cx="4553710" cy="1703067"/>
          </a:xfrm>
          <a:prstGeom prst="rect">
            <a:avLst/>
          </a:prstGeom>
        </p:spPr>
      </p:pic>
      <p:sp>
        <p:nvSpPr>
          <p:cNvPr id="10" name="object 10" descr=""/>
          <p:cNvSpPr/>
          <p:nvPr/>
        </p:nvSpPr>
        <p:spPr>
          <a:xfrm>
            <a:off x="3241541" y="1657353"/>
            <a:ext cx="2557780" cy="432434"/>
          </a:xfrm>
          <a:custGeom>
            <a:avLst/>
            <a:gdLst/>
            <a:ahLst/>
            <a:cxnLst/>
            <a:rect l="l" t="t" r="r" b="b"/>
            <a:pathLst>
              <a:path w="2557779" h="432435">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00B0F0"/>
          </a:solidFill>
        </p:spPr>
        <p:txBody>
          <a:bodyPr wrap="square" lIns="0" tIns="0" rIns="0" bIns="0" rtlCol="0"/>
          <a:lstStyle/>
          <a:p/>
        </p:txBody>
      </p:sp>
      <p:sp>
        <p:nvSpPr>
          <p:cNvPr id="11" name="object 11" descr=""/>
          <p:cNvSpPr/>
          <p:nvPr/>
        </p:nvSpPr>
        <p:spPr>
          <a:xfrm>
            <a:off x="228600" y="1657353"/>
            <a:ext cx="2557780" cy="432434"/>
          </a:xfrm>
          <a:custGeom>
            <a:avLst/>
            <a:gdLst/>
            <a:ahLst/>
            <a:cxnLst/>
            <a:rect l="l" t="t" r="r" b="b"/>
            <a:pathLst>
              <a:path w="2557780" h="432435">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FFC000"/>
          </a:solidFill>
        </p:spPr>
        <p:txBody>
          <a:bodyPr wrap="square" lIns="0" tIns="0" rIns="0" bIns="0" rtlCol="0"/>
          <a:lstStyle/>
          <a:p/>
        </p:txBody>
      </p:sp>
      <p:sp>
        <p:nvSpPr>
          <p:cNvPr id="12" name="object 12" descr=""/>
          <p:cNvSpPr txBox="1">
            <a:spLocks noGrp="1"/>
          </p:cNvSpPr>
          <p:nvPr>
            <p:ph type="body" idx="1"/>
          </p:nvPr>
        </p:nvSpPr>
        <p:spPr>
          <a:prstGeom prst="rect"/>
        </p:spPr>
        <p:txBody>
          <a:bodyPr wrap="square" lIns="0" tIns="138430" rIns="0" bIns="0" rtlCol="0" vert="horz">
            <a:spAutoFit/>
          </a:bodyPr>
          <a:lstStyle/>
          <a:p>
            <a:pPr marL="52705">
              <a:lnSpc>
                <a:spcPct val="100000"/>
              </a:lnSpc>
              <a:spcBef>
                <a:spcPts val="1090"/>
              </a:spcBef>
              <a:tabLst>
                <a:tab pos="3040380" algn="l"/>
              </a:tabLst>
            </a:pPr>
            <a:r>
              <a:rPr dirty="0"/>
              <a:t>四、</a:t>
            </a:r>
            <a:r>
              <a:rPr dirty="0" spc="-20">
                <a:latin typeface="Times New Roman"/>
                <a:cs typeface="Times New Roman"/>
              </a:rPr>
              <a:t>5G</a:t>
            </a:r>
            <a:r>
              <a:rPr dirty="0"/>
              <a:t>建网微站覆盖策</a:t>
            </a:r>
            <a:r>
              <a:rPr dirty="0" spc="-50"/>
              <a:t>略</a:t>
            </a:r>
            <a:r>
              <a:rPr dirty="0"/>
              <a:t>	五、</a:t>
            </a:r>
            <a:r>
              <a:rPr dirty="0" spc="-75"/>
              <a:t> </a:t>
            </a:r>
            <a:r>
              <a:rPr dirty="0" spc="-20">
                <a:latin typeface="Times New Roman"/>
                <a:cs typeface="Times New Roman"/>
              </a:rPr>
              <a:t>5G</a:t>
            </a:r>
            <a:r>
              <a:rPr dirty="0"/>
              <a:t>建网室内覆盖策</a:t>
            </a:r>
            <a:r>
              <a:rPr dirty="0" spc="-50"/>
              <a:t>略</a:t>
            </a:r>
          </a:p>
          <a:p>
            <a:pPr marL="12700">
              <a:lnSpc>
                <a:spcPct val="100000"/>
              </a:lnSpc>
              <a:spcBef>
                <a:spcPts val="1739"/>
              </a:spcBef>
            </a:pPr>
            <a:r>
              <a:rPr dirty="0" sz="2800" spc="-20" b="0">
                <a:latin typeface="SimSun"/>
                <a:cs typeface="SimSun"/>
              </a:rPr>
              <a:t>思考题：</a:t>
            </a:r>
            <a:endParaRPr sz="2800">
              <a:latin typeface="SimSun"/>
              <a:cs typeface="SimSun"/>
            </a:endParaRPr>
          </a:p>
          <a:p>
            <a:pPr marL="12700">
              <a:lnSpc>
                <a:spcPct val="100000"/>
              </a:lnSpc>
              <a:spcBef>
                <a:spcPts val="1680"/>
              </a:spcBef>
            </a:pPr>
            <a:r>
              <a:rPr dirty="0" sz="2800" spc="-10" b="0">
                <a:latin typeface="Times New Roman"/>
                <a:cs typeface="Times New Roman"/>
              </a:rPr>
              <a:t>1.5G</a:t>
            </a:r>
            <a:r>
              <a:rPr dirty="0" sz="2800" spc="-15" b="0">
                <a:latin typeface="SimSun"/>
                <a:cs typeface="SimSun"/>
              </a:rPr>
              <a:t>建网有哪些技术挑战？</a:t>
            </a:r>
            <a:endParaRPr sz="2800">
              <a:latin typeface="SimSun"/>
              <a:cs typeface="SimSun"/>
            </a:endParaRPr>
          </a:p>
          <a:p>
            <a:pPr marL="279400" indent="-269875">
              <a:lnSpc>
                <a:spcPct val="100000"/>
              </a:lnSpc>
              <a:spcBef>
                <a:spcPts val="1680"/>
              </a:spcBef>
              <a:buSzPct val="96428"/>
              <a:buFont typeface="Times New Roman"/>
              <a:buAutoNum type="arabicPeriod" startAt="2"/>
              <a:tabLst>
                <a:tab pos="279400" algn="l"/>
              </a:tabLst>
            </a:pPr>
            <a:r>
              <a:rPr dirty="0" sz="2800" spc="-5" b="0">
                <a:latin typeface="SimSun"/>
                <a:cs typeface="SimSun"/>
              </a:rPr>
              <a:t>运营商如何建设</a:t>
            </a:r>
            <a:r>
              <a:rPr dirty="0" sz="2800" spc="-30" b="0">
                <a:latin typeface="Times New Roman"/>
                <a:cs typeface="Times New Roman"/>
              </a:rPr>
              <a:t>5G</a:t>
            </a:r>
            <a:r>
              <a:rPr dirty="0" sz="2800" spc="-20" b="0">
                <a:latin typeface="SimSun"/>
                <a:cs typeface="SimSun"/>
              </a:rPr>
              <a:t>网络？</a:t>
            </a:r>
            <a:endParaRPr sz="2800">
              <a:latin typeface="SimSun"/>
              <a:cs typeface="SimSun"/>
            </a:endParaRPr>
          </a:p>
          <a:p>
            <a:pPr marL="279400" indent="-269875">
              <a:lnSpc>
                <a:spcPct val="100000"/>
              </a:lnSpc>
              <a:spcBef>
                <a:spcPts val="1680"/>
              </a:spcBef>
              <a:buSzPct val="96428"/>
              <a:buFont typeface="Times New Roman"/>
              <a:buAutoNum type="arabicPeriod" startAt="2"/>
              <a:tabLst>
                <a:tab pos="279400" algn="l"/>
              </a:tabLst>
            </a:pPr>
            <a:r>
              <a:rPr dirty="0" sz="2800" spc="-5" b="0">
                <a:latin typeface="SimSun"/>
                <a:cs typeface="SimSun"/>
              </a:rPr>
              <a:t>运营商如何挖掘</a:t>
            </a:r>
            <a:r>
              <a:rPr dirty="0" sz="2800" spc="-30" b="0">
                <a:latin typeface="Times New Roman"/>
                <a:cs typeface="Times New Roman"/>
              </a:rPr>
              <a:t>5G</a:t>
            </a:r>
            <a:r>
              <a:rPr dirty="0" sz="2800" spc="-15" b="0">
                <a:latin typeface="SimSun"/>
                <a:cs typeface="SimSun"/>
              </a:rPr>
              <a:t>资源价值？</a:t>
            </a:r>
            <a:endParaRPr sz="2800">
              <a:latin typeface="SimSun"/>
              <a:cs typeface="SimSun"/>
            </a:endParaRPr>
          </a:p>
        </p:txBody>
      </p:sp>
      <p:sp>
        <p:nvSpPr>
          <p:cNvPr id="13" name="object 13" descr=""/>
          <p:cNvSpPr/>
          <p:nvPr/>
        </p:nvSpPr>
        <p:spPr>
          <a:xfrm>
            <a:off x="6254484" y="1657353"/>
            <a:ext cx="2557780" cy="432434"/>
          </a:xfrm>
          <a:custGeom>
            <a:avLst/>
            <a:gdLst/>
            <a:ahLst/>
            <a:cxnLst/>
            <a:rect l="l" t="t" r="r" b="b"/>
            <a:pathLst>
              <a:path w="2557779" h="432435">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92D050"/>
          </a:solidFill>
        </p:spPr>
        <p:txBody>
          <a:bodyPr wrap="square" lIns="0" tIns="0" rIns="0" bIns="0" rtlCol="0"/>
          <a:lstStyle/>
          <a:p/>
        </p:txBody>
      </p:sp>
      <p:sp>
        <p:nvSpPr>
          <p:cNvPr id="14" name="object 14" descr=""/>
          <p:cNvSpPr txBox="1"/>
          <p:nvPr/>
        </p:nvSpPr>
        <p:spPr>
          <a:xfrm>
            <a:off x="6348086" y="1731110"/>
            <a:ext cx="2370455" cy="269875"/>
          </a:xfrm>
          <a:prstGeom prst="rect">
            <a:avLst/>
          </a:prstGeom>
        </p:spPr>
        <p:txBody>
          <a:bodyPr wrap="square" lIns="0" tIns="12700" rIns="0" bIns="0" rtlCol="0" vert="horz">
            <a:spAutoFit/>
          </a:bodyPr>
          <a:lstStyle/>
          <a:p>
            <a:pPr marL="12700">
              <a:lnSpc>
                <a:spcPct val="100000"/>
              </a:lnSpc>
              <a:spcBef>
                <a:spcPts val="100"/>
              </a:spcBef>
            </a:pPr>
            <a:r>
              <a:rPr dirty="0" sz="1600" spc="-25" b="1">
                <a:latin typeface="Microsoft YaHei"/>
                <a:cs typeface="Microsoft YaHei"/>
              </a:rPr>
              <a:t>六、 </a:t>
            </a:r>
            <a:r>
              <a:rPr dirty="0" sz="1600" spc="-20" b="1">
                <a:latin typeface="Times New Roman"/>
                <a:cs typeface="Times New Roman"/>
              </a:rPr>
              <a:t>5G</a:t>
            </a:r>
            <a:r>
              <a:rPr dirty="0" sz="1600" spc="-10" b="1">
                <a:latin typeface="Microsoft YaHei"/>
                <a:cs typeface="Microsoft YaHei"/>
              </a:rPr>
              <a:t>无线网络测试分享</a:t>
            </a:r>
            <a:endParaRPr sz="1600">
              <a:latin typeface="Microsoft YaHei"/>
              <a:cs typeface="Microsoft YaHei"/>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87679"/>
            <a:ext cx="9144000" cy="42243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林子雨ziyulin@xmu.edu.cn</dc:creator>
  <dc:subject>厦门大学计算机科学系</dc:subject>
  <dc:title>云计算与大数据</dc:title>
  <dcterms:created xsi:type="dcterms:W3CDTF">2025-11-14T05:07:35Z</dcterms:created>
  <dcterms:modified xsi:type="dcterms:W3CDTF">2025-11-14T05:07:35Z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2019-06-07T00:00:00Z</vt:filetime>
  </property>
  <property fmtid="{D5CDD505-2E9C-101B-9397-08002B2CF9AE}" pid="3" name="Creator">
    <vt:lpwstr>Acrobat PDFMaker 15 PowerPoint 版</vt:lpwstr>
  </property>
  <property fmtid="{D5CDD505-2E9C-101B-9397-08002B2CF9AE}" pid="4" name="LastSaved">
    <vt:filetime>2025-11-14T00:00:00Z</vt:filetime>
  </property>
  <property fmtid="{D5CDD505-2E9C-101B-9397-08002B2CF9AE}" pid="5" name="Producer">
    <vt:lpwstr>Adobe PDF Library 15.0</vt:lpwstr>
  </property>
  <property fmtid="{D5CDD505-2E9C-101B-9397-08002B2CF9AE}" pid="6" name="Version">
    <vt:lpwstr>1</vt:lpwstr>
  </property>
</Properties>
</file>